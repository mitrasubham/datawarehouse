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9"/>
  </p:notesMasterIdLst>
  <p:sldIdLst>
    <p:sldId id="256" r:id="rId2"/>
    <p:sldId id="257" r:id="rId3"/>
    <p:sldId id="650" r:id="rId4"/>
    <p:sldId id="651" r:id="rId5"/>
    <p:sldId id="652" r:id="rId6"/>
    <p:sldId id="653" r:id="rId7"/>
    <p:sldId id="654" r:id="rId8"/>
    <p:sldId id="655" r:id="rId9"/>
    <p:sldId id="656" r:id="rId10"/>
    <p:sldId id="658" r:id="rId11"/>
    <p:sldId id="657" r:id="rId12"/>
    <p:sldId id="659" r:id="rId13"/>
    <p:sldId id="660" r:id="rId14"/>
    <p:sldId id="260" r:id="rId15"/>
    <p:sldId id="265" r:id="rId16"/>
    <p:sldId id="267" r:id="rId17"/>
    <p:sldId id="268" r:id="rId18"/>
    <p:sldId id="269" r:id="rId19"/>
    <p:sldId id="271" r:id="rId20"/>
    <p:sldId id="272" r:id="rId21"/>
    <p:sldId id="273" r:id="rId22"/>
    <p:sldId id="274" r:id="rId23"/>
    <p:sldId id="275" r:id="rId24"/>
    <p:sldId id="276" r:id="rId25"/>
    <p:sldId id="277" r:id="rId26"/>
    <p:sldId id="278" r:id="rId27"/>
    <p:sldId id="281" r:id="rId28"/>
    <p:sldId id="284" r:id="rId29"/>
    <p:sldId id="285"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8" r:id="rId51"/>
    <p:sldId id="309" r:id="rId52"/>
    <p:sldId id="310" r:id="rId53"/>
    <p:sldId id="311" r:id="rId54"/>
    <p:sldId id="312" r:id="rId55"/>
    <p:sldId id="313" r:id="rId56"/>
    <p:sldId id="314" r:id="rId57"/>
    <p:sldId id="315" r:id="rId58"/>
    <p:sldId id="316" r:id="rId59"/>
    <p:sldId id="317" r:id="rId60"/>
    <p:sldId id="318" r:id="rId61"/>
    <p:sldId id="319" r:id="rId62"/>
    <p:sldId id="321" r:id="rId63"/>
    <p:sldId id="322" r:id="rId64"/>
    <p:sldId id="323" r:id="rId65"/>
    <p:sldId id="324" r:id="rId66"/>
    <p:sldId id="325" r:id="rId67"/>
    <p:sldId id="326" r:id="rId68"/>
    <p:sldId id="328" r:id="rId69"/>
    <p:sldId id="329" r:id="rId70"/>
    <p:sldId id="330" r:id="rId71"/>
    <p:sldId id="331" r:id="rId72"/>
    <p:sldId id="332" r:id="rId73"/>
    <p:sldId id="333" r:id="rId74"/>
    <p:sldId id="334" r:id="rId75"/>
    <p:sldId id="335" r:id="rId76"/>
    <p:sldId id="336" r:id="rId77"/>
    <p:sldId id="337" r:id="rId78"/>
    <p:sldId id="338" r:id="rId79"/>
    <p:sldId id="340" r:id="rId80"/>
    <p:sldId id="661" r:id="rId81"/>
    <p:sldId id="662" r:id="rId82"/>
    <p:sldId id="663" r:id="rId83"/>
    <p:sldId id="664" r:id="rId84"/>
    <p:sldId id="665" r:id="rId85"/>
    <p:sldId id="666" r:id="rId86"/>
    <p:sldId id="667" r:id="rId87"/>
    <p:sldId id="668" r:id="rId88"/>
    <p:sldId id="669" r:id="rId89"/>
    <p:sldId id="341" r:id="rId90"/>
    <p:sldId id="342" r:id="rId91"/>
    <p:sldId id="343" r:id="rId92"/>
    <p:sldId id="344" r:id="rId93"/>
    <p:sldId id="345" r:id="rId94"/>
    <p:sldId id="346" r:id="rId95"/>
    <p:sldId id="347" r:id="rId96"/>
    <p:sldId id="348" r:id="rId97"/>
    <p:sldId id="349" r:id="rId98"/>
    <p:sldId id="350" r:id="rId99"/>
    <p:sldId id="351" r:id="rId100"/>
    <p:sldId id="352" r:id="rId101"/>
    <p:sldId id="353" r:id="rId102"/>
    <p:sldId id="354" r:id="rId103"/>
    <p:sldId id="670" r:id="rId104"/>
    <p:sldId id="671" r:id="rId105"/>
    <p:sldId id="355" r:id="rId106"/>
    <p:sldId id="356" r:id="rId107"/>
    <p:sldId id="357" r:id="rId108"/>
    <p:sldId id="672" r:id="rId109"/>
    <p:sldId id="673" r:id="rId110"/>
    <p:sldId id="358" r:id="rId111"/>
    <p:sldId id="359" r:id="rId112"/>
    <p:sldId id="360" r:id="rId113"/>
    <p:sldId id="361" r:id="rId114"/>
    <p:sldId id="362" r:id="rId115"/>
    <p:sldId id="363" r:id="rId116"/>
    <p:sldId id="365" r:id="rId117"/>
    <p:sldId id="366" r:id="rId118"/>
    <p:sldId id="674" r:id="rId119"/>
    <p:sldId id="367" r:id="rId120"/>
    <p:sldId id="675" r:id="rId121"/>
    <p:sldId id="676" r:id="rId122"/>
    <p:sldId id="677" r:id="rId123"/>
    <p:sldId id="678" r:id="rId124"/>
    <p:sldId id="679" r:id="rId125"/>
    <p:sldId id="368" r:id="rId126"/>
    <p:sldId id="369" r:id="rId127"/>
    <p:sldId id="370" r:id="rId128"/>
    <p:sldId id="371" r:id="rId129"/>
    <p:sldId id="372" r:id="rId130"/>
    <p:sldId id="373" r:id="rId131"/>
    <p:sldId id="374" r:id="rId132"/>
    <p:sldId id="375" r:id="rId133"/>
    <p:sldId id="376" r:id="rId134"/>
    <p:sldId id="378" r:id="rId135"/>
    <p:sldId id="379" r:id="rId136"/>
    <p:sldId id="380" r:id="rId137"/>
    <p:sldId id="381" r:id="rId138"/>
    <p:sldId id="382"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6" r:id="rId153"/>
    <p:sldId id="407" r:id="rId154"/>
    <p:sldId id="408" r:id="rId155"/>
    <p:sldId id="409" r:id="rId156"/>
    <p:sldId id="410" r:id="rId157"/>
    <p:sldId id="411" r:id="rId158"/>
    <p:sldId id="412" r:id="rId159"/>
    <p:sldId id="413" r:id="rId160"/>
    <p:sldId id="414" r:id="rId161"/>
    <p:sldId id="415" r:id="rId162"/>
    <p:sldId id="416" r:id="rId163"/>
    <p:sldId id="417" r:id="rId164"/>
    <p:sldId id="418" r:id="rId165"/>
    <p:sldId id="419" r:id="rId166"/>
    <p:sldId id="420" r:id="rId167"/>
    <p:sldId id="421" r:id="rId168"/>
    <p:sldId id="422" r:id="rId169"/>
    <p:sldId id="423" r:id="rId170"/>
    <p:sldId id="424" r:id="rId171"/>
    <p:sldId id="425" r:id="rId172"/>
    <p:sldId id="426" r:id="rId173"/>
    <p:sldId id="427" r:id="rId174"/>
    <p:sldId id="428" r:id="rId175"/>
    <p:sldId id="429" r:id="rId176"/>
    <p:sldId id="430" r:id="rId177"/>
    <p:sldId id="431" r:id="rId178"/>
    <p:sldId id="432" r:id="rId179"/>
    <p:sldId id="433" r:id="rId180"/>
    <p:sldId id="434" r:id="rId181"/>
    <p:sldId id="435" r:id="rId182"/>
    <p:sldId id="436" r:id="rId183"/>
    <p:sldId id="437" r:id="rId184"/>
    <p:sldId id="438" r:id="rId185"/>
    <p:sldId id="439" r:id="rId186"/>
    <p:sldId id="440" r:id="rId187"/>
    <p:sldId id="441" r:id="rId188"/>
    <p:sldId id="442" r:id="rId189"/>
    <p:sldId id="443" r:id="rId190"/>
    <p:sldId id="444" r:id="rId191"/>
    <p:sldId id="445" r:id="rId192"/>
    <p:sldId id="446" r:id="rId193"/>
    <p:sldId id="447" r:id="rId194"/>
    <p:sldId id="448" r:id="rId195"/>
    <p:sldId id="449" r:id="rId196"/>
    <p:sldId id="450" r:id="rId197"/>
    <p:sldId id="451" r:id="rId198"/>
    <p:sldId id="452" r:id="rId199"/>
    <p:sldId id="454" r:id="rId200"/>
    <p:sldId id="455" r:id="rId201"/>
    <p:sldId id="456" r:id="rId202"/>
    <p:sldId id="458" r:id="rId203"/>
    <p:sldId id="461" r:id="rId204"/>
    <p:sldId id="462" r:id="rId205"/>
    <p:sldId id="463" r:id="rId206"/>
    <p:sldId id="464" r:id="rId207"/>
    <p:sldId id="465" r:id="rId208"/>
    <p:sldId id="467" r:id="rId209"/>
    <p:sldId id="468" r:id="rId210"/>
    <p:sldId id="469" r:id="rId211"/>
    <p:sldId id="470" r:id="rId212"/>
    <p:sldId id="471" r:id="rId213"/>
    <p:sldId id="472" r:id="rId214"/>
    <p:sldId id="473" r:id="rId215"/>
    <p:sldId id="474" r:id="rId216"/>
    <p:sldId id="475" r:id="rId217"/>
    <p:sldId id="476" r:id="rId218"/>
    <p:sldId id="477" r:id="rId219"/>
    <p:sldId id="478" r:id="rId220"/>
    <p:sldId id="479" r:id="rId221"/>
    <p:sldId id="480" r:id="rId222"/>
    <p:sldId id="481" r:id="rId223"/>
    <p:sldId id="482" r:id="rId224"/>
    <p:sldId id="483" r:id="rId225"/>
    <p:sldId id="484" r:id="rId226"/>
    <p:sldId id="485" r:id="rId227"/>
    <p:sldId id="486" r:id="rId228"/>
    <p:sldId id="487" r:id="rId229"/>
    <p:sldId id="488" r:id="rId230"/>
    <p:sldId id="489" r:id="rId231"/>
    <p:sldId id="490" r:id="rId232"/>
    <p:sldId id="491" r:id="rId233"/>
    <p:sldId id="492" r:id="rId234"/>
    <p:sldId id="493" r:id="rId235"/>
    <p:sldId id="494" r:id="rId236"/>
    <p:sldId id="495" r:id="rId237"/>
    <p:sldId id="496" r:id="rId238"/>
    <p:sldId id="497" r:id="rId239"/>
    <p:sldId id="498" r:id="rId240"/>
    <p:sldId id="499" r:id="rId241"/>
    <p:sldId id="500" r:id="rId242"/>
    <p:sldId id="501" r:id="rId243"/>
    <p:sldId id="502" r:id="rId244"/>
    <p:sldId id="503" r:id="rId245"/>
    <p:sldId id="504" r:id="rId246"/>
    <p:sldId id="505" r:id="rId247"/>
    <p:sldId id="506" r:id="rId248"/>
    <p:sldId id="507" r:id="rId249"/>
    <p:sldId id="508" r:id="rId250"/>
    <p:sldId id="509" r:id="rId251"/>
    <p:sldId id="510" r:id="rId252"/>
    <p:sldId id="511" r:id="rId253"/>
    <p:sldId id="512" r:id="rId254"/>
    <p:sldId id="513" r:id="rId255"/>
    <p:sldId id="514" r:id="rId256"/>
    <p:sldId id="515" r:id="rId257"/>
    <p:sldId id="680" r:id="rId258"/>
    <p:sldId id="681" r:id="rId259"/>
    <p:sldId id="682" r:id="rId260"/>
    <p:sldId id="683" r:id="rId261"/>
    <p:sldId id="684" r:id="rId262"/>
    <p:sldId id="685" r:id="rId263"/>
    <p:sldId id="686" r:id="rId264"/>
    <p:sldId id="687" r:id="rId265"/>
    <p:sldId id="516" r:id="rId266"/>
    <p:sldId id="517" r:id="rId267"/>
    <p:sldId id="518" r:id="rId268"/>
    <p:sldId id="519" r:id="rId269"/>
    <p:sldId id="520" r:id="rId270"/>
    <p:sldId id="521" r:id="rId271"/>
    <p:sldId id="522" r:id="rId272"/>
    <p:sldId id="523" r:id="rId273"/>
    <p:sldId id="635" r:id="rId274"/>
    <p:sldId id="636" r:id="rId275"/>
    <p:sldId id="637" r:id="rId276"/>
    <p:sldId id="638" r:id="rId277"/>
    <p:sldId id="639" r:id="rId278"/>
    <p:sldId id="640" r:id="rId279"/>
    <p:sldId id="641" r:id="rId280"/>
    <p:sldId id="642" r:id="rId281"/>
    <p:sldId id="643" r:id="rId282"/>
    <p:sldId id="644" r:id="rId283"/>
    <p:sldId id="645" r:id="rId284"/>
    <p:sldId id="646" r:id="rId285"/>
    <p:sldId id="647" r:id="rId286"/>
    <p:sldId id="648" r:id="rId287"/>
    <p:sldId id="649" r:id="rId28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11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268" Type="http://schemas.openxmlformats.org/officeDocument/2006/relationships/slide" Target="slides/slide267.xml"/><Relationship Id="rId289" Type="http://schemas.openxmlformats.org/officeDocument/2006/relationships/notesMaster" Target="notesMasters/notesMaster1.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slide" Target="slides/slide257.xml"/><Relationship Id="rId279" Type="http://schemas.openxmlformats.org/officeDocument/2006/relationships/slide" Target="slides/slide278.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290" Type="http://schemas.openxmlformats.org/officeDocument/2006/relationships/presProps" Target="presProps.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269" Type="http://schemas.openxmlformats.org/officeDocument/2006/relationships/slide" Target="slides/slide268.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280" Type="http://schemas.openxmlformats.org/officeDocument/2006/relationships/slide" Target="slides/slide279.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291" Type="http://schemas.openxmlformats.org/officeDocument/2006/relationships/viewProps" Target="viewProps.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slide" Target="slides/slide280.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slide" Target="slides/slide217.xml"/><Relationship Id="rId234" Type="http://schemas.openxmlformats.org/officeDocument/2006/relationships/slide" Target="slides/slide233.xml"/><Relationship Id="rId239" Type="http://schemas.openxmlformats.org/officeDocument/2006/relationships/slide" Target="slides/slide238.xml"/><Relationship Id="rId2" Type="http://schemas.openxmlformats.org/officeDocument/2006/relationships/slide" Target="slides/slide1.xml"/><Relationship Id="rId29" Type="http://schemas.openxmlformats.org/officeDocument/2006/relationships/slide" Target="slides/slide28.xml"/><Relationship Id="rId250" Type="http://schemas.openxmlformats.org/officeDocument/2006/relationships/slide" Target="slides/slide249.xml"/><Relationship Id="rId255" Type="http://schemas.openxmlformats.org/officeDocument/2006/relationships/slide" Target="slides/slide254.xml"/><Relationship Id="rId271" Type="http://schemas.openxmlformats.org/officeDocument/2006/relationships/slide" Target="slides/slide270.xml"/><Relationship Id="rId276" Type="http://schemas.openxmlformats.org/officeDocument/2006/relationships/slide" Target="slides/slide275.xml"/><Relationship Id="rId292" Type="http://schemas.openxmlformats.org/officeDocument/2006/relationships/theme" Target="theme/theme1.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229" Type="http://schemas.openxmlformats.org/officeDocument/2006/relationships/slide" Target="slides/slide228.xml"/><Relationship Id="rId19" Type="http://schemas.openxmlformats.org/officeDocument/2006/relationships/slide" Target="slides/slide18.xml"/><Relationship Id="rId224" Type="http://schemas.openxmlformats.org/officeDocument/2006/relationships/slide" Target="slides/slide223.xml"/><Relationship Id="rId240" Type="http://schemas.openxmlformats.org/officeDocument/2006/relationships/slide" Target="slides/slide239.xml"/><Relationship Id="rId245" Type="http://schemas.openxmlformats.org/officeDocument/2006/relationships/slide" Target="slides/slide244.xml"/><Relationship Id="rId261" Type="http://schemas.openxmlformats.org/officeDocument/2006/relationships/slide" Target="slides/slide260.xml"/><Relationship Id="rId266" Type="http://schemas.openxmlformats.org/officeDocument/2006/relationships/slide" Target="slides/slide265.xml"/><Relationship Id="rId287" Type="http://schemas.openxmlformats.org/officeDocument/2006/relationships/slide" Target="slides/slide286.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282" Type="http://schemas.openxmlformats.org/officeDocument/2006/relationships/slide" Target="slides/slide28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30" Type="http://schemas.openxmlformats.org/officeDocument/2006/relationships/slide" Target="slides/slide229.xml"/><Relationship Id="rId235" Type="http://schemas.openxmlformats.org/officeDocument/2006/relationships/slide" Target="slides/slide234.xml"/><Relationship Id="rId251" Type="http://schemas.openxmlformats.org/officeDocument/2006/relationships/slide" Target="slides/slide250.xml"/><Relationship Id="rId256" Type="http://schemas.openxmlformats.org/officeDocument/2006/relationships/slide" Target="slides/slide255.xml"/><Relationship Id="rId277" Type="http://schemas.openxmlformats.org/officeDocument/2006/relationships/slide" Target="slides/slide276.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72" Type="http://schemas.openxmlformats.org/officeDocument/2006/relationships/slide" Target="slides/slide271.xml"/><Relationship Id="rId29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241" Type="http://schemas.openxmlformats.org/officeDocument/2006/relationships/slide" Target="slides/slide240.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262" Type="http://schemas.openxmlformats.org/officeDocument/2006/relationships/slide" Target="slides/slide261.xml"/><Relationship Id="rId283" Type="http://schemas.openxmlformats.org/officeDocument/2006/relationships/slide" Target="slides/slide282.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28840A-1F7E-436E-9C4B-C35471D01842}" type="datetimeFigureOut">
              <a:rPr lang="en-IN" smtClean="0"/>
              <a:t>02-05-2025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2AD25B-5EEE-4B99-ABF3-98C418F0C846}" type="slidenum">
              <a:rPr lang="en-IN" smtClean="0"/>
              <a:t>‹#›</a:t>
            </a:fld>
            <a:endParaRPr lang="en-IN"/>
          </a:p>
        </p:txBody>
      </p:sp>
    </p:spTree>
    <p:extLst>
      <p:ext uri="{BB962C8B-B14F-4D97-AF65-F5344CB8AC3E}">
        <p14:creationId xmlns:p14="http://schemas.microsoft.com/office/powerpoint/2010/main" val="33843394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62AD25B-5EEE-4B99-ABF3-98C418F0C846}" type="slidenum">
              <a:rPr lang="en-IN" smtClean="0"/>
              <a:t>137</a:t>
            </a:fld>
            <a:endParaRPr lang="en-IN"/>
          </a:p>
        </p:txBody>
      </p:sp>
    </p:spTree>
    <p:extLst>
      <p:ext uri="{BB962C8B-B14F-4D97-AF65-F5344CB8AC3E}">
        <p14:creationId xmlns:p14="http://schemas.microsoft.com/office/powerpoint/2010/main" val="27469880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B081B-366B-979A-B205-D9AC081004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54DFF82-83DC-697F-D49D-B0F53957A8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2AEACCF-02AD-275E-2ACB-CD681CAC9E55}"/>
              </a:ext>
            </a:extLst>
          </p:cNvPr>
          <p:cNvSpPr>
            <a:spLocks noGrp="1"/>
          </p:cNvSpPr>
          <p:nvPr>
            <p:ph type="dt" sz="half" idx="10"/>
          </p:nvPr>
        </p:nvSpPr>
        <p:spPr/>
        <p:txBody>
          <a:bodyPr/>
          <a:lstStyle/>
          <a:p>
            <a:fld id="{71A7B372-E037-4F5F-9ACC-407D1C2529FA}" type="datetimeFigureOut">
              <a:rPr lang="en-IN" smtClean="0"/>
              <a:t>02-05-2025</a:t>
            </a:fld>
            <a:endParaRPr lang="en-IN"/>
          </a:p>
        </p:txBody>
      </p:sp>
      <p:sp>
        <p:nvSpPr>
          <p:cNvPr id="5" name="Footer Placeholder 4">
            <a:extLst>
              <a:ext uri="{FF2B5EF4-FFF2-40B4-BE49-F238E27FC236}">
                <a16:creationId xmlns:a16="http://schemas.microsoft.com/office/drawing/2014/main" id="{EEE1D6BF-0C8A-97BE-396C-DF1AB7A85A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1B8A84F-1FB7-14A9-E411-8FC98005572C}"/>
              </a:ext>
            </a:extLst>
          </p:cNvPr>
          <p:cNvSpPr>
            <a:spLocks noGrp="1"/>
          </p:cNvSpPr>
          <p:nvPr>
            <p:ph type="sldNum" sz="quarter" idx="12"/>
          </p:nvPr>
        </p:nvSpPr>
        <p:spPr/>
        <p:txBody>
          <a:bodyPr/>
          <a:lstStyle/>
          <a:p>
            <a:fld id="{DFBB075B-18CA-4317-AB6F-B6123D095EDB}" type="slidenum">
              <a:rPr lang="en-IN" smtClean="0"/>
              <a:t>‹#›</a:t>
            </a:fld>
            <a:endParaRPr lang="en-IN"/>
          </a:p>
        </p:txBody>
      </p:sp>
    </p:spTree>
    <p:extLst>
      <p:ext uri="{BB962C8B-B14F-4D97-AF65-F5344CB8AC3E}">
        <p14:creationId xmlns:p14="http://schemas.microsoft.com/office/powerpoint/2010/main" val="10768025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C80B0-F39E-D880-A820-D0B07EFBE8E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43EAA06-5BFA-F56B-C851-612D0ECDF9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6A8817-4673-20CE-0D25-A6E6E7843869}"/>
              </a:ext>
            </a:extLst>
          </p:cNvPr>
          <p:cNvSpPr>
            <a:spLocks noGrp="1"/>
          </p:cNvSpPr>
          <p:nvPr>
            <p:ph type="dt" sz="half" idx="10"/>
          </p:nvPr>
        </p:nvSpPr>
        <p:spPr/>
        <p:txBody>
          <a:bodyPr/>
          <a:lstStyle/>
          <a:p>
            <a:fld id="{71A7B372-E037-4F5F-9ACC-407D1C2529FA}" type="datetimeFigureOut">
              <a:rPr lang="en-IN" smtClean="0"/>
              <a:t>02-05-2025</a:t>
            </a:fld>
            <a:endParaRPr lang="en-IN"/>
          </a:p>
        </p:txBody>
      </p:sp>
      <p:sp>
        <p:nvSpPr>
          <p:cNvPr id="5" name="Footer Placeholder 4">
            <a:extLst>
              <a:ext uri="{FF2B5EF4-FFF2-40B4-BE49-F238E27FC236}">
                <a16:creationId xmlns:a16="http://schemas.microsoft.com/office/drawing/2014/main" id="{B67023F1-959C-268C-E507-E1520A7264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5731F5-C74A-F2DD-C778-8662BEFA63E6}"/>
              </a:ext>
            </a:extLst>
          </p:cNvPr>
          <p:cNvSpPr>
            <a:spLocks noGrp="1"/>
          </p:cNvSpPr>
          <p:nvPr>
            <p:ph type="sldNum" sz="quarter" idx="12"/>
          </p:nvPr>
        </p:nvSpPr>
        <p:spPr/>
        <p:txBody>
          <a:bodyPr/>
          <a:lstStyle/>
          <a:p>
            <a:fld id="{DFBB075B-18CA-4317-AB6F-B6123D095EDB}" type="slidenum">
              <a:rPr lang="en-IN" smtClean="0"/>
              <a:t>‹#›</a:t>
            </a:fld>
            <a:endParaRPr lang="en-IN"/>
          </a:p>
        </p:txBody>
      </p:sp>
    </p:spTree>
    <p:extLst>
      <p:ext uri="{BB962C8B-B14F-4D97-AF65-F5344CB8AC3E}">
        <p14:creationId xmlns:p14="http://schemas.microsoft.com/office/powerpoint/2010/main" val="879200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FFE20-476D-7D30-9040-B7EA416382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8595794-A824-4741-5DE8-93F4525C4A4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2F7CD3-4FE1-71B8-C89E-2E82C22B22A6}"/>
              </a:ext>
            </a:extLst>
          </p:cNvPr>
          <p:cNvSpPr>
            <a:spLocks noGrp="1"/>
          </p:cNvSpPr>
          <p:nvPr>
            <p:ph type="dt" sz="half" idx="10"/>
          </p:nvPr>
        </p:nvSpPr>
        <p:spPr/>
        <p:txBody>
          <a:bodyPr/>
          <a:lstStyle/>
          <a:p>
            <a:fld id="{71A7B372-E037-4F5F-9ACC-407D1C2529FA}" type="datetimeFigureOut">
              <a:rPr lang="en-IN" smtClean="0"/>
              <a:t>02-05-2025</a:t>
            </a:fld>
            <a:endParaRPr lang="en-IN"/>
          </a:p>
        </p:txBody>
      </p:sp>
      <p:sp>
        <p:nvSpPr>
          <p:cNvPr id="5" name="Footer Placeholder 4">
            <a:extLst>
              <a:ext uri="{FF2B5EF4-FFF2-40B4-BE49-F238E27FC236}">
                <a16:creationId xmlns:a16="http://schemas.microsoft.com/office/drawing/2014/main" id="{773C8D1A-AA40-F8FF-E3B8-92F5E9C023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C64D6A-F8AC-6A4B-992E-3A5D6B4D2911}"/>
              </a:ext>
            </a:extLst>
          </p:cNvPr>
          <p:cNvSpPr>
            <a:spLocks noGrp="1"/>
          </p:cNvSpPr>
          <p:nvPr>
            <p:ph type="sldNum" sz="quarter" idx="12"/>
          </p:nvPr>
        </p:nvSpPr>
        <p:spPr/>
        <p:txBody>
          <a:bodyPr/>
          <a:lstStyle/>
          <a:p>
            <a:fld id="{DFBB075B-18CA-4317-AB6F-B6123D095EDB}" type="slidenum">
              <a:rPr lang="en-IN" smtClean="0"/>
              <a:t>‹#›</a:t>
            </a:fld>
            <a:endParaRPr lang="en-IN"/>
          </a:p>
        </p:txBody>
      </p:sp>
    </p:spTree>
    <p:extLst>
      <p:ext uri="{BB962C8B-B14F-4D97-AF65-F5344CB8AC3E}">
        <p14:creationId xmlns:p14="http://schemas.microsoft.com/office/powerpoint/2010/main" val="12449097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C45B6-5D72-4CAF-E6BF-016FAEB71A5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D1FA8F-6C62-CC9A-C2B7-19A3AB16F2B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765CCEF-2146-8BBB-D3EA-E1E96A28C7F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9543546-E0B3-F8AA-E3EC-148C4DE10EEB}"/>
              </a:ext>
            </a:extLst>
          </p:cNvPr>
          <p:cNvSpPr>
            <a:spLocks noGrp="1"/>
          </p:cNvSpPr>
          <p:nvPr>
            <p:ph type="dt" sz="half" idx="10"/>
          </p:nvPr>
        </p:nvSpPr>
        <p:spPr/>
        <p:txBody>
          <a:bodyPr/>
          <a:lstStyle/>
          <a:p>
            <a:fld id="{71A7B372-E037-4F5F-9ACC-407D1C2529FA}" type="datetimeFigureOut">
              <a:rPr lang="en-IN" smtClean="0"/>
              <a:t>02-05-2025</a:t>
            </a:fld>
            <a:endParaRPr lang="en-IN"/>
          </a:p>
        </p:txBody>
      </p:sp>
      <p:sp>
        <p:nvSpPr>
          <p:cNvPr id="6" name="Footer Placeholder 5">
            <a:extLst>
              <a:ext uri="{FF2B5EF4-FFF2-40B4-BE49-F238E27FC236}">
                <a16:creationId xmlns:a16="http://schemas.microsoft.com/office/drawing/2014/main" id="{8DE4170E-F031-D613-BFD6-1B901E8CAA1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9BAC50-2AF9-7522-B411-904B2DD101BE}"/>
              </a:ext>
            </a:extLst>
          </p:cNvPr>
          <p:cNvSpPr>
            <a:spLocks noGrp="1"/>
          </p:cNvSpPr>
          <p:nvPr>
            <p:ph type="sldNum" sz="quarter" idx="12"/>
          </p:nvPr>
        </p:nvSpPr>
        <p:spPr/>
        <p:txBody>
          <a:bodyPr/>
          <a:lstStyle/>
          <a:p>
            <a:fld id="{DFBB075B-18CA-4317-AB6F-B6123D095EDB}" type="slidenum">
              <a:rPr lang="en-IN" smtClean="0"/>
              <a:t>‹#›</a:t>
            </a:fld>
            <a:endParaRPr lang="en-IN"/>
          </a:p>
        </p:txBody>
      </p:sp>
    </p:spTree>
    <p:extLst>
      <p:ext uri="{BB962C8B-B14F-4D97-AF65-F5344CB8AC3E}">
        <p14:creationId xmlns:p14="http://schemas.microsoft.com/office/powerpoint/2010/main" val="4835399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48A32-5919-C142-4FED-C731469CD79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9EA1190-C40E-9F02-88AE-A8F5F2DA1C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8E07C0-14C1-D60F-BCD3-8FDC7384103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9862D0E-F9C3-F63F-9FDF-606DADC835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DCD803B-6BC1-EF6A-413F-2EC2CC3911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1E0BFF3-1124-7C37-4A5D-642A04D4388F}"/>
              </a:ext>
            </a:extLst>
          </p:cNvPr>
          <p:cNvSpPr>
            <a:spLocks noGrp="1"/>
          </p:cNvSpPr>
          <p:nvPr>
            <p:ph type="dt" sz="half" idx="10"/>
          </p:nvPr>
        </p:nvSpPr>
        <p:spPr/>
        <p:txBody>
          <a:bodyPr/>
          <a:lstStyle/>
          <a:p>
            <a:fld id="{71A7B372-E037-4F5F-9ACC-407D1C2529FA}" type="datetimeFigureOut">
              <a:rPr lang="en-IN" smtClean="0"/>
              <a:t>02-05-2025</a:t>
            </a:fld>
            <a:endParaRPr lang="en-IN"/>
          </a:p>
        </p:txBody>
      </p:sp>
      <p:sp>
        <p:nvSpPr>
          <p:cNvPr id="8" name="Footer Placeholder 7">
            <a:extLst>
              <a:ext uri="{FF2B5EF4-FFF2-40B4-BE49-F238E27FC236}">
                <a16:creationId xmlns:a16="http://schemas.microsoft.com/office/drawing/2014/main" id="{20B48FE2-3CA0-B6F9-44E2-88B8FA82F50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77BBC62-6F15-E23C-AAC3-BA6AF14355B2}"/>
              </a:ext>
            </a:extLst>
          </p:cNvPr>
          <p:cNvSpPr>
            <a:spLocks noGrp="1"/>
          </p:cNvSpPr>
          <p:nvPr>
            <p:ph type="sldNum" sz="quarter" idx="12"/>
          </p:nvPr>
        </p:nvSpPr>
        <p:spPr/>
        <p:txBody>
          <a:bodyPr/>
          <a:lstStyle/>
          <a:p>
            <a:fld id="{DFBB075B-18CA-4317-AB6F-B6123D095EDB}" type="slidenum">
              <a:rPr lang="en-IN" smtClean="0"/>
              <a:t>‹#›</a:t>
            </a:fld>
            <a:endParaRPr lang="en-IN"/>
          </a:p>
        </p:txBody>
      </p:sp>
    </p:spTree>
    <p:extLst>
      <p:ext uri="{BB962C8B-B14F-4D97-AF65-F5344CB8AC3E}">
        <p14:creationId xmlns:p14="http://schemas.microsoft.com/office/powerpoint/2010/main" val="25930015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7CEB0-AD82-7B48-E82A-891A0DDE53A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4DACD87-A630-AF46-2A53-BA39E0877CB0}"/>
              </a:ext>
            </a:extLst>
          </p:cNvPr>
          <p:cNvSpPr>
            <a:spLocks noGrp="1"/>
          </p:cNvSpPr>
          <p:nvPr>
            <p:ph type="dt" sz="half" idx="10"/>
          </p:nvPr>
        </p:nvSpPr>
        <p:spPr/>
        <p:txBody>
          <a:bodyPr/>
          <a:lstStyle/>
          <a:p>
            <a:fld id="{71A7B372-E037-4F5F-9ACC-407D1C2529FA}" type="datetimeFigureOut">
              <a:rPr lang="en-IN" smtClean="0"/>
              <a:t>02-05-2025</a:t>
            </a:fld>
            <a:endParaRPr lang="en-IN"/>
          </a:p>
        </p:txBody>
      </p:sp>
      <p:sp>
        <p:nvSpPr>
          <p:cNvPr id="4" name="Footer Placeholder 3">
            <a:extLst>
              <a:ext uri="{FF2B5EF4-FFF2-40B4-BE49-F238E27FC236}">
                <a16:creationId xmlns:a16="http://schemas.microsoft.com/office/drawing/2014/main" id="{115204AD-A478-998D-AC0A-7AC044B239F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3665325-24CF-4593-4220-443769D45666}"/>
              </a:ext>
            </a:extLst>
          </p:cNvPr>
          <p:cNvSpPr>
            <a:spLocks noGrp="1"/>
          </p:cNvSpPr>
          <p:nvPr>
            <p:ph type="sldNum" sz="quarter" idx="12"/>
          </p:nvPr>
        </p:nvSpPr>
        <p:spPr/>
        <p:txBody>
          <a:bodyPr/>
          <a:lstStyle/>
          <a:p>
            <a:fld id="{DFBB075B-18CA-4317-AB6F-B6123D095EDB}" type="slidenum">
              <a:rPr lang="en-IN" smtClean="0"/>
              <a:t>‹#›</a:t>
            </a:fld>
            <a:endParaRPr lang="en-IN"/>
          </a:p>
        </p:txBody>
      </p:sp>
    </p:spTree>
    <p:extLst>
      <p:ext uri="{BB962C8B-B14F-4D97-AF65-F5344CB8AC3E}">
        <p14:creationId xmlns:p14="http://schemas.microsoft.com/office/powerpoint/2010/main" val="1248906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747128-DFFE-BC9C-17DC-EB0ED9404738}"/>
              </a:ext>
            </a:extLst>
          </p:cNvPr>
          <p:cNvSpPr>
            <a:spLocks noGrp="1"/>
          </p:cNvSpPr>
          <p:nvPr>
            <p:ph type="dt" sz="half" idx="10"/>
          </p:nvPr>
        </p:nvSpPr>
        <p:spPr/>
        <p:txBody>
          <a:bodyPr/>
          <a:lstStyle/>
          <a:p>
            <a:fld id="{71A7B372-E037-4F5F-9ACC-407D1C2529FA}" type="datetimeFigureOut">
              <a:rPr lang="en-IN" smtClean="0"/>
              <a:t>02-05-2025</a:t>
            </a:fld>
            <a:endParaRPr lang="en-IN"/>
          </a:p>
        </p:txBody>
      </p:sp>
      <p:sp>
        <p:nvSpPr>
          <p:cNvPr id="3" name="Footer Placeholder 2">
            <a:extLst>
              <a:ext uri="{FF2B5EF4-FFF2-40B4-BE49-F238E27FC236}">
                <a16:creationId xmlns:a16="http://schemas.microsoft.com/office/drawing/2014/main" id="{1B109844-E23D-5945-3BD1-FB14A3B807E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E28504B-E214-F27D-35D9-3186878B7A45}"/>
              </a:ext>
            </a:extLst>
          </p:cNvPr>
          <p:cNvSpPr>
            <a:spLocks noGrp="1"/>
          </p:cNvSpPr>
          <p:nvPr>
            <p:ph type="sldNum" sz="quarter" idx="12"/>
          </p:nvPr>
        </p:nvSpPr>
        <p:spPr/>
        <p:txBody>
          <a:bodyPr/>
          <a:lstStyle/>
          <a:p>
            <a:fld id="{DFBB075B-18CA-4317-AB6F-B6123D095EDB}" type="slidenum">
              <a:rPr lang="en-IN" smtClean="0"/>
              <a:t>‹#›</a:t>
            </a:fld>
            <a:endParaRPr lang="en-IN"/>
          </a:p>
        </p:txBody>
      </p:sp>
    </p:spTree>
    <p:extLst>
      <p:ext uri="{BB962C8B-B14F-4D97-AF65-F5344CB8AC3E}">
        <p14:creationId xmlns:p14="http://schemas.microsoft.com/office/powerpoint/2010/main" val="13705297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C956D-7833-ACC4-CCF4-F3D702CF55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D7F6331-3199-8500-D6B6-8B0987C864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0A7CFB6-AA2F-1FC3-6129-9909FBB552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C8C241-D3B1-29BA-578C-4E77A55CD75A}"/>
              </a:ext>
            </a:extLst>
          </p:cNvPr>
          <p:cNvSpPr>
            <a:spLocks noGrp="1"/>
          </p:cNvSpPr>
          <p:nvPr>
            <p:ph type="dt" sz="half" idx="10"/>
          </p:nvPr>
        </p:nvSpPr>
        <p:spPr/>
        <p:txBody>
          <a:bodyPr/>
          <a:lstStyle/>
          <a:p>
            <a:fld id="{71A7B372-E037-4F5F-9ACC-407D1C2529FA}" type="datetimeFigureOut">
              <a:rPr lang="en-IN" smtClean="0"/>
              <a:t>02-05-2025</a:t>
            </a:fld>
            <a:endParaRPr lang="en-IN"/>
          </a:p>
        </p:txBody>
      </p:sp>
      <p:sp>
        <p:nvSpPr>
          <p:cNvPr id="6" name="Footer Placeholder 5">
            <a:extLst>
              <a:ext uri="{FF2B5EF4-FFF2-40B4-BE49-F238E27FC236}">
                <a16:creationId xmlns:a16="http://schemas.microsoft.com/office/drawing/2014/main" id="{1A4DA128-A5DD-3030-DC09-6F584B2190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AF42403-C1EB-CCA1-9E89-559AC24968EB}"/>
              </a:ext>
            </a:extLst>
          </p:cNvPr>
          <p:cNvSpPr>
            <a:spLocks noGrp="1"/>
          </p:cNvSpPr>
          <p:nvPr>
            <p:ph type="sldNum" sz="quarter" idx="12"/>
          </p:nvPr>
        </p:nvSpPr>
        <p:spPr/>
        <p:txBody>
          <a:bodyPr/>
          <a:lstStyle/>
          <a:p>
            <a:fld id="{DFBB075B-18CA-4317-AB6F-B6123D095EDB}" type="slidenum">
              <a:rPr lang="en-IN" smtClean="0"/>
              <a:t>‹#›</a:t>
            </a:fld>
            <a:endParaRPr lang="en-IN"/>
          </a:p>
        </p:txBody>
      </p:sp>
    </p:spTree>
    <p:extLst>
      <p:ext uri="{BB962C8B-B14F-4D97-AF65-F5344CB8AC3E}">
        <p14:creationId xmlns:p14="http://schemas.microsoft.com/office/powerpoint/2010/main" val="2754526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1CC7E-4E1B-85CF-DC67-7AD8E97FC0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5A2B5A6-72FD-3BA8-937C-86B229E4C5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1957A56-BEB8-5A47-B761-F615EAA5C2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D1C87D-4CC3-FB30-8AA6-DD005608FB32}"/>
              </a:ext>
            </a:extLst>
          </p:cNvPr>
          <p:cNvSpPr>
            <a:spLocks noGrp="1"/>
          </p:cNvSpPr>
          <p:nvPr>
            <p:ph type="dt" sz="half" idx="10"/>
          </p:nvPr>
        </p:nvSpPr>
        <p:spPr/>
        <p:txBody>
          <a:bodyPr/>
          <a:lstStyle/>
          <a:p>
            <a:fld id="{71A7B372-E037-4F5F-9ACC-407D1C2529FA}" type="datetimeFigureOut">
              <a:rPr lang="en-IN" smtClean="0"/>
              <a:t>02-05-2025</a:t>
            </a:fld>
            <a:endParaRPr lang="en-IN"/>
          </a:p>
        </p:txBody>
      </p:sp>
      <p:sp>
        <p:nvSpPr>
          <p:cNvPr id="6" name="Footer Placeholder 5">
            <a:extLst>
              <a:ext uri="{FF2B5EF4-FFF2-40B4-BE49-F238E27FC236}">
                <a16:creationId xmlns:a16="http://schemas.microsoft.com/office/drawing/2014/main" id="{C71894C6-4B09-EDD4-36A7-8D8C2D3E7AD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C1BBD00-2051-4FF8-D765-C52142E8EEDC}"/>
              </a:ext>
            </a:extLst>
          </p:cNvPr>
          <p:cNvSpPr>
            <a:spLocks noGrp="1"/>
          </p:cNvSpPr>
          <p:nvPr>
            <p:ph type="sldNum" sz="quarter" idx="12"/>
          </p:nvPr>
        </p:nvSpPr>
        <p:spPr/>
        <p:txBody>
          <a:bodyPr/>
          <a:lstStyle/>
          <a:p>
            <a:fld id="{DFBB075B-18CA-4317-AB6F-B6123D095EDB}" type="slidenum">
              <a:rPr lang="en-IN" smtClean="0"/>
              <a:t>‹#›</a:t>
            </a:fld>
            <a:endParaRPr lang="en-IN"/>
          </a:p>
        </p:txBody>
      </p:sp>
    </p:spTree>
    <p:extLst>
      <p:ext uri="{BB962C8B-B14F-4D97-AF65-F5344CB8AC3E}">
        <p14:creationId xmlns:p14="http://schemas.microsoft.com/office/powerpoint/2010/main" val="9871562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D8A8C-E82A-4792-E2CC-1EC6338039F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1A61426-F2A4-0CF0-3A6B-04653996524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4113E81-6C3F-0E73-2EDE-721085C2FEA8}"/>
              </a:ext>
            </a:extLst>
          </p:cNvPr>
          <p:cNvSpPr>
            <a:spLocks noGrp="1"/>
          </p:cNvSpPr>
          <p:nvPr>
            <p:ph type="dt" sz="half" idx="10"/>
          </p:nvPr>
        </p:nvSpPr>
        <p:spPr/>
        <p:txBody>
          <a:bodyPr/>
          <a:lstStyle/>
          <a:p>
            <a:fld id="{71A7B372-E037-4F5F-9ACC-407D1C2529FA}" type="datetimeFigureOut">
              <a:rPr lang="en-IN" smtClean="0"/>
              <a:t>02-05-2025</a:t>
            </a:fld>
            <a:endParaRPr lang="en-IN"/>
          </a:p>
        </p:txBody>
      </p:sp>
      <p:sp>
        <p:nvSpPr>
          <p:cNvPr id="5" name="Footer Placeholder 4">
            <a:extLst>
              <a:ext uri="{FF2B5EF4-FFF2-40B4-BE49-F238E27FC236}">
                <a16:creationId xmlns:a16="http://schemas.microsoft.com/office/drawing/2014/main" id="{8E22D6BE-0BFB-B016-AD97-5D4D22BED6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9971A5-A988-83B5-A73B-C59BA2A1F1FC}"/>
              </a:ext>
            </a:extLst>
          </p:cNvPr>
          <p:cNvSpPr>
            <a:spLocks noGrp="1"/>
          </p:cNvSpPr>
          <p:nvPr>
            <p:ph type="sldNum" sz="quarter" idx="12"/>
          </p:nvPr>
        </p:nvSpPr>
        <p:spPr/>
        <p:txBody>
          <a:bodyPr/>
          <a:lstStyle/>
          <a:p>
            <a:fld id="{DFBB075B-18CA-4317-AB6F-B6123D095EDB}" type="slidenum">
              <a:rPr lang="en-IN" smtClean="0"/>
              <a:t>‹#›</a:t>
            </a:fld>
            <a:endParaRPr lang="en-IN"/>
          </a:p>
        </p:txBody>
      </p:sp>
    </p:spTree>
    <p:extLst>
      <p:ext uri="{BB962C8B-B14F-4D97-AF65-F5344CB8AC3E}">
        <p14:creationId xmlns:p14="http://schemas.microsoft.com/office/powerpoint/2010/main" val="1644826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F507BA-8E7A-5F01-4484-C887A708779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4420E97-838F-6580-E1F2-D50B1E2CBF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5102216-ACE5-BBAE-3EC4-A95AD437AC7B}"/>
              </a:ext>
            </a:extLst>
          </p:cNvPr>
          <p:cNvSpPr>
            <a:spLocks noGrp="1"/>
          </p:cNvSpPr>
          <p:nvPr>
            <p:ph type="dt" sz="half" idx="10"/>
          </p:nvPr>
        </p:nvSpPr>
        <p:spPr/>
        <p:txBody>
          <a:bodyPr/>
          <a:lstStyle/>
          <a:p>
            <a:fld id="{71A7B372-E037-4F5F-9ACC-407D1C2529FA}" type="datetimeFigureOut">
              <a:rPr lang="en-IN" smtClean="0"/>
              <a:t>02-05-2025</a:t>
            </a:fld>
            <a:endParaRPr lang="en-IN"/>
          </a:p>
        </p:txBody>
      </p:sp>
      <p:sp>
        <p:nvSpPr>
          <p:cNvPr id="5" name="Footer Placeholder 4">
            <a:extLst>
              <a:ext uri="{FF2B5EF4-FFF2-40B4-BE49-F238E27FC236}">
                <a16:creationId xmlns:a16="http://schemas.microsoft.com/office/drawing/2014/main" id="{95E04643-1B79-843E-78E6-2804E2A868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4B944A5-C25B-AEE5-6926-C030CD4F3290}"/>
              </a:ext>
            </a:extLst>
          </p:cNvPr>
          <p:cNvSpPr>
            <a:spLocks noGrp="1"/>
          </p:cNvSpPr>
          <p:nvPr>
            <p:ph type="sldNum" sz="quarter" idx="12"/>
          </p:nvPr>
        </p:nvSpPr>
        <p:spPr/>
        <p:txBody>
          <a:bodyPr/>
          <a:lstStyle/>
          <a:p>
            <a:fld id="{DFBB075B-18CA-4317-AB6F-B6123D095EDB}" type="slidenum">
              <a:rPr lang="en-IN" smtClean="0"/>
              <a:t>‹#›</a:t>
            </a:fld>
            <a:endParaRPr lang="en-IN"/>
          </a:p>
        </p:txBody>
      </p:sp>
    </p:spTree>
    <p:extLst>
      <p:ext uri="{BB962C8B-B14F-4D97-AF65-F5344CB8AC3E}">
        <p14:creationId xmlns:p14="http://schemas.microsoft.com/office/powerpoint/2010/main" val="11326286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267" b="0" i="0">
                <a:solidFill>
                  <a:schemeClr val="bg1"/>
                </a:solidFill>
                <a:latin typeface="Calibri"/>
                <a:cs typeface="Calibri"/>
              </a:defRPr>
            </a:lvl1pPr>
          </a:lstStyle>
          <a:p>
            <a:endParaRPr/>
          </a:p>
        </p:txBody>
      </p:sp>
      <p:sp>
        <p:nvSpPr>
          <p:cNvPr id="3" name="Holder 3"/>
          <p:cNvSpPr>
            <a:spLocks noGrp="1"/>
          </p:cNvSpPr>
          <p:nvPr>
            <p:ph sz="half" idx="2"/>
          </p:nvPr>
        </p:nvSpPr>
        <p:spPr>
          <a:xfrm>
            <a:off x="609600" y="1577340"/>
            <a:ext cx="5303520" cy="387798"/>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387798"/>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4657678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556168" y="435260"/>
            <a:ext cx="5261187" cy="590996"/>
          </a:xfrm>
          <a:prstGeom prst="rect">
            <a:avLst/>
          </a:prstGeom>
        </p:spPr>
        <p:txBody>
          <a:bodyPr wrap="square" lIns="0" tIns="0" rIns="0" bIns="0">
            <a:spAutoFit/>
          </a:bodyPr>
          <a:lstStyle>
            <a:lvl1pPr>
              <a:defRPr sz="4267" b="0" i="0">
                <a:solidFill>
                  <a:schemeClr val="bg1"/>
                </a:solidFill>
                <a:latin typeface="Calibri"/>
                <a:cs typeface="Calibri"/>
              </a:defRPr>
            </a:lvl1pPr>
          </a:lstStyle>
          <a:p>
            <a:endParaRPr/>
          </a:p>
        </p:txBody>
      </p:sp>
      <p:sp>
        <p:nvSpPr>
          <p:cNvPr id="3" name="Holder 3"/>
          <p:cNvSpPr>
            <a:spLocks noGrp="1"/>
          </p:cNvSpPr>
          <p:nvPr>
            <p:ph type="subTitle" idx="4"/>
          </p:nvPr>
        </p:nvSpPr>
        <p:spPr>
          <a:xfrm>
            <a:off x="1828800" y="3840481"/>
            <a:ext cx="8534400" cy="387798"/>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9071042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0EBE63-0AA6-A32C-DA29-3D596AEB11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D3402DA-01A6-BC29-9674-865517EF8A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7EB118E-C1B1-1148-400A-D2F8700415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A7B372-E037-4F5F-9ACC-407D1C2529FA}" type="datetimeFigureOut">
              <a:rPr lang="en-IN" smtClean="0"/>
              <a:t>02-05-2025</a:t>
            </a:fld>
            <a:endParaRPr lang="en-IN"/>
          </a:p>
        </p:txBody>
      </p:sp>
      <p:sp>
        <p:nvSpPr>
          <p:cNvPr id="5" name="Footer Placeholder 4">
            <a:extLst>
              <a:ext uri="{FF2B5EF4-FFF2-40B4-BE49-F238E27FC236}">
                <a16:creationId xmlns:a16="http://schemas.microsoft.com/office/drawing/2014/main" id="{136B4FD1-26CC-D757-150C-95EB4BC3A0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0F543FF-8451-CD2C-759F-F4CB34B8F9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BB075B-18CA-4317-AB6F-B6123D095EDB}" type="slidenum">
              <a:rPr lang="en-IN" smtClean="0"/>
              <a:t>‹#›</a:t>
            </a:fld>
            <a:endParaRPr lang="en-IN"/>
          </a:p>
        </p:txBody>
      </p:sp>
    </p:spTree>
    <p:extLst>
      <p:ext uri="{BB962C8B-B14F-4D97-AF65-F5344CB8AC3E}">
        <p14:creationId xmlns:p14="http://schemas.microsoft.com/office/powerpoint/2010/main" val="6154858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29.png"/></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29.png"/></Relationships>
</file>

<file path=ppt/slides/_rels/slide4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5.png"/></Relationships>
</file>

<file path=ppt/slides/_rels/slide47.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3.png"/><Relationship Id="rId7" Type="http://schemas.openxmlformats.org/officeDocument/2006/relationships/image" Target="../media/image38.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4.png"/><Relationship Id="rId9" Type="http://schemas.openxmlformats.org/officeDocument/2006/relationships/image" Target="../media/image4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 Id="rId5" Type="http://schemas.openxmlformats.org/officeDocument/2006/relationships/image" Target="../media/image50.png"/><Relationship Id="rId4" Type="http://schemas.openxmlformats.org/officeDocument/2006/relationships/image" Target="../media/image49.png"/></Relationships>
</file>

<file path=ppt/slides/_rels/slide5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8.png"/><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5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2.png"/><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6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7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5" Type="http://schemas.openxmlformats.org/officeDocument/2006/relationships/image" Target="../media/image74.png"/><Relationship Id="rId4" Type="http://schemas.openxmlformats.org/officeDocument/2006/relationships/image" Target="../media/image73.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 Id="rId5" Type="http://schemas.openxmlformats.org/officeDocument/2006/relationships/image" Target="../media/image79.png"/><Relationship Id="rId4" Type="http://schemas.openxmlformats.org/officeDocument/2006/relationships/image" Target="../media/image78.png"/></Relationships>
</file>

<file path=ppt/slides/_rels/slide112.xml.rels><?xml version="1.0" encoding="UTF-8" standalone="yes"?>
<Relationships xmlns="http://schemas.openxmlformats.org/package/2006/relationships"><Relationship Id="rId3" Type="http://schemas.openxmlformats.org/officeDocument/2006/relationships/hyperlink" Target="mailto:snider_sof@gmail.com" TargetMode="External"/><Relationship Id="rId2" Type="http://schemas.openxmlformats.org/officeDocument/2006/relationships/hyperlink" Target="mailto:mike323@gmail.com" TargetMode="External"/><Relationship Id="rId1" Type="http://schemas.openxmlformats.org/officeDocument/2006/relationships/slideLayout" Target="../slideLayouts/slideLayout2.xml"/><Relationship Id="rId6" Type="http://schemas.openxmlformats.org/officeDocument/2006/relationships/hyperlink" Target="mailto:jlovell@gmail.com" TargetMode="External"/><Relationship Id="rId5" Type="http://schemas.openxmlformats.org/officeDocument/2006/relationships/hyperlink" Target="mailto:sarah.griff@gmail.com" TargetMode="External"/><Relationship Id="rId4" Type="http://schemas.openxmlformats.org/officeDocument/2006/relationships/hyperlink" Target="mailto:mstread23@gmail.com" TargetMode="External"/></Relationships>
</file>

<file path=ppt/slides/_rels/slide11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 Id="rId5" Type="http://schemas.openxmlformats.org/officeDocument/2006/relationships/image" Target="../media/image83.png"/><Relationship Id="rId4" Type="http://schemas.openxmlformats.org/officeDocument/2006/relationships/image" Target="../media/image82.png"/></Relationships>
</file>

<file path=ppt/slides/_rels/slide116.xml.rels><?xml version="1.0" encoding="UTF-8" standalone="yes"?>
<Relationships xmlns="http://schemas.openxmlformats.org/package/2006/relationships"><Relationship Id="rId2" Type="http://schemas.openxmlformats.org/officeDocument/2006/relationships/image" Target="../media/image84.jpg"/><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image" Target="../media/image85.jp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9.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91.png"/><Relationship Id="rId7" Type="http://schemas.openxmlformats.org/officeDocument/2006/relationships/image" Target="../media/image95.png"/><Relationship Id="rId2" Type="http://schemas.openxmlformats.org/officeDocument/2006/relationships/image" Target="../media/image90.png"/><Relationship Id="rId1" Type="http://schemas.openxmlformats.org/officeDocument/2006/relationships/slideLayout" Target="../slideLayouts/slideLayout2.xml"/><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image" Target="../media/image92.png"/></Relationships>
</file>

<file path=ppt/slides/_rels/slide152.xml.rels><?xml version="1.0" encoding="UTF-8" standalone="yes"?>
<Relationships xmlns="http://schemas.openxmlformats.org/package/2006/relationships"><Relationship Id="rId3" Type="http://schemas.openxmlformats.org/officeDocument/2006/relationships/image" Target="../media/image91.png"/><Relationship Id="rId7" Type="http://schemas.openxmlformats.org/officeDocument/2006/relationships/image" Target="../media/image95.png"/><Relationship Id="rId2" Type="http://schemas.openxmlformats.org/officeDocument/2006/relationships/image" Target="../media/image90.png"/><Relationship Id="rId1" Type="http://schemas.openxmlformats.org/officeDocument/2006/relationships/slideLayout" Target="../slideLayouts/slideLayout2.xml"/><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image" Target="../media/image92.png"/></Relationships>
</file>

<file path=ppt/slides/_rels/slide15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8" Type="http://schemas.openxmlformats.org/officeDocument/2006/relationships/image" Target="../media/image102.png"/><Relationship Id="rId3" Type="http://schemas.openxmlformats.org/officeDocument/2006/relationships/image" Target="../media/image97.png"/><Relationship Id="rId7" Type="http://schemas.openxmlformats.org/officeDocument/2006/relationships/image" Target="../media/image101.png"/><Relationship Id="rId2" Type="http://schemas.openxmlformats.org/officeDocument/2006/relationships/image" Target="../media/image96.png"/><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99.png"/><Relationship Id="rId4" Type="http://schemas.openxmlformats.org/officeDocument/2006/relationships/image" Target="../media/image98.png"/></Relationships>
</file>

<file path=ppt/slides/_rels/slide155.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108.png"/><Relationship Id="rId5" Type="http://schemas.openxmlformats.org/officeDocument/2006/relationships/image" Target="../media/image107.png"/><Relationship Id="rId4" Type="http://schemas.openxmlformats.org/officeDocument/2006/relationships/image" Target="../media/image106.png"/></Relationships>
</file>

<file path=ppt/slides/_rels/slide158.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2.xml"/><Relationship Id="rId4" Type="http://schemas.openxmlformats.org/officeDocument/2006/relationships/image" Target="../media/image111.png"/></Relationships>
</file>

<file path=ppt/slides/_rels/slide16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112.png"/><Relationship Id="rId7" Type="http://schemas.openxmlformats.org/officeDocument/2006/relationships/image" Target="../media/image116.png"/><Relationship Id="rId2" Type="http://schemas.openxmlformats.org/officeDocument/2006/relationships/image" Target="../media/image105.png"/><Relationship Id="rId1" Type="http://schemas.openxmlformats.org/officeDocument/2006/relationships/slideLayout" Target="../slideLayouts/slideLayout2.xml"/><Relationship Id="rId6" Type="http://schemas.openxmlformats.org/officeDocument/2006/relationships/image" Target="../media/image115.png"/><Relationship Id="rId5" Type="http://schemas.openxmlformats.org/officeDocument/2006/relationships/image" Target="../media/image114.png"/><Relationship Id="rId4" Type="http://schemas.openxmlformats.org/officeDocument/2006/relationships/image" Target="../media/image113.png"/></Relationships>
</file>

<file path=ppt/slides/_rels/slide168.xml.rels><?xml version="1.0" encoding="UTF-8" standalone="yes"?>
<Relationships xmlns="http://schemas.openxmlformats.org/package/2006/relationships"><Relationship Id="rId3" Type="http://schemas.openxmlformats.org/officeDocument/2006/relationships/image" Target="../media/image117.png"/><Relationship Id="rId7" Type="http://schemas.openxmlformats.org/officeDocument/2006/relationships/image" Target="../media/image121.png"/><Relationship Id="rId2" Type="http://schemas.openxmlformats.org/officeDocument/2006/relationships/image" Target="../media/image105.png"/><Relationship Id="rId1" Type="http://schemas.openxmlformats.org/officeDocument/2006/relationships/slideLayout" Target="../slideLayouts/slideLayout2.xml"/><Relationship Id="rId6" Type="http://schemas.openxmlformats.org/officeDocument/2006/relationships/image" Target="../media/image120.jpg"/><Relationship Id="rId5" Type="http://schemas.openxmlformats.org/officeDocument/2006/relationships/image" Target="../media/image119.png"/><Relationship Id="rId4" Type="http://schemas.openxmlformats.org/officeDocument/2006/relationships/image" Target="../media/image118.png"/></Relationships>
</file>

<file path=ppt/slides/_rels/slide169.xml.rels><?xml version="1.0" encoding="UTF-8" standalone="yes"?>
<Relationships xmlns="http://schemas.openxmlformats.org/package/2006/relationships"><Relationship Id="rId8" Type="http://schemas.openxmlformats.org/officeDocument/2006/relationships/image" Target="../media/image122.png"/><Relationship Id="rId3" Type="http://schemas.openxmlformats.org/officeDocument/2006/relationships/image" Target="../media/image117.png"/><Relationship Id="rId7" Type="http://schemas.openxmlformats.org/officeDocument/2006/relationships/image" Target="../media/image120.jpg"/><Relationship Id="rId2" Type="http://schemas.openxmlformats.org/officeDocument/2006/relationships/image" Target="../media/image105.png"/><Relationship Id="rId1" Type="http://schemas.openxmlformats.org/officeDocument/2006/relationships/slideLayout" Target="../slideLayouts/slideLayout2.xml"/><Relationship Id="rId6" Type="http://schemas.openxmlformats.org/officeDocument/2006/relationships/image" Target="../media/image121.png"/><Relationship Id="rId5" Type="http://schemas.openxmlformats.org/officeDocument/2006/relationships/image" Target="../media/image119.png"/><Relationship Id="rId10" Type="http://schemas.openxmlformats.org/officeDocument/2006/relationships/image" Target="../media/image124.png"/><Relationship Id="rId4" Type="http://schemas.openxmlformats.org/officeDocument/2006/relationships/image" Target="../media/image118.png"/><Relationship Id="rId9" Type="http://schemas.openxmlformats.org/officeDocument/2006/relationships/image" Target="../media/image123.png"/></Relationships>
</file>

<file path=ppt/slides/_rels/slide170.xml.rels><?xml version="1.0" encoding="UTF-8" standalone="yes"?>
<Relationships xmlns="http://schemas.openxmlformats.org/package/2006/relationships"><Relationship Id="rId8" Type="http://schemas.openxmlformats.org/officeDocument/2006/relationships/image" Target="../media/image130.png"/><Relationship Id="rId3" Type="http://schemas.openxmlformats.org/officeDocument/2006/relationships/image" Target="../media/image125.png"/><Relationship Id="rId7" Type="http://schemas.openxmlformats.org/officeDocument/2006/relationships/image" Target="../media/image129.png"/><Relationship Id="rId12" Type="http://schemas.openxmlformats.org/officeDocument/2006/relationships/image" Target="../media/image134.png"/><Relationship Id="rId2" Type="http://schemas.openxmlformats.org/officeDocument/2006/relationships/image" Target="../media/image105.png"/><Relationship Id="rId1" Type="http://schemas.openxmlformats.org/officeDocument/2006/relationships/slideLayout" Target="../slideLayouts/slideLayout2.xml"/><Relationship Id="rId6" Type="http://schemas.openxmlformats.org/officeDocument/2006/relationships/image" Target="../media/image128.png"/><Relationship Id="rId11" Type="http://schemas.openxmlformats.org/officeDocument/2006/relationships/image" Target="../media/image133.png"/><Relationship Id="rId5" Type="http://schemas.openxmlformats.org/officeDocument/2006/relationships/image" Target="../media/image127.png"/><Relationship Id="rId10" Type="http://schemas.openxmlformats.org/officeDocument/2006/relationships/image" Target="../media/image132.png"/><Relationship Id="rId4" Type="http://schemas.openxmlformats.org/officeDocument/2006/relationships/image" Target="../media/image126.png"/><Relationship Id="rId9" Type="http://schemas.openxmlformats.org/officeDocument/2006/relationships/image" Target="../media/image131.png"/></Relationships>
</file>

<file path=ppt/slides/_rels/slide171.xml.rels><?xml version="1.0" encoding="UTF-8" standalone="yes"?>
<Relationships xmlns="http://schemas.openxmlformats.org/package/2006/relationships"><Relationship Id="rId8" Type="http://schemas.openxmlformats.org/officeDocument/2006/relationships/image" Target="../media/image128.png"/><Relationship Id="rId3" Type="http://schemas.openxmlformats.org/officeDocument/2006/relationships/image" Target="../media/image135.png"/><Relationship Id="rId7" Type="http://schemas.openxmlformats.org/officeDocument/2006/relationships/image" Target="../media/image120.jpg"/><Relationship Id="rId2" Type="http://schemas.openxmlformats.org/officeDocument/2006/relationships/image" Target="../media/image105.png"/><Relationship Id="rId1" Type="http://schemas.openxmlformats.org/officeDocument/2006/relationships/slideLayout" Target="../slideLayouts/slideLayout2.xml"/><Relationship Id="rId6" Type="http://schemas.openxmlformats.org/officeDocument/2006/relationships/image" Target="../media/image138.png"/><Relationship Id="rId5" Type="http://schemas.openxmlformats.org/officeDocument/2006/relationships/image" Target="../media/image137.png"/><Relationship Id="rId4" Type="http://schemas.openxmlformats.org/officeDocument/2006/relationships/image" Target="../media/image136.png"/></Relationships>
</file>

<file path=ppt/slides/_rels/slide172.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105.png"/><Relationship Id="rId1" Type="http://schemas.openxmlformats.org/officeDocument/2006/relationships/slideLayout" Target="../slideLayouts/slideLayout2.xml"/><Relationship Id="rId5" Type="http://schemas.openxmlformats.org/officeDocument/2006/relationships/image" Target="../media/image141.jpg"/><Relationship Id="rId4" Type="http://schemas.openxmlformats.org/officeDocument/2006/relationships/image" Target="../media/image140.png"/></Relationships>
</file>

<file path=ppt/slides/_rels/slide173.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105.png"/><Relationship Id="rId1" Type="http://schemas.openxmlformats.org/officeDocument/2006/relationships/slideLayout" Target="../slideLayouts/slideLayout2.xml"/><Relationship Id="rId5" Type="http://schemas.openxmlformats.org/officeDocument/2006/relationships/image" Target="../media/image142.png"/><Relationship Id="rId4" Type="http://schemas.openxmlformats.org/officeDocument/2006/relationships/image" Target="../media/image140.png"/></Relationships>
</file>

<file path=ppt/slides/_rels/slide174.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105.png"/><Relationship Id="rId1" Type="http://schemas.openxmlformats.org/officeDocument/2006/relationships/slideLayout" Target="../slideLayouts/slideLayout2.xml"/><Relationship Id="rId5" Type="http://schemas.openxmlformats.org/officeDocument/2006/relationships/image" Target="../media/image144.jpg"/><Relationship Id="rId4" Type="http://schemas.openxmlformats.org/officeDocument/2006/relationships/image" Target="../media/image143.png"/></Relationships>
</file>

<file path=ppt/slides/_rels/slide175.xml.rels><?xml version="1.0" encoding="UTF-8" standalone="yes"?>
<Relationships xmlns="http://schemas.openxmlformats.org/package/2006/relationships"><Relationship Id="rId8" Type="http://schemas.openxmlformats.org/officeDocument/2006/relationships/image" Target="../media/image144.jpg"/><Relationship Id="rId3" Type="http://schemas.openxmlformats.org/officeDocument/2006/relationships/image" Target="../media/image146.png"/><Relationship Id="rId7" Type="http://schemas.openxmlformats.org/officeDocument/2006/relationships/image" Target="../media/image149.png"/><Relationship Id="rId2" Type="http://schemas.openxmlformats.org/officeDocument/2006/relationships/image" Target="../media/image145.png"/><Relationship Id="rId1" Type="http://schemas.openxmlformats.org/officeDocument/2006/relationships/slideLayout" Target="../slideLayouts/slideLayout2.xml"/><Relationship Id="rId6" Type="http://schemas.openxmlformats.org/officeDocument/2006/relationships/image" Target="../media/image148.png"/><Relationship Id="rId5" Type="http://schemas.openxmlformats.org/officeDocument/2006/relationships/image" Target="../media/image105.png"/><Relationship Id="rId4" Type="http://schemas.openxmlformats.org/officeDocument/2006/relationships/image" Target="../media/image147.png"/></Relationships>
</file>

<file path=ppt/slides/_rels/slide17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image" Target="../media/image152.png"/><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image" Target="../media/image153.pn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3" Type="http://schemas.openxmlformats.org/officeDocument/2006/relationships/image" Target="../media/image141.jpg"/><Relationship Id="rId2" Type="http://schemas.openxmlformats.org/officeDocument/2006/relationships/image" Target="../media/image155.png"/><Relationship Id="rId1" Type="http://schemas.openxmlformats.org/officeDocument/2006/relationships/slideLayout" Target="../slideLayouts/slideLayout2.xml"/><Relationship Id="rId5" Type="http://schemas.openxmlformats.org/officeDocument/2006/relationships/image" Target="../media/image157.png"/><Relationship Id="rId4" Type="http://schemas.openxmlformats.org/officeDocument/2006/relationships/image" Target="../media/image156.png"/></Relationships>
</file>

<file path=ppt/slides/_rels/slide187.xml.rels><?xml version="1.0" encoding="UTF-8" standalone="yes"?>
<Relationships xmlns="http://schemas.openxmlformats.org/package/2006/relationships"><Relationship Id="rId3" Type="http://schemas.openxmlformats.org/officeDocument/2006/relationships/image" Target="../media/image158.jpg"/><Relationship Id="rId2" Type="http://schemas.openxmlformats.org/officeDocument/2006/relationships/image" Target="../media/image155.png"/><Relationship Id="rId1" Type="http://schemas.openxmlformats.org/officeDocument/2006/relationships/slideLayout" Target="../slideLayouts/slideLayout2.xml"/><Relationship Id="rId5" Type="http://schemas.openxmlformats.org/officeDocument/2006/relationships/image" Target="../media/image157.png"/><Relationship Id="rId4" Type="http://schemas.openxmlformats.org/officeDocument/2006/relationships/image" Target="../media/image156.png"/></Relationships>
</file>

<file path=ppt/slides/_rels/slide188.xml.rels><?xml version="1.0" encoding="UTF-8" standalone="yes"?>
<Relationships xmlns="http://schemas.openxmlformats.org/package/2006/relationships"><Relationship Id="rId3" Type="http://schemas.openxmlformats.org/officeDocument/2006/relationships/image" Target="../media/image158.jpg"/><Relationship Id="rId2" Type="http://schemas.openxmlformats.org/officeDocument/2006/relationships/image" Target="../media/image155.png"/><Relationship Id="rId1" Type="http://schemas.openxmlformats.org/officeDocument/2006/relationships/slideLayout" Target="../slideLayouts/slideLayout2.xml"/><Relationship Id="rId6" Type="http://schemas.openxmlformats.org/officeDocument/2006/relationships/image" Target="../media/image159.png"/><Relationship Id="rId5" Type="http://schemas.openxmlformats.org/officeDocument/2006/relationships/image" Target="../media/image157.png"/><Relationship Id="rId4" Type="http://schemas.openxmlformats.org/officeDocument/2006/relationships/image" Target="../media/image156.png"/></Relationships>
</file>

<file path=ppt/slides/_rels/slide189.xml.rels><?xml version="1.0" encoding="UTF-8" standalone="yes"?>
<Relationships xmlns="http://schemas.openxmlformats.org/package/2006/relationships"><Relationship Id="rId3" Type="http://schemas.openxmlformats.org/officeDocument/2006/relationships/image" Target="../media/image158.jpg"/><Relationship Id="rId2" Type="http://schemas.openxmlformats.org/officeDocument/2006/relationships/image" Target="../media/image155.png"/><Relationship Id="rId1" Type="http://schemas.openxmlformats.org/officeDocument/2006/relationships/slideLayout" Target="../slideLayouts/slideLayout2.xml"/><Relationship Id="rId5" Type="http://schemas.openxmlformats.org/officeDocument/2006/relationships/image" Target="../media/image160.png"/><Relationship Id="rId4" Type="http://schemas.openxmlformats.org/officeDocument/2006/relationships/image" Target="../media/image159.png"/></Relationships>
</file>

<file path=ppt/slides/_rels/slide190.xml.rels><?xml version="1.0" encoding="UTF-8" standalone="yes"?>
<Relationships xmlns="http://schemas.openxmlformats.org/package/2006/relationships"><Relationship Id="rId3" Type="http://schemas.openxmlformats.org/officeDocument/2006/relationships/image" Target="../media/image158.jpg"/><Relationship Id="rId2" Type="http://schemas.openxmlformats.org/officeDocument/2006/relationships/image" Target="../media/image155.png"/><Relationship Id="rId1" Type="http://schemas.openxmlformats.org/officeDocument/2006/relationships/slideLayout" Target="../slideLayouts/slideLayout2.xml"/><Relationship Id="rId5" Type="http://schemas.openxmlformats.org/officeDocument/2006/relationships/image" Target="../media/image160.png"/><Relationship Id="rId4" Type="http://schemas.openxmlformats.org/officeDocument/2006/relationships/image" Target="../media/image159.png"/></Relationships>
</file>

<file path=ppt/slides/_rels/slide191.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image" Target="../media/image155.png"/><Relationship Id="rId1" Type="http://schemas.openxmlformats.org/officeDocument/2006/relationships/slideLayout" Target="../slideLayouts/slideLayout2.xml"/><Relationship Id="rId6" Type="http://schemas.openxmlformats.org/officeDocument/2006/relationships/image" Target="../media/image157.png"/><Relationship Id="rId5" Type="http://schemas.openxmlformats.org/officeDocument/2006/relationships/image" Target="../media/image156.png"/><Relationship Id="rId4" Type="http://schemas.openxmlformats.org/officeDocument/2006/relationships/image" Target="../media/image160.png"/></Relationships>
</file>

<file path=ppt/slides/_rels/slide192.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28.png"/><Relationship Id="rId1" Type="http://schemas.openxmlformats.org/officeDocument/2006/relationships/slideLayout" Target="../slideLayouts/slideLayout2.xml"/><Relationship Id="rId4" Type="http://schemas.openxmlformats.org/officeDocument/2006/relationships/image" Target="../media/image162.png"/></Relationships>
</file>

<file path=ppt/slides/_rels/slide194.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28.png"/><Relationship Id="rId1" Type="http://schemas.openxmlformats.org/officeDocument/2006/relationships/slideLayout" Target="../slideLayouts/slideLayout2.xml"/><Relationship Id="rId5" Type="http://schemas.openxmlformats.org/officeDocument/2006/relationships/image" Target="../media/image163.png"/><Relationship Id="rId4" Type="http://schemas.openxmlformats.org/officeDocument/2006/relationships/image" Target="../media/image162.png"/></Relationships>
</file>

<file path=ppt/slides/_rels/slide195.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28.png"/><Relationship Id="rId1" Type="http://schemas.openxmlformats.org/officeDocument/2006/relationships/slideLayout" Target="../slideLayouts/slideLayout2.xml"/><Relationship Id="rId5" Type="http://schemas.openxmlformats.org/officeDocument/2006/relationships/image" Target="../media/image163.png"/><Relationship Id="rId4" Type="http://schemas.openxmlformats.org/officeDocument/2006/relationships/image" Target="../media/image162.png"/></Relationships>
</file>

<file path=ppt/slides/_rels/slide196.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62.png"/><Relationship Id="rId1" Type="http://schemas.openxmlformats.org/officeDocument/2006/relationships/slideLayout" Target="../slideLayouts/slideLayout2.xml"/><Relationship Id="rId4" Type="http://schemas.openxmlformats.org/officeDocument/2006/relationships/image" Target="../media/image128.png"/></Relationships>
</file>

<file path=ppt/slides/_rels/slide197.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28.png"/><Relationship Id="rId1" Type="http://schemas.openxmlformats.org/officeDocument/2006/relationships/slideLayout" Target="../slideLayouts/slideLayout2.xml"/><Relationship Id="rId5" Type="http://schemas.openxmlformats.org/officeDocument/2006/relationships/image" Target="../media/image164.png"/><Relationship Id="rId4" Type="http://schemas.openxmlformats.org/officeDocument/2006/relationships/image" Target="../media/image162.png"/></Relationships>
</file>

<file path=ppt/slides/_rels/slide198.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image" Target="../media/image165.png"/><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2" Type="http://schemas.openxmlformats.org/officeDocument/2006/relationships/image" Target="../media/image166.png"/><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2" Type="http://schemas.openxmlformats.org/officeDocument/2006/relationships/image" Target="../media/image167.png"/><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169.png"/></Relationships>
</file>

<file path=ppt/slides/_rels/slide217.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171.png"/></Relationships>
</file>

<file path=ppt/slides/_rels/slide21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172.png"/></Relationships>
</file>

<file path=ppt/slides/_rels/slide219.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174.png"/></Relationships>
</file>

<file path=ppt/slides/_rels/slide22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175.png"/></Relationships>
</file>

<file path=ppt/slides/_rels/slide22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3" Type="http://schemas.openxmlformats.org/officeDocument/2006/relationships/image" Target="../media/image176.jp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image" Target="../media/image177.png"/><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image" Target="../media/image179.png"/><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image" Target="../media/image181.png"/><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3" Type="http://schemas.openxmlformats.org/officeDocument/2006/relationships/image" Target="../media/image183.png"/><Relationship Id="rId2" Type="http://schemas.openxmlformats.org/officeDocument/2006/relationships/image" Target="../media/image105.png"/><Relationship Id="rId1" Type="http://schemas.openxmlformats.org/officeDocument/2006/relationships/slideLayout" Target="../slideLayouts/slideLayout2.xml"/><Relationship Id="rId4" Type="http://schemas.openxmlformats.org/officeDocument/2006/relationships/image" Target="../media/image184.png"/></Relationships>
</file>

<file path=ppt/slides/_rels/slide249.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3" Type="http://schemas.openxmlformats.org/officeDocument/2006/relationships/image" Target="../media/image186.png"/><Relationship Id="rId2" Type="http://schemas.openxmlformats.org/officeDocument/2006/relationships/image" Target="../media/image185.png"/><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2" Type="http://schemas.openxmlformats.org/officeDocument/2006/relationships/image" Target="../media/image187.png"/><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2" Type="http://schemas.openxmlformats.org/officeDocument/2006/relationships/image" Target="../media/image187.png"/><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2" Type="http://schemas.openxmlformats.org/officeDocument/2006/relationships/image" Target="../media/image188.png"/><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2" Type="http://schemas.openxmlformats.org/officeDocument/2006/relationships/image" Target="../media/image189.png"/><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3" Type="http://schemas.openxmlformats.org/officeDocument/2006/relationships/image" Target="../media/image191.png"/><Relationship Id="rId7" Type="http://schemas.openxmlformats.org/officeDocument/2006/relationships/image" Target="../media/image195.png"/><Relationship Id="rId2" Type="http://schemas.openxmlformats.org/officeDocument/2006/relationships/image" Target="../media/image190.png"/><Relationship Id="rId1" Type="http://schemas.openxmlformats.org/officeDocument/2006/relationships/slideLayout" Target="../slideLayouts/slideLayout2.xml"/><Relationship Id="rId6" Type="http://schemas.openxmlformats.org/officeDocument/2006/relationships/image" Target="../media/image194.png"/><Relationship Id="rId5" Type="http://schemas.openxmlformats.org/officeDocument/2006/relationships/image" Target="../media/image193.png"/><Relationship Id="rId4" Type="http://schemas.openxmlformats.org/officeDocument/2006/relationships/image" Target="../media/image192.png"/></Relationships>
</file>

<file path=ppt/slides/_rels/slide274.xml.rels><?xml version="1.0" encoding="UTF-8" standalone="yes"?>
<Relationships xmlns="http://schemas.openxmlformats.org/package/2006/relationships"><Relationship Id="rId3" Type="http://schemas.openxmlformats.org/officeDocument/2006/relationships/image" Target="../media/image191.png"/><Relationship Id="rId2" Type="http://schemas.openxmlformats.org/officeDocument/2006/relationships/image" Target="../media/image190.png"/><Relationship Id="rId1" Type="http://schemas.openxmlformats.org/officeDocument/2006/relationships/slideLayout" Target="../slideLayouts/slideLayout2.xml"/><Relationship Id="rId6" Type="http://schemas.openxmlformats.org/officeDocument/2006/relationships/image" Target="../media/image194.png"/><Relationship Id="rId5" Type="http://schemas.openxmlformats.org/officeDocument/2006/relationships/image" Target="../media/image193.png"/><Relationship Id="rId4" Type="http://schemas.openxmlformats.org/officeDocument/2006/relationships/image" Target="../media/image192.png"/></Relationships>
</file>

<file path=ppt/slides/_rels/slide275.xml.rels><?xml version="1.0" encoding="UTF-8" standalone="yes"?>
<Relationships xmlns="http://schemas.openxmlformats.org/package/2006/relationships"><Relationship Id="rId2" Type="http://schemas.openxmlformats.org/officeDocument/2006/relationships/image" Target="../media/image196.png"/><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2" Type="http://schemas.openxmlformats.org/officeDocument/2006/relationships/image" Target="../media/image196.png"/><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2" Type="http://schemas.openxmlformats.org/officeDocument/2006/relationships/image" Target="../media/image196.png"/><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2" Type="http://schemas.openxmlformats.org/officeDocument/2006/relationships/image" Target="../media/image197.png"/><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3" Type="http://schemas.openxmlformats.org/officeDocument/2006/relationships/image" Target="../media/image199.png"/><Relationship Id="rId2" Type="http://schemas.openxmlformats.org/officeDocument/2006/relationships/image" Target="../media/image198.png"/><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8" Type="http://schemas.openxmlformats.org/officeDocument/2006/relationships/image" Target="../media/image206.png"/><Relationship Id="rId13" Type="http://schemas.openxmlformats.org/officeDocument/2006/relationships/image" Target="../media/image211.png"/><Relationship Id="rId3" Type="http://schemas.openxmlformats.org/officeDocument/2006/relationships/image" Target="../media/image201.png"/><Relationship Id="rId7" Type="http://schemas.openxmlformats.org/officeDocument/2006/relationships/image" Target="../media/image205.png"/><Relationship Id="rId12" Type="http://schemas.openxmlformats.org/officeDocument/2006/relationships/image" Target="../media/image210.png"/><Relationship Id="rId2" Type="http://schemas.openxmlformats.org/officeDocument/2006/relationships/image" Target="../media/image200.png"/><Relationship Id="rId16" Type="http://schemas.openxmlformats.org/officeDocument/2006/relationships/image" Target="../media/image214.png"/><Relationship Id="rId1" Type="http://schemas.openxmlformats.org/officeDocument/2006/relationships/slideLayout" Target="../slideLayouts/slideLayout2.xml"/><Relationship Id="rId6" Type="http://schemas.openxmlformats.org/officeDocument/2006/relationships/image" Target="../media/image204.png"/><Relationship Id="rId11" Type="http://schemas.openxmlformats.org/officeDocument/2006/relationships/image" Target="../media/image209.png"/><Relationship Id="rId5" Type="http://schemas.openxmlformats.org/officeDocument/2006/relationships/image" Target="../media/image203.png"/><Relationship Id="rId15" Type="http://schemas.openxmlformats.org/officeDocument/2006/relationships/image" Target="../media/image213.png"/><Relationship Id="rId10" Type="http://schemas.openxmlformats.org/officeDocument/2006/relationships/image" Target="../media/image208.png"/><Relationship Id="rId4" Type="http://schemas.openxmlformats.org/officeDocument/2006/relationships/image" Target="../media/image202.png"/><Relationship Id="rId9" Type="http://schemas.openxmlformats.org/officeDocument/2006/relationships/image" Target="../media/image207.png"/><Relationship Id="rId14" Type="http://schemas.openxmlformats.org/officeDocument/2006/relationships/image" Target="../media/image212.png"/></Relationships>
</file>

<file path=ppt/slides/_rels/slide281.xml.rels><?xml version="1.0" encoding="UTF-8" standalone="yes"?>
<Relationships xmlns="http://schemas.openxmlformats.org/package/2006/relationships"><Relationship Id="rId8" Type="http://schemas.openxmlformats.org/officeDocument/2006/relationships/image" Target="../media/image208.png"/><Relationship Id="rId13" Type="http://schemas.openxmlformats.org/officeDocument/2006/relationships/image" Target="../media/image222.png"/><Relationship Id="rId3" Type="http://schemas.openxmlformats.org/officeDocument/2006/relationships/image" Target="../media/image216.png"/><Relationship Id="rId7" Type="http://schemas.openxmlformats.org/officeDocument/2006/relationships/image" Target="../media/image207.png"/><Relationship Id="rId12" Type="http://schemas.openxmlformats.org/officeDocument/2006/relationships/image" Target="../media/image221.png"/><Relationship Id="rId2" Type="http://schemas.openxmlformats.org/officeDocument/2006/relationships/image" Target="../media/image215.png"/><Relationship Id="rId1" Type="http://schemas.openxmlformats.org/officeDocument/2006/relationships/slideLayout" Target="../slideLayouts/slideLayout2.xml"/><Relationship Id="rId6" Type="http://schemas.openxmlformats.org/officeDocument/2006/relationships/image" Target="../media/image218.png"/><Relationship Id="rId11" Type="http://schemas.openxmlformats.org/officeDocument/2006/relationships/image" Target="../media/image220.png"/><Relationship Id="rId5" Type="http://schemas.openxmlformats.org/officeDocument/2006/relationships/image" Target="../media/image217.png"/><Relationship Id="rId10" Type="http://schemas.openxmlformats.org/officeDocument/2006/relationships/image" Target="../media/image200.png"/><Relationship Id="rId4" Type="http://schemas.openxmlformats.org/officeDocument/2006/relationships/image" Target="../media/image202.png"/><Relationship Id="rId9" Type="http://schemas.openxmlformats.org/officeDocument/2006/relationships/image" Target="../media/image219.png"/><Relationship Id="rId14" Type="http://schemas.openxmlformats.org/officeDocument/2006/relationships/image" Target="../media/image223.png"/></Relationships>
</file>

<file path=ppt/slides/_rels/slide282.xml.rels><?xml version="1.0" encoding="UTF-8" standalone="yes"?>
<Relationships xmlns="http://schemas.openxmlformats.org/package/2006/relationships"><Relationship Id="rId8" Type="http://schemas.openxmlformats.org/officeDocument/2006/relationships/image" Target="../media/image215.png"/><Relationship Id="rId13" Type="http://schemas.openxmlformats.org/officeDocument/2006/relationships/image" Target="../media/image228.png"/><Relationship Id="rId18" Type="http://schemas.openxmlformats.org/officeDocument/2006/relationships/image" Target="../media/image233.png"/><Relationship Id="rId3" Type="http://schemas.openxmlformats.org/officeDocument/2006/relationships/image" Target="../media/image224.png"/><Relationship Id="rId7" Type="http://schemas.openxmlformats.org/officeDocument/2006/relationships/image" Target="../media/image219.png"/><Relationship Id="rId12" Type="http://schemas.openxmlformats.org/officeDocument/2006/relationships/image" Target="../media/image227.png"/><Relationship Id="rId17" Type="http://schemas.openxmlformats.org/officeDocument/2006/relationships/image" Target="../media/image232.png"/><Relationship Id="rId2" Type="http://schemas.openxmlformats.org/officeDocument/2006/relationships/image" Target="../media/image202.png"/><Relationship Id="rId16" Type="http://schemas.openxmlformats.org/officeDocument/2006/relationships/image" Target="../media/image231.png"/><Relationship Id="rId1" Type="http://schemas.openxmlformats.org/officeDocument/2006/relationships/slideLayout" Target="../slideLayouts/slideLayout2.xml"/><Relationship Id="rId6" Type="http://schemas.openxmlformats.org/officeDocument/2006/relationships/image" Target="../media/image208.png"/><Relationship Id="rId11" Type="http://schemas.openxmlformats.org/officeDocument/2006/relationships/image" Target="../media/image226.png"/><Relationship Id="rId5" Type="http://schemas.openxmlformats.org/officeDocument/2006/relationships/image" Target="../media/image207.png"/><Relationship Id="rId15" Type="http://schemas.openxmlformats.org/officeDocument/2006/relationships/image" Target="../media/image230.png"/><Relationship Id="rId10" Type="http://schemas.openxmlformats.org/officeDocument/2006/relationships/image" Target="../media/image221.png"/><Relationship Id="rId19" Type="http://schemas.openxmlformats.org/officeDocument/2006/relationships/image" Target="../media/image234.png"/><Relationship Id="rId4" Type="http://schemas.openxmlformats.org/officeDocument/2006/relationships/image" Target="../media/image218.png"/><Relationship Id="rId9" Type="http://schemas.openxmlformats.org/officeDocument/2006/relationships/image" Target="../media/image225.png"/><Relationship Id="rId14" Type="http://schemas.openxmlformats.org/officeDocument/2006/relationships/image" Target="../media/image229.png"/></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3" Type="http://schemas.openxmlformats.org/officeDocument/2006/relationships/image" Target="../media/image236.png"/><Relationship Id="rId2" Type="http://schemas.openxmlformats.org/officeDocument/2006/relationships/image" Target="../media/image235.png"/><Relationship Id="rId1" Type="http://schemas.openxmlformats.org/officeDocument/2006/relationships/slideLayout" Target="../slideLayouts/slideLayout2.xml"/><Relationship Id="rId4" Type="http://schemas.openxmlformats.org/officeDocument/2006/relationships/image" Target="../media/image237.png"/></Relationships>
</file>

<file path=ppt/slides/_rels/slide285.xml.rels><?xml version="1.0" encoding="UTF-8" standalone="yes"?>
<Relationships xmlns="http://schemas.openxmlformats.org/package/2006/relationships"><Relationship Id="rId2" Type="http://schemas.openxmlformats.org/officeDocument/2006/relationships/image" Target="../media/image235.png"/><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CB442-EB1F-1DF6-01E3-CDEF2F64E749}"/>
              </a:ext>
            </a:extLst>
          </p:cNvPr>
          <p:cNvSpPr>
            <a:spLocks noGrp="1"/>
          </p:cNvSpPr>
          <p:nvPr>
            <p:ph type="ctrTitle"/>
          </p:nvPr>
        </p:nvSpPr>
        <p:spPr/>
        <p:txBody>
          <a:bodyPr/>
          <a:lstStyle/>
          <a:p>
            <a:r>
              <a:rPr lang="en-IN" dirty="0">
                <a:solidFill>
                  <a:schemeClr val="bg1"/>
                </a:solidFill>
              </a:rPr>
              <a:t>DWH</a:t>
            </a:r>
          </a:p>
        </p:txBody>
      </p:sp>
      <p:sp>
        <p:nvSpPr>
          <p:cNvPr id="4" name="TextBox 3">
            <a:extLst>
              <a:ext uri="{FF2B5EF4-FFF2-40B4-BE49-F238E27FC236}">
                <a16:creationId xmlns:a16="http://schemas.microsoft.com/office/drawing/2014/main" id="{DDA192A9-9599-224A-5ED3-EEBEF6FAC741}"/>
              </a:ext>
            </a:extLst>
          </p:cNvPr>
          <p:cNvSpPr txBox="1"/>
          <p:nvPr/>
        </p:nvSpPr>
        <p:spPr>
          <a:xfrm>
            <a:off x="3376819" y="5868264"/>
            <a:ext cx="6097656" cy="369332"/>
          </a:xfrm>
          <a:prstGeom prst="rect">
            <a:avLst/>
          </a:prstGeom>
          <a:noFill/>
        </p:spPr>
        <p:txBody>
          <a:bodyPr wrap="square">
            <a:spAutoFit/>
          </a:bodyPr>
          <a:lstStyle/>
          <a:p>
            <a:r>
              <a:rPr lang="en-IN" dirty="0">
                <a:solidFill>
                  <a:schemeClr val="bg1"/>
                </a:solidFill>
              </a:rPr>
              <a:t>Content created from Kimball’s book “Datawarehouse Toolkit” </a:t>
            </a:r>
          </a:p>
        </p:txBody>
      </p:sp>
    </p:spTree>
    <p:extLst>
      <p:ext uri="{BB962C8B-B14F-4D97-AF65-F5344CB8AC3E}">
        <p14:creationId xmlns:p14="http://schemas.microsoft.com/office/powerpoint/2010/main" val="4235297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125570" y="1610050"/>
            <a:ext cx="6129020" cy="2831253"/>
            <a:chOff x="2493264" y="1505711"/>
            <a:chExt cx="4596765" cy="2123440"/>
          </a:xfrm>
        </p:grpSpPr>
        <p:pic>
          <p:nvPicPr>
            <p:cNvPr id="3" name="object 3"/>
            <p:cNvPicPr/>
            <p:nvPr/>
          </p:nvPicPr>
          <p:blipFill>
            <a:blip r:embed="rId2" cstate="print"/>
            <a:stretch>
              <a:fillRect/>
            </a:stretch>
          </p:blipFill>
          <p:spPr>
            <a:xfrm>
              <a:off x="2493264" y="1505711"/>
              <a:ext cx="4596384" cy="1426464"/>
            </a:xfrm>
            <a:prstGeom prst="rect">
              <a:avLst/>
            </a:prstGeom>
          </p:spPr>
        </p:pic>
        <p:sp>
          <p:nvSpPr>
            <p:cNvPr id="4" name="object 4"/>
            <p:cNvSpPr/>
            <p:nvPr/>
          </p:nvSpPr>
          <p:spPr>
            <a:xfrm>
              <a:off x="4403268" y="2569438"/>
              <a:ext cx="780415" cy="1059815"/>
            </a:xfrm>
            <a:custGeom>
              <a:avLst/>
              <a:gdLst/>
              <a:ahLst/>
              <a:cxnLst/>
              <a:rect l="l" t="t" r="r" b="b"/>
              <a:pathLst>
                <a:path w="780414" h="1059814">
                  <a:moveTo>
                    <a:pt x="780148" y="725068"/>
                  </a:moveTo>
                  <a:lnTo>
                    <a:pt x="773823" y="745045"/>
                  </a:lnTo>
                  <a:lnTo>
                    <a:pt x="755637" y="763892"/>
                  </a:lnTo>
                  <a:lnTo>
                    <a:pt x="726694" y="781253"/>
                  </a:lnTo>
                  <a:lnTo>
                    <a:pt x="696556" y="793419"/>
                  </a:lnTo>
                  <a:lnTo>
                    <a:pt x="696556" y="920267"/>
                  </a:lnTo>
                  <a:lnTo>
                    <a:pt x="694550" y="931684"/>
                  </a:lnTo>
                  <a:lnTo>
                    <a:pt x="688898" y="940485"/>
                  </a:lnTo>
                  <a:lnTo>
                    <a:pt x="680097" y="946150"/>
                  </a:lnTo>
                  <a:lnTo>
                    <a:pt x="668693" y="948156"/>
                  </a:lnTo>
                  <a:lnTo>
                    <a:pt x="657288" y="946150"/>
                  </a:lnTo>
                  <a:lnTo>
                    <a:pt x="648487" y="940485"/>
                  </a:lnTo>
                  <a:lnTo>
                    <a:pt x="642835" y="931684"/>
                  </a:lnTo>
                  <a:lnTo>
                    <a:pt x="640829" y="920267"/>
                  </a:lnTo>
                  <a:lnTo>
                    <a:pt x="642835" y="908850"/>
                  </a:lnTo>
                  <a:lnTo>
                    <a:pt x="648487" y="900049"/>
                  </a:lnTo>
                  <a:lnTo>
                    <a:pt x="657288" y="894384"/>
                  </a:lnTo>
                  <a:lnTo>
                    <a:pt x="668693" y="892390"/>
                  </a:lnTo>
                  <a:lnTo>
                    <a:pt x="680097" y="894384"/>
                  </a:lnTo>
                  <a:lnTo>
                    <a:pt x="688898" y="900049"/>
                  </a:lnTo>
                  <a:lnTo>
                    <a:pt x="694550" y="908850"/>
                  </a:lnTo>
                  <a:lnTo>
                    <a:pt x="696556" y="920267"/>
                  </a:lnTo>
                  <a:lnTo>
                    <a:pt x="696556" y="793419"/>
                  </a:lnTo>
                  <a:lnTo>
                    <a:pt x="641019" y="810298"/>
                  </a:lnTo>
                  <a:lnTo>
                    <a:pt x="586549" y="821321"/>
                  </a:lnTo>
                  <a:lnTo>
                    <a:pt x="525818" y="829602"/>
                  </a:lnTo>
                  <a:lnTo>
                    <a:pt x="459955" y="834809"/>
                  </a:lnTo>
                  <a:lnTo>
                    <a:pt x="390067" y="836612"/>
                  </a:lnTo>
                  <a:lnTo>
                    <a:pt x="320192" y="834809"/>
                  </a:lnTo>
                  <a:lnTo>
                    <a:pt x="254317" y="829602"/>
                  </a:lnTo>
                  <a:lnTo>
                    <a:pt x="193586" y="821321"/>
                  </a:lnTo>
                  <a:lnTo>
                    <a:pt x="139115" y="810298"/>
                  </a:lnTo>
                  <a:lnTo>
                    <a:pt x="92024" y="796823"/>
                  </a:lnTo>
                  <a:lnTo>
                    <a:pt x="53454" y="781253"/>
                  </a:lnTo>
                  <a:lnTo>
                    <a:pt x="6311" y="745045"/>
                  </a:lnTo>
                  <a:lnTo>
                    <a:pt x="0" y="725068"/>
                  </a:lnTo>
                  <a:lnTo>
                    <a:pt x="0" y="948156"/>
                  </a:lnTo>
                  <a:lnTo>
                    <a:pt x="24498" y="986980"/>
                  </a:lnTo>
                  <a:lnTo>
                    <a:pt x="92024" y="1019924"/>
                  </a:lnTo>
                  <a:lnTo>
                    <a:pt x="139115" y="1033386"/>
                  </a:lnTo>
                  <a:lnTo>
                    <a:pt x="193586" y="1044422"/>
                  </a:lnTo>
                  <a:lnTo>
                    <a:pt x="254317" y="1052690"/>
                  </a:lnTo>
                  <a:lnTo>
                    <a:pt x="320192" y="1057897"/>
                  </a:lnTo>
                  <a:lnTo>
                    <a:pt x="390067" y="1059700"/>
                  </a:lnTo>
                  <a:lnTo>
                    <a:pt x="459955" y="1057897"/>
                  </a:lnTo>
                  <a:lnTo>
                    <a:pt x="525818" y="1052690"/>
                  </a:lnTo>
                  <a:lnTo>
                    <a:pt x="586549" y="1044422"/>
                  </a:lnTo>
                  <a:lnTo>
                    <a:pt x="641019" y="1033386"/>
                  </a:lnTo>
                  <a:lnTo>
                    <a:pt x="688111" y="1019924"/>
                  </a:lnTo>
                  <a:lnTo>
                    <a:pt x="726694" y="1004341"/>
                  </a:lnTo>
                  <a:lnTo>
                    <a:pt x="773823" y="968146"/>
                  </a:lnTo>
                  <a:lnTo>
                    <a:pt x="780148" y="948156"/>
                  </a:lnTo>
                  <a:lnTo>
                    <a:pt x="780148" y="892390"/>
                  </a:lnTo>
                  <a:lnTo>
                    <a:pt x="780148" y="836612"/>
                  </a:lnTo>
                  <a:lnTo>
                    <a:pt x="780148" y="725068"/>
                  </a:lnTo>
                  <a:close/>
                </a:path>
                <a:path w="780414" h="1059814">
                  <a:moveTo>
                    <a:pt x="780148" y="446201"/>
                  </a:moveTo>
                  <a:lnTo>
                    <a:pt x="773823" y="466191"/>
                  </a:lnTo>
                  <a:lnTo>
                    <a:pt x="755637" y="485025"/>
                  </a:lnTo>
                  <a:lnTo>
                    <a:pt x="726694" y="502386"/>
                  </a:lnTo>
                  <a:lnTo>
                    <a:pt x="696556" y="514565"/>
                  </a:lnTo>
                  <a:lnTo>
                    <a:pt x="696556" y="641413"/>
                  </a:lnTo>
                  <a:lnTo>
                    <a:pt x="694550" y="652818"/>
                  </a:lnTo>
                  <a:lnTo>
                    <a:pt x="688898" y="661631"/>
                  </a:lnTo>
                  <a:lnTo>
                    <a:pt x="680097" y="667296"/>
                  </a:lnTo>
                  <a:lnTo>
                    <a:pt x="668693" y="669290"/>
                  </a:lnTo>
                  <a:lnTo>
                    <a:pt x="657288" y="667296"/>
                  </a:lnTo>
                  <a:lnTo>
                    <a:pt x="648487" y="661631"/>
                  </a:lnTo>
                  <a:lnTo>
                    <a:pt x="642835" y="652818"/>
                  </a:lnTo>
                  <a:lnTo>
                    <a:pt x="640829" y="641413"/>
                  </a:lnTo>
                  <a:lnTo>
                    <a:pt x="642835" y="629996"/>
                  </a:lnTo>
                  <a:lnTo>
                    <a:pt x="648487" y="621195"/>
                  </a:lnTo>
                  <a:lnTo>
                    <a:pt x="657288" y="615530"/>
                  </a:lnTo>
                  <a:lnTo>
                    <a:pt x="668693" y="613524"/>
                  </a:lnTo>
                  <a:lnTo>
                    <a:pt x="680097" y="615530"/>
                  </a:lnTo>
                  <a:lnTo>
                    <a:pt x="688898" y="621195"/>
                  </a:lnTo>
                  <a:lnTo>
                    <a:pt x="694550" y="629996"/>
                  </a:lnTo>
                  <a:lnTo>
                    <a:pt x="696556" y="641413"/>
                  </a:lnTo>
                  <a:lnTo>
                    <a:pt x="696556" y="514565"/>
                  </a:lnTo>
                  <a:lnTo>
                    <a:pt x="641019" y="531431"/>
                  </a:lnTo>
                  <a:lnTo>
                    <a:pt x="586549" y="542467"/>
                  </a:lnTo>
                  <a:lnTo>
                    <a:pt x="525818" y="550735"/>
                  </a:lnTo>
                  <a:lnTo>
                    <a:pt x="459955" y="555942"/>
                  </a:lnTo>
                  <a:lnTo>
                    <a:pt x="390067" y="557745"/>
                  </a:lnTo>
                  <a:lnTo>
                    <a:pt x="320192" y="555942"/>
                  </a:lnTo>
                  <a:lnTo>
                    <a:pt x="254317" y="550735"/>
                  </a:lnTo>
                  <a:lnTo>
                    <a:pt x="193586" y="542467"/>
                  </a:lnTo>
                  <a:lnTo>
                    <a:pt x="139115" y="531431"/>
                  </a:lnTo>
                  <a:lnTo>
                    <a:pt x="92024" y="517969"/>
                  </a:lnTo>
                  <a:lnTo>
                    <a:pt x="53454" y="502386"/>
                  </a:lnTo>
                  <a:lnTo>
                    <a:pt x="6311" y="466191"/>
                  </a:lnTo>
                  <a:lnTo>
                    <a:pt x="0" y="446201"/>
                  </a:lnTo>
                  <a:lnTo>
                    <a:pt x="0" y="669290"/>
                  </a:lnTo>
                  <a:lnTo>
                    <a:pt x="24498" y="708113"/>
                  </a:lnTo>
                  <a:lnTo>
                    <a:pt x="92024" y="741057"/>
                  </a:lnTo>
                  <a:lnTo>
                    <a:pt x="139115" y="754519"/>
                  </a:lnTo>
                  <a:lnTo>
                    <a:pt x="193586" y="765556"/>
                  </a:lnTo>
                  <a:lnTo>
                    <a:pt x="254317" y="773836"/>
                  </a:lnTo>
                  <a:lnTo>
                    <a:pt x="320192" y="779030"/>
                  </a:lnTo>
                  <a:lnTo>
                    <a:pt x="390067" y="780834"/>
                  </a:lnTo>
                  <a:lnTo>
                    <a:pt x="459955" y="779030"/>
                  </a:lnTo>
                  <a:lnTo>
                    <a:pt x="525818" y="773836"/>
                  </a:lnTo>
                  <a:lnTo>
                    <a:pt x="586549" y="765556"/>
                  </a:lnTo>
                  <a:lnTo>
                    <a:pt x="641019" y="754519"/>
                  </a:lnTo>
                  <a:lnTo>
                    <a:pt x="688111" y="741057"/>
                  </a:lnTo>
                  <a:lnTo>
                    <a:pt x="726694" y="725474"/>
                  </a:lnTo>
                  <a:lnTo>
                    <a:pt x="773823" y="689279"/>
                  </a:lnTo>
                  <a:lnTo>
                    <a:pt x="780148" y="669290"/>
                  </a:lnTo>
                  <a:lnTo>
                    <a:pt x="780148" y="613524"/>
                  </a:lnTo>
                  <a:lnTo>
                    <a:pt x="780148" y="557745"/>
                  </a:lnTo>
                  <a:lnTo>
                    <a:pt x="780148" y="446201"/>
                  </a:lnTo>
                  <a:close/>
                </a:path>
                <a:path w="780414" h="1059814">
                  <a:moveTo>
                    <a:pt x="780148" y="167335"/>
                  </a:moveTo>
                  <a:lnTo>
                    <a:pt x="773823" y="187325"/>
                  </a:lnTo>
                  <a:lnTo>
                    <a:pt x="755637" y="206159"/>
                  </a:lnTo>
                  <a:lnTo>
                    <a:pt x="726694" y="223520"/>
                  </a:lnTo>
                  <a:lnTo>
                    <a:pt x="696556" y="235699"/>
                  </a:lnTo>
                  <a:lnTo>
                    <a:pt x="696556" y="362546"/>
                  </a:lnTo>
                  <a:lnTo>
                    <a:pt x="694550" y="373964"/>
                  </a:lnTo>
                  <a:lnTo>
                    <a:pt x="688898" y="382765"/>
                  </a:lnTo>
                  <a:lnTo>
                    <a:pt x="680097" y="388429"/>
                  </a:lnTo>
                  <a:lnTo>
                    <a:pt x="668693" y="390436"/>
                  </a:lnTo>
                  <a:lnTo>
                    <a:pt x="657288" y="388429"/>
                  </a:lnTo>
                  <a:lnTo>
                    <a:pt x="648487" y="382765"/>
                  </a:lnTo>
                  <a:lnTo>
                    <a:pt x="642835" y="373964"/>
                  </a:lnTo>
                  <a:lnTo>
                    <a:pt x="640829" y="362546"/>
                  </a:lnTo>
                  <a:lnTo>
                    <a:pt x="642835" y="351129"/>
                  </a:lnTo>
                  <a:lnTo>
                    <a:pt x="648487" y="342328"/>
                  </a:lnTo>
                  <a:lnTo>
                    <a:pt x="657288" y="336664"/>
                  </a:lnTo>
                  <a:lnTo>
                    <a:pt x="668693" y="334657"/>
                  </a:lnTo>
                  <a:lnTo>
                    <a:pt x="680097" y="336664"/>
                  </a:lnTo>
                  <a:lnTo>
                    <a:pt x="688898" y="342328"/>
                  </a:lnTo>
                  <a:lnTo>
                    <a:pt x="694550" y="351129"/>
                  </a:lnTo>
                  <a:lnTo>
                    <a:pt x="696556" y="362546"/>
                  </a:lnTo>
                  <a:lnTo>
                    <a:pt x="696556" y="235699"/>
                  </a:lnTo>
                  <a:lnTo>
                    <a:pt x="641019" y="252564"/>
                  </a:lnTo>
                  <a:lnTo>
                    <a:pt x="586549" y="263601"/>
                  </a:lnTo>
                  <a:lnTo>
                    <a:pt x="525818" y="271881"/>
                  </a:lnTo>
                  <a:lnTo>
                    <a:pt x="459955" y="277075"/>
                  </a:lnTo>
                  <a:lnTo>
                    <a:pt x="390067" y="278879"/>
                  </a:lnTo>
                  <a:lnTo>
                    <a:pt x="320192" y="277075"/>
                  </a:lnTo>
                  <a:lnTo>
                    <a:pt x="254317" y="271881"/>
                  </a:lnTo>
                  <a:lnTo>
                    <a:pt x="193586" y="263601"/>
                  </a:lnTo>
                  <a:lnTo>
                    <a:pt x="139115" y="252564"/>
                  </a:lnTo>
                  <a:lnTo>
                    <a:pt x="92024" y="239102"/>
                  </a:lnTo>
                  <a:lnTo>
                    <a:pt x="53454" y="223520"/>
                  </a:lnTo>
                  <a:lnTo>
                    <a:pt x="6311" y="187325"/>
                  </a:lnTo>
                  <a:lnTo>
                    <a:pt x="0" y="167335"/>
                  </a:lnTo>
                  <a:lnTo>
                    <a:pt x="0" y="390436"/>
                  </a:lnTo>
                  <a:lnTo>
                    <a:pt x="24498" y="429247"/>
                  </a:lnTo>
                  <a:lnTo>
                    <a:pt x="92024" y="462191"/>
                  </a:lnTo>
                  <a:lnTo>
                    <a:pt x="139115" y="475653"/>
                  </a:lnTo>
                  <a:lnTo>
                    <a:pt x="193586" y="486689"/>
                  </a:lnTo>
                  <a:lnTo>
                    <a:pt x="254317" y="494969"/>
                  </a:lnTo>
                  <a:lnTo>
                    <a:pt x="320192" y="500176"/>
                  </a:lnTo>
                  <a:lnTo>
                    <a:pt x="390067" y="501980"/>
                  </a:lnTo>
                  <a:lnTo>
                    <a:pt x="459955" y="500176"/>
                  </a:lnTo>
                  <a:lnTo>
                    <a:pt x="525818" y="494969"/>
                  </a:lnTo>
                  <a:lnTo>
                    <a:pt x="586549" y="486689"/>
                  </a:lnTo>
                  <a:lnTo>
                    <a:pt x="641019" y="475653"/>
                  </a:lnTo>
                  <a:lnTo>
                    <a:pt x="688111" y="462191"/>
                  </a:lnTo>
                  <a:lnTo>
                    <a:pt x="726694" y="446620"/>
                  </a:lnTo>
                  <a:lnTo>
                    <a:pt x="773823" y="410413"/>
                  </a:lnTo>
                  <a:lnTo>
                    <a:pt x="780148" y="390436"/>
                  </a:lnTo>
                  <a:lnTo>
                    <a:pt x="780148" y="334657"/>
                  </a:lnTo>
                  <a:lnTo>
                    <a:pt x="780148" y="278879"/>
                  </a:lnTo>
                  <a:lnTo>
                    <a:pt x="780148" y="167335"/>
                  </a:lnTo>
                  <a:close/>
                </a:path>
                <a:path w="780414" h="1059814">
                  <a:moveTo>
                    <a:pt x="780148" y="111569"/>
                  </a:moveTo>
                  <a:lnTo>
                    <a:pt x="755738" y="72644"/>
                  </a:lnTo>
                  <a:lnTo>
                    <a:pt x="688403" y="39687"/>
                  </a:lnTo>
                  <a:lnTo>
                    <a:pt x="641388" y="26238"/>
                  </a:lnTo>
                  <a:lnTo>
                    <a:pt x="586943" y="15240"/>
                  </a:lnTo>
                  <a:lnTo>
                    <a:pt x="526173" y="6985"/>
                  </a:lnTo>
                  <a:lnTo>
                    <a:pt x="460184" y="1790"/>
                  </a:lnTo>
                  <a:lnTo>
                    <a:pt x="390067" y="0"/>
                  </a:lnTo>
                  <a:lnTo>
                    <a:pt x="319951" y="1790"/>
                  </a:lnTo>
                  <a:lnTo>
                    <a:pt x="253961" y="6985"/>
                  </a:lnTo>
                  <a:lnTo>
                    <a:pt x="193192" y="15240"/>
                  </a:lnTo>
                  <a:lnTo>
                    <a:pt x="138747" y="26238"/>
                  </a:lnTo>
                  <a:lnTo>
                    <a:pt x="91732" y="39687"/>
                  </a:lnTo>
                  <a:lnTo>
                    <a:pt x="53251" y="55257"/>
                  </a:lnTo>
                  <a:lnTo>
                    <a:pt x="6273" y="91516"/>
                  </a:lnTo>
                  <a:lnTo>
                    <a:pt x="0" y="111569"/>
                  </a:lnTo>
                  <a:lnTo>
                    <a:pt x="6273" y="131622"/>
                  </a:lnTo>
                  <a:lnTo>
                    <a:pt x="53251" y="167868"/>
                  </a:lnTo>
                  <a:lnTo>
                    <a:pt x="91732" y="183438"/>
                  </a:lnTo>
                  <a:lnTo>
                    <a:pt x="138747" y="196875"/>
                  </a:lnTo>
                  <a:lnTo>
                    <a:pt x="193192" y="207886"/>
                  </a:lnTo>
                  <a:lnTo>
                    <a:pt x="253961" y="216128"/>
                  </a:lnTo>
                  <a:lnTo>
                    <a:pt x="319951" y="221310"/>
                  </a:lnTo>
                  <a:lnTo>
                    <a:pt x="390067" y="223113"/>
                  </a:lnTo>
                  <a:lnTo>
                    <a:pt x="460184" y="221310"/>
                  </a:lnTo>
                  <a:lnTo>
                    <a:pt x="526173" y="216128"/>
                  </a:lnTo>
                  <a:lnTo>
                    <a:pt x="586943" y="207886"/>
                  </a:lnTo>
                  <a:lnTo>
                    <a:pt x="641388" y="196875"/>
                  </a:lnTo>
                  <a:lnTo>
                    <a:pt x="688403" y="183438"/>
                  </a:lnTo>
                  <a:lnTo>
                    <a:pt x="726884" y="167868"/>
                  </a:lnTo>
                  <a:lnTo>
                    <a:pt x="773861" y="131622"/>
                  </a:lnTo>
                  <a:lnTo>
                    <a:pt x="780148" y="111569"/>
                  </a:lnTo>
                  <a:close/>
                </a:path>
              </a:pathLst>
            </a:custGeom>
            <a:solidFill>
              <a:srgbClr val="006EBE"/>
            </a:solidFill>
          </p:spPr>
          <p:txBody>
            <a:bodyPr wrap="square" lIns="0" tIns="0" rIns="0" bIns="0" rtlCol="0"/>
            <a:lstStyle/>
            <a:p>
              <a:endParaRPr sz="240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3C4FD84-EBF9-84DC-FB2C-CD31112391F0}"/>
              </a:ext>
            </a:extLst>
          </p:cNvPr>
          <p:cNvSpPr txBox="1"/>
          <p:nvPr/>
        </p:nvSpPr>
        <p:spPr>
          <a:xfrm>
            <a:off x="526775" y="1508877"/>
            <a:ext cx="11360426" cy="3293209"/>
          </a:xfrm>
          <a:prstGeom prst="rect">
            <a:avLst/>
          </a:prstGeom>
          <a:noFill/>
        </p:spPr>
        <p:txBody>
          <a:bodyPr wrap="square">
            <a:spAutoFit/>
          </a:bodyPr>
          <a:lstStyle/>
          <a:p>
            <a:pPr algn="l"/>
            <a:r>
              <a:rPr lang="en-GB" sz="2600" b="0" i="0" u="none" strike="noStrike" baseline="0" dirty="0">
                <a:solidFill>
                  <a:schemeClr val="bg1">
                    <a:lumMod val="95000"/>
                  </a:schemeClr>
                </a:solidFill>
                <a:latin typeface="BerkeleyStd-Medium"/>
              </a:rPr>
              <a:t>One of the most important assets of any organization is its information. </a:t>
            </a:r>
          </a:p>
          <a:p>
            <a:pPr algn="l"/>
            <a:endParaRPr lang="en-GB" sz="2600" dirty="0">
              <a:solidFill>
                <a:schemeClr val="bg1">
                  <a:lumMod val="95000"/>
                </a:schemeClr>
              </a:solidFill>
              <a:latin typeface="BerkeleyStd-Medium"/>
            </a:endParaRPr>
          </a:p>
          <a:p>
            <a:pPr algn="l"/>
            <a:r>
              <a:rPr lang="en-GB" sz="2600" b="0" i="0" u="none" strike="noStrike" baseline="0" dirty="0">
                <a:solidFill>
                  <a:schemeClr val="bg1">
                    <a:lumMod val="95000"/>
                  </a:schemeClr>
                </a:solidFill>
                <a:latin typeface="BerkeleyStd-Medium"/>
              </a:rPr>
              <a:t>This asset is almost always used for two purposes: </a:t>
            </a:r>
          </a:p>
          <a:p>
            <a:pPr marL="457200" indent="-457200" algn="l">
              <a:buFontTx/>
              <a:buChar char="-"/>
            </a:pPr>
            <a:r>
              <a:rPr lang="en-GB" sz="2600" b="0" i="0" u="none" strike="noStrike" baseline="0" dirty="0">
                <a:solidFill>
                  <a:schemeClr val="bg1">
                    <a:lumMod val="95000"/>
                  </a:schemeClr>
                </a:solidFill>
                <a:latin typeface="BerkeleyStd-Medium"/>
              </a:rPr>
              <a:t>operational record keeping</a:t>
            </a:r>
          </a:p>
          <a:p>
            <a:pPr marL="457200" indent="-457200" algn="l">
              <a:buFontTx/>
              <a:buChar char="-"/>
            </a:pPr>
            <a:r>
              <a:rPr lang="en-GB" sz="2600" b="0" i="0" u="none" strike="noStrike" baseline="0" dirty="0">
                <a:solidFill>
                  <a:schemeClr val="bg1">
                    <a:lumMod val="95000"/>
                  </a:schemeClr>
                </a:solidFill>
                <a:latin typeface="BerkeleyStd-Medium"/>
              </a:rPr>
              <a:t>analytical decision making. </a:t>
            </a:r>
          </a:p>
          <a:p>
            <a:pPr marL="457200" indent="-457200" algn="l">
              <a:buFontTx/>
              <a:buChar char="-"/>
            </a:pPr>
            <a:endParaRPr lang="en-GB" sz="2600" dirty="0">
              <a:solidFill>
                <a:schemeClr val="bg1">
                  <a:lumMod val="95000"/>
                </a:schemeClr>
              </a:solidFill>
              <a:latin typeface="BerkeleyStd-Medium"/>
            </a:endParaRPr>
          </a:p>
          <a:p>
            <a:pPr algn="l"/>
            <a:r>
              <a:rPr lang="en-GB" sz="2600" b="0" i="0" u="none" strike="noStrike" baseline="0" dirty="0">
                <a:solidFill>
                  <a:schemeClr val="bg1">
                    <a:lumMod val="95000"/>
                  </a:schemeClr>
                </a:solidFill>
                <a:latin typeface="BerkeleyStd-Medium"/>
              </a:rPr>
              <a:t>Simply speaking, the operational systems are where you put the data in, and the DW/BI system is where you get the data out.</a:t>
            </a:r>
            <a:endParaRPr lang="en-IN" sz="2600" dirty="0">
              <a:solidFill>
                <a:schemeClr val="bg1">
                  <a:lumMod val="95000"/>
                </a:schemeClr>
              </a:solidFill>
            </a:endParaRPr>
          </a:p>
        </p:txBody>
      </p:sp>
      <p:sp>
        <p:nvSpPr>
          <p:cNvPr id="2" name="TextBox 1">
            <a:extLst>
              <a:ext uri="{FF2B5EF4-FFF2-40B4-BE49-F238E27FC236}">
                <a16:creationId xmlns:a16="http://schemas.microsoft.com/office/drawing/2014/main" id="{034C8DA4-9C28-D5D8-2D86-9960D5ED5559}"/>
              </a:ext>
            </a:extLst>
          </p:cNvPr>
          <p:cNvSpPr txBox="1"/>
          <p:nvPr/>
        </p:nvSpPr>
        <p:spPr>
          <a:xfrm>
            <a:off x="536713" y="352696"/>
            <a:ext cx="11390244" cy="707886"/>
          </a:xfrm>
          <a:prstGeom prst="rect">
            <a:avLst/>
          </a:prstGeom>
          <a:noFill/>
        </p:spPr>
        <p:txBody>
          <a:bodyPr wrap="square">
            <a:spAutoFit/>
          </a:bodyPr>
          <a:lstStyle/>
          <a:p>
            <a:pPr algn="ctr"/>
            <a:r>
              <a:rPr lang="en-IN" sz="4000" b="0" i="0" u="none" strike="noStrike" baseline="0" dirty="0">
                <a:solidFill>
                  <a:schemeClr val="bg1"/>
                </a:solidFill>
              </a:rPr>
              <a:t>Record Keeping – Operational System</a:t>
            </a:r>
            <a:endParaRPr lang="en-IN" sz="4000" dirty="0">
              <a:solidFill>
                <a:schemeClr val="bg1"/>
              </a:solidFill>
            </a:endParaRPr>
          </a:p>
        </p:txBody>
      </p:sp>
    </p:spTree>
    <p:extLst>
      <p:ext uri="{BB962C8B-B14F-4D97-AF65-F5344CB8AC3E}">
        <p14:creationId xmlns:p14="http://schemas.microsoft.com/office/powerpoint/2010/main" val="1522003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543D46-7A41-08EC-FB64-6A50DC7356A3}"/>
              </a:ext>
            </a:extLst>
          </p:cNvPr>
          <p:cNvSpPr txBox="1"/>
          <p:nvPr/>
        </p:nvSpPr>
        <p:spPr>
          <a:xfrm>
            <a:off x="278296" y="1172817"/>
            <a:ext cx="11678478" cy="4893647"/>
          </a:xfrm>
          <a:prstGeom prst="rect">
            <a:avLst/>
          </a:prstGeom>
          <a:noFill/>
        </p:spPr>
        <p:txBody>
          <a:bodyPr wrap="square">
            <a:spAutoFit/>
          </a:bodyPr>
          <a:lstStyle>
            <a:defPPr>
              <a:defRPr lang="en-US"/>
            </a:defPPr>
            <a:lvl1pPr>
              <a:defRPr sz="2600" b="0" i="0" u="none" strike="noStrike" baseline="0">
                <a:latin typeface="BerkeleyStd-Medium"/>
              </a:defRPr>
            </a:lvl1pPr>
          </a:lstStyle>
          <a:p>
            <a:r>
              <a:rPr lang="en-GB" dirty="0">
                <a:solidFill>
                  <a:schemeClr val="bg1">
                    <a:lumMod val="95000"/>
                  </a:schemeClr>
                </a:solidFill>
              </a:rPr>
              <a:t>Users of an operational system turn the wheels of the organization – they take</a:t>
            </a:r>
          </a:p>
          <a:p>
            <a:r>
              <a:rPr lang="en-GB" dirty="0">
                <a:solidFill>
                  <a:schemeClr val="bg1">
                    <a:lumMod val="95000"/>
                  </a:schemeClr>
                </a:solidFill>
              </a:rPr>
              <a:t>orders, sign up new customers, monitor the status of operational activities, and log complaints. </a:t>
            </a:r>
          </a:p>
          <a:p>
            <a:endParaRPr lang="en-GB" dirty="0">
              <a:solidFill>
                <a:schemeClr val="bg1">
                  <a:lumMod val="95000"/>
                </a:schemeClr>
              </a:solidFill>
            </a:endParaRPr>
          </a:p>
          <a:p>
            <a:r>
              <a:rPr lang="en-GB" dirty="0">
                <a:solidFill>
                  <a:schemeClr val="bg1">
                    <a:lumMod val="95000"/>
                  </a:schemeClr>
                </a:solidFill>
              </a:rPr>
              <a:t>The operational systems are optimized to process transactions quickly.</a:t>
            </a:r>
          </a:p>
          <a:p>
            <a:endParaRPr lang="en-GB" dirty="0">
              <a:solidFill>
                <a:schemeClr val="bg1">
                  <a:lumMod val="95000"/>
                </a:schemeClr>
              </a:solidFill>
            </a:endParaRPr>
          </a:p>
          <a:p>
            <a:r>
              <a:rPr lang="en-GB" dirty="0">
                <a:solidFill>
                  <a:schemeClr val="bg1">
                    <a:lumMod val="95000"/>
                  </a:schemeClr>
                </a:solidFill>
              </a:rPr>
              <a:t>These systems almost always deal with one transaction record at a time. They predictably perform the same operational tasks over and over, executing the organization’s business processes. </a:t>
            </a:r>
          </a:p>
          <a:p>
            <a:endParaRPr lang="en-GB" dirty="0">
              <a:solidFill>
                <a:schemeClr val="bg1">
                  <a:lumMod val="95000"/>
                </a:schemeClr>
              </a:solidFill>
            </a:endParaRPr>
          </a:p>
          <a:p>
            <a:r>
              <a:rPr lang="en-GB" dirty="0">
                <a:solidFill>
                  <a:schemeClr val="bg1">
                    <a:lumMod val="95000"/>
                  </a:schemeClr>
                </a:solidFill>
              </a:rPr>
              <a:t>Given this execution focus, operational systems typically do not maintain history, but rather update data to reflect the most current state.</a:t>
            </a:r>
            <a:endParaRPr lang="en-IN" dirty="0">
              <a:solidFill>
                <a:schemeClr val="bg1">
                  <a:lumMod val="95000"/>
                </a:schemeClr>
              </a:solidFill>
            </a:endParaRPr>
          </a:p>
        </p:txBody>
      </p:sp>
      <p:sp>
        <p:nvSpPr>
          <p:cNvPr id="2" name="TextBox 1">
            <a:extLst>
              <a:ext uri="{FF2B5EF4-FFF2-40B4-BE49-F238E27FC236}">
                <a16:creationId xmlns:a16="http://schemas.microsoft.com/office/drawing/2014/main" id="{F17795BC-0CF7-4EDB-EBEA-57F77D4A2FBB}"/>
              </a:ext>
            </a:extLst>
          </p:cNvPr>
          <p:cNvSpPr txBox="1"/>
          <p:nvPr/>
        </p:nvSpPr>
        <p:spPr>
          <a:xfrm>
            <a:off x="536713" y="352696"/>
            <a:ext cx="11390244" cy="707886"/>
          </a:xfrm>
          <a:prstGeom prst="rect">
            <a:avLst/>
          </a:prstGeom>
          <a:noFill/>
        </p:spPr>
        <p:txBody>
          <a:bodyPr wrap="square">
            <a:spAutoFit/>
          </a:bodyPr>
          <a:lstStyle/>
          <a:p>
            <a:pPr algn="ctr"/>
            <a:r>
              <a:rPr lang="en-IN" sz="4000" b="0" i="0" u="none" strike="noStrike" baseline="0" dirty="0">
                <a:solidFill>
                  <a:schemeClr val="bg1"/>
                </a:solidFill>
              </a:rPr>
              <a:t>Record Keeping – Operational System</a:t>
            </a:r>
            <a:endParaRPr lang="en-IN" sz="4000" dirty="0">
              <a:solidFill>
                <a:schemeClr val="bg1"/>
              </a:solidFill>
            </a:endParaRPr>
          </a:p>
        </p:txBody>
      </p:sp>
    </p:spTree>
    <p:extLst>
      <p:ext uri="{BB962C8B-B14F-4D97-AF65-F5344CB8AC3E}">
        <p14:creationId xmlns:p14="http://schemas.microsoft.com/office/powerpoint/2010/main" val="3965701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B2693A-447E-C9C1-4D55-15DACCD31016}"/>
              </a:ext>
            </a:extLst>
          </p:cNvPr>
          <p:cNvSpPr txBox="1"/>
          <p:nvPr/>
        </p:nvSpPr>
        <p:spPr>
          <a:xfrm>
            <a:off x="490330" y="764024"/>
            <a:ext cx="11237844" cy="6037838"/>
          </a:xfrm>
          <a:prstGeom prst="rect">
            <a:avLst/>
          </a:prstGeom>
          <a:noFill/>
        </p:spPr>
        <p:txBody>
          <a:bodyPr wrap="square">
            <a:spAutoFit/>
          </a:bodyPr>
          <a:lstStyle>
            <a:defPPr>
              <a:defRPr lang="en-US"/>
            </a:defPPr>
            <a:lvl1pPr>
              <a:defRPr sz="2600" b="0" i="0" u="none" strike="noStrike" baseline="0">
                <a:latin typeface="BerkeleyStd-Medium"/>
              </a:defRPr>
            </a:lvl1pPr>
          </a:lstStyle>
          <a:p>
            <a:r>
              <a:rPr lang="en-GB" dirty="0">
                <a:solidFill>
                  <a:schemeClr val="bg1">
                    <a:lumMod val="95000"/>
                  </a:schemeClr>
                </a:solidFill>
              </a:rPr>
              <a:t>Users of a DW/BI system, on the other hand, watch the wheels of the organization</a:t>
            </a:r>
          </a:p>
          <a:p>
            <a:r>
              <a:rPr lang="en-GB" dirty="0">
                <a:solidFill>
                  <a:schemeClr val="bg1">
                    <a:lumMod val="95000"/>
                  </a:schemeClr>
                </a:solidFill>
              </a:rPr>
              <a:t>turn to evaluate performance - they count the new orders and compare them</a:t>
            </a:r>
          </a:p>
          <a:p>
            <a:r>
              <a:rPr lang="en-GB" dirty="0">
                <a:solidFill>
                  <a:schemeClr val="bg1">
                    <a:lumMod val="95000"/>
                  </a:schemeClr>
                </a:solidFill>
              </a:rPr>
              <a:t>with last week’s orders, and ask why the new customers signed up, and what the</a:t>
            </a:r>
          </a:p>
          <a:p>
            <a:r>
              <a:rPr lang="en-GB" dirty="0">
                <a:solidFill>
                  <a:schemeClr val="bg1">
                    <a:lumMod val="95000"/>
                  </a:schemeClr>
                </a:solidFill>
              </a:rPr>
              <a:t>customers complained about.  </a:t>
            </a:r>
          </a:p>
          <a:p>
            <a:endParaRPr lang="en-GB" dirty="0">
              <a:solidFill>
                <a:schemeClr val="bg1">
                  <a:lumMod val="95000"/>
                </a:schemeClr>
              </a:solidFill>
            </a:endParaRPr>
          </a:p>
          <a:p>
            <a:r>
              <a:rPr lang="en-GB" dirty="0">
                <a:solidFill>
                  <a:schemeClr val="bg1">
                    <a:lumMod val="95000"/>
                  </a:schemeClr>
                </a:solidFill>
              </a:rPr>
              <a:t>Although they need detailed data to support their constantly changing questions, DW/BI users almost never deal with one transaction at a time.</a:t>
            </a:r>
          </a:p>
          <a:p>
            <a:endParaRPr lang="en-GB" dirty="0">
              <a:solidFill>
                <a:schemeClr val="bg1">
                  <a:lumMod val="95000"/>
                </a:schemeClr>
              </a:solidFill>
            </a:endParaRPr>
          </a:p>
          <a:p>
            <a:r>
              <a:rPr lang="en-GB" dirty="0">
                <a:solidFill>
                  <a:schemeClr val="bg1">
                    <a:lumMod val="95000"/>
                  </a:schemeClr>
                </a:solidFill>
              </a:rPr>
              <a:t>These systems are optimized for high-performance queries as users’ questions often require that hundreds or hundreds of thousands of transactions be searched and compressed into an answer set. </a:t>
            </a:r>
          </a:p>
          <a:p>
            <a:endParaRPr lang="en-GB" dirty="0">
              <a:solidFill>
                <a:schemeClr val="bg1">
                  <a:lumMod val="95000"/>
                </a:schemeClr>
              </a:solidFill>
            </a:endParaRPr>
          </a:p>
          <a:p>
            <a:r>
              <a:rPr lang="en-GB" dirty="0">
                <a:solidFill>
                  <a:schemeClr val="bg1">
                    <a:lumMod val="95000"/>
                  </a:schemeClr>
                </a:solidFill>
              </a:rPr>
              <a:t>To further complicate matters, users of a DW/BI system typically demand that historical context be preserved to accurately evaluate the organization’s performance over time.</a:t>
            </a:r>
            <a:endParaRPr lang="en-IN" dirty="0">
              <a:solidFill>
                <a:schemeClr val="bg1">
                  <a:lumMod val="95000"/>
                </a:schemeClr>
              </a:solidFill>
            </a:endParaRPr>
          </a:p>
        </p:txBody>
      </p:sp>
      <p:sp>
        <p:nvSpPr>
          <p:cNvPr id="2" name="TextBox 1">
            <a:extLst>
              <a:ext uri="{FF2B5EF4-FFF2-40B4-BE49-F238E27FC236}">
                <a16:creationId xmlns:a16="http://schemas.microsoft.com/office/drawing/2014/main" id="{EA26B345-FB2D-2562-1DD7-2580B593425E}"/>
              </a:ext>
            </a:extLst>
          </p:cNvPr>
          <p:cNvSpPr txBox="1"/>
          <p:nvPr/>
        </p:nvSpPr>
        <p:spPr>
          <a:xfrm>
            <a:off x="616226" y="56138"/>
            <a:ext cx="11390244" cy="707886"/>
          </a:xfrm>
          <a:prstGeom prst="rect">
            <a:avLst/>
          </a:prstGeom>
          <a:noFill/>
        </p:spPr>
        <p:txBody>
          <a:bodyPr wrap="square">
            <a:spAutoFit/>
          </a:bodyPr>
          <a:lstStyle/>
          <a:p>
            <a:pPr algn="ctr"/>
            <a:r>
              <a:rPr lang="en-IN" sz="4000" b="0" i="0" u="none" strike="noStrike" baseline="0" dirty="0">
                <a:solidFill>
                  <a:schemeClr val="bg1"/>
                </a:solidFill>
              </a:rPr>
              <a:t>Requirement – DW / BI  System</a:t>
            </a:r>
            <a:endParaRPr lang="en-IN" sz="4000" dirty="0">
              <a:solidFill>
                <a:schemeClr val="bg1"/>
              </a:solidFill>
            </a:endParaRPr>
          </a:p>
        </p:txBody>
      </p:sp>
    </p:spTree>
    <p:extLst>
      <p:ext uri="{BB962C8B-B14F-4D97-AF65-F5344CB8AC3E}">
        <p14:creationId xmlns:p14="http://schemas.microsoft.com/office/powerpoint/2010/main" val="1182953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E4464AE-76C7-15A6-DE5D-96129DEE6D3F}"/>
              </a:ext>
            </a:extLst>
          </p:cNvPr>
          <p:cNvSpPr txBox="1"/>
          <p:nvPr/>
        </p:nvSpPr>
        <p:spPr>
          <a:xfrm>
            <a:off x="765313" y="1987826"/>
            <a:ext cx="10515600" cy="3293209"/>
          </a:xfrm>
          <a:prstGeom prst="rect">
            <a:avLst/>
          </a:prstGeom>
          <a:noFill/>
        </p:spPr>
        <p:txBody>
          <a:bodyPr wrap="square">
            <a:spAutoFit/>
          </a:bodyPr>
          <a:lstStyle/>
          <a:p>
            <a:pPr algn="l"/>
            <a:r>
              <a:rPr lang="en-GB" sz="2600" b="0" i="0" u="none" strike="noStrike" baseline="0" dirty="0">
                <a:solidFill>
                  <a:schemeClr val="bg1"/>
                </a:solidFill>
                <a:latin typeface="BerkeleyStd-Medium"/>
              </a:rPr>
              <a:t>“We collect tons of data, but we can’t access it.”</a:t>
            </a:r>
          </a:p>
          <a:p>
            <a:pPr algn="l"/>
            <a:r>
              <a:rPr lang="en-GB" sz="2600" b="0" i="0" u="none" strike="noStrike" baseline="0" dirty="0">
                <a:solidFill>
                  <a:schemeClr val="bg1"/>
                </a:solidFill>
                <a:latin typeface="BerkeleyStd-Medium"/>
              </a:rPr>
              <a:t>“We need to slice and dice the data every which way.”</a:t>
            </a:r>
          </a:p>
          <a:p>
            <a:pPr algn="l"/>
            <a:r>
              <a:rPr lang="en-GB" sz="2600" b="0" i="0" u="none" strike="noStrike" baseline="0" dirty="0">
                <a:solidFill>
                  <a:schemeClr val="bg1"/>
                </a:solidFill>
                <a:latin typeface="BerkeleyStd-Medium"/>
              </a:rPr>
              <a:t>“Business people need to get at the data easily.”</a:t>
            </a:r>
          </a:p>
          <a:p>
            <a:pPr algn="l"/>
            <a:r>
              <a:rPr lang="en-GB" sz="2600" b="0" i="0" u="none" strike="noStrike" baseline="0" dirty="0">
                <a:solidFill>
                  <a:schemeClr val="bg1"/>
                </a:solidFill>
                <a:latin typeface="ZapfDingbatsStd"/>
              </a:rPr>
              <a:t> </a:t>
            </a:r>
            <a:r>
              <a:rPr lang="en-GB" sz="2600" b="0" i="0" u="none" strike="noStrike" baseline="0" dirty="0">
                <a:solidFill>
                  <a:schemeClr val="bg1"/>
                </a:solidFill>
                <a:latin typeface="BerkeleyStd-Medium"/>
              </a:rPr>
              <a:t>“Just show me what is important.”</a:t>
            </a:r>
          </a:p>
          <a:p>
            <a:pPr algn="l"/>
            <a:r>
              <a:rPr lang="en-GB" sz="2600" b="0" i="0" u="none" strike="noStrike" baseline="0" dirty="0">
                <a:solidFill>
                  <a:schemeClr val="bg1"/>
                </a:solidFill>
                <a:latin typeface="BerkeleyStd-Medium"/>
              </a:rPr>
              <a:t>“We spend entire meetings arguing about who has the right numbers rather</a:t>
            </a:r>
          </a:p>
          <a:p>
            <a:pPr algn="l"/>
            <a:r>
              <a:rPr lang="en-IN" sz="2600" b="0" i="0" u="none" strike="noStrike" baseline="0" dirty="0">
                <a:solidFill>
                  <a:schemeClr val="bg1"/>
                </a:solidFill>
                <a:latin typeface="BerkeleyStd-Medium"/>
              </a:rPr>
              <a:t>than making decisions.”</a:t>
            </a:r>
          </a:p>
          <a:p>
            <a:pPr algn="l"/>
            <a:r>
              <a:rPr lang="en-GB" sz="2600" b="0" i="0" u="none" strike="noStrike" baseline="0" dirty="0">
                <a:solidFill>
                  <a:schemeClr val="bg1"/>
                </a:solidFill>
                <a:latin typeface="ZapfDingbatsStd"/>
              </a:rPr>
              <a:t> </a:t>
            </a:r>
            <a:r>
              <a:rPr lang="en-GB" sz="2600" b="0" i="0" u="none" strike="noStrike" baseline="0" dirty="0">
                <a:solidFill>
                  <a:schemeClr val="bg1"/>
                </a:solidFill>
                <a:latin typeface="BerkeleyStd-Medium"/>
              </a:rPr>
              <a:t>“We want people to use information to support more fact-based decision</a:t>
            </a:r>
          </a:p>
          <a:p>
            <a:pPr algn="l"/>
            <a:r>
              <a:rPr lang="en-IN" sz="2600" b="0" i="0" u="none" strike="noStrike" baseline="0" dirty="0">
                <a:solidFill>
                  <a:schemeClr val="bg1"/>
                </a:solidFill>
                <a:latin typeface="BerkeleyStd-Medium"/>
              </a:rPr>
              <a:t>making.”</a:t>
            </a:r>
            <a:endParaRPr lang="en-IN" sz="2600" dirty="0">
              <a:solidFill>
                <a:schemeClr val="bg1"/>
              </a:solidFill>
            </a:endParaRPr>
          </a:p>
        </p:txBody>
      </p:sp>
      <p:sp>
        <p:nvSpPr>
          <p:cNvPr id="4" name="TextBox 3">
            <a:extLst>
              <a:ext uri="{FF2B5EF4-FFF2-40B4-BE49-F238E27FC236}">
                <a16:creationId xmlns:a16="http://schemas.microsoft.com/office/drawing/2014/main" id="{ACFE0CF4-20A8-A6AD-6BBE-FB29C3C75016}"/>
              </a:ext>
            </a:extLst>
          </p:cNvPr>
          <p:cNvSpPr txBox="1"/>
          <p:nvPr/>
        </p:nvSpPr>
        <p:spPr>
          <a:xfrm>
            <a:off x="536713" y="352696"/>
            <a:ext cx="11390244" cy="707886"/>
          </a:xfrm>
          <a:prstGeom prst="rect">
            <a:avLst/>
          </a:prstGeom>
          <a:noFill/>
        </p:spPr>
        <p:txBody>
          <a:bodyPr wrap="square">
            <a:spAutoFit/>
          </a:bodyPr>
          <a:lstStyle/>
          <a:p>
            <a:pPr algn="ctr"/>
            <a:r>
              <a:rPr lang="en-GB" sz="4000" b="0" i="0" u="none" strike="noStrike" baseline="0" dirty="0">
                <a:solidFill>
                  <a:schemeClr val="bg1"/>
                </a:solidFill>
              </a:rPr>
              <a:t>Goals of Data Warehousing and </a:t>
            </a:r>
            <a:r>
              <a:rPr lang="en-IN" sz="4000" b="0" i="0" u="none" strike="noStrike" baseline="0" dirty="0">
                <a:solidFill>
                  <a:schemeClr val="bg1"/>
                </a:solidFill>
              </a:rPr>
              <a:t>Business Intelligence</a:t>
            </a:r>
            <a:endParaRPr lang="en-IN" sz="4000" dirty="0">
              <a:solidFill>
                <a:schemeClr val="bg1"/>
              </a:solidFill>
            </a:endParaRPr>
          </a:p>
        </p:txBody>
      </p:sp>
    </p:spTree>
    <p:extLst>
      <p:ext uri="{BB962C8B-B14F-4D97-AF65-F5344CB8AC3E}">
        <p14:creationId xmlns:p14="http://schemas.microsoft.com/office/powerpoint/2010/main" val="15531050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F33ED021-0374-FC08-9D0C-CDF2E09A4E38}"/>
              </a:ext>
            </a:extLst>
          </p:cNvPr>
          <p:cNvSpPr>
            <a:spLocks noChangeArrowheads="1"/>
          </p:cNvSpPr>
          <p:nvPr/>
        </p:nvSpPr>
        <p:spPr bwMode="auto">
          <a:xfrm rot="10800000" flipV="1">
            <a:off x="207065" y="670593"/>
            <a:ext cx="11777869" cy="6093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The DW/BI system must make information easily accessible.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600" b="0" i="0" u="none" strike="noStrike" cap="none" normalizeH="0" baseline="0" dirty="0">
              <a:ln>
                <a:noFill/>
              </a:ln>
              <a:solidFill>
                <a:schemeClr val="bg1">
                  <a:lumMod val="9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 The contents of the DW/BI system must be understandable and Data must be intuitive and obvious to the business user, not just the developer.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600" b="0" i="0" u="none" strike="noStrike" cap="none" normalizeH="0" baseline="0" dirty="0">
              <a:ln>
                <a:noFill/>
              </a:ln>
              <a:solidFill>
                <a:schemeClr val="bg1">
                  <a:lumMod val="9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 Data structures and labels should reflect business users’ thought processes and vocabulary.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600" b="0" i="0" u="none" strike="noStrike" cap="none" normalizeH="0" baseline="0" dirty="0">
              <a:ln>
                <a:noFill/>
              </a:ln>
              <a:solidFill>
                <a:schemeClr val="bg1">
                  <a:lumMod val="9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600" dirty="0">
                <a:solidFill>
                  <a:schemeClr val="bg1">
                    <a:lumMod val="95000"/>
                  </a:schemeClr>
                </a:solidFill>
                <a:latin typeface="Arial" panose="020B0604020202020204" pitchFamily="34" charset="0"/>
              </a:rPr>
              <a:t> </a:t>
            </a: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Business users should be able to separate and combine analytic data in endless combinations.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600" dirty="0">
                <a:solidFill>
                  <a:schemeClr val="bg1">
                    <a:lumMod val="95000"/>
                  </a:schemeClr>
                </a:solidFill>
                <a:latin typeface="Arial" panose="020B0604020202020204" pitchFamily="34" charset="0"/>
              </a:rPr>
              <a:t> </a:t>
            </a: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Business intelligence tools and applications must be simple and easy to use.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600" b="0" i="0" u="none" strike="noStrike" cap="none" normalizeH="0" baseline="0" dirty="0">
              <a:ln>
                <a:noFill/>
              </a:ln>
              <a:solidFill>
                <a:schemeClr val="bg1">
                  <a:lumMod val="9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 Tools must return query results with minimal wait times.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 In summary: the system should be </a:t>
            </a:r>
            <a:r>
              <a:rPr kumimoji="0" lang="en-US" altLang="en-US" sz="2600" b="1" i="0" u="none" strike="noStrike" cap="none" normalizeH="0" baseline="0" dirty="0">
                <a:ln>
                  <a:noFill/>
                </a:ln>
                <a:solidFill>
                  <a:schemeClr val="bg1">
                    <a:lumMod val="95000"/>
                  </a:schemeClr>
                </a:solidFill>
                <a:effectLst/>
                <a:latin typeface="Arial" panose="020B0604020202020204" pitchFamily="34" charset="0"/>
              </a:rPr>
              <a:t>simple and fast</a:t>
            </a: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a:t>
            </a:r>
          </a:p>
        </p:txBody>
      </p:sp>
      <p:sp>
        <p:nvSpPr>
          <p:cNvPr id="2" name="TextBox 1">
            <a:extLst>
              <a:ext uri="{FF2B5EF4-FFF2-40B4-BE49-F238E27FC236}">
                <a16:creationId xmlns:a16="http://schemas.microsoft.com/office/drawing/2014/main" id="{E51EF6F9-F4FB-A3CB-5E16-B041541D5EF7}"/>
              </a:ext>
            </a:extLst>
          </p:cNvPr>
          <p:cNvSpPr txBox="1"/>
          <p:nvPr/>
        </p:nvSpPr>
        <p:spPr>
          <a:xfrm>
            <a:off x="496956" y="93431"/>
            <a:ext cx="11390244" cy="707886"/>
          </a:xfrm>
          <a:prstGeom prst="rect">
            <a:avLst/>
          </a:prstGeom>
          <a:noFill/>
        </p:spPr>
        <p:txBody>
          <a:bodyPr wrap="square">
            <a:spAutoFit/>
          </a:bodyPr>
          <a:lstStyle/>
          <a:p>
            <a:pPr algn="ctr"/>
            <a:r>
              <a:rPr lang="en-IN" sz="4000" b="0" i="0" u="none" strike="noStrike" baseline="0" dirty="0">
                <a:solidFill>
                  <a:schemeClr val="bg1"/>
                </a:solidFill>
              </a:rPr>
              <a:t>Requirement of DW/BI System</a:t>
            </a:r>
            <a:endParaRPr lang="en-IN" sz="4000" dirty="0">
              <a:solidFill>
                <a:schemeClr val="bg1"/>
              </a:solidFill>
            </a:endParaRPr>
          </a:p>
        </p:txBody>
      </p:sp>
    </p:spTree>
    <p:extLst>
      <p:ext uri="{BB962C8B-B14F-4D97-AF65-F5344CB8AC3E}">
        <p14:creationId xmlns:p14="http://schemas.microsoft.com/office/powerpoint/2010/main" val="24080148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90B7B9E6-EA5F-D2B2-C595-1B541D1E471E}"/>
              </a:ext>
            </a:extLst>
          </p:cNvPr>
          <p:cNvSpPr>
            <a:spLocks noChangeArrowheads="1"/>
          </p:cNvSpPr>
          <p:nvPr/>
        </p:nvSpPr>
        <p:spPr bwMode="auto">
          <a:xfrm rot="10800000" flipV="1">
            <a:off x="62949" y="682246"/>
            <a:ext cx="12129051" cy="6093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 The DW/BI system must present information consistently.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600" b="0" i="0" u="none" strike="noStrike" cap="none" normalizeH="0" baseline="0" dirty="0">
              <a:ln>
                <a:noFill/>
              </a:ln>
              <a:solidFill>
                <a:schemeClr val="bg1">
                  <a:lumMod val="9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The data in the DW/BI system must be credible.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600" b="0" i="0" u="none" strike="noStrike" cap="none" normalizeH="0" baseline="0" dirty="0">
              <a:ln>
                <a:noFill/>
              </a:ln>
              <a:solidFill>
                <a:schemeClr val="bg1">
                  <a:lumMod val="9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 Data must be:</a:t>
            </a:r>
          </a:p>
          <a:p>
            <a:pPr marL="0" marR="0" lvl="0" indent="0" algn="l" defTabSz="914400" rtl="0" eaLnBrk="0" fontAlgn="base" latinLnBrk="0" hangingPunct="0">
              <a:lnSpc>
                <a:spcPct val="100000"/>
              </a:lnSpc>
              <a:spcBef>
                <a:spcPct val="0"/>
              </a:spcBef>
              <a:spcAft>
                <a:spcPct val="0"/>
              </a:spcAft>
              <a:buClrTx/>
              <a:buSzTx/>
              <a:tabLst/>
            </a:pPr>
            <a:r>
              <a:rPr lang="en-US" altLang="en-US" sz="2600" dirty="0">
                <a:solidFill>
                  <a:schemeClr val="bg1">
                    <a:lumMod val="95000"/>
                  </a:schemeClr>
                </a:solidFill>
                <a:latin typeface="Arial" panose="020B0604020202020204" pitchFamily="34" charset="0"/>
              </a:rPr>
              <a:t>	- </a:t>
            </a: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Carefully assembled from a variety of sources</a:t>
            </a:r>
          </a:p>
          <a:p>
            <a:pPr marL="0" marR="0" lvl="0" indent="0" algn="l" defTabSz="914400" rtl="0" eaLnBrk="0" fontAlgn="base" latinLnBrk="0" hangingPunct="0">
              <a:lnSpc>
                <a:spcPct val="100000"/>
              </a:lnSpc>
              <a:spcBef>
                <a:spcPct val="0"/>
              </a:spcBef>
              <a:spcAft>
                <a:spcPct val="0"/>
              </a:spcAft>
              <a:buClrTx/>
              <a:buSzTx/>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	- Cleansed and quality assured</a:t>
            </a:r>
          </a:p>
          <a:p>
            <a:pPr lvl="1" eaLnBrk="0" fontAlgn="base" hangingPunct="0">
              <a:spcBef>
                <a:spcPct val="0"/>
              </a:spcBef>
              <a:spcAft>
                <a:spcPct val="0"/>
              </a:spcAf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	- Released only when fit for user consumption</a:t>
            </a:r>
          </a:p>
          <a:p>
            <a:pPr marL="0" marR="0" lvl="0" indent="0" algn="l" defTabSz="914400" rtl="0" eaLnBrk="0" fontAlgn="base" latinLnBrk="0" hangingPunct="0">
              <a:lnSpc>
                <a:spcPct val="100000"/>
              </a:lnSpc>
              <a:spcBef>
                <a:spcPct val="0"/>
              </a:spcBef>
              <a:spcAft>
                <a:spcPct val="0"/>
              </a:spcAft>
              <a:buClrTx/>
              <a:buSzTx/>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 Consistency requires using common labels and definitions across all data sources.</a:t>
            </a:r>
          </a:p>
          <a:p>
            <a:pPr marL="0" marR="0" lvl="0" indent="0" algn="l" defTabSz="914400" rtl="0" eaLnBrk="0" fontAlgn="base" latinLnBrk="0" hangingPunct="0">
              <a:lnSpc>
                <a:spcPct val="100000"/>
              </a:lnSpc>
              <a:spcBef>
                <a:spcPct val="0"/>
              </a:spcBef>
              <a:spcAft>
                <a:spcPct val="0"/>
              </a:spcAft>
              <a:buClrTx/>
              <a:buSzTx/>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If two performance measures have the same name, they must represent the same concept.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 If two measures differ in meaning, they should be labeled differently.</a:t>
            </a:r>
          </a:p>
        </p:txBody>
      </p:sp>
      <p:sp>
        <p:nvSpPr>
          <p:cNvPr id="5" name="TextBox 4">
            <a:extLst>
              <a:ext uri="{FF2B5EF4-FFF2-40B4-BE49-F238E27FC236}">
                <a16:creationId xmlns:a16="http://schemas.microsoft.com/office/drawing/2014/main" id="{072B3573-0D6E-5D41-9DA4-B8CCE17367E6}"/>
              </a:ext>
            </a:extLst>
          </p:cNvPr>
          <p:cNvSpPr txBox="1"/>
          <p:nvPr/>
        </p:nvSpPr>
        <p:spPr>
          <a:xfrm>
            <a:off x="265043" y="-10899"/>
            <a:ext cx="11390244" cy="707886"/>
          </a:xfrm>
          <a:prstGeom prst="rect">
            <a:avLst/>
          </a:prstGeom>
          <a:noFill/>
        </p:spPr>
        <p:txBody>
          <a:bodyPr wrap="square">
            <a:spAutoFit/>
          </a:bodyPr>
          <a:lstStyle/>
          <a:p>
            <a:pPr algn="ctr"/>
            <a:r>
              <a:rPr lang="en-IN" sz="4000" b="0" i="0" u="none" strike="noStrike" baseline="0" dirty="0">
                <a:solidFill>
                  <a:schemeClr val="bg1"/>
                </a:solidFill>
              </a:rPr>
              <a:t>Requirement of DW/BI System</a:t>
            </a:r>
            <a:endParaRPr lang="en-IN" sz="4000" dirty="0">
              <a:solidFill>
                <a:schemeClr val="bg1"/>
              </a:solidFill>
            </a:endParaRPr>
          </a:p>
        </p:txBody>
      </p:sp>
    </p:spTree>
    <p:extLst>
      <p:ext uri="{BB962C8B-B14F-4D97-AF65-F5344CB8AC3E}">
        <p14:creationId xmlns:p14="http://schemas.microsoft.com/office/powerpoint/2010/main" val="1174957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64996A-D208-DBE4-EF1F-BE1BCD8584DB}"/>
              </a:ext>
            </a:extLst>
          </p:cNvPr>
          <p:cNvSpPr>
            <a:spLocks noChangeArrowheads="1"/>
          </p:cNvSpPr>
          <p:nvPr/>
        </p:nvSpPr>
        <p:spPr bwMode="auto">
          <a:xfrm>
            <a:off x="278296" y="382013"/>
            <a:ext cx="11678478" cy="6093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600" b="0" i="0" u="none" strike="noStrike" cap="none" normalizeH="0" baseline="0" dirty="0">
              <a:ln>
                <a:noFill/>
              </a:ln>
              <a:solidFill>
                <a:schemeClr val="bg1">
                  <a:lumMod val="9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 The DW/BI system must adapt to change.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600" b="0" i="0" u="none" strike="noStrike" cap="none" normalizeH="0" baseline="0" dirty="0">
              <a:ln>
                <a:noFill/>
              </a:ln>
              <a:solidFill>
                <a:schemeClr val="bg1">
                  <a:lumMod val="9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 User needs, business conditions, data, and technology are all subject to change.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 The system must handle change gracefully without invalidating existing data or applications.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600" b="0" i="0" u="none" strike="noStrike" cap="none" normalizeH="0" baseline="0" dirty="0">
              <a:ln>
                <a:noFill/>
              </a:ln>
              <a:solidFill>
                <a:schemeClr val="bg1">
                  <a:lumMod val="9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Existing data and applications should remain stable when:</a:t>
            </a:r>
          </a:p>
          <a:p>
            <a:pPr marL="0" marR="0" lvl="0" indent="0" algn="l" defTabSz="914400" rtl="0" eaLnBrk="0" fontAlgn="base" latinLnBrk="0" hangingPunct="0">
              <a:lnSpc>
                <a:spcPct val="100000"/>
              </a:lnSpc>
              <a:spcBef>
                <a:spcPct val="0"/>
              </a:spcBef>
              <a:spcAft>
                <a:spcPct val="0"/>
              </a:spcAft>
              <a:buClrTx/>
              <a:buSzTx/>
              <a:tabLst/>
            </a:pPr>
            <a:r>
              <a:rPr lang="en-US" altLang="en-US" sz="2600" dirty="0">
                <a:solidFill>
                  <a:schemeClr val="bg1">
                    <a:lumMod val="95000"/>
                  </a:schemeClr>
                </a:solidFill>
                <a:latin typeface="Arial" panose="020B0604020202020204" pitchFamily="34" charset="0"/>
              </a:rPr>
              <a:t>	- </a:t>
            </a: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New questions are asked by the business</a:t>
            </a:r>
          </a:p>
          <a:p>
            <a:pPr marL="0" marR="0" lvl="0" indent="0" algn="l" defTabSz="914400" rtl="0" eaLnBrk="0" fontAlgn="base" latinLnBrk="0" hangingPunct="0">
              <a:lnSpc>
                <a:spcPct val="100000"/>
              </a:lnSpc>
              <a:spcBef>
                <a:spcPct val="0"/>
              </a:spcBef>
              <a:spcAft>
                <a:spcPct val="0"/>
              </a:spcAft>
              <a:buClrTx/>
              <a:buSzTx/>
              <a:tabLst/>
            </a:pPr>
            <a:r>
              <a:rPr lang="en-US" altLang="en-US" sz="2600" dirty="0">
                <a:solidFill>
                  <a:schemeClr val="bg1">
                    <a:lumMod val="95000"/>
                  </a:schemeClr>
                </a:solidFill>
                <a:latin typeface="Arial" panose="020B0604020202020204" pitchFamily="34" charset="0"/>
              </a:rPr>
              <a:t>	- </a:t>
            </a: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New data is added to the warehouse</a:t>
            </a:r>
          </a:p>
          <a:p>
            <a:pPr marL="0" marR="0" lvl="0" indent="0" algn="l" defTabSz="914400" rtl="0" eaLnBrk="0" fontAlgn="base" latinLnBrk="0" hangingPunct="0">
              <a:lnSpc>
                <a:spcPct val="100000"/>
              </a:lnSpc>
              <a:spcBef>
                <a:spcPct val="0"/>
              </a:spcBef>
              <a:spcAft>
                <a:spcPct val="0"/>
              </a:spcAft>
              <a:buClrTx/>
              <a:buSzTx/>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If descriptive data must be modified:</a:t>
            </a:r>
          </a:p>
          <a:p>
            <a:pPr marL="0" marR="0" lvl="0" indent="0" algn="l" defTabSz="914400" rtl="0" eaLnBrk="0" fontAlgn="base" latinLnBrk="0" hangingPunct="0">
              <a:lnSpc>
                <a:spcPct val="100000"/>
              </a:lnSpc>
              <a:spcBef>
                <a:spcPct val="0"/>
              </a:spcBef>
              <a:spcAft>
                <a:spcPct val="0"/>
              </a:spcAft>
              <a:buClrTx/>
              <a:buSzTx/>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	- Changes must be properly accounted for</a:t>
            </a:r>
          </a:p>
          <a:p>
            <a:pPr marL="0" marR="0" lvl="0" indent="0" algn="l" defTabSz="914400" rtl="0" eaLnBrk="0" fontAlgn="base" latinLnBrk="0" hangingPunct="0">
              <a:lnSpc>
                <a:spcPct val="100000"/>
              </a:lnSpc>
              <a:spcBef>
                <a:spcPct val="0"/>
              </a:spcBef>
              <a:spcAft>
                <a:spcPct val="0"/>
              </a:spcAft>
              <a:buClrTx/>
              <a:buSzTx/>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	- Changes should be made transparent to users</a:t>
            </a:r>
          </a:p>
        </p:txBody>
      </p:sp>
      <p:sp>
        <p:nvSpPr>
          <p:cNvPr id="3" name="TextBox 2">
            <a:extLst>
              <a:ext uri="{FF2B5EF4-FFF2-40B4-BE49-F238E27FC236}">
                <a16:creationId xmlns:a16="http://schemas.microsoft.com/office/drawing/2014/main" id="{8E0019BC-764F-3AF4-DCBB-63903A843E96}"/>
              </a:ext>
            </a:extLst>
          </p:cNvPr>
          <p:cNvSpPr txBox="1"/>
          <p:nvPr/>
        </p:nvSpPr>
        <p:spPr>
          <a:xfrm>
            <a:off x="265043" y="0"/>
            <a:ext cx="11390244" cy="707886"/>
          </a:xfrm>
          <a:prstGeom prst="rect">
            <a:avLst/>
          </a:prstGeom>
          <a:noFill/>
        </p:spPr>
        <p:txBody>
          <a:bodyPr wrap="square">
            <a:spAutoFit/>
          </a:bodyPr>
          <a:lstStyle/>
          <a:p>
            <a:pPr algn="ctr"/>
            <a:r>
              <a:rPr lang="en-IN" sz="4000" b="0" i="0" u="none" strike="noStrike" baseline="0" dirty="0">
                <a:solidFill>
                  <a:schemeClr val="bg1"/>
                </a:solidFill>
              </a:rPr>
              <a:t>Requirement of DW/BI System</a:t>
            </a:r>
            <a:endParaRPr lang="en-IN" sz="4000" dirty="0">
              <a:solidFill>
                <a:schemeClr val="bg1"/>
              </a:solidFill>
            </a:endParaRPr>
          </a:p>
        </p:txBody>
      </p:sp>
    </p:spTree>
    <p:extLst>
      <p:ext uri="{BB962C8B-B14F-4D97-AF65-F5344CB8AC3E}">
        <p14:creationId xmlns:p14="http://schemas.microsoft.com/office/powerpoint/2010/main" val="3603719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06124-A439-6F3E-F4EF-970DB75A2CA8}"/>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39754658-DACB-A03B-6999-6707120C51AB}"/>
              </a:ext>
            </a:extLst>
          </p:cNvPr>
          <p:cNvSpPr>
            <a:spLocks noChangeArrowheads="1"/>
          </p:cNvSpPr>
          <p:nvPr/>
        </p:nvSpPr>
        <p:spPr bwMode="auto">
          <a:xfrm>
            <a:off x="198782" y="1202545"/>
            <a:ext cx="11569148" cy="5293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The DW/BI system must present information in a timely manner.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600" b="0" i="0" u="none" strike="noStrike" cap="none" normalizeH="0" baseline="0" dirty="0">
              <a:ln>
                <a:noFill/>
              </a:ln>
              <a:solidFill>
                <a:schemeClr val="bg1">
                  <a:lumMod val="9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 As operational use increases, raw data may need to be transformed into actionable information within:</a:t>
            </a:r>
          </a:p>
          <a:p>
            <a:pPr lvl="1" eaLnBrk="0" fontAlgn="base" hangingPunct="0">
              <a:spcBef>
                <a:spcPct val="0"/>
              </a:spcBef>
              <a:spcAft>
                <a:spcPct val="0"/>
              </a:spcAft>
              <a:buFontTx/>
              <a:buChar char="•"/>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Hours</a:t>
            </a:r>
          </a:p>
          <a:p>
            <a:pPr lvl="1" eaLnBrk="0" fontAlgn="base" hangingPunct="0">
              <a:spcBef>
                <a:spcPct val="0"/>
              </a:spcBef>
              <a:spcAft>
                <a:spcPct val="0"/>
              </a:spcAft>
              <a:buFontTx/>
              <a:buChar char="•"/>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Minutes</a:t>
            </a:r>
          </a:p>
          <a:p>
            <a:pPr lvl="1" eaLnBrk="0" fontAlgn="base" hangingPunct="0">
              <a:spcBef>
                <a:spcPct val="0"/>
              </a:spcBef>
              <a:spcAft>
                <a:spcPct val="0"/>
              </a:spcAft>
              <a:buFontTx/>
              <a:buChar char="•"/>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Or even seconds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600" b="0" i="0" u="none" strike="noStrike" cap="none" normalizeH="0" baseline="0" dirty="0">
              <a:ln>
                <a:noFill/>
              </a:ln>
              <a:solidFill>
                <a:schemeClr val="bg1">
                  <a:lumMod val="9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The DW/BI team and business users must set realistic expectations for:</a:t>
            </a:r>
          </a:p>
          <a:p>
            <a:pPr lvl="1" eaLnBrk="0" fontAlgn="base" hangingPunct="0">
              <a:spcBef>
                <a:spcPct val="0"/>
              </a:spcBef>
              <a:spcAft>
                <a:spcPct val="0"/>
              </a:spcAft>
              <a:buFontTx/>
              <a:buChar char="•"/>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Data delivery speed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600" b="0" i="0" u="none" strike="noStrike" cap="none" normalizeH="0" baseline="0" dirty="0">
              <a:ln>
                <a:noFill/>
              </a:ln>
              <a:solidFill>
                <a:schemeClr val="bg1">
                  <a:lumMod val="9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The level of data cleaning or validation possible under tight timeframes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600" b="0" i="0" u="none" strike="noStrike" cap="none" normalizeH="0" baseline="0" dirty="0">
              <a:ln>
                <a:noFill/>
              </a:ln>
              <a:solidFill>
                <a:schemeClr val="bg1">
                  <a:lumMod val="95000"/>
                </a:schemeClr>
              </a:solidFill>
              <a:effectLst/>
              <a:latin typeface="Arial" panose="020B0604020202020204" pitchFamily="34" charset="0"/>
            </a:endParaRPr>
          </a:p>
        </p:txBody>
      </p:sp>
      <p:sp>
        <p:nvSpPr>
          <p:cNvPr id="5" name="TextBox 4">
            <a:extLst>
              <a:ext uri="{FF2B5EF4-FFF2-40B4-BE49-F238E27FC236}">
                <a16:creationId xmlns:a16="http://schemas.microsoft.com/office/drawing/2014/main" id="{A9D1FE73-F4B1-54F7-1831-AECDBD66B5B5}"/>
              </a:ext>
            </a:extLst>
          </p:cNvPr>
          <p:cNvSpPr txBox="1"/>
          <p:nvPr/>
        </p:nvSpPr>
        <p:spPr>
          <a:xfrm>
            <a:off x="265043" y="0"/>
            <a:ext cx="11390244" cy="707886"/>
          </a:xfrm>
          <a:prstGeom prst="rect">
            <a:avLst/>
          </a:prstGeom>
          <a:noFill/>
        </p:spPr>
        <p:txBody>
          <a:bodyPr wrap="square">
            <a:spAutoFit/>
          </a:bodyPr>
          <a:lstStyle/>
          <a:p>
            <a:pPr algn="ctr"/>
            <a:r>
              <a:rPr lang="en-IN" sz="4000" b="0" i="0" u="none" strike="noStrike" baseline="0" dirty="0">
                <a:solidFill>
                  <a:schemeClr val="bg1"/>
                </a:solidFill>
              </a:rPr>
              <a:t>Requirement of DW/BI System</a:t>
            </a:r>
            <a:endParaRPr lang="en-IN" sz="4000" dirty="0">
              <a:solidFill>
                <a:schemeClr val="bg1"/>
              </a:solidFill>
            </a:endParaRPr>
          </a:p>
        </p:txBody>
      </p:sp>
    </p:spTree>
    <p:extLst>
      <p:ext uri="{BB962C8B-B14F-4D97-AF65-F5344CB8AC3E}">
        <p14:creationId xmlns:p14="http://schemas.microsoft.com/office/powerpoint/2010/main" val="38303983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45CEEB0-9F49-796E-C555-FFEFD909578F}"/>
              </a:ext>
            </a:extLst>
          </p:cNvPr>
          <p:cNvSpPr>
            <a:spLocks noChangeArrowheads="1"/>
          </p:cNvSpPr>
          <p:nvPr/>
        </p:nvSpPr>
        <p:spPr bwMode="auto">
          <a:xfrm rot="10800000" flipV="1">
            <a:off x="265043" y="1308116"/>
            <a:ext cx="11771244" cy="449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The DW/BI system must be a secure bastion that protects information assets.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600" b="0" i="0" u="none" strike="noStrike" cap="none" normalizeH="0" baseline="0" dirty="0">
              <a:ln>
                <a:noFill/>
              </a:ln>
              <a:solidFill>
                <a:schemeClr val="bg1">
                  <a:lumMod val="9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 The data warehouse contains the organization's informational crown jewels.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 It likely holds sensitive data such as:</a:t>
            </a:r>
          </a:p>
          <a:p>
            <a:pPr marL="0" marR="0" lvl="0" indent="0" algn="l" defTabSz="914400" rtl="0" eaLnBrk="0" fontAlgn="base" latinLnBrk="0" hangingPunct="0">
              <a:lnSpc>
                <a:spcPct val="100000"/>
              </a:lnSpc>
              <a:spcBef>
                <a:spcPct val="0"/>
              </a:spcBef>
              <a:spcAft>
                <a:spcPct val="0"/>
              </a:spcAft>
              <a:buClrTx/>
              <a:buSzTx/>
              <a:tabLst/>
            </a:pPr>
            <a:r>
              <a:rPr lang="en-US" altLang="en-US" sz="2600" dirty="0">
                <a:solidFill>
                  <a:schemeClr val="bg1">
                    <a:lumMod val="95000"/>
                  </a:schemeClr>
                </a:solidFill>
                <a:latin typeface="Arial" panose="020B0604020202020204" pitchFamily="34" charset="0"/>
              </a:rPr>
              <a:t>- </a:t>
            </a: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What is being sold</a:t>
            </a:r>
          </a:p>
          <a:p>
            <a:pPr marL="0" marR="0" lvl="0" indent="0" algn="l" defTabSz="914400" rtl="0" eaLnBrk="0" fontAlgn="base" latinLnBrk="0" hangingPunct="0">
              <a:lnSpc>
                <a:spcPct val="100000"/>
              </a:lnSpc>
              <a:spcBef>
                <a:spcPct val="0"/>
              </a:spcBef>
              <a:spcAft>
                <a:spcPct val="0"/>
              </a:spcAft>
              <a:buClrTx/>
              <a:buSzTx/>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 To whom it is being sold</a:t>
            </a:r>
          </a:p>
          <a:p>
            <a:pPr marL="0" marR="0" lvl="0" indent="0" algn="l" defTabSz="914400" rtl="0" eaLnBrk="0" fontAlgn="base" latinLnBrk="0" hangingPunct="0">
              <a:lnSpc>
                <a:spcPct val="100000"/>
              </a:lnSpc>
              <a:spcBef>
                <a:spcPct val="0"/>
              </a:spcBef>
              <a:spcAft>
                <a:spcPct val="0"/>
              </a:spcAft>
              <a:buClrTx/>
              <a:buSzTx/>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 At what price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600" b="0" i="0" u="none" strike="noStrike" cap="none" normalizeH="0" baseline="0" dirty="0">
              <a:ln>
                <a:noFill/>
              </a:ln>
              <a:solidFill>
                <a:schemeClr val="bg1">
                  <a:lumMod val="9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 This information could be harmful if accessed by the wrong people.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600" b="0" i="0" u="none" strike="noStrike" cap="none" normalizeH="0" baseline="0" dirty="0">
              <a:ln>
                <a:noFill/>
              </a:ln>
              <a:solidFill>
                <a:schemeClr val="bg1">
                  <a:lumMod val="9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 The DW/BI system must effectively control access to confidential information.</a:t>
            </a:r>
          </a:p>
        </p:txBody>
      </p:sp>
      <p:sp>
        <p:nvSpPr>
          <p:cNvPr id="3" name="TextBox 2">
            <a:extLst>
              <a:ext uri="{FF2B5EF4-FFF2-40B4-BE49-F238E27FC236}">
                <a16:creationId xmlns:a16="http://schemas.microsoft.com/office/drawing/2014/main" id="{D9F894D8-090F-6781-C480-97D7EDADADFF}"/>
              </a:ext>
            </a:extLst>
          </p:cNvPr>
          <p:cNvSpPr txBox="1"/>
          <p:nvPr/>
        </p:nvSpPr>
        <p:spPr>
          <a:xfrm>
            <a:off x="265043" y="0"/>
            <a:ext cx="11390244" cy="707886"/>
          </a:xfrm>
          <a:prstGeom prst="rect">
            <a:avLst/>
          </a:prstGeom>
          <a:noFill/>
        </p:spPr>
        <p:txBody>
          <a:bodyPr wrap="square">
            <a:spAutoFit/>
          </a:bodyPr>
          <a:lstStyle/>
          <a:p>
            <a:pPr algn="ctr"/>
            <a:r>
              <a:rPr lang="en-IN" sz="4000" b="0" i="0" u="none" strike="noStrike" baseline="0" dirty="0">
                <a:solidFill>
                  <a:schemeClr val="bg1"/>
                </a:solidFill>
              </a:rPr>
              <a:t>Requirement of DW/BI System</a:t>
            </a:r>
            <a:endParaRPr lang="en-IN" sz="4000" dirty="0">
              <a:solidFill>
                <a:schemeClr val="bg1"/>
              </a:solidFill>
            </a:endParaRPr>
          </a:p>
        </p:txBody>
      </p:sp>
    </p:spTree>
    <p:extLst>
      <p:ext uri="{BB962C8B-B14F-4D97-AF65-F5344CB8AC3E}">
        <p14:creationId xmlns:p14="http://schemas.microsoft.com/office/powerpoint/2010/main" val="21359404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1EB9DA4-F3E8-9A0C-C43C-67B45540BC90}"/>
              </a:ext>
            </a:extLst>
          </p:cNvPr>
          <p:cNvSpPr>
            <a:spLocks noChangeArrowheads="1"/>
          </p:cNvSpPr>
          <p:nvPr/>
        </p:nvSpPr>
        <p:spPr bwMode="auto">
          <a:xfrm>
            <a:off x="506895" y="958855"/>
            <a:ext cx="11549269" cy="5293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 The DW/BI system must serve as the authoritative and trustworthy foundation for improved decision making.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600" b="0" i="0" u="none" strike="noStrike" cap="none" normalizeH="0" baseline="0" dirty="0">
              <a:ln>
                <a:noFill/>
              </a:ln>
              <a:solidFill>
                <a:schemeClr val="bg1">
                  <a:lumMod val="9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 The data warehouse must contain the right data to support effective decisions.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600" b="0" i="0" u="none" strike="noStrike" cap="none" normalizeH="0" baseline="0" dirty="0">
              <a:ln>
                <a:noFill/>
              </a:ln>
              <a:solidFill>
                <a:schemeClr val="bg1">
                  <a:lumMod val="9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 The most important outputs of a DW/BI system are the decisions driven by analytic evidence.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600" b="0" i="0" u="none" strike="noStrike" cap="none" normalizeH="0" baseline="0" dirty="0">
              <a:ln>
                <a:noFill/>
              </a:ln>
              <a:solidFill>
                <a:schemeClr val="bg1">
                  <a:lumMod val="9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 These decisions create the business impact and value of the DW/BI system.</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600" b="0" i="0" u="none" strike="noStrike" cap="none" normalizeH="0" baseline="0" dirty="0">
              <a:ln>
                <a:noFill/>
              </a:ln>
              <a:solidFill>
                <a:schemeClr val="bg1">
                  <a:lumMod val="9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 The original term </a:t>
            </a:r>
            <a:r>
              <a:rPr kumimoji="0" lang="en-US" altLang="en-US" sz="2600" b="1" i="0" u="none" strike="noStrike" cap="none" normalizeH="0" baseline="0" dirty="0">
                <a:ln>
                  <a:noFill/>
                </a:ln>
                <a:solidFill>
                  <a:schemeClr val="bg1">
                    <a:lumMod val="95000"/>
                  </a:schemeClr>
                </a:solidFill>
                <a:effectLst/>
                <a:latin typeface="Arial" panose="020B0604020202020204" pitchFamily="34" charset="0"/>
              </a:rPr>
              <a:t>"decision support system"</a:t>
            </a: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 remains the best description of its purpose.</a:t>
            </a:r>
          </a:p>
        </p:txBody>
      </p:sp>
      <p:sp>
        <p:nvSpPr>
          <p:cNvPr id="3" name="TextBox 2">
            <a:extLst>
              <a:ext uri="{FF2B5EF4-FFF2-40B4-BE49-F238E27FC236}">
                <a16:creationId xmlns:a16="http://schemas.microsoft.com/office/drawing/2014/main" id="{6F3967EE-BA32-4F4F-A2BB-1AB0D9C86DBE}"/>
              </a:ext>
            </a:extLst>
          </p:cNvPr>
          <p:cNvSpPr txBox="1"/>
          <p:nvPr/>
        </p:nvSpPr>
        <p:spPr>
          <a:xfrm>
            <a:off x="265043" y="0"/>
            <a:ext cx="11390244" cy="707886"/>
          </a:xfrm>
          <a:prstGeom prst="rect">
            <a:avLst/>
          </a:prstGeom>
          <a:noFill/>
        </p:spPr>
        <p:txBody>
          <a:bodyPr wrap="square">
            <a:spAutoFit/>
          </a:bodyPr>
          <a:lstStyle/>
          <a:p>
            <a:pPr algn="ctr"/>
            <a:r>
              <a:rPr lang="en-IN" sz="4000" b="0" i="0" u="none" strike="noStrike" baseline="0" dirty="0">
                <a:solidFill>
                  <a:schemeClr val="bg1"/>
                </a:solidFill>
              </a:rPr>
              <a:t>Requirement of DW/BI System</a:t>
            </a:r>
            <a:endParaRPr lang="en-IN" sz="4000" dirty="0">
              <a:solidFill>
                <a:schemeClr val="bg1"/>
              </a:solidFill>
            </a:endParaRPr>
          </a:p>
        </p:txBody>
      </p:sp>
    </p:spTree>
    <p:extLst>
      <p:ext uri="{BB962C8B-B14F-4D97-AF65-F5344CB8AC3E}">
        <p14:creationId xmlns:p14="http://schemas.microsoft.com/office/powerpoint/2010/main" val="19509941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0A07122-05F7-0F3A-972D-6221346A7358}"/>
              </a:ext>
            </a:extLst>
          </p:cNvPr>
          <p:cNvSpPr>
            <a:spLocks noChangeArrowheads="1"/>
          </p:cNvSpPr>
          <p:nvPr/>
        </p:nvSpPr>
        <p:spPr bwMode="auto">
          <a:xfrm>
            <a:off x="265043" y="938976"/>
            <a:ext cx="11655288" cy="5293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 The business community must accept the DW/BI system for it to be considered successful.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600" b="0" i="0" u="none" strike="noStrike" cap="none" normalizeH="0" baseline="0" dirty="0">
              <a:ln>
                <a:noFill/>
              </a:ln>
              <a:solidFill>
                <a:schemeClr val="bg1">
                  <a:lumMod val="9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 Technical excellence alone (e.g., using best-of-breed products) is not enough.</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600" b="0" i="0" u="none" strike="noStrike" cap="none" normalizeH="0" baseline="0" dirty="0">
              <a:ln>
                <a:noFill/>
              </a:ln>
              <a:solidFill>
                <a:schemeClr val="bg1">
                  <a:lumMod val="9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 If business users do not actively use the DW/BI environment, it fails the acceptance test.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600" b="0" i="0" u="none" strike="noStrike" cap="none" normalizeH="0" baseline="0" dirty="0">
              <a:ln>
                <a:noFill/>
              </a:ln>
              <a:solidFill>
                <a:schemeClr val="bg1">
                  <a:lumMod val="9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 Unlike operational systems, DW/BI system usage is often optional for users.</a:t>
            </a:r>
          </a:p>
          <a:p>
            <a:pPr marL="0" marR="0" lvl="0" indent="0" algn="l" defTabSz="914400" rtl="0" eaLnBrk="0" fontAlgn="base" latinLnBrk="0" hangingPunct="0">
              <a:lnSpc>
                <a:spcPct val="100000"/>
              </a:lnSpc>
              <a:spcBef>
                <a:spcPct val="0"/>
              </a:spcBef>
              <a:spcAft>
                <a:spcPct val="0"/>
              </a:spcAft>
              <a:buClrTx/>
              <a:buSzTx/>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 Business users will embrace the DW/BI system if it becomes their </a:t>
            </a:r>
            <a:r>
              <a:rPr kumimoji="0" lang="en-US" altLang="en-US" sz="2600" b="1" i="0" u="none" strike="noStrike" cap="none" normalizeH="0" baseline="0" dirty="0">
                <a:ln>
                  <a:noFill/>
                </a:ln>
                <a:solidFill>
                  <a:schemeClr val="bg1">
                    <a:lumMod val="95000"/>
                  </a:schemeClr>
                </a:solidFill>
                <a:effectLst/>
                <a:latin typeface="Arial" panose="020B0604020202020204" pitchFamily="34" charset="0"/>
              </a:rPr>
              <a:t>“simple and fast”</a:t>
            </a:r>
            <a:r>
              <a:rPr kumimoji="0" lang="en-US" altLang="en-US" sz="2600" b="0" i="0" u="none" strike="noStrike" cap="none" normalizeH="0" baseline="0" dirty="0">
                <a:ln>
                  <a:noFill/>
                </a:ln>
                <a:solidFill>
                  <a:schemeClr val="bg1">
                    <a:lumMod val="95000"/>
                  </a:schemeClr>
                </a:solidFill>
                <a:effectLst/>
                <a:latin typeface="Arial" panose="020B0604020202020204" pitchFamily="34" charset="0"/>
              </a:rPr>
              <a:t> source of actionable information.</a:t>
            </a:r>
          </a:p>
        </p:txBody>
      </p:sp>
      <p:sp>
        <p:nvSpPr>
          <p:cNvPr id="3" name="TextBox 2">
            <a:extLst>
              <a:ext uri="{FF2B5EF4-FFF2-40B4-BE49-F238E27FC236}">
                <a16:creationId xmlns:a16="http://schemas.microsoft.com/office/drawing/2014/main" id="{BECEE149-6B1F-DDE4-3014-3B79E56A4331}"/>
              </a:ext>
            </a:extLst>
          </p:cNvPr>
          <p:cNvSpPr txBox="1"/>
          <p:nvPr/>
        </p:nvSpPr>
        <p:spPr>
          <a:xfrm>
            <a:off x="265043" y="0"/>
            <a:ext cx="11390244" cy="707886"/>
          </a:xfrm>
          <a:prstGeom prst="rect">
            <a:avLst/>
          </a:prstGeom>
          <a:noFill/>
        </p:spPr>
        <p:txBody>
          <a:bodyPr wrap="square">
            <a:spAutoFit/>
          </a:bodyPr>
          <a:lstStyle/>
          <a:p>
            <a:pPr algn="ctr"/>
            <a:r>
              <a:rPr lang="en-IN" sz="4000" b="0" i="0" u="none" strike="noStrike" baseline="0" dirty="0">
                <a:solidFill>
                  <a:schemeClr val="bg1"/>
                </a:solidFill>
              </a:rPr>
              <a:t>Requirement of DW/BI System</a:t>
            </a:r>
            <a:endParaRPr lang="en-IN" sz="4000" dirty="0">
              <a:solidFill>
                <a:schemeClr val="bg1"/>
              </a:solidFill>
            </a:endParaRPr>
          </a:p>
        </p:txBody>
      </p:sp>
    </p:spTree>
    <p:extLst>
      <p:ext uri="{BB962C8B-B14F-4D97-AF65-F5344CB8AC3E}">
        <p14:creationId xmlns:p14="http://schemas.microsoft.com/office/powerpoint/2010/main" val="10693930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38623" y="215088"/>
            <a:ext cx="3119120" cy="674608"/>
          </a:xfrm>
          <a:prstGeom prst="rect">
            <a:avLst/>
          </a:prstGeom>
        </p:spPr>
        <p:txBody>
          <a:bodyPr vert="horz" wrap="square" lIns="0" tIns="17780" rIns="0" bIns="0" rtlCol="0" anchor="ctr">
            <a:spAutoFit/>
          </a:bodyPr>
          <a:lstStyle/>
          <a:p>
            <a:pPr marL="16933">
              <a:lnSpc>
                <a:spcPct val="100000"/>
              </a:lnSpc>
              <a:spcBef>
                <a:spcPts val="140"/>
              </a:spcBef>
            </a:pPr>
            <a:r>
              <a:rPr dirty="0"/>
              <a:t>Two</a:t>
            </a:r>
            <a:r>
              <a:rPr spc="-20" dirty="0"/>
              <a:t> </a:t>
            </a:r>
            <a:r>
              <a:rPr spc="-13" dirty="0"/>
              <a:t>purposes</a:t>
            </a:r>
          </a:p>
        </p:txBody>
      </p:sp>
      <p:pic>
        <p:nvPicPr>
          <p:cNvPr id="3" name="object 3"/>
          <p:cNvPicPr/>
          <p:nvPr/>
        </p:nvPicPr>
        <p:blipFill>
          <a:blip r:embed="rId2" cstate="print"/>
          <a:stretch>
            <a:fillRect/>
          </a:stretch>
        </p:blipFill>
        <p:spPr>
          <a:xfrm>
            <a:off x="4368800" y="5870445"/>
            <a:ext cx="3064256" cy="950976"/>
          </a:xfrm>
          <a:prstGeom prst="rect">
            <a:avLst/>
          </a:prstGeom>
        </p:spPr>
      </p:pic>
      <p:sp>
        <p:nvSpPr>
          <p:cNvPr id="4" name="object 4"/>
          <p:cNvSpPr/>
          <p:nvPr/>
        </p:nvSpPr>
        <p:spPr>
          <a:xfrm>
            <a:off x="3494379" y="2194187"/>
            <a:ext cx="933027" cy="1266613"/>
          </a:xfrm>
          <a:custGeom>
            <a:avLst/>
            <a:gdLst/>
            <a:ahLst/>
            <a:cxnLst/>
            <a:rect l="l" t="t" r="r" b="b"/>
            <a:pathLst>
              <a:path w="699770" h="949960">
                <a:moveTo>
                  <a:pt x="699338" y="649960"/>
                </a:moveTo>
                <a:lnTo>
                  <a:pt x="692200" y="670052"/>
                </a:lnTo>
                <a:lnTo>
                  <a:pt x="671741" y="688784"/>
                </a:lnTo>
                <a:lnTo>
                  <a:pt x="639406" y="705764"/>
                </a:lnTo>
                <a:lnTo>
                  <a:pt x="624408" y="710971"/>
                </a:lnTo>
                <a:lnTo>
                  <a:pt x="624408" y="824941"/>
                </a:lnTo>
                <a:lnTo>
                  <a:pt x="622617" y="835177"/>
                </a:lnTo>
                <a:lnTo>
                  <a:pt x="617537" y="843064"/>
                </a:lnTo>
                <a:lnTo>
                  <a:pt x="609650" y="848144"/>
                </a:lnTo>
                <a:lnTo>
                  <a:pt x="599427" y="849947"/>
                </a:lnTo>
                <a:lnTo>
                  <a:pt x="589203" y="848144"/>
                </a:lnTo>
                <a:lnTo>
                  <a:pt x="581329" y="843064"/>
                </a:lnTo>
                <a:lnTo>
                  <a:pt x="576249" y="835177"/>
                </a:lnTo>
                <a:lnTo>
                  <a:pt x="574459" y="824941"/>
                </a:lnTo>
                <a:lnTo>
                  <a:pt x="576249" y="814717"/>
                </a:lnTo>
                <a:lnTo>
                  <a:pt x="581329" y="806818"/>
                </a:lnTo>
                <a:lnTo>
                  <a:pt x="589203" y="801738"/>
                </a:lnTo>
                <a:lnTo>
                  <a:pt x="599427" y="799947"/>
                </a:lnTo>
                <a:lnTo>
                  <a:pt x="609650" y="801738"/>
                </a:lnTo>
                <a:lnTo>
                  <a:pt x="617537" y="806818"/>
                </a:lnTo>
                <a:lnTo>
                  <a:pt x="622617" y="814717"/>
                </a:lnTo>
                <a:lnTo>
                  <a:pt x="624408" y="824941"/>
                </a:lnTo>
                <a:lnTo>
                  <a:pt x="624408" y="710971"/>
                </a:lnTo>
                <a:lnTo>
                  <a:pt x="544817" y="732815"/>
                </a:lnTo>
                <a:lnTo>
                  <a:pt x="485432" y="742061"/>
                </a:lnTo>
                <a:lnTo>
                  <a:pt x="419912" y="747915"/>
                </a:lnTo>
                <a:lnTo>
                  <a:pt x="349669" y="749947"/>
                </a:lnTo>
                <a:lnTo>
                  <a:pt x="279425" y="747915"/>
                </a:lnTo>
                <a:lnTo>
                  <a:pt x="213893" y="742061"/>
                </a:lnTo>
                <a:lnTo>
                  <a:pt x="154520" y="732815"/>
                </a:lnTo>
                <a:lnTo>
                  <a:pt x="102717" y="720585"/>
                </a:lnTo>
                <a:lnTo>
                  <a:pt x="59931" y="705764"/>
                </a:lnTo>
                <a:lnTo>
                  <a:pt x="7137" y="670052"/>
                </a:lnTo>
                <a:lnTo>
                  <a:pt x="0" y="649960"/>
                </a:lnTo>
                <a:lnTo>
                  <a:pt x="0" y="849947"/>
                </a:lnTo>
                <a:lnTo>
                  <a:pt x="27584" y="888771"/>
                </a:lnTo>
                <a:lnTo>
                  <a:pt x="102717" y="920559"/>
                </a:lnTo>
                <a:lnTo>
                  <a:pt x="154520" y="932802"/>
                </a:lnTo>
                <a:lnTo>
                  <a:pt x="213893" y="942047"/>
                </a:lnTo>
                <a:lnTo>
                  <a:pt x="279425" y="947889"/>
                </a:lnTo>
                <a:lnTo>
                  <a:pt x="349669" y="949934"/>
                </a:lnTo>
                <a:lnTo>
                  <a:pt x="419912" y="947889"/>
                </a:lnTo>
                <a:lnTo>
                  <a:pt x="485432" y="942047"/>
                </a:lnTo>
                <a:lnTo>
                  <a:pt x="544817" y="932802"/>
                </a:lnTo>
                <a:lnTo>
                  <a:pt x="596620" y="920559"/>
                </a:lnTo>
                <a:lnTo>
                  <a:pt x="639406" y="905751"/>
                </a:lnTo>
                <a:lnTo>
                  <a:pt x="692200" y="870026"/>
                </a:lnTo>
                <a:lnTo>
                  <a:pt x="699338" y="849947"/>
                </a:lnTo>
                <a:lnTo>
                  <a:pt x="699338" y="799947"/>
                </a:lnTo>
                <a:lnTo>
                  <a:pt x="699338" y="749947"/>
                </a:lnTo>
                <a:lnTo>
                  <a:pt x="699338" y="649960"/>
                </a:lnTo>
                <a:close/>
              </a:path>
              <a:path w="699770" h="949960">
                <a:moveTo>
                  <a:pt x="699338" y="399986"/>
                </a:moveTo>
                <a:lnTo>
                  <a:pt x="692200" y="420065"/>
                </a:lnTo>
                <a:lnTo>
                  <a:pt x="671741" y="438810"/>
                </a:lnTo>
                <a:lnTo>
                  <a:pt x="639406" y="455790"/>
                </a:lnTo>
                <a:lnTo>
                  <a:pt x="624408" y="460984"/>
                </a:lnTo>
                <a:lnTo>
                  <a:pt x="624408" y="574967"/>
                </a:lnTo>
                <a:lnTo>
                  <a:pt x="622617" y="585203"/>
                </a:lnTo>
                <a:lnTo>
                  <a:pt x="617537" y="593090"/>
                </a:lnTo>
                <a:lnTo>
                  <a:pt x="609650" y="598170"/>
                </a:lnTo>
                <a:lnTo>
                  <a:pt x="599427" y="599960"/>
                </a:lnTo>
                <a:lnTo>
                  <a:pt x="589203" y="598170"/>
                </a:lnTo>
                <a:lnTo>
                  <a:pt x="581329" y="593090"/>
                </a:lnTo>
                <a:lnTo>
                  <a:pt x="576249" y="585203"/>
                </a:lnTo>
                <a:lnTo>
                  <a:pt x="574459" y="574967"/>
                </a:lnTo>
                <a:lnTo>
                  <a:pt x="576249" y="564730"/>
                </a:lnTo>
                <a:lnTo>
                  <a:pt x="581329" y="556844"/>
                </a:lnTo>
                <a:lnTo>
                  <a:pt x="589203" y="551764"/>
                </a:lnTo>
                <a:lnTo>
                  <a:pt x="599427" y="549973"/>
                </a:lnTo>
                <a:lnTo>
                  <a:pt x="609650" y="551764"/>
                </a:lnTo>
                <a:lnTo>
                  <a:pt x="617537" y="556844"/>
                </a:lnTo>
                <a:lnTo>
                  <a:pt x="622617" y="564730"/>
                </a:lnTo>
                <a:lnTo>
                  <a:pt x="624408" y="574967"/>
                </a:lnTo>
                <a:lnTo>
                  <a:pt x="624408" y="460984"/>
                </a:lnTo>
                <a:lnTo>
                  <a:pt x="544817" y="482841"/>
                </a:lnTo>
                <a:lnTo>
                  <a:pt x="485432" y="492086"/>
                </a:lnTo>
                <a:lnTo>
                  <a:pt x="419912" y="497928"/>
                </a:lnTo>
                <a:lnTo>
                  <a:pt x="349669" y="499973"/>
                </a:lnTo>
                <a:lnTo>
                  <a:pt x="279425" y="497928"/>
                </a:lnTo>
                <a:lnTo>
                  <a:pt x="213893" y="492086"/>
                </a:lnTo>
                <a:lnTo>
                  <a:pt x="154520" y="482841"/>
                </a:lnTo>
                <a:lnTo>
                  <a:pt x="102717" y="470598"/>
                </a:lnTo>
                <a:lnTo>
                  <a:pt x="59931" y="455790"/>
                </a:lnTo>
                <a:lnTo>
                  <a:pt x="7137" y="420065"/>
                </a:lnTo>
                <a:lnTo>
                  <a:pt x="0" y="399986"/>
                </a:lnTo>
                <a:lnTo>
                  <a:pt x="0" y="599960"/>
                </a:lnTo>
                <a:lnTo>
                  <a:pt x="27584" y="638784"/>
                </a:lnTo>
                <a:lnTo>
                  <a:pt x="102717" y="670585"/>
                </a:lnTo>
                <a:lnTo>
                  <a:pt x="154520" y="682815"/>
                </a:lnTo>
                <a:lnTo>
                  <a:pt x="213893" y="692061"/>
                </a:lnTo>
                <a:lnTo>
                  <a:pt x="279425" y="697915"/>
                </a:lnTo>
                <a:lnTo>
                  <a:pt x="349669" y="699960"/>
                </a:lnTo>
                <a:lnTo>
                  <a:pt x="419912" y="697915"/>
                </a:lnTo>
                <a:lnTo>
                  <a:pt x="485432" y="692061"/>
                </a:lnTo>
                <a:lnTo>
                  <a:pt x="544817" y="682815"/>
                </a:lnTo>
                <a:lnTo>
                  <a:pt x="596620" y="670585"/>
                </a:lnTo>
                <a:lnTo>
                  <a:pt x="639406" y="655764"/>
                </a:lnTo>
                <a:lnTo>
                  <a:pt x="692200" y="620052"/>
                </a:lnTo>
                <a:lnTo>
                  <a:pt x="699338" y="599960"/>
                </a:lnTo>
                <a:lnTo>
                  <a:pt x="699338" y="549973"/>
                </a:lnTo>
                <a:lnTo>
                  <a:pt x="699338" y="499973"/>
                </a:lnTo>
                <a:lnTo>
                  <a:pt x="699338" y="399986"/>
                </a:lnTo>
                <a:close/>
              </a:path>
              <a:path w="699770" h="949960">
                <a:moveTo>
                  <a:pt x="699338" y="149999"/>
                </a:moveTo>
                <a:lnTo>
                  <a:pt x="692200" y="170091"/>
                </a:lnTo>
                <a:lnTo>
                  <a:pt x="671741" y="188823"/>
                </a:lnTo>
                <a:lnTo>
                  <a:pt x="639406" y="205803"/>
                </a:lnTo>
                <a:lnTo>
                  <a:pt x="624408" y="211010"/>
                </a:lnTo>
                <a:lnTo>
                  <a:pt x="624408" y="324993"/>
                </a:lnTo>
                <a:lnTo>
                  <a:pt x="622617" y="335216"/>
                </a:lnTo>
                <a:lnTo>
                  <a:pt x="617537" y="343115"/>
                </a:lnTo>
                <a:lnTo>
                  <a:pt x="609650" y="348195"/>
                </a:lnTo>
                <a:lnTo>
                  <a:pt x="599427" y="349986"/>
                </a:lnTo>
                <a:lnTo>
                  <a:pt x="589203" y="348195"/>
                </a:lnTo>
                <a:lnTo>
                  <a:pt x="581329" y="343115"/>
                </a:lnTo>
                <a:lnTo>
                  <a:pt x="576249" y="335216"/>
                </a:lnTo>
                <a:lnTo>
                  <a:pt x="574459" y="324993"/>
                </a:lnTo>
                <a:lnTo>
                  <a:pt x="576249" y="314756"/>
                </a:lnTo>
                <a:lnTo>
                  <a:pt x="581329" y="306870"/>
                </a:lnTo>
                <a:lnTo>
                  <a:pt x="589203" y="301790"/>
                </a:lnTo>
                <a:lnTo>
                  <a:pt x="599427" y="299986"/>
                </a:lnTo>
                <a:lnTo>
                  <a:pt x="609650" y="301790"/>
                </a:lnTo>
                <a:lnTo>
                  <a:pt x="617537" y="306870"/>
                </a:lnTo>
                <a:lnTo>
                  <a:pt x="622617" y="314756"/>
                </a:lnTo>
                <a:lnTo>
                  <a:pt x="624408" y="324993"/>
                </a:lnTo>
                <a:lnTo>
                  <a:pt x="624408" y="211010"/>
                </a:lnTo>
                <a:lnTo>
                  <a:pt x="544817" y="232854"/>
                </a:lnTo>
                <a:lnTo>
                  <a:pt x="485432" y="242100"/>
                </a:lnTo>
                <a:lnTo>
                  <a:pt x="419912" y="247954"/>
                </a:lnTo>
                <a:lnTo>
                  <a:pt x="349669" y="249999"/>
                </a:lnTo>
                <a:lnTo>
                  <a:pt x="279425" y="247954"/>
                </a:lnTo>
                <a:lnTo>
                  <a:pt x="213893" y="242100"/>
                </a:lnTo>
                <a:lnTo>
                  <a:pt x="154520" y="232854"/>
                </a:lnTo>
                <a:lnTo>
                  <a:pt x="102717" y="220624"/>
                </a:lnTo>
                <a:lnTo>
                  <a:pt x="59931" y="205803"/>
                </a:lnTo>
                <a:lnTo>
                  <a:pt x="7137" y="170091"/>
                </a:lnTo>
                <a:lnTo>
                  <a:pt x="0" y="149999"/>
                </a:lnTo>
                <a:lnTo>
                  <a:pt x="0" y="349986"/>
                </a:lnTo>
                <a:lnTo>
                  <a:pt x="27584" y="388810"/>
                </a:lnTo>
                <a:lnTo>
                  <a:pt x="102717" y="420611"/>
                </a:lnTo>
                <a:lnTo>
                  <a:pt x="154520" y="432841"/>
                </a:lnTo>
                <a:lnTo>
                  <a:pt x="213893" y="442087"/>
                </a:lnTo>
                <a:lnTo>
                  <a:pt x="279425" y="447941"/>
                </a:lnTo>
                <a:lnTo>
                  <a:pt x="349669" y="449973"/>
                </a:lnTo>
                <a:lnTo>
                  <a:pt x="419912" y="447941"/>
                </a:lnTo>
                <a:lnTo>
                  <a:pt x="485432" y="442087"/>
                </a:lnTo>
                <a:lnTo>
                  <a:pt x="544817" y="432841"/>
                </a:lnTo>
                <a:lnTo>
                  <a:pt x="596620" y="420611"/>
                </a:lnTo>
                <a:lnTo>
                  <a:pt x="639406" y="405790"/>
                </a:lnTo>
                <a:lnTo>
                  <a:pt x="692200" y="370078"/>
                </a:lnTo>
                <a:lnTo>
                  <a:pt x="699338" y="349986"/>
                </a:lnTo>
                <a:lnTo>
                  <a:pt x="699338" y="299986"/>
                </a:lnTo>
                <a:lnTo>
                  <a:pt x="699338" y="249999"/>
                </a:lnTo>
                <a:lnTo>
                  <a:pt x="699338" y="149999"/>
                </a:lnTo>
                <a:close/>
              </a:path>
              <a:path w="699770" h="949960">
                <a:moveTo>
                  <a:pt x="699338" y="100012"/>
                </a:moveTo>
                <a:lnTo>
                  <a:pt x="671855" y="61087"/>
                </a:lnTo>
                <a:lnTo>
                  <a:pt x="596925" y="29298"/>
                </a:lnTo>
                <a:lnTo>
                  <a:pt x="545172" y="17081"/>
                </a:lnTo>
                <a:lnTo>
                  <a:pt x="485775" y="7861"/>
                </a:lnTo>
                <a:lnTo>
                  <a:pt x="420141" y="2032"/>
                </a:lnTo>
                <a:lnTo>
                  <a:pt x="349669" y="0"/>
                </a:lnTo>
                <a:lnTo>
                  <a:pt x="279196" y="2032"/>
                </a:lnTo>
                <a:lnTo>
                  <a:pt x="213563" y="7861"/>
                </a:lnTo>
                <a:lnTo>
                  <a:pt x="154165" y="17081"/>
                </a:lnTo>
                <a:lnTo>
                  <a:pt x="102412" y="29298"/>
                </a:lnTo>
                <a:lnTo>
                  <a:pt x="59715" y="44094"/>
                </a:lnTo>
                <a:lnTo>
                  <a:pt x="7099" y="79857"/>
                </a:lnTo>
                <a:lnTo>
                  <a:pt x="0" y="100012"/>
                </a:lnTo>
                <a:lnTo>
                  <a:pt x="7099" y="120154"/>
                </a:lnTo>
                <a:lnTo>
                  <a:pt x="59715" y="155917"/>
                </a:lnTo>
                <a:lnTo>
                  <a:pt x="102412" y="170713"/>
                </a:lnTo>
                <a:lnTo>
                  <a:pt x="154165" y="182918"/>
                </a:lnTo>
                <a:lnTo>
                  <a:pt x="213563" y="192138"/>
                </a:lnTo>
                <a:lnTo>
                  <a:pt x="279196" y="197967"/>
                </a:lnTo>
                <a:lnTo>
                  <a:pt x="349669" y="199999"/>
                </a:lnTo>
                <a:lnTo>
                  <a:pt x="420141" y="197967"/>
                </a:lnTo>
                <a:lnTo>
                  <a:pt x="485775" y="192138"/>
                </a:lnTo>
                <a:lnTo>
                  <a:pt x="545172" y="182918"/>
                </a:lnTo>
                <a:lnTo>
                  <a:pt x="596925" y="170713"/>
                </a:lnTo>
                <a:lnTo>
                  <a:pt x="639622" y="155917"/>
                </a:lnTo>
                <a:lnTo>
                  <a:pt x="692238" y="120154"/>
                </a:lnTo>
                <a:lnTo>
                  <a:pt x="699338" y="100012"/>
                </a:lnTo>
                <a:close/>
              </a:path>
            </a:pathLst>
          </a:custGeom>
          <a:solidFill>
            <a:srgbClr val="006EBE"/>
          </a:solidFill>
        </p:spPr>
        <p:txBody>
          <a:bodyPr wrap="square" lIns="0" tIns="0" rIns="0" bIns="0" rtlCol="0"/>
          <a:lstStyle/>
          <a:p>
            <a:endParaRPr sz="2400"/>
          </a:p>
        </p:txBody>
      </p:sp>
      <p:sp>
        <p:nvSpPr>
          <p:cNvPr id="5" name="object 5"/>
          <p:cNvSpPr/>
          <p:nvPr/>
        </p:nvSpPr>
        <p:spPr>
          <a:xfrm>
            <a:off x="7415734" y="2428105"/>
            <a:ext cx="818727" cy="991447"/>
          </a:xfrm>
          <a:custGeom>
            <a:avLst/>
            <a:gdLst/>
            <a:ahLst/>
            <a:cxnLst/>
            <a:rect l="l" t="t" r="r" b="b"/>
            <a:pathLst>
              <a:path w="614045" h="743585">
                <a:moveTo>
                  <a:pt x="401002" y="520052"/>
                </a:moveTo>
                <a:lnTo>
                  <a:pt x="359587" y="499325"/>
                </a:lnTo>
                <a:lnTo>
                  <a:pt x="356565" y="489610"/>
                </a:lnTo>
                <a:lnTo>
                  <a:pt x="353110" y="480250"/>
                </a:lnTo>
                <a:lnTo>
                  <a:pt x="349885" y="472948"/>
                </a:lnTo>
                <a:lnTo>
                  <a:pt x="349123" y="471246"/>
                </a:lnTo>
                <a:lnTo>
                  <a:pt x="344525" y="462584"/>
                </a:lnTo>
                <a:lnTo>
                  <a:pt x="359587" y="418312"/>
                </a:lnTo>
                <a:lnTo>
                  <a:pt x="340753" y="399465"/>
                </a:lnTo>
                <a:lnTo>
                  <a:pt x="325691" y="384390"/>
                </a:lnTo>
                <a:lnTo>
                  <a:pt x="281457" y="399465"/>
                </a:lnTo>
                <a:lnTo>
                  <a:pt x="272669" y="394855"/>
                </a:lnTo>
                <a:lnTo>
                  <a:pt x="271094" y="394182"/>
                </a:lnTo>
                <a:lnTo>
                  <a:pt x="271094" y="543610"/>
                </a:lnTo>
                <a:lnTo>
                  <a:pt x="265633" y="570941"/>
                </a:lnTo>
                <a:lnTo>
                  <a:pt x="250621" y="593420"/>
                </a:lnTo>
                <a:lnTo>
                  <a:pt x="228206" y="608660"/>
                </a:lnTo>
                <a:lnTo>
                  <a:pt x="200507" y="614273"/>
                </a:lnTo>
                <a:lnTo>
                  <a:pt x="172796" y="608660"/>
                </a:lnTo>
                <a:lnTo>
                  <a:pt x="150380" y="593420"/>
                </a:lnTo>
                <a:lnTo>
                  <a:pt x="135382" y="570941"/>
                </a:lnTo>
                <a:lnTo>
                  <a:pt x="129908" y="543610"/>
                </a:lnTo>
                <a:lnTo>
                  <a:pt x="135432" y="516280"/>
                </a:lnTo>
                <a:lnTo>
                  <a:pt x="135509" y="515874"/>
                </a:lnTo>
                <a:lnTo>
                  <a:pt x="150736" y="493445"/>
                </a:lnTo>
                <a:lnTo>
                  <a:pt x="173189" y="478434"/>
                </a:lnTo>
                <a:lnTo>
                  <a:pt x="200507" y="472948"/>
                </a:lnTo>
                <a:lnTo>
                  <a:pt x="228206" y="478561"/>
                </a:lnTo>
                <a:lnTo>
                  <a:pt x="250621" y="493801"/>
                </a:lnTo>
                <a:lnTo>
                  <a:pt x="265633" y="516280"/>
                </a:lnTo>
                <a:lnTo>
                  <a:pt x="271094" y="543610"/>
                </a:lnTo>
                <a:lnTo>
                  <a:pt x="271094" y="394182"/>
                </a:lnTo>
                <a:lnTo>
                  <a:pt x="263448" y="390867"/>
                </a:lnTo>
                <a:lnTo>
                  <a:pt x="254050" y="387413"/>
                </a:lnTo>
                <a:lnTo>
                  <a:pt x="244741" y="384390"/>
                </a:lnTo>
                <a:lnTo>
                  <a:pt x="224040" y="342938"/>
                </a:lnTo>
                <a:lnTo>
                  <a:pt x="176974" y="342938"/>
                </a:lnTo>
                <a:lnTo>
                  <a:pt x="156260" y="384390"/>
                </a:lnTo>
                <a:lnTo>
                  <a:pt x="146558" y="387413"/>
                </a:lnTo>
                <a:lnTo>
                  <a:pt x="137198" y="390867"/>
                </a:lnTo>
                <a:lnTo>
                  <a:pt x="128193" y="394855"/>
                </a:lnTo>
                <a:lnTo>
                  <a:pt x="119545" y="399465"/>
                </a:lnTo>
                <a:lnTo>
                  <a:pt x="75311" y="384390"/>
                </a:lnTo>
                <a:lnTo>
                  <a:pt x="42367" y="417372"/>
                </a:lnTo>
                <a:lnTo>
                  <a:pt x="56489" y="461645"/>
                </a:lnTo>
                <a:lnTo>
                  <a:pt x="51879" y="470433"/>
                </a:lnTo>
                <a:lnTo>
                  <a:pt x="47891" y="479666"/>
                </a:lnTo>
                <a:lnTo>
                  <a:pt x="44437" y="489077"/>
                </a:lnTo>
                <a:lnTo>
                  <a:pt x="41427" y="498386"/>
                </a:lnTo>
                <a:lnTo>
                  <a:pt x="0" y="519112"/>
                </a:lnTo>
                <a:lnTo>
                  <a:pt x="0" y="566216"/>
                </a:lnTo>
                <a:lnTo>
                  <a:pt x="41427" y="586943"/>
                </a:lnTo>
                <a:lnTo>
                  <a:pt x="44437" y="596658"/>
                </a:lnTo>
                <a:lnTo>
                  <a:pt x="47891" y="606031"/>
                </a:lnTo>
                <a:lnTo>
                  <a:pt x="51879" y="615035"/>
                </a:lnTo>
                <a:lnTo>
                  <a:pt x="56489" y="623684"/>
                </a:lnTo>
                <a:lnTo>
                  <a:pt x="42367" y="667969"/>
                </a:lnTo>
                <a:lnTo>
                  <a:pt x="75311" y="700938"/>
                </a:lnTo>
                <a:lnTo>
                  <a:pt x="119545" y="686816"/>
                </a:lnTo>
                <a:lnTo>
                  <a:pt x="128193" y="691413"/>
                </a:lnTo>
                <a:lnTo>
                  <a:pt x="137198" y="695401"/>
                </a:lnTo>
                <a:lnTo>
                  <a:pt x="146558" y="698868"/>
                </a:lnTo>
                <a:lnTo>
                  <a:pt x="156260" y="701878"/>
                </a:lnTo>
                <a:lnTo>
                  <a:pt x="176974" y="743331"/>
                </a:lnTo>
                <a:lnTo>
                  <a:pt x="224040" y="743331"/>
                </a:lnTo>
                <a:lnTo>
                  <a:pt x="244741" y="701878"/>
                </a:lnTo>
                <a:lnTo>
                  <a:pt x="254444" y="698868"/>
                </a:lnTo>
                <a:lnTo>
                  <a:pt x="263804" y="695413"/>
                </a:lnTo>
                <a:lnTo>
                  <a:pt x="272808" y="691413"/>
                </a:lnTo>
                <a:lnTo>
                  <a:pt x="281457" y="686816"/>
                </a:lnTo>
                <a:lnTo>
                  <a:pt x="325691" y="701878"/>
                </a:lnTo>
                <a:lnTo>
                  <a:pt x="340334" y="686816"/>
                </a:lnTo>
                <a:lnTo>
                  <a:pt x="358635" y="667969"/>
                </a:lnTo>
                <a:lnTo>
                  <a:pt x="344525" y="624636"/>
                </a:lnTo>
                <a:lnTo>
                  <a:pt x="349123" y="615975"/>
                </a:lnTo>
                <a:lnTo>
                  <a:pt x="349885" y="614273"/>
                </a:lnTo>
                <a:lnTo>
                  <a:pt x="353110" y="606971"/>
                </a:lnTo>
                <a:lnTo>
                  <a:pt x="356565" y="597611"/>
                </a:lnTo>
                <a:lnTo>
                  <a:pt x="359587" y="587895"/>
                </a:lnTo>
                <a:lnTo>
                  <a:pt x="401002" y="567169"/>
                </a:lnTo>
                <a:lnTo>
                  <a:pt x="401002" y="520052"/>
                </a:lnTo>
                <a:close/>
              </a:path>
              <a:path w="614045" h="743585">
                <a:moveTo>
                  <a:pt x="613727" y="177126"/>
                </a:moveTo>
                <a:lnTo>
                  <a:pt x="572312" y="156400"/>
                </a:lnTo>
                <a:lnTo>
                  <a:pt x="569302" y="146685"/>
                </a:lnTo>
                <a:lnTo>
                  <a:pt x="565848" y="137325"/>
                </a:lnTo>
                <a:lnTo>
                  <a:pt x="562610" y="130022"/>
                </a:lnTo>
                <a:lnTo>
                  <a:pt x="561860" y="128320"/>
                </a:lnTo>
                <a:lnTo>
                  <a:pt x="557250" y="119659"/>
                </a:lnTo>
                <a:lnTo>
                  <a:pt x="572312" y="75387"/>
                </a:lnTo>
                <a:lnTo>
                  <a:pt x="553491" y="56540"/>
                </a:lnTo>
                <a:lnTo>
                  <a:pt x="538429" y="41452"/>
                </a:lnTo>
                <a:lnTo>
                  <a:pt x="494182" y="56540"/>
                </a:lnTo>
                <a:lnTo>
                  <a:pt x="485533" y="51930"/>
                </a:lnTo>
                <a:lnTo>
                  <a:pt x="483831" y="51181"/>
                </a:lnTo>
                <a:lnTo>
                  <a:pt x="483831" y="200685"/>
                </a:lnTo>
                <a:lnTo>
                  <a:pt x="478231" y="228015"/>
                </a:lnTo>
                <a:lnTo>
                  <a:pt x="463003" y="250494"/>
                </a:lnTo>
                <a:lnTo>
                  <a:pt x="440550" y="265734"/>
                </a:lnTo>
                <a:lnTo>
                  <a:pt x="413232" y="271348"/>
                </a:lnTo>
                <a:lnTo>
                  <a:pt x="385521" y="265734"/>
                </a:lnTo>
                <a:lnTo>
                  <a:pt x="363105" y="250494"/>
                </a:lnTo>
                <a:lnTo>
                  <a:pt x="348107" y="228015"/>
                </a:lnTo>
                <a:lnTo>
                  <a:pt x="342633" y="200685"/>
                </a:lnTo>
                <a:lnTo>
                  <a:pt x="348246" y="173342"/>
                </a:lnTo>
                <a:lnTo>
                  <a:pt x="385927" y="135636"/>
                </a:lnTo>
                <a:lnTo>
                  <a:pt x="440944" y="135636"/>
                </a:lnTo>
                <a:lnTo>
                  <a:pt x="478358" y="173342"/>
                </a:lnTo>
                <a:lnTo>
                  <a:pt x="483831" y="200685"/>
                </a:lnTo>
                <a:lnTo>
                  <a:pt x="483831" y="51181"/>
                </a:lnTo>
                <a:lnTo>
                  <a:pt x="476542" y="47942"/>
                </a:lnTo>
                <a:lnTo>
                  <a:pt x="467182" y="44475"/>
                </a:lnTo>
                <a:lnTo>
                  <a:pt x="457479" y="41452"/>
                </a:lnTo>
                <a:lnTo>
                  <a:pt x="436765" y="0"/>
                </a:lnTo>
                <a:lnTo>
                  <a:pt x="389699" y="0"/>
                </a:lnTo>
                <a:lnTo>
                  <a:pt x="368998" y="41452"/>
                </a:lnTo>
                <a:lnTo>
                  <a:pt x="359283" y="44475"/>
                </a:lnTo>
                <a:lnTo>
                  <a:pt x="349935" y="47942"/>
                </a:lnTo>
                <a:lnTo>
                  <a:pt x="340931" y="51930"/>
                </a:lnTo>
                <a:lnTo>
                  <a:pt x="332282" y="56540"/>
                </a:lnTo>
                <a:lnTo>
                  <a:pt x="288048" y="41452"/>
                </a:lnTo>
                <a:lnTo>
                  <a:pt x="254152" y="75387"/>
                </a:lnTo>
                <a:lnTo>
                  <a:pt x="269214" y="119659"/>
                </a:lnTo>
                <a:lnTo>
                  <a:pt x="264617" y="128320"/>
                </a:lnTo>
                <a:lnTo>
                  <a:pt x="260629" y="137325"/>
                </a:lnTo>
                <a:lnTo>
                  <a:pt x="257175" y="146685"/>
                </a:lnTo>
                <a:lnTo>
                  <a:pt x="254152" y="156400"/>
                </a:lnTo>
                <a:lnTo>
                  <a:pt x="212737" y="177126"/>
                </a:lnTo>
                <a:lnTo>
                  <a:pt x="212737" y="224231"/>
                </a:lnTo>
                <a:lnTo>
                  <a:pt x="254152" y="244957"/>
                </a:lnTo>
                <a:lnTo>
                  <a:pt x="257048" y="254279"/>
                </a:lnTo>
                <a:lnTo>
                  <a:pt x="257175" y="254673"/>
                </a:lnTo>
                <a:lnTo>
                  <a:pt x="260629" y="264045"/>
                </a:lnTo>
                <a:lnTo>
                  <a:pt x="264553" y="272923"/>
                </a:lnTo>
                <a:lnTo>
                  <a:pt x="269214" y="281711"/>
                </a:lnTo>
                <a:lnTo>
                  <a:pt x="254152" y="325983"/>
                </a:lnTo>
                <a:lnTo>
                  <a:pt x="287096" y="358952"/>
                </a:lnTo>
                <a:lnTo>
                  <a:pt x="331343" y="343877"/>
                </a:lnTo>
                <a:lnTo>
                  <a:pt x="339991" y="348488"/>
                </a:lnTo>
                <a:lnTo>
                  <a:pt x="348996" y="352475"/>
                </a:lnTo>
                <a:lnTo>
                  <a:pt x="358343" y="355942"/>
                </a:lnTo>
                <a:lnTo>
                  <a:pt x="368058" y="358952"/>
                </a:lnTo>
                <a:lnTo>
                  <a:pt x="388759" y="400405"/>
                </a:lnTo>
                <a:lnTo>
                  <a:pt x="435825" y="400405"/>
                </a:lnTo>
                <a:lnTo>
                  <a:pt x="456539" y="358952"/>
                </a:lnTo>
                <a:lnTo>
                  <a:pt x="466242" y="355942"/>
                </a:lnTo>
                <a:lnTo>
                  <a:pt x="475602" y="352475"/>
                </a:lnTo>
                <a:lnTo>
                  <a:pt x="484593" y="348488"/>
                </a:lnTo>
                <a:lnTo>
                  <a:pt x="493242" y="343877"/>
                </a:lnTo>
                <a:lnTo>
                  <a:pt x="537489" y="358952"/>
                </a:lnTo>
                <a:lnTo>
                  <a:pt x="552983" y="343877"/>
                </a:lnTo>
                <a:lnTo>
                  <a:pt x="571373" y="325983"/>
                </a:lnTo>
                <a:lnTo>
                  <a:pt x="556310" y="281711"/>
                </a:lnTo>
                <a:lnTo>
                  <a:pt x="560997" y="273050"/>
                </a:lnTo>
                <a:lnTo>
                  <a:pt x="561797" y="271348"/>
                </a:lnTo>
                <a:lnTo>
                  <a:pt x="565378" y="263690"/>
                </a:lnTo>
                <a:lnTo>
                  <a:pt x="569150" y="254279"/>
                </a:lnTo>
                <a:lnTo>
                  <a:pt x="572312" y="244957"/>
                </a:lnTo>
                <a:lnTo>
                  <a:pt x="613727" y="224231"/>
                </a:lnTo>
                <a:lnTo>
                  <a:pt x="613727" y="177126"/>
                </a:lnTo>
                <a:close/>
              </a:path>
            </a:pathLst>
          </a:custGeom>
          <a:solidFill>
            <a:srgbClr val="00BAFF"/>
          </a:solidFill>
        </p:spPr>
        <p:txBody>
          <a:bodyPr wrap="square" lIns="0" tIns="0" rIns="0" bIns="0" rtlCol="0"/>
          <a:lstStyle/>
          <a:p>
            <a:endParaRPr sz="2400"/>
          </a:p>
        </p:txBody>
      </p:sp>
      <p:sp>
        <p:nvSpPr>
          <p:cNvPr id="6" name="object 6"/>
          <p:cNvSpPr txBox="1"/>
          <p:nvPr/>
        </p:nvSpPr>
        <p:spPr>
          <a:xfrm>
            <a:off x="7184473" y="3559387"/>
            <a:ext cx="1310640" cy="586507"/>
          </a:xfrm>
          <a:prstGeom prst="rect">
            <a:avLst/>
          </a:prstGeom>
        </p:spPr>
        <p:txBody>
          <a:bodyPr vert="horz" wrap="square" lIns="0" tIns="15240" rIns="0" bIns="0" rtlCol="0">
            <a:spAutoFit/>
          </a:bodyPr>
          <a:lstStyle/>
          <a:p>
            <a:pPr marL="16933" marR="6773">
              <a:lnSpc>
                <a:spcPct val="100699"/>
              </a:lnSpc>
              <a:spcBef>
                <a:spcPts val="120"/>
              </a:spcBef>
            </a:pPr>
            <a:r>
              <a:rPr sz="1867" b="1" spc="-13" dirty="0">
                <a:solidFill>
                  <a:srgbClr val="D9D9D9"/>
                </a:solidFill>
                <a:latin typeface="Calibri"/>
                <a:cs typeface="Calibri"/>
              </a:rPr>
              <a:t>Operational </a:t>
            </a:r>
            <a:r>
              <a:rPr sz="1867" b="1" dirty="0">
                <a:solidFill>
                  <a:srgbClr val="D9D9D9"/>
                </a:solidFill>
                <a:latin typeface="Calibri"/>
                <a:cs typeface="Calibri"/>
              </a:rPr>
              <a:t>data</a:t>
            </a:r>
            <a:r>
              <a:rPr sz="1867" b="1" spc="-47" dirty="0">
                <a:solidFill>
                  <a:srgbClr val="D9D9D9"/>
                </a:solidFill>
                <a:latin typeface="Calibri"/>
                <a:cs typeface="Calibri"/>
              </a:rPr>
              <a:t> </a:t>
            </a:r>
            <a:r>
              <a:rPr sz="1867" b="1" spc="-13" dirty="0">
                <a:solidFill>
                  <a:srgbClr val="D9D9D9"/>
                </a:solidFill>
                <a:latin typeface="Calibri"/>
                <a:cs typeface="Calibri"/>
              </a:rPr>
              <a:t>keeping</a:t>
            </a:r>
            <a:endParaRPr sz="1867">
              <a:latin typeface="Calibri"/>
              <a:cs typeface="Calibri"/>
            </a:endParaRPr>
          </a:p>
        </p:txBody>
      </p:sp>
      <p:sp>
        <p:nvSpPr>
          <p:cNvPr id="7" name="object 7"/>
          <p:cNvSpPr txBox="1"/>
          <p:nvPr/>
        </p:nvSpPr>
        <p:spPr>
          <a:xfrm>
            <a:off x="3396827" y="3559387"/>
            <a:ext cx="1012613" cy="304421"/>
          </a:xfrm>
          <a:prstGeom prst="rect">
            <a:avLst/>
          </a:prstGeom>
        </p:spPr>
        <p:txBody>
          <a:bodyPr vert="horz" wrap="square" lIns="0" tIns="16933" rIns="0" bIns="0" rtlCol="0">
            <a:spAutoFit/>
          </a:bodyPr>
          <a:lstStyle/>
          <a:p>
            <a:pPr marL="16933">
              <a:spcBef>
                <a:spcPts val="133"/>
              </a:spcBef>
            </a:pPr>
            <a:r>
              <a:rPr sz="1867" b="1" spc="-13" dirty="0">
                <a:solidFill>
                  <a:srgbClr val="D9D9D9"/>
                </a:solidFill>
                <a:latin typeface="Calibri"/>
                <a:cs typeface="Calibri"/>
              </a:rPr>
              <a:t>Analytical</a:t>
            </a:r>
            <a:endParaRPr sz="1867">
              <a:latin typeface="Calibri"/>
              <a:cs typeface="Calibri"/>
            </a:endParaRPr>
          </a:p>
        </p:txBody>
      </p:sp>
      <p:sp>
        <p:nvSpPr>
          <p:cNvPr id="8" name="object 8"/>
          <p:cNvSpPr txBox="1"/>
          <p:nvPr/>
        </p:nvSpPr>
        <p:spPr>
          <a:xfrm>
            <a:off x="3116410" y="3845899"/>
            <a:ext cx="1622213" cy="304421"/>
          </a:xfrm>
          <a:prstGeom prst="rect">
            <a:avLst/>
          </a:prstGeom>
        </p:spPr>
        <p:txBody>
          <a:bodyPr vert="horz" wrap="square" lIns="0" tIns="16933" rIns="0" bIns="0" rtlCol="0">
            <a:spAutoFit/>
          </a:bodyPr>
          <a:lstStyle/>
          <a:p>
            <a:pPr marL="16933">
              <a:spcBef>
                <a:spcPts val="133"/>
              </a:spcBef>
            </a:pPr>
            <a:r>
              <a:rPr sz="1867" b="1" dirty="0">
                <a:solidFill>
                  <a:srgbClr val="D9D9D9"/>
                </a:solidFill>
                <a:latin typeface="Calibri"/>
                <a:cs typeface="Calibri"/>
              </a:rPr>
              <a:t>decision</a:t>
            </a:r>
            <a:r>
              <a:rPr sz="1867" b="1" spc="-53" dirty="0">
                <a:solidFill>
                  <a:srgbClr val="D9D9D9"/>
                </a:solidFill>
                <a:latin typeface="Calibri"/>
                <a:cs typeface="Calibri"/>
              </a:rPr>
              <a:t> </a:t>
            </a:r>
            <a:r>
              <a:rPr sz="1867" b="1" spc="-13" dirty="0">
                <a:solidFill>
                  <a:srgbClr val="D9D9D9"/>
                </a:solidFill>
                <a:latin typeface="Calibri"/>
                <a:cs typeface="Calibri"/>
              </a:rPr>
              <a:t>making</a:t>
            </a:r>
            <a:endParaRPr sz="1867">
              <a:latin typeface="Calibri"/>
              <a:cs typeface="Calibri"/>
            </a:endParaRPr>
          </a:p>
        </p:txBody>
      </p:sp>
      <p:grpSp>
        <p:nvGrpSpPr>
          <p:cNvPr id="9" name="object 9"/>
          <p:cNvGrpSpPr/>
          <p:nvPr/>
        </p:nvGrpSpPr>
        <p:grpSpPr>
          <a:xfrm>
            <a:off x="8674609" y="2056384"/>
            <a:ext cx="3101340" cy="1784773"/>
            <a:chOff x="6505956" y="1542288"/>
            <a:chExt cx="2326005" cy="1338580"/>
          </a:xfrm>
        </p:grpSpPr>
        <p:pic>
          <p:nvPicPr>
            <p:cNvPr id="10" name="object 10"/>
            <p:cNvPicPr/>
            <p:nvPr/>
          </p:nvPicPr>
          <p:blipFill>
            <a:blip r:embed="rId3" cstate="print"/>
            <a:stretch>
              <a:fillRect/>
            </a:stretch>
          </p:blipFill>
          <p:spPr>
            <a:xfrm>
              <a:off x="6510528" y="1542288"/>
              <a:ext cx="2321052" cy="1338072"/>
            </a:xfrm>
            <a:prstGeom prst="rect">
              <a:avLst/>
            </a:prstGeom>
          </p:spPr>
        </p:pic>
        <p:pic>
          <p:nvPicPr>
            <p:cNvPr id="11" name="object 11"/>
            <p:cNvPicPr/>
            <p:nvPr/>
          </p:nvPicPr>
          <p:blipFill>
            <a:blip r:embed="rId4" cstate="print"/>
            <a:stretch>
              <a:fillRect/>
            </a:stretch>
          </p:blipFill>
          <p:spPr>
            <a:xfrm>
              <a:off x="6505956" y="1584947"/>
              <a:ext cx="2065020" cy="1263408"/>
            </a:xfrm>
            <a:prstGeom prst="rect">
              <a:avLst/>
            </a:prstGeom>
          </p:spPr>
        </p:pic>
      </p:grpSp>
      <p:sp>
        <p:nvSpPr>
          <p:cNvPr id="12" name="object 12"/>
          <p:cNvSpPr txBox="1"/>
          <p:nvPr/>
        </p:nvSpPr>
        <p:spPr>
          <a:xfrm>
            <a:off x="8743695" y="2088897"/>
            <a:ext cx="2975187" cy="1511718"/>
          </a:xfrm>
          <a:prstGeom prst="rect">
            <a:avLst/>
          </a:prstGeom>
          <a:noFill/>
          <a:ln w="9144">
            <a:noFill/>
          </a:ln>
        </p:spPr>
        <p:txBody>
          <a:bodyPr vert="horz" wrap="square" lIns="0" tIns="107527" rIns="0" bIns="0" rtlCol="0">
            <a:spAutoFit/>
          </a:bodyPr>
          <a:lstStyle/>
          <a:p>
            <a:pPr marL="580797" indent="-457189">
              <a:spcBef>
                <a:spcPts val="847"/>
              </a:spcBef>
              <a:buFont typeface="Courier New"/>
              <a:buChar char="o"/>
              <a:tabLst>
                <a:tab pos="580797" algn="l"/>
              </a:tabLst>
            </a:pPr>
            <a:r>
              <a:rPr sz="1867" dirty="0">
                <a:solidFill>
                  <a:srgbClr val="FFFFFF"/>
                </a:solidFill>
                <a:latin typeface="Calibri"/>
                <a:cs typeface="Calibri"/>
              </a:rPr>
              <a:t>Receive</a:t>
            </a:r>
            <a:r>
              <a:rPr sz="1867" spc="-60" dirty="0">
                <a:solidFill>
                  <a:srgbClr val="FFFFFF"/>
                </a:solidFill>
                <a:latin typeface="Calibri"/>
                <a:cs typeface="Calibri"/>
              </a:rPr>
              <a:t> </a:t>
            </a:r>
            <a:r>
              <a:rPr sz="1867" spc="-13" dirty="0">
                <a:solidFill>
                  <a:srgbClr val="FFFFFF"/>
                </a:solidFill>
                <a:latin typeface="Calibri"/>
                <a:cs typeface="Calibri"/>
              </a:rPr>
              <a:t>orders</a:t>
            </a:r>
            <a:endParaRPr sz="1867" dirty="0">
              <a:latin typeface="Calibri"/>
              <a:cs typeface="Calibri"/>
            </a:endParaRPr>
          </a:p>
          <a:p>
            <a:pPr marL="580797" indent="-457189">
              <a:buFont typeface="Courier New"/>
              <a:buChar char="o"/>
              <a:tabLst>
                <a:tab pos="580797" algn="l"/>
              </a:tabLst>
            </a:pPr>
            <a:r>
              <a:rPr sz="1867" dirty="0">
                <a:solidFill>
                  <a:srgbClr val="FFFFFF"/>
                </a:solidFill>
                <a:latin typeface="Calibri"/>
                <a:cs typeface="Calibri"/>
              </a:rPr>
              <a:t>React</a:t>
            </a:r>
            <a:r>
              <a:rPr sz="1867" spc="-27" dirty="0">
                <a:solidFill>
                  <a:srgbClr val="FFFFFF"/>
                </a:solidFill>
                <a:latin typeface="Calibri"/>
                <a:cs typeface="Calibri"/>
              </a:rPr>
              <a:t> </a:t>
            </a:r>
            <a:r>
              <a:rPr sz="1867" dirty="0">
                <a:solidFill>
                  <a:srgbClr val="FFFFFF"/>
                </a:solidFill>
                <a:latin typeface="Calibri"/>
                <a:cs typeface="Calibri"/>
              </a:rPr>
              <a:t>to</a:t>
            </a:r>
            <a:r>
              <a:rPr sz="1867" spc="-27" dirty="0">
                <a:solidFill>
                  <a:srgbClr val="FFFFFF"/>
                </a:solidFill>
                <a:latin typeface="Calibri"/>
                <a:cs typeface="Calibri"/>
              </a:rPr>
              <a:t> </a:t>
            </a:r>
            <a:r>
              <a:rPr sz="1867" spc="-13" dirty="0">
                <a:solidFill>
                  <a:srgbClr val="FFFFFF"/>
                </a:solidFill>
                <a:latin typeface="Calibri"/>
                <a:cs typeface="Calibri"/>
              </a:rPr>
              <a:t>complaints</a:t>
            </a:r>
            <a:endParaRPr sz="1867" dirty="0">
              <a:latin typeface="Calibri"/>
              <a:cs typeface="Calibri"/>
            </a:endParaRPr>
          </a:p>
          <a:p>
            <a:pPr marL="580797" indent="-457189">
              <a:buFont typeface="Courier New"/>
              <a:buChar char="o"/>
              <a:tabLst>
                <a:tab pos="580797" algn="l"/>
              </a:tabLst>
            </a:pPr>
            <a:r>
              <a:rPr sz="1867" dirty="0">
                <a:solidFill>
                  <a:srgbClr val="FFFFFF"/>
                </a:solidFill>
                <a:latin typeface="Calibri"/>
                <a:cs typeface="Calibri"/>
              </a:rPr>
              <a:t>Fill</a:t>
            </a:r>
            <a:r>
              <a:rPr sz="1867" spc="-33" dirty="0">
                <a:solidFill>
                  <a:srgbClr val="FFFFFF"/>
                </a:solidFill>
                <a:latin typeface="Calibri"/>
                <a:cs typeface="Calibri"/>
              </a:rPr>
              <a:t> </a:t>
            </a:r>
            <a:r>
              <a:rPr sz="1867" dirty="0">
                <a:solidFill>
                  <a:srgbClr val="FFFFFF"/>
                </a:solidFill>
                <a:latin typeface="Calibri"/>
                <a:cs typeface="Calibri"/>
              </a:rPr>
              <a:t>up</a:t>
            </a:r>
            <a:r>
              <a:rPr sz="1867" spc="-13" dirty="0">
                <a:solidFill>
                  <a:srgbClr val="FFFFFF"/>
                </a:solidFill>
                <a:latin typeface="Calibri"/>
                <a:cs typeface="Calibri"/>
              </a:rPr>
              <a:t> stock</a:t>
            </a:r>
            <a:endParaRPr sz="1867" dirty="0">
              <a:latin typeface="Calibri"/>
              <a:cs typeface="Calibri"/>
            </a:endParaRPr>
          </a:p>
          <a:p>
            <a:pPr marL="785687">
              <a:spcBef>
                <a:spcPts val="2267"/>
              </a:spcBef>
            </a:pPr>
            <a:r>
              <a:rPr sz="1600" spc="-27" dirty="0">
                <a:solidFill>
                  <a:srgbClr val="FFFFFF"/>
                </a:solidFill>
                <a:latin typeface="Symbol"/>
                <a:cs typeface="Symbol"/>
              </a:rPr>
              <a:t></a:t>
            </a:r>
            <a:r>
              <a:rPr sz="1600" spc="-173" dirty="0">
                <a:solidFill>
                  <a:srgbClr val="FFFFFF"/>
                </a:solidFill>
                <a:latin typeface="Times New Roman"/>
                <a:cs typeface="Times New Roman"/>
              </a:rPr>
              <a:t> </a:t>
            </a:r>
            <a:r>
              <a:rPr sz="1600" b="1" dirty="0">
                <a:solidFill>
                  <a:srgbClr val="CCF3FF"/>
                </a:solidFill>
                <a:latin typeface="Calibri"/>
                <a:cs typeface="Calibri"/>
              </a:rPr>
              <a:t>Turn</a:t>
            </a:r>
            <a:r>
              <a:rPr sz="1600" b="1" spc="-13" dirty="0">
                <a:solidFill>
                  <a:srgbClr val="CCF3FF"/>
                </a:solidFill>
                <a:latin typeface="Calibri"/>
                <a:cs typeface="Calibri"/>
              </a:rPr>
              <a:t> </a:t>
            </a:r>
            <a:r>
              <a:rPr sz="1600" b="1" dirty="0">
                <a:solidFill>
                  <a:srgbClr val="CCF3FF"/>
                </a:solidFill>
                <a:latin typeface="Calibri"/>
                <a:cs typeface="Calibri"/>
              </a:rPr>
              <a:t>the</a:t>
            </a:r>
            <a:r>
              <a:rPr sz="1600" b="1" spc="-27" dirty="0">
                <a:solidFill>
                  <a:srgbClr val="CCF3FF"/>
                </a:solidFill>
                <a:latin typeface="Calibri"/>
                <a:cs typeface="Calibri"/>
              </a:rPr>
              <a:t> w</a:t>
            </a:r>
            <a:r>
              <a:rPr lang="en-IN" sz="1600" b="1" spc="-27" dirty="0">
                <a:solidFill>
                  <a:srgbClr val="CCF3FF"/>
                </a:solidFill>
                <a:latin typeface="Calibri"/>
                <a:cs typeface="Calibri"/>
              </a:rPr>
              <a:t>h</a:t>
            </a:r>
            <a:r>
              <a:rPr sz="1600" b="1" spc="-27" dirty="0">
                <a:solidFill>
                  <a:srgbClr val="CCF3FF"/>
                </a:solidFill>
                <a:latin typeface="Calibri"/>
                <a:cs typeface="Calibri"/>
              </a:rPr>
              <a:t>eel</a:t>
            </a:r>
            <a:endParaRPr sz="1600" dirty="0">
              <a:latin typeface="Calibri"/>
              <a:cs typeface="Calibri"/>
            </a:endParaRPr>
          </a:p>
        </p:txBody>
      </p:sp>
      <p:grpSp>
        <p:nvGrpSpPr>
          <p:cNvPr id="13" name="object 13"/>
          <p:cNvGrpSpPr/>
          <p:nvPr/>
        </p:nvGrpSpPr>
        <p:grpSpPr>
          <a:xfrm>
            <a:off x="255015" y="1723476"/>
            <a:ext cx="3085253" cy="2014220"/>
            <a:chOff x="144779" y="1467611"/>
            <a:chExt cx="2313940" cy="1510665"/>
          </a:xfrm>
        </p:grpSpPr>
        <p:pic>
          <p:nvPicPr>
            <p:cNvPr id="14" name="object 14"/>
            <p:cNvPicPr/>
            <p:nvPr/>
          </p:nvPicPr>
          <p:blipFill>
            <a:blip r:embed="rId5" cstate="print"/>
            <a:stretch>
              <a:fillRect/>
            </a:stretch>
          </p:blipFill>
          <p:spPr>
            <a:xfrm>
              <a:off x="144779" y="1467611"/>
              <a:ext cx="2302764" cy="1487424"/>
            </a:xfrm>
            <a:prstGeom prst="rect">
              <a:avLst/>
            </a:prstGeom>
          </p:spPr>
        </p:pic>
        <p:pic>
          <p:nvPicPr>
            <p:cNvPr id="15" name="object 15"/>
            <p:cNvPicPr/>
            <p:nvPr/>
          </p:nvPicPr>
          <p:blipFill>
            <a:blip r:embed="rId6" cstate="print"/>
            <a:stretch>
              <a:fillRect/>
            </a:stretch>
          </p:blipFill>
          <p:spPr>
            <a:xfrm>
              <a:off x="153923" y="1519427"/>
              <a:ext cx="2304288" cy="1458468"/>
            </a:xfrm>
            <a:prstGeom prst="rect">
              <a:avLst/>
            </a:prstGeom>
          </p:spPr>
        </p:pic>
      </p:grpSp>
      <p:sp>
        <p:nvSpPr>
          <p:cNvPr id="16" name="object 16"/>
          <p:cNvSpPr txBox="1"/>
          <p:nvPr/>
        </p:nvSpPr>
        <p:spPr>
          <a:xfrm>
            <a:off x="147650" y="1669774"/>
            <a:ext cx="3363646" cy="1646605"/>
          </a:xfrm>
          <a:prstGeom prst="rect">
            <a:avLst/>
          </a:prstGeom>
          <a:noFill/>
          <a:ln w="9144">
            <a:noFill/>
          </a:ln>
        </p:spPr>
        <p:txBody>
          <a:bodyPr vert="horz" wrap="square" lIns="0" tIns="109220" rIns="0" bIns="0" rtlCol="0">
            <a:spAutoFit/>
          </a:bodyPr>
          <a:lstStyle/>
          <a:p>
            <a:pPr marL="578259" indent="-457189">
              <a:spcBef>
                <a:spcPts val="860"/>
              </a:spcBef>
              <a:buFont typeface="Courier New"/>
              <a:buChar char="o"/>
              <a:tabLst>
                <a:tab pos="578259" algn="l"/>
              </a:tabLst>
            </a:pPr>
            <a:r>
              <a:rPr sz="1400" dirty="0">
                <a:solidFill>
                  <a:srgbClr val="FFFFFF"/>
                </a:solidFill>
                <a:latin typeface="Calibri"/>
                <a:cs typeface="Calibri"/>
              </a:rPr>
              <a:t>What's</a:t>
            </a:r>
            <a:r>
              <a:rPr sz="1400" spc="-53" dirty="0">
                <a:solidFill>
                  <a:srgbClr val="FFFFFF"/>
                </a:solidFill>
                <a:latin typeface="Calibri"/>
                <a:cs typeface="Calibri"/>
              </a:rPr>
              <a:t> </a:t>
            </a:r>
            <a:r>
              <a:rPr sz="1400" dirty="0">
                <a:solidFill>
                  <a:srgbClr val="FFFFFF"/>
                </a:solidFill>
                <a:latin typeface="Calibri"/>
                <a:cs typeface="Calibri"/>
              </a:rPr>
              <a:t>the</a:t>
            </a:r>
            <a:r>
              <a:rPr sz="1400" spc="-20" dirty="0">
                <a:solidFill>
                  <a:srgbClr val="FFFFFF"/>
                </a:solidFill>
                <a:latin typeface="Calibri"/>
                <a:cs typeface="Calibri"/>
              </a:rPr>
              <a:t> </a:t>
            </a:r>
            <a:r>
              <a:rPr sz="1400" dirty="0">
                <a:solidFill>
                  <a:srgbClr val="FFFFFF"/>
                </a:solidFill>
                <a:latin typeface="Calibri"/>
                <a:cs typeface="Calibri"/>
              </a:rPr>
              <a:t>best</a:t>
            </a:r>
            <a:r>
              <a:rPr sz="1400" spc="-33" dirty="0">
                <a:solidFill>
                  <a:srgbClr val="FFFFFF"/>
                </a:solidFill>
                <a:latin typeface="Calibri"/>
                <a:cs typeface="Calibri"/>
              </a:rPr>
              <a:t> </a:t>
            </a:r>
            <a:r>
              <a:rPr sz="1400" spc="-13" dirty="0">
                <a:solidFill>
                  <a:srgbClr val="FFFFFF"/>
                </a:solidFill>
                <a:latin typeface="Calibri"/>
                <a:cs typeface="Calibri"/>
              </a:rPr>
              <a:t>category?</a:t>
            </a:r>
            <a:endParaRPr sz="1400" dirty="0">
              <a:latin typeface="Calibri"/>
              <a:cs typeface="Calibri"/>
            </a:endParaRPr>
          </a:p>
          <a:p>
            <a:pPr marL="578259" marR="139697" indent="-458035">
              <a:spcBef>
                <a:spcPts val="7"/>
              </a:spcBef>
              <a:buFont typeface="Courier New"/>
              <a:buChar char="o"/>
              <a:tabLst>
                <a:tab pos="578259" algn="l"/>
              </a:tabLst>
            </a:pPr>
            <a:r>
              <a:rPr sz="1400" dirty="0">
                <a:solidFill>
                  <a:srgbClr val="FFFFFF"/>
                </a:solidFill>
                <a:latin typeface="Calibri"/>
                <a:cs typeface="Calibri"/>
              </a:rPr>
              <a:t>How</a:t>
            </a:r>
            <a:r>
              <a:rPr sz="1400" spc="-20" dirty="0">
                <a:solidFill>
                  <a:srgbClr val="FFFFFF"/>
                </a:solidFill>
                <a:latin typeface="Calibri"/>
                <a:cs typeface="Calibri"/>
              </a:rPr>
              <a:t> </a:t>
            </a:r>
            <a:r>
              <a:rPr sz="1400" dirty="0">
                <a:solidFill>
                  <a:srgbClr val="FFFFFF"/>
                </a:solidFill>
                <a:latin typeface="Calibri"/>
                <a:cs typeface="Calibri"/>
              </a:rPr>
              <a:t>many</a:t>
            </a:r>
            <a:r>
              <a:rPr sz="1400" spc="-53" dirty="0">
                <a:solidFill>
                  <a:srgbClr val="FFFFFF"/>
                </a:solidFill>
                <a:latin typeface="Calibri"/>
                <a:cs typeface="Calibri"/>
              </a:rPr>
              <a:t> </a:t>
            </a:r>
            <a:r>
              <a:rPr sz="1400" dirty="0">
                <a:solidFill>
                  <a:srgbClr val="FFFFFF"/>
                </a:solidFill>
                <a:latin typeface="Calibri"/>
                <a:cs typeface="Calibri"/>
              </a:rPr>
              <a:t>sales</a:t>
            </a:r>
            <a:r>
              <a:rPr sz="1400" spc="-13" dirty="0">
                <a:solidFill>
                  <a:srgbClr val="FFFFFF"/>
                </a:solidFill>
                <a:latin typeface="Calibri"/>
                <a:cs typeface="Calibri"/>
              </a:rPr>
              <a:t> compared </a:t>
            </a:r>
            <a:r>
              <a:rPr sz="1400" dirty="0">
                <a:solidFill>
                  <a:srgbClr val="FFFFFF"/>
                </a:solidFill>
                <a:latin typeface="Calibri"/>
                <a:cs typeface="Calibri"/>
              </a:rPr>
              <a:t>to</a:t>
            </a:r>
            <a:r>
              <a:rPr sz="1400" spc="-27" dirty="0">
                <a:solidFill>
                  <a:srgbClr val="FFFFFF"/>
                </a:solidFill>
                <a:latin typeface="Calibri"/>
                <a:cs typeface="Calibri"/>
              </a:rPr>
              <a:t> </a:t>
            </a:r>
            <a:r>
              <a:rPr sz="1400" dirty="0">
                <a:solidFill>
                  <a:srgbClr val="FFFFFF"/>
                </a:solidFill>
                <a:latin typeface="Calibri"/>
                <a:cs typeface="Calibri"/>
              </a:rPr>
              <a:t>last</a:t>
            </a:r>
            <a:r>
              <a:rPr sz="1400" spc="-7" dirty="0">
                <a:solidFill>
                  <a:srgbClr val="FFFFFF"/>
                </a:solidFill>
                <a:latin typeface="Calibri"/>
                <a:cs typeface="Calibri"/>
              </a:rPr>
              <a:t> </a:t>
            </a:r>
            <a:r>
              <a:rPr sz="1400" spc="-13" dirty="0">
                <a:solidFill>
                  <a:srgbClr val="FFFFFF"/>
                </a:solidFill>
                <a:latin typeface="Calibri"/>
                <a:cs typeface="Calibri"/>
              </a:rPr>
              <a:t>month?</a:t>
            </a:r>
            <a:endParaRPr sz="1400" dirty="0">
              <a:latin typeface="Calibri"/>
              <a:cs typeface="Calibri"/>
            </a:endParaRPr>
          </a:p>
          <a:p>
            <a:pPr marL="578259" indent="-457189">
              <a:buFont typeface="Courier New"/>
              <a:buChar char="o"/>
              <a:tabLst>
                <a:tab pos="578259" algn="l"/>
              </a:tabLst>
            </a:pPr>
            <a:r>
              <a:rPr sz="1400" dirty="0">
                <a:solidFill>
                  <a:srgbClr val="FFFFFF"/>
                </a:solidFill>
                <a:latin typeface="Calibri"/>
                <a:cs typeface="Calibri"/>
              </a:rPr>
              <a:t>What</a:t>
            </a:r>
            <a:r>
              <a:rPr sz="1400" spc="-33" dirty="0">
                <a:solidFill>
                  <a:srgbClr val="FFFFFF"/>
                </a:solidFill>
                <a:latin typeface="Calibri"/>
                <a:cs typeface="Calibri"/>
              </a:rPr>
              <a:t> </a:t>
            </a:r>
            <a:r>
              <a:rPr sz="1400" dirty="0">
                <a:solidFill>
                  <a:srgbClr val="FFFFFF"/>
                </a:solidFill>
                <a:latin typeface="Calibri"/>
                <a:cs typeface="Calibri"/>
              </a:rPr>
              <a:t>can</a:t>
            </a:r>
            <a:r>
              <a:rPr sz="1400" spc="-20" dirty="0">
                <a:solidFill>
                  <a:srgbClr val="FFFFFF"/>
                </a:solidFill>
                <a:latin typeface="Calibri"/>
                <a:cs typeface="Calibri"/>
              </a:rPr>
              <a:t> </a:t>
            </a:r>
            <a:r>
              <a:rPr sz="1400" dirty="0">
                <a:solidFill>
                  <a:srgbClr val="FFFFFF"/>
                </a:solidFill>
                <a:latin typeface="Calibri"/>
                <a:cs typeface="Calibri"/>
              </a:rPr>
              <a:t>be</a:t>
            </a:r>
            <a:r>
              <a:rPr sz="1400" spc="-20" dirty="0">
                <a:solidFill>
                  <a:srgbClr val="FFFFFF"/>
                </a:solidFill>
                <a:latin typeface="Calibri"/>
                <a:cs typeface="Calibri"/>
              </a:rPr>
              <a:t> </a:t>
            </a:r>
            <a:r>
              <a:rPr sz="1400" spc="-13" dirty="0">
                <a:solidFill>
                  <a:srgbClr val="FFFFFF"/>
                </a:solidFill>
                <a:latin typeface="Calibri"/>
                <a:cs typeface="Calibri"/>
              </a:rPr>
              <a:t>improved?</a:t>
            </a:r>
            <a:endParaRPr sz="1400" dirty="0">
              <a:latin typeface="Calibri"/>
              <a:cs typeface="Calibri"/>
            </a:endParaRPr>
          </a:p>
          <a:p>
            <a:pPr algn="ctr">
              <a:spcBef>
                <a:spcPts val="1927"/>
              </a:spcBef>
            </a:pPr>
            <a:r>
              <a:rPr sz="1400" dirty="0">
                <a:solidFill>
                  <a:srgbClr val="FFFFFF"/>
                </a:solidFill>
                <a:latin typeface="Symbol"/>
                <a:cs typeface="Symbol"/>
              </a:rPr>
              <a:t></a:t>
            </a:r>
            <a:r>
              <a:rPr sz="1400" spc="-40" dirty="0">
                <a:solidFill>
                  <a:srgbClr val="FFFFFF"/>
                </a:solidFill>
                <a:latin typeface="Times New Roman"/>
                <a:cs typeface="Times New Roman"/>
              </a:rPr>
              <a:t> </a:t>
            </a:r>
            <a:r>
              <a:rPr sz="1400" b="1" dirty="0">
                <a:solidFill>
                  <a:srgbClr val="CCF3FF"/>
                </a:solidFill>
                <a:latin typeface="Calibri"/>
                <a:cs typeface="Calibri"/>
              </a:rPr>
              <a:t>Evaluate</a:t>
            </a:r>
            <a:r>
              <a:rPr sz="1400" b="1" spc="-47" dirty="0">
                <a:solidFill>
                  <a:srgbClr val="CCF3FF"/>
                </a:solidFill>
                <a:latin typeface="Calibri"/>
                <a:cs typeface="Calibri"/>
              </a:rPr>
              <a:t> </a:t>
            </a:r>
            <a:r>
              <a:rPr sz="1400" b="1" spc="-13" dirty="0">
                <a:solidFill>
                  <a:srgbClr val="CCF3FF"/>
                </a:solidFill>
                <a:latin typeface="Calibri"/>
                <a:cs typeface="Calibri"/>
              </a:rPr>
              <a:t>performance</a:t>
            </a:r>
            <a:endParaRPr sz="1400" dirty="0">
              <a:latin typeface="Calibri"/>
              <a:cs typeface="Calibri"/>
            </a:endParaRPr>
          </a:p>
          <a:p>
            <a:pPr algn="ctr">
              <a:lnSpc>
                <a:spcPct val="100000"/>
              </a:lnSpc>
            </a:pPr>
            <a:r>
              <a:rPr sz="1400" dirty="0">
                <a:solidFill>
                  <a:srgbClr val="FFFFFF"/>
                </a:solidFill>
                <a:latin typeface="Symbol"/>
                <a:cs typeface="Symbol"/>
              </a:rPr>
              <a:t></a:t>
            </a:r>
            <a:r>
              <a:rPr sz="1400" spc="60" dirty="0">
                <a:solidFill>
                  <a:srgbClr val="FFFFFF"/>
                </a:solidFill>
                <a:latin typeface="Times New Roman"/>
                <a:cs typeface="Times New Roman"/>
              </a:rPr>
              <a:t> </a:t>
            </a:r>
            <a:r>
              <a:rPr sz="1400" b="1" spc="-13" dirty="0">
                <a:solidFill>
                  <a:srgbClr val="CCF3FF"/>
                </a:solidFill>
                <a:latin typeface="Calibri"/>
                <a:cs typeface="Calibri"/>
              </a:rPr>
              <a:t>Decision-making</a:t>
            </a:r>
            <a:endParaRPr sz="1400" dirty="0">
              <a:latin typeface="Calibri"/>
              <a:cs typeface="Calibri"/>
            </a:endParaRPr>
          </a:p>
        </p:txBody>
      </p:sp>
      <p:sp>
        <p:nvSpPr>
          <p:cNvPr id="17" name="object 17"/>
          <p:cNvSpPr txBox="1"/>
          <p:nvPr/>
        </p:nvSpPr>
        <p:spPr>
          <a:xfrm>
            <a:off x="1344336" y="4651037"/>
            <a:ext cx="3545715" cy="306067"/>
          </a:xfrm>
          <a:prstGeom prst="rect">
            <a:avLst/>
          </a:prstGeom>
          <a:solidFill>
            <a:schemeClr val="tx1">
              <a:lumMod val="50000"/>
              <a:lumOff val="50000"/>
              <a:alpha val="50195"/>
            </a:schemeClr>
          </a:solidFill>
        </p:spPr>
        <p:txBody>
          <a:bodyPr vert="horz" wrap="square" lIns="0" tIns="59267" rIns="0" bIns="0" rtlCol="0">
            <a:spAutoFit/>
          </a:bodyPr>
          <a:lstStyle/>
          <a:p>
            <a:pPr marL="162556">
              <a:spcBef>
                <a:spcPts val="467"/>
              </a:spcBef>
            </a:pPr>
            <a:r>
              <a:rPr sz="1600" b="1" spc="-260" dirty="0">
                <a:solidFill>
                  <a:srgbClr val="D9D9D9"/>
                </a:solidFill>
                <a:latin typeface="Arial"/>
                <a:cs typeface="Arial"/>
              </a:rPr>
              <a:t>OLAP</a:t>
            </a:r>
            <a:r>
              <a:rPr sz="1600" b="1" spc="-167" dirty="0">
                <a:solidFill>
                  <a:srgbClr val="D9D9D9"/>
                </a:solidFill>
                <a:latin typeface="Arial"/>
                <a:cs typeface="Arial"/>
              </a:rPr>
              <a:t> </a:t>
            </a:r>
            <a:r>
              <a:rPr sz="1600" b="1" spc="-213" dirty="0">
                <a:solidFill>
                  <a:srgbClr val="D9D9D9"/>
                </a:solidFill>
                <a:latin typeface="Arial"/>
                <a:cs typeface="Arial"/>
              </a:rPr>
              <a:t>=</a:t>
            </a:r>
            <a:r>
              <a:rPr sz="1600" b="1" spc="-152" dirty="0">
                <a:solidFill>
                  <a:srgbClr val="D9D9D9"/>
                </a:solidFill>
                <a:latin typeface="Arial"/>
                <a:cs typeface="Arial"/>
              </a:rPr>
              <a:t> </a:t>
            </a:r>
            <a:r>
              <a:rPr sz="1600" b="1" spc="-173" dirty="0">
                <a:solidFill>
                  <a:srgbClr val="D9D9D9"/>
                </a:solidFill>
                <a:latin typeface="Arial"/>
                <a:cs typeface="Arial"/>
              </a:rPr>
              <a:t>Online</a:t>
            </a:r>
            <a:r>
              <a:rPr sz="1600" b="1" spc="-93" dirty="0">
                <a:solidFill>
                  <a:srgbClr val="D9D9D9"/>
                </a:solidFill>
                <a:latin typeface="Arial"/>
                <a:cs typeface="Arial"/>
              </a:rPr>
              <a:t> </a:t>
            </a:r>
            <a:r>
              <a:rPr sz="1600" b="1" spc="-147" dirty="0">
                <a:solidFill>
                  <a:srgbClr val="D9D9D9"/>
                </a:solidFill>
                <a:latin typeface="Arial"/>
                <a:cs typeface="Arial"/>
              </a:rPr>
              <a:t>Analytical</a:t>
            </a:r>
            <a:r>
              <a:rPr sz="1600" b="1" spc="-40" dirty="0">
                <a:solidFill>
                  <a:srgbClr val="D9D9D9"/>
                </a:solidFill>
                <a:latin typeface="Arial"/>
                <a:cs typeface="Arial"/>
              </a:rPr>
              <a:t> </a:t>
            </a:r>
            <a:r>
              <a:rPr sz="1600" b="1" spc="-47" dirty="0">
                <a:solidFill>
                  <a:srgbClr val="D9D9D9"/>
                </a:solidFill>
                <a:latin typeface="Arial"/>
                <a:cs typeface="Arial"/>
              </a:rPr>
              <a:t>Processing</a:t>
            </a:r>
            <a:endParaRPr sz="1600" dirty="0">
              <a:latin typeface="Arial"/>
              <a:cs typeface="Arial"/>
            </a:endParaRPr>
          </a:p>
        </p:txBody>
      </p:sp>
      <p:sp>
        <p:nvSpPr>
          <p:cNvPr id="18" name="object 18"/>
          <p:cNvSpPr txBox="1"/>
          <p:nvPr/>
        </p:nvSpPr>
        <p:spPr>
          <a:xfrm>
            <a:off x="6981952" y="4718305"/>
            <a:ext cx="3401907" cy="306067"/>
          </a:xfrm>
          <a:prstGeom prst="rect">
            <a:avLst/>
          </a:prstGeom>
          <a:solidFill>
            <a:schemeClr val="tx1">
              <a:lumMod val="50000"/>
              <a:lumOff val="50000"/>
              <a:alpha val="50195"/>
            </a:schemeClr>
          </a:solidFill>
        </p:spPr>
        <p:txBody>
          <a:bodyPr vert="horz" wrap="square" lIns="0" tIns="59267" rIns="0" bIns="0" rtlCol="0">
            <a:spAutoFit/>
          </a:bodyPr>
          <a:lstStyle/>
          <a:p>
            <a:pPr marL="138849">
              <a:spcBef>
                <a:spcPts val="467"/>
              </a:spcBef>
            </a:pPr>
            <a:r>
              <a:rPr sz="1600" b="1" spc="-267" dirty="0">
                <a:solidFill>
                  <a:srgbClr val="D9D9D9"/>
                </a:solidFill>
                <a:latin typeface="Arial"/>
                <a:cs typeface="Arial"/>
              </a:rPr>
              <a:t>OLTP</a:t>
            </a:r>
            <a:r>
              <a:rPr sz="1600" b="1" spc="-147" dirty="0">
                <a:solidFill>
                  <a:srgbClr val="D9D9D9"/>
                </a:solidFill>
                <a:latin typeface="Arial"/>
                <a:cs typeface="Arial"/>
              </a:rPr>
              <a:t> </a:t>
            </a:r>
            <a:r>
              <a:rPr sz="1600" b="1" spc="-213" dirty="0">
                <a:solidFill>
                  <a:srgbClr val="D9D9D9"/>
                </a:solidFill>
                <a:latin typeface="Arial"/>
                <a:cs typeface="Arial"/>
              </a:rPr>
              <a:t>=</a:t>
            </a:r>
            <a:r>
              <a:rPr sz="1600" b="1" spc="-167" dirty="0">
                <a:solidFill>
                  <a:srgbClr val="D9D9D9"/>
                </a:solidFill>
                <a:latin typeface="Arial"/>
                <a:cs typeface="Arial"/>
              </a:rPr>
              <a:t> </a:t>
            </a:r>
            <a:r>
              <a:rPr sz="1600" b="1" spc="-173" dirty="0">
                <a:solidFill>
                  <a:srgbClr val="D9D9D9"/>
                </a:solidFill>
                <a:latin typeface="Arial"/>
                <a:cs typeface="Arial"/>
              </a:rPr>
              <a:t>Online</a:t>
            </a:r>
            <a:r>
              <a:rPr sz="1600" b="1" spc="-87" dirty="0">
                <a:solidFill>
                  <a:srgbClr val="D9D9D9"/>
                </a:solidFill>
                <a:latin typeface="Arial"/>
                <a:cs typeface="Arial"/>
              </a:rPr>
              <a:t> </a:t>
            </a:r>
            <a:r>
              <a:rPr sz="1600" b="1" spc="-167" dirty="0">
                <a:solidFill>
                  <a:srgbClr val="D9D9D9"/>
                </a:solidFill>
                <a:latin typeface="Arial"/>
                <a:cs typeface="Arial"/>
              </a:rPr>
              <a:t>Transactional</a:t>
            </a:r>
            <a:r>
              <a:rPr sz="1600" b="1" spc="-40" dirty="0">
                <a:solidFill>
                  <a:srgbClr val="D9D9D9"/>
                </a:solidFill>
                <a:latin typeface="Arial"/>
                <a:cs typeface="Arial"/>
              </a:rPr>
              <a:t> </a:t>
            </a:r>
            <a:r>
              <a:rPr sz="1600" b="1" spc="-60" dirty="0">
                <a:solidFill>
                  <a:srgbClr val="D9D9D9"/>
                </a:solidFill>
                <a:latin typeface="Arial"/>
                <a:cs typeface="Arial"/>
              </a:rPr>
              <a:t>Processing</a:t>
            </a:r>
            <a:endParaRPr sz="1600" dirty="0">
              <a:latin typeface="Arial"/>
              <a:cs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51300" y="350308"/>
            <a:ext cx="4089400" cy="695062"/>
          </a:xfrm>
          <a:prstGeom prst="rect">
            <a:avLst/>
          </a:prstGeom>
        </p:spPr>
        <p:txBody>
          <a:bodyPr vert="horz" wrap="square" lIns="0" tIns="17780" rIns="0" bIns="0" rtlCol="0" anchor="ctr">
            <a:spAutoFit/>
          </a:bodyPr>
          <a:lstStyle/>
          <a:p>
            <a:pPr marL="16933">
              <a:lnSpc>
                <a:spcPct val="100000"/>
              </a:lnSpc>
              <a:spcBef>
                <a:spcPts val="140"/>
              </a:spcBef>
            </a:pPr>
            <a:r>
              <a:rPr sz="4267" dirty="0">
                <a:solidFill>
                  <a:schemeClr val="bg1"/>
                </a:solidFill>
                <a:latin typeface="Calibri"/>
                <a:cs typeface="Calibri"/>
              </a:rPr>
              <a:t>Two requirements</a:t>
            </a:r>
          </a:p>
        </p:txBody>
      </p:sp>
      <p:pic>
        <p:nvPicPr>
          <p:cNvPr id="3" name="object 3"/>
          <p:cNvPicPr/>
          <p:nvPr/>
        </p:nvPicPr>
        <p:blipFill>
          <a:blip r:embed="rId2" cstate="print"/>
          <a:stretch>
            <a:fillRect/>
          </a:stretch>
        </p:blipFill>
        <p:spPr>
          <a:xfrm>
            <a:off x="4368800" y="5870445"/>
            <a:ext cx="3064256" cy="950976"/>
          </a:xfrm>
          <a:prstGeom prst="rect">
            <a:avLst/>
          </a:prstGeom>
        </p:spPr>
      </p:pic>
      <p:sp>
        <p:nvSpPr>
          <p:cNvPr id="4" name="object 4"/>
          <p:cNvSpPr/>
          <p:nvPr/>
        </p:nvSpPr>
        <p:spPr>
          <a:xfrm>
            <a:off x="3494379" y="2194187"/>
            <a:ext cx="933027" cy="1266613"/>
          </a:xfrm>
          <a:custGeom>
            <a:avLst/>
            <a:gdLst/>
            <a:ahLst/>
            <a:cxnLst/>
            <a:rect l="l" t="t" r="r" b="b"/>
            <a:pathLst>
              <a:path w="699770" h="949960">
                <a:moveTo>
                  <a:pt x="699338" y="649960"/>
                </a:moveTo>
                <a:lnTo>
                  <a:pt x="692200" y="670052"/>
                </a:lnTo>
                <a:lnTo>
                  <a:pt x="671741" y="688784"/>
                </a:lnTo>
                <a:lnTo>
                  <a:pt x="639406" y="705764"/>
                </a:lnTo>
                <a:lnTo>
                  <a:pt x="624408" y="710971"/>
                </a:lnTo>
                <a:lnTo>
                  <a:pt x="624408" y="824941"/>
                </a:lnTo>
                <a:lnTo>
                  <a:pt x="622617" y="835177"/>
                </a:lnTo>
                <a:lnTo>
                  <a:pt x="617537" y="843064"/>
                </a:lnTo>
                <a:lnTo>
                  <a:pt x="609650" y="848144"/>
                </a:lnTo>
                <a:lnTo>
                  <a:pt x="599427" y="849947"/>
                </a:lnTo>
                <a:lnTo>
                  <a:pt x="589203" y="848144"/>
                </a:lnTo>
                <a:lnTo>
                  <a:pt x="581329" y="843064"/>
                </a:lnTo>
                <a:lnTo>
                  <a:pt x="576249" y="835177"/>
                </a:lnTo>
                <a:lnTo>
                  <a:pt x="574459" y="824941"/>
                </a:lnTo>
                <a:lnTo>
                  <a:pt x="576249" y="814717"/>
                </a:lnTo>
                <a:lnTo>
                  <a:pt x="581329" y="806818"/>
                </a:lnTo>
                <a:lnTo>
                  <a:pt x="589203" y="801738"/>
                </a:lnTo>
                <a:lnTo>
                  <a:pt x="599427" y="799947"/>
                </a:lnTo>
                <a:lnTo>
                  <a:pt x="609650" y="801738"/>
                </a:lnTo>
                <a:lnTo>
                  <a:pt x="617537" y="806818"/>
                </a:lnTo>
                <a:lnTo>
                  <a:pt x="622617" y="814717"/>
                </a:lnTo>
                <a:lnTo>
                  <a:pt x="624408" y="824941"/>
                </a:lnTo>
                <a:lnTo>
                  <a:pt x="624408" y="710971"/>
                </a:lnTo>
                <a:lnTo>
                  <a:pt x="544817" y="732815"/>
                </a:lnTo>
                <a:lnTo>
                  <a:pt x="485432" y="742061"/>
                </a:lnTo>
                <a:lnTo>
                  <a:pt x="419912" y="747915"/>
                </a:lnTo>
                <a:lnTo>
                  <a:pt x="349669" y="749947"/>
                </a:lnTo>
                <a:lnTo>
                  <a:pt x="279425" y="747915"/>
                </a:lnTo>
                <a:lnTo>
                  <a:pt x="213893" y="742061"/>
                </a:lnTo>
                <a:lnTo>
                  <a:pt x="154520" y="732815"/>
                </a:lnTo>
                <a:lnTo>
                  <a:pt x="102717" y="720585"/>
                </a:lnTo>
                <a:lnTo>
                  <a:pt x="59931" y="705764"/>
                </a:lnTo>
                <a:lnTo>
                  <a:pt x="7137" y="670052"/>
                </a:lnTo>
                <a:lnTo>
                  <a:pt x="0" y="649960"/>
                </a:lnTo>
                <a:lnTo>
                  <a:pt x="0" y="849947"/>
                </a:lnTo>
                <a:lnTo>
                  <a:pt x="27584" y="888771"/>
                </a:lnTo>
                <a:lnTo>
                  <a:pt x="102717" y="920559"/>
                </a:lnTo>
                <a:lnTo>
                  <a:pt x="154520" y="932802"/>
                </a:lnTo>
                <a:lnTo>
                  <a:pt x="213893" y="942047"/>
                </a:lnTo>
                <a:lnTo>
                  <a:pt x="279425" y="947889"/>
                </a:lnTo>
                <a:lnTo>
                  <a:pt x="349669" y="949934"/>
                </a:lnTo>
                <a:lnTo>
                  <a:pt x="419912" y="947889"/>
                </a:lnTo>
                <a:lnTo>
                  <a:pt x="485432" y="942047"/>
                </a:lnTo>
                <a:lnTo>
                  <a:pt x="544817" y="932802"/>
                </a:lnTo>
                <a:lnTo>
                  <a:pt x="596620" y="920559"/>
                </a:lnTo>
                <a:lnTo>
                  <a:pt x="639406" y="905751"/>
                </a:lnTo>
                <a:lnTo>
                  <a:pt x="692200" y="870026"/>
                </a:lnTo>
                <a:lnTo>
                  <a:pt x="699338" y="849947"/>
                </a:lnTo>
                <a:lnTo>
                  <a:pt x="699338" y="799947"/>
                </a:lnTo>
                <a:lnTo>
                  <a:pt x="699338" y="749947"/>
                </a:lnTo>
                <a:lnTo>
                  <a:pt x="699338" y="649960"/>
                </a:lnTo>
                <a:close/>
              </a:path>
              <a:path w="699770" h="949960">
                <a:moveTo>
                  <a:pt x="699338" y="399986"/>
                </a:moveTo>
                <a:lnTo>
                  <a:pt x="692200" y="420065"/>
                </a:lnTo>
                <a:lnTo>
                  <a:pt x="671741" y="438810"/>
                </a:lnTo>
                <a:lnTo>
                  <a:pt x="639406" y="455790"/>
                </a:lnTo>
                <a:lnTo>
                  <a:pt x="624408" y="460984"/>
                </a:lnTo>
                <a:lnTo>
                  <a:pt x="624408" y="574967"/>
                </a:lnTo>
                <a:lnTo>
                  <a:pt x="622617" y="585203"/>
                </a:lnTo>
                <a:lnTo>
                  <a:pt x="617537" y="593090"/>
                </a:lnTo>
                <a:lnTo>
                  <a:pt x="609650" y="598170"/>
                </a:lnTo>
                <a:lnTo>
                  <a:pt x="599427" y="599960"/>
                </a:lnTo>
                <a:lnTo>
                  <a:pt x="589203" y="598170"/>
                </a:lnTo>
                <a:lnTo>
                  <a:pt x="581329" y="593090"/>
                </a:lnTo>
                <a:lnTo>
                  <a:pt x="576249" y="585203"/>
                </a:lnTo>
                <a:lnTo>
                  <a:pt x="574459" y="574967"/>
                </a:lnTo>
                <a:lnTo>
                  <a:pt x="576249" y="564730"/>
                </a:lnTo>
                <a:lnTo>
                  <a:pt x="581329" y="556844"/>
                </a:lnTo>
                <a:lnTo>
                  <a:pt x="589203" y="551764"/>
                </a:lnTo>
                <a:lnTo>
                  <a:pt x="599427" y="549973"/>
                </a:lnTo>
                <a:lnTo>
                  <a:pt x="609650" y="551764"/>
                </a:lnTo>
                <a:lnTo>
                  <a:pt x="617537" y="556844"/>
                </a:lnTo>
                <a:lnTo>
                  <a:pt x="622617" y="564730"/>
                </a:lnTo>
                <a:lnTo>
                  <a:pt x="624408" y="574967"/>
                </a:lnTo>
                <a:lnTo>
                  <a:pt x="624408" y="460984"/>
                </a:lnTo>
                <a:lnTo>
                  <a:pt x="544817" y="482841"/>
                </a:lnTo>
                <a:lnTo>
                  <a:pt x="485432" y="492086"/>
                </a:lnTo>
                <a:lnTo>
                  <a:pt x="419912" y="497928"/>
                </a:lnTo>
                <a:lnTo>
                  <a:pt x="349669" y="499973"/>
                </a:lnTo>
                <a:lnTo>
                  <a:pt x="279425" y="497928"/>
                </a:lnTo>
                <a:lnTo>
                  <a:pt x="213893" y="492086"/>
                </a:lnTo>
                <a:lnTo>
                  <a:pt x="154520" y="482841"/>
                </a:lnTo>
                <a:lnTo>
                  <a:pt x="102717" y="470598"/>
                </a:lnTo>
                <a:lnTo>
                  <a:pt x="59931" y="455790"/>
                </a:lnTo>
                <a:lnTo>
                  <a:pt x="7137" y="420065"/>
                </a:lnTo>
                <a:lnTo>
                  <a:pt x="0" y="399986"/>
                </a:lnTo>
                <a:lnTo>
                  <a:pt x="0" y="599960"/>
                </a:lnTo>
                <a:lnTo>
                  <a:pt x="27584" y="638784"/>
                </a:lnTo>
                <a:lnTo>
                  <a:pt x="102717" y="670585"/>
                </a:lnTo>
                <a:lnTo>
                  <a:pt x="154520" y="682815"/>
                </a:lnTo>
                <a:lnTo>
                  <a:pt x="213893" y="692061"/>
                </a:lnTo>
                <a:lnTo>
                  <a:pt x="279425" y="697915"/>
                </a:lnTo>
                <a:lnTo>
                  <a:pt x="349669" y="699960"/>
                </a:lnTo>
                <a:lnTo>
                  <a:pt x="419912" y="697915"/>
                </a:lnTo>
                <a:lnTo>
                  <a:pt x="485432" y="692061"/>
                </a:lnTo>
                <a:lnTo>
                  <a:pt x="544817" y="682815"/>
                </a:lnTo>
                <a:lnTo>
                  <a:pt x="596620" y="670585"/>
                </a:lnTo>
                <a:lnTo>
                  <a:pt x="639406" y="655764"/>
                </a:lnTo>
                <a:lnTo>
                  <a:pt x="692200" y="620052"/>
                </a:lnTo>
                <a:lnTo>
                  <a:pt x="699338" y="599960"/>
                </a:lnTo>
                <a:lnTo>
                  <a:pt x="699338" y="549973"/>
                </a:lnTo>
                <a:lnTo>
                  <a:pt x="699338" y="499973"/>
                </a:lnTo>
                <a:lnTo>
                  <a:pt x="699338" y="399986"/>
                </a:lnTo>
                <a:close/>
              </a:path>
              <a:path w="699770" h="949960">
                <a:moveTo>
                  <a:pt x="699338" y="149999"/>
                </a:moveTo>
                <a:lnTo>
                  <a:pt x="692200" y="170091"/>
                </a:lnTo>
                <a:lnTo>
                  <a:pt x="671741" y="188823"/>
                </a:lnTo>
                <a:lnTo>
                  <a:pt x="639406" y="205803"/>
                </a:lnTo>
                <a:lnTo>
                  <a:pt x="624408" y="211010"/>
                </a:lnTo>
                <a:lnTo>
                  <a:pt x="624408" y="324993"/>
                </a:lnTo>
                <a:lnTo>
                  <a:pt x="622617" y="335216"/>
                </a:lnTo>
                <a:lnTo>
                  <a:pt x="617537" y="343115"/>
                </a:lnTo>
                <a:lnTo>
                  <a:pt x="609650" y="348195"/>
                </a:lnTo>
                <a:lnTo>
                  <a:pt x="599427" y="349986"/>
                </a:lnTo>
                <a:lnTo>
                  <a:pt x="589203" y="348195"/>
                </a:lnTo>
                <a:lnTo>
                  <a:pt x="581329" y="343115"/>
                </a:lnTo>
                <a:lnTo>
                  <a:pt x="576249" y="335216"/>
                </a:lnTo>
                <a:lnTo>
                  <a:pt x="574459" y="324993"/>
                </a:lnTo>
                <a:lnTo>
                  <a:pt x="576249" y="314756"/>
                </a:lnTo>
                <a:lnTo>
                  <a:pt x="581329" y="306870"/>
                </a:lnTo>
                <a:lnTo>
                  <a:pt x="589203" y="301790"/>
                </a:lnTo>
                <a:lnTo>
                  <a:pt x="599427" y="299986"/>
                </a:lnTo>
                <a:lnTo>
                  <a:pt x="609650" y="301790"/>
                </a:lnTo>
                <a:lnTo>
                  <a:pt x="617537" y="306870"/>
                </a:lnTo>
                <a:lnTo>
                  <a:pt x="622617" y="314756"/>
                </a:lnTo>
                <a:lnTo>
                  <a:pt x="624408" y="324993"/>
                </a:lnTo>
                <a:lnTo>
                  <a:pt x="624408" y="211010"/>
                </a:lnTo>
                <a:lnTo>
                  <a:pt x="544817" y="232854"/>
                </a:lnTo>
                <a:lnTo>
                  <a:pt x="485432" y="242100"/>
                </a:lnTo>
                <a:lnTo>
                  <a:pt x="419912" y="247954"/>
                </a:lnTo>
                <a:lnTo>
                  <a:pt x="349669" y="249999"/>
                </a:lnTo>
                <a:lnTo>
                  <a:pt x="279425" y="247954"/>
                </a:lnTo>
                <a:lnTo>
                  <a:pt x="213893" y="242100"/>
                </a:lnTo>
                <a:lnTo>
                  <a:pt x="154520" y="232854"/>
                </a:lnTo>
                <a:lnTo>
                  <a:pt x="102717" y="220624"/>
                </a:lnTo>
                <a:lnTo>
                  <a:pt x="59931" y="205803"/>
                </a:lnTo>
                <a:lnTo>
                  <a:pt x="7137" y="170091"/>
                </a:lnTo>
                <a:lnTo>
                  <a:pt x="0" y="149999"/>
                </a:lnTo>
                <a:lnTo>
                  <a:pt x="0" y="349986"/>
                </a:lnTo>
                <a:lnTo>
                  <a:pt x="27584" y="388810"/>
                </a:lnTo>
                <a:lnTo>
                  <a:pt x="102717" y="420611"/>
                </a:lnTo>
                <a:lnTo>
                  <a:pt x="154520" y="432841"/>
                </a:lnTo>
                <a:lnTo>
                  <a:pt x="213893" y="442087"/>
                </a:lnTo>
                <a:lnTo>
                  <a:pt x="279425" y="447941"/>
                </a:lnTo>
                <a:lnTo>
                  <a:pt x="349669" y="449973"/>
                </a:lnTo>
                <a:lnTo>
                  <a:pt x="419912" y="447941"/>
                </a:lnTo>
                <a:lnTo>
                  <a:pt x="485432" y="442087"/>
                </a:lnTo>
                <a:lnTo>
                  <a:pt x="544817" y="432841"/>
                </a:lnTo>
                <a:lnTo>
                  <a:pt x="596620" y="420611"/>
                </a:lnTo>
                <a:lnTo>
                  <a:pt x="639406" y="405790"/>
                </a:lnTo>
                <a:lnTo>
                  <a:pt x="692200" y="370078"/>
                </a:lnTo>
                <a:lnTo>
                  <a:pt x="699338" y="349986"/>
                </a:lnTo>
                <a:lnTo>
                  <a:pt x="699338" y="299986"/>
                </a:lnTo>
                <a:lnTo>
                  <a:pt x="699338" y="249999"/>
                </a:lnTo>
                <a:lnTo>
                  <a:pt x="699338" y="149999"/>
                </a:lnTo>
                <a:close/>
              </a:path>
              <a:path w="699770" h="949960">
                <a:moveTo>
                  <a:pt x="699338" y="100012"/>
                </a:moveTo>
                <a:lnTo>
                  <a:pt x="671855" y="61087"/>
                </a:lnTo>
                <a:lnTo>
                  <a:pt x="596925" y="29298"/>
                </a:lnTo>
                <a:lnTo>
                  <a:pt x="545172" y="17081"/>
                </a:lnTo>
                <a:lnTo>
                  <a:pt x="485775" y="7861"/>
                </a:lnTo>
                <a:lnTo>
                  <a:pt x="420141" y="2032"/>
                </a:lnTo>
                <a:lnTo>
                  <a:pt x="349669" y="0"/>
                </a:lnTo>
                <a:lnTo>
                  <a:pt x="279196" y="2032"/>
                </a:lnTo>
                <a:lnTo>
                  <a:pt x="213563" y="7861"/>
                </a:lnTo>
                <a:lnTo>
                  <a:pt x="154165" y="17081"/>
                </a:lnTo>
                <a:lnTo>
                  <a:pt x="102412" y="29298"/>
                </a:lnTo>
                <a:lnTo>
                  <a:pt x="59715" y="44094"/>
                </a:lnTo>
                <a:lnTo>
                  <a:pt x="7099" y="79857"/>
                </a:lnTo>
                <a:lnTo>
                  <a:pt x="0" y="100012"/>
                </a:lnTo>
                <a:lnTo>
                  <a:pt x="7099" y="120154"/>
                </a:lnTo>
                <a:lnTo>
                  <a:pt x="59715" y="155917"/>
                </a:lnTo>
                <a:lnTo>
                  <a:pt x="102412" y="170713"/>
                </a:lnTo>
                <a:lnTo>
                  <a:pt x="154165" y="182918"/>
                </a:lnTo>
                <a:lnTo>
                  <a:pt x="213563" y="192138"/>
                </a:lnTo>
                <a:lnTo>
                  <a:pt x="279196" y="197967"/>
                </a:lnTo>
                <a:lnTo>
                  <a:pt x="349669" y="199999"/>
                </a:lnTo>
                <a:lnTo>
                  <a:pt x="420141" y="197967"/>
                </a:lnTo>
                <a:lnTo>
                  <a:pt x="485775" y="192138"/>
                </a:lnTo>
                <a:lnTo>
                  <a:pt x="545172" y="182918"/>
                </a:lnTo>
                <a:lnTo>
                  <a:pt x="596925" y="170713"/>
                </a:lnTo>
                <a:lnTo>
                  <a:pt x="639622" y="155917"/>
                </a:lnTo>
                <a:lnTo>
                  <a:pt x="692238" y="120154"/>
                </a:lnTo>
                <a:lnTo>
                  <a:pt x="699338" y="100012"/>
                </a:lnTo>
                <a:close/>
              </a:path>
            </a:pathLst>
          </a:custGeom>
          <a:solidFill>
            <a:srgbClr val="006EBE"/>
          </a:solidFill>
        </p:spPr>
        <p:txBody>
          <a:bodyPr wrap="square" lIns="0" tIns="0" rIns="0" bIns="0" rtlCol="0"/>
          <a:lstStyle/>
          <a:p>
            <a:endParaRPr sz="2400"/>
          </a:p>
        </p:txBody>
      </p:sp>
      <p:sp>
        <p:nvSpPr>
          <p:cNvPr id="5" name="object 5"/>
          <p:cNvSpPr/>
          <p:nvPr/>
        </p:nvSpPr>
        <p:spPr>
          <a:xfrm>
            <a:off x="7415734" y="2428105"/>
            <a:ext cx="818727" cy="991447"/>
          </a:xfrm>
          <a:custGeom>
            <a:avLst/>
            <a:gdLst/>
            <a:ahLst/>
            <a:cxnLst/>
            <a:rect l="l" t="t" r="r" b="b"/>
            <a:pathLst>
              <a:path w="614045" h="743585">
                <a:moveTo>
                  <a:pt x="401002" y="520052"/>
                </a:moveTo>
                <a:lnTo>
                  <a:pt x="359587" y="499325"/>
                </a:lnTo>
                <a:lnTo>
                  <a:pt x="356565" y="489610"/>
                </a:lnTo>
                <a:lnTo>
                  <a:pt x="353110" y="480250"/>
                </a:lnTo>
                <a:lnTo>
                  <a:pt x="349885" y="472948"/>
                </a:lnTo>
                <a:lnTo>
                  <a:pt x="349123" y="471246"/>
                </a:lnTo>
                <a:lnTo>
                  <a:pt x="344525" y="462584"/>
                </a:lnTo>
                <a:lnTo>
                  <a:pt x="359587" y="418312"/>
                </a:lnTo>
                <a:lnTo>
                  <a:pt x="340753" y="399465"/>
                </a:lnTo>
                <a:lnTo>
                  <a:pt x="325691" y="384390"/>
                </a:lnTo>
                <a:lnTo>
                  <a:pt x="281457" y="399465"/>
                </a:lnTo>
                <a:lnTo>
                  <a:pt x="272669" y="394855"/>
                </a:lnTo>
                <a:lnTo>
                  <a:pt x="271094" y="394182"/>
                </a:lnTo>
                <a:lnTo>
                  <a:pt x="271094" y="543610"/>
                </a:lnTo>
                <a:lnTo>
                  <a:pt x="265633" y="570941"/>
                </a:lnTo>
                <a:lnTo>
                  <a:pt x="250621" y="593420"/>
                </a:lnTo>
                <a:lnTo>
                  <a:pt x="228206" y="608660"/>
                </a:lnTo>
                <a:lnTo>
                  <a:pt x="200507" y="614273"/>
                </a:lnTo>
                <a:lnTo>
                  <a:pt x="172796" y="608660"/>
                </a:lnTo>
                <a:lnTo>
                  <a:pt x="150380" y="593420"/>
                </a:lnTo>
                <a:lnTo>
                  <a:pt x="135382" y="570941"/>
                </a:lnTo>
                <a:lnTo>
                  <a:pt x="129908" y="543610"/>
                </a:lnTo>
                <a:lnTo>
                  <a:pt x="135432" y="516280"/>
                </a:lnTo>
                <a:lnTo>
                  <a:pt x="135509" y="515874"/>
                </a:lnTo>
                <a:lnTo>
                  <a:pt x="150736" y="493445"/>
                </a:lnTo>
                <a:lnTo>
                  <a:pt x="173189" y="478434"/>
                </a:lnTo>
                <a:lnTo>
                  <a:pt x="200507" y="472948"/>
                </a:lnTo>
                <a:lnTo>
                  <a:pt x="228206" y="478561"/>
                </a:lnTo>
                <a:lnTo>
                  <a:pt x="250621" y="493801"/>
                </a:lnTo>
                <a:lnTo>
                  <a:pt x="265633" y="516280"/>
                </a:lnTo>
                <a:lnTo>
                  <a:pt x="271094" y="543610"/>
                </a:lnTo>
                <a:lnTo>
                  <a:pt x="271094" y="394182"/>
                </a:lnTo>
                <a:lnTo>
                  <a:pt x="263448" y="390867"/>
                </a:lnTo>
                <a:lnTo>
                  <a:pt x="254050" y="387413"/>
                </a:lnTo>
                <a:lnTo>
                  <a:pt x="244741" y="384390"/>
                </a:lnTo>
                <a:lnTo>
                  <a:pt x="224040" y="342938"/>
                </a:lnTo>
                <a:lnTo>
                  <a:pt x="176974" y="342938"/>
                </a:lnTo>
                <a:lnTo>
                  <a:pt x="156260" y="384390"/>
                </a:lnTo>
                <a:lnTo>
                  <a:pt x="146558" y="387413"/>
                </a:lnTo>
                <a:lnTo>
                  <a:pt x="137198" y="390867"/>
                </a:lnTo>
                <a:lnTo>
                  <a:pt x="128193" y="394855"/>
                </a:lnTo>
                <a:lnTo>
                  <a:pt x="119545" y="399465"/>
                </a:lnTo>
                <a:lnTo>
                  <a:pt x="75311" y="384390"/>
                </a:lnTo>
                <a:lnTo>
                  <a:pt x="42367" y="417372"/>
                </a:lnTo>
                <a:lnTo>
                  <a:pt x="56489" y="461645"/>
                </a:lnTo>
                <a:lnTo>
                  <a:pt x="51879" y="470433"/>
                </a:lnTo>
                <a:lnTo>
                  <a:pt x="47891" y="479666"/>
                </a:lnTo>
                <a:lnTo>
                  <a:pt x="44437" y="489077"/>
                </a:lnTo>
                <a:lnTo>
                  <a:pt x="41427" y="498386"/>
                </a:lnTo>
                <a:lnTo>
                  <a:pt x="0" y="519112"/>
                </a:lnTo>
                <a:lnTo>
                  <a:pt x="0" y="566216"/>
                </a:lnTo>
                <a:lnTo>
                  <a:pt x="41427" y="586943"/>
                </a:lnTo>
                <a:lnTo>
                  <a:pt x="44437" y="596658"/>
                </a:lnTo>
                <a:lnTo>
                  <a:pt x="47891" y="606031"/>
                </a:lnTo>
                <a:lnTo>
                  <a:pt x="51879" y="615035"/>
                </a:lnTo>
                <a:lnTo>
                  <a:pt x="56489" y="623684"/>
                </a:lnTo>
                <a:lnTo>
                  <a:pt x="42367" y="667969"/>
                </a:lnTo>
                <a:lnTo>
                  <a:pt x="75311" y="700938"/>
                </a:lnTo>
                <a:lnTo>
                  <a:pt x="119545" y="686816"/>
                </a:lnTo>
                <a:lnTo>
                  <a:pt x="128193" y="691413"/>
                </a:lnTo>
                <a:lnTo>
                  <a:pt x="137198" y="695401"/>
                </a:lnTo>
                <a:lnTo>
                  <a:pt x="146558" y="698868"/>
                </a:lnTo>
                <a:lnTo>
                  <a:pt x="156260" y="701878"/>
                </a:lnTo>
                <a:lnTo>
                  <a:pt x="176974" y="743331"/>
                </a:lnTo>
                <a:lnTo>
                  <a:pt x="224040" y="743331"/>
                </a:lnTo>
                <a:lnTo>
                  <a:pt x="244741" y="701878"/>
                </a:lnTo>
                <a:lnTo>
                  <a:pt x="254444" y="698868"/>
                </a:lnTo>
                <a:lnTo>
                  <a:pt x="263804" y="695413"/>
                </a:lnTo>
                <a:lnTo>
                  <a:pt x="272808" y="691413"/>
                </a:lnTo>
                <a:lnTo>
                  <a:pt x="281457" y="686816"/>
                </a:lnTo>
                <a:lnTo>
                  <a:pt x="325691" y="701878"/>
                </a:lnTo>
                <a:lnTo>
                  <a:pt x="340334" y="686816"/>
                </a:lnTo>
                <a:lnTo>
                  <a:pt x="358635" y="667969"/>
                </a:lnTo>
                <a:lnTo>
                  <a:pt x="344525" y="624636"/>
                </a:lnTo>
                <a:lnTo>
                  <a:pt x="349123" y="615975"/>
                </a:lnTo>
                <a:lnTo>
                  <a:pt x="349885" y="614273"/>
                </a:lnTo>
                <a:lnTo>
                  <a:pt x="353110" y="606971"/>
                </a:lnTo>
                <a:lnTo>
                  <a:pt x="356565" y="597611"/>
                </a:lnTo>
                <a:lnTo>
                  <a:pt x="359587" y="587895"/>
                </a:lnTo>
                <a:lnTo>
                  <a:pt x="401002" y="567169"/>
                </a:lnTo>
                <a:lnTo>
                  <a:pt x="401002" y="520052"/>
                </a:lnTo>
                <a:close/>
              </a:path>
              <a:path w="614045" h="743585">
                <a:moveTo>
                  <a:pt x="613727" y="177126"/>
                </a:moveTo>
                <a:lnTo>
                  <a:pt x="572312" y="156400"/>
                </a:lnTo>
                <a:lnTo>
                  <a:pt x="569302" y="146685"/>
                </a:lnTo>
                <a:lnTo>
                  <a:pt x="565848" y="137325"/>
                </a:lnTo>
                <a:lnTo>
                  <a:pt x="562610" y="130022"/>
                </a:lnTo>
                <a:lnTo>
                  <a:pt x="561860" y="128320"/>
                </a:lnTo>
                <a:lnTo>
                  <a:pt x="557250" y="119659"/>
                </a:lnTo>
                <a:lnTo>
                  <a:pt x="572312" y="75387"/>
                </a:lnTo>
                <a:lnTo>
                  <a:pt x="553491" y="56540"/>
                </a:lnTo>
                <a:lnTo>
                  <a:pt x="538429" y="41452"/>
                </a:lnTo>
                <a:lnTo>
                  <a:pt x="494182" y="56540"/>
                </a:lnTo>
                <a:lnTo>
                  <a:pt x="485533" y="51930"/>
                </a:lnTo>
                <a:lnTo>
                  <a:pt x="483831" y="51181"/>
                </a:lnTo>
                <a:lnTo>
                  <a:pt x="483831" y="200685"/>
                </a:lnTo>
                <a:lnTo>
                  <a:pt x="478231" y="228015"/>
                </a:lnTo>
                <a:lnTo>
                  <a:pt x="463003" y="250494"/>
                </a:lnTo>
                <a:lnTo>
                  <a:pt x="440550" y="265734"/>
                </a:lnTo>
                <a:lnTo>
                  <a:pt x="413232" y="271348"/>
                </a:lnTo>
                <a:lnTo>
                  <a:pt x="385521" y="265734"/>
                </a:lnTo>
                <a:lnTo>
                  <a:pt x="363105" y="250494"/>
                </a:lnTo>
                <a:lnTo>
                  <a:pt x="348107" y="228015"/>
                </a:lnTo>
                <a:lnTo>
                  <a:pt x="342633" y="200685"/>
                </a:lnTo>
                <a:lnTo>
                  <a:pt x="348246" y="173342"/>
                </a:lnTo>
                <a:lnTo>
                  <a:pt x="385927" y="135636"/>
                </a:lnTo>
                <a:lnTo>
                  <a:pt x="440944" y="135636"/>
                </a:lnTo>
                <a:lnTo>
                  <a:pt x="478358" y="173342"/>
                </a:lnTo>
                <a:lnTo>
                  <a:pt x="483831" y="200685"/>
                </a:lnTo>
                <a:lnTo>
                  <a:pt x="483831" y="51181"/>
                </a:lnTo>
                <a:lnTo>
                  <a:pt x="476542" y="47942"/>
                </a:lnTo>
                <a:lnTo>
                  <a:pt x="467182" y="44475"/>
                </a:lnTo>
                <a:lnTo>
                  <a:pt x="457479" y="41452"/>
                </a:lnTo>
                <a:lnTo>
                  <a:pt x="436765" y="0"/>
                </a:lnTo>
                <a:lnTo>
                  <a:pt x="389699" y="0"/>
                </a:lnTo>
                <a:lnTo>
                  <a:pt x="368998" y="41452"/>
                </a:lnTo>
                <a:lnTo>
                  <a:pt x="359283" y="44475"/>
                </a:lnTo>
                <a:lnTo>
                  <a:pt x="349935" y="47942"/>
                </a:lnTo>
                <a:lnTo>
                  <a:pt x="340931" y="51930"/>
                </a:lnTo>
                <a:lnTo>
                  <a:pt x="332282" y="56540"/>
                </a:lnTo>
                <a:lnTo>
                  <a:pt x="288048" y="41452"/>
                </a:lnTo>
                <a:lnTo>
                  <a:pt x="254152" y="75387"/>
                </a:lnTo>
                <a:lnTo>
                  <a:pt x="269214" y="119659"/>
                </a:lnTo>
                <a:lnTo>
                  <a:pt x="264617" y="128320"/>
                </a:lnTo>
                <a:lnTo>
                  <a:pt x="260629" y="137325"/>
                </a:lnTo>
                <a:lnTo>
                  <a:pt x="257175" y="146685"/>
                </a:lnTo>
                <a:lnTo>
                  <a:pt x="254152" y="156400"/>
                </a:lnTo>
                <a:lnTo>
                  <a:pt x="212737" y="177126"/>
                </a:lnTo>
                <a:lnTo>
                  <a:pt x="212737" y="224231"/>
                </a:lnTo>
                <a:lnTo>
                  <a:pt x="254152" y="244957"/>
                </a:lnTo>
                <a:lnTo>
                  <a:pt x="257048" y="254279"/>
                </a:lnTo>
                <a:lnTo>
                  <a:pt x="257175" y="254673"/>
                </a:lnTo>
                <a:lnTo>
                  <a:pt x="260629" y="264045"/>
                </a:lnTo>
                <a:lnTo>
                  <a:pt x="264553" y="272923"/>
                </a:lnTo>
                <a:lnTo>
                  <a:pt x="269214" y="281711"/>
                </a:lnTo>
                <a:lnTo>
                  <a:pt x="254152" y="325983"/>
                </a:lnTo>
                <a:lnTo>
                  <a:pt x="287096" y="358952"/>
                </a:lnTo>
                <a:lnTo>
                  <a:pt x="331343" y="343877"/>
                </a:lnTo>
                <a:lnTo>
                  <a:pt x="339991" y="348488"/>
                </a:lnTo>
                <a:lnTo>
                  <a:pt x="348996" y="352475"/>
                </a:lnTo>
                <a:lnTo>
                  <a:pt x="358343" y="355942"/>
                </a:lnTo>
                <a:lnTo>
                  <a:pt x="368058" y="358952"/>
                </a:lnTo>
                <a:lnTo>
                  <a:pt x="388759" y="400405"/>
                </a:lnTo>
                <a:lnTo>
                  <a:pt x="435825" y="400405"/>
                </a:lnTo>
                <a:lnTo>
                  <a:pt x="456539" y="358952"/>
                </a:lnTo>
                <a:lnTo>
                  <a:pt x="466242" y="355942"/>
                </a:lnTo>
                <a:lnTo>
                  <a:pt x="475602" y="352475"/>
                </a:lnTo>
                <a:lnTo>
                  <a:pt x="484593" y="348488"/>
                </a:lnTo>
                <a:lnTo>
                  <a:pt x="493242" y="343877"/>
                </a:lnTo>
                <a:lnTo>
                  <a:pt x="537489" y="358952"/>
                </a:lnTo>
                <a:lnTo>
                  <a:pt x="552983" y="343877"/>
                </a:lnTo>
                <a:lnTo>
                  <a:pt x="571373" y="325983"/>
                </a:lnTo>
                <a:lnTo>
                  <a:pt x="556310" y="281711"/>
                </a:lnTo>
                <a:lnTo>
                  <a:pt x="560997" y="273050"/>
                </a:lnTo>
                <a:lnTo>
                  <a:pt x="561797" y="271348"/>
                </a:lnTo>
                <a:lnTo>
                  <a:pt x="565378" y="263690"/>
                </a:lnTo>
                <a:lnTo>
                  <a:pt x="569150" y="254279"/>
                </a:lnTo>
                <a:lnTo>
                  <a:pt x="572312" y="244957"/>
                </a:lnTo>
                <a:lnTo>
                  <a:pt x="613727" y="224231"/>
                </a:lnTo>
                <a:lnTo>
                  <a:pt x="613727" y="177126"/>
                </a:lnTo>
                <a:close/>
              </a:path>
            </a:pathLst>
          </a:custGeom>
          <a:solidFill>
            <a:srgbClr val="00BAFF"/>
          </a:solidFill>
        </p:spPr>
        <p:txBody>
          <a:bodyPr wrap="square" lIns="0" tIns="0" rIns="0" bIns="0" rtlCol="0"/>
          <a:lstStyle/>
          <a:p>
            <a:endParaRPr sz="2400"/>
          </a:p>
        </p:txBody>
      </p:sp>
      <p:sp>
        <p:nvSpPr>
          <p:cNvPr id="6" name="object 6"/>
          <p:cNvSpPr txBox="1"/>
          <p:nvPr/>
        </p:nvSpPr>
        <p:spPr>
          <a:xfrm>
            <a:off x="7184473" y="3559387"/>
            <a:ext cx="1310640" cy="586507"/>
          </a:xfrm>
          <a:prstGeom prst="rect">
            <a:avLst/>
          </a:prstGeom>
        </p:spPr>
        <p:txBody>
          <a:bodyPr vert="horz" wrap="square" lIns="0" tIns="15240" rIns="0" bIns="0" rtlCol="0">
            <a:spAutoFit/>
          </a:bodyPr>
          <a:lstStyle/>
          <a:p>
            <a:pPr marL="16933" marR="6773">
              <a:lnSpc>
                <a:spcPct val="100699"/>
              </a:lnSpc>
              <a:spcBef>
                <a:spcPts val="120"/>
              </a:spcBef>
            </a:pPr>
            <a:r>
              <a:rPr sz="1867" b="1" spc="-13" dirty="0">
                <a:solidFill>
                  <a:srgbClr val="D9D9D9"/>
                </a:solidFill>
                <a:latin typeface="Calibri"/>
                <a:cs typeface="Calibri"/>
              </a:rPr>
              <a:t>Operational </a:t>
            </a:r>
            <a:r>
              <a:rPr sz="1867" b="1" dirty="0">
                <a:solidFill>
                  <a:srgbClr val="D9D9D9"/>
                </a:solidFill>
                <a:latin typeface="Calibri"/>
                <a:cs typeface="Calibri"/>
              </a:rPr>
              <a:t>data</a:t>
            </a:r>
            <a:r>
              <a:rPr sz="1867" b="1" spc="-47" dirty="0">
                <a:solidFill>
                  <a:srgbClr val="D9D9D9"/>
                </a:solidFill>
                <a:latin typeface="Calibri"/>
                <a:cs typeface="Calibri"/>
              </a:rPr>
              <a:t> </a:t>
            </a:r>
            <a:r>
              <a:rPr sz="1867" b="1" spc="-13" dirty="0">
                <a:solidFill>
                  <a:srgbClr val="D9D9D9"/>
                </a:solidFill>
                <a:latin typeface="Calibri"/>
                <a:cs typeface="Calibri"/>
              </a:rPr>
              <a:t>keeping</a:t>
            </a:r>
            <a:endParaRPr sz="1867">
              <a:latin typeface="Calibri"/>
              <a:cs typeface="Calibri"/>
            </a:endParaRPr>
          </a:p>
        </p:txBody>
      </p:sp>
      <p:sp>
        <p:nvSpPr>
          <p:cNvPr id="7" name="object 7"/>
          <p:cNvSpPr txBox="1"/>
          <p:nvPr/>
        </p:nvSpPr>
        <p:spPr>
          <a:xfrm>
            <a:off x="3396827" y="3559387"/>
            <a:ext cx="1012613" cy="304421"/>
          </a:xfrm>
          <a:prstGeom prst="rect">
            <a:avLst/>
          </a:prstGeom>
        </p:spPr>
        <p:txBody>
          <a:bodyPr vert="horz" wrap="square" lIns="0" tIns="16933" rIns="0" bIns="0" rtlCol="0">
            <a:spAutoFit/>
          </a:bodyPr>
          <a:lstStyle/>
          <a:p>
            <a:pPr marL="16933">
              <a:spcBef>
                <a:spcPts val="133"/>
              </a:spcBef>
            </a:pPr>
            <a:r>
              <a:rPr sz="1867" b="1" spc="-13" dirty="0">
                <a:solidFill>
                  <a:srgbClr val="D9D9D9"/>
                </a:solidFill>
                <a:latin typeface="Calibri"/>
                <a:cs typeface="Calibri"/>
              </a:rPr>
              <a:t>Analytical</a:t>
            </a:r>
            <a:endParaRPr sz="1867" dirty="0">
              <a:latin typeface="Calibri"/>
              <a:cs typeface="Calibri"/>
            </a:endParaRPr>
          </a:p>
        </p:txBody>
      </p:sp>
      <p:sp>
        <p:nvSpPr>
          <p:cNvPr id="8" name="object 8"/>
          <p:cNvSpPr txBox="1"/>
          <p:nvPr/>
        </p:nvSpPr>
        <p:spPr>
          <a:xfrm>
            <a:off x="3116410" y="3845899"/>
            <a:ext cx="1622213" cy="304421"/>
          </a:xfrm>
          <a:prstGeom prst="rect">
            <a:avLst/>
          </a:prstGeom>
        </p:spPr>
        <p:txBody>
          <a:bodyPr vert="horz" wrap="square" lIns="0" tIns="16933" rIns="0" bIns="0" rtlCol="0">
            <a:spAutoFit/>
          </a:bodyPr>
          <a:lstStyle/>
          <a:p>
            <a:pPr marL="16933">
              <a:spcBef>
                <a:spcPts val="133"/>
              </a:spcBef>
            </a:pPr>
            <a:r>
              <a:rPr sz="1867" b="1" dirty="0">
                <a:solidFill>
                  <a:srgbClr val="D9D9D9"/>
                </a:solidFill>
                <a:latin typeface="Calibri"/>
                <a:cs typeface="Calibri"/>
              </a:rPr>
              <a:t>decision</a:t>
            </a:r>
            <a:r>
              <a:rPr sz="1867" b="1" spc="-53" dirty="0">
                <a:solidFill>
                  <a:srgbClr val="D9D9D9"/>
                </a:solidFill>
                <a:latin typeface="Calibri"/>
                <a:cs typeface="Calibri"/>
              </a:rPr>
              <a:t> </a:t>
            </a:r>
            <a:r>
              <a:rPr sz="1867" b="1" spc="-13" dirty="0">
                <a:solidFill>
                  <a:srgbClr val="D9D9D9"/>
                </a:solidFill>
                <a:latin typeface="Calibri"/>
                <a:cs typeface="Calibri"/>
              </a:rPr>
              <a:t>making</a:t>
            </a:r>
            <a:endParaRPr sz="1867">
              <a:latin typeface="Calibri"/>
              <a:cs typeface="Calibri"/>
            </a:endParaRPr>
          </a:p>
        </p:txBody>
      </p:sp>
      <p:grpSp>
        <p:nvGrpSpPr>
          <p:cNvPr id="9" name="object 9"/>
          <p:cNvGrpSpPr/>
          <p:nvPr/>
        </p:nvGrpSpPr>
        <p:grpSpPr>
          <a:xfrm>
            <a:off x="8674608" y="2056384"/>
            <a:ext cx="3066627" cy="1784773"/>
            <a:chOff x="6505956" y="1542288"/>
            <a:chExt cx="2299970" cy="1338580"/>
          </a:xfrm>
        </p:grpSpPr>
        <p:pic>
          <p:nvPicPr>
            <p:cNvPr id="10" name="object 10"/>
            <p:cNvPicPr/>
            <p:nvPr/>
          </p:nvPicPr>
          <p:blipFill>
            <a:blip r:embed="rId3" cstate="print"/>
            <a:stretch>
              <a:fillRect/>
            </a:stretch>
          </p:blipFill>
          <p:spPr>
            <a:xfrm>
              <a:off x="6510528" y="1542288"/>
              <a:ext cx="2295144" cy="1338072"/>
            </a:xfrm>
            <a:prstGeom prst="rect">
              <a:avLst/>
            </a:prstGeom>
          </p:spPr>
        </p:pic>
        <p:pic>
          <p:nvPicPr>
            <p:cNvPr id="11" name="object 11"/>
            <p:cNvPicPr/>
            <p:nvPr/>
          </p:nvPicPr>
          <p:blipFill>
            <a:blip r:embed="rId4" cstate="print"/>
            <a:stretch>
              <a:fillRect/>
            </a:stretch>
          </p:blipFill>
          <p:spPr>
            <a:xfrm>
              <a:off x="6505956" y="1584947"/>
              <a:ext cx="2127504" cy="880884"/>
            </a:xfrm>
            <a:prstGeom prst="rect">
              <a:avLst/>
            </a:prstGeom>
          </p:spPr>
        </p:pic>
      </p:grpSp>
      <p:sp>
        <p:nvSpPr>
          <p:cNvPr id="12" name="object 12"/>
          <p:cNvSpPr txBox="1"/>
          <p:nvPr/>
        </p:nvSpPr>
        <p:spPr>
          <a:xfrm>
            <a:off x="8743696" y="2088896"/>
            <a:ext cx="2940473" cy="970544"/>
          </a:xfrm>
          <a:prstGeom prst="rect">
            <a:avLst/>
          </a:prstGeom>
          <a:noFill/>
          <a:ln w="9144">
            <a:noFill/>
          </a:ln>
        </p:spPr>
        <p:txBody>
          <a:bodyPr vert="horz" wrap="square" lIns="0" tIns="107527" rIns="0" bIns="0" rtlCol="0">
            <a:spAutoFit/>
          </a:bodyPr>
          <a:lstStyle/>
          <a:p>
            <a:pPr marL="580797" indent="-457189">
              <a:spcBef>
                <a:spcPts val="847"/>
              </a:spcBef>
              <a:buFont typeface="Courier New"/>
              <a:buChar char="o"/>
              <a:tabLst>
                <a:tab pos="580797" algn="l"/>
              </a:tabLst>
            </a:pPr>
            <a:r>
              <a:rPr sz="1867" dirty="0">
                <a:solidFill>
                  <a:srgbClr val="FFFFFF"/>
                </a:solidFill>
                <a:latin typeface="Calibri"/>
                <a:cs typeface="Calibri"/>
              </a:rPr>
              <a:t>One</a:t>
            </a:r>
            <a:r>
              <a:rPr sz="1867" spc="-20" dirty="0">
                <a:solidFill>
                  <a:srgbClr val="FFFFFF"/>
                </a:solidFill>
                <a:latin typeface="Calibri"/>
                <a:cs typeface="Calibri"/>
              </a:rPr>
              <a:t> </a:t>
            </a:r>
            <a:r>
              <a:rPr sz="1867" dirty="0">
                <a:solidFill>
                  <a:srgbClr val="FFFFFF"/>
                </a:solidFill>
                <a:latin typeface="Calibri"/>
                <a:cs typeface="Calibri"/>
              </a:rPr>
              <a:t>record</a:t>
            </a:r>
            <a:r>
              <a:rPr sz="1867" spc="-53" dirty="0">
                <a:solidFill>
                  <a:srgbClr val="FFFFFF"/>
                </a:solidFill>
                <a:latin typeface="Calibri"/>
                <a:cs typeface="Calibri"/>
              </a:rPr>
              <a:t> </a:t>
            </a:r>
            <a:r>
              <a:rPr sz="1867" dirty="0">
                <a:solidFill>
                  <a:srgbClr val="FFFFFF"/>
                </a:solidFill>
                <a:latin typeface="Calibri"/>
                <a:cs typeface="Calibri"/>
              </a:rPr>
              <a:t>at</a:t>
            </a:r>
            <a:r>
              <a:rPr sz="1867" spc="-20" dirty="0">
                <a:solidFill>
                  <a:srgbClr val="FFFFFF"/>
                </a:solidFill>
                <a:latin typeface="Calibri"/>
                <a:cs typeface="Calibri"/>
              </a:rPr>
              <a:t> </a:t>
            </a:r>
            <a:r>
              <a:rPr sz="1867" dirty="0">
                <a:solidFill>
                  <a:srgbClr val="FFFFFF"/>
                </a:solidFill>
                <a:latin typeface="Calibri"/>
                <a:cs typeface="Calibri"/>
              </a:rPr>
              <a:t>a</a:t>
            </a:r>
            <a:r>
              <a:rPr sz="1867" spc="-13" dirty="0">
                <a:solidFill>
                  <a:srgbClr val="FFFFFF"/>
                </a:solidFill>
                <a:latin typeface="Calibri"/>
                <a:cs typeface="Calibri"/>
              </a:rPr>
              <a:t> </a:t>
            </a:r>
            <a:r>
              <a:rPr sz="1867" spc="-27" dirty="0">
                <a:solidFill>
                  <a:srgbClr val="FFFFFF"/>
                </a:solidFill>
                <a:latin typeface="Calibri"/>
                <a:cs typeface="Calibri"/>
              </a:rPr>
              <a:t>time</a:t>
            </a:r>
            <a:endParaRPr sz="1867" dirty="0">
              <a:latin typeface="Calibri"/>
              <a:cs typeface="Calibri"/>
            </a:endParaRPr>
          </a:p>
          <a:p>
            <a:pPr marL="580797" indent="-457189">
              <a:buFont typeface="Courier New"/>
              <a:buChar char="o"/>
              <a:tabLst>
                <a:tab pos="580797" algn="l"/>
              </a:tabLst>
            </a:pPr>
            <a:r>
              <a:rPr sz="1867" dirty="0">
                <a:solidFill>
                  <a:srgbClr val="FFFFFF"/>
                </a:solidFill>
                <a:latin typeface="Calibri"/>
                <a:cs typeface="Calibri"/>
              </a:rPr>
              <a:t>Data</a:t>
            </a:r>
            <a:r>
              <a:rPr sz="1867" spc="-40" dirty="0">
                <a:solidFill>
                  <a:srgbClr val="FFFFFF"/>
                </a:solidFill>
                <a:latin typeface="Calibri"/>
                <a:cs typeface="Calibri"/>
              </a:rPr>
              <a:t> </a:t>
            </a:r>
            <a:r>
              <a:rPr sz="1867" spc="-13" dirty="0">
                <a:solidFill>
                  <a:srgbClr val="FFFFFF"/>
                </a:solidFill>
                <a:latin typeface="Calibri"/>
                <a:cs typeface="Calibri"/>
              </a:rPr>
              <a:t>input</a:t>
            </a:r>
            <a:endParaRPr sz="1867" dirty="0">
              <a:latin typeface="Calibri"/>
              <a:cs typeface="Calibri"/>
            </a:endParaRPr>
          </a:p>
          <a:p>
            <a:pPr marL="580797" indent="-457189">
              <a:buFont typeface="Courier New"/>
              <a:buChar char="o"/>
              <a:tabLst>
                <a:tab pos="580797" algn="l"/>
              </a:tabLst>
            </a:pPr>
            <a:r>
              <a:rPr sz="1867" dirty="0">
                <a:solidFill>
                  <a:srgbClr val="FFFFFF"/>
                </a:solidFill>
                <a:latin typeface="Calibri"/>
                <a:cs typeface="Calibri"/>
              </a:rPr>
              <a:t>No</a:t>
            </a:r>
            <a:r>
              <a:rPr sz="1867" spc="-53" dirty="0">
                <a:solidFill>
                  <a:srgbClr val="FFFFFF"/>
                </a:solidFill>
                <a:latin typeface="Calibri"/>
                <a:cs typeface="Calibri"/>
              </a:rPr>
              <a:t> </a:t>
            </a:r>
            <a:r>
              <a:rPr sz="1867" dirty="0">
                <a:solidFill>
                  <a:srgbClr val="FFFFFF"/>
                </a:solidFill>
                <a:latin typeface="Calibri"/>
                <a:cs typeface="Calibri"/>
              </a:rPr>
              <a:t>long</a:t>
            </a:r>
            <a:r>
              <a:rPr sz="1867" spc="-7" dirty="0">
                <a:solidFill>
                  <a:srgbClr val="FFFFFF"/>
                </a:solidFill>
                <a:latin typeface="Calibri"/>
                <a:cs typeface="Calibri"/>
              </a:rPr>
              <a:t> </a:t>
            </a:r>
            <a:r>
              <a:rPr sz="1867" spc="-13" dirty="0">
                <a:solidFill>
                  <a:srgbClr val="FFFFFF"/>
                </a:solidFill>
                <a:latin typeface="Calibri"/>
                <a:cs typeface="Calibri"/>
              </a:rPr>
              <a:t>history</a:t>
            </a:r>
            <a:endParaRPr sz="1867" dirty="0">
              <a:latin typeface="Calibri"/>
              <a:cs typeface="Calibri"/>
            </a:endParaRPr>
          </a:p>
        </p:txBody>
      </p:sp>
      <p:grpSp>
        <p:nvGrpSpPr>
          <p:cNvPr id="13" name="object 13"/>
          <p:cNvGrpSpPr/>
          <p:nvPr/>
        </p:nvGrpSpPr>
        <p:grpSpPr>
          <a:xfrm>
            <a:off x="186943" y="1956815"/>
            <a:ext cx="3223260" cy="1983740"/>
            <a:chOff x="140207" y="1467611"/>
            <a:chExt cx="2417445" cy="1487805"/>
          </a:xfrm>
        </p:grpSpPr>
        <p:pic>
          <p:nvPicPr>
            <p:cNvPr id="14" name="object 14"/>
            <p:cNvPicPr/>
            <p:nvPr/>
          </p:nvPicPr>
          <p:blipFill>
            <a:blip r:embed="rId5" cstate="print"/>
            <a:stretch>
              <a:fillRect/>
            </a:stretch>
          </p:blipFill>
          <p:spPr>
            <a:xfrm>
              <a:off x="144779" y="1467611"/>
              <a:ext cx="2412492" cy="1487424"/>
            </a:xfrm>
            <a:prstGeom prst="rect">
              <a:avLst/>
            </a:prstGeom>
          </p:spPr>
        </p:pic>
        <p:pic>
          <p:nvPicPr>
            <p:cNvPr id="15" name="object 15"/>
            <p:cNvPicPr/>
            <p:nvPr/>
          </p:nvPicPr>
          <p:blipFill>
            <a:blip r:embed="rId6" cstate="print"/>
            <a:stretch>
              <a:fillRect/>
            </a:stretch>
          </p:blipFill>
          <p:spPr>
            <a:xfrm>
              <a:off x="140207" y="1510283"/>
              <a:ext cx="2409444" cy="1307591"/>
            </a:xfrm>
            <a:prstGeom prst="rect">
              <a:avLst/>
            </a:prstGeom>
          </p:spPr>
        </p:pic>
      </p:grpSp>
      <p:sp>
        <p:nvSpPr>
          <p:cNvPr id="16" name="object 16"/>
          <p:cNvSpPr txBox="1"/>
          <p:nvPr/>
        </p:nvSpPr>
        <p:spPr>
          <a:xfrm>
            <a:off x="256031" y="1989328"/>
            <a:ext cx="3140796" cy="1543478"/>
          </a:xfrm>
          <a:prstGeom prst="rect">
            <a:avLst/>
          </a:prstGeom>
          <a:noFill/>
          <a:ln w="9144">
            <a:noFill/>
          </a:ln>
        </p:spPr>
        <p:txBody>
          <a:bodyPr vert="horz" wrap="square" lIns="0" tIns="105833" rIns="0" bIns="0" rtlCol="0">
            <a:spAutoFit/>
          </a:bodyPr>
          <a:lstStyle/>
          <a:p>
            <a:pPr marL="578259" indent="-457189">
              <a:spcBef>
                <a:spcPts val="833"/>
              </a:spcBef>
              <a:buFont typeface="Courier New"/>
              <a:buChar char="o"/>
              <a:tabLst>
                <a:tab pos="578259" algn="l"/>
              </a:tabLst>
            </a:pPr>
            <a:r>
              <a:rPr sz="1867" dirty="0">
                <a:solidFill>
                  <a:srgbClr val="FFFFFF"/>
                </a:solidFill>
                <a:latin typeface="Calibri"/>
                <a:cs typeface="Calibri"/>
              </a:rPr>
              <a:t>Thousands</a:t>
            </a:r>
            <a:r>
              <a:rPr sz="1867" spc="-33" dirty="0">
                <a:solidFill>
                  <a:srgbClr val="FFFFFF"/>
                </a:solidFill>
                <a:latin typeface="Calibri"/>
                <a:cs typeface="Calibri"/>
              </a:rPr>
              <a:t> </a:t>
            </a:r>
            <a:r>
              <a:rPr sz="1867" dirty="0">
                <a:solidFill>
                  <a:srgbClr val="FFFFFF"/>
                </a:solidFill>
                <a:latin typeface="Calibri"/>
                <a:cs typeface="Calibri"/>
              </a:rPr>
              <a:t>of</a:t>
            </a:r>
            <a:r>
              <a:rPr sz="1867" spc="-73" dirty="0">
                <a:solidFill>
                  <a:srgbClr val="FFFFFF"/>
                </a:solidFill>
                <a:latin typeface="Calibri"/>
                <a:cs typeface="Calibri"/>
              </a:rPr>
              <a:t> </a:t>
            </a:r>
            <a:r>
              <a:rPr sz="1867" dirty="0">
                <a:solidFill>
                  <a:srgbClr val="FFFFFF"/>
                </a:solidFill>
                <a:latin typeface="Calibri"/>
                <a:cs typeface="Calibri"/>
              </a:rPr>
              <a:t>records</a:t>
            </a:r>
            <a:r>
              <a:rPr sz="1867" spc="-53" dirty="0">
                <a:solidFill>
                  <a:srgbClr val="FFFFFF"/>
                </a:solidFill>
                <a:latin typeface="Calibri"/>
                <a:cs typeface="Calibri"/>
              </a:rPr>
              <a:t> </a:t>
            </a:r>
            <a:r>
              <a:rPr sz="1867" spc="-47" dirty="0">
                <a:solidFill>
                  <a:srgbClr val="FFFFFF"/>
                </a:solidFill>
                <a:latin typeface="Calibri"/>
                <a:cs typeface="Calibri"/>
              </a:rPr>
              <a:t>at</a:t>
            </a:r>
            <a:endParaRPr sz="1867" dirty="0">
              <a:latin typeface="Calibri"/>
              <a:cs typeface="Calibri"/>
            </a:endParaRPr>
          </a:p>
          <a:p>
            <a:pPr marL="578259">
              <a:spcBef>
                <a:spcPts val="7"/>
              </a:spcBef>
            </a:pPr>
            <a:r>
              <a:rPr sz="1867" dirty="0">
                <a:solidFill>
                  <a:srgbClr val="FFFFFF"/>
                </a:solidFill>
                <a:latin typeface="Calibri"/>
                <a:cs typeface="Calibri"/>
              </a:rPr>
              <a:t>a</a:t>
            </a:r>
            <a:r>
              <a:rPr sz="1867" spc="-20" dirty="0">
                <a:solidFill>
                  <a:srgbClr val="FFFFFF"/>
                </a:solidFill>
                <a:latin typeface="Calibri"/>
                <a:cs typeface="Calibri"/>
              </a:rPr>
              <a:t> </a:t>
            </a:r>
            <a:r>
              <a:rPr sz="1867" spc="-27" dirty="0">
                <a:solidFill>
                  <a:srgbClr val="FFFFFF"/>
                </a:solidFill>
                <a:latin typeface="Calibri"/>
                <a:cs typeface="Calibri"/>
              </a:rPr>
              <a:t>time</a:t>
            </a:r>
            <a:endParaRPr sz="1867" dirty="0">
              <a:latin typeface="Calibri"/>
              <a:cs typeface="Calibri"/>
            </a:endParaRPr>
          </a:p>
          <a:p>
            <a:pPr marL="578259" indent="-457189">
              <a:buFont typeface="Courier New"/>
              <a:buChar char="o"/>
              <a:tabLst>
                <a:tab pos="578259" algn="l"/>
              </a:tabLst>
            </a:pPr>
            <a:r>
              <a:rPr sz="1867" dirty="0">
                <a:solidFill>
                  <a:srgbClr val="FFFFFF"/>
                </a:solidFill>
                <a:latin typeface="Calibri"/>
                <a:cs typeface="Calibri"/>
              </a:rPr>
              <a:t>Fast</a:t>
            </a:r>
            <a:r>
              <a:rPr sz="1867" spc="-53" dirty="0">
                <a:solidFill>
                  <a:srgbClr val="FFFFFF"/>
                </a:solidFill>
                <a:latin typeface="Calibri"/>
                <a:cs typeface="Calibri"/>
              </a:rPr>
              <a:t> </a:t>
            </a:r>
            <a:r>
              <a:rPr sz="1867" dirty="0">
                <a:solidFill>
                  <a:srgbClr val="FFFFFF"/>
                </a:solidFill>
                <a:latin typeface="Calibri"/>
                <a:cs typeface="Calibri"/>
              </a:rPr>
              <a:t>query</a:t>
            </a:r>
            <a:r>
              <a:rPr sz="1867" spc="-27" dirty="0">
                <a:solidFill>
                  <a:srgbClr val="FFFFFF"/>
                </a:solidFill>
                <a:latin typeface="Calibri"/>
                <a:cs typeface="Calibri"/>
              </a:rPr>
              <a:t> </a:t>
            </a:r>
            <a:r>
              <a:rPr sz="1867" spc="-13" dirty="0">
                <a:solidFill>
                  <a:srgbClr val="FFFFFF"/>
                </a:solidFill>
                <a:latin typeface="Calibri"/>
                <a:cs typeface="Calibri"/>
              </a:rPr>
              <a:t>performance</a:t>
            </a:r>
            <a:endParaRPr sz="1867" dirty="0">
              <a:latin typeface="Calibri"/>
              <a:cs typeface="Calibri"/>
            </a:endParaRPr>
          </a:p>
          <a:p>
            <a:pPr marL="578259" indent="-457189">
              <a:buFont typeface="Courier New"/>
              <a:buChar char="o"/>
              <a:tabLst>
                <a:tab pos="578259" algn="l"/>
              </a:tabLst>
            </a:pPr>
            <a:r>
              <a:rPr sz="1867" dirty="0">
                <a:solidFill>
                  <a:srgbClr val="FFFFFF"/>
                </a:solidFill>
                <a:latin typeface="Calibri"/>
                <a:cs typeface="Calibri"/>
              </a:rPr>
              <a:t>Historical</a:t>
            </a:r>
            <a:r>
              <a:rPr sz="1867" spc="-93" dirty="0">
                <a:solidFill>
                  <a:srgbClr val="FFFFFF"/>
                </a:solidFill>
                <a:latin typeface="Calibri"/>
                <a:cs typeface="Calibri"/>
              </a:rPr>
              <a:t> </a:t>
            </a:r>
            <a:r>
              <a:rPr sz="1867" spc="-13" dirty="0">
                <a:solidFill>
                  <a:srgbClr val="FFFFFF"/>
                </a:solidFill>
                <a:latin typeface="Calibri"/>
                <a:cs typeface="Calibri"/>
              </a:rPr>
              <a:t>context</a:t>
            </a:r>
            <a:endParaRPr sz="1867" dirty="0">
              <a:latin typeface="Calibri"/>
              <a:cs typeface="Calibri"/>
            </a:endParaRPr>
          </a:p>
          <a:p>
            <a:pPr marL="578259" indent="-457189">
              <a:buFont typeface="Courier New"/>
              <a:buChar char="o"/>
              <a:tabLst>
                <a:tab pos="578259" algn="l"/>
              </a:tabLst>
            </a:pPr>
            <a:r>
              <a:rPr sz="1867" spc="-13" dirty="0">
                <a:solidFill>
                  <a:srgbClr val="FFFFFF"/>
                </a:solidFill>
                <a:latin typeface="Calibri"/>
                <a:cs typeface="Calibri"/>
              </a:rPr>
              <a:t>Usablity</a:t>
            </a:r>
            <a:endParaRPr sz="1867" dirty="0">
              <a:latin typeface="Calibri"/>
              <a:cs typeface="Calibri"/>
            </a:endParaRPr>
          </a:p>
        </p:txBody>
      </p:sp>
      <p:sp>
        <p:nvSpPr>
          <p:cNvPr id="17" name="object 17"/>
          <p:cNvSpPr/>
          <p:nvPr/>
        </p:nvSpPr>
        <p:spPr>
          <a:xfrm>
            <a:off x="5892800" y="1601215"/>
            <a:ext cx="0" cy="2628052"/>
          </a:xfrm>
          <a:custGeom>
            <a:avLst/>
            <a:gdLst/>
            <a:ahLst/>
            <a:cxnLst/>
            <a:rect l="l" t="t" r="r" b="b"/>
            <a:pathLst>
              <a:path h="1971039">
                <a:moveTo>
                  <a:pt x="0" y="0"/>
                </a:moveTo>
                <a:lnTo>
                  <a:pt x="0" y="1971039"/>
                </a:lnTo>
              </a:path>
            </a:pathLst>
          </a:custGeom>
          <a:ln w="57912">
            <a:solidFill>
              <a:srgbClr val="00C2FF"/>
            </a:solidFill>
          </a:ln>
        </p:spPr>
        <p:txBody>
          <a:bodyPr wrap="square" lIns="0" tIns="0" rIns="0" bIns="0" rtlCol="0"/>
          <a:lstStyle/>
          <a:p>
            <a:endParaRPr sz="2400"/>
          </a:p>
        </p:txBody>
      </p:sp>
      <p:sp>
        <p:nvSpPr>
          <p:cNvPr id="19" name="object 19"/>
          <p:cNvSpPr txBox="1"/>
          <p:nvPr/>
        </p:nvSpPr>
        <p:spPr>
          <a:xfrm>
            <a:off x="1961639" y="5055613"/>
            <a:ext cx="8217747" cy="467586"/>
          </a:xfrm>
          <a:prstGeom prst="rect">
            <a:avLst/>
          </a:prstGeom>
        </p:spPr>
        <p:txBody>
          <a:bodyPr vert="horz" wrap="square" lIns="0" tIns="16087" rIns="0" bIns="0" rtlCol="0">
            <a:spAutoFit/>
          </a:bodyPr>
          <a:lstStyle/>
          <a:p>
            <a:pPr marL="16933">
              <a:spcBef>
                <a:spcPts val="127"/>
              </a:spcBef>
            </a:pPr>
            <a:r>
              <a:rPr sz="2933" b="1" dirty="0">
                <a:solidFill>
                  <a:srgbClr val="D9D9D9"/>
                </a:solidFill>
                <a:latin typeface="Calibri"/>
                <a:cs typeface="Calibri"/>
              </a:rPr>
              <a:t>DWH</a:t>
            </a:r>
            <a:r>
              <a:rPr sz="2933" b="1" spc="-20" dirty="0">
                <a:solidFill>
                  <a:srgbClr val="D9D9D9"/>
                </a:solidFill>
                <a:latin typeface="Calibri"/>
                <a:cs typeface="Calibri"/>
              </a:rPr>
              <a:t> </a:t>
            </a:r>
            <a:r>
              <a:rPr sz="2933" b="1" dirty="0">
                <a:solidFill>
                  <a:srgbClr val="D9D9D9"/>
                </a:solidFill>
                <a:latin typeface="Calibri"/>
                <a:cs typeface="Calibri"/>
              </a:rPr>
              <a:t>is</a:t>
            </a:r>
            <a:r>
              <a:rPr sz="2933" b="1" spc="-60" dirty="0">
                <a:solidFill>
                  <a:srgbClr val="D9D9D9"/>
                </a:solidFill>
                <a:latin typeface="Calibri"/>
                <a:cs typeface="Calibri"/>
              </a:rPr>
              <a:t> </a:t>
            </a:r>
            <a:r>
              <a:rPr sz="2933" b="1" dirty="0">
                <a:solidFill>
                  <a:srgbClr val="D9D9D9"/>
                </a:solidFill>
                <a:latin typeface="Calibri"/>
                <a:cs typeface="Calibri"/>
              </a:rPr>
              <a:t>there</a:t>
            </a:r>
            <a:r>
              <a:rPr sz="2933" b="1" spc="-33" dirty="0">
                <a:solidFill>
                  <a:srgbClr val="D9D9D9"/>
                </a:solidFill>
                <a:latin typeface="Calibri"/>
                <a:cs typeface="Calibri"/>
              </a:rPr>
              <a:t> </a:t>
            </a:r>
            <a:r>
              <a:rPr sz="2933" b="1" dirty="0">
                <a:solidFill>
                  <a:srgbClr val="D9D9D9"/>
                </a:solidFill>
                <a:latin typeface="Calibri"/>
                <a:cs typeface="Calibri"/>
              </a:rPr>
              <a:t>to</a:t>
            </a:r>
            <a:r>
              <a:rPr sz="2933" b="1" spc="-47" dirty="0">
                <a:solidFill>
                  <a:srgbClr val="D9D9D9"/>
                </a:solidFill>
                <a:latin typeface="Calibri"/>
                <a:cs typeface="Calibri"/>
              </a:rPr>
              <a:t> </a:t>
            </a:r>
            <a:r>
              <a:rPr sz="2933" b="1" dirty="0">
                <a:solidFill>
                  <a:srgbClr val="D9D9D9"/>
                </a:solidFill>
                <a:latin typeface="Calibri"/>
                <a:cs typeface="Calibri"/>
              </a:rPr>
              <a:t>address</a:t>
            </a:r>
            <a:r>
              <a:rPr sz="2933" b="1" spc="-27" dirty="0">
                <a:solidFill>
                  <a:srgbClr val="D9D9D9"/>
                </a:solidFill>
                <a:latin typeface="Calibri"/>
                <a:cs typeface="Calibri"/>
              </a:rPr>
              <a:t> </a:t>
            </a:r>
            <a:r>
              <a:rPr sz="2933" b="1" dirty="0">
                <a:solidFill>
                  <a:srgbClr val="D9D9D9"/>
                </a:solidFill>
                <a:latin typeface="Calibri"/>
                <a:cs typeface="Calibri"/>
              </a:rPr>
              <a:t>those</a:t>
            </a:r>
            <a:r>
              <a:rPr sz="2933" b="1" spc="-47" dirty="0">
                <a:solidFill>
                  <a:srgbClr val="D9D9D9"/>
                </a:solidFill>
                <a:latin typeface="Calibri"/>
                <a:cs typeface="Calibri"/>
              </a:rPr>
              <a:t> </a:t>
            </a:r>
            <a:r>
              <a:rPr sz="2933" b="1" dirty="0">
                <a:solidFill>
                  <a:srgbClr val="D9D9D9"/>
                </a:solidFill>
                <a:latin typeface="Calibri"/>
                <a:cs typeface="Calibri"/>
              </a:rPr>
              <a:t>analytical</a:t>
            </a:r>
            <a:r>
              <a:rPr sz="2933" b="1" spc="-33" dirty="0">
                <a:solidFill>
                  <a:srgbClr val="D9D9D9"/>
                </a:solidFill>
                <a:latin typeface="Calibri"/>
                <a:cs typeface="Calibri"/>
              </a:rPr>
              <a:t> </a:t>
            </a:r>
            <a:r>
              <a:rPr sz="2933" b="1" dirty="0">
                <a:solidFill>
                  <a:srgbClr val="D9D9D9"/>
                </a:solidFill>
                <a:latin typeface="Calibri"/>
                <a:cs typeface="Calibri"/>
              </a:rPr>
              <a:t>data</a:t>
            </a:r>
            <a:r>
              <a:rPr sz="2933" b="1" spc="-40" dirty="0">
                <a:solidFill>
                  <a:srgbClr val="D9D9D9"/>
                </a:solidFill>
                <a:latin typeface="Calibri"/>
                <a:cs typeface="Calibri"/>
              </a:rPr>
              <a:t> </a:t>
            </a:r>
            <a:r>
              <a:rPr sz="2933" b="1" spc="-13" dirty="0">
                <a:solidFill>
                  <a:srgbClr val="D9D9D9"/>
                </a:solidFill>
                <a:latin typeface="Calibri"/>
                <a:cs typeface="Calibri"/>
              </a:rPr>
              <a:t>needs!</a:t>
            </a:r>
            <a:endParaRPr sz="2933" dirty="0">
              <a:latin typeface="Calibri"/>
              <a:cs typeface="Calibri"/>
            </a:endParaRPr>
          </a:p>
        </p:txBody>
      </p:sp>
      <p:sp>
        <p:nvSpPr>
          <p:cNvPr id="20" name="object 26">
            <a:extLst>
              <a:ext uri="{FF2B5EF4-FFF2-40B4-BE49-F238E27FC236}">
                <a16:creationId xmlns:a16="http://schemas.microsoft.com/office/drawing/2014/main" id="{A95807B3-4C1E-A40F-493E-A45B7C70049D}"/>
              </a:ext>
            </a:extLst>
          </p:cNvPr>
          <p:cNvSpPr txBox="1"/>
          <p:nvPr/>
        </p:nvSpPr>
        <p:spPr>
          <a:xfrm>
            <a:off x="1576407" y="4204964"/>
            <a:ext cx="8988212" cy="755762"/>
          </a:xfrm>
          <a:prstGeom prst="rect">
            <a:avLst/>
          </a:prstGeom>
        </p:spPr>
        <p:txBody>
          <a:bodyPr vert="horz" wrap="square" lIns="0" tIns="16933" rIns="0" bIns="0" rtlCol="0">
            <a:spAutoFit/>
          </a:bodyPr>
          <a:lstStyle/>
          <a:p>
            <a:pPr marL="16933">
              <a:spcBef>
                <a:spcPts val="133"/>
              </a:spcBef>
            </a:pPr>
            <a:r>
              <a:rPr sz="4800" dirty="0">
                <a:solidFill>
                  <a:srgbClr val="FFFFFF"/>
                </a:solidFill>
                <a:latin typeface="Calibri"/>
                <a:cs typeface="Calibri"/>
              </a:rPr>
              <a:t>Used</a:t>
            </a:r>
            <a:r>
              <a:rPr sz="4800" spc="-27" dirty="0">
                <a:solidFill>
                  <a:srgbClr val="FFFFFF"/>
                </a:solidFill>
                <a:latin typeface="Calibri"/>
                <a:cs typeface="Calibri"/>
              </a:rPr>
              <a:t> </a:t>
            </a:r>
            <a:r>
              <a:rPr sz="4800" dirty="0">
                <a:solidFill>
                  <a:srgbClr val="FFFFFF"/>
                </a:solidFill>
                <a:latin typeface="Calibri"/>
                <a:cs typeface="Calibri"/>
              </a:rPr>
              <a:t>for</a:t>
            </a:r>
            <a:r>
              <a:rPr sz="4800" spc="-13" dirty="0">
                <a:solidFill>
                  <a:srgbClr val="FFFFFF"/>
                </a:solidFill>
                <a:latin typeface="Calibri"/>
                <a:cs typeface="Calibri"/>
              </a:rPr>
              <a:t> </a:t>
            </a:r>
            <a:r>
              <a:rPr sz="4800" dirty="0">
                <a:solidFill>
                  <a:srgbClr val="FFFFFF"/>
                </a:solidFill>
                <a:latin typeface="Calibri"/>
                <a:cs typeface="Calibri"/>
              </a:rPr>
              <a:t>reporting</a:t>
            </a:r>
            <a:r>
              <a:rPr sz="4800" spc="-60" dirty="0">
                <a:solidFill>
                  <a:srgbClr val="FFFFFF"/>
                </a:solidFill>
                <a:latin typeface="Calibri"/>
                <a:cs typeface="Calibri"/>
              </a:rPr>
              <a:t> </a:t>
            </a:r>
            <a:r>
              <a:rPr sz="4800" dirty="0">
                <a:solidFill>
                  <a:srgbClr val="FFFFFF"/>
                </a:solidFill>
                <a:latin typeface="Calibri"/>
                <a:cs typeface="Calibri"/>
              </a:rPr>
              <a:t>and</a:t>
            </a:r>
            <a:r>
              <a:rPr sz="4800" spc="-40" dirty="0">
                <a:solidFill>
                  <a:srgbClr val="FFFFFF"/>
                </a:solidFill>
                <a:latin typeface="Calibri"/>
                <a:cs typeface="Calibri"/>
              </a:rPr>
              <a:t> </a:t>
            </a:r>
            <a:r>
              <a:rPr sz="4800" dirty="0">
                <a:solidFill>
                  <a:srgbClr val="FFFFFF"/>
                </a:solidFill>
                <a:latin typeface="Calibri"/>
                <a:cs typeface="Calibri"/>
              </a:rPr>
              <a:t>data</a:t>
            </a:r>
            <a:r>
              <a:rPr sz="4800" spc="-40" dirty="0">
                <a:solidFill>
                  <a:srgbClr val="FFFFFF"/>
                </a:solidFill>
                <a:latin typeface="Calibri"/>
                <a:cs typeface="Calibri"/>
              </a:rPr>
              <a:t> </a:t>
            </a:r>
            <a:r>
              <a:rPr sz="4800" spc="-13" dirty="0">
                <a:solidFill>
                  <a:srgbClr val="FFFFFF"/>
                </a:solidFill>
                <a:latin typeface="Calibri"/>
                <a:cs typeface="Calibri"/>
              </a:rPr>
              <a:t>analysis</a:t>
            </a:r>
            <a:endParaRPr sz="4800" dirty="0">
              <a:latin typeface="Calibri"/>
              <a:cs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544BA7-AA79-887F-E566-68BBD5C8ECBC}"/>
              </a:ext>
            </a:extLst>
          </p:cNvPr>
          <p:cNvSpPr txBox="1"/>
          <p:nvPr/>
        </p:nvSpPr>
        <p:spPr>
          <a:xfrm>
            <a:off x="2882348" y="2892287"/>
            <a:ext cx="6708913" cy="769441"/>
          </a:xfrm>
          <a:prstGeom prst="rect">
            <a:avLst/>
          </a:prstGeom>
          <a:noFill/>
        </p:spPr>
        <p:txBody>
          <a:bodyPr wrap="square" rtlCol="0">
            <a:spAutoFit/>
          </a:bodyPr>
          <a:lstStyle/>
          <a:p>
            <a:r>
              <a:rPr lang="en-IN" sz="4400" dirty="0">
                <a:solidFill>
                  <a:schemeClr val="bg1"/>
                </a:solidFill>
              </a:rPr>
              <a:t>What is a Data Warehouse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578607" y="2174239"/>
            <a:ext cx="7569245" cy="2050627"/>
            <a:chOff x="1933955" y="1630679"/>
            <a:chExt cx="5195570" cy="1537970"/>
          </a:xfrm>
        </p:grpSpPr>
        <p:pic>
          <p:nvPicPr>
            <p:cNvPr id="4" name="object 4"/>
            <p:cNvPicPr/>
            <p:nvPr/>
          </p:nvPicPr>
          <p:blipFill>
            <a:blip r:embed="rId2" cstate="print"/>
            <a:stretch>
              <a:fillRect/>
            </a:stretch>
          </p:blipFill>
          <p:spPr>
            <a:xfrm>
              <a:off x="1933955" y="1630679"/>
              <a:ext cx="5195316" cy="1537716"/>
            </a:xfrm>
            <a:prstGeom prst="rect">
              <a:avLst/>
            </a:prstGeom>
          </p:spPr>
        </p:pic>
        <p:pic>
          <p:nvPicPr>
            <p:cNvPr id="5" name="object 5"/>
            <p:cNvPicPr/>
            <p:nvPr/>
          </p:nvPicPr>
          <p:blipFill>
            <a:blip r:embed="rId3" cstate="print"/>
            <a:stretch>
              <a:fillRect/>
            </a:stretch>
          </p:blipFill>
          <p:spPr>
            <a:xfrm>
              <a:off x="2115311" y="1749551"/>
              <a:ext cx="4888992" cy="1376172"/>
            </a:xfrm>
            <a:prstGeom prst="rect">
              <a:avLst/>
            </a:prstGeom>
          </p:spPr>
        </p:pic>
        <p:pic>
          <p:nvPicPr>
            <p:cNvPr id="6" name="object 6"/>
            <p:cNvPicPr/>
            <p:nvPr/>
          </p:nvPicPr>
          <p:blipFill>
            <a:blip r:embed="rId4" cstate="print"/>
            <a:stretch>
              <a:fillRect/>
            </a:stretch>
          </p:blipFill>
          <p:spPr>
            <a:xfrm>
              <a:off x="1981199" y="1658111"/>
              <a:ext cx="5105400" cy="1447800"/>
            </a:xfrm>
            <a:prstGeom prst="rect">
              <a:avLst/>
            </a:prstGeom>
          </p:spPr>
        </p:pic>
        <p:sp>
          <p:nvSpPr>
            <p:cNvPr id="7" name="object 7"/>
            <p:cNvSpPr/>
            <p:nvPr/>
          </p:nvSpPr>
          <p:spPr>
            <a:xfrm>
              <a:off x="1981199" y="1658111"/>
              <a:ext cx="5105400" cy="1447800"/>
            </a:xfrm>
            <a:custGeom>
              <a:avLst/>
              <a:gdLst/>
              <a:ahLst/>
              <a:cxnLst/>
              <a:rect l="l" t="t" r="r" b="b"/>
              <a:pathLst>
                <a:path w="5105400" h="1447800">
                  <a:moveTo>
                    <a:pt x="0" y="241300"/>
                  </a:moveTo>
                  <a:lnTo>
                    <a:pt x="4904" y="192682"/>
                  </a:lnTo>
                  <a:lnTo>
                    <a:pt x="18968" y="147393"/>
                  </a:lnTo>
                  <a:lnTo>
                    <a:pt x="41221" y="106405"/>
                  </a:lnTo>
                  <a:lnTo>
                    <a:pt x="70691" y="70691"/>
                  </a:lnTo>
                  <a:lnTo>
                    <a:pt x="106405" y="41221"/>
                  </a:lnTo>
                  <a:lnTo>
                    <a:pt x="147393" y="18968"/>
                  </a:lnTo>
                  <a:lnTo>
                    <a:pt x="192682" y="4904"/>
                  </a:lnTo>
                  <a:lnTo>
                    <a:pt x="241300" y="0"/>
                  </a:lnTo>
                  <a:lnTo>
                    <a:pt x="850900" y="0"/>
                  </a:lnTo>
                  <a:lnTo>
                    <a:pt x="2127250" y="0"/>
                  </a:lnTo>
                  <a:lnTo>
                    <a:pt x="4864100" y="0"/>
                  </a:lnTo>
                  <a:lnTo>
                    <a:pt x="4912717" y="4904"/>
                  </a:lnTo>
                  <a:lnTo>
                    <a:pt x="4958006" y="18968"/>
                  </a:lnTo>
                  <a:lnTo>
                    <a:pt x="4998994" y="41221"/>
                  </a:lnTo>
                  <a:lnTo>
                    <a:pt x="5034708" y="70691"/>
                  </a:lnTo>
                  <a:lnTo>
                    <a:pt x="5064178" y="106405"/>
                  </a:lnTo>
                  <a:lnTo>
                    <a:pt x="5086431" y="147393"/>
                  </a:lnTo>
                  <a:lnTo>
                    <a:pt x="5100495" y="192682"/>
                  </a:lnTo>
                  <a:lnTo>
                    <a:pt x="5105400" y="241300"/>
                  </a:lnTo>
                  <a:lnTo>
                    <a:pt x="5105400" y="844550"/>
                  </a:lnTo>
                  <a:lnTo>
                    <a:pt x="5105400" y="1206500"/>
                  </a:lnTo>
                  <a:lnTo>
                    <a:pt x="5100495" y="1255117"/>
                  </a:lnTo>
                  <a:lnTo>
                    <a:pt x="5086431" y="1300406"/>
                  </a:lnTo>
                  <a:lnTo>
                    <a:pt x="5064178" y="1341394"/>
                  </a:lnTo>
                  <a:lnTo>
                    <a:pt x="5034708" y="1377108"/>
                  </a:lnTo>
                  <a:lnTo>
                    <a:pt x="4998994" y="1406578"/>
                  </a:lnTo>
                  <a:lnTo>
                    <a:pt x="4958006" y="1428831"/>
                  </a:lnTo>
                  <a:lnTo>
                    <a:pt x="4912717" y="1442895"/>
                  </a:lnTo>
                  <a:lnTo>
                    <a:pt x="4864100" y="1447800"/>
                  </a:lnTo>
                  <a:lnTo>
                    <a:pt x="2127250" y="1447800"/>
                  </a:lnTo>
                  <a:lnTo>
                    <a:pt x="1038606" y="1447800"/>
                  </a:lnTo>
                  <a:lnTo>
                    <a:pt x="850900" y="1447800"/>
                  </a:lnTo>
                  <a:lnTo>
                    <a:pt x="241300" y="1447800"/>
                  </a:lnTo>
                  <a:lnTo>
                    <a:pt x="192682" y="1442895"/>
                  </a:lnTo>
                  <a:lnTo>
                    <a:pt x="147393" y="1428831"/>
                  </a:lnTo>
                  <a:lnTo>
                    <a:pt x="106405" y="1406578"/>
                  </a:lnTo>
                  <a:lnTo>
                    <a:pt x="70691" y="1377108"/>
                  </a:lnTo>
                  <a:lnTo>
                    <a:pt x="41221" y="1341394"/>
                  </a:lnTo>
                  <a:lnTo>
                    <a:pt x="18968" y="1300406"/>
                  </a:lnTo>
                  <a:lnTo>
                    <a:pt x="4904" y="1255117"/>
                  </a:lnTo>
                  <a:lnTo>
                    <a:pt x="0" y="1206500"/>
                  </a:lnTo>
                  <a:lnTo>
                    <a:pt x="0" y="844550"/>
                  </a:lnTo>
                  <a:lnTo>
                    <a:pt x="0" y="241300"/>
                  </a:lnTo>
                  <a:close/>
                </a:path>
              </a:pathLst>
            </a:custGeom>
            <a:ln w="9144">
              <a:solidFill>
                <a:srgbClr val="373737"/>
              </a:solidFill>
            </a:ln>
          </p:spPr>
          <p:txBody>
            <a:bodyPr wrap="square" lIns="0" tIns="0" rIns="0" bIns="0" rtlCol="0"/>
            <a:lstStyle/>
            <a:p>
              <a:endParaRPr sz="2400"/>
            </a:p>
          </p:txBody>
        </p:sp>
      </p:grpSp>
      <p:sp>
        <p:nvSpPr>
          <p:cNvPr id="8" name="object 8"/>
          <p:cNvSpPr txBox="1">
            <a:spLocks noGrp="1"/>
          </p:cNvSpPr>
          <p:nvPr>
            <p:ph type="title"/>
          </p:nvPr>
        </p:nvSpPr>
        <p:spPr>
          <a:xfrm>
            <a:off x="4925229" y="2451893"/>
            <a:ext cx="2996258" cy="428387"/>
          </a:xfrm>
          <a:prstGeom prst="rect">
            <a:avLst/>
          </a:prstGeom>
        </p:spPr>
        <p:txBody>
          <a:bodyPr vert="horz" wrap="square" lIns="0" tIns="17780" rIns="0" bIns="0" rtlCol="0" anchor="ctr">
            <a:spAutoFit/>
          </a:bodyPr>
          <a:lstStyle/>
          <a:p>
            <a:pPr marL="16933">
              <a:lnSpc>
                <a:spcPct val="100000"/>
              </a:lnSpc>
              <a:spcBef>
                <a:spcPts val="140"/>
              </a:spcBef>
            </a:pPr>
            <a:r>
              <a:rPr sz="2667" u="sng" spc="-140" dirty="0">
                <a:solidFill>
                  <a:srgbClr val="404040"/>
                </a:solidFill>
                <a:uFill>
                  <a:solidFill>
                    <a:srgbClr val="404040"/>
                  </a:solidFill>
                </a:uFill>
                <a:latin typeface="Bahnschrift"/>
                <a:cs typeface="Bahnschrift"/>
              </a:rPr>
              <a:t>Data</a:t>
            </a:r>
            <a:r>
              <a:rPr sz="2667" u="sng" spc="-27" dirty="0">
                <a:solidFill>
                  <a:srgbClr val="404040"/>
                </a:solidFill>
                <a:uFill>
                  <a:solidFill>
                    <a:srgbClr val="404040"/>
                  </a:solidFill>
                </a:uFill>
                <a:latin typeface="Bahnschrift"/>
                <a:cs typeface="Bahnschrift"/>
              </a:rPr>
              <a:t> </a:t>
            </a:r>
            <a:r>
              <a:rPr sz="2667" u="sng" spc="-173" dirty="0">
                <a:solidFill>
                  <a:srgbClr val="404040"/>
                </a:solidFill>
                <a:uFill>
                  <a:solidFill>
                    <a:srgbClr val="404040"/>
                  </a:solidFill>
                </a:uFill>
                <a:latin typeface="Bahnschrift"/>
                <a:cs typeface="Bahnschrift"/>
              </a:rPr>
              <a:t>warehouse:</a:t>
            </a:r>
            <a:endParaRPr sz="2667" dirty="0">
              <a:latin typeface="Bahnschrift"/>
              <a:cs typeface="Bahnschrift"/>
            </a:endParaRPr>
          </a:p>
        </p:txBody>
      </p:sp>
      <p:sp>
        <p:nvSpPr>
          <p:cNvPr id="9" name="object 9"/>
          <p:cNvSpPr txBox="1"/>
          <p:nvPr/>
        </p:nvSpPr>
        <p:spPr>
          <a:xfrm>
            <a:off x="2773017" y="3055451"/>
            <a:ext cx="7312297" cy="2895002"/>
          </a:xfrm>
          <a:prstGeom prst="rect">
            <a:avLst/>
          </a:prstGeom>
        </p:spPr>
        <p:txBody>
          <a:bodyPr vert="horz" wrap="square" lIns="0" tIns="16933" rIns="0" bIns="0" rtlCol="0">
            <a:spAutoFit/>
          </a:bodyPr>
          <a:lstStyle/>
          <a:p>
            <a:pPr marL="2337588" marR="6773" indent="-2321502">
              <a:spcBef>
                <a:spcPts val="133"/>
              </a:spcBef>
            </a:pPr>
            <a:r>
              <a:rPr sz="2667" spc="-27" dirty="0">
                <a:solidFill>
                  <a:srgbClr val="404040"/>
                </a:solidFill>
                <a:latin typeface="Bahnschrift"/>
                <a:cs typeface="Bahnschrift"/>
              </a:rPr>
              <a:t>A</a:t>
            </a:r>
            <a:r>
              <a:rPr sz="2667" spc="-87" dirty="0">
                <a:solidFill>
                  <a:srgbClr val="404040"/>
                </a:solidFill>
                <a:latin typeface="Bahnschrift"/>
                <a:cs typeface="Bahnschrift"/>
              </a:rPr>
              <a:t> </a:t>
            </a:r>
            <a:r>
              <a:rPr lang="en-IN" sz="2667" spc="-87" dirty="0">
                <a:solidFill>
                  <a:srgbClr val="404040"/>
                </a:solidFill>
                <a:latin typeface="Bahnschrift"/>
                <a:cs typeface="Bahnschrift"/>
              </a:rPr>
              <a:t>Relational </a:t>
            </a:r>
            <a:r>
              <a:rPr sz="2667" spc="-147" dirty="0">
                <a:solidFill>
                  <a:srgbClr val="404040"/>
                </a:solidFill>
                <a:latin typeface="Bahnschrift"/>
                <a:cs typeface="Bahnschrift"/>
              </a:rPr>
              <a:t>database</a:t>
            </a:r>
            <a:r>
              <a:rPr sz="2667" spc="-67" dirty="0">
                <a:solidFill>
                  <a:srgbClr val="404040"/>
                </a:solidFill>
                <a:latin typeface="Bahnschrift"/>
                <a:cs typeface="Bahnschrift"/>
              </a:rPr>
              <a:t> </a:t>
            </a:r>
            <a:r>
              <a:rPr sz="2667" spc="-167" dirty="0">
                <a:solidFill>
                  <a:srgbClr val="404040"/>
                </a:solidFill>
                <a:latin typeface="Bahnschrift"/>
                <a:cs typeface="Bahnschrift"/>
              </a:rPr>
              <a:t>used</a:t>
            </a:r>
            <a:r>
              <a:rPr sz="2667" spc="20" dirty="0">
                <a:solidFill>
                  <a:srgbClr val="404040"/>
                </a:solidFill>
                <a:latin typeface="Bahnschrift"/>
                <a:cs typeface="Bahnschrift"/>
              </a:rPr>
              <a:t> </a:t>
            </a:r>
            <a:r>
              <a:rPr sz="2667" spc="-133" dirty="0">
                <a:solidFill>
                  <a:srgbClr val="404040"/>
                </a:solidFill>
                <a:latin typeface="Bahnschrift"/>
                <a:cs typeface="Bahnschrift"/>
              </a:rPr>
              <a:t>and</a:t>
            </a:r>
            <a:r>
              <a:rPr sz="2667" spc="-7" dirty="0">
                <a:solidFill>
                  <a:srgbClr val="404040"/>
                </a:solidFill>
                <a:latin typeface="Bahnschrift"/>
                <a:cs typeface="Bahnschrift"/>
              </a:rPr>
              <a:t> </a:t>
            </a:r>
            <a:r>
              <a:rPr sz="2667" spc="-147" dirty="0">
                <a:solidFill>
                  <a:srgbClr val="404040"/>
                </a:solidFill>
                <a:latin typeface="Bahnschrift"/>
                <a:cs typeface="Bahnschrift"/>
              </a:rPr>
              <a:t>optimized</a:t>
            </a:r>
            <a:r>
              <a:rPr sz="2667" spc="-7" dirty="0">
                <a:solidFill>
                  <a:srgbClr val="404040"/>
                </a:solidFill>
                <a:latin typeface="Bahnschrift"/>
                <a:cs typeface="Bahnschrift"/>
              </a:rPr>
              <a:t> </a:t>
            </a:r>
            <a:r>
              <a:rPr sz="2667" spc="-107" dirty="0">
                <a:solidFill>
                  <a:srgbClr val="404040"/>
                </a:solidFill>
                <a:latin typeface="Bahnschrift"/>
                <a:cs typeface="Bahnschrift"/>
              </a:rPr>
              <a:t>for</a:t>
            </a:r>
            <a:r>
              <a:rPr sz="2667" spc="53" dirty="0">
                <a:solidFill>
                  <a:srgbClr val="404040"/>
                </a:solidFill>
                <a:latin typeface="Bahnschrift"/>
                <a:cs typeface="Bahnschrift"/>
              </a:rPr>
              <a:t> </a:t>
            </a:r>
            <a:r>
              <a:rPr sz="2667" spc="-100" dirty="0">
                <a:solidFill>
                  <a:srgbClr val="404040"/>
                </a:solidFill>
                <a:latin typeface="Bahnschrift"/>
                <a:cs typeface="Bahnschrift"/>
              </a:rPr>
              <a:t>analytical </a:t>
            </a:r>
            <a:r>
              <a:rPr sz="2667" spc="-47" dirty="0">
                <a:solidFill>
                  <a:srgbClr val="404040"/>
                </a:solidFill>
                <a:latin typeface="Bahnschrift"/>
                <a:cs typeface="Bahnschrift"/>
              </a:rPr>
              <a:t>purposes.</a:t>
            </a:r>
            <a:endParaRPr sz="2667" dirty="0">
              <a:latin typeface="Bahnschrift"/>
              <a:cs typeface="Bahnschrift"/>
            </a:endParaRPr>
          </a:p>
          <a:p>
            <a:pPr>
              <a:spcBef>
                <a:spcPts val="433"/>
              </a:spcBef>
            </a:pPr>
            <a:endParaRPr sz="2667" dirty="0">
              <a:latin typeface="Bahnschrift"/>
              <a:cs typeface="Bahnschrift"/>
            </a:endParaRPr>
          </a:p>
          <a:p>
            <a:pPr marL="1402045" indent="-380990">
              <a:buClr>
                <a:srgbClr val="99D3FF"/>
              </a:buClr>
              <a:buFont typeface="Wingdings"/>
              <a:buChar char=""/>
              <a:tabLst>
                <a:tab pos="1402045" algn="l"/>
              </a:tabLst>
            </a:pPr>
            <a:r>
              <a:rPr sz="2400" b="1" dirty="0">
                <a:solidFill>
                  <a:srgbClr val="D9D9D9"/>
                </a:solidFill>
                <a:latin typeface="Calibri"/>
                <a:cs typeface="Calibri"/>
              </a:rPr>
              <a:t>User</a:t>
            </a:r>
            <a:r>
              <a:rPr sz="2400" b="1" spc="-47" dirty="0">
                <a:solidFill>
                  <a:srgbClr val="D9D9D9"/>
                </a:solidFill>
                <a:latin typeface="Calibri"/>
                <a:cs typeface="Calibri"/>
              </a:rPr>
              <a:t> </a:t>
            </a:r>
            <a:r>
              <a:rPr sz="2400" b="1" spc="-13" dirty="0">
                <a:solidFill>
                  <a:srgbClr val="D9D9D9"/>
                </a:solidFill>
                <a:latin typeface="Calibri"/>
                <a:cs typeface="Calibri"/>
              </a:rPr>
              <a:t>friendly</a:t>
            </a:r>
            <a:endParaRPr sz="2400" dirty="0">
              <a:latin typeface="Calibri"/>
              <a:cs typeface="Calibri"/>
            </a:endParaRPr>
          </a:p>
          <a:p>
            <a:pPr marL="1402045" indent="-380990">
              <a:spcBef>
                <a:spcPts val="1947"/>
              </a:spcBef>
              <a:buClr>
                <a:srgbClr val="99D3FF"/>
              </a:buClr>
              <a:buFont typeface="Wingdings"/>
              <a:buChar char=""/>
              <a:tabLst>
                <a:tab pos="1402045" algn="l"/>
              </a:tabLst>
            </a:pPr>
            <a:r>
              <a:rPr sz="2400" b="1" dirty="0">
                <a:solidFill>
                  <a:srgbClr val="D9D9D9"/>
                </a:solidFill>
                <a:latin typeface="Calibri"/>
                <a:cs typeface="Calibri"/>
              </a:rPr>
              <a:t>Fast query</a:t>
            </a:r>
            <a:r>
              <a:rPr sz="2400" b="1" spc="-47" dirty="0">
                <a:solidFill>
                  <a:srgbClr val="D9D9D9"/>
                </a:solidFill>
                <a:latin typeface="Calibri"/>
                <a:cs typeface="Calibri"/>
              </a:rPr>
              <a:t> </a:t>
            </a:r>
            <a:r>
              <a:rPr sz="2400" b="1" spc="-13" dirty="0">
                <a:solidFill>
                  <a:srgbClr val="D9D9D9"/>
                </a:solidFill>
                <a:latin typeface="Calibri"/>
                <a:cs typeface="Calibri"/>
              </a:rPr>
              <a:t>performance</a:t>
            </a:r>
            <a:endParaRPr sz="2400" dirty="0">
              <a:latin typeface="Calibri"/>
              <a:cs typeface="Calibri"/>
            </a:endParaRPr>
          </a:p>
          <a:p>
            <a:pPr marL="1402045" indent="-380990">
              <a:spcBef>
                <a:spcPts val="1940"/>
              </a:spcBef>
              <a:buClr>
                <a:srgbClr val="99D3FF"/>
              </a:buClr>
              <a:buFont typeface="Wingdings"/>
              <a:buChar char=""/>
              <a:tabLst>
                <a:tab pos="1402045" algn="l"/>
              </a:tabLst>
            </a:pPr>
            <a:r>
              <a:rPr sz="2400" b="1" dirty="0">
                <a:solidFill>
                  <a:srgbClr val="D9D9D9"/>
                </a:solidFill>
                <a:latin typeface="Calibri"/>
                <a:cs typeface="Calibri"/>
              </a:rPr>
              <a:t>Enabling</a:t>
            </a:r>
            <a:r>
              <a:rPr sz="2400" b="1" spc="-60" dirty="0">
                <a:solidFill>
                  <a:srgbClr val="D9D9D9"/>
                </a:solidFill>
                <a:latin typeface="Calibri"/>
                <a:cs typeface="Calibri"/>
              </a:rPr>
              <a:t> </a:t>
            </a:r>
            <a:r>
              <a:rPr sz="2400" b="1" dirty="0">
                <a:solidFill>
                  <a:srgbClr val="D9D9D9"/>
                </a:solidFill>
                <a:latin typeface="Calibri"/>
                <a:cs typeface="Calibri"/>
              </a:rPr>
              <a:t>data</a:t>
            </a:r>
            <a:r>
              <a:rPr sz="2400" b="1" spc="-27" dirty="0">
                <a:solidFill>
                  <a:srgbClr val="D9D9D9"/>
                </a:solidFill>
                <a:latin typeface="Calibri"/>
                <a:cs typeface="Calibri"/>
              </a:rPr>
              <a:t> </a:t>
            </a:r>
            <a:r>
              <a:rPr sz="2400" b="1" spc="-13" dirty="0">
                <a:solidFill>
                  <a:srgbClr val="D9D9D9"/>
                </a:solidFill>
                <a:latin typeface="Calibri"/>
                <a:cs typeface="Calibri"/>
              </a:rPr>
              <a:t>analysis</a:t>
            </a:r>
            <a:endParaRPr sz="2400" dirty="0">
              <a:latin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03086" y="383227"/>
            <a:ext cx="8698314" cy="695062"/>
          </a:xfrm>
          <a:prstGeom prst="rect">
            <a:avLst/>
          </a:prstGeom>
        </p:spPr>
        <p:txBody>
          <a:bodyPr vert="horz" wrap="square" lIns="0" tIns="17780" rIns="0" bIns="0" rtlCol="0" anchor="ctr">
            <a:spAutoFit/>
          </a:bodyPr>
          <a:lstStyle/>
          <a:p>
            <a:pPr marL="16933">
              <a:lnSpc>
                <a:spcPct val="100000"/>
              </a:lnSpc>
              <a:spcBef>
                <a:spcPts val="140"/>
              </a:spcBef>
            </a:pPr>
            <a:r>
              <a:rPr sz="4300" dirty="0">
                <a:solidFill>
                  <a:schemeClr val="bg1"/>
                </a:solidFill>
                <a:latin typeface="+mn-lt"/>
              </a:rPr>
              <a:t>Understanding</a:t>
            </a:r>
            <a:r>
              <a:rPr sz="4300" spc="-40" dirty="0">
                <a:solidFill>
                  <a:schemeClr val="bg1"/>
                </a:solidFill>
                <a:latin typeface="+mn-lt"/>
              </a:rPr>
              <a:t> </a:t>
            </a:r>
            <a:r>
              <a:rPr sz="4300" dirty="0">
                <a:solidFill>
                  <a:schemeClr val="bg1"/>
                </a:solidFill>
                <a:latin typeface="+mn-lt"/>
              </a:rPr>
              <a:t>a</a:t>
            </a:r>
            <a:r>
              <a:rPr sz="4300" spc="-100" dirty="0">
                <a:solidFill>
                  <a:schemeClr val="bg1"/>
                </a:solidFill>
                <a:latin typeface="+mn-lt"/>
              </a:rPr>
              <a:t> </a:t>
            </a:r>
            <a:r>
              <a:rPr sz="4300" dirty="0">
                <a:solidFill>
                  <a:schemeClr val="bg1"/>
                </a:solidFill>
                <a:latin typeface="+mn-lt"/>
              </a:rPr>
              <a:t>data</a:t>
            </a:r>
            <a:r>
              <a:rPr sz="4300" spc="-80" dirty="0">
                <a:solidFill>
                  <a:schemeClr val="bg1"/>
                </a:solidFill>
                <a:latin typeface="+mn-lt"/>
              </a:rPr>
              <a:t> </a:t>
            </a:r>
            <a:r>
              <a:rPr sz="4300" spc="-13" dirty="0">
                <a:solidFill>
                  <a:schemeClr val="bg1"/>
                </a:solidFill>
                <a:latin typeface="+mn-lt"/>
              </a:rPr>
              <a:t>warehouse</a:t>
            </a:r>
          </a:p>
        </p:txBody>
      </p:sp>
      <p:sp>
        <p:nvSpPr>
          <p:cNvPr id="3" name="object 3"/>
          <p:cNvSpPr/>
          <p:nvPr/>
        </p:nvSpPr>
        <p:spPr>
          <a:xfrm>
            <a:off x="7100842" y="2795507"/>
            <a:ext cx="1398693" cy="1899920"/>
          </a:xfrm>
          <a:custGeom>
            <a:avLst/>
            <a:gdLst/>
            <a:ahLst/>
            <a:cxnLst/>
            <a:rect l="l" t="t" r="r" b="b"/>
            <a:pathLst>
              <a:path w="1049020" h="1424939">
                <a:moveTo>
                  <a:pt x="1048981" y="974928"/>
                </a:moveTo>
                <a:lnTo>
                  <a:pt x="1030160" y="1014679"/>
                </a:lnTo>
                <a:lnTo>
                  <a:pt x="977099" y="1050480"/>
                </a:lnTo>
                <a:lnTo>
                  <a:pt x="939330" y="1066431"/>
                </a:lnTo>
                <a:lnTo>
                  <a:pt x="936586" y="1067333"/>
                </a:lnTo>
                <a:lnTo>
                  <a:pt x="936586" y="1237399"/>
                </a:lnTo>
                <a:lnTo>
                  <a:pt x="933894" y="1252753"/>
                </a:lnTo>
                <a:lnTo>
                  <a:pt x="926287" y="1264589"/>
                </a:lnTo>
                <a:lnTo>
                  <a:pt x="914463" y="1272197"/>
                </a:lnTo>
                <a:lnTo>
                  <a:pt x="899121" y="1274889"/>
                </a:lnTo>
                <a:lnTo>
                  <a:pt x="883793" y="1272197"/>
                </a:lnTo>
                <a:lnTo>
                  <a:pt x="871969" y="1264589"/>
                </a:lnTo>
                <a:lnTo>
                  <a:pt x="864349" y="1252753"/>
                </a:lnTo>
                <a:lnTo>
                  <a:pt x="861656" y="1237399"/>
                </a:lnTo>
                <a:lnTo>
                  <a:pt x="864349" y="1222044"/>
                </a:lnTo>
                <a:lnTo>
                  <a:pt x="871969" y="1210208"/>
                </a:lnTo>
                <a:lnTo>
                  <a:pt x="883793" y="1202601"/>
                </a:lnTo>
                <a:lnTo>
                  <a:pt x="899121" y="1199908"/>
                </a:lnTo>
                <a:lnTo>
                  <a:pt x="914463" y="1202601"/>
                </a:lnTo>
                <a:lnTo>
                  <a:pt x="926287" y="1210208"/>
                </a:lnTo>
                <a:lnTo>
                  <a:pt x="933894" y="1222044"/>
                </a:lnTo>
                <a:lnTo>
                  <a:pt x="936586" y="1237399"/>
                </a:lnTo>
                <a:lnTo>
                  <a:pt x="936586" y="1067333"/>
                </a:lnTo>
                <a:lnTo>
                  <a:pt x="894905" y="1080858"/>
                </a:lnTo>
                <a:lnTo>
                  <a:pt x="844473" y="1093558"/>
                </a:lnTo>
                <a:lnTo>
                  <a:pt x="788682" y="1104353"/>
                </a:lnTo>
                <a:lnTo>
                  <a:pt x="728141" y="1113078"/>
                </a:lnTo>
                <a:lnTo>
                  <a:pt x="663498" y="1119530"/>
                </a:lnTo>
                <a:lnTo>
                  <a:pt x="595401" y="1123530"/>
                </a:lnTo>
                <a:lnTo>
                  <a:pt x="524484" y="1124915"/>
                </a:lnTo>
                <a:lnTo>
                  <a:pt x="453567" y="1123530"/>
                </a:lnTo>
                <a:lnTo>
                  <a:pt x="385470" y="1119530"/>
                </a:lnTo>
                <a:lnTo>
                  <a:pt x="320840" y="1113078"/>
                </a:lnTo>
                <a:lnTo>
                  <a:pt x="260299" y="1104353"/>
                </a:lnTo>
                <a:lnTo>
                  <a:pt x="204495" y="1093558"/>
                </a:lnTo>
                <a:lnTo>
                  <a:pt x="154063" y="1080858"/>
                </a:lnTo>
                <a:lnTo>
                  <a:pt x="109639" y="1066431"/>
                </a:lnTo>
                <a:lnTo>
                  <a:pt x="71869" y="1050480"/>
                </a:lnTo>
                <a:lnTo>
                  <a:pt x="18821" y="1014679"/>
                </a:lnTo>
                <a:lnTo>
                  <a:pt x="0" y="974928"/>
                </a:lnTo>
                <a:lnTo>
                  <a:pt x="0" y="1274889"/>
                </a:lnTo>
                <a:lnTo>
                  <a:pt x="18821" y="1314653"/>
                </a:lnTo>
                <a:lnTo>
                  <a:pt x="71869" y="1350441"/>
                </a:lnTo>
                <a:lnTo>
                  <a:pt x="109639" y="1366405"/>
                </a:lnTo>
                <a:lnTo>
                  <a:pt x="154063" y="1380820"/>
                </a:lnTo>
                <a:lnTo>
                  <a:pt x="204495" y="1393520"/>
                </a:lnTo>
                <a:lnTo>
                  <a:pt x="260299" y="1404327"/>
                </a:lnTo>
                <a:lnTo>
                  <a:pt x="320840" y="1413040"/>
                </a:lnTo>
                <a:lnTo>
                  <a:pt x="385470" y="1419491"/>
                </a:lnTo>
                <a:lnTo>
                  <a:pt x="453567" y="1423504"/>
                </a:lnTo>
                <a:lnTo>
                  <a:pt x="524484" y="1424876"/>
                </a:lnTo>
                <a:lnTo>
                  <a:pt x="595401" y="1423504"/>
                </a:lnTo>
                <a:lnTo>
                  <a:pt x="663498" y="1419491"/>
                </a:lnTo>
                <a:lnTo>
                  <a:pt x="728141" y="1413040"/>
                </a:lnTo>
                <a:lnTo>
                  <a:pt x="788682" y="1404327"/>
                </a:lnTo>
                <a:lnTo>
                  <a:pt x="844473" y="1393520"/>
                </a:lnTo>
                <a:lnTo>
                  <a:pt x="894905" y="1380820"/>
                </a:lnTo>
                <a:lnTo>
                  <a:pt x="939330" y="1366405"/>
                </a:lnTo>
                <a:lnTo>
                  <a:pt x="977099" y="1350441"/>
                </a:lnTo>
                <a:lnTo>
                  <a:pt x="1030160" y="1314653"/>
                </a:lnTo>
                <a:lnTo>
                  <a:pt x="1048981" y="1274889"/>
                </a:lnTo>
                <a:lnTo>
                  <a:pt x="1048981" y="1199908"/>
                </a:lnTo>
                <a:lnTo>
                  <a:pt x="1048981" y="1124915"/>
                </a:lnTo>
                <a:lnTo>
                  <a:pt x="1048981" y="974928"/>
                </a:lnTo>
                <a:close/>
              </a:path>
              <a:path w="1049020" h="1424939">
                <a:moveTo>
                  <a:pt x="1048981" y="599973"/>
                </a:moveTo>
                <a:lnTo>
                  <a:pt x="1030160" y="639724"/>
                </a:lnTo>
                <a:lnTo>
                  <a:pt x="977099" y="675513"/>
                </a:lnTo>
                <a:lnTo>
                  <a:pt x="939330" y="691476"/>
                </a:lnTo>
                <a:lnTo>
                  <a:pt x="936586" y="692378"/>
                </a:lnTo>
                <a:lnTo>
                  <a:pt x="936586" y="862444"/>
                </a:lnTo>
                <a:lnTo>
                  <a:pt x="933894" y="877785"/>
                </a:lnTo>
                <a:lnTo>
                  <a:pt x="926287" y="889622"/>
                </a:lnTo>
                <a:lnTo>
                  <a:pt x="914463" y="897242"/>
                </a:lnTo>
                <a:lnTo>
                  <a:pt x="899121" y="899934"/>
                </a:lnTo>
                <a:lnTo>
                  <a:pt x="883793" y="897242"/>
                </a:lnTo>
                <a:lnTo>
                  <a:pt x="871969" y="889622"/>
                </a:lnTo>
                <a:lnTo>
                  <a:pt x="864349" y="877785"/>
                </a:lnTo>
                <a:lnTo>
                  <a:pt x="861656" y="862444"/>
                </a:lnTo>
                <a:lnTo>
                  <a:pt x="864349" y="847090"/>
                </a:lnTo>
                <a:lnTo>
                  <a:pt x="871969" y="835253"/>
                </a:lnTo>
                <a:lnTo>
                  <a:pt x="883793" y="827646"/>
                </a:lnTo>
                <a:lnTo>
                  <a:pt x="899121" y="824941"/>
                </a:lnTo>
                <a:lnTo>
                  <a:pt x="914463" y="827646"/>
                </a:lnTo>
                <a:lnTo>
                  <a:pt x="926287" y="835253"/>
                </a:lnTo>
                <a:lnTo>
                  <a:pt x="933894" y="847090"/>
                </a:lnTo>
                <a:lnTo>
                  <a:pt x="936586" y="862444"/>
                </a:lnTo>
                <a:lnTo>
                  <a:pt x="936586" y="692378"/>
                </a:lnTo>
                <a:lnTo>
                  <a:pt x="894905" y="705891"/>
                </a:lnTo>
                <a:lnTo>
                  <a:pt x="844473" y="718604"/>
                </a:lnTo>
                <a:lnTo>
                  <a:pt x="788682" y="729399"/>
                </a:lnTo>
                <a:lnTo>
                  <a:pt x="728141" y="738124"/>
                </a:lnTo>
                <a:lnTo>
                  <a:pt x="663498" y="744575"/>
                </a:lnTo>
                <a:lnTo>
                  <a:pt x="595401" y="748576"/>
                </a:lnTo>
                <a:lnTo>
                  <a:pt x="524484" y="749947"/>
                </a:lnTo>
                <a:lnTo>
                  <a:pt x="453567" y="748576"/>
                </a:lnTo>
                <a:lnTo>
                  <a:pt x="385470" y="744575"/>
                </a:lnTo>
                <a:lnTo>
                  <a:pt x="320840" y="738124"/>
                </a:lnTo>
                <a:lnTo>
                  <a:pt x="260299" y="729399"/>
                </a:lnTo>
                <a:lnTo>
                  <a:pt x="204495" y="718604"/>
                </a:lnTo>
                <a:lnTo>
                  <a:pt x="154063" y="705891"/>
                </a:lnTo>
                <a:lnTo>
                  <a:pt x="109639" y="691476"/>
                </a:lnTo>
                <a:lnTo>
                  <a:pt x="71869" y="675513"/>
                </a:lnTo>
                <a:lnTo>
                  <a:pt x="18821" y="639724"/>
                </a:lnTo>
                <a:lnTo>
                  <a:pt x="0" y="599973"/>
                </a:lnTo>
                <a:lnTo>
                  <a:pt x="0" y="899934"/>
                </a:lnTo>
                <a:lnTo>
                  <a:pt x="18821" y="939685"/>
                </a:lnTo>
                <a:lnTo>
                  <a:pt x="71869" y="975487"/>
                </a:lnTo>
                <a:lnTo>
                  <a:pt x="109639" y="991438"/>
                </a:lnTo>
                <a:lnTo>
                  <a:pt x="154063" y="1005865"/>
                </a:lnTo>
                <a:lnTo>
                  <a:pt x="204495" y="1018565"/>
                </a:lnTo>
                <a:lnTo>
                  <a:pt x="260299" y="1029373"/>
                </a:lnTo>
                <a:lnTo>
                  <a:pt x="320840" y="1038085"/>
                </a:lnTo>
                <a:lnTo>
                  <a:pt x="385470" y="1044536"/>
                </a:lnTo>
                <a:lnTo>
                  <a:pt x="453567" y="1048550"/>
                </a:lnTo>
                <a:lnTo>
                  <a:pt x="524484" y="1049921"/>
                </a:lnTo>
                <a:lnTo>
                  <a:pt x="595401" y="1048550"/>
                </a:lnTo>
                <a:lnTo>
                  <a:pt x="663498" y="1044536"/>
                </a:lnTo>
                <a:lnTo>
                  <a:pt x="728141" y="1038085"/>
                </a:lnTo>
                <a:lnTo>
                  <a:pt x="788682" y="1029373"/>
                </a:lnTo>
                <a:lnTo>
                  <a:pt x="844473" y="1018565"/>
                </a:lnTo>
                <a:lnTo>
                  <a:pt x="894905" y="1005865"/>
                </a:lnTo>
                <a:lnTo>
                  <a:pt x="939330" y="991438"/>
                </a:lnTo>
                <a:lnTo>
                  <a:pt x="977099" y="975487"/>
                </a:lnTo>
                <a:lnTo>
                  <a:pt x="1030160" y="939685"/>
                </a:lnTo>
                <a:lnTo>
                  <a:pt x="1048981" y="899934"/>
                </a:lnTo>
                <a:lnTo>
                  <a:pt x="1048981" y="824941"/>
                </a:lnTo>
                <a:lnTo>
                  <a:pt x="1048981" y="749947"/>
                </a:lnTo>
                <a:lnTo>
                  <a:pt x="1048981" y="599973"/>
                </a:lnTo>
                <a:close/>
              </a:path>
              <a:path w="1049020" h="1424939">
                <a:moveTo>
                  <a:pt x="1048981" y="225005"/>
                </a:moveTo>
                <a:lnTo>
                  <a:pt x="1030160" y="264769"/>
                </a:lnTo>
                <a:lnTo>
                  <a:pt x="977099" y="300558"/>
                </a:lnTo>
                <a:lnTo>
                  <a:pt x="939330" y="316522"/>
                </a:lnTo>
                <a:lnTo>
                  <a:pt x="936586" y="317423"/>
                </a:lnTo>
                <a:lnTo>
                  <a:pt x="936586" y="487476"/>
                </a:lnTo>
                <a:lnTo>
                  <a:pt x="933894" y="502831"/>
                </a:lnTo>
                <a:lnTo>
                  <a:pt x="926287" y="514667"/>
                </a:lnTo>
                <a:lnTo>
                  <a:pt x="914463" y="522287"/>
                </a:lnTo>
                <a:lnTo>
                  <a:pt x="899121" y="524979"/>
                </a:lnTo>
                <a:lnTo>
                  <a:pt x="883793" y="522287"/>
                </a:lnTo>
                <a:lnTo>
                  <a:pt x="871969" y="514667"/>
                </a:lnTo>
                <a:lnTo>
                  <a:pt x="864349" y="502831"/>
                </a:lnTo>
                <a:lnTo>
                  <a:pt x="861656" y="487476"/>
                </a:lnTo>
                <a:lnTo>
                  <a:pt x="864349" y="472135"/>
                </a:lnTo>
                <a:lnTo>
                  <a:pt x="871969" y="460298"/>
                </a:lnTo>
                <a:lnTo>
                  <a:pt x="883793" y="452678"/>
                </a:lnTo>
                <a:lnTo>
                  <a:pt x="899121" y="449986"/>
                </a:lnTo>
                <a:lnTo>
                  <a:pt x="914463" y="452678"/>
                </a:lnTo>
                <a:lnTo>
                  <a:pt x="926287" y="460298"/>
                </a:lnTo>
                <a:lnTo>
                  <a:pt x="933894" y="472135"/>
                </a:lnTo>
                <a:lnTo>
                  <a:pt x="936586" y="487476"/>
                </a:lnTo>
                <a:lnTo>
                  <a:pt x="936586" y="317423"/>
                </a:lnTo>
                <a:lnTo>
                  <a:pt x="894905" y="330936"/>
                </a:lnTo>
                <a:lnTo>
                  <a:pt x="844473" y="343636"/>
                </a:lnTo>
                <a:lnTo>
                  <a:pt x="788682" y="354444"/>
                </a:lnTo>
                <a:lnTo>
                  <a:pt x="728141" y="363156"/>
                </a:lnTo>
                <a:lnTo>
                  <a:pt x="663498" y="369608"/>
                </a:lnTo>
                <a:lnTo>
                  <a:pt x="595401" y="373621"/>
                </a:lnTo>
                <a:lnTo>
                  <a:pt x="524484" y="374992"/>
                </a:lnTo>
                <a:lnTo>
                  <a:pt x="453567" y="373621"/>
                </a:lnTo>
                <a:lnTo>
                  <a:pt x="385470" y="369608"/>
                </a:lnTo>
                <a:lnTo>
                  <a:pt x="320840" y="363156"/>
                </a:lnTo>
                <a:lnTo>
                  <a:pt x="260299" y="354444"/>
                </a:lnTo>
                <a:lnTo>
                  <a:pt x="204495" y="343636"/>
                </a:lnTo>
                <a:lnTo>
                  <a:pt x="154063" y="330936"/>
                </a:lnTo>
                <a:lnTo>
                  <a:pt x="109639" y="316522"/>
                </a:lnTo>
                <a:lnTo>
                  <a:pt x="71869" y="300558"/>
                </a:lnTo>
                <a:lnTo>
                  <a:pt x="18821" y="264769"/>
                </a:lnTo>
                <a:lnTo>
                  <a:pt x="0" y="225005"/>
                </a:lnTo>
                <a:lnTo>
                  <a:pt x="0" y="524979"/>
                </a:lnTo>
                <a:lnTo>
                  <a:pt x="18821" y="564730"/>
                </a:lnTo>
                <a:lnTo>
                  <a:pt x="71869" y="600519"/>
                </a:lnTo>
                <a:lnTo>
                  <a:pt x="109639" y="616483"/>
                </a:lnTo>
                <a:lnTo>
                  <a:pt x="154063" y="630897"/>
                </a:lnTo>
                <a:lnTo>
                  <a:pt x="204495" y="643610"/>
                </a:lnTo>
                <a:lnTo>
                  <a:pt x="260299" y="654405"/>
                </a:lnTo>
                <a:lnTo>
                  <a:pt x="320840" y="663130"/>
                </a:lnTo>
                <a:lnTo>
                  <a:pt x="385470" y="669582"/>
                </a:lnTo>
                <a:lnTo>
                  <a:pt x="453567" y="673582"/>
                </a:lnTo>
                <a:lnTo>
                  <a:pt x="524484" y="674966"/>
                </a:lnTo>
                <a:lnTo>
                  <a:pt x="595401" y="673582"/>
                </a:lnTo>
                <a:lnTo>
                  <a:pt x="663498" y="669582"/>
                </a:lnTo>
                <a:lnTo>
                  <a:pt x="728141" y="663130"/>
                </a:lnTo>
                <a:lnTo>
                  <a:pt x="788682" y="654405"/>
                </a:lnTo>
                <a:lnTo>
                  <a:pt x="844473" y="643610"/>
                </a:lnTo>
                <a:lnTo>
                  <a:pt x="894905" y="630897"/>
                </a:lnTo>
                <a:lnTo>
                  <a:pt x="939330" y="616483"/>
                </a:lnTo>
                <a:lnTo>
                  <a:pt x="977099" y="600519"/>
                </a:lnTo>
                <a:lnTo>
                  <a:pt x="1030160" y="564730"/>
                </a:lnTo>
                <a:lnTo>
                  <a:pt x="1048981" y="524979"/>
                </a:lnTo>
                <a:lnTo>
                  <a:pt x="1048981" y="449986"/>
                </a:lnTo>
                <a:lnTo>
                  <a:pt x="1048981" y="374992"/>
                </a:lnTo>
                <a:lnTo>
                  <a:pt x="1048981" y="225005"/>
                </a:lnTo>
                <a:close/>
              </a:path>
              <a:path w="1049020" h="1424939">
                <a:moveTo>
                  <a:pt x="1048981" y="150025"/>
                </a:moveTo>
                <a:lnTo>
                  <a:pt x="1030249" y="110147"/>
                </a:lnTo>
                <a:lnTo>
                  <a:pt x="977366" y="74307"/>
                </a:lnTo>
                <a:lnTo>
                  <a:pt x="939698" y="58356"/>
                </a:lnTo>
                <a:lnTo>
                  <a:pt x="895362" y="43954"/>
                </a:lnTo>
                <a:lnTo>
                  <a:pt x="844994" y="31267"/>
                </a:lnTo>
                <a:lnTo>
                  <a:pt x="789216" y="20485"/>
                </a:lnTo>
                <a:lnTo>
                  <a:pt x="728649" y="11798"/>
                </a:lnTo>
                <a:lnTo>
                  <a:pt x="663917" y="5359"/>
                </a:lnTo>
                <a:lnTo>
                  <a:pt x="595655" y="1371"/>
                </a:lnTo>
                <a:lnTo>
                  <a:pt x="524484" y="0"/>
                </a:lnTo>
                <a:lnTo>
                  <a:pt x="453326" y="1371"/>
                </a:lnTo>
                <a:lnTo>
                  <a:pt x="385064" y="5359"/>
                </a:lnTo>
                <a:lnTo>
                  <a:pt x="320332" y="11798"/>
                </a:lnTo>
                <a:lnTo>
                  <a:pt x="259778" y="20485"/>
                </a:lnTo>
                <a:lnTo>
                  <a:pt x="203987" y="31267"/>
                </a:lnTo>
                <a:lnTo>
                  <a:pt x="153619" y="43954"/>
                </a:lnTo>
                <a:lnTo>
                  <a:pt x="109283" y="58356"/>
                </a:lnTo>
                <a:lnTo>
                  <a:pt x="71602" y="74307"/>
                </a:lnTo>
                <a:lnTo>
                  <a:pt x="18732" y="110147"/>
                </a:lnTo>
                <a:lnTo>
                  <a:pt x="0" y="150025"/>
                </a:lnTo>
                <a:lnTo>
                  <a:pt x="4787" y="170370"/>
                </a:lnTo>
                <a:lnTo>
                  <a:pt x="41211" y="208407"/>
                </a:lnTo>
                <a:lnTo>
                  <a:pt x="109283" y="241668"/>
                </a:lnTo>
                <a:lnTo>
                  <a:pt x="153619" y="256070"/>
                </a:lnTo>
                <a:lnTo>
                  <a:pt x="203987" y="268757"/>
                </a:lnTo>
                <a:lnTo>
                  <a:pt x="259778" y="279527"/>
                </a:lnTo>
                <a:lnTo>
                  <a:pt x="320332" y="288213"/>
                </a:lnTo>
                <a:lnTo>
                  <a:pt x="385064" y="294640"/>
                </a:lnTo>
                <a:lnTo>
                  <a:pt x="453326" y="298640"/>
                </a:lnTo>
                <a:lnTo>
                  <a:pt x="524484" y="299999"/>
                </a:lnTo>
                <a:lnTo>
                  <a:pt x="595655" y="298640"/>
                </a:lnTo>
                <a:lnTo>
                  <a:pt x="663917" y="294640"/>
                </a:lnTo>
                <a:lnTo>
                  <a:pt x="728649" y="288213"/>
                </a:lnTo>
                <a:lnTo>
                  <a:pt x="789216" y="279527"/>
                </a:lnTo>
                <a:lnTo>
                  <a:pt x="844994" y="268757"/>
                </a:lnTo>
                <a:lnTo>
                  <a:pt x="895362" y="256070"/>
                </a:lnTo>
                <a:lnTo>
                  <a:pt x="939698" y="241668"/>
                </a:lnTo>
                <a:lnTo>
                  <a:pt x="977366" y="225717"/>
                </a:lnTo>
                <a:lnTo>
                  <a:pt x="1030249" y="189890"/>
                </a:lnTo>
                <a:lnTo>
                  <a:pt x="1048981" y="150025"/>
                </a:lnTo>
                <a:close/>
              </a:path>
            </a:pathLst>
          </a:custGeom>
          <a:solidFill>
            <a:srgbClr val="99D3FF"/>
          </a:solidFill>
        </p:spPr>
        <p:txBody>
          <a:bodyPr wrap="square" lIns="0" tIns="0" rIns="0" bIns="0" rtlCol="0"/>
          <a:lstStyle/>
          <a:p>
            <a:endParaRPr sz="2400"/>
          </a:p>
        </p:txBody>
      </p:sp>
      <p:sp>
        <p:nvSpPr>
          <p:cNvPr id="4" name="object 4"/>
          <p:cNvSpPr/>
          <p:nvPr/>
        </p:nvSpPr>
        <p:spPr>
          <a:xfrm>
            <a:off x="2905997" y="3096530"/>
            <a:ext cx="688340" cy="936413"/>
          </a:xfrm>
          <a:custGeom>
            <a:avLst/>
            <a:gdLst/>
            <a:ahLst/>
            <a:cxnLst/>
            <a:rect l="l" t="t" r="r" b="b"/>
            <a:pathLst>
              <a:path w="516255" h="702310">
                <a:moveTo>
                  <a:pt x="515708" y="480110"/>
                </a:moveTo>
                <a:lnTo>
                  <a:pt x="506450" y="499681"/>
                </a:lnTo>
                <a:lnTo>
                  <a:pt x="480377" y="517309"/>
                </a:lnTo>
                <a:lnTo>
                  <a:pt x="460451" y="524687"/>
                </a:lnTo>
                <a:lnTo>
                  <a:pt x="460451" y="609371"/>
                </a:lnTo>
                <a:lnTo>
                  <a:pt x="459130" y="616927"/>
                </a:lnTo>
                <a:lnTo>
                  <a:pt x="455383" y="622757"/>
                </a:lnTo>
                <a:lnTo>
                  <a:pt x="449580" y="626503"/>
                </a:lnTo>
                <a:lnTo>
                  <a:pt x="442036" y="627837"/>
                </a:lnTo>
                <a:lnTo>
                  <a:pt x="434492" y="626503"/>
                </a:lnTo>
                <a:lnTo>
                  <a:pt x="428688" y="622757"/>
                </a:lnTo>
                <a:lnTo>
                  <a:pt x="424942" y="616927"/>
                </a:lnTo>
                <a:lnTo>
                  <a:pt x="423621" y="609371"/>
                </a:lnTo>
                <a:lnTo>
                  <a:pt x="424942" y="601802"/>
                </a:lnTo>
                <a:lnTo>
                  <a:pt x="428688" y="595985"/>
                </a:lnTo>
                <a:lnTo>
                  <a:pt x="434492" y="592226"/>
                </a:lnTo>
                <a:lnTo>
                  <a:pt x="442036" y="590905"/>
                </a:lnTo>
                <a:lnTo>
                  <a:pt x="449580" y="592226"/>
                </a:lnTo>
                <a:lnTo>
                  <a:pt x="455383" y="595985"/>
                </a:lnTo>
                <a:lnTo>
                  <a:pt x="459130" y="601802"/>
                </a:lnTo>
                <a:lnTo>
                  <a:pt x="460451" y="609371"/>
                </a:lnTo>
                <a:lnTo>
                  <a:pt x="460451" y="524687"/>
                </a:lnTo>
                <a:lnTo>
                  <a:pt x="439966" y="532269"/>
                </a:lnTo>
                <a:lnTo>
                  <a:pt x="387731" y="543852"/>
                </a:lnTo>
                <a:lnTo>
                  <a:pt x="326199" y="551319"/>
                </a:lnTo>
                <a:lnTo>
                  <a:pt x="257860" y="553974"/>
                </a:lnTo>
                <a:lnTo>
                  <a:pt x="189509" y="551319"/>
                </a:lnTo>
                <a:lnTo>
                  <a:pt x="127977" y="543852"/>
                </a:lnTo>
                <a:lnTo>
                  <a:pt x="75742" y="532269"/>
                </a:lnTo>
                <a:lnTo>
                  <a:pt x="35344" y="517309"/>
                </a:lnTo>
                <a:lnTo>
                  <a:pt x="0" y="480110"/>
                </a:lnTo>
                <a:lnTo>
                  <a:pt x="0" y="627837"/>
                </a:lnTo>
                <a:lnTo>
                  <a:pt x="35344" y="665035"/>
                </a:lnTo>
                <a:lnTo>
                  <a:pt x="75742" y="679996"/>
                </a:lnTo>
                <a:lnTo>
                  <a:pt x="127977" y="691565"/>
                </a:lnTo>
                <a:lnTo>
                  <a:pt x="189509" y="699046"/>
                </a:lnTo>
                <a:lnTo>
                  <a:pt x="257860" y="701687"/>
                </a:lnTo>
                <a:lnTo>
                  <a:pt x="326199" y="699046"/>
                </a:lnTo>
                <a:lnTo>
                  <a:pt x="387731" y="691565"/>
                </a:lnTo>
                <a:lnTo>
                  <a:pt x="439966" y="679996"/>
                </a:lnTo>
                <a:lnTo>
                  <a:pt x="480377" y="665035"/>
                </a:lnTo>
                <a:lnTo>
                  <a:pt x="515708" y="627837"/>
                </a:lnTo>
                <a:lnTo>
                  <a:pt x="515708" y="590905"/>
                </a:lnTo>
                <a:lnTo>
                  <a:pt x="515708" y="553974"/>
                </a:lnTo>
                <a:lnTo>
                  <a:pt x="515708" y="480110"/>
                </a:lnTo>
                <a:close/>
              </a:path>
              <a:path w="516255" h="702310">
                <a:moveTo>
                  <a:pt x="515708" y="295452"/>
                </a:moveTo>
                <a:lnTo>
                  <a:pt x="506450" y="315036"/>
                </a:lnTo>
                <a:lnTo>
                  <a:pt x="480377" y="332663"/>
                </a:lnTo>
                <a:lnTo>
                  <a:pt x="460451" y="340042"/>
                </a:lnTo>
                <a:lnTo>
                  <a:pt x="460451" y="424713"/>
                </a:lnTo>
                <a:lnTo>
                  <a:pt x="459130" y="432269"/>
                </a:lnTo>
                <a:lnTo>
                  <a:pt x="455383" y="438099"/>
                </a:lnTo>
                <a:lnTo>
                  <a:pt x="449580" y="441858"/>
                </a:lnTo>
                <a:lnTo>
                  <a:pt x="442036" y="443179"/>
                </a:lnTo>
                <a:lnTo>
                  <a:pt x="434492" y="441858"/>
                </a:lnTo>
                <a:lnTo>
                  <a:pt x="428688" y="438099"/>
                </a:lnTo>
                <a:lnTo>
                  <a:pt x="424942" y="432269"/>
                </a:lnTo>
                <a:lnTo>
                  <a:pt x="423621" y="424713"/>
                </a:lnTo>
                <a:lnTo>
                  <a:pt x="424942" y="417156"/>
                </a:lnTo>
                <a:lnTo>
                  <a:pt x="428688" y="411327"/>
                </a:lnTo>
                <a:lnTo>
                  <a:pt x="434492" y="407581"/>
                </a:lnTo>
                <a:lnTo>
                  <a:pt x="442036" y="406247"/>
                </a:lnTo>
                <a:lnTo>
                  <a:pt x="449580" y="407581"/>
                </a:lnTo>
                <a:lnTo>
                  <a:pt x="455383" y="411327"/>
                </a:lnTo>
                <a:lnTo>
                  <a:pt x="459130" y="417156"/>
                </a:lnTo>
                <a:lnTo>
                  <a:pt x="460451" y="424713"/>
                </a:lnTo>
                <a:lnTo>
                  <a:pt x="460451" y="340042"/>
                </a:lnTo>
                <a:lnTo>
                  <a:pt x="439966" y="347624"/>
                </a:lnTo>
                <a:lnTo>
                  <a:pt x="387731" y="359194"/>
                </a:lnTo>
                <a:lnTo>
                  <a:pt x="326199" y="366674"/>
                </a:lnTo>
                <a:lnTo>
                  <a:pt x="257860" y="369316"/>
                </a:lnTo>
                <a:lnTo>
                  <a:pt x="189509" y="366674"/>
                </a:lnTo>
                <a:lnTo>
                  <a:pt x="127977" y="359194"/>
                </a:lnTo>
                <a:lnTo>
                  <a:pt x="75742" y="347624"/>
                </a:lnTo>
                <a:lnTo>
                  <a:pt x="35344" y="332663"/>
                </a:lnTo>
                <a:lnTo>
                  <a:pt x="0" y="295452"/>
                </a:lnTo>
                <a:lnTo>
                  <a:pt x="0" y="443179"/>
                </a:lnTo>
                <a:lnTo>
                  <a:pt x="35344" y="480390"/>
                </a:lnTo>
                <a:lnTo>
                  <a:pt x="75742" y="495338"/>
                </a:lnTo>
                <a:lnTo>
                  <a:pt x="127977" y="506920"/>
                </a:lnTo>
                <a:lnTo>
                  <a:pt x="189509" y="514388"/>
                </a:lnTo>
                <a:lnTo>
                  <a:pt x="257860" y="517042"/>
                </a:lnTo>
                <a:lnTo>
                  <a:pt x="326199" y="514388"/>
                </a:lnTo>
                <a:lnTo>
                  <a:pt x="387731" y="506920"/>
                </a:lnTo>
                <a:lnTo>
                  <a:pt x="439966" y="495338"/>
                </a:lnTo>
                <a:lnTo>
                  <a:pt x="480377" y="480390"/>
                </a:lnTo>
                <a:lnTo>
                  <a:pt x="515708" y="443179"/>
                </a:lnTo>
                <a:lnTo>
                  <a:pt x="515708" y="406247"/>
                </a:lnTo>
                <a:lnTo>
                  <a:pt x="515708" y="369316"/>
                </a:lnTo>
                <a:lnTo>
                  <a:pt x="515708" y="295452"/>
                </a:lnTo>
                <a:close/>
              </a:path>
              <a:path w="516255" h="702310">
                <a:moveTo>
                  <a:pt x="515708" y="110807"/>
                </a:moveTo>
                <a:lnTo>
                  <a:pt x="506450" y="130378"/>
                </a:lnTo>
                <a:lnTo>
                  <a:pt x="480377" y="148005"/>
                </a:lnTo>
                <a:lnTo>
                  <a:pt x="460451" y="155384"/>
                </a:lnTo>
                <a:lnTo>
                  <a:pt x="460451" y="240055"/>
                </a:lnTo>
                <a:lnTo>
                  <a:pt x="459130" y="247624"/>
                </a:lnTo>
                <a:lnTo>
                  <a:pt x="455383" y="253453"/>
                </a:lnTo>
                <a:lnTo>
                  <a:pt x="449580" y="257200"/>
                </a:lnTo>
                <a:lnTo>
                  <a:pt x="442036" y="258521"/>
                </a:lnTo>
                <a:lnTo>
                  <a:pt x="434492" y="257200"/>
                </a:lnTo>
                <a:lnTo>
                  <a:pt x="428688" y="253453"/>
                </a:lnTo>
                <a:lnTo>
                  <a:pt x="424942" y="247624"/>
                </a:lnTo>
                <a:lnTo>
                  <a:pt x="423621" y="240055"/>
                </a:lnTo>
                <a:lnTo>
                  <a:pt x="424942" y="232498"/>
                </a:lnTo>
                <a:lnTo>
                  <a:pt x="428688" y="226669"/>
                </a:lnTo>
                <a:lnTo>
                  <a:pt x="434492" y="222923"/>
                </a:lnTo>
                <a:lnTo>
                  <a:pt x="442036" y="221602"/>
                </a:lnTo>
                <a:lnTo>
                  <a:pt x="449580" y="222923"/>
                </a:lnTo>
                <a:lnTo>
                  <a:pt x="455383" y="226669"/>
                </a:lnTo>
                <a:lnTo>
                  <a:pt x="459130" y="232498"/>
                </a:lnTo>
                <a:lnTo>
                  <a:pt x="460451" y="240055"/>
                </a:lnTo>
                <a:lnTo>
                  <a:pt x="460451" y="155384"/>
                </a:lnTo>
                <a:lnTo>
                  <a:pt x="439966" y="162966"/>
                </a:lnTo>
                <a:lnTo>
                  <a:pt x="387731" y="174548"/>
                </a:lnTo>
                <a:lnTo>
                  <a:pt x="326199" y="182016"/>
                </a:lnTo>
                <a:lnTo>
                  <a:pt x="257860" y="184670"/>
                </a:lnTo>
                <a:lnTo>
                  <a:pt x="189509" y="182016"/>
                </a:lnTo>
                <a:lnTo>
                  <a:pt x="127977" y="174548"/>
                </a:lnTo>
                <a:lnTo>
                  <a:pt x="75742" y="162966"/>
                </a:lnTo>
                <a:lnTo>
                  <a:pt x="35344" y="148005"/>
                </a:lnTo>
                <a:lnTo>
                  <a:pt x="0" y="110807"/>
                </a:lnTo>
                <a:lnTo>
                  <a:pt x="0" y="258521"/>
                </a:lnTo>
                <a:lnTo>
                  <a:pt x="35344" y="295732"/>
                </a:lnTo>
                <a:lnTo>
                  <a:pt x="75742" y="310692"/>
                </a:lnTo>
                <a:lnTo>
                  <a:pt x="127977" y="322262"/>
                </a:lnTo>
                <a:lnTo>
                  <a:pt x="189509" y="329742"/>
                </a:lnTo>
                <a:lnTo>
                  <a:pt x="257860" y="332384"/>
                </a:lnTo>
                <a:lnTo>
                  <a:pt x="326199" y="329742"/>
                </a:lnTo>
                <a:lnTo>
                  <a:pt x="387731" y="322262"/>
                </a:lnTo>
                <a:lnTo>
                  <a:pt x="439966" y="310692"/>
                </a:lnTo>
                <a:lnTo>
                  <a:pt x="480377" y="295732"/>
                </a:lnTo>
                <a:lnTo>
                  <a:pt x="515708" y="258521"/>
                </a:lnTo>
                <a:lnTo>
                  <a:pt x="515708" y="221602"/>
                </a:lnTo>
                <a:lnTo>
                  <a:pt x="515708" y="184670"/>
                </a:lnTo>
                <a:lnTo>
                  <a:pt x="515708" y="110807"/>
                </a:lnTo>
                <a:close/>
              </a:path>
              <a:path w="516255" h="702310">
                <a:moveTo>
                  <a:pt x="515708" y="73875"/>
                </a:moveTo>
                <a:lnTo>
                  <a:pt x="480504" y="36588"/>
                </a:lnTo>
                <a:lnTo>
                  <a:pt x="440182" y="21640"/>
                </a:lnTo>
                <a:lnTo>
                  <a:pt x="387997" y="10083"/>
                </a:lnTo>
                <a:lnTo>
                  <a:pt x="326402" y="2641"/>
                </a:lnTo>
                <a:lnTo>
                  <a:pt x="257860" y="0"/>
                </a:lnTo>
                <a:lnTo>
                  <a:pt x="189306" y="2641"/>
                </a:lnTo>
                <a:lnTo>
                  <a:pt x="127711" y="10083"/>
                </a:lnTo>
                <a:lnTo>
                  <a:pt x="75526" y="21640"/>
                </a:lnTo>
                <a:lnTo>
                  <a:pt x="35204" y="36588"/>
                </a:lnTo>
                <a:lnTo>
                  <a:pt x="0" y="73875"/>
                </a:lnTo>
                <a:lnTo>
                  <a:pt x="9220" y="93510"/>
                </a:lnTo>
                <a:lnTo>
                  <a:pt x="75526" y="126098"/>
                </a:lnTo>
                <a:lnTo>
                  <a:pt x="127711" y="137655"/>
                </a:lnTo>
                <a:lnTo>
                  <a:pt x="189306" y="145097"/>
                </a:lnTo>
                <a:lnTo>
                  <a:pt x="257860" y="147739"/>
                </a:lnTo>
                <a:lnTo>
                  <a:pt x="326402" y="145097"/>
                </a:lnTo>
                <a:lnTo>
                  <a:pt x="387997" y="137655"/>
                </a:lnTo>
                <a:lnTo>
                  <a:pt x="440182" y="126098"/>
                </a:lnTo>
                <a:lnTo>
                  <a:pt x="480504" y="111150"/>
                </a:lnTo>
                <a:lnTo>
                  <a:pt x="515708" y="73875"/>
                </a:lnTo>
                <a:close/>
              </a:path>
            </a:pathLst>
          </a:custGeom>
          <a:solidFill>
            <a:srgbClr val="9B9B9B"/>
          </a:solidFill>
        </p:spPr>
        <p:txBody>
          <a:bodyPr wrap="square" lIns="0" tIns="0" rIns="0" bIns="0" rtlCol="0"/>
          <a:lstStyle/>
          <a:p>
            <a:endParaRPr sz="2400"/>
          </a:p>
        </p:txBody>
      </p:sp>
      <p:pic>
        <p:nvPicPr>
          <p:cNvPr id="5" name="object 5"/>
          <p:cNvPicPr/>
          <p:nvPr/>
        </p:nvPicPr>
        <p:blipFill>
          <a:blip r:embed="rId2" cstate="print"/>
          <a:stretch>
            <a:fillRect/>
          </a:stretch>
        </p:blipFill>
        <p:spPr>
          <a:xfrm>
            <a:off x="2900035" y="4704285"/>
            <a:ext cx="700620" cy="947895"/>
          </a:xfrm>
          <a:prstGeom prst="rect">
            <a:avLst/>
          </a:prstGeom>
        </p:spPr>
      </p:pic>
      <p:sp>
        <p:nvSpPr>
          <p:cNvPr id="6" name="object 6"/>
          <p:cNvSpPr txBox="1"/>
          <p:nvPr/>
        </p:nvSpPr>
        <p:spPr>
          <a:xfrm>
            <a:off x="2624667" y="4014215"/>
            <a:ext cx="1145540"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Sales</a:t>
            </a:r>
            <a:r>
              <a:rPr sz="2133" spc="-27" dirty="0">
                <a:solidFill>
                  <a:srgbClr val="FFFFFF"/>
                </a:solidFill>
                <a:latin typeface="Calibri"/>
                <a:cs typeface="Calibri"/>
              </a:rPr>
              <a:t> data</a:t>
            </a:r>
            <a:endParaRPr sz="2133">
              <a:latin typeface="Calibri"/>
              <a:cs typeface="Calibri"/>
            </a:endParaRPr>
          </a:p>
        </p:txBody>
      </p:sp>
      <p:sp>
        <p:nvSpPr>
          <p:cNvPr id="7" name="object 7"/>
          <p:cNvSpPr txBox="1"/>
          <p:nvPr/>
        </p:nvSpPr>
        <p:spPr>
          <a:xfrm>
            <a:off x="2543047" y="5650721"/>
            <a:ext cx="1391920"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CRM</a:t>
            </a:r>
            <a:r>
              <a:rPr sz="2133" spc="-53" dirty="0">
                <a:solidFill>
                  <a:srgbClr val="FFFFFF"/>
                </a:solidFill>
                <a:latin typeface="Calibri"/>
                <a:cs typeface="Calibri"/>
              </a:rPr>
              <a:t> </a:t>
            </a:r>
            <a:r>
              <a:rPr sz="2133" spc="-13" dirty="0">
                <a:solidFill>
                  <a:srgbClr val="FFFFFF"/>
                </a:solidFill>
                <a:latin typeface="Calibri"/>
                <a:cs typeface="Calibri"/>
              </a:rPr>
              <a:t>system</a:t>
            </a:r>
            <a:endParaRPr sz="2133">
              <a:latin typeface="Calibri"/>
              <a:cs typeface="Calibri"/>
            </a:endParaRPr>
          </a:p>
        </p:txBody>
      </p:sp>
      <p:sp>
        <p:nvSpPr>
          <p:cNvPr id="8" name="object 8"/>
          <p:cNvSpPr/>
          <p:nvPr/>
        </p:nvSpPr>
        <p:spPr>
          <a:xfrm>
            <a:off x="4042326" y="2223686"/>
            <a:ext cx="2542540" cy="916093"/>
          </a:xfrm>
          <a:custGeom>
            <a:avLst/>
            <a:gdLst/>
            <a:ahLst/>
            <a:cxnLst/>
            <a:rect l="l" t="t" r="r" b="b"/>
            <a:pathLst>
              <a:path w="1906904" h="687069">
                <a:moveTo>
                  <a:pt x="1831303" y="660017"/>
                </a:moveTo>
                <a:lnTo>
                  <a:pt x="1821942" y="686688"/>
                </a:lnTo>
                <a:lnTo>
                  <a:pt x="1906523" y="675894"/>
                </a:lnTo>
                <a:lnTo>
                  <a:pt x="1895203" y="664210"/>
                </a:lnTo>
                <a:lnTo>
                  <a:pt x="1843278" y="664210"/>
                </a:lnTo>
                <a:lnTo>
                  <a:pt x="1831303" y="660017"/>
                </a:lnTo>
                <a:close/>
              </a:path>
              <a:path w="1906904" h="687069">
                <a:moveTo>
                  <a:pt x="1837861" y="641331"/>
                </a:moveTo>
                <a:lnTo>
                  <a:pt x="1831303" y="660017"/>
                </a:lnTo>
                <a:lnTo>
                  <a:pt x="1843278" y="664210"/>
                </a:lnTo>
                <a:lnTo>
                  <a:pt x="1849882" y="645541"/>
                </a:lnTo>
                <a:lnTo>
                  <a:pt x="1837861" y="641331"/>
                </a:lnTo>
                <a:close/>
              </a:path>
              <a:path w="1906904" h="687069">
                <a:moveTo>
                  <a:pt x="1847215" y="614680"/>
                </a:moveTo>
                <a:lnTo>
                  <a:pt x="1837861" y="641331"/>
                </a:lnTo>
                <a:lnTo>
                  <a:pt x="1849882" y="645541"/>
                </a:lnTo>
                <a:lnTo>
                  <a:pt x="1843278" y="664210"/>
                </a:lnTo>
                <a:lnTo>
                  <a:pt x="1895203" y="664210"/>
                </a:lnTo>
                <a:lnTo>
                  <a:pt x="1847215" y="614680"/>
                </a:lnTo>
                <a:close/>
              </a:path>
              <a:path w="1906904" h="687069">
                <a:moveTo>
                  <a:pt x="6604" y="0"/>
                </a:moveTo>
                <a:lnTo>
                  <a:pt x="0" y="18796"/>
                </a:lnTo>
                <a:lnTo>
                  <a:pt x="1831303" y="660017"/>
                </a:lnTo>
                <a:lnTo>
                  <a:pt x="1837861" y="641331"/>
                </a:lnTo>
                <a:lnTo>
                  <a:pt x="6604" y="0"/>
                </a:lnTo>
                <a:close/>
              </a:path>
            </a:pathLst>
          </a:custGeom>
          <a:solidFill>
            <a:srgbClr val="00C2FF"/>
          </a:solidFill>
        </p:spPr>
        <p:txBody>
          <a:bodyPr wrap="square" lIns="0" tIns="0" rIns="0" bIns="0" rtlCol="0"/>
          <a:lstStyle/>
          <a:p>
            <a:endParaRPr sz="2400"/>
          </a:p>
        </p:txBody>
      </p:sp>
      <p:sp>
        <p:nvSpPr>
          <p:cNvPr id="9" name="object 9"/>
          <p:cNvSpPr/>
          <p:nvPr/>
        </p:nvSpPr>
        <p:spPr>
          <a:xfrm>
            <a:off x="3941064" y="3758184"/>
            <a:ext cx="2563707" cy="101600"/>
          </a:xfrm>
          <a:custGeom>
            <a:avLst/>
            <a:gdLst/>
            <a:ahLst/>
            <a:cxnLst/>
            <a:rect l="l" t="t" r="r" b="b"/>
            <a:pathLst>
              <a:path w="1922779" h="76200">
                <a:moveTo>
                  <a:pt x="1846326" y="0"/>
                </a:moveTo>
                <a:lnTo>
                  <a:pt x="1846326" y="76200"/>
                </a:lnTo>
                <a:lnTo>
                  <a:pt x="1902714" y="48006"/>
                </a:lnTo>
                <a:lnTo>
                  <a:pt x="1859026" y="48006"/>
                </a:lnTo>
                <a:lnTo>
                  <a:pt x="1859026" y="28193"/>
                </a:lnTo>
                <a:lnTo>
                  <a:pt x="1902714" y="28193"/>
                </a:lnTo>
                <a:lnTo>
                  <a:pt x="1846326" y="0"/>
                </a:lnTo>
                <a:close/>
              </a:path>
              <a:path w="1922779" h="76200">
                <a:moveTo>
                  <a:pt x="1846326" y="28193"/>
                </a:moveTo>
                <a:lnTo>
                  <a:pt x="0" y="28193"/>
                </a:lnTo>
                <a:lnTo>
                  <a:pt x="0" y="48006"/>
                </a:lnTo>
                <a:lnTo>
                  <a:pt x="1846326" y="48006"/>
                </a:lnTo>
                <a:lnTo>
                  <a:pt x="1846326" y="28193"/>
                </a:lnTo>
                <a:close/>
              </a:path>
              <a:path w="1922779" h="76200">
                <a:moveTo>
                  <a:pt x="1902714" y="28193"/>
                </a:moveTo>
                <a:lnTo>
                  <a:pt x="1859026" y="28193"/>
                </a:lnTo>
                <a:lnTo>
                  <a:pt x="1859026" y="48006"/>
                </a:lnTo>
                <a:lnTo>
                  <a:pt x="1902714" y="48006"/>
                </a:lnTo>
                <a:lnTo>
                  <a:pt x="1922526" y="38100"/>
                </a:lnTo>
                <a:lnTo>
                  <a:pt x="1902714" y="28193"/>
                </a:lnTo>
                <a:close/>
              </a:path>
            </a:pathLst>
          </a:custGeom>
          <a:solidFill>
            <a:srgbClr val="00C2FF"/>
          </a:solidFill>
        </p:spPr>
        <p:txBody>
          <a:bodyPr wrap="square" lIns="0" tIns="0" rIns="0" bIns="0" rtlCol="0"/>
          <a:lstStyle/>
          <a:p>
            <a:endParaRPr sz="2400"/>
          </a:p>
        </p:txBody>
      </p:sp>
      <p:graphicFrame>
        <p:nvGraphicFramePr>
          <p:cNvPr id="10" name="object 10"/>
          <p:cNvGraphicFramePr>
            <a:graphicFrameLocks noGrp="1"/>
          </p:cNvGraphicFramePr>
          <p:nvPr/>
        </p:nvGraphicFramePr>
        <p:xfrm>
          <a:off x="2783375" y="1808745"/>
          <a:ext cx="929639" cy="628227"/>
        </p:xfrm>
        <a:graphic>
          <a:graphicData uri="http://schemas.openxmlformats.org/drawingml/2006/table">
            <a:tbl>
              <a:tblPr firstRow="1" bandRow="1">
                <a:tableStyleId>{2D5ABB26-0587-4C30-8999-92F81FD0307C}</a:tableStyleId>
              </a:tblPr>
              <a:tblGrid>
                <a:gridCol w="314113">
                  <a:extLst>
                    <a:ext uri="{9D8B030D-6E8A-4147-A177-3AD203B41FA5}">
                      <a16:colId xmlns:a16="http://schemas.microsoft.com/office/drawing/2014/main" val="20000"/>
                    </a:ext>
                  </a:extLst>
                </a:gridCol>
                <a:gridCol w="301413">
                  <a:extLst>
                    <a:ext uri="{9D8B030D-6E8A-4147-A177-3AD203B41FA5}">
                      <a16:colId xmlns:a16="http://schemas.microsoft.com/office/drawing/2014/main" val="20001"/>
                    </a:ext>
                  </a:extLst>
                </a:gridCol>
                <a:gridCol w="314113">
                  <a:extLst>
                    <a:ext uri="{9D8B030D-6E8A-4147-A177-3AD203B41FA5}">
                      <a16:colId xmlns:a16="http://schemas.microsoft.com/office/drawing/2014/main" val="20002"/>
                    </a:ext>
                  </a:extLst>
                </a:gridCol>
              </a:tblGrid>
              <a:tr h="213360">
                <a:tc>
                  <a:txBody>
                    <a:bodyPr/>
                    <a:lstStyle/>
                    <a:p>
                      <a:pPr>
                        <a:lnSpc>
                          <a:spcPct val="100000"/>
                        </a:lnSpc>
                      </a:pPr>
                      <a:endParaRPr sz="1200">
                        <a:latin typeface="Times New Roman"/>
                        <a:cs typeface="Times New Roman"/>
                      </a:endParaRPr>
                    </a:p>
                  </a:txBody>
                  <a:tcPr marL="0" marR="0" marT="0" marB="0">
                    <a:lnL w="5715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57150">
                      <a:solidFill>
                        <a:srgbClr val="BCBCBC"/>
                      </a:solidFill>
                      <a:prstDash val="solid"/>
                    </a:lnR>
                    <a:lnT w="57150">
                      <a:solidFill>
                        <a:srgbClr val="BCBCBC"/>
                      </a:solidFill>
                      <a:prstDash val="solid"/>
                    </a:lnT>
                    <a:lnB w="38100">
                      <a:solidFill>
                        <a:srgbClr val="BCBCBC"/>
                      </a:solidFill>
                      <a:prstDash val="solid"/>
                    </a:lnB>
                  </a:tcPr>
                </a:tc>
                <a:extLst>
                  <a:ext uri="{0D108BD9-81ED-4DB2-BD59-A6C34878D82A}">
                    <a16:rowId xmlns:a16="http://schemas.microsoft.com/office/drawing/2014/main" val="10000"/>
                  </a:ext>
                </a:extLst>
              </a:tr>
              <a:tr h="201507">
                <a:tc>
                  <a:txBody>
                    <a:bodyPr/>
                    <a:lstStyle/>
                    <a:p>
                      <a:pPr>
                        <a:lnSpc>
                          <a:spcPct val="100000"/>
                        </a:lnSpc>
                      </a:pPr>
                      <a:endParaRPr sz="11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11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11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38100">
                      <a:solidFill>
                        <a:srgbClr val="BCBCBC"/>
                      </a:solidFill>
                      <a:prstDash val="solid"/>
                    </a:lnB>
                  </a:tcPr>
                </a:tc>
                <a:extLst>
                  <a:ext uri="{0D108BD9-81ED-4DB2-BD59-A6C34878D82A}">
                    <a16:rowId xmlns:a16="http://schemas.microsoft.com/office/drawing/2014/main" val="10001"/>
                  </a:ext>
                </a:extLst>
              </a:tr>
              <a:tr h="213360">
                <a:tc>
                  <a:txBody>
                    <a:bodyPr/>
                    <a:lstStyle/>
                    <a:p>
                      <a:pPr>
                        <a:lnSpc>
                          <a:spcPct val="100000"/>
                        </a:lnSpc>
                      </a:pPr>
                      <a:endParaRPr sz="12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57150">
                      <a:solidFill>
                        <a:srgbClr val="BCBCBC"/>
                      </a:solidFill>
                      <a:prstDash val="solid"/>
                    </a:lnB>
                  </a:tcPr>
                </a:tc>
                <a:extLst>
                  <a:ext uri="{0D108BD9-81ED-4DB2-BD59-A6C34878D82A}">
                    <a16:rowId xmlns:a16="http://schemas.microsoft.com/office/drawing/2014/main" val="10002"/>
                  </a:ext>
                </a:extLst>
              </a:tr>
            </a:tbl>
          </a:graphicData>
        </a:graphic>
      </p:graphicFrame>
      <p:sp>
        <p:nvSpPr>
          <p:cNvPr id="11" name="object 11"/>
          <p:cNvSpPr txBox="1"/>
          <p:nvPr/>
        </p:nvSpPr>
        <p:spPr>
          <a:xfrm>
            <a:off x="2340526" y="2558457"/>
            <a:ext cx="2129367"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Other</a:t>
            </a:r>
            <a:r>
              <a:rPr sz="2133" spc="-13" dirty="0">
                <a:solidFill>
                  <a:srgbClr val="FFFFFF"/>
                </a:solidFill>
                <a:latin typeface="Calibri"/>
                <a:cs typeface="Calibri"/>
              </a:rPr>
              <a:t> </a:t>
            </a:r>
            <a:r>
              <a:rPr sz="2133" dirty="0">
                <a:solidFill>
                  <a:srgbClr val="FFFFFF"/>
                </a:solidFill>
                <a:latin typeface="Calibri"/>
                <a:cs typeface="Calibri"/>
              </a:rPr>
              <a:t>data</a:t>
            </a:r>
            <a:r>
              <a:rPr sz="2133" spc="-47" dirty="0">
                <a:solidFill>
                  <a:srgbClr val="FFFFFF"/>
                </a:solidFill>
                <a:latin typeface="Calibri"/>
                <a:cs typeface="Calibri"/>
              </a:rPr>
              <a:t> </a:t>
            </a:r>
            <a:r>
              <a:rPr sz="2133" spc="-13" dirty="0">
                <a:solidFill>
                  <a:srgbClr val="FFFFFF"/>
                </a:solidFill>
                <a:latin typeface="Calibri"/>
                <a:cs typeface="Calibri"/>
              </a:rPr>
              <a:t>sources</a:t>
            </a:r>
            <a:endParaRPr sz="2133">
              <a:latin typeface="Calibri"/>
              <a:cs typeface="Calibri"/>
            </a:endParaRPr>
          </a:p>
        </p:txBody>
      </p:sp>
      <p:sp>
        <p:nvSpPr>
          <p:cNvPr id="12" name="object 12"/>
          <p:cNvSpPr/>
          <p:nvPr/>
        </p:nvSpPr>
        <p:spPr>
          <a:xfrm>
            <a:off x="3937001" y="4328497"/>
            <a:ext cx="2567940" cy="861907"/>
          </a:xfrm>
          <a:custGeom>
            <a:avLst/>
            <a:gdLst/>
            <a:ahLst/>
            <a:cxnLst/>
            <a:rect l="l" t="t" r="r" b="b"/>
            <a:pathLst>
              <a:path w="1925954" h="646429">
                <a:moveTo>
                  <a:pt x="1850044" y="26763"/>
                </a:moveTo>
                <a:lnTo>
                  <a:pt x="0" y="626998"/>
                </a:lnTo>
                <a:lnTo>
                  <a:pt x="6095" y="645820"/>
                </a:lnTo>
                <a:lnTo>
                  <a:pt x="1856134" y="45561"/>
                </a:lnTo>
                <a:lnTo>
                  <a:pt x="1850044" y="26763"/>
                </a:lnTo>
                <a:close/>
              </a:path>
              <a:path w="1925954" h="646429">
                <a:moveTo>
                  <a:pt x="1915263" y="22859"/>
                </a:moveTo>
                <a:lnTo>
                  <a:pt x="1862074" y="22859"/>
                </a:lnTo>
                <a:lnTo>
                  <a:pt x="1868170" y="41656"/>
                </a:lnTo>
                <a:lnTo>
                  <a:pt x="1856134" y="45561"/>
                </a:lnTo>
                <a:lnTo>
                  <a:pt x="1864867" y="72517"/>
                </a:lnTo>
                <a:lnTo>
                  <a:pt x="1915263" y="22859"/>
                </a:lnTo>
                <a:close/>
              </a:path>
              <a:path w="1925954" h="646429">
                <a:moveTo>
                  <a:pt x="1862074" y="22859"/>
                </a:moveTo>
                <a:lnTo>
                  <a:pt x="1850044" y="26763"/>
                </a:lnTo>
                <a:lnTo>
                  <a:pt x="1856134" y="45561"/>
                </a:lnTo>
                <a:lnTo>
                  <a:pt x="1868170" y="41656"/>
                </a:lnTo>
                <a:lnTo>
                  <a:pt x="1862074" y="22859"/>
                </a:lnTo>
                <a:close/>
              </a:path>
              <a:path w="1925954" h="646429">
                <a:moveTo>
                  <a:pt x="1841373" y="0"/>
                </a:moveTo>
                <a:lnTo>
                  <a:pt x="1850044" y="26763"/>
                </a:lnTo>
                <a:lnTo>
                  <a:pt x="1862074" y="22859"/>
                </a:lnTo>
                <a:lnTo>
                  <a:pt x="1915263" y="22859"/>
                </a:lnTo>
                <a:lnTo>
                  <a:pt x="1925574" y="12700"/>
                </a:lnTo>
                <a:lnTo>
                  <a:pt x="1841373" y="0"/>
                </a:lnTo>
                <a:close/>
              </a:path>
            </a:pathLst>
          </a:custGeom>
          <a:solidFill>
            <a:srgbClr val="00C2FF"/>
          </a:solidFill>
        </p:spPr>
        <p:txBody>
          <a:bodyPr wrap="square" lIns="0" tIns="0" rIns="0" bIns="0" rtlCol="0"/>
          <a:lstStyle/>
          <a:p>
            <a:endParaRPr sz="2400"/>
          </a:p>
        </p:txBody>
      </p:sp>
      <p:sp>
        <p:nvSpPr>
          <p:cNvPr id="13" name="object 13"/>
          <p:cNvSpPr txBox="1"/>
          <p:nvPr/>
        </p:nvSpPr>
        <p:spPr>
          <a:xfrm>
            <a:off x="7016156" y="4835821"/>
            <a:ext cx="1828800"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Data</a:t>
            </a:r>
            <a:r>
              <a:rPr sz="2133" spc="-53" dirty="0">
                <a:solidFill>
                  <a:srgbClr val="FFFFFF"/>
                </a:solidFill>
                <a:latin typeface="Calibri"/>
                <a:cs typeface="Calibri"/>
              </a:rPr>
              <a:t> </a:t>
            </a:r>
            <a:r>
              <a:rPr sz="2133" spc="-13" dirty="0">
                <a:solidFill>
                  <a:srgbClr val="FFFFFF"/>
                </a:solidFill>
                <a:latin typeface="Calibri"/>
                <a:cs typeface="Calibri"/>
              </a:rPr>
              <a:t>warehouse</a:t>
            </a:r>
            <a:endParaRPr sz="2133">
              <a:latin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042326" y="2223686"/>
            <a:ext cx="2542540" cy="916093"/>
          </a:xfrm>
          <a:custGeom>
            <a:avLst/>
            <a:gdLst/>
            <a:ahLst/>
            <a:cxnLst/>
            <a:rect l="l" t="t" r="r" b="b"/>
            <a:pathLst>
              <a:path w="1906904" h="687069">
                <a:moveTo>
                  <a:pt x="1831303" y="660017"/>
                </a:moveTo>
                <a:lnTo>
                  <a:pt x="1821942" y="686688"/>
                </a:lnTo>
                <a:lnTo>
                  <a:pt x="1906523" y="675894"/>
                </a:lnTo>
                <a:lnTo>
                  <a:pt x="1895203" y="664210"/>
                </a:lnTo>
                <a:lnTo>
                  <a:pt x="1843278" y="664210"/>
                </a:lnTo>
                <a:lnTo>
                  <a:pt x="1831303" y="660017"/>
                </a:lnTo>
                <a:close/>
              </a:path>
              <a:path w="1906904" h="687069">
                <a:moveTo>
                  <a:pt x="1837861" y="641331"/>
                </a:moveTo>
                <a:lnTo>
                  <a:pt x="1831303" y="660017"/>
                </a:lnTo>
                <a:lnTo>
                  <a:pt x="1843278" y="664210"/>
                </a:lnTo>
                <a:lnTo>
                  <a:pt x="1849882" y="645541"/>
                </a:lnTo>
                <a:lnTo>
                  <a:pt x="1837861" y="641331"/>
                </a:lnTo>
                <a:close/>
              </a:path>
              <a:path w="1906904" h="687069">
                <a:moveTo>
                  <a:pt x="1847215" y="614680"/>
                </a:moveTo>
                <a:lnTo>
                  <a:pt x="1837861" y="641331"/>
                </a:lnTo>
                <a:lnTo>
                  <a:pt x="1849882" y="645541"/>
                </a:lnTo>
                <a:lnTo>
                  <a:pt x="1843278" y="664210"/>
                </a:lnTo>
                <a:lnTo>
                  <a:pt x="1895203" y="664210"/>
                </a:lnTo>
                <a:lnTo>
                  <a:pt x="1847215" y="614680"/>
                </a:lnTo>
                <a:close/>
              </a:path>
              <a:path w="1906904" h="687069">
                <a:moveTo>
                  <a:pt x="6604" y="0"/>
                </a:moveTo>
                <a:lnTo>
                  <a:pt x="0" y="18796"/>
                </a:lnTo>
                <a:lnTo>
                  <a:pt x="1831303" y="660017"/>
                </a:lnTo>
                <a:lnTo>
                  <a:pt x="1837861" y="641331"/>
                </a:lnTo>
                <a:lnTo>
                  <a:pt x="6604" y="0"/>
                </a:lnTo>
                <a:close/>
              </a:path>
            </a:pathLst>
          </a:custGeom>
          <a:solidFill>
            <a:srgbClr val="404040"/>
          </a:solidFill>
        </p:spPr>
        <p:txBody>
          <a:bodyPr wrap="square" lIns="0" tIns="0" rIns="0" bIns="0" rtlCol="0"/>
          <a:lstStyle/>
          <a:p>
            <a:endParaRPr sz="2400"/>
          </a:p>
        </p:txBody>
      </p:sp>
      <p:sp>
        <p:nvSpPr>
          <p:cNvPr id="3" name="object 3"/>
          <p:cNvSpPr/>
          <p:nvPr/>
        </p:nvSpPr>
        <p:spPr>
          <a:xfrm>
            <a:off x="3941064" y="3758184"/>
            <a:ext cx="2563707" cy="101600"/>
          </a:xfrm>
          <a:custGeom>
            <a:avLst/>
            <a:gdLst/>
            <a:ahLst/>
            <a:cxnLst/>
            <a:rect l="l" t="t" r="r" b="b"/>
            <a:pathLst>
              <a:path w="1922779" h="76200">
                <a:moveTo>
                  <a:pt x="1846326" y="0"/>
                </a:moveTo>
                <a:lnTo>
                  <a:pt x="1846326" y="76200"/>
                </a:lnTo>
                <a:lnTo>
                  <a:pt x="1902714" y="48006"/>
                </a:lnTo>
                <a:lnTo>
                  <a:pt x="1859026" y="48006"/>
                </a:lnTo>
                <a:lnTo>
                  <a:pt x="1859026" y="28193"/>
                </a:lnTo>
                <a:lnTo>
                  <a:pt x="1902714" y="28193"/>
                </a:lnTo>
                <a:lnTo>
                  <a:pt x="1846326" y="0"/>
                </a:lnTo>
                <a:close/>
              </a:path>
              <a:path w="1922779" h="76200">
                <a:moveTo>
                  <a:pt x="1846326" y="28193"/>
                </a:moveTo>
                <a:lnTo>
                  <a:pt x="0" y="28193"/>
                </a:lnTo>
                <a:lnTo>
                  <a:pt x="0" y="48006"/>
                </a:lnTo>
                <a:lnTo>
                  <a:pt x="1846326" y="48006"/>
                </a:lnTo>
                <a:lnTo>
                  <a:pt x="1846326" y="28193"/>
                </a:lnTo>
                <a:close/>
              </a:path>
              <a:path w="1922779" h="76200">
                <a:moveTo>
                  <a:pt x="1902714" y="28193"/>
                </a:moveTo>
                <a:lnTo>
                  <a:pt x="1859026" y="28193"/>
                </a:lnTo>
                <a:lnTo>
                  <a:pt x="1859026" y="48006"/>
                </a:lnTo>
                <a:lnTo>
                  <a:pt x="1902714" y="48006"/>
                </a:lnTo>
                <a:lnTo>
                  <a:pt x="1922526" y="38100"/>
                </a:lnTo>
                <a:lnTo>
                  <a:pt x="1902714" y="28193"/>
                </a:lnTo>
                <a:close/>
              </a:path>
            </a:pathLst>
          </a:custGeom>
          <a:solidFill>
            <a:srgbClr val="404040"/>
          </a:solidFill>
        </p:spPr>
        <p:txBody>
          <a:bodyPr wrap="square" lIns="0" tIns="0" rIns="0" bIns="0" rtlCol="0"/>
          <a:lstStyle/>
          <a:p>
            <a:endParaRPr sz="2400"/>
          </a:p>
        </p:txBody>
      </p:sp>
      <p:sp>
        <p:nvSpPr>
          <p:cNvPr id="4" name="object 4"/>
          <p:cNvSpPr/>
          <p:nvPr/>
        </p:nvSpPr>
        <p:spPr>
          <a:xfrm>
            <a:off x="3937001" y="4328497"/>
            <a:ext cx="2567940" cy="861907"/>
          </a:xfrm>
          <a:custGeom>
            <a:avLst/>
            <a:gdLst/>
            <a:ahLst/>
            <a:cxnLst/>
            <a:rect l="l" t="t" r="r" b="b"/>
            <a:pathLst>
              <a:path w="1925954" h="646429">
                <a:moveTo>
                  <a:pt x="1850044" y="26763"/>
                </a:moveTo>
                <a:lnTo>
                  <a:pt x="0" y="626998"/>
                </a:lnTo>
                <a:lnTo>
                  <a:pt x="6095" y="645820"/>
                </a:lnTo>
                <a:lnTo>
                  <a:pt x="1856134" y="45561"/>
                </a:lnTo>
                <a:lnTo>
                  <a:pt x="1850044" y="26763"/>
                </a:lnTo>
                <a:close/>
              </a:path>
              <a:path w="1925954" h="646429">
                <a:moveTo>
                  <a:pt x="1915263" y="22859"/>
                </a:moveTo>
                <a:lnTo>
                  <a:pt x="1862074" y="22859"/>
                </a:lnTo>
                <a:lnTo>
                  <a:pt x="1868170" y="41656"/>
                </a:lnTo>
                <a:lnTo>
                  <a:pt x="1856134" y="45561"/>
                </a:lnTo>
                <a:lnTo>
                  <a:pt x="1864867" y="72517"/>
                </a:lnTo>
                <a:lnTo>
                  <a:pt x="1915263" y="22859"/>
                </a:lnTo>
                <a:close/>
              </a:path>
              <a:path w="1925954" h="646429">
                <a:moveTo>
                  <a:pt x="1862074" y="22859"/>
                </a:moveTo>
                <a:lnTo>
                  <a:pt x="1850044" y="26763"/>
                </a:lnTo>
                <a:lnTo>
                  <a:pt x="1856134" y="45561"/>
                </a:lnTo>
                <a:lnTo>
                  <a:pt x="1868170" y="41656"/>
                </a:lnTo>
                <a:lnTo>
                  <a:pt x="1862074" y="22859"/>
                </a:lnTo>
                <a:close/>
              </a:path>
              <a:path w="1925954" h="646429">
                <a:moveTo>
                  <a:pt x="1841373" y="0"/>
                </a:moveTo>
                <a:lnTo>
                  <a:pt x="1850044" y="26763"/>
                </a:lnTo>
                <a:lnTo>
                  <a:pt x="1862074" y="22859"/>
                </a:lnTo>
                <a:lnTo>
                  <a:pt x="1915263" y="22859"/>
                </a:lnTo>
                <a:lnTo>
                  <a:pt x="1925574" y="12700"/>
                </a:lnTo>
                <a:lnTo>
                  <a:pt x="1841373" y="0"/>
                </a:lnTo>
                <a:close/>
              </a:path>
            </a:pathLst>
          </a:custGeom>
          <a:solidFill>
            <a:srgbClr val="404040"/>
          </a:solidFill>
        </p:spPr>
        <p:txBody>
          <a:bodyPr wrap="square" lIns="0" tIns="0" rIns="0" bIns="0" rtlCol="0"/>
          <a:lstStyle/>
          <a:p>
            <a:endParaRPr sz="2400"/>
          </a:p>
        </p:txBody>
      </p:sp>
      <p:sp>
        <p:nvSpPr>
          <p:cNvPr id="5" name="object 5"/>
          <p:cNvSpPr txBox="1"/>
          <p:nvPr/>
        </p:nvSpPr>
        <p:spPr>
          <a:xfrm>
            <a:off x="2503086" y="388282"/>
            <a:ext cx="7366847" cy="674608"/>
          </a:xfrm>
          <a:prstGeom prst="rect">
            <a:avLst/>
          </a:prstGeom>
        </p:spPr>
        <p:txBody>
          <a:bodyPr vert="horz" wrap="square" lIns="0" tIns="17780" rIns="0" bIns="0" rtlCol="0">
            <a:spAutoFit/>
          </a:bodyPr>
          <a:lstStyle/>
          <a:p>
            <a:pPr marL="16933">
              <a:spcBef>
                <a:spcPts val="140"/>
              </a:spcBef>
            </a:pPr>
            <a:r>
              <a:rPr sz="4267" dirty="0">
                <a:solidFill>
                  <a:srgbClr val="FFFFFF"/>
                </a:solidFill>
                <a:latin typeface="Calibri"/>
                <a:cs typeface="Calibri"/>
              </a:rPr>
              <a:t>Understanding</a:t>
            </a:r>
            <a:r>
              <a:rPr sz="4267" spc="-40" dirty="0">
                <a:solidFill>
                  <a:srgbClr val="FFFFFF"/>
                </a:solidFill>
                <a:latin typeface="Calibri"/>
                <a:cs typeface="Calibri"/>
              </a:rPr>
              <a:t> </a:t>
            </a:r>
            <a:r>
              <a:rPr sz="4267" dirty="0">
                <a:solidFill>
                  <a:srgbClr val="FFFFFF"/>
                </a:solidFill>
                <a:latin typeface="Calibri"/>
                <a:cs typeface="Calibri"/>
              </a:rPr>
              <a:t>a</a:t>
            </a:r>
            <a:r>
              <a:rPr sz="4267" spc="-100" dirty="0">
                <a:solidFill>
                  <a:srgbClr val="FFFFFF"/>
                </a:solidFill>
                <a:latin typeface="Calibri"/>
                <a:cs typeface="Calibri"/>
              </a:rPr>
              <a:t> </a:t>
            </a:r>
            <a:r>
              <a:rPr sz="4267" dirty="0">
                <a:solidFill>
                  <a:srgbClr val="FFFFFF"/>
                </a:solidFill>
                <a:latin typeface="Calibri"/>
                <a:cs typeface="Calibri"/>
              </a:rPr>
              <a:t>data</a:t>
            </a:r>
            <a:r>
              <a:rPr sz="4267" spc="-80" dirty="0">
                <a:solidFill>
                  <a:srgbClr val="FFFFFF"/>
                </a:solidFill>
                <a:latin typeface="Calibri"/>
                <a:cs typeface="Calibri"/>
              </a:rPr>
              <a:t> </a:t>
            </a:r>
            <a:r>
              <a:rPr sz="4267" spc="-13" dirty="0">
                <a:solidFill>
                  <a:srgbClr val="FFFFFF"/>
                </a:solidFill>
                <a:latin typeface="Calibri"/>
                <a:cs typeface="Calibri"/>
              </a:rPr>
              <a:t>warehouse</a:t>
            </a:r>
            <a:endParaRPr sz="4267">
              <a:latin typeface="Calibri"/>
              <a:cs typeface="Calibri"/>
            </a:endParaRPr>
          </a:p>
        </p:txBody>
      </p:sp>
      <p:sp>
        <p:nvSpPr>
          <p:cNvPr id="6" name="object 6"/>
          <p:cNvSpPr/>
          <p:nvPr/>
        </p:nvSpPr>
        <p:spPr>
          <a:xfrm>
            <a:off x="7100842" y="2795507"/>
            <a:ext cx="1398693" cy="1899920"/>
          </a:xfrm>
          <a:custGeom>
            <a:avLst/>
            <a:gdLst/>
            <a:ahLst/>
            <a:cxnLst/>
            <a:rect l="l" t="t" r="r" b="b"/>
            <a:pathLst>
              <a:path w="1049020" h="1424939">
                <a:moveTo>
                  <a:pt x="1048981" y="974928"/>
                </a:moveTo>
                <a:lnTo>
                  <a:pt x="1030160" y="1014679"/>
                </a:lnTo>
                <a:lnTo>
                  <a:pt x="977099" y="1050480"/>
                </a:lnTo>
                <a:lnTo>
                  <a:pt x="939330" y="1066431"/>
                </a:lnTo>
                <a:lnTo>
                  <a:pt x="936586" y="1067333"/>
                </a:lnTo>
                <a:lnTo>
                  <a:pt x="936586" y="1237399"/>
                </a:lnTo>
                <a:lnTo>
                  <a:pt x="933894" y="1252753"/>
                </a:lnTo>
                <a:lnTo>
                  <a:pt x="926287" y="1264589"/>
                </a:lnTo>
                <a:lnTo>
                  <a:pt x="914463" y="1272197"/>
                </a:lnTo>
                <a:lnTo>
                  <a:pt x="899121" y="1274889"/>
                </a:lnTo>
                <a:lnTo>
                  <a:pt x="883793" y="1272197"/>
                </a:lnTo>
                <a:lnTo>
                  <a:pt x="871969" y="1264589"/>
                </a:lnTo>
                <a:lnTo>
                  <a:pt x="864349" y="1252753"/>
                </a:lnTo>
                <a:lnTo>
                  <a:pt x="861656" y="1237399"/>
                </a:lnTo>
                <a:lnTo>
                  <a:pt x="864349" y="1222044"/>
                </a:lnTo>
                <a:lnTo>
                  <a:pt x="871969" y="1210208"/>
                </a:lnTo>
                <a:lnTo>
                  <a:pt x="883793" y="1202601"/>
                </a:lnTo>
                <a:lnTo>
                  <a:pt x="899121" y="1199908"/>
                </a:lnTo>
                <a:lnTo>
                  <a:pt x="914463" y="1202601"/>
                </a:lnTo>
                <a:lnTo>
                  <a:pt x="926287" y="1210208"/>
                </a:lnTo>
                <a:lnTo>
                  <a:pt x="933894" y="1222044"/>
                </a:lnTo>
                <a:lnTo>
                  <a:pt x="936586" y="1237399"/>
                </a:lnTo>
                <a:lnTo>
                  <a:pt x="936586" y="1067333"/>
                </a:lnTo>
                <a:lnTo>
                  <a:pt x="894905" y="1080858"/>
                </a:lnTo>
                <a:lnTo>
                  <a:pt x="844473" y="1093558"/>
                </a:lnTo>
                <a:lnTo>
                  <a:pt x="788682" y="1104353"/>
                </a:lnTo>
                <a:lnTo>
                  <a:pt x="728141" y="1113078"/>
                </a:lnTo>
                <a:lnTo>
                  <a:pt x="663498" y="1119530"/>
                </a:lnTo>
                <a:lnTo>
                  <a:pt x="595401" y="1123530"/>
                </a:lnTo>
                <a:lnTo>
                  <a:pt x="524484" y="1124915"/>
                </a:lnTo>
                <a:lnTo>
                  <a:pt x="453567" y="1123530"/>
                </a:lnTo>
                <a:lnTo>
                  <a:pt x="385470" y="1119530"/>
                </a:lnTo>
                <a:lnTo>
                  <a:pt x="320840" y="1113078"/>
                </a:lnTo>
                <a:lnTo>
                  <a:pt x="260299" y="1104353"/>
                </a:lnTo>
                <a:lnTo>
                  <a:pt x="204495" y="1093558"/>
                </a:lnTo>
                <a:lnTo>
                  <a:pt x="154063" y="1080858"/>
                </a:lnTo>
                <a:lnTo>
                  <a:pt x="109639" y="1066431"/>
                </a:lnTo>
                <a:lnTo>
                  <a:pt x="71869" y="1050480"/>
                </a:lnTo>
                <a:lnTo>
                  <a:pt x="18821" y="1014679"/>
                </a:lnTo>
                <a:lnTo>
                  <a:pt x="0" y="974928"/>
                </a:lnTo>
                <a:lnTo>
                  <a:pt x="0" y="1274889"/>
                </a:lnTo>
                <a:lnTo>
                  <a:pt x="18821" y="1314653"/>
                </a:lnTo>
                <a:lnTo>
                  <a:pt x="71869" y="1350441"/>
                </a:lnTo>
                <a:lnTo>
                  <a:pt x="109639" y="1366405"/>
                </a:lnTo>
                <a:lnTo>
                  <a:pt x="154063" y="1380820"/>
                </a:lnTo>
                <a:lnTo>
                  <a:pt x="204495" y="1393520"/>
                </a:lnTo>
                <a:lnTo>
                  <a:pt x="260299" y="1404327"/>
                </a:lnTo>
                <a:lnTo>
                  <a:pt x="320840" y="1413040"/>
                </a:lnTo>
                <a:lnTo>
                  <a:pt x="385470" y="1419491"/>
                </a:lnTo>
                <a:lnTo>
                  <a:pt x="453567" y="1423504"/>
                </a:lnTo>
                <a:lnTo>
                  <a:pt x="524484" y="1424876"/>
                </a:lnTo>
                <a:lnTo>
                  <a:pt x="595401" y="1423504"/>
                </a:lnTo>
                <a:lnTo>
                  <a:pt x="663498" y="1419491"/>
                </a:lnTo>
                <a:lnTo>
                  <a:pt x="728141" y="1413040"/>
                </a:lnTo>
                <a:lnTo>
                  <a:pt x="788682" y="1404327"/>
                </a:lnTo>
                <a:lnTo>
                  <a:pt x="844473" y="1393520"/>
                </a:lnTo>
                <a:lnTo>
                  <a:pt x="894905" y="1380820"/>
                </a:lnTo>
                <a:lnTo>
                  <a:pt x="939330" y="1366405"/>
                </a:lnTo>
                <a:lnTo>
                  <a:pt x="977099" y="1350441"/>
                </a:lnTo>
                <a:lnTo>
                  <a:pt x="1030160" y="1314653"/>
                </a:lnTo>
                <a:lnTo>
                  <a:pt x="1048981" y="1274889"/>
                </a:lnTo>
                <a:lnTo>
                  <a:pt x="1048981" y="1199908"/>
                </a:lnTo>
                <a:lnTo>
                  <a:pt x="1048981" y="1124915"/>
                </a:lnTo>
                <a:lnTo>
                  <a:pt x="1048981" y="974928"/>
                </a:lnTo>
                <a:close/>
              </a:path>
              <a:path w="1049020" h="1424939">
                <a:moveTo>
                  <a:pt x="1048981" y="599973"/>
                </a:moveTo>
                <a:lnTo>
                  <a:pt x="1030160" y="639724"/>
                </a:lnTo>
                <a:lnTo>
                  <a:pt x="977099" y="675513"/>
                </a:lnTo>
                <a:lnTo>
                  <a:pt x="939330" y="691476"/>
                </a:lnTo>
                <a:lnTo>
                  <a:pt x="936586" y="692378"/>
                </a:lnTo>
                <a:lnTo>
                  <a:pt x="936586" y="862444"/>
                </a:lnTo>
                <a:lnTo>
                  <a:pt x="933894" y="877785"/>
                </a:lnTo>
                <a:lnTo>
                  <a:pt x="926287" y="889622"/>
                </a:lnTo>
                <a:lnTo>
                  <a:pt x="914463" y="897242"/>
                </a:lnTo>
                <a:lnTo>
                  <a:pt x="899121" y="899934"/>
                </a:lnTo>
                <a:lnTo>
                  <a:pt x="883793" y="897242"/>
                </a:lnTo>
                <a:lnTo>
                  <a:pt x="871969" y="889622"/>
                </a:lnTo>
                <a:lnTo>
                  <a:pt x="864349" y="877785"/>
                </a:lnTo>
                <a:lnTo>
                  <a:pt x="861656" y="862444"/>
                </a:lnTo>
                <a:lnTo>
                  <a:pt x="864349" y="847090"/>
                </a:lnTo>
                <a:lnTo>
                  <a:pt x="871969" y="835253"/>
                </a:lnTo>
                <a:lnTo>
                  <a:pt x="883793" y="827646"/>
                </a:lnTo>
                <a:lnTo>
                  <a:pt x="899121" y="824941"/>
                </a:lnTo>
                <a:lnTo>
                  <a:pt x="914463" y="827646"/>
                </a:lnTo>
                <a:lnTo>
                  <a:pt x="926287" y="835253"/>
                </a:lnTo>
                <a:lnTo>
                  <a:pt x="933894" y="847090"/>
                </a:lnTo>
                <a:lnTo>
                  <a:pt x="936586" y="862444"/>
                </a:lnTo>
                <a:lnTo>
                  <a:pt x="936586" y="692378"/>
                </a:lnTo>
                <a:lnTo>
                  <a:pt x="894905" y="705891"/>
                </a:lnTo>
                <a:lnTo>
                  <a:pt x="844473" y="718604"/>
                </a:lnTo>
                <a:lnTo>
                  <a:pt x="788682" y="729399"/>
                </a:lnTo>
                <a:lnTo>
                  <a:pt x="728141" y="738124"/>
                </a:lnTo>
                <a:lnTo>
                  <a:pt x="663498" y="744575"/>
                </a:lnTo>
                <a:lnTo>
                  <a:pt x="595401" y="748576"/>
                </a:lnTo>
                <a:lnTo>
                  <a:pt x="524484" y="749947"/>
                </a:lnTo>
                <a:lnTo>
                  <a:pt x="453567" y="748576"/>
                </a:lnTo>
                <a:lnTo>
                  <a:pt x="385470" y="744575"/>
                </a:lnTo>
                <a:lnTo>
                  <a:pt x="320840" y="738124"/>
                </a:lnTo>
                <a:lnTo>
                  <a:pt x="260299" y="729399"/>
                </a:lnTo>
                <a:lnTo>
                  <a:pt x="204495" y="718604"/>
                </a:lnTo>
                <a:lnTo>
                  <a:pt x="154063" y="705891"/>
                </a:lnTo>
                <a:lnTo>
                  <a:pt x="109639" y="691476"/>
                </a:lnTo>
                <a:lnTo>
                  <a:pt x="71869" y="675513"/>
                </a:lnTo>
                <a:lnTo>
                  <a:pt x="18821" y="639724"/>
                </a:lnTo>
                <a:lnTo>
                  <a:pt x="0" y="599973"/>
                </a:lnTo>
                <a:lnTo>
                  <a:pt x="0" y="899934"/>
                </a:lnTo>
                <a:lnTo>
                  <a:pt x="18821" y="939685"/>
                </a:lnTo>
                <a:lnTo>
                  <a:pt x="71869" y="975487"/>
                </a:lnTo>
                <a:lnTo>
                  <a:pt x="109639" y="991438"/>
                </a:lnTo>
                <a:lnTo>
                  <a:pt x="154063" y="1005865"/>
                </a:lnTo>
                <a:lnTo>
                  <a:pt x="204495" y="1018565"/>
                </a:lnTo>
                <a:lnTo>
                  <a:pt x="260299" y="1029373"/>
                </a:lnTo>
                <a:lnTo>
                  <a:pt x="320840" y="1038085"/>
                </a:lnTo>
                <a:lnTo>
                  <a:pt x="385470" y="1044536"/>
                </a:lnTo>
                <a:lnTo>
                  <a:pt x="453567" y="1048550"/>
                </a:lnTo>
                <a:lnTo>
                  <a:pt x="524484" y="1049921"/>
                </a:lnTo>
                <a:lnTo>
                  <a:pt x="595401" y="1048550"/>
                </a:lnTo>
                <a:lnTo>
                  <a:pt x="663498" y="1044536"/>
                </a:lnTo>
                <a:lnTo>
                  <a:pt x="728141" y="1038085"/>
                </a:lnTo>
                <a:lnTo>
                  <a:pt x="788682" y="1029373"/>
                </a:lnTo>
                <a:lnTo>
                  <a:pt x="844473" y="1018565"/>
                </a:lnTo>
                <a:lnTo>
                  <a:pt x="894905" y="1005865"/>
                </a:lnTo>
                <a:lnTo>
                  <a:pt x="939330" y="991438"/>
                </a:lnTo>
                <a:lnTo>
                  <a:pt x="977099" y="975487"/>
                </a:lnTo>
                <a:lnTo>
                  <a:pt x="1030160" y="939685"/>
                </a:lnTo>
                <a:lnTo>
                  <a:pt x="1048981" y="899934"/>
                </a:lnTo>
                <a:lnTo>
                  <a:pt x="1048981" y="824941"/>
                </a:lnTo>
                <a:lnTo>
                  <a:pt x="1048981" y="749947"/>
                </a:lnTo>
                <a:lnTo>
                  <a:pt x="1048981" y="599973"/>
                </a:lnTo>
                <a:close/>
              </a:path>
              <a:path w="1049020" h="1424939">
                <a:moveTo>
                  <a:pt x="1048981" y="225005"/>
                </a:moveTo>
                <a:lnTo>
                  <a:pt x="1030160" y="264769"/>
                </a:lnTo>
                <a:lnTo>
                  <a:pt x="977099" y="300558"/>
                </a:lnTo>
                <a:lnTo>
                  <a:pt x="939330" y="316522"/>
                </a:lnTo>
                <a:lnTo>
                  <a:pt x="936586" y="317423"/>
                </a:lnTo>
                <a:lnTo>
                  <a:pt x="936586" y="487476"/>
                </a:lnTo>
                <a:lnTo>
                  <a:pt x="933894" y="502831"/>
                </a:lnTo>
                <a:lnTo>
                  <a:pt x="926287" y="514667"/>
                </a:lnTo>
                <a:lnTo>
                  <a:pt x="914463" y="522287"/>
                </a:lnTo>
                <a:lnTo>
                  <a:pt x="899121" y="524979"/>
                </a:lnTo>
                <a:lnTo>
                  <a:pt x="883793" y="522287"/>
                </a:lnTo>
                <a:lnTo>
                  <a:pt x="871969" y="514667"/>
                </a:lnTo>
                <a:lnTo>
                  <a:pt x="864349" y="502831"/>
                </a:lnTo>
                <a:lnTo>
                  <a:pt x="861656" y="487476"/>
                </a:lnTo>
                <a:lnTo>
                  <a:pt x="864349" y="472135"/>
                </a:lnTo>
                <a:lnTo>
                  <a:pt x="871969" y="460298"/>
                </a:lnTo>
                <a:lnTo>
                  <a:pt x="883793" y="452678"/>
                </a:lnTo>
                <a:lnTo>
                  <a:pt x="899121" y="449986"/>
                </a:lnTo>
                <a:lnTo>
                  <a:pt x="914463" y="452678"/>
                </a:lnTo>
                <a:lnTo>
                  <a:pt x="926287" y="460298"/>
                </a:lnTo>
                <a:lnTo>
                  <a:pt x="933894" y="472135"/>
                </a:lnTo>
                <a:lnTo>
                  <a:pt x="936586" y="487476"/>
                </a:lnTo>
                <a:lnTo>
                  <a:pt x="936586" y="317423"/>
                </a:lnTo>
                <a:lnTo>
                  <a:pt x="894905" y="330936"/>
                </a:lnTo>
                <a:lnTo>
                  <a:pt x="844473" y="343636"/>
                </a:lnTo>
                <a:lnTo>
                  <a:pt x="788682" y="354444"/>
                </a:lnTo>
                <a:lnTo>
                  <a:pt x="728141" y="363156"/>
                </a:lnTo>
                <a:lnTo>
                  <a:pt x="663498" y="369608"/>
                </a:lnTo>
                <a:lnTo>
                  <a:pt x="595401" y="373621"/>
                </a:lnTo>
                <a:lnTo>
                  <a:pt x="524484" y="374992"/>
                </a:lnTo>
                <a:lnTo>
                  <a:pt x="453567" y="373621"/>
                </a:lnTo>
                <a:lnTo>
                  <a:pt x="385470" y="369608"/>
                </a:lnTo>
                <a:lnTo>
                  <a:pt x="320840" y="363156"/>
                </a:lnTo>
                <a:lnTo>
                  <a:pt x="260299" y="354444"/>
                </a:lnTo>
                <a:lnTo>
                  <a:pt x="204495" y="343636"/>
                </a:lnTo>
                <a:lnTo>
                  <a:pt x="154063" y="330936"/>
                </a:lnTo>
                <a:lnTo>
                  <a:pt x="109639" y="316522"/>
                </a:lnTo>
                <a:lnTo>
                  <a:pt x="71869" y="300558"/>
                </a:lnTo>
                <a:lnTo>
                  <a:pt x="18821" y="264769"/>
                </a:lnTo>
                <a:lnTo>
                  <a:pt x="0" y="225005"/>
                </a:lnTo>
                <a:lnTo>
                  <a:pt x="0" y="524979"/>
                </a:lnTo>
                <a:lnTo>
                  <a:pt x="18821" y="564730"/>
                </a:lnTo>
                <a:lnTo>
                  <a:pt x="71869" y="600519"/>
                </a:lnTo>
                <a:lnTo>
                  <a:pt x="109639" y="616483"/>
                </a:lnTo>
                <a:lnTo>
                  <a:pt x="154063" y="630897"/>
                </a:lnTo>
                <a:lnTo>
                  <a:pt x="204495" y="643610"/>
                </a:lnTo>
                <a:lnTo>
                  <a:pt x="260299" y="654405"/>
                </a:lnTo>
                <a:lnTo>
                  <a:pt x="320840" y="663130"/>
                </a:lnTo>
                <a:lnTo>
                  <a:pt x="385470" y="669582"/>
                </a:lnTo>
                <a:lnTo>
                  <a:pt x="453567" y="673582"/>
                </a:lnTo>
                <a:lnTo>
                  <a:pt x="524484" y="674966"/>
                </a:lnTo>
                <a:lnTo>
                  <a:pt x="595401" y="673582"/>
                </a:lnTo>
                <a:lnTo>
                  <a:pt x="663498" y="669582"/>
                </a:lnTo>
                <a:lnTo>
                  <a:pt x="728141" y="663130"/>
                </a:lnTo>
                <a:lnTo>
                  <a:pt x="788682" y="654405"/>
                </a:lnTo>
                <a:lnTo>
                  <a:pt x="844473" y="643610"/>
                </a:lnTo>
                <a:lnTo>
                  <a:pt x="894905" y="630897"/>
                </a:lnTo>
                <a:lnTo>
                  <a:pt x="939330" y="616483"/>
                </a:lnTo>
                <a:lnTo>
                  <a:pt x="977099" y="600519"/>
                </a:lnTo>
                <a:lnTo>
                  <a:pt x="1030160" y="564730"/>
                </a:lnTo>
                <a:lnTo>
                  <a:pt x="1048981" y="524979"/>
                </a:lnTo>
                <a:lnTo>
                  <a:pt x="1048981" y="449986"/>
                </a:lnTo>
                <a:lnTo>
                  <a:pt x="1048981" y="374992"/>
                </a:lnTo>
                <a:lnTo>
                  <a:pt x="1048981" y="225005"/>
                </a:lnTo>
                <a:close/>
              </a:path>
              <a:path w="1049020" h="1424939">
                <a:moveTo>
                  <a:pt x="1048981" y="150025"/>
                </a:moveTo>
                <a:lnTo>
                  <a:pt x="1030249" y="110147"/>
                </a:lnTo>
                <a:lnTo>
                  <a:pt x="977366" y="74307"/>
                </a:lnTo>
                <a:lnTo>
                  <a:pt x="939698" y="58356"/>
                </a:lnTo>
                <a:lnTo>
                  <a:pt x="895362" y="43954"/>
                </a:lnTo>
                <a:lnTo>
                  <a:pt x="844994" y="31267"/>
                </a:lnTo>
                <a:lnTo>
                  <a:pt x="789216" y="20485"/>
                </a:lnTo>
                <a:lnTo>
                  <a:pt x="728649" y="11798"/>
                </a:lnTo>
                <a:lnTo>
                  <a:pt x="663917" y="5359"/>
                </a:lnTo>
                <a:lnTo>
                  <a:pt x="595655" y="1371"/>
                </a:lnTo>
                <a:lnTo>
                  <a:pt x="524484" y="0"/>
                </a:lnTo>
                <a:lnTo>
                  <a:pt x="453326" y="1371"/>
                </a:lnTo>
                <a:lnTo>
                  <a:pt x="385064" y="5359"/>
                </a:lnTo>
                <a:lnTo>
                  <a:pt x="320332" y="11798"/>
                </a:lnTo>
                <a:lnTo>
                  <a:pt x="259778" y="20485"/>
                </a:lnTo>
                <a:lnTo>
                  <a:pt x="203987" y="31267"/>
                </a:lnTo>
                <a:lnTo>
                  <a:pt x="153619" y="43954"/>
                </a:lnTo>
                <a:lnTo>
                  <a:pt x="109283" y="58356"/>
                </a:lnTo>
                <a:lnTo>
                  <a:pt x="71602" y="74307"/>
                </a:lnTo>
                <a:lnTo>
                  <a:pt x="18732" y="110147"/>
                </a:lnTo>
                <a:lnTo>
                  <a:pt x="0" y="150025"/>
                </a:lnTo>
                <a:lnTo>
                  <a:pt x="4787" y="170370"/>
                </a:lnTo>
                <a:lnTo>
                  <a:pt x="41211" y="208407"/>
                </a:lnTo>
                <a:lnTo>
                  <a:pt x="109283" y="241668"/>
                </a:lnTo>
                <a:lnTo>
                  <a:pt x="153619" y="256070"/>
                </a:lnTo>
                <a:lnTo>
                  <a:pt x="203987" y="268757"/>
                </a:lnTo>
                <a:lnTo>
                  <a:pt x="259778" y="279527"/>
                </a:lnTo>
                <a:lnTo>
                  <a:pt x="320332" y="288213"/>
                </a:lnTo>
                <a:lnTo>
                  <a:pt x="385064" y="294640"/>
                </a:lnTo>
                <a:lnTo>
                  <a:pt x="453326" y="298640"/>
                </a:lnTo>
                <a:lnTo>
                  <a:pt x="524484" y="299999"/>
                </a:lnTo>
                <a:lnTo>
                  <a:pt x="595655" y="298640"/>
                </a:lnTo>
                <a:lnTo>
                  <a:pt x="663917" y="294640"/>
                </a:lnTo>
                <a:lnTo>
                  <a:pt x="728649" y="288213"/>
                </a:lnTo>
                <a:lnTo>
                  <a:pt x="789216" y="279527"/>
                </a:lnTo>
                <a:lnTo>
                  <a:pt x="844994" y="268757"/>
                </a:lnTo>
                <a:lnTo>
                  <a:pt x="895362" y="256070"/>
                </a:lnTo>
                <a:lnTo>
                  <a:pt x="939698" y="241668"/>
                </a:lnTo>
                <a:lnTo>
                  <a:pt x="977366" y="225717"/>
                </a:lnTo>
                <a:lnTo>
                  <a:pt x="1030249" y="189890"/>
                </a:lnTo>
                <a:lnTo>
                  <a:pt x="1048981" y="150025"/>
                </a:lnTo>
                <a:close/>
              </a:path>
            </a:pathLst>
          </a:custGeom>
          <a:solidFill>
            <a:srgbClr val="99D3FF"/>
          </a:solidFill>
        </p:spPr>
        <p:txBody>
          <a:bodyPr wrap="square" lIns="0" tIns="0" rIns="0" bIns="0" rtlCol="0"/>
          <a:lstStyle/>
          <a:p>
            <a:endParaRPr sz="2400"/>
          </a:p>
        </p:txBody>
      </p:sp>
      <p:sp>
        <p:nvSpPr>
          <p:cNvPr id="7" name="object 7"/>
          <p:cNvSpPr/>
          <p:nvPr/>
        </p:nvSpPr>
        <p:spPr>
          <a:xfrm>
            <a:off x="2905997" y="3096530"/>
            <a:ext cx="688340" cy="936413"/>
          </a:xfrm>
          <a:custGeom>
            <a:avLst/>
            <a:gdLst/>
            <a:ahLst/>
            <a:cxnLst/>
            <a:rect l="l" t="t" r="r" b="b"/>
            <a:pathLst>
              <a:path w="516255" h="702310">
                <a:moveTo>
                  <a:pt x="515708" y="480110"/>
                </a:moveTo>
                <a:lnTo>
                  <a:pt x="506450" y="499681"/>
                </a:lnTo>
                <a:lnTo>
                  <a:pt x="480377" y="517309"/>
                </a:lnTo>
                <a:lnTo>
                  <a:pt x="460451" y="524687"/>
                </a:lnTo>
                <a:lnTo>
                  <a:pt x="460451" y="609371"/>
                </a:lnTo>
                <a:lnTo>
                  <a:pt x="459130" y="616927"/>
                </a:lnTo>
                <a:lnTo>
                  <a:pt x="455383" y="622757"/>
                </a:lnTo>
                <a:lnTo>
                  <a:pt x="449580" y="626503"/>
                </a:lnTo>
                <a:lnTo>
                  <a:pt x="442036" y="627837"/>
                </a:lnTo>
                <a:lnTo>
                  <a:pt x="434492" y="626503"/>
                </a:lnTo>
                <a:lnTo>
                  <a:pt x="428688" y="622757"/>
                </a:lnTo>
                <a:lnTo>
                  <a:pt x="424942" y="616927"/>
                </a:lnTo>
                <a:lnTo>
                  <a:pt x="423621" y="609371"/>
                </a:lnTo>
                <a:lnTo>
                  <a:pt x="424942" y="601802"/>
                </a:lnTo>
                <a:lnTo>
                  <a:pt x="428688" y="595985"/>
                </a:lnTo>
                <a:lnTo>
                  <a:pt x="434492" y="592226"/>
                </a:lnTo>
                <a:lnTo>
                  <a:pt x="442036" y="590905"/>
                </a:lnTo>
                <a:lnTo>
                  <a:pt x="449580" y="592226"/>
                </a:lnTo>
                <a:lnTo>
                  <a:pt x="455383" y="595985"/>
                </a:lnTo>
                <a:lnTo>
                  <a:pt x="459130" y="601802"/>
                </a:lnTo>
                <a:lnTo>
                  <a:pt x="460451" y="609371"/>
                </a:lnTo>
                <a:lnTo>
                  <a:pt x="460451" y="524687"/>
                </a:lnTo>
                <a:lnTo>
                  <a:pt x="439966" y="532269"/>
                </a:lnTo>
                <a:lnTo>
                  <a:pt x="387731" y="543852"/>
                </a:lnTo>
                <a:lnTo>
                  <a:pt x="326199" y="551319"/>
                </a:lnTo>
                <a:lnTo>
                  <a:pt x="257860" y="553974"/>
                </a:lnTo>
                <a:lnTo>
                  <a:pt x="189509" y="551319"/>
                </a:lnTo>
                <a:lnTo>
                  <a:pt x="127977" y="543852"/>
                </a:lnTo>
                <a:lnTo>
                  <a:pt x="75742" y="532269"/>
                </a:lnTo>
                <a:lnTo>
                  <a:pt x="35344" y="517309"/>
                </a:lnTo>
                <a:lnTo>
                  <a:pt x="0" y="480110"/>
                </a:lnTo>
                <a:lnTo>
                  <a:pt x="0" y="627837"/>
                </a:lnTo>
                <a:lnTo>
                  <a:pt x="35344" y="665035"/>
                </a:lnTo>
                <a:lnTo>
                  <a:pt x="75742" y="679996"/>
                </a:lnTo>
                <a:lnTo>
                  <a:pt x="127977" y="691565"/>
                </a:lnTo>
                <a:lnTo>
                  <a:pt x="189509" y="699046"/>
                </a:lnTo>
                <a:lnTo>
                  <a:pt x="257860" y="701687"/>
                </a:lnTo>
                <a:lnTo>
                  <a:pt x="326199" y="699046"/>
                </a:lnTo>
                <a:lnTo>
                  <a:pt x="387731" y="691565"/>
                </a:lnTo>
                <a:lnTo>
                  <a:pt x="439966" y="679996"/>
                </a:lnTo>
                <a:lnTo>
                  <a:pt x="480377" y="665035"/>
                </a:lnTo>
                <a:lnTo>
                  <a:pt x="515708" y="627837"/>
                </a:lnTo>
                <a:lnTo>
                  <a:pt x="515708" y="590905"/>
                </a:lnTo>
                <a:lnTo>
                  <a:pt x="515708" y="553974"/>
                </a:lnTo>
                <a:lnTo>
                  <a:pt x="515708" y="480110"/>
                </a:lnTo>
                <a:close/>
              </a:path>
              <a:path w="516255" h="702310">
                <a:moveTo>
                  <a:pt x="515708" y="295452"/>
                </a:moveTo>
                <a:lnTo>
                  <a:pt x="506450" y="315036"/>
                </a:lnTo>
                <a:lnTo>
                  <a:pt x="480377" y="332663"/>
                </a:lnTo>
                <a:lnTo>
                  <a:pt x="460451" y="340042"/>
                </a:lnTo>
                <a:lnTo>
                  <a:pt x="460451" y="424713"/>
                </a:lnTo>
                <a:lnTo>
                  <a:pt x="459130" y="432269"/>
                </a:lnTo>
                <a:lnTo>
                  <a:pt x="455383" y="438099"/>
                </a:lnTo>
                <a:lnTo>
                  <a:pt x="449580" y="441858"/>
                </a:lnTo>
                <a:lnTo>
                  <a:pt x="442036" y="443179"/>
                </a:lnTo>
                <a:lnTo>
                  <a:pt x="434492" y="441858"/>
                </a:lnTo>
                <a:lnTo>
                  <a:pt x="428688" y="438099"/>
                </a:lnTo>
                <a:lnTo>
                  <a:pt x="424942" y="432269"/>
                </a:lnTo>
                <a:lnTo>
                  <a:pt x="423621" y="424713"/>
                </a:lnTo>
                <a:lnTo>
                  <a:pt x="424942" y="417156"/>
                </a:lnTo>
                <a:lnTo>
                  <a:pt x="428688" y="411327"/>
                </a:lnTo>
                <a:lnTo>
                  <a:pt x="434492" y="407581"/>
                </a:lnTo>
                <a:lnTo>
                  <a:pt x="442036" y="406247"/>
                </a:lnTo>
                <a:lnTo>
                  <a:pt x="449580" y="407581"/>
                </a:lnTo>
                <a:lnTo>
                  <a:pt x="455383" y="411327"/>
                </a:lnTo>
                <a:lnTo>
                  <a:pt x="459130" y="417156"/>
                </a:lnTo>
                <a:lnTo>
                  <a:pt x="460451" y="424713"/>
                </a:lnTo>
                <a:lnTo>
                  <a:pt x="460451" y="340042"/>
                </a:lnTo>
                <a:lnTo>
                  <a:pt x="439966" y="347624"/>
                </a:lnTo>
                <a:lnTo>
                  <a:pt x="387731" y="359194"/>
                </a:lnTo>
                <a:lnTo>
                  <a:pt x="326199" y="366674"/>
                </a:lnTo>
                <a:lnTo>
                  <a:pt x="257860" y="369316"/>
                </a:lnTo>
                <a:lnTo>
                  <a:pt x="189509" y="366674"/>
                </a:lnTo>
                <a:lnTo>
                  <a:pt x="127977" y="359194"/>
                </a:lnTo>
                <a:lnTo>
                  <a:pt x="75742" y="347624"/>
                </a:lnTo>
                <a:lnTo>
                  <a:pt x="35344" y="332663"/>
                </a:lnTo>
                <a:lnTo>
                  <a:pt x="0" y="295452"/>
                </a:lnTo>
                <a:lnTo>
                  <a:pt x="0" y="443179"/>
                </a:lnTo>
                <a:lnTo>
                  <a:pt x="35344" y="480390"/>
                </a:lnTo>
                <a:lnTo>
                  <a:pt x="75742" y="495338"/>
                </a:lnTo>
                <a:lnTo>
                  <a:pt x="127977" y="506920"/>
                </a:lnTo>
                <a:lnTo>
                  <a:pt x="189509" y="514388"/>
                </a:lnTo>
                <a:lnTo>
                  <a:pt x="257860" y="517042"/>
                </a:lnTo>
                <a:lnTo>
                  <a:pt x="326199" y="514388"/>
                </a:lnTo>
                <a:lnTo>
                  <a:pt x="387731" y="506920"/>
                </a:lnTo>
                <a:lnTo>
                  <a:pt x="439966" y="495338"/>
                </a:lnTo>
                <a:lnTo>
                  <a:pt x="480377" y="480390"/>
                </a:lnTo>
                <a:lnTo>
                  <a:pt x="515708" y="443179"/>
                </a:lnTo>
                <a:lnTo>
                  <a:pt x="515708" y="406247"/>
                </a:lnTo>
                <a:lnTo>
                  <a:pt x="515708" y="369316"/>
                </a:lnTo>
                <a:lnTo>
                  <a:pt x="515708" y="295452"/>
                </a:lnTo>
                <a:close/>
              </a:path>
              <a:path w="516255" h="702310">
                <a:moveTo>
                  <a:pt x="515708" y="110807"/>
                </a:moveTo>
                <a:lnTo>
                  <a:pt x="506450" y="130378"/>
                </a:lnTo>
                <a:lnTo>
                  <a:pt x="480377" y="148005"/>
                </a:lnTo>
                <a:lnTo>
                  <a:pt x="460451" y="155384"/>
                </a:lnTo>
                <a:lnTo>
                  <a:pt x="460451" y="240055"/>
                </a:lnTo>
                <a:lnTo>
                  <a:pt x="459130" y="247624"/>
                </a:lnTo>
                <a:lnTo>
                  <a:pt x="455383" y="253453"/>
                </a:lnTo>
                <a:lnTo>
                  <a:pt x="449580" y="257200"/>
                </a:lnTo>
                <a:lnTo>
                  <a:pt x="442036" y="258521"/>
                </a:lnTo>
                <a:lnTo>
                  <a:pt x="434492" y="257200"/>
                </a:lnTo>
                <a:lnTo>
                  <a:pt x="428688" y="253453"/>
                </a:lnTo>
                <a:lnTo>
                  <a:pt x="424942" y="247624"/>
                </a:lnTo>
                <a:lnTo>
                  <a:pt x="423621" y="240055"/>
                </a:lnTo>
                <a:lnTo>
                  <a:pt x="424942" y="232498"/>
                </a:lnTo>
                <a:lnTo>
                  <a:pt x="428688" y="226669"/>
                </a:lnTo>
                <a:lnTo>
                  <a:pt x="434492" y="222923"/>
                </a:lnTo>
                <a:lnTo>
                  <a:pt x="442036" y="221602"/>
                </a:lnTo>
                <a:lnTo>
                  <a:pt x="449580" y="222923"/>
                </a:lnTo>
                <a:lnTo>
                  <a:pt x="455383" y="226669"/>
                </a:lnTo>
                <a:lnTo>
                  <a:pt x="459130" y="232498"/>
                </a:lnTo>
                <a:lnTo>
                  <a:pt x="460451" y="240055"/>
                </a:lnTo>
                <a:lnTo>
                  <a:pt x="460451" y="155384"/>
                </a:lnTo>
                <a:lnTo>
                  <a:pt x="439966" y="162966"/>
                </a:lnTo>
                <a:lnTo>
                  <a:pt x="387731" y="174548"/>
                </a:lnTo>
                <a:lnTo>
                  <a:pt x="326199" y="182016"/>
                </a:lnTo>
                <a:lnTo>
                  <a:pt x="257860" y="184670"/>
                </a:lnTo>
                <a:lnTo>
                  <a:pt x="189509" y="182016"/>
                </a:lnTo>
                <a:lnTo>
                  <a:pt x="127977" y="174548"/>
                </a:lnTo>
                <a:lnTo>
                  <a:pt x="75742" y="162966"/>
                </a:lnTo>
                <a:lnTo>
                  <a:pt x="35344" y="148005"/>
                </a:lnTo>
                <a:lnTo>
                  <a:pt x="0" y="110807"/>
                </a:lnTo>
                <a:lnTo>
                  <a:pt x="0" y="258521"/>
                </a:lnTo>
                <a:lnTo>
                  <a:pt x="35344" y="295732"/>
                </a:lnTo>
                <a:lnTo>
                  <a:pt x="75742" y="310692"/>
                </a:lnTo>
                <a:lnTo>
                  <a:pt x="127977" y="322262"/>
                </a:lnTo>
                <a:lnTo>
                  <a:pt x="189509" y="329742"/>
                </a:lnTo>
                <a:lnTo>
                  <a:pt x="257860" y="332384"/>
                </a:lnTo>
                <a:lnTo>
                  <a:pt x="326199" y="329742"/>
                </a:lnTo>
                <a:lnTo>
                  <a:pt x="387731" y="322262"/>
                </a:lnTo>
                <a:lnTo>
                  <a:pt x="439966" y="310692"/>
                </a:lnTo>
                <a:lnTo>
                  <a:pt x="480377" y="295732"/>
                </a:lnTo>
                <a:lnTo>
                  <a:pt x="515708" y="258521"/>
                </a:lnTo>
                <a:lnTo>
                  <a:pt x="515708" y="221602"/>
                </a:lnTo>
                <a:lnTo>
                  <a:pt x="515708" y="184670"/>
                </a:lnTo>
                <a:lnTo>
                  <a:pt x="515708" y="110807"/>
                </a:lnTo>
                <a:close/>
              </a:path>
              <a:path w="516255" h="702310">
                <a:moveTo>
                  <a:pt x="515708" y="73875"/>
                </a:moveTo>
                <a:lnTo>
                  <a:pt x="480504" y="36588"/>
                </a:lnTo>
                <a:lnTo>
                  <a:pt x="440182" y="21640"/>
                </a:lnTo>
                <a:lnTo>
                  <a:pt x="387997" y="10083"/>
                </a:lnTo>
                <a:lnTo>
                  <a:pt x="326402" y="2641"/>
                </a:lnTo>
                <a:lnTo>
                  <a:pt x="257860" y="0"/>
                </a:lnTo>
                <a:lnTo>
                  <a:pt x="189306" y="2641"/>
                </a:lnTo>
                <a:lnTo>
                  <a:pt x="127711" y="10083"/>
                </a:lnTo>
                <a:lnTo>
                  <a:pt x="75526" y="21640"/>
                </a:lnTo>
                <a:lnTo>
                  <a:pt x="35204" y="36588"/>
                </a:lnTo>
                <a:lnTo>
                  <a:pt x="0" y="73875"/>
                </a:lnTo>
                <a:lnTo>
                  <a:pt x="9220" y="93510"/>
                </a:lnTo>
                <a:lnTo>
                  <a:pt x="75526" y="126098"/>
                </a:lnTo>
                <a:lnTo>
                  <a:pt x="127711" y="137655"/>
                </a:lnTo>
                <a:lnTo>
                  <a:pt x="189306" y="145097"/>
                </a:lnTo>
                <a:lnTo>
                  <a:pt x="257860" y="147739"/>
                </a:lnTo>
                <a:lnTo>
                  <a:pt x="326402" y="145097"/>
                </a:lnTo>
                <a:lnTo>
                  <a:pt x="387997" y="137655"/>
                </a:lnTo>
                <a:lnTo>
                  <a:pt x="440182" y="126098"/>
                </a:lnTo>
                <a:lnTo>
                  <a:pt x="480504" y="111150"/>
                </a:lnTo>
                <a:lnTo>
                  <a:pt x="515708" y="73875"/>
                </a:lnTo>
                <a:close/>
              </a:path>
            </a:pathLst>
          </a:custGeom>
          <a:solidFill>
            <a:srgbClr val="9B9B9B"/>
          </a:solidFill>
        </p:spPr>
        <p:txBody>
          <a:bodyPr wrap="square" lIns="0" tIns="0" rIns="0" bIns="0" rtlCol="0"/>
          <a:lstStyle/>
          <a:p>
            <a:endParaRPr sz="2400"/>
          </a:p>
        </p:txBody>
      </p:sp>
      <p:pic>
        <p:nvPicPr>
          <p:cNvPr id="8" name="object 8"/>
          <p:cNvPicPr/>
          <p:nvPr/>
        </p:nvPicPr>
        <p:blipFill>
          <a:blip r:embed="rId2" cstate="print"/>
          <a:stretch>
            <a:fillRect/>
          </a:stretch>
        </p:blipFill>
        <p:spPr>
          <a:xfrm>
            <a:off x="2900035" y="4704285"/>
            <a:ext cx="700620" cy="947895"/>
          </a:xfrm>
          <a:prstGeom prst="rect">
            <a:avLst/>
          </a:prstGeom>
        </p:spPr>
      </p:pic>
      <p:sp>
        <p:nvSpPr>
          <p:cNvPr id="9" name="object 9"/>
          <p:cNvSpPr txBox="1"/>
          <p:nvPr/>
        </p:nvSpPr>
        <p:spPr>
          <a:xfrm>
            <a:off x="2624667" y="4014215"/>
            <a:ext cx="1145540"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Sales</a:t>
            </a:r>
            <a:r>
              <a:rPr sz="2133" spc="-27" dirty="0">
                <a:solidFill>
                  <a:srgbClr val="FFFFFF"/>
                </a:solidFill>
                <a:latin typeface="Calibri"/>
                <a:cs typeface="Calibri"/>
              </a:rPr>
              <a:t> data</a:t>
            </a:r>
            <a:endParaRPr sz="2133">
              <a:latin typeface="Calibri"/>
              <a:cs typeface="Calibri"/>
            </a:endParaRPr>
          </a:p>
        </p:txBody>
      </p:sp>
      <p:sp>
        <p:nvSpPr>
          <p:cNvPr id="10" name="object 10"/>
          <p:cNvSpPr txBox="1"/>
          <p:nvPr/>
        </p:nvSpPr>
        <p:spPr>
          <a:xfrm>
            <a:off x="2543047" y="5650721"/>
            <a:ext cx="1391920"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CRM</a:t>
            </a:r>
            <a:r>
              <a:rPr sz="2133" spc="-53" dirty="0">
                <a:solidFill>
                  <a:srgbClr val="FFFFFF"/>
                </a:solidFill>
                <a:latin typeface="Calibri"/>
                <a:cs typeface="Calibri"/>
              </a:rPr>
              <a:t> </a:t>
            </a:r>
            <a:r>
              <a:rPr sz="2133" spc="-13" dirty="0">
                <a:solidFill>
                  <a:srgbClr val="FFFFFF"/>
                </a:solidFill>
                <a:latin typeface="Calibri"/>
                <a:cs typeface="Calibri"/>
              </a:rPr>
              <a:t>system</a:t>
            </a:r>
            <a:endParaRPr sz="2133">
              <a:latin typeface="Calibri"/>
              <a:cs typeface="Calibri"/>
            </a:endParaRPr>
          </a:p>
        </p:txBody>
      </p:sp>
      <p:graphicFrame>
        <p:nvGraphicFramePr>
          <p:cNvPr id="11" name="object 11"/>
          <p:cNvGraphicFramePr>
            <a:graphicFrameLocks noGrp="1"/>
          </p:cNvGraphicFramePr>
          <p:nvPr/>
        </p:nvGraphicFramePr>
        <p:xfrm>
          <a:off x="2783375" y="1808745"/>
          <a:ext cx="929639" cy="628227"/>
        </p:xfrm>
        <a:graphic>
          <a:graphicData uri="http://schemas.openxmlformats.org/drawingml/2006/table">
            <a:tbl>
              <a:tblPr firstRow="1" bandRow="1">
                <a:tableStyleId>{2D5ABB26-0587-4C30-8999-92F81FD0307C}</a:tableStyleId>
              </a:tblPr>
              <a:tblGrid>
                <a:gridCol w="314113">
                  <a:extLst>
                    <a:ext uri="{9D8B030D-6E8A-4147-A177-3AD203B41FA5}">
                      <a16:colId xmlns:a16="http://schemas.microsoft.com/office/drawing/2014/main" val="20000"/>
                    </a:ext>
                  </a:extLst>
                </a:gridCol>
                <a:gridCol w="301413">
                  <a:extLst>
                    <a:ext uri="{9D8B030D-6E8A-4147-A177-3AD203B41FA5}">
                      <a16:colId xmlns:a16="http://schemas.microsoft.com/office/drawing/2014/main" val="20001"/>
                    </a:ext>
                  </a:extLst>
                </a:gridCol>
                <a:gridCol w="314113">
                  <a:extLst>
                    <a:ext uri="{9D8B030D-6E8A-4147-A177-3AD203B41FA5}">
                      <a16:colId xmlns:a16="http://schemas.microsoft.com/office/drawing/2014/main" val="20002"/>
                    </a:ext>
                  </a:extLst>
                </a:gridCol>
              </a:tblGrid>
              <a:tr h="213360">
                <a:tc>
                  <a:txBody>
                    <a:bodyPr/>
                    <a:lstStyle/>
                    <a:p>
                      <a:pPr>
                        <a:lnSpc>
                          <a:spcPct val="100000"/>
                        </a:lnSpc>
                      </a:pPr>
                      <a:endParaRPr sz="1200">
                        <a:latin typeface="Times New Roman"/>
                        <a:cs typeface="Times New Roman"/>
                      </a:endParaRPr>
                    </a:p>
                  </a:txBody>
                  <a:tcPr marL="0" marR="0" marT="0" marB="0">
                    <a:lnL w="5715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57150">
                      <a:solidFill>
                        <a:srgbClr val="BCBCBC"/>
                      </a:solidFill>
                      <a:prstDash val="solid"/>
                    </a:lnR>
                    <a:lnT w="57150">
                      <a:solidFill>
                        <a:srgbClr val="BCBCBC"/>
                      </a:solidFill>
                      <a:prstDash val="solid"/>
                    </a:lnT>
                    <a:lnB w="38100">
                      <a:solidFill>
                        <a:srgbClr val="BCBCBC"/>
                      </a:solidFill>
                      <a:prstDash val="solid"/>
                    </a:lnB>
                  </a:tcPr>
                </a:tc>
                <a:extLst>
                  <a:ext uri="{0D108BD9-81ED-4DB2-BD59-A6C34878D82A}">
                    <a16:rowId xmlns:a16="http://schemas.microsoft.com/office/drawing/2014/main" val="10000"/>
                  </a:ext>
                </a:extLst>
              </a:tr>
              <a:tr h="201507">
                <a:tc>
                  <a:txBody>
                    <a:bodyPr/>
                    <a:lstStyle/>
                    <a:p>
                      <a:pPr>
                        <a:lnSpc>
                          <a:spcPct val="100000"/>
                        </a:lnSpc>
                      </a:pPr>
                      <a:endParaRPr sz="11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11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11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38100">
                      <a:solidFill>
                        <a:srgbClr val="BCBCBC"/>
                      </a:solidFill>
                      <a:prstDash val="solid"/>
                    </a:lnB>
                  </a:tcPr>
                </a:tc>
                <a:extLst>
                  <a:ext uri="{0D108BD9-81ED-4DB2-BD59-A6C34878D82A}">
                    <a16:rowId xmlns:a16="http://schemas.microsoft.com/office/drawing/2014/main" val="10001"/>
                  </a:ext>
                </a:extLst>
              </a:tr>
              <a:tr h="213360">
                <a:tc>
                  <a:txBody>
                    <a:bodyPr/>
                    <a:lstStyle/>
                    <a:p>
                      <a:pPr>
                        <a:lnSpc>
                          <a:spcPct val="100000"/>
                        </a:lnSpc>
                      </a:pPr>
                      <a:endParaRPr sz="12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57150">
                      <a:solidFill>
                        <a:srgbClr val="BCBCBC"/>
                      </a:solidFill>
                      <a:prstDash val="solid"/>
                    </a:lnB>
                  </a:tcPr>
                </a:tc>
                <a:extLst>
                  <a:ext uri="{0D108BD9-81ED-4DB2-BD59-A6C34878D82A}">
                    <a16:rowId xmlns:a16="http://schemas.microsoft.com/office/drawing/2014/main" val="10002"/>
                  </a:ext>
                </a:extLst>
              </a:tr>
            </a:tbl>
          </a:graphicData>
        </a:graphic>
      </p:graphicFrame>
      <p:sp>
        <p:nvSpPr>
          <p:cNvPr id="12" name="object 12"/>
          <p:cNvSpPr txBox="1"/>
          <p:nvPr/>
        </p:nvSpPr>
        <p:spPr>
          <a:xfrm>
            <a:off x="2340526" y="2558457"/>
            <a:ext cx="2129367"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Other</a:t>
            </a:r>
            <a:r>
              <a:rPr sz="2133" spc="-13" dirty="0">
                <a:solidFill>
                  <a:srgbClr val="FFFFFF"/>
                </a:solidFill>
                <a:latin typeface="Calibri"/>
                <a:cs typeface="Calibri"/>
              </a:rPr>
              <a:t> </a:t>
            </a:r>
            <a:r>
              <a:rPr sz="2133" dirty="0">
                <a:solidFill>
                  <a:srgbClr val="FFFFFF"/>
                </a:solidFill>
                <a:latin typeface="Calibri"/>
                <a:cs typeface="Calibri"/>
              </a:rPr>
              <a:t>data</a:t>
            </a:r>
            <a:r>
              <a:rPr sz="2133" spc="-47" dirty="0">
                <a:solidFill>
                  <a:srgbClr val="FFFFFF"/>
                </a:solidFill>
                <a:latin typeface="Calibri"/>
                <a:cs typeface="Calibri"/>
              </a:rPr>
              <a:t> </a:t>
            </a:r>
            <a:r>
              <a:rPr sz="2133" spc="-13" dirty="0">
                <a:solidFill>
                  <a:srgbClr val="FFFFFF"/>
                </a:solidFill>
                <a:latin typeface="Calibri"/>
                <a:cs typeface="Calibri"/>
              </a:rPr>
              <a:t>sources</a:t>
            </a:r>
            <a:endParaRPr sz="2133">
              <a:latin typeface="Calibri"/>
              <a:cs typeface="Calibri"/>
            </a:endParaRPr>
          </a:p>
        </p:txBody>
      </p:sp>
      <p:sp>
        <p:nvSpPr>
          <p:cNvPr id="13" name="object 13"/>
          <p:cNvSpPr txBox="1"/>
          <p:nvPr/>
        </p:nvSpPr>
        <p:spPr>
          <a:xfrm>
            <a:off x="7016156" y="4835821"/>
            <a:ext cx="1828800"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Data</a:t>
            </a:r>
            <a:r>
              <a:rPr sz="2133" spc="-53" dirty="0">
                <a:solidFill>
                  <a:srgbClr val="FFFFFF"/>
                </a:solidFill>
                <a:latin typeface="Calibri"/>
                <a:cs typeface="Calibri"/>
              </a:rPr>
              <a:t> </a:t>
            </a:r>
            <a:r>
              <a:rPr sz="2133" spc="-13" dirty="0">
                <a:solidFill>
                  <a:srgbClr val="FFFFFF"/>
                </a:solidFill>
                <a:latin typeface="Calibri"/>
                <a:cs typeface="Calibri"/>
              </a:rPr>
              <a:t>warehouse</a:t>
            </a:r>
            <a:endParaRPr sz="2133">
              <a:latin typeface="Calibri"/>
              <a:cs typeface="Calibri"/>
            </a:endParaRPr>
          </a:p>
        </p:txBody>
      </p:sp>
      <p:grpSp>
        <p:nvGrpSpPr>
          <p:cNvPr id="14" name="object 14"/>
          <p:cNvGrpSpPr/>
          <p:nvPr/>
        </p:nvGrpSpPr>
        <p:grpSpPr>
          <a:xfrm>
            <a:off x="4117709" y="2372190"/>
            <a:ext cx="2827867" cy="2637367"/>
            <a:chOff x="3088282" y="1779142"/>
            <a:chExt cx="2120900" cy="1978025"/>
          </a:xfrm>
        </p:grpSpPr>
        <p:sp>
          <p:nvSpPr>
            <p:cNvPr id="15" name="object 15"/>
            <p:cNvSpPr/>
            <p:nvPr/>
          </p:nvSpPr>
          <p:spPr>
            <a:xfrm>
              <a:off x="3092854" y="1783714"/>
              <a:ext cx="1155065" cy="1437640"/>
            </a:xfrm>
            <a:custGeom>
              <a:avLst/>
              <a:gdLst/>
              <a:ahLst/>
              <a:cxnLst/>
              <a:rect l="l" t="t" r="r" b="b"/>
              <a:pathLst>
                <a:path w="1155064" h="1437639">
                  <a:moveTo>
                    <a:pt x="844653" y="0"/>
                  </a:moveTo>
                  <a:lnTo>
                    <a:pt x="844653" y="124206"/>
                  </a:lnTo>
                  <a:lnTo>
                    <a:pt x="795003" y="134482"/>
                  </a:lnTo>
                  <a:lnTo>
                    <a:pt x="746524" y="146660"/>
                  </a:lnTo>
                  <a:lnTo>
                    <a:pt x="699249" y="160682"/>
                  </a:lnTo>
                  <a:lnTo>
                    <a:pt x="653213" y="176487"/>
                  </a:lnTo>
                  <a:lnTo>
                    <a:pt x="608449" y="194018"/>
                  </a:lnTo>
                  <a:lnTo>
                    <a:pt x="564989" y="213216"/>
                  </a:lnTo>
                  <a:lnTo>
                    <a:pt x="522867" y="234021"/>
                  </a:lnTo>
                  <a:lnTo>
                    <a:pt x="482117" y="256375"/>
                  </a:lnTo>
                  <a:lnTo>
                    <a:pt x="442772" y="280219"/>
                  </a:lnTo>
                  <a:lnTo>
                    <a:pt x="404864" y="305494"/>
                  </a:lnTo>
                  <a:lnTo>
                    <a:pt x="368428" y="332141"/>
                  </a:lnTo>
                  <a:lnTo>
                    <a:pt x="333497" y="360102"/>
                  </a:lnTo>
                  <a:lnTo>
                    <a:pt x="300104" y="389318"/>
                  </a:lnTo>
                  <a:lnTo>
                    <a:pt x="268282" y="419729"/>
                  </a:lnTo>
                  <a:lnTo>
                    <a:pt x="238064" y="451278"/>
                  </a:lnTo>
                  <a:lnTo>
                    <a:pt x="209485" y="483904"/>
                  </a:lnTo>
                  <a:lnTo>
                    <a:pt x="182577" y="517550"/>
                  </a:lnTo>
                  <a:lnTo>
                    <a:pt x="157373" y="552156"/>
                  </a:lnTo>
                  <a:lnTo>
                    <a:pt x="133907" y="587664"/>
                  </a:lnTo>
                  <a:lnTo>
                    <a:pt x="112213" y="624014"/>
                  </a:lnTo>
                  <a:lnTo>
                    <a:pt x="92323" y="661148"/>
                  </a:lnTo>
                  <a:lnTo>
                    <a:pt x="74270" y="699008"/>
                  </a:lnTo>
                  <a:lnTo>
                    <a:pt x="58089" y="737533"/>
                  </a:lnTo>
                  <a:lnTo>
                    <a:pt x="43813" y="776666"/>
                  </a:lnTo>
                  <a:lnTo>
                    <a:pt x="31474" y="816348"/>
                  </a:lnTo>
                  <a:lnTo>
                    <a:pt x="21106" y="856519"/>
                  </a:lnTo>
                  <a:lnTo>
                    <a:pt x="12743" y="897121"/>
                  </a:lnTo>
                  <a:lnTo>
                    <a:pt x="6417" y="938096"/>
                  </a:lnTo>
                  <a:lnTo>
                    <a:pt x="2162" y="979383"/>
                  </a:lnTo>
                  <a:lnTo>
                    <a:pt x="12" y="1020925"/>
                  </a:lnTo>
                  <a:lnTo>
                    <a:pt x="0" y="1062662"/>
                  </a:lnTo>
                  <a:lnTo>
                    <a:pt x="2158" y="1104536"/>
                  </a:lnTo>
                  <a:lnTo>
                    <a:pt x="6520" y="1146487"/>
                  </a:lnTo>
                  <a:lnTo>
                    <a:pt x="13121" y="1188458"/>
                  </a:lnTo>
                  <a:lnTo>
                    <a:pt x="21992" y="1230389"/>
                  </a:lnTo>
                  <a:lnTo>
                    <a:pt x="33167" y="1272221"/>
                  </a:lnTo>
                  <a:lnTo>
                    <a:pt x="46680" y="1313896"/>
                  </a:lnTo>
                  <a:lnTo>
                    <a:pt x="62563" y="1355354"/>
                  </a:lnTo>
                  <a:lnTo>
                    <a:pt x="80851" y="1396537"/>
                  </a:lnTo>
                  <a:lnTo>
                    <a:pt x="101576" y="1437386"/>
                  </a:lnTo>
                  <a:lnTo>
                    <a:pt x="411456" y="1253236"/>
                  </a:lnTo>
                  <a:lnTo>
                    <a:pt x="389374" y="1200134"/>
                  </a:lnTo>
                  <a:lnTo>
                    <a:pt x="373483" y="1145698"/>
                  </a:lnTo>
                  <a:lnTo>
                    <a:pt x="363879" y="1090358"/>
                  </a:lnTo>
                  <a:lnTo>
                    <a:pt x="360656" y="1034542"/>
                  </a:lnTo>
                  <a:lnTo>
                    <a:pt x="363531" y="987463"/>
                  </a:lnTo>
                  <a:lnTo>
                    <a:pt x="370153" y="941260"/>
                  </a:lnTo>
                  <a:lnTo>
                    <a:pt x="380413" y="896080"/>
                  </a:lnTo>
                  <a:lnTo>
                    <a:pt x="394201" y="852067"/>
                  </a:lnTo>
                  <a:lnTo>
                    <a:pt x="411409" y="809368"/>
                  </a:lnTo>
                  <a:lnTo>
                    <a:pt x="431925" y="768128"/>
                  </a:lnTo>
                  <a:lnTo>
                    <a:pt x="455642" y="728493"/>
                  </a:lnTo>
                  <a:lnTo>
                    <a:pt x="482448" y="690609"/>
                  </a:lnTo>
                  <a:lnTo>
                    <a:pt x="512234" y="654622"/>
                  </a:lnTo>
                  <a:lnTo>
                    <a:pt x="544891" y="620677"/>
                  </a:lnTo>
                  <a:lnTo>
                    <a:pt x="580308" y="588921"/>
                  </a:lnTo>
                  <a:lnTo>
                    <a:pt x="618377" y="559498"/>
                  </a:lnTo>
                  <a:lnTo>
                    <a:pt x="658988" y="532556"/>
                  </a:lnTo>
                  <a:lnTo>
                    <a:pt x="702031" y="508239"/>
                  </a:lnTo>
                  <a:lnTo>
                    <a:pt x="747395" y="486694"/>
                  </a:lnTo>
                  <a:lnTo>
                    <a:pt x="794973" y="468066"/>
                  </a:lnTo>
                  <a:lnTo>
                    <a:pt x="844653" y="452501"/>
                  </a:lnTo>
                  <a:lnTo>
                    <a:pt x="844653" y="566928"/>
                  </a:lnTo>
                  <a:lnTo>
                    <a:pt x="1154533" y="293116"/>
                  </a:lnTo>
                  <a:lnTo>
                    <a:pt x="844653" y="0"/>
                  </a:lnTo>
                  <a:close/>
                </a:path>
              </a:pathLst>
            </a:custGeom>
            <a:solidFill>
              <a:srgbClr val="7E7E7E"/>
            </a:solidFill>
          </p:spPr>
          <p:txBody>
            <a:bodyPr wrap="square" lIns="0" tIns="0" rIns="0" bIns="0" rtlCol="0"/>
            <a:lstStyle/>
            <a:p>
              <a:endParaRPr sz="2400"/>
            </a:p>
          </p:txBody>
        </p:sp>
        <p:sp>
          <p:nvSpPr>
            <p:cNvPr id="16" name="object 16"/>
            <p:cNvSpPr/>
            <p:nvPr/>
          </p:nvSpPr>
          <p:spPr>
            <a:xfrm>
              <a:off x="3092854" y="1783714"/>
              <a:ext cx="1155065" cy="1437640"/>
            </a:xfrm>
            <a:custGeom>
              <a:avLst/>
              <a:gdLst/>
              <a:ahLst/>
              <a:cxnLst/>
              <a:rect l="l" t="t" r="r" b="b"/>
              <a:pathLst>
                <a:path w="1155064" h="1437639">
                  <a:moveTo>
                    <a:pt x="844653" y="0"/>
                  </a:moveTo>
                  <a:lnTo>
                    <a:pt x="844653" y="124206"/>
                  </a:lnTo>
                  <a:lnTo>
                    <a:pt x="795003" y="134482"/>
                  </a:lnTo>
                  <a:lnTo>
                    <a:pt x="746524" y="146660"/>
                  </a:lnTo>
                  <a:lnTo>
                    <a:pt x="699249" y="160682"/>
                  </a:lnTo>
                  <a:lnTo>
                    <a:pt x="653213" y="176487"/>
                  </a:lnTo>
                  <a:lnTo>
                    <a:pt x="608449" y="194018"/>
                  </a:lnTo>
                  <a:lnTo>
                    <a:pt x="564989" y="213216"/>
                  </a:lnTo>
                  <a:lnTo>
                    <a:pt x="522867" y="234021"/>
                  </a:lnTo>
                  <a:lnTo>
                    <a:pt x="482117" y="256375"/>
                  </a:lnTo>
                  <a:lnTo>
                    <a:pt x="442772" y="280219"/>
                  </a:lnTo>
                  <a:lnTo>
                    <a:pt x="404864" y="305494"/>
                  </a:lnTo>
                  <a:lnTo>
                    <a:pt x="368428" y="332141"/>
                  </a:lnTo>
                  <a:lnTo>
                    <a:pt x="333497" y="360102"/>
                  </a:lnTo>
                  <a:lnTo>
                    <a:pt x="300104" y="389318"/>
                  </a:lnTo>
                  <a:lnTo>
                    <a:pt x="268282" y="419729"/>
                  </a:lnTo>
                  <a:lnTo>
                    <a:pt x="238064" y="451278"/>
                  </a:lnTo>
                  <a:lnTo>
                    <a:pt x="209485" y="483904"/>
                  </a:lnTo>
                  <a:lnTo>
                    <a:pt x="182577" y="517550"/>
                  </a:lnTo>
                  <a:lnTo>
                    <a:pt x="157373" y="552156"/>
                  </a:lnTo>
                  <a:lnTo>
                    <a:pt x="133907" y="587664"/>
                  </a:lnTo>
                  <a:lnTo>
                    <a:pt x="112213" y="624014"/>
                  </a:lnTo>
                  <a:lnTo>
                    <a:pt x="92323" y="661148"/>
                  </a:lnTo>
                  <a:lnTo>
                    <a:pt x="74270" y="699008"/>
                  </a:lnTo>
                  <a:lnTo>
                    <a:pt x="58089" y="737533"/>
                  </a:lnTo>
                  <a:lnTo>
                    <a:pt x="43813" y="776666"/>
                  </a:lnTo>
                  <a:lnTo>
                    <a:pt x="31474" y="816348"/>
                  </a:lnTo>
                  <a:lnTo>
                    <a:pt x="21106" y="856519"/>
                  </a:lnTo>
                  <a:lnTo>
                    <a:pt x="12743" y="897121"/>
                  </a:lnTo>
                  <a:lnTo>
                    <a:pt x="6417" y="938096"/>
                  </a:lnTo>
                  <a:lnTo>
                    <a:pt x="2162" y="979383"/>
                  </a:lnTo>
                  <a:lnTo>
                    <a:pt x="12" y="1020925"/>
                  </a:lnTo>
                  <a:lnTo>
                    <a:pt x="0" y="1062662"/>
                  </a:lnTo>
                  <a:lnTo>
                    <a:pt x="2158" y="1104536"/>
                  </a:lnTo>
                  <a:lnTo>
                    <a:pt x="6520" y="1146487"/>
                  </a:lnTo>
                  <a:lnTo>
                    <a:pt x="13121" y="1188458"/>
                  </a:lnTo>
                  <a:lnTo>
                    <a:pt x="21992" y="1230389"/>
                  </a:lnTo>
                  <a:lnTo>
                    <a:pt x="33167" y="1272221"/>
                  </a:lnTo>
                  <a:lnTo>
                    <a:pt x="46680" y="1313896"/>
                  </a:lnTo>
                  <a:lnTo>
                    <a:pt x="62563" y="1355354"/>
                  </a:lnTo>
                  <a:lnTo>
                    <a:pt x="80851" y="1396537"/>
                  </a:lnTo>
                  <a:lnTo>
                    <a:pt x="101576" y="1437386"/>
                  </a:lnTo>
                  <a:lnTo>
                    <a:pt x="411456" y="1253236"/>
                  </a:lnTo>
                  <a:lnTo>
                    <a:pt x="389374" y="1200134"/>
                  </a:lnTo>
                  <a:lnTo>
                    <a:pt x="373483" y="1145698"/>
                  </a:lnTo>
                  <a:lnTo>
                    <a:pt x="363879" y="1090358"/>
                  </a:lnTo>
                  <a:lnTo>
                    <a:pt x="360656" y="1034542"/>
                  </a:lnTo>
                  <a:lnTo>
                    <a:pt x="363531" y="987463"/>
                  </a:lnTo>
                  <a:lnTo>
                    <a:pt x="370153" y="941260"/>
                  </a:lnTo>
                  <a:lnTo>
                    <a:pt x="380413" y="896080"/>
                  </a:lnTo>
                  <a:lnTo>
                    <a:pt x="394201" y="852067"/>
                  </a:lnTo>
                  <a:lnTo>
                    <a:pt x="411409" y="809368"/>
                  </a:lnTo>
                  <a:lnTo>
                    <a:pt x="431925" y="768128"/>
                  </a:lnTo>
                  <a:lnTo>
                    <a:pt x="455642" y="728493"/>
                  </a:lnTo>
                  <a:lnTo>
                    <a:pt x="482448" y="690609"/>
                  </a:lnTo>
                  <a:lnTo>
                    <a:pt x="512234" y="654622"/>
                  </a:lnTo>
                  <a:lnTo>
                    <a:pt x="544891" y="620677"/>
                  </a:lnTo>
                  <a:lnTo>
                    <a:pt x="580308" y="588921"/>
                  </a:lnTo>
                  <a:lnTo>
                    <a:pt x="618377" y="559498"/>
                  </a:lnTo>
                  <a:lnTo>
                    <a:pt x="658988" y="532556"/>
                  </a:lnTo>
                  <a:lnTo>
                    <a:pt x="702031" y="508239"/>
                  </a:lnTo>
                  <a:lnTo>
                    <a:pt x="747395" y="486694"/>
                  </a:lnTo>
                  <a:lnTo>
                    <a:pt x="794973" y="468066"/>
                  </a:lnTo>
                  <a:lnTo>
                    <a:pt x="844653" y="452501"/>
                  </a:lnTo>
                  <a:lnTo>
                    <a:pt x="844653" y="566928"/>
                  </a:lnTo>
                  <a:lnTo>
                    <a:pt x="1154533" y="293116"/>
                  </a:lnTo>
                  <a:lnTo>
                    <a:pt x="844653" y="0"/>
                  </a:lnTo>
                  <a:close/>
                </a:path>
              </a:pathLst>
            </a:custGeom>
            <a:ln w="9144">
              <a:solidFill>
                <a:srgbClr val="A4B7C5"/>
              </a:solidFill>
            </a:ln>
          </p:spPr>
          <p:txBody>
            <a:bodyPr wrap="square" lIns="0" tIns="0" rIns="0" bIns="0" rtlCol="0"/>
            <a:lstStyle/>
            <a:p>
              <a:endParaRPr sz="2400"/>
            </a:p>
          </p:txBody>
        </p:sp>
        <p:sp>
          <p:nvSpPr>
            <p:cNvPr id="17" name="object 17"/>
            <p:cNvSpPr/>
            <p:nvPr/>
          </p:nvSpPr>
          <p:spPr>
            <a:xfrm>
              <a:off x="4343400" y="1902586"/>
              <a:ext cx="861060" cy="1411605"/>
            </a:xfrm>
            <a:custGeom>
              <a:avLst/>
              <a:gdLst/>
              <a:ahLst/>
              <a:cxnLst/>
              <a:rect l="l" t="t" r="r" b="b"/>
              <a:pathLst>
                <a:path w="861060" h="1411604">
                  <a:moveTo>
                    <a:pt x="0" y="0"/>
                  </a:moveTo>
                  <a:lnTo>
                    <a:pt x="0" y="328040"/>
                  </a:lnTo>
                  <a:lnTo>
                    <a:pt x="50660" y="343652"/>
                  </a:lnTo>
                  <a:lnTo>
                    <a:pt x="99321" y="362413"/>
                  </a:lnTo>
                  <a:lnTo>
                    <a:pt x="145844" y="384165"/>
                  </a:lnTo>
                  <a:lnTo>
                    <a:pt x="190091" y="408751"/>
                  </a:lnTo>
                  <a:lnTo>
                    <a:pt x="231923" y="436012"/>
                  </a:lnTo>
                  <a:lnTo>
                    <a:pt x="271203" y="465792"/>
                  </a:lnTo>
                  <a:lnTo>
                    <a:pt x="307793" y="497933"/>
                  </a:lnTo>
                  <a:lnTo>
                    <a:pt x="341554" y="532278"/>
                  </a:lnTo>
                  <a:lnTo>
                    <a:pt x="372347" y="568668"/>
                  </a:lnTo>
                  <a:lnTo>
                    <a:pt x="400036" y="606946"/>
                  </a:lnTo>
                  <a:lnTo>
                    <a:pt x="424480" y="646955"/>
                  </a:lnTo>
                  <a:lnTo>
                    <a:pt x="445544" y="688537"/>
                  </a:lnTo>
                  <a:lnTo>
                    <a:pt x="463087" y="731534"/>
                  </a:lnTo>
                  <a:lnTo>
                    <a:pt x="476973" y="775790"/>
                  </a:lnTo>
                  <a:lnTo>
                    <a:pt x="487062" y="821145"/>
                  </a:lnTo>
                  <a:lnTo>
                    <a:pt x="493217" y="867443"/>
                  </a:lnTo>
                  <a:lnTo>
                    <a:pt x="495300" y="914526"/>
                  </a:lnTo>
                  <a:lnTo>
                    <a:pt x="493154" y="966648"/>
                  </a:lnTo>
                  <a:lnTo>
                    <a:pt x="486330" y="1018317"/>
                  </a:lnTo>
                  <a:lnTo>
                    <a:pt x="474243" y="1069082"/>
                  </a:lnTo>
                  <a:lnTo>
                    <a:pt x="456311" y="1118489"/>
                  </a:lnTo>
                  <a:lnTo>
                    <a:pt x="315087" y="1028954"/>
                  </a:lnTo>
                  <a:lnTo>
                    <a:pt x="400050" y="1411477"/>
                  </a:lnTo>
                  <a:lnTo>
                    <a:pt x="849376" y="1352169"/>
                  </a:lnTo>
                  <a:lnTo>
                    <a:pt x="765175" y="1297051"/>
                  </a:lnTo>
                  <a:lnTo>
                    <a:pt x="787198" y="1251886"/>
                  </a:lnTo>
                  <a:lnTo>
                    <a:pt x="806463" y="1205866"/>
                  </a:lnTo>
                  <a:lnTo>
                    <a:pt x="822916" y="1159040"/>
                  </a:lnTo>
                  <a:lnTo>
                    <a:pt x="836501" y="1111456"/>
                  </a:lnTo>
                  <a:lnTo>
                    <a:pt x="847163" y="1063163"/>
                  </a:lnTo>
                  <a:lnTo>
                    <a:pt x="854846" y="1014212"/>
                  </a:lnTo>
                  <a:lnTo>
                    <a:pt x="859497" y="964650"/>
                  </a:lnTo>
                  <a:lnTo>
                    <a:pt x="861060" y="914526"/>
                  </a:lnTo>
                  <a:lnTo>
                    <a:pt x="859764" y="868493"/>
                  </a:lnTo>
                  <a:lnTo>
                    <a:pt x="855918" y="822975"/>
                  </a:lnTo>
                  <a:lnTo>
                    <a:pt x="849578" y="778030"/>
                  </a:lnTo>
                  <a:lnTo>
                    <a:pt x="840804" y="733716"/>
                  </a:lnTo>
                  <a:lnTo>
                    <a:pt x="829652" y="690091"/>
                  </a:lnTo>
                  <a:lnTo>
                    <a:pt x="816181" y="647213"/>
                  </a:lnTo>
                  <a:lnTo>
                    <a:pt x="800450" y="605138"/>
                  </a:lnTo>
                  <a:lnTo>
                    <a:pt x="782516" y="563926"/>
                  </a:lnTo>
                  <a:lnTo>
                    <a:pt x="762437" y="523634"/>
                  </a:lnTo>
                  <a:lnTo>
                    <a:pt x="740272" y="484320"/>
                  </a:lnTo>
                  <a:lnTo>
                    <a:pt x="716078" y="446041"/>
                  </a:lnTo>
                  <a:lnTo>
                    <a:pt x="689915" y="408856"/>
                  </a:lnTo>
                  <a:lnTo>
                    <a:pt x="661839" y="372822"/>
                  </a:lnTo>
                  <a:lnTo>
                    <a:pt x="631909" y="337997"/>
                  </a:lnTo>
                  <a:lnTo>
                    <a:pt x="600183" y="304438"/>
                  </a:lnTo>
                  <a:lnTo>
                    <a:pt x="566720" y="272204"/>
                  </a:lnTo>
                  <a:lnTo>
                    <a:pt x="531577" y="241353"/>
                  </a:lnTo>
                  <a:lnTo>
                    <a:pt x="494812" y="211942"/>
                  </a:lnTo>
                  <a:lnTo>
                    <a:pt x="456484" y="184028"/>
                  </a:lnTo>
                  <a:lnTo>
                    <a:pt x="416651" y="157671"/>
                  </a:lnTo>
                  <a:lnTo>
                    <a:pt x="375370" y="132927"/>
                  </a:lnTo>
                  <a:lnTo>
                    <a:pt x="332700" y="109854"/>
                  </a:lnTo>
                  <a:lnTo>
                    <a:pt x="288700" y="88511"/>
                  </a:lnTo>
                  <a:lnTo>
                    <a:pt x="243426" y="68954"/>
                  </a:lnTo>
                  <a:lnTo>
                    <a:pt x="196938" y="51242"/>
                  </a:lnTo>
                  <a:lnTo>
                    <a:pt x="149293" y="35433"/>
                  </a:lnTo>
                  <a:lnTo>
                    <a:pt x="100550" y="21585"/>
                  </a:lnTo>
                  <a:lnTo>
                    <a:pt x="50766" y="9754"/>
                  </a:lnTo>
                  <a:lnTo>
                    <a:pt x="0" y="0"/>
                  </a:lnTo>
                  <a:close/>
                </a:path>
              </a:pathLst>
            </a:custGeom>
            <a:solidFill>
              <a:srgbClr val="D5D5D5"/>
            </a:solidFill>
          </p:spPr>
          <p:txBody>
            <a:bodyPr wrap="square" lIns="0" tIns="0" rIns="0" bIns="0" rtlCol="0"/>
            <a:lstStyle/>
            <a:p>
              <a:endParaRPr sz="2400"/>
            </a:p>
          </p:txBody>
        </p:sp>
        <p:sp>
          <p:nvSpPr>
            <p:cNvPr id="18" name="object 18"/>
            <p:cNvSpPr/>
            <p:nvPr/>
          </p:nvSpPr>
          <p:spPr>
            <a:xfrm>
              <a:off x="4343400" y="1902586"/>
              <a:ext cx="861060" cy="1411605"/>
            </a:xfrm>
            <a:custGeom>
              <a:avLst/>
              <a:gdLst/>
              <a:ahLst/>
              <a:cxnLst/>
              <a:rect l="l" t="t" r="r" b="b"/>
              <a:pathLst>
                <a:path w="861060" h="1411604">
                  <a:moveTo>
                    <a:pt x="0" y="0"/>
                  </a:moveTo>
                  <a:lnTo>
                    <a:pt x="0" y="328040"/>
                  </a:lnTo>
                  <a:lnTo>
                    <a:pt x="50660" y="343652"/>
                  </a:lnTo>
                  <a:lnTo>
                    <a:pt x="99321" y="362413"/>
                  </a:lnTo>
                  <a:lnTo>
                    <a:pt x="145844" y="384165"/>
                  </a:lnTo>
                  <a:lnTo>
                    <a:pt x="190091" y="408751"/>
                  </a:lnTo>
                  <a:lnTo>
                    <a:pt x="231923" y="436012"/>
                  </a:lnTo>
                  <a:lnTo>
                    <a:pt x="271203" y="465792"/>
                  </a:lnTo>
                  <a:lnTo>
                    <a:pt x="307793" y="497933"/>
                  </a:lnTo>
                  <a:lnTo>
                    <a:pt x="341554" y="532278"/>
                  </a:lnTo>
                  <a:lnTo>
                    <a:pt x="372347" y="568668"/>
                  </a:lnTo>
                  <a:lnTo>
                    <a:pt x="400036" y="606946"/>
                  </a:lnTo>
                  <a:lnTo>
                    <a:pt x="424480" y="646955"/>
                  </a:lnTo>
                  <a:lnTo>
                    <a:pt x="445544" y="688537"/>
                  </a:lnTo>
                  <a:lnTo>
                    <a:pt x="463087" y="731534"/>
                  </a:lnTo>
                  <a:lnTo>
                    <a:pt x="476973" y="775790"/>
                  </a:lnTo>
                  <a:lnTo>
                    <a:pt x="487062" y="821145"/>
                  </a:lnTo>
                  <a:lnTo>
                    <a:pt x="493217" y="867443"/>
                  </a:lnTo>
                  <a:lnTo>
                    <a:pt x="495300" y="914526"/>
                  </a:lnTo>
                  <a:lnTo>
                    <a:pt x="493154" y="966648"/>
                  </a:lnTo>
                  <a:lnTo>
                    <a:pt x="486330" y="1018317"/>
                  </a:lnTo>
                  <a:lnTo>
                    <a:pt x="474243" y="1069082"/>
                  </a:lnTo>
                  <a:lnTo>
                    <a:pt x="456311" y="1118489"/>
                  </a:lnTo>
                  <a:lnTo>
                    <a:pt x="315087" y="1028954"/>
                  </a:lnTo>
                  <a:lnTo>
                    <a:pt x="400050" y="1411477"/>
                  </a:lnTo>
                  <a:lnTo>
                    <a:pt x="849376" y="1352169"/>
                  </a:lnTo>
                  <a:lnTo>
                    <a:pt x="765175" y="1297051"/>
                  </a:lnTo>
                  <a:lnTo>
                    <a:pt x="787198" y="1251886"/>
                  </a:lnTo>
                  <a:lnTo>
                    <a:pt x="806463" y="1205866"/>
                  </a:lnTo>
                  <a:lnTo>
                    <a:pt x="822916" y="1159040"/>
                  </a:lnTo>
                  <a:lnTo>
                    <a:pt x="836501" y="1111456"/>
                  </a:lnTo>
                  <a:lnTo>
                    <a:pt x="847163" y="1063163"/>
                  </a:lnTo>
                  <a:lnTo>
                    <a:pt x="854846" y="1014212"/>
                  </a:lnTo>
                  <a:lnTo>
                    <a:pt x="859497" y="964650"/>
                  </a:lnTo>
                  <a:lnTo>
                    <a:pt x="861060" y="914526"/>
                  </a:lnTo>
                  <a:lnTo>
                    <a:pt x="859764" y="868493"/>
                  </a:lnTo>
                  <a:lnTo>
                    <a:pt x="855918" y="822975"/>
                  </a:lnTo>
                  <a:lnTo>
                    <a:pt x="849578" y="778030"/>
                  </a:lnTo>
                  <a:lnTo>
                    <a:pt x="840804" y="733716"/>
                  </a:lnTo>
                  <a:lnTo>
                    <a:pt x="829652" y="690091"/>
                  </a:lnTo>
                  <a:lnTo>
                    <a:pt x="816181" y="647213"/>
                  </a:lnTo>
                  <a:lnTo>
                    <a:pt x="800450" y="605138"/>
                  </a:lnTo>
                  <a:lnTo>
                    <a:pt x="782516" y="563926"/>
                  </a:lnTo>
                  <a:lnTo>
                    <a:pt x="762437" y="523634"/>
                  </a:lnTo>
                  <a:lnTo>
                    <a:pt x="740272" y="484320"/>
                  </a:lnTo>
                  <a:lnTo>
                    <a:pt x="716078" y="446041"/>
                  </a:lnTo>
                  <a:lnTo>
                    <a:pt x="689915" y="408856"/>
                  </a:lnTo>
                  <a:lnTo>
                    <a:pt x="661839" y="372822"/>
                  </a:lnTo>
                  <a:lnTo>
                    <a:pt x="631909" y="337997"/>
                  </a:lnTo>
                  <a:lnTo>
                    <a:pt x="600183" y="304438"/>
                  </a:lnTo>
                  <a:lnTo>
                    <a:pt x="566720" y="272204"/>
                  </a:lnTo>
                  <a:lnTo>
                    <a:pt x="531577" y="241353"/>
                  </a:lnTo>
                  <a:lnTo>
                    <a:pt x="494812" y="211942"/>
                  </a:lnTo>
                  <a:lnTo>
                    <a:pt x="456484" y="184028"/>
                  </a:lnTo>
                  <a:lnTo>
                    <a:pt x="416651" y="157671"/>
                  </a:lnTo>
                  <a:lnTo>
                    <a:pt x="375370" y="132927"/>
                  </a:lnTo>
                  <a:lnTo>
                    <a:pt x="332700" y="109854"/>
                  </a:lnTo>
                  <a:lnTo>
                    <a:pt x="288700" y="88511"/>
                  </a:lnTo>
                  <a:lnTo>
                    <a:pt x="243426" y="68954"/>
                  </a:lnTo>
                  <a:lnTo>
                    <a:pt x="196938" y="51242"/>
                  </a:lnTo>
                  <a:lnTo>
                    <a:pt x="149293" y="35433"/>
                  </a:lnTo>
                  <a:lnTo>
                    <a:pt x="100550" y="21585"/>
                  </a:lnTo>
                  <a:lnTo>
                    <a:pt x="50766" y="9754"/>
                  </a:lnTo>
                  <a:lnTo>
                    <a:pt x="0" y="0"/>
                  </a:lnTo>
                  <a:close/>
                </a:path>
              </a:pathLst>
            </a:custGeom>
            <a:ln w="9144">
              <a:solidFill>
                <a:srgbClr val="859FB1"/>
              </a:solidFill>
            </a:ln>
          </p:spPr>
          <p:txBody>
            <a:bodyPr wrap="square" lIns="0" tIns="0" rIns="0" bIns="0" rtlCol="0"/>
            <a:lstStyle/>
            <a:p>
              <a:endParaRPr sz="2400"/>
            </a:p>
          </p:txBody>
        </p:sp>
        <p:sp>
          <p:nvSpPr>
            <p:cNvPr id="19" name="object 19"/>
            <p:cNvSpPr/>
            <p:nvPr/>
          </p:nvSpPr>
          <p:spPr>
            <a:xfrm>
              <a:off x="3336035" y="3190366"/>
              <a:ext cx="1535430" cy="561975"/>
            </a:xfrm>
            <a:custGeom>
              <a:avLst/>
              <a:gdLst/>
              <a:ahLst/>
              <a:cxnLst/>
              <a:rect l="l" t="t" r="r" b="b"/>
              <a:pathLst>
                <a:path w="1535429" h="561975">
                  <a:moveTo>
                    <a:pt x="84962" y="0"/>
                  </a:moveTo>
                  <a:lnTo>
                    <a:pt x="0" y="383031"/>
                  </a:lnTo>
                  <a:lnTo>
                    <a:pt x="106806" y="318134"/>
                  </a:lnTo>
                  <a:lnTo>
                    <a:pt x="147589" y="349604"/>
                  </a:lnTo>
                  <a:lnTo>
                    <a:pt x="189711" y="378888"/>
                  </a:lnTo>
                  <a:lnTo>
                    <a:pt x="233074" y="405988"/>
                  </a:lnTo>
                  <a:lnTo>
                    <a:pt x="277581" y="430907"/>
                  </a:lnTo>
                  <a:lnTo>
                    <a:pt x="323135" y="453648"/>
                  </a:lnTo>
                  <a:lnTo>
                    <a:pt x="369638" y="474212"/>
                  </a:lnTo>
                  <a:lnTo>
                    <a:pt x="416993" y="492602"/>
                  </a:lnTo>
                  <a:lnTo>
                    <a:pt x="465103" y="508820"/>
                  </a:lnTo>
                  <a:lnTo>
                    <a:pt x="513870" y="522869"/>
                  </a:lnTo>
                  <a:lnTo>
                    <a:pt x="563197" y="534749"/>
                  </a:lnTo>
                  <a:lnTo>
                    <a:pt x="612988" y="544465"/>
                  </a:lnTo>
                  <a:lnTo>
                    <a:pt x="663144" y="552018"/>
                  </a:lnTo>
                  <a:lnTo>
                    <a:pt x="713568" y="557410"/>
                  </a:lnTo>
                  <a:lnTo>
                    <a:pt x="764163" y="560643"/>
                  </a:lnTo>
                  <a:lnTo>
                    <a:pt x="814831" y="561720"/>
                  </a:lnTo>
                  <a:lnTo>
                    <a:pt x="863505" y="560727"/>
                  </a:lnTo>
                  <a:lnTo>
                    <a:pt x="912079" y="557746"/>
                  </a:lnTo>
                  <a:lnTo>
                    <a:pt x="960470" y="552781"/>
                  </a:lnTo>
                  <a:lnTo>
                    <a:pt x="1008596" y="545834"/>
                  </a:lnTo>
                  <a:lnTo>
                    <a:pt x="1056374" y="536905"/>
                  </a:lnTo>
                  <a:lnTo>
                    <a:pt x="1103723" y="525997"/>
                  </a:lnTo>
                  <a:lnTo>
                    <a:pt x="1150559" y="513112"/>
                  </a:lnTo>
                  <a:lnTo>
                    <a:pt x="1196800" y="498252"/>
                  </a:lnTo>
                  <a:lnTo>
                    <a:pt x="1242364" y="481419"/>
                  </a:lnTo>
                  <a:lnTo>
                    <a:pt x="1287169" y="462613"/>
                  </a:lnTo>
                  <a:lnTo>
                    <a:pt x="1331131" y="441838"/>
                  </a:lnTo>
                  <a:lnTo>
                    <a:pt x="1374169" y="419096"/>
                  </a:lnTo>
                  <a:lnTo>
                    <a:pt x="1416201" y="394387"/>
                  </a:lnTo>
                  <a:lnTo>
                    <a:pt x="1457143" y="367714"/>
                  </a:lnTo>
                  <a:lnTo>
                    <a:pt x="1496913" y="339078"/>
                  </a:lnTo>
                  <a:lnTo>
                    <a:pt x="1535429" y="308482"/>
                  </a:lnTo>
                  <a:lnTo>
                    <a:pt x="1535429" y="303656"/>
                  </a:lnTo>
                  <a:lnTo>
                    <a:pt x="1226565" y="119380"/>
                  </a:lnTo>
                  <a:lnTo>
                    <a:pt x="1185441" y="145032"/>
                  </a:lnTo>
                  <a:lnTo>
                    <a:pt x="1142720" y="167709"/>
                  </a:lnTo>
                  <a:lnTo>
                    <a:pt x="1098601" y="187400"/>
                  </a:lnTo>
                  <a:lnTo>
                    <a:pt x="1053285" y="204093"/>
                  </a:lnTo>
                  <a:lnTo>
                    <a:pt x="1006970" y="217777"/>
                  </a:lnTo>
                  <a:lnTo>
                    <a:pt x="959856" y="228440"/>
                  </a:lnTo>
                  <a:lnTo>
                    <a:pt x="912144" y="236070"/>
                  </a:lnTo>
                  <a:lnTo>
                    <a:pt x="864032" y="240657"/>
                  </a:lnTo>
                  <a:lnTo>
                    <a:pt x="815721" y="242188"/>
                  </a:lnTo>
                  <a:lnTo>
                    <a:pt x="763669" y="240415"/>
                  </a:lnTo>
                  <a:lnTo>
                    <a:pt x="711773" y="235098"/>
                  </a:lnTo>
                  <a:lnTo>
                    <a:pt x="660261" y="226242"/>
                  </a:lnTo>
                  <a:lnTo>
                    <a:pt x="609361" y="213852"/>
                  </a:lnTo>
                  <a:lnTo>
                    <a:pt x="559301" y="197931"/>
                  </a:lnTo>
                  <a:lnTo>
                    <a:pt x="510307" y="178484"/>
                  </a:lnTo>
                  <a:lnTo>
                    <a:pt x="462609" y="155516"/>
                  </a:lnTo>
                  <a:lnTo>
                    <a:pt x="416433" y="129031"/>
                  </a:lnTo>
                  <a:lnTo>
                    <a:pt x="528701" y="64896"/>
                  </a:lnTo>
                  <a:lnTo>
                    <a:pt x="84962" y="0"/>
                  </a:lnTo>
                  <a:close/>
                </a:path>
              </a:pathLst>
            </a:custGeom>
            <a:solidFill>
              <a:srgbClr val="CCF3FF"/>
            </a:solidFill>
          </p:spPr>
          <p:txBody>
            <a:bodyPr wrap="square" lIns="0" tIns="0" rIns="0" bIns="0" rtlCol="0"/>
            <a:lstStyle/>
            <a:p>
              <a:endParaRPr sz="2400"/>
            </a:p>
          </p:txBody>
        </p:sp>
        <p:sp>
          <p:nvSpPr>
            <p:cNvPr id="20" name="object 20"/>
            <p:cNvSpPr/>
            <p:nvPr/>
          </p:nvSpPr>
          <p:spPr>
            <a:xfrm>
              <a:off x="3336035" y="3190366"/>
              <a:ext cx="1535430" cy="561975"/>
            </a:xfrm>
            <a:custGeom>
              <a:avLst/>
              <a:gdLst/>
              <a:ahLst/>
              <a:cxnLst/>
              <a:rect l="l" t="t" r="r" b="b"/>
              <a:pathLst>
                <a:path w="1535429" h="561975">
                  <a:moveTo>
                    <a:pt x="84962" y="0"/>
                  </a:moveTo>
                  <a:lnTo>
                    <a:pt x="0" y="383031"/>
                  </a:lnTo>
                  <a:lnTo>
                    <a:pt x="106806" y="318134"/>
                  </a:lnTo>
                  <a:lnTo>
                    <a:pt x="147589" y="349604"/>
                  </a:lnTo>
                  <a:lnTo>
                    <a:pt x="189711" y="378888"/>
                  </a:lnTo>
                  <a:lnTo>
                    <a:pt x="233074" y="405988"/>
                  </a:lnTo>
                  <a:lnTo>
                    <a:pt x="277581" y="430907"/>
                  </a:lnTo>
                  <a:lnTo>
                    <a:pt x="323135" y="453648"/>
                  </a:lnTo>
                  <a:lnTo>
                    <a:pt x="369638" y="474212"/>
                  </a:lnTo>
                  <a:lnTo>
                    <a:pt x="416993" y="492602"/>
                  </a:lnTo>
                  <a:lnTo>
                    <a:pt x="465103" y="508820"/>
                  </a:lnTo>
                  <a:lnTo>
                    <a:pt x="513870" y="522869"/>
                  </a:lnTo>
                  <a:lnTo>
                    <a:pt x="563197" y="534749"/>
                  </a:lnTo>
                  <a:lnTo>
                    <a:pt x="612988" y="544465"/>
                  </a:lnTo>
                  <a:lnTo>
                    <a:pt x="663144" y="552018"/>
                  </a:lnTo>
                  <a:lnTo>
                    <a:pt x="713568" y="557410"/>
                  </a:lnTo>
                  <a:lnTo>
                    <a:pt x="764163" y="560643"/>
                  </a:lnTo>
                  <a:lnTo>
                    <a:pt x="814831" y="561720"/>
                  </a:lnTo>
                  <a:lnTo>
                    <a:pt x="863505" y="560727"/>
                  </a:lnTo>
                  <a:lnTo>
                    <a:pt x="912079" y="557746"/>
                  </a:lnTo>
                  <a:lnTo>
                    <a:pt x="960470" y="552781"/>
                  </a:lnTo>
                  <a:lnTo>
                    <a:pt x="1008596" y="545834"/>
                  </a:lnTo>
                  <a:lnTo>
                    <a:pt x="1056374" y="536905"/>
                  </a:lnTo>
                  <a:lnTo>
                    <a:pt x="1103723" y="525997"/>
                  </a:lnTo>
                  <a:lnTo>
                    <a:pt x="1150559" y="513112"/>
                  </a:lnTo>
                  <a:lnTo>
                    <a:pt x="1196800" y="498252"/>
                  </a:lnTo>
                  <a:lnTo>
                    <a:pt x="1242364" y="481419"/>
                  </a:lnTo>
                  <a:lnTo>
                    <a:pt x="1287169" y="462613"/>
                  </a:lnTo>
                  <a:lnTo>
                    <a:pt x="1331131" y="441838"/>
                  </a:lnTo>
                  <a:lnTo>
                    <a:pt x="1374169" y="419096"/>
                  </a:lnTo>
                  <a:lnTo>
                    <a:pt x="1416201" y="394387"/>
                  </a:lnTo>
                  <a:lnTo>
                    <a:pt x="1457143" y="367714"/>
                  </a:lnTo>
                  <a:lnTo>
                    <a:pt x="1496913" y="339078"/>
                  </a:lnTo>
                  <a:lnTo>
                    <a:pt x="1535429" y="308482"/>
                  </a:lnTo>
                  <a:lnTo>
                    <a:pt x="1535429" y="303656"/>
                  </a:lnTo>
                  <a:lnTo>
                    <a:pt x="1226565" y="119380"/>
                  </a:lnTo>
                  <a:lnTo>
                    <a:pt x="1185441" y="145032"/>
                  </a:lnTo>
                  <a:lnTo>
                    <a:pt x="1142720" y="167709"/>
                  </a:lnTo>
                  <a:lnTo>
                    <a:pt x="1098601" y="187400"/>
                  </a:lnTo>
                  <a:lnTo>
                    <a:pt x="1053285" y="204093"/>
                  </a:lnTo>
                  <a:lnTo>
                    <a:pt x="1006970" y="217777"/>
                  </a:lnTo>
                  <a:lnTo>
                    <a:pt x="959856" y="228440"/>
                  </a:lnTo>
                  <a:lnTo>
                    <a:pt x="912144" y="236070"/>
                  </a:lnTo>
                  <a:lnTo>
                    <a:pt x="864032" y="240657"/>
                  </a:lnTo>
                  <a:lnTo>
                    <a:pt x="815721" y="242188"/>
                  </a:lnTo>
                  <a:lnTo>
                    <a:pt x="763669" y="240415"/>
                  </a:lnTo>
                  <a:lnTo>
                    <a:pt x="711773" y="235098"/>
                  </a:lnTo>
                  <a:lnTo>
                    <a:pt x="660261" y="226242"/>
                  </a:lnTo>
                  <a:lnTo>
                    <a:pt x="609361" y="213852"/>
                  </a:lnTo>
                  <a:lnTo>
                    <a:pt x="559301" y="197931"/>
                  </a:lnTo>
                  <a:lnTo>
                    <a:pt x="510307" y="178484"/>
                  </a:lnTo>
                  <a:lnTo>
                    <a:pt x="462609" y="155516"/>
                  </a:lnTo>
                  <a:lnTo>
                    <a:pt x="416433" y="129031"/>
                  </a:lnTo>
                  <a:lnTo>
                    <a:pt x="528701" y="64896"/>
                  </a:lnTo>
                  <a:lnTo>
                    <a:pt x="84962" y="0"/>
                  </a:lnTo>
                  <a:close/>
                </a:path>
              </a:pathLst>
            </a:custGeom>
            <a:ln w="9144">
              <a:solidFill>
                <a:srgbClr val="5F7C94"/>
              </a:solidFill>
            </a:ln>
          </p:spPr>
          <p:txBody>
            <a:bodyPr wrap="square" lIns="0" tIns="0" rIns="0" bIns="0" rtlCol="0"/>
            <a:lstStyle/>
            <a:p>
              <a:endParaRPr sz="2400"/>
            </a:p>
          </p:txBody>
        </p:sp>
      </p:grpSp>
      <p:sp>
        <p:nvSpPr>
          <p:cNvPr id="21" name="object 21"/>
          <p:cNvSpPr txBox="1"/>
          <p:nvPr/>
        </p:nvSpPr>
        <p:spPr>
          <a:xfrm>
            <a:off x="5089820" y="3368819"/>
            <a:ext cx="892387" cy="755762"/>
          </a:xfrm>
          <a:prstGeom prst="rect">
            <a:avLst/>
          </a:prstGeom>
        </p:spPr>
        <p:txBody>
          <a:bodyPr vert="horz" wrap="square" lIns="0" tIns="16933" rIns="0" bIns="0" rtlCol="0">
            <a:spAutoFit/>
          </a:bodyPr>
          <a:lstStyle/>
          <a:p>
            <a:pPr marL="16933">
              <a:spcBef>
                <a:spcPts val="133"/>
              </a:spcBef>
            </a:pPr>
            <a:r>
              <a:rPr sz="4800" b="1" spc="-33" dirty="0">
                <a:solidFill>
                  <a:srgbClr val="FFFFFF"/>
                </a:solidFill>
                <a:latin typeface="Calibri"/>
                <a:cs typeface="Calibri"/>
              </a:rPr>
              <a:t>ETL</a:t>
            </a:r>
            <a:endParaRPr sz="4800">
              <a:latin typeface="Calibri"/>
              <a:cs typeface="Calibri"/>
            </a:endParaRPr>
          </a:p>
        </p:txBody>
      </p:sp>
      <p:sp>
        <p:nvSpPr>
          <p:cNvPr id="22" name="object 22"/>
          <p:cNvSpPr txBox="1">
            <a:spLocks noGrp="1"/>
          </p:cNvSpPr>
          <p:nvPr>
            <p:ph type="title"/>
          </p:nvPr>
        </p:nvSpPr>
        <p:spPr>
          <a:xfrm>
            <a:off x="4448048" y="1383072"/>
            <a:ext cx="4824305" cy="761747"/>
          </a:xfrm>
          <a:prstGeom prst="rect">
            <a:avLst/>
          </a:prstGeom>
          <a:solidFill>
            <a:srgbClr val="00C3FF">
              <a:alpha val="50195"/>
            </a:srgbClr>
          </a:solidFill>
        </p:spPr>
        <p:txBody>
          <a:bodyPr vert="horz" wrap="square" lIns="0" tIns="22860" rIns="0" bIns="0" rtlCol="0" anchor="ctr">
            <a:spAutoFit/>
          </a:bodyPr>
          <a:lstStyle/>
          <a:p>
            <a:pPr marL="121070">
              <a:lnSpc>
                <a:spcPct val="100000"/>
              </a:lnSpc>
              <a:spcBef>
                <a:spcPts val="180"/>
              </a:spcBef>
            </a:pPr>
            <a:r>
              <a:rPr sz="4800" b="1" dirty="0">
                <a:latin typeface="Calibri"/>
                <a:cs typeface="Calibri"/>
              </a:rPr>
              <a:t>E</a:t>
            </a:r>
            <a:r>
              <a:rPr sz="3200" b="1" dirty="0">
                <a:latin typeface="Calibri"/>
                <a:cs typeface="Calibri"/>
              </a:rPr>
              <a:t>xtract,</a:t>
            </a:r>
            <a:r>
              <a:rPr sz="3200" b="1" spc="280" dirty="0">
                <a:latin typeface="Calibri"/>
                <a:cs typeface="Calibri"/>
              </a:rPr>
              <a:t> </a:t>
            </a:r>
            <a:r>
              <a:rPr sz="4800" b="1" dirty="0">
                <a:latin typeface="Calibri"/>
                <a:cs typeface="Calibri"/>
              </a:rPr>
              <a:t>T</a:t>
            </a:r>
            <a:r>
              <a:rPr sz="3200" b="1" dirty="0">
                <a:latin typeface="Calibri"/>
                <a:cs typeface="Calibri"/>
              </a:rPr>
              <a:t>ransform</a:t>
            </a:r>
            <a:r>
              <a:rPr sz="4800" b="1" dirty="0">
                <a:latin typeface="Calibri"/>
                <a:cs typeface="Calibri"/>
              </a:rPr>
              <a:t>,</a:t>
            </a:r>
            <a:r>
              <a:rPr sz="4800" b="1" spc="-93" dirty="0">
                <a:latin typeface="Calibri"/>
                <a:cs typeface="Calibri"/>
              </a:rPr>
              <a:t> </a:t>
            </a:r>
            <a:r>
              <a:rPr sz="4800" b="1" spc="-27" dirty="0">
                <a:latin typeface="Calibri"/>
                <a:cs typeface="Calibri"/>
              </a:rPr>
              <a:t>L</a:t>
            </a:r>
            <a:r>
              <a:rPr sz="3200" b="1" spc="-27" dirty="0">
                <a:latin typeface="Calibri"/>
                <a:cs typeface="Calibri"/>
              </a:rPr>
              <a:t>oad</a:t>
            </a:r>
            <a:endParaRPr sz="3200">
              <a:latin typeface="Calibri"/>
              <a:cs typeface="Calibri"/>
            </a:endParaRPr>
          </a:p>
        </p:txBody>
      </p:sp>
      <p:sp>
        <p:nvSpPr>
          <p:cNvPr id="23" name="object 23"/>
          <p:cNvSpPr txBox="1"/>
          <p:nvPr/>
        </p:nvSpPr>
        <p:spPr>
          <a:xfrm>
            <a:off x="8636000" y="3228848"/>
            <a:ext cx="2946400" cy="860191"/>
          </a:xfrm>
          <a:prstGeom prst="rect">
            <a:avLst/>
          </a:prstGeom>
          <a:solidFill>
            <a:srgbClr val="B3B3B3">
              <a:alpha val="50195"/>
            </a:srgbClr>
          </a:solidFill>
        </p:spPr>
        <p:txBody>
          <a:bodyPr vert="horz" wrap="square" lIns="0" tIns="38945" rIns="0" bIns="0" rtlCol="0">
            <a:spAutoFit/>
          </a:bodyPr>
          <a:lstStyle/>
          <a:p>
            <a:pPr marL="122764" marR="478355">
              <a:lnSpc>
                <a:spcPct val="100499"/>
              </a:lnSpc>
              <a:spcBef>
                <a:spcPts val="305"/>
              </a:spcBef>
            </a:pPr>
            <a:r>
              <a:rPr sz="2667" b="1" spc="-13" dirty="0">
                <a:solidFill>
                  <a:srgbClr val="FFFFFF"/>
                </a:solidFill>
                <a:latin typeface="Calibri"/>
                <a:cs typeface="Calibri"/>
              </a:rPr>
              <a:t>Centralized </a:t>
            </a:r>
            <a:r>
              <a:rPr sz="2667" b="1" dirty="0">
                <a:solidFill>
                  <a:srgbClr val="FFFFFF"/>
                </a:solidFill>
                <a:latin typeface="Calibri"/>
                <a:cs typeface="Calibri"/>
              </a:rPr>
              <a:t>location</a:t>
            </a:r>
            <a:r>
              <a:rPr sz="2667" b="1" spc="-67" dirty="0">
                <a:solidFill>
                  <a:srgbClr val="FFFFFF"/>
                </a:solidFill>
                <a:latin typeface="Calibri"/>
                <a:cs typeface="Calibri"/>
              </a:rPr>
              <a:t> </a:t>
            </a:r>
            <a:r>
              <a:rPr sz="2667" b="1" dirty="0">
                <a:solidFill>
                  <a:srgbClr val="FFFFFF"/>
                </a:solidFill>
                <a:latin typeface="Calibri"/>
                <a:cs typeface="Calibri"/>
              </a:rPr>
              <a:t>for</a:t>
            </a:r>
            <a:r>
              <a:rPr sz="2667" b="1" spc="-33" dirty="0">
                <a:solidFill>
                  <a:srgbClr val="FFFFFF"/>
                </a:solidFill>
                <a:latin typeface="Calibri"/>
                <a:cs typeface="Calibri"/>
              </a:rPr>
              <a:t> </a:t>
            </a:r>
            <a:r>
              <a:rPr sz="2667" b="1" spc="-27" dirty="0">
                <a:solidFill>
                  <a:srgbClr val="FFFFFF"/>
                </a:solidFill>
                <a:latin typeface="Calibri"/>
                <a:cs typeface="Calibri"/>
              </a:rPr>
              <a:t>data</a:t>
            </a:r>
            <a:endParaRPr sz="2667">
              <a:latin typeface="Calibri"/>
              <a:cs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89579" y="180364"/>
            <a:ext cx="6571863" cy="695062"/>
          </a:xfrm>
          <a:prstGeom prst="rect">
            <a:avLst/>
          </a:prstGeom>
        </p:spPr>
        <p:txBody>
          <a:bodyPr vert="horz" wrap="square" lIns="0" tIns="17780" rIns="0" bIns="0" rtlCol="0" anchor="ctr">
            <a:spAutoFit/>
          </a:bodyPr>
          <a:lstStyle/>
          <a:p>
            <a:pPr marL="16933">
              <a:lnSpc>
                <a:spcPct val="100000"/>
              </a:lnSpc>
              <a:spcBef>
                <a:spcPts val="140"/>
              </a:spcBef>
            </a:pPr>
            <a:r>
              <a:rPr sz="4300" dirty="0">
                <a:solidFill>
                  <a:schemeClr val="bg1"/>
                </a:solidFill>
                <a:latin typeface="+mn-lt"/>
              </a:rPr>
              <a:t>Goals</a:t>
            </a:r>
            <a:r>
              <a:rPr sz="4300" spc="-40" dirty="0">
                <a:solidFill>
                  <a:schemeClr val="bg1"/>
                </a:solidFill>
                <a:latin typeface="+mn-lt"/>
              </a:rPr>
              <a:t> </a:t>
            </a:r>
            <a:r>
              <a:rPr sz="4300" dirty="0">
                <a:solidFill>
                  <a:schemeClr val="bg1"/>
                </a:solidFill>
                <a:latin typeface="+mn-lt"/>
              </a:rPr>
              <a:t>of</a:t>
            </a:r>
            <a:r>
              <a:rPr sz="4300" spc="-60" dirty="0">
                <a:solidFill>
                  <a:schemeClr val="bg1"/>
                </a:solidFill>
                <a:latin typeface="+mn-lt"/>
              </a:rPr>
              <a:t> </a:t>
            </a:r>
            <a:r>
              <a:rPr sz="4300" dirty="0">
                <a:solidFill>
                  <a:schemeClr val="bg1"/>
                </a:solidFill>
                <a:latin typeface="+mn-lt"/>
              </a:rPr>
              <a:t>a</a:t>
            </a:r>
            <a:r>
              <a:rPr sz="4300" spc="-53" dirty="0">
                <a:solidFill>
                  <a:schemeClr val="bg1"/>
                </a:solidFill>
                <a:latin typeface="+mn-lt"/>
              </a:rPr>
              <a:t> </a:t>
            </a:r>
            <a:r>
              <a:rPr sz="4300" dirty="0">
                <a:solidFill>
                  <a:schemeClr val="bg1"/>
                </a:solidFill>
                <a:latin typeface="+mn-lt"/>
              </a:rPr>
              <a:t>data</a:t>
            </a:r>
            <a:r>
              <a:rPr sz="4300" spc="-27" dirty="0">
                <a:solidFill>
                  <a:schemeClr val="bg1"/>
                </a:solidFill>
                <a:latin typeface="+mn-lt"/>
              </a:rPr>
              <a:t> </a:t>
            </a:r>
            <a:r>
              <a:rPr sz="4300" spc="-13" dirty="0">
                <a:solidFill>
                  <a:schemeClr val="bg1"/>
                </a:solidFill>
                <a:latin typeface="+mn-lt"/>
              </a:rPr>
              <a:t>warehouse</a:t>
            </a:r>
          </a:p>
        </p:txBody>
      </p:sp>
      <p:sp>
        <p:nvSpPr>
          <p:cNvPr id="3" name="object 3"/>
          <p:cNvSpPr txBox="1"/>
          <p:nvPr/>
        </p:nvSpPr>
        <p:spPr>
          <a:xfrm>
            <a:off x="1470991" y="1752601"/>
            <a:ext cx="8559977" cy="3261576"/>
          </a:xfrm>
          <a:prstGeom prst="rect">
            <a:avLst/>
          </a:prstGeom>
        </p:spPr>
        <p:txBody>
          <a:bodyPr vert="horz" wrap="square" lIns="0" tIns="16933" rIns="0" bIns="0" rtlCol="0">
            <a:spAutoFit/>
          </a:bodyPr>
          <a:lstStyle/>
          <a:p>
            <a:pPr marL="408930" indent="-380990">
              <a:spcBef>
                <a:spcPts val="133"/>
              </a:spcBef>
              <a:buClr>
                <a:srgbClr val="99D3FF"/>
              </a:buClr>
              <a:buFont typeface="Wingdings"/>
              <a:buChar char=""/>
              <a:tabLst>
                <a:tab pos="408930" algn="l"/>
              </a:tabLst>
            </a:pPr>
            <a:r>
              <a:rPr sz="2400" b="1" dirty="0">
                <a:solidFill>
                  <a:srgbClr val="D9D9D9"/>
                </a:solidFill>
                <a:latin typeface="Calibri"/>
                <a:cs typeface="Calibri"/>
              </a:rPr>
              <a:t>Centralized</a:t>
            </a:r>
            <a:r>
              <a:rPr sz="2400" b="1" spc="-73" dirty="0">
                <a:solidFill>
                  <a:srgbClr val="D9D9D9"/>
                </a:solidFill>
                <a:latin typeface="Calibri"/>
                <a:cs typeface="Calibri"/>
              </a:rPr>
              <a:t> </a:t>
            </a:r>
            <a:r>
              <a:rPr sz="2400" b="1" dirty="0">
                <a:solidFill>
                  <a:srgbClr val="D9D9D9"/>
                </a:solidFill>
                <a:latin typeface="Calibri"/>
                <a:cs typeface="Calibri"/>
              </a:rPr>
              <a:t>and</a:t>
            </a:r>
            <a:r>
              <a:rPr sz="2400" b="1" spc="-20" dirty="0">
                <a:solidFill>
                  <a:srgbClr val="D9D9D9"/>
                </a:solidFill>
                <a:latin typeface="Calibri"/>
                <a:cs typeface="Calibri"/>
              </a:rPr>
              <a:t> </a:t>
            </a:r>
            <a:r>
              <a:rPr sz="2400" b="1" dirty="0">
                <a:solidFill>
                  <a:srgbClr val="D9D9D9"/>
                </a:solidFill>
                <a:latin typeface="Calibri"/>
                <a:cs typeface="Calibri"/>
              </a:rPr>
              <a:t>consistent</a:t>
            </a:r>
            <a:r>
              <a:rPr sz="2400" b="1" spc="-67" dirty="0">
                <a:solidFill>
                  <a:srgbClr val="D9D9D9"/>
                </a:solidFill>
                <a:latin typeface="Calibri"/>
                <a:cs typeface="Calibri"/>
              </a:rPr>
              <a:t> </a:t>
            </a:r>
            <a:r>
              <a:rPr sz="2400" b="1" dirty="0">
                <a:solidFill>
                  <a:srgbClr val="D9D9D9"/>
                </a:solidFill>
                <a:latin typeface="Calibri"/>
                <a:cs typeface="Calibri"/>
              </a:rPr>
              <a:t>location</a:t>
            </a:r>
            <a:r>
              <a:rPr sz="2400" b="1" spc="-13" dirty="0">
                <a:solidFill>
                  <a:srgbClr val="D9D9D9"/>
                </a:solidFill>
                <a:latin typeface="Calibri"/>
                <a:cs typeface="Calibri"/>
              </a:rPr>
              <a:t> </a:t>
            </a:r>
            <a:r>
              <a:rPr sz="2400" b="1" dirty="0">
                <a:solidFill>
                  <a:srgbClr val="D9D9D9"/>
                </a:solidFill>
                <a:latin typeface="Calibri"/>
                <a:cs typeface="Calibri"/>
              </a:rPr>
              <a:t>for</a:t>
            </a:r>
            <a:r>
              <a:rPr sz="2400" b="1" spc="-47" dirty="0">
                <a:solidFill>
                  <a:srgbClr val="D9D9D9"/>
                </a:solidFill>
                <a:latin typeface="Calibri"/>
                <a:cs typeface="Calibri"/>
              </a:rPr>
              <a:t> </a:t>
            </a:r>
            <a:r>
              <a:rPr sz="2400" b="1" spc="-27" dirty="0">
                <a:solidFill>
                  <a:srgbClr val="D9D9D9"/>
                </a:solidFill>
                <a:latin typeface="Calibri"/>
                <a:cs typeface="Calibri"/>
              </a:rPr>
              <a:t>data</a:t>
            </a:r>
            <a:endParaRPr sz="2400" dirty="0">
              <a:latin typeface="Calibri"/>
              <a:cs typeface="Calibri"/>
            </a:endParaRPr>
          </a:p>
          <a:p>
            <a:pPr marL="404697" indent="-381837">
              <a:spcBef>
                <a:spcPts val="2467"/>
              </a:spcBef>
              <a:buClr>
                <a:srgbClr val="99D3FF"/>
              </a:buClr>
              <a:buFont typeface="Wingdings"/>
              <a:buChar char=""/>
              <a:tabLst>
                <a:tab pos="404697" algn="l"/>
              </a:tabLst>
            </a:pPr>
            <a:r>
              <a:rPr sz="2400" b="1" dirty="0">
                <a:solidFill>
                  <a:srgbClr val="D9D9D9"/>
                </a:solidFill>
                <a:latin typeface="Calibri"/>
                <a:cs typeface="Calibri"/>
              </a:rPr>
              <a:t>Data</a:t>
            </a:r>
            <a:r>
              <a:rPr sz="2400" b="1" spc="-20" dirty="0">
                <a:solidFill>
                  <a:srgbClr val="D9D9D9"/>
                </a:solidFill>
                <a:latin typeface="Calibri"/>
                <a:cs typeface="Calibri"/>
              </a:rPr>
              <a:t> </a:t>
            </a:r>
            <a:r>
              <a:rPr sz="2400" b="1" dirty="0">
                <a:solidFill>
                  <a:srgbClr val="D9D9D9"/>
                </a:solidFill>
                <a:latin typeface="Calibri"/>
                <a:cs typeface="Calibri"/>
              </a:rPr>
              <a:t>must</a:t>
            </a:r>
            <a:r>
              <a:rPr sz="2400" b="1" spc="-27" dirty="0">
                <a:solidFill>
                  <a:srgbClr val="D9D9D9"/>
                </a:solidFill>
                <a:latin typeface="Calibri"/>
                <a:cs typeface="Calibri"/>
              </a:rPr>
              <a:t> </a:t>
            </a:r>
            <a:r>
              <a:rPr sz="2400" b="1" dirty="0">
                <a:solidFill>
                  <a:srgbClr val="D9D9D9"/>
                </a:solidFill>
                <a:latin typeface="Calibri"/>
                <a:cs typeface="Calibri"/>
              </a:rPr>
              <a:t>be</a:t>
            </a:r>
            <a:r>
              <a:rPr sz="2400" b="1" spc="-20" dirty="0">
                <a:solidFill>
                  <a:srgbClr val="D9D9D9"/>
                </a:solidFill>
                <a:latin typeface="Calibri"/>
                <a:cs typeface="Calibri"/>
              </a:rPr>
              <a:t> </a:t>
            </a:r>
            <a:r>
              <a:rPr sz="2400" b="1" dirty="0">
                <a:solidFill>
                  <a:srgbClr val="D9D9D9"/>
                </a:solidFill>
                <a:latin typeface="Calibri"/>
                <a:cs typeface="Calibri"/>
              </a:rPr>
              <a:t>accessible</a:t>
            </a:r>
            <a:r>
              <a:rPr sz="2400" b="1" spc="-73" dirty="0">
                <a:solidFill>
                  <a:srgbClr val="D9D9D9"/>
                </a:solidFill>
                <a:latin typeface="Calibri"/>
                <a:cs typeface="Calibri"/>
              </a:rPr>
              <a:t> </a:t>
            </a:r>
            <a:r>
              <a:rPr sz="2400" b="1" dirty="0">
                <a:solidFill>
                  <a:srgbClr val="D9D9D9"/>
                </a:solidFill>
                <a:latin typeface="Calibri"/>
                <a:cs typeface="Calibri"/>
              </a:rPr>
              <a:t>fast</a:t>
            </a:r>
            <a:r>
              <a:rPr sz="2400" b="1" spc="-7" dirty="0">
                <a:solidFill>
                  <a:srgbClr val="D9D9D9"/>
                </a:solidFill>
                <a:latin typeface="Calibri"/>
                <a:cs typeface="Calibri"/>
              </a:rPr>
              <a:t> </a:t>
            </a:r>
            <a:r>
              <a:rPr sz="2400" b="1" dirty="0">
                <a:solidFill>
                  <a:srgbClr val="D9D9D9"/>
                </a:solidFill>
                <a:latin typeface="Calibri"/>
                <a:cs typeface="Calibri"/>
              </a:rPr>
              <a:t>(query</a:t>
            </a:r>
            <a:r>
              <a:rPr sz="2400" b="1" spc="-73" dirty="0">
                <a:solidFill>
                  <a:srgbClr val="D9D9D9"/>
                </a:solidFill>
                <a:latin typeface="Calibri"/>
                <a:cs typeface="Calibri"/>
              </a:rPr>
              <a:t> </a:t>
            </a:r>
            <a:r>
              <a:rPr sz="2400" b="1" spc="-13" dirty="0">
                <a:solidFill>
                  <a:srgbClr val="D9D9D9"/>
                </a:solidFill>
                <a:latin typeface="Calibri"/>
                <a:cs typeface="Calibri"/>
              </a:rPr>
              <a:t>performance)</a:t>
            </a:r>
            <a:endParaRPr sz="2400" dirty="0">
              <a:latin typeface="Calibri"/>
              <a:cs typeface="Calibri"/>
            </a:endParaRPr>
          </a:p>
          <a:p>
            <a:pPr marL="397923" indent="-380990">
              <a:spcBef>
                <a:spcPts val="2673"/>
              </a:spcBef>
              <a:buClr>
                <a:srgbClr val="99D3FF"/>
              </a:buClr>
              <a:buFont typeface="Wingdings"/>
              <a:buChar char=""/>
              <a:tabLst>
                <a:tab pos="397923" algn="l"/>
              </a:tabLst>
            </a:pPr>
            <a:r>
              <a:rPr sz="2400" b="1" spc="-13" dirty="0">
                <a:solidFill>
                  <a:srgbClr val="D9D9D9"/>
                </a:solidFill>
                <a:latin typeface="Calibri"/>
                <a:cs typeface="Calibri"/>
              </a:rPr>
              <a:t>User-</a:t>
            </a:r>
            <a:r>
              <a:rPr sz="2400" b="1" dirty="0">
                <a:solidFill>
                  <a:srgbClr val="D9D9D9"/>
                </a:solidFill>
                <a:latin typeface="Calibri"/>
                <a:cs typeface="Calibri"/>
              </a:rPr>
              <a:t>friendly</a:t>
            </a:r>
            <a:r>
              <a:rPr sz="2400" b="1" spc="-33" dirty="0">
                <a:solidFill>
                  <a:srgbClr val="D9D9D9"/>
                </a:solidFill>
                <a:latin typeface="Calibri"/>
                <a:cs typeface="Calibri"/>
              </a:rPr>
              <a:t> </a:t>
            </a:r>
            <a:r>
              <a:rPr sz="2400" b="1" dirty="0">
                <a:solidFill>
                  <a:srgbClr val="D9D9D9"/>
                </a:solidFill>
                <a:latin typeface="Calibri"/>
                <a:cs typeface="Calibri"/>
              </a:rPr>
              <a:t>(easy</a:t>
            </a:r>
            <a:r>
              <a:rPr sz="2400" b="1" spc="-60" dirty="0">
                <a:solidFill>
                  <a:srgbClr val="D9D9D9"/>
                </a:solidFill>
                <a:latin typeface="Calibri"/>
                <a:cs typeface="Calibri"/>
              </a:rPr>
              <a:t> </a:t>
            </a:r>
            <a:r>
              <a:rPr sz="2400" b="1" dirty="0">
                <a:solidFill>
                  <a:srgbClr val="D9D9D9"/>
                </a:solidFill>
                <a:latin typeface="Calibri"/>
                <a:cs typeface="Calibri"/>
              </a:rPr>
              <a:t>to</a:t>
            </a:r>
            <a:r>
              <a:rPr sz="2400" b="1" spc="-7" dirty="0">
                <a:solidFill>
                  <a:srgbClr val="D9D9D9"/>
                </a:solidFill>
                <a:latin typeface="Calibri"/>
                <a:cs typeface="Calibri"/>
              </a:rPr>
              <a:t> </a:t>
            </a:r>
            <a:r>
              <a:rPr sz="2400" b="1" spc="-13" dirty="0">
                <a:solidFill>
                  <a:srgbClr val="D9D9D9"/>
                </a:solidFill>
                <a:latin typeface="Calibri"/>
                <a:cs typeface="Calibri"/>
              </a:rPr>
              <a:t>understand)</a:t>
            </a:r>
            <a:endParaRPr sz="2400" dirty="0">
              <a:latin typeface="Calibri"/>
              <a:cs typeface="Calibri"/>
            </a:endParaRPr>
          </a:p>
          <a:p>
            <a:pPr marL="409776" indent="-381837">
              <a:spcBef>
                <a:spcPts val="2800"/>
              </a:spcBef>
              <a:buClr>
                <a:srgbClr val="99D3FF"/>
              </a:buClr>
              <a:buFont typeface="Wingdings"/>
              <a:buChar char=""/>
              <a:tabLst>
                <a:tab pos="409776" algn="l"/>
              </a:tabLst>
            </a:pPr>
            <a:r>
              <a:rPr sz="2400" b="1" dirty="0">
                <a:solidFill>
                  <a:srgbClr val="D9D9D9"/>
                </a:solidFill>
                <a:latin typeface="Calibri"/>
                <a:cs typeface="Calibri"/>
              </a:rPr>
              <a:t>Must</a:t>
            </a:r>
            <a:r>
              <a:rPr sz="2400" b="1" spc="-27" dirty="0">
                <a:solidFill>
                  <a:srgbClr val="D9D9D9"/>
                </a:solidFill>
                <a:latin typeface="Calibri"/>
                <a:cs typeface="Calibri"/>
              </a:rPr>
              <a:t> </a:t>
            </a:r>
            <a:r>
              <a:rPr sz="2400" b="1" dirty="0">
                <a:solidFill>
                  <a:srgbClr val="D9D9D9"/>
                </a:solidFill>
                <a:latin typeface="Calibri"/>
                <a:cs typeface="Calibri"/>
              </a:rPr>
              <a:t>load</a:t>
            </a:r>
            <a:r>
              <a:rPr sz="2400" b="1" spc="-40" dirty="0">
                <a:solidFill>
                  <a:srgbClr val="D9D9D9"/>
                </a:solidFill>
                <a:latin typeface="Calibri"/>
                <a:cs typeface="Calibri"/>
              </a:rPr>
              <a:t> </a:t>
            </a:r>
            <a:r>
              <a:rPr sz="2400" b="1" dirty="0">
                <a:solidFill>
                  <a:srgbClr val="D9D9D9"/>
                </a:solidFill>
                <a:latin typeface="Calibri"/>
                <a:cs typeface="Calibri"/>
              </a:rPr>
              <a:t>data</a:t>
            </a:r>
            <a:r>
              <a:rPr sz="2400" b="1" spc="-7" dirty="0">
                <a:solidFill>
                  <a:srgbClr val="D9D9D9"/>
                </a:solidFill>
                <a:latin typeface="Calibri"/>
                <a:cs typeface="Calibri"/>
              </a:rPr>
              <a:t> </a:t>
            </a:r>
            <a:r>
              <a:rPr sz="2400" b="1" dirty="0">
                <a:solidFill>
                  <a:srgbClr val="D9D9D9"/>
                </a:solidFill>
                <a:latin typeface="Calibri"/>
                <a:cs typeface="Calibri"/>
              </a:rPr>
              <a:t>consistently</a:t>
            </a:r>
            <a:r>
              <a:rPr sz="2400" b="1" spc="-67" dirty="0">
                <a:solidFill>
                  <a:srgbClr val="D9D9D9"/>
                </a:solidFill>
                <a:latin typeface="Calibri"/>
                <a:cs typeface="Calibri"/>
              </a:rPr>
              <a:t> </a:t>
            </a:r>
            <a:r>
              <a:rPr sz="2400" b="1" dirty="0">
                <a:solidFill>
                  <a:srgbClr val="D9D9D9"/>
                </a:solidFill>
                <a:latin typeface="Calibri"/>
                <a:cs typeface="Calibri"/>
              </a:rPr>
              <a:t>and</a:t>
            </a:r>
            <a:r>
              <a:rPr sz="2400" b="1" spc="-20" dirty="0">
                <a:solidFill>
                  <a:srgbClr val="D9D9D9"/>
                </a:solidFill>
                <a:latin typeface="Calibri"/>
                <a:cs typeface="Calibri"/>
              </a:rPr>
              <a:t> </a:t>
            </a:r>
            <a:r>
              <a:rPr sz="2400" b="1" dirty="0">
                <a:solidFill>
                  <a:srgbClr val="D9D9D9"/>
                </a:solidFill>
                <a:latin typeface="Calibri"/>
                <a:cs typeface="Calibri"/>
              </a:rPr>
              <a:t>repeatedly</a:t>
            </a:r>
            <a:r>
              <a:rPr sz="2400" b="1" spc="-60" dirty="0">
                <a:solidFill>
                  <a:srgbClr val="D9D9D9"/>
                </a:solidFill>
                <a:latin typeface="Calibri"/>
                <a:cs typeface="Calibri"/>
              </a:rPr>
              <a:t> </a:t>
            </a:r>
            <a:r>
              <a:rPr sz="2400" b="1" spc="-13" dirty="0">
                <a:solidFill>
                  <a:srgbClr val="D9D9D9"/>
                </a:solidFill>
                <a:latin typeface="Calibri"/>
                <a:cs typeface="Calibri"/>
              </a:rPr>
              <a:t>(ETL)</a:t>
            </a:r>
            <a:endParaRPr sz="2400" dirty="0">
              <a:latin typeface="Calibri"/>
              <a:cs typeface="Calibri"/>
            </a:endParaRPr>
          </a:p>
          <a:p>
            <a:pPr marL="408930" indent="-380990">
              <a:spcBef>
                <a:spcPts val="2880"/>
              </a:spcBef>
              <a:buClr>
                <a:srgbClr val="99D3FF"/>
              </a:buClr>
              <a:buFont typeface="Wingdings"/>
              <a:buChar char=""/>
              <a:tabLst>
                <a:tab pos="408930" algn="l"/>
              </a:tabLst>
            </a:pPr>
            <a:r>
              <a:rPr sz="2400" b="1" dirty="0">
                <a:solidFill>
                  <a:srgbClr val="D9D9D9"/>
                </a:solidFill>
                <a:latin typeface="Calibri"/>
                <a:cs typeface="Calibri"/>
              </a:rPr>
              <a:t>Reporting</a:t>
            </a:r>
            <a:r>
              <a:rPr sz="2400" b="1" spc="-33" dirty="0">
                <a:solidFill>
                  <a:srgbClr val="D9D9D9"/>
                </a:solidFill>
                <a:latin typeface="Calibri"/>
                <a:cs typeface="Calibri"/>
              </a:rPr>
              <a:t> </a:t>
            </a:r>
            <a:r>
              <a:rPr sz="2400" b="1" dirty="0">
                <a:solidFill>
                  <a:srgbClr val="D9D9D9"/>
                </a:solidFill>
                <a:latin typeface="Calibri"/>
                <a:cs typeface="Calibri"/>
              </a:rPr>
              <a:t>and</a:t>
            </a:r>
            <a:r>
              <a:rPr sz="2400" b="1" spc="-20" dirty="0">
                <a:solidFill>
                  <a:srgbClr val="D9D9D9"/>
                </a:solidFill>
                <a:latin typeface="Calibri"/>
                <a:cs typeface="Calibri"/>
              </a:rPr>
              <a:t> </a:t>
            </a:r>
            <a:r>
              <a:rPr sz="2400" b="1" dirty="0">
                <a:solidFill>
                  <a:srgbClr val="D9D9D9"/>
                </a:solidFill>
                <a:latin typeface="Calibri"/>
                <a:cs typeface="Calibri"/>
              </a:rPr>
              <a:t>data</a:t>
            </a:r>
            <a:r>
              <a:rPr sz="2400" b="1" spc="-67" dirty="0">
                <a:solidFill>
                  <a:srgbClr val="D9D9D9"/>
                </a:solidFill>
                <a:latin typeface="Calibri"/>
                <a:cs typeface="Calibri"/>
              </a:rPr>
              <a:t> </a:t>
            </a:r>
            <a:r>
              <a:rPr sz="2400" b="1" dirty="0">
                <a:solidFill>
                  <a:srgbClr val="D9D9D9"/>
                </a:solidFill>
                <a:latin typeface="Calibri"/>
                <a:cs typeface="Calibri"/>
              </a:rPr>
              <a:t>visualization</a:t>
            </a:r>
            <a:r>
              <a:rPr sz="2400" b="1" spc="-20" dirty="0">
                <a:solidFill>
                  <a:srgbClr val="D9D9D9"/>
                </a:solidFill>
                <a:latin typeface="Calibri"/>
                <a:cs typeface="Calibri"/>
              </a:rPr>
              <a:t> </a:t>
            </a:r>
            <a:r>
              <a:rPr sz="2400" b="1" dirty="0">
                <a:solidFill>
                  <a:srgbClr val="D9D9D9"/>
                </a:solidFill>
                <a:latin typeface="Calibri"/>
                <a:cs typeface="Calibri"/>
              </a:rPr>
              <a:t>built</a:t>
            </a:r>
            <a:r>
              <a:rPr sz="2400" b="1" spc="-67" dirty="0">
                <a:solidFill>
                  <a:srgbClr val="D9D9D9"/>
                </a:solidFill>
                <a:latin typeface="Calibri"/>
                <a:cs typeface="Calibri"/>
              </a:rPr>
              <a:t> </a:t>
            </a:r>
            <a:r>
              <a:rPr sz="2400" b="1" dirty="0">
                <a:solidFill>
                  <a:srgbClr val="D9D9D9"/>
                </a:solidFill>
                <a:latin typeface="Calibri"/>
                <a:cs typeface="Calibri"/>
              </a:rPr>
              <a:t>on</a:t>
            </a:r>
            <a:r>
              <a:rPr sz="2400" b="1" spc="-13" dirty="0">
                <a:solidFill>
                  <a:srgbClr val="D9D9D9"/>
                </a:solidFill>
                <a:latin typeface="Calibri"/>
                <a:cs typeface="Calibri"/>
              </a:rPr>
              <a:t> </a:t>
            </a:r>
            <a:r>
              <a:rPr sz="2400" b="1" spc="-33" dirty="0">
                <a:solidFill>
                  <a:srgbClr val="D9D9D9"/>
                </a:solidFill>
                <a:latin typeface="Calibri"/>
                <a:cs typeface="Calibri"/>
              </a:rPr>
              <a:t>top</a:t>
            </a:r>
            <a:endParaRPr sz="2400" dirty="0">
              <a:latin typeface="Calibri"/>
              <a:cs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94365" y="219404"/>
            <a:ext cx="8131784" cy="695062"/>
          </a:xfrm>
          <a:prstGeom prst="rect">
            <a:avLst/>
          </a:prstGeom>
        </p:spPr>
        <p:txBody>
          <a:bodyPr vert="horz" wrap="square" lIns="0" tIns="17780" rIns="0" bIns="0" rtlCol="0" anchor="ctr">
            <a:spAutoFit/>
          </a:bodyPr>
          <a:lstStyle/>
          <a:p>
            <a:pPr marL="16933">
              <a:lnSpc>
                <a:spcPct val="100000"/>
              </a:lnSpc>
              <a:spcBef>
                <a:spcPts val="140"/>
              </a:spcBef>
            </a:pPr>
            <a:r>
              <a:rPr sz="4300" dirty="0">
                <a:solidFill>
                  <a:schemeClr val="bg1"/>
                </a:solidFill>
                <a:latin typeface="+mn-lt"/>
              </a:rPr>
              <a:t>Understanding</a:t>
            </a:r>
            <a:r>
              <a:rPr sz="4300" spc="-40" dirty="0">
                <a:solidFill>
                  <a:schemeClr val="bg1"/>
                </a:solidFill>
                <a:latin typeface="+mn-lt"/>
              </a:rPr>
              <a:t> </a:t>
            </a:r>
            <a:r>
              <a:rPr sz="4300" dirty="0">
                <a:solidFill>
                  <a:schemeClr val="bg1"/>
                </a:solidFill>
                <a:latin typeface="+mn-lt"/>
              </a:rPr>
              <a:t>a</a:t>
            </a:r>
            <a:r>
              <a:rPr sz="4300" spc="-100" dirty="0">
                <a:solidFill>
                  <a:schemeClr val="bg1"/>
                </a:solidFill>
                <a:latin typeface="+mn-lt"/>
              </a:rPr>
              <a:t> </a:t>
            </a:r>
            <a:r>
              <a:rPr sz="4300" dirty="0">
                <a:solidFill>
                  <a:schemeClr val="bg1"/>
                </a:solidFill>
                <a:latin typeface="+mn-lt"/>
              </a:rPr>
              <a:t>data</a:t>
            </a:r>
            <a:r>
              <a:rPr sz="4300" spc="-80" dirty="0">
                <a:solidFill>
                  <a:schemeClr val="bg1"/>
                </a:solidFill>
                <a:latin typeface="+mn-lt"/>
              </a:rPr>
              <a:t> </a:t>
            </a:r>
            <a:r>
              <a:rPr sz="4300" spc="-13" dirty="0">
                <a:solidFill>
                  <a:schemeClr val="bg1"/>
                </a:solidFill>
                <a:latin typeface="+mn-lt"/>
              </a:rPr>
              <a:t>warehouse</a:t>
            </a:r>
          </a:p>
        </p:txBody>
      </p:sp>
      <p:sp>
        <p:nvSpPr>
          <p:cNvPr id="3" name="object 3"/>
          <p:cNvSpPr/>
          <p:nvPr/>
        </p:nvSpPr>
        <p:spPr>
          <a:xfrm>
            <a:off x="5578417" y="1682462"/>
            <a:ext cx="1040553" cy="1413087"/>
          </a:xfrm>
          <a:custGeom>
            <a:avLst/>
            <a:gdLst/>
            <a:ahLst/>
            <a:cxnLst/>
            <a:rect l="l" t="t" r="r" b="b"/>
            <a:pathLst>
              <a:path w="780414" h="1059814">
                <a:moveTo>
                  <a:pt x="780148" y="725068"/>
                </a:moveTo>
                <a:lnTo>
                  <a:pt x="773823" y="745045"/>
                </a:lnTo>
                <a:lnTo>
                  <a:pt x="755637" y="763892"/>
                </a:lnTo>
                <a:lnTo>
                  <a:pt x="726694" y="781253"/>
                </a:lnTo>
                <a:lnTo>
                  <a:pt x="696556" y="793419"/>
                </a:lnTo>
                <a:lnTo>
                  <a:pt x="696556" y="920267"/>
                </a:lnTo>
                <a:lnTo>
                  <a:pt x="694550" y="931684"/>
                </a:lnTo>
                <a:lnTo>
                  <a:pt x="688898" y="940485"/>
                </a:lnTo>
                <a:lnTo>
                  <a:pt x="680097" y="946150"/>
                </a:lnTo>
                <a:lnTo>
                  <a:pt x="668693" y="948156"/>
                </a:lnTo>
                <a:lnTo>
                  <a:pt x="657288" y="946150"/>
                </a:lnTo>
                <a:lnTo>
                  <a:pt x="648487" y="940485"/>
                </a:lnTo>
                <a:lnTo>
                  <a:pt x="642835" y="931684"/>
                </a:lnTo>
                <a:lnTo>
                  <a:pt x="640829" y="920267"/>
                </a:lnTo>
                <a:lnTo>
                  <a:pt x="642835" y="908850"/>
                </a:lnTo>
                <a:lnTo>
                  <a:pt x="648487" y="900049"/>
                </a:lnTo>
                <a:lnTo>
                  <a:pt x="657288" y="894384"/>
                </a:lnTo>
                <a:lnTo>
                  <a:pt x="668693" y="892390"/>
                </a:lnTo>
                <a:lnTo>
                  <a:pt x="680097" y="894384"/>
                </a:lnTo>
                <a:lnTo>
                  <a:pt x="688898" y="900049"/>
                </a:lnTo>
                <a:lnTo>
                  <a:pt x="694550" y="908850"/>
                </a:lnTo>
                <a:lnTo>
                  <a:pt x="696556" y="920267"/>
                </a:lnTo>
                <a:lnTo>
                  <a:pt x="696556" y="793419"/>
                </a:lnTo>
                <a:lnTo>
                  <a:pt x="641019" y="810298"/>
                </a:lnTo>
                <a:lnTo>
                  <a:pt x="586549" y="821321"/>
                </a:lnTo>
                <a:lnTo>
                  <a:pt x="525818" y="829602"/>
                </a:lnTo>
                <a:lnTo>
                  <a:pt x="459955" y="834809"/>
                </a:lnTo>
                <a:lnTo>
                  <a:pt x="390067" y="836612"/>
                </a:lnTo>
                <a:lnTo>
                  <a:pt x="320192" y="834809"/>
                </a:lnTo>
                <a:lnTo>
                  <a:pt x="254317" y="829602"/>
                </a:lnTo>
                <a:lnTo>
                  <a:pt x="193586" y="821321"/>
                </a:lnTo>
                <a:lnTo>
                  <a:pt x="139115" y="810298"/>
                </a:lnTo>
                <a:lnTo>
                  <a:pt x="92024" y="796823"/>
                </a:lnTo>
                <a:lnTo>
                  <a:pt x="53454" y="781253"/>
                </a:lnTo>
                <a:lnTo>
                  <a:pt x="6311" y="745045"/>
                </a:lnTo>
                <a:lnTo>
                  <a:pt x="0" y="725068"/>
                </a:lnTo>
                <a:lnTo>
                  <a:pt x="0" y="948156"/>
                </a:lnTo>
                <a:lnTo>
                  <a:pt x="24498" y="986980"/>
                </a:lnTo>
                <a:lnTo>
                  <a:pt x="92024" y="1019924"/>
                </a:lnTo>
                <a:lnTo>
                  <a:pt x="139115" y="1033386"/>
                </a:lnTo>
                <a:lnTo>
                  <a:pt x="193586" y="1044422"/>
                </a:lnTo>
                <a:lnTo>
                  <a:pt x="254317" y="1052690"/>
                </a:lnTo>
                <a:lnTo>
                  <a:pt x="320192" y="1057897"/>
                </a:lnTo>
                <a:lnTo>
                  <a:pt x="390067" y="1059700"/>
                </a:lnTo>
                <a:lnTo>
                  <a:pt x="459955" y="1057897"/>
                </a:lnTo>
                <a:lnTo>
                  <a:pt x="525818" y="1052690"/>
                </a:lnTo>
                <a:lnTo>
                  <a:pt x="586549" y="1044422"/>
                </a:lnTo>
                <a:lnTo>
                  <a:pt x="641019" y="1033386"/>
                </a:lnTo>
                <a:lnTo>
                  <a:pt x="688111" y="1019924"/>
                </a:lnTo>
                <a:lnTo>
                  <a:pt x="726694" y="1004341"/>
                </a:lnTo>
                <a:lnTo>
                  <a:pt x="773823" y="968146"/>
                </a:lnTo>
                <a:lnTo>
                  <a:pt x="780148" y="948156"/>
                </a:lnTo>
                <a:lnTo>
                  <a:pt x="780148" y="892390"/>
                </a:lnTo>
                <a:lnTo>
                  <a:pt x="780148" y="836612"/>
                </a:lnTo>
                <a:lnTo>
                  <a:pt x="780148" y="725068"/>
                </a:lnTo>
                <a:close/>
              </a:path>
              <a:path w="780414" h="1059814">
                <a:moveTo>
                  <a:pt x="780148" y="446201"/>
                </a:moveTo>
                <a:lnTo>
                  <a:pt x="773823" y="466191"/>
                </a:lnTo>
                <a:lnTo>
                  <a:pt x="755637" y="485025"/>
                </a:lnTo>
                <a:lnTo>
                  <a:pt x="726694" y="502386"/>
                </a:lnTo>
                <a:lnTo>
                  <a:pt x="696556" y="514565"/>
                </a:lnTo>
                <a:lnTo>
                  <a:pt x="696556" y="641413"/>
                </a:lnTo>
                <a:lnTo>
                  <a:pt x="694550" y="652818"/>
                </a:lnTo>
                <a:lnTo>
                  <a:pt x="688898" y="661631"/>
                </a:lnTo>
                <a:lnTo>
                  <a:pt x="680097" y="667296"/>
                </a:lnTo>
                <a:lnTo>
                  <a:pt x="668693" y="669290"/>
                </a:lnTo>
                <a:lnTo>
                  <a:pt x="657288" y="667296"/>
                </a:lnTo>
                <a:lnTo>
                  <a:pt x="648487" y="661631"/>
                </a:lnTo>
                <a:lnTo>
                  <a:pt x="642835" y="652818"/>
                </a:lnTo>
                <a:lnTo>
                  <a:pt x="640829" y="641413"/>
                </a:lnTo>
                <a:lnTo>
                  <a:pt x="642835" y="629996"/>
                </a:lnTo>
                <a:lnTo>
                  <a:pt x="648487" y="621195"/>
                </a:lnTo>
                <a:lnTo>
                  <a:pt x="657288" y="615530"/>
                </a:lnTo>
                <a:lnTo>
                  <a:pt x="668693" y="613524"/>
                </a:lnTo>
                <a:lnTo>
                  <a:pt x="680097" y="615530"/>
                </a:lnTo>
                <a:lnTo>
                  <a:pt x="688898" y="621195"/>
                </a:lnTo>
                <a:lnTo>
                  <a:pt x="694550" y="629996"/>
                </a:lnTo>
                <a:lnTo>
                  <a:pt x="696556" y="641413"/>
                </a:lnTo>
                <a:lnTo>
                  <a:pt x="696556" y="514565"/>
                </a:lnTo>
                <a:lnTo>
                  <a:pt x="641019" y="531431"/>
                </a:lnTo>
                <a:lnTo>
                  <a:pt x="586549" y="542467"/>
                </a:lnTo>
                <a:lnTo>
                  <a:pt x="525818" y="550735"/>
                </a:lnTo>
                <a:lnTo>
                  <a:pt x="459955" y="555942"/>
                </a:lnTo>
                <a:lnTo>
                  <a:pt x="390067" y="557745"/>
                </a:lnTo>
                <a:lnTo>
                  <a:pt x="320192" y="555942"/>
                </a:lnTo>
                <a:lnTo>
                  <a:pt x="254317" y="550735"/>
                </a:lnTo>
                <a:lnTo>
                  <a:pt x="193586" y="542467"/>
                </a:lnTo>
                <a:lnTo>
                  <a:pt x="139115" y="531431"/>
                </a:lnTo>
                <a:lnTo>
                  <a:pt x="92024" y="517969"/>
                </a:lnTo>
                <a:lnTo>
                  <a:pt x="53454" y="502386"/>
                </a:lnTo>
                <a:lnTo>
                  <a:pt x="6311" y="466191"/>
                </a:lnTo>
                <a:lnTo>
                  <a:pt x="0" y="446201"/>
                </a:lnTo>
                <a:lnTo>
                  <a:pt x="0" y="669290"/>
                </a:lnTo>
                <a:lnTo>
                  <a:pt x="24498" y="708113"/>
                </a:lnTo>
                <a:lnTo>
                  <a:pt x="92024" y="741057"/>
                </a:lnTo>
                <a:lnTo>
                  <a:pt x="139115" y="754519"/>
                </a:lnTo>
                <a:lnTo>
                  <a:pt x="193586" y="765556"/>
                </a:lnTo>
                <a:lnTo>
                  <a:pt x="254317" y="773836"/>
                </a:lnTo>
                <a:lnTo>
                  <a:pt x="320192" y="779030"/>
                </a:lnTo>
                <a:lnTo>
                  <a:pt x="390067" y="780834"/>
                </a:lnTo>
                <a:lnTo>
                  <a:pt x="459955" y="779030"/>
                </a:lnTo>
                <a:lnTo>
                  <a:pt x="525818" y="773836"/>
                </a:lnTo>
                <a:lnTo>
                  <a:pt x="586549" y="765556"/>
                </a:lnTo>
                <a:lnTo>
                  <a:pt x="641019" y="754519"/>
                </a:lnTo>
                <a:lnTo>
                  <a:pt x="688111" y="741057"/>
                </a:lnTo>
                <a:lnTo>
                  <a:pt x="726694" y="725474"/>
                </a:lnTo>
                <a:lnTo>
                  <a:pt x="773823" y="689279"/>
                </a:lnTo>
                <a:lnTo>
                  <a:pt x="780148" y="669290"/>
                </a:lnTo>
                <a:lnTo>
                  <a:pt x="780148" y="613524"/>
                </a:lnTo>
                <a:lnTo>
                  <a:pt x="780148" y="557745"/>
                </a:lnTo>
                <a:lnTo>
                  <a:pt x="780148" y="446201"/>
                </a:lnTo>
                <a:close/>
              </a:path>
              <a:path w="780414" h="1059814">
                <a:moveTo>
                  <a:pt x="780148" y="167335"/>
                </a:moveTo>
                <a:lnTo>
                  <a:pt x="773823" y="187325"/>
                </a:lnTo>
                <a:lnTo>
                  <a:pt x="755637" y="206159"/>
                </a:lnTo>
                <a:lnTo>
                  <a:pt x="726694" y="223520"/>
                </a:lnTo>
                <a:lnTo>
                  <a:pt x="696556" y="235699"/>
                </a:lnTo>
                <a:lnTo>
                  <a:pt x="696556" y="362546"/>
                </a:lnTo>
                <a:lnTo>
                  <a:pt x="694550" y="373964"/>
                </a:lnTo>
                <a:lnTo>
                  <a:pt x="688898" y="382765"/>
                </a:lnTo>
                <a:lnTo>
                  <a:pt x="680097" y="388429"/>
                </a:lnTo>
                <a:lnTo>
                  <a:pt x="668693" y="390436"/>
                </a:lnTo>
                <a:lnTo>
                  <a:pt x="657288" y="388429"/>
                </a:lnTo>
                <a:lnTo>
                  <a:pt x="648487" y="382765"/>
                </a:lnTo>
                <a:lnTo>
                  <a:pt x="642835" y="373964"/>
                </a:lnTo>
                <a:lnTo>
                  <a:pt x="640829" y="362546"/>
                </a:lnTo>
                <a:lnTo>
                  <a:pt x="642835" y="351129"/>
                </a:lnTo>
                <a:lnTo>
                  <a:pt x="648487" y="342328"/>
                </a:lnTo>
                <a:lnTo>
                  <a:pt x="657288" y="336664"/>
                </a:lnTo>
                <a:lnTo>
                  <a:pt x="668693" y="334657"/>
                </a:lnTo>
                <a:lnTo>
                  <a:pt x="680097" y="336664"/>
                </a:lnTo>
                <a:lnTo>
                  <a:pt x="688898" y="342328"/>
                </a:lnTo>
                <a:lnTo>
                  <a:pt x="694550" y="351129"/>
                </a:lnTo>
                <a:lnTo>
                  <a:pt x="696556" y="362546"/>
                </a:lnTo>
                <a:lnTo>
                  <a:pt x="696556" y="235699"/>
                </a:lnTo>
                <a:lnTo>
                  <a:pt x="641019" y="252564"/>
                </a:lnTo>
                <a:lnTo>
                  <a:pt x="586549" y="263601"/>
                </a:lnTo>
                <a:lnTo>
                  <a:pt x="525818" y="271881"/>
                </a:lnTo>
                <a:lnTo>
                  <a:pt x="459955" y="277075"/>
                </a:lnTo>
                <a:lnTo>
                  <a:pt x="390067" y="278879"/>
                </a:lnTo>
                <a:lnTo>
                  <a:pt x="320192" y="277075"/>
                </a:lnTo>
                <a:lnTo>
                  <a:pt x="254317" y="271881"/>
                </a:lnTo>
                <a:lnTo>
                  <a:pt x="193586" y="263601"/>
                </a:lnTo>
                <a:lnTo>
                  <a:pt x="139115" y="252564"/>
                </a:lnTo>
                <a:lnTo>
                  <a:pt x="92024" y="239102"/>
                </a:lnTo>
                <a:lnTo>
                  <a:pt x="53454" y="223520"/>
                </a:lnTo>
                <a:lnTo>
                  <a:pt x="6311" y="187325"/>
                </a:lnTo>
                <a:lnTo>
                  <a:pt x="0" y="167335"/>
                </a:lnTo>
                <a:lnTo>
                  <a:pt x="0" y="390436"/>
                </a:lnTo>
                <a:lnTo>
                  <a:pt x="24498" y="429247"/>
                </a:lnTo>
                <a:lnTo>
                  <a:pt x="92024" y="462191"/>
                </a:lnTo>
                <a:lnTo>
                  <a:pt x="139115" y="475653"/>
                </a:lnTo>
                <a:lnTo>
                  <a:pt x="193586" y="486689"/>
                </a:lnTo>
                <a:lnTo>
                  <a:pt x="254317" y="494969"/>
                </a:lnTo>
                <a:lnTo>
                  <a:pt x="320192" y="500176"/>
                </a:lnTo>
                <a:lnTo>
                  <a:pt x="390067" y="501980"/>
                </a:lnTo>
                <a:lnTo>
                  <a:pt x="459955" y="500176"/>
                </a:lnTo>
                <a:lnTo>
                  <a:pt x="525818" y="494969"/>
                </a:lnTo>
                <a:lnTo>
                  <a:pt x="586549" y="486689"/>
                </a:lnTo>
                <a:lnTo>
                  <a:pt x="641019" y="475653"/>
                </a:lnTo>
                <a:lnTo>
                  <a:pt x="688111" y="462191"/>
                </a:lnTo>
                <a:lnTo>
                  <a:pt x="726694" y="446620"/>
                </a:lnTo>
                <a:lnTo>
                  <a:pt x="773823" y="410413"/>
                </a:lnTo>
                <a:lnTo>
                  <a:pt x="780148" y="390436"/>
                </a:lnTo>
                <a:lnTo>
                  <a:pt x="780148" y="334657"/>
                </a:lnTo>
                <a:lnTo>
                  <a:pt x="780148" y="278879"/>
                </a:lnTo>
                <a:lnTo>
                  <a:pt x="780148" y="167335"/>
                </a:lnTo>
                <a:close/>
              </a:path>
              <a:path w="780414" h="1059814">
                <a:moveTo>
                  <a:pt x="780148" y="111569"/>
                </a:moveTo>
                <a:lnTo>
                  <a:pt x="755738" y="72644"/>
                </a:lnTo>
                <a:lnTo>
                  <a:pt x="688403" y="39687"/>
                </a:lnTo>
                <a:lnTo>
                  <a:pt x="641388" y="26238"/>
                </a:lnTo>
                <a:lnTo>
                  <a:pt x="586943" y="15240"/>
                </a:lnTo>
                <a:lnTo>
                  <a:pt x="526173" y="6985"/>
                </a:lnTo>
                <a:lnTo>
                  <a:pt x="460184" y="1790"/>
                </a:lnTo>
                <a:lnTo>
                  <a:pt x="390067" y="0"/>
                </a:lnTo>
                <a:lnTo>
                  <a:pt x="319951" y="1790"/>
                </a:lnTo>
                <a:lnTo>
                  <a:pt x="253961" y="6985"/>
                </a:lnTo>
                <a:lnTo>
                  <a:pt x="193192" y="15240"/>
                </a:lnTo>
                <a:lnTo>
                  <a:pt x="138747" y="26238"/>
                </a:lnTo>
                <a:lnTo>
                  <a:pt x="91732" y="39687"/>
                </a:lnTo>
                <a:lnTo>
                  <a:pt x="53251" y="55257"/>
                </a:lnTo>
                <a:lnTo>
                  <a:pt x="6273" y="91516"/>
                </a:lnTo>
                <a:lnTo>
                  <a:pt x="0" y="111569"/>
                </a:lnTo>
                <a:lnTo>
                  <a:pt x="6273" y="131622"/>
                </a:lnTo>
                <a:lnTo>
                  <a:pt x="53251" y="167868"/>
                </a:lnTo>
                <a:lnTo>
                  <a:pt x="91732" y="183438"/>
                </a:lnTo>
                <a:lnTo>
                  <a:pt x="138747" y="196875"/>
                </a:lnTo>
                <a:lnTo>
                  <a:pt x="193192" y="207886"/>
                </a:lnTo>
                <a:lnTo>
                  <a:pt x="253961" y="216128"/>
                </a:lnTo>
                <a:lnTo>
                  <a:pt x="319951" y="221310"/>
                </a:lnTo>
                <a:lnTo>
                  <a:pt x="390067" y="223113"/>
                </a:lnTo>
                <a:lnTo>
                  <a:pt x="460184" y="221310"/>
                </a:lnTo>
                <a:lnTo>
                  <a:pt x="526173" y="216128"/>
                </a:lnTo>
                <a:lnTo>
                  <a:pt x="586943" y="207886"/>
                </a:lnTo>
                <a:lnTo>
                  <a:pt x="641388" y="196875"/>
                </a:lnTo>
                <a:lnTo>
                  <a:pt x="688403" y="183438"/>
                </a:lnTo>
                <a:lnTo>
                  <a:pt x="726884" y="167868"/>
                </a:lnTo>
                <a:lnTo>
                  <a:pt x="773861" y="131622"/>
                </a:lnTo>
                <a:lnTo>
                  <a:pt x="780148" y="111569"/>
                </a:lnTo>
                <a:close/>
              </a:path>
            </a:pathLst>
          </a:custGeom>
          <a:solidFill>
            <a:srgbClr val="006EBE"/>
          </a:solidFill>
        </p:spPr>
        <p:txBody>
          <a:bodyPr wrap="square" lIns="0" tIns="0" rIns="0" bIns="0" rtlCol="0"/>
          <a:lstStyle/>
          <a:p>
            <a:endParaRPr sz="2400"/>
          </a:p>
        </p:txBody>
      </p:sp>
      <p:pic>
        <p:nvPicPr>
          <p:cNvPr id="4" name="object 4"/>
          <p:cNvPicPr/>
          <p:nvPr/>
        </p:nvPicPr>
        <p:blipFill>
          <a:blip r:embed="rId2" cstate="print"/>
          <a:stretch>
            <a:fillRect/>
          </a:stretch>
        </p:blipFill>
        <p:spPr>
          <a:xfrm>
            <a:off x="3657600" y="3570223"/>
            <a:ext cx="5791200" cy="1351280"/>
          </a:xfrm>
          <a:prstGeom prst="rect">
            <a:avLst/>
          </a:prstGeom>
        </p:spPr>
      </p:pic>
      <p:sp>
        <p:nvSpPr>
          <p:cNvPr id="5" name="object 5"/>
          <p:cNvSpPr txBox="1"/>
          <p:nvPr/>
        </p:nvSpPr>
        <p:spPr>
          <a:xfrm>
            <a:off x="3566330" y="4968375"/>
            <a:ext cx="1043940" cy="838819"/>
          </a:xfrm>
          <a:prstGeom prst="rect">
            <a:avLst/>
          </a:prstGeom>
        </p:spPr>
        <p:txBody>
          <a:bodyPr vert="horz" wrap="square" lIns="0" tIns="17780" rIns="0" bIns="0" rtlCol="0">
            <a:spAutoFit/>
          </a:bodyPr>
          <a:lstStyle/>
          <a:p>
            <a:pPr algn="ctr">
              <a:spcBef>
                <a:spcPts val="140"/>
              </a:spcBef>
            </a:pPr>
            <a:r>
              <a:rPr sz="2667" spc="-13" dirty="0">
                <a:solidFill>
                  <a:srgbClr val="FFFFFF"/>
                </a:solidFill>
                <a:latin typeface="Calibri"/>
                <a:cs typeface="Calibri"/>
              </a:rPr>
              <a:t>Staging</a:t>
            </a:r>
            <a:endParaRPr sz="2667" dirty="0">
              <a:latin typeface="Calibri"/>
              <a:cs typeface="Calibri"/>
            </a:endParaRPr>
          </a:p>
          <a:p>
            <a:pPr marL="73657" algn="ctr">
              <a:spcBef>
                <a:spcPts val="20"/>
              </a:spcBef>
            </a:pPr>
            <a:r>
              <a:rPr sz="2667" spc="-27" dirty="0">
                <a:solidFill>
                  <a:srgbClr val="FFFFFF"/>
                </a:solidFill>
                <a:latin typeface="Calibri"/>
                <a:cs typeface="Calibri"/>
              </a:rPr>
              <a:t>area</a:t>
            </a:r>
            <a:endParaRPr sz="2667" dirty="0">
              <a:latin typeface="Calibri"/>
              <a:cs typeface="Calibri"/>
            </a:endParaRPr>
          </a:p>
        </p:txBody>
      </p:sp>
      <p:sp>
        <p:nvSpPr>
          <p:cNvPr id="6" name="object 6"/>
          <p:cNvSpPr txBox="1"/>
          <p:nvPr/>
        </p:nvSpPr>
        <p:spPr>
          <a:xfrm>
            <a:off x="4877815" y="4968375"/>
            <a:ext cx="2171700" cy="838819"/>
          </a:xfrm>
          <a:prstGeom prst="rect">
            <a:avLst/>
          </a:prstGeom>
        </p:spPr>
        <p:txBody>
          <a:bodyPr vert="horz" wrap="square" lIns="0" tIns="17780" rIns="0" bIns="0" rtlCol="0">
            <a:spAutoFit/>
          </a:bodyPr>
          <a:lstStyle/>
          <a:p>
            <a:pPr marR="64345" algn="ctr">
              <a:spcBef>
                <a:spcPts val="140"/>
              </a:spcBef>
            </a:pPr>
            <a:r>
              <a:rPr sz="2667" spc="-27" dirty="0">
                <a:solidFill>
                  <a:srgbClr val="FFFFFF"/>
                </a:solidFill>
                <a:latin typeface="Calibri"/>
                <a:cs typeface="Calibri"/>
              </a:rPr>
              <a:t>Data</a:t>
            </a:r>
            <a:endParaRPr sz="2667">
              <a:latin typeface="Calibri"/>
              <a:cs typeface="Calibri"/>
            </a:endParaRPr>
          </a:p>
          <a:p>
            <a:pPr algn="ctr">
              <a:spcBef>
                <a:spcPts val="20"/>
              </a:spcBef>
            </a:pPr>
            <a:r>
              <a:rPr sz="2667" spc="-13" dirty="0">
                <a:solidFill>
                  <a:srgbClr val="FFFFFF"/>
                </a:solidFill>
                <a:latin typeface="Calibri"/>
                <a:cs typeface="Calibri"/>
              </a:rPr>
              <a:t>Transformation</a:t>
            </a:r>
            <a:endParaRPr sz="2667">
              <a:latin typeface="Calibri"/>
              <a:cs typeface="Calibri"/>
            </a:endParaRPr>
          </a:p>
        </p:txBody>
      </p:sp>
      <p:sp>
        <p:nvSpPr>
          <p:cNvPr id="7" name="object 7"/>
          <p:cNvSpPr/>
          <p:nvPr/>
        </p:nvSpPr>
        <p:spPr>
          <a:xfrm>
            <a:off x="774869" y="2643395"/>
            <a:ext cx="689187" cy="936413"/>
          </a:xfrm>
          <a:custGeom>
            <a:avLst/>
            <a:gdLst/>
            <a:ahLst/>
            <a:cxnLst/>
            <a:rect l="l" t="t" r="r" b="b"/>
            <a:pathLst>
              <a:path w="516890" h="702310">
                <a:moveTo>
                  <a:pt x="516585" y="480110"/>
                </a:moveTo>
                <a:lnTo>
                  <a:pt x="507314" y="499681"/>
                </a:lnTo>
                <a:lnTo>
                  <a:pt x="481190" y="517309"/>
                </a:lnTo>
                <a:lnTo>
                  <a:pt x="461238" y="524687"/>
                </a:lnTo>
                <a:lnTo>
                  <a:pt x="461238" y="609371"/>
                </a:lnTo>
                <a:lnTo>
                  <a:pt x="459905" y="616927"/>
                </a:lnTo>
                <a:lnTo>
                  <a:pt x="456158" y="622757"/>
                </a:lnTo>
                <a:lnTo>
                  <a:pt x="450342" y="626503"/>
                </a:lnTo>
                <a:lnTo>
                  <a:pt x="442785" y="627837"/>
                </a:lnTo>
                <a:lnTo>
                  <a:pt x="435229" y="626503"/>
                </a:lnTo>
                <a:lnTo>
                  <a:pt x="429412" y="622757"/>
                </a:lnTo>
                <a:lnTo>
                  <a:pt x="425665" y="616927"/>
                </a:lnTo>
                <a:lnTo>
                  <a:pt x="424332" y="609371"/>
                </a:lnTo>
                <a:lnTo>
                  <a:pt x="425665" y="601802"/>
                </a:lnTo>
                <a:lnTo>
                  <a:pt x="429412" y="595985"/>
                </a:lnTo>
                <a:lnTo>
                  <a:pt x="435229" y="592226"/>
                </a:lnTo>
                <a:lnTo>
                  <a:pt x="442785" y="590905"/>
                </a:lnTo>
                <a:lnTo>
                  <a:pt x="450342" y="592226"/>
                </a:lnTo>
                <a:lnTo>
                  <a:pt x="456158" y="595985"/>
                </a:lnTo>
                <a:lnTo>
                  <a:pt x="459905" y="601802"/>
                </a:lnTo>
                <a:lnTo>
                  <a:pt x="461238" y="609371"/>
                </a:lnTo>
                <a:lnTo>
                  <a:pt x="461238" y="524687"/>
                </a:lnTo>
                <a:lnTo>
                  <a:pt x="440715" y="532269"/>
                </a:lnTo>
                <a:lnTo>
                  <a:pt x="388391" y="543852"/>
                </a:lnTo>
                <a:lnTo>
                  <a:pt x="326745" y="551319"/>
                </a:lnTo>
                <a:lnTo>
                  <a:pt x="258292" y="553974"/>
                </a:lnTo>
                <a:lnTo>
                  <a:pt x="189826" y="551319"/>
                </a:lnTo>
                <a:lnTo>
                  <a:pt x="128193" y="543852"/>
                </a:lnTo>
                <a:lnTo>
                  <a:pt x="75869" y="532269"/>
                </a:lnTo>
                <a:lnTo>
                  <a:pt x="35394" y="517309"/>
                </a:lnTo>
                <a:lnTo>
                  <a:pt x="0" y="480110"/>
                </a:lnTo>
                <a:lnTo>
                  <a:pt x="0" y="627837"/>
                </a:lnTo>
                <a:lnTo>
                  <a:pt x="35394" y="665035"/>
                </a:lnTo>
                <a:lnTo>
                  <a:pt x="75869" y="679996"/>
                </a:lnTo>
                <a:lnTo>
                  <a:pt x="128193" y="691565"/>
                </a:lnTo>
                <a:lnTo>
                  <a:pt x="189826" y="699046"/>
                </a:lnTo>
                <a:lnTo>
                  <a:pt x="258292" y="701687"/>
                </a:lnTo>
                <a:lnTo>
                  <a:pt x="326745" y="699046"/>
                </a:lnTo>
                <a:lnTo>
                  <a:pt x="388391" y="691565"/>
                </a:lnTo>
                <a:lnTo>
                  <a:pt x="440715" y="679996"/>
                </a:lnTo>
                <a:lnTo>
                  <a:pt x="481190" y="665035"/>
                </a:lnTo>
                <a:lnTo>
                  <a:pt x="516585" y="627837"/>
                </a:lnTo>
                <a:lnTo>
                  <a:pt x="516585" y="590905"/>
                </a:lnTo>
                <a:lnTo>
                  <a:pt x="516585" y="553974"/>
                </a:lnTo>
                <a:lnTo>
                  <a:pt x="516585" y="480110"/>
                </a:lnTo>
                <a:close/>
              </a:path>
              <a:path w="516890" h="702310">
                <a:moveTo>
                  <a:pt x="516585" y="295452"/>
                </a:moveTo>
                <a:lnTo>
                  <a:pt x="507314" y="315036"/>
                </a:lnTo>
                <a:lnTo>
                  <a:pt x="481190" y="332663"/>
                </a:lnTo>
                <a:lnTo>
                  <a:pt x="461238" y="340042"/>
                </a:lnTo>
                <a:lnTo>
                  <a:pt x="461238" y="424713"/>
                </a:lnTo>
                <a:lnTo>
                  <a:pt x="459905" y="432269"/>
                </a:lnTo>
                <a:lnTo>
                  <a:pt x="456158" y="438099"/>
                </a:lnTo>
                <a:lnTo>
                  <a:pt x="450342" y="441858"/>
                </a:lnTo>
                <a:lnTo>
                  <a:pt x="442785" y="443179"/>
                </a:lnTo>
                <a:lnTo>
                  <a:pt x="435229" y="441858"/>
                </a:lnTo>
                <a:lnTo>
                  <a:pt x="429412" y="438099"/>
                </a:lnTo>
                <a:lnTo>
                  <a:pt x="425665" y="432269"/>
                </a:lnTo>
                <a:lnTo>
                  <a:pt x="424332" y="424713"/>
                </a:lnTo>
                <a:lnTo>
                  <a:pt x="425665" y="417156"/>
                </a:lnTo>
                <a:lnTo>
                  <a:pt x="429412" y="411327"/>
                </a:lnTo>
                <a:lnTo>
                  <a:pt x="435229" y="407581"/>
                </a:lnTo>
                <a:lnTo>
                  <a:pt x="442785" y="406247"/>
                </a:lnTo>
                <a:lnTo>
                  <a:pt x="450342" y="407581"/>
                </a:lnTo>
                <a:lnTo>
                  <a:pt x="456158" y="411327"/>
                </a:lnTo>
                <a:lnTo>
                  <a:pt x="459905" y="417156"/>
                </a:lnTo>
                <a:lnTo>
                  <a:pt x="461238" y="424713"/>
                </a:lnTo>
                <a:lnTo>
                  <a:pt x="461238" y="340042"/>
                </a:lnTo>
                <a:lnTo>
                  <a:pt x="440715" y="347624"/>
                </a:lnTo>
                <a:lnTo>
                  <a:pt x="388391" y="359194"/>
                </a:lnTo>
                <a:lnTo>
                  <a:pt x="326745" y="366674"/>
                </a:lnTo>
                <a:lnTo>
                  <a:pt x="258292" y="369316"/>
                </a:lnTo>
                <a:lnTo>
                  <a:pt x="189826" y="366674"/>
                </a:lnTo>
                <a:lnTo>
                  <a:pt x="128193" y="359194"/>
                </a:lnTo>
                <a:lnTo>
                  <a:pt x="75869" y="347624"/>
                </a:lnTo>
                <a:lnTo>
                  <a:pt x="35394" y="332663"/>
                </a:lnTo>
                <a:lnTo>
                  <a:pt x="0" y="295452"/>
                </a:lnTo>
                <a:lnTo>
                  <a:pt x="0" y="443179"/>
                </a:lnTo>
                <a:lnTo>
                  <a:pt x="35394" y="480390"/>
                </a:lnTo>
                <a:lnTo>
                  <a:pt x="75869" y="495338"/>
                </a:lnTo>
                <a:lnTo>
                  <a:pt x="128193" y="506920"/>
                </a:lnTo>
                <a:lnTo>
                  <a:pt x="189826" y="514388"/>
                </a:lnTo>
                <a:lnTo>
                  <a:pt x="258292" y="517042"/>
                </a:lnTo>
                <a:lnTo>
                  <a:pt x="326745" y="514388"/>
                </a:lnTo>
                <a:lnTo>
                  <a:pt x="388391" y="506920"/>
                </a:lnTo>
                <a:lnTo>
                  <a:pt x="440715" y="495338"/>
                </a:lnTo>
                <a:lnTo>
                  <a:pt x="481190" y="480390"/>
                </a:lnTo>
                <a:lnTo>
                  <a:pt x="516585" y="443179"/>
                </a:lnTo>
                <a:lnTo>
                  <a:pt x="516585" y="406247"/>
                </a:lnTo>
                <a:lnTo>
                  <a:pt x="516585" y="369316"/>
                </a:lnTo>
                <a:lnTo>
                  <a:pt x="516585" y="295452"/>
                </a:lnTo>
                <a:close/>
              </a:path>
              <a:path w="516890" h="702310">
                <a:moveTo>
                  <a:pt x="516585" y="110807"/>
                </a:moveTo>
                <a:lnTo>
                  <a:pt x="507314" y="130378"/>
                </a:lnTo>
                <a:lnTo>
                  <a:pt x="481190" y="148005"/>
                </a:lnTo>
                <a:lnTo>
                  <a:pt x="461238" y="155384"/>
                </a:lnTo>
                <a:lnTo>
                  <a:pt x="461238" y="240055"/>
                </a:lnTo>
                <a:lnTo>
                  <a:pt x="459905" y="247624"/>
                </a:lnTo>
                <a:lnTo>
                  <a:pt x="456158" y="253453"/>
                </a:lnTo>
                <a:lnTo>
                  <a:pt x="450342" y="257200"/>
                </a:lnTo>
                <a:lnTo>
                  <a:pt x="442785" y="258521"/>
                </a:lnTo>
                <a:lnTo>
                  <a:pt x="435229" y="257200"/>
                </a:lnTo>
                <a:lnTo>
                  <a:pt x="429412" y="253453"/>
                </a:lnTo>
                <a:lnTo>
                  <a:pt x="425665" y="247624"/>
                </a:lnTo>
                <a:lnTo>
                  <a:pt x="424332" y="240055"/>
                </a:lnTo>
                <a:lnTo>
                  <a:pt x="425665" y="232498"/>
                </a:lnTo>
                <a:lnTo>
                  <a:pt x="429412" y="226669"/>
                </a:lnTo>
                <a:lnTo>
                  <a:pt x="435229" y="222923"/>
                </a:lnTo>
                <a:lnTo>
                  <a:pt x="442785" y="221602"/>
                </a:lnTo>
                <a:lnTo>
                  <a:pt x="450342" y="222923"/>
                </a:lnTo>
                <a:lnTo>
                  <a:pt x="456158" y="226669"/>
                </a:lnTo>
                <a:lnTo>
                  <a:pt x="459905" y="232498"/>
                </a:lnTo>
                <a:lnTo>
                  <a:pt x="461238" y="240055"/>
                </a:lnTo>
                <a:lnTo>
                  <a:pt x="461238" y="155384"/>
                </a:lnTo>
                <a:lnTo>
                  <a:pt x="440715" y="162966"/>
                </a:lnTo>
                <a:lnTo>
                  <a:pt x="388391" y="174548"/>
                </a:lnTo>
                <a:lnTo>
                  <a:pt x="326745" y="182016"/>
                </a:lnTo>
                <a:lnTo>
                  <a:pt x="258292" y="184670"/>
                </a:lnTo>
                <a:lnTo>
                  <a:pt x="189826" y="182016"/>
                </a:lnTo>
                <a:lnTo>
                  <a:pt x="128193" y="174548"/>
                </a:lnTo>
                <a:lnTo>
                  <a:pt x="75869" y="162966"/>
                </a:lnTo>
                <a:lnTo>
                  <a:pt x="35394" y="148005"/>
                </a:lnTo>
                <a:lnTo>
                  <a:pt x="0" y="110807"/>
                </a:lnTo>
                <a:lnTo>
                  <a:pt x="0" y="258521"/>
                </a:lnTo>
                <a:lnTo>
                  <a:pt x="35394" y="295732"/>
                </a:lnTo>
                <a:lnTo>
                  <a:pt x="75869" y="310692"/>
                </a:lnTo>
                <a:lnTo>
                  <a:pt x="128193" y="322262"/>
                </a:lnTo>
                <a:lnTo>
                  <a:pt x="189826" y="329742"/>
                </a:lnTo>
                <a:lnTo>
                  <a:pt x="258292" y="332384"/>
                </a:lnTo>
                <a:lnTo>
                  <a:pt x="326745" y="329742"/>
                </a:lnTo>
                <a:lnTo>
                  <a:pt x="388391" y="322262"/>
                </a:lnTo>
                <a:lnTo>
                  <a:pt x="440715" y="310692"/>
                </a:lnTo>
                <a:lnTo>
                  <a:pt x="481190" y="295732"/>
                </a:lnTo>
                <a:lnTo>
                  <a:pt x="516585" y="258521"/>
                </a:lnTo>
                <a:lnTo>
                  <a:pt x="516585" y="221602"/>
                </a:lnTo>
                <a:lnTo>
                  <a:pt x="516585" y="184670"/>
                </a:lnTo>
                <a:lnTo>
                  <a:pt x="516585" y="110807"/>
                </a:lnTo>
                <a:close/>
              </a:path>
              <a:path w="516890" h="702310">
                <a:moveTo>
                  <a:pt x="516585" y="73875"/>
                </a:moveTo>
                <a:lnTo>
                  <a:pt x="481317" y="36588"/>
                </a:lnTo>
                <a:lnTo>
                  <a:pt x="440931" y="21640"/>
                </a:lnTo>
                <a:lnTo>
                  <a:pt x="388658" y="10083"/>
                </a:lnTo>
                <a:lnTo>
                  <a:pt x="326961" y="2641"/>
                </a:lnTo>
                <a:lnTo>
                  <a:pt x="258292" y="0"/>
                </a:lnTo>
                <a:lnTo>
                  <a:pt x="189623" y="2641"/>
                </a:lnTo>
                <a:lnTo>
                  <a:pt x="127927" y="10083"/>
                </a:lnTo>
                <a:lnTo>
                  <a:pt x="75653" y="21640"/>
                </a:lnTo>
                <a:lnTo>
                  <a:pt x="35267" y="36588"/>
                </a:lnTo>
                <a:lnTo>
                  <a:pt x="0" y="73875"/>
                </a:lnTo>
                <a:lnTo>
                  <a:pt x="9220" y="93510"/>
                </a:lnTo>
                <a:lnTo>
                  <a:pt x="75653" y="126098"/>
                </a:lnTo>
                <a:lnTo>
                  <a:pt x="127927" y="137655"/>
                </a:lnTo>
                <a:lnTo>
                  <a:pt x="189623" y="145097"/>
                </a:lnTo>
                <a:lnTo>
                  <a:pt x="258292" y="147739"/>
                </a:lnTo>
                <a:lnTo>
                  <a:pt x="326961" y="145097"/>
                </a:lnTo>
                <a:lnTo>
                  <a:pt x="388658" y="137655"/>
                </a:lnTo>
                <a:lnTo>
                  <a:pt x="440931" y="126098"/>
                </a:lnTo>
                <a:lnTo>
                  <a:pt x="481317" y="111150"/>
                </a:lnTo>
                <a:lnTo>
                  <a:pt x="516585" y="73875"/>
                </a:lnTo>
                <a:close/>
              </a:path>
            </a:pathLst>
          </a:custGeom>
          <a:solidFill>
            <a:srgbClr val="006EBE"/>
          </a:solidFill>
        </p:spPr>
        <p:txBody>
          <a:bodyPr wrap="square" lIns="0" tIns="0" rIns="0" bIns="0" rtlCol="0"/>
          <a:lstStyle/>
          <a:p>
            <a:endParaRPr sz="2400"/>
          </a:p>
        </p:txBody>
      </p:sp>
      <p:sp>
        <p:nvSpPr>
          <p:cNvPr id="8" name="object 8"/>
          <p:cNvSpPr/>
          <p:nvPr/>
        </p:nvSpPr>
        <p:spPr>
          <a:xfrm>
            <a:off x="774869" y="4256803"/>
            <a:ext cx="689187" cy="936413"/>
          </a:xfrm>
          <a:custGeom>
            <a:avLst/>
            <a:gdLst/>
            <a:ahLst/>
            <a:cxnLst/>
            <a:rect l="l" t="t" r="r" b="b"/>
            <a:pathLst>
              <a:path w="516890" h="702310">
                <a:moveTo>
                  <a:pt x="516585" y="480110"/>
                </a:moveTo>
                <a:lnTo>
                  <a:pt x="507314" y="499681"/>
                </a:lnTo>
                <a:lnTo>
                  <a:pt x="481190" y="517309"/>
                </a:lnTo>
                <a:lnTo>
                  <a:pt x="461238" y="524687"/>
                </a:lnTo>
                <a:lnTo>
                  <a:pt x="461238" y="609371"/>
                </a:lnTo>
                <a:lnTo>
                  <a:pt x="459905" y="616927"/>
                </a:lnTo>
                <a:lnTo>
                  <a:pt x="456158" y="622757"/>
                </a:lnTo>
                <a:lnTo>
                  <a:pt x="450342" y="626503"/>
                </a:lnTo>
                <a:lnTo>
                  <a:pt x="442785" y="627837"/>
                </a:lnTo>
                <a:lnTo>
                  <a:pt x="435229" y="626503"/>
                </a:lnTo>
                <a:lnTo>
                  <a:pt x="429412" y="622757"/>
                </a:lnTo>
                <a:lnTo>
                  <a:pt x="425665" y="616927"/>
                </a:lnTo>
                <a:lnTo>
                  <a:pt x="424332" y="609371"/>
                </a:lnTo>
                <a:lnTo>
                  <a:pt x="425665" y="601802"/>
                </a:lnTo>
                <a:lnTo>
                  <a:pt x="429412" y="595985"/>
                </a:lnTo>
                <a:lnTo>
                  <a:pt x="435229" y="592226"/>
                </a:lnTo>
                <a:lnTo>
                  <a:pt x="442785" y="590905"/>
                </a:lnTo>
                <a:lnTo>
                  <a:pt x="450342" y="592226"/>
                </a:lnTo>
                <a:lnTo>
                  <a:pt x="456158" y="595985"/>
                </a:lnTo>
                <a:lnTo>
                  <a:pt x="459905" y="601802"/>
                </a:lnTo>
                <a:lnTo>
                  <a:pt x="461238" y="609371"/>
                </a:lnTo>
                <a:lnTo>
                  <a:pt x="461238" y="524687"/>
                </a:lnTo>
                <a:lnTo>
                  <a:pt x="440715" y="532269"/>
                </a:lnTo>
                <a:lnTo>
                  <a:pt x="388391" y="543852"/>
                </a:lnTo>
                <a:lnTo>
                  <a:pt x="326745" y="551319"/>
                </a:lnTo>
                <a:lnTo>
                  <a:pt x="258292" y="553974"/>
                </a:lnTo>
                <a:lnTo>
                  <a:pt x="189826" y="551319"/>
                </a:lnTo>
                <a:lnTo>
                  <a:pt x="128193" y="543852"/>
                </a:lnTo>
                <a:lnTo>
                  <a:pt x="75869" y="532269"/>
                </a:lnTo>
                <a:lnTo>
                  <a:pt x="35394" y="517309"/>
                </a:lnTo>
                <a:lnTo>
                  <a:pt x="0" y="480110"/>
                </a:lnTo>
                <a:lnTo>
                  <a:pt x="0" y="627837"/>
                </a:lnTo>
                <a:lnTo>
                  <a:pt x="35394" y="665035"/>
                </a:lnTo>
                <a:lnTo>
                  <a:pt x="75869" y="679996"/>
                </a:lnTo>
                <a:lnTo>
                  <a:pt x="128193" y="691565"/>
                </a:lnTo>
                <a:lnTo>
                  <a:pt x="189826" y="699046"/>
                </a:lnTo>
                <a:lnTo>
                  <a:pt x="258292" y="701687"/>
                </a:lnTo>
                <a:lnTo>
                  <a:pt x="326745" y="699046"/>
                </a:lnTo>
                <a:lnTo>
                  <a:pt x="388391" y="691565"/>
                </a:lnTo>
                <a:lnTo>
                  <a:pt x="440715" y="679996"/>
                </a:lnTo>
                <a:lnTo>
                  <a:pt x="481190" y="665035"/>
                </a:lnTo>
                <a:lnTo>
                  <a:pt x="516585" y="627837"/>
                </a:lnTo>
                <a:lnTo>
                  <a:pt x="516585" y="590905"/>
                </a:lnTo>
                <a:lnTo>
                  <a:pt x="516585" y="553974"/>
                </a:lnTo>
                <a:lnTo>
                  <a:pt x="516585" y="480110"/>
                </a:lnTo>
                <a:close/>
              </a:path>
              <a:path w="516890" h="702310">
                <a:moveTo>
                  <a:pt x="516585" y="295452"/>
                </a:moveTo>
                <a:lnTo>
                  <a:pt x="507314" y="315036"/>
                </a:lnTo>
                <a:lnTo>
                  <a:pt x="481190" y="332663"/>
                </a:lnTo>
                <a:lnTo>
                  <a:pt x="461238" y="340042"/>
                </a:lnTo>
                <a:lnTo>
                  <a:pt x="461238" y="424713"/>
                </a:lnTo>
                <a:lnTo>
                  <a:pt x="459905" y="432269"/>
                </a:lnTo>
                <a:lnTo>
                  <a:pt x="456158" y="438099"/>
                </a:lnTo>
                <a:lnTo>
                  <a:pt x="450342" y="441858"/>
                </a:lnTo>
                <a:lnTo>
                  <a:pt x="442785" y="443179"/>
                </a:lnTo>
                <a:lnTo>
                  <a:pt x="435229" y="441858"/>
                </a:lnTo>
                <a:lnTo>
                  <a:pt x="429412" y="438099"/>
                </a:lnTo>
                <a:lnTo>
                  <a:pt x="425665" y="432269"/>
                </a:lnTo>
                <a:lnTo>
                  <a:pt x="424332" y="424713"/>
                </a:lnTo>
                <a:lnTo>
                  <a:pt x="425665" y="417156"/>
                </a:lnTo>
                <a:lnTo>
                  <a:pt x="429412" y="411327"/>
                </a:lnTo>
                <a:lnTo>
                  <a:pt x="435229" y="407581"/>
                </a:lnTo>
                <a:lnTo>
                  <a:pt x="442785" y="406247"/>
                </a:lnTo>
                <a:lnTo>
                  <a:pt x="450342" y="407581"/>
                </a:lnTo>
                <a:lnTo>
                  <a:pt x="456158" y="411327"/>
                </a:lnTo>
                <a:lnTo>
                  <a:pt x="459905" y="417156"/>
                </a:lnTo>
                <a:lnTo>
                  <a:pt x="461238" y="424713"/>
                </a:lnTo>
                <a:lnTo>
                  <a:pt x="461238" y="340042"/>
                </a:lnTo>
                <a:lnTo>
                  <a:pt x="440715" y="347624"/>
                </a:lnTo>
                <a:lnTo>
                  <a:pt x="388391" y="359194"/>
                </a:lnTo>
                <a:lnTo>
                  <a:pt x="326745" y="366674"/>
                </a:lnTo>
                <a:lnTo>
                  <a:pt x="258292" y="369316"/>
                </a:lnTo>
                <a:lnTo>
                  <a:pt x="189826" y="366674"/>
                </a:lnTo>
                <a:lnTo>
                  <a:pt x="128193" y="359194"/>
                </a:lnTo>
                <a:lnTo>
                  <a:pt x="75869" y="347624"/>
                </a:lnTo>
                <a:lnTo>
                  <a:pt x="35394" y="332663"/>
                </a:lnTo>
                <a:lnTo>
                  <a:pt x="0" y="295452"/>
                </a:lnTo>
                <a:lnTo>
                  <a:pt x="0" y="443179"/>
                </a:lnTo>
                <a:lnTo>
                  <a:pt x="35394" y="480377"/>
                </a:lnTo>
                <a:lnTo>
                  <a:pt x="75869" y="495338"/>
                </a:lnTo>
                <a:lnTo>
                  <a:pt x="128193" y="506920"/>
                </a:lnTo>
                <a:lnTo>
                  <a:pt x="189826" y="514388"/>
                </a:lnTo>
                <a:lnTo>
                  <a:pt x="258292" y="517042"/>
                </a:lnTo>
                <a:lnTo>
                  <a:pt x="326745" y="514388"/>
                </a:lnTo>
                <a:lnTo>
                  <a:pt x="388391" y="506920"/>
                </a:lnTo>
                <a:lnTo>
                  <a:pt x="440715" y="495338"/>
                </a:lnTo>
                <a:lnTo>
                  <a:pt x="481190" y="480377"/>
                </a:lnTo>
                <a:lnTo>
                  <a:pt x="516585" y="443179"/>
                </a:lnTo>
                <a:lnTo>
                  <a:pt x="516585" y="406247"/>
                </a:lnTo>
                <a:lnTo>
                  <a:pt x="516585" y="369316"/>
                </a:lnTo>
                <a:lnTo>
                  <a:pt x="516585" y="295452"/>
                </a:lnTo>
                <a:close/>
              </a:path>
              <a:path w="516890" h="702310">
                <a:moveTo>
                  <a:pt x="516585" y="110807"/>
                </a:moveTo>
                <a:lnTo>
                  <a:pt x="507314" y="130378"/>
                </a:lnTo>
                <a:lnTo>
                  <a:pt x="481190" y="148005"/>
                </a:lnTo>
                <a:lnTo>
                  <a:pt x="461238" y="155384"/>
                </a:lnTo>
                <a:lnTo>
                  <a:pt x="461238" y="240055"/>
                </a:lnTo>
                <a:lnTo>
                  <a:pt x="459905" y="247624"/>
                </a:lnTo>
                <a:lnTo>
                  <a:pt x="456158" y="253453"/>
                </a:lnTo>
                <a:lnTo>
                  <a:pt x="450342" y="257200"/>
                </a:lnTo>
                <a:lnTo>
                  <a:pt x="442785" y="258521"/>
                </a:lnTo>
                <a:lnTo>
                  <a:pt x="435229" y="257200"/>
                </a:lnTo>
                <a:lnTo>
                  <a:pt x="429412" y="253453"/>
                </a:lnTo>
                <a:lnTo>
                  <a:pt x="425665" y="247624"/>
                </a:lnTo>
                <a:lnTo>
                  <a:pt x="424332" y="240055"/>
                </a:lnTo>
                <a:lnTo>
                  <a:pt x="425665" y="232498"/>
                </a:lnTo>
                <a:lnTo>
                  <a:pt x="429412" y="226669"/>
                </a:lnTo>
                <a:lnTo>
                  <a:pt x="435229" y="222923"/>
                </a:lnTo>
                <a:lnTo>
                  <a:pt x="442785" y="221602"/>
                </a:lnTo>
                <a:lnTo>
                  <a:pt x="450342" y="222923"/>
                </a:lnTo>
                <a:lnTo>
                  <a:pt x="456158" y="226669"/>
                </a:lnTo>
                <a:lnTo>
                  <a:pt x="459905" y="232498"/>
                </a:lnTo>
                <a:lnTo>
                  <a:pt x="461238" y="240055"/>
                </a:lnTo>
                <a:lnTo>
                  <a:pt x="461238" y="155384"/>
                </a:lnTo>
                <a:lnTo>
                  <a:pt x="440715" y="162966"/>
                </a:lnTo>
                <a:lnTo>
                  <a:pt x="388391" y="174548"/>
                </a:lnTo>
                <a:lnTo>
                  <a:pt x="326745" y="182016"/>
                </a:lnTo>
                <a:lnTo>
                  <a:pt x="258292" y="184670"/>
                </a:lnTo>
                <a:lnTo>
                  <a:pt x="189826" y="182016"/>
                </a:lnTo>
                <a:lnTo>
                  <a:pt x="128193" y="174548"/>
                </a:lnTo>
                <a:lnTo>
                  <a:pt x="75869" y="162966"/>
                </a:lnTo>
                <a:lnTo>
                  <a:pt x="35394" y="148005"/>
                </a:lnTo>
                <a:lnTo>
                  <a:pt x="0" y="110807"/>
                </a:lnTo>
                <a:lnTo>
                  <a:pt x="0" y="258521"/>
                </a:lnTo>
                <a:lnTo>
                  <a:pt x="35394" y="295732"/>
                </a:lnTo>
                <a:lnTo>
                  <a:pt x="75869" y="310692"/>
                </a:lnTo>
                <a:lnTo>
                  <a:pt x="128193" y="322262"/>
                </a:lnTo>
                <a:lnTo>
                  <a:pt x="189826" y="329742"/>
                </a:lnTo>
                <a:lnTo>
                  <a:pt x="258292" y="332384"/>
                </a:lnTo>
                <a:lnTo>
                  <a:pt x="326745" y="329742"/>
                </a:lnTo>
                <a:lnTo>
                  <a:pt x="388391" y="322262"/>
                </a:lnTo>
                <a:lnTo>
                  <a:pt x="440715" y="310692"/>
                </a:lnTo>
                <a:lnTo>
                  <a:pt x="481190" y="295732"/>
                </a:lnTo>
                <a:lnTo>
                  <a:pt x="516585" y="258521"/>
                </a:lnTo>
                <a:lnTo>
                  <a:pt x="516585" y="221602"/>
                </a:lnTo>
                <a:lnTo>
                  <a:pt x="516585" y="184670"/>
                </a:lnTo>
                <a:lnTo>
                  <a:pt x="516585" y="110807"/>
                </a:lnTo>
                <a:close/>
              </a:path>
              <a:path w="516890" h="702310">
                <a:moveTo>
                  <a:pt x="516585" y="73875"/>
                </a:moveTo>
                <a:lnTo>
                  <a:pt x="481317" y="36588"/>
                </a:lnTo>
                <a:lnTo>
                  <a:pt x="440931" y="21640"/>
                </a:lnTo>
                <a:lnTo>
                  <a:pt x="388658" y="10083"/>
                </a:lnTo>
                <a:lnTo>
                  <a:pt x="326961" y="2641"/>
                </a:lnTo>
                <a:lnTo>
                  <a:pt x="258292" y="0"/>
                </a:lnTo>
                <a:lnTo>
                  <a:pt x="189623" y="2641"/>
                </a:lnTo>
                <a:lnTo>
                  <a:pt x="127927" y="10083"/>
                </a:lnTo>
                <a:lnTo>
                  <a:pt x="75653" y="21640"/>
                </a:lnTo>
                <a:lnTo>
                  <a:pt x="35267" y="36588"/>
                </a:lnTo>
                <a:lnTo>
                  <a:pt x="0" y="73875"/>
                </a:lnTo>
                <a:lnTo>
                  <a:pt x="9220" y="93510"/>
                </a:lnTo>
                <a:lnTo>
                  <a:pt x="75653" y="126098"/>
                </a:lnTo>
                <a:lnTo>
                  <a:pt x="127927" y="137655"/>
                </a:lnTo>
                <a:lnTo>
                  <a:pt x="189623" y="145097"/>
                </a:lnTo>
                <a:lnTo>
                  <a:pt x="258292" y="147739"/>
                </a:lnTo>
                <a:lnTo>
                  <a:pt x="326961" y="145097"/>
                </a:lnTo>
                <a:lnTo>
                  <a:pt x="388658" y="137655"/>
                </a:lnTo>
                <a:lnTo>
                  <a:pt x="440931" y="126098"/>
                </a:lnTo>
                <a:lnTo>
                  <a:pt x="481317" y="111150"/>
                </a:lnTo>
                <a:lnTo>
                  <a:pt x="516585" y="73875"/>
                </a:lnTo>
                <a:close/>
              </a:path>
            </a:pathLst>
          </a:custGeom>
          <a:solidFill>
            <a:srgbClr val="006EBE"/>
          </a:solidFill>
        </p:spPr>
        <p:txBody>
          <a:bodyPr wrap="square" lIns="0" tIns="0" rIns="0" bIns="0" rtlCol="0"/>
          <a:lstStyle/>
          <a:p>
            <a:endParaRPr sz="2400"/>
          </a:p>
        </p:txBody>
      </p:sp>
      <p:sp>
        <p:nvSpPr>
          <p:cNvPr id="9" name="object 9"/>
          <p:cNvSpPr txBox="1"/>
          <p:nvPr/>
        </p:nvSpPr>
        <p:spPr>
          <a:xfrm>
            <a:off x="784081" y="3600026"/>
            <a:ext cx="1147233"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Sales</a:t>
            </a:r>
            <a:r>
              <a:rPr sz="2133" spc="-47" dirty="0">
                <a:solidFill>
                  <a:srgbClr val="FFFFFF"/>
                </a:solidFill>
                <a:latin typeface="Calibri"/>
                <a:cs typeface="Calibri"/>
              </a:rPr>
              <a:t> </a:t>
            </a:r>
            <a:r>
              <a:rPr sz="2133" spc="-27" dirty="0">
                <a:solidFill>
                  <a:srgbClr val="FFFFFF"/>
                </a:solidFill>
                <a:latin typeface="Calibri"/>
                <a:cs typeface="Calibri"/>
              </a:rPr>
              <a:t>data</a:t>
            </a:r>
            <a:endParaRPr sz="2133">
              <a:latin typeface="Calibri"/>
              <a:cs typeface="Calibri"/>
            </a:endParaRPr>
          </a:p>
        </p:txBody>
      </p:sp>
      <p:sp>
        <p:nvSpPr>
          <p:cNvPr id="10" name="object 10"/>
          <p:cNvSpPr txBox="1"/>
          <p:nvPr/>
        </p:nvSpPr>
        <p:spPr>
          <a:xfrm>
            <a:off x="607703" y="5236193"/>
            <a:ext cx="1395307"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CRM</a:t>
            </a:r>
            <a:r>
              <a:rPr sz="2133" spc="-53" dirty="0">
                <a:solidFill>
                  <a:srgbClr val="FFFFFF"/>
                </a:solidFill>
                <a:latin typeface="Calibri"/>
                <a:cs typeface="Calibri"/>
              </a:rPr>
              <a:t> </a:t>
            </a:r>
            <a:r>
              <a:rPr sz="2133" spc="-13" dirty="0">
                <a:solidFill>
                  <a:srgbClr val="FFFFFF"/>
                </a:solidFill>
                <a:latin typeface="Calibri"/>
                <a:cs typeface="Calibri"/>
              </a:rPr>
              <a:t>system</a:t>
            </a:r>
            <a:endParaRPr sz="2133">
              <a:latin typeface="Calibri"/>
              <a:cs typeface="Calibri"/>
            </a:endParaRPr>
          </a:p>
        </p:txBody>
      </p:sp>
      <p:sp>
        <p:nvSpPr>
          <p:cNvPr id="11" name="object 11"/>
          <p:cNvSpPr/>
          <p:nvPr/>
        </p:nvSpPr>
        <p:spPr>
          <a:xfrm>
            <a:off x="1711961" y="3101001"/>
            <a:ext cx="1943100" cy="1672167"/>
          </a:xfrm>
          <a:custGeom>
            <a:avLst/>
            <a:gdLst/>
            <a:ahLst/>
            <a:cxnLst/>
            <a:rect l="l" t="t" r="r" b="b"/>
            <a:pathLst>
              <a:path w="1457325" h="1254125">
                <a:moveTo>
                  <a:pt x="1392682" y="1216025"/>
                </a:moveTo>
                <a:lnTo>
                  <a:pt x="1379982" y="1209675"/>
                </a:lnTo>
                <a:lnTo>
                  <a:pt x="1316482" y="1177925"/>
                </a:lnTo>
                <a:lnTo>
                  <a:pt x="1316482" y="1209675"/>
                </a:lnTo>
                <a:lnTo>
                  <a:pt x="2286" y="1209675"/>
                </a:lnTo>
                <a:lnTo>
                  <a:pt x="2286" y="1222375"/>
                </a:lnTo>
                <a:lnTo>
                  <a:pt x="1316482" y="1222375"/>
                </a:lnTo>
                <a:lnTo>
                  <a:pt x="1316482" y="1254125"/>
                </a:lnTo>
                <a:lnTo>
                  <a:pt x="1379982" y="1222375"/>
                </a:lnTo>
                <a:lnTo>
                  <a:pt x="1392682" y="1216025"/>
                </a:lnTo>
                <a:close/>
              </a:path>
              <a:path w="1457325" h="1254125">
                <a:moveTo>
                  <a:pt x="1457198" y="568071"/>
                </a:moveTo>
                <a:lnTo>
                  <a:pt x="1441678" y="551053"/>
                </a:lnTo>
                <a:lnTo>
                  <a:pt x="1399794" y="505079"/>
                </a:lnTo>
                <a:lnTo>
                  <a:pt x="1388364" y="534695"/>
                </a:lnTo>
                <a:lnTo>
                  <a:pt x="4572" y="0"/>
                </a:lnTo>
                <a:lnTo>
                  <a:pt x="0" y="11938"/>
                </a:lnTo>
                <a:lnTo>
                  <a:pt x="1383804" y="546506"/>
                </a:lnTo>
                <a:lnTo>
                  <a:pt x="1372362" y="576199"/>
                </a:lnTo>
                <a:lnTo>
                  <a:pt x="1457198" y="568071"/>
                </a:lnTo>
                <a:close/>
              </a:path>
            </a:pathLst>
          </a:custGeom>
          <a:solidFill>
            <a:srgbClr val="00C2FF"/>
          </a:solidFill>
        </p:spPr>
        <p:txBody>
          <a:bodyPr wrap="square" lIns="0" tIns="0" rIns="0" bIns="0" rtlCol="0"/>
          <a:lstStyle/>
          <a:p>
            <a:endParaRPr sz="2400"/>
          </a:p>
        </p:txBody>
      </p:sp>
      <p:sp>
        <p:nvSpPr>
          <p:cNvPr id="12" name="object 12"/>
          <p:cNvSpPr txBox="1"/>
          <p:nvPr/>
        </p:nvSpPr>
        <p:spPr>
          <a:xfrm>
            <a:off x="7591212" y="5000481"/>
            <a:ext cx="1554480" cy="427532"/>
          </a:xfrm>
          <a:prstGeom prst="rect">
            <a:avLst/>
          </a:prstGeom>
        </p:spPr>
        <p:txBody>
          <a:bodyPr vert="horz" wrap="square" lIns="0" tIns="16933" rIns="0" bIns="0" rtlCol="0">
            <a:spAutoFit/>
          </a:bodyPr>
          <a:lstStyle/>
          <a:p>
            <a:pPr marL="16933">
              <a:spcBef>
                <a:spcPts val="133"/>
              </a:spcBef>
            </a:pPr>
            <a:r>
              <a:rPr sz="2667" spc="-13" dirty="0">
                <a:solidFill>
                  <a:srgbClr val="FFFFFF"/>
                </a:solidFill>
                <a:latin typeface="Calibri"/>
                <a:cs typeface="Calibri"/>
              </a:rPr>
              <a:t>Production</a:t>
            </a:r>
            <a:endParaRPr sz="2667">
              <a:latin typeface="Calibri"/>
              <a:cs typeface="Calibri"/>
            </a:endParaRPr>
          </a:p>
        </p:txBody>
      </p:sp>
      <p:graphicFrame>
        <p:nvGraphicFramePr>
          <p:cNvPr id="13" name="object 13"/>
          <p:cNvGraphicFramePr>
            <a:graphicFrameLocks noGrp="1"/>
          </p:cNvGraphicFramePr>
          <p:nvPr/>
        </p:nvGraphicFramePr>
        <p:xfrm>
          <a:off x="787951" y="1365769"/>
          <a:ext cx="929639" cy="628227"/>
        </p:xfrm>
        <a:graphic>
          <a:graphicData uri="http://schemas.openxmlformats.org/drawingml/2006/table">
            <a:tbl>
              <a:tblPr firstRow="1" bandRow="1">
                <a:tableStyleId>{2D5ABB26-0587-4C30-8999-92F81FD0307C}</a:tableStyleId>
              </a:tblPr>
              <a:tblGrid>
                <a:gridCol w="314113">
                  <a:extLst>
                    <a:ext uri="{9D8B030D-6E8A-4147-A177-3AD203B41FA5}">
                      <a16:colId xmlns:a16="http://schemas.microsoft.com/office/drawing/2014/main" val="20000"/>
                    </a:ext>
                  </a:extLst>
                </a:gridCol>
                <a:gridCol w="301413">
                  <a:extLst>
                    <a:ext uri="{9D8B030D-6E8A-4147-A177-3AD203B41FA5}">
                      <a16:colId xmlns:a16="http://schemas.microsoft.com/office/drawing/2014/main" val="20001"/>
                    </a:ext>
                  </a:extLst>
                </a:gridCol>
                <a:gridCol w="314113">
                  <a:extLst>
                    <a:ext uri="{9D8B030D-6E8A-4147-A177-3AD203B41FA5}">
                      <a16:colId xmlns:a16="http://schemas.microsoft.com/office/drawing/2014/main" val="20002"/>
                    </a:ext>
                  </a:extLst>
                </a:gridCol>
              </a:tblGrid>
              <a:tr h="213360">
                <a:tc>
                  <a:txBody>
                    <a:bodyPr/>
                    <a:lstStyle/>
                    <a:p>
                      <a:pPr>
                        <a:lnSpc>
                          <a:spcPct val="100000"/>
                        </a:lnSpc>
                      </a:pPr>
                      <a:endParaRPr sz="1200">
                        <a:latin typeface="Times New Roman"/>
                        <a:cs typeface="Times New Roman"/>
                      </a:endParaRPr>
                    </a:p>
                  </a:txBody>
                  <a:tcPr marL="0" marR="0" marT="0" marB="0">
                    <a:lnL w="5715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57150">
                      <a:solidFill>
                        <a:srgbClr val="BCBCBC"/>
                      </a:solidFill>
                      <a:prstDash val="solid"/>
                    </a:lnR>
                    <a:lnT w="57150">
                      <a:solidFill>
                        <a:srgbClr val="BCBCBC"/>
                      </a:solidFill>
                      <a:prstDash val="solid"/>
                    </a:lnT>
                    <a:lnB w="38100">
                      <a:solidFill>
                        <a:srgbClr val="BCBCBC"/>
                      </a:solidFill>
                      <a:prstDash val="solid"/>
                    </a:lnB>
                  </a:tcPr>
                </a:tc>
                <a:extLst>
                  <a:ext uri="{0D108BD9-81ED-4DB2-BD59-A6C34878D82A}">
                    <a16:rowId xmlns:a16="http://schemas.microsoft.com/office/drawing/2014/main" val="10000"/>
                  </a:ext>
                </a:extLst>
              </a:tr>
              <a:tr h="201507">
                <a:tc>
                  <a:txBody>
                    <a:bodyPr/>
                    <a:lstStyle/>
                    <a:p>
                      <a:pPr>
                        <a:lnSpc>
                          <a:spcPct val="100000"/>
                        </a:lnSpc>
                      </a:pPr>
                      <a:endParaRPr sz="11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11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11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38100">
                      <a:solidFill>
                        <a:srgbClr val="BCBCBC"/>
                      </a:solidFill>
                      <a:prstDash val="solid"/>
                    </a:lnB>
                  </a:tcPr>
                </a:tc>
                <a:extLst>
                  <a:ext uri="{0D108BD9-81ED-4DB2-BD59-A6C34878D82A}">
                    <a16:rowId xmlns:a16="http://schemas.microsoft.com/office/drawing/2014/main" val="10001"/>
                  </a:ext>
                </a:extLst>
              </a:tr>
              <a:tr h="213360">
                <a:tc>
                  <a:txBody>
                    <a:bodyPr/>
                    <a:lstStyle/>
                    <a:p>
                      <a:pPr>
                        <a:lnSpc>
                          <a:spcPct val="100000"/>
                        </a:lnSpc>
                      </a:pPr>
                      <a:endParaRPr sz="12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57150">
                      <a:solidFill>
                        <a:srgbClr val="BCBCBC"/>
                      </a:solidFill>
                      <a:prstDash val="solid"/>
                    </a:lnB>
                  </a:tcPr>
                </a:tc>
                <a:extLst>
                  <a:ext uri="{0D108BD9-81ED-4DB2-BD59-A6C34878D82A}">
                    <a16:rowId xmlns:a16="http://schemas.microsoft.com/office/drawing/2014/main" val="10002"/>
                  </a:ext>
                </a:extLst>
              </a:tr>
            </a:tbl>
          </a:graphicData>
        </a:graphic>
      </p:graphicFrame>
      <p:sp>
        <p:nvSpPr>
          <p:cNvPr id="14" name="object 14"/>
          <p:cNvSpPr txBox="1"/>
          <p:nvPr/>
        </p:nvSpPr>
        <p:spPr>
          <a:xfrm>
            <a:off x="771077" y="2065866"/>
            <a:ext cx="2129367"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Other</a:t>
            </a:r>
            <a:r>
              <a:rPr sz="2133" spc="-13" dirty="0">
                <a:solidFill>
                  <a:srgbClr val="FFFFFF"/>
                </a:solidFill>
                <a:latin typeface="Calibri"/>
                <a:cs typeface="Calibri"/>
              </a:rPr>
              <a:t> </a:t>
            </a:r>
            <a:r>
              <a:rPr sz="2133" dirty="0">
                <a:solidFill>
                  <a:srgbClr val="FFFFFF"/>
                </a:solidFill>
                <a:latin typeface="Calibri"/>
                <a:cs typeface="Calibri"/>
              </a:rPr>
              <a:t>data</a:t>
            </a:r>
            <a:r>
              <a:rPr sz="2133" spc="-47" dirty="0">
                <a:solidFill>
                  <a:srgbClr val="FFFFFF"/>
                </a:solidFill>
                <a:latin typeface="Calibri"/>
                <a:cs typeface="Calibri"/>
              </a:rPr>
              <a:t> </a:t>
            </a:r>
            <a:r>
              <a:rPr sz="2133" spc="-13" dirty="0">
                <a:solidFill>
                  <a:srgbClr val="FFFFFF"/>
                </a:solidFill>
                <a:latin typeface="Calibri"/>
                <a:cs typeface="Calibri"/>
              </a:rPr>
              <a:t>sources</a:t>
            </a:r>
            <a:endParaRPr sz="2133">
              <a:latin typeface="Calibri"/>
              <a:cs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title"/>
          </p:nvPr>
        </p:nvSpPr>
        <p:spPr>
          <a:xfrm>
            <a:off x="2094652" y="1934574"/>
            <a:ext cx="8002693" cy="1494426"/>
          </a:xfrm>
          <a:prstGeom prst="rect">
            <a:avLst/>
          </a:prstGeom>
        </p:spPr>
        <p:txBody>
          <a:bodyPr vert="horz" wrap="square" lIns="0" tIns="16933" rIns="0" bIns="0" rtlCol="0" anchor="ctr">
            <a:spAutoFit/>
          </a:bodyPr>
          <a:lstStyle/>
          <a:p>
            <a:pPr algn="ctr">
              <a:lnSpc>
                <a:spcPct val="100000"/>
              </a:lnSpc>
              <a:spcBef>
                <a:spcPts val="133"/>
              </a:spcBef>
            </a:pPr>
            <a:r>
              <a:rPr sz="4800" dirty="0">
                <a:solidFill>
                  <a:schemeClr val="bg1"/>
                </a:solidFill>
              </a:rPr>
              <a:t>We</a:t>
            </a:r>
            <a:r>
              <a:rPr sz="4800" spc="-53" dirty="0">
                <a:solidFill>
                  <a:schemeClr val="bg1"/>
                </a:solidFill>
              </a:rPr>
              <a:t> </a:t>
            </a:r>
            <a:r>
              <a:rPr sz="4800" dirty="0">
                <a:solidFill>
                  <a:schemeClr val="bg1"/>
                </a:solidFill>
              </a:rPr>
              <a:t>create</a:t>
            </a:r>
            <a:r>
              <a:rPr sz="4800" spc="-53" dirty="0">
                <a:solidFill>
                  <a:schemeClr val="bg1"/>
                </a:solidFill>
              </a:rPr>
              <a:t> </a:t>
            </a:r>
            <a:r>
              <a:rPr sz="4800" dirty="0">
                <a:solidFill>
                  <a:schemeClr val="bg1"/>
                </a:solidFill>
              </a:rPr>
              <a:t>a</a:t>
            </a:r>
            <a:r>
              <a:rPr sz="4800" spc="-40" dirty="0">
                <a:solidFill>
                  <a:schemeClr val="bg1"/>
                </a:solidFill>
              </a:rPr>
              <a:t> </a:t>
            </a:r>
            <a:r>
              <a:rPr sz="4800" dirty="0">
                <a:solidFill>
                  <a:schemeClr val="bg1"/>
                </a:solidFill>
              </a:rPr>
              <a:t>data</a:t>
            </a:r>
            <a:r>
              <a:rPr sz="4800" spc="-33" dirty="0">
                <a:solidFill>
                  <a:schemeClr val="bg1"/>
                </a:solidFill>
              </a:rPr>
              <a:t> </a:t>
            </a:r>
            <a:r>
              <a:rPr sz="4800" dirty="0">
                <a:solidFill>
                  <a:schemeClr val="bg1"/>
                </a:solidFill>
              </a:rPr>
              <a:t>warehouse</a:t>
            </a:r>
            <a:r>
              <a:rPr sz="4800" spc="-53" dirty="0">
                <a:solidFill>
                  <a:schemeClr val="bg1"/>
                </a:solidFill>
              </a:rPr>
              <a:t> </a:t>
            </a:r>
            <a:r>
              <a:rPr sz="4800" spc="-33" dirty="0">
                <a:solidFill>
                  <a:schemeClr val="bg1"/>
                </a:solidFill>
              </a:rPr>
              <a:t>for</a:t>
            </a:r>
            <a:endParaRPr sz="4800" dirty="0">
              <a:solidFill>
                <a:schemeClr val="bg1"/>
              </a:solidFill>
            </a:endParaRPr>
          </a:p>
          <a:p>
            <a:pPr algn="ctr">
              <a:lnSpc>
                <a:spcPct val="100000"/>
              </a:lnSpc>
            </a:pPr>
            <a:r>
              <a:rPr sz="4800" dirty="0">
                <a:solidFill>
                  <a:schemeClr val="bg1"/>
                </a:solidFill>
              </a:rPr>
              <a:t>Business</a:t>
            </a:r>
            <a:r>
              <a:rPr sz="4800" spc="-227" dirty="0">
                <a:solidFill>
                  <a:schemeClr val="bg1"/>
                </a:solidFill>
              </a:rPr>
              <a:t> </a:t>
            </a:r>
            <a:r>
              <a:rPr sz="4800" spc="-13" dirty="0">
                <a:solidFill>
                  <a:schemeClr val="bg1"/>
                </a:solidFill>
              </a:rPr>
              <a:t>Intelligence…</a:t>
            </a:r>
            <a:endParaRPr sz="4800" dirty="0">
              <a:solidFill>
                <a:schemeClr val="bg1"/>
              </a:solidFill>
            </a:endParaRPr>
          </a:p>
        </p:txBody>
      </p:sp>
      <p:pic>
        <p:nvPicPr>
          <p:cNvPr id="8" name="object 8"/>
          <p:cNvPicPr/>
          <p:nvPr/>
        </p:nvPicPr>
        <p:blipFill>
          <a:blip r:embed="rId2" cstate="print"/>
          <a:stretch>
            <a:fillRect/>
          </a:stretch>
        </p:blipFill>
        <p:spPr>
          <a:xfrm>
            <a:off x="2625343" y="4242815"/>
            <a:ext cx="6941312" cy="124358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204960" y="1276097"/>
            <a:ext cx="1802553" cy="2562860"/>
          </a:xfrm>
          <a:custGeom>
            <a:avLst/>
            <a:gdLst/>
            <a:ahLst/>
            <a:cxnLst/>
            <a:rect l="l" t="t" r="r" b="b"/>
            <a:pathLst>
              <a:path w="1351915" h="1922145">
                <a:moveTo>
                  <a:pt x="1351787" y="0"/>
                </a:moveTo>
                <a:lnTo>
                  <a:pt x="0" y="0"/>
                </a:lnTo>
                <a:lnTo>
                  <a:pt x="0" y="1921764"/>
                </a:lnTo>
                <a:lnTo>
                  <a:pt x="1351787" y="1921764"/>
                </a:lnTo>
                <a:lnTo>
                  <a:pt x="1351787" y="0"/>
                </a:lnTo>
                <a:close/>
              </a:path>
            </a:pathLst>
          </a:custGeom>
          <a:solidFill>
            <a:srgbClr val="878787">
              <a:alpha val="50195"/>
            </a:srgbClr>
          </a:solidFill>
        </p:spPr>
        <p:txBody>
          <a:bodyPr wrap="square" lIns="0" tIns="0" rIns="0" bIns="0" rtlCol="0"/>
          <a:lstStyle/>
          <a:p>
            <a:endParaRPr sz="2400"/>
          </a:p>
        </p:txBody>
      </p:sp>
      <p:grpSp>
        <p:nvGrpSpPr>
          <p:cNvPr id="3" name="object 3"/>
          <p:cNvGrpSpPr/>
          <p:nvPr/>
        </p:nvGrpSpPr>
        <p:grpSpPr>
          <a:xfrm>
            <a:off x="5010913" y="2381503"/>
            <a:ext cx="3222752" cy="2084832"/>
            <a:chOff x="3758184" y="1786127"/>
            <a:chExt cx="2417064" cy="1563624"/>
          </a:xfrm>
        </p:grpSpPr>
        <p:pic>
          <p:nvPicPr>
            <p:cNvPr id="4" name="object 4"/>
            <p:cNvPicPr/>
            <p:nvPr/>
          </p:nvPicPr>
          <p:blipFill>
            <a:blip r:embed="rId2" cstate="print"/>
            <a:stretch>
              <a:fillRect/>
            </a:stretch>
          </p:blipFill>
          <p:spPr>
            <a:xfrm>
              <a:off x="3762756" y="1786127"/>
              <a:ext cx="2412492" cy="1536192"/>
            </a:xfrm>
            <a:prstGeom prst="rect">
              <a:avLst/>
            </a:prstGeom>
          </p:spPr>
        </p:pic>
        <p:pic>
          <p:nvPicPr>
            <p:cNvPr id="5" name="object 5"/>
            <p:cNvPicPr/>
            <p:nvPr/>
          </p:nvPicPr>
          <p:blipFill>
            <a:blip r:embed="rId3" cstate="print"/>
            <a:stretch>
              <a:fillRect/>
            </a:stretch>
          </p:blipFill>
          <p:spPr>
            <a:xfrm>
              <a:off x="3758184" y="1828799"/>
              <a:ext cx="2025395" cy="1520952"/>
            </a:xfrm>
            <a:prstGeom prst="rect">
              <a:avLst/>
            </a:prstGeom>
          </p:spPr>
        </p:pic>
        <p:sp>
          <p:nvSpPr>
            <p:cNvPr id="7" name="object 7"/>
            <p:cNvSpPr/>
            <p:nvPr/>
          </p:nvSpPr>
          <p:spPr>
            <a:xfrm>
              <a:off x="3810000" y="1810511"/>
              <a:ext cx="2322830" cy="1446530"/>
            </a:xfrm>
            <a:custGeom>
              <a:avLst/>
              <a:gdLst/>
              <a:ahLst/>
              <a:cxnLst/>
              <a:rect l="l" t="t" r="r" b="b"/>
              <a:pathLst>
                <a:path w="2322829" h="1446529">
                  <a:moveTo>
                    <a:pt x="0" y="1446276"/>
                  </a:moveTo>
                  <a:lnTo>
                    <a:pt x="2322576" y="1446276"/>
                  </a:lnTo>
                  <a:lnTo>
                    <a:pt x="2322576" y="0"/>
                  </a:lnTo>
                  <a:lnTo>
                    <a:pt x="0" y="0"/>
                  </a:lnTo>
                  <a:lnTo>
                    <a:pt x="0" y="1446276"/>
                  </a:lnTo>
                  <a:close/>
                </a:path>
              </a:pathLst>
            </a:custGeom>
            <a:ln w="9144">
              <a:solidFill>
                <a:srgbClr val="373737"/>
              </a:solidFill>
            </a:ln>
          </p:spPr>
          <p:txBody>
            <a:bodyPr wrap="square" lIns="0" tIns="0" rIns="0" bIns="0" rtlCol="0"/>
            <a:lstStyle/>
            <a:p>
              <a:endParaRPr sz="2400"/>
            </a:p>
          </p:txBody>
        </p:sp>
      </p:grpSp>
      <p:sp>
        <p:nvSpPr>
          <p:cNvPr id="8" name="object 8"/>
          <p:cNvSpPr txBox="1"/>
          <p:nvPr/>
        </p:nvSpPr>
        <p:spPr>
          <a:xfrm>
            <a:off x="5185834" y="2503932"/>
            <a:ext cx="2349500" cy="1741887"/>
          </a:xfrm>
          <a:prstGeom prst="rect">
            <a:avLst/>
          </a:prstGeom>
        </p:spPr>
        <p:txBody>
          <a:bodyPr vert="horz" wrap="square" lIns="0" tIns="17780" rIns="0" bIns="0" rtlCol="0">
            <a:spAutoFit/>
          </a:bodyPr>
          <a:lstStyle/>
          <a:p>
            <a:pPr marL="473275" indent="-456342">
              <a:spcBef>
                <a:spcPts val="140"/>
              </a:spcBef>
              <a:buFont typeface="Courier New"/>
              <a:buChar char="o"/>
              <a:tabLst>
                <a:tab pos="473275" algn="l"/>
              </a:tabLst>
            </a:pPr>
            <a:r>
              <a:rPr sz="1867" dirty="0">
                <a:solidFill>
                  <a:srgbClr val="FFFFFF"/>
                </a:solidFill>
                <a:latin typeface="Calibri"/>
                <a:cs typeface="Calibri"/>
              </a:rPr>
              <a:t>Data</a:t>
            </a:r>
            <a:r>
              <a:rPr sz="1867" spc="-40" dirty="0">
                <a:solidFill>
                  <a:srgbClr val="FFFFFF"/>
                </a:solidFill>
                <a:latin typeface="Calibri"/>
                <a:cs typeface="Calibri"/>
              </a:rPr>
              <a:t> </a:t>
            </a:r>
            <a:r>
              <a:rPr sz="1867" spc="-13" dirty="0">
                <a:solidFill>
                  <a:srgbClr val="FFFFFF"/>
                </a:solidFill>
                <a:latin typeface="Calibri"/>
                <a:cs typeface="Calibri"/>
              </a:rPr>
              <a:t>gathering</a:t>
            </a:r>
            <a:endParaRPr sz="1867">
              <a:latin typeface="Calibri"/>
              <a:cs typeface="Calibri"/>
            </a:endParaRPr>
          </a:p>
          <a:p>
            <a:pPr marL="473275" indent="-456342">
              <a:buFont typeface="Courier New"/>
              <a:buChar char="o"/>
              <a:tabLst>
                <a:tab pos="473275" algn="l"/>
              </a:tabLst>
            </a:pPr>
            <a:r>
              <a:rPr sz="1867" dirty="0">
                <a:solidFill>
                  <a:srgbClr val="FFFFFF"/>
                </a:solidFill>
                <a:latin typeface="Calibri"/>
                <a:cs typeface="Calibri"/>
              </a:rPr>
              <a:t>Data</a:t>
            </a:r>
            <a:r>
              <a:rPr sz="1867" spc="-40" dirty="0">
                <a:solidFill>
                  <a:srgbClr val="FFFFFF"/>
                </a:solidFill>
                <a:latin typeface="Calibri"/>
                <a:cs typeface="Calibri"/>
              </a:rPr>
              <a:t> </a:t>
            </a:r>
            <a:r>
              <a:rPr sz="1867" spc="-13" dirty="0">
                <a:solidFill>
                  <a:srgbClr val="FFFFFF"/>
                </a:solidFill>
                <a:latin typeface="Calibri"/>
                <a:cs typeface="Calibri"/>
              </a:rPr>
              <a:t>storing</a:t>
            </a:r>
            <a:endParaRPr sz="1867">
              <a:latin typeface="Calibri"/>
              <a:cs typeface="Calibri"/>
            </a:endParaRPr>
          </a:p>
          <a:p>
            <a:pPr marL="473275" indent="-456342">
              <a:buFont typeface="Courier New"/>
              <a:buChar char="o"/>
              <a:tabLst>
                <a:tab pos="473275" algn="l"/>
              </a:tabLst>
            </a:pPr>
            <a:r>
              <a:rPr sz="1867" spc="-13" dirty="0">
                <a:solidFill>
                  <a:srgbClr val="FFFFFF"/>
                </a:solidFill>
                <a:latin typeface="Calibri"/>
                <a:cs typeface="Calibri"/>
              </a:rPr>
              <a:t>Reporting</a:t>
            </a:r>
            <a:endParaRPr sz="1867">
              <a:latin typeface="Calibri"/>
              <a:cs typeface="Calibri"/>
            </a:endParaRPr>
          </a:p>
          <a:p>
            <a:pPr marL="473275" indent="-456342">
              <a:buFont typeface="Courier New"/>
              <a:buChar char="o"/>
              <a:tabLst>
                <a:tab pos="473275" algn="l"/>
              </a:tabLst>
            </a:pPr>
            <a:r>
              <a:rPr sz="1867" dirty="0">
                <a:solidFill>
                  <a:srgbClr val="FFFFFF"/>
                </a:solidFill>
                <a:latin typeface="Calibri"/>
                <a:cs typeface="Calibri"/>
              </a:rPr>
              <a:t>Data</a:t>
            </a:r>
            <a:r>
              <a:rPr sz="1867" spc="-40" dirty="0">
                <a:solidFill>
                  <a:srgbClr val="FFFFFF"/>
                </a:solidFill>
                <a:latin typeface="Calibri"/>
                <a:cs typeface="Calibri"/>
              </a:rPr>
              <a:t> </a:t>
            </a:r>
            <a:r>
              <a:rPr sz="1867" spc="-13" dirty="0">
                <a:solidFill>
                  <a:srgbClr val="FFFFFF"/>
                </a:solidFill>
                <a:latin typeface="Calibri"/>
                <a:cs typeface="Calibri"/>
              </a:rPr>
              <a:t>visualization</a:t>
            </a:r>
            <a:endParaRPr sz="1867">
              <a:latin typeface="Calibri"/>
              <a:cs typeface="Calibri"/>
            </a:endParaRPr>
          </a:p>
          <a:p>
            <a:pPr marL="473275" indent="-456342">
              <a:buFont typeface="Courier New"/>
              <a:buChar char="o"/>
              <a:tabLst>
                <a:tab pos="473275" algn="l"/>
              </a:tabLst>
            </a:pPr>
            <a:r>
              <a:rPr sz="1867" dirty="0">
                <a:solidFill>
                  <a:srgbClr val="FFFFFF"/>
                </a:solidFill>
                <a:latin typeface="Calibri"/>
                <a:cs typeface="Calibri"/>
              </a:rPr>
              <a:t>Data</a:t>
            </a:r>
            <a:r>
              <a:rPr sz="1867" spc="-53" dirty="0">
                <a:solidFill>
                  <a:srgbClr val="FFFFFF"/>
                </a:solidFill>
                <a:latin typeface="Calibri"/>
                <a:cs typeface="Calibri"/>
              </a:rPr>
              <a:t> </a:t>
            </a:r>
            <a:r>
              <a:rPr sz="1867" spc="-13" dirty="0">
                <a:solidFill>
                  <a:srgbClr val="FFFFFF"/>
                </a:solidFill>
                <a:latin typeface="Calibri"/>
                <a:cs typeface="Calibri"/>
              </a:rPr>
              <a:t>mining</a:t>
            </a:r>
            <a:endParaRPr sz="1867">
              <a:latin typeface="Calibri"/>
              <a:cs typeface="Calibri"/>
            </a:endParaRPr>
          </a:p>
          <a:p>
            <a:pPr marL="473275" indent="-456342">
              <a:buFont typeface="Courier New"/>
              <a:buChar char="o"/>
              <a:tabLst>
                <a:tab pos="473275" algn="l"/>
              </a:tabLst>
            </a:pPr>
            <a:r>
              <a:rPr sz="1867" dirty="0">
                <a:solidFill>
                  <a:srgbClr val="FFFFFF"/>
                </a:solidFill>
                <a:latin typeface="Calibri"/>
                <a:cs typeface="Calibri"/>
              </a:rPr>
              <a:t>Predictive</a:t>
            </a:r>
            <a:r>
              <a:rPr sz="1867" spc="-60" dirty="0">
                <a:solidFill>
                  <a:srgbClr val="FFFFFF"/>
                </a:solidFill>
                <a:latin typeface="Calibri"/>
                <a:cs typeface="Calibri"/>
              </a:rPr>
              <a:t> </a:t>
            </a:r>
            <a:r>
              <a:rPr sz="1867" spc="-13" dirty="0">
                <a:solidFill>
                  <a:srgbClr val="FFFFFF"/>
                </a:solidFill>
                <a:latin typeface="Calibri"/>
                <a:cs typeface="Calibri"/>
              </a:rPr>
              <a:t>analytics</a:t>
            </a:r>
            <a:endParaRPr sz="1867">
              <a:latin typeface="Calibri"/>
              <a:cs typeface="Calibri"/>
            </a:endParaRPr>
          </a:p>
        </p:txBody>
      </p:sp>
      <p:grpSp>
        <p:nvGrpSpPr>
          <p:cNvPr id="9" name="object 9"/>
          <p:cNvGrpSpPr/>
          <p:nvPr/>
        </p:nvGrpSpPr>
        <p:grpSpPr>
          <a:xfrm>
            <a:off x="987551" y="1926337"/>
            <a:ext cx="3099816" cy="1471845"/>
            <a:chOff x="740663" y="1444752"/>
            <a:chExt cx="2324862" cy="1103884"/>
          </a:xfrm>
        </p:grpSpPr>
        <p:pic>
          <p:nvPicPr>
            <p:cNvPr id="10" name="object 10"/>
            <p:cNvPicPr/>
            <p:nvPr/>
          </p:nvPicPr>
          <p:blipFill>
            <a:blip r:embed="rId4" cstate="print"/>
            <a:stretch>
              <a:fillRect/>
            </a:stretch>
          </p:blipFill>
          <p:spPr>
            <a:xfrm>
              <a:off x="740663" y="1444752"/>
              <a:ext cx="2324862" cy="1103884"/>
            </a:xfrm>
            <a:prstGeom prst="rect">
              <a:avLst/>
            </a:prstGeom>
          </p:spPr>
        </p:pic>
        <p:sp>
          <p:nvSpPr>
            <p:cNvPr id="12" name="object 12"/>
            <p:cNvSpPr/>
            <p:nvPr/>
          </p:nvSpPr>
          <p:spPr>
            <a:xfrm>
              <a:off x="1067561" y="1599438"/>
              <a:ext cx="1691639" cy="472440"/>
            </a:xfrm>
            <a:custGeom>
              <a:avLst/>
              <a:gdLst/>
              <a:ahLst/>
              <a:cxnLst/>
              <a:rect l="l" t="t" r="r" b="b"/>
              <a:pathLst>
                <a:path w="1691639" h="472439">
                  <a:moveTo>
                    <a:pt x="0" y="236220"/>
                  </a:moveTo>
                  <a:lnTo>
                    <a:pt x="118109" y="0"/>
                  </a:lnTo>
                  <a:lnTo>
                    <a:pt x="1573530" y="0"/>
                  </a:lnTo>
                  <a:lnTo>
                    <a:pt x="1691639" y="236220"/>
                  </a:lnTo>
                  <a:lnTo>
                    <a:pt x="1573530" y="472439"/>
                  </a:lnTo>
                  <a:lnTo>
                    <a:pt x="118109" y="472439"/>
                  </a:lnTo>
                  <a:lnTo>
                    <a:pt x="0" y="236220"/>
                  </a:lnTo>
                  <a:close/>
                </a:path>
              </a:pathLst>
            </a:custGeom>
            <a:ln w="19812">
              <a:solidFill>
                <a:srgbClr val="00C3FF"/>
              </a:solidFill>
            </a:ln>
          </p:spPr>
          <p:txBody>
            <a:bodyPr wrap="square" lIns="0" tIns="0" rIns="0" bIns="0" rtlCol="0"/>
            <a:lstStyle/>
            <a:p>
              <a:endParaRPr sz="2400"/>
            </a:p>
          </p:txBody>
        </p:sp>
      </p:grpSp>
      <p:sp>
        <p:nvSpPr>
          <p:cNvPr id="13" name="object 13"/>
          <p:cNvSpPr txBox="1"/>
          <p:nvPr/>
        </p:nvSpPr>
        <p:spPr>
          <a:xfrm>
            <a:off x="1972734" y="2259753"/>
            <a:ext cx="1153159" cy="344475"/>
          </a:xfrm>
          <a:prstGeom prst="rect">
            <a:avLst/>
          </a:prstGeom>
        </p:spPr>
        <p:txBody>
          <a:bodyPr vert="horz" wrap="square" lIns="0" tIns="16087" rIns="0" bIns="0" rtlCol="0">
            <a:spAutoFit/>
          </a:bodyPr>
          <a:lstStyle/>
          <a:p>
            <a:pPr marL="16933">
              <a:spcBef>
                <a:spcPts val="127"/>
              </a:spcBef>
            </a:pPr>
            <a:r>
              <a:rPr sz="2133" b="1" spc="-13" dirty="0">
                <a:solidFill>
                  <a:srgbClr val="00C3FF"/>
                </a:solidFill>
                <a:latin typeface="Calibri"/>
                <a:cs typeface="Calibri"/>
              </a:rPr>
              <a:t>Strategies</a:t>
            </a:r>
            <a:endParaRPr sz="2133">
              <a:latin typeface="Calibri"/>
              <a:cs typeface="Calibri"/>
            </a:endParaRPr>
          </a:p>
        </p:txBody>
      </p:sp>
      <p:grpSp>
        <p:nvGrpSpPr>
          <p:cNvPr id="14" name="object 14"/>
          <p:cNvGrpSpPr/>
          <p:nvPr/>
        </p:nvGrpSpPr>
        <p:grpSpPr>
          <a:xfrm>
            <a:off x="987551" y="2716785"/>
            <a:ext cx="3099816" cy="1471845"/>
            <a:chOff x="740663" y="2037588"/>
            <a:chExt cx="2324862" cy="1103884"/>
          </a:xfrm>
        </p:grpSpPr>
        <p:pic>
          <p:nvPicPr>
            <p:cNvPr id="15" name="object 15"/>
            <p:cNvPicPr/>
            <p:nvPr/>
          </p:nvPicPr>
          <p:blipFill>
            <a:blip r:embed="rId4" cstate="print"/>
            <a:stretch>
              <a:fillRect/>
            </a:stretch>
          </p:blipFill>
          <p:spPr>
            <a:xfrm>
              <a:off x="740663" y="2037588"/>
              <a:ext cx="2324862" cy="1103884"/>
            </a:xfrm>
            <a:prstGeom prst="rect">
              <a:avLst/>
            </a:prstGeom>
          </p:spPr>
        </p:pic>
        <p:sp>
          <p:nvSpPr>
            <p:cNvPr id="17" name="object 17"/>
            <p:cNvSpPr/>
            <p:nvPr/>
          </p:nvSpPr>
          <p:spPr>
            <a:xfrm>
              <a:off x="1067561" y="2192274"/>
              <a:ext cx="1691639" cy="472440"/>
            </a:xfrm>
            <a:custGeom>
              <a:avLst/>
              <a:gdLst/>
              <a:ahLst/>
              <a:cxnLst/>
              <a:rect l="l" t="t" r="r" b="b"/>
              <a:pathLst>
                <a:path w="1691639" h="472439">
                  <a:moveTo>
                    <a:pt x="0" y="236219"/>
                  </a:moveTo>
                  <a:lnTo>
                    <a:pt x="118109" y="0"/>
                  </a:lnTo>
                  <a:lnTo>
                    <a:pt x="1573530" y="0"/>
                  </a:lnTo>
                  <a:lnTo>
                    <a:pt x="1691639" y="236219"/>
                  </a:lnTo>
                  <a:lnTo>
                    <a:pt x="1573530" y="472439"/>
                  </a:lnTo>
                  <a:lnTo>
                    <a:pt x="118109" y="472439"/>
                  </a:lnTo>
                  <a:lnTo>
                    <a:pt x="0" y="236219"/>
                  </a:lnTo>
                  <a:close/>
                </a:path>
              </a:pathLst>
            </a:custGeom>
            <a:ln w="19812">
              <a:solidFill>
                <a:srgbClr val="00C3FF"/>
              </a:solidFill>
            </a:ln>
          </p:spPr>
          <p:txBody>
            <a:bodyPr wrap="square" lIns="0" tIns="0" rIns="0" bIns="0" rtlCol="0"/>
            <a:lstStyle/>
            <a:p>
              <a:endParaRPr sz="2400"/>
            </a:p>
          </p:txBody>
        </p:sp>
      </p:grpSp>
      <p:sp>
        <p:nvSpPr>
          <p:cNvPr id="18" name="object 18"/>
          <p:cNvSpPr txBox="1"/>
          <p:nvPr/>
        </p:nvSpPr>
        <p:spPr>
          <a:xfrm>
            <a:off x="1797981" y="3050201"/>
            <a:ext cx="1503680" cy="344475"/>
          </a:xfrm>
          <a:prstGeom prst="rect">
            <a:avLst/>
          </a:prstGeom>
        </p:spPr>
        <p:txBody>
          <a:bodyPr vert="horz" wrap="square" lIns="0" tIns="16087" rIns="0" bIns="0" rtlCol="0">
            <a:spAutoFit/>
          </a:bodyPr>
          <a:lstStyle/>
          <a:p>
            <a:pPr marL="16933">
              <a:spcBef>
                <a:spcPts val="127"/>
              </a:spcBef>
            </a:pPr>
            <a:r>
              <a:rPr sz="2133" b="1" spc="-13" dirty="0">
                <a:solidFill>
                  <a:srgbClr val="00C3FF"/>
                </a:solidFill>
                <a:latin typeface="Calibri"/>
                <a:cs typeface="Calibri"/>
              </a:rPr>
              <a:t>Technologies</a:t>
            </a:r>
            <a:endParaRPr sz="2133">
              <a:latin typeface="Calibri"/>
              <a:cs typeface="Calibri"/>
            </a:endParaRPr>
          </a:p>
        </p:txBody>
      </p:sp>
      <p:grpSp>
        <p:nvGrpSpPr>
          <p:cNvPr id="19" name="object 19"/>
          <p:cNvGrpSpPr/>
          <p:nvPr/>
        </p:nvGrpSpPr>
        <p:grpSpPr>
          <a:xfrm>
            <a:off x="987551" y="3505234"/>
            <a:ext cx="3099816" cy="1473843"/>
            <a:chOff x="740663" y="2628925"/>
            <a:chExt cx="2324862" cy="1105382"/>
          </a:xfrm>
        </p:grpSpPr>
        <p:pic>
          <p:nvPicPr>
            <p:cNvPr id="20" name="object 20"/>
            <p:cNvPicPr/>
            <p:nvPr/>
          </p:nvPicPr>
          <p:blipFill>
            <a:blip r:embed="rId5" cstate="print"/>
            <a:stretch>
              <a:fillRect/>
            </a:stretch>
          </p:blipFill>
          <p:spPr>
            <a:xfrm>
              <a:off x="740663" y="2628925"/>
              <a:ext cx="2324862" cy="1105382"/>
            </a:xfrm>
            <a:prstGeom prst="rect">
              <a:avLst/>
            </a:prstGeom>
          </p:spPr>
        </p:pic>
        <p:sp>
          <p:nvSpPr>
            <p:cNvPr id="22" name="object 22"/>
            <p:cNvSpPr/>
            <p:nvPr/>
          </p:nvSpPr>
          <p:spPr>
            <a:xfrm>
              <a:off x="1067561" y="2783585"/>
              <a:ext cx="1691639" cy="474345"/>
            </a:xfrm>
            <a:custGeom>
              <a:avLst/>
              <a:gdLst/>
              <a:ahLst/>
              <a:cxnLst/>
              <a:rect l="l" t="t" r="r" b="b"/>
              <a:pathLst>
                <a:path w="1691639" h="474345">
                  <a:moveTo>
                    <a:pt x="0" y="236981"/>
                  </a:moveTo>
                  <a:lnTo>
                    <a:pt x="118490" y="0"/>
                  </a:lnTo>
                  <a:lnTo>
                    <a:pt x="1573149" y="0"/>
                  </a:lnTo>
                  <a:lnTo>
                    <a:pt x="1691639" y="236981"/>
                  </a:lnTo>
                  <a:lnTo>
                    <a:pt x="1573149" y="473963"/>
                  </a:lnTo>
                  <a:lnTo>
                    <a:pt x="118490" y="473963"/>
                  </a:lnTo>
                  <a:lnTo>
                    <a:pt x="0" y="236981"/>
                  </a:lnTo>
                  <a:close/>
                </a:path>
              </a:pathLst>
            </a:custGeom>
            <a:ln w="19812">
              <a:solidFill>
                <a:srgbClr val="00C3FF"/>
              </a:solidFill>
            </a:ln>
          </p:spPr>
          <p:txBody>
            <a:bodyPr wrap="square" lIns="0" tIns="0" rIns="0" bIns="0" rtlCol="0"/>
            <a:lstStyle/>
            <a:p>
              <a:endParaRPr sz="2400"/>
            </a:p>
          </p:txBody>
        </p:sp>
      </p:grpSp>
      <p:sp>
        <p:nvSpPr>
          <p:cNvPr id="23" name="object 23"/>
          <p:cNvSpPr txBox="1"/>
          <p:nvPr/>
        </p:nvSpPr>
        <p:spPr>
          <a:xfrm>
            <a:off x="1700445" y="3839463"/>
            <a:ext cx="1699260" cy="344475"/>
          </a:xfrm>
          <a:prstGeom prst="rect">
            <a:avLst/>
          </a:prstGeom>
        </p:spPr>
        <p:txBody>
          <a:bodyPr vert="horz" wrap="square" lIns="0" tIns="16087" rIns="0" bIns="0" rtlCol="0">
            <a:spAutoFit/>
          </a:bodyPr>
          <a:lstStyle/>
          <a:p>
            <a:pPr marL="16933">
              <a:spcBef>
                <a:spcPts val="127"/>
              </a:spcBef>
            </a:pPr>
            <a:r>
              <a:rPr sz="2133" b="1" spc="-13" dirty="0">
                <a:solidFill>
                  <a:srgbClr val="00C3FF"/>
                </a:solidFill>
                <a:latin typeface="Calibri"/>
                <a:cs typeface="Calibri"/>
              </a:rPr>
              <a:t>Infrastructures</a:t>
            </a:r>
            <a:endParaRPr sz="2133">
              <a:latin typeface="Calibri"/>
              <a:cs typeface="Calibri"/>
            </a:endParaRPr>
          </a:p>
        </p:txBody>
      </p:sp>
      <p:grpSp>
        <p:nvGrpSpPr>
          <p:cNvPr id="24" name="object 24"/>
          <p:cNvGrpSpPr/>
          <p:nvPr/>
        </p:nvGrpSpPr>
        <p:grpSpPr>
          <a:xfrm>
            <a:off x="4949952" y="1326930"/>
            <a:ext cx="3100493" cy="1474047"/>
            <a:chOff x="3712464" y="995197"/>
            <a:chExt cx="2325370" cy="1105535"/>
          </a:xfrm>
        </p:grpSpPr>
        <p:pic>
          <p:nvPicPr>
            <p:cNvPr id="25" name="object 25"/>
            <p:cNvPicPr/>
            <p:nvPr/>
          </p:nvPicPr>
          <p:blipFill>
            <a:blip r:embed="rId5" cstate="print"/>
            <a:stretch>
              <a:fillRect/>
            </a:stretch>
          </p:blipFill>
          <p:spPr>
            <a:xfrm>
              <a:off x="3712464" y="995197"/>
              <a:ext cx="2324862" cy="1105382"/>
            </a:xfrm>
            <a:prstGeom prst="rect">
              <a:avLst/>
            </a:prstGeom>
          </p:spPr>
        </p:pic>
        <p:sp>
          <p:nvSpPr>
            <p:cNvPr id="26" name="object 26"/>
            <p:cNvSpPr/>
            <p:nvPr/>
          </p:nvSpPr>
          <p:spPr>
            <a:xfrm>
              <a:off x="4039362" y="1149857"/>
              <a:ext cx="1691639" cy="474345"/>
            </a:xfrm>
            <a:custGeom>
              <a:avLst/>
              <a:gdLst/>
              <a:ahLst/>
              <a:cxnLst/>
              <a:rect l="l" t="t" r="r" b="b"/>
              <a:pathLst>
                <a:path w="1691639" h="474344">
                  <a:moveTo>
                    <a:pt x="1573149" y="0"/>
                  </a:moveTo>
                  <a:lnTo>
                    <a:pt x="118490" y="0"/>
                  </a:lnTo>
                  <a:lnTo>
                    <a:pt x="0" y="236981"/>
                  </a:lnTo>
                  <a:lnTo>
                    <a:pt x="118490" y="473963"/>
                  </a:lnTo>
                  <a:lnTo>
                    <a:pt x="1573149" y="473963"/>
                  </a:lnTo>
                  <a:lnTo>
                    <a:pt x="1691639" y="236981"/>
                  </a:lnTo>
                  <a:lnTo>
                    <a:pt x="1573149" y="0"/>
                  </a:lnTo>
                  <a:close/>
                </a:path>
              </a:pathLst>
            </a:custGeom>
            <a:solidFill>
              <a:srgbClr val="D9D9D9"/>
            </a:solidFill>
          </p:spPr>
          <p:txBody>
            <a:bodyPr wrap="square" lIns="0" tIns="0" rIns="0" bIns="0" rtlCol="0"/>
            <a:lstStyle/>
            <a:p>
              <a:endParaRPr sz="2400"/>
            </a:p>
          </p:txBody>
        </p:sp>
        <p:sp>
          <p:nvSpPr>
            <p:cNvPr id="27" name="object 27"/>
            <p:cNvSpPr/>
            <p:nvPr/>
          </p:nvSpPr>
          <p:spPr>
            <a:xfrm>
              <a:off x="4039362" y="1149857"/>
              <a:ext cx="1691639" cy="474345"/>
            </a:xfrm>
            <a:custGeom>
              <a:avLst/>
              <a:gdLst/>
              <a:ahLst/>
              <a:cxnLst/>
              <a:rect l="l" t="t" r="r" b="b"/>
              <a:pathLst>
                <a:path w="1691639" h="474344">
                  <a:moveTo>
                    <a:pt x="0" y="236981"/>
                  </a:moveTo>
                  <a:lnTo>
                    <a:pt x="118490" y="0"/>
                  </a:lnTo>
                  <a:lnTo>
                    <a:pt x="1573149" y="0"/>
                  </a:lnTo>
                  <a:lnTo>
                    <a:pt x="1691639" y="236981"/>
                  </a:lnTo>
                  <a:lnTo>
                    <a:pt x="1573149" y="473963"/>
                  </a:lnTo>
                  <a:lnTo>
                    <a:pt x="118490" y="473963"/>
                  </a:lnTo>
                  <a:lnTo>
                    <a:pt x="0" y="236981"/>
                  </a:lnTo>
                  <a:close/>
                </a:path>
              </a:pathLst>
            </a:custGeom>
            <a:ln w="19812">
              <a:solidFill>
                <a:srgbClr val="878787"/>
              </a:solidFill>
            </a:ln>
          </p:spPr>
          <p:txBody>
            <a:bodyPr wrap="square" lIns="0" tIns="0" rIns="0" bIns="0" rtlCol="0"/>
            <a:lstStyle/>
            <a:p>
              <a:endParaRPr sz="2400"/>
            </a:p>
          </p:txBody>
        </p:sp>
      </p:grpSp>
      <p:sp>
        <p:nvSpPr>
          <p:cNvPr id="28" name="object 28"/>
          <p:cNvSpPr txBox="1"/>
          <p:nvPr/>
        </p:nvSpPr>
        <p:spPr>
          <a:xfrm>
            <a:off x="5755131" y="1660754"/>
            <a:ext cx="1517227" cy="344475"/>
          </a:xfrm>
          <a:prstGeom prst="rect">
            <a:avLst/>
          </a:prstGeom>
        </p:spPr>
        <p:txBody>
          <a:bodyPr vert="horz" wrap="square" lIns="0" tIns="16087" rIns="0" bIns="0" rtlCol="0">
            <a:spAutoFit/>
          </a:bodyPr>
          <a:lstStyle/>
          <a:p>
            <a:pPr marL="16933">
              <a:spcBef>
                <a:spcPts val="127"/>
              </a:spcBef>
            </a:pPr>
            <a:r>
              <a:rPr sz="2133" b="1" dirty="0">
                <a:solidFill>
                  <a:srgbClr val="00607E"/>
                </a:solidFill>
                <a:latin typeface="Calibri"/>
                <a:cs typeface="Calibri"/>
              </a:rPr>
              <a:t>Data </a:t>
            </a:r>
            <a:r>
              <a:rPr sz="2133" b="1" spc="-13" dirty="0">
                <a:solidFill>
                  <a:srgbClr val="00607E"/>
                </a:solidFill>
                <a:latin typeface="Calibri"/>
                <a:cs typeface="Calibri"/>
              </a:rPr>
              <a:t>analysis</a:t>
            </a:r>
            <a:endParaRPr sz="2133">
              <a:latin typeface="Calibri"/>
              <a:cs typeface="Calibri"/>
            </a:endParaRPr>
          </a:p>
        </p:txBody>
      </p:sp>
      <p:sp>
        <p:nvSpPr>
          <p:cNvPr id="29" name="object 29"/>
          <p:cNvSpPr txBox="1"/>
          <p:nvPr/>
        </p:nvSpPr>
        <p:spPr>
          <a:xfrm>
            <a:off x="1503680" y="5917184"/>
            <a:ext cx="1593427" cy="454034"/>
          </a:xfrm>
          <a:prstGeom prst="rect">
            <a:avLst/>
          </a:prstGeom>
          <a:solidFill>
            <a:srgbClr val="B3B3B3">
              <a:alpha val="50195"/>
            </a:srgbClr>
          </a:solidFill>
        </p:spPr>
        <p:txBody>
          <a:bodyPr vert="horz" wrap="square" lIns="0" tIns="43179" rIns="0" bIns="0" rtlCol="0">
            <a:spAutoFit/>
          </a:bodyPr>
          <a:lstStyle/>
          <a:p>
            <a:pPr marL="121917">
              <a:spcBef>
                <a:spcPts val="339"/>
              </a:spcBef>
            </a:pPr>
            <a:r>
              <a:rPr sz="2667" b="1" dirty="0">
                <a:solidFill>
                  <a:srgbClr val="FFFFFF"/>
                </a:solidFill>
                <a:latin typeface="Calibri"/>
                <a:cs typeface="Calibri"/>
              </a:rPr>
              <a:t>Raw</a:t>
            </a:r>
            <a:r>
              <a:rPr sz="2667" b="1" spc="-33" dirty="0">
                <a:solidFill>
                  <a:srgbClr val="FFFFFF"/>
                </a:solidFill>
                <a:latin typeface="Calibri"/>
                <a:cs typeface="Calibri"/>
              </a:rPr>
              <a:t> </a:t>
            </a:r>
            <a:r>
              <a:rPr sz="2667" b="1" spc="-27" dirty="0">
                <a:solidFill>
                  <a:srgbClr val="FFFFFF"/>
                </a:solidFill>
                <a:latin typeface="Calibri"/>
                <a:cs typeface="Calibri"/>
              </a:rPr>
              <a:t>data</a:t>
            </a:r>
            <a:endParaRPr sz="2667">
              <a:latin typeface="Calibri"/>
              <a:cs typeface="Calibri"/>
            </a:endParaRPr>
          </a:p>
        </p:txBody>
      </p:sp>
      <p:sp>
        <p:nvSpPr>
          <p:cNvPr id="30" name="object 30"/>
          <p:cNvSpPr/>
          <p:nvPr/>
        </p:nvSpPr>
        <p:spPr>
          <a:xfrm>
            <a:off x="8611616" y="4931680"/>
            <a:ext cx="3097107" cy="1063413"/>
          </a:xfrm>
          <a:custGeom>
            <a:avLst/>
            <a:gdLst/>
            <a:ahLst/>
            <a:cxnLst/>
            <a:rect l="l" t="t" r="r" b="b"/>
            <a:pathLst>
              <a:path w="2322829" h="797560">
                <a:moveTo>
                  <a:pt x="2322576" y="0"/>
                </a:moveTo>
                <a:lnTo>
                  <a:pt x="0" y="0"/>
                </a:lnTo>
                <a:lnTo>
                  <a:pt x="0" y="399275"/>
                </a:lnTo>
                <a:lnTo>
                  <a:pt x="208788" y="399275"/>
                </a:lnTo>
                <a:lnTo>
                  <a:pt x="208788" y="797039"/>
                </a:lnTo>
                <a:lnTo>
                  <a:pt x="2113788" y="797039"/>
                </a:lnTo>
                <a:lnTo>
                  <a:pt x="2113788" y="399275"/>
                </a:lnTo>
                <a:lnTo>
                  <a:pt x="2322576" y="399275"/>
                </a:lnTo>
                <a:lnTo>
                  <a:pt x="2322576" y="0"/>
                </a:lnTo>
                <a:close/>
              </a:path>
            </a:pathLst>
          </a:custGeom>
          <a:solidFill>
            <a:srgbClr val="B3B3B3">
              <a:alpha val="50195"/>
            </a:srgbClr>
          </a:solidFill>
        </p:spPr>
        <p:txBody>
          <a:bodyPr wrap="square" lIns="0" tIns="0" rIns="0" bIns="0" rtlCol="0"/>
          <a:lstStyle/>
          <a:p>
            <a:endParaRPr sz="2400"/>
          </a:p>
        </p:txBody>
      </p:sp>
      <p:sp>
        <p:nvSpPr>
          <p:cNvPr id="31" name="object 31"/>
          <p:cNvSpPr txBox="1"/>
          <p:nvPr/>
        </p:nvSpPr>
        <p:spPr>
          <a:xfrm>
            <a:off x="8717788" y="4835221"/>
            <a:ext cx="2807547" cy="1089314"/>
          </a:xfrm>
          <a:prstGeom prst="rect">
            <a:avLst/>
          </a:prstGeom>
        </p:spPr>
        <p:txBody>
          <a:bodyPr vert="horz" wrap="square" lIns="0" tIns="138852" rIns="0" bIns="0" rtlCol="0">
            <a:spAutoFit/>
          </a:bodyPr>
          <a:lstStyle/>
          <a:p>
            <a:pPr algn="ctr">
              <a:spcBef>
                <a:spcPts val="1092"/>
              </a:spcBef>
            </a:pPr>
            <a:r>
              <a:rPr sz="2667" b="1" dirty="0">
                <a:solidFill>
                  <a:srgbClr val="FFFFFF"/>
                </a:solidFill>
                <a:latin typeface="Calibri"/>
                <a:cs typeface="Calibri"/>
              </a:rPr>
              <a:t>Meaningful</a:t>
            </a:r>
            <a:r>
              <a:rPr sz="2667" b="1" spc="-33" dirty="0">
                <a:solidFill>
                  <a:srgbClr val="FFFFFF"/>
                </a:solidFill>
                <a:latin typeface="Calibri"/>
                <a:cs typeface="Calibri"/>
              </a:rPr>
              <a:t> </a:t>
            </a:r>
            <a:r>
              <a:rPr sz="2667" b="1" spc="-13" dirty="0">
                <a:solidFill>
                  <a:srgbClr val="FFFFFF"/>
                </a:solidFill>
                <a:latin typeface="Calibri"/>
                <a:cs typeface="Calibri"/>
              </a:rPr>
              <a:t>insights</a:t>
            </a:r>
            <a:endParaRPr sz="2667">
              <a:latin typeface="Calibri"/>
              <a:cs typeface="Calibri"/>
            </a:endParaRPr>
          </a:p>
          <a:p>
            <a:pPr marL="46566" algn="ctr">
              <a:spcBef>
                <a:spcPts val="967"/>
              </a:spcBef>
            </a:pPr>
            <a:r>
              <a:rPr sz="2667" b="1" dirty="0">
                <a:solidFill>
                  <a:srgbClr val="FFFFFF"/>
                </a:solidFill>
                <a:latin typeface="Calibri"/>
                <a:cs typeface="Calibri"/>
              </a:rPr>
              <a:t>Better</a:t>
            </a:r>
            <a:r>
              <a:rPr sz="2667" b="1" spc="-67" dirty="0">
                <a:solidFill>
                  <a:srgbClr val="FFFFFF"/>
                </a:solidFill>
                <a:latin typeface="Calibri"/>
                <a:cs typeface="Calibri"/>
              </a:rPr>
              <a:t> </a:t>
            </a:r>
            <a:r>
              <a:rPr sz="2667" b="1" spc="-13" dirty="0">
                <a:solidFill>
                  <a:srgbClr val="FFFFFF"/>
                </a:solidFill>
                <a:latin typeface="Calibri"/>
                <a:cs typeface="Calibri"/>
              </a:rPr>
              <a:t>decisions</a:t>
            </a:r>
            <a:endParaRPr sz="2667">
              <a:latin typeface="Calibri"/>
              <a:cs typeface="Calibri"/>
            </a:endParaRPr>
          </a:p>
        </p:txBody>
      </p:sp>
      <p:pic>
        <p:nvPicPr>
          <p:cNvPr id="32" name="object 32"/>
          <p:cNvPicPr/>
          <p:nvPr/>
        </p:nvPicPr>
        <p:blipFill>
          <a:blip r:embed="rId6" cstate="print"/>
          <a:stretch>
            <a:fillRect/>
          </a:stretch>
        </p:blipFill>
        <p:spPr>
          <a:xfrm>
            <a:off x="5624749" y="4664785"/>
            <a:ext cx="870184" cy="1029547"/>
          </a:xfrm>
          <a:prstGeom prst="rect">
            <a:avLst/>
          </a:prstGeom>
        </p:spPr>
      </p:pic>
      <p:pic>
        <p:nvPicPr>
          <p:cNvPr id="33" name="object 33"/>
          <p:cNvPicPr/>
          <p:nvPr/>
        </p:nvPicPr>
        <p:blipFill>
          <a:blip r:embed="rId7" cstate="print"/>
          <a:stretch>
            <a:fillRect/>
          </a:stretch>
        </p:blipFill>
        <p:spPr>
          <a:xfrm>
            <a:off x="9676307" y="3887645"/>
            <a:ext cx="972064" cy="960268"/>
          </a:xfrm>
          <a:prstGeom prst="rect">
            <a:avLst/>
          </a:prstGeom>
        </p:spPr>
      </p:pic>
      <p:grpSp>
        <p:nvGrpSpPr>
          <p:cNvPr id="34" name="object 34"/>
          <p:cNvGrpSpPr/>
          <p:nvPr/>
        </p:nvGrpSpPr>
        <p:grpSpPr>
          <a:xfrm>
            <a:off x="1888369" y="4874901"/>
            <a:ext cx="2621280" cy="1093892"/>
            <a:chOff x="1416277" y="3656175"/>
            <a:chExt cx="1965960" cy="820419"/>
          </a:xfrm>
        </p:grpSpPr>
        <p:pic>
          <p:nvPicPr>
            <p:cNvPr id="35" name="object 35"/>
            <p:cNvPicPr/>
            <p:nvPr/>
          </p:nvPicPr>
          <p:blipFill>
            <a:blip r:embed="rId8" cstate="print"/>
            <a:stretch>
              <a:fillRect/>
            </a:stretch>
          </p:blipFill>
          <p:spPr>
            <a:xfrm>
              <a:off x="1416277" y="3656175"/>
              <a:ext cx="636890" cy="653193"/>
            </a:xfrm>
            <a:prstGeom prst="rect">
              <a:avLst/>
            </a:prstGeom>
          </p:spPr>
        </p:pic>
        <p:sp>
          <p:nvSpPr>
            <p:cNvPr id="36" name="object 36"/>
            <p:cNvSpPr/>
            <p:nvPr/>
          </p:nvSpPr>
          <p:spPr>
            <a:xfrm>
              <a:off x="2797302" y="3890009"/>
              <a:ext cx="571500" cy="573405"/>
            </a:xfrm>
            <a:custGeom>
              <a:avLst/>
              <a:gdLst/>
              <a:ahLst/>
              <a:cxnLst/>
              <a:rect l="l" t="t" r="r" b="b"/>
              <a:pathLst>
                <a:path w="571500" h="573404">
                  <a:moveTo>
                    <a:pt x="285750" y="0"/>
                  </a:moveTo>
                  <a:lnTo>
                    <a:pt x="285750" y="143255"/>
                  </a:lnTo>
                  <a:lnTo>
                    <a:pt x="0" y="143255"/>
                  </a:lnTo>
                  <a:lnTo>
                    <a:pt x="0" y="429767"/>
                  </a:lnTo>
                  <a:lnTo>
                    <a:pt x="285750" y="429767"/>
                  </a:lnTo>
                  <a:lnTo>
                    <a:pt x="285750" y="573023"/>
                  </a:lnTo>
                  <a:lnTo>
                    <a:pt x="571500" y="286511"/>
                  </a:lnTo>
                  <a:lnTo>
                    <a:pt x="285750" y="0"/>
                  </a:lnTo>
                  <a:close/>
                </a:path>
              </a:pathLst>
            </a:custGeom>
            <a:solidFill>
              <a:srgbClr val="00C3FF"/>
            </a:solidFill>
          </p:spPr>
          <p:txBody>
            <a:bodyPr wrap="square" lIns="0" tIns="0" rIns="0" bIns="0" rtlCol="0"/>
            <a:lstStyle/>
            <a:p>
              <a:endParaRPr sz="2400"/>
            </a:p>
          </p:txBody>
        </p:sp>
        <p:sp>
          <p:nvSpPr>
            <p:cNvPr id="37" name="object 37"/>
            <p:cNvSpPr/>
            <p:nvPr/>
          </p:nvSpPr>
          <p:spPr>
            <a:xfrm>
              <a:off x="2797302" y="3890009"/>
              <a:ext cx="571500" cy="573405"/>
            </a:xfrm>
            <a:custGeom>
              <a:avLst/>
              <a:gdLst/>
              <a:ahLst/>
              <a:cxnLst/>
              <a:rect l="l" t="t" r="r" b="b"/>
              <a:pathLst>
                <a:path w="571500" h="573404">
                  <a:moveTo>
                    <a:pt x="285750" y="573023"/>
                  </a:moveTo>
                  <a:lnTo>
                    <a:pt x="285750" y="429767"/>
                  </a:lnTo>
                  <a:lnTo>
                    <a:pt x="0" y="429767"/>
                  </a:lnTo>
                  <a:lnTo>
                    <a:pt x="0" y="143255"/>
                  </a:lnTo>
                  <a:lnTo>
                    <a:pt x="285750" y="143255"/>
                  </a:lnTo>
                  <a:lnTo>
                    <a:pt x="285750" y="0"/>
                  </a:lnTo>
                  <a:lnTo>
                    <a:pt x="571500" y="286511"/>
                  </a:lnTo>
                  <a:lnTo>
                    <a:pt x="285750" y="573023"/>
                  </a:lnTo>
                  <a:close/>
                </a:path>
              </a:pathLst>
            </a:custGeom>
            <a:ln w="25908">
              <a:solidFill>
                <a:srgbClr val="008FBB"/>
              </a:solidFill>
            </a:ln>
          </p:spPr>
          <p:txBody>
            <a:bodyPr wrap="square" lIns="0" tIns="0" rIns="0" bIns="0" rtlCol="0"/>
            <a:lstStyle/>
            <a:p>
              <a:endParaRPr sz="2400"/>
            </a:p>
          </p:txBody>
        </p:sp>
      </p:grpSp>
      <p:sp>
        <p:nvSpPr>
          <p:cNvPr id="38" name="object 38"/>
          <p:cNvSpPr txBox="1"/>
          <p:nvPr/>
        </p:nvSpPr>
        <p:spPr>
          <a:xfrm>
            <a:off x="5080001" y="5949695"/>
            <a:ext cx="1812713" cy="454034"/>
          </a:xfrm>
          <a:prstGeom prst="rect">
            <a:avLst/>
          </a:prstGeom>
          <a:solidFill>
            <a:srgbClr val="B3B3B3">
              <a:alpha val="50195"/>
            </a:srgbClr>
          </a:solidFill>
        </p:spPr>
        <p:txBody>
          <a:bodyPr vert="horz" wrap="square" lIns="0" tIns="43179" rIns="0" bIns="0" rtlCol="0">
            <a:spAutoFit/>
          </a:bodyPr>
          <a:lstStyle/>
          <a:p>
            <a:pPr marL="122764">
              <a:spcBef>
                <a:spcPts val="339"/>
              </a:spcBef>
            </a:pPr>
            <a:r>
              <a:rPr sz="2667" b="1" spc="-13" dirty="0">
                <a:solidFill>
                  <a:srgbClr val="FFFFFF"/>
                </a:solidFill>
                <a:latin typeface="Calibri"/>
                <a:cs typeface="Calibri"/>
              </a:rPr>
              <a:t>Transform</a:t>
            </a:r>
            <a:endParaRPr sz="2667">
              <a:latin typeface="Calibri"/>
              <a:cs typeface="Calibri"/>
            </a:endParaRPr>
          </a:p>
        </p:txBody>
      </p:sp>
      <p:grpSp>
        <p:nvGrpSpPr>
          <p:cNvPr id="39" name="object 39"/>
          <p:cNvGrpSpPr/>
          <p:nvPr/>
        </p:nvGrpSpPr>
        <p:grpSpPr>
          <a:xfrm>
            <a:off x="7380224" y="5208015"/>
            <a:ext cx="796713" cy="799253"/>
            <a:chOff x="5535167" y="3906011"/>
            <a:chExt cx="597535" cy="599440"/>
          </a:xfrm>
        </p:grpSpPr>
        <p:sp>
          <p:nvSpPr>
            <p:cNvPr id="40" name="object 40"/>
            <p:cNvSpPr/>
            <p:nvPr/>
          </p:nvSpPr>
          <p:spPr>
            <a:xfrm>
              <a:off x="5548121" y="3918965"/>
              <a:ext cx="571500" cy="573405"/>
            </a:xfrm>
            <a:custGeom>
              <a:avLst/>
              <a:gdLst/>
              <a:ahLst/>
              <a:cxnLst/>
              <a:rect l="l" t="t" r="r" b="b"/>
              <a:pathLst>
                <a:path w="571500" h="573404">
                  <a:moveTo>
                    <a:pt x="285750" y="0"/>
                  </a:moveTo>
                  <a:lnTo>
                    <a:pt x="285750" y="143256"/>
                  </a:lnTo>
                  <a:lnTo>
                    <a:pt x="0" y="143256"/>
                  </a:lnTo>
                  <a:lnTo>
                    <a:pt x="0" y="429768"/>
                  </a:lnTo>
                  <a:lnTo>
                    <a:pt x="285750" y="429768"/>
                  </a:lnTo>
                  <a:lnTo>
                    <a:pt x="285750" y="573024"/>
                  </a:lnTo>
                  <a:lnTo>
                    <a:pt x="571500" y="286512"/>
                  </a:lnTo>
                  <a:lnTo>
                    <a:pt x="285750" y="0"/>
                  </a:lnTo>
                  <a:close/>
                </a:path>
              </a:pathLst>
            </a:custGeom>
            <a:solidFill>
              <a:srgbClr val="00C3FF"/>
            </a:solidFill>
          </p:spPr>
          <p:txBody>
            <a:bodyPr wrap="square" lIns="0" tIns="0" rIns="0" bIns="0" rtlCol="0"/>
            <a:lstStyle/>
            <a:p>
              <a:endParaRPr sz="2400"/>
            </a:p>
          </p:txBody>
        </p:sp>
        <p:sp>
          <p:nvSpPr>
            <p:cNvPr id="41" name="object 41"/>
            <p:cNvSpPr/>
            <p:nvPr/>
          </p:nvSpPr>
          <p:spPr>
            <a:xfrm>
              <a:off x="5548121" y="3918965"/>
              <a:ext cx="571500" cy="573405"/>
            </a:xfrm>
            <a:custGeom>
              <a:avLst/>
              <a:gdLst/>
              <a:ahLst/>
              <a:cxnLst/>
              <a:rect l="l" t="t" r="r" b="b"/>
              <a:pathLst>
                <a:path w="571500" h="573404">
                  <a:moveTo>
                    <a:pt x="285750" y="573024"/>
                  </a:moveTo>
                  <a:lnTo>
                    <a:pt x="285750" y="429768"/>
                  </a:lnTo>
                  <a:lnTo>
                    <a:pt x="0" y="429768"/>
                  </a:lnTo>
                  <a:lnTo>
                    <a:pt x="0" y="143256"/>
                  </a:lnTo>
                  <a:lnTo>
                    <a:pt x="285750" y="143256"/>
                  </a:lnTo>
                  <a:lnTo>
                    <a:pt x="285750" y="0"/>
                  </a:lnTo>
                  <a:lnTo>
                    <a:pt x="571500" y="286512"/>
                  </a:lnTo>
                  <a:lnTo>
                    <a:pt x="285750" y="573024"/>
                  </a:lnTo>
                  <a:close/>
                </a:path>
              </a:pathLst>
            </a:custGeom>
            <a:ln w="25908">
              <a:solidFill>
                <a:srgbClr val="008FBB"/>
              </a:solidFill>
            </a:ln>
          </p:spPr>
          <p:txBody>
            <a:bodyPr wrap="square" lIns="0" tIns="0" rIns="0" bIns="0" rtlCol="0"/>
            <a:lstStyle/>
            <a:p>
              <a:endParaRPr sz="2400"/>
            </a:p>
          </p:txBody>
        </p:sp>
      </p:grpSp>
      <p:sp>
        <p:nvSpPr>
          <p:cNvPr id="42" name="object 42"/>
          <p:cNvSpPr/>
          <p:nvPr/>
        </p:nvSpPr>
        <p:spPr>
          <a:xfrm>
            <a:off x="9711336" y="2362014"/>
            <a:ext cx="908473" cy="1231900"/>
          </a:xfrm>
          <a:custGeom>
            <a:avLst/>
            <a:gdLst/>
            <a:ahLst/>
            <a:cxnLst/>
            <a:rect l="l" t="t" r="r" b="b"/>
            <a:pathLst>
              <a:path w="681354" h="923925">
                <a:moveTo>
                  <a:pt x="680885" y="631977"/>
                </a:moveTo>
                <a:lnTo>
                  <a:pt x="673938" y="651510"/>
                </a:lnTo>
                <a:lnTo>
                  <a:pt x="654024" y="669734"/>
                </a:lnTo>
                <a:lnTo>
                  <a:pt x="622541" y="686244"/>
                </a:lnTo>
                <a:lnTo>
                  <a:pt x="607936" y="691299"/>
                </a:lnTo>
                <a:lnTo>
                  <a:pt x="607936" y="802119"/>
                </a:lnTo>
                <a:lnTo>
                  <a:pt x="606183" y="812076"/>
                </a:lnTo>
                <a:lnTo>
                  <a:pt x="601243" y="819746"/>
                </a:lnTo>
                <a:lnTo>
                  <a:pt x="593572" y="824687"/>
                </a:lnTo>
                <a:lnTo>
                  <a:pt x="583615" y="826427"/>
                </a:lnTo>
                <a:lnTo>
                  <a:pt x="573659" y="824687"/>
                </a:lnTo>
                <a:lnTo>
                  <a:pt x="565988" y="819746"/>
                </a:lnTo>
                <a:lnTo>
                  <a:pt x="561047" y="812076"/>
                </a:lnTo>
                <a:lnTo>
                  <a:pt x="559295" y="802119"/>
                </a:lnTo>
                <a:lnTo>
                  <a:pt x="561047" y="792175"/>
                </a:lnTo>
                <a:lnTo>
                  <a:pt x="565988" y="784504"/>
                </a:lnTo>
                <a:lnTo>
                  <a:pt x="573659" y="779564"/>
                </a:lnTo>
                <a:lnTo>
                  <a:pt x="583615" y="777811"/>
                </a:lnTo>
                <a:lnTo>
                  <a:pt x="593572" y="779564"/>
                </a:lnTo>
                <a:lnTo>
                  <a:pt x="601243" y="784504"/>
                </a:lnTo>
                <a:lnTo>
                  <a:pt x="606183" y="792175"/>
                </a:lnTo>
                <a:lnTo>
                  <a:pt x="607936" y="802119"/>
                </a:lnTo>
                <a:lnTo>
                  <a:pt x="607936" y="691299"/>
                </a:lnTo>
                <a:lnTo>
                  <a:pt x="530440" y="712546"/>
                </a:lnTo>
                <a:lnTo>
                  <a:pt x="472630" y="721537"/>
                </a:lnTo>
                <a:lnTo>
                  <a:pt x="408825" y="727214"/>
                </a:lnTo>
                <a:lnTo>
                  <a:pt x="340436" y="729208"/>
                </a:lnTo>
                <a:lnTo>
                  <a:pt x="272046" y="727214"/>
                </a:lnTo>
                <a:lnTo>
                  <a:pt x="208254" y="721537"/>
                </a:lnTo>
                <a:lnTo>
                  <a:pt x="150431" y="712546"/>
                </a:lnTo>
                <a:lnTo>
                  <a:pt x="99999" y="700646"/>
                </a:lnTo>
                <a:lnTo>
                  <a:pt x="58343" y="686244"/>
                </a:lnTo>
                <a:lnTo>
                  <a:pt x="6946" y="651510"/>
                </a:lnTo>
                <a:lnTo>
                  <a:pt x="0" y="631977"/>
                </a:lnTo>
                <a:lnTo>
                  <a:pt x="0" y="826427"/>
                </a:lnTo>
                <a:lnTo>
                  <a:pt x="26860" y="864184"/>
                </a:lnTo>
                <a:lnTo>
                  <a:pt x="99999" y="895096"/>
                </a:lnTo>
                <a:lnTo>
                  <a:pt x="150431" y="906995"/>
                </a:lnTo>
                <a:lnTo>
                  <a:pt x="208254" y="915987"/>
                </a:lnTo>
                <a:lnTo>
                  <a:pt x="272046" y="921664"/>
                </a:lnTo>
                <a:lnTo>
                  <a:pt x="340436" y="923658"/>
                </a:lnTo>
                <a:lnTo>
                  <a:pt x="408825" y="921664"/>
                </a:lnTo>
                <a:lnTo>
                  <a:pt x="472630" y="915987"/>
                </a:lnTo>
                <a:lnTo>
                  <a:pt x="530440" y="906995"/>
                </a:lnTo>
                <a:lnTo>
                  <a:pt x="580885" y="895096"/>
                </a:lnTo>
                <a:lnTo>
                  <a:pt x="622541" y="880694"/>
                </a:lnTo>
                <a:lnTo>
                  <a:pt x="673938" y="845959"/>
                </a:lnTo>
                <a:lnTo>
                  <a:pt x="680885" y="826427"/>
                </a:lnTo>
                <a:lnTo>
                  <a:pt x="680885" y="777811"/>
                </a:lnTo>
                <a:lnTo>
                  <a:pt x="680885" y="729208"/>
                </a:lnTo>
                <a:lnTo>
                  <a:pt x="680885" y="631977"/>
                </a:lnTo>
                <a:close/>
              </a:path>
              <a:path w="681354" h="923925">
                <a:moveTo>
                  <a:pt x="680885" y="388912"/>
                </a:moveTo>
                <a:lnTo>
                  <a:pt x="673938" y="408444"/>
                </a:lnTo>
                <a:lnTo>
                  <a:pt x="654024" y="426669"/>
                </a:lnTo>
                <a:lnTo>
                  <a:pt x="622541" y="443179"/>
                </a:lnTo>
                <a:lnTo>
                  <a:pt x="607936" y="448233"/>
                </a:lnTo>
                <a:lnTo>
                  <a:pt x="607936" y="559054"/>
                </a:lnTo>
                <a:lnTo>
                  <a:pt x="606183" y="569010"/>
                </a:lnTo>
                <a:lnTo>
                  <a:pt x="601243" y="576681"/>
                </a:lnTo>
                <a:lnTo>
                  <a:pt x="593572" y="581621"/>
                </a:lnTo>
                <a:lnTo>
                  <a:pt x="583615" y="583361"/>
                </a:lnTo>
                <a:lnTo>
                  <a:pt x="573659" y="581621"/>
                </a:lnTo>
                <a:lnTo>
                  <a:pt x="565988" y="576681"/>
                </a:lnTo>
                <a:lnTo>
                  <a:pt x="561047" y="569010"/>
                </a:lnTo>
                <a:lnTo>
                  <a:pt x="559295" y="559054"/>
                </a:lnTo>
                <a:lnTo>
                  <a:pt x="561047" y="549109"/>
                </a:lnTo>
                <a:lnTo>
                  <a:pt x="565988" y="541439"/>
                </a:lnTo>
                <a:lnTo>
                  <a:pt x="573659" y="536498"/>
                </a:lnTo>
                <a:lnTo>
                  <a:pt x="583615" y="534758"/>
                </a:lnTo>
                <a:lnTo>
                  <a:pt x="593572" y="536498"/>
                </a:lnTo>
                <a:lnTo>
                  <a:pt x="601243" y="541439"/>
                </a:lnTo>
                <a:lnTo>
                  <a:pt x="606183" y="549109"/>
                </a:lnTo>
                <a:lnTo>
                  <a:pt x="607936" y="559054"/>
                </a:lnTo>
                <a:lnTo>
                  <a:pt x="607936" y="448233"/>
                </a:lnTo>
                <a:lnTo>
                  <a:pt x="530440" y="469480"/>
                </a:lnTo>
                <a:lnTo>
                  <a:pt x="472630" y="478472"/>
                </a:lnTo>
                <a:lnTo>
                  <a:pt x="408825" y="484162"/>
                </a:lnTo>
                <a:lnTo>
                  <a:pt x="340436" y="486143"/>
                </a:lnTo>
                <a:lnTo>
                  <a:pt x="272046" y="484162"/>
                </a:lnTo>
                <a:lnTo>
                  <a:pt x="208254" y="478472"/>
                </a:lnTo>
                <a:lnTo>
                  <a:pt x="150431" y="469480"/>
                </a:lnTo>
                <a:lnTo>
                  <a:pt x="99999" y="457581"/>
                </a:lnTo>
                <a:lnTo>
                  <a:pt x="58343" y="443179"/>
                </a:lnTo>
                <a:lnTo>
                  <a:pt x="6946" y="408444"/>
                </a:lnTo>
                <a:lnTo>
                  <a:pt x="0" y="388912"/>
                </a:lnTo>
                <a:lnTo>
                  <a:pt x="0" y="583361"/>
                </a:lnTo>
                <a:lnTo>
                  <a:pt x="26860" y="621118"/>
                </a:lnTo>
                <a:lnTo>
                  <a:pt x="99999" y="652030"/>
                </a:lnTo>
                <a:lnTo>
                  <a:pt x="150431" y="663930"/>
                </a:lnTo>
                <a:lnTo>
                  <a:pt x="208254" y="672922"/>
                </a:lnTo>
                <a:lnTo>
                  <a:pt x="272046" y="678611"/>
                </a:lnTo>
                <a:lnTo>
                  <a:pt x="340436" y="680593"/>
                </a:lnTo>
                <a:lnTo>
                  <a:pt x="408825" y="678611"/>
                </a:lnTo>
                <a:lnTo>
                  <a:pt x="472630" y="672922"/>
                </a:lnTo>
                <a:lnTo>
                  <a:pt x="530440" y="663930"/>
                </a:lnTo>
                <a:lnTo>
                  <a:pt x="580885" y="652030"/>
                </a:lnTo>
                <a:lnTo>
                  <a:pt x="622541" y="637628"/>
                </a:lnTo>
                <a:lnTo>
                  <a:pt x="673938" y="602894"/>
                </a:lnTo>
                <a:lnTo>
                  <a:pt x="680885" y="583361"/>
                </a:lnTo>
                <a:lnTo>
                  <a:pt x="680885" y="534758"/>
                </a:lnTo>
                <a:lnTo>
                  <a:pt x="680885" y="486143"/>
                </a:lnTo>
                <a:lnTo>
                  <a:pt x="680885" y="388912"/>
                </a:lnTo>
                <a:close/>
              </a:path>
              <a:path w="681354" h="923925">
                <a:moveTo>
                  <a:pt x="680885" y="145846"/>
                </a:moveTo>
                <a:lnTo>
                  <a:pt x="673938" y="165379"/>
                </a:lnTo>
                <a:lnTo>
                  <a:pt x="654024" y="183603"/>
                </a:lnTo>
                <a:lnTo>
                  <a:pt x="622541" y="200113"/>
                </a:lnTo>
                <a:lnTo>
                  <a:pt x="607936" y="205168"/>
                </a:lnTo>
                <a:lnTo>
                  <a:pt x="607936" y="316001"/>
                </a:lnTo>
                <a:lnTo>
                  <a:pt x="606183" y="325945"/>
                </a:lnTo>
                <a:lnTo>
                  <a:pt x="601243" y="333616"/>
                </a:lnTo>
                <a:lnTo>
                  <a:pt x="593572" y="338556"/>
                </a:lnTo>
                <a:lnTo>
                  <a:pt x="583615" y="340309"/>
                </a:lnTo>
                <a:lnTo>
                  <a:pt x="573659" y="338556"/>
                </a:lnTo>
                <a:lnTo>
                  <a:pt x="565988" y="333616"/>
                </a:lnTo>
                <a:lnTo>
                  <a:pt x="561047" y="325945"/>
                </a:lnTo>
                <a:lnTo>
                  <a:pt x="559295" y="316001"/>
                </a:lnTo>
                <a:lnTo>
                  <a:pt x="561047" y="306044"/>
                </a:lnTo>
                <a:lnTo>
                  <a:pt x="565988" y="298373"/>
                </a:lnTo>
                <a:lnTo>
                  <a:pt x="573659" y="293433"/>
                </a:lnTo>
                <a:lnTo>
                  <a:pt x="583615" y="291693"/>
                </a:lnTo>
                <a:lnTo>
                  <a:pt x="593572" y="293433"/>
                </a:lnTo>
                <a:lnTo>
                  <a:pt x="601243" y="298373"/>
                </a:lnTo>
                <a:lnTo>
                  <a:pt x="606183" y="306044"/>
                </a:lnTo>
                <a:lnTo>
                  <a:pt x="607936" y="316001"/>
                </a:lnTo>
                <a:lnTo>
                  <a:pt x="607936" y="205168"/>
                </a:lnTo>
                <a:lnTo>
                  <a:pt x="530440" y="226415"/>
                </a:lnTo>
                <a:lnTo>
                  <a:pt x="472630" y="235407"/>
                </a:lnTo>
                <a:lnTo>
                  <a:pt x="408825" y="241096"/>
                </a:lnTo>
                <a:lnTo>
                  <a:pt x="340436" y="243078"/>
                </a:lnTo>
                <a:lnTo>
                  <a:pt x="272046" y="241096"/>
                </a:lnTo>
                <a:lnTo>
                  <a:pt x="208254" y="235407"/>
                </a:lnTo>
                <a:lnTo>
                  <a:pt x="150431" y="226415"/>
                </a:lnTo>
                <a:lnTo>
                  <a:pt x="99999" y="214515"/>
                </a:lnTo>
                <a:lnTo>
                  <a:pt x="58343" y="200113"/>
                </a:lnTo>
                <a:lnTo>
                  <a:pt x="6946" y="165379"/>
                </a:lnTo>
                <a:lnTo>
                  <a:pt x="0" y="145846"/>
                </a:lnTo>
                <a:lnTo>
                  <a:pt x="0" y="340296"/>
                </a:lnTo>
                <a:lnTo>
                  <a:pt x="26860" y="378053"/>
                </a:lnTo>
                <a:lnTo>
                  <a:pt x="99999" y="408965"/>
                </a:lnTo>
                <a:lnTo>
                  <a:pt x="150431" y="420865"/>
                </a:lnTo>
                <a:lnTo>
                  <a:pt x="208254" y="429856"/>
                </a:lnTo>
                <a:lnTo>
                  <a:pt x="272046" y="435546"/>
                </a:lnTo>
                <a:lnTo>
                  <a:pt x="340436" y="437527"/>
                </a:lnTo>
                <a:lnTo>
                  <a:pt x="408825" y="435546"/>
                </a:lnTo>
                <a:lnTo>
                  <a:pt x="472630" y="429856"/>
                </a:lnTo>
                <a:lnTo>
                  <a:pt x="530440" y="420865"/>
                </a:lnTo>
                <a:lnTo>
                  <a:pt x="580885" y="408965"/>
                </a:lnTo>
                <a:lnTo>
                  <a:pt x="622541" y="394563"/>
                </a:lnTo>
                <a:lnTo>
                  <a:pt x="673938" y="359829"/>
                </a:lnTo>
                <a:lnTo>
                  <a:pt x="680885" y="340309"/>
                </a:lnTo>
                <a:lnTo>
                  <a:pt x="680885" y="291693"/>
                </a:lnTo>
                <a:lnTo>
                  <a:pt x="680885" y="243078"/>
                </a:lnTo>
                <a:lnTo>
                  <a:pt x="680885" y="145846"/>
                </a:lnTo>
                <a:close/>
              </a:path>
              <a:path w="681354" h="923925">
                <a:moveTo>
                  <a:pt x="680885" y="97243"/>
                </a:moveTo>
                <a:lnTo>
                  <a:pt x="654126" y="59385"/>
                </a:lnTo>
                <a:lnTo>
                  <a:pt x="581177" y="28486"/>
                </a:lnTo>
                <a:lnTo>
                  <a:pt x="530783" y="16598"/>
                </a:lnTo>
                <a:lnTo>
                  <a:pt x="472960" y="7632"/>
                </a:lnTo>
                <a:lnTo>
                  <a:pt x="409054" y="1968"/>
                </a:lnTo>
                <a:lnTo>
                  <a:pt x="340436" y="0"/>
                </a:lnTo>
                <a:lnTo>
                  <a:pt x="271830" y="1968"/>
                </a:lnTo>
                <a:lnTo>
                  <a:pt x="207924" y="7632"/>
                </a:lnTo>
                <a:lnTo>
                  <a:pt x="150101" y="16598"/>
                </a:lnTo>
                <a:lnTo>
                  <a:pt x="99707" y="28486"/>
                </a:lnTo>
                <a:lnTo>
                  <a:pt x="58140" y="42875"/>
                </a:lnTo>
                <a:lnTo>
                  <a:pt x="6908" y="77647"/>
                </a:lnTo>
                <a:lnTo>
                  <a:pt x="0" y="97243"/>
                </a:lnTo>
                <a:lnTo>
                  <a:pt x="6908" y="116840"/>
                </a:lnTo>
                <a:lnTo>
                  <a:pt x="58140" y="151599"/>
                </a:lnTo>
                <a:lnTo>
                  <a:pt x="99707" y="165989"/>
                </a:lnTo>
                <a:lnTo>
                  <a:pt x="150101" y="177863"/>
                </a:lnTo>
                <a:lnTo>
                  <a:pt x="207924" y="186829"/>
                </a:lnTo>
                <a:lnTo>
                  <a:pt x="271830" y="192493"/>
                </a:lnTo>
                <a:lnTo>
                  <a:pt x="340436" y="194462"/>
                </a:lnTo>
                <a:lnTo>
                  <a:pt x="409054" y="192493"/>
                </a:lnTo>
                <a:lnTo>
                  <a:pt x="472960" y="186829"/>
                </a:lnTo>
                <a:lnTo>
                  <a:pt x="530783" y="177863"/>
                </a:lnTo>
                <a:lnTo>
                  <a:pt x="581177" y="165989"/>
                </a:lnTo>
                <a:lnTo>
                  <a:pt x="622744" y="151599"/>
                </a:lnTo>
                <a:lnTo>
                  <a:pt x="673963" y="116840"/>
                </a:lnTo>
                <a:lnTo>
                  <a:pt x="680885" y="97243"/>
                </a:lnTo>
                <a:close/>
              </a:path>
            </a:pathLst>
          </a:custGeom>
          <a:solidFill>
            <a:srgbClr val="99D3FF"/>
          </a:solidFill>
        </p:spPr>
        <p:txBody>
          <a:bodyPr wrap="square" lIns="0" tIns="0" rIns="0" bIns="0" rtlCol="0"/>
          <a:lstStyle/>
          <a:p>
            <a:endParaRPr sz="2400"/>
          </a:p>
        </p:txBody>
      </p:sp>
      <p:sp>
        <p:nvSpPr>
          <p:cNvPr id="43" name="object 43"/>
          <p:cNvSpPr txBox="1"/>
          <p:nvPr/>
        </p:nvSpPr>
        <p:spPr>
          <a:xfrm>
            <a:off x="9204960" y="1276097"/>
            <a:ext cx="1802553" cy="953295"/>
          </a:xfrm>
          <a:prstGeom prst="rect">
            <a:avLst/>
          </a:prstGeom>
        </p:spPr>
        <p:txBody>
          <a:bodyPr vert="horz" wrap="square" lIns="0" tIns="298027" rIns="0" bIns="0" rtlCol="0">
            <a:spAutoFit/>
          </a:bodyPr>
          <a:lstStyle/>
          <a:p>
            <a:pPr marL="293786" marR="278546" indent="348818">
              <a:lnSpc>
                <a:spcPct val="100600"/>
              </a:lnSpc>
              <a:spcBef>
                <a:spcPts val="2347"/>
              </a:spcBef>
            </a:pPr>
            <a:r>
              <a:rPr sz="2133" spc="-27" dirty="0">
                <a:solidFill>
                  <a:srgbClr val="FFFFFF"/>
                </a:solidFill>
                <a:latin typeface="Calibri"/>
                <a:cs typeface="Calibri"/>
              </a:rPr>
              <a:t>Data </a:t>
            </a:r>
            <a:r>
              <a:rPr sz="2133" spc="-13" dirty="0">
                <a:solidFill>
                  <a:srgbClr val="FFFFFF"/>
                </a:solidFill>
                <a:latin typeface="Calibri"/>
                <a:cs typeface="Calibri"/>
              </a:rPr>
              <a:t>warehouse</a:t>
            </a:r>
            <a:endParaRPr sz="2133">
              <a:latin typeface="Calibri"/>
              <a:cs typeface="Calibri"/>
            </a:endParaRPr>
          </a:p>
        </p:txBody>
      </p:sp>
      <p:pic>
        <p:nvPicPr>
          <p:cNvPr id="44" name="object 44"/>
          <p:cNvPicPr/>
          <p:nvPr/>
        </p:nvPicPr>
        <p:blipFill>
          <a:blip r:embed="rId9" cstate="print"/>
          <a:stretch>
            <a:fillRect/>
          </a:stretch>
        </p:blipFill>
        <p:spPr>
          <a:xfrm>
            <a:off x="3489342" y="94155"/>
            <a:ext cx="5390896" cy="9652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5">
            <a:extLst>
              <a:ext uri="{FF2B5EF4-FFF2-40B4-BE49-F238E27FC236}">
                <a16:creationId xmlns:a16="http://schemas.microsoft.com/office/drawing/2014/main" id="{57BF4E62-E7DE-E76A-8732-8B4EDAAA6059}"/>
              </a:ext>
            </a:extLst>
          </p:cNvPr>
          <p:cNvSpPr txBox="1">
            <a:spLocks/>
          </p:cNvSpPr>
          <p:nvPr/>
        </p:nvSpPr>
        <p:spPr>
          <a:xfrm>
            <a:off x="2136361" y="1791503"/>
            <a:ext cx="8491330" cy="695062"/>
          </a:xfrm>
          <a:prstGeom prst="rect">
            <a:avLst/>
          </a:prstGeom>
        </p:spPr>
        <p:txBody>
          <a:bodyPr vert="horz" wrap="square" lIns="0" tIns="1778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6933">
              <a:lnSpc>
                <a:spcPct val="100000"/>
              </a:lnSpc>
              <a:spcBef>
                <a:spcPts val="140"/>
              </a:spcBef>
            </a:pPr>
            <a:r>
              <a:rPr lang="en-IN" dirty="0">
                <a:solidFill>
                  <a:schemeClr val="bg1"/>
                </a:solidFill>
                <a:latin typeface="+mn-lt"/>
              </a:rPr>
              <a:t>Data Lake &amp; Data</a:t>
            </a:r>
            <a:r>
              <a:rPr lang="en-IN" spc="-33" dirty="0">
                <a:solidFill>
                  <a:schemeClr val="bg1"/>
                </a:solidFill>
                <a:latin typeface="+mn-lt"/>
              </a:rPr>
              <a:t> </a:t>
            </a:r>
            <a:r>
              <a:rPr lang="en-IN" dirty="0">
                <a:solidFill>
                  <a:schemeClr val="bg1"/>
                </a:solidFill>
                <a:latin typeface="+mn-lt"/>
              </a:rPr>
              <a:t>Warehouse</a:t>
            </a:r>
            <a:r>
              <a:rPr lang="en-IN" spc="-60" dirty="0">
                <a:solidFill>
                  <a:schemeClr val="bg1"/>
                </a:solidFill>
                <a:latin typeface="+mn-lt"/>
              </a:rPr>
              <a:t> </a:t>
            </a:r>
            <a:r>
              <a:rPr lang="en-IN" spc="-13" dirty="0">
                <a:solidFill>
                  <a:schemeClr val="bg1"/>
                </a:solidFill>
                <a:latin typeface="+mn-lt"/>
              </a:rPr>
              <a:t>Layers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93305" y="2759891"/>
            <a:ext cx="10833652" cy="900353"/>
          </a:xfrm>
          <a:prstGeom prst="rect">
            <a:avLst/>
          </a:prstGeom>
        </p:spPr>
        <p:txBody>
          <a:bodyPr vert="horz" wrap="square" lIns="0" tIns="16933" rIns="0" bIns="0" rtlCol="0">
            <a:spAutoFit/>
          </a:bodyPr>
          <a:lstStyle/>
          <a:p>
            <a:pPr marL="2093754" marR="6773" indent="-2077668">
              <a:lnSpc>
                <a:spcPct val="150100"/>
              </a:lnSpc>
              <a:spcBef>
                <a:spcPts val="133"/>
              </a:spcBef>
            </a:pPr>
            <a:r>
              <a:rPr sz="4267" b="1" dirty="0">
                <a:solidFill>
                  <a:srgbClr val="D9D9D9"/>
                </a:solidFill>
                <a:latin typeface="Calibri"/>
                <a:cs typeface="Calibri"/>
              </a:rPr>
              <a:t>Data</a:t>
            </a:r>
            <a:r>
              <a:rPr sz="4267" b="1" spc="-53" dirty="0">
                <a:solidFill>
                  <a:srgbClr val="D9D9D9"/>
                </a:solidFill>
                <a:latin typeface="Calibri"/>
                <a:cs typeface="Calibri"/>
              </a:rPr>
              <a:t> </a:t>
            </a:r>
            <a:r>
              <a:rPr sz="4267" b="1" dirty="0">
                <a:solidFill>
                  <a:srgbClr val="D9D9D9"/>
                </a:solidFill>
                <a:latin typeface="Calibri"/>
                <a:cs typeface="Calibri"/>
              </a:rPr>
              <a:t>lake</a:t>
            </a:r>
            <a:r>
              <a:rPr sz="4267" b="1" spc="-20" dirty="0">
                <a:solidFill>
                  <a:srgbClr val="D9D9D9"/>
                </a:solidFill>
                <a:latin typeface="Calibri"/>
                <a:cs typeface="Calibri"/>
              </a:rPr>
              <a:t> </a:t>
            </a:r>
            <a:r>
              <a:rPr sz="4267" b="1" dirty="0">
                <a:solidFill>
                  <a:srgbClr val="D9D9D9"/>
                </a:solidFill>
                <a:latin typeface="Calibri"/>
                <a:cs typeface="Calibri"/>
              </a:rPr>
              <a:t>&amp;</a:t>
            </a:r>
            <a:r>
              <a:rPr sz="4267" b="1" spc="-40" dirty="0">
                <a:solidFill>
                  <a:srgbClr val="D9D9D9"/>
                </a:solidFill>
                <a:latin typeface="Calibri"/>
                <a:cs typeface="Calibri"/>
              </a:rPr>
              <a:t> </a:t>
            </a:r>
            <a:r>
              <a:rPr sz="4267" b="1" dirty="0">
                <a:solidFill>
                  <a:srgbClr val="D9D9D9"/>
                </a:solidFill>
                <a:latin typeface="Calibri"/>
                <a:cs typeface="Calibri"/>
              </a:rPr>
              <a:t>data</a:t>
            </a:r>
            <a:r>
              <a:rPr sz="4267" b="1" spc="-40" dirty="0">
                <a:solidFill>
                  <a:srgbClr val="D9D9D9"/>
                </a:solidFill>
                <a:latin typeface="Calibri"/>
                <a:cs typeface="Calibri"/>
              </a:rPr>
              <a:t> </a:t>
            </a:r>
            <a:r>
              <a:rPr sz="4267" b="1" dirty="0">
                <a:solidFill>
                  <a:srgbClr val="D9D9D9"/>
                </a:solidFill>
                <a:latin typeface="Calibri"/>
                <a:cs typeface="Calibri"/>
              </a:rPr>
              <a:t>warehouse</a:t>
            </a:r>
            <a:r>
              <a:rPr sz="4267" b="1" spc="-40" dirty="0">
                <a:solidFill>
                  <a:srgbClr val="D9D9D9"/>
                </a:solidFill>
                <a:latin typeface="Calibri"/>
                <a:cs typeface="Calibri"/>
              </a:rPr>
              <a:t> </a:t>
            </a:r>
            <a:r>
              <a:rPr sz="4267" b="1" spc="-33" dirty="0">
                <a:solidFill>
                  <a:srgbClr val="D9D9D9"/>
                </a:solidFill>
                <a:latin typeface="Calibri"/>
                <a:cs typeface="Calibri"/>
              </a:rPr>
              <a:t>are </a:t>
            </a:r>
            <a:r>
              <a:rPr sz="4267" b="1" dirty="0">
                <a:solidFill>
                  <a:srgbClr val="D9D9D9"/>
                </a:solidFill>
                <a:latin typeface="Calibri"/>
                <a:cs typeface="Calibri"/>
              </a:rPr>
              <a:t>BOTH</a:t>
            </a:r>
            <a:r>
              <a:rPr sz="4267" b="1" spc="-53" dirty="0">
                <a:solidFill>
                  <a:srgbClr val="D9D9D9"/>
                </a:solidFill>
                <a:latin typeface="Calibri"/>
                <a:cs typeface="Calibri"/>
              </a:rPr>
              <a:t> </a:t>
            </a:r>
            <a:r>
              <a:rPr sz="4267" b="1" dirty="0">
                <a:solidFill>
                  <a:srgbClr val="D9D9D9"/>
                </a:solidFill>
                <a:latin typeface="Calibri"/>
                <a:cs typeface="Calibri"/>
              </a:rPr>
              <a:t>used</a:t>
            </a:r>
            <a:r>
              <a:rPr sz="4267" b="1" spc="-80" dirty="0">
                <a:solidFill>
                  <a:srgbClr val="D9D9D9"/>
                </a:solidFill>
                <a:latin typeface="Calibri"/>
                <a:cs typeface="Calibri"/>
              </a:rPr>
              <a:t> </a:t>
            </a:r>
            <a:r>
              <a:rPr sz="4267" b="1" spc="-33" dirty="0">
                <a:solidFill>
                  <a:srgbClr val="D9D9D9"/>
                </a:solidFill>
                <a:latin typeface="Calibri"/>
                <a:cs typeface="Calibri"/>
              </a:rPr>
              <a:t>as</a:t>
            </a:r>
            <a:endParaRPr sz="4267" dirty="0">
              <a:latin typeface="Calibri"/>
              <a:cs typeface="Calibri"/>
            </a:endParaRPr>
          </a:p>
        </p:txBody>
      </p:sp>
      <p:sp>
        <p:nvSpPr>
          <p:cNvPr id="4" name="object 4"/>
          <p:cNvSpPr txBox="1"/>
          <p:nvPr/>
        </p:nvSpPr>
        <p:spPr>
          <a:xfrm>
            <a:off x="3363977" y="4191677"/>
            <a:ext cx="5465233" cy="673753"/>
          </a:xfrm>
          <a:prstGeom prst="rect">
            <a:avLst/>
          </a:prstGeom>
        </p:spPr>
        <p:txBody>
          <a:bodyPr vert="horz" wrap="square" lIns="0" tIns="16933" rIns="0" bIns="0" rtlCol="0">
            <a:spAutoFit/>
          </a:bodyPr>
          <a:lstStyle/>
          <a:p>
            <a:pPr marL="16933">
              <a:spcBef>
                <a:spcPts val="133"/>
              </a:spcBef>
            </a:pPr>
            <a:r>
              <a:rPr sz="4267" b="1" dirty="0">
                <a:solidFill>
                  <a:srgbClr val="66BEFF"/>
                </a:solidFill>
                <a:latin typeface="Calibri"/>
                <a:cs typeface="Calibri"/>
              </a:rPr>
              <a:t>centralized</a:t>
            </a:r>
            <a:r>
              <a:rPr sz="4267" b="1" spc="-47" dirty="0">
                <a:solidFill>
                  <a:srgbClr val="66BEFF"/>
                </a:solidFill>
                <a:latin typeface="Calibri"/>
                <a:cs typeface="Calibri"/>
              </a:rPr>
              <a:t> </a:t>
            </a:r>
            <a:r>
              <a:rPr sz="4267" b="1" dirty="0">
                <a:solidFill>
                  <a:srgbClr val="66BEFF"/>
                </a:solidFill>
                <a:latin typeface="Calibri"/>
                <a:cs typeface="Calibri"/>
              </a:rPr>
              <a:t>data</a:t>
            </a:r>
            <a:r>
              <a:rPr sz="4267" b="1" spc="-7" dirty="0">
                <a:solidFill>
                  <a:srgbClr val="66BEFF"/>
                </a:solidFill>
                <a:latin typeface="Calibri"/>
                <a:cs typeface="Calibri"/>
              </a:rPr>
              <a:t> </a:t>
            </a:r>
            <a:r>
              <a:rPr sz="4267" b="1" spc="-13" dirty="0">
                <a:solidFill>
                  <a:srgbClr val="66BEFF"/>
                </a:solidFill>
                <a:latin typeface="Calibri"/>
                <a:cs typeface="Calibri"/>
              </a:rPr>
              <a:t>storage</a:t>
            </a:r>
            <a:endParaRPr sz="4267" dirty="0">
              <a:latin typeface="Calibri"/>
              <a:cs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 name="Picture 69">
            <a:extLst>
              <a:ext uri="{FF2B5EF4-FFF2-40B4-BE49-F238E27FC236}">
                <a16:creationId xmlns:a16="http://schemas.microsoft.com/office/drawing/2014/main" id="{3AB42B9F-B0A0-8D96-4D65-2B623BE62E37}"/>
              </a:ext>
            </a:extLst>
          </p:cNvPr>
          <p:cNvPicPr>
            <a:picLocks noChangeAspect="1"/>
          </p:cNvPicPr>
          <p:nvPr/>
        </p:nvPicPr>
        <p:blipFill>
          <a:blip r:embed="rId2"/>
          <a:stretch>
            <a:fillRect/>
          </a:stretch>
        </p:blipFill>
        <p:spPr>
          <a:xfrm>
            <a:off x="2246334" y="2051333"/>
            <a:ext cx="7322436" cy="3146832"/>
          </a:xfrm>
          <a:prstGeom prst="rect">
            <a:avLst/>
          </a:prstGeom>
        </p:spPr>
      </p:pic>
      <p:sp>
        <p:nvSpPr>
          <p:cNvPr id="2" name="object 5">
            <a:extLst>
              <a:ext uri="{FF2B5EF4-FFF2-40B4-BE49-F238E27FC236}">
                <a16:creationId xmlns:a16="http://schemas.microsoft.com/office/drawing/2014/main" id="{E9780E99-8CF6-45D4-0AE2-389387A4FF80}"/>
              </a:ext>
            </a:extLst>
          </p:cNvPr>
          <p:cNvSpPr txBox="1">
            <a:spLocks/>
          </p:cNvSpPr>
          <p:nvPr/>
        </p:nvSpPr>
        <p:spPr>
          <a:xfrm>
            <a:off x="1748735" y="390085"/>
            <a:ext cx="8491330" cy="695062"/>
          </a:xfrm>
          <a:prstGeom prst="rect">
            <a:avLst/>
          </a:prstGeom>
        </p:spPr>
        <p:txBody>
          <a:bodyPr vert="horz" wrap="square" lIns="0" tIns="1778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6933">
              <a:lnSpc>
                <a:spcPct val="100000"/>
              </a:lnSpc>
              <a:spcBef>
                <a:spcPts val="140"/>
              </a:spcBef>
            </a:pPr>
            <a:r>
              <a:rPr lang="en-IN" dirty="0">
                <a:solidFill>
                  <a:schemeClr val="bg1"/>
                </a:solidFill>
                <a:latin typeface="+mn-lt"/>
              </a:rPr>
              <a:t>Data Lake &amp; Data</a:t>
            </a:r>
            <a:r>
              <a:rPr lang="en-IN" spc="-33" dirty="0">
                <a:solidFill>
                  <a:schemeClr val="bg1"/>
                </a:solidFill>
                <a:latin typeface="+mn-lt"/>
              </a:rPr>
              <a:t> </a:t>
            </a:r>
            <a:r>
              <a:rPr lang="en-IN" dirty="0">
                <a:solidFill>
                  <a:schemeClr val="bg1"/>
                </a:solidFill>
                <a:latin typeface="+mn-lt"/>
              </a:rPr>
              <a:t>Warehouse</a:t>
            </a:r>
            <a:r>
              <a:rPr lang="en-IN" spc="-60" dirty="0">
                <a:solidFill>
                  <a:schemeClr val="bg1"/>
                </a:solidFill>
                <a:latin typeface="+mn-lt"/>
              </a:rPr>
              <a:t> </a:t>
            </a:r>
            <a:r>
              <a:rPr lang="en-IN" spc="-13" dirty="0">
                <a:solidFill>
                  <a:schemeClr val="bg1"/>
                </a:solidFill>
                <a:latin typeface="+mn-lt"/>
              </a:rPr>
              <a:t>Layers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27759" y="2320543"/>
            <a:ext cx="9930384" cy="1704848"/>
          </a:xfrm>
          <a:prstGeom prst="rect">
            <a:avLst/>
          </a:prstGeom>
        </p:spPr>
      </p:pic>
      <p:sp>
        <p:nvSpPr>
          <p:cNvPr id="3" name="object 3"/>
          <p:cNvSpPr txBox="1">
            <a:spLocks noGrp="1"/>
          </p:cNvSpPr>
          <p:nvPr>
            <p:ph type="title"/>
          </p:nvPr>
        </p:nvSpPr>
        <p:spPr>
          <a:xfrm>
            <a:off x="1190751" y="2621035"/>
            <a:ext cx="9811173" cy="1049004"/>
          </a:xfrm>
          <a:prstGeom prst="rect">
            <a:avLst/>
          </a:prstGeom>
          <a:noFill/>
          <a:ln w="9144">
            <a:noFill/>
          </a:ln>
        </p:spPr>
        <p:txBody>
          <a:bodyPr vert="horz" wrap="square" lIns="0" tIns="307339" rIns="0" bIns="0" rtlCol="0" anchor="ctr">
            <a:spAutoFit/>
          </a:bodyPr>
          <a:lstStyle/>
          <a:p>
            <a:pPr marL="962636">
              <a:lnSpc>
                <a:spcPct val="100000"/>
              </a:lnSpc>
              <a:spcBef>
                <a:spcPts val="2419"/>
              </a:spcBef>
            </a:pPr>
            <a:r>
              <a:rPr sz="4800" dirty="0">
                <a:solidFill>
                  <a:schemeClr val="bg1"/>
                </a:solidFill>
                <a:latin typeface="+mn-lt"/>
              </a:rPr>
              <a:t>The</a:t>
            </a:r>
            <a:r>
              <a:rPr sz="4800" spc="-27" dirty="0">
                <a:solidFill>
                  <a:schemeClr val="bg1"/>
                </a:solidFill>
                <a:latin typeface="+mn-lt"/>
              </a:rPr>
              <a:t> </a:t>
            </a:r>
            <a:r>
              <a:rPr sz="4800" dirty="0">
                <a:solidFill>
                  <a:schemeClr val="bg1"/>
                </a:solidFill>
                <a:latin typeface="+mn-lt"/>
              </a:rPr>
              <a:t>layers</a:t>
            </a:r>
            <a:r>
              <a:rPr sz="4800" spc="-67" dirty="0">
                <a:solidFill>
                  <a:schemeClr val="bg1"/>
                </a:solidFill>
                <a:latin typeface="+mn-lt"/>
              </a:rPr>
              <a:t> </a:t>
            </a:r>
            <a:r>
              <a:rPr sz="4800" dirty="0">
                <a:solidFill>
                  <a:schemeClr val="bg1"/>
                </a:solidFill>
                <a:latin typeface="+mn-lt"/>
              </a:rPr>
              <a:t>of</a:t>
            </a:r>
            <a:r>
              <a:rPr sz="4800" spc="-27" dirty="0">
                <a:solidFill>
                  <a:schemeClr val="bg1"/>
                </a:solidFill>
                <a:latin typeface="+mn-lt"/>
              </a:rPr>
              <a:t> </a:t>
            </a:r>
            <a:r>
              <a:rPr sz="4800" dirty="0">
                <a:solidFill>
                  <a:schemeClr val="bg1"/>
                </a:solidFill>
                <a:latin typeface="+mn-lt"/>
              </a:rPr>
              <a:t>a</a:t>
            </a:r>
            <a:r>
              <a:rPr sz="4800" spc="-13" dirty="0">
                <a:solidFill>
                  <a:schemeClr val="bg1"/>
                </a:solidFill>
                <a:latin typeface="+mn-lt"/>
              </a:rPr>
              <a:t> </a:t>
            </a:r>
            <a:r>
              <a:rPr sz="4800" dirty="0">
                <a:solidFill>
                  <a:schemeClr val="bg1"/>
                </a:solidFill>
                <a:latin typeface="+mn-lt"/>
              </a:rPr>
              <a:t>Data</a:t>
            </a:r>
            <a:r>
              <a:rPr sz="4800" spc="-40" dirty="0">
                <a:solidFill>
                  <a:schemeClr val="bg1"/>
                </a:solidFill>
                <a:latin typeface="+mn-lt"/>
              </a:rPr>
              <a:t> </a:t>
            </a:r>
            <a:r>
              <a:rPr sz="4800" spc="-13" dirty="0">
                <a:solidFill>
                  <a:schemeClr val="bg1"/>
                </a:solidFill>
                <a:latin typeface="+mn-lt"/>
              </a:rPr>
              <a:t>Warehouse</a:t>
            </a:r>
            <a:endParaRPr sz="4800" dirty="0">
              <a:solidFill>
                <a:schemeClr val="bg1"/>
              </a:solidFill>
              <a:latin typeface="+mn-l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56168" y="383228"/>
            <a:ext cx="5776675"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Data</a:t>
            </a:r>
            <a:r>
              <a:rPr spc="-33" dirty="0">
                <a:solidFill>
                  <a:schemeClr val="bg1"/>
                </a:solidFill>
                <a:latin typeface="+mn-lt"/>
              </a:rPr>
              <a:t> </a:t>
            </a:r>
            <a:r>
              <a:rPr dirty="0">
                <a:solidFill>
                  <a:schemeClr val="bg1"/>
                </a:solidFill>
                <a:latin typeface="+mn-lt"/>
              </a:rPr>
              <a:t>Warehouse</a:t>
            </a:r>
            <a:r>
              <a:rPr spc="-60" dirty="0">
                <a:solidFill>
                  <a:schemeClr val="bg1"/>
                </a:solidFill>
                <a:latin typeface="+mn-lt"/>
              </a:rPr>
              <a:t> </a:t>
            </a:r>
            <a:r>
              <a:rPr spc="-13" dirty="0">
                <a:solidFill>
                  <a:schemeClr val="bg1"/>
                </a:solidFill>
                <a:latin typeface="+mn-lt"/>
              </a:rPr>
              <a:t>Layers</a:t>
            </a:r>
          </a:p>
        </p:txBody>
      </p:sp>
      <p:graphicFrame>
        <p:nvGraphicFramePr>
          <p:cNvPr id="3" name="object 3"/>
          <p:cNvGraphicFramePr>
            <a:graphicFrameLocks noGrp="1"/>
          </p:cNvGraphicFramePr>
          <p:nvPr/>
        </p:nvGraphicFramePr>
        <p:xfrm>
          <a:off x="1157775" y="2562617"/>
          <a:ext cx="929639" cy="628227"/>
        </p:xfrm>
        <a:graphic>
          <a:graphicData uri="http://schemas.openxmlformats.org/drawingml/2006/table">
            <a:tbl>
              <a:tblPr firstRow="1" bandRow="1">
                <a:tableStyleId>{2D5ABB26-0587-4C30-8999-92F81FD0307C}</a:tableStyleId>
              </a:tblPr>
              <a:tblGrid>
                <a:gridCol w="314113">
                  <a:extLst>
                    <a:ext uri="{9D8B030D-6E8A-4147-A177-3AD203B41FA5}">
                      <a16:colId xmlns:a16="http://schemas.microsoft.com/office/drawing/2014/main" val="20000"/>
                    </a:ext>
                  </a:extLst>
                </a:gridCol>
                <a:gridCol w="301413">
                  <a:extLst>
                    <a:ext uri="{9D8B030D-6E8A-4147-A177-3AD203B41FA5}">
                      <a16:colId xmlns:a16="http://schemas.microsoft.com/office/drawing/2014/main" val="20001"/>
                    </a:ext>
                  </a:extLst>
                </a:gridCol>
                <a:gridCol w="314113">
                  <a:extLst>
                    <a:ext uri="{9D8B030D-6E8A-4147-A177-3AD203B41FA5}">
                      <a16:colId xmlns:a16="http://schemas.microsoft.com/office/drawing/2014/main" val="20002"/>
                    </a:ext>
                  </a:extLst>
                </a:gridCol>
              </a:tblGrid>
              <a:tr h="213360">
                <a:tc>
                  <a:txBody>
                    <a:bodyPr/>
                    <a:lstStyle/>
                    <a:p>
                      <a:pPr>
                        <a:lnSpc>
                          <a:spcPct val="100000"/>
                        </a:lnSpc>
                      </a:pPr>
                      <a:endParaRPr sz="1200">
                        <a:latin typeface="Times New Roman"/>
                        <a:cs typeface="Times New Roman"/>
                      </a:endParaRPr>
                    </a:p>
                  </a:txBody>
                  <a:tcPr marL="0" marR="0" marT="0" marB="0">
                    <a:lnL w="5715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57150">
                      <a:solidFill>
                        <a:srgbClr val="BCBCBC"/>
                      </a:solidFill>
                      <a:prstDash val="solid"/>
                    </a:lnR>
                    <a:lnT w="57150">
                      <a:solidFill>
                        <a:srgbClr val="BCBCBC"/>
                      </a:solidFill>
                      <a:prstDash val="solid"/>
                    </a:lnT>
                    <a:lnB w="38100">
                      <a:solidFill>
                        <a:srgbClr val="BCBCBC"/>
                      </a:solidFill>
                      <a:prstDash val="solid"/>
                    </a:lnB>
                  </a:tcPr>
                </a:tc>
                <a:extLst>
                  <a:ext uri="{0D108BD9-81ED-4DB2-BD59-A6C34878D82A}">
                    <a16:rowId xmlns:a16="http://schemas.microsoft.com/office/drawing/2014/main" val="10000"/>
                  </a:ext>
                </a:extLst>
              </a:tr>
              <a:tr h="201507">
                <a:tc>
                  <a:txBody>
                    <a:bodyPr/>
                    <a:lstStyle/>
                    <a:p>
                      <a:pPr>
                        <a:lnSpc>
                          <a:spcPct val="100000"/>
                        </a:lnSpc>
                      </a:pPr>
                      <a:endParaRPr sz="11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11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11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38100">
                      <a:solidFill>
                        <a:srgbClr val="BCBCBC"/>
                      </a:solidFill>
                      <a:prstDash val="solid"/>
                    </a:lnB>
                  </a:tcPr>
                </a:tc>
                <a:extLst>
                  <a:ext uri="{0D108BD9-81ED-4DB2-BD59-A6C34878D82A}">
                    <a16:rowId xmlns:a16="http://schemas.microsoft.com/office/drawing/2014/main" val="10001"/>
                  </a:ext>
                </a:extLst>
              </a:tr>
              <a:tr h="213360">
                <a:tc>
                  <a:txBody>
                    <a:bodyPr/>
                    <a:lstStyle/>
                    <a:p>
                      <a:pPr>
                        <a:lnSpc>
                          <a:spcPct val="100000"/>
                        </a:lnSpc>
                      </a:pPr>
                      <a:endParaRPr sz="12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57150">
                      <a:solidFill>
                        <a:srgbClr val="BCBCBC"/>
                      </a:solidFill>
                      <a:prstDash val="solid"/>
                    </a:lnB>
                  </a:tcPr>
                </a:tc>
                <a:extLst>
                  <a:ext uri="{0D108BD9-81ED-4DB2-BD59-A6C34878D82A}">
                    <a16:rowId xmlns:a16="http://schemas.microsoft.com/office/drawing/2014/main" val="10002"/>
                  </a:ext>
                </a:extLst>
              </a:tr>
            </a:tbl>
          </a:graphicData>
        </a:graphic>
      </p:graphicFrame>
      <p:sp>
        <p:nvSpPr>
          <p:cNvPr id="4" name="object 4"/>
          <p:cNvSpPr txBox="1"/>
          <p:nvPr/>
        </p:nvSpPr>
        <p:spPr>
          <a:xfrm>
            <a:off x="935669" y="4679356"/>
            <a:ext cx="3565313" cy="685530"/>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data</a:t>
            </a:r>
            <a:r>
              <a:rPr sz="2133" spc="-33" dirty="0">
                <a:solidFill>
                  <a:srgbClr val="FFFFFF"/>
                </a:solidFill>
                <a:latin typeface="Calibri"/>
                <a:cs typeface="Calibri"/>
              </a:rPr>
              <a:t> </a:t>
            </a:r>
            <a:r>
              <a:rPr sz="2133" spc="-13" dirty="0">
                <a:solidFill>
                  <a:srgbClr val="FFFFFF"/>
                </a:solidFill>
                <a:latin typeface="Calibri"/>
                <a:cs typeface="Calibri"/>
              </a:rPr>
              <a:t>sources</a:t>
            </a:r>
            <a:endParaRPr sz="2133">
              <a:latin typeface="Calibri"/>
              <a:cs typeface="Calibri"/>
            </a:endParaRPr>
          </a:p>
          <a:p>
            <a:pPr marL="2742283">
              <a:spcBef>
                <a:spcPts val="100"/>
              </a:spcBef>
            </a:pPr>
            <a:r>
              <a:rPr sz="2133" spc="-13" dirty="0">
                <a:solidFill>
                  <a:srgbClr val="FFFFFF"/>
                </a:solidFill>
                <a:latin typeface="Calibri"/>
                <a:cs typeface="Calibri"/>
              </a:rPr>
              <a:t>Staging</a:t>
            </a:r>
            <a:endParaRPr sz="2133">
              <a:latin typeface="Calibri"/>
              <a:cs typeface="Calibri"/>
            </a:endParaRPr>
          </a:p>
        </p:txBody>
      </p:sp>
      <p:sp>
        <p:nvSpPr>
          <p:cNvPr id="5" name="object 5"/>
          <p:cNvSpPr/>
          <p:nvPr/>
        </p:nvSpPr>
        <p:spPr>
          <a:xfrm>
            <a:off x="1327573" y="3561639"/>
            <a:ext cx="689187" cy="934720"/>
          </a:xfrm>
          <a:custGeom>
            <a:avLst/>
            <a:gdLst/>
            <a:ahLst/>
            <a:cxnLst/>
            <a:rect l="l" t="t" r="r" b="b"/>
            <a:pathLst>
              <a:path w="516890" h="701039">
                <a:moveTo>
                  <a:pt x="516585" y="479298"/>
                </a:moveTo>
                <a:lnTo>
                  <a:pt x="507314" y="498830"/>
                </a:lnTo>
                <a:lnTo>
                  <a:pt x="481190" y="516432"/>
                </a:lnTo>
                <a:lnTo>
                  <a:pt x="461238" y="523798"/>
                </a:lnTo>
                <a:lnTo>
                  <a:pt x="461238" y="608330"/>
                </a:lnTo>
                <a:lnTo>
                  <a:pt x="459905" y="615873"/>
                </a:lnTo>
                <a:lnTo>
                  <a:pt x="456158" y="621690"/>
                </a:lnTo>
                <a:lnTo>
                  <a:pt x="450342" y="625436"/>
                </a:lnTo>
                <a:lnTo>
                  <a:pt x="442785" y="626757"/>
                </a:lnTo>
                <a:lnTo>
                  <a:pt x="435229" y="625436"/>
                </a:lnTo>
                <a:lnTo>
                  <a:pt x="429412" y="621690"/>
                </a:lnTo>
                <a:lnTo>
                  <a:pt x="425665" y="615873"/>
                </a:lnTo>
                <a:lnTo>
                  <a:pt x="424332" y="608330"/>
                </a:lnTo>
                <a:lnTo>
                  <a:pt x="425665" y="600786"/>
                </a:lnTo>
                <a:lnTo>
                  <a:pt x="429412" y="594969"/>
                </a:lnTo>
                <a:lnTo>
                  <a:pt x="435229" y="591223"/>
                </a:lnTo>
                <a:lnTo>
                  <a:pt x="442785" y="589889"/>
                </a:lnTo>
                <a:lnTo>
                  <a:pt x="450342" y="591223"/>
                </a:lnTo>
                <a:lnTo>
                  <a:pt x="456158" y="594969"/>
                </a:lnTo>
                <a:lnTo>
                  <a:pt x="459905" y="600786"/>
                </a:lnTo>
                <a:lnTo>
                  <a:pt x="461238" y="608330"/>
                </a:lnTo>
                <a:lnTo>
                  <a:pt x="461238" y="523798"/>
                </a:lnTo>
                <a:lnTo>
                  <a:pt x="440715" y="531368"/>
                </a:lnTo>
                <a:lnTo>
                  <a:pt x="388391" y="542925"/>
                </a:lnTo>
                <a:lnTo>
                  <a:pt x="326745" y="550379"/>
                </a:lnTo>
                <a:lnTo>
                  <a:pt x="258292" y="553021"/>
                </a:lnTo>
                <a:lnTo>
                  <a:pt x="189826" y="550379"/>
                </a:lnTo>
                <a:lnTo>
                  <a:pt x="128193" y="542925"/>
                </a:lnTo>
                <a:lnTo>
                  <a:pt x="75869" y="531368"/>
                </a:lnTo>
                <a:lnTo>
                  <a:pt x="35394" y="516432"/>
                </a:lnTo>
                <a:lnTo>
                  <a:pt x="0" y="479298"/>
                </a:lnTo>
                <a:lnTo>
                  <a:pt x="0" y="626757"/>
                </a:lnTo>
                <a:lnTo>
                  <a:pt x="35394" y="663905"/>
                </a:lnTo>
                <a:lnTo>
                  <a:pt x="75869" y="678840"/>
                </a:lnTo>
                <a:lnTo>
                  <a:pt x="128193" y="690397"/>
                </a:lnTo>
                <a:lnTo>
                  <a:pt x="189826" y="697852"/>
                </a:lnTo>
                <a:lnTo>
                  <a:pt x="258292" y="700493"/>
                </a:lnTo>
                <a:lnTo>
                  <a:pt x="326745" y="697852"/>
                </a:lnTo>
                <a:lnTo>
                  <a:pt x="388391" y="690397"/>
                </a:lnTo>
                <a:lnTo>
                  <a:pt x="440715" y="678840"/>
                </a:lnTo>
                <a:lnTo>
                  <a:pt x="481190" y="663905"/>
                </a:lnTo>
                <a:lnTo>
                  <a:pt x="516585" y="626757"/>
                </a:lnTo>
                <a:lnTo>
                  <a:pt x="516585" y="589889"/>
                </a:lnTo>
                <a:lnTo>
                  <a:pt x="516585" y="553021"/>
                </a:lnTo>
                <a:lnTo>
                  <a:pt x="516585" y="479298"/>
                </a:lnTo>
                <a:close/>
              </a:path>
              <a:path w="516890" h="701039">
                <a:moveTo>
                  <a:pt x="516585" y="294957"/>
                </a:moveTo>
                <a:lnTo>
                  <a:pt x="507314" y="314502"/>
                </a:lnTo>
                <a:lnTo>
                  <a:pt x="481190" y="332092"/>
                </a:lnTo>
                <a:lnTo>
                  <a:pt x="461238" y="339458"/>
                </a:lnTo>
                <a:lnTo>
                  <a:pt x="461238" y="423989"/>
                </a:lnTo>
                <a:lnTo>
                  <a:pt x="459905" y="431533"/>
                </a:lnTo>
                <a:lnTo>
                  <a:pt x="456158" y="437349"/>
                </a:lnTo>
                <a:lnTo>
                  <a:pt x="450342" y="441096"/>
                </a:lnTo>
                <a:lnTo>
                  <a:pt x="442785" y="442429"/>
                </a:lnTo>
                <a:lnTo>
                  <a:pt x="435229" y="441096"/>
                </a:lnTo>
                <a:lnTo>
                  <a:pt x="429412" y="437349"/>
                </a:lnTo>
                <a:lnTo>
                  <a:pt x="425665" y="431533"/>
                </a:lnTo>
                <a:lnTo>
                  <a:pt x="424332" y="423989"/>
                </a:lnTo>
                <a:lnTo>
                  <a:pt x="425665" y="416445"/>
                </a:lnTo>
                <a:lnTo>
                  <a:pt x="429412" y="410629"/>
                </a:lnTo>
                <a:lnTo>
                  <a:pt x="435229" y="406882"/>
                </a:lnTo>
                <a:lnTo>
                  <a:pt x="442785" y="405561"/>
                </a:lnTo>
                <a:lnTo>
                  <a:pt x="450342" y="406882"/>
                </a:lnTo>
                <a:lnTo>
                  <a:pt x="456158" y="410629"/>
                </a:lnTo>
                <a:lnTo>
                  <a:pt x="459905" y="416445"/>
                </a:lnTo>
                <a:lnTo>
                  <a:pt x="461238" y="423989"/>
                </a:lnTo>
                <a:lnTo>
                  <a:pt x="461238" y="339458"/>
                </a:lnTo>
                <a:lnTo>
                  <a:pt x="440715" y="347027"/>
                </a:lnTo>
                <a:lnTo>
                  <a:pt x="388391" y="358584"/>
                </a:lnTo>
                <a:lnTo>
                  <a:pt x="326745" y="366039"/>
                </a:lnTo>
                <a:lnTo>
                  <a:pt x="258292" y="368693"/>
                </a:lnTo>
                <a:lnTo>
                  <a:pt x="189826" y="366039"/>
                </a:lnTo>
                <a:lnTo>
                  <a:pt x="128193" y="358584"/>
                </a:lnTo>
                <a:lnTo>
                  <a:pt x="75869" y="347027"/>
                </a:lnTo>
                <a:lnTo>
                  <a:pt x="35394" y="332092"/>
                </a:lnTo>
                <a:lnTo>
                  <a:pt x="0" y="294957"/>
                </a:lnTo>
                <a:lnTo>
                  <a:pt x="0" y="442429"/>
                </a:lnTo>
                <a:lnTo>
                  <a:pt x="35394" y="479564"/>
                </a:lnTo>
                <a:lnTo>
                  <a:pt x="75869" y="494499"/>
                </a:lnTo>
                <a:lnTo>
                  <a:pt x="128193" y="506056"/>
                </a:lnTo>
                <a:lnTo>
                  <a:pt x="189826" y="513511"/>
                </a:lnTo>
                <a:lnTo>
                  <a:pt x="258292" y="516153"/>
                </a:lnTo>
                <a:lnTo>
                  <a:pt x="326745" y="513511"/>
                </a:lnTo>
                <a:lnTo>
                  <a:pt x="388391" y="506056"/>
                </a:lnTo>
                <a:lnTo>
                  <a:pt x="440715" y="494499"/>
                </a:lnTo>
                <a:lnTo>
                  <a:pt x="481190" y="479564"/>
                </a:lnTo>
                <a:lnTo>
                  <a:pt x="516585" y="442429"/>
                </a:lnTo>
                <a:lnTo>
                  <a:pt x="516585" y="405561"/>
                </a:lnTo>
                <a:lnTo>
                  <a:pt x="516585" y="368693"/>
                </a:lnTo>
                <a:lnTo>
                  <a:pt x="516585" y="294957"/>
                </a:lnTo>
                <a:close/>
              </a:path>
              <a:path w="516890" h="701039">
                <a:moveTo>
                  <a:pt x="516585" y="110617"/>
                </a:moveTo>
                <a:lnTo>
                  <a:pt x="507314" y="130162"/>
                </a:lnTo>
                <a:lnTo>
                  <a:pt x="481190" y="147751"/>
                </a:lnTo>
                <a:lnTo>
                  <a:pt x="461238" y="155117"/>
                </a:lnTo>
                <a:lnTo>
                  <a:pt x="461238" y="239649"/>
                </a:lnTo>
                <a:lnTo>
                  <a:pt x="459905" y="247192"/>
                </a:lnTo>
                <a:lnTo>
                  <a:pt x="456158" y="253022"/>
                </a:lnTo>
                <a:lnTo>
                  <a:pt x="450342" y="256755"/>
                </a:lnTo>
                <a:lnTo>
                  <a:pt x="442785" y="258089"/>
                </a:lnTo>
                <a:lnTo>
                  <a:pt x="435229" y="256755"/>
                </a:lnTo>
                <a:lnTo>
                  <a:pt x="429412" y="253022"/>
                </a:lnTo>
                <a:lnTo>
                  <a:pt x="425665" y="247192"/>
                </a:lnTo>
                <a:lnTo>
                  <a:pt x="424332" y="239649"/>
                </a:lnTo>
                <a:lnTo>
                  <a:pt x="425665" y="232105"/>
                </a:lnTo>
                <a:lnTo>
                  <a:pt x="429412" y="226288"/>
                </a:lnTo>
                <a:lnTo>
                  <a:pt x="435229" y="222542"/>
                </a:lnTo>
                <a:lnTo>
                  <a:pt x="442785" y="221221"/>
                </a:lnTo>
                <a:lnTo>
                  <a:pt x="450342" y="222542"/>
                </a:lnTo>
                <a:lnTo>
                  <a:pt x="456158" y="226288"/>
                </a:lnTo>
                <a:lnTo>
                  <a:pt x="459905" y="232105"/>
                </a:lnTo>
                <a:lnTo>
                  <a:pt x="461238" y="239649"/>
                </a:lnTo>
                <a:lnTo>
                  <a:pt x="461238" y="155117"/>
                </a:lnTo>
                <a:lnTo>
                  <a:pt x="440715" y="162687"/>
                </a:lnTo>
                <a:lnTo>
                  <a:pt x="388391" y="174244"/>
                </a:lnTo>
                <a:lnTo>
                  <a:pt x="326745" y="181698"/>
                </a:lnTo>
                <a:lnTo>
                  <a:pt x="258292" y="184353"/>
                </a:lnTo>
                <a:lnTo>
                  <a:pt x="189826" y="181698"/>
                </a:lnTo>
                <a:lnTo>
                  <a:pt x="128193" y="174244"/>
                </a:lnTo>
                <a:lnTo>
                  <a:pt x="75869" y="162687"/>
                </a:lnTo>
                <a:lnTo>
                  <a:pt x="35394" y="147751"/>
                </a:lnTo>
                <a:lnTo>
                  <a:pt x="0" y="110617"/>
                </a:lnTo>
                <a:lnTo>
                  <a:pt x="0" y="258089"/>
                </a:lnTo>
                <a:lnTo>
                  <a:pt x="35394" y="295224"/>
                </a:lnTo>
                <a:lnTo>
                  <a:pt x="75869" y="310159"/>
                </a:lnTo>
                <a:lnTo>
                  <a:pt x="128193" y="321716"/>
                </a:lnTo>
                <a:lnTo>
                  <a:pt x="189826" y="329171"/>
                </a:lnTo>
                <a:lnTo>
                  <a:pt x="258292" y="331825"/>
                </a:lnTo>
                <a:lnTo>
                  <a:pt x="326745" y="329171"/>
                </a:lnTo>
                <a:lnTo>
                  <a:pt x="388391" y="321716"/>
                </a:lnTo>
                <a:lnTo>
                  <a:pt x="440715" y="310159"/>
                </a:lnTo>
                <a:lnTo>
                  <a:pt x="481190" y="295224"/>
                </a:lnTo>
                <a:lnTo>
                  <a:pt x="516585" y="258089"/>
                </a:lnTo>
                <a:lnTo>
                  <a:pt x="516585" y="221221"/>
                </a:lnTo>
                <a:lnTo>
                  <a:pt x="516585" y="184353"/>
                </a:lnTo>
                <a:lnTo>
                  <a:pt x="516585" y="110617"/>
                </a:lnTo>
                <a:close/>
              </a:path>
              <a:path w="516890" h="701039">
                <a:moveTo>
                  <a:pt x="516585" y="73748"/>
                </a:moveTo>
                <a:lnTo>
                  <a:pt x="481317" y="36525"/>
                </a:lnTo>
                <a:lnTo>
                  <a:pt x="440931" y="21602"/>
                </a:lnTo>
                <a:lnTo>
                  <a:pt x="388658" y="10071"/>
                </a:lnTo>
                <a:lnTo>
                  <a:pt x="326961" y="2628"/>
                </a:lnTo>
                <a:lnTo>
                  <a:pt x="258292" y="0"/>
                </a:lnTo>
                <a:lnTo>
                  <a:pt x="189623" y="2628"/>
                </a:lnTo>
                <a:lnTo>
                  <a:pt x="127927" y="10071"/>
                </a:lnTo>
                <a:lnTo>
                  <a:pt x="75653" y="21602"/>
                </a:lnTo>
                <a:lnTo>
                  <a:pt x="35267" y="36525"/>
                </a:lnTo>
                <a:lnTo>
                  <a:pt x="0" y="73748"/>
                </a:lnTo>
                <a:lnTo>
                  <a:pt x="9220" y="93345"/>
                </a:lnTo>
                <a:lnTo>
                  <a:pt x="75653" y="125882"/>
                </a:lnTo>
                <a:lnTo>
                  <a:pt x="127927" y="137414"/>
                </a:lnTo>
                <a:lnTo>
                  <a:pt x="189623" y="144843"/>
                </a:lnTo>
                <a:lnTo>
                  <a:pt x="258292" y="147485"/>
                </a:lnTo>
                <a:lnTo>
                  <a:pt x="326961" y="144843"/>
                </a:lnTo>
                <a:lnTo>
                  <a:pt x="388658" y="137414"/>
                </a:lnTo>
                <a:lnTo>
                  <a:pt x="440931" y="125882"/>
                </a:lnTo>
                <a:lnTo>
                  <a:pt x="481317" y="110959"/>
                </a:lnTo>
                <a:lnTo>
                  <a:pt x="516585" y="73748"/>
                </a:lnTo>
                <a:close/>
              </a:path>
            </a:pathLst>
          </a:custGeom>
          <a:solidFill>
            <a:srgbClr val="9B9B9B"/>
          </a:solidFill>
        </p:spPr>
        <p:txBody>
          <a:bodyPr wrap="square" lIns="0" tIns="0" rIns="0" bIns="0" rtlCol="0"/>
          <a:lstStyle/>
          <a:p>
            <a:endParaRPr sz="2400"/>
          </a:p>
        </p:txBody>
      </p:sp>
      <p:grpSp>
        <p:nvGrpSpPr>
          <p:cNvPr id="6" name="object 6"/>
          <p:cNvGrpSpPr/>
          <p:nvPr/>
        </p:nvGrpSpPr>
        <p:grpSpPr>
          <a:xfrm>
            <a:off x="2468880" y="2001519"/>
            <a:ext cx="2617893" cy="2959100"/>
            <a:chOff x="1851660" y="1501139"/>
            <a:chExt cx="1963420" cy="2219325"/>
          </a:xfrm>
        </p:grpSpPr>
        <p:sp>
          <p:nvSpPr>
            <p:cNvPr id="7" name="object 7"/>
            <p:cNvSpPr/>
            <p:nvPr/>
          </p:nvSpPr>
          <p:spPr>
            <a:xfrm>
              <a:off x="2286000" y="1505711"/>
              <a:ext cx="1524000" cy="2209800"/>
            </a:xfrm>
            <a:custGeom>
              <a:avLst/>
              <a:gdLst/>
              <a:ahLst/>
              <a:cxnLst/>
              <a:rect l="l" t="t" r="r" b="b"/>
              <a:pathLst>
                <a:path w="1524000" h="2209800">
                  <a:moveTo>
                    <a:pt x="0" y="254000"/>
                  </a:moveTo>
                  <a:lnTo>
                    <a:pt x="4090" y="208328"/>
                  </a:lnTo>
                  <a:lnTo>
                    <a:pt x="15884" y="165349"/>
                  </a:lnTo>
                  <a:lnTo>
                    <a:pt x="34666" y="125777"/>
                  </a:lnTo>
                  <a:lnTo>
                    <a:pt x="59719" y="90328"/>
                  </a:lnTo>
                  <a:lnTo>
                    <a:pt x="90328" y="59719"/>
                  </a:lnTo>
                  <a:lnTo>
                    <a:pt x="125777" y="34666"/>
                  </a:lnTo>
                  <a:lnTo>
                    <a:pt x="165349" y="15884"/>
                  </a:lnTo>
                  <a:lnTo>
                    <a:pt x="208328" y="4090"/>
                  </a:lnTo>
                  <a:lnTo>
                    <a:pt x="254000" y="0"/>
                  </a:lnTo>
                  <a:lnTo>
                    <a:pt x="1270000" y="0"/>
                  </a:lnTo>
                  <a:lnTo>
                    <a:pt x="1315671" y="4090"/>
                  </a:lnTo>
                  <a:lnTo>
                    <a:pt x="1358650" y="15884"/>
                  </a:lnTo>
                  <a:lnTo>
                    <a:pt x="1398222" y="34666"/>
                  </a:lnTo>
                  <a:lnTo>
                    <a:pt x="1433671" y="59719"/>
                  </a:lnTo>
                  <a:lnTo>
                    <a:pt x="1464280" y="90328"/>
                  </a:lnTo>
                  <a:lnTo>
                    <a:pt x="1489333" y="125777"/>
                  </a:lnTo>
                  <a:lnTo>
                    <a:pt x="1508115" y="165349"/>
                  </a:lnTo>
                  <a:lnTo>
                    <a:pt x="1519909" y="208328"/>
                  </a:lnTo>
                  <a:lnTo>
                    <a:pt x="1524000" y="254000"/>
                  </a:lnTo>
                  <a:lnTo>
                    <a:pt x="1524000" y="1955800"/>
                  </a:lnTo>
                  <a:lnTo>
                    <a:pt x="1519909" y="2001471"/>
                  </a:lnTo>
                  <a:lnTo>
                    <a:pt x="1508115" y="2044450"/>
                  </a:lnTo>
                  <a:lnTo>
                    <a:pt x="1489333" y="2084022"/>
                  </a:lnTo>
                  <a:lnTo>
                    <a:pt x="1464280" y="2119471"/>
                  </a:lnTo>
                  <a:lnTo>
                    <a:pt x="1433671" y="2150080"/>
                  </a:lnTo>
                  <a:lnTo>
                    <a:pt x="1398222" y="2175133"/>
                  </a:lnTo>
                  <a:lnTo>
                    <a:pt x="1358650" y="2193915"/>
                  </a:lnTo>
                  <a:lnTo>
                    <a:pt x="1315671" y="2205709"/>
                  </a:lnTo>
                  <a:lnTo>
                    <a:pt x="1270000" y="2209800"/>
                  </a:lnTo>
                  <a:lnTo>
                    <a:pt x="254000" y="2209800"/>
                  </a:lnTo>
                  <a:lnTo>
                    <a:pt x="208328" y="2205709"/>
                  </a:lnTo>
                  <a:lnTo>
                    <a:pt x="165349" y="2193915"/>
                  </a:lnTo>
                  <a:lnTo>
                    <a:pt x="125777" y="2175133"/>
                  </a:lnTo>
                  <a:lnTo>
                    <a:pt x="90328" y="2150080"/>
                  </a:lnTo>
                  <a:lnTo>
                    <a:pt x="59719" y="2119471"/>
                  </a:lnTo>
                  <a:lnTo>
                    <a:pt x="34666" y="2084022"/>
                  </a:lnTo>
                  <a:lnTo>
                    <a:pt x="15884" y="2044450"/>
                  </a:lnTo>
                  <a:lnTo>
                    <a:pt x="4090" y="2001471"/>
                  </a:lnTo>
                  <a:lnTo>
                    <a:pt x="0" y="1955800"/>
                  </a:lnTo>
                  <a:lnTo>
                    <a:pt x="0" y="254000"/>
                  </a:lnTo>
                  <a:close/>
                </a:path>
              </a:pathLst>
            </a:custGeom>
            <a:ln w="9144">
              <a:solidFill>
                <a:srgbClr val="00C3FF"/>
              </a:solidFill>
            </a:ln>
          </p:spPr>
          <p:txBody>
            <a:bodyPr wrap="square" lIns="0" tIns="0" rIns="0" bIns="0" rtlCol="0"/>
            <a:lstStyle/>
            <a:p>
              <a:endParaRPr sz="2400"/>
            </a:p>
          </p:txBody>
        </p:sp>
        <p:sp>
          <p:nvSpPr>
            <p:cNvPr id="8" name="object 8"/>
            <p:cNvSpPr/>
            <p:nvPr/>
          </p:nvSpPr>
          <p:spPr>
            <a:xfrm>
              <a:off x="1864614" y="2184653"/>
              <a:ext cx="462280" cy="160020"/>
            </a:xfrm>
            <a:custGeom>
              <a:avLst/>
              <a:gdLst/>
              <a:ahLst/>
              <a:cxnLst/>
              <a:rect l="l" t="t" r="r" b="b"/>
              <a:pathLst>
                <a:path w="462280" h="160019">
                  <a:moveTo>
                    <a:pt x="381762" y="0"/>
                  </a:moveTo>
                  <a:lnTo>
                    <a:pt x="381762" y="40004"/>
                  </a:lnTo>
                  <a:lnTo>
                    <a:pt x="0" y="40004"/>
                  </a:lnTo>
                  <a:lnTo>
                    <a:pt x="0" y="120014"/>
                  </a:lnTo>
                  <a:lnTo>
                    <a:pt x="381762" y="120014"/>
                  </a:lnTo>
                  <a:lnTo>
                    <a:pt x="381762" y="160019"/>
                  </a:lnTo>
                  <a:lnTo>
                    <a:pt x="461772" y="80009"/>
                  </a:lnTo>
                  <a:lnTo>
                    <a:pt x="381762" y="0"/>
                  </a:lnTo>
                  <a:close/>
                </a:path>
              </a:pathLst>
            </a:custGeom>
            <a:solidFill>
              <a:srgbClr val="00C3FF"/>
            </a:solidFill>
          </p:spPr>
          <p:txBody>
            <a:bodyPr wrap="square" lIns="0" tIns="0" rIns="0" bIns="0" rtlCol="0"/>
            <a:lstStyle/>
            <a:p>
              <a:endParaRPr sz="2400"/>
            </a:p>
          </p:txBody>
        </p:sp>
        <p:sp>
          <p:nvSpPr>
            <p:cNvPr id="9" name="object 9"/>
            <p:cNvSpPr/>
            <p:nvPr/>
          </p:nvSpPr>
          <p:spPr>
            <a:xfrm>
              <a:off x="1864614" y="2184653"/>
              <a:ext cx="462280" cy="160020"/>
            </a:xfrm>
            <a:custGeom>
              <a:avLst/>
              <a:gdLst/>
              <a:ahLst/>
              <a:cxnLst/>
              <a:rect l="l" t="t" r="r" b="b"/>
              <a:pathLst>
                <a:path w="462280" h="160019">
                  <a:moveTo>
                    <a:pt x="0" y="40004"/>
                  </a:moveTo>
                  <a:lnTo>
                    <a:pt x="381762" y="40004"/>
                  </a:lnTo>
                  <a:lnTo>
                    <a:pt x="381762" y="0"/>
                  </a:lnTo>
                  <a:lnTo>
                    <a:pt x="461772" y="80009"/>
                  </a:lnTo>
                  <a:lnTo>
                    <a:pt x="381762" y="160019"/>
                  </a:lnTo>
                  <a:lnTo>
                    <a:pt x="381762" y="120014"/>
                  </a:lnTo>
                  <a:lnTo>
                    <a:pt x="0" y="120014"/>
                  </a:lnTo>
                  <a:lnTo>
                    <a:pt x="0" y="40004"/>
                  </a:lnTo>
                  <a:close/>
                </a:path>
              </a:pathLst>
            </a:custGeom>
            <a:ln w="25908">
              <a:solidFill>
                <a:srgbClr val="008FBB"/>
              </a:solidFill>
            </a:ln>
          </p:spPr>
          <p:txBody>
            <a:bodyPr wrap="square" lIns="0" tIns="0" rIns="0" bIns="0" rtlCol="0"/>
            <a:lstStyle/>
            <a:p>
              <a:endParaRPr sz="2400"/>
            </a:p>
          </p:txBody>
        </p:sp>
        <p:sp>
          <p:nvSpPr>
            <p:cNvPr id="10" name="object 10"/>
            <p:cNvSpPr/>
            <p:nvPr/>
          </p:nvSpPr>
          <p:spPr>
            <a:xfrm>
              <a:off x="1864614" y="2971037"/>
              <a:ext cx="462280" cy="160020"/>
            </a:xfrm>
            <a:custGeom>
              <a:avLst/>
              <a:gdLst/>
              <a:ahLst/>
              <a:cxnLst/>
              <a:rect l="l" t="t" r="r" b="b"/>
              <a:pathLst>
                <a:path w="462280" h="160019">
                  <a:moveTo>
                    <a:pt x="381762" y="0"/>
                  </a:moveTo>
                  <a:lnTo>
                    <a:pt x="381762" y="40005"/>
                  </a:lnTo>
                  <a:lnTo>
                    <a:pt x="0" y="40005"/>
                  </a:lnTo>
                  <a:lnTo>
                    <a:pt x="0" y="120014"/>
                  </a:lnTo>
                  <a:lnTo>
                    <a:pt x="381762" y="120014"/>
                  </a:lnTo>
                  <a:lnTo>
                    <a:pt x="381762" y="160019"/>
                  </a:lnTo>
                  <a:lnTo>
                    <a:pt x="461772" y="80010"/>
                  </a:lnTo>
                  <a:lnTo>
                    <a:pt x="381762" y="0"/>
                  </a:lnTo>
                  <a:close/>
                </a:path>
              </a:pathLst>
            </a:custGeom>
            <a:solidFill>
              <a:srgbClr val="00C3FF"/>
            </a:solidFill>
          </p:spPr>
          <p:txBody>
            <a:bodyPr wrap="square" lIns="0" tIns="0" rIns="0" bIns="0" rtlCol="0"/>
            <a:lstStyle/>
            <a:p>
              <a:endParaRPr sz="2400"/>
            </a:p>
          </p:txBody>
        </p:sp>
        <p:sp>
          <p:nvSpPr>
            <p:cNvPr id="11" name="object 11"/>
            <p:cNvSpPr/>
            <p:nvPr/>
          </p:nvSpPr>
          <p:spPr>
            <a:xfrm>
              <a:off x="1864614" y="2971037"/>
              <a:ext cx="462280" cy="160020"/>
            </a:xfrm>
            <a:custGeom>
              <a:avLst/>
              <a:gdLst/>
              <a:ahLst/>
              <a:cxnLst/>
              <a:rect l="l" t="t" r="r" b="b"/>
              <a:pathLst>
                <a:path w="462280" h="160019">
                  <a:moveTo>
                    <a:pt x="0" y="40005"/>
                  </a:moveTo>
                  <a:lnTo>
                    <a:pt x="381762" y="40005"/>
                  </a:lnTo>
                  <a:lnTo>
                    <a:pt x="381762" y="0"/>
                  </a:lnTo>
                  <a:lnTo>
                    <a:pt x="461772" y="80010"/>
                  </a:lnTo>
                  <a:lnTo>
                    <a:pt x="381762" y="160019"/>
                  </a:lnTo>
                  <a:lnTo>
                    <a:pt x="381762" y="120014"/>
                  </a:lnTo>
                  <a:lnTo>
                    <a:pt x="0" y="120014"/>
                  </a:lnTo>
                  <a:lnTo>
                    <a:pt x="0" y="40005"/>
                  </a:lnTo>
                  <a:close/>
                </a:path>
              </a:pathLst>
            </a:custGeom>
            <a:ln w="25908">
              <a:solidFill>
                <a:srgbClr val="008FBB"/>
              </a:solidFill>
            </a:ln>
          </p:spPr>
          <p:txBody>
            <a:bodyPr wrap="square" lIns="0" tIns="0" rIns="0" bIns="0" rtlCol="0"/>
            <a:lstStyle/>
            <a:p>
              <a:endParaRPr sz="2400"/>
            </a:p>
          </p:txBody>
        </p:sp>
        <p:sp>
          <p:nvSpPr>
            <p:cNvPr id="12" name="object 12"/>
            <p:cNvSpPr/>
            <p:nvPr/>
          </p:nvSpPr>
          <p:spPr>
            <a:xfrm>
              <a:off x="2518143" y="1803336"/>
              <a:ext cx="1202055" cy="1675764"/>
            </a:xfrm>
            <a:custGeom>
              <a:avLst/>
              <a:gdLst/>
              <a:ahLst/>
              <a:cxnLst/>
              <a:rect l="l" t="t" r="r" b="b"/>
              <a:pathLst>
                <a:path w="1202054" h="1675764">
                  <a:moveTo>
                    <a:pt x="564794" y="0"/>
                  </a:moveTo>
                  <a:lnTo>
                    <a:pt x="0" y="0"/>
                  </a:lnTo>
                  <a:lnTo>
                    <a:pt x="0" y="41973"/>
                  </a:lnTo>
                  <a:lnTo>
                    <a:pt x="0" y="127190"/>
                  </a:lnTo>
                  <a:lnTo>
                    <a:pt x="0" y="396849"/>
                  </a:lnTo>
                  <a:lnTo>
                    <a:pt x="564794" y="396849"/>
                  </a:lnTo>
                  <a:lnTo>
                    <a:pt x="564794" y="353999"/>
                  </a:lnTo>
                  <a:lnTo>
                    <a:pt x="564794" y="353606"/>
                  </a:lnTo>
                  <a:lnTo>
                    <a:pt x="564794" y="269011"/>
                  </a:lnTo>
                  <a:lnTo>
                    <a:pt x="522427" y="269011"/>
                  </a:lnTo>
                  <a:lnTo>
                    <a:pt x="522427" y="353606"/>
                  </a:lnTo>
                  <a:lnTo>
                    <a:pt x="381228" y="353606"/>
                  </a:lnTo>
                  <a:lnTo>
                    <a:pt x="381228" y="269011"/>
                  </a:lnTo>
                  <a:lnTo>
                    <a:pt x="352996" y="269011"/>
                  </a:lnTo>
                  <a:lnTo>
                    <a:pt x="352996" y="353606"/>
                  </a:lnTo>
                  <a:lnTo>
                    <a:pt x="211797" y="353606"/>
                  </a:lnTo>
                  <a:lnTo>
                    <a:pt x="211797" y="269011"/>
                  </a:lnTo>
                  <a:lnTo>
                    <a:pt x="183553" y="269011"/>
                  </a:lnTo>
                  <a:lnTo>
                    <a:pt x="183553" y="353606"/>
                  </a:lnTo>
                  <a:lnTo>
                    <a:pt x="42367" y="353606"/>
                  </a:lnTo>
                  <a:lnTo>
                    <a:pt x="42367" y="268389"/>
                  </a:lnTo>
                  <a:lnTo>
                    <a:pt x="564794" y="268389"/>
                  </a:lnTo>
                  <a:lnTo>
                    <a:pt x="564794" y="240690"/>
                  </a:lnTo>
                  <a:lnTo>
                    <a:pt x="564794" y="240398"/>
                  </a:lnTo>
                  <a:lnTo>
                    <a:pt x="564794" y="155714"/>
                  </a:lnTo>
                  <a:lnTo>
                    <a:pt x="522427" y="155714"/>
                  </a:lnTo>
                  <a:lnTo>
                    <a:pt x="522427" y="240398"/>
                  </a:lnTo>
                  <a:lnTo>
                    <a:pt x="381228" y="240398"/>
                  </a:lnTo>
                  <a:lnTo>
                    <a:pt x="381228" y="155714"/>
                  </a:lnTo>
                  <a:lnTo>
                    <a:pt x="352996" y="155714"/>
                  </a:lnTo>
                  <a:lnTo>
                    <a:pt x="352996" y="240398"/>
                  </a:lnTo>
                  <a:lnTo>
                    <a:pt x="211797" y="240398"/>
                  </a:lnTo>
                  <a:lnTo>
                    <a:pt x="211797" y="155714"/>
                  </a:lnTo>
                  <a:lnTo>
                    <a:pt x="183553" y="155714"/>
                  </a:lnTo>
                  <a:lnTo>
                    <a:pt x="183553" y="240398"/>
                  </a:lnTo>
                  <a:lnTo>
                    <a:pt x="42367" y="240398"/>
                  </a:lnTo>
                  <a:lnTo>
                    <a:pt x="42367" y="155181"/>
                  </a:lnTo>
                  <a:lnTo>
                    <a:pt x="564794" y="155181"/>
                  </a:lnTo>
                  <a:lnTo>
                    <a:pt x="564794" y="127381"/>
                  </a:lnTo>
                  <a:lnTo>
                    <a:pt x="564794" y="127190"/>
                  </a:lnTo>
                  <a:lnTo>
                    <a:pt x="564794" y="42405"/>
                  </a:lnTo>
                  <a:lnTo>
                    <a:pt x="522427" y="42405"/>
                  </a:lnTo>
                  <a:lnTo>
                    <a:pt x="522427" y="127190"/>
                  </a:lnTo>
                  <a:lnTo>
                    <a:pt x="381228" y="127190"/>
                  </a:lnTo>
                  <a:lnTo>
                    <a:pt x="381228" y="42405"/>
                  </a:lnTo>
                  <a:lnTo>
                    <a:pt x="352996" y="42405"/>
                  </a:lnTo>
                  <a:lnTo>
                    <a:pt x="352996" y="127190"/>
                  </a:lnTo>
                  <a:lnTo>
                    <a:pt x="211797" y="127190"/>
                  </a:lnTo>
                  <a:lnTo>
                    <a:pt x="211797" y="42405"/>
                  </a:lnTo>
                  <a:lnTo>
                    <a:pt x="183553" y="42405"/>
                  </a:lnTo>
                  <a:lnTo>
                    <a:pt x="183553" y="127190"/>
                  </a:lnTo>
                  <a:lnTo>
                    <a:pt x="42367" y="127190"/>
                  </a:lnTo>
                  <a:lnTo>
                    <a:pt x="42367" y="41973"/>
                  </a:lnTo>
                  <a:lnTo>
                    <a:pt x="564794" y="41973"/>
                  </a:lnTo>
                  <a:lnTo>
                    <a:pt x="564794" y="0"/>
                  </a:lnTo>
                  <a:close/>
                </a:path>
                <a:path w="1202054" h="1675764">
                  <a:moveTo>
                    <a:pt x="836066" y="1278636"/>
                  </a:moveTo>
                  <a:lnTo>
                    <a:pt x="271272" y="1278636"/>
                  </a:lnTo>
                  <a:lnTo>
                    <a:pt x="271272" y="1320609"/>
                  </a:lnTo>
                  <a:lnTo>
                    <a:pt x="271272" y="1405826"/>
                  </a:lnTo>
                  <a:lnTo>
                    <a:pt x="271272" y="1675485"/>
                  </a:lnTo>
                  <a:lnTo>
                    <a:pt x="836066" y="1675485"/>
                  </a:lnTo>
                  <a:lnTo>
                    <a:pt x="836066" y="1632635"/>
                  </a:lnTo>
                  <a:lnTo>
                    <a:pt x="836066" y="1632242"/>
                  </a:lnTo>
                  <a:lnTo>
                    <a:pt x="836066" y="1547647"/>
                  </a:lnTo>
                  <a:lnTo>
                    <a:pt x="793699" y="1547647"/>
                  </a:lnTo>
                  <a:lnTo>
                    <a:pt x="793699" y="1632242"/>
                  </a:lnTo>
                  <a:lnTo>
                    <a:pt x="652500" y="1632242"/>
                  </a:lnTo>
                  <a:lnTo>
                    <a:pt x="652500" y="1547647"/>
                  </a:lnTo>
                  <a:lnTo>
                    <a:pt x="624268" y="1547647"/>
                  </a:lnTo>
                  <a:lnTo>
                    <a:pt x="624268" y="1632242"/>
                  </a:lnTo>
                  <a:lnTo>
                    <a:pt x="483069" y="1632242"/>
                  </a:lnTo>
                  <a:lnTo>
                    <a:pt x="483069" y="1547647"/>
                  </a:lnTo>
                  <a:lnTo>
                    <a:pt x="454825" y="1547647"/>
                  </a:lnTo>
                  <a:lnTo>
                    <a:pt x="454825" y="1632242"/>
                  </a:lnTo>
                  <a:lnTo>
                    <a:pt x="313639" y="1632242"/>
                  </a:lnTo>
                  <a:lnTo>
                    <a:pt x="313639" y="1547025"/>
                  </a:lnTo>
                  <a:lnTo>
                    <a:pt x="836066" y="1547025"/>
                  </a:lnTo>
                  <a:lnTo>
                    <a:pt x="836066" y="1519326"/>
                  </a:lnTo>
                  <a:lnTo>
                    <a:pt x="836066" y="1519034"/>
                  </a:lnTo>
                  <a:lnTo>
                    <a:pt x="836066" y="1434350"/>
                  </a:lnTo>
                  <a:lnTo>
                    <a:pt x="793699" y="1434350"/>
                  </a:lnTo>
                  <a:lnTo>
                    <a:pt x="793699" y="1519034"/>
                  </a:lnTo>
                  <a:lnTo>
                    <a:pt x="652500" y="1519034"/>
                  </a:lnTo>
                  <a:lnTo>
                    <a:pt x="652500" y="1434350"/>
                  </a:lnTo>
                  <a:lnTo>
                    <a:pt x="624268" y="1434350"/>
                  </a:lnTo>
                  <a:lnTo>
                    <a:pt x="624268" y="1519034"/>
                  </a:lnTo>
                  <a:lnTo>
                    <a:pt x="483069" y="1519034"/>
                  </a:lnTo>
                  <a:lnTo>
                    <a:pt x="483069" y="1434350"/>
                  </a:lnTo>
                  <a:lnTo>
                    <a:pt x="454825" y="1434350"/>
                  </a:lnTo>
                  <a:lnTo>
                    <a:pt x="454825" y="1519034"/>
                  </a:lnTo>
                  <a:lnTo>
                    <a:pt x="313639" y="1519034"/>
                  </a:lnTo>
                  <a:lnTo>
                    <a:pt x="313639" y="1433817"/>
                  </a:lnTo>
                  <a:lnTo>
                    <a:pt x="836066" y="1433817"/>
                  </a:lnTo>
                  <a:lnTo>
                    <a:pt x="836066" y="1406017"/>
                  </a:lnTo>
                  <a:lnTo>
                    <a:pt x="836066" y="1405826"/>
                  </a:lnTo>
                  <a:lnTo>
                    <a:pt x="836066" y="1321041"/>
                  </a:lnTo>
                  <a:lnTo>
                    <a:pt x="793699" y="1321041"/>
                  </a:lnTo>
                  <a:lnTo>
                    <a:pt x="793699" y="1405826"/>
                  </a:lnTo>
                  <a:lnTo>
                    <a:pt x="652500" y="1405826"/>
                  </a:lnTo>
                  <a:lnTo>
                    <a:pt x="652500" y="1321041"/>
                  </a:lnTo>
                  <a:lnTo>
                    <a:pt x="624268" y="1321041"/>
                  </a:lnTo>
                  <a:lnTo>
                    <a:pt x="624268" y="1405826"/>
                  </a:lnTo>
                  <a:lnTo>
                    <a:pt x="483069" y="1405826"/>
                  </a:lnTo>
                  <a:lnTo>
                    <a:pt x="483069" y="1321041"/>
                  </a:lnTo>
                  <a:lnTo>
                    <a:pt x="454825" y="1321041"/>
                  </a:lnTo>
                  <a:lnTo>
                    <a:pt x="454825" y="1405826"/>
                  </a:lnTo>
                  <a:lnTo>
                    <a:pt x="313639" y="1405826"/>
                  </a:lnTo>
                  <a:lnTo>
                    <a:pt x="313639" y="1320609"/>
                  </a:lnTo>
                  <a:lnTo>
                    <a:pt x="836066" y="1320609"/>
                  </a:lnTo>
                  <a:lnTo>
                    <a:pt x="836066" y="1278636"/>
                  </a:lnTo>
                  <a:close/>
                </a:path>
                <a:path w="1202054" h="1675764">
                  <a:moveTo>
                    <a:pt x="1201699" y="491934"/>
                  </a:moveTo>
                  <a:lnTo>
                    <a:pt x="635647" y="491934"/>
                  </a:lnTo>
                  <a:lnTo>
                    <a:pt x="635647" y="533806"/>
                  </a:lnTo>
                  <a:lnTo>
                    <a:pt x="635647" y="618845"/>
                  </a:lnTo>
                  <a:lnTo>
                    <a:pt x="635647" y="887895"/>
                  </a:lnTo>
                  <a:lnTo>
                    <a:pt x="1201699" y="887895"/>
                  </a:lnTo>
                  <a:lnTo>
                    <a:pt x="1201699" y="845134"/>
                  </a:lnTo>
                  <a:lnTo>
                    <a:pt x="1201699" y="844753"/>
                  </a:lnTo>
                  <a:lnTo>
                    <a:pt x="1201699" y="760349"/>
                  </a:lnTo>
                  <a:lnTo>
                    <a:pt x="1159230" y="760349"/>
                  </a:lnTo>
                  <a:lnTo>
                    <a:pt x="1159230" y="844753"/>
                  </a:lnTo>
                  <a:lnTo>
                    <a:pt x="1017727" y="844753"/>
                  </a:lnTo>
                  <a:lnTo>
                    <a:pt x="1017727" y="760349"/>
                  </a:lnTo>
                  <a:lnTo>
                    <a:pt x="989418" y="760349"/>
                  </a:lnTo>
                  <a:lnTo>
                    <a:pt x="989418" y="844753"/>
                  </a:lnTo>
                  <a:lnTo>
                    <a:pt x="847915" y="844753"/>
                  </a:lnTo>
                  <a:lnTo>
                    <a:pt x="847915" y="760349"/>
                  </a:lnTo>
                  <a:lnTo>
                    <a:pt x="819607" y="760349"/>
                  </a:lnTo>
                  <a:lnTo>
                    <a:pt x="819607" y="844753"/>
                  </a:lnTo>
                  <a:lnTo>
                    <a:pt x="678103" y="844753"/>
                  </a:lnTo>
                  <a:lnTo>
                    <a:pt x="678103" y="759714"/>
                  </a:lnTo>
                  <a:lnTo>
                    <a:pt x="1201699" y="759714"/>
                  </a:lnTo>
                  <a:lnTo>
                    <a:pt x="1201699" y="732078"/>
                  </a:lnTo>
                  <a:lnTo>
                    <a:pt x="1201699" y="731799"/>
                  </a:lnTo>
                  <a:lnTo>
                    <a:pt x="1201699" y="647293"/>
                  </a:lnTo>
                  <a:lnTo>
                    <a:pt x="1159230" y="647293"/>
                  </a:lnTo>
                  <a:lnTo>
                    <a:pt x="1159230" y="731799"/>
                  </a:lnTo>
                  <a:lnTo>
                    <a:pt x="1017727" y="731799"/>
                  </a:lnTo>
                  <a:lnTo>
                    <a:pt x="1017727" y="647293"/>
                  </a:lnTo>
                  <a:lnTo>
                    <a:pt x="989418" y="647293"/>
                  </a:lnTo>
                  <a:lnTo>
                    <a:pt x="989418" y="731799"/>
                  </a:lnTo>
                  <a:lnTo>
                    <a:pt x="847915" y="731799"/>
                  </a:lnTo>
                  <a:lnTo>
                    <a:pt x="847915" y="647293"/>
                  </a:lnTo>
                  <a:lnTo>
                    <a:pt x="819607" y="647293"/>
                  </a:lnTo>
                  <a:lnTo>
                    <a:pt x="819607" y="731799"/>
                  </a:lnTo>
                  <a:lnTo>
                    <a:pt x="678103" y="731799"/>
                  </a:lnTo>
                  <a:lnTo>
                    <a:pt x="678103" y="646760"/>
                  </a:lnTo>
                  <a:lnTo>
                    <a:pt x="1201699" y="646760"/>
                  </a:lnTo>
                  <a:lnTo>
                    <a:pt x="1201699" y="619036"/>
                  </a:lnTo>
                  <a:lnTo>
                    <a:pt x="1201699" y="618845"/>
                  </a:lnTo>
                  <a:lnTo>
                    <a:pt x="1201699" y="534238"/>
                  </a:lnTo>
                  <a:lnTo>
                    <a:pt x="1159230" y="534238"/>
                  </a:lnTo>
                  <a:lnTo>
                    <a:pt x="1159230" y="618845"/>
                  </a:lnTo>
                  <a:lnTo>
                    <a:pt x="1017727" y="618845"/>
                  </a:lnTo>
                  <a:lnTo>
                    <a:pt x="1017727" y="534238"/>
                  </a:lnTo>
                  <a:lnTo>
                    <a:pt x="989418" y="534238"/>
                  </a:lnTo>
                  <a:lnTo>
                    <a:pt x="989418" y="618845"/>
                  </a:lnTo>
                  <a:lnTo>
                    <a:pt x="847915" y="618845"/>
                  </a:lnTo>
                  <a:lnTo>
                    <a:pt x="847915" y="534238"/>
                  </a:lnTo>
                  <a:lnTo>
                    <a:pt x="819607" y="534238"/>
                  </a:lnTo>
                  <a:lnTo>
                    <a:pt x="819607" y="618845"/>
                  </a:lnTo>
                  <a:lnTo>
                    <a:pt x="678103" y="618845"/>
                  </a:lnTo>
                  <a:lnTo>
                    <a:pt x="678103" y="533806"/>
                  </a:lnTo>
                  <a:lnTo>
                    <a:pt x="1201699" y="533806"/>
                  </a:lnTo>
                  <a:lnTo>
                    <a:pt x="1201699" y="491934"/>
                  </a:lnTo>
                  <a:close/>
                </a:path>
              </a:pathLst>
            </a:custGeom>
            <a:solidFill>
              <a:srgbClr val="BCBCBC"/>
            </a:solidFill>
          </p:spPr>
          <p:txBody>
            <a:bodyPr wrap="square" lIns="0" tIns="0" rIns="0" bIns="0" rtlCol="0"/>
            <a:lstStyle/>
            <a:p>
              <a:endParaRPr sz="2400"/>
            </a:p>
          </p:txBody>
        </p:sp>
      </p:grpSp>
      <p:pic>
        <p:nvPicPr>
          <p:cNvPr id="13" name="object 13"/>
          <p:cNvPicPr/>
          <p:nvPr/>
        </p:nvPicPr>
        <p:blipFill>
          <a:blip r:embed="rId2" cstate="print"/>
          <a:stretch>
            <a:fillRect/>
          </a:stretch>
        </p:blipFill>
        <p:spPr>
          <a:xfrm>
            <a:off x="5642863" y="1747519"/>
            <a:ext cx="4700015" cy="1574800"/>
          </a:xfrm>
          <a:prstGeom prst="rect">
            <a:avLst/>
          </a:prstGeom>
        </p:spPr>
      </p:pic>
      <p:pic>
        <p:nvPicPr>
          <p:cNvPr id="14" name="object 14"/>
          <p:cNvPicPr/>
          <p:nvPr/>
        </p:nvPicPr>
        <p:blipFill>
          <a:blip r:embed="rId3" cstate="print"/>
          <a:stretch>
            <a:fillRect/>
          </a:stretch>
        </p:blipFill>
        <p:spPr>
          <a:xfrm>
            <a:off x="5695695" y="3970527"/>
            <a:ext cx="4700016" cy="1613407"/>
          </a:xfrm>
          <a:prstGeom prst="rect">
            <a:avLst/>
          </a:prstGeom>
        </p:spPr>
      </p:pic>
      <p:sp>
        <p:nvSpPr>
          <p:cNvPr id="15" name="object 15"/>
          <p:cNvSpPr txBox="1"/>
          <p:nvPr/>
        </p:nvSpPr>
        <p:spPr>
          <a:xfrm>
            <a:off x="7319771" y="1270507"/>
            <a:ext cx="1576493"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Department</a:t>
            </a:r>
            <a:r>
              <a:rPr sz="2133" spc="-113" dirty="0">
                <a:solidFill>
                  <a:srgbClr val="FFFFFF"/>
                </a:solidFill>
                <a:latin typeface="Calibri"/>
                <a:cs typeface="Calibri"/>
              </a:rPr>
              <a:t> </a:t>
            </a:r>
            <a:r>
              <a:rPr sz="2133" spc="-67" dirty="0">
                <a:solidFill>
                  <a:srgbClr val="FFFFFF"/>
                </a:solidFill>
                <a:latin typeface="Calibri"/>
                <a:cs typeface="Calibri"/>
              </a:rPr>
              <a:t>1</a:t>
            </a:r>
            <a:endParaRPr sz="2133">
              <a:latin typeface="Calibri"/>
              <a:cs typeface="Calibri"/>
            </a:endParaRPr>
          </a:p>
        </p:txBody>
      </p:sp>
      <p:sp>
        <p:nvSpPr>
          <p:cNvPr id="16" name="object 16"/>
          <p:cNvSpPr txBox="1"/>
          <p:nvPr/>
        </p:nvSpPr>
        <p:spPr>
          <a:xfrm>
            <a:off x="7319771" y="3540759"/>
            <a:ext cx="1576493"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Department</a:t>
            </a:r>
            <a:r>
              <a:rPr sz="2133" spc="-113" dirty="0">
                <a:solidFill>
                  <a:srgbClr val="FFFFFF"/>
                </a:solidFill>
                <a:latin typeface="Calibri"/>
                <a:cs typeface="Calibri"/>
              </a:rPr>
              <a:t> </a:t>
            </a:r>
            <a:r>
              <a:rPr sz="2133" spc="-67" dirty="0">
                <a:solidFill>
                  <a:srgbClr val="FFFFFF"/>
                </a:solidFill>
                <a:latin typeface="Calibri"/>
                <a:cs typeface="Calibri"/>
              </a:rPr>
              <a:t>2</a:t>
            </a:r>
            <a:endParaRPr sz="2133">
              <a:latin typeface="Calibri"/>
              <a:cs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642863" y="1747519"/>
            <a:ext cx="4700693" cy="2875280"/>
            <a:chOff x="4232147" y="1310639"/>
            <a:chExt cx="3525520" cy="2156460"/>
          </a:xfrm>
        </p:grpSpPr>
        <p:pic>
          <p:nvPicPr>
            <p:cNvPr id="3" name="object 3"/>
            <p:cNvPicPr/>
            <p:nvPr/>
          </p:nvPicPr>
          <p:blipFill>
            <a:blip r:embed="rId2" cstate="print"/>
            <a:stretch>
              <a:fillRect/>
            </a:stretch>
          </p:blipFill>
          <p:spPr>
            <a:xfrm>
              <a:off x="4232147" y="2257043"/>
              <a:ext cx="3525011" cy="1210056"/>
            </a:xfrm>
            <a:prstGeom prst="rect">
              <a:avLst/>
            </a:prstGeom>
          </p:spPr>
        </p:pic>
        <p:pic>
          <p:nvPicPr>
            <p:cNvPr id="4" name="object 4"/>
            <p:cNvPicPr/>
            <p:nvPr/>
          </p:nvPicPr>
          <p:blipFill>
            <a:blip r:embed="rId3" cstate="print"/>
            <a:stretch>
              <a:fillRect/>
            </a:stretch>
          </p:blipFill>
          <p:spPr>
            <a:xfrm>
              <a:off x="4232147" y="1310639"/>
              <a:ext cx="3525011" cy="1181100"/>
            </a:xfrm>
            <a:prstGeom prst="rect">
              <a:avLst/>
            </a:prstGeom>
          </p:spPr>
        </p:pic>
      </p:grpSp>
      <p:sp>
        <p:nvSpPr>
          <p:cNvPr id="5" name="object 5"/>
          <p:cNvSpPr txBox="1">
            <a:spLocks noGrp="1"/>
          </p:cNvSpPr>
          <p:nvPr>
            <p:ph type="title"/>
          </p:nvPr>
        </p:nvSpPr>
        <p:spPr>
          <a:xfrm>
            <a:off x="3556168" y="383228"/>
            <a:ext cx="6482354"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Data</a:t>
            </a:r>
            <a:r>
              <a:rPr spc="-33" dirty="0">
                <a:solidFill>
                  <a:schemeClr val="bg1"/>
                </a:solidFill>
                <a:latin typeface="+mn-lt"/>
              </a:rPr>
              <a:t> </a:t>
            </a:r>
            <a:r>
              <a:rPr dirty="0">
                <a:solidFill>
                  <a:schemeClr val="bg1"/>
                </a:solidFill>
                <a:latin typeface="+mn-lt"/>
              </a:rPr>
              <a:t>Warehouse</a:t>
            </a:r>
            <a:r>
              <a:rPr spc="-60" dirty="0">
                <a:solidFill>
                  <a:schemeClr val="bg1"/>
                </a:solidFill>
                <a:latin typeface="+mn-lt"/>
              </a:rPr>
              <a:t> </a:t>
            </a:r>
            <a:r>
              <a:rPr spc="-13" dirty="0">
                <a:solidFill>
                  <a:schemeClr val="bg1"/>
                </a:solidFill>
                <a:latin typeface="+mn-lt"/>
              </a:rPr>
              <a:t>Layers</a:t>
            </a:r>
          </a:p>
        </p:txBody>
      </p:sp>
      <p:sp>
        <p:nvSpPr>
          <p:cNvPr id="6" name="object 6"/>
          <p:cNvSpPr/>
          <p:nvPr/>
        </p:nvSpPr>
        <p:spPr>
          <a:xfrm>
            <a:off x="1157783" y="2562622"/>
            <a:ext cx="1004147" cy="703580"/>
          </a:xfrm>
          <a:custGeom>
            <a:avLst/>
            <a:gdLst/>
            <a:ahLst/>
            <a:cxnLst/>
            <a:rect l="l" t="t" r="r" b="b"/>
            <a:pathLst>
              <a:path w="753110" h="527685">
                <a:moveTo>
                  <a:pt x="282384" y="207111"/>
                </a:moveTo>
                <a:lnTo>
                  <a:pt x="244729" y="207111"/>
                </a:lnTo>
                <a:lnTo>
                  <a:pt x="244729" y="320167"/>
                </a:lnTo>
                <a:lnTo>
                  <a:pt x="282384" y="320167"/>
                </a:lnTo>
                <a:lnTo>
                  <a:pt x="282384" y="207111"/>
                </a:lnTo>
                <a:close/>
              </a:path>
              <a:path w="753110" h="527685">
                <a:moveTo>
                  <a:pt x="508292" y="207111"/>
                </a:moveTo>
                <a:lnTo>
                  <a:pt x="470649" y="207111"/>
                </a:lnTo>
                <a:lnTo>
                  <a:pt x="470649" y="320167"/>
                </a:lnTo>
                <a:lnTo>
                  <a:pt x="508292" y="320167"/>
                </a:lnTo>
                <a:lnTo>
                  <a:pt x="508292" y="207111"/>
                </a:lnTo>
                <a:close/>
              </a:path>
              <a:path w="753110" h="527685">
                <a:moveTo>
                  <a:pt x="753046" y="207111"/>
                </a:moveTo>
                <a:lnTo>
                  <a:pt x="696556" y="207111"/>
                </a:lnTo>
                <a:lnTo>
                  <a:pt x="696556" y="320167"/>
                </a:lnTo>
                <a:lnTo>
                  <a:pt x="753046" y="320167"/>
                </a:lnTo>
                <a:lnTo>
                  <a:pt x="753046" y="207111"/>
                </a:lnTo>
                <a:close/>
              </a:path>
              <a:path w="753110" h="527685">
                <a:moveTo>
                  <a:pt x="753046" y="0"/>
                </a:moveTo>
                <a:lnTo>
                  <a:pt x="0" y="0"/>
                </a:lnTo>
                <a:lnTo>
                  <a:pt x="0" y="55905"/>
                </a:lnTo>
                <a:lnTo>
                  <a:pt x="0" y="168986"/>
                </a:lnTo>
                <a:lnTo>
                  <a:pt x="0" y="527278"/>
                </a:lnTo>
                <a:lnTo>
                  <a:pt x="753046" y="527278"/>
                </a:lnTo>
                <a:lnTo>
                  <a:pt x="753046" y="471373"/>
                </a:lnTo>
                <a:lnTo>
                  <a:pt x="56476" y="471373"/>
                </a:lnTo>
                <a:lnTo>
                  <a:pt x="56476" y="358292"/>
                </a:lnTo>
                <a:lnTo>
                  <a:pt x="244729" y="358292"/>
                </a:lnTo>
                <a:lnTo>
                  <a:pt x="244729" y="470903"/>
                </a:lnTo>
                <a:lnTo>
                  <a:pt x="282384" y="470903"/>
                </a:lnTo>
                <a:lnTo>
                  <a:pt x="282384" y="358292"/>
                </a:lnTo>
                <a:lnTo>
                  <a:pt x="470649" y="358292"/>
                </a:lnTo>
                <a:lnTo>
                  <a:pt x="470649" y="470903"/>
                </a:lnTo>
                <a:lnTo>
                  <a:pt x="508292" y="470903"/>
                </a:lnTo>
                <a:lnTo>
                  <a:pt x="508292" y="358292"/>
                </a:lnTo>
                <a:lnTo>
                  <a:pt x="696556" y="358292"/>
                </a:lnTo>
                <a:lnTo>
                  <a:pt x="696556" y="470903"/>
                </a:lnTo>
                <a:lnTo>
                  <a:pt x="753046" y="470903"/>
                </a:lnTo>
                <a:lnTo>
                  <a:pt x="753046" y="358292"/>
                </a:lnTo>
                <a:lnTo>
                  <a:pt x="753046" y="357847"/>
                </a:lnTo>
                <a:lnTo>
                  <a:pt x="753046" y="320179"/>
                </a:lnTo>
                <a:lnTo>
                  <a:pt x="56476" y="320179"/>
                </a:lnTo>
                <a:lnTo>
                  <a:pt x="56476" y="207098"/>
                </a:lnTo>
                <a:lnTo>
                  <a:pt x="753046" y="207098"/>
                </a:lnTo>
                <a:lnTo>
                  <a:pt x="753046" y="169430"/>
                </a:lnTo>
                <a:lnTo>
                  <a:pt x="753046" y="168986"/>
                </a:lnTo>
                <a:lnTo>
                  <a:pt x="753046" y="56375"/>
                </a:lnTo>
                <a:lnTo>
                  <a:pt x="696556" y="56375"/>
                </a:lnTo>
                <a:lnTo>
                  <a:pt x="696556" y="168986"/>
                </a:lnTo>
                <a:lnTo>
                  <a:pt x="508292" y="168986"/>
                </a:lnTo>
                <a:lnTo>
                  <a:pt x="508292" y="56375"/>
                </a:lnTo>
                <a:lnTo>
                  <a:pt x="470649" y="56375"/>
                </a:lnTo>
                <a:lnTo>
                  <a:pt x="470649" y="168986"/>
                </a:lnTo>
                <a:lnTo>
                  <a:pt x="282384" y="168986"/>
                </a:lnTo>
                <a:lnTo>
                  <a:pt x="282384" y="56375"/>
                </a:lnTo>
                <a:lnTo>
                  <a:pt x="244729" y="56375"/>
                </a:lnTo>
                <a:lnTo>
                  <a:pt x="244729" y="168986"/>
                </a:lnTo>
                <a:lnTo>
                  <a:pt x="56476" y="168986"/>
                </a:lnTo>
                <a:lnTo>
                  <a:pt x="56476" y="55905"/>
                </a:lnTo>
                <a:lnTo>
                  <a:pt x="753046" y="55905"/>
                </a:lnTo>
                <a:lnTo>
                  <a:pt x="753046" y="0"/>
                </a:lnTo>
                <a:close/>
              </a:path>
            </a:pathLst>
          </a:custGeom>
          <a:solidFill>
            <a:srgbClr val="BCBCBC"/>
          </a:solidFill>
        </p:spPr>
        <p:txBody>
          <a:bodyPr wrap="square" lIns="0" tIns="0" rIns="0" bIns="0" rtlCol="0"/>
          <a:lstStyle/>
          <a:p>
            <a:endParaRPr sz="2400"/>
          </a:p>
        </p:txBody>
      </p:sp>
      <p:sp>
        <p:nvSpPr>
          <p:cNvPr id="7" name="object 7"/>
          <p:cNvSpPr txBox="1"/>
          <p:nvPr/>
        </p:nvSpPr>
        <p:spPr>
          <a:xfrm>
            <a:off x="935669" y="4679356"/>
            <a:ext cx="3565313" cy="685530"/>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data</a:t>
            </a:r>
            <a:r>
              <a:rPr sz="2133" spc="-33" dirty="0">
                <a:solidFill>
                  <a:srgbClr val="FFFFFF"/>
                </a:solidFill>
                <a:latin typeface="Calibri"/>
                <a:cs typeface="Calibri"/>
              </a:rPr>
              <a:t> </a:t>
            </a:r>
            <a:r>
              <a:rPr sz="2133" spc="-13" dirty="0">
                <a:solidFill>
                  <a:srgbClr val="FFFFFF"/>
                </a:solidFill>
                <a:latin typeface="Calibri"/>
                <a:cs typeface="Calibri"/>
              </a:rPr>
              <a:t>sources</a:t>
            </a:r>
            <a:endParaRPr sz="2133">
              <a:latin typeface="Calibri"/>
              <a:cs typeface="Calibri"/>
            </a:endParaRPr>
          </a:p>
          <a:p>
            <a:pPr marL="2742283">
              <a:spcBef>
                <a:spcPts val="100"/>
              </a:spcBef>
            </a:pPr>
            <a:r>
              <a:rPr sz="2133" spc="-13" dirty="0">
                <a:solidFill>
                  <a:srgbClr val="FFFFFF"/>
                </a:solidFill>
                <a:latin typeface="Calibri"/>
                <a:cs typeface="Calibri"/>
              </a:rPr>
              <a:t>Staging</a:t>
            </a:r>
            <a:endParaRPr sz="2133">
              <a:latin typeface="Calibri"/>
              <a:cs typeface="Calibri"/>
            </a:endParaRPr>
          </a:p>
        </p:txBody>
      </p:sp>
      <p:sp>
        <p:nvSpPr>
          <p:cNvPr id="8" name="object 8"/>
          <p:cNvSpPr/>
          <p:nvPr/>
        </p:nvSpPr>
        <p:spPr>
          <a:xfrm>
            <a:off x="1327573" y="3561639"/>
            <a:ext cx="689187" cy="934720"/>
          </a:xfrm>
          <a:custGeom>
            <a:avLst/>
            <a:gdLst/>
            <a:ahLst/>
            <a:cxnLst/>
            <a:rect l="l" t="t" r="r" b="b"/>
            <a:pathLst>
              <a:path w="516890" h="701039">
                <a:moveTo>
                  <a:pt x="516585" y="479298"/>
                </a:moveTo>
                <a:lnTo>
                  <a:pt x="507314" y="498830"/>
                </a:lnTo>
                <a:lnTo>
                  <a:pt x="481190" y="516432"/>
                </a:lnTo>
                <a:lnTo>
                  <a:pt x="461238" y="523798"/>
                </a:lnTo>
                <a:lnTo>
                  <a:pt x="461238" y="608330"/>
                </a:lnTo>
                <a:lnTo>
                  <a:pt x="459905" y="615873"/>
                </a:lnTo>
                <a:lnTo>
                  <a:pt x="456158" y="621690"/>
                </a:lnTo>
                <a:lnTo>
                  <a:pt x="450342" y="625436"/>
                </a:lnTo>
                <a:lnTo>
                  <a:pt x="442785" y="626757"/>
                </a:lnTo>
                <a:lnTo>
                  <a:pt x="435229" y="625436"/>
                </a:lnTo>
                <a:lnTo>
                  <a:pt x="429412" y="621690"/>
                </a:lnTo>
                <a:lnTo>
                  <a:pt x="425665" y="615873"/>
                </a:lnTo>
                <a:lnTo>
                  <a:pt x="424332" y="608330"/>
                </a:lnTo>
                <a:lnTo>
                  <a:pt x="425665" y="600786"/>
                </a:lnTo>
                <a:lnTo>
                  <a:pt x="429412" y="594969"/>
                </a:lnTo>
                <a:lnTo>
                  <a:pt x="435229" y="591223"/>
                </a:lnTo>
                <a:lnTo>
                  <a:pt x="442785" y="589889"/>
                </a:lnTo>
                <a:lnTo>
                  <a:pt x="450342" y="591223"/>
                </a:lnTo>
                <a:lnTo>
                  <a:pt x="456158" y="594969"/>
                </a:lnTo>
                <a:lnTo>
                  <a:pt x="459905" y="600786"/>
                </a:lnTo>
                <a:lnTo>
                  <a:pt x="461238" y="608330"/>
                </a:lnTo>
                <a:lnTo>
                  <a:pt x="461238" y="523798"/>
                </a:lnTo>
                <a:lnTo>
                  <a:pt x="440715" y="531368"/>
                </a:lnTo>
                <a:lnTo>
                  <a:pt x="388391" y="542925"/>
                </a:lnTo>
                <a:lnTo>
                  <a:pt x="326745" y="550379"/>
                </a:lnTo>
                <a:lnTo>
                  <a:pt x="258292" y="553021"/>
                </a:lnTo>
                <a:lnTo>
                  <a:pt x="189826" y="550379"/>
                </a:lnTo>
                <a:lnTo>
                  <a:pt x="128193" y="542925"/>
                </a:lnTo>
                <a:lnTo>
                  <a:pt x="75869" y="531368"/>
                </a:lnTo>
                <a:lnTo>
                  <a:pt x="35394" y="516432"/>
                </a:lnTo>
                <a:lnTo>
                  <a:pt x="0" y="479298"/>
                </a:lnTo>
                <a:lnTo>
                  <a:pt x="0" y="626757"/>
                </a:lnTo>
                <a:lnTo>
                  <a:pt x="35394" y="663905"/>
                </a:lnTo>
                <a:lnTo>
                  <a:pt x="75869" y="678840"/>
                </a:lnTo>
                <a:lnTo>
                  <a:pt x="128193" y="690397"/>
                </a:lnTo>
                <a:lnTo>
                  <a:pt x="189826" y="697852"/>
                </a:lnTo>
                <a:lnTo>
                  <a:pt x="258292" y="700493"/>
                </a:lnTo>
                <a:lnTo>
                  <a:pt x="326745" y="697852"/>
                </a:lnTo>
                <a:lnTo>
                  <a:pt x="388391" y="690397"/>
                </a:lnTo>
                <a:lnTo>
                  <a:pt x="440715" y="678840"/>
                </a:lnTo>
                <a:lnTo>
                  <a:pt x="481190" y="663905"/>
                </a:lnTo>
                <a:lnTo>
                  <a:pt x="516585" y="626757"/>
                </a:lnTo>
                <a:lnTo>
                  <a:pt x="516585" y="589889"/>
                </a:lnTo>
                <a:lnTo>
                  <a:pt x="516585" y="553021"/>
                </a:lnTo>
                <a:lnTo>
                  <a:pt x="516585" y="479298"/>
                </a:lnTo>
                <a:close/>
              </a:path>
              <a:path w="516890" h="701039">
                <a:moveTo>
                  <a:pt x="516585" y="294957"/>
                </a:moveTo>
                <a:lnTo>
                  <a:pt x="507314" y="314502"/>
                </a:lnTo>
                <a:lnTo>
                  <a:pt x="481190" y="332092"/>
                </a:lnTo>
                <a:lnTo>
                  <a:pt x="461238" y="339458"/>
                </a:lnTo>
                <a:lnTo>
                  <a:pt x="461238" y="423989"/>
                </a:lnTo>
                <a:lnTo>
                  <a:pt x="459905" y="431533"/>
                </a:lnTo>
                <a:lnTo>
                  <a:pt x="456158" y="437349"/>
                </a:lnTo>
                <a:lnTo>
                  <a:pt x="450342" y="441096"/>
                </a:lnTo>
                <a:lnTo>
                  <a:pt x="442785" y="442429"/>
                </a:lnTo>
                <a:lnTo>
                  <a:pt x="435229" y="441096"/>
                </a:lnTo>
                <a:lnTo>
                  <a:pt x="429412" y="437349"/>
                </a:lnTo>
                <a:lnTo>
                  <a:pt x="425665" y="431533"/>
                </a:lnTo>
                <a:lnTo>
                  <a:pt x="424332" y="423989"/>
                </a:lnTo>
                <a:lnTo>
                  <a:pt x="425665" y="416445"/>
                </a:lnTo>
                <a:lnTo>
                  <a:pt x="429412" y="410629"/>
                </a:lnTo>
                <a:lnTo>
                  <a:pt x="435229" y="406882"/>
                </a:lnTo>
                <a:lnTo>
                  <a:pt x="442785" y="405561"/>
                </a:lnTo>
                <a:lnTo>
                  <a:pt x="450342" y="406882"/>
                </a:lnTo>
                <a:lnTo>
                  <a:pt x="456158" y="410629"/>
                </a:lnTo>
                <a:lnTo>
                  <a:pt x="459905" y="416445"/>
                </a:lnTo>
                <a:lnTo>
                  <a:pt x="461238" y="423989"/>
                </a:lnTo>
                <a:lnTo>
                  <a:pt x="461238" y="339458"/>
                </a:lnTo>
                <a:lnTo>
                  <a:pt x="440715" y="347027"/>
                </a:lnTo>
                <a:lnTo>
                  <a:pt x="388391" y="358584"/>
                </a:lnTo>
                <a:lnTo>
                  <a:pt x="326745" y="366039"/>
                </a:lnTo>
                <a:lnTo>
                  <a:pt x="258292" y="368693"/>
                </a:lnTo>
                <a:lnTo>
                  <a:pt x="189826" y="366039"/>
                </a:lnTo>
                <a:lnTo>
                  <a:pt x="128193" y="358584"/>
                </a:lnTo>
                <a:lnTo>
                  <a:pt x="75869" y="347027"/>
                </a:lnTo>
                <a:lnTo>
                  <a:pt x="35394" y="332092"/>
                </a:lnTo>
                <a:lnTo>
                  <a:pt x="0" y="294957"/>
                </a:lnTo>
                <a:lnTo>
                  <a:pt x="0" y="442429"/>
                </a:lnTo>
                <a:lnTo>
                  <a:pt x="35394" y="479564"/>
                </a:lnTo>
                <a:lnTo>
                  <a:pt x="75869" y="494499"/>
                </a:lnTo>
                <a:lnTo>
                  <a:pt x="128193" y="506056"/>
                </a:lnTo>
                <a:lnTo>
                  <a:pt x="189826" y="513511"/>
                </a:lnTo>
                <a:lnTo>
                  <a:pt x="258292" y="516153"/>
                </a:lnTo>
                <a:lnTo>
                  <a:pt x="326745" y="513511"/>
                </a:lnTo>
                <a:lnTo>
                  <a:pt x="388391" y="506056"/>
                </a:lnTo>
                <a:lnTo>
                  <a:pt x="440715" y="494499"/>
                </a:lnTo>
                <a:lnTo>
                  <a:pt x="481190" y="479564"/>
                </a:lnTo>
                <a:lnTo>
                  <a:pt x="516585" y="442429"/>
                </a:lnTo>
                <a:lnTo>
                  <a:pt x="516585" y="405561"/>
                </a:lnTo>
                <a:lnTo>
                  <a:pt x="516585" y="368693"/>
                </a:lnTo>
                <a:lnTo>
                  <a:pt x="516585" y="294957"/>
                </a:lnTo>
                <a:close/>
              </a:path>
              <a:path w="516890" h="701039">
                <a:moveTo>
                  <a:pt x="516585" y="110617"/>
                </a:moveTo>
                <a:lnTo>
                  <a:pt x="507314" y="130162"/>
                </a:lnTo>
                <a:lnTo>
                  <a:pt x="481190" y="147751"/>
                </a:lnTo>
                <a:lnTo>
                  <a:pt x="461238" y="155117"/>
                </a:lnTo>
                <a:lnTo>
                  <a:pt x="461238" y="239649"/>
                </a:lnTo>
                <a:lnTo>
                  <a:pt x="459905" y="247192"/>
                </a:lnTo>
                <a:lnTo>
                  <a:pt x="456158" y="253022"/>
                </a:lnTo>
                <a:lnTo>
                  <a:pt x="450342" y="256755"/>
                </a:lnTo>
                <a:lnTo>
                  <a:pt x="442785" y="258089"/>
                </a:lnTo>
                <a:lnTo>
                  <a:pt x="435229" y="256755"/>
                </a:lnTo>
                <a:lnTo>
                  <a:pt x="429412" y="253022"/>
                </a:lnTo>
                <a:lnTo>
                  <a:pt x="425665" y="247192"/>
                </a:lnTo>
                <a:lnTo>
                  <a:pt x="424332" y="239649"/>
                </a:lnTo>
                <a:lnTo>
                  <a:pt x="425665" y="232105"/>
                </a:lnTo>
                <a:lnTo>
                  <a:pt x="429412" y="226288"/>
                </a:lnTo>
                <a:lnTo>
                  <a:pt x="435229" y="222542"/>
                </a:lnTo>
                <a:lnTo>
                  <a:pt x="442785" y="221221"/>
                </a:lnTo>
                <a:lnTo>
                  <a:pt x="450342" y="222542"/>
                </a:lnTo>
                <a:lnTo>
                  <a:pt x="456158" y="226288"/>
                </a:lnTo>
                <a:lnTo>
                  <a:pt x="459905" y="232105"/>
                </a:lnTo>
                <a:lnTo>
                  <a:pt x="461238" y="239649"/>
                </a:lnTo>
                <a:lnTo>
                  <a:pt x="461238" y="155117"/>
                </a:lnTo>
                <a:lnTo>
                  <a:pt x="440715" y="162687"/>
                </a:lnTo>
                <a:lnTo>
                  <a:pt x="388391" y="174244"/>
                </a:lnTo>
                <a:lnTo>
                  <a:pt x="326745" y="181698"/>
                </a:lnTo>
                <a:lnTo>
                  <a:pt x="258292" y="184353"/>
                </a:lnTo>
                <a:lnTo>
                  <a:pt x="189826" y="181698"/>
                </a:lnTo>
                <a:lnTo>
                  <a:pt x="128193" y="174244"/>
                </a:lnTo>
                <a:lnTo>
                  <a:pt x="75869" y="162687"/>
                </a:lnTo>
                <a:lnTo>
                  <a:pt x="35394" y="147751"/>
                </a:lnTo>
                <a:lnTo>
                  <a:pt x="0" y="110617"/>
                </a:lnTo>
                <a:lnTo>
                  <a:pt x="0" y="258089"/>
                </a:lnTo>
                <a:lnTo>
                  <a:pt x="35394" y="295224"/>
                </a:lnTo>
                <a:lnTo>
                  <a:pt x="75869" y="310159"/>
                </a:lnTo>
                <a:lnTo>
                  <a:pt x="128193" y="321716"/>
                </a:lnTo>
                <a:lnTo>
                  <a:pt x="189826" y="329171"/>
                </a:lnTo>
                <a:lnTo>
                  <a:pt x="258292" y="331825"/>
                </a:lnTo>
                <a:lnTo>
                  <a:pt x="326745" y="329171"/>
                </a:lnTo>
                <a:lnTo>
                  <a:pt x="388391" y="321716"/>
                </a:lnTo>
                <a:lnTo>
                  <a:pt x="440715" y="310159"/>
                </a:lnTo>
                <a:lnTo>
                  <a:pt x="481190" y="295224"/>
                </a:lnTo>
                <a:lnTo>
                  <a:pt x="516585" y="258089"/>
                </a:lnTo>
                <a:lnTo>
                  <a:pt x="516585" y="221221"/>
                </a:lnTo>
                <a:lnTo>
                  <a:pt x="516585" y="184353"/>
                </a:lnTo>
                <a:lnTo>
                  <a:pt x="516585" y="110617"/>
                </a:lnTo>
                <a:close/>
              </a:path>
              <a:path w="516890" h="701039">
                <a:moveTo>
                  <a:pt x="516585" y="73748"/>
                </a:moveTo>
                <a:lnTo>
                  <a:pt x="481317" y="36525"/>
                </a:lnTo>
                <a:lnTo>
                  <a:pt x="440931" y="21602"/>
                </a:lnTo>
                <a:lnTo>
                  <a:pt x="388658" y="10071"/>
                </a:lnTo>
                <a:lnTo>
                  <a:pt x="326961" y="2628"/>
                </a:lnTo>
                <a:lnTo>
                  <a:pt x="258292" y="0"/>
                </a:lnTo>
                <a:lnTo>
                  <a:pt x="189623" y="2628"/>
                </a:lnTo>
                <a:lnTo>
                  <a:pt x="127927" y="10071"/>
                </a:lnTo>
                <a:lnTo>
                  <a:pt x="75653" y="21602"/>
                </a:lnTo>
                <a:lnTo>
                  <a:pt x="35267" y="36525"/>
                </a:lnTo>
                <a:lnTo>
                  <a:pt x="0" y="73748"/>
                </a:lnTo>
                <a:lnTo>
                  <a:pt x="9220" y="93345"/>
                </a:lnTo>
                <a:lnTo>
                  <a:pt x="75653" y="125882"/>
                </a:lnTo>
                <a:lnTo>
                  <a:pt x="127927" y="137414"/>
                </a:lnTo>
                <a:lnTo>
                  <a:pt x="189623" y="144843"/>
                </a:lnTo>
                <a:lnTo>
                  <a:pt x="258292" y="147485"/>
                </a:lnTo>
                <a:lnTo>
                  <a:pt x="326961" y="144843"/>
                </a:lnTo>
                <a:lnTo>
                  <a:pt x="388658" y="137414"/>
                </a:lnTo>
                <a:lnTo>
                  <a:pt x="440931" y="125882"/>
                </a:lnTo>
                <a:lnTo>
                  <a:pt x="481317" y="110959"/>
                </a:lnTo>
                <a:lnTo>
                  <a:pt x="516585" y="73748"/>
                </a:lnTo>
                <a:close/>
              </a:path>
            </a:pathLst>
          </a:custGeom>
          <a:solidFill>
            <a:srgbClr val="9B9B9B"/>
          </a:solidFill>
        </p:spPr>
        <p:txBody>
          <a:bodyPr wrap="square" lIns="0" tIns="0" rIns="0" bIns="0" rtlCol="0"/>
          <a:lstStyle/>
          <a:p>
            <a:endParaRPr sz="2400"/>
          </a:p>
        </p:txBody>
      </p:sp>
      <p:grpSp>
        <p:nvGrpSpPr>
          <p:cNvPr id="9" name="object 9"/>
          <p:cNvGrpSpPr/>
          <p:nvPr/>
        </p:nvGrpSpPr>
        <p:grpSpPr>
          <a:xfrm>
            <a:off x="2468880" y="2001519"/>
            <a:ext cx="2617893" cy="2959100"/>
            <a:chOff x="1851660" y="1501139"/>
            <a:chExt cx="1963420" cy="2219325"/>
          </a:xfrm>
        </p:grpSpPr>
        <p:sp>
          <p:nvSpPr>
            <p:cNvPr id="10" name="object 10"/>
            <p:cNvSpPr/>
            <p:nvPr/>
          </p:nvSpPr>
          <p:spPr>
            <a:xfrm>
              <a:off x="2286000" y="1505711"/>
              <a:ext cx="1524000" cy="2209800"/>
            </a:xfrm>
            <a:custGeom>
              <a:avLst/>
              <a:gdLst/>
              <a:ahLst/>
              <a:cxnLst/>
              <a:rect l="l" t="t" r="r" b="b"/>
              <a:pathLst>
                <a:path w="1524000" h="2209800">
                  <a:moveTo>
                    <a:pt x="0" y="254000"/>
                  </a:moveTo>
                  <a:lnTo>
                    <a:pt x="4090" y="208328"/>
                  </a:lnTo>
                  <a:lnTo>
                    <a:pt x="15884" y="165349"/>
                  </a:lnTo>
                  <a:lnTo>
                    <a:pt x="34666" y="125777"/>
                  </a:lnTo>
                  <a:lnTo>
                    <a:pt x="59719" y="90328"/>
                  </a:lnTo>
                  <a:lnTo>
                    <a:pt x="90328" y="59719"/>
                  </a:lnTo>
                  <a:lnTo>
                    <a:pt x="125777" y="34666"/>
                  </a:lnTo>
                  <a:lnTo>
                    <a:pt x="165349" y="15884"/>
                  </a:lnTo>
                  <a:lnTo>
                    <a:pt x="208328" y="4090"/>
                  </a:lnTo>
                  <a:lnTo>
                    <a:pt x="254000" y="0"/>
                  </a:lnTo>
                  <a:lnTo>
                    <a:pt x="1270000" y="0"/>
                  </a:lnTo>
                  <a:lnTo>
                    <a:pt x="1315671" y="4090"/>
                  </a:lnTo>
                  <a:lnTo>
                    <a:pt x="1358650" y="15884"/>
                  </a:lnTo>
                  <a:lnTo>
                    <a:pt x="1398222" y="34666"/>
                  </a:lnTo>
                  <a:lnTo>
                    <a:pt x="1433671" y="59719"/>
                  </a:lnTo>
                  <a:lnTo>
                    <a:pt x="1464280" y="90328"/>
                  </a:lnTo>
                  <a:lnTo>
                    <a:pt x="1489333" y="125777"/>
                  </a:lnTo>
                  <a:lnTo>
                    <a:pt x="1508115" y="165349"/>
                  </a:lnTo>
                  <a:lnTo>
                    <a:pt x="1519909" y="208328"/>
                  </a:lnTo>
                  <a:lnTo>
                    <a:pt x="1524000" y="254000"/>
                  </a:lnTo>
                  <a:lnTo>
                    <a:pt x="1524000" y="1955800"/>
                  </a:lnTo>
                  <a:lnTo>
                    <a:pt x="1519909" y="2001471"/>
                  </a:lnTo>
                  <a:lnTo>
                    <a:pt x="1508115" y="2044450"/>
                  </a:lnTo>
                  <a:lnTo>
                    <a:pt x="1489333" y="2084022"/>
                  </a:lnTo>
                  <a:lnTo>
                    <a:pt x="1464280" y="2119471"/>
                  </a:lnTo>
                  <a:lnTo>
                    <a:pt x="1433671" y="2150080"/>
                  </a:lnTo>
                  <a:lnTo>
                    <a:pt x="1398222" y="2175133"/>
                  </a:lnTo>
                  <a:lnTo>
                    <a:pt x="1358650" y="2193915"/>
                  </a:lnTo>
                  <a:lnTo>
                    <a:pt x="1315671" y="2205709"/>
                  </a:lnTo>
                  <a:lnTo>
                    <a:pt x="1270000" y="2209800"/>
                  </a:lnTo>
                  <a:lnTo>
                    <a:pt x="254000" y="2209800"/>
                  </a:lnTo>
                  <a:lnTo>
                    <a:pt x="208328" y="2205709"/>
                  </a:lnTo>
                  <a:lnTo>
                    <a:pt x="165349" y="2193915"/>
                  </a:lnTo>
                  <a:lnTo>
                    <a:pt x="125777" y="2175133"/>
                  </a:lnTo>
                  <a:lnTo>
                    <a:pt x="90328" y="2150080"/>
                  </a:lnTo>
                  <a:lnTo>
                    <a:pt x="59719" y="2119471"/>
                  </a:lnTo>
                  <a:lnTo>
                    <a:pt x="34666" y="2084022"/>
                  </a:lnTo>
                  <a:lnTo>
                    <a:pt x="15884" y="2044450"/>
                  </a:lnTo>
                  <a:lnTo>
                    <a:pt x="4090" y="2001471"/>
                  </a:lnTo>
                  <a:lnTo>
                    <a:pt x="0" y="1955800"/>
                  </a:lnTo>
                  <a:lnTo>
                    <a:pt x="0" y="254000"/>
                  </a:lnTo>
                  <a:close/>
                </a:path>
              </a:pathLst>
            </a:custGeom>
            <a:ln w="9144">
              <a:solidFill>
                <a:srgbClr val="00C3FF"/>
              </a:solidFill>
            </a:ln>
          </p:spPr>
          <p:txBody>
            <a:bodyPr wrap="square" lIns="0" tIns="0" rIns="0" bIns="0" rtlCol="0"/>
            <a:lstStyle/>
            <a:p>
              <a:endParaRPr sz="2400"/>
            </a:p>
          </p:txBody>
        </p:sp>
        <p:sp>
          <p:nvSpPr>
            <p:cNvPr id="11" name="object 11"/>
            <p:cNvSpPr/>
            <p:nvPr/>
          </p:nvSpPr>
          <p:spPr>
            <a:xfrm>
              <a:off x="1864614" y="2184653"/>
              <a:ext cx="462280" cy="160020"/>
            </a:xfrm>
            <a:custGeom>
              <a:avLst/>
              <a:gdLst/>
              <a:ahLst/>
              <a:cxnLst/>
              <a:rect l="l" t="t" r="r" b="b"/>
              <a:pathLst>
                <a:path w="462280" h="160019">
                  <a:moveTo>
                    <a:pt x="381762" y="0"/>
                  </a:moveTo>
                  <a:lnTo>
                    <a:pt x="381762" y="40004"/>
                  </a:lnTo>
                  <a:lnTo>
                    <a:pt x="0" y="40004"/>
                  </a:lnTo>
                  <a:lnTo>
                    <a:pt x="0" y="120014"/>
                  </a:lnTo>
                  <a:lnTo>
                    <a:pt x="381762" y="120014"/>
                  </a:lnTo>
                  <a:lnTo>
                    <a:pt x="381762" y="160019"/>
                  </a:lnTo>
                  <a:lnTo>
                    <a:pt x="461772" y="80009"/>
                  </a:lnTo>
                  <a:lnTo>
                    <a:pt x="381762" y="0"/>
                  </a:lnTo>
                  <a:close/>
                </a:path>
              </a:pathLst>
            </a:custGeom>
            <a:solidFill>
              <a:srgbClr val="00C3FF"/>
            </a:solidFill>
          </p:spPr>
          <p:txBody>
            <a:bodyPr wrap="square" lIns="0" tIns="0" rIns="0" bIns="0" rtlCol="0"/>
            <a:lstStyle/>
            <a:p>
              <a:endParaRPr sz="2400"/>
            </a:p>
          </p:txBody>
        </p:sp>
        <p:sp>
          <p:nvSpPr>
            <p:cNvPr id="12" name="object 12"/>
            <p:cNvSpPr/>
            <p:nvPr/>
          </p:nvSpPr>
          <p:spPr>
            <a:xfrm>
              <a:off x="1864614" y="2184653"/>
              <a:ext cx="462280" cy="160020"/>
            </a:xfrm>
            <a:custGeom>
              <a:avLst/>
              <a:gdLst/>
              <a:ahLst/>
              <a:cxnLst/>
              <a:rect l="l" t="t" r="r" b="b"/>
              <a:pathLst>
                <a:path w="462280" h="160019">
                  <a:moveTo>
                    <a:pt x="0" y="40004"/>
                  </a:moveTo>
                  <a:lnTo>
                    <a:pt x="381762" y="40004"/>
                  </a:lnTo>
                  <a:lnTo>
                    <a:pt x="381762" y="0"/>
                  </a:lnTo>
                  <a:lnTo>
                    <a:pt x="461772" y="80009"/>
                  </a:lnTo>
                  <a:lnTo>
                    <a:pt x="381762" y="160019"/>
                  </a:lnTo>
                  <a:lnTo>
                    <a:pt x="381762" y="120014"/>
                  </a:lnTo>
                  <a:lnTo>
                    <a:pt x="0" y="120014"/>
                  </a:lnTo>
                  <a:lnTo>
                    <a:pt x="0" y="40004"/>
                  </a:lnTo>
                  <a:close/>
                </a:path>
              </a:pathLst>
            </a:custGeom>
            <a:ln w="25908">
              <a:solidFill>
                <a:srgbClr val="008FBB"/>
              </a:solidFill>
            </a:ln>
          </p:spPr>
          <p:txBody>
            <a:bodyPr wrap="square" lIns="0" tIns="0" rIns="0" bIns="0" rtlCol="0"/>
            <a:lstStyle/>
            <a:p>
              <a:endParaRPr sz="2400"/>
            </a:p>
          </p:txBody>
        </p:sp>
        <p:sp>
          <p:nvSpPr>
            <p:cNvPr id="13" name="object 13"/>
            <p:cNvSpPr/>
            <p:nvPr/>
          </p:nvSpPr>
          <p:spPr>
            <a:xfrm>
              <a:off x="1864614" y="2971037"/>
              <a:ext cx="462280" cy="160020"/>
            </a:xfrm>
            <a:custGeom>
              <a:avLst/>
              <a:gdLst/>
              <a:ahLst/>
              <a:cxnLst/>
              <a:rect l="l" t="t" r="r" b="b"/>
              <a:pathLst>
                <a:path w="462280" h="160019">
                  <a:moveTo>
                    <a:pt x="381762" y="0"/>
                  </a:moveTo>
                  <a:lnTo>
                    <a:pt x="381762" y="40005"/>
                  </a:lnTo>
                  <a:lnTo>
                    <a:pt x="0" y="40005"/>
                  </a:lnTo>
                  <a:lnTo>
                    <a:pt x="0" y="120014"/>
                  </a:lnTo>
                  <a:lnTo>
                    <a:pt x="381762" y="120014"/>
                  </a:lnTo>
                  <a:lnTo>
                    <a:pt x="381762" y="160019"/>
                  </a:lnTo>
                  <a:lnTo>
                    <a:pt x="461772" y="80010"/>
                  </a:lnTo>
                  <a:lnTo>
                    <a:pt x="381762" y="0"/>
                  </a:lnTo>
                  <a:close/>
                </a:path>
              </a:pathLst>
            </a:custGeom>
            <a:solidFill>
              <a:srgbClr val="00C3FF"/>
            </a:solidFill>
          </p:spPr>
          <p:txBody>
            <a:bodyPr wrap="square" lIns="0" tIns="0" rIns="0" bIns="0" rtlCol="0"/>
            <a:lstStyle/>
            <a:p>
              <a:endParaRPr sz="2400"/>
            </a:p>
          </p:txBody>
        </p:sp>
        <p:sp>
          <p:nvSpPr>
            <p:cNvPr id="14" name="object 14"/>
            <p:cNvSpPr/>
            <p:nvPr/>
          </p:nvSpPr>
          <p:spPr>
            <a:xfrm>
              <a:off x="1864614" y="2971037"/>
              <a:ext cx="462280" cy="160020"/>
            </a:xfrm>
            <a:custGeom>
              <a:avLst/>
              <a:gdLst/>
              <a:ahLst/>
              <a:cxnLst/>
              <a:rect l="l" t="t" r="r" b="b"/>
              <a:pathLst>
                <a:path w="462280" h="160019">
                  <a:moveTo>
                    <a:pt x="0" y="40005"/>
                  </a:moveTo>
                  <a:lnTo>
                    <a:pt x="381762" y="40005"/>
                  </a:lnTo>
                  <a:lnTo>
                    <a:pt x="381762" y="0"/>
                  </a:lnTo>
                  <a:lnTo>
                    <a:pt x="461772" y="80010"/>
                  </a:lnTo>
                  <a:lnTo>
                    <a:pt x="381762" y="160019"/>
                  </a:lnTo>
                  <a:lnTo>
                    <a:pt x="381762" y="120014"/>
                  </a:lnTo>
                  <a:lnTo>
                    <a:pt x="0" y="120014"/>
                  </a:lnTo>
                  <a:lnTo>
                    <a:pt x="0" y="40005"/>
                  </a:lnTo>
                  <a:close/>
                </a:path>
              </a:pathLst>
            </a:custGeom>
            <a:ln w="25908">
              <a:solidFill>
                <a:srgbClr val="008FBB"/>
              </a:solidFill>
            </a:ln>
          </p:spPr>
          <p:txBody>
            <a:bodyPr wrap="square" lIns="0" tIns="0" rIns="0" bIns="0" rtlCol="0"/>
            <a:lstStyle/>
            <a:p>
              <a:endParaRPr sz="2400"/>
            </a:p>
          </p:txBody>
        </p:sp>
        <p:sp>
          <p:nvSpPr>
            <p:cNvPr id="15" name="object 15"/>
            <p:cNvSpPr/>
            <p:nvPr/>
          </p:nvSpPr>
          <p:spPr>
            <a:xfrm>
              <a:off x="2518143" y="1803336"/>
              <a:ext cx="1202055" cy="1675764"/>
            </a:xfrm>
            <a:custGeom>
              <a:avLst/>
              <a:gdLst/>
              <a:ahLst/>
              <a:cxnLst/>
              <a:rect l="l" t="t" r="r" b="b"/>
              <a:pathLst>
                <a:path w="1202054" h="1675764">
                  <a:moveTo>
                    <a:pt x="564794" y="0"/>
                  </a:moveTo>
                  <a:lnTo>
                    <a:pt x="0" y="0"/>
                  </a:lnTo>
                  <a:lnTo>
                    <a:pt x="0" y="41973"/>
                  </a:lnTo>
                  <a:lnTo>
                    <a:pt x="0" y="127190"/>
                  </a:lnTo>
                  <a:lnTo>
                    <a:pt x="0" y="396849"/>
                  </a:lnTo>
                  <a:lnTo>
                    <a:pt x="564794" y="396849"/>
                  </a:lnTo>
                  <a:lnTo>
                    <a:pt x="564794" y="353999"/>
                  </a:lnTo>
                  <a:lnTo>
                    <a:pt x="564794" y="353606"/>
                  </a:lnTo>
                  <a:lnTo>
                    <a:pt x="564794" y="269011"/>
                  </a:lnTo>
                  <a:lnTo>
                    <a:pt x="522427" y="269011"/>
                  </a:lnTo>
                  <a:lnTo>
                    <a:pt x="522427" y="353606"/>
                  </a:lnTo>
                  <a:lnTo>
                    <a:pt x="381228" y="353606"/>
                  </a:lnTo>
                  <a:lnTo>
                    <a:pt x="381228" y="269011"/>
                  </a:lnTo>
                  <a:lnTo>
                    <a:pt x="352996" y="269011"/>
                  </a:lnTo>
                  <a:lnTo>
                    <a:pt x="352996" y="353606"/>
                  </a:lnTo>
                  <a:lnTo>
                    <a:pt x="211797" y="353606"/>
                  </a:lnTo>
                  <a:lnTo>
                    <a:pt x="211797" y="269011"/>
                  </a:lnTo>
                  <a:lnTo>
                    <a:pt x="183553" y="269011"/>
                  </a:lnTo>
                  <a:lnTo>
                    <a:pt x="183553" y="353606"/>
                  </a:lnTo>
                  <a:lnTo>
                    <a:pt x="42367" y="353606"/>
                  </a:lnTo>
                  <a:lnTo>
                    <a:pt x="42367" y="268389"/>
                  </a:lnTo>
                  <a:lnTo>
                    <a:pt x="564794" y="268389"/>
                  </a:lnTo>
                  <a:lnTo>
                    <a:pt x="564794" y="240690"/>
                  </a:lnTo>
                  <a:lnTo>
                    <a:pt x="564794" y="240398"/>
                  </a:lnTo>
                  <a:lnTo>
                    <a:pt x="564794" y="155714"/>
                  </a:lnTo>
                  <a:lnTo>
                    <a:pt x="522427" y="155714"/>
                  </a:lnTo>
                  <a:lnTo>
                    <a:pt x="522427" y="240398"/>
                  </a:lnTo>
                  <a:lnTo>
                    <a:pt x="381228" y="240398"/>
                  </a:lnTo>
                  <a:lnTo>
                    <a:pt x="381228" y="155714"/>
                  </a:lnTo>
                  <a:lnTo>
                    <a:pt x="352996" y="155714"/>
                  </a:lnTo>
                  <a:lnTo>
                    <a:pt x="352996" y="240398"/>
                  </a:lnTo>
                  <a:lnTo>
                    <a:pt x="211797" y="240398"/>
                  </a:lnTo>
                  <a:lnTo>
                    <a:pt x="211797" y="155714"/>
                  </a:lnTo>
                  <a:lnTo>
                    <a:pt x="183553" y="155714"/>
                  </a:lnTo>
                  <a:lnTo>
                    <a:pt x="183553" y="240398"/>
                  </a:lnTo>
                  <a:lnTo>
                    <a:pt x="42367" y="240398"/>
                  </a:lnTo>
                  <a:lnTo>
                    <a:pt x="42367" y="155181"/>
                  </a:lnTo>
                  <a:lnTo>
                    <a:pt x="564794" y="155181"/>
                  </a:lnTo>
                  <a:lnTo>
                    <a:pt x="564794" y="127381"/>
                  </a:lnTo>
                  <a:lnTo>
                    <a:pt x="564794" y="127190"/>
                  </a:lnTo>
                  <a:lnTo>
                    <a:pt x="564794" y="42405"/>
                  </a:lnTo>
                  <a:lnTo>
                    <a:pt x="522427" y="42405"/>
                  </a:lnTo>
                  <a:lnTo>
                    <a:pt x="522427" y="127190"/>
                  </a:lnTo>
                  <a:lnTo>
                    <a:pt x="381228" y="127190"/>
                  </a:lnTo>
                  <a:lnTo>
                    <a:pt x="381228" y="42405"/>
                  </a:lnTo>
                  <a:lnTo>
                    <a:pt x="352996" y="42405"/>
                  </a:lnTo>
                  <a:lnTo>
                    <a:pt x="352996" y="127190"/>
                  </a:lnTo>
                  <a:lnTo>
                    <a:pt x="211797" y="127190"/>
                  </a:lnTo>
                  <a:lnTo>
                    <a:pt x="211797" y="42405"/>
                  </a:lnTo>
                  <a:lnTo>
                    <a:pt x="183553" y="42405"/>
                  </a:lnTo>
                  <a:lnTo>
                    <a:pt x="183553" y="127190"/>
                  </a:lnTo>
                  <a:lnTo>
                    <a:pt x="42367" y="127190"/>
                  </a:lnTo>
                  <a:lnTo>
                    <a:pt x="42367" y="41973"/>
                  </a:lnTo>
                  <a:lnTo>
                    <a:pt x="564794" y="41973"/>
                  </a:lnTo>
                  <a:lnTo>
                    <a:pt x="564794" y="0"/>
                  </a:lnTo>
                  <a:close/>
                </a:path>
                <a:path w="1202054" h="1675764">
                  <a:moveTo>
                    <a:pt x="836066" y="1278636"/>
                  </a:moveTo>
                  <a:lnTo>
                    <a:pt x="271272" y="1278636"/>
                  </a:lnTo>
                  <a:lnTo>
                    <a:pt x="271272" y="1320609"/>
                  </a:lnTo>
                  <a:lnTo>
                    <a:pt x="271272" y="1405826"/>
                  </a:lnTo>
                  <a:lnTo>
                    <a:pt x="271272" y="1675485"/>
                  </a:lnTo>
                  <a:lnTo>
                    <a:pt x="836066" y="1675485"/>
                  </a:lnTo>
                  <a:lnTo>
                    <a:pt x="836066" y="1632635"/>
                  </a:lnTo>
                  <a:lnTo>
                    <a:pt x="836066" y="1632242"/>
                  </a:lnTo>
                  <a:lnTo>
                    <a:pt x="836066" y="1547647"/>
                  </a:lnTo>
                  <a:lnTo>
                    <a:pt x="793699" y="1547647"/>
                  </a:lnTo>
                  <a:lnTo>
                    <a:pt x="793699" y="1632242"/>
                  </a:lnTo>
                  <a:lnTo>
                    <a:pt x="652500" y="1632242"/>
                  </a:lnTo>
                  <a:lnTo>
                    <a:pt x="652500" y="1547647"/>
                  </a:lnTo>
                  <a:lnTo>
                    <a:pt x="624268" y="1547647"/>
                  </a:lnTo>
                  <a:lnTo>
                    <a:pt x="624268" y="1632242"/>
                  </a:lnTo>
                  <a:lnTo>
                    <a:pt x="483069" y="1632242"/>
                  </a:lnTo>
                  <a:lnTo>
                    <a:pt x="483069" y="1547647"/>
                  </a:lnTo>
                  <a:lnTo>
                    <a:pt x="454825" y="1547647"/>
                  </a:lnTo>
                  <a:lnTo>
                    <a:pt x="454825" y="1632242"/>
                  </a:lnTo>
                  <a:lnTo>
                    <a:pt x="313639" y="1632242"/>
                  </a:lnTo>
                  <a:lnTo>
                    <a:pt x="313639" y="1547025"/>
                  </a:lnTo>
                  <a:lnTo>
                    <a:pt x="836066" y="1547025"/>
                  </a:lnTo>
                  <a:lnTo>
                    <a:pt x="836066" y="1519326"/>
                  </a:lnTo>
                  <a:lnTo>
                    <a:pt x="836066" y="1519034"/>
                  </a:lnTo>
                  <a:lnTo>
                    <a:pt x="836066" y="1434350"/>
                  </a:lnTo>
                  <a:lnTo>
                    <a:pt x="793699" y="1434350"/>
                  </a:lnTo>
                  <a:lnTo>
                    <a:pt x="793699" y="1519034"/>
                  </a:lnTo>
                  <a:lnTo>
                    <a:pt x="652500" y="1519034"/>
                  </a:lnTo>
                  <a:lnTo>
                    <a:pt x="652500" y="1434350"/>
                  </a:lnTo>
                  <a:lnTo>
                    <a:pt x="624268" y="1434350"/>
                  </a:lnTo>
                  <a:lnTo>
                    <a:pt x="624268" y="1519034"/>
                  </a:lnTo>
                  <a:lnTo>
                    <a:pt x="483069" y="1519034"/>
                  </a:lnTo>
                  <a:lnTo>
                    <a:pt x="483069" y="1434350"/>
                  </a:lnTo>
                  <a:lnTo>
                    <a:pt x="454825" y="1434350"/>
                  </a:lnTo>
                  <a:lnTo>
                    <a:pt x="454825" y="1519034"/>
                  </a:lnTo>
                  <a:lnTo>
                    <a:pt x="313639" y="1519034"/>
                  </a:lnTo>
                  <a:lnTo>
                    <a:pt x="313639" y="1433817"/>
                  </a:lnTo>
                  <a:lnTo>
                    <a:pt x="836066" y="1433817"/>
                  </a:lnTo>
                  <a:lnTo>
                    <a:pt x="836066" y="1406017"/>
                  </a:lnTo>
                  <a:lnTo>
                    <a:pt x="836066" y="1405826"/>
                  </a:lnTo>
                  <a:lnTo>
                    <a:pt x="836066" y="1321041"/>
                  </a:lnTo>
                  <a:lnTo>
                    <a:pt x="793699" y="1321041"/>
                  </a:lnTo>
                  <a:lnTo>
                    <a:pt x="793699" y="1405826"/>
                  </a:lnTo>
                  <a:lnTo>
                    <a:pt x="652500" y="1405826"/>
                  </a:lnTo>
                  <a:lnTo>
                    <a:pt x="652500" y="1321041"/>
                  </a:lnTo>
                  <a:lnTo>
                    <a:pt x="624268" y="1321041"/>
                  </a:lnTo>
                  <a:lnTo>
                    <a:pt x="624268" y="1405826"/>
                  </a:lnTo>
                  <a:lnTo>
                    <a:pt x="483069" y="1405826"/>
                  </a:lnTo>
                  <a:lnTo>
                    <a:pt x="483069" y="1321041"/>
                  </a:lnTo>
                  <a:lnTo>
                    <a:pt x="454825" y="1321041"/>
                  </a:lnTo>
                  <a:lnTo>
                    <a:pt x="454825" y="1405826"/>
                  </a:lnTo>
                  <a:lnTo>
                    <a:pt x="313639" y="1405826"/>
                  </a:lnTo>
                  <a:lnTo>
                    <a:pt x="313639" y="1320609"/>
                  </a:lnTo>
                  <a:lnTo>
                    <a:pt x="836066" y="1320609"/>
                  </a:lnTo>
                  <a:lnTo>
                    <a:pt x="836066" y="1278636"/>
                  </a:lnTo>
                  <a:close/>
                </a:path>
                <a:path w="1202054" h="1675764">
                  <a:moveTo>
                    <a:pt x="1201699" y="491934"/>
                  </a:moveTo>
                  <a:lnTo>
                    <a:pt x="635647" y="491934"/>
                  </a:lnTo>
                  <a:lnTo>
                    <a:pt x="635647" y="533806"/>
                  </a:lnTo>
                  <a:lnTo>
                    <a:pt x="635647" y="618845"/>
                  </a:lnTo>
                  <a:lnTo>
                    <a:pt x="635647" y="887895"/>
                  </a:lnTo>
                  <a:lnTo>
                    <a:pt x="1201699" y="887895"/>
                  </a:lnTo>
                  <a:lnTo>
                    <a:pt x="1201699" y="845134"/>
                  </a:lnTo>
                  <a:lnTo>
                    <a:pt x="1201699" y="844753"/>
                  </a:lnTo>
                  <a:lnTo>
                    <a:pt x="1201699" y="760349"/>
                  </a:lnTo>
                  <a:lnTo>
                    <a:pt x="1159230" y="760349"/>
                  </a:lnTo>
                  <a:lnTo>
                    <a:pt x="1159230" y="844753"/>
                  </a:lnTo>
                  <a:lnTo>
                    <a:pt x="1017727" y="844753"/>
                  </a:lnTo>
                  <a:lnTo>
                    <a:pt x="1017727" y="760349"/>
                  </a:lnTo>
                  <a:lnTo>
                    <a:pt x="989418" y="760349"/>
                  </a:lnTo>
                  <a:lnTo>
                    <a:pt x="989418" y="844753"/>
                  </a:lnTo>
                  <a:lnTo>
                    <a:pt x="847915" y="844753"/>
                  </a:lnTo>
                  <a:lnTo>
                    <a:pt x="847915" y="760349"/>
                  </a:lnTo>
                  <a:lnTo>
                    <a:pt x="819607" y="760349"/>
                  </a:lnTo>
                  <a:lnTo>
                    <a:pt x="819607" y="844753"/>
                  </a:lnTo>
                  <a:lnTo>
                    <a:pt x="678103" y="844753"/>
                  </a:lnTo>
                  <a:lnTo>
                    <a:pt x="678103" y="759714"/>
                  </a:lnTo>
                  <a:lnTo>
                    <a:pt x="1201699" y="759714"/>
                  </a:lnTo>
                  <a:lnTo>
                    <a:pt x="1201699" y="732078"/>
                  </a:lnTo>
                  <a:lnTo>
                    <a:pt x="1201699" y="731799"/>
                  </a:lnTo>
                  <a:lnTo>
                    <a:pt x="1201699" y="647293"/>
                  </a:lnTo>
                  <a:lnTo>
                    <a:pt x="1159230" y="647293"/>
                  </a:lnTo>
                  <a:lnTo>
                    <a:pt x="1159230" y="731799"/>
                  </a:lnTo>
                  <a:lnTo>
                    <a:pt x="1017727" y="731799"/>
                  </a:lnTo>
                  <a:lnTo>
                    <a:pt x="1017727" y="647293"/>
                  </a:lnTo>
                  <a:lnTo>
                    <a:pt x="989418" y="647293"/>
                  </a:lnTo>
                  <a:lnTo>
                    <a:pt x="989418" y="731799"/>
                  </a:lnTo>
                  <a:lnTo>
                    <a:pt x="847915" y="731799"/>
                  </a:lnTo>
                  <a:lnTo>
                    <a:pt x="847915" y="647293"/>
                  </a:lnTo>
                  <a:lnTo>
                    <a:pt x="819607" y="647293"/>
                  </a:lnTo>
                  <a:lnTo>
                    <a:pt x="819607" y="731799"/>
                  </a:lnTo>
                  <a:lnTo>
                    <a:pt x="678103" y="731799"/>
                  </a:lnTo>
                  <a:lnTo>
                    <a:pt x="678103" y="646760"/>
                  </a:lnTo>
                  <a:lnTo>
                    <a:pt x="1201699" y="646760"/>
                  </a:lnTo>
                  <a:lnTo>
                    <a:pt x="1201699" y="619036"/>
                  </a:lnTo>
                  <a:lnTo>
                    <a:pt x="1201699" y="618845"/>
                  </a:lnTo>
                  <a:lnTo>
                    <a:pt x="1201699" y="534238"/>
                  </a:lnTo>
                  <a:lnTo>
                    <a:pt x="1159230" y="534238"/>
                  </a:lnTo>
                  <a:lnTo>
                    <a:pt x="1159230" y="618845"/>
                  </a:lnTo>
                  <a:lnTo>
                    <a:pt x="1017727" y="618845"/>
                  </a:lnTo>
                  <a:lnTo>
                    <a:pt x="1017727" y="534238"/>
                  </a:lnTo>
                  <a:lnTo>
                    <a:pt x="989418" y="534238"/>
                  </a:lnTo>
                  <a:lnTo>
                    <a:pt x="989418" y="618845"/>
                  </a:lnTo>
                  <a:lnTo>
                    <a:pt x="847915" y="618845"/>
                  </a:lnTo>
                  <a:lnTo>
                    <a:pt x="847915" y="534238"/>
                  </a:lnTo>
                  <a:lnTo>
                    <a:pt x="819607" y="534238"/>
                  </a:lnTo>
                  <a:lnTo>
                    <a:pt x="819607" y="618845"/>
                  </a:lnTo>
                  <a:lnTo>
                    <a:pt x="678103" y="618845"/>
                  </a:lnTo>
                  <a:lnTo>
                    <a:pt x="678103" y="533806"/>
                  </a:lnTo>
                  <a:lnTo>
                    <a:pt x="1201699" y="533806"/>
                  </a:lnTo>
                  <a:lnTo>
                    <a:pt x="1201699" y="491934"/>
                  </a:lnTo>
                  <a:close/>
                </a:path>
              </a:pathLst>
            </a:custGeom>
            <a:solidFill>
              <a:srgbClr val="BCBCBC"/>
            </a:solidFill>
          </p:spPr>
          <p:txBody>
            <a:bodyPr wrap="square" lIns="0" tIns="0" rIns="0" bIns="0" rtlCol="0"/>
            <a:lstStyle/>
            <a:p>
              <a:endParaRPr sz="2400"/>
            </a:p>
          </p:txBody>
        </p:sp>
      </p:grpSp>
      <p:sp>
        <p:nvSpPr>
          <p:cNvPr id="16" name="object 16"/>
          <p:cNvSpPr txBox="1"/>
          <p:nvPr/>
        </p:nvSpPr>
        <p:spPr>
          <a:xfrm>
            <a:off x="7319771" y="1270507"/>
            <a:ext cx="1480820" cy="344475"/>
          </a:xfrm>
          <a:prstGeom prst="rect">
            <a:avLst/>
          </a:prstGeom>
        </p:spPr>
        <p:txBody>
          <a:bodyPr vert="horz" wrap="square" lIns="0" tIns="16087" rIns="0" bIns="0" rtlCol="0">
            <a:spAutoFit/>
          </a:bodyPr>
          <a:lstStyle/>
          <a:p>
            <a:pPr marL="16933">
              <a:spcBef>
                <a:spcPts val="127"/>
              </a:spcBef>
            </a:pPr>
            <a:r>
              <a:rPr sz="2133" spc="-13" dirty="0">
                <a:solidFill>
                  <a:srgbClr val="FFFFFF"/>
                </a:solidFill>
                <a:latin typeface="Calibri"/>
                <a:cs typeface="Calibri"/>
              </a:rPr>
              <a:t>Departments</a:t>
            </a:r>
            <a:endParaRPr sz="2133">
              <a:latin typeface="Calibri"/>
              <a:cs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56168" y="383228"/>
            <a:ext cx="6129528"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Data Warehouse Layers</a:t>
            </a:r>
          </a:p>
        </p:txBody>
      </p:sp>
      <p:sp>
        <p:nvSpPr>
          <p:cNvPr id="3" name="object 3"/>
          <p:cNvSpPr txBox="1"/>
          <p:nvPr/>
        </p:nvSpPr>
        <p:spPr>
          <a:xfrm>
            <a:off x="3661326" y="5017143"/>
            <a:ext cx="839893" cy="344475"/>
          </a:xfrm>
          <a:prstGeom prst="rect">
            <a:avLst/>
          </a:prstGeom>
        </p:spPr>
        <p:txBody>
          <a:bodyPr vert="horz" wrap="square" lIns="0" tIns="16087" rIns="0" bIns="0" rtlCol="0">
            <a:spAutoFit/>
          </a:bodyPr>
          <a:lstStyle/>
          <a:p>
            <a:pPr marL="16933">
              <a:spcBef>
                <a:spcPts val="127"/>
              </a:spcBef>
            </a:pPr>
            <a:r>
              <a:rPr sz="2133" spc="-13" dirty="0">
                <a:solidFill>
                  <a:srgbClr val="FFFFFF"/>
                </a:solidFill>
                <a:latin typeface="Calibri"/>
                <a:cs typeface="Calibri"/>
              </a:rPr>
              <a:t>Staging</a:t>
            </a:r>
            <a:endParaRPr sz="2133">
              <a:latin typeface="Calibri"/>
              <a:cs typeface="Calibri"/>
            </a:endParaRPr>
          </a:p>
        </p:txBody>
      </p:sp>
      <p:graphicFrame>
        <p:nvGraphicFramePr>
          <p:cNvPr id="4" name="object 4"/>
          <p:cNvGraphicFramePr>
            <a:graphicFrameLocks noGrp="1"/>
          </p:cNvGraphicFramePr>
          <p:nvPr/>
        </p:nvGraphicFramePr>
        <p:xfrm>
          <a:off x="1157775" y="2562617"/>
          <a:ext cx="929639" cy="628227"/>
        </p:xfrm>
        <a:graphic>
          <a:graphicData uri="http://schemas.openxmlformats.org/drawingml/2006/table">
            <a:tbl>
              <a:tblPr firstRow="1" bandRow="1">
                <a:tableStyleId>{2D5ABB26-0587-4C30-8999-92F81FD0307C}</a:tableStyleId>
              </a:tblPr>
              <a:tblGrid>
                <a:gridCol w="314113">
                  <a:extLst>
                    <a:ext uri="{9D8B030D-6E8A-4147-A177-3AD203B41FA5}">
                      <a16:colId xmlns:a16="http://schemas.microsoft.com/office/drawing/2014/main" val="20000"/>
                    </a:ext>
                  </a:extLst>
                </a:gridCol>
                <a:gridCol w="301413">
                  <a:extLst>
                    <a:ext uri="{9D8B030D-6E8A-4147-A177-3AD203B41FA5}">
                      <a16:colId xmlns:a16="http://schemas.microsoft.com/office/drawing/2014/main" val="20001"/>
                    </a:ext>
                  </a:extLst>
                </a:gridCol>
                <a:gridCol w="314113">
                  <a:extLst>
                    <a:ext uri="{9D8B030D-6E8A-4147-A177-3AD203B41FA5}">
                      <a16:colId xmlns:a16="http://schemas.microsoft.com/office/drawing/2014/main" val="20002"/>
                    </a:ext>
                  </a:extLst>
                </a:gridCol>
              </a:tblGrid>
              <a:tr h="213360">
                <a:tc>
                  <a:txBody>
                    <a:bodyPr/>
                    <a:lstStyle/>
                    <a:p>
                      <a:pPr>
                        <a:lnSpc>
                          <a:spcPct val="100000"/>
                        </a:lnSpc>
                      </a:pPr>
                      <a:endParaRPr sz="1200">
                        <a:latin typeface="Times New Roman"/>
                        <a:cs typeface="Times New Roman"/>
                      </a:endParaRPr>
                    </a:p>
                  </a:txBody>
                  <a:tcPr marL="0" marR="0" marT="0" marB="0">
                    <a:lnL w="5715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57150">
                      <a:solidFill>
                        <a:srgbClr val="BCBCBC"/>
                      </a:solidFill>
                      <a:prstDash val="solid"/>
                    </a:lnR>
                    <a:lnT w="57150">
                      <a:solidFill>
                        <a:srgbClr val="BCBCBC"/>
                      </a:solidFill>
                      <a:prstDash val="solid"/>
                    </a:lnT>
                    <a:lnB w="38100">
                      <a:solidFill>
                        <a:srgbClr val="BCBCBC"/>
                      </a:solidFill>
                      <a:prstDash val="solid"/>
                    </a:lnB>
                  </a:tcPr>
                </a:tc>
                <a:extLst>
                  <a:ext uri="{0D108BD9-81ED-4DB2-BD59-A6C34878D82A}">
                    <a16:rowId xmlns:a16="http://schemas.microsoft.com/office/drawing/2014/main" val="10000"/>
                  </a:ext>
                </a:extLst>
              </a:tr>
              <a:tr h="201507">
                <a:tc>
                  <a:txBody>
                    <a:bodyPr/>
                    <a:lstStyle/>
                    <a:p>
                      <a:pPr>
                        <a:lnSpc>
                          <a:spcPct val="100000"/>
                        </a:lnSpc>
                      </a:pPr>
                      <a:endParaRPr sz="11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11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11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38100">
                      <a:solidFill>
                        <a:srgbClr val="BCBCBC"/>
                      </a:solidFill>
                      <a:prstDash val="solid"/>
                    </a:lnB>
                  </a:tcPr>
                </a:tc>
                <a:extLst>
                  <a:ext uri="{0D108BD9-81ED-4DB2-BD59-A6C34878D82A}">
                    <a16:rowId xmlns:a16="http://schemas.microsoft.com/office/drawing/2014/main" val="10001"/>
                  </a:ext>
                </a:extLst>
              </a:tr>
              <a:tr h="213360">
                <a:tc>
                  <a:txBody>
                    <a:bodyPr/>
                    <a:lstStyle/>
                    <a:p>
                      <a:pPr>
                        <a:lnSpc>
                          <a:spcPct val="100000"/>
                        </a:lnSpc>
                      </a:pPr>
                      <a:endParaRPr sz="12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57150">
                      <a:solidFill>
                        <a:srgbClr val="BCBCBC"/>
                      </a:solidFill>
                      <a:prstDash val="solid"/>
                    </a:lnB>
                  </a:tcPr>
                </a:tc>
                <a:extLst>
                  <a:ext uri="{0D108BD9-81ED-4DB2-BD59-A6C34878D82A}">
                    <a16:rowId xmlns:a16="http://schemas.microsoft.com/office/drawing/2014/main" val="10002"/>
                  </a:ext>
                </a:extLst>
              </a:tr>
            </a:tbl>
          </a:graphicData>
        </a:graphic>
      </p:graphicFrame>
      <p:sp>
        <p:nvSpPr>
          <p:cNvPr id="5" name="object 5"/>
          <p:cNvSpPr txBox="1"/>
          <p:nvPr/>
        </p:nvSpPr>
        <p:spPr>
          <a:xfrm>
            <a:off x="935668" y="4679357"/>
            <a:ext cx="1424093"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data</a:t>
            </a:r>
            <a:r>
              <a:rPr sz="2133" spc="-33" dirty="0">
                <a:solidFill>
                  <a:srgbClr val="FFFFFF"/>
                </a:solidFill>
                <a:latin typeface="Calibri"/>
                <a:cs typeface="Calibri"/>
              </a:rPr>
              <a:t> </a:t>
            </a:r>
            <a:r>
              <a:rPr sz="2133" spc="-13" dirty="0">
                <a:solidFill>
                  <a:srgbClr val="FFFFFF"/>
                </a:solidFill>
                <a:latin typeface="Calibri"/>
                <a:cs typeface="Calibri"/>
              </a:rPr>
              <a:t>sources</a:t>
            </a:r>
            <a:endParaRPr sz="2133">
              <a:latin typeface="Calibri"/>
              <a:cs typeface="Calibri"/>
            </a:endParaRPr>
          </a:p>
        </p:txBody>
      </p:sp>
      <p:sp>
        <p:nvSpPr>
          <p:cNvPr id="6" name="object 6"/>
          <p:cNvSpPr/>
          <p:nvPr/>
        </p:nvSpPr>
        <p:spPr>
          <a:xfrm>
            <a:off x="1327573" y="3561639"/>
            <a:ext cx="689187" cy="934720"/>
          </a:xfrm>
          <a:custGeom>
            <a:avLst/>
            <a:gdLst/>
            <a:ahLst/>
            <a:cxnLst/>
            <a:rect l="l" t="t" r="r" b="b"/>
            <a:pathLst>
              <a:path w="516890" h="701039">
                <a:moveTo>
                  <a:pt x="516585" y="479298"/>
                </a:moveTo>
                <a:lnTo>
                  <a:pt x="507314" y="498830"/>
                </a:lnTo>
                <a:lnTo>
                  <a:pt x="481190" y="516432"/>
                </a:lnTo>
                <a:lnTo>
                  <a:pt x="461238" y="523798"/>
                </a:lnTo>
                <a:lnTo>
                  <a:pt x="461238" y="608330"/>
                </a:lnTo>
                <a:lnTo>
                  <a:pt x="459905" y="615873"/>
                </a:lnTo>
                <a:lnTo>
                  <a:pt x="456158" y="621690"/>
                </a:lnTo>
                <a:lnTo>
                  <a:pt x="450342" y="625436"/>
                </a:lnTo>
                <a:lnTo>
                  <a:pt x="442785" y="626757"/>
                </a:lnTo>
                <a:lnTo>
                  <a:pt x="435229" y="625436"/>
                </a:lnTo>
                <a:lnTo>
                  <a:pt x="429412" y="621690"/>
                </a:lnTo>
                <a:lnTo>
                  <a:pt x="425665" y="615873"/>
                </a:lnTo>
                <a:lnTo>
                  <a:pt x="424332" y="608330"/>
                </a:lnTo>
                <a:lnTo>
                  <a:pt x="425665" y="600786"/>
                </a:lnTo>
                <a:lnTo>
                  <a:pt x="429412" y="594969"/>
                </a:lnTo>
                <a:lnTo>
                  <a:pt x="435229" y="591223"/>
                </a:lnTo>
                <a:lnTo>
                  <a:pt x="442785" y="589889"/>
                </a:lnTo>
                <a:lnTo>
                  <a:pt x="450342" y="591223"/>
                </a:lnTo>
                <a:lnTo>
                  <a:pt x="456158" y="594969"/>
                </a:lnTo>
                <a:lnTo>
                  <a:pt x="459905" y="600786"/>
                </a:lnTo>
                <a:lnTo>
                  <a:pt x="461238" y="608330"/>
                </a:lnTo>
                <a:lnTo>
                  <a:pt x="461238" y="523798"/>
                </a:lnTo>
                <a:lnTo>
                  <a:pt x="440715" y="531368"/>
                </a:lnTo>
                <a:lnTo>
                  <a:pt x="388391" y="542925"/>
                </a:lnTo>
                <a:lnTo>
                  <a:pt x="326745" y="550379"/>
                </a:lnTo>
                <a:lnTo>
                  <a:pt x="258292" y="553021"/>
                </a:lnTo>
                <a:lnTo>
                  <a:pt x="189826" y="550379"/>
                </a:lnTo>
                <a:lnTo>
                  <a:pt x="128193" y="542925"/>
                </a:lnTo>
                <a:lnTo>
                  <a:pt x="75869" y="531368"/>
                </a:lnTo>
                <a:lnTo>
                  <a:pt x="35394" y="516432"/>
                </a:lnTo>
                <a:lnTo>
                  <a:pt x="0" y="479298"/>
                </a:lnTo>
                <a:lnTo>
                  <a:pt x="0" y="626757"/>
                </a:lnTo>
                <a:lnTo>
                  <a:pt x="35394" y="663905"/>
                </a:lnTo>
                <a:lnTo>
                  <a:pt x="75869" y="678840"/>
                </a:lnTo>
                <a:lnTo>
                  <a:pt x="128193" y="690397"/>
                </a:lnTo>
                <a:lnTo>
                  <a:pt x="189826" y="697852"/>
                </a:lnTo>
                <a:lnTo>
                  <a:pt x="258292" y="700493"/>
                </a:lnTo>
                <a:lnTo>
                  <a:pt x="326745" y="697852"/>
                </a:lnTo>
                <a:lnTo>
                  <a:pt x="388391" y="690397"/>
                </a:lnTo>
                <a:lnTo>
                  <a:pt x="440715" y="678840"/>
                </a:lnTo>
                <a:lnTo>
                  <a:pt x="481190" y="663905"/>
                </a:lnTo>
                <a:lnTo>
                  <a:pt x="516585" y="626757"/>
                </a:lnTo>
                <a:lnTo>
                  <a:pt x="516585" y="589889"/>
                </a:lnTo>
                <a:lnTo>
                  <a:pt x="516585" y="553021"/>
                </a:lnTo>
                <a:lnTo>
                  <a:pt x="516585" y="479298"/>
                </a:lnTo>
                <a:close/>
              </a:path>
              <a:path w="516890" h="701039">
                <a:moveTo>
                  <a:pt x="516585" y="294957"/>
                </a:moveTo>
                <a:lnTo>
                  <a:pt x="507314" y="314502"/>
                </a:lnTo>
                <a:lnTo>
                  <a:pt x="481190" y="332092"/>
                </a:lnTo>
                <a:lnTo>
                  <a:pt x="461238" y="339458"/>
                </a:lnTo>
                <a:lnTo>
                  <a:pt x="461238" y="423989"/>
                </a:lnTo>
                <a:lnTo>
                  <a:pt x="459905" y="431533"/>
                </a:lnTo>
                <a:lnTo>
                  <a:pt x="456158" y="437349"/>
                </a:lnTo>
                <a:lnTo>
                  <a:pt x="450342" y="441096"/>
                </a:lnTo>
                <a:lnTo>
                  <a:pt x="442785" y="442429"/>
                </a:lnTo>
                <a:lnTo>
                  <a:pt x="435229" y="441096"/>
                </a:lnTo>
                <a:lnTo>
                  <a:pt x="429412" y="437349"/>
                </a:lnTo>
                <a:lnTo>
                  <a:pt x="425665" y="431533"/>
                </a:lnTo>
                <a:lnTo>
                  <a:pt x="424332" y="423989"/>
                </a:lnTo>
                <a:lnTo>
                  <a:pt x="425665" y="416445"/>
                </a:lnTo>
                <a:lnTo>
                  <a:pt x="429412" y="410629"/>
                </a:lnTo>
                <a:lnTo>
                  <a:pt x="435229" y="406882"/>
                </a:lnTo>
                <a:lnTo>
                  <a:pt x="442785" y="405561"/>
                </a:lnTo>
                <a:lnTo>
                  <a:pt x="450342" y="406882"/>
                </a:lnTo>
                <a:lnTo>
                  <a:pt x="456158" y="410629"/>
                </a:lnTo>
                <a:lnTo>
                  <a:pt x="459905" y="416445"/>
                </a:lnTo>
                <a:lnTo>
                  <a:pt x="461238" y="423989"/>
                </a:lnTo>
                <a:lnTo>
                  <a:pt x="461238" y="339458"/>
                </a:lnTo>
                <a:lnTo>
                  <a:pt x="440715" y="347027"/>
                </a:lnTo>
                <a:lnTo>
                  <a:pt x="388391" y="358584"/>
                </a:lnTo>
                <a:lnTo>
                  <a:pt x="326745" y="366039"/>
                </a:lnTo>
                <a:lnTo>
                  <a:pt x="258292" y="368693"/>
                </a:lnTo>
                <a:lnTo>
                  <a:pt x="189826" y="366039"/>
                </a:lnTo>
                <a:lnTo>
                  <a:pt x="128193" y="358584"/>
                </a:lnTo>
                <a:lnTo>
                  <a:pt x="75869" y="347027"/>
                </a:lnTo>
                <a:lnTo>
                  <a:pt x="35394" y="332092"/>
                </a:lnTo>
                <a:lnTo>
                  <a:pt x="0" y="294957"/>
                </a:lnTo>
                <a:lnTo>
                  <a:pt x="0" y="442429"/>
                </a:lnTo>
                <a:lnTo>
                  <a:pt x="35394" y="479564"/>
                </a:lnTo>
                <a:lnTo>
                  <a:pt x="75869" y="494499"/>
                </a:lnTo>
                <a:lnTo>
                  <a:pt x="128193" y="506056"/>
                </a:lnTo>
                <a:lnTo>
                  <a:pt x="189826" y="513511"/>
                </a:lnTo>
                <a:lnTo>
                  <a:pt x="258292" y="516153"/>
                </a:lnTo>
                <a:lnTo>
                  <a:pt x="326745" y="513511"/>
                </a:lnTo>
                <a:lnTo>
                  <a:pt x="388391" y="506056"/>
                </a:lnTo>
                <a:lnTo>
                  <a:pt x="440715" y="494499"/>
                </a:lnTo>
                <a:lnTo>
                  <a:pt x="481190" y="479564"/>
                </a:lnTo>
                <a:lnTo>
                  <a:pt x="516585" y="442429"/>
                </a:lnTo>
                <a:lnTo>
                  <a:pt x="516585" y="405561"/>
                </a:lnTo>
                <a:lnTo>
                  <a:pt x="516585" y="368693"/>
                </a:lnTo>
                <a:lnTo>
                  <a:pt x="516585" y="294957"/>
                </a:lnTo>
                <a:close/>
              </a:path>
              <a:path w="516890" h="701039">
                <a:moveTo>
                  <a:pt x="516585" y="110617"/>
                </a:moveTo>
                <a:lnTo>
                  <a:pt x="507314" y="130162"/>
                </a:lnTo>
                <a:lnTo>
                  <a:pt x="481190" y="147751"/>
                </a:lnTo>
                <a:lnTo>
                  <a:pt x="461238" y="155117"/>
                </a:lnTo>
                <a:lnTo>
                  <a:pt x="461238" y="239649"/>
                </a:lnTo>
                <a:lnTo>
                  <a:pt x="459905" y="247192"/>
                </a:lnTo>
                <a:lnTo>
                  <a:pt x="456158" y="253022"/>
                </a:lnTo>
                <a:lnTo>
                  <a:pt x="450342" y="256755"/>
                </a:lnTo>
                <a:lnTo>
                  <a:pt x="442785" y="258089"/>
                </a:lnTo>
                <a:lnTo>
                  <a:pt x="435229" y="256755"/>
                </a:lnTo>
                <a:lnTo>
                  <a:pt x="429412" y="253022"/>
                </a:lnTo>
                <a:lnTo>
                  <a:pt x="425665" y="247192"/>
                </a:lnTo>
                <a:lnTo>
                  <a:pt x="424332" y="239649"/>
                </a:lnTo>
                <a:lnTo>
                  <a:pt x="425665" y="232105"/>
                </a:lnTo>
                <a:lnTo>
                  <a:pt x="429412" y="226288"/>
                </a:lnTo>
                <a:lnTo>
                  <a:pt x="435229" y="222542"/>
                </a:lnTo>
                <a:lnTo>
                  <a:pt x="442785" y="221221"/>
                </a:lnTo>
                <a:lnTo>
                  <a:pt x="450342" y="222542"/>
                </a:lnTo>
                <a:lnTo>
                  <a:pt x="456158" y="226288"/>
                </a:lnTo>
                <a:lnTo>
                  <a:pt x="459905" y="232105"/>
                </a:lnTo>
                <a:lnTo>
                  <a:pt x="461238" y="239649"/>
                </a:lnTo>
                <a:lnTo>
                  <a:pt x="461238" y="155117"/>
                </a:lnTo>
                <a:lnTo>
                  <a:pt x="440715" y="162687"/>
                </a:lnTo>
                <a:lnTo>
                  <a:pt x="388391" y="174244"/>
                </a:lnTo>
                <a:lnTo>
                  <a:pt x="326745" y="181698"/>
                </a:lnTo>
                <a:lnTo>
                  <a:pt x="258292" y="184353"/>
                </a:lnTo>
                <a:lnTo>
                  <a:pt x="189826" y="181698"/>
                </a:lnTo>
                <a:lnTo>
                  <a:pt x="128193" y="174244"/>
                </a:lnTo>
                <a:lnTo>
                  <a:pt x="75869" y="162687"/>
                </a:lnTo>
                <a:lnTo>
                  <a:pt x="35394" y="147751"/>
                </a:lnTo>
                <a:lnTo>
                  <a:pt x="0" y="110617"/>
                </a:lnTo>
                <a:lnTo>
                  <a:pt x="0" y="258089"/>
                </a:lnTo>
                <a:lnTo>
                  <a:pt x="35394" y="295224"/>
                </a:lnTo>
                <a:lnTo>
                  <a:pt x="75869" y="310159"/>
                </a:lnTo>
                <a:lnTo>
                  <a:pt x="128193" y="321716"/>
                </a:lnTo>
                <a:lnTo>
                  <a:pt x="189826" y="329171"/>
                </a:lnTo>
                <a:lnTo>
                  <a:pt x="258292" y="331825"/>
                </a:lnTo>
                <a:lnTo>
                  <a:pt x="326745" y="329171"/>
                </a:lnTo>
                <a:lnTo>
                  <a:pt x="388391" y="321716"/>
                </a:lnTo>
                <a:lnTo>
                  <a:pt x="440715" y="310159"/>
                </a:lnTo>
                <a:lnTo>
                  <a:pt x="481190" y="295224"/>
                </a:lnTo>
                <a:lnTo>
                  <a:pt x="516585" y="258089"/>
                </a:lnTo>
                <a:lnTo>
                  <a:pt x="516585" y="221221"/>
                </a:lnTo>
                <a:lnTo>
                  <a:pt x="516585" y="184353"/>
                </a:lnTo>
                <a:lnTo>
                  <a:pt x="516585" y="110617"/>
                </a:lnTo>
                <a:close/>
              </a:path>
              <a:path w="516890" h="701039">
                <a:moveTo>
                  <a:pt x="516585" y="73748"/>
                </a:moveTo>
                <a:lnTo>
                  <a:pt x="481317" y="36525"/>
                </a:lnTo>
                <a:lnTo>
                  <a:pt x="440931" y="21602"/>
                </a:lnTo>
                <a:lnTo>
                  <a:pt x="388658" y="10071"/>
                </a:lnTo>
                <a:lnTo>
                  <a:pt x="326961" y="2628"/>
                </a:lnTo>
                <a:lnTo>
                  <a:pt x="258292" y="0"/>
                </a:lnTo>
                <a:lnTo>
                  <a:pt x="189623" y="2628"/>
                </a:lnTo>
                <a:lnTo>
                  <a:pt x="127927" y="10071"/>
                </a:lnTo>
                <a:lnTo>
                  <a:pt x="75653" y="21602"/>
                </a:lnTo>
                <a:lnTo>
                  <a:pt x="35267" y="36525"/>
                </a:lnTo>
                <a:lnTo>
                  <a:pt x="0" y="73748"/>
                </a:lnTo>
                <a:lnTo>
                  <a:pt x="9220" y="93345"/>
                </a:lnTo>
                <a:lnTo>
                  <a:pt x="75653" y="125882"/>
                </a:lnTo>
                <a:lnTo>
                  <a:pt x="127927" y="137414"/>
                </a:lnTo>
                <a:lnTo>
                  <a:pt x="189623" y="144843"/>
                </a:lnTo>
                <a:lnTo>
                  <a:pt x="258292" y="147485"/>
                </a:lnTo>
                <a:lnTo>
                  <a:pt x="326961" y="144843"/>
                </a:lnTo>
                <a:lnTo>
                  <a:pt x="388658" y="137414"/>
                </a:lnTo>
                <a:lnTo>
                  <a:pt x="440931" y="125882"/>
                </a:lnTo>
                <a:lnTo>
                  <a:pt x="481317" y="110959"/>
                </a:lnTo>
                <a:lnTo>
                  <a:pt x="516585" y="73748"/>
                </a:lnTo>
                <a:close/>
              </a:path>
            </a:pathLst>
          </a:custGeom>
          <a:solidFill>
            <a:srgbClr val="9B9B9B"/>
          </a:solidFill>
        </p:spPr>
        <p:txBody>
          <a:bodyPr wrap="square" lIns="0" tIns="0" rIns="0" bIns="0" rtlCol="0"/>
          <a:lstStyle/>
          <a:p>
            <a:endParaRPr sz="2400"/>
          </a:p>
        </p:txBody>
      </p:sp>
      <p:grpSp>
        <p:nvGrpSpPr>
          <p:cNvPr id="7" name="object 7"/>
          <p:cNvGrpSpPr/>
          <p:nvPr/>
        </p:nvGrpSpPr>
        <p:grpSpPr>
          <a:xfrm>
            <a:off x="2468795" y="2001266"/>
            <a:ext cx="2617893" cy="2959100"/>
            <a:chOff x="1851596" y="1500949"/>
            <a:chExt cx="1963420" cy="2219325"/>
          </a:xfrm>
        </p:grpSpPr>
        <p:sp>
          <p:nvSpPr>
            <p:cNvPr id="8" name="object 8"/>
            <p:cNvSpPr/>
            <p:nvPr/>
          </p:nvSpPr>
          <p:spPr>
            <a:xfrm>
              <a:off x="2286000" y="1505711"/>
              <a:ext cx="1524000" cy="2209800"/>
            </a:xfrm>
            <a:custGeom>
              <a:avLst/>
              <a:gdLst/>
              <a:ahLst/>
              <a:cxnLst/>
              <a:rect l="l" t="t" r="r" b="b"/>
              <a:pathLst>
                <a:path w="1524000" h="2209800">
                  <a:moveTo>
                    <a:pt x="0" y="254000"/>
                  </a:moveTo>
                  <a:lnTo>
                    <a:pt x="4090" y="208328"/>
                  </a:lnTo>
                  <a:lnTo>
                    <a:pt x="15884" y="165349"/>
                  </a:lnTo>
                  <a:lnTo>
                    <a:pt x="34666" y="125777"/>
                  </a:lnTo>
                  <a:lnTo>
                    <a:pt x="59719" y="90328"/>
                  </a:lnTo>
                  <a:lnTo>
                    <a:pt x="90328" y="59719"/>
                  </a:lnTo>
                  <a:lnTo>
                    <a:pt x="125777" y="34666"/>
                  </a:lnTo>
                  <a:lnTo>
                    <a:pt x="165349" y="15884"/>
                  </a:lnTo>
                  <a:lnTo>
                    <a:pt x="208328" y="4090"/>
                  </a:lnTo>
                  <a:lnTo>
                    <a:pt x="254000" y="0"/>
                  </a:lnTo>
                  <a:lnTo>
                    <a:pt x="1270000" y="0"/>
                  </a:lnTo>
                  <a:lnTo>
                    <a:pt x="1315671" y="4090"/>
                  </a:lnTo>
                  <a:lnTo>
                    <a:pt x="1358650" y="15884"/>
                  </a:lnTo>
                  <a:lnTo>
                    <a:pt x="1398222" y="34666"/>
                  </a:lnTo>
                  <a:lnTo>
                    <a:pt x="1433671" y="59719"/>
                  </a:lnTo>
                  <a:lnTo>
                    <a:pt x="1464280" y="90328"/>
                  </a:lnTo>
                  <a:lnTo>
                    <a:pt x="1489333" y="125777"/>
                  </a:lnTo>
                  <a:lnTo>
                    <a:pt x="1508115" y="165349"/>
                  </a:lnTo>
                  <a:lnTo>
                    <a:pt x="1519909" y="208328"/>
                  </a:lnTo>
                  <a:lnTo>
                    <a:pt x="1524000" y="254000"/>
                  </a:lnTo>
                  <a:lnTo>
                    <a:pt x="1524000" y="1955800"/>
                  </a:lnTo>
                  <a:lnTo>
                    <a:pt x="1519909" y="2001471"/>
                  </a:lnTo>
                  <a:lnTo>
                    <a:pt x="1508115" y="2044450"/>
                  </a:lnTo>
                  <a:lnTo>
                    <a:pt x="1489333" y="2084022"/>
                  </a:lnTo>
                  <a:lnTo>
                    <a:pt x="1464280" y="2119471"/>
                  </a:lnTo>
                  <a:lnTo>
                    <a:pt x="1433671" y="2150080"/>
                  </a:lnTo>
                  <a:lnTo>
                    <a:pt x="1398222" y="2175133"/>
                  </a:lnTo>
                  <a:lnTo>
                    <a:pt x="1358650" y="2193915"/>
                  </a:lnTo>
                  <a:lnTo>
                    <a:pt x="1315671" y="2205709"/>
                  </a:lnTo>
                  <a:lnTo>
                    <a:pt x="1270000" y="2209800"/>
                  </a:lnTo>
                  <a:lnTo>
                    <a:pt x="254000" y="2209800"/>
                  </a:lnTo>
                  <a:lnTo>
                    <a:pt x="208328" y="2205709"/>
                  </a:lnTo>
                  <a:lnTo>
                    <a:pt x="165349" y="2193915"/>
                  </a:lnTo>
                  <a:lnTo>
                    <a:pt x="125777" y="2175133"/>
                  </a:lnTo>
                  <a:lnTo>
                    <a:pt x="90328" y="2150080"/>
                  </a:lnTo>
                  <a:lnTo>
                    <a:pt x="59719" y="2119471"/>
                  </a:lnTo>
                  <a:lnTo>
                    <a:pt x="34666" y="2084022"/>
                  </a:lnTo>
                  <a:lnTo>
                    <a:pt x="15884" y="2044450"/>
                  </a:lnTo>
                  <a:lnTo>
                    <a:pt x="4090" y="2001471"/>
                  </a:lnTo>
                  <a:lnTo>
                    <a:pt x="0" y="1955800"/>
                  </a:lnTo>
                  <a:lnTo>
                    <a:pt x="0" y="254000"/>
                  </a:lnTo>
                  <a:close/>
                </a:path>
              </a:pathLst>
            </a:custGeom>
            <a:ln w="9144">
              <a:solidFill>
                <a:srgbClr val="00C3FF"/>
              </a:solidFill>
            </a:ln>
          </p:spPr>
          <p:txBody>
            <a:bodyPr wrap="square" lIns="0" tIns="0" rIns="0" bIns="0" rtlCol="0"/>
            <a:lstStyle/>
            <a:p>
              <a:endParaRPr sz="2400"/>
            </a:p>
          </p:txBody>
        </p:sp>
        <p:sp>
          <p:nvSpPr>
            <p:cNvPr id="9" name="object 9"/>
            <p:cNvSpPr/>
            <p:nvPr/>
          </p:nvSpPr>
          <p:spPr>
            <a:xfrm>
              <a:off x="1864613" y="2184653"/>
              <a:ext cx="462280" cy="160020"/>
            </a:xfrm>
            <a:custGeom>
              <a:avLst/>
              <a:gdLst/>
              <a:ahLst/>
              <a:cxnLst/>
              <a:rect l="l" t="t" r="r" b="b"/>
              <a:pathLst>
                <a:path w="462280" h="160019">
                  <a:moveTo>
                    <a:pt x="381762" y="0"/>
                  </a:moveTo>
                  <a:lnTo>
                    <a:pt x="381762" y="40004"/>
                  </a:lnTo>
                  <a:lnTo>
                    <a:pt x="0" y="40004"/>
                  </a:lnTo>
                  <a:lnTo>
                    <a:pt x="0" y="120014"/>
                  </a:lnTo>
                  <a:lnTo>
                    <a:pt x="381762" y="120014"/>
                  </a:lnTo>
                  <a:lnTo>
                    <a:pt x="381762" y="160019"/>
                  </a:lnTo>
                  <a:lnTo>
                    <a:pt x="461772" y="80009"/>
                  </a:lnTo>
                  <a:lnTo>
                    <a:pt x="381762" y="0"/>
                  </a:lnTo>
                  <a:close/>
                </a:path>
              </a:pathLst>
            </a:custGeom>
            <a:solidFill>
              <a:srgbClr val="00C3FF"/>
            </a:solidFill>
          </p:spPr>
          <p:txBody>
            <a:bodyPr wrap="square" lIns="0" tIns="0" rIns="0" bIns="0" rtlCol="0"/>
            <a:lstStyle/>
            <a:p>
              <a:endParaRPr sz="2400"/>
            </a:p>
          </p:txBody>
        </p:sp>
        <p:sp>
          <p:nvSpPr>
            <p:cNvPr id="10" name="object 10"/>
            <p:cNvSpPr/>
            <p:nvPr/>
          </p:nvSpPr>
          <p:spPr>
            <a:xfrm>
              <a:off x="1864613" y="2184653"/>
              <a:ext cx="462280" cy="160020"/>
            </a:xfrm>
            <a:custGeom>
              <a:avLst/>
              <a:gdLst/>
              <a:ahLst/>
              <a:cxnLst/>
              <a:rect l="l" t="t" r="r" b="b"/>
              <a:pathLst>
                <a:path w="462280" h="160019">
                  <a:moveTo>
                    <a:pt x="0" y="40004"/>
                  </a:moveTo>
                  <a:lnTo>
                    <a:pt x="381762" y="40004"/>
                  </a:lnTo>
                  <a:lnTo>
                    <a:pt x="381762" y="0"/>
                  </a:lnTo>
                  <a:lnTo>
                    <a:pt x="461772" y="80009"/>
                  </a:lnTo>
                  <a:lnTo>
                    <a:pt x="381762" y="160019"/>
                  </a:lnTo>
                  <a:lnTo>
                    <a:pt x="381762" y="120014"/>
                  </a:lnTo>
                  <a:lnTo>
                    <a:pt x="0" y="120014"/>
                  </a:lnTo>
                  <a:lnTo>
                    <a:pt x="0" y="40004"/>
                  </a:lnTo>
                  <a:close/>
                </a:path>
              </a:pathLst>
            </a:custGeom>
            <a:ln w="25908">
              <a:solidFill>
                <a:srgbClr val="008FBB"/>
              </a:solidFill>
            </a:ln>
          </p:spPr>
          <p:txBody>
            <a:bodyPr wrap="square" lIns="0" tIns="0" rIns="0" bIns="0" rtlCol="0"/>
            <a:lstStyle/>
            <a:p>
              <a:endParaRPr sz="2400"/>
            </a:p>
          </p:txBody>
        </p:sp>
        <p:sp>
          <p:nvSpPr>
            <p:cNvPr id="11" name="object 11"/>
            <p:cNvSpPr/>
            <p:nvPr/>
          </p:nvSpPr>
          <p:spPr>
            <a:xfrm>
              <a:off x="1864613" y="2971037"/>
              <a:ext cx="462280" cy="160020"/>
            </a:xfrm>
            <a:custGeom>
              <a:avLst/>
              <a:gdLst/>
              <a:ahLst/>
              <a:cxnLst/>
              <a:rect l="l" t="t" r="r" b="b"/>
              <a:pathLst>
                <a:path w="462280" h="160019">
                  <a:moveTo>
                    <a:pt x="381762" y="0"/>
                  </a:moveTo>
                  <a:lnTo>
                    <a:pt x="381762" y="40005"/>
                  </a:lnTo>
                  <a:lnTo>
                    <a:pt x="0" y="40005"/>
                  </a:lnTo>
                  <a:lnTo>
                    <a:pt x="0" y="120014"/>
                  </a:lnTo>
                  <a:lnTo>
                    <a:pt x="381762" y="120014"/>
                  </a:lnTo>
                  <a:lnTo>
                    <a:pt x="381762" y="160019"/>
                  </a:lnTo>
                  <a:lnTo>
                    <a:pt x="461772" y="80010"/>
                  </a:lnTo>
                  <a:lnTo>
                    <a:pt x="381762" y="0"/>
                  </a:lnTo>
                  <a:close/>
                </a:path>
              </a:pathLst>
            </a:custGeom>
            <a:solidFill>
              <a:srgbClr val="00C3FF"/>
            </a:solidFill>
          </p:spPr>
          <p:txBody>
            <a:bodyPr wrap="square" lIns="0" tIns="0" rIns="0" bIns="0" rtlCol="0"/>
            <a:lstStyle/>
            <a:p>
              <a:endParaRPr sz="2400"/>
            </a:p>
          </p:txBody>
        </p:sp>
        <p:sp>
          <p:nvSpPr>
            <p:cNvPr id="12" name="object 12"/>
            <p:cNvSpPr/>
            <p:nvPr/>
          </p:nvSpPr>
          <p:spPr>
            <a:xfrm>
              <a:off x="1864613" y="2971037"/>
              <a:ext cx="462280" cy="160020"/>
            </a:xfrm>
            <a:custGeom>
              <a:avLst/>
              <a:gdLst/>
              <a:ahLst/>
              <a:cxnLst/>
              <a:rect l="l" t="t" r="r" b="b"/>
              <a:pathLst>
                <a:path w="462280" h="160019">
                  <a:moveTo>
                    <a:pt x="0" y="40005"/>
                  </a:moveTo>
                  <a:lnTo>
                    <a:pt x="381762" y="40005"/>
                  </a:lnTo>
                  <a:lnTo>
                    <a:pt x="381762" y="0"/>
                  </a:lnTo>
                  <a:lnTo>
                    <a:pt x="461772" y="80010"/>
                  </a:lnTo>
                  <a:lnTo>
                    <a:pt x="381762" y="160019"/>
                  </a:lnTo>
                  <a:lnTo>
                    <a:pt x="381762" y="120014"/>
                  </a:lnTo>
                  <a:lnTo>
                    <a:pt x="0" y="120014"/>
                  </a:lnTo>
                  <a:lnTo>
                    <a:pt x="0" y="40005"/>
                  </a:lnTo>
                  <a:close/>
                </a:path>
              </a:pathLst>
            </a:custGeom>
            <a:ln w="25908">
              <a:solidFill>
                <a:srgbClr val="008FBB"/>
              </a:solidFill>
            </a:ln>
          </p:spPr>
          <p:txBody>
            <a:bodyPr wrap="square" lIns="0" tIns="0" rIns="0" bIns="0" rtlCol="0"/>
            <a:lstStyle/>
            <a:p>
              <a:endParaRPr sz="2400"/>
            </a:p>
          </p:txBody>
        </p:sp>
        <p:sp>
          <p:nvSpPr>
            <p:cNvPr id="13" name="object 13"/>
            <p:cNvSpPr/>
            <p:nvPr/>
          </p:nvSpPr>
          <p:spPr>
            <a:xfrm>
              <a:off x="2518143" y="1803336"/>
              <a:ext cx="1202055" cy="1675764"/>
            </a:xfrm>
            <a:custGeom>
              <a:avLst/>
              <a:gdLst/>
              <a:ahLst/>
              <a:cxnLst/>
              <a:rect l="l" t="t" r="r" b="b"/>
              <a:pathLst>
                <a:path w="1202054" h="1675764">
                  <a:moveTo>
                    <a:pt x="564794" y="0"/>
                  </a:moveTo>
                  <a:lnTo>
                    <a:pt x="0" y="0"/>
                  </a:lnTo>
                  <a:lnTo>
                    <a:pt x="0" y="41973"/>
                  </a:lnTo>
                  <a:lnTo>
                    <a:pt x="0" y="127190"/>
                  </a:lnTo>
                  <a:lnTo>
                    <a:pt x="0" y="396849"/>
                  </a:lnTo>
                  <a:lnTo>
                    <a:pt x="564794" y="396849"/>
                  </a:lnTo>
                  <a:lnTo>
                    <a:pt x="564794" y="353999"/>
                  </a:lnTo>
                  <a:lnTo>
                    <a:pt x="564794" y="353606"/>
                  </a:lnTo>
                  <a:lnTo>
                    <a:pt x="564794" y="269011"/>
                  </a:lnTo>
                  <a:lnTo>
                    <a:pt x="522427" y="269011"/>
                  </a:lnTo>
                  <a:lnTo>
                    <a:pt x="522427" y="353606"/>
                  </a:lnTo>
                  <a:lnTo>
                    <a:pt x="381228" y="353606"/>
                  </a:lnTo>
                  <a:lnTo>
                    <a:pt x="381228" y="269011"/>
                  </a:lnTo>
                  <a:lnTo>
                    <a:pt x="352996" y="269011"/>
                  </a:lnTo>
                  <a:lnTo>
                    <a:pt x="352996" y="353606"/>
                  </a:lnTo>
                  <a:lnTo>
                    <a:pt x="211797" y="353606"/>
                  </a:lnTo>
                  <a:lnTo>
                    <a:pt x="211797" y="269011"/>
                  </a:lnTo>
                  <a:lnTo>
                    <a:pt x="183553" y="269011"/>
                  </a:lnTo>
                  <a:lnTo>
                    <a:pt x="183553" y="353606"/>
                  </a:lnTo>
                  <a:lnTo>
                    <a:pt x="42367" y="353606"/>
                  </a:lnTo>
                  <a:lnTo>
                    <a:pt x="42367" y="268389"/>
                  </a:lnTo>
                  <a:lnTo>
                    <a:pt x="564794" y="268389"/>
                  </a:lnTo>
                  <a:lnTo>
                    <a:pt x="564794" y="240690"/>
                  </a:lnTo>
                  <a:lnTo>
                    <a:pt x="564794" y="240398"/>
                  </a:lnTo>
                  <a:lnTo>
                    <a:pt x="564794" y="155714"/>
                  </a:lnTo>
                  <a:lnTo>
                    <a:pt x="522427" y="155714"/>
                  </a:lnTo>
                  <a:lnTo>
                    <a:pt x="522427" y="240398"/>
                  </a:lnTo>
                  <a:lnTo>
                    <a:pt x="381228" y="240398"/>
                  </a:lnTo>
                  <a:lnTo>
                    <a:pt x="381228" y="155714"/>
                  </a:lnTo>
                  <a:lnTo>
                    <a:pt x="352996" y="155714"/>
                  </a:lnTo>
                  <a:lnTo>
                    <a:pt x="352996" y="240398"/>
                  </a:lnTo>
                  <a:lnTo>
                    <a:pt x="211797" y="240398"/>
                  </a:lnTo>
                  <a:lnTo>
                    <a:pt x="211797" y="155714"/>
                  </a:lnTo>
                  <a:lnTo>
                    <a:pt x="183553" y="155714"/>
                  </a:lnTo>
                  <a:lnTo>
                    <a:pt x="183553" y="240398"/>
                  </a:lnTo>
                  <a:lnTo>
                    <a:pt x="42367" y="240398"/>
                  </a:lnTo>
                  <a:lnTo>
                    <a:pt x="42367" y="155181"/>
                  </a:lnTo>
                  <a:lnTo>
                    <a:pt x="564794" y="155181"/>
                  </a:lnTo>
                  <a:lnTo>
                    <a:pt x="564794" y="127381"/>
                  </a:lnTo>
                  <a:lnTo>
                    <a:pt x="564794" y="127190"/>
                  </a:lnTo>
                  <a:lnTo>
                    <a:pt x="564794" y="42405"/>
                  </a:lnTo>
                  <a:lnTo>
                    <a:pt x="522427" y="42405"/>
                  </a:lnTo>
                  <a:lnTo>
                    <a:pt x="522427" y="127190"/>
                  </a:lnTo>
                  <a:lnTo>
                    <a:pt x="381228" y="127190"/>
                  </a:lnTo>
                  <a:lnTo>
                    <a:pt x="381228" y="42405"/>
                  </a:lnTo>
                  <a:lnTo>
                    <a:pt x="352996" y="42405"/>
                  </a:lnTo>
                  <a:lnTo>
                    <a:pt x="352996" y="127190"/>
                  </a:lnTo>
                  <a:lnTo>
                    <a:pt x="211797" y="127190"/>
                  </a:lnTo>
                  <a:lnTo>
                    <a:pt x="211797" y="42405"/>
                  </a:lnTo>
                  <a:lnTo>
                    <a:pt x="183553" y="42405"/>
                  </a:lnTo>
                  <a:lnTo>
                    <a:pt x="183553" y="127190"/>
                  </a:lnTo>
                  <a:lnTo>
                    <a:pt x="42367" y="127190"/>
                  </a:lnTo>
                  <a:lnTo>
                    <a:pt x="42367" y="41973"/>
                  </a:lnTo>
                  <a:lnTo>
                    <a:pt x="564794" y="41973"/>
                  </a:lnTo>
                  <a:lnTo>
                    <a:pt x="564794" y="0"/>
                  </a:lnTo>
                  <a:close/>
                </a:path>
                <a:path w="1202054" h="1675764">
                  <a:moveTo>
                    <a:pt x="836066" y="1278636"/>
                  </a:moveTo>
                  <a:lnTo>
                    <a:pt x="271272" y="1278636"/>
                  </a:lnTo>
                  <a:lnTo>
                    <a:pt x="271272" y="1320609"/>
                  </a:lnTo>
                  <a:lnTo>
                    <a:pt x="271272" y="1405826"/>
                  </a:lnTo>
                  <a:lnTo>
                    <a:pt x="271272" y="1675485"/>
                  </a:lnTo>
                  <a:lnTo>
                    <a:pt x="836066" y="1675485"/>
                  </a:lnTo>
                  <a:lnTo>
                    <a:pt x="836066" y="1632635"/>
                  </a:lnTo>
                  <a:lnTo>
                    <a:pt x="836066" y="1632242"/>
                  </a:lnTo>
                  <a:lnTo>
                    <a:pt x="836066" y="1547647"/>
                  </a:lnTo>
                  <a:lnTo>
                    <a:pt x="793699" y="1547647"/>
                  </a:lnTo>
                  <a:lnTo>
                    <a:pt x="793699" y="1632242"/>
                  </a:lnTo>
                  <a:lnTo>
                    <a:pt x="652500" y="1632242"/>
                  </a:lnTo>
                  <a:lnTo>
                    <a:pt x="652500" y="1547647"/>
                  </a:lnTo>
                  <a:lnTo>
                    <a:pt x="624268" y="1547647"/>
                  </a:lnTo>
                  <a:lnTo>
                    <a:pt x="624268" y="1632242"/>
                  </a:lnTo>
                  <a:lnTo>
                    <a:pt x="483069" y="1632242"/>
                  </a:lnTo>
                  <a:lnTo>
                    <a:pt x="483069" y="1547647"/>
                  </a:lnTo>
                  <a:lnTo>
                    <a:pt x="454825" y="1547647"/>
                  </a:lnTo>
                  <a:lnTo>
                    <a:pt x="454825" y="1632242"/>
                  </a:lnTo>
                  <a:lnTo>
                    <a:pt x="313639" y="1632242"/>
                  </a:lnTo>
                  <a:lnTo>
                    <a:pt x="313639" y="1547025"/>
                  </a:lnTo>
                  <a:lnTo>
                    <a:pt x="836066" y="1547025"/>
                  </a:lnTo>
                  <a:lnTo>
                    <a:pt x="836066" y="1519326"/>
                  </a:lnTo>
                  <a:lnTo>
                    <a:pt x="836066" y="1519034"/>
                  </a:lnTo>
                  <a:lnTo>
                    <a:pt x="836066" y="1434350"/>
                  </a:lnTo>
                  <a:lnTo>
                    <a:pt x="793699" y="1434350"/>
                  </a:lnTo>
                  <a:lnTo>
                    <a:pt x="793699" y="1519034"/>
                  </a:lnTo>
                  <a:lnTo>
                    <a:pt x="652500" y="1519034"/>
                  </a:lnTo>
                  <a:lnTo>
                    <a:pt x="652500" y="1434350"/>
                  </a:lnTo>
                  <a:lnTo>
                    <a:pt x="624268" y="1434350"/>
                  </a:lnTo>
                  <a:lnTo>
                    <a:pt x="624268" y="1519034"/>
                  </a:lnTo>
                  <a:lnTo>
                    <a:pt x="483069" y="1519034"/>
                  </a:lnTo>
                  <a:lnTo>
                    <a:pt x="483069" y="1434350"/>
                  </a:lnTo>
                  <a:lnTo>
                    <a:pt x="454825" y="1434350"/>
                  </a:lnTo>
                  <a:lnTo>
                    <a:pt x="454825" y="1519034"/>
                  </a:lnTo>
                  <a:lnTo>
                    <a:pt x="313639" y="1519034"/>
                  </a:lnTo>
                  <a:lnTo>
                    <a:pt x="313639" y="1433817"/>
                  </a:lnTo>
                  <a:lnTo>
                    <a:pt x="836066" y="1433817"/>
                  </a:lnTo>
                  <a:lnTo>
                    <a:pt x="836066" y="1406017"/>
                  </a:lnTo>
                  <a:lnTo>
                    <a:pt x="836066" y="1405826"/>
                  </a:lnTo>
                  <a:lnTo>
                    <a:pt x="836066" y="1321041"/>
                  </a:lnTo>
                  <a:lnTo>
                    <a:pt x="793699" y="1321041"/>
                  </a:lnTo>
                  <a:lnTo>
                    <a:pt x="793699" y="1405826"/>
                  </a:lnTo>
                  <a:lnTo>
                    <a:pt x="652500" y="1405826"/>
                  </a:lnTo>
                  <a:lnTo>
                    <a:pt x="652500" y="1321041"/>
                  </a:lnTo>
                  <a:lnTo>
                    <a:pt x="624268" y="1321041"/>
                  </a:lnTo>
                  <a:lnTo>
                    <a:pt x="624268" y="1405826"/>
                  </a:lnTo>
                  <a:lnTo>
                    <a:pt x="483069" y="1405826"/>
                  </a:lnTo>
                  <a:lnTo>
                    <a:pt x="483069" y="1321041"/>
                  </a:lnTo>
                  <a:lnTo>
                    <a:pt x="454825" y="1321041"/>
                  </a:lnTo>
                  <a:lnTo>
                    <a:pt x="454825" y="1405826"/>
                  </a:lnTo>
                  <a:lnTo>
                    <a:pt x="313639" y="1405826"/>
                  </a:lnTo>
                  <a:lnTo>
                    <a:pt x="313639" y="1320609"/>
                  </a:lnTo>
                  <a:lnTo>
                    <a:pt x="836066" y="1320609"/>
                  </a:lnTo>
                  <a:lnTo>
                    <a:pt x="836066" y="1278636"/>
                  </a:lnTo>
                  <a:close/>
                </a:path>
                <a:path w="1202054" h="1675764">
                  <a:moveTo>
                    <a:pt x="1201699" y="491934"/>
                  </a:moveTo>
                  <a:lnTo>
                    <a:pt x="635647" y="491934"/>
                  </a:lnTo>
                  <a:lnTo>
                    <a:pt x="635647" y="533806"/>
                  </a:lnTo>
                  <a:lnTo>
                    <a:pt x="635647" y="618845"/>
                  </a:lnTo>
                  <a:lnTo>
                    <a:pt x="635647" y="887895"/>
                  </a:lnTo>
                  <a:lnTo>
                    <a:pt x="1201699" y="887895"/>
                  </a:lnTo>
                  <a:lnTo>
                    <a:pt x="1201699" y="845134"/>
                  </a:lnTo>
                  <a:lnTo>
                    <a:pt x="1201699" y="844753"/>
                  </a:lnTo>
                  <a:lnTo>
                    <a:pt x="1201699" y="760349"/>
                  </a:lnTo>
                  <a:lnTo>
                    <a:pt x="1159230" y="760349"/>
                  </a:lnTo>
                  <a:lnTo>
                    <a:pt x="1159230" y="844753"/>
                  </a:lnTo>
                  <a:lnTo>
                    <a:pt x="1017727" y="844753"/>
                  </a:lnTo>
                  <a:lnTo>
                    <a:pt x="1017727" y="760349"/>
                  </a:lnTo>
                  <a:lnTo>
                    <a:pt x="989418" y="760349"/>
                  </a:lnTo>
                  <a:lnTo>
                    <a:pt x="989418" y="844753"/>
                  </a:lnTo>
                  <a:lnTo>
                    <a:pt x="847915" y="844753"/>
                  </a:lnTo>
                  <a:lnTo>
                    <a:pt x="847915" y="760349"/>
                  </a:lnTo>
                  <a:lnTo>
                    <a:pt x="819607" y="760349"/>
                  </a:lnTo>
                  <a:lnTo>
                    <a:pt x="819607" y="844753"/>
                  </a:lnTo>
                  <a:lnTo>
                    <a:pt x="678103" y="844753"/>
                  </a:lnTo>
                  <a:lnTo>
                    <a:pt x="678103" y="759714"/>
                  </a:lnTo>
                  <a:lnTo>
                    <a:pt x="1201699" y="759714"/>
                  </a:lnTo>
                  <a:lnTo>
                    <a:pt x="1201699" y="732078"/>
                  </a:lnTo>
                  <a:lnTo>
                    <a:pt x="1201699" y="731799"/>
                  </a:lnTo>
                  <a:lnTo>
                    <a:pt x="1201699" y="647293"/>
                  </a:lnTo>
                  <a:lnTo>
                    <a:pt x="1159230" y="647293"/>
                  </a:lnTo>
                  <a:lnTo>
                    <a:pt x="1159230" y="731799"/>
                  </a:lnTo>
                  <a:lnTo>
                    <a:pt x="1017727" y="731799"/>
                  </a:lnTo>
                  <a:lnTo>
                    <a:pt x="1017727" y="647293"/>
                  </a:lnTo>
                  <a:lnTo>
                    <a:pt x="989418" y="647293"/>
                  </a:lnTo>
                  <a:lnTo>
                    <a:pt x="989418" y="731799"/>
                  </a:lnTo>
                  <a:lnTo>
                    <a:pt x="847915" y="731799"/>
                  </a:lnTo>
                  <a:lnTo>
                    <a:pt x="847915" y="647293"/>
                  </a:lnTo>
                  <a:lnTo>
                    <a:pt x="819607" y="647293"/>
                  </a:lnTo>
                  <a:lnTo>
                    <a:pt x="819607" y="731799"/>
                  </a:lnTo>
                  <a:lnTo>
                    <a:pt x="678103" y="731799"/>
                  </a:lnTo>
                  <a:lnTo>
                    <a:pt x="678103" y="646760"/>
                  </a:lnTo>
                  <a:lnTo>
                    <a:pt x="1201699" y="646760"/>
                  </a:lnTo>
                  <a:lnTo>
                    <a:pt x="1201699" y="619036"/>
                  </a:lnTo>
                  <a:lnTo>
                    <a:pt x="1201699" y="618845"/>
                  </a:lnTo>
                  <a:lnTo>
                    <a:pt x="1201699" y="534238"/>
                  </a:lnTo>
                  <a:lnTo>
                    <a:pt x="1159230" y="534238"/>
                  </a:lnTo>
                  <a:lnTo>
                    <a:pt x="1159230" y="618845"/>
                  </a:lnTo>
                  <a:lnTo>
                    <a:pt x="1017727" y="618845"/>
                  </a:lnTo>
                  <a:lnTo>
                    <a:pt x="1017727" y="534238"/>
                  </a:lnTo>
                  <a:lnTo>
                    <a:pt x="989418" y="534238"/>
                  </a:lnTo>
                  <a:lnTo>
                    <a:pt x="989418" y="618845"/>
                  </a:lnTo>
                  <a:lnTo>
                    <a:pt x="847915" y="618845"/>
                  </a:lnTo>
                  <a:lnTo>
                    <a:pt x="847915" y="534238"/>
                  </a:lnTo>
                  <a:lnTo>
                    <a:pt x="819607" y="534238"/>
                  </a:lnTo>
                  <a:lnTo>
                    <a:pt x="819607" y="618845"/>
                  </a:lnTo>
                  <a:lnTo>
                    <a:pt x="678103" y="618845"/>
                  </a:lnTo>
                  <a:lnTo>
                    <a:pt x="678103" y="533806"/>
                  </a:lnTo>
                  <a:lnTo>
                    <a:pt x="1201699" y="533806"/>
                  </a:lnTo>
                  <a:lnTo>
                    <a:pt x="1201699" y="491934"/>
                  </a:lnTo>
                  <a:close/>
                </a:path>
              </a:pathLst>
            </a:custGeom>
            <a:solidFill>
              <a:srgbClr val="BCBCBC"/>
            </a:solidFill>
          </p:spPr>
          <p:txBody>
            <a:bodyPr wrap="square" lIns="0" tIns="0" rIns="0" bIns="0" rtlCol="0"/>
            <a:lstStyle/>
            <a:p>
              <a:endParaRPr sz="2400"/>
            </a:p>
          </p:txBody>
        </p:sp>
      </p:grpSp>
      <p:sp>
        <p:nvSpPr>
          <p:cNvPr id="14" name="object 14"/>
          <p:cNvSpPr txBox="1"/>
          <p:nvPr/>
        </p:nvSpPr>
        <p:spPr>
          <a:xfrm>
            <a:off x="5473530" y="4948055"/>
            <a:ext cx="1876213" cy="672706"/>
          </a:xfrm>
          <a:prstGeom prst="rect">
            <a:avLst/>
          </a:prstGeom>
        </p:spPr>
        <p:txBody>
          <a:bodyPr vert="horz" wrap="square" lIns="0" tIns="16087" rIns="0" bIns="0" rtlCol="0">
            <a:spAutoFit/>
          </a:bodyPr>
          <a:lstStyle/>
          <a:p>
            <a:pPr algn="ctr">
              <a:spcBef>
                <a:spcPts val="127"/>
              </a:spcBef>
            </a:pPr>
            <a:r>
              <a:rPr sz="2133" dirty="0">
                <a:solidFill>
                  <a:srgbClr val="FFFFFF"/>
                </a:solidFill>
                <a:latin typeface="Calibri"/>
                <a:cs typeface="Calibri"/>
              </a:rPr>
              <a:t>Core</a:t>
            </a:r>
            <a:r>
              <a:rPr sz="2133" spc="-33" dirty="0">
                <a:solidFill>
                  <a:srgbClr val="FFFFFF"/>
                </a:solidFill>
                <a:latin typeface="Calibri"/>
                <a:cs typeface="Calibri"/>
              </a:rPr>
              <a:t> </a:t>
            </a:r>
            <a:r>
              <a:rPr sz="2133" spc="-67" dirty="0">
                <a:solidFill>
                  <a:srgbClr val="FFFFFF"/>
                </a:solidFill>
                <a:latin typeface="Calibri"/>
                <a:cs typeface="Calibri"/>
              </a:rPr>
              <a:t>/</a:t>
            </a:r>
            <a:endParaRPr sz="2133">
              <a:latin typeface="Calibri"/>
              <a:cs typeface="Calibri"/>
            </a:endParaRPr>
          </a:p>
          <a:p>
            <a:pPr algn="ctr">
              <a:spcBef>
                <a:spcPts val="13"/>
              </a:spcBef>
            </a:pPr>
            <a:r>
              <a:rPr sz="2133" dirty="0">
                <a:solidFill>
                  <a:srgbClr val="FFFFFF"/>
                </a:solidFill>
                <a:latin typeface="Calibri"/>
                <a:cs typeface="Calibri"/>
              </a:rPr>
              <a:t>Data</a:t>
            </a:r>
            <a:r>
              <a:rPr sz="2133" spc="-53" dirty="0">
                <a:solidFill>
                  <a:srgbClr val="FFFFFF"/>
                </a:solidFill>
                <a:latin typeface="Calibri"/>
                <a:cs typeface="Calibri"/>
              </a:rPr>
              <a:t> </a:t>
            </a:r>
            <a:r>
              <a:rPr sz="2133" spc="-13" dirty="0">
                <a:solidFill>
                  <a:srgbClr val="FFFFFF"/>
                </a:solidFill>
                <a:latin typeface="Calibri"/>
                <a:cs typeface="Calibri"/>
              </a:rPr>
              <a:t>Warehouse</a:t>
            </a:r>
            <a:endParaRPr sz="2133">
              <a:latin typeface="Calibri"/>
              <a:cs typeface="Calibri"/>
            </a:endParaRPr>
          </a:p>
        </p:txBody>
      </p:sp>
      <p:grpSp>
        <p:nvGrpSpPr>
          <p:cNvPr id="15" name="object 15"/>
          <p:cNvGrpSpPr/>
          <p:nvPr/>
        </p:nvGrpSpPr>
        <p:grpSpPr>
          <a:xfrm>
            <a:off x="5062863" y="2007361"/>
            <a:ext cx="2565771" cy="2946400"/>
            <a:chOff x="3645891" y="1505711"/>
            <a:chExt cx="1924328" cy="2209800"/>
          </a:xfrm>
        </p:grpSpPr>
        <p:sp>
          <p:nvSpPr>
            <p:cNvPr id="16" name="object 16"/>
            <p:cNvSpPr/>
            <p:nvPr/>
          </p:nvSpPr>
          <p:spPr>
            <a:xfrm>
              <a:off x="4046219" y="1505711"/>
              <a:ext cx="1524000" cy="2209800"/>
            </a:xfrm>
            <a:custGeom>
              <a:avLst/>
              <a:gdLst/>
              <a:ahLst/>
              <a:cxnLst/>
              <a:rect l="l" t="t" r="r" b="b"/>
              <a:pathLst>
                <a:path w="1524000" h="2209800">
                  <a:moveTo>
                    <a:pt x="0" y="254000"/>
                  </a:moveTo>
                  <a:lnTo>
                    <a:pt x="4090" y="208328"/>
                  </a:lnTo>
                  <a:lnTo>
                    <a:pt x="15884" y="165349"/>
                  </a:lnTo>
                  <a:lnTo>
                    <a:pt x="34666" y="125777"/>
                  </a:lnTo>
                  <a:lnTo>
                    <a:pt x="59719" y="90328"/>
                  </a:lnTo>
                  <a:lnTo>
                    <a:pt x="90328" y="59719"/>
                  </a:lnTo>
                  <a:lnTo>
                    <a:pt x="125777" y="34666"/>
                  </a:lnTo>
                  <a:lnTo>
                    <a:pt x="165349" y="15884"/>
                  </a:lnTo>
                  <a:lnTo>
                    <a:pt x="208328" y="4090"/>
                  </a:lnTo>
                  <a:lnTo>
                    <a:pt x="254000" y="0"/>
                  </a:lnTo>
                  <a:lnTo>
                    <a:pt x="1270000" y="0"/>
                  </a:lnTo>
                  <a:lnTo>
                    <a:pt x="1315671" y="4090"/>
                  </a:lnTo>
                  <a:lnTo>
                    <a:pt x="1358650" y="15884"/>
                  </a:lnTo>
                  <a:lnTo>
                    <a:pt x="1398222" y="34666"/>
                  </a:lnTo>
                  <a:lnTo>
                    <a:pt x="1433671" y="59719"/>
                  </a:lnTo>
                  <a:lnTo>
                    <a:pt x="1464280" y="90328"/>
                  </a:lnTo>
                  <a:lnTo>
                    <a:pt x="1489333" y="125777"/>
                  </a:lnTo>
                  <a:lnTo>
                    <a:pt x="1508115" y="165349"/>
                  </a:lnTo>
                  <a:lnTo>
                    <a:pt x="1519909" y="208328"/>
                  </a:lnTo>
                  <a:lnTo>
                    <a:pt x="1524000" y="254000"/>
                  </a:lnTo>
                  <a:lnTo>
                    <a:pt x="1524000" y="1955800"/>
                  </a:lnTo>
                  <a:lnTo>
                    <a:pt x="1519909" y="2001471"/>
                  </a:lnTo>
                  <a:lnTo>
                    <a:pt x="1508115" y="2044450"/>
                  </a:lnTo>
                  <a:lnTo>
                    <a:pt x="1489333" y="2084022"/>
                  </a:lnTo>
                  <a:lnTo>
                    <a:pt x="1464280" y="2119471"/>
                  </a:lnTo>
                  <a:lnTo>
                    <a:pt x="1433671" y="2150080"/>
                  </a:lnTo>
                  <a:lnTo>
                    <a:pt x="1398222" y="2175133"/>
                  </a:lnTo>
                  <a:lnTo>
                    <a:pt x="1358650" y="2193915"/>
                  </a:lnTo>
                  <a:lnTo>
                    <a:pt x="1315671" y="2205709"/>
                  </a:lnTo>
                  <a:lnTo>
                    <a:pt x="1270000" y="2209800"/>
                  </a:lnTo>
                  <a:lnTo>
                    <a:pt x="254000" y="2209800"/>
                  </a:lnTo>
                  <a:lnTo>
                    <a:pt x="208328" y="2205709"/>
                  </a:lnTo>
                  <a:lnTo>
                    <a:pt x="165349" y="2193915"/>
                  </a:lnTo>
                  <a:lnTo>
                    <a:pt x="125777" y="2175133"/>
                  </a:lnTo>
                  <a:lnTo>
                    <a:pt x="90328" y="2150080"/>
                  </a:lnTo>
                  <a:lnTo>
                    <a:pt x="59719" y="2119471"/>
                  </a:lnTo>
                  <a:lnTo>
                    <a:pt x="34666" y="2084022"/>
                  </a:lnTo>
                  <a:lnTo>
                    <a:pt x="15884" y="2044450"/>
                  </a:lnTo>
                  <a:lnTo>
                    <a:pt x="4090" y="2001471"/>
                  </a:lnTo>
                  <a:lnTo>
                    <a:pt x="0" y="1955800"/>
                  </a:lnTo>
                  <a:lnTo>
                    <a:pt x="0" y="254000"/>
                  </a:lnTo>
                  <a:close/>
                </a:path>
              </a:pathLst>
            </a:custGeom>
            <a:ln w="9144">
              <a:solidFill>
                <a:srgbClr val="00C3FF"/>
              </a:solidFill>
            </a:ln>
          </p:spPr>
          <p:txBody>
            <a:bodyPr wrap="square" lIns="0" tIns="0" rIns="0" bIns="0" rtlCol="0"/>
            <a:lstStyle/>
            <a:p>
              <a:endParaRPr sz="2400"/>
            </a:p>
          </p:txBody>
        </p:sp>
        <p:sp>
          <p:nvSpPr>
            <p:cNvPr id="17" name="object 17"/>
            <p:cNvSpPr/>
            <p:nvPr/>
          </p:nvSpPr>
          <p:spPr>
            <a:xfrm>
              <a:off x="4526775" y="1951164"/>
              <a:ext cx="581660" cy="1351280"/>
            </a:xfrm>
            <a:custGeom>
              <a:avLst/>
              <a:gdLst/>
              <a:ahLst/>
              <a:cxnLst/>
              <a:rect l="l" t="t" r="r" b="b"/>
              <a:pathLst>
                <a:path w="581660" h="1351279">
                  <a:moveTo>
                    <a:pt x="227647" y="1109738"/>
                  </a:moveTo>
                  <a:lnTo>
                    <a:pt x="199339" y="1109738"/>
                  </a:lnTo>
                  <a:lnTo>
                    <a:pt x="199339" y="1194714"/>
                  </a:lnTo>
                  <a:lnTo>
                    <a:pt x="227647" y="1194714"/>
                  </a:lnTo>
                  <a:lnTo>
                    <a:pt x="227647" y="1109738"/>
                  </a:lnTo>
                  <a:close/>
                </a:path>
                <a:path w="581660" h="1351279">
                  <a:moveTo>
                    <a:pt x="397459" y="1109738"/>
                  </a:moveTo>
                  <a:lnTo>
                    <a:pt x="369150" y="1109738"/>
                  </a:lnTo>
                  <a:lnTo>
                    <a:pt x="369150" y="1194714"/>
                  </a:lnTo>
                  <a:lnTo>
                    <a:pt x="397459" y="1194714"/>
                  </a:lnTo>
                  <a:lnTo>
                    <a:pt x="397459" y="1109738"/>
                  </a:lnTo>
                  <a:close/>
                </a:path>
                <a:path w="581660" h="1351279">
                  <a:moveTo>
                    <a:pt x="564794" y="0"/>
                  </a:moveTo>
                  <a:lnTo>
                    <a:pt x="0" y="0"/>
                  </a:lnTo>
                  <a:lnTo>
                    <a:pt x="0" y="41973"/>
                  </a:lnTo>
                  <a:lnTo>
                    <a:pt x="0" y="127190"/>
                  </a:lnTo>
                  <a:lnTo>
                    <a:pt x="0" y="764298"/>
                  </a:lnTo>
                  <a:lnTo>
                    <a:pt x="564794" y="764298"/>
                  </a:lnTo>
                  <a:lnTo>
                    <a:pt x="564794" y="496214"/>
                  </a:lnTo>
                  <a:lnTo>
                    <a:pt x="522427" y="496214"/>
                  </a:lnTo>
                  <a:lnTo>
                    <a:pt x="522427" y="524167"/>
                  </a:lnTo>
                  <a:lnTo>
                    <a:pt x="522427" y="608012"/>
                  </a:lnTo>
                  <a:lnTo>
                    <a:pt x="522427" y="637235"/>
                  </a:lnTo>
                  <a:lnTo>
                    <a:pt x="522427" y="721093"/>
                  </a:lnTo>
                  <a:lnTo>
                    <a:pt x="381228" y="721093"/>
                  </a:lnTo>
                  <a:lnTo>
                    <a:pt x="381228" y="637235"/>
                  </a:lnTo>
                  <a:lnTo>
                    <a:pt x="522427" y="637235"/>
                  </a:lnTo>
                  <a:lnTo>
                    <a:pt x="522427" y="608012"/>
                  </a:lnTo>
                  <a:lnTo>
                    <a:pt x="381228" y="608012"/>
                  </a:lnTo>
                  <a:lnTo>
                    <a:pt x="381228" y="524167"/>
                  </a:lnTo>
                  <a:lnTo>
                    <a:pt x="522427" y="524167"/>
                  </a:lnTo>
                  <a:lnTo>
                    <a:pt x="522427" y="496214"/>
                  </a:lnTo>
                  <a:lnTo>
                    <a:pt x="352996" y="496214"/>
                  </a:lnTo>
                  <a:lnTo>
                    <a:pt x="352996" y="524167"/>
                  </a:lnTo>
                  <a:lnTo>
                    <a:pt x="352996" y="608012"/>
                  </a:lnTo>
                  <a:lnTo>
                    <a:pt x="352996" y="637235"/>
                  </a:lnTo>
                  <a:lnTo>
                    <a:pt x="352996" y="721093"/>
                  </a:lnTo>
                  <a:lnTo>
                    <a:pt x="211797" y="721093"/>
                  </a:lnTo>
                  <a:lnTo>
                    <a:pt x="211797" y="637235"/>
                  </a:lnTo>
                  <a:lnTo>
                    <a:pt x="352996" y="637235"/>
                  </a:lnTo>
                  <a:lnTo>
                    <a:pt x="352996" y="608012"/>
                  </a:lnTo>
                  <a:lnTo>
                    <a:pt x="211797" y="608012"/>
                  </a:lnTo>
                  <a:lnTo>
                    <a:pt x="211797" y="524167"/>
                  </a:lnTo>
                  <a:lnTo>
                    <a:pt x="352996" y="524167"/>
                  </a:lnTo>
                  <a:lnTo>
                    <a:pt x="352996" y="496214"/>
                  </a:lnTo>
                  <a:lnTo>
                    <a:pt x="183553" y="496214"/>
                  </a:lnTo>
                  <a:lnTo>
                    <a:pt x="183553" y="524167"/>
                  </a:lnTo>
                  <a:lnTo>
                    <a:pt x="183553" y="608012"/>
                  </a:lnTo>
                  <a:lnTo>
                    <a:pt x="183553" y="637235"/>
                  </a:lnTo>
                  <a:lnTo>
                    <a:pt x="183553" y="721093"/>
                  </a:lnTo>
                  <a:lnTo>
                    <a:pt x="42367" y="721093"/>
                  </a:lnTo>
                  <a:lnTo>
                    <a:pt x="42367" y="637235"/>
                  </a:lnTo>
                  <a:lnTo>
                    <a:pt x="183553" y="637235"/>
                  </a:lnTo>
                  <a:lnTo>
                    <a:pt x="183553" y="608012"/>
                  </a:lnTo>
                  <a:lnTo>
                    <a:pt x="42367" y="608012"/>
                  </a:lnTo>
                  <a:lnTo>
                    <a:pt x="42367" y="524167"/>
                  </a:lnTo>
                  <a:lnTo>
                    <a:pt x="183553" y="524167"/>
                  </a:lnTo>
                  <a:lnTo>
                    <a:pt x="183553" y="496214"/>
                  </a:lnTo>
                  <a:lnTo>
                    <a:pt x="42367" y="496214"/>
                  </a:lnTo>
                  <a:lnTo>
                    <a:pt x="42367" y="411086"/>
                  </a:lnTo>
                  <a:lnTo>
                    <a:pt x="183553" y="411086"/>
                  </a:lnTo>
                  <a:lnTo>
                    <a:pt x="183553" y="495592"/>
                  </a:lnTo>
                  <a:lnTo>
                    <a:pt x="211797" y="495592"/>
                  </a:lnTo>
                  <a:lnTo>
                    <a:pt x="211797" y="411086"/>
                  </a:lnTo>
                  <a:lnTo>
                    <a:pt x="352996" y="411086"/>
                  </a:lnTo>
                  <a:lnTo>
                    <a:pt x="352996" y="495592"/>
                  </a:lnTo>
                  <a:lnTo>
                    <a:pt x="381228" y="495592"/>
                  </a:lnTo>
                  <a:lnTo>
                    <a:pt x="381228" y="411086"/>
                  </a:lnTo>
                  <a:lnTo>
                    <a:pt x="522427" y="411086"/>
                  </a:lnTo>
                  <a:lnTo>
                    <a:pt x="522427" y="495592"/>
                  </a:lnTo>
                  <a:lnTo>
                    <a:pt x="564794" y="495592"/>
                  </a:lnTo>
                  <a:lnTo>
                    <a:pt x="564794" y="269011"/>
                  </a:lnTo>
                  <a:lnTo>
                    <a:pt x="522427" y="269011"/>
                  </a:lnTo>
                  <a:lnTo>
                    <a:pt x="522427" y="353606"/>
                  </a:lnTo>
                  <a:lnTo>
                    <a:pt x="381228" y="353606"/>
                  </a:lnTo>
                  <a:lnTo>
                    <a:pt x="381228" y="269011"/>
                  </a:lnTo>
                  <a:lnTo>
                    <a:pt x="352996" y="269011"/>
                  </a:lnTo>
                  <a:lnTo>
                    <a:pt x="352996" y="353606"/>
                  </a:lnTo>
                  <a:lnTo>
                    <a:pt x="211797" y="353606"/>
                  </a:lnTo>
                  <a:lnTo>
                    <a:pt x="211797" y="269011"/>
                  </a:lnTo>
                  <a:lnTo>
                    <a:pt x="183553" y="269011"/>
                  </a:lnTo>
                  <a:lnTo>
                    <a:pt x="183553" y="353606"/>
                  </a:lnTo>
                  <a:lnTo>
                    <a:pt x="42367" y="353606"/>
                  </a:lnTo>
                  <a:lnTo>
                    <a:pt x="42367" y="268389"/>
                  </a:lnTo>
                  <a:lnTo>
                    <a:pt x="564794" y="268389"/>
                  </a:lnTo>
                  <a:lnTo>
                    <a:pt x="564794" y="240690"/>
                  </a:lnTo>
                  <a:lnTo>
                    <a:pt x="564794" y="240398"/>
                  </a:lnTo>
                  <a:lnTo>
                    <a:pt x="564794" y="155714"/>
                  </a:lnTo>
                  <a:lnTo>
                    <a:pt x="522427" y="155714"/>
                  </a:lnTo>
                  <a:lnTo>
                    <a:pt x="522427" y="240398"/>
                  </a:lnTo>
                  <a:lnTo>
                    <a:pt x="381228" y="240398"/>
                  </a:lnTo>
                  <a:lnTo>
                    <a:pt x="381228" y="155714"/>
                  </a:lnTo>
                  <a:lnTo>
                    <a:pt x="352996" y="155714"/>
                  </a:lnTo>
                  <a:lnTo>
                    <a:pt x="352996" y="240398"/>
                  </a:lnTo>
                  <a:lnTo>
                    <a:pt x="211797" y="240398"/>
                  </a:lnTo>
                  <a:lnTo>
                    <a:pt x="211797" y="155714"/>
                  </a:lnTo>
                  <a:lnTo>
                    <a:pt x="183553" y="155714"/>
                  </a:lnTo>
                  <a:lnTo>
                    <a:pt x="183553" y="240398"/>
                  </a:lnTo>
                  <a:lnTo>
                    <a:pt x="42367" y="240398"/>
                  </a:lnTo>
                  <a:lnTo>
                    <a:pt x="42367" y="155181"/>
                  </a:lnTo>
                  <a:lnTo>
                    <a:pt x="564794" y="155181"/>
                  </a:lnTo>
                  <a:lnTo>
                    <a:pt x="564794" y="127381"/>
                  </a:lnTo>
                  <a:lnTo>
                    <a:pt x="564794" y="127190"/>
                  </a:lnTo>
                  <a:lnTo>
                    <a:pt x="564794" y="42405"/>
                  </a:lnTo>
                  <a:lnTo>
                    <a:pt x="522427" y="42405"/>
                  </a:lnTo>
                  <a:lnTo>
                    <a:pt x="522427" y="127190"/>
                  </a:lnTo>
                  <a:lnTo>
                    <a:pt x="381228" y="127190"/>
                  </a:lnTo>
                  <a:lnTo>
                    <a:pt x="381228" y="42405"/>
                  </a:lnTo>
                  <a:lnTo>
                    <a:pt x="352996" y="42405"/>
                  </a:lnTo>
                  <a:lnTo>
                    <a:pt x="352996" y="127190"/>
                  </a:lnTo>
                  <a:lnTo>
                    <a:pt x="211797" y="127190"/>
                  </a:lnTo>
                  <a:lnTo>
                    <a:pt x="211797" y="42405"/>
                  </a:lnTo>
                  <a:lnTo>
                    <a:pt x="183553" y="42405"/>
                  </a:lnTo>
                  <a:lnTo>
                    <a:pt x="183553" y="127190"/>
                  </a:lnTo>
                  <a:lnTo>
                    <a:pt x="42367" y="127190"/>
                  </a:lnTo>
                  <a:lnTo>
                    <a:pt x="42367" y="41973"/>
                  </a:lnTo>
                  <a:lnTo>
                    <a:pt x="564794" y="41973"/>
                  </a:lnTo>
                  <a:lnTo>
                    <a:pt x="564794" y="0"/>
                  </a:lnTo>
                  <a:close/>
                </a:path>
                <a:path w="581660" h="1351279">
                  <a:moveTo>
                    <a:pt x="581431" y="1109738"/>
                  </a:moveTo>
                  <a:lnTo>
                    <a:pt x="538962" y="1109738"/>
                  </a:lnTo>
                  <a:lnTo>
                    <a:pt x="538962" y="1194714"/>
                  </a:lnTo>
                  <a:lnTo>
                    <a:pt x="581431" y="1194714"/>
                  </a:lnTo>
                  <a:lnTo>
                    <a:pt x="581431" y="1109738"/>
                  </a:lnTo>
                  <a:close/>
                </a:path>
                <a:path w="581660" h="1351279">
                  <a:moveTo>
                    <a:pt x="581431" y="953350"/>
                  </a:moveTo>
                  <a:lnTo>
                    <a:pt x="15379" y="953350"/>
                  </a:lnTo>
                  <a:lnTo>
                    <a:pt x="15379" y="996556"/>
                  </a:lnTo>
                  <a:lnTo>
                    <a:pt x="15379" y="1081684"/>
                  </a:lnTo>
                  <a:lnTo>
                    <a:pt x="15379" y="1351038"/>
                  </a:lnTo>
                  <a:lnTo>
                    <a:pt x="581431" y="1351038"/>
                  </a:lnTo>
                  <a:lnTo>
                    <a:pt x="581431" y="1308023"/>
                  </a:lnTo>
                  <a:lnTo>
                    <a:pt x="581431" y="1307833"/>
                  </a:lnTo>
                  <a:lnTo>
                    <a:pt x="581431" y="1223035"/>
                  </a:lnTo>
                  <a:lnTo>
                    <a:pt x="538962" y="1223035"/>
                  </a:lnTo>
                  <a:lnTo>
                    <a:pt x="538962" y="1307833"/>
                  </a:lnTo>
                  <a:lnTo>
                    <a:pt x="397459" y="1307833"/>
                  </a:lnTo>
                  <a:lnTo>
                    <a:pt x="397459" y="1223035"/>
                  </a:lnTo>
                  <a:lnTo>
                    <a:pt x="369150" y="1223035"/>
                  </a:lnTo>
                  <a:lnTo>
                    <a:pt x="369150" y="1307833"/>
                  </a:lnTo>
                  <a:lnTo>
                    <a:pt x="227647" y="1307833"/>
                  </a:lnTo>
                  <a:lnTo>
                    <a:pt x="227647" y="1223035"/>
                  </a:lnTo>
                  <a:lnTo>
                    <a:pt x="199339" y="1223035"/>
                  </a:lnTo>
                  <a:lnTo>
                    <a:pt x="199339" y="1307833"/>
                  </a:lnTo>
                  <a:lnTo>
                    <a:pt x="57835" y="1307833"/>
                  </a:lnTo>
                  <a:lnTo>
                    <a:pt x="57835" y="1222705"/>
                  </a:lnTo>
                  <a:lnTo>
                    <a:pt x="581431" y="1222705"/>
                  </a:lnTo>
                  <a:lnTo>
                    <a:pt x="581431" y="1194752"/>
                  </a:lnTo>
                  <a:lnTo>
                    <a:pt x="57835" y="1194752"/>
                  </a:lnTo>
                  <a:lnTo>
                    <a:pt x="57835" y="1109637"/>
                  </a:lnTo>
                  <a:lnTo>
                    <a:pt x="581431" y="1109637"/>
                  </a:lnTo>
                  <a:lnTo>
                    <a:pt x="581431" y="1081684"/>
                  </a:lnTo>
                  <a:lnTo>
                    <a:pt x="57835" y="1081684"/>
                  </a:lnTo>
                  <a:lnTo>
                    <a:pt x="57835" y="996556"/>
                  </a:lnTo>
                  <a:lnTo>
                    <a:pt x="199339" y="996556"/>
                  </a:lnTo>
                  <a:lnTo>
                    <a:pt x="199339" y="1081405"/>
                  </a:lnTo>
                  <a:lnTo>
                    <a:pt x="227647" y="1081405"/>
                  </a:lnTo>
                  <a:lnTo>
                    <a:pt x="227647" y="996556"/>
                  </a:lnTo>
                  <a:lnTo>
                    <a:pt x="369150" y="996556"/>
                  </a:lnTo>
                  <a:lnTo>
                    <a:pt x="369150" y="1081405"/>
                  </a:lnTo>
                  <a:lnTo>
                    <a:pt x="397459" y="1081405"/>
                  </a:lnTo>
                  <a:lnTo>
                    <a:pt x="397459" y="996556"/>
                  </a:lnTo>
                  <a:lnTo>
                    <a:pt x="538962" y="996556"/>
                  </a:lnTo>
                  <a:lnTo>
                    <a:pt x="538962" y="1081405"/>
                  </a:lnTo>
                  <a:lnTo>
                    <a:pt x="581431" y="1081405"/>
                  </a:lnTo>
                  <a:lnTo>
                    <a:pt x="581431" y="996556"/>
                  </a:lnTo>
                  <a:lnTo>
                    <a:pt x="581431" y="996429"/>
                  </a:lnTo>
                  <a:lnTo>
                    <a:pt x="581431" y="953350"/>
                  </a:lnTo>
                  <a:close/>
                </a:path>
              </a:pathLst>
            </a:custGeom>
            <a:solidFill>
              <a:srgbClr val="BCBCBC"/>
            </a:solidFill>
          </p:spPr>
          <p:txBody>
            <a:bodyPr wrap="square" lIns="0" tIns="0" rIns="0" bIns="0" rtlCol="0"/>
            <a:lstStyle/>
            <a:p>
              <a:endParaRPr sz="2400"/>
            </a:p>
          </p:txBody>
        </p:sp>
        <p:sp>
          <p:nvSpPr>
            <p:cNvPr id="18" name="object 18"/>
            <p:cNvSpPr/>
            <p:nvPr/>
          </p:nvSpPr>
          <p:spPr>
            <a:xfrm>
              <a:off x="3645891" y="2552072"/>
              <a:ext cx="419100" cy="121920"/>
            </a:xfrm>
            <a:custGeom>
              <a:avLst/>
              <a:gdLst/>
              <a:ahLst/>
              <a:cxnLst/>
              <a:rect l="l" t="t" r="r" b="b"/>
              <a:pathLst>
                <a:path w="419100" h="121919">
                  <a:moveTo>
                    <a:pt x="358139" y="0"/>
                  </a:moveTo>
                  <a:lnTo>
                    <a:pt x="358139" y="30480"/>
                  </a:lnTo>
                  <a:lnTo>
                    <a:pt x="0" y="30480"/>
                  </a:lnTo>
                  <a:lnTo>
                    <a:pt x="0" y="91439"/>
                  </a:lnTo>
                  <a:lnTo>
                    <a:pt x="358139" y="91439"/>
                  </a:lnTo>
                  <a:lnTo>
                    <a:pt x="358139" y="121919"/>
                  </a:lnTo>
                  <a:lnTo>
                    <a:pt x="419100" y="60959"/>
                  </a:lnTo>
                  <a:lnTo>
                    <a:pt x="358139" y="0"/>
                  </a:lnTo>
                  <a:close/>
                </a:path>
              </a:pathLst>
            </a:custGeom>
            <a:solidFill>
              <a:srgbClr val="00C3FF"/>
            </a:solidFill>
          </p:spPr>
          <p:txBody>
            <a:bodyPr wrap="square" lIns="0" tIns="0" rIns="0" bIns="0" rtlCol="0"/>
            <a:lstStyle/>
            <a:p>
              <a:endParaRPr sz="2400"/>
            </a:p>
          </p:txBody>
        </p:sp>
        <p:sp>
          <p:nvSpPr>
            <p:cNvPr id="19" name="object 19"/>
            <p:cNvSpPr/>
            <p:nvPr/>
          </p:nvSpPr>
          <p:spPr>
            <a:xfrm>
              <a:off x="3651798" y="2544317"/>
              <a:ext cx="419100" cy="121920"/>
            </a:xfrm>
            <a:custGeom>
              <a:avLst/>
              <a:gdLst/>
              <a:ahLst/>
              <a:cxnLst/>
              <a:rect l="l" t="t" r="r" b="b"/>
              <a:pathLst>
                <a:path w="419100" h="121919">
                  <a:moveTo>
                    <a:pt x="0" y="30480"/>
                  </a:moveTo>
                  <a:lnTo>
                    <a:pt x="358139" y="30480"/>
                  </a:lnTo>
                  <a:lnTo>
                    <a:pt x="358139" y="0"/>
                  </a:lnTo>
                  <a:lnTo>
                    <a:pt x="419100" y="60959"/>
                  </a:lnTo>
                  <a:lnTo>
                    <a:pt x="358139" y="121919"/>
                  </a:lnTo>
                  <a:lnTo>
                    <a:pt x="358139" y="91439"/>
                  </a:lnTo>
                  <a:lnTo>
                    <a:pt x="0" y="91439"/>
                  </a:lnTo>
                  <a:lnTo>
                    <a:pt x="0" y="30480"/>
                  </a:lnTo>
                  <a:close/>
                </a:path>
              </a:pathLst>
            </a:custGeom>
            <a:ln w="25908">
              <a:solidFill>
                <a:srgbClr val="008FBB"/>
              </a:solidFill>
            </a:ln>
          </p:spPr>
          <p:txBody>
            <a:bodyPr wrap="square" lIns="0" tIns="0" rIns="0" bIns="0" rtlCol="0"/>
            <a:lstStyle/>
            <a:p>
              <a:endParaRPr sz="2400"/>
            </a:p>
          </p:txBody>
        </p:sp>
      </p:grpSp>
      <p:grpSp>
        <p:nvGrpSpPr>
          <p:cNvPr id="20" name="object 20"/>
          <p:cNvGrpSpPr/>
          <p:nvPr/>
        </p:nvGrpSpPr>
        <p:grpSpPr>
          <a:xfrm>
            <a:off x="8382000" y="2060448"/>
            <a:ext cx="2030307" cy="2040467"/>
            <a:chOff x="6286500" y="1545336"/>
            <a:chExt cx="1522730" cy="1530350"/>
          </a:xfrm>
        </p:grpSpPr>
        <p:pic>
          <p:nvPicPr>
            <p:cNvPr id="21" name="object 21"/>
            <p:cNvPicPr/>
            <p:nvPr/>
          </p:nvPicPr>
          <p:blipFill>
            <a:blip r:embed="rId2" cstate="print"/>
            <a:stretch>
              <a:fillRect/>
            </a:stretch>
          </p:blipFill>
          <p:spPr>
            <a:xfrm>
              <a:off x="6286500" y="1908047"/>
              <a:ext cx="950976" cy="950976"/>
            </a:xfrm>
            <a:prstGeom prst="rect">
              <a:avLst/>
            </a:prstGeom>
          </p:spPr>
        </p:pic>
        <p:pic>
          <p:nvPicPr>
            <p:cNvPr id="22" name="object 22"/>
            <p:cNvPicPr/>
            <p:nvPr/>
          </p:nvPicPr>
          <p:blipFill>
            <a:blip r:embed="rId3" cstate="print"/>
            <a:stretch>
              <a:fillRect/>
            </a:stretch>
          </p:blipFill>
          <p:spPr>
            <a:xfrm>
              <a:off x="6286500" y="2758439"/>
              <a:ext cx="1522476" cy="316992"/>
            </a:xfrm>
            <a:prstGeom prst="rect">
              <a:avLst/>
            </a:prstGeom>
          </p:spPr>
        </p:pic>
        <p:pic>
          <p:nvPicPr>
            <p:cNvPr id="23" name="object 23"/>
            <p:cNvPicPr/>
            <p:nvPr/>
          </p:nvPicPr>
          <p:blipFill>
            <a:blip r:embed="rId4" cstate="print"/>
            <a:stretch>
              <a:fillRect/>
            </a:stretch>
          </p:blipFill>
          <p:spPr>
            <a:xfrm>
              <a:off x="6400800" y="1545336"/>
              <a:ext cx="463296" cy="463295"/>
            </a:xfrm>
            <a:prstGeom prst="rect">
              <a:avLst/>
            </a:prstGeom>
          </p:spPr>
        </p:pic>
      </p:grpSp>
      <p:grpSp>
        <p:nvGrpSpPr>
          <p:cNvPr id="24" name="object 24"/>
          <p:cNvGrpSpPr/>
          <p:nvPr/>
        </p:nvGrpSpPr>
        <p:grpSpPr>
          <a:xfrm>
            <a:off x="7607807" y="2359153"/>
            <a:ext cx="593512" cy="197273"/>
            <a:chOff x="5705855" y="1769364"/>
            <a:chExt cx="445134" cy="147955"/>
          </a:xfrm>
        </p:grpSpPr>
        <p:sp>
          <p:nvSpPr>
            <p:cNvPr id="25" name="object 25"/>
            <p:cNvSpPr/>
            <p:nvPr/>
          </p:nvSpPr>
          <p:spPr>
            <a:xfrm>
              <a:off x="5718809" y="1782318"/>
              <a:ext cx="419100" cy="121920"/>
            </a:xfrm>
            <a:custGeom>
              <a:avLst/>
              <a:gdLst/>
              <a:ahLst/>
              <a:cxnLst/>
              <a:rect l="l" t="t" r="r" b="b"/>
              <a:pathLst>
                <a:path w="419100" h="121919">
                  <a:moveTo>
                    <a:pt x="358139" y="0"/>
                  </a:moveTo>
                  <a:lnTo>
                    <a:pt x="358139" y="30480"/>
                  </a:lnTo>
                  <a:lnTo>
                    <a:pt x="0" y="30480"/>
                  </a:lnTo>
                  <a:lnTo>
                    <a:pt x="0" y="91440"/>
                  </a:lnTo>
                  <a:lnTo>
                    <a:pt x="358139" y="91440"/>
                  </a:lnTo>
                  <a:lnTo>
                    <a:pt x="358139" y="121920"/>
                  </a:lnTo>
                  <a:lnTo>
                    <a:pt x="419100" y="60960"/>
                  </a:lnTo>
                  <a:lnTo>
                    <a:pt x="358139" y="0"/>
                  </a:lnTo>
                  <a:close/>
                </a:path>
              </a:pathLst>
            </a:custGeom>
            <a:solidFill>
              <a:srgbClr val="00C3FF"/>
            </a:solidFill>
          </p:spPr>
          <p:txBody>
            <a:bodyPr wrap="square" lIns="0" tIns="0" rIns="0" bIns="0" rtlCol="0"/>
            <a:lstStyle/>
            <a:p>
              <a:endParaRPr sz="2400"/>
            </a:p>
          </p:txBody>
        </p:sp>
        <p:sp>
          <p:nvSpPr>
            <p:cNvPr id="26" name="object 26"/>
            <p:cNvSpPr/>
            <p:nvPr/>
          </p:nvSpPr>
          <p:spPr>
            <a:xfrm>
              <a:off x="5718809" y="1782318"/>
              <a:ext cx="419100" cy="121920"/>
            </a:xfrm>
            <a:custGeom>
              <a:avLst/>
              <a:gdLst/>
              <a:ahLst/>
              <a:cxnLst/>
              <a:rect l="l" t="t" r="r" b="b"/>
              <a:pathLst>
                <a:path w="419100" h="121919">
                  <a:moveTo>
                    <a:pt x="0" y="30480"/>
                  </a:moveTo>
                  <a:lnTo>
                    <a:pt x="358139" y="30480"/>
                  </a:lnTo>
                  <a:lnTo>
                    <a:pt x="358139" y="0"/>
                  </a:lnTo>
                  <a:lnTo>
                    <a:pt x="419100" y="60960"/>
                  </a:lnTo>
                  <a:lnTo>
                    <a:pt x="358139" y="121920"/>
                  </a:lnTo>
                  <a:lnTo>
                    <a:pt x="358139" y="91440"/>
                  </a:lnTo>
                  <a:lnTo>
                    <a:pt x="0" y="91440"/>
                  </a:lnTo>
                  <a:lnTo>
                    <a:pt x="0" y="30480"/>
                  </a:lnTo>
                  <a:close/>
                </a:path>
              </a:pathLst>
            </a:custGeom>
            <a:ln w="25907">
              <a:solidFill>
                <a:srgbClr val="008FBB"/>
              </a:solidFill>
            </a:ln>
          </p:spPr>
          <p:txBody>
            <a:bodyPr wrap="square" lIns="0" tIns="0" rIns="0" bIns="0" rtlCol="0"/>
            <a:lstStyle/>
            <a:p>
              <a:endParaRPr sz="2400"/>
            </a:p>
          </p:txBody>
        </p:sp>
      </p:grpSp>
      <p:grpSp>
        <p:nvGrpSpPr>
          <p:cNvPr id="27" name="object 27"/>
          <p:cNvGrpSpPr/>
          <p:nvPr/>
        </p:nvGrpSpPr>
        <p:grpSpPr>
          <a:xfrm>
            <a:off x="7644384" y="3080511"/>
            <a:ext cx="593512" cy="199813"/>
            <a:chOff x="5733288" y="2310383"/>
            <a:chExt cx="445134" cy="149860"/>
          </a:xfrm>
        </p:grpSpPr>
        <p:sp>
          <p:nvSpPr>
            <p:cNvPr id="28" name="object 28"/>
            <p:cNvSpPr/>
            <p:nvPr/>
          </p:nvSpPr>
          <p:spPr>
            <a:xfrm>
              <a:off x="5746242" y="2323337"/>
              <a:ext cx="419100" cy="123825"/>
            </a:xfrm>
            <a:custGeom>
              <a:avLst/>
              <a:gdLst/>
              <a:ahLst/>
              <a:cxnLst/>
              <a:rect l="l" t="t" r="r" b="b"/>
              <a:pathLst>
                <a:path w="419100" h="123825">
                  <a:moveTo>
                    <a:pt x="357378" y="0"/>
                  </a:moveTo>
                  <a:lnTo>
                    <a:pt x="357378" y="30861"/>
                  </a:lnTo>
                  <a:lnTo>
                    <a:pt x="0" y="30861"/>
                  </a:lnTo>
                  <a:lnTo>
                    <a:pt x="0" y="92582"/>
                  </a:lnTo>
                  <a:lnTo>
                    <a:pt x="357378" y="92582"/>
                  </a:lnTo>
                  <a:lnTo>
                    <a:pt x="357378" y="123443"/>
                  </a:lnTo>
                  <a:lnTo>
                    <a:pt x="419100" y="61722"/>
                  </a:lnTo>
                  <a:lnTo>
                    <a:pt x="357378" y="0"/>
                  </a:lnTo>
                  <a:close/>
                </a:path>
              </a:pathLst>
            </a:custGeom>
            <a:solidFill>
              <a:srgbClr val="00C3FF"/>
            </a:solidFill>
          </p:spPr>
          <p:txBody>
            <a:bodyPr wrap="square" lIns="0" tIns="0" rIns="0" bIns="0" rtlCol="0"/>
            <a:lstStyle/>
            <a:p>
              <a:endParaRPr sz="2400"/>
            </a:p>
          </p:txBody>
        </p:sp>
        <p:sp>
          <p:nvSpPr>
            <p:cNvPr id="29" name="object 29"/>
            <p:cNvSpPr/>
            <p:nvPr/>
          </p:nvSpPr>
          <p:spPr>
            <a:xfrm>
              <a:off x="5746242" y="2323337"/>
              <a:ext cx="419100" cy="123825"/>
            </a:xfrm>
            <a:custGeom>
              <a:avLst/>
              <a:gdLst/>
              <a:ahLst/>
              <a:cxnLst/>
              <a:rect l="l" t="t" r="r" b="b"/>
              <a:pathLst>
                <a:path w="419100" h="123825">
                  <a:moveTo>
                    <a:pt x="0" y="30861"/>
                  </a:moveTo>
                  <a:lnTo>
                    <a:pt x="357378" y="30861"/>
                  </a:lnTo>
                  <a:lnTo>
                    <a:pt x="357378" y="0"/>
                  </a:lnTo>
                  <a:lnTo>
                    <a:pt x="419100" y="61722"/>
                  </a:lnTo>
                  <a:lnTo>
                    <a:pt x="357378" y="123443"/>
                  </a:lnTo>
                  <a:lnTo>
                    <a:pt x="357378" y="92582"/>
                  </a:lnTo>
                  <a:lnTo>
                    <a:pt x="0" y="92582"/>
                  </a:lnTo>
                  <a:lnTo>
                    <a:pt x="0" y="30861"/>
                  </a:lnTo>
                  <a:close/>
                </a:path>
              </a:pathLst>
            </a:custGeom>
            <a:ln w="25908">
              <a:solidFill>
                <a:srgbClr val="008FBB"/>
              </a:solidFill>
            </a:ln>
          </p:spPr>
          <p:txBody>
            <a:bodyPr wrap="square" lIns="0" tIns="0" rIns="0" bIns="0" rtlCol="0"/>
            <a:lstStyle/>
            <a:p>
              <a:endParaRPr sz="2400"/>
            </a:p>
          </p:txBody>
        </p:sp>
      </p:grpSp>
      <p:grpSp>
        <p:nvGrpSpPr>
          <p:cNvPr id="30" name="object 30"/>
          <p:cNvGrpSpPr/>
          <p:nvPr/>
        </p:nvGrpSpPr>
        <p:grpSpPr>
          <a:xfrm>
            <a:off x="7646415" y="3767328"/>
            <a:ext cx="593512" cy="197273"/>
            <a:chOff x="5734811" y="2825495"/>
            <a:chExt cx="445134" cy="147955"/>
          </a:xfrm>
        </p:grpSpPr>
        <p:sp>
          <p:nvSpPr>
            <p:cNvPr id="31" name="object 31"/>
            <p:cNvSpPr/>
            <p:nvPr/>
          </p:nvSpPr>
          <p:spPr>
            <a:xfrm>
              <a:off x="5747765" y="2838449"/>
              <a:ext cx="419100" cy="121920"/>
            </a:xfrm>
            <a:custGeom>
              <a:avLst/>
              <a:gdLst/>
              <a:ahLst/>
              <a:cxnLst/>
              <a:rect l="l" t="t" r="r" b="b"/>
              <a:pathLst>
                <a:path w="419100" h="121919">
                  <a:moveTo>
                    <a:pt x="358139" y="0"/>
                  </a:moveTo>
                  <a:lnTo>
                    <a:pt x="358139" y="30480"/>
                  </a:lnTo>
                  <a:lnTo>
                    <a:pt x="0" y="30480"/>
                  </a:lnTo>
                  <a:lnTo>
                    <a:pt x="0" y="91439"/>
                  </a:lnTo>
                  <a:lnTo>
                    <a:pt x="358139" y="91439"/>
                  </a:lnTo>
                  <a:lnTo>
                    <a:pt x="358139" y="121919"/>
                  </a:lnTo>
                  <a:lnTo>
                    <a:pt x="419100" y="60960"/>
                  </a:lnTo>
                  <a:lnTo>
                    <a:pt x="358139" y="0"/>
                  </a:lnTo>
                  <a:close/>
                </a:path>
              </a:pathLst>
            </a:custGeom>
            <a:solidFill>
              <a:srgbClr val="00C3FF"/>
            </a:solidFill>
          </p:spPr>
          <p:txBody>
            <a:bodyPr wrap="square" lIns="0" tIns="0" rIns="0" bIns="0" rtlCol="0"/>
            <a:lstStyle/>
            <a:p>
              <a:endParaRPr sz="2400"/>
            </a:p>
          </p:txBody>
        </p:sp>
        <p:sp>
          <p:nvSpPr>
            <p:cNvPr id="32" name="object 32"/>
            <p:cNvSpPr/>
            <p:nvPr/>
          </p:nvSpPr>
          <p:spPr>
            <a:xfrm>
              <a:off x="5747765" y="2838449"/>
              <a:ext cx="419100" cy="121920"/>
            </a:xfrm>
            <a:custGeom>
              <a:avLst/>
              <a:gdLst/>
              <a:ahLst/>
              <a:cxnLst/>
              <a:rect l="l" t="t" r="r" b="b"/>
              <a:pathLst>
                <a:path w="419100" h="121919">
                  <a:moveTo>
                    <a:pt x="0" y="30480"/>
                  </a:moveTo>
                  <a:lnTo>
                    <a:pt x="358139" y="30480"/>
                  </a:lnTo>
                  <a:lnTo>
                    <a:pt x="358139" y="0"/>
                  </a:lnTo>
                  <a:lnTo>
                    <a:pt x="419100" y="60960"/>
                  </a:lnTo>
                  <a:lnTo>
                    <a:pt x="358139" y="121919"/>
                  </a:lnTo>
                  <a:lnTo>
                    <a:pt x="358139" y="91439"/>
                  </a:lnTo>
                  <a:lnTo>
                    <a:pt x="0" y="91439"/>
                  </a:lnTo>
                  <a:lnTo>
                    <a:pt x="0" y="30480"/>
                  </a:lnTo>
                  <a:close/>
                </a:path>
              </a:pathLst>
            </a:custGeom>
            <a:ln w="25908">
              <a:solidFill>
                <a:srgbClr val="008FBB"/>
              </a:solidFill>
            </a:ln>
          </p:spPr>
          <p:txBody>
            <a:bodyPr wrap="square" lIns="0" tIns="0" rIns="0" bIns="0" rtlCol="0"/>
            <a:lstStyle/>
            <a:p>
              <a:endParaRPr sz="2400"/>
            </a:p>
          </p:txBody>
        </p:sp>
      </p:grpSp>
      <p:grpSp>
        <p:nvGrpSpPr>
          <p:cNvPr id="33" name="object 33"/>
          <p:cNvGrpSpPr/>
          <p:nvPr/>
        </p:nvGrpSpPr>
        <p:grpSpPr>
          <a:xfrm>
            <a:off x="7691121" y="4525264"/>
            <a:ext cx="591820" cy="197273"/>
            <a:chOff x="5768340" y="3393947"/>
            <a:chExt cx="443865" cy="147955"/>
          </a:xfrm>
        </p:grpSpPr>
        <p:sp>
          <p:nvSpPr>
            <p:cNvPr id="34" name="object 34"/>
            <p:cNvSpPr/>
            <p:nvPr/>
          </p:nvSpPr>
          <p:spPr>
            <a:xfrm>
              <a:off x="5781294" y="3406901"/>
              <a:ext cx="417830" cy="121920"/>
            </a:xfrm>
            <a:custGeom>
              <a:avLst/>
              <a:gdLst/>
              <a:ahLst/>
              <a:cxnLst/>
              <a:rect l="l" t="t" r="r" b="b"/>
              <a:pathLst>
                <a:path w="417829" h="121920">
                  <a:moveTo>
                    <a:pt x="356615" y="0"/>
                  </a:moveTo>
                  <a:lnTo>
                    <a:pt x="356615" y="30480"/>
                  </a:lnTo>
                  <a:lnTo>
                    <a:pt x="0" y="30480"/>
                  </a:lnTo>
                  <a:lnTo>
                    <a:pt x="0" y="91440"/>
                  </a:lnTo>
                  <a:lnTo>
                    <a:pt x="356615" y="91440"/>
                  </a:lnTo>
                  <a:lnTo>
                    <a:pt x="356615" y="121920"/>
                  </a:lnTo>
                  <a:lnTo>
                    <a:pt x="417575" y="60960"/>
                  </a:lnTo>
                  <a:lnTo>
                    <a:pt x="356615" y="0"/>
                  </a:lnTo>
                  <a:close/>
                </a:path>
              </a:pathLst>
            </a:custGeom>
            <a:solidFill>
              <a:srgbClr val="00C3FF"/>
            </a:solidFill>
          </p:spPr>
          <p:txBody>
            <a:bodyPr wrap="square" lIns="0" tIns="0" rIns="0" bIns="0" rtlCol="0"/>
            <a:lstStyle/>
            <a:p>
              <a:endParaRPr sz="2400"/>
            </a:p>
          </p:txBody>
        </p:sp>
        <p:sp>
          <p:nvSpPr>
            <p:cNvPr id="35" name="object 35"/>
            <p:cNvSpPr/>
            <p:nvPr/>
          </p:nvSpPr>
          <p:spPr>
            <a:xfrm>
              <a:off x="5781294" y="3406901"/>
              <a:ext cx="417830" cy="121920"/>
            </a:xfrm>
            <a:custGeom>
              <a:avLst/>
              <a:gdLst/>
              <a:ahLst/>
              <a:cxnLst/>
              <a:rect l="l" t="t" r="r" b="b"/>
              <a:pathLst>
                <a:path w="417829" h="121920">
                  <a:moveTo>
                    <a:pt x="0" y="30480"/>
                  </a:moveTo>
                  <a:lnTo>
                    <a:pt x="356615" y="30480"/>
                  </a:lnTo>
                  <a:lnTo>
                    <a:pt x="356615" y="0"/>
                  </a:lnTo>
                  <a:lnTo>
                    <a:pt x="417575" y="60960"/>
                  </a:lnTo>
                  <a:lnTo>
                    <a:pt x="356615" y="121920"/>
                  </a:lnTo>
                  <a:lnTo>
                    <a:pt x="356615" y="91440"/>
                  </a:lnTo>
                  <a:lnTo>
                    <a:pt x="0" y="91440"/>
                  </a:lnTo>
                  <a:lnTo>
                    <a:pt x="0" y="30480"/>
                  </a:lnTo>
                  <a:close/>
                </a:path>
              </a:pathLst>
            </a:custGeom>
            <a:ln w="25908">
              <a:solidFill>
                <a:srgbClr val="008FBB"/>
              </a:solidFill>
            </a:ln>
          </p:spPr>
          <p:txBody>
            <a:bodyPr wrap="square" lIns="0" tIns="0" rIns="0" bIns="0" rtlCol="0"/>
            <a:lstStyle/>
            <a:p>
              <a:endParaRPr sz="2400"/>
            </a:p>
          </p:txBody>
        </p:sp>
      </p:grpSp>
      <p:sp>
        <p:nvSpPr>
          <p:cNvPr id="36" name="object 36"/>
          <p:cNvSpPr txBox="1"/>
          <p:nvPr/>
        </p:nvSpPr>
        <p:spPr>
          <a:xfrm>
            <a:off x="8553704" y="4290059"/>
            <a:ext cx="1131992" cy="666892"/>
          </a:xfrm>
          <a:prstGeom prst="rect">
            <a:avLst/>
          </a:prstGeom>
        </p:spPr>
        <p:txBody>
          <a:bodyPr vert="horz" wrap="square" lIns="0" tIns="14393" rIns="0" bIns="0" rtlCol="0">
            <a:spAutoFit/>
          </a:bodyPr>
          <a:lstStyle/>
          <a:p>
            <a:pPr marL="71118" marR="6773" indent="-55032">
              <a:lnSpc>
                <a:spcPct val="100600"/>
              </a:lnSpc>
              <a:spcBef>
                <a:spcPts val="113"/>
              </a:spcBef>
            </a:pPr>
            <a:r>
              <a:rPr sz="2133" spc="-13" dirty="0">
                <a:solidFill>
                  <a:srgbClr val="FFFFFF"/>
                </a:solidFill>
                <a:latin typeface="Calibri"/>
                <a:cs typeface="Calibri"/>
              </a:rPr>
              <a:t>Predictive Analytics</a:t>
            </a:r>
            <a:endParaRPr sz="2133">
              <a:latin typeface="Calibri"/>
              <a:cs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56168" y="383228"/>
            <a:ext cx="6551928"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Data</a:t>
            </a:r>
            <a:r>
              <a:rPr spc="-33" dirty="0"/>
              <a:t> </a:t>
            </a:r>
            <a:r>
              <a:rPr dirty="0">
                <a:solidFill>
                  <a:schemeClr val="bg1"/>
                </a:solidFill>
                <a:latin typeface="+mn-lt"/>
              </a:rPr>
              <a:t>Warehouse Layers</a:t>
            </a:r>
          </a:p>
        </p:txBody>
      </p:sp>
      <p:sp>
        <p:nvSpPr>
          <p:cNvPr id="3" name="object 3"/>
          <p:cNvSpPr txBox="1"/>
          <p:nvPr/>
        </p:nvSpPr>
        <p:spPr>
          <a:xfrm>
            <a:off x="3661326" y="5017143"/>
            <a:ext cx="839893" cy="344475"/>
          </a:xfrm>
          <a:prstGeom prst="rect">
            <a:avLst/>
          </a:prstGeom>
        </p:spPr>
        <p:txBody>
          <a:bodyPr vert="horz" wrap="square" lIns="0" tIns="16087" rIns="0" bIns="0" rtlCol="0">
            <a:spAutoFit/>
          </a:bodyPr>
          <a:lstStyle/>
          <a:p>
            <a:pPr marL="16933">
              <a:spcBef>
                <a:spcPts val="127"/>
              </a:spcBef>
            </a:pPr>
            <a:r>
              <a:rPr sz="2133" spc="-13" dirty="0">
                <a:solidFill>
                  <a:srgbClr val="FFFFFF"/>
                </a:solidFill>
                <a:latin typeface="Calibri"/>
                <a:cs typeface="Calibri"/>
              </a:rPr>
              <a:t>Staging</a:t>
            </a:r>
            <a:endParaRPr sz="2133">
              <a:latin typeface="Calibri"/>
              <a:cs typeface="Calibri"/>
            </a:endParaRPr>
          </a:p>
        </p:txBody>
      </p:sp>
      <p:graphicFrame>
        <p:nvGraphicFramePr>
          <p:cNvPr id="4" name="object 4"/>
          <p:cNvGraphicFramePr>
            <a:graphicFrameLocks noGrp="1"/>
          </p:cNvGraphicFramePr>
          <p:nvPr/>
        </p:nvGraphicFramePr>
        <p:xfrm>
          <a:off x="1157775" y="2562617"/>
          <a:ext cx="929639" cy="628227"/>
        </p:xfrm>
        <a:graphic>
          <a:graphicData uri="http://schemas.openxmlformats.org/drawingml/2006/table">
            <a:tbl>
              <a:tblPr firstRow="1" bandRow="1">
                <a:tableStyleId>{2D5ABB26-0587-4C30-8999-92F81FD0307C}</a:tableStyleId>
              </a:tblPr>
              <a:tblGrid>
                <a:gridCol w="314113">
                  <a:extLst>
                    <a:ext uri="{9D8B030D-6E8A-4147-A177-3AD203B41FA5}">
                      <a16:colId xmlns:a16="http://schemas.microsoft.com/office/drawing/2014/main" val="20000"/>
                    </a:ext>
                  </a:extLst>
                </a:gridCol>
                <a:gridCol w="301413">
                  <a:extLst>
                    <a:ext uri="{9D8B030D-6E8A-4147-A177-3AD203B41FA5}">
                      <a16:colId xmlns:a16="http://schemas.microsoft.com/office/drawing/2014/main" val="20001"/>
                    </a:ext>
                  </a:extLst>
                </a:gridCol>
                <a:gridCol w="314113">
                  <a:extLst>
                    <a:ext uri="{9D8B030D-6E8A-4147-A177-3AD203B41FA5}">
                      <a16:colId xmlns:a16="http://schemas.microsoft.com/office/drawing/2014/main" val="20002"/>
                    </a:ext>
                  </a:extLst>
                </a:gridCol>
              </a:tblGrid>
              <a:tr h="213360">
                <a:tc>
                  <a:txBody>
                    <a:bodyPr/>
                    <a:lstStyle/>
                    <a:p>
                      <a:pPr>
                        <a:lnSpc>
                          <a:spcPct val="100000"/>
                        </a:lnSpc>
                      </a:pPr>
                      <a:endParaRPr sz="1200">
                        <a:latin typeface="Times New Roman"/>
                        <a:cs typeface="Times New Roman"/>
                      </a:endParaRPr>
                    </a:p>
                  </a:txBody>
                  <a:tcPr marL="0" marR="0" marT="0" marB="0">
                    <a:lnL w="5715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57150">
                      <a:solidFill>
                        <a:srgbClr val="BCBCBC"/>
                      </a:solidFill>
                      <a:prstDash val="solid"/>
                    </a:lnR>
                    <a:lnT w="57150">
                      <a:solidFill>
                        <a:srgbClr val="BCBCBC"/>
                      </a:solidFill>
                      <a:prstDash val="solid"/>
                    </a:lnT>
                    <a:lnB w="38100">
                      <a:solidFill>
                        <a:srgbClr val="BCBCBC"/>
                      </a:solidFill>
                      <a:prstDash val="solid"/>
                    </a:lnB>
                  </a:tcPr>
                </a:tc>
                <a:extLst>
                  <a:ext uri="{0D108BD9-81ED-4DB2-BD59-A6C34878D82A}">
                    <a16:rowId xmlns:a16="http://schemas.microsoft.com/office/drawing/2014/main" val="10000"/>
                  </a:ext>
                </a:extLst>
              </a:tr>
              <a:tr h="201507">
                <a:tc>
                  <a:txBody>
                    <a:bodyPr/>
                    <a:lstStyle/>
                    <a:p>
                      <a:pPr>
                        <a:lnSpc>
                          <a:spcPct val="100000"/>
                        </a:lnSpc>
                      </a:pPr>
                      <a:endParaRPr sz="11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11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11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38100">
                      <a:solidFill>
                        <a:srgbClr val="BCBCBC"/>
                      </a:solidFill>
                      <a:prstDash val="solid"/>
                    </a:lnB>
                  </a:tcPr>
                </a:tc>
                <a:extLst>
                  <a:ext uri="{0D108BD9-81ED-4DB2-BD59-A6C34878D82A}">
                    <a16:rowId xmlns:a16="http://schemas.microsoft.com/office/drawing/2014/main" val="10001"/>
                  </a:ext>
                </a:extLst>
              </a:tr>
              <a:tr h="213360">
                <a:tc>
                  <a:txBody>
                    <a:bodyPr/>
                    <a:lstStyle/>
                    <a:p>
                      <a:pPr>
                        <a:lnSpc>
                          <a:spcPct val="100000"/>
                        </a:lnSpc>
                      </a:pPr>
                      <a:endParaRPr sz="12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57150">
                      <a:solidFill>
                        <a:srgbClr val="BCBCBC"/>
                      </a:solidFill>
                      <a:prstDash val="solid"/>
                    </a:lnB>
                  </a:tcPr>
                </a:tc>
                <a:extLst>
                  <a:ext uri="{0D108BD9-81ED-4DB2-BD59-A6C34878D82A}">
                    <a16:rowId xmlns:a16="http://schemas.microsoft.com/office/drawing/2014/main" val="10002"/>
                  </a:ext>
                </a:extLst>
              </a:tr>
            </a:tbl>
          </a:graphicData>
        </a:graphic>
      </p:graphicFrame>
      <p:sp>
        <p:nvSpPr>
          <p:cNvPr id="5" name="object 5"/>
          <p:cNvSpPr txBox="1"/>
          <p:nvPr/>
        </p:nvSpPr>
        <p:spPr>
          <a:xfrm>
            <a:off x="935668" y="4679357"/>
            <a:ext cx="1424093"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data</a:t>
            </a:r>
            <a:r>
              <a:rPr sz="2133" spc="-33" dirty="0">
                <a:solidFill>
                  <a:srgbClr val="FFFFFF"/>
                </a:solidFill>
                <a:latin typeface="Calibri"/>
                <a:cs typeface="Calibri"/>
              </a:rPr>
              <a:t> </a:t>
            </a:r>
            <a:r>
              <a:rPr sz="2133" spc="-13" dirty="0">
                <a:solidFill>
                  <a:srgbClr val="FFFFFF"/>
                </a:solidFill>
                <a:latin typeface="Calibri"/>
                <a:cs typeface="Calibri"/>
              </a:rPr>
              <a:t>sources</a:t>
            </a:r>
            <a:endParaRPr sz="2133">
              <a:latin typeface="Calibri"/>
              <a:cs typeface="Calibri"/>
            </a:endParaRPr>
          </a:p>
        </p:txBody>
      </p:sp>
      <p:sp>
        <p:nvSpPr>
          <p:cNvPr id="6" name="object 6"/>
          <p:cNvSpPr/>
          <p:nvPr/>
        </p:nvSpPr>
        <p:spPr>
          <a:xfrm>
            <a:off x="1327573" y="3561639"/>
            <a:ext cx="689187" cy="934720"/>
          </a:xfrm>
          <a:custGeom>
            <a:avLst/>
            <a:gdLst/>
            <a:ahLst/>
            <a:cxnLst/>
            <a:rect l="l" t="t" r="r" b="b"/>
            <a:pathLst>
              <a:path w="516890" h="701039">
                <a:moveTo>
                  <a:pt x="516585" y="479298"/>
                </a:moveTo>
                <a:lnTo>
                  <a:pt x="507314" y="498830"/>
                </a:lnTo>
                <a:lnTo>
                  <a:pt x="481190" y="516432"/>
                </a:lnTo>
                <a:lnTo>
                  <a:pt x="461238" y="523798"/>
                </a:lnTo>
                <a:lnTo>
                  <a:pt x="461238" y="608330"/>
                </a:lnTo>
                <a:lnTo>
                  <a:pt x="459905" y="615873"/>
                </a:lnTo>
                <a:lnTo>
                  <a:pt x="456158" y="621690"/>
                </a:lnTo>
                <a:lnTo>
                  <a:pt x="450342" y="625436"/>
                </a:lnTo>
                <a:lnTo>
                  <a:pt x="442785" y="626757"/>
                </a:lnTo>
                <a:lnTo>
                  <a:pt x="435229" y="625436"/>
                </a:lnTo>
                <a:lnTo>
                  <a:pt x="429412" y="621690"/>
                </a:lnTo>
                <a:lnTo>
                  <a:pt x="425665" y="615873"/>
                </a:lnTo>
                <a:lnTo>
                  <a:pt x="424332" y="608330"/>
                </a:lnTo>
                <a:lnTo>
                  <a:pt x="425665" y="600786"/>
                </a:lnTo>
                <a:lnTo>
                  <a:pt x="429412" y="594969"/>
                </a:lnTo>
                <a:lnTo>
                  <a:pt x="435229" y="591223"/>
                </a:lnTo>
                <a:lnTo>
                  <a:pt x="442785" y="589889"/>
                </a:lnTo>
                <a:lnTo>
                  <a:pt x="450342" y="591223"/>
                </a:lnTo>
                <a:lnTo>
                  <a:pt x="456158" y="594969"/>
                </a:lnTo>
                <a:lnTo>
                  <a:pt x="459905" y="600786"/>
                </a:lnTo>
                <a:lnTo>
                  <a:pt x="461238" y="608330"/>
                </a:lnTo>
                <a:lnTo>
                  <a:pt x="461238" y="523798"/>
                </a:lnTo>
                <a:lnTo>
                  <a:pt x="440715" y="531368"/>
                </a:lnTo>
                <a:lnTo>
                  <a:pt x="388391" y="542925"/>
                </a:lnTo>
                <a:lnTo>
                  <a:pt x="326745" y="550379"/>
                </a:lnTo>
                <a:lnTo>
                  <a:pt x="258292" y="553021"/>
                </a:lnTo>
                <a:lnTo>
                  <a:pt x="189826" y="550379"/>
                </a:lnTo>
                <a:lnTo>
                  <a:pt x="128193" y="542925"/>
                </a:lnTo>
                <a:lnTo>
                  <a:pt x="75869" y="531368"/>
                </a:lnTo>
                <a:lnTo>
                  <a:pt x="35394" y="516432"/>
                </a:lnTo>
                <a:lnTo>
                  <a:pt x="0" y="479298"/>
                </a:lnTo>
                <a:lnTo>
                  <a:pt x="0" y="626757"/>
                </a:lnTo>
                <a:lnTo>
                  <a:pt x="35394" y="663905"/>
                </a:lnTo>
                <a:lnTo>
                  <a:pt x="75869" y="678840"/>
                </a:lnTo>
                <a:lnTo>
                  <a:pt x="128193" y="690397"/>
                </a:lnTo>
                <a:lnTo>
                  <a:pt x="189826" y="697852"/>
                </a:lnTo>
                <a:lnTo>
                  <a:pt x="258292" y="700493"/>
                </a:lnTo>
                <a:lnTo>
                  <a:pt x="326745" y="697852"/>
                </a:lnTo>
                <a:lnTo>
                  <a:pt x="388391" y="690397"/>
                </a:lnTo>
                <a:lnTo>
                  <a:pt x="440715" y="678840"/>
                </a:lnTo>
                <a:lnTo>
                  <a:pt x="481190" y="663905"/>
                </a:lnTo>
                <a:lnTo>
                  <a:pt x="516585" y="626757"/>
                </a:lnTo>
                <a:lnTo>
                  <a:pt x="516585" y="589889"/>
                </a:lnTo>
                <a:lnTo>
                  <a:pt x="516585" y="553021"/>
                </a:lnTo>
                <a:lnTo>
                  <a:pt x="516585" y="479298"/>
                </a:lnTo>
                <a:close/>
              </a:path>
              <a:path w="516890" h="701039">
                <a:moveTo>
                  <a:pt x="516585" y="294957"/>
                </a:moveTo>
                <a:lnTo>
                  <a:pt x="507314" y="314502"/>
                </a:lnTo>
                <a:lnTo>
                  <a:pt x="481190" y="332092"/>
                </a:lnTo>
                <a:lnTo>
                  <a:pt x="461238" y="339458"/>
                </a:lnTo>
                <a:lnTo>
                  <a:pt x="461238" y="423989"/>
                </a:lnTo>
                <a:lnTo>
                  <a:pt x="459905" y="431533"/>
                </a:lnTo>
                <a:lnTo>
                  <a:pt x="456158" y="437349"/>
                </a:lnTo>
                <a:lnTo>
                  <a:pt x="450342" y="441096"/>
                </a:lnTo>
                <a:lnTo>
                  <a:pt x="442785" y="442429"/>
                </a:lnTo>
                <a:lnTo>
                  <a:pt x="435229" y="441096"/>
                </a:lnTo>
                <a:lnTo>
                  <a:pt x="429412" y="437349"/>
                </a:lnTo>
                <a:lnTo>
                  <a:pt x="425665" y="431533"/>
                </a:lnTo>
                <a:lnTo>
                  <a:pt x="424332" y="423989"/>
                </a:lnTo>
                <a:lnTo>
                  <a:pt x="425665" y="416445"/>
                </a:lnTo>
                <a:lnTo>
                  <a:pt x="429412" y="410629"/>
                </a:lnTo>
                <a:lnTo>
                  <a:pt x="435229" y="406882"/>
                </a:lnTo>
                <a:lnTo>
                  <a:pt x="442785" y="405561"/>
                </a:lnTo>
                <a:lnTo>
                  <a:pt x="450342" y="406882"/>
                </a:lnTo>
                <a:lnTo>
                  <a:pt x="456158" y="410629"/>
                </a:lnTo>
                <a:lnTo>
                  <a:pt x="459905" y="416445"/>
                </a:lnTo>
                <a:lnTo>
                  <a:pt x="461238" y="423989"/>
                </a:lnTo>
                <a:lnTo>
                  <a:pt x="461238" y="339458"/>
                </a:lnTo>
                <a:lnTo>
                  <a:pt x="440715" y="347027"/>
                </a:lnTo>
                <a:lnTo>
                  <a:pt x="388391" y="358584"/>
                </a:lnTo>
                <a:lnTo>
                  <a:pt x="326745" y="366039"/>
                </a:lnTo>
                <a:lnTo>
                  <a:pt x="258292" y="368693"/>
                </a:lnTo>
                <a:lnTo>
                  <a:pt x="189826" y="366039"/>
                </a:lnTo>
                <a:lnTo>
                  <a:pt x="128193" y="358584"/>
                </a:lnTo>
                <a:lnTo>
                  <a:pt x="75869" y="347027"/>
                </a:lnTo>
                <a:lnTo>
                  <a:pt x="35394" y="332092"/>
                </a:lnTo>
                <a:lnTo>
                  <a:pt x="0" y="294957"/>
                </a:lnTo>
                <a:lnTo>
                  <a:pt x="0" y="442429"/>
                </a:lnTo>
                <a:lnTo>
                  <a:pt x="35394" y="479564"/>
                </a:lnTo>
                <a:lnTo>
                  <a:pt x="75869" y="494499"/>
                </a:lnTo>
                <a:lnTo>
                  <a:pt x="128193" y="506056"/>
                </a:lnTo>
                <a:lnTo>
                  <a:pt x="189826" y="513511"/>
                </a:lnTo>
                <a:lnTo>
                  <a:pt x="258292" y="516153"/>
                </a:lnTo>
                <a:lnTo>
                  <a:pt x="326745" y="513511"/>
                </a:lnTo>
                <a:lnTo>
                  <a:pt x="388391" y="506056"/>
                </a:lnTo>
                <a:lnTo>
                  <a:pt x="440715" y="494499"/>
                </a:lnTo>
                <a:lnTo>
                  <a:pt x="481190" y="479564"/>
                </a:lnTo>
                <a:lnTo>
                  <a:pt x="516585" y="442429"/>
                </a:lnTo>
                <a:lnTo>
                  <a:pt x="516585" y="405561"/>
                </a:lnTo>
                <a:lnTo>
                  <a:pt x="516585" y="368693"/>
                </a:lnTo>
                <a:lnTo>
                  <a:pt x="516585" y="294957"/>
                </a:lnTo>
                <a:close/>
              </a:path>
              <a:path w="516890" h="701039">
                <a:moveTo>
                  <a:pt x="516585" y="110617"/>
                </a:moveTo>
                <a:lnTo>
                  <a:pt x="507314" y="130162"/>
                </a:lnTo>
                <a:lnTo>
                  <a:pt x="481190" y="147751"/>
                </a:lnTo>
                <a:lnTo>
                  <a:pt x="461238" y="155117"/>
                </a:lnTo>
                <a:lnTo>
                  <a:pt x="461238" y="239649"/>
                </a:lnTo>
                <a:lnTo>
                  <a:pt x="459905" y="247192"/>
                </a:lnTo>
                <a:lnTo>
                  <a:pt x="456158" y="253022"/>
                </a:lnTo>
                <a:lnTo>
                  <a:pt x="450342" y="256755"/>
                </a:lnTo>
                <a:lnTo>
                  <a:pt x="442785" y="258089"/>
                </a:lnTo>
                <a:lnTo>
                  <a:pt x="435229" y="256755"/>
                </a:lnTo>
                <a:lnTo>
                  <a:pt x="429412" y="253022"/>
                </a:lnTo>
                <a:lnTo>
                  <a:pt x="425665" y="247192"/>
                </a:lnTo>
                <a:lnTo>
                  <a:pt x="424332" y="239649"/>
                </a:lnTo>
                <a:lnTo>
                  <a:pt x="425665" y="232105"/>
                </a:lnTo>
                <a:lnTo>
                  <a:pt x="429412" y="226288"/>
                </a:lnTo>
                <a:lnTo>
                  <a:pt x="435229" y="222542"/>
                </a:lnTo>
                <a:lnTo>
                  <a:pt x="442785" y="221221"/>
                </a:lnTo>
                <a:lnTo>
                  <a:pt x="450342" y="222542"/>
                </a:lnTo>
                <a:lnTo>
                  <a:pt x="456158" y="226288"/>
                </a:lnTo>
                <a:lnTo>
                  <a:pt x="459905" y="232105"/>
                </a:lnTo>
                <a:lnTo>
                  <a:pt x="461238" y="239649"/>
                </a:lnTo>
                <a:lnTo>
                  <a:pt x="461238" y="155117"/>
                </a:lnTo>
                <a:lnTo>
                  <a:pt x="440715" y="162687"/>
                </a:lnTo>
                <a:lnTo>
                  <a:pt x="388391" y="174244"/>
                </a:lnTo>
                <a:lnTo>
                  <a:pt x="326745" y="181698"/>
                </a:lnTo>
                <a:lnTo>
                  <a:pt x="258292" y="184353"/>
                </a:lnTo>
                <a:lnTo>
                  <a:pt x="189826" y="181698"/>
                </a:lnTo>
                <a:lnTo>
                  <a:pt x="128193" y="174244"/>
                </a:lnTo>
                <a:lnTo>
                  <a:pt x="75869" y="162687"/>
                </a:lnTo>
                <a:lnTo>
                  <a:pt x="35394" y="147751"/>
                </a:lnTo>
                <a:lnTo>
                  <a:pt x="0" y="110617"/>
                </a:lnTo>
                <a:lnTo>
                  <a:pt x="0" y="258089"/>
                </a:lnTo>
                <a:lnTo>
                  <a:pt x="35394" y="295224"/>
                </a:lnTo>
                <a:lnTo>
                  <a:pt x="75869" y="310159"/>
                </a:lnTo>
                <a:lnTo>
                  <a:pt x="128193" y="321716"/>
                </a:lnTo>
                <a:lnTo>
                  <a:pt x="189826" y="329171"/>
                </a:lnTo>
                <a:lnTo>
                  <a:pt x="258292" y="331825"/>
                </a:lnTo>
                <a:lnTo>
                  <a:pt x="326745" y="329171"/>
                </a:lnTo>
                <a:lnTo>
                  <a:pt x="388391" y="321716"/>
                </a:lnTo>
                <a:lnTo>
                  <a:pt x="440715" y="310159"/>
                </a:lnTo>
                <a:lnTo>
                  <a:pt x="481190" y="295224"/>
                </a:lnTo>
                <a:lnTo>
                  <a:pt x="516585" y="258089"/>
                </a:lnTo>
                <a:lnTo>
                  <a:pt x="516585" y="221221"/>
                </a:lnTo>
                <a:lnTo>
                  <a:pt x="516585" y="184353"/>
                </a:lnTo>
                <a:lnTo>
                  <a:pt x="516585" y="110617"/>
                </a:lnTo>
                <a:close/>
              </a:path>
              <a:path w="516890" h="701039">
                <a:moveTo>
                  <a:pt x="516585" y="73748"/>
                </a:moveTo>
                <a:lnTo>
                  <a:pt x="481317" y="36525"/>
                </a:lnTo>
                <a:lnTo>
                  <a:pt x="440931" y="21602"/>
                </a:lnTo>
                <a:lnTo>
                  <a:pt x="388658" y="10071"/>
                </a:lnTo>
                <a:lnTo>
                  <a:pt x="326961" y="2628"/>
                </a:lnTo>
                <a:lnTo>
                  <a:pt x="258292" y="0"/>
                </a:lnTo>
                <a:lnTo>
                  <a:pt x="189623" y="2628"/>
                </a:lnTo>
                <a:lnTo>
                  <a:pt x="127927" y="10071"/>
                </a:lnTo>
                <a:lnTo>
                  <a:pt x="75653" y="21602"/>
                </a:lnTo>
                <a:lnTo>
                  <a:pt x="35267" y="36525"/>
                </a:lnTo>
                <a:lnTo>
                  <a:pt x="0" y="73748"/>
                </a:lnTo>
                <a:lnTo>
                  <a:pt x="9220" y="93345"/>
                </a:lnTo>
                <a:lnTo>
                  <a:pt x="75653" y="125882"/>
                </a:lnTo>
                <a:lnTo>
                  <a:pt x="127927" y="137414"/>
                </a:lnTo>
                <a:lnTo>
                  <a:pt x="189623" y="144843"/>
                </a:lnTo>
                <a:lnTo>
                  <a:pt x="258292" y="147485"/>
                </a:lnTo>
                <a:lnTo>
                  <a:pt x="326961" y="144843"/>
                </a:lnTo>
                <a:lnTo>
                  <a:pt x="388658" y="137414"/>
                </a:lnTo>
                <a:lnTo>
                  <a:pt x="440931" y="125882"/>
                </a:lnTo>
                <a:lnTo>
                  <a:pt x="481317" y="110959"/>
                </a:lnTo>
                <a:lnTo>
                  <a:pt x="516585" y="73748"/>
                </a:lnTo>
                <a:close/>
              </a:path>
            </a:pathLst>
          </a:custGeom>
          <a:solidFill>
            <a:srgbClr val="9B9B9B"/>
          </a:solidFill>
        </p:spPr>
        <p:txBody>
          <a:bodyPr wrap="square" lIns="0" tIns="0" rIns="0" bIns="0" rtlCol="0"/>
          <a:lstStyle/>
          <a:p>
            <a:endParaRPr sz="2400"/>
          </a:p>
        </p:txBody>
      </p:sp>
      <p:grpSp>
        <p:nvGrpSpPr>
          <p:cNvPr id="7" name="object 7"/>
          <p:cNvGrpSpPr/>
          <p:nvPr/>
        </p:nvGrpSpPr>
        <p:grpSpPr>
          <a:xfrm>
            <a:off x="2468795" y="2001266"/>
            <a:ext cx="2617893" cy="2959100"/>
            <a:chOff x="1851596" y="1500949"/>
            <a:chExt cx="1963420" cy="2219325"/>
          </a:xfrm>
        </p:grpSpPr>
        <p:sp>
          <p:nvSpPr>
            <p:cNvPr id="8" name="object 8"/>
            <p:cNvSpPr/>
            <p:nvPr/>
          </p:nvSpPr>
          <p:spPr>
            <a:xfrm>
              <a:off x="2286000" y="1505711"/>
              <a:ext cx="1524000" cy="2209800"/>
            </a:xfrm>
            <a:custGeom>
              <a:avLst/>
              <a:gdLst/>
              <a:ahLst/>
              <a:cxnLst/>
              <a:rect l="l" t="t" r="r" b="b"/>
              <a:pathLst>
                <a:path w="1524000" h="2209800">
                  <a:moveTo>
                    <a:pt x="0" y="254000"/>
                  </a:moveTo>
                  <a:lnTo>
                    <a:pt x="4090" y="208328"/>
                  </a:lnTo>
                  <a:lnTo>
                    <a:pt x="15884" y="165349"/>
                  </a:lnTo>
                  <a:lnTo>
                    <a:pt x="34666" y="125777"/>
                  </a:lnTo>
                  <a:lnTo>
                    <a:pt x="59719" y="90328"/>
                  </a:lnTo>
                  <a:lnTo>
                    <a:pt x="90328" y="59719"/>
                  </a:lnTo>
                  <a:lnTo>
                    <a:pt x="125777" y="34666"/>
                  </a:lnTo>
                  <a:lnTo>
                    <a:pt x="165349" y="15884"/>
                  </a:lnTo>
                  <a:lnTo>
                    <a:pt x="208328" y="4090"/>
                  </a:lnTo>
                  <a:lnTo>
                    <a:pt x="254000" y="0"/>
                  </a:lnTo>
                  <a:lnTo>
                    <a:pt x="1270000" y="0"/>
                  </a:lnTo>
                  <a:lnTo>
                    <a:pt x="1315671" y="4090"/>
                  </a:lnTo>
                  <a:lnTo>
                    <a:pt x="1358650" y="15884"/>
                  </a:lnTo>
                  <a:lnTo>
                    <a:pt x="1398222" y="34666"/>
                  </a:lnTo>
                  <a:lnTo>
                    <a:pt x="1433671" y="59719"/>
                  </a:lnTo>
                  <a:lnTo>
                    <a:pt x="1464280" y="90328"/>
                  </a:lnTo>
                  <a:lnTo>
                    <a:pt x="1489333" y="125777"/>
                  </a:lnTo>
                  <a:lnTo>
                    <a:pt x="1508115" y="165349"/>
                  </a:lnTo>
                  <a:lnTo>
                    <a:pt x="1519909" y="208328"/>
                  </a:lnTo>
                  <a:lnTo>
                    <a:pt x="1524000" y="254000"/>
                  </a:lnTo>
                  <a:lnTo>
                    <a:pt x="1524000" y="1955800"/>
                  </a:lnTo>
                  <a:lnTo>
                    <a:pt x="1519909" y="2001471"/>
                  </a:lnTo>
                  <a:lnTo>
                    <a:pt x="1508115" y="2044450"/>
                  </a:lnTo>
                  <a:lnTo>
                    <a:pt x="1489333" y="2084022"/>
                  </a:lnTo>
                  <a:lnTo>
                    <a:pt x="1464280" y="2119471"/>
                  </a:lnTo>
                  <a:lnTo>
                    <a:pt x="1433671" y="2150080"/>
                  </a:lnTo>
                  <a:lnTo>
                    <a:pt x="1398222" y="2175133"/>
                  </a:lnTo>
                  <a:lnTo>
                    <a:pt x="1358650" y="2193915"/>
                  </a:lnTo>
                  <a:lnTo>
                    <a:pt x="1315671" y="2205709"/>
                  </a:lnTo>
                  <a:lnTo>
                    <a:pt x="1270000" y="2209800"/>
                  </a:lnTo>
                  <a:lnTo>
                    <a:pt x="254000" y="2209800"/>
                  </a:lnTo>
                  <a:lnTo>
                    <a:pt x="208328" y="2205709"/>
                  </a:lnTo>
                  <a:lnTo>
                    <a:pt x="165349" y="2193915"/>
                  </a:lnTo>
                  <a:lnTo>
                    <a:pt x="125777" y="2175133"/>
                  </a:lnTo>
                  <a:lnTo>
                    <a:pt x="90328" y="2150080"/>
                  </a:lnTo>
                  <a:lnTo>
                    <a:pt x="59719" y="2119471"/>
                  </a:lnTo>
                  <a:lnTo>
                    <a:pt x="34666" y="2084022"/>
                  </a:lnTo>
                  <a:lnTo>
                    <a:pt x="15884" y="2044450"/>
                  </a:lnTo>
                  <a:lnTo>
                    <a:pt x="4090" y="2001471"/>
                  </a:lnTo>
                  <a:lnTo>
                    <a:pt x="0" y="1955800"/>
                  </a:lnTo>
                  <a:lnTo>
                    <a:pt x="0" y="254000"/>
                  </a:lnTo>
                  <a:close/>
                </a:path>
              </a:pathLst>
            </a:custGeom>
            <a:ln w="9144">
              <a:solidFill>
                <a:srgbClr val="00C3FF"/>
              </a:solidFill>
            </a:ln>
          </p:spPr>
          <p:txBody>
            <a:bodyPr wrap="square" lIns="0" tIns="0" rIns="0" bIns="0" rtlCol="0"/>
            <a:lstStyle/>
            <a:p>
              <a:endParaRPr sz="2400"/>
            </a:p>
          </p:txBody>
        </p:sp>
        <p:sp>
          <p:nvSpPr>
            <p:cNvPr id="9" name="object 9"/>
            <p:cNvSpPr/>
            <p:nvPr/>
          </p:nvSpPr>
          <p:spPr>
            <a:xfrm>
              <a:off x="1864613" y="2184653"/>
              <a:ext cx="462280" cy="160020"/>
            </a:xfrm>
            <a:custGeom>
              <a:avLst/>
              <a:gdLst/>
              <a:ahLst/>
              <a:cxnLst/>
              <a:rect l="l" t="t" r="r" b="b"/>
              <a:pathLst>
                <a:path w="462280" h="160019">
                  <a:moveTo>
                    <a:pt x="381762" y="0"/>
                  </a:moveTo>
                  <a:lnTo>
                    <a:pt x="381762" y="40004"/>
                  </a:lnTo>
                  <a:lnTo>
                    <a:pt x="0" y="40004"/>
                  </a:lnTo>
                  <a:lnTo>
                    <a:pt x="0" y="120014"/>
                  </a:lnTo>
                  <a:lnTo>
                    <a:pt x="381762" y="120014"/>
                  </a:lnTo>
                  <a:lnTo>
                    <a:pt x="381762" y="160019"/>
                  </a:lnTo>
                  <a:lnTo>
                    <a:pt x="461772" y="80009"/>
                  </a:lnTo>
                  <a:lnTo>
                    <a:pt x="381762" y="0"/>
                  </a:lnTo>
                  <a:close/>
                </a:path>
              </a:pathLst>
            </a:custGeom>
            <a:solidFill>
              <a:srgbClr val="00C3FF"/>
            </a:solidFill>
          </p:spPr>
          <p:txBody>
            <a:bodyPr wrap="square" lIns="0" tIns="0" rIns="0" bIns="0" rtlCol="0"/>
            <a:lstStyle/>
            <a:p>
              <a:endParaRPr sz="2400"/>
            </a:p>
          </p:txBody>
        </p:sp>
        <p:sp>
          <p:nvSpPr>
            <p:cNvPr id="10" name="object 10"/>
            <p:cNvSpPr/>
            <p:nvPr/>
          </p:nvSpPr>
          <p:spPr>
            <a:xfrm>
              <a:off x="1864613" y="2184653"/>
              <a:ext cx="462280" cy="160020"/>
            </a:xfrm>
            <a:custGeom>
              <a:avLst/>
              <a:gdLst/>
              <a:ahLst/>
              <a:cxnLst/>
              <a:rect l="l" t="t" r="r" b="b"/>
              <a:pathLst>
                <a:path w="462280" h="160019">
                  <a:moveTo>
                    <a:pt x="0" y="40004"/>
                  </a:moveTo>
                  <a:lnTo>
                    <a:pt x="381762" y="40004"/>
                  </a:lnTo>
                  <a:lnTo>
                    <a:pt x="381762" y="0"/>
                  </a:lnTo>
                  <a:lnTo>
                    <a:pt x="461772" y="80009"/>
                  </a:lnTo>
                  <a:lnTo>
                    <a:pt x="381762" y="160019"/>
                  </a:lnTo>
                  <a:lnTo>
                    <a:pt x="381762" y="120014"/>
                  </a:lnTo>
                  <a:lnTo>
                    <a:pt x="0" y="120014"/>
                  </a:lnTo>
                  <a:lnTo>
                    <a:pt x="0" y="40004"/>
                  </a:lnTo>
                  <a:close/>
                </a:path>
              </a:pathLst>
            </a:custGeom>
            <a:ln w="25908">
              <a:solidFill>
                <a:srgbClr val="008FBB"/>
              </a:solidFill>
            </a:ln>
          </p:spPr>
          <p:txBody>
            <a:bodyPr wrap="square" lIns="0" tIns="0" rIns="0" bIns="0" rtlCol="0"/>
            <a:lstStyle/>
            <a:p>
              <a:endParaRPr sz="2400"/>
            </a:p>
          </p:txBody>
        </p:sp>
        <p:sp>
          <p:nvSpPr>
            <p:cNvPr id="11" name="object 11"/>
            <p:cNvSpPr/>
            <p:nvPr/>
          </p:nvSpPr>
          <p:spPr>
            <a:xfrm>
              <a:off x="1864613" y="2971037"/>
              <a:ext cx="462280" cy="160020"/>
            </a:xfrm>
            <a:custGeom>
              <a:avLst/>
              <a:gdLst/>
              <a:ahLst/>
              <a:cxnLst/>
              <a:rect l="l" t="t" r="r" b="b"/>
              <a:pathLst>
                <a:path w="462280" h="160019">
                  <a:moveTo>
                    <a:pt x="381762" y="0"/>
                  </a:moveTo>
                  <a:lnTo>
                    <a:pt x="381762" y="40005"/>
                  </a:lnTo>
                  <a:lnTo>
                    <a:pt x="0" y="40005"/>
                  </a:lnTo>
                  <a:lnTo>
                    <a:pt x="0" y="120014"/>
                  </a:lnTo>
                  <a:lnTo>
                    <a:pt x="381762" y="120014"/>
                  </a:lnTo>
                  <a:lnTo>
                    <a:pt x="381762" y="160019"/>
                  </a:lnTo>
                  <a:lnTo>
                    <a:pt x="461772" y="80010"/>
                  </a:lnTo>
                  <a:lnTo>
                    <a:pt x="381762" y="0"/>
                  </a:lnTo>
                  <a:close/>
                </a:path>
              </a:pathLst>
            </a:custGeom>
            <a:solidFill>
              <a:srgbClr val="00C3FF"/>
            </a:solidFill>
          </p:spPr>
          <p:txBody>
            <a:bodyPr wrap="square" lIns="0" tIns="0" rIns="0" bIns="0" rtlCol="0"/>
            <a:lstStyle/>
            <a:p>
              <a:endParaRPr sz="2400"/>
            </a:p>
          </p:txBody>
        </p:sp>
        <p:sp>
          <p:nvSpPr>
            <p:cNvPr id="12" name="object 12"/>
            <p:cNvSpPr/>
            <p:nvPr/>
          </p:nvSpPr>
          <p:spPr>
            <a:xfrm>
              <a:off x="1864613" y="2971037"/>
              <a:ext cx="462280" cy="160020"/>
            </a:xfrm>
            <a:custGeom>
              <a:avLst/>
              <a:gdLst/>
              <a:ahLst/>
              <a:cxnLst/>
              <a:rect l="l" t="t" r="r" b="b"/>
              <a:pathLst>
                <a:path w="462280" h="160019">
                  <a:moveTo>
                    <a:pt x="0" y="40005"/>
                  </a:moveTo>
                  <a:lnTo>
                    <a:pt x="381762" y="40005"/>
                  </a:lnTo>
                  <a:lnTo>
                    <a:pt x="381762" y="0"/>
                  </a:lnTo>
                  <a:lnTo>
                    <a:pt x="461772" y="80010"/>
                  </a:lnTo>
                  <a:lnTo>
                    <a:pt x="381762" y="160019"/>
                  </a:lnTo>
                  <a:lnTo>
                    <a:pt x="381762" y="120014"/>
                  </a:lnTo>
                  <a:lnTo>
                    <a:pt x="0" y="120014"/>
                  </a:lnTo>
                  <a:lnTo>
                    <a:pt x="0" y="40005"/>
                  </a:lnTo>
                  <a:close/>
                </a:path>
              </a:pathLst>
            </a:custGeom>
            <a:ln w="25908">
              <a:solidFill>
                <a:srgbClr val="008FBB"/>
              </a:solidFill>
            </a:ln>
          </p:spPr>
          <p:txBody>
            <a:bodyPr wrap="square" lIns="0" tIns="0" rIns="0" bIns="0" rtlCol="0"/>
            <a:lstStyle/>
            <a:p>
              <a:endParaRPr sz="2400"/>
            </a:p>
          </p:txBody>
        </p:sp>
        <p:sp>
          <p:nvSpPr>
            <p:cNvPr id="13" name="object 13"/>
            <p:cNvSpPr/>
            <p:nvPr/>
          </p:nvSpPr>
          <p:spPr>
            <a:xfrm>
              <a:off x="2518143" y="1803336"/>
              <a:ext cx="1202055" cy="1675764"/>
            </a:xfrm>
            <a:custGeom>
              <a:avLst/>
              <a:gdLst/>
              <a:ahLst/>
              <a:cxnLst/>
              <a:rect l="l" t="t" r="r" b="b"/>
              <a:pathLst>
                <a:path w="1202054" h="1675764">
                  <a:moveTo>
                    <a:pt x="564794" y="0"/>
                  </a:moveTo>
                  <a:lnTo>
                    <a:pt x="0" y="0"/>
                  </a:lnTo>
                  <a:lnTo>
                    <a:pt x="0" y="41973"/>
                  </a:lnTo>
                  <a:lnTo>
                    <a:pt x="0" y="127190"/>
                  </a:lnTo>
                  <a:lnTo>
                    <a:pt x="0" y="396849"/>
                  </a:lnTo>
                  <a:lnTo>
                    <a:pt x="564794" y="396849"/>
                  </a:lnTo>
                  <a:lnTo>
                    <a:pt x="564794" y="353999"/>
                  </a:lnTo>
                  <a:lnTo>
                    <a:pt x="564794" y="353606"/>
                  </a:lnTo>
                  <a:lnTo>
                    <a:pt x="564794" y="269011"/>
                  </a:lnTo>
                  <a:lnTo>
                    <a:pt x="522427" y="269011"/>
                  </a:lnTo>
                  <a:lnTo>
                    <a:pt x="522427" y="353606"/>
                  </a:lnTo>
                  <a:lnTo>
                    <a:pt x="381228" y="353606"/>
                  </a:lnTo>
                  <a:lnTo>
                    <a:pt x="381228" y="269011"/>
                  </a:lnTo>
                  <a:lnTo>
                    <a:pt x="352996" y="269011"/>
                  </a:lnTo>
                  <a:lnTo>
                    <a:pt x="352996" y="353606"/>
                  </a:lnTo>
                  <a:lnTo>
                    <a:pt x="211797" y="353606"/>
                  </a:lnTo>
                  <a:lnTo>
                    <a:pt x="211797" y="269011"/>
                  </a:lnTo>
                  <a:lnTo>
                    <a:pt x="183553" y="269011"/>
                  </a:lnTo>
                  <a:lnTo>
                    <a:pt x="183553" y="353606"/>
                  </a:lnTo>
                  <a:lnTo>
                    <a:pt x="42367" y="353606"/>
                  </a:lnTo>
                  <a:lnTo>
                    <a:pt x="42367" y="268389"/>
                  </a:lnTo>
                  <a:lnTo>
                    <a:pt x="564794" y="268389"/>
                  </a:lnTo>
                  <a:lnTo>
                    <a:pt x="564794" y="240690"/>
                  </a:lnTo>
                  <a:lnTo>
                    <a:pt x="564794" y="240398"/>
                  </a:lnTo>
                  <a:lnTo>
                    <a:pt x="564794" y="155714"/>
                  </a:lnTo>
                  <a:lnTo>
                    <a:pt x="522427" y="155714"/>
                  </a:lnTo>
                  <a:lnTo>
                    <a:pt x="522427" y="240398"/>
                  </a:lnTo>
                  <a:lnTo>
                    <a:pt x="381228" y="240398"/>
                  </a:lnTo>
                  <a:lnTo>
                    <a:pt x="381228" y="155714"/>
                  </a:lnTo>
                  <a:lnTo>
                    <a:pt x="352996" y="155714"/>
                  </a:lnTo>
                  <a:lnTo>
                    <a:pt x="352996" y="240398"/>
                  </a:lnTo>
                  <a:lnTo>
                    <a:pt x="211797" y="240398"/>
                  </a:lnTo>
                  <a:lnTo>
                    <a:pt x="211797" y="155714"/>
                  </a:lnTo>
                  <a:lnTo>
                    <a:pt x="183553" y="155714"/>
                  </a:lnTo>
                  <a:lnTo>
                    <a:pt x="183553" y="240398"/>
                  </a:lnTo>
                  <a:lnTo>
                    <a:pt x="42367" y="240398"/>
                  </a:lnTo>
                  <a:lnTo>
                    <a:pt x="42367" y="155181"/>
                  </a:lnTo>
                  <a:lnTo>
                    <a:pt x="564794" y="155181"/>
                  </a:lnTo>
                  <a:lnTo>
                    <a:pt x="564794" y="127381"/>
                  </a:lnTo>
                  <a:lnTo>
                    <a:pt x="564794" y="127190"/>
                  </a:lnTo>
                  <a:lnTo>
                    <a:pt x="564794" y="42405"/>
                  </a:lnTo>
                  <a:lnTo>
                    <a:pt x="522427" y="42405"/>
                  </a:lnTo>
                  <a:lnTo>
                    <a:pt x="522427" y="127190"/>
                  </a:lnTo>
                  <a:lnTo>
                    <a:pt x="381228" y="127190"/>
                  </a:lnTo>
                  <a:lnTo>
                    <a:pt x="381228" y="42405"/>
                  </a:lnTo>
                  <a:lnTo>
                    <a:pt x="352996" y="42405"/>
                  </a:lnTo>
                  <a:lnTo>
                    <a:pt x="352996" y="127190"/>
                  </a:lnTo>
                  <a:lnTo>
                    <a:pt x="211797" y="127190"/>
                  </a:lnTo>
                  <a:lnTo>
                    <a:pt x="211797" y="42405"/>
                  </a:lnTo>
                  <a:lnTo>
                    <a:pt x="183553" y="42405"/>
                  </a:lnTo>
                  <a:lnTo>
                    <a:pt x="183553" y="127190"/>
                  </a:lnTo>
                  <a:lnTo>
                    <a:pt x="42367" y="127190"/>
                  </a:lnTo>
                  <a:lnTo>
                    <a:pt x="42367" y="41973"/>
                  </a:lnTo>
                  <a:lnTo>
                    <a:pt x="564794" y="41973"/>
                  </a:lnTo>
                  <a:lnTo>
                    <a:pt x="564794" y="0"/>
                  </a:lnTo>
                  <a:close/>
                </a:path>
                <a:path w="1202054" h="1675764">
                  <a:moveTo>
                    <a:pt x="836066" y="1278636"/>
                  </a:moveTo>
                  <a:lnTo>
                    <a:pt x="271272" y="1278636"/>
                  </a:lnTo>
                  <a:lnTo>
                    <a:pt x="271272" y="1320609"/>
                  </a:lnTo>
                  <a:lnTo>
                    <a:pt x="271272" y="1405826"/>
                  </a:lnTo>
                  <a:lnTo>
                    <a:pt x="271272" y="1675485"/>
                  </a:lnTo>
                  <a:lnTo>
                    <a:pt x="836066" y="1675485"/>
                  </a:lnTo>
                  <a:lnTo>
                    <a:pt x="836066" y="1632635"/>
                  </a:lnTo>
                  <a:lnTo>
                    <a:pt x="836066" y="1632242"/>
                  </a:lnTo>
                  <a:lnTo>
                    <a:pt x="836066" y="1547647"/>
                  </a:lnTo>
                  <a:lnTo>
                    <a:pt x="793699" y="1547647"/>
                  </a:lnTo>
                  <a:lnTo>
                    <a:pt x="793699" y="1632242"/>
                  </a:lnTo>
                  <a:lnTo>
                    <a:pt x="652500" y="1632242"/>
                  </a:lnTo>
                  <a:lnTo>
                    <a:pt x="652500" y="1547647"/>
                  </a:lnTo>
                  <a:lnTo>
                    <a:pt x="624268" y="1547647"/>
                  </a:lnTo>
                  <a:lnTo>
                    <a:pt x="624268" y="1632242"/>
                  </a:lnTo>
                  <a:lnTo>
                    <a:pt x="483069" y="1632242"/>
                  </a:lnTo>
                  <a:lnTo>
                    <a:pt x="483069" y="1547647"/>
                  </a:lnTo>
                  <a:lnTo>
                    <a:pt x="454825" y="1547647"/>
                  </a:lnTo>
                  <a:lnTo>
                    <a:pt x="454825" y="1632242"/>
                  </a:lnTo>
                  <a:lnTo>
                    <a:pt x="313639" y="1632242"/>
                  </a:lnTo>
                  <a:lnTo>
                    <a:pt x="313639" y="1547025"/>
                  </a:lnTo>
                  <a:lnTo>
                    <a:pt x="836066" y="1547025"/>
                  </a:lnTo>
                  <a:lnTo>
                    <a:pt x="836066" y="1519326"/>
                  </a:lnTo>
                  <a:lnTo>
                    <a:pt x="836066" y="1519034"/>
                  </a:lnTo>
                  <a:lnTo>
                    <a:pt x="836066" y="1434350"/>
                  </a:lnTo>
                  <a:lnTo>
                    <a:pt x="793699" y="1434350"/>
                  </a:lnTo>
                  <a:lnTo>
                    <a:pt x="793699" y="1519034"/>
                  </a:lnTo>
                  <a:lnTo>
                    <a:pt x="652500" y="1519034"/>
                  </a:lnTo>
                  <a:lnTo>
                    <a:pt x="652500" y="1434350"/>
                  </a:lnTo>
                  <a:lnTo>
                    <a:pt x="624268" y="1434350"/>
                  </a:lnTo>
                  <a:lnTo>
                    <a:pt x="624268" y="1519034"/>
                  </a:lnTo>
                  <a:lnTo>
                    <a:pt x="483069" y="1519034"/>
                  </a:lnTo>
                  <a:lnTo>
                    <a:pt x="483069" y="1434350"/>
                  </a:lnTo>
                  <a:lnTo>
                    <a:pt x="454825" y="1434350"/>
                  </a:lnTo>
                  <a:lnTo>
                    <a:pt x="454825" y="1519034"/>
                  </a:lnTo>
                  <a:lnTo>
                    <a:pt x="313639" y="1519034"/>
                  </a:lnTo>
                  <a:lnTo>
                    <a:pt x="313639" y="1433817"/>
                  </a:lnTo>
                  <a:lnTo>
                    <a:pt x="836066" y="1433817"/>
                  </a:lnTo>
                  <a:lnTo>
                    <a:pt x="836066" y="1406017"/>
                  </a:lnTo>
                  <a:lnTo>
                    <a:pt x="836066" y="1405826"/>
                  </a:lnTo>
                  <a:lnTo>
                    <a:pt x="836066" y="1321041"/>
                  </a:lnTo>
                  <a:lnTo>
                    <a:pt x="793699" y="1321041"/>
                  </a:lnTo>
                  <a:lnTo>
                    <a:pt x="793699" y="1405826"/>
                  </a:lnTo>
                  <a:lnTo>
                    <a:pt x="652500" y="1405826"/>
                  </a:lnTo>
                  <a:lnTo>
                    <a:pt x="652500" y="1321041"/>
                  </a:lnTo>
                  <a:lnTo>
                    <a:pt x="624268" y="1321041"/>
                  </a:lnTo>
                  <a:lnTo>
                    <a:pt x="624268" y="1405826"/>
                  </a:lnTo>
                  <a:lnTo>
                    <a:pt x="483069" y="1405826"/>
                  </a:lnTo>
                  <a:lnTo>
                    <a:pt x="483069" y="1321041"/>
                  </a:lnTo>
                  <a:lnTo>
                    <a:pt x="454825" y="1321041"/>
                  </a:lnTo>
                  <a:lnTo>
                    <a:pt x="454825" y="1405826"/>
                  </a:lnTo>
                  <a:lnTo>
                    <a:pt x="313639" y="1405826"/>
                  </a:lnTo>
                  <a:lnTo>
                    <a:pt x="313639" y="1320609"/>
                  </a:lnTo>
                  <a:lnTo>
                    <a:pt x="836066" y="1320609"/>
                  </a:lnTo>
                  <a:lnTo>
                    <a:pt x="836066" y="1278636"/>
                  </a:lnTo>
                  <a:close/>
                </a:path>
                <a:path w="1202054" h="1675764">
                  <a:moveTo>
                    <a:pt x="1201699" y="491934"/>
                  </a:moveTo>
                  <a:lnTo>
                    <a:pt x="635647" y="491934"/>
                  </a:lnTo>
                  <a:lnTo>
                    <a:pt x="635647" y="533806"/>
                  </a:lnTo>
                  <a:lnTo>
                    <a:pt x="635647" y="618845"/>
                  </a:lnTo>
                  <a:lnTo>
                    <a:pt x="635647" y="887895"/>
                  </a:lnTo>
                  <a:lnTo>
                    <a:pt x="1201699" y="887895"/>
                  </a:lnTo>
                  <a:lnTo>
                    <a:pt x="1201699" y="845134"/>
                  </a:lnTo>
                  <a:lnTo>
                    <a:pt x="1201699" y="844753"/>
                  </a:lnTo>
                  <a:lnTo>
                    <a:pt x="1201699" y="760349"/>
                  </a:lnTo>
                  <a:lnTo>
                    <a:pt x="1159230" y="760349"/>
                  </a:lnTo>
                  <a:lnTo>
                    <a:pt x="1159230" y="844753"/>
                  </a:lnTo>
                  <a:lnTo>
                    <a:pt x="1017727" y="844753"/>
                  </a:lnTo>
                  <a:lnTo>
                    <a:pt x="1017727" y="760349"/>
                  </a:lnTo>
                  <a:lnTo>
                    <a:pt x="989418" y="760349"/>
                  </a:lnTo>
                  <a:lnTo>
                    <a:pt x="989418" y="844753"/>
                  </a:lnTo>
                  <a:lnTo>
                    <a:pt x="847915" y="844753"/>
                  </a:lnTo>
                  <a:lnTo>
                    <a:pt x="847915" y="760349"/>
                  </a:lnTo>
                  <a:lnTo>
                    <a:pt x="819607" y="760349"/>
                  </a:lnTo>
                  <a:lnTo>
                    <a:pt x="819607" y="844753"/>
                  </a:lnTo>
                  <a:lnTo>
                    <a:pt x="678103" y="844753"/>
                  </a:lnTo>
                  <a:lnTo>
                    <a:pt x="678103" y="759714"/>
                  </a:lnTo>
                  <a:lnTo>
                    <a:pt x="1201699" y="759714"/>
                  </a:lnTo>
                  <a:lnTo>
                    <a:pt x="1201699" y="732078"/>
                  </a:lnTo>
                  <a:lnTo>
                    <a:pt x="1201699" y="731799"/>
                  </a:lnTo>
                  <a:lnTo>
                    <a:pt x="1201699" y="647293"/>
                  </a:lnTo>
                  <a:lnTo>
                    <a:pt x="1159230" y="647293"/>
                  </a:lnTo>
                  <a:lnTo>
                    <a:pt x="1159230" y="731799"/>
                  </a:lnTo>
                  <a:lnTo>
                    <a:pt x="1017727" y="731799"/>
                  </a:lnTo>
                  <a:lnTo>
                    <a:pt x="1017727" y="647293"/>
                  </a:lnTo>
                  <a:lnTo>
                    <a:pt x="989418" y="647293"/>
                  </a:lnTo>
                  <a:lnTo>
                    <a:pt x="989418" y="731799"/>
                  </a:lnTo>
                  <a:lnTo>
                    <a:pt x="847915" y="731799"/>
                  </a:lnTo>
                  <a:lnTo>
                    <a:pt x="847915" y="647293"/>
                  </a:lnTo>
                  <a:lnTo>
                    <a:pt x="819607" y="647293"/>
                  </a:lnTo>
                  <a:lnTo>
                    <a:pt x="819607" y="731799"/>
                  </a:lnTo>
                  <a:lnTo>
                    <a:pt x="678103" y="731799"/>
                  </a:lnTo>
                  <a:lnTo>
                    <a:pt x="678103" y="646760"/>
                  </a:lnTo>
                  <a:lnTo>
                    <a:pt x="1201699" y="646760"/>
                  </a:lnTo>
                  <a:lnTo>
                    <a:pt x="1201699" y="619036"/>
                  </a:lnTo>
                  <a:lnTo>
                    <a:pt x="1201699" y="618845"/>
                  </a:lnTo>
                  <a:lnTo>
                    <a:pt x="1201699" y="534238"/>
                  </a:lnTo>
                  <a:lnTo>
                    <a:pt x="1159230" y="534238"/>
                  </a:lnTo>
                  <a:lnTo>
                    <a:pt x="1159230" y="618845"/>
                  </a:lnTo>
                  <a:lnTo>
                    <a:pt x="1017727" y="618845"/>
                  </a:lnTo>
                  <a:lnTo>
                    <a:pt x="1017727" y="534238"/>
                  </a:lnTo>
                  <a:lnTo>
                    <a:pt x="989418" y="534238"/>
                  </a:lnTo>
                  <a:lnTo>
                    <a:pt x="989418" y="618845"/>
                  </a:lnTo>
                  <a:lnTo>
                    <a:pt x="847915" y="618845"/>
                  </a:lnTo>
                  <a:lnTo>
                    <a:pt x="847915" y="534238"/>
                  </a:lnTo>
                  <a:lnTo>
                    <a:pt x="819607" y="534238"/>
                  </a:lnTo>
                  <a:lnTo>
                    <a:pt x="819607" y="618845"/>
                  </a:lnTo>
                  <a:lnTo>
                    <a:pt x="678103" y="618845"/>
                  </a:lnTo>
                  <a:lnTo>
                    <a:pt x="678103" y="533806"/>
                  </a:lnTo>
                  <a:lnTo>
                    <a:pt x="1201699" y="533806"/>
                  </a:lnTo>
                  <a:lnTo>
                    <a:pt x="1201699" y="491934"/>
                  </a:lnTo>
                  <a:close/>
                </a:path>
              </a:pathLst>
            </a:custGeom>
            <a:solidFill>
              <a:srgbClr val="BCBCBC"/>
            </a:solidFill>
          </p:spPr>
          <p:txBody>
            <a:bodyPr wrap="square" lIns="0" tIns="0" rIns="0" bIns="0" rtlCol="0"/>
            <a:lstStyle/>
            <a:p>
              <a:endParaRPr sz="2400"/>
            </a:p>
          </p:txBody>
        </p:sp>
      </p:grpSp>
      <p:sp>
        <p:nvSpPr>
          <p:cNvPr id="14" name="object 14"/>
          <p:cNvSpPr txBox="1"/>
          <p:nvPr/>
        </p:nvSpPr>
        <p:spPr>
          <a:xfrm>
            <a:off x="5473530" y="4948055"/>
            <a:ext cx="1876213" cy="672706"/>
          </a:xfrm>
          <a:prstGeom prst="rect">
            <a:avLst/>
          </a:prstGeom>
        </p:spPr>
        <p:txBody>
          <a:bodyPr vert="horz" wrap="square" lIns="0" tIns="16087" rIns="0" bIns="0" rtlCol="0">
            <a:spAutoFit/>
          </a:bodyPr>
          <a:lstStyle/>
          <a:p>
            <a:pPr algn="ctr">
              <a:spcBef>
                <a:spcPts val="127"/>
              </a:spcBef>
            </a:pPr>
            <a:r>
              <a:rPr sz="2133" dirty="0">
                <a:solidFill>
                  <a:srgbClr val="FFFFFF"/>
                </a:solidFill>
                <a:latin typeface="Calibri"/>
                <a:cs typeface="Calibri"/>
              </a:rPr>
              <a:t>Core</a:t>
            </a:r>
            <a:r>
              <a:rPr sz="2133" spc="-33" dirty="0">
                <a:solidFill>
                  <a:srgbClr val="FFFFFF"/>
                </a:solidFill>
                <a:latin typeface="Calibri"/>
                <a:cs typeface="Calibri"/>
              </a:rPr>
              <a:t> </a:t>
            </a:r>
            <a:r>
              <a:rPr sz="2133" spc="-67" dirty="0">
                <a:solidFill>
                  <a:srgbClr val="FFFFFF"/>
                </a:solidFill>
                <a:latin typeface="Calibri"/>
                <a:cs typeface="Calibri"/>
              </a:rPr>
              <a:t>/</a:t>
            </a:r>
            <a:endParaRPr sz="2133">
              <a:latin typeface="Calibri"/>
              <a:cs typeface="Calibri"/>
            </a:endParaRPr>
          </a:p>
          <a:p>
            <a:pPr algn="ctr">
              <a:spcBef>
                <a:spcPts val="13"/>
              </a:spcBef>
            </a:pPr>
            <a:r>
              <a:rPr sz="2133" dirty="0">
                <a:solidFill>
                  <a:srgbClr val="FFFFFF"/>
                </a:solidFill>
                <a:latin typeface="Calibri"/>
                <a:cs typeface="Calibri"/>
              </a:rPr>
              <a:t>Data</a:t>
            </a:r>
            <a:r>
              <a:rPr sz="2133" spc="-53" dirty="0">
                <a:solidFill>
                  <a:srgbClr val="FFFFFF"/>
                </a:solidFill>
                <a:latin typeface="Calibri"/>
                <a:cs typeface="Calibri"/>
              </a:rPr>
              <a:t> </a:t>
            </a:r>
            <a:r>
              <a:rPr sz="2133" spc="-13" dirty="0">
                <a:solidFill>
                  <a:srgbClr val="FFFFFF"/>
                </a:solidFill>
                <a:latin typeface="Calibri"/>
                <a:cs typeface="Calibri"/>
              </a:rPr>
              <a:t>Warehouse</a:t>
            </a:r>
            <a:endParaRPr sz="2133">
              <a:latin typeface="Calibri"/>
              <a:cs typeface="Calibri"/>
            </a:endParaRPr>
          </a:p>
        </p:txBody>
      </p:sp>
      <p:grpSp>
        <p:nvGrpSpPr>
          <p:cNvPr id="15" name="object 15"/>
          <p:cNvGrpSpPr/>
          <p:nvPr/>
        </p:nvGrpSpPr>
        <p:grpSpPr>
          <a:xfrm>
            <a:off x="5388610" y="2001266"/>
            <a:ext cx="2044700" cy="2959100"/>
            <a:chOff x="4041457" y="1500949"/>
            <a:chExt cx="1533525" cy="2219325"/>
          </a:xfrm>
        </p:grpSpPr>
        <p:sp>
          <p:nvSpPr>
            <p:cNvPr id="16" name="object 16"/>
            <p:cNvSpPr/>
            <p:nvPr/>
          </p:nvSpPr>
          <p:spPr>
            <a:xfrm>
              <a:off x="4046220" y="1505711"/>
              <a:ext cx="1524000" cy="2209800"/>
            </a:xfrm>
            <a:custGeom>
              <a:avLst/>
              <a:gdLst/>
              <a:ahLst/>
              <a:cxnLst/>
              <a:rect l="l" t="t" r="r" b="b"/>
              <a:pathLst>
                <a:path w="1524000" h="2209800">
                  <a:moveTo>
                    <a:pt x="0" y="254000"/>
                  </a:moveTo>
                  <a:lnTo>
                    <a:pt x="4090" y="208328"/>
                  </a:lnTo>
                  <a:lnTo>
                    <a:pt x="15884" y="165349"/>
                  </a:lnTo>
                  <a:lnTo>
                    <a:pt x="34666" y="125777"/>
                  </a:lnTo>
                  <a:lnTo>
                    <a:pt x="59719" y="90328"/>
                  </a:lnTo>
                  <a:lnTo>
                    <a:pt x="90328" y="59719"/>
                  </a:lnTo>
                  <a:lnTo>
                    <a:pt x="125777" y="34666"/>
                  </a:lnTo>
                  <a:lnTo>
                    <a:pt x="165349" y="15884"/>
                  </a:lnTo>
                  <a:lnTo>
                    <a:pt x="208328" y="4090"/>
                  </a:lnTo>
                  <a:lnTo>
                    <a:pt x="254000" y="0"/>
                  </a:lnTo>
                  <a:lnTo>
                    <a:pt x="1270000" y="0"/>
                  </a:lnTo>
                  <a:lnTo>
                    <a:pt x="1315671" y="4090"/>
                  </a:lnTo>
                  <a:lnTo>
                    <a:pt x="1358650" y="15884"/>
                  </a:lnTo>
                  <a:lnTo>
                    <a:pt x="1398222" y="34666"/>
                  </a:lnTo>
                  <a:lnTo>
                    <a:pt x="1433671" y="59719"/>
                  </a:lnTo>
                  <a:lnTo>
                    <a:pt x="1464280" y="90328"/>
                  </a:lnTo>
                  <a:lnTo>
                    <a:pt x="1489333" y="125777"/>
                  </a:lnTo>
                  <a:lnTo>
                    <a:pt x="1508115" y="165349"/>
                  </a:lnTo>
                  <a:lnTo>
                    <a:pt x="1519909" y="208328"/>
                  </a:lnTo>
                  <a:lnTo>
                    <a:pt x="1524000" y="254000"/>
                  </a:lnTo>
                  <a:lnTo>
                    <a:pt x="1524000" y="1955800"/>
                  </a:lnTo>
                  <a:lnTo>
                    <a:pt x="1519909" y="2001471"/>
                  </a:lnTo>
                  <a:lnTo>
                    <a:pt x="1508115" y="2044450"/>
                  </a:lnTo>
                  <a:lnTo>
                    <a:pt x="1489333" y="2084022"/>
                  </a:lnTo>
                  <a:lnTo>
                    <a:pt x="1464280" y="2119471"/>
                  </a:lnTo>
                  <a:lnTo>
                    <a:pt x="1433671" y="2150080"/>
                  </a:lnTo>
                  <a:lnTo>
                    <a:pt x="1398222" y="2175133"/>
                  </a:lnTo>
                  <a:lnTo>
                    <a:pt x="1358650" y="2193915"/>
                  </a:lnTo>
                  <a:lnTo>
                    <a:pt x="1315671" y="2205709"/>
                  </a:lnTo>
                  <a:lnTo>
                    <a:pt x="1270000" y="2209800"/>
                  </a:lnTo>
                  <a:lnTo>
                    <a:pt x="254000" y="2209800"/>
                  </a:lnTo>
                  <a:lnTo>
                    <a:pt x="208328" y="2205709"/>
                  </a:lnTo>
                  <a:lnTo>
                    <a:pt x="165349" y="2193915"/>
                  </a:lnTo>
                  <a:lnTo>
                    <a:pt x="125777" y="2175133"/>
                  </a:lnTo>
                  <a:lnTo>
                    <a:pt x="90328" y="2150080"/>
                  </a:lnTo>
                  <a:lnTo>
                    <a:pt x="59719" y="2119471"/>
                  </a:lnTo>
                  <a:lnTo>
                    <a:pt x="34666" y="2084022"/>
                  </a:lnTo>
                  <a:lnTo>
                    <a:pt x="15884" y="2044450"/>
                  </a:lnTo>
                  <a:lnTo>
                    <a:pt x="4090" y="2001471"/>
                  </a:lnTo>
                  <a:lnTo>
                    <a:pt x="0" y="1955800"/>
                  </a:lnTo>
                  <a:lnTo>
                    <a:pt x="0" y="254000"/>
                  </a:lnTo>
                  <a:close/>
                </a:path>
              </a:pathLst>
            </a:custGeom>
            <a:ln w="9144">
              <a:solidFill>
                <a:srgbClr val="00C3FF"/>
              </a:solidFill>
            </a:ln>
          </p:spPr>
          <p:txBody>
            <a:bodyPr wrap="square" lIns="0" tIns="0" rIns="0" bIns="0" rtlCol="0"/>
            <a:lstStyle/>
            <a:p>
              <a:endParaRPr sz="2400"/>
            </a:p>
          </p:txBody>
        </p:sp>
        <p:sp>
          <p:nvSpPr>
            <p:cNvPr id="17" name="object 17"/>
            <p:cNvSpPr/>
            <p:nvPr/>
          </p:nvSpPr>
          <p:spPr>
            <a:xfrm>
              <a:off x="4526775" y="1951164"/>
              <a:ext cx="581660" cy="1351280"/>
            </a:xfrm>
            <a:custGeom>
              <a:avLst/>
              <a:gdLst/>
              <a:ahLst/>
              <a:cxnLst/>
              <a:rect l="l" t="t" r="r" b="b"/>
              <a:pathLst>
                <a:path w="581660" h="1351279">
                  <a:moveTo>
                    <a:pt x="227647" y="1109738"/>
                  </a:moveTo>
                  <a:lnTo>
                    <a:pt x="199339" y="1109738"/>
                  </a:lnTo>
                  <a:lnTo>
                    <a:pt x="199339" y="1194714"/>
                  </a:lnTo>
                  <a:lnTo>
                    <a:pt x="227647" y="1194714"/>
                  </a:lnTo>
                  <a:lnTo>
                    <a:pt x="227647" y="1109738"/>
                  </a:lnTo>
                  <a:close/>
                </a:path>
                <a:path w="581660" h="1351279">
                  <a:moveTo>
                    <a:pt x="397459" y="1109738"/>
                  </a:moveTo>
                  <a:lnTo>
                    <a:pt x="369150" y="1109738"/>
                  </a:lnTo>
                  <a:lnTo>
                    <a:pt x="369150" y="1194714"/>
                  </a:lnTo>
                  <a:lnTo>
                    <a:pt x="397459" y="1194714"/>
                  </a:lnTo>
                  <a:lnTo>
                    <a:pt x="397459" y="1109738"/>
                  </a:lnTo>
                  <a:close/>
                </a:path>
                <a:path w="581660" h="1351279">
                  <a:moveTo>
                    <a:pt x="564794" y="0"/>
                  </a:moveTo>
                  <a:lnTo>
                    <a:pt x="0" y="0"/>
                  </a:lnTo>
                  <a:lnTo>
                    <a:pt x="0" y="41973"/>
                  </a:lnTo>
                  <a:lnTo>
                    <a:pt x="0" y="127190"/>
                  </a:lnTo>
                  <a:lnTo>
                    <a:pt x="0" y="764298"/>
                  </a:lnTo>
                  <a:lnTo>
                    <a:pt x="564794" y="764298"/>
                  </a:lnTo>
                  <a:lnTo>
                    <a:pt x="564794" y="496214"/>
                  </a:lnTo>
                  <a:lnTo>
                    <a:pt x="522427" y="496214"/>
                  </a:lnTo>
                  <a:lnTo>
                    <a:pt x="522427" y="524167"/>
                  </a:lnTo>
                  <a:lnTo>
                    <a:pt x="522427" y="608012"/>
                  </a:lnTo>
                  <a:lnTo>
                    <a:pt x="522427" y="637235"/>
                  </a:lnTo>
                  <a:lnTo>
                    <a:pt x="522427" y="721093"/>
                  </a:lnTo>
                  <a:lnTo>
                    <a:pt x="381228" y="721093"/>
                  </a:lnTo>
                  <a:lnTo>
                    <a:pt x="381228" y="637235"/>
                  </a:lnTo>
                  <a:lnTo>
                    <a:pt x="522427" y="637235"/>
                  </a:lnTo>
                  <a:lnTo>
                    <a:pt x="522427" y="608012"/>
                  </a:lnTo>
                  <a:lnTo>
                    <a:pt x="381228" y="608012"/>
                  </a:lnTo>
                  <a:lnTo>
                    <a:pt x="381228" y="524167"/>
                  </a:lnTo>
                  <a:lnTo>
                    <a:pt x="522427" y="524167"/>
                  </a:lnTo>
                  <a:lnTo>
                    <a:pt x="522427" y="496214"/>
                  </a:lnTo>
                  <a:lnTo>
                    <a:pt x="352996" y="496214"/>
                  </a:lnTo>
                  <a:lnTo>
                    <a:pt x="352996" y="524167"/>
                  </a:lnTo>
                  <a:lnTo>
                    <a:pt x="352996" y="608012"/>
                  </a:lnTo>
                  <a:lnTo>
                    <a:pt x="352996" y="637235"/>
                  </a:lnTo>
                  <a:lnTo>
                    <a:pt x="352996" y="721093"/>
                  </a:lnTo>
                  <a:lnTo>
                    <a:pt x="211797" y="721093"/>
                  </a:lnTo>
                  <a:lnTo>
                    <a:pt x="211797" y="637235"/>
                  </a:lnTo>
                  <a:lnTo>
                    <a:pt x="352996" y="637235"/>
                  </a:lnTo>
                  <a:lnTo>
                    <a:pt x="352996" y="608012"/>
                  </a:lnTo>
                  <a:lnTo>
                    <a:pt x="211797" y="608012"/>
                  </a:lnTo>
                  <a:lnTo>
                    <a:pt x="211797" y="524167"/>
                  </a:lnTo>
                  <a:lnTo>
                    <a:pt x="352996" y="524167"/>
                  </a:lnTo>
                  <a:lnTo>
                    <a:pt x="352996" y="496214"/>
                  </a:lnTo>
                  <a:lnTo>
                    <a:pt x="183553" y="496214"/>
                  </a:lnTo>
                  <a:lnTo>
                    <a:pt x="183553" y="524167"/>
                  </a:lnTo>
                  <a:lnTo>
                    <a:pt x="183553" y="608012"/>
                  </a:lnTo>
                  <a:lnTo>
                    <a:pt x="183553" y="637235"/>
                  </a:lnTo>
                  <a:lnTo>
                    <a:pt x="183553" y="721093"/>
                  </a:lnTo>
                  <a:lnTo>
                    <a:pt x="42367" y="721093"/>
                  </a:lnTo>
                  <a:lnTo>
                    <a:pt x="42367" y="637235"/>
                  </a:lnTo>
                  <a:lnTo>
                    <a:pt x="183553" y="637235"/>
                  </a:lnTo>
                  <a:lnTo>
                    <a:pt x="183553" y="608012"/>
                  </a:lnTo>
                  <a:lnTo>
                    <a:pt x="42367" y="608012"/>
                  </a:lnTo>
                  <a:lnTo>
                    <a:pt x="42367" y="524167"/>
                  </a:lnTo>
                  <a:lnTo>
                    <a:pt x="183553" y="524167"/>
                  </a:lnTo>
                  <a:lnTo>
                    <a:pt x="183553" y="496214"/>
                  </a:lnTo>
                  <a:lnTo>
                    <a:pt x="42367" y="496214"/>
                  </a:lnTo>
                  <a:lnTo>
                    <a:pt x="42367" y="411086"/>
                  </a:lnTo>
                  <a:lnTo>
                    <a:pt x="183553" y="411086"/>
                  </a:lnTo>
                  <a:lnTo>
                    <a:pt x="183553" y="495592"/>
                  </a:lnTo>
                  <a:lnTo>
                    <a:pt x="211797" y="495592"/>
                  </a:lnTo>
                  <a:lnTo>
                    <a:pt x="211797" y="411086"/>
                  </a:lnTo>
                  <a:lnTo>
                    <a:pt x="352996" y="411086"/>
                  </a:lnTo>
                  <a:lnTo>
                    <a:pt x="352996" y="495592"/>
                  </a:lnTo>
                  <a:lnTo>
                    <a:pt x="381228" y="495592"/>
                  </a:lnTo>
                  <a:lnTo>
                    <a:pt x="381228" y="411086"/>
                  </a:lnTo>
                  <a:lnTo>
                    <a:pt x="522427" y="411086"/>
                  </a:lnTo>
                  <a:lnTo>
                    <a:pt x="522427" y="495592"/>
                  </a:lnTo>
                  <a:lnTo>
                    <a:pt x="564794" y="495592"/>
                  </a:lnTo>
                  <a:lnTo>
                    <a:pt x="564794" y="269011"/>
                  </a:lnTo>
                  <a:lnTo>
                    <a:pt x="522427" y="269011"/>
                  </a:lnTo>
                  <a:lnTo>
                    <a:pt x="522427" y="353606"/>
                  </a:lnTo>
                  <a:lnTo>
                    <a:pt x="381228" y="353606"/>
                  </a:lnTo>
                  <a:lnTo>
                    <a:pt x="381228" y="269011"/>
                  </a:lnTo>
                  <a:lnTo>
                    <a:pt x="352996" y="269011"/>
                  </a:lnTo>
                  <a:lnTo>
                    <a:pt x="352996" y="353606"/>
                  </a:lnTo>
                  <a:lnTo>
                    <a:pt x="211797" y="353606"/>
                  </a:lnTo>
                  <a:lnTo>
                    <a:pt x="211797" y="269011"/>
                  </a:lnTo>
                  <a:lnTo>
                    <a:pt x="183553" y="269011"/>
                  </a:lnTo>
                  <a:lnTo>
                    <a:pt x="183553" y="353606"/>
                  </a:lnTo>
                  <a:lnTo>
                    <a:pt x="42367" y="353606"/>
                  </a:lnTo>
                  <a:lnTo>
                    <a:pt x="42367" y="268389"/>
                  </a:lnTo>
                  <a:lnTo>
                    <a:pt x="564794" y="268389"/>
                  </a:lnTo>
                  <a:lnTo>
                    <a:pt x="564794" y="240690"/>
                  </a:lnTo>
                  <a:lnTo>
                    <a:pt x="564794" y="240398"/>
                  </a:lnTo>
                  <a:lnTo>
                    <a:pt x="564794" y="155714"/>
                  </a:lnTo>
                  <a:lnTo>
                    <a:pt x="522427" y="155714"/>
                  </a:lnTo>
                  <a:lnTo>
                    <a:pt x="522427" y="240398"/>
                  </a:lnTo>
                  <a:lnTo>
                    <a:pt x="381228" y="240398"/>
                  </a:lnTo>
                  <a:lnTo>
                    <a:pt x="381228" y="155714"/>
                  </a:lnTo>
                  <a:lnTo>
                    <a:pt x="352996" y="155714"/>
                  </a:lnTo>
                  <a:lnTo>
                    <a:pt x="352996" y="240398"/>
                  </a:lnTo>
                  <a:lnTo>
                    <a:pt x="211797" y="240398"/>
                  </a:lnTo>
                  <a:lnTo>
                    <a:pt x="211797" y="155714"/>
                  </a:lnTo>
                  <a:lnTo>
                    <a:pt x="183553" y="155714"/>
                  </a:lnTo>
                  <a:lnTo>
                    <a:pt x="183553" y="240398"/>
                  </a:lnTo>
                  <a:lnTo>
                    <a:pt x="42367" y="240398"/>
                  </a:lnTo>
                  <a:lnTo>
                    <a:pt x="42367" y="155181"/>
                  </a:lnTo>
                  <a:lnTo>
                    <a:pt x="564794" y="155181"/>
                  </a:lnTo>
                  <a:lnTo>
                    <a:pt x="564794" y="127381"/>
                  </a:lnTo>
                  <a:lnTo>
                    <a:pt x="564794" y="127190"/>
                  </a:lnTo>
                  <a:lnTo>
                    <a:pt x="564794" y="42405"/>
                  </a:lnTo>
                  <a:lnTo>
                    <a:pt x="522427" y="42405"/>
                  </a:lnTo>
                  <a:lnTo>
                    <a:pt x="522427" y="127190"/>
                  </a:lnTo>
                  <a:lnTo>
                    <a:pt x="381228" y="127190"/>
                  </a:lnTo>
                  <a:lnTo>
                    <a:pt x="381228" y="42405"/>
                  </a:lnTo>
                  <a:lnTo>
                    <a:pt x="352996" y="42405"/>
                  </a:lnTo>
                  <a:lnTo>
                    <a:pt x="352996" y="127190"/>
                  </a:lnTo>
                  <a:lnTo>
                    <a:pt x="211797" y="127190"/>
                  </a:lnTo>
                  <a:lnTo>
                    <a:pt x="211797" y="42405"/>
                  </a:lnTo>
                  <a:lnTo>
                    <a:pt x="183553" y="42405"/>
                  </a:lnTo>
                  <a:lnTo>
                    <a:pt x="183553" y="127190"/>
                  </a:lnTo>
                  <a:lnTo>
                    <a:pt x="42367" y="127190"/>
                  </a:lnTo>
                  <a:lnTo>
                    <a:pt x="42367" y="41973"/>
                  </a:lnTo>
                  <a:lnTo>
                    <a:pt x="564794" y="41973"/>
                  </a:lnTo>
                  <a:lnTo>
                    <a:pt x="564794" y="0"/>
                  </a:lnTo>
                  <a:close/>
                </a:path>
                <a:path w="581660" h="1351279">
                  <a:moveTo>
                    <a:pt x="581431" y="1109738"/>
                  </a:moveTo>
                  <a:lnTo>
                    <a:pt x="538962" y="1109738"/>
                  </a:lnTo>
                  <a:lnTo>
                    <a:pt x="538962" y="1194714"/>
                  </a:lnTo>
                  <a:lnTo>
                    <a:pt x="581431" y="1194714"/>
                  </a:lnTo>
                  <a:lnTo>
                    <a:pt x="581431" y="1109738"/>
                  </a:lnTo>
                  <a:close/>
                </a:path>
                <a:path w="581660" h="1351279">
                  <a:moveTo>
                    <a:pt x="581431" y="953350"/>
                  </a:moveTo>
                  <a:lnTo>
                    <a:pt x="15379" y="953350"/>
                  </a:lnTo>
                  <a:lnTo>
                    <a:pt x="15379" y="996556"/>
                  </a:lnTo>
                  <a:lnTo>
                    <a:pt x="15379" y="1081684"/>
                  </a:lnTo>
                  <a:lnTo>
                    <a:pt x="15379" y="1351038"/>
                  </a:lnTo>
                  <a:lnTo>
                    <a:pt x="581431" y="1351038"/>
                  </a:lnTo>
                  <a:lnTo>
                    <a:pt x="581431" y="1308023"/>
                  </a:lnTo>
                  <a:lnTo>
                    <a:pt x="581431" y="1307833"/>
                  </a:lnTo>
                  <a:lnTo>
                    <a:pt x="581431" y="1223035"/>
                  </a:lnTo>
                  <a:lnTo>
                    <a:pt x="538962" y="1223035"/>
                  </a:lnTo>
                  <a:lnTo>
                    <a:pt x="538962" y="1307833"/>
                  </a:lnTo>
                  <a:lnTo>
                    <a:pt x="397459" y="1307833"/>
                  </a:lnTo>
                  <a:lnTo>
                    <a:pt x="397459" y="1223035"/>
                  </a:lnTo>
                  <a:lnTo>
                    <a:pt x="369150" y="1223035"/>
                  </a:lnTo>
                  <a:lnTo>
                    <a:pt x="369150" y="1307833"/>
                  </a:lnTo>
                  <a:lnTo>
                    <a:pt x="227647" y="1307833"/>
                  </a:lnTo>
                  <a:lnTo>
                    <a:pt x="227647" y="1223035"/>
                  </a:lnTo>
                  <a:lnTo>
                    <a:pt x="199339" y="1223035"/>
                  </a:lnTo>
                  <a:lnTo>
                    <a:pt x="199339" y="1307833"/>
                  </a:lnTo>
                  <a:lnTo>
                    <a:pt x="57835" y="1307833"/>
                  </a:lnTo>
                  <a:lnTo>
                    <a:pt x="57835" y="1222705"/>
                  </a:lnTo>
                  <a:lnTo>
                    <a:pt x="581431" y="1222705"/>
                  </a:lnTo>
                  <a:lnTo>
                    <a:pt x="581431" y="1194752"/>
                  </a:lnTo>
                  <a:lnTo>
                    <a:pt x="57835" y="1194752"/>
                  </a:lnTo>
                  <a:lnTo>
                    <a:pt x="57835" y="1109637"/>
                  </a:lnTo>
                  <a:lnTo>
                    <a:pt x="581431" y="1109637"/>
                  </a:lnTo>
                  <a:lnTo>
                    <a:pt x="581431" y="1081684"/>
                  </a:lnTo>
                  <a:lnTo>
                    <a:pt x="57835" y="1081684"/>
                  </a:lnTo>
                  <a:lnTo>
                    <a:pt x="57835" y="996556"/>
                  </a:lnTo>
                  <a:lnTo>
                    <a:pt x="199339" y="996556"/>
                  </a:lnTo>
                  <a:lnTo>
                    <a:pt x="199339" y="1081405"/>
                  </a:lnTo>
                  <a:lnTo>
                    <a:pt x="227647" y="1081405"/>
                  </a:lnTo>
                  <a:lnTo>
                    <a:pt x="227647" y="996556"/>
                  </a:lnTo>
                  <a:lnTo>
                    <a:pt x="369150" y="996556"/>
                  </a:lnTo>
                  <a:lnTo>
                    <a:pt x="369150" y="1081405"/>
                  </a:lnTo>
                  <a:lnTo>
                    <a:pt x="397459" y="1081405"/>
                  </a:lnTo>
                  <a:lnTo>
                    <a:pt x="397459" y="996556"/>
                  </a:lnTo>
                  <a:lnTo>
                    <a:pt x="538962" y="996556"/>
                  </a:lnTo>
                  <a:lnTo>
                    <a:pt x="538962" y="1081405"/>
                  </a:lnTo>
                  <a:lnTo>
                    <a:pt x="581431" y="1081405"/>
                  </a:lnTo>
                  <a:lnTo>
                    <a:pt x="581431" y="996556"/>
                  </a:lnTo>
                  <a:lnTo>
                    <a:pt x="581431" y="996429"/>
                  </a:lnTo>
                  <a:lnTo>
                    <a:pt x="581431" y="953350"/>
                  </a:lnTo>
                  <a:close/>
                </a:path>
              </a:pathLst>
            </a:custGeom>
            <a:solidFill>
              <a:srgbClr val="BCBCBC"/>
            </a:solidFill>
          </p:spPr>
          <p:txBody>
            <a:bodyPr wrap="square" lIns="0" tIns="0" rIns="0" bIns="0" rtlCol="0"/>
            <a:lstStyle/>
            <a:p>
              <a:endParaRPr sz="2400"/>
            </a:p>
          </p:txBody>
        </p:sp>
      </p:grpSp>
      <p:sp>
        <p:nvSpPr>
          <p:cNvPr id="18" name="object 18"/>
          <p:cNvSpPr txBox="1"/>
          <p:nvPr/>
        </p:nvSpPr>
        <p:spPr>
          <a:xfrm>
            <a:off x="8219610" y="3444850"/>
            <a:ext cx="1355513"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Data</a:t>
            </a:r>
            <a:r>
              <a:rPr sz="2133" spc="-33" dirty="0">
                <a:solidFill>
                  <a:srgbClr val="FFFFFF"/>
                </a:solidFill>
                <a:latin typeface="Calibri"/>
                <a:cs typeface="Calibri"/>
              </a:rPr>
              <a:t> </a:t>
            </a:r>
            <a:r>
              <a:rPr sz="2133" dirty="0">
                <a:solidFill>
                  <a:srgbClr val="FFFFFF"/>
                </a:solidFill>
                <a:latin typeface="Calibri"/>
                <a:cs typeface="Calibri"/>
              </a:rPr>
              <a:t>Mart</a:t>
            </a:r>
            <a:r>
              <a:rPr sz="2133" spc="-20" dirty="0">
                <a:solidFill>
                  <a:srgbClr val="FFFFFF"/>
                </a:solidFill>
                <a:latin typeface="Calibri"/>
                <a:cs typeface="Calibri"/>
              </a:rPr>
              <a:t> </a:t>
            </a:r>
            <a:r>
              <a:rPr sz="2133" spc="-67" dirty="0">
                <a:solidFill>
                  <a:srgbClr val="FFFFFF"/>
                </a:solidFill>
                <a:latin typeface="Calibri"/>
                <a:cs typeface="Calibri"/>
              </a:rPr>
              <a:t>1</a:t>
            </a:r>
            <a:endParaRPr sz="2133">
              <a:latin typeface="Calibri"/>
              <a:cs typeface="Calibri"/>
            </a:endParaRPr>
          </a:p>
        </p:txBody>
      </p:sp>
      <p:grpSp>
        <p:nvGrpSpPr>
          <p:cNvPr id="19" name="object 19"/>
          <p:cNvGrpSpPr/>
          <p:nvPr/>
        </p:nvGrpSpPr>
        <p:grpSpPr>
          <a:xfrm>
            <a:off x="5021071" y="1660144"/>
            <a:ext cx="5265420" cy="3769360"/>
            <a:chOff x="3765803" y="1245108"/>
            <a:chExt cx="3949065" cy="2827020"/>
          </a:xfrm>
        </p:grpSpPr>
        <p:sp>
          <p:nvSpPr>
            <p:cNvPr id="20" name="object 20"/>
            <p:cNvSpPr/>
            <p:nvPr/>
          </p:nvSpPr>
          <p:spPr>
            <a:xfrm>
              <a:off x="5910071" y="1249680"/>
              <a:ext cx="1524000" cy="1336675"/>
            </a:xfrm>
            <a:custGeom>
              <a:avLst/>
              <a:gdLst/>
              <a:ahLst/>
              <a:cxnLst/>
              <a:rect l="l" t="t" r="r" b="b"/>
              <a:pathLst>
                <a:path w="1524000" h="1336675">
                  <a:moveTo>
                    <a:pt x="0" y="222758"/>
                  </a:moveTo>
                  <a:lnTo>
                    <a:pt x="4524" y="177853"/>
                  </a:lnTo>
                  <a:lnTo>
                    <a:pt x="17500" y="136034"/>
                  </a:lnTo>
                  <a:lnTo>
                    <a:pt x="38033" y="98195"/>
                  </a:lnTo>
                  <a:lnTo>
                    <a:pt x="65230" y="65230"/>
                  </a:lnTo>
                  <a:lnTo>
                    <a:pt x="98195" y="38033"/>
                  </a:lnTo>
                  <a:lnTo>
                    <a:pt x="136034" y="17500"/>
                  </a:lnTo>
                  <a:lnTo>
                    <a:pt x="177853" y="4524"/>
                  </a:lnTo>
                  <a:lnTo>
                    <a:pt x="222757" y="0"/>
                  </a:lnTo>
                  <a:lnTo>
                    <a:pt x="1301242" y="0"/>
                  </a:lnTo>
                  <a:lnTo>
                    <a:pt x="1346146" y="4524"/>
                  </a:lnTo>
                  <a:lnTo>
                    <a:pt x="1387965" y="17500"/>
                  </a:lnTo>
                  <a:lnTo>
                    <a:pt x="1425804" y="38033"/>
                  </a:lnTo>
                  <a:lnTo>
                    <a:pt x="1458769" y="65230"/>
                  </a:lnTo>
                  <a:lnTo>
                    <a:pt x="1485966" y="98195"/>
                  </a:lnTo>
                  <a:lnTo>
                    <a:pt x="1506499" y="136034"/>
                  </a:lnTo>
                  <a:lnTo>
                    <a:pt x="1519475" y="177853"/>
                  </a:lnTo>
                  <a:lnTo>
                    <a:pt x="1524000" y="222758"/>
                  </a:lnTo>
                  <a:lnTo>
                    <a:pt x="1524000" y="1113790"/>
                  </a:lnTo>
                  <a:lnTo>
                    <a:pt x="1519475" y="1158694"/>
                  </a:lnTo>
                  <a:lnTo>
                    <a:pt x="1506499" y="1200513"/>
                  </a:lnTo>
                  <a:lnTo>
                    <a:pt x="1485966" y="1238352"/>
                  </a:lnTo>
                  <a:lnTo>
                    <a:pt x="1458769" y="1271317"/>
                  </a:lnTo>
                  <a:lnTo>
                    <a:pt x="1425804" y="1298514"/>
                  </a:lnTo>
                  <a:lnTo>
                    <a:pt x="1387965" y="1319047"/>
                  </a:lnTo>
                  <a:lnTo>
                    <a:pt x="1346146" y="1332023"/>
                  </a:lnTo>
                  <a:lnTo>
                    <a:pt x="1301242" y="1336548"/>
                  </a:lnTo>
                  <a:lnTo>
                    <a:pt x="222757" y="1336548"/>
                  </a:lnTo>
                  <a:lnTo>
                    <a:pt x="177853" y="1332023"/>
                  </a:lnTo>
                  <a:lnTo>
                    <a:pt x="136034" y="1319047"/>
                  </a:lnTo>
                  <a:lnTo>
                    <a:pt x="98195" y="1298514"/>
                  </a:lnTo>
                  <a:lnTo>
                    <a:pt x="65230" y="1271317"/>
                  </a:lnTo>
                  <a:lnTo>
                    <a:pt x="38033" y="1238352"/>
                  </a:lnTo>
                  <a:lnTo>
                    <a:pt x="17500" y="1200513"/>
                  </a:lnTo>
                  <a:lnTo>
                    <a:pt x="4524" y="1158694"/>
                  </a:lnTo>
                  <a:lnTo>
                    <a:pt x="0" y="1113790"/>
                  </a:lnTo>
                  <a:lnTo>
                    <a:pt x="0" y="222758"/>
                  </a:lnTo>
                  <a:close/>
                </a:path>
              </a:pathLst>
            </a:custGeom>
            <a:ln w="9144">
              <a:solidFill>
                <a:srgbClr val="00C3FF"/>
              </a:solidFill>
            </a:ln>
          </p:spPr>
          <p:txBody>
            <a:bodyPr wrap="square" lIns="0" tIns="0" rIns="0" bIns="0" rtlCol="0"/>
            <a:lstStyle/>
            <a:p>
              <a:endParaRPr sz="2400"/>
            </a:p>
          </p:txBody>
        </p:sp>
        <p:sp>
          <p:nvSpPr>
            <p:cNvPr id="21" name="object 21"/>
            <p:cNvSpPr/>
            <p:nvPr/>
          </p:nvSpPr>
          <p:spPr>
            <a:xfrm>
              <a:off x="6095733" y="1432267"/>
              <a:ext cx="1254760" cy="1022985"/>
            </a:xfrm>
            <a:custGeom>
              <a:avLst/>
              <a:gdLst/>
              <a:ahLst/>
              <a:cxnLst/>
              <a:rect l="l" t="t" r="r" b="b"/>
              <a:pathLst>
                <a:path w="1254759" h="1022985">
                  <a:moveTo>
                    <a:pt x="347662" y="780288"/>
                  </a:moveTo>
                  <a:lnTo>
                    <a:pt x="0" y="780288"/>
                  </a:lnTo>
                  <a:lnTo>
                    <a:pt x="0" y="806919"/>
                  </a:lnTo>
                  <a:lnTo>
                    <a:pt x="0" y="858913"/>
                  </a:lnTo>
                  <a:lnTo>
                    <a:pt x="0" y="1022515"/>
                  </a:lnTo>
                  <a:lnTo>
                    <a:pt x="347662" y="1022515"/>
                  </a:lnTo>
                  <a:lnTo>
                    <a:pt x="347662" y="997153"/>
                  </a:lnTo>
                  <a:lnTo>
                    <a:pt x="26073" y="997153"/>
                  </a:lnTo>
                  <a:lnTo>
                    <a:pt x="26073" y="945159"/>
                  </a:lnTo>
                  <a:lnTo>
                    <a:pt x="112979" y="945159"/>
                  </a:lnTo>
                  <a:lnTo>
                    <a:pt x="112979" y="997115"/>
                  </a:lnTo>
                  <a:lnTo>
                    <a:pt x="130365" y="997115"/>
                  </a:lnTo>
                  <a:lnTo>
                    <a:pt x="130365" y="945159"/>
                  </a:lnTo>
                  <a:lnTo>
                    <a:pt x="217284" y="945159"/>
                  </a:lnTo>
                  <a:lnTo>
                    <a:pt x="217284" y="997115"/>
                  </a:lnTo>
                  <a:lnTo>
                    <a:pt x="234657" y="997115"/>
                  </a:lnTo>
                  <a:lnTo>
                    <a:pt x="234657" y="945159"/>
                  </a:lnTo>
                  <a:lnTo>
                    <a:pt x="321576" y="945159"/>
                  </a:lnTo>
                  <a:lnTo>
                    <a:pt x="321576" y="997115"/>
                  </a:lnTo>
                  <a:lnTo>
                    <a:pt x="347662" y="997115"/>
                  </a:lnTo>
                  <a:lnTo>
                    <a:pt x="347662" y="875766"/>
                  </a:lnTo>
                  <a:lnTo>
                    <a:pt x="321576" y="875766"/>
                  </a:lnTo>
                  <a:lnTo>
                    <a:pt x="321576" y="927404"/>
                  </a:lnTo>
                  <a:lnTo>
                    <a:pt x="234657" y="927404"/>
                  </a:lnTo>
                  <a:lnTo>
                    <a:pt x="234657" y="875766"/>
                  </a:lnTo>
                  <a:lnTo>
                    <a:pt x="217284" y="875766"/>
                  </a:lnTo>
                  <a:lnTo>
                    <a:pt x="217284" y="927404"/>
                  </a:lnTo>
                  <a:lnTo>
                    <a:pt x="130365" y="927404"/>
                  </a:lnTo>
                  <a:lnTo>
                    <a:pt x="130365" y="875766"/>
                  </a:lnTo>
                  <a:lnTo>
                    <a:pt x="112979" y="875766"/>
                  </a:lnTo>
                  <a:lnTo>
                    <a:pt x="112979" y="927404"/>
                  </a:lnTo>
                  <a:lnTo>
                    <a:pt x="26073" y="927404"/>
                  </a:lnTo>
                  <a:lnTo>
                    <a:pt x="26073" y="875398"/>
                  </a:lnTo>
                  <a:lnTo>
                    <a:pt x="347662" y="875398"/>
                  </a:lnTo>
                  <a:lnTo>
                    <a:pt x="347662" y="858913"/>
                  </a:lnTo>
                  <a:lnTo>
                    <a:pt x="26073" y="858913"/>
                  </a:lnTo>
                  <a:lnTo>
                    <a:pt x="26073" y="806919"/>
                  </a:lnTo>
                  <a:lnTo>
                    <a:pt x="112979" y="806919"/>
                  </a:lnTo>
                  <a:lnTo>
                    <a:pt x="112979" y="858431"/>
                  </a:lnTo>
                  <a:lnTo>
                    <a:pt x="130365" y="858431"/>
                  </a:lnTo>
                  <a:lnTo>
                    <a:pt x="130365" y="806919"/>
                  </a:lnTo>
                  <a:lnTo>
                    <a:pt x="217284" y="806919"/>
                  </a:lnTo>
                  <a:lnTo>
                    <a:pt x="217284" y="858431"/>
                  </a:lnTo>
                  <a:lnTo>
                    <a:pt x="234657" y="858431"/>
                  </a:lnTo>
                  <a:lnTo>
                    <a:pt x="234657" y="806919"/>
                  </a:lnTo>
                  <a:lnTo>
                    <a:pt x="321576" y="806919"/>
                  </a:lnTo>
                  <a:lnTo>
                    <a:pt x="321576" y="858431"/>
                  </a:lnTo>
                  <a:lnTo>
                    <a:pt x="347662" y="858431"/>
                  </a:lnTo>
                  <a:lnTo>
                    <a:pt x="347662" y="806919"/>
                  </a:lnTo>
                  <a:lnTo>
                    <a:pt x="347662" y="806424"/>
                  </a:lnTo>
                  <a:lnTo>
                    <a:pt x="347662" y="780288"/>
                  </a:lnTo>
                  <a:close/>
                </a:path>
                <a:path w="1254759" h="1022985">
                  <a:moveTo>
                    <a:pt x="347662" y="0"/>
                  </a:moveTo>
                  <a:lnTo>
                    <a:pt x="0" y="0"/>
                  </a:lnTo>
                  <a:lnTo>
                    <a:pt x="0" y="26631"/>
                  </a:lnTo>
                  <a:lnTo>
                    <a:pt x="0" y="78625"/>
                  </a:lnTo>
                  <a:lnTo>
                    <a:pt x="0" y="242227"/>
                  </a:lnTo>
                  <a:lnTo>
                    <a:pt x="347662" y="242227"/>
                  </a:lnTo>
                  <a:lnTo>
                    <a:pt x="347662" y="216865"/>
                  </a:lnTo>
                  <a:lnTo>
                    <a:pt x="26073" y="216865"/>
                  </a:lnTo>
                  <a:lnTo>
                    <a:pt x="26073" y="164871"/>
                  </a:lnTo>
                  <a:lnTo>
                    <a:pt x="112979" y="164871"/>
                  </a:lnTo>
                  <a:lnTo>
                    <a:pt x="112979" y="216827"/>
                  </a:lnTo>
                  <a:lnTo>
                    <a:pt x="130365" y="216827"/>
                  </a:lnTo>
                  <a:lnTo>
                    <a:pt x="130365" y="164871"/>
                  </a:lnTo>
                  <a:lnTo>
                    <a:pt x="217284" y="164871"/>
                  </a:lnTo>
                  <a:lnTo>
                    <a:pt x="217284" y="216827"/>
                  </a:lnTo>
                  <a:lnTo>
                    <a:pt x="234657" y="216827"/>
                  </a:lnTo>
                  <a:lnTo>
                    <a:pt x="234657" y="164871"/>
                  </a:lnTo>
                  <a:lnTo>
                    <a:pt x="321576" y="164871"/>
                  </a:lnTo>
                  <a:lnTo>
                    <a:pt x="321576" y="216827"/>
                  </a:lnTo>
                  <a:lnTo>
                    <a:pt x="347662" y="216827"/>
                  </a:lnTo>
                  <a:lnTo>
                    <a:pt x="347662" y="95478"/>
                  </a:lnTo>
                  <a:lnTo>
                    <a:pt x="321576" y="95478"/>
                  </a:lnTo>
                  <a:lnTo>
                    <a:pt x="321576" y="147116"/>
                  </a:lnTo>
                  <a:lnTo>
                    <a:pt x="234657" y="147116"/>
                  </a:lnTo>
                  <a:lnTo>
                    <a:pt x="234657" y="95478"/>
                  </a:lnTo>
                  <a:lnTo>
                    <a:pt x="217284" y="95478"/>
                  </a:lnTo>
                  <a:lnTo>
                    <a:pt x="217284" y="147116"/>
                  </a:lnTo>
                  <a:lnTo>
                    <a:pt x="130365" y="147116"/>
                  </a:lnTo>
                  <a:lnTo>
                    <a:pt x="130365" y="95478"/>
                  </a:lnTo>
                  <a:lnTo>
                    <a:pt x="112979" y="95478"/>
                  </a:lnTo>
                  <a:lnTo>
                    <a:pt x="112979" y="147116"/>
                  </a:lnTo>
                  <a:lnTo>
                    <a:pt x="26073" y="147116"/>
                  </a:lnTo>
                  <a:lnTo>
                    <a:pt x="26073" y="95110"/>
                  </a:lnTo>
                  <a:lnTo>
                    <a:pt x="347662" y="95110"/>
                  </a:lnTo>
                  <a:lnTo>
                    <a:pt x="347662" y="78625"/>
                  </a:lnTo>
                  <a:lnTo>
                    <a:pt x="26073" y="78625"/>
                  </a:lnTo>
                  <a:lnTo>
                    <a:pt x="26073" y="26631"/>
                  </a:lnTo>
                  <a:lnTo>
                    <a:pt x="112979" y="26631"/>
                  </a:lnTo>
                  <a:lnTo>
                    <a:pt x="112979" y="78143"/>
                  </a:lnTo>
                  <a:lnTo>
                    <a:pt x="130365" y="78143"/>
                  </a:lnTo>
                  <a:lnTo>
                    <a:pt x="130365" y="26631"/>
                  </a:lnTo>
                  <a:lnTo>
                    <a:pt x="217284" y="26631"/>
                  </a:lnTo>
                  <a:lnTo>
                    <a:pt x="217284" y="78143"/>
                  </a:lnTo>
                  <a:lnTo>
                    <a:pt x="234657" y="78143"/>
                  </a:lnTo>
                  <a:lnTo>
                    <a:pt x="234657" y="26631"/>
                  </a:lnTo>
                  <a:lnTo>
                    <a:pt x="321576" y="26631"/>
                  </a:lnTo>
                  <a:lnTo>
                    <a:pt x="321576" y="78143"/>
                  </a:lnTo>
                  <a:lnTo>
                    <a:pt x="347662" y="78143"/>
                  </a:lnTo>
                  <a:lnTo>
                    <a:pt x="347662" y="26631"/>
                  </a:lnTo>
                  <a:lnTo>
                    <a:pt x="347662" y="26136"/>
                  </a:lnTo>
                  <a:lnTo>
                    <a:pt x="347662" y="0"/>
                  </a:lnTo>
                  <a:close/>
                </a:path>
                <a:path w="1254759" h="1022985">
                  <a:moveTo>
                    <a:pt x="551903" y="358368"/>
                  </a:moveTo>
                  <a:lnTo>
                    <a:pt x="534581" y="358368"/>
                  </a:lnTo>
                  <a:lnTo>
                    <a:pt x="534581" y="410375"/>
                  </a:lnTo>
                  <a:lnTo>
                    <a:pt x="551903" y="410375"/>
                  </a:lnTo>
                  <a:lnTo>
                    <a:pt x="551903" y="358368"/>
                  </a:lnTo>
                  <a:close/>
                </a:path>
                <a:path w="1254759" h="1022985">
                  <a:moveTo>
                    <a:pt x="655828" y="358368"/>
                  </a:moveTo>
                  <a:lnTo>
                    <a:pt x="638505" y="358368"/>
                  </a:lnTo>
                  <a:lnTo>
                    <a:pt x="638505" y="410375"/>
                  </a:lnTo>
                  <a:lnTo>
                    <a:pt x="655828" y="410375"/>
                  </a:lnTo>
                  <a:lnTo>
                    <a:pt x="655828" y="358368"/>
                  </a:lnTo>
                  <a:close/>
                </a:path>
                <a:path w="1254759" h="1022985">
                  <a:moveTo>
                    <a:pt x="768413" y="358368"/>
                  </a:moveTo>
                  <a:lnTo>
                    <a:pt x="742429" y="358368"/>
                  </a:lnTo>
                  <a:lnTo>
                    <a:pt x="742429" y="410375"/>
                  </a:lnTo>
                  <a:lnTo>
                    <a:pt x="768413" y="410375"/>
                  </a:lnTo>
                  <a:lnTo>
                    <a:pt x="768413" y="358368"/>
                  </a:lnTo>
                  <a:close/>
                </a:path>
                <a:path w="1254759" h="1022985">
                  <a:moveTo>
                    <a:pt x="768413" y="332892"/>
                  </a:moveTo>
                  <a:lnTo>
                    <a:pt x="422008" y="332892"/>
                  </a:lnTo>
                  <a:lnTo>
                    <a:pt x="422008" y="358305"/>
                  </a:lnTo>
                  <a:lnTo>
                    <a:pt x="422008" y="410400"/>
                  </a:lnTo>
                  <a:lnTo>
                    <a:pt x="422008" y="727976"/>
                  </a:lnTo>
                  <a:lnTo>
                    <a:pt x="768413" y="727976"/>
                  </a:lnTo>
                  <a:lnTo>
                    <a:pt x="768413" y="701294"/>
                  </a:lnTo>
                  <a:lnTo>
                    <a:pt x="447992" y="701294"/>
                  </a:lnTo>
                  <a:lnTo>
                    <a:pt x="447992" y="649198"/>
                  </a:lnTo>
                  <a:lnTo>
                    <a:pt x="768413" y="649198"/>
                  </a:lnTo>
                  <a:lnTo>
                    <a:pt x="768413" y="632675"/>
                  </a:lnTo>
                  <a:lnTo>
                    <a:pt x="447992" y="632675"/>
                  </a:lnTo>
                  <a:lnTo>
                    <a:pt x="447992" y="580593"/>
                  </a:lnTo>
                  <a:lnTo>
                    <a:pt x="768413" y="580593"/>
                  </a:lnTo>
                  <a:lnTo>
                    <a:pt x="768413" y="575576"/>
                  </a:lnTo>
                  <a:lnTo>
                    <a:pt x="768413" y="562800"/>
                  </a:lnTo>
                  <a:lnTo>
                    <a:pt x="768413" y="480275"/>
                  </a:lnTo>
                  <a:lnTo>
                    <a:pt x="742429" y="480275"/>
                  </a:lnTo>
                  <a:lnTo>
                    <a:pt x="742429" y="510705"/>
                  </a:lnTo>
                  <a:lnTo>
                    <a:pt x="742429" y="548894"/>
                  </a:lnTo>
                  <a:lnTo>
                    <a:pt x="655828" y="548894"/>
                  </a:lnTo>
                  <a:lnTo>
                    <a:pt x="655828" y="510705"/>
                  </a:lnTo>
                  <a:lnTo>
                    <a:pt x="742429" y="510705"/>
                  </a:lnTo>
                  <a:lnTo>
                    <a:pt x="742429" y="480275"/>
                  </a:lnTo>
                  <a:lnTo>
                    <a:pt x="638505" y="480275"/>
                  </a:lnTo>
                  <a:lnTo>
                    <a:pt x="638505" y="510705"/>
                  </a:lnTo>
                  <a:lnTo>
                    <a:pt x="638505" y="548894"/>
                  </a:lnTo>
                  <a:lnTo>
                    <a:pt x="551903" y="548894"/>
                  </a:lnTo>
                  <a:lnTo>
                    <a:pt x="551903" y="510705"/>
                  </a:lnTo>
                  <a:lnTo>
                    <a:pt x="638505" y="510705"/>
                  </a:lnTo>
                  <a:lnTo>
                    <a:pt x="638505" y="480275"/>
                  </a:lnTo>
                  <a:lnTo>
                    <a:pt x="534581" y="480275"/>
                  </a:lnTo>
                  <a:lnTo>
                    <a:pt x="534581" y="510705"/>
                  </a:lnTo>
                  <a:lnTo>
                    <a:pt x="534581" y="548894"/>
                  </a:lnTo>
                  <a:lnTo>
                    <a:pt x="447992" y="548894"/>
                  </a:lnTo>
                  <a:lnTo>
                    <a:pt x="447992" y="510705"/>
                  </a:lnTo>
                  <a:lnTo>
                    <a:pt x="534581" y="510705"/>
                  </a:lnTo>
                  <a:lnTo>
                    <a:pt x="534581" y="480275"/>
                  </a:lnTo>
                  <a:lnTo>
                    <a:pt x="447992" y="480275"/>
                  </a:lnTo>
                  <a:lnTo>
                    <a:pt x="447992" y="428193"/>
                  </a:lnTo>
                  <a:lnTo>
                    <a:pt x="534581" y="428193"/>
                  </a:lnTo>
                  <a:lnTo>
                    <a:pt x="534581" y="479717"/>
                  </a:lnTo>
                  <a:lnTo>
                    <a:pt x="551903" y="479717"/>
                  </a:lnTo>
                  <a:lnTo>
                    <a:pt x="551903" y="428193"/>
                  </a:lnTo>
                  <a:lnTo>
                    <a:pt x="638505" y="428193"/>
                  </a:lnTo>
                  <a:lnTo>
                    <a:pt x="638505" y="479717"/>
                  </a:lnTo>
                  <a:lnTo>
                    <a:pt x="655828" y="479717"/>
                  </a:lnTo>
                  <a:lnTo>
                    <a:pt x="655828" y="428193"/>
                  </a:lnTo>
                  <a:lnTo>
                    <a:pt x="742429" y="428193"/>
                  </a:lnTo>
                  <a:lnTo>
                    <a:pt x="742429" y="479717"/>
                  </a:lnTo>
                  <a:lnTo>
                    <a:pt x="768413" y="479717"/>
                  </a:lnTo>
                  <a:lnTo>
                    <a:pt x="768413" y="428193"/>
                  </a:lnTo>
                  <a:lnTo>
                    <a:pt x="768413" y="427710"/>
                  </a:lnTo>
                  <a:lnTo>
                    <a:pt x="768413" y="410400"/>
                  </a:lnTo>
                  <a:lnTo>
                    <a:pt x="447992" y="410400"/>
                  </a:lnTo>
                  <a:lnTo>
                    <a:pt x="447992" y="358305"/>
                  </a:lnTo>
                  <a:lnTo>
                    <a:pt x="768413" y="358305"/>
                  </a:lnTo>
                  <a:lnTo>
                    <a:pt x="768413" y="332892"/>
                  </a:lnTo>
                  <a:close/>
                </a:path>
                <a:path w="1254759" h="1022985">
                  <a:moveTo>
                    <a:pt x="1254442" y="153924"/>
                  </a:moveTo>
                  <a:lnTo>
                    <a:pt x="906780" y="153924"/>
                  </a:lnTo>
                  <a:lnTo>
                    <a:pt x="906780" y="180555"/>
                  </a:lnTo>
                  <a:lnTo>
                    <a:pt x="906780" y="232549"/>
                  </a:lnTo>
                  <a:lnTo>
                    <a:pt x="906780" y="396151"/>
                  </a:lnTo>
                  <a:lnTo>
                    <a:pt x="1254442" y="396151"/>
                  </a:lnTo>
                  <a:lnTo>
                    <a:pt x="1254442" y="370789"/>
                  </a:lnTo>
                  <a:lnTo>
                    <a:pt x="932853" y="370789"/>
                  </a:lnTo>
                  <a:lnTo>
                    <a:pt x="932853" y="318795"/>
                  </a:lnTo>
                  <a:lnTo>
                    <a:pt x="1019759" y="318795"/>
                  </a:lnTo>
                  <a:lnTo>
                    <a:pt x="1019759" y="370751"/>
                  </a:lnTo>
                  <a:lnTo>
                    <a:pt x="1037145" y="370751"/>
                  </a:lnTo>
                  <a:lnTo>
                    <a:pt x="1037145" y="318795"/>
                  </a:lnTo>
                  <a:lnTo>
                    <a:pt x="1124064" y="318795"/>
                  </a:lnTo>
                  <a:lnTo>
                    <a:pt x="1124064" y="370751"/>
                  </a:lnTo>
                  <a:lnTo>
                    <a:pt x="1141450" y="370751"/>
                  </a:lnTo>
                  <a:lnTo>
                    <a:pt x="1141450" y="318795"/>
                  </a:lnTo>
                  <a:lnTo>
                    <a:pt x="1228356" y="318795"/>
                  </a:lnTo>
                  <a:lnTo>
                    <a:pt x="1228356" y="370751"/>
                  </a:lnTo>
                  <a:lnTo>
                    <a:pt x="1254442" y="370751"/>
                  </a:lnTo>
                  <a:lnTo>
                    <a:pt x="1254442" y="249402"/>
                  </a:lnTo>
                  <a:lnTo>
                    <a:pt x="1228356" y="249402"/>
                  </a:lnTo>
                  <a:lnTo>
                    <a:pt x="1228356" y="301040"/>
                  </a:lnTo>
                  <a:lnTo>
                    <a:pt x="1141450" y="301040"/>
                  </a:lnTo>
                  <a:lnTo>
                    <a:pt x="1141450" y="249402"/>
                  </a:lnTo>
                  <a:lnTo>
                    <a:pt x="1124064" y="249402"/>
                  </a:lnTo>
                  <a:lnTo>
                    <a:pt x="1124064" y="301040"/>
                  </a:lnTo>
                  <a:lnTo>
                    <a:pt x="1037145" y="301040"/>
                  </a:lnTo>
                  <a:lnTo>
                    <a:pt x="1037145" y="249402"/>
                  </a:lnTo>
                  <a:lnTo>
                    <a:pt x="1019759" y="249402"/>
                  </a:lnTo>
                  <a:lnTo>
                    <a:pt x="1019759" y="301040"/>
                  </a:lnTo>
                  <a:lnTo>
                    <a:pt x="932853" y="301040"/>
                  </a:lnTo>
                  <a:lnTo>
                    <a:pt x="932853" y="249034"/>
                  </a:lnTo>
                  <a:lnTo>
                    <a:pt x="1254442" y="249034"/>
                  </a:lnTo>
                  <a:lnTo>
                    <a:pt x="1254442" y="232549"/>
                  </a:lnTo>
                  <a:lnTo>
                    <a:pt x="932853" y="232549"/>
                  </a:lnTo>
                  <a:lnTo>
                    <a:pt x="932853" y="180555"/>
                  </a:lnTo>
                  <a:lnTo>
                    <a:pt x="1019759" y="180555"/>
                  </a:lnTo>
                  <a:lnTo>
                    <a:pt x="1019759" y="232067"/>
                  </a:lnTo>
                  <a:lnTo>
                    <a:pt x="1037145" y="232067"/>
                  </a:lnTo>
                  <a:lnTo>
                    <a:pt x="1037145" y="180555"/>
                  </a:lnTo>
                  <a:lnTo>
                    <a:pt x="1124064" y="180555"/>
                  </a:lnTo>
                  <a:lnTo>
                    <a:pt x="1124064" y="232067"/>
                  </a:lnTo>
                  <a:lnTo>
                    <a:pt x="1141450" y="232067"/>
                  </a:lnTo>
                  <a:lnTo>
                    <a:pt x="1141450" y="180555"/>
                  </a:lnTo>
                  <a:lnTo>
                    <a:pt x="1228356" y="180555"/>
                  </a:lnTo>
                  <a:lnTo>
                    <a:pt x="1228356" y="232067"/>
                  </a:lnTo>
                  <a:lnTo>
                    <a:pt x="1254442" y="232067"/>
                  </a:lnTo>
                  <a:lnTo>
                    <a:pt x="1254442" y="180555"/>
                  </a:lnTo>
                  <a:lnTo>
                    <a:pt x="1254442" y="180060"/>
                  </a:lnTo>
                  <a:lnTo>
                    <a:pt x="1254442" y="153924"/>
                  </a:lnTo>
                  <a:close/>
                </a:path>
              </a:pathLst>
            </a:custGeom>
            <a:solidFill>
              <a:srgbClr val="BCBCBC"/>
            </a:solidFill>
          </p:spPr>
          <p:txBody>
            <a:bodyPr wrap="square" lIns="0" tIns="0" rIns="0" bIns="0" rtlCol="0"/>
            <a:lstStyle/>
            <a:p>
              <a:endParaRPr sz="2400"/>
            </a:p>
          </p:txBody>
        </p:sp>
        <p:sp>
          <p:nvSpPr>
            <p:cNvPr id="22" name="object 22"/>
            <p:cNvSpPr/>
            <p:nvPr/>
          </p:nvSpPr>
          <p:spPr>
            <a:xfrm>
              <a:off x="6517741" y="1917560"/>
              <a:ext cx="346710" cy="216535"/>
            </a:xfrm>
            <a:custGeom>
              <a:avLst/>
              <a:gdLst/>
              <a:ahLst/>
              <a:cxnLst/>
              <a:rect l="l" t="t" r="r" b="b"/>
              <a:pathLst>
                <a:path w="346709" h="216535">
                  <a:moveTo>
                    <a:pt x="129895" y="164160"/>
                  </a:moveTo>
                  <a:lnTo>
                    <a:pt x="112572" y="164160"/>
                  </a:lnTo>
                  <a:lnTo>
                    <a:pt x="112572" y="216166"/>
                  </a:lnTo>
                  <a:lnTo>
                    <a:pt x="129895" y="216166"/>
                  </a:lnTo>
                  <a:lnTo>
                    <a:pt x="129895" y="164160"/>
                  </a:lnTo>
                  <a:close/>
                </a:path>
                <a:path w="346709" h="216535">
                  <a:moveTo>
                    <a:pt x="129895" y="94818"/>
                  </a:moveTo>
                  <a:lnTo>
                    <a:pt x="112572" y="94818"/>
                  </a:lnTo>
                  <a:lnTo>
                    <a:pt x="112572" y="146824"/>
                  </a:lnTo>
                  <a:lnTo>
                    <a:pt x="129895" y="146824"/>
                  </a:lnTo>
                  <a:lnTo>
                    <a:pt x="129895" y="94818"/>
                  </a:lnTo>
                  <a:close/>
                </a:path>
                <a:path w="346709" h="216535">
                  <a:moveTo>
                    <a:pt x="129895" y="25476"/>
                  </a:moveTo>
                  <a:lnTo>
                    <a:pt x="112572" y="25476"/>
                  </a:lnTo>
                  <a:lnTo>
                    <a:pt x="112572" y="77482"/>
                  </a:lnTo>
                  <a:lnTo>
                    <a:pt x="129895" y="77482"/>
                  </a:lnTo>
                  <a:lnTo>
                    <a:pt x="129895" y="25476"/>
                  </a:lnTo>
                  <a:close/>
                </a:path>
                <a:path w="346709" h="216535">
                  <a:moveTo>
                    <a:pt x="233819" y="164160"/>
                  </a:moveTo>
                  <a:lnTo>
                    <a:pt x="216496" y="164160"/>
                  </a:lnTo>
                  <a:lnTo>
                    <a:pt x="216496" y="216166"/>
                  </a:lnTo>
                  <a:lnTo>
                    <a:pt x="233819" y="216166"/>
                  </a:lnTo>
                  <a:lnTo>
                    <a:pt x="233819" y="164160"/>
                  </a:lnTo>
                  <a:close/>
                </a:path>
                <a:path w="346709" h="216535">
                  <a:moveTo>
                    <a:pt x="233819" y="94818"/>
                  </a:moveTo>
                  <a:lnTo>
                    <a:pt x="216496" y="94818"/>
                  </a:lnTo>
                  <a:lnTo>
                    <a:pt x="216496" y="146824"/>
                  </a:lnTo>
                  <a:lnTo>
                    <a:pt x="233819" y="146824"/>
                  </a:lnTo>
                  <a:lnTo>
                    <a:pt x="233819" y="94818"/>
                  </a:lnTo>
                  <a:close/>
                </a:path>
                <a:path w="346709" h="216535">
                  <a:moveTo>
                    <a:pt x="233819" y="25476"/>
                  </a:moveTo>
                  <a:lnTo>
                    <a:pt x="216496" y="25476"/>
                  </a:lnTo>
                  <a:lnTo>
                    <a:pt x="216496" y="77482"/>
                  </a:lnTo>
                  <a:lnTo>
                    <a:pt x="233819" y="77482"/>
                  </a:lnTo>
                  <a:lnTo>
                    <a:pt x="233819" y="25476"/>
                  </a:lnTo>
                  <a:close/>
                </a:path>
                <a:path w="346709" h="216535">
                  <a:moveTo>
                    <a:pt x="346405" y="164160"/>
                  </a:moveTo>
                  <a:lnTo>
                    <a:pt x="320421" y="164160"/>
                  </a:lnTo>
                  <a:lnTo>
                    <a:pt x="320421" y="216166"/>
                  </a:lnTo>
                  <a:lnTo>
                    <a:pt x="346405" y="216166"/>
                  </a:lnTo>
                  <a:lnTo>
                    <a:pt x="346405" y="164160"/>
                  </a:lnTo>
                  <a:close/>
                </a:path>
                <a:path w="346709" h="216535">
                  <a:moveTo>
                    <a:pt x="346405" y="94818"/>
                  </a:moveTo>
                  <a:lnTo>
                    <a:pt x="320421" y="94818"/>
                  </a:lnTo>
                  <a:lnTo>
                    <a:pt x="320421" y="146824"/>
                  </a:lnTo>
                  <a:lnTo>
                    <a:pt x="346405" y="146824"/>
                  </a:lnTo>
                  <a:lnTo>
                    <a:pt x="346405" y="94818"/>
                  </a:lnTo>
                  <a:close/>
                </a:path>
                <a:path w="346709" h="216535">
                  <a:moveTo>
                    <a:pt x="346405" y="25476"/>
                  </a:moveTo>
                  <a:lnTo>
                    <a:pt x="320421" y="25476"/>
                  </a:lnTo>
                  <a:lnTo>
                    <a:pt x="320421" y="77482"/>
                  </a:lnTo>
                  <a:lnTo>
                    <a:pt x="346405" y="77482"/>
                  </a:lnTo>
                  <a:lnTo>
                    <a:pt x="346405" y="25476"/>
                  </a:lnTo>
                  <a:close/>
                </a:path>
                <a:path w="346709" h="216535">
                  <a:moveTo>
                    <a:pt x="346405" y="0"/>
                  </a:moveTo>
                  <a:lnTo>
                    <a:pt x="0" y="0"/>
                  </a:lnTo>
                  <a:lnTo>
                    <a:pt x="0" y="25412"/>
                  </a:lnTo>
                  <a:lnTo>
                    <a:pt x="346405" y="25412"/>
                  </a:lnTo>
                  <a:lnTo>
                    <a:pt x="346405" y="0"/>
                  </a:lnTo>
                  <a:close/>
                </a:path>
              </a:pathLst>
            </a:custGeom>
            <a:solidFill>
              <a:srgbClr val="BCBCBC"/>
            </a:solidFill>
          </p:spPr>
          <p:txBody>
            <a:bodyPr wrap="square" lIns="0" tIns="0" rIns="0" bIns="0" rtlCol="0"/>
            <a:lstStyle/>
            <a:p>
              <a:endParaRPr sz="2400"/>
            </a:p>
          </p:txBody>
        </p:sp>
        <p:sp>
          <p:nvSpPr>
            <p:cNvPr id="23" name="object 23"/>
            <p:cNvSpPr/>
            <p:nvPr/>
          </p:nvSpPr>
          <p:spPr>
            <a:xfrm>
              <a:off x="6249161" y="1657350"/>
              <a:ext cx="838835" cy="515620"/>
            </a:xfrm>
            <a:custGeom>
              <a:avLst/>
              <a:gdLst/>
              <a:ahLst/>
              <a:cxnLst/>
              <a:rect l="l" t="t" r="r" b="b"/>
              <a:pathLst>
                <a:path w="838834" h="515619">
                  <a:moveTo>
                    <a:pt x="230886" y="107569"/>
                  </a:moveTo>
                  <a:lnTo>
                    <a:pt x="0" y="0"/>
                  </a:lnTo>
                </a:path>
                <a:path w="838834" h="515619">
                  <a:moveTo>
                    <a:pt x="838327" y="188975"/>
                  </a:moveTo>
                  <a:lnTo>
                    <a:pt x="652271" y="381126"/>
                  </a:lnTo>
                </a:path>
                <a:path w="838834" h="515619">
                  <a:moveTo>
                    <a:pt x="236347" y="323088"/>
                  </a:moveTo>
                  <a:lnTo>
                    <a:pt x="50291" y="515238"/>
                  </a:lnTo>
                </a:path>
              </a:pathLst>
            </a:custGeom>
            <a:ln w="38100">
              <a:solidFill>
                <a:srgbClr val="00C2FF"/>
              </a:solidFill>
            </a:ln>
          </p:spPr>
          <p:txBody>
            <a:bodyPr wrap="square" lIns="0" tIns="0" rIns="0" bIns="0" rtlCol="0"/>
            <a:lstStyle/>
            <a:p>
              <a:endParaRPr sz="2400"/>
            </a:p>
          </p:txBody>
        </p:sp>
        <p:sp>
          <p:nvSpPr>
            <p:cNvPr id="24" name="object 24"/>
            <p:cNvSpPr/>
            <p:nvPr/>
          </p:nvSpPr>
          <p:spPr>
            <a:xfrm>
              <a:off x="5934455" y="2987040"/>
              <a:ext cx="1524000" cy="1080770"/>
            </a:xfrm>
            <a:custGeom>
              <a:avLst/>
              <a:gdLst/>
              <a:ahLst/>
              <a:cxnLst/>
              <a:rect l="l" t="t" r="r" b="b"/>
              <a:pathLst>
                <a:path w="1524000" h="1080770">
                  <a:moveTo>
                    <a:pt x="0" y="180086"/>
                  </a:moveTo>
                  <a:lnTo>
                    <a:pt x="6434" y="132218"/>
                  </a:lnTo>
                  <a:lnTo>
                    <a:pt x="24590" y="89201"/>
                  </a:lnTo>
                  <a:lnTo>
                    <a:pt x="52752" y="52752"/>
                  </a:lnTo>
                  <a:lnTo>
                    <a:pt x="89201" y="24590"/>
                  </a:lnTo>
                  <a:lnTo>
                    <a:pt x="132218" y="6434"/>
                  </a:lnTo>
                  <a:lnTo>
                    <a:pt x="180086" y="0"/>
                  </a:lnTo>
                  <a:lnTo>
                    <a:pt x="1343914" y="0"/>
                  </a:lnTo>
                  <a:lnTo>
                    <a:pt x="1391781" y="6434"/>
                  </a:lnTo>
                  <a:lnTo>
                    <a:pt x="1434798" y="24590"/>
                  </a:lnTo>
                  <a:lnTo>
                    <a:pt x="1471247" y="52752"/>
                  </a:lnTo>
                  <a:lnTo>
                    <a:pt x="1499409" y="89201"/>
                  </a:lnTo>
                  <a:lnTo>
                    <a:pt x="1517565" y="132218"/>
                  </a:lnTo>
                  <a:lnTo>
                    <a:pt x="1524000" y="180086"/>
                  </a:lnTo>
                  <a:lnTo>
                    <a:pt x="1524000" y="900430"/>
                  </a:lnTo>
                  <a:lnTo>
                    <a:pt x="1517565" y="948302"/>
                  </a:lnTo>
                  <a:lnTo>
                    <a:pt x="1499409" y="991320"/>
                  </a:lnTo>
                  <a:lnTo>
                    <a:pt x="1471247" y="1027768"/>
                  </a:lnTo>
                  <a:lnTo>
                    <a:pt x="1434798" y="1055927"/>
                  </a:lnTo>
                  <a:lnTo>
                    <a:pt x="1391781" y="1074082"/>
                  </a:lnTo>
                  <a:lnTo>
                    <a:pt x="1343914" y="1080516"/>
                  </a:lnTo>
                  <a:lnTo>
                    <a:pt x="180086" y="1080516"/>
                  </a:lnTo>
                  <a:lnTo>
                    <a:pt x="132218" y="1074082"/>
                  </a:lnTo>
                  <a:lnTo>
                    <a:pt x="89201" y="1055927"/>
                  </a:lnTo>
                  <a:lnTo>
                    <a:pt x="52752" y="1027768"/>
                  </a:lnTo>
                  <a:lnTo>
                    <a:pt x="24590" y="991320"/>
                  </a:lnTo>
                  <a:lnTo>
                    <a:pt x="6434" y="948302"/>
                  </a:lnTo>
                  <a:lnTo>
                    <a:pt x="0" y="900430"/>
                  </a:lnTo>
                  <a:lnTo>
                    <a:pt x="0" y="180086"/>
                  </a:lnTo>
                  <a:close/>
                </a:path>
              </a:pathLst>
            </a:custGeom>
            <a:ln w="9143">
              <a:solidFill>
                <a:srgbClr val="00C3FF"/>
              </a:solidFill>
            </a:ln>
          </p:spPr>
          <p:txBody>
            <a:bodyPr wrap="square" lIns="0" tIns="0" rIns="0" bIns="0" rtlCol="0"/>
            <a:lstStyle/>
            <a:p>
              <a:endParaRPr sz="2400"/>
            </a:p>
          </p:txBody>
        </p:sp>
        <p:sp>
          <p:nvSpPr>
            <p:cNvPr id="25" name="object 25"/>
            <p:cNvSpPr/>
            <p:nvPr/>
          </p:nvSpPr>
          <p:spPr>
            <a:xfrm>
              <a:off x="6118593" y="3170542"/>
              <a:ext cx="1254760" cy="727075"/>
            </a:xfrm>
            <a:custGeom>
              <a:avLst/>
              <a:gdLst/>
              <a:ahLst/>
              <a:cxnLst/>
              <a:rect l="l" t="t" r="r" b="b"/>
              <a:pathLst>
                <a:path w="1254759" h="727075">
                  <a:moveTo>
                    <a:pt x="347662" y="0"/>
                  </a:moveTo>
                  <a:lnTo>
                    <a:pt x="0" y="0"/>
                  </a:lnTo>
                  <a:lnTo>
                    <a:pt x="0" y="25412"/>
                  </a:lnTo>
                  <a:lnTo>
                    <a:pt x="0" y="77508"/>
                  </a:lnTo>
                  <a:lnTo>
                    <a:pt x="0" y="242671"/>
                  </a:lnTo>
                  <a:lnTo>
                    <a:pt x="347662" y="242684"/>
                  </a:lnTo>
                  <a:lnTo>
                    <a:pt x="347662" y="217271"/>
                  </a:lnTo>
                  <a:lnTo>
                    <a:pt x="26073" y="217271"/>
                  </a:lnTo>
                  <a:lnTo>
                    <a:pt x="26073" y="165176"/>
                  </a:lnTo>
                  <a:lnTo>
                    <a:pt x="112979" y="165176"/>
                  </a:lnTo>
                  <a:lnTo>
                    <a:pt x="112979" y="217017"/>
                  </a:lnTo>
                  <a:lnTo>
                    <a:pt x="130365" y="217017"/>
                  </a:lnTo>
                  <a:lnTo>
                    <a:pt x="130365" y="165176"/>
                  </a:lnTo>
                  <a:lnTo>
                    <a:pt x="217284" y="165176"/>
                  </a:lnTo>
                  <a:lnTo>
                    <a:pt x="217284" y="217017"/>
                  </a:lnTo>
                  <a:lnTo>
                    <a:pt x="234657" y="217017"/>
                  </a:lnTo>
                  <a:lnTo>
                    <a:pt x="234657" y="165176"/>
                  </a:lnTo>
                  <a:lnTo>
                    <a:pt x="321576" y="165176"/>
                  </a:lnTo>
                  <a:lnTo>
                    <a:pt x="321576" y="217017"/>
                  </a:lnTo>
                  <a:lnTo>
                    <a:pt x="347662" y="217017"/>
                  </a:lnTo>
                  <a:lnTo>
                    <a:pt x="347662" y="25641"/>
                  </a:lnTo>
                  <a:lnTo>
                    <a:pt x="321576" y="25641"/>
                  </a:lnTo>
                  <a:lnTo>
                    <a:pt x="321576" y="77508"/>
                  </a:lnTo>
                  <a:lnTo>
                    <a:pt x="321576" y="95300"/>
                  </a:lnTo>
                  <a:lnTo>
                    <a:pt x="321576" y="147383"/>
                  </a:lnTo>
                  <a:lnTo>
                    <a:pt x="234657" y="147383"/>
                  </a:lnTo>
                  <a:lnTo>
                    <a:pt x="234657" y="95300"/>
                  </a:lnTo>
                  <a:lnTo>
                    <a:pt x="321576" y="95300"/>
                  </a:lnTo>
                  <a:lnTo>
                    <a:pt x="321576" y="77508"/>
                  </a:lnTo>
                  <a:lnTo>
                    <a:pt x="234657" y="77508"/>
                  </a:lnTo>
                  <a:lnTo>
                    <a:pt x="234657" y="25641"/>
                  </a:lnTo>
                  <a:lnTo>
                    <a:pt x="217284" y="25641"/>
                  </a:lnTo>
                  <a:lnTo>
                    <a:pt x="217284" y="77508"/>
                  </a:lnTo>
                  <a:lnTo>
                    <a:pt x="217284" y="95300"/>
                  </a:lnTo>
                  <a:lnTo>
                    <a:pt x="217284" y="147383"/>
                  </a:lnTo>
                  <a:lnTo>
                    <a:pt x="130365" y="147383"/>
                  </a:lnTo>
                  <a:lnTo>
                    <a:pt x="130365" y="95300"/>
                  </a:lnTo>
                  <a:lnTo>
                    <a:pt x="217284" y="95300"/>
                  </a:lnTo>
                  <a:lnTo>
                    <a:pt x="217284" y="77508"/>
                  </a:lnTo>
                  <a:lnTo>
                    <a:pt x="130365" y="77508"/>
                  </a:lnTo>
                  <a:lnTo>
                    <a:pt x="130365" y="25641"/>
                  </a:lnTo>
                  <a:lnTo>
                    <a:pt x="112979" y="25641"/>
                  </a:lnTo>
                  <a:lnTo>
                    <a:pt x="112979" y="77508"/>
                  </a:lnTo>
                  <a:lnTo>
                    <a:pt x="112979" y="95300"/>
                  </a:lnTo>
                  <a:lnTo>
                    <a:pt x="112979" y="147383"/>
                  </a:lnTo>
                  <a:lnTo>
                    <a:pt x="26073" y="147383"/>
                  </a:lnTo>
                  <a:lnTo>
                    <a:pt x="26073" y="95300"/>
                  </a:lnTo>
                  <a:lnTo>
                    <a:pt x="112979" y="95300"/>
                  </a:lnTo>
                  <a:lnTo>
                    <a:pt x="112979" y="77508"/>
                  </a:lnTo>
                  <a:lnTo>
                    <a:pt x="26073" y="77508"/>
                  </a:lnTo>
                  <a:lnTo>
                    <a:pt x="26073" y="25412"/>
                  </a:lnTo>
                  <a:lnTo>
                    <a:pt x="347662" y="25412"/>
                  </a:lnTo>
                  <a:lnTo>
                    <a:pt x="347662" y="0"/>
                  </a:lnTo>
                  <a:close/>
                </a:path>
                <a:path w="1254759" h="727075">
                  <a:moveTo>
                    <a:pt x="551903" y="357454"/>
                  </a:moveTo>
                  <a:lnTo>
                    <a:pt x="534581" y="357454"/>
                  </a:lnTo>
                  <a:lnTo>
                    <a:pt x="534581" y="409460"/>
                  </a:lnTo>
                  <a:lnTo>
                    <a:pt x="551903" y="409460"/>
                  </a:lnTo>
                  <a:lnTo>
                    <a:pt x="551903" y="357454"/>
                  </a:lnTo>
                  <a:close/>
                </a:path>
                <a:path w="1254759" h="727075">
                  <a:moveTo>
                    <a:pt x="655828" y="357454"/>
                  </a:moveTo>
                  <a:lnTo>
                    <a:pt x="638505" y="357454"/>
                  </a:lnTo>
                  <a:lnTo>
                    <a:pt x="638505" y="409460"/>
                  </a:lnTo>
                  <a:lnTo>
                    <a:pt x="655828" y="409460"/>
                  </a:lnTo>
                  <a:lnTo>
                    <a:pt x="655828" y="357454"/>
                  </a:lnTo>
                  <a:close/>
                </a:path>
                <a:path w="1254759" h="727075">
                  <a:moveTo>
                    <a:pt x="768413" y="357454"/>
                  </a:moveTo>
                  <a:lnTo>
                    <a:pt x="742429" y="357454"/>
                  </a:lnTo>
                  <a:lnTo>
                    <a:pt x="742429" y="409460"/>
                  </a:lnTo>
                  <a:lnTo>
                    <a:pt x="768413" y="409460"/>
                  </a:lnTo>
                  <a:lnTo>
                    <a:pt x="768413" y="357454"/>
                  </a:lnTo>
                  <a:close/>
                </a:path>
                <a:path w="1254759" h="727075">
                  <a:moveTo>
                    <a:pt x="768413" y="331978"/>
                  </a:moveTo>
                  <a:lnTo>
                    <a:pt x="422008" y="331978"/>
                  </a:lnTo>
                  <a:lnTo>
                    <a:pt x="422008" y="357390"/>
                  </a:lnTo>
                  <a:lnTo>
                    <a:pt x="422008" y="409486"/>
                  </a:lnTo>
                  <a:lnTo>
                    <a:pt x="422008" y="727062"/>
                  </a:lnTo>
                  <a:lnTo>
                    <a:pt x="768413" y="727062"/>
                  </a:lnTo>
                  <a:lnTo>
                    <a:pt x="768413" y="700544"/>
                  </a:lnTo>
                  <a:lnTo>
                    <a:pt x="768413" y="700379"/>
                  </a:lnTo>
                  <a:lnTo>
                    <a:pt x="768413" y="648538"/>
                  </a:lnTo>
                  <a:lnTo>
                    <a:pt x="742429" y="648538"/>
                  </a:lnTo>
                  <a:lnTo>
                    <a:pt x="742429" y="700379"/>
                  </a:lnTo>
                  <a:lnTo>
                    <a:pt x="655828" y="700379"/>
                  </a:lnTo>
                  <a:lnTo>
                    <a:pt x="655828" y="648538"/>
                  </a:lnTo>
                  <a:lnTo>
                    <a:pt x="638505" y="648538"/>
                  </a:lnTo>
                  <a:lnTo>
                    <a:pt x="638505" y="700379"/>
                  </a:lnTo>
                  <a:lnTo>
                    <a:pt x="551903" y="700379"/>
                  </a:lnTo>
                  <a:lnTo>
                    <a:pt x="551903" y="648538"/>
                  </a:lnTo>
                  <a:lnTo>
                    <a:pt x="534581" y="648538"/>
                  </a:lnTo>
                  <a:lnTo>
                    <a:pt x="534581" y="700379"/>
                  </a:lnTo>
                  <a:lnTo>
                    <a:pt x="447992" y="700379"/>
                  </a:lnTo>
                  <a:lnTo>
                    <a:pt x="447992" y="648284"/>
                  </a:lnTo>
                  <a:lnTo>
                    <a:pt x="768413" y="648284"/>
                  </a:lnTo>
                  <a:lnTo>
                    <a:pt x="768413" y="631761"/>
                  </a:lnTo>
                  <a:lnTo>
                    <a:pt x="447992" y="631761"/>
                  </a:lnTo>
                  <a:lnTo>
                    <a:pt x="447992" y="579678"/>
                  </a:lnTo>
                  <a:lnTo>
                    <a:pt x="534581" y="579678"/>
                  </a:lnTo>
                  <a:lnTo>
                    <a:pt x="534581" y="631202"/>
                  </a:lnTo>
                  <a:lnTo>
                    <a:pt x="551903" y="631202"/>
                  </a:lnTo>
                  <a:lnTo>
                    <a:pt x="551903" y="579678"/>
                  </a:lnTo>
                  <a:lnTo>
                    <a:pt x="638505" y="579678"/>
                  </a:lnTo>
                  <a:lnTo>
                    <a:pt x="638505" y="631202"/>
                  </a:lnTo>
                  <a:lnTo>
                    <a:pt x="655828" y="631202"/>
                  </a:lnTo>
                  <a:lnTo>
                    <a:pt x="655828" y="579678"/>
                  </a:lnTo>
                  <a:lnTo>
                    <a:pt x="742429" y="579678"/>
                  </a:lnTo>
                  <a:lnTo>
                    <a:pt x="742429" y="631202"/>
                  </a:lnTo>
                  <a:lnTo>
                    <a:pt x="768413" y="631202"/>
                  </a:lnTo>
                  <a:lnTo>
                    <a:pt x="768413" y="479361"/>
                  </a:lnTo>
                  <a:lnTo>
                    <a:pt x="742429" y="479361"/>
                  </a:lnTo>
                  <a:lnTo>
                    <a:pt x="742429" y="509790"/>
                  </a:lnTo>
                  <a:lnTo>
                    <a:pt x="742429" y="547979"/>
                  </a:lnTo>
                  <a:lnTo>
                    <a:pt x="655828" y="547979"/>
                  </a:lnTo>
                  <a:lnTo>
                    <a:pt x="655828" y="509854"/>
                  </a:lnTo>
                  <a:lnTo>
                    <a:pt x="742429" y="509790"/>
                  </a:lnTo>
                  <a:lnTo>
                    <a:pt x="742429" y="479361"/>
                  </a:lnTo>
                  <a:lnTo>
                    <a:pt x="638505" y="479361"/>
                  </a:lnTo>
                  <a:lnTo>
                    <a:pt x="638505" y="509790"/>
                  </a:lnTo>
                  <a:lnTo>
                    <a:pt x="638505" y="547979"/>
                  </a:lnTo>
                  <a:lnTo>
                    <a:pt x="551903" y="547979"/>
                  </a:lnTo>
                  <a:lnTo>
                    <a:pt x="551903" y="509854"/>
                  </a:lnTo>
                  <a:lnTo>
                    <a:pt x="638505" y="509790"/>
                  </a:lnTo>
                  <a:lnTo>
                    <a:pt x="638505" y="479361"/>
                  </a:lnTo>
                  <a:lnTo>
                    <a:pt x="534581" y="479361"/>
                  </a:lnTo>
                  <a:lnTo>
                    <a:pt x="534581" y="509790"/>
                  </a:lnTo>
                  <a:lnTo>
                    <a:pt x="534581" y="547979"/>
                  </a:lnTo>
                  <a:lnTo>
                    <a:pt x="447992" y="547979"/>
                  </a:lnTo>
                  <a:lnTo>
                    <a:pt x="447992" y="509790"/>
                  </a:lnTo>
                  <a:lnTo>
                    <a:pt x="534581" y="509790"/>
                  </a:lnTo>
                  <a:lnTo>
                    <a:pt x="534581" y="479361"/>
                  </a:lnTo>
                  <a:lnTo>
                    <a:pt x="447992" y="479361"/>
                  </a:lnTo>
                  <a:lnTo>
                    <a:pt x="447992" y="427278"/>
                  </a:lnTo>
                  <a:lnTo>
                    <a:pt x="534581" y="427278"/>
                  </a:lnTo>
                  <a:lnTo>
                    <a:pt x="534581" y="478802"/>
                  </a:lnTo>
                  <a:lnTo>
                    <a:pt x="551903" y="478802"/>
                  </a:lnTo>
                  <a:lnTo>
                    <a:pt x="551903" y="427278"/>
                  </a:lnTo>
                  <a:lnTo>
                    <a:pt x="638505" y="427278"/>
                  </a:lnTo>
                  <a:lnTo>
                    <a:pt x="638505" y="478802"/>
                  </a:lnTo>
                  <a:lnTo>
                    <a:pt x="655828" y="478802"/>
                  </a:lnTo>
                  <a:lnTo>
                    <a:pt x="655828" y="427278"/>
                  </a:lnTo>
                  <a:lnTo>
                    <a:pt x="742429" y="427278"/>
                  </a:lnTo>
                  <a:lnTo>
                    <a:pt x="742429" y="478802"/>
                  </a:lnTo>
                  <a:lnTo>
                    <a:pt x="768413" y="478802"/>
                  </a:lnTo>
                  <a:lnTo>
                    <a:pt x="768413" y="427278"/>
                  </a:lnTo>
                  <a:lnTo>
                    <a:pt x="768413" y="426796"/>
                  </a:lnTo>
                  <a:lnTo>
                    <a:pt x="768413" y="409486"/>
                  </a:lnTo>
                  <a:lnTo>
                    <a:pt x="447992" y="409486"/>
                  </a:lnTo>
                  <a:lnTo>
                    <a:pt x="447992" y="357390"/>
                  </a:lnTo>
                  <a:lnTo>
                    <a:pt x="768413" y="357390"/>
                  </a:lnTo>
                  <a:lnTo>
                    <a:pt x="768413" y="331978"/>
                  </a:lnTo>
                  <a:close/>
                </a:path>
                <a:path w="1254759" h="727075">
                  <a:moveTo>
                    <a:pt x="1038059" y="179146"/>
                  </a:moveTo>
                  <a:lnTo>
                    <a:pt x="1020737" y="179146"/>
                  </a:lnTo>
                  <a:lnTo>
                    <a:pt x="1020737" y="231152"/>
                  </a:lnTo>
                  <a:lnTo>
                    <a:pt x="1038059" y="231152"/>
                  </a:lnTo>
                  <a:lnTo>
                    <a:pt x="1038059" y="179146"/>
                  </a:lnTo>
                  <a:close/>
                </a:path>
                <a:path w="1254759" h="727075">
                  <a:moveTo>
                    <a:pt x="1141984" y="179146"/>
                  </a:moveTo>
                  <a:lnTo>
                    <a:pt x="1124661" y="179146"/>
                  </a:lnTo>
                  <a:lnTo>
                    <a:pt x="1124661" y="231152"/>
                  </a:lnTo>
                  <a:lnTo>
                    <a:pt x="1141984" y="231152"/>
                  </a:lnTo>
                  <a:lnTo>
                    <a:pt x="1141984" y="179146"/>
                  </a:lnTo>
                  <a:close/>
                </a:path>
                <a:path w="1254759" h="727075">
                  <a:moveTo>
                    <a:pt x="1254569" y="179146"/>
                  </a:moveTo>
                  <a:lnTo>
                    <a:pt x="1228585" y="179146"/>
                  </a:lnTo>
                  <a:lnTo>
                    <a:pt x="1228585" y="231152"/>
                  </a:lnTo>
                  <a:lnTo>
                    <a:pt x="1254569" y="231152"/>
                  </a:lnTo>
                  <a:lnTo>
                    <a:pt x="1254569" y="179146"/>
                  </a:lnTo>
                  <a:close/>
                </a:path>
                <a:path w="1254759" h="727075">
                  <a:moveTo>
                    <a:pt x="1254569" y="153670"/>
                  </a:moveTo>
                  <a:lnTo>
                    <a:pt x="908164" y="153670"/>
                  </a:lnTo>
                  <a:lnTo>
                    <a:pt x="908164" y="179082"/>
                  </a:lnTo>
                  <a:lnTo>
                    <a:pt x="908164" y="231178"/>
                  </a:lnTo>
                  <a:lnTo>
                    <a:pt x="908164" y="396354"/>
                  </a:lnTo>
                  <a:lnTo>
                    <a:pt x="1254569" y="396354"/>
                  </a:lnTo>
                  <a:lnTo>
                    <a:pt x="1254569" y="369836"/>
                  </a:lnTo>
                  <a:lnTo>
                    <a:pt x="1254569" y="369671"/>
                  </a:lnTo>
                  <a:lnTo>
                    <a:pt x="1254569" y="317830"/>
                  </a:lnTo>
                  <a:lnTo>
                    <a:pt x="1228585" y="317830"/>
                  </a:lnTo>
                  <a:lnTo>
                    <a:pt x="1228585" y="369671"/>
                  </a:lnTo>
                  <a:lnTo>
                    <a:pt x="1141984" y="369671"/>
                  </a:lnTo>
                  <a:lnTo>
                    <a:pt x="1141984" y="317830"/>
                  </a:lnTo>
                  <a:lnTo>
                    <a:pt x="1124661" y="317830"/>
                  </a:lnTo>
                  <a:lnTo>
                    <a:pt x="1124661" y="369671"/>
                  </a:lnTo>
                  <a:lnTo>
                    <a:pt x="1038059" y="369671"/>
                  </a:lnTo>
                  <a:lnTo>
                    <a:pt x="1038059" y="317830"/>
                  </a:lnTo>
                  <a:lnTo>
                    <a:pt x="1020737" y="317830"/>
                  </a:lnTo>
                  <a:lnTo>
                    <a:pt x="1020737" y="369671"/>
                  </a:lnTo>
                  <a:lnTo>
                    <a:pt x="934148" y="369671"/>
                  </a:lnTo>
                  <a:lnTo>
                    <a:pt x="934148" y="317576"/>
                  </a:lnTo>
                  <a:lnTo>
                    <a:pt x="1254569" y="317576"/>
                  </a:lnTo>
                  <a:lnTo>
                    <a:pt x="1254569" y="301053"/>
                  </a:lnTo>
                  <a:lnTo>
                    <a:pt x="934148" y="301053"/>
                  </a:lnTo>
                  <a:lnTo>
                    <a:pt x="934148" y="248970"/>
                  </a:lnTo>
                  <a:lnTo>
                    <a:pt x="1020737" y="248970"/>
                  </a:lnTo>
                  <a:lnTo>
                    <a:pt x="1020737" y="300494"/>
                  </a:lnTo>
                  <a:lnTo>
                    <a:pt x="1038059" y="300494"/>
                  </a:lnTo>
                  <a:lnTo>
                    <a:pt x="1038059" y="248970"/>
                  </a:lnTo>
                  <a:lnTo>
                    <a:pt x="1124661" y="248970"/>
                  </a:lnTo>
                  <a:lnTo>
                    <a:pt x="1124661" y="300494"/>
                  </a:lnTo>
                  <a:lnTo>
                    <a:pt x="1141984" y="300494"/>
                  </a:lnTo>
                  <a:lnTo>
                    <a:pt x="1141984" y="248970"/>
                  </a:lnTo>
                  <a:lnTo>
                    <a:pt x="1228585" y="248970"/>
                  </a:lnTo>
                  <a:lnTo>
                    <a:pt x="1228585" y="300494"/>
                  </a:lnTo>
                  <a:lnTo>
                    <a:pt x="1254569" y="300494"/>
                  </a:lnTo>
                  <a:lnTo>
                    <a:pt x="1254569" y="248970"/>
                  </a:lnTo>
                  <a:lnTo>
                    <a:pt x="1254569" y="248488"/>
                  </a:lnTo>
                  <a:lnTo>
                    <a:pt x="1254569" y="231178"/>
                  </a:lnTo>
                  <a:lnTo>
                    <a:pt x="934148" y="231178"/>
                  </a:lnTo>
                  <a:lnTo>
                    <a:pt x="934148" y="179082"/>
                  </a:lnTo>
                  <a:lnTo>
                    <a:pt x="1254569" y="179082"/>
                  </a:lnTo>
                  <a:lnTo>
                    <a:pt x="1254569" y="153670"/>
                  </a:lnTo>
                  <a:close/>
                </a:path>
              </a:pathLst>
            </a:custGeom>
            <a:solidFill>
              <a:srgbClr val="BCBCBC"/>
            </a:solidFill>
          </p:spPr>
          <p:txBody>
            <a:bodyPr wrap="square" lIns="0" tIns="0" rIns="0" bIns="0" rtlCol="0"/>
            <a:lstStyle/>
            <a:p>
              <a:endParaRPr sz="2400"/>
            </a:p>
          </p:txBody>
        </p:sp>
        <p:sp>
          <p:nvSpPr>
            <p:cNvPr id="26" name="object 26"/>
            <p:cNvSpPr/>
            <p:nvPr/>
          </p:nvSpPr>
          <p:spPr>
            <a:xfrm>
              <a:off x="6272021" y="3394709"/>
              <a:ext cx="838835" cy="381635"/>
            </a:xfrm>
            <a:custGeom>
              <a:avLst/>
              <a:gdLst/>
              <a:ahLst/>
              <a:cxnLst/>
              <a:rect l="l" t="t" r="r" b="b"/>
              <a:pathLst>
                <a:path w="838834" h="381635">
                  <a:moveTo>
                    <a:pt x="230885" y="107568"/>
                  </a:moveTo>
                  <a:lnTo>
                    <a:pt x="0" y="0"/>
                  </a:lnTo>
                </a:path>
                <a:path w="838834" h="381635">
                  <a:moveTo>
                    <a:pt x="838326" y="188975"/>
                  </a:moveTo>
                  <a:lnTo>
                    <a:pt x="652272" y="381126"/>
                  </a:lnTo>
                </a:path>
              </a:pathLst>
            </a:custGeom>
            <a:ln w="38100">
              <a:solidFill>
                <a:srgbClr val="00C2FF"/>
              </a:solidFill>
            </a:ln>
          </p:spPr>
          <p:txBody>
            <a:bodyPr wrap="square" lIns="0" tIns="0" rIns="0" bIns="0" rtlCol="0"/>
            <a:lstStyle/>
            <a:p>
              <a:endParaRPr sz="2400"/>
            </a:p>
          </p:txBody>
        </p:sp>
        <p:sp>
          <p:nvSpPr>
            <p:cNvPr id="27" name="object 27"/>
            <p:cNvSpPr/>
            <p:nvPr/>
          </p:nvSpPr>
          <p:spPr>
            <a:xfrm>
              <a:off x="3778757" y="2544318"/>
              <a:ext cx="419100" cy="121920"/>
            </a:xfrm>
            <a:custGeom>
              <a:avLst/>
              <a:gdLst/>
              <a:ahLst/>
              <a:cxnLst/>
              <a:rect l="l" t="t" r="r" b="b"/>
              <a:pathLst>
                <a:path w="419100" h="121919">
                  <a:moveTo>
                    <a:pt x="358139" y="0"/>
                  </a:moveTo>
                  <a:lnTo>
                    <a:pt x="358139" y="30480"/>
                  </a:lnTo>
                  <a:lnTo>
                    <a:pt x="0" y="30480"/>
                  </a:lnTo>
                  <a:lnTo>
                    <a:pt x="0" y="91439"/>
                  </a:lnTo>
                  <a:lnTo>
                    <a:pt x="358139" y="91439"/>
                  </a:lnTo>
                  <a:lnTo>
                    <a:pt x="358139" y="121919"/>
                  </a:lnTo>
                  <a:lnTo>
                    <a:pt x="419100" y="60959"/>
                  </a:lnTo>
                  <a:lnTo>
                    <a:pt x="358139" y="0"/>
                  </a:lnTo>
                  <a:close/>
                </a:path>
              </a:pathLst>
            </a:custGeom>
            <a:solidFill>
              <a:srgbClr val="00C3FF"/>
            </a:solidFill>
          </p:spPr>
          <p:txBody>
            <a:bodyPr wrap="square" lIns="0" tIns="0" rIns="0" bIns="0" rtlCol="0"/>
            <a:lstStyle/>
            <a:p>
              <a:endParaRPr sz="2400"/>
            </a:p>
          </p:txBody>
        </p:sp>
        <p:sp>
          <p:nvSpPr>
            <p:cNvPr id="28" name="object 28"/>
            <p:cNvSpPr/>
            <p:nvPr/>
          </p:nvSpPr>
          <p:spPr>
            <a:xfrm>
              <a:off x="3778757" y="2544318"/>
              <a:ext cx="419100" cy="121920"/>
            </a:xfrm>
            <a:custGeom>
              <a:avLst/>
              <a:gdLst/>
              <a:ahLst/>
              <a:cxnLst/>
              <a:rect l="l" t="t" r="r" b="b"/>
              <a:pathLst>
                <a:path w="419100" h="121919">
                  <a:moveTo>
                    <a:pt x="0" y="30480"/>
                  </a:moveTo>
                  <a:lnTo>
                    <a:pt x="358139" y="30480"/>
                  </a:lnTo>
                  <a:lnTo>
                    <a:pt x="358139" y="0"/>
                  </a:lnTo>
                  <a:lnTo>
                    <a:pt x="419100" y="60959"/>
                  </a:lnTo>
                  <a:lnTo>
                    <a:pt x="358139" y="121919"/>
                  </a:lnTo>
                  <a:lnTo>
                    <a:pt x="358139" y="91439"/>
                  </a:lnTo>
                  <a:lnTo>
                    <a:pt x="0" y="91439"/>
                  </a:lnTo>
                  <a:lnTo>
                    <a:pt x="0" y="30480"/>
                  </a:lnTo>
                  <a:close/>
                </a:path>
              </a:pathLst>
            </a:custGeom>
            <a:ln w="25908">
              <a:solidFill>
                <a:srgbClr val="008FBB"/>
              </a:solidFill>
            </a:ln>
          </p:spPr>
          <p:txBody>
            <a:bodyPr wrap="square" lIns="0" tIns="0" rIns="0" bIns="0" rtlCol="0"/>
            <a:lstStyle/>
            <a:p>
              <a:endParaRPr sz="2400"/>
            </a:p>
          </p:txBody>
        </p:sp>
        <p:sp>
          <p:nvSpPr>
            <p:cNvPr id="29" name="object 29"/>
            <p:cNvSpPr/>
            <p:nvPr/>
          </p:nvSpPr>
          <p:spPr>
            <a:xfrm>
              <a:off x="5557265" y="1954530"/>
              <a:ext cx="417830" cy="121920"/>
            </a:xfrm>
            <a:custGeom>
              <a:avLst/>
              <a:gdLst/>
              <a:ahLst/>
              <a:cxnLst/>
              <a:rect l="l" t="t" r="r" b="b"/>
              <a:pathLst>
                <a:path w="417829" h="121919">
                  <a:moveTo>
                    <a:pt x="356616" y="0"/>
                  </a:moveTo>
                  <a:lnTo>
                    <a:pt x="356616" y="30480"/>
                  </a:lnTo>
                  <a:lnTo>
                    <a:pt x="0" y="30480"/>
                  </a:lnTo>
                  <a:lnTo>
                    <a:pt x="0" y="91439"/>
                  </a:lnTo>
                  <a:lnTo>
                    <a:pt x="356616" y="91439"/>
                  </a:lnTo>
                  <a:lnTo>
                    <a:pt x="356616" y="121919"/>
                  </a:lnTo>
                  <a:lnTo>
                    <a:pt x="417575" y="60959"/>
                  </a:lnTo>
                  <a:lnTo>
                    <a:pt x="356616" y="0"/>
                  </a:lnTo>
                  <a:close/>
                </a:path>
              </a:pathLst>
            </a:custGeom>
            <a:solidFill>
              <a:srgbClr val="00C3FF"/>
            </a:solidFill>
          </p:spPr>
          <p:txBody>
            <a:bodyPr wrap="square" lIns="0" tIns="0" rIns="0" bIns="0" rtlCol="0"/>
            <a:lstStyle/>
            <a:p>
              <a:endParaRPr sz="2400"/>
            </a:p>
          </p:txBody>
        </p:sp>
        <p:sp>
          <p:nvSpPr>
            <p:cNvPr id="30" name="object 30"/>
            <p:cNvSpPr/>
            <p:nvPr/>
          </p:nvSpPr>
          <p:spPr>
            <a:xfrm>
              <a:off x="5557265" y="1954530"/>
              <a:ext cx="417830" cy="121920"/>
            </a:xfrm>
            <a:custGeom>
              <a:avLst/>
              <a:gdLst/>
              <a:ahLst/>
              <a:cxnLst/>
              <a:rect l="l" t="t" r="r" b="b"/>
              <a:pathLst>
                <a:path w="417829" h="121919">
                  <a:moveTo>
                    <a:pt x="0" y="30480"/>
                  </a:moveTo>
                  <a:lnTo>
                    <a:pt x="356616" y="30480"/>
                  </a:lnTo>
                  <a:lnTo>
                    <a:pt x="356616" y="0"/>
                  </a:lnTo>
                  <a:lnTo>
                    <a:pt x="417575" y="60959"/>
                  </a:lnTo>
                  <a:lnTo>
                    <a:pt x="356616" y="121919"/>
                  </a:lnTo>
                  <a:lnTo>
                    <a:pt x="356616" y="91439"/>
                  </a:lnTo>
                  <a:lnTo>
                    <a:pt x="0" y="91439"/>
                  </a:lnTo>
                  <a:lnTo>
                    <a:pt x="0" y="30480"/>
                  </a:lnTo>
                  <a:close/>
                </a:path>
              </a:pathLst>
            </a:custGeom>
            <a:ln w="25908">
              <a:solidFill>
                <a:srgbClr val="008FBB"/>
              </a:solidFill>
            </a:ln>
          </p:spPr>
          <p:txBody>
            <a:bodyPr wrap="square" lIns="0" tIns="0" rIns="0" bIns="0" rtlCol="0"/>
            <a:lstStyle/>
            <a:p>
              <a:endParaRPr sz="2400"/>
            </a:p>
          </p:txBody>
        </p:sp>
        <p:sp>
          <p:nvSpPr>
            <p:cNvPr id="31" name="object 31"/>
            <p:cNvSpPr/>
            <p:nvPr/>
          </p:nvSpPr>
          <p:spPr>
            <a:xfrm>
              <a:off x="5545073" y="3242309"/>
              <a:ext cx="417830" cy="123825"/>
            </a:xfrm>
            <a:custGeom>
              <a:avLst/>
              <a:gdLst/>
              <a:ahLst/>
              <a:cxnLst/>
              <a:rect l="l" t="t" r="r" b="b"/>
              <a:pathLst>
                <a:path w="417829" h="123825">
                  <a:moveTo>
                    <a:pt x="355853" y="0"/>
                  </a:moveTo>
                  <a:lnTo>
                    <a:pt x="355853" y="30860"/>
                  </a:lnTo>
                  <a:lnTo>
                    <a:pt x="0" y="30860"/>
                  </a:lnTo>
                  <a:lnTo>
                    <a:pt x="0" y="92582"/>
                  </a:lnTo>
                  <a:lnTo>
                    <a:pt x="355853" y="92582"/>
                  </a:lnTo>
                  <a:lnTo>
                    <a:pt x="355853" y="123443"/>
                  </a:lnTo>
                  <a:lnTo>
                    <a:pt x="417575" y="61721"/>
                  </a:lnTo>
                  <a:lnTo>
                    <a:pt x="355853" y="0"/>
                  </a:lnTo>
                  <a:close/>
                </a:path>
              </a:pathLst>
            </a:custGeom>
            <a:solidFill>
              <a:srgbClr val="00C3FF"/>
            </a:solidFill>
          </p:spPr>
          <p:txBody>
            <a:bodyPr wrap="square" lIns="0" tIns="0" rIns="0" bIns="0" rtlCol="0"/>
            <a:lstStyle/>
            <a:p>
              <a:endParaRPr sz="2400"/>
            </a:p>
          </p:txBody>
        </p:sp>
        <p:sp>
          <p:nvSpPr>
            <p:cNvPr id="32" name="object 32"/>
            <p:cNvSpPr/>
            <p:nvPr/>
          </p:nvSpPr>
          <p:spPr>
            <a:xfrm>
              <a:off x="5545073" y="3242309"/>
              <a:ext cx="417830" cy="123825"/>
            </a:xfrm>
            <a:custGeom>
              <a:avLst/>
              <a:gdLst/>
              <a:ahLst/>
              <a:cxnLst/>
              <a:rect l="l" t="t" r="r" b="b"/>
              <a:pathLst>
                <a:path w="417829" h="123825">
                  <a:moveTo>
                    <a:pt x="0" y="30860"/>
                  </a:moveTo>
                  <a:lnTo>
                    <a:pt x="355853" y="30860"/>
                  </a:lnTo>
                  <a:lnTo>
                    <a:pt x="355853" y="0"/>
                  </a:lnTo>
                  <a:lnTo>
                    <a:pt x="417575" y="61721"/>
                  </a:lnTo>
                  <a:lnTo>
                    <a:pt x="355853" y="123443"/>
                  </a:lnTo>
                  <a:lnTo>
                    <a:pt x="355853" y="92582"/>
                  </a:lnTo>
                  <a:lnTo>
                    <a:pt x="0" y="92582"/>
                  </a:lnTo>
                  <a:lnTo>
                    <a:pt x="0" y="30860"/>
                  </a:lnTo>
                  <a:close/>
                </a:path>
              </a:pathLst>
            </a:custGeom>
            <a:ln w="25908">
              <a:solidFill>
                <a:srgbClr val="008FBB"/>
              </a:solidFill>
            </a:ln>
          </p:spPr>
          <p:txBody>
            <a:bodyPr wrap="square" lIns="0" tIns="0" rIns="0" bIns="0" rtlCol="0"/>
            <a:lstStyle/>
            <a:p>
              <a:endParaRPr sz="2400"/>
            </a:p>
          </p:txBody>
        </p:sp>
        <p:sp>
          <p:nvSpPr>
            <p:cNvPr id="33" name="object 33"/>
            <p:cNvSpPr/>
            <p:nvPr/>
          </p:nvSpPr>
          <p:spPr>
            <a:xfrm>
              <a:off x="7273289" y="2221230"/>
              <a:ext cx="419100" cy="123825"/>
            </a:xfrm>
            <a:custGeom>
              <a:avLst/>
              <a:gdLst/>
              <a:ahLst/>
              <a:cxnLst/>
              <a:rect l="l" t="t" r="r" b="b"/>
              <a:pathLst>
                <a:path w="419100" h="123825">
                  <a:moveTo>
                    <a:pt x="357377" y="0"/>
                  </a:moveTo>
                  <a:lnTo>
                    <a:pt x="357377" y="30861"/>
                  </a:lnTo>
                  <a:lnTo>
                    <a:pt x="0" y="30861"/>
                  </a:lnTo>
                  <a:lnTo>
                    <a:pt x="0" y="92582"/>
                  </a:lnTo>
                  <a:lnTo>
                    <a:pt x="357377" y="92582"/>
                  </a:lnTo>
                  <a:lnTo>
                    <a:pt x="357377" y="123443"/>
                  </a:lnTo>
                  <a:lnTo>
                    <a:pt x="419100" y="61721"/>
                  </a:lnTo>
                  <a:lnTo>
                    <a:pt x="357377" y="0"/>
                  </a:lnTo>
                  <a:close/>
                </a:path>
              </a:pathLst>
            </a:custGeom>
            <a:solidFill>
              <a:srgbClr val="00C3FF"/>
            </a:solidFill>
          </p:spPr>
          <p:txBody>
            <a:bodyPr wrap="square" lIns="0" tIns="0" rIns="0" bIns="0" rtlCol="0"/>
            <a:lstStyle/>
            <a:p>
              <a:endParaRPr sz="2400"/>
            </a:p>
          </p:txBody>
        </p:sp>
        <p:sp>
          <p:nvSpPr>
            <p:cNvPr id="34" name="object 34"/>
            <p:cNvSpPr/>
            <p:nvPr/>
          </p:nvSpPr>
          <p:spPr>
            <a:xfrm>
              <a:off x="7273289" y="2221230"/>
              <a:ext cx="419100" cy="123825"/>
            </a:xfrm>
            <a:custGeom>
              <a:avLst/>
              <a:gdLst/>
              <a:ahLst/>
              <a:cxnLst/>
              <a:rect l="l" t="t" r="r" b="b"/>
              <a:pathLst>
                <a:path w="419100" h="123825">
                  <a:moveTo>
                    <a:pt x="0" y="30861"/>
                  </a:moveTo>
                  <a:lnTo>
                    <a:pt x="357377" y="30861"/>
                  </a:lnTo>
                  <a:lnTo>
                    <a:pt x="357377" y="0"/>
                  </a:lnTo>
                  <a:lnTo>
                    <a:pt x="419100" y="61721"/>
                  </a:lnTo>
                  <a:lnTo>
                    <a:pt x="357377" y="123443"/>
                  </a:lnTo>
                  <a:lnTo>
                    <a:pt x="357377" y="92582"/>
                  </a:lnTo>
                  <a:lnTo>
                    <a:pt x="0" y="92582"/>
                  </a:lnTo>
                  <a:lnTo>
                    <a:pt x="0" y="30861"/>
                  </a:lnTo>
                  <a:close/>
                </a:path>
              </a:pathLst>
            </a:custGeom>
            <a:ln w="25908">
              <a:solidFill>
                <a:srgbClr val="008FBB"/>
              </a:solidFill>
            </a:ln>
          </p:spPr>
          <p:txBody>
            <a:bodyPr wrap="square" lIns="0" tIns="0" rIns="0" bIns="0" rtlCol="0"/>
            <a:lstStyle/>
            <a:p>
              <a:endParaRPr sz="2400"/>
            </a:p>
          </p:txBody>
        </p:sp>
        <p:sp>
          <p:nvSpPr>
            <p:cNvPr id="35" name="object 35"/>
            <p:cNvSpPr/>
            <p:nvPr/>
          </p:nvSpPr>
          <p:spPr>
            <a:xfrm>
              <a:off x="7282433" y="3697986"/>
              <a:ext cx="419100" cy="121920"/>
            </a:xfrm>
            <a:custGeom>
              <a:avLst/>
              <a:gdLst/>
              <a:ahLst/>
              <a:cxnLst/>
              <a:rect l="l" t="t" r="r" b="b"/>
              <a:pathLst>
                <a:path w="419100" h="121920">
                  <a:moveTo>
                    <a:pt x="358140" y="0"/>
                  </a:moveTo>
                  <a:lnTo>
                    <a:pt x="358140" y="30479"/>
                  </a:lnTo>
                  <a:lnTo>
                    <a:pt x="0" y="30479"/>
                  </a:lnTo>
                  <a:lnTo>
                    <a:pt x="0" y="91439"/>
                  </a:lnTo>
                  <a:lnTo>
                    <a:pt x="358140" y="91439"/>
                  </a:lnTo>
                  <a:lnTo>
                    <a:pt x="358140" y="121919"/>
                  </a:lnTo>
                  <a:lnTo>
                    <a:pt x="419100" y="60959"/>
                  </a:lnTo>
                  <a:lnTo>
                    <a:pt x="358140" y="0"/>
                  </a:lnTo>
                  <a:close/>
                </a:path>
              </a:pathLst>
            </a:custGeom>
            <a:solidFill>
              <a:srgbClr val="00C3FF"/>
            </a:solidFill>
          </p:spPr>
          <p:txBody>
            <a:bodyPr wrap="square" lIns="0" tIns="0" rIns="0" bIns="0" rtlCol="0"/>
            <a:lstStyle/>
            <a:p>
              <a:endParaRPr sz="2400"/>
            </a:p>
          </p:txBody>
        </p:sp>
        <p:sp>
          <p:nvSpPr>
            <p:cNvPr id="36" name="object 36"/>
            <p:cNvSpPr/>
            <p:nvPr/>
          </p:nvSpPr>
          <p:spPr>
            <a:xfrm>
              <a:off x="7282433" y="3697986"/>
              <a:ext cx="419100" cy="121920"/>
            </a:xfrm>
            <a:custGeom>
              <a:avLst/>
              <a:gdLst/>
              <a:ahLst/>
              <a:cxnLst/>
              <a:rect l="l" t="t" r="r" b="b"/>
              <a:pathLst>
                <a:path w="419100" h="121920">
                  <a:moveTo>
                    <a:pt x="0" y="30479"/>
                  </a:moveTo>
                  <a:lnTo>
                    <a:pt x="358140" y="30479"/>
                  </a:lnTo>
                  <a:lnTo>
                    <a:pt x="358140" y="0"/>
                  </a:lnTo>
                  <a:lnTo>
                    <a:pt x="419100" y="60959"/>
                  </a:lnTo>
                  <a:lnTo>
                    <a:pt x="358140" y="121919"/>
                  </a:lnTo>
                  <a:lnTo>
                    <a:pt x="358140" y="91439"/>
                  </a:lnTo>
                  <a:lnTo>
                    <a:pt x="0" y="91439"/>
                  </a:lnTo>
                  <a:lnTo>
                    <a:pt x="0" y="30479"/>
                  </a:lnTo>
                  <a:close/>
                </a:path>
              </a:pathLst>
            </a:custGeom>
            <a:ln w="25908">
              <a:solidFill>
                <a:srgbClr val="008FBB"/>
              </a:solidFill>
            </a:ln>
          </p:spPr>
          <p:txBody>
            <a:bodyPr wrap="square" lIns="0" tIns="0" rIns="0" bIns="0" rtlCol="0"/>
            <a:lstStyle/>
            <a:p>
              <a:endParaRPr sz="2400"/>
            </a:p>
          </p:txBody>
        </p:sp>
      </p:grpSp>
      <p:sp>
        <p:nvSpPr>
          <p:cNvPr id="37" name="object 37"/>
          <p:cNvSpPr txBox="1"/>
          <p:nvPr/>
        </p:nvSpPr>
        <p:spPr>
          <a:xfrm>
            <a:off x="8243145" y="5549121"/>
            <a:ext cx="1354667"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Data</a:t>
            </a:r>
            <a:r>
              <a:rPr sz="2133" spc="-53" dirty="0">
                <a:solidFill>
                  <a:srgbClr val="FFFFFF"/>
                </a:solidFill>
                <a:latin typeface="Calibri"/>
                <a:cs typeface="Calibri"/>
              </a:rPr>
              <a:t> </a:t>
            </a:r>
            <a:r>
              <a:rPr sz="2133" dirty="0">
                <a:solidFill>
                  <a:srgbClr val="FFFFFF"/>
                </a:solidFill>
                <a:latin typeface="Calibri"/>
                <a:cs typeface="Calibri"/>
              </a:rPr>
              <a:t>Mart</a:t>
            </a:r>
            <a:r>
              <a:rPr sz="2133" spc="-27" dirty="0">
                <a:solidFill>
                  <a:srgbClr val="FFFFFF"/>
                </a:solidFill>
                <a:latin typeface="Calibri"/>
                <a:cs typeface="Calibri"/>
              </a:rPr>
              <a:t> </a:t>
            </a:r>
            <a:r>
              <a:rPr sz="2133" spc="-67" dirty="0">
                <a:solidFill>
                  <a:srgbClr val="FFFFFF"/>
                </a:solidFill>
                <a:latin typeface="Calibri"/>
                <a:cs typeface="Calibri"/>
              </a:rPr>
              <a:t>2</a:t>
            </a:r>
            <a:endParaRPr sz="2133">
              <a:latin typeface="Calibri"/>
              <a:cs typeface="Calibri"/>
            </a:endParaRPr>
          </a:p>
        </p:txBody>
      </p:sp>
      <p:pic>
        <p:nvPicPr>
          <p:cNvPr id="38" name="object 38"/>
          <p:cNvPicPr/>
          <p:nvPr/>
        </p:nvPicPr>
        <p:blipFill>
          <a:blip r:embed="rId2" cstate="print"/>
          <a:stretch>
            <a:fillRect/>
          </a:stretch>
        </p:blipFill>
        <p:spPr>
          <a:xfrm>
            <a:off x="10607040" y="2645665"/>
            <a:ext cx="617728" cy="617727"/>
          </a:xfrm>
          <a:prstGeom prst="rect">
            <a:avLst/>
          </a:prstGeom>
        </p:spPr>
      </p:pic>
      <p:sp>
        <p:nvSpPr>
          <p:cNvPr id="39" name="object 39"/>
          <p:cNvSpPr txBox="1"/>
          <p:nvPr/>
        </p:nvSpPr>
        <p:spPr>
          <a:xfrm>
            <a:off x="10557256" y="4677326"/>
            <a:ext cx="1131992" cy="666892"/>
          </a:xfrm>
          <a:prstGeom prst="rect">
            <a:avLst/>
          </a:prstGeom>
        </p:spPr>
        <p:txBody>
          <a:bodyPr vert="horz" wrap="square" lIns="0" tIns="14393" rIns="0" bIns="0" rtlCol="0">
            <a:spAutoFit/>
          </a:bodyPr>
          <a:lstStyle/>
          <a:p>
            <a:pPr marL="71118" marR="6773" indent="-55032">
              <a:lnSpc>
                <a:spcPct val="100600"/>
              </a:lnSpc>
              <a:spcBef>
                <a:spcPts val="113"/>
              </a:spcBef>
            </a:pPr>
            <a:r>
              <a:rPr sz="2133" spc="-13" dirty="0">
                <a:solidFill>
                  <a:srgbClr val="FFFFFF"/>
                </a:solidFill>
                <a:latin typeface="Calibri"/>
                <a:cs typeface="Calibri"/>
              </a:rPr>
              <a:t>Predictive Analytics</a:t>
            </a:r>
            <a:endParaRPr sz="2133">
              <a:latin typeface="Calibri"/>
              <a:cs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66716" y="224563"/>
            <a:ext cx="6416212"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Data</a:t>
            </a:r>
            <a:r>
              <a:rPr spc="-33" dirty="0"/>
              <a:t> </a:t>
            </a:r>
            <a:r>
              <a:rPr dirty="0">
                <a:solidFill>
                  <a:schemeClr val="bg1"/>
                </a:solidFill>
                <a:latin typeface="+mn-lt"/>
              </a:rPr>
              <a:t>Warehouse</a:t>
            </a:r>
            <a:r>
              <a:rPr spc="-60" dirty="0"/>
              <a:t> </a:t>
            </a:r>
            <a:r>
              <a:rPr dirty="0">
                <a:solidFill>
                  <a:schemeClr val="bg1"/>
                </a:solidFill>
                <a:latin typeface="+mn-lt"/>
              </a:rPr>
              <a:t>Layers</a:t>
            </a:r>
          </a:p>
        </p:txBody>
      </p:sp>
      <p:sp>
        <p:nvSpPr>
          <p:cNvPr id="3" name="object 3"/>
          <p:cNvSpPr txBox="1"/>
          <p:nvPr/>
        </p:nvSpPr>
        <p:spPr>
          <a:xfrm>
            <a:off x="2887134" y="5006170"/>
            <a:ext cx="839893" cy="344475"/>
          </a:xfrm>
          <a:prstGeom prst="rect">
            <a:avLst/>
          </a:prstGeom>
        </p:spPr>
        <p:txBody>
          <a:bodyPr vert="horz" wrap="square" lIns="0" tIns="16087" rIns="0" bIns="0" rtlCol="0">
            <a:spAutoFit/>
          </a:bodyPr>
          <a:lstStyle/>
          <a:p>
            <a:pPr marL="16933">
              <a:spcBef>
                <a:spcPts val="127"/>
              </a:spcBef>
            </a:pPr>
            <a:r>
              <a:rPr sz="2133" spc="-13" dirty="0">
                <a:solidFill>
                  <a:srgbClr val="FFFFFF"/>
                </a:solidFill>
                <a:latin typeface="Calibri"/>
                <a:cs typeface="Calibri"/>
              </a:rPr>
              <a:t>Staging</a:t>
            </a:r>
            <a:endParaRPr sz="2133">
              <a:latin typeface="Calibri"/>
              <a:cs typeface="Calibri"/>
            </a:endParaRPr>
          </a:p>
        </p:txBody>
      </p:sp>
      <p:graphicFrame>
        <p:nvGraphicFramePr>
          <p:cNvPr id="4" name="object 4"/>
          <p:cNvGraphicFramePr>
            <a:graphicFrameLocks noGrp="1"/>
          </p:cNvGraphicFramePr>
          <p:nvPr/>
        </p:nvGraphicFramePr>
        <p:xfrm>
          <a:off x="383583" y="2552457"/>
          <a:ext cx="929639" cy="628227"/>
        </p:xfrm>
        <a:graphic>
          <a:graphicData uri="http://schemas.openxmlformats.org/drawingml/2006/table">
            <a:tbl>
              <a:tblPr firstRow="1" bandRow="1">
                <a:tableStyleId>{2D5ABB26-0587-4C30-8999-92F81FD0307C}</a:tableStyleId>
              </a:tblPr>
              <a:tblGrid>
                <a:gridCol w="314113">
                  <a:extLst>
                    <a:ext uri="{9D8B030D-6E8A-4147-A177-3AD203B41FA5}">
                      <a16:colId xmlns:a16="http://schemas.microsoft.com/office/drawing/2014/main" val="20000"/>
                    </a:ext>
                  </a:extLst>
                </a:gridCol>
                <a:gridCol w="301413">
                  <a:extLst>
                    <a:ext uri="{9D8B030D-6E8A-4147-A177-3AD203B41FA5}">
                      <a16:colId xmlns:a16="http://schemas.microsoft.com/office/drawing/2014/main" val="20001"/>
                    </a:ext>
                  </a:extLst>
                </a:gridCol>
                <a:gridCol w="314113">
                  <a:extLst>
                    <a:ext uri="{9D8B030D-6E8A-4147-A177-3AD203B41FA5}">
                      <a16:colId xmlns:a16="http://schemas.microsoft.com/office/drawing/2014/main" val="20002"/>
                    </a:ext>
                  </a:extLst>
                </a:gridCol>
              </a:tblGrid>
              <a:tr h="213360">
                <a:tc>
                  <a:txBody>
                    <a:bodyPr/>
                    <a:lstStyle/>
                    <a:p>
                      <a:pPr>
                        <a:lnSpc>
                          <a:spcPct val="100000"/>
                        </a:lnSpc>
                      </a:pPr>
                      <a:endParaRPr sz="1200">
                        <a:latin typeface="Times New Roman"/>
                        <a:cs typeface="Times New Roman"/>
                      </a:endParaRPr>
                    </a:p>
                  </a:txBody>
                  <a:tcPr marL="0" marR="0" marT="0" marB="0">
                    <a:lnL w="5715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57150">
                      <a:solidFill>
                        <a:srgbClr val="BCBCBC"/>
                      </a:solidFill>
                      <a:prstDash val="solid"/>
                    </a:lnR>
                    <a:lnT w="57150">
                      <a:solidFill>
                        <a:srgbClr val="BCBCBC"/>
                      </a:solidFill>
                      <a:prstDash val="solid"/>
                    </a:lnT>
                    <a:lnB w="38100">
                      <a:solidFill>
                        <a:srgbClr val="BCBCBC"/>
                      </a:solidFill>
                      <a:prstDash val="solid"/>
                    </a:lnB>
                  </a:tcPr>
                </a:tc>
                <a:extLst>
                  <a:ext uri="{0D108BD9-81ED-4DB2-BD59-A6C34878D82A}">
                    <a16:rowId xmlns:a16="http://schemas.microsoft.com/office/drawing/2014/main" val="10000"/>
                  </a:ext>
                </a:extLst>
              </a:tr>
              <a:tr h="201507">
                <a:tc>
                  <a:txBody>
                    <a:bodyPr/>
                    <a:lstStyle/>
                    <a:p>
                      <a:pPr>
                        <a:lnSpc>
                          <a:spcPct val="100000"/>
                        </a:lnSpc>
                      </a:pPr>
                      <a:endParaRPr sz="11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11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11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38100">
                      <a:solidFill>
                        <a:srgbClr val="BCBCBC"/>
                      </a:solidFill>
                      <a:prstDash val="solid"/>
                    </a:lnB>
                  </a:tcPr>
                </a:tc>
                <a:extLst>
                  <a:ext uri="{0D108BD9-81ED-4DB2-BD59-A6C34878D82A}">
                    <a16:rowId xmlns:a16="http://schemas.microsoft.com/office/drawing/2014/main" val="10001"/>
                  </a:ext>
                </a:extLst>
              </a:tr>
              <a:tr h="213360">
                <a:tc>
                  <a:txBody>
                    <a:bodyPr/>
                    <a:lstStyle/>
                    <a:p>
                      <a:pPr>
                        <a:lnSpc>
                          <a:spcPct val="100000"/>
                        </a:lnSpc>
                      </a:pPr>
                      <a:endParaRPr sz="12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57150">
                      <a:solidFill>
                        <a:srgbClr val="BCBCBC"/>
                      </a:solidFill>
                      <a:prstDash val="solid"/>
                    </a:lnB>
                  </a:tcPr>
                </a:tc>
                <a:extLst>
                  <a:ext uri="{0D108BD9-81ED-4DB2-BD59-A6C34878D82A}">
                    <a16:rowId xmlns:a16="http://schemas.microsoft.com/office/drawing/2014/main" val="10002"/>
                  </a:ext>
                </a:extLst>
              </a:tr>
            </a:tbl>
          </a:graphicData>
        </a:graphic>
      </p:graphicFrame>
      <p:sp>
        <p:nvSpPr>
          <p:cNvPr id="5" name="object 5"/>
          <p:cNvSpPr txBox="1"/>
          <p:nvPr/>
        </p:nvSpPr>
        <p:spPr>
          <a:xfrm>
            <a:off x="161883" y="4668521"/>
            <a:ext cx="1424093"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data</a:t>
            </a:r>
            <a:r>
              <a:rPr sz="2133" spc="-33" dirty="0">
                <a:solidFill>
                  <a:srgbClr val="FFFFFF"/>
                </a:solidFill>
                <a:latin typeface="Calibri"/>
                <a:cs typeface="Calibri"/>
              </a:rPr>
              <a:t> </a:t>
            </a:r>
            <a:r>
              <a:rPr sz="2133" spc="-13" dirty="0">
                <a:solidFill>
                  <a:srgbClr val="FFFFFF"/>
                </a:solidFill>
                <a:latin typeface="Calibri"/>
                <a:cs typeface="Calibri"/>
              </a:rPr>
              <a:t>sources</a:t>
            </a:r>
            <a:endParaRPr sz="2133">
              <a:latin typeface="Calibri"/>
              <a:cs typeface="Calibri"/>
            </a:endParaRPr>
          </a:p>
        </p:txBody>
      </p:sp>
      <p:sp>
        <p:nvSpPr>
          <p:cNvPr id="6" name="object 6"/>
          <p:cNvSpPr/>
          <p:nvPr/>
        </p:nvSpPr>
        <p:spPr>
          <a:xfrm>
            <a:off x="553381" y="3549667"/>
            <a:ext cx="689187" cy="936413"/>
          </a:xfrm>
          <a:custGeom>
            <a:avLst/>
            <a:gdLst/>
            <a:ahLst/>
            <a:cxnLst/>
            <a:rect l="l" t="t" r="r" b="b"/>
            <a:pathLst>
              <a:path w="516890" h="702310">
                <a:moveTo>
                  <a:pt x="516585" y="480110"/>
                </a:moveTo>
                <a:lnTo>
                  <a:pt x="507314" y="499681"/>
                </a:lnTo>
                <a:lnTo>
                  <a:pt x="481190" y="517309"/>
                </a:lnTo>
                <a:lnTo>
                  <a:pt x="461238" y="524687"/>
                </a:lnTo>
                <a:lnTo>
                  <a:pt x="461238" y="609371"/>
                </a:lnTo>
                <a:lnTo>
                  <a:pt x="459905" y="616927"/>
                </a:lnTo>
                <a:lnTo>
                  <a:pt x="456158" y="622757"/>
                </a:lnTo>
                <a:lnTo>
                  <a:pt x="450342" y="626503"/>
                </a:lnTo>
                <a:lnTo>
                  <a:pt x="442785" y="627837"/>
                </a:lnTo>
                <a:lnTo>
                  <a:pt x="435229" y="626503"/>
                </a:lnTo>
                <a:lnTo>
                  <a:pt x="429412" y="622757"/>
                </a:lnTo>
                <a:lnTo>
                  <a:pt x="425665" y="616927"/>
                </a:lnTo>
                <a:lnTo>
                  <a:pt x="424332" y="609371"/>
                </a:lnTo>
                <a:lnTo>
                  <a:pt x="425665" y="601802"/>
                </a:lnTo>
                <a:lnTo>
                  <a:pt x="429412" y="595985"/>
                </a:lnTo>
                <a:lnTo>
                  <a:pt x="435229" y="592226"/>
                </a:lnTo>
                <a:lnTo>
                  <a:pt x="442785" y="590905"/>
                </a:lnTo>
                <a:lnTo>
                  <a:pt x="450342" y="592226"/>
                </a:lnTo>
                <a:lnTo>
                  <a:pt x="456158" y="595985"/>
                </a:lnTo>
                <a:lnTo>
                  <a:pt x="459905" y="601802"/>
                </a:lnTo>
                <a:lnTo>
                  <a:pt x="461238" y="609371"/>
                </a:lnTo>
                <a:lnTo>
                  <a:pt x="461238" y="524687"/>
                </a:lnTo>
                <a:lnTo>
                  <a:pt x="440715" y="532269"/>
                </a:lnTo>
                <a:lnTo>
                  <a:pt x="388391" y="543852"/>
                </a:lnTo>
                <a:lnTo>
                  <a:pt x="326745" y="551319"/>
                </a:lnTo>
                <a:lnTo>
                  <a:pt x="258292" y="553974"/>
                </a:lnTo>
                <a:lnTo>
                  <a:pt x="189826" y="551319"/>
                </a:lnTo>
                <a:lnTo>
                  <a:pt x="128193" y="543852"/>
                </a:lnTo>
                <a:lnTo>
                  <a:pt x="75869" y="532269"/>
                </a:lnTo>
                <a:lnTo>
                  <a:pt x="35394" y="517309"/>
                </a:lnTo>
                <a:lnTo>
                  <a:pt x="0" y="480110"/>
                </a:lnTo>
                <a:lnTo>
                  <a:pt x="0" y="627837"/>
                </a:lnTo>
                <a:lnTo>
                  <a:pt x="35394" y="665035"/>
                </a:lnTo>
                <a:lnTo>
                  <a:pt x="75869" y="679996"/>
                </a:lnTo>
                <a:lnTo>
                  <a:pt x="128193" y="691565"/>
                </a:lnTo>
                <a:lnTo>
                  <a:pt x="189826" y="699046"/>
                </a:lnTo>
                <a:lnTo>
                  <a:pt x="258292" y="701687"/>
                </a:lnTo>
                <a:lnTo>
                  <a:pt x="326745" y="699046"/>
                </a:lnTo>
                <a:lnTo>
                  <a:pt x="388391" y="691565"/>
                </a:lnTo>
                <a:lnTo>
                  <a:pt x="440715" y="679996"/>
                </a:lnTo>
                <a:lnTo>
                  <a:pt x="481190" y="665035"/>
                </a:lnTo>
                <a:lnTo>
                  <a:pt x="516585" y="627837"/>
                </a:lnTo>
                <a:lnTo>
                  <a:pt x="516585" y="590905"/>
                </a:lnTo>
                <a:lnTo>
                  <a:pt x="516585" y="553974"/>
                </a:lnTo>
                <a:lnTo>
                  <a:pt x="516585" y="480110"/>
                </a:lnTo>
                <a:close/>
              </a:path>
              <a:path w="516890" h="702310">
                <a:moveTo>
                  <a:pt x="516585" y="295452"/>
                </a:moveTo>
                <a:lnTo>
                  <a:pt x="507314" y="315036"/>
                </a:lnTo>
                <a:lnTo>
                  <a:pt x="481190" y="332663"/>
                </a:lnTo>
                <a:lnTo>
                  <a:pt x="461238" y="340042"/>
                </a:lnTo>
                <a:lnTo>
                  <a:pt x="461238" y="424713"/>
                </a:lnTo>
                <a:lnTo>
                  <a:pt x="459905" y="432269"/>
                </a:lnTo>
                <a:lnTo>
                  <a:pt x="456158" y="438099"/>
                </a:lnTo>
                <a:lnTo>
                  <a:pt x="450342" y="441858"/>
                </a:lnTo>
                <a:lnTo>
                  <a:pt x="442785" y="443179"/>
                </a:lnTo>
                <a:lnTo>
                  <a:pt x="435229" y="441858"/>
                </a:lnTo>
                <a:lnTo>
                  <a:pt x="429412" y="438099"/>
                </a:lnTo>
                <a:lnTo>
                  <a:pt x="425665" y="432269"/>
                </a:lnTo>
                <a:lnTo>
                  <a:pt x="424332" y="424713"/>
                </a:lnTo>
                <a:lnTo>
                  <a:pt x="425665" y="417156"/>
                </a:lnTo>
                <a:lnTo>
                  <a:pt x="429412" y="411327"/>
                </a:lnTo>
                <a:lnTo>
                  <a:pt x="435229" y="407581"/>
                </a:lnTo>
                <a:lnTo>
                  <a:pt x="442785" y="406247"/>
                </a:lnTo>
                <a:lnTo>
                  <a:pt x="450342" y="407581"/>
                </a:lnTo>
                <a:lnTo>
                  <a:pt x="456158" y="411327"/>
                </a:lnTo>
                <a:lnTo>
                  <a:pt x="459905" y="417156"/>
                </a:lnTo>
                <a:lnTo>
                  <a:pt x="461238" y="424713"/>
                </a:lnTo>
                <a:lnTo>
                  <a:pt x="461238" y="340042"/>
                </a:lnTo>
                <a:lnTo>
                  <a:pt x="440715" y="347624"/>
                </a:lnTo>
                <a:lnTo>
                  <a:pt x="388391" y="359194"/>
                </a:lnTo>
                <a:lnTo>
                  <a:pt x="326745" y="366674"/>
                </a:lnTo>
                <a:lnTo>
                  <a:pt x="258292" y="369316"/>
                </a:lnTo>
                <a:lnTo>
                  <a:pt x="189826" y="366674"/>
                </a:lnTo>
                <a:lnTo>
                  <a:pt x="128193" y="359194"/>
                </a:lnTo>
                <a:lnTo>
                  <a:pt x="75869" y="347624"/>
                </a:lnTo>
                <a:lnTo>
                  <a:pt x="35394" y="332663"/>
                </a:lnTo>
                <a:lnTo>
                  <a:pt x="0" y="295452"/>
                </a:lnTo>
                <a:lnTo>
                  <a:pt x="0" y="443179"/>
                </a:lnTo>
                <a:lnTo>
                  <a:pt x="35394" y="480390"/>
                </a:lnTo>
                <a:lnTo>
                  <a:pt x="75869" y="495338"/>
                </a:lnTo>
                <a:lnTo>
                  <a:pt x="128193" y="506920"/>
                </a:lnTo>
                <a:lnTo>
                  <a:pt x="189826" y="514388"/>
                </a:lnTo>
                <a:lnTo>
                  <a:pt x="258292" y="517042"/>
                </a:lnTo>
                <a:lnTo>
                  <a:pt x="326745" y="514388"/>
                </a:lnTo>
                <a:lnTo>
                  <a:pt x="388391" y="506920"/>
                </a:lnTo>
                <a:lnTo>
                  <a:pt x="440715" y="495338"/>
                </a:lnTo>
                <a:lnTo>
                  <a:pt x="481190" y="480390"/>
                </a:lnTo>
                <a:lnTo>
                  <a:pt x="516585" y="443179"/>
                </a:lnTo>
                <a:lnTo>
                  <a:pt x="516585" y="406247"/>
                </a:lnTo>
                <a:lnTo>
                  <a:pt x="516585" y="369316"/>
                </a:lnTo>
                <a:lnTo>
                  <a:pt x="516585" y="295452"/>
                </a:lnTo>
                <a:close/>
              </a:path>
              <a:path w="516890" h="702310">
                <a:moveTo>
                  <a:pt x="516585" y="110807"/>
                </a:moveTo>
                <a:lnTo>
                  <a:pt x="507314" y="130378"/>
                </a:lnTo>
                <a:lnTo>
                  <a:pt x="481190" y="148005"/>
                </a:lnTo>
                <a:lnTo>
                  <a:pt x="461238" y="155384"/>
                </a:lnTo>
                <a:lnTo>
                  <a:pt x="461238" y="240055"/>
                </a:lnTo>
                <a:lnTo>
                  <a:pt x="459905" y="247624"/>
                </a:lnTo>
                <a:lnTo>
                  <a:pt x="456158" y="253453"/>
                </a:lnTo>
                <a:lnTo>
                  <a:pt x="450342" y="257200"/>
                </a:lnTo>
                <a:lnTo>
                  <a:pt x="442785" y="258521"/>
                </a:lnTo>
                <a:lnTo>
                  <a:pt x="435229" y="257200"/>
                </a:lnTo>
                <a:lnTo>
                  <a:pt x="429412" y="253453"/>
                </a:lnTo>
                <a:lnTo>
                  <a:pt x="425665" y="247624"/>
                </a:lnTo>
                <a:lnTo>
                  <a:pt x="424332" y="240055"/>
                </a:lnTo>
                <a:lnTo>
                  <a:pt x="425665" y="232498"/>
                </a:lnTo>
                <a:lnTo>
                  <a:pt x="429412" y="226669"/>
                </a:lnTo>
                <a:lnTo>
                  <a:pt x="435229" y="222923"/>
                </a:lnTo>
                <a:lnTo>
                  <a:pt x="442785" y="221602"/>
                </a:lnTo>
                <a:lnTo>
                  <a:pt x="450342" y="222923"/>
                </a:lnTo>
                <a:lnTo>
                  <a:pt x="456158" y="226669"/>
                </a:lnTo>
                <a:lnTo>
                  <a:pt x="459905" y="232498"/>
                </a:lnTo>
                <a:lnTo>
                  <a:pt x="461238" y="240055"/>
                </a:lnTo>
                <a:lnTo>
                  <a:pt x="461238" y="155384"/>
                </a:lnTo>
                <a:lnTo>
                  <a:pt x="440715" y="162966"/>
                </a:lnTo>
                <a:lnTo>
                  <a:pt x="388391" y="174548"/>
                </a:lnTo>
                <a:lnTo>
                  <a:pt x="326745" y="182016"/>
                </a:lnTo>
                <a:lnTo>
                  <a:pt x="258292" y="184670"/>
                </a:lnTo>
                <a:lnTo>
                  <a:pt x="189826" y="182016"/>
                </a:lnTo>
                <a:lnTo>
                  <a:pt x="128193" y="174548"/>
                </a:lnTo>
                <a:lnTo>
                  <a:pt x="75869" y="162966"/>
                </a:lnTo>
                <a:lnTo>
                  <a:pt x="35394" y="148005"/>
                </a:lnTo>
                <a:lnTo>
                  <a:pt x="0" y="110807"/>
                </a:lnTo>
                <a:lnTo>
                  <a:pt x="0" y="258521"/>
                </a:lnTo>
                <a:lnTo>
                  <a:pt x="35394" y="295732"/>
                </a:lnTo>
                <a:lnTo>
                  <a:pt x="75869" y="310692"/>
                </a:lnTo>
                <a:lnTo>
                  <a:pt x="128193" y="322262"/>
                </a:lnTo>
                <a:lnTo>
                  <a:pt x="189826" y="329742"/>
                </a:lnTo>
                <a:lnTo>
                  <a:pt x="258292" y="332384"/>
                </a:lnTo>
                <a:lnTo>
                  <a:pt x="326745" y="329742"/>
                </a:lnTo>
                <a:lnTo>
                  <a:pt x="388391" y="322262"/>
                </a:lnTo>
                <a:lnTo>
                  <a:pt x="440715" y="310692"/>
                </a:lnTo>
                <a:lnTo>
                  <a:pt x="481190" y="295732"/>
                </a:lnTo>
                <a:lnTo>
                  <a:pt x="516585" y="258521"/>
                </a:lnTo>
                <a:lnTo>
                  <a:pt x="516585" y="221602"/>
                </a:lnTo>
                <a:lnTo>
                  <a:pt x="516585" y="184670"/>
                </a:lnTo>
                <a:lnTo>
                  <a:pt x="516585" y="110807"/>
                </a:lnTo>
                <a:close/>
              </a:path>
              <a:path w="516890" h="702310">
                <a:moveTo>
                  <a:pt x="516585" y="73875"/>
                </a:moveTo>
                <a:lnTo>
                  <a:pt x="481317" y="36588"/>
                </a:lnTo>
                <a:lnTo>
                  <a:pt x="440931" y="21640"/>
                </a:lnTo>
                <a:lnTo>
                  <a:pt x="388658" y="10083"/>
                </a:lnTo>
                <a:lnTo>
                  <a:pt x="326961" y="2641"/>
                </a:lnTo>
                <a:lnTo>
                  <a:pt x="258292" y="0"/>
                </a:lnTo>
                <a:lnTo>
                  <a:pt x="189623" y="2641"/>
                </a:lnTo>
                <a:lnTo>
                  <a:pt x="127927" y="10083"/>
                </a:lnTo>
                <a:lnTo>
                  <a:pt x="75653" y="21640"/>
                </a:lnTo>
                <a:lnTo>
                  <a:pt x="35267" y="36588"/>
                </a:lnTo>
                <a:lnTo>
                  <a:pt x="0" y="73875"/>
                </a:lnTo>
                <a:lnTo>
                  <a:pt x="9220" y="93510"/>
                </a:lnTo>
                <a:lnTo>
                  <a:pt x="75653" y="126098"/>
                </a:lnTo>
                <a:lnTo>
                  <a:pt x="127927" y="137655"/>
                </a:lnTo>
                <a:lnTo>
                  <a:pt x="189623" y="145097"/>
                </a:lnTo>
                <a:lnTo>
                  <a:pt x="258292" y="147739"/>
                </a:lnTo>
                <a:lnTo>
                  <a:pt x="326961" y="145097"/>
                </a:lnTo>
                <a:lnTo>
                  <a:pt x="388658" y="137655"/>
                </a:lnTo>
                <a:lnTo>
                  <a:pt x="440931" y="126098"/>
                </a:lnTo>
                <a:lnTo>
                  <a:pt x="481317" y="111150"/>
                </a:lnTo>
                <a:lnTo>
                  <a:pt x="516585" y="73875"/>
                </a:lnTo>
                <a:close/>
              </a:path>
            </a:pathLst>
          </a:custGeom>
          <a:solidFill>
            <a:srgbClr val="9B9B9B"/>
          </a:solidFill>
        </p:spPr>
        <p:txBody>
          <a:bodyPr wrap="square" lIns="0" tIns="0" rIns="0" bIns="0" rtlCol="0"/>
          <a:lstStyle/>
          <a:p>
            <a:endParaRPr sz="2400"/>
          </a:p>
        </p:txBody>
      </p:sp>
      <p:grpSp>
        <p:nvGrpSpPr>
          <p:cNvPr id="7" name="object 7"/>
          <p:cNvGrpSpPr/>
          <p:nvPr/>
        </p:nvGrpSpPr>
        <p:grpSpPr>
          <a:xfrm>
            <a:off x="1694603" y="1989074"/>
            <a:ext cx="2617893" cy="2959100"/>
            <a:chOff x="1270952" y="1491805"/>
            <a:chExt cx="1963420" cy="2219325"/>
          </a:xfrm>
        </p:grpSpPr>
        <p:sp>
          <p:nvSpPr>
            <p:cNvPr id="8" name="object 8"/>
            <p:cNvSpPr/>
            <p:nvPr/>
          </p:nvSpPr>
          <p:spPr>
            <a:xfrm>
              <a:off x="1705355" y="1496567"/>
              <a:ext cx="1524000" cy="2209800"/>
            </a:xfrm>
            <a:custGeom>
              <a:avLst/>
              <a:gdLst/>
              <a:ahLst/>
              <a:cxnLst/>
              <a:rect l="l" t="t" r="r" b="b"/>
              <a:pathLst>
                <a:path w="1524000" h="2209800">
                  <a:moveTo>
                    <a:pt x="0" y="254000"/>
                  </a:moveTo>
                  <a:lnTo>
                    <a:pt x="4090" y="208328"/>
                  </a:lnTo>
                  <a:lnTo>
                    <a:pt x="15884" y="165349"/>
                  </a:lnTo>
                  <a:lnTo>
                    <a:pt x="34666" y="125777"/>
                  </a:lnTo>
                  <a:lnTo>
                    <a:pt x="59719" y="90328"/>
                  </a:lnTo>
                  <a:lnTo>
                    <a:pt x="90328" y="59719"/>
                  </a:lnTo>
                  <a:lnTo>
                    <a:pt x="125777" y="34666"/>
                  </a:lnTo>
                  <a:lnTo>
                    <a:pt x="165349" y="15884"/>
                  </a:lnTo>
                  <a:lnTo>
                    <a:pt x="208328" y="4090"/>
                  </a:lnTo>
                  <a:lnTo>
                    <a:pt x="254000" y="0"/>
                  </a:lnTo>
                  <a:lnTo>
                    <a:pt x="1270000" y="0"/>
                  </a:lnTo>
                  <a:lnTo>
                    <a:pt x="1315671" y="4090"/>
                  </a:lnTo>
                  <a:lnTo>
                    <a:pt x="1358650" y="15884"/>
                  </a:lnTo>
                  <a:lnTo>
                    <a:pt x="1398222" y="34666"/>
                  </a:lnTo>
                  <a:lnTo>
                    <a:pt x="1433671" y="59719"/>
                  </a:lnTo>
                  <a:lnTo>
                    <a:pt x="1464280" y="90328"/>
                  </a:lnTo>
                  <a:lnTo>
                    <a:pt x="1489333" y="125777"/>
                  </a:lnTo>
                  <a:lnTo>
                    <a:pt x="1508115" y="165349"/>
                  </a:lnTo>
                  <a:lnTo>
                    <a:pt x="1519909" y="208328"/>
                  </a:lnTo>
                  <a:lnTo>
                    <a:pt x="1524000" y="254000"/>
                  </a:lnTo>
                  <a:lnTo>
                    <a:pt x="1524000" y="1955800"/>
                  </a:lnTo>
                  <a:lnTo>
                    <a:pt x="1519909" y="2001471"/>
                  </a:lnTo>
                  <a:lnTo>
                    <a:pt x="1508115" y="2044450"/>
                  </a:lnTo>
                  <a:lnTo>
                    <a:pt x="1489333" y="2084022"/>
                  </a:lnTo>
                  <a:lnTo>
                    <a:pt x="1464280" y="2119471"/>
                  </a:lnTo>
                  <a:lnTo>
                    <a:pt x="1433671" y="2150080"/>
                  </a:lnTo>
                  <a:lnTo>
                    <a:pt x="1398222" y="2175133"/>
                  </a:lnTo>
                  <a:lnTo>
                    <a:pt x="1358650" y="2193915"/>
                  </a:lnTo>
                  <a:lnTo>
                    <a:pt x="1315671" y="2205709"/>
                  </a:lnTo>
                  <a:lnTo>
                    <a:pt x="1270000" y="2209800"/>
                  </a:lnTo>
                  <a:lnTo>
                    <a:pt x="254000" y="2209800"/>
                  </a:lnTo>
                  <a:lnTo>
                    <a:pt x="208328" y="2205709"/>
                  </a:lnTo>
                  <a:lnTo>
                    <a:pt x="165349" y="2193915"/>
                  </a:lnTo>
                  <a:lnTo>
                    <a:pt x="125777" y="2175133"/>
                  </a:lnTo>
                  <a:lnTo>
                    <a:pt x="90328" y="2150080"/>
                  </a:lnTo>
                  <a:lnTo>
                    <a:pt x="59719" y="2119471"/>
                  </a:lnTo>
                  <a:lnTo>
                    <a:pt x="34666" y="2084022"/>
                  </a:lnTo>
                  <a:lnTo>
                    <a:pt x="15884" y="2044450"/>
                  </a:lnTo>
                  <a:lnTo>
                    <a:pt x="4090" y="2001471"/>
                  </a:lnTo>
                  <a:lnTo>
                    <a:pt x="0" y="1955800"/>
                  </a:lnTo>
                  <a:lnTo>
                    <a:pt x="0" y="254000"/>
                  </a:lnTo>
                  <a:close/>
                </a:path>
              </a:pathLst>
            </a:custGeom>
            <a:ln w="9144">
              <a:solidFill>
                <a:srgbClr val="00C3FF"/>
              </a:solidFill>
            </a:ln>
          </p:spPr>
          <p:txBody>
            <a:bodyPr wrap="square" lIns="0" tIns="0" rIns="0" bIns="0" rtlCol="0"/>
            <a:lstStyle/>
            <a:p>
              <a:endParaRPr sz="2400"/>
            </a:p>
          </p:txBody>
        </p:sp>
        <p:sp>
          <p:nvSpPr>
            <p:cNvPr id="9" name="object 9"/>
            <p:cNvSpPr/>
            <p:nvPr/>
          </p:nvSpPr>
          <p:spPr>
            <a:xfrm>
              <a:off x="1283969" y="2177033"/>
              <a:ext cx="462280" cy="158750"/>
            </a:xfrm>
            <a:custGeom>
              <a:avLst/>
              <a:gdLst/>
              <a:ahLst/>
              <a:cxnLst/>
              <a:rect l="l" t="t" r="r" b="b"/>
              <a:pathLst>
                <a:path w="462280" h="158750">
                  <a:moveTo>
                    <a:pt x="382524" y="0"/>
                  </a:moveTo>
                  <a:lnTo>
                    <a:pt x="382524" y="39624"/>
                  </a:lnTo>
                  <a:lnTo>
                    <a:pt x="0" y="39624"/>
                  </a:lnTo>
                  <a:lnTo>
                    <a:pt x="0" y="118872"/>
                  </a:lnTo>
                  <a:lnTo>
                    <a:pt x="382524" y="118872"/>
                  </a:lnTo>
                  <a:lnTo>
                    <a:pt x="382524" y="158496"/>
                  </a:lnTo>
                  <a:lnTo>
                    <a:pt x="461772" y="79248"/>
                  </a:lnTo>
                  <a:lnTo>
                    <a:pt x="382524" y="0"/>
                  </a:lnTo>
                  <a:close/>
                </a:path>
              </a:pathLst>
            </a:custGeom>
            <a:solidFill>
              <a:srgbClr val="00C3FF"/>
            </a:solidFill>
          </p:spPr>
          <p:txBody>
            <a:bodyPr wrap="square" lIns="0" tIns="0" rIns="0" bIns="0" rtlCol="0"/>
            <a:lstStyle/>
            <a:p>
              <a:endParaRPr sz="2400"/>
            </a:p>
          </p:txBody>
        </p:sp>
        <p:sp>
          <p:nvSpPr>
            <p:cNvPr id="10" name="object 10"/>
            <p:cNvSpPr/>
            <p:nvPr/>
          </p:nvSpPr>
          <p:spPr>
            <a:xfrm>
              <a:off x="1283969" y="2177033"/>
              <a:ext cx="462280" cy="158750"/>
            </a:xfrm>
            <a:custGeom>
              <a:avLst/>
              <a:gdLst/>
              <a:ahLst/>
              <a:cxnLst/>
              <a:rect l="l" t="t" r="r" b="b"/>
              <a:pathLst>
                <a:path w="462280" h="158750">
                  <a:moveTo>
                    <a:pt x="0" y="39624"/>
                  </a:moveTo>
                  <a:lnTo>
                    <a:pt x="382524" y="39624"/>
                  </a:lnTo>
                  <a:lnTo>
                    <a:pt x="382524" y="0"/>
                  </a:lnTo>
                  <a:lnTo>
                    <a:pt x="461772" y="79248"/>
                  </a:lnTo>
                  <a:lnTo>
                    <a:pt x="382524" y="158496"/>
                  </a:lnTo>
                  <a:lnTo>
                    <a:pt x="382524" y="118872"/>
                  </a:lnTo>
                  <a:lnTo>
                    <a:pt x="0" y="118872"/>
                  </a:lnTo>
                  <a:lnTo>
                    <a:pt x="0" y="39624"/>
                  </a:lnTo>
                  <a:close/>
                </a:path>
              </a:pathLst>
            </a:custGeom>
            <a:ln w="25907">
              <a:solidFill>
                <a:srgbClr val="008FBB"/>
              </a:solidFill>
            </a:ln>
          </p:spPr>
          <p:txBody>
            <a:bodyPr wrap="square" lIns="0" tIns="0" rIns="0" bIns="0" rtlCol="0"/>
            <a:lstStyle/>
            <a:p>
              <a:endParaRPr sz="2400"/>
            </a:p>
          </p:txBody>
        </p:sp>
        <p:sp>
          <p:nvSpPr>
            <p:cNvPr id="11" name="object 11"/>
            <p:cNvSpPr/>
            <p:nvPr/>
          </p:nvSpPr>
          <p:spPr>
            <a:xfrm>
              <a:off x="1283969" y="2963417"/>
              <a:ext cx="462280" cy="158750"/>
            </a:xfrm>
            <a:custGeom>
              <a:avLst/>
              <a:gdLst/>
              <a:ahLst/>
              <a:cxnLst/>
              <a:rect l="l" t="t" r="r" b="b"/>
              <a:pathLst>
                <a:path w="462280" h="158750">
                  <a:moveTo>
                    <a:pt x="382524" y="0"/>
                  </a:moveTo>
                  <a:lnTo>
                    <a:pt x="382524" y="39624"/>
                  </a:lnTo>
                  <a:lnTo>
                    <a:pt x="0" y="39624"/>
                  </a:lnTo>
                  <a:lnTo>
                    <a:pt x="0" y="118871"/>
                  </a:lnTo>
                  <a:lnTo>
                    <a:pt x="382524" y="118871"/>
                  </a:lnTo>
                  <a:lnTo>
                    <a:pt x="382524" y="158495"/>
                  </a:lnTo>
                  <a:lnTo>
                    <a:pt x="461772" y="79248"/>
                  </a:lnTo>
                  <a:lnTo>
                    <a:pt x="382524" y="0"/>
                  </a:lnTo>
                  <a:close/>
                </a:path>
              </a:pathLst>
            </a:custGeom>
            <a:solidFill>
              <a:srgbClr val="00C3FF"/>
            </a:solidFill>
          </p:spPr>
          <p:txBody>
            <a:bodyPr wrap="square" lIns="0" tIns="0" rIns="0" bIns="0" rtlCol="0"/>
            <a:lstStyle/>
            <a:p>
              <a:endParaRPr sz="2400"/>
            </a:p>
          </p:txBody>
        </p:sp>
        <p:sp>
          <p:nvSpPr>
            <p:cNvPr id="12" name="object 12"/>
            <p:cNvSpPr/>
            <p:nvPr/>
          </p:nvSpPr>
          <p:spPr>
            <a:xfrm>
              <a:off x="1283969" y="2963417"/>
              <a:ext cx="462280" cy="158750"/>
            </a:xfrm>
            <a:custGeom>
              <a:avLst/>
              <a:gdLst/>
              <a:ahLst/>
              <a:cxnLst/>
              <a:rect l="l" t="t" r="r" b="b"/>
              <a:pathLst>
                <a:path w="462280" h="158750">
                  <a:moveTo>
                    <a:pt x="0" y="39624"/>
                  </a:moveTo>
                  <a:lnTo>
                    <a:pt x="382524" y="39624"/>
                  </a:lnTo>
                  <a:lnTo>
                    <a:pt x="382524" y="0"/>
                  </a:lnTo>
                  <a:lnTo>
                    <a:pt x="461772" y="79248"/>
                  </a:lnTo>
                  <a:lnTo>
                    <a:pt x="382524" y="158495"/>
                  </a:lnTo>
                  <a:lnTo>
                    <a:pt x="382524" y="118871"/>
                  </a:lnTo>
                  <a:lnTo>
                    <a:pt x="0" y="118871"/>
                  </a:lnTo>
                  <a:lnTo>
                    <a:pt x="0" y="39624"/>
                  </a:lnTo>
                  <a:close/>
                </a:path>
              </a:pathLst>
            </a:custGeom>
            <a:ln w="25908">
              <a:solidFill>
                <a:srgbClr val="008FBB"/>
              </a:solidFill>
            </a:ln>
          </p:spPr>
          <p:txBody>
            <a:bodyPr wrap="square" lIns="0" tIns="0" rIns="0" bIns="0" rtlCol="0"/>
            <a:lstStyle/>
            <a:p>
              <a:endParaRPr sz="2400"/>
            </a:p>
          </p:txBody>
        </p:sp>
        <p:sp>
          <p:nvSpPr>
            <p:cNvPr id="13" name="object 13"/>
            <p:cNvSpPr/>
            <p:nvPr/>
          </p:nvSpPr>
          <p:spPr>
            <a:xfrm>
              <a:off x="1937499" y="1794789"/>
              <a:ext cx="1202055" cy="1675130"/>
            </a:xfrm>
            <a:custGeom>
              <a:avLst/>
              <a:gdLst/>
              <a:ahLst/>
              <a:cxnLst/>
              <a:rect l="l" t="t" r="r" b="b"/>
              <a:pathLst>
                <a:path w="1202055" h="1675129">
                  <a:moveTo>
                    <a:pt x="564794" y="0"/>
                  </a:moveTo>
                  <a:lnTo>
                    <a:pt x="0" y="0"/>
                  </a:lnTo>
                  <a:lnTo>
                    <a:pt x="0" y="43205"/>
                  </a:lnTo>
                  <a:lnTo>
                    <a:pt x="0" y="128333"/>
                  </a:lnTo>
                  <a:lnTo>
                    <a:pt x="0" y="396417"/>
                  </a:lnTo>
                  <a:lnTo>
                    <a:pt x="564794" y="396417"/>
                  </a:lnTo>
                  <a:lnTo>
                    <a:pt x="564794" y="128333"/>
                  </a:lnTo>
                  <a:lnTo>
                    <a:pt x="522427" y="128333"/>
                  </a:lnTo>
                  <a:lnTo>
                    <a:pt x="522427" y="156286"/>
                  </a:lnTo>
                  <a:lnTo>
                    <a:pt x="522427" y="240131"/>
                  </a:lnTo>
                  <a:lnTo>
                    <a:pt x="522427" y="269354"/>
                  </a:lnTo>
                  <a:lnTo>
                    <a:pt x="522427" y="353212"/>
                  </a:lnTo>
                  <a:lnTo>
                    <a:pt x="381228" y="353212"/>
                  </a:lnTo>
                  <a:lnTo>
                    <a:pt x="381228" y="269354"/>
                  </a:lnTo>
                  <a:lnTo>
                    <a:pt x="522427" y="269354"/>
                  </a:lnTo>
                  <a:lnTo>
                    <a:pt x="522427" y="240131"/>
                  </a:lnTo>
                  <a:lnTo>
                    <a:pt x="381228" y="240131"/>
                  </a:lnTo>
                  <a:lnTo>
                    <a:pt x="381228" y="156286"/>
                  </a:lnTo>
                  <a:lnTo>
                    <a:pt x="522427" y="156286"/>
                  </a:lnTo>
                  <a:lnTo>
                    <a:pt x="522427" y="128333"/>
                  </a:lnTo>
                  <a:lnTo>
                    <a:pt x="352996" y="128333"/>
                  </a:lnTo>
                  <a:lnTo>
                    <a:pt x="352996" y="156286"/>
                  </a:lnTo>
                  <a:lnTo>
                    <a:pt x="352996" y="240131"/>
                  </a:lnTo>
                  <a:lnTo>
                    <a:pt x="352996" y="269354"/>
                  </a:lnTo>
                  <a:lnTo>
                    <a:pt x="352996" y="353212"/>
                  </a:lnTo>
                  <a:lnTo>
                    <a:pt x="211797" y="353212"/>
                  </a:lnTo>
                  <a:lnTo>
                    <a:pt x="211797" y="269354"/>
                  </a:lnTo>
                  <a:lnTo>
                    <a:pt x="352996" y="269354"/>
                  </a:lnTo>
                  <a:lnTo>
                    <a:pt x="352996" y="240131"/>
                  </a:lnTo>
                  <a:lnTo>
                    <a:pt x="211797" y="240131"/>
                  </a:lnTo>
                  <a:lnTo>
                    <a:pt x="211797" y="156286"/>
                  </a:lnTo>
                  <a:lnTo>
                    <a:pt x="352996" y="156286"/>
                  </a:lnTo>
                  <a:lnTo>
                    <a:pt x="352996" y="128333"/>
                  </a:lnTo>
                  <a:lnTo>
                    <a:pt x="183553" y="128333"/>
                  </a:lnTo>
                  <a:lnTo>
                    <a:pt x="183553" y="156286"/>
                  </a:lnTo>
                  <a:lnTo>
                    <a:pt x="183553" y="240131"/>
                  </a:lnTo>
                  <a:lnTo>
                    <a:pt x="183553" y="269354"/>
                  </a:lnTo>
                  <a:lnTo>
                    <a:pt x="183553" y="353212"/>
                  </a:lnTo>
                  <a:lnTo>
                    <a:pt x="42367" y="353212"/>
                  </a:lnTo>
                  <a:lnTo>
                    <a:pt x="42367" y="269354"/>
                  </a:lnTo>
                  <a:lnTo>
                    <a:pt x="183553" y="269354"/>
                  </a:lnTo>
                  <a:lnTo>
                    <a:pt x="183553" y="240131"/>
                  </a:lnTo>
                  <a:lnTo>
                    <a:pt x="42367" y="240131"/>
                  </a:lnTo>
                  <a:lnTo>
                    <a:pt x="42367" y="156286"/>
                  </a:lnTo>
                  <a:lnTo>
                    <a:pt x="183553" y="156286"/>
                  </a:lnTo>
                  <a:lnTo>
                    <a:pt x="183553" y="128333"/>
                  </a:lnTo>
                  <a:lnTo>
                    <a:pt x="42367" y="128333"/>
                  </a:lnTo>
                  <a:lnTo>
                    <a:pt x="42367" y="43205"/>
                  </a:lnTo>
                  <a:lnTo>
                    <a:pt x="183553" y="43205"/>
                  </a:lnTo>
                  <a:lnTo>
                    <a:pt x="183553" y="127711"/>
                  </a:lnTo>
                  <a:lnTo>
                    <a:pt x="211797" y="127711"/>
                  </a:lnTo>
                  <a:lnTo>
                    <a:pt x="211797" y="43205"/>
                  </a:lnTo>
                  <a:lnTo>
                    <a:pt x="352996" y="43205"/>
                  </a:lnTo>
                  <a:lnTo>
                    <a:pt x="352996" y="127711"/>
                  </a:lnTo>
                  <a:lnTo>
                    <a:pt x="381228" y="127711"/>
                  </a:lnTo>
                  <a:lnTo>
                    <a:pt x="381228" y="43205"/>
                  </a:lnTo>
                  <a:lnTo>
                    <a:pt x="522427" y="43205"/>
                  </a:lnTo>
                  <a:lnTo>
                    <a:pt x="522427" y="127711"/>
                  </a:lnTo>
                  <a:lnTo>
                    <a:pt x="564794" y="127711"/>
                  </a:lnTo>
                  <a:lnTo>
                    <a:pt x="564794" y="43205"/>
                  </a:lnTo>
                  <a:lnTo>
                    <a:pt x="564794" y="42913"/>
                  </a:lnTo>
                  <a:lnTo>
                    <a:pt x="564794" y="0"/>
                  </a:lnTo>
                  <a:close/>
                </a:path>
                <a:path w="1202055" h="1675129">
                  <a:moveTo>
                    <a:pt x="836066" y="1278636"/>
                  </a:moveTo>
                  <a:lnTo>
                    <a:pt x="271272" y="1278636"/>
                  </a:lnTo>
                  <a:lnTo>
                    <a:pt x="271272" y="1321841"/>
                  </a:lnTo>
                  <a:lnTo>
                    <a:pt x="271272" y="1406969"/>
                  </a:lnTo>
                  <a:lnTo>
                    <a:pt x="271272" y="1675053"/>
                  </a:lnTo>
                  <a:lnTo>
                    <a:pt x="836066" y="1675053"/>
                  </a:lnTo>
                  <a:lnTo>
                    <a:pt x="836066" y="1406969"/>
                  </a:lnTo>
                  <a:lnTo>
                    <a:pt x="793699" y="1406969"/>
                  </a:lnTo>
                  <a:lnTo>
                    <a:pt x="793699" y="1434922"/>
                  </a:lnTo>
                  <a:lnTo>
                    <a:pt x="793699" y="1518767"/>
                  </a:lnTo>
                  <a:lnTo>
                    <a:pt x="793699" y="1547990"/>
                  </a:lnTo>
                  <a:lnTo>
                    <a:pt x="793699" y="1631848"/>
                  </a:lnTo>
                  <a:lnTo>
                    <a:pt x="652500" y="1631848"/>
                  </a:lnTo>
                  <a:lnTo>
                    <a:pt x="652500" y="1547990"/>
                  </a:lnTo>
                  <a:lnTo>
                    <a:pt x="793699" y="1547990"/>
                  </a:lnTo>
                  <a:lnTo>
                    <a:pt x="793699" y="1518767"/>
                  </a:lnTo>
                  <a:lnTo>
                    <a:pt x="652500" y="1518767"/>
                  </a:lnTo>
                  <a:lnTo>
                    <a:pt x="652500" y="1434922"/>
                  </a:lnTo>
                  <a:lnTo>
                    <a:pt x="793699" y="1434922"/>
                  </a:lnTo>
                  <a:lnTo>
                    <a:pt x="793699" y="1406969"/>
                  </a:lnTo>
                  <a:lnTo>
                    <a:pt x="624268" y="1406969"/>
                  </a:lnTo>
                  <a:lnTo>
                    <a:pt x="624268" y="1434922"/>
                  </a:lnTo>
                  <a:lnTo>
                    <a:pt x="624268" y="1518767"/>
                  </a:lnTo>
                  <a:lnTo>
                    <a:pt x="624268" y="1547990"/>
                  </a:lnTo>
                  <a:lnTo>
                    <a:pt x="624268" y="1631848"/>
                  </a:lnTo>
                  <a:lnTo>
                    <a:pt x="483069" y="1631848"/>
                  </a:lnTo>
                  <a:lnTo>
                    <a:pt x="483069" y="1547990"/>
                  </a:lnTo>
                  <a:lnTo>
                    <a:pt x="624268" y="1547990"/>
                  </a:lnTo>
                  <a:lnTo>
                    <a:pt x="624268" y="1518767"/>
                  </a:lnTo>
                  <a:lnTo>
                    <a:pt x="483069" y="1518767"/>
                  </a:lnTo>
                  <a:lnTo>
                    <a:pt x="483069" y="1434922"/>
                  </a:lnTo>
                  <a:lnTo>
                    <a:pt x="624268" y="1434922"/>
                  </a:lnTo>
                  <a:lnTo>
                    <a:pt x="624268" y="1406969"/>
                  </a:lnTo>
                  <a:lnTo>
                    <a:pt x="454825" y="1406969"/>
                  </a:lnTo>
                  <a:lnTo>
                    <a:pt x="454825" y="1434922"/>
                  </a:lnTo>
                  <a:lnTo>
                    <a:pt x="454825" y="1518767"/>
                  </a:lnTo>
                  <a:lnTo>
                    <a:pt x="454825" y="1547990"/>
                  </a:lnTo>
                  <a:lnTo>
                    <a:pt x="454825" y="1631848"/>
                  </a:lnTo>
                  <a:lnTo>
                    <a:pt x="313639" y="1631848"/>
                  </a:lnTo>
                  <a:lnTo>
                    <a:pt x="313639" y="1547990"/>
                  </a:lnTo>
                  <a:lnTo>
                    <a:pt x="454825" y="1547990"/>
                  </a:lnTo>
                  <a:lnTo>
                    <a:pt x="454825" y="1518767"/>
                  </a:lnTo>
                  <a:lnTo>
                    <a:pt x="313639" y="1518767"/>
                  </a:lnTo>
                  <a:lnTo>
                    <a:pt x="313639" y="1434922"/>
                  </a:lnTo>
                  <a:lnTo>
                    <a:pt x="454825" y="1434922"/>
                  </a:lnTo>
                  <a:lnTo>
                    <a:pt x="454825" y="1406969"/>
                  </a:lnTo>
                  <a:lnTo>
                    <a:pt x="313639" y="1406969"/>
                  </a:lnTo>
                  <a:lnTo>
                    <a:pt x="313639" y="1321841"/>
                  </a:lnTo>
                  <a:lnTo>
                    <a:pt x="454825" y="1321841"/>
                  </a:lnTo>
                  <a:lnTo>
                    <a:pt x="454825" y="1406347"/>
                  </a:lnTo>
                  <a:lnTo>
                    <a:pt x="483069" y="1406347"/>
                  </a:lnTo>
                  <a:lnTo>
                    <a:pt x="483069" y="1321841"/>
                  </a:lnTo>
                  <a:lnTo>
                    <a:pt x="624268" y="1321841"/>
                  </a:lnTo>
                  <a:lnTo>
                    <a:pt x="624268" y="1406347"/>
                  </a:lnTo>
                  <a:lnTo>
                    <a:pt x="652500" y="1406347"/>
                  </a:lnTo>
                  <a:lnTo>
                    <a:pt x="652500" y="1321841"/>
                  </a:lnTo>
                  <a:lnTo>
                    <a:pt x="793699" y="1321841"/>
                  </a:lnTo>
                  <a:lnTo>
                    <a:pt x="793699" y="1406347"/>
                  </a:lnTo>
                  <a:lnTo>
                    <a:pt x="836066" y="1406347"/>
                  </a:lnTo>
                  <a:lnTo>
                    <a:pt x="836066" y="1321841"/>
                  </a:lnTo>
                  <a:lnTo>
                    <a:pt x="836066" y="1321549"/>
                  </a:lnTo>
                  <a:lnTo>
                    <a:pt x="836066" y="1278636"/>
                  </a:lnTo>
                  <a:close/>
                </a:path>
                <a:path w="1202055" h="1675129">
                  <a:moveTo>
                    <a:pt x="847915" y="647369"/>
                  </a:moveTo>
                  <a:lnTo>
                    <a:pt x="819607" y="647369"/>
                  </a:lnTo>
                  <a:lnTo>
                    <a:pt x="819607" y="732345"/>
                  </a:lnTo>
                  <a:lnTo>
                    <a:pt x="847915" y="732345"/>
                  </a:lnTo>
                  <a:lnTo>
                    <a:pt x="847915" y="647369"/>
                  </a:lnTo>
                  <a:close/>
                </a:path>
                <a:path w="1202055" h="1675129">
                  <a:moveTo>
                    <a:pt x="1017727" y="647369"/>
                  </a:moveTo>
                  <a:lnTo>
                    <a:pt x="989418" y="647369"/>
                  </a:lnTo>
                  <a:lnTo>
                    <a:pt x="989418" y="732345"/>
                  </a:lnTo>
                  <a:lnTo>
                    <a:pt x="1017727" y="732345"/>
                  </a:lnTo>
                  <a:lnTo>
                    <a:pt x="1017727" y="647369"/>
                  </a:lnTo>
                  <a:close/>
                </a:path>
                <a:path w="1202055" h="1675129">
                  <a:moveTo>
                    <a:pt x="1201699" y="647369"/>
                  </a:moveTo>
                  <a:lnTo>
                    <a:pt x="1159230" y="647369"/>
                  </a:lnTo>
                  <a:lnTo>
                    <a:pt x="1159230" y="732345"/>
                  </a:lnTo>
                  <a:lnTo>
                    <a:pt x="1201699" y="732345"/>
                  </a:lnTo>
                  <a:lnTo>
                    <a:pt x="1201699" y="647369"/>
                  </a:lnTo>
                  <a:close/>
                </a:path>
                <a:path w="1202055" h="1675129">
                  <a:moveTo>
                    <a:pt x="1201699" y="490982"/>
                  </a:moveTo>
                  <a:lnTo>
                    <a:pt x="635647" y="490982"/>
                  </a:lnTo>
                  <a:lnTo>
                    <a:pt x="635647" y="534187"/>
                  </a:lnTo>
                  <a:lnTo>
                    <a:pt x="635647" y="619315"/>
                  </a:lnTo>
                  <a:lnTo>
                    <a:pt x="635647" y="888669"/>
                  </a:lnTo>
                  <a:lnTo>
                    <a:pt x="1201699" y="888669"/>
                  </a:lnTo>
                  <a:lnTo>
                    <a:pt x="1201699" y="845654"/>
                  </a:lnTo>
                  <a:lnTo>
                    <a:pt x="1201699" y="845464"/>
                  </a:lnTo>
                  <a:lnTo>
                    <a:pt x="1201699" y="760666"/>
                  </a:lnTo>
                  <a:lnTo>
                    <a:pt x="1159230" y="760666"/>
                  </a:lnTo>
                  <a:lnTo>
                    <a:pt x="1159230" y="845464"/>
                  </a:lnTo>
                  <a:lnTo>
                    <a:pt x="1017727" y="845464"/>
                  </a:lnTo>
                  <a:lnTo>
                    <a:pt x="1017727" y="760666"/>
                  </a:lnTo>
                  <a:lnTo>
                    <a:pt x="989418" y="760666"/>
                  </a:lnTo>
                  <a:lnTo>
                    <a:pt x="989418" y="845464"/>
                  </a:lnTo>
                  <a:lnTo>
                    <a:pt x="847915" y="845464"/>
                  </a:lnTo>
                  <a:lnTo>
                    <a:pt x="847915" y="760666"/>
                  </a:lnTo>
                  <a:lnTo>
                    <a:pt x="819607" y="760666"/>
                  </a:lnTo>
                  <a:lnTo>
                    <a:pt x="819607" y="845464"/>
                  </a:lnTo>
                  <a:lnTo>
                    <a:pt x="678103" y="845464"/>
                  </a:lnTo>
                  <a:lnTo>
                    <a:pt x="678103" y="760336"/>
                  </a:lnTo>
                  <a:lnTo>
                    <a:pt x="1201699" y="760336"/>
                  </a:lnTo>
                  <a:lnTo>
                    <a:pt x="1201699" y="732383"/>
                  </a:lnTo>
                  <a:lnTo>
                    <a:pt x="678103" y="732383"/>
                  </a:lnTo>
                  <a:lnTo>
                    <a:pt x="678103" y="647268"/>
                  </a:lnTo>
                  <a:lnTo>
                    <a:pt x="1201699" y="647268"/>
                  </a:lnTo>
                  <a:lnTo>
                    <a:pt x="1201699" y="619315"/>
                  </a:lnTo>
                  <a:lnTo>
                    <a:pt x="678103" y="619315"/>
                  </a:lnTo>
                  <a:lnTo>
                    <a:pt x="678103" y="534187"/>
                  </a:lnTo>
                  <a:lnTo>
                    <a:pt x="819607" y="534187"/>
                  </a:lnTo>
                  <a:lnTo>
                    <a:pt x="819607" y="619036"/>
                  </a:lnTo>
                  <a:lnTo>
                    <a:pt x="847915" y="619036"/>
                  </a:lnTo>
                  <a:lnTo>
                    <a:pt x="847915" y="534187"/>
                  </a:lnTo>
                  <a:lnTo>
                    <a:pt x="989418" y="534187"/>
                  </a:lnTo>
                  <a:lnTo>
                    <a:pt x="989418" y="619036"/>
                  </a:lnTo>
                  <a:lnTo>
                    <a:pt x="1017727" y="619036"/>
                  </a:lnTo>
                  <a:lnTo>
                    <a:pt x="1017727" y="534187"/>
                  </a:lnTo>
                  <a:lnTo>
                    <a:pt x="1159230" y="534187"/>
                  </a:lnTo>
                  <a:lnTo>
                    <a:pt x="1159230" y="619036"/>
                  </a:lnTo>
                  <a:lnTo>
                    <a:pt x="1201699" y="619036"/>
                  </a:lnTo>
                  <a:lnTo>
                    <a:pt x="1201699" y="534187"/>
                  </a:lnTo>
                  <a:lnTo>
                    <a:pt x="1201699" y="534060"/>
                  </a:lnTo>
                  <a:lnTo>
                    <a:pt x="1201699" y="490982"/>
                  </a:lnTo>
                  <a:close/>
                </a:path>
              </a:pathLst>
            </a:custGeom>
            <a:solidFill>
              <a:srgbClr val="BCBCBC"/>
            </a:solidFill>
          </p:spPr>
          <p:txBody>
            <a:bodyPr wrap="square" lIns="0" tIns="0" rIns="0" bIns="0" rtlCol="0"/>
            <a:lstStyle/>
            <a:p>
              <a:endParaRPr sz="2400"/>
            </a:p>
          </p:txBody>
        </p:sp>
      </p:grpSp>
      <p:sp>
        <p:nvSpPr>
          <p:cNvPr id="14" name="object 14"/>
          <p:cNvSpPr txBox="1"/>
          <p:nvPr/>
        </p:nvSpPr>
        <p:spPr>
          <a:xfrm>
            <a:off x="5996939" y="4948055"/>
            <a:ext cx="1876213" cy="672706"/>
          </a:xfrm>
          <a:prstGeom prst="rect">
            <a:avLst/>
          </a:prstGeom>
        </p:spPr>
        <p:txBody>
          <a:bodyPr vert="horz" wrap="square" lIns="0" tIns="16087" rIns="0" bIns="0" rtlCol="0">
            <a:spAutoFit/>
          </a:bodyPr>
          <a:lstStyle/>
          <a:p>
            <a:pPr algn="ctr">
              <a:spcBef>
                <a:spcPts val="127"/>
              </a:spcBef>
            </a:pPr>
            <a:r>
              <a:rPr sz="2133" dirty="0">
                <a:solidFill>
                  <a:srgbClr val="FFFFFF"/>
                </a:solidFill>
                <a:latin typeface="Calibri"/>
                <a:cs typeface="Calibri"/>
              </a:rPr>
              <a:t>Core</a:t>
            </a:r>
            <a:r>
              <a:rPr sz="2133" spc="-33" dirty="0">
                <a:solidFill>
                  <a:srgbClr val="FFFFFF"/>
                </a:solidFill>
                <a:latin typeface="Calibri"/>
                <a:cs typeface="Calibri"/>
              </a:rPr>
              <a:t> </a:t>
            </a:r>
            <a:r>
              <a:rPr sz="2133" spc="-67" dirty="0">
                <a:solidFill>
                  <a:srgbClr val="FFFFFF"/>
                </a:solidFill>
                <a:latin typeface="Calibri"/>
                <a:cs typeface="Calibri"/>
              </a:rPr>
              <a:t>/</a:t>
            </a:r>
            <a:endParaRPr sz="2133">
              <a:latin typeface="Calibri"/>
              <a:cs typeface="Calibri"/>
            </a:endParaRPr>
          </a:p>
          <a:p>
            <a:pPr algn="ctr">
              <a:spcBef>
                <a:spcPts val="13"/>
              </a:spcBef>
            </a:pPr>
            <a:r>
              <a:rPr sz="2133" dirty="0">
                <a:solidFill>
                  <a:srgbClr val="FFFFFF"/>
                </a:solidFill>
                <a:latin typeface="Calibri"/>
                <a:cs typeface="Calibri"/>
              </a:rPr>
              <a:t>Data</a:t>
            </a:r>
            <a:r>
              <a:rPr sz="2133" spc="-53" dirty="0">
                <a:solidFill>
                  <a:srgbClr val="FFFFFF"/>
                </a:solidFill>
                <a:latin typeface="Calibri"/>
                <a:cs typeface="Calibri"/>
              </a:rPr>
              <a:t> </a:t>
            </a:r>
            <a:r>
              <a:rPr sz="2133" spc="-13" dirty="0">
                <a:solidFill>
                  <a:srgbClr val="FFFFFF"/>
                </a:solidFill>
                <a:latin typeface="Calibri"/>
                <a:cs typeface="Calibri"/>
              </a:rPr>
              <a:t>Warehouse</a:t>
            </a:r>
            <a:endParaRPr sz="2133">
              <a:latin typeface="Calibri"/>
              <a:cs typeface="Calibri"/>
            </a:endParaRPr>
          </a:p>
        </p:txBody>
      </p:sp>
      <p:grpSp>
        <p:nvGrpSpPr>
          <p:cNvPr id="15" name="object 15"/>
          <p:cNvGrpSpPr/>
          <p:nvPr/>
        </p:nvGrpSpPr>
        <p:grpSpPr>
          <a:xfrm>
            <a:off x="5912866" y="2001266"/>
            <a:ext cx="2044700" cy="2959100"/>
            <a:chOff x="4434649" y="1500949"/>
            <a:chExt cx="1533525" cy="2219325"/>
          </a:xfrm>
        </p:grpSpPr>
        <p:sp>
          <p:nvSpPr>
            <p:cNvPr id="16" name="object 16"/>
            <p:cNvSpPr/>
            <p:nvPr/>
          </p:nvSpPr>
          <p:spPr>
            <a:xfrm>
              <a:off x="4439411" y="1505711"/>
              <a:ext cx="1524000" cy="2209800"/>
            </a:xfrm>
            <a:custGeom>
              <a:avLst/>
              <a:gdLst/>
              <a:ahLst/>
              <a:cxnLst/>
              <a:rect l="l" t="t" r="r" b="b"/>
              <a:pathLst>
                <a:path w="1524000" h="2209800">
                  <a:moveTo>
                    <a:pt x="0" y="254000"/>
                  </a:moveTo>
                  <a:lnTo>
                    <a:pt x="4090" y="208328"/>
                  </a:lnTo>
                  <a:lnTo>
                    <a:pt x="15884" y="165349"/>
                  </a:lnTo>
                  <a:lnTo>
                    <a:pt x="34666" y="125777"/>
                  </a:lnTo>
                  <a:lnTo>
                    <a:pt x="59719" y="90328"/>
                  </a:lnTo>
                  <a:lnTo>
                    <a:pt x="90328" y="59719"/>
                  </a:lnTo>
                  <a:lnTo>
                    <a:pt x="125777" y="34666"/>
                  </a:lnTo>
                  <a:lnTo>
                    <a:pt x="165349" y="15884"/>
                  </a:lnTo>
                  <a:lnTo>
                    <a:pt x="208328" y="4090"/>
                  </a:lnTo>
                  <a:lnTo>
                    <a:pt x="254000" y="0"/>
                  </a:lnTo>
                  <a:lnTo>
                    <a:pt x="1270000" y="0"/>
                  </a:lnTo>
                  <a:lnTo>
                    <a:pt x="1315671" y="4090"/>
                  </a:lnTo>
                  <a:lnTo>
                    <a:pt x="1358650" y="15884"/>
                  </a:lnTo>
                  <a:lnTo>
                    <a:pt x="1398222" y="34666"/>
                  </a:lnTo>
                  <a:lnTo>
                    <a:pt x="1433671" y="59719"/>
                  </a:lnTo>
                  <a:lnTo>
                    <a:pt x="1464280" y="90328"/>
                  </a:lnTo>
                  <a:lnTo>
                    <a:pt x="1489333" y="125777"/>
                  </a:lnTo>
                  <a:lnTo>
                    <a:pt x="1508115" y="165349"/>
                  </a:lnTo>
                  <a:lnTo>
                    <a:pt x="1519909" y="208328"/>
                  </a:lnTo>
                  <a:lnTo>
                    <a:pt x="1524000" y="254000"/>
                  </a:lnTo>
                  <a:lnTo>
                    <a:pt x="1524000" y="1955800"/>
                  </a:lnTo>
                  <a:lnTo>
                    <a:pt x="1519909" y="2001471"/>
                  </a:lnTo>
                  <a:lnTo>
                    <a:pt x="1508115" y="2044450"/>
                  </a:lnTo>
                  <a:lnTo>
                    <a:pt x="1489333" y="2084022"/>
                  </a:lnTo>
                  <a:lnTo>
                    <a:pt x="1464280" y="2119471"/>
                  </a:lnTo>
                  <a:lnTo>
                    <a:pt x="1433671" y="2150080"/>
                  </a:lnTo>
                  <a:lnTo>
                    <a:pt x="1398222" y="2175133"/>
                  </a:lnTo>
                  <a:lnTo>
                    <a:pt x="1358650" y="2193915"/>
                  </a:lnTo>
                  <a:lnTo>
                    <a:pt x="1315671" y="2205709"/>
                  </a:lnTo>
                  <a:lnTo>
                    <a:pt x="1270000" y="2209800"/>
                  </a:lnTo>
                  <a:lnTo>
                    <a:pt x="254000" y="2209800"/>
                  </a:lnTo>
                  <a:lnTo>
                    <a:pt x="208328" y="2205709"/>
                  </a:lnTo>
                  <a:lnTo>
                    <a:pt x="165349" y="2193915"/>
                  </a:lnTo>
                  <a:lnTo>
                    <a:pt x="125777" y="2175133"/>
                  </a:lnTo>
                  <a:lnTo>
                    <a:pt x="90328" y="2150080"/>
                  </a:lnTo>
                  <a:lnTo>
                    <a:pt x="59719" y="2119471"/>
                  </a:lnTo>
                  <a:lnTo>
                    <a:pt x="34666" y="2084022"/>
                  </a:lnTo>
                  <a:lnTo>
                    <a:pt x="15884" y="2044450"/>
                  </a:lnTo>
                  <a:lnTo>
                    <a:pt x="4090" y="2001471"/>
                  </a:lnTo>
                  <a:lnTo>
                    <a:pt x="0" y="1955800"/>
                  </a:lnTo>
                  <a:lnTo>
                    <a:pt x="0" y="254000"/>
                  </a:lnTo>
                  <a:close/>
                </a:path>
              </a:pathLst>
            </a:custGeom>
            <a:ln w="9144">
              <a:solidFill>
                <a:srgbClr val="00C3FF"/>
              </a:solidFill>
            </a:ln>
          </p:spPr>
          <p:txBody>
            <a:bodyPr wrap="square" lIns="0" tIns="0" rIns="0" bIns="0" rtlCol="0"/>
            <a:lstStyle/>
            <a:p>
              <a:endParaRPr sz="2400"/>
            </a:p>
          </p:txBody>
        </p:sp>
        <p:sp>
          <p:nvSpPr>
            <p:cNvPr id="17" name="object 17"/>
            <p:cNvSpPr/>
            <p:nvPr/>
          </p:nvSpPr>
          <p:spPr>
            <a:xfrm>
              <a:off x="4918583" y="1950491"/>
              <a:ext cx="581660" cy="1351915"/>
            </a:xfrm>
            <a:custGeom>
              <a:avLst/>
              <a:gdLst/>
              <a:ahLst/>
              <a:cxnLst/>
              <a:rect l="l" t="t" r="r" b="b"/>
              <a:pathLst>
                <a:path w="581660" h="1351914">
                  <a:moveTo>
                    <a:pt x="212267" y="156387"/>
                  </a:moveTo>
                  <a:lnTo>
                    <a:pt x="183959" y="156387"/>
                  </a:lnTo>
                  <a:lnTo>
                    <a:pt x="183959" y="241363"/>
                  </a:lnTo>
                  <a:lnTo>
                    <a:pt x="212267" y="241363"/>
                  </a:lnTo>
                  <a:lnTo>
                    <a:pt x="212267" y="156387"/>
                  </a:lnTo>
                  <a:close/>
                </a:path>
                <a:path w="581660" h="1351914">
                  <a:moveTo>
                    <a:pt x="382079" y="156387"/>
                  </a:moveTo>
                  <a:lnTo>
                    <a:pt x="353771" y="156387"/>
                  </a:lnTo>
                  <a:lnTo>
                    <a:pt x="353771" y="241363"/>
                  </a:lnTo>
                  <a:lnTo>
                    <a:pt x="382079" y="241363"/>
                  </a:lnTo>
                  <a:lnTo>
                    <a:pt x="382079" y="156387"/>
                  </a:lnTo>
                  <a:close/>
                </a:path>
                <a:path w="581660" h="1351914">
                  <a:moveTo>
                    <a:pt x="566051" y="156387"/>
                  </a:moveTo>
                  <a:lnTo>
                    <a:pt x="523582" y="156387"/>
                  </a:lnTo>
                  <a:lnTo>
                    <a:pt x="523582" y="241363"/>
                  </a:lnTo>
                  <a:lnTo>
                    <a:pt x="566051" y="241363"/>
                  </a:lnTo>
                  <a:lnTo>
                    <a:pt x="566051" y="156387"/>
                  </a:lnTo>
                  <a:close/>
                </a:path>
                <a:path w="581660" h="1351914">
                  <a:moveTo>
                    <a:pt x="566051" y="0"/>
                  </a:moveTo>
                  <a:lnTo>
                    <a:pt x="0" y="0"/>
                  </a:lnTo>
                  <a:lnTo>
                    <a:pt x="0" y="43205"/>
                  </a:lnTo>
                  <a:lnTo>
                    <a:pt x="0" y="128333"/>
                  </a:lnTo>
                  <a:lnTo>
                    <a:pt x="0" y="765124"/>
                  </a:lnTo>
                  <a:lnTo>
                    <a:pt x="566051" y="765124"/>
                  </a:lnTo>
                  <a:lnTo>
                    <a:pt x="566051" y="722363"/>
                  </a:lnTo>
                  <a:lnTo>
                    <a:pt x="566051" y="721982"/>
                  </a:lnTo>
                  <a:lnTo>
                    <a:pt x="566051" y="637578"/>
                  </a:lnTo>
                  <a:lnTo>
                    <a:pt x="523582" y="637578"/>
                  </a:lnTo>
                  <a:lnTo>
                    <a:pt x="523582" y="721982"/>
                  </a:lnTo>
                  <a:lnTo>
                    <a:pt x="382079" y="721982"/>
                  </a:lnTo>
                  <a:lnTo>
                    <a:pt x="382079" y="637578"/>
                  </a:lnTo>
                  <a:lnTo>
                    <a:pt x="353771" y="637578"/>
                  </a:lnTo>
                  <a:lnTo>
                    <a:pt x="353771" y="721982"/>
                  </a:lnTo>
                  <a:lnTo>
                    <a:pt x="212267" y="721982"/>
                  </a:lnTo>
                  <a:lnTo>
                    <a:pt x="212267" y="637578"/>
                  </a:lnTo>
                  <a:lnTo>
                    <a:pt x="183959" y="637578"/>
                  </a:lnTo>
                  <a:lnTo>
                    <a:pt x="183959" y="721982"/>
                  </a:lnTo>
                  <a:lnTo>
                    <a:pt x="42456" y="721982"/>
                  </a:lnTo>
                  <a:lnTo>
                    <a:pt x="42456" y="636943"/>
                  </a:lnTo>
                  <a:lnTo>
                    <a:pt x="566051" y="636943"/>
                  </a:lnTo>
                  <a:lnTo>
                    <a:pt x="566051" y="609320"/>
                  </a:lnTo>
                  <a:lnTo>
                    <a:pt x="566051" y="609028"/>
                  </a:lnTo>
                  <a:lnTo>
                    <a:pt x="566051" y="524522"/>
                  </a:lnTo>
                  <a:lnTo>
                    <a:pt x="523582" y="524522"/>
                  </a:lnTo>
                  <a:lnTo>
                    <a:pt x="523582" y="609028"/>
                  </a:lnTo>
                  <a:lnTo>
                    <a:pt x="382079" y="609028"/>
                  </a:lnTo>
                  <a:lnTo>
                    <a:pt x="382079" y="524522"/>
                  </a:lnTo>
                  <a:lnTo>
                    <a:pt x="353771" y="524522"/>
                  </a:lnTo>
                  <a:lnTo>
                    <a:pt x="353771" y="609028"/>
                  </a:lnTo>
                  <a:lnTo>
                    <a:pt x="212267" y="609028"/>
                  </a:lnTo>
                  <a:lnTo>
                    <a:pt x="212267" y="524522"/>
                  </a:lnTo>
                  <a:lnTo>
                    <a:pt x="183959" y="524522"/>
                  </a:lnTo>
                  <a:lnTo>
                    <a:pt x="183959" y="609028"/>
                  </a:lnTo>
                  <a:lnTo>
                    <a:pt x="42456" y="609028"/>
                  </a:lnTo>
                  <a:lnTo>
                    <a:pt x="42456" y="523989"/>
                  </a:lnTo>
                  <a:lnTo>
                    <a:pt x="566051" y="523989"/>
                  </a:lnTo>
                  <a:lnTo>
                    <a:pt x="566051" y="496265"/>
                  </a:lnTo>
                  <a:lnTo>
                    <a:pt x="566051" y="496074"/>
                  </a:lnTo>
                  <a:lnTo>
                    <a:pt x="566051" y="411467"/>
                  </a:lnTo>
                  <a:lnTo>
                    <a:pt x="523582" y="411467"/>
                  </a:lnTo>
                  <a:lnTo>
                    <a:pt x="523582" y="496074"/>
                  </a:lnTo>
                  <a:lnTo>
                    <a:pt x="382079" y="496074"/>
                  </a:lnTo>
                  <a:lnTo>
                    <a:pt x="382079" y="411467"/>
                  </a:lnTo>
                  <a:lnTo>
                    <a:pt x="353771" y="411467"/>
                  </a:lnTo>
                  <a:lnTo>
                    <a:pt x="353771" y="496074"/>
                  </a:lnTo>
                  <a:lnTo>
                    <a:pt x="212267" y="496074"/>
                  </a:lnTo>
                  <a:lnTo>
                    <a:pt x="212267" y="411467"/>
                  </a:lnTo>
                  <a:lnTo>
                    <a:pt x="183959" y="411467"/>
                  </a:lnTo>
                  <a:lnTo>
                    <a:pt x="183959" y="496074"/>
                  </a:lnTo>
                  <a:lnTo>
                    <a:pt x="42456" y="496074"/>
                  </a:lnTo>
                  <a:lnTo>
                    <a:pt x="42456" y="411035"/>
                  </a:lnTo>
                  <a:lnTo>
                    <a:pt x="566051" y="411035"/>
                  </a:lnTo>
                  <a:lnTo>
                    <a:pt x="566051" y="397687"/>
                  </a:lnTo>
                  <a:lnTo>
                    <a:pt x="566051" y="369163"/>
                  </a:lnTo>
                  <a:lnTo>
                    <a:pt x="566051" y="354672"/>
                  </a:lnTo>
                  <a:lnTo>
                    <a:pt x="566051" y="354482"/>
                  </a:lnTo>
                  <a:lnTo>
                    <a:pt x="566051" y="269684"/>
                  </a:lnTo>
                  <a:lnTo>
                    <a:pt x="523582" y="269684"/>
                  </a:lnTo>
                  <a:lnTo>
                    <a:pt x="523582" y="354482"/>
                  </a:lnTo>
                  <a:lnTo>
                    <a:pt x="382079" y="354482"/>
                  </a:lnTo>
                  <a:lnTo>
                    <a:pt x="382079" y="269684"/>
                  </a:lnTo>
                  <a:lnTo>
                    <a:pt x="353771" y="269684"/>
                  </a:lnTo>
                  <a:lnTo>
                    <a:pt x="353771" y="354482"/>
                  </a:lnTo>
                  <a:lnTo>
                    <a:pt x="212267" y="354482"/>
                  </a:lnTo>
                  <a:lnTo>
                    <a:pt x="212267" y="269684"/>
                  </a:lnTo>
                  <a:lnTo>
                    <a:pt x="183959" y="269684"/>
                  </a:lnTo>
                  <a:lnTo>
                    <a:pt x="183959" y="354482"/>
                  </a:lnTo>
                  <a:lnTo>
                    <a:pt x="42456" y="354482"/>
                  </a:lnTo>
                  <a:lnTo>
                    <a:pt x="42456" y="269354"/>
                  </a:lnTo>
                  <a:lnTo>
                    <a:pt x="566051" y="269354"/>
                  </a:lnTo>
                  <a:lnTo>
                    <a:pt x="566051" y="241401"/>
                  </a:lnTo>
                  <a:lnTo>
                    <a:pt x="42456" y="241401"/>
                  </a:lnTo>
                  <a:lnTo>
                    <a:pt x="42456" y="156286"/>
                  </a:lnTo>
                  <a:lnTo>
                    <a:pt x="566051" y="156286"/>
                  </a:lnTo>
                  <a:lnTo>
                    <a:pt x="566051" y="128333"/>
                  </a:lnTo>
                  <a:lnTo>
                    <a:pt x="42456" y="128333"/>
                  </a:lnTo>
                  <a:lnTo>
                    <a:pt x="42456" y="43205"/>
                  </a:lnTo>
                  <a:lnTo>
                    <a:pt x="183959" y="43205"/>
                  </a:lnTo>
                  <a:lnTo>
                    <a:pt x="183959" y="128054"/>
                  </a:lnTo>
                  <a:lnTo>
                    <a:pt x="212267" y="128054"/>
                  </a:lnTo>
                  <a:lnTo>
                    <a:pt x="212267" y="43205"/>
                  </a:lnTo>
                  <a:lnTo>
                    <a:pt x="353771" y="43205"/>
                  </a:lnTo>
                  <a:lnTo>
                    <a:pt x="353771" y="128054"/>
                  </a:lnTo>
                  <a:lnTo>
                    <a:pt x="382079" y="128054"/>
                  </a:lnTo>
                  <a:lnTo>
                    <a:pt x="382079" y="43205"/>
                  </a:lnTo>
                  <a:lnTo>
                    <a:pt x="523582" y="43205"/>
                  </a:lnTo>
                  <a:lnTo>
                    <a:pt x="523582" y="128054"/>
                  </a:lnTo>
                  <a:lnTo>
                    <a:pt x="566051" y="128054"/>
                  </a:lnTo>
                  <a:lnTo>
                    <a:pt x="566051" y="43205"/>
                  </a:lnTo>
                  <a:lnTo>
                    <a:pt x="566051" y="43078"/>
                  </a:lnTo>
                  <a:lnTo>
                    <a:pt x="566051" y="0"/>
                  </a:lnTo>
                  <a:close/>
                </a:path>
                <a:path w="581660" h="1351914">
                  <a:moveTo>
                    <a:pt x="581418" y="954697"/>
                  </a:moveTo>
                  <a:lnTo>
                    <a:pt x="16624" y="954697"/>
                  </a:lnTo>
                  <a:lnTo>
                    <a:pt x="16624" y="996670"/>
                  </a:lnTo>
                  <a:lnTo>
                    <a:pt x="16624" y="1081887"/>
                  </a:lnTo>
                  <a:lnTo>
                    <a:pt x="16624" y="1351546"/>
                  </a:lnTo>
                  <a:lnTo>
                    <a:pt x="581418" y="1351546"/>
                  </a:lnTo>
                  <a:lnTo>
                    <a:pt x="581418" y="1308696"/>
                  </a:lnTo>
                  <a:lnTo>
                    <a:pt x="581418" y="1308303"/>
                  </a:lnTo>
                  <a:lnTo>
                    <a:pt x="581418" y="1223708"/>
                  </a:lnTo>
                  <a:lnTo>
                    <a:pt x="539051" y="1223708"/>
                  </a:lnTo>
                  <a:lnTo>
                    <a:pt x="539051" y="1308303"/>
                  </a:lnTo>
                  <a:lnTo>
                    <a:pt x="397852" y="1308303"/>
                  </a:lnTo>
                  <a:lnTo>
                    <a:pt x="397852" y="1223708"/>
                  </a:lnTo>
                  <a:lnTo>
                    <a:pt x="369620" y="1223708"/>
                  </a:lnTo>
                  <a:lnTo>
                    <a:pt x="369620" y="1308303"/>
                  </a:lnTo>
                  <a:lnTo>
                    <a:pt x="228422" y="1308303"/>
                  </a:lnTo>
                  <a:lnTo>
                    <a:pt x="228422" y="1223708"/>
                  </a:lnTo>
                  <a:lnTo>
                    <a:pt x="200177" y="1223708"/>
                  </a:lnTo>
                  <a:lnTo>
                    <a:pt x="200177" y="1308303"/>
                  </a:lnTo>
                  <a:lnTo>
                    <a:pt x="58991" y="1308303"/>
                  </a:lnTo>
                  <a:lnTo>
                    <a:pt x="58991" y="1223086"/>
                  </a:lnTo>
                  <a:lnTo>
                    <a:pt x="581418" y="1223086"/>
                  </a:lnTo>
                  <a:lnTo>
                    <a:pt x="581418" y="1195387"/>
                  </a:lnTo>
                  <a:lnTo>
                    <a:pt x="581418" y="1195095"/>
                  </a:lnTo>
                  <a:lnTo>
                    <a:pt x="581418" y="1110411"/>
                  </a:lnTo>
                  <a:lnTo>
                    <a:pt x="539051" y="1110411"/>
                  </a:lnTo>
                  <a:lnTo>
                    <a:pt x="539051" y="1195095"/>
                  </a:lnTo>
                  <a:lnTo>
                    <a:pt x="397852" y="1195095"/>
                  </a:lnTo>
                  <a:lnTo>
                    <a:pt x="397852" y="1110411"/>
                  </a:lnTo>
                  <a:lnTo>
                    <a:pt x="369620" y="1110411"/>
                  </a:lnTo>
                  <a:lnTo>
                    <a:pt x="369620" y="1195095"/>
                  </a:lnTo>
                  <a:lnTo>
                    <a:pt x="228422" y="1195095"/>
                  </a:lnTo>
                  <a:lnTo>
                    <a:pt x="228422" y="1110411"/>
                  </a:lnTo>
                  <a:lnTo>
                    <a:pt x="200177" y="1110411"/>
                  </a:lnTo>
                  <a:lnTo>
                    <a:pt x="200177" y="1195095"/>
                  </a:lnTo>
                  <a:lnTo>
                    <a:pt x="58991" y="1195095"/>
                  </a:lnTo>
                  <a:lnTo>
                    <a:pt x="58991" y="1109878"/>
                  </a:lnTo>
                  <a:lnTo>
                    <a:pt x="581418" y="1109878"/>
                  </a:lnTo>
                  <a:lnTo>
                    <a:pt x="581418" y="1082078"/>
                  </a:lnTo>
                  <a:lnTo>
                    <a:pt x="581418" y="1081887"/>
                  </a:lnTo>
                  <a:lnTo>
                    <a:pt x="581418" y="997102"/>
                  </a:lnTo>
                  <a:lnTo>
                    <a:pt x="539051" y="997102"/>
                  </a:lnTo>
                  <a:lnTo>
                    <a:pt x="539051" y="1081887"/>
                  </a:lnTo>
                  <a:lnTo>
                    <a:pt x="397852" y="1081887"/>
                  </a:lnTo>
                  <a:lnTo>
                    <a:pt x="397852" y="997102"/>
                  </a:lnTo>
                  <a:lnTo>
                    <a:pt x="369620" y="997102"/>
                  </a:lnTo>
                  <a:lnTo>
                    <a:pt x="369620" y="1081887"/>
                  </a:lnTo>
                  <a:lnTo>
                    <a:pt x="228422" y="1081887"/>
                  </a:lnTo>
                  <a:lnTo>
                    <a:pt x="228422" y="997102"/>
                  </a:lnTo>
                  <a:lnTo>
                    <a:pt x="200177" y="997102"/>
                  </a:lnTo>
                  <a:lnTo>
                    <a:pt x="200177" y="1081887"/>
                  </a:lnTo>
                  <a:lnTo>
                    <a:pt x="58991" y="1081887"/>
                  </a:lnTo>
                  <a:lnTo>
                    <a:pt x="58991" y="996670"/>
                  </a:lnTo>
                  <a:lnTo>
                    <a:pt x="581418" y="996670"/>
                  </a:lnTo>
                  <a:lnTo>
                    <a:pt x="581418" y="954697"/>
                  </a:lnTo>
                  <a:close/>
                </a:path>
              </a:pathLst>
            </a:custGeom>
            <a:solidFill>
              <a:srgbClr val="BCBCBC"/>
            </a:solidFill>
          </p:spPr>
          <p:txBody>
            <a:bodyPr wrap="square" lIns="0" tIns="0" rIns="0" bIns="0" rtlCol="0"/>
            <a:lstStyle/>
            <a:p>
              <a:endParaRPr sz="2400"/>
            </a:p>
          </p:txBody>
        </p:sp>
      </p:grpSp>
      <p:sp>
        <p:nvSpPr>
          <p:cNvPr id="18" name="object 18"/>
          <p:cNvSpPr txBox="1"/>
          <p:nvPr/>
        </p:nvSpPr>
        <p:spPr>
          <a:xfrm>
            <a:off x="8743020" y="3444850"/>
            <a:ext cx="1355513"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Data</a:t>
            </a:r>
            <a:r>
              <a:rPr sz="2133" spc="-33" dirty="0">
                <a:solidFill>
                  <a:srgbClr val="FFFFFF"/>
                </a:solidFill>
                <a:latin typeface="Calibri"/>
                <a:cs typeface="Calibri"/>
              </a:rPr>
              <a:t> </a:t>
            </a:r>
            <a:r>
              <a:rPr sz="2133" dirty="0">
                <a:solidFill>
                  <a:srgbClr val="FFFFFF"/>
                </a:solidFill>
                <a:latin typeface="Calibri"/>
                <a:cs typeface="Calibri"/>
              </a:rPr>
              <a:t>Mart</a:t>
            </a:r>
            <a:r>
              <a:rPr sz="2133" spc="-20" dirty="0">
                <a:solidFill>
                  <a:srgbClr val="FFFFFF"/>
                </a:solidFill>
                <a:latin typeface="Calibri"/>
                <a:cs typeface="Calibri"/>
              </a:rPr>
              <a:t> </a:t>
            </a:r>
            <a:r>
              <a:rPr sz="2133" spc="-67" dirty="0">
                <a:solidFill>
                  <a:srgbClr val="FFFFFF"/>
                </a:solidFill>
                <a:latin typeface="Calibri"/>
                <a:cs typeface="Calibri"/>
              </a:rPr>
              <a:t>1</a:t>
            </a:r>
            <a:endParaRPr sz="2133">
              <a:latin typeface="Calibri"/>
              <a:cs typeface="Calibri"/>
            </a:endParaRPr>
          </a:p>
        </p:txBody>
      </p:sp>
      <p:grpSp>
        <p:nvGrpSpPr>
          <p:cNvPr id="19" name="object 19"/>
          <p:cNvGrpSpPr/>
          <p:nvPr/>
        </p:nvGrpSpPr>
        <p:grpSpPr>
          <a:xfrm>
            <a:off x="4181772" y="1659890"/>
            <a:ext cx="6628553" cy="3770207"/>
            <a:chOff x="3136328" y="1244917"/>
            <a:chExt cx="4971415" cy="2827655"/>
          </a:xfrm>
        </p:grpSpPr>
        <p:sp>
          <p:nvSpPr>
            <p:cNvPr id="20" name="object 20"/>
            <p:cNvSpPr/>
            <p:nvPr/>
          </p:nvSpPr>
          <p:spPr>
            <a:xfrm>
              <a:off x="6303264" y="1249680"/>
              <a:ext cx="1524000" cy="1336675"/>
            </a:xfrm>
            <a:custGeom>
              <a:avLst/>
              <a:gdLst/>
              <a:ahLst/>
              <a:cxnLst/>
              <a:rect l="l" t="t" r="r" b="b"/>
              <a:pathLst>
                <a:path w="1524000" h="1336675">
                  <a:moveTo>
                    <a:pt x="0" y="222758"/>
                  </a:moveTo>
                  <a:lnTo>
                    <a:pt x="4524" y="177853"/>
                  </a:lnTo>
                  <a:lnTo>
                    <a:pt x="17500" y="136034"/>
                  </a:lnTo>
                  <a:lnTo>
                    <a:pt x="38033" y="98195"/>
                  </a:lnTo>
                  <a:lnTo>
                    <a:pt x="65230" y="65230"/>
                  </a:lnTo>
                  <a:lnTo>
                    <a:pt x="98195" y="38033"/>
                  </a:lnTo>
                  <a:lnTo>
                    <a:pt x="136034" y="17500"/>
                  </a:lnTo>
                  <a:lnTo>
                    <a:pt x="177853" y="4524"/>
                  </a:lnTo>
                  <a:lnTo>
                    <a:pt x="222758" y="0"/>
                  </a:lnTo>
                  <a:lnTo>
                    <a:pt x="1301241" y="0"/>
                  </a:lnTo>
                  <a:lnTo>
                    <a:pt x="1346146" y="4524"/>
                  </a:lnTo>
                  <a:lnTo>
                    <a:pt x="1387965" y="17500"/>
                  </a:lnTo>
                  <a:lnTo>
                    <a:pt x="1425804" y="38033"/>
                  </a:lnTo>
                  <a:lnTo>
                    <a:pt x="1458769" y="65230"/>
                  </a:lnTo>
                  <a:lnTo>
                    <a:pt x="1485966" y="98195"/>
                  </a:lnTo>
                  <a:lnTo>
                    <a:pt x="1506499" y="136034"/>
                  </a:lnTo>
                  <a:lnTo>
                    <a:pt x="1519475" y="177853"/>
                  </a:lnTo>
                  <a:lnTo>
                    <a:pt x="1524000" y="222758"/>
                  </a:lnTo>
                  <a:lnTo>
                    <a:pt x="1524000" y="1113790"/>
                  </a:lnTo>
                  <a:lnTo>
                    <a:pt x="1519475" y="1158694"/>
                  </a:lnTo>
                  <a:lnTo>
                    <a:pt x="1506499" y="1200513"/>
                  </a:lnTo>
                  <a:lnTo>
                    <a:pt x="1485966" y="1238352"/>
                  </a:lnTo>
                  <a:lnTo>
                    <a:pt x="1458769" y="1271317"/>
                  </a:lnTo>
                  <a:lnTo>
                    <a:pt x="1425804" y="1298514"/>
                  </a:lnTo>
                  <a:lnTo>
                    <a:pt x="1387965" y="1319047"/>
                  </a:lnTo>
                  <a:lnTo>
                    <a:pt x="1346146" y="1332023"/>
                  </a:lnTo>
                  <a:lnTo>
                    <a:pt x="1301241" y="1336548"/>
                  </a:lnTo>
                  <a:lnTo>
                    <a:pt x="222758" y="1336548"/>
                  </a:lnTo>
                  <a:lnTo>
                    <a:pt x="177853" y="1332023"/>
                  </a:lnTo>
                  <a:lnTo>
                    <a:pt x="136034" y="1319047"/>
                  </a:lnTo>
                  <a:lnTo>
                    <a:pt x="98195" y="1298514"/>
                  </a:lnTo>
                  <a:lnTo>
                    <a:pt x="65230" y="1271317"/>
                  </a:lnTo>
                  <a:lnTo>
                    <a:pt x="38033" y="1238352"/>
                  </a:lnTo>
                  <a:lnTo>
                    <a:pt x="17500" y="1200513"/>
                  </a:lnTo>
                  <a:lnTo>
                    <a:pt x="4524" y="1158694"/>
                  </a:lnTo>
                  <a:lnTo>
                    <a:pt x="0" y="1113790"/>
                  </a:lnTo>
                  <a:lnTo>
                    <a:pt x="0" y="222758"/>
                  </a:lnTo>
                  <a:close/>
                </a:path>
              </a:pathLst>
            </a:custGeom>
            <a:ln w="9144">
              <a:solidFill>
                <a:srgbClr val="00C3FF"/>
              </a:solidFill>
            </a:ln>
          </p:spPr>
          <p:txBody>
            <a:bodyPr wrap="square" lIns="0" tIns="0" rIns="0" bIns="0" rtlCol="0"/>
            <a:lstStyle/>
            <a:p>
              <a:endParaRPr sz="2400"/>
            </a:p>
          </p:txBody>
        </p:sp>
        <p:sp>
          <p:nvSpPr>
            <p:cNvPr id="21" name="object 21"/>
            <p:cNvSpPr/>
            <p:nvPr/>
          </p:nvSpPr>
          <p:spPr>
            <a:xfrm>
              <a:off x="6488785" y="1432928"/>
              <a:ext cx="1253490" cy="1022985"/>
            </a:xfrm>
            <a:custGeom>
              <a:avLst/>
              <a:gdLst/>
              <a:ahLst/>
              <a:cxnLst/>
              <a:rect l="l" t="t" r="r" b="b"/>
              <a:pathLst>
                <a:path w="1253490" h="1022985">
                  <a:moveTo>
                    <a:pt x="129895" y="805764"/>
                  </a:moveTo>
                  <a:lnTo>
                    <a:pt x="112572" y="805764"/>
                  </a:lnTo>
                  <a:lnTo>
                    <a:pt x="112572" y="857770"/>
                  </a:lnTo>
                  <a:lnTo>
                    <a:pt x="129895" y="857770"/>
                  </a:lnTo>
                  <a:lnTo>
                    <a:pt x="129895" y="805764"/>
                  </a:lnTo>
                  <a:close/>
                </a:path>
                <a:path w="1253490" h="1022985">
                  <a:moveTo>
                    <a:pt x="129895" y="25476"/>
                  </a:moveTo>
                  <a:lnTo>
                    <a:pt x="112572" y="25476"/>
                  </a:lnTo>
                  <a:lnTo>
                    <a:pt x="112572" y="77482"/>
                  </a:lnTo>
                  <a:lnTo>
                    <a:pt x="129895" y="77482"/>
                  </a:lnTo>
                  <a:lnTo>
                    <a:pt x="129895" y="25476"/>
                  </a:lnTo>
                  <a:close/>
                </a:path>
                <a:path w="1253490" h="1022985">
                  <a:moveTo>
                    <a:pt x="233819" y="805764"/>
                  </a:moveTo>
                  <a:lnTo>
                    <a:pt x="216496" y="805764"/>
                  </a:lnTo>
                  <a:lnTo>
                    <a:pt x="216496" y="857770"/>
                  </a:lnTo>
                  <a:lnTo>
                    <a:pt x="233819" y="857770"/>
                  </a:lnTo>
                  <a:lnTo>
                    <a:pt x="233819" y="805764"/>
                  </a:lnTo>
                  <a:close/>
                </a:path>
                <a:path w="1253490" h="1022985">
                  <a:moveTo>
                    <a:pt x="233819" y="25476"/>
                  </a:moveTo>
                  <a:lnTo>
                    <a:pt x="216496" y="25476"/>
                  </a:lnTo>
                  <a:lnTo>
                    <a:pt x="216496" y="77482"/>
                  </a:lnTo>
                  <a:lnTo>
                    <a:pt x="233819" y="77482"/>
                  </a:lnTo>
                  <a:lnTo>
                    <a:pt x="233819" y="25476"/>
                  </a:lnTo>
                  <a:close/>
                </a:path>
                <a:path w="1253490" h="1022985">
                  <a:moveTo>
                    <a:pt x="346405" y="805764"/>
                  </a:moveTo>
                  <a:lnTo>
                    <a:pt x="320421" y="805764"/>
                  </a:lnTo>
                  <a:lnTo>
                    <a:pt x="320421" y="857770"/>
                  </a:lnTo>
                  <a:lnTo>
                    <a:pt x="346405" y="857770"/>
                  </a:lnTo>
                  <a:lnTo>
                    <a:pt x="346405" y="805764"/>
                  </a:lnTo>
                  <a:close/>
                </a:path>
                <a:path w="1253490" h="1022985">
                  <a:moveTo>
                    <a:pt x="346405" y="780288"/>
                  </a:moveTo>
                  <a:lnTo>
                    <a:pt x="0" y="780288"/>
                  </a:lnTo>
                  <a:lnTo>
                    <a:pt x="0" y="805700"/>
                  </a:lnTo>
                  <a:lnTo>
                    <a:pt x="0" y="857796"/>
                  </a:lnTo>
                  <a:lnTo>
                    <a:pt x="0" y="1022972"/>
                  </a:lnTo>
                  <a:lnTo>
                    <a:pt x="346405" y="1022972"/>
                  </a:lnTo>
                  <a:lnTo>
                    <a:pt x="346405" y="996454"/>
                  </a:lnTo>
                  <a:lnTo>
                    <a:pt x="346405" y="996289"/>
                  </a:lnTo>
                  <a:lnTo>
                    <a:pt x="346405" y="944448"/>
                  </a:lnTo>
                  <a:lnTo>
                    <a:pt x="320421" y="944448"/>
                  </a:lnTo>
                  <a:lnTo>
                    <a:pt x="320421" y="996289"/>
                  </a:lnTo>
                  <a:lnTo>
                    <a:pt x="233819" y="996289"/>
                  </a:lnTo>
                  <a:lnTo>
                    <a:pt x="233819" y="944448"/>
                  </a:lnTo>
                  <a:lnTo>
                    <a:pt x="216496" y="944448"/>
                  </a:lnTo>
                  <a:lnTo>
                    <a:pt x="216496" y="996289"/>
                  </a:lnTo>
                  <a:lnTo>
                    <a:pt x="129895" y="996289"/>
                  </a:lnTo>
                  <a:lnTo>
                    <a:pt x="129895" y="944448"/>
                  </a:lnTo>
                  <a:lnTo>
                    <a:pt x="112572" y="944448"/>
                  </a:lnTo>
                  <a:lnTo>
                    <a:pt x="112572" y="996289"/>
                  </a:lnTo>
                  <a:lnTo>
                    <a:pt x="25984" y="996289"/>
                  </a:lnTo>
                  <a:lnTo>
                    <a:pt x="25984" y="944194"/>
                  </a:lnTo>
                  <a:lnTo>
                    <a:pt x="346405" y="944194"/>
                  </a:lnTo>
                  <a:lnTo>
                    <a:pt x="346405" y="927671"/>
                  </a:lnTo>
                  <a:lnTo>
                    <a:pt x="25984" y="927671"/>
                  </a:lnTo>
                  <a:lnTo>
                    <a:pt x="25984" y="875588"/>
                  </a:lnTo>
                  <a:lnTo>
                    <a:pt x="112572" y="875588"/>
                  </a:lnTo>
                  <a:lnTo>
                    <a:pt x="112572" y="927112"/>
                  </a:lnTo>
                  <a:lnTo>
                    <a:pt x="129895" y="927112"/>
                  </a:lnTo>
                  <a:lnTo>
                    <a:pt x="129895" y="875588"/>
                  </a:lnTo>
                  <a:lnTo>
                    <a:pt x="216496" y="875588"/>
                  </a:lnTo>
                  <a:lnTo>
                    <a:pt x="216496" y="927112"/>
                  </a:lnTo>
                  <a:lnTo>
                    <a:pt x="233819" y="927112"/>
                  </a:lnTo>
                  <a:lnTo>
                    <a:pt x="233819" y="875588"/>
                  </a:lnTo>
                  <a:lnTo>
                    <a:pt x="320421" y="875588"/>
                  </a:lnTo>
                  <a:lnTo>
                    <a:pt x="320421" y="927112"/>
                  </a:lnTo>
                  <a:lnTo>
                    <a:pt x="346405" y="927112"/>
                  </a:lnTo>
                  <a:lnTo>
                    <a:pt x="346405" y="875588"/>
                  </a:lnTo>
                  <a:lnTo>
                    <a:pt x="346405" y="875106"/>
                  </a:lnTo>
                  <a:lnTo>
                    <a:pt x="346405" y="857796"/>
                  </a:lnTo>
                  <a:lnTo>
                    <a:pt x="25984" y="857796"/>
                  </a:lnTo>
                  <a:lnTo>
                    <a:pt x="25984" y="805700"/>
                  </a:lnTo>
                  <a:lnTo>
                    <a:pt x="346405" y="805700"/>
                  </a:lnTo>
                  <a:lnTo>
                    <a:pt x="346405" y="780288"/>
                  </a:lnTo>
                  <a:close/>
                </a:path>
                <a:path w="1253490" h="1022985">
                  <a:moveTo>
                    <a:pt x="346405" y="25476"/>
                  </a:moveTo>
                  <a:lnTo>
                    <a:pt x="320421" y="25476"/>
                  </a:lnTo>
                  <a:lnTo>
                    <a:pt x="320421" y="77482"/>
                  </a:lnTo>
                  <a:lnTo>
                    <a:pt x="346405" y="77482"/>
                  </a:lnTo>
                  <a:lnTo>
                    <a:pt x="346405" y="25476"/>
                  </a:lnTo>
                  <a:close/>
                </a:path>
                <a:path w="1253490" h="1022985">
                  <a:moveTo>
                    <a:pt x="346405" y="0"/>
                  </a:moveTo>
                  <a:lnTo>
                    <a:pt x="0" y="0"/>
                  </a:lnTo>
                  <a:lnTo>
                    <a:pt x="0" y="25412"/>
                  </a:lnTo>
                  <a:lnTo>
                    <a:pt x="0" y="77508"/>
                  </a:lnTo>
                  <a:lnTo>
                    <a:pt x="0" y="242684"/>
                  </a:lnTo>
                  <a:lnTo>
                    <a:pt x="346405" y="242684"/>
                  </a:lnTo>
                  <a:lnTo>
                    <a:pt x="346405" y="216166"/>
                  </a:lnTo>
                  <a:lnTo>
                    <a:pt x="346405" y="216001"/>
                  </a:lnTo>
                  <a:lnTo>
                    <a:pt x="346405" y="164160"/>
                  </a:lnTo>
                  <a:lnTo>
                    <a:pt x="320421" y="164160"/>
                  </a:lnTo>
                  <a:lnTo>
                    <a:pt x="320421" y="216001"/>
                  </a:lnTo>
                  <a:lnTo>
                    <a:pt x="233819" y="216001"/>
                  </a:lnTo>
                  <a:lnTo>
                    <a:pt x="233819" y="164160"/>
                  </a:lnTo>
                  <a:lnTo>
                    <a:pt x="216496" y="164160"/>
                  </a:lnTo>
                  <a:lnTo>
                    <a:pt x="216496" y="216001"/>
                  </a:lnTo>
                  <a:lnTo>
                    <a:pt x="129895" y="216001"/>
                  </a:lnTo>
                  <a:lnTo>
                    <a:pt x="129895" y="164160"/>
                  </a:lnTo>
                  <a:lnTo>
                    <a:pt x="112572" y="164160"/>
                  </a:lnTo>
                  <a:lnTo>
                    <a:pt x="112572" y="216001"/>
                  </a:lnTo>
                  <a:lnTo>
                    <a:pt x="25984" y="216001"/>
                  </a:lnTo>
                  <a:lnTo>
                    <a:pt x="25984" y="163906"/>
                  </a:lnTo>
                  <a:lnTo>
                    <a:pt x="346405" y="163906"/>
                  </a:lnTo>
                  <a:lnTo>
                    <a:pt x="346405" y="147383"/>
                  </a:lnTo>
                  <a:lnTo>
                    <a:pt x="25984" y="147383"/>
                  </a:lnTo>
                  <a:lnTo>
                    <a:pt x="25984" y="95300"/>
                  </a:lnTo>
                  <a:lnTo>
                    <a:pt x="112572" y="95300"/>
                  </a:lnTo>
                  <a:lnTo>
                    <a:pt x="112572" y="146824"/>
                  </a:lnTo>
                  <a:lnTo>
                    <a:pt x="129895" y="146824"/>
                  </a:lnTo>
                  <a:lnTo>
                    <a:pt x="129895" y="95300"/>
                  </a:lnTo>
                  <a:lnTo>
                    <a:pt x="216496" y="95300"/>
                  </a:lnTo>
                  <a:lnTo>
                    <a:pt x="216496" y="146824"/>
                  </a:lnTo>
                  <a:lnTo>
                    <a:pt x="233819" y="146824"/>
                  </a:lnTo>
                  <a:lnTo>
                    <a:pt x="233819" y="95300"/>
                  </a:lnTo>
                  <a:lnTo>
                    <a:pt x="320421" y="95300"/>
                  </a:lnTo>
                  <a:lnTo>
                    <a:pt x="320421" y="146824"/>
                  </a:lnTo>
                  <a:lnTo>
                    <a:pt x="346405" y="146824"/>
                  </a:lnTo>
                  <a:lnTo>
                    <a:pt x="346405" y="95300"/>
                  </a:lnTo>
                  <a:lnTo>
                    <a:pt x="346405" y="94818"/>
                  </a:lnTo>
                  <a:lnTo>
                    <a:pt x="346405" y="77508"/>
                  </a:lnTo>
                  <a:lnTo>
                    <a:pt x="25984" y="77508"/>
                  </a:lnTo>
                  <a:lnTo>
                    <a:pt x="25984" y="25412"/>
                  </a:lnTo>
                  <a:lnTo>
                    <a:pt x="346405" y="25412"/>
                  </a:lnTo>
                  <a:lnTo>
                    <a:pt x="346405" y="0"/>
                  </a:lnTo>
                  <a:close/>
                </a:path>
                <a:path w="1253490" h="1022985">
                  <a:moveTo>
                    <a:pt x="550519" y="357708"/>
                  </a:moveTo>
                  <a:lnTo>
                    <a:pt x="533196" y="357708"/>
                  </a:lnTo>
                  <a:lnTo>
                    <a:pt x="533196" y="409714"/>
                  </a:lnTo>
                  <a:lnTo>
                    <a:pt x="550519" y="409714"/>
                  </a:lnTo>
                  <a:lnTo>
                    <a:pt x="550519" y="357708"/>
                  </a:lnTo>
                  <a:close/>
                </a:path>
                <a:path w="1253490" h="1022985">
                  <a:moveTo>
                    <a:pt x="654443" y="357708"/>
                  </a:moveTo>
                  <a:lnTo>
                    <a:pt x="637120" y="357708"/>
                  </a:lnTo>
                  <a:lnTo>
                    <a:pt x="637120" y="409714"/>
                  </a:lnTo>
                  <a:lnTo>
                    <a:pt x="654443" y="409714"/>
                  </a:lnTo>
                  <a:lnTo>
                    <a:pt x="654443" y="357708"/>
                  </a:lnTo>
                  <a:close/>
                </a:path>
                <a:path w="1253490" h="1022985">
                  <a:moveTo>
                    <a:pt x="767029" y="357708"/>
                  </a:moveTo>
                  <a:lnTo>
                    <a:pt x="741045" y="357708"/>
                  </a:lnTo>
                  <a:lnTo>
                    <a:pt x="741045" y="409714"/>
                  </a:lnTo>
                  <a:lnTo>
                    <a:pt x="767029" y="409714"/>
                  </a:lnTo>
                  <a:lnTo>
                    <a:pt x="767029" y="357708"/>
                  </a:lnTo>
                  <a:close/>
                </a:path>
                <a:path w="1253490" h="1022985">
                  <a:moveTo>
                    <a:pt x="767029" y="332232"/>
                  </a:moveTo>
                  <a:lnTo>
                    <a:pt x="420624" y="332232"/>
                  </a:lnTo>
                  <a:lnTo>
                    <a:pt x="420624" y="357644"/>
                  </a:lnTo>
                  <a:lnTo>
                    <a:pt x="420624" y="409740"/>
                  </a:lnTo>
                  <a:lnTo>
                    <a:pt x="420624" y="727316"/>
                  </a:lnTo>
                  <a:lnTo>
                    <a:pt x="767029" y="727316"/>
                  </a:lnTo>
                  <a:lnTo>
                    <a:pt x="767029" y="700633"/>
                  </a:lnTo>
                  <a:lnTo>
                    <a:pt x="446608" y="700633"/>
                  </a:lnTo>
                  <a:lnTo>
                    <a:pt x="446608" y="648538"/>
                  </a:lnTo>
                  <a:lnTo>
                    <a:pt x="767029" y="648538"/>
                  </a:lnTo>
                  <a:lnTo>
                    <a:pt x="767029" y="632015"/>
                  </a:lnTo>
                  <a:lnTo>
                    <a:pt x="446608" y="632015"/>
                  </a:lnTo>
                  <a:lnTo>
                    <a:pt x="446608" y="579932"/>
                  </a:lnTo>
                  <a:lnTo>
                    <a:pt x="767029" y="579932"/>
                  </a:lnTo>
                  <a:lnTo>
                    <a:pt x="767029" y="574916"/>
                  </a:lnTo>
                  <a:lnTo>
                    <a:pt x="767029" y="562140"/>
                  </a:lnTo>
                  <a:lnTo>
                    <a:pt x="767029" y="479615"/>
                  </a:lnTo>
                  <a:lnTo>
                    <a:pt x="741045" y="479615"/>
                  </a:lnTo>
                  <a:lnTo>
                    <a:pt x="741045" y="510044"/>
                  </a:lnTo>
                  <a:lnTo>
                    <a:pt x="741045" y="548233"/>
                  </a:lnTo>
                  <a:lnTo>
                    <a:pt x="654443" y="548233"/>
                  </a:lnTo>
                  <a:lnTo>
                    <a:pt x="654443" y="510044"/>
                  </a:lnTo>
                  <a:lnTo>
                    <a:pt x="741045" y="510044"/>
                  </a:lnTo>
                  <a:lnTo>
                    <a:pt x="741045" y="479615"/>
                  </a:lnTo>
                  <a:lnTo>
                    <a:pt x="637120" y="479615"/>
                  </a:lnTo>
                  <a:lnTo>
                    <a:pt x="637120" y="510044"/>
                  </a:lnTo>
                  <a:lnTo>
                    <a:pt x="637120" y="548233"/>
                  </a:lnTo>
                  <a:lnTo>
                    <a:pt x="550519" y="548233"/>
                  </a:lnTo>
                  <a:lnTo>
                    <a:pt x="550519" y="510044"/>
                  </a:lnTo>
                  <a:lnTo>
                    <a:pt x="637120" y="510044"/>
                  </a:lnTo>
                  <a:lnTo>
                    <a:pt x="637120" y="479615"/>
                  </a:lnTo>
                  <a:lnTo>
                    <a:pt x="533196" y="479615"/>
                  </a:lnTo>
                  <a:lnTo>
                    <a:pt x="533196" y="510044"/>
                  </a:lnTo>
                  <a:lnTo>
                    <a:pt x="533196" y="548233"/>
                  </a:lnTo>
                  <a:lnTo>
                    <a:pt x="446608" y="548233"/>
                  </a:lnTo>
                  <a:lnTo>
                    <a:pt x="446608" y="510044"/>
                  </a:lnTo>
                  <a:lnTo>
                    <a:pt x="533196" y="510044"/>
                  </a:lnTo>
                  <a:lnTo>
                    <a:pt x="533196" y="479615"/>
                  </a:lnTo>
                  <a:lnTo>
                    <a:pt x="446608" y="479615"/>
                  </a:lnTo>
                  <a:lnTo>
                    <a:pt x="446608" y="427532"/>
                  </a:lnTo>
                  <a:lnTo>
                    <a:pt x="533196" y="427532"/>
                  </a:lnTo>
                  <a:lnTo>
                    <a:pt x="533196" y="479056"/>
                  </a:lnTo>
                  <a:lnTo>
                    <a:pt x="550519" y="479056"/>
                  </a:lnTo>
                  <a:lnTo>
                    <a:pt x="550519" y="427532"/>
                  </a:lnTo>
                  <a:lnTo>
                    <a:pt x="637120" y="427532"/>
                  </a:lnTo>
                  <a:lnTo>
                    <a:pt x="637120" y="479056"/>
                  </a:lnTo>
                  <a:lnTo>
                    <a:pt x="654443" y="479056"/>
                  </a:lnTo>
                  <a:lnTo>
                    <a:pt x="654443" y="427532"/>
                  </a:lnTo>
                  <a:lnTo>
                    <a:pt x="741045" y="427532"/>
                  </a:lnTo>
                  <a:lnTo>
                    <a:pt x="741045" y="479056"/>
                  </a:lnTo>
                  <a:lnTo>
                    <a:pt x="767029" y="479056"/>
                  </a:lnTo>
                  <a:lnTo>
                    <a:pt x="767029" y="427532"/>
                  </a:lnTo>
                  <a:lnTo>
                    <a:pt x="767029" y="427050"/>
                  </a:lnTo>
                  <a:lnTo>
                    <a:pt x="767029" y="409740"/>
                  </a:lnTo>
                  <a:lnTo>
                    <a:pt x="446608" y="409740"/>
                  </a:lnTo>
                  <a:lnTo>
                    <a:pt x="446608" y="357644"/>
                  </a:lnTo>
                  <a:lnTo>
                    <a:pt x="767029" y="357644"/>
                  </a:lnTo>
                  <a:lnTo>
                    <a:pt x="767029" y="332232"/>
                  </a:lnTo>
                  <a:close/>
                </a:path>
                <a:path w="1253490" h="1022985">
                  <a:moveTo>
                    <a:pt x="1036675" y="179400"/>
                  </a:moveTo>
                  <a:lnTo>
                    <a:pt x="1019352" y="179400"/>
                  </a:lnTo>
                  <a:lnTo>
                    <a:pt x="1019352" y="231406"/>
                  </a:lnTo>
                  <a:lnTo>
                    <a:pt x="1036675" y="231406"/>
                  </a:lnTo>
                  <a:lnTo>
                    <a:pt x="1036675" y="179400"/>
                  </a:lnTo>
                  <a:close/>
                </a:path>
                <a:path w="1253490" h="1022985">
                  <a:moveTo>
                    <a:pt x="1140599" y="179400"/>
                  </a:moveTo>
                  <a:lnTo>
                    <a:pt x="1123276" y="179400"/>
                  </a:lnTo>
                  <a:lnTo>
                    <a:pt x="1123276" y="231406"/>
                  </a:lnTo>
                  <a:lnTo>
                    <a:pt x="1140599" y="231406"/>
                  </a:lnTo>
                  <a:lnTo>
                    <a:pt x="1140599" y="179400"/>
                  </a:lnTo>
                  <a:close/>
                </a:path>
                <a:path w="1253490" h="1022985">
                  <a:moveTo>
                    <a:pt x="1253185" y="179400"/>
                  </a:moveTo>
                  <a:lnTo>
                    <a:pt x="1227201" y="179400"/>
                  </a:lnTo>
                  <a:lnTo>
                    <a:pt x="1227201" y="231406"/>
                  </a:lnTo>
                  <a:lnTo>
                    <a:pt x="1253185" y="231406"/>
                  </a:lnTo>
                  <a:lnTo>
                    <a:pt x="1253185" y="179400"/>
                  </a:lnTo>
                  <a:close/>
                </a:path>
                <a:path w="1253490" h="1022985">
                  <a:moveTo>
                    <a:pt x="1253185" y="153924"/>
                  </a:moveTo>
                  <a:lnTo>
                    <a:pt x="906780" y="153924"/>
                  </a:lnTo>
                  <a:lnTo>
                    <a:pt x="906780" y="179336"/>
                  </a:lnTo>
                  <a:lnTo>
                    <a:pt x="906780" y="231432"/>
                  </a:lnTo>
                  <a:lnTo>
                    <a:pt x="906780" y="396608"/>
                  </a:lnTo>
                  <a:lnTo>
                    <a:pt x="1253185" y="396608"/>
                  </a:lnTo>
                  <a:lnTo>
                    <a:pt x="1253185" y="370090"/>
                  </a:lnTo>
                  <a:lnTo>
                    <a:pt x="1253185" y="369925"/>
                  </a:lnTo>
                  <a:lnTo>
                    <a:pt x="1253185" y="318084"/>
                  </a:lnTo>
                  <a:lnTo>
                    <a:pt x="1227201" y="318084"/>
                  </a:lnTo>
                  <a:lnTo>
                    <a:pt x="1227201" y="369925"/>
                  </a:lnTo>
                  <a:lnTo>
                    <a:pt x="1140599" y="369925"/>
                  </a:lnTo>
                  <a:lnTo>
                    <a:pt x="1140599" y="318084"/>
                  </a:lnTo>
                  <a:lnTo>
                    <a:pt x="1123276" y="318084"/>
                  </a:lnTo>
                  <a:lnTo>
                    <a:pt x="1123276" y="369925"/>
                  </a:lnTo>
                  <a:lnTo>
                    <a:pt x="1036675" y="369925"/>
                  </a:lnTo>
                  <a:lnTo>
                    <a:pt x="1036675" y="318084"/>
                  </a:lnTo>
                  <a:lnTo>
                    <a:pt x="1019352" y="318084"/>
                  </a:lnTo>
                  <a:lnTo>
                    <a:pt x="1019352" y="369925"/>
                  </a:lnTo>
                  <a:lnTo>
                    <a:pt x="932764" y="369925"/>
                  </a:lnTo>
                  <a:lnTo>
                    <a:pt x="932764" y="317830"/>
                  </a:lnTo>
                  <a:lnTo>
                    <a:pt x="1253185" y="317830"/>
                  </a:lnTo>
                  <a:lnTo>
                    <a:pt x="1253185" y="301307"/>
                  </a:lnTo>
                  <a:lnTo>
                    <a:pt x="932764" y="301307"/>
                  </a:lnTo>
                  <a:lnTo>
                    <a:pt x="932764" y="249224"/>
                  </a:lnTo>
                  <a:lnTo>
                    <a:pt x="1019352" y="249224"/>
                  </a:lnTo>
                  <a:lnTo>
                    <a:pt x="1019352" y="300748"/>
                  </a:lnTo>
                  <a:lnTo>
                    <a:pt x="1036675" y="300748"/>
                  </a:lnTo>
                  <a:lnTo>
                    <a:pt x="1036675" y="249224"/>
                  </a:lnTo>
                  <a:lnTo>
                    <a:pt x="1123276" y="249224"/>
                  </a:lnTo>
                  <a:lnTo>
                    <a:pt x="1123276" y="300748"/>
                  </a:lnTo>
                  <a:lnTo>
                    <a:pt x="1140599" y="300748"/>
                  </a:lnTo>
                  <a:lnTo>
                    <a:pt x="1140599" y="249224"/>
                  </a:lnTo>
                  <a:lnTo>
                    <a:pt x="1227201" y="249224"/>
                  </a:lnTo>
                  <a:lnTo>
                    <a:pt x="1227201" y="300748"/>
                  </a:lnTo>
                  <a:lnTo>
                    <a:pt x="1253185" y="300748"/>
                  </a:lnTo>
                  <a:lnTo>
                    <a:pt x="1253185" y="249224"/>
                  </a:lnTo>
                  <a:lnTo>
                    <a:pt x="1253185" y="248742"/>
                  </a:lnTo>
                  <a:lnTo>
                    <a:pt x="1253185" y="231432"/>
                  </a:lnTo>
                  <a:lnTo>
                    <a:pt x="932764" y="231432"/>
                  </a:lnTo>
                  <a:lnTo>
                    <a:pt x="932764" y="179336"/>
                  </a:lnTo>
                  <a:lnTo>
                    <a:pt x="1253185" y="179336"/>
                  </a:lnTo>
                  <a:lnTo>
                    <a:pt x="1253185" y="153924"/>
                  </a:lnTo>
                  <a:close/>
                </a:path>
              </a:pathLst>
            </a:custGeom>
            <a:solidFill>
              <a:srgbClr val="BCBCBC"/>
            </a:solidFill>
          </p:spPr>
          <p:txBody>
            <a:bodyPr wrap="square" lIns="0" tIns="0" rIns="0" bIns="0" rtlCol="0"/>
            <a:lstStyle/>
            <a:p>
              <a:endParaRPr sz="2400"/>
            </a:p>
          </p:txBody>
        </p:sp>
        <p:sp>
          <p:nvSpPr>
            <p:cNvPr id="22" name="object 22"/>
            <p:cNvSpPr/>
            <p:nvPr/>
          </p:nvSpPr>
          <p:spPr>
            <a:xfrm>
              <a:off x="6909409" y="1917560"/>
              <a:ext cx="346710" cy="216535"/>
            </a:xfrm>
            <a:custGeom>
              <a:avLst/>
              <a:gdLst/>
              <a:ahLst/>
              <a:cxnLst/>
              <a:rect l="l" t="t" r="r" b="b"/>
              <a:pathLst>
                <a:path w="346709" h="216535">
                  <a:moveTo>
                    <a:pt x="129895" y="164160"/>
                  </a:moveTo>
                  <a:lnTo>
                    <a:pt x="112572" y="164160"/>
                  </a:lnTo>
                  <a:lnTo>
                    <a:pt x="112572" y="216166"/>
                  </a:lnTo>
                  <a:lnTo>
                    <a:pt x="129895" y="216166"/>
                  </a:lnTo>
                  <a:lnTo>
                    <a:pt x="129895" y="164160"/>
                  </a:lnTo>
                  <a:close/>
                </a:path>
                <a:path w="346709" h="216535">
                  <a:moveTo>
                    <a:pt x="129895" y="94818"/>
                  </a:moveTo>
                  <a:lnTo>
                    <a:pt x="112572" y="94818"/>
                  </a:lnTo>
                  <a:lnTo>
                    <a:pt x="112572" y="146824"/>
                  </a:lnTo>
                  <a:lnTo>
                    <a:pt x="129895" y="146824"/>
                  </a:lnTo>
                  <a:lnTo>
                    <a:pt x="129895" y="94818"/>
                  </a:lnTo>
                  <a:close/>
                </a:path>
                <a:path w="346709" h="216535">
                  <a:moveTo>
                    <a:pt x="129895" y="25476"/>
                  </a:moveTo>
                  <a:lnTo>
                    <a:pt x="112572" y="25476"/>
                  </a:lnTo>
                  <a:lnTo>
                    <a:pt x="112572" y="77482"/>
                  </a:lnTo>
                  <a:lnTo>
                    <a:pt x="129895" y="77482"/>
                  </a:lnTo>
                  <a:lnTo>
                    <a:pt x="129895" y="25476"/>
                  </a:lnTo>
                  <a:close/>
                </a:path>
                <a:path w="346709" h="216535">
                  <a:moveTo>
                    <a:pt x="233819" y="164160"/>
                  </a:moveTo>
                  <a:lnTo>
                    <a:pt x="216496" y="164160"/>
                  </a:lnTo>
                  <a:lnTo>
                    <a:pt x="216496" y="216166"/>
                  </a:lnTo>
                  <a:lnTo>
                    <a:pt x="233819" y="216166"/>
                  </a:lnTo>
                  <a:lnTo>
                    <a:pt x="233819" y="164160"/>
                  </a:lnTo>
                  <a:close/>
                </a:path>
                <a:path w="346709" h="216535">
                  <a:moveTo>
                    <a:pt x="233819" y="94818"/>
                  </a:moveTo>
                  <a:lnTo>
                    <a:pt x="216496" y="94818"/>
                  </a:lnTo>
                  <a:lnTo>
                    <a:pt x="216496" y="146824"/>
                  </a:lnTo>
                  <a:lnTo>
                    <a:pt x="233819" y="146824"/>
                  </a:lnTo>
                  <a:lnTo>
                    <a:pt x="233819" y="94818"/>
                  </a:lnTo>
                  <a:close/>
                </a:path>
                <a:path w="346709" h="216535">
                  <a:moveTo>
                    <a:pt x="233819" y="25476"/>
                  </a:moveTo>
                  <a:lnTo>
                    <a:pt x="216496" y="25476"/>
                  </a:lnTo>
                  <a:lnTo>
                    <a:pt x="216496" y="77482"/>
                  </a:lnTo>
                  <a:lnTo>
                    <a:pt x="233819" y="77482"/>
                  </a:lnTo>
                  <a:lnTo>
                    <a:pt x="233819" y="25476"/>
                  </a:lnTo>
                  <a:close/>
                </a:path>
                <a:path w="346709" h="216535">
                  <a:moveTo>
                    <a:pt x="346405" y="164160"/>
                  </a:moveTo>
                  <a:lnTo>
                    <a:pt x="320421" y="164160"/>
                  </a:lnTo>
                  <a:lnTo>
                    <a:pt x="320421" y="216166"/>
                  </a:lnTo>
                  <a:lnTo>
                    <a:pt x="346405" y="216166"/>
                  </a:lnTo>
                  <a:lnTo>
                    <a:pt x="346405" y="164160"/>
                  </a:lnTo>
                  <a:close/>
                </a:path>
                <a:path w="346709" h="216535">
                  <a:moveTo>
                    <a:pt x="346405" y="94818"/>
                  </a:moveTo>
                  <a:lnTo>
                    <a:pt x="320421" y="94818"/>
                  </a:lnTo>
                  <a:lnTo>
                    <a:pt x="320421" y="146824"/>
                  </a:lnTo>
                  <a:lnTo>
                    <a:pt x="346405" y="146824"/>
                  </a:lnTo>
                  <a:lnTo>
                    <a:pt x="346405" y="94818"/>
                  </a:lnTo>
                  <a:close/>
                </a:path>
                <a:path w="346709" h="216535">
                  <a:moveTo>
                    <a:pt x="346405" y="25476"/>
                  </a:moveTo>
                  <a:lnTo>
                    <a:pt x="320421" y="25476"/>
                  </a:lnTo>
                  <a:lnTo>
                    <a:pt x="320421" y="77482"/>
                  </a:lnTo>
                  <a:lnTo>
                    <a:pt x="346405" y="77482"/>
                  </a:lnTo>
                  <a:lnTo>
                    <a:pt x="346405" y="25476"/>
                  </a:lnTo>
                  <a:close/>
                </a:path>
                <a:path w="346709" h="216535">
                  <a:moveTo>
                    <a:pt x="346405" y="0"/>
                  </a:moveTo>
                  <a:lnTo>
                    <a:pt x="0" y="0"/>
                  </a:lnTo>
                  <a:lnTo>
                    <a:pt x="0" y="25412"/>
                  </a:lnTo>
                  <a:lnTo>
                    <a:pt x="346405" y="25412"/>
                  </a:lnTo>
                  <a:lnTo>
                    <a:pt x="346405" y="0"/>
                  </a:lnTo>
                  <a:close/>
                </a:path>
              </a:pathLst>
            </a:custGeom>
            <a:solidFill>
              <a:srgbClr val="BCBCBC"/>
            </a:solidFill>
          </p:spPr>
          <p:txBody>
            <a:bodyPr wrap="square" lIns="0" tIns="0" rIns="0" bIns="0" rtlCol="0"/>
            <a:lstStyle/>
            <a:p>
              <a:endParaRPr sz="2400"/>
            </a:p>
          </p:txBody>
        </p:sp>
        <p:sp>
          <p:nvSpPr>
            <p:cNvPr id="23" name="object 23"/>
            <p:cNvSpPr/>
            <p:nvPr/>
          </p:nvSpPr>
          <p:spPr>
            <a:xfrm>
              <a:off x="6642354" y="1657350"/>
              <a:ext cx="836930" cy="515620"/>
            </a:xfrm>
            <a:custGeom>
              <a:avLst/>
              <a:gdLst/>
              <a:ahLst/>
              <a:cxnLst/>
              <a:rect l="l" t="t" r="r" b="b"/>
              <a:pathLst>
                <a:path w="836929" h="515619">
                  <a:moveTo>
                    <a:pt x="230886" y="107569"/>
                  </a:moveTo>
                  <a:lnTo>
                    <a:pt x="0" y="0"/>
                  </a:lnTo>
                </a:path>
                <a:path w="836929" h="515619">
                  <a:moveTo>
                    <a:pt x="836802" y="188975"/>
                  </a:moveTo>
                  <a:lnTo>
                    <a:pt x="650748" y="381126"/>
                  </a:lnTo>
                </a:path>
                <a:path w="836929" h="515619">
                  <a:moveTo>
                    <a:pt x="236347" y="323088"/>
                  </a:moveTo>
                  <a:lnTo>
                    <a:pt x="50292" y="515238"/>
                  </a:lnTo>
                </a:path>
              </a:pathLst>
            </a:custGeom>
            <a:ln w="38100">
              <a:solidFill>
                <a:srgbClr val="00C2FF"/>
              </a:solidFill>
            </a:ln>
          </p:spPr>
          <p:txBody>
            <a:bodyPr wrap="square" lIns="0" tIns="0" rIns="0" bIns="0" rtlCol="0"/>
            <a:lstStyle/>
            <a:p>
              <a:endParaRPr sz="2400"/>
            </a:p>
          </p:txBody>
        </p:sp>
        <p:sp>
          <p:nvSpPr>
            <p:cNvPr id="24" name="object 24"/>
            <p:cNvSpPr/>
            <p:nvPr/>
          </p:nvSpPr>
          <p:spPr>
            <a:xfrm>
              <a:off x="6326123" y="2987040"/>
              <a:ext cx="1524000" cy="1080770"/>
            </a:xfrm>
            <a:custGeom>
              <a:avLst/>
              <a:gdLst/>
              <a:ahLst/>
              <a:cxnLst/>
              <a:rect l="l" t="t" r="r" b="b"/>
              <a:pathLst>
                <a:path w="1524000" h="1080770">
                  <a:moveTo>
                    <a:pt x="0" y="180086"/>
                  </a:moveTo>
                  <a:lnTo>
                    <a:pt x="6434" y="132218"/>
                  </a:lnTo>
                  <a:lnTo>
                    <a:pt x="24590" y="89201"/>
                  </a:lnTo>
                  <a:lnTo>
                    <a:pt x="52752" y="52752"/>
                  </a:lnTo>
                  <a:lnTo>
                    <a:pt x="89201" y="24590"/>
                  </a:lnTo>
                  <a:lnTo>
                    <a:pt x="132218" y="6434"/>
                  </a:lnTo>
                  <a:lnTo>
                    <a:pt x="180085" y="0"/>
                  </a:lnTo>
                  <a:lnTo>
                    <a:pt x="1343914" y="0"/>
                  </a:lnTo>
                  <a:lnTo>
                    <a:pt x="1391781" y="6434"/>
                  </a:lnTo>
                  <a:lnTo>
                    <a:pt x="1434798" y="24590"/>
                  </a:lnTo>
                  <a:lnTo>
                    <a:pt x="1471247" y="52752"/>
                  </a:lnTo>
                  <a:lnTo>
                    <a:pt x="1499409" y="89201"/>
                  </a:lnTo>
                  <a:lnTo>
                    <a:pt x="1517565" y="132218"/>
                  </a:lnTo>
                  <a:lnTo>
                    <a:pt x="1524000" y="180086"/>
                  </a:lnTo>
                  <a:lnTo>
                    <a:pt x="1524000" y="900430"/>
                  </a:lnTo>
                  <a:lnTo>
                    <a:pt x="1517565" y="948302"/>
                  </a:lnTo>
                  <a:lnTo>
                    <a:pt x="1499409" y="991320"/>
                  </a:lnTo>
                  <a:lnTo>
                    <a:pt x="1471247" y="1027768"/>
                  </a:lnTo>
                  <a:lnTo>
                    <a:pt x="1434798" y="1055927"/>
                  </a:lnTo>
                  <a:lnTo>
                    <a:pt x="1391781" y="1074082"/>
                  </a:lnTo>
                  <a:lnTo>
                    <a:pt x="1343914" y="1080516"/>
                  </a:lnTo>
                  <a:lnTo>
                    <a:pt x="180085" y="1080516"/>
                  </a:lnTo>
                  <a:lnTo>
                    <a:pt x="132218" y="1074082"/>
                  </a:lnTo>
                  <a:lnTo>
                    <a:pt x="89201" y="1055927"/>
                  </a:lnTo>
                  <a:lnTo>
                    <a:pt x="52752" y="1027768"/>
                  </a:lnTo>
                  <a:lnTo>
                    <a:pt x="24590" y="991320"/>
                  </a:lnTo>
                  <a:lnTo>
                    <a:pt x="6434" y="948302"/>
                  </a:lnTo>
                  <a:lnTo>
                    <a:pt x="0" y="900430"/>
                  </a:lnTo>
                  <a:lnTo>
                    <a:pt x="0" y="180086"/>
                  </a:lnTo>
                  <a:close/>
                </a:path>
              </a:pathLst>
            </a:custGeom>
            <a:ln w="9143">
              <a:solidFill>
                <a:srgbClr val="00C3FF"/>
              </a:solidFill>
            </a:ln>
          </p:spPr>
          <p:txBody>
            <a:bodyPr wrap="square" lIns="0" tIns="0" rIns="0" bIns="0" rtlCol="0"/>
            <a:lstStyle/>
            <a:p>
              <a:endParaRPr sz="2400"/>
            </a:p>
          </p:txBody>
        </p:sp>
        <p:sp>
          <p:nvSpPr>
            <p:cNvPr id="25" name="object 25"/>
            <p:cNvSpPr/>
            <p:nvPr/>
          </p:nvSpPr>
          <p:spPr>
            <a:xfrm>
              <a:off x="6511645" y="3169945"/>
              <a:ext cx="1254760" cy="727075"/>
            </a:xfrm>
            <a:custGeom>
              <a:avLst/>
              <a:gdLst/>
              <a:ahLst/>
              <a:cxnLst/>
              <a:rect l="l" t="t" r="r" b="b"/>
              <a:pathLst>
                <a:path w="1254759" h="727075">
                  <a:moveTo>
                    <a:pt x="346405" y="0"/>
                  </a:moveTo>
                  <a:lnTo>
                    <a:pt x="0" y="0"/>
                  </a:lnTo>
                  <a:lnTo>
                    <a:pt x="0" y="26733"/>
                  </a:lnTo>
                  <a:lnTo>
                    <a:pt x="0" y="78917"/>
                  </a:lnTo>
                  <a:lnTo>
                    <a:pt x="0" y="243116"/>
                  </a:lnTo>
                  <a:lnTo>
                    <a:pt x="346405" y="243116"/>
                  </a:lnTo>
                  <a:lnTo>
                    <a:pt x="346405" y="217652"/>
                  </a:lnTo>
                  <a:lnTo>
                    <a:pt x="25984" y="217652"/>
                  </a:lnTo>
                  <a:lnTo>
                    <a:pt x="25984" y="165468"/>
                  </a:lnTo>
                  <a:lnTo>
                    <a:pt x="112572" y="165468"/>
                  </a:lnTo>
                  <a:lnTo>
                    <a:pt x="112572" y="217614"/>
                  </a:lnTo>
                  <a:lnTo>
                    <a:pt x="129895" y="217614"/>
                  </a:lnTo>
                  <a:lnTo>
                    <a:pt x="129895" y="165468"/>
                  </a:lnTo>
                  <a:lnTo>
                    <a:pt x="216496" y="165468"/>
                  </a:lnTo>
                  <a:lnTo>
                    <a:pt x="216496" y="217614"/>
                  </a:lnTo>
                  <a:lnTo>
                    <a:pt x="233819" y="217614"/>
                  </a:lnTo>
                  <a:lnTo>
                    <a:pt x="233819" y="165468"/>
                  </a:lnTo>
                  <a:lnTo>
                    <a:pt x="320421" y="165468"/>
                  </a:lnTo>
                  <a:lnTo>
                    <a:pt x="320421" y="217614"/>
                  </a:lnTo>
                  <a:lnTo>
                    <a:pt x="346405" y="217614"/>
                  </a:lnTo>
                  <a:lnTo>
                    <a:pt x="346405" y="95834"/>
                  </a:lnTo>
                  <a:lnTo>
                    <a:pt x="320421" y="95834"/>
                  </a:lnTo>
                  <a:lnTo>
                    <a:pt x="320421" y="147650"/>
                  </a:lnTo>
                  <a:lnTo>
                    <a:pt x="233819" y="147650"/>
                  </a:lnTo>
                  <a:lnTo>
                    <a:pt x="233819" y="95834"/>
                  </a:lnTo>
                  <a:lnTo>
                    <a:pt x="216496" y="95834"/>
                  </a:lnTo>
                  <a:lnTo>
                    <a:pt x="216496" y="147650"/>
                  </a:lnTo>
                  <a:lnTo>
                    <a:pt x="129895" y="147650"/>
                  </a:lnTo>
                  <a:lnTo>
                    <a:pt x="129895" y="95834"/>
                  </a:lnTo>
                  <a:lnTo>
                    <a:pt x="112572" y="95834"/>
                  </a:lnTo>
                  <a:lnTo>
                    <a:pt x="112572" y="147650"/>
                  </a:lnTo>
                  <a:lnTo>
                    <a:pt x="25984" y="147650"/>
                  </a:lnTo>
                  <a:lnTo>
                    <a:pt x="25984" y="95465"/>
                  </a:lnTo>
                  <a:lnTo>
                    <a:pt x="346405" y="95465"/>
                  </a:lnTo>
                  <a:lnTo>
                    <a:pt x="346405" y="78917"/>
                  </a:lnTo>
                  <a:lnTo>
                    <a:pt x="25984" y="78917"/>
                  </a:lnTo>
                  <a:lnTo>
                    <a:pt x="25984" y="26733"/>
                  </a:lnTo>
                  <a:lnTo>
                    <a:pt x="112572" y="26733"/>
                  </a:lnTo>
                  <a:lnTo>
                    <a:pt x="112572" y="78435"/>
                  </a:lnTo>
                  <a:lnTo>
                    <a:pt x="129895" y="78435"/>
                  </a:lnTo>
                  <a:lnTo>
                    <a:pt x="129895" y="26733"/>
                  </a:lnTo>
                  <a:lnTo>
                    <a:pt x="216496" y="26733"/>
                  </a:lnTo>
                  <a:lnTo>
                    <a:pt x="216496" y="78435"/>
                  </a:lnTo>
                  <a:lnTo>
                    <a:pt x="233819" y="78435"/>
                  </a:lnTo>
                  <a:lnTo>
                    <a:pt x="233819" y="26733"/>
                  </a:lnTo>
                  <a:lnTo>
                    <a:pt x="320421" y="26733"/>
                  </a:lnTo>
                  <a:lnTo>
                    <a:pt x="320421" y="78435"/>
                  </a:lnTo>
                  <a:lnTo>
                    <a:pt x="346405" y="78435"/>
                  </a:lnTo>
                  <a:lnTo>
                    <a:pt x="346405" y="26733"/>
                  </a:lnTo>
                  <a:lnTo>
                    <a:pt x="346405" y="26238"/>
                  </a:lnTo>
                  <a:lnTo>
                    <a:pt x="346405" y="0"/>
                  </a:lnTo>
                  <a:close/>
                </a:path>
                <a:path w="1254759" h="727075">
                  <a:moveTo>
                    <a:pt x="768426" y="331914"/>
                  </a:moveTo>
                  <a:lnTo>
                    <a:pt x="420763" y="331914"/>
                  </a:lnTo>
                  <a:lnTo>
                    <a:pt x="420763" y="358546"/>
                  </a:lnTo>
                  <a:lnTo>
                    <a:pt x="420763" y="410540"/>
                  </a:lnTo>
                  <a:lnTo>
                    <a:pt x="420763" y="726541"/>
                  </a:lnTo>
                  <a:lnTo>
                    <a:pt x="768426" y="726541"/>
                  </a:lnTo>
                  <a:lnTo>
                    <a:pt x="768426" y="701179"/>
                  </a:lnTo>
                  <a:lnTo>
                    <a:pt x="446836" y="701179"/>
                  </a:lnTo>
                  <a:lnTo>
                    <a:pt x="446836" y="649185"/>
                  </a:lnTo>
                  <a:lnTo>
                    <a:pt x="533742" y="649185"/>
                  </a:lnTo>
                  <a:lnTo>
                    <a:pt x="533742" y="701141"/>
                  </a:lnTo>
                  <a:lnTo>
                    <a:pt x="551129" y="701141"/>
                  </a:lnTo>
                  <a:lnTo>
                    <a:pt x="551129" y="649185"/>
                  </a:lnTo>
                  <a:lnTo>
                    <a:pt x="638048" y="649185"/>
                  </a:lnTo>
                  <a:lnTo>
                    <a:pt x="638048" y="701141"/>
                  </a:lnTo>
                  <a:lnTo>
                    <a:pt x="655434" y="701141"/>
                  </a:lnTo>
                  <a:lnTo>
                    <a:pt x="655434" y="649185"/>
                  </a:lnTo>
                  <a:lnTo>
                    <a:pt x="742340" y="649185"/>
                  </a:lnTo>
                  <a:lnTo>
                    <a:pt x="742340" y="701141"/>
                  </a:lnTo>
                  <a:lnTo>
                    <a:pt x="768426" y="701141"/>
                  </a:lnTo>
                  <a:lnTo>
                    <a:pt x="768426" y="579793"/>
                  </a:lnTo>
                  <a:lnTo>
                    <a:pt x="742340" y="579793"/>
                  </a:lnTo>
                  <a:lnTo>
                    <a:pt x="742340" y="631431"/>
                  </a:lnTo>
                  <a:lnTo>
                    <a:pt x="655434" y="631431"/>
                  </a:lnTo>
                  <a:lnTo>
                    <a:pt x="655434" y="579793"/>
                  </a:lnTo>
                  <a:lnTo>
                    <a:pt x="638048" y="579793"/>
                  </a:lnTo>
                  <a:lnTo>
                    <a:pt x="638048" y="631431"/>
                  </a:lnTo>
                  <a:lnTo>
                    <a:pt x="551129" y="631431"/>
                  </a:lnTo>
                  <a:lnTo>
                    <a:pt x="551129" y="579793"/>
                  </a:lnTo>
                  <a:lnTo>
                    <a:pt x="533742" y="579793"/>
                  </a:lnTo>
                  <a:lnTo>
                    <a:pt x="533742" y="631431"/>
                  </a:lnTo>
                  <a:lnTo>
                    <a:pt x="446836" y="631431"/>
                  </a:lnTo>
                  <a:lnTo>
                    <a:pt x="446836" y="579424"/>
                  </a:lnTo>
                  <a:lnTo>
                    <a:pt x="768426" y="579424"/>
                  </a:lnTo>
                  <a:lnTo>
                    <a:pt x="768426" y="574141"/>
                  </a:lnTo>
                  <a:lnTo>
                    <a:pt x="768426" y="427393"/>
                  </a:lnTo>
                  <a:lnTo>
                    <a:pt x="742340" y="427393"/>
                  </a:lnTo>
                  <a:lnTo>
                    <a:pt x="742340" y="479031"/>
                  </a:lnTo>
                  <a:lnTo>
                    <a:pt x="742340" y="510946"/>
                  </a:lnTo>
                  <a:lnTo>
                    <a:pt x="742340" y="548741"/>
                  </a:lnTo>
                  <a:lnTo>
                    <a:pt x="655434" y="548779"/>
                  </a:lnTo>
                  <a:lnTo>
                    <a:pt x="655434" y="510946"/>
                  </a:lnTo>
                  <a:lnTo>
                    <a:pt x="742340" y="510946"/>
                  </a:lnTo>
                  <a:lnTo>
                    <a:pt x="742340" y="479031"/>
                  </a:lnTo>
                  <a:lnTo>
                    <a:pt x="655434" y="479031"/>
                  </a:lnTo>
                  <a:lnTo>
                    <a:pt x="655434" y="427393"/>
                  </a:lnTo>
                  <a:lnTo>
                    <a:pt x="638048" y="427393"/>
                  </a:lnTo>
                  <a:lnTo>
                    <a:pt x="638048" y="479031"/>
                  </a:lnTo>
                  <a:lnTo>
                    <a:pt x="638048" y="510946"/>
                  </a:lnTo>
                  <a:lnTo>
                    <a:pt x="638048" y="548741"/>
                  </a:lnTo>
                  <a:lnTo>
                    <a:pt x="551129" y="548779"/>
                  </a:lnTo>
                  <a:lnTo>
                    <a:pt x="551129" y="510946"/>
                  </a:lnTo>
                  <a:lnTo>
                    <a:pt x="638048" y="510946"/>
                  </a:lnTo>
                  <a:lnTo>
                    <a:pt x="638048" y="479031"/>
                  </a:lnTo>
                  <a:lnTo>
                    <a:pt x="551129" y="479031"/>
                  </a:lnTo>
                  <a:lnTo>
                    <a:pt x="551129" y="427393"/>
                  </a:lnTo>
                  <a:lnTo>
                    <a:pt x="533742" y="427393"/>
                  </a:lnTo>
                  <a:lnTo>
                    <a:pt x="533742" y="479031"/>
                  </a:lnTo>
                  <a:lnTo>
                    <a:pt x="533742" y="510946"/>
                  </a:lnTo>
                  <a:lnTo>
                    <a:pt x="533742" y="548741"/>
                  </a:lnTo>
                  <a:lnTo>
                    <a:pt x="446836" y="548779"/>
                  </a:lnTo>
                  <a:lnTo>
                    <a:pt x="446836" y="510946"/>
                  </a:lnTo>
                  <a:lnTo>
                    <a:pt x="533742" y="510946"/>
                  </a:lnTo>
                  <a:lnTo>
                    <a:pt x="533742" y="479031"/>
                  </a:lnTo>
                  <a:lnTo>
                    <a:pt x="446836" y="479031"/>
                  </a:lnTo>
                  <a:lnTo>
                    <a:pt x="446836" y="427024"/>
                  </a:lnTo>
                  <a:lnTo>
                    <a:pt x="768426" y="427024"/>
                  </a:lnTo>
                  <a:lnTo>
                    <a:pt x="768426" y="410540"/>
                  </a:lnTo>
                  <a:lnTo>
                    <a:pt x="446836" y="410540"/>
                  </a:lnTo>
                  <a:lnTo>
                    <a:pt x="446836" y="358546"/>
                  </a:lnTo>
                  <a:lnTo>
                    <a:pt x="533742" y="358546"/>
                  </a:lnTo>
                  <a:lnTo>
                    <a:pt x="533742" y="410057"/>
                  </a:lnTo>
                  <a:lnTo>
                    <a:pt x="551129" y="410057"/>
                  </a:lnTo>
                  <a:lnTo>
                    <a:pt x="551129" y="358546"/>
                  </a:lnTo>
                  <a:lnTo>
                    <a:pt x="638048" y="358546"/>
                  </a:lnTo>
                  <a:lnTo>
                    <a:pt x="638048" y="410057"/>
                  </a:lnTo>
                  <a:lnTo>
                    <a:pt x="655434" y="410057"/>
                  </a:lnTo>
                  <a:lnTo>
                    <a:pt x="655434" y="358546"/>
                  </a:lnTo>
                  <a:lnTo>
                    <a:pt x="742340" y="358546"/>
                  </a:lnTo>
                  <a:lnTo>
                    <a:pt x="742340" y="410057"/>
                  </a:lnTo>
                  <a:lnTo>
                    <a:pt x="768426" y="410057"/>
                  </a:lnTo>
                  <a:lnTo>
                    <a:pt x="768426" y="358546"/>
                  </a:lnTo>
                  <a:lnTo>
                    <a:pt x="768426" y="358051"/>
                  </a:lnTo>
                  <a:lnTo>
                    <a:pt x="768426" y="331914"/>
                  </a:lnTo>
                  <a:close/>
                </a:path>
                <a:path w="1254759" h="727075">
                  <a:moveTo>
                    <a:pt x="1254582" y="153606"/>
                  </a:moveTo>
                  <a:lnTo>
                    <a:pt x="906919" y="153606"/>
                  </a:lnTo>
                  <a:lnTo>
                    <a:pt x="906919" y="180238"/>
                  </a:lnTo>
                  <a:lnTo>
                    <a:pt x="906919" y="232232"/>
                  </a:lnTo>
                  <a:lnTo>
                    <a:pt x="906919" y="395833"/>
                  </a:lnTo>
                  <a:lnTo>
                    <a:pt x="1254582" y="395833"/>
                  </a:lnTo>
                  <a:lnTo>
                    <a:pt x="1254582" y="370471"/>
                  </a:lnTo>
                  <a:lnTo>
                    <a:pt x="932992" y="370471"/>
                  </a:lnTo>
                  <a:lnTo>
                    <a:pt x="932992" y="318477"/>
                  </a:lnTo>
                  <a:lnTo>
                    <a:pt x="1019898" y="318477"/>
                  </a:lnTo>
                  <a:lnTo>
                    <a:pt x="1019898" y="370433"/>
                  </a:lnTo>
                  <a:lnTo>
                    <a:pt x="1037285" y="370433"/>
                  </a:lnTo>
                  <a:lnTo>
                    <a:pt x="1037285" y="318477"/>
                  </a:lnTo>
                  <a:lnTo>
                    <a:pt x="1124204" y="318477"/>
                  </a:lnTo>
                  <a:lnTo>
                    <a:pt x="1124204" y="370433"/>
                  </a:lnTo>
                  <a:lnTo>
                    <a:pt x="1141577" y="370433"/>
                  </a:lnTo>
                  <a:lnTo>
                    <a:pt x="1141577" y="318477"/>
                  </a:lnTo>
                  <a:lnTo>
                    <a:pt x="1228496" y="318477"/>
                  </a:lnTo>
                  <a:lnTo>
                    <a:pt x="1228496" y="370433"/>
                  </a:lnTo>
                  <a:lnTo>
                    <a:pt x="1254582" y="370433"/>
                  </a:lnTo>
                  <a:lnTo>
                    <a:pt x="1254582" y="249085"/>
                  </a:lnTo>
                  <a:lnTo>
                    <a:pt x="1228496" y="249085"/>
                  </a:lnTo>
                  <a:lnTo>
                    <a:pt x="1228496" y="300723"/>
                  </a:lnTo>
                  <a:lnTo>
                    <a:pt x="1141577" y="300723"/>
                  </a:lnTo>
                  <a:lnTo>
                    <a:pt x="1141577" y="249085"/>
                  </a:lnTo>
                  <a:lnTo>
                    <a:pt x="1124204" y="249085"/>
                  </a:lnTo>
                  <a:lnTo>
                    <a:pt x="1124204" y="300723"/>
                  </a:lnTo>
                  <a:lnTo>
                    <a:pt x="1037285" y="300723"/>
                  </a:lnTo>
                  <a:lnTo>
                    <a:pt x="1037285" y="249085"/>
                  </a:lnTo>
                  <a:lnTo>
                    <a:pt x="1019898" y="249085"/>
                  </a:lnTo>
                  <a:lnTo>
                    <a:pt x="1019898" y="300723"/>
                  </a:lnTo>
                  <a:lnTo>
                    <a:pt x="932992" y="300723"/>
                  </a:lnTo>
                  <a:lnTo>
                    <a:pt x="932992" y="248716"/>
                  </a:lnTo>
                  <a:lnTo>
                    <a:pt x="1254582" y="248716"/>
                  </a:lnTo>
                  <a:lnTo>
                    <a:pt x="1254582" y="232232"/>
                  </a:lnTo>
                  <a:lnTo>
                    <a:pt x="932992" y="232232"/>
                  </a:lnTo>
                  <a:lnTo>
                    <a:pt x="932992" y="180238"/>
                  </a:lnTo>
                  <a:lnTo>
                    <a:pt x="1019898" y="180238"/>
                  </a:lnTo>
                  <a:lnTo>
                    <a:pt x="1019898" y="231749"/>
                  </a:lnTo>
                  <a:lnTo>
                    <a:pt x="1037285" y="231749"/>
                  </a:lnTo>
                  <a:lnTo>
                    <a:pt x="1037285" y="180238"/>
                  </a:lnTo>
                  <a:lnTo>
                    <a:pt x="1124204" y="180238"/>
                  </a:lnTo>
                  <a:lnTo>
                    <a:pt x="1124204" y="231749"/>
                  </a:lnTo>
                  <a:lnTo>
                    <a:pt x="1141577" y="231749"/>
                  </a:lnTo>
                  <a:lnTo>
                    <a:pt x="1141577" y="180238"/>
                  </a:lnTo>
                  <a:lnTo>
                    <a:pt x="1228496" y="180238"/>
                  </a:lnTo>
                  <a:lnTo>
                    <a:pt x="1228496" y="231749"/>
                  </a:lnTo>
                  <a:lnTo>
                    <a:pt x="1254582" y="231749"/>
                  </a:lnTo>
                  <a:lnTo>
                    <a:pt x="1254582" y="180238"/>
                  </a:lnTo>
                  <a:lnTo>
                    <a:pt x="1254582" y="179743"/>
                  </a:lnTo>
                  <a:lnTo>
                    <a:pt x="1254582" y="153606"/>
                  </a:lnTo>
                  <a:close/>
                </a:path>
              </a:pathLst>
            </a:custGeom>
            <a:solidFill>
              <a:srgbClr val="BCBCBC"/>
            </a:solidFill>
          </p:spPr>
          <p:txBody>
            <a:bodyPr wrap="square" lIns="0" tIns="0" rIns="0" bIns="0" rtlCol="0"/>
            <a:lstStyle/>
            <a:p>
              <a:endParaRPr sz="2400"/>
            </a:p>
          </p:txBody>
        </p:sp>
        <p:sp>
          <p:nvSpPr>
            <p:cNvPr id="26" name="object 26"/>
            <p:cNvSpPr/>
            <p:nvPr/>
          </p:nvSpPr>
          <p:spPr>
            <a:xfrm>
              <a:off x="6665213" y="3394709"/>
              <a:ext cx="838835" cy="381635"/>
            </a:xfrm>
            <a:custGeom>
              <a:avLst/>
              <a:gdLst/>
              <a:ahLst/>
              <a:cxnLst/>
              <a:rect l="l" t="t" r="r" b="b"/>
              <a:pathLst>
                <a:path w="838834" h="381635">
                  <a:moveTo>
                    <a:pt x="230885" y="107568"/>
                  </a:moveTo>
                  <a:lnTo>
                    <a:pt x="0" y="0"/>
                  </a:lnTo>
                </a:path>
                <a:path w="838834" h="381635">
                  <a:moveTo>
                    <a:pt x="838326" y="188975"/>
                  </a:moveTo>
                  <a:lnTo>
                    <a:pt x="652271" y="381126"/>
                  </a:lnTo>
                </a:path>
              </a:pathLst>
            </a:custGeom>
            <a:ln w="38100">
              <a:solidFill>
                <a:srgbClr val="00C2FF"/>
              </a:solidFill>
            </a:ln>
          </p:spPr>
          <p:txBody>
            <a:bodyPr wrap="square" lIns="0" tIns="0" rIns="0" bIns="0" rtlCol="0"/>
            <a:lstStyle/>
            <a:p>
              <a:endParaRPr sz="2400"/>
            </a:p>
          </p:txBody>
        </p:sp>
        <p:sp>
          <p:nvSpPr>
            <p:cNvPr id="27" name="object 27"/>
            <p:cNvSpPr/>
            <p:nvPr/>
          </p:nvSpPr>
          <p:spPr>
            <a:xfrm>
              <a:off x="3149346" y="2536697"/>
              <a:ext cx="419100" cy="121920"/>
            </a:xfrm>
            <a:custGeom>
              <a:avLst/>
              <a:gdLst/>
              <a:ahLst/>
              <a:cxnLst/>
              <a:rect l="l" t="t" r="r" b="b"/>
              <a:pathLst>
                <a:path w="419100" h="121919">
                  <a:moveTo>
                    <a:pt x="358140" y="0"/>
                  </a:moveTo>
                  <a:lnTo>
                    <a:pt x="358140" y="30479"/>
                  </a:lnTo>
                  <a:lnTo>
                    <a:pt x="0" y="30479"/>
                  </a:lnTo>
                  <a:lnTo>
                    <a:pt x="0" y="91439"/>
                  </a:lnTo>
                  <a:lnTo>
                    <a:pt x="358140" y="91439"/>
                  </a:lnTo>
                  <a:lnTo>
                    <a:pt x="358140" y="121919"/>
                  </a:lnTo>
                  <a:lnTo>
                    <a:pt x="419100" y="60959"/>
                  </a:lnTo>
                  <a:lnTo>
                    <a:pt x="358140" y="0"/>
                  </a:lnTo>
                  <a:close/>
                </a:path>
              </a:pathLst>
            </a:custGeom>
            <a:solidFill>
              <a:srgbClr val="00C3FF"/>
            </a:solidFill>
          </p:spPr>
          <p:txBody>
            <a:bodyPr wrap="square" lIns="0" tIns="0" rIns="0" bIns="0" rtlCol="0"/>
            <a:lstStyle/>
            <a:p>
              <a:endParaRPr sz="2400"/>
            </a:p>
          </p:txBody>
        </p:sp>
        <p:sp>
          <p:nvSpPr>
            <p:cNvPr id="28" name="object 28"/>
            <p:cNvSpPr/>
            <p:nvPr/>
          </p:nvSpPr>
          <p:spPr>
            <a:xfrm>
              <a:off x="3149346" y="2536697"/>
              <a:ext cx="419100" cy="121920"/>
            </a:xfrm>
            <a:custGeom>
              <a:avLst/>
              <a:gdLst/>
              <a:ahLst/>
              <a:cxnLst/>
              <a:rect l="l" t="t" r="r" b="b"/>
              <a:pathLst>
                <a:path w="419100" h="121919">
                  <a:moveTo>
                    <a:pt x="0" y="30479"/>
                  </a:moveTo>
                  <a:lnTo>
                    <a:pt x="358140" y="30479"/>
                  </a:lnTo>
                  <a:lnTo>
                    <a:pt x="358140" y="0"/>
                  </a:lnTo>
                  <a:lnTo>
                    <a:pt x="419100" y="60959"/>
                  </a:lnTo>
                  <a:lnTo>
                    <a:pt x="358140" y="121919"/>
                  </a:lnTo>
                  <a:lnTo>
                    <a:pt x="358140" y="91439"/>
                  </a:lnTo>
                  <a:lnTo>
                    <a:pt x="0" y="91439"/>
                  </a:lnTo>
                  <a:lnTo>
                    <a:pt x="0" y="30479"/>
                  </a:lnTo>
                  <a:close/>
                </a:path>
              </a:pathLst>
            </a:custGeom>
            <a:ln w="25908">
              <a:solidFill>
                <a:srgbClr val="008FBB"/>
              </a:solidFill>
            </a:ln>
          </p:spPr>
          <p:txBody>
            <a:bodyPr wrap="square" lIns="0" tIns="0" rIns="0" bIns="0" rtlCol="0"/>
            <a:lstStyle/>
            <a:p>
              <a:endParaRPr sz="2400"/>
            </a:p>
          </p:txBody>
        </p:sp>
        <p:sp>
          <p:nvSpPr>
            <p:cNvPr id="29" name="object 29"/>
            <p:cNvSpPr/>
            <p:nvPr/>
          </p:nvSpPr>
          <p:spPr>
            <a:xfrm>
              <a:off x="5948933" y="1954530"/>
              <a:ext cx="419100" cy="121920"/>
            </a:xfrm>
            <a:custGeom>
              <a:avLst/>
              <a:gdLst/>
              <a:ahLst/>
              <a:cxnLst/>
              <a:rect l="l" t="t" r="r" b="b"/>
              <a:pathLst>
                <a:path w="419100" h="121919">
                  <a:moveTo>
                    <a:pt x="358139" y="0"/>
                  </a:moveTo>
                  <a:lnTo>
                    <a:pt x="358139" y="30480"/>
                  </a:lnTo>
                  <a:lnTo>
                    <a:pt x="0" y="30480"/>
                  </a:lnTo>
                  <a:lnTo>
                    <a:pt x="0" y="91439"/>
                  </a:lnTo>
                  <a:lnTo>
                    <a:pt x="358139" y="91439"/>
                  </a:lnTo>
                  <a:lnTo>
                    <a:pt x="358139" y="121919"/>
                  </a:lnTo>
                  <a:lnTo>
                    <a:pt x="419100" y="60959"/>
                  </a:lnTo>
                  <a:lnTo>
                    <a:pt x="358139" y="0"/>
                  </a:lnTo>
                  <a:close/>
                </a:path>
              </a:pathLst>
            </a:custGeom>
            <a:solidFill>
              <a:srgbClr val="00C3FF"/>
            </a:solidFill>
          </p:spPr>
          <p:txBody>
            <a:bodyPr wrap="square" lIns="0" tIns="0" rIns="0" bIns="0" rtlCol="0"/>
            <a:lstStyle/>
            <a:p>
              <a:endParaRPr sz="2400"/>
            </a:p>
          </p:txBody>
        </p:sp>
        <p:sp>
          <p:nvSpPr>
            <p:cNvPr id="30" name="object 30"/>
            <p:cNvSpPr/>
            <p:nvPr/>
          </p:nvSpPr>
          <p:spPr>
            <a:xfrm>
              <a:off x="5948933" y="1954530"/>
              <a:ext cx="419100" cy="121920"/>
            </a:xfrm>
            <a:custGeom>
              <a:avLst/>
              <a:gdLst/>
              <a:ahLst/>
              <a:cxnLst/>
              <a:rect l="l" t="t" r="r" b="b"/>
              <a:pathLst>
                <a:path w="419100" h="121919">
                  <a:moveTo>
                    <a:pt x="0" y="30480"/>
                  </a:moveTo>
                  <a:lnTo>
                    <a:pt x="358139" y="30480"/>
                  </a:lnTo>
                  <a:lnTo>
                    <a:pt x="358139" y="0"/>
                  </a:lnTo>
                  <a:lnTo>
                    <a:pt x="419100" y="60959"/>
                  </a:lnTo>
                  <a:lnTo>
                    <a:pt x="358139" y="121919"/>
                  </a:lnTo>
                  <a:lnTo>
                    <a:pt x="358139" y="91439"/>
                  </a:lnTo>
                  <a:lnTo>
                    <a:pt x="0" y="91439"/>
                  </a:lnTo>
                  <a:lnTo>
                    <a:pt x="0" y="30480"/>
                  </a:lnTo>
                  <a:close/>
                </a:path>
              </a:pathLst>
            </a:custGeom>
            <a:ln w="25908">
              <a:solidFill>
                <a:srgbClr val="008FBB"/>
              </a:solidFill>
            </a:ln>
          </p:spPr>
          <p:txBody>
            <a:bodyPr wrap="square" lIns="0" tIns="0" rIns="0" bIns="0" rtlCol="0"/>
            <a:lstStyle/>
            <a:p>
              <a:endParaRPr sz="2400"/>
            </a:p>
          </p:txBody>
        </p:sp>
        <p:sp>
          <p:nvSpPr>
            <p:cNvPr id="31" name="object 31"/>
            <p:cNvSpPr/>
            <p:nvPr/>
          </p:nvSpPr>
          <p:spPr>
            <a:xfrm>
              <a:off x="5936742" y="3242309"/>
              <a:ext cx="419100" cy="123825"/>
            </a:xfrm>
            <a:custGeom>
              <a:avLst/>
              <a:gdLst/>
              <a:ahLst/>
              <a:cxnLst/>
              <a:rect l="l" t="t" r="r" b="b"/>
              <a:pathLst>
                <a:path w="419100" h="123825">
                  <a:moveTo>
                    <a:pt x="357378" y="0"/>
                  </a:moveTo>
                  <a:lnTo>
                    <a:pt x="357378" y="30860"/>
                  </a:lnTo>
                  <a:lnTo>
                    <a:pt x="0" y="30860"/>
                  </a:lnTo>
                  <a:lnTo>
                    <a:pt x="0" y="92582"/>
                  </a:lnTo>
                  <a:lnTo>
                    <a:pt x="357378" y="92582"/>
                  </a:lnTo>
                  <a:lnTo>
                    <a:pt x="357378" y="123443"/>
                  </a:lnTo>
                  <a:lnTo>
                    <a:pt x="419100" y="61721"/>
                  </a:lnTo>
                  <a:lnTo>
                    <a:pt x="357378" y="0"/>
                  </a:lnTo>
                  <a:close/>
                </a:path>
              </a:pathLst>
            </a:custGeom>
            <a:solidFill>
              <a:srgbClr val="00C3FF"/>
            </a:solidFill>
          </p:spPr>
          <p:txBody>
            <a:bodyPr wrap="square" lIns="0" tIns="0" rIns="0" bIns="0" rtlCol="0"/>
            <a:lstStyle/>
            <a:p>
              <a:endParaRPr sz="2400"/>
            </a:p>
          </p:txBody>
        </p:sp>
        <p:sp>
          <p:nvSpPr>
            <p:cNvPr id="32" name="object 32"/>
            <p:cNvSpPr/>
            <p:nvPr/>
          </p:nvSpPr>
          <p:spPr>
            <a:xfrm>
              <a:off x="5936742" y="3242309"/>
              <a:ext cx="419100" cy="123825"/>
            </a:xfrm>
            <a:custGeom>
              <a:avLst/>
              <a:gdLst/>
              <a:ahLst/>
              <a:cxnLst/>
              <a:rect l="l" t="t" r="r" b="b"/>
              <a:pathLst>
                <a:path w="419100" h="123825">
                  <a:moveTo>
                    <a:pt x="0" y="30860"/>
                  </a:moveTo>
                  <a:lnTo>
                    <a:pt x="357378" y="30860"/>
                  </a:lnTo>
                  <a:lnTo>
                    <a:pt x="357378" y="0"/>
                  </a:lnTo>
                  <a:lnTo>
                    <a:pt x="419100" y="61721"/>
                  </a:lnTo>
                  <a:lnTo>
                    <a:pt x="357378" y="123443"/>
                  </a:lnTo>
                  <a:lnTo>
                    <a:pt x="357378" y="92582"/>
                  </a:lnTo>
                  <a:lnTo>
                    <a:pt x="0" y="92582"/>
                  </a:lnTo>
                  <a:lnTo>
                    <a:pt x="0" y="30860"/>
                  </a:lnTo>
                  <a:close/>
                </a:path>
              </a:pathLst>
            </a:custGeom>
            <a:ln w="25908">
              <a:solidFill>
                <a:srgbClr val="008FBB"/>
              </a:solidFill>
            </a:ln>
          </p:spPr>
          <p:txBody>
            <a:bodyPr wrap="square" lIns="0" tIns="0" rIns="0" bIns="0" rtlCol="0"/>
            <a:lstStyle/>
            <a:p>
              <a:endParaRPr sz="2400"/>
            </a:p>
          </p:txBody>
        </p:sp>
        <p:sp>
          <p:nvSpPr>
            <p:cNvPr id="33" name="object 33"/>
            <p:cNvSpPr/>
            <p:nvPr/>
          </p:nvSpPr>
          <p:spPr>
            <a:xfrm>
              <a:off x="7666481" y="2221230"/>
              <a:ext cx="419100" cy="123825"/>
            </a:xfrm>
            <a:custGeom>
              <a:avLst/>
              <a:gdLst/>
              <a:ahLst/>
              <a:cxnLst/>
              <a:rect l="l" t="t" r="r" b="b"/>
              <a:pathLst>
                <a:path w="419100" h="123825">
                  <a:moveTo>
                    <a:pt x="357377" y="0"/>
                  </a:moveTo>
                  <a:lnTo>
                    <a:pt x="357377" y="30861"/>
                  </a:lnTo>
                  <a:lnTo>
                    <a:pt x="0" y="30861"/>
                  </a:lnTo>
                  <a:lnTo>
                    <a:pt x="0" y="92582"/>
                  </a:lnTo>
                  <a:lnTo>
                    <a:pt x="357377" y="92582"/>
                  </a:lnTo>
                  <a:lnTo>
                    <a:pt x="357377" y="123443"/>
                  </a:lnTo>
                  <a:lnTo>
                    <a:pt x="419100" y="61721"/>
                  </a:lnTo>
                  <a:lnTo>
                    <a:pt x="357377" y="0"/>
                  </a:lnTo>
                  <a:close/>
                </a:path>
              </a:pathLst>
            </a:custGeom>
            <a:solidFill>
              <a:srgbClr val="00C3FF"/>
            </a:solidFill>
          </p:spPr>
          <p:txBody>
            <a:bodyPr wrap="square" lIns="0" tIns="0" rIns="0" bIns="0" rtlCol="0"/>
            <a:lstStyle/>
            <a:p>
              <a:endParaRPr sz="2400"/>
            </a:p>
          </p:txBody>
        </p:sp>
        <p:sp>
          <p:nvSpPr>
            <p:cNvPr id="34" name="object 34"/>
            <p:cNvSpPr/>
            <p:nvPr/>
          </p:nvSpPr>
          <p:spPr>
            <a:xfrm>
              <a:off x="7666481" y="2221230"/>
              <a:ext cx="419100" cy="123825"/>
            </a:xfrm>
            <a:custGeom>
              <a:avLst/>
              <a:gdLst/>
              <a:ahLst/>
              <a:cxnLst/>
              <a:rect l="l" t="t" r="r" b="b"/>
              <a:pathLst>
                <a:path w="419100" h="123825">
                  <a:moveTo>
                    <a:pt x="0" y="30861"/>
                  </a:moveTo>
                  <a:lnTo>
                    <a:pt x="357377" y="30861"/>
                  </a:lnTo>
                  <a:lnTo>
                    <a:pt x="357377" y="0"/>
                  </a:lnTo>
                  <a:lnTo>
                    <a:pt x="419100" y="61721"/>
                  </a:lnTo>
                  <a:lnTo>
                    <a:pt x="357377" y="123443"/>
                  </a:lnTo>
                  <a:lnTo>
                    <a:pt x="357377" y="92582"/>
                  </a:lnTo>
                  <a:lnTo>
                    <a:pt x="0" y="92582"/>
                  </a:lnTo>
                  <a:lnTo>
                    <a:pt x="0" y="30861"/>
                  </a:lnTo>
                  <a:close/>
                </a:path>
              </a:pathLst>
            </a:custGeom>
            <a:ln w="25908">
              <a:solidFill>
                <a:srgbClr val="008FBB"/>
              </a:solidFill>
            </a:ln>
          </p:spPr>
          <p:txBody>
            <a:bodyPr wrap="square" lIns="0" tIns="0" rIns="0" bIns="0" rtlCol="0"/>
            <a:lstStyle/>
            <a:p>
              <a:endParaRPr sz="2400"/>
            </a:p>
          </p:txBody>
        </p:sp>
        <p:sp>
          <p:nvSpPr>
            <p:cNvPr id="35" name="object 35"/>
            <p:cNvSpPr/>
            <p:nvPr/>
          </p:nvSpPr>
          <p:spPr>
            <a:xfrm>
              <a:off x="7675625" y="3697986"/>
              <a:ext cx="419100" cy="121920"/>
            </a:xfrm>
            <a:custGeom>
              <a:avLst/>
              <a:gdLst/>
              <a:ahLst/>
              <a:cxnLst/>
              <a:rect l="l" t="t" r="r" b="b"/>
              <a:pathLst>
                <a:path w="419100" h="121920">
                  <a:moveTo>
                    <a:pt x="358140" y="0"/>
                  </a:moveTo>
                  <a:lnTo>
                    <a:pt x="358140" y="30479"/>
                  </a:lnTo>
                  <a:lnTo>
                    <a:pt x="0" y="30479"/>
                  </a:lnTo>
                  <a:lnTo>
                    <a:pt x="0" y="91439"/>
                  </a:lnTo>
                  <a:lnTo>
                    <a:pt x="358140" y="91439"/>
                  </a:lnTo>
                  <a:lnTo>
                    <a:pt x="358140" y="121919"/>
                  </a:lnTo>
                  <a:lnTo>
                    <a:pt x="419100" y="60959"/>
                  </a:lnTo>
                  <a:lnTo>
                    <a:pt x="358140" y="0"/>
                  </a:lnTo>
                  <a:close/>
                </a:path>
              </a:pathLst>
            </a:custGeom>
            <a:solidFill>
              <a:srgbClr val="00C3FF"/>
            </a:solidFill>
          </p:spPr>
          <p:txBody>
            <a:bodyPr wrap="square" lIns="0" tIns="0" rIns="0" bIns="0" rtlCol="0"/>
            <a:lstStyle/>
            <a:p>
              <a:endParaRPr sz="2400"/>
            </a:p>
          </p:txBody>
        </p:sp>
        <p:sp>
          <p:nvSpPr>
            <p:cNvPr id="36" name="object 36"/>
            <p:cNvSpPr/>
            <p:nvPr/>
          </p:nvSpPr>
          <p:spPr>
            <a:xfrm>
              <a:off x="7675625" y="3697986"/>
              <a:ext cx="419100" cy="121920"/>
            </a:xfrm>
            <a:custGeom>
              <a:avLst/>
              <a:gdLst/>
              <a:ahLst/>
              <a:cxnLst/>
              <a:rect l="l" t="t" r="r" b="b"/>
              <a:pathLst>
                <a:path w="419100" h="121920">
                  <a:moveTo>
                    <a:pt x="0" y="30479"/>
                  </a:moveTo>
                  <a:lnTo>
                    <a:pt x="358140" y="30479"/>
                  </a:lnTo>
                  <a:lnTo>
                    <a:pt x="358140" y="0"/>
                  </a:lnTo>
                  <a:lnTo>
                    <a:pt x="419100" y="60959"/>
                  </a:lnTo>
                  <a:lnTo>
                    <a:pt x="358140" y="121919"/>
                  </a:lnTo>
                  <a:lnTo>
                    <a:pt x="358140" y="91439"/>
                  </a:lnTo>
                  <a:lnTo>
                    <a:pt x="0" y="91439"/>
                  </a:lnTo>
                  <a:lnTo>
                    <a:pt x="0" y="30479"/>
                  </a:lnTo>
                  <a:close/>
                </a:path>
              </a:pathLst>
            </a:custGeom>
            <a:ln w="25908">
              <a:solidFill>
                <a:srgbClr val="008FBB"/>
              </a:solidFill>
            </a:ln>
          </p:spPr>
          <p:txBody>
            <a:bodyPr wrap="square" lIns="0" tIns="0" rIns="0" bIns="0" rtlCol="0"/>
            <a:lstStyle/>
            <a:p>
              <a:endParaRPr sz="2400"/>
            </a:p>
          </p:txBody>
        </p:sp>
      </p:grpSp>
      <p:sp>
        <p:nvSpPr>
          <p:cNvPr id="37" name="object 37"/>
          <p:cNvSpPr txBox="1"/>
          <p:nvPr/>
        </p:nvSpPr>
        <p:spPr>
          <a:xfrm>
            <a:off x="8766556" y="5549121"/>
            <a:ext cx="1354667"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Data</a:t>
            </a:r>
            <a:r>
              <a:rPr sz="2133" spc="-53" dirty="0">
                <a:solidFill>
                  <a:srgbClr val="FFFFFF"/>
                </a:solidFill>
                <a:latin typeface="Calibri"/>
                <a:cs typeface="Calibri"/>
              </a:rPr>
              <a:t> </a:t>
            </a:r>
            <a:r>
              <a:rPr sz="2133" dirty="0">
                <a:solidFill>
                  <a:srgbClr val="FFFFFF"/>
                </a:solidFill>
                <a:latin typeface="Calibri"/>
                <a:cs typeface="Calibri"/>
              </a:rPr>
              <a:t>Mart</a:t>
            </a:r>
            <a:r>
              <a:rPr sz="2133" spc="-27" dirty="0">
                <a:solidFill>
                  <a:srgbClr val="FFFFFF"/>
                </a:solidFill>
                <a:latin typeface="Calibri"/>
                <a:cs typeface="Calibri"/>
              </a:rPr>
              <a:t> </a:t>
            </a:r>
            <a:r>
              <a:rPr sz="2133" spc="-67" dirty="0">
                <a:solidFill>
                  <a:srgbClr val="FFFFFF"/>
                </a:solidFill>
                <a:latin typeface="Calibri"/>
                <a:cs typeface="Calibri"/>
              </a:rPr>
              <a:t>2</a:t>
            </a:r>
            <a:endParaRPr sz="2133">
              <a:latin typeface="Calibri"/>
              <a:cs typeface="Calibri"/>
            </a:endParaRPr>
          </a:p>
        </p:txBody>
      </p:sp>
      <p:pic>
        <p:nvPicPr>
          <p:cNvPr id="38" name="object 38"/>
          <p:cNvPicPr/>
          <p:nvPr/>
        </p:nvPicPr>
        <p:blipFill>
          <a:blip r:embed="rId2" cstate="print"/>
          <a:stretch>
            <a:fillRect/>
          </a:stretch>
        </p:blipFill>
        <p:spPr>
          <a:xfrm>
            <a:off x="11131295" y="2645665"/>
            <a:ext cx="617728" cy="617727"/>
          </a:xfrm>
          <a:prstGeom prst="rect">
            <a:avLst/>
          </a:prstGeom>
        </p:spPr>
      </p:pic>
      <p:sp>
        <p:nvSpPr>
          <p:cNvPr id="39" name="object 39"/>
          <p:cNvSpPr txBox="1"/>
          <p:nvPr/>
        </p:nvSpPr>
        <p:spPr>
          <a:xfrm>
            <a:off x="10922508" y="4672177"/>
            <a:ext cx="1131992" cy="672706"/>
          </a:xfrm>
          <a:prstGeom prst="rect">
            <a:avLst/>
          </a:prstGeom>
        </p:spPr>
        <p:txBody>
          <a:bodyPr vert="horz" wrap="square" lIns="0" tIns="16087" rIns="0" bIns="0" rtlCol="0">
            <a:spAutoFit/>
          </a:bodyPr>
          <a:lstStyle/>
          <a:p>
            <a:pPr marL="16933">
              <a:spcBef>
                <a:spcPts val="127"/>
              </a:spcBef>
            </a:pPr>
            <a:r>
              <a:rPr sz="2133" spc="-13" dirty="0">
                <a:solidFill>
                  <a:srgbClr val="FFFFFF"/>
                </a:solidFill>
                <a:latin typeface="Calibri"/>
                <a:cs typeface="Calibri"/>
              </a:rPr>
              <a:t>Predictive</a:t>
            </a:r>
            <a:endParaRPr sz="2133">
              <a:latin typeface="Calibri"/>
              <a:cs typeface="Calibri"/>
            </a:endParaRPr>
          </a:p>
          <a:p>
            <a:pPr marL="71118">
              <a:spcBef>
                <a:spcPts val="20"/>
              </a:spcBef>
            </a:pPr>
            <a:r>
              <a:rPr sz="2133" spc="-13" dirty="0">
                <a:solidFill>
                  <a:srgbClr val="FFFFFF"/>
                </a:solidFill>
                <a:latin typeface="Calibri"/>
                <a:cs typeface="Calibri"/>
              </a:rPr>
              <a:t>Analytics</a:t>
            </a:r>
            <a:endParaRPr sz="2133">
              <a:latin typeface="Calibri"/>
              <a:cs typeface="Calibri"/>
            </a:endParaRPr>
          </a:p>
        </p:txBody>
      </p:sp>
      <p:sp>
        <p:nvSpPr>
          <p:cNvPr id="40" name="object 40"/>
          <p:cNvSpPr txBox="1"/>
          <p:nvPr/>
        </p:nvSpPr>
        <p:spPr>
          <a:xfrm>
            <a:off x="4538472" y="4310041"/>
            <a:ext cx="1086273" cy="344475"/>
          </a:xfrm>
          <a:prstGeom prst="rect">
            <a:avLst/>
          </a:prstGeom>
        </p:spPr>
        <p:txBody>
          <a:bodyPr vert="horz" wrap="square" lIns="0" tIns="16087" rIns="0" bIns="0" rtlCol="0">
            <a:spAutoFit/>
          </a:bodyPr>
          <a:lstStyle/>
          <a:p>
            <a:pPr marL="16933">
              <a:spcBef>
                <a:spcPts val="127"/>
              </a:spcBef>
            </a:pPr>
            <a:r>
              <a:rPr sz="2133" spc="-13" dirty="0">
                <a:solidFill>
                  <a:srgbClr val="FFFFFF"/>
                </a:solidFill>
                <a:latin typeface="Calibri"/>
                <a:cs typeface="Calibri"/>
              </a:rPr>
              <a:t>Cleansing</a:t>
            </a:r>
            <a:endParaRPr sz="2133">
              <a:latin typeface="Calibri"/>
              <a:cs typeface="Calibri"/>
            </a:endParaRPr>
          </a:p>
        </p:txBody>
      </p:sp>
      <p:grpSp>
        <p:nvGrpSpPr>
          <p:cNvPr id="41" name="object 41"/>
          <p:cNvGrpSpPr/>
          <p:nvPr/>
        </p:nvGrpSpPr>
        <p:grpSpPr>
          <a:xfrm>
            <a:off x="4385055" y="1361441"/>
            <a:ext cx="1754293" cy="2959100"/>
            <a:chOff x="3288791" y="1021080"/>
            <a:chExt cx="1315720" cy="2219325"/>
          </a:xfrm>
        </p:grpSpPr>
        <p:sp>
          <p:nvSpPr>
            <p:cNvPr id="42" name="object 42"/>
            <p:cNvSpPr/>
            <p:nvPr/>
          </p:nvSpPr>
          <p:spPr>
            <a:xfrm>
              <a:off x="3293363" y="1025652"/>
              <a:ext cx="1042669" cy="2209800"/>
            </a:xfrm>
            <a:custGeom>
              <a:avLst/>
              <a:gdLst/>
              <a:ahLst/>
              <a:cxnLst/>
              <a:rect l="l" t="t" r="r" b="b"/>
              <a:pathLst>
                <a:path w="1042670" h="2209800">
                  <a:moveTo>
                    <a:pt x="0" y="173736"/>
                  </a:moveTo>
                  <a:lnTo>
                    <a:pt x="6201" y="127529"/>
                  </a:lnTo>
                  <a:lnTo>
                    <a:pt x="23706" y="86021"/>
                  </a:lnTo>
                  <a:lnTo>
                    <a:pt x="50863" y="50863"/>
                  </a:lnTo>
                  <a:lnTo>
                    <a:pt x="86021" y="23706"/>
                  </a:lnTo>
                  <a:lnTo>
                    <a:pt x="127529" y="6201"/>
                  </a:lnTo>
                  <a:lnTo>
                    <a:pt x="173736" y="0"/>
                  </a:lnTo>
                  <a:lnTo>
                    <a:pt x="868680" y="0"/>
                  </a:lnTo>
                  <a:lnTo>
                    <a:pt x="914886" y="6201"/>
                  </a:lnTo>
                  <a:lnTo>
                    <a:pt x="956394" y="23706"/>
                  </a:lnTo>
                  <a:lnTo>
                    <a:pt x="991552" y="50863"/>
                  </a:lnTo>
                  <a:lnTo>
                    <a:pt x="1018709" y="86021"/>
                  </a:lnTo>
                  <a:lnTo>
                    <a:pt x="1036214" y="127529"/>
                  </a:lnTo>
                  <a:lnTo>
                    <a:pt x="1042415" y="173736"/>
                  </a:lnTo>
                  <a:lnTo>
                    <a:pt x="1042415" y="2036064"/>
                  </a:lnTo>
                  <a:lnTo>
                    <a:pt x="1036214" y="2082270"/>
                  </a:lnTo>
                  <a:lnTo>
                    <a:pt x="1018709" y="2123778"/>
                  </a:lnTo>
                  <a:lnTo>
                    <a:pt x="991552" y="2158936"/>
                  </a:lnTo>
                  <a:lnTo>
                    <a:pt x="956394" y="2186093"/>
                  </a:lnTo>
                  <a:lnTo>
                    <a:pt x="914886" y="2203598"/>
                  </a:lnTo>
                  <a:lnTo>
                    <a:pt x="868680" y="2209800"/>
                  </a:lnTo>
                  <a:lnTo>
                    <a:pt x="173736" y="2209800"/>
                  </a:lnTo>
                  <a:lnTo>
                    <a:pt x="127529" y="2203598"/>
                  </a:lnTo>
                  <a:lnTo>
                    <a:pt x="86021" y="2186093"/>
                  </a:lnTo>
                  <a:lnTo>
                    <a:pt x="50863" y="2158936"/>
                  </a:lnTo>
                  <a:lnTo>
                    <a:pt x="23706" y="2123778"/>
                  </a:lnTo>
                  <a:lnTo>
                    <a:pt x="6201" y="2082270"/>
                  </a:lnTo>
                  <a:lnTo>
                    <a:pt x="0" y="2036064"/>
                  </a:lnTo>
                  <a:lnTo>
                    <a:pt x="0" y="173736"/>
                  </a:lnTo>
                  <a:close/>
                </a:path>
              </a:pathLst>
            </a:custGeom>
            <a:ln w="9144">
              <a:solidFill>
                <a:srgbClr val="00C3FF"/>
              </a:solidFill>
            </a:ln>
          </p:spPr>
          <p:txBody>
            <a:bodyPr wrap="square" lIns="0" tIns="0" rIns="0" bIns="0" rtlCol="0"/>
            <a:lstStyle/>
            <a:p>
              <a:endParaRPr sz="2400"/>
            </a:p>
          </p:txBody>
        </p:sp>
        <p:sp>
          <p:nvSpPr>
            <p:cNvPr id="43" name="object 43"/>
            <p:cNvSpPr/>
            <p:nvPr/>
          </p:nvSpPr>
          <p:spPr>
            <a:xfrm>
              <a:off x="3361055" y="1470431"/>
              <a:ext cx="804545" cy="1351915"/>
            </a:xfrm>
            <a:custGeom>
              <a:avLst/>
              <a:gdLst/>
              <a:ahLst/>
              <a:cxnLst/>
              <a:rect l="l" t="t" r="r" b="b"/>
              <a:pathLst>
                <a:path w="804545" h="1351914">
                  <a:moveTo>
                    <a:pt x="434771" y="156387"/>
                  </a:moveTo>
                  <a:lnTo>
                    <a:pt x="406463" y="156387"/>
                  </a:lnTo>
                  <a:lnTo>
                    <a:pt x="406463" y="241363"/>
                  </a:lnTo>
                  <a:lnTo>
                    <a:pt x="434771" y="241363"/>
                  </a:lnTo>
                  <a:lnTo>
                    <a:pt x="434771" y="156387"/>
                  </a:lnTo>
                  <a:close/>
                </a:path>
                <a:path w="804545" h="1351914">
                  <a:moveTo>
                    <a:pt x="566051" y="466699"/>
                  </a:moveTo>
                  <a:lnTo>
                    <a:pt x="0" y="466699"/>
                  </a:lnTo>
                  <a:lnTo>
                    <a:pt x="0" y="508571"/>
                  </a:lnTo>
                  <a:lnTo>
                    <a:pt x="0" y="593610"/>
                  </a:lnTo>
                  <a:lnTo>
                    <a:pt x="0" y="862660"/>
                  </a:lnTo>
                  <a:lnTo>
                    <a:pt x="566051" y="862660"/>
                  </a:lnTo>
                  <a:lnTo>
                    <a:pt x="566051" y="819899"/>
                  </a:lnTo>
                  <a:lnTo>
                    <a:pt x="566051" y="819518"/>
                  </a:lnTo>
                  <a:lnTo>
                    <a:pt x="566051" y="735114"/>
                  </a:lnTo>
                  <a:lnTo>
                    <a:pt x="523582" y="735114"/>
                  </a:lnTo>
                  <a:lnTo>
                    <a:pt x="523582" y="819518"/>
                  </a:lnTo>
                  <a:lnTo>
                    <a:pt x="382079" y="819518"/>
                  </a:lnTo>
                  <a:lnTo>
                    <a:pt x="382079" y="735114"/>
                  </a:lnTo>
                  <a:lnTo>
                    <a:pt x="353771" y="735114"/>
                  </a:lnTo>
                  <a:lnTo>
                    <a:pt x="353771" y="819518"/>
                  </a:lnTo>
                  <a:lnTo>
                    <a:pt x="212267" y="819518"/>
                  </a:lnTo>
                  <a:lnTo>
                    <a:pt x="212267" y="735114"/>
                  </a:lnTo>
                  <a:lnTo>
                    <a:pt x="183959" y="735114"/>
                  </a:lnTo>
                  <a:lnTo>
                    <a:pt x="183959" y="819518"/>
                  </a:lnTo>
                  <a:lnTo>
                    <a:pt x="42456" y="819518"/>
                  </a:lnTo>
                  <a:lnTo>
                    <a:pt x="42456" y="734479"/>
                  </a:lnTo>
                  <a:lnTo>
                    <a:pt x="566051" y="734479"/>
                  </a:lnTo>
                  <a:lnTo>
                    <a:pt x="566051" y="706856"/>
                  </a:lnTo>
                  <a:lnTo>
                    <a:pt x="566051" y="706564"/>
                  </a:lnTo>
                  <a:lnTo>
                    <a:pt x="566051" y="622058"/>
                  </a:lnTo>
                  <a:lnTo>
                    <a:pt x="523582" y="622058"/>
                  </a:lnTo>
                  <a:lnTo>
                    <a:pt x="523582" y="706564"/>
                  </a:lnTo>
                  <a:lnTo>
                    <a:pt x="382079" y="706564"/>
                  </a:lnTo>
                  <a:lnTo>
                    <a:pt x="382079" y="622058"/>
                  </a:lnTo>
                  <a:lnTo>
                    <a:pt x="353771" y="622058"/>
                  </a:lnTo>
                  <a:lnTo>
                    <a:pt x="353771" y="706564"/>
                  </a:lnTo>
                  <a:lnTo>
                    <a:pt x="212267" y="706564"/>
                  </a:lnTo>
                  <a:lnTo>
                    <a:pt x="212267" y="622058"/>
                  </a:lnTo>
                  <a:lnTo>
                    <a:pt x="183959" y="622058"/>
                  </a:lnTo>
                  <a:lnTo>
                    <a:pt x="183959" y="706564"/>
                  </a:lnTo>
                  <a:lnTo>
                    <a:pt x="42456" y="706564"/>
                  </a:lnTo>
                  <a:lnTo>
                    <a:pt x="42456" y="621525"/>
                  </a:lnTo>
                  <a:lnTo>
                    <a:pt x="566051" y="621525"/>
                  </a:lnTo>
                  <a:lnTo>
                    <a:pt x="566051" y="593801"/>
                  </a:lnTo>
                  <a:lnTo>
                    <a:pt x="566051" y="593610"/>
                  </a:lnTo>
                  <a:lnTo>
                    <a:pt x="566051" y="509003"/>
                  </a:lnTo>
                  <a:lnTo>
                    <a:pt x="523582" y="509003"/>
                  </a:lnTo>
                  <a:lnTo>
                    <a:pt x="523582" y="593610"/>
                  </a:lnTo>
                  <a:lnTo>
                    <a:pt x="382079" y="593610"/>
                  </a:lnTo>
                  <a:lnTo>
                    <a:pt x="382079" y="509003"/>
                  </a:lnTo>
                  <a:lnTo>
                    <a:pt x="353771" y="509003"/>
                  </a:lnTo>
                  <a:lnTo>
                    <a:pt x="353771" y="593610"/>
                  </a:lnTo>
                  <a:lnTo>
                    <a:pt x="212267" y="593610"/>
                  </a:lnTo>
                  <a:lnTo>
                    <a:pt x="212267" y="509003"/>
                  </a:lnTo>
                  <a:lnTo>
                    <a:pt x="183959" y="509003"/>
                  </a:lnTo>
                  <a:lnTo>
                    <a:pt x="183959" y="593610"/>
                  </a:lnTo>
                  <a:lnTo>
                    <a:pt x="42456" y="593610"/>
                  </a:lnTo>
                  <a:lnTo>
                    <a:pt x="42456" y="508571"/>
                  </a:lnTo>
                  <a:lnTo>
                    <a:pt x="566051" y="508571"/>
                  </a:lnTo>
                  <a:lnTo>
                    <a:pt x="566051" y="466699"/>
                  </a:lnTo>
                  <a:close/>
                </a:path>
                <a:path w="804545" h="1351914">
                  <a:moveTo>
                    <a:pt x="604583" y="156387"/>
                  </a:moveTo>
                  <a:lnTo>
                    <a:pt x="576275" y="156387"/>
                  </a:lnTo>
                  <a:lnTo>
                    <a:pt x="576275" y="241363"/>
                  </a:lnTo>
                  <a:lnTo>
                    <a:pt x="604583" y="241363"/>
                  </a:lnTo>
                  <a:lnTo>
                    <a:pt x="604583" y="156387"/>
                  </a:lnTo>
                  <a:close/>
                </a:path>
                <a:path w="804545" h="1351914">
                  <a:moveTo>
                    <a:pt x="788555" y="156387"/>
                  </a:moveTo>
                  <a:lnTo>
                    <a:pt x="746086" y="156387"/>
                  </a:lnTo>
                  <a:lnTo>
                    <a:pt x="746086" y="241363"/>
                  </a:lnTo>
                  <a:lnTo>
                    <a:pt x="788555" y="241363"/>
                  </a:lnTo>
                  <a:lnTo>
                    <a:pt x="788555" y="156387"/>
                  </a:lnTo>
                  <a:close/>
                </a:path>
                <a:path w="804545" h="1351914">
                  <a:moveTo>
                    <a:pt x="788555" y="0"/>
                  </a:moveTo>
                  <a:lnTo>
                    <a:pt x="222504" y="0"/>
                  </a:lnTo>
                  <a:lnTo>
                    <a:pt x="222504" y="43205"/>
                  </a:lnTo>
                  <a:lnTo>
                    <a:pt x="222504" y="128333"/>
                  </a:lnTo>
                  <a:lnTo>
                    <a:pt x="222504" y="397687"/>
                  </a:lnTo>
                  <a:lnTo>
                    <a:pt x="788555" y="397687"/>
                  </a:lnTo>
                  <a:lnTo>
                    <a:pt x="788555" y="354672"/>
                  </a:lnTo>
                  <a:lnTo>
                    <a:pt x="788555" y="354482"/>
                  </a:lnTo>
                  <a:lnTo>
                    <a:pt x="788555" y="269684"/>
                  </a:lnTo>
                  <a:lnTo>
                    <a:pt x="746086" y="269684"/>
                  </a:lnTo>
                  <a:lnTo>
                    <a:pt x="746086" y="354482"/>
                  </a:lnTo>
                  <a:lnTo>
                    <a:pt x="604583" y="354482"/>
                  </a:lnTo>
                  <a:lnTo>
                    <a:pt x="604583" y="269684"/>
                  </a:lnTo>
                  <a:lnTo>
                    <a:pt x="576275" y="269684"/>
                  </a:lnTo>
                  <a:lnTo>
                    <a:pt x="576275" y="354482"/>
                  </a:lnTo>
                  <a:lnTo>
                    <a:pt x="434771" y="354482"/>
                  </a:lnTo>
                  <a:lnTo>
                    <a:pt x="434771" y="269684"/>
                  </a:lnTo>
                  <a:lnTo>
                    <a:pt x="406463" y="269684"/>
                  </a:lnTo>
                  <a:lnTo>
                    <a:pt x="406463" y="354482"/>
                  </a:lnTo>
                  <a:lnTo>
                    <a:pt x="264960" y="354482"/>
                  </a:lnTo>
                  <a:lnTo>
                    <a:pt x="264960" y="269354"/>
                  </a:lnTo>
                  <a:lnTo>
                    <a:pt x="788555" y="269354"/>
                  </a:lnTo>
                  <a:lnTo>
                    <a:pt x="788555" y="241401"/>
                  </a:lnTo>
                  <a:lnTo>
                    <a:pt x="264960" y="241401"/>
                  </a:lnTo>
                  <a:lnTo>
                    <a:pt x="264960" y="156286"/>
                  </a:lnTo>
                  <a:lnTo>
                    <a:pt x="788555" y="156286"/>
                  </a:lnTo>
                  <a:lnTo>
                    <a:pt x="788555" y="128333"/>
                  </a:lnTo>
                  <a:lnTo>
                    <a:pt x="264960" y="128333"/>
                  </a:lnTo>
                  <a:lnTo>
                    <a:pt x="264960" y="43205"/>
                  </a:lnTo>
                  <a:lnTo>
                    <a:pt x="406463" y="43205"/>
                  </a:lnTo>
                  <a:lnTo>
                    <a:pt x="406463" y="128054"/>
                  </a:lnTo>
                  <a:lnTo>
                    <a:pt x="434771" y="128054"/>
                  </a:lnTo>
                  <a:lnTo>
                    <a:pt x="434771" y="43205"/>
                  </a:lnTo>
                  <a:lnTo>
                    <a:pt x="576275" y="43205"/>
                  </a:lnTo>
                  <a:lnTo>
                    <a:pt x="576275" y="128054"/>
                  </a:lnTo>
                  <a:lnTo>
                    <a:pt x="604583" y="128054"/>
                  </a:lnTo>
                  <a:lnTo>
                    <a:pt x="604583" y="43205"/>
                  </a:lnTo>
                  <a:lnTo>
                    <a:pt x="746086" y="43205"/>
                  </a:lnTo>
                  <a:lnTo>
                    <a:pt x="746086" y="128054"/>
                  </a:lnTo>
                  <a:lnTo>
                    <a:pt x="788555" y="128054"/>
                  </a:lnTo>
                  <a:lnTo>
                    <a:pt x="788555" y="43205"/>
                  </a:lnTo>
                  <a:lnTo>
                    <a:pt x="788555" y="43078"/>
                  </a:lnTo>
                  <a:lnTo>
                    <a:pt x="788555" y="0"/>
                  </a:lnTo>
                  <a:close/>
                </a:path>
                <a:path w="804545" h="1351914">
                  <a:moveTo>
                    <a:pt x="803922" y="954697"/>
                  </a:moveTo>
                  <a:lnTo>
                    <a:pt x="239128" y="954697"/>
                  </a:lnTo>
                  <a:lnTo>
                    <a:pt x="239128" y="996670"/>
                  </a:lnTo>
                  <a:lnTo>
                    <a:pt x="239128" y="1081887"/>
                  </a:lnTo>
                  <a:lnTo>
                    <a:pt x="239128" y="1351546"/>
                  </a:lnTo>
                  <a:lnTo>
                    <a:pt x="803922" y="1351546"/>
                  </a:lnTo>
                  <a:lnTo>
                    <a:pt x="803922" y="1308696"/>
                  </a:lnTo>
                  <a:lnTo>
                    <a:pt x="803922" y="1308303"/>
                  </a:lnTo>
                  <a:lnTo>
                    <a:pt x="803922" y="1223708"/>
                  </a:lnTo>
                  <a:lnTo>
                    <a:pt x="761555" y="1223708"/>
                  </a:lnTo>
                  <a:lnTo>
                    <a:pt x="761555" y="1308303"/>
                  </a:lnTo>
                  <a:lnTo>
                    <a:pt x="620356" y="1308303"/>
                  </a:lnTo>
                  <a:lnTo>
                    <a:pt x="620356" y="1223708"/>
                  </a:lnTo>
                  <a:lnTo>
                    <a:pt x="592124" y="1223708"/>
                  </a:lnTo>
                  <a:lnTo>
                    <a:pt x="592124" y="1308303"/>
                  </a:lnTo>
                  <a:lnTo>
                    <a:pt x="450926" y="1308303"/>
                  </a:lnTo>
                  <a:lnTo>
                    <a:pt x="450926" y="1223708"/>
                  </a:lnTo>
                  <a:lnTo>
                    <a:pt x="422681" y="1223708"/>
                  </a:lnTo>
                  <a:lnTo>
                    <a:pt x="422681" y="1308303"/>
                  </a:lnTo>
                  <a:lnTo>
                    <a:pt x="281495" y="1308303"/>
                  </a:lnTo>
                  <a:lnTo>
                    <a:pt x="281495" y="1223086"/>
                  </a:lnTo>
                  <a:lnTo>
                    <a:pt x="803922" y="1223086"/>
                  </a:lnTo>
                  <a:lnTo>
                    <a:pt x="803922" y="1195387"/>
                  </a:lnTo>
                  <a:lnTo>
                    <a:pt x="803922" y="1195095"/>
                  </a:lnTo>
                  <a:lnTo>
                    <a:pt x="803922" y="1110411"/>
                  </a:lnTo>
                  <a:lnTo>
                    <a:pt x="761555" y="1110411"/>
                  </a:lnTo>
                  <a:lnTo>
                    <a:pt x="761555" y="1195095"/>
                  </a:lnTo>
                  <a:lnTo>
                    <a:pt x="620356" y="1195095"/>
                  </a:lnTo>
                  <a:lnTo>
                    <a:pt x="620356" y="1110411"/>
                  </a:lnTo>
                  <a:lnTo>
                    <a:pt x="592124" y="1110411"/>
                  </a:lnTo>
                  <a:lnTo>
                    <a:pt x="592124" y="1195095"/>
                  </a:lnTo>
                  <a:lnTo>
                    <a:pt x="450926" y="1195095"/>
                  </a:lnTo>
                  <a:lnTo>
                    <a:pt x="450926" y="1110411"/>
                  </a:lnTo>
                  <a:lnTo>
                    <a:pt x="422681" y="1110411"/>
                  </a:lnTo>
                  <a:lnTo>
                    <a:pt x="422681" y="1195095"/>
                  </a:lnTo>
                  <a:lnTo>
                    <a:pt x="281495" y="1195095"/>
                  </a:lnTo>
                  <a:lnTo>
                    <a:pt x="281495" y="1109878"/>
                  </a:lnTo>
                  <a:lnTo>
                    <a:pt x="803922" y="1109878"/>
                  </a:lnTo>
                  <a:lnTo>
                    <a:pt x="803922" y="1082078"/>
                  </a:lnTo>
                  <a:lnTo>
                    <a:pt x="803922" y="1081887"/>
                  </a:lnTo>
                  <a:lnTo>
                    <a:pt x="803922" y="997102"/>
                  </a:lnTo>
                  <a:lnTo>
                    <a:pt x="761555" y="997102"/>
                  </a:lnTo>
                  <a:lnTo>
                    <a:pt x="761555" y="1081887"/>
                  </a:lnTo>
                  <a:lnTo>
                    <a:pt x="620356" y="1081887"/>
                  </a:lnTo>
                  <a:lnTo>
                    <a:pt x="620356" y="997102"/>
                  </a:lnTo>
                  <a:lnTo>
                    <a:pt x="592124" y="997102"/>
                  </a:lnTo>
                  <a:lnTo>
                    <a:pt x="592124" y="1081887"/>
                  </a:lnTo>
                  <a:lnTo>
                    <a:pt x="450926" y="1081887"/>
                  </a:lnTo>
                  <a:lnTo>
                    <a:pt x="450926" y="997102"/>
                  </a:lnTo>
                  <a:lnTo>
                    <a:pt x="422681" y="997102"/>
                  </a:lnTo>
                  <a:lnTo>
                    <a:pt x="422681" y="1081887"/>
                  </a:lnTo>
                  <a:lnTo>
                    <a:pt x="281495" y="1081887"/>
                  </a:lnTo>
                  <a:lnTo>
                    <a:pt x="281495" y="996670"/>
                  </a:lnTo>
                  <a:lnTo>
                    <a:pt x="803922" y="996670"/>
                  </a:lnTo>
                  <a:lnTo>
                    <a:pt x="803922" y="954697"/>
                  </a:lnTo>
                  <a:close/>
                </a:path>
              </a:pathLst>
            </a:custGeom>
            <a:solidFill>
              <a:srgbClr val="BCBCBC"/>
            </a:solidFill>
          </p:spPr>
          <p:txBody>
            <a:bodyPr wrap="square" lIns="0" tIns="0" rIns="0" bIns="0" rtlCol="0"/>
            <a:lstStyle/>
            <a:p>
              <a:endParaRPr sz="2400"/>
            </a:p>
          </p:txBody>
        </p:sp>
        <p:sp>
          <p:nvSpPr>
            <p:cNvPr id="44" name="object 44"/>
            <p:cNvSpPr/>
            <p:nvPr/>
          </p:nvSpPr>
          <p:spPr>
            <a:xfrm>
              <a:off x="4171949" y="2335530"/>
              <a:ext cx="419100" cy="121920"/>
            </a:xfrm>
            <a:custGeom>
              <a:avLst/>
              <a:gdLst/>
              <a:ahLst/>
              <a:cxnLst/>
              <a:rect l="l" t="t" r="r" b="b"/>
              <a:pathLst>
                <a:path w="419100" h="121919">
                  <a:moveTo>
                    <a:pt x="358139" y="0"/>
                  </a:moveTo>
                  <a:lnTo>
                    <a:pt x="358139" y="30480"/>
                  </a:lnTo>
                  <a:lnTo>
                    <a:pt x="0" y="30480"/>
                  </a:lnTo>
                  <a:lnTo>
                    <a:pt x="0" y="91439"/>
                  </a:lnTo>
                  <a:lnTo>
                    <a:pt x="358139" y="91439"/>
                  </a:lnTo>
                  <a:lnTo>
                    <a:pt x="358139" y="121919"/>
                  </a:lnTo>
                  <a:lnTo>
                    <a:pt x="419100" y="60959"/>
                  </a:lnTo>
                  <a:lnTo>
                    <a:pt x="358139" y="0"/>
                  </a:lnTo>
                  <a:close/>
                </a:path>
              </a:pathLst>
            </a:custGeom>
            <a:solidFill>
              <a:srgbClr val="00C3FF"/>
            </a:solidFill>
          </p:spPr>
          <p:txBody>
            <a:bodyPr wrap="square" lIns="0" tIns="0" rIns="0" bIns="0" rtlCol="0"/>
            <a:lstStyle/>
            <a:p>
              <a:endParaRPr sz="2400"/>
            </a:p>
          </p:txBody>
        </p:sp>
        <p:sp>
          <p:nvSpPr>
            <p:cNvPr id="45" name="object 45"/>
            <p:cNvSpPr/>
            <p:nvPr/>
          </p:nvSpPr>
          <p:spPr>
            <a:xfrm>
              <a:off x="4171949" y="2335530"/>
              <a:ext cx="419100" cy="121920"/>
            </a:xfrm>
            <a:custGeom>
              <a:avLst/>
              <a:gdLst/>
              <a:ahLst/>
              <a:cxnLst/>
              <a:rect l="l" t="t" r="r" b="b"/>
              <a:pathLst>
                <a:path w="419100" h="121919">
                  <a:moveTo>
                    <a:pt x="0" y="30480"/>
                  </a:moveTo>
                  <a:lnTo>
                    <a:pt x="358139" y="30480"/>
                  </a:lnTo>
                  <a:lnTo>
                    <a:pt x="358139" y="0"/>
                  </a:lnTo>
                  <a:lnTo>
                    <a:pt x="419100" y="60959"/>
                  </a:lnTo>
                  <a:lnTo>
                    <a:pt x="358139" y="121919"/>
                  </a:lnTo>
                  <a:lnTo>
                    <a:pt x="358139" y="91439"/>
                  </a:lnTo>
                  <a:lnTo>
                    <a:pt x="0" y="91439"/>
                  </a:lnTo>
                  <a:lnTo>
                    <a:pt x="0" y="30480"/>
                  </a:lnTo>
                  <a:close/>
                </a:path>
              </a:pathLst>
            </a:custGeom>
            <a:ln w="25908">
              <a:solidFill>
                <a:srgbClr val="008FBB"/>
              </a:solidFill>
            </a:ln>
          </p:spPr>
          <p:txBody>
            <a:bodyPr wrap="square" lIns="0" tIns="0" rIns="0" bIns="0" rtlCol="0"/>
            <a:lstStyle/>
            <a:p>
              <a:endParaRPr sz="2400"/>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468795" y="1584876"/>
            <a:ext cx="5208693" cy="4301913"/>
            <a:chOff x="1851596" y="1188656"/>
            <a:chExt cx="3906520" cy="3226435"/>
          </a:xfrm>
        </p:grpSpPr>
        <p:sp>
          <p:nvSpPr>
            <p:cNvPr id="3" name="object 3"/>
            <p:cNvSpPr/>
            <p:nvPr/>
          </p:nvSpPr>
          <p:spPr>
            <a:xfrm>
              <a:off x="3854957" y="1201674"/>
              <a:ext cx="1889760" cy="3200400"/>
            </a:xfrm>
            <a:custGeom>
              <a:avLst/>
              <a:gdLst/>
              <a:ahLst/>
              <a:cxnLst/>
              <a:rect l="l" t="t" r="r" b="b"/>
              <a:pathLst>
                <a:path w="1889760" h="3200400">
                  <a:moveTo>
                    <a:pt x="1574800" y="0"/>
                  </a:moveTo>
                  <a:lnTo>
                    <a:pt x="314959" y="0"/>
                  </a:lnTo>
                  <a:lnTo>
                    <a:pt x="268407" y="3414"/>
                  </a:lnTo>
                  <a:lnTo>
                    <a:pt x="223979" y="13331"/>
                  </a:lnTo>
                  <a:lnTo>
                    <a:pt x="182162" y="29266"/>
                  </a:lnTo>
                  <a:lnTo>
                    <a:pt x="143442" y="50731"/>
                  </a:lnTo>
                  <a:lnTo>
                    <a:pt x="108305" y="77240"/>
                  </a:lnTo>
                  <a:lnTo>
                    <a:pt x="77240" y="108305"/>
                  </a:lnTo>
                  <a:lnTo>
                    <a:pt x="50731" y="143442"/>
                  </a:lnTo>
                  <a:lnTo>
                    <a:pt x="29266" y="182162"/>
                  </a:lnTo>
                  <a:lnTo>
                    <a:pt x="13331" y="223979"/>
                  </a:lnTo>
                  <a:lnTo>
                    <a:pt x="3414" y="268407"/>
                  </a:lnTo>
                  <a:lnTo>
                    <a:pt x="0" y="314960"/>
                  </a:lnTo>
                  <a:lnTo>
                    <a:pt x="0" y="2885440"/>
                  </a:lnTo>
                  <a:lnTo>
                    <a:pt x="3414" y="2931980"/>
                  </a:lnTo>
                  <a:lnTo>
                    <a:pt x="13331" y="2976401"/>
                  </a:lnTo>
                  <a:lnTo>
                    <a:pt x="29266" y="3018215"/>
                  </a:lnTo>
                  <a:lnTo>
                    <a:pt x="50731" y="3056935"/>
                  </a:lnTo>
                  <a:lnTo>
                    <a:pt x="77240" y="3092073"/>
                  </a:lnTo>
                  <a:lnTo>
                    <a:pt x="108305" y="3123142"/>
                  </a:lnTo>
                  <a:lnTo>
                    <a:pt x="143442" y="3149655"/>
                  </a:lnTo>
                  <a:lnTo>
                    <a:pt x="182162" y="3171125"/>
                  </a:lnTo>
                  <a:lnTo>
                    <a:pt x="223979" y="3187064"/>
                  </a:lnTo>
                  <a:lnTo>
                    <a:pt x="268407" y="3196984"/>
                  </a:lnTo>
                  <a:lnTo>
                    <a:pt x="314959" y="3200400"/>
                  </a:lnTo>
                  <a:lnTo>
                    <a:pt x="1574800" y="3200400"/>
                  </a:lnTo>
                  <a:lnTo>
                    <a:pt x="1621352" y="3196984"/>
                  </a:lnTo>
                  <a:lnTo>
                    <a:pt x="1665780" y="3187064"/>
                  </a:lnTo>
                  <a:lnTo>
                    <a:pt x="1707597" y="3171125"/>
                  </a:lnTo>
                  <a:lnTo>
                    <a:pt x="1746317" y="3149655"/>
                  </a:lnTo>
                  <a:lnTo>
                    <a:pt x="1781454" y="3123142"/>
                  </a:lnTo>
                  <a:lnTo>
                    <a:pt x="1812519" y="3092073"/>
                  </a:lnTo>
                  <a:lnTo>
                    <a:pt x="1839028" y="3056935"/>
                  </a:lnTo>
                  <a:lnTo>
                    <a:pt x="1860493" y="3018215"/>
                  </a:lnTo>
                  <a:lnTo>
                    <a:pt x="1876428" y="2976401"/>
                  </a:lnTo>
                  <a:lnTo>
                    <a:pt x="1886345" y="2931980"/>
                  </a:lnTo>
                  <a:lnTo>
                    <a:pt x="1889759" y="2885440"/>
                  </a:lnTo>
                  <a:lnTo>
                    <a:pt x="1889759" y="314960"/>
                  </a:lnTo>
                  <a:lnTo>
                    <a:pt x="1886345" y="268407"/>
                  </a:lnTo>
                  <a:lnTo>
                    <a:pt x="1876428" y="223979"/>
                  </a:lnTo>
                  <a:lnTo>
                    <a:pt x="1860493" y="182162"/>
                  </a:lnTo>
                  <a:lnTo>
                    <a:pt x="1839028" y="143442"/>
                  </a:lnTo>
                  <a:lnTo>
                    <a:pt x="1812519" y="108305"/>
                  </a:lnTo>
                  <a:lnTo>
                    <a:pt x="1781454" y="77240"/>
                  </a:lnTo>
                  <a:lnTo>
                    <a:pt x="1746317" y="50731"/>
                  </a:lnTo>
                  <a:lnTo>
                    <a:pt x="1707597" y="29266"/>
                  </a:lnTo>
                  <a:lnTo>
                    <a:pt x="1665780" y="13331"/>
                  </a:lnTo>
                  <a:lnTo>
                    <a:pt x="1621352" y="3414"/>
                  </a:lnTo>
                  <a:lnTo>
                    <a:pt x="1574800" y="0"/>
                  </a:lnTo>
                  <a:close/>
                </a:path>
              </a:pathLst>
            </a:custGeom>
            <a:solidFill>
              <a:srgbClr val="7E7E7E"/>
            </a:solidFill>
          </p:spPr>
          <p:txBody>
            <a:bodyPr wrap="square" lIns="0" tIns="0" rIns="0" bIns="0" rtlCol="0"/>
            <a:lstStyle/>
            <a:p>
              <a:endParaRPr sz="2400"/>
            </a:p>
          </p:txBody>
        </p:sp>
        <p:sp>
          <p:nvSpPr>
            <p:cNvPr id="4" name="object 4"/>
            <p:cNvSpPr/>
            <p:nvPr/>
          </p:nvSpPr>
          <p:spPr>
            <a:xfrm>
              <a:off x="3854957" y="1201674"/>
              <a:ext cx="1889760" cy="3200400"/>
            </a:xfrm>
            <a:custGeom>
              <a:avLst/>
              <a:gdLst/>
              <a:ahLst/>
              <a:cxnLst/>
              <a:rect l="l" t="t" r="r" b="b"/>
              <a:pathLst>
                <a:path w="1889760" h="3200400">
                  <a:moveTo>
                    <a:pt x="0" y="314960"/>
                  </a:moveTo>
                  <a:lnTo>
                    <a:pt x="3414" y="268407"/>
                  </a:lnTo>
                  <a:lnTo>
                    <a:pt x="13331" y="223979"/>
                  </a:lnTo>
                  <a:lnTo>
                    <a:pt x="29266" y="182162"/>
                  </a:lnTo>
                  <a:lnTo>
                    <a:pt x="50731" y="143442"/>
                  </a:lnTo>
                  <a:lnTo>
                    <a:pt x="77240" y="108305"/>
                  </a:lnTo>
                  <a:lnTo>
                    <a:pt x="108305" y="77240"/>
                  </a:lnTo>
                  <a:lnTo>
                    <a:pt x="143442" y="50731"/>
                  </a:lnTo>
                  <a:lnTo>
                    <a:pt x="182162" y="29266"/>
                  </a:lnTo>
                  <a:lnTo>
                    <a:pt x="223979" y="13331"/>
                  </a:lnTo>
                  <a:lnTo>
                    <a:pt x="268407" y="3414"/>
                  </a:lnTo>
                  <a:lnTo>
                    <a:pt x="314959" y="0"/>
                  </a:lnTo>
                  <a:lnTo>
                    <a:pt x="1574800" y="0"/>
                  </a:lnTo>
                  <a:lnTo>
                    <a:pt x="1621352" y="3414"/>
                  </a:lnTo>
                  <a:lnTo>
                    <a:pt x="1665780" y="13331"/>
                  </a:lnTo>
                  <a:lnTo>
                    <a:pt x="1707597" y="29266"/>
                  </a:lnTo>
                  <a:lnTo>
                    <a:pt x="1746317" y="50731"/>
                  </a:lnTo>
                  <a:lnTo>
                    <a:pt x="1781454" y="77240"/>
                  </a:lnTo>
                  <a:lnTo>
                    <a:pt x="1812519" y="108305"/>
                  </a:lnTo>
                  <a:lnTo>
                    <a:pt x="1839028" y="143442"/>
                  </a:lnTo>
                  <a:lnTo>
                    <a:pt x="1860493" y="182162"/>
                  </a:lnTo>
                  <a:lnTo>
                    <a:pt x="1876428" y="223979"/>
                  </a:lnTo>
                  <a:lnTo>
                    <a:pt x="1886345" y="268407"/>
                  </a:lnTo>
                  <a:lnTo>
                    <a:pt x="1889759" y="314960"/>
                  </a:lnTo>
                  <a:lnTo>
                    <a:pt x="1889759" y="2885440"/>
                  </a:lnTo>
                  <a:lnTo>
                    <a:pt x="1886345" y="2931980"/>
                  </a:lnTo>
                  <a:lnTo>
                    <a:pt x="1876428" y="2976401"/>
                  </a:lnTo>
                  <a:lnTo>
                    <a:pt x="1860493" y="3018215"/>
                  </a:lnTo>
                  <a:lnTo>
                    <a:pt x="1839028" y="3056935"/>
                  </a:lnTo>
                  <a:lnTo>
                    <a:pt x="1812519" y="3092073"/>
                  </a:lnTo>
                  <a:lnTo>
                    <a:pt x="1781454" y="3123142"/>
                  </a:lnTo>
                  <a:lnTo>
                    <a:pt x="1746317" y="3149655"/>
                  </a:lnTo>
                  <a:lnTo>
                    <a:pt x="1707597" y="3171125"/>
                  </a:lnTo>
                  <a:lnTo>
                    <a:pt x="1665780" y="3187064"/>
                  </a:lnTo>
                  <a:lnTo>
                    <a:pt x="1621352" y="3196984"/>
                  </a:lnTo>
                  <a:lnTo>
                    <a:pt x="1574800" y="3200400"/>
                  </a:lnTo>
                  <a:lnTo>
                    <a:pt x="314959" y="3200400"/>
                  </a:lnTo>
                  <a:lnTo>
                    <a:pt x="268407" y="3196984"/>
                  </a:lnTo>
                  <a:lnTo>
                    <a:pt x="223979" y="3187064"/>
                  </a:lnTo>
                  <a:lnTo>
                    <a:pt x="182162" y="3171125"/>
                  </a:lnTo>
                  <a:lnTo>
                    <a:pt x="143442" y="3149655"/>
                  </a:lnTo>
                  <a:lnTo>
                    <a:pt x="108305" y="3123142"/>
                  </a:lnTo>
                  <a:lnTo>
                    <a:pt x="77240" y="3092073"/>
                  </a:lnTo>
                  <a:lnTo>
                    <a:pt x="50731" y="3056935"/>
                  </a:lnTo>
                  <a:lnTo>
                    <a:pt x="29266" y="3018215"/>
                  </a:lnTo>
                  <a:lnTo>
                    <a:pt x="13331" y="2976401"/>
                  </a:lnTo>
                  <a:lnTo>
                    <a:pt x="3414" y="2931980"/>
                  </a:lnTo>
                  <a:lnTo>
                    <a:pt x="0" y="2885440"/>
                  </a:lnTo>
                  <a:lnTo>
                    <a:pt x="0" y="314960"/>
                  </a:lnTo>
                  <a:close/>
                </a:path>
              </a:pathLst>
            </a:custGeom>
            <a:ln w="25908">
              <a:solidFill>
                <a:srgbClr val="008FBB"/>
              </a:solidFill>
            </a:ln>
          </p:spPr>
          <p:txBody>
            <a:bodyPr wrap="square" lIns="0" tIns="0" rIns="0" bIns="0" rtlCol="0"/>
            <a:lstStyle/>
            <a:p>
              <a:endParaRPr sz="2400"/>
            </a:p>
          </p:txBody>
        </p:sp>
        <p:sp>
          <p:nvSpPr>
            <p:cNvPr id="5" name="object 5"/>
            <p:cNvSpPr/>
            <p:nvPr/>
          </p:nvSpPr>
          <p:spPr>
            <a:xfrm>
              <a:off x="2286000" y="1505712"/>
              <a:ext cx="1524000" cy="2209800"/>
            </a:xfrm>
            <a:custGeom>
              <a:avLst/>
              <a:gdLst/>
              <a:ahLst/>
              <a:cxnLst/>
              <a:rect l="l" t="t" r="r" b="b"/>
              <a:pathLst>
                <a:path w="1524000" h="2209800">
                  <a:moveTo>
                    <a:pt x="0" y="254000"/>
                  </a:moveTo>
                  <a:lnTo>
                    <a:pt x="4090" y="208328"/>
                  </a:lnTo>
                  <a:lnTo>
                    <a:pt x="15884" y="165349"/>
                  </a:lnTo>
                  <a:lnTo>
                    <a:pt x="34666" y="125777"/>
                  </a:lnTo>
                  <a:lnTo>
                    <a:pt x="59719" y="90328"/>
                  </a:lnTo>
                  <a:lnTo>
                    <a:pt x="90328" y="59719"/>
                  </a:lnTo>
                  <a:lnTo>
                    <a:pt x="125777" y="34666"/>
                  </a:lnTo>
                  <a:lnTo>
                    <a:pt x="165349" y="15884"/>
                  </a:lnTo>
                  <a:lnTo>
                    <a:pt x="208328" y="4090"/>
                  </a:lnTo>
                  <a:lnTo>
                    <a:pt x="254000" y="0"/>
                  </a:lnTo>
                  <a:lnTo>
                    <a:pt x="1270000" y="0"/>
                  </a:lnTo>
                  <a:lnTo>
                    <a:pt x="1315671" y="4090"/>
                  </a:lnTo>
                  <a:lnTo>
                    <a:pt x="1358650" y="15884"/>
                  </a:lnTo>
                  <a:lnTo>
                    <a:pt x="1398222" y="34666"/>
                  </a:lnTo>
                  <a:lnTo>
                    <a:pt x="1433671" y="59719"/>
                  </a:lnTo>
                  <a:lnTo>
                    <a:pt x="1464280" y="90328"/>
                  </a:lnTo>
                  <a:lnTo>
                    <a:pt x="1489333" y="125777"/>
                  </a:lnTo>
                  <a:lnTo>
                    <a:pt x="1508115" y="165349"/>
                  </a:lnTo>
                  <a:lnTo>
                    <a:pt x="1519909" y="208328"/>
                  </a:lnTo>
                  <a:lnTo>
                    <a:pt x="1524000" y="254000"/>
                  </a:lnTo>
                  <a:lnTo>
                    <a:pt x="1524000" y="1955800"/>
                  </a:lnTo>
                  <a:lnTo>
                    <a:pt x="1519909" y="2001471"/>
                  </a:lnTo>
                  <a:lnTo>
                    <a:pt x="1508115" y="2044450"/>
                  </a:lnTo>
                  <a:lnTo>
                    <a:pt x="1489333" y="2084022"/>
                  </a:lnTo>
                  <a:lnTo>
                    <a:pt x="1464280" y="2119471"/>
                  </a:lnTo>
                  <a:lnTo>
                    <a:pt x="1433671" y="2150080"/>
                  </a:lnTo>
                  <a:lnTo>
                    <a:pt x="1398222" y="2175133"/>
                  </a:lnTo>
                  <a:lnTo>
                    <a:pt x="1358650" y="2193915"/>
                  </a:lnTo>
                  <a:lnTo>
                    <a:pt x="1315671" y="2205709"/>
                  </a:lnTo>
                  <a:lnTo>
                    <a:pt x="1270000" y="2209800"/>
                  </a:lnTo>
                  <a:lnTo>
                    <a:pt x="254000" y="2209800"/>
                  </a:lnTo>
                  <a:lnTo>
                    <a:pt x="208328" y="2205709"/>
                  </a:lnTo>
                  <a:lnTo>
                    <a:pt x="165349" y="2193915"/>
                  </a:lnTo>
                  <a:lnTo>
                    <a:pt x="125777" y="2175133"/>
                  </a:lnTo>
                  <a:lnTo>
                    <a:pt x="90328" y="2150080"/>
                  </a:lnTo>
                  <a:lnTo>
                    <a:pt x="59719" y="2119471"/>
                  </a:lnTo>
                  <a:lnTo>
                    <a:pt x="34666" y="2084022"/>
                  </a:lnTo>
                  <a:lnTo>
                    <a:pt x="15884" y="2044450"/>
                  </a:lnTo>
                  <a:lnTo>
                    <a:pt x="4090" y="2001471"/>
                  </a:lnTo>
                  <a:lnTo>
                    <a:pt x="0" y="1955800"/>
                  </a:lnTo>
                  <a:lnTo>
                    <a:pt x="0" y="254000"/>
                  </a:lnTo>
                  <a:close/>
                </a:path>
              </a:pathLst>
            </a:custGeom>
            <a:ln w="9144">
              <a:solidFill>
                <a:srgbClr val="00C3FF"/>
              </a:solidFill>
            </a:ln>
          </p:spPr>
          <p:txBody>
            <a:bodyPr wrap="square" lIns="0" tIns="0" rIns="0" bIns="0" rtlCol="0"/>
            <a:lstStyle/>
            <a:p>
              <a:endParaRPr sz="2400"/>
            </a:p>
          </p:txBody>
        </p:sp>
        <p:sp>
          <p:nvSpPr>
            <p:cNvPr id="6" name="object 6"/>
            <p:cNvSpPr/>
            <p:nvPr/>
          </p:nvSpPr>
          <p:spPr>
            <a:xfrm>
              <a:off x="1864613" y="2184654"/>
              <a:ext cx="462280" cy="160020"/>
            </a:xfrm>
            <a:custGeom>
              <a:avLst/>
              <a:gdLst/>
              <a:ahLst/>
              <a:cxnLst/>
              <a:rect l="l" t="t" r="r" b="b"/>
              <a:pathLst>
                <a:path w="462280" h="160019">
                  <a:moveTo>
                    <a:pt x="381762" y="0"/>
                  </a:moveTo>
                  <a:lnTo>
                    <a:pt x="381762" y="40004"/>
                  </a:lnTo>
                  <a:lnTo>
                    <a:pt x="0" y="40004"/>
                  </a:lnTo>
                  <a:lnTo>
                    <a:pt x="0" y="120014"/>
                  </a:lnTo>
                  <a:lnTo>
                    <a:pt x="381762" y="120014"/>
                  </a:lnTo>
                  <a:lnTo>
                    <a:pt x="381762" y="160019"/>
                  </a:lnTo>
                  <a:lnTo>
                    <a:pt x="461772" y="80009"/>
                  </a:lnTo>
                  <a:lnTo>
                    <a:pt x="381762" y="0"/>
                  </a:lnTo>
                  <a:close/>
                </a:path>
              </a:pathLst>
            </a:custGeom>
            <a:solidFill>
              <a:srgbClr val="00C3FF"/>
            </a:solidFill>
          </p:spPr>
          <p:txBody>
            <a:bodyPr wrap="square" lIns="0" tIns="0" rIns="0" bIns="0" rtlCol="0"/>
            <a:lstStyle/>
            <a:p>
              <a:endParaRPr sz="2400"/>
            </a:p>
          </p:txBody>
        </p:sp>
        <p:sp>
          <p:nvSpPr>
            <p:cNvPr id="7" name="object 7"/>
            <p:cNvSpPr/>
            <p:nvPr/>
          </p:nvSpPr>
          <p:spPr>
            <a:xfrm>
              <a:off x="1864613" y="2184654"/>
              <a:ext cx="462280" cy="160020"/>
            </a:xfrm>
            <a:custGeom>
              <a:avLst/>
              <a:gdLst/>
              <a:ahLst/>
              <a:cxnLst/>
              <a:rect l="l" t="t" r="r" b="b"/>
              <a:pathLst>
                <a:path w="462280" h="160019">
                  <a:moveTo>
                    <a:pt x="0" y="40004"/>
                  </a:moveTo>
                  <a:lnTo>
                    <a:pt x="381762" y="40004"/>
                  </a:lnTo>
                  <a:lnTo>
                    <a:pt x="381762" y="0"/>
                  </a:lnTo>
                  <a:lnTo>
                    <a:pt x="461772" y="80009"/>
                  </a:lnTo>
                  <a:lnTo>
                    <a:pt x="381762" y="160019"/>
                  </a:lnTo>
                  <a:lnTo>
                    <a:pt x="381762" y="120014"/>
                  </a:lnTo>
                  <a:lnTo>
                    <a:pt x="0" y="120014"/>
                  </a:lnTo>
                  <a:lnTo>
                    <a:pt x="0" y="40004"/>
                  </a:lnTo>
                  <a:close/>
                </a:path>
              </a:pathLst>
            </a:custGeom>
            <a:ln w="25908">
              <a:solidFill>
                <a:srgbClr val="008FBB"/>
              </a:solidFill>
            </a:ln>
          </p:spPr>
          <p:txBody>
            <a:bodyPr wrap="square" lIns="0" tIns="0" rIns="0" bIns="0" rtlCol="0"/>
            <a:lstStyle/>
            <a:p>
              <a:endParaRPr sz="2400"/>
            </a:p>
          </p:txBody>
        </p:sp>
        <p:sp>
          <p:nvSpPr>
            <p:cNvPr id="8" name="object 8"/>
            <p:cNvSpPr/>
            <p:nvPr/>
          </p:nvSpPr>
          <p:spPr>
            <a:xfrm>
              <a:off x="1864613" y="2971038"/>
              <a:ext cx="462280" cy="160020"/>
            </a:xfrm>
            <a:custGeom>
              <a:avLst/>
              <a:gdLst/>
              <a:ahLst/>
              <a:cxnLst/>
              <a:rect l="l" t="t" r="r" b="b"/>
              <a:pathLst>
                <a:path w="462280" h="160019">
                  <a:moveTo>
                    <a:pt x="381762" y="0"/>
                  </a:moveTo>
                  <a:lnTo>
                    <a:pt x="381762" y="40005"/>
                  </a:lnTo>
                  <a:lnTo>
                    <a:pt x="0" y="40005"/>
                  </a:lnTo>
                  <a:lnTo>
                    <a:pt x="0" y="120014"/>
                  </a:lnTo>
                  <a:lnTo>
                    <a:pt x="381762" y="120014"/>
                  </a:lnTo>
                  <a:lnTo>
                    <a:pt x="381762" y="160019"/>
                  </a:lnTo>
                  <a:lnTo>
                    <a:pt x="461772" y="80010"/>
                  </a:lnTo>
                  <a:lnTo>
                    <a:pt x="381762" y="0"/>
                  </a:lnTo>
                  <a:close/>
                </a:path>
              </a:pathLst>
            </a:custGeom>
            <a:solidFill>
              <a:srgbClr val="00C3FF"/>
            </a:solidFill>
          </p:spPr>
          <p:txBody>
            <a:bodyPr wrap="square" lIns="0" tIns="0" rIns="0" bIns="0" rtlCol="0"/>
            <a:lstStyle/>
            <a:p>
              <a:endParaRPr sz="2400"/>
            </a:p>
          </p:txBody>
        </p:sp>
        <p:sp>
          <p:nvSpPr>
            <p:cNvPr id="9" name="object 9"/>
            <p:cNvSpPr/>
            <p:nvPr/>
          </p:nvSpPr>
          <p:spPr>
            <a:xfrm>
              <a:off x="1864613" y="2971038"/>
              <a:ext cx="462280" cy="160020"/>
            </a:xfrm>
            <a:custGeom>
              <a:avLst/>
              <a:gdLst/>
              <a:ahLst/>
              <a:cxnLst/>
              <a:rect l="l" t="t" r="r" b="b"/>
              <a:pathLst>
                <a:path w="462280" h="160019">
                  <a:moveTo>
                    <a:pt x="0" y="40005"/>
                  </a:moveTo>
                  <a:lnTo>
                    <a:pt x="381762" y="40005"/>
                  </a:lnTo>
                  <a:lnTo>
                    <a:pt x="381762" y="0"/>
                  </a:lnTo>
                  <a:lnTo>
                    <a:pt x="461772" y="80010"/>
                  </a:lnTo>
                  <a:lnTo>
                    <a:pt x="381762" y="160019"/>
                  </a:lnTo>
                  <a:lnTo>
                    <a:pt x="381762" y="120014"/>
                  </a:lnTo>
                  <a:lnTo>
                    <a:pt x="0" y="120014"/>
                  </a:lnTo>
                  <a:lnTo>
                    <a:pt x="0" y="40005"/>
                  </a:lnTo>
                  <a:close/>
                </a:path>
              </a:pathLst>
            </a:custGeom>
            <a:ln w="25908">
              <a:solidFill>
                <a:srgbClr val="008FBB"/>
              </a:solidFill>
            </a:ln>
          </p:spPr>
          <p:txBody>
            <a:bodyPr wrap="square" lIns="0" tIns="0" rIns="0" bIns="0" rtlCol="0"/>
            <a:lstStyle/>
            <a:p>
              <a:endParaRPr sz="2400"/>
            </a:p>
          </p:txBody>
        </p:sp>
        <p:sp>
          <p:nvSpPr>
            <p:cNvPr id="10" name="object 10"/>
            <p:cNvSpPr/>
            <p:nvPr/>
          </p:nvSpPr>
          <p:spPr>
            <a:xfrm>
              <a:off x="2518143" y="1803336"/>
              <a:ext cx="1202055" cy="1675764"/>
            </a:xfrm>
            <a:custGeom>
              <a:avLst/>
              <a:gdLst/>
              <a:ahLst/>
              <a:cxnLst/>
              <a:rect l="l" t="t" r="r" b="b"/>
              <a:pathLst>
                <a:path w="1202054" h="1675764">
                  <a:moveTo>
                    <a:pt x="564794" y="0"/>
                  </a:moveTo>
                  <a:lnTo>
                    <a:pt x="0" y="0"/>
                  </a:lnTo>
                  <a:lnTo>
                    <a:pt x="0" y="41973"/>
                  </a:lnTo>
                  <a:lnTo>
                    <a:pt x="0" y="127190"/>
                  </a:lnTo>
                  <a:lnTo>
                    <a:pt x="0" y="396849"/>
                  </a:lnTo>
                  <a:lnTo>
                    <a:pt x="564794" y="396849"/>
                  </a:lnTo>
                  <a:lnTo>
                    <a:pt x="564794" y="353999"/>
                  </a:lnTo>
                  <a:lnTo>
                    <a:pt x="564794" y="353606"/>
                  </a:lnTo>
                  <a:lnTo>
                    <a:pt x="564794" y="269011"/>
                  </a:lnTo>
                  <a:lnTo>
                    <a:pt x="522427" y="269011"/>
                  </a:lnTo>
                  <a:lnTo>
                    <a:pt x="522427" y="353606"/>
                  </a:lnTo>
                  <a:lnTo>
                    <a:pt x="381228" y="353606"/>
                  </a:lnTo>
                  <a:lnTo>
                    <a:pt x="381228" y="269011"/>
                  </a:lnTo>
                  <a:lnTo>
                    <a:pt x="352996" y="269011"/>
                  </a:lnTo>
                  <a:lnTo>
                    <a:pt x="352996" y="353606"/>
                  </a:lnTo>
                  <a:lnTo>
                    <a:pt x="211797" y="353606"/>
                  </a:lnTo>
                  <a:lnTo>
                    <a:pt x="211797" y="269011"/>
                  </a:lnTo>
                  <a:lnTo>
                    <a:pt x="183553" y="269011"/>
                  </a:lnTo>
                  <a:lnTo>
                    <a:pt x="183553" y="353606"/>
                  </a:lnTo>
                  <a:lnTo>
                    <a:pt x="42367" y="353606"/>
                  </a:lnTo>
                  <a:lnTo>
                    <a:pt x="42367" y="268389"/>
                  </a:lnTo>
                  <a:lnTo>
                    <a:pt x="564794" y="268389"/>
                  </a:lnTo>
                  <a:lnTo>
                    <a:pt x="564794" y="240690"/>
                  </a:lnTo>
                  <a:lnTo>
                    <a:pt x="564794" y="240398"/>
                  </a:lnTo>
                  <a:lnTo>
                    <a:pt x="564794" y="155714"/>
                  </a:lnTo>
                  <a:lnTo>
                    <a:pt x="522427" y="155714"/>
                  </a:lnTo>
                  <a:lnTo>
                    <a:pt x="522427" y="240398"/>
                  </a:lnTo>
                  <a:lnTo>
                    <a:pt x="381228" y="240398"/>
                  </a:lnTo>
                  <a:lnTo>
                    <a:pt x="381228" y="155714"/>
                  </a:lnTo>
                  <a:lnTo>
                    <a:pt x="352996" y="155714"/>
                  </a:lnTo>
                  <a:lnTo>
                    <a:pt x="352996" y="240398"/>
                  </a:lnTo>
                  <a:lnTo>
                    <a:pt x="211797" y="240398"/>
                  </a:lnTo>
                  <a:lnTo>
                    <a:pt x="211797" y="155714"/>
                  </a:lnTo>
                  <a:lnTo>
                    <a:pt x="183553" y="155714"/>
                  </a:lnTo>
                  <a:lnTo>
                    <a:pt x="183553" y="240398"/>
                  </a:lnTo>
                  <a:lnTo>
                    <a:pt x="42367" y="240398"/>
                  </a:lnTo>
                  <a:lnTo>
                    <a:pt x="42367" y="155181"/>
                  </a:lnTo>
                  <a:lnTo>
                    <a:pt x="564794" y="155181"/>
                  </a:lnTo>
                  <a:lnTo>
                    <a:pt x="564794" y="127381"/>
                  </a:lnTo>
                  <a:lnTo>
                    <a:pt x="564794" y="127190"/>
                  </a:lnTo>
                  <a:lnTo>
                    <a:pt x="564794" y="42405"/>
                  </a:lnTo>
                  <a:lnTo>
                    <a:pt x="522427" y="42405"/>
                  </a:lnTo>
                  <a:lnTo>
                    <a:pt x="522427" y="127190"/>
                  </a:lnTo>
                  <a:lnTo>
                    <a:pt x="381228" y="127190"/>
                  </a:lnTo>
                  <a:lnTo>
                    <a:pt x="381228" y="42405"/>
                  </a:lnTo>
                  <a:lnTo>
                    <a:pt x="352996" y="42405"/>
                  </a:lnTo>
                  <a:lnTo>
                    <a:pt x="352996" y="127190"/>
                  </a:lnTo>
                  <a:lnTo>
                    <a:pt x="211797" y="127190"/>
                  </a:lnTo>
                  <a:lnTo>
                    <a:pt x="211797" y="42405"/>
                  </a:lnTo>
                  <a:lnTo>
                    <a:pt x="183553" y="42405"/>
                  </a:lnTo>
                  <a:lnTo>
                    <a:pt x="183553" y="127190"/>
                  </a:lnTo>
                  <a:lnTo>
                    <a:pt x="42367" y="127190"/>
                  </a:lnTo>
                  <a:lnTo>
                    <a:pt x="42367" y="41973"/>
                  </a:lnTo>
                  <a:lnTo>
                    <a:pt x="564794" y="41973"/>
                  </a:lnTo>
                  <a:lnTo>
                    <a:pt x="564794" y="0"/>
                  </a:lnTo>
                  <a:close/>
                </a:path>
                <a:path w="1202054" h="1675764">
                  <a:moveTo>
                    <a:pt x="836066" y="1278636"/>
                  </a:moveTo>
                  <a:lnTo>
                    <a:pt x="271272" y="1278636"/>
                  </a:lnTo>
                  <a:lnTo>
                    <a:pt x="271272" y="1320609"/>
                  </a:lnTo>
                  <a:lnTo>
                    <a:pt x="271272" y="1405826"/>
                  </a:lnTo>
                  <a:lnTo>
                    <a:pt x="271272" y="1675485"/>
                  </a:lnTo>
                  <a:lnTo>
                    <a:pt x="836066" y="1675485"/>
                  </a:lnTo>
                  <a:lnTo>
                    <a:pt x="836066" y="1632635"/>
                  </a:lnTo>
                  <a:lnTo>
                    <a:pt x="836066" y="1632242"/>
                  </a:lnTo>
                  <a:lnTo>
                    <a:pt x="836066" y="1547647"/>
                  </a:lnTo>
                  <a:lnTo>
                    <a:pt x="793699" y="1547647"/>
                  </a:lnTo>
                  <a:lnTo>
                    <a:pt x="793699" y="1632242"/>
                  </a:lnTo>
                  <a:lnTo>
                    <a:pt x="652500" y="1632242"/>
                  </a:lnTo>
                  <a:lnTo>
                    <a:pt x="652500" y="1547647"/>
                  </a:lnTo>
                  <a:lnTo>
                    <a:pt x="624268" y="1547647"/>
                  </a:lnTo>
                  <a:lnTo>
                    <a:pt x="624268" y="1632242"/>
                  </a:lnTo>
                  <a:lnTo>
                    <a:pt x="483069" y="1632242"/>
                  </a:lnTo>
                  <a:lnTo>
                    <a:pt x="483069" y="1547647"/>
                  </a:lnTo>
                  <a:lnTo>
                    <a:pt x="454825" y="1547647"/>
                  </a:lnTo>
                  <a:lnTo>
                    <a:pt x="454825" y="1632242"/>
                  </a:lnTo>
                  <a:lnTo>
                    <a:pt x="313639" y="1632242"/>
                  </a:lnTo>
                  <a:lnTo>
                    <a:pt x="313639" y="1547025"/>
                  </a:lnTo>
                  <a:lnTo>
                    <a:pt x="836066" y="1547025"/>
                  </a:lnTo>
                  <a:lnTo>
                    <a:pt x="836066" y="1519326"/>
                  </a:lnTo>
                  <a:lnTo>
                    <a:pt x="836066" y="1519034"/>
                  </a:lnTo>
                  <a:lnTo>
                    <a:pt x="836066" y="1434350"/>
                  </a:lnTo>
                  <a:lnTo>
                    <a:pt x="793699" y="1434350"/>
                  </a:lnTo>
                  <a:lnTo>
                    <a:pt x="793699" y="1519034"/>
                  </a:lnTo>
                  <a:lnTo>
                    <a:pt x="652500" y="1519034"/>
                  </a:lnTo>
                  <a:lnTo>
                    <a:pt x="652500" y="1434350"/>
                  </a:lnTo>
                  <a:lnTo>
                    <a:pt x="624268" y="1434350"/>
                  </a:lnTo>
                  <a:lnTo>
                    <a:pt x="624268" y="1519034"/>
                  </a:lnTo>
                  <a:lnTo>
                    <a:pt x="483069" y="1519034"/>
                  </a:lnTo>
                  <a:lnTo>
                    <a:pt x="483069" y="1434350"/>
                  </a:lnTo>
                  <a:lnTo>
                    <a:pt x="454825" y="1434350"/>
                  </a:lnTo>
                  <a:lnTo>
                    <a:pt x="454825" y="1519034"/>
                  </a:lnTo>
                  <a:lnTo>
                    <a:pt x="313639" y="1519034"/>
                  </a:lnTo>
                  <a:lnTo>
                    <a:pt x="313639" y="1433817"/>
                  </a:lnTo>
                  <a:lnTo>
                    <a:pt x="836066" y="1433817"/>
                  </a:lnTo>
                  <a:lnTo>
                    <a:pt x="836066" y="1406017"/>
                  </a:lnTo>
                  <a:lnTo>
                    <a:pt x="836066" y="1405826"/>
                  </a:lnTo>
                  <a:lnTo>
                    <a:pt x="836066" y="1321041"/>
                  </a:lnTo>
                  <a:lnTo>
                    <a:pt x="793699" y="1321041"/>
                  </a:lnTo>
                  <a:lnTo>
                    <a:pt x="793699" y="1405826"/>
                  </a:lnTo>
                  <a:lnTo>
                    <a:pt x="652500" y="1405826"/>
                  </a:lnTo>
                  <a:lnTo>
                    <a:pt x="652500" y="1321041"/>
                  </a:lnTo>
                  <a:lnTo>
                    <a:pt x="624268" y="1321041"/>
                  </a:lnTo>
                  <a:lnTo>
                    <a:pt x="624268" y="1405826"/>
                  </a:lnTo>
                  <a:lnTo>
                    <a:pt x="483069" y="1405826"/>
                  </a:lnTo>
                  <a:lnTo>
                    <a:pt x="483069" y="1321041"/>
                  </a:lnTo>
                  <a:lnTo>
                    <a:pt x="454825" y="1321041"/>
                  </a:lnTo>
                  <a:lnTo>
                    <a:pt x="454825" y="1405826"/>
                  </a:lnTo>
                  <a:lnTo>
                    <a:pt x="313639" y="1405826"/>
                  </a:lnTo>
                  <a:lnTo>
                    <a:pt x="313639" y="1320609"/>
                  </a:lnTo>
                  <a:lnTo>
                    <a:pt x="836066" y="1320609"/>
                  </a:lnTo>
                  <a:lnTo>
                    <a:pt x="836066" y="1278636"/>
                  </a:lnTo>
                  <a:close/>
                </a:path>
                <a:path w="1202054" h="1675764">
                  <a:moveTo>
                    <a:pt x="1201699" y="491934"/>
                  </a:moveTo>
                  <a:lnTo>
                    <a:pt x="635647" y="491934"/>
                  </a:lnTo>
                  <a:lnTo>
                    <a:pt x="635647" y="533806"/>
                  </a:lnTo>
                  <a:lnTo>
                    <a:pt x="635647" y="618845"/>
                  </a:lnTo>
                  <a:lnTo>
                    <a:pt x="635647" y="887895"/>
                  </a:lnTo>
                  <a:lnTo>
                    <a:pt x="1201699" y="887895"/>
                  </a:lnTo>
                  <a:lnTo>
                    <a:pt x="1201699" y="845134"/>
                  </a:lnTo>
                  <a:lnTo>
                    <a:pt x="1201699" y="844753"/>
                  </a:lnTo>
                  <a:lnTo>
                    <a:pt x="1201699" y="760349"/>
                  </a:lnTo>
                  <a:lnTo>
                    <a:pt x="1159230" y="760349"/>
                  </a:lnTo>
                  <a:lnTo>
                    <a:pt x="1159230" y="844753"/>
                  </a:lnTo>
                  <a:lnTo>
                    <a:pt x="1017727" y="844753"/>
                  </a:lnTo>
                  <a:lnTo>
                    <a:pt x="1017727" y="760349"/>
                  </a:lnTo>
                  <a:lnTo>
                    <a:pt x="989418" y="760349"/>
                  </a:lnTo>
                  <a:lnTo>
                    <a:pt x="989418" y="844753"/>
                  </a:lnTo>
                  <a:lnTo>
                    <a:pt x="847915" y="844753"/>
                  </a:lnTo>
                  <a:lnTo>
                    <a:pt x="847915" y="760349"/>
                  </a:lnTo>
                  <a:lnTo>
                    <a:pt x="819607" y="760349"/>
                  </a:lnTo>
                  <a:lnTo>
                    <a:pt x="819607" y="844753"/>
                  </a:lnTo>
                  <a:lnTo>
                    <a:pt x="678103" y="844753"/>
                  </a:lnTo>
                  <a:lnTo>
                    <a:pt x="678103" y="759714"/>
                  </a:lnTo>
                  <a:lnTo>
                    <a:pt x="1201699" y="759714"/>
                  </a:lnTo>
                  <a:lnTo>
                    <a:pt x="1201699" y="732078"/>
                  </a:lnTo>
                  <a:lnTo>
                    <a:pt x="1201699" y="731799"/>
                  </a:lnTo>
                  <a:lnTo>
                    <a:pt x="1201699" y="647293"/>
                  </a:lnTo>
                  <a:lnTo>
                    <a:pt x="1159230" y="647293"/>
                  </a:lnTo>
                  <a:lnTo>
                    <a:pt x="1159230" y="731799"/>
                  </a:lnTo>
                  <a:lnTo>
                    <a:pt x="1017727" y="731799"/>
                  </a:lnTo>
                  <a:lnTo>
                    <a:pt x="1017727" y="647293"/>
                  </a:lnTo>
                  <a:lnTo>
                    <a:pt x="989418" y="647293"/>
                  </a:lnTo>
                  <a:lnTo>
                    <a:pt x="989418" y="731799"/>
                  </a:lnTo>
                  <a:lnTo>
                    <a:pt x="847915" y="731799"/>
                  </a:lnTo>
                  <a:lnTo>
                    <a:pt x="847915" y="647293"/>
                  </a:lnTo>
                  <a:lnTo>
                    <a:pt x="819607" y="647293"/>
                  </a:lnTo>
                  <a:lnTo>
                    <a:pt x="819607" y="731799"/>
                  </a:lnTo>
                  <a:lnTo>
                    <a:pt x="678103" y="731799"/>
                  </a:lnTo>
                  <a:lnTo>
                    <a:pt x="678103" y="646760"/>
                  </a:lnTo>
                  <a:lnTo>
                    <a:pt x="1201699" y="646760"/>
                  </a:lnTo>
                  <a:lnTo>
                    <a:pt x="1201699" y="619036"/>
                  </a:lnTo>
                  <a:lnTo>
                    <a:pt x="1201699" y="618845"/>
                  </a:lnTo>
                  <a:lnTo>
                    <a:pt x="1201699" y="534238"/>
                  </a:lnTo>
                  <a:lnTo>
                    <a:pt x="1159230" y="534238"/>
                  </a:lnTo>
                  <a:lnTo>
                    <a:pt x="1159230" y="618845"/>
                  </a:lnTo>
                  <a:lnTo>
                    <a:pt x="1017727" y="618845"/>
                  </a:lnTo>
                  <a:lnTo>
                    <a:pt x="1017727" y="534238"/>
                  </a:lnTo>
                  <a:lnTo>
                    <a:pt x="989418" y="534238"/>
                  </a:lnTo>
                  <a:lnTo>
                    <a:pt x="989418" y="618845"/>
                  </a:lnTo>
                  <a:lnTo>
                    <a:pt x="847915" y="618845"/>
                  </a:lnTo>
                  <a:lnTo>
                    <a:pt x="847915" y="534238"/>
                  </a:lnTo>
                  <a:lnTo>
                    <a:pt x="819607" y="534238"/>
                  </a:lnTo>
                  <a:lnTo>
                    <a:pt x="819607" y="618845"/>
                  </a:lnTo>
                  <a:lnTo>
                    <a:pt x="678103" y="618845"/>
                  </a:lnTo>
                  <a:lnTo>
                    <a:pt x="678103" y="533806"/>
                  </a:lnTo>
                  <a:lnTo>
                    <a:pt x="1201699" y="533806"/>
                  </a:lnTo>
                  <a:lnTo>
                    <a:pt x="1201699" y="491934"/>
                  </a:lnTo>
                  <a:close/>
                </a:path>
              </a:pathLst>
            </a:custGeom>
            <a:solidFill>
              <a:srgbClr val="BCBCBC"/>
            </a:solidFill>
          </p:spPr>
          <p:txBody>
            <a:bodyPr wrap="square" lIns="0" tIns="0" rIns="0" bIns="0" rtlCol="0"/>
            <a:lstStyle/>
            <a:p>
              <a:endParaRPr sz="2400"/>
            </a:p>
          </p:txBody>
        </p:sp>
      </p:grpSp>
      <p:sp>
        <p:nvSpPr>
          <p:cNvPr id="11" name="object 11"/>
          <p:cNvSpPr txBox="1">
            <a:spLocks noGrp="1"/>
          </p:cNvSpPr>
          <p:nvPr>
            <p:ph type="title"/>
          </p:nvPr>
        </p:nvSpPr>
        <p:spPr>
          <a:xfrm>
            <a:off x="3556168" y="383228"/>
            <a:ext cx="6274969"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Data</a:t>
            </a:r>
            <a:r>
              <a:rPr spc="-33" dirty="0"/>
              <a:t> </a:t>
            </a:r>
            <a:r>
              <a:rPr dirty="0">
                <a:solidFill>
                  <a:schemeClr val="bg1"/>
                </a:solidFill>
                <a:latin typeface="+mn-lt"/>
              </a:rPr>
              <a:t>Warehouse</a:t>
            </a:r>
            <a:r>
              <a:rPr spc="-60" dirty="0"/>
              <a:t> </a:t>
            </a:r>
            <a:r>
              <a:rPr dirty="0">
                <a:solidFill>
                  <a:schemeClr val="bg1"/>
                </a:solidFill>
                <a:latin typeface="+mn-lt"/>
              </a:rPr>
              <a:t>Layers</a:t>
            </a:r>
          </a:p>
        </p:txBody>
      </p:sp>
      <p:sp>
        <p:nvSpPr>
          <p:cNvPr id="12" name="object 12"/>
          <p:cNvSpPr txBox="1"/>
          <p:nvPr/>
        </p:nvSpPr>
        <p:spPr>
          <a:xfrm>
            <a:off x="3661326" y="5017143"/>
            <a:ext cx="839893" cy="344475"/>
          </a:xfrm>
          <a:prstGeom prst="rect">
            <a:avLst/>
          </a:prstGeom>
        </p:spPr>
        <p:txBody>
          <a:bodyPr vert="horz" wrap="square" lIns="0" tIns="16087" rIns="0" bIns="0" rtlCol="0">
            <a:spAutoFit/>
          </a:bodyPr>
          <a:lstStyle/>
          <a:p>
            <a:pPr marL="16933">
              <a:spcBef>
                <a:spcPts val="127"/>
              </a:spcBef>
            </a:pPr>
            <a:r>
              <a:rPr sz="2133" spc="-13" dirty="0">
                <a:solidFill>
                  <a:srgbClr val="FFFFFF"/>
                </a:solidFill>
                <a:latin typeface="Calibri"/>
                <a:cs typeface="Calibri"/>
              </a:rPr>
              <a:t>Staging</a:t>
            </a:r>
            <a:endParaRPr sz="2133">
              <a:latin typeface="Calibri"/>
              <a:cs typeface="Calibri"/>
            </a:endParaRPr>
          </a:p>
        </p:txBody>
      </p:sp>
      <p:graphicFrame>
        <p:nvGraphicFramePr>
          <p:cNvPr id="13" name="object 13"/>
          <p:cNvGraphicFramePr>
            <a:graphicFrameLocks noGrp="1"/>
          </p:cNvGraphicFramePr>
          <p:nvPr/>
        </p:nvGraphicFramePr>
        <p:xfrm>
          <a:off x="1157775" y="2562617"/>
          <a:ext cx="929639" cy="628227"/>
        </p:xfrm>
        <a:graphic>
          <a:graphicData uri="http://schemas.openxmlformats.org/drawingml/2006/table">
            <a:tbl>
              <a:tblPr firstRow="1" bandRow="1">
                <a:tableStyleId>{2D5ABB26-0587-4C30-8999-92F81FD0307C}</a:tableStyleId>
              </a:tblPr>
              <a:tblGrid>
                <a:gridCol w="314113">
                  <a:extLst>
                    <a:ext uri="{9D8B030D-6E8A-4147-A177-3AD203B41FA5}">
                      <a16:colId xmlns:a16="http://schemas.microsoft.com/office/drawing/2014/main" val="20000"/>
                    </a:ext>
                  </a:extLst>
                </a:gridCol>
                <a:gridCol w="301413">
                  <a:extLst>
                    <a:ext uri="{9D8B030D-6E8A-4147-A177-3AD203B41FA5}">
                      <a16:colId xmlns:a16="http://schemas.microsoft.com/office/drawing/2014/main" val="20001"/>
                    </a:ext>
                  </a:extLst>
                </a:gridCol>
                <a:gridCol w="314113">
                  <a:extLst>
                    <a:ext uri="{9D8B030D-6E8A-4147-A177-3AD203B41FA5}">
                      <a16:colId xmlns:a16="http://schemas.microsoft.com/office/drawing/2014/main" val="20002"/>
                    </a:ext>
                  </a:extLst>
                </a:gridCol>
              </a:tblGrid>
              <a:tr h="213360">
                <a:tc>
                  <a:txBody>
                    <a:bodyPr/>
                    <a:lstStyle/>
                    <a:p>
                      <a:pPr>
                        <a:lnSpc>
                          <a:spcPct val="100000"/>
                        </a:lnSpc>
                      </a:pPr>
                      <a:endParaRPr sz="1200">
                        <a:latin typeface="Times New Roman"/>
                        <a:cs typeface="Times New Roman"/>
                      </a:endParaRPr>
                    </a:p>
                  </a:txBody>
                  <a:tcPr marL="0" marR="0" marT="0" marB="0">
                    <a:lnL w="5715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57150">
                      <a:solidFill>
                        <a:srgbClr val="BCBCBC"/>
                      </a:solidFill>
                      <a:prstDash val="solid"/>
                    </a:lnR>
                    <a:lnT w="57150">
                      <a:solidFill>
                        <a:srgbClr val="BCBCBC"/>
                      </a:solidFill>
                      <a:prstDash val="solid"/>
                    </a:lnT>
                    <a:lnB w="38100">
                      <a:solidFill>
                        <a:srgbClr val="BCBCBC"/>
                      </a:solidFill>
                      <a:prstDash val="solid"/>
                    </a:lnB>
                  </a:tcPr>
                </a:tc>
                <a:extLst>
                  <a:ext uri="{0D108BD9-81ED-4DB2-BD59-A6C34878D82A}">
                    <a16:rowId xmlns:a16="http://schemas.microsoft.com/office/drawing/2014/main" val="10000"/>
                  </a:ext>
                </a:extLst>
              </a:tr>
              <a:tr h="201507">
                <a:tc>
                  <a:txBody>
                    <a:bodyPr/>
                    <a:lstStyle/>
                    <a:p>
                      <a:pPr>
                        <a:lnSpc>
                          <a:spcPct val="100000"/>
                        </a:lnSpc>
                      </a:pPr>
                      <a:endParaRPr sz="11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11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11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38100">
                      <a:solidFill>
                        <a:srgbClr val="BCBCBC"/>
                      </a:solidFill>
                      <a:prstDash val="solid"/>
                    </a:lnB>
                  </a:tcPr>
                </a:tc>
                <a:extLst>
                  <a:ext uri="{0D108BD9-81ED-4DB2-BD59-A6C34878D82A}">
                    <a16:rowId xmlns:a16="http://schemas.microsoft.com/office/drawing/2014/main" val="10001"/>
                  </a:ext>
                </a:extLst>
              </a:tr>
              <a:tr h="213360">
                <a:tc>
                  <a:txBody>
                    <a:bodyPr/>
                    <a:lstStyle/>
                    <a:p>
                      <a:pPr>
                        <a:lnSpc>
                          <a:spcPct val="100000"/>
                        </a:lnSpc>
                      </a:pPr>
                      <a:endParaRPr sz="12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57150">
                      <a:solidFill>
                        <a:srgbClr val="BCBCBC"/>
                      </a:solidFill>
                      <a:prstDash val="solid"/>
                    </a:lnB>
                  </a:tcPr>
                </a:tc>
                <a:extLst>
                  <a:ext uri="{0D108BD9-81ED-4DB2-BD59-A6C34878D82A}">
                    <a16:rowId xmlns:a16="http://schemas.microsoft.com/office/drawing/2014/main" val="10002"/>
                  </a:ext>
                </a:extLst>
              </a:tr>
            </a:tbl>
          </a:graphicData>
        </a:graphic>
      </p:graphicFrame>
      <p:sp>
        <p:nvSpPr>
          <p:cNvPr id="14" name="object 14"/>
          <p:cNvSpPr txBox="1"/>
          <p:nvPr/>
        </p:nvSpPr>
        <p:spPr>
          <a:xfrm>
            <a:off x="935668" y="4679357"/>
            <a:ext cx="1424093"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data</a:t>
            </a:r>
            <a:r>
              <a:rPr sz="2133" spc="-33" dirty="0">
                <a:solidFill>
                  <a:srgbClr val="FFFFFF"/>
                </a:solidFill>
                <a:latin typeface="Calibri"/>
                <a:cs typeface="Calibri"/>
              </a:rPr>
              <a:t> </a:t>
            </a:r>
            <a:r>
              <a:rPr sz="2133" spc="-13" dirty="0">
                <a:solidFill>
                  <a:srgbClr val="FFFFFF"/>
                </a:solidFill>
                <a:latin typeface="Calibri"/>
                <a:cs typeface="Calibri"/>
              </a:rPr>
              <a:t>sources</a:t>
            </a:r>
            <a:endParaRPr sz="2133">
              <a:latin typeface="Calibri"/>
              <a:cs typeface="Calibri"/>
            </a:endParaRPr>
          </a:p>
        </p:txBody>
      </p:sp>
      <p:sp>
        <p:nvSpPr>
          <p:cNvPr id="15" name="object 15"/>
          <p:cNvSpPr/>
          <p:nvPr/>
        </p:nvSpPr>
        <p:spPr>
          <a:xfrm>
            <a:off x="1327573" y="3561639"/>
            <a:ext cx="689187" cy="934720"/>
          </a:xfrm>
          <a:custGeom>
            <a:avLst/>
            <a:gdLst/>
            <a:ahLst/>
            <a:cxnLst/>
            <a:rect l="l" t="t" r="r" b="b"/>
            <a:pathLst>
              <a:path w="516890" h="701039">
                <a:moveTo>
                  <a:pt x="516585" y="479298"/>
                </a:moveTo>
                <a:lnTo>
                  <a:pt x="507314" y="498830"/>
                </a:lnTo>
                <a:lnTo>
                  <a:pt x="481190" y="516432"/>
                </a:lnTo>
                <a:lnTo>
                  <a:pt x="461238" y="523798"/>
                </a:lnTo>
                <a:lnTo>
                  <a:pt x="461238" y="608330"/>
                </a:lnTo>
                <a:lnTo>
                  <a:pt x="459905" y="615873"/>
                </a:lnTo>
                <a:lnTo>
                  <a:pt x="456158" y="621690"/>
                </a:lnTo>
                <a:lnTo>
                  <a:pt x="450342" y="625436"/>
                </a:lnTo>
                <a:lnTo>
                  <a:pt x="442785" y="626757"/>
                </a:lnTo>
                <a:lnTo>
                  <a:pt x="435229" y="625436"/>
                </a:lnTo>
                <a:lnTo>
                  <a:pt x="429412" y="621690"/>
                </a:lnTo>
                <a:lnTo>
                  <a:pt x="425665" y="615873"/>
                </a:lnTo>
                <a:lnTo>
                  <a:pt x="424332" y="608330"/>
                </a:lnTo>
                <a:lnTo>
                  <a:pt x="425665" y="600786"/>
                </a:lnTo>
                <a:lnTo>
                  <a:pt x="429412" y="594969"/>
                </a:lnTo>
                <a:lnTo>
                  <a:pt x="435229" y="591223"/>
                </a:lnTo>
                <a:lnTo>
                  <a:pt x="442785" y="589889"/>
                </a:lnTo>
                <a:lnTo>
                  <a:pt x="450342" y="591223"/>
                </a:lnTo>
                <a:lnTo>
                  <a:pt x="456158" y="594969"/>
                </a:lnTo>
                <a:lnTo>
                  <a:pt x="459905" y="600786"/>
                </a:lnTo>
                <a:lnTo>
                  <a:pt x="461238" y="608330"/>
                </a:lnTo>
                <a:lnTo>
                  <a:pt x="461238" y="523798"/>
                </a:lnTo>
                <a:lnTo>
                  <a:pt x="440715" y="531368"/>
                </a:lnTo>
                <a:lnTo>
                  <a:pt x="388391" y="542925"/>
                </a:lnTo>
                <a:lnTo>
                  <a:pt x="326745" y="550379"/>
                </a:lnTo>
                <a:lnTo>
                  <a:pt x="258292" y="553021"/>
                </a:lnTo>
                <a:lnTo>
                  <a:pt x="189826" y="550379"/>
                </a:lnTo>
                <a:lnTo>
                  <a:pt x="128193" y="542925"/>
                </a:lnTo>
                <a:lnTo>
                  <a:pt x="75869" y="531368"/>
                </a:lnTo>
                <a:lnTo>
                  <a:pt x="35394" y="516432"/>
                </a:lnTo>
                <a:lnTo>
                  <a:pt x="0" y="479298"/>
                </a:lnTo>
                <a:lnTo>
                  <a:pt x="0" y="626757"/>
                </a:lnTo>
                <a:lnTo>
                  <a:pt x="35394" y="663905"/>
                </a:lnTo>
                <a:lnTo>
                  <a:pt x="75869" y="678840"/>
                </a:lnTo>
                <a:lnTo>
                  <a:pt x="128193" y="690397"/>
                </a:lnTo>
                <a:lnTo>
                  <a:pt x="189826" y="697852"/>
                </a:lnTo>
                <a:lnTo>
                  <a:pt x="258292" y="700493"/>
                </a:lnTo>
                <a:lnTo>
                  <a:pt x="326745" y="697852"/>
                </a:lnTo>
                <a:lnTo>
                  <a:pt x="388391" y="690397"/>
                </a:lnTo>
                <a:lnTo>
                  <a:pt x="440715" y="678840"/>
                </a:lnTo>
                <a:lnTo>
                  <a:pt x="481190" y="663905"/>
                </a:lnTo>
                <a:lnTo>
                  <a:pt x="516585" y="626757"/>
                </a:lnTo>
                <a:lnTo>
                  <a:pt x="516585" y="589889"/>
                </a:lnTo>
                <a:lnTo>
                  <a:pt x="516585" y="553021"/>
                </a:lnTo>
                <a:lnTo>
                  <a:pt x="516585" y="479298"/>
                </a:lnTo>
                <a:close/>
              </a:path>
              <a:path w="516890" h="701039">
                <a:moveTo>
                  <a:pt x="516585" y="294957"/>
                </a:moveTo>
                <a:lnTo>
                  <a:pt x="507314" y="314502"/>
                </a:lnTo>
                <a:lnTo>
                  <a:pt x="481190" y="332092"/>
                </a:lnTo>
                <a:lnTo>
                  <a:pt x="461238" y="339458"/>
                </a:lnTo>
                <a:lnTo>
                  <a:pt x="461238" y="423989"/>
                </a:lnTo>
                <a:lnTo>
                  <a:pt x="459905" y="431533"/>
                </a:lnTo>
                <a:lnTo>
                  <a:pt x="456158" y="437349"/>
                </a:lnTo>
                <a:lnTo>
                  <a:pt x="450342" y="441096"/>
                </a:lnTo>
                <a:lnTo>
                  <a:pt x="442785" y="442429"/>
                </a:lnTo>
                <a:lnTo>
                  <a:pt x="435229" y="441096"/>
                </a:lnTo>
                <a:lnTo>
                  <a:pt x="429412" y="437349"/>
                </a:lnTo>
                <a:lnTo>
                  <a:pt x="425665" y="431533"/>
                </a:lnTo>
                <a:lnTo>
                  <a:pt x="424332" y="423989"/>
                </a:lnTo>
                <a:lnTo>
                  <a:pt x="425665" y="416445"/>
                </a:lnTo>
                <a:lnTo>
                  <a:pt x="429412" y="410629"/>
                </a:lnTo>
                <a:lnTo>
                  <a:pt x="435229" y="406882"/>
                </a:lnTo>
                <a:lnTo>
                  <a:pt x="442785" y="405561"/>
                </a:lnTo>
                <a:lnTo>
                  <a:pt x="450342" y="406882"/>
                </a:lnTo>
                <a:lnTo>
                  <a:pt x="456158" y="410629"/>
                </a:lnTo>
                <a:lnTo>
                  <a:pt x="459905" y="416445"/>
                </a:lnTo>
                <a:lnTo>
                  <a:pt x="461238" y="423989"/>
                </a:lnTo>
                <a:lnTo>
                  <a:pt x="461238" y="339458"/>
                </a:lnTo>
                <a:lnTo>
                  <a:pt x="440715" y="347027"/>
                </a:lnTo>
                <a:lnTo>
                  <a:pt x="388391" y="358584"/>
                </a:lnTo>
                <a:lnTo>
                  <a:pt x="326745" y="366039"/>
                </a:lnTo>
                <a:lnTo>
                  <a:pt x="258292" y="368693"/>
                </a:lnTo>
                <a:lnTo>
                  <a:pt x="189826" y="366039"/>
                </a:lnTo>
                <a:lnTo>
                  <a:pt x="128193" y="358584"/>
                </a:lnTo>
                <a:lnTo>
                  <a:pt x="75869" y="347027"/>
                </a:lnTo>
                <a:lnTo>
                  <a:pt x="35394" y="332092"/>
                </a:lnTo>
                <a:lnTo>
                  <a:pt x="0" y="294957"/>
                </a:lnTo>
                <a:lnTo>
                  <a:pt x="0" y="442429"/>
                </a:lnTo>
                <a:lnTo>
                  <a:pt x="35394" y="479564"/>
                </a:lnTo>
                <a:lnTo>
                  <a:pt x="75869" y="494499"/>
                </a:lnTo>
                <a:lnTo>
                  <a:pt x="128193" y="506056"/>
                </a:lnTo>
                <a:lnTo>
                  <a:pt x="189826" y="513511"/>
                </a:lnTo>
                <a:lnTo>
                  <a:pt x="258292" y="516153"/>
                </a:lnTo>
                <a:lnTo>
                  <a:pt x="326745" y="513511"/>
                </a:lnTo>
                <a:lnTo>
                  <a:pt x="388391" y="506056"/>
                </a:lnTo>
                <a:lnTo>
                  <a:pt x="440715" y="494499"/>
                </a:lnTo>
                <a:lnTo>
                  <a:pt x="481190" y="479564"/>
                </a:lnTo>
                <a:lnTo>
                  <a:pt x="516585" y="442429"/>
                </a:lnTo>
                <a:lnTo>
                  <a:pt x="516585" y="405561"/>
                </a:lnTo>
                <a:lnTo>
                  <a:pt x="516585" y="368693"/>
                </a:lnTo>
                <a:lnTo>
                  <a:pt x="516585" y="294957"/>
                </a:lnTo>
                <a:close/>
              </a:path>
              <a:path w="516890" h="701039">
                <a:moveTo>
                  <a:pt x="516585" y="110617"/>
                </a:moveTo>
                <a:lnTo>
                  <a:pt x="507314" y="130162"/>
                </a:lnTo>
                <a:lnTo>
                  <a:pt x="481190" y="147751"/>
                </a:lnTo>
                <a:lnTo>
                  <a:pt x="461238" y="155117"/>
                </a:lnTo>
                <a:lnTo>
                  <a:pt x="461238" y="239649"/>
                </a:lnTo>
                <a:lnTo>
                  <a:pt x="459905" y="247192"/>
                </a:lnTo>
                <a:lnTo>
                  <a:pt x="456158" y="253022"/>
                </a:lnTo>
                <a:lnTo>
                  <a:pt x="450342" y="256755"/>
                </a:lnTo>
                <a:lnTo>
                  <a:pt x="442785" y="258089"/>
                </a:lnTo>
                <a:lnTo>
                  <a:pt x="435229" y="256755"/>
                </a:lnTo>
                <a:lnTo>
                  <a:pt x="429412" y="253022"/>
                </a:lnTo>
                <a:lnTo>
                  <a:pt x="425665" y="247192"/>
                </a:lnTo>
                <a:lnTo>
                  <a:pt x="424332" y="239649"/>
                </a:lnTo>
                <a:lnTo>
                  <a:pt x="425665" y="232105"/>
                </a:lnTo>
                <a:lnTo>
                  <a:pt x="429412" y="226288"/>
                </a:lnTo>
                <a:lnTo>
                  <a:pt x="435229" y="222542"/>
                </a:lnTo>
                <a:lnTo>
                  <a:pt x="442785" y="221221"/>
                </a:lnTo>
                <a:lnTo>
                  <a:pt x="450342" y="222542"/>
                </a:lnTo>
                <a:lnTo>
                  <a:pt x="456158" y="226288"/>
                </a:lnTo>
                <a:lnTo>
                  <a:pt x="459905" y="232105"/>
                </a:lnTo>
                <a:lnTo>
                  <a:pt x="461238" y="239649"/>
                </a:lnTo>
                <a:lnTo>
                  <a:pt x="461238" y="155117"/>
                </a:lnTo>
                <a:lnTo>
                  <a:pt x="440715" y="162687"/>
                </a:lnTo>
                <a:lnTo>
                  <a:pt x="388391" y="174244"/>
                </a:lnTo>
                <a:lnTo>
                  <a:pt x="326745" y="181698"/>
                </a:lnTo>
                <a:lnTo>
                  <a:pt x="258292" y="184353"/>
                </a:lnTo>
                <a:lnTo>
                  <a:pt x="189826" y="181698"/>
                </a:lnTo>
                <a:lnTo>
                  <a:pt x="128193" y="174244"/>
                </a:lnTo>
                <a:lnTo>
                  <a:pt x="75869" y="162687"/>
                </a:lnTo>
                <a:lnTo>
                  <a:pt x="35394" y="147751"/>
                </a:lnTo>
                <a:lnTo>
                  <a:pt x="0" y="110617"/>
                </a:lnTo>
                <a:lnTo>
                  <a:pt x="0" y="258089"/>
                </a:lnTo>
                <a:lnTo>
                  <a:pt x="35394" y="295224"/>
                </a:lnTo>
                <a:lnTo>
                  <a:pt x="75869" y="310159"/>
                </a:lnTo>
                <a:lnTo>
                  <a:pt x="128193" y="321716"/>
                </a:lnTo>
                <a:lnTo>
                  <a:pt x="189826" y="329171"/>
                </a:lnTo>
                <a:lnTo>
                  <a:pt x="258292" y="331825"/>
                </a:lnTo>
                <a:lnTo>
                  <a:pt x="326745" y="329171"/>
                </a:lnTo>
                <a:lnTo>
                  <a:pt x="388391" y="321716"/>
                </a:lnTo>
                <a:lnTo>
                  <a:pt x="440715" y="310159"/>
                </a:lnTo>
                <a:lnTo>
                  <a:pt x="481190" y="295224"/>
                </a:lnTo>
                <a:lnTo>
                  <a:pt x="516585" y="258089"/>
                </a:lnTo>
                <a:lnTo>
                  <a:pt x="516585" y="221221"/>
                </a:lnTo>
                <a:lnTo>
                  <a:pt x="516585" y="184353"/>
                </a:lnTo>
                <a:lnTo>
                  <a:pt x="516585" y="110617"/>
                </a:lnTo>
                <a:close/>
              </a:path>
              <a:path w="516890" h="701039">
                <a:moveTo>
                  <a:pt x="516585" y="73748"/>
                </a:moveTo>
                <a:lnTo>
                  <a:pt x="481317" y="36525"/>
                </a:lnTo>
                <a:lnTo>
                  <a:pt x="440931" y="21602"/>
                </a:lnTo>
                <a:lnTo>
                  <a:pt x="388658" y="10071"/>
                </a:lnTo>
                <a:lnTo>
                  <a:pt x="326961" y="2628"/>
                </a:lnTo>
                <a:lnTo>
                  <a:pt x="258292" y="0"/>
                </a:lnTo>
                <a:lnTo>
                  <a:pt x="189623" y="2628"/>
                </a:lnTo>
                <a:lnTo>
                  <a:pt x="127927" y="10071"/>
                </a:lnTo>
                <a:lnTo>
                  <a:pt x="75653" y="21602"/>
                </a:lnTo>
                <a:lnTo>
                  <a:pt x="35267" y="36525"/>
                </a:lnTo>
                <a:lnTo>
                  <a:pt x="0" y="73748"/>
                </a:lnTo>
                <a:lnTo>
                  <a:pt x="9220" y="93345"/>
                </a:lnTo>
                <a:lnTo>
                  <a:pt x="75653" y="125882"/>
                </a:lnTo>
                <a:lnTo>
                  <a:pt x="127927" y="137414"/>
                </a:lnTo>
                <a:lnTo>
                  <a:pt x="189623" y="144843"/>
                </a:lnTo>
                <a:lnTo>
                  <a:pt x="258292" y="147485"/>
                </a:lnTo>
                <a:lnTo>
                  <a:pt x="326961" y="144843"/>
                </a:lnTo>
                <a:lnTo>
                  <a:pt x="388658" y="137414"/>
                </a:lnTo>
                <a:lnTo>
                  <a:pt x="440931" y="125882"/>
                </a:lnTo>
                <a:lnTo>
                  <a:pt x="481317" y="110959"/>
                </a:lnTo>
                <a:lnTo>
                  <a:pt x="516585" y="73748"/>
                </a:lnTo>
                <a:close/>
              </a:path>
            </a:pathLst>
          </a:custGeom>
          <a:solidFill>
            <a:srgbClr val="9B9B9B"/>
          </a:solidFill>
        </p:spPr>
        <p:txBody>
          <a:bodyPr wrap="square" lIns="0" tIns="0" rIns="0" bIns="0" rtlCol="0"/>
          <a:lstStyle/>
          <a:p>
            <a:endParaRPr sz="2400"/>
          </a:p>
        </p:txBody>
      </p:sp>
      <p:sp>
        <p:nvSpPr>
          <p:cNvPr id="16" name="object 16"/>
          <p:cNvSpPr txBox="1"/>
          <p:nvPr/>
        </p:nvSpPr>
        <p:spPr>
          <a:xfrm>
            <a:off x="5473530" y="4948055"/>
            <a:ext cx="1876213" cy="672706"/>
          </a:xfrm>
          <a:prstGeom prst="rect">
            <a:avLst/>
          </a:prstGeom>
        </p:spPr>
        <p:txBody>
          <a:bodyPr vert="horz" wrap="square" lIns="0" tIns="16087" rIns="0" bIns="0" rtlCol="0">
            <a:spAutoFit/>
          </a:bodyPr>
          <a:lstStyle/>
          <a:p>
            <a:pPr algn="ctr">
              <a:spcBef>
                <a:spcPts val="127"/>
              </a:spcBef>
            </a:pPr>
            <a:r>
              <a:rPr sz="2133" dirty="0">
                <a:solidFill>
                  <a:srgbClr val="FFFFFF"/>
                </a:solidFill>
                <a:latin typeface="Calibri"/>
                <a:cs typeface="Calibri"/>
              </a:rPr>
              <a:t>Core</a:t>
            </a:r>
            <a:r>
              <a:rPr sz="2133" spc="-33" dirty="0">
                <a:solidFill>
                  <a:srgbClr val="FFFFFF"/>
                </a:solidFill>
                <a:latin typeface="Calibri"/>
                <a:cs typeface="Calibri"/>
              </a:rPr>
              <a:t> </a:t>
            </a:r>
            <a:r>
              <a:rPr sz="2133" spc="-67" dirty="0">
                <a:solidFill>
                  <a:srgbClr val="FFFFFF"/>
                </a:solidFill>
                <a:latin typeface="Calibri"/>
                <a:cs typeface="Calibri"/>
              </a:rPr>
              <a:t>/</a:t>
            </a:r>
            <a:endParaRPr sz="2133">
              <a:latin typeface="Calibri"/>
              <a:cs typeface="Calibri"/>
            </a:endParaRPr>
          </a:p>
          <a:p>
            <a:pPr algn="ctr">
              <a:spcBef>
                <a:spcPts val="13"/>
              </a:spcBef>
            </a:pPr>
            <a:r>
              <a:rPr sz="2133" dirty="0">
                <a:solidFill>
                  <a:srgbClr val="FFFFFF"/>
                </a:solidFill>
                <a:latin typeface="Calibri"/>
                <a:cs typeface="Calibri"/>
              </a:rPr>
              <a:t>Data</a:t>
            </a:r>
            <a:r>
              <a:rPr sz="2133" spc="-53" dirty="0">
                <a:solidFill>
                  <a:srgbClr val="FFFFFF"/>
                </a:solidFill>
                <a:latin typeface="Calibri"/>
                <a:cs typeface="Calibri"/>
              </a:rPr>
              <a:t> </a:t>
            </a:r>
            <a:r>
              <a:rPr sz="2133" spc="-13" dirty="0">
                <a:solidFill>
                  <a:srgbClr val="FFFFFF"/>
                </a:solidFill>
                <a:latin typeface="Calibri"/>
                <a:cs typeface="Calibri"/>
              </a:rPr>
              <a:t>Warehouse</a:t>
            </a:r>
            <a:endParaRPr sz="2133">
              <a:latin typeface="Calibri"/>
              <a:cs typeface="Calibri"/>
            </a:endParaRPr>
          </a:p>
        </p:txBody>
      </p:sp>
      <p:grpSp>
        <p:nvGrpSpPr>
          <p:cNvPr id="17" name="object 17"/>
          <p:cNvGrpSpPr/>
          <p:nvPr/>
        </p:nvGrpSpPr>
        <p:grpSpPr>
          <a:xfrm>
            <a:off x="5388610" y="2001266"/>
            <a:ext cx="2044700" cy="2959100"/>
            <a:chOff x="4041457" y="1500949"/>
            <a:chExt cx="1533525" cy="2219325"/>
          </a:xfrm>
        </p:grpSpPr>
        <p:sp>
          <p:nvSpPr>
            <p:cNvPr id="18" name="object 18"/>
            <p:cNvSpPr/>
            <p:nvPr/>
          </p:nvSpPr>
          <p:spPr>
            <a:xfrm>
              <a:off x="4046220" y="1505711"/>
              <a:ext cx="1524000" cy="2209800"/>
            </a:xfrm>
            <a:custGeom>
              <a:avLst/>
              <a:gdLst/>
              <a:ahLst/>
              <a:cxnLst/>
              <a:rect l="l" t="t" r="r" b="b"/>
              <a:pathLst>
                <a:path w="1524000" h="2209800">
                  <a:moveTo>
                    <a:pt x="0" y="254000"/>
                  </a:moveTo>
                  <a:lnTo>
                    <a:pt x="4090" y="208328"/>
                  </a:lnTo>
                  <a:lnTo>
                    <a:pt x="15884" y="165349"/>
                  </a:lnTo>
                  <a:lnTo>
                    <a:pt x="34666" y="125777"/>
                  </a:lnTo>
                  <a:lnTo>
                    <a:pt x="59719" y="90328"/>
                  </a:lnTo>
                  <a:lnTo>
                    <a:pt x="90328" y="59719"/>
                  </a:lnTo>
                  <a:lnTo>
                    <a:pt x="125777" y="34666"/>
                  </a:lnTo>
                  <a:lnTo>
                    <a:pt x="165349" y="15884"/>
                  </a:lnTo>
                  <a:lnTo>
                    <a:pt x="208328" y="4090"/>
                  </a:lnTo>
                  <a:lnTo>
                    <a:pt x="254000" y="0"/>
                  </a:lnTo>
                  <a:lnTo>
                    <a:pt x="1270000" y="0"/>
                  </a:lnTo>
                  <a:lnTo>
                    <a:pt x="1315671" y="4090"/>
                  </a:lnTo>
                  <a:lnTo>
                    <a:pt x="1358650" y="15884"/>
                  </a:lnTo>
                  <a:lnTo>
                    <a:pt x="1398222" y="34666"/>
                  </a:lnTo>
                  <a:lnTo>
                    <a:pt x="1433671" y="59719"/>
                  </a:lnTo>
                  <a:lnTo>
                    <a:pt x="1464280" y="90328"/>
                  </a:lnTo>
                  <a:lnTo>
                    <a:pt x="1489333" y="125777"/>
                  </a:lnTo>
                  <a:lnTo>
                    <a:pt x="1508115" y="165349"/>
                  </a:lnTo>
                  <a:lnTo>
                    <a:pt x="1519909" y="208328"/>
                  </a:lnTo>
                  <a:lnTo>
                    <a:pt x="1524000" y="254000"/>
                  </a:lnTo>
                  <a:lnTo>
                    <a:pt x="1524000" y="1955800"/>
                  </a:lnTo>
                  <a:lnTo>
                    <a:pt x="1519909" y="2001471"/>
                  </a:lnTo>
                  <a:lnTo>
                    <a:pt x="1508115" y="2044450"/>
                  </a:lnTo>
                  <a:lnTo>
                    <a:pt x="1489333" y="2084022"/>
                  </a:lnTo>
                  <a:lnTo>
                    <a:pt x="1464280" y="2119471"/>
                  </a:lnTo>
                  <a:lnTo>
                    <a:pt x="1433671" y="2150080"/>
                  </a:lnTo>
                  <a:lnTo>
                    <a:pt x="1398222" y="2175133"/>
                  </a:lnTo>
                  <a:lnTo>
                    <a:pt x="1358650" y="2193915"/>
                  </a:lnTo>
                  <a:lnTo>
                    <a:pt x="1315671" y="2205709"/>
                  </a:lnTo>
                  <a:lnTo>
                    <a:pt x="1270000" y="2209800"/>
                  </a:lnTo>
                  <a:lnTo>
                    <a:pt x="254000" y="2209800"/>
                  </a:lnTo>
                  <a:lnTo>
                    <a:pt x="208328" y="2205709"/>
                  </a:lnTo>
                  <a:lnTo>
                    <a:pt x="165349" y="2193915"/>
                  </a:lnTo>
                  <a:lnTo>
                    <a:pt x="125777" y="2175133"/>
                  </a:lnTo>
                  <a:lnTo>
                    <a:pt x="90328" y="2150080"/>
                  </a:lnTo>
                  <a:lnTo>
                    <a:pt x="59719" y="2119471"/>
                  </a:lnTo>
                  <a:lnTo>
                    <a:pt x="34666" y="2084022"/>
                  </a:lnTo>
                  <a:lnTo>
                    <a:pt x="15884" y="2044450"/>
                  </a:lnTo>
                  <a:lnTo>
                    <a:pt x="4090" y="2001471"/>
                  </a:lnTo>
                  <a:lnTo>
                    <a:pt x="0" y="1955800"/>
                  </a:lnTo>
                  <a:lnTo>
                    <a:pt x="0" y="254000"/>
                  </a:lnTo>
                  <a:close/>
                </a:path>
              </a:pathLst>
            </a:custGeom>
            <a:ln w="9144">
              <a:solidFill>
                <a:srgbClr val="00C3FF"/>
              </a:solidFill>
            </a:ln>
          </p:spPr>
          <p:txBody>
            <a:bodyPr wrap="square" lIns="0" tIns="0" rIns="0" bIns="0" rtlCol="0"/>
            <a:lstStyle/>
            <a:p>
              <a:endParaRPr sz="2400"/>
            </a:p>
          </p:txBody>
        </p:sp>
        <p:sp>
          <p:nvSpPr>
            <p:cNvPr id="19" name="object 19"/>
            <p:cNvSpPr/>
            <p:nvPr/>
          </p:nvSpPr>
          <p:spPr>
            <a:xfrm>
              <a:off x="4526775" y="1951164"/>
              <a:ext cx="581660" cy="1351280"/>
            </a:xfrm>
            <a:custGeom>
              <a:avLst/>
              <a:gdLst/>
              <a:ahLst/>
              <a:cxnLst/>
              <a:rect l="l" t="t" r="r" b="b"/>
              <a:pathLst>
                <a:path w="581660" h="1351279">
                  <a:moveTo>
                    <a:pt x="227647" y="1109738"/>
                  </a:moveTo>
                  <a:lnTo>
                    <a:pt x="199339" y="1109738"/>
                  </a:lnTo>
                  <a:lnTo>
                    <a:pt x="199339" y="1194714"/>
                  </a:lnTo>
                  <a:lnTo>
                    <a:pt x="227647" y="1194714"/>
                  </a:lnTo>
                  <a:lnTo>
                    <a:pt x="227647" y="1109738"/>
                  </a:lnTo>
                  <a:close/>
                </a:path>
                <a:path w="581660" h="1351279">
                  <a:moveTo>
                    <a:pt x="397459" y="1109738"/>
                  </a:moveTo>
                  <a:lnTo>
                    <a:pt x="369150" y="1109738"/>
                  </a:lnTo>
                  <a:lnTo>
                    <a:pt x="369150" y="1194714"/>
                  </a:lnTo>
                  <a:lnTo>
                    <a:pt x="397459" y="1194714"/>
                  </a:lnTo>
                  <a:lnTo>
                    <a:pt x="397459" y="1109738"/>
                  </a:lnTo>
                  <a:close/>
                </a:path>
                <a:path w="581660" h="1351279">
                  <a:moveTo>
                    <a:pt x="564794" y="0"/>
                  </a:moveTo>
                  <a:lnTo>
                    <a:pt x="0" y="0"/>
                  </a:lnTo>
                  <a:lnTo>
                    <a:pt x="0" y="41973"/>
                  </a:lnTo>
                  <a:lnTo>
                    <a:pt x="0" y="127190"/>
                  </a:lnTo>
                  <a:lnTo>
                    <a:pt x="0" y="764298"/>
                  </a:lnTo>
                  <a:lnTo>
                    <a:pt x="564794" y="764298"/>
                  </a:lnTo>
                  <a:lnTo>
                    <a:pt x="564794" y="496214"/>
                  </a:lnTo>
                  <a:lnTo>
                    <a:pt x="522427" y="496214"/>
                  </a:lnTo>
                  <a:lnTo>
                    <a:pt x="522427" y="524167"/>
                  </a:lnTo>
                  <a:lnTo>
                    <a:pt x="522427" y="608012"/>
                  </a:lnTo>
                  <a:lnTo>
                    <a:pt x="522427" y="637235"/>
                  </a:lnTo>
                  <a:lnTo>
                    <a:pt x="522427" y="721093"/>
                  </a:lnTo>
                  <a:lnTo>
                    <a:pt x="381228" y="721093"/>
                  </a:lnTo>
                  <a:lnTo>
                    <a:pt x="381228" y="637235"/>
                  </a:lnTo>
                  <a:lnTo>
                    <a:pt x="522427" y="637235"/>
                  </a:lnTo>
                  <a:lnTo>
                    <a:pt x="522427" y="608012"/>
                  </a:lnTo>
                  <a:lnTo>
                    <a:pt x="381228" y="608012"/>
                  </a:lnTo>
                  <a:lnTo>
                    <a:pt x="381228" y="524167"/>
                  </a:lnTo>
                  <a:lnTo>
                    <a:pt x="522427" y="524167"/>
                  </a:lnTo>
                  <a:lnTo>
                    <a:pt x="522427" y="496214"/>
                  </a:lnTo>
                  <a:lnTo>
                    <a:pt x="352996" y="496214"/>
                  </a:lnTo>
                  <a:lnTo>
                    <a:pt x="352996" y="524167"/>
                  </a:lnTo>
                  <a:lnTo>
                    <a:pt x="352996" y="608012"/>
                  </a:lnTo>
                  <a:lnTo>
                    <a:pt x="352996" y="637235"/>
                  </a:lnTo>
                  <a:lnTo>
                    <a:pt x="352996" y="721093"/>
                  </a:lnTo>
                  <a:lnTo>
                    <a:pt x="211797" y="721093"/>
                  </a:lnTo>
                  <a:lnTo>
                    <a:pt x="211797" y="637235"/>
                  </a:lnTo>
                  <a:lnTo>
                    <a:pt x="352996" y="637235"/>
                  </a:lnTo>
                  <a:lnTo>
                    <a:pt x="352996" y="608012"/>
                  </a:lnTo>
                  <a:lnTo>
                    <a:pt x="211797" y="608012"/>
                  </a:lnTo>
                  <a:lnTo>
                    <a:pt x="211797" y="524167"/>
                  </a:lnTo>
                  <a:lnTo>
                    <a:pt x="352996" y="524167"/>
                  </a:lnTo>
                  <a:lnTo>
                    <a:pt x="352996" y="496214"/>
                  </a:lnTo>
                  <a:lnTo>
                    <a:pt x="183553" y="496214"/>
                  </a:lnTo>
                  <a:lnTo>
                    <a:pt x="183553" y="524167"/>
                  </a:lnTo>
                  <a:lnTo>
                    <a:pt x="183553" y="608012"/>
                  </a:lnTo>
                  <a:lnTo>
                    <a:pt x="183553" y="637235"/>
                  </a:lnTo>
                  <a:lnTo>
                    <a:pt x="183553" y="721093"/>
                  </a:lnTo>
                  <a:lnTo>
                    <a:pt x="42367" y="721093"/>
                  </a:lnTo>
                  <a:lnTo>
                    <a:pt x="42367" y="637235"/>
                  </a:lnTo>
                  <a:lnTo>
                    <a:pt x="183553" y="637235"/>
                  </a:lnTo>
                  <a:lnTo>
                    <a:pt x="183553" y="608012"/>
                  </a:lnTo>
                  <a:lnTo>
                    <a:pt x="42367" y="608012"/>
                  </a:lnTo>
                  <a:lnTo>
                    <a:pt x="42367" y="524167"/>
                  </a:lnTo>
                  <a:lnTo>
                    <a:pt x="183553" y="524167"/>
                  </a:lnTo>
                  <a:lnTo>
                    <a:pt x="183553" y="496214"/>
                  </a:lnTo>
                  <a:lnTo>
                    <a:pt x="42367" y="496214"/>
                  </a:lnTo>
                  <a:lnTo>
                    <a:pt x="42367" y="411086"/>
                  </a:lnTo>
                  <a:lnTo>
                    <a:pt x="183553" y="411086"/>
                  </a:lnTo>
                  <a:lnTo>
                    <a:pt x="183553" y="495592"/>
                  </a:lnTo>
                  <a:lnTo>
                    <a:pt x="211797" y="495592"/>
                  </a:lnTo>
                  <a:lnTo>
                    <a:pt x="211797" y="411086"/>
                  </a:lnTo>
                  <a:lnTo>
                    <a:pt x="352996" y="411086"/>
                  </a:lnTo>
                  <a:lnTo>
                    <a:pt x="352996" y="495592"/>
                  </a:lnTo>
                  <a:lnTo>
                    <a:pt x="381228" y="495592"/>
                  </a:lnTo>
                  <a:lnTo>
                    <a:pt x="381228" y="411086"/>
                  </a:lnTo>
                  <a:lnTo>
                    <a:pt x="522427" y="411086"/>
                  </a:lnTo>
                  <a:lnTo>
                    <a:pt x="522427" y="495592"/>
                  </a:lnTo>
                  <a:lnTo>
                    <a:pt x="564794" y="495592"/>
                  </a:lnTo>
                  <a:lnTo>
                    <a:pt x="564794" y="269011"/>
                  </a:lnTo>
                  <a:lnTo>
                    <a:pt x="522427" y="269011"/>
                  </a:lnTo>
                  <a:lnTo>
                    <a:pt x="522427" y="353606"/>
                  </a:lnTo>
                  <a:lnTo>
                    <a:pt x="381228" y="353606"/>
                  </a:lnTo>
                  <a:lnTo>
                    <a:pt x="381228" y="269011"/>
                  </a:lnTo>
                  <a:lnTo>
                    <a:pt x="352996" y="269011"/>
                  </a:lnTo>
                  <a:lnTo>
                    <a:pt x="352996" y="353606"/>
                  </a:lnTo>
                  <a:lnTo>
                    <a:pt x="211797" y="353606"/>
                  </a:lnTo>
                  <a:lnTo>
                    <a:pt x="211797" y="269011"/>
                  </a:lnTo>
                  <a:lnTo>
                    <a:pt x="183553" y="269011"/>
                  </a:lnTo>
                  <a:lnTo>
                    <a:pt x="183553" y="353606"/>
                  </a:lnTo>
                  <a:lnTo>
                    <a:pt x="42367" y="353606"/>
                  </a:lnTo>
                  <a:lnTo>
                    <a:pt x="42367" y="268389"/>
                  </a:lnTo>
                  <a:lnTo>
                    <a:pt x="564794" y="268389"/>
                  </a:lnTo>
                  <a:lnTo>
                    <a:pt x="564794" y="240690"/>
                  </a:lnTo>
                  <a:lnTo>
                    <a:pt x="564794" y="240398"/>
                  </a:lnTo>
                  <a:lnTo>
                    <a:pt x="564794" y="155714"/>
                  </a:lnTo>
                  <a:lnTo>
                    <a:pt x="522427" y="155714"/>
                  </a:lnTo>
                  <a:lnTo>
                    <a:pt x="522427" y="240398"/>
                  </a:lnTo>
                  <a:lnTo>
                    <a:pt x="381228" y="240398"/>
                  </a:lnTo>
                  <a:lnTo>
                    <a:pt x="381228" y="155714"/>
                  </a:lnTo>
                  <a:lnTo>
                    <a:pt x="352996" y="155714"/>
                  </a:lnTo>
                  <a:lnTo>
                    <a:pt x="352996" y="240398"/>
                  </a:lnTo>
                  <a:lnTo>
                    <a:pt x="211797" y="240398"/>
                  </a:lnTo>
                  <a:lnTo>
                    <a:pt x="211797" y="155714"/>
                  </a:lnTo>
                  <a:lnTo>
                    <a:pt x="183553" y="155714"/>
                  </a:lnTo>
                  <a:lnTo>
                    <a:pt x="183553" y="240398"/>
                  </a:lnTo>
                  <a:lnTo>
                    <a:pt x="42367" y="240398"/>
                  </a:lnTo>
                  <a:lnTo>
                    <a:pt x="42367" y="155181"/>
                  </a:lnTo>
                  <a:lnTo>
                    <a:pt x="564794" y="155181"/>
                  </a:lnTo>
                  <a:lnTo>
                    <a:pt x="564794" y="127381"/>
                  </a:lnTo>
                  <a:lnTo>
                    <a:pt x="564794" y="127190"/>
                  </a:lnTo>
                  <a:lnTo>
                    <a:pt x="564794" y="42405"/>
                  </a:lnTo>
                  <a:lnTo>
                    <a:pt x="522427" y="42405"/>
                  </a:lnTo>
                  <a:lnTo>
                    <a:pt x="522427" y="127190"/>
                  </a:lnTo>
                  <a:lnTo>
                    <a:pt x="381228" y="127190"/>
                  </a:lnTo>
                  <a:lnTo>
                    <a:pt x="381228" y="42405"/>
                  </a:lnTo>
                  <a:lnTo>
                    <a:pt x="352996" y="42405"/>
                  </a:lnTo>
                  <a:lnTo>
                    <a:pt x="352996" y="127190"/>
                  </a:lnTo>
                  <a:lnTo>
                    <a:pt x="211797" y="127190"/>
                  </a:lnTo>
                  <a:lnTo>
                    <a:pt x="211797" y="42405"/>
                  </a:lnTo>
                  <a:lnTo>
                    <a:pt x="183553" y="42405"/>
                  </a:lnTo>
                  <a:lnTo>
                    <a:pt x="183553" y="127190"/>
                  </a:lnTo>
                  <a:lnTo>
                    <a:pt x="42367" y="127190"/>
                  </a:lnTo>
                  <a:lnTo>
                    <a:pt x="42367" y="41973"/>
                  </a:lnTo>
                  <a:lnTo>
                    <a:pt x="564794" y="41973"/>
                  </a:lnTo>
                  <a:lnTo>
                    <a:pt x="564794" y="0"/>
                  </a:lnTo>
                  <a:close/>
                </a:path>
                <a:path w="581660" h="1351279">
                  <a:moveTo>
                    <a:pt x="581431" y="1109738"/>
                  </a:moveTo>
                  <a:lnTo>
                    <a:pt x="538962" y="1109738"/>
                  </a:lnTo>
                  <a:lnTo>
                    <a:pt x="538962" y="1194714"/>
                  </a:lnTo>
                  <a:lnTo>
                    <a:pt x="581431" y="1194714"/>
                  </a:lnTo>
                  <a:lnTo>
                    <a:pt x="581431" y="1109738"/>
                  </a:lnTo>
                  <a:close/>
                </a:path>
                <a:path w="581660" h="1351279">
                  <a:moveTo>
                    <a:pt x="581431" y="953350"/>
                  </a:moveTo>
                  <a:lnTo>
                    <a:pt x="15379" y="953350"/>
                  </a:lnTo>
                  <a:lnTo>
                    <a:pt x="15379" y="996556"/>
                  </a:lnTo>
                  <a:lnTo>
                    <a:pt x="15379" y="1081684"/>
                  </a:lnTo>
                  <a:lnTo>
                    <a:pt x="15379" y="1351038"/>
                  </a:lnTo>
                  <a:lnTo>
                    <a:pt x="581431" y="1351038"/>
                  </a:lnTo>
                  <a:lnTo>
                    <a:pt x="581431" y="1308023"/>
                  </a:lnTo>
                  <a:lnTo>
                    <a:pt x="581431" y="1307833"/>
                  </a:lnTo>
                  <a:lnTo>
                    <a:pt x="581431" y="1223035"/>
                  </a:lnTo>
                  <a:lnTo>
                    <a:pt x="538962" y="1223035"/>
                  </a:lnTo>
                  <a:lnTo>
                    <a:pt x="538962" y="1307833"/>
                  </a:lnTo>
                  <a:lnTo>
                    <a:pt x="397459" y="1307833"/>
                  </a:lnTo>
                  <a:lnTo>
                    <a:pt x="397459" y="1223035"/>
                  </a:lnTo>
                  <a:lnTo>
                    <a:pt x="369150" y="1223035"/>
                  </a:lnTo>
                  <a:lnTo>
                    <a:pt x="369150" y="1307833"/>
                  </a:lnTo>
                  <a:lnTo>
                    <a:pt x="227647" y="1307833"/>
                  </a:lnTo>
                  <a:lnTo>
                    <a:pt x="227647" y="1223035"/>
                  </a:lnTo>
                  <a:lnTo>
                    <a:pt x="199339" y="1223035"/>
                  </a:lnTo>
                  <a:lnTo>
                    <a:pt x="199339" y="1307833"/>
                  </a:lnTo>
                  <a:lnTo>
                    <a:pt x="57835" y="1307833"/>
                  </a:lnTo>
                  <a:lnTo>
                    <a:pt x="57835" y="1222705"/>
                  </a:lnTo>
                  <a:lnTo>
                    <a:pt x="581431" y="1222705"/>
                  </a:lnTo>
                  <a:lnTo>
                    <a:pt x="581431" y="1194752"/>
                  </a:lnTo>
                  <a:lnTo>
                    <a:pt x="57835" y="1194752"/>
                  </a:lnTo>
                  <a:lnTo>
                    <a:pt x="57835" y="1109637"/>
                  </a:lnTo>
                  <a:lnTo>
                    <a:pt x="581431" y="1109637"/>
                  </a:lnTo>
                  <a:lnTo>
                    <a:pt x="581431" y="1081684"/>
                  </a:lnTo>
                  <a:lnTo>
                    <a:pt x="57835" y="1081684"/>
                  </a:lnTo>
                  <a:lnTo>
                    <a:pt x="57835" y="996556"/>
                  </a:lnTo>
                  <a:lnTo>
                    <a:pt x="199339" y="996556"/>
                  </a:lnTo>
                  <a:lnTo>
                    <a:pt x="199339" y="1081405"/>
                  </a:lnTo>
                  <a:lnTo>
                    <a:pt x="227647" y="1081405"/>
                  </a:lnTo>
                  <a:lnTo>
                    <a:pt x="227647" y="996556"/>
                  </a:lnTo>
                  <a:lnTo>
                    <a:pt x="369150" y="996556"/>
                  </a:lnTo>
                  <a:lnTo>
                    <a:pt x="369150" y="1081405"/>
                  </a:lnTo>
                  <a:lnTo>
                    <a:pt x="397459" y="1081405"/>
                  </a:lnTo>
                  <a:lnTo>
                    <a:pt x="397459" y="996556"/>
                  </a:lnTo>
                  <a:lnTo>
                    <a:pt x="538962" y="996556"/>
                  </a:lnTo>
                  <a:lnTo>
                    <a:pt x="538962" y="1081405"/>
                  </a:lnTo>
                  <a:lnTo>
                    <a:pt x="581431" y="1081405"/>
                  </a:lnTo>
                  <a:lnTo>
                    <a:pt x="581431" y="996556"/>
                  </a:lnTo>
                  <a:lnTo>
                    <a:pt x="581431" y="996429"/>
                  </a:lnTo>
                  <a:lnTo>
                    <a:pt x="581431" y="953350"/>
                  </a:lnTo>
                  <a:close/>
                </a:path>
              </a:pathLst>
            </a:custGeom>
            <a:solidFill>
              <a:srgbClr val="BCBCBC"/>
            </a:solidFill>
          </p:spPr>
          <p:txBody>
            <a:bodyPr wrap="square" lIns="0" tIns="0" rIns="0" bIns="0" rtlCol="0"/>
            <a:lstStyle/>
            <a:p>
              <a:endParaRPr sz="2400"/>
            </a:p>
          </p:txBody>
        </p:sp>
      </p:grpSp>
      <p:sp>
        <p:nvSpPr>
          <p:cNvPr id="20" name="object 20"/>
          <p:cNvSpPr txBox="1"/>
          <p:nvPr/>
        </p:nvSpPr>
        <p:spPr>
          <a:xfrm>
            <a:off x="8219610" y="3444850"/>
            <a:ext cx="1355513"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Data</a:t>
            </a:r>
            <a:r>
              <a:rPr sz="2133" spc="-33" dirty="0">
                <a:solidFill>
                  <a:srgbClr val="FFFFFF"/>
                </a:solidFill>
                <a:latin typeface="Calibri"/>
                <a:cs typeface="Calibri"/>
              </a:rPr>
              <a:t> </a:t>
            </a:r>
            <a:r>
              <a:rPr sz="2133" dirty="0">
                <a:solidFill>
                  <a:srgbClr val="FFFFFF"/>
                </a:solidFill>
                <a:latin typeface="Calibri"/>
                <a:cs typeface="Calibri"/>
              </a:rPr>
              <a:t>Mart</a:t>
            </a:r>
            <a:r>
              <a:rPr sz="2133" spc="-20" dirty="0">
                <a:solidFill>
                  <a:srgbClr val="FFFFFF"/>
                </a:solidFill>
                <a:latin typeface="Calibri"/>
                <a:cs typeface="Calibri"/>
              </a:rPr>
              <a:t> </a:t>
            </a:r>
            <a:r>
              <a:rPr sz="2133" spc="-67" dirty="0">
                <a:solidFill>
                  <a:srgbClr val="FFFFFF"/>
                </a:solidFill>
                <a:latin typeface="Calibri"/>
                <a:cs typeface="Calibri"/>
              </a:rPr>
              <a:t>1</a:t>
            </a:r>
            <a:endParaRPr sz="2133">
              <a:latin typeface="Calibri"/>
              <a:cs typeface="Calibri"/>
            </a:endParaRPr>
          </a:p>
        </p:txBody>
      </p:sp>
      <p:grpSp>
        <p:nvGrpSpPr>
          <p:cNvPr id="21" name="object 21"/>
          <p:cNvGrpSpPr/>
          <p:nvPr/>
        </p:nvGrpSpPr>
        <p:grpSpPr>
          <a:xfrm>
            <a:off x="5021071" y="1660144"/>
            <a:ext cx="5265420" cy="3769360"/>
            <a:chOff x="3765803" y="1245108"/>
            <a:chExt cx="3949065" cy="2827020"/>
          </a:xfrm>
        </p:grpSpPr>
        <p:sp>
          <p:nvSpPr>
            <p:cNvPr id="22" name="object 22"/>
            <p:cNvSpPr/>
            <p:nvPr/>
          </p:nvSpPr>
          <p:spPr>
            <a:xfrm>
              <a:off x="5910071" y="1249680"/>
              <a:ext cx="1524000" cy="1336675"/>
            </a:xfrm>
            <a:custGeom>
              <a:avLst/>
              <a:gdLst/>
              <a:ahLst/>
              <a:cxnLst/>
              <a:rect l="l" t="t" r="r" b="b"/>
              <a:pathLst>
                <a:path w="1524000" h="1336675">
                  <a:moveTo>
                    <a:pt x="0" y="222758"/>
                  </a:moveTo>
                  <a:lnTo>
                    <a:pt x="4524" y="177853"/>
                  </a:lnTo>
                  <a:lnTo>
                    <a:pt x="17500" y="136034"/>
                  </a:lnTo>
                  <a:lnTo>
                    <a:pt x="38033" y="98195"/>
                  </a:lnTo>
                  <a:lnTo>
                    <a:pt x="65230" y="65230"/>
                  </a:lnTo>
                  <a:lnTo>
                    <a:pt x="98195" y="38033"/>
                  </a:lnTo>
                  <a:lnTo>
                    <a:pt x="136034" y="17500"/>
                  </a:lnTo>
                  <a:lnTo>
                    <a:pt x="177853" y="4524"/>
                  </a:lnTo>
                  <a:lnTo>
                    <a:pt x="222757" y="0"/>
                  </a:lnTo>
                  <a:lnTo>
                    <a:pt x="1301242" y="0"/>
                  </a:lnTo>
                  <a:lnTo>
                    <a:pt x="1346146" y="4524"/>
                  </a:lnTo>
                  <a:lnTo>
                    <a:pt x="1387965" y="17500"/>
                  </a:lnTo>
                  <a:lnTo>
                    <a:pt x="1425804" y="38033"/>
                  </a:lnTo>
                  <a:lnTo>
                    <a:pt x="1458769" y="65230"/>
                  </a:lnTo>
                  <a:lnTo>
                    <a:pt x="1485966" y="98195"/>
                  </a:lnTo>
                  <a:lnTo>
                    <a:pt x="1506499" y="136034"/>
                  </a:lnTo>
                  <a:lnTo>
                    <a:pt x="1519475" y="177853"/>
                  </a:lnTo>
                  <a:lnTo>
                    <a:pt x="1524000" y="222758"/>
                  </a:lnTo>
                  <a:lnTo>
                    <a:pt x="1524000" y="1113790"/>
                  </a:lnTo>
                  <a:lnTo>
                    <a:pt x="1519475" y="1158694"/>
                  </a:lnTo>
                  <a:lnTo>
                    <a:pt x="1506499" y="1200513"/>
                  </a:lnTo>
                  <a:lnTo>
                    <a:pt x="1485966" y="1238352"/>
                  </a:lnTo>
                  <a:lnTo>
                    <a:pt x="1458769" y="1271317"/>
                  </a:lnTo>
                  <a:lnTo>
                    <a:pt x="1425804" y="1298514"/>
                  </a:lnTo>
                  <a:lnTo>
                    <a:pt x="1387965" y="1319047"/>
                  </a:lnTo>
                  <a:lnTo>
                    <a:pt x="1346146" y="1332023"/>
                  </a:lnTo>
                  <a:lnTo>
                    <a:pt x="1301242" y="1336548"/>
                  </a:lnTo>
                  <a:lnTo>
                    <a:pt x="222757" y="1336548"/>
                  </a:lnTo>
                  <a:lnTo>
                    <a:pt x="177853" y="1332023"/>
                  </a:lnTo>
                  <a:lnTo>
                    <a:pt x="136034" y="1319047"/>
                  </a:lnTo>
                  <a:lnTo>
                    <a:pt x="98195" y="1298514"/>
                  </a:lnTo>
                  <a:lnTo>
                    <a:pt x="65230" y="1271317"/>
                  </a:lnTo>
                  <a:lnTo>
                    <a:pt x="38033" y="1238352"/>
                  </a:lnTo>
                  <a:lnTo>
                    <a:pt x="17500" y="1200513"/>
                  </a:lnTo>
                  <a:lnTo>
                    <a:pt x="4524" y="1158694"/>
                  </a:lnTo>
                  <a:lnTo>
                    <a:pt x="0" y="1113790"/>
                  </a:lnTo>
                  <a:lnTo>
                    <a:pt x="0" y="222758"/>
                  </a:lnTo>
                  <a:close/>
                </a:path>
              </a:pathLst>
            </a:custGeom>
            <a:ln w="9144">
              <a:solidFill>
                <a:srgbClr val="00C3FF"/>
              </a:solidFill>
            </a:ln>
          </p:spPr>
          <p:txBody>
            <a:bodyPr wrap="square" lIns="0" tIns="0" rIns="0" bIns="0" rtlCol="0"/>
            <a:lstStyle/>
            <a:p>
              <a:endParaRPr sz="2400"/>
            </a:p>
          </p:txBody>
        </p:sp>
        <p:sp>
          <p:nvSpPr>
            <p:cNvPr id="23" name="object 23"/>
            <p:cNvSpPr/>
            <p:nvPr/>
          </p:nvSpPr>
          <p:spPr>
            <a:xfrm>
              <a:off x="6095733" y="1432267"/>
              <a:ext cx="1254760" cy="1022985"/>
            </a:xfrm>
            <a:custGeom>
              <a:avLst/>
              <a:gdLst/>
              <a:ahLst/>
              <a:cxnLst/>
              <a:rect l="l" t="t" r="r" b="b"/>
              <a:pathLst>
                <a:path w="1254759" h="1022985">
                  <a:moveTo>
                    <a:pt x="347662" y="780288"/>
                  </a:moveTo>
                  <a:lnTo>
                    <a:pt x="0" y="780288"/>
                  </a:lnTo>
                  <a:lnTo>
                    <a:pt x="0" y="806919"/>
                  </a:lnTo>
                  <a:lnTo>
                    <a:pt x="0" y="858913"/>
                  </a:lnTo>
                  <a:lnTo>
                    <a:pt x="0" y="1022515"/>
                  </a:lnTo>
                  <a:lnTo>
                    <a:pt x="347662" y="1022515"/>
                  </a:lnTo>
                  <a:lnTo>
                    <a:pt x="347662" y="997153"/>
                  </a:lnTo>
                  <a:lnTo>
                    <a:pt x="26073" y="997153"/>
                  </a:lnTo>
                  <a:lnTo>
                    <a:pt x="26073" y="945159"/>
                  </a:lnTo>
                  <a:lnTo>
                    <a:pt x="112979" y="945159"/>
                  </a:lnTo>
                  <a:lnTo>
                    <a:pt x="112979" y="997115"/>
                  </a:lnTo>
                  <a:lnTo>
                    <a:pt x="130365" y="997115"/>
                  </a:lnTo>
                  <a:lnTo>
                    <a:pt x="130365" y="945159"/>
                  </a:lnTo>
                  <a:lnTo>
                    <a:pt x="217284" y="945159"/>
                  </a:lnTo>
                  <a:lnTo>
                    <a:pt x="217284" y="997115"/>
                  </a:lnTo>
                  <a:lnTo>
                    <a:pt x="234657" y="997115"/>
                  </a:lnTo>
                  <a:lnTo>
                    <a:pt x="234657" y="945159"/>
                  </a:lnTo>
                  <a:lnTo>
                    <a:pt x="321576" y="945159"/>
                  </a:lnTo>
                  <a:lnTo>
                    <a:pt x="321576" y="997115"/>
                  </a:lnTo>
                  <a:lnTo>
                    <a:pt x="347662" y="997115"/>
                  </a:lnTo>
                  <a:lnTo>
                    <a:pt x="347662" y="875766"/>
                  </a:lnTo>
                  <a:lnTo>
                    <a:pt x="321576" y="875766"/>
                  </a:lnTo>
                  <a:lnTo>
                    <a:pt x="321576" y="927404"/>
                  </a:lnTo>
                  <a:lnTo>
                    <a:pt x="234657" y="927404"/>
                  </a:lnTo>
                  <a:lnTo>
                    <a:pt x="234657" y="875766"/>
                  </a:lnTo>
                  <a:lnTo>
                    <a:pt x="217284" y="875766"/>
                  </a:lnTo>
                  <a:lnTo>
                    <a:pt x="217284" y="927404"/>
                  </a:lnTo>
                  <a:lnTo>
                    <a:pt x="130365" y="927404"/>
                  </a:lnTo>
                  <a:lnTo>
                    <a:pt x="130365" y="875766"/>
                  </a:lnTo>
                  <a:lnTo>
                    <a:pt x="112979" y="875766"/>
                  </a:lnTo>
                  <a:lnTo>
                    <a:pt x="112979" y="927404"/>
                  </a:lnTo>
                  <a:lnTo>
                    <a:pt x="26073" y="927404"/>
                  </a:lnTo>
                  <a:lnTo>
                    <a:pt x="26073" y="875398"/>
                  </a:lnTo>
                  <a:lnTo>
                    <a:pt x="347662" y="875398"/>
                  </a:lnTo>
                  <a:lnTo>
                    <a:pt x="347662" y="858913"/>
                  </a:lnTo>
                  <a:lnTo>
                    <a:pt x="26073" y="858913"/>
                  </a:lnTo>
                  <a:lnTo>
                    <a:pt x="26073" y="806919"/>
                  </a:lnTo>
                  <a:lnTo>
                    <a:pt x="112979" y="806919"/>
                  </a:lnTo>
                  <a:lnTo>
                    <a:pt x="112979" y="858431"/>
                  </a:lnTo>
                  <a:lnTo>
                    <a:pt x="130365" y="858431"/>
                  </a:lnTo>
                  <a:lnTo>
                    <a:pt x="130365" y="806919"/>
                  </a:lnTo>
                  <a:lnTo>
                    <a:pt x="217284" y="806919"/>
                  </a:lnTo>
                  <a:lnTo>
                    <a:pt x="217284" y="858431"/>
                  </a:lnTo>
                  <a:lnTo>
                    <a:pt x="234657" y="858431"/>
                  </a:lnTo>
                  <a:lnTo>
                    <a:pt x="234657" y="806919"/>
                  </a:lnTo>
                  <a:lnTo>
                    <a:pt x="321576" y="806919"/>
                  </a:lnTo>
                  <a:lnTo>
                    <a:pt x="321576" y="858431"/>
                  </a:lnTo>
                  <a:lnTo>
                    <a:pt x="347662" y="858431"/>
                  </a:lnTo>
                  <a:lnTo>
                    <a:pt x="347662" y="806919"/>
                  </a:lnTo>
                  <a:lnTo>
                    <a:pt x="347662" y="806424"/>
                  </a:lnTo>
                  <a:lnTo>
                    <a:pt x="347662" y="780288"/>
                  </a:lnTo>
                  <a:close/>
                </a:path>
                <a:path w="1254759" h="1022985">
                  <a:moveTo>
                    <a:pt x="347662" y="0"/>
                  </a:moveTo>
                  <a:lnTo>
                    <a:pt x="0" y="0"/>
                  </a:lnTo>
                  <a:lnTo>
                    <a:pt x="0" y="26631"/>
                  </a:lnTo>
                  <a:lnTo>
                    <a:pt x="0" y="78625"/>
                  </a:lnTo>
                  <a:lnTo>
                    <a:pt x="0" y="242227"/>
                  </a:lnTo>
                  <a:lnTo>
                    <a:pt x="347662" y="242227"/>
                  </a:lnTo>
                  <a:lnTo>
                    <a:pt x="347662" y="216865"/>
                  </a:lnTo>
                  <a:lnTo>
                    <a:pt x="26073" y="216865"/>
                  </a:lnTo>
                  <a:lnTo>
                    <a:pt x="26073" y="164871"/>
                  </a:lnTo>
                  <a:lnTo>
                    <a:pt x="112979" y="164871"/>
                  </a:lnTo>
                  <a:lnTo>
                    <a:pt x="112979" y="216827"/>
                  </a:lnTo>
                  <a:lnTo>
                    <a:pt x="130365" y="216827"/>
                  </a:lnTo>
                  <a:lnTo>
                    <a:pt x="130365" y="164871"/>
                  </a:lnTo>
                  <a:lnTo>
                    <a:pt x="217284" y="164871"/>
                  </a:lnTo>
                  <a:lnTo>
                    <a:pt x="217284" y="216827"/>
                  </a:lnTo>
                  <a:lnTo>
                    <a:pt x="234657" y="216827"/>
                  </a:lnTo>
                  <a:lnTo>
                    <a:pt x="234657" y="164871"/>
                  </a:lnTo>
                  <a:lnTo>
                    <a:pt x="321576" y="164871"/>
                  </a:lnTo>
                  <a:lnTo>
                    <a:pt x="321576" y="216827"/>
                  </a:lnTo>
                  <a:lnTo>
                    <a:pt x="347662" y="216827"/>
                  </a:lnTo>
                  <a:lnTo>
                    <a:pt x="347662" y="95478"/>
                  </a:lnTo>
                  <a:lnTo>
                    <a:pt x="321576" y="95478"/>
                  </a:lnTo>
                  <a:lnTo>
                    <a:pt x="321576" y="147116"/>
                  </a:lnTo>
                  <a:lnTo>
                    <a:pt x="234657" y="147116"/>
                  </a:lnTo>
                  <a:lnTo>
                    <a:pt x="234657" y="95478"/>
                  </a:lnTo>
                  <a:lnTo>
                    <a:pt x="217284" y="95478"/>
                  </a:lnTo>
                  <a:lnTo>
                    <a:pt x="217284" y="147116"/>
                  </a:lnTo>
                  <a:lnTo>
                    <a:pt x="130365" y="147116"/>
                  </a:lnTo>
                  <a:lnTo>
                    <a:pt x="130365" y="95478"/>
                  </a:lnTo>
                  <a:lnTo>
                    <a:pt x="112979" y="95478"/>
                  </a:lnTo>
                  <a:lnTo>
                    <a:pt x="112979" y="147116"/>
                  </a:lnTo>
                  <a:lnTo>
                    <a:pt x="26073" y="147116"/>
                  </a:lnTo>
                  <a:lnTo>
                    <a:pt x="26073" y="95110"/>
                  </a:lnTo>
                  <a:lnTo>
                    <a:pt x="347662" y="95110"/>
                  </a:lnTo>
                  <a:lnTo>
                    <a:pt x="347662" y="78625"/>
                  </a:lnTo>
                  <a:lnTo>
                    <a:pt x="26073" y="78625"/>
                  </a:lnTo>
                  <a:lnTo>
                    <a:pt x="26073" y="26631"/>
                  </a:lnTo>
                  <a:lnTo>
                    <a:pt x="112979" y="26631"/>
                  </a:lnTo>
                  <a:lnTo>
                    <a:pt x="112979" y="78143"/>
                  </a:lnTo>
                  <a:lnTo>
                    <a:pt x="130365" y="78143"/>
                  </a:lnTo>
                  <a:lnTo>
                    <a:pt x="130365" y="26631"/>
                  </a:lnTo>
                  <a:lnTo>
                    <a:pt x="217284" y="26631"/>
                  </a:lnTo>
                  <a:lnTo>
                    <a:pt x="217284" y="78143"/>
                  </a:lnTo>
                  <a:lnTo>
                    <a:pt x="234657" y="78143"/>
                  </a:lnTo>
                  <a:lnTo>
                    <a:pt x="234657" y="26631"/>
                  </a:lnTo>
                  <a:lnTo>
                    <a:pt x="321576" y="26631"/>
                  </a:lnTo>
                  <a:lnTo>
                    <a:pt x="321576" y="78143"/>
                  </a:lnTo>
                  <a:lnTo>
                    <a:pt x="347662" y="78143"/>
                  </a:lnTo>
                  <a:lnTo>
                    <a:pt x="347662" y="26631"/>
                  </a:lnTo>
                  <a:lnTo>
                    <a:pt x="347662" y="26136"/>
                  </a:lnTo>
                  <a:lnTo>
                    <a:pt x="347662" y="0"/>
                  </a:lnTo>
                  <a:close/>
                </a:path>
                <a:path w="1254759" h="1022985">
                  <a:moveTo>
                    <a:pt x="551903" y="358368"/>
                  </a:moveTo>
                  <a:lnTo>
                    <a:pt x="534581" y="358368"/>
                  </a:lnTo>
                  <a:lnTo>
                    <a:pt x="534581" y="410375"/>
                  </a:lnTo>
                  <a:lnTo>
                    <a:pt x="551903" y="410375"/>
                  </a:lnTo>
                  <a:lnTo>
                    <a:pt x="551903" y="358368"/>
                  </a:lnTo>
                  <a:close/>
                </a:path>
                <a:path w="1254759" h="1022985">
                  <a:moveTo>
                    <a:pt x="655828" y="358368"/>
                  </a:moveTo>
                  <a:lnTo>
                    <a:pt x="638505" y="358368"/>
                  </a:lnTo>
                  <a:lnTo>
                    <a:pt x="638505" y="410375"/>
                  </a:lnTo>
                  <a:lnTo>
                    <a:pt x="655828" y="410375"/>
                  </a:lnTo>
                  <a:lnTo>
                    <a:pt x="655828" y="358368"/>
                  </a:lnTo>
                  <a:close/>
                </a:path>
                <a:path w="1254759" h="1022985">
                  <a:moveTo>
                    <a:pt x="768413" y="358368"/>
                  </a:moveTo>
                  <a:lnTo>
                    <a:pt x="742429" y="358368"/>
                  </a:lnTo>
                  <a:lnTo>
                    <a:pt x="742429" y="410375"/>
                  </a:lnTo>
                  <a:lnTo>
                    <a:pt x="768413" y="410375"/>
                  </a:lnTo>
                  <a:lnTo>
                    <a:pt x="768413" y="358368"/>
                  </a:lnTo>
                  <a:close/>
                </a:path>
                <a:path w="1254759" h="1022985">
                  <a:moveTo>
                    <a:pt x="768413" y="332892"/>
                  </a:moveTo>
                  <a:lnTo>
                    <a:pt x="422008" y="332892"/>
                  </a:lnTo>
                  <a:lnTo>
                    <a:pt x="422008" y="358305"/>
                  </a:lnTo>
                  <a:lnTo>
                    <a:pt x="422008" y="410400"/>
                  </a:lnTo>
                  <a:lnTo>
                    <a:pt x="422008" y="727976"/>
                  </a:lnTo>
                  <a:lnTo>
                    <a:pt x="768413" y="727976"/>
                  </a:lnTo>
                  <a:lnTo>
                    <a:pt x="768413" y="701294"/>
                  </a:lnTo>
                  <a:lnTo>
                    <a:pt x="447992" y="701294"/>
                  </a:lnTo>
                  <a:lnTo>
                    <a:pt x="447992" y="649198"/>
                  </a:lnTo>
                  <a:lnTo>
                    <a:pt x="768413" y="649198"/>
                  </a:lnTo>
                  <a:lnTo>
                    <a:pt x="768413" y="632675"/>
                  </a:lnTo>
                  <a:lnTo>
                    <a:pt x="447992" y="632675"/>
                  </a:lnTo>
                  <a:lnTo>
                    <a:pt x="447992" y="580593"/>
                  </a:lnTo>
                  <a:lnTo>
                    <a:pt x="768413" y="580593"/>
                  </a:lnTo>
                  <a:lnTo>
                    <a:pt x="768413" y="575576"/>
                  </a:lnTo>
                  <a:lnTo>
                    <a:pt x="768413" y="562800"/>
                  </a:lnTo>
                  <a:lnTo>
                    <a:pt x="768413" y="480275"/>
                  </a:lnTo>
                  <a:lnTo>
                    <a:pt x="742429" y="480275"/>
                  </a:lnTo>
                  <a:lnTo>
                    <a:pt x="742429" y="510705"/>
                  </a:lnTo>
                  <a:lnTo>
                    <a:pt x="742429" y="548894"/>
                  </a:lnTo>
                  <a:lnTo>
                    <a:pt x="655828" y="548894"/>
                  </a:lnTo>
                  <a:lnTo>
                    <a:pt x="655828" y="510705"/>
                  </a:lnTo>
                  <a:lnTo>
                    <a:pt x="742429" y="510705"/>
                  </a:lnTo>
                  <a:lnTo>
                    <a:pt x="742429" y="480275"/>
                  </a:lnTo>
                  <a:lnTo>
                    <a:pt x="638505" y="480275"/>
                  </a:lnTo>
                  <a:lnTo>
                    <a:pt x="638505" y="510705"/>
                  </a:lnTo>
                  <a:lnTo>
                    <a:pt x="638505" y="548894"/>
                  </a:lnTo>
                  <a:lnTo>
                    <a:pt x="551903" y="548894"/>
                  </a:lnTo>
                  <a:lnTo>
                    <a:pt x="551903" y="510705"/>
                  </a:lnTo>
                  <a:lnTo>
                    <a:pt x="638505" y="510705"/>
                  </a:lnTo>
                  <a:lnTo>
                    <a:pt x="638505" y="480275"/>
                  </a:lnTo>
                  <a:lnTo>
                    <a:pt x="534581" y="480275"/>
                  </a:lnTo>
                  <a:lnTo>
                    <a:pt x="534581" y="510705"/>
                  </a:lnTo>
                  <a:lnTo>
                    <a:pt x="534581" y="548894"/>
                  </a:lnTo>
                  <a:lnTo>
                    <a:pt x="447992" y="548894"/>
                  </a:lnTo>
                  <a:lnTo>
                    <a:pt x="447992" y="510705"/>
                  </a:lnTo>
                  <a:lnTo>
                    <a:pt x="534581" y="510705"/>
                  </a:lnTo>
                  <a:lnTo>
                    <a:pt x="534581" y="480275"/>
                  </a:lnTo>
                  <a:lnTo>
                    <a:pt x="447992" y="480275"/>
                  </a:lnTo>
                  <a:lnTo>
                    <a:pt x="447992" y="428193"/>
                  </a:lnTo>
                  <a:lnTo>
                    <a:pt x="534581" y="428193"/>
                  </a:lnTo>
                  <a:lnTo>
                    <a:pt x="534581" y="479717"/>
                  </a:lnTo>
                  <a:lnTo>
                    <a:pt x="551903" y="479717"/>
                  </a:lnTo>
                  <a:lnTo>
                    <a:pt x="551903" y="428193"/>
                  </a:lnTo>
                  <a:lnTo>
                    <a:pt x="638505" y="428193"/>
                  </a:lnTo>
                  <a:lnTo>
                    <a:pt x="638505" y="479717"/>
                  </a:lnTo>
                  <a:lnTo>
                    <a:pt x="655828" y="479717"/>
                  </a:lnTo>
                  <a:lnTo>
                    <a:pt x="655828" y="428193"/>
                  </a:lnTo>
                  <a:lnTo>
                    <a:pt x="742429" y="428193"/>
                  </a:lnTo>
                  <a:lnTo>
                    <a:pt x="742429" y="479717"/>
                  </a:lnTo>
                  <a:lnTo>
                    <a:pt x="768413" y="479717"/>
                  </a:lnTo>
                  <a:lnTo>
                    <a:pt x="768413" y="428193"/>
                  </a:lnTo>
                  <a:lnTo>
                    <a:pt x="768413" y="427710"/>
                  </a:lnTo>
                  <a:lnTo>
                    <a:pt x="768413" y="410400"/>
                  </a:lnTo>
                  <a:lnTo>
                    <a:pt x="447992" y="410400"/>
                  </a:lnTo>
                  <a:lnTo>
                    <a:pt x="447992" y="358305"/>
                  </a:lnTo>
                  <a:lnTo>
                    <a:pt x="768413" y="358305"/>
                  </a:lnTo>
                  <a:lnTo>
                    <a:pt x="768413" y="332892"/>
                  </a:lnTo>
                  <a:close/>
                </a:path>
                <a:path w="1254759" h="1022985">
                  <a:moveTo>
                    <a:pt x="1254442" y="153924"/>
                  </a:moveTo>
                  <a:lnTo>
                    <a:pt x="906780" y="153924"/>
                  </a:lnTo>
                  <a:lnTo>
                    <a:pt x="906780" y="180555"/>
                  </a:lnTo>
                  <a:lnTo>
                    <a:pt x="906780" y="232549"/>
                  </a:lnTo>
                  <a:lnTo>
                    <a:pt x="906780" y="396151"/>
                  </a:lnTo>
                  <a:lnTo>
                    <a:pt x="1254442" y="396151"/>
                  </a:lnTo>
                  <a:lnTo>
                    <a:pt x="1254442" y="370789"/>
                  </a:lnTo>
                  <a:lnTo>
                    <a:pt x="932853" y="370789"/>
                  </a:lnTo>
                  <a:lnTo>
                    <a:pt x="932853" y="318795"/>
                  </a:lnTo>
                  <a:lnTo>
                    <a:pt x="1019759" y="318795"/>
                  </a:lnTo>
                  <a:lnTo>
                    <a:pt x="1019759" y="370751"/>
                  </a:lnTo>
                  <a:lnTo>
                    <a:pt x="1037145" y="370751"/>
                  </a:lnTo>
                  <a:lnTo>
                    <a:pt x="1037145" y="318795"/>
                  </a:lnTo>
                  <a:lnTo>
                    <a:pt x="1124064" y="318795"/>
                  </a:lnTo>
                  <a:lnTo>
                    <a:pt x="1124064" y="370751"/>
                  </a:lnTo>
                  <a:lnTo>
                    <a:pt x="1141450" y="370751"/>
                  </a:lnTo>
                  <a:lnTo>
                    <a:pt x="1141450" y="318795"/>
                  </a:lnTo>
                  <a:lnTo>
                    <a:pt x="1228356" y="318795"/>
                  </a:lnTo>
                  <a:lnTo>
                    <a:pt x="1228356" y="370751"/>
                  </a:lnTo>
                  <a:lnTo>
                    <a:pt x="1254442" y="370751"/>
                  </a:lnTo>
                  <a:lnTo>
                    <a:pt x="1254442" y="249402"/>
                  </a:lnTo>
                  <a:lnTo>
                    <a:pt x="1228356" y="249402"/>
                  </a:lnTo>
                  <a:lnTo>
                    <a:pt x="1228356" y="301040"/>
                  </a:lnTo>
                  <a:lnTo>
                    <a:pt x="1141450" y="301040"/>
                  </a:lnTo>
                  <a:lnTo>
                    <a:pt x="1141450" y="249402"/>
                  </a:lnTo>
                  <a:lnTo>
                    <a:pt x="1124064" y="249402"/>
                  </a:lnTo>
                  <a:lnTo>
                    <a:pt x="1124064" y="301040"/>
                  </a:lnTo>
                  <a:lnTo>
                    <a:pt x="1037145" y="301040"/>
                  </a:lnTo>
                  <a:lnTo>
                    <a:pt x="1037145" y="249402"/>
                  </a:lnTo>
                  <a:lnTo>
                    <a:pt x="1019759" y="249402"/>
                  </a:lnTo>
                  <a:lnTo>
                    <a:pt x="1019759" y="301040"/>
                  </a:lnTo>
                  <a:lnTo>
                    <a:pt x="932853" y="301040"/>
                  </a:lnTo>
                  <a:lnTo>
                    <a:pt x="932853" y="249034"/>
                  </a:lnTo>
                  <a:lnTo>
                    <a:pt x="1254442" y="249034"/>
                  </a:lnTo>
                  <a:lnTo>
                    <a:pt x="1254442" y="232549"/>
                  </a:lnTo>
                  <a:lnTo>
                    <a:pt x="932853" y="232549"/>
                  </a:lnTo>
                  <a:lnTo>
                    <a:pt x="932853" y="180555"/>
                  </a:lnTo>
                  <a:lnTo>
                    <a:pt x="1019759" y="180555"/>
                  </a:lnTo>
                  <a:lnTo>
                    <a:pt x="1019759" y="232067"/>
                  </a:lnTo>
                  <a:lnTo>
                    <a:pt x="1037145" y="232067"/>
                  </a:lnTo>
                  <a:lnTo>
                    <a:pt x="1037145" y="180555"/>
                  </a:lnTo>
                  <a:lnTo>
                    <a:pt x="1124064" y="180555"/>
                  </a:lnTo>
                  <a:lnTo>
                    <a:pt x="1124064" y="232067"/>
                  </a:lnTo>
                  <a:lnTo>
                    <a:pt x="1141450" y="232067"/>
                  </a:lnTo>
                  <a:lnTo>
                    <a:pt x="1141450" y="180555"/>
                  </a:lnTo>
                  <a:lnTo>
                    <a:pt x="1228356" y="180555"/>
                  </a:lnTo>
                  <a:lnTo>
                    <a:pt x="1228356" y="232067"/>
                  </a:lnTo>
                  <a:lnTo>
                    <a:pt x="1254442" y="232067"/>
                  </a:lnTo>
                  <a:lnTo>
                    <a:pt x="1254442" y="180555"/>
                  </a:lnTo>
                  <a:lnTo>
                    <a:pt x="1254442" y="180060"/>
                  </a:lnTo>
                  <a:lnTo>
                    <a:pt x="1254442" y="153924"/>
                  </a:lnTo>
                  <a:close/>
                </a:path>
              </a:pathLst>
            </a:custGeom>
            <a:solidFill>
              <a:srgbClr val="BCBCBC"/>
            </a:solidFill>
          </p:spPr>
          <p:txBody>
            <a:bodyPr wrap="square" lIns="0" tIns="0" rIns="0" bIns="0" rtlCol="0"/>
            <a:lstStyle/>
            <a:p>
              <a:endParaRPr sz="2400"/>
            </a:p>
          </p:txBody>
        </p:sp>
        <p:sp>
          <p:nvSpPr>
            <p:cNvPr id="24" name="object 24"/>
            <p:cNvSpPr/>
            <p:nvPr/>
          </p:nvSpPr>
          <p:spPr>
            <a:xfrm>
              <a:off x="6517741" y="1917560"/>
              <a:ext cx="346710" cy="216535"/>
            </a:xfrm>
            <a:custGeom>
              <a:avLst/>
              <a:gdLst/>
              <a:ahLst/>
              <a:cxnLst/>
              <a:rect l="l" t="t" r="r" b="b"/>
              <a:pathLst>
                <a:path w="346709" h="216535">
                  <a:moveTo>
                    <a:pt x="129895" y="164160"/>
                  </a:moveTo>
                  <a:lnTo>
                    <a:pt x="112572" y="164160"/>
                  </a:lnTo>
                  <a:lnTo>
                    <a:pt x="112572" y="216166"/>
                  </a:lnTo>
                  <a:lnTo>
                    <a:pt x="129895" y="216166"/>
                  </a:lnTo>
                  <a:lnTo>
                    <a:pt x="129895" y="164160"/>
                  </a:lnTo>
                  <a:close/>
                </a:path>
                <a:path w="346709" h="216535">
                  <a:moveTo>
                    <a:pt x="129895" y="94818"/>
                  </a:moveTo>
                  <a:lnTo>
                    <a:pt x="112572" y="94818"/>
                  </a:lnTo>
                  <a:lnTo>
                    <a:pt x="112572" y="146824"/>
                  </a:lnTo>
                  <a:lnTo>
                    <a:pt x="129895" y="146824"/>
                  </a:lnTo>
                  <a:lnTo>
                    <a:pt x="129895" y="94818"/>
                  </a:lnTo>
                  <a:close/>
                </a:path>
                <a:path w="346709" h="216535">
                  <a:moveTo>
                    <a:pt x="129895" y="25476"/>
                  </a:moveTo>
                  <a:lnTo>
                    <a:pt x="112572" y="25476"/>
                  </a:lnTo>
                  <a:lnTo>
                    <a:pt x="112572" y="77482"/>
                  </a:lnTo>
                  <a:lnTo>
                    <a:pt x="129895" y="77482"/>
                  </a:lnTo>
                  <a:lnTo>
                    <a:pt x="129895" y="25476"/>
                  </a:lnTo>
                  <a:close/>
                </a:path>
                <a:path w="346709" h="216535">
                  <a:moveTo>
                    <a:pt x="233819" y="164160"/>
                  </a:moveTo>
                  <a:lnTo>
                    <a:pt x="216496" y="164160"/>
                  </a:lnTo>
                  <a:lnTo>
                    <a:pt x="216496" y="216166"/>
                  </a:lnTo>
                  <a:lnTo>
                    <a:pt x="233819" y="216166"/>
                  </a:lnTo>
                  <a:lnTo>
                    <a:pt x="233819" y="164160"/>
                  </a:lnTo>
                  <a:close/>
                </a:path>
                <a:path w="346709" h="216535">
                  <a:moveTo>
                    <a:pt x="233819" y="94818"/>
                  </a:moveTo>
                  <a:lnTo>
                    <a:pt x="216496" y="94818"/>
                  </a:lnTo>
                  <a:lnTo>
                    <a:pt x="216496" y="146824"/>
                  </a:lnTo>
                  <a:lnTo>
                    <a:pt x="233819" y="146824"/>
                  </a:lnTo>
                  <a:lnTo>
                    <a:pt x="233819" y="94818"/>
                  </a:lnTo>
                  <a:close/>
                </a:path>
                <a:path w="346709" h="216535">
                  <a:moveTo>
                    <a:pt x="233819" y="25476"/>
                  </a:moveTo>
                  <a:lnTo>
                    <a:pt x="216496" y="25476"/>
                  </a:lnTo>
                  <a:lnTo>
                    <a:pt x="216496" y="77482"/>
                  </a:lnTo>
                  <a:lnTo>
                    <a:pt x="233819" y="77482"/>
                  </a:lnTo>
                  <a:lnTo>
                    <a:pt x="233819" y="25476"/>
                  </a:lnTo>
                  <a:close/>
                </a:path>
                <a:path w="346709" h="216535">
                  <a:moveTo>
                    <a:pt x="346405" y="164160"/>
                  </a:moveTo>
                  <a:lnTo>
                    <a:pt x="320421" y="164160"/>
                  </a:lnTo>
                  <a:lnTo>
                    <a:pt x="320421" y="216166"/>
                  </a:lnTo>
                  <a:lnTo>
                    <a:pt x="346405" y="216166"/>
                  </a:lnTo>
                  <a:lnTo>
                    <a:pt x="346405" y="164160"/>
                  </a:lnTo>
                  <a:close/>
                </a:path>
                <a:path w="346709" h="216535">
                  <a:moveTo>
                    <a:pt x="346405" y="94818"/>
                  </a:moveTo>
                  <a:lnTo>
                    <a:pt x="320421" y="94818"/>
                  </a:lnTo>
                  <a:lnTo>
                    <a:pt x="320421" y="146824"/>
                  </a:lnTo>
                  <a:lnTo>
                    <a:pt x="346405" y="146824"/>
                  </a:lnTo>
                  <a:lnTo>
                    <a:pt x="346405" y="94818"/>
                  </a:lnTo>
                  <a:close/>
                </a:path>
                <a:path w="346709" h="216535">
                  <a:moveTo>
                    <a:pt x="346405" y="25476"/>
                  </a:moveTo>
                  <a:lnTo>
                    <a:pt x="320421" y="25476"/>
                  </a:lnTo>
                  <a:lnTo>
                    <a:pt x="320421" y="77482"/>
                  </a:lnTo>
                  <a:lnTo>
                    <a:pt x="346405" y="77482"/>
                  </a:lnTo>
                  <a:lnTo>
                    <a:pt x="346405" y="25476"/>
                  </a:lnTo>
                  <a:close/>
                </a:path>
                <a:path w="346709" h="216535">
                  <a:moveTo>
                    <a:pt x="346405" y="0"/>
                  </a:moveTo>
                  <a:lnTo>
                    <a:pt x="0" y="0"/>
                  </a:lnTo>
                  <a:lnTo>
                    <a:pt x="0" y="25412"/>
                  </a:lnTo>
                  <a:lnTo>
                    <a:pt x="346405" y="25412"/>
                  </a:lnTo>
                  <a:lnTo>
                    <a:pt x="346405" y="0"/>
                  </a:lnTo>
                  <a:close/>
                </a:path>
              </a:pathLst>
            </a:custGeom>
            <a:solidFill>
              <a:srgbClr val="BCBCBC"/>
            </a:solidFill>
          </p:spPr>
          <p:txBody>
            <a:bodyPr wrap="square" lIns="0" tIns="0" rIns="0" bIns="0" rtlCol="0"/>
            <a:lstStyle/>
            <a:p>
              <a:endParaRPr sz="2400"/>
            </a:p>
          </p:txBody>
        </p:sp>
        <p:sp>
          <p:nvSpPr>
            <p:cNvPr id="25" name="object 25"/>
            <p:cNvSpPr/>
            <p:nvPr/>
          </p:nvSpPr>
          <p:spPr>
            <a:xfrm>
              <a:off x="6249161" y="1657350"/>
              <a:ext cx="838835" cy="515620"/>
            </a:xfrm>
            <a:custGeom>
              <a:avLst/>
              <a:gdLst/>
              <a:ahLst/>
              <a:cxnLst/>
              <a:rect l="l" t="t" r="r" b="b"/>
              <a:pathLst>
                <a:path w="838834" h="515619">
                  <a:moveTo>
                    <a:pt x="230886" y="107569"/>
                  </a:moveTo>
                  <a:lnTo>
                    <a:pt x="0" y="0"/>
                  </a:lnTo>
                </a:path>
                <a:path w="838834" h="515619">
                  <a:moveTo>
                    <a:pt x="838327" y="188975"/>
                  </a:moveTo>
                  <a:lnTo>
                    <a:pt x="652271" y="381126"/>
                  </a:lnTo>
                </a:path>
                <a:path w="838834" h="515619">
                  <a:moveTo>
                    <a:pt x="236347" y="323088"/>
                  </a:moveTo>
                  <a:lnTo>
                    <a:pt x="50291" y="515238"/>
                  </a:lnTo>
                </a:path>
              </a:pathLst>
            </a:custGeom>
            <a:ln w="38100">
              <a:solidFill>
                <a:srgbClr val="00C2FF"/>
              </a:solidFill>
            </a:ln>
          </p:spPr>
          <p:txBody>
            <a:bodyPr wrap="square" lIns="0" tIns="0" rIns="0" bIns="0" rtlCol="0"/>
            <a:lstStyle/>
            <a:p>
              <a:endParaRPr sz="2400"/>
            </a:p>
          </p:txBody>
        </p:sp>
        <p:sp>
          <p:nvSpPr>
            <p:cNvPr id="26" name="object 26"/>
            <p:cNvSpPr/>
            <p:nvPr/>
          </p:nvSpPr>
          <p:spPr>
            <a:xfrm>
              <a:off x="5934455" y="2987040"/>
              <a:ext cx="1524000" cy="1080770"/>
            </a:xfrm>
            <a:custGeom>
              <a:avLst/>
              <a:gdLst/>
              <a:ahLst/>
              <a:cxnLst/>
              <a:rect l="l" t="t" r="r" b="b"/>
              <a:pathLst>
                <a:path w="1524000" h="1080770">
                  <a:moveTo>
                    <a:pt x="0" y="180086"/>
                  </a:moveTo>
                  <a:lnTo>
                    <a:pt x="6434" y="132218"/>
                  </a:lnTo>
                  <a:lnTo>
                    <a:pt x="24590" y="89201"/>
                  </a:lnTo>
                  <a:lnTo>
                    <a:pt x="52752" y="52752"/>
                  </a:lnTo>
                  <a:lnTo>
                    <a:pt x="89201" y="24590"/>
                  </a:lnTo>
                  <a:lnTo>
                    <a:pt x="132218" y="6434"/>
                  </a:lnTo>
                  <a:lnTo>
                    <a:pt x="180086" y="0"/>
                  </a:lnTo>
                  <a:lnTo>
                    <a:pt x="1343914" y="0"/>
                  </a:lnTo>
                  <a:lnTo>
                    <a:pt x="1391781" y="6434"/>
                  </a:lnTo>
                  <a:lnTo>
                    <a:pt x="1434798" y="24590"/>
                  </a:lnTo>
                  <a:lnTo>
                    <a:pt x="1471247" y="52752"/>
                  </a:lnTo>
                  <a:lnTo>
                    <a:pt x="1499409" y="89201"/>
                  </a:lnTo>
                  <a:lnTo>
                    <a:pt x="1517565" y="132218"/>
                  </a:lnTo>
                  <a:lnTo>
                    <a:pt x="1524000" y="180086"/>
                  </a:lnTo>
                  <a:lnTo>
                    <a:pt x="1524000" y="900430"/>
                  </a:lnTo>
                  <a:lnTo>
                    <a:pt x="1517565" y="948302"/>
                  </a:lnTo>
                  <a:lnTo>
                    <a:pt x="1499409" y="991320"/>
                  </a:lnTo>
                  <a:lnTo>
                    <a:pt x="1471247" y="1027768"/>
                  </a:lnTo>
                  <a:lnTo>
                    <a:pt x="1434798" y="1055927"/>
                  </a:lnTo>
                  <a:lnTo>
                    <a:pt x="1391781" y="1074082"/>
                  </a:lnTo>
                  <a:lnTo>
                    <a:pt x="1343914" y="1080516"/>
                  </a:lnTo>
                  <a:lnTo>
                    <a:pt x="180086" y="1080516"/>
                  </a:lnTo>
                  <a:lnTo>
                    <a:pt x="132218" y="1074082"/>
                  </a:lnTo>
                  <a:lnTo>
                    <a:pt x="89201" y="1055927"/>
                  </a:lnTo>
                  <a:lnTo>
                    <a:pt x="52752" y="1027768"/>
                  </a:lnTo>
                  <a:lnTo>
                    <a:pt x="24590" y="991320"/>
                  </a:lnTo>
                  <a:lnTo>
                    <a:pt x="6434" y="948302"/>
                  </a:lnTo>
                  <a:lnTo>
                    <a:pt x="0" y="900430"/>
                  </a:lnTo>
                  <a:lnTo>
                    <a:pt x="0" y="180086"/>
                  </a:lnTo>
                  <a:close/>
                </a:path>
              </a:pathLst>
            </a:custGeom>
            <a:ln w="9143">
              <a:solidFill>
                <a:srgbClr val="00C3FF"/>
              </a:solidFill>
            </a:ln>
          </p:spPr>
          <p:txBody>
            <a:bodyPr wrap="square" lIns="0" tIns="0" rIns="0" bIns="0" rtlCol="0"/>
            <a:lstStyle/>
            <a:p>
              <a:endParaRPr sz="2400"/>
            </a:p>
          </p:txBody>
        </p:sp>
        <p:sp>
          <p:nvSpPr>
            <p:cNvPr id="27" name="object 27"/>
            <p:cNvSpPr/>
            <p:nvPr/>
          </p:nvSpPr>
          <p:spPr>
            <a:xfrm>
              <a:off x="6118593" y="3170542"/>
              <a:ext cx="1254760" cy="727075"/>
            </a:xfrm>
            <a:custGeom>
              <a:avLst/>
              <a:gdLst/>
              <a:ahLst/>
              <a:cxnLst/>
              <a:rect l="l" t="t" r="r" b="b"/>
              <a:pathLst>
                <a:path w="1254759" h="727075">
                  <a:moveTo>
                    <a:pt x="347662" y="0"/>
                  </a:moveTo>
                  <a:lnTo>
                    <a:pt x="0" y="0"/>
                  </a:lnTo>
                  <a:lnTo>
                    <a:pt x="0" y="25412"/>
                  </a:lnTo>
                  <a:lnTo>
                    <a:pt x="0" y="77508"/>
                  </a:lnTo>
                  <a:lnTo>
                    <a:pt x="0" y="242671"/>
                  </a:lnTo>
                  <a:lnTo>
                    <a:pt x="347662" y="242684"/>
                  </a:lnTo>
                  <a:lnTo>
                    <a:pt x="347662" y="217271"/>
                  </a:lnTo>
                  <a:lnTo>
                    <a:pt x="26073" y="217271"/>
                  </a:lnTo>
                  <a:lnTo>
                    <a:pt x="26073" y="165176"/>
                  </a:lnTo>
                  <a:lnTo>
                    <a:pt x="112979" y="165176"/>
                  </a:lnTo>
                  <a:lnTo>
                    <a:pt x="112979" y="217017"/>
                  </a:lnTo>
                  <a:lnTo>
                    <a:pt x="130365" y="217017"/>
                  </a:lnTo>
                  <a:lnTo>
                    <a:pt x="130365" y="165176"/>
                  </a:lnTo>
                  <a:lnTo>
                    <a:pt x="217284" y="165176"/>
                  </a:lnTo>
                  <a:lnTo>
                    <a:pt x="217284" y="217017"/>
                  </a:lnTo>
                  <a:lnTo>
                    <a:pt x="234657" y="217017"/>
                  </a:lnTo>
                  <a:lnTo>
                    <a:pt x="234657" y="165176"/>
                  </a:lnTo>
                  <a:lnTo>
                    <a:pt x="321576" y="165176"/>
                  </a:lnTo>
                  <a:lnTo>
                    <a:pt x="321576" y="217017"/>
                  </a:lnTo>
                  <a:lnTo>
                    <a:pt x="347662" y="217017"/>
                  </a:lnTo>
                  <a:lnTo>
                    <a:pt x="347662" y="25641"/>
                  </a:lnTo>
                  <a:lnTo>
                    <a:pt x="321576" y="25641"/>
                  </a:lnTo>
                  <a:lnTo>
                    <a:pt x="321576" y="77508"/>
                  </a:lnTo>
                  <a:lnTo>
                    <a:pt x="321576" y="95300"/>
                  </a:lnTo>
                  <a:lnTo>
                    <a:pt x="321576" y="147383"/>
                  </a:lnTo>
                  <a:lnTo>
                    <a:pt x="234657" y="147383"/>
                  </a:lnTo>
                  <a:lnTo>
                    <a:pt x="234657" y="95300"/>
                  </a:lnTo>
                  <a:lnTo>
                    <a:pt x="321576" y="95300"/>
                  </a:lnTo>
                  <a:lnTo>
                    <a:pt x="321576" y="77508"/>
                  </a:lnTo>
                  <a:lnTo>
                    <a:pt x="234657" y="77508"/>
                  </a:lnTo>
                  <a:lnTo>
                    <a:pt x="234657" y="25641"/>
                  </a:lnTo>
                  <a:lnTo>
                    <a:pt x="217284" y="25641"/>
                  </a:lnTo>
                  <a:lnTo>
                    <a:pt x="217284" y="77508"/>
                  </a:lnTo>
                  <a:lnTo>
                    <a:pt x="217284" y="95300"/>
                  </a:lnTo>
                  <a:lnTo>
                    <a:pt x="217284" y="147383"/>
                  </a:lnTo>
                  <a:lnTo>
                    <a:pt x="130365" y="147383"/>
                  </a:lnTo>
                  <a:lnTo>
                    <a:pt x="130365" y="95300"/>
                  </a:lnTo>
                  <a:lnTo>
                    <a:pt x="217284" y="95300"/>
                  </a:lnTo>
                  <a:lnTo>
                    <a:pt x="217284" y="77508"/>
                  </a:lnTo>
                  <a:lnTo>
                    <a:pt x="130365" y="77508"/>
                  </a:lnTo>
                  <a:lnTo>
                    <a:pt x="130365" y="25641"/>
                  </a:lnTo>
                  <a:lnTo>
                    <a:pt x="112979" y="25641"/>
                  </a:lnTo>
                  <a:lnTo>
                    <a:pt x="112979" y="77508"/>
                  </a:lnTo>
                  <a:lnTo>
                    <a:pt x="112979" y="95300"/>
                  </a:lnTo>
                  <a:lnTo>
                    <a:pt x="112979" y="147383"/>
                  </a:lnTo>
                  <a:lnTo>
                    <a:pt x="26073" y="147383"/>
                  </a:lnTo>
                  <a:lnTo>
                    <a:pt x="26073" y="95300"/>
                  </a:lnTo>
                  <a:lnTo>
                    <a:pt x="112979" y="95300"/>
                  </a:lnTo>
                  <a:lnTo>
                    <a:pt x="112979" y="77508"/>
                  </a:lnTo>
                  <a:lnTo>
                    <a:pt x="26073" y="77508"/>
                  </a:lnTo>
                  <a:lnTo>
                    <a:pt x="26073" y="25412"/>
                  </a:lnTo>
                  <a:lnTo>
                    <a:pt x="347662" y="25412"/>
                  </a:lnTo>
                  <a:lnTo>
                    <a:pt x="347662" y="0"/>
                  </a:lnTo>
                  <a:close/>
                </a:path>
                <a:path w="1254759" h="727075">
                  <a:moveTo>
                    <a:pt x="551903" y="357454"/>
                  </a:moveTo>
                  <a:lnTo>
                    <a:pt x="534581" y="357454"/>
                  </a:lnTo>
                  <a:lnTo>
                    <a:pt x="534581" y="409460"/>
                  </a:lnTo>
                  <a:lnTo>
                    <a:pt x="551903" y="409460"/>
                  </a:lnTo>
                  <a:lnTo>
                    <a:pt x="551903" y="357454"/>
                  </a:lnTo>
                  <a:close/>
                </a:path>
                <a:path w="1254759" h="727075">
                  <a:moveTo>
                    <a:pt x="655828" y="357454"/>
                  </a:moveTo>
                  <a:lnTo>
                    <a:pt x="638505" y="357454"/>
                  </a:lnTo>
                  <a:lnTo>
                    <a:pt x="638505" y="409460"/>
                  </a:lnTo>
                  <a:lnTo>
                    <a:pt x="655828" y="409460"/>
                  </a:lnTo>
                  <a:lnTo>
                    <a:pt x="655828" y="357454"/>
                  </a:lnTo>
                  <a:close/>
                </a:path>
                <a:path w="1254759" h="727075">
                  <a:moveTo>
                    <a:pt x="768413" y="357454"/>
                  </a:moveTo>
                  <a:lnTo>
                    <a:pt x="742429" y="357454"/>
                  </a:lnTo>
                  <a:lnTo>
                    <a:pt x="742429" y="409460"/>
                  </a:lnTo>
                  <a:lnTo>
                    <a:pt x="768413" y="409460"/>
                  </a:lnTo>
                  <a:lnTo>
                    <a:pt x="768413" y="357454"/>
                  </a:lnTo>
                  <a:close/>
                </a:path>
                <a:path w="1254759" h="727075">
                  <a:moveTo>
                    <a:pt x="768413" y="331978"/>
                  </a:moveTo>
                  <a:lnTo>
                    <a:pt x="422008" y="331978"/>
                  </a:lnTo>
                  <a:lnTo>
                    <a:pt x="422008" y="357390"/>
                  </a:lnTo>
                  <a:lnTo>
                    <a:pt x="422008" y="409486"/>
                  </a:lnTo>
                  <a:lnTo>
                    <a:pt x="422008" y="727062"/>
                  </a:lnTo>
                  <a:lnTo>
                    <a:pt x="768413" y="727062"/>
                  </a:lnTo>
                  <a:lnTo>
                    <a:pt x="768413" y="700544"/>
                  </a:lnTo>
                  <a:lnTo>
                    <a:pt x="768413" y="700379"/>
                  </a:lnTo>
                  <a:lnTo>
                    <a:pt x="768413" y="648538"/>
                  </a:lnTo>
                  <a:lnTo>
                    <a:pt x="742429" y="648538"/>
                  </a:lnTo>
                  <a:lnTo>
                    <a:pt x="742429" y="700379"/>
                  </a:lnTo>
                  <a:lnTo>
                    <a:pt x="655828" y="700379"/>
                  </a:lnTo>
                  <a:lnTo>
                    <a:pt x="655828" y="648538"/>
                  </a:lnTo>
                  <a:lnTo>
                    <a:pt x="638505" y="648538"/>
                  </a:lnTo>
                  <a:lnTo>
                    <a:pt x="638505" y="700379"/>
                  </a:lnTo>
                  <a:lnTo>
                    <a:pt x="551903" y="700379"/>
                  </a:lnTo>
                  <a:lnTo>
                    <a:pt x="551903" y="648538"/>
                  </a:lnTo>
                  <a:lnTo>
                    <a:pt x="534581" y="648538"/>
                  </a:lnTo>
                  <a:lnTo>
                    <a:pt x="534581" y="700379"/>
                  </a:lnTo>
                  <a:lnTo>
                    <a:pt x="447992" y="700379"/>
                  </a:lnTo>
                  <a:lnTo>
                    <a:pt x="447992" y="648284"/>
                  </a:lnTo>
                  <a:lnTo>
                    <a:pt x="768413" y="648284"/>
                  </a:lnTo>
                  <a:lnTo>
                    <a:pt x="768413" y="631761"/>
                  </a:lnTo>
                  <a:lnTo>
                    <a:pt x="447992" y="631761"/>
                  </a:lnTo>
                  <a:lnTo>
                    <a:pt x="447992" y="579678"/>
                  </a:lnTo>
                  <a:lnTo>
                    <a:pt x="534581" y="579678"/>
                  </a:lnTo>
                  <a:lnTo>
                    <a:pt x="534581" y="631202"/>
                  </a:lnTo>
                  <a:lnTo>
                    <a:pt x="551903" y="631202"/>
                  </a:lnTo>
                  <a:lnTo>
                    <a:pt x="551903" y="579678"/>
                  </a:lnTo>
                  <a:lnTo>
                    <a:pt x="638505" y="579678"/>
                  </a:lnTo>
                  <a:lnTo>
                    <a:pt x="638505" y="631202"/>
                  </a:lnTo>
                  <a:lnTo>
                    <a:pt x="655828" y="631202"/>
                  </a:lnTo>
                  <a:lnTo>
                    <a:pt x="655828" y="579678"/>
                  </a:lnTo>
                  <a:lnTo>
                    <a:pt x="742429" y="579678"/>
                  </a:lnTo>
                  <a:lnTo>
                    <a:pt x="742429" y="631202"/>
                  </a:lnTo>
                  <a:lnTo>
                    <a:pt x="768413" y="631202"/>
                  </a:lnTo>
                  <a:lnTo>
                    <a:pt x="768413" y="479361"/>
                  </a:lnTo>
                  <a:lnTo>
                    <a:pt x="742429" y="479361"/>
                  </a:lnTo>
                  <a:lnTo>
                    <a:pt x="742429" y="509790"/>
                  </a:lnTo>
                  <a:lnTo>
                    <a:pt x="742429" y="547979"/>
                  </a:lnTo>
                  <a:lnTo>
                    <a:pt x="655828" y="547979"/>
                  </a:lnTo>
                  <a:lnTo>
                    <a:pt x="655828" y="509854"/>
                  </a:lnTo>
                  <a:lnTo>
                    <a:pt x="742429" y="509790"/>
                  </a:lnTo>
                  <a:lnTo>
                    <a:pt x="742429" y="479361"/>
                  </a:lnTo>
                  <a:lnTo>
                    <a:pt x="638505" y="479361"/>
                  </a:lnTo>
                  <a:lnTo>
                    <a:pt x="638505" y="509790"/>
                  </a:lnTo>
                  <a:lnTo>
                    <a:pt x="638505" y="547979"/>
                  </a:lnTo>
                  <a:lnTo>
                    <a:pt x="551903" y="547979"/>
                  </a:lnTo>
                  <a:lnTo>
                    <a:pt x="551903" y="509854"/>
                  </a:lnTo>
                  <a:lnTo>
                    <a:pt x="638505" y="509790"/>
                  </a:lnTo>
                  <a:lnTo>
                    <a:pt x="638505" y="479361"/>
                  </a:lnTo>
                  <a:lnTo>
                    <a:pt x="534581" y="479361"/>
                  </a:lnTo>
                  <a:lnTo>
                    <a:pt x="534581" y="509790"/>
                  </a:lnTo>
                  <a:lnTo>
                    <a:pt x="534581" y="547979"/>
                  </a:lnTo>
                  <a:lnTo>
                    <a:pt x="447992" y="547979"/>
                  </a:lnTo>
                  <a:lnTo>
                    <a:pt x="447992" y="509790"/>
                  </a:lnTo>
                  <a:lnTo>
                    <a:pt x="534581" y="509790"/>
                  </a:lnTo>
                  <a:lnTo>
                    <a:pt x="534581" y="479361"/>
                  </a:lnTo>
                  <a:lnTo>
                    <a:pt x="447992" y="479361"/>
                  </a:lnTo>
                  <a:lnTo>
                    <a:pt x="447992" y="427278"/>
                  </a:lnTo>
                  <a:lnTo>
                    <a:pt x="534581" y="427278"/>
                  </a:lnTo>
                  <a:lnTo>
                    <a:pt x="534581" y="478802"/>
                  </a:lnTo>
                  <a:lnTo>
                    <a:pt x="551903" y="478802"/>
                  </a:lnTo>
                  <a:lnTo>
                    <a:pt x="551903" y="427278"/>
                  </a:lnTo>
                  <a:lnTo>
                    <a:pt x="638505" y="427278"/>
                  </a:lnTo>
                  <a:lnTo>
                    <a:pt x="638505" y="478802"/>
                  </a:lnTo>
                  <a:lnTo>
                    <a:pt x="655828" y="478802"/>
                  </a:lnTo>
                  <a:lnTo>
                    <a:pt x="655828" y="427278"/>
                  </a:lnTo>
                  <a:lnTo>
                    <a:pt x="742429" y="427278"/>
                  </a:lnTo>
                  <a:lnTo>
                    <a:pt x="742429" y="478802"/>
                  </a:lnTo>
                  <a:lnTo>
                    <a:pt x="768413" y="478802"/>
                  </a:lnTo>
                  <a:lnTo>
                    <a:pt x="768413" y="427278"/>
                  </a:lnTo>
                  <a:lnTo>
                    <a:pt x="768413" y="426796"/>
                  </a:lnTo>
                  <a:lnTo>
                    <a:pt x="768413" y="409486"/>
                  </a:lnTo>
                  <a:lnTo>
                    <a:pt x="447992" y="409486"/>
                  </a:lnTo>
                  <a:lnTo>
                    <a:pt x="447992" y="357390"/>
                  </a:lnTo>
                  <a:lnTo>
                    <a:pt x="768413" y="357390"/>
                  </a:lnTo>
                  <a:lnTo>
                    <a:pt x="768413" y="331978"/>
                  </a:lnTo>
                  <a:close/>
                </a:path>
                <a:path w="1254759" h="727075">
                  <a:moveTo>
                    <a:pt x="1038059" y="179146"/>
                  </a:moveTo>
                  <a:lnTo>
                    <a:pt x="1020737" y="179146"/>
                  </a:lnTo>
                  <a:lnTo>
                    <a:pt x="1020737" y="231152"/>
                  </a:lnTo>
                  <a:lnTo>
                    <a:pt x="1038059" y="231152"/>
                  </a:lnTo>
                  <a:lnTo>
                    <a:pt x="1038059" y="179146"/>
                  </a:lnTo>
                  <a:close/>
                </a:path>
                <a:path w="1254759" h="727075">
                  <a:moveTo>
                    <a:pt x="1141984" y="179146"/>
                  </a:moveTo>
                  <a:lnTo>
                    <a:pt x="1124661" y="179146"/>
                  </a:lnTo>
                  <a:lnTo>
                    <a:pt x="1124661" y="231152"/>
                  </a:lnTo>
                  <a:lnTo>
                    <a:pt x="1141984" y="231152"/>
                  </a:lnTo>
                  <a:lnTo>
                    <a:pt x="1141984" y="179146"/>
                  </a:lnTo>
                  <a:close/>
                </a:path>
                <a:path w="1254759" h="727075">
                  <a:moveTo>
                    <a:pt x="1254569" y="179146"/>
                  </a:moveTo>
                  <a:lnTo>
                    <a:pt x="1228585" y="179146"/>
                  </a:lnTo>
                  <a:lnTo>
                    <a:pt x="1228585" y="231152"/>
                  </a:lnTo>
                  <a:lnTo>
                    <a:pt x="1254569" y="231152"/>
                  </a:lnTo>
                  <a:lnTo>
                    <a:pt x="1254569" y="179146"/>
                  </a:lnTo>
                  <a:close/>
                </a:path>
                <a:path w="1254759" h="727075">
                  <a:moveTo>
                    <a:pt x="1254569" y="153670"/>
                  </a:moveTo>
                  <a:lnTo>
                    <a:pt x="908164" y="153670"/>
                  </a:lnTo>
                  <a:lnTo>
                    <a:pt x="908164" y="179082"/>
                  </a:lnTo>
                  <a:lnTo>
                    <a:pt x="908164" y="231178"/>
                  </a:lnTo>
                  <a:lnTo>
                    <a:pt x="908164" y="396354"/>
                  </a:lnTo>
                  <a:lnTo>
                    <a:pt x="1254569" y="396354"/>
                  </a:lnTo>
                  <a:lnTo>
                    <a:pt x="1254569" y="369836"/>
                  </a:lnTo>
                  <a:lnTo>
                    <a:pt x="1254569" y="369671"/>
                  </a:lnTo>
                  <a:lnTo>
                    <a:pt x="1254569" y="317830"/>
                  </a:lnTo>
                  <a:lnTo>
                    <a:pt x="1228585" y="317830"/>
                  </a:lnTo>
                  <a:lnTo>
                    <a:pt x="1228585" y="369671"/>
                  </a:lnTo>
                  <a:lnTo>
                    <a:pt x="1141984" y="369671"/>
                  </a:lnTo>
                  <a:lnTo>
                    <a:pt x="1141984" y="317830"/>
                  </a:lnTo>
                  <a:lnTo>
                    <a:pt x="1124661" y="317830"/>
                  </a:lnTo>
                  <a:lnTo>
                    <a:pt x="1124661" y="369671"/>
                  </a:lnTo>
                  <a:lnTo>
                    <a:pt x="1038059" y="369671"/>
                  </a:lnTo>
                  <a:lnTo>
                    <a:pt x="1038059" y="317830"/>
                  </a:lnTo>
                  <a:lnTo>
                    <a:pt x="1020737" y="317830"/>
                  </a:lnTo>
                  <a:lnTo>
                    <a:pt x="1020737" y="369671"/>
                  </a:lnTo>
                  <a:lnTo>
                    <a:pt x="934148" y="369671"/>
                  </a:lnTo>
                  <a:lnTo>
                    <a:pt x="934148" y="317576"/>
                  </a:lnTo>
                  <a:lnTo>
                    <a:pt x="1254569" y="317576"/>
                  </a:lnTo>
                  <a:lnTo>
                    <a:pt x="1254569" y="301053"/>
                  </a:lnTo>
                  <a:lnTo>
                    <a:pt x="934148" y="301053"/>
                  </a:lnTo>
                  <a:lnTo>
                    <a:pt x="934148" y="248970"/>
                  </a:lnTo>
                  <a:lnTo>
                    <a:pt x="1020737" y="248970"/>
                  </a:lnTo>
                  <a:lnTo>
                    <a:pt x="1020737" y="300494"/>
                  </a:lnTo>
                  <a:lnTo>
                    <a:pt x="1038059" y="300494"/>
                  </a:lnTo>
                  <a:lnTo>
                    <a:pt x="1038059" y="248970"/>
                  </a:lnTo>
                  <a:lnTo>
                    <a:pt x="1124661" y="248970"/>
                  </a:lnTo>
                  <a:lnTo>
                    <a:pt x="1124661" y="300494"/>
                  </a:lnTo>
                  <a:lnTo>
                    <a:pt x="1141984" y="300494"/>
                  </a:lnTo>
                  <a:lnTo>
                    <a:pt x="1141984" y="248970"/>
                  </a:lnTo>
                  <a:lnTo>
                    <a:pt x="1228585" y="248970"/>
                  </a:lnTo>
                  <a:lnTo>
                    <a:pt x="1228585" y="300494"/>
                  </a:lnTo>
                  <a:lnTo>
                    <a:pt x="1254569" y="300494"/>
                  </a:lnTo>
                  <a:lnTo>
                    <a:pt x="1254569" y="248970"/>
                  </a:lnTo>
                  <a:lnTo>
                    <a:pt x="1254569" y="248488"/>
                  </a:lnTo>
                  <a:lnTo>
                    <a:pt x="1254569" y="231178"/>
                  </a:lnTo>
                  <a:lnTo>
                    <a:pt x="934148" y="231178"/>
                  </a:lnTo>
                  <a:lnTo>
                    <a:pt x="934148" y="179082"/>
                  </a:lnTo>
                  <a:lnTo>
                    <a:pt x="1254569" y="179082"/>
                  </a:lnTo>
                  <a:lnTo>
                    <a:pt x="1254569" y="153670"/>
                  </a:lnTo>
                  <a:close/>
                </a:path>
              </a:pathLst>
            </a:custGeom>
            <a:solidFill>
              <a:srgbClr val="BCBCBC"/>
            </a:solidFill>
          </p:spPr>
          <p:txBody>
            <a:bodyPr wrap="square" lIns="0" tIns="0" rIns="0" bIns="0" rtlCol="0"/>
            <a:lstStyle/>
            <a:p>
              <a:endParaRPr sz="2400"/>
            </a:p>
          </p:txBody>
        </p:sp>
        <p:sp>
          <p:nvSpPr>
            <p:cNvPr id="28" name="object 28"/>
            <p:cNvSpPr/>
            <p:nvPr/>
          </p:nvSpPr>
          <p:spPr>
            <a:xfrm>
              <a:off x="6272021" y="3394709"/>
              <a:ext cx="838835" cy="381635"/>
            </a:xfrm>
            <a:custGeom>
              <a:avLst/>
              <a:gdLst/>
              <a:ahLst/>
              <a:cxnLst/>
              <a:rect l="l" t="t" r="r" b="b"/>
              <a:pathLst>
                <a:path w="838834" h="381635">
                  <a:moveTo>
                    <a:pt x="230885" y="107568"/>
                  </a:moveTo>
                  <a:lnTo>
                    <a:pt x="0" y="0"/>
                  </a:lnTo>
                </a:path>
                <a:path w="838834" h="381635">
                  <a:moveTo>
                    <a:pt x="838326" y="188975"/>
                  </a:moveTo>
                  <a:lnTo>
                    <a:pt x="652272" y="381126"/>
                  </a:lnTo>
                </a:path>
              </a:pathLst>
            </a:custGeom>
            <a:ln w="38100">
              <a:solidFill>
                <a:srgbClr val="00C2FF"/>
              </a:solidFill>
            </a:ln>
          </p:spPr>
          <p:txBody>
            <a:bodyPr wrap="square" lIns="0" tIns="0" rIns="0" bIns="0" rtlCol="0"/>
            <a:lstStyle/>
            <a:p>
              <a:endParaRPr sz="2400"/>
            </a:p>
          </p:txBody>
        </p:sp>
        <p:sp>
          <p:nvSpPr>
            <p:cNvPr id="29" name="object 29"/>
            <p:cNvSpPr/>
            <p:nvPr/>
          </p:nvSpPr>
          <p:spPr>
            <a:xfrm>
              <a:off x="3778757" y="2544318"/>
              <a:ext cx="419100" cy="121920"/>
            </a:xfrm>
            <a:custGeom>
              <a:avLst/>
              <a:gdLst/>
              <a:ahLst/>
              <a:cxnLst/>
              <a:rect l="l" t="t" r="r" b="b"/>
              <a:pathLst>
                <a:path w="419100" h="121919">
                  <a:moveTo>
                    <a:pt x="358139" y="0"/>
                  </a:moveTo>
                  <a:lnTo>
                    <a:pt x="358139" y="30480"/>
                  </a:lnTo>
                  <a:lnTo>
                    <a:pt x="0" y="30480"/>
                  </a:lnTo>
                  <a:lnTo>
                    <a:pt x="0" y="91439"/>
                  </a:lnTo>
                  <a:lnTo>
                    <a:pt x="358139" y="91439"/>
                  </a:lnTo>
                  <a:lnTo>
                    <a:pt x="358139" y="121919"/>
                  </a:lnTo>
                  <a:lnTo>
                    <a:pt x="419100" y="60959"/>
                  </a:lnTo>
                  <a:lnTo>
                    <a:pt x="358139" y="0"/>
                  </a:lnTo>
                  <a:close/>
                </a:path>
              </a:pathLst>
            </a:custGeom>
            <a:solidFill>
              <a:srgbClr val="00C3FF"/>
            </a:solidFill>
          </p:spPr>
          <p:txBody>
            <a:bodyPr wrap="square" lIns="0" tIns="0" rIns="0" bIns="0" rtlCol="0"/>
            <a:lstStyle/>
            <a:p>
              <a:endParaRPr sz="2400"/>
            </a:p>
          </p:txBody>
        </p:sp>
        <p:sp>
          <p:nvSpPr>
            <p:cNvPr id="30" name="object 30"/>
            <p:cNvSpPr/>
            <p:nvPr/>
          </p:nvSpPr>
          <p:spPr>
            <a:xfrm>
              <a:off x="3778757" y="2544318"/>
              <a:ext cx="419100" cy="121920"/>
            </a:xfrm>
            <a:custGeom>
              <a:avLst/>
              <a:gdLst/>
              <a:ahLst/>
              <a:cxnLst/>
              <a:rect l="l" t="t" r="r" b="b"/>
              <a:pathLst>
                <a:path w="419100" h="121919">
                  <a:moveTo>
                    <a:pt x="0" y="30480"/>
                  </a:moveTo>
                  <a:lnTo>
                    <a:pt x="358139" y="30480"/>
                  </a:lnTo>
                  <a:lnTo>
                    <a:pt x="358139" y="0"/>
                  </a:lnTo>
                  <a:lnTo>
                    <a:pt x="419100" y="60959"/>
                  </a:lnTo>
                  <a:lnTo>
                    <a:pt x="358139" y="121919"/>
                  </a:lnTo>
                  <a:lnTo>
                    <a:pt x="358139" y="91439"/>
                  </a:lnTo>
                  <a:lnTo>
                    <a:pt x="0" y="91439"/>
                  </a:lnTo>
                  <a:lnTo>
                    <a:pt x="0" y="30480"/>
                  </a:lnTo>
                  <a:close/>
                </a:path>
              </a:pathLst>
            </a:custGeom>
            <a:ln w="25908">
              <a:solidFill>
                <a:srgbClr val="008FBB"/>
              </a:solidFill>
            </a:ln>
          </p:spPr>
          <p:txBody>
            <a:bodyPr wrap="square" lIns="0" tIns="0" rIns="0" bIns="0" rtlCol="0"/>
            <a:lstStyle/>
            <a:p>
              <a:endParaRPr sz="2400"/>
            </a:p>
          </p:txBody>
        </p:sp>
        <p:sp>
          <p:nvSpPr>
            <p:cNvPr id="31" name="object 31"/>
            <p:cNvSpPr/>
            <p:nvPr/>
          </p:nvSpPr>
          <p:spPr>
            <a:xfrm>
              <a:off x="5557265" y="1954530"/>
              <a:ext cx="417830" cy="121920"/>
            </a:xfrm>
            <a:custGeom>
              <a:avLst/>
              <a:gdLst/>
              <a:ahLst/>
              <a:cxnLst/>
              <a:rect l="l" t="t" r="r" b="b"/>
              <a:pathLst>
                <a:path w="417829" h="121919">
                  <a:moveTo>
                    <a:pt x="356616" y="0"/>
                  </a:moveTo>
                  <a:lnTo>
                    <a:pt x="356616" y="30480"/>
                  </a:lnTo>
                  <a:lnTo>
                    <a:pt x="0" y="30480"/>
                  </a:lnTo>
                  <a:lnTo>
                    <a:pt x="0" y="91439"/>
                  </a:lnTo>
                  <a:lnTo>
                    <a:pt x="356616" y="91439"/>
                  </a:lnTo>
                  <a:lnTo>
                    <a:pt x="356616" y="121919"/>
                  </a:lnTo>
                  <a:lnTo>
                    <a:pt x="417575" y="60959"/>
                  </a:lnTo>
                  <a:lnTo>
                    <a:pt x="356616" y="0"/>
                  </a:lnTo>
                  <a:close/>
                </a:path>
              </a:pathLst>
            </a:custGeom>
            <a:solidFill>
              <a:srgbClr val="00C3FF"/>
            </a:solidFill>
          </p:spPr>
          <p:txBody>
            <a:bodyPr wrap="square" lIns="0" tIns="0" rIns="0" bIns="0" rtlCol="0"/>
            <a:lstStyle/>
            <a:p>
              <a:endParaRPr sz="2400"/>
            </a:p>
          </p:txBody>
        </p:sp>
        <p:sp>
          <p:nvSpPr>
            <p:cNvPr id="32" name="object 32"/>
            <p:cNvSpPr/>
            <p:nvPr/>
          </p:nvSpPr>
          <p:spPr>
            <a:xfrm>
              <a:off x="5557265" y="1954530"/>
              <a:ext cx="417830" cy="121920"/>
            </a:xfrm>
            <a:custGeom>
              <a:avLst/>
              <a:gdLst/>
              <a:ahLst/>
              <a:cxnLst/>
              <a:rect l="l" t="t" r="r" b="b"/>
              <a:pathLst>
                <a:path w="417829" h="121919">
                  <a:moveTo>
                    <a:pt x="0" y="30480"/>
                  </a:moveTo>
                  <a:lnTo>
                    <a:pt x="356616" y="30480"/>
                  </a:lnTo>
                  <a:lnTo>
                    <a:pt x="356616" y="0"/>
                  </a:lnTo>
                  <a:lnTo>
                    <a:pt x="417575" y="60959"/>
                  </a:lnTo>
                  <a:lnTo>
                    <a:pt x="356616" y="121919"/>
                  </a:lnTo>
                  <a:lnTo>
                    <a:pt x="356616" y="91439"/>
                  </a:lnTo>
                  <a:lnTo>
                    <a:pt x="0" y="91439"/>
                  </a:lnTo>
                  <a:lnTo>
                    <a:pt x="0" y="30480"/>
                  </a:lnTo>
                  <a:close/>
                </a:path>
              </a:pathLst>
            </a:custGeom>
            <a:ln w="25908">
              <a:solidFill>
                <a:srgbClr val="008FBB"/>
              </a:solidFill>
            </a:ln>
          </p:spPr>
          <p:txBody>
            <a:bodyPr wrap="square" lIns="0" tIns="0" rIns="0" bIns="0" rtlCol="0"/>
            <a:lstStyle/>
            <a:p>
              <a:endParaRPr sz="2400"/>
            </a:p>
          </p:txBody>
        </p:sp>
        <p:sp>
          <p:nvSpPr>
            <p:cNvPr id="33" name="object 33"/>
            <p:cNvSpPr/>
            <p:nvPr/>
          </p:nvSpPr>
          <p:spPr>
            <a:xfrm>
              <a:off x="5545073" y="3242309"/>
              <a:ext cx="417830" cy="123825"/>
            </a:xfrm>
            <a:custGeom>
              <a:avLst/>
              <a:gdLst/>
              <a:ahLst/>
              <a:cxnLst/>
              <a:rect l="l" t="t" r="r" b="b"/>
              <a:pathLst>
                <a:path w="417829" h="123825">
                  <a:moveTo>
                    <a:pt x="355853" y="0"/>
                  </a:moveTo>
                  <a:lnTo>
                    <a:pt x="355853" y="30860"/>
                  </a:lnTo>
                  <a:lnTo>
                    <a:pt x="0" y="30860"/>
                  </a:lnTo>
                  <a:lnTo>
                    <a:pt x="0" y="92582"/>
                  </a:lnTo>
                  <a:lnTo>
                    <a:pt x="355853" y="92582"/>
                  </a:lnTo>
                  <a:lnTo>
                    <a:pt x="355853" y="123443"/>
                  </a:lnTo>
                  <a:lnTo>
                    <a:pt x="417575" y="61721"/>
                  </a:lnTo>
                  <a:lnTo>
                    <a:pt x="355853" y="0"/>
                  </a:lnTo>
                  <a:close/>
                </a:path>
              </a:pathLst>
            </a:custGeom>
            <a:solidFill>
              <a:srgbClr val="00C3FF"/>
            </a:solidFill>
          </p:spPr>
          <p:txBody>
            <a:bodyPr wrap="square" lIns="0" tIns="0" rIns="0" bIns="0" rtlCol="0"/>
            <a:lstStyle/>
            <a:p>
              <a:endParaRPr sz="2400"/>
            </a:p>
          </p:txBody>
        </p:sp>
        <p:sp>
          <p:nvSpPr>
            <p:cNvPr id="34" name="object 34"/>
            <p:cNvSpPr/>
            <p:nvPr/>
          </p:nvSpPr>
          <p:spPr>
            <a:xfrm>
              <a:off x="5545073" y="3242309"/>
              <a:ext cx="417830" cy="123825"/>
            </a:xfrm>
            <a:custGeom>
              <a:avLst/>
              <a:gdLst/>
              <a:ahLst/>
              <a:cxnLst/>
              <a:rect l="l" t="t" r="r" b="b"/>
              <a:pathLst>
                <a:path w="417829" h="123825">
                  <a:moveTo>
                    <a:pt x="0" y="30860"/>
                  </a:moveTo>
                  <a:lnTo>
                    <a:pt x="355853" y="30860"/>
                  </a:lnTo>
                  <a:lnTo>
                    <a:pt x="355853" y="0"/>
                  </a:lnTo>
                  <a:lnTo>
                    <a:pt x="417575" y="61721"/>
                  </a:lnTo>
                  <a:lnTo>
                    <a:pt x="355853" y="123443"/>
                  </a:lnTo>
                  <a:lnTo>
                    <a:pt x="355853" y="92582"/>
                  </a:lnTo>
                  <a:lnTo>
                    <a:pt x="0" y="92582"/>
                  </a:lnTo>
                  <a:lnTo>
                    <a:pt x="0" y="30860"/>
                  </a:lnTo>
                  <a:close/>
                </a:path>
              </a:pathLst>
            </a:custGeom>
            <a:ln w="25908">
              <a:solidFill>
                <a:srgbClr val="008FBB"/>
              </a:solidFill>
            </a:ln>
          </p:spPr>
          <p:txBody>
            <a:bodyPr wrap="square" lIns="0" tIns="0" rIns="0" bIns="0" rtlCol="0"/>
            <a:lstStyle/>
            <a:p>
              <a:endParaRPr sz="2400"/>
            </a:p>
          </p:txBody>
        </p:sp>
        <p:sp>
          <p:nvSpPr>
            <p:cNvPr id="35" name="object 35"/>
            <p:cNvSpPr/>
            <p:nvPr/>
          </p:nvSpPr>
          <p:spPr>
            <a:xfrm>
              <a:off x="7273289" y="2221230"/>
              <a:ext cx="419100" cy="123825"/>
            </a:xfrm>
            <a:custGeom>
              <a:avLst/>
              <a:gdLst/>
              <a:ahLst/>
              <a:cxnLst/>
              <a:rect l="l" t="t" r="r" b="b"/>
              <a:pathLst>
                <a:path w="419100" h="123825">
                  <a:moveTo>
                    <a:pt x="357377" y="0"/>
                  </a:moveTo>
                  <a:lnTo>
                    <a:pt x="357377" y="30861"/>
                  </a:lnTo>
                  <a:lnTo>
                    <a:pt x="0" y="30861"/>
                  </a:lnTo>
                  <a:lnTo>
                    <a:pt x="0" y="92582"/>
                  </a:lnTo>
                  <a:lnTo>
                    <a:pt x="357377" y="92582"/>
                  </a:lnTo>
                  <a:lnTo>
                    <a:pt x="357377" y="123443"/>
                  </a:lnTo>
                  <a:lnTo>
                    <a:pt x="419100" y="61721"/>
                  </a:lnTo>
                  <a:lnTo>
                    <a:pt x="357377" y="0"/>
                  </a:lnTo>
                  <a:close/>
                </a:path>
              </a:pathLst>
            </a:custGeom>
            <a:solidFill>
              <a:srgbClr val="00C3FF"/>
            </a:solidFill>
          </p:spPr>
          <p:txBody>
            <a:bodyPr wrap="square" lIns="0" tIns="0" rIns="0" bIns="0" rtlCol="0"/>
            <a:lstStyle/>
            <a:p>
              <a:endParaRPr sz="2400"/>
            </a:p>
          </p:txBody>
        </p:sp>
        <p:sp>
          <p:nvSpPr>
            <p:cNvPr id="36" name="object 36"/>
            <p:cNvSpPr/>
            <p:nvPr/>
          </p:nvSpPr>
          <p:spPr>
            <a:xfrm>
              <a:off x="7273289" y="2221230"/>
              <a:ext cx="419100" cy="123825"/>
            </a:xfrm>
            <a:custGeom>
              <a:avLst/>
              <a:gdLst/>
              <a:ahLst/>
              <a:cxnLst/>
              <a:rect l="l" t="t" r="r" b="b"/>
              <a:pathLst>
                <a:path w="419100" h="123825">
                  <a:moveTo>
                    <a:pt x="0" y="30861"/>
                  </a:moveTo>
                  <a:lnTo>
                    <a:pt x="357377" y="30861"/>
                  </a:lnTo>
                  <a:lnTo>
                    <a:pt x="357377" y="0"/>
                  </a:lnTo>
                  <a:lnTo>
                    <a:pt x="419100" y="61721"/>
                  </a:lnTo>
                  <a:lnTo>
                    <a:pt x="357377" y="123443"/>
                  </a:lnTo>
                  <a:lnTo>
                    <a:pt x="357377" y="92582"/>
                  </a:lnTo>
                  <a:lnTo>
                    <a:pt x="0" y="92582"/>
                  </a:lnTo>
                  <a:lnTo>
                    <a:pt x="0" y="30861"/>
                  </a:lnTo>
                  <a:close/>
                </a:path>
              </a:pathLst>
            </a:custGeom>
            <a:ln w="25908">
              <a:solidFill>
                <a:srgbClr val="008FBB"/>
              </a:solidFill>
            </a:ln>
          </p:spPr>
          <p:txBody>
            <a:bodyPr wrap="square" lIns="0" tIns="0" rIns="0" bIns="0" rtlCol="0"/>
            <a:lstStyle/>
            <a:p>
              <a:endParaRPr sz="2400"/>
            </a:p>
          </p:txBody>
        </p:sp>
        <p:sp>
          <p:nvSpPr>
            <p:cNvPr id="37" name="object 37"/>
            <p:cNvSpPr/>
            <p:nvPr/>
          </p:nvSpPr>
          <p:spPr>
            <a:xfrm>
              <a:off x="7282433" y="3697986"/>
              <a:ext cx="419100" cy="121920"/>
            </a:xfrm>
            <a:custGeom>
              <a:avLst/>
              <a:gdLst/>
              <a:ahLst/>
              <a:cxnLst/>
              <a:rect l="l" t="t" r="r" b="b"/>
              <a:pathLst>
                <a:path w="419100" h="121920">
                  <a:moveTo>
                    <a:pt x="358140" y="0"/>
                  </a:moveTo>
                  <a:lnTo>
                    <a:pt x="358140" y="30479"/>
                  </a:lnTo>
                  <a:lnTo>
                    <a:pt x="0" y="30479"/>
                  </a:lnTo>
                  <a:lnTo>
                    <a:pt x="0" y="91439"/>
                  </a:lnTo>
                  <a:lnTo>
                    <a:pt x="358140" y="91439"/>
                  </a:lnTo>
                  <a:lnTo>
                    <a:pt x="358140" y="121919"/>
                  </a:lnTo>
                  <a:lnTo>
                    <a:pt x="419100" y="60959"/>
                  </a:lnTo>
                  <a:lnTo>
                    <a:pt x="358140" y="0"/>
                  </a:lnTo>
                  <a:close/>
                </a:path>
              </a:pathLst>
            </a:custGeom>
            <a:solidFill>
              <a:srgbClr val="00C3FF"/>
            </a:solidFill>
          </p:spPr>
          <p:txBody>
            <a:bodyPr wrap="square" lIns="0" tIns="0" rIns="0" bIns="0" rtlCol="0"/>
            <a:lstStyle/>
            <a:p>
              <a:endParaRPr sz="2400"/>
            </a:p>
          </p:txBody>
        </p:sp>
        <p:sp>
          <p:nvSpPr>
            <p:cNvPr id="38" name="object 38"/>
            <p:cNvSpPr/>
            <p:nvPr/>
          </p:nvSpPr>
          <p:spPr>
            <a:xfrm>
              <a:off x="7282433" y="3697986"/>
              <a:ext cx="419100" cy="121920"/>
            </a:xfrm>
            <a:custGeom>
              <a:avLst/>
              <a:gdLst/>
              <a:ahLst/>
              <a:cxnLst/>
              <a:rect l="l" t="t" r="r" b="b"/>
              <a:pathLst>
                <a:path w="419100" h="121920">
                  <a:moveTo>
                    <a:pt x="0" y="30479"/>
                  </a:moveTo>
                  <a:lnTo>
                    <a:pt x="358140" y="30479"/>
                  </a:lnTo>
                  <a:lnTo>
                    <a:pt x="358140" y="0"/>
                  </a:lnTo>
                  <a:lnTo>
                    <a:pt x="419100" y="60959"/>
                  </a:lnTo>
                  <a:lnTo>
                    <a:pt x="358140" y="121919"/>
                  </a:lnTo>
                  <a:lnTo>
                    <a:pt x="358140" y="91439"/>
                  </a:lnTo>
                  <a:lnTo>
                    <a:pt x="0" y="91439"/>
                  </a:lnTo>
                  <a:lnTo>
                    <a:pt x="0" y="30479"/>
                  </a:lnTo>
                  <a:close/>
                </a:path>
              </a:pathLst>
            </a:custGeom>
            <a:ln w="25908">
              <a:solidFill>
                <a:srgbClr val="008FBB"/>
              </a:solidFill>
            </a:ln>
          </p:spPr>
          <p:txBody>
            <a:bodyPr wrap="square" lIns="0" tIns="0" rIns="0" bIns="0" rtlCol="0"/>
            <a:lstStyle/>
            <a:p>
              <a:endParaRPr sz="2400"/>
            </a:p>
          </p:txBody>
        </p:sp>
      </p:grpSp>
      <p:sp>
        <p:nvSpPr>
          <p:cNvPr id="39" name="object 39"/>
          <p:cNvSpPr txBox="1"/>
          <p:nvPr/>
        </p:nvSpPr>
        <p:spPr>
          <a:xfrm>
            <a:off x="8243145" y="5549121"/>
            <a:ext cx="1354667"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Data</a:t>
            </a:r>
            <a:r>
              <a:rPr sz="2133" spc="-53" dirty="0">
                <a:solidFill>
                  <a:srgbClr val="FFFFFF"/>
                </a:solidFill>
                <a:latin typeface="Calibri"/>
                <a:cs typeface="Calibri"/>
              </a:rPr>
              <a:t> </a:t>
            </a:r>
            <a:r>
              <a:rPr sz="2133" dirty="0">
                <a:solidFill>
                  <a:srgbClr val="FFFFFF"/>
                </a:solidFill>
                <a:latin typeface="Calibri"/>
                <a:cs typeface="Calibri"/>
              </a:rPr>
              <a:t>Mart</a:t>
            </a:r>
            <a:r>
              <a:rPr sz="2133" spc="-27" dirty="0">
                <a:solidFill>
                  <a:srgbClr val="FFFFFF"/>
                </a:solidFill>
                <a:latin typeface="Calibri"/>
                <a:cs typeface="Calibri"/>
              </a:rPr>
              <a:t> </a:t>
            </a:r>
            <a:r>
              <a:rPr sz="2133" spc="-67" dirty="0">
                <a:solidFill>
                  <a:srgbClr val="FFFFFF"/>
                </a:solidFill>
                <a:latin typeface="Calibri"/>
                <a:cs typeface="Calibri"/>
              </a:rPr>
              <a:t>2</a:t>
            </a:r>
            <a:endParaRPr sz="2133">
              <a:latin typeface="Calibri"/>
              <a:cs typeface="Calibri"/>
            </a:endParaRPr>
          </a:p>
        </p:txBody>
      </p:sp>
      <p:pic>
        <p:nvPicPr>
          <p:cNvPr id="40" name="object 40"/>
          <p:cNvPicPr/>
          <p:nvPr/>
        </p:nvPicPr>
        <p:blipFill>
          <a:blip r:embed="rId2" cstate="print"/>
          <a:stretch>
            <a:fillRect/>
          </a:stretch>
        </p:blipFill>
        <p:spPr>
          <a:xfrm>
            <a:off x="10607040" y="2645665"/>
            <a:ext cx="617728" cy="617727"/>
          </a:xfrm>
          <a:prstGeom prst="rect">
            <a:avLst/>
          </a:prstGeom>
        </p:spPr>
      </p:pic>
      <p:sp>
        <p:nvSpPr>
          <p:cNvPr id="41" name="object 41"/>
          <p:cNvSpPr txBox="1"/>
          <p:nvPr/>
        </p:nvSpPr>
        <p:spPr>
          <a:xfrm>
            <a:off x="10557256" y="4677326"/>
            <a:ext cx="1131992" cy="666892"/>
          </a:xfrm>
          <a:prstGeom prst="rect">
            <a:avLst/>
          </a:prstGeom>
        </p:spPr>
        <p:txBody>
          <a:bodyPr vert="horz" wrap="square" lIns="0" tIns="14393" rIns="0" bIns="0" rtlCol="0">
            <a:spAutoFit/>
          </a:bodyPr>
          <a:lstStyle/>
          <a:p>
            <a:pPr marL="71118" marR="6773" indent="-55032">
              <a:lnSpc>
                <a:spcPct val="100600"/>
              </a:lnSpc>
              <a:spcBef>
                <a:spcPts val="113"/>
              </a:spcBef>
            </a:pPr>
            <a:r>
              <a:rPr sz="2133" spc="-13" dirty="0">
                <a:solidFill>
                  <a:srgbClr val="FFFFFF"/>
                </a:solidFill>
                <a:latin typeface="Calibri"/>
                <a:cs typeface="Calibri"/>
              </a:rPr>
              <a:t>Predictive Analytics</a:t>
            </a:r>
            <a:endParaRPr sz="2133">
              <a:latin typeface="Calibri"/>
              <a:cs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966635" y="1584876"/>
            <a:ext cx="7415107" cy="4403513"/>
            <a:chOff x="2224976" y="1188656"/>
            <a:chExt cx="5561330" cy="3302635"/>
          </a:xfrm>
        </p:grpSpPr>
        <p:sp>
          <p:nvSpPr>
            <p:cNvPr id="3" name="object 3"/>
            <p:cNvSpPr/>
            <p:nvPr/>
          </p:nvSpPr>
          <p:spPr>
            <a:xfrm>
              <a:off x="2237994" y="1201674"/>
              <a:ext cx="5535295" cy="3276600"/>
            </a:xfrm>
            <a:custGeom>
              <a:avLst/>
              <a:gdLst/>
              <a:ahLst/>
              <a:cxnLst/>
              <a:rect l="l" t="t" r="r" b="b"/>
              <a:pathLst>
                <a:path w="5535295" h="3276600">
                  <a:moveTo>
                    <a:pt x="4989067" y="0"/>
                  </a:moveTo>
                  <a:lnTo>
                    <a:pt x="546100" y="0"/>
                  </a:lnTo>
                  <a:lnTo>
                    <a:pt x="498977" y="2004"/>
                  </a:lnTo>
                  <a:lnTo>
                    <a:pt x="452968" y="7908"/>
                  </a:lnTo>
                  <a:lnTo>
                    <a:pt x="408236" y="17547"/>
                  </a:lnTo>
                  <a:lnTo>
                    <a:pt x="364946" y="30758"/>
                  </a:lnTo>
                  <a:lnTo>
                    <a:pt x="323262" y="47377"/>
                  </a:lnTo>
                  <a:lnTo>
                    <a:pt x="283346" y="67240"/>
                  </a:lnTo>
                  <a:lnTo>
                    <a:pt x="245364" y="90183"/>
                  </a:lnTo>
                  <a:lnTo>
                    <a:pt x="209478" y="116042"/>
                  </a:lnTo>
                  <a:lnTo>
                    <a:pt x="175853" y="144653"/>
                  </a:lnTo>
                  <a:lnTo>
                    <a:pt x="144653" y="175853"/>
                  </a:lnTo>
                  <a:lnTo>
                    <a:pt x="116042" y="209478"/>
                  </a:lnTo>
                  <a:lnTo>
                    <a:pt x="90183" y="245364"/>
                  </a:lnTo>
                  <a:lnTo>
                    <a:pt x="67240" y="283346"/>
                  </a:lnTo>
                  <a:lnTo>
                    <a:pt x="47377" y="323262"/>
                  </a:lnTo>
                  <a:lnTo>
                    <a:pt x="30758" y="364946"/>
                  </a:lnTo>
                  <a:lnTo>
                    <a:pt x="17547" y="408236"/>
                  </a:lnTo>
                  <a:lnTo>
                    <a:pt x="7908" y="452968"/>
                  </a:lnTo>
                  <a:lnTo>
                    <a:pt x="2004" y="498977"/>
                  </a:lnTo>
                  <a:lnTo>
                    <a:pt x="0" y="546100"/>
                  </a:lnTo>
                  <a:lnTo>
                    <a:pt x="0" y="2730487"/>
                  </a:lnTo>
                  <a:lnTo>
                    <a:pt x="2004" y="2777608"/>
                  </a:lnTo>
                  <a:lnTo>
                    <a:pt x="7908" y="2823616"/>
                  </a:lnTo>
                  <a:lnTo>
                    <a:pt x="17547" y="2868347"/>
                  </a:lnTo>
                  <a:lnTo>
                    <a:pt x="30758" y="2911636"/>
                  </a:lnTo>
                  <a:lnTo>
                    <a:pt x="47377" y="2953321"/>
                  </a:lnTo>
                  <a:lnTo>
                    <a:pt x="67240" y="2993238"/>
                  </a:lnTo>
                  <a:lnTo>
                    <a:pt x="90183" y="3031221"/>
                  </a:lnTo>
                  <a:lnTo>
                    <a:pt x="116042" y="3067108"/>
                  </a:lnTo>
                  <a:lnTo>
                    <a:pt x="144653" y="3100734"/>
                  </a:lnTo>
                  <a:lnTo>
                    <a:pt x="175853" y="3131935"/>
                  </a:lnTo>
                  <a:lnTo>
                    <a:pt x="209478" y="3160548"/>
                  </a:lnTo>
                  <a:lnTo>
                    <a:pt x="245364" y="3186409"/>
                  </a:lnTo>
                  <a:lnTo>
                    <a:pt x="283346" y="3209354"/>
                  </a:lnTo>
                  <a:lnTo>
                    <a:pt x="323262" y="3229218"/>
                  </a:lnTo>
                  <a:lnTo>
                    <a:pt x="364946" y="3245838"/>
                  </a:lnTo>
                  <a:lnTo>
                    <a:pt x="408236" y="3259050"/>
                  </a:lnTo>
                  <a:lnTo>
                    <a:pt x="452968" y="3268691"/>
                  </a:lnTo>
                  <a:lnTo>
                    <a:pt x="498977" y="3274595"/>
                  </a:lnTo>
                  <a:lnTo>
                    <a:pt x="546100" y="3276600"/>
                  </a:lnTo>
                  <a:lnTo>
                    <a:pt x="4989067" y="3276600"/>
                  </a:lnTo>
                  <a:lnTo>
                    <a:pt x="5036190" y="3274595"/>
                  </a:lnTo>
                  <a:lnTo>
                    <a:pt x="5082199" y="3268691"/>
                  </a:lnTo>
                  <a:lnTo>
                    <a:pt x="5126931" y="3259050"/>
                  </a:lnTo>
                  <a:lnTo>
                    <a:pt x="5170221" y="3245838"/>
                  </a:lnTo>
                  <a:lnTo>
                    <a:pt x="5211905" y="3229218"/>
                  </a:lnTo>
                  <a:lnTo>
                    <a:pt x="5251821" y="3209354"/>
                  </a:lnTo>
                  <a:lnTo>
                    <a:pt x="5289803" y="3186409"/>
                  </a:lnTo>
                  <a:lnTo>
                    <a:pt x="5325689" y="3160548"/>
                  </a:lnTo>
                  <a:lnTo>
                    <a:pt x="5359314" y="3131935"/>
                  </a:lnTo>
                  <a:lnTo>
                    <a:pt x="5390514" y="3100734"/>
                  </a:lnTo>
                  <a:lnTo>
                    <a:pt x="5419125" y="3067108"/>
                  </a:lnTo>
                  <a:lnTo>
                    <a:pt x="5444984" y="3031221"/>
                  </a:lnTo>
                  <a:lnTo>
                    <a:pt x="5467927" y="2993238"/>
                  </a:lnTo>
                  <a:lnTo>
                    <a:pt x="5487790" y="2953321"/>
                  </a:lnTo>
                  <a:lnTo>
                    <a:pt x="5504409" y="2911636"/>
                  </a:lnTo>
                  <a:lnTo>
                    <a:pt x="5517620" y="2868347"/>
                  </a:lnTo>
                  <a:lnTo>
                    <a:pt x="5527259" y="2823616"/>
                  </a:lnTo>
                  <a:lnTo>
                    <a:pt x="5533163" y="2777608"/>
                  </a:lnTo>
                  <a:lnTo>
                    <a:pt x="5535167" y="2730487"/>
                  </a:lnTo>
                  <a:lnTo>
                    <a:pt x="5535167" y="546100"/>
                  </a:lnTo>
                  <a:lnTo>
                    <a:pt x="5533163" y="498977"/>
                  </a:lnTo>
                  <a:lnTo>
                    <a:pt x="5527259" y="452968"/>
                  </a:lnTo>
                  <a:lnTo>
                    <a:pt x="5517620" y="408236"/>
                  </a:lnTo>
                  <a:lnTo>
                    <a:pt x="5504409" y="364946"/>
                  </a:lnTo>
                  <a:lnTo>
                    <a:pt x="5487790" y="323262"/>
                  </a:lnTo>
                  <a:lnTo>
                    <a:pt x="5467927" y="283346"/>
                  </a:lnTo>
                  <a:lnTo>
                    <a:pt x="5444984" y="245364"/>
                  </a:lnTo>
                  <a:lnTo>
                    <a:pt x="5419125" y="209478"/>
                  </a:lnTo>
                  <a:lnTo>
                    <a:pt x="5390514" y="175853"/>
                  </a:lnTo>
                  <a:lnTo>
                    <a:pt x="5359314" y="144653"/>
                  </a:lnTo>
                  <a:lnTo>
                    <a:pt x="5325689" y="116042"/>
                  </a:lnTo>
                  <a:lnTo>
                    <a:pt x="5289803" y="90183"/>
                  </a:lnTo>
                  <a:lnTo>
                    <a:pt x="5251821" y="67240"/>
                  </a:lnTo>
                  <a:lnTo>
                    <a:pt x="5211905" y="47377"/>
                  </a:lnTo>
                  <a:lnTo>
                    <a:pt x="5170221" y="30758"/>
                  </a:lnTo>
                  <a:lnTo>
                    <a:pt x="5126931" y="17547"/>
                  </a:lnTo>
                  <a:lnTo>
                    <a:pt x="5082199" y="7908"/>
                  </a:lnTo>
                  <a:lnTo>
                    <a:pt x="5036190" y="2004"/>
                  </a:lnTo>
                  <a:lnTo>
                    <a:pt x="4989067" y="0"/>
                  </a:lnTo>
                  <a:close/>
                </a:path>
              </a:pathLst>
            </a:custGeom>
            <a:solidFill>
              <a:srgbClr val="7E7E7E"/>
            </a:solidFill>
          </p:spPr>
          <p:txBody>
            <a:bodyPr wrap="square" lIns="0" tIns="0" rIns="0" bIns="0" rtlCol="0"/>
            <a:lstStyle/>
            <a:p>
              <a:endParaRPr sz="2400"/>
            </a:p>
          </p:txBody>
        </p:sp>
        <p:sp>
          <p:nvSpPr>
            <p:cNvPr id="4" name="object 4"/>
            <p:cNvSpPr/>
            <p:nvPr/>
          </p:nvSpPr>
          <p:spPr>
            <a:xfrm>
              <a:off x="2237994" y="1201674"/>
              <a:ext cx="5535295" cy="3276600"/>
            </a:xfrm>
            <a:custGeom>
              <a:avLst/>
              <a:gdLst/>
              <a:ahLst/>
              <a:cxnLst/>
              <a:rect l="l" t="t" r="r" b="b"/>
              <a:pathLst>
                <a:path w="5535295" h="3276600">
                  <a:moveTo>
                    <a:pt x="0" y="546100"/>
                  </a:moveTo>
                  <a:lnTo>
                    <a:pt x="2004" y="498977"/>
                  </a:lnTo>
                  <a:lnTo>
                    <a:pt x="7908" y="452968"/>
                  </a:lnTo>
                  <a:lnTo>
                    <a:pt x="17547" y="408236"/>
                  </a:lnTo>
                  <a:lnTo>
                    <a:pt x="30758" y="364946"/>
                  </a:lnTo>
                  <a:lnTo>
                    <a:pt x="47377" y="323262"/>
                  </a:lnTo>
                  <a:lnTo>
                    <a:pt x="67240" y="283346"/>
                  </a:lnTo>
                  <a:lnTo>
                    <a:pt x="90183" y="245364"/>
                  </a:lnTo>
                  <a:lnTo>
                    <a:pt x="116042" y="209478"/>
                  </a:lnTo>
                  <a:lnTo>
                    <a:pt x="144653" y="175853"/>
                  </a:lnTo>
                  <a:lnTo>
                    <a:pt x="175853" y="144653"/>
                  </a:lnTo>
                  <a:lnTo>
                    <a:pt x="209478" y="116042"/>
                  </a:lnTo>
                  <a:lnTo>
                    <a:pt x="245364" y="90183"/>
                  </a:lnTo>
                  <a:lnTo>
                    <a:pt x="283346" y="67240"/>
                  </a:lnTo>
                  <a:lnTo>
                    <a:pt x="323262" y="47377"/>
                  </a:lnTo>
                  <a:lnTo>
                    <a:pt x="364946" y="30758"/>
                  </a:lnTo>
                  <a:lnTo>
                    <a:pt x="408236" y="17547"/>
                  </a:lnTo>
                  <a:lnTo>
                    <a:pt x="452968" y="7908"/>
                  </a:lnTo>
                  <a:lnTo>
                    <a:pt x="498977" y="2004"/>
                  </a:lnTo>
                  <a:lnTo>
                    <a:pt x="546100" y="0"/>
                  </a:lnTo>
                  <a:lnTo>
                    <a:pt x="4989067" y="0"/>
                  </a:lnTo>
                  <a:lnTo>
                    <a:pt x="5036190" y="2004"/>
                  </a:lnTo>
                  <a:lnTo>
                    <a:pt x="5082199" y="7908"/>
                  </a:lnTo>
                  <a:lnTo>
                    <a:pt x="5126931" y="17547"/>
                  </a:lnTo>
                  <a:lnTo>
                    <a:pt x="5170221" y="30758"/>
                  </a:lnTo>
                  <a:lnTo>
                    <a:pt x="5211905" y="47377"/>
                  </a:lnTo>
                  <a:lnTo>
                    <a:pt x="5251821" y="67240"/>
                  </a:lnTo>
                  <a:lnTo>
                    <a:pt x="5289803" y="90183"/>
                  </a:lnTo>
                  <a:lnTo>
                    <a:pt x="5325689" y="116042"/>
                  </a:lnTo>
                  <a:lnTo>
                    <a:pt x="5359314" y="144653"/>
                  </a:lnTo>
                  <a:lnTo>
                    <a:pt x="5390514" y="175853"/>
                  </a:lnTo>
                  <a:lnTo>
                    <a:pt x="5419125" y="209478"/>
                  </a:lnTo>
                  <a:lnTo>
                    <a:pt x="5444984" y="245364"/>
                  </a:lnTo>
                  <a:lnTo>
                    <a:pt x="5467927" y="283346"/>
                  </a:lnTo>
                  <a:lnTo>
                    <a:pt x="5487790" y="323262"/>
                  </a:lnTo>
                  <a:lnTo>
                    <a:pt x="5504409" y="364946"/>
                  </a:lnTo>
                  <a:lnTo>
                    <a:pt x="5517620" y="408236"/>
                  </a:lnTo>
                  <a:lnTo>
                    <a:pt x="5527259" y="452968"/>
                  </a:lnTo>
                  <a:lnTo>
                    <a:pt x="5533163" y="498977"/>
                  </a:lnTo>
                  <a:lnTo>
                    <a:pt x="5535167" y="546100"/>
                  </a:lnTo>
                  <a:lnTo>
                    <a:pt x="5535167" y="2730487"/>
                  </a:lnTo>
                  <a:lnTo>
                    <a:pt x="5533163" y="2777608"/>
                  </a:lnTo>
                  <a:lnTo>
                    <a:pt x="5527259" y="2823616"/>
                  </a:lnTo>
                  <a:lnTo>
                    <a:pt x="5517620" y="2868347"/>
                  </a:lnTo>
                  <a:lnTo>
                    <a:pt x="5504409" y="2911636"/>
                  </a:lnTo>
                  <a:lnTo>
                    <a:pt x="5487790" y="2953321"/>
                  </a:lnTo>
                  <a:lnTo>
                    <a:pt x="5467927" y="2993238"/>
                  </a:lnTo>
                  <a:lnTo>
                    <a:pt x="5444984" y="3031221"/>
                  </a:lnTo>
                  <a:lnTo>
                    <a:pt x="5419125" y="3067108"/>
                  </a:lnTo>
                  <a:lnTo>
                    <a:pt x="5390514" y="3100734"/>
                  </a:lnTo>
                  <a:lnTo>
                    <a:pt x="5359314" y="3131935"/>
                  </a:lnTo>
                  <a:lnTo>
                    <a:pt x="5325689" y="3160548"/>
                  </a:lnTo>
                  <a:lnTo>
                    <a:pt x="5289803" y="3186409"/>
                  </a:lnTo>
                  <a:lnTo>
                    <a:pt x="5251821" y="3209354"/>
                  </a:lnTo>
                  <a:lnTo>
                    <a:pt x="5211905" y="3229218"/>
                  </a:lnTo>
                  <a:lnTo>
                    <a:pt x="5170221" y="3245838"/>
                  </a:lnTo>
                  <a:lnTo>
                    <a:pt x="5126931" y="3259050"/>
                  </a:lnTo>
                  <a:lnTo>
                    <a:pt x="5082199" y="3268691"/>
                  </a:lnTo>
                  <a:lnTo>
                    <a:pt x="5036190" y="3274595"/>
                  </a:lnTo>
                  <a:lnTo>
                    <a:pt x="4989067" y="3276600"/>
                  </a:lnTo>
                  <a:lnTo>
                    <a:pt x="546100" y="3276600"/>
                  </a:lnTo>
                  <a:lnTo>
                    <a:pt x="498977" y="3274595"/>
                  </a:lnTo>
                  <a:lnTo>
                    <a:pt x="452968" y="3268691"/>
                  </a:lnTo>
                  <a:lnTo>
                    <a:pt x="408236" y="3259050"/>
                  </a:lnTo>
                  <a:lnTo>
                    <a:pt x="364946" y="3245838"/>
                  </a:lnTo>
                  <a:lnTo>
                    <a:pt x="323262" y="3229218"/>
                  </a:lnTo>
                  <a:lnTo>
                    <a:pt x="283346" y="3209354"/>
                  </a:lnTo>
                  <a:lnTo>
                    <a:pt x="245364" y="3186409"/>
                  </a:lnTo>
                  <a:lnTo>
                    <a:pt x="209478" y="3160548"/>
                  </a:lnTo>
                  <a:lnTo>
                    <a:pt x="175853" y="3131935"/>
                  </a:lnTo>
                  <a:lnTo>
                    <a:pt x="144653" y="3100734"/>
                  </a:lnTo>
                  <a:lnTo>
                    <a:pt x="116042" y="3067108"/>
                  </a:lnTo>
                  <a:lnTo>
                    <a:pt x="90183" y="3031221"/>
                  </a:lnTo>
                  <a:lnTo>
                    <a:pt x="67240" y="2993238"/>
                  </a:lnTo>
                  <a:lnTo>
                    <a:pt x="47377" y="2953321"/>
                  </a:lnTo>
                  <a:lnTo>
                    <a:pt x="30758" y="2911636"/>
                  </a:lnTo>
                  <a:lnTo>
                    <a:pt x="17547" y="2868347"/>
                  </a:lnTo>
                  <a:lnTo>
                    <a:pt x="7908" y="2823616"/>
                  </a:lnTo>
                  <a:lnTo>
                    <a:pt x="2004" y="2777608"/>
                  </a:lnTo>
                  <a:lnTo>
                    <a:pt x="0" y="2730487"/>
                  </a:lnTo>
                  <a:lnTo>
                    <a:pt x="0" y="546100"/>
                  </a:lnTo>
                  <a:close/>
                </a:path>
              </a:pathLst>
            </a:custGeom>
            <a:ln w="25908">
              <a:solidFill>
                <a:srgbClr val="008FBB"/>
              </a:solidFill>
            </a:ln>
          </p:spPr>
          <p:txBody>
            <a:bodyPr wrap="square" lIns="0" tIns="0" rIns="0" bIns="0" rtlCol="0"/>
            <a:lstStyle/>
            <a:p>
              <a:endParaRPr sz="2400"/>
            </a:p>
          </p:txBody>
        </p:sp>
      </p:grpSp>
      <p:sp>
        <p:nvSpPr>
          <p:cNvPr id="5" name="object 5"/>
          <p:cNvSpPr txBox="1"/>
          <p:nvPr/>
        </p:nvSpPr>
        <p:spPr>
          <a:xfrm>
            <a:off x="3661326" y="5017143"/>
            <a:ext cx="839893" cy="344475"/>
          </a:xfrm>
          <a:prstGeom prst="rect">
            <a:avLst/>
          </a:prstGeom>
        </p:spPr>
        <p:txBody>
          <a:bodyPr vert="horz" wrap="square" lIns="0" tIns="16087" rIns="0" bIns="0" rtlCol="0">
            <a:spAutoFit/>
          </a:bodyPr>
          <a:lstStyle/>
          <a:p>
            <a:pPr marL="16933">
              <a:spcBef>
                <a:spcPts val="127"/>
              </a:spcBef>
            </a:pPr>
            <a:r>
              <a:rPr sz="2133" spc="-13" dirty="0">
                <a:solidFill>
                  <a:srgbClr val="FFFFFF"/>
                </a:solidFill>
                <a:latin typeface="Calibri"/>
                <a:cs typeface="Calibri"/>
              </a:rPr>
              <a:t>Staging</a:t>
            </a:r>
            <a:endParaRPr sz="2133">
              <a:latin typeface="Calibri"/>
              <a:cs typeface="Calibri"/>
            </a:endParaRPr>
          </a:p>
        </p:txBody>
      </p:sp>
      <p:graphicFrame>
        <p:nvGraphicFramePr>
          <p:cNvPr id="6" name="object 6"/>
          <p:cNvGraphicFramePr>
            <a:graphicFrameLocks noGrp="1"/>
          </p:cNvGraphicFramePr>
          <p:nvPr/>
        </p:nvGraphicFramePr>
        <p:xfrm>
          <a:off x="1157775" y="2562617"/>
          <a:ext cx="929639" cy="628227"/>
        </p:xfrm>
        <a:graphic>
          <a:graphicData uri="http://schemas.openxmlformats.org/drawingml/2006/table">
            <a:tbl>
              <a:tblPr firstRow="1" bandRow="1">
                <a:tableStyleId>{2D5ABB26-0587-4C30-8999-92F81FD0307C}</a:tableStyleId>
              </a:tblPr>
              <a:tblGrid>
                <a:gridCol w="314113">
                  <a:extLst>
                    <a:ext uri="{9D8B030D-6E8A-4147-A177-3AD203B41FA5}">
                      <a16:colId xmlns:a16="http://schemas.microsoft.com/office/drawing/2014/main" val="20000"/>
                    </a:ext>
                  </a:extLst>
                </a:gridCol>
                <a:gridCol w="301413">
                  <a:extLst>
                    <a:ext uri="{9D8B030D-6E8A-4147-A177-3AD203B41FA5}">
                      <a16:colId xmlns:a16="http://schemas.microsoft.com/office/drawing/2014/main" val="20001"/>
                    </a:ext>
                  </a:extLst>
                </a:gridCol>
                <a:gridCol w="314113">
                  <a:extLst>
                    <a:ext uri="{9D8B030D-6E8A-4147-A177-3AD203B41FA5}">
                      <a16:colId xmlns:a16="http://schemas.microsoft.com/office/drawing/2014/main" val="20002"/>
                    </a:ext>
                  </a:extLst>
                </a:gridCol>
              </a:tblGrid>
              <a:tr h="213360">
                <a:tc>
                  <a:txBody>
                    <a:bodyPr/>
                    <a:lstStyle/>
                    <a:p>
                      <a:pPr>
                        <a:lnSpc>
                          <a:spcPct val="100000"/>
                        </a:lnSpc>
                      </a:pPr>
                      <a:endParaRPr sz="1200">
                        <a:latin typeface="Times New Roman"/>
                        <a:cs typeface="Times New Roman"/>
                      </a:endParaRPr>
                    </a:p>
                  </a:txBody>
                  <a:tcPr marL="0" marR="0" marT="0" marB="0">
                    <a:lnL w="5715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57150">
                      <a:solidFill>
                        <a:srgbClr val="BCBCBC"/>
                      </a:solidFill>
                      <a:prstDash val="solid"/>
                    </a:lnR>
                    <a:lnT w="57150">
                      <a:solidFill>
                        <a:srgbClr val="BCBCBC"/>
                      </a:solidFill>
                      <a:prstDash val="solid"/>
                    </a:lnT>
                    <a:lnB w="38100">
                      <a:solidFill>
                        <a:srgbClr val="BCBCBC"/>
                      </a:solidFill>
                      <a:prstDash val="solid"/>
                    </a:lnB>
                  </a:tcPr>
                </a:tc>
                <a:extLst>
                  <a:ext uri="{0D108BD9-81ED-4DB2-BD59-A6C34878D82A}">
                    <a16:rowId xmlns:a16="http://schemas.microsoft.com/office/drawing/2014/main" val="10000"/>
                  </a:ext>
                </a:extLst>
              </a:tr>
              <a:tr h="201507">
                <a:tc>
                  <a:txBody>
                    <a:bodyPr/>
                    <a:lstStyle/>
                    <a:p>
                      <a:pPr>
                        <a:lnSpc>
                          <a:spcPct val="100000"/>
                        </a:lnSpc>
                      </a:pPr>
                      <a:endParaRPr sz="11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11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11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38100">
                      <a:solidFill>
                        <a:srgbClr val="BCBCBC"/>
                      </a:solidFill>
                      <a:prstDash val="solid"/>
                    </a:lnB>
                  </a:tcPr>
                </a:tc>
                <a:extLst>
                  <a:ext uri="{0D108BD9-81ED-4DB2-BD59-A6C34878D82A}">
                    <a16:rowId xmlns:a16="http://schemas.microsoft.com/office/drawing/2014/main" val="10001"/>
                  </a:ext>
                </a:extLst>
              </a:tr>
              <a:tr h="213360">
                <a:tc>
                  <a:txBody>
                    <a:bodyPr/>
                    <a:lstStyle/>
                    <a:p>
                      <a:pPr>
                        <a:lnSpc>
                          <a:spcPct val="100000"/>
                        </a:lnSpc>
                      </a:pPr>
                      <a:endParaRPr sz="12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57150">
                      <a:solidFill>
                        <a:srgbClr val="BCBCBC"/>
                      </a:solidFill>
                      <a:prstDash val="solid"/>
                    </a:lnB>
                  </a:tcPr>
                </a:tc>
                <a:extLst>
                  <a:ext uri="{0D108BD9-81ED-4DB2-BD59-A6C34878D82A}">
                    <a16:rowId xmlns:a16="http://schemas.microsoft.com/office/drawing/2014/main" val="10002"/>
                  </a:ext>
                </a:extLst>
              </a:tr>
            </a:tbl>
          </a:graphicData>
        </a:graphic>
      </p:graphicFrame>
      <p:sp>
        <p:nvSpPr>
          <p:cNvPr id="7" name="object 7"/>
          <p:cNvSpPr txBox="1"/>
          <p:nvPr/>
        </p:nvSpPr>
        <p:spPr>
          <a:xfrm>
            <a:off x="935668" y="4679357"/>
            <a:ext cx="1424093"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data</a:t>
            </a:r>
            <a:r>
              <a:rPr sz="2133" spc="-33" dirty="0">
                <a:solidFill>
                  <a:srgbClr val="FFFFFF"/>
                </a:solidFill>
                <a:latin typeface="Calibri"/>
                <a:cs typeface="Calibri"/>
              </a:rPr>
              <a:t> </a:t>
            </a:r>
            <a:r>
              <a:rPr sz="2133" spc="-13" dirty="0">
                <a:solidFill>
                  <a:srgbClr val="FFFFFF"/>
                </a:solidFill>
                <a:latin typeface="Calibri"/>
                <a:cs typeface="Calibri"/>
              </a:rPr>
              <a:t>sources</a:t>
            </a:r>
            <a:endParaRPr sz="2133">
              <a:latin typeface="Calibri"/>
              <a:cs typeface="Calibri"/>
            </a:endParaRPr>
          </a:p>
        </p:txBody>
      </p:sp>
      <p:sp>
        <p:nvSpPr>
          <p:cNvPr id="8" name="object 8"/>
          <p:cNvSpPr/>
          <p:nvPr/>
        </p:nvSpPr>
        <p:spPr>
          <a:xfrm>
            <a:off x="1327573" y="3561639"/>
            <a:ext cx="689187" cy="934720"/>
          </a:xfrm>
          <a:custGeom>
            <a:avLst/>
            <a:gdLst/>
            <a:ahLst/>
            <a:cxnLst/>
            <a:rect l="l" t="t" r="r" b="b"/>
            <a:pathLst>
              <a:path w="516890" h="701039">
                <a:moveTo>
                  <a:pt x="516585" y="479298"/>
                </a:moveTo>
                <a:lnTo>
                  <a:pt x="507314" y="498830"/>
                </a:lnTo>
                <a:lnTo>
                  <a:pt x="481190" y="516432"/>
                </a:lnTo>
                <a:lnTo>
                  <a:pt x="461238" y="523798"/>
                </a:lnTo>
                <a:lnTo>
                  <a:pt x="461238" y="608330"/>
                </a:lnTo>
                <a:lnTo>
                  <a:pt x="459905" y="615873"/>
                </a:lnTo>
                <a:lnTo>
                  <a:pt x="456158" y="621690"/>
                </a:lnTo>
                <a:lnTo>
                  <a:pt x="450342" y="625436"/>
                </a:lnTo>
                <a:lnTo>
                  <a:pt x="442785" y="626757"/>
                </a:lnTo>
                <a:lnTo>
                  <a:pt x="435229" y="625436"/>
                </a:lnTo>
                <a:lnTo>
                  <a:pt x="429412" y="621690"/>
                </a:lnTo>
                <a:lnTo>
                  <a:pt x="425665" y="615873"/>
                </a:lnTo>
                <a:lnTo>
                  <a:pt x="424332" y="608330"/>
                </a:lnTo>
                <a:lnTo>
                  <a:pt x="425665" y="600786"/>
                </a:lnTo>
                <a:lnTo>
                  <a:pt x="429412" y="594969"/>
                </a:lnTo>
                <a:lnTo>
                  <a:pt x="435229" y="591223"/>
                </a:lnTo>
                <a:lnTo>
                  <a:pt x="442785" y="589889"/>
                </a:lnTo>
                <a:lnTo>
                  <a:pt x="450342" y="591223"/>
                </a:lnTo>
                <a:lnTo>
                  <a:pt x="456158" y="594969"/>
                </a:lnTo>
                <a:lnTo>
                  <a:pt x="459905" y="600786"/>
                </a:lnTo>
                <a:lnTo>
                  <a:pt x="461238" y="608330"/>
                </a:lnTo>
                <a:lnTo>
                  <a:pt x="461238" y="523798"/>
                </a:lnTo>
                <a:lnTo>
                  <a:pt x="440715" y="531368"/>
                </a:lnTo>
                <a:lnTo>
                  <a:pt x="388391" y="542925"/>
                </a:lnTo>
                <a:lnTo>
                  <a:pt x="326745" y="550379"/>
                </a:lnTo>
                <a:lnTo>
                  <a:pt x="258292" y="553021"/>
                </a:lnTo>
                <a:lnTo>
                  <a:pt x="189826" y="550379"/>
                </a:lnTo>
                <a:lnTo>
                  <a:pt x="128193" y="542925"/>
                </a:lnTo>
                <a:lnTo>
                  <a:pt x="75869" y="531368"/>
                </a:lnTo>
                <a:lnTo>
                  <a:pt x="35394" y="516432"/>
                </a:lnTo>
                <a:lnTo>
                  <a:pt x="0" y="479298"/>
                </a:lnTo>
                <a:lnTo>
                  <a:pt x="0" y="626757"/>
                </a:lnTo>
                <a:lnTo>
                  <a:pt x="35394" y="663905"/>
                </a:lnTo>
                <a:lnTo>
                  <a:pt x="75869" y="678840"/>
                </a:lnTo>
                <a:lnTo>
                  <a:pt x="128193" y="690397"/>
                </a:lnTo>
                <a:lnTo>
                  <a:pt x="189826" y="697852"/>
                </a:lnTo>
                <a:lnTo>
                  <a:pt x="258292" y="700493"/>
                </a:lnTo>
                <a:lnTo>
                  <a:pt x="326745" y="697852"/>
                </a:lnTo>
                <a:lnTo>
                  <a:pt x="388391" y="690397"/>
                </a:lnTo>
                <a:lnTo>
                  <a:pt x="440715" y="678840"/>
                </a:lnTo>
                <a:lnTo>
                  <a:pt x="481190" y="663905"/>
                </a:lnTo>
                <a:lnTo>
                  <a:pt x="516585" y="626757"/>
                </a:lnTo>
                <a:lnTo>
                  <a:pt x="516585" y="589889"/>
                </a:lnTo>
                <a:lnTo>
                  <a:pt x="516585" y="553021"/>
                </a:lnTo>
                <a:lnTo>
                  <a:pt x="516585" y="479298"/>
                </a:lnTo>
                <a:close/>
              </a:path>
              <a:path w="516890" h="701039">
                <a:moveTo>
                  <a:pt x="516585" y="294957"/>
                </a:moveTo>
                <a:lnTo>
                  <a:pt x="507314" y="314502"/>
                </a:lnTo>
                <a:lnTo>
                  <a:pt x="481190" y="332092"/>
                </a:lnTo>
                <a:lnTo>
                  <a:pt x="461238" y="339458"/>
                </a:lnTo>
                <a:lnTo>
                  <a:pt x="461238" y="423989"/>
                </a:lnTo>
                <a:lnTo>
                  <a:pt x="459905" y="431533"/>
                </a:lnTo>
                <a:lnTo>
                  <a:pt x="456158" y="437349"/>
                </a:lnTo>
                <a:lnTo>
                  <a:pt x="450342" y="441096"/>
                </a:lnTo>
                <a:lnTo>
                  <a:pt x="442785" y="442429"/>
                </a:lnTo>
                <a:lnTo>
                  <a:pt x="435229" y="441096"/>
                </a:lnTo>
                <a:lnTo>
                  <a:pt x="429412" y="437349"/>
                </a:lnTo>
                <a:lnTo>
                  <a:pt x="425665" y="431533"/>
                </a:lnTo>
                <a:lnTo>
                  <a:pt x="424332" y="423989"/>
                </a:lnTo>
                <a:lnTo>
                  <a:pt x="425665" y="416445"/>
                </a:lnTo>
                <a:lnTo>
                  <a:pt x="429412" y="410629"/>
                </a:lnTo>
                <a:lnTo>
                  <a:pt x="435229" y="406882"/>
                </a:lnTo>
                <a:lnTo>
                  <a:pt x="442785" y="405561"/>
                </a:lnTo>
                <a:lnTo>
                  <a:pt x="450342" y="406882"/>
                </a:lnTo>
                <a:lnTo>
                  <a:pt x="456158" y="410629"/>
                </a:lnTo>
                <a:lnTo>
                  <a:pt x="459905" y="416445"/>
                </a:lnTo>
                <a:lnTo>
                  <a:pt x="461238" y="423989"/>
                </a:lnTo>
                <a:lnTo>
                  <a:pt x="461238" y="339458"/>
                </a:lnTo>
                <a:lnTo>
                  <a:pt x="440715" y="347027"/>
                </a:lnTo>
                <a:lnTo>
                  <a:pt x="388391" y="358584"/>
                </a:lnTo>
                <a:lnTo>
                  <a:pt x="326745" y="366039"/>
                </a:lnTo>
                <a:lnTo>
                  <a:pt x="258292" y="368693"/>
                </a:lnTo>
                <a:lnTo>
                  <a:pt x="189826" y="366039"/>
                </a:lnTo>
                <a:lnTo>
                  <a:pt x="128193" y="358584"/>
                </a:lnTo>
                <a:lnTo>
                  <a:pt x="75869" y="347027"/>
                </a:lnTo>
                <a:lnTo>
                  <a:pt x="35394" y="332092"/>
                </a:lnTo>
                <a:lnTo>
                  <a:pt x="0" y="294957"/>
                </a:lnTo>
                <a:lnTo>
                  <a:pt x="0" y="442429"/>
                </a:lnTo>
                <a:lnTo>
                  <a:pt x="35394" y="479564"/>
                </a:lnTo>
                <a:lnTo>
                  <a:pt x="75869" y="494499"/>
                </a:lnTo>
                <a:lnTo>
                  <a:pt x="128193" y="506056"/>
                </a:lnTo>
                <a:lnTo>
                  <a:pt x="189826" y="513511"/>
                </a:lnTo>
                <a:lnTo>
                  <a:pt x="258292" y="516153"/>
                </a:lnTo>
                <a:lnTo>
                  <a:pt x="326745" y="513511"/>
                </a:lnTo>
                <a:lnTo>
                  <a:pt x="388391" y="506056"/>
                </a:lnTo>
                <a:lnTo>
                  <a:pt x="440715" y="494499"/>
                </a:lnTo>
                <a:lnTo>
                  <a:pt x="481190" y="479564"/>
                </a:lnTo>
                <a:lnTo>
                  <a:pt x="516585" y="442429"/>
                </a:lnTo>
                <a:lnTo>
                  <a:pt x="516585" y="405561"/>
                </a:lnTo>
                <a:lnTo>
                  <a:pt x="516585" y="368693"/>
                </a:lnTo>
                <a:lnTo>
                  <a:pt x="516585" y="294957"/>
                </a:lnTo>
                <a:close/>
              </a:path>
              <a:path w="516890" h="701039">
                <a:moveTo>
                  <a:pt x="516585" y="110617"/>
                </a:moveTo>
                <a:lnTo>
                  <a:pt x="507314" y="130162"/>
                </a:lnTo>
                <a:lnTo>
                  <a:pt x="481190" y="147751"/>
                </a:lnTo>
                <a:lnTo>
                  <a:pt x="461238" y="155117"/>
                </a:lnTo>
                <a:lnTo>
                  <a:pt x="461238" y="239649"/>
                </a:lnTo>
                <a:lnTo>
                  <a:pt x="459905" y="247192"/>
                </a:lnTo>
                <a:lnTo>
                  <a:pt x="456158" y="253022"/>
                </a:lnTo>
                <a:lnTo>
                  <a:pt x="450342" y="256755"/>
                </a:lnTo>
                <a:lnTo>
                  <a:pt x="442785" y="258089"/>
                </a:lnTo>
                <a:lnTo>
                  <a:pt x="435229" y="256755"/>
                </a:lnTo>
                <a:lnTo>
                  <a:pt x="429412" y="253022"/>
                </a:lnTo>
                <a:lnTo>
                  <a:pt x="425665" y="247192"/>
                </a:lnTo>
                <a:lnTo>
                  <a:pt x="424332" y="239649"/>
                </a:lnTo>
                <a:lnTo>
                  <a:pt x="425665" y="232105"/>
                </a:lnTo>
                <a:lnTo>
                  <a:pt x="429412" y="226288"/>
                </a:lnTo>
                <a:lnTo>
                  <a:pt x="435229" y="222542"/>
                </a:lnTo>
                <a:lnTo>
                  <a:pt x="442785" y="221221"/>
                </a:lnTo>
                <a:lnTo>
                  <a:pt x="450342" y="222542"/>
                </a:lnTo>
                <a:lnTo>
                  <a:pt x="456158" y="226288"/>
                </a:lnTo>
                <a:lnTo>
                  <a:pt x="459905" y="232105"/>
                </a:lnTo>
                <a:lnTo>
                  <a:pt x="461238" y="239649"/>
                </a:lnTo>
                <a:lnTo>
                  <a:pt x="461238" y="155117"/>
                </a:lnTo>
                <a:lnTo>
                  <a:pt x="440715" y="162687"/>
                </a:lnTo>
                <a:lnTo>
                  <a:pt x="388391" y="174244"/>
                </a:lnTo>
                <a:lnTo>
                  <a:pt x="326745" y="181698"/>
                </a:lnTo>
                <a:lnTo>
                  <a:pt x="258292" y="184353"/>
                </a:lnTo>
                <a:lnTo>
                  <a:pt x="189826" y="181698"/>
                </a:lnTo>
                <a:lnTo>
                  <a:pt x="128193" y="174244"/>
                </a:lnTo>
                <a:lnTo>
                  <a:pt x="75869" y="162687"/>
                </a:lnTo>
                <a:lnTo>
                  <a:pt x="35394" y="147751"/>
                </a:lnTo>
                <a:lnTo>
                  <a:pt x="0" y="110617"/>
                </a:lnTo>
                <a:lnTo>
                  <a:pt x="0" y="258089"/>
                </a:lnTo>
                <a:lnTo>
                  <a:pt x="35394" y="295224"/>
                </a:lnTo>
                <a:lnTo>
                  <a:pt x="75869" y="310159"/>
                </a:lnTo>
                <a:lnTo>
                  <a:pt x="128193" y="321716"/>
                </a:lnTo>
                <a:lnTo>
                  <a:pt x="189826" y="329171"/>
                </a:lnTo>
                <a:lnTo>
                  <a:pt x="258292" y="331825"/>
                </a:lnTo>
                <a:lnTo>
                  <a:pt x="326745" y="329171"/>
                </a:lnTo>
                <a:lnTo>
                  <a:pt x="388391" y="321716"/>
                </a:lnTo>
                <a:lnTo>
                  <a:pt x="440715" y="310159"/>
                </a:lnTo>
                <a:lnTo>
                  <a:pt x="481190" y="295224"/>
                </a:lnTo>
                <a:lnTo>
                  <a:pt x="516585" y="258089"/>
                </a:lnTo>
                <a:lnTo>
                  <a:pt x="516585" y="221221"/>
                </a:lnTo>
                <a:lnTo>
                  <a:pt x="516585" y="184353"/>
                </a:lnTo>
                <a:lnTo>
                  <a:pt x="516585" y="110617"/>
                </a:lnTo>
                <a:close/>
              </a:path>
              <a:path w="516890" h="701039">
                <a:moveTo>
                  <a:pt x="516585" y="73748"/>
                </a:moveTo>
                <a:lnTo>
                  <a:pt x="481317" y="36525"/>
                </a:lnTo>
                <a:lnTo>
                  <a:pt x="440931" y="21602"/>
                </a:lnTo>
                <a:lnTo>
                  <a:pt x="388658" y="10071"/>
                </a:lnTo>
                <a:lnTo>
                  <a:pt x="326961" y="2628"/>
                </a:lnTo>
                <a:lnTo>
                  <a:pt x="258292" y="0"/>
                </a:lnTo>
                <a:lnTo>
                  <a:pt x="189623" y="2628"/>
                </a:lnTo>
                <a:lnTo>
                  <a:pt x="127927" y="10071"/>
                </a:lnTo>
                <a:lnTo>
                  <a:pt x="75653" y="21602"/>
                </a:lnTo>
                <a:lnTo>
                  <a:pt x="35267" y="36525"/>
                </a:lnTo>
                <a:lnTo>
                  <a:pt x="0" y="73748"/>
                </a:lnTo>
                <a:lnTo>
                  <a:pt x="9220" y="93345"/>
                </a:lnTo>
                <a:lnTo>
                  <a:pt x="75653" y="125882"/>
                </a:lnTo>
                <a:lnTo>
                  <a:pt x="127927" y="137414"/>
                </a:lnTo>
                <a:lnTo>
                  <a:pt x="189623" y="144843"/>
                </a:lnTo>
                <a:lnTo>
                  <a:pt x="258292" y="147485"/>
                </a:lnTo>
                <a:lnTo>
                  <a:pt x="326961" y="144843"/>
                </a:lnTo>
                <a:lnTo>
                  <a:pt x="388658" y="137414"/>
                </a:lnTo>
                <a:lnTo>
                  <a:pt x="440931" y="125882"/>
                </a:lnTo>
                <a:lnTo>
                  <a:pt x="481317" y="110959"/>
                </a:lnTo>
                <a:lnTo>
                  <a:pt x="516585" y="73748"/>
                </a:lnTo>
                <a:close/>
              </a:path>
            </a:pathLst>
          </a:custGeom>
          <a:solidFill>
            <a:srgbClr val="9B9B9B"/>
          </a:solidFill>
        </p:spPr>
        <p:txBody>
          <a:bodyPr wrap="square" lIns="0" tIns="0" rIns="0" bIns="0" rtlCol="0"/>
          <a:lstStyle/>
          <a:p>
            <a:endParaRPr sz="2400"/>
          </a:p>
        </p:txBody>
      </p:sp>
      <p:grpSp>
        <p:nvGrpSpPr>
          <p:cNvPr id="9" name="object 9"/>
          <p:cNvGrpSpPr/>
          <p:nvPr/>
        </p:nvGrpSpPr>
        <p:grpSpPr>
          <a:xfrm>
            <a:off x="2468795" y="2001266"/>
            <a:ext cx="2617893" cy="2959100"/>
            <a:chOff x="1851596" y="1500949"/>
            <a:chExt cx="1963420" cy="2219325"/>
          </a:xfrm>
        </p:grpSpPr>
        <p:sp>
          <p:nvSpPr>
            <p:cNvPr id="10" name="object 10"/>
            <p:cNvSpPr/>
            <p:nvPr/>
          </p:nvSpPr>
          <p:spPr>
            <a:xfrm>
              <a:off x="2286000" y="1505711"/>
              <a:ext cx="1524000" cy="2209800"/>
            </a:xfrm>
            <a:custGeom>
              <a:avLst/>
              <a:gdLst/>
              <a:ahLst/>
              <a:cxnLst/>
              <a:rect l="l" t="t" r="r" b="b"/>
              <a:pathLst>
                <a:path w="1524000" h="2209800">
                  <a:moveTo>
                    <a:pt x="0" y="254000"/>
                  </a:moveTo>
                  <a:lnTo>
                    <a:pt x="4090" y="208328"/>
                  </a:lnTo>
                  <a:lnTo>
                    <a:pt x="15884" y="165349"/>
                  </a:lnTo>
                  <a:lnTo>
                    <a:pt x="34666" y="125777"/>
                  </a:lnTo>
                  <a:lnTo>
                    <a:pt x="59719" y="90328"/>
                  </a:lnTo>
                  <a:lnTo>
                    <a:pt x="90328" y="59719"/>
                  </a:lnTo>
                  <a:lnTo>
                    <a:pt x="125777" y="34666"/>
                  </a:lnTo>
                  <a:lnTo>
                    <a:pt x="165349" y="15884"/>
                  </a:lnTo>
                  <a:lnTo>
                    <a:pt x="208328" y="4090"/>
                  </a:lnTo>
                  <a:lnTo>
                    <a:pt x="254000" y="0"/>
                  </a:lnTo>
                  <a:lnTo>
                    <a:pt x="1270000" y="0"/>
                  </a:lnTo>
                  <a:lnTo>
                    <a:pt x="1315671" y="4090"/>
                  </a:lnTo>
                  <a:lnTo>
                    <a:pt x="1358650" y="15884"/>
                  </a:lnTo>
                  <a:lnTo>
                    <a:pt x="1398222" y="34666"/>
                  </a:lnTo>
                  <a:lnTo>
                    <a:pt x="1433671" y="59719"/>
                  </a:lnTo>
                  <a:lnTo>
                    <a:pt x="1464280" y="90328"/>
                  </a:lnTo>
                  <a:lnTo>
                    <a:pt x="1489333" y="125777"/>
                  </a:lnTo>
                  <a:lnTo>
                    <a:pt x="1508115" y="165349"/>
                  </a:lnTo>
                  <a:lnTo>
                    <a:pt x="1519909" y="208328"/>
                  </a:lnTo>
                  <a:lnTo>
                    <a:pt x="1524000" y="254000"/>
                  </a:lnTo>
                  <a:lnTo>
                    <a:pt x="1524000" y="1955800"/>
                  </a:lnTo>
                  <a:lnTo>
                    <a:pt x="1519909" y="2001471"/>
                  </a:lnTo>
                  <a:lnTo>
                    <a:pt x="1508115" y="2044450"/>
                  </a:lnTo>
                  <a:lnTo>
                    <a:pt x="1489333" y="2084022"/>
                  </a:lnTo>
                  <a:lnTo>
                    <a:pt x="1464280" y="2119471"/>
                  </a:lnTo>
                  <a:lnTo>
                    <a:pt x="1433671" y="2150080"/>
                  </a:lnTo>
                  <a:lnTo>
                    <a:pt x="1398222" y="2175133"/>
                  </a:lnTo>
                  <a:lnTo>
                    <a:pt x="1358650" y="2193915"/>
                  </a:lnTo>
                  <a:lnTo>
                    <a:pt x="1315671" y="2205709"/>
                  </a:lnTo>
                  <a:lnTo>
                    <a:pt x="1270000" y="2209800"/>
                  </a:lnTo>
                  <a:lnTo>
                    <a:pt x="254000" y="2209800"/>
                  </a:lnTo>
                  <a:lnTo>
                    <a:pt x="208328" y="2205709"/>
                  </a:lnTo>
                  <a:lnTo>
                    <a:pt x="165349" y="2193915"/>
                  </a:lnTo>
                  <a:lnTo>
                    <a:pt x="125777" y="2175133"/>
                  </a:lnTo>
                  <a:lnTo>
                    <a:pt x="90328" y="2150080"/>
                  </a:lnTo>
                  <a:lnTo>
                    <a:pt x="59719" y="2119471"/>
                  </a:lnTo>
                  <a:lnTo>
                    <a:pt x="34666" y="2084022"/>
                  </a:lnTo>
                  <a:lnTo>
                    <a:pt x="15884" y="2044450"/>
                  </a:lnTo>
                  <a:lnTo>
                    <a:pt x="4090" y="2001471"/>
                  </a:lnTo>
                  <a:lnTo>
                    <a:pt x="0" y="1955800"/>
                  </a:lnTo>
                  <a:lnTo>
                    <a:pt x="0" y="254000"/>
                  </a:lnTo>
                  <a:close/>
                </a:path>
              </a:pathLst>
            </a:custGeom>
            <a:ln w="9144">
              <a:solidFill>
                <a:srgbClr val="00C3FF"/>
              </a:solidFill>
            </a:ln>
          </p:spPr>
          <p:txBody>
            <a:bodyPr wrap="square" lIns="0" tIns="0" rIns="0" bIns="0" rtlCol="0"/>
            <a:lstStyle/>
            <a:p>
              <a:endParaRPr sz="2400"/>
            </a:p>
          </p:txBody>
        </p:sp>
        <p:sp>
          <p:nvSpPr>
            <p:cNvPr id="11" name="object 11"/>
            <p:cNvSpPr/>
            <p:nvPr/>
          </p:nvSpPr>
          <p:spPr>
            <a:xfrm>
              <a:off x="1864613" y="2184653"/>
              <a:ext cx="462280" cy="160020"/>
            </a:xfrm>
            <a:custGeom>
              <a:avLst/>
              <a:gdLst/>
              <a:ahLst/>
              <a:cxnLst/>
              <a:rect l="l" t="t" r="r" b="b"/>
              <a:pathLst>
                <a:path w="462280" h="160019">
                  <a:moveTo>
                    <a:pt x="381762" y="0"/>
                  </a:moveTo>
                  <a:lnTo>
                    <a:pt x="381762" y="40004"/>
                  </a:lnTo>
                  <a:lnTo>
                    <a:pt x="0" y="40004"/>
                  </a:lnTo>
                  <a:lnTo>
                    <a:pt x="0" y="120014"/>
                  </a:lnTo>
                  <a:lnTo>
                    <a:pt x="381762" y="120014"/>
                  </a:lnTo>
                  <a:lnTo>
                    <a:pt x="381762" y="160019"/>
                  </a:lnTo>
                  <a:lnTo>
                    <a:pt x="461772" y="80009"/>
                  </a:lnTo>
                  <a:lnTo>
                    <a:pt x="381762" y="0"/>
                  </a:lnTo>
                  <a:close/>
                </a:path>
              </a:pathLst>
            </a:custGeom>
            <a:solidFill>
              <a:srgbClr val="00C3FF"/>
            </a:solidFill>
          </p:spPr>
          <p:txBody>
            <a:bodyPr wrap="square" lIns="0" tIns="0" rIns="0" bIns="0" rtlCol="0"/>
            <a:lstStyle/>
            <a:p>
              <a:endParaRPr sz="2400"/>
            </a:p>
          </p:txBody>
        </p:sp>
        <p:sp>
          <p:nvSpPr>
            <p:cNvPr id="12" name="object 12"/>
            <p:cNvSpPr/>
            <p:nvPr/>
          </p:nvSpPr>
          <p:spPr>
            <a:xfrm>
              <a:off x="1864613" y="2184653"/>
              <a:ext cx="462280" cy="160020"/>
            </a:xfrm>
            <a:custGeom>
              <a:avLst/>
              <a:gdLst/>
              <a:ahLst/>
              <a:cxnLst/>
              <a:rect l="l" t="t" r="r" b="b"/>
              <a:pathLst>
                <a:path w="462280" h="160019">
                  <a:moveTo>
                    <a:pt x="0" y="40004"/>
                  </a:moveTo>
                  <a:lnTo>
                    <a:pt x="381762" y="40004"/>
                  </a:lnTo>
                  <a:lnTo>
                    <a:pt x="381762" y="0"/>
                  </a:lnTo>
                  <a:lnTo>
                    <a:pt x="461772" y="80009"/>
                  </a:lnTo>
                  <a:lnTo>
                    <a:pt x="381762" y="160019"/>
                  </a:lnTo>
                  <a:lnTo>
                    <a:pt x="381762" y="120014"/>
                  </a:lnTo>
                  <a:lnTo>
                    <a:pt x="0" y="120014"/>
                  </a:lnTo>
                  <a:lnTo>
                    <a:pt x="0" y="40004"/>
                  </a:lnTo>
                  <a:close/>
                </a:path>
              </a:pathLst>
            </a:custGeom>
            <a:ln w="25908">
              <a:solidFill>
                <a:srgbClr val="008FBB"/>
              </a:solidFill>
            </a:ln>
          </p:spPr>
          <p:txBody>
            <a:bodyPr wrap="square" lIns="0" tIns="0" rIns="0" bIns="0" rtlCol="0"/>
            <a:lstStyle/>
            <a:p>
              <a:endParaRPr sz="2400"/>
            </a:p>
          </p:txBody>
        </p:sp>
        <p:sp>
          <p:nvSpPr>
            <p:cNvPr id="13" name="object 13"/>
            <p:cNvSpPr/>
            <p:nvPr/>
          </p:nvSpPr>
          <p:spPr>
            <a:xfrm>
              <a:off x="1864613" y="2971037"/>
              <a:ext cx="462280" cy="160020"/>
            </a:xfrm>
            <a:custGeom>
              <a:avLst/>
              <a:gdLst/>
              <a:ahLst/>
              <a:cxnLst/>
              <a:rect l="l" t="t" r="r" b="b"/>
              <a:pathLst>
                <a:path w="462280" h="160019">
                  <a:moveTo>
                    <a:pt x="381762" y="0"/>
                  </a:moveTo>
                  <a:lnTo>
                    <a:pt x="381762" y="40005"/>
                  </a:lnTo>
                  <a:lnTo>
                    <a:pt x="0" y="40005"/>
                  </a:lnTo>
                  <a:lnTo>
                    <a:pt x="0" y="120014"/>
                  </a:lnTo>
                  <a:lnTo>
                    <a:pt x="381762" y="120014"/>
                  </a:lnTo>
                  <a:lnTo>
                    <a:pt x="381762" y="160019"/>
                  </a:lnTo>
                  <a:lnTo>
                    <a:pt x="461772" y="80010"/>
                  </a:lnTo>
                  <a:lnTo>
                    <a:pt x="381762" y="0"/>
                  </a:lnTo>
                  <a:close/>
                </a:path>
              </a:pathLst>
            </a:custGeom>
            <a:solidFill>
              <a:srgbClr val="00C3FF"/>
            </a:solidFill>
          </p:spPr>
          <p:txBody>
            <a:bodyPr wrap="square" lIns="0" tIns="0" rIns="0" bIns="0" rtlCol="0"/>
            <a:lstStyle/>
            <a:p>
              <a:endParaRPr sz="2400"/>
            </a:p>
          </p:txBody>
        </p:sp>
        <p:sp>
          <p:nvSpPr>
            <p:cNvPr id="14" name="object 14"/>
            <p:cNvSpPr/>
            <p:nvPr/>
          </p:nvSpPr>
          <p:spPr>
            <a:xfrm>
              <a:off x="1864613" y="2971037"/>
              <a:ext cx="462280" cy="160020"/>
            </a:xfrm>
            <a:custGeom>
              <a:avLst/>
              <a:gdLst/>
              <a:ahLst/>
              <a:cxnLst/>
              <a:rect l="l" t="t" r="r" b="b"/>
              <a:pathLst>
                <a:path w="462280" h="160019">
                  <a:moveTo>
                    <a:pt x="0" y="40005"/>
                  </a:moveTo>
                  <a:lnTo>
                    <a:pt x="381762" y="40005"/>
                  </a:lnTo>
                  <a:lnTo>
                    <a:pt x="381762" y="0"/>
                  </a:lnTo>
                  <a:lnTo>
                    <a:pt x="461772" y="80010"/>
                  </a:lnTo>
                  <a:lnTo>
                    <a:pt x="381762" y="160019"/>
                  </a:lnTo>
                  <a:lnTo>
                    <a:pt x="381762" y="120014"/>
                  </a:lnTo>
                  <a:lnTo>
                    <a:pt x="0" y="120014"/>
                  </a:lnTo>
                  <a:lnTo>
                    <a:pt x="0" y="40005"/>
                  </a:lnTo>
                  <a:close/>
                </a:path>
              </a:pathLst>
            </a:custGeom>
            <a:ln w="25908">
              <a:solidFill>
                <a:srgbClr val="008FBB"/>
              </a:solidFill>
            </a:ln>
          </p:spPr>
          <p:txBody>
            <a:bodyPr wrap="square" lIns="0" tIns="0" rIns="0" bIns="0" rtlCol="0"/>
            <a:lstStyle/>
            <a:p>
              <a:endParaRPr sz="2400"/>
            </a:p>
          </p:txBody>
        </p:sp>
        <p:sp>
          <p:nvSpPr>
            <p:cNvPr id="15" name="object 15"/>
            <p:cNvSpPr/>
            <p:nvPr/>
          </p:nvSpPr>
          <p:spPr>
            <a:xfrm>
              <a:off x="2518143" y="1803336"/>
              <a:ext cx="1202055" cy="1675764"/>
            </a:xfrm>
            <a:custGeom>
              <a:avLst/>
              <a:gdLst/>
              <a:ahLst/>
              <a:cxnLst/>
              <a:rect l="l" t="t" r="r" b="b"/>
              <a:pathLst>
                <a:path w="1202054" h="1675764">
                  <a:moveTo>
                    <a:pt x="564794" y="0"/>
                  </a:moveTo>
                  <a:lnTo>
                    <a:pt x="0" y="0"/>
                  </a:lnTo>
                  <a:lnTo>
                    <a:pt x="0" y="41973"/>
                  </a:lnTo>
                  <a:lnTo>
                    <a:pt x="0" y="127190"/>
                  </a:lnTo>
                  <a:lnTo>
                    <a:pt x="0" y="396849"/>
                  </a:lnTo>
                  <a:lnTo>
                    <a:pt x="564794" y="396849"/>
                  </a:lnTo>
                  <a:lnTo>
                    <a:pt x="564794" y="353999"/>
                  </a:lnTo>
                  <a:lnTo>
                    <a:pt x="564794" y="353606"/>
                  </a:lnTo>
                  <a:lnTo>
                    <a:pt x="564794" y="269011"/>
                  </a:lnTo>
                  <a:lnTo>
                    <a:pt x="522427" y="269011"/>
                  </a:lnTo>
                  <a:lnTo>
                    <a:pt x="522427" y="353606"/>
                  </a:lnTo>
                  <a:lnTo>
                    <a:pt x="381228" y="353606"/>
                  </a:lnTo>
                  <a:lnTo>
                    <a:pt x="381228" y="269011"/>
                  </a:lnTo>
                  <a:lnTo>
                    <a:pt x="352996" y="269011"/>
                  </a:lnTo>
                  <a:lnTo>
                    <a:pt x="352996" y="353606"/>
                  </a:lnTo>
                  <a:lnTo>
                    <a:pt x="211797" y="353606"/>
                  </a:lnTo>
                  <a:lnTo>
                    <a:pt x="211797" y="269011"/>
                  </a:lnTo>
                  <a:lnTo>
                    <a:pt x="183553" y="269011"/>
                  </a:lnTo>
                  <a:lnTo>
                    <a:pt x="183553" y="353606"/>
                  </a:lnTo>
                  <a:lnTo>
                    <a:pt x="42367" y="353606"/>
                  </a:lnTo>
                  <a:lnTo>
                    <a:pt x="42367" y="268389"/>
                  </a:lnTo>
                  <a:lnTo>
                    <a:pt x="564794" y="268389"/>
                  </a:lnTo>
                  <a:lnTo>
                    <a:pt x="564794" y="240690"/>
                  </a:lnTo>
                  <a:lnTo>
                    <a:pt x="564794" y="240398"/>
                  </a:lnTo>
                  <a:lnTo>
                    <a:pt x="564794" y="155714"/>
                  </a:lnTo>
                  <a:lnTo>
                    <a:pt x="522427" y="155714"/>
                  </a:lnTo>
                  <a:lnTo>
                    <a:pt x="522427" y="240398"/>
                  </a:lnTo>
                  <a:lnTo>
                    <a:pt x="381228" y="240398"/>
                  </a:lnTo>
                  <a:lnTo>
                    <a:pt x="381228" y="155714"/>
                  </a:lnTo>
                  <a:lnTo>
                    <a:pt x="352996" y="155714"/>
                  </a:lnTo>
                  <a:lnTo>
                    <a:pt x="352996" y="240398"/>
                  </a:lnTo>
                  <a:lnTo>
                    <a:pt x="211797" y="240398"/>
                  </a:lnTo>
                  <a:lnTo>
                    <a:pt x="211797" y="155714"/>
                  </a:lnTo>
                  <a:lnTo>
                    <a:pt x="183553" y="155714"/>
                  </a:lnTo>
                  <a:lnTo>
                    <a:pt x="183553" y="240398"/>
                  </a:lnTo>
                  <a:lnTo>
                    <a:pt x="42367" y="240398"/>
                  </a:lnTo>
                  <a:lnTo>
                    <a:pt x="42367" y="155181"/>
                  </a:lnTo>
                  <a:lnTo>
                    <a:pt x="564794" y="155181"/>
                  </a:lnTo>
                  <a:lnTo>
                    <a:pt x="564794" y="127381"/>
                  </a:lnTo>
                  <a:lnTo>
                    <a:pt x="564794" y="127190"/>
                  </a:lnTo>
                  <a:lnTo>
                    <a:pt x="564794" y="42405"/>
                  </a:lnTo>
                  <a:lnTo>
                    <a:pt x="522427" y="42405"/>
                  </a:lnTo>
                  <a:lnTo>
                    <a:pt x="522427" y="127190"/>
                  </a:lnTo>
                  <a:lnTo>
                    <a:pt x="381228" y="127190"/>
                  </a:lnTo>
                  <a:lnTo>
                    <a:pt x="381228" y="42405"/>
                  </a:lnTo>
                  <a:lnTo>
                    <a:pt x="352996" y="42405"/>
                  </a:lnTo>
                  <a:lnTo>
                    <a:pt x="352996" y="127190"/>
                  </a:lnTo>
                  <a:lnTo>
                    <a:pt x="211797" y="127190"/>
                  </a:lnTo>
                  <a:lnTo>
                    <a:pt x="211797" y="42405"/>
                  </a:lnTo>
                  <a:lnTo>
                    <a:pt x="183553" y="42405"/>
                  </a:lnTo>
                  <a:lnTo>
                    <a:pt x="183553" y="127190"/>
                  </a:lnTo>
                  <a:lnTo>
                    <a:pt x="42367" y="127190"/>
                  </a:lnTo>
                  <a:lnTo>
                    <a:pt x="42367" y="41973"/>
                  </a:lnTo>
                  <a:lnTo>
                    <a:pt x="564794" y="41973"/>
                  </a:lnTo>
                  <a:lnTo>
                    <a:pt x="564794" y="0"/>
                  </a:lnTo>
                  <a:close/>
                </a:path>
                <a:path w="1202054" h="1675764">
                  <a:moveTo>
                    <a:pt x="836066" y="1278636"/>
                  </a:moveTo>
                  <a:lnTo>
                    <a:pt x="271272" y="1278636"/>
                  </a:lnTo>
                  <a:lnTo>
                    <a:pt x="271272" y="1320609"/>
                  </a:lnTo>
                  <a:lnTo>
                    <a:pt x="271272" y="1405826"/>
                  </a:lnTo>
                  <a:lnTo>
                    <a:pt x="271272" y="1675485"/>
                  </a:lnTo>
                  <a:lnTo>
                    <a:pt x="836066" y="1675485"/>
                  </a:lnTo>
                  <a:lnTo>
                    <a:pt x="836066" y="1632635"/>
                  </a:lnTo>
                  <a:lnTo>
                    <a:pt x="836066" y="1632242"/>
                  </a:lnTo>
                  <a:lnTo>
                    <a:pt x="836066" y="1547647"/>
                  </a:lnTo>
                  <a:lnTo>
                    <a:pt x="793699" y="1547647"/>
                  </a:lnTo>
                  <a:lnTo>
                    <a:pt x="793699" y="1632242"/>
                  </a:lnTo>
                  <a:lnTo>
                    <a:pt x="652500" y="1632242"/>
                  </a:lnTo>
                  <a:lnTo>
                    <a:pt x="652500" y="1547647"/>
                  </a:lnTo>
                  <a:lnTo>
                    <a:pt x="624268" y="1547647"/>
                  </a:lnTo>
                  <a:lnTo>
                    <a:pt x="624268" y="1632242"/>
                  </a:lnTo>
                  <a:lnTo>
                    <a:pt x="483069" y="1632242"/>
                  </a:lnTo>
                  <a:lnTo>
                    <a:pt x="483069" y="1547647"/>
                  </a:lnTo>
                  <a:lnTo>
                    <a:pt x="454825" y="1547647"/>
                  </a:lnTo>
                  <a:lnTo>
                    <a:pt x="454825" y="1632242"/>
                  </a:lnTo>
                  <a:lnTo>
                    <a:pt x="313639" y="1632242"/>
                  </a:lnTo>
                  <a:lnTo>
                    <a:pt x="313639" y="1547025"/>
                  </a:lnTo>
                  <a:lnTo>
                    <a:pt x="836066" y="1547025"/>
                  </a:lnTo>
                  <a:lnTo>
                    <a:pt x="836066" y="1519326"/>
                  </a:lnTo>
                  <a:lnTo>
                    <a:pt x="836066" y="1519034"/>
                  </a:lnTo>
                  <a:lnTo>
                    <a:pt x="836066" y="1434350"/>
                  </a:lnTo>
                  <a:lnTo>
                    <a:pt x="793699" y="1434350"/>
                  </a:lnTo>
                  <a:lnTo>
                    <a:pt x="793699" y="1519034"/>
                  </a:lnTo>
                  <a:lnTo>
                    <a:pt x="652500" y="1519034"/>
                  </a:lnTo>
                  <a:lnTo>
                    <a:pt x="652500" y="1434350"/>
                  </a:lnTo>
                  <a:lnTo>
                    <a:pt x="624268" y="1434350"/>
                  </a:lnTo>
                  <a:lnTo>
                    <a:pt x="624268" y="1519034"/>
                  </a:lnTo>
                  <a:lnTo>
                    <a:pt x="483069" y="1519034"/>
                  </a:lnTo>
                  <a:lnTo>
                    <a:pt x="483069" y="1434350"/>
                  </a:lnTo>
                  <a:lnTo>
                    <a:pt x="454825" y="1434350"/>
                  </a:lnTo>
                  <a:lnTo>
                    <a:pt x="454825" y="1519034"/>
                  </a:lnTo>
                  <a:lnTo>
                    <a:pt x="313639" y="1519034"/>
                  </a:lnTo>
                  <a:lnTo>
                    <a:pt x="313639" y="1433817"/>
                  </a:lnTo>
                  <a:lnTo>
                    <a:pt x="836066" y="1433817"/>
                  </a:lnTo>
                  <a:lnTo>
                    <a:pt x="836066" y="1406017"/>
                  </a:lnTo>
                  <a:lnTo>
                    <a:pt x="836066" y="1405826"/>
                  </a:lnTo>
                  <a:lnTo>
                    <a:pt x="836066" y="1321041"/>
                  </a:lnTo>
                  <a:lnTo>
                    <a:pt x="793699" y="1321041"/>
                  </a:lnTo>
                  <a:lnTo>
                    <a:pt x="793699" y="1405826"/>
                  </a:lnTo>
                  <a:lnTo>
                    <a:pt x="652500" y="1405826"/>
                  </a:lnTo>
                  <a:lnTo>
                    <a:pt x="652500" y="1321041"/>
                  </a:lnTo>
                  <a:lnTo>
                    <a:pt x="624268" y="1321041"/>
                  </a:lnTo>
                  <a:lnTo>
                    <a:pt x="624268" y="1405826"/>
                  </a:lnTo>
                  <a:lnTo>
                    <a:pt x="483069" y="1405826"/>
                  </a:lnTo>
                  <a:lnTo>
                    <a:pt x="483069" y="1321041"/>
                  </a:lnTo>
                  <a:lnTo>
                    <a:pt x="454825" y="1321041"/>
                  </a:lnTo>
                  <a:lnTo>
                    <a:pt x="454825" y="1405826"/>
                  </a:lnTo>
                  <a:lnTo>
                    <a:pt x="313639" y="1405826"/>
                  </a:lnTo>
                  <a:lnTo>
                    <a:pt x="313639" y="1320609"/>
                  </a:lnTo>
                  <a:lnTo>
                    <a:pt x="836066" y="1320609"/>
                  </a:lnTo>
                  <a:lnTo>
                    <a:pt x="836066" y="1278636"/>
                  </a:lnTo>
                  <a:close/>
                </a:path>
                <a:path w="1202054" h="1675764">
                  <a:moveTo>
                    <a:pt x="1201699" y="491934"/>
                  </a:moveTo>
                  <a:lnTo>
                    <a:pt x="635647" y="491934"/>
                  </a:lnTo>
                  <a:lnTo>
                    <a:pt x="635647" y="533806"/>
                  </a:lnTo>
                  <a:lnTo>
                    <a:pt x="635647" y="618845"/>
                  </a:lnTo>
                  <a:lnTo>
                    <a:pt x="635647" y="887895"/>
                  </a:lnTo>
                  <a:lnTo>
                    <a:pt x="1201699" y="887895"/>
                  </a:lnTo>
                  <a:lnTo>
                    <a:pt x="1201699" y="845134"/>
                  </a:lnTo>
                  <a:lnTo>
                    <a:pt x="1201699" y="844753"/>
                  </a:lnTo>
                  <a:lnTo>
                    <a:pt x="1201699" y="760349"/>
                  </a:lnTo>
                  <a:lnTo>
                    <a:pt x="1159230" y="760349"/>
                  </a:lnTo>
                  <a:lnTo>
                    <a:pt x="1159230" y="844753"/>
                  </a:lnTo>
                  <a:lnTo>
                    <a:pt x="1017727" y="844753"/>
                  </a:lnTo>
                  <a:lnTo>
                    <a:pt x="1017727" y="760349"/>
                  </a:lnTo>
                  <a:lnTo>
                    <a:pt x="989418" y="760349"/>
                  </a:lnTo>
                  <a:lnTo>
                    <a:pt x="989418" y="844753"/>
                  </a:lnTo>
                  <a:lnTo>
                    <a:pt x="847915" y="844753"/>
                  </a:lnTo>
                  <a:lnTo>
                    <a:pt x="847915" y="760349"/>
                  </a:lnTo>
                  <a:lnTo>
                    <a:pt x="819607" y="760349"/>
                  </a:lnTo>
                  <a:lnTo>
                    <a:pt x="819607" y="844753"/>
                  </a:lnTo>
                  <a:lnTo>
                    <a:pt x="678103" y="844753"/>
                  </a:lnTo>
                  <a:lnTo>
                    <a:pt x="678103" y="759714"/>
                  </a:lnTo>
                  <a:lnTo>
                    <a:pt x="1201699" y="759714"/>
                  </a:lnTo>
                  <a:lnTo>
                    <a:pt x="1201699" y="732078"/>
                  </a:lnTo>
                  <a:lnTo>
                    <a:pt x="1201699" y="731799"/>
                  </a:lnTo>
                  <a:lnTo>
                    <a:pt x="1201699" y="647293"/>
                  </a:lnTo>
                  <a:lnTo>
                    <a:pt x="1159230" y="647293"/>
                  </a:lnTo>
                  <a:lnTo>
                    <a:pt x="1159230" y="731799"/>
                  </a:lnTo>
                  <a:lnTo>
                    <a:pt x="1017727" y="731799"/>
                  </a:lnTo>
                  <a:lnTo>
                    <a:pt x="1017727" y="647293"/>
                  </a:lnTo>
                  <a:lnTo>
                    <a:pt x="989418" y="647293"/>
                  </a:lnTo>
                  <a:lnTo>
                    <a:pt x="989418" y="731799"/>
                  </a:lnTo>
                  <a:lnTo>
                    <a:pt x="847915" y="731799"/>
                  </a:lnTo>
                  <a:lnTo>
                    <a:pt x="847915" y="647293"/>
                  </a:lnTo>
                  <a:lnTo>
                    <a:pt x="819607" y="647293"/>
                  </a:lnTo>
                  <a:lnTo>
                    <a:pt x="819607" y="731799"/>
                  </a:lnTo>
                  <a:lnTo>
                    <a:pt x="678103" y="731799"/>
                  </a:lnTo>
                  <a:lnTo>
                    <a:pt x="678103" y="646760"/>
                  </a:lnTo>
                  <a:lnTo>
                    <a:pt x="1201699" y="646760"/>
                  </a:lnTo>
                  <a:lnTo>
                    <a:pt x="1201699" y="619036"/>
                  </a:lnTo>
                  <a:lnTo>
                    <a:pt x="1201699" y="618845"/>
                  </a:lnTo>
                  <a:lnTo>
                    <a:pt x="1201699" y="534238"/>
                  </a:lnTo>
                  <a:lnTo>
                    <a:pt x="1159230" y="534238"/>
                  </a:lnTo>
                  <a:lnTo>
                    <a:pt x="1159230" y="618845"/>
                  </a:lnTo>
                  <a:lnTo>
                    <a:pt x="1017727" y="618845"/>
                  </a:lnTo>
                  <a:lnTo>
                    <a:pt x="1017727" y="534238"/>
                  </a:lnTo>
                  <a:lnTo>
                    <a:pt x="989418" y="534238"/>
                  </a:lnTo>
                  <a:lnTo>
                    <a:pt x="989418" y="618845"/>
                  </a:lnTo>
                  <a:lnTo>
                    <a:pt x="847915" y="618845"/>
                  </a:lnTo>
                  <a:lnTo>
                    <a:pt x="847915" y="534238"/>
                  </a:lnTo>
                  <a:lnTo>
                    <a:pt x="819607" y="534238"/>
                  </a:lnTo>
                  <a:lnTo>
                    <a:pt x="819607" y="618845"/>
                  </a:lnTo>
                  <a:lnTo>
                    <a:pt x="678103" y="618845"/>
                  </a:lnTo>
                  <a:lnTo>
                    <a:pt x="678103" y="533806"/>
                  </a:lnTo>
                  <a:lnTo>
                    <a:pt x="1201699" y="533806"/>
                  </a:lnTo>
                  <a:lnTo>
                    <a:pt x="1201699" y="491934"/>
                  </a:lnTo>
                  <a:close/>
                </a:path>
              </a:pathLst>
            </a:custGeom>
            <a:solidFill>
              <a:srgbClr val="BCBCBC"/>
            </a:solidFill>
          </p:spPr>
          <p:txBody>
            <a:bodyPr wrap="square" lIns="0" tIns="0" rIns="0" bIns="0" rtlCol="0"/>
            <a:lstStyle/>
            <a:p>
              <a:endParaRPr sz="2400"/>
            </a:p>
          </p:txBody>
        </p:sp>
      </p:grpSp>
      <p:sp>
        <p:nvSpPr>
          <p:cNvPr id="16" name="object 16"/>
          <p:cNvSpPr txBox="1"/>
          <p:nvPr/>
        </p:nvSpPr>
        <p:spPr>
          <a:xfrm>
            <a:off x="5473530" y="4948055"/>
            <a:ext cx="1876213" cy="672706"/>
          </a:xfrm>
          <a:prstGeom prst="rect">
            <a:avLst/>
          </a:prstGeom>
        </p:spPr>
        <p:txBody>
          <a:bodyPr vert="horz" wrap="square" lIns="0" tIns="16087" rIns="0" bIns="0" rtlCol="0">
            <a:spAutoFit/>
          </a:bodyPr>
          <a:lstStyle/>
          <a:p>
            <a:pPr algn="ctr">
              <a:spcBef>
                <a:spcPts val="127"/>
              </a:spcBef>
            </a:pPr>
            <a:r>
              <a:rPr sz="2133" dirty="0">
                <a:solidFill>
                  <a:srgbClr val="FFFFFF"/>
                </a:solidFill>
                <a:latin typeface="Calibri"/>
                <a:cs typeface="Calibri"/>
              </a:rPr>
              <a:t>Core</a:t>
            </a:r>
            <a:r>
              <a:rPr sz="2133" spc="-33" dirty="0">
                <a:solidFill>
                  <a:srgbClr val="FFFFFF"/>
                </a:solidFill>
                <a:latin typeface="Calibri"/>
                <a:cs typeface="Calibri"/>
              </a:rPr>
              <a:t> </a:t>
            </a:r>
            <a:r>
              <a:rPr sz="2133" spc="-67" dirty="0">
                <a:solidFill>
                  <a:srgbClr val="FFFFFF"/>
                </a:solidFill>
                <a:latin typeface="Calibri"/>
                <a:cs typeface="Calibri"/>
              </a:rPr>
              <a:t>/</a:t>
            </a:r>
            <a:endParaRPr sz="2133">
              <a:latin typeface="Calibri"/>
              <a:cs typeface="Calibri"/>
            </a:endParaRPr>
          </a:p>
          <a:p>
            <a:pPr algn="ctr">
              <a:spcBef>
                <a:spcPts val="13"/>
              </a:spcBef>
            </a:pPr>
            <a:r>
              <a:rPr sz="2133" dirty="0">
                <a:solidFill>
                  <a:srgbClr val="FFFFFF"/>
                </a:solidFill>
                <a:latin typeface="Calibri"/>
                <a:cs typeface="Calibri"/>
              </a:rPr>
              <a:t>Data</a:t>
            </a:r>
            <a:r>
              <a:rPr sz="2133" spc="-53" dirty="0">
                <a:solidFill>
                  <a:srgbClr val="FFFFFF"/>
                </a:solidFill>
                <a:latin typeface="Calibri"/>
                <a:cs typeface="Calibri"/>
              </a:rPr>
              <a:t> </a:t>
            </a:r>
            <a:r>
              <a:rPr sz="2133" spc="-13" dirty="0">
                <a:solidFill>
                  <a:srgbClr val="FFFFFF"/>
                </a:solidFill>
                <a:latin typeface="Calibri"/>
                <a:cs typeface="Calibri"/>
              </a:rPr>
              <a:t>Warehouse</a:t>
            </a:r>
            <a:endParaRPr sz="2133">
              <a:latin typeface="Calibri"/>
              <a:cs typeface="Calibri"/>
            </a:endParaRPr>
          </a:p>
        </p:txBody>
      </p:sp>
      <p:grpSp>
        <p:nvGrpSpPr>
          <p:cNvPr id="17" name="object 17"/>
          <p:cNvGrpSpPr/>
          <p:nvPr/>
        </p:nvGrpSpPr>
        <p:grpSpPr>
          <a:xfrm>
            <a:off x="5388610" y="2001266"/>
            <a:ext cx="2044700" cy="2959100"/>
            <a:chOff x="4041457" y="1500949"/>
            <a:chExt cx="1533525" cy="2219325"/>
          </a:xfrm>
        </p:grpSpPr>
        <p:sp>
          <p:nvSpPr>
            <p:cNvPr id="18" name="object 18"/>
            <p:cNvSpPr/>
            <p:nvPr/>
          </p:nvSpPr>
          <p:spPr>
            <a:xfrm>
              <a:off x="4046220" y="1505711"/>
              <a:ext cx="1524000" cy="2209800"/>
            </a:xfrm>
            <a:custGeom>
              <a:avLst/>
              <a:gdLst/>
              <a:ahLst/>
              <a:cxnLst/>
              <a:rect l="l" t="t" r="r" b="b"/>
              <a:pathLst>
                <a:path w="1524000" h="2209800">
                  <a:moveTo>
                    <a:pt x="0" y="254000"/>
                  </a:moveTo>
                  <a:lnTo>
                    <a:pt x="4090" y="208328"/>
                  </a:lnTo>
                  <a:lnTo>
                    <a:pt x="15884" y="165349"/>
                  </a:lnTo>
                  <a:lnTo>
                    <a:pt x="34666" y="125777"/>
                  </a:lnTo>
                  <a:lnTo>
                    <a:pt x="59719" y="90328"/>
                  </a:lnTo>
                  <a:lnTo>
                    <a:pt x="90328" y="59719"/>
                  </a:lnTo>
                  <a:lnTo>
                    <a:pt x="125777" y="34666"/>
                  </a:lnTo>
                  <a:lnTo>
                    <a:pt x="165349" y="15884"/>
                  </a:lnTo>
                  <a:lnTo>
                    <a:pt x="208328" y="4090"/>
                  </a:lnTo>
                  <a:lnTo>
                    <a:pt x="254000" y="0"/>
                  </a:lnTo>
                  <a:lnTo>
                    <a:pt x="1270000" y="0"/>
                  </a:lnTo>
                  <a:lnTo>
                    <a:pt x="1315671" y="4090"/>
                  </a:lnTo>
                  <a:lnTo>
                    <a:pt x="1358650" y="15884"/>
                  </a:lnTo>
                  <a:lnTo>
                    <a:pt x="1398222" y="34666"/>
                  </a:lnTo>
                  <a:lnTo>
                    <a:pt x="1433671" y="59719"/>
                  </a:lnTo>
                  <a:lnTo>
                    <a:pt x="1464280" y="90328"/>
                  </a:lnTo>
                  <a:lnTo>
                    <a:pt x="1489333" y="125777"/>
                  </a:lnTo>
                  <a:lnTo>
                    <a:pt x="1508115" y="165349"/>
                  </a:lnTo>
                  <a:lnTo>
                    <a:pt x="1519909" y="208328"/>
                  </a:lnTo>
                  <a:lnTo>
                    <a:pt x="1524000" y="254000"/>
                  </a:lnTo>
                  <a:lnTo>
                    <a:pt x="1524000" y="1955800"/>
                  </a:lnTo>
                  <a:lnTo>
                    <a:pt x="1519909" y="2001471"/>
                  </a:lnTo>
                  <a:lnTo>
                    <a:pt x="1508115" y="2044450"/>
                  </a:lnTo>
                  <a:lnTo>
                    <a:pt x="1489333" y="2084022"/>
                  </a:lnTo>
                  <a:lnTo>
                    <a:pt x="1464280" y="2119471"/>
                  </a:lnTo>
                  <a:lnTo>
                    <a:pt x="1433671" y="2150080"/>
                  </a:lnTo>
                  <a:lnTo>
                    <a:pt x="1398222" y="2175133"/>
                  </a:lnTo>
                  <a:lnTo>
                    <a:pt x="1358650" y="2193915"/>
                  </a:lnTo>
                  <a:lnTo>
                    <a:pt x="1315671" y="2205709"/>
                  </a:lnTo>
                  <a:lnTo>
                    <a:pt x="1270000" y="2209800"/>
                  </a:lnTo>
                  <a:lnTo>
                    <a:pt x="254000" y="2209800"/>
                  </a:lnTo>
                  <a:lnTo>
                    <a:pt x="208328" y="2205709"/>
                  </a:lnTo>
                  <a:lnTo>
                    <a:pt x="165349" y="2193915"/>
                  </a:lnTo>
                  <a:lnTo>
                    <a:pt x="125777" y="2175133"/>
                  </a:lnTo>
                  <a:lnTo>
                    <a:pt x="90328" y="2150080"/>
                  </a:lnTo>
                  <a:lnTo>
                    <a:pt x="59719" y="2119471"/>
                  </a:lnTo>
                  <a:lnTo>
                    <a:pt x="34666" y="2084022"/>
                  </a:lnTo>
                  <a:lnTo>
                    <a:pt x="15884" y="2044450"/>
                  </a:lnTo>
                  <a:lnTo>
                    <a:pt x="4090" y="2001471"/>
                  </a:lnTo>
                  <a:lnTo>
                    <a:pt x="0" y="1955800"/>
                  </a:lnTo>
                  <a:lnTo>
                    <a:pt x="0" y="254000"/>
                  </a:lnTo>
                  <a:close/>
                </a:path>
              </a:pathLst>
            </a:custGeom>
            <a:ln w="9144">
              <a:solidFill>
                <a:srgbClr val="00C3FF"/>
              </a:solidFill>
            </a:ln>
          </p:spPr>
          <p:txBody>
            <a:bodyPr wrap="square" lIns="0" tIns="0" rIns="0" bIns="0" rtlCol="0"/>
            <a:lstStyle/>
            <a:p>
              <a:endParaRPr sz="2400"/>
            </a:p>
          </p:txBody>
        </p:sp>
        <p:sp>
          <p:nvSpPr>
            <p:cNvPr id="19" name="object 19"/>
            <p:cNvSpPr/>
            <p:nvPr/>
          </p:nvSpPr>
          <p:spPr>
            <a:xfrm>
              <a:off x="4526775" y="1951164"/>
              <a:ext cx="581660" cy="1351280"/>
            </a:xfrm>
            <a:custGeom>
              <a:avLst/>
              <a:gdLst/>
              <a:ahLst/>
              <a:cxnLst/>
              <a:rect l="l" t="t" r="r" b="b"/>
              <a:pathLst>
                <a:path w="581660" h="1351279">
                  <a:moveTo>
                    <a:pt x="227647" y="1109738"/>
                  </a:moveTo>
                  <a:lnTo>
                    <a:pt x="199339" y="1109738"/>
                  </a:lnTo>
                  <a:lnTo>
                    <a:pt x="199339" y="1194714"/>
                  </a:lnTo>
                  <a:lnTo>
                    <a:pt x="227647" y="1194714"/>
                  </a:lnTo>
                  <a:lnTo>
                    <a:pt x="227647" y="1109738"/>
                  </a:lnTo>
                  <a:close/>
                </a:path>
                <a:path w="581660" h="1351279">
                  <a:moveTo>
                    <a:pt x="397459" y="1109738"/>
                  </a:moveTo>
                  <a:lnTo>
                    <a:pt x="369150" y="1109738"/>
                  </a:lnTo>
                  <a:lnTo>
                    <a:pt x="369150" y="1194714"/>
                  </a:lnTo>
                  <a:lnTo>
                    <a:pt x="397459" y="1194714"/>
                  </a:lnTo>
                  <a:lnTo>
                    <a:pt x="397459" y="1109738"/>
                  </a:lnTo>
                  <a:close/>
                </a:path>
                <a:path w="581660" h="1351279">
                  <a:moveTo>
                    <a:pt x="564794" y="0"/>
                  </a:moveTo>
                  <a:lnTo>
                    <a:pt x="0" y="0"/>
                  </a:lnTo>
                  <a:lnTo>
                    <a:pt x="0" y="41973"/>
                  </a:lnTo>
                  <a:lnTo>
                    <a:pt x="0" y="127190"/>
                  </a:lnTo>
                  <a:lnTo>
                    <a:pt x="0" y="764298"/>
                  </a:lnTo>
                  <a:lnTo>
                    <a:pt x="564794" y="764298"/>
                  </a:lnTo>
                  <a:lnTo>
                    <a:pt x="564794" y="496214"/>
                  </a:lnTo>
                  <a:lnTo>
                    <a:pt x="522427" y="496214"/>
                  </a:lnTo>
                  <a:lnTo>
                    <a:pt x="522427" y="524167"/>
                  </a:lnTo>
                  <a:lnTo>
                    <a:pt x="522427" y="608012"/>
                  </a:lnTo>
                  <a:lnTo>
                    <a:pt x="522427" y="637235"/>
                  </a:lnTo>
                  <a:lnTo>
                    <a:pt x="522427" y="721093"/>
                  </a:lnTo>
                  <a:lnTo>
                    <a:pt x="381228" y="721093"/>
                  </a:lnTo>
                  <a:lnTo>
                    <a:pt x="381228" y="637235"/>
                  </a:lnTo>
                  <a:lnTo>
                    <a:pt x="522427" y="637235"/>
                  </a:lnTo>
                  <a:lnTo>
                    <a:pt x="522427" y="608012"/>
                  </a:lnTo>
                  <a:lnTo>
                    <a:pt x="381228" y="608012"/>
                  </a:lnTo>
                  <a:lnTo>
                    <a:pt x="381228" y="524167"/>
                  </a:lnTo>
                  <a:lnTo>
                    <a:pt x="522427" y="524167"/>
                  </a:lnTo>
                  <a:lnTo>
                    <a:pt x="522427" y="496214"/>
                  </a:lnTo>
                  <a:lnTo>
                    <a:pt x="352996" y="496214"/>
                  </a:lnTo>
                  <a:lnTo>
                    <a:pt x="352996" y="524167"/>
                  </a:lnTo>
                  <a:lnTo>
                    <a:pt x="352996" y="608012"/>
                  </a:lnTo>
                  <a:lnTo>
                    <a:pt x="352996" y="637235"/>
                  </a:lnTo>
                  <a:lnTo>
                    <a:pt x="352996" y="721093"/>
                  </a:lnTo>
                  <a:lnTo>
                    <a:pt x="211797" y="721093"/>
                  </a:lnTo>
                  <a:lnTo>
                    <a:pt x="211797" y="637235"/>
                  </a:lnTo>
                  <a:lnTo>
                    <a:pt x="352996" y="637235"/>
                  </a:lnTo>
                  <a:lnTo>
                    <a:pt x="352996" y="608012"/>
                  </a:lnTo>
                  <a:lnTo>
                    <a:pt x="211797" y="608012"/>
                  </a:lnTo>
                  <a:lnTo>
                    <a:pt x="211797" y="524167"/>
                  </a:lnTo>
                  <a:lnTo>
                    <a:pt x="352996" y="524167"/>
                  </a:lnTo>
                  <a:lnTo>
                    <a:pt x="352996" y="496214"/>
                  </a:lnTo>
                  <a:lnTo>
                    <a:pt x="183553" y="496214"/>
                  </a:lnTo>
                  <a:lnTo>
                    <a:pt x="183553" y="524167"/>
                  </a:lnTo>
                  <a:lnTo>
                    <a:pt x="183553" y="608012"/>
                  </a:lnTo>
                  <a:lnTo>
                    <a:pt x="183553" y="637235"/>
                  </a:lnTo>
                  <a:lnTo>
                    <a:pt x="183553" y="721093"/>
                  </a:lnTo>
                  <a:lnTo>
                    <a:pt x="42367" y="721093"/>
                  </a:lnTo>
                  <a:lnTo>
                    <a:pt x="42367" y="637235"/>
                  </a:lnTo>
                  <a:lnTo>
                    <a:pt x="183553" y="637235"/>
                  </a:lnTo>
                  <a:lnTo>
                    <a:pt x="183553" y="608012"/>
                  </a:lnTo>
                  <a:lnTo>
                    <a:pt x="42367" y="608012"/>
                  </a:lnTo>
                  <a:lnTo>
                    <a:pt x="42367" y="524167"/>
                  </a:lnTo>
                  <a:lnTo>
                    <a:pt x="183553" y="524167"/>
                  </a:lnTo>
                  <a:lnTo>
                    <a:pt x="183553" y="496214"/>
                  </a:lnTo>
                  <a:lnTo>
                    <a:pt x="42367" y="496214"/>
                  </a:lnTo>
                  <a:lnTo>
                    <a:pt x="42367" y="411086"/>
                  </a:lnTo>
                  <a:lnTo>
                    <a:pt x="183553" y="411086"/>
                  </a:lnTo>
                  <a:lnTo>
                    <a:pt x="183553" y="495592"/>
                  </a:lnTo>
                  <a:lnTo>
                    <a:pt x="211797" y="495592"/>
                  </a:lnTo>
                  <a:lnTo>
                    <a:pt x="211797" y="411086"/>
                  </a:lnTo>
                  <a:lnTo>
                    <a:pt x="352996" y="411086"/>
                  </a:lnTo>
                  <a:lnTo>
                    <a:pt x="352996" y="495592"/>
                  </a:lnTo>
                  <a:lnTo>
                    <a:pt x="381228" y="495592"/>
                  </a:lnTo>
                  <a:lnTo>
                    <a:pt x="381228" y="411086"/>
                  </a:lnTo>
                  <a:lnTo>
                    <a:pt x="522427" y="411086"/>
                  </a:lnTo>
                  <a:lnTo>
                    <a:pt x="522427" y="495592"/>
                  </a:lnTo>
                  <a:lnTo>
                    <a:pt x="564794" y="495592"/>
                  </a:lnTo>
                  <a:lnTo>
                    <a:pt x="564794" y="269011"/>
                  </a:lnTo>
                  <a:lnTo>
                    <a:pt x="522427" y="269011"/>
                  </a:lnTo>
                  <a:lnTo>
                    <a:pt x="522427" y="353606"/>
                  </a:lnTo>
                  <a:lnTo>
                    <a:pt x="381228" y="353606"/>
                  </a:lnTo>
                  <a:lnTo>
                    <a:pt x="381228" y="269011"/>
                  </a:lnTo>
                  <a:lnTo>
                    <a:pt x="352996" y="269011"/>
                  </a:lnTo>
                  <a:lnTo>
                    <a:pt x="352996" y="353606"/>
                  </a:lnTo>
                  <a:lnTo>
                    <a:pt x="211797" y="353606"/>
                  </a:lnTo>
                  <a:lnTo>
                    <a:pt x="211797" y="269011"/>
                  </a:lnTo>
                  <a:lnTo>
                    <a:pt x="183553" y="269011"/>
                  </a:lnTo>
                  <a:lnTo>
                    <a:pt x="183553" y="353606"/>
                  </a:lnTo>
                  <a:lnTo>
                    <a:pt x="42367" y="353606"/>
                  </a:lnTo>
                  <a:lnTo>
                    <a:pt x="42367" y="268389"/>
                  </a:lnTo>
                  <a:lnTo>
                    <a:pt x="564794" y="268389"/>
                  </a:lnTo>
                  <a:lnTo>
                    <a:pt x="564794" y="240690"/>
                  </a:lnTo>
                  <a:lnTo>
                    <a:pt x="564794" y="240398"/>
                  </a:lnTo>
                  <a:lnTo>
                    <a:pt x="564794" y="155714"/>
                  </a:lnTo>
                  <a:lnTo>
                    <a:pt x="522427" y="155714"/>
                  </a:lnTo>
                  <a:lnTo>
                    <a:pt x="522427" y="240398"/>
                  </a:lnTo>
                  <a:lnTo>
                    <a:pt x="381228" y="240398"/>
                  </a:lnTo>
                  <a:lnTo>
                    <a:pt x="381228" y="155714"/>
                  </a:lnTo>
                  <a:lnTo>
                    <a:pt x="352996" y="155714"/>
                  </a:lnTo>
                  <a:lnTo>
                    <a:pt x="352996" y="240398"/>
                  </a:lnTo>
                  <a:lnTo>
                    <a:pt x="211797" y="240398"/>
                  </a:lnTo>
                  <a:lnTo>
                    <a:pt x="211797" y="155714"/>
                  </a:lnTo>
                  <a:lnTo>
                    <a:pt x="183553" y="155714"/>
                  </a:lnTo>
                  <a:lnTo>
                    <a:pt x="183553" y="240398"/>
                  </a:lnTo>
                  <a:lnTo>
                    <a:pt x="42367" y="240398"/>
                  </a:lnTo>
                  <a:lnTo>
                    <a:pt x="42367" y="155181"/>
                  </a:lnTo>
                  <a:lnTo>
                    <a:pt x="564794" y="155181"/>
                  </a:lnTo>
                  <a:lnTo>
                    <a:pt x="564794" y="127381"/>
                  </a:lnTo>
                  <a:lnTo>
                    <a:pt x="564794" y="127190"/>
                  </a:lnTo>
                  <a:lnTo>
                    <a:pt x="564794" y="42405"/>
                  </a:lnTo>
                  <a:lnTo>
                    <a:pt x="522427" y="42405"/>
                  </a:lnTo>
                  <a:lnTo>
                    <a:pt x="522427" y="127190"/>
                  </a:lnTo>
                  <a:lnTo>
                    <a:pt x="381228" y="127190"/>
                  </a:lnTo>
                  <a:lnTo>
                    <a:pt x="381228" y="42405"/>
                  </a:lnTo>
                  <a:lnTo>
                    <a:pt x="352996" y="42405"/>
                  </a:lnTo>
                  <a:lnTo>
                    <a:pt x="352996" y="127190"/>
                  </a:lnTo>
                  <a:lnTo>
                    <a:pt x="211797" y="127190"/>
                  </a:lnTo>
                  <a:lnTo>
                    <a:pt x="211797" y="42405"/>
                  </a:lnTo>
                  <a:lnTo>
                    <a:pt x="183553" y="42405"/>
                  </a:lnTo>
                  <a:lnTo>
                    <a:pt x="183553" y="127190"/>
                  </a:lnTo>
                  <a:lnTo>
                    <a:pt x="42367" y="127190"/>
                  </a:lnTo>
                  <a:lnTo>
                    <a:pt x="42367" y="41973"/>
                  </a:lnTo>
                  <a:lnTo>
                    <a:pt x="564794" y="41973"/>
                  </a:lnTo>
                  <a:lnTo>
                    <a:pt x="564794" y="0"/>
                  </a:lnTo>
                  <a:close/>
                </a:path>
                <a:path w="581660" h="1351279">
                  <a:moveTo>
                    <a:pt x="581431" y="1109738"/>
                  </a:moveTo>
                  <a:lnTo>
                    <a:pt x="538962" y="1109738"/>
                  </a:lnTo>
                  <a:lnTo>
                    <a:pt x="538962" y="1194714"/>
                  </a:lnTo>
                  <a:lnTo>
                    <a:pt x="581431" y="1194714"/>
                  </a:lnTo>
                  <a:lnTo>
                    <a:pt x="581431" y="1109738"/>
                  </a:lnTo>
                  <a:close/>
                </a:path>
                <a:path w="581660" h="1351279">
                  <a:moveTo>
                    <a:pt x="581431" y="953350"/>
                  </a:moveTo>
                  <a:lnTo>
                    <a:pt x="15379" y="953350"/>
                  </a:lnTo>
                  <a:lnTo>
                    <a:pt x="15379" y="996556"/>
                  </a:lnTo>
                  <a:lnTo>
                    <a:pt x="15379" y="1081684"/>
                  </a:lnTo>
                  <a:lnTo>
                    <a:pt x="15379" y="1351038"/>
                  </a:lnTo>
                  <a:lnTo>
                    <a:pt x="581431" y="1351038"/>
                  </a:lnTo>
                  <a:lnTo>
                    <a:pt x="581431" y="1308023"/>
                  </a:lnTo>
                  <a:lnTo>
                    <a:pt x="581431" y="1307833"/>
                  </a:lnTo>
                  <a:lnTo>
                    <a:pt x="581431" y="1223035"/>
                  </a:lnTo>
                  <a:lnTo>
                    <a:pt x="538962" y="1223035"/>
                  </a:lnTo>
                  <a:lnTo>
                    <a:pt x="538962" y="1307833"/>
                  </a:lnTo>
                  <a:lnTo>
                    <a:pt x="397459" y="1307833"/>
                  </a:lnTo>
                  <a:lnTo>
                    <a:pt x="397459" y="1223035"/>
                  </a:lnTo>
                  <a:lnTo>
                    <a:pt x="369150" y="1223035"/>
                  </a:lnTo>
                  <a:lnTo>
                    <a:pt x="369150" y="1307833"/>
                  </a:lnTo>
                  <a:lnTo>
                    <a:pt x="227647" y="1307833"/>
                  </a:lnTo>
                  <a:lnTo>
                    <a:pt x="227647" y="1223035"/>
                  </a:lnTo>
                  <a:lnTo>
                    <a:pt x="199339" y="1223035"/>
                  </a:lnTo>
                  <a:lnTo>
                    <a:pt x="199339" y="1307833"/>
                  </a:lnTo>
                  <a:lnTo>
                    <a:pt x="57835" y="1307833"/>
                  </a:lnTo>
                  <a:lnTo>
                    <a:pt x="57835" y="1222705"/>
                  </a:lnTo>
                  <a:lnTo>
                    <a:pt x="581431" y="1222705"/>
                  </a:lnTo>
                  <a:lnTo>
                    <a:pt x="581431" y="1194752"/>
                  </a:lnTo>
                  <a:lnTo>
                    <a:pt x="57835" y="1194752"/>
                  </a:lnTo>
                  <a:lnTo>
                    <a:pt x="57835" y="1109637"/>
                  </a:lnTo>
                  <a:lnTo>
                    <a:pt x="581431" y="1109637"/>
                  </a:lnTo>
                  <a:lnTo>
                    <a:pt x="581431" y="1081684"/>
                  </a:lnTo>
                  <a:lnTo>
                    <a:pt x="57835" y="1081684"/>
                  </a:lnTo>
                  <a:lnTo>
                    <a:pt x="57835" y="996556"/>
                  </a:lnTo>
                  <a:lnTo>
                    <a:pt x="199339" y="996556"/>
                  </a:lnTo>
                  <a:lnTo>
                    <a:pt x="199339" y="1081405"/>
                  </a:lnTo>
                  <a:lnTo>
                    <a:pt x="227647" y="1081405"/>
                  </a:lnTo>
                  <a:lnTo>
                    <a:pt x="227647" y="996556"/>
                  </a:lnTo>
                  <a:lnTo>
                    <a:pt x="369150" y="996556"/>
                  </a:lnTo>
                  <a:lnTo>
                    <a:pt x="369150" y="1081405"/>
                  </a:lnTo>
                  <a:lnTo>
                    <a:pt x="397459" y="1081405"/>
                  </a:lnTo>
                  <a:lnTo>
                    <a:pt x="397459" y="996556"/>
                  </a:lnTo>
                  <a:lnTo>
                    <a:pt x="538962" y="996556"/>
                  </a:lnTo>
                  <a:lnTo>
                    <a:pt x="538962" y="1081405"/>
                  </a:lnTo>
                  <a:lnTo>
                    <a:pt x="581431" y="1081405"/>
                  </a:lnTo>
                  <a:lnTo>
                    <a:pt x="581431" y="996556"/>
                  </a:lnTo>
                  <a:lnTo>
                    <a:pt x="581431" y="996429"/>
                  </a:lnTo>
                  <a:lnTo>
                    <a:pt x="581431" y="953350"/>
                  </a:lnTo>
                  <a:close/>
                </a:path>
              </a:pathLst>
            </a:custGeom>
            <a:solidFill>
              <a:srgbClr val="BCBCBC"/>
            </a:solidFill>
          </p:spPr>
          <p:txBody>
            <a:bodyPr wrap="square" lIns="0" tIns="0" rIns="0" bIns="0" rtlCol="0"/>
            <a:lstStyle/>
            <a:p>
              <a:endParaRPr sz="2400"/>
            </a:p>
          </p:txBody>
        </p:sp>
      </p:grpSp>
      <p:sp>
        <p:nvSpPr>
          <p:cNvPr id="20" name="object 20"/>
          <p:cNvSpPr txBox="1"/>
          <p:nvPr/>
        </p:nvSpPr>
        <p:spPr>
          <a:xfrm>
            <a:off x="8219610" y="3444850"/>
            <a:ext cx="1355513"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Data</a:t>
            </a:r>
            <a:r>
              <a:rPr sz="2133" spc="-33" dirty="0">
                <a:solidFill>
                  <a:srgbClr val="FFFFFF"/>
                </a:solidFill>
                <a:latin typeface="Calibri"/>
                <a:cs typeface="Calibri"/>
              </a:rPr>
              <a:t> </a:t>
            </a:r>
            <a:r>
              <a:rPr sz="2133" dirty="0">
                <a:solidFill>
                  <a:srgbClr val="FFFFFF"/>
                </a:solidFill>
                <a:latin typeface="Calibri"/>
                <a:cs typeface="Calibri"/>
              </a:rPr>
              <a:t>Mart</a:t>
            </a:r>
            <a:r>
              <a:rPr sz="2133" spc="-20" dirty="0">
                <a:solidFill>
                  <a:srgbClr val="FFFFFF"/>
                </a:solidFill>
                <a:latin typeface="Calibri"/>
                <a:cs typeface="Calibri"/>
              </a:rPr>
              <a:t> </a:t>
            </a:r>
            <a:r>
              <a:rPr sz="2133" spc="-67" dirty="0">
                <a:solidFill>
                  <a:srgbClr val="FFFFFF"/>
                </a:solidFill>
                <a:latin typeface="Calibri"/>
                <a:cs typeface="Calibri"/>
              </a:rPr>
              <a:t>1</a:t>
            </a:r>
            <a:endParaRPr sz="2133">
              <a:latin typeface="Calibri"/>
              <a:cs typeface="Calibri"/>
            </a:endParaRPr>
          </a:p>
        </p:txBody>
      </p:sp>
      <p:grpSp>
        <p:nvGrpSpPr>
          <p:cNvPr id="21" name="object 21"/>
          <p:cNvGrpSpPr/>
          <p:nvPr/>
        </p:nvGrpSpPr>
        <p:grpSpPr>
          <a:xfrm>
            <a:off x="5021071" y="1660144"/>
            <a:ext cx="5265420" cy="3769360"/>
            <a:chOff x="3765803" y="1245108"/>
            <a:chExt cx="3949065" cy="2827020"/>
          </a:xfrm>
        </p:grpSpPr>
        <p:sp>
          <p:nvSpPr>
            <p:cNvPr id="22" name="object 22"/>
            <p:cNvSpPr/>
            <p:nvPr/>
          </p:nvSpPr>
          <p:spPr>
            <a:xfrm>
              <a:off x="5910071" y="1249680"/>
              <a:ext cx="1524000" cy="1336675"/>
            </a:xfrm>
            <a:custGeom>
              <a:avLst/>
              <a:gdLst/>
              <a:ahLst/>
              <a:cxnLst/>
              <a:rect l="l" t="t" r="r" b="b"/>
              <a:pathLst>
                <a:path w="1524000" h="1336675">
                  <a:moveTo>
                    <a:pt x="0" y="222758"/>
                  </a:moveTo>
                  <a:lnTo>
                    <a:pt x="4524" y="177853"/>
                  </a:lnTo>
                  <a:lnTo>
                    <a:pt x="17500" y="136034"/>
                  </a:lnTo>
                  <a:lnTo>
                    <a:pt x="38033" y="98195"/>
                  </a:lnTo>
                  <a:lnTo>
                    <a:pt x="65230" y="65230"/>
                  </a:lnTo>
                  <a:lnTo>
                    <a:pt x="98195" y="38033"/>
                  </a:lnTo>
                  <a:lnTo>
                    <a:pt x="136034" y="17500"/>
                  </a:lnTo>
                  <a:lnTo>
                    <a:pt x="177853" y="4524"/>
                  </a:lnTo>
                  <a:lnTo>
                    <a:pt x="222757" y="0"/>
                  </a:lnTo>
                  <a:lnTo>
                    <a:pt x="1301242" y="0"/>
                  </a:lnTo>
                  <a:lnTo>
                    <a:pt x="1346146" y="4524"/>
                  </a:lnTo>
                  <a:lnTo>
                    <a:pt x="1387965" y="17500"/>
                  </a:lnTo>
                  <a:lnTo>
                    <a:pt x="1425804" y="38033"/>
                  </a:lnTo>
                  <a:lnTo>
                    <a:pt x="1458769" y="65230"/>
                  </a:lnTo>
                  <a:lnTo>
                    <a:pt x="1485966" y="98195"/>
                  </a:lnTo>
                  <a:lnTo>
                    <a:pt x="1506499" y="136034"/>
                  </a:lnTo>
                  <a:lnTo>
                    <a:pt x="1519475" y="177853"/>
                  </a:lnTo>
                  <a:lnTo>
                    <a:pt x="1524000" y="222758"/>
                  </a:lnTo>
                  <a:lnTo>
                    <a:pt x="1524000" y="1113790"/>
                  </a:lnTo>
                  <a:lnTo>
                    <a:pt x="1519475" y="1158694"/>
                  </a:lnTo>
                  <a:lnTo>
                    <a:pt x="1506499" y="1200513"/>
                  </a:lnTo>
                  <a:lnTo>
                    <a:pt x="1485966" y="1238352"/>
                  </a:lnTo>
                  <a:lnTo>
                    <a:pt x="1458769" y="1271317"/>
                  </a:lnTo>
                  <a:lnTo>
                    <a:pt x="1425804" y="1298514"/>
                  </a:lnTo>
                  <a:lnTo>
                    <a:pt x="1387965" y="1319047"/>
                  </a:lnTo>
                  <a:lnTo>
                    <a:pt x="1346146" y="1332023"/>
                  </a:lnTo>
                  <a:lnTo>
                    <a:pt x="1301242" y="1336548"/>
                  </a:lnTo>
                  <a:lnTo>
                    <a:pt x="222757" y="1336548"/>
                  </a:lnTo>
                  <a:lnTo>
                    <a:pt x="177853" y="1332023"/>
                  </a:lnTo>
                  <a:lnTo>
                    <a:pt x="136034" y="1319047"/>
                  </a:lnTo>
                  <a:lnTo>
                    <a:pt x="98195" y="1298514"/>
                  </a:lnTo>
                  <a:lnTo>
                    <a:pt x="65230" y="1271317"/>
                  </a:lnTo>
                  <a:lnTo>
                    <a:pt x="38033" y="1238352"/>
                  </a:lnTo>
                  <a:lnTo>
                    <a:pt x="17500" y="1200513"/>
                  </a:lnTo>
                  <a:lnTo>
                    <a:pt x="4524" y="1158694"/>
                  </a:lnTo>
                  <a:lnTo>
                    <a:pt x="0" y="1113790"/>
                  </a:lnTo>
                  <a:lnTo>
                    <a:pt x="0" y="222758"/>
                  </a:lnTo>
                  <a:close/>
                </a:path>
              </a:pathLst>
            </a:custGeom>
            <a:ln w="9144">
              <a:solidFill>
                <a:srgbClr val="00C3FF"/>
              </a:solidFill>
            </a:ln>
          </p:spPr>
          <p:txBody>
            <a:bodyPr wrap="square" lIns="0" tIns="0" rIns="0" bIns="0" rtlCol="0"/>
            <a:lstStyle/>
            <a:p>
              <a:endParaRPr sz="2400"/>
            </a:p>
          </p:txBody>
        </p:sp>
        <p:sp>
          <p:nvSpPr>
            <p:cNvPr id="23" name="object 23"/>
            <p:cNvSpPr/>
            <p:nvPr/>
          </p:nvSpPr>
          <p:spPr>
            <a:xfrm>
              <a:off x="6095733" y="1432267"/>
              <a:ext cx="1254760" cy="1022985"/>
            </a:xfrm>
            <a:custGeom>
              <a:avLst/>
              <a:gdLst/>
              <a:ahLst/>
              <a:cxnLst/>
              <a:rect l="l" t="t" r="r" b="b"/>
              <a:pathLst>
                <a:path w="1254759" h="1022985">
                  <a:moveTo>
                    <a:pt x="347662" y="780288"/>
                  </a:moveTo>
                  <a:lnTo>
                    <a:pt x="0" y="780288"/>
                  </a:lnTo>
                  <a:lnTo>
                    <a:pt x="0" y="806919"/>
                  </a:lnTo>
                  <a:lnTo>
                    <a:pt x="0" y="858913"/>
                  </a:lnTo>
                  <a:lnTo>
                    <a:pt x="0" y="1022515"/>
                  </a:lnTo>
                  <a:lnTo>
                    <a:pt x="347662" y="1022515"/>
                  </a:lnTo>
                  <a:lnTo>
                    <a:pt x="347662" y="997153"/>
                  </a:lnTo>
                  <a:lnTo>
                    <a:pt x="26073" y="997153"/>
                  </a:lnTo>
                  <a:lnTo>
                    <a:pt x="26073" y="945159"/>
                  </a:lnTo>
                  <a:lnTo>
                    <a:pt x="112979" y="945159"/>
                  </a:lnTo>
                  <a:lnTo>
                    <a:pt x="112979" y="997115"/>
                  </a:lnTo>
                  <a:lnTo>
                    <a:pt x="130365" y="997115"/>
                  </a:lnTo>
                  <a:lnTo>
                    <a:pt x="130365" y="945159"/>
                  </a:lnTo>
                  <a:lnTo>
                    <a:pt x="217284" y="945159"/>
                  </a:lnTo>
                  <a:lnTo>
                    <a:pt x="217284" y="997115"/>
                  </a:lnTo>
                  <a:lnTo>
                    <a:pt x="234657" y="997115"/>
                  </a:lnTo>
                  <a:lnTo>
                    <a:pt x="234657" y="945159"/>
                  </a:lnTo>
                  <a:lnTo>
                    <a:pt x="321576" y="945159"/>
                  </a:lnTo>
                  <a:lnTo>
                    <a:pt x="321576" y="997115"/>
                  </a:lnTo>
                  <a:lnTo>
                    <a:pt x="347662" y="997115"/>
                  </a:lnTo>
                  <a:lnTo>
                    <a:pt x="347662" y="875766"/>
                  </a:lnTo>
                  <a:lnTo>
                    <a:pt x="321576" y="875766"/>
                  </a:lnTo>
                  <a:lnTo>
                    <a:pt x="321576" y="927404"/>
                  </a:lnTo>
                  <a:lnTo>
                    <a:pt x="234657" y="927404"/>
                  </a:lnTo>
                  <a:lnTo>
                    <a:pt x="234657" y="875766"/>
                  </a:lnTo>
                  <a:lnTo>
                    <a:pt x="217284" y="875766"/>
                  </a:lnTo>
                  <a:lnTo>
                    <a:pt x="217284" y="927404"/>
                  </a:lnTo>
                  <a:lnTo>
                    <a:pt x="130365" y="927404"/>
                  </a:lnTo>
                  <a:lnTo>
                    <a:pt x="130365" y="875766"/>
                  </a:lnTo>
                  <a:lnTo>
                    <a:pt x="112979" y="875766"/>
                  </a:lnTo>
                  <a:lnTo>
                    <a:pt x="112979" y="927404"/>
                  </a:lnTo>
                  <a:lnTo>
                    <a:pt x="26073" y="927404"/>
                  </a:lnTo>
                  <a:lnTo>
                    <a:pt x="26073" y="875398"/>
                  </a:lnTo>
                  <a:lnTo>
                    <a:pt x="347662" y="875398"/>
                  </a:lnTo>
                  <a:lnTo>
                    <a:pt x="347662" y="858913"/>
                  </a:lnTo>
                  <a:lnTo>
                    <a:pt x="26073" y="858913"/>
                  </a:lnTo>
                  <a:lnTo>
                    <a:pt x="26073" y="806919"/>
                  </a:lnTo>
                  <a:lnTo>
                    <a:pt x="112979" y="806919"/>
                  </a:lnTo>
                  <a:lnTo>
                    <a:pt x="112979" y="858431"/>
                  </a:lnTo>
                  <a:lnTo>
                    <a:pt x="130365" y="858431"/>
                  </a:lnTo>
                  <a:lnTo>
                    <a:pt x="130365" y="806919"/>
                  </a:lnTo>
                  <a:lnTo>
                    <a:pt x="217284" y="806919"/>
                  </a:lnTo>
                  <a:lnTo>
                    <a:pt x="217284" y="858431"/>
                  </a:lnTo>
                  <a:lnTo>
                    <a:pt x="234657" y="858431"/>
                  </a:lnTo>
                  <a:lnTo>
                    <a:pt x="234657" y="806919"/>
                  </a:lnTo>
                  <a:lnTo>
                    <a:pt x="321576" y="806919"/>
                  </a:lnTo>
                  <a:lnTo>
                    <a:pt x="321576" y="858431"/>
                  </a:lnTo>
                  <a:lnTo>
                    <a:pt x="347662" y="858431"/>
                  </a:lnTo>
                  <a:lnTo>
                    <a:pt x="347662" y="806919"/>
                  </a:lnTo>
                  <a:lnTo>
                    <a:pt x="347662" y="806424"/>
                  </a:lnTo>
                  <a:lnTo>
                    <a:pt x="347662" y="780288"/>
                  </a:lnTo>
                  <a:close/>
                </a:path>
                <a:path w="1254759" h="1022985">
                  <a:moveTo>
                    <a:pt x="347662" y="0"/>
                  </a:moveTo>
                  <a:lnTo>
                    <a:pt x="0" y="0"/>
                  </a:lnTo>
                  <a:lnTo>
                    <a:pt x="0" y="26631"/>
                  </a:lnTo>
                  <a:lnTo>
                    <a:pt x="0" y="78625"/>
                  </a:lnTo>
                  <a:lnTo>
                    <a:pt x="0" y="242227"/>
                  </a:lnTo>
                  <a:lnTo>
                    <a:pt x="347662" y="242227"/>
                  </a:lnTo>
                  <a:lnTo>
                    <a:pt x="347662" y="216865"/>
                  </a:lnTo>
                  <a:lnTo>
                    <a:pt x="26073" y="216865"/>
                  </a:lnTo>
                  <a:lnTo>
                    <a:pt x="26073" y="164871"/>
                  </a:lnTo>
                  <a:lnTo>
                    <a:pt x="112979" y="164871"/>
                  </a:lnTo>
                  <a:lnTo>
                    <a:pt x="112979" y="216827"/>
                  </a:lnTo>
                  <a:lnTo>
                    <a:pt x="130365" y="216827"/>
                  </a:lnTo>
                  <a:lnTo>
                    <a:pt x="130365" y="164871"/>
                  </a:lnTo>
                  <a:lnTo>
                    <a:pt x="217284" y="164871"/>
                  </a:lnTo>
                  <a:lnTo>
                    <a:pt x="217284" y="216827"/>
                  </a:lnTo>
                  <a:lnTo>
                    <a:pt x="234657" y="216827"/>
                  </a:lnTo>
                  <a:lnTo>
                    <a:pt x="234657" y="164871"/>
                  </a:lnTo>
                  <a:lnTo>
                    <a:pt x="321576" y="164871"/>
                  </a:lnTo>
                  <a:lnTo>
                    <a:pt x="321576" y="216827"/>
                  </a:lnTo>
                  <a:lnTo>
                    <a:pt x="347662" y="216827"/>
                  </a:lnTo>
                  <a:lnTo>
                    <a:pt x="347662" y="95478"/>
                  </a:lnTo>
                  <a:lnTo>
                    <a:pt x="321576" y="95478"/>
                  </a:lnTo>
                  <a:lnTo>
                    <a:pt x="321576" y="147116"/>
                  </a:lnTo>
                  <a:lnTo>
                    <a:pt x="234657" y="147116"/>
                  </a:lnTo>
                  <a:lnTo>
                    <a:pt x="234657" y="95478"/>
                  </a:lnTo>
                  <a:lnTo>
                    <a:pt x="217284" y="95478"/>
                  </a:lnTo>
                  <a:lnTo>
                    <a:pt x="217284" y="147116"/>
                  </a:lnTo>
                  <a:lnTo>
                    <a:pt x="130365" y="147116"/>
                  </a:lnTo>
                  <a:lnTo>
                    <a:pt x="130365" y="95478"/>
                  </a:lnTo>
                  <a:lnTo>
                    <a:pt x="112979" y="95478"/>
                  </a:lnTo>
                  <a:lnTo>
                    <a:pt x="112979" y="147116"/>
                  </a:lnTo>
                  <a:lnTo>
                    <a:pt x="26073" y="147116"/>
                  </a:lnTo>
                  <a:lnTo>
                    <a:pt x="26073" y="95110"/>
                  </a:lnTo>
                  <a:lnTo>
                    <a:pt x="347662" y="95110"/>
                  </a:lnTo>
                  <a:lnTo>
                    <a:pt x="347662" y="78625"/>
                  </a:lnTo>
                  <a:lnTo>
                    <a:pt x="26073" y="78625"/>
                  </a:lnTo>
                  <a:lnTo>
                    <a:pt x="26073" y="26631"/>
                  </a:lnTo>
                  <a:lnTo>
                    <a:pt x="112979" y="26631"/>
                  </a:lnTo>
                  <a:lnTo>
                    <a:pt x="112979" y="78143"/>
                  </a:lnTo>
                  <a:lnTo>
                    <a:pt x="130365" y="78143"/>
                  </a:lnTo>
                  <a:lnTo>
                    <a:pt x="130365" y="26631"/>
                  </a:lnTo>
                  <a:lnTo>
                    <a:pt x="217284" y="26631"/>
                  </a:lnTo>
                  <a:lnTo>
                    <a:pt x="217284" y="78143"/>
                  </a:lnTo>
                  <a:lnTo>
                    <a:pt x="234657" y="78143"/>
                  </a:lnTo>
                  <a:lnTo>
                    <a:pt x="234657" y="26631"/>
                  </a:lnTo>
                  <a:lnTo>
                    <a:pt x="321576" y="26631"/>
                  </a:lnTo>
                  <a:lnTo>
                    <a:pt x="321576" y="78143"/>
                  </a:lnTo>
                  <a:lnTo>
                    <a:pt x="347662" y="78143"/>
                  </a:lnTo>
                  <a:lnTo>
                    <a:pt x="347662" y="26631"/>
                  </a:lnTo>
                  <a:lnTo>
                    <a:pt x="347662" y="26136"/>
                  </a:lnTo>
                  <a:lnTo>
                    <a:pt x="347662" y="0"/>
                  </a:lnTo>
                  <a:close/>
                </a:path>
                <a:path w="1254759" h="1022985">
                  <a:moveTo>
                    <a:pt x="551903" y="358368"/>
                  </a:moveTo>
                  <a:lnTo>
                    <a:pt x="534581" y="358368"/>
                  </a:lnTo>
                  <a:lnTo>
                    <a:pt x="534581" y="410375"/>
                  </a:lnTo>
                  <a:lnTo>
                    <a:pt x="551903" y="410375"/>
                  </a:lnTo>
                  <a:lnTo>
                    <a:pt x="551903" y="358368"/>
                  </a:lnTo>
                  <a:close/>
                </a:path>
                <a:path w="1254759" h="1022985">
                  <a:moveTo>
                    <a:pt x="655828" y="358368"/>
                  </a:moveTo>
                  <a:lnTo>
                    <a:pt x="638505" y="358368"/>
                  </a:lnTo>
                  <a:lnTo>
                    <a:pt x="638505" y="410375"/>
                  </a:lnTo>
                  <a:lnTo>
                    <a:pt x="655828" y="410375"/>
                  </a:lnTo>
                  <a:lnTo>
                    <a:pt x="655828" y="358368"/>
                  </a:lnTo>
                  <a:close/>
                </a:path>
                <a:path w="1254759" h="1022985">
                  <a:moveTo>
                    <a:pt x="768413" y="358368"/>
                  </a:moveTo>
                  <a:lnTo>
                    <a:pt x="742429" y="358368"/>
                  </a:lnTo>
                  <a:lnTo>
                    <a:pt x="742429" y="410375"/>
                  </a:lnTo>
                  <a:lnTo>
                    <a:pt x="768413" y="410375"/>
                  </a:lnTo>
                  <a:lnTo>
                    <a:pt x="768413" y="358368"/>
                  </a:lnTo>
                  <a:close/>
                </a:path>
                <a:path w="1254759" h="1022985">
                  <a:moveTo>
                    <a:pt x="768413" y="332892"/>
                  </a:moveTo>
                  <a:lnTo>
                    <a:pt x="422008" y="332892"/>
                  </a:lnTo>
                  <a:lnTo>
                    <a:pt x="422008" y="358305"/>
                  </a:lnTo>
                  <a:lnTo>
                    <a:pt x="422008" y="410400"/>
                  </a:lnTo>
                  <a:lnTo>
                    <a:pt x="422008" y="727976"/>
                  </a:lnTo>
                  <a:lnTo>
                    <a:pt x="768413" y="727976"/>
                  </a:lnTo>
                  <a:lnTo>
                    <a:pt x="768413" y="701294"/>
                  </a:lnTo>
                  <a:lnTo>
                    <a:pt x="447992" y="701294"/>
                  </a:lnTo>
                  <a:lnTo>
                    <a:pt x="447992" y="649198"/>
                  </a:lnTo>
                  <a:lnTo>
                    <a:pt x="768413" y="649198"/>
                  </a:lnTo>
                  <a:lnTo>
                    <a:pt x="768413" y="632675"/>
                  </a:lnTo>
                  <a:lnTo>
                    <a:pt x="447992" y="632675"/>
                  </a:lnTo>
                  <a:lnTo>
                    <a:pt x="447992" y="580593"/>
                  </a:lnTo>
                  <a:lnTo>
                    <a:pt x="768413" y="580593"/>
                  </a:lnTo>
                  <a:lnTo>
                    <a:pt x="768413" y="575576"/>
                  </a:lnTo>
                  <a:lnTo>
                    <a:pt x="768413" y="562800"/>
                  </a:lnTo>
                  <a:lnTo>
                    <a:pt x="768413" y="480275"/>
                  </a:lnTo>
                  <a:lnTo>
                    <a:pt x="742429" y="480275"/>
                  </a:lnTo>
                  <a:lnTo>
                    <a:pt x="742429" y="510705"/>
                  </a:lnTo>
                  <a:lnTo>
                    <a:pt x="742429" y="548894"/>
                  </a:lnTo>
                  <a:lnTo>
                    <a:pt x="655828" y="548894"/>
                  </a:lnTo>
                  <a:lnTo>
                    <a:pt x="655828" y="510705"/>
                  </a:lnTo>
                  <a:lnTo>
                    <a:pt x="742429" y="510705"/>
                  </a:lnTo>
                  <a:lnTo>
                    <a:pt x="742429" y="480275"/>
                  </a:lnTo>
                  <a:lnTo>
                    <a:pt x="638505" y="480275"/>
                  </a:lnTo>
                  <a:lnTo>
                    <a:pt x="638505" y="510705"/>
                  </a:lnTo>
                  <a:lnTo>
                    <a:pt x="638505" y="548894"/>
                  </a:lnTo>
                  <a:lnTo>
                    <a:pt x="551903" y="548894"/>
                  </a:lnTo>
                  <a:lnTo>
                    <a:pt x="551903" y="510705"/>
                  </a:lnTo>
                  <a:lnTo>
                    <a:pt x="638505" y="510705"/>
                  </a:lnTo>
                  <a:lnTo>
                    <a:pt x="638505" y="480275"/>
                  </a:lnTo>
                  <a:lnTo>
                    <a:pt x="534581" y="480275"/>
                  </a:lnTo>
                  <a:lnTo>
                    <a:pt x="534581" y="510705"/>
                  </a:lnTo>
                  <a:lnTo>
                    <a:pt x="534581" y="548894"/>
                  </a:lnTo>
                  <a:lnTo>
                    <a:pt x="447992" y="548894"/>
                  </a:lnTo>
                  <a:lnTo>
                    <a:pt x="447992" y="510705"/>
                  </a:lnTo>
                  <a:lnTo>
                    <a:pt x="534581" y="510705"/>
                  </a:lnTo>
                  <a:lnTo>
                    <a:pt x="534581" y="480275"/>
                  </a:lnTo>
                  <a:lnTo>
                    <a:pt x="447992" y="480275"/>
                  </a:lnTo>
                  <a:lnTo>
                    <a:pt x="447992" y="428193"/>
                  </a:lnTo>
                  <a:lnTo>
                    <a:pt x="534581" y="428193"/>
                  </a:lnTo>
                  <a:lnTo>
                    <a:pt x="534581" y="479717"/>
                  </a:lnTo>
                  <a:lnTo>
                    <a:pt x="551903" y="479717"/>
                  </a:lnTo>
                  <a:lnTo>
                    <a:pt x="551903" y="428193"/>
                  </a:lnTo>
                  <a:lnTo>
                    <a:pt x="638505" y="428193"/>
                  </a:lnTo>
                  <a:lnTo>
                    <a:pt x="638505" y="479717"/>
                  </a:lnTo>
                  <a:lnTo>
                    <a:pt x="655828" y="479717"/>
                  </a:lnTo>
                  <a:lnTo>
                    <a:pt x="655828" y="428193"/>
                  </a:lnTo>
                  <a:lnTo>
                    <a:pt x="742429" y="428193"/>
                  </a:lnTo>
                  <a:lnTo>
                    <a:pt x="742429" y="479717"/>
                  </a:lnTo>
                  <a:lnTo>
                    <a:pt x="768413" y="479717"/>
                  </a:lnTo>
                  <a:lnTo>
                    <a:pt x="768413" y="428193"/>
                  </a:lnTo>
                  <a:lnTo>
                    <a:pt x="768413" y="427710"/>
                  </a:lnTo>
                  <a:lnTo>
                    <a:pt x="768413" y="410400"/>
                  </a:lnTo>
                  <a:lnTo>
                    <a:pt x="447992" y="410400"/>
                  </a:lnTo>
                  <a:lnTo>
                    <a:pt x="447992" y="358305"/>
                  </a:lnTo>
                  <a:lnTo>
                    <a:pt x="768413" y="358305"/>
                  </a:lnTo>
                  <a:lnTo>
                    <a:pt x="768413" y="332892"/>
                  </a:lnTo>
                  <a:close/>
                </a:path>
                <a:path w="1254759" h="1022985">
                  <a:moveTo>
                    <a:pt x="1254442" y="153924"/>
                  </a:moveTo>
                  <a:lnTo>
                    <a:pt x="906780" y="153924"/>
                  </a:lnTo>
                  <a:lnTo>
                    <a:pt x="906780" y="180555"/>
                  </a:lnTo>
                  <a:lnTo>
                    <a:pt x="906780" y="232549"/>
                  </a:lnTo>
                  <a:lnTo>
                    <a:pt x="906780" y="396151"/>
                  </a:lnTo>
                  <a:lnTo>
                    <a:pt x="1254442" y="396151"/>
                  </a:lnTo>
                  <a:lnTo>
                    <a:pt x="1254442" y="370789"/>
                  </a:lnTo>
                  <a:lnTo>
                    <a:pt x="932853" y="370789"/>
                  </a:lnTo>
                  <a:lnTo>
                    <a:pt x="932853" y="318795"/>
                  </a:lnTo>
                  <a:lnTo>
                    <a:pt x="1019759" y="318795"/>
                  </a:lnTo>
                  <a:lnTo>
                    <a:pt x="1019759" y="370751"/>
                  </a:lnTo>
                  <a:lnTo>
                    <a:pt x="1037145" y="370751"/>
                  </a:lnTo>
                  <a:lnTo>
                    <a:pt x="1037145" y="318795"/>
                  </a:lnTo>
                  <a:lnTo>
                    <a:pt x="1124064" y="318795"/>
                  </a:lnTo>
                  <a:lnTo>
                    <a:pt x="1124064" y="370751"/>
                  </a:lnTo>
                  <a:lnTo>
                    <a:pt x="1141450" y="370751"/>
                  </a:lnTo>
                  <a:lnTo>
                    <a:pt x="1141450" y="318795"/>
                  </a:lnTo>
                  <a:lnTo>
                    <a:pt x="1228356" y="318795"/>
                  </a:lnTo>
                  <a:lnTo>
                    <a:pt x="1228356" y="370751"/>
                  </a:lnTo>
                  <a:lnTo>
                    <a:pt x="1254442" y="370751"/>
                  </a:lnTo>
                  <a:lnTo>
                    <a:pt x="1254442" y="249402"/>
                  </a:lnTo>
                  <a:lnTo>
                    <a:pt x="1228356" y="249402"/>
                  </a:lnTo>
                  <a:lnTo>
                    <a:pt x="1228356" y="301040"/>
                  </a:lnTo>
                  <a:lnTo>
                    <a:pt x="1141450" y="301040"/>
                  </a:lnTo>
                  <a:lnTo>
                    <a:pt x="1141450" y="249402"/>
                  </a:lnTo>
                  <a:lnTo>
                    <a:pt x="1124064" y="249402"/>
                  </a:lnTo>
                  <a:lnTo>
                    <a:pt x="1124064" y="301040"/>
                  </a:lnTo>
                  <a:lnTo>
                    <a:pt x="1037145" y="301040"/>
                  </a:lnTo>
                  <a:lnTo>
                    <a:pt x="1037145" y="249402"/>
                  </a:lnTo>
                  <a:lnTo>
                    <a:pt x="1019759" y="249402"/>
                  </a:lnTo>
                  <a:lnTo>
                    <a:pt x="1019759" y="301040"/>
                  </a:lnTo>
                  <a:lnTo>
                    <a:pt x="932853" y="301040"/>
                  </a:lnTo>
                  <a:lnTo>
                    <a:pt x="932853" y="249034"/>
                  </a:lnTo>
                  <a:lnTo>
                    <a:pt x="1254442" y="249034"/>
                  </a:lnTo>
                  <a:lnTo>
                    <a:pt x="1254442" y="232549"/>
                  </a:lnTo>
                  <a:lnTo>
                    <a:pt x="932853" y="232549"/>
                  </a:lnTo>
                  <a:lnTo>
                    <a:pt x="932853" y="180555"/>
                  </a:lnTo>
                  <a:lnTo>
                    <a:pt x="1019759" y="180555"/>
                  </a:lnTo>
                  <a:lnTo>
                    <a:pt x="1019759" y="232067"/>
                  </a:lnTo>
                  <a:lnTo>
                    <a:pt x="1037145" y="232067"/>
                  </a:lnTo>
                  <a:lnTo>
                    <a:pt x="1037145" y="180555"/>
                  </a:lnTo>
                  <a:lnTo>
                    <a:pt x="1124064" y="180555"/>
                  </a:lnTo>
                  <a:lnTo>
                    <a:pt x="1124064" y="232067"/>
                  </a:lnTo>
                  <a:lnTo>
                    <a:pt x="1141450" y="232067"/>
                  </a:lnTo>
                  <a:lnTo>
                    <a:pt x="1141450" y="180555"/>
                  </a:lnTo>
                  <a:lnTo>
                    <a:pt x="1228356" y="180555"/>
                  </a:lnTo>
                  <a:lnTo>
                    <a:pt x="1228356" y="232067"/>
                  </a:lnTo>
                  <a:lnTo>
                    <a:pt x="1254442" y="232067"/>
                  </a:lnTo>
                  <a:lnTo>
                    <a:pt x="1254442" y="180555"/>
                  </a:lnTo>
                  <a:lnTo>
                    <a:pt x="1254442" y="180060"/>
                  </a:lnTo>
                  <a:lnTo>
                    <a:pt x="1254442" y="153924"/>
                  </a:lnTo>
                  <a:close/>
                </a:path>
              </a:pathLst>
            </a:custGeom>
            <a:solidFill>
              <a:srgbClr val="BCBCBC"/>
            </a:solidFill>
          </p:spPr>
          <p:txBody>
            <a:bodyPr wrap="square" lIns="0" tIns="0" rIns="0" bIns="0" rtlCol="0"/>
            <a:lstStyle/>
            <a:p>
              <a:endParaRPr sz="2400"/>
            </a:p>
          </p:txBody>
        </p:sp>
        <p:sp>
          <p:nvSpPr>
            <p:cNvPr id="24" name="object 24"/>
            <p:cNvSpPr/>
            <p:nvPr/>
          </p:nvSpPr>
          <p:spPr>
            <a:xfrm>
              <a:off x="6517741" y="1917560"/>
              <a:ext cx="346710" cy="216535"/>
            </a:xfrm>
            <a:custGeom>
              <a:avLst/>
              <a:gdLst/>
              <a:ahLst/>
              <a:cxnLst/>
              <a:rect l="l" t="t" r="r" b="b"/>
              <a:pathLst>
                <a:path w="346709" h="216535">
                  <a:moveTo>
                    <a:pt x="129895" y="164160"/>
                  </a:moveTo>
                  <a:lnTo>
                    <a:pt x="112572" y="164160"/>
                  </a:lnTo>
                  <a:lnTo>
                    <a:pt x="112572" y="216166"/>
                  </a:lnTo>
                  <a:lnTo>
                    <a:pt x="129895" y="216166"/>
                  </a:lnTo>
                  <a:lnTo>
                    <a:pt x="129895" y="164160"/>
                  </a:lnTo>
                  <a:close/>
                </a:path>
                <a:path w="346709" h="216535">
                  <a:moveTo>
                    <a:pt x="129895" y="94818"/>
                  </a:moveTo>
                  <a:lnTo>
                    <a:pt x="112572" y="94818"/>
                  </a:lnTo>
                  <a:lnTo>
                    <a:pt x="112572" y="146824"/>
                  </a:lnTo>
                  <a:lnTo>
                    <a:pt x="129895" y="146824"/>
                  </a:lnTo>
                  <a:lnTo>
                    <a:pt x="129895" y="94818"/>
                  </a:lnTo>
                  <a:close/>
                </a:path>
                <a:path w="346709" h="216535">
                  <a:moveTo>
                    <a:pt x="129895" y="25476"/>
                  </a:moveTo>
                  <a:lnTo>
                    <a:pt x="112572" y="25476"/>
                  </a:lnTo>
                  <a:lnTo>
                    <a:pt x="112572" y="77482"/>
                  </a:lnTo>
                  <a:lnTo>
                    <a:pt x="129895" y="77482"/>
                  </a:lnTo>
                  <a:lnTo>
                    <a:pt x="129895" y="25476"/>
                  </a:lnTo>
                  <a:close/>
                </a:path>
                <a:path w="346709" h="216535">
                  <a:moveTo>
                    <a:pt x="233819" y="164160"/>
                  </a:moveTo>
                  <a:lnTo>
                    <a:pt x="216496" y="164160"/>
                  </a:lnTo>
                  <a:lnTo>
                    <a:pt x="216496" y="216166"/>
                  </a:lnTo>
                  <a:lnTo>
                    <a:pt x="233819" y="216166"/>
                  </a:lnTo>
                  <a:lnTo>
                    <a:pt x="233819" y="164160"/>
                  </a:lnTo>
                  <a:close/>
                </a:path>
                <a:path w="346709" h="216535">
                  <a:moveTo>
                    <a:pt x="233819" y="94818"/>
                  </a:moveTo>
                  <a:lnTo>
                    <a:pt x="216496" y="94818"/>
                  </a:lnTo>
                  <a:lnTo>
                    <a:pt x="216496" y="146824"/>
                  </a:lnTo>
                  <a:lnTo>
                    <a:pt x="233819" y="146824"/>
                  </a:lnTo>
                  <a:lnTo>
                    <a:pt x="233819" y="94818"/>
                  </a:lnTo>
                  <a:close/>
                </a:path>
                <a:path w="346709" h="216535">
                  <a:moveTo>
                    <a:pt x="233819" y="25476"/>
                  </a:moveTo>
                  <a:lnTo>
                    <a:pt x="216496" y="25476"/>
                  </a:lnTo>
                  <a:lnTo>
                    <a:pt x="216496" y="77482"/>
                  </a:lnTo>
                  <a:lnTo>
                    <a:pt x="233819" y="77482"/>
                  </a:lnTo>
                  <a:lnTo>
                    <a:pt x="233819" y="25476"/>
                  </a:lnTo>
                  <a:close/>
                </a:path>
                <a:path w="346709" h="216535">
                  <a:moveTo>
                    <a:pt x="346405" y="164160"/>
                  </a:moveTo>
                  <a:lnTo>
                    <a:pt x="320421" y="164160"/>
                  </a:lnTo>
                  <a:lnTo>
                    <a:pt x="320421" y="216166"/>
                  </a:lnTo>
                  <a:lnTo>
                    <a:pt x="346405" y="216166"/>
                  </a:lnTo>
                  <a:lnTo>
                    <a:pt x="346405" y="164160"/>
                  </a:lnTo>
                  <a:close/>
                </a:path>
                <a:path w="346709" h="216535">
                  <a:moveTo>
                    <a:pt x="346405" y="94818"/>
                  </a:moveTo>
                  <a:lnTo>
                    <a:pt x="320421" y="94818"/>
                  </a:lnTo>
                  <a:lnTo>
                    <a:pt x="320421" y="146824"/>
                  </a:lnTo>
                  <a:lnTo>
                    <a:pt x="346405" y="146824"/>
                  </a:lnTo>
                  <a:lnTo>
                    <a:pt x="346405" y="94818"/>
                  </a:lnTo>
                  <a:close/>
                </a:path>
                <a:path w="346709" h="216535">
                  <a:moveTo>
                    <a:pt x="346405" y="25476"/>
                  </a:moveTo>
                  <a:lnTo>
                    <a:pt x="320421" y="25476"/>
                  </a:lnTo>
                  <a:lnTo>
                    <a:pt x="320421" y="77482"/>
                  </a:lnTo>
                  <a:lnTo>
                    <a:pt x="346405" y="77482"/>
                  </a:lnTo>
                  <a:lnTo>
                    <a:pt x="346405" y="25476"/>
                  </a:lnTo>
                  <a:close/>
                </a:path>
                <a:path w="346709" h="216535">
                  <a:moveTo>
                    <a:pt x="346405" y="0"/>
                  </a:moveTo>
                  <a:lnTo>
                    <a:pt x="0" y="0"/>
                  </a:lnTo>
                  <a:lnTo>
                    <a:pt x="0" y="25412"/>
                  </a:lnTo>
                  <a:lnTo>
                    <a:pt x="346405" y="25412"/>
                  </a:lnTo>
                  <a:lnTo>
                    <a:pt x="346405" y="0"/>
                  </a:lnTo>
                  <a:close/>
                </a:path>
              </a:pathLst>
            </a:custGeom>
            <a:solidFill>
              <a:srgbClr val="BCBCBC"/>
            </a:solidFill>
          </p:spPr>
          <p:txBody>
            <a:bodyPr wrap="square" lIns="0" tIns="0" rIns="0" bIns="0" rtlCol="0"/>
            <a:lstStyle/>
            <a:p>
              <a:endParaRPr sz="2400"/>
            </a:p>
          </p:txBody>
        </p:sp>
        <p:sp>
          <p:nvSpPr>
            <p:cNvPr id="25" name="object 25"/>
            <p:cNvSpPr/>
            <p:nvPr/>
          </p:nvSpPr>
          <p:spPr>
            <a:xfrm>
              <a:off x="6249161" y="1657350"/>
              <a:ext cx="838835" cy="515620"/>
            </a:xfrm>
            <a:custGeom>
              <a:avLst/>
              <a:gdLst/>
              <a:ahLst/>
              <a:cxnLst/>
              <a:rect l="l" t="t" r="r" b="b"/>
              <a:pathLst>
                <a:path w="838834" h="515619">
                  <a:moveTo>
                    <a:pt x="230886" y="107569"/>
                  </a:moveTo>
                  <a:lnTo>
                    <a:pt x="0" y="0"/>
                  </a:lnTo>
                </a:path>
                <a:path w="838834" h="515619">
                  <a:moveTo>
                    <a:pt x="838327" y="188975"/>
                  </a:moveTo>
                  <a:lnTo>
                    <a:pt x="652271" y="381126"/>
                  </a:lnTo>
                </a:path>
                <a:path w="838834" h="515619">
                  <a:moveTo>
                    <a:pt x="236347" y="323088"/>
                  </a:moveTo>
                  <a:lnTo>
                    <a:pt x="50291" y="515238"/>
                  </a:lnTo>
                </a:path>
              </a:pathLst>
            </a:custGeom>
            <a:ln w="38100">
              <a:solidFill>
                <a:srgbClr val="00C2FF"/>
              </a:solidFill>
            </a:ln>
          </p:spPr>
          <p:txBody>
            <a:bodyPr wrap="square" lIns="0" tIns="0" rIns="0" bIns="0" rtlCol="0"/>
            <a:lstStyle/>
            <a:p>
              <a:endParaRPr sz="2400"/>
            </a:p>
          </p:txBody>
        </p:sp>
        <p:sp>
          <p:nvSpPr>
            <p:cNvPr id="26" name="object 26"/>
            <p:cNvSpPr/>
            <p:nvPr/>
          </p:nvSpPr>
          <p:spPr>
            <a:xfrm>
              <a:off x="5934455" y="2987040"/>
              <a:ext cx="1524000" cy="1080770"/>
            </a:xfrm>
            <a:custGeom>
              <a:avLst/>
              <a:gdLst/>
              <a:ahLst/>
              <a:cxnLst/>
              <a:rect l="l" t="t" r="r" b="b"/>
              <a:pathLst>
                <a:path w="1524000" h="1080770">
                  <a:moveTo>
                    <a:pt x="0" y="180086"/>
                  </a:moveTo>
                  <a:lnTo>
                    <a:pt x="6434" y="132218"/>
                  </a:lnTo>
                  <a:lnTo>
                    <a:pt x="24590" y="89201"/>
                  </a:lnTo>
                  <a:lnTo>
                    <a:pt x="52752" y="52752"/>
                  </a:lnTo>
                  <a:lnTo>
                    <a:pt x="89201" y="24590"/>
                  </a:lnTo>
                  <a:lnTo>
                    <a:pt x="132218" y="6434"/>
                  </a:lnTo>
                  <a:lnTo>
                    <a:pt x="180086" y="0"/>
                  </a:lnTo>
                  <a:lnTo>
                    <a:pt x="1343914" y="0"/>
                  </a:lnTo>
                  <a:lnTo>
                    <a:pt x="1391781" y="6434"/>
                  </a:lnTo>
                  <a:lnTo>
                    <a:pt x="1434798" y="24590"/>
                  </a:lnTo>
                  <a:lnTo>
                    <a:pt x="1471247" y="52752"/>
                  </a:lnTo>
                  <a:lnTo>
                    <a:pt x="1499409" y="89201"/>
                  </a:lnTo>
                  <a:lnTo>
                    <a:pt x="1517565" y="132218"/>
                  </a:lnTo>
                  <a:lnTo>
                    <a:pt x="1524000" y="180086"/>
                  </a:lnTo>
                  <a:lnTo>
                    <a:pt x="1524000" y="900430"/>
                  </a:lnTo>
                  <a:lnTo>
                    <a:pt x="1517565" y="948302"/>
                  </a:lnTo>
                  <a:lnTo>
                    <a:pt x="1499409" y="991320"/>
                  </a:lnTo>
                  <a:lnTo>
                    <a:pt x="1471247" y="1027768"/>
                  </a:lnTo>
                  <a:lnTo>
                    <a:pt x="1434798" y="1055927"/>
                  </a:lnTo>
                  <a:lnTo>
                    <a:pt x="1391781" y="1074082"/>
                  </a:lnTo>
                  <a:lnTo>
                    <a:pt x="1343914" y="1080516"/>
                  </a:lnTo>
                  <a:lnTo>
                    <a:pt x="180086" y="1080516"/>
                  </a:lnTo>
                  <a:lnTo>
                    <a:pt x="132218" y="1074082"/>
                  </a:lnTo>
                  <a:lnTo>
                    <a:pt x="89201" y="1055927"/>
                  </a:lnTo>
                  <a:lnTo>
                    <a:pt x="52752" y="1027768"/>
                  </a:lnTo>
                  <a:lnTo>
                    <a:pt x="24590" y="991320"/>
                  </a:lnTo>
                  <a:lnTo>
                    <a:pt x="6434" y="948302"/>
                  </a:lnTo>
                  <a:lnTo>
                    <a:pt x="0" y="900430"/>
                  </a:lnTo>
                  <a:lnTo>
                    <a:pt x="0" y="180086"/>
                  </a:lnTo>
                  <a:close/>
                </a:path>
              </a:pathLst>
            </a:custGeom>
            <a:ln w="9143">
              <a:solidFill>
                <a:srgbClr val="00C3FF"/>
              </a:solidFill>
            </a:ln>
          </p:spPr>
          <p:txBody>
            <a:bodyPr wrap="square" lIns="0" tIns="0" rIns="0" bIns="0" rtlCol="0"/>
            <a:lstStyle/>
            <a:p>
              <a:endParaRPr sz="2400"/>
            </a:p>
          </p:txBody>
        </p:sp>
        <p:sp>
          <p:nvSpPr>
            <p:cNvPr id="27" name="object 27"/>
            <p:cNvSpPr/>
            <p:nvPr/>
          </p:nvSpPr>
          <p:spPr>
            <a:xfrm>
              <a:off x="6118593" y="3170542"/>
              <a:ext cx="1254760" cy="727075"/>
            </a:xfrm>
            <a:custGeom>
              <a:avLst/>
              <a:gdLst/>
              <a:ahLst/>
              <a:cxnLst/>
              <a:rect l="l" t="t" r="r" b="b"/>
              <a:pathLst>
                <a:path w="1254759" h="727075">
                  <a:moveTo>
                    <a:pt x="347662" y="0"/>
                  </a:moveTo>
                  <a:lnTo>
                    <a:pt x="0" y="0"/>
                  </a:lnTo>
                  <a:lnTo>
                    <a:pt x="0" y="25412"/>
                  </a:lnTo>
                  <a:lnTo>
                    <a:pt x="0" y="77508"/>
                  </a:lnTo>
                  <a:lnTo>
                    <a:pt x="0" y="242671"/>
                  </a:lnTo>
                  <a:lnTo>
                    <a:pt x="347662" y="242684"/>
                  </a:lnTo>
                  <a:lnTo>
                    <a:pt x="347662" y="217271"/>
                  </a:lnTo>
                  <a:lnTo>
                    <a:pt x="26073" y="217271"/>
                  </a:lnTo>
                  <a:lnTo>
                    <a:pt x="26073" y="165176"/>
                  </a:lnTo>
                  <a:lnTo>
                    <a:pt x="112979" y="165176"/>
                  </a:lnTo>
                  <a:lnTo>
                    <a:pt x="112979" y="217017"/>
                  </a:lnTo>
                  <a:lnTo>
                    <a:pt x="130365" y="217017"/>
                  </a:lnTo>
                  <a:lnTo>
                    <a:pt x="130365" y="165176"/>
                  </a:lnTo>
                  <a:lnTo>
                    <a:pt x="217284" y="165176"/>
                  </a:lnTo>
                  <a:lnTo>
                    <a:pt x="217284" y="217017"/>
                  </a:lnTo>
                  <a:lnTo>
                    <a:pt x="234657" y="217017"/>
                  </a:lnTo>
                  <a:lnTo>
                    <a:pt x="234657" y="165176"/>
                  </a:lnTo>
                  <a:lnTo>
                    <a:pt x="321576" y="165176"/>
                  </a:lnTo>
                  <a:lnTo>
                    <a:pt x="321576" y="217017"/>
                  </a:lnTo>
                  <a:lnTo>
                    <a:pt x="347662" y="217017"/>
                  </a:lnTo>
                  <a:lnTo>
                    <a:pt x="347662" y="25641"/>
                  </a:lnTo>
                  <a:lnTo>
                    <a:pt x="321576" y="25641"/>
                  </a:lnTo>
                  <a:lnTo>
                    <a:pt x="321576" y="77508"/>
                  </a:lnTo>
                  <a:lnTo>
                    <a:pt x="321576" y="95300"/>
                  </a:lnTo>
                  <a:lnTo>
                    <a:pt x="321576" y="147383"/>
                  </a:lnTo>
                  <a:lnTo>
                    <a:pt x="234657" y="147383"/>
                  </a:lnTo>
                  <a:lnTo>
                    <a:pt x="234657" y="95300"/>
                  </a:lnTo>
                  <a:lnTo>
                    <a:pt x="321576" y="95300"/>
                  </a:lnTo>
                  <a:lnTo>
                    <a:pt x="321576" y="77508"/>
                  </a:lnTo>
                  <a:lnTo>
                    <a:pt x="234657" y="77508"/>
                  </a:lnTo>
                  <a:lnTo>
                    <a:pt x="234657" y="25641"/>
                  </a:lnTo>
                  <a:lnTo>
                    <a:pt x="217284" y="25641"/>
                  </a:lnTo>
                  <a:lnTo>
                    <a:pt x="217284" y="77508"/>
                  </a:lnTo>
                  <a:lnTo>
                    <a:pt x="217284" y="95300"/>
                  </a:lnTo>
                  <a:lnTo>
                    <a:pt x="217284" y="147383"/>
                  </a:lnTo>
                  <a:lnTo>
                    <a:pt x="130365" y="147383"/>
                  </a:lnTo>
                  <a:lnTo>
                    <a:pt x="130365" y="95300"/>
                  </a:lnTo>
                  <a:lnTo>
                    <a:pt x="217284" y="95300"/>
                  </a:lnTo>
                  <a:lnTo>
                    <a:pt x="217284" y="77508"/>
                  </a:lnTo>
                  <a:lnTo>
                    <a:pt x="130365" y="77508"/>
                  </a:lnTo>
                  <a:lnTo>
                    <a:pt x="130365" y="25641"/>
                  </a:lnTo>
                  <a:lnTo>
                    <a:pt x="112979" y="25641"/>
                  </a:lnTo>
                  <a:lnTo>
                    <a:pt x="112979" y="77508"/>
                  </a:lnTo>
                  <a:lnTo>
                    <a:pt x="112979" y="95300"/>
                  </a:lnTo>
                  <a:lnTo>
                    <a:pt x="112979" y="147383"/>
                  </a:lnTo>
                  <a:lnTo>
                    <a:pt x="26073" y="147383"/>
                  </a:lnTo>
                  <a:lnTo>
                    <a:pt x="26073" y="95300"/>
                  </a:lnTo>
                  <a:lnTo>
                    <a:pt x="112979" y="95300"/>
                  </a:lnTo>
                  <a:lnTo>
                    <a:pt x="112979" y="77508"/>
                  </a:lnTo>
                  <a:lnTo>
                    <a:pt x="26073" y="77508"/>
                  </a:lnTo>
                  <a:lnTo>
                    <a:pt x="26073" y="25412"/>
                  </a:lnTo>
                  <a:lnTo>
                    <a:pt x="347662" y="25412"/>
                  </a:lnTo>
                  <a:lnTo>
                    <a:pt x="347662" y="0"/>
                  </a:lnTo>
                  <a:close/>
                </a:path>
                <a:path w="1254759" h="727075">
                  <a:moveTo>
                    <a:pt x="551903" y="357454"/>
                  </a:moveTo>
                  <a:lnTo>
                    <a:pt x="534581" y="357454"/>
                  </a:lnTo>
                  <a:lnTo>
                    <a:pt x="534581" y="409460"/>
                  </a:lnTo>
                  <a:lnTo>
                    <a:pt x="551903" y="409460"/>
                  </a:lnTo>
                  <a:lnTo>
                    <a:pt x="551903" y="357454"/>
                  </a:lnTo>
                  <a:close/>
                </a:path>
                <a:path w="1254759" h="727075">
                  <a:moveTo>
                    <a:pt x="655828" y="357454"/>
                  </a:moveTo>
                  <a:lnTo>
                    <a:pt x="638505" y="357454"/>
                  </a:lnTo>
                  <a:lnTo>
                    <a:pt x="638505" y="409460"/>
                  </a:lnTo>
                  <a:lnTo>
                    <a:pt x="655828" y="409460"/>
                  </a:lnTo>
                  <a:lnTo>
                    <a:pt x="655828" y="357454"/>
                  </a:lnTo>
                  <a:close/>
                </a:path>
                <a:path w="1254759" h="727075">
                  <a:moveTo>
                    <a:pt x="768413" y="357454"/>
                  </a:moveTo>
                  <a:lnTo>
                    <a:pt x="742429" y="357454"/>
                  </a:lnTo>
                  <a:lnTo>
                    <a:pt x="742429" y="409460"/>
                  </a:lnTo>
                  <a:lnTo>
                    <a:pt x="768413" y="409460"/>
                  </a:lnTo>
                  <a:lnTo>
                    <a:pt x="768413" y="357454"/>
                  </a:lnTo>
                  <a:close/>
                </a:path>
                <a:path w="1254759" h="727075">
                  <a:moveTo>
                    <a:pt x="768413" y="331978"/>
                  </a:moveTo>
                  <a:lnTo>
                    <a:pt x="422008" y="331978"/>
                  </a:lnTo>
                  <a:lnTo>
                    <a:pt x="422008" y="357390"/>
                  </a:lnTo>
                  <a:lnTo>
                    <a:pt x="422008" y="409486"/>
                  </a:lnTo>
                  <a:lnTo>
                    <a:pt x="422008" y="727062"/>
                  </a:lnTo>
                  <a:lnTo>
                    <a:pt x="768413" y="727062"/>
                  </a:lnTo>
                  <a:lnTo>
                    <a:pt x="768413" y="700544"/>
                  </a:lnTo>
                  <a:lnTo>
                    <a:pt x="768413" y="700379"/>
                  </a:lnTo>
                  <a:lnTo>
                    <a:pt x="768413" y="648538"/>
                  </a:lnTo>
                  <a:lnTo>
                    <a:pt x="742429" y="648538"/>
                  </a:lnTo>
                  <a:lnTo>
                    <a:pt x="742429" y="700379"/>
                  </a:lnTo>
                  <a:lnTo>
                    <a:pt x="655828" y="700379"/>
                  </a:lnTo>
                  <a:lnTo>
                    <a:pt x="655828" y="648538"/>
                  </a:lnTo>
                  <a:lnTo>
                    <a:pt x="638505" y="648538"/>
                  </a:lnTo>
                  <a:lnTo>
                    <a:pt x="638505" y="700379"/>
                  </a:lnTo>
                  <a:lnTo>
                    <a:pt x="551903" y="700379"/>
                  </a:lnTo>
                  <a:lnTo>
                    <a:pt x="551903" y="648538"/>
                  </a:lnTo>
                  <a:lnTo>
                    <a:pt x="534581" y="648538"/>
                  </a:lnTo>
                  <a:lnTo>
                    <a:pt x="534581" y="700379"/>
                  </a:lnTo>
                  <a:lnTo>
                    <a:pt x="447992" y="700379"/>
                  </a:lnTo>
                  <a:lnTo>
                    <a:pt x="447992" y="648284"/>
                  </a:lnTo>
                  <a:lnTo>
                    <a:pt x="768413" y="648284"/>
                  </a:lnTo>
                  <a:lnTo>
                    <a:pt x="768413" y="631761"/>
                  </a:lnTo>
                  <a:lnTo>
                    <a:pt x="447992" y="631761"/>
                  </a:lnTo>
                  <a:lnTo>
                    <a:pt x="447992" y="579678"/>
                  </a:lnTo>
                  <a:lnTo>
                    <a:pt x="534581" y="579678"/>
                  </a:lnTo>
                  <a:lnTo>
                    <a:pt x="534581" y="631202"/>
                  </a:lnTo>
                  <a:lnTo>
                    <a:pt x="551903" y="631202"/>
                  </a:lnTo>
                  <a:lnTo>
                    <a:pt x="551903" y="579678"/>
                  </a:lnTo>
                  <a:lnTo>
                    <a:pt x="638505" y="579678"/>
                  </a:lnTo>
                  <a:lnTo>
                    <a:pt x="638505" y="631202"/>
                  </a:lnTo>
                  <a:lnTo>
                    <a:pt x="655828" y="631202"/>
                  </a:lnTo>
                  <a:lnTo>
                    <a:pt x="655828" y="579678"/>
                  </a:lnTo>
                  <a:lnTo>
                    <a:pt x="742429" y="579678"/>
                  </a:lnTo>
                  <a:lnTo>
                    <a:pt x="742429" y="631202"/>
                  </a:lnTo>
                  <a:lnTo>
                    <a:pt x="768413" y="631202"/>
                  </a:lnTo>
                  <a:lnTo>
                    <a:pt x="768413" y="479361"/>
                  </a:lnTo>
                  <a:lnTo>
                    <a:pt x="742429" y="479361"/>
                  </a:lnTo>
                  <a:lnTo>
                    <a:pt x="742429" y="509790"/>
                  </a:lnTo>
                  <a:lnTo>
                    <a:pt x="742429" y="547979"/>
                  </a:lnTo>
                  <a:lnTo>
                    <a:pt x="655828" y="547979"/>
                  </a:lnTo>
                  <a:lnTo>
                    <a:pt x="655828" y="509854"/>
                  </a:lnTo>
                  <a:lnTo>
                    <a:pt x="742429" y="509790"/>
                  </a:lnTo>
                  <a:lnTo>
                    <a:pt x="742429" y="479361"/>
                  </a:lnTo>
                  <a:lnTo>
                    <a:pt x="638505" y="479361"/>
                  </a:lnTo>
                  <a:lnTo>
                    <a:pt x="638505" y="509790"/>
                  </a:lnTo>
                  <a:lnTo>
                    <a:pt x="638505" y="547979"/>
                  </a:lnTo>
                  <a:lnTo>
                    <a:pt x="551903" y="547979"/>
                  </a:lnTo>
                  <a:lnTo>
                    <a:pt x="551903" y="509854"/>
                  </a:lnTo>
                  <a:lnTo>
                    <a:pt x="638505" y="509790"/>
                  </a:lnTo>
                  <a:lnTo>
                    <a:pt x="638505" y="479361"/>
                  </a:lnTo>
                  <a:lnTo>
                    <a:pt x="534581" y="479361"/>
                  </a:lnTo>
                  <a:lnTo>
                    <a:pt x="534581" y="509790"/>
                  </a:lnTo>
                  <a:lnTo>
                    <a:pt x="534581" y="547979"/>
                  </a:lnTo>
                  <a:lnTo>
                    <a:pt x="447992" y="547979"/>
                  </a:lnTo>
                  <a:lnTo>
                    <a:pt x="447992" y="509790"/>
                  </a:lnTo>
                  <a:lnTo>
                    <a:pt x="534581" y="509790"/>
                  </a:lnTo>
                  <a:lnTo>
                    <a:pt x="534581" y="479361"/>
                  </a:lnTo>
                  <a:lnTo>
                    <a:pt x="447992" y="479361"/>
                  </a:lnTo>
                  <a:lnTo>
                    <a:pt x="447992" y="427278"/>
                  </a:lnTo>
                  <a:lnTo>
                    <a:pt x="534581" y="427278"/>
                  </a:lnTo>
                  <a:lnTo>
                    <a:pt x="534581" y="478802"/>
                  </a:lnTo>
                  <a:lnTo>
                    <a:pt x="551903" y="478802"/>
                  </a:lnTo>
                  <a:lnTo>
                    <a:pt x="551903" y="427278"/>
                  </a:lnTo>
                  <a:lnTo>
                    <a:pt x="638505" y="427278"/>
                  </a:lnTo>
                  <a:lnTo>
                    <a:pt x="638505" y="478802"/>
                  </a:lnTo>
                  <a:lnTo>
                    <a:pt x="655828" y="478802"/>
                  </a:lnTo>
                  <a:lnTo>
                    <a:pt x="655828" y="427278"/>
                  </a:lnTo>
                  <a:lnTo>
                    <a:pt x="742429" y="427278"/>
                  </a:lnTo>
                  <a:lnTo>
                    <a:pt x="742429" y="478802"/>
                  </a:lnTo>
                  <a:lnTo>
                    <a:pt x="768413" y="478802"/>
                  </a:lnTo>
                  <a:lnTo>
                    <a:pt x="768413" y="427278"/>
                  </a:lnTo>
                  <a:lnTo>
                    <a:pt x="768413" y="426796"/>
                  </a:lnTo>
                  <a:lnTo>
                    <a:pt x="768413" y="409486"/>
                  </a:lnTo>
                  <a:lnTo>
                    <a:pt x="447992" y="409486"/>
                  </a:lnTo>
                  <a:lnTo>
                    <a:pt x="447992" y="357390"/>
                  </a:lnTo>
                  <a:lnTo>
                    <a:pt x="768413" y="357390"/>
                  </a:lnTo>
                  <a:lnTo>
                    <a:pt x="768413" y="331978"/>
                  </a:lnTo>
                  <a:close/>
                </a:path>
                <a:path w="1254759" h="727075">
                  <a:moveTo>
                    <a:pt x="1038059" y="179146"/>
                  </a:moveTo>
                  <a:lnTo>
                    <a:pt x="1020737" y="179146"/>
                  </a:lnTo>
                  <a:lnTo>
                    <a:pt x="1020737" y="231152"/>
                  </a:lnTo>
                  <a:lnTo>
                    <a:pt x="1038059" y="231152"/>
                  </a:lnTo>
                  <a:lnTo>
                    <a:pt x="1038059" y="179146"/>
                  </a:lnTo>
                  <a:close/>
                </a:path>
                <a:path w="1254759" h="727075">
                  <a:moveTo>
                    <a:pt x="1141984" y="179146"/>
                  </a:moveTo>
                  <a:lnTo>
                    <a:pt x="1124661" y="179146"/>
                  </a:lnTo>
                  <a:lnTo>
                    <a:pt x="1124661" y="231152"/>
                  </a:lnTo>
                  <a:lnTo>
                    <a:pt x="1141984" y="231152"/>
                  </a:lnTo>
                  <a:lnTo>
                    <a:pt x="1141984" y="179146"/>
                  </a:lnTo>
                  <a:close/>
                </a:path>
                <a:path w="1254759" h="727075">
                  <a:moveTo>
                    <a:pt x="1254569" y="179146"/>
                  </a:moveTo>
                  <a:lnTo>
                    <a:pt x="1228585" y="179146"/>
                  </a:lnTo>
                  <a:lnTo>
                    <a:pt x="1228585" y="231152"/>
                  </a:lnTo>
                  <a:lnTo>
                    <a:pt x="1254569" y="231152"/>
                  </a:lnTo>
                  <a:lnTo>
                    <a:pt x="1254569" y="179146"/>
                  </a:lnTo>
                  <a:close/>
                </a:path>
                <a:path w="1254759" h="727075">
                  <a:moveTo>
                    <a:pt x="1254569" y="153670"/>
                  </a:moveTo>
                  <a:lnTo>
                    <a:pt x="908164" y="153670"/>
                  </a:lnTo>
                  <a:lnTo>
                    <a:pt x="908164" y="179082"/>
                  </a:lnTo>
                  <a:lnTo>
                    <a:pt x="908164" y="231178"/>
                  </a:lnTo>
                  <a:lnTo>
                    <a:pt x="908164" y="396354"/>
                  </a:lnTo>
                  <a:lnTo>
                    <a:pt x="1254569" y="396354"/>
                  </a:lnTo>
                  <a:lnTo>
                    <a:pt x="1254569" y="369836"/>
                  </a:lnTo>
                  <a:lnTo>
                    <a:pt x="1254569" y="369671"/>
                  </a:lnTo>
                  <a:lnTo>
                    <a:pt x="1254569" y="317830"/>
                  </a:lnTo>
                  <a:lnTo>
                    <a:pt x="1228585" y="317830"/>
                  </a:lnTo>
                  <a:lnTo>
                    <a:pt x="1228585" y="369671"/>
                  </a:lnTo>
                  <a:lnTo>
                    <a:pt x="1141984" y="369671"/>
                  </a:lnTo>
                  <a:lnTo>
                    <a:pt x="1141984" y="317830"/>
                  </a:lnTo>
                  <a:lnTo>
                    <a:pt x="1124661" y="317830"/>
                  </a:lnTo>
                  <a:lnTo>
                    <a:pt x="1124661" y="369671"/>
                  </a:lnTo>
                  <a:lnTo>
                    <a:pt x="1038059" y="369671"/>
                  </a:lnTo>
                  <a:lnTo>
                    <a:pt x="1038059" y="317830"/>
                  </a:lnTo>
                  <a:lnTo>
                    <a:pt x="1020737" y="317830"/>
                  </a:lnTo>
                  <a:lnTo>
                    <a:pt x="1020737" y="369671"/>
                  </a:lnTo>
                  <a:lnTo>
                    <a:pt x="934148" y="369671"/>
                  </a:lnTo>
                  <a:lnTo>
                    <a:pt x="934148" y="317576"/>
                  </a:lnTo>
                  <a:lnTo>
                    <a:pt x="1254569" y="317576"/>
                  </a:lnTo>
                  <a:lnTo>
                    <a:pt x="1254569" y="301053"/>
                  </a:lnTo>
                  <a:lnTo>
                    <a:pt x="934148" y="301053"/>
                  </a:lnTo>
                  <a:lnTo>
                    <a:pt x="934148" y="248970"/>
                  </a:lnTo>
                  <a:lnTo>
                    <a:pt x="1020737" y="248970"/>
                  </a:lnTo>
                  <a:lnTo>
                    <a:pt x="1020737" y="300494"/>
                  </a:lnTo>
                  <a:lnTo>
                    <a:pt x="1038059" y="300494"/>
                  </a:lnTo>
                  <a:lnTo>
                    <a:pt x="1038059" y="248970"/>
                  </a:lnTo>
                  <a:lnTo>
                    <a:pt x="1124661" y="248970"/>
                  </a:lnTo>
                  <a:lnTo>
                    <a:pt x="1124661" y="300494"/>
                  </a:lnTo>
                  <a:lnTo>
                    <a:pt x="1141984" y="300494"/>
                  </a:lnTo>
                  <a:lnTo>
                    <a:pt x="1141984" y="248970"/>
                  </a:lnTo>
                  <a:lnTo>
                    <a:pt x="1228585" y="248970"/>
                  </a:lnTo>
                  <a:lnTo>
                    <a:pt x="1228585" y="300494"/>
                  </a:lnTo>
                  <a:lnTo>
                    <a:pt x="1254569" y="300494"/>
                  </a:lnTo>
                  <a:lnTo>
                    <a:pt x="1254569" y="248970"/>
                  </a:lnTo>
                  <a:lnTo>
                    <a:pt x="1254569" y="248488"/>
                  </a:lnTo>
                  <a:lnTo>
                    <a:pt x="1254569" y="231178"/>
                  </a:lnTo>
                  <a:lnTo>
                    <a:pt x="934148" y="231178"/>
                  </a:lnTo>
                  <a:lnTo>
                    <a:pt x="934148" y="179082"/>
                  </a:lnTo>
                  <a:lnTo>
                    <a:pt x="1254569" y="179082"/>
                  </a:lnTo>
                  <a:lnTo>
                    <a:pt x="1254569" y="153670"/>
                  </a:lnTo>
                  <a:close/>
                </a:path>
              </a:pathLst>
            </a:custGeom>
            <a:solidFill>
              <a:srgbClr val="BCBCBC"/>
            </a:solidFill>
          </p:spPr>
          <p:txBody>
            <a:bodyPr wrap="square" lIns="0" tIns="0" rIns="0" bIns="0" rtlCol="0"/>
            <a:lstStyle/>
            <a:p>
              <a:endParaRPr sz="2400"/>
            </a:p>
          </p:txBody>
        </p:sp>
        <p:sp>
          <p:nvSpPr>
            <p:cNvPr id="28" name="object 28"/>
            <p:cNvSpPr/>
            <p:nvPr/>
          </p:nvSpPr>
          <p:spPr>
            <a:xfrm>
              <a:off x="6272021" y="3394709"/>
              <a:ext cx="838835" cy="381635"/>
            </a:xfrm>
            <a:custGeom>
              <a:avLst/>
              <a:gdLst/>
              <a:ahLst/>
              <a:cxnLst/>
              <a:rect l="l" t="t" r="r" b="b"/>
              <a:pathLst>
                <a:path w="838834" h="381635">
                  <a:moveTo>
                    <a:pt x="230885" y="107568"/>
                  </a:moveTo>
                  <a:lnTo>
                    <a:pt x="0" y="0"/>
                  </a:lnTo>
                </a:path>
                <a:path w="838834" h="381635">
                  <a:moveTo>
                    <a:pt x="838326" y="188975"/>
                  </a:moveTo>
                  <a:lnTo>
                    <a:pt x="652272" y="381126"/>
                  </a:lnTo>
                </a:path>
              </a:pathLst>
            </a:custGeom>
            <a:ln w="38100">
              <a:solidFill>
                <a:srgbClr val="00C2FF"/>
              </a:solidFill>
            </a:ln>
          </p:spPr>
          <p:txBody>
            <a:bodyPr wrap="square" lIns="0" tIns="0" rIns="0" bIns="0" rtlCol="0"/>
            <a:lstStyle/>
            <a:p>
              <a:endParaRPr sz="2400"/>
            </a:p>
          </p:txBody>
        </p:sp>
        <p:sp>
          <p:nvSpPr>
            <p:cNvPr id="29" name="object 29"/>
            <p:cNvSpPr/>
            <p:nvPr/>
          </p:nvSpPr>
          <p:spPr>
            <a:xfrm>
              <a:off x="3778757" y="2544318"/>
              <a:ext cx="419100" cy="121920"/>
            </a:xfrm>
            <a:custGeom>
              <a:avLst/>
              <a:gdLst/>
              <a:ahLst/>
              <a:cxnLst/>
              <a:rect l="l" t="t" r="r" b="b"/>
              <a:pathLst>
                <a:path w="419100" h="121919">
                  <a:moveTo>
                    <a:pt x="358139" y="0"/>
                  </a:moveTo>
                  <a:lnTo>
                    <a:pt x="358139" y="30480"/>
                  </a:lnTo>
                  <a:lnTo>
                    <a:pt x="0" y="30480"/>
                  </a:lnTo>
                  <a:lnTo>
                    <a:pt x="0" y="91439"/>
                  </a:lnTo>
                  <a:lnTo>
                    <a:pt x="358139" y="91439"/>
                  </a:lnTo>
                  <a:lnTo>
                    <a:pt x="358139" y="121919"/>
                  </a:lnTo>
                  <a:lnTo>
                    <a:pt x="419100" y="60959"/>
                  </a:lnTo>
                  <a:lnTo>
                    <a:pt x="358139" y="0"/>
                  </a:lnTo>
                  <a:close/>
                </a:path>
              </a:pathLst>
            </a:custGeom>
            <a:solidFill>
              <a:srgbClr val="00C3FF"/>
            </a:solidFill>
          </p:spPr>
          <p:txBody>
            <a:bodyPr wrap="square" lIns="0" tIns="0" rIns="0" bIns="0" rtlCol="0"/>
            <a:lstStyle/>
            <a:p>
              <a:endParaRPr sz="2400"/>
            </a:p>
          </p:txBody>
        </p:sp>
        <p:sp>
          <p:nvSpPr>
            <p:cNvPr id="30" name="object 30"/>
            <p:cNvSpPr/>
            <p:nvPr/>
          </p:nvSpPr>
          <p:spPr>
            <a:xfrm>
              <a:off x="3778757" y="2544318"/>
              <a:ext cx="419100" cy="121920"/>
            </a:xfrm>
            <a:custGeom>
              <a:avLst/>
              <a:gdLst/>
              <a:ahLst/>
              <a:cxnLst/>
              <a:rect l="l" t="t" r="r" b="b"/>
              <a:pathLst>
                <a:path w="419100" h="121919">
                  <a:moveTo>
                    <a:pt x="0" y="30480"/>
                  </a:moveTo>
                  <a:lnTo>
                    <a:pt x="358139" y="30480"/>
                  </a:lnTo>
                  <a:lnTo>
                    <a:pt x="358139" y="0"/>
                  </a:lnTo>
                  <a:lnTo>
                    <a:pt x="419100" y="60959"/>
                  </a:lnTo>
                  <a:lnTo>
                    <a:pt x="358139" y="121919"/>
                  </a:lnTo>
                  <a:lnTo>
                    <a:pt x="358139" y="91439"/>
                  </a:lnTo>
                  <a:lnTo>
                    <a:pt x="0" y="91439"/>
                  </a:lnTo>
                  <a:lnTo>
                    <a:pt x="0" y="30480"/>
                  </a:lnTo>
                  <a:close/>
                </a:path>
              </a:pathLst>
            </a:custGeom>
            <a:ln w="25908">
              <a:solidFill>
                <a:srgbClr val="008FBB"/>
              </a:solidFill>
            </a:ln>
          </p:spPr>
          <p:txBody>
            <a:bodyPr wrap="square" lIns="0" tIns="0" rIns="0" bIns="0" rtlCol="0"/>
            <a:lstStyle/>
            <a:p>
              <a:endParaRPr sz="2400"/>
            </a:p>
          </p:txBody>
        </p:sp>
        <p:sp>
          <p:nvSpPr>
            <p:cNvPr id="31" name="object 31"/>
            <p:cNvSpPr/>
            <p:nvPr/>
          </p:nvSpPr>
          <p:spPr>
            <a:xfrm>
              <a:off x="5557265" y="1954530"/>
              <a:ext cx="417830" cy="121920"/>
            </a:xfrm>
            <a:custGeom>
              <a:avLst/>
              <a:gdLst/>
              <a:ahLst/>
              <a:cxnLst/>
              <a:rect l="l" t="t" r="r" b="b"/>
              <a:pathLst>
                <a:path w="417829" h="121919">
                  <a:moveTo>
                    <a:pt x="356616" y="0"/>
                  </a:moveTo>
                  <a:lnTo>
                    <a:pt x="356616" y="30480"/>
                  </a:lnTo>
                  <a:lnTo>
                    <a:pt x="0" y="30480"/>
                  </a:lnTo>
                  <a:lnTo>
                    <a:pt x="0" y="91439"/>
                  </a:lnTo>
                  <a:lnTo>
                    <a:pt x="356616" y="91439"/>
                  </a:lnTo>
                  <a:lnTo>
                    <a:pt x="356616" y="121919"/>
                  </a:lnTo>
                  <a:lnTo>
                    <a:pt x="417575" y="60959"/>
                  </a:lnTo>
                  <a:lnTo>
                    <a:pt x="356616" y="0"/>
                  </a:lnTo>
                  <a:close/>
                </a:path>
              </a:pathLst>
            </a:custGeom>
            <a:solidFill>
              <a:srgbClr val="00C3FF"/>
            </a:solidFill>
          </p:spPr>
          <p:txBody>
            <a:bodyPr wrap="square" lIns="0" tIns="0" rIns="0" bIns="0" rtlCol="0"/>
            <a:lstStyle/>
            <a:p>
              <a:endParaRPr sz="2400"/>
            </a:p>
          </p:txBody>
        </p:sp>
        <p:sp>
          <p:nvSpPr>
            <p:cNvPr id="32" name="object 32"/>
            <p:cNvSpPr/>
            <p:nvPr/>
          </p:nvSpPr>
          <p:spPr>
            <a:xfrm>
              <a:off x="5557265" y="1954530"/>
              <a:ext cx="417830" cy="121920"/>
            </a:xfrm>
            <a:custGeom>
              <a:avLst/>
              <a:gdLst/>
              <a:ahLst/>
              <a:cxnLst/>
              <a:rect l="l" t="t" r="r" b="b"/>
              <a:pathLst>
                <a:path w="417829" h="121919">
                  <a:moveTo>
                    <a:pt x="0" y="30480"/>
                  </a:moveTo>
                  <a:lnTo>
                    <a:pt x="356616" y="30480"/>
                  </a:lnTo>
                  <a:lnTo>
                    <a:pt x="356616" y="0"/>
                  </a:lnTo>
                  <a:lnTo>
                    <a:pt x="417575" y="60959"/>
                  </a:lnTo>
                  <a:lnTo>
                    <a:pt x="356616" y="121919"/>
                  </a:lnTo>
                  <a:lnTo>
                    <a:pt x="356616" y="91439"/>
                  </a:lnTo>
                  <a:lnTo>
                    <a:pt x="0" y="91439"/>
                  </a:lnTo>
                  <a:lnTo>
                    <a:pt x="0" y="30480"/>
                  </a:lnTo>
                  <a:close/>
                </a:path>
              </a:pathLst>
            </a:custGeom>
            <a:ln w="25908">
              <a:solidFill>
                <a:srgbClr val="008FBB"/>
              </a:solidFill>
            </a:ln>
          </p:spPr>
          <p:txBody>
            <a:bodyPr wrap="square" lIns="0" tIns="0" rIns="0" bIns="0" rtlCol="0"/>
            <a:lstStyle/>
            <a:p>
              <a:endParaRPr sz="2400"/>
            </a:p>
          </p:txBody>
        </p:sp>
        <p:sp>
          <p:nvSpPr>
            <p:cNvPr id="33" name="object 33"/>
            <p:cNvSpPr/>
            <p:nvPr/>
          </p:nvSpPr>
          <p:spPr>
            <a:xfrm>
              <a:off x="5545073" y="3242309"/>
              <a:ext cx="417830" cy="123825"/>
            </a:xfrm>
            <a:custGeom>
              <a:avLst/>
              <a:gdLst/>
              <a:ahLst/>
              <a:cxnLst/>
              <a:rect l="l" t="t" r="r" b="b"/>
              <a:pathLst>
                <a:path w="417829" h="123825">
                  <a:moveTo>
                    <a:pt x="355853" y="0"/>
                  </a:moveTo>
                  <a:lnTo>
                    <a:pt x="355853" y="30860"/>
                  </a:lnTo>
                  <a:lnTo>
                    <a:pt x="0" y="30860"/>
                  </a:lnTo>
                  <a:lnTo>
                    <a:pt x="0" y="92582"/>
                  </a:lnTo>
                  <a:lnTo>
                    <a:pt x="355853" y="92582"/>
                  </a:lnTo>
                  <a:lnTo>
                    <a:pt x="355853" y="123443"/>
                  </a:lnTo>
                  <a:lnTo>
                    <a:pt x="417575" y="61721"/>
                  </a:lnTo>
                  <a:lnTo>
                    <a:pt x="355853" y="0"/>
                  </a:lnTo>
                  <a:close/>
                </a:path>
              </a:pathLst>
            </a:custGeom>
            <a:solidFill>
              <a:srgbClr val="00C3FF"/>
            </a:solidFill>
          </p:spPr>
          <p:txBody>
            <a:bodyPr wrap="square" lIns="0" tIns="0" rIns="0" bIns="0" rtlCol="0"/>
            <a:lstStyle/>
            <a:p>
              <a:endParaRPr sz="2400"/>
            </a:p>
          </p:txBody>
        </p:sp>
        <p:sp>
          <p:nvSpPr>
            <p:cNvPr id="34" name="object 34"/>
            <p:cNvSpPr/>
            <p:nvPr/>
          </p:nvSpPr>
          <p:spPr>
            <a:xfrm>
              <a:off x="5545073" y="3242309"/>
              <a:ext cx="417830" cy="123825"/>
            </a:xfrm>
            <a:custGeom>
              <a:avLst/>
              <a:gdLst/>
              <a:ahLst/>
              <a:cxnLst/>
              <a:rect l="l" t="t" r="r" b="b"/>
              <a:pathLst>
                <a:path w="417829" h="123825">
                  <a:moveTo>
                    <a:pt x="0" y="30860"/>
                  </a:moveTo>
                  <a:lnTo>
                    <a:pt x="355853" y="30860"/>
                  </a:lnTo>
                  <a:lnTo>
                    <a:pt x="355853" y="0"/>
                  </a:lnTo>
                  <a:lnTo>
                    <a:pt x="417575" y="61721"/>
                  </a:lnTo>
                  <a:lnTo>
                    <a:pt x="355853" y="123443"/>
                  </a:lnTo>
                  <a:lnTo>
                    <a:pt x="355853" y="92582"/>
                  </a:lnTo>
                  <a:lnTo>
                    <a:pt x="0" y="92582"/>
                  </a:lnTo>
                  <a:lnTo>
                    <a:pt x="0" y="30860"/>
                  </a:lnTo>
                  <a:close/>
                </a:path>
              </a:pathLst>
            </a:custGeom>
            <a:ln w="25908">
              <a:solidFill>
                <a:srgbClr val="008FBB"/>
              </a:solidFill>
            </a:ln>
          </p:spPr>
          <p:txBody>
            <a:bodyPr wrap="square" lIns="0" tIns="0" rIns="0" bIns="0" rtlCol="0"/>
            <a:lstStyle/>
            <a:p>
              <a:endParaRPr sz="2400"/>
            </a:p>
          </p:txBody>
        </p:sp>
        <p:sp>
          <p:nvSpPr>
            <p:cNvPr id="35" name="object 35"/>
            <p:cNvSpPr/>
            <p:nvPr/>
          </p:nvSpPr>
          <p:spPr>
            <a:xfrm>
              <a:off x="7273289" y="2221230"/>
              <a:ext cx="419100" cy="123825"/>
            </a:xfrm>
            <a:custGeom>
              <a:avLst/>
              <a:gdLst/>
              <a:ahLst/>
              <a:cxnLst/>
              <a:rect l="l" t="t" r="r" b="b"/>
              <a:pathLst>
                <a:path w="419100" h="123825">
                  <a:moveTo>
                    <a:pt x="357377" y="0"/>
                  </a:moveTo>
                  <a:lnTo>
                    <a:pt x="357377" y="30861"/>
                  </a:lnTo>
                  <a:lnTo>
                    <a:pt x="0" y="30861"/>
                  </a:lnTo>
                  <a:lnTo>
                    <a:pt x="0" y="92582"/>
                  </a:lnTo>
                  <a:lnTo>
                    <a:pt x="357377" y="92582"/>
                  </a:lnTo>
                  <a:lnTo>
                    <a:pt x="357377" y="123443"/>
                  </a:lnTo>
                  <a:lnTo>
                    <a:pt x="419100" y="61721"/>
                  </a:lnTo>
                  <a:lnTo>
                    <a:pt x="357377" y="0"/>
                  </a:lnTo>
                  <a:close/>
                </a:path>
              </a:pathLst>
            </a:custGeom>
            <a:solidFill>
              <a:srgbClr val="00C3FF"/>
            </a:solidFill>
          </p:spPr>
          <p:txBody>
            <a:bodyPr wrap="square" lIns="0" tIns="0" rIns="0" bIns="0" rtlCol="0"/>
            <a:lstStyle/>
            <a:p>
              <a:endParaRPr sz="2400"/>
            </a:p>
          </p:txBody>
        </p:sp>
        <p:sp>
          <p:nvSpPr>
            <p:cNvPr id="36" name="object 36"/>
            <p:cNvSpPr/>
            <p:nvPr/>
          </p:nvSpPr>
          <p:spPr>
            <a:xfrm>
              <a:off x="7273289" y="2221230"/>
              <a:ext cx="419100" cy="123825"/>
            </a:xfrm>
            <a:custGeom>
              <a:avLst/>
              <a:gdLst/>
              <a:ahLst/>
              <a:cxnLst/>
              <a:rect l="l" t="t" r="r" b="b"/>
              <a:pathLst>
                <a:path w="419100" h="123825">
                  <a:moveTo>
                    <a:pt x="0" y="30861"/>
                  </a:moveTo>
                  <a:lnTo>
                    <a:pt x="357377" y="30861"/>
                  </a:lnTo>
                  <a:lnTo>
                    <a:pt x="357377" y="0"/>
                  </a:lnTo>
                  <a:lnTo>
                    <a:pt x="419100" y="61721"/>
                  </a:lnTo>
                  <a:lnTo>
                    <a:pt x="357377" y="123443"/>
                  </a:lnTo>
                  <a:lnTo>
                    <a:pt x="357377" y="92582"/>
                  </a:lnTo>
                  <a:lnTo>
                    <a:pt x="0" y="92582"/>
                  </a:lnTo>
                  <a:lnTo>
                    <a:pt x="0" y="30861"/>
                  </a:lnTo>
                  <a:close/>
                </a:path>
              </a:pathLst>
            </a:custGeom>
            <a:ln w="25908">
              <a:solidFill>
                <a:srgbClr val="008FBB"/>
              </a:solidFill>
            </a:ln>
          </p:spPr>
          <p:txBody>
            <a:bodyPr wrap="square" lIns="0" tIns="0" rIns="0" bIns="0" rtlCol="0"/>
            <a:lstStyle/>
            <a:p>
              <a:endParaRPr sz="2400"/>
            </a:p>
          </p:txBody>
        </p:sp>
        <p:sp>
          <p:nvSpPr>
            <p:cNvPr id="37" name="object 37"/>
            <p:cNvSpPr/>
            <p:nvPr/>
          </p:nvSpPr>
          <p:spPr>
            <a:xfrm>
              <a:off x="7282433" y="3697986"/>
              <a:ext cx="419100" cy="121920"/>
            </a:xfrm>
            <a:custGeom>
              <a:avLst/>
              <a:gdLst/>
              <a:ahLst/>
              <a:cxnLst/>
              <a:rect l="l" t="t" r="r" b="b"/>
              <a:pathLst>
                <a:path w="419100" h="121920">
                  <a:moveTo>
                    <a:pt x="358140" y="0"/>
                  </a:moveTo>
                  <a:lnTo>
                    <a:pt x="358140" y="30479"/>
                  </a:lnTo>
                  <a:lnTo>
                    <a:pt x="0" y="30479"/>
                  </a:lnTo>
                  <a:lnTo>
                    <a:pt x="0" y="91439"/>
                  </a:lnTo>
                  <a:lnTo>
                    <a:pt x="358140" y="91439"/>
                  </a:lnTo>
                  <a:lnTo>
                    <a:pt x="358140" y="121919"/>
                  </a:lnTo>
                  <a:lnTo>
                    <a:pt x="419100" y="60959"/>
                  </a:lnTo>
                  <a:lnTo>
                    <a:pt x="358140" y="0"/>
                  </a:lnTo>
                  <a:close/>
                </a:path>
              </a:pathLst>
            </a:custGeom>
            <a:solidFill>
              <a:srgbClr val="00C3FF"/>
            </a:solidFill>
          </p:spPr>
          <p:txBody>
            <a:bodyPr wrap="square" lIns="0" tIns="0" rIns="0" bIns="0" rtlCol="0"/>
            <a:lstStyle/>
            <a:p>
              <a:endParaRPr sz="2400"/>
            </a:p>
          </p:txBody>
        </p:sp>
        <p:sp>
          <p:nvSpPr>
            <p:cNvPr id="38" name="object 38"/>
            <p:cNvSpPr/>
            <p:nvPr/>
          </p:nvSpPr>
          <p:spPr>
            <a:xfrm>
              <a:off x="7282433" y="3697986"/>
              <a:ext cx="419100" cy="121920"/>
            </a:xfrm>
            <a:custGeom>
              <a:avLst/>
              <a:gdLst/>
              <a:ahLst/>
              <a:cxnLst/>
              <a:rect l="l" t="t" r="r" b="b"/>
              <a:pathLst>
                <a:path w="419100" h="121920">
                  <a:moveTo>
                    <a:pt x="0" y="30479"/>
                  </a:moveTo>
                  <a:lnTo>
                    <a:pt x="358140" y="30479"/>
                  </a:lnTo>
                  <a:lnTo>
                    <a:pt x="358140" y="0"/>
                  </a:lnTo>
                  <a:lnTo>
                    <a:pt x="419100" y="60959"/>
                  </a:lnTo>
                  <a:lnTo>
                    <a:pt x="358140" y="121919"/>
                  </a:lnTo>
                  <a:lnTo>
                    <a:pt x="358140" y="91439"/>
                  </a:lnTo>
                  <a:lnTo>
                    <a:pt x="0" y="91439"/>
                  </a:lnTo>
                  <a:lnTo>
                    <a:pt x="0" y="30479"/>
                  </a:lnTo>
                  <a:close/>
                </a:path>
              </a:pathLst>
            </a:custGeom>
            <a:ln w="25908">
              <a:solidFill>
                <a:srgbClr val="008FBB"/>
              </a:solidFill>
            </a:ln>
          </p:spPr>
          <p:txBody>
            <a:bodyPr wrap="square" lIns="0" tIns="0" rIns="0" bIns="0" rtlCol="0"/>
            <a:lstStyle/>
            <a:p>
              <a:endParaRPr sz="2400"/>
            </a:p>
          </p:txBody>
        </p:sp>
      </p:grpSp>
      <p:sp>
        <p:nvSpPr>
          <p:cNvPr id="39" name="object 39"/>
          <p:cNvSpPr txBox="1"/>
          <p:nvPr/>
        </p:nvSpPr>
        <p:spPr>
          <a:xfrm>
            <a:off x="8243145" y="5549121"/>
            <a:ext cx="1354667"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Data</a:t>
            </a:r>
            <a:r>
              <a:rPr sz="2133" spc="-53" dirty="0">
                <a:solidFill>
                  <a:srgbClr val="FFFFFF"/>
                </a:solidFill>
                <a:latin typeface="Calibri"/>
                <a:cs typeface="Calibri"/>
              </a:rPr>
              <a:t> </a:t>
            </a:r>
            <a:r>
              <a:rPr sz="2133" dirty="0">
                <a:solidFill>
                  <a:srgbClr val="FFFFFF"/>
                </a:solidFill>
                <a:latin typeface="Calibri"/>
                <a:cs typeface="Calibri"/>
              </a:rPr>
              <a:t>Mart</a:t>
            </a:r>
            <a:r>
              <a:rPr sz="2133" spc="-27" dirty="0">
                <a:solidFill>
                  <a:srgbClr val="FFFFFF"/>
                </a:solidFill>
                <a:latin typeface="Calibri"/>
                <a:cs typeface="Calibri"/>
              </a:rPr>
              <a:t> </a:t>
            </a:r>
            <a:r>
              <a:rPr sz="2133" spc="-67" dirty="0">
                <a:solidFill>
                  <a:srgbClr val="FFFFFF"/>
                </a:solidFill>
                <a:latin typeface="Calibri"/>
                <a:cs typeface="Calibri"/>
              </a:rPr>
              <a:t>2</a:t>
            </a:r>
            <a:endParaRPr sz="2133">
              <a:latin typeface="Calibri"/>
              <a:cs typeface="Calibri"/>
            </a:endParaRPr>
          </a:p>
        </p:txBody>
      </p:sp>
      <p:pic>
        <p:nvPicPr>
          <p:cNvPr id="40" name="object 40"/>
          <p:cNvPicPr/>
          <p:nvPr/>
        </p:nvPicPr>
        <p:blipFill>
          <a:blip r:embed="rId2" cstate="print"/>
          <a:stretch>
            <a:fillRect/>
          </a:stretch>
        </p:blipFill>
        <p:spPr>
          <a:xfrm>
            <a:off x="10607040" y="2645665"/>
            <a:ext cx="617728" cy="617727"/>
          </a:xfrm>
          <a:prstGeom prst="rect">
            <a:avLst/>
          </a:prstGeom>
        </p:spPr>
      </p:pic>
      <p:sp>
        <p:nvSpPr>
          <p:cNvPr id="41" name="object 41"/>
          <p:cNvSpPr txBox="1"/>
          <p:nvPr/>
        </p:nvSpPr>
        <p:spPr>
          <a:xfrm>
            <a:off x="10557256" y="4677326"/>
            <a:ext cx="1131992" cy="666892"/>
          </a:xfrm>
          <a:prstGeom prst="rect">
            <a:avLst/>
          </a:prstGeom>
        </p:spPr>
        <p:txBody>
          <a:bodyPr vert="horz" wrap="square" lIns="0" tIns="14393" rIns="0" bIns="0" rtlCol="0">
            <a:spAutoFit/>
          </a:bodyPr>
          <a:lstStyle/>
          <a:p>
            <a:pPr marL="71118" marR="6773" indent="-55032">
              <a:lnSpc>
                <a:spcPct val="100600"/>
              </a:lnSpc>
              <a:spcBef>
                <a:spcPts val="113"/>
              </a:spcBef>
            </a:pPr>
            <a:r>
              <a:rPr sz="2133" spc="-13" dirty="0">
                <a:solidFill>
                  <a:srgbClr val="FFFFFF"/>
                </a:solidFill>
                <a:latin typeface="Calibri"/>
                <a:cs typeface="Calibri"/>
              </a:rPr>
              <a:t>Predictive Analytics</a:t>
            </a:r>
            <a:endParaRPr sz="2133">
              <a:latin typeface="Calibri"/>
              <a:cs typeface="Calibri"/>
            </a:endParaRPr>
          </a:p>
        </p:txBody>
      </p:sp>
      <p:sp>
        <p:nvSpPr>
          <p:cNvPr id="42" name="object 42"/>
          <p:cNvSpPr txBox="1">
            <a:spLocks noGrp="1"/>
          </p:cNvSpPr>
          <p:nvPr>
            <p:ph type="title"/>
          </p:nvPr>
        </p:nvSpPr>
        <p:spPr>
          <a:xfrm>
            <a:off x="3492160" y="252542"/>
            <a:ext cx="6872226" cy="1372171"/>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Data</a:t>
            </a:r>
            <a:r>
              <a:rPr spc="-33" dirty="0"/>
              <a:t> </a:t>
            </a:r>
            <a:r>
              <a:rPr dirty="0">
                <a:solidFill>
                  <a:schemeClr val="bg1"/>
                </a:solidFill>
                <a:latin typeface="+mn-lt"/>
              </a:rPr>
              <a:t>Warehouse</a:t>
            </a:r>
            <a:r>
              <a:rPr spc="-60" dirty="0"/>
              <a:t> </a:t>
            </a:r>
            <a:r>
              <a:rPr dirty="0">
                <a:solidFill>
                  <a:schemeClr val="bg1"/>
                </a:solidFill>
                <a:latin typeface="+mn-lt"/>
              </a:rPr>
              <a:t>Layers</a:t>
            </a:r>
          </a:p>
          <a:p>
            <a:pPr marL="747588" algn="ctr">
              <a:lnSpc>
                <a:spcPct val="100000"/>
              </a:lnSpc>
              <a:spcBef>
                <a:spcPts val="27"/>
              </a:spcBef>
            </a:pPr>
            <a:r>
              <a:rPr spc="173" dirty="0">
                <a:solidFill>
                  <a:srgbClr val="0092BE"/>
                </a:solidFill>
                <a:latin typeface="Arial MT"/>
                <a:cs typeface="Arial MT"/>
              </a:rPr>
              <a:t>Data</a:t>
            </a:r>
            <a:r>
              <a:rPr spc="-120" dirty="0">
                <a:solidFill>
                  <a:srgbClr val="0092BE"/>
                </a:solidFill>
                <a:latin typeface="Arial MT"/>
                <a:cs typeface="Arial MT"/>
              </a:rPr>
              <a:t> </a:t>
            </a:r>
            <a:r>
              <a:rPr spc="160" dirty="0">
                <a:solidFill>
                  <a:srgbClr val="0092BE"/>
                </a:solidFill>
                <a:latin typeface="Arial MT"/>
                <a:cs typeface="Arial MT"/>
              </a:rPr>
              <a:t>Warehouse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27759" y="2320543"/>
            <a:ext cx="9930384" cy="1704848"/>
          </a:xfrm>
          <a:prstGeom prst="rect">
            <a:avLst/>
          </a:prstGeom>
        </p:spPr>
      </p:pic>
      <p:sp>
        <p:nvSpPr>
          <p:cNvPr id="3" name="object 3"/>
          <p:cNvSpPr txBox="1">
            <a:spLocks noGrp="1"/>
          </p:cNvSpPr>
          <p:nvPr>
            <p:ph type="title"/>
          </p:nvPr>
        </p:nvSpPr>
        <p:spPr>
          <a:xfrm>
            <a:off x="1190751" y="2621034"/>
            <a:ext cx="9811173" cy="1049004"/>
          </a:xfrm>
          <a:prstGeom prst="rect">
            <a:avLst/>
          </a:prstGeom>
          <a:noFill/>
          <a:ln w="9144">
            <a:noFill/>
          </a:ln>
        </p:spPr>
        <p:txBody>
          <a:bodyPr vert="horz" wrap="square" lIns="0" tIns="307339" rIns="0" bIns="0" rtlCol="0" anchor="ctr">
            <a:spAutoFit/>
          </a:bodyPr>
          <a:lstStyle/>
          <a:p>
            <a:pPr marL="1693" algn="ctr">
              <a:lnSpc>
                <a:spcPct val="100000"/>
              </a:lnSpc>
              <a:spcBef>
                <a:spcPts val="2419"/>
              </a:spcBef>
            </a:pPr>
            <a:r>
              <a:rPr sz="4800" dirty="0">
                <a:solidFill>
                  <a:schemeClr val="bg1"/>
                </a:solidFill>
                <a:latin typeface="+mn-lt"/>
              </a:rPr>
              <a:t>The</a:t>
            </a:r>
            <a:r>
              <a:rPr sz="4800" spc="-67" dirty="0">
                <a:solidFill>
                  <a:schemeClr val="bg1"/>
                </a:solidFill>
                <a:latin typeface="+mn-lt"/>
              </a:rPr>
              <a:t> </a:t>
            </a:r>
            <a:r>
              <a:rPr sz="4800" dirty="0">
                <a:solidFill>
                  <a:schemeClr val="bg1"/>
                </a:solidFill>
                <a:latin typeface="+mn-lt"/>
              </a:rPr>
              <a:t>Staging</a:t>
            </a:r>
            <a:r>
              <a:rPr sz="4800" spc="-60" dirty="0">
                <a:solidFill>
                  <a:schemeClr val="bg1"/>
                </a:solidFill>
                <a:latin typeface="+mn-lt"/>
              </a:rPr>
              <a:t> </a:t>
            </a:r>
            <a:r>
              <a:rPr sz="4800" spc="-27" dirty="0">
                <a:solidFill>
                  <a:schemeClr val="bg1"/>
                </a:solidFill>
                <a:latin typeface="+mn-lt"/>
              </a:rPr>
              <a:t>Area</a:t>
            </a:r>
            <a:endParaRPr sz="4800" dirty="0">
              <a:solidFill>
                <a:schemeClr val="bg1"/>
              </a:solidFill>
              <a:latin typeface="+mn-l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56168" y="383228"/>
            <a:ext cx="7108519"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Data</a:t>
            </a:r>
            <a:r>
              <a:rPr spc="-33" dirty="0">
                <a:solidFill>
                  <a:schemeClr val="bg1"/>
                </a:solidFill>
                <a:latin typeface="+mn-lt"/>
              </a:rPr>
              <a:t> </a:t>
            </a:r>
            <a:r>
              <a:rPr dirty="0">
                <a:solidFill>
                  <a:schemeClr val="bg1"/>
                </a:solidFill>
                <a:latin typeface="+mn-lt"/>
              </a:rPr>
              <a:t>Warehouse</a:t>
            </a:r>
            <a:r>
              <a:rPr spc="-60" dirty="0">
                <a:solidFill>
                  <a:schemeClr val="bg1"/>
                </a:solidFill>
                <a:latin typeface="+mn-lt"/>
              </a:rPr>
              <a:t> </a:t>
            </a:r>
            <a:r>
              <a:rPr spc="-13" dirty="0">
                <a:solidFill>
                  <a:schemeClr val="bg1"/>
                </a:solidFill>
                <a:latin typeface="+mn-lt"/>
              </a:rPr>
              <a:t>Layers</a:t>
            </a:r>
          </a:p>
        </p:txBody>
      </p:sp>
      <p:sp>
        <p:nvSpPr>
          <p:cNvPr id="3" name="object 3"/>
          <p:cNvSpPr txBox="1"/>
          <p:nvPr/>
        </p:nvSpPr>
        <p:spPr>
          <a:xfrm>
            <a:off x="4683928" y="5088670"/>
            <a:ext cx="841587" cy="344475"/>
          </a:xfrm>
          <a:prstGeom prst="rect">
            <a:avLst/>
          </a:prstGeom>
        </p:spPr>
        <p:txBody>
          <a:bodyPr vert="horz" wrap="square" lIns="0" tIns="16087" rIns="0" bIns="0" rtlCol="0">
            <a:spAutoFit/>
          </a:bodyPr>
          <a:lstStyle/>
          <a:p>
            <a:pPr marL="16933">
              <a:spcBef>
                <a:spcPts val="127"/>
              </a:spcBef>
            </a:pPr>
            <a:r>
              <a:rPr sz="2133" spc="-13" dirty="0">
                <a:solidFill>
                  <a:srgbClr val="FFFFFF"/>
                </a:solidFill>
                <a:latin typeface="Calibri"/>
                <a:cs typeface="Calibri"/>
              </a:rPr>
              <a:t>Staging</a:t>
            </a:r>
            <a:endParaRPr sz="2133">
              <a:latin typeface="Calibri"/>
              <a:cs typeface="Calibri"/>
            </a:endParaRPr>
          </a:p>
        </p:txBody>
      </p:sp>
      <p:sp>
        <p:nvSpPr>
          <p:cNvPr id="4" name="object 4"/>
          <p:cNvSpPr/>
          <p:nvPr/>
        </p:nvSpPr>
        <p:spPr>
          <a:xfrm>
            <a:off x="2036131" y="2566298"/>
            <a:ext cx="1139613" cy="800100"/>
          </a:xfrm>
          <a:custGeom>
            <a:avLst/>
            <a:gdLst/>
            <a:ahLst/>
            <a:cxnLst/>
            <a:rect l="l" t="t" r="r" b="b"/>
            <a:pathLst>
              <a:path w="854710" h="600075">
                <a:moveTo>
                  <a:pt x="854710" y="0"/>
                </a:moveTo>
                <a:lnTo>
                  <a:pt x="0" y="0"/>
                </a:lnTo>
                <a:lnTo>
                  <a:pt x="0" y="64795"/>
                </a:lnTo>
                <a:lnTo>
                  <a:pt x="0" y="193116"/>
                </a:lnTo>
                <a:lnTo>
                  <a:pt x="0" y="599694"/>
                </a:lnTo>
                <a:lnTo>
                  <a:pt x="854710" y="599694"/>
                </a:lnTo>
                <a:lnTo>
                  <a:pt x="854710" y="535216"/>
                </a:lnTo>
                <a:lnTo>
                  <a:pt x="854710" y="534898"/>
                </a:lnTo>
                <a:lnTo>
                  <a:pt x="854710" y="406908"/>
                </a:lnTo>
                <a:lnTo>
                  <a:pt x="790600" y="406908"/>
                </a:lnTo>
                <a:lnTo>
                  <a:pt x="790600" y="534898"/>
                </a:lnTo>
                <a:lnTo>
                  <a:pt x="576922" y="534898"/>
                </a:lnTo>
                <a:lnTo>
                  <a:pt x="576922" y="406908"/>
                </a:lnTo>
                <a:lnTo>
                  <a:pt x="534187" y="406908"/>
                </a:lnTo>
                <a:lnTo>
                  <a:pt x="534187" y="534898"/>
                </a:lnTo>
                <a:lnTo>
                  <a:pt x="320509" y="534898"/>
                </a:lnTo>
                <a:lnTo>
                  <a:pt x="320509" y="406908"/>
                </a:lnTo>
                <a:lnTo>
                  <a:pt x="277774" y="406908"/>
                </a:lnTo>
                <a:lnTo>
                  <a:pt x="277774" y="534898"/>
                </a:lnTo>
                <a:lnTo>
                  <a:pt x="64096" y="534898"/>
                </a:lnTo>
                <a:lnTo>
                  <a:pt x="64096" y="406577"/>
                </a:lnTo>
                <a:lnTo>
                  <a:pt x="854710" y="406577"/>
                </a:lnTo>
                <a:lnTo>
                  <a:pt x="854710" y="364642"/>
                </a:lnTo>
                <a:lnTo>
                  <a:pt x="64096" y="364642"/>
                </a:lnTo>
                <a:lnTo>
                  <a:pt x="64096" y="236321"/>
                </a:lnTo>
                <a:lnTo>
                  <a:pt x="277774" y="236321"/>
                </a:lnTo>
                <a:lnTo>
                  <a:pt x="277774" y="364134"/>
                </a:lnTo>
                <a:lnTo>
                  <a:pt x="320509" y="364134"/>
                </a:lnTo>
                <a:lnTo>
                  <a:pt x="320509" y="236321"/>
                </a:lnTo>
                <a:lnTo>
                  <a:pt x="534187" y="236321"/>
                </a:lnTo>
                <a:lnTo>
                  <a:pt x="534187" y="364134"/>
                </a:lnTo>
                <a:lnTo>
                  <a:pt x="576922" y="364134"/>
                </a:lnTo>
                <a:lnTo>
                  <a:pt x="576922" y="236321"/>
                </a:lnTo>
                <a:lnTo>
                  <a:pt x="790600" y="236321"/>
                </a:lnTo>
                <a:lnTo>
                  <a:pt x="790600" y="364134"/>
                </a:lnTo>
                <a:lnTo>
                  <a:pt x="854710" y="364134"/>
                </a:lnTo>
                <a:lnTo>
                  <a:pt x="854710" y="236321"/>
                </a:lnTo>
                <a:lnTo>
                  <a:pt x="854710" y="235813"/>
                </a:lnTo>
                <a:lnTo>
                  <a:pt x="854710" y="193116"/>
                </a:lnTo>
                <a:lnTo>
                  <a:pt x="64096" y="193116"/>
                </a:lnTo>
                <a:lnTo>
                  <a:pt x="64096" y="64795"/>
                </a:lnTo>
                <a:lnTo>
                  <a:pt x="277774" y="64795"/>
                </a:lnTo>
                <a:lnTo>
                  <a:pt x="277774" y="193040"/>
                </a:lnTo>
                <a:lnTo>
                  <a:pt x="320509" y="193040"/>
                </a:lnTo>
                <a:lnTo>
                  <a:pt x="320509" y="64795"/>
                </a:lnTo>
                <a:lnTo>
                  <a:pt x="534187" y="64795"/>
                </a:lnTo>
                <a:lnTo>
                  <a:pt x="534187" y="193040"/>
                </a:lnTo>
                <a:lnTo>
                  <a:pt x="576922" y="193040"/>
                </a:lnTo>
                <a:lnTo>
                  <a:pt x="576922" y="64795"/>
                </a:lnTo>
                <a:lnTo>
                  <a:pt x="790600" y="64795"/>
                </a:lnTo>
                <a:lnTo>
                  <a:pt x="790600" y="193040"/>
                </a:lnTo>
                <a:lnTo>
                  <a:pt x="854710" y="193040"/>
                </a:lnTo>
                <a:lnTo>
                  <a:pt x="854710" y="64795"/>
                </a:lnTo>
                <a:lnTo>
                  <a:pt x="854710" y="0"/>
                </a:lnTo>
                <a:close/>
              </a:path>
            </a:pathLst>
          </a:custGeom>
          <a:solidFill>
            <a:srgbClr val="BCBCBC"/>
          </a:solidFill>
        </p:spPr>
        <p:txBody>
          <a:bodyPr wrap="square" lIns="0" tIns="0" rIns="0" bIns="0" rtlCol="0"/>
          <a:lstStyle/>
          <a:p>
            <a:endParaRPr sz="2400"/>
          </a:p>
        </p:txBody>
      </p:sp>
      <p:sp>
        <p:nvSpPr>
          <p:cNvPr id="5" name="object 5"/>
          <p:cNvSpPr txBox="1"/>
          <p:nvPr/>
        </p:nvSpPr>
        <p:spPr>
          <a:xfrm>
            <a:off x="1955800" y="4677326"/>
            <a:ext cx="1424093"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data</a:t>
            </a:r>
            <a:r>
              <a:rPr sz="2133" spc="-33" dirty="0">
                <a:solidFill>
                  <a:srgbClr val="FFFFFF"/>
                </a:solidFill>
                <a:latin typeface="Calibri"/>
                <a:cs typeface="Calibri"/>
              </a:rPr>
              <a:t> </a:t>
            </a:r>
            <a:r>
              <a:rPr sz="2133" spc="-13" dirty="0">
                <a:solidFill>
                  <a:srgbClr val="FFFFFF"/>
                </a:solidFill>
                <a:latin typeface="Calibri"/>
                <a:cs typeface="Calibri"/>
              </a:rPr>
              <a:t>sources</a:t>
            </a:r>
            <a:endParaRPr sz="2133">
              <a:latin typeface="Calibri"/>
              <a:cs typeface="Calibri"/>
            </a:endParaRPr>
          </a:p>
        </p:txBody>
      </p:sp>
      <p:sp>
        <p:nvSpPr>
          <p:cNvPr id="6" name="object 6"/>
          <p:cNvSpPr/>
          <p:nvPr/>
        </p:nvSpPr>
        <p:spPr>
          <a:xfrm>
            <a:off x="2225396" y="3548871"/>
            <a:ext cx="781473" cy="1060027"/>
          </a:xfrm>
          <a:custGeom>
            <a:avLst/>
            <a:gdLst/>
            <a:ahLst/>
            <a:cxnLst/>
            <a:rect l="l" t="t" r="r" b="b"/>
            <a:pathLst>
              <a:path w="586105" h="795020">
                <a:moveTo>
                  <a:pt x="586003" y="543801"/>
                </a:moveTo>
                <a:lnTo>
                  <a:pt x="578231" y="562914"/>
                </a:lnTo>
                <a:lnTo>
                  <a:pt x="556107" y="580504"/>
                </a:lnTo>
                <a:lnTo>
                  <a:pt x="523227" y="595236"/>
                </a:lnTo>
                <a:lnTo>
                  <a:pt x="523227" y="690194"/>
                </a:lnTo>
                <a:lnTo>
                  <a:pt x="521716" y="698766"/>
                </a:lnTo>
                <a:lnTo>
                  <a:pt x="517461" y="705358"/>
                </a:lnTo>
                <a:lnTo>
                  <a:pt x="510857" y="709612"/>
                </a:lnTo>
                <a:lnTo>
                  <a:pt x="502297" y="711111"/>
                </a:lnTo>
                <a:lnTo>
                  <a:pt x="493725" y="709612"/>
                </a:lnTo>
                <a:lnTo>
                  <a:pt x="487121" y="705358"/>
                </a:lnTo>
                <a:lnTo>
                  <a:pt x="482866" y="698766"/>
                </a:lnTo>
                <a:lnTo>
                  <a:pt x="481368" y="690194"/>
                </a:lnTo>
                <a:lnTo>
                  <a:pt x="482866" y="681634"/>
                </a:lnTo>
                <a:lnTo>
                  <a:pt x="487121" y="675030"/>
                </a:lnTo>
                <a:lnTo>
                  <a:pt x="493725" y="670788"/>
                </a:lnTo>
                <a:lnTo>
                  <a:pt x="502297" y="669290"/>
                </a:lnTo>
                <a:lnTo>
                  <a:pt x="510857" y="670788"/>
                </a:lnTo>
                <a:lnTo>
                  <a:pt x="517461" y="675030"/>
                </a:lnTo>
                <a:lnTo>
                  <a:pt x="521716" y="681634"/>
                </a:lnTo>
                <a:lnTo>
                  <a:pt x="523227" y="690194"/>
                </a:lnTo>
                <a:lnTo>
                  <a:pt x="523227" y="595236"/>
                </a:lnTo>
                <a:lnTo>
                  <a:pt x="475983" y="609015"/>
                </a:lnTo>
                <a:lnTo>
                  <a:pt x="421563" y="618921"/>
                </a:lnTo>
                <a:lnTo>
                  <a:pt x="359981" y="625233"/>
                </a:lnTo>
                <a:lnTo>
                  <a:pt x="293001" y="627456"/>
                </a:lnTo>
                <a:lnTo>
                  <a:pt x="226034" y="625233"/>
                </a:lnTo>
                <a:lnTo>
                  <a:pt x="164439" y="618921"/>
                </a:lnTo>
                <a:lnTo>
                  <a:pt x="110032" y="609015"/>
                </a:lnTo>
                <a:lnTo>
                  <a:pt x="64579" y="596036"/>
                </a:lnTo>
                <a:lnTo>
                  <a:pt x="7772" y="562914"/>
                </a:lnTo>
                <a:lnTo>
                  <a:pt x="0" y="543801"/>
                </a:lnTo>
                <a:lnTo>
                  <a:pt x="0" y="711111"/>
                </a:lnTo>
                <a:lnTo>
                  <a:pt x="29895" y="747826"/>
                </a:lnTo>
                <a:lnTo>
                  <a:pt x="110032" y="776338"/>
                </a:lnTo>
                <a:lnTo>
                  <a:pt x="164439" y="786231"/>
                </a:lnTo>
                <a:lnTo>
                  <a:pt x="226034" y="792556"/>
                </a:lnTo>
                <a:lnTo>
                  <a:pt x="293001" y="794778"/>
                </a:lnTo>
                <a:lnTo>
                  <a:pt x="359981" y="792556"/>
                </a:lnTo>
                <a:lnTo>
                  <a:pt x="421563" y="786231"/>
                </a:lnTo>
                <a:lnTo>
                  <a:pt x="475983" y="776338"/>
                </a:lnTo>
                <a:lnTo>
                  <a:pt x="521423" y="763358"/>
                </a:lnTo>
                <a:lnTo>
                  <a:pt x="578231" y="730237"/>
                </a:lnTo>
                <a:lnTo>
                  <a:pt x="586003" y="711111"/>
                </a:lnTo>
                <a:lnTo>
                  <a:pt x="586003" y="669290"/>
                </a:lnTo>
                <a:lnTo>
                  <a:pt x="586003" y="627456"/>
                </a:lnTo>
                <a:lnTo>
                  <a:pt x="586003" y="543801"/>
                </a:lnTo>
                <a:close/>
              </a:path>
              <a:path w="586105" h="795020">
                <a:moveTo>
                  <a:pt x="586003" y="334645"/>
                </a:moveTo>
                <a:lnTo>
                  <a:pt x="578231" y="353771"/>
                </a:lnTo>
                <a:lnTo>
                  <a:pt x="556107" y="371360"/>
                </a:lnTo>
                <a:lnTo>
                  <a:pt x="523227" y="386092"/>
                </a:lnTo>
                <a:lnTo>
                  <a:pt x="523227" y="481050"/>
                </a:lnTo>
                <a:lnTo>
                  <a:pt x="521716" y="489610"/>
                </a:lnTo>
                <a:lnTo>
                  <a:pt x="517461" y="496214"/>
                </a:lnTo>
                <a:lnTo>
                  <a:pt x="510857" y="500468"/>
                </a:lnTo>
                <a:lnTo>
                  <a:pt x="502297" y="501967"/>
                </a:lnTo>
                <a:lnTo>
                  <a:pt x="493725" y="500468"/>
                </a:lnTo>
                <a:lnTo>
                  <a:pt x="487121" y="496214"/>
                </a:lnTo>
                <a:lnTo>
                  <a:pt x="482866" y="489610"/>
                </a:lnTo>
                <a:lnTo>
                  <a:pt x="481368" y="481050"/>
                </a:lnTo>
                <a:lnTo>
                  <a:pt x="482866" y="472490"/>
                </a:lnTo>
                <a:lnTo>
                  <a:pt x="487121" y="465886"/>
                </a:lnTo>
                <a:lnTo>
                  <a:pt x="493725" y="461645"/>
                </a:lnTo>
                <a:lnTo>
                  <a:pt x="502297" y="460133"/>
                </a:lnTo>
                <a:lnTo>
                  <a:pt x="510857" y="461645"/>
                </a:lnTo>
                <a:lnTo>
                  <a:pt x="517461" y="465886"/>
                </a:lnTo>
                <a:lnTo>
                  <a:pt x="521716" y="472490"/>
                </a:lnTo>
                <a:lnTo>
                  <a:pt x="523227" y="481050"/>
                </a:lnTo>
                <a:lnTo>
                  <a:pt x="523227" y="386092"/>
                </a:lnTo>
                <a:lnTo>
                  <a:pt x="475983" y="399872"/>
                </a:lnTo>
                <a:lnTo>
                  <a:pt x="421563" y="409765"/>
                </a:lnTo>
                <a:lnTo>
                  <a:pt x="359981" y="416090"/>
                </a:lnTo>
                <a:lnTo>
                  <a:pt x="293001" y="418312"/>
                </a:lnTo>
                <a:lnTo>
                  <a:pt x="226034" y="416090"/>
                </a:lnTo>
                <a:lnTo>
                  <a:pt x="164439" y="409765"/>
                </a:lnTo>
                <a:lnTo>
                  <a:pt x="110032" y="399872"/>
                </a:lnTo>
                <a:lnTo>
                  <a:pt x="64579" y="386892"/>
                </a:lnTo>
                <a:lnTo>
                  <a:pt x="7772" y="353771"/>
                </a:lnTo>
                <a:lnTo>
                  <a:pt x="0" y="334645"/>
                </a:lnTo>
                <a:lnTo>
                  <a:pt x="0" y="501967"/>
                </a:lnTo>
                <a:lnTo>
                  <a:pt x="29895" y="538670"/>
                </a:lnTo>
                <a:lnTo>
                  <a:pt x="110032" y="567182"/>
                </a:lnTo>
                <a:lnTo>
                  <a:pt x="164439" y="577088"/>
                </a:lnTo>
                <a:lnTo>
                  <a:pt x="226034" y="583399"/>
                </a:lnTo>
                <a:lnTo>
                  <a:pt x="293001" y="585622"/>
                </a:lnTo>
                <a:lnTo>
                  <a:pt x="359981" y="583399"/>
                </a:lnTo>
                <a:lnTo>
                  <a:pt x="421563" y="577088"/>
                </a:lnTo>
                <a:lnTo>
                  <a:pt x="475983" y="567182"/>
                </a:lnTo>
                <a:lnTo>
                  <a:pt x="521423" y="554215"/>
                </a:lnTo>
                <a:lnTo>
                  <a:pt x="578231" y="521093"/>
                </a:lnTo>
                <a:lnTo>
                  <a:pt x="586003" y="501967"/>
                </a:lnTo>
                <a:lnTo>
                  <a:pt x="586003" y="460133"/>
                </a:lnTo>
                <a:lnTo>
                  <a:pt x="586003" y="418312"/>
                </a:lnTo>
                <a:lnTo>
                  <a:pt x="586003" y="334645"/>
                </a:lnTo>
                <a:close/>
              </a:path>
              <a:path w="586105" h="795020">
                <a:moveTo>
                  <a:pt x="586003" y="125501"/>
                </a:moveTo>
                <a:lnTo>
                  <a:pt x="578231" y="144627"/>
                </a:lnTo>
                <a:lnTo>
                  <a:pt x="556107" y="162204"/>
                </a:lnTo>
                <a:lnTo>
                  <a:pt x="523227" y="176949"/>
                </a:lnTo>
                <a:lnTo>
                  <a:pt x="523227" y="271907"/>
                </a:lnTo>
                <a:lnTo>
                  <a:pt x="521716" y="280466"/>
                </a:lnTo>
                <a:lnTo>
                  <a:pt x="517461" y="287070"/>
                </a:lnTo>
                <a:lnTo>
                  <a:pt x="510857" y="291312"/>
                </a:lnTo>
                <a:lnTo>
                  <a:pt x="502297" y="292823"/>
                </a:lnTo>
                <a:lnTo>
                  <a:pt x="493725" y="291312"/>
                </a:lnTo>
                <a:lnTo>
                  <a:pt x="487121" y="287070"/>
                </a:lnTo>
                <a:lnTo>
                  <a:pt x="482866" y="280466"/>
                </a:lnTo>
                <a:lnTo>
                  <a:pt x="481368" y="271907"/>
                </a:lnTo>
                <a:lnTo>
                  <a:pt x="482866" y="263347"/>
                </a:lnTo>
                <a:lnTo>
                  <a:pt x="487121" y="256743"/>
                </a:lnTo>
                <a:lnTo>
                  <a:pt x="493725" y="252488"/>
                </a:lnTo>
                <a:lnTo>
                  <a:pt x="502297" y="250990"/>
                </a:lnTo>
                <a:lnTo>
                  <a:pt x="510857" y="252488"/>
                </a:lnTo>
                <a:lnTo>
                  <a:pt x="517461" y="256743"/>
                </a:lnTo>
                <a:lnTo>
                  <a:pt x="521716" y="263347"/>
                </a:lnTo>
                <a:lnTo>
                  <a:pt x="523227" y="271907"/>
                </a:lnTo>
                <a:lnTo>
                  <a:pt x="523227" y="176949"/>
                </a:lnTo>
                <a:lnTo>
                  <a:pt x="475983" y="190715"/>
                </a:lnTo>
                <a:lnTo>
                  <a:pt x="421563" y="200621"/>
                </a:lnTo>
                <a:lnTo>
                  <a:pt x="359981" y="206933"/>
                </a:lnTo>
                <a:lnTo>
                  <a:pt x="293001" y="209156"/>
                </a:lnTo>
                <a:lnTo>
                  <a:pt x="226034" y="206933"/>
                </a:lnTo>
                <a:lnTo>
                  <a:pt x="164439" y="200621"/>
                </a:lnTo>
                <a:lnTo>
                  <a:pt x="110032" y="190715"/>
                </a:lnTo>
                <a:lnTo>
                  <a:pt x="64579" y="177749"/>
                </a:lnTo>
                <a:lnTo>
                  <a:pt x="7772" y="144627"/>
                </a:lnTo>
                <a:lnTo>
                  <a:pt x="0" y="125501"/>
                </a:lnTo>
                <a:lnTo>
                  <a:pt x="0" y="292823"/>
                </a:lnTo>
                <a:lnTo>
                  <a:pt x="29895" y="329526"/>
                </a:lnTo>
                <a:lnTo>
                  <a:pt x="110032" y="358038"/>
                </a:lnTo>
                <a:lnTo>
                  <a:pt x="164439" y="367944"/>
                </a:lnTo>
                <a:lnTo>
                  <a:pt x="226034" y="374256"/>
                </a:lnTo>
                <a:lnTo>
                  <a:pt x="293001" y="376478"/>
                </a:lnTo>
                <a:lnTo>
                  <a:pt x="359981" y="374256"/>
                </a:lnTo>
                <a:lnTo>
                  <a:pt x="421563" y="367944"/>
                </a:lnTo>
                <a:lnTo>
                  <a:pt x="475983" y="358038"/>
                </a:lnTo>
                <a:lnTo>
                  <a:pt x="521423" y="345059"/>
                </a:lnTo>
                <a:lnTo>
                  <a:pt x="578231" y="311937"/>
                </a:lnTo>
                <a:lnTo>
                  <a:pt x="586003" y="292823"/>
                </a:lnTo>
                <a:lnTo>
                  <a:pt x="586003" y="250990"/>
                </a:lnTo>
                <a:lnTo>
                  <a:pt x="586003" y="209156"/>
                </a:lnTo>
                <a:lnTo>
                  <a:pt x="586003" y="125501"/>
                </a:lnTo>
                <a:close/>
              </a:path>
              <a:path w="586105" h="795020">
                <a:moveTo>
                  <a:pt x="586003" y="83667"/>
                </a:moveTo>
                <a:lnTo>
                  <a:pt x="556234" y="46875"/>
                </a:lnTo>
                <a:lnTo>
                  <a:pt x="476262" y="18376"/>
                </a:lnTo>
                <a:lnTo>
                  <a:pt x="421868" y="8496"/>
                </a:lnTo>
                <a:lnTo>
                  <a:pt x="360184" y="2209"/>
                </a:lnTo>
                <a:lnTo>
                  <a:pt x="293001" y="0"/>
                </a:lnTo>
                <a:lnTo>
                  <a:pt x="225818" y="2209"/>
                </a:lnTo>
                <a:lnTo>
                  <a:pt x="164147" y="8496"/>
                </a:lnTo>
                <a:lnTo>
                  <a:pt x="109753" y="18376"/>
                </a:lnTo>
                <a:lnTo>
                  <a:pt x="64376" y="31343"/>
                </a:lnTo>
                <a:lnTo>
                  <a:pt x="7747" y="64490"/>
                </a:lnTo>
                <a:lnTo>
                  <a:pt x="0" y="83667"/>
                </a:lnTo>
                <a:lnTo>
                  <a:pt x="7747" y="102857"/>
                </a:lnTo>
                <a:lnTo>
                  <a:pt x="64376" y="135991"/>
                </a:lnTo>
                <a:lnTo>
                  <a:pt x="109753" y="148945"/>
                </a:lnTo>
                <a:lnTo>
                  <a:pt x="164147" y="158826"/>
                </a:lnTo>
                <a:lnTo>
                  <a:pt x="225818" y="165125"/>
                </a:lnTo>
                <a:lnTo>
                  <a:pt x="293001" y="167335"/>
                </a:lnTo>
                <a:lnTo>
                  <a:pt x="360184" y="165125"/>
                </a:lnTo>
                <a:lnTo>
                  <a:pt x="421868" y="158826"/>
                </a:lnTo>
                <a:lnTo>
                  <a:pt x="476262" y="148945"/>
                </a:lnTo>
                <a:lnTo>
                  <a:pt x="521639" y="135991"/>
                </a:lnTo>
                <a:lnTo>
                  <a:pt x="578269" y="102857"/>
                </a:lnTo>
                <a:lnTo>
                  <a:pt x="586003" y="83667"/>
                </a:lnTo>
                <a:close/>
              </a:path>
            </a:pathLst>
          </a:custGeom>
          <a:solidFill>
            <a:srgbClr val="9B9B9B"/>
          </a:solidFill>
        </p:spPr>
        <p:txBody>
          <a:bodyPr wrap="square" lIns="0" tIns="0" rIns="0" bIns="0" rtlCol="0"/>
          <a:lstStyle/>
          <a:p>
            <a:endParaRPr sz="2400"/>
          </a:p>
        </p:txBody>
      </p:sp>
      <p:graphicFrame>
        <p:nvGraphicFramePr>
          <p:cNvPr id="7" name="object 7"/>
          <p:cNvGraphicFramePr>
            <a:graphicFrameLocks noGrp="1"/>
          </p:cNvGraphicFramePr>
          <p:nvPr/>
        </p:nvGraphicFramePr>
        <p:xfrm>
          <a:off x="4232241" y="2400119"/>
          <a:ext cx="791632" cy="534247"/>
        </p:xfrm>
        <a:graphic>
          <a:graphicData uri="http://schemas.openxmlformats.org/drawingml/2006/table">
            <a:tbl>
              <a:tblPr firstRow="1" bandRow="1">
                <a:tableStyleId>{2D5ABB26-0587-4C30-8999-92F81FD0307C}</a:tableStyleId>
              </a:tblPr>
              <a:tblGrid>
                <a:gridCol w="267547">
                  <a:extLst>
                    <a:ext uri="{9D8B030D-6E8A-4147-A177-3AD203B41FA5}">
                      <a16:colId xmlns:a16="http://schemas.microsoft.com/office/drawing/2014/main" val="20000"/>
                    </a:ext>
                  </a:extLst>
                </a:gridCol>
                <a:gridCol w="256540">
                  <a:extLst>
                    <a:ext uri="{9D8B030D-6E8A-4147-A177-3AD203B41FA5}">
                      <a16:colId xmlns:a16="http://schemas.microsoft.com/office/drawing/2014/main" val="20001"/>
                    </a:ext>
                  </a:extLst>
                </a:gridCol>
                <a:gridCol w="267545">
                  <a:extLst>
                    <a:ext uri="{9D8B030D-6E8A-4147-A177-3AD203B41FA5}">
                      <a16:colId xmlns:a16="http://schemas.microsoft.com/office/drawing/2014/main" val="20002"/>
                    </a:ext>
                  </a:extLst>
                </a:gridCol>
              </a:tblGrid>
              <a:tr h="182033">
                <a:tc>
                  <a:txBody>
                    <a:bodyPr/>
                    <a:lstStyle/>
                    <a:p>
                      <a:pPr>
                        <a:lnSpc>
                          <a:spcPct val="100000"/>
                        </a:lnSpc>
                      </a:pPr>
                      <a:endParaRPr sz="900">
                        <a:latin typeface="Times New Roman"/>
                        <a:cs typeface="Times New Roman"/>
                      </a:endParaRPr>
                    </a:p>
                  </a:txBody>
                  <a:tcPr marL="0" marR="0" marT="0" marB="0">
                    <a:lnL w="5715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57150">
                      <a:solidFill>
                        <a:srgbClr val="BCBCBC"/>
                      </a:solidFill>
                      <a:prstDash val="solid"/>
                    </a:lnR>
                    <a:lnT w="57150">
                      <a:solidFill>
                        <a:srgbClr val="BCBCBC"/>
                      </a:solidFill>
                      <a:prstDash val="solid"/>
                    </a:lnT>
                    <a:lnB w="38100">
                      <a:solidFill>
                        <a:srgbClr val="BCBCBC"/>
                      </a:solidFill>
                      <a:prstDash val="solid"/>
                    </a:lnB>
                  </a:tcPr>
                </a:tc>
                <a:extLst>
                  <a:ext uri="{0D108BD9-81ED-4DB2-BD59-A6C34878D82A}">
                    <a16:rowId xmlns:a16="http://schemas.microsoft.com/office/drawing/2014/main" val="10000"/>
                  </a:ext>
                </a:extLst>
              </a:tr>
              <a:tr h="171027">
                <a:tc>
                  <a:txBody>
                    <a:bodyPr/>
                    <a:lstStyle/>
                    <a:p>
                      <a:pPr>
                        <a:lnSpc>
                          <a:spcPct val="100000"/>
                        </a:lnSpc>
                      </a:pPr>
                      <a:endParaRPr sz="9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38100">
                      <a:solidFill>
                        <a:srgbClr val="BCBCBC"/>
                      </a:solidFill>
                      <a:prstDash val="solid"/>
                    </a:lnB>
                  </a:tcPr>
                </a:tc>
                <a:extLst>
                  <a:ext uri="{0D108BD9-81ED-4DB2-BD59-A6C34878D82A}">
                    <a16:rowId xmlns:a16="http://schemas.microsoft.com/office/drawing/2014/main" val="10001"/>
                  </a:ext>
                </a:extLst>
              </a:tr>
              <a:tr h="181187">
                <a:tc>
                  <a:txBody>
                    <a:bodyPr/>
                    <a:lstStyle/>
                    <a:p>
                      <a:pPr>
                        <a:lnSpc>
                          <a:spcPct val="100000"/>
                        </a:lnSpc>
                      </a:pPr>
                      <a:endParaRPr sz="9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57150">
                      <a:solidFill>
                        <a:srgbClr val="BCBCBC"/>
                      </a:solidFill>
                      <a:prstDash val="solid"/>
                    </a:lnB>
                  </a:tcPr>
                </a:tc>
                <a:extLst>
                  <a:ext uri="{0D108BD9-81ED-4DB2-BD59-A6C34878D82A}">
                    <a16:rowId xmlns:a16="http://schemas.microsoft.com/office/drawing/2014/main" val="10002"/>
                  </a:ext>
                </a:extLst>
              </a:tr>
            </a:tbl>
          </a:graphicData>
        </a:graphic>
      </p:graphicFrame>
      <p:grpSp>
        <p:nvGrpSpPr>
          <p:cNvPr id="8" name="object 8"/>
          <p:cNvGrpSpPr/>
          <p:nvPr/>
        </p:nvGrpSpPr>
        <p:grpSpPr>
          <a:xfrm>
            <a:off x="3332395" y="1970785"/>
            <a:ext cx="2892213" cy="3114040"/>
            <a:chOff x="2499296" y="1478089"/>
            <a:chExt cx="2169160" cy="2335530"/>
          </a:xfrm>
        </p:grpSpPr>
        <p:sp>
          <p:nvSpPr>
            <p:cNvPr id="9" name="object 9"/>
            <p:cNvSpPr/>
            <p:nvPr/>
          </p:nvSpPr>
          <p:spPr>
            <a:xfrm>
              <a:off x="2933700" y="1482852"/>
              <a:ext cx="1729739" cy="2326005"/>
            </a:xfrm>
            <a:custGeom>
              <a:avLst/>
              <a:gdLst/>
              <a:ahLst/>
              <a:cxnLst/>
              <a:rect l="l" t="t" r="r" b="b"/>
              <a:pathLst>
                <a:path w="1729739" h="2326004">
                  <a:moveTo>
                    <a:pt x="0" y="288289"/>
                  </a:moveTo>
                  <a:lnTo>
                    <a:pt x="3772" y="241518"/>
                  </a:lnTo>
                  <a:lnTo>
                    <a:pt x="14693" y="197152"/>
                  </a:lnTo>
                  <a:lnTo>
                    <a:pt x="32170" y="155786"/>
                  </a:lnTo>
                  <a:lnTo>
                    <a:pt x="55611" y="118012"/>
                  </a:lnTo>
                  <a:lnTo>
                    <a:pt x="84423" y="84423"/>
                  </a:lnTo>
                  <a:lnTo>
                    <a:pt x="118012" y="55611"/>
                  </a:lnTo>
                  <a:lnTo>
                    <a:pt x="155786" y="32170"/>
                  </a:lnTo>
                  <a:lnTo>
                    <a:pt x="197152" y="14693"/>
                  </a:lnTo>
                  <a:lnTo>
                    <a:pt x="241518" y="3772"/>
                  </a:lnTo>
                  <a:lnTo>
                    <a:pt x="288289" y="0"/>
                  </a:lnTo>
                  <a:lnTo>
                    <a:pt x="1441450" y="0"/>
                  </a:lnTo>
                  <a:lnTo>
                    <a:pt x="1488221" y="3772"/>
                  </a:lnTo>
                  <a:lnTo>
                    <a:pt x="1532587" y="14693"/>
                  </a:lnTo>
                  <a:lnTo>
                    <a:pt x="1573953" y="32170"/>
                  </a:lnTo>
                  <a:lnTo>
                    <a:pt x="1611727" y="55611"/>
                  </a:lnTo>
                  <a:lnTo>
                    <a:pt x="1645316" y="84423"/>
                  </a:lnTo>
                  <a:lnTo>
                    <a:pt x="1674128" y="118012"/>
                  </a:lnTo>
                  <a:lnTo>
                    <a:pt x="1697569" y="155786"/>
                  </a:lnTo>
                  <a:lnTo>
                    <a:pt x="1715046" y="197152"/>
                  </a:lnTo>
                  <a:lnTo>
                    <a:pt x="1725967" y="241518"/>
                  </a:lnTo>
                  <a:lnTo>
                    <a:pt x="1729739" y="288289"/>
                  </a:lnTo>
                  <a:lnTo>
                    <a:pt x="1729739" y="2037334"/>
                  </a:lnTo>
                  <a:lnTo>
                    <a:pt x="1725967" y="2084105"/>
                  </a:lnTo>
                  <a:lnTo>
                    <a:pt x="1715046" y="2128471"/>
                  </a:lnTo>
                  <a:lnTo>
                    <a:pt x="1697569" y="2169837"/>
                  </a:lnTo>
                  <a:lnTo>
                    <a:pt x="1674128" y="2207611"/>
                  </a:lnTo>
                  <a:lnTo>
                    <a:pt x="1645316" y="2241200"/>
                  </a:lnTo>
                  <a:lnTo>
                    <a:pt x="1611727" y="2270012"/>
                  </a:lnTo>
                  <a:lnTo>
                    <a:pt x="1573953" y="2293453"/>
                  </a:lnTo>
                  <a:lnTo>
                    <a:pt x="1532587" y="2310930"/>
                  </a:lnTo>
                  <a:lnTo>
                    <a:pt x="1488221" y="2321851"/>
                  </a:lnTo>
                  <a:lnTo>
                    <a:pt x="1441450" y="2325624"/>
                  </a:lnTo>
                  <a:lnTo>
                    <a:pt x="288289" y="2325624"/>
                  </a:lnTo>
                  <a:lnTo>
                    <a:pt x="241518" y="2321851"/>
                  </a:lnTo>
                  <a:lnTo>
                    <a:pt x="197152" y="2310930"/>
                  </a:lnTo>
                  <a:lnTo>
                    <a:pt x="155786" y="2293453"/>
                  </a:lnTo>
                  <a:lnTo>
                    <a:pt x="118012" y="2270012"/>
                  </a:lnTo>
                  <a:lnTo>
                    <a:pt x="84423" y="2241200"/>
                  </a:lnTo>
                  <a:lnTo>
                    <a:pt x="55611" y="2207611"/>
                  </a:lnTo>
                  <a:lnTo>
                    <a:pt x="32170" y="2169837"/>
                  </a:lnTo>
                  <a:lnTo>
                    <a:pt x="14693" y="2128471"/>
                  </a:lnTo>
                  <a:lnTo>
                    <a:pt x="3772" y="2084105"/>
                  </a:lnTo>
                  <a:lnTo>
                    <a:pt x="0" y="2037334"/>
                  </a:lnTo>
                  <a:lnTo>
                    <a:pt x="0" y="288289"/>
                  </a:lnTo>
                  <a:close/>
                </a:path>
              </a:pathLst>
            </a:custGeom>
            <a:ln w="9143">
              <a:solidFill>
                <a:srgbClr val="00C3FF"/>
              </a:solidFill>
            </a:ln>
          </p:spPr>
          <p:txBody>
            <a:bodyPr wrap="square" lIns="0" tIns="0" rIns="0" bIns="0" rtlCol="0"/>
            <a:lstStyle/>
            <a:p>
              <a:endParaRPr sz="2400"/>
            </a:p>
          </p:txBody>
        </p:sp>
        <p:sp>
          <p:nvSpPr>
            <p:cNvPr id="10" name="object 10"/>
            <p:cNvSpPr/>
            <p:nvPr/>
          </p:nvSpPr>
          <p:spPr>
            <a:xfrm>
              <a:off x="2512313" y="2161794"/>
              <a:ext cx="524510" cy="167640"/>
            </a:xfrm>
            <a:custGeom>
              <a:avLst/>
              <a:gdLst/>
              <a:ahLst/>
              <a:cxnLst/>
              <a:rect l="l" t="t" r="r" b="b"/>
              <a:pathLst>
                <a:path w="524510" h="167639">
                  <a:moveTo>
                    <a:pt x="440436" y="0"/>
                  </a:moveTo>
                  <a:lnTo>
                    <a:pt x="440436" y="41910"/>
                  </a:lnTo>
                  <a:lnTo>
                    <a:pt x="0" y="41910"/>
                  </a:lnTo>
                  <a:lnTo>
                    <a:pt x="0" y="125730"/>
                  </a:lnTo>
                  <a:lnTo>
                    <a:pt x="440436" y="125730"/>
                  </a:lnTo>
                  <a:lnTo>
                    <a:pt x="440436" y="167639"/>
                  </a:lnTo>
                  <a:lnTo>
                    <a:pt x="524256" y="83819"/>
                  </a:lnTo>
                  <a:lnTo>
                    <a:pt x="440436" y="0"/>
                  </a:lnTo>
                  <a:close/>
                </a:path>
              </a:pathLst>
            </a:custGeom>
            <a:solidFill>
              <a:srgbClr val="00C3FF"/>
            </a:solidFill>
          </p:spPr>
          <p:txBody>
            <a:bodyPr wrap="square" lIns="0" tIns="0" rIns="0" bIns="0" rtlCol="0"/>
            <a:lstStyle/>
            <a:p>
              <a:endParaRPr sz="2400"/>
            </a:p>
          </p:txBody>
        </p:sp>
        <p:sp>
          <p:nvSpPr>
            <p:cNvPr id="11" name="object 11"/>
            <p:cNvSpPr/>
            <p:nvPr/>
          </p:nvSpPr>
          <p:spPr>
            <a:xfrm>
              <a:off x="2512313" y="2161794"/>
              <a:ext cx="524510" cy="167640"/>
            </a:xfrm>
            <a:custGeom>
              <a:avLst/>
              <a:gdLst/>
              <a:ahLst/>
              <a:cxnLst/>
              <a:rect l="l" t="t" r="r" b="b"/>
              <a:pathLst>
                <a:path w="524510" h="167639">
                  <a:moveTo>
                    <a:pt x="0" y="41910"/>
                  </a:moveTo>
                  <a:lnTo>
                    <a:pt x="440436" y="41910"/>
                  </a:lnTo>
                  <a:lnTo>
                    <a:pt x="440436" y="0"/>
                  </a:lnTo>
                  <a:lnTo>
                    <a:pt x="524256" y="83819"/>
                  </a:lnTo>
                  <a:lnTo>
                    <a:pt x="440436" y="167639"/>
                  </a:lnTo>
                  <a:lnTo>
                    <a:pt x="440436" y="125730"/>
                  </a:lnTo>
                  <a:lnTo>
                    <a:pt x="0" y="125730"/>
                  </a:lnTo>
                  <a:lnTo>
                    <a:pt x="0" y="41910"/>
                  </a:lnTo>
                  <a:close/>
                </a:path>
              </a:pathLst>
            </a:custGeom>
            <a:ln w="25907">
              <a:solidFill>
                <a:srgbClr val="008FBB"/>
              </a:solidFill>
            </a:ln>
          </p:spPr>
          <p:txBody>
            <a:bodyPr wrap="square" lIns="0" tIns="0" rIns="0" bIns="0" rtlCol="0"/>
            <a:lstStyle/>
            <a:p>
              <a:endParaRPr sz="2400"/>
            </a:p>
          </p:txBody>
        </p:sp>
        <p:sp>
          <p:nvSpPr>
            <p:cNvPr id="12" name="object 12"/>
            <p:cNvSpPr/>
            <p:nvPr/>
          </p:nvSpPr>
          <p:spPr>
            <a:xfrm>
              <a:off x="2512313" y="2948177"/>
              <a:ext cx="524510" cy="167640"/>
            </a:xfrm>
            <a:custGeom>
              <a:avLst/>
              <a:gdLst/>
              <a:ahLst/>
              <a:cxnLst/>
              <a:rect l="l" t="t" r="r" b="b"/>
              <a:pathLst>
                <a:path w="524510" h="167639">
                  <a:moveTo>
                    <a:pt x="440436" y="0"/>
                  </a:moveTo>
                  <a:lnTo>
                    <a:pt x="440436" y="41910"/>
                  </a:lnTo>
                  <a:lnTo>
                    <a:pt x="0" y="41910"/>
                  </a:lnTo>
                  <a:lnTo>
                    <a:pt x="0" y="125730"/>
                  </a:lnTo>
                  <a:lnTo>
                    <a:pt x="440436" y="125730"/>
                  </a:lnTo>
                  <a:lnTo>
                    <a:pt x="440436" y="167640"/>
                  </a:lnTo>
                  <a:lnTo>
                    <a:pt x="524256" y="83820"/>
                  </a:lnTo>
                  <a:lnTo>
                    <a:pt x="440436" y="0"/>
                  </a:lnTo>
                  <a:close/>
                </a:path>
              </a:pathLst>
            </a:custGeom>
            <a:solidFill>
              <a:srgbClr val="00C3FF"/>
            </a:solidFill>
          </p:spPr>
          <p:txBody>
            <a:bodyPr wrap="square" lIns="0" tIns="0" rIns="0" bIns="0" rtlCol="0"/>
            <a:lstStyle/>
            <a:p>
              <a:endParaRPr sz="2400"/>
            </a:p>
          </p:txBody>
        </p:sp>
        <p:sp>
          <p:nvSpPr>
            <p:cNvPr id="13" name="object 13"/>
            <p:cNvSpPr/>
            <p:nvPr/>
          </p:nvSpPr>
          <p:spPr>
            <a:xfrm>
              <a:off x="2512313" y="2948177"/>
              <a:ext cx="524510" cy="167640"/>
            </a:xfrm>
            <a:custGeom>
              <a:avLst/>
              <a:gdLst/>
              <a:ahLst/>
              <a:cxnLst/>
              <a:rect l="l" t="t" r="r" b="b"/>
              <a:pathLst>
                <a:path w="524510" h="167639">
                  <a:moveTo>
                    <a:pt x="0" y="41910"/>
                  </a:moveTo>
                  <a:lnTo>
                    <a:pt x="440436" y="41910"/>
                  </a:lnTo>
                  <a:lnTo>
                    <a:pt x="440436" y="0"/>
                  </a:lnTo>
                  <a:lnTo>
                    <a:pt x="524256" y="83820"/>
                  </a:lnTo>
                  <a:lnTo>
                    <a:pt x="440436" y="167640"/>
                  </a:lnTo>
                  <a:lnTo>
                    <a:pt x="440436" y="125730"/>
                  </a:lnTo>
                  <a:lnTo>
                    <a:pt x="0" y="125730"/>
                  </a:lnTo>
                  <a:lnTo>
                    <a:pt x="0" y="41910"/>
                  </a:lnTo>
                  <a:close/>
                </a:path>
              </a:pathLst>
            </a:custGeom>
            <a:ln w="25908">
              <a:solidFill>
                <a:srgbClr val="008FBB"/>
              </a:solidFill>
            </a:ln>
          </p:spPr>
          <p:txBody>
            <a:bodyPr wrap="square" lIns="0" tIns="0" rIns="0" bIns="0" rtlCol="0"/>
            <a:lstStyle/>
            <a:p>
              <a:endParaRPr sz="2400"/>
            </a:p>
          </p:txBody>
        </p:sp>
        <p:sp>
          <p:nvSpPr>
            <p:cNvPr id="14" name="object 14"/>
            <p:cNvSpPr/>
            <p:nvPr/>
          </p:nvSpPr>
          <p:spPr>
            <a:xfrm>
              <a:off x="3445446" y="3078733"/>
              <a:ext cx="641985" cy="448945"/>
            </a:xfrm>
            <a:custGeom>
              <a:avLst/>
              <a:gdLst/>
              <a:ahLst/>
              <a:cxnLst/>
              <a:rect l="l" t="t" r="r" b="b"/>
              <a:pathLst>
                <a:path w="641985" h="448945">
                  <a:moveTo>
                    <a:pt x="641362" y="0"/>
                  </a:moveTo>
                  <a:lnTo>
                    <a:pt x="0" y="0"/>
                  </a:lnTo>
                  <a:lnTo>
                    <a:pt x="0" y="48272"/>
                  </a:lnTo>
                  <a:lnTo>
                    <a:pt x="0" y="144843"/>
                  </a:lnTo>
                  <a:lnTo>
                    <a:pt x="0" y="448500"/>
                  </a:lnTo>
                  <a:lnTo>
                    <a:pt x="641362" y="448500"/>
                  </a:lnTo>
                  <a:lnTo>
                    <a:pt x="641362" y="401485"/>
                  </a:lnTo>
                  <a:lnTo>
                    <a:pt x="48107" y="401485"/>
                  </a:lnTo>
                  <a:lnTo>
                    <a:pt x="48107" y="304927"/>
                  </a:lnTo>
                  <a:lnTo>
                    <a:pt x="208445" y="304927"/>
                  </a:lnTo>
                  <a:lnTo>
                    <a:pt x="208445" y="400989"/>
                  </a:lnTo>
                  <a:lnTo>
                    <a:pt x="240512" y="400989"/>
                  </a:lnTo>
                  <a:lnTo>
                    <a:pt x="240512" y="304927"/>
                  </a:lnTo>
                  <a:lnTo>
                    <a:pt x="400850" y="304927"/>
                  </a:lnTo>
                  <a:lnTo>
                    <a:pt x="400850" y="400989"/>
                  </a:lnTo>
                  <a:lnTo>
                    <a:pt x="432904" y="400989"/>
                  </a:lnTo>
                  <a:lnTo>
                    <a:pt x="432904" y="304927"/>
                  </a:lnTo>
                  <a:lnTo>
                    <a:pt x="593242" y="304927"/>
                  </a:lnTo>
                  <a:lnTo>
                    <a:pt x="593242" y="400989"/>
                  </a:lnTo>
                  <a:lnTo>
                    <a:pt x="641362" y="400989"/>
                  </a:lnTo>
                  <a:lnTo>
                    <a:pt x="641362" y="304927"/>
                  </a:lnTo>
                  <a:lnTo>
                    <a:pt x="641362" y="304711"/>
                  </a:lnTo>
                  <a:lnTo>
                    <a:pt x="641362" y="273164"/>
                  </a:lnTo>
                  <a:lnTo>
                    <a:pt x="48107" y="273164"/>
                  </a:lnTo>
                  <a:lnTo>
                    <a:pt x="48107" y="176606"/>
                  </a:lnTo>
                  <a:lnTo>
                    <a:pt x="208445" y="176606"/>
                  </a:lnTo>
                  <a:lnTo>
                    <a:pt x="208445" y="272618"/>
                  </a:lnTo>
                  <a:lnTo>
                    <a:pt x="240512" y="272618"/>
                  </a:lnTo>
                  <a:lnTo>
                    <a:pt x="240512" y="176606"/>
                  </a:lnTo>
                  <a:lnTo>
                    <a:pt x="400850" y="176606"/>
                  </a:lnTo>
                  <a:lnTo>
                    <a:pt x="400850" y="272618"/>
                  </a:lnTo>
                  <a:lnTo>
                    <a:pt x="432904" y="272618"/>
                  </a:lnTo>
                  <a:lnTo>
                    <a:pt x="432904" y="176606"/>
                  </a:lnTo>
                  <a:lnTo>
                    <a:pt x="593242" y="176606"/>
                  </a:lnTo>
                  <a:lnTo>
                    <a:pt x="593242" y="272618"/>
                  </a:lnTo>
                  <a:lnTo>
                    <a:pt x="641362" y="272618"/>
                  </a:lnTo>
                  <a:lnTo>
                    <a:pt x="641362" y="176606"/>
                  </a:lnTo>
                  <a:lnTo>
                    <a:pt x="641362" y="176326"/>
                  </a:lnTo>
                  <a:lnTo>
                    <a:pt x="641362" y="144843"/>
                  </a:lnTo>
                  <a:lnTo>
                    <a:pt x="48107" y="144843"/>
                  </a:lnTo>
                  <a:lnTo>
                    <a:pt x="48107" y="48272"/>
                  </a:lnTo>
                  <a:lnTo>
                    <a:pt x="208445" y="48272"/>
                  </a:lnTo>
                  <a:lnTo>
                    <a:pt x="208445" y="144233"/>
                  </a:lnTo>
                  <a:lnTo>
                    <a:pt x="240512" y="144233"/>
                  </a:lnTo>
                  <a:lnTo>
                    <a:pt x="240512" y="48272"/>
                  </a:lnTo>
                  <a:lnTo>
                    <a:pt x="400850" y="48272"/>
                  </a:lnTo>
                  <a:lnTo>
                    <a:pt x="400850" y="144233"/>
                  </a:lnTo>
                  <a:lnTo>
                    <a:pt x="432904" y="144233"/>
                  </a:lnTo>
                  <a:lnTo>
                    <a:pt x="432904" y="48272"/>
                  </a:lnTo>
                  <a:lnTo>
                    <a:pt x="593242" y="48272"/>
                  </a:lnTo>
                  <a:lnTo>
                    <a:pt x="593242" y="144233"/>
                  </a:lnTo>
                  <a:lnTo>
                    <a:pt x="641362" y="144233"/>
                  </a:lnTo>
                  <a:lnTo>
                    <a:pt x="641362" y="48272"/>
                  </a:lnTo>
                  <a:lnTo>
                    <a:pt x="641362" y="47955"/>
                  </a:lnTo>
                  <a:lnTo>
                    <a:pt x="641362" y="0"/>
                  </a:lnTo>
                  <a:close/>
                </a:path>
              </a:pathLst>
            </a:custGeom>
            <a:solidFill>
              <a:srgbClr val="BCBCBC"/>
            </a:solidFill>
          </p:spPr>
          <p:txBody>
            <a:bodyPr wrap="square" lIns="0" tIns="0" rIns="0" bIns="0" rtlCol="0"/>
            <a:lstStyle/>
            <a:p>
              <a:endParaRPr sz="2400"/>
            </a:p>
          </p:txBody>
        </p:sp>
      </p:grpSp>
      <p:graphicFrame>
        <p:nvGraphicFramePr>
          <p:cNvPr id="15" name="object 15"/>
          <p:cNvGraphicFramePr>
            <a:graphicFrameLocks noGrp="1"/>
          </p:cNvGraphicFramePr>
          <p:nvPr/>
        </p:nvGraphicFramePr>
        <p:xfrm>
          <a:off x="5079585" y="3056455"/>
          <a:ext cx="791632" cy="534247"/>
        </p:xfrm>
        <a:graphic>
          <a:graphicData uri="http://schemas.openxmlformats.org/drawingml/2006/table">
            <a:tbl>
              <a:tblPr firstRow="1" bandRow="1">
                <a:tableStyleId>{2D5ABB26-0587-4C30-8999-92F81FD0307C}</a:tableStyleId>
              </a:tblPr>
              <a:tblGrid>
                <a:gridCol w="267547">
                  <a:extLst>
                    <a:ext uri="{9D8B030D-6E8A-4147-A177-3AD203B41FA5}">
                      <a16:colId xmlns:a16="http://schemas.microsoft.com/office/drawing/2014/main" val="20000"/>
                    </a:ext>
                  </a:extLst>
                </a:gridCol>
                <a:gridCol w="256540">
                  <a:extLst>
                    <a:ext uri="{9D8B030D-6E8A-4147-A177-3AD203B41FA5}">
                      <a16:colId xmlns:a16="http://schemas.microsoft.com/office/drawing/2014/main" val="20001"/>
                    </a:ext>
                  </a:extLst>
                </a:gridCol>
                <a:gridCol w="267545">
                  <a:extLst>
                    <a:ext uri="{9D8B030D-6E8A-4147-A177-3AD203B41FA5}">
                      <a16:colId xmlns:a16="http://schemas.microsoft.com/office/drawing/2014/main" val="20002"/>
                    </a:ext>
                  </a:extLst>
                </a:gridCol>
              </a:tblGrid>
              <a:tr h="182033">
                <a:tc>
                  <a:txBody>
                    <a:bodyPr/>
                    <a:lstStyle/>
                    <a:p>
                      <a:pPr>
                        <a:lnSpc>
                          <a:spcPct val="100000"/>
                        </a:lnSpc>
                      </a:pPr>
                      <a:endParaRPr sz="900">
                        <a:latin typeface="Times New Roman"/>
                        <a:cs typeface="Times New Roman"/>
                      </a:endParaRPr>
                    </a:p>
                  </a:txBody>
                  <a:tcPr marL="0" marR="0" marT="0" marB="0">
                    <a:lnL w="5715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57150">
                      <a:solidFill>
                        <a:srgbClr val="BCBCBC"/>
                      </a:solidFill>
                      <a:prstDash val="solid"/>
                    </a:lnR>
                    <a:lnT w="57150">
                      <a:solidFill>
                        <a:srgbClr val="BCBCBC"/>
                      </a:solidFill>
                      <a:prstDash val="solid"/>
                    </a:lnT>
                    <a:lnB w="38100">
                      <a:solidFill>
                        <a:srgbClr val="BCBCBC"/>
                      </a:solidFill>
                      <a:prstDash val="solid"/>
                    </a:lnB>
                  </a:tcPr>
                </a:tc>
                <a:extLst>
                  <a:ext uri="{0D108BD9-81ED-4DB2-BD59-A6C34878D82A}">
                    <a16:rowId xmlns:a16="http://schemas.microsoft.com/office/drawing/2014/main" val="10000"/>
                  </a:ext>
                </a:extLst>
              </a:tr>
              <a:tr h="171027">
                <a:tc>
                  <a:txBody>
                    <a:bodyPr/>
                    <a:lstStyle/>
                    <a:p>
                      <a:pPr>
                        <a:lnSpc>
                          <a:spcPct val="100000"/>
                        </a:lnSpc>
                      </a:pPr>
                      <a:endParaRPr sz="9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38100">
                      <a:solidFill>
                        <a:srgbClr val="BCBCBC"/>
                      </a:solidFill>
                      <a:prstDash val="solid"/>
                    </a:lnB>
                  </a:tcPr>
                </a:tc>
                <a:extLst>
                  <a:ext uri="{0D108BD9-81ED-4DB2-BD59-A6C34878D82A}">
                    <a16:rowId xmlns:a16="http://schemas.microsoft.com/office/drawing/2014/main" val="10001"/>
                  </a:ext>
                </a:extLst>
              </a:tr>
              <a:tr h="181187">
                <a:tc>
                  <a:txBody>
                    <a:bodyPr/>
                    <a:lstStyle/>
                    <a:p>
                      <a:pPr>
                        <a:lnSpc>
                          <a:spcPct val="100000"/>
                        </a:lnSpc>
                      </a:pPr>
                      <a:endParaRPr sz="9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57150">
                      <a:solidFill>
                        <a:srgbClr val="BCBCBC"/>
                      </a:solidFill>
                      <a:prstDash val="solid"/>
                    </a:lnB>
                  </a:tcPr>
                </a:tc>
                <a:extLst>
                  <a:ext uri="{0D108BD9-81ED-4DB2-BD59-A6C34878D82A}">
                    <a16:rowId xmlns:a16="http://schemas.microsoft.com/office/drawing/2014/main" val="10002"/>
                  </a:ext>
                </a:extLst>
              </a:tr>
            </a:tbl>
          </a:graphicData>
        </a:graphic>
      </p:graphicFrame>
      <p:sp>
        <p:nvSpPr>
          <p:cNvPr id="16" name="object 16"/>
          <p:cNvSpPr txBox="1"/>
          <p:nvPr/>
        </p:nvSpPr>
        <p:spPr>
          <a:xfrm>
            <a:off x="6748440" y="4994791"/>
            <a:ext cx="1876213" cy="999227"/>
          </a:xfrm>
          <a:prstGeom prst="rect">
            <a:avLst/>
          </a:prstGeom>
        </p:spPr>
        <p:txBody>
          <a:bodyPr vert="horz" wrap="square" lIns="0" tIns="14393" rIns="0" bIns="0" rtlCol="0">
            <a:spAutoFit/>
          </a:bodyPr>
          <a:lstStyle/>
          <a:p>
            <a:pPr marL="16933" marR="6773" indent="579106">
              <a:lnSpc>
                <a:spcPct val="100400"/>
              </a:lnSpc>
              <a:spcBef>
                <a:spcPts val="113"/>
              </a:spcBef>
            </a:pPr>
            <a:r>
              <a:rPr sz="2133" dirty="0">
                <a:solidFill>
                  <a:srgbClr val="FFFFFF"/>
                </a:solidFill>
                <a:latin typeface="Calibri"/>
                <a:cs typeface="Calibri"/>
              </a:rPr>
              <a:t>Core</a:t>
            </a:r>
            <a:r>
              <a:rPr sz="2133" spc="-33" dirty="0">
                <a:solidFill>
                  <a:srgbClr val="FFFFFF"/>
                </a:solidFill>
                <a:latin typeface="Calibri"/>
                <a:cs typeface="Calibri"/>
              </a:rPr>
              <a:t> </a:t>
            </a:r>
            <a:r>
              <a:rPr sz="2133" spc="-67" dirty="0">
                <a:solidFill>
                  <a:srgbClr val="FFFFFF"/>
                </a:solidFill>
                <a:latin typeface="Calibri"/>
                <a:cs typeface="Calibri"/>
              </a:rPr>
              <a:t>/ </a:t>
            </a:r>
            <a:r>
              <a:rPr sz="2133" dirty="0">
                <a:solidFill>
                  <a:srgbClr val="FFFFFF"/>
                </a:solidFill>
                <a:latin typeface="Calibri"/>
                <a:cs typeface="Calibri"/>
              </a:rPr>
              <a:t>Access</a:t>
            </a:r>
            <a:r>
              <a:rPr sz="2133" spc="-53" dirty="0">
                <a:solidFill>
                  <a:srgbClr val="FFFFFF"/>
                </a:solidFill>
                <a:latin typeface="Calibri"/>
                <a:cs typeface="Calibri"/>
              </a:rPr>
              <a:t> </a:t>
            </a:r>
            <a:r>
              <a:rPr sz="2133" dirty="0">
                <a:solidFill>
                  <a:srgbClr val="FFFFFF"/>
                </a:solidFill>
                <a:latin typeface="Calibri"/>
                <a:cs typeface="Calibri"/>
              </a:rPr>
              <a:t>Layer</a:t>
            </a:r>
            <a:r>
              <a:rPr sz="2133" spc="-33" dirty="0">
                <a:solidFill>
                  <a:srgbClr val="FFFFFF"/>
                </a:solidFill>
                <a:latin typeface="Calibri"/>
                <a:cs typeface="Calibri"/>
              </a:rPr>
              <a:t> </a:t>
            </a:r>
            <a:r>
              <a:rPr sz="2133" spc="-67" dirty="0">
                <a:solidFill>
                  <a:srgbClr val="FFFFFF"/>
                </a:solidFill>
                <a:latin typeface="Calibri"/>
                <a:cs typeface="Calibri"/>
              </a:rPr>
              <a:t>/ </a:t>
            </a:r>
            <a:r>
              <a:rPr sz="2133" dirty="0">
                <a:solidFill>
                  <a:srgbClr val="FFFFFF"/>
                </a:solidFill>
                <a:latin typeface="Calibri"/>
                <a:cs typeface="Calibri"/>
              </a:rPr>
              <a:t>Data</a:t>
            </a:r>
            <a:r>
              <a:rPr sz="2133" spc="-53" dirty="0">
                <a:solidFill>
                  <a:srgbClr val="FFFFFF"/>
                </a:solidFill>
                <a:latin typeface="Calibri"/>
                <a:cs typeface="Calibri"/>
              </a:rPr>
              <a:t> </a:t>
            </a:r>
            <a:r>
              <a:rPr sz="2133" spc="-13" dirty="0">
                <a:solidFill>
                  <a:srgbClr val="FFFFFF"/>
                </a:solidFill>
                <a:latin typeface="Calibri"/>
                <a:cs typeface="Calibri"/>
              </a:rPr>
              <a:t>Warehouse</a:t>
            </a:r>
            <a:endParaRPr sz="2133">
              <a:latin typeface="Calibri"/>
              <a:cs typeface="Calibri"/>
            </a:endParaRPr>
          </a:p>
        </p:txBody>
      </p:sp>
      <p:grpSp>
        <p:nvGrpSpPr>
          <p:cNvPr id="17" name="object 17"/>
          <p:cNvGrpSpPr/>
          <p:nvPr/>
        </p:nvGrpSpPr>
        <p:grpSpPr>
          <a:xfrm>
            <a:off x="6104129" y="2048255"/>
            <a:ext cx="2603500" cy="2959100"/>
            <a:chOff x="4578096" y="1536191"/>
            <a:chExt cx="1952625" cy="2219325"/>
          </a:xfrm>
        </p:grpSpPr>
        <p:sp>
          <p:nvSpPr>
            <p:cNvPr id="18" name="object 18"/>
            <p:cNvSpPr/>
            <p:nvPr/>
          </p:nvSpPr>
          <p:spPr>
            <a:xfrm>
              <a:off x="5001768" y="1540763"/>
              <a:ext cx="1524000" cy="2209800"/>
            </a:xfrm>
            <a:custGeom>
              <a:avLst/>
              <a:gdLst/>
              <a:ahLst/>
              <a:cxnLst/>
              <a:rect l="l" t="t" r="r" b="b"/>
              <a:pathLst>
                <a:path w="1524000" h="2209800">
                  <a:moveTo>
                    <a:pt x="0" y="254000"/>
                  </a:moveTo>
                  <a:lnTo>
                    <a:pt x="4090" y="208328"/>
                  </a:lnTo>
                  <a:lnTo>
                    <a:pt x="15884" y="165349"/>
                  </a:lnTo>
                  <a:lnTo>
                    <a:pt x="34666" y="125777"/>
                  </a:lnTo>
                  <a:lnTo>
                    <a:pt x="59719" y="90328"/>
                  </a:lnTo>
                  <a:lnTo>
                    <a:pt x="90328" y="59719"/>
                  </a:lnTo>
                  <a:lnTo>
                    <a:pt x="125777" y="34666"/>
                  </a:lnTo>
                  <a:lnTo>
                    <a:pt x="165349" y="15884"/>
                  </a:lnTo>
                  <a:lnTo>
                    <a:pt x="208328" y="4090"/>
                  </a:lnTo>
                  <a:lnTo>
                    <a:pt x="254000" y="0"/>
                  </a:lnTo>
                  <a:lnTo>
                    <a:pt x="1270000" y="0"/>
                  </a:lnTo>
                  <a:lnTo>
                    <a:pt x="1315671" y="4090"/>
                  </a:lnTo>
                  <a:lnTo>
                    <a:pt x="1358650" y="15884"/>
                  </a:lnTo>
                  <a:lnTo>
                    <a:pt x="1398222" y="34666"/>
                  </a:lnTo>
                  <a:lnTo>
                    <a:pt x="1433671" y="59719"/>
                  </a:lnTo>
                  <a:lnTo>
                    <a:pt x="1464280" y="90328"/>
                  </a:lnTo>
                  <a:lnTo>
                    <a:pt x="1489333" y="125777"/>
                  </a:lnTo>
                  <a:lnTo>
                    <a:pt x="1508115" y="165349"/>
                  </a:lnTo>
                  <a:lnTo>
                    <a:pt x="1519909" y="208328"/>
                  </a:lnTo>
                  <a:lnTo>
                    <a:pt x="1524000" y="254000"/>
                  </a:lnTo>
                  <a:lnTo>
                    <a:pt x="1524000" y="1955800"/>
                  </a:lnTo>
                  <a:lnTo>
                    <a:pt x="1519909" y="2001471"/>
                  </a:lnTo>
                  <a:lnTo>
                    <a:pt x="1508115" y="2044450"/>
                  </a:lnTo>
                  <a:lnTo>
                    <a:pt x="1489333" y="2084022"/>
                  </a:lnTo>
                  <a:lnTo>
                    <a:pt x="1464280" y="2119471"/>
                  </a:lnTo>
                  <a:lnTo>
                    <a:pt x="1433671" y="2150080"/>
                  </a:lnTo>
                  <a:lnTo>
                    <a:pt x="1398222" y="2175133"/>
                  </a:lnTo>
                  <a:lnTo>
                    <a:pt x="1358650" y="2193915"/>
                  </a:lnTo>
                  <a:lnTo>
                    <a:pt x="1315671" y="2205709"/>
                  </a:lnTo>
                  <a:lnTo>
                    <a:pt x="1270000" y="2209800"/>
                  </a:lnTo>
                  <a:lnTo>
                    <a:pt x="254000" y="2209800"/>
                  </a:lnTo>
                  <a:lnTo>
                    <a:pt x="208328" y="2205709"/>
                  </a:lnTo>
                  <a:lnTo>
                    <a:pt x="165349" y="2193915"/>
                  </a:lnTo>
                  <a:lnTo>
                    <a:pt x="125777" y="2175133"/>
                  </a:lnTo>
                  <a:lnTo>
                    <a:pt x="90328" y="2150080"/>
                  </a:lnTo>
                  <a:lnTo>
                    <a:pt x="59719" y="2119471"/>
                  </a:lnTo>
                  <a:lnTo>
                    <a:pt x="34666" y="2084022"/>
                  </a:lnTo>
                  <a:lnTo>
                    <a:pt x="15884" y="2044450"/>
                  </a:lnTo>
                  <a:lnTo>
                    <a:pt x="4090" y="2001471"/>
                  </a:lnTo>
                  <a:lnTo>
                    <a:pt x="0" y="1955800"/>
                  </a:lnTo>
                  <a:lnTo>
                    <a:pt x="0" y="254000"/>
                  </a:lnTo>
                  <a:close/>
                </a:path>
              </a:pathLst>
            </a:custGeom>
            <a:ln w="9144">
              <a:solidFill>
                <a:srgbClr val="00C3FF"/>
              </a:solidFill>
            </a:ln>
          </p:spPr>
          <p:txBody>
            <a:bodyPr wrap="square" lIns="0" tIns="0" rIns="0" bIns="0" rtlCol="0"/>
            <a:lstStyle/>
            <a:p>
              <a:endParaRPr sz="2400"/>
            </a:p>
          </p:txBody>
        </p:sp>
        <p:sp>
          <p:nvSpPr>
            <p:cNvPr id="19" name="object 19"/>
            <p:cNvSpPr/>
            <p:nvPr/>
          </p:nvSpPr>
          <p:spPr>
            <a:xfrm>
              <a:off x="5482463" y="1985543"/>
              <a:ext cx="581660" cy="1351915"/>
            </a:xfrm>
            <a:custGeom>
              <a:avLst/>
              <a:gdLst/>
              <a:ahLst/>
              <a:cxnLst/>
              <a:rect l="l" t="t" r="r" b="b"/>
              <a:pathLst>
                <a:path w="581660" h="1351914">
                  <a:moveTo>
                    <a:pt x="212267" y="525195"/>
                  </a:moveTo>
                  <a:lnTo>
                    <a:pt x="183959" y="525195"/>
                  </a:lnTo>
                  <a:lnTo>
                    <a:pt x="183959" y="610171"/>
                  </a:lnTo>
                  <a:lnTo>
                    <a:pt x="212267" y="610171"/>
                  </a:lnTo>
                  <a:lnTo>
                    <a:pt x="212267" y="525195"/>
                  </a:lnTo>
                  <a:close/>
                </a:path>
                <a:path w="581660" h="1351914">
                  <a:moveTo>
                    <a:pt x="212267" y="156387"/>
                  </a:moveTo>
                  <a:lnTo>
                    <a:pt x="183959" y="156387"/>
                  </a:lnTo>
                  <a:lnTo>
                    <a:pt x="183959" y="241363"/>
                  </a:lnTo>
                  <a:lnTo>
                    <a:pt x="212267" y="241363"/>
                  </a:lnTo>
                  <a:lnTo>
                    <a:pt x="212267" y="156387"/>
                  </a:lnTo>
                  <a:close/>
                </a:path>
                <a:path w="581660" h="1351914">
                  <a:moveTo>
                    <a:pt x="227507" y="1110411"/>
                  </a:moveTo>
                  <a:lnTo>
                    <a:pt x="199199" y="1110411"/>
                  </a:lnTo>
                  <a:lnTo>
                    <a:pt x="199199" y="1195387"/>
                  </a:lnTo>
                  <a:lnTo>
                    <a:pt x="227507" y="1195387"/>
                  </a:lnTo>
                  <a:lnTo>
                    <a:pt x="227507" y="1110411"/>
                  </a:lnTo>
                  <a:close/>
                </a:path>
                <a:path w="581660" h="1351914">
                  <a:moveTo>
                    <a:pt x="382079" y="525195"/>
                  </a:moveTo>
                  <a:lnTo>
                    <a:pt x="353771" y="525195"/>
                  </a:lnTo>
                  <a:lnTo>
                    <a:pt x="353771" y="610171"/>
                  </a:lnTo>
                  <a:lnTo>
                    <a:pt x="382079" y="610171"/>
                  </a:lnTo>
                  <a:lnTo>
                    <a:pt x="382079" y="525195"/>
                  </a:lnTo>
                  <a:close/>
                </a:path>
                <a:path w="581660" h="1351914">
                  <a:moveTo>
                    <a:pt x="382079" y="156387"/>
                  </a:moveTo>
                  <a:lnTo>
                    <a:pt x="353771" y="156387"/>
                  </a:lnTo>
                  <a:lnTo>
                    <a:pt x="353771" y="241363"/>
                  </a:lnTo>
                  <a:lnTo>
                    <a:pt x="382079" y="241363"/>
                  </a:lnTo>
                  <a:lnTo>
                    <a:pt x="382079" y="156387"/>
                  </a:lnTo>
                  <a:close/>
                </a:path>
                <a:path w="581660" h="1351914">
                  <a:moveTo>
                    <a:pt x="397319" y="1110411"/>
                  </a:moveTo>
                  <a:lnTo>
                    <a:pt x="369011" y="1110411"/>
                  </a:lnTo>
                  <a:lnTo>
                    <a:pt x="369011" y="1195387"/>
                  </a:lnTo>
                  <a:lnTo>
                    <a:pt x="397319" y="1195387"/>
                  </a:lnTo>
                  <a:lnTo>
                    <a:pt x="397319" y="1110411"/>
                  </a:lnTo>
                  <a:close/>
                </a:path>
                <a:path w="581660" h="1351914">
                  <a:moveTo>
                    <a:pt x="566051" y="525195"/>
                  </a:moveTo>
                  <a:lnTo>
                    <a:pt x="523582" y="525195"/>
                  </a:lnTo>
                  <a:lnTo>
                    <a:pt x="523582" y="610171"/>
                  </a:lnTo>
                  <a:lnTo>
                    <a:pt x="566051" y="610171"/>
                  </a:lnTo>
                  <a:lnTo>
                    <a:pt x="566051" y="525195"/>
                  </a:lnTo>
                  <a:close/>
                </a:path>
                <a:path w="581660" h="1351914">
                  <a:moveTo>
                    <a:pt x="566051" y="156387"/>
                  </a:moveTo>
                  <a:lnTo>
                    <a:pt x="523582" y="156387"/>
                  </a:lnTo>
                  <a:lnTo>
                    <a:pt x="523582" y="241363"/>
                  </a:lnTo>
                  <a:lnTo>
                    <a:pt x="566051" y="241363"/>
                  </a:lnTo>
                  <a:lnTo>
                    <a:pt x="566051" y="156387"/>
                  </a:lnTo>
                  <a:close/>
                </a:path>
                <a:path w="581660" h="1351914">
                  <a:moveTo>
                    <a:pt x="566051" y="0"/>
                  </a:moveTo>
                  <a:lnTo>
                    <a:pt x="0" y="0"/>
                  </a:lnTo>
                  <a:lnTo>
                    <a:pt x="0" y="43205"/>
                  </a:lnTo>
                  <a:lnTo>
                    <a:pt x="0" y="128333"/>
                  </a:lnTo>
                  <a:lnTo>
                    <a:pt x="0" y="766495"/>
                  </a:lnTo>
                  <a:lnTo>
                    <a:pt x="566051" y="766495"/>
                  </a:lnTo>
                  <a:lnTo>
                    <a:pt x="566051" y="723480"/>
                  </a:lnTo>
                  <a:lnTo>
                    <a:pt x="566051" y="723290"/>
                  </a:lnTo>
                  <a:lnTo>
                    <a:pt x="566051" y="638492"/>
                  </a:lnTo>
                  <a:lnTo>
                    <a:pt x="523582" y="638492"/>
                  </a:lnTo>
                  <a:lnTo>
                    <a:pt x="523582" y="723290"/>
                  </a:lnTo>
                  <a:lnTo>
                    <a:pt x="382079" y="723290"/>
                  </a:lnTo>
                  <a:lnTo>
                    <a:pt x="382079" y="638492"/>
                  </a:lnTo>
                  <a:lnTo>
                    <a:pt x="353771" y="638492"/>
                  </a:lnTo>
                  <a:lnTo>
                    <a:pt x="353771" y="723290"/>
                  </a:lnTo>
                  <a:lnTo>
                    <a:pt x="212267" y="723290"/>
                  </a:lnTo>
                  <a:lnTo>
                    <a:pt x="212267" y="638492"/>
                  </a:lnTo>
                  <a:lnTo>
                    <a:pt x="183959" y="638492"/>
                  </a:lnTo>
                  <a:lnTo>
                    <a:pt x="183959" y="723290"/>
                  </a:lnTo>
                  <a:lnTo>
                    <a:pt x="42456" y="723290"/>
                  </a:lnTo>
                  <a:lnTo>
                    <a:pt x="42456" y="638162"/>
                  </a:lnTo>
                  <a:lnTo>
                    <a:pt x="566051" y="638162"/>
                  </a:lnTo>
                  <a:lnTo>
                    <a:pt x="566051" y="610209"/>
                  </a:lnTo>
                  <a:lnTo>
                    <a:pt x="42456" y="610209"/>
                  </a:lnTo>
                  <a:lnTo>
                    <a:pt x="42456" y="525094"/>
                  </a:lnTo>
                  <a:lnTo>
                    <a:pt x="566051" y="525094"/>
                  </a:lnTo>
                  <a:lnTo>
                    <a:pt x="566051" y="497141"/>
                  </a:lnTo>
                  <a:lnTo>
                    <a:pt x="42456" y="497141"/>
                  </a:lnTo>
                  <a:lnTo>
                    <a:pt x="42456" y="412013"/>
                  </a:lnTo>
                  <a:lnTo>
                    <a:pt x="183959" y="412013"/>
                  </a:lnTo>
                  <a:lnTo>
                    <a:pt x="183959" y="496862"/>
                  </a:lnTo>
                  <a:lnTo>
                    <a:pt x="212267" y="496862"/>
                  </a:lnTo>
                  <a:lnTo>
                    <a:pt x="212267" y="412013"/>
                  </a:lnTo>
                  <a:lnTo>
                    <a:pt x="353771" y="412013"/>
                  </a:lnTo>
                  <a:lnTo>
                    <a:pt x="353771" y="496862"/>
                  </a:lnTo>
                  <a:lnTo>
                    <a:pt x="382079" y="496862"/>
                  </a:lnTo>
                  <a:lnTo>
                    <a:pt x="382079" y="412013"/>
                  </a:lnTo>
                  <a:lnTo>
                    <a:pt x="523582" y="412013"/>
                  </a:lnTo>
                  <a:lnTo>
                    <a:pt x="523582" y="496862"/>
                  </a:lnTo>
                  <a:lnTo>
                    <a:pt x="566051" y="496862"/>
                  </a:lnTo>
                  <a:lnTo>
                    <a:pt x="566051" y="269684"/>
                  </a:lnTo>
                  <a:lnTo>
                    <a:pt x="523582" y="269684"/>
                  </a:lnTo>
                  <a:lnTo>
                    <a:pt x="523582" y="354482"/>
                  </a:lnTo>
                  <a:lnTo>
                    <a:pt x="382079" y="354482"/>
                  </a:lnTo>
                  <a:lnTo>
                    <a:pt x="382079" y="269684"/>
                  </a:lnTo>
                  <a:lnTo>
                    <a:pt x="353771" y="269684"/>
                  </a:lnTo>
                  <a:lnTo>
                    <a:pt x="353771" y="354482"/>
                  </a:lnTo>
                  <a:lnTo>
                    <a:pt x="212267" y="354482"/>
                  </a:lnTo>
                  <a:lnTo>
                    <a:pt x="212267" y="269684"/>
                  </a:lnTo>
                  <a:lnTo>
                    <a:pt x="183959" y="269684"/>
                  </a:lnTo>
                  <a:lnTo>
                    <a:pt x="183959" y="354482"/>
                  </a:lnTo>
                  <a:lnTo>
                    <a:pt x="42456" y="354482"/>
                  </a:lnTo>
                  <a:lnTo>
                    <a:pt x="42456" y="269354"/>
                  </a:lnTo>
                  <a:lnTo>
                    <a:pt x="566051" y="269354"/>
                  </a:lnTo>
                  <a:lnTo>
                    <a:pt x="566051" y="241401"/>
                  </a:lnTo>
                  <a:lnTo>
                    <a:pt x="42456" y="241401"/>
                  </a:lnTo>
                  <a:lnTo>
                    <a:pt x="42456" y="156286"/>
                  </a:lnTo>
                  <a:lnTo>
                    <a:pt x="566051" y="156286"/>
                  </a:lnTo>
                  <a:lnTo>
                    <a:pt x="566051" y="128333"/>
                  </a:lnTo>
                  <a:lnTo>
                    <a:pt x="42456" y="128333"/>
                  </a:lnTo>
                  <a:lnTo>
                    <a:pt x="42456" y="43205"/>
                  </a:lnTo>
                  <a:lnTo>
                    <a:pt x="183959" y="43205"/>
                  </a:lnTo>
                  <a:lnTo>
                    <a:pt x="183959" y="128054"/>
                  </a:lnTo>
                  <a:lnTo>
                    <a:pt x="212267" y="128054"/>
                  </a:lnTo>
                  <a:lnTo>
                    <a:pt x="212267" y="43205"/>
                  </a:lnTo>
                  <a:lnTo>
                    <a:pt x="353771" y="43205"/>
                  </a:lnTo>
                  <a:lnTo>
                    <a:pt x="353771" y="128054"/>
                  </a:lnTo>
                  <a:lnTo>
                    <a:pt x="382079" y="128054"/>
                  </a:lnTo>
                  <a:lnTo>
                    <a:pt x="382079" y="43205"/>
                  </a:lnTo>
                  <a:lnTo>
                    <a:pt x="523582" y="43205"/>
                  </a:lnTo>
                  <a:lnTo>
                    <a:pt x="523582" y="128054"/>
                  </a:lnTo>
                  <a:lnTo>
                    <a:pt x="566051" y="128054"/>
                  </a:lnTo>
                  <a:lnTo>
                    <a:pt x="566051" y="43205"/>
                  </a:lnTo>
                  <a:lnTo>
                    <a:pt x="566051" y="43078"/>
                  </a:lnTo>
                  <a:lnTo>
                    <a:pt x="566051" y="0"/>
                  </a:lnTo>
                  <a:close/>
                </a:path>
                <a:path w="581660" h="1351914">
                  <a:moveTo>
                    <a:pt x="581291" y="1110411"/>
                  </a:moveTo>
                  <a:lnTo>
                    <a:pt x="538822" y="1110411"/>
                  </a:lnTo>
                  <a:lnTo>
                    <a:pt x="538822" y="1195387"/>
                  </a:lnTo>
                  <a:lnTo>
                    <a:pt x="581291" y="1195387"/>
                  </a:lnTo>
                  <a:lnTo>
                    <a:pt x="581291" y="1110411"/>
                  </a:lnTo>
                  <a:close/>
                </a:path>
                <a:path w="581660" h="1351914">
                  <a:moveTo>
                    <a:pt x="581291" y="954024"/>
                  </a:moveTo>
                  <a:lnTo>
                    <a:pt x="15240" y="954024"/>
                  </a:lnTo>
                  <a:lnTo>
                    <a:pt x="15240" y="997229"/>
                  </a:lnTo>
                  <a:lnTo>
                    <a:pt x="15240" y="1082357"/>
                  </a:lnTo>
                  <a:lnTo>
                    <a:pt x="15240" y="1351711"/>
                  </a:lnTo>
                  <a:lnTo>
                    <a:pt x="581291" y="1351711"/>
                  </a:lnTo>
                  <a:lnTo>
                    <a:pt x="581291" y="1308696"/>
                  </a:lnTo>
                  <a:lnTo>
                    <a:pt x="581291" y="1308506"/>
                  </a:lnTo>
                  <a:lnTo>
                    <a:pt x="581291" y="1223708"/>
                  </a:lnTo>
                  <a:lnTo>
                    <a:pt x="538822" y="1223708"/>
                  </a:lnTo>
                  <a:lnTo>
                    <a:pt x="538822" y="1308506"/>
                  </a:lnTo>
                  <a:lnTo>
                    <a:pt x="397319" y="1308506"/>
                  </a:lnTo>
                  <a:lnTo>
                    <a:pt x="397319" y="1223708"/>
                  </a:lnTo>
                  <a:lnTo>
                    <a:pt x="369011" y="1223708"/>
                  </a:lnTo>
                  <a:lnTo>
                    <a:pt x="369011" y="1308506"/>
                  </a:lnTo>
                  <a:lnTo>
                    <a:pt x="227507" y="1308506"/>
                  </a:lnTo>
                  <a:lnTo>
                    <a:pt x="227507" y="1223708"/>
                  </a:lnTo>
                  <a:lnTo>
                    <a:pt x="199199" y="1223708"/>
                  </a:lnTo>
                  <a:lnTo>
                    <a:pt x="199199" y="1308506"/>
                  </a:lnTo>
                  <a:lnTo>
                    <a:pt x="57696" y="1308506"/>
                  </a:lnTo>
                  <a:lnTo>
                    <a:pt x="57696" y="1223378"/>
                  </a:lnTo>
                  <a:lnTo>
                    <a:pt x="581291" y="1223378"/>
                  </a:lnTo>
                  <a:lnTo>
                    <a:pt x="581291" y="1195425"/>
                  </a:lnTo>
                  <a:lnTo>
                    <a:pt x="57696" y="1195425"/>
                  </a:lnTo>
                  <a:lnTo>
                    <a:pt x="57696" y="1110310"/>
                  </a:lnTo>
                  <a:lnTo>
                    <a:pt x="581291" y="1110310"/>
                  </a:lnTo>
                  <a:lnTo>
                    <a:pt x="581291" y="1082357"/>
                  </a:lnTo>
                  <a:lnTo>
                    <a:pt x="57696" y="1082357"/>
                  </a:lnTo>
                  <a:lnTo>
                    <a:pt x="57696" y="997229"/>
                  </a:lnTo>
                  <a:lnTo>
                    <a:pt x="199199" y="997229"/>
                  </a:lnTo>
                  <a:lnTo>
                    <a:pt x="199199" y="1082078"/>
                  </a:lnTo>
                  <a:lnTo>
                    <a:pt x="227507" y="1082078"/>
                  </a:lnTo>
                  <a:lnTo>
                    <a:pt x="227507" y="997229"/>
                  </a:lnTo>
                  <a:lnTo>
                    <a:pt x="369011" y="997229"/>
                  </a:lnTo>
                  <a:lnTo>
                    <a:pt x="369011" y="1082078"/>
                  </a:lnTo>
                  <a:lnTo>
                    <a:pt x="397319" y="1082078"/>
                  </a:lnTo>
                  <a:lnTo>
                    <a:pt x="397319" y="997229"/>
                  </a:lnTo>
                  <a:lnTo>
                    <a:pt x="538822" y="997229"/>
                  </a:lnTo>
                  <a:lnTo>
                    <a:pt x="538822" y="1082078"/>
                  </a:lnTo>
                  <a:lnTo>
                    <a:pt x="581291" y="1082078"/>
                  </a:lnTo>
                  <a:lnTo>
                    <a:pt x="581291" y="997229"/>
                  </a:lnTo>
                  <a:lnTo>
                    <a:pt x="581291" y="997102"/>
                  </a:lnTo>
                  <a:lnTo>
                    <a:pt x="581291" y="954024"/>
                  </a:lnTo>
                  <a:close/>
                </a:path>
              </a:pathLst>
            </a:custGeom>
            <a:solidFill>
              <a:srgbClr val="BCBCBC"/>
            </a:solidFill>
          </p:spPr>
          <p:txBody>
            <a:bodyPr wrap="square" lIns="0" tIns="0" rIns="0" bIns="0" rtlCol="0"/>
            <a:lstStyle/>
            <a:p>
              <a:endParaRPr sz="2400"/>
            </a:p>
          </p:txBody>
        </p:sp>
        <p:sp>
          <p:nvSpPr>
            <p:cNvPr id="20" name="object 20"/>
            <p:cNvSpPr/>
            <p:nvPr/>
          </p:nvSpPr>
          <p:spPr>
            <a:xfrm>
              <a:off x="4591050" y="2529077"/>
              <a:ext cx="475615" cy="129539"/>
            </a:xfrm>
            <a:custGeom>
              <a:avLst/>
              <a:gdLst/>
              <a:ahLst/>
              <a:cxnLst/>
              <a:rect l="l" t="t" r="r" b="b"/>
              <a:pathLst>
                <a:path w="475614" h="129539">
                  <a:moveTo>
                    <a:pt x="410717" y="0"/>
                  </a:moveTo>
                  <a:lnTo>
                    <a:pt x="410717" y="32385"/>
                  </a:lnTo>
                  <a:lnTo>
                    <a:pt x="0" y="32385"/>
                  </a:lnTo>
                  <a:lnTo>
                    <a:pt x="0" y="97155"/>
                  </a:lnTo>
                  <a:lnTo>
                    <a:pt x="410717" y="97155"/>
                  </a:lnTo>
                  <a:lnTo>
                    <a:pt x="410717" y="129540"/>
                  </a:lnTo>
                  <a:lnTo>
                    <a:pt x="475488" y="64770"/>
                  </a:lnTo>
                  <a:lnTo>
                    <a:pt x="410717" y="0"/>
                  </a:lnTo>
                  <a:close/>
                </a:path>
              </a:pathLst>
            </a:custGeom>
            <a:solidFill>
              <a:srgbClr val="00C3FF"/>
            </a:solidFill>
          </p:spPr>
          <p:txBody>
            <a:bodyPr wrap="square" lIns="0" tIns="0" rIns="0" bIns="0" rtlCol="0"/>
            <a:lstStyle/>
            <a:p>
              <a:endParaRPr sz="2400"/>
            </a:p>
          </p:txBody>
        </p:sp>
        <p:sp>
          <p:nvSpPr>
            <p:cNvPr id="21" name="object 21"/>
            <p:cNvSpPr/>
            <p:nvPr/>
          </p:nvSpPr>
          <p:spPr>
            <a:xfrm>
              <a:off x="4591050" y="2529077"/>
              <a:ext cx="475615" cy="129539"/>
            </a:xfrm>
            <a:custGeom>
              <a:avLst/>
              <a:gdLst/>
              <a:ahLst/>
              <a:cxnLst/>
              <a:rect l="l" t="t" r="r" b="b"/>
              <a:pathLst>
                <a:path w="475614" h="129539">
                  <a:moveTo>
                    <a:pt x="0" y="32385"/>
                  </a:moveTo>
                  <a:lnTo>
                    <a:pt x="410717" y="32385"/>
                  </a:lnTo>
                  <a:lnTo>
                    <a:pt x="410717" y="0"/>
                  </a:lnTo>
                  <a:lnTo>
                    <a:pt x="475488" y="64770"/>
                  </a:lnTo>
                  <a:lnTo>
                    <a:pt x="410717" y="129540"/>
                  </a:lnTo>
                  <a:lnTo>
                    <a:pt x="410717" y="97155"/>
                  </a:lnTo>
                  <a:lnTo>
                    <a:pt x="0" y="97155"/>
                  </a:lnTo>
                  <a:lnTo>
                    <a:pt x="0" y="32385"/>
                  </a:lnTo>
                  <a:close/>
                </a:path>
              </a:pathLst>
            </a:custGeom>
            <a:ln w="25908">
              <a:solidFill>
                <a:srgbClr val="008FBB"/>
              </a:solidFill>
            </a:ln>
          </p:spPr>
          <p:txBody>
            <a:bodyPr wrap="square" lIns="0" tIns="0" rIns="0" bIns="0" rtlCol="0"/>
            <a:lstStyle/>
            <a:p>
              <a:endParaRPr sz="2400"/>
            </a:p>
          </p:txBody>
        </p:sp>
      </p:grpSp>
      <p:grpSp>
        <p:nvGrpSpPr>
          <p:cNvPr id="22" name="object 22"/>
          <p:cNvGrpSpPr/>
          <p:nvPr/>
        </p:nvGrpSpPr>
        <p:grpSpPr>
          <a:xfrm>
            <a:off x="9656063" y="2107184"/>
            <a:ext cx="2030307" cy="2040467"/>
            <a:chOff x="7242047" y="1580388"/>
            <a:chExt cx="1522730" cy="1530350"/>
          </a:xfrm>
        </p:grpSpPr>
        <p:pic>
          <p:nvPicPr>
            <p:cNvPr id="23" name="object 23"/>
            <p:cNvPicPr/>
            <p:nvPr/>
          </p:nvPicPr>
          <p:blipFill>
            <a:blip r:embed="rId2" cstate="print"/>
            <a:stretch>
              <a:fillRect/>
            </a:stretch>
          </p:blipFill>
          <p:spPr>
            <a:xfrm>
              <a:off x="7242047" y="1944624"/>
              <a:ext cx="950976" cy="950976"/>
            </a:xfrm>
            <a:prstGeom prst="rect">
              <a:avLst/>
            </a:prstGeom>
          </p:spPr>
        </p:pic>
        <p:pic>
          <p:nvPicPr>
            <p:cNvPr id="24" name="object 24"/>
            <p:cNvPicPr/>
            <p:nvPr/>
          </p:nvPicPr>
          <p:blipFill>
            <a:blip r:embed="rId3" cstate="print"/>
            <a:stretch>
              <a:fillRect/>
            </a:stretch>
          </p:blipFill>
          <p:spPr>
            <a:xfrm>
              <a:off x="7242047" y="2793491"/>
              <a:ext cx="1522476" cy="316992"/>
            </a:xfrm>
            <a:prstGeom prst="rect">
              <a:avLst/>
            </a:prstGeom>
          </p:spPr>
        </p:pic>
        <p:pic>
          <p:nvPicPr>
            <p:cNvPr id="25" name="object 25"/>
            <p:cNvPicPr/>
            <p:nvPr/>
          </p:nvPicPr>
          <p:blipFill>
            <a:blip r:embed="rId4" cstate="print"/>
            <a:stretch>
              <a:fillRect/>
            </a:stretch>
          </p:blipFill>
          <p:spPr>
            <a:xfrm>
              <a:off x="7356347" y="1580388"/>
              <a:ext cx="463296" cy="463295"/>
            </a:xfrm>
            <a:prstGeom prst="rect">
              <a:avLst/>
            </a:prstGeom>
          </p:spPr>
        </p:pic>
      </p:grpSp>
      <p:grpSp>
        <p:nvGrpSpPr>
          <p:cNvPr id="26" name="object 26"/>
          <p:cNvGrpSpPr/>
          <p:nvPr/>
        </p:nvGrpSpPr>
        <p:grpSpPr>
          <a:xfrm>
            <a:off x="8881872" y="2405889"/>
            <a:ext cx="593512" cy="197273"/>
            <a:chOff x="6661404" y="1804416"/>
            <a:chExt cx="445134" cy="147955"/>
          </a:xfrm>
        </p:grpSpPr>
        <p:sp>
          <p:nvSpPr>
            <p:cNvPr id="27" name="object 27"/>
            <p:cNvSpPr/>
            <p:nvPr/>
          </p:nvSpPr>
          <p:spPr>
            <a:xfrm>
              <a:off x="6674358" y="1817370"/>
              <a:ext cx="419100" cy="121920"/>
            </a:xfrm>
            <a:custGeom>
              <a:avLst/>
              <a:gdLst/>
              <a:ahLst/>
              <a:cxnLst/>
              <a:rect l="l" t="t" r="r" b="b"/>
              <a:pathLst>
                <a:path w="419100" h="121919">
                  <a:moveTo>
                    <a:pt x="358140" y="0"/>
                  </a:moveTo>
                  <a:lnTo>
                    <a:pt x="358140" y="30479"/>
                  </a:lnTo>
                  <a:lnTo>
                    <a:pt x="0" y="30479"/>
                  </a:lnTo>
                  <a:lnTo>
                    <a:pt x="0" y="91439"/>
                  </a:lnTo>
                  <a:lnTo>
                    <a:pt x="358140" y="91439"/>
                  </a:lnTo>
                  <a:lnTo>
                    <a:pt x="358140" y="121919"/>
                  </a:lnTo>
                  <a:lnTo>
                    <a:pt x="419100" y="60959"/>
                  </a:lnTo>
                  <a:lnTo>
                    <a:pt x="358140" y="0"/>
                  </a:lnTo>
                  <a:close/>
                </a:path>
              </a:pathLst>
            </a:custGeom>
            <a:solidFill>
              <a:srgbClr val="00C3FF"/>
            </a:solidFill>
          </p:spPr>
          <p:txBody>
            <a:bodyPr wrap="square" lIns="0" tIns="0" rIns="0" bIns="0" rtlCol="0"/>
            <a:lstStyle/>
            <a:p>
              <a:endParaRPr sz="2400"/>
            </a:p>
          </p:txBody>
        </p:sp>
        <p:sp>
          <p:nvSpPr>
            <p:cNvPr id="28" name="object 28"/>
            <p:cNvSpPr/>
            <p:nvPr/>
          </p:nvSpPr>
          <p:spPr>
            <a:xfrm>
              <a:off x="6674358" y="1817370"/>
              <a:ext cx="419100" cy="121920"/>
            </a:xfrm>
            <a:custGeom>
              <a:avLst/>
              <a:gdLst/>
              <a:ahLst/>
              <a:cxnLst/>
              <a:rect l="l" t="t" r="r" b="b"/>
              <a:pathLst>
                <a:path w="419100" h="121919">
                  <a:moveTo>
                    <a:pt x="0" y="30479"/>
                  </a:moveTo>
                  <a:lnTo>
                    <a:pt x="358140" y="30479"/>
                  </a:lnTo>
                  <a:lnTo>
                    <a:pt x="358140" y="0"/>
                  </a:lnTo>
                  <a:lnTo>
                    <a:pt x="419100" y="60959"/>
                  </a:lnTo>
                  <a:lnTo>
                    <a:pt x="358140" y="121919"/>
                  </a:lnTo>
                  <a:lnTo>
                    <a:pt x="358140" y="91439"/>
                  </a:lnTo>
                  <a:lnTo>
                    <a:pt x="0" y="91439"/>
                  </a:lnTo>
                  <a:lnTo>
                    <a:pt x="0" y="30479"/>
                  </a:lnTo>
                  <a:close/>
                </a:path>
              </a:pathLst>
            </a:custGeom>
            <a:ln w="25907">
              <a:solidFill>
                <a:srgbClr val="008FBB"/>
              </a:solidFill>
            </a:ln>
          </p:spPr>
          <p:txBody>
            <a:bodyPr wrap="square" lIns="0" tIns="0" rIns="0" bIns="0" rtlCol="0"/>
            <a:lstStyle/>
            <a:p>
              <a:endParaRPr sz="2400"/>
            </a:p>
          </p:txBody>
        </p:sp>
      </p:grpSp>
      <p:grpSp>
        <p:nvGrpSpPr>
          <p:cNvPr id="29" name="object 29"/>
          <p:cNvGrpSpPr/>
          <p:nvPr/>
        </p:nvGrpSpPr>
        <p:grpSpPr>
          <a:xfrm>
            <a:off x="8920479" y="3127247"/>
            <a:ext cx="591820" cy="199813"/>
            <a:chOff x="6690359" y="2345435"/>
            <a:chExt cx="443865" cy="149860"/>
          </a:xfrm>
        </p:grpSpPr>
        <p:sp>
          <p:nvSpPr>
            <p:cNvPr id="30" name="object 30"/>
            <p:cNvSpPr/>
            <p:nvPr/>
          </p:nvSpPr>
          <p:spPr>
            <a:xfrm>
              <a:off x="6703313" y="2358389"/>
              <a:ext cx="417830" cy="123825"/>
            </a:xfrm>
            <a:custGeom>
              <a:avLst/>
              <a:gdLst/>
              <a:ahLst/>
              <a:cxnLst/>
              <a:rect l="l" t="t" r="r" b="b"/>
              <a:pathLst>
                <a:path w="417829" h="123825">
                  <a:moveTo>
                    <a:pt x="355853" y="0"/>
                  </a:moveTo>
                  <a:lnTo>
                    <a:pt x="355853" y="30861"/>
                  </a:lnTo>
                  <a:lnTo>
                    <a:pt x="0" y="30861"/>
                  </a:lnTo>
                  <a:lnTo>
                    <a:pt x="0" y="92583"/>
                  </a:lnTo>
                  <a:lnTo>
                    <a:pt x="355853" y="92583"/>
                  </a:lnTo>
                  <a:lnTo>
                    <a:pt x="355853" y="123443"/>
                  </a:lnTo>
                  <a:lnTo>
                    <a:pt x="417575" y="61722"/>
                  </a:lnTo>
                  <a:lnTo>
                    <a:pt x="355853" y="0"/>
                  </a:lnTo>
                  <a:close/>
                </a:path>
              </a:pathLst>
            </a:custGeom>
            <a:solidFill>
              <a:srgbClr val="00C3FF"/>
            </a:solidFill>
          </p:spPr>
          <p:txBody>
            <a:bodyPr wrap="square" lIns="0" tIns="0" rIns="0" bIns="0" rtlCol="0"/>
            <a:lstStyle/>
            <a:p>
              <a:endParaRPr sz="2400"/>
            </a:p>
          </p:txBody>
        </p:sp>
        <p:sp>
          <p:nvSpPr>
            <p:cNvPr id="31" name="object 31"/>
            <p:cNvSpPr/>
            <p:nvPr/>
          </p:nvSpPr>
          <p:spPr>
            <a:xfrm>
              <a:off x="6703313" y="2358389"/>
              <a:ext cx="417830" cy="123825"/>
            </a:xfrm>
            <a:custGeom>
              <a:avLst/>
              <a:gdLst/>
              <a:ahLst/>
              <a:cxnLst/>
              <a:rect l="l" t="t" r="r" b="b"/>
              <a:pathLst>
                <a:path w="417829" h="123825">
                  <a:moveTo>
                    <a:pt x="0" y="30861"/>
                  </a:moveTo>
                  <a:lnTo>
                    <a:pt x="355853" y="30861"/>
                  </a:lnTo>
                  <a:lnTo>
                    <a:pt x="355853" y="0"/>
                  </a:lnTo>
                  <a:lnTo>
                    <a:pt x="417575" y="61722"/>
                  </a:lnTo>
                  <a:lnTo>
                    <a:pt x="355853" y="123443"/>
                  </a:lnTo>
                  <a:lnTo>
                    <a:pt x="355853" y="92583"/>
                  </a:lnTo>
                  <a:lnTo>
                    <a:pt x="0" y="92583"/>
                  </a:lnTo>
                  <a:lnTo>
                    <a:pt x="0" y="30861"/>
                  </a:lnTo>
                  <a:close/>
                </a:path>
              </a:pathLst>
            </a:custGeom>
            <a:ln w="25908">
              <a:solidFill>
                <a:srgbClr val="008FBB"/>
              </a:solidFill>
            </a:ln>
          </p:spPr>
          <p:txBody>
            <a:bodyPr wrap="square" lIns="0" tIns="0" rIns="0" bIns="0" rtlCol="0"/>
            <a:lstStyle/>
            <a:p>
              <a:endParaRPr sz="2400"/>
            </a:p>
          </p:txBody>
        </p:sp>
      </p:grpSp>
      <p:grpSp>
        <p:nvGrpSpPr>
          <p:cNvPr id="32" name="object 32"/>
          <p:cNvGrpSpPr/>
          <p:nvPr/>
        </p:nvGrpSpPr>
        <p:grpSpPr>
          <a:xfrm>
            <a:off x="8920479" y="3814065"/>
            <a:ext cx="593512" cy="197273"/>
            <a:chOff x="6690359" y="2860548"/>
            <a:chExt cx="445134" cy="147955"/>
          </a:xfrm>
        </p:grpSpPr>
        <p:sp>
          <p:nvSpPr>
            <p:cNvPr id="33" name="object 33"/>
            <p:cNvSpPr/>
            <p:nvPr/>
          </p:nvSpPr>
          <p:spPr>
            <a:xfrm>
              <a:off x="6703313" y="2873502"/>
              <a:ext cx="419100" cy="121920"/>
            </a:xfrm>
            <a:custGeom>
              <a:avLst/>
              <a:gdLst/>
              <a:ahLst/>
              <a:cxnLst/>
              <a:rect l="l" t="t" r="r" b="b"/>
              <a:pathLst>
                <a:path w="419100" h="121919">
                  <a:moveTo>
                    <a:pt x="358139" y="0"/>
                  </a:moveTo>
                  <a:lnTo>
                    <a:pt x="358139" y="30480"/>
                  </a:lnTo>
                  <a:lnTo>
                    <a:pt x="0" y="30480"/>
                  </a:lnTo>
                  <a:lnTo>
                    <a:pt x="0" y="91440"/>
                  </a:lnTo>
                  <a:lnTo>
                    <a:pt x="358139" y="91440"/>
                  </a:lnTo>
                  <a:lnTo>
                    <a:pt x="358139" y="121920"/>
                  </a:lnTo>
                  <a:lnTo>
                    <a:pt x="419100" y="60960"/>
                  </a:lnTo>
                  <a:lnTo>
                    <a:pt x="358139" y="0"/>
                  </a:lnTo>
                  <a:close/>
                </a:path>
              </a:pathLst>
            </a:custGeom>
            <a:solidFill>
              <a:srgbClr val="00C3FF"/>
            </a:solidFill>
          </p:spPr>
          <p:txBody>
            <a:bodyPr wrap="square" lIns="0" tIns="0" rIns="0" bIns="0" rtlCol="0"/>
            <a:lstStyle/>
            <a:p>
              <a:endParaRPr sz="2400"/>
            </a:p>
          </p:txBody>
        </p:sp>
        <p:sp>
          <p:nvSpPr>
            <p:cNvPr id="34" name="object 34"/>
            <p:cNvSpPr/>
            <p:nvPr/>
          </p:nvSpPr>
          <p:spPr>
            <a:xfrm>
              <a:off x="6703313" y="2873502"/>
              <a:ext cx="419100" cy="121920"/>
            </a:xfrm>
            <a:custGeom>
              <a:avLst/>
              <a:gdLst/>
              <a:ahLst/>
              <a:cxnLst/>
              <a:rect l="l" t="t" r="r" b="b"/>
              <a:pathLst>
                <a:path w="419100" h="121919">
                  <a:moveTo>
                    <a:pt x="0" y="30480"/>
                  </a:moveTo>
                  <a:lnTo>
                    <a:pt x="358139" y="30480"/>
                  </a:lnTo>
                  <a:lnTo>
                    <a:pt x="358139" y="0"/>
                  </a:lnTo>
                  <a:lnTo>
                    <a:pt x="419100" y="60960"/>
                  </a:lnTo>
                  <a:lnTo>
                    <a:pt x="358139" y="121920"/>
                  </a:lnTo>
                  <a:lnTo>
                    <a:pt x="358139" y="91440"/>
                  </a:lnTo>
                  <a:lnTo>
                    <a:pt x="0" y="91440"/>
                  </a:lnTo>
                  <a:lnTo>
                    <a:pt x="0" y="30480"/>
                  </a:lnTo>
                  <a:close/>
                </a:path>
              </a:pathLst>
            </a:custGeom>
            <a:ln w="25907">
              <a:solidFill>
                <a:srgbClr val="008FBB"/>
              </a:solidFill>
            </a:ln>
          </p:spPr>
          <p:txBody>
            <a:bodyPr wrap="square" lIns="0" tIns="0" rIns="0" bIns="0" rtlCol="0"/>
            <a:lstStyle/>
            <a:p>
              <a:endParaRPr sz="2400"/>
            </a:p>
          </p:txBody>
        </p:sp>
      </p:grpSp>
      <p:grpSp>
        <p:nvGrpSpPr>
          <p:cNvPr id="35" name="object 35"/>
          <p:cNvGrpSpPr/>
          <p:nvPr/>
        </p:nvGrpSpPr>
        <p:grpSpPr>
          <a:xfrm>
            <a:off x="8965184" y="4572000"/>
            <a:ext cx="593512" cy="199813"/>
            <a:chOff x="6723888" y="3429000"/>
            <a:chExt cx="445134" cy="149860"/>
          </a:xfrm>
        </p:grpSpPr>
        <p:sp>
          <p:nvSpPr>
            <p:cNvPr id="36" name="object 36"/>
            <p:cNvSpPr/>
            <p:nvPr/>
          </p:nvSpPr>
          <p:spPr>
            <a:xfrm>
              <a:off x="6736842" y="3441953"/>
              <a:ext cx="419100" cy="123825"/>
            </a:xfrm>
            <a:custGeom>
              <a:avLst/>
              <a:gdLst/>
              <a:ahLst/>
              <a:cxnLst/>
              <a:rect l="l" t="t" r="r" b="b"/>
              <a:pathLst>
                <a:path w="419100" h="123825">
                  <a:moveTo>
                    <a:pt x="357377" y="0"/>
                  </a:moveTo>
                  <a:lnTo>
                    <a:pt x="357377" y="30861"/>
                  </a:lnTo>
                  <a:lnTo>
                    <a:pt x="0" y="30861"/>
                  </a:lnTo>
                  <a:lnTo>
                    <a:pt x="0" y="92583"/>
                  </a:lnTo>
                  <a:lnTo>
                    <a:pt x="357377" y="92583"/>
                  </a:lnTo>
                  <a:lnTo>
                    <a:pt x="357377" y="123444"/>
                  </a:lnTo>
                  <a:lnTo>
                    <a:pt x="419100" y="61722"/>
                  </a:lnTo>
                  <a:lnTo>
                    <a:pt x="357377" y="0"/>
                  </a:lnTo>
                  <a:close/>
                </a:path>
              </a:pathLst>
            </a:custGeom>
            <a:solidFill>
              <a:srgbClr val="00C3FF"/>
            </a:solidFill>
          </p:spPr>
          <p:txBody>
            <a:bodyPr wrap="square" lIns="0" tIns="0" rIns="0" bIns="0" rtlCol="0"/>
            <a:lstStyle/>
            <a:p>
              <a:endParaRPr sz="2400"/>
            </a:p>
          </p:txBody>
        </p:sp>
        <p:sp>
          <p:nvSpPr>
            <p:cNvPr id="37" name="object 37"/>
            <p:cNvSpPr/>
            <p:nvPr/>
          </p:nvSpPr>
          <p:spPr>
            <a:xfrm>
              <a:off x="6736842" y="3441953"/>
              <a:ext cx="419100" cy="123825"/>
            </a:xfrm>
            <a:custGeom>
              <a:avLst/>
              <a:gdLst/>
              <a:ahLst/>
              <a:cxnLst/>
              <a:rect l="l" t="t" r="r" b="b"/>
              <a:pathLst>
                <a:path w="419100" h="123825">
                  <a:moveTo>
                    <a:pt x="0" y="30861"/>
                  </a:moveTo>
                  <a:lnTo>
                    <a:pt x="357377" y="30861"/>
                  </a:lnTo>
                  <a:lnTo>
                    <a:pt x="357377" y="0"/>
                  </a:lnTo>
                  <a:lnTo>
                    <a:pt x="419100" y="61722"/>
                  </a:lnTo>
                  <a:lnTo>
                    <a:pt x="357377" y="123444"/>
                  </a:lnTo>
                  <a:lnTo>
                    <a:pt x="357377" y="92583"/>
                  </a:lnTo>
                  <a:lnTo>
                    <a:pt x="0" y="92583"/>
                  </a:lnTo>
                  <a:lnTo>
                    <a:pt x="0" y="30861"/>
                  </a:lnTo>
                  <a:close/>
                </a:path>
              </a:pathLst>
            </a:custGeom>
            <a:ln w="25908">
              <a:solidFill>
                <a:srgbClr val="008FBB"/>
              </a:solidFill>
            </a:ln>
          </p:spPr>
          <p:txBody>
            <a:bodyPr wrap="square" lIns="0" tIns="0" rIns="0" bIns="0" rtlCol="0"/>
            <a:lstStyle/>
            <a:p>
              <a:endParaRPr sz="2400"/>
            </a:p>
          </p:txBody>
        </p:sp>
      </p:grpSp>
      <p:sp>
        <p:nvSpPr>
          <p:cNvPr id="38" name="object 38"/>
          <p:cNvSpPr txBox="1"/>
          <p:nvPr/>
        </p:nvSpPr>
        <p:spPr>
          <a:xfrm>
            <a:off x="9828444" y="4336796"/>
            <a:ext cx="1131992" cy="672706"/>
          </a:xfrm>
          <a:prstGeom prst="rect">
            <a:avLst/>
          </a:prstGeom>
        </p:spPr>
        <p:txBody>
          <a:bodyPr vert="horz" wrap="square" lIns="0" tIns="16087" rIns="0" bIns="0" rtlCol="0">
            <a:spAutoFit/>
          </a:bodyPr>
          <a:lstStyle/>
          <a:p>
            <a:pPr marL="16933">
              <a:spcBef>
                <a:spcPts val="127"/>
              </a:spcBef>
            </a:pPr>
            <a:r>
              <a:rPr sz="2133" spc="-13" dirty="0">
                <a:solidFill>
                  <a:srgbClr val="FFFFFF"/>
                </a:solidFill>
                <a:latin typeface="Calibri"/>
                <a:cs typeface="Calibri"/>
              </a:rPr>
              <a:t>Predictive</a:t>
            </a:r>
            <a:endParaRPr sz="2133">
              <a:latin typeface="Calibri"/>
              <a:cs typeface="Calibri"/>
            </a:endParaRPr>
          </a:p>
          <a:p>
            <a:pPr marL="71118">
              <a:spcBef>
                <a:spcPts val="13"/>
              </a:spcBef>
            </a:pPr>
            <a:r>
              <a:rPr sz="2133" spc="-13" dirty="0">
                <a:solidFill>
                  <a:srgbClr val="FFFFFF"/>
                </a:solidFill>
                <a:latin typeface="Calibri"/>
                <a:cs typeface="Calibri"/>
              </a:rPr>
              <a:t>Analytics</a:t>
            </a:r>
            <a:endParaRPr sz="2133">
              <a:latin typeface="Calibri"/>
              <a:cs typeface="Calibri"/>
            </a:endParaRPr>
          </a:p>
        </p:txBody>
      </p:sp>
      <p:sp>
        <p:nvSpPr>
          <p:cNvPr id="39" name="object 39"/>
          <p:cNvSpPr txBox="1"/>
          <p:nvPr/>
        </p:nvSpPr>
        <p:spPr>
          <a:xfrm>
            <a:off x="3210560" y="2119376"/>
            <a:ext cx="951653" cy="605230"/>
          </a:xfrm>
          <a:prstGeom prst="rect">
            <a:avLst/>
          </a:prstGeom>
          <a:solidFill>
            <a:srgbClr val="00C3FF">
              <a:alpha val="50195"/>
            </a:srgbClr>
          </a:solidFill>
        </p:spPr>
        <p:txBody>
          <a:bodyPr vert="horz" wrap="square" lIns="0" tIns="30480" rIns="0" bIns="0" rtlCol="0">
            <a:spAutoFit/>
          </a:bodyPr>
          <a:lstStyle/>
          <a:p>
            <a:pPr marL="236214">
              <a:spcBef>
                <a:spcPts val="240"/>
              </a:spcBef>
            </a:pPr>
            <a:r>
              <a:rPr sz="3733" b="1" spc="-33" dirty="0">
                <a:solidFill>
                  <a:srgbClr val="FFFFFF"/>
                </a:solidFill>
                <a:latin typeface="Calibri"/>
                <a:cs typeface="Calibri"/>
              </a:rPr>
              <a:t>E</a:t>
            </a:r>
            <a:r>
              <a:rPr sz="2133" b="1" spc="-33" dirty="0">
                <a:solidFill>
                  <a:srgbClr val="7E7E7E"/>
                </a:solidFill>
                <a:latin typeface="Calibri"/>
                <a:cs typeface="Calibri"/>
              </a:rPr>
              <a:t>TL</a:t>
            </a:r>
            <a:endParaRPr sz="2133">
              <a:latin typeface="Calibri"/>
              <a:cs typeface="Calibri"/>
            </a:endParaRPr>
          </a:p>
        </p:txBody>
      </p:sp>
      <p:sp>
        <p:nvSpPr>
          <p:cNvPr id="40" name="object 40"/>
          <p:cNvSpPr txBox="1"/>
          <p:nvPr/>
        </p:nvSpPr>
        <p:spPr>
          <a:xfrm>
            <a:off x="6000495" y="2143759"/>
            <a:ext cx="953347" cy="609504"/>
          </a:xfrm>
          <a:prstGeom prst="rect">
            <a:avLst/>
          </a:prstGeom>
          <a:solidFill>
            <a:srgbClr val="00C3FF">
              <a:alpha val="50195"/>
            </a:srgbClr>
          </a:solidFill>
        </p:spPr>
        <p:txBody>
          <a:bodyPr vert="horz" wrap="square" lIns="0" tIns="34712" rIns="0" bIns="0" rtlCol="0">
            <a:spAutoFit/>
          </a:bodyPr>
          <a:lstStyle/>
          <a:p>
            <a:pPr marL="192189">
              <a:spcBef>
                <a:spcPts val="272"/>
              </a:spcBef>
            </a:pPr>
            <a:r>
              <a:rPr sz="2133" b="1" spc="-33" dirty="0">
                <a:solidFill>
                  <a:srgbClr val="7E7E7E"/>
                </a:solidFill>
                <a:latin typeface="Calibri"/>
                <a:cs typeface="Calibri"/>
              </a:rPr>
              <a:t>E</a:t>
            </a:r>
            <a:r>
              <a:rPr sz="3733" b="1" spc="-33" dirty="0">
                <a:solidFill>
                  <a:srgbClr val="FFFFFF"/>
                </a:solidFill>
                <a:latin typeface="Calibri"/>
                <a:cs typeface="Calibri"/>
              </a:rPr>
              <a:t>TL</a:t>
            </a:r>
            <a:endParaRPr sz="3733">
              <a:latin typeface="Calibri"/>
              <a:cs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56168" y="383228"/>
            <a:ext cx="6064910"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Data</a:t>
            </a:r>
            <a:r>
              <a:rPr spc="-33" dirty="0">
                <a:solidFill>
                  <a:schemeClr val="bg1"/>
                </a:solidFill>
                <a:latin typeface="+mn-lt"/>
              </a:rPr>
              <a:t> </a:t>
            </a:r>
            <a:r>
              <a:rPr dirty="0">
                <a:solidFill>
                  <a:schemeClr val="bg1"/>
                </a:solidFill>
                <a:latin typeface="+mn-lt"/>
              </a:rPr>
              <a:t>Warehouse</a:t>
            </a:r>
            <a:r>
              <a:rPr spc="-60" dirty="0">
                <a:solidFill>
                  <a:schemeClr val="bg1"/>
                </a:solidFill>
                <a:latin typeface="+mn-lt"/>
              </a:rPr>
              <a:t> </a:t>
            </a:r>
            <a:r>
              <a:rPr spc="-13" dirty="0">
                <a:solidFill>
                  <a:schemeClr val="bg1"/>
                </a:solidFill>
                <a:latin typeface="+mn-lt"/>
              </a:rPr>
              <a:t>Layers</a:t>
            </a:r>
          </a:p>
        </p:txBody>
      </p:sp>
      <p:sp>
        <p:nvSpPr>
          <p:cNvPr id="3" name="object 3"/>
          <p:cNvSpPr/>
          <p:nvPr/>
        </p:nvSpPr>
        <p:spPr>
          <a:xfrm>
            <a:off x="2036131" y="2566298"/>
            <a:ext cx="1139613" cy="800100"/>
          </a:xfrm>
          <a:custGeom>
            <a:avLst/>
            <a:gdLst/>
            <a:ahLst/>
            <a:cxnLst/>
            <a:rect l="l" t="t" r="r" b="b"/>
            <a:pathLst>
              <a:path w="854710" h="600075">
                <a:moveTo>
                  <a:pt x="854710" y="0"/>
                </a:moveTo>
                <a:lnTo>
                  <a:pt x="0" y="0"/>
                </a:lnTo>
                <a:lnTo>
                  <a:pt x="0" y="64795"/>
                </a:lnTo>
                <a:lnTo>
                  <a:pt x="0" y="193116"/>
                </a:lnTo>
                <a:lnTo>
                  <a:pt x="0" y="599694"/>
                </a:lnTo>
                <a:lnTo>
                  <a:pt x="854710" y="599694"/>
                </a:lnTo>
                <a:lnTo>
                  <a:pt x="854710" y="535216"/>
                </a:lnTo>
                <a:lnTo>
                  <a:pt x="854710" y="534898"/>
                </a:lnTo>
                <a:lnTo>
                  <a:pt x="854710" y="406908"/>
                </a:lnTo>
                <a:lnTo>
                  <a:pt x="790600" y="406908"/>
                </a:lnTo>
                <a:lnTo>
                  <a:pt x="790600" y="534898"/>
                </a:lnTo>
                <a:lnTo>
                  <a:pt x="576922" y="534898"/>
                </a:lnTo>
                <a:lnTo>
                  <a:pt x="576922" y="406908"/>
                </a:lnTo>
                <a:lnTo>
                  <a:pt x="534187" y="406908"/>
                </a:lnTo>
                <a:lnTo>
                  <a:pt x="534187" y="534898"/>
                </a:lnTo>
                <a:lnTo>
                  <a:pt x="320509" y="534898"/>
                </a:lnTo>
                <a:lnTo>
                  <a:pt x="320509" y="406908"/>
                </a:lnTo>
                <a:lnTo>
                  <a:pt x="277774" y="406908"/>
                </a:lnTo>
                <a:lnTo>
                  <a:pt x="277774" y="534898"/>
                </a:lnTo>
                <a:lnTo>
                  <a:pt x="64096" y="534898"/>
                </a:lnTo>
                <a:lnTo>
                  <a:pt x="64096" y="406577"/>
                </a:lnTo>
                <a:lnTo>
                  <a:pt x="854710" y="406577"/>
                </a:lnTo>
                <a:lnTo>
                  <a:pt x="854710" y="364642"/>
                </a:lnTo>
                <a:lnTo>
                  <a:pt x="64096" y="364642"/>
                </a:lnTo>
                <a:lnTo>
                  <a:pt x="64096" y="236321"/>
                </a:lnTo>
                <a:lnTo>
                  <a:pt x="277774" y="236321"/>
                </a:lnTo>
                <a:lnTo>
                  <a:pt x="277774" y="364134"/>
                </a:lnTo>
                <a:lnTo>
                  <a:pt x="320509" y="364134"/>
                </a:lnTo>
                <a:lnTo>
                  <a:pt x="320509" y="236321"/>
                </a:lnTo>
                <a:lnTo>
                  <a:pt x="534187" y="236321"/>
                </a:lnTo>
                <a:lnTo>
                  <a:pt x="534187" y="364134"/>
                </a:lnTo>
                <a:lnTo>
                  <a:pt x="576922" y="364134"/>
                </a:lnTo>
                <a:lnTo>
                  <a:pt x="576922" y="236321"/>
                </a:lnTo>
                <a:lnTo>
                  <a:pt x="790600" y="236321"/>
                </a:lnTo>
                <a:lnTo>
                  <a:pt x="790600" y="364134"/>
                </a:lnTo>
                <a:lnTo>
                  <a:pt x="854710" y="364134"/>
                </a:lnTo>
                <a:lnTo>
                  <a:pt x="854710" y="236321"/>
                </a:lnTo>
                <a:lnTo>
                  <a:pt x="854710" y="235813"/>
                </a:lnTo>
                <a:lnTo>
                  <a:pt x="854710" y="193116"/>
                </a:lnTo>
                <a:lnTo>
                  <a:pt x="64096" y="193116"/>
                </a:lnTo>
                <a:lnTo>
                  <a:pt x="64096" y="64795"/>
                </a:lnTo>
                <a:lnTo>
                  <a:pt x="277774" y="64795"/>
                </a:lnTo>
                <a:lnTo>
                  <a:pt x="277774" y="193040"/>
                </a:lnTo>
                <a:lnTo>
                  <a:pt x="320509" y="193040"/>
                </a:lnTo>
                <a:lnTo>
                  <a:pt x="320509" y="64795"/>
                </a:lnTo>
                <a:lnTo>
                  <a:pt x="534187" y="64795"/>
                </a:lnTo>
                <a:lnTo>
                  <a:pt x="534187" y="193040"/>
                </a:lnTo>
                <a:lnTo>
                  <a:pt x="576922" y="193040"/>
                </a:lnTo>
                <a:lnTo>
                  <a:pt x="576922" y="64795"/>
                </a:lnTo>
                <a:lnTo>
                  <a:pt x="790600" y="64795"/>
                </a:lnTo>
                <a:lnTo>
                  <a:pt x="790600" y="193040"/>
                </a:lnTo>
                <a:lnTo>
                  <a:pt x="854710" y="193040"/>
                </a:lnTo>
                <a:lnTo>
                  <a:pt x="854710" y="64795"/>
                </a:lnTo>
                <a:lnTo>
                  <a:pt x="854710" y="0"/>
                </a:lnTo>
                <a:close/>
              </a:path>
            </a:pathLst>
          </a:custGeom>
          <a:solidFill>
            <a:srgbClr val="BCBCBC"/>
          </a:solidFill>
        </p:spPr>
        <p:txBody>
          <a:bodyPr wrap="square" lIns="0" tIns="0" rIns="0" bIns="0" rtlCol="0"/>
          <a:lstStyle/>
          <a:p>
            <a:endParaRPr sz="2400"/>
          </a:p>
        </p:txBody>
      </p:sp>
      <p:sp>
        <p:nvSpPr>
          <p:cNvPr id="4" name="object 4"/>
          <p:cNvSpPr txBox="1"/>
          <p:nvPr/>
        </p:nvSpPr>
        <p:spPr>
          <a:xfrm>
            <a:off x="1955800" y="4590417"/>
            <a:ext cx="3569547" cy="850532"/>
          </a:xfrm>
          <a:prstGeom prst="rect">
            <a:avLst/>
          </a:prstGeom>
        </p:spPr>
        <p:txBody>
          <a:bodyPr vert="horz" wrap="square" lIns="0" tIns="103293" rIns="0" bIns="0" rtlCol="0">
            <a:spAutoFit/>
          </a:bodyPr>
          <a:lstStyle/>
          <a:p>
            <a:pPr marL="16933">
              <a:spcBef>
                <a:spcPts val="813"/>
              </a:spcBef>
            </a:pPr>
            <a:r>
              <a:rPr sz="2133" dirty="0">
                <a:solidFill>
                  <a:srgbClr val="FFFFFF"/>
                </a:solidFill>
                <a:latin typeface="Calibri"/>
                <a:cs typeface="Calibri"/>
              </a:rPr>
              <a:t>data</a:t>
            </a:r>
            <a:r>
              <a:rPr sz="2133" spc="-33" dirty="0">
                <a:solidFill>
                  <a:srgbClr val="FFFFFF"/>
                </a:solidFill>
                <a:latin typeface="Calibri"/>
                <a:cs typeface="Calibri"/>
              </a:rPr>
              <a:t> </a:t>
            </a:r>
            <a:r>
              <a:rPr sz="2133" spc="-13" dirty="0">
                <a:solidFill>
                  <a:srgbClr val="FFFFFF"/>
                </a:solidFill>
                <a:latin typeface="Calibri"/>
                <a:cs typeface="Calibri"/>
              </a:rPr>
              <a:t>sources</a:t>
            </a:r>
            <a:endParaRPr sz="2133">
              <a:latin typeface="Calibri"/>
              <a:cs typeface="Calibri"/>
            </a:endParaRPr>
          </a:p>
          <a:p>
            <a:pPr marL="2744825">
              <a:spcBef>
                <a:spcPts val="679"/>
              </a:spcBef>
            </a:pPr>
            <a:r>
              <a:rPr sz="2133" spc="-13" dirty="0">
                <a:solidFill>
                  <a:srgbClr val="FFFFFF"/>
                </a:solidFill>
                <a:latin typeface="Calibri"/>
                <a:cs typeface="Calibri"/>
              </a:rPr>
              <a:t>Staging</a:t>
            </a:r>
            <a:endParaRPr sz="2133">
              <a:latin typeface="Calibri"/>
              <a:cs typeface="Calibri"/>
            </a:endParaRPr>
          </a:p>
        </p:txBody>
      </p:sp>
      <p:sp>
        <p:nvSpPr>
          <p:cNvPr id="5" name="object 5"/>
          <p:cNvSpPr/>
          <p:nvPr/>
        </p:nvSpPr>
        <p:spPr>
          <a:xfrm>
            <a:off x="2225396" y="3548871"/>
            <a:ext cx="781473" cy="1060027"/>
          </a:xfrm>
          <a:custGeom>
            <a:avLst/>
            <a:gdLst/>
            <a:ahLst/>
            <a:cxnLst/>
            <a:rect l="l" t="t" r="r" b="b"/>
            <a:pathLst>
              <a:path w="586105" h="795020">
                <a:moveTo>
                  <a:pt x="586003" y="543801"/>
                </a:moveTo>
                <a:lnTo>
                  <a:pt x="578231" y="562914"/>
                </a:lnTo>
                <a:lnTo>
                  <a:pt x="556107" y="580504"/>
                </a:lnTo>
                <a:lnTo>
                  <a:pt x="523227" y="595236"/>
                </a:lnTo>
                <a:lnTo>
                  <a:pt x="523227" y="690194"/>
                </a:lnTo>
                <a:lnTo>
                  <a:pt x="521716" y="698766"/>
                </a:lnTo>
                <a:lnTo>
                  <a:pt x="517461" y="705358"/>
                </a:lnTo>
                <a:lnTo>
                  <a:pt x="510857" y="709612"/>
                </a:lnTo>
                <a:lnTo>
                  <a:pt x="502297" y="711111"/>
                </a:lnTo>
                <a:lnTo>
                  <a:pt x="493725" y="709612"/>
                </a:lnTo>
                <a:lnTo>
                  <a:pt x="487121" y="705358"/>
                </a:lnTo>
                <a:lnTo>
                  <a:pt x="482866" y="698766"/>
                </a:lnTo>
                <a:lnTo>
                  <a:pt x="481368" y="690194"/>
                </a:lnTo>
                <a:lnTo>
                  <a:pt x="482866" y="681634"/>
                </a:lnTo>
                <a:lnTo>
                  <a:pt x="487121" y="675030"/>
                </a:lnTo>
                <a:lnTo>
                  <a:pt x="493725" y="670788"/>
                </a:lnTo>
                <a:lnTo>
                  <a:pt x="502297" y="669290"/>
                </a:lnTo>
                <a:lnTo>
                  <a:pt x="510857" y="670788"/>
                </a:lnTo>
                <a:lnTo>
                  <a:pt x="517461" y="675030"/>
                </a:lnTo>
                <a:lnTo>
                  <a:pt x="521716" y="681634"/>
                </a:lnTo>
                <a:lnTo>
                  <a:pt x="523227" y="690194"/>
                </a:lnTo>
                <a:lnTo>
                  <a:pt x="523227" y="595236"/>
                </a:lnTo>
                <a:lnTo>
                  <a:pt x="475983" y="609015"/>
                </a:lnTo>
                <a:lnTo>
                  <a:pt x="421563" y="618921"/>
                </a:lnTo>
                <a:lnTo>
                  <a:pt x="359981" y="625233"/>
                </a:lnTo>
                <a:lnTo>
                  <a:pt x="293001" y="627456"/>
                </a:lnTo>
                <a:lnTo>
                  <a:pt x="226034" y="625233"/>
                </a:lnTo>
                <a:lnTo>
                  <a:pt x="164439" y="618921"/>
                </a:lnTo>
                <a:lnTo>
                  <a:pt x="110032" y="609015"/>
                </a:lnTo>
                <a:lnTo>
                  <a:pt x="64579" y="596036"/>
                </a:lnTo>
                <a:lnTo>
                  <a:pt x="7772" y="562914"/>
                </a:lnTo>
                <a:lnTo>
                  <a:pt x="0" y="543801"/>
                </a:lnTo>
                <a:lnTo>
                  <a:pt x="0" y="711111"/>
                </a:lnTo>
                <a:lnTo>
                  <a:pt x="29895" y="747826"/>
                </a:lnTo>
                <a:lnTo>
                  <a:pt x="110032" y="776338"/>
                </a:lnTo>
                <a:lnTo>
                  <a:pt x="164439" y="786231"/>
                </a:lnTo>
                <a:lnTo>
                  <a:pt x="226034" y="792556"/>
                </a:lnTo>
                <a:lnTo>
                  <a:pt x="293001" y="794778"/>
                </a:lnTo>
                <a:lnTo>
                  <a:pt x="359981" y="792556"/>
                </a:lnTo>
                <a:lnTo>
                  <a:pt x="421563" y="786231"/>
                </a:lnTo>
                <a:lnTo>
                  <a:pt x="475983" y="776338"/>
                </a:lnTo>
                <a:lnTo>
                  <a:pt x="521423" y="763358"/>
                </a:lnTo>
                <a:lnTo>
                  <a:pt x="578231" y="730237"/>
                </a:lnTo>
                <a:lnTo>
                  <a:pt x="586003" y="711111"/>
                </a:lnTo>
                <a:lnTo>
                  <a:pt x="586003" y="669290"/>
                </a:lnTo>
                <a:lnTo>
                  <a:pt x="586003" y="627456"/>
                </a:lnTo>
                <a:lnTo>
                  <a:pt x="586003" y="543801"/>
                </a:lnTo>
                <a:close/>
              </a:path>
              <a:path w="586105" h="795020">
                <a:moveTo>
                  <a:pt x="586003" y="334645"/>
                </a:moveTo>
                <a:lnTo>
                  <a:pt x="578231" y="353771"/>
                </a:lnTo>
                <a:lnTo>
                  <a:pt x="556107" y="371360"/>
                </a:lnTo>
                <a:lnTo>
                  <a:pt x="523227" y="386092"/>
                </a:lnTo>
                <a:lnTo>
                  <a:pt x="523227" y="481050"/>
                </a:lnTo>
                <a:lnTo>
                  <a:pt x="521716" y="489610"/>
                </a:lnTo>
                <a:lnTo>
                  <a:pt x="517461" y="496214"/>
                </a:lnTo>
                <a:lnTo>
                  <a:pt x="510857" y="500468"/>
                </a:lnTo>
                <a:lnTo>
                  <a:pt x="502297" y="501967"/>
                </a:lnTo>
                <a:lnTo>
                  <a:pt x="493725" y="500468"/>
                </a:lnTo>
                <a:lnTo>
                  <a:pt x="487121" y="496214"/>
                </a:lnTo>
                <a:lnTo>
                  <a:pt x="482866" y="489610"/>
                </a:lnTo>
                <a:lnTo>
                  <a:pt x="481368" y="481050"/>
                </a:lnTo>
                <a:lnTo>
                  <a:pt x="482866" y="472490"/>
                </a:lnTo>
                <a:lnTo>
                  <a:pt x="487121" y="465886"/>
                </a:lnTo>
                <a:lnTo>
                  <a:pt x="493725" y="461645"/>
                </a:lnTo>
                <a:lnTo>
                  <a:pt x="502297" y="460133"/>
                </a:lnTo>
                <a:lnTo>
                  <a:pt x="510857" y="461645"/>
                </a:lnTo>
                <a:lnTo>
                  <a:pt x="517461" y="465886"/>
                </a:lnTo>
                <a:lnTo>
                  <a:pt x="521716" y="472490"/>
                </a:lnTo>
                <a:lnTo>
                  <a:pt x="523227" y="481050"/>
                </a:lnTo>
                <a:lnTo>
                  <a:pt x="523227" y="386092"/>
                </a:lnTo>
                <a:lnTo>
                  <a:pt x="475983" y="399872"/>
                </a:lnTo>
                <a:lnTo>
                  <a:pt x="421563" y="409765"/>
                </a:lnTo>
                <a:lnTo>
                  <a:pt x="359981" y="416090"/>
                </a:lnTo>
                <a:lnTo>
                  <a:pt x="293001" y="418312"/>
                </a:lnTo>
                <a:lnTo>
                  <a:pt x="226034" y="416090"/>
                </a:lnTo>
                <a:lnTo>
                  <a:pt x="164439" y="409765"/>
                </a:lnTo>
                <a:lnTo>
                  <a:pt x="110032" y="399872"/>
                </a:lnTo>
                <a:lnTo>
                  <a:pt x="64579" y="386892"/>
                </a:lnTo>
                <a:lnTo>
                  <a:pt x="7772" y="353771"/>
                </a:lnTo>
                <a:lnTo>
                  <a:pt x="0" y="334645"/>
                </a:lnTo>
                <a:lnTo>
                  <a:pt x="0" y="501967"/>
                </a:lnTo>
                <a:lnTo>
                  <a:pt x="29895" y="538670"/>
                </a:lnTo>
                <a:lnTo>
                  <a:pt x="110032" y="567182"/>
                </a:lnTo>
                <a:lnTo>
                  <a:pt x="164439" y="577088"/>
                </a:lnTo>
                <a:lnTo>
                  <a:pt x="226034" y="583399"/>
                </a:lnTo>
                <a:lnTo>
                  <a:pt x="293001" y="585622"/>
                </a:lnTo>
                <a:lnTo>
                  <a:pt x="359981" y="583399"/>
                </a:lnTo>
                <a:lnTo>
                  <a:pt x="421563" y="577088"/>
                </a:lnTo>
                <a:lnTo>
                  <a:pt x="475983" y="567182"/>
                </a:lnTo>
                <a:lnTo>
                  <a:pt x="521423" y="554215"/>
                </a:lnTo>
                <a:lnTo>
                  <a:pt x="578231" y="521093"/>
                </a:lnTo>
                <a:lnTo>
                  <a:pt x="586003" y="501967"/>
                </a:lnTo>
                <a:lnTo>
                  <a:pt x="586003" y="460133"/>
                </a:lnTo>
                <a:lnTo>
                  <a:pt x="586003" y="418312"/>
                </a:lnTo>
                <a:lnTo>
                  <a:pt x="586003" y="334645"/>
                </a:lnTo>
                <a:close/>
              </a:path>
              <a:path w="586105" h="795020">
                <a:moveTo>
                  <a:pt x="586003" y="125501"/>
                </a:moveTo>
                <a:lnTo>
                  <a:pt x="578231" y="144627"/>
                </a:lnTo>
                <a:lnTo>
                  <a:pt x="556107" y="162204"/>
                </a:lnTo>
                <a:lnTo>
                  <a:pt x="523227" y="176949"/>
                </a:lnTo>
                <a:lnTo>
                  <a:pt x="523227" y="271907"/>
                </a:lnTo>
                <a:lnTo>
                  <a:pt x="521716" y="280466"/>
                </a:lnTo>
                <a:lnTo>
                  <a:pt x="517461" y="287070"/>
                </a:lnTo>
                <a:lnTo>
                  <a:pt x="510857" y="291312"/>
                </a:lnTo>
                <a:lnTo>
                  <a:pt x="502297" y="292823"/>
                </a:lnTo>
                <a:lnTo>
                  <a:pt x="493725" y="291312"/>
                </a:lnTo>
                <a:lnTo>
                  <a:pt x="487121" y="287070"/>
                </a:lnTo>
                <a:lnTo>
                  <a:pt x="482866" y="280466"/>
                </a:lnTo>
                <a:lnTo>
                  <a:pt x="481368" y="271907"/>
                </a:lnTo>
                <a:lnTo>
                  <a:pt x="482866" y="263347"/>
                </a:lnTo>
                <a:lnTo>
                  <a:pt x="487121" y="256743"/>
                </a:lnTo>
                <a:lnTo>
                  <a:pt x="493725" y="252488"/>
                </a:lnTo>
                <a:lnTo>
                  <a:pt x="502297" y="250990"/>
                </a:lnTo>
                <a:lnTo>
                  <a:pt x="510857" y="252488"/>
                </a:lnTo>
                <a:lnTo>
                  <a:pt x="517461" y="256743"/>
                </a:lnTo>
                <a:lnTo>
                  <a:pt x="521716" y="263347"/>
                </a:lnTo>
                <a:lnTo>
                  <a:pt x="523227" y="271907"/>
                </a:lnTo>
                <a:lnTo>
                  <a:pt x="523227" y="176949"/>
                </a:lnTo>
                <a:lnTo>
                  <a:pt x="475983" y="190715"/>
                </a:lnTo>
                <a:lnTo>
                  <a:pt x="421563" y="200621"/>
                </a:lnTo>
                <a:lnTo>
                  <a:pt x="359981" y="206933"/>
                </a:lnTo>
                <a:lnTo>
                  <a:pt x="293001" y="209156"/>
                </a:lnTo>
                <a:lnTo>
                  <a:pt x="226034" y="206933"/>
                </a:lnTo>
                <a:lnTo>
                  <a:pt x="164439" y="200621"/>
                </a:lnTo>
                <a:lnTo>
                  <a:pt x="110032" y="190715"/>
                </a:lnTo>
                <a:lnTo>
                  <a:pt x="64579" y="177749"/>
                </a:lnTo>
                <a:lnTo>
                  <a:pt x="7772" y="144627"/>
                </a:lnTo>
                <a:lnTo>
                  <a:pt x="0" y="125501"/>
                </a:lnTo>
                <a:lnTo>
                  <a:pt x="0" y="292823"/>
                </a:lnTo>
                <a:lnTo>
                  <a:pt x="29895" y="329526"/>
                </a:lnTo>
                <a:lnTo>
                  <a:pt x="110032" y="358038"/>
                </a:lnTo>
                <a:lnTo>
                  <a:pt x="164439" y="367944"/>
                </a:lnTo>
                <a:lnTo>
                  <a:pt x="226034" y="374256"/>
                </a:lnTo>
                <a:lnTo>
                  <a:pt x="293001" y="376478"/>
                </a:lnTo>
                <a:lnTo>
                  <a:pt x="359981" y="374256"/>
                </a:lnTo>
                <a:lnTo>
                  <a:pt x="421563" y="367944"/>
                </a:lnTo>
                <a:lnTo>
                  <a:pt x="475983" y="358038"/>
                </a:lnTo>
                <a:lnTo>
                  <a:pt x="521423" y="345059"/>
                </a:lnTo>
                <a:lnTo>
                  <a:pt x="578231" y="311937"/>
                </a:lnTo>
                <a:lnTo>
                  <a:pt x="586003" y="292823"/>
                </a:lnTo>
                <a:lnTo>
                  <a:pt x="586003" y="250990"/>
                </a:lnTo>
                <a:lnTo>
                  <a:pt x="586003" y="209156"/>
                </a:lnTo>
                <a:lnTo>
                  <a:pt x="586003" y="125501"/>
                </a:lnTo>
                <a:close/>
              </a:path>
              <a:path w="586105" h="795020">
                <a:moveTo>
                  <a:pt x="586003" y="83667"/>
                </a:moveTo>
                <a:lnTo>
                  <a:pt x="556234" y="46875"/>
                </a:lnTo>
                <a:lnTo>
                  <a:pt x="476262" y="18376"/>
                </a:lnTo>
                <a:lnTo>
                  <a:pt x="421868" y="8496"/>
                </a:lnTo>
                <a:lnTo>
                  <a:pt x="360184" y="2209"/>
                </a:lnTo>
                <a:lnTo>
                  <a:pt x="293001" y="0"/>
                </a:lnTo>
                <a:lnTo>
                  <a:pt x="225818" y="2209"/>
                </a:lnTo>
                <a:lnTo>
                  <a:pt x="164147" y="8496"/>
                </a:lnTo>
                <a:lnTo>
                  <a:pt x="109753" y="18376"/>
                </a:lnTo>
                <a:lnTo>
                  <a:pt x="64376" y="31343"/>
                </a:lnTo>
                <a:lnTo>
                  <a:pt x="7747" y="64490"/>
                </a:lnTo>
                <a:lnTo>
                  <a:pt x="0" y="83667"/>
                </a:lnTo>
                <a:lnTo>
                  <a:pt x="7747" y="102857"/>
                </a:lnTo>
                <a:lnTo>
                  <a:pt x="64376" y="135991"/>
                </a:lnTo>
                <a:lnTo>
                  <a:pt x="109753" y="148945"/>
                </a:lnTo>
                <a:lnTo>
                  <a:pt x="164147" y="158826"/>
                </a:lnTo>
                <a:lnTo>
                  <a:pt x="225818" y="165125"/>
                </a:lnTo>
                <a:lnTo>
                  <a:pt x="293001" y="167335"/>
                </a:lnTo>
                <a:lnTo>
                  <a:pt x="360184" y="165125"/>
                </a:lnTo>
                <a:lnTo>
                  <a:pt x="421868" y="158826"/>
                </a:lnTo>
                <a:lnTo>
                  <a:pt x="476262" y="148945"/>
                </a:lnTo>
                <a:lnTo>
                  <a:pt x="521639" y="135991"/>
                </a:lnTo>
                <a:lnTo>
                  <a:pt x="578269" y="102857"/>
                </a:lnTo>
                <a:lnTo>
                  <a:pt x="586003" y="83667"/>
                </a:lnTo>
                <a:close/>
              </a:path>
            </a:pathLst>
          </a:custGeom>
          <a:solidFill>
            <a:srgbClr val="9B9B9B"/>
          </a:solidFill>
        </p:spPr>
        <p:txBody>
          <a:bodyPr wrap="square" lIns="0" tIns="0" rIns="0" bIns="0" rtlCol="0"/>
          <a:lstStyle/>
          <a:p>
            <a:endParaRPr sz="2400"/>
          </a:p>
        </p:txBody>
      </p:sp>
      <p:grpSp>
        <p:nvGrpSpPr>
          <p:cNvPr id="6" name="object 6"/>
          <p:cNvGrpSpPr/>
          <p:nvPr/>
        </p:nvGrpSpPr>
        <p:grpSpPr>
          <a:xfrm>
            <a:off x="3332480" y="1971041"/>
            <a:ext cx="2892213" cy="3113193"/>
            <a:chOff x="2499360" y="1478280"/>
            <a:chExt cx="2169160" cy="2334895"/>
          </a:xfrm>
        </p:grpSpPr>
        <p:sp>
          <p:nvSpPr>
            <p:cNvPr id="7" name="object 7"/>
            <p:cNvSpPr/>
            <p:nvPr/>
          </p:nvSpPr>
          <p:spPr>
            <a:xfrm>
              <a:off x="2933700" y="1482852"/>
              <a:ext cx="1729739" cy="2326005"/>
            </a:xfrm>
            <a:custGeom>
              <a:avLst/>
              <a:gdLst/>
              <a:ahLst/>
              <a:cxnLst/>
              <a:rect l="l" t="t" r="r" b="b"/>
              <a:pathLst>
                <a:path w="1729739" h="2326004">
                  <a:moveTo>
                    <a:pt x="0" y="288289"/>
                  </a:moveTo>
                  <a:lnTo>
                    <a:pt x="3772" y="241518"/>
                  </a:lnTo>
                  <a:lnTo>
                    <a:pt x="14693" y="197152"/>
                  </a:lnTo>
                  <a:lnTo>
                    <a:pt x="32170" y="155786"/>
                  </a:lnTo>
                  <a:lnTo>
                    <a:pt x="55611" y="118012"/>
                  </a:lnTo>
                  <a:lnTo>
                    <a:pt x="84423" y="84423"/>
                  </a:lnTo>
                  <a:lnTo>
                    <a:pt x="118012" y="55611"/>
                  </a:lnTo>
                  <a:lnTo>
                    <a:pt x="155786" y="32170"/>
                  </a:lnTo>
                  <a:lnTo>
                    <a:pt x="197152" y="14693"/>
                  </a:lnTo>
                  <a:lnTo>
                    <a:pt x="241518" y="3772"/>
                  </a:lnTo>
                  <a:lnTo>
                    <a:pt x="288289" y="0"/>
                  </a:lnTo>
                  <a:lnTo>
                    <a:pt x="1441450" y="0"/>
                  </a:lnTo>
                  <a:lnTo>
                    <a:pt x="1488221" y="3772"/>
                  </a:lnTo>
                  <a:lnTo>
                    <a:pt x="1532587" y="14693"/>
                  </a:lnTo>
                  <a:lnTo>
                    <a:pt x="1573953" y="32170"/>
                  </a:lnTo>
                  <a:lnTo>
                    <a:pt x="1611727" y="55611"/>
                  </a:lnTo>
                  <a:lnTo>
                    <a:pt x="1645316" y="84423"/>
                  </a:lnTo>
                  <a:lnTo>
                    <a:pt x="1674128" y="118012"/>
                  </a:lnTo>
                  <a:lnTo>
                    <a:pt x="1697569" y="155786"/>
                  </a:lnTo>
                  <a:lnTo>
                    <a:pt x="1715046" y="197152"/>
                  </a:lnTo>
                  <a:lnTo>
                    <a:pt x="1725967" y="241518"/>
                  </a:lnTo>
                  <a:lnTo>
                    <a:pt x="1729739" y="288289"/>
                  </a:lnTo>
                  <a:lnTo>
                    <a:pt x="1729739" y="2037334"/>
                  </a:lnTo>
                  <a:lnTo>
                    <a:pt x="1725967" y="2084105"/>
                  </a:lnTo>
                  <a:lnTo>
                    <a:pt x="1715046" y="2128471"/>
                  </a:lnTo>
                  <a:lnTo>
                    <a:pt x="1697569" y="2169837"/>
                  </a:lnTo>
                  <a:lnTo>
                    <a:pt x="1674128" y="2207611"/>
                  </a:lnTo>
                  <a:lnTo>
                    <a:pt x="1645316" y="2241200"/>
                  </a:lnTo>
                  <a:lnTo>
                    <a:pt x="1611727" y="2270012"/>
                  </a:lnTo>
                  <a:lnTo>
                    <a:pt x="1573953" y="2293453"/>
                  </a:lnTo>
                  <a:lnTo>
                    <a:pt x="1532587" y="2310930"/>
                  </a:lnTo>
                  <a:lnTo>
                    <a:pt x="1488221" y="2321851"/>
                  </a:lnTo>
                  <a:lnTo>
                    <a:pt x="1441450" y="2325624"/>
                  </a:lnTo>
                  <a:lnTo>
                    <a:pt x="288289" y="2325624"/>
                  </a:lnTo>
                  <a:lnTo>
                    <a:pt x="241518" y="2321851"/>
                  </a:lnTo>
                  <a:lnTo>
                    <a:pt x="197152" y="2310930"/>
                  </a:lnTo>
                  <a:lnTo>
                    <a:pt x="155786" y="2293453"/>
                  </a:lnTo>
                  <a:lnTo>
                    <a:pt x="118012" y="2270012"/>
                  </a:lnTo>
                  <a:lnTo>
                    <a:pt x="84423" y="2241200"/>
                  </a:lnTo>
                  <a:lnTo>
                    <a:pt x="55611" y="2207611"/>
                  </a:lnTo>
                  <a:lnTo>
                    <a:pt x="32170" y="2169837"/>
                  </a:lnTo>
                  <a:lnTo>
                    <a:pt x="14693" y="2128471"/>
                  </a:lnTo>
                  <a:lnTo>
                    <a:pt x="3772" y="2084105"/>
                  </a:lnTo>
                  <a:lnTo>
                    <a:pt x="0" y="2037334"/>
                  </a:lnTo>
                  <a:lnTo>
                    <a:pt x="0" y="288289"/>
                  </a:lnTo>
                  <a:close/>
                </a:path>
              </a:pathLst>
            </a:custGeom>
            <a:ln w="9143">
              <a:solidFill>
                <a:srgbClr val="00C3FF"/>
              </a:solidFill>
            </a:ln>
          </p:spPr>
          <p:txBody>
            <a:bodyPr wrap="square" lIns="0" tIns="0" rIns="0" bIns="0" rtlCol="0"/>
            <a:lstStyle/>
            <a:p>
              <a:endParaRPr sz="2400"/>
            </a:p>
          </p:txBody>
        </p:sp>
        <p:sp>
          <p:nvSpPr>
            <p:cNvPr id="8" name="object 8"/>
            <p:cNvSpPr/>
            <p:nvPr/>
          </p:nvSpPr>
          <p:spPr>
            <a:xfrm>
              <a:off x="2512314" y="2161794"/>
              <a:ext cx="524510" cy="167640"/>
            </a:xfrm>
            <a:custGeom>
              <a:avLst/>
              <a:gdLst/>
              <a:ahLst/>
              <a:cxnLst/>
              <a:rect l="l" t="t" r="r" b="b"/>
              <a:pathLst>
                <a:path w="524510" h="167639">
                  <a:moveTo>
                    <a:pt x="440436" y="0"/>
                  </a:moveTo>
                  <a:lnTo>
                    <a:pt x="440436" y="41910"/>
                  </a:lnTo>
                  <a:lnTo>
                    <a:pt x="0" y="41910"/>
                  </a:lnTo>
                  <a:lnTo>
                    <a:pt x="0" y="125730"/>
                  </a:lnTo>
                  <a:lnTo>
                    <a:pt x="440436" y="125730"/>
                  </a:lnTo>
                  <a:lnTo>
                    <a:pt x="440436" y="167639"/>
                  </a:lnTo>
                  <a:lnTo>
                    <a:pt x="524256" y="83819"/>
                  </a:lnTo>
                  <a:lnTo>
                    <a:pt x="440436" y="0"/>
                  </a:lnTo>
                  <a:close/>
                </a:path>
              </a:pathLst>
            </a:custGeom>
            <a:solidFill>
              <a:srgbClr val="00C3FF"/>
            </a:solidFill>
          </p:spPr>
          <p:txBody>
            <a:bodyPr wrap="square" lIns="0" tIns="0" rIns="0" bIns="0" rtlCol="0"/>
            <a:lstStyle/>
            <a:p>
              <a:endParaRPr sz="2400"/>
            </a:p>
          </p:txBody>
        </p:sp>
        <p:sp>
          <p:nvSpPr>
            <p:cNvPr id="9" name="object 9"/>
            <p:cNvSpPr/>
            <p:nvPr/>
          </p:nvSpPr>
          <p:spPr>
            <a:xfrm>
              <a:off x="2512314" y="2161794"/>
              <a:ext cx="524510" cy="167640"/>
            </a:xfrm>
            <a:custGeom>
              <a:avLst/>
              <a:gdLst/>
              <a:ahLst/>
              <a:cxnLst/>
              <a:rect l="l" t="t" r="r" b="b"/>
              <a:pathLst>
                <a:path w="524510" h="167639">
                  <a:moveTo>
                    <a:pt x="0" y="41910"/>
                  </a:moveTo>
                  <a:lnTo>
                    <a:pt x="440436" y="41910"/>
                  </a:lnTo>
                  <a:lnTo>
                    <a:pt x="440436" y="0"/>
                  </a:lnTo>
                  <a:lnTo>
                    <a:pt x="524256" y="83819"/>
                  </a:lnTo>
                  <a:lnTo>
                    <a:pt x="440436" y="167639"/>
                  </a:lnTo>
                  <a:lnTo>
                    <a:pt x="440436" y="125730"/>
                  </a:lnTo>
                  <a:lnTo>
                    <a:pt x="0" y="125730"/>
                  </a:lnTo>
                  <a:lnTo>
                    <a:pt x="0" y="41910"/>
                  </a:lnTo>
                  <a:close/>
                </a:path>
              </a:pathLst>
            </a:custGeom>
            <a:ln w="25907">
              <a:solidFill>
                <a:srgbClr val="008FBB"/>
              </a:solidFill>
            </a:ln>
          </p:spPr>
          <p:txBody>
            <a:bodyPr wrap="square" lIns="0" tIns="0" rIns="0" bIns="0" rtlCol="0"/>
            <a:lstStyle/>
            <a:p>
              <a:endParaRPr sz="2400"/>
            </a:p>
          </p:txBody>
        </p:sp>
        <p:sp>
          <p:nvSpPr>
            <p:cNvPr id="10" name="object 10"/>
            <p:cNvSpPr/>
            <p:nvPr/>
          </p:nvSpPr>
          <p:spPr>
            <a:xfrm>
              <a:off x="2512314" y="2948177"/>
              <a:ext cx="524510" cy="167640"/>
            </a:xfrm>
            <a:custGeom>
              <a:avLst/>
              <a:gdLst/>
              <a:ahLst/>
              <a:cxnLst/>
              <a:rect l="l" t="t" r="r" b="b"/>
              <a:pathLst>
                <a:path w="524510" h="167639">
                  <a:moveTo>
                    <a:pt x="440436" y="0"/>
                  </a:moveTo>
                  <a:lnTo>
                    <a:pt x="440436" y="41910"/>
                  </a:lnTo>
                  <a:lnTo>
                    <a:pt x="0" y="41910"/>
                  </a:lnTo>
                  <a:lnTo>
                    <a:pt x="0" y="125730"/>
                  </a:lnTo>
                  <a:lnTo>
                    <a:pt x="440436" y="125730"/>
                  </a:lnTo>
                  <a:lnTo>
                    <a:pt x="440436" y="167640"/>
                  </a:lnTo>
                  <a:lnTo>
                    <a:pt x="524256" y="83820"/>
                  </a:lnTo>
                  <a:lnTo>
                    <a:pt x="440436" y="0"/>
                  </a:lnTo>
                  <a:close/>
                </a:path>
              </a:pathLst>
            </a:custGeom>
            <a:solidFill>
              <a:srgbClr val="00C3FF"/>
            </a:solidFill>
          </p:spPr>
          <p:txBody>
            <a:bodyPr wrap="square" lIns="0" tIns="0" rIns="0" bIns="0" rtlCol="0"/>
            <a:lstStyle/>
            <a:p>
              <a:endParaRPr sz="2400"/>
            </a:p>
          </p:txBody>
        </p:sp>
        <p:sp>
          <p:nvSpPr>
            <p:cNvPr id="11" name="object 11"/>
            <p:cNvSpPr/>
            <p:nvPr/>
          </p:nvSpPr>
          <p:spPr>
            <a:xfrm>
              <a:off x="2512314" y="2948177"/>
              <a:ext cx="524510" cy="167640"/>
            </a:xfrm>
            <a:custGeom>
              <a:avLst/>
              <a:gdLst/>
              <a:ahLst/>
              <a:cxnLst/>
              <a:rect l="l" t="t" r="r" b="b"/>
              <a:pathLst>
                <a:path w="524510" h="167639">
                  <a:moveTo>
                    <a:pt x="0" y="41910"/>
                  </a:moveTo>
                  <a:lnTo>
                    <a:pt x="440436" y="41910"/>
                  </a:lnTo>
                  <a:lnTo>
                    <a:pt x="440436" y="0"/>
                  </a:lnTo>
                  <a:lnTo>
                    <a:pt x="524256" y="83820"/>
                  </a:lnTo>
                  <a:lnTo>
                    <a:pt x="440436" y="167640"/>
                  </a:lnTo>
                  <a:lnTo>
                    <a:pt x="440436" y="125730"/>
                  </a:lnTo>
                  <a:lnTo>
                    <a:pt x="0" y="125730"/>
                  </a:lnTo>
                  <a:lnTo>
                    <a:pt x="0" y="41910"/>
                  </a:lnTo>
                  <a:close/>
                </a:path>
              </a:pathLst>
            </a:custGeom>
            <a:ln w="25908">
              <a:solidFill>
                <a:srgbClr val="008FBB"/>
              </a:solidFill>
            </a:ln>
          </p:spPr>
          <p:txBody>
            <a:bodyPr wrap="square" lIns="0" tIns="0" rIns="0" bIns="0" rtlCol="0"/>
            <a:lstStyle/>
            <a:p>
              <a:endParaRPr sz="2400"/>
            </a:p>
          </p:txBody>
        </p:sp>
      </p:grpSp>
      <p:graphicFrame>
        <p:nvGraphicFramePr>
          <p:cNvPr id="12" name="object 12"/>
          <p:cNvGraphicFramePr>
            <a:graphicFrameLocks noGrp="1"/>
          </p:cNvGraphicFramePr>
          <p:nvPr/>
        </p:nvGraphicFramePr>
        <p:xfrm>
          <a:off x="4232241" y="2400119"/>
          <a:ext cx="791632" cy="534247"/>
        </p:xfrm>
        <a:graphic>
          <a:graphicData uri="http://schemas.openxmlformats.org/drawingml/2006/table">
            <a:tbl>
              <a:tblPr firstRow="1" bandRow="1">
                <a:tableStyleId>{2D5ABB26-0587-4C30-8999-92F81FD0307C}</a:tableStyleId>
              </a:tblPr>
              <a:tblGrid>
                <a:gridCol w="267547">
                  <a:extLst>
                    <a:ext uri="{9D8B030D-6E8A-4147-A177-3AD203B41FA5}">
                      <a16:colId xmlns:a16="http://schemas.microsoft.com/office/drawing/2014/main" val="20000"/>
                    </a:ext>
                  </a:extLst>
                </a:gridCol>
                <a:gridCol w="256540">
                  <a:extLst>
                    <a:ext uri="{9D8B030D-6E8A-4147-A177-3AD203B41FA5}">
                      <a16:colId xmlns:a16="http://schemas.microsoft.com/office/drawing/2014/main" val="20001"/>
                    </a:ext>
                  </a:extLst>
                </a:gridCol>
                <a:gridCol w="267545">
                  <a:extLst>
                    <a:ext uri="{9D8B030D-6E8A-4147-A177-3AD203B41FA5}">
                      <a16:colId xmlns:a16="http://schemas.microsoft.com/office/drawing/2014/main" val="20002"/>
                    </a:ext>
                  </a:extLst>
                </a:gridCol>
              </a:tblGrid>
              <a:tr h="182033">
                <a:tc>
                  <a:txBody>
                    <a:bodyPr/>
                    <a:lstStyle/>
                    <a:p>
                      <a:pPr>
                        <a:lnSpc>
                          <a:spcPct val="100000"/>
                        </a:lnSpc>
                      </a:pPr>
                      <a:endParaRPr sz="900">
                        <a:latin typeface="Times New Roman"/>
                        <a:cs typeface="Times New Roman"/>
                      </a:endParaRPr>
                    </a:p>
                  </a:txBody>
                  <a:tcPr marL="0" marR="0" marT="0" marB="0">
                    <a:lnL w="5715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57150">
                      <a:solidFill>
                        <a:srgbClr val="BCBCBC"/>
                      </a:solidFill>
                      <a:prstDash val="solid"/>
                    </a:lnR>
                    <a:lnT w="57150">
                      <a:solidFill>
                        <a:srgbClr val="BCBCBC"/>
                      </a:solidFill>
                      <a:prstDash val="solid"/>
                    </a:lnT>
                    <a:lnB w="38100">
                      <a:solidFill>
                        <a:srgbClr val="BCBCBC"/>
                      </a:solidFill>
                      <a:prstDash val="solid"/>
                    </a:lnB>
                  </a:tcPr>
                </a:tc>
                <a:extLst>
                  <a:ext uri="{0D108BD9-81ED-4DB2-BD59-A6C34878D82A}">
                    <a16:rowId xmlns:a16="http://schemas.microsoft.com/office/drawing/2014/main" val="10000"/>
                  </a:ext>
                </a:extLst>
              </a:tr>
              <a:tr h="171027">
                <a:tc>
                  <a:txBody>
                    <a:bodyPr/>
                    <a:lstStyle/>
                    <a:p>
                      <a:pPr>
                        <a:lnSpc>
                          <a:spcPct val="100000"/>
                        </a:lnSpc>
                      </a:pPr>
                      <a:endParaRPr sz="9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38100">
                      <a:solidFill>
                        <a:srgbClr val="BCBCBC"/>
                      </a:solidFill>
                      <a:prstDash val="solid"/>
                    </a:lnB>
                  </a:tcPr>
                </a:tc>
                <a:extLst>
                  <a:ext uri="{0D108BD9-81ED-4DB2-BD59-A6C34878D82A}">
                    <a16:rowId xmlns:a16="http://schemas.microsoft.com/office/drawing/2014/main" val="10001"/>
                  </a:ext>
                </a:extLst>
              </a:tr>
              <a:tr h="181187">
                <a:tc>
                  <a:txBody>
                    <a:bodyPr/>
                    <a:lstStyle/>
                    <a:p>
                      <a:pPr>
                        <a:lnSpc>
                          <a:spcPct val="100000"/>
                        </a:lnSpc>
                      </a:pPr>
                      <a:endParaRPr sz="9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57150">
                      <a:solidFill>
                        <a:srgbClr val="BCBCBC"/>
                      </a:solidFill>
                      <a:prstDash val="solid"/>
                    </a:lnB>
                  </a:tcPr>
                </a:tc>
                <a:extLst>
                  <a:ext uri="{0D108BD9-81ED-4DB2-BD59-A6C34878D82A}">
                    <a16:rowId xmlns:a16="http://schemas.microsoft.com/office/drawing/2014/main" val="10002"/>
                  </a:ext>
                </a:extLst>
              </a:tr>
            </a:tbl>
          </a:graphicData>
        </a:graphic>
      </p:graphicFrame>
      <p:graphicFrame>
        <p:nvGraphicFramePr>
          <p:cNvPr id="13" name="object 13"/>
          <p:cNvGraphicFramePr>
            <a:graphicFrameLocks noGrp="1"/>
          </p:cNvGraphicFramePr>
          <p:nvPr/>
        </p:nvGraphicFramePr>
        <p:xfrm>
          <a:off x="4593937" y="4104967"/>
          <a:ext cx="791632" cy="534247"/>
        </p:xfrm>
        <a:graphic>
          <a:graphicData uri="http://schemas.openxmlformats.org/drawingml/2006/table">
            <a:tbl>
              <a:tblPr firstRow="1" bandRow="1">
                <a:tableStyleId>{2D5ABB26-0587-4C30-8999-92F81FD0307C}</a:tableStyleId>
              </a:tblPr>
              <a:tblGrid>
                <a:gridCol w="267547">
                  <a:extLst>
                    <a:ext uri="{9D8B030D-6E8A-4147-A177-3AD203B41FA5}">
                      <a16:colId xmlns:a16="http://schemas.microsoft.com/office/drawing/2014/main" val="20000"/>
                    </a:ext>
                  </a:extLst>
                </a:gridCol>
                <a:gridCol w="256540">
                  <a:extLst>
                    <a:ext uri="{9D8B030D-6E8A-4147-A177-3AD203B41FA5}">
                      <a16:colId xmlns:a16="http://schemas.microsoft.com/office/drawing/2014/main" val="20001"/>
                    </a:ext>
                  </a:extLst>
                </a:gridCol>
                <a:gridCol w="267545">
                  <a:extLst>
                    <a:ext uri="{9D8B030D-6E8A-4147-A177-3AD203B41FA5}">
                      <a16:colId xmlns:a16="http://schemas.microsoft.com/office/drawing/2014/main" val="20002"/>
                    </a:ext>
                  </a:extLst>
                </a:gridCol>
              </a:tblGrid>
              <a:tr h="182033">
                <a:tc>
                  <a:txBody>
                    <a:bodyPr/>
                    <a:lstStyle/>
                    <a:p>
                      <a:pPr>
                        <a:lnSpc>
                          <a:spcPct val="100000"/>
                        </a:lnSpc>
                      </a:pPr>
                      <a:endParaRPr sz="900">
                        <a:latin typeface="Times New Roman"/>
                        <a:cs typeface="Times New Roman"/>
                      </a:endParaRPr>
                    </a:p>
                  </a:txBody>
                  <a:tcPr marL="0" marR="0" marT="0" marB="0">
                    <a:lnL w="5715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57150">
                      <a:solidFill>
                        <a:srgbClr val="BCBCBC"/>
                      </a:solidFill>
                      <a:prstDash val="solid"/>
                    </a:lnR>
                    <a:lnT w="57150">
                      <a:solidFill>
                        <a:srgbClr val="BCBCBC"/>
                      </a:solidFill>
                      <a:prstDash val="solid"/>
                    </a:lnT>
                    <a:lnB w="38100">
                      <a:solidFill>
                        <a:srgbClr val="BCBCBC"/>
                      </a:solidFill>
                      <a:prstDash val="solid"/>
                    </a:lnB>
                  </a:tcPr>
                </a:tc>
                <a:extLst>
                  <a:ext uri="{0D108BD9-81ED-4DB2-BD59-A6C34878D82A}">
                    <a16:rowId xmlns:a16="http://schemas.microsoft.com/office/drawing/2014/main" val="10000"/>
                  </a:ext>
                </a:extLst>
              </a:tr>
              <a:tr h="171027">
                <a:tc>
                  <a:txBody>
                    <a:bodyPr/>
                    <a:lstStyle/>
                    <a:p>
                      <a:pPr>
                        <a:lnSpc>
                          <a:spcPct val="100000"/>
                        </a:lnSpc>
                      </a:pPr>
                      <a:endParaRPr sz="9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38100">
                      <a:solidFill>
                        <a:srgbClr val="BCBCBC"/>
                      </a:solidFill>
                      <a:prstDash val="solid"/>
                    </a:lnB>
                  </a:tcPr>
                </a:tc>
                <a:extLst>
                  <a:ext uri="{0D108BD9-81ED-4DB2-BD59-A6C34878D82A}">
                    <a16:rowId xmlns:a16="http://schemas.microsoft.com/office/drawing/2014/main" val="10001"/>
                  </a:ext>
                </a:extLst>
              </a:tr>
              <a:tr h="181187">
                <a:tc>
                  <a:txBody>
                    <a:bodyPr/>
                    <a:lstStyle/>
                    <a:p>
                      <a:pPr>
                        <a:lnSpc>
                          <a:spcPct val="100000"/>
                        </a:lnSpc>
                      </a:pPr>
                      <a:endParaRPr sz="9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57150">
                      <a:solidFill>
                        <a:srgbClr val="BCBCBC"/>
                      </a:solidFill>
                      <a:prstDash val="solid"/>
                    </a:lnB>
                  </a:tcPr>
                </a:tc>
                <a:extLst>
                  <a:ext uri="{0D108BD9-81ED-4DB2-BD59-A6C34878D82A}">
                    <a16:rowId xmlns:a16="http://schemas.microsoft.com/office/drawing/2014/main" val="10002"/>
                  </a:ext>
                </a:extLst>
              </a:tr>
            </a:tbl>
          </a:graphicData>
        </a:graphic>
      </p:graphicFrame>
      <p:graphicFrame>
        <p:nvGraphicFramePr>
          <p:cNvPr id="14" name="object 14"/>
          <p:cNvGraphicFramePr>
            <a:graphicFrameLocks noGrp="1"/>
          </p:cNvGraphicFramePr>
          <p:nvPr/>
        </p:nvGraphicFramePr>
        <p:xfrm>
          <a:off x="5079585" y="3056455"/>
          <a:ext cx="791632" cy="534247"/>
        </p:xfrm>
        <a:graphic>
          <a:graphicData uri="http://schemas.openxmlformats.org/drawingml/2006/table">
            <a:tbl>
              <a:tblPr firstRow="1" bandRow="1">
                <a:tableStyleId>{2D5ABB26-0587-4C30-8999-92F81FD0307C}</a:tableStyleId>
              </a:tblPr>
              <a:tblGrid>
                <a:gridCol w="267547">
                  <a:extLst>
                    <a:ext uri="{9D8B030D-6E8A-4147-A177-3AD203B41FA5}">
                      <a16:colId xmlns:a16="http://schemas.microsoft.com/office/drawing/2014/main" val="20000"/>
                    </a:ext>
                  </a:extLst>
                </a:gridCol>
                <a:gridCol w="256540">
                  <a:extLst>
                    <a:ext uri="{9D8B030D-6E8A-4147-A177-3AD203B41FA5}">
                      <a16:colId xmlns:a16="http://schemas.microsoft.com/office/drawing/2014/main" val="20001"/>
                    </a:ext>
                  </a:extLst>
                </a:gridCol>
                <a:gridCol w="267545">
                  <a:extLst>
                    <a:ext uri="{9D8B030D-6E8A-4147-A177-3AD203B41FA5}">
                      <a16:colId xmlns:a16="http://schemas.microsoft.com/office/drawing/2014/main" val="20002"/>
                    </a:ext>
                  </a:extLst>
                </a:gridCol>
              </a:tblGrid>
              <a:tr h="182033">
                <a:tc>
                  <a:txBody>
                    <a:bodyPr/>
                    <a:lstStyle/>
                    <a:p>
                      <a:pPr>
                        <a:lnSpc>
                          <a:spcPct val="100000"/>
                        </a:lnSpc>
                      </a:pPr>
                      <a:endParaRPr sz="900">
                        <a:latin typeface="Times New Roman"/>
                        <a:cs typeface="Times New Roman"/>
                      </a:endParaRPr>
                    </a:p>
                  </a:txBody>
                  <a:tcPr marL="0" marR="0" marT="0" marB="0">
                    <a:lnL w="5715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57150">
                      <a:solidFill>
                        <a:srgbClr val="BCBCBC"/>
                      </a:solidFill>
                      <a:prstDash val="solid"/>
                    </a:lnR>
                    <a:lnT w="57150">
                      <a:solidFill>
                        <a:srgbClr val="BCBCBC"/>
                      </a:solidFill>
                      <a:prstDash val="solid"/>
                    </a:lnT>
                    <a:lnB w="38100">
                      <a:solidFill>
                        <a:srgbClr val="BCBCBC"/>
                      </a:solidFill>
                      <a:prstDash val="solid"/>
                    </a:lnB>
                  </a:tcPr>
                </a:tc>
                <a:extLst>
                  <a:ext uri="{0D108BD9-81ED-4DB2-BD59-A6C34878D82A}">
                    <a16:rowId xmlns:a16="http://schemas.microsoft.com/office/drawing/2014/main" val="10000"/>
                  </a:ext>
                </a:extLst>
              </a:tr>
              <a:tr h="171027">
                <a:tc>
                  <a:txBody>
                    <a:bodyPr/>
                    <a:lstStyle/>
                    <a:p>
                      <a:pPr>
                        <a:lnSpc>
                          <a:spcPct val="100000"/>
                        </a:lnSpc>
                      </a:pPr>
                      <a:endParaRPr sz="9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38100">
                      <a:solidFill>
                        <a:srgbClr val="BCBCBC"/>
                      </a:solidFill>
                      <a:prstDash val="solid"/>
                    </a:lnB>
                  </a:tcPr>
                </a:tc>
                <a:extLst>
                  <a:ext uri="{0D108BD9-81ED-4DB2-BD59-A6C34878D82A}">
                    <a16:rowId xmlns:a16="http://schemas.microsoft.com/office/drawing/2014/main" val="10001"/>
                  </a:ext>
                </a:extLst>
              </a:tr>
              <a:tr h="181187">
                <a:tc>
                  <a:txBody>
                    <a:bodyPr/>
                    <a:lstStyle/>
                    <a:p>
                      <a:pPr>
                        <a:lnSpc>
                          <a:spcPct val="100000"/>
                        </a:lnSpc>
                      </a:pPr>
                      <a:endParaRPr sz="9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57150">
                      <a:solidFill>
                        <a:srgbClr val="BCBCBC"/>
                      </a:solidFill>
                      <a:prstDash val="solid"/>
                    </a:lnB>
                  </a:tcPr>
                </a:tc>
                <a:extLst>
                  <a:ext uri="{0D108BD9-81ED-4DB2-BD59-A6C34878D82A}">
                    <a16:rowId xmlns:a16="http://schemas.microsoft.com/office/drawing/2014/main" val="10002"/>
                  </a:ext>
                </a:extLst>
              </a:tr>
            </a:tbl>
          </a:graphicData>
        </a:graphic>
      </p:graphicFrame>
      <p:sp>
        <p:nvSpPr>
          <p:cNvPr id="15" name="object 15"/>
          <p:cNvSpPr txBox="1"/>
          <p:nvPr/>
        </p:nvSpPr>
        <p:spPr>
          <a:xfrm>
            <a:off x="3210560" y="2119376"/>
            <a:ext cx="951653" cy="605230"/>
          </a:xfrm>
          <a:prstGeom prst="rect">
            <a:avLst/>
          </a:prstGeom>
          <a:solidFill>
            <a:srgbClr val="00C3FF">
              <a:alpha val="50195"/>
            </a:srgbClr>
          </a:solidFill>
        </p:spPr>
        <p:txBody>
          <a:bodyPr vert="horz" wrap="square" lIns="0" tIns="30480" rIns="0" bIns="0" rtlCol="0">
            <a:spAutoFit/>
          </a:bodyPr>
          <a:lstStyle/>
          <a:p>
            <a:pPr marL="236214">
              <a:spcBef>
                <a:spcPts val="240"/>
              </a:spcBef>
            </a:pPr>
            <a:r>
              <a:rPr sz="3733" b="1" spc="-33" dirty="0">
                <a:solidFill>
                  <a:srgbClr val="FFFFFF"/>
                </a:solidFill>
                <a:latin typeface="Calibri"/>
                <a:cs typeface="Calibri"/>
              </a:rPr>
              <a:t>E</a:t>
            </a:r>
            <a:r>
              <a:rPr sz="2133" b="1" spc="-33" dirty="0">
                <a:solidFill>
                  <a:srgbClr val="7E7E7E"/>
                </a:solidFill>
                <a:latin typeface="Calibri"/>
                <a:cs typeface="Calibri"/>
              </a:rPr>
              <a:t>TL</a:t>
            </a:r>
            <a:endParaRPr sz="2133">
              <a:latin typeface="Calibri"/>
              <a:cs typeface="Calibri"/>
            </a:endParaRPr>
          </a:p>
        </p:txBody>
      </p:sp>
      <p:grpSp>
        <p:nvGrpSpPr>
          <p:cNvPr id="16" name="object 16"/>
          <p:cNvGrpSpPr/>
          <p:nvPr/>
        </p:nvGrpSpPr>
        <p:grpSpPr>
          <a:xfrm>
            <a:off x="6772656" y="2426208"/>
            <a:ext cx="4657513" cy="2107353"/>
            <a:chOff x="5079491" y="1819655"/>
            <a:chExt cx="3493135" cy="1580515"/>
          </a:xfrm>
        </p:grpSpPr>
        <p:pic>
          <p:nvPicPr>
            <p:cNvPr id="17" name="object 17"/>
            <p:cNvPicPr/>
            <p:nvPr/>
          </p:nvPicPr>
          <p:blipFill>
            <a:blip r:embed="rId2" cstate="print"/>
            <a:stretch>
              <a:fillRect/>
            </a:stretch>
          </p:blipFill>
          <p:spPr>
            <a:xfrm>
              <a:off x="5084063" y="1819655"/>
              <a:ext cx="3488436" cy="1580388"/>
            </a:xfrm>
            <a:prstGeom prst="rect">
              <a:avLst/>
            </a:prstGeom>
          </p:spPr>
        </p:pic>
        <p:pic>
          <p:nvPicPr>
            <p:cNvPr id="18" name="object 18"/>
            <p:cNvPicPr/>
            <p:nvPr/>
          </p:nvPicPr>
          <p:blipFill>
            <a:blip r:embed="rId3" cstate="print"/>
            <a:stretch>
              <a:fillRect/>
            </a:stretch>
          </p:blipFill>
          <p:spPr>
            <a:xfrm>
              <a:off x="5079491" y="1937003"/>
              <a:ext cx="3456432" cy="1414272"/>
            </a:xfrm>
            <a:prstGeom prst="rect">
              <a:avLst/>
            </a:prstGeom>
          </p:spPr>
        </p:pic>
      </p:grpSp>
      <p:sp>
        <p:nvSpPr>
          <p:cNvPr id="19" name="object 19"/>
          <p:cNvSpPr txBox="1"/>
          <p:nvPr/>
        </p:nvSpPr>
        <p:spPr>
          <a:xfrm>
            <a:off x="6841744" y="2458720"/>
            <a:ext cx="4531360" cy="1780231"/>
          </a:xfrm>
          <a:prstGeom prst="rect">
            <a:avLst/>
          </a:prstGeom>
          <a:solidFill>
            <a:srgbClr val="404040"/>
          </a:solidFill>
          <a:ln w="9144">
            <a:solidFill>
              <a:srgbClr val="373737"/>
            </a:solidFill>
          </a:ln>
        </p:spPr>
        <p:txBody>
          <a:bodyPr vert="horz" wrap="square" lIns="0" tIns="205740" rIns="0" bIns="0" rtlCol="0">
            <a:spAutoFit/>
          </a:bodyPr>
          <a:lstStyle/>
          <a:p>
            <a:pPr marL="579952" indent="-457189">
              <a:spcBef>
                <a:spcPts val="1620"/>
              </a:spcBef>
              <a:buFont typeface="Courier New"/>
              <a:buChar char="o"/>
              <a:tabLst>
                <a:tab pos="579952" algn="l"/>
              </a:tabLst>
            </a:pPr>
            <a:r>
              <a:rPr sz="1867" i="1" dirty="0">
                <a:solidFill>
                  <a:srgbClr val="FFFFFF"/>
                </a:solidFill>
                <a:latin typeface="Calibri"/>
                <a:cs typeface="Calibri"/>
              </a:rPr>
              <a:t>"Short</a:t>
            </a:r>
            <a:r>
              <a:rPr sz="1867" i="1" spc="-27" dirty="0">
                <a:solidFill>
                  <a:srgbClr val="FFFFFF"/>
                </a:solidFill>
                <a:latin typeface="Calibri"/>
                <a:cs typeface="Calibri"/>
              </a:rPr>
              <a:t> </a:t>
            </a:r>
            <a:r>
              <a:rPr sz="1867" i="1" dirty="0">
                <a:solidFill>
                  <a:srgbClr val="FFFFFF"/>
                </a:solidFill>
                <a:latin typeface="Calibri"/>
                <a:cs typeface="Calibri"/>
              </a:rPr>
              <a:t>time</a:t>
            </a:r>
            <a:r>
              <a:rPr sz="1867" i="1" spc="-7" dirty="0">
                <a:solidFill>
                  <a:srgbClr val="FFFFFF"/>
                </a:solidFill>
                <a:latin typeface="Calibri"/>
                <a:cs typeface="Calibri"/>
              </a:rPr>
              <a:t> </a:t>
            </a:r>
            <a:r>
              <a:rPr sz="1867" i="1" dirty="0">
                <a:solidFill>
                  <a:srgbClr val="FFFFFF"/>
                </a:solidFill>
                <a:latin typeface="Calibri"/>
                <a:cs typeface="Calibri"/>
              </a:rPr>
              <a:t>on</a:t>
            </a:r>
            <a:r>
              <a:rPr sz="1867" i="1" spc="-33" dirty="0">
                <a:solidFill>
                  <a:srgbClr val="FFFFFF"/>
                </a:solidFill>
                <a:latin typeface="Calibri"/>
                <a:cs typeface="Calibri"/>
              </a:rPr>
              <a:t> </a:t>
            </a:r>
            <a:r>
              <a:rPr sz="1867" i="1" dirty="0">
                <a:solidFill>
                  <a:srgbClr val="FFFFFF"/>
                </a:solidFill>
                <a:latin typeface="Calibri"/>
                <a:cs typeface="Calibri"/>
              </a:rPr>
              <a:t>the</a:t>
            </a:r>
            <a:r>
              <a:rPr sz="1867" i="1" spc="-13" dirty="0">
                <a:solidFill>
                  <a:srgbClr val="FFFFFF"/>
                </a:solidFill>
                <a:latin typeface="Calibri"/>
                <a:cs typeface="Calibri"/>
              </a:rPr>
              <a:t> </a:t>
            </a:r>
            <a:r>
              <a:rPr sz="1867" i="1" dirty="0">
                <a:solidFill>
                  <a:srgbClr val="FFFFFF"/>
                </a:solidFill>
                <a:latin typeface="Calibri"/>
                <a:cs typeface="Calibri"/>
              </a:rPr>
              <a:t>source</a:t>
            </a:r>
            <a:r>
              <a:rPr sz="1867" i="1" spc="-47" dirty="0">
                <a:solidFill>
                  <a:srgbClr val="FFFFFF"/>
                </a:solidFill>
                <a:latin typeface="Calibri"/>
                <a:cs typeface="Calibri"/>
              </a:rPr>
              <a:t> </a:t>
            </a:r>
            <a:r>
              <a:rPr sz="1867" i="1" spc="-13" dirty="0">
                <a:solidFill>
                  <a:srgbClr val="FFFFFF"/>
                </a:solidFill>
                <a:latin typeface="Calibri"/>
                <a:cs typeface="Calibri"/>
              </a:rPr>
              <a:t>systems"</a:t>
            </a:r>
            <a:endParaRPr sz="1867">
              <a:latin typeface="Calibri"/>
              <a:cs typeface="Calibri"/>
            </a:endParaRPr>
          </a:p>
          <a:p>
            <a:pPr marL="579952" indent="-457189">
              <a:spcBef>
                <a:spcPts val="1120"/>
              </a:spcBef>
              <a:buFont typeface="Courier New"/>
              <a:buChar char="o"/>
              <a:tabLst>
                <a:tab pos="579952" algn="l"/>
              </a:tabLst>
            </a:pPr>
            <a:r>
              <a:rPr sz="1867" i="1" dirty="0">
                <a:solidFill>
                  <a:srgbClr val="FFFFFF"/>
                </a:solidFill>
                <a:latin typeface="Calibri"/>
                <a:cs typeface="Calibri"/>
              </a:rPr>
              <a:t>"Quickly</a:t>
            </a:r>
            <a:r>
              <a:rPr sz="1867" i="1" spc="-100" dirty="0">
                <a:solidFill>
                  <a:srgbClr val="FFFFFF"/>
                </a:solidFill>
                <a:latin typeface="Calibri"/>
                <a:cs typeface="Calibri"/>
              </a:rPr>
              <a:t> </a:t>
            </a:r>
            <a:r>
              <a:rPr sz="1867" i="1" spc="-13" dirty="0">
                <a:solidFill>
                  <a:srgbClr val="FFFFFF"/>
                </a:solidFill>
                <a:latin typeface="Calibri"/>
                <a:cs typeface="Calibri"/>
              </a:rPr>
              <a:t>extract"</a:t>
            </a:r>
            <a:endParaRPr sz="1867">
              <a:latin typeface="Calibri"/>
              <a:cs typeface="Calibri"/>
            </a:endParaRPr>
          </a:p>
          <a:p>
            <a:pPr marL="579952" indent="-457189">
              <a:spcBef>
                <a:spcPts val="1120"/>
              </a:spcBef>
              <a:buFont typeface="Courier New"/>
              <a:buChar char="o"/>
              <a:tabLst>
                <a:tab pos="579952" algn="l"/>
              </a:tabLst>
            </a:pPr>
            <a:r>
              <a:rPr sz="1867" dirty="0">
                <a:solidFill>
                  <a:srgbClr val="FFFFFF"/>
                </a:solidFill>
                <a:latin typeface="Calibri"/>
                <a:cs typeface="Calibri"/>
              </a:rPr>
              <a:t>Move</a:t>
            </a:r>
            <a:r>
              <a:rPr sz="1867" spc="-53" dirty="0">
                <a:solidFill>
                  <a:srgbClr val="FFFFFF"/>
                </a:solidFill>
                <a:latin typeface="Calibri"/>
                <a:cs typeface="Calibri"/>
              </a:rPr>
              <a:t> </a:t>
            </a:r>
            <a:r>
              <a:rPr sz="1867" dirty="0">
                <a:solidFill>
                  <a:srgbClr val="FFFFFF"/>
                </a:solidFill>
                <a:latin typeface="Calibri"/>
                <a:cs typeface="Calibri"/>
              </a:rPr>
              <a:t>the</a:t>
            </a:r>
            <a:r>
              <a:rPr sz="1867" spc="-40" dirty="0">
                <a:solidFill>
                  <a:srgbClr val="FFFFFF"/>
                </a:solidFill>
                <a:latin typeface="Calibri"/>
                <a:cs typeface="Calibri"/>
              </a:rPr>
              <a:t> </a:t>
            </a:r>
            <a:r>
              <a:rPr sz="1867" dirty="0">
                <a:solidFill>
                  <a:srgbClr val="FFFFFF"/>
                </a:solidFill>
                <a:latin typeface="Calibri"/>
                <a:cs typeface="Calibri"/>
              </a:rPr>
              <a:t>data</a:t>
            </a:r>
            <a:r>
              <a:rPr sz="1867" spc="-27" dirty="0">
                <a:solidFill>
                  <a:srgbClr val="FFFFFF"/>
                </a:solidFill>
                <a:latin typeface="Calibri"/>
                <a:cs typeface="Calibri"/>
              </a:rPr>
              <a:t> </a:t>
            </a:r>
            <a:r>
              <a:rPr sz="1867" dirty="0">
                <a:solidFill>
                  <a:srgbClr val="FFFFFF"/>
                </a:solidFill>
                <a:latin typeface="Calibri"/>
                <a:cs typeface="Calibri"/>
              </a:rPr>
              <a:t>into</a:t>
            </a:r>
            <a:r>
              <a:rPr sz="1867" spc="-27" dirty="0">
                <a:solidFill>
                  <a:srgbClr val="FFFFFF"/>
                </a:solidFill>
                <a:latin typeface="Calibri"/>
                <a:cs typeface="Calibri"/>
              </a:rPr>
              <a:t> </a:t>
            </a:r>
            <a:r>
              <a:rPr sz="1867" dirty="0">
                <a:solidFill>
                  <a:srgbClr val="FFFFFF"/>
                </a:solidFill>
                <a:latin typeface="Calibri"/>
                <a:cs typeface="Calibri"/>
              </a:rPr>
              <a:t>relational</a:t>
            </a:r>
            <a:r>
              <a:rPr sz="1867" spc="-40" dirty="0">
                <a:solidFill>
                  <a:srgbClr val="FFFFFF"/>
                </a:solidFill>
                <a:latin typeface="Calibri"/>
                <a:cs typeface="Calibri"/>
              </a:rPr>
              <a:t> </a:t>
            </a:r>
            <a:r>
              <a:rPr sz="1867" spc="-13" dirty="0">
                <a:solidFill>
                  <a:srgbClr val="FFFFFF"/>
                </a:solidFill>
                <a:latin typeface="Calibri"/>
                <a:cs typeface="Calibri"/>
              </a:rPr>
              <a:t>database</a:t>
            </a:r>
            <a:endParaRPr sz="1867">
              <a:latin typeface="Calibri"/>
              <a:cs typeface="Calibri"/>
            </a:endParaRPr>
          </a:p>
          <a:p>
            <a:pPr marL="579952" indent="-457189">
              <a:spcBef>
                <a:spcPts val="1120"/>
              </a:spcBef>
              <a:buFont typeface="Courier New"/>
              <a:buChar char="o"/>
              <a:tabLst>
                <a:tab pos="579952" algn="l"/>
              </a:tabLst>
            </a:pPr>
            <a:r>
              <a:rPr sz="1867" dirty="0">
                <a:solidFill>
                  <a:srgbClr val="FFFFFF"/>
                </a:solidFill>
                <a:latin typeface="Calibri"/>
                <a:cs typeface="Calibri"/>
              </a:rPr>
              <a:t>Start</a:t>
            </a:r>
            <a:r>
              <a:rPr sz="1867" spc="-7" dirty="0">
                <a:solidFill>
                  <a:srgbClr val="FFFFFF"/>
                </a:solidFill>
                <a:latin typeface="Calibri"/>
                <a:cs typeface="Calibri"/>
              </a:rPr>
              <a:t> </a:t>
            </a:r>
            <a:r>
              <a:rPr sz="1867" spc="-13" dirty="0">
                <a:solidFill>
                  <a:srgbClr val="FFFFFF"/>
                </a:solidFill>
                <a:latin typeface="Calibri"/>
                <a:cs typeface="Calibri"/>
              </a:rPr>
              <a:t>transformations</a:t>
            </a:r>
            <a:r>
              <a:rPr sz="1867" spc="-7" dirty="0">
                <a:solidFill>
                  <a:srgbClr val="FFFFFF"/>
                </a:solidFill>
                <a:latin typeface="Calibri"/>
                <a:cs typeface="Calibri"/>
              </a:rPr>
              <a:t> </a:t>
            </a:r>
            <a:r>
              <a:rPr sz="1867" dirty="0">
                <a:solidFill>
                  <a:srgbClr val="FFFFFF"/>
                </a:solidFill>
                <a:latin typeface="Calibri"/>
                <a:cs typeface="Calibri"/>
              </a:rPr>
              <a:t>from</a:t>
            </a:r>
            <a:r>
              <a:rPr sz="1867" spc="-40" dirty="0">
                <a:solidFill>
                  <a:srgbClr val="FFFFFF"/>
                </a:solidFill>
                <a:latin typeface="Calibri"/>
                <a:cs typeface="Calibri"/>
              </a:rPr>
              <a:t> </a:t>
            </a:r>
            <a:r>
              <a:rPr sz="1867" spc="-13" dirty="0">
                <a:solidFill>
                  <a:srgbClr val="FFFFFF"/>
                </a:solidFill>
                <a:latin typeface="Calibri"/>
                <a:cs typeface="Calibri"/>
              </a:rPr>
              <a:t>there</a:t>
            </a:r>
            <a:endParaRPr sz="1867">
              <a:latin typeface="Calibri"/>
              <a:cs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556168" y="383228"/>
            <a:ext cx="6054971"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Data</a:t>
            </a:r>
            <a:r>
              <a:rPr spc="-33" dirty="0">
                <a:solidFill>
                  <a:schemeClr val="bg1"/>
                </a:solidFill>
                <a:latin typeface="+mn-lt"/>
              </a:rPr>
              <a:t> </a:t>
            </a:r>
            <a:r>
              <a:rPr dirty="0">
                <a:solidFill>
                  <a:schemeClr val="bg1"/>
                </a:solidFill>
                <a:latin typeface="+mn-lt"/>
              </a:rPr>
              <a:t>Warehouse</a:t>
            </a:r>
            <a:r>
              <a:rPr spc="-60" dirty="0">
                <a:solidFill>
                  <a:schemeClr val="bg1"/>
                </a:solidFill>
                <a:latin typeface="+mn-lt"/>
              </a:rPr>
              <a:t> </a:t>
            </a:r>
            <a:r>
              <a:rPr spc="-13" dirty="0">
                <a:solidFill>
                  <a:schemeClr val="bg1"/>
                </a:solidFill>
                <a:latin typeface="+mn-lt"/>
              </a:rPr>
              <a:t>Layers</a:t>
            </a:r>
          </a:p>
        </p:txBody>
      </p:sp>
      <p:sp>
        <p:nvSpPr>
          <p:cNvPr id="4" name="object 4"/>
          <p:cNvSpPr/>
          <p:nvPr/>
        </p:nvSpPr>
        <p:spPr>
          <a:xfrm>
            <a:off x="2005465" y="2004314"/>
            <a:ext cx="1137920" cy="799253"/>
          </a:xfrm>
          <a:custGeom>
            <a:avLst/>
            <a:gdLst/>
            <a:ahLst/>
            <a:cxnLst/>
            <a:rect l="l" t="t" r="r" b="b"/>
            <a:pathLst>
              <a:path w="853439" h="599439">
                <a:moveTo>
                  <a:pt x="853440" y="0"/>
                </a:moveTo>
                <a:lnTo>
                  <a:pt x="0" y="0"/>
                </a:lnTo>
                <a:lnTo>
                  <a:pt x="0" y="63576"/>
                </a:lnTo>
                <a:lnTo>
                  <a:pt x="0" y="191998"/>
                </a:lnTo>
                <a:lnTo>
                  <a:pt x="0" y="598868"/>
                </a:lnTo>
                <a:lnTo>
                  <a:pt x="853440" y="598868"/>
                </a:lnTo>
                <a:lnTo>
                  <a:pt x="853440" y="363651"/>
                </a:lnTo>
                <a:lnTo>
                  <a:pt x="789406" y="363651"/>
                </a:lnTo>
                <a:lnTo>
                  <a:pt x="789406" y="406882"/>
                </a:lnTo>
                <a:lnTo>
                  <a:pt x="789406" y="534022"/>
                </a:lnTo>
                <a:lnTo>
                  <a:pt x="576059" y="534022"/>
                </a:lnTo>
                <a:lnTo>
                  <a:pt x="576059" y="406882"/>
                </a:lnTo>
                <a:lnTo>
                  <a:pt x="789406" y="406882"/>
                </a:lnTo>
                <a:lnTo>
                  <a:pt x="789406" y="363651"/>
                </a:lnTo>
                <a:lnTo>
                  <a:pt x="533387" y="363651"/>
                </a:lnTo>
                <a:lnTo>
                  <a:pt x="533387" y="406882"/>
                </a:lnTo>
                <a:lnTo>
                  <a:pt x="533387" y="534022"/>
                </a:lnTo>
                <a:lnTo>
                  <a:pt x="320027" y="534022"/>
                </a:lnTo>
                <a:lnTo>
                  <a:pt x="320027" y="406882"/>
                </a:lnTo>
                <a:lnTo>
                  <a:pt x="533387" y="406882"/>
                </a:lnTo>
                <a:lnTo>
                  <a:pt x="533387" y="363651"/>
                </a:lnTo>
                <a:lnTo>
                  <a:pt x="277355" y="363651"/>
                </a:lnTo>
                <a:lnTo>
                  <a:pt x="277355" y="406882"/>
                </a:lnTo>
                <a:lnTo>
                  <a:pt x="277355" y="534022"/>
                </a:lnTo>
                <a:lnTo>
                  <a:pt x="64008" y="534022"/>
                </a:lnTo>
                <a:lnTo>
                  <a:pt x="64008" y="406882"/>
                </a:lnTo>
                <a:lnTo>
                  <a:pt x="277355" y="406882"/>
                </a:lnTo>
                <a:lnTo>
                  <a:pt x="277355" y="363651"/>
                </a:lnTo>
                <a:lnTo>
                  <a:pt x="64008" y="363651"/>
                </a:lnTo>
                <a:lnTo>
                  <a:pt x="64008" y="235229"/>
                </a:lnTo>
                <a:lnTo>
                  <a:pt x="277355" y="235229"/>
                </a:lnTo>
                <a:lnTo>
                  <a:pt x="277355" y="363474"/>
                </a:lnTo>
                <a:lnTo>
                  <a:pt x="320027" y="363474"/>
                </a:lnTo>
                <a:lnTo>
                  <a:pt x="320027" y="235229"/>
                </a:lnTo>
                <a:lnTo>
                  <a:pt x="533387" y="235229"/>
                </a:lnTo>
                <a:lnTo>
                  <a:pt x="533387" y="363474"/>
                </a:lnTo>
                <a:lnTo>
                  <a:pt x="576059" y="363474"/>
                </a:lnTo>
                <a:lnTo>
                  <a:pt x="576059" y="235229"/>
                </a:lnTo>
                <a:lnTo>
                  <a:pt x="789406" y="235229"/>
                </a:lnTo>
                <a:lnTo>
                  <a:pt x="789406" y="363474"/>
                </a:lnTo>
                <a:lnTo>
                  <a:pt x="853440" y="363474"/>
                </a:lnTo>
                <a:lnTo>
                  <a:pt x="853440" y="64071"/>
                </a:lnTo>
                <a:lnTo>
                  <a:pt x="789406" y="64071"/>
                </a:lnTo>
                <a:lnTo>
                  <a:pt x="789406" y="191998"/>
                </a:lnTo>
                <a:lnTo>
                  <a:pt x="576059" y="191998"/>
                </a:lnTo>
                <a:lnTo>
                  <a:pt x="576059" y="64071"/>
                </a:lnTo>
                <a:lnTo>
                  <a:pt x="533387" y="64071"/>
                </a:lnTo>
                <a:lnTo>
                  <a:pt x="533387" y="191998"/>
                </a:lnTo>
                <a:lnTo>
                  <a:pt x="320027" y="191998"/>
                </a:lnTo>
                <a:lnTo>
                  <a:pt x="320027" y="64071"/>
                </a:lnTo>
                <a:lnTo>
                  <a:pt x="277355" y="64071"/>
                </a:lnTo>
                <a:lnTo>
                  <a:pt x="277355" y="191998"/>
                </a:lnTo>
                <a:lnTo>
                  <a:pt x="64008" y="191998"/>
                </a:lnTo>
                <a:lnTo>
                  <a:pt x="64008" y="63576"/>
                </a:lnTo>
                <a:lnTo>
                  <a:pt x="853440" y="63576"/>
                </a:lnTo>
                <a:lnTo>
                  <a:pt x="853440" y="0"/>
                </a:lnTo>
                <a:close/>
              </a:path>
            </a:pathLst>
          </a:custGeom>
          <a:solidFill>
            <a:srgbClr val="BCBCBC"/>
          </a:solidFill>
        </p:spPr>
        <p:txBody>
          <a:bodyPr wrap="square" lIns="0" tIns="0" rIns="0" bIns="0" rtlCol="0"/>
          <a:lstStyle/>
          <a:p>
            <a:endParaRPr sz="2400"/>
          </a:p>
        </p:txBody>
      </p:sp>
      <p:sp>
        <p:nvSpPr>
          <p:cNvPr id="5" name="object 5"/>
          <p:cNvSpPr txBox="1"/>
          <p:nvPr/>
        </p:nvSpPr>
        <p:spPr>
          <a:xfrm>
            <a:off x="1924474" y="4027487"/>
            <a:ext cx="3567853" cy="850532"/>
          </a:xfrm>
          <a:prstGeom prst="rect">
            <a:avLst/>
          </a:prstGeom>
        </p:spPr>
        <p:txBody>
          <a:bodyPr vert="horz" wrap="square" lIns="0" tIns="103293" rIns="0" bIns="0" rtlCol="0">
            <a:spAutoFit/>
          </a:bodyPr>
          <a:lstStyle/>
          <a:p>
            <a:pPr marL="16933">
              <a:spcBef>
                <a:spcPts val="813"/>
              </a:spcBef>
            </a:pPr>
            <a:r>
              <a:rPr sz="2133" dirty="0">
                <a:solidFill>
                  <a:srgbClr val="FFFFFF"/>
                </a:solidFill>
                <a:latin typeface="Calibri"/>
                <a:cs typeface="Calibri"/>
              </a:rPr>
              <a:t>data</a:t>
            </a:r>
            <a:r>
              <a:rPr sz="2133" spc="-33" dirty="0">
                <a:solidFill>
                  <a:srgbClr val="FFFFFF"/>
                </a:solidFill>
                <a:latin typeface="Calibri"/>
                <a:cs typeface="Calibri"/>
              </a:rPr>
              <a:t> </a:t>
            </a:r>
            <a:r>
              <a:rPr sz="2133" spc="-13" dirty="0">
                <a:solidFill>
                  <a:srgbClr val="FFFFFF"/>
                </a:solidFill>
                <a:latin typeface="Calibri"/>
                <a:cs typeface="Calibri"/>
              </a:rPr>
              <a:t>sources</a:t>
            </a:r>
            <a:endParaRPr sz="2133">
              <a:latin typeface="Calibri"/>
              <a:cs typeface="Calibri"/>
            </a:endParaRPr>
          </a:p>
          <a:p>
            <a:pPr marL="2744825">
              <a:spcBef>
                <a:spcPts val="679"/>
              </a:spcBef>
            </a:pPr>
            <a:r>
              <a:rPr sz="2133" spc="-13" dirty="0">
                <a:solidFill>
                  <a:srgbClr val="FFFFFF"/>
                </a:solidFill>
                <a:latin typeface="Calibri"/>
                <a:cs typeface="Calibri"/>
              </a:rPr>
              <a:t>Staging</a:t>
            </a:r>
            <a:endParaRPr sz="2133">
              <a:latin typeface="Calibri"/>
              <a:cs typeface="Calibri"/>
            </a:endParaRPr>
          </a:p>
        </p:txBody>
      </p:sp>
      <p:sp>
        <p:nvSpPr>
          <p:cNvPr id="6" name="object 6"/>
          <p:cNvSpPr/>
          <p:nvPr/>
        </p:nvSpPr>
        <p:spPr>
          <a:xfrm>
            <a:off x="2194916" y="2986007"/>
            <a:ext cx="781473" cy="1060027"/>
          </a:xfrm>
          <a:custGeom>
            <a:avLst/>
            <a:gdLst/>
            <a:ahLst/>
            <a:cxnLst/>
            <a:rect l="l" t="t" r="r" b="b"/>
            <a:pathLst>
              <a:path w="586105" h="795019">
                <a:moveTo>
                  <a:pt x="586003" y="543801"/>
                </a:moveTo>
                <a:lnTo>
                  <a:pt x="578231" y="562914"/>
                </a:lnTo>
                <a:lnTo>
                  <a:pt x="556107" y="580504"/>
                </a:lnTo>
                <a:lnTo>
                  <a:pt x="523227" y="595236"/>
                </a:lnTo>
                <a:lnTo>
                  <a:pt x="523227" y="690194"/>
                </a:lnTo>
                <a:lnTo>
                  <a:pt x="521716" y="698766"/>
                </a:lnTo>
                <a:lnTo>
                  <a:pt x="517461" y="705358"/>
                </a:lnTo>
                <a:lnTo>
                  <a:pt x="510857" y="709612"/>
                </a:lnTo>
                <a:lnTo>
                  <a:pt x="502297" y="711111"/>
                </a:lnTo>
                <a:lnTo>
                  <a:pt x="493725" y="709612"/>
                </a:lnTo>
                <a:lnTo>
                  <a:pt x="487121" y="705358"/>
                </a:lnTo>
                <a:lnTo>
                  <a:pt x="482866" y="698766"/>
                </a:lnTo>
                <a:lnTo>
                  <a:pt x="481368" y="690194"/>
                </a:lnTo>
                <a:lnTo>
                  <a:pt x="482866" y="681634"/>
                </a:lnTo>
                <a:lnTo>
                  <a:pt x="487121" y="675030"/>
                </a:lnTo>
                <a:lnTo>
                  <a:pt x="493725" y="670788"/>
                </a:lnTo>
                <a:lnTo>
                  <a:pt x="502297" y="669290"/>
                </a:lnTo>
                <a:lnTo>
                  <a:pt x="510857" y="670788"/>
                </a:lnTo>
                <a:lnTo>
                  <a:pt x="517461" y="675030"/>
                </a:lnTo>
                <a:lnTo>
                  <a:pt x="521716" y="681634"/>
                </a:lnTo>
                <a:lnTo>
                  <a:pt x="523227" y="690194"/>
                </a:lnTo>
                <a:lnTo>
                  <a:pt x="523227" y="595236"/>
                </a:lnTo>
                <a:lnTo>
                  <a:pt x="475983" y="609015"/>
                </a:lnTo>
                <a:lnTo>
                  <a:pt x="421563" y="618921"/>
                </a:lnTo>
                <a:lnTo>
                  <a:pt x="359981" y="625233"/>
                </a:lnTo>
                <a:lnTo>
                  <a:pt x="293001" y="627456"/>
                </a:lnTo>
                <a:lnTo>
                  <a:pt x="226034" y="625233"/>
                </a:lnTo>
                <a:lnTo>
                  <a:pt x="164439" y="618921"/>
                </a:lnTo>
                <a:lnTo>
                  <a:pt x="110032" y="609015"/>
                </a:lnTo>
                <a:lnTo>
                  <a:pt x="64579" y="596036"/>
                </a:lnTo>
                <a:lnTo>
                  <a:pt x="7772" y="562914"/>
                </a:lnTo>
                <a:lnTo>
                  <a:pt x="0" y="543801"/>
                </a:lnTo>
                <a:lnTo>
                  <a:pt x="0" y="711111"/>
                </a:lnTo>
                <a:lnTo>
                  <a:pt x="29895" y="747826"/>
                </a:lnTo>
                <a:lnTo>
                  <a:pt x="110032" y="776338"/>
                </a:lnTo>
                <a:lnTo>
                  <a:pt x="164439" y="786231"/>
                </a:lnTo>
                <a:lnTo>
                  <a:pt x="226034" y="792556"/>
                </a:lnTo>
                <a:lnTo>
                  <a:pt x="293001" y="794778"/>
                </a:lnTo>
                <a:lnTo>
                  <a:pt x="359981" y="792556"/>
                </a:lnTo>
                <a:lnTo>
                  <a:pt x="421563" y="786231"/>
                </a:lnTo>
                <a:lnTo>
                  <a:pt x="475983" y="776338"/>
                </a:lnTo>
                <a:lnTo>
                  <a:pt x="521423" y="763358"/>
                </a:lnTo>
                <a:lnTo>
                  <a:pt x="578231" y="730237"/>
                </a:lnTo>
                <a:lnTo>
                  <a:pt x="586003" y="711111"/>
                </a:lnTo>
                <a:lnTo>
                  <a:pt x="586003" y="669290"/>
                </a:lnTo>
                <a:lnTo>
                  <a:pt x="586003" y="627456"/>
                </a:lnTo>
                <a:lnTo>
                  <a:pt x="586003" y="543801"/>
                </a:lnTo>
                <a:close/>
              </a:path>
              <a:path w="586105" h="795019">
                <a:moveTo>
                  <a:pt x="586003" y="334645"/>
                </a:moveTo>
                <a:lnTo>
                  <a:pt x="578231" y="353771"/>
                </a:lnTo>
                <a:lnTo>
                  <a:pt x="556107" y="371360"/>
                </a:lnTo>
                <a:lnTo>
                  <a:pt x="523227" y="386092"/>
                </a:lnTo>
                <a:lnTo>
                  <a:pt x="523227" y="481050"/>
                </a:lnTo>
                <a:lnTo>
                  <a:pt x="521716" y="489610"/>
                </a:lnTo>
                <a:lnTo>
                  <a:pt x="517461" y="496214"/>
                </a:lnTo>
                <a:lnTo>
                  <a:pt x="510857" y="500468"/>
                </a:lnTo>
                <a:lnTo>
                  <a:pt x="502297" y="501967"/>
                </a:lnTo>
                <a:lnTo>
                  <a:pt x="493725" y="500468"/>
                </a:lnTo>
                <a:lnTo>
                  <a:pt x="487121" y="496214"/>
                </a:lnTo>
                <a:lnTo>
                  <a:pt x="482866" y="489610"/>
                </a:lnTo>
                <a:lnTo>
                  <a:pt x="481368" y="481050"/>
                </a:lnTo>
                <a:lnTo>
                  <a:pt x="482866" y="472490"/>
                </a:lnTo>
                <a:lnTo>
                  <a:pt x="487121" y="465886"/>
                </a:lnTo>
                <a:lnTo>
                  <a:pt x="493725" y="461645"/>
                </a:lnTo>
                <a:lnTo>
                  <a:pt x="502297" y="460133"/>
                </a:lnTo>
                <a:lnTo>
                  <a:pt x="510857" y="461645"/>
                </a:lnTo>
                <a:lnTo>
                  <a:pt x="517461" y="465886"/>
                </a:lnTo>
                <a:lnTo>
                  <a:pt x="521716" y="472490"/>
                </a:lnTo>
                <a:lnTo>
                  <a:pt x="523227" y="481050"/>
                </a:lnTo>
                <a:lnTo>
                  <a:pt x="523227" y="386092"/>
                </a:lnTo>
                <a:lnTo>
                  <a:pt x="475983" y="399872"/>
                </a:lnTo>
                <a:lnTo>
                  <a:pt x="421563" y="409765"/>
                </a:lnTo>
                <a:lnTo>
                  <a:pt x="359981" y="416090"/>
                </a:lnTo>
                <a:lnTo>
                  <a:pt x="293001" y="418312"/>
                </a:lnTo>
                <a:lnTo>
                  <a:pt x="226034" y="416090"/>
                </a:lnTo>
                <a:lnTo>
                  <a:pt x="164439" y="409765"/>
                </a:lnTo>
                <a:lnTo>
                  <a:pt x="110032" y="399872"/>
                </a:lnTo>
                <a:lnTo>
                  <a:pt x="64579" y="386892"/>
                </a:lnTo>
                <a:lnTo>
                  <a:pt x="7772" y="353771"/>
                </a:lnTo>
                <a:lnTo>
                  <a:pt x="0" y="334645"/>
                </a:lnTo>
                <a:lnTo>
                  <a:pt x="0" y="501967"/>
                </a:lnTo>
                <a:lnTo>
                  <a:pt x="29895" y="538670"/>
                </a:lnTo>
                <a:lnTo>
                  <a:pt x="110032" y="567182"/>
                </a:lnTo>
                <a:lnTo>
                  <a:pt x="164439" y="577088"/>
                </a:lnTo>
                <a:lnTo>
                  <a:pt x="226034" y="583399"/>
                </a:lnTo>
                <a:lnTo>
                  <a:pt x="293001" y="585622"/>
                </a:lnTo>
                <a:lnTo>
                  <a:pt x="359981" y="583399"/>
                </a:lnTo>
                <a:lnTo>
                  <a:pt x="421563" y="577088"/>
                </a:lnTo>
                <a:lnTo>
                  <a:pt x="475983" y="567182"/>
                </a:lnTo>
                <a:lnTo>
                  <a:pt x="521423" y="554215"/>
                </a:lnTo>
                <a:lnTo>
                  <a:pt x="578231" y="521093"/>
                </a:lnTo>
                <a:lnTo>
                  <a:pt x="586003" y="501967"/>
                </a:lnTo>
                <a:lnTo>
                  <a:pt x="586003" y="460133"/>
                </a:lnTo>
                <a:lnTo>
                  <a:pt x="586003" y="418312"/>
                </a:lnTo>
                <a:lnTo>
                  <a:pt x="586003" y="334645"/>
                </a:lnTo>
                <a:close/>
              </a:path>
              <a:path w="586105" h="795019">
                <a:moveTo>
                  <a:pt x="586003" y="125501"/>
                </a:moveTo>
                <a:lnTo>
                  <a:pt x="578231" y="144627"/>
                </a:lnTo>
                <a:lnTo>
                  <a:pt x="556107" y="162204"/>
                </a:lnTo>
                <a:lnTo>
                  <a:pt x="523227" y="176949"/>
                </a:lnTo>
                <a:lnTo>
                  <a:pt x="523227" y="271907"/>
                </a:lnTo>
                <a:lnTo>
                  <a:pt x="521716" y="280466"/>
                </a:lnTo>
                <a:lnTo>
                  <a:pt x="517461" y="287070"/>
                </a:lnTo>
                <a:lnTo>
                  <a:pt x="510857" y="291312"/>
                </a:lnTo>
                <a:lnTo>
                  <a:pt x="502297" y="292823"/>
                </a:lnTo>
                <a:lnTo>
                  <a:pt x="493725" y="291312"/>
                </a:lnTo>
                <a:lnTo>
                  <a:pt x="487121" y="287070"/>
                </a:lnTo>
                <a:lnTo>
                  <a:pt x="482866" y="280466"/>
                </a:lnTo>
                <a:lnTo>
                  <a:pt x="481368" y="271907"/>
                </a:lnTo>
                <a:lnTo>
                  <a:pt x="482866" y="263347"/>
                </a:lnTo>
                <a:lnTo>
                  <a:pt x="487121" y="256743"/>
                </a:lnTo>
                <a:lnTo>
                  <a:pt x="493725" y="252488"/>
                </a:lnTo>
                <a:lnTo>
                  <a:pt x="502297" y="250990"/>
                </a:lnTo>
                <a:lnTo>
                  <a:pt x="510857" y="252488"/>
                </a:lnTo>
                <a:lnTo>
                  <a:pt x="517461" y="256743"/>
                </a:lnTo>
                <a:lnTo>
                  <a:pt x="521716" y="263347"/>
                </a:lnTo>
                <a:lnTo>
                  <a:pt x="523227" y="271907"/>
                </a:lnTo>
                <a:lnTo>
                  <a:pt x="523227" y="176949"/>
                </a:lnTo>
                <a:lnTo>
                  <a:pt x="475983" y="190715"/>
                </a:lnTo>
                <a:lnTo>
                  <a:pt x="421563" y="200621"/>
                </a:lnTo>
                <a:lnTo>
                  <a:pt x="359981" y="206933"/>
                </a:lnTo>
                <a:lnTo>
                  <a:pt x="293001" y="209156"/>
                </a:lnTo>
                <a:lnTo>
                  <a:pt x="226034" y="206933"/>
                </a:lnTo>
                <a:lnTo>
                  <a:pt x="164439" y="200621"/>
                </a:lnTo>
                <a:lnTo>
                  <a:pt x="110032" y="190715"/>
                </a:lnTo>
                <a:lnTo>
                  <a:pt x="64579" y="177749"/>
                </a:lnTo>
                <a:lnTo>
                  <a:pt x="7772" y="144627"/>
                </a:lnTo>
                <a:lnTo>
                  <a:pt x="0" y="125501"/>
                </a:lnTo>
                <a:lnTo>
                  <a:pt x="0" y="292823"/>
                </a:lnTo>
                <a:lnTo>
                  <a:pt x="29895" y="329526"/>
                </a:lnTo>
                <a:lnTo>
                  <a:pt x="110032" y="358038"/>
                </a:lnTo>
                <a:lnTo>
                  <a:pt x="164439" y="367944"/>
                </a:lnTo>
                <a:lnTo>
                  <a:pt x="226034" y="374256"/>
                </a:lnTo>
                <a:lnTo>
                  <a:pt x="293001" y="376478"/>
                </a:lnTo>
                <a:lnTo>
                  <a:pt x="359981" y="374256"/>
                </a:lnTo>
                <a:lnTo>
                  <a:pt x="421563" y="367944"/>
                </a:lnTo>
                <a:lnTo>
                  <a:pt x="475983" y="358038"/>
                </a:lnTo>
                <a:lnTo>
                  <a:pt x="521423" y="345059"/>
                </a:lnTo>
                <a:lnTo>
                  <a:pt x="578231" y="311937"/>
                </a:lnTo>
                <a:lnTo>
                  <a:pt x="586003" y="292823"/>
                </a:lnTo>
                <a:lnTo>
                  <a:pt x="586003" y="250990"/>
                </a:lnTo>
                <a:lnTo>
                  <a:pt x="586003" y="209156"/>
                </a:lnTo>
                <a:lnTo>
                  <a:pt x="586003" y="125501"/>
                </a:lnTo>
                <a:close/>
              </a:path>
              <a:path w="586105" h="795019">
                <a:moveTo>
                  <a:pt x="586003" y="83667"/>
                </a:moveTo>
                <a:lnTo>
                  <a:pt x="556234" y="46875"/>
                </a:lnTo>
                <a:lnTo>
                  <a:pt x="476262" y="18376"/>
                </a:lnTo>
                <a:lnTo>
                  <a:pt x="421855" y="8496"/>
                </a:lnTo>
                <a:lnTo>
                  <a:pt x="360184" y="2209"/>
                </a:lnTo>
                <a:lnTo>
                  <a:pt x="293001" y="0"/>
                </a:lnTo>
                <a:lnTo>
                  <a:pt x="225818" y="2209"/>
                </a:lnTo>
                <a:lnTo>
                  <a:pt x="164147" y="8496"/>
                </a:lnTo>
                <a:lnTo>
                  <a:pt x="109753" y="18376"/>
                </a:lnTo>
                <a:lnTo>
                  <a:pt x="64376" y="31343"/>
                </a:lnTo>
                <a:lnTo>
                  <a:pt x="7747" y="64490"/>
                </a:lnTo>
                <a:lnTo>
                  <a:pt x="0" y="83667"/>
                </a:lnTo>
                <a:lnTo>
                  <a:pt x="7747" y="102857"/>
                </a:lnTo>
                <a:lnTo>
                  <a:pt x="64376" y="135991"/>
                </a:lnTo>
                <a:lnTo>
                  <a:pt x="109753" y="148945"/>
                </a:lnTo>
                <a:lnTo>
                  <a:pt x="164147" y="158826"/>
                </a:lnTo>
                <a:lnTo>
                  <a:pt x="225818" y="165125"/>
                </a:lnTo>
                <a:lnTo>
                  <a:pt x="293001" y="167335"/>
                </a:lnTo>
                <a:lnTo>
                  <a:pt x="360184" y="165125"/>
                </a:lnTo>
                <a:lnTo>
                  <a:pt x="421855" y="158826"/>
                </a:lnTo>
                <a:lnTo>
                  <a:pt x="476262" y="148945"/>
                </a:lnTo>
                <a:lnTo>
                  <a:pt x="521639" y="135991"/>
                </a:lnTo>
                <a:lnTo>
                  <a:pt x="578269" y="102857"/>
                </a:lnTo>
                <a:lnTo>
                  <a:pt x="586003" y="83667"/>
                </a:lnTo>
                <a:close/>
              </a:path>
            </a:pathLst>
          </a:custGeom>
          <a:solidFill>
            <a:srgbClr val="9B9B9B"/>
          </a:solidFill>
        </p:spPr>
        <p:txBody>
          <a:bodyPr wrap="square" lIns="0" tIns="0" rIns="0" bIns="0" rtlCol="0"/>
          <a:lstStyle/>
          <a:p>
            <a:endParaRPr sz="2400"/>
          </a:p>
        </p:txBody>
      </p:sp>
      <p:grpSp>
        <p:nvGrpSpPr>
          <p:cNvPr id="7" name="object 7"/>
          <p:cNvGrpSpPr/>
          <p:nvPr/>
        </p:nvGrpSpPr>
        <p:grpSpPr>
          <a:xfrm>
            <a:off x="3302001" y="1408177"/>
            <a:ext cx="2889673" cy="3113193"/>
            <a:chOff x="2476500" y="1056132"/>
            <a:chExt cx="2167255" cy="2334895"/>
          </a:xfrm>
        </p:grpSpPr>
        <p:sp>
          <p:nvSpPr>
            <p:cNvPr id="8" name="object 8"/>
            <p:cNvSpPr/>
            <p:nvPr/>
          </p:nvSpPr>
          <p:spPr>
            <a:xfrm>
              <a:off x="2910840" y="1060704"/>
              <a:ext cx="1728470" cy="2326005"/>
            </a:xfrm>
            <a:custGeom>
              <a:avLst/>
              <a:gdLst/>
              <a:ahLst/>
              <a:cxnLst/>
              <a:rect l="l" t="t" r="r" b="b"/>
              <a:pathLst>
                <a:path w="1728470" h="2326004">
                  <a:moveTo>
                    <a:pt x="0" y="288036"/>
                  </a:moveTo>
                  <a:lnTo>
                    <a:pt x="3768" y="241302"/>
                  </a:lnTo>
                  <a:lnTo>
                    <a:pt x="14679" y="196973"/>
                  </a:lnTo>
                  <a:lnTo>
                    <a:pt x="32140" y="155643"/>
                  </a:lnTo>
                  <a:lnTo>
                    <a:pt x="55558" y="117902"/>
                  </a:lnTo>
                  <a:lnTo>
                    <a:pt x="84343" y="84343"/>
                  </a:lnTo>
                  <a:lnTo>
                    <a:pt x="117902" y="55558"/>
                  </a:lnTo>
                  <a:lnTo>
                    <a:pt x="155643" y="32140"/>
                  </a:lnTo>
                  <a:lnTo>
                    <a:pt x="196973" y="14679"/>
                  </a:lnTo>
                  <a:lnTo>
                    <a:pt x="241302" y="3768"/>
                  </a:lnTo>
                  <a:lnTo>
                    <a:pt x="288036" y="0"/>
                  </a:lnTo>
                  <a:lnTo>
                    <a:pt x="1440180" y="0"/>
                  </a:lnTo>
                  <a:lnTo>
                    <a:pt x="1486913" y="3768"/>
                  </a:lnTo>
                  <a:lnTo>
                    <a:pt x="1531242" y="14679"/>
                  </a:lnTo>
                  <a:lnTo>
                    <a:pt x="1572572" y="32140"/>
                  </a:lnTo>
                  <a:lnTo>
                    <a:pt x="1610313" y="55558"/>
                  </a:lnTo>
                  <a:lnTo>
                    <a:pt x="1643872" y="84343"/>
                  </a:lnTo>
                  <a:lnTo>
                    <a:pt x="1672657" y="117902"/>
                  </a:lnTo>
                  <a:lnTo>
                    <a:pt x="1696075" y="155643"/>
                  </a:lnTo>
                  <a:lnTo>
                    <a:pt x="1713536" y="196973"/>
                  </a:lnTo>
                  <a:lnTo>
                    <a:pt x="1724447" y="241302"/>
                  </a:lnTo>
                  <a:lnTo>
                    <a:pt x="1728215" y="288036"/>
                  </a:lnTo>
                  <a:lnTo>
                    <a:pt x="1728215" y="2037588"/>
                  </a:lnTo>
                  <a:lnTo>
                    <a:pt x="1724447" y="2084321"/>
                  </a:lnTo>
                  <a:lnTo>
                    <a:pt x="1713536" y="2128650"/>
                  </a:lnTo>
                  <a:lnTo>
                    <a:pt x="1696075" y="2169980"/>
                  </a:lnTo>
                  <a:lnTo>
                    <a:pt x="1672657" y="2207721"/>
                  </a:lnTo>
                  <a:lnTo>
                    <a:pt x="1643872" y="2241280"/>
                  </a:lnTo>
                  <a:lnTo>
                    <a:pt x="1610313" y="2270065"/>
                  </a:lnTo>
                  <a:lnTo>
                    <a:pt x="1572572" y="2293483"/>
                  </a:lnTo>
                  <a:lnTo>
                    <a:pt x="1531242" y="2310944"/>
                  </a:lnTo>
                  <a:lnTo>
                    <a:pt x="1486913" y="2321855"/>
                  </a:lnTo>
                  <a:lnTo>
                    <a:pt x="1440180" y="2325624"/>
                  </a:lnTo>
                  <a:lnTo>
                    <a:pt x="288036" y="2325624"/>
                  </a:lnTo>
                  <a:lnTo>
                    <a:pt x="241302" y="2321855"/>
                  </a:lnTo>
                  <a:lnTo>
                    <a:pt x="196973" y="2310944"/>
                  </a:lnTo>
                  <a:lnTo>
                    <a:pt x="155643" y="2293483"/>
                  </a:lnTo>
                  <a:lnTo>
                    <a:pt x="117902" y="2270065"/>
                  </a:lnTo>
                  <a:lnTo>
                    <a:pt x="84343" y="2241280"/>
                  </a:lnTo>
                  <a:lnTo>
                    <a:pt x="55558" y="2207721"/>
                  </a:lnTo>
                  <a:lnTo>
                    <a:pt x="32140" y="2169980"/>
                  </a:lnTo>
                  <a:lnTo>
                    <a:pt x="14679" y="2128650"/>
                  </a:lnTo>
                  <a:lnTo>
                    <a:pt x="3768" y="2084321"/>
                  </a:lnTo>
                  <a:lnTo>
                    <a:pt x="0" y="2037588"/>
                  </a:lnTo>
                  <a:lnTo>
                    <a:pt x="0" y="288036"/>
                  </a:lnTo>
                  <a:close/>
                </a:path>
              </a:pathLst>
            </a:custGeom>
            <a:ln w="9144">
              <a:solidFill>
                <a:srgbClr val="00C3FF"/>
              </a:solidFill>
            </a:ln>
          </p:spPr>
          <p:txBody>
            <a:bodyPr wrap="square" lIns="0" tIns="0" rIns="0" bIns="0" rtlCol="0"/>
            <a:lstStyle/>
            <a:p>
              <a:endParaRPr sz="2400"/>
            </a:p>
          </p:txBody>
        </p:sp>
        <p:sp>
          <p:nvSpPr>
            <p:cNvPr id="9" name="object 9"/>
            <p:cNvSpPr/>
            <p:nvPr/>
          </p:nvSpPr>
          <p:spPr>
            <a:xfrm>
              <a:off x="2489453" y="1739646"/>
              <a:ext cx="524510" cy="167640"/>
            </a:xfrm>
            <a:custGeom>
              <a:avLst/>
              <a:gdLst/>
              <a:ahLst/>
              <a:cxnLst/>
              <a:rect l="l" t="t" r="r" b="b"/>
              <a:pathLst>
                <a:path w="524510" h="167639">
                  <a:moveTo>
                    <a:pt x="440435" y="0"/>
                  </a:moveTo>
                  <a:lnTo>
                    <a:pt x="440435" y="41909"/>
                  </a:lnTo>
                  <a:lnTo>
                    <a:pt x="0" y="41909"/>
                  </a:lnTo>
                  <a:lnTo>
                    <a:pt x="0" y="125729"/>
                  </a:lnTo>
                  <a:lnTo>
                    <a:pt x="440435" y="125729"/>
                  </a:lnTo>
                  <a:lnTo>
                    <a:pt x="440435" y="167639"/>
                  </a:lnTo>
                  <a:lnTo>
                    <a:pt x="524256" y="83819"/>
                  </a:lnTo>
                  <a:lnTo>
                    <a:pt x="440435" y="0"/>
                  </a:lnTo>
                  <a:close/>
                </a:path>
              </a:pathLst>
            </a:custGeom>
            <a:solidFill>
              <a:srgbClr val="00C3FF"/>
            </a:solidFill>
          </p:spPr>
          <p:txBody>
            <a:bodyPr wrap="square" lIns="0" tIns="0" rIns="0" bIns="0" rtlCol="0"/>
            <a:lstStyle/>
            <a:p>
              <a:endParaRPr sz="2400"/>
            </a:p>
          </p:txBody>
        </p:sp>
        <p:sp>
          <p:nvSpPr>
            <p:cNvPr id="10" name="object 10"/>
            <p:cNvSpPr/>
            <p:nvPr/>
          </p:nvSpPr>
          <p:spPr>
            <a:xfrm>
              <a:off x="2489453" y="1739646"/>
              <a:ext cx="524510" cy="167640"/>
            </a:xfrm>
            <a:custGeom>
              <a:avLst/>
              <a:gdLst/>
              <a:ahLst/>
              <a:cxnLst/>
              <a:rect l="l" t="t" r="r" b="b"/>
              <a:pathLst>
                <a:path w="524510" h="167639">
                  <a:moveTo>
                    <a:pt x="0" y="41909"/>
                  </a:moveTo>
                  <a:lnTo>
                    <a:pt x="440435" y="41909"/>
                  </a:lnTo>
                  <a:lnTo>
                    <a:pt x="440435" y="0"/>
                  </a:lnTo>
                  <a:lnTo>
                    <a:pt x="524256" y="83819"/>
                  </a:lnTo>
                  <a:lnTo>
                    <a:pt x="440435" y="167639"/>
                  </a:lnTo>
                  <a:lnTo>
                    <a:pt x="440435" y="125729"/>
                  </a:lnTo>
                  <a:lnTo>
                    <a:pt x="0" y="125729"/>
                  </a:lnTo>
                  <a:lnTo>
                    <a:pt x="0" y="41909"/>
                  </a:lnTo>
                  <a:close/>
                </a:path>
              </a:pathLst>
            </a:custGeom>
            <a:ln w="25907">
              <a:solidFill>
                <a:srgbClr val="008FBB"/>
              </a:solidFill>
            </a:ln>
          </p:spPr>
          <p:txBody>
            <a:bodyPr wrap="square" lIns="0" tIns="0" rIns="0" bIns="0" rtlCol="0"/>
            <a:lstStyle/>
            <a:p>
              <a:endParaRPr sz="2400"/>
            </a:p>
          </p:txBody>
        </p:sp>
        <p:sp>
          <p:nvSpPr>
            <p:cNvPr id="11" name="object 11"/>
            <p:cNvSpPr/>
            <p:nvPr/>
          </p:nvSpPr>
          <p:spPr>
            <a:xfrm>
              <a:off x="2489453" y="2526030"/>
              <a:ext cx="524510" cy="167640"/>
            </a:xfrm>
            <a:custGeom>
              <a:avLst/>
              <a:gdLst/>
              <a:ahLst/>
              <a:cxnLst/>
              <a:rect l="l" t="t" r="r" b="b"/>
              <a:pathLst>
                <a:path w="524510" h="167639">
                  <a:moveTo>
                    <a:pt x="440435" y="0"/>
                  </a:moveTo>
                  <a:lnTo>
                    <a:pt x="440435" y="41909"/>
                  </a:lnTo>
                  <a:lnTo>
                    <a:pt x="0" y="41909"/>
                  </a:lnTo>
                  <a:lnTo>
                    <a:pt x="0" y="125730"/>
                  </a:lnTo>
                  <a:lnTo>
                    <a:pt x="440435" y="125730"/>
                  </a:lnTo>
                  <a:lnTo>
                    <a:pt x="440435" y="167639"/>
                  </a:lnTo>
                  <a:lnTo>
                    <a:pt x="524256" y="83819"/>
                  </a:lnTo>
                  <a:lnTo>
                    <a:pt x="440435" y="0"/>
                  </a:lnTo>
                  <a:close/>
                </a:path>
              </a:pathLst>
            </a:custGeom>
            <a:solidFill>
              <a:srgbClr val="00C3FF"/>
            </a:solidFill>
          </p:spPr>
          <p:txBody>
            <a:bodyPr wrap="square" lIns="0" tIns="0" rIns="0" bIns="0" rtlCol="0"/>
            <a:lstStyle/>
            <a:p>
              <a:endParaRPr sz="2400"/>
            </a:p>
          </p:txBody>
        </p:sp>
        <p:sp>
          <p:nvSpPr>
            <p:cNvPr id="12" name="object 12"/>
            <p:cNvSpPr/>
            <p:nvPr/>
          </p:nvSpPr>
          <p:spPr>
            <a:xfrm>
              <a:off x="2489453" y="2526030"/>
              <a:ext cx="524510" cy="167640"/>
            </a:xfrm>
            <a:custGeom>
              <a:avLst/>
              <a:gdLst/>
              <a:ahLst/>
              <a:cxnLst/>
              <a:rect l="l" t="t" r="r" b="b"/>
              <a:pathLst>
                <a:path w="524510" h="167639">
                  <a:moveTo>
                    <a:pt x="0" y="41909"/>
                  </a:moveTo>
                  <a:lnTo>
                    <a:pt x="440435" y="41909"/>
                  </a:lnTo>
                  <a:lnTo>
                    <a:pt x="440435" y="0"/>
                  </a:lnTo>
                  <a:lnTo>
                    <a:pt x="524256" y="83819"/>
                  </a:lnTo>
                  <a:lnTo>
                    <a:pt x="440435" y="167639"/>
                  </a:lnTo>
                  <a:lnTo>
                    <a:pt x="440435" y="125730"/>
                  </a:lnTo>
                  <a:lnTo>
                    <a:pt x="0" y="125730"/>
                  </a:lnTo>
                  <a:lnTo>
                    <a:pt x="0" y="41909"/>
                  </a:lnTo>
                  <a:close/>
                </a:path>
              </a:pathLst>
            </a:custGeom>
            <a:ln w="25907">
              <a:solidFill>
                <a:srgbClr val="008FBB"/>
              </a:solidFill>
            </a:ln>
          </p:spPr>
          <p:txBody>
            <a:bodyPr wrap="square" lIns="0" tIns="0" rIns="0" bIns="0" rtlCol="0"/>
            <a:lstStyle/>
            <a:p>
              <a:endParaRPr sz="2400"/>
            </a:p>
          </p:txBody>
        </p:sp>
      </p:grpSp>
      <p:graphicFrame>
        <p:nvGraphicFramePr>
          <p:cNvPr id="13" name="object 13"/>
          <p:cNvGraphicFramePr>
            <a:graphicFrameLocks noGrp="1"/>
          </p:cNvGraphicFramePr>
          <p:nvPr/>
        </p:nvGraphicFramePr>
        <p:xfrm>
          <a:off x="4199909" y="1836357"/>
          <a:ext cx="791632" cy="532554"/>
        </p:xfrm>
        <a:graphic>
          <a:graphicData uri="http://schemas.openxmlformats.org/drawingml/2006/table">
            <a:tbl>
              <a:tblPr firstRow="1" bandRow="1">
                <a:tableStyleId>{2D5ABB26-0587-4C30-8999-92F81FD0307C}</a:tableStyleId>
              </a:tblPr>
              <a:tblGrid>
                <a:gridCol w="267547">
                  <a:extLst>
                    <a:ext uri="{9D8B030D-6E8A-4147-A177-3AD203B41FA5}">
                      <a16:colId xmlns:a16="http://schemas.microsoft.com/office/drawing/2014/main" val="20000"/>
                    </a:ext>
                  </a:extLst>
                </a:gridCol>
                <a:gridCol w="256540">
                  <a:extLst>
                    <a:ext uri="{9D8B030D-6E8A-4147-A177-3AD203B41FA5}">
                      <a16:colId xmlns:a16="http://schemas.microsoft.com/office/drawing/2014/main" val="20001"/>
                    </a:ext>
                  </a:extLst>
                </a:gridCol>
                <a:gridCol w="267545">
                  <a:extLst>
                    <a:ext uri="{9D8B030D-6E8A-4147-A177-3AD203B41FA5}">
                      <a16:colId xmlns:a16="http://schemas.microsoft.com/office/drawing/2014/main" val="20002"/>
                    </a:ext>
                  </a:extLst>
                </a:gridCol>
              </a:tblGrid>
              <a:tr h="181187">
                <a:tc>
                  <a:txBody>
                    <a:bodyPr/>
                    <a:lstStyle/>
                    <a:p>
                      <a:pPr>
                        <a:lnSpc>
                          <a:spcPct val="100000"/>
                        </a:lnSpc>
                      </a:pPr>
                      <a:endParaRPr sz="900">
                        <a:latin typeface="Times New Roman"/>
                        <a:cs typeface="Times New Roman"/>
                      </a:endParaRPr>
                    </a:p>
                  </a:txBody>
                  <a:tcPr marL="0" marR="0" marT="0" marB="0">
                    <a:lnL w="5715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57150">
                      <a:solidFill>
                        <a:srgbClr val="BCBCBC"/>
                      </a:solidFill>
                      <a:prstDash val="solid"/>
                    </a:lnR>
                    <a:lnT w="57150">
                      <a:solidFill>
                        <a:srgbClr val="BCBCBC"/>
                      </a:solidFill>
                      <a:prstDash val="solid"/>
                    </a:lnT>
                    <a:lnB w="38100">
                      <a:solidFill>
                        <a:srgbClr val="BCBCBC"/>
                      </a:solidFill>
                      <a:prstDash val="solid"/>
                    </a:lnB>
                  </a:tcPr>
                </a:tc>
                <a:extLst>
                  <a:ext uri="{0D108BD9-81ED-4DB2-BD59-A6C34878D82A}">
                    <a16:rowId xmlns:a16="http://schemas.microsoft.com/office/drawing/2014/main" val="10000"/>
                  </a:ext>
                </a:extLst>
              </a:tr>
              <a:tr h="171027">
                <a:tc>
                  <a:txBody>
                    <a:bodyPr/>
                    <a:lstStyle/>
                    <a:p>
                      <a:pPr>
                        <a:lnSpc>
                          <a:spcPct val="100000"/>
                        </a:lnSpc>
                      </a:pPr>
                      <a:endParaRPr sz="9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38100">
                      <a:solidFill>
                        <a:srgbClr val="BCBCBC"/>
                      </a:solidFill>
                      <a:prstDash val="solid"/>
                    </a:lnB>
                  </a:tcPr>
                </a:tc>
                <a:extLst>
                  <a:ext uri="{0D108BD9-81ED-4DB2-BD59-A6C34878D82A}">
                    <a16:rowId xmlns:a16="http://schemas.microsoft.com/office/drawing/2014/main" val="10001"/>
                  </a:ext>
                </a:extLst>
              </a:tr>
              <a:tr h="180340">
                <a:tc>
                  <a:txBody>
                    <a:bodyPr/>
                    <a:lstStyle/>
                    <a:p>
                      <a:pPr>
                        <a:lnSpc>
                          <a:spcPct val="100000"/>
                        </a:lnSpc>
                      </a:pPr>
                      <a:endParaRPr sz="9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57150">
                      <a:solidFill>
                        <a:srgbClr val="BCBCBC"/>
                      </a:solidFill>
                      <a:prstDash val="solid"/>
                    </a:lnB>
                  </a:tcPr>
                </a:tc>
                <a:extLst>
                  <a:ext uri="{0D108BD9-81ED-4DB2-BD59-A6C34878D82A}">
                    <a16:rowId xmlns:a16="http://schemas.microsoft.com/office/drawing/2014/main" val="10002"/>
                  </a:ext>
                </a:extLst>
              </a:tr>
            </a:tbl>
          </a:graphicData>
        </a:graphic>
      </p:graphicFrame>
      <p:graphicFrame>
        <p:nvGraphicFramePr>
          <p:cNvPr id="14" name="object 14"/>
          <p:cNvGraphicFramePr>
            <a:graphicFrameLocks noGrp="1"/>
          </p:cNvGraphicFramePr>
          <p:nvPr/>
        </p:nvGraphicFramePr>
        <p:xfrm>
          <a:off x="4561605" y="3542440"/>
          <a:ext cx="791632" cy="535093"/>
        </p:xfrm>
        <a:graphic>
          <a:graphicData uri="http://schemas.openxmlformats.org/drawingml/2006/table">
            <a:tbl>
              <a:tblPr firstRow="1" bandRow="1">
                <a:tableStyleId>{2D5ABB26-0587-4C30-8999-92F81FD0307C}</a:tableStyleId>
              </a:tblPr>
              <a:tblGrid>
                <a:gridCol w="267547">
                  <a:extLst>
                    <a:ext uri="{9D8B030D-6E8A-4147-A177-3AD203B41FA5}">
                      <a16:colId xmlns:a16="http://schemas.microsoft.com/office/drawing/2014/main" val="20000"/>
                    </a:ext>
                  </a:extLst>
                </a:gridCol>
                <a:gridCol w="256540">
                  <a:extLst>
                    <a:ext uri="{9D8B030D-6E8A-4147-A177-3AD203B41FA5}">
                      <a16:colId xmlns:a16="http://schemas.microsoft.com/office/drawing/2014/main" val="20001"/>
                    </a:ext>
                  </a:extLst>
                </a:gridCol>
                <a:gridCol w="267545">
                  <a:extLst>
                    <a:ext uri="{9D8B030D-6E8A-4147-A177-3AD203B41FA5}">
                      <a16:colId xmlns:a16="http://schemas.microsoft.com/office/drawing/2014/main" val="20002"/>
                    </a:ext>
                  </a:extLst>
                </a:gridCol>
              </a:tblGrid>
              <a:tr h="182033">
                <a:tc>
                  <a:txBody>
                    <a:bodyPr/>
                    <a:lstStyle/>
                    <a:p>
                      <a:pPr>
                        <a:lnSpc>
                          <a:spcPct val="100000"/>
                        </a:lnSpc>
                      </a:pPr>
                      <a:endParaRPr sz="900">
                        <a:latin typeface="Times New Roman"/>
                        <a:cs typeface="Times New Roman"/>
                      </a:endParaRPr>
                    </a:p>
                  </a:txBody>
                  <a:tcPr marL="0" marR="0" marT="0" marB="0">
                    <a:lnL w="5715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57150">
                      <a:solidFill>
                        <a:srgbClr val="BCBCBC"/>
                      </a:solidFill>
                      <a:prstDash val="solid"/>
                    </a:lnR>
                    <a:lnT w="57150">
                      <a:solidFill>
                        <a:srgbClr val="BCBCBC"/>
                      </a:solidFill>
                      <a:prstDash val="solid"/>
                    </a:lnT>
                    <a:lnB w="38100">
                      <a:solidFill>
                        <a:srgbClr val="BCBCBC"/>
                      </a:solidFill>
                      <a:prstDash val="solid"/>
                    </a:lnB>
                  </a:tcPr>
                </a:tc>
                <a:extLst>
                  <a:ext uri="{0D108BD9-81ED-4DB2-BD59-A6C34878D82A}">
                    <a16:rowId xmlns:a16="http://schemas.microsoft.com/office/drawing/2014/main" val="10000"/>
                  </a:ext>
                </a:extLst>
              </a:tr>
              <a:tr h="171027">
                <a:tc>
                  <a:txBody>
                    <a:bodyPr/>
                    <a:lstStyle/>
                    <a:p>
                      <a:pPr>
                        <a:lnSpc>
                          <a:spcPct val="100000"/>
                        </a:lnSpc>
                      </a:pPr>
                      <a:endParaRPr sz="9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38100">
                      <a:solidFill>
                        <a:srgbClr val="BCBCBC"/>
                      </a:solidFill>
                      <a:prstDash val="solid"/>
                    </a:lnB>
                  </a:tcPr>
                </a:tc>
                <a:extLst>
                  <a:ext uri="{0D108BD9-81ED-4DB2-BD59-A6C34878D82A}">
                    <a16:rowId xmlns:a16="http://schemas.microsoft.com/office/drawing/2014/main" val="10001"/>
                  </a:ext>
                </a:extLst>
              </a:tr>
              <a:tr h="182033">
                <a:tc>
                  <a:txBody>
                    <a:bodyPr/>
                    <a:lstStyle/>
                    <a:p>
                      <a:pPr>
                        <a:lnSpc>
                          <a:spcPct val="100000"/>
                        </a:lnSpc>
                      </a:pPr>
                      <a:endParaRPr sz="9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57150">
                      <a:solidFill>
                        <a:srgbClr val="BCBCBC"/>
                      </a:solidFill>
                      <a:prstDash val="solid"/>
                    </a:lnB>
                  </a:tcPr>
                </a:tc>
                <a:extLst>
                  <a:ext uri="{0D108BD9-81ED-4DB2-BD59-A6C34878D82A}">
                    <a16:rowId xmlns:a16="http://schemas.microsoft.com/office/drawing/2014/main" val="10002"/>
                  </a:ext>
                </a:extLst>
              </a:tr>
            </a:tbl>
          </a:graphicData>
        </a:graphic>
      </p:graphicFrame>
      <p:graphicFrame>
        <p:nvGraphicFramePr>
          <p:cNvPr id="15" name="object 15"/>
          <p:cNvGraphicFramePr>
            <a:graphicFrameLocks noGrp="1"/>
          </p:cNvGraphicFramePr>
          <p:nvPr/>
        </p:nvGraphicFramePr>
        <p:xfrm>
          <a:off x="5049105" y="2493591"/>
          <a:ext cx="791632" cy="534247"/>
        </p:xfrm>
        <a:graphic>
          <a:graphicData uri="http://schemas.openxmlformats.org/drawingml/2006/table">
            <a:tbl>
              <a:tblPr firstRow="1" bandRow="1">
                <a:tableStyleId>{2D5ABB26-0587-4C30-8999-92F81FD0307C}</a:tableStyleId>
              </a:tblPr>
              <a:tblGrid>
                <a:gridCol w="267547">
                  <a:extLst>
                    <a:ext uri="{9D8B030D-6E8A-4147-A177-3AD203B41FA5}">
                      <a16:colId xmlns:a16="http://schemas.microsoft.com/office/drawing/2014/main" val="20000"/>
                    </a:ext>
                  </a:extLst>
                </a:gridCol>
                <a:gridCol w="256540">
                  <a:extLst>
                    <a:ext uri="{9D8B030D-6E8A-4147-A177-3AD203B41FA5}">
                      <a16:colId xmlns:a16="http://schemas.microsoft.com/office/drawing/2014/main" val="20001"/>
                    </a:ext>
                  </a:extLst>
                </a:gridCol>
                <a:gridCol w="267545">
                  <a:extLst>
                    <a:ext uri="{9D8B030D-6E8A-4147-A177-3AD203B41FA5}">
                      <a16:colId xmlns:a16="http://schemas.microsoft.com/office/drawing/2014/main" val="20002"/>
                    </a:ext>
                  </a:extLst>
                </a:gridCol>
              </a:tblGrid>
              <a:tr h="182033">
                <a:tc>
                  <a:txBody>
                    <a:bodyPr/>
                    <a:lstStyle/>
                    <a:p>
                      <a:pPr>
                        <a:lnSpc>
                          <a:spcPct val="100000"/>
                        </a:lnSpc>
                      </a:pPr>
                      <a:endParaRPr sz="900">
                        <a:latin typeface="Times New Roman"/>
                        <a:cs typeface="Times New Roman"/>
                      </a:endParaRPr>
                    </a:p>
                  </a:txBody>
                  <a:tcPr marL="0" marR="0" marT="0" marB="0">
                    <a:lnL w="5715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57150">
                      <a:solidFill>
                        <a:srgbClr val="BCBCBC"/>
                      </a:solidFill>
                      <a:prstDash val="solid"/>
                    </a:lnR>
                    <a:lnT w="57150">
                      <a:solidFill>
                        <a:srgbClr val="BCBCBC"/>
                      </a:solidFill>
                      <a:prstDash val="solid"/>
                    </a:lnT>
                    <a:lnB w="38100">
                      <a:solidFill>
                        <a:srgbClr val="BCBCBC"/>
                      </a:solidFill>
                      <a:prstDash val="solid"/>
                    </a:lnB>
                  </a:tcPr>
                </a:tc>
                <a:extLst>
                  <a:ext uri="{0D108BD9-81ED-4DB2-BD59-A6C34878D82A}">
                    <a16:rowId xmlns:a16="http://schemas.microsoft.com/office/drawing/2014/main" val="10000"/>
                  </a:ext>
                </a:extLst>
              </a:tr>
              <a:tr h="171027">
                <a:tc>
                  <a:txBody>
                    <a:bodyPr/>
                    <a:lstStyle/>
                    <a:p>
                      <a:pPr>
                        <a:lnSpc>
                          <a:spcPct val="100000"/>
                        </a:lnSpc>
                      </a:pPr>
                      <a:endParaRPr sz="9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38100">
                      <a:solidFill>
                        <a:srgbClr val="BCBCBC"/>
                      </a:solidFill>
                      <a:prstDash val="solid"/>
                    </a:lnB>
                  </a:tcPr>
                </a:tc>
                <a:extLst>
                  <a:ext uri="{0D108BD9-81ED-4DB2-BD59-A6C34878D82A}">
                    <a16:rowId xmlns:a16="http://schemas.microsoft.com/office/drawing/2014/main" val="10001"/>
                  </a:ext>
                </a:extLst>
              </a:tr>
              <a:tr h="181187">
                <a:tc>
                  <a:txBody>
                    <a:bodyPr/>
                    <a:lstStyle/>
                    <a:p>
                      <a:pPr>
                        <a:lnSpc>
                          <a:spcPct val="100000"/>
                        </a:lnSpc>
                      </a:pPr>
                      <a:endParaRPr sz="9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57150">
                      <a:solidFill>
                        <a:srgbClr val="BCBCBC"/>
                      </a:solidFill>
                      <a:prstDash val="solid"/>
                    </a:lnB>
                  </a:tcPr>
                </a:tc>
                <a:extLst>
                  <a:ext uri="{0D108BD9-81ED-4DB2-BD59-A6C34878D82A}">
                    <a16:rowId xmlns:a16="http://schemas.microsoft.com/office/drawing/2014/main" val="10002"/>
                  </a:ext>
                </a:extLst>
              </a:tr>
            </a:tbl>
          </a:graphicData>
        </a:graphic>
      </p:graphicFrame>
      <p:sp>
        <p:nvSpPr>
          <p:cNvPr id="16" name="object 16"/>
          <p:cNvSpPr txBox="1"/>
          <p:nvPr/>
        </p:nvSpPr>
        <p:spPr>
          <a:xfrm>
            <a:off x="3178047" y="1556511"/>
            <a:ext cx="953347" cy="605230"/>
          </a:xfrm>
          <a:prstGeom prst="rect">
            <a:avLst/>
          </a:prstGeom>
          <a:solidFill>
            <a:srgbClr val="00C3FF">
              <a:alpha val="50195"/>
            </a:srgbClr>
          </a:solidFill>
        </p:spPr>
        <p:txBody>
          <a:bodyPr vert="horz" wrap="square" lIns="0" tIns="30480" rIns="0" bIns="0" rtlCol="0">
            <a:spAutoFit/>
          </a:bodyPr>
          <a:lstStyle/>
          <a:p>
            <a:pPr marL="237061">
              <a:spcBef>
                <a:spcPts val="240"/>
              </a:spcBef>
            </a:pPr>
            <a:r>
              <a:rPr sz="3733" b="1" spc="-33" dirty="0">
                <a:solidFill>
                  <a:srgbClr val="FFFFFF"/>
                </a:solidFill>
                <a:latin typeface="Calibri"/>
                <a:cs typeface="Calibri"/>
              </a:rPr>
              <a:t>E</a:t>
            </a:r>
            <a:r>
              <a:rPr sz="2133" b="1" spc="-33" dirty="0">
                <a:solidFill>
                  <a:srgbClr val="7E7E7E"/>
                </a:solidFill>
                <a:latin typeface="Calibri"/>
                <a:cs typeface="Calibri"/>
              </a:rPr>
              <a:t>TL</a:t>
            </a:r>
            <a:endParaRPr sz="2133">
              <a:latin typeface="Calibri"/>
              <a:cs typeface="Calibri"/>
            </a:endParaRPr>
          </a:p>
        </p:txBody>
      </p:sp>
      <p:graphicFrame>
        <p:nvGraphicFramePr>
          <p:cNvPr id="17" name="object 17"/>
          <p:cNvGraphicFramePr>
            <a:graphicFrameLocks noGrp="1"/>
          </p:cNvGraphicFramePr>
          <p:nvPr>
            <p:extLst>
              <p:ext uri="{D42A27DB-BD31-4B8C-83A1-F6EECF244321}">
                <p14:modId xmlns:p14="http://schemas.microsoft.com/office/powerpoint/2010/main" val="850957322"/>
              </p:ext>
            </p:extLst>
          </p:nvPr>
        </p:nvGraphicFramePr>
        <p:xfrm>
          <a:off x="565972" y="4669313"/>
          <a:ext cx="2990196" cy="2074451"/>
        </p:xfrm>
        <a:graphic>
          <a:graphicData uri="http://schemas.openxmlformats.org/drawingml/2006/table">
            <a:tbl>
              <a:tblPr firstRow="1" bandRow="1">
                <a:tableStyleId>{2D5ABB26-0587-4C30-8999-92F81FD0307C}</a:tableStyleId>
              </a:tblPr>
              <a:tblGrid>
                <a:gridCol w="539479">
                  <a:extLst>
                    <a:ext uri="{9D8B030D-6E8A-4147-A177-3AD203B41FA5}">
                      <a16:colId xmlns:a16="http://schemas.microsoft.com/office/drawing/2014/main" val="20000"/>
                    </a:ext>
                  </a:extLst>
                </a:gridCol>
                <a:gridCol w="662820">
                  <a:extLst>
                    <a:ext uri="{9D8B030D-6E8A-4147-A177-3AD203B41FA5}">
                      <a16:colId xmlns:a16="http://schemas.microsoft.com/office/drawing/2014/main" val="20001"/>
                    </a:ext>
                  </a:extLst>
                </a:gridCol>
                <a:gridCol w="1787897">
                  <a:extLst>
                    <a:ext uri="{9D8B030D-6E8A-4147-A177-3AD203B41FA5}">
                      <a16:colId xmlns:a16="http://schemas.microsoft.com/office/drawing/2014/main" val="20002"/>
                    </a:ext>
                  </a:extLst>
                </a:gridCol>
              </a:tblGrid>
              <a:tr h="318983">
                <a:tc>
                  <a:txBody>
                    <a:bodyPr/>
                    <a:lstStyle/>
                    <a:p>
                      <a:pPr marL="1270" algn="ctr">
                        <a:lnSpc>
                          <a:spcPct val="100000"/>
                        </a:lnSpc>
                        <a:spcBef>
                          <a:spcPts val="135"/>
                        </a:spcBef>
                      </a:pPr>
                      <a:r>
                        <a:rPr sz="1400" spc="-25" dirty="0">
                          <a:latin typeface="Arial MT"/>
                          <a:cs typeface="Arial MT"/>
                        </a:rPr>
                        <a:t>id</a:t>
                      </a:r>
                      <a:endParaRPr sz="1400" dirty="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chemeClr val="bg1">
                        <a:lumMod val="85000"/>
                      </a:schemeClr>
                    </a:solidFill>
                  </a:tcPr>
                </a:tc>
                <a:tc>
                  <a:txBody>
                    <a:bodyPr/>
                    <a:lstStyle/>
                    <a:p>
                      <a:pPr algn="ctr">
                        <a:lnSpc>
                          <a:spcPct val="100000"/>
                        </a:lnSpc>
                        <a:spcBef>
                          <a:spcPts val="135"/>
                        </a:spcBef>
                      </a:pPr>
                      <a:r>
                        <a:rPr sz="1400" spc="-20" dirty="0">
                          <a:latin typeface="Arial MT"/>
                          <a:cs typeface="Arial MT"/>
                        </a:rPr>
                        <a:t>date</a:t>
                      </a:r>
                      <a:endParaRPr sz="1400" dirty="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chemeClr val="bg1">
                        <a:lumMod val="85000"/>
                      </a:schemeClr>
                    </a:solidFill>
                  </a:tcPr>
                </a:tc>
                <a:tc>
                  <a:txBody>
                    <a:bodyPr/>
                    <a:lstStyle/>
                    <a:p>
                      <a:pPr marL="635" algn="ctr">
                        <a:lnSpc>
                          <a:spcPct val="100000"/>
                        </a:lnSpc>
                        <a:spcBef>
                          <a:spcPts val="135"/>
                        </a:spcBef>
                      </a:pPr>
                      <a:r>
                        <a:rPr sz="1400" spc="-10" dirty="0">
                          <a:latin typeface="Arial MT"/>
                          <a:cs typeface="Arial MT"/>
                        </a:rPr>
                        <a:t>product</a:t>
                      </a:r>
                      <a:endParaRPr sz="1400" dirty="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chemeClr val="bg1">
                        <a:lumMod val="85000"/>
                      </a:schemeClr>
                    </a:solidFill>
                  </a:tcPr>
                </a:tc>
                <a:extLst>
                  <a:ext uri="{0D108BD9-81ED-4DB2-BD59-A6C34878D82A}">
                    <a16:rowId xmlns:a16="http://schemas.microsoft.com/office/drawing/2014/main" val="10000"/>
                  </a:ext>
                </a:extLst>
              </a:tr>
              <a:tr h="318983">
                <a:tc>
                  <a:txBody>
                    <a:bodyPr/>
                    <a:lstStyle/>
                    <a:p>
                      <a:pPr algn="ctr">
                        <a:lnSpc>
                          <a:spcPct val="100000"/>
                        </a:lnSpc>
                        <a:spcBef>
                          <a:spcPts val="345"/>
                        </a:spcBef>
                      </a:pPr>
                      <a:r>
                        <a:rPr sz="900" spc="-50" dirty="0">
                          <a:latin typeface="Arial MT"/>
                          <a:cs typeface="Arial MT"/>
                        </a:rPr>
                        <a:t>1</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900" spc="-10" dirty="0">
                          <a:latin typeface="Arial MT"/>
                          <a:cs typeface="Arial MT"/>
                        </a:rPr>
                        <a:t>1/2/2022</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45"/>
                        </a:spcBef>
                      </a:pPr>
                      <a:r>
                        <a:rPr sz="900" dirty="0">
                          <a:latin typeface="Arial MT"/>
                          <a:cs typeface="Arial MT"/>
                        </a:rPr>
                        <a:t>Fulltoss</a:t>
                      </a:r>
                      <a:r>
                        <a:rPr sz="900" spc="-20" dirty="0">
                          <a:latin typeface="Arial MT"/>
                          <a:cs typeface="Arial MT"/>
                        </a:rPr>
                        <a:t> </a:t>
                      </a:r>
                      <a:r>
                        <a:rPr sz="900" dirty="0">
                          <a:latin typeface="Arial MT"/>
                          <a:cs typeface="Arial MT"/>
                        </a:rPr>
                        <a:t>Tangy</a:t>
                      </a:r>
                      <a:r>
                        <a:rPr sz="900" spc="-25" dirty="0">
                          <a:latin typeface="Arial MT"/>
                          <a:cs typeface="Arial MT"/>
                        </a:rPr>
                        <a:t> </a:t>
                      </a:r>
                      <a:r>
                        <a:rPr sz="900" spc="-10" dirty="0">
                          <a:latin typeface="Arial MT"/>
                          <a:cs typeface="Arial MT"/>
                        </a:rPr>
                        <a:t>Tomato</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372146">
                <a:tc>
                  <a:txBody>
                    <a:bodyPr/>
                    <a:lstStyle/>
                    <a:p>
                      <a:pPr algn="ctr">
                        <a:lnSpc>
                          <a:spcPct val="100000"/>
                        </a:lnSpc>
                        <a:spcBef>
                          <a:spcPts val="475"/>
                        </a:spcBef>
                      </a:pPr>
                      <a:r>
                        <a:rPr sz="900" spc="-50" dirty="0">
                          <a:latin typeface="Arial MT"/>
                          <a:cs typeface="Arial MT"/>
                        </a:rPr>
                        <a:t>2</a:t>
                      </a:r>
                      <a:endParaRPr sz="9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75"/>
                        </a:spcBef>
                      </a:pPr>
                      <a:r>
                        <a:rPr sz="900" spc="-10" dirty="0">
                          <a:latin typeface="Arial MT"/>
                          <a:cs typeface="Arial MT"/>
                        </a:rPr>
                        <a:t>1/2/2022</a:t>
                      </a:r>
                      <a:endParaRPr sz="9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400050" marR="15875" indent="-375285">
                        <a:lnSpc>
                          <a:spcPts val="830"/>
                        </a:lnSpc>
                      </a:pPr>
                      <a:r>
                        <a:rPr lang="en-IN" sz="900" dirty="0">
                          <a:latin typeface="Arial MT"/>
                          <a:cs typeface="Arial MT"/>
                        </a:rPr>
                        <a:t> </a:t>
                      </a:r>
                    </a:p>
                    <a:p>
                      <a:pPr marL="400050" marR="15875" indent="-375285">
                        <a:lnSpc>
                          <a:spcPts val="830"/>
                        </a:lnSpc>
                      </a:pPr>
                      <a:r>
                        <a:rPr lang="en-IN" sz="900" dirty="0">
                          <a:latin typeface="Arial MT"/>
                          <a:cs typeface="Arial MT"/>
                        </a:rPr>
                        <a:t> </a:t>
                      </a:r>
                      <a:r>
                        <a:rPr sz="900" dirty="0">
                          <a:latin typeface="Arial MT"/>
                          <a:cs typeface="Arial MT"/>
                        </a:rPr>
                        <a:t>Chilli</a:t>
                      </a:r>
                      <a:r>
                        <a:rPr sz="900" spc="-40" dirty="0">
                          <a:latin typeface="Arial MT"/>
                          <a:cs typeface="Arial MT"/>
                        </a:rPr>
                        <a:t> </a:t>
                      </a:r>
                      <a:r>
                        <a:rPr sz="900" dirty="0">
                          <a:latin typeface="Arial MT"/>
                          <a:cs typeface="Arial MT"/>
                        </a:rPr>
                        <a:t>-</a:t>
                      </a:r>
                      <a:r>
                        <a:rPr sz="900" spc="-15" dirty="0">
                          <a:latin typeface="Arial MT"/>
                          <a:cs typeface="Arial MT"/>
                        </a:rPr>
                        <a:t> </a:t>
                      </a:r>
                      <a:r>
                        <a:rPr sz="900" dirty="0">
                          <a:latin typeface="Arial MT"/>
                          <a:cs typeface="Arial MT"/>
                        </a:rPr>
                        <a:t>Green,</a:t>
                      </a:r>
                      <a:r>
                        <a:rPr sz="900" spc="15" dirty="0">
                          <a:latin typeface="Arial MT"/>
                          <a:cs typeface="Arial MT"/>
                        </a:rPr>
                        <a:t> </a:t>
                      </a:r>
                      <a:r>
                        <a:rPr sz="900" spc="-10" dirty="0">
                          <a:latin typeface="Arial MT"/>
                          <a:cs typeface="Arial MT"/>
                        </a:rPr>
                        <a:t>Organically</a:t>
                      </a:r>
                      <a:r>
                        <a:rPr sz="900" spc="500" dirty="0">
                          <a:latin typeface="Arial MT"/>
                          <a:cs typeface="Arial MT"/>
                        </a:rPr>
                        <a:t> </a:t>
                      </a:r>
                      <a:r>
                        <a:rPr sz="900" spc="-10" dirty="0">
                          <a:latin typeface="Arial MT"/>
                          <a:cs typeface="Arial MT"/>
                        </a:rPr>
                        <a:t>Grown</a:t>
                      </a:r>
                      <a:endParaRPr sz="9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318983">
                <a:tc>
                  <a:txBody>
                    <a:bodyPr/>
                    <a:lstStyle/>
                    <a:p>
                      <a:pPr algn="ctr">
                        <a:lnSpc>
                          <a:spcPct val="100000"/>
                        </a:lnSpc>
                        <a:spcBef>
                          <a:spcPts val="345"/>
                        </a:spcBef>
                      </a:pPr>
                      <a:r>
                        <a:rPr sz="900" spc="-50" dirty="0">
                          <a:latin typeface="Arial MT"/>
                          <a:cs typeface="Arial MT"/>
                        </a:rPr>
                        <a:t>3</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900" spc="-10" dirty="0">
                          <a:latin typeface="Arial MT"/>
                          <a:cs typeface="Arial MT"/>
                        </a:rPr>
                        <a:t>1/2/2022</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45"/>
                        </a:spcBef>
                      </a:pPr>
                      <a:r>
                        <a:rPr sz="900" dirty="0">
                          <a:latin typeface="Arial MT"/>
                          <a:cs typeface="Arial MT"/>
                        </a:rPr>
                        <a:t>Masala</a:t>
                      </a:r>
                      <a:r>
                        <a:rPr sz="900" spc="-35" dirty="0">
                          <a:latin typeface="Arial MT"/>
                          <a:cs typeface="Arial MT"/>
                        </a:rPr>
                        <a:t> </a:t>
                      </a:r>
                      <a:r>
                        <a:rPr sz="900" spc="-10" dirty="0">
                          <a:latin typeface="Arial MT"/>
                          <a:cs typeface="Arial MT"/>
                        </a:rPr>
                        <a:t>Powder</a:t>
                      </a:r>
                      <a:endParaRPr sz="900" dirty="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373210">
                <a:tc>
                  <a:txBody>
                    <a:bodyPr/>
                    <a:lstStyle/>
                    <a:p>
                      <a:pPr algn="ctr">
                        <a:lnSpc>
                          <a:spcPct val="100000"/>
                        </a:lnSpc>
                        <a:spcBef>
                          <a:spcPts val="475"/>
                        </a:spcBef>
                      </a:pPr>
                      <a:r>
                        <a:rPr sz="900" spc="-50" dirty="0">
                          <a:latin typeface="Arial MT"/>
                          <a:cs typeface="Arial MT"/>
                        </a:rPr>
                        <a:t>4</a:t>
                      </a:r>
                      <a:endParaRPr sz="9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75"/>
                        </a:spcBef>
                      </a:pPr>
                      <a:r>
                        <a:rPr sz="900" spc="-10" dirty="0">
                          <a:latin typeface="Arial MT"/>
                          <a:cs typeface="Arial MT"/>
                        </a:rPr>
                        <a:t>1/2/2022</a:t>
                      </a:r>
                      <a:endParaRPr sz="9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40360" marR="201295" indent="-132715">
                        <a:lnSpc>
                          <a:spcPts val="830"/>
                        </a:lnSpc>
                      </a:pPr>
                      <a:endParaRPr lang="en-IN" sz="900" dirty="0">
                        <a:latin typeface="Arial MT"/>
                        <a:cs typeface="Arial MT"/>
                      </a:endParaRPr>
                    </a:p>
                    <a:p>
                      <a:pPr marL="340360" marR="201295" indent="-132715">
                        <a:lnSpc>
                          <a:spcPts val="830"/>
                        </a:lnSpc>
                      </a:pPr>
                      <a:r>
                        <a:rPr sz="900" dirty="0">
                          <a:latin typeface="Arial MT"/>
                          <a:cs typeface="Arial MT"/>
                        </a:rPr>
                        <a:t>Cheese</a:t>
                      </a:r>
                      <a:r>
                        <a:rPr sz="900" spc="-25" dirty="0">
                          <a:latin typeface="Arial MT"/>
                          <a:cs typeface="Arial MT"/>
                        </a:rPr>
                        <a:t> </a:t>
                      </a:r>
                      <a:r>
                        <a:rPr sz="900" spc="-10" dirty="0">
                          <a:latin typeface="Arial MT"/>
                          <a:cs typeface="Arial MT"/>
                        </a:rPr>
                        <a:t>Cracker</a:t>
                      </a:r>
                      <a:r>
                        <a:rPr sz="900" spc="500" dirty="0">
                          <a:latin typeface="Arial MT"/>
                          <a:cs typeface="Arial MT"/>
                        </a:rPr>
                        <a:t> </a:t>
                      </a:r>
                      <a:r>
                        <a:rPr sz="900" spc="-10" dirty="0">
                          <a:latin typeface="Arial MT"/>
                          <a:cs typeface="Arial MT"/>
                        </a:rPr>
                        <a:t>(Mcvities)</a:t>
                      </a:r>
                      <a:endParaRPr sz="9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372146">
                <a:tc>
                  <a:txBody>
                    <a:bodyPr/>
                    <a:lstStyle/>
                    <a:p>
                      <a:pPr algn="ctr">
                        <a:lnSpc>
                          <a:spcPct val="100000"/>
                        </a:lnSpc>
                        <a:spcBef>
                          <a:spcPts val="475"/>
                        </a:spcBef>
                      </a:pPr>
                      <a:r>
                        <a:rPr sz="900" spc="-50" dirty="0">
                          <a:latin typeface="Arial MT"/>
                          <a:cs typeface="Arial MT"/>
                        </a:rPr>
                        <a:t>5</a:t>
                      </a:r>
                      <a:endParaRPr sz="9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75"/>
                        </a:spcBef>
                      </a:pPr>
                      <a:r>
                        <a:rPr sz="900" spc="-10" dirty="0">
                          <a:latin typeface="Arial MT"/>
                          <a:cs typeface="Arial MT"/>
                        </a:rPr>
                        <a:t>1/2/2022</a:t>
                      </a:r>
                      <a:endParaRPr sz="9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424180" marR="59690" indent="-358140">
                        <a:lnSpc>
                          <a:spcPts val="830"/>
                        </a:lnSpc>
                      </a:pPr>
                      <a:endParaRPr lang="en-IN" sz="900" dirty="0">
                        <a:latin typeface="Arial MT"/>
                        <a:cs typeface="Arial MT"/>
                      </a:endParaRPr>
                    </a:p>
                    <a:p>
                      <a:pPr marL="424180" marR="59690" indent="-358140">
                        <a:lnSpc>
                          <a:spcPts val="830"/>
                        </a:lnSpc>
                      </a:pPr>
                      <a:r>
                        <a:rPr sz="900" dirty="0">
                          <a:latin typeface="Arial MT"/>
                          <a:cs typeface="Arial MT"/>
                        </a:rPr>
                        <a:t>Centre</a:t>
                      </a:r>
                      <a:r>
                        <a:rPr sz="900" spc="-5" dirty="0">
                          <a:latin typeface="Arial MT"/>
                          <a:cs typeface="Arial MT"/>
                        </a:rPr>
                        <a:t> </a:t>
                      </a:r>
                      <a:r>
                        <a:rPr sz="900" dirty="0">
                          <a:latin typeface="Arial MT"/>
                          <a:cs typeface="Arial MT"/>
                        </a:rPr>
                        <a:t>Filled</a:t>
                      </a:r>
                      <a:r>
                        <a:rPr sz="900" spc="-35" dirty="0">
                          <a:latin typeface="Arial MT"/>
                          <a:cs typeface="Arial MT"/>
                        </a:rPr>
                        <a:t> </a:t>
                      </a:r>
                      <a:r>
                        <a:rPr sz="900" spc="-10" dirty="0">
                          <a:latin typeface="Arial MT"/>
                          <a:cs typeface="Arial MT"/>
                        </a:rPr>
                        <a:t>Chocolate</a:t>
                      </a:r>
                      <a:r>
                        <a:rPr sz="900" spc="500" dirty="0">
                          <a:latin typeface="Arial MT"/>
                          <a:cs typeface="Arial MT"/>
                        </a:rPr>
                        <a:t> </a:t>
                      </a:r>
                      <a:r>
                        <a:rPr sz="900" spc="-20" dirty="0">
                          <a:latin typeface="Arial MT"/>
                          <a:cs typeface="Arial MT"/>
                        </a:rPr>
                        <a:t>Cake</a:t>
                      </a:r>
                      <a:endParaRPr sz="9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graphicFrame>
        <p:nvGraphicFramePr>
          <p:cNvPr id="18" name="object 18"/>
          <p:cNvGraphicFramePr>
            <a:graphicFrameLocks noGrp="1"/>
          </p:cNvGraphicFramePr>
          <p:nvPr>
            <p:extLst>
              <p:ext uri="{D42A27DB-BD31-4B8C-83A1-F6EECF244321}">
                <p14:modId xmlns:p14="http://schemas.microsoft.com/office/powerpoint/2010/main" val="271760908"/>
              </p:ext>
            </p:extLst>
          </p:nvPr>
        </p:nvGraphicFramePr>
        <p:xfrm>
          <a:off x="3845388" y="4893584"/>
          <a:ext cx="3648716" cy="1964417"/>
        </p:xfrm>
        <a:graphic>
          <a:graphicData uri="http://schemas.openxmlformats.org/drawingml/2006/table">
            <a:tbl>
              <a:tblPr firstRow="1" bandRow="1">
                <a:tableStyleId>{2D5ABB26-0587-4C30-8999-92F81FD0307C}</a:tableStyleId>
              </a:tblPr>
              <a:tblGrid>
                <a:gridCol w="657687">
                  <a:extLst>
                    <a:ext uri="{9D8B030D-6E8A-4147-A177-3AD203B41FA5}">
                      <a16:colId xmlns:a16="http://schemas.microsoft.com/office/drawing/2014/main" val="20000"/>
                    </a:ext>
                  </a:extLst>
                </a:gridCol>
                <a:gridCol w="808351">
                  <a:extLst>
                    <a:ext uri="{9D8B030D-6E8A-4147-A177-3AD203B41FA5}">
                      <a16:colId xmlns:a16="http://schemas.microsoft.com/office/drawing/2014/main" val="20001"/>
                    </a:ext>
                  </a:extLst>
                </a:gridCol>
                <a:gridCol w="2182678">
                  <a:extLst>
                    <a:ext uri="{9D8B030D-6E8A-4147-A177-3AD203B41FA5}">
                      <a16:colId xmlns:a16="http://schemas.microsoft.com/office/drawing/2014/main" val="20002"/>
                    </a:ext>
                  </a:extLst>
                </a:gridCol>
              </a:tblGrid>
              <a:tr h="302063">
                <a:tc>
                  <a:txBody>
                    <a:bodyPr/>
                    <a:lstStyle/>
                    <a:p>
                      <a:pPr marL="1270" algn="ctr">
                        <a:lnSpc>
                          <a:spcPct val="100000"/>
                        </a:lnSpc>
                        <a:spcBef>
                          <a:spcPts val="135"/>
                        </a:spcBef>
                      </a:pPr>
                      <a:r>
                        <a:rPr sz="1400" spc="-25" dirty="0">
                          <a:latin typeface="Arial MT"/>
                          <a:cs typeface="Arial MT"/>
                        </a:rPr>
                        <a:t>id</a:t>
                      </a:r>
                      <a:endParaRPr sz="1400" dirty="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chemeClr val="bg1">
                        <a:lumMod val="85000"/>
                      </a:schemeClr>
                    </a:solidFill>
                  </a:tcPr>
                </a:tc>
                <a:tc>
                  <a:txBody>
                    <a:bodyPr/>
                    <a:lstStyle/>
                    <a:p>
                      <a:pPr algn="ctr">
                        <a:lnSpc>
                          <a:spcPct val="100000"/>
                        </a:lnSpc>
                        <a:spcBef>
                          <a:spcPts val="135"/>
                        </a:spcBef>
                      </a:pPr>
                      <a:r>
                        <a:rPr sz="1400" spc="-20" dirty="0">
                          <a:latin typeface="Arial MT"/>
                          <a:cs typeface="Arial MT"/>
                        </a:rPr>
                        <a:t>date</a:t>
                      </a:r>
                      <a:endParaRPr sz="1400" dirty="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chemeClr val="bg1">
                        <a:lumMod val="85000"/>
                      </a:schemeClr>
                    </a:solidFill>
                  </a:tcPr>
                </a:tc>
                <a:tc>
                  <a:txBody>
                    <a:bodyPr/>
                    <a:lstStyle/>
                    <a:p>
                      <a:pPr marL="1270" algn="ctr">
                        <a:lnSpc>
                          <a:spcPct val="100000"/>
                        </a:lnSpc>
                        <a:spcBef>
                          <a:spcPts val="135"/>
                        </a:spcBef>
                      </a:pPr>
                      <a:r>
                        <a:rPr sz="1400" spc="-10" dirty="0">
                          <a:latin typeface="Arial MT"/>
                          <a:cs typeface="Arial MT"/>
                        </a:rPr>
                        <a:t>product</a:t>
                      </a:r>
                      <a:endParaRPr sz="1400" dirty="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chemeClr val="bg1">
                        <a:lumMod val="85000"/>
                      </a:schemeClr>
                    </a:solidFill>
                  </a:tcPr>
                </a:tc>
                <a:extLst>
                  <a:ext uri="{0D108BD9-81ED-4DB2-BD59-A6C34878D82A}">
                    <a16:rowId xmlns:a16="http://schemas.microsoft.com/office/drawing/2014/main" val="10000"/>
                  </a:ext>
                </a:extLst>
              </a:tr>
              <a:tr h="302063">
                <a:tc>
                  <a:txBody>
                    <a:bodyPr/>
                    <a:lstStyle/>
                    <a:p>
                      <a:pPr algn="ctr">
                        <a:lnSpc>
                          <a:spcPct val="100000"/>
                        </a:lnSpc>
                        <a:spcBef>
                          <a:spcPts val="345"/>
                        </a:spcBef>
                      </a:pPr>
                      <a:r>
                        <a:rPr sz="1100" spc="-50" dirty="0">
                          <a:latin typeface="Arial MT"/>
                          <a:cs typeface="Arial MT"/>
                        </a:rPr>
                        <a:t>1</a:t>
                      </a:r>
                      <a:endParaRPr sz="11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345"/>
                        </a:spcBef>
                      </a:pPr>
                      <a:r>
                        <a:rPr sz="1100" spc="-10" dirty="0">
                          <a:latin typeface="Arial MT"/>
                          <a:cs typeface="Arial MT"/>
                        </a:rPr>
                        <a:t>1/2/2022</a:t>
                      </a:r>
                      <a:endParaRPr sz="11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45"/>
                        </a:spcBef>
                      </a:pPr>
                      <a:r>
                        <a:rPr sz="1100" dirty="0">
                          <a:latin typeface="Arial MT"/>
                          <a:cs typeface="Arial MT"/>
                        </a:rPr>
                        <a:t>Fulltoss</a:t>
                      </a:r>
                      <a:r>
                        <a:rPr sz="1100" spc="-20" dirty="0">
                          <a:latin typeface="Arial MT"/>
                          <a:cs typeface="Arial MT"/>
                        </a:rPr>
                        <a:t> </a:t>
                      </a:r>
                      <a:r>
                        <a:rPr sz="1100" dirty="0">
                          <a:latin typeface="Arial MT"/>
                          <a:cs typeface="Arial MT"/>
                        </a:rPr>
                        <a:t>Tangy</a:t>
                      </a:r>
                      <a:r>
                        <a:rPr sz="1100" spc="-25" dirty="0">
                          <a:latin typeface="Arial MT"/>
                          <a:cs typeface="Arial MT"/>
                        </a:rPr>
                        <a:t> </a:t>
                      </a:r>
                      <a:r>
                        <a:rPr sz="1100" spc="-10" dirty="0">
                          <a:latin typeface="Arial MT"/>
                          <a:cs typeface="Arial MT"/>
                        </a:rPr>
                        <a:t>Tomato</a:t>
                      </a:r>
                      <a:endParaRPr sz="11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352407">
                <a:tc>
                  <a:txBody>
                    <a:bodyPr/>
                    <a:lstStyle/>
                    <a:p>
                      <a:pPr algn="ctr">
                        <a:lnSpc>
                          <a:spcPct val="100000"/>
                        </a:lnSpc>
                        <a:spcBef>
                          <a:spcPts val="475"/>
                        </a:spcBef>
                      </a:pPr>
                      <a:r>
                        <a:rPr sz="1100" spc="-50" dirty="0">
                          <a:latin typeface="Arial MT"/>
                          <a:cs typeface="Arial MT"/>
                        </a:rPr>
                        <a:t>2</a:t>
                      </a:r>
                      <a:endParaRPr sz="11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475"/>
                        </a:spcBef>
                      </a:pPr>
                      <a:r>
                        <a:rPr sz="1100" spc="-10" dirty="0">
                          <a:latin typeface="Arial MT"/>
                          <a:cs typeface="Arial MT"/>
                        </a:rPr>
                        <a:t>1/2/2022</a:t>
                      </a:r>
                      <a:endParaRPr sz="11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400685" marR="16510" indent="-375285">
                        <a:lnSpc>
                          <a:spcPts val="830"/>
                        </a:lnSpc>
                      </a:pPr>
                      <a:endParaRPr lang="en-IN" sz="1100" dirty="0">
                        <a:latin typeface="Arial MT"/>
                        <a:cs typeface="Arial MT"/>
                      </a:endParaRPr>
                    </a:p>
                    <a:p>
                      <a:pPr marL="400685" marR="16510" indent="-375285">
                        <a:lnSpc>
                          <a:spcPts val="830"/>
                        </a:lnSpc>
                      </a:pPr>
                      <a:r>
                        <a:rPr sz="1100" dirty="0">
                          <a:latin typeface="Arial MT"/>
                          <a:cs typeface="Arial MT"/>
                        </a:rPr>
                        <a:t>Chilli</a:t>
                      </a:r>
                      <a:r>
                        <a:rPr sz="1100" spc="-40" dirty="0">
                          <a:latin typeface="Arial MT"/>
                          <a:cs typeface="Arial MT"/>
                        </a:rPr>
                        <a:t> </a:t>
                      </a:r>
                      <a:r>
                        <a:rPr sz="1100" dirty="0">
                          <a:latin typeface="Arial MT"/>
                          <a:cs typeface="Arial MT"/>
                        </a:rPr>
                        <a:t>-</a:t>
                      </a:r>
                      <a:r>
                        <a:rPr sz="1100" spc="-15" dirty="0">
                          <a:latin typeface="Arial MT"/>
                          <a:cs typeface="Arial MT"/>
                        </a:rPr>
                        <a:t> </a:t>
                      </a:r>
                      <a:r>
                        <a:rPr sz="1100" dirty="0">
                          <a:latin typeface="Arial MT"/>
                          <a:cs typeface="Arial MT"/>
                        </a:rPr>
                        <a:t>Green,</a:t>
                      </a:r>
                      <a:r>
                        <a:rPr sz="1100" spc="15" dirty="0">
                          <a:latin typeface="Arial MT"/>
                          <a:cs typeface="Arial MT"/>
                        </a:rPr>
                        <a:t> </a:t>
                      </a:r>
                      <a:r>
                        <a:rPr sz="1100" spc="-10" dirty="0">
                          <a:latin typeface="Arial MT"/>
                          <a:cs typeface="Arial MT"/>
                        </a:rPr>
                        <a:t>Organically</a:t>
                      </a:r>
                      <a:r>
                        <a:rPr sz="1100" spc="500" dirty="0">
                          <a:latin typeface="Arial MT"/>
                          <a:cs typeface="Arial MT"/>
                        </a:rPr>
                        <a:t> </a:t>
                      </a:r>
                      <a:r>
                        <a:rPr sz="1100" spc="-10" dirty="0">
                          <a:latin typeface="Arial MT"/>
                          <a:cs typeface="Arial MT"/>
                        </a:rPr>
                        <a:t>Grown</a:t>
                      </a:r>
                      <a:endParaRPr sz="11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302063">
                <a:tc>
                  <a:txBody>
                    <a:bodyPr/>
                    <a:lstStyle/>
                    <a:p>
                      <a:pPr algn="ctr">
                        <a:lnSpc>
                          <a:spcPct val="100000"/>
                        </a:lnSpc>
                        <a:spcBef>
                          <a:spcPts val="345"/>
                        </a:spcBef>
                      </a:pPr>
                      <a:r>
                        <a:rPr sz="1100" spc="-50" dirty="0">
                          <a:latin typeface="Arial MT"/>
                          <a:cs typeface="Arial MT"/>
                        </a:rPr>
                        <a:t>3</a:t>
                      </a:r>
                      <a:endParaRPr sz="11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345"/>
                        </a:spcBef>
                      </a:pPr>
                      <a:r>
                        <a:rPr sz="1100" spc="-10" dirty="0">
                          <a:latin typeface="Arial MT"/>
                          <a:cs typeface="Arial MT"/>
                        </a:rPr>
                        <a:t>1/2/2022</a:t>
                      </a:r>
                      <a:endParaRPr sz="11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345"/>
                        </a:spcBef>
                      </a:pPr>
                      <a:r>
                        <a:rPr sz="1100" dirty="0">
                          <a:latin typeface="Arial MT"/>
                          <a:cs typeface="Arial MT"/>
                        </a:rPr>
                        <a:t>Masala</a:t>
                      </a:r>
                      <a:r>
                        <a:rPr sz="1100" spc="-35" dirty="0">
                          <a:latin typeface="Arial MT"/>
                          <a:cs typeface="Arial MT"/>
                        </a:rPr>
                        <a:t> </a:t>
                      </a:r>
                      <a:r>
                        <a:rPr sz="1100" spc="-10" dirty="0">
                          <a:latin typeface="Arial MT"/>
                          <a:cs typeface="Arial MT"/>
                        </a:rPr>
                        <a:t>Powder</a:t>
                      </a:r>
                      <a:endParaRPr sz="1100" dirty="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353414">
                <a:tc>
                  <a:txBody>
                    <a:bodyPr/>
                    <a:lstStyle/>
                    <a:p>
                      <a:pPr algn="ctr">
                        <a:lnSpc>
                          <a:spcPct val="100000"/>
                        </a:lnSpc>
                        <a:spcBef>
                          <a:spcPts val="475"/>
                        </a:spcBef>
                      </a:pPr>
                      <a:r>
                        <a:rPr sz="1100" spc="-50" dirty="0">
                          <a:latin typeface="Arial MT"/>
                          <a:cs typeface="Arial MT"/>
                        </a:rPr>
                        <a:t>4</a:t>
                      </a:r>
                      <a:endParaRPr sz="11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475"/>
                        </a:spcBef>
                      </a:pPr>
                      <a:r>
                        <a:rPr sz="1100" spc="-10" dirty="0">
                          <a:latin typeface="Arial MT"/>
                          <a:cs typeface="Arial MT"/>
                        </a:rPr>
                        <a:t>1/2/2022</a:t>
                      </a:r>
                      <a:endParaRPr sz="11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40995" marR="201930" indent="-132715">
                        <a:lnSpc>
                          <a:spcPts val="830"/>
                        </a:lnSpc>
                      </a:pPr>
                      <a:endParaRPr lang="en-IN" sz="1100" dirty="0">
                        <a:latin typeface="Arial MT"/>
                        <a:cs typeface="Arial MT"/>
                      </a:endParaRPr>
                    </a:p>
                    <a:p>
                      <a:pPr marL="340995" marR="201930" indent="-132715">
                        <a:lnSpc>
                          <a:spcPts val="830"/>
                        </a:lnSpc>
                      </a:pPr>
                      <a:r>
                        <a:rPr sz="1100" dirty="0">
                          <a:latin typeface="Arial MT"/>
                          <a:cs typeface="Arial MT"/>
                        </a:rPr>
                        <a:t>Cheese</a:t>
                      </a:r>
                      <a:r>
                        <a:rPr sz="1100" spc="-25" dirty="0">
                          <a:latin typeface="Arial MT"/>
                          <a:cs typeface="Arial MT"/>
                        </a:rPr>
                        <a:t> </a:t>
                      </a:r>
                      <a:r>
                        <a:rPr sz="1100" spc="-10" dirty="0">
                          <a:latin typeface="Arial MT"/>
                          <a:cs typeface="Arial MT"/>
                        </a:rPr>
                        <a:t>Cracker</a:t>
                      </a:r>
                      <a:r>
                        <a:rPr sz="1100" spc="500" dirty="0">
                          <a:latin typeface="Arial MT"/>
                          <a:cs typeface="Arial MT"/>
                        </a:rPr>
                        <a:t> </a:t>
                      </a:r>
                      <a:r>
                        <a:rPr sz="1100" spc="-10" dirty="0">
                          <a:latin typeface="Arial MT"/>
                          <a:cs typeface="Arial MT"/>
                        </a:rPr>
                        <a:t>(Mcvities)</a:t>
                      </a:r>
                      <a:endParaRPr sz="11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352407">
                <a:tc>
                  <a:txBody>
                    <a:bodyPr/>
                    <a:lstStyle/>
                    <a:p>
                      <a:pPr algn="ctr">
                        <a:lnSpc>
                          <a:spcPct val="100000"/>
                        </a:lnSpc>
                        <a:spcBef>
                          <a:spcPts val="475"/>
                        </a:spcBef>
                      </a:pPr>
                      <a:r>
                        <a:rPr sz="1100" spc="-50" dirty="0">
                          <a:latin typeface="Arial MT"/>
                          <a:cs typeface="Arial MT"/>
                        </a:rPr>
                        <a:t>5</a:t>
                      </a:r>
                      <a:endParaRPr sz="11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475"/>
                        </a:spcBef>
                      </a:pPr>
                      <a:r>
                        <a:rPr sz="1100" spc="-10" dirty="0">
                          <a:latin typeface="Arial MT"/>
                          <a:cs typeface="Arial MT"/>
                        </a:rPr>
                        <a:t>1/2/2022</a:t>
                      </a:r>
                      <a:endParaRPr sz="1100" dirty="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424815" marR="59055" indent="-358140">
                        <a:lnSpc>
                          <a:spcPts val="830"/>
                        </a:lnSpc>
                      </a:pPr>
                      <a:endParaRPr lang="en-IN" sz="1100" dirty="0">
                        <a:latin typeface="Arial MT"/>
                        <a:cs typeface="Arial MT"/>
                      </a:endParaRPr>
                    </a:p>
                    <a:p>
                      <a:pPr marL="424815" marR="59055" indent="-358140">
                        <a:lnSpc>
                          <a:spcPts val="830"/>
                        </a:lnSpc>
                      </a:pPr>
                      <a:r>
                        <a:rPr sz="1100" dirty="0">
                          <a:latin typeface="Arial MT"/>
                          <a:cs typeface="Arial MT"/>
                        </a:rPr>
                        <a:t>Centre</a:t>
                      </a:r>
                      <a:r>
                        <a:rPr sz="1100" spc="-5" dirty="0">
                          <a:latin typeface="Arial MT"/>
                          <a:cs typeface="Arial MT"/>
                        </a:rPr>
                        <a:t> </a:t>
                      </a:r>
                      <a:r>
                        <a:rPr sz="1100" dirty="0">
                          <a:latin typeface="Arial MT"/>
                          <a:cs typeface="Arial MT"/>
                        </a:rPr>
                        <a:t>Filled</a:t>
                      </a:r>
                      <a:r>
                        <a:rPr sz="1100" spc="-35" dirty="0">
                          <a:latin typeface="Arial MT"/>
                          <a:cs typeface="Arial MT"/>
                        </a:rPr>
                        <a:t> </a:t>
                      </a:r>
                      <a:r>
                        <a:rPr sz="1100" spc="-10" dirty="0">
                          <a:latin typeface="Arial MT"/>
                          <a:cs typeface="Arial MT"/>
                        </a:rPr>
                        <a:t>Chocolate</a:t>
                      </a:r>
                      <a:r>
                        <a:rPr sz="1100" spc="500" dirty="0">
                          <a:latin typeface="Arial MT"/>
                          <a:cs typeface="Arial MT"/>
                        </a:rPr>
                        <a:t> </a:t>
                      </a:r>
                      <a:r>
                        <a:rPr sz="1100" spc="-20" dirty="0">
                          <a:latin typeface="Arial MT"/>
                          <a:cs typeface="Arial MT"/>
                        </a:rPr>
                        <a:t>Cake</a:t>
                      </a:r>
                      <a:endParaRPr sz="11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grpSp>
        <p:nvGrpSpPr>
          <p:cNvPr id="19" name="object 19"/>
          <p:cNvGrpSpPr/>
          <p:nvPr/>
        </p:nvGrpSpPr>
        <p:grpSpPr>
          <a:xfrm>
            <a:off x="6352031" y="2852928"/>
            <a:ext cx="734060" cy="258233"/>
            <a:chOff x="4764023" y="2139695"/>
            <a:chExt cx="550545" cy="193675"/>
          </a:xfrm>
        </p:grpSpPr>
        <p:sp>
          <p:nvSpPr>
            <p:cNvPr id="20" name="object 20"/>
            <p:cNvSpPr/>
            <p:nvPr/>
          </p:nvSpPr>
          <p:spPr>
            <a:xfrm>
              <a:off x="4776977" y="2152649"/>
              <a:ext cx="524510" cy="167640"/>
            </a:xfrm>
            <a:custGeom>
              <a:avLst/>
              <a:gdLst/>
              <a:ahLst/>
              <a:cxnLst/>
              <a:rect l="l" t="t" r="r" b="b"/>
              <a:pathLst>
                <a:path w="524510" h="167639">
                  <a:moveTo>
                    <a:pt x="440436" y="0"/>
                  </a:moveTo>
                  <a:lnTo>
                    <a:pt x="440436" y="41910"/>
                  </a:lnTo>
                  <a:lnTo>
                    <a:pt x="0" y="41910"/>
                  </a:lnTo>
                  <a:lnTo>
                    <a:pt x="0" y="125730"/>
                  </a:lnTo>
                  <a:lnTo>
                    <a:pt x="440436" y="125730"/>
                  </a:lnTo>
                  <a:lnTo>
                    <a:pt x="440436" y="167639"/>
                  </a:lnTo>
                  <a:lnTo>
                    <a:pt x="524256" y="83819"/>
                  </a:lnTo>
                  <a:lnTo>
                    <a:pt x="440436" y="0"/>
                  </a:lnTo>
                  <a:close/>
                </a:path>
              </a:pathLst>
            </a:custGeom>
            <a:solidFill>
              <a:srgbClr val="00C3FF"/>
            </a:solidFill>
          </p:spPr>
          <p:txBody>
            <a:bodyPr wrap="square" lIns="0" tIns="0" rIns="0" bIns="0" rtlCol="0"/>
            <a:lstStyle/>
            <a:p>
              <a:endParaRPr sz="2400"/>
            </a:p>
          </p:txBody>
        </p:sp>
        <p:sp>
          <p:nvSpPr>
            <p:cNvPr id="21" name="object 21"/>
            <p:cNvSpPr/>
            <p:nvPr/>
          </p:nvSpPr>
          <p:spPr>
            <a:xfrm>
              <a:off x="4776977" y="2152649"/>
              <a:ext cx="524510" cy="167640"/>
            </a:xfrm>
            <a:custGeom>
              <a:avLst/>
              <a:gdLst/>
              <a:ahLst/>
              <a:cxnLst/>
              <a:rect l="l" t="t" r="r" b="b"/>
              <a:pathLst>
                <a:path w="524510" h="167639">
                  <a:moveTo>
                    <a:pt x="0" y="41910"/>
                  </a:moveTo>
                  <a:lnTo>
                    <a:pt x="440436" y="41910"/>
                  </a:lnTo>
                  <a:lnTo>
                    <a:pt x="440436" y="0"/>
                  </a:lnTo>
                  <a:lnTo>
                    <a:pt x="524256" y="83819"/>
                  </a:lnTo>
                  <a:lnTo>
                    <a:pt x="440436" y="167639"/>
                  </a:lnTo>
                  <a:lnTo>
                    <a:pt x="440436" y="125730"/>
                  </a:lnTo>
                  <a:lnTo>
                    <a:pt x="0" y="125730"/>
                  </a:lnTo>
                  <a:lnTo>
                    <a:pt x="0" y="41910"/>
                  </a:lnTo>
                  <a:close/>
                </a:path>
              </a:pathLst>
            </a:custGeom>
            <a:ln w="25907">
              <a:solidFill>
                <a:srgbClr val="008FBB"/>
              </a:solidFill>
            </a:ln>
          </p:spPr>
          <p:txBody>
            <a:bodyPr wrap="square" lIns="0" tIns="0" rIns="0" bIns="0" rtlCol="0"/>
            <a:lstStyle/>
            <a:p>
              <a:endParaRPr sz="2400"/>
            </a:p>
          </p:txBody>
        </p:sp>
      </p:grpSp>
      <p:graphicFrame>
        <p:nvGraphicFramePr>
          <p:cNvPr id="22" name="object 22"/>
          <p:cNvGraphicFramePr>
            <a:graphicFrameLocks noGrp="1"/>
          </p:cNvGraphicFramePr>
          <p:nvPr>
            <p:extLst>
              <p:ext uri="{D42A27DB-BD31-4B8C-83A1-F6EECF244321}">
                <p14:modId xmlns:p14="http://schemas.microsoft.com/office/powerpoint/2010/main" val="2442439715"/>
              </p:ext>
            </p:extLst>
          </p:nvPr>
        </p:nvGraphicFramePr>
        <p:xfrm>
          <a:off x="7242989" y="1789005"/>
          <a:ext cx="4736299" cy="2340171"/>
        </p:xfrm>
        <a:graphic>
          <a:graphicData uri="http://schemas.openxmlformats.org/drawingml/2006/table">
            <a:tbl>
              <a:tblPr firstRow="1" bandRow="1">
                <a:tableStyleId>{2D5ABB26-0587-4C30-8999-92F81FD0307C}</a:tableStyleId>
              </a:tblPr>
              <a:tblGrid>
                <a:gridCol w="261054">
                  <a:extLst>
                    <a:ext uri="{9D8B030D-6E8A-4147-A177-3AD203B41FA5}">
                      <a16:colId xmlns:a16="http://schemas.microsoft.com/office/drawing/2014/main" val="20000"/>
                    </a:ext>
                  </a:extLst>
                </a:gridCol>
                <a:gridCol w="661010">
                  <a:extLst>
                    <a:ext uri="{9D8B030D-6E8A-4147-A177-3AD203B41FA5}">
                      <a16:colId xmlns:a16="http://schemas.microsoft.com/office/drawing/2014/main" val="20001"/>
                    </a:ext>
                  </a:extLst>
                </a:gridCol>
                <a:gridCol w="1515660">
                  <a:extLst>
                    <a:ext uri="{9D8B030D-6E8A-4147-A177-3AD203B41FA5}">
                      <a16:colId xmlns:a16="http://schemas.microsoft.com/office/drawing/2014/main" val="20002"/>
                    </a:ext>
                  </a:extLst>
                </a:gridCol>
                <a:gridCol w="1210268">
                  <a:extLst>
                    <a:ext uri="{9D8B030D-6E8A-4147-A177-3AD203B41FA5}">
                      <a16:colId xmlns:a16="http://schemas.microsoft.com/office/drawing/2014/main" val="20003"/>
                    </a:ext>
                  </a:extLst>
                </a:gridCol>
                <a:gridCol w="1088307">
                  <a:extLst>
                    <a:ext uri="{9D8B030D-6E8A-4147-A177-3AD203B41FA5}">
                      <a16:colId xmlns:a16="http://schemas.microsoft.com/office/drawing/2014/main" val="20004"/>
                    </a:ext>
                  </a:extLst>
                </a:gridCol>
              </a:tblGrid>
              <a:tr h="333844">
                <a:tc>
                  <a:txBody>
                    <a:bodyPr/>
                    <a:lstStyle/>
                    <a:p>
                      <a:pPr marR="19685" algn="ctr">
                        <a:lnSpc>
                          <a:spcPct val="100000"/>
                        </a:lnSpc>
                        <a:spcBef>
                          <a:spcPts val="130"/>
                        </a:spcBef>
                      </a:pPr>
                      <a:r>
                        <a:rPr sz="1400" spc="-25" dirty="0">
                          <a:latin typeface="Arial MT"/>
                          <a:cs typeface="Arial MT"/>
                        </a:rPr>
                        <a:t>id</a:t>
                      </a:r>
                      <a:endParaRPr sz="1400" dirty="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chemeClr val="bg1">
                        <a:lumMod val="85000"/>
                      </a:schemeClr>
                    </a:solidFill>
                  </a:tcPr>
                </a:tc>
                <a:tc>
                  <a:txBody>
                    <a:bodyPr/>
                    <a:lstStyle/>
                    <a:p>
                      <a:pPr marL="10160" algn="ctr">
                        <a:lnSpc>
                          <a:spcPct val="100000"/>
                        </a:lnSpc>
                        <a:spcBef>
                          <a:spcPts val="130"/>
                        </a:spcBef>
                      </a:pPr>
                      <a:r>
                        <a:rPr sz="1400" spc="-20" dirty="0">
                          <a:latin typeface="Arial MT"/>
                          <a:cs typeface="Arial MT"/>
                        </a:rPr>
                        <a:t>date</a:t>
                      </a:r>
                      <a:endParaRPr sz="1400" dirty="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chemeClr val="bg1">
                        <a:lumMod val="85000"/>
                      </a:schemeClr>
                    </a:solidFill>
                  </a:tcPr>
                </a:tc>
                <a:tc>
                  <a:txBody>
                    <a:bodyPr/>
                    <a:lstStyle/>
                    <a:p>
                      <a:pPr marL="10160" algn="ctr">
                        <a:lnSpc>
                          <a:spcPct val="100000"/>
                        </a:lnSpc>
                        <a:spcBef>
                          <a:spcPts val="130"/>
                        </a:spcBef>
                      </a:pPr>
                      <a:r>
                        <a:rPr sz="1400" spc="-10" dirty="0">
                          <a:latin typeface="Arial MT"/>
                          <a:cs typeface="Arial MT"/>
                        </a:rPr>
                        <a:t>product</a:t>
                      </a:r>
                      <a:endParaRPr sz="1400" dirty="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chemeClr val="bg1">
                        <a:lumMod val="85000"/>
                      </a:schemeClr>
                    </a:solidFill>
                  </a:tcPr>
                </a:tc>
                <a:tc>
                  <a:txBody>
                    <a:bodyPr/>
                    <a:lstStyle/>
                    <a:p>
                      <a:pPr marR="77470" algn="ctr">
                        <a:lnSpc>
                          <a:spcPct val="100000"/>
                        </a:lnSpc>
                        <a:spcBef>
                          <a:spcPts val="130"/>
                        </a:spcBef>
                      </a:pPr>
                      <a:r>
                        <a:rPr sz="1400" spc="-10" dirty="0">
                          <a:latin typeface="Arial MT"/>
                          <a:cs typeface="Arial MT"/>
                        </a:rPr>
                        <a:t>customer_id</a:t>
                      </a:r>
                      <a:endParaRPr sz="1400" dirty="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chemeClr val="bg1">
                        <a:lumMod val="85000"/>
                      </a:schemeClr>
                    </a:solidFill>
                  </a:tcPr>
                </a:tc>
                <a:tc>
                  <a:txBody>
                    <a:bodyPr/>
                    <a:lstStyle/>
                    <a:p>
                      <a:pPr marL="10160" algn="ctr">
                        <a:lnSpc>
                          <a:spcPct val="100000"/>
                        </a:lnSpc>
                        <a:spcBef>
                          <a:spcPts val="130"/>
                        </a:spcBef>
                      </a:pPr>
                      <a:r>
                        <a:rPr sz="1400" spc="-10" dirty="0">
                          <a:latin typeface="Arial MT"/>
                          <a:cs typeface="Arial MT"/>
                        </a:rPr>
                        <a:t>store_id</a:t>
                      </a:r>
                      <a:endParaRPr sz="1400" dirty="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chemeClr val="bg1">
                        <a:lumMod val="85000"/>
                      </a:schemeClr>
                    </a:solidFill>
                  </a:tcPr>
                </a:tc>
                <a:extLst>
                  <a:ext uri="{0D108BD9-81ED-4DB2-BD59-A6C34878D82A}">
                    <a16:rowId xmlns:a16="http://schemas.microsoft.com/office/drawing/2014/main" val="10000"/>
                  </a:ext>
                </a:extLst>
              </a:tr>
              <a:tr h="389483">
                <a:tc>
                  <a:txBody>
                    <a:bodyPr/>
                    <a:lstStyle/>
                    <a:p>
                      <a:pPr marL="1270" algn="ctr">
                        <a:lnSpc>
                          <a:spcPct val="100000"/>
                        </a:lnSpc>
                        <a:spcBef>
                          <a:spcPts val="470"/>
                        </a:spcBef>
                      </a:pPr>
                      <a:r>
                        <a:rPr sz="1100" spc="-50" dirty="0">
                          <a:latin typeface="Arial MT"/>
                          <a:cs typeface="Arial MT"/>
                        </a:rPr>
                        <a:t>1</a:t>
                      </a:r>
                      <a:endParaRPr sz="11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6195">
                        <a:lnSpc>
                          <a:spcPct val="100000"/>
                        </a:lnSpc>
                        <a:spcBef>
                          <a:spcPts val="470"/>
                        </a:spcBef>
                      </a:pPr>
                      <a:r>
                        <a:rPr sz="1100" spc="-10" dirty="0">
                          <a:latin typeface="Arial MT"/>
                          <a:cs typeface="Arial MT"/>
                        </a:rPr>
                        <a:t>1/2/2022</a:t>
                      </a:r>
                      <a:endParaRPr sz="1100" dirty="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69240" marR="120014" indent="-135890">
                        <a:lnSpc>
                          <a:spcPts val="830"/>
                        </a:lnSpc>
                      </a:pPr>
                      <a:endParaRPr lang="en-IN" sz="1100" dirty="0">
                        <a:latin typeface="Arial MT"/>
                        <a:cs typeface="Arial MT"/>
                      </a:endParaRPr>
                    </a:p>
                    <a:p>
                      <a:pPr marL="269240" marR="120014" indent="-135890">
                        <a:lnSpc>
                          <a:spcPts val="830"/>
                        </a:lnSpc>
                      </a:pPr>
                      <a:r>
                        <a:rPr sz="1100" dirty="0" err="1">
                          <a:latin typeface="Arial MT"/>
                          <a:cs typeface="Arial MT"/>
                        </a:rPr>
                        <a:t>Fulltoss</a:t>
                      </a:r>
                      <a:r>
                        <a:rPr sz="1100" spc="-25" dirty="0">
                          <a:latin typeface="Arial MT"/>
                          <a:cs typeface="Arial MT"/>
                        </a:rPr>
                        <a:t> </a:t>
                      </a:r>
                      <a:r>
                        <a:rPr sz="1100" spc="-10" dirty="0">
                          <a:latin typeface="Arial MT"/>
                          <a:cs typeface="Arial MT"/>
                        </a:rPr>
                        <a:t>Tangy</a:t>
                      </a:r>
                      <a:r>
                        <a:rPr sz="1100" spc="500" dirty="0">
                          <a:latin typeface="Arial MT"/>
                          <a:cs typeface="Arial MT"/>
                        </a:rPr>
                        <a:t> </a:t>
                      </a:r>
                      <a:r>
                        <a:rPr sz="1100" spc="-10" dirty="0">
                          <a:latin typeface="Arial MT"/>
                          <a:cs typeface="Arial MT"/>
                        </a:rPr>
                        <a:t>Tomato</a:t>
                      </a:r>
                      <a:endParaRPr sz="11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445"/>
                        </a:spcBef>
                      </a:pPr>
                      <a:r>
                        <a:rPr sz="1100" spc="-50" dirty="0">
                          <a:latin typeface="Calibri"/>
                          <a:cs typeface="Calibri"/>
                        </a:rPr>
                        <a:t>2</a:t>
                      </a:r>
                      <a:endParaRPr sz="11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45"/>
                        </a:spcBef>
                      </a:pPr>
                      <a:r>
                        <a:rPr sz="1100" spc="-50" dirty="0">
                          <a:latin typeface="Calibri"/>
                          <a:cs typeface="Calibri"/>
                        </a:rPr>
                        <a:t>2</a:t>
                      </a:r>
                      <a:endParaRPr sz="11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389483">
                <a:tc>
                  <a:txBody>
                    <a:bodyPr/>
                    <a:lstStyle/>
                    <a:p>
                      <a:pPr marL="1270" algn="ctr">
                        <a:lnSpc>
                          <a:spcPct val="100000"/>
                        </a:lnSpc>
                        <a:spcBef>
                          <a:spcPts val="470"/>
                        </a:spcBef>
                      </a:pPr>
                      <a:r>
                        <a:rPr sz="1100" spc="-50" dirty="0">
                          <a:latin typeface="Arial MT"/>
                          <a:cs typeface="Arial MT"/>
                        </a:rPr>
                        <a:t>2</a:t>
                      </a:r>
                      <a:endParaRPr sz="11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6195">
                        <a:lnSpc>
                          <a:spcPct val="100000"/>
                        </a:lnSpc>
                        <a:spcBef>
                          <a:spcPts val="470"/>
                        </a:spcBef>
                      </a:pPr>
                      <a:r>
                        <a:rPr sz="1100" spc="-10" dirty="0">
                          <a:latin typeface="Arial MT"/>
                          <a:cs typeface="Arial MT"/>
                        </a:rPr>
                        <a:t>1/2/2022</a:t>
                      </a:r>
                      <a:endParaRPr sz="11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835"/>
                        </a:lnSpc>
                        <a:spcBef>
                          <a:spcPts val="60"/>
                        </a:spcBef>
                      </a:pPr>
                      <a:endParaRPr lang="en-IN" sz="1100" dirty="0">
                        <a:latin typeface="Arial MT"/>
                        <a:cs typeface="Arial MT"/>
                      </a:endParaRPr>
                    </a:p>
                    <a:p>
                      <a:pPr marL="1270" algn="ctr">
                        <a:lnSpc>
                          <a:spcPts val="835"/>
                        </a:lnSpc>
                        <a:spcBef>
                          <a:spcPts val="60"/>
                        </a:spcBef>
                      </a:pPr>
                      <a:r>
                        <a:rPr sz="1100" dirty="0">
                          <a:latin typeface="Arial MT"/>
                          <a:cs typeface="Arial MT"/>
                        </a:rPr>
                        <a:t>Chilli</a:t>
                      </a:r>
                      <a:r>
                        <a:rPr sz="1100" spc="-20" dirty="0">
                          <a:latin typeface="Arial MT"/>
                          <a:cs typeface="Arial MT"/>
                        </a:rPr>
                        <a:t> </a:t>
                      </a:r>
                      <a:r>
                        <a:rPr sz="1100" dirty="0">
                          <a:latin typeface="Arial MT"/>
                          <a:cs typeface="Arial MT"/>
                        </a:rPr>
                        <a:t>- </a:t>
                      </a:r>
                      <a:r>
                        <a:rPr sz="1100" spc="-10" dirty="0">
                          <a:latin typeface="Arial MT"/>
                          <a:cs typeface="Arial MT"/>
                        </a:rPr>
                        <a:t>Green,</a:t>
                      </a:r>
                      <a:endParaRPr sz="1100" dirty="0">
                        <a:latin typeface="Arial MT"/>
                        <a:cs typeface="Arial MT"/>
                      </a:endParaRPr>
                    </a:p>
                    <a:p>
                      <a:pPr marL="3810" algn="ctr">
                        <a:lnSpc>
                          <a:spcPts val="760"/>
                        </a:lnSpc>
                      </a:pPr>
                      <a:r>
                        <a:rPr sz="1100" dirty="0">
                          <a:latin typeface="Arial MT"/>
                          <a:cs typeface="Arial MT"/>
                        </a:rPr>
                        <a:t>Organically</a:t>
                      </a:r>
                      <a:r>
                        <a:rPr sz="1100" spc="-30" dirty="0">
                          <a:latin typeface="Arial MT"/>
                          <a:cs typeface="Arial MT"/>
                        </a:rPr>
                        <a:t> </a:t>
                      </a:r>
                      <a:r>
                        <a:rPr sz="1100" spc="-10" dirty="0">
                          <a:latin typeface="Arial MT"/>
                          <a:cs typeface="Arial MT"/>
                        </a:rPr>
                        <a:t>Grown</a:t>
                      </a:r>
                      <a:endParaRPr sz="1100" dirty="0">
                        <a:latin typeface="Arial MT"/>
                        <a:cs typeface="Arial MT"/>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445"/>
                        </a:spcBef>
                      </a:pPr>
                      <a:r>
                        <a:rPr sz="1100" spc="-50" dirty="0">
                          <a:latin typeface="Calibri"/>
                          <a:cs typeface="Calibri"/>
                        </a:rPr>
                        <a:t>4</a:t>
                      </a:r>
                      <a:endParaRPr sz="11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45"/>
                        </a:spcBef>
                      </a:pPr>
                      <a:r>
                        <a:rPr sz="1100" spc="-50" dirty="0">
                          <a:latin typeface="Calibri"/>
                          <a:cs typeface="Calibri"/>
                        </a:rPr>
                        <a:t>4</a:t>
                      </a:r>
                      <a:endParaRPr sz="11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333844">
                <a:tc>
                  <a:txBody>
                    <a:bodyPr/>
                    <a:lstStyle/>
                    <a:p>
                      <a:pPr marL="1270" algn="ctr">
                        <a:lnSpc>
                          <a:spcPct val="100000"/>
                        </a:lnSpc>
                        <a:spcBef>
                          <a:spcPts val="345"/>
                        </a:spcBef>
                      </a:pPr>
                      <a:r>
                        <a:rPr sz="1100" spc="-50" dirty="0">
                          <a:latin typeface="Arial MT"/>
                          <a:cs typeface="Arial MT"/>
                        </a:rPr>
                        <a:t>3</a:t>
                      </a:r>
                      <a:endParaRPr sz="11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6195">
                        <a:lnSpc>
                          <a:spcPct val="100000"/>
                        </a:lnSpc>
                        <a:spcBef>
                          <a:spcPts val="345"/>
                        </a:spcBef>
                      </a:pPr>
                      <a:r>
                        <a:rPr sz="1100" spc="-10" dirty="0">
                          <a:latin typeface="Arial MT"/>
                          <a:cs typeface="Arial MT"/>
                        </a:rPr>
                        <a:t>1/2/2022</a:t>
                      </a:r>
                      <a:endParaRPr sz="11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15570">
                        <a:lnSpc>
                          <a:spcPct val="100000"/>
                        </a:lnSpc>
                        <a:spcBef>
                          <a:spcPts val="345"/>
                        </a:spcBef>
                      </a:pPr>
                      <a:r>
                        <a:rPr sz="1100" dirty="0">
                          <a:latin typeface="Arial MT"/>
                          <a:cs typeface="Arial MT"/>
                        </a:rPr>
                        <a:t>Masala</a:t>
                      </a:r>
                      <a:r>
                        <a:rPr sz="1100" spc="-35" dirty="0">
                          <a:latin typeface="Arial MT"/>
                          <a:cs typeface="Arial MT"/>
                        </a:rPr>
                        <a:t> </a:t>
                      </a:r>
                      <a:r>
                        <a:rPr sz="1100" spc="-10" dirty="0">
                          <a:latin typeface="Arial MT"/>
                          <a:cs typeface="Arial MT"/>
                        </a:rPr>
                        <a:t>Powder</a:t>
                      </a:r>
                      <a:endParaRPr sz="1100" dirty="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320"/>
                        </a:spcBef>
                      </a:pPr>
                      <a:r>
                        <a:rPr sz="1100" spc="-50" dirty="0">
                          <a:latin typeface="Calibri"/>
                          <a:cs typeface="Calibri"/>
                        </a:rPr>
                        <a:t>7</a:t>
                      </a:r>
                      <a:endParaRPr sz="11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20"/>
                        </a:spcBef>
                      </a:pPr>
                      <a:r>
                        <a:rPr sz="1100" spc="-50" dirty="0">
                          <a:latin typeface="Calibri"/>
                          <a:cs typeface="Calibri"/>
                        </a:rPr>
                        <a:t>5</a:t>
                      </a:r>
                      <a:endParaRPr sz="11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390597">
                <a:tc>
                  <a:txBody>
                    <a:bodyPr/>
                    <a:lstStyle/>
                    <a:p>
                      <a:pPr marL="1270" algn="ctr">
                        <a:lnSpc>
                          <a:spcPct val="100000"/>
                        </a:lnSpc>
                        <a:spcBef>
                          <a:spcPts val="470"/>
                        </a:spcBef>
                      </a:pPr>
                      <a:r>
                        <a:rPr sz="1100" spc="-50" dirty="0">
                          <a:latin typeface="Arial MT"/>
                          <a:cs typeface="Arial MT"/>
                        </a:rPr>
                        <a:t>4</a:t>
                      </a:r>
                      <a:endParaRPr sz="11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6195">
                        <a:lnSpc>
                          <a:spcPct val="100000"/>
                        </a:lnSpc>
                        <a:spcBef>
                          <a:spcPts val="470"/>
                        </a:spcBef>
                      </a:pPr>
                      <a:r>
                        <a:rPr sz="1100" spc="-10" dirty="0">
                          <a:latin typeface="Arial MT"/>
                          <a:cs typeface="Arial MT"/>
                        </a:rPr>
                        <a:t>1/2/2022</a:t>
                      </a:r>
                      <a:endParaRPr sz="11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33045" marR="88900" indent="-133350">
                        <a:lnSpc>
                          <a:spcPts val="830"/>
                        </a:lnSpc>
                      </a:pPr>
                      <a:endParaRPr lang="en-IN" sz="1100" dirty="0">
                        <a:latin typeface="Arial MT"/>
                        <a:cs typeface="Arial MT"/>
                      </a:endParaRPr>
                    </a:p>
                    <a:p>
                      <a:pPr marL="233045" marR="88900" indent="-133350">
                        <a:lnSpc>
                          <a:spcPts val="830"/>
                        </a:lnSpc>
                      </a:pPr>
                      <a:r>
                        <a:rPr sz="1100" dirty="0">
                          <a:latin typeface="Arial MT"/>
                          <a:cs typeface="Arial MT"/>
                        </a:rPr>
                        <a:t>Cheese</a:t>
                      </a:r>
                      <a:r>
                        <a:rPr sz="1100" spc="-25" dirty="0">
                          <a:latin typeface="Arial MT"/>
                          <a:cs typeface="Arial MT"/>
                        </a:rPr>
                        <a:t> </a:t>
                      </a:r>
                      <a:r>
                        <a:rPr sz="1100" spc="-10" dirty="0">
                          <a:latin typeface="Arial MT"/>
                          <a:cs typeface="Arial MT"/>
                        </a:rPr>
                        <a:t>Cracker</a:t>
                      </a:r>
                      <a:r>
                        <a:rPr sz="1100" spc="500" dirty="0">
                          <a:latin typeface="Arial MT"/>
                          <a:cs typeface="Arial MT"/>
                        </a:rPr>
                        <a:t> </a:t>
                      </a:r>
                      <a:r>
                        <a:rPr sz="1100" spc="-10" dirty="0">
                          <a:latin typeface="Arial MT"/>
                          <a:cs typeface="Arial MT"/>
                        </a:rPr>
                        <a:t>(Mcvities)</a:t>
                      </a:r>
                      <a:endParaRPr sz="11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450"/>
                        </a:spcBef>
                      </a:pPr>
                      <a:r>
                        <a:rPr sz="1100" spc="-50" dirty="0">
                          <a:latin typeface="Calibri"/>
                          <a:cs typeface="Calibri"/>
                        </a:rPr>
                        <a:t>1</a:t>
                      </a:r>
                      <a:endParaRPr sz="11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50"/>
                        </a:spcBef>
                      </a:pPr>
                      <a:r>
                        <a:rPr sz="1100" spc="-50" dirty="0">
                          <a:latin typeface="Calibri"/>
                          <a:cs typeface="Calibri"/>
                        </a:rPr>
                        <a:t>2</a:t>
                      </a:r>
                      <a:endParaRPr sz="11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443928">
                <a:tc>
                  <a:txBody>
                    <a:bodyPr/>
                    <a:lstStyle/>
                    <a:p>
                      <a:pPr marL="1270" algn="ctr">
                        <a:lnSpc>
                          <a:spcPct val="100000"/>
                        </a:lnSpc>
                        <a:spcBef>
                          <a:spcPts val="470"/>
                        </a:spcBef>
                      </a:pPr>
                      <a:r>
                        <a:rPr sz="1100" spc="-50" dirty="0">
                          <a:latin typeface="Arial MT"/>
                          <a:cs typeface="Arial MT"/>
                        </a:rPr>
                        <a:t>5</a:t>
                      </a:r>
                      <a:endParaRPr sz="11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6195">
                        <a:lnSpc>
                          <a:spcPct val="100000"/>
                        </a:lnSpc>
                        <a:spcBef>
                          <a:spcPts val="470"/>
                        </a:spcBef>
                      </a:pPr>
                      <a:r>
                        <a:rPr sz="1100" spc="-10" dirty="0">
                          <a:latin typeface="Arial MT"/>
                          <a:cs typeface="Arial MT"/>
                        </a:rPr>
                        <a:t>1/2/2022</a:t>
                      </a:r>
                      <a:endParaRPr sz="11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04775" marR="93980" indent="63500">
                        <a:lnSpc>
                          <a:spcPct val="100000"/>
                        </a:lnSpc>
                      </a:pPr>
                      <a:endParaRPr lang="en-IN" sz="1100" dirty="0">
                        <a:latin typeface="Arial MT"/>
                        <a:cs typeface="Arial MT"/>
                      </a:endParaRPr>
                    </a:p>
                    <a:p>
                      <a:pPr marL="104775" marR="93980" indent="63500">
                        <a:lnSpc>
                          <a:spcPct val="100000"/>
                        </a:lnSpc>
                      </a:pPr>
                      <a:r>
                        <a:rPr sz="1100" dirty="0">
                          <a:latin typeface="Arial MT"/>
                          <a:cs typeface="Arial MT"/>
                        </a:rPr>
                        <a:t>Centre</a:t>
                      </a:r>
                      <a:r>
                        <a:rPr sz="1100" spc="-15" dirty="0">
                          <a:latin typeface="Arial MT"/>
                          <a:cs typeface="Arial MT"/>
                        </a:rPr>
                        <a:t> </a:t>
                      </a:r>
                      <a:r>
                        <a:rPr sz="1100" spc="-10" dirty="0">
                          <a:latin typeface="Arial MT"/>
                          <a:cs typeface="Arial MT"/>
                        </a:rPr>
                        <a:t>Filled</a:t>
                      </a:r>
                      <a:r>
                        <a:rPr sz="1100" spc="500" dirty="0">
                          <a:latin typeface="Arial MT"/>
                          <a:cs typeface="Arial MT"/>
                        </a:rPr>
                        <a:t> </a:t>
                      </a:r>
                      <a:r>
                        <a:rPr sz="1100" dirty="0">
                          <a:latin typeface="Arial MT"/>
                          <a:cs typeface="Arial MT"/>
                        </a:rPr>
                        <a:t>Chocolate</a:t>
                      </a:r>
                      <a:r>
                        <a:rPr sz="1100" spc="-35" dirty="0">
                          <a:latin typeface="Arial MT"/>
                          <a:cs typeface="Arial MT"/>
                        </a:rPr>
                        <a:t> </a:t>
                      </a:r>
                      <a:r>
                        <a:rPr sz="1100" spc="-20" dirty="0">
                          <a:latin typeface="Arial MT"/>
                          <a:cs typeface="Arial MT"/>
                        </a:rPr>
                        <a:t>Cake</a:t>
                      </a:r>
                      <a:endParaRPr sz="11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445"/>
                        </a:spcBef>
                      </a:pPr>
                      <a:r>
                        <a:rPr sz="1100" spc="-50" dirty="0">
                          <a:latin typeface="Calibri"/>
                          <a:cs typeface="Calibri"/>
                        </a:rPr>
                        <a:t>5</a:t>
                      </a:r>
                      <a:endParaRPr sz="11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45"/>
                        </a:spcBef>
                      </a:pPr>
                      <a:r>
                        <a:rPr sz="1100" spc="-50" dirty="0">
                          <a:latin typeface="Calibri"/>
                          <a:cs typeface="Calibri"/>
                        </a:rPr>
                        <a:t>2</a:t>
                      </a:r>
                      <a:endParaRPr sz="1100" dirty="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556168" y="383228"/>
            <a:ext cx="6144423"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Data Warehouse Layers</a:t>
            </a:r>
          </a:p>
        </p:txBody>
      </p:sp>
      <p:sp>
        <p:nvSpPr>
          <p:cNvPr id="4" name="object 4"/>
          <p:cNvSpPr txBox="1"/>
          <p:nvPr/>
        </p:nvSpPr>
        <p:spPr>
          <a:xfrm>
            <a:off x="4652603" y="4525874"/>
            <a:ext cx="839893" cy="344475"/>
          </a:xfrm>
          <a:prstGeom prst="rect">
            <a:avLst/>
          </a:prstGeom>
        </p:spPr>
        <p:txBody>
          <a:bodyPr vert="horz" wrap="square" lIns="0" tIns="16087" rIns="0" bIns="0" rtlCol="0">
            <a:spAutoFit/>
          </a:bodyPr>
          <a:lstStyle/>
          <a:p>
            <a:pPr marL="16933">
              <a:spcBef>
                <a:spcPts val="127"/>
              </a:spcBef>
            </a:pPr>
            <a:r>
              <a:rPr sz="2133" spc="-13" dirty="0">
                <a:solidFill>
                  <a:srgbClr val="FFFFFF"/>
                </a:solidFill>
                <a:latin typeface="Calibri"/>
                <a:cs typeface="Calibri"/>
              </a:rPr>
              <a:t>Staging</a:t>
            </a:r>
            <a:endParaRPr sz="2133">
              <a:latin typeface="Calibri"/>
              <a:cs typeface="Calibri"/>
            </a:endParaRPr>
          </a:p>
        </p:txBody>
      </p:sp>
      <p:sp>
        <p:nvSpPr>
          <p:cNvPr id="5" name="object 5"/>
          <p:cNvSpPr/>
          <p:nvPr/>
        </p:nvSpPr>
        <p:spPr>
          <a:xfrm>
            <a:off x="2005465" y="2004314"/>
            <a:ext cx="1137920" cy="799253"/>
          </a:xfrm>
          <a:custGeom>
            <a:avLst/>
            <a:gdLst/>
            <a:ahLst/>
            <a:cxnLst/>
            <a:rect l="l" t="t" r="r" b="b"/>
            <a:pathLst>
              <a:path w="853439" h="599439">
                <a:moveTo>
                  <a:pt x="853440" y="0"/>
                </a:moveTo>
                <a:lnTo>
                  <a:pt x="0" y="0"/>
                </a:lnTo>
                <a:lnTo>
                  <a:pt x="0" y="63576"/>
                </a:lnTo>
                <a:lnTo>
                  <a:pt x="0" y="191998"/>
                </a:lnTo>
                <a:lnTo>
                  <a:pt x="0" y="598868"/>
                </a:lnTo>
                <a:lnTo>
                  <a:pt x="853440" y="598868"/>
                </a:lnTo>
                <a:lnTo>
                  <a:pt x="853440" y="363651"/>
                </a:lnTo>
                <a:lnTo>
                  <a:pt x="789406" y="363651"/>
                </a:lnTo>
                <a:lnTo>
                  <a:pt x="789406" y="406882"/>
                </a:lnTo>
                <a:lnTo>
                  <a:pt x="789406" y="534022"/>
                </a:lnTo>
                <a:lnTo>
                  <a:pt x="576059" y="534022"/>
                </a:lnTo>
                <a:lnTo>
                  <a:pt x="576059" y="406882"/>
                </a:lnTo>
                <a:lnTo>
                  <a:pt x="789406" y="406882"/>
                </a:lnTo>
                <a:lnTo>
                  <a:pt x="789406" y="363651"/>
                </a:lnTo>
                <a:lnTo>
                  <a:pt x="533387" y="363651"/>
                </a:lnTo>
                <a:lnTo>
                  <a:pt x="533387" y="406882"/>
                </a:lnTo>
                <a:lnTo>
                  <a:pt x="533387" y="534022"/>
                </a:lnTo>
                <a:lnTo>
                  <a:pt x="320027" y="534022"/>
                </a:lnTo>
                <a:lnTo>
                  <a:pt x="320027" y="406882"/>
                </a:lnTo>
                <a:lnTo>
                  <a:pt x="533387" y="406882"/>
                </a:lnTo>
                <a:lnTo>
                  <a:pt x="533387" y="363651"/>
                </a:lnTo>
                <a:lnTo>
                  <a:pt x="277355" y="363651"/>
                </a:lnTo>
                <a:lnTo>
                  <a:pt x="277355" y="406882"/>
                </a:lnTo>
                <a:lnTo>
                  <a:pt x="277355" y="534022"/>
                </a:lnTo>
                <a:lnTo>
                  <a:pt x="64008" y="534022"/>
                </a:lnTo>
                <a:lnTo>
                  <a:pt x="64008" y="406882"/>
                </a:lnTo>
                <a:lnTo>
                  <a:pt x="277355" y="406882"/>
                </a:lnTo>
                <a:lnTo>
                  <a:pt x="277355" y="363651"/>
                </a:lnTo>
                <a:lnTo>
                  <a:pt x="64008" y="363651"/>
                </a:lnTo>
                <a:lnTo>
                  <a:pt x="64008" y="235229"/>
                </a:lnTo>
                <a:lnTo>
                  <a:pt x="277355" y="235229"/>
                </a:lnTo>
                <a:lnTo>
                  <a:pt x="277355" y="363474"/>
                </a:lnTo>
                <a:lnTo>
                  <a:pt x="320027" y="363474"/>
                </a:lnTo>
                <a:lnTo>
                  <a:pt x="320027" y="235229"/>
                </a:lnTo>
                <a:lnTo>
                  <a:pt x="533387" y="235229"/>
                </a:lnTo>
                <a:lnTo>
                  <a:pt x="533387" y="363474"/>
                </a:lnTo>
                <a:lnTo>
                  <a:pt x="576059" y="363474"/>
                </a:lnTo>
                <a:lnTo>
                  <a:pt x="576059" y="235229"/>
                </a:lnTo>
                <a:lnTo>
                  <a:pt x="789406" y="235229"/>
                </a:lnTo>
                <a:lnTo>
                  <a:pt x="789406" y="363474"/>
                </a:lnTo>
                <a:lnTo>
                  <a:pt x="853440" y="363474"/>
                </a:lnTo>
                <a:lnTo>
                  <a:pt x="853440" y="64071"/>
                </a:lnTo>
                <a:lnTo>
                  <a:pt x="789406" y="64071"/>
                </a:lnTo>
                <a:lnTo>
                  <a:pt x="789406" y="191998"/>
                </a:lnTo>
                <a:lnTo>
                  <a:pt x="576059" y="191998"/>
                </a:lnTo>
                <a:lnTo>
                  <a:pt x="576059" y="64071"/>
                </a:lnTo>
                <a:lnTo>
                  <a:pt x="533387" y="64071"/>
                </a:lnTo>
                <a:lnTo>
                  <a:pt x="533387" y="191998"/>
                </a:lnTo>
                <a:lnTo>
                  <a:pt x="320027" y="191998"/>
                </a:lnTo>
                <a:lnTo>
                  <a:pt x="320027" y="64071"/>
                </a:lnTo>
                <a:lnTo>
                  <a:pt x="277355" y="64071"/>
                </a:lnTo>
                <a:lnTo>
                  <a:pt x="277355" y="191998"/>
                </a:lnTo>
                <a:lnTo>
                  <a:pt x="64008" y="191998"/>
                </a:lnTo>
                <a:lnTo>
                  <a:pt x="64008" y="63576"/>
                </a:lnTo>
                <a:lnTo>
                  <a:pt x="853440" y="63576"/>
                </a:lnTo>
                <a:lnTo>
                  <a:pt x="853440" y="0"/>
                </a:lnTo>
                <a:close/>
              </a:path>
            </a:pathLst>
          </a:custGeom>
          <a:solidFill>
            <a:srgbClr val="BCBCBC"/>
          </a:solidFill>
        </p:spPr>
        <p:txBody>
          <a:bodyPr wrap="square" lIns="0" tIns="0" rIns="0" bIns="0" rtlCol="0"/>
          <a:lstStyle/>
          <a:p>
            <a:endParaRPr sz="2400"/>
          </a:p>
        </p:txBody>
      </p:sp>
      <p:sp>
        <p:nvSpPr>
          <p:cNvPr id="6" name="object 6"/>
          <p:cNvSpPr txBox="1"/>
          <p:nvPr/>
        </p:nvSpPr>
        <p:spPr>
          <a:xfrm>
            <a:off x="1941408" y="4198959"/>
            <a:ext cx="1390225" cy="264560"/>
          </a:xfrm>
          <a:prstGeom prst="rect">
            <a:avLst/>
          </a:prstGeom>
        </p:spPr>
        <p:txBody>
          <a:bodyPr vert="horz" wrap="square" lIns="0" tIns="0" rIns="0" bIns="0" rtlCol="0">
            <a:spAutoFit/>
          </a:bodyPr>
          <a:lstStyle/>
          <a:p>
            <a:pPr>
              <a:lnSpc>
                <a:spcPts val="2020"/>
              </a:lnSpc>
            </a:pPr>
            <a:r>
              <a:rPr sz="2133" dirty="0">
                <a:solidFill>
                  <a:srgbClr val="FFFFFF"/>
                </a:solidFill>
                <a:latin typeface="Calibri"/>
                <a:cs typeface="Calibri"/>
              </a:rPr>
              <a:t>data</a:t>
            </a:r>
            <a:r>
              <a:rPr sz="2133" spc="-33" dirty="0">
                <a:solidFill>
                  <a:srgbClr val="FFFFFF"/>
                </a:solidFill>
                <a:latin typeface="Calibri"/>
                <a:cs typeface="Calibri"/>
              </a:rPr>
              <a:t> </a:t>
            </a:r>
            <a:r>
              <a:rPr sz="2133" spc="-13" dirty="0">
                <a:solidFill>
                  <a:srgbClr val="FFFFFF"/>
                </a:solidFill>
                <a:latin typeface="Calibri"/>
                <a:cs typeface="Calibri"/>
              </a:rPr>
              <a:t>sources</a:t>
            </a:r>
            <a:endParaRPr sz="2133">
              <a:latin typeface="Calibri"/>
              <a:cs typeface="Calibri"/>
            </a:endParaRPr>
          </a:p>
        </p:txBody>
      </p:sp>
      <p:sp>
        <p:nvSpPr>
          <p:cNvPr id="7" name="object 7"/>
          <p:cNvSpPr/>
          <p:nvPr/>
        </p:nvSpPr>
        <p:spPr>
          <a:xfrm>
            <a:off x="2194916" y="2986008"/>
            <a:ext cx="781473" cy="781473"/>
          </a:xfrm>
          <a:custGeom>
            <a:avLst/>
            <a:gdLst/>
            <a:ahLst/>
            <a:cxnLst/>
            <a:rect l="l" t="t" r="r" b="b"/>
            <a:pathLst>
              <a:path w="586105" h="586105">
                <a:moveTo>
                  <a:pt x="586003" y="334645"/>
                </a:moveTo>
                <a:lnTo>
                  <a:pt x="578231" y="353771"/>
                </a:lnTo>
                <a:lnTo>
                  <a:pt x="556107" y="371360"/>
                </a:lnTo>
                <a:lnTo>
                  <a:pt x="523227" y="386092"/>
                </a:lnTo>
                <a:lnTo>
                  <a:pt x="523227" y="481050"/>
                </a:lnTo>
                <a:lnTo>
                  <a:pt x="521716" y="489610"/>
                </a:lnTo>
                <a:lnTo>
                  <a:pt x="517461" y="496214"/>
                </a:lnTo>
                <a:lnTo>
                  <a:pt x="510857" y="500468"/>
                </a:lnTo>
                <a:lnTo>
                  <a:pt x="502297" y="501967"/>
                </a:lnTo>
                <a:lnTo>
                  <a:pt x="493725" y="500468"/>
                </a:lnTo>
                <a:lnTo>
                  <a:pt x="487121" y="496214"/>
                </a:lnTo>
                <a:lnTo>
                  <a:pt x="482866" y="489610"/>
                </a:lnTo>
                <a:lnTo>
                  <a:pt x="481368" y="481050"/>
                </a:lnTo>
                <a:lnTo>
                  <a:pt x="482866" y="472490"/>
                </a:lnTo>
                <a:lnTo>
                  <a:pt x="487121" y="465886"/>
                </a:lnTo>
                <a:lnTo>
                  <a:pt x="493725" y="461645"/>
                </a:lnTo>
                <a:lnTo>
                  <a:pt x="502297" y="460133"/>
                </a:lnTo>
                <a:lnTo>
                  <a:pt x="510857" y="461645"/>
                </a:lnTo>
                <a:lnTo>
                  <a:pt x="517461" y="465886"/>
                </a:lnTo>
                <a:lnTo>
                  <a:pt x="521716" y="472490"/>
                </a:lnTo>
                <a:lnTo>
                  <a:pt x="523227" y="481050"/>
                </a:lnTo>
                <a:lnTo>
                  <a:pt x="523227" y="386092"/>
                </a:lnTo>
                <a:lnTo>
                  <a:pt x="475983" y="399872"/>
                </a:lnTo>
                <a:lnTo>
                  <a:pt x="421563" y="409765"/>
                </a:lnTo>
                <a:lnTo>
                  <a:pt x="359981" y="416090"/>
                </a:lnTo>
                <a:lnTo>
                  <a:pt x="293001" y="418312"/>
                </a:lnTo>
                <a:lnTo>
                  <a:pt x="226034" y="416090"/>
                </a:lnTo>
                <a:lnTo>
                  <a:pt x="164439" y="409765"/>
                </a:lnTo>
                <a:lnTo>
                  <a:pt x="110032" y="399872"/>
                </a:lnTo>
                <a:lnTo>
                  <a:pt x="64579" y="386892"/>
                </a:lnTo>
                <a:lnTo>
                  <a:pt x="7772" y="353771"/>
                </a:lnTo>
                <a:lnTo>
                  <a:pt x="0" y="334645"/>
                </a:lnTo>
                <a:lnTo>
                  <a:pt x="0" y="501967"/>
                </a:lnTo>
                <a:lnTo>
                  <a:pt x="29895" y="538670"/>
                </a:lnTo>
                <a:lnTo>
                  <a:pt x="110032" y="567182"/>
                </a:lnTo>
                <a:lnTo>
                  <a:pt x="164439" y="577088"/>
                </a:lnTo>
                <a:lnTo>
                  <a:pt x="226034" y="583399"/>
                </a:lnTo>
                <a:lnTo>
                  <a:pt x="293001" y="585622"/>
                </a:lnTo>
                <a:lnTo>
                  <a:pt x="359981" y="583399"/>
                </a:lnTo>
                <a:lnTo>
                  <a:pt x="421563" y="577088"/>
                </a:lnTo>
                <a:lnTo>
                  <a:pt x="475983" y="567182"/>
                </a:lnTo>
                <a:lnTo>
                  <a:pt x="521423" y="554215"/>
                </a:lnTo>
                <a:lnTo>
                  <a:pt x="578231" y="521093"/>
                </a:lnTo>
                <a:lnTo>
                  <a:pt x="586003" y="501967"/>
                </a:lnTo>
                <a:lnTo>
                  <a:pt x="586003" y="460133"/>
                </a:lnTo>
                <a:lnTo>
                  <a:pt x="586003" y="418312"/>
                </a:lnTo>
                <a:lnTo>
                  <a:pt x="586003" y="334645"/>
                </a:lnTo>
                <a:close/>
              </a:path>
              <a:path w="586105" h="586105">
                <a:moveTo>
                  <a:pt x="586003" y="125501"/>
                </a:moveTo>
                <a:lnTo>
                  <a:pt x="578231" y="144627"/>
                </a:lnTo>
                <a:lnTo>
                  <a:pt x="556107" y="162204"/>
                </a:lnTo>
                <a:lnTo>
                  <a:pt x="523227" y="176949"/>
                </a:lnTo>
                <a:lnTo>
                  <a:pt x="523227" y="271907"/>
                </a:lnTo>
                <a:lnTo>
                  <a:pt x="521716" y="280466"/>
                </a:lnTo>
                <a:lnTo>
                  <a:pt x="517461" y="287070"/>
                </a:lnTo>
                <a:lnTo>
                  <a:pt x="510857" y="291312"/>
                </a:lnTo>
                <a:lnTo>
                  <a:pt x="502297" y="292823"/>
                </a:lnTo>
                <a:lnTo>
                  <a:pt x="493725" y="291312"/>
                </a:lnTo>
                <a:lnTo>
                  <a:pt x="487121" y="287070"/>
                </a:lnTo>
                <a:lnTo>
                  <a:pt x="482866" y="280466"/>
                </a:lnTo>
                <a:lnTo>
                  <a:pt x="481368" y="271907"/>
                </a:lnTo>
                <a:lnTo>
                  <a:pt x="482866" y="263347"/>
                </a:lnTo>
                <a:lnTo>
                  <a:pt x="487121" y="256743"/>
                </a:lnTo>
                <a:lnTo>
                  <a:pt x="493725" y="252488"/>
                </a:lnTo>
                <a:lnTo>
                  <a:pt x="502297" y="250990"/>
                </a:lnTo>
                <a:lnTo>
                  <a:pt x="510857" y="252488"/>
                </a:lnTo>
                <a:lnTo>
                  <a:pt x="517461" y="256743"/>
                </a:lnTo>
                <a:lnTo>
                  <a:pt x="521716" y="263347"/>
                </a:lnTo>
                <a:lnTo>
                  <a:pt x="523227" y="271907"/>
                </a:lnTo>
                <a:lnTo>
                  <a:pt x="523227" y="176949"/>
                </a:lnTo>
                <a:lnTo>
                  <a:pt x="475983" y="190715"/>
                </a:lnTo>
                <a:lnTo>
                  <a:pt x="421563" y="200621"/>
                </a:lnTo>
                <a:lnTo>
                  <a:pt x="359981" y="206933"/>
                </a:lnTo>
                <a:lnTo>
                  <a:pt x="293001" y="209156"/>
                </a:lnTo>
                <a:lnTo>
                  <a:pt x="226034" y="206933"/>
                </a:lnTo>
                <a:lnTo>
                  <a:pt x="164439" y="200621"/>
                </a:lnTo>
                <a:lnTo>
                  <a:pt x="110032" y="190715"/>
                </a:lnTo>
                <a:lnTo>
                  <a:pt x="64579" y="177749"/>
                </a:lnTo>
                <a:lnTo>
                  <a:pt x="7772" y="144627"/>
                </a:lnTo>
                <a:lnTo>
                  <a:pt x="0" y="125501"/>
                </a:lnTo>
                <a:lnTo>
                  <a:pt x="0" y="292823"/>
                </a:lnTo>
                <a:lnTo>
                  <a:pt x="29895" y="329526"/>
                </a:lnTo>
                <a:lnTo>
                  <a:pt x="110032" y="358038"/>
                </a:lnTo>
                <a:lnTo>
                  <a:pt x="164439" y="367944"/>
                </a:lnTo>
                <a:lnTo>
                  <a:pt x="226034" y="374256"/>
                </a:lnTo>
                <a:lnTo>
                  <a:pt x="293001" y="376478"/>
                </a:lnTo>
                <a:lnTo>
                  <a:pt x="359981" y="374256"/>
                </a:lnTo>
                <a:lnTo>
                  <a:pt x="421563" y="367944"/>
                </a:lnTo>
                <a:lnTo>
                  <a:pt x="475983" y="358038"/>
                </a:lnTo>
                <a:lnTo>
                  <a:pt x="521423" y="345059"/>
                </a:lnTo>
                <a:lnTo>
                  <a:pt x="578231" y="311937"/>
                </a:lnTo>
                <a:lnTo>
                  <a:pt x="586003" y="292823"/>
                </a:lnTo>
                <a:lnTo>
                  <a:pt x="586003" y="250990"/>
                </a:lnTo>
                <a:lnTo>
                  <a:pt x="586003" y="209156"/>
                </a:lnTo>
                <a:lnTo>
                  <a:pt x="586003" y="125501"/>
                </a:lnTo>
                <a:close/>
              </a:path>
              <a:path w="586105" h="586105">
                <a:moveTo>
                  <a:pt x="586003" y="83667"/>
                </a:moveTo>
                <a:lnTo>
                  <a:pt x="556234" y="46875"/>
                </a:lnTo>
                <a:lnTo>
                  <a:pt x="476262" y="18376"/>
                </a:lnTo>
                <a:lnTo>
                  <a:pt x="421855" y="8496"/>
                </a:lnTo>
                <a:lnTo>
                  <a:pt x="360184" y="2209"/>
                </a:lnTo>
                <a:lnTo>
                  <a:pt x="293001" y="0"/>
                </a:lnTo>
                <a:lnTo>
                  <a:pt x="225818" y="2209"/>
                </a:lnTo>
                <a:lnTo>
                  <a:pt x="164147" y="8496"/>
                </a:lnTo>
                <a:lnTo>
                  <a:pt x="109753" y="18376"/>
                </a:lnTo>
                <a:lnTo>
                  <a:pt x="64376" y="31343"/>
                </a:lnTo>
                <a:lnTo>
                  <a:pt x="7747" y="64490"/>
                </a:lnTo>
                <a:lnTo>
                  <a:pt x="0" y="83667"/>
                </a:lnTo>
                <a:lnTo>
                  <a:pt x="7747" y="102857"/>
                </a:lnTo>
                <a:lnTo>
                  <a:pt x="64376" y="135991"/>
                </a:lnTo>
                <a:lnTo>
                  <a:pt x="109753" y="148945"/>
                </a:lnTo>
                <a:lnTo>
                  <a:pt x="164147" y="158826"/>
                </a:lnTo>
                <a:lnTo>
                  <a:pt x="225818" y="165125"/>
                </a:lnTo>
                <a:lnTo>
                  <a:pt x="293001" y="167335"/>
                </a:lnTo>
                <a:lnTo>
                  <a:pt x="360184" y="165125"/>
                </a:lnTo>
                <a:lnTo>
                  <a:pt x="421855" y="158826"/>
                </a:lnTo>
                <a:lnTo>
                  <a:pt x="476262" y="148945"/>
                </a:lnTo>
                <a:lnTo>
                  <a:pt x="521639" y="135991"/>
                </a:lnTo>
                <a:lnTo>
                  <a:pt x="578269" y="102857"/>
                </a:lnTo>
                <a:lnTo>
                  <a:pt x="586003" y="83667"/>
                </a:lnTo>
                <a:close/>
              </a:path>
            </a:pathLst>
          </a:custGeom>
          <a:solidFill>
            <a:srgbClr val="9B9B9B"/>
          </a:solidFill>
        </p:spPr>
        <p:txBody>
          <a:bodyPr wrap="square" lIns="0" tIns="0" rIns="0" bIns="0" rtlCol="0"/>
          <a:lstStyle/>
          <a:p>
            <a:endParaRPr sz="2400"/>
          </a:p>
        </p:txBody>
      </p:sp>
      <p:sp>
        <p:nvSpPr>
          <p:cNvPr id="8" name="object 8"/>
          <p:cNvSpPr/>
          <p:nvPr/>
        </p:nvSpPr>
        <p:spPr>
          <a:xfrm>
            <a:off x="2194928" y="3711059"/>
            <a:ext cx="781473" cy="335280"/>
          </a:xfrm>
          <a:custGeom>
            <a:avLst/>
            <a:gdLst/>
            <a:ahLst/>
            <a:cxnLst/>
            <a:rect l="l" t="t" r="r" b="b"/>
            <a:pathLst>
              <a:path w="586105" h="251460">
                <a:moveTo>
                  <a:pt x="0" y="0"/>
                </a:moveTo>
                <a:lnTo>
                  <a:pt x="0" y="167318"/>
                </a:lnTo>
                <a:lnTo>
                  <a:pt x="29898" y="204025"/>
                </a:lnTo>
                <a:lnTo>
                  <a:pt x="110025" y="232537"/>
                </a:lnTo>
                <a:lnTo>
                  <a:pt x="164440" y="242440"/>
                </a:lnTo>
                <a:lnTo>
                  <a:pt x="226031" y="248757"/>
                </a:lnTo>
                <a:lnTo>
                  <a:pt x="293003" y="250977"/>
                </a:lnTo>
                <a:lnTo>
                  <a:pt x="359975" y="248757"/>
                </a:lnTo>
                <a:lnTo>
                  <a:pt x="421566" y="242440"/>
                </a:lnTo>
                <a:lnTo>
                  <a:pt x="475981" y="232538"/>
                </a:lnTo>
                <a:lnTo>
                  <a:pt x="521426" y="219562"/>
                </a:lnTo>
                <a:lnTo>
                  <a:pt x="578233" y="186440"/>
                </a:lnTo>
                <a:lnTo>
                  <a:pt x="586007" y="167318"/>
                </a:lnTo>
                <a:lnTo>
                  <a:pt x="502292" y="167318"/>
                </a:lnTo>
                <a:lnTo>
                  <a:pt x="493724" y="165814"/>
                </a:lnTo>
                <a:lnTo>
                  <a:pt x="487118" y="161566"/>
                </a:lnTo>
                <a:lnTo>
                  <a:pt x="482867" y="154965"/>
                </a:lnTo>
                <a:lnTo>
                  <a:pt x="481363" y="146403"/>
                </a:lnTo>
                <a:lnTo>
                  <a:pt x="482867" y="137841"/>
                </a:lnTo>
                <a:lnTo>
                  <a:pt x="487118" y="131240"/>
                </a:lnTo>
                <a:lnTo>
                  <a:pt x="493724" y="126991"/>
                </a:lnTo>
                <a:lnTo>
                  <a:pt x="502292" y="125488"/>
                </a:lnTo>
                <a:lnTo>
                  <a:pt x="586007" y="125488"/>
                </a:lnTo>
                <a:lnTo>
                  <a:pt x="586007" y="83659"/>
                </a:lnTo>
                <a:lnTo>
                  <a:pt x="293003" y="83659"/>
                </a:lnTo>
                <a:lnTo>
                  <a:pt x="226031" y="81439"/>
                </a:lnTo>
                <a:lnTo>
                  <a:pt x="164440" y="75122"/>
                </a:lnTo>
                <a:lnTo>
                  <a:pt x="110025" y="65219"/>
                </a:lnTo>
                <a:lnTo>
                  <a:pt x="64580" y="52244"/>
                </a:lnTo>
                <a:lnTo>
                  <a:pt x="7773" y="19122"/>
                </a:lnTo>
                <a:lnTo>
                  <a:pt x="0" y="0"/>
                </a:lnTo>
                <a:close/>
              </a:path>
              <a:path w="586105" h="251460">
                <a:moveTo>
                  <a:pt x="586007" y="125488"/>
                </a:moveTo>
                <a:lnTo>
                  <a:pt x="502292" y="125488"/>
                </a:lnTo>
                <a:lnTo>
                  <a:pt x="510859" y="126991"/>
                </a:lnTo>
                <a:lnTo>
                  <a:pt x="517465" y="131240"/>
                </a:lnTo>
                <a:lnTo>
                  <a:pt x="521716" y="137841"/>
                </a:lnTo>
                <a:lnTo>
                  <a:pt x="523220" y="146403"/>
                </a:lnTo>
                <a:lnTo>
                  <a:pt x="521716" y="154965"/>
                </a:lnTo>
                <a:lnTo>
                  <a:pt x="517465" y="161566"/>
                </a:lnTo>
                <a:lnTo>
                  <a:pt x="510859" y="165814"/>
                </a:lnTo>
                <a:lnTo>
                  <a:pt x="502292" y="167318"/>
                </a:lnTo>
                <a:lnTo>
                  <a:pt x="586007" y="167318"/>
                </a:lnTo>
                <a:lnTo>
                  <a:pt x="586007" y="125488"/>
                </a:lnTo>
                <a:close/>
              </a:path>
              <a:path w="586105" h="251460">
                <a:moveTo>
                  <a:pt x="586007" y="0"/>
                </a:moveTo>
                <a:lnTo>
                  <a:pt x="556109" y="36707"/>
                </a:lnTo>
                <a:lnTo>
                  <a:pt x="475981" y="65219"/>
                </a:lnTo>
                <a:lnTo>
                  <a:pt x="421566" y="75122"/>
                </a:lnTo>
                <a:lnTo>
                  <a:pt x="359975" y="81439"/>
                </a:lnTo>
                <a:lnTo>
                  <a:pt x="293003" y="83659"/>
                </a:lnTo>
                <a:lnTo>
                  <a:pt x="586007" y="83659"/>
                </a:lnTo>
                <a:lnTo>
                  <a:pt x="586007" y="0"/>
                </a:lnTo>
                <a:close/>
              </a:path>
            </a:pathLst>
          </a:custGeom>
          <a:solidFill>
            <a:srgbClr val="9B9B9B"/>
          </a:solidFill>
        </p:spPr>
        <p:txBody>
          <a:bodyPr wrap="square" lIns="0" tIns="0" rIns="0" bIns="0" rtlCol="0"/>
          <a:lstStyle/>
          <a:p>
            <a:endParaRPr sz="2400"/>
          </a:p>
        </p:txBody>
      </p:sp>
      <p:grpSp>
        <p:nvGrpSpPr>
          <p:cNvPr id="9" name="object 9"/>
          <p:cNvGrpSpPr/>
          <p:nvPr/>
        </p:nvGrpSpPr>
        <p:grpSpPr>
          <a:xfrm>
            <a:off x="3302001" y="1408177"/>
            <a:ext cx="2889673" cy="3113193"/>
            <a:chOff x="2476500" y="1056132"/>
            <a:chExt cx="2167255" cy="2334895"/>
          </a:xfrm>
        </p:grpSpPr>
        <p:sp>
          <p:nvSpPr>
            <p:cNvPr id="10" name="object 10"/>
            <p:cNvSpPr/>
            <p:nvPr/>
          </p:nvSpPr>
          <p:spPr>
            <a:xfrm>
              <a:off x="2910840" y="1060704"/>
              <a:ext cx="1728470" cy="2326005"/>
            </a:xfrm>
            <a:custGeom>
              <a:avLst/>
              <a:gdLst/>
              <a:ahLst/>
              <a:cxnLst/>
              <a:rect l="l" t="t" r="r" b="b"/>
              <a:pathLst>
                <a:path w="1728470" h="2326004">
                  <a:moveTo>
                    <a:pt x="0" y="288036"/>
                  </a:moveTo>
                  <a:lnTo>
                    <a:pt x="3768" y="241302"/>
                  </a:lnTo>
                  <a:lnTo>
                    <a:pt x="14679" y="196973"/>
                  </a:lnTo>
                  <a:lnTo>
                    <a:pt x="32140" y="155643"/>
                  </a:lnTo>
                  <a:lnTo>
                    <a:pt x="55558" y="117902"/>
                  </a:lnTo>
                  <a:lnTo>
                    <a:pt x="84343" y="84343"/>
                  </a:lnTo>
                  <a:lnTo>
                    <a:pt x="117902" y="55558"/>
                  </a:lnTo>
                  <a:lnTo>
                    <a:pt x="155643" y="32140"/>
                  </a:lnTo>
                  <a:lnTo>
                    <a:pt x="196973" y="14679"/>
                  </a:lnTo>
                  <a:lnTo>
                    <a:pt x="241302" y="3768"/>
                  </a:lnTo>
                  <a:lnTo>
                    <a:pt x="288036" y="0"/>
                  </a:lnTo>
                  <a:lnTo>
                    <a:pt x="1440180" y="0"/>
                  </a:lnTo>
                  <a:lnTo>
                    <a:pt x="1486913" y="3768"/>
                  </a:lnTo>
                  <a:lnTo>
                    <a:pt x="1531242" y="14679"/>
                  </a:lnTo>
                  <a:lnTo>
                    <a:pt x="1572572" y="32140"/>
                  </a:lnTo>
                  <a:lnTo>
                    <a:pt x="1610313" y="55558"/>
                  </a:lnTo>
                  <a:lnTo>
                    <a:pt x="1643872" y="84343"/>
                  </a:lnTo>
                  <a:lnTo>
                    <a:pt x="1672657" y="117902"/>
                  </a:lnTo>
                  <a:lnTo>
                    <a:pt x="1696075" y="155643"/>
                  </a:lnTo>
                  <a:lnTo>
                    <a:pt x="1713536" y="196973"/>
                  </a:lnTo>
                  <a:lnTo>
                    <a:pt x="1724447" y="241302"/>
                  </a:lnTo>
                  <a:lnTo>
                    <a:pt x="1728215" y="288036"/>
                  </a:lnTo>
                  <a:lnTo>
                    <a:pt x="1728215" y="2037588"/>
                  </a:lnTo>
                  <a:lnTo>
                    <a:pt x="1724447" y="2084321"/>
                  </a:lnTo>
                  <a:lnTo>
                    <a:pt x="1713536" y="2128650"/>
                  </a:lnTo>
                  <a:lnTo>
                    <a:pt x="1696075" y="2169980"/>
                  </a:lnTo>
                  <a:lnTo>
                    <a:pt x="1672657" y="2207721"/>
                  </a:lnTo>
                  <a:lnTo>
                    <a:pt x="1643872" y="2241280"/>
                  </a:lnTo>
                  <a:lnTo>
                    <a:pt x="1610313" y="2270065"/>
                  </a:lnTo>
                  <a:lnTo>
                    <a:pt x="1572572" y="2293483"/>
                  </a:lnTo>
                  <a:lnTo>
                    <a:pt x="1531242" y="2310944"/>
                  </a:lnTo>
                  <a:lnTo>
                    <a:pt x="1486913" y="2321855"/>
                  </a:lnTo>
                  <a:lnTo>
                    <a:pt x="1440180" y="2325624"/>
                  </a:lnTo>
                  <a:lnTo>
                    <a:pt x="288036" y="2325624"/>
                  </a:lnTo>
                  <a:lnTo>
                    <a:pt x="241302" y="2321855"/>
                  </a:lnTo>
                  <a:lnTo>
                    <a:pt x="196973" y="2310944"/>
                  </a:lnTo>
                  <a:lnTo>
                    <a:pt x="155643" y="2293483"/>
                  </a:lnTo>
                  <a:lnTo>
                    <a:pt x="117902" y="2270065"/>
                  </a:lnTo>
                  <a:lnTo>
                    <a:pt x="84343" y="2241280"/>
                  </a:lnTo>
                  <a:lnTo>
                    <a:pt x="55558" y="2207721"/>
                  </a:lnTo>
                  <a:lnTo>
                    <a:pt x="32140" y="2169980"/>
                  </a:lnTo>
                  <a:lnTo>
                    <a:pt x="14679" y="2128650"/>
                  </a:lnTo>
                  <a:lnTo>
                    <a:pt x="3768" y="2084321"/>
                  </a:lnTo>
                  <a:lnTo>
                    <a:pt x="0" y="2037588"/>
                  </a:lnTo>
                  <a:lnTo>
                    <a:pt x="0" y="288036"/>
                  </a:lnTo>
                  <a:close/>
                </a:path>
              </a:pathLst>
            </a:custGeom>
            <a:ln w="9144">
              <a:solidFill>
                <a:srgbClr val="00C3FF"/>
              </a:solidFill>
            </a:ln>
          </p:spPr>
          <p:txBody>
            <a:bodyPr wrap="square" lIns="0" tIns="0" rIns="0" bIns="0" rtlCol="0"/>
            <a:lstStyle/>
            <a:p>
              <a:endParaRPr sz="2400"/>
            </a:p>
          </p:txBody>
        </p:sp>
        <p:sp>
          <p:nvSpPr>
            <p:cNvPr id="11" name="object 11"/>
            <p:cNvSpPr/>
            <p:nvPr/>
          </p:nvSpPr>
          <p:spPr>
            <a:xfrm>
              <a:off x="2489453" y="1739646"/>
              <a:ext cx="524510" cy="167640"/>
            </a:xfrm>
            <a:custGeom>
              <a:avLst/>
              <a:gdLst/>
              <a:ahLst/>
              <a:cxnLst/>
              <a:rect l="l" t="t" r="r" b="b"/>
              <a:pathLst>
                <a:path w="524510" h="167639">
                  <a:moveTo>
                    <a:pt x="440435" y="0"/>
                  </a:moveTo>
                  <a:lnTo>
                    <a:pt x="440435" y="41909"/>
                  </a:lnTo>
                  <a:lnTo>
                    <a:pt x="0" y="41909"/>
                  </a:lnTo>
                  <a:lnTo>
                    <a:pt x="0" y="125729"/>
                  </a:lnTo>
                  <a:lnTo>
                    <a:pt x="440435" y="125729"/>
                  </a:lnTo>
                  <a:lnTo>
                    <a:pt x="440435" y="167639"/>
                  </a:lnTo>
                  <a:lnTo>
                    <a:pt x="524256" y="83819"/>
                  </a:lnTo>
                  <a:lnTo>
                    <a:pt x="440435" y="0"/>
                  </a:lnTo>
                  <a:close/>
                </a:path>
              </a:pathLst>
            </a:custGeom>
            <a:solidFill>
              <a:srgbClr val="00C3FF"/>
            </a:solidFill>
          </p:spPr>
          <p:txBody>
            <a:bodyPr wrap="square" lIns="0" tIns="0" rIns="0" bIns="0" rtlCol="0"/>
            <a:lstStyle/>
            <a:p>
              <a:endParaRPr sz="2400"/>
            </a:p>
          </p:txBody>
        </p:sp>
        <p:sp>
          <p:nvSpPr>
            <p:cNvPr id="12" name="object 12"/>
            <p:cNvSpPr/>
            <p:nvPr/>
          </p:nvSpPr>
          <p:spPr>
            <a:xfrm>
              <a:off x="2489453" y="1739646"/>
              <a:ext cx="524510" cy="167640"/>
            </a:xfrm>
            <a:custGeom>
              <a:avLst/>
              <a:gdLst/>
              <a:ahLst/>
              <a:cxnLst/>
              <a:rect l="l" t="t" r="r" b="b"/>
              <a:pathLst>
                <a:path w="524510" h="167639">
                  <a:moveTo>
                    <a:pt x="0" y="41909"/>
                  </a:moveTo>
                  <a:lnTo>
                    <a:pt x="440435" y="41909"/>
                  </a:lnTo>
                  <a:lnTo>
                    <a:pt x="440435" y="0"/>
                  </a:lnTo>
                  <a:lnTo>
                    <a:pt x="524256" y="83819"/>
                  </a:lnTo>
                  <a:lnTo>
                    <a:pt x="440435" y="167639"/>
                  </a:lnTo>
                  <a:lnTo>
                    <a:pt x="440435" y="125729"/>
                  </a:lnTo>
                  <a:lnTo>
                    <a:pt x="0" y="125729"/>
                  </a:lnTo>
                  <a:lnTo>
                    <a:pt x="0" y="41909"/>
                  </a:lnTo>
                  <a:close/>
                </a:path>
              </a:pathLst>
            </a:custGeom>
            <a:ln w="25907">
              <a:solidFill>
                <a:srgbClr val="008FBB"/>
              </a:solidFill>
            </a:ln>
          </p:spPr>
          <p:txBody>
            <a:bodyPr wrap="square" lIns="0" tIns="0" rIns="0" bIns="0" rtlCol="0"/>
            <a:lstStyle/>
            <a:p>
              <a:endParaRPr sz="2400"/>
            </a:p>
          </p:txBody>
        </p:sp>
        <p:sp>
          <p:nvSpPr>
            <p:cNvPr id="13" name="object 13"/>
            <p:cNvSpPr/>
            <p:nvPr/>
          </p:nvSpPr>
          <p:spPr>
            <a:xfrm>
              <a:off x="2489453" y="2526030"/>
              <a:ext cx="524510" cy="167640"/>
            </a:xfrm>
            <a:custGeom>
              <a:avLst/>
              <a:gdLst/>
              <a:ahLst/>
              <a:cxnLst/>
              <a:rect l="l" t="t" r="r" b="b"/>
              <a:pathLst>
                <a:path w="524510" h="167639">
                  <a:moveTo>
                    <a:pt x="440435" y="0"/>
                  </a:moveTo>
                  <a:lnTo>
                    <a:pt x="440435" y="41909"/>
                  </a:lnTo>
                  <a:lnTo>
                    <a:pt x="0" y="41909"/>
                  </a:lnTo>
                  <a:lnTo>
                    <a:pt x="0" y="125730"/>
                  </a:lnTo>
                  <a:lnTo>
                    <a:pt x="440435" y="125730"/>
                  </a:lnTo>
                  <a:lnTo>
                    <a:pt x="440435" y="167639"/>
                  </a:lnTo>
                  <a:lnTo>
                    <a:pt x="524256" y="83819"/>
                  </a:lnTo>
                  <a:lnTo>
                    <a:pt x="440435" y="0"/>
                  </a:lnTo>
                  <a:close/>
                </a:path>
              </a:pathLst>
            </a:custGeom>
            <a:solidFill>
              <a:srgbClr val="00C3FF"/>
            </a:solidFill>
          </p:spPr>
          <p:txBody>
            <a:bodyPr wrap="square" lIns="0" tIns="0" rIns="0" bIns="0" rtlCol="0"/>
            <a:lstStyle/>
            <a:p>
              <a:endParaRPr sz="2400"/>
            </a:p>
          </p:txBody>
        </p:sp>
        <p:sp>
          <p:nvSpPr>
            <p:cNvPr id="14" name="object 14"/>
            <p:cNvSpPr/>
            <p:nvPr/>
          </p:nvSpPr>
          <p:spPr>
            <a:xfrm>
              <a:off x="2489453" y="2526030"/>
              <a:ext cx="524510" cy="167640"/>
            </a:xfrm>
            <a:custGeom>
              <a:avLst/>
              <a:gdLst/>
              <a:ahLst/>
              <a:cxnLst/>
              <a:rect l="l" t="t" r="r" b="b"/>
              <a:pathLst>
                <a:path w="524510" h="167639">
                  <a:moveTo>
                    <a:pt x="0" y="41909"/>
                  </a:moveTo>
                  <a:lnTo>
                    <a:pt x="440435" y="41909"/>
                  </a:lnTo>
                  <a:lnTo>
                    <a:pt x="440435" y="0"/>
                  </a:lnTo>
                  <a:lnTo>
                    <a:pt x="524256" y="83819"/>
                  </a:lnTo>
                  <a:lnTo>
                    <a:pt x="440435" y="167639"/>
                  </a:lnTo>
                  <a:lnTo>
                    <a:pt x="440435" y="125730"/>
                  </a:lnTo>
                  <a:lnTo>
                    <a:pt x="0" y="125730"/>
                  </a:lnTo>
                  <a:lnTo>
                    <a:pt x="0" y="41909"/>
                  </a:lnTo>
                  <a:close/>
                </a:path>
              </a:pathLst>
            </a:custGeom>
            <a:ln w="25907">
              <a:solidFill>
                <a:srgbClr val="008FBB"/>
              </a:solidFill>
            </a:ln>
          </p:spPr>
          <p:txBody>
            <a:bodyPr wrap="square" lIns="0" tIns="0" rIns="0" bIns="0" rtlCol="0"/>
            <a:lstStyle/>
            <a:p>
              <a:endParaRPr sz="2400"/>
            </a:p>
          </p:txBody>
        </p:sp>
      </p:grpSp>
      <p:sp>
        <p:nvSpPr>
          <p:cNvPr id="15" name="object 15"/>
          <p:cNvSpPr txBox="1"/>
          <p:nvPr/>
        </p:nvSpPr>
        <p:spPr>
          <a:xfrm>
            <a:off x="3178047" y="1556511"/>
            <a:ext cx="953347" cy="605230"/>
          </a:xfrm>
          <a:prstGeom prst="rect">
            <a:avLst/>
          </a:prstGeom>
          <a:solidFill>
            <a:srgbClr val="00C3FF">
              <a:alpha val="50195"/>
            </a:srgbClr>
          </a:solidFill>
        </p:spPr>
        <p:txBody>
          <a:bodyPr vert="horz" wrap="square" lIns="0" tIns="30480" rIns="0" bIns="0" rtlCol="0">
            <a:spAutoFit/>
          </a:bodyPr>
          <a:lstStyle/>
          <a:p>
            <a:pPr marL="237061">
              <a:spcBef>
                <a:spcPts val="240"/>
              </a:spcBef>
            </a:pPr>
            <a:r>
              <a:rPr sz="3733" b="1" spc="-33" dirty="0">
                <a:solidFill>
                  <a:srgbClr val="FFFFFF"/>
                </a:solidFill>
                <a:latin typeface="Calibri"/>
                <a:cs typeface="Calibri"/>
              </a:rPr>
              <a:t>E</a:t>
            </a:r>
            <a:r>
              <a:rPr sz="2133" b="1" spc="-33" dirty="0">
                <a:solidFill>
                  <a:srgbClr val="7E7E7E"/>
                </a:solidFill>
                <a:latin typeface="Calibri"/>
                <a:cs typeface="Calibri"/>
              </a:rPr>
              <a:t>TL</a:t>
            </a:r>
            <a:endParaRPr sz="2133">
              <a:latin typeface="Calibri"/>
              <a:cs typeface="Calibri"/>
            </a:endParaRPr>
          </a:p>
        </p:txBody>
      </p:sp>
      <p:grpSp>
        <p:nvGrpSpPr>
          <p:cNvPr id="20" name="object 20"/>
          <p:cNvGrpSpPr/>
          <p:nvPr/>
        </p:nvGrpSpPr>
        <p:grpSpPr>
          <a:xfrm>
            <a:off x="6352031" y="2852928"/>
            <a:ext cx="734060" cy="258233"/>
            <a:chOff x="4764023" y="2139695"/>
            <a:chExt cx="550545" cy="193675"/>
          </a:xfrm>
        </p:grpSpPr>
        <p:sp>
          <p:nvSpPr>
            <p:cNvPr id="21" name="object 21"/>
            <p:cNvSpPr/>
            <p:nvPr/>
          </p:nvSpPr>
          <p:spPr>
            <a:xfrm>
              <a:off x="4776977" y="2152649"/>
              <a:ext cx="524510" cy="167640"/>
            </a:xfrm>
            <a:custGeom>
              <a:avLst/>
              <a:gdLst/>
              <a:ahLst/>
              <a:cxnLst/>
              <a:rect l="l" t="t" r="r" b="b"/>
              <a:pathLst>
                <a:path w="524510" h="167639">
                  <a:moveTo>
                    <a:pt x="440436" y="0"/>
                  </a:moveTo>
                  <a:lnTo>
                    <a:pt x="440436" y="41910"/>
                  </a:lnTo>
                  <a:lnTo>
                    <a:pt x="0" y="41910"/>
                  </a:lnTo>
                  <a:lnTo>
                    <a:pt x="0" y="125730"/>
                  </a:lnTo>
                  <a:lnTo>
                    <a:pt x="440436" y="125730"/>
                  </a:lnTo>
                  <a:lnTo>
                    <a:pt x="440436" y="167639"/>
                  </a:lnTo>
                  <a:lnTo>
                    <a:pt x="524256" y="83819"/>
                  </a:lnTo>
                  <a:lnTo>
                    <a:pt x="440436" y="0"/>
                  </a:lnTo>
                  <a:close/>
                </a:path>
              </a:pathLst>
            </a:custGeom>
            <a:solidFill>
              <a:srgbClr val="00C3FF"/>
            </a:solidFill>
          </p:spPr>
          <p:txBody>
            <a:bodyPr wrap="square" lIns="0" tIns="0" rIns="0" bIns="0" rtlCol="0"/>
            <a:lstStyle/>
            <a:p>
              <a:endParaRPr sz="2400"/>
            </a:p>
          </p:txBody>
        </p:sp>
        <p:sp>
          <p:nvSpPr>
            <p:cNvPr id="22" name="object 22"/>
            <p:cNvSpPr/>
            <p:nvPr/>
          </p:nvSpPr>
          <p:spPr>
            <a:xfrm>
              <a:off x="4776977" y="2152649"/>
              <a:ext cx="524510" cy="167640"/>
            </a:xfrm>
            <a:custGeom>
              <a:avLst/>
              <a:gdLst/>
              <a:ahLst/>
              <a:cxnLst/>
              <a:rect l="l" t="t" r="r" b="b"/>
              <a:pathLst>
                <a:path w="524510" h="167639">
                  <a:moveTo>
                    <a:pt x="0" y="41910"/>
                  </a:moveTo>
                  <a:lnTo>
                    <a:pt x="440436" y="41910"/>
                  </a:lnTo>
                  <a:lnTo>
                    <a:pt x="440436" y="0"/>
                  </a:lnTo>
                  <a:lnTo>
                    <a:pt x="524256" y="83819"/>
                  </a:lnTo>
                  <a:lnTo>
                    <a:pt x="440436" y="167639"/>
                  </a:lnTo>
                  <a:lnTo>
                    <a:pt x="440436" y="125730"/>
                  </a:lnTo>
                  <a:lnTo>
                    <a:pt x="0" y="125730"/>
                  </a:lnTo>
                  <a:lnTo>
                    <a:pt x="0" y="41910"/>
                  </a:lnTo>
                  <a:close/>
                </a:path>
              </a:pathLst>
            </a:custGeom>
            <a:ln w="25907">
              <a:solidFill>
                <a:srgbClr val="008FBB"/>
              </a:solidFill>
            </a:ln>
          </p:spPr>
          <p:txBody>
            <a:bodyPr wrap="square" lIns="0" tIns="0" rIns="0" bIns="0" rtlCol="0"/>
            <a:lstStyle/>
            <a:p>
              <a:endParaRPr sz="2400"/>
            </a:p>
          </p:txBody>
        </p:sp>
      </p:grpSp>
      <p:graphicFrame>
        <p:nvGraphicFramePr>
          <p:cNvPr id="23" name="object 23"/>
          <p:cNvGraphicFramePr>
            <a:graphicFrameLocks noGrp="1"/>
          </p:cNvGraphicFramePr>
          <p:nvPr>
            <p:extLst>
              <p:ext uri="{D42A27DB-BD31-4B8C-83A1-F6EECF244321}">
                <p14:modId xmlns:p14="http://schemas.microsoft.com/office/powerpoint/2010/main" val="3721475856"/>
              </p:ext>
            </p:extLst>
          </p:nvPr>
        </p:nvGraphicFramePr>
        <p:xfrm>
          <a:off x="3818635" y="4936405"/>
          <a:ext cx="3347478" cy="1728893"/>
        </p:xfrm>
        <a:graphic>
          <a:graphicData uri="http://schemas.openxmlformats.org/drawingml/2006/table">
            <a:tbl>
              <a:tblPr firstRow="1" bandRow="1">
                <a:tableStyleId>{2D5ABB26-0587-4C30-8999-92F81FD0307C}</a:tableStyleId>
              </a:tblPr>
              <a:tblGrid>
                <a:gridCol w="604372">
                  <a:extLst>
                    <a:ext uri="{9D8B030D-6E8A-4147-A177-3AD203B41FA5}">
                      <a16:colId xmlns:a16="http://schemas.microsoft.com/office/drawing/2014/main" val="20000"/>
                    </a:ext>
                  </a:extLst>
                </a:gridCol>
                <a:gridCol w="741347">
                  <a:extLst>
                    <a:ext uri="{9D8B030D-6E8A-4147-A177-3AD203B41FA5}">
                      <a16:colId xmlns:a16="http://schemas.microsoft.com/office/drawing/2014/main" val="20001"/>
                    </a:ext>
                  </a:extLst>
                </a:gridCol>
                <a:gridCol w="2001759">
                  <a:extLst>
                    <a:ext uri="{9D8B030D-6E8A-4147-A177-3AD203B41FA5}">
                      <a16:colId xmlns:a16="http://schemas.microsoft.com/office/drawing/2014/main" val="20002"/>
                    </a:ext>
                  </a:extLst>
                </a:gridCol>
              </a:tblGrid>
              <a:tr h="254000">
                <a:tc>
                  <a:txBody>
                    <a:bodyPr/>
                    <a:lstStyle/>
                    <a:p>
                      <a:pPr marL="1270" algn="ctr">
                        <a:lnSpc>
                          <a:spcPct val="100000"/>
                        </a:lnSpc>
                        <a:spcBef>
                          <a:spcPts val="135"/>
                        </a:spcBef>
                      </a:pPr>
                      <a:r>
                        <a:rPr sz="1400" spc="-25" dirty="0">
                          <a:latin typeface="Arial MT"/>
                          <a:cs typeface="Arial MT"/>
                        </a:rPr>
                        <a:t>id</a:t>
                      </a:r>
                      <a:endParaRPr sz="14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135"/>
                        </a:spcBef>
                      </a:pPr>
                      <a:r>
                        <a:rPr sz="1400" spc="-20" dirty="0">
                          <a:latin typeface="Arial MT"/>
                          <a:cs typeface="Arial MT"/>
                        </a:rPr>
                        <a:t>date</a:t>
                      </a:r>
                      <a:endParaRPr sz="14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135"/>
                        </a:spcBef>
                      </a:pPr>
                      <a:r>
                        <a:rPr sz="1400" spc="-10" dirty="0">
                          <a:latin typeface="Arial MT"/>
                          <a:cs typeface="Arial MT"/>
                        </a:rPr>
                        <a:t>product</a:t>
                      </a:r>
                      <a:endParaRPr sz="14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0"/>
                  </a:ext>
                </a:extLst>
              </a:tr>
              <a:tr h="254000">
                <a:tc>
                  <a:txBody>
                    <a:bodyPr/>
                    <a:lstStyle/>
                    <a:p>
                      <a:pPr algn="ctr">
                        <a:lnSpc>
                          <a:spcPct val="100000"/>
                        </a:lnSpc>
                        <a:spcBef>
                          <a:spcPts val="359"/>
                        </a:spcBef>
                      </a:pPr>
                      <a:r>
                        <a:rPr sz="1100" spc="-50" dirty="0">
                          <a:latin typeface="Arial MT"/>
                          <a:cs typeface="Arial MT"/>
                        </a:rPr>
                        <a:t>6</a:t>
                      </a:r>
                      <a:endParaRPr sz="1100" dirty="0">
                        <a:latin typeface="Arial MT"/>
                        <a:cs typeface="Arial MT"/>
                      </a:endParaRPr>
                    </a:p>
                  </a:txBody>
                  <a:tcPr marL="0" marR="0" marT="6095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905" algn="ctr">
                        <a:lnSpc>
                          <a:spcPct val="100000"/>
                        </a:lnSpc>
                        <a:spcBef>
                          <a:spcPts val="359"/>
                        </a:spcBef>
                      </a:pPr>
                      <a:r>
                        <a:rPr sz="1100" spc="-10" dirty="0">
                          <a:latin typeface="Arial MT"/>
                          <a:cs typeface="Arial MT"/>
                        </a:rPr>
                        <a:t>1/3/2022</a:t>
                      </a:r>
                      <a:endParaRPr sz="1100" dirty="0">
                        <a:latin typeface="Arial MT"/>
                        <a:cs typeface="Arial MT"/>
                      </a:endParaRPr>
                    </a:p>
                  </a:txBody>
                  <a:tcPr marL="0" marR="0" marT="6095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algn="ctr">
                        <a:lnSpc>
                          <a:spcPct val="100000"/>
                        </a:lnSpc>
                        <a:spcBef>
                          <a:spcPts val="359"/>
                        </a:spcBef>
                      </a:pPr>
                      <a:r>
                        <a:rPr sz="1100" dirty="0">
                          <a:latin typeface="Arial MT"/>
                          <a:cs typeface="Arial MT"/>
                        </a:rPr>
                        <a:t>Chocos</a:t>
                      </a:r>
                      <a:r>
                        <a:rPr sz="1100" spc="-15" dirty="0">
                          <a:latin typeface="Arial MT"/>
                          <a:cs typeface="Arial MT"/>
                        </a:rPr>
                        <a:t> </a:t>
                      </a:r>
                      <a:r>
                        <a:rPr sz="1100" dirty="0">
                          <a:latin typeface="Arial MT"/>
                          <a:cs typeface="Arial MT"/>
                        </a:rPr>
                        <a:t>-</a:t>
                      </a:r>
                      <a:r>
                        <a:rPr sz="1100" spc="-20" dirty="0">
                          <a:latin typeface="Arial MT"/>
                          <a:cs typeface="Arial MT"/>
                        </a:rPr>
                        <a:t> </a:t>
                      </a:r>
                      <a:r>
                        <a:rPr sz="1100" dirty="0">
                          <a:latin typeface="Arial MT"/>
                          <a:cs typeface="Arial MT"/>
                        </a:rPr>
                        <a:t>Magic</a:t>
                      </a:r>
                      <a:r>
                        <a:rPr sz="1100" spc="-5" dirty="0">
                          <a:latin typeface="Arial MT"/>
                          <a:cs typeface="Arial MT"/>
                        </a:rPr>
                        <a:t> </a:t>
                      </a:r>
                      <a:r>
                        <a:rPr sz="1100" spc="-10" dirty="0">
                          <a:latin typeface="Arial MT"/>
                          <a:cs typeface="Arial MT"/>
                        </a:rPr>
                        <a:t>Hearts</a:t>
                      </a:r>
                      <a:endParaRPr sz="1100" dirty="0">
                        <a:latin typeface="Arial MT"/>
                        <a:cs typeface="Arial MT"/>
                      </a:endParaRPr>
                    </a:p>
                  </a:txBody>
                  <a:tcPr marL="0" marR="0" marT="6095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extLst>
                  <a:ext uri="{0D108BD9-81ED-4DB2-BD59-A6C34878D82A}">
                    <a16:rowId xmlns:a16="http://schemas.microsoft.com/office/drawing/2014/main" val="10001"/>
                  </a:ext>
                </a:extLst>
              </a:tr>
              <a:tr h="296333">
                <a:tc>
                  <a:txBody>
                    <a:bodyPr/>
                    <a:lstStyle/>
                    <a:p>
                      <a:pPr algn="ctr">
                        <a:lnSpc>
                          <a:spcPct val="100000"/>
                        </a:lnSpc>
                        <a:spcBef>
                          <a:spcPts val="484"/>
                        </a:spcBef>
                      </a:pPr>
                      <a:r>
                        <a:rPr sz="1100" spc="-50" dirty="0">
                          <a:latin typeface="Arial MT"/>
                          <a:cs typeface="Arial MT"/>
                        </a:rPr>
                        <a:t>7</a:t>
                      </a:r>
                      <a:endParaRPr sz="11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905" algn="ctr">
                        <a:lnSpc>
                          <a:spcPct val="100000"/>
                        </a:lnSpc>
                        <a:spcBef>
                          <a:spcPts val="484"/>
                        </a:spcBef>
                      </a:pPr>
                      <a:r>
                        <a:rPr sz="1100" spc="-10" dirty="0">
                          <a:latin typeface="Arial MT"/>
                          <a:cs typeface="Arial MT"/>
                        </a:rPr>
                        <a:t>1/3/2022</a:t>
                      </a:r>
                      <a:endParaRPr sz="11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314960" marR="217804" indent="-90170">
                        <a:lnSpc>
                          <a:spcPct val="100000"/>
                        </a:lnSpc>
                      </a:pPr>
                      <a:r>
                        <a:rPr sz="1100" dirty="0">
                          <a:latin typeface="Arial MT"/>
                          <a:cs typeface="Arial MT"/>
                        </a:rPr>
                        <a:t>Chocos Webs</a:t>
                      </a:r>
                      <a:r>
                        <a:rPr sz="1100" spc="-40" dirty="0">
                          <a:latin typeface="Arial MT"/>
                          <a:cs typeface="Arial MT"/>
                        </a:rPr>
                        <a:t> </a:t>
                      </a:r>
                      <a:r>
                        <a:rPr sz="1100" spc="-50" dirty="0">
                          <a:latin typeface="Arial MT"/>
                          <a:cs typeface="Arial MT"/>
                        </a:rPr>
                        <a:t>-</a:t>
                      </a:r>
                      <a:r>
                        <a:rPr sz="1100" spc="500" dirty="0">
                          <a:latin typeface="Arial MT"/>
                          <a:cs typeface="Arial MT"/>
                        </a:rPr>
                        <a:t> </a:t>
                      </a:r>
                      <a:r>
                        <a:rPr sz="1100" spc="-10" dirty="0">
                          <a:latin typeface="Arial MT"/>
                          <a:cs typeface="Arial MT"/>
                        </a:rPr>
                        <a:t>Spiderman</a:t>
                      </a:r>
                      <a:endParaRPr sz="11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extLst>
                  <a:ext uri="{0D108BD9-81ED-4DB2-BD59-A6C34878D82A}">
                    <a16:rowId xmlns:a16="http://schemas.microsoft.com/office/drawing/2014/main" val="10002"/>
                  </a:ext>
                </a:extLst>
              </a:tr>
              <a:tr h="297180">
                <a:tc>
                  <a:txBody>
                    <a:bodyPr/>
                    <a:lstStyle/>
                    <a:p>
                      <a:pPr algn="ctr">
                        <a:lnSpc>
                          <a:spcPct val="100000"/>
                        </a:lnSpc>
                        <a:spcBef>
                          <a:spcPts val="484"/>
                        </a:spcBef>
                      </a:pPr>
                      <a:r>
                        <a:rPr sz="1100" spc="-50" dirty="0">
                          <a:latin typeface="Arial MT"/>
                          <a:cs typeface="Arial MT"/>
                        </a:rPr>
                        <a:t>8</a:t>
                      </a:r>
                      <a:endParaRPr sz="11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905" algn="ctr">
                        <a:lnSpc>
                          <a:spcPct val="100000"/>
                        </a:lnSpc>
                        <a:spcBef>
                          <a:spcPts val="484"/>
                        </a:spcBef>
                      </a:pPr>
                      <a:r>
                        <a:rPr sz="1100" spc="-10" dirty="0">
                          <a:latin typeface="Arial MT"/>
                          <a:cs typeface="Arial MT"/>
                        </a:rPr>
                        <a:t>1/3/2022</a:t>
                      </a:r>
                      <a:endParaRPr sz="11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330200" marR="162560" indent="-160020">
                        <a:lnSpc>
                          <a:spcPct val="100000"/>
                        </a:lnSpc>
                      </a:pPr>
                      <a:r>
                        <a:rPr sz="1100" dirty="0">
                          <a:latin typeface="Arial MT"/>
                          <a:cs typeface="Arial MT"/>
                        </a:rPr>
                        <a:t>Breakfast</a:t>
                      </a:r>
                      <a:r>
                        <a:rPr sz="1100" spc="-20" dirty="0">
                          <a:latin typeface="Arial MT"/>
                          <a:cs typeface="Arial MT"/>
                        </a:rPr>
                        <a:t> </a:t>
                      </a:r>
                      <a:r>
                        <a:rPr sz="1100" dirty="0">
                          <a:latin typeface="Arial MT"/>
                          <a:cs typeface="Arial MT"/>
                        </a:rPr>
                        <a:t>Cereal</a:t>
                      </a:r>
                      <a:r>
                        <a:rPr sz="1100" spc="-35" dirty="0">
                          <a:latin typeface="Arial MT"/>
                          <a:cs typeface="Arial MT"/>
                        </a:rPr>
                        <a:t> </a:t>
                      </a:r>
                      <a:r>
                        <a:rPr sz="1100" spc="-50" dirty="0">
                          <a:latin typeface="Arial MT"/>
                          <a:cs typeface="Arial MT"/>
                        </a:rPr>
                        <a:t>-</a:t>
                      </a:r>
                      <a:r>
                        <a:rPr sz="1100" spc="500" dirty="0">
                          <a:latin typeface="Arial MT"/>
                          <a:cs typeface="Arial MT"/>
                        </a:rPr>
                        <a:t> </a:t>
                      </a:r>
                      <a:r>
                        <a:rPr sz="1100" spc="-10" dirty="0">
                          <a:latin typeface="Arial MT"/>
                          <a:cs typeface="Arial MT"/>
                        </a:rPr>
                        <a:t>Chocolate</a:t>
                      </a:r>
                      <a:endParaRPr sz="11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extLst>
                  <a:ext uri="{0D108BD9-81ED-4DB2-BD59-A6C34878D82A}">
                    <a16:rowId xmlns:a16="http://schemas.microsoft.com/office/drawing/2014/main" val="10003"/>
                  </a:ext>
                </a:extLst>
              </a:tr>
              <a:tr h="254000">
                <a:tc>
                  <a:txBody>
                    <a:bodyPr/>
                    <a:lstStyle/>
                    <a:p>
                      <a:pPr algn="ctr">
                        <a:lnSpc>
                          <a:spcPct val="100000"/>
                        </a:lnSpc>
                        <a:spcBef>
                          <a:spcPts val="360"/>
                        </a:spcBef>
                      </a:pPr>
                      <a:r>
                        <a:rPr sz="1100" spc="-50" dirty="0">
                          <a:latin typeface="Arial MT"/>
                          <a:cs typeface="Arial MT"/>
                        </a:rPr>
                        <a:t>9</a:t>
                      </a:r>
                      <a:endParaRPr sz="1100">
                        <a:latin typeface="Arial MT"/>
                        <a:cs typeface="Arial MT"/>
                      </a:endParaRPr>
                    </a:p>
                  </a:txBody>
                  <a:tcPr marL="0" marR="0" marT="609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905" algn="ctr">
                        <a:lnSpc>
                          <a:spcPct val="100000"/>
                        </a:lnSpc>
                        <a:spcBef>
                          <a:spcPts val="360"/>
                        </a:spcBef>
                      </a:pPr>
                      <a:r>
                        <a:rPr sz="1100" spc="-10" dirty="0">
                          <a:latin typeface="Arial MT"/>
                          <a:cs typeface="Arial MT"/>
                        </a:rPr>
                        <a:t>1/3/2022</a:t>
                      </a:r>
                      <a:endParaRPr sz="1100">
                        <a:latin typeface="Arial MT"/>
                        <a:cs typeface="Arial MT"/>
                      </a:endParaRPr>
                    </a:p>
                  </a:txBody>
                  <a:tcPr marL="0" marR="0" marT="609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270" algn="ctr">
                        <a:lnSpc>
                          <a:spcPct val="100000"/>
                        </a:lnSpc>
                        <a:spcBef>
                          <a:spcPts val="360"/>
                        </a:spcBef>
                      </a:pPr>
                      <a:r>
                        <a:rPr sz="1100" dirty="0">
                          <a:latin typeface="Arial MT"/>
                          <a:cs typeface="Arial MT"/>
                        </a:rPr>
                        <a:t>Fiber</a:t>
                      </a:r>
                      <a:r>
                        <a:rPr sz="1100" spc="-10" dirty="0">
                          <a:latin typeface="Arial MT"/>
                          <a:cs typeface="Arial MT"/>
                        </a:rPr>
                        <a:t> </a:t>
                      </a:r>
                      <a:r>
                        <a:rPr sz="1100" dirty="0">
                          <a:latin typeface="Arial MT"/>
                          <a:cs typeface="Arial MT"/>
                        </a:rPr>
                        <a:t>Rich</a:t>
                      </a:r>
                      <a:r>
                        <a:rPr sz="1100" spc="-25" dirty="0">
                          <a:latin typeface="Arial MT"/>
                          <a:cs typeface="Arial MT"/>
                        </a:rPr>
                        <a:t> </a:t>
                      </a:r>
                      <a:r>
                        <a:rPr sz="1100" spc="-10" dirty="0">
                          <a:latin typeface="Arial MT"/>
                          <a:cs typeface="Arial MT"/>
                        </a:rPr>
                        <a:t>Chocolate</a:t>
                      </a:r>
                      <a:endParaRPr sz="1100" dirty="0">
                        <a:latin typeface="Arial MT"/>
                        <a:cs typeface="Arial MT"/>
                      </a:endParaRPr>
                    </a:p>
                  </a:txBody>
                  <a:tcPr marL="0" marR="0" marT="609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extLst>
                  <a:ext uri="{0D108BD9-81ED-4DB2-BD59-A6C34878D82A}">
                    <a16:rowId xmlns:a16="http://schemas.microsoft.com/office/drawing/2014/main" val="10004"/>
                  </a:ext>
                </a:extLst>
              </a:tr>
              <a:tr h="296333">
                <a:tc>
                  <a:txBody>
                    <a:bodyPr/>
                    <a:lstStyle/>
                    <a:p>
                      <a:pPr algn="ctr">
                        <a:lnSpc>
                          <a:spcPct val="100000"/>
                        </a:lnSpc>
                        <a:spcBef>
                          <a:spcPts val="490"/>
                        </a:spcBef>
                      </a:pPr>
                      <a:r>
                        <a:rPr sz="1100" spc="-25" dirty="0">
                          <a:latin typeface="Arial MT"/>
                          <a:cs typeface="Arial MT"/>
                        </a:rPr>
                        <a:t>10</a:t>
                      </a:r>
                      <a:endParaRPr sz="1100">
                        <a:latin typeface="Arial MT"/>
                        <a:cs typeface="Arial MT"/>
                      </a:endParaRPr>
                    </a:p>
                  </a:txBody>
                  <a:tcPr marL="0" marR="0" marT="829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905" algn="ctr">
                        <a:lnSpc>
                          <a:spcPct val="100000"/>
                        </a:lnSpc>
                        <a:spcBef>
                          <a:spcPts val="490"/>
                        </a:spcBef>
                      </a:pPr>
                      <a:r>
                        <a:rPr sz="1100" spc="-10" dirty="0">
                          <a:latin typeface="Arial MT"/>
                          <a:cs typeface="Arial MT"/>
                        </a:rPr>
                        <a:t>1/3/2022</a:t>
                      </a:r>
                      <a:endParaRPr sz="1100">
                        <a:latin typeface="Arial MT"/>
                        <a:cs typeface="Arial MT"/>
                      </a:endParaRPr>
                    </a:p>
                  </a:txBody>
                  <a:tcPr marL="0" marR="0" marT="829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424815" marR="59690" indent="-358775">
                        <a:lnSpc>
                          <a:spcPct val="100000"/>
                        </a:lnSpc>
                      </a:pPr>
                      <a:r>
                        <a:rPr sz="1100" dirty="0">
                          <a:latin typeface="Arial MT"/>
                          <a:cs typeface="Arial MT"/>
                        </a:rPr>
                        <a:t>Centre</a:t>
                      </a:r>
                      <a:r>
                        <a:rPr sz="1100" spc="-5" dirty="0">
                          <a:latin typeface="Arial MT"/>
                          <a:cs typeface="Arial MT"/>
                        </a:rPr>
                        <a:t> </a:t>
                      </a:r>
                      <a:r>
                        <a:rPr sz="1100" dirty="0">
                          <a:latin typeface="Arial MT"/>
                          <a:cs typeface="Arial MT"/>
                        </a:rPr>
                        <a:t>Filled</a:t>
                      </a:r>
                      <a:r>
                        <a:rPr sz="1100" spc="-35" dirty="0">
                          <a:latin typeface="Arial MT"/>
                          <a:cs typeface="Arial MT"/>
                        </a:rPr>
                        <a:t> </a:t>
                      </a:r>
                      <a:r>
                        <a:rPr sz="1100" spc="-10" dirty="0">
                          <a:latin typeface="Arial MT"/>
                          <a:cs typeface="Arial MT"/>
                        </a:rPr>
                        <a:t>Chocolate</a:t>
                      </a:r>
                      <a:r>
                        <a:rPr sz="1100" spc="500" dirty="0">
                          <a:latin typeface="Arial MT"/>
                          <a:cs typeface="Arial MT"/>
                        </a:rPr>
                        <a:t> </a:t>
                      </a:r>
                      <a:r>
                        <a:rPr sz="1100" spc="-20" dirty="0">
                          <a:latin typeface="Arial MT"/>
                          <a:cs typeface="Arial MT"/>
                        </a:rPr>
                        <a:t>Cake</a:t>
                      </a:r>
                      <a:endParaRPr sz="11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extLst>
                  <a:ext uri="{0D108BD9-81ED-4DB2-BD59-A6C34878D82A}">
                    <a16:rowId xmlns:a16="http://schemas.microsoft.com/office/drawing/2014/main" val="10005"/>
                  </a:ext>
                </a:extLst>
              </a:tr>
            </a:tbl>
          </a:graphicData>
        </a:graphic>
      </p:graphicFrame>
      <p:sp>
        <p:nvSpPr>
          <p:cNvPr id="24" name="object 24"/>
          <p:cNvSpPr txBox="1"/>
          <p:nvPr/>
        </p:nvSpPr>
        <p:spPr>
          <a:xfrm>
            <a:off x="4179486" y="2794168"/>
            <a:ext cx="1665393" cy="386430"/>
          </a:xfrm>
          <a:prstGeom prst="rect">
            <a:avLst/>
          </a:prstGeom>
        </p:spPr>
        <p:txBody>
          <a:bodyPr vert="horz" wrap="square" lIns="0" tIns="16933" rIns="0" bIns="0" rtlCol="0">
            <a:spAutoFit/>
          </a:bodyPr>
          <a:lstStyle/>
          <a:p>
            <a:pPr marL="16933">
              <a:spcBef>
                <a:spcPts val="133"/>
              </a:spcBef>
            </a:pPr>
            <a:r>
              <a:rPr sz="2400" spc="113" dirty="0">
                <a:solidFill>
                  <a:srgbClr val="99D3FF"/>
                </a:solidFill>
                <a:latin typeface="Arial MT"/>
                <a:cs typeface="Arial MT"/>
              </a:rPr>
              <a:t>Temporary</a:t>
            </a:r>
            <a:endParaRPr sz="2400">
              <a:latin typeface="Arial MT"/>
              <a:cs typeface="Arial MT"/>
            </a:endParaRPr>
          </a:p>
        </p:txBody>
      </p:sp>
      <p:graphicFrame>
        <p:nvGraphicFramePr>
          <p:cNvPr id="25" name="object 25"/>
          <p:cNvGraphicFramePr>
            <a:graphicFrameLocks noGrp="1"/>
          </p:cNvGraphicFramePr>
          <p:nvPr>
            <p:extLst>
              <p:ext uri="{D42A27DB-BD31-4B8C-83A1-F6EECF244321}">
                <p14:modId xmlns:p14="http://schemas.microsoft.com/office/powerpoint/2010/main" val="1995314753"/>
              </p:ext>
            </p:extLst>
          </p:nvPr>
        </p:nvGraphicFramePr>
        <p:xfrm>
          <a:off x="7240353" y="2012525"/>
          <a:ext cx="4646848" cy="3443759"/>
        </p:xfrm>
        <a:graphic>
          <a:graphicData uri="http://schemas.openxmlformats.org/drawingml/2006/table">
            <a:tbl>
              <a:tblPr firstRow="1" bandRow="1">
                <a:tableStyleId>{2D5ABB26-0587-4C30-8999-92F81FD0307C}</a:tableStyleId>
              </a:tblPr>
              <a:tblGrid>
                <a:gridCol w="245157">
                  <a:extLst>
                    <a:ext uri="{9D8B030D-6E8A-4147-A177-3AD203B41FA5}">
                      <a16:colId xmlns:a16="http://schemas.microsoft.com/office/drawing/2014/main" val="20000"/>
                    </a:ext>
                  </a:extLst>
                </a:gridCol>
                <a:gridCol w="659493">
                  <a:extLst>
                    <a:ext uri="{9D8B030D-6E8A-4147-A177-3AD203B41FA5}">
                      <a16:colId xmlns:a16="http://schemas.microsoft.com/office/drawing/2014/main" val="20001"/>
                    </a:ext>
                  </a:extLst>
                </a:gridCol>
                <a:gridCol w="1337223">
                  <a:extLst>
                    <a:ext uri="{9D8B030D-6E8A-4147-A177-3AD203B41FA5}">
                      <a16:colId xmlns:a16="http://schemas.microsoft.com/office/drawing/2014/main" val="20002"/>
                    </a:ext>
                  </a:extLst>
                </a:gridCol>
                <a:gridCol w="1337223">
                  <a:extLst>
                    <a:ext uri="{9D8B030D-6E8A-4147-A177-3AD203B41FA5}">
                      <a16:colId xmlns:a16="http://schemas.microsoft.com/office/drawing/2014/main" val="20003"/>
                    </a:ext>
                  </a:extLst>
                </a:gridCol>
                <a:gridCol w="1067752">
                  <a:extLst>
                    <a:ext uri="{9D8B030D-6E8A-4147-A177-3AD203B41FA5}">
                      <a16:colId xmlns:a16="http://schemas.microsoft.com/office/drawing/2014/main" val="20004"/>
                    </a:ext>
                  </a:extLst>
                </a:gridCol>
              </a:tblGrid>
              <a:tr h="263921">
                <a:tc>
                  <a:txBody>
                    <a:bodyPr/>
                    <a:lstStyle/>
                    <a:p>
                      <a:pPr marR="19685" algn="ctr">
                        <a:lnSpc>
                          <a:spcPct val="100000"/>
                        </a:lnSpc>
                        <a:spcBef>
                          <a:spcPts val="130"/>
                        </a:spcBef>
                      </a:pPr>
                      <a:r>
                        <a:rPr sz="1400" spc="-25" dirty="0">
                          <a:latin typeface="Arial MT"/>
                          <a:cs typeface="Arial MT"/>
                        </a:rPr>
                        <a:t>id</a:t>
                      </a:r>
                      <a:endParaRPr sz="1400" dirty="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0160">
                        <a:lnSpc>
                          <a:spcPct val="100000"/>
                        </a:lnSpc>
                        <a:spcBef>
                          <a:spcPts val="130"/>
                        </a:spcBef>
                      </a:pPr>
                      <a:r>
                        <a:rPr sz="1400" spc="-20" dirty="0">
                          <a:latin typeface="Arial MT"/>
                          <a:cs typeface="Arial MT"/>
                        </a:rPr>
                        <a:t>date</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0160">
                        <a:lnSpc>
                          <a:spcPct val="100000"/>
                        </a:lnSpc>
                        <a:spcBef>
                          <a:spcPts val="130"/>
                        </a:spcBef>
                      </a:pPr>
                      <a:r>
                        <a:rPr sz="1400" spc="-10" dirty="0">
                          <a:latin typeface="Arial MT"/>
                          <a:cs typeface="Arial MT"/>
                        </a:rPr>
                        <a:t>product</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R="77470" algn="ctr">
                        <a:lnSpc>
                          <a:spcPct val="100000"/>
                        </a:lnSpc>
                        <a:spcBef>
                          <a:spcPts val="130"/>
                        </a:spcBef>
                      </a:pPr>
                      <a:r>
                        <a:rPr sz="1400" spc="-10" dirty="0">
                          <a:latin typeface="Arial MT"/>
                          <a:cs typeface="Arial MT"/>
                        </a:rPr>
                        <a:t>customer_id</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0160">
                        <a:lnSpc>
                          <a:spcPct val="100000"/>
                        </a:lnSpc>
                        <a:spcBef>
                          <a:spcPts val="130"/>
                        </a:spcBef>
                      </a:pPr>
                      <a:r>
                        <a:rPr sz="1400" spc="-10" dirty="0">
                          <a:latin typeface="Arial MT"/>
                          <a:cs typeface="Arial MT"/>
                        </a:rPr>
                        <a:t>store_id</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0"/>
                  </a:ext>
                </a:extLst>
              </a:tr>
              <a:tr h="307908">
                <a:tc>
                  <a:txBody>
                    <a:bodyPr/>
                    <a:lstStyle/>
                    <a:p>
                      <a:pPr marL="1270" algn="ctr">
                        <a:lnSpc>
                          <a:spcPct val="100000"/>
                        </a:lnSpc>
                        <a:spcBef>
                          <a:spcPts val="470"/>
                        </a:spcBef>
                      </a:pPr>
                      <a:r>
                        <a:rPr sz="1100" spc="-50" dirty="0">
                          <a:latin typeface="Arial MT"/>
                          <a:cs typeface="Arial MT"/>
                        </a:rPr>
                        <a:t>1</a:t>
                      </a:r>
                      <a:endParaRPr sz="1100" dirty="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6195">
                        <a:lnSpc>
                          <a:spcPct val="100000"/>
                        </a:lnSpc>
                        <a:spcBef>
                          <a:spcPts val="470"/>
                        </a:spcBef>
                      </a:pPr>
                      <a:r>
                        <a:rPr sz="1100" spc="-10" dirty="0">
                          <a:latin typeface="Arial MT"/>
                          <a:cs typeface="Arial MT"/>
                        </a:rPr>
                        <a:t>1/2/2022</a:t>
                      </a:r>
                      <a:endParaRPr sz="1100" dirty="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69240" marR="120014" indent="-135890">
                        <a:lnSpc>
                          <a:spcPts val="830"/>
                        </a:lnSpc>
                      </a:pPr>
                      <a:r>
                        <a:rPr sz="1100" dirty="0">
                          <a:latin typeface="Arial MT"/>
                          <a:cs typeface="Arial MT"/>
                        </a:rPr>
                        <a:t>Fulltoss</a:t>
                      </a:r>
                      <a:r>
                        <a:rPr sz="1100" spc="-25" dirty="0">
                          <a:latin typeface="Arial MT"/>
                          <a:cs typeface="Arial MT"/>
                        </a:rPr>
                        <a:t> </a:t>
                      </a:r>
                      <a:r>
                        <a:rPr sz="1100" spc="-10" dirty="0">
                          <a:latin typeface="Arial MT"/>
                          <a:cs typeface="Arial MT"/>
                        </a:rPr>
                        <a:t>Tangy</a:t>
                      </a:r>
                      <a:r>
                        <a:rPr sz="1100" spc="500" dirty="0">
                          <a:latin typeface="Arial MT"/>
                          <a:cs typeface="Arial MT"/>
                        </a:rPr>
                        <a:t> </a:t>
                      </a:r>
                      <a:r>
                        <a:rPr sz="1100" spc="-10" dirty="0">
                          <a:latin typeface="Arial MT"/>
                          <a:cs typeface="Arial MT"/>
                        </a:rPr>
                        <a:t>Tomato</a:t>
                      </a:r>
                      <a:endParaRPr sz="11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445"/>
                        </a:spcBef>
                      </a:pPr>
                      <a:r>
                        <a:rPr sz="1100" spc="-50" dirty="0">
                          <a:latin typeface="Calibri"/>
                          <a:cs typeface="Calibri"/>
                        </a:rPr>
                        <a:t>2</a:t>
                      </a:r>
                      <a:endParaRPr sz="11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45"/>
                        </a:spcBef>
                      </a:pPr>
                      <a:r>
                        <a:rPr sz="1100" spc="-50" dirty="0">
                          <a:latin typeface="Calibri"/>
                          <a:cs typeface="Calibri"/>
                        </a:rPr>
                        <a:t>2</a:t>
                      </a:r>
                      <a:endParaRPr sz="11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307908">
                <a:tc>
                  <a:txBody>
                    <a:bodyPr/>
                    <a:lstStyle/>
                    <a:p>
                      <a:pPr marL="1270" algn="ctr">
                        <a:lnSpc>
                          <a:spcPct val="100000"/>
                        </a:lnSpc>
                        <a:spcBef>
                          <a:spcPts val="470"/>
                        </a:spcBef>
                      </a:pPr>
                      <a:r>
                        <a:rPr sz="1100" spc="-50" dirty="0">
                          <a:latin typeface="Arial MT"/>
                          <a:cs typeface="Arial MT"/>
                        </a:rPr>
                        <a:t>2</a:t>
                      </a:r>
                      <a:endParaRPr sz="11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6195">
                        <a:lnSpc>
                          <a:spcPct val="100000"/>
                        </a:lnSpc>
                        <a:spcBef>
                          <a:spcPts val="470"/>
                        </a:spcBef>
                      </a:pPr>
                      <a:r>
                        <a:rPr sz="1100" spc="-10" dirty="0">
                          <a:latin typeface="Arial MT"/>
                          <a:cs typeface="Arial MT"/>
                        </a:rPr>
                        <a:t>1/2/2022</a:t>
                      </a:r>
                      <a:endParaRPr sz="11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835"/>
                        </a:lnSpc>
                        <a:spcBef>
                          <a:spcPts val="60"/>
                        </a:spcBef>
                      </a:pPr>
                      <a:r>
                        <a:rPr sz="1100" dirty="0">
                          <a:latin typeface="Arial MT"/>
                          <a:cs typeface="Arial MT"/>
                        </a:rPr>
                        <a:t>Chilli</a:t>
                      </a:r>
                      <a:r>
                        <a:rPr sz="1100" spc="-20" dirty="0">
                          <a:latin typeface="Arial MT"/>
                          <a:cs typeface="Arial MT"/>
                        </a:rPr>
                        <a:t> </a:t>
                      </a:r>
                      <a:r>
                        <a:rPr sz="1100" dirty="0">
                          <a:latin typeface="Arial MT"/>
                          <a:cs typeface="Arial MT"/>
                        </a:rPr>
                        <a:t>- </a:t>
                      </a:r>
                      <a:r>
                        <a:rPr sz="1100" spc="-10" dirty="0">
                          <a:latin typeface="Arial MT"/>
                          <a:cs typeface="Arial MT"/>
                        </a:rPr>
                        <a:t>Green,</a:t>
                      </a:r>
                      <a:endParaRPr sz="1100" dirty="0">
                        <a:latin typeface="Arial MT"/>
                        <a:cs typeface="Arial MT"/>
                      </a:endParaRPr>
                    </a:p>
                    <a:p>
                      <a:pPr marL="3810" algn="ctr">
                        <a:lnSpc>
                          <a:spcPts val="760"/>
                        </a:lnSpc>
                      </a:pPr>
                      <a:r>
                        <a:rPr sz="1100" dirty="0">
                          <a:latin typeface="Arial MT"/>
                          <a:cs typeface="Arial MT"/>
                        </a:rPr>
                        <a:t>Organically</a:t>
                      </a:r>
                      <a:r>
                        <a:rPr sz="1100" spc="-30" dirty="0">
                          <a:latin typeface="Arial MT"/>
                          <a:cs typeface="Arial MT"/>
                        </a:rPr>
                        <a:t> </a:t>
                      </a:r>
                      <a:r>
                        <a:rPr sz="1100" spc="-10" dirty="0">
                          <a:latin typeface="Arial MT"/>
                          <a:cs typeface="Arial MT"/>
                        </a:rPr>
                        <a:t>Grown</a:t>
                      </a:r>
                      <a:endParaRPr sz="1100" dirty="0">
                        <a:latin typeface="Arial MT"/>
                        <a:cs typeface="Arial MT"/>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445"/>
                        </a:spcBef>
                      </a:pPr>
                      <a:r>
                        <a:rPr sz="1100" spc="-50" dirty="0">
                          <a:latin typeface="Calibri"/>
                          <a:cs typeface="Calibri"/>
                        </a:rPr>
                        <a:t>4</a:t>
                      </a:r>
                      <a:endParaRPr sz="11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45"/>
                        </a:spcBef>
                      </a:pPr>
                      <a:r>
                        <a:rPr sz="1100" spc="-50" dirty="0">
                          <a:latin typeface="Calibri"/>
                          <a:cs typeface="Calibri"/>
                        </a:rPr>
                        <a:t>4</a:t>
                      </a:r>
                      <a:endParaRPr sz="11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63921">
                <a:tc>
                  <a:txBody>
                    <a:bodyPr/>
                    <a:lstStyle/>
                    <a:p>
                      <a:pPr marL="1270" algn="ctr">
                        <a:lnSpc>
                          <a:spcPct val="100000"/>
                        </a:lnSpc>
                        <a:spcBef>
                          <a:spcPts val="345"/>
                        </a:spcBef>
                      </a:pPr>
                      <a:r>
                        <a:rPr sz="1100" spc="-50" dirty="0">
                          <a:latin typeface="Arial MT"/>
                          <a:cs typeface="Arial MT"/>
                        </a:rPr>
                        <a:t>3</a:t>
                      </a:r>
                      <a:endParaRPr sz="11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6195">
                        <a:lnSpc>
                          <a:spcPct val="100000"/>
                        </a:lnSpc>
                        <a:spcBef>
                          <a:spcPts val="345"/>
                        </a:spcBef>
                      </a:pPr>
                      <a:r>
                        <a:rPr sz="1100" spc="-10" dirty="0">
                          <a:latin typeface="Arial MT"/>
                          <a:cs typeface="Arial MT"/>
                        </a:rPr>
                        <a:t>1/2/2022</a:t>
                      </a:r>
                      <a:endParaRPr sz="11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15570">
                        <a:lnSpc>
                          <a:spcPct val="100000"/>
                        </a:lnSpc>
                        <a:spcBef>
                          <a:spcPts val="345"/>
                        </a:spcBef>
                      </a:pPr>
                      <a:r>
                        <a:rPr sz="1100" dirty="0">
                          <a:latin typeface="Arial MT"/>
                          <a:cs typeface="Arial MT"/>
                        </a:rPr>
                        <a:t>Masala</a:t>
                      </a:r>
                      <a:r>
                        <a:rPr sz="1100" spc="-35" dirty="0">
                          <a:latin typeface="Arial MT"/>
                          <a:cs typeface="Arial MT"/>
                        </a:rPr>
                        <a:t> </a:t>
                      </a:r>
                      <a:r>
                        <a:rPr sz="1100" spc="-10" dirty="0">
                          <a:latin typeface="Arial MT"/>
                          <a:cs typeface="Arial MT"/>
                        </a:rPr>
                        <a:t>Powder</a:t>
                      </a:r>
                      <a:endParaRPr sz="1100" dirty="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320"/>
                        </a:spcBef>
                      </a:pPr>
                      <a:r>
                        <a:rPr sz="1100" spc="-50" dirty="0">
                          <a:latin typeface="Calibri"/>
                          <a:cs typeface="Calibri"/>
                        </a:rPr>
                        <a:t>7</a:t>
                      </a:r>
                      <a:endParaRPr sz="1100" dirty="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20"/>
                        </a:spcBef>
                      </a:pPr>
                      <a:r>
                        <a:rPr sz="1100" spc="-50" dirty="0">
                          <a:latin typeface="Calibri"/>
                          <a:cs typeface="Calibri"/>
                        </a:rPr>
                        <a:t>5</a:t>
                      </a:r>
                      <a:endParaRPr sz="11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308788">
                <a:tc>
                  <a:txBody>
                    <a:bodyPr/>
                    <a:lstStyle/>
                    <a:p>
                      <a:pPr marL="1270" algn="ctr">
                        <a:lnSpc>
                          <a:spcPct val="100000"/>
                        </a:lnSpc>
                        <a:spcBef>
                          <a:spcPts val="470"/>
                        </a:spcBef>
                      </a:pPr>
                      <a:r>
                        <a:rPr sz="1100" spc="-50" dirty="0">
                          <a:latin typeface="Arial MT"/>
                          <a:cs typeface="Arial MT"/>
                        </a:rPr>
                        <a:t>4</a:t>
                      </a:r>
                      <a:endParaRPr sz="11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6195">
                        <a:lnSpc>
                          <a:spcPct val="100000"/>
                        </a:lnSpc>
                        <a:spcBef>
                          <a:spcPts val="470"/>
                        </a:spcBef>
                      </a:pPr>
                      <a:r>
                        <a:rPr sz="1100" spc="-10" dirty="0">
                          <a:latin typeface="Arial MT"/>
                          <a:cs typeface="Arial MT"/>
                        </a:rPr>
                        <a:t>1/2/2022</a:t>
                      </a:r>
                      <a:endParaRPr sz="11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33045" marR="88900" indent="-133350">
                        <a:lnSpc>
                          <a:spcPts val="830"/>
                        </a:lnSpc>
                      </a:pPr>
                      <a:r>
                        <a:rPr sz="1100" dirty="0">
                          <a:latin typeface="Arial MT"/>
                          <a:cs typeface="Arial MT"/>
                        </a:rPr>
                        <a:t>Cheese</a:t>
                      </a:r>
                      <a:r>
                        <a:rPr sz="1100" spc="-25" dirty="0">
                          <a:latin typeface="Arial MT"/>
                          <a:cs typeface="Arial MT"/>
                        </a:rPr>
                        <a:t> </a:t>
                      </a:r>
                      <a:r>
                        <a:rPr sz="1100" spc="-10" dirty="0">
                          <a:latin typeface="Arial MT"/>
                          <a:cs typeface="Arial MT"/>
                        </a:rPr>
                        <a:t>Cracker</a:t>
                      </a:r>
                      <a:r>
                        <a:rPr sz="1100" spc="500" dirty="0">
                          <a:latin typeface="Arial MT"/>
                          <a:cs typeface="Arial MT"/>
                        </a:rPr>
                        <a:t> </a:t>
                      </a:r>
                      <a:r>
                        <a:rPr sz="1100" spc="-10" dirty="0">
                          <a:latin typeface="Arial MT"/>
                          <a:cs typeface="Arial MT"/>
                        </a:rPr>
                        <a:t>(Mcvities)</a:t>
                      </a:r>
                      <a:endParaRPr sz="11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450"/>
                        </a:spcBef>
                      </a:pPr>
                      <a:r>
                        <a:rPr sz="1100" spc="-50" dirty="0">
                          <a:latin typeface="Calibri"/>
                          <a:cs typeface="Calibri"/>
                        </a:rPr>
                        <a:t>1</a:t>
                      </a:r>
                      <a:endParaRPr sz="11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50"/>
                        </a:spcBef>
                      </a:pPr>
                      <a:r>
                        <a:rPr sz="1100" spc="-50" dirty="0">
                          <a:latin typeface="Calibri"/>
                          <a:cs typeface="Calibri"/>
                        </a:rPr>
                        <a:t>2</a:t>
                      </a:r>
                      <a:endParaRPr sz="11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314066">
                <a:tc>
                  <a:txBody>
                    <a:bodyPr/>
                    <a:lstStyle/>
                    <a:p>
                      <a:pPr marL="1270" algn="ctr">
                        <a:lnSpc>
                          <a:spcPct val="100000"/>
                        </a:lnSpc>
                        <a:spcBef>
                          <a:spcPts val="470"/>
                        </a:spcBef>
                      </a:pPr>
                      <a:r>
                        <a:rPr sz="1100" spc="-50" dirty="0">
                          <a:latin typeface="Arial MT"/>
                          <a:cs typeface="Arial MT"/>
                        </a:rPr>
                        <a:t>5</a:t>
                      </a:r>
                      <a:endParaRPr sz="11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solidFill>
                      <a:srgbClr val="E7E7E7"/>
                    </a:solidFill>
                  </a:tcPr>
                </a:tc>
                <a:tc>
                  <a:txBody>
                    <a:bodyPr/>
                    <a:lstStyle/>
                    <a:p>
                      <a:pPr marL="36195">
                        <a:lnSpc>
                          <a:spcPct val="100000"/>
                        </a:lnSpc>
                        <a:spcBef>
                          <a:spcPts val="470"/>
                        </a:spcBef>
                      </a:pPr>
                      <a:r>
                        <a:rPr sz="1100" spc="-10" dirty="0">
                          <a:latin typeface="Arial MT"/>
                          <a:cs typeface="Arial MT"/>
                        </a:rPr>
                        <a:t>1/2/2022</a:t>
                      </a:r>
                      <a:endParaRPr sz="11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solidFill>
                      <a:srgbClr val="E7E7E7"/>
                    </a:solidFill>
                  </a:tcPr>
                </a:tc>
                <a:tc>
                  <a:txBody>
                    <a:bodyPr/>
                    <a:lstStyle/>
                    <a:p>
                      <a:pPr marL="104775" marR="93980" indent="63500">
                        <a:lnSpc>
                          <a:spcPct val="100000"/>
                        </a:lnSpc>
                        <a:spcBef>
                          <a:spcPts val="5"/>
                        </a:spcBef>
                      </a:pPr>
                      <a:r>
                        <a:rPr sz="1100" dirty="0">
                          <a:latin typeface="Arial MT"/>
                          <a:cs typeface="Arial MT"/>
                        </a:rPr>
                        <a:t>Centre</a:t>
                      </a:r>
                      <a:r>
                        <a:rPr sz="1100" spc="-15" dirty="0">
                          <a:latin typeface="Arial MT"/>
                          <a:cs typeface="Arial MT"/>
                        </a:rPr>
                        <a:t> </a:t>
                      </a:r>
                      <a:r>
                        <a:rPr sz="1100" spc="-10" dirty="0">
                          <a:latin typeface="Arial MT"/>
                          <a:cs typeface="Arial MT"/>
                        </a:rPr>
                        <a:t>Filled</a:t>
                      </a:r>
                      <a:r>
                        <a:rPr sz="1100" spc="500" dirty="0">
                          <a:latin typeface="Arial MT"/>
                          <a:cs typeface="Arial MT"/>
                        </a:rPr>
                        <a:t> </a:t>
                      </a:r>
                      <a:r>
                        <a:rPr sz="1100" dirty="0">
                          <a:latin typeface="Arial MT"/>
                          <a:cs typeface="Arial MT"/>
                        </a:rPr>
                        <a:t>Chocolate</a:t>
                      </a:r>
                      <a:r>
                        <a:rPr sz="1100" spc="-35" dirty="0">
                          <a:latin typeface="Arial MT"/>
                          <a:cs typeface="Arial MT"/>
                        </a:rPr>
                        <a:t> </a:t>
                      </a:r>
                      <a:r>
                        <a:rPr sz="1100" spc="-20" dirty="0">
                          <a:latin typeface="Arial MT"/>
                          <a:cs typeface="Arial MT"/>
                        </a:rPr>
                        <a:t>Cake</a:t>
                      </a:r>
                      <a:endParaRPr sz="1100" dirty="0">
                        <a:latin typeface="Arial MT"/>
                        <a:cs typeface="Arial MT"/>
                      </a:endParaRPr>
                    </a:p>
                  </a:txBody>
                  <a:tcPr marL="0" marR="0" marT="847"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solidFill>
                      <a:srgbClr val="E7E7E7"/>
                    </a:solidFill>
                  </a:tcPr>
                </a:tc>
                <a:tc>
                  <a:txBody>
                    <a:bodyPr/>
                    <a:lstStyle/>
                    <a:p>
                      <a:pPr marL="1905" algn="ctr">
                        <a:lnSpc>
                          <a:spcPct val="100000"/>
                        </a:lnSpc>
                        <a:spcBef>
                          <a:spcPts val="445"/>
                        </a:spcBef>
                      </a:pPr>
                      <a:r>
                        <a:rPr sz="1100" spc="-50" dirty="0">
                          <a:latin typeface="Calibri"/>
                          <a:cs typeface="Calibri"/>
                        </a:rPr>
                        <a:t>5</a:t>
                      </a:r>
                      <a:endParaRPr sz="1100" dirty="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solidFill>
                      <a:srgbClr val="E7E7E7"/>
                    </a:solidFill>
                  </a:tcPr>
                </a:tc>
                <a:tc>
                  <a:txBody>
                    <a:bodyPr/>
                    <a:lstStyle/>
                    <a:p>
                      <a:pPr marL="1270" algn="ctr">
                        <a:lnSpc>
                          <a:spcPct val="100000"/>
                        </a:lnSpc>
                        <a:spcBef>
                          <a:spcPts val="445"/>
                        </a:spcBef>
                      </a:pPr>
                      <a:r>
                        <a:rPr sz="1100" spc="-50" dirty="0">
                          <a:latin typeface="Calibri"/>
                          <a:cs typeface="Calibri"/>
                        </a:rPr>
                        <a:t>2</a:t>
                      </a:r>
                      <a:endParaRPr sz="1100" dirty="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solidFill>
                      <a:srgbClr val="E7E7E7"/>
                    </a:solidFill>
                  </a:tcPr>
                </a:tc>
                <a:extLst>
                  <a:ext uri="{0D108BD9-81ED-4DB2-BD59-A6C34878D82A}">
                    <a16:rowId xmlns:a16="http://schemas.microsoft.com/office/drawing/2014/main" val="10005"/>
                  </a:ext>
                </a:extLst>
              </a:tr>
              <a:tr h="314066">
                <a:tc>
                  <a:txBody>
                    <a:bodyPr/>
                    <a:lstStyle/>
                    <a:p>
                      <a:pPr marL="1270" algn="ctr">
                        <a:lnSpc>
                          <a:spcPct val="100000"/>
                        </a:lnSpc>
                        <a:spcBef>
                          <a:spcPts val="515"/>
                        </a:spcBef>
                      </a:pPr>
                      <a:r>
                        <a:rPr sz="1100" spc="-50" dirty="0">
                          <a:latin typeface="Arial MT"/>
                          <a:cs typeface="Arial MT"/>
                        </a:rPr>
                        <a:t>6</a:t>
                      </a:r>
                      <a:endParaRPr sz="1100">
                        <a:latin typeface="Arial MT"/>
                        <a:cs typeface="Arial MT"/>
                      </a:endParaRPr>
                    </a:p>
                  </a:txBody>
                  <a:tcPr marL="0" marR="0" marT="87207"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A6A6A6"/>
                    </a:solidFill>
                  </a:tcPr>
                </a:tc>
                <a:tc>
                  <a:txBody>
                    <a:bodyPr/>
                    <a:lstStyle/>
                    <a:p>
                      <a:pPr marL="36195">
                        <a:lnSpc>
                          <a:spcPct val="100000"/>
                        </a:lnSpc>
                        <a:spcBef>
                          <a:spcPts val="515"/>
                        </a:spcBef>
                      </a:pPr>
                      <a:r>
                        <a:rPr sz="1100" spc="-10" dirty="0">
                          <a:latin typeface="Arial MT"/>
                          <a:cs typeface="Arial MT"/>
                        </a:rPr>
                        <a:t>1/3/2022</a:t>
                      </a:r>
                      <a:endParaRPr sz="1100">
                        <a:latin typeface="Arial MT"/>
                        <a:cs typeface="Arial MT"/>
                      </a:endParaRPr>
                    </a:p>
                  </a:txBody>
                  <a:tcPr marL="0" marR="0" marT="87207"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A6A6A6"/>
                    </a:solidFill>
                  </a:tcPr>
                </a:tc>
                <a:tc>
                  <a:txBody>
                    <a:bodyPr/>
                    <a:lstStyle/>
                    <a:p>
                      <a:pPr marL="1270" algn="ctr">
                        <a:lnSpc>
                          <a:spcPct val="100000"/>
                        </a:lnSpc>
                        <a:spcBef>
                          <a:spcPts val="95"/>
                        </a:spcBef>
                      </a:pPr>
                      <a:r>
                        <a:rPr sz="1100" dirty="0">
                          <a:latin typeface="Arial MT"/>
                          <a:cs typeface="Arial MT"/>
                        </a:rPr>
                        <a:t>Chocos</a:t>
                      </a:r>
                      <a:r>
                        <a:rPr sz="1100" spc="-5" dirty="0">
                          <a:latin typeface="Arial MT"/>
                          <a:cs typeface="Arial MT"/>
                        </a:rPr>
                        <a:t> </a:t>
                      </a:r>
                      <a:r>
                        <a:rPr sz="1100" dirty="0">
                          <a:latin typeface="Arial MT"/>
                          <a:cs typeface="Arial MT"/>
                        </a:rPr>
                        <a:t>-</a:t>
                      </a:r>
                      <a:r>
                        <a:rPr sz="1100" spc="-15" dirty="0">
                          <a:latin typeface="Arial MT"/>
                          <a:cs typeface="Arial MT"/>
                        </a:rPr>
                        <a:t> </a:t>
                      </a:r>
                      <a:r>
                        <a:rPr sz="1100" spc="-10" dirty="0">
                          <a:latin typeface="Arial MT"/>
                          <a:cs typeface="Arial MT"/>
                        </a:rPr>
                        <a:t>Magic</a:t>
                      </a:r>
                      <a:endParaRPr sz="1100">
                        <a:latin typeface="Arial MT"/>
                        <a:cs typeface="Arial MT"/>
                      </a:endParaRPr>
                    </a:p>
                    <a:p>
                      <a:pPr marL="2540" algn="ctr">
                        <a:lnSpc>
                          <a:spcPts val="750"/>
                        </a:lnSpc>
                      </a:pPr>
                      <a:r>
                        <a:rPr sz="1100" spc="-10" dirty="0">
                          <a:latin typeface="Arial MT"/>
                          <a:cs typeface="Arial MT"/>
                        </a:rPr>
                        <a:t>Hearts</a:t>
                      </a:r>
                      <a:endParaRPr sz="1100">
                        <a:latin typeface="Arial MT"/>
                        <a:cs typeface="Arial MT"/>
                      </a:endParaRPr>
                    </a:p>
                  </a:txBody>
                  <a:tcPr marL="0" marR="0" marT="16087"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A6A6A6"/>
                    </a:solidFill>
                  </a:tcPr>
                </a:tc>
                <a:tc>
                  <a:txBody>
                    <a:bodyPr/>
                    <a:lstStyle/>
                    <a:p>
                      <a:pPr marL="1905" algn="ctr">
                        <a:lnSpc>
                          <a:spcPct val="100000"/>
                        </a:lnSpc>
                        <a:spcBef>
                          <a:spcPts val="480"/>
                        </a:spcBef>
                      </a:pPr>
                      <a:r>
                        <a:rPr sz="1100" spc="-50" dirty="0">
                          <a:latin typeface="Calibri"/>
                          <a:cs typeface="Calibri"/>
                        </a:rPr>
                        <a:t>3</a:t>
                      </a:r>
                      <a:endParaRPr sz="1100" dirty="0">
                        <a:latin typeface="Calibri"/>
                        <a:cs typeface="Calibri"/>
                      </a:endParaRPr>
                    </a:p>
                  </a:txBody>
                  <a:tcPr marL="0" marR="0" marT="81280"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A6A6A6"/>
                    </a:solidFill>
                  </a:tcPr>
                </a:tc>
                <a:tc>
                  <a:txBody>
                    <a:bodyPr/>
                    <a:lstStyle/>
                    <a:p>
                      <a:pPr marL="1270" algn="ctr">
                        <a:lnSpc>
                          <a:spcPct val="100000"/>
                        </a:lnSpc>
                        <a:spcBef>
                          <a:spcPts val="480"/>
                        </a:spcBef>
                      </a:pPr>
                      <a:r>
                        <a:rPr sz="1100" spc="-50" dirty="0">
                          <a:latin typeface="Calibri"/>
                          <a:cs typeface="Calibri"/>
                        </a:rPr>
                        <a:t>2</a:t>
                      </a:r>
                      <a:endParaRPr sz="1100">
                        <a:latin typeface="Calibri"/>
                        <a:cs typeface="Calibri"/>
                      </a:endParaRPr>
                    </a:p>
                  </a:txBody>
                  <a:tcPr marL="0" marR="0" marT="81280"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A6A6A6"/>
                    </a:solidFill>
                  </a:tcPr>
                </a:tc>
                <a:extLst>
                  <a:ext uri="{0D108BD9-81ED-4DB2-BD59-A6C34878D82A}">
                    <a16:rowId xmlns:a16="http://schemas.microsoft.com/office/drawing/2014/main" val="10006"/>
                  </a:ext>
                </a:extLst>
              </a:tr>
              <a:tr h="308788">
                <a:tc>
                  <a:txBody>
                    <a:bodyPr/>
                    <a:lstStyle/>
                    <a:p>
                      <a:pPr marL="1270" algn="ctr">
                        <a:lnSpc>
                          <a:spcPct val="100000"/>
                        </a:lnSpc>
                        <a:spcBef>
                          <a:spcPts val="484"/>
                        </a:spcBef>
                      </a:pPr>
                      <a:r>
                        <a:rPr sz="1100" spc="-50" dirty="0">
                          <a:latin typeface="Arial MT"/>
                          <a:cs typeface="Arial MT"/>
                        </a:rPr>
                        <a:t>7</a:t>
                      </a:r>
                      <a:endParaRPr sz="11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36195">
                        <a:lnSpc>
                          <a:spcPct val="100000"/>
                        </a:lnSpc>
                        <a:spcBef>
                          <a:spcPts val="484"/>
                        </a:spcBef>
                      </a:pPr>
                      <a:r>
                        <a:rPr sz="1100" spc="-10" dirty="0">
                          <a:latin typeface="Arial MT"/>
                          <a:cs typeface="Arial MT"/>
                        </a:rPr>
                        <a:t>1/3/2022</a:t>
                      </a:r>
                      <a:endParaRPr sz="11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207010" marR="106045" indent="-90170">
                        <a:lnSpc>
                          <a:spcPct val="100000"/>
                        </a:lnSpc>
                      </a:pPr>
                      <a:r>
                        <a:rPr sz="1100" dirty="0">
                          <a:latin typeface="Arial MT"/>
                          <a:cs typeface="Arial MT"/>
                        </a:rPr>
                        <a:t>Chocos Webs</a:t>
                      </a:r>
                      <a:r>
                        <a:rPr sz="1100" spc="-40" dirty="0">
                          <a:latin typeface="Arial MT"/>
                          <a:cs typeface="Arial MT"/>
                        </a:rPr>
                        <a:t> </a:t>
                      </a:r>
                      <a:r>
                        <a:rPr sz="1100" spc="-50" dirty="0">
                          <a:latin typeface="Arial MT"/>
                          <a:cs typeface="Arial MT"/>
                        </a:rPr>
                        <a:t>-</a:t>
                      </a:r>
                      <a:r>
                        <a:rPr sz="1100" spc="500" dirty="0">
                          <a:latin typeface="Arial MT"/>
                          <a:cs typeface="Arial MT"/>
                        </a:rPr>
                        <a:t> </a:t>
                      </a:r>
                      <a:r>
                        <a:rPr sz="1100" spc="-10" dirty="0">
                          <a:latin typeface="Arial MT"/>
                          <a:cs typeface="Arial MT"/>
                        </a:rPr>
                        <a:t>Spiderman</a:t>
                      </a:r>
                      <a:endParaRPr sz="11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905" algn="ctr">
                        <a:lnSpc>
                          <a:spcPct val="100000"/>
                        </a:lnSpc>
                        <a:spcBef>
                          <a:spcPts val="450"/>
                        </a:spcBef>
                      </a:pPr>
                      <a:r>
                        <a:rPr sz="1100" spc="-50" dirty="0">
                          <a:latin typeface="Calibri"/>
                          <a:cs typeface="Calibri"/>
                        </a:rPr>
                        <a:t>4</a:t>
                      </a:r>
                      <a:endParaRPr sz="11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270" algn="ctr">
                        <a:lnSpc>
                          <a:spcPct val="100000"/>
                        </a:lnSpc>
                        <a:spcBef>
                          <a:spcPts val="450"/>
                        </a:spcBef>
                      </a:pPr>
                      <a:r>
                        <a:rPr sz="1100" spc="-50" dirty="0">
                          <a:latin typeface="Calibri"/>
                          <a:cs typeface="Calibri"/>
                        </a:rPr>
                        <a:t>3</a:t>
                      </a:r>
                      <a:endParaRPr sz="11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extLst>
                  <a:ext uri="{0D108BD9-81ED-4DB2-BD59-A6C34878D82A}">
                    <a16:rowId xmlns:a16="http://schemas.microsoft.com/office/drawing/2014/main" val="10007"/>
                  </a:ext>
                </a:extLst>
              </a:tr>
              <a:tr h="308788">
                <a:tc>
                  <a:txBody>
                    <a:bodyPr/>
                    <a:lstStyle/>
                    <a:p>
                      <a:pPr marL="1270" algn="ctr">
                        <a:lnSpc>
                          <a:spcPct val="100000"/>
                        </a:lnSpc>
                        <a:spcBef>
                          <a:spcPts val="484"/>
                        </a:spcBef>
                      </a:pPr>
                      <a:r>
                        <a:rPr sz="1100" spc="-50" dirty="0">
                          <a:latin typeface="Arial MT"/>
                          <a:cs typeface="Arial MT"/>
                        </a:rPr>
                        <a:t>8</a:t>
                      </a:r>
                      <a:endParaRPr sz="11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36195">
                        <a:lnSpc>
                          <a:spcPct val="100000"/>
                        </a:lnSpc>
                        <a:spcBef>
                          <a:spcPts val="484"/>
                        </a:spcBef>
                      </a:pPr>
                      <a:r>
                        <a:rPr sz="1100" spc="-10" dirty="0">
                          <a:latin typeface="Arial MT"/>
                          <a:cs typeface="Arial MT"/>
                        </a:rPr>
                        <a:t>1/3/2022</a:t>
                      </a:r>
                      <a:endParaRPr sz="11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222250" marR="50800" indent="-160655">
                        <a:lnSpc>
                          <a:spcPct val="100000"/>
                        </a:lnSpc>
                      </a:pPr>
                      <a:r>
                        <a:rPr sz="1100" dirty="0">
                          <a:latin typeface="Arial MT"/>
                          <a:cs typeface="Arial MT"/>
                        </a:rPr>
                        <a:t>Breakfast</a:t>
                      </a:r>
                      <a:r>
                        <a:rPr sz="1100" spc="-20" dirty="0">
                          <a:latin typeface="Arial MT"/>
                          <a:cs typeface="Arial MT"/>
                        </a:rPr>
                        <a:t> </a:t>
                      </a:r>
                      <a:r>
                        <a:rPr sz="1100" dirty="0">
                          <a:latin typeface="Arial MT"/>
                          <a:cs typeface="Arial MT"/>
                        </a:rPr>
                        <a:t>Cereal</a:t>
                      </a:r>
                      <a:r>
                        <a:rPr sz="1100" spc="-35" dirty="0">
                          <a:latin typeface="Arial MT"/>
                          <a:cs typeface="Arial MT"/>
                        </a:rPr>
                        <a:t> </a:t>
                      </a:r>
                      <a:r>
                        <a:rPr sz="1100" spc="-50" dirty="0">
                          <a:latin typeface="Arial MT"/>
                          <a:cs typeface="Arial MT"/>
                        </a:rPr>
                        <a:t>-</a:t>
                      </a:r>
                      <a:r>
                        <a:rPr sz="1100" spc="500" dirty="0">
                          <a:latin typeface="Arial MT"/>
                          <a:cs typeface="Arial MT"/>
                        </a:rPr>
                        <a:t> </a:t>
                      </a:r>
                      <a:r>
                        <a:rPr sz="1100" spc="-10" dirty="0">
                          <a:latin typeface="Arial MT"/>
                          <a:cs typeface="Arial MT"/>
                        </a:rPr>
                        <a:t>Chocolate</a:t>
                      </a:r>
                      <a:endParaRPr sz="11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905" algn="ctr">
                        <a:lnSpc>
                          <a:spcPct val="100000"/>
                        </a:lnSpc>
                        <a:spcBef>
                          <a:spcPts val="450"/>
                        </a:spcBef>
                      </a:pPr>
                      <a:r>
                        <a:rPr sz="1100" spc="-50" dirty="0">
                          <a:latin typeface="Calibri"/>
                          <a:cs typeface="Calibri"/>
                        </a:rPr>
                        <a:t>5</a:t>
                      </a:r>
                      <a:endParaRPr sz="11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270" algn="ctr">
                        <a:lnSpc>
                          <a:spcPct val="100000"/>
                        </a:lnSpc>
                        <a:spcBef>
                          <a:spcPts val="450"/>
                        </a:spcBef>
                      </a:pPr>
                      <a:r>
                        <a:rPr sz="1100" spc="-50" dirty="0">
                          <a:latin typeface="Calibri"/>
                          <a:cs typeface="Calibri"/>
                        </a:rPr>
                        <a:t>2</a:t>
                      </a:r>
                      <a:endParaRPr sz="11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extLst>
                  <a:ext uri="{0D108BD9-81ED-4DB2-BD59-A6C34878D82A}">
                    <a16:rowId xmlns:a16="http://schemas.microsoft.com/office/drawing/2014/main" val="10008"/>
                  </a:ext>
                </a:extLst>
              </a:tr>
              <a:tr h="307908">
                <a:tc>
                  <a:txBody>
                    <a:bodyPr/>
                    <a:lstStyle/>
                    <a:p>
                      <a:pPr marL="1270" algn="ctr">
                        <a:lnSpc>
                          <a:spcPct val="100000"/>
                        </a:lnSpc>
                        <a:spcBef>
                          <a:spcPts val="484"/>
                        </a:spcBef>
                      </a:pPr>
                      <a:r>
                        <a:rPr sz="1100" spc="-50" dirty="0">
                          <a:latin typeface="Arial MT"/>
                          <a:cs typeface="Arial MT"/>
                        </a:rPr>
                        <a:t>9</a:t>
                      </a:r>
                      <a:endParaRPr sz="11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36195">
                        <a:lnSpc>
                          <a:spcPct val="100000"/>
                        </a:lnSpc>
                        <a:spcBef>
                          <a:spcPts val="484"/>
                        </a:spcBef>
                      </a:pPr>
                      <a:r>
                        <a:rPr sz="1100" spc="-10" dirty="0">
                          <a:latin typeface="Arial MT"/>
                          <a:cs typeface="Arial MT"/>
                        </a:rPr>
                        <a:t>1/3/2022</a:t>
                      </a:r>
                      <a:endParaRPr sz="11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222250" marR="208279" indent="-5080">
                        <a:lnSpc>
                          <a:spcPct val="100000"/>
                        </a:lnSpc>
                      </a:pPr>
                      <a:r>
                        <a:rPr sz="1100" dirty="0">
                          <a:latin typeface="Arial MT"/>
                          <a:cs typeface="Arial MT"/>
                        </a:rPr>
                        <a:t>Fiber</a:t>
                      </a:r>
                      <a:r>
                        <a:rPr sz="1100" spc="-20" dirty="0">
                          <a:latin typeface="Arial MT"/>
                          <a:cs typeface="Arial MT"/>
                        </a:rPr>
                        <a:t> Rich</a:t>
                      </a:r>
                      <a:r>
                        <a:rPr sz="1100" spc="500" dirty="0">
                          <a:latin typeface="Arial MT"/>
                          <a:cs typeface="Arial MT"/>
                        </a:rPr>
                        <a:t> </a:t>
                      </a:r>
                      <a:r>
                        <a:rPr sz="1100" spc="-10" dirty="0">
                          <a:latin typeface="Arial MT"/>
                          <a:cs typeface="Arial MT"/>
                        </a:rPr>
                        <a:t>Chocolate</a:t>
                      </a:r>
                      <a:endParaRPr sz="11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905" algn="ctr">
                        <a:lnSpc>
                          <a:spcPct val="100000"/>
                        </a:lnSpc>
                        <a:spcBef>
                          <a:spcPts val="450"/>
                        </a:spcBef>
                      </a:pPr>
                      <a:r>
                        <a:rPr sz="1100" spc="-50" dirty="0">
                          <a:latin typeface="Calibri"/>
                          <a:cs typeface="Calibri"/>
                        </a:rPr>
                        <a:t>6</a:t>
                      </a:r>
                      <a:endParaRPr sz="11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270" algn="ctr">
                        <a:lnSpc>
                          <a:spcPct val="100000"/>
                        </a:lnSpc>
                        <a:spcBef>
                          <a:spcPts val="450"/>
                        </a:spcBef>
                      </a:pPr>
                      <a:r>
                        <a:rPr sz="1100" spc="-50" dirty="0">
                          <a:latin typeface="Calibri"/>
                          <a:cs typeface="Calibri"/>
                        </a:rPr>
                        <a:t>1</a:t>
                      </a:r>
                      <a:endParaRPr sz="11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extLst>
                  <a:ext uri="{0D108BD9-81ED-4DB2-BD59-A6C34878D82A}">
                    <a16:rowId xmlns:a16="http://schemas.microsoft.com/office/drawing/2014/main" val="10009"/>
                  </a:ext>
                </a:extLst>
              </a:tr>
              <a:tr h="308788">
                <a:tc>
                  <a:txBody>
                    <a:bodyPr/>
                    <a:lstStyle/>
                    <a:p>
                      <a:pPr marL="635" algn="ctr">
                        <a:lnSpc>
                          <a:spcPct val="100000"/>
                        </a:lnSpc>
                        <a:spcBef>
                          <a:spcPts val="484"/>
                        </a:spcBef>
                      </a:pPr>
                      <a:r>
                        <a:rPr sz="1100" spc="-25" dirty="0">
                          <a:latin typeface="Arial MT"/>
                          <a:cs typeface="Arial MT"/>
                        </a:rPr>
                        <a:t>10</a:t>
                      </a:r>
                      <a:endParaRPr sz="11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36195">
                        <a:lnSpc>
                          <a:spcPct val="100000"/>
                        </a:lnSpc>
                        <a:spcBef>
                          <a:spcPts val="484"/>
                        </a:spcBef>
                      </a:pPr>
                      <a:r>
                        <a:rPr sz="1100" spc="-10" dirty="0">
                          <a:latin typeface="Arial MT"/>
                          <a:cs typeface="Arial MT"/>
                        </a:rPr>
                        <a:t>1/3/2022</a:t>
                      </a:r>
                      <a:endParaRPr sz="11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04775" marR="93980" indent="63500">
                        <a:lnSpc>
                          <a:spcPct val="100000"/>
                        </a:lnSpc>
                      </a:pPr>
                      <a:r>
                        <a:rPr sz="1100" dirty="0">
                          <a:latin typeface="Arial MT"/>
                          <a:cs typeface="Arial MT"/>
                        </a:rPr>
                        <a:t>Centre</a:t>
                      </a:r>
                      <a:r>
                        <a:rPr sz="1100" spc="-15" dirty="0">
                          <a:latin typeface="Arial MT"/>
                          <a:cs typeface="Arial MT"/>
                        </a:rPr>
                        <a:t> </a:t>
                      </a:r>
                      <a:r>
                        <a:rPr sz="1100" spc="-10" dirty="0">
                          <a:latin typeface="Arial MT"/>
                          <a:cs typeface="Arial MT"/>
                        </a:rPr>
                        <a:t>Filled</a:t>
                      </a:r>
                      <a:r>
                        <a:rPr sz="1100" spc="500" dirty="0">
                          <a:latin typeface="Arial MT"/>
                          <a:cs typeface="Arial MT"/>
                        </a:rPr>
                        <a:t> </a:t>
                      </a:r>
                      <a:r>
                        <a:rPr sz="1100" dirty="0">
                          <a:latin typeface="Arial MT"/>
                          <a:cs typeface="Arial MT"/>
                        </a:rPr>
                        <a:t>Chocolate</a:t>
                      </a:r>
                      <a:r>
                        <a:rPr sz="1100" spc="-35" dirty="0">
                          <a:latin typeface="Arial MT"/>
                          <a:cs typeface="Arial MT"/>
                        </a:rPr>
                        <a:t> </a:t>
                      </a:r>
                      <a:r>
                        <a:rPr sz="1100" spc="-20" dirty="0">
                          <a:latin typeface="Arial MT"/>
                          <a:cs typeface="Arial MT"/>
                        </a:rPr>
                        <a:t>Cake</a:t>
                      </a:r>
                      <a:endParaRPr sz="11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905" algn="ctr">
                        <a:lnSpc>
                          <a:spcPct val="100000"/>
                        </a:lnSpc>
                        <a:spcBef>
                          <a:spcPts val="450"/>
                        </a:spcBef>
                      </a:pPr>
                      <a:r>
                        <a:rPr sz="1100" spc="-50" dirty="0">
                          <a:latin typeface="Calibri"/>
                          <a:cs typeface="Calibri"/>
                        </a:rPr>
                        <a:t>3</a:t>
                      </a:r>
                      <a:endParaRPr sz="11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270" algn="ctr">
                        <a:lnSpc>
                          <a:spcPct val="100000"/>
                        </a:lnSpc>
                        <a:spcBef>
                          <a:spcPts val="450"/>
                        </a:spcBef>
                      </a:pPr>
                      <a:r>
                        <a:rPr sz="1100" spc="-50" dirty="0">
                          <a:latin typeface="Calibri"/>
                          <a:cs typeface="Calibri"/>
                        </a:rPr>
                        <a:t>2</a:t>
                      </a:r>
                      <a:endParaRPr sz="11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extLst>
                  <a:ext uri="{0D108BD9-81ED-4DB2-BD59-A6C34878D82A}">
                    <a16:rowId xmlns:a16="http://schemas.microsoft.com/office/drawing/2014/main" val="10010"/>
                  </a:ext>
                </a:extLst>
              </a:tr>
            </a:tbl>
          </a:graphicData>
        </a:graphic>
      </p:graphicFrame>
      <p:graphicFrame>
        <p:nvGraphicFramePr>
          <p:cNvPr id="26" name="object 19">
            <a:extLst>
              <a:ext uri="{FF2B5EF4-FFF2-40B4-BE49-F238E27FC236}">
                <a16:creationId xmlns:a16="http://schemas.microsoft.com/office/drawing/2014/main" id="{484F7FF1-DDDF-93DE-65F1-690152677981}"/>
              </a:ext>
            </a:extLst>
          </p:cNvPr>
          <p:cNvGraphicFramePr>
            <a:graphicFrameLocks noGrp="1"/>
          </p:cNvGraphicFramePr>
          <p:nvPr>
            <p:extLst>
              <p:ext uri="{D42A27DB-BD31-4B8C-83A1-F6EECF244321}">
                <p14:modId xmlns:p14="http://schemas.microsoft.com/office/powerpoint/2010/main" val="2335582539"/>
              </p:ext>
            </p:extLst>
          </p:nvPr>
        </p:nvGraphicFramePr>
        <p:xfrm>
          <a:off x="478712" y="3720606"/>
          <a:ext cx="2971055" cy="3193395"/>
        </p:xfrm>
        <a:graphic>
          <a:graphicData uri="http://schemas.openxmlformats.org/drawingml/2006/table">
            <a:tbl>
              <a:tblPr firstRow="1" bandRow="1">
                <a:tableStyleId>{2D5ABB26-0587-4C30-8999-92F81FD0307C}</a:tableStyleId>
              </a:tblPr>
              <a:tblGrid>
                <a:gridCol w="536026">
                  <a:extLst>
                    <a:ext uri="{9D8B030D-6E8A-4147-A177-3AD203B41FA5}">
                      <a16:colId xmlns:a16="http://schemas.microsoft.com/office/drawing/2014/main" val="20000"/>
                    </a:ext>
                  </a:extLst>
                </a:gridCol>
                <a:gridCol w="658577">
                  <a:extLst>
                    <a:ext uri="{9D8B030D-6E8A-4147-A177-3AD203B41FA5}">
                      <a16:colId xmlns:a16="http://schemas.microsoft.com/office/drawing/2014/main" val="20001"/>
                    </a:ext>
                  </a:extLst>
                </a:gridCol>
                <a:gridCol w="1776452">
                  <a:extLst>
                    <a:ext uri="{9D8B030D-6E8A-4147-A177-3AD203B41FA5}">
                      <a16:colId xmlns:a16="http://schemas.microsoft.com/office/drawing/2014/main" val="20002"/>
                    </a:ext>
                  </a:extLst>
                </a:gridCol>
              </a:tblGrid>
              <a:tr h="254000">
                <a:tc>
                  <a:txBody>
                    <a:bodyPr/>
                    <a:lstStyle/>
                    <a:p>
                      <a:pPr marL="1270" algn="ctr">
                        <a:lnSpc>
                          <a:spcPct val="100000"/>
                        </a:lnSpc>
                        <a:spcBef>
                          <a:spcPts val="130"/>
                        </a:spcBef>
                      </a:pPr>
                      <a:r>
                        <a:rPr sz="1400" spc="-25" dirty="0">
                          <a:latin typeface="Arial MT"/>
                          <a:cs typeface="Arial MT"/>
                        </a:rPr>
                        <a:t>id</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130"/>
                        </a:spcBef>
                      </a:pPr>
                      <a:r>
                        <a:rPr sz="1400" spc="-20" dirty="0">
                          <a:latin typeface="Arial MT"/>
                          <a:cs typeface="Arial MT"/>
                        </a:rPr>
                        <a:t>date</a:t>
                      </a:r>
                      <a:endParaRPr sz="1400" dirty="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130"/>
                        </a:spcBef>
                      </a:pPr>
                      <a:r>
                        <a:rPr sz="1400" spc="-10" dirty="0">
                          <a:latin typeface="Arial MT"/>
                          <a:cs typeface="Arial MT"/>
                        </a:rPr>
                        <a:t>product</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0"/>
                  </a:ext>
                </a:extLst>
              </a:tr>
              <a:tr h="254000">
                <a:tc>
                  <a:txBody>
                    <a:bodyPr/>
                    <a:lstStyle/>
                    <a:p>
                      <a:pPr algn="ctr">
                        <a:lnSpc>
                          <a:spcPct val="100000"/>
                        </a:lnSpc>
                        <a:spcBef>
                          <a:spcPts val="345"/>
                        </a:spcBef>
                      </a:pPr>
                      <a:r>
                        <a:rPr sz="1100" spc="-50" dirty="0">
                          <a:latin typeface="Arial MT"/>
                          <a:cs typeface="Arial MT"/>
                        </a:rPr>
                        <a:t>1</a:t>
                      </a:r>
                      <a:endParaRPr sz="1100" dirty="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1100" spc="-10" dirty="0">
                          <a:latin typeface="Arial MT"/>
                          <a:cs typeface="Arial MT"/>
                        </a:rPr>
                        <a:t>1/2/2022</a:t>
                      </a:r>
                      <a:endParaRPr sz="11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45"/>
                        </a:spcBef>
                      </a:pPr>
                      <a:r>
                        <a:rPr sz="1100" dirty="0">
                          <a:latin typeface="Arial MT"/>
                          <a:cs typeface="Arial MT"/>
                        </a:rPr>
                        <a:t>Fulltoss</a:t>
                      </a:r>
                      <a:r>
                        <a:rPr sz="1100" spc="-20" dirty="0">
                          <a:latin typeface="Arial MT"/>
                          <a:cs typeface="Arial MT"/>
                        </a:rPr>
                        <a:t> </a:t>
                      </a:r>
                      <a:r>
                        <a:rPr sz="1100" dirty="0">
                          <a:latin typeface="Arial MT"/>
                          <a:cs typeface="Arial MT"/>
                        </a:rPr>
                        <a:t>Tangy</a:t>
                      </a:r>
                      <a:r>
                        <a:rPr sz="1100" spc="-25" dirty="0">
                          <a:latin typeface="Arial MT"/>
                          <a:cs typeface="Arial MT"/>
                        </a:rPr>
                        <a:t> </a:t>
                      </a:r>
                      <a:r>
                        <a:rPr sz="1100" spc="-10" dirty="0">
                          <a:latin typeface="Arial MT"/>
                          <a:cs typeface="Arial MT"/>
                        </a:rPr>
                        <a:t>Tomato</a:t>
                      </a:r>
                      <a:endParaRPr sz="11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97180">
                <a:tc>
                  <a:txBody>
                    <a:bodyPr/>
                    <a:lstStyle/>
                    <a:p>
                      <a:pPr algn="ctr">
                        <a:lnSpc>
                          <a:spcPct val="100000"/>
                        </a:lnSpc>
                        <a:spcBef>
                          <a:spcPts val="475"/>
                        </a:spcBef>
                      </a:pPr>
                      <a:r>
                        <a:rPr sz="1100" spc="-50" dirty="0">
                          <a:latin typeface="Arial MT"/>
                          <a:cs typeface="Arial MT"/>
                        </a:rPr>
                        <a:t>2</a:t>
                      </a:r>
                      <a:endParaRPr sz="11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75"/>
                        </a:spcBef>
                      </a:pPr>
                      <a:r>
                        <a:rPr sz="1100" spc="-10" dirty="0">
                          <a:latin typeface="Arial MT"/>
                          <a:cs typeface="Arial MT"/>
                        </a:rPr>
                        <a:t>1/2/2022</a:t>
                      </a:r>
                      <a:endParaRPr sz="1100" dirty="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400050" marR="15875" indent="-375285">
                        <a:lnSpc>
                          <a:spcPts val="830"/>
                        </a:lnSpc>
                      </a:pPr>
                      <a:endParaRPr lang="en-IN" sz="1100" dirty="0">
                        <a:latin typeface="Arial MT"/>
                        <a:cs typeface="Arial MT"/>
                      </a:endParaRPr>
                    </a:p>
                    <a:p>
                      <a:pPr marL="400050" marR="15875" indent="-375285">
                        <a:lnSpc>
                          <a:spcPts val="830"/>
                        </a:lnSpc>
                      </a:pPr>
                      <a:r>
                        <a:rPr sz="1100" dirty="0">
                          <a:latin typeface="Arial MT"/>
                          <a:cs typeface="Arial MT"/>
                        </a:rPr>
                        <a:t>Chilli</a:t>
                      </a:r>
                      <a:r>
                        <a:rPr sz="1100" spc="-40" dirty="0">
                          <a:latin typeface="Arial MT"/>
                          <a:cs typeface="Arial MT"/>
                        </a:rPr>
                        <a:t> </a:t>
                      </a:r>
                      <a:r>
                        <a:rPr sz="1100" dirty="0">
                          <a:latin typeface="Arial MT"/>
                          <a:cs typeface="Arial MT"/>
                        </a:rPr>
                        <a:t>-</a:t>
                      </a:r>
                      <a:r>
                        <a:rPr sz="1100" spc="-15" dirty="0">
                          <a:latin typeface="Arial MT"/>
                          <a:cs typeface="Arial MT"/>
                        </a:rPr>
                        <a:t> </a:t>
                      </a:r>
                      <a:r>
                        <a:rPr sz="1100" dirty="0">
                          <a:latin typeface="Arial MT"/>
                          <a:cs typeface="Arial MT"/>
                        </a:rPr>
                        <a:t>Green,</a:t>
                      </a:r>
                      <a:r>
                        <a:rPr sz="1100" spc="15" dirty="0">
                          <a:latin typeface="Arial MT"/>
                          <a:cs typeface="Arial MT"/>
                        </a:rPr>
                        <a:t> </a:t>
                      </a:r>
                      <a:r>
                        <a:rPr sz="1100" spc="-10" dirty="0">
                          <a:latin typeface="Arial MT"/>
                          <a:cs typeface="Arial MT"/>
                        </a:rPr>
                        <a:t>Organically</a:t>
                      </a:r>
                      <a:r>
                        <a:rPr sz="1100" spc="500" dirty="0">
                          <a:latin typeface="Arial MT"/>
                          <a:cs typeface="Arial MT"/>
                        </a:rPr>
                        <a:t> </a:t>
                      </a:r>
                      <a:r>
                        <a:rPr sz="1100" spc="-10" dirty="0">
                          <a:latin typeface="Arial MT"/>
                          <a:cs typeface="Arial MT"/>
                        </a:rPr>
                        <a:t>Grown</a:t>
                      </a:r>
                      <a:endParaRPr sz="11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ct val="100000"/>
                        </a:lnSpc>
                        <a:spcBef>
                          <a:spcPts val="345"/>
                        </a:spcBef>
                      </a:pPr>
                      <a:r>
                        <a:rPr sz="1100" spc="-50" dirty="0">
                          <a:latin typeface="Arial MT"/>
                          <a:cs typeface="Arial MT"/>
                        </a:rPr>
                        <a:t>3</a:t>
                      </a:r>
                      <a:endParaRPr sz="11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1100" spc="-10" dirty="0">
                          <a:latin typeface="Arial MT"/>
                          <a:cs typeface="Arial MT"/>
                        </a:rPr>
                        <a:t>1/2/2022</a:t>
                      </a:r>
                      <a:endParaRPr sz="11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45"/>
                        </a:spcBef>
                      </a:pPr>
                      <a:r>
                        <a:rPr sz="1100" dirty="0">
                          <a:latin typeface="Arial MT"/>
                          <a:cs typeface="Arial MT"/>
                        </a:rPr>
                        <a:t>Masala</a:t>
                      </a:r>
                      <a:r>
                        <a:rPr sz="1100" spc="-25" dirty="0">
                          <a:latin typeface="Arial MT"/>
                          <a:cs typeface="Arial MT"/>
                        </a:rPr>
                        <a:t> </a:t>
                      </a:r>
                      <a:r>
                        <a:rPr sz="1100" spc="-10" dirty="0">
                          <a:latin typeface="Arial MT"/>
                          <a:cs typeface="Arial MT"/>
                        </a:rPr>
                        <a:t>Powder</a:t>
                      </a:r>
                      <a:endParaRPr sz="1100" dirty="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96333">
                <a:tc>
                  <a:txBody>
                    <a:bodyPr/>
                    <a:lstStyle/>
                    <a:p>
                      <a:pPr algn="ctr">
                        <a:lnSpc>
                          <a:spcPct val="100000"/>
                        </a:lnSpc>
                        <a:spcBef>
                          <a:spcPts val="475"/>
                        </a:spcBef>
                      </a:pPr>
                      <a:r>
                        <a:rPr sz="1100" spc="-50" dirty="0">
                          <a:latin typeface="Arial MT"/>
                          <a:cs typeface="Arial MT"/>
                        </a:rPr>
                        <a:t>4</a:t>
                      </a:r>
                      <a:endParaRPr sz="11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75"/>
                        </a:spcBef>
                      </a:pPr>
                      <a:r>
                        <a:rPr sz="1100" spc="-10" dirty="0">
                          <a:latin typeface="Arial MT"/>
                          <a:cs typeface="Arial MT"/>
                        </a:rPr>
                        <a:t>1/2/2022</a:t>
                      </a:r>
                      <a:endParaRPr sz="1100" dirty="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40360" marR="201295" indent="-132715">
                        <a:lnSpc>
                          <a:spcPts val="830"/>
                        </a:lnSpc>
                      </a:pPr>
                      <a:endParaRPr lang="en-IN" sz="1100" dirty="0">
                        <a:latin typeface="Arial MT"/>
                        <a:cs typeface="Arial MT"/>
                      </a:endParaRPr>
                    </a:p>
                    <a:p>
                      <a:pPr marL="340360" marR="201295" indent="-132715">
                        <a:lnSpc>
                          <a:spcPts val="830"/>
                        </a:lnSpc>
                      </a:pPr>
                      <a:r>
                        <a:rPr sz="1100" dirty="0">
                          <a:latin typeface="Arial MT"/>
                          <a:cs typeface="Arial MT"/>
                        </a:rPr>
                        <a:t>Cheese</a:t>
                      </a:r>
                      <a:r>
                        <a:rPr sz="1100" spc="-25" dirty="0">
                          <a:latin typeface="Arial MT"/>
                          <a:cs typeface="Arial MT"/>
                        </a:rPr>
                        <a:t> </a:t>
                      </a:r>
                      <a:r>
                        <a:rPr sz="1100" spc="-10" dirty="0">
                          <a:latin typeface="Arial MT"/>
                          <a:cs typeface="Arial MT"/>
                        </a:rPr>
                        <a:t>Cracker</a:t>
                      </a:r>
                      <a:r>
                        <a:rPr sz="1100" spc="500" dirty="0">
                          <a:latin typeface="Arial MT"/>
                          <a:cs typeface="Arial MT"/>
                        </a:rPr>
                        <a:t> </a:t>
                      </a:r>
                      <a:r>
                        <a:rPr sz="1100" spc="-10" dirty="0">
                          <a:latin typeface="Arial MT"/>
                          <a:cs typeface="Arial MT"/>
                        </a:rPr>
                        <a:t>(Mcvities)</a:t>
                      </a:r>
                      <a:endParaRPr sz="11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97180">
                <a:tc>
                  <a:txBody>
                    <a:bodyPr/>
                    <a:lstStyle/>
                    <a:p>
                      <a:pPr algn="ctr">
                        <a:lnSpc>
                          <a:spcPct val="100000"/>
                        </a:lnSpc>
                        <a:spcBef>
                          <a:spcPts val="475"/>
                        </a:spcBef>
                      </a:pPr>
                      <a:r>
                        <a:rPr sz="1100" spc="-50" dirty="0">
                          <a:latin typeface="Arial MT"/>
                          <a:cs typeface="Arial MT"/>
                        </a:rPr>
                        <a:t>5</a:t>
                      </a:r>
                      <a:endParaRPr sz="11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75"/>
                        </a:spcBef>
                      </a:pPr>
                      <a:r>
                        <a:rPr sz="1100" spc="-10" dirty="0">
                          <a:latin typeface="Arial MT"/>
                          <a:cs typeface="Arial MT"/>
                        </a:rPr>
                        <a:t>1/2/2022</a:t>
                      </a:r>
                      <a:endParaRPr sz="11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424180" marR="59690" indent="-358140">
                        <a:lnSpc>
                          <a:spcPts val="830"/>
                        </a:lnSpc>
                      </a:pPr>
                      <a:endParaRPr lang="en-IN" sz="1100" dirty="0">
                        <a:latin typeface="Arial MT"/>
                        <a:cs typeface="Arial MT"/>
                      </a:endParaRPr>
                    </a:p>
                    <a:p>
                      <a:pPr marL="424180" marR="59690" indent="-358140">
                        <a:lnSpc>
                          <a:spcPts val="830"/>
                        </a:lnSpc>
                      </a:pPr>
                      <a:r>
                        <a:rPr sz="1100" dirty="0">
                          <a:latin typeface="Arial MT"/>
                          <a:cs typeface="Arial MT"/>
                        </a:rPr>
                        <a:t>Centre</a:t>
                      </a:r>
                      <a:r>
                        <a:rPr sz="1100" spc="-5" dirty="0">
                          <a:latin typeface="Arial MT"/>
                          <a:cs typeface="Arial MT"/>
                        </a:rPr>
                        <a:t> </a:t>
                      </a:r>
                      <a:r>
                        <a:rPr sz="1100" dirty="0">
                          <a:latin typeface="Arial MT"/>
                          <a:cs typeface="Arial MT"/>
                        </a:rPr>
                        <a:t>Filled</a:t>
                      </a:r>
                      <a:r>
                        <a:rPr sz="1100" spc="-35" dirty="0">
                          <a:latin typeface="Arial MT"/>
                          <a:cs typeface="Arial MT"/>
                        </a:rPr>
                        <a:t> </a:t>
                      </a:r>
                      <a:r>
                        <a:rPr sz="1100" spc="-10" dirty="0">
                          <a:latin typeface="Arial MT"/>
                          <a:cs typeface="Arial MT"/>
                        </a:rPr>
                        <a:t>Chocolate</a:t>
                      </a:r>
                      <a:r>
                        <a:rPr sz="1100" spc="500" dirty="0">
                          <a:latin typeface="Arial MT"/>
                          <a:cs typeface="Arial MT"/>
                        </a:rPr>
                        <a:t> </a:t>
                      </a:r>
                      <a:r>
                        <a:rPr sz="1100" spc="-20" dirty="0">
                          <a:latin typeface="Arial MT"/>
                          <a:cs typeface="Arial MT"/>
                        </a:rPr>
                        <a:t>Cake</a:t>
                      </a:r>
                      <a:endParaRPr sz="11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r h="237913">
                <a:tc>
                  <a:txBody>
                    <a:bodyPr/>
                    <a:lstStyle/>
                    <a:p>
                      <a:pPr algn="ctr">
                        <a:lnSpc>
                          <a:spcPct val="100000"/>
                        </a:lnSpc>
                        <a:spcBef>
                          <a:spcPts val="265"/>
                        </a:spcBef>
                      </a:pPr>
                      <a:r>
                        <a:rPr sz="1100" spc="-50" dirty="0">
                          <a:latin typeface="Arial MT"/>
                          <a:cs typeface="Arial MT"/>
                        </a:rPr>
                        <a:t>6</a:t>
                      </a:r>
                      <a:endParaRPr sz="1100">
                        <a:latin typeface="Arial MT"/>
                        <a:cs typeface="Arial MT"/>
                      </a:endParaRPr>
                    </a:p>
                  </a:txBody>
                  <a:tcPr marL="0" marR="0" marT="448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270" algn="ctr">
                        <a:lnSpc>
                          <a:spcPct val="100000"/>
                        </a:lnSpc>
                        <a:spcBef>
                          <a:spcPts val="265"/>
                        </a:spcBef>
                      </a:pPr>
                      <a:r>
                        <a:rPr sz="1100" spc="-10" dirty="0">
                          <a:latin typeface="Arial MT"/>
                          <a:cs typeface="Arial MT"/>
                        </a:rPr>
                        <a:t>1/3/2022</a:t>
                      </a:r>
                      <a:endParaRPr sz="1100">
                        <a:latin typeface="Arial MT"/>
                        <a:cs typeface="Arial MT"/>
                      </a:endParaRPr>
                    </a:p>
                  </a:txBody>
                  <a:tcPr marL="0" marR="0" marT="448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algn="ctr">
                        <a:lnSpc>
                          <a:spcPct val="100000"/>
                        </a:lnSpc>
                        <a:spcBef>
                          <a:spcPts val="265"/>
                        </a:spcBef>
                      </a:pPr>
                      <a:r>
                        <a:rPr sz="1100" dirty="0">
                          <a:latin typeface="Arial MT"/>
                          <a:cs typeface="Arial MT"/>
                        </a:rPr>
                        <a:t>Chocos</a:t>
                      </a:r>
                      <a:r>
                        <a:rPr sz="1100" spc="-15" dirty="0">
                          <a:latin typeface="Arial MT"/>
                          <a:cs typeface="Arial MT"/>
                        </a:rPr>
                        <a:t> </a:t>
                      </a:r>
                      <a:r>
                        <a:rPr sz="1100" dirty="0">
                          <a:latin typeface="Arial MT"/>
                          <a:cs typeface="Arial MT"/>
                        </a:rPr>
                        <a:t>-</a:t>
                      </a:r>
                      <a:r>
                        <a:rPr sz="1100" spc="-20" dirty="0">
                          <a:latin typeface="Arial MT"/>
                          <a:cs typeface="Arial MT"/>
                        </a:rPr>
                        <a:t> </a:t>
                      </a:r>
                      <a:r>
                        <a:rPr sz="1100" dirty="0">
                          <a:latin typeface="Arial MT"/>
                          <a:cs typeface="Arial MT"/>
                        </a:rPr>
                        <a:t>Magic</a:t>
                      </a:r>
                      <a:r>
                        <a:rPr sz="1100" spc="-5" dirty="0">
                          <a:latin typeface="Arial MT"/>
                          <a:cs typeface="Arial MT"/>
                        </a:rPr>
                        <a:t> </a:t>
                      </a:r>
                      <a:r>
                        <a:rPr sz="1100" spc="-10" dirty="0">
                          <a:latin typeface="Arial MT"/>
                          <a:cs typeface="Arial MT"/>
                        </a:rPr>
                        <a:t>Hearts</a:t>
                      </a:r>
                      <a:endParaRPr sz="1100" dirty="0">
                        <a:latin typeface="Arial MT"/>
                        <a:cs typeface="Arial MT"/>
                      </a:endParaRPr>
                    </a:p>
                  </a:txBody>
                  <a:tcPr marL="0" marR="0" marT="448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extLst>
                  <a:ext uri="{0D108BD9-81ED-4DB2-BD59-A6C34878D82A}">
                    <a16:rowId xmlns:a16="http://schemas.microsoft.com/office/drawing/2014/main" val="10006"/>
                  </a:ext>
                </a:extLst>
              </a:tr>
              <a:tr h="296333">
                <a:tc>
                  <a:txBody>
                    <a:bodyPr/>
                    <a:lstStyle/>
                    <a:p>
                      <a:pPr algn="ctr">
                        <a:lnSpc>
                          <a:spcPct val="100000"/>
                        </a:lnSpc>
                        <a:spcBef>
                          <a:spcPts val="484"/>
                        </a:spcBef>
                      </a:pPr>
                      <a:r>
                        <a:rPr sz="1100" spc="-50" dirty="0">
                          <a:latin typeface="Arial MT"/>
                          <a:cs typeface="Arial MT"/>
                        </a:rPr>
                        <a:t>7</a:t>
                      </a:r>
                      <a:endParaRPr sz="11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270" algn="ctr">
                        <a:lnSpc>
                          <a:spcPct val="100000"/>
                        </a:lnSpc>
                        <a:spcBef>
                          <a:spcPts val="484"/>
                        </a:spcBef>
                      </a:pPr>
                      <a:r>
                        <a:rPr sz="1100" spc="-10" dirty="0">
                          <a:latin typeface="Arial MT"/>
                          <a:cs typeface="Arial MT"/>
                        </a:rPr>
                        <a:t>1/3/2022</a:t>
                      </a:r>
                      <a:endParaRPr sz="11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314325" marR="217804" indent="-90170">
                        <a:lnSpc>
                          <a:spcPct val="100000"/>
                        </a:lnSpc>
                      </a:pPr>
                      <a:r>
                        <a:rPr sz="1100" dirty="0">
                          <a:latin typeface="Arial MT"/>
                          <a:cs typeface="Arial MT"/>
                        </a:rPr>
                        <a:t>Chocos Webs</a:t>
                      </a:r>
                      <a:r>
                        <a:rPr sz="1100" spc="-40" dirty="0">
                          <a:latin typeface="Arial MT"/>
                          <a:cs typeface="Arial MT"/>
                        </a:rPr>
                        <a:t> </a:t>
                      </a:r>
                      <a:r>
                        <a:rPr sz="1100" spc="-50" dirty="0">
                          <a:latin typeface="Arial MT"/>
                          <a:cs typeface="Arial MT"/>
                        </a:rPr>
                        <a:t>-</a:t>
                      </a:r>
                      <a:r>
                        <a:rPr sz="1100" spc="500" dirty="0">
                          <a:latin typeface="Arial MT"/>
                          <a:cs typeface="Arial MT"/>
                        </a:rPr>
                        <a:t> </a:t>
                      </a:r>
                      <a:r>
                        <a:rPr sz="1100" spc="-10" dirty="0">
                          <a:latin typeface="Arial MT"/>
                          <a:cs typeface="Arial MT"/>
                        </a:rPr>
                        <a:t>Spiderman</a:t>
                      </a:r>
                      <a:endParaRPr sz="11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extLst>
                  <a:ext uri="{0D108BD9-81ED-4DB2-BD59-A6C34878D82A}">
                    <a16:rowId xmlns:a16="http://schemas.microsoft.com/office/drawing/2014/main" val="10007"/>
                  </a:ext>
                </a:extLst>
              </a:tr>
              <a:tr h="297180">
                <a:tc>
                  <a:txBody>
                    <a:bodyPr/>
                    <a:lstStyle/>
                    <a:p>
                      <a:pPr algn="ctr">
                        <a:lnSpc>
                          <a:spcPct val="100000"/>
                        </a:lnSpc>
                        <a:spcBef>
                          <a:spcPts val="484"/>
                        </a:spcBef>
                      </a:pPr>
                      <a:r>
                        <a:rPr sz="1100" spc="-50" dirty="0">
                          <a:latin typeface="Arial MT"/>
                          <a:cs typeface="Arial MT"/>
                        </a:rPr>
                        <a:t>8</a:t>
                      </a:r>
                      <a:endParaRPr sz="11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270" algn="ctr">
                        <a:lnSpc>
                          <a:spcPct val="100000"/>
                        </a:lnSpc>
                        <a:spcBef>
                          <a:spcPts val="484"/>
                        </a:spcBef>
                      </a:pPr>
                      <a:r>
                        <a:rPr sz="1100" spc="-10" dirty="0">
                          <a:latin typeface="Arial MT"/>
                          <a:cs typeface="Arial MT"/>
                        </a:rPr>
                        <a:t>1/3/2022</a:t>
                      </a:r>
                      <a:endParaRPr sz="11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330200" marR="163195" indent="-160020">
                        <a:lnSpc>
                          <a:spcPct val="100000"/>
                        </a:lnSpc>
                      </a:pPr>
                      <a:r>
                        <a:rPr sz="1100" dirty="0">
                          <a:latin typeface="Arial MT"/>
                          <a:cs typeface="Arial MT"/>
                        </a:rPr>
                        <a:t>Breakfast</a:t>
                      </a:r>
                      <a:r>
                        <a:rPr sz="1100" spc="-20" dirty="0">
                          <a:latin typeface="Arial MT"/>
                          <a:cs typeface="Arial MT"/>
                        </a:rPr>
                        <a:t> </a:t>
                      </a:r>
                      <a:r>
                        <a:rPr sz="1100" dirty="0">
                          <a:latin typeface="Arial MT"/>
                          <a:cs typeface="Arial MT"/>
                        </a:rPr>
                        <a:t>Cereal</a:t>
                      </a:r>
                      <a:r>
                        <a:rPr sz="1100" spc="-35" dirty="0">
                          <a:latin typeface="Arial MT"/>
                          <a:cs typeface="Arial MT"/>
                        </a:rPr>
                        <a:t> </a:t>
                      </a:r>
                      <a:r>
                        <a:rPr sz="1100" spc="-50" dirty="0">
                          <a:latin typeface="Arial MT"/>
                          <a:cs typeface="Arial MT"/>
                        </a:rPr>
                        <a:t>-</a:t>
                      </a:r>
                      <a:r>
                        <a:rPr sz="1100" spc="500" dirty="0">
                          <a:latin typeface="Arial MT"/>
                          <a:cs typeface="Arial MT"/>
                        </a:rPr>
                        <a:t> </a:t>
                      </a:r>
                      <a:r>
                        <a:rPr sz="1100" spc="-10" dirty="0">
                          <a:latin typeface="Arial MT"/>
                          <a:cs typeface="Arial MT"/>
                        </a:rPr>
                        <a:t>Chocolate</a:t>
                      </a:r>
                      <a:endParaRPr sz="11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extLst>
                  <a:ext uri="{0D108BD9-81ED-4DB2-BD59-A6C34878D82A}">
                    <a16:rowId xmlns:a16="http://schemas.microsoft.com/office/drawing/2014/main" val="10008"/>
                  </a:ext>
                </a:extLst>
              </a:tr>
              <a:tr h="254000">
                <a:tc>
                  <a:txBody>
                    <a:bodyPr/>
                    <a:lstStyle/>
                    <a:p>
                      <a:pPr algn="ctr">
                        <a:lnSpc>
                          <a:spcPct val="100000"/>
                        </a:lnSpc>
                        <a:spcBef>
                          <a:spcPts val="360"/>
                        </a:spcBef>
                      </a:pPr>
                      <a:r>
                        <a:rPr sz="1100" spc="-50" dirty="0">
                          <a:latin typeface="Arial MT"/>
                          <a:cs typeface="Arial MT"/>
                        </a:rPr>
                        <a:t>9</a:t>
                      </a:r>
                      <a:endParaRPr sz="1100">
                        <a:latin typeface="Arial MT"/>
                        <a:cs typeface="Arial MT"/>
                      </a:endParaRPr>
                    </a:p>
                  </a:txBody>
                  <a:tcPr marL="0" marR="0" marT="609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270" algn="ctr">
                        <a:lnSpc>
                          <a:spcPct val="100000"/>
                        </a:lnSpc>
                        <a:spcBef>
                          <a:spcPts val="360"/>
                        </a:spcBef>
                      </a:pPr>
                      <a:r>
                        <a:rPr sz="1100" spc="-10" dirty="0">
                          <a:latin typeface="Arial MT"/>
                          <a:cs typeface="Arial MT"/>
                        </a:rPr>
                        <a:t>1/3/2022</a:t>
                      </a:r>
                      <a:endParaRPr sz="1100">
                        <a:latin typeface="Arial MT"/>
                        <a:cs typeface="Arial MT"/>
                      </a:endParaRPr>
                    </a:p>
                  </a:txBody>
                  <a:tcPr marL="0" marR="0" marT="609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algn="ctr">
                        <a:lnSpc>
                          <a:spcPct val="100000"/>
                        </a:lnSpc>
                        <a:spcBef>
                          <a:spcPts val="360"/>
                        </a:spcBef>
                      </a:pPr>
                      <a:r>
                        <a:rPr sz="1100" dirty="0">
                          <a:latin typeface="Arial MT"/>
                          <a:cs typeface="Arial MT"/>
                        </a:rPr>
                        <a:t>Fiber</a:t>
                      </a:r>
                      <a:r>
                        <a:rPr sz="1100" spc="-10" dirty="0">
                          <a:latin typeface="Arial MT"/>
                          <a:cs typeface="Arial MT"/>
                        </a:rPr>
                        <a:t> </a:t>
                      </a:r>
                      <a:r>
                        <a:rPr sz="1100" dirty="0">
                          <a:latin typeface="Arial MT"/>
                          <a:cs typeface="Arial MT"/>
                        </a:rPr>
                        <a:t>Rich</a:t>
                      </a:r>
                      <a:r>
                        <a:rPr sz="1100" spc="-25" dirty="0">
                          <a:latin typeface="Arial MT"/>
                          <a:cs typeface="Arial MT"/>
                        </a:rPr>
                        <a:t> </a:t>
                      </a:r>
                      <a:r>
                        <a:rPr sz="1100" spc="-10" dirty="0">
                          <a:latin typeface="Arial MT"/>
                          <a:cs typeface="Arial MT"/>
                        </a:rPr>
                        <a:t>Chocolate</a:t>
                      </a:r>
                      <a:endParaRPr sz="1100" dirty="0">
                        <a:latin typeface="Arial MT"/>
                        <a:cs typeface="Arial MT"/>
                      </a:endParaRPr>
                    </a:p>
                  </a:txBody>
                  <a:tcPr marL="0" marR="0" marT="609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extLst>
                  <a:ext uri="{0D108BD9-81ED-4DB2-BD59-A6C34878D82A}">
                    <a16:rowId xmlns:a16="http://schemas.microsoft.com/office/drawing/2014/main" val="10009"/>
                  </a:ext>
                </a:extLst>
              </a:tr>
              <a:tr h="296333">
                <a:tc>
                  <a:txBody>
                    <a:bodyPr/>
                    <a:lstStyle/>
                    <a:p>
                      <a:pPr algn="ctr">
                        <a:lnSpc>
                          <a:spcPct val="100000"/>
                        </a:lnSpc>
                        <a:spcBef>
                          <a:spcPts val="490"/>
                        </a:spcBef>
                      </a:pPr>
                      <a:r>
                        <a:rPr sz="1100" spc="-25" dirty="0">
                          <a:latin typeface="Arial MT"/>
                          <a:cs typeface="Arial MT"/>
                        </a:rPr>
                        <a:t>10</a:t>
                      </a:r>
                      <a:endParaRPr sz="1100">
                        <a:latin typeface="Arial MT"/>
                        <a:cs typeface="Arial MT"/>
                      </a:endParaRPr>
                    </a:p>
                  </a:txBody>
                  <a:tcPr marL="0" marR="0" marT="829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270" algn="ctr">
                        <a:lnSpc>
                          <a:spcPct val="100000"/>
                        </a:lnSpc>
                        <a:spcBef>
                          <a:spcPts val="490"/>
                        </a:spcBef>
                      </a:pPr>
                      <a:r>
                        <a:rPr sz="1100" spc="-10" dirty="0">
                          <a:latin typeface="Arial MT"/>
                          <a:cs typeface="Arial MT"/>
                        </a:rPr>
                        <a:t>1/3/2022</a:t>
                      </a:r>
                      <a:endParaRPr sz="1100">
                        <a:latin typeface="Arial MT"/>
                        <a:cs typeface="Arial MT"/>
                      </a:endParaRPr>
                    </a:p>
                  </a:txBody>
                  <a:tcPr marL="0" marR="0" marT="829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424180" marR="59690" indent="-358140">
                        <a:lnSpc>
                          <a:spcPct val="100000"/>
                        </a:lnSpc>
                      </a:pPr>
                      <a:r>
                        <a:rPr sz="1100" dirty="0">
                          <a:latin typeface="Arial MT"/>
                          <a:cs typeface="Arial MT"/>
                        </a:rPr>
                        <a:t>Centre</a:t>
                      </a:r>
                      <a:r>
                        <a:rPr sz="1100" spc="-5" dirty="0">
                          <a:latin typeface="Arial MT"/>
                          <a:cs typeface="Arial MT"/>
                        </a:rPr>
                        <a:t> </a:t>
                      </a:r>
                      <a:r>
                        <a:rPr sz="1100" dirty="0">
                          <a:latin typeface="Arial MT"/>
                          <a:cs typeface="Arial MT"/>
                        </a:rPr>
                        <a:t>Filled</a:t>
                      </a:r>
                      <a:r>
                        <a:rPr sz="1100" spc="-35" dirty="0">
                          <a:latin typeface="Arial MT"/>
                          <a:cs typeface="Arial MT"/>
                        </a:rPr>
                        <a:t> </a:t>
                      </a:r>
                      <a:r>
                        <a:rPr sz="1100" spc="-10" dirty="0">
                          <a:latin typeface="Arial MT"/>
                          <a:cs typeface="Arial MT"/>
                        </a:rPr>
                        <a:t>Chocolate</a:t>
                      </a:r>
                      <a:r>
                        <a:rPr sz="1100" spc="500" dirty="0">
                          <a:latin typeface="Arial MT"/>
                          <a:cs typeface="Arial MT"/>
                        </a:rPr>
                        <a:t> </a:t>
                      </a:r>
                      <a:r>
                        <a:rPr sz="1100" spc="-20" dirty="0">
                          <a:latin typeface="Arial MT"/>
                          <a:cs typeface="Arial MT"/>
                        </a:rPr>
                        <a:t>Cake</a:t>
                      </a:r>
                      <a:endParaRPr sz="11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56168" y="383228"/>
            <a:ext cx="6273632"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Data</a:t>
            </a:r>
            <a:r>
              <a:rPr spc="-33" dirty="0">
                <a:solidFill>
                  <a:schemeClr val="bg1"/>
                </a:solidFill>
                <a:latin typeface="+mn-lt"/>
              </a:rPr>
              <a:t> </a:t>
            </a:r>
            <a:r>
              <a:rPr dirty="0">
                <a:solidFill>
                  <a:schemeClr val="bg1"/>
                </a:solidFill>
                <a:latin typeface="+mn-lt"/>
              </a:rPr>
              <a:t>Warehouse</a:t>
            </a:r>
            <a:r>
              <a:rPr spc="-60" dirty="0">
                <a:solidFill>
                  <a:schemeClr val="bg1"/>
                </a:solidFill>
                <a:latin typeface="+mn-lt"/>
              </a:rPr>
              <a:t> </a:t>
            </a:r>
            <a:r>
              <a:rPr spc="-13" dirty="0">
                <a:solidFill>
                  <a:schemeClr val="bg1"/>
                </a:solidFill>
                <a:latin typeface="+mn-lt"/>
              </a:rPr>
              <a:t>Layers</a:t>
            </a:r>
          </a:p>
        </p:txBody>
      </p:sp>
      <p:sp>
        <p:nvSpPr>
          <p:cNvPr id="3" name="object 3"/>
          <p:cNvSpPr txBox="1"/>
          <p:nvPr/>
        </p:nvSpPr>
        <p:spPr>
          <a:xfrm>
            <a:off x="4652603" y="4525874"/>
            <a:ext cx="839893" cy="344475"/>
          </a:xfrm>
          <a:prstGeom prst="rect">
            <a:avLst/>
          </a:prstGeom>
        </p:spPr>
        <p:txBody>
          <a:bodyPr vert="horz" wrap="square" lIns="0" tIns="16087" rIns="0" bIns="0" rtlCol="0">
            <a:spAutoFit/>
          </a:bodyPr>
          <a:lstStyle/>
          <a:p>
            <a:pPr marL="16933">
              <a:spcBef>
                <a:spcPts val="127"/>
              </a:spcBef>
            </a:pPr>
            <a:r>
              <a:rPr sz="2133" spc="-13" dirty="0">
                <a:solidFill>
                  <a:srgbClr val="FFFFFF"/>
                </a:solidFill>
                <a:latin typeface="Calibri"/>
                <a:cs typeface="Calibri"/>
              </a:rPr>
              <a:t>Staging</a:t>
            </a:r>
            <a:endParaRPr sz="2133">
              <a:latin typeface="Calibri"/>
              <a:cs typeface="Calibri"/>
            </a:endParaRPr>
          </a:p>
        </p:txBody>
      </p:sp>
      <p:sp>
        <p:nvSpPr>
          <p:cNvPr id="4" name="object 4"/>
          <p:cNvSpPr/>
          <p:nvPr/>
        </p:nvSpPr>
        <p:spPr>
          <a:xfrm>
            <a:off x="2005465" y="2004314"/>
            <a:ext cx="1137920" cy="799253"/>
          </a:xfrm>
          <a:custGeom>
            <a:avLst/>
            <a:gdLst/>
            <a:ahLst/>
            <a:cxnLst/>
            <a:rect l="l" t="t" r="r" b="b"/>
            <a:pathLst>
              <a:path w="853439" h="599439">
                <a:moveTo>
                  <a:pt x="853440" y="0"/>
                </a:moveTo>
                <a:lnTo>
                  <a:pt x="0" y="0"/>
                </a:lnTo>
                <a:lnTo>
                  <a:pt x="0" y="63576"/>
                </a:lnTo>
                <a:lnTo>
                  <a:pt x="0" y="191998"/>
                </a:lnTo>
                <a:lnTo>
                  <a:pt x="0" y="598868"/>
                </a:lnTo>
                <a:lnTo>
                  <a:pt x="853440" y="598868"/>
                </a:lnTo>
                <a:lnTo>
                  <a:pt x="853440" y="363651"/>
                </a:lnTo>
                <a:lnTo>
                  <a:pt x="789406" y="363651"/>
                </a:lnTo>
                <a:lnTo>
                  <a:pt x="789406" y="406882"/>
                </a:lnTo>
                <a:lnTo>
                  <a:pt x="789406" y="534022"/>
                </a:lnTo>
                <a:lnTo>
                  <a:pt x="576059" y="534022"/>
                </a:lnTo>
                <a:lnTo>
                  <a:pt x="576059" y="406882"/>
                </a:lnTo>
                <a:lnTo>
                  <a:pt x="789406" y="406882"/>
                </a:lnTo>
                <a:lnTo>
                  <a:pt x="789406" y="363651"/>
                </a:lnTo>
                <a:lnTo>
                  <a:pt x="533387" y="363651"/>
                </a:lnTo>
                <a:lnTo>
                  <a:pt x="533387" y="406882"/>
                </a:lnTo>
                <a:lnTo>
                  <a:pt x="533387" y="534022"/>
                </a:lnTo>
                <a:lnTo>
                  <a:pt x="320027" y="534022"/>
                </a:lnTo>
                <a:lnTo>
                  <a:pt x="320027" y="406882"/>
                </a:lnTo>
                <a:lnTo>
                  <a:pt x="533387" y="406882"/>
                </a:lnTo>
                <a:lnTo>
                  <a:pt x="533387" y="363651"/>
                </a:lnTo>
                <a:lnTo>
                  <a:pt x="277355" y="363651"/>
                </a:lnTo>
                <a:lnTo>
                  <a:pt x="277355" y="406882"/>
                </a:lnTo>
                <a:lnTo>
                  <a:pt x="277355" y="534022"/>
                </a:lnTo>
                <a:lnTo>
                  <a:pt x="64008" y="534022"/>
                </a:lnTo>
                <a:lnTo>
                  <a:pt x="64008" y="406882"/>
                </a:lnTo>
                <a:lnTo>
                  <a:pt x="277355" y="406882"/>
                </a:lnTo>
                <a:lnTo>
                  <a:pt x="277355" y="363651"/>
                </a:lnTo>
                <a:lnTo>
                  <a:pt x="64008" y="363651"/>
                </a:lnTo>
                <a:lnTo>
                  <a:pt x="64008" y="235229"/>
                </a:lnTo>
                <a:lnTo>
                  <a:pt x="277355" y="235229"/>
                </a:lnTo>
                <a:lnTo>
                  <a:pt x="277355" y="363474"/>
                </a:lnTo>
                <a:lnTo>
                  <a:pt x="320027" y="363474"/>
                </a:lnTo>
                <a:lnTo>
                  <a:pt x="320027" y="235229"/>
                </a:lnTo>
                <a:lnTo>
                  <a:pt x="533387" y="235229"/>
                </a:lnTo>
                <a:lnTo>
                  <a:pt x="533387" y="363474"/>
                </a:lnTo>
                <a:lnTo>
                  <a:pt x="576059" y="363474"/>
                </a:lnTo>
                <a:lnTo>
                  <a:pt x="576059" y="235229"/>
                </a:lnTo>
                <a:lnTo>
                  <a:pt x="789406" y="235229"/>
                </a:lnTo>
                <a:lnTo>
                  <a:pt x="789406" y="363474"/>
                </a:lnTo>
                <a:lnTo>
                  <a:pt x="853440" y="363474"/>
                </a:lnTo>
                <a:lnTo>
                  <a:pt x="853440" y="64071"/>
                </a:lnTo>
                <a:lnTo>
                  <a:pt x="789406" y="64071"/>
                </a:lnTo>
                <a:lnTo>
                  <a:pt x="789406" y="191998"/>
                </a:lnTo>
                <a:lnTo>
                  <a:pt x="576059" y="191998"/>
                </a:lnTo>
                <a:lnTo>
                  <a:pt x="576059" y="64071"/>
                </a:lnTo>
                <a:lnTo>
                  <a:pt x="533387" y="64071"/>
                </a:lnTo>
                <a:lnTo>
                  <a:pt x="533387" y="191998"/>
                </a:lnTo>
                <a:lnTo>
                  <a:pt x="320027" y="191998"/>
                </a:lnTo>
                <a:lnTo>
                  <a:pt x="320027" y="64071"/>
                </a:lnTo>
                <a:lnTo>
                  <a:pt x="277355" y="64071"/>
                </a:lnTo>
                <a:lnTo>
                  <a:pt x="277355" y="191998"/>
                </a:lnTo>
                <a:lnTo>
                  <a:pt x="64008" y="191998"/>
                </a:lnTo>
                <a:lnTo>
                  <a:pt x="64008" y="63576"/>
                </a:lnTo>
                <a:lnTo>
                  <a:pt x="853440" y="63576"/>
                </a:lnTo>
                <a:lnTo>
                  <a:pt x="853440" y="0"/>
                </a:lnTo>
                <a:close/>
              </a:path>
            </a:pathLst>
          </a:custGeom>
          <a:solidFill>
            <a:srgbClr val="BCBCBC"/>
          </a:solidFill>
        </p:spPr>
        <p:txBody>
          <a:bodyPr wrap="square" lIns="0" tIns="0" rIns="0" bIns="0" rtlCol="0"/>
          <a:lstStyle/>
          <a:p>
            <a:endParaRPr sz="2400"/>
          </a:p>
        </p:txBody>
      </p:sp>
      <p:sp>
        <p:nvSpPr>
          <p:cNvPr id="5" name="object 5"/>
          <p:cNvSpPr txBox="1"/>
          <p:nvPr/>
        </p:nvSpPr>
        <p:spPr>
          <a:xfrm>
            <a:off x="1941408" y="4198959"/>
            <a:ext cx="1390225" cy="264560"/>
          </a:xfrm>
          <a:prstGeom prst="rect">
            <a:avLst/>
          </a:prstGeom>
        </p:spPr>
        <p:txBody>
          <a:bodyPr vert="horz" wrap="square" lIns="0" tIns="0" rIns="0" bIns="0" rtlCol="0">
            <a:spAutoFit/>
          </a:bodyPr>
          <a:lstStyle/>
          <a:p>
            <a:pPr>
              <a:lnSpc>
                <a:spcPts val="2020"/>
              </a:lnSpc>
            </a:pPr>
            <a:r>
              <a:rPr sz="2133" dirty="0">
                <a:solidFill>
                  <a:srgbClr val="FFFFFF"/>
                </a:solidFill>
                <a:latin typeface="Calibri"/>
                <a:cs typeface="Calibri"/>
              </a:rPr>
              <a:t>data</a:t>
            </a:r>
            <a:r>
              <a:rPr sz="2133" spc="-33" dirty="0">
                <a:solidFill>
                  <a:srgbClr val="FFFFFF"/>
                </a:solidFill>
                <a:latin typeface="Calibri"/>
                <a:cs typeface="Calibri"/>
              </a:rPr>
              <a:t> </a:t>
            </a:r>
            <a:r>
              <a:rPr sz="2133" spc="-13" dirty="0">
                <a:solidFill>
                  <a:srgbClr val="FFFFFF"/>
                </a:solidFill>
                <a:latin typeface="Calibri"/>
                <a:cs typeface="Calibri"/>
              </a:rPr>
              <a:t>sources</a:t>
            </a:r>
            <a:endParaRPr sz="2133">
              <a:latin typeface="Calibri"/>
              <a:cs typeface="Calibri"/>
            </a:endParaRPr>
          </a:p>
        </p:txBody>
      </p:sp>
      <p:sp>
        <p:nvSpPr>
          <p:cNvPr id="6" name="object 6"/>
          <p:cNvSpPr/>
          <p:nvPr/>
        </p:nvSpPr>
        <p:spPr>
          <a:xfrm>
            <a:off x="2194916" y="2986008"/>
            <a:ext cx="781473" cy="781473"/>
          </a:xfrm>
          <a:custGeom>
            <a:avLst/>
            <a:gdLst/>
            <a:ahLst/>
            <a:cxnLst/>
            <a:rect l="l" t="t" r="r" b="b"/>
            <a:pathLst>
              <a:path w="586105" h="586105">
                <a:moveTo>
                  <a:pt x="586003" y="334645"/>
                </a:moveTo>
                <a:lnTo>
                  <a:pt x="578231" y="353771"/>
                </a:lnTo>
                <a:lnTo>
                  <a:pt x="556107" y="371360"/>
                </a:lnTo>
                <a:lnTo>
                  <a:pt x="523227" y="386092"/>
                </a:lnTo>
                <a:lnTo>
                  <a:pt x="523227" y="481050"/>
                </a:lnTo>
                <a:lnTo>
                  <a:pt x="521716" y="489610"/>
                </a:lnTo>
                <a:lnTo>
                  <a:pt x="517461" y="496214"/>
                </a:lnTo>
                <a:lnTo>
                  <a:pt x="510857" y="500468"/>
                </a:lnTo>
                <a:lnTo>
                  <a:pt x="502297" y="501967"/>
                </a:lnTo>
                <a:lnTo>
                  <a:pt x="493725" y="500468"/>
                </a:lnTo>
                <a:lnTo>
                  <a:pt x="487121" y="496214"/>
                </a:lnTo>
                <a:lnTo>
                  <a:pt x="482866" y="489610"/>
                </a:lnTo>
                <a:lnTo>
                  <a:pt x="481368" y="481050"/>
                </a:lnTo>
                <a:lnTo>
                  <a:pt x="482866" y="472490"/>
                </a:lnTo>
                <a:lnTo>
                  <a:pt x="487121" y="465886"/>
                </a:lnTo>
                <a:lnTo>
                  <a:pt x="493725" y="461645"/>
                </a:lnTo>
                <a:lnTo>
                  <a:pt x="502297" y="460133"/>
                </a:lnTo>
                <a:lnTo>
                  <a:pt x="510857" y="461645"/>
                </a:lnTo>
                <a:lnTo>
                  <a:pt x="517461" y="465886"/>
                </a:lnTo>
                <a:lnTo>
                  <a:pt x="521716" y="472490"/>
                </a:lnTo>
                <a:lnTo>
                  <a:pt x="523227" y="481050"/>
                </a:lnTo>
                <a:lnTo>
                  <a:pt x="523227" y="386092"/>
                </a:lnTo>
                <a:lnTo>
                  <a:pt x="475983" y="399872"/>
                </a:lnTo>
                <a:lnTo>
                  <a:pt x="421563" y="409765"/>
                </a:lnTo>
                <a:lnTo>
                  <a:pt x="359981" y="416090"/>
                </a:lnTo>
                <a:lnTo>
                  <a:pt x="293001" y="418312"/>
                </a:lnTo>
                <a:lnTo>
                  <a:pt x="226034" y="416090"/>
                </a:lnTo>
                <a:lnTo>
                  <a:pt x="164439" y="409765"/>
                </a:lnTo>
                <a:lnTo>
                  <a:pt x="110032" y="399872"/>
                </a:lnTo>
                <a:lnTo>
                  <a:pt x="64579" y="386892"/>
                </a:lnTo>
                <a:lnTo>
                  <a:pt x="7772" y="353771"/>
                </a:lnTo>
                <a:lnTo>
                  <a:pt x="0" y="334645"/>
                </a:lnTo>
                <a:lnTo>
                  <a:pt x="0" y="501967"/>
                </a:lnTo>
                <a:lnTo>
                  <a:pt x="29895" y="538670"/>
                </a:lnTo>
                <a:lnTo>
                  <a:pt x="110032" y="567182"/>
                </a:lnTo>
                <a:lnTo>
                  <a:pt x="164439" y="577088"/>
                </a:lnTo>
                <a:lnTo>
                  <a:pt x="226034" y="583399"/>
                </a:lnTo>
                <a:lnTo>
                  <a:pt x="293001" y="585622"/>
                </a:lnTo>
                <a:lnTo>
                  <a:pt x="359981" y="583399"/>
                </a:lnTo>
                <a:lnTo>
                  <a:pt x="421563" y="577088"/>
                </a:lnTo>
                <a:lnTo>
                  <a:pt x="475983" y="567182"/>
                </a:lnTo>
                <a:lnTo>
                  <a:pt x="521423" y="554215"/>
                </a:lnTo>
                <a:lnTo>
                  <a:pt x="578231" y="521093"/>
                </a:lnTo>
                <a:lnTo>
                  <a:pt x="586003" y="501967"/>
                </a:lnTo>
                <a:lnTo>
                  <a:pt x="586003" y="460133"/>
                </a:lnTo>
                <a:lnTo>
                  <a:pt x="586003" y="418312"/>
                </a:lnTo>
                <a:lnTo>
                  <a:pt x="586003" y="334645"/>
                </a:lnTo>
                <a:close/>
              </a:path>
              <a:path w="586105" h="586105">
                <a:moveTo>
                  <a:pt x="586003" y="125501"/>
                </a:moveTo>
                <a:lnTo>
                  <a:pt x="578231" y="144627"/>
                </a:lnTo>
                <a:lnTo>
                  <a:pt x="556107" y="162204"/>
                </a:lnTo>
                <a:lnTo>
                  <a:pt x="523227" y="176949"/>
                </a:lnTo>
                <a:lnTo>
                  <a:pt x="523227" y="271907"/>
                </a:lnTo>
                <a:lnTo>
                  <a:pt x="521716" y="280466"/>
                </a:lnTo>
                <a:lnTo>
                  <a:pt x="517461" y="287070"/>
                </a:lnTo>
                <a:lnTo>
                  <a:pt x="510857" y="291312"/>
                </a:lnTo>
                <a:lnTo>
                  <a:pt x="502297" y="292823"/>
                </a:lnTo>
                <a:lnTo>
                  <a:pt x="493725" y="291312"/>
                </a:lnTo>
                <a:lnTo>
                  <a:pt x="487121" y="287070"/>
                </a:lnTo>
                <a:lnTo>
                  <a:pt x="482866" y="280466"/>
                </a:lnTo>
                <a:lnTo>
                  <a:pt x="481368" y="271907"/>
                </a:lnTo>
                <a:lnTo>
                  <a:pt x="482866" y="263347"/>
                </a:lnTo>
                <a:lnTo>
                  <a:pt x="487121" y="256743"/>
                </a:lnTo>
                <a:lnTo>
                  <a:pt x="493725" y="252488"/>
                </a:lnTo>
                <a:lnTo>
                  <a:pt x="502297" y="250990"/>
                </a:lnTo>
                <a:lnTo>
                  <a:pt x="510857" y="252488"/>
                </a:lnTo>
                <a:lnTo>
                  <a:pt x="517461" y="256743"/>
                </a:lnTo>
                <a:lnTo>
                  <a:pt x="521716" y="263347"/>
                </a:lnTo>
                <a:lnTo>
                  <a:pt x="523227" y="271907"/>
                </a:lnTo>
                <a:lnTo>
                  <a:pt x="523227" y="176949"/>
                </a:lnTo>
                <a:lnTo>
                  <a:pt x="475983" y="190715"/>
                </a:lnTo>
                <a:lnTo>
                  <a:pt x="421563" y="200621"/>
                </a:lnTo>
                <a:lnTo>
                  <a:pt x="359981" y="206933"/>
                </a:lnTo>
                <a:lnTo>
                  <a:pt x="293001" y="209156"/>
                </a:lnTo>
                <a:lnTo>
                  <a:pt x="226034" y="206933"/>
                </a:lnTo>
                <a:lnTo>
                  <a:pt x="164439" y="200621"/>
                </a:lnTo>
                <a:lnTo>
                  <a:pt x="110032" y="190715"/>
                </a:lnTo>
                <a:lnTo>
                  <a:pt x="64579" y="177749"/>
                </a:lnTo>
                <a:lnTo>
                  <a:pt x="7772" y="144627"/>
                </a:lnTo>
                <a:lnTo>
                  <a:pt x="0" y="125501"/>
                </a:lnTo>
                <a:lnTo>
                  <a:pt x="0" y="292823"/>
                </a:lnTo>
                <a:lnTo>
                  <a:pt x="29895" y="329526"/>
                </a:lnTo>
                <a:lnTo>
                  <a:pt x="110032" y="358038"/>
                </a:lnTo>
                <a:lnTo>
                  <a:pt x="164439" y="367944"/>
                </a:lnTo>
                <a:lnTo>
                  <a:pt x="226034" y="374256"/>
                </a:lnTo>
                <a:lnTo>
                  <a:pt x="293001" y="376478"/>
                </a:lnTo>
                <a:lnTo>
                  <a:pt x="359981" y="374256"/>
                </a:lnTo>
                <a:lnTo>
                  <a:pt x="421563" y="367944"/>
                </a:lnTo>
                <a:lnTo>
                  <a:pt x="475983" y="358038"/>
                </a:lnTo>
                <a:lnTo>
                  <a:pt x="521423" y="345059"/>
                </a:lnTo>
                <a:lnTo>
                  <a:pt x="578231" y="311937"/>
                </a:lnTo>
                <a:lnTo>
                  <a:pt x="586003" y="292823"/>
                </a:lnTo>
                <a:lnTo>
                  <a:pt x="586003" y="250990"/>
                </a:lnTo>
                <a:lnTo>
                  <a:pt x="586003" y="209156"/>
                </a:lnTo>
                <a:lnTo>
                  <a:pt x="586003" y="125501"/>
                </a:lnTo>
                <a:close/>
              </a:path>
              <a:path w="586105" h="586105">
                <a:moveTo>
                  <a:pt x="586003" y="83667"/>
                </a:moveTo>
                <a:lnTo>
                  <a:pt x="556234" y="46875"/>
                </a:lnTo>
                <a:lnTo>
                  <a:pt x="476262" y="18376"/>
                </a:lnTo>
                <a:lnTo>
                  <a:pt x="421855" y="8496"/>
                </a:lnTo>
                <a:lnTo>
                  <a:pt x="360184" y="2209"/>
                </a:lnTo>
                <a:lnTo>
                  <a:pt x="293001" y="0"/>
                </a:lnTo>
                <a:lnTo>
                  <a:pt x="225818" y="2209"/>
                </a:lnTo>
                <a:lnTo>
                  <a:pt x="164147" y="8496"/>
                </a:lnTo>
                <a:lnTo>
                  <a:pt x="109753" y="18376"/>
                </a:lnTo>
                <a:lnTo>
                  <a:pt x="64376" y="31343"/>
                </a:lnTo>
                <a:lnTo>
                  <a:pt x="7747" y="64490"/>
                </a:lnTo>
                <a:lnTo>
                  <a:pt x="0" y="83667"/>
                </a:lnTo>
                <a:lnTo>
                  <a:pt x="7747" y="102857"/>
                </a:lnTo>
                <a:lnTo>
                  <a:pt x="64376" y="135991"/>
                </a:lnTo>
                <a:lnTo>
                  <a:pt x="109753" y="148945"/>
                </a:lnTo>
                <a:lnTo>
                  <a:pt x="164147" y="158826"/>
                </a:lnTo>
                <a:lnTo>
                  <a:pt x="225818" y="165125"/>
                </a:lnTo>
                <a:lnTo>
                  <a:pt x="293001" y="167335"/>
                </a:lnTo>
                <a:lnTo>
                  <a:pt x="360184" y="165125"/>
                </a:lnTo>
                <a:lnTo>
                  <a:pt x="421855" y="158826"/>
                </a:lnTo>
                <a:lnTo>
                  <a:pt x="476262" y="148945"/>
                </a:lnTo>
                <a:lnTo>
                  <a:pt x="521639" y="135991"/>
                </a:lnTo>
                <a:lnTo>
                  <a:pt x="578269" y="102857"/>
                </a:lnTo>
                <a:lnTo>
                  <a:pt x="586003" y="83667"/>
                </a:lnTo>
                <a:close/>
              </a:path>
            </a:pathLst>
          </a:custGeom>
          <a:solidFill>
            <a:srgbClr val="9B9B9B"/>
          </a:solidFill>
        </p:spPr>
        <p:txBody>
          <a:bodyPr wrap="square" lIns="0" tIns="0" rIns="0" bIns="0" rtlCol="0"/>
          <a:lstStyle/>
          <a:p>
            <a:endParaRPr sz="2400"/>
          </a:p>
        </p:txBody>
      </p:sp>
      <p:sp>
        <p:nvSpPr>
          <p:cNvPr id="7" name="object 7"/>
          <p:cNvSpPr/>
          <p:nvPr/>
        </p:nvSpPr>
        <p:spPr>
          <a:xfrm>
            <a:off x="2194928" y="3711059"/>
            <a:ext cx="781473" cy="335280"/>
          </a:xfrm>
          <a:custGeom>
            <a:avLst/>
            <a:gdLst/>
            <a:ahLst/>
            <a:cxnLst/>
            <a:rect l="l" t="t" r="r" b="b"/>
            <a:pathLst>
              <a:path w="586105" h="251460">
                <a:moveTo>
                  <a:pt x="0" y="0"/>
                </a:moveTo>
                <a:lnTo>
                  <a:pt x="0" y="167318"/>
                </a:lnTo>
                <a:lnTo>
                  <a:pt x="29898" y="204025"/>
                </a:lnTo>
                <a:lnTo>
                  <a:pt x="110025" y="232537"/>
                </a:lnTo>
                <a:lnTo>
                  <a:pt x="164440" y="242440"/>
                </a:lnTo>
                <a:lnTo>
                  <a:pt x="226031" y="248757"/>
                </a:lnTo>
                <a:lnTo>
                  <a:pt x="293003" y="250977"/>
                </a:lnTo>
                <a:lnTo>
                  <a:pt x="359975" y="248757"/>
                </a:lnTo>
                <a:lnTo>
                  <a:pt x="421566" y="242440"/>
                </a:lnTo>
                <a:lnTo>
                  <a:pt x="475981" y="232538"/>
                </a:lnTo>
                <a:lnTo>
                  <a:pt x="521426" y="219562"/>
                </a:lnTo>
                <a:lnTo>
                  <a:pt x="578233" y="186440"/>
                </a:lnTo>
                <a:lnTo>
                  <a:pt x="586007" y="167318"/>
                </a:lnTo>
                <a:lnTo>
                  <a:pt x="502292" y="167318"/>
                </a:lnTo>
                <a:lnTo>
                  <a:pt x="493724" y="165814"/>
                </a:lnTo>
                <a:lnTo>
                  <a:pt x="487118" y="161566"/>
                </a:lnTo>
                <a:lnTo>
                  <a:pt x="482867" y="154965"/>
                </a:lnTo>
                <a:lnTo>
                  <a:pt x="481363" y="146403"/>
                </a:lnTo>
                <a:lnTo>
                  <a:pt x="482867" y="137841"/>
                </a:lnTo>
                <a:lnTo>
                  <a:pt x="487118" y="131240"/>
                </a:lnTo>
                <a:lnTo>
                  <a:pt x="493724" y="126991"/>
                </a:lnTo>
                <a:lnTo>
                  <a:pt x="502292" y="125488"/>
                </a:lnTo>
                <a:lnTo>
                  <a:pt x="586007" y="125488"/>
                </a:lnTo>
                <a:lnTo>
                  <a:pt x="586007" y="83659"/>
                </a:lnTo>
                <a:lnTo>
                  <a:pt x="293003" y="83659"/>
                </a:lnTo>
                <a:lnTo>
                  <a:pt x="226031" y="81439"/>
                </a:lnTo>
                <a:lnTo>
                  <a:pt x="164440" y="75122"/>
                </a:lnTo>
                <a:lnTo>
                  <a:pt x="110025" y="65219"/>
                </a:lnTo>
                <a:lnTo>
                  <a:pt x="64580" y="52244"/>
                </a:lnTo>
                <a:lnTo>
                  <a:pt x="7773" y="19122"/>
                </a:lnTo>
                <a:lnTo>
                  <a:pt x="0" y="0"/>
                </a:lnTo>
                <a:close/>
              </a:path>
              <a:path w="586105" h="251460">
                <a:moveTo>
                  <a:pt x="586007" y="125488"/>
                </a:moveTo>
                <a:lnTo>
                  <a:pt x="502292" y="125488"/>
                </a:lnTo>
                <a:lnTo>
                  <a:pt x="510859" y="126991"/>
                </a:lnTo>
                <a:lnTo>
                  <a:pt x="517465" y="131240"/>
                </a:lnTo>
                <a:lnTo>
                  <a:pt x="521716" y="137841"/>
                </a:lnTo>
                <a:lnTo>
                  <a:pt x="523220" y="146403"/>
                </a:lnTo>
                <a:lnTo>
                  <a:pt x="521716" y="154965"/>
                </a:lnTo>
                <a:lnTo>
                  <a:pt x="517465" y="161566"/>
                </a:lnTo>
                <a:lnTo>
                  <a:pt x="510859" y="165814"/>
                </a:lnTo>
                <a:lnTo>
                  <a:pt x="502292" y="167318"/>
                </a:lnTo>
                <a:lnTo>
                  <a:pt x="586007" y="167318"/>
                </a:lnTo>
                <a:lnTo>
                  <a:pt x="586007" y="125488"/>
                </a:lnTo>
                <a:close/>
              </a:path>
              <a:path w="586105" h="251460">
                <a:moveTo>
                  <a:pt x="586007" y="0"/>
                </a:moveTo>
                <a:lnTo>
                  <a:pt x="556109" y="36707"/>
                </a:lnTo>
                <a:lnTo>
                  <a:pt x="475981" y="65219"/>
                </a:lnTo>
                <a:lnTo>
                  <a:pt x="421566" y="75122"/>
                </a:lnTo>
                <a:lnTo>
                  <a:pt x="359975" y="81439"/>
                </a:lnTo>
                <a:lnTo>
                  <a:pt x="293003" y="83659"/>
                </a:lnTo>
                <a:lnTo>
                  <a:pt x="586007" y="83659"/>
                </a:lnTo>
                <a:lnTo>
                  <a:pt x="586007" y="0"/>
                </a:lnTo>
                <a:close/>
              </a:path>
            </a:pathLst>
          </a:custGeom>
          <a:solidFill>
            <a:srgbClr val="9B9B9B"/>
          </a:solidFill>
        </p:spPr>
        <p:txBody>
          <a:bodyPr wrap="square" lIns="0" tIns="0" rIns="0" bIns="0" rtlCol="0"/>
          <a:lstStyle/>
          <a:p>
            <a:endParaRPr sz="2400"/>
          </a:p>
        </p:txBody>
      </p:sp>
      <p:grpSp>
        <p:nvGrpSpPr>
          <p:cNvPr id="8" name="object 8"/>
          <p:cNvGrpSpPr/>
          <p:nvPr/>
        </p:nvGrpSpPr>
        <p:grpSpPr>
          <a:xfrm>
            <a:off x="3302001" y="1408177"/>
            <a:ext cx="2889673" cy="3113193"/>
            <a:chOff x="2476500" y="1056132"/>
            <a:chExt cx="2167255" cy="2334895"/>
          </a:xfrm>
        </p:grpSpPr>
        <p:sp>
          <p:nvSpPr>
            <p:cNvPr id="9" name="object 9"/>
            <p:cNvSpPr/>
            <p:nvPr/>
          </p:nvSpPr>
          <p:spPr>
            <a:xfrm>
              <a:off x="2910840" y="1060704"/>
              <a:ext cx="1728470" cy="2326005"/>
            </a:xfrm>
            <a:custGeom>
              <a:avLst/>
              <a:gdLst/>
              <a:ahLst/>
              <a:cxnLst/>
              <a:rect l="l" t="t" r="r" b="b"/>
              <a:pathLst>
                <a:path w="1728470" h="2326004">
                  <a:moveTo>
                    <a:pt x="0" y="288036"/>
                  </a:moveTo>
                  <a:lnTo>
                    <a:pt x="3768" y="241302"/>
                  </a:lnTo>
                  <a:lnTo>
                    <a:pt x="14679" y="196973"/>
                  </a:lnTo>
                  <a:lnTo>
                    <a:pt x="32140" y="155643"/>
                  </a:lnTo>
                  <a:lnTo>
                    <a:pt x="55558" y="117902"/>
                  </a:lnTo>
                  <a:lnTo>
                    <a:pt x="84343" y="84343"/>
                  </a:lnTo>
                  <a:lnTo>
                    <a:pt x="117902" y="55558"/>
                  </a:lnTo>
                  <a:lnTo>
                    <a:pt x="155643" y="32140"/>
                  </a:lnTo>
                  <a:lnTo>
                    <a:pt x="196973" y="14679"/>
                  </a:lnTo>
                  <a:lnTo>
                    <a:pt x="241302" y="3768"/>
                  </a:lnTo>
                  <a:lnTo>
                    <a:pt x="288036" y="0"/>
                  </a:lnTo>
                  <a:lnTo>
                    <a:pt x="1440180" y="0"/>
                  </a:lnTo>
                  <a:lnTo>
                    <a:pt x="1486913" y="3768"/>
                  </a:lnTo>
                  <a:lnTo>
                    <a:pt x="1531242" y="14679"/>
                  </a:lnTo>
                  <a:lnTo>
                    <a:pt x="1572572" y="32140"/>
                  </a:lnTo>
                  <a:lnTo>
                    <a:pt x="1610313" y="55558"/>
                  </a:lnTo>
                  <a:lnTo>
                    <a:pt x="1643872" y="84343"/>
                  </a:lnTo>
                  <a:lnTo>
                    <a:pt x="1672657" y="117902"/>
                  </a:lnTo>
                  <a:lnTo>
                    <a:pt x="1696075" y="155643"/>
                  </a:lnTo>
                  <a:lnTo>
                    <a:pt x="1713536" y="196973"/>
                  </a:lnTo>
                  <a:lnTo>
                    <a:pt x="1724447" y="241302"/>
                  </a:lnTo>
                  <a:lnTo>
                    <a:pt x="1728215" y="288036"/>
                  </a:lnTo>
                  <a:lnTo>
                    <a:pt x="1728215" y="2037588"/>
                  </a:lnTo>
                  <a:lnTo>
                    <a:pt x="1724447" y="2084321"/>
                  </a:lnTo>
                  <a:lnTo>
                    <a:pt x="1713536" y="2128650"/>
                  </a:lnTo>
                  <a:lnTo>
                    <a:pt x="1696075" y="2169980"/>
                  </a:lnTo>
                  <a:lnTo>
                    <a:pt x="1672657" y="2207721"/>
                  </a:lnTo>
                  <a:lnTo>
                    <a:pt x="1643872" y="2241280"/>
                  </a:lnTo>
                  <a:lnTo>
                    <a:pt x="1610313" y="2270065"/>
                  </a:lnTo>
                  <a:lnTo>
                    <a:pt x="1572572" y="2293483"/>
                  </a:lnTo>
                  <a:lnTo>
                    <a:pt x="1531242" y="2310944"/>
                  </a:lnTo>
                  <a:lnTo>
                    <a:pt x="1486913" y="2321855"/>
                  </a:lnTo>
                  <a:lnTo>
                    <a:pt x="1440180" y="2325624"/>
                  </a:lnTo>
                  <a:lnTo>
                    <a:pt x="288036" y="2325624"/>
                  </a:lnTo>
                  <a:lnTo>
                    <a:pt x="241302" y="2321855"/>
                  </a:lnTo>
                  <a:lnTo>
                    <a:pt x="196973" y="2310944"/>
                  </a:lnTo>
                  <a:lnTo>
                    <a:pt x="155643" y="2293483"/>
                  </a:lnTo>
                  <a:lnTo>
                    <a:pt x="117902" y="2270065"/>
                  </a:lnTo>
                  <a:lnTo>
                    <a:pt x="84343" y="2241280"/>
                  </a:lnTo>
                  <a:lnTo>
                    <a:pt x="55558" y="2207721"/>
                  </a:lnTo>
                  <a:lnTo>
                    <a:pt x="32140" y="2169980"/>
                  </a:lnTo>
                  <a:lnTo>
                    <a:pt x="14679" y="2128650"/>
                  </a:lnTo>
                  <a:lnTo>
                    <a:pt x="3768" y="2084321"/>
                  </a:lnTo>
                  <a:lnTo>
                    <a:pt x="0" y="2037588"/>
                  </a:lnTo>
                  <a:lnTo>
                    <a:pt x="0" y="288036"/>
                  </a:lnTo>
                  <a:close/>
                </a:path>
              </a:pathLst>
            </a:custGeom>
            <a:ln w="9144">
              <a:solidFill>
                <a:srgbClr val="00C3FF"/>
              </a:solidFill>
            </a:ln>
          </p:spPr>
          <p:txBody>
            <a:bodyPr wrap="square" lIns="0" tIns="0" rIns="0" bIns="0" rtlCol="0"/>
            <a:lstStyle/>
            <a:p>
              <a:endParaRPr sz="2400"/>
            </a:p>
          </p:txBody>
        </p:sp>
        <p:sp>
          <p:nvSpPr>
            <p:cNvPr id="10" name="object 10"/>
            <p:cNvSpPr/>
            <p:nvPr/>
          </p:nvSpPr>
          <p:spPr>
            <a:xfrm>
              <a:off x="2489453" y="1739646"/>
              <a:ext cx="524510" cy="167640"/>
            </a:xfrm>
            <a:custGeom>
              <a:avLst/>
              <a:gdLst/>
              <a:ahLst/>
              <a:cxnLst/>
              <a:rect l="l" t="t" r="r" b="b"/>
              <a:pathLst>
                <a:path w="524510" h="167639">
                  <a:moveTo>
                    <a:pt x="440435" y="0"/>
                  </a:moveTo>
                  <a:lnTo>
                    <a:pt x="440435" y="41909"/>
                  </a:lnTo>
                  <a:lnTo>
                    <a:pt x="0" y="41909"/>
                  </a:lnTo>
                  <a:lnTo>
                    <a:pt x="0" y="125729"/>
                  </a:lnTo>
                  <a:lnTo>
                    <a:pt x="440435" y="125729"/>
                  </a:lnTo>
                  <a:lnTo>
                    <a:pt x="440435" y="167639"/>
                  </a:lnTo>
                  <a:lnTo>
                    <a:pt x="524256" y="83819"/>
                  </a:lnTo>
                  <a:lnTo>
                    <a:pt x="440435" y="0"/>
                  </a:lnTo>
                  <a:close/>
                </a:path>
              </a:pathLst>
            </a:custGeom>
            <a:solidFill>
              <a:srgbClr val="00C3FF"/>
            </a:solidFill>
          </p:spPr>
          <p:txBody>
            <a:bodyPr wrap="square" lIns="0" tIns="0" rIns="0" bIns="0" rtlCol="0"/>
            <a:lstStyle/>
            <a:p>
              <a:endParaRPr sz="2400"/>
            </a:p>
          </p:txBody>
        </p:sp>
        <p:sp>
          <p:nvSpPr>
            <p:cNvPr id="11" name="object 11"/>
            <p:cNvSpPr/>
            <p:nvPr/>
          </p:nvSpPr>
          <p:spPr>
            <a:xfrm>
              <a:off x="2489453" y="1739646"/>
              <a:ext cx="524510" cy="167640"/>
            </a:xfrm>
            <a:custGeom>
              <a:avLst/>
              <a:gdLst/>
              <a:ahLst/>
              <a:cxnLst/>
              <a:rect l="l" t="t" r="r" b="b"/>
              <a:pathLst>
                <a:path w="524510" h="167639">
                  <a:moveTo>
                    <a:pt x="0" y="41909"/>
                  </a:moveTo>
                  <a:lnTo>
                    <a:pt x="440435" y="41909"/>
                  </a:lnTo>
                  <a:lnTo>
                    <a:pt x="440435" y="0"/>
                  </a:lnTo>
                  <a:lnTo>
                    <a:pt x="524256" y="83819"/>
                  </a:lnTo>
                  <a:lnTo>
                    <a:pt x="440435" y="167639"/>
                  </a:lnTo>
                  <a:lnTo>
                    <a:pt x="440435" y="125729"/>
                  </a:lnTo>
                  <a:lnTo>
                    <a:pt x="0" y="125729"/>
                  </a:lnTo>
                  <a:lnTo>
                    <a:pt x="0" y="41909"/>
                  </a:lnTo>
                  <a:close/>
                </a:path>
              </a:pathLst>
            </a:custGeom>
            <a:ln w="25907">
              <a:solidFill>
                <a:srgbClr val="008FBB"/>
              </a:solidFill>
            </a:ln>
          </p:spPr>
          <p:txBody>
            <a:bodyPr wrap="square" lIns="0" tIns="0" rIns="0" bIns="0" rtlCol="0"/>
            <a:lstStyle/>
            <a:p>
              <a:endParaRPr sz="2400"/>
            </a:p>
          </p:txBody>
        </p:sp>
        <p:sp>
          <p:nvSpPr>
            <p:cNvPr id="12" name="object 12"/>
            <p:cNvSpPr/>
            <p:nvPr/>
          </p:nvSpPr>
          <p:spPr>
            <a:xfrm>
              <a:off x="2489453" y="2526030"/>
              <a:ext cx="524510" cy="167640"/>
            </a:xfrm>
            <a:custGeom>
              <a:avLst/>
              <a:gdLst/>
              <a:ahLst/>
              <a:cxnLst/>
              <a:rect l="l" t="t" r="r" b="b"/>
              <a:pathLst>
                <a:path w="524510" h="167639">
                  <a:moveTo>
                    <a:pt x="440435" y="0"/>
                  </a:moveTo>
                  <a:lnTo>
                    <a:pt x="440435" y="41909"/>
                  </a:lnTo>
                  <a:lnTo>
                    <a:pt x="0" y="41909"/>
                  </a:lnTo>
                  <a:lnTo>
                    <a:pt x="0" y="125730"/>
                  </a:lnTo>
                  <a:lnTo>
                    <a:pt x="440435" y="125730"/>
                  </a:lnTo>
                  <a:lnTo>
                    <a:pt x="440435" y="167639"/>
                  </a:lnTo>
                  <a:lnTo>
                    <a:pt x="524256" y="83819"/>
                  </a:lnTo>
                  <a:lnTo>
                    <a:pt x="440435" y="0"/>
                  </a:lnTo>
                  <a:close/>
                </a:path>
              </a:pathLst>
            </a:custGeom>
            <a:solidFill>
              <a:srgbClr val="00C3FF"/>
            </a:solidFill>
          </p:spPr>
          <p:txBody>
            <a:bodyPr wrap="square" lIns="0" tIns="0" rIns="0" bIns="0" rtlCol="0"/>
            <a:lstStyle/>
            <a:p>
              <a:endParaRPr sz="2400"/>
            </a:p>
          </p:txBody>
        </p:sp>
        <p:sp>
          <p:nvSpPr>
            <p:cNvPr id="13" name="object 13"/>
            <p:cNvSpPr/>
            <p:nvPr/>
          </p:nvSpPr>
          <p:spPr>
            <a:xfrm>
              <a:off x="2489453" y="2526030"/>
              <a:ext cx="524510" cy="167640"/>
            </a:xfrm>
            <a:custGeom>
              <a:avLst/>
              <a:gdLst/>
              <a:ahLst/>
              <a:cxnLst/>
              <a:rect l="l" t="t" r="r" b="b"/>
              <a:pathLst>
                <a:path w="524510" h="167639">
                  <a:moveTo>
                    <a:pt x="0" y="41909"/>
                  </a:moveTo>
                  <a:lnTo>
                    <a:pt x="440435" y="41909"/>
                  </a:lnTo>
                  <a:lnTo>
                    <a:pt x="440435" y="0"/>
                  </a:lnTo>
                  <a:lnTo>
                    <a:pt x="524256" y="83819"/>
                  </a:lnTo>
                  <a:lnTo>
                    <a:pt x="440435" y="167639"/>
                  </a:lnTo>
                  <a:lnTo>
                    <a:pt x="440435" y="125730"/>
                  </a:lnTo>
                  <a:lnTo>
                    <a:pt x="0" y="125730"/>
                  </a:lnTo>
                  <a:lnTo>
                    <a:pt x="0" y="41909"/>
                  </a:lnTo>
                  <a:close/>
                </a:path>
              </a:pathLst>
            </a:custGeom>
            <a:ln w="25907">
              <a:solidFill>
                <a:srgbClr val="008FBB"/>
              </a:solidFill>
            </a:ln>
          </p:spPr>
          <p:txBody>
            <a:bodyPr wrap="square" lIns="0" tIns="0" rIns="0" bIns="0" rtlCol="0"/>
            <a:lstStyle/>
            <a:p>
              <a:endParaRPr sz="2400"/>
            </a:p>
          </p:txBody>
        </p:sp>
      </p:grpSp>
      <p:sp>
        <p:nvSpPr>
          <p:cNvPr id="14" name="object 14"/>
          <p:cNvSpPr txBox="1"/>
          <p:nvPr/>
        </p:nvSpPr>
        <p:spPr>
          <a:xfrm>
            <a:off x="3178047" y="1556511"/>
            <a:ext cx="953347" cy="605230"/>
          </a:xfrm>
          <a:prstGeom prst="rect">
            <a:avLst/>
          </a:prstGeom>
          <a:solidFill>
            <a:srgbClr val="00C3FF">
              <a:alpha val="50195"/>
            </a:srgbClr>
          </a:solidFill>
        </p:spPr>
        <p:txBody>
          <a:bodyPr vert="horz" wrap="square" lIns="0" tIns="30480" rIns="0" bIns="0" rtlCol="0">
            <a:spAutoFit/>
          </a:bodyPr>
          <a:lstStyle/>
          <a:p>
            <a:pPr marL="237061">
              <a:spcBef>
                <a:spcPts val="240"/>
              </a:spcBef>
            </a:pPr>
            <a:r>
              <a:rPr sz="3733" b="1" spc="-33" dirty="0">
                <a:solidFill>
                  <a:srgbClr val="FFFFFF"/>
                </a:solidFill>
                <a:latin typeface="Calibri"/>
                <a:cs typeface="Calibri"/>
              </a:rPr>
              <a:t>E</a:t>
            </a:r>
            <a:r>
              <a:rPr sz="2133" b="1" spc="-33" dirty="0">
                <a:solidFill>
                  <a:srgbClr val="7E7E7E"/>
                </a:solidFill>
                <a:latin typeface="Calibri"/>
                <a:cs typeface="Calibri"/>
              </a:rPr>
              <a:t>TL</a:t>
            </a:r>
            <a:endParaRPr sz="2133">
              <a:latin typeface="Calibri"/>
              <a:cs typeface="Calibri"/>
            </a:endParaRPr>
          </a:p>
        </p:txBody>
      </p:sp>
      <p:sp>
        <p:nvSpPr>
          <p:cNvPr id="15" name="object 15"/>
          <p:cNvSpPr txBox="1"/>
          <p:nvPr/>
        </p:nvSpPr>
        <p:spPr>
          <a:xfrm>
            <a:off x="1102157" y="4983994"/>
            <a:ext cx="141393" cy="205184"/>
          </a:xfrm>
          <a:prstGeom prst="rect">
            <a:avLst/>
          </a:prstGeom>
        </p:spPr>
        <p:txBody>
          <a:bodyPr vert="horz" wrap="square" lIns="0" tIns="0" rIns="0" bIns="0" rtlCol="0">
            <a:spAutoFit/>
          </a:bodyPr>
          <a:lstStyle/>
          <a:p>
            <a:pPr>
              <a:lnSpc>
                <a:spcPts val="1553"/>
              </a:lnSpc>
            </a:pPr>
            <a:r>
              <a:rPr sz="1400" spc="-33" dirty="0">
                <a:latin typeface="Arial MT"/>
                <a:cs typeface="Arial MT"/>
              </a:rPr>
              <a:t>id</a:t>
            </a:r>
            <a:endParaRPr sz="1400">
              <a:latin typeface="Arial MT"/>
              <a:cs typeface="Arial MT"/>
            </a:endParaRPr>
          </a:p>
        </p:txBody>
      </p:sp>
      <p:sp>
        <p:nvSpPr>
          <p:cNvPr id="16" name="object 16"/>
          <p:cNvSpPr txBox="1"/>
          <p:nvPr/>
        </p:nvSpPr>
        <p:spPr>
          <a:xfrm>
            <a:off x="1471574" y="4983994"/>
            <a:ext cx="347980" cy="205184"/>
          </a:xfrm>
          <a:prstGeom prst="rect">
            <a:avLst/>
          </a:prstGeom>
        </p:spPr>
        <p:txBody>
          <a:bodyPr vert="horz" wrap="square" lIns="0" tIns="0" rIns="0" bIns="0" rtlCol="0">
            <a:spAutoFit/>
          </a:bodyPr>
          <a:lstStyle/>
          <a:p>
            <a:pPr>
              <a:lnSpc>
                <a:spcPts val="1553"/>
              </a:lnSpc>
            </a:pPr>
            <a:r>
              <a:rPr sz="1400" spc="-27" dirty="0">
                <a:latin typeface="Arial MT"/>
                <a:cs typeface="Arial MT"/>
              </a:rPr>
              <a:t>date</a:t>
            </a:r>
            <a:endParaRPr sz="1400">
              <a:latin typeface="Arial MT"/>
              <a:cs typeface="Arial MT"/>
            </a:endParaRPr>
          </a:p>
        </p:txBody>
      </p:sp>
      <p:sp>
        <p:nvSpPr>
          <p:cNvPr id="17" name="object 17"/>
          <p:cNvSpPr txBox="1"/>
          <p:nvPr/>
        </p:nvSpPr>
        <p:spPr>
          <a:xfrm>
            <a:off x="2314786" y="4983994"/>
            <a:ext cx="596900" cy="205184"/>
          </a:xfrm>
          <a:prstGeom prst="rect">
            <a:avLst/>
          </a:prstGeom>
        </p:spPr>
        <p:txBody>
          <a:bodyPr vert="horz" wrap="square" lIns="0" tIns="0" rIns="0" bIns="0" rtlCol="0">
            <a:spAutoFit/>
          </a:bodyPr>
          <a:lstStyle/>
          <a:p>
            <a:pPr>
              <a:lnSpc>
                <a:spcPts val="1553"/>
              </a:lnSpc>
            </a:pPr>
            <a:r>
              <a:rPr sz="1400" spc="-13" dirty="0">
                <a:latin typeface="Arial MT"/>
                <a:cs typeface="Arial MT"/>
              </a:rPr>
              <a:t>product</a:t>
            </a:r>
            <a:endParaRPr sz="1400">
              <a:latin typeface="Arial MT"/>
              <a:cs typeface="Arial MT"/>
            </a:endParaRPr>
          </a:p>
        </p:txBody>
      </p:sp>
      <p:grpSp>
        <p:nvGrpSpPr>
          <p:cNvPr id="19" name="object 19"/>
          <p:cNvGrpSpPr/>
          <p:nvPr/>
        </p:nvGrpSpPr>
        <p:grpSpPr>
          <a:xfrm>
            <a:off x="6352031" y="2852928"/>
            <a:ext cx="734060" cy="258233"/>
            <a:chOff x="4764023" y="2139695"/>
            <a:chExt cx="550545" cy="193675"/>
          </a:xfrm>
        </p:grpSpPr>
        <p:sp>
          <p:nvSpPr>
            <p:cNvPr id="20" name="object 20"/>
            <p:cNvSpPr/>
            <p:nvPr/>
          </p:nvSpPr>
          <p:spPr>
            <a:xfrm>
              <a:off x="4776977" y="2152649"/>
              <a:ext cx="524510" cy="167640"/>
            </a:xfrm>
            <a:custGeom>
              <a:avLst/>
              <a:gdLst/>
              <a:ahLst/>
              <a:cxnLst/>
              <a:rect l="l" t="t" r="r" b="b"/>
              <a:pathLst>
                <a:path w="524510" h="167639">
                  <a:moveTo>
                    <a:pt x="440436" y="0"/>
                  </a:moveTo>
                  <a:lnTo>
                    <a:pt x="440436" y="41910"/>
                  </a:lnTo>
                  <a:lnTo>
                    <a:pt x="0" y="41910"/>
                  </a:lnTo>
                  <a:lnTo>
                    <a:pt x="0" y="125730"/>
                  </a:lnTo>
                  <a:lnTo>
                    <a:pt x="440436" y="125730"/>
                  </a:lnTo>
                  <a:lnTo>
                    <a:pt x="440436" y="167639"/>
                  </a:lnTo>
                  <a:lnTo>
                    <a:pt x="524256" y="83819"/>
                  </a:lnTo>
                  <a:lnTo>
                    <a:pt x="440436" y="0"/>
                  </a:lnTo>
                  <a:close/>
                </a:path>
              </a:pathLst>
            </a:custGeom>
            <a:solidFill>
              <a:srgbClr val="00C3FF"/>
            </a:solidFill>
          </p:spPr>
          <p:txBody>
            <a:bodyPr wrap="square" lIns="0" tIns="0" rIns="0" bIns="0" rtlCol="0"/>
            <a:lstStyle/>
            <a:p>
              <a:endParaRPr sz="2400"/>
            </a:p>
          </p:txBody>
        </p:sp>
        <p:sp>
          <p:nvSpPr>
            <p:cNvPr id="21" name="object 21"/>
            <p:cNvSpPr/>
            <p:nvPr/>
          </p:nvSpPr>
          <p:spPr>
            <a:xfrm>
              <a:off x="4776977" y="2152649"/>
              <a:ext cx="524510" cy="167640"/>
            </a:xfrm>
            <a:custGeom>
              <a:avLst/>
              <a:gdLst/>
              <a:ahLst/>
              <a:cxnLst/>
              <a:rect l="l" t="t" r="r" b="b"/>
              <a:pathLst>
                <a:path w="524510" h="167639">
                  <a:moveTo>
                    <a:pt x="0" y="41910"/>
                  </a:moveTo>
                  <a:lnTo>
                    <a:pt x="440436" y="41910"/>
                  </a:lnTo>
                  <a:lnTo>
                    <a:pt x="440436" y="0"/>
                  </a:lnTo>
                  <a:lnTo>
                    <a:pt x="524256" y="83819"/>
                  </a:lnTo>
                  <a:lnTo>
                    <a:pt x="440436" y="167639"/>
                  </a:lnTo>
                  <a:lnTo>
                    <a:pt x="440436" y="125730"/>
                  </a:lnTo>
                  <a:lnTo>
                    <a:pt x="0" y="125730"/>
                  </a:lnTo>
                  <a:lnTo>
                    <a:pt x="0" y="41910"/>
                  </a:lnTo>
                  <a:close/>
                </a:path>
              </a:pathLst>
            </a:custGeom>
            <a:ln w="25907">
              <a:solidFill>
                <a:srgbClr val="008FBB"/>
              </a:solidFill>
            </a:ln>
          </p:spPr>
          <p:txBody>
            <a:bodyPr wrap="square" lIns="0" tIns="0" rIns="0" bIns="0" rtlCol="0"/>
            <a:lstStyle/>
            <a:p>
              <a:endParaRPr sz="2400"/>
            </a:p>
          </p:txBody>
        </p:sp>
      </p:grpSp>
      <p:graphicFrame>
        <p:nvGraphicFramePr>
          <p:cNvPr id="22" name="object 22"/>
          <p:cNvGraphicFramePr>
            <a:graphicFrameLocks noGrp="1"/>
          </p:cNvGraphicFramePr>
          <p:nvPr/>
        </p:nvGraphicFramePr>
        <p:xfrm>
          <a:off x="7240353" y="2012526"/>
          <a:ext cx="3883659" cy="3179232"/>
        </p:xfrm>
        <a:graphic>
          <a:graphicData uri="http://schemas.openxmlformats.org/drawingml/2006/table">
            <a:tbl>
              <a:tblPr firstRow="1" bandRow="1">
                <a:tableStyleId>{2D5ABB26-0587-4C30-8999-92F81FD0307C}</a:tableStyleId>
              </a:tblPr>
              <a:tblGrid>
                <a:gridCol w="204893">
                  <a:extLst>
                    <a:ext uri="{9D8B030D-6E8A-4147-A177-3AD203B41FA5}">
                      <a16:colId xmlns:a16="http://schemas.microsoft.com/office/drawing/2014/main" val="20000"/>
                    </a:ext>
                  </a:extLst>
                </a:gridCol>
                <a:gridCol w="551179">
                  <a:extLst>
                    <a:ext uri="{9D8B030D-6E8A-4147-A177-3AD203B41FA5}">
                      <a16:colId xmlns:a16="http://schemas.microsoft.com/office/drawing/2014/main" val="20001"/>
                    </a:ext>
                  </a:extLst>
                </a:gridCol>
                <a:gridCol w="1117600">
                  <a:extLst>
                    <a:ext uri="{9D8B030D-6E8A-4147-A177-3AD203B41FA5}">
                      <a16:colId xmlns:a16="http://schemas.microsoft.com/office/drawing/2014/main" val="20002"/>
                    </a:ext>
                  </a:extLst>
                </a:gridCol>
                <a:gridCol w="1117600">
                  <a:extLst>
                    <a:ext uri="{9D8B030D-6E8A-4147-A177-3AD203B41FA5}">
                      <a16:colId xmlns:a16="http://schemas.microsoft.com/office/drawing/2014/main" val="20003"/>
                    </a:ext>
                  </a:extLst>
                </a:gridCol>
                <a:gridCol w="892387">
                  <a:extLst>
                    <a:ext uri="{9D8B030D-6E8A-4147-A177-3AD203B41FA5}">
                      <a16:colId xmlns:a16="http://schemas.microsoft.com/office/drawing/2014/main" val="20004"/>
                    </a:ext>
                  </a:extLst>
                </a:gridCol>
              </a:tblGrid>
              <a:tr h="254000">
                <a:tc>
                  <a:txBody>
                    <a:bodyPr/>
                    <a:lstStyle/>
                    <a:p>
                      <a:pPr marR="19685" algn="ctr">
                        <a:lnSpc>
                          <a:spcPct val="100000"/>
                        </a:lnSpc>
                        <a:spcBef>
                          <a:spcPts val="130"/>
                        </a:spcBef>
                      </a:pPr>
                      <a:r>
                        <a:rPr sz="1400" spc="-25" dirty="0">
                          <a:latin typeface="Arial MT"/>
                          <a:cs typeface="Arial MT"/>
                        </a:rPr>
                        <a:t>id</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0160">
                        <a:lnSpc>
                          <a:spcPct val="100000"/>
                        </a:lnSpc>
                        <a:spcBef>
                          <a:spcPts val="130"/>
                        </a:spcBef>
                      </a:pPr>
                      <a:r>
                        <a:rPr sz="1400" spc="-20" dirty="0">
                          <a:latin typeface="Arial MT"/>
                          <a:cs typeface="Arial MT"/>
                        </a:rPr>
                        <a:t>date</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0160">
                        <a:lnSpc>
                          <a:spcPct val="100000"/>
                        </a:lnSpc>
                        <a:spcBef>
                          <a:spcPts val="130"/>
                        </a:spcBef>
                      </a:pPr>
                      <a:r>
                        <a:rPr sz="1400" spc="-10" dirty="0">
                          <a:latin typeface="Arial MT"/>
                          <a:cs typeface="Arial MT"/>
                        </a:rPr>
                        <a:t>product</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R="77470" algn="ctr">
                        <a:lnSpc>
                          <a:spcPct val="100000"/>
                        </a:lnSpc>
                        <a:spcBef>
                          <a:spcPts val="130"/>
                        </a:spcBef>
                      </a:pPr>
                      <a:r>
                        <a:rPr sz="1400" spc="-10" dirty="0">
                          <a:latin typeface="Arial MT"/>
                          <a:cs typeface="Arial MT"/>
                        </a:rPr>
                        <a:t>customer_id</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0160">
                        <a:lnSpc>
                          <a:spcPct val="100000"/>
                        </a:lnSpc>
                        <a:spcBef>
                          <a:spcPts val="130"/>
                        </a:spcBef>
                      </a:pPr>
                      <a:r>
                        <a:rPr sz="1400" spc="-10" dirty="0">
                          <a:latin typeface="Arial MT"/>
                          <a:cs typeface="Arial MT"/>
                        </a:rPr>
                        <a:t>store_id</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0"/>
                  </a:ext>
                </a:extLst>
              </a:tr>
              <a:tr h="296333">
                <a:tc>
                  <a:txBody>
                    <a:bodyPr/>
                    <a:lstStyle/>
                    <a:p>
                      <a:pPr marL="1270" algn="ctr">
                        <a:lnSpc>
                          <a:spcPct val="100000"/>
                        </a:lnSpc>
                        <a:spcBef>
                          <a:spcPts val="470"/>
                        </a:spcBef>
                      </a:pPr>
                      <a:r>
                        <a:rPr sz="900" spc="-50" dirty="0">
                          <a:latin typeface="Arial MT"/>
                          <a:cs typeface="Arial MT"/>
                        </a:rPr>
                        <a:t>1</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6195">
                        <a:lnSpc>
                          <a:spcPct val="100000"/>
                        </a:lnSpc>
                        <a:spcBef>
                          <a:spcPts val="470"/>
                        </a:spcBef>
                      </a:pPr>
                      <a:r>
                        <a:rPr sz="900" spc="-10" dirty="0">
                          <a:latin typeface="Arial MT"/>
                          <a:cs typeface="Arial MT"/>
                        </a:rPr>
                        <a:t>1/2/2022</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69240" marR="120014" indent="-135890">
                        <a:lnSpc>
                          <a:spcPts val="830"/>
                        </a:lnSpc>
                      </a:pPr>
                      <a:r>
                        <a:rPr sz="900" dirty="0">
                          <a:latin typeface="Arial MT"/>
                          <a:cs typeface="Arial MT"/>
                        </a:rPr>
                        <a:t>Fulltoss</a:t>
                      </a:r>
                      <a:r>
                        <a:rPr sz="900" spc="-25" dirty="0">
                          <a:latin typeface="Arial MT"/>
                          <a:cs typeface="Arial MT"/>
                        </a:rPr>
                        <a:t> </a:t>
                      </a:r>
                      <a:r>
                        <a:rPr sz="900" spc="-10" dirty="0">
                          <a:latin typeface="Arial MT"/>
                          <a:cs typeface="Arial MT"/>
                        </a:rPr>
                        <a:t>Tangy</a:t>
                      </a:r>
                      <a:r>
                        <a:rPr sz="900" spc="500" dirty="0">
                          <a:latin typeface="Arial MT"/>
                          <a:cs typeface="Arial MT"/>
                        </a:rPr>
                        <a:t> </a:t>
                      </a:r>
                      <a:r>
                        <a:rPr sz="900" spc="-10" dirty="0">
                          <a:latin typeface="Arial MT"/>
                          <a:cs typeface="Arial MT"/>
                        </a:rPr>
                        <a:t>Tomato</a:t>
                      </a:r>
                      <a:endParaRPr sz="9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445"/>
                        </a:spcBef>
                      </a:pPr>
                      <a:r>
                        <a:rPr sz="900" spc="-50" dirty="0">
                          <a:latin typeface="Calibri"/>
                          <a:cs typeface="Calibri"/>
                        </a:rPr>
                        <a:t>2</a:t>
                      </a:r>
                      <a:endParaRPr sz="9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45"/>
                        </a:spcBef>
                      </a:pPr>
                      <a:r>
                        <a:rPr sz="900" spc="-50" dirty="0">
                          <a:latin typeface="Calibri"/>
                          <a:cs typeface="Calibri"/>
                        </a:rPr>
                        <a:t>2</a:t>
                      </a:r>
                      <a:endParaRPr sz="9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96333">
                <a:tc>
                  <a:txBody>
                    <a:bodyPr/>
                    <a:lstStyle/>
                    <a:p>
                      <a:pPr marL="1270" algn="ctr">
                        <a:lnSpc>
                          <a:spcPct val="100000"/>
                        </a:lnSpc>
                        <a:spcBef>
                          <a:spcPts val="470"/>
                        </a:spcBef>
                      </a:pPr>
                      <a:r>
                        <a:rPr sz="900" spc="-50" dirty="0">
                          <a:latin typeface="Arial MT"/>
                          <a:cs typeface="Arial MT"/>
                        </a:rPr>
                        <a:t>2</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6195">
                        <a:lnSpc>
                          <a:spcPct val="100000"/>
                        </a:lnSpc>
                        <a:spcBef>
                          <a:spcPts val="470"/>
                        </a:spcBef>
                      </a:pPr>
                      <a:r>
                        <a:rPr sz="900" spc="-10" dirty="0">
                          <a:latin typeface="Arial MT"/>
                          <a:cs typeface="Arial MT"/>
                        </a:rPr>
                        <a:t>1/2/2022</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835"/>
                        </a:lnSpc>
                        <a:spcBef>
                          <a:spcPts val="60"/>
                        </a:spcBef>
                      </a:pPr>
                      <a:r>
                        <a:rPr sz="900" dirty="0">
                          <a:latin typeface="Arial MT"/>
                          <a:cs typeface="Arial MT"/>
                        </a:rPr>
                        <a:t>Chilli</a:t>
                      </a:r>
                      <a:r>
                        <a:rPr sz="900" spc="-20" dirty="0">
                          <a:latin typeface="Arial MT"/>
                          <a:cs typeface="Arial MT"/>
                        </a:rPr>
                        <a:t> </a:t>
                      </a:r>
                      <a:r>
                        <a:rPr sz="900" dirty="0">
                          <a:latin typeface="Arial MT"/>
                          <a:cs typeface="Arial MT"/>
                        </a:rPr>
                        <a:t>- </a:t>
                      </a:r>
                      <a:r>
                        <a:rPr sz="900" spc="-10" dirty="0">
                          <a:latin typeface="Arial MT"/>
                          <a:cs typeface="Arial MT"/>
                        </a:rPr>
                        <a:t>Green,</a:t>
                      </a:r>
                      <a:endParaRPr sz="900">
                        <a:latin typeface="Arial MT"/>
                        <a:cs typeface="Arial MT"/>
                      </a:endParaRPr>
                    </a:p>
                    <a:p>
                      <a:pPr marL="3810" algn="ctr">
                        <a:lnSpc>
                          <a:spcPts val="760"/>
                        </a:lnSpc>
                      </a:pPr>
                      <a:r>
                        <a:rPr sz="900" dirty="0">
                          <a:latin typeface="Arial MT"/>
                          <a:cs typeface="Arial MT"/>
                        </a:rPr>
                        <a:t>Organically</a:t>
                      </a:r>
                      <a:r>
                        <a:rPr sz="900" spc="-30" dirty="0">
                          <a:latin typeface="Arial MT"/>
                          <a:cs typeface="Arial MT"/>
                        </a:rPr>
                        <a:t> </a:t>
                      </a:r>
                      <a:r>
                        <a:rPr sz="900" spc="-10" dirty="0">
                          <a:latin typeface="Arial MT"/>
                          <a:cs typeface="Arial MT"/>
                        </a:rPr>
                        <a:t>Grown</a:t>
                      </a:r>
                      <a:endParaRPr sz="900">
                        <a:latin typeface="Arial MT"/>
                        <a:cs typeface="Arial MT"/>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445"/>
                        </a:spcBef>
                      </a:pPr>
                      <a:r>
                        <a:rPr sz="900" spc="-50" dirty="0">
                          <a:latin typeface="Calibri"/>
                          <a:cs typeface="Calibri"/>
                        </a:rPr>
                        <a:t>4</a:t>
                      </a:r>
                      <a:endParaRPr sz="9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45"/>
                        </a:spcBef>
                      </a:pPr>
                      <a:r>
                        <a:rPr sz="900" spc="-50" dirty="0">
                          <a:latin typeface="Calibri"/>
                          <a:cs typeface="Calibri"/>
                        </a:rPr>
                        <a:t>4</a:t>
                      </a:r>
                      <a:endParaRPr sz="9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marL="1270" algn="ctr">
                        <a:lnSpc>
                          <a:spcPct val="100000"/>
                        </a:lnSpc>
                        <a:spcBef>
                          <a:spcPts val="345"/>
                        </a:spcBef>
                      </a:pPr>
                      <a:r>
                        <a:rPr sz="900" spc="-50" dirty="0">
                          <a:latin typeface="Arial MT"/>
                          <a:cs typeface="Arial MT"/>
                        </a:rPr>
                        <a:t>3</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6195">
                        <a:lnSpc>
                          <a:spcPct val="100000"/>
                        </a:lnSpc>
                        <a:spcBef>
                          <a:spcPts val="345"/>
                        </a:spcBef>
                      </a:pPr>
                      <a:r>
                        <a:rPr sz="900" spc="-10" dirty="0">
                          <a:latin typeface="Arial MT"/>
                          <a:cs typeface="Arial MT"/>
                        </a:rPr>
                        <a:t>1/2/2022</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15570">
                        <a:lnSpc>
                          <a:spcPct val="100000"/>
                        </a:lnSpc>
                        <a:spcBef>
                          <a:spcPts val="345"/>
                        </a:spcBef>
                      </a:pPr>
                      <a:r>
                        <a:rPr sz="900" dirty="0">
                          <a:latin typeface="Arial MT"/>
                          <a:cs typeface="Arial MT"/>
                        </a:rPr>
                        <a:t>Masala</a:t>
                      </a:r>
                      <a:r>
                        <a:rPr sz="900" spc="-35" dirty="0">
                          <a:latin typeface="Arial MT"/>
                          <a:cs typeface="Arial MT"/>
                        </a:rPr>
                        <a:t> </a:t>
                      </a:r>
                      <a:r>
                        <a:rPr sz="900" spc="-10" dirty="0">
                          <a:latin typeface="Arial MT"/>
                          <a:cs typeface="Arial MT"/>
                        </a:rPr>
                        <a:t>Powder</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320"/>
                        </a:spcBef>
                      </a:pPr>
                      <a:r>
                        <a:rPr sz="900" spc="-50" dirty="0">
                          <a:latin typeface="Calibri"/>
                          <a:cs typeface="Calibri"/>
                        </a:rPr>
                        <a:t>7</a:t>
                      </a:r>
                      <a:endParaRPr sz="9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20"/>
                        </a:spcBef>
                      </a:pPr>
                      <a:r>
                        <a:rPr sz="900" spc="-50" dirty="0">
                          <a:latin typeface="Calibri"/>
                          <a:cs typeface="Calibri"/>
                        </a:rPr>
                        <a:t>5</a:t>
                      </a:r>
                      <a:endParaRPr sz="9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97180">
                <a:tc>
                  <a:txBody>
                    <a:bodyPr/>
                    <a:lstStyle/>
                    <a:p>
                      <a:pPr marL="1270" algn="ctr">
                        <a:lnSpc>
                          <a:spcPct val="100000"/>
                        </a:lnSpc>
                        <a:spcBef>
                          <a:spcPts val="470"/>
                        </a:spcBef>
                      </a:pPr>
                      <a:r>
                        <a:rPr sz="900" spc="-50" dirty="0">
                          <a:latin typeface="Arial MT"/>
                          <a:cs typeface="Arial MT"/>
                        </a:rPr>
                        <a:t>4</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6195">
                        <a:lnSpc>
                          <a:spcPct val="100000"/>
                        </a:lnSpc>
                        <a:spcBef>
                          <a:spcPts val="470"/>
                        </a:spcBef>
                      </a:pPr>
                      <a:r>
                        <a:rPr sz="900" spc="-10" dirty="0">
                          <a:latin typeface="Arial MT"/>
                          <a:cs typeface="Arial MT"/>
                        </a:rPr>
                        <a:t>1/2/2022</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33045" marR="88900" indent="-133350">
                        <a:lnSpc>
                          <a:spcPts val="830"/>
                        </a:lnSpc>
                      </a:pPr>
                      <a:r>
                        <a:rPr sz="900" dirty="0">
                          <a:latin typeface="Arial MT"/>
                          <a:cs typeface="Arial MT"/>
                        </a:rPr>
                        <a:t>Cheese</a:t>
                      </a:r>
                      <a:r>
                        <a:rPr sz="900" spc="-25" dirty="0">
                          <a:latin typeface="Arial MT"/>
                          <a:cs typeface="Arial MT"/>
                        </a:rPr>
                        <a:t> </a:t>
                      </a:r>
                      <a:r>
                        <a:rPr sz="900" spc="-10" dirty="0">
                          <a:latin typeface="Arial MT"/>
                          <a:cs typeface="Arial MT"/>
                        </a:rPr>
                        <a:t>Cracker</a:t>
                      </a:r>
                      <a:r>
                        <a:rPr sz="900" spc="500" dirty="0">
                          <a:latin typeface="Arial MT"/>
                          <a:cs typeface="Arial MT"/>
                        </a:rPr>
                        <a:t> </a:t>
                      </a:r>
                      <a:r>
                        <a:rPr sz="900" spc="-10" dirty="0">
                          <a:latin typeface="Arial MT"/>
                          <a:cs typeface="Arial MT"/>
                        </a:rPr>
                        <a:t>(Mcvities)</a:t>
                      </a:r>
                      <a:endParaRPr sz="9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450"/>
                        </a:spcBef>
                      </a:pPr>
                      <a:r>
                        <a:rPr sz="900" spc="-50" dirty="0">
                          <a:latin typeface="Calibri"/>
                          <a:cs typeface="Calibri"/>
                        </a:rPr>
                        <a:t>1</a:t>
                      </a:r>
                      <a:endParaRPr sz="9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50"/>
                        </a:spcBef>
                      </a:pPr>
                      <a:r>
                        <a:rPr sz="900" spc="-50" dirty="0">
                          <a:latin typeface="Calibri"/>
                          <a:cs typeface="Calibri"/>
                        </a:rPr>
                        <a:t>2</a:t>
                      </a:r>
                      <a:endParaRPr sz="9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97180">
                <a:tc>
                  <a:txBody>
                    <a:bodyPr/>
                    <a:lstStyle/>
                    <a:p>
                      <a:pPr marL="1270" algn="ctr">
                        <a:lnSpc>
                          <a:spcPct val="100000"/>
                        </a:lnSpc>
                        <a:spcBef>
                          <a:spcPts val="470"/>
                        </a:spcBef>
                      </a:pPr>
                      <a:r>
                        <a:rPr sz="900" spc="-50" dirty="0">
                          <a:latin typeface="Arial MT"/>
                          <a:cs typeface="Arial MT"/>
                        </a:rPr>
                        <a:t>5</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6195">
                        <a:lnSpc>
                          <a:spcPct val="100000"/>
                        </a:lnSpc>
                        <a:spcBef>
                          <a:spcPts val="470"/>
                        </a:spcBef>
                      </a:pPr>
                      <a:r>
                        <a:rPr sz="900" spc="-10" dirty="0">
                          <a:latin typeface="Arial MT"/>
                          <a:cs typeface="Arial MT"/>
                        </a:rPr>
                        <a:t>1/2/2022</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04775" marR="93980" indent="63500">
                        <a:lnSpc>
                          <a:spcPct val="100000"/>
                        </a:lnSpc>
                      </a:pPr>
                      <a:r>
                        <a:rPr sz="900" dirty="0">
                          <a:latin typeface="Arial MT"/>
                          <a:cs typeface="Arial MT"/>
                        </a:rPr>
                        <a:t>Centre</a:t>
                      </a:r>
                      <a:r>
                        <a:rPr sz="900" spc="-15" dirty="0">
                          <a:latin typeface="Arial MT"/>
                          <a:cs typeface="Arial MT"/>
                        </a:rPr>
                        <a:t> </a:t>
                      </a:r>
                      <a:r>
                        <a:rPr sz="900" spc="-10" dirty="0">
                          <a:latin typeface="Arial MT"/>
                          <a:cs typeface="Arial MT"/>
                        </a:rPr>
                        <a:t>Filled</a:t>
                      </a:r>
                      <a:r>
                        <a:rPr sz="900" spc="500" dirty="0">
                          <a:latin typeface="Arial MT"/>
                          <a:cs typeface="Arial MT"/>
                        </a:rPr>
                        <a:t> </a:t>
                      </a:r>
                      <a:r>
                        <a:rPr sz="900" dirty="0">
                          <a:latin typeface="Arial MT"/>
                          <a:cs typeface="Arial MT"/>
                        </a:rPr>
                        <a:t>Chocolate</a:t>
                      </a:r>
                      <a:r>
                        <a:rPr sz="900" spc="-35" dirty="0">
                          <a:latin typeface="Arial MT"/>
                          <a:cs typeface="Arial MT"/>
                        </a:rPr>
                        <a:t> </a:t>
                      </a:r>
                      <a:r>
                        <a:rPr sz="900" spc="-20" dirty="0">
                          <a:latin typeface="Arial MT"/>
                          <a:cs typeface="Arial MT"/>
                        </a:rPr>
                        <a:t>Cake</a:t>
                      </a:r>
                      <a:endParaRPr sz="9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445"/>
                        </a:spcBef>
                      </a:pPr>
                      <a:r>
                        <a:rPr sz="900" spc="-50" dirty="0">
                          <a:latin typeface="Calibri"/>
                          <a:cs typeface="Calibri"/>
                        </a:rPr>
                        <a:t>5</a:t>
                      </a:r>
                      <a:endParaRPr sz="9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45"/>
                        </a:spcBef>
                      </a:pPr>
                      <a:r>
                        <a:rPr sz="900" spc="-50" dirty="0">
                          <a:latin typeface="Calibri"/>
                          <a:cs typeface="Calibri"/>
                        </a:rPr>
                        <a:t>2</a:t>
                      </a:r>
                      <a:endParaRPr sz="9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r h="296333">
                <a:tc>
                  <a:txBody>
                    <a:bodyPr/>
                    <a:lstStyle/>
                    <a:p>
                      <a:pPr marL="1270" algn="ctr">
                        <a:lnSpc>
                          <a:spcPct val="100000"/>
                        </a:lnSpc>
                        <a:spcBef>
                          <a:spcPts val="484"/>
                        </a:spcBef>
                      </a:pPr>
                      <a:r>
                        <a:rPr sz="900" spc="-50" dirty="0">
                          <a:latin typeface="Arial MT"/>
                          <a:cs typeface="Arial MT"/>
                        </a:rPr>
                        <a:t>6</a:t>
                      </a:r>
                      <a:endParaRPr sz="9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36195">
                        <a:lnSpc>
                          <a:spcPct val="100000"/>
                        </a:lnSpc>
                        <a:spcBef>
                          <a:spcPts val="484"/>
                        </a:spcBef>
                      </a:pPr>
                      <a:r>
                        <a:rPr sz="900" spc="-10" dirty="0">
                          <a:latin typeface="Arial MT"/>
                          <a:cs typeface="Arial MT"/>
                        </a:rPr>
                        <a:t>1/3/2022</a:t>
                      </a:r>
                      <a:endParaRPr sz="9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290830" marR="103505" indent="-178435">
                        <a:lnSpc>
                          <a:spcPct val="100000"/>
                        </a:lnSpc>
                      </a:pPr>
                      <a:r>
                        <a:rPr sz="900" dirty="0">
                          <a:latin typeface="Arial MT"/>
                          <a:cs typeface="Arial MT"/>
                        </a:rPr>
                        <a:t>Chocos</a:t>
                      </a:r>
                      <a:r>
                        <a:rPr sz="900" spc="-5" dirty="0">
                          <a:latin typeface="Arial MT"/>
                          <a:cs typeface="Arial MT"/>
                        </a:rPr>
                        <a:t> </a:t>
                      </a:r>
                      <a:r>
                        <a:rPr sz="900" dirty="0">
                          <a:latin typeface="Arial MT"/>
                          <a:cs typeface="Arial MT"/>
                        </a:rPr>
                        <a:t>-</a:t>
                      </a:r>
                      <a:r>
                        <a:rPr sz="900" spc="-15" dirty="0">
                          <a:latin typeface="Arial MT"/>
                          <a:cs typeface="Arial MT"/>
                        </a:rPr>
                        <a:t> </a:t>
                      </a:r>
                      <a:r>
                        <a:rPr sz="900" spc="-10" dirty="0">
                          <a:latin typeface="Arial MT"/>
                          <a:cs typeface="Arial MT"/>
                        </a:rPr>
                        <a:t>Magic</a:t>
                      </a:r>
                      <a:r>
                        <a:rPr sz="900" spc="500" dirty="0">
                          <a:latin typeface="Arial MT"/>
                          <a:cs typeface="Arial MT"/>
                        </a:rPr>
                        <a:t> </a:t>
                      </a:r>
                      <a:r>
                        <a:rPr sz="900" spc="-10" dirty="0">
                          <a:latin typeface="Arial MT"/>
                          <a:cs typeface="Arial MT"/>
                        </a:rPr>
                        <a:t>Hearts</a:t>
                      </a:r>
                      <a:endParaRPr sz="9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905" algn="ctr">
                        <a:lnSpc>
                          <a:spcPct val="100000"/>
                        </a:lnSpc>
                        <a:spcBef>
                          <a:spcPts val="450"/>
                        </a:spcBef>
                      </a:pPr>
                      <a:r>
                        <a:rPr sz="900" spc="-50" dirty="0">
                          <a:latin typeface="Calibri"/>
                          <a:cs typeface="Calibri"/>
                        </a:rPr>
                        <a:t>3</a:t>
                      </a:r>
                      <a:endParaRPr sz="9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270" algn="ctr">
                        <a:lnSpc>
                          <a:spcPct val="100000"/>
                        </a:lnSpc>
                        <a:spcBef>
                          <a:spcPts val="450"/>
                        </a:spcBef>
                      </a:pPr>
                      <a:r>
                        <a:rPr sz="900" spc="-50" dirty="0">
                          <a:latin typeface="Calibri"/>
                          <a:cs typeface="Calibri"/>
                        </a:rPr>
                        <a:t>2</a:t>
                      </a:r>
                      <a:endParaRPr sz="9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extLst>
                  <a:ext uri="{0D108BD9-81ED-4DB2-BD59-A6C34878D82A}">
                    <a16:rowId xmlns:a16="http://schemas.microsoft.com/office/drawing/2014/main" val="10006"/>
                  </a:ext>
                </a:extLst>
              </a:tr>
              <a:tr h="297180">
                <a:tc>
                  <a:txBody>
                    <a:bodyPr/>
                    <a:lstStyle/>
                    <a:p>
                      <a:pPr marL="1270" algn="ctr">
                        <a:lnSpc>
                          <a:spcPct val="100000"/>
                        </a:lnSpc>
                        <a:spcBef>
                          <a:spcPts val="484"/>
                        </a:spcBef>
                      </a:pPr>
                      <a:r>
                        <a:rPr sz="900" spc="-50" dirty="0">
                          <a:latin typeface="Arial MT"/>
                          <a:cs typeface="Arial MT"/>
                        </a:rPr>
                        <a:t>7</a:t>
                      </a:r>
                      <a:endParaRPr sz="9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36195">
                        <a:lnSpc>
                          <a:spcPct val="100000"/>
                        </a:lnSpc>
                        <a:spcBef>
                          <a:spcPts val="484"/>
                        </a:spcBef>
                      </a:pPr>
                      <a:r>
                        <a:rPr sz="900" spc="-10" dirty="0">
                          <a:latin typeface="Arial MT"/>
                          <a:cs typeface="Arial MT"/>
                        </a:rPr>
                        <a:t>1/3/2022</a:t>
                      </a:r>
                      <a:endParaRPr sz="9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207010" marR="106045" indent="-90170">
                        <a:lnSpc>
                          <a:spcPct val="100000"/>
                        </a:lnSpc>
                      </a:pPr>
                      <a:r>
                        <a:rPr sz="900" dirty="0">
                          <a:latin typeface="Arial MT"/>
                          <a:cs typeface="Arial MT"/>
                        </a:rPr>
                        <a:t>Chocos Webs</a:t>
                      </a:r>
                      <a:r>
                        <a:rPr sz="900" spc="-40" dirty="0">
                          <a:latin typeface="Arial MT"/>
                          <a:cs typeface="Arial MT"/>
                        </a:rPr>
                        <a:t> </a:t>
                      </a:r>
                      <a:r>
                        <a:rPr sz="900" spc="-50" dirty="0">
                          <a:latin typeface="Arial MT"/>
                          <a:cs typeface="Arial MT"/>
                        </a:rPr>
                        <a:t>-</a:t>
                      </a:r>
                      <a:r>
                        <a:rPr sz="900" spc="500" dirty="0">
                          <a:latin typeface="Arial MT"/>
                          <a:cs typeface="Arial MT"/>
                        </a:rPr>
                        <a:t> </a:t>
                      </a:r>
                      <a:r>
                        <a:rPr sz="900" spc="-10" dirty="0">
                          <a:latin typeface="Arial MT"/>
                          <a:cs typeface="Arial MT"/>
                        </a:rPr>
                        <a:t>Spiderman</a:t>
                      </a:r>
                      <a:endParaRPr sz="9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905" algn="ctr">
                        <a:lnSpc>
                          <a:spcPct val="100000"/>
                        </a:lnSpc>
                        <a:spcBef>
                          <a:spcPts val="445"/>
                        </a:spcBef>
                      </a:pPr>
                      <a:r>
                        <a:rPr sz="900" spc="-50" dirty="0">
                          <a:latin typeface="Calibri"/>
                          <a:cs typeface="Calibri"/>
                        </a:rPr>
                        <a:t>4</a:t>
                      </a:r>
                      <a:endParaRPr sz="9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270" algn="ctr">
                        <a:lnSpc>
                          <a:spcPct val="100000"/>
                        </a:lnSpc>
                        <a:spcBef>
                          <a:spcPts val="445"/>
                        </a:spcBef>
                      </a:pPr>
                      <a:r>
                        <a:rPr sz="900" spc="-50" dirty="0">
                          <a:latin typeface="Calibri"/>
                          <a:cs typeface="Calibri"/>
                        </a:rPr>
                        <a:t>3</a:t>
                      </a:r>
                      <a:endParaRPr sz="9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extLst>
                  <a:ext uri="{0D108BD9-81ED-4DB2-BD59-A6C34878D82A}">
                    <a16:rowId xmlns:a16="http://schemas.microsoft.com/office/drawing/2014/main" val="10007"/>
                  </a:ext>
                </a:extLst>
              </a:tr>
              <a:tr h="296333">
                <a:tc>
                  <a:txBody>
                    <a:bodyPr/>
                    <a:lstStyle/>
                    <a:p>
                      <a:pPr marL="1270" algn="ctr">
                        <a:lnSpc>
                          <a:spcPct val="100000"/>
                        </a:lnSpc>
                        <a:spcBef>
                          <a:spcPts val="484"/>
                        </a:spcBef>
                      </a:pPr>
                      <a:r>
                        <a:rPr sz="900" spc="-50" dirty="0">
                          <a:latin typeface="Arial MT"/>
                          <a:cs typeface="Arial MT"/>
                        </a:rPr>
                        <a:t>8</a:t>
                      </a:r>
                      <a:endParaRPr sz="9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36195">
                        <a:lnSpc>
                          <a:spcPct val="100000"/>
                        </a:lnSpc>
                        <a:spcBef>
                          <a:spcPts val="484"/>
                        </a:spcBef>
                      </a:pPr>
                      <a:r>
                        <a:rPr sz="900" spc="-10" dirty="0">
                          <a:latin typeface="Arial MT"/>
                          <a:cs typeface="Arial MT"/>
                        </a:rPr>
                        <a:t>1/3/2022</a:t>
                      </a:r>
                      <a:endParaRPr sz="9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222250" marR="50800" indent="-160655">
                        <a:lnSpc>
                          <a:spcPct val="100000"/>
                        </a:lnSpc>
                      </a:pPr>
                      <a:r>
                        <a:rPr sz="900" dirty="0">
                          <a:latin typeface="Arial MT"/>
                          <a:cs typeface="Arial MT"/>
                        </a:rPr>
                        <a:t>Breakfast</a:t>
                      </a:r>
                      <a:r>
                        <a:rPr sz="900" spc="-20" dirty="0">
                          <a:latin typeface="Arial MT"/>
                          <a:cs typeface="Arial MT"/>
                        </a:rPr>
                        <a:t> </a:t>
                      </a:r>
                      <a:r>
                        <a:rPr sz="900" dirty="0">
                          <a:latin typeface="Arial MT"/>
                          <a:cs typeface="Arial MT"/>
                        </a:rPr>
                        <a:t>Cereal</a:t>
                      </a:r>
                      <a:r>
                        <a:rPr sz="900" spc="-35" dirty="0">
                          <a:latin typeface="Arial MT"/>
                          <a:cs typeface="Arial MT"/>
                        </a:rPr>
                        <a:t> </a:t>
                      </a:r>
                      <a:r>
                        <a:rPr sz="900" spc="-50" dirty="0">
                          <a:latin typeface="Arial MT"/>
                          <a:cs typeface="Arial MT"/>
                        </a:rPr>
                        <a:t>-</a:t>
                      </a:r>
                      <a:r>
                        <a:rPr sz="900" spc="500" dirty="0">
                          <a:latin typeface="Arial MT"/>
                          <a:cs typeface="Arial MT"/>
                        </a:rPr>
                        <a:t> </a:t>
                      </a:r>
                      <a:r>
                        <a:rPr sz="900" spc="-10" dirty="0">
                          <a:latin typeface="Arial MT"/>
                          <a:cs typeface="Arial MT"/>
                        </a:rPr>
                        <a:t>Chocolate</a:t>
                      </a:r>
                      <a:endParaRPr sz="9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905" algn="ctr">
                        <a:lnSpc>
                          <a:spcPct val="100000"/>
                        </a:lnSpc>
                        <a:spcBef>
                          <a:spcPts val="450"/>
                        </a:spcBef>
                      </a:pPr>
                      <a:r>
                        <a:rPr sz="900" spc="-50" dirty="0">
                          <a:latin typeface="Calibri"/>
                          <a:cs typeface="Calibri"/>
                        </a:rPr>
                        <a:t>5</a:t>
                      </a:r>
                      <a:endParaRPr sz="9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270" algn="ctr">
                        <a:lnSpc>
                          <a:spcPct val="100000"/>
                        </a:lnSpc>
                        <a:spcBef>
                          <a:spcPts val="450"/>
                        </a:spcBef>
                      </a:pPr>
                      <a:r>
                        <a:rPr sz="900" spc="-50" dirty="0">
                          <a:latin typeface="Calibri"/>
                          <a:cs typeface="Calibri"/>
                        </a:rPr>
                        <a:t>2</a:t>
                      </a:r>
                      <a:endParaRPr sz="9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extLst>
                  <a:ext uri="{0D108BD9-81ED-4DB2-BD59-A6C34878D82A}">
                    <a16:rowId xmlns:a16="http://schemas.microsoft.com/office/drawing/2014/main" val="10008"/>
                  </a:ext>
                </a:extLst>
              </a:tr>
              <a:tr h="297180">
                <a:tc>
                  <a:txBody>
                    <a:bodyPr/>
                    <a:lstStyle/>
                    <a:p>
                      <a:pPr marL="1270" algn="ctr">
                        <a:lnSpc>
                          <a:spcPct val="100000"/>
                        </a:lnSpc>
                        <a:spcBef>
                          <a:spcPts val="484"/>
                        </a:spcBef>
                      </a:pPr>
                      <a:r>
                        <a:rPr sz="900" spc="-50" dirty="0">
                          <a:latin typeface="Arial MT"/>
                          <a:cs typeface="Arial MT"/>
                        </a:rPr>
                        <a:t>9</a:t>
                      </a:r>
                      <a:endParaRPr sz="9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36195">
                        <a:lnSpc>
                          <a:spcPct val="100000"/>
                        </a:lnSpc>
                        <a:spcBef>
                          <a:spcPts val="484"/>
                        </a:spcBef>
                      </a:pPr>
                      <a:r>
                        <a:rPr sz="900" spc="-10" dirty="0">
                          <a:latin typeface="Arial MT"/>
                          <a:cs typeface="Arial MT"/>
                        </a:rPr>
                        <a:t>1/3/2022</a:t>
                      </a:r>
                      <a:endParaRPr sz="9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222250" marR="208279" indent="-5080">
                        <a:lnSpc>
                          <a:spcPct val="100000"/>
                        </a:lnSpc>
                      </a:pPr>
                      <a:r>
                        <a:rPr sz="900" dirty="0">
                          <a:latin typeface="Arial MT"/>
                          <a:cs typeface="Arial MT"/>
                        </a:rPr>
                        <a:t>Fiber</a:t>
                      </a:r>
                      <a:r>
                        <a:rPr sz="900" spc="-20" dirty="0">
                          <a:latin typeface="Arial MT"/>
                          <a:cs typeface="Arial MT"/>
                        </a:rPr>
                        <a:t> Rich</a:t>
                      </a:r>
                      <a:r>
                        <a:rPr sz="900" spc="500" dirty="0">
                          <a:latin typeface="Arial MT"/>
                          <a:cs typeface="Arial MT"/>
                        </a:rPr>
                        <a:t> </a:t>
                      </a:r>
                      <a:r>
                        <a:rPr sz="900" spc="-10" dirty="0">
                          <a:latin typeface="Arial MT"/>
                          <a:cs typeface="Arial MT"/>
                        </a:rPr>
                        <a:t>Chocolate</a:t>
                      </a:r>
                      <a:endParaRPr sz="9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905" algn="ctr">
                        <a:lnSpc>
                          <a:spcPct val="100000"/>
                        </a:lnSpc>
                        <a:spcBef>
                          <a:spcPts val="450"/>
                        </a:spcBef>
                      </a:pPr>
                      <a:r>
                        <a:rPr sz="900" spc="-50" dirty="0">
                          <a:latin typeface="Calibri"/>
                          <a:cs typeface="Calibri"/>
                        </a:rPr>
                        <a:t>6</a:t>
                      </a:r>
                      <a:endParaRPr sz="9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270" algn="ctr">
                        <a:lnSpc>
                          <a:spcPct val="100000"/>
                        </a:lnSpc>
                        <a:spcBef>
                          <a:spcPts val="450"/>
                        </a:spcBef>
                      </a:pPr>
                      <a:r>
                        <a:rPr sz="900" spc="-50" dirty="0">
                          <a:latin typeface="Calibri"/>
                          <a:cs typeface="Calibri"/>
                        </a:rPr>
                        <a:t>1</a:t>
                      </a:r>
                      <a:endParaRPr sz="9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extLst>
                  <a:ext uri="{0D108BD9-81ED-4DB2-BD59-A6C34878D82A}">
                    <a16:rowId xmlns:a16="http://schemas.microsoft.com/office/drawing/2014/main" val="10009"/>
                  </a:ext>
                </a:extLst>
              </a:tr>
              <a:tr h="297180">
                <a:tc>
                  <a:txBody>
                    <a:bodyPr/>
                    <a:lstStyle/>
                    <a:p>
                      <a:pPr marL="635" algn="ctr">
                        <a:lnSpc>
                          <a:spcPct val="100000"/>
                        </a:lnSpc>
                        <a:spcBef>
                          <a:spcPts val="484"/>
                        </a:spcBef>
                      </a:pPr>
                      <a:r>
                        <a:rPr sz="900" spc="-25" dirty="0">
                          <a:latin typeface="Arial MT"/>
                          <a:cs typeface="Arial MT"/>
                        </a:rPr>
                        <a:t>10</a:t>
                      </a:r>
                      <a:endParaRPr sz="9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36195">
                        <a:lnSpc>
                          <a:spcPct val="100000"/>
                        </a:lnSpc>
                        <a:spcBef>
                          <a:spcPts val="484"/>
                        </a:spcBef>
                      </a:pPr>
                      <a:r>
                        <a:rPr sz="900" spc="-10" dirty="0">
                          <a:latin typeface="Arial MT"/>
                          <a:cs typeface="Arial MT"/>
                        </a:rPr>
                        <a:t>1/3/2022</a:t>
                      </a:r>
                      <a:endParaRPr sz="9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04775" marR="93980" indent="63500">
                        <a:lnSpc>
                          <a:spcPct val="100000"/>
                        </a:lnSpc>
                      </a:pPr>
                      <a:r>
                        <a:rPr sz="900" dirty="0">
                          <a:latin typeface="Arial MT"/>
                          <a:cs typeface="Arial MT"/>
                        </a:rPr>
                        <a:t>Centre</a:t>
                      </a:r>
                      <a:r>
                        <a:rPr sz="900" spc="-15" dirty="0">
                          <a:latin typeface="Arial MT"/>
                          <a:cs typeface="Arial MT"/>
                        </a:rPr>
                        <a:t> </a:t>
                      </a:r>
                      <a:r>
                        <a:rPr sz="900" spc="-10" dirty="0">
                          <a:latin typeface="Arial MT"/>
                          <a:cs typeface="Arial MT"/>
                        </a:rPr>
                        <a:t>Filled</a:t>
                      </a:r>
                      <a:r>
                        <a:rPr sz="900" spc="500" dirty="0">
                          <a:latin typeface="Arial MT"/>
                          <a:cs typeface="Arial MT"/>
                        </a:rPr>
                        <a:t> </a:t>
                      </a:r>
                      <a:r>
                        <a:rPr sz="900" dirty="0">
                          <a:latin typeface="Arial MT"/>
                          <a:cs typeface="Arial MT"/>
                        </a:rPr>
                        <a:t>Chocolate</a:t>
                      </a:r>
                      <a:r>
                        <a:rPr sz="900" spc="-35" dirty="0">
                          <a:latin typeface="Arial MT"/>
                          <a:cs typeface="Arial MT"/>
                        </a:rPr>
                        <a:t> </a:t>
                      </a:r>
                      <a:r>
                        <a:rPr sz="900" spc="-20" dirty="0">
                          <a:latin typeface="Arial MT"/>
                          <a:cs typeface="Arial MT"/>
                        </a:rPr>
                        <a:t>Cake</a:t>
                      </a:r>
                      <a:endParaRPr sz="9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905" algn="ctr">
                        <a:lnSpc>
                          <a:spcPct val="100000"/>
                        </a:lnSpc>
                        <a:spcBef>
                          <a:spcPts val="450"/>
                        </a:spcBef>
                      </a:pPr>
                      <a:r>
                        <a:rPr sz="900" spc="-50" dirty="0">
                          <a:latin typeface="Calibri"/>
                          <a:cs typeface="Calibri"/>
                        </a:rPr>
                        <a:t>3</a:t>
                      </a:r>
                      <a:endParaRPr sz="9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270" algn="ctr">
                        <a:lnSpc>
                          <a:spcPct val="100000"/>
                        </a:lnSpc>
                        <a:spcBef>
                          <a:spcPts val="450"/>
                        </a:spcBef>
                      </a:pPr>
                      <a:r>
                        <a:rPr sz="900" spc="-50" dirty="0">
                          <a:latin typeface="Calibri"/>
                          <a:cs typeface="Calibri"/>
                        </a:rPr>
                        <a:t>2</a:t>
                      </a:r>
                      <a:endParaRPr sz="9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extLst>
                  <a:ext uri="{0D108BD9-81ED-4DB2-BD59-A6C34878D82A}">
                    <a16:rowId xmlns:a16="http://schemas.microsoft.com/office/drawing/2014/main" val="10010"/>
                  </a:ext>
                </a:extLst>
              </a:tr>
            </a:tbl>
          </a:graphicData>
        </a:graphic>
      </p:graphicFrame>
      <p:sp>
        <p:nvSpPr>
          <p:cNvPr id="23" name="object 23"/>
          <p:cNvSpPr txBox="1"/>
          <p:nvPr/>
        </p:nvSpPr>
        <p:spPr>
          <a:xfrm>
            <a:off x="4179486" y="2794168"/>
            <a:ext cx="1665393" cy="386430"/>
          </a:xfrm>
          <a:prstGeom prst="rect">
            <a:avLst/>
          </a:prstGeom>
        </p:spPr>
        <p:txBody>
          <a:bodyPr vert="horz" wrap="square" lIns="0" tIns="16933" rIns="0" bIns="0" rtlCol="0">
            <a:spAutoFit/>
          </a:bodyPr>
          <a:lstStyle/>
          <a:p>
            <a:pPr marL="16933">
              <a:spcBef>
                <a:spcPts val="133"/>
              </a:spcBef>
            </a:pPr>
            <a:r>
              <a:rPr sz="2400" spc="113" dirty="0">
                <a:solidFill>
                  <a:srgbClr val="99D3FF"/>
                </a:solidFill>
                <a:latin typeface="Arial MT"/>
                <a:cs typeface="Arial MT"/>
              </a:rPr>
              <a:t>Temporary</a:t>
            </a:r>
            <a:endParaRPr sz="2400">
              <a:latin typeface="Arial MT"/>
              <a:cs typeface="Arial MT"/>
            </a:endParaRPr>
          </a:p>
        </p:txBody>
      </p:sp>
      <p:graphicFrame>
        <p:nvGraphicFramePr>
          <p:cNvPr id="24" name="object 19">
            <a:extLst>
              <a:ext uri="{FF2B5EF4-FFF2-40B4-BE49-F238E27FC236}">
                <a16:creationId xmlns:a16="http://schemas.microsoft.com/office/drawing/2014/main" id="{5F3786E8-0116-561E-4C0B-8700F06BBDEA}"/>
              </a:ext>
            </a:extLst>
          </p:cNvPr>
          <p:cNvGraphicFramePr>
            <a:graphicFrameLocks noGrp="1"/>
          </p:cNvGraphicFramePr>
          <p:nvPr>
            <p:extLst>
              <p:ext uri="{D42A27DB-BD31-4B8C-83A1-F6EECF244321}">
                <p14:modId xmlns:p14="http://schemas.microsoft.com/office/powerpoint/2010/main" val="1628570882"/>
              </p:ext>
            </p:extLst>
          </p:nvPr>
        </p:nvGraphicFramePr>
        <p:xfrm>
          <a:off x="455880" y="3376744"/>
          <a:ext cx="2971055" cy="3193395"/>
        </p:xfrm>
        <a:graphic>
          <a:graphicData uri="http://schemas.openxmlformats.org/drawingml/2006/table">
            <a:tbl>
              <a:tblPr firstRow="1" bandRow="1">
                <a:tableStyleId>{2D5ABB26-0587-4C30-8999-92F81FD0307C}</a:tableStyleId>
              </a:tblPr>
              <a:tblGrid>
                <a:gridCol w="536026">
                  <a:extLst>
                    <a:ext uri="{9D8B030D-6E8A-4147-A177-3AD203B41FA5}">
                      <a16:colId xmlns:a16="http://schemas.microsoft.com/office/drawing/2014/main" val="20000"/>
                    </a:ext>
                  </a:extLst>
                </a:gridCol>
                <a:gridCol w="658577">
                  <a:extLst>
                    <a:ext uri="{9D8B030D-6E8A-4147-A177-3AD203B41FA5}">
                      <a16:colId xmlns:a16="http://schemas.microsoft.com/office/drawing/2014/main" val="20001"/>
                    </a:ext>
                  </a:extLst>
                </a:gridCol>
                <a:gridCol w="1776452">
                  <a:extLst>
                    <a:ext uri="{9D8B030D-6E8A-4147-A177-3AD203B41FA5}">
                      <a16:colId xmlns:a16="http://schemas.microsoft.com/office/drawing/2014/main" val="20002"/>
                    </a:ext>
                  </a:extLst>
                </a:gridCol>
              </a:tblGrid>
              <a:tr h="254000">
                <a:tc>
                  <a:txBody>
                    <a:bodyPr/>
                    <a:lstStyle/>
                    <a:p>
                      <a:pPr marL="1270" algn="ctr">
                        <a:lnSpc>
                          <a:spcPct val="100000"/>
                        </a:lnSpc>
                        <a:spcBef>
                          <a:spcPts val="130"/>
                        </a:spcBef>
                      </a:pPr>
                      <a:r>
                        <a:rPr sz="1400" spc="-25" dirty="0">
                          <a:latin typeface="Arial MT"/>
                          <a:cs typeface="Arial MT"/>
                        </a:rPr>
                        <a:t>id</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130"/>
                        </a:spcBef>
                      </a:pPr>
                      <a:r>
                        <a:rPr sz="1400" spc="-20" dirty="0">
                          <a:latin typeface="Arial MT"/>
                          <a:cs typeface="Arial MT"/>
                        </a:rPr>
                        <a:t>date</a:t>
                      </a:r>
                      <a:endParaRPr sz="1400" dirty="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130"/>
                        </a:spcBef>
                      </a:pPr>
                      <a:r>
                        <a:rPr sz="1400" spc="-10" dirty="0">
                          <a:latin typeface="Arial MT"/>
                          <a:cs typeface="Arial MT"/>
                        </a:rPr>
                        <a:t>product</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0"/>
                  </a:ext>
                </a:extLst>
              </a:tr>
              <a:tr h="254000">
                <a:tc>
                  <a:txBody>
                    <a:bodyPr/>
                    <a:lstStyle/>
                    <a:p>
                      <a:pPr algn="ctr">
                        <a:lnSpc>
                          <a:spcPct val="100000"/>
                        </a:lnSpc>
                        <a:spcBef>
                          <a:spcPts val="345"/>
                        </a:spcBef>
                      </a:pPr>
                      <a:r>
                        <a:rPr sz="1100" spc="-50" dirty="0">
                          <a:latin typeface="Arial MT"/>
                          <a:cs typeface="Arial MT"/>
                        </a:rPr>
                        <a:t>1</a:t>
                      </a:r>
                      <a:endParaRPr sz="1100" dirty="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1100" spc="-10" dirty="0">
                          <a:latin typeface="Arial MT"/>
                          <a:cs typeface="Arial MT"/>
                        </a:rPr>
                        <a:t>1/2/2022</a:t>
                      </a:r>
                      <a:endParaRPr sz="11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45"/>
                        </a:spcBef>
                      </a:pPr>
                      <a:r>
                        <a:rPr sz="1100" dirty="0">
                          <a:latin typeface="Arial MT"/>
                          <a:cs typeface="Arial MT"/>
                        </a:rPr>
                        <a:t>Fulltoss</a:t>
                      </a:r>
                      <a:r>
                        <a:rPr sz="1100" spc="-20" dirty="0">
                          <a:latin typeface="Arial MT"/>
                          <a:cs typeface="Arial MT"/>
                        </a:rPr>
                        <a:t> </a:t>
                      </a:r>
                      <a:r>
                        <a:rPr sz="1100" dirty="0">
                          <a:latin typeface="Arial MT"/>
                          <a:cs typeface="Arial MT"/>
                        </a:rPr>
                        <a:t>Tangy</a:t>
                      </a:r>
                      <a:r>
                        <a:rPr sz="1100" spc="-25" dirty="0">
                          <a:latin typeface="Arial MT"/>
                          <a:cs typeface="Arial MT"/>
                        </a:rPr>
                        <a:t> </a:t>
                      </a:r>
                      <a:r>
                        <a:rPr sz="1100" spc="-10" dirty="0">
                          <a:latin typeface="Arial MT"/>
                          <a:cs typeface="Arial MT"/>
                        </a:rPr>
                        <a:t>Tomato</a:t>
                      </a:r>
                      <a:endParaRPr sz="11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97180">
                <a:tc>
                  <a:txBody>
                    <a:bodyPr/>
                    <a:lstStyle/>
                    <a:p>
                      <a:pPr algn="ctr">
                        <a:lnSpc>
                          <a:spcPct val="100000"/>
                        </a:lnSpc>
                        <a:spcBef>
                          <a:spcPts val="475"/>
                        </a:spcBef>
                      </a:pPr>
                      <a:r>
                        <a:rPr sz="1100" spc="-50" dirty="0">
                          <a:latin typeface="Arial MT"/>
                          <a:cs typeface="Arial MT"/>
                        </a:rPr>
                        <a:t>2</a:t>
                      </a:r>
                      <a:endParaRPr sz="11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75"/>
                        </a:spcBef>
                      </a:pPr>
                      <a:r>
                        <a:rPr sz="1100" spc="-10" dirty="0">
                          <a:latin typeface="Arial MT"/>
                          <a:cs typeface="Arial MT"/>
                        </a:rPr>
                        <a:t>1/2/2022</a:t>
                      </a:r>
                      <a:endParaRPr sz="1100" dirty="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400050" marR="15875" indent="-375285">
                        <a:lnSpc>
                          <a:spcPts val="830"/>
                        </a:lnSpc>
                      </a:pPr>
                      <a:endParaRPr lang="en-IN" sz="1100" dirty="0">
                        <a:latin typeface="Arial MT"/>
                        <a:cs typeface="Arial MT"/>
                      </a:endParaRPr>
                    </a:p>
                    <a:p>
                      <a:pPr marL="400050" marR="15875" indent="-375285">
                        <a:lnSpc>
                          <a:spcPts val="830"/>
                        </a:lnSpc>
                      </a:pPr>
                      <a:r>
                        <a:rPr sz="1100" dirty="0">
                          <a:latin typeface="Arial MT"/>
                          <a:cs typeface="Arial MT"/>
                        </a:rPr>
                        <a:t>Chilli</a:t>
                      </a:r>
                      <a:r>
                        <a:rPr sz="1100" spc="-40" dirty="0">
                          <a:latin typeface="Arial MT"/>
                          <a:cs typeface="Arial MT"/>
                        </a:rPr>
                        <a:t> </a:t>
                      </a:r>
                      <a:r>
                        <a:rPr sz="1100" dirty="0">
                          <a:latin typeface="Arial MT"/>
                          <a:cs typeface="Arial MT"/>
                        </a:rPr>
                        <a:t>-</a:t>
                      </a:r>
                      <a:r>
                        <a:rPr sz="1100" spc="-15" dirty="0">
                          <a:latin typeface="Arial MT"/>
                          <a:cs typeface="Arial MT"/>
                        </a:rPr>
                        <a:t> </a:t>
                      </a:r>
                      <a:r>
                        <a:rPr sz="1100" dirty="0">
                          <a:latin typeface="Arial MT"/>
                          <a:cs typeface="Arial MT"/>
                        </a:rPr>
                        <a:t>Green,</a:t>
                      </a:r>
                      <a:r>
                        <a:rPr sz="1100" spc="15" dirty="0">
                          <a:latin typeface="Arial MT"/>
                          <a:cs typeface="Arial MT"/>
                        </a:rPr>
                        <a:t> </a:t>
                      </a:r>
                      <a:r>
                        <a:rPr sz="1100" spc="-10" dirty="0">
                          <a:latin typeface="Arial MT"/>
                          <a:cs typeface="Arial MT"/>
                        </a:rPr>
                        <a:t>Organically</a:t>
                      </a:r>
                      <a:r>
                        <a:rPr sz="1100" spc="500" dirty="0">
                          <a:latin typeface="Arial MT"/>
                          <a:cs typeface="Arial MT"/>
                        </a:rPr>
                        <a:t> </a:t>
                      </a:r>
                      <a:r>
                        <a:rPr sz="1100" spc="-10" dirty="0">
                          <a:latin typeface="Arial MT"/>
                          <a:cs typeface="Arial MT"/>
                        </a:rPr>
                        <a:t>Grown</a:t>
                      </a:r>
                      <a:endParaRPr sz="11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ct val="100000"/>
                        </a:lnSpc>
                        <a:spcBef>
                          <a:spcPts val="345"/>
                        </a:spcBef>
                      </a:pPr>
                      <a:r>
                        <a:rPr sz="1100" spc="-50" dirty="0">
                          <a:latin typeface="Arial MT"/>
                          <a:cs typeface="Arial MT"/>
                        </a:rPr>
                        <a:t>3</a:t>
                      </a:r>
                      <a:endParaRPr sz="11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1100" spc="-10" dirty="0">
                          <a:latin typeface="Arial MT"/>
                          <a:cs typeface="Arial MT"/>
                        </a:rPr>
                        <a:t>1/2/2022</a:t>
                      </a:r>
                      <a:endParaRPr sz="11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45"/>
                        </a:spcBef>
                      </a:pPr>
                      <a:r>
                        <a:rPr sz="1100" dirty="0">
                          <a:latin typeface="Arial MT"/>
                          <a:cs typeface="Arial MT"/>
                        </a:rPr>
                        <a:t>Masala</a:t>
                      </a:r>
                      <a:r>
                        <a:rPr sz="1100" spc="-25" dirty="0">
                          <a:latin typeface="Arial MT"/>
                          <a:cs typeface="Arial MT"/>
                        </a:rPr>
                        <a:t> </a:t>
                      </a:r>
                      <a:r>
                        <a:rPr sz="1100" spc="-10" dirty="0">
                          <a:latin typeface="Arial MT"/>
                          <a:cs typeface="Arial MT"/>
                        </a:rPr>
                        <a:t>Powder</a:t>
                      </a:r>
                      <a:endParaRPr sz="1100" dirty="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96333">
                <a:tc>
                  <a:txBody>
                    <a:bodyPr/>
                    <a:lstStyle/>
                    <a:p>
                      <a:pPr algn="ctr">
                        <a:lnSpc>
                          <a:spcPct val="100000"/>
                        </a:lnSpc>
                        <a:spcBef>
                          <a:spcPts val="475"/>
                        </a:spcBef>
                      </a:pPr>
                      <a:r>
                        <a:rPr sz="1100" spc="-50" dirty="0">
                          <a:latin typeface="Arial MT"/>
                          <a:cs typeface="Arial MT"/>
                        </a:rPr>
                        <a:t>4</a:t>
                      </a:r>
                      <a:endParaRPr sz="11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75"/>
                        </a:spcBef>
                      </a:pPr>
                      <a:r>
                        <a:rPr sz="1100" spc="-10" dirty="0">
                          <a:latin typeface="Arial MT"/>
                          <a:cs typeface="Arial MT"/>
                        </a:rPr>
                        <a:t>1/2/2022</a:t>
                      </a:r>
                      <a:endParaRPr sz="1100" dirty="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40360" marR="201295" indent="-132715">
                        <a:lnSpc>
                          <a:spcPts val="830"/>
                        </a:lnSpc>
                      </a:pPr>
                      <a:endParaRPr lang="en-IN" sz="1100" dirty="0">
                        <a:latin typeface="Arial MT"/>
                        <a:cs typeface="Arial MT"/>
                      </a:endParaRPr>
                    </a:p>
                    <a:p>
                      <a:pPr marL="340360" marR="201295" indent="-132715">
                        <a:lnSpc>
                          <a:spcPts val="830"/>
                        </a:lnSpc>
                      </a:pPr>
                      <a:r>
                        <a:rPr sz="1100" dirty="0">
                          <a:latin typeface="Arial MT"/>
                          <a:cs typeface="Arial MT"/>
                        </a:rPr>
                        <a:t>Cheese</a:t>
                      </a:r>
                      <a:r>
                        <a:rPr sz="1100" spc="-25" dirty="0">
                          <a:latin typeface="Arial MT"/>
                          <a:cs typeface="Arial MT"/>
                        </a:rPr>
                        <a:t> </a:t>
                      </a:r>
                      <a:r>
                        <a:rPr sz="1100" spc="-10" dirty="0">
                          <a:latin typeface="Arial MT"/>
                          <a:cs typeface="Arial MT"/>
                        </a:rPr>
                        <a:t>Cracker</a:t>
                      </a:r>
                      <a:r>
                        <a:rPr sz="1100" spc="500" dirty="0">
                          <a:latin typeface="Arial MT"/>
                          <a:cs typeface="Arial MT"/>
                        </a:rPr>
                        <a:t> </a:t>
                      </a:r>
                      <a:r>
                        <a:rPr sz="1100" spc="-10" dirty="0">
                          <a:latin typeface="Arial MT"/>
                          <a:cs typeface="Arial MT"/>
                        </a:rPr>
                        <a:t>(Mcvities)</a:t>
                      </a:r>
                      <a:endParaRPr sz="11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97180">
                <a:tc>
                  <a:txBody>
                    <a:bodyPr/>
                    <a:lstStyle/>
                    <a:p>
                      <a:pPr algn="ctr">
                        <a:lnSpc>
                          <a:spcPct val="100000"/>
                        </a:lnSpc>
                        <a:spcBef>
                          <a:spcPts val="475"/>
                        </a:spcBef>
                      </a:pPr>
                      <a:r>
                        <a:rPr sz="1100" spc="-50" dirty="0">
                          <a:latin typeface="Arial MT"/>
                          <a:cs typeface="Arial MT"/>
                        </a:rPr>
                        <a:t>5</a:t>
                      </a:r>
                      <a:endParaRPr sz="11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75"/>
                        </a:spcBef>
                      </a:pPr>
                      <a:r>
                        <a:rPr sz="1100" spc="-10" dirty="0">
                          <a:latin typeface="Arial MT"/>
                          <a:cs typeface="Arial MT"/>
                        </a:rPr>
                        <a:t>1/2/2022</a:t>
                      </a:r>
                      <a:endParaRPr sz="11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424180" marR="59690" indent="-358140">
                        <a:lnSpc>
                          <a:spcPts val="830"/>
                        </a:lnSpc>
                      </a:pPr>
                      <a:endParaRPr lang="en-IN" sz="1100" dirty="0">
                        <a:latin typeface="Arial MT"/>
                        <a:cs typeface="Arial MT"/>
                      </a:endParaRPr>
                    </a:p>
                    <a:p>
                      <a:pPr marL="424180" marR="59690" indent="-358140">
                        <a:lnSpc>
                          <a:spcPts val="830"/>
                        </a:lnSpc>
                      </a:pPr>
                      <a:r>
                        <a:rPr sz="1100" dirty="0">
                          <a:latin typeface="Arial MT"/>
                          <a:cs typeface="Arial MT"/>
                        </a:rPr>
                        <a:t>Centre</a:t>
                      </a:r>
                      <a:r>
                        <a:rPr sz="1100" spc="-5" dirty="0">
                          <a:latin typeface="Arial MT"/>
                          <a:cs typeface="Arial MT"/>
                        </a:rPr>
                        <a:t> </a:t>
                      </a:r>
                      <a:r>
                        <a:rPr sz="1100" dirty="0">
                          <a:latin typeface="Arial MT"/>
                          <a:cs typeface="Arial MT"/>
                        </a:rPr>
                        <a:t>Filled</a:t>
                      </a:r>
                      <a:r>
                        <a:rPr sz="1100" spc="-35" dirty="0">
                          <a:latin typeface="Arial MT"/>
                          <a:cs typeface="Arial MT"/>
                        </a:rPr>
                        <a:t> </a:t>
                      </a:r>
                      <a:r>
                        <a:rPr sz="1100" spc="-10" dirty="0">
                          <a:latin typeface="Arial MT"/>
                          <a:cs typeface="Arial MT"/>
                        </a:rPr>
                        <a:t>Chocolate</a:t>
                      </a:r>
                      <a:r>
                        <a:rPr sz="1100" spc="500" dirty="0">
                          <a:latin typeface="Arial MT"/>
                          <a:cs typeface="Arial MT"/>
                        </a:rPr>
                        <a:t> </a:t>
                      </a:r>
                      <a:r>
                        <a:rPr sz="1100" spc="-20" dirty="0">
                          <a:latin typeface="Arial MT"/>
                          <a:cs typeface="Arial MT"/>
                        </a:rPr>
                        <a:t>Cake</a:t>
                      </a:r>
                      <a:endParaRPr sz="11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r h="237913">
                <a:tc>
                  <a:txBody>
                    <a:bodyPr/>
                    <a:lstStyle/>
                    <a:p>
                      <a:pPr algn="ctr">
                        <a:lnSpc>
                          <a:spcPct val="100000"/>
                        </a:lnSpc>
                        <a:spcBef>
                          <a:spcPts val="265"/>
                        </a:spcBef>
                      </a:pPr>
                      <a:r>
                        <a:rPr sz="1100" spc="-50" dirty="0">
                          <a:latin typeface="Arial MT"/>
                          <a:cs typeface="Arial MT"/>
                        </a:rPr>
                        <a:t>6</a:t>
                      </a:r>
                      <a:endParaRPr sz="1100">
                        <a:latin typeface="Arial MT"/>
                        <a:cs typeface="Arial MT"/>
                      </a:endParaRPr>
                    </a:p>
                  </a:txBody>
                  <a:tcPr marL="0" marR="0" marT="448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270" algn="ctr">
                        <a:lnSpc>
                          <a:spcPct val="100000"/>
                        </a:lnSpc>
                        <a:spcBef>
                          <a:spcPts val="265"/>
                        </a:spcBef>
                      </a:pPr>
                      <a:r>
                        <a:rPr sz="1100" spc="-10" dirty="0">
                          <a:latin typeface="Arial MT"/>
                          <a:cs typeface="Arial MT"/>
                        </a:rPr>
                        <a:t>1/3/2022</a:t>
                      </a:r>
                      <a:endParaRPr sz="1100">
                        <a:latin typeface="Arial MT"/>
                        <a:cs typeface="Arial MT"/>
                      </a:endParaRPr>
                    </a:p>
                  </a:txBody>
                  <a:tcPr marL="0" marR="0" marT="448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algn="ctr">
                        <a:lnSpc>
                          <a:spcPct val="100000"/>
                        </a:lnSpc>
                        <a:spcBef>
                          <a:spcPts val="265"/>
                        </a:spcBef>
                      </a:pPr>
                      <a:r>
                        <a:rPr sz="1100" dirty="0">
                          <a:latin typeface="Arial MT"/>
                          <a:cs typeface="Arial MT"/>
                        </a:rPr>
                        <a:t>Chocos</a:t>
                      </a:r>
                      <a:r>
                        <a:rPr sz="1100" spc="-15" dirty="0">
                          <a:latin typeface="Arial MT"/>
                          <a:cs typeface="Arial MT"/>
                        </a:rPr>
                        <a:t> </a:t>
                      </a:r>
                      <a:r>
                        <a:rPr sz="1100" dirty="0">
                          <a:latin typeface="Arial MT"/>
                          <a:cs typeface="Arial MT"/>
                        </a:rPr>
                        <a:t>-</a:t>
                      </a:r>
                      <a:r>
                        <a:rPr sz="1100" spc="-20" dirty="0">
                          <a:latin typeface="Arial MT"/>
                          <a:cs typeface="Arial MT"/>
                        </a:rPr>
                        <a:t> </a:t>
                      </a:r>
                      <a:r>
                        <a:rPr sz="1100" dirty="0">
                          <a:latin typeface="Arial MT"/>
                          <a:cs typeface="Arial MT"/>
                        </a:rPr>
                        <a:t>Magic</a:t>
                      </a:r>
                      <a:r>
                        <a:rPr sz="1100" spc="-5" dirty="0">
                          <a:latin typeface="Arial MT"/>
                          <a:cs typeface="Arial MT"/>
                        </a:rPr>
                        <a:t> </a:t>
                      </a:r>
                      <a:r>
                        <a:rPr sz="1100" spc="-10" dirty="0">
                          <a:latin typeface="Arial MT"/>
                          <a:cs typeface="Arial MT"/>
                        </a:rPr>
                        <a:t>Hearts</a:t>
                      </a:r>
                      <a:endParaRPr sz="1100" dirty="0">
                        <a:latin typeface="Arial MT"/>
                        <a:cs typeface="Arial MT"/>
                      </a:endParaRPr>
                    </a:p>
                  </a:txBody>
                  <a:tcPr marL="0" marR="0" marT="448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extLst>
                  <a:ext uri="{0D108BD9-81ED-4DB2-BD59-A6C34878D82A}">
                    <a16:rowId xmlns:a16="http://schemas.microsoft.com/office/drawing/2014/main" val="10006"/>
                  </a:ext>
                </a:extLst>
              </a:tr>
              <a:tr h="296333">
                <a:tc>
                  <a:txBody>
                    <a:bodyPr/>
                    <a:lstStyle/>
                    <a:p>
                      <a:pPr algn="ctr">
                        <a:lnSpc>
                          <a:spcPct val="100000"/>
                        </a:lnSpc>
                        <a:spcBef>
                          <a:spcPts val="484"/>
                        </a:spcBef>
                      </a:pPr>
                      <a:r>
                        <a:rPr sz="1100" spc="-50" dirty="0">
                          <a:latin typeface="Arial MT"/>
                          <a:cs typeface="Arial MT"/>
                        </a:rPr>
                        <a:t>7</a:t>
                      </a:r>
                      <a:endParaRPr sz="11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270" algn="ctr">
                        <a:lnSpc>
                          <a:spcPct val="100000"/>
                        </a:lnSpc>
                        <a:spcBef>
                          <a:spcPts val="484"/>
                        </a:spcBef>
                      </a:pPr>
                      <a:r>
                        <a:rPr sz="1100" spc="-10" dirty="0">
                          <a:latin typeface="Arial MT"/>
                          <a:cs typeface="Arial MT"/>
                        </a:rPr>
                        <a:t>1/3/2022</a:t>
                      </a:r>
                      <a:endParaRPr sz="11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314325" marR="217804" indent="-90170">
                        <a:lnSpc>
                          <a:spcPct val="100000"/>
                        </a:lnSpc>
                      </a:pPr>
                      <a:r>
                        <a:rPr sz="1100" dirty="0">
                          <a:latin typeface="Arial MT"/>
                          <a:cs typeface="Arial MT"/>
                        </a:rPr>
                        <a:t>Chocos Webs</a:t>
                      </a:r>
                      <a:r>
                        <a:rPr sz="1100" spc="-40" dirty="0">
                          <a:latin typeface="Arial MT"/>
                          <a:cs typeface="Arial MT"/>
                        </a:rPr>
                        <a:t> </a:t>
                      </a:r>
                      <a:r>
                        <a:rPr sz="1100" spc="-50" dirty="0">
                          <a:latin typeface="Arial MT"/>
                          <a:cs typeface="Arial MT"/>
                        </a:rPr>
                        <a:t>-</a:t>
                      </a:r>
                      <a:r>
                        <a:rPr sz="1100" spc="500" dirty="0">
                          <a:latin typeface="Arial MT"/>
                          <a:cs typeface="Arial MT"/>
                        </a:rPr>
                        <a:t> </a:t>
                      </a:r>
                      <a:r>
                        <a:rPr sz="1100" spc="-10" dirty="0">
                          <a:latin typeface="Arial MT"/>
                          <a:cs typeface="Arial MT"/>
                        </a:rPr>
                        <a:t>Spiderman</a:t>
                      </a:r>
                      <a:endParaRPr sz="11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extLst>
                  <a:ext uri="{0D108BD9-81ED-4DB2-BD59-A6C34878D82A}">
                    <a16:rowId xmlns:a16="http://schemas.microsoft.com/office/drawing/2014/main" val="10007"/>
                  </a:ext>
                </a:extLst>
              </a:tr>
              <a:tr h="297180">
                <a:tc>
                  <a:txBody>
                    <a:bodyPr/>
                    <a:lstStyle/>
                    <a:p>
                      <a:pPr algn="ctr">
                        <a:lnSpc>
                          <a:spcPct val="100000"/>
                        </a:lnSpc>
                        <a:spcBef>
                          <a:spcPts val="484"/>
                        </a:spcBef>
                      </a:pPr>
                      <a:r>
                        <a:rPr sz="1100" spc="-50" dirty="0">
                          <a:latin typeface="Arial MT"/>
                          <a:cs typeface="Arial MT"/>
                        </a:rPr>
                        <a:t>8</a:t>
                      </a:r>
                      <a:endParaRPr sz="11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270" algn="ctr">
                        <a:lnSpc>
                          <a:spcPct val="100000"/>
                        </a:lnSpc>
                        <a:spcBef>
                          <a:spcPts val="484"/>
                        </a:spcBef>
                      </a:pPr>
                      <a:r>
                        <a:rPr sz="1100" spc="-10" dirty="0">
                          <a:latin typeface="Arial MT"/>
                          <a:cs typeface="Arial MT"/>
                        </a:rPr>
                        <a:t>1/3/2022</a:t>
                      </a:r>
                      <a:endParaRPr sz="11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330200" marR="163195" indent="-160020">
                        <a:lnSpc>
                          <a:spcPct val="100000"/>
                        </a:lnSpc>
                      </a:pPr>
                      <a:r>
                        <a:rPr sz="1100" dirty="0">
                          <a:latin typeface="Arial MT"/>
                          <a:cs typeface="Arial MT"/>
                        </a:rPr>
                        <a:t>Breakfast</a:t>
                      </a:r>
                      <a:r>
                        <a:rPr sz="1100" spc="-20" dirty="0">
                          <a:latin typeface="Arial MT"/>
                          <a:cs typeface="Arial MT"/>
                        </a:rPr>
                        <a:t> </a:t>
                      </a:r>
                      <a:r>
                        <a:rPr sz="1100" dirty="0">
                          <a:latin typeface="Arial MT"/>
                          <a:cs typeface="Arial MT"/>
                        </a:rPr>
                        <a:t>Cereal</a:t>
                      </a:r>
                      <a:r>
                        <a:rPr sz="1100" spc="-35" dirty="0">
                          <a:latin typeface="Arial MT"/>
                          <a:cs typeface="Arial MT"/>
                        </a:rPr>
                        <a:t> </a:t>
                      </a:r>
                      <a:r>
                        <a:rPr sz="1100" spc="-50" dirty="0">
                          <a:latin typeface="Arial MT"/>
                          <a:cs typeface="Arial MT"/>
                        </a:rPr>
                        <a:t>-</a:t>
                      </a:r>
                      <a:r>
                        <a:rPr sz="1100" spc="500" dirty="0">
                          <a:latin typeface="Arial MT"/>
                          <a:cs typeface="Arial MT"/>
                        </a:rPr>
                        <a:t> </a:t>
                      </a:r>
                      <a:r>
                        <a:rPr sz="1100" spc="-10" dirty="0">
                          <a:latin typeface="Arial MT"/>
                          <a:cs typeface="Arial MT"/>
                        </a:rPr>
                        <a:t>Chocolate</a:t>
                      </a:r>
                      <a:endParaRPr sz="11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extLst>
                  <a:ext uri="{0D108BD9-81ED-4DB2-BD59-A6C34878D82A}">
                    <a16:rowId xmlns:a16="http://schemas.microsoft.com/office/drawing/2014/main" val="10008"/>
                  </a:ext>
                </a:extLst>
              </a:tr>
              <a:tr h="254000">
                <a:tc>
                  <a:txBody>
                    <a:bodyPr/>
                    <a:lstStyle/>
                    <a:p>
                      <a:pPr algn="ctr">
                        <a:lnSpc>
                          <a:spcPct val="100000"/>
                        </a:lnSpc>
                        <a:spcBef>
                          <a:spcPts val="360"/>
                        </a:spcBef>
                      </a:pPr>
                      <a:r>
                        <a:rPr sz="1100" spc="-50" dirty="0">
                          <a:latin typeface="Arial MT"/>
                          <a:cs typeface="Arial MT"/>
                        </a:rPr>
                        <a:t>9</a:t>
                      </a:r>
                      <a:endParaRPr sz="1100">
                        <a:latin typeface="Arial MT"/>
                        <a:cs typeface="Arial MT"/>
                      </a:endParaRPr>
                    </a:p>
                  </a:txBody>
                  <a:tcPr marL="0" marR="0" marT="609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270" algn="ctr">
                        <a:lnSpc>
                          <a:spcPct val="100000"/>
                        </a:lnSpc>
                        <a:spcBef>
                          <a:spcPts val="360"/>
                        </a:spcBef>
                      </a:pPr>
                      <a:r>
                        <a:rPr sz="1100" spc="-10" dirty="0">
                          <a:latin typeface="Arial MT"/>
                          <a:cs typeface="Arial MT"/>
                        </a:rPr>
                        <a:t>1/3/2022</a:t>
                      </a:r>
                      <a:endParaRPr sz="1100">
                        <a:latin typeface="Arial MT"/>
                        <a:cs typeface="Arial MT"/>
                      </a:endParaRPr>
                    </a:p>
                  </a:txBody>
                  <a:tcPr marL="0" marR="0" marT="609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algn="ctr">
                        <a:lnSpc>
                          <a:spcPct val="100000"/>
                        </a:lnSpc>
                        <a:spcBef>
                          <a:spcPts val="360"/>
                        </a:spcBef>
                      </a:pPr>
                      <a:r>
                        <a:rPr sz="1100" dirty="0">
                          <a:latin typeface="Arial MT"/>
                          <a:cs typeface="Arial MT"/>
                        </a:rPr>
                        <a:t>Fiber</a:t>
                      </a:r>
                      <a:r>
                        <a:rPr sz="1100" spc="-10" dirty="0">
                          <a:latin typeface="Arial MT"/>
                          <a:cs typeface="Arial MT"/>
                        </a:rPr>
                        <a:t> </a:t>
                      </a:r>
                      <a:r>
                        <a:rPr sz="1100" dirty="0">
                          <a:latin typeface="Arial MT"/>
                          <a:cs typeface="Arial MT"/>
                        </a:rPr>
                        <a:t>Rich</a:t>
                      </a:r>
                      <a:r>
                        <a:rPr sz="1100" spc="-25" dirty="0">
                          <a:latin typeface="Arial MT"/>
                          <a:cs typeface="Arial MT"/>
                        </a:rPr>
                        <a:t> </a:t>
                      </a:r>
                      <a:r>
                        <a:rPr sz="1100" spc="-10" dirty="0">
                          <a:latin typeface="Arial MT"/>
                          <a:cs typeface="Arial MT"/>
                        </a:rPr>
                        <a:t>Chocolate</a:t>
                      </a:r>
                      <a:endParaRPr sz="1100" dirty="0">
                        <a:latin typeface="Arial MT"/>
                        <a:cs typeface="Arial MT"/>
                      </a:endParaRPr>
                    </a:p>
                  </a:txBody>
                  <a:tcPr marL="0" marR="0" marT="609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extLst>
                  <a:ext uri="{0D108BD9-81ED-4DB2-BD59-A6C34878D82A}">
                    <a16:rowId xmlns:a16="http://schemas.microsoft.com/office/drawing/2014/main" val="10009"/>
                  </a:ext>
                </a:extLst>
              </a:tr>
              <a:tr h="296333">
                <a:tc>
                  <a:txBody>
                    <a:bodyPr/>
                    <a:lstStyle/>
                    <a:p>
                      <a:pPr algn="ctr">
                        <a:lnSpc>
                          <a:spcPct val="100000"/>
                        </a:lnSpc>
                        <a:spcBef>
                          <a:spcPts val="490"/>
                        </a:spcBef>
                      </a:pPr>
                      <a:r>
                        <a:rPr sz="1100" spc="-25" dirty="0">
                          <a:latin typeface="Arial MT"/>
                          <a:cs typeface="Arial MT"/>
                        </a:rPr>
                        <a:t>10</a:t>
                      </a:r>
                      <a:endParaRPr sz="1100">
                        <a:latin typeface="Arial MT"/>
                        <a:cs typeface="Arial MT"/>
                      </a:endParaRPr>
                    </a:p>
                  </a:txBody>
                  <a:tcPr marL="0" marR="0" marT="829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270" algn="ctr">
                        <a:lnSpc>
                          <a:spcPct val="100000"/>
                        </a:lnSpc>
                        <a:spcBef>
                          <a:spcPts val="490"/>
                        </a:spcBef>
                      </a:pPr>
                      <a:r>
                        <a:rPr sz="1100" spc="-10" dirty="0">
                          <a:latin typeface="Arial MT"/>
                          <a:cs typeface="Arial MT"/>
                        </a:rPr>
                        <a:t>1/3/2022</a:t>
                      </a:r>
                      <a:endParaRPr sz="1100">
                        <a:latin typeface="Arial MT"/>
                        <a:cs typeface="Arial MT"/>
                      </a:endParaRPr>
                    </a:p>
                  </a:txBody>
                  <a:tcPr marL="0" marR="0" marT="829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424180" marR="59690" indent="-358140">
                        <a:lnSpc>
                          <a:spcPct val="100000"/>
                        </a:lnSpc>
                      </a:pPr>
                      <a:r>
                        <a:rPr sz="1100" dirty="0">
                          <a:latin typeface="Arial MT"/>
                          <a:cs typeface="Arial MT"/>
                        </a:rPr>
                        <a:t>Centre</a:t>
                      </a:r>
                      <a:r>
                        <a:rPr sz="1100" spc="-5" dirty="0">
                          <a:latin typeface="Arial MT"/>
                          <a:cs typeface="Arial MT"/>
                        </a:rPr>
                        <a:t> </a:t>
                      </a:r>
                      <a:r>
                        <a:rPr sz="1100" dirty="0">
                          <a:latin typeface="Arial MT"/>
                          <a:cs typeface="Arial MT"/>
                        </a:rPr>
                        <a:t>Filled</a:t>
                      </a:r>
                      <a:r>
                        <a:rPr sz="1100" spc="-35" dirty="0">
                          <a:latin typeface="Arial MT"/>
                          <a:cs typeface="Arial MT"/>
                        </a:rPr>
                        <a:t> </a:t>
                      </a:r>
                      <a:r>
                        <a:rPr sz="1100" spc="-10" dirty="0">
                          <a:latin typeface="Arial MT"/>
                          <a:cs typeface="Arial MT"/>
                        </a:rPr>
                        <a:t>Chocolate</a:t>
                      </a:r>
                      <a:r>
                        <a:rPr sz="1100" spc="500" dirty="0">
                          <a:latin typeface="Arial MT"/>
                          <a:cs typeface="Arial MT"/>
                        </a:rPr>
                        <a:t> </a:t>
                      </a:r>
                      <a:r>
                        <a:rPr sz="1100" spc="-20" dirty="0">
                          <a:latin typeface="Arial MT"/>
                          <a:cs typeface="Arial MT"/>
                        </a:rPr>
                        <a:t>Cake</a:t>
                      </a:r>
                      <a:endParaRPr sz="11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56168" y="383228"/>
            <a:ext cx="5886006"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Data</a:t>
            </a:r>
            <a:r>
              <a:rPr spc="-33" dirty="0">
                <a:solidFill>
                  <a:schemeClr val="bg1"/>
                </a:solidFill>
                <a:latin typeface="+mn-lt"/>
              </a:rPr>
              <a:t> </a:t>
            </a:r>
            <a:r>
              <a:rPr dirty="0">
                <a:solidFill>
                  <a:schemeClr val="bg1"/>
                </a:solidFill>
                <a:latin typeface="+mn-lt"/>
              </a:rPr>
              <a:t>Warehouse</a:t>
            </a:r>
            <a:r>
              <a:rPr spc="-60" dirty="0">
                <a:solidFill>
                  <a:schemeClr val="bg1"/>
                </a:solidFill>
                <a:latin typeface="+mn-lt"/>
              </a:rPr>
              <a:t> </a:t>
            </a:r>
            <a:r>
              <a:rPr spc="-13" dirty="0">
                <a:solidFill>
                  <a:schemeClr val="bg1"/>
                </a:solidFill>
                <a:latin typeface="+mn-lt"/>
              </a:rPr>
              <a:t>Layers</a:t>
            </a:r>
          </a:p>
        </p:txBody>
      </p:sp>
      <p:sp>
        <p:nvSpPr>
          <p:cNvPr id="3" name="object 3"/>
          <p:cNvSpPr txBox="1"/>
          <p:nvPr/>
        </p:nvSpPr>
        <p:spPr>
          <a:xfrm>
            <a:off x="4669537" y="4610472"/>
            <a:ext cx="124460" cy="264560"/>
          </a:xfrm>
          <a:prstGeom prst="rect">
            <a:avLst/>
          </a:prstGeom>
        </p:spPr>
        <p:txBody>
          <a:bodyPr vert="horz" wrap="square" lIns="0" tIns="0" rIns="0" bIns="0" rtlCol="0">
            <a:spAutoFit/>
          </a:bodyPr>
          <a:lstStyle/>
          <a:p>
            <a:pPr>
              <a:lnSpc>
                <a:spcPts val="2027"/>
              </a:lnSpc>
            </a:pPr>
            <a:r>
              <a:rPr sz="2133" spc="-80" dirty="0">
                <a:solidFill>
                  <a:srgbClr val="FFFFFF"/>
                </a:solidFill>
                <a:latin typeface="Calibri"/>
                <a:cs typeface="Calibri"/>
              </a:rPr>
              <a:t>S</a:t>
            </a:r>
            <a:endParaRPr sz="2133">
              <a:latin typeface="Calibri"/>
              <a:cs typeface="Calibri"/>
            </a:endParaRPr>
          </a:p>
        </p:txBody>
      </p:sp>
      <p:sp>
        <p:nvSpPr>
          <p:cNvPr id="4" name="object 4"/>
          <p:cNvSpPr txBox="1"/>
          <p:nvPr/>
        </p:nvSpPr>
        <p:spPr>
          <a:xfrm>
            <a:off x="4793897" y="4610472"/>
            <a:ext cx="681567" cy="264560"/>
          </a:xfrm>
          <a:prstGeom prst="rect">
            <a:avLst/>
          </a:prstGeom>
        </p:spPr>
        <p:txBody>
          <a:bodyPr vert="horz" wrap="square" lIns="0" tIns="0" rIns="0" bIns="0" rtlCol="0">
            <a:spAutoFit/>
          </a:bodyPr>
          <a:lstStyle/>
          <a:p>
            <a:pPr>
              <a:lnSpc>
                <a:spcPts val="2027"/>
              </a:lnSpc>
            </a:pPr>
            <a:r>
              <a:rPr sz="2133" spc="-13" dirty="0">
                <a:solidFill>
                  <a:srgbClr val="FFFFFF"/>
                </a:solidFill>
                <a:latin typeface="Calibri"/>
                <a:cs typeface="Calibri"/>
              </a:rPr>
              <a:t>taging</a:t>
            </a:r>
            <a:endParaRPr sz="2133">
              <a:latin typeface="Calibri"/>
              <a:cs typeface="Calibri"/>
            </a:endParaRPr>
          </a:p>
        </p:txBody>
      </p:sp>
      <p:sp>
        <p:nvSpPr>
          <p:cNvPr id="5" name="object 5"/>
          <p:cNvSpPr/>
          <p:nvPr/>
        </p:nvSpPr>
        <p:spPr>
          <a:xfrm>
            <a:off x="2005465" y="2004314"/>
            <a:ext cx="1137920" cy="799253"/>
          </a:xfrm>
          <a:custGeom>
            <a:avLst/>
            <a:gdLst/>
            <a:ahLst/>
            <a:cxnLst/>
            <a:rect l="l" t="t" r="r" b="b"/>
            <a:pathLst>
              <a:path w="853439" h="599439">
                <a:moveTo>
                  <a:pt x="853440" y="0"/>
                </a:moveTo>
                <a:lnTo>
                  <a:pt x="0" y="0"/>
                </a:lnTo>
                <a:lnTo>
                  <a:pt x="0" y="63576"/>
                </a:lnTo>
                <a:lnTo>
                  <a:pt x="0" y="191998"/>
                </a:lnTo>
                <a:lnTo>
                  <a:pt x="0" y="598868"/>
                </a:lnTo>
                <a:lnTo>
                  <a:pt x="853440" y="598868"/>
                </a:lnTo>
                <a:lnTo>
                  <a:pt x="853440" y="363651"/>
                </a:lnTo>
                <a:lnTo>
                  <a:pt x="789406" y="363651"/>
                </a:lnTo>
                <a:lnTo>
                  <a:pt x="789406" y="406882"/>
                </a:lnTo>
                <a:lnTo>
                  <a:pt x="789406" y="534022"/>
                </a:lnTo>
                <a:lnTo>
                  <a:pt x="576059" y="534022"/>
                </a:lnTo>
                <a:lnTo>
                  <a:pt x="576059" y="406882"/>
                </a:lnTo>
                <a:lnTo>
                  <a:pt x="789406" y="406882"/>
                </a:lnTo>
                <a:lnTo>
                  <a:pt x="789406" y="363651"/>
                </a:lnTo>
                <a:lnTo>
                  <a:pt x="533387" y="363651"/>
                </a:lnTo>
                <a:lnTo>
                  <a:pt x="533387" y="406882"/>
                </a:lnTo>
                <a:lnTo>
                  <a:pt x="533387" y="534022"/>
                </a:lnTo>
                <a:lnTo>
                  <a:pt x="320027" y="534022"/>
                </a:lnTo>
                <a:lnTo>
                  <a:pt x="320027" y="406882"/>
                </a:lnTo>
                <a:lnTo>
                  <a:pt x="533387" y="406882"/>
                </a:lnTo>
                <a:lnTo>
                  <a:pt x="533387" y="363651"/>
                </a:lnTo>
                <a:lnTo>
                  <a:pt x="277355" y="363651"/>
                </a:lnTo>
                <a:lnTo>
                  <a:pt x="277355" y="406882"/>
                </a:lnTo>
                <a:lnTo>
                  <a:pt x="277355" y="534022"/>
                </a:lnTo>
                <a:lnTo>
                  <a:pt x="64008" y="534022"/>
                </a:lnTo>
                <a:lnTo>
                  <a:pt x="64008" y="406882"/>
                </a:lnTo>
                <a:lnTo>
                  <a:pt x="277355" y="406882"/>
                </a:lnTo>
                <a:lnTo>
                  <a:pt x="277355" y="363651"/>
                </a:lnTo>
                <a:lnTo>
                  <a:pt x="64008" y="363651"/>
                </a:lnTo>
                <a:lnTo>
                  <a:pt x="64008" y="235229"/>
                </a:lnTo>
                <a:lnTo>
                  <a:pt x="277355" y="235229"/>
                </a:lnTo>
                <a:lnTo>
                  <a:pt x="277355" y="363474"/>
                </a:lnTo>
                <a:lnTo>
                  <a:pt x="320027" y="363474"/>
                </a:lnTo>
                <a:lnTo>
                  <a:pt x="320027" y="235229"/>
                </a:lnTo>
                <a:lnTo>
                  <a:pt x="533387" y="235229"/>
                </a:lnTo>
                <a:lnTo>
                  <a:pt x="533387" y="363474"/>
                </a:lnTo>
                <a:lnTo>
                  <a:pt x="576059" y="363474"/>
                </a:lnTo>
                <a:lnTo>
                  <a:pt x="576059" y="235229"/>
                </a:lnTo>
                <a:lnTo>
                  <a:pt x="789406" y="235229"/>
                </a:lnTo>
                <a:lnTo>
                  <a:pt x="789406" y="363474"/>
                </a:lnTo>
                <a:lnTo>
                  <a:pt x="853440" y="363474"/>
                </a:lnTo>
                <a:lnTo>
                  <a:pt x="853440" y="64071"/>
                </a:lnTo>
                <a:lnTo>
                  <a:pt x="789406" y="64071"/>
                </a:lnTo>
                <a:lnTo>
                  <a:pt x="789406" y="191998"/>
                </a:lnTo>
                <a:lnTo>
                  <a:pt x="576059" y="191998"/>
                </a:lnTo>
                <a:lnTo>
                  <a:pt x="576059" y="64071"/>
                </a:lnTo>
                <a:lnTo>
                  <a:pt x="533387" y="64071"/>
                </a:lnTo>
                <a:lnTo>
                  <a:pt x="533387" y="191998"/>
                </a:lnTo>
                <a:lnTo>
                  <a:pt x="320027" y="191998"/>
                </a:lnTo>
                <a:lnTo>
                  <a:pt x="320027" y="64071"/>
                </a:lnTo>
                <a:lnTo>
                  <a:pt x="277355" y="64071"/>
                </a:lnTo>
                <a:lnTo>
                  <a:pt x="277355" y="191998"/>
                </a:lnTo>
                <a:lnTo>
                  <a:pt x="64008" y="191998"/>
                </a:lnTo>
                <a:lnTo>
                  <a:pt x="64008" y="63576"/>
                </a:lnTo>
                <a:lnTo>
                  <a:pt x="853440" y="63576"/>
                </a:lnTo>
                <a:lnTo>
                  <a:pt x="853440" y="0"/>
                </a:lnTo>
                <a:close/>
              </a:path>
            </a:pathLst>
          </a:custGeom>
          <a:solidFill>
            <a:srgbClr val="BCBCBC"/>
          </a:solidFill>
        </p:spPr>
        <p:txBody>
          <a:bodyPr wrap="square" lIns="0" tIns="0" rIns="0" bIns="0" rtlCol="0"/>
          <a:lstStyle/>
          <a:p>
            <a:endParaRPr sz="2400"/>
          </a:p>
        </p:txBody>
      </p:sp>
      <p:sp>
        <p:nvSpPr>
          <p:cNvPr id="6" name="object 6"/>
          <p:cNvSpPr txBox="1"/>
          <p:nvPr/>
        </p:nvSpPr>
        <p:spPr>
          <a:xfrm>
            <a:off x="1941408" y="4198959"/>
            <a:ext cx="1390225" cy="264560"/>
          </a:xfrm>
          <a:prstGeom prst="rect">
            <a:avLst/>
          </a:prstGeom>
        </p:spPr>
        <p:txBody>
          <a:bodyPr vert="horz" wrap="square" lIns="0" tIns="0" rIns="0" bIns="0" rtlCol="0">
            <a:spAutoFit/>
          </a:bodyPr>
          <a:lstStyle/>
          <a:p>
            <a:pPr>
              <a:lnSpc>
                <a:spcPts val="2020"/>
              </a:lnSpc>
            </a:pPr>
            <a:r>
              <a:rPr sz="2133" dirty="0">
                <a:solidFill>
                  <a:srgbClr val="FFFFFF"/>
                </a:solidFill>
                <a:latin typeface="Calibri"/>
                <a:cs typeface="Calibri"/>
              </a:rPr>
              <a:t>data</a:t>
            </a:r>
            <a:r>
              <a:rPr sz="2133" spc="-33" dirty="0">
                <a:solidFill>
                  <a:srgbClr val="FFFFFF"/>
                </a:solidFill>
                <a:latin typeface="Calibri"/>
                <a:cs typeface="Calibri"/>
              </a:rPr>
              <a:t> </a:t>
            </a:r>
            <a:r>
              <a:rPr sz="2133" spc="-13" dirty="0">
                <a:solidFill>
                  <a:srgbClr val="FFFFFF"/>
                </a:solidFill>
                <a:latin typeface="Calibri"/>
                <a:cs typeface="Calibri"/>
              </a:rPr>
              <a:t>sources</a:t>
            </a:r>
            <a:endParaRPr sz="2133">
              <a:latin typeface="Calibri"/>
              <a:cs typeface="Calibri"/>
            </a:endParaRPr>
          </a:p>
        </p:txBody>
      </p:sp>
      <p:sp>
        <p:nvSpPr>
          <p:cNvPr id="7" name="object 7"/>
          <p:cNvSpPr/>
          <p:nvPr/>
        </p:nvSpPr>
        <p:spPr>
          <a:xfrm>
            <a:off x="2194916" y="2986008"/>
            <a:ext cx="781473" cy="781473"/>
          </a:xfrm>
          <a:custGeom>
            <a:avLst/>
            <a:gdLst/>
            <a:ahLst/>
            <a:cxnLst/>
            <a:rect l="l" t="t" r="r" b="b"/>
            <a:pathLst>
              <a:path w="586105" h="586105">
                <a:moveTo>
                  <a:pt x="586003" y="334645"/>
                </a:moveTo>
                <a:lnTo>
                  <a:pt x="578231" y="353771"/>
                </a:lnTo>
                <a:lnTo>
                  <a:pt x="556107" y="371360"/>
                </a:lnTo>
                <a:lnTo>
                  <a:pt x="523227" y="386092"/>
                </a:lnTo>
                <a:lnTo>
                  <a:pt x="523227" y="481050"/>
                </a:lnTo>
                <a:lnTo>
                  <a:pt x="521716" y="489610"/>
                </a:lnTo>
                <a:lnTo>
                  <a:pt x="517461" y="496214"/>
                </a:lnTo>
                <a:lnTo>
                  <a:pt x="510857" y="500468"/>
                </a:lnTo>
                <a:lnTo>
                  <a:pt x="502297" y="501967"/>
                </a:lnTo>
                <a:lnTo>
                  <a:pt x="493725" y="500468"/>
                </a:lnTo>
                <a:lnTo>
                  <a:pt x="487121" y="496214"/>
                </a:lnTo>
                <a:lnTo>
                  <a:pt x="482866" y="489610"/>
                </a:lnTo>
                <a:lnTo>
                  <a:pt x="481368" y="481050"/>
                </a:lnTo>
                <a:lnTo>
                  <a:pt x="482866" y="472490"/>
                </a:lnTo>
                <a:lnTo>
                  <a:pt x="487121" y="465886"/>
                </a:lnTo>
                <a:lnTo>
                  <a:pt x="493725" y="461645"/>
                </a:lnTo>
                <a:lnTo>
                  <a:pt x="502297" y="460133"/>
                </a:lnTo>
                <a:lnTo>
                  <a:pt x="510857" y="461645"/>
                </a:lnTo>
                <a:lnTo>
                  <a:pt x="517461" y="465886"/>
                </a:lnTo>
                <a:lnTo>
                  <a:pt x="521716" y="472490"/>
                </a:lnTo>
                <a:lnTo>
                  <a:pt x="523227" y="481050"/>
                </a:lnTo>
                <a:lnTo>
                  <a:pt x="523227" y="386092"/>
                </a:lnTo>
                <a:lnTo>
                  <a:pt x="475983" y="399872"/>
                </a:lnTo>
                <a:lnTo>
                  <a:pt x="421563" y="409765"/>
                </a:lnTo>
                <a:lnTo>
                  <a:pt x="359981" y="416090"/>
                </a:lnTo>
                <a:lnTo>
                  <a:pt x="293001" y="418312"/>
                </a:lnTo>
                <a:lnTo>
                  <a:pt x="226034" y="416090"/>
                </a:lnTo>
                <a:lnTo>
                  <a:pt x="164439" y="409765"/>
                </a:lnTo>
                <a:lnTo>
                  <a:pt x="110032" y="399872"/>
                </a:lnTo>
                <a:lnTo>
                  <a:pt x="64579" y="386892"/>
                </a:lnTo>
                <a:lnTo>
                  <a:pt x="7772" y="353771"/>
                </a:lnTo>
                <a:lnTo>
                  <a:pt x="0" y="334645"/>
                </a:lnTo>
                <a:lnTo>
                  <a:pt x="0" y="501967"/>
                </a:lnTo>
                <a:lnTo>
                  <a:pt x="29895" y="538670"/>
                </a:lnTo>
                <a:lnTo>
                  <a:pt x="110032" y="567182"/>
                </a:lnTo>
                <a:lnTo>
                  <a:pt x="164439" y="577088"/>
                </a:lnTo>
                <a:lnTo>
                  <a:pt x="226034" y="583399"/>
                </a:lnTo>
                <a:lnTo>
                  <a:pt x="293001" y="585622"/>
                </a:lnTo>
                <a:lnTo>
                  <a:pt x="359981" y="583399"/>
                </a:lnTo>
                <a:lnTo>
                  <a:pt x="421563" y="577088"/>
                </a:lnTo>
                <a:lnTo>
                  <a:pt x="475983" y="567182"/>
                </a:lnTo>
                <a:lnTo>
                  <a:pt x="521423" y="554215"/>
                </a:lnTo>
                <a:lnTo>
                  <a:pt x="578231" y="521093"/>
                </a:lnTo>
                <a:lnTo>
                  <a:pt x="586003" y="501967"/>
                </a:lnTo>
                <a:lnTo>
                  <a:pt x="586003" y="460133"/>
                </a:lnTo>
                <a:lnTo>
                  <a:pt x="586003" y="418312"/>
                </a:lnTo>
                <a:lnTo>
                  <a:pt x="586003" y="334645"/>
                </a:lnTo>
                <a:close/>
              </a:path>
              <a:path w="586105" h="586105">
                <a:moveTo>
                  <a:pt x="586003" y="125501"/>
                </a:moveTo>
                <a:lnTo>
                  <a:pt x="578231" y="144627"/>
                </a:lnTo>
                <a:lnTo>
                  <a:pt x="556107" y="162204"/>
                </a:lnTo>
                <a:lnTo>
                  <a:pt x="523227" y="176949"/>
                </a:lnTo>
                <a:lnTo>
                  <a:pt x="523227" y="271907"/>
                </a:lnTo>
                <a:lnTo>
                  <a:pt x="521716" y="280466"/>
                </a:lnTo>
                <a:lnTo>
                  <a:pt x="517461" y="287070"/>
                </a:lnTo>
                <a:lnTo>
                  <a:pt x="510857" y="291312"/>
                </a:lnTo>
                <a:lnTo>
                  <a:pt x="502297" y="292823"/>
                </a:lnTo>
                <a:lnTo>
                  <a:pt x="493725" y="291312"/>
                </a:lnTo>
                <a:lnTo>
                  <a:pt x="487121" y="287070"/>
                </a:lnTo>
                <a:lnTo>
                  <a:pt x="482866" y="280466"/>
                </a:lnTo>
                <a:lnTo>
                  <a:pt x="481368" y="271907"/>
                </a:lnTo>
                <a:lnTo>
                  <a:pt x="482866" y="263347"/>
                </a:lnTo>
                <a:lnTo>
                  <a:pt x="487121" y="256743"/>
                </a:lnTo>
                <a:lnTo>
                  <a:pt x="493725" y="252488"/>
                </a:lnTo>
                <a:lnTo>
                  <a:pt x="502297" y="250990"/>
                </a:lnTo>
                <a:lnTo>
                  <a:pt x="510857" y="252488"/>
                </a:lnTo>
                <a:lnTo>
                  <a:pt x="517461" y="256743"/>
                </a:lnTo>
                <a:lnTo>
                  <a:pt x="521716" y="263347"/>
                </a:lnTo>
                <a:lnTo>
                  <a:pt x="523227" y="271907"/>
                </a:lnTo>
                <a:lnTo>
                  <a:pt x="523227" y="176949"/>
                </a:lnTo>
                <a:lnTo>
                  <a:pt x="475983" y="190715"/>
                </a:lnTo>
                <a:lnTo>
                  <a:pt x="421563" y="200621"/>
                </a:lnTo>
                <a:lnTo>
                  <a:pt x="359981" y="206933"/>
                </a:lnTo>
                <a:lnTo>
                  <a:pt x="293001" y="209156"/>
                </a:lnTo>
                <a:lnTo>
                  <a:pt x="226034" y="206933"/>
                </a:lnTo>
                <a:lnTo>
                  <a:pt x="164439" y="200621"/>
                </a:lnTo>
                <a:lnTo>
                  <a:pt x="110032" y="190715"/>
                </a:lnTo>
                <a:lnTo>
                  <a:pt x="64579" y="177749"/>
                </a:lnTo>
                <a:lnTo>
                  <a:pt x="7772" y="144627"/>
                </a:lnTo>
                <a:lnTo>
                  <a:pt x="0" y="125501"/>
                </a:lnTo>
                <a:lnTo>
                  <a:pt x="0" y="292823"/>
                </a:lnTo>
                <a:lnTo>
                  <a:pt x="29895" y="329526"/>
                </a:lnTo>
                <a:lnTo>
                  <a:pt x="110032" y="358038"/>
                </a:lnTo>
                <a:lnTo>
                  <a:pt x="164439" y="367944"/>
                </a:lnTo>
                <a:lnTo>
                  <a:pt x="226034" y="374256"/>
                </a:lnTo>
                <a:lnTo>
                  <a:pt x="293001" y="376478"/>
                </a:lnTo>
                <a:lnTo>
                  <a:pt x="359981" y="374256"/>
                </a:lnTo>
                <a:lnTo>
                  <a:pt x="421563" y="367944"/>
                </a:lnTo>
                <a:lnTo>
                  <a:pt x="475983" y="358038"/>
                </a:lnTo>
                <a:lnTo>
                  <a:pt x="521423" y="345059"/>
                </a:lnTo>
                <a:lnTo>
                  <a:pt x="578231" y="311937"/>
                </a:lnTo>
                <a:lnTo>
                  <a:pt x="586003" y="292823"/>
                </a:lnTo>
                <a:lnTo>
                  <a:pt x="586003" y="250990"/>
                </a:lnTo>
                <a:lnTo>
                  <a:pt x="586003" y="209156"/>
                </a:lnTo>
                <a:lnTo>
                  <a:pt x="586003" y="125501"/>
                </a:lnTo>
                <a:close/>
              </a:path>
              <a:path w="586105" h="586105">
                <a:moveTo>
                  <a:pt x="586003" y="83667"/>
                </a:moveTo>
                <a:lnTo>
                  <a:pt x="556234" y="46875"/>
                </a:lnTo>
                <a:lnTo>
                  <a:pt x="476262" y="18376"/>
                </a:lnTo>
                <a:lnTo>
                  <a:pt x="421855" y="8496"/>
                </a:lnTo>
                <a:lnTo>
                  <a:pt x="360184" y="2209"/>
                </a:lnTo>
                <a:lnTo>
                  <a:pt x="293001" y="0"/>
                </a:lnTo>
                <a:lnTo>
                  <a:pt x="225818" y="2209"/>
                </a:lnTo>
                <a:lnTo>
                  <a:pt x="164147" y="8496"/>
                </a:lnTo>
                <a:lnTo>
                  <a:pt x="109753" y="18376"/>
                </a:lnTo>
                <a:lnTo>
                  <a:pt x="64376" y="31343"/>
                </a:lnTo>
                <a:lnTo>
                  <a:pt x="7747" y="64490"/>
                </a:lnTo>
                <a:lnTo>
                  <a:pt x="0" y="83667"/>
                </a:lnTo>
                <a:lnTo>
                  <a:pt x="7747" y="102857"/>
                </a:lnTo>
                <a:lnTo>
                  <a:pt x="64376" y="135991"/>
                </a:lnTo>
                <a:lnTo>
                  <a:pt x="109753" y="148945"/>
                </a:lnTo>
                <a:lnTo>
                  <a:pt x="164147" y="158826"/>
                </a:lnTo>
                <a:lnTo>
                  <a:pt x="225818" y="165125"/>
                </a:lnTo>
                <a:lnTo>
                  <a:pt x="293001" y="167335"/>
                </a:lnTo>
                <a:lnTo>
                  <a:pt x="360184" y="165125"/>
                </a:lnTo>
                <a:lnTo>
                  <a:pt x="421855" y="158826"/>
                </a:lnTo>
                <a:lnTo>
                  <a:pt x="476262" y="148945"/>
                </a:lnTo>
                <a:lnTo>
                  <a:pt x="521639" y="135991"/>
                </a:lnTo>
                <a:lnTo>
                  <a:pt x="578269" y="102857"/>
                </a:lnTo>
                <a:lnTo>
                  <a:pt x="586003" y="83667"/>
                </a:lnTo>
                <a:close/>
              </a:path>
            </a:pathLst>
          </a:custGeom>
          <a:solidFill>
            <a:srgbClr val="9B9B9B"/>
          </a:solidFill>
        </p:spPr>
        <p:txBody>
          <a:bodyPr wrap="square" lIns="0" tIns="0" rIns="0" bIns="0" rtlCol="0"/>
          <a:lstStyle/>
          <a:p>
            <a:endParaRPr sz="2400"/>
          </a:p>
        </p:txBody>
      </p:sp>
      <p:sp>
        <p:nvSpPr>
          <p:cNvPr id="8" name="object 8"/>
          <p:cNvSpPr/>
          <p:nvPr/>
        </p:nvSpPr>
        <p:spPr>
          <a:xfrm>
            <a:off x="2194928" y="3711059"/>
            <a:ext cx="781473" cy="335280"/>
          </a:xfrm>
          <a:custGeom>
            <a:avLst/>
            <a:gdLst/>
            <a:ahLst/>
            <a:cxnLst/>
            <a:rect l="l" t="t" r="r" b="b"/>
            <a:pathLst>
              <a:path w="586105" h="251460">
                <a:moveTo>
                  <a:pt x="0" y="0"/>
                </a:moveTo>
                <a:lnTo>
                  <a:pt x="0" y="167318"/>
                </a:lnTo>
                <a:lnTo>
                  <a:pt x="29898" y="204025"/>
                </a:lnTo>
                <a:lnTo>
                  <a:pt x="110025" y="232537"/>
                </a:lnTo>
                <a:lnTo>
                  <a:pt x="164440" y="242440"/>
                </a:lnTo>
                <a:lnTo>
                  <a:pt x="226031" y="248757"/>
                </a:lnTo>
                <a:lnTo>
                  <a:pt x="293003" y="250977"/>
                </a:lnTo>
                <a:lnTo>
                  <a:pt x="359975" y="248757"/>
                </a:lnTo>
                <a:lnTo>
                  <a:pt x="421566" y="242440"/>
                </a:lnTo>
                <a:lnTo>
                  <a:pt x="475981" y="232538"/>
                </a:lnTo>
                <a:lnTo>
                  <a:pt x="521426" y="219562"/>
                </a:lnTo>
                <a:lnTo>
                  <a:pt x="578233" y="186440"/>
                </a:lnTo>
                <a:lnTo>
                  <a:pt x="586007" y="167318"/>
                </a:lnTo>
                <a:lnTo>
                  <a:pt x="502292" y="167318"/>
                </a:lnTo>
                <a:lnTo>
                  <a:pt x="493724" y="165814"/>
                </a:lnTo>
                <a:lnTo>
                  <a:pt x="487118" y="161566"/>
                </a:lnTo>
                <a:lnTo>
                  <a:pt x="482867" y="154965"/>
                </a:lnTo>
                <a:lnTo>
                  <a:pt x="481363" y="146403"/>
                </a:lnTo>
                <a:lnTo>
                  <a:pt x="482867" y="137841"/>
                </a:lnTo>
                <a:lnTo>
                  <a:pt x="487118" y="131240"/>
                </a:lnTo>
                <a:lnTo>
                  <a:pt x="493724" y="126991"/>
                </a:lnTo>
                <a:lnTo>
                  <a:pt x="502292" y="125488"/>
                </a:lnTo>
                <a:lnTo>
                  <a:pt x="586007" y="125488"/>
                </a:lnTo>
                <a:lnTo>
                  <a:pt x="586007" y="83659"/>
                </a:lnTo>
                <a:lnTo>
                  <a:pt x="293003" y="83659"/>
                </a:lnTo>
                <a:lnTo>
                  <a:pt x="226031" y="81439"/>
                </a:lnTo>
                <a:lnTo>
                  <a:pt x="164440" y="75122"/>
                </a:lnTo>
                <a:lnTo>
                  <a:pt x="110025" y="65219"/>
                </a:lnTo>
                <a:lnTo>
                  <a:pt x="64580" y="52244"/>
                </a:lnTo>
                <a:lnTo>
                  <a:pt x="7773" y="19122"/>
                </a:lnTo>
                <a:lnTo>
                  <a:pt x="0" y="0"/>
                </a:lnTo>
                <a:close/>
              </a:path>
              <a:path w="586105" h="251460">
                <a:moveTo>
                  <a:pt x="586007" y="125488"/>
                </a:moveTo>
                <a:lnTo>
                  <a:pt x="502292" y="125488"/>
                </a:lnTo>
                <a:lnTo>
                  <a:pt x="510859" y="126991"/>
                </a:lnTo>
                <a:lnTo>
                  <a:pt x="517465" y="131240"/>
                </a:lnTo>
                <a:lnTo>
                  <a:pt x="521716" y="137841"/>
                </a:lnTo>
                <a:lnTo>
                  <a:pt x="523220" y="146403"/>
                </a:lnTo>
                <a:lnTo>
                  <a:pt x="521716" y="154965"/>
                </a:lnTo>
                <a:lnTo>
                  <a:pt x="517465" y="161566"/>
                </a:lnTo>
                <a:lnTo>
                  <a:pt x="510859" y="165814"/>
                </a:lnTo>
                <a:lnTo>
                  <a:pt x="502292" y="167318"/>
                </a:lnTo>
                <a:lnTo>
                  <a:pt x="586007" y="167318"/>
                </a:lnTo>
                <a:lnTo>
                  <a:pt x="586007" y="125488"/>
                </a:lnTo>
                <a:close/>
              </a:path>
              <a:path w="586105" h="251460">
                <a:moveTo>
                  <a:pt x="586007" y="0"/>
                </a:moveTo>
                <a:lnTo>
                  <a:pt x="556109" y="36707"/>
                </a:lnTo>
                <a:lnTo>
                  <a:pt x="475981" y="65219"/>
                </a:lnTo>
                <a:lnTo>
                  <a:pt x="421566" y="75122"/>
                </a:lnTo>
                <a:lnTo>
                  <a:pt x="359975" y="81439"/>
                </a:lnTo>
                <a:lnTo>
                  <a:pt x="293003" y="83659"/>
                </a:lnTo>
                <a:lnTo>
                  <a:pt x="586007" y="83659"/>
                </a:lnTo>
                <a:lnTo>
                  <a:pt x="586007" y="0"/>
                </a:lnTo>
                <a:close/>
              </a:path>
            </a:pathLst>
          </a:custGeom>
          <a:solidFill>
            <a:srgbClr val="9B9B9B"/>
          </a:solidFill>
        </p:spPr>
        <p:txBody>
          <a:bodyPr wrap="square" lIns="0" tIns="0" rIns="0" bIns="0" rtlCol="0"/>
          <a:lstStyle/>
          <a:p>
            <a:endParaRPr sz="2400"/>
          </a:p>
        </p:txBody>
      </p:sp>
      <p:grpSp>
        <p:nvGrpSpPr>
          <p:cNvPr id="9" name="object 9"/>
          <p:cNvGrpSpPr/>
          <p:nvPr/>
        </p:nvGrpSpPr>
        <p:grpSpPr>
          <a:xfrm>
            <a:off x="3319272" y="1414273"/>
            <a:ext cx="2866476" cy="3101340"/>
            <a:chOff x="2489453" y="1060704"/>
            <a:chExt cx="2149857" cy="2326005"/>
          </a:xfrm>
        </p:grpSpPr>
        <p:sp>
          <p:nvSpPr>
            <p:cNvPr id="10" name="object 10"/>
            <p:cNvSpPr/>
            <p:nvPr/>
          </p:nvSpPr>
          <p:spPr>
            <a:xfrm>
              <a:off x="2910840" y="1060704"/>
              <a:ext cx="1728470" cy="2326005"/>
            </a:xfrm>
            <a:custGeom>
              <a:avLst/>
              <a:gdLst/>
              <a:ahLst/>
              <a:cxnLst/>
              <a:rect l="l" t="t" r="r" b="b"/>
              <a:pathLst>
                <a:path w="1728470" h="2326004">
                  <a:moveTo>
                    <a:pt x="0" y="288036"/>
                  </a:moveTo>
                  <a:lnTo>
                    <a:pt x="3768" y="241302"/>
                  </a:lnTo>
                  <a:lnTo>
                    <a:pt x="14679" y="196973"/>
                  </a:lnTo>
                  <a:lnTo>
                    <a:pt x="32140" y="155643"/>
                  </a:lnTo>
                  <a:lnTo>
                    <a:pt x="55558" y="117902"/>
                  </a:lnTo>
                  <a:lnTo>
                    <a:pt x="84343" y="84343"/>
                  </a:lnTo>
                  <a:lnTo>
                    <a:pt x="117902" y="55558"/>
                  </a:lnTo>
                  <a:lnTo>
                    <a:pt x="155643" y="32140"/>
                  </a:lnTo>
                  <a:lnTo>
                    <a:pt x="196973" y="14679"/>
                  </a:lnTo>
                  <a:lnTo>
                    <a:pt x="241302" y="3768"/>
                  </a:lnTo>
                  <a:lnTo>
                    <a:pt x="288036" y="0"/>
                  </a:lnTo>
                  <a:lnTo>
                    <a:pt x="1440180" y="0"/>
                  </a:lnTo>
                  <a:lnTo>
                    <a:pt x="1486913" y="3768"/>
                  </a:lnTo>
                  <a:lnTo>
                    <a:pt x="1531242" y="14679"/>
                  </a:lnTo>
                  <a:lnTo>
                    <a:pt x="1572572" y="32140"/>
                  </a:lnTo>
                  <a:lnTo>
                    <a:pt x="1610313" y="55558"/>
                  </a:lnTo>
                  <a:lnTo>
                    <a:pt x="1643872" y="84343"/>
                  </a:lnTo>
                  <a:lnTo>
                    <a:pt x="1672657" y="117902"/>
                  </a:lnTo>
                  <a:lnTo>
                    <a:pt x="1696075" y="155643"/>
                  </a:lnTo>
                  <a:lnTo>
                    <a:pt x="1713536" y="196973"/>
                  </a:lnTo>
                  <a:lnTo>
                    <a:pt x="1724447" y="241302"/>
                  </a:lnTo>
                  <a:lnTo>
                    <a:pt x="1728215" y="288036"/>
                  </a:lnTo>
                  <a:lnTo>
                    <a:pt x="1728215" y="2037588"/>
                  </a:lnTo>
                  <a:lnTo>
                    <a:pt x="1724447" y="2084321"/>
                  </a:lnTo>
                  <a:lnTo>
                    <a:pt x="1713536" y="2128650"/>
                  </a:lnTo>
                  <a:lnTo>
                    <a:pt x="1696075" y="2169980"/>
                  </a:lnTo>
                  <a:lnTo>
                    <a:pt x="1672657" y="2207721"/>
                  </a:lnTo>
                  <a:lnTo>
                    <a:pt x="1643872" y="2241280"/>
                  </a:lnTo>
                  <a:lnTo>
                    <a:pt x="1610313" y="2270065"/>
                  </a:lnTo>
                  <a:lnTo>
                    <a:pt x="1572572" y="2293483"/>
                  </a:lnTo>
                  <a:lnTo>
                    <a:pt x="1531242" y="2310944"/>
                  </a:lnTo>
                  <a:lnTo>
                    <a:pt x="1486913" y="2321855"/>
                  </a:lnTo>
                  <a:lnTo>
                    <a:pt x="1440180" y="2325624"/>
                  </a:lnTo>
                  <a:lnTo>
                    <a:pt x="288036" y="2325624"/>
                  </a:lnTo>
                  <a:lnTo>
                    <a:pt x="241302" y="2321855"/>
                  </a:lnTo>
                  <a:lnTo>
                    <a:pt x="196973" y="2310944"/>
                  </a:lnTo>
                  <a:lnTo>
                    <a:pt x="155643" y="2293483"/>
                  </a:lnTo>
                  <a:lnTo>
                    <a:pt x="117902" y="2270065"/>
                  </a:lnTo>
                  <a:lnTo>
                    <a:pt x="84343" y="2241280"/>
                  </a:lnTo>
                  <a:lnTo>
                    <a:pt x="55558" y="2207721"/>
                  </a:lnTo>
                  <a:lnTo>
                    <a:pt x="32140" y="2169980"/>
                  </a:lnTo>
                  <a:lnTo>
                    <a:pt x="14679" y="2128650"/>
                  </a:lnTo>
                  <a:lnTo>
                    <a:pt x="3768" y="2084321"/>
                  </a:lnTo>
                  <a:lnTo>
                    <a:pt x="0" y="2037588"/>
                  </a:lnTo>
                  <a:lnTo>
                    <a:pt x="0" y="288036"/>
                  </a:lnTo>
                  <a:close/>
                </a:path>
              </a:pathLst>
            </a:custGeom>
            <a:ln w="9144">
              <a:solidFill>
                <a:srgbClr val="00C3FF"/>
              </a:solidFill>
            </a:ln>
          </p:spPr>
          <p:txBody>
            <a:bodyPr wrap="square" lIns="0" tIns="0" rIns="0" bIns="0" rtlCol="0"/>
            <a:lstStyle/>
            <a:p>
              <a:endParaRPr sz="2400"/>
            </a:p>
          </p:txBody>
        </p:sp>
        <p:sp>
          <p:nvSpPr>
            <p:cNvPr id="11" name="object 11"/>
            <p:cNvSpPr/>
            <p:nvPr/>
          </p:nvSpPr>
          <p:spPr>
            <a:xfrm>
              <a:off x="2489453" y="1739646"/>
              <a:ext cx="524510" cy="167640"/>
            </a:xfrm>
            <a:custGeom>
              <a:avLst/>
              <a:gdLst/>
              <a:ahLst/>
              <a:cxnLst/>
              <a:rect l="l" t="t" r="r" b="b"/>
              <a:pathLst>
                <a:path w="524510" h="167639">
                  <a:moveTo>
                    <a:pt x="440435" y="0"/>
                  </a:moveTo>
                  <a:lnTo>
                    <a:pt x="440435" y="41909"/>
                  </a:lnTo>
                  <a:lnTo>
                    <a:pt x="0" y="41909"/>
                  </a:lnTo>
                  <a:lnTo>
                    <a:pt x="0" y="125729"/>
                  </a:lnTo>
                  <a:lnTo>
                    <a:pt x="440435" y="125729"/>
                  </a:lnTo>
                  <a:lnTo>
                    <a:pt x="440435" y="167639"/>
                  </a:lnTo>
                  <a:lnTo>
                    <a:pt x="524256" y="83819"/>
                  </a:lnTo>
                  <a:lnTo>
                    <a:pt x="440435" y="0"/>
                  </a:lnTo>
                  <a:close/>
                </a:path>
              </a:pathLst>
            </a:custGeom>
            <a:solidFill>
              <a:srgbClr val="00C3FF"/>
            </a:solidFill>
          </p:spPr>
          <p:txBody>
            <a:bodyPr wrap="square" lIns="0" tIns="0" rIns="0" bIns="0" rtlCol="0"/>
            <a:lstStyle/>
            <a:p>
              <a:endParaRPr sz="2400"/>
            </a:p>
          </p:txBody>
        </p:sp>
        <p:sp>
          <p:nvSpPr>
            <p:cNvPr id="12" name="object 12"/>
            <p:cNvSpPr/>
            <p:nvPr/>
          </p:nvSpPr>
          <p:spPr>
            <a:xfrm>
              <a:off x="2489453" y="1739646"/>
              <a:ext cx="524510" cy="167640"/>
            </a:xfrm>
            <a:custGeom>
              <a:avLst/>
              <a:gdLst/>
              <a:ahLst/>
              <a:cxnLst/>
              <a:rect l="l" t="t" r="r" b="b"/>
              <a:pathLst>
                <a:path w="524510" h="167639">
                  <a:moveTo>
                    <a:pt x="0" y="41909"/>
                  </a:moveTo>
                  <a:lnTo>
                    <a:pt x="440435" y="41909"/>
                  </a:lnTo>
                  <a:lnTo>
                    <a:pt x="440435" y="0"/>
                  </a:lnTo>
                  <a:lnTo>
                    <a:pt x="524256" y="83819"/>
                  </a:lnTo>
                  <a:lnTo>
                    <a:pt x="440435" y="167639"/>
                  </a:lnTo>
                  <a:lnTo>
                    <a:pt x="440435" y="125729"/>
                  </a:lnTo>
                  <a:lnTo>
                    <a:pt x="0" y="125729"/>
                  </a:lnTo>
                  <a:lnTo>
                    <a:pt x="0" y="41909"/>
                  </a:lnTo>
                  <a:close/>
                </a:path>
              </a:pathLst>
            </a:custGeom>
            <a:ln w="25907">
              <a:solidFill>
                <a:srgbClr val="008FBB"/>
              </a:solidFill>
            </a:ln>
          </p:spPr>
          <p:txBody>
            <a:bodyPr wrap="square" lIns="0" tIns="0" rIns="0" bIns="0" rtlCol="0"/>
            <a:lstStyle/>
            <a:p>
              <a:endParaRPr sz="2400"/>
            </a:p>
          </p:txBody>
        </p:sp>
        <p:sp>
          <p:nvSpPr>
            <p:cNvPr id="13" name="object 13"/>
            <p:cNvSpPr/>
            <p:nvPr/>
          </p:nvSpPr>
          <p:spPr>
            <a:xfrm>
              <a:off x="2489453" y="2526030"/>
              <a:ext cx="524510" cy="167640"/>
            </a:xfrm>
            <a:custGeom>
              <a:avLst/>
              <a:gdLst/>
              <a:ahLst/>
              <a:cxnLst/>
              <a:rect l="l" t="t" r="r" b="b"/>
              <a:pathLst>
                <a:path w="524510" h="167639">
                  <a:moveTo>
                    <a:pt x="440435" y="0"/>
                  </a:moveTo>
                  <a:lnTo>
                    <a:pt x="440435" y="41909"/>
                  </a:lnTo>
                  <a:lnTo>
                    <a:pt x="0" y="41909"/>
                  </a:lnTo>
                  <a:lnTo>
                    <a:pt x="0" y="125730"/>
                  </a:lnTo>
                  <a:lnTo>
                    <a:pt x="440435" y="125730"/>
                  </a:lnTo>
                  <a:lnTo>
                    <a:pt x="440435" y="167639"/>
                  </a:lnTo>
                  <a:lnTo>
                    <a:pt x="524256" y="83819"/>
                  </a:lnTo>
                  <a:lnTo>
                    <a:pt x="440435" y="0"/>
                  </a:lnTo>
                  <a:close/>
                </a:path>
              </a:pathLst>
            </a:custGeom>
            <a:solidFill>
              <a:srgbClr val="00C3FF"/>
            </a:solidFill>
          </p:spPr>
          <p:txBody>
            <a:bodyPr wrap="square" lIns="0" tIns="0" rIns="0" bIns="0" rtlCol="0"/>
            <a:lstStyle/>
            <a:p>
              <a:endParaRPr sz="2400"/>
            </a:p>
          </p:txBody>
        </p:sp>
        <p:sp>
          <p:nvSpPr>
            <p:cNvPr id="14" name="object 14"/>
            <p:cNvSpPr/>
            <p:nvPr/>
          </p:nvSpPr>
          <p:spPr>
            <a:xfrm>
              <a:off x="2489454" y="2526030"/>
              <a:ext cx="524510" cy="167640"/>
            </a:xfrm>
            <a:custGeom>
              <a:avLst/>
              <a:gdLst/>
              <a:ahLst/>
              <a:cxnLst/>
              <a:rect l="l" t="t" r="r" b="b"/>
              <a:pathLst>
                <a:path w="524510" h="167639">
                  <a:moveTo>
                    <a:pt x="0" y="41909"/>
                  </a:moveTo>
                  <a:lnTo>
                    <a:pt x="440435" y="41909"/>
                  </a:lnTo>
                  <a:lnTo>
                    <a:pt x="440435" y="0"/>
                  </a:lnTo>
                  <a:lnTo>
                    <a:pt x="524256" y="83819"/>
                  </a:lnTo>
                  <a:lnTo>
                    <a:pt x="440435" y="167639"/>
                  </a:lnTo>
                  <a:lnTo>
                    <a:pt x="440435" y="125730"/>
                  </a:lnTo>
                  <a:lnTo>
                    <a:pt x="0" y="125730"/>
                  </a:lnTo>
                  <a:lnTo>
                    <a:pt x="0" y="41909"/>
                  </a:lnTo>
                  <a:close/>
                </a:path>
              </a:pathLst>
            </a:custGeom>
            <a:ln w="25907">
              <a:solidFill>
                <a:srgbClr val="008FBB"/>
              </a:solidFill>
            </a:ln>
          </p:spPr>
          <p:txBody>
            <a:bodyPr wrap="square" lIns="0" tIns="0" rIns="0" bIns="0" rtlCol="0"/>
            <a:lstStyle/>
            <a:p>
              <a:endParaRPr sz="2400"/>
            </a:p>
          </p:txBody>
        </p:sp>
      </p:grpSp>
      <p:sp>
        <p:nvSpPr>
          <p:cNvPr id="15" name="object 15"/>
          <p:cNvSpPr txBox="1"/>
          <p:nvPr/>
        </p:nvSpPr>
        <p:spPr>
          <a:xfrm>
            <a:off x="3178047" y="1556511"/>
            <a:ext cx="953347" cy="605230"/>
          </a:xfrm>
          <a:prstGeom prst="rect">
            <a:avLst/>
          </a:prstGeom>
          <a:solidFill>
            <a:srgbClr val="00C3FF">
              <a:alpha val="50195"/>
            </a:srgbClr>
          </a:solidFill>
        </p:spPr>
        <p:txBody>
          <a:bodyPr vert="horz" wrap="square" lIns="0" tIns="30480" rIns="0" bIns="0" rtlCol="0">
            <a:spAutoFit/>
          </a:bodyPr>
          <a:lstStyle/>
          <a:p>
            <a:pPr marL="237061">
              <a:spcBef>
                <a:spcPts val="240"/>
              </a:spcBef>
            </a:pPr>
            <a:r>
              <a:rPr sz="3733" b="1" spc="-33" dirty="0">
                <a:solidFill>
                  <a:srgbClr val="FFFFFF"/>
                </a:solidFill>
                <a:latin typeface="Calibri"/>
                <a:cs typeface="Calibri"/>
              </a:rPr>
              <a:t>E</a:t>
            </a:r>
            <a:r>
              <a:rPr sz="2133" b="1" spc="-33" dirty="0">
                <a:solidFill>
                  <a:srgbClr val="7E7E7E"/>
                </a:solidFill>
                <a:latin typeface="Calibri"/>
                <a:cs typeface="Calibri"/>
              </a:rPr>
              <a:t>TL</a:t>
            </a:r>
            <a:endParaRPr sz="2133">
              <a:latin typeface="Calibri"/>
              <a:cs typeface="Calibri"/>
            </a:endParaRPr>
          </a:p>
        </p:txBody>
      </p:sp>
      <p:sp>
        <p:nvSpPr>
          <p:cNvPr id="16" name="object 16"/>
          <p:cNvSpPr txBox="1"/>
          <p:nvPr/>
        </p:nvSpPr>
        <p:spPr>
          <a:xfrm>
            <a:off x="1102157" y="4983994"/>
            <a:ext cx="141393" cy="205184"/>
          </a:xfrm>
          <a:prstGeom prst="rect">
            <a:avLst/>
          </a:prstGeom>
        </p:spPr>
        <p:txBody>
          <a:bodyPr vert="horz" wrap="square" lIns="0" tIns="0" rIns="0" bIns="0" rtlCol="0">
            <a:spAutoFit/>
          </a:bodyPr>
          <a:lstStyle/>
          <a:p>
            <a:pPr>
              <a:lnSpc>
                <a:spcPts val="1553"/>
              </a:lnSpc>
            </a:pPr>
            <a:r>
              <a:rPr sz="1400" spc="-33" dirty="0">
                <a:latin typeface="Arial MT"/>
                <a:cs typeface="Arial MT"/>
              </a:rPr>
              <a:t>id</a:t>
            </a:r>
            <a:endParaRPr sz="1400">
              <a:latin typeface="Arial MT"/>
              <a:cs typeface="Arial MT"/>
            </a:endParaRPr>
          </a:p>
        </p:txBody>
      </p:sp>
      <p:sp>
        <p:nvSpPr>
          <p:cNvPr id="17" name="object 17"/>
          <p:cNvSpPr txBox="1"/>
          <p:nvPr/>
        </p:nvSpPr>
        <p:spPr>
          <a:xfrm>
            <a:off x="1471574" y="4983994"/>
            <a:ext cx="347980" cy="205184"/>
          </a:xfrm>
          <a:prstGeom prst="rect">
            <a:avLst/>
          </a:prstGeom>
        </p:spPr>
        <p:txBody>
          <a:bodyPr vert="horz" wrap="square" lIns="0" tIns="0" rIns="0" bIns="0" rtlCol="0">
            <a:spAutoFit/>
          </a:bodyPr>
          <a:lstStyle/>
          <a:p>
            <a:pPr>
              <a:lnSpc>
                <a:spcPts val="1553"/>
              </a:lnSpc>
            </a:pPr>
            <a:r>
              <a:rPr sz="1400" spc="-27" dirty="0">
                <a:latin typeface="Arial MT"/>
                <a:cs typeface="Arial MT"/>
              </a:rPr>
              <a:t>date</a:t>
            </a:r>
            <a:endParaRPr sz="1400">
              <a:latin typeface="Arial MT"/>
              <a:cs typeface="Arial MT"/>
            </a:endParaRPr>
          </a:p>
        </p:txBody>
      </p:sp>
      <p:sp>
        <p:nvSpPr>
          <p:cNvPr id="18" name="object 18"/>
          <p:cNvSpPr txBox="1"/>
          <p:nvPr/>
        </p:nvSpPr>
        <p:spPr>
          <a:xfrm>
            <a:off x="2314786" y="4983994"/>
            <a:ext cx="596900" cy="205184"/>
          </a:xfrm>
          <a:prstGeom prst="rect">
            <a:avLst/>
          </a:prstGeom>
        </p:spPr>
        <p:txBody>
          <a:bodyPr vert="horz" wrap="square" lIns="0" tIns="0" rIns="0" bIns="0" rtlCol="0">
            <a:spAutoFit/>
          </a:bodyPr>
          <a:lstStyle/>
          <a:p>
            <a:pPr>
              <a:lnSpc>
                <a:spcPts val="1553"/>
              </a:lnSpc>
            </a:pPr>
            <a:r>
              <a:rPr sz="1400" spc="-13" dirty="0">
                <a:latin typeface="Arial MT"/>
                <a:cs typeface="Arial MT"/>
              </a:rPr>
              <a:t>product</a:t>
            </a:r>
            <a:endParaRPr sz="1400">
              <a:latin typeface="Arial MT"/>
              <a:cs typeface="Arial MT"/>
            </a:endParaRPr>
          </a:p>
        </p:txBody>
      </p:sp>
      <p:graphicFrame>
        <p:nvGraphicFramePr>
          <p:cNvPr id="19" name="object 19"/>
          <p:cNvGraphicFramePr>
            <a:graphicFrameLocks noGrp="1"/>
          </p:cNvGraphicFramePr>
          <p:nvPr>
            <p:extLst>
              <p:ext uri="{D42A27DB-BD31-4B8C-83A1-F6EECF244321}">
                <p14:modId xmlns:p14="http://schemas.microsoft.com/office/powerpoint/2010/main" val="2558618983"/>
              </p:ext>
            </p:extLst>
          </p:nvPr>
        </p:nvGraphicFramePr>
        <p:xfrm>
          <a:off x="248478" y="3619762"/>
          <a:ext cx="3307690" cy="3193395"/>
        </p:xfrm>
        <a:graphic>
          <a:graphicData uri="http://schemas.openxmlformats.org/drawingml/2006/table">
            <a:tbl>
              <a:tblPr firstRow="1" bandRow="1">
                <a:tableStyleId>{2D5ABB26-0587-4C30-8999-92F81FD0307C}</a:tableStyleId>
              </a:tblPr>
              <a:tblGrid>
                <a:gridCol w="599909">
                  <a:extLst>
                    <a:ext uri="{9D8B030D-6E8A-4147-A177-3AD203B41FA5}">
                      <a16:colId xmlns:a16="http://schemas.microsoft.com/office/drawing/2014/main" val="20000"/>
                    </a:ext>
                  </a:extLst>
                </a:gridCol>
                <a:gridCol w="744713">
                  <a:extLst>
                    <a:ext uri="{9D8B030D-6E8A-4147-A177-3AD203B41FA5}">
                      <a16:colId xmlns:a16="http://schemas.microsoft.com/office/drawing/2014/main" val="20001"/>
                    </a:ext>
                  </a:extLst>
                </a:gridCol>
                <a:gridCol w="1963068">
                  <a:extLst>
                    <a:ext uri="{9D8B030D-6E8A-4147-A177-3AD203B41FA5}">
                      <a16:colId xmlns:a16="http://schemas.microsoft.com/office/drawing/2014/main" val="20002"/>
                    </a:ext>
                  </a:extLst>
                </a:gridCol>
              </a:tblGrid>
              <a:tr h="254000">
                <a:tc>
                  <a:txBody>
                    <a:bodyPr/>
                    <a:lstStyle/>
                    <a:p>
                      <a:pPr marL="1270" algn="ctr">
                        <a:lnSpc>
                          <a:spcPct val="100000"/>
                        </a:lnSpc>
                        <a:spcBef>
                          <a:spcPts val="130"/>
                        </a:spcBef>
                      </a:pPr>
                      <a:r>
                        <a:rPr sz="1400" spc="-25" dirty="0">
                          <a:latin typeface="Arial MT"/>
                          <a:cs typeface="Arial MT"/>
                        </a:rPr>
                        <a:t>id</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130"/>
                        </a:spcBef>
                      </a:pPr>
                      <a:r>
                        <a:rPr sz="1400" spc="-20" dirty="0">
                          <a:latin typeface="Arial MT"/>
                          <a:cs typeface="Arial MT"/>
                        </a:rPr>
                        <a:t>date</a:t>
                      </a:r>
                      <a:endParaRPr sz="1400" dirty="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130"/>
                        </a:spcBef>
                      </a:pPr>
                      <a:r>
                        <a:rPr sz="1400" spc="-10" dirty="0">
                          <a:latin typeface="Arial MT"/>
                          <a:cs typeface="Arial MT"/>
                        </a:rPr>
                        <a:t>product</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0"/>
                  </a:ext>
                </a:extLst>
              </a:tr>
              <a:tr h="254000">
                <a:tc>
                  <a:txBody>
                    <a:bodyPr/>
                    <a:lstStyle/>
                    <a:p>
                      <a:pPr algn="ctr">
                        <a:lnSpc>
                          <a:spcPct val="100000"/>
                        </a:lnSpc>
                        <a:spcBef>
                          <a:spcPts val="345"/>
                        </a:spcBef>
                      </a:pPr>
                      <a:r>
                        <a:rPr sz="1100" spc="-50" dirty="0">
                          <a:latin typeface="Arial MT"/>
                          <a:cs typeface="Arial MT"/>
                        </a:rPr>
                        <a:t>1</a:t>
                      </a:r>
                      <a:endParaRPr sz="1100" dirty="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1100" spc="-10" dirty="0">
                          <a:latin typeface="Arial MT"/>
                          <a:cs typeface="Arial MT"/>
                        </a:rPr>
                        <a:t>1/2/2022</a:t>
                      </a:r>
                      <a:endParaRPr sz="11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45"/>
                        </a:spcBef>
                      </a:pPr>
                      <a:r>
                        <a:rPr sz="1100" dirty="0">
                          <a:latin typeface="Arial MT"/>
                          <a:cs typeface="Arial MT"/>
                        </a:rPr>
                        <a:t>Fulltoss</a:t>
                      </a:r>
                      <a:r>
                        <a:rPr sz="1100" spc="-20" dirty="0">
                          <a:latin typeface="Arial MT"/>
                          <a:cs typeface="Arial MT"/>
                        </a:rPr>
                        <a:t> </a:t>
                      </a:r>
                      <a:r>
                        <a:rPr sz="1100" dirty="0">
                          <a:latin typeface="Arial MT"/>
                          <a:cs typeface="Arial MT"/>
                        </a:rPr>
                        <a:t>Tangy</a:t>
                      </a:r>
                      <a:r>
                        <a:rPr sz="1100" spc="-25" dirty="0">
                          <a:latin typeface="Arial MT"/>
                          <a:cs typeface="Arial MT"/>
                        </a:rPr>
                        <a:t> </a:t>
                      </a:r>
                      <a:r>
                        <a:rPr sz="1100" spc="-10" dirty="0">
                          <a:latin typeface="Arial MT"/>
                          <a:cs typeface="Arial MT"/>
                        </a:rPr>
                        <a:t>Tomato</a:t>
                      </a:r>
                      <a:endParaRPr sz="11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97180">
                <a:tc>
                  <a:txBody>
                    <a:bodyPr/>
                    <a:lstStyle/>
                    <a:p>
                      <a:pPr algn="ctr">
                        <a:lnSpc>
                          <a:spcPct val="100000"/>
                        </a:lnSpc>
                        <a:spcBef>
                          <a:spcPts val="475"/>
                        </a:spcBef>
                      </a:pPr>
                      <a:r>
                        <a:rPr sz="1100" spc="-50" dirty="0">
                          <a:latin typeface="Arial MT"/>
                          <a:cs typeface="Arial MT"/>
                        </a:rPr>
                        <a:t>2</a:t>
                      </a:r>
                      <a:endParaRPr sz="11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75"/>
                        </a:spcBef>
                      </a:pPr>
                      <a:r>
                        <a:rPr sz="1100" spc="-10" dirty="0">
                          <a:latin typeface="Arial MT"/>
                          <a:cs typeface="Arial MT"/>
                        </a:rPr>
                        <a:t>1/2/2022</a:t>
                      </a:r>
                      <a:endParaRPr sz="1100" dirty="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400050" marR="15875" indent="-375285">
                        <a:lnSpc>
                          <a:spcPts val="830"/>
                        </a:lnSpc>
                      </a:pPr>
                      <a:endParaRPr lang="en-IN" sz="1100" dirty="0">
                        <a:latin typeface="Arial MT"/>
                        <a:cs typeface="Arial MT"/>
                      </a:endParaRPr>
                    </a:p>
                    <a:p>
                      <a:pPr marL="400050" marR="15875" indent="-375285">
                        <a:lnSpc>
                          <a:spcPts val="830"/>
                        </a:lnSpc>
                      </a:pPr>
                      <a:r>
                        <a:rPr sz="1100" dirty="0">
                          <a:latin typeface="Arial MT"/>
                          <a:cs typeface="Arial MT"/>
                        </a:rPr>
                        <a:t>Chilli</a:t>
                      </a:r>
                      <a:r>
                        <a:rPr sz="1100" spc="-40" dirty="0">
                          <a:latin typeface="Arial MT"/>
                          <a:cs typeface="Arial MT"/>
                        </a:rPr>
                        <a:t> </a:t>
                      </a:r>
                      <a:r>
                        <a:rPr sz="1100" dirty="0">
                          <a:latin typeface="Arial MT"/>
                          <a:cs typeface="Arial MT"/>
                        </a:rPr>
                        <a:t>-</a:t>
                      </a:r>
                      <a:r>
                        <a:rPr sz="1100" spc="-15" dirty="0">
                          <a:latin typeface="Arial MT"/>
                          <a:cs typeface="Arial MT"/>
                        </a:rPr>
                        <a:t> </a:t>
                      </a:r>
                      <a:r>
                        <a:rPr sz="1100" dirty="0">
                          <a:latin typeface="Arial MT"/>
                          <a:cs typeface="Arial MT"/>
                        </a:rPr>
                        <a:t>Green,</a:t>
                      </a:r>
                      <a:r>
                        <a:rPr sz="1100" spc="15" dirty="0">
                          <a:latin typeface="Arial MT"/>
                          <a:cs typeface="Arial MT"/>
                        </a:rPr>
                        <a:t> </a:t>
                      </a:r>
                      <a:r>
                        <a:rPr sz="1100" spc="-10" dirty="0">
                          <a:latin typeface="Arial MT"/>
                          <a:cs typeface="Arial MT"/>
                        </a:rPr>
                        <a:t>Organically</a:t>
                      </a:r>
                      <a:r>
                        <a:rPr sz="1100" spc="500" dirty="0">
                          <a:latin typeface="Arial MT"/>
                          <a:cs typeface="Arial MT"/>
                        </a:rPr>
                        <a:t> </a:t>
                      </a:r>
                      <a:r>
                        <a:rPr sz="1100" spc="-10" dirty="0">
                          <a:latin typeface="Arial MT"/>
                          <a:cs typeface="Arial MT"/>
                        </a:rPr>
                        <a:t>Grown</a:t>
                      </a:r>
                      <a:endParaRPr sz="11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ct val="100000"/>
                        </a:lnSpc>
                        <a:spcBef>
                          <a:spcPts val="345"/>
                        </a:spcBef>
                      </a:pPr>
                      <a:r>
                        <a:rPr sz="1100" spc="-50" dirty="0">
                          <a:latin typeface="Arial MT"/>
                          <a:cs typeface="Arial MT"/>
                        </a:rPr>
                        <a:t>3</a:t>
                      </a:r>
                      <a:endParaRPr sz="11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1100" spc="-10" dirty="0">
                          <a:latin typeface="Arial MT"/>
                          <a:cs typeface="Arial MT"/>
                        </a:rPr>
                        <a:t>1/2/2022</a:t>
                      </a:r>
                      <a:endParaRPr sz="11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45"/>
                        </a:spcBef>
                      </a:pPr>
                      <a:r>
                        <a:rPr sz="1100" dirty="0">
                          <a:latin typeface="Arial MT"/>
                          <a:cs typeface="Arial MT"/>
                        </a:rPr>
                        <a:t>Masala</a:t>
                      </a:r>
                      <a:r>
                        <a:rPr sz="1100" spc="-25" dirty="0">
                          <a:latin typeface="Arial MT"/>
                          <a:cs typeface="Arial MT"/>
                        </a:rPr>
                        <a:t> </a:t>
                      </a:r>
                      <a:r>
                        <a:rPr sz="1100" spc="-10" dirty="0">
                          <a:latin typeface="Arial MT"/>
                          <a:cs typeface="Arial MT"/>
                        </a:rPr>
                        <a:t>Powder</a:t>
                      </a:r>
                      <a:endParaRPr sz="1100" dirty="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96333">
                <a:tc>
                  <a:txBody>
                    <a:bodyPr/>
                    <a:lstStyle/>
                    <a:p>
                      <a:pPr algn="ctr">
                        <a:lnSpc>
                          <a:spcPct val="100000"/>
                        </a:lnSpc>
                        <a:spcBef>
                          <a:spcPts val="475"/>
                        </a:spcBef>
                      </a:pPr>
                      <a:r>
                        <a:rPr sz="1100" spc="-50" dirty="0">
                          <a:latin typeface="Arial MT"/>
                          <a:cs typeface="Arial MT"/>
                        </a:rPr>
                        <a:t>4</a:t>
                      </a:r>
                      <a:endParaRPr sz="11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75"/>
                        </a:spcBef>
                      </a:pPr>
                      <a:r>
                        <a:rPr sz="1100" spc="-10" dirty="0">
                          <a:latin typeface="Arial MT"/>
                          <a:cs typeface="Arial MT"/>
                        </a:rPr>
                        <a:t>1/2/2022</a:t>
                      </a:r>
                      <a:endParaRPr sz="1100" dirty="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40360" marR="201295" indent="-132715">
                        <a:lnSpc>
                          <a:spcPts val="830"/>
                        </a:lnSpc>
                      </a:pPr>
                      <a:endParaRPr lang="en-IN" sz="1100" dirty="0">
                        <a:latin typeface="Arial MT"/>
                        <a:cs typeface="Arial MT"/>
                      </a:endParaRPr>
                    </a:p>
                    <a:p>
                      <a:pPr marL="340360" marR="201295" indent="-132715">
                        <a:lnSpc>
                          <a:spcPts val="830"/>
                        </a:lnSpc>
                      </a:pPr>
                      <a:r>
                        <a:rPr sz="1100" dirty="0">
                          <a:latin typeface="Arial MT"/>
                          <a:cs typeface="Arial MT"/>
                        </a:rPr>
                        <a:t>Cheese</a:t>
                      </a:r>
                      <a:r>
                        <a:rPr sz="1100" spc="-25" dirty="0">
                          <a:latin typeface="Arial MT"/>
                          <a:cs typeface="Arial MT"/>
                        </a:rPr>
                        <a:t> </a:t>
                      </a:r>
                      <a:r>
                        <a:rPr sz="1100" spc="-10" dirty="0">
                          <a:latin typeface="Arial MT"/>
                          <a:cs typeface="Arial MT"/>
                        </a:rPr>
                        <a:t>Cracker</a:t>
                      </a:r>
                      <a:r>
                        <a:rPr sz="1100" spc="500" dirty="0">
                          <a:latin typeface="Arial MT"/>
                          <a:cs typeface="Arial MT"/>
                        </a:rPr>
                        <a:t> </a:t>
                      </a:r>
                      <a:r>
                        <a:rPr sz="1100" spc="-10" dirty="0">
                          <a:latin typeface="Arial MT"/>
                          <a:cs typeface="Arial MT"/>
                        </a:rPr>
                        <a:t>(Mcvities)</a:t>
                      </a:r>
                      <a:endParaRPr sz="11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97180">
                <a:tc>
                  <a:txBody>
                    <a:bodyPr/>
                    <a:lstStyle/>
                    <a:p>
                      <a:pPr algn="ctr">
                        <a:lnSpc>
                          <a:spcPct val="100000"/>
                        </a:lnSpc>
                        <a:spcBef>
                          <a:spcPts val="475"/>
                        </a:spcBef>
                      </a:pPr>
                      <a:r>
                        <a:rPr sz="1100" spc="-50" dirty="0">
                          <a:latin typeface="Arial MT"/>
                          <a:cs typeface="Arial MT"/>
                        </a:rPr>
                        <a:t>5</a:t>
                      </a:r>
                      <a:endParaRPr sz="11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75"/>
                        </a:spcBef>
                      </a:pPr>
                      <a:r>
                        <a:rPr sz="1100" spc="-10" dirty="0">
                          <a:latin typeface="Arial MT"/>
                          <a:cs typeface="Arial MT"/>
                        </a:rPr>
                        <a:t>1/2/2022</a:t>
                      </a:r>
                      <a:endParaRPr sz="11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424180" marR="59690" indent="-358140">
                        <a:lnSpc>
                          <a:spcPts val="830"/>
                        </a:lnSpc>
                      </a:pPr>
                      <a:endParaRPr lang="en-IN" sz="1100" dirty="0">
                        <a:latin typeface="Arial MT"/>
                        <a:cs typeface="Arial MT"/>
                      </a:endParaRPr>
                    </a:p>
                    <a:p>
                      <a:pPr marL="424180" marR="59690" indent="-358140">
                        <a:lnSpc>
                          <a:spcPts val="830"/>
                        </a:lnSpc>
                      </a:pPr>
                      <a:r>
                        <a:rPr sz="1100" dirty="0">
                          <a:latin typeface="Arial MT"/>
                          <a:cs typeface="Arial MT"/>
                        </a:rPr>
                        <a:t>Centre</a:t>
                      </a:r>
                      <a:r>
                        <a:rPr sz="1100" spc="-5" dirty="0">
                          <a:latin typeface="Arial MT"/>
                          <a:cs typeface="Arial MT"/>
                        </a:rPr>
                        <a:t> </a:t>
                      </a:r>
                      <a:r>
                        <a:rPr sz="1100" dirty="0">
                          <a:latin typeface="Arial MT"/>
                          <a:cs typeface="Arial MT"/>
                        </a:rPr>
                        <a:t>Filled</a:t>
                      </a:r>
                      <a:r>
                        <a:rPr sz="1100" spc="-35" dirty="0">
                          <a:latin typeface="Arial MT"/>
                          <a:cs typeface="Arial MT"/>
                        </a:rPr>
                        <a:t> </a:t>
                      </a:r>
                      <a:r>
                        <a:rPr sz="1100" spc="-10" dirty="0">
                          <a:latin typeface="Arial MT"/>
                          <a:cs typeface="Arial MT"/>
                        </a:rPr>
                        <a:t>Chocolate</a:t>
                      </a:r>
                      <a:r>
                        <a:rPr sz="1100" spc="500" dirty="0">
                          <a:latin typeface="Arial MT"/>
                          <a:cs typeface="Arial MT"/>
                        </a:rPr>
                        <a:t> </a:t>
                      </a:r>
                      <a:r>
                        <a:rPr sz="1100" spc="-20" dirty="0">
                          <a:latin typeface="Arial MT"/>
                          <a:cs typeface="Arial MT"/>
                        </a:rPr>
                        <a:t>Cake</a:t>
                      </a:r>
                      <a:endParaRPr sz="11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r h="237913">
                <a:tc>
                  <a:txBody>
                    <a:bodyPr/>
                    <a:lstStyle/>
                    <a:p>
                      <a:pPr algn="ctr">
                        <a:lnSpc>
                          <a:spcPct val="100000"/>
                        </a:lnSpc>
                        <a:spcBef>
                          <a:spcPts val="265"/>
                        </a:spcBef>
                      </a:pPr>
                      <a:r>
                        <a:rPr sz="1100" spc="-50" dirty="0">
                          <a:latin typeface="Arial MT"/>
                          <a:cs typeface="Arial MT"/>
                        </a:rPr>
                        <a:t>6</a:t>
                      </a:r>
                      <a:endParaRPr sz="1100">
                        <a:latin typeface="Arial MT"/>
                        <a:cs typeface="Arial MT"/>
                      </a:endParaRPr>
                    </a:p>
                  </a:txBody>
                  <a:tcPr marL="0" marR="0" marT="448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270" algn="ctr">
                        <a:lnSpc>
                          <a:spcPct val="100000"/>
                        </a:lnSpc>
                        <a:spcBef>
                          <a:spcPts val="265"/>
                        </a:spcBef>
                      </a:pPr>
                      <a:r>
                        <a:rPr sz="1100" spc="-10" dirty="0">
                          <a:latin typeface="Arial MT"/>
                          <a:cs typeface="Arial MT"/>
                        </a:rPr>
                        <a:t>1/3/2022</a:t>
                      </a:r>
                      <a:endParaRPr sz="1100">
                        <a:latin typeface="Arial MT"/>
                        <a:cs typeface="Arial MT"/>
                      </a:endParaRPr>
                    </a:p>
                  </a:txBody>
                  <a:tcPr marL="0" marR="0" marT="448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algn="ctr">
                        <a:lnSpc>
                          <a:spcPct val="100000"/>
                        </a:lnSpc>
                        <a:spcBef>
                          <a:spcPts val="265"/>
                        </a:spcBef>
                      </a:pPr>
                      <a:r>
                        <a:rPr sz="1100" dirty="0">
                          <a:latin typeface="Arial MT"/>
                          <a:cs typeface="Arial MT"/>
                        </a:rPr>
                        <a:t>Chocos</a:t>
                      </a:r>
                      <a:r>
                        <a:rPr sz="1100" spc="-15" dirty="0">
                          <a:latin typeface="Arial MT"/>
                          <a:cs typeface="Arial MT"/>
                        </a:rPr>
                        <a:t> </a:t>
                      </a:r>
                      <a:r>
                        <a:rPr sz="1100" dirty="0">
                          <a:latin typeface="Arial MT"/>
                          <a:cs typeface="Arial MT"/>
                        </a:rPr>
                        <a:t>-</a:t>
                      </a:r>
                      <a:r>
                        <a:rPr sz="1100" spc="-20" dirty="0">
                          <a:latin typeface="Arial MT"/>
                          <a:cs typeface="Arial MT"/>
                        </a:rPr>
                        <a:t> </a:t>
                      </a:r>
                      <a:r>
                        <a:rPr sz="1100" dirty="0">
                          <a:latin typeface="Arial MT"/>
                          <a:cs typeface="Arial MT"/>
                        </a:rPr>
                        <a:t>Magic</a:t>
                      </a:r>
                      <a:r>
                        <a:rPr sz="1100" spc="-5" dirty="0">
                          <a:latin typeface="Arial MT"/>
                          <a:cs typeface="Arial MT"/>
                        </a:rPr>
                        <a:t> </a:t>
                      </a:r>
                      <a:r>
                        <a:rPr sz="1100" spc="-10" dirty="0">
                          <a:latin typeface="Arial MT"/>
                          <a:cs typeface="Arial MT"/>
                        </a:rPr>
                        <a:t>Hearts</a:t>
                      </a:r>
                      <a:endParaRPr sz="1100" dirty="0">
                        <a:latin typeface="Arial MT"/>
                        <a:cs typeface="Arial MT"/>
                      </a:endParaRPr>
                    </a:p>
                  </a:txBody>
                  <a:tcPr marL="0" marR="0" marT="448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extLst>
                  <a:ext uri="{0D108BD9-81ED-4DB2-BD59-A6C34878D82A}">
                    <a16:rowId xmlns:a16="http://schemas.microsoft.com/office/drawing/2014/main" val="10006"/>
                  </a:ext>
                </a:extLst>
              </a:tr>
              <a:tr h="296333">
                <a:tc>
                  <a:txBody>
                    <a:bodyPr/>
                    <a:lstStyle/>
                    <a:p>
                      <a:pPr algn="ctr">
                        <a:lnSpc>
                          <a:spcPct val="100000"/>
                        </a:lnSpc>
                        <a:spcBef>
                          <a:spcPts val="484"/>
                        </a:spcBef>
                      </a:pPr>
                      <a:r>
                        <a:rPr sz="1100" spc="-50" dirty="0">
                          <a:latin typeface="Arial MT"/>
                          <a:cs typeface="Arial MT"/>
                        </a:rPr>
                        <a:t>7</a:t>
                      </a:r>
                      <a:endParaRPr sz="11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270" algn="ctr">
                        <a:lnSpc>
                          <a:spcPct val="100000"/>
                        </a:lnSpc>
                        <a:spcBef>
                          <a:spcPts val="484"/>
                        </a:spcBef>
                      </a:pPr>
                      <a:r>
                        <a:rPr sz="1100" spc="-10" dirty="0">
                          <a:latin typeface="Arial MT"/>
                          <a:cs typeface="Arial MT"/>
                        </a:rPr>
                        <a:t>1/3/2022</a:t>
                      </a:r>
                      <a:endParaRPr sz="11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314325" marR="217804" indent="-90170">
                        <a:lnSpc>
                          <a:spcPct val="100000"/>
                        </a:lnSpc>
                      </a:pPr>
                      <a:r>
                        <a:rPr sz="1100" dirty="0">
                          <a:latin typeface="Arial MT"/>
                          <a:cs typeface="Arial MT"/>
                        </a:rPr>
                        <a:t>Chocos Webs</a:t>
                      </a:r>
                      <a:r>
                        <a:rPr sz="1100" spc="-40" dirty="0">
                          <a:latin typeface="Arial MT"/>
                          <a:cs typeface="Arial MT"/>
                        </a:rPr>
                        <a:t> </a:t>
                      </a:r>
                      <a:r>
                        <a:rPr sz="1100" spc="-50" dirty="0">
                          <a:latin typeface="Arial MT"/>
                          <a:cs typeface="Arial MT"/>
                        </a:rPr>
                        <a:t>-</a:t>
                      </a:r>
                      <a:r>
                        <a:rPr sz="1100" spc="500" dirty="0">
                          <a:latin typeface="Arial MT"/>
                          <a:cs typeface="Arial MT"/>
                        </a:rPr>
                        <a:t> </a:t>
                      </a:r>
                      <a:r>
                        <a:rPr sz="1100" spc="-10" dirty="0">
                          <a:latin typeface="Arial MT"/>
                          <a:cs typeface="Arial MT"/>
                        </a:rPr>
                        <a:t>Spiderman</a:t>
                      </a:r>
                      <a:endParaRPr sz="11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extLst>
                  <a:ext uri="{0D108BD9-81ED-4DB2-BD59-A6C34878D82A}">
                    <a16:rowId xmlns:a16="http://schemas.microsoft.com/office/drawing/2014/main" val="10007"/>
                  </a:ext>
                </a:extLst>
              </a:tr>
              <a:tr h="297180">
                <a:tc>
                  <a:txBody>
                    <a:bodyPr/>
                    <a:lstStyle/>
                    <a:p>
                      <a:pPr algn="ctr">
                        <a:lnSpc>
                          <a:spcPct val="100000"/>
                        </a:lnSpc>
                        <a:spcBef>
                          <a:spcPts val="484"/>
                        </a:spcBef>
                      </a:pPr>
                      <a:r>
                        <a:rPr sz="1100" spc="-50" dirty="0">
                          <a:latin typeface="Arial MT"/>
                          <a:cs typeface="Arial MT"/>
                        </a:rPr>
                        <a:t>8</a:t>
                      </a:r>
                      <a:endParaRPr sz="11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270" algn="ctr">
                        <a:lnSpc>
                          <a:spcPct val="100000"/>
                        </a:lnSpc>
                        <a:spcBef>
                          <a:spcPts val="484"/>
                        </a:spcBef>
                      </a:pPr>
                      <a:r>
                        <a:rPr sz="1100" spc="-10" dirty="0">
                          <a:latin typeface="Arial MT"/>
                          <a:cs typeface="Arial MT"/>
                        </a:rPr>
                        <a:t>1/3/2022</a:t>
                      </a:r>
                      <a:endParaRPr sz="11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330200" marR="163195" indent="-160020">
                        <a:lnSpc>
                          <a:spcPct val="100000"/>
                        </a:lnSpc>
                      </a:pPr>
                      <a:r>
                        <a:rPr sz="1100" dirty="0">
                          <a:latin typeface="Arial MT"/>
                          <a:cs typeface="Arial MT"/>
                        </a:rPr>
                        <a:t>Breakfast</a:t>
                      </a:r>
                      <a:r>
                        <a:rPr sz="1100" spc="-20" dirty="0">
                          <a:latin typeface="Arial MT"/>
                          <a:cs typeface="Arial MT"/>
                        </a:rPr>
                        <a:t> </a:t>
                      </a:r>
                      <a:r>
                        <a:rPr sz="1100" dirty="0">
                          <a:latin typeface="Arial MT"/>
                          <a:cs typeface="Arial MT"/>
                        </a:rPr>
                        <a:t>Cereal</a:t>
                      </a:r>
                      <a:r>
                        <a:rPr sz="1100" spc="-35" dirty="0">
                          <a:latin typeface="Arial MT"/>
                          <a:cs typeface="Arial MT"/>
                        </a:rPr>
                        <a:t> </a:t>
                      </a:r>
                      <a:r>
                        <a:rPr sz="1100" spc="-50" dirty="0">
                          <a:latin typeface="Arial MT"/>
                          <a:cs typeface="Arial MT"/>
                        </a:rPr>
                        <a:t>-</a:t>
                      </a:r>
                      <a:r>
                        <a:rPr sz="1100" spc="500" dirty="0">
                          <a:latin typeface="Arial MT"/>
                          <a:cs typeface="Arial MT"/>
                        </a:rPr>
                        <a:t> </a:t>
                      </a:r>
                      <a:r>
                        <a:rPr sz="1100" spc="-10" dirty="0">
                          <a:latin typeface="Arial MT"/>
                          <a:cs typeface="Arial MT"/>
                        </a:rPr>
                        <a:t>Chocolate</a:t>
                      </a:r>
                      <a:endParaRPr sz="11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extLst>
                  <a:ext uri="{0D108BD9-81ED-4DB2-BD59-A6C34878D82A}">
                    <a16:rowId xmlns:a16="http://schemas.microsoft.com/office/drawing/2014/main" val="10008"/>
                  </a:ext>
                </a:extLst>
              </a:tr>
              <a:tr h="254000">
                <a:tc>
                  <a:txBody>
                    <a:bodyPr/>
                    <a:lstStyle/>
                    <a:p>
                      <a:pPr algn="ctr">
                        <a:lnSpc>
                          <a:spcPct val="100000"/>
                        </a:lnSpc>
                        <a:spcBef>
                          <a:spcPts val="360"/>
                        </a:spcBef>
                      </a:pPr>
                      <a:r>
                        <a:rPr sz="1100" spc="-50" dirty="0">
                          <a:latin typeface="Arial MT"/>
                          <a:cs typeface="Arial MT"/>
                        </a:rPr>
                        <a:t>9</a:t>
                      </a:r>
                      <a:endParaRPr sz="1100">
                        <a:latin typeface="Arial MT"/>
                        <a:cs typeface="Arial MT"/>
                      </a:endParaRPr>
                    </a:p>
                  </a:txBody>
                  <a:tcPr marL="0" marR="0" marT="609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270" algn="ctr">
                        <a:lnSpc>
                          <a:spcPct val="100000"/>
                        </a:lnSpc>
                        <a:spcBef>
                          <a:spcPts val="360"/>
                        </a:spcBef>
                      </a:pPr>
                      <a:r>
                        <a:rPr sz="1100" spc="-10" dirty="0">
                          <a:latin typeface="Arial MT"/>
                          <a:cs typeface="Arial MT"/>
                        </a:rPr>
                        <a:t>1/3/2022</a:t>
                      </a:r>
                      <a:endParaRPr sz="1100">
                        <a:latin typeface="Arial MT"/>
                        <a:cs typeface="Arial MT"/>
                      </a:endParaRPr>
                    </a:p>
                  </a:txBody>
                  <a:tcPr marL="0" marR="0" marT="609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algn="ctr">
                        <a:lnSpc>
                          <a:spcPct val="100000"/>
                        </a:lnSpc>
                        <a:spcBef>
                          <a:spcPts val="360"/>
                        </a:spcBef>
                      </a:pPr>
                      <a:r>
                        <a:rPr sz="1100" dirty="0">
                          <a:latin typeface="Arial MT"/>
                          <a:cs typeface="Arial MT"/>
                        </a:rPr>
                        <a:t>Fiber</a:t>
                      </a:r>
                      <a:r>
                        <a:rPr sz="1100" spc="-10" dirty="0">
                          <a:latin typeface="Arial MT"/>
                          <a:cs typeface="Arial MT"/>
                        </a:rPr>
                        <a:t> </a:t>
                      </a:r>
                      <a:r>
                        <a:rPr sz="1100" dirty="0">
                          <a:latin typeface="Arial MT"/>
                          <a:cs typeface="Arial MT"/>
                        </a:rPr>
                        <a:t>Rich</a:t>
                      </a:r>
                      <a:r>
                        <a:rPr sz="1100" spc="-25" dirty="0">
                          <a:latin typeface="Arial MT"/>
                          <a:cs typeface="Arial MT"/>
                        </a:rPr>
                        <a:t> </a:t>
                      </a:r>
                      <a:r>
                        <a:rPr sz="1100" spc="-10" dirty="0">
                          <a:latin typeface="Arial MT"/>
                          <a:cs typeface="Arial MT"/>
                        </a:rPr>
                        <a:t>Chocolate</a:t>
                      </a:r>
                      <a:endParaRPr sz="1100" dirty="0">
                        <a:latin typeface="Arial MT"/>
                        <a:cs typeface="Arial MT"/>
                      </a:endParaRPr>
                    </a:p>
                  </a:txBody>
                  <a:tcPr marL="0" marR="0" marT="609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extLst>
                  <a:ext uri="{0D108BD9-81ED-4DB2-BD59-A6C34878D82A}">
                    <a16:rowId xmlns:a16="http://schemas.microsoft.com/office/drawing/2014/main" val="10009"/>
                  </a:ext>
                </a:extLst>
              </a:tr>
              <a:tr h="296333">
                <a:tc>
                  <a:txBody>
                    <a:bodyPr/>
                    <a:lstStyle/>
                    <a:p>
                      <a:pPr algn="ctr">
                        <a:lnSpc>
                          <a:spcPct val="100000"/>
                        </a:lnSpc>
                        <a:spcBef>
                          <a:spcPts val="490"/>
                        </a:spcBef>
                      </a:pPr>
                      <a:r>
                        <a:rPr sz="1100" spc="-25" dirty="0">
                          <a:latin typeface="Arial MT"/>
                          <a:cs typeface="Arial MT"/>
                        </a:rPr>
                        <a:t>10</a:t>
                      </a:r>
                      <a:endParaRPr sz="1100">
                        <a:latin typeface="Arial MT"/>
                        <a:cs typeface="Arial MT"/>
                      </a:endParaRPr>
                    </a:p>
                  </a:txBody>
                  <a:tcPr marL="0" marR="0" marT="829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270" algn="ctr">
                        <a:lnSpc>
                          <a:spcPct val="100000"/>
                        </a:lnSpc>
                        <a:spcBef>
                          <a:spcPts val="490"/>
                        </a:spcBef>
                      </a:pPr>
                      <a:r>
                        <a:rPr sz="1100" spc="-10" dirty="0">
                          <a:latin typeface="Arial MT"/>
                          <a:cs typeface="Arial MT"/>
                        </a:rPr>
                        <a:t>1/3/2022</a:t>
                      </a:r>
                      <a:endParaRPr sz="1100">
                        <a:latin typeface="Arial MT"/>
                        <a:cs typeface="Arial MT"/>
                      </a:endParaRPr>
                    </a:p>
                  </a:txBody>
                  <a:tcPr marL="0" marR="0" marT="829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424180" marR="59690" indent="-358140">
                        <a:lnSpc>
                          <a:spcPct val="100000"/>
                        </a:lnSpc>
                      </a:pPr>
                      <a:r>
                        <a:rPr sz="1100" dirty="0">
                          <a:latin typeface="Arial MT"/>
                          <a:cs typeface="Arial MT"/>
                        </a:rPr>
                        <a:t>Centre</a:t>
                      </a:r>
                      <a:r>
                        <a:rPr sz="1100" spc="-5" dirty="0">
                          <a:latin typeface="Arial MT"/>
                          <a:cs typeface="Arial MT"/>
                        </a:rPr>
                        <a:t> </a:t>
                      </a:r>
                      <a:r>
                        <a:rPr sz="1100" dirty="0">
                          <a:latin typeface="Arial MT"/>
                          <a:cs typeface="Arial MT"/>
                        </a:rPr>
                        <a:t>Filled</a:t>
                      </a:r>
                      <a:r>
                        <a:rPr sz="1100" spc="-35" dirty="0">
                          <a:latin typeface="Arial MT"/>
                          <a:cs typeface="Arial MT"/>
                        </a:rPr>
                        <a:t> </a:t>
                      </a:r>
                      <a:r>
                        <a:rPr sz="1100" spc="-10" dirty="0">
                          <a:latin typeface="Arial MT"/>
                          <a:cs typeface="Arial MT"/>
                        </a:rPr>
                        <a:t>Chocolate</a:t>
                      </a:r>
                      <a:r>
                        <a:rPr sz="1100" spc="500" dirty="0">
                          <a:latin typeface="Arial MT"/>
                          <a:cs typeface="Arial MT"/>
                        </a:rPr>
                        <a:t> </a:t>
                      </a:r>
                      <a:r>
                        <a:rPr sz="1100" spc="-20" dirty="0">
                          <a:latin typeface="Arial MT"/>
                          <a:cs typeface="Arial MT"/>
                        </a:rPr>
                        <a:t>Cake</a:t>
                      </a:r>
                      <a:endParaRPr sz="11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extLst>
                  <a:ext uri="{0D108BD9-81ED-4DB2-BD59-A6C34878D82A}">
                    <a16:rowId xmlns:a16="http://schemas.microsoft.com/office/drawing/2014/main" val="10010"/>
                  </a:ext>
                </a:extLst>
              </a:tr>
            </a:tbl>
          </a:graphicData>
        </a:graphic>
      </p:graphicFrame>
      <p:grpSp>
        <p:nvGrpSpPr>
          <p:cNvPr id="20" name="object 20"/>
          <p:cNvGrpSpPr/>
          <p:nvPr/>
        </p:nvGrpSpPr>
        <p:grpSpPr>
          <a:xfrm>
            <a:off x="6352031" y="2852928"/>
            <a:ext cx="734060" cy="258233"/>
            <a:chOff x="4764023" y="2139695"/>
            <a:chExt cx="550545" cy="193675"/>
          </a:xfrm>
        </p:grpSpPr>
        <p:sp>
          <p:nvSpPr>
            <p:cNvPr id="21" name="object 21"/>
            <p:cNvSpPr/>
            <p:nvPr/>
          </p:nvSpPr>
          <p:spPr>
            <a:xfrm>
              <a:off x="4776977" y="2152649"/>
              <a:ext cx="524510" cy="167640"/>
            </a:xfrm>
            <a:custGeom>
              <a:avLst/>
              <a:gdLst/>
              <a:ahLst/>
              <a:cxnLst/>
              <a:rect l="l" t="t" r="r" b="b"/>
              <a:pathLst>
                <a:path w="524510" h="167639">
                  <a:moveTo>
                    <a:pt x="440436" y="0"/>
                  </a:moveTo>
                  <a:lnTo>
                    <a:pt x="440436" y="41910"/>
                  </a:lnTo>
                  <a:lnTo>
                    <a:pt x="0" y="41910"/>
                  </a:lnTo>
                  <a:lnTo>
                    <a:pt x="0" y="125730"/>
                  </a:lnTo>
                  <a:lnTo>
                    <a:pt x="440436" y="125730"/>
                  </a:lnTo>
                  <a:lnTo>
                    <a:pt x="440436" y="167639"/>
                  </a:lnTo>
                  <a:lnTo>
                    <a:pt x="524256" y="83819"/>
                  </a:lnTo>
                  <a:lnTo>
                    <a:pt x="440436" y="0"/>
                  </a:lnTo>
                  <a:close/>
                </a:path>
              </a:pathLst>
            </a:custGeom>
            <a:solidFill>
              <a:srgbClr val="00C3FF"/>
            </a:solidFill>
          </p:spPr>
          <p:txBody>
            <a:bodyPr wrap="square" lIns="0" tIns="0" rIns="0" bIns="0" rtlCol="0"/>
            <a:lstStyle/>
            <a:p>
              <a:endParaRPr sz="2400"/>
            </a:p>
          </p:txBody>
        </p:sp>
        <p:sp>
          <p:nvSpPr>
            <p:cNvPr id="22" name="object 22"/>
            <p:cNvSpPr/>
            <p:nvPr/>
          </p:nvSpPr>
          <p:spPr>
            <a:xfrm>
              <a:off x="4776977" y="2152649"/>
              <a:ext cx="524510" cy="167640"/>
            </a:xfrm>
            <a:custGeom>
              <a:avLst/>
              <a:gdLst/>
              <a:ahLst/>
              <a:cxnLst/>
              <a:rect l="l" t="t" r="r" b="b"/>
              <a:pathLst>
                <a:path w="524510" h="167639">
                  <a:moveTo>
                    <a:pt x="0" y="41910"/>
                  </a:moveTo>
                  <a:lnTo>
                    <a:pt x="440436" y="41910"/>
                  </a:lnTo>
                  <a:lnTo>
                    <a:pt x="440436" y="0"/>
                  </a:lnTo>
                  <a:lnTo>
                    <a:pt x="524256" y="83819"/>
                  </a:lnTo>
                  <a:lnTo>
                    <a:pt x="440436" y="167639"/>
                  </a:lnTo>
                  <a:lnTo>
                    <a:pt x="440436" y="125730"/>
                  </a:lnTo>
                  <a:lnTo>
                    <a:pt x="0" y="125730"/>
                  </a:lnTo>
                  <a:lnTo>
                    <a:pt x="0" y="41910"/>
                  </a:lnTo>
                  <a:close/>
                </a:path>
              </a:pathLst>
            </a:custGeom>
            <a:ln w="25907">
              <a:solidFill>
                <a:srgbClr val="008FBB"/>
              </a:solidFill>
            </a:ln>
          </p:spPr>
          <p:txBody>
            <a:bodyPr wrap="square" lIns="0" tIns="0" rIns="0" bIns="0" rtlCol="0"/>
            <a:lstStyle/>
            <a:p>
              <a:endParaRPr sz="2400"/>
            </a:p>
          </p:txBody>
        </p:sp>
      </p:grpSp>
      <p:graphicFrame>
        <p:nvGraphicFramePr>
          <p:cNvPr id="23" name="object 23"/>
          <p:cNvGraphicFramePr>
            <a:graphicFrameLocks noGrp="1"/>
          </p:cNvGraphicFramePr>
          <p:nvPr>
            <p:extLst>
              <p:ext uri="{D42A27DB-BD31-4B8C-83A1-F6EECF244321}">
                <p14:modId xmlns:p14="http://schemas.microsoft.com/office/powerpoint/2010/main" val="3645563942"/>
              </p:ext>
            </p:extLst>
          </p:nvPr>
        </p:nvGraphicFramePr>
        <p:xfrm>
          <a:off x="7558767" y="1357997"/>
          <a:ext cx="4611662" cy="3517035"/>
        </p:xfrm>
        <a:graphic>
          <a:graphicData uri="http://schemas.openxmlformats.org/drawingml/2006/table">
            <a:tbl>
              <a:tblPr firstRow="1" bandRow="1">
                <a:tableStyleId>{2D5ABB26-0587-4C30-8999-92F81FD0307C}</a:tableStyleId>
              </a:tblPr>
              <a:tblGrid>
                <a:gridCol w="243301">
                  <a:extLst>
                    <a:ext uri="{9D8B030D-6E8A-4147-A177-3AD203B41FA5}">
                      <a16:colId xmlns:a16="http://schemas.microsoft.com/office/drawing/2014/main" val="20000"/>
                    </a:ext>
                  </a:extLst>
                </a:gridCol>
                <a:gridCol w="654499">
                  <a:extLst>
                    <a:ext uri="{9D8B030D-6E8A-4147-A177-3AD203B41FA5}">
                      <a16:colId xmlns:a16="http://schemas.microsoft.com/office/drawing/2014/main" val="20001"/>
                    </a:ext>
                  </a:extLst>
                </a:gridCol>
                <a:gridCol w="1810917">
                  <a:extLst>
                    <a:ext uri="{9D8B030D-6E8A-4147-A177-3AD203B41FA5}">
                      <a16:colId xmlns:a16="http://schemas.microsoft.com/office/drawing/2014/main" val="20002"/>
                    </a:ext>
                  </a:extLst>
                </a:gridCol>
                <a:gridCol w="1043608">
                  <a:extLst>
                    <a:ext uri="{9D8B030D-6E8A-4147-A177-3AD203B41FA5}">
                      <a16:colId xmlns:a16="http://schemas.microsoft.com/office/drawing/2014/main" val="20003"/>
                    </a:ext>
                  </a:extLst>
                </a:gridCol>
                <a:gridCol w="859337">
                  <a:extLst>
                    <a:ext uri="{9D8B030D-6E8A-4147-A177-3AD203B41FA5}">
                      <a16:colId xmlns:a16="http://schemas.microsoft.com/office/drawing/2014/main" val="20004"/>
                    </a:ext>
                  </a:extLst>
                </a:gridCol>
              </a:tblGrid>
              <a:tr h="277540">
                <a:tc>
                  <a:txBody>
                    <a:bodyPr/>
                    <a:lstStyle/>
                    <a:p>
                      <a:pPr marR="19685" algn="ctr">
                        <a:lnSpc>
                          <a:spcPct val="100000"/>
                        </a:lnSpc>
                        <a:spcBef>
                          <a:spcPts val="130"/>
                        </a:spcBef>
                      </a:pPr>
                      <a:r>
                        <a:rPr sz="1400" spc="-25" dirty="0">
                          <a:latin typeface="Arial MT"/>
                          <a:cs typeface="Arial MT"/>
                        </a:rPr>
                        <a:t>id</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0160">
                        <a:lnSpc>
                          <a:spcPct val="100000"/>
                        </a:lnSpc>
                        <a:spcBef>
                          <a:spcPts val="130"/>
                        </a:spcBef>
                      </a:pPr>
                      <a:r>
                        <a:rPr sz="1400" spc="-20" dirty="0">
                          <a:latin typeface="Arial MT"/>
                          <a:cs typeface="Arial MT"/>
                        </a:rPr>
                        <a:t>date</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0160">
                        <a:lnSpc>
                          <a:spcPct val="100000"/>
                        </a:lnSpc>
                        <a:spcBef>
                          <a:spcPts val="130"/>
                        </a:spcBef>
                      </a:pPr>
                      <a:r>
                        <a:rPr sz="1400" spc="-10" dirty="0">
                          <a:latin typeface="Arial MT"/>
                          <a:cs typeface="Arial MT"/>
                        </a:rPr>
                        <a:t>product</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R="77470" algn="ctr">
                        <a:lnSpc>
                          <a:spcPct val="100000"/>
                        </a:lnSpc>
                        <a:spcBef>
                          <a:spcPts val="130"/>
                        </a:spcBef>
                      </a:pPr>
                      <a:r>
                        <a:rPr sz="1400" spc="-10" dirty="0">
                          <a:latin typeface="Arial MT"/>
                          <a:cs typeface="Arial MT"/>
                        </a:rPr>
                        <a:t>customer_id</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0160">
                        <a:lnSpc>
                          <a:spcPct val="100000"/>
                        </a:lnSpc>
                        <a:spcBef>
                          <a:spcPts val="130"/>
                        </a:spcBef>
                      </a:pPr>
                      <a:r>
                        <a:rPr sz="1400" spc="-10" dirty="0">
                          <a:latin typeface="Arial MT"/>
                          <a:cs typeface="Arial MT"/>
                        </a:rPr>
                        <a:t>store_id</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0"/>
                  </a:ext>
                </a:extLst>
              </a:tr>
              <a:tr h="323797">
                <a:tc>
                  <a:txBody>
                    <a:bodyPr/>
                    <a:lstStyle/>
                    <a:p>
                      <a:pPr marL="1270" algn="ctr">
                        <a:lnSpc>
                          <a:spcPct val="100000"/>
                        </a:lnSpc>
                        <a:spcBef>
                          <a:spcPts val="470"/>
                        </a:spcBef>
                      </a:pPr>
                      <a:r>
                        <a:rPr sz="1100" spc="-50" dirty="0">
                          <a:latin typeface="Arial MT"/>
                          <a:cs typeface="Arial MT"/>
                        </a:rPr>
                        <a:t>1</a:t>
                      </a:r>
                      <a:endParaRPr sz="1100" dirty="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6195">
                        <a:lnSpc>
                          <a:spcPct val="100000"/>
                        </a:lnSpc>
                        <a:spcBef>
                          <a:spcPts val="470"/>
                        </a:spcBef>
                      </a:pPr>
                      <a:r>
                        <a:rPr sz="1100" spc="-10" dirty="0">
                          <a:latin typeface="Arial MT"/>
                          <a:cs typeface="Arial MT"/>
                        </a:rPr>
                        <a:t>1/2/2022</a:t>
                      </a:r>
                      <a:endParaRPr sz="1100" dirty="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69240" marR="120014" indent="-135890">
                        <a:lnSpc>
                          <a:spcPts val="830"/>
                        </a:lnSpc>
                      </a:pPr>
                      <a:r>
                        <a:rPr sz="1100" dirty="0">
                          <a:latin typeface="Arial MT"/>
                          <a:cs typeface="Arial MT"/>
                        </a:rPr>
                        <a:t>Fulltoss</a:t>
                      </a:r>
                      <a:r>
                        <a:rPr sz="1100" spc="-25" dirty="0">
                          <a:latin typeface="Arial MT"/>
                          <a:cs typeface="Arial MT"/>
                        </a:rPr>
                        <a:t> </a:t>
                      </a:r>
                      <a:r>
                        <a:rPr sz="1100" spc="-10" dirty="0">
                          <a:latin typeface="Arial MT"/>
                          <a:cs typeface="Arial MT"/>
                        </a:rPr>
                        <a:t>Tangy</a:t>
                      </a:r>
                      <a:r>
                        <a:rPr sz="1100" spc="500" dirty="0">
                          <a:latin typeface="Arial MT"/>
                          <a:cs typeface="Arial MT"/>
                        </a:rPr>
                        <a:t> </a:t>
                      </a:r>
                      <a:r>
                        <a:rPr sz="1100" spc="-10" dirty="0">
                          <a:latin typeface="Arial MT"/>
                          <a:cs typeface="Arial MT"/>
                        </a:rPr>
                        <a:t>Tomato</a:t>
                      </a:r>
                      <a:endParaRPr sz="11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445"/>
                        </a:spcBef>
                      </a:pPr>
                      <a:r>
                        <a:rPr sz="1100" spc="-50" dirty="0">
                          <a:latin typeface="Calibri"/>
                          <a:cs typeface="Calibri"/>
                        </a:rPr>
                        <a:t>2</a:t>
                      </a:r>
                      <a:endParaRPr sz="11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45"/>
                        </a:spcBef>
                      </a:pPr>
                      <a:r>
                        <a:rPr sz="1100" spc="-50" dirty="0">
                          <a:latin typeface="Calibri"/>
                          <a:cs typeface="Calibri"/>
                        </a:rPr>
                        <a:t>2</a:t>
                      </a:r>
                      <a:endParaRPr sz="11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323797">
                <a:tc>
                  <a:txBody>
                    <a:bodyPr/>
                    <a:lstStyle/>
                    <a:p>
                      <a:pPr marL="1270" algn="ctr">
                        <a:lnSpc>
                          <a:spcPct val="100000"/>
                        </a:lnSpc>
                        <a:spcBef>
                          <a:spcPts val="470"/>
                        </a:spcBef>
                      </a:pPr>
                      <a:r>
                        <a:rPr sz="1100" spc="-50" dirty="0">
                          <a:latin typeface="Arial MT"/>
                          <a:cs typeface="Arial MT"/>
                        </a:rPr>
                        <a:t>2</a:t>
                      </a:r>
                      <a:endParaRPr sz="11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6195">
                        <a:lnSpc>
                          <a:spcPct val="100000"/>
                        </a:lnSpc>
                        <a:spcBef>
                          <a:spcPts val="470"/>
                        </a:spcBef>
                      </a:pPr>
                      <a:r>
                        <a:rPr sz="1100" spc="-10" dirty="0">
                          <a:latin typeface="Arial MT"/>
                          <a:cs typeface="Arial MT"/>
                        </a:rPr>
                        <a:t>1/2/2022</a:t>
                      </a:r>
                      <a:endParaRPr sz="1100" dirty="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835"/>
                        </a:lnSpc>
                        <a:spcBef>
                          <a:spcPts val="60"/>
                        </a:spcBef>
                      </a:pPr>
                      <a:r>
                        <a:rPr sz="1100" dirty="0">
                          <a:latin typeface="Arial MT"/>
                          <a:cs typeface="Arial MT"/>
                        </a:rPr>
                        <a:t>Chilli</a:t>
                      </a:r>
                      <a:r>
                        <a:rPr sz="1100" spc="-20" dirty="0">
                          <a:latin typeface="Arial MT"/>
                          <a:cs typeface="Arial MT"/>
                        </a:rPr>
                        <a:t> </a:t>
                      </a:r>
                      <a:r>
                        <a:rPr sz="1100" dirty="0">
                          <a:latin typeface="Arial MT"/>
                          <a:cs typeface="Arial MT"/>
                        </a:rPr>
                        <a:t>- </a:t>
                      </a:r>
                      <a:r>
                        <a:rPr sz="1100" spc="-10" dirty="0">
                          <a:latin typeface="Arial MT"/>
                          <a:cs typeface="Arial MT"/>
                        </a:rPr>
                        <a:t>Green,</a:t>
                      </a:r>
                      <a:endParaRPr sz="1100" dirty="0">
                        <a:latin typeface="Arial MT"/>
                        <a:cs typeface="Arial MT"/>
                      </a:endParaRPr>
                    </a:p>
                    <a:p>
                      <a:pPr marL="3810" algn="ctr">
                        <a:lnSpc>
                          <a:spcPts val="760"/>
                        </a:lnSpc>
                      </a:pPr>
                      <a:r>
                        <a:rPr sz="1100" dirty="0">
                          <a:latin typeface="Arial MT"/>
                          <a:cs typeface="Arial MT"/>
                        </a:rPr>
                        <a:t>Organically</a:t>
                      </a:r>
                      <a:r>
                        <a:rPr sz="1100" spc="-30" dirty="0">
                          <a:latin typeface="Arial MT"/>
                          <a:cs typeface="Arial MT"/>
                        </a:rPr>
                        <a:t> </a:t>
                      </a:r>
                      <a:r>
                        <a:rPr sz="1100" spc="-10" dirty="0">
                          <a:latin typeface="Arial MT"/>
                          <a:cs typeface="Arial MT"/>
                        </a:rPr>
                        <a:t>Grown</a:t>
                      </a:r>
                      <a:endParaRPr sz="1100" dirty="0">
                        <a:latin typeface="Arial MT"/>
                        <a:cs typeface="Arial MT"/>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445"/>
                        </a:spcBef>
                      </a:pPr>
                      <a:r>
                        <a:rPr sz="1100" spc="-50" dirty="0">
                          <a:latin typeface="Calibri"/>
                          <a:cs typeface="Calibri"/>
                        </a:rPr>
                        <a:t>4</a:t>
                      </a:r>
                      <a:endParaRPr sz="11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45"/>
                        </a:spcBef>
                      </a:pPr>
                      <a:r>
                        <a:rPr sz="1100" spc="-50" dirty="0">
                          <a:latin typeface="Calibri"/>
                          <a:cs typeface="Calibri"/>
                        </a:rPr>
                        <a:t>4</a:t>
                      </a:r>
                      <a:endParaRPr sz="11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77540">
                <a:tc>
                  <a:txBody>
                    <a:bodyPr/>
                    <a:lstStyle/>
                    <a:p>
                      <a:pPr marL="1270" algn="ctr">
                        <a:lnSpc>
                          <a:spcPct val="100000"/>
                        </a:lnSpc>
                        <a:spcBef>
                          <a:spcPts val="345"/>
                        </a:spcBef>
                      </a:pPr>
                      <a:r>
                        <a:rPr sz="1100" spc="-50" dirty="0">
                          <a:latin typeface="Arial MT"/>
                          <a:cs typeface="Arial MT"/>
                        </a:rPr>
                        <a:t>3</a:t>
                      </a:r>
                      <a:endParaRPr sz="11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6195">
                        <a:lnSpc>
                          <a:spcPct val="100000"/>
                        </a:lnSpc>
                        <a:spcBef>
                          <a:spcPts val="345"/>
                        </a:spcBef>
                      </a:pPr>
                      <a:r>
                        <a:rPr sz="1100" spc="-10" dirty="0">
                          <a:latin typeface="Arial MT"/>
                          <a:cs typeface="Arial MT"/>
                        </a:rPr>
                        <a:t>1/2/2022</a:t>
                      </a:r>
                      <a:endParaRPr sz="11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15570">
                        <a:lnSpc>
                          <a:spcPct val="100000"/>
                        </a:lnSpc>
                        <a:spcBef>
                          <a:spcPts val="345"/>
                        </a:spcBef>
                      </a:pPr>
                      <a:r>
                        <a:rPr sz="1100" dirty="0">
                          <a:latin typeface="Arial MT"/>
                          <a:cs typeface="Arial MT"/>
                        </a:rPr>
                        <a:t>Masala</a:t>
                      </a:r>
                      <a:r>
                        <a:rPr sz="1100" spc="-35" dirty="0">
                          <a:latin typeface="Arial MT"/>
                          <a:cs typeface="Arial MT"/>
                        </a:rPr>
                        <a:t> </a:t>
                      </a:r>
                      <a:r>
                        <a:rPr sz="1100" spc="-10" dirty="0">
                          <a:latin typeface="Arial MT"/>
                          <a:cs typeface="Arial MT"/>
                        </a:rPr>
                        <a:t>Powder</a:t>
                      </a:r>
                      <a:endParaRPr sz="1100" dirty="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320"/>
                        </a:spcBef>
                      </a:pPr>
                      <a:r>
                        <a:rPr sz="1100" spc="-50" dirty="0">
                          <a:latin typeface="Calibri"/>
                          <a:cs typeface="Calibri"/>
                        </a:rPr>
                        <a:t>7</a:t>
                      </a:r>
                      <a:endParaRPr sz="11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20"/>
                        </a:spcBef>
                      </a:pPr>
                      <a:r>
                        <a:rPr sz="1100" spc="-50" dirty="0">
                          <a:latin typeface="Calibri"/>
                          <a:cs typeface="Calibri"/>
                        </a:rPr>
                        <a:t>5</a:t>
                      </a:r>
                      <a:endParaRPr sz="11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324722">
                <a:tc>
                  <a:txBody>
                    <a:bodyPr/>
                    <a:lstStyle/>
                    <a:p>
                      <a:pPr marL="1270" algn="ctr">
                        <a:lnSpc>
                          <a:spcPct val="100000"/>
                        </a:lnSpc>
                        <a:spcBef>
                          <a:spcPts val="470"/>
                        </a:spcBef>
                      </a:pPr>
                      <a:r>
                        <a:rPr sz="1100" spc="-50" dirty="0">
                          <a:latin typeface="Arial MT"/>
                          <a:cs typeface="Arial MT"/>
                        </a:rPr>
                        <a:t>4</a:t>
                      </a:r>
                      <a:endParaRPr sz="11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6195">
                        <a:lnSpc>
                          <a:spcPct val="100000"/>
                        </a:lnSpc>
                        <a:spcBef>
                          <a:spcPts val="470"/>
                        </a:spcBef>
                      </a:pPr>
                      <a:r>
                        <a:rPr sz="1100" spc="-10" dirty="0">
                          <a:latin typeface="Arial MT"/>
                          <a:cs typeface="Arial MT"/>
                        </a:rPr>
                        <a:t>1/2/2022</a:t>
                      </a:r>
                      <a:endParaRPr sz="11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33045" marR="88900" indent="-133350">
                        <a:lnSpc>
                          <a:spcPts val="830"/>
                        </a:lnSpc>
                      </a:pPr>
                      <a:r>
                        <a:rPr sz="1100" dirty="0">
                          <a:latin typeface="Arial MT"/>
                          <a:cs typeface="Arial MT"/>
                        </a:rPr>
                        <a:t>Cheese</a:t>
                      </a:r>
                      <a:r>
                        <a:rPr sz="1100" spc="-25" dirty="0">
                          <a:latin typeface="Arial MT"/>
                          <a:cs typeface="Arial MT"/>
                        </a:rPr>
                        <a:t> </a:t>
                      </a:r>
                      <a:r>
                        <a:rPr sz="1100" spc="-10" dirty="0">
                          <a:latin typeface="Arial MT"/>
                          <a:cs typeface="Arial MT"/>
                        </a:rPr>
                        <a:t>Cracker</a:t>
                      </a:r>
                      <a:r>
                        <a:rPr sz="1100" spc="500" dirty="0">
                          <a:latin typeface="Arial MT"/>
                          <a:cs typeface="Arial MT"/>
                        </a:rPr>
                        <a:t> </a:t>
                      </a:r>
                      <a:r>
                        <a:rPr sz="1100" spc="-10" dirty="0">
                          <a:latin typeface="Arial MT"/>
                          <a:cs typeface="Arial MT"/>
                        </a:rPr>
                        <a:t>(Mcvities)</a:t>
                      </a:r>
                      <a:endParaRPr sz="11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450"/>
                        </a:spcBef>
                      </a:pPr>
                      <a:r>
                        <a:rPr sz="1100" spc="-50" dirty="0">
                          <a:latin typeface="Calibri"/>
                          <a:cs typeface="Calibri"/>
                        </a:rPr>
                        <a:t>1</a:t>
                      </a:r>
                      <a:endParaRPr sz="11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50"/>
                        </a:spcBef>
                      </a:pPr>
                      <a:r>
                        <a:rPr sz="1100" spc="-50" dirty="0">
                          <a:latin typeface="Calibri"/>
                          <a:cs typeface="Calibri"/>
                        </a:rPr>
                        <a:t>2</a:t>
                      </a:r>
                      <a:endParaRPr sz="11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324722">
                <a:tc>
                  <a:txBody>
                    <a:bodyPr/>
                    <a:lstStyle/>
                    <a:p>
                      <a:pPr marL="1270" algn="ctr">
                        <a:lnSpc>
                          <a:spcPct val="100000"/>
                        </a:lnSpc>
                        <a:spcBef>
                          <a:spcPts val="470"/>
                        </a:spcBef>
                      </a:pPr>
                      <a:r>
                        <a:rPr sz="1100" spc="-50" dirty="0">
                          <a:latin typeface="Arial MT"/>
                          <a:cs typeface="Arial MT"/>
                        </a:rPr>
                        <a:t>5</a:t>
                      </a:r>
                      <a:endParaRPr sz="11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6195">
                        <a:lnSpc>
                          <a:spcPct val="100000"/>
                        </a:lnSpc>
                        <a:spcBef>
                          <a:spcPts val="470"/>
                        </a:spcBef>
                      </a:pPr>
                      <a:r>
                        <a:rPr sz="1100" spc="-10" dirty="0">
                          <a:latin typeface="Arial MT"/>
                          <a:cs typeface="Arial MT"/>
                        </a:rPr>
                        <a:t>1/2/2022</a:t>
                      </a:r>
                      <a:endParaRPr sz="11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04775" marR="93980" indent="63500">
                        <a:lnSpc>
                          <a:spcPct val="100000"/>
                        </a:lnSpc>
                      </a:pPr>
                      <a:r>
                        <a:rPr sz="1100" dirty="0">
                          <a:latin typeface="Arial MT"/>
                          <a:cs typeface="Arial MT"/>
                        </a:rPr>
                        <a:t>Centre</a:t>
                      </a:r>
                      <a:r>
                        <a:rPr sz="1100" spc="-15" dirty="0">
                          <a:latin typeface="Arial MT"/>
                          <a:cs typeface="Arial MT"/>
                        </a:rPr>
                        <a:t> </a:t>
                      </a:r>
                      <a:r>
                        <a:rPr sz="1100" spc="-10" dirty="0">
                          <a:latin typeface="Arial MT"/>
                          <a:cs typeface="Arial MT"/>
                        </a:rPr>
                        <a:t>Filled</a:t>
                      </a:r>
                      <a:r>
                        <a:rPr sz="1100" spc="500" dirty="0">
                          <a:latin typeface="Arial MT"/>
                          <a:cs typeface="Arial MT"/>
                        </a:rPr>
                        <a:t> </a:t>
                      </a:r>
                      <a:r>
                        <a:rPr sz="1100" dirty="0">
                          <a:latin typeface="Arial MT"/>
                          <a:cs typeface="Arial MT"/>
                        </a:rPr>
                        <a:t>Chocolate</a:t>
                      </a:r>
                      <a:r>
                        <a:rPr sz="1100" spc="-35" dirty="0">
                          <a:latin typeface="Arial MT"/>
                          <a:cs typeface="Arial MT"/>
                        </a:rPr>
                        <a:t> </a:t>
                      </a:r>
                      <a:r>
                        <a:rPr sz="1100" spc="-20" dirty="0">
                          <a:latin typeface="Arial MT"/>
                          <a:cs typeface="Arial MT"/>
                        </a:rPr>
                        <a:t>Cake</a:t>
                      </a:r>
                      <a:endParaRPr sz="11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445"/>
                        </a:spcBef>
                      </a:pPr>
                      <a:r>
                        <a:rPr sz="1100" spc="-50" dirty="0">
                          <a:latin typeface="Calibri"/>
                          <a:cs typeface="Calibri"/>
                        </a:rPr>
                        <a:t>5</a:t>
                      </a:r>
                      <a:endParaRPr sz="1100" dirty="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45"/>
                        </a:spcBef>
                      </a:pPr>
                      <a:r>
                        <a:rPr sz="1100" spc="-50" dirty="0">
                          <a:latin typeface="Calibri"/>
                          <a:cs typeface="Calibri"/>
                        </a:rPr>
                        <a:t>2</a:t>
                      </a:r>
                      <a:endParaRPr sz="11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r h="323797">
                <a:tc>
                  <a:txBody>
                    <a:bodyPr/>
                    <a:lstStyle/>
                    <a:p>
                      <a:pPr marL="1270" algn="ctr">
                        <a:lnSpc>
                          <a:spcPct val="100000"/>
                        </a:lnSpc>
                        <a:spcBef>
                          <a:spcPts val="484"/>
                        </a:spcBef>
                      </a:pPr>
                      <a:r>
                        <a:rPr sz="1100" spc="-50" dirty="0">
                          <a:latin typeface="Arial MT"/>
                          <a:cs typeface="Arial MT"/>
                        </a:rPr>
                        <a:t>6</a:t>
                      </a:r>
                      <a:endParaRPr sz="11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36195">
                        <a:lnSpc>
                          <a:spcPct val="100000"/>
                        </a:lnSpc>
                        <a:spcBef>
                          <a:spcPts val="484"/>
                        </a:spcBef>
                      </a:pPr>
                      <a:r>
                        <a:rPr sz="1100" spc="-10" dirty="0">
                          <a:latin typeface="Arial MT"/>
                          <a:cs typeface="Arial MT"/>
                        </a:rPr>
                        <a:t>1/3/2022</a:t>
                      </a:r>
                      <a:endParaRPr sz="11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290830" marR="103505" indent="-178435">
                        <a:lnSpc>
                          <a:spcPct val="100000"/>
                        </a:lnSpc>
                      </a:pPr>
                      <a:r>
                        <a:rPr sz="1100" dirty="0">
                          <a:latin typeface="Arial MT"/>
                          <a:cs typeface="Arial MT"/>
                        </a:rPr>
                        <a:t>Chocos</a:t>
                      </a:r>
                      <a:r>
                        <a:rPr sz="1100" spc="-5" dirty="0">
                          <a:latin typeface="Arial MT"/>
                          <a:cs typeface="Arial MT"/>
                        </a:rPr>
                        <a:t> </a:t>
                      </a:r>
                      <a:r>
                        <a:rPr sz="1100" dirty="0">
                          <a:latin typeface="Arial MT"/>
                          <a:cs typeface="Arial MT"/>
                        </a:rPr>
                        <a:t>-</a:t>
                      </a:r>
                      <a:r>
                        <a:rPr sz="1100" spc="-15" dirty="0">
                          <a:latin typeface="Arial MT"/>
                          <a:cs typeface="Arial MT"/>
                        </a:rPr>
                        <a:t> </a:t>
                      </a:r>
                      <a:r>
                        <a:rPr sz="1100" spc="-10" dirty="0">
                          <a:latin typeface="Arial MT"/>
                          <a:cs typeface="Arial MT"/>
                        </a:rPr>
                        <a:t>Magic</a:t>
                      </a:r>
                      <a:r>
                        <a:rPr sz="1100" spc="500" dirty="0">
                          <a:latin typeface="Arial MT"/>
                          <a:cs typeface="Arial MT"/>
                        </a:rPr>
                        <a:t> </a:t>
                      </a:r>
                      <a:r>
                        <a:rPr sz="1100" spc="-10" dirty="0">
                          <a:latin typeface="Arial MT"/>
                          <a:cs typeface="Arial MT"/>
                        </a:rPr>
                        <a:t>Hearts</a:t>
                      </a:r>
                      <a:endParaRPr sz="11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905" algn="ctr">
                        <a:lnSpc>
                          <a:spcPct val="100000"/>
                        </a:lnSpc>
                        <a:spcBef>
                          <a:spcPts val="450"/>
                        </a:spcBef>
                      </a:pPr>
                      <a:r>
                        <a:rPr sz="1100" spc="-50" dirty="0">
                          <a:latin typeface="Calibri"/>
                          <a:cs typeface="Calibri"/>
                        </a:rPr>
                        <a:t>3</a:t>
                      </a:r>
                      <a:endParaRPr sz="11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270" algn="ctr">
                        <a:lnSpc>
                          <a:spcPct val="100000"/>
                        </a:lnSpc>
                        <a:spcBef>
                          <a:spcPts val="450"/>
                        </a:spcBef>
                      </a:pPr>
                      <a:r>
                        <a:rPr sz="1100" spc="-50" dirty="0">
                          <a:latin typeface="Calibri"/>
                          <a:cs typeface="Calibri"/>
                        </a:rPr>
                        <a:t>2</a:t>
                      </a:r>
                      <a:endParaRPr sz="11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extLst>
                  <a:ext uri="{0D108BD9-81ED-4DB2-BD59-A6C34878D82A}">
                    <a16:rowId xmlns:a16="http://schemas.microsoft.com/office/drawing/2014/main" val="10006"/>
                  </a:ext>
                </a:extLst>
              </a:tr>
              <a:tr h="324722">
                <a:tc>
                  <a:txBody>
                    <a:bodyPr/>
                    <a:lstStyle/>
                    <a:p>
                      <a:pPr marL="1270" algn="ctr">
                        <a:lnSpc>
                          <a:spcPct val="100000"/>
                        </a:lnSpc>
                        <a:spcBef>
                          <a:spcPts val="484"/>
                        </a:spcBef>
                      </a:pPr>
                      <a:r>
                        <a:rPr sz="1100" spc="-50" dirty="0">
                          <a:latin typeface="Arial MT"/>
                          <a:cs typeface="Arial MT"/>
                        </a:rPr>
                        <a:t>7</a:t>
                      </a:r>
                      <a:endParaRPr sz="11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36195">
                        <a:lnSpc>
                          <a:spcPct val="100000"/>
                        </a:lnSpc>
                        <a:spcBef>
                          <a:spcPts val="484"/>
                        </a:spcBef>
                      </a:pPr>
                      <a:r>
                        <a:rPr sz="1100" spc="-10" dirty="0">
                          <a:latin typeface="Arial MT"/>
                          <a:cs typeface="Arial MT"/>
                        </a:rPr>
                        <a:t>1/3/2022</a:t>
                      </a:r>
                      <a:endParaRPr sz="11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207010" marR="106045" indent="-90170">
                        <a:lnSpc>
                          <a:spcPct val="100000"/>
                        </a:lnSpc>
                      </a:pPr>
                      <a:r>
                        <a:rPr sz="1100" dirty="0">
                          <a:latin typeface="Arial MT"/>
                          <a:cs typeface="Arial MT"/>
                        </a:rPr>
                        <a:t>Chocos Webs</a:t>
                      </a:r>
                      <a:r>
                        <a:rPr sz="1100" spc="-40" dirty="0">
                          <a:latin typeface="Arial MT"/>
                          <a:cs typeface="Arial MT"/>
                        </a:rPr>
                        <a:t> </a:t>
                      </a:r>
                      <a:r>
                        <a:rPr sz="1100" spc="-50" dirty="0">
                          <a:latin typeface="Arial MT"/>
                          <a:cs typeface="Arial MT"/>
                        </a:rPr>
                        <a:t>-</a:t>
                      </a:r>
                      <a:r>
                        <a:rPr sz="1100" spc="500" dirty="0">
                          <a:latin typeface="Arial MT"/>
                          <a:cs typeface="Arial MT"/>
                        </a:rPr>
                        <a:t> </a:t>
                      </a:r>
                      <a:r>
                        <a:rPr sz="1100" spc="-10" dirty="0">
                          <a:latin typeface="Arial MT"/>
                          <a:cs typeface="Arial MT"/>
                        </a:rPr>
                        <a:t>Spiderman</a:t>
                      </a:r>
                      <a:endParaRPr sz="11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905" algn="ctr">
                        <a:lnSpc>
                          <a:spcPct val="100000"/>
                        </a:lnSpc>
                        <a:spcBef>
                          <a:spcPts val="445"/>
                        </a:spcBef>
                      </a:pPr>
                      <a:r>
                        <a:rPr sz="1100" spc="-50" dirty="0">
                          <a:latin typeface="Calibri"/>
                          <a:cs typeface="Calibri"/>
                        </a:rPr>
                        <a:t>4</a:t>
                      </a:r>
                      <a:endParaRPr sz="1100" dirty="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270" algn="ctr">
                        <a:lnSpc>
                          <a:spcPct val="100000"/>
                        </a:lnSpc>
                        <a:spcBef>
                          <a:spcPts val="445"/>
                        </a:spcBef>
                      </a:pPr>
                      <a:r>
                        <a:rPr sz="1100" spc="-50" dirty="0">
                          <a:latin typeface="Calibri"/>
                          <a:cs typeface="Calibri"/>
                        </a:rPr>
                        <a:t>3</a:t>
                      </a:r>
                      <a:endParaRPr sz="11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extLst>
                  <a:ext uri="{0D108BD9-81ED-4DB2-BD59-A6C34878D82A}">
                    <a16:rowId xmlns:a16="http://schemas.microsoft.com/office/drawing/2014/main" val="10007"/>
                  </a:ext>
                </a:extLst>
              </a:tr>
              <a:tr h="323797">
                <a:tc>
                  <a:txBody>
                    <a:bodyPr/>
                    <a:lstStyle/>
                    <a:p>
                      <a:pPr marL="1270" algn="ctr">
                        <a:lnSpc>
                          <a:spcPct val="100000"/>
                        </a:lnSpc>
                        <a:spcBef>
                          <a:spcPts val="484"/>
                        </a:spcBef>
                      </a:pPr>
                      <a:r>
                        <a:rPr sz="1100" spc="-50" dirty="0">
                          <a:latin typeface="Arial MT"/>
                          <a:cs typeface="Arial MT"/>
                        </a:rPr>
                        <a:t>8</a:t>
                      </a:r>
                      <a:endParaRPr sz="11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36195">
                        <a:lnSpc>
                          <a:spcPct val="100000"/>
                        </a:lnSpc>
                        <a:spcBef>
                          <a:spcPts val="484"/>
                        </a:spcBef>
                      </a:pPr>
                      <a:r>
                        <a:rPr sz="1100" spc="-10" dirty="0">
                          <a:latin typeface="Arial MT"/>
                          <a:cs typeface="Arial MT"/>
                        </a:rPr>
                        <a:t>1/3/2022</a:t>
                      </a:r>
                      <a:endParaRPr sz="11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222250" marR="50800" indent="-160655">
                        <a:lnSpc>
                          <a:spcPct val="100000"/>
                        </a:lnSpc>
                      </a:pPr>
                      <a:r>
                        <a:rPr sz="1100" dirty="0">
                          <a:latin typeface="Arial MT"/>
                          <a:cs typeface="Arial MT"/>
                        </a:rPr>
                        <a:t>Breakfast</a:t>
                      </a:r>
                      <a:r>
                        <a:rPr sz="1100" spc="-20" dirty="0">
                          <a:latin typeface="Arial MT"/>
                          <a:cs typeface="Arial MT"/>
                        </a:rPr>
                        <a:t> </a:t>
                      </a:r>
                      <a:r>
                        <a:rPr sz="1100" dirty="0">
                          <a:latin typeface="Arial MT"/>
                          <a:cs typeface="Arial MT"/>
                        </a:rPr>
                        <a:t>Cereal</a:t>
                      </a:r>
                      <a:r>
                        <a:rPr sz="1100" spc="-35" dirty="0">
                          <a:latin typeface="Arial MT"/>
                          <a:cs typeface="Arial MT"/>
                        </a:rPr>
                        <a:t> </a:t>
                      </a:r>
                      <a:r>
                        <a:rPr sz="1100" spc="-50" dirty="0">
                          <a:latin typeface="Arial MT"/>
                          <a:cs typeface="Arial MT"/>
                        </a:rPr>
                        <a:t>-</a:t>
                      </a:r>
                      <a:r>
                        <a:rPr sz="1100" spc="500" dirty="0">
                          <a:latin typeface="Arial MT"/>
                          <a:cs typeface="Arial MT"/>
                        </a:rPr>
                        <a:t> </a:t>
                      </a:r>
                      <a:r>
                        <a:rPr sz="1100" spc="-10" dirty="0">
                          <a:latin typeface="Arial MT"/>
                          <a:cs typeface="Arial MT"/>
                        </a:rPr>
                        <a:t>Chocolate</a:t>
                      </a:r>
                      <a:endParaRPr sz="11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905" algn="ctr">
                        <a:lnSpc>
                          <a:spcPct val="100000"/>
                        </a:lnSpc>
                        <a:spcBef>
                          <a:spcPts val="450"/>
                        </a:spcBef>
                      </a:pPr>
                      <a:r>
                        <a:rPr sz="1100" spc="-50" dirty="0">
                          <a:latin typeface="Calibri"/>
                          <a:cs typeface="Calibri"/>
                        </a:rPr>
                        <a:t>5</a:t>
                      </a:r>
                      <a:endParaRPr sz="11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270" algn="ctr">
                        <a:lnSpc>
                          <a:spcPct val="100000"/>
                        </a:lnSpc>
                        <a:spcBef>
                          <a:spcPts val="450"/>
                        </a:spcBef>
                      </a:pPr>
                      <a:r>
                        <a:rPr sz="1100" spc="-50" dirty="0">
                          <a:latin typeface="Calibri"/>
                          <a:cs typeface="Calibri"/>
                        </a:rPr>
                        <a:t>2</a:t>
                      </a:r>
                      <a:endParaRPr sz="11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extLst>
                  <a:ext uri="{0D108BD9-81ED-4DB2-BD59-A6C34878D82A}">
                    <a16:rowId xmlns:a16="http://schemas.microsoft.com/office/drawing/2014/main" val="10008"/>
                  </a:ext>
                </a:extLst>
              </a:tr>
              <a:tr h="324722">
                <a:tc>
                  <a:txBody>
                    <a:bodyPr/>
                    <a:lstStyle/>
                    <a:p>
                      <a:pPr marL="1270" algn="ctr">
                        <a:lnSpc>
                          <a:spcPct val="100000"/>
                        </a:lnSpc>
                        <a:spcBef>
                          <a:spcPts val="484"/>
                        </a:spcBef>
                      </a:pPr>
                      <a:r>
                        <a:rPr sz="1100" spc="-50" dirty="0">
                          <a:latin typeface="Arial MT"/>
                          <a:cs typeface="Arial MT"/>
                        </a:rPr>
                        <a:t>9</a:t>
                      </a:r>
                      <a:endParaRPr sz="11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36195">
                        <a:lnSpc>
                          <a:spcPct val="100000"/>
                        </a:lnSpc>
                        <a:spcBef>
                          <a:spcPts val="484"/>
                        </a:spcBef>
                      </a:pPr>
                      <a:r>
                        <a:rPr sz="1100" spc="-10" dirty="0">
                          <a:latin typeface="Arial MT"/>
                          <a:cs typeface="Arial MT"/>
                        </a:rPr>
                        <a:t>1/3/2022</a:t>
                      </a:r>
                      <a:endParaRPr sz="11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222250" marR="208279" indent="-5080">
                        <a:lnSpc>
                          <a:spcPct val="100000"/>
                        </a:lnSpc>
                      </a:pPr>
                      <a:r>
                        <a:rPr sz="1100" dirty="0">
                          <a:latin typeface="Arial MT"/>
                          <a:cs typeface="Arial MT"/>
                        </a:rPr>
                        <a:t>Fiber</a:t>
                      </a:r>
                      <a:r>
                        <a:rPr sz="1100" spc="-20" dirty="0">
                          <a:latin typeface="Arial MT"/>
                          <a:cs typeface="Arial MT"/>
                        </a:rPr>
                        <a:t> Rich</a:t>
                      </a:r>
                      <a:r>
                        <a:rPr sz="1100" spc="500" dirty="0">
                          <a:latin typeface="Arial MT"/>
                          <a:cs typeface="Arial MT"/>
                        </a:rPr>
                        <a:t> </a:t>
                      </a:r>
                      <a:r>
                        <a:rPr sz="1100" spc="-10" dirty="0">
                          <a:latin typeface="Arial MT"/>
                          <a:cs typeface="Arial MT"/>
                        </a:rPr>
                        <a:t>Chocolate</a:t>
                      </a:r>
                      <a:endParaRPr sz="11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905" algn="ctr">
                        <a:lnSpc>
                          <a:spcPct val="100000"/>
                        </a:lnSpc>
                        <a:spcBef>
                          <a:spcPts val="450"/>
                        </a:spcBef>
                      </a:pPr>
                      <a:r>
                        <a:rPr sz="1100" spc="-50" dirty="0">
                          <a:latin typeface="Calibri"/>
                          <a:cs typeface="Calibri"/>
                        </a:rPr>
                        <a:t>6</a:t>
                      </a:r>
                      <a:endParaRPr sz="11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270" algn="ctr">
                        <a:lnSpc>
                          <a:spcPct val="100000"/>
                        </a:lnSpc>
                        <a:spcBef>
                          <a:spcPts val="450"/>
                        </a:spcBef>
                      </a:pPr>
                      <a:r>
                        <a:rPr sz="1100" spc="-50" dirty="0">
                          <a:latin typeface="Calibri"/>
                          <a:cs typeface="Calibri"/>
                        </a:rPr>
                        <a:t>1</a:t>
                      </a:r>
                      <a:endParaRPr sz="11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extLst>
                  <a:ext uri="{0D108BD9-81ED-4DB2-BD59-A6C34878D82A}">
                    <a16:rowId xmlns:a16="http://schemas.microsoft.com/office/drawing/2014/main" val="10009"/>
                  </a:ext>
                </a:extLst>
              </a:tr>
              <a:tr h="324722">
                <a:tc>
                  <a:txBody>
                    <a:bodyPr/>
                    <a:lstStyle/>
                    <a:p>
                      <a:pPr marL="635" algn="ctr">
                        <a:lnSpc>
                          <a:spcPct val="100000"/>
                        </a:lnSpc>
                        <a:spcBef>
                          <a:spcPts val="484"/>
                        </a:spcBef>
                      </a:pPr>
                      <a:r>
                        <a:rPr sz="1100" spc="-25" dirty="0">
                          <a:latin typeface="Arial MT"/>
                          <a:cs typeface="Arial MT"/>
                        </a:rPr>
                        <a:t>10</a:t>
                      </a:r>
                      <a:endParaRPr sz="11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36195">
                        <a:lnSpc>
                          <a:spcPct val="100000"/>
                        </a:lnSpc>
                        <a:spcBef>
                          <a:spcPts val="484"/>
                        </a:spcBef>
                      </a:pPr>
                      <a:r>
                        <a:rPr sz="1100" spc="-10" dirty="0">
                          <a:latin typeface="Arial MT"/>
                          <a:cs typeface="Arial MT"/>
                        </a:rPr>
                        <a:t>1/3/2022</a:t>
                      </a:r>
                      <a:endParaRPr sz="11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04775" marR="93980" indent="63500">
                        <a:lnSpc>
                          <a:spcPct val="100000"/>
                        </a:lnSpc>
                      </a:pPr>
                      <a:r>
                        <a:rPr sz="1100" dirty="0">
                          <a:latin typeface="Arial MT"/>
                          <a:cs typeface="Arial MT"/>
                        </a:rPr>
                        <a:t>Centre</a:t>
                      </a:r>
                      <a:r>
                        <a:rPr sz="1100" spc="-15" dirty="0">
                          <a:latin typeface="Arial MT"/>
                          <a:cs typeface="Arial MT"/>
                        </a:rPr>
                        <a:t> </a:t>
                      </a:r>
                      <a:r>
                        <a:rPr sz="1100" spc="-10" dirty="0">
                          <a:latin typeface="Arial MT"/>
                          <a:cs typeface="Arial MT"/>
                        </a:rPr>
                        <a:t>Filled</a:t>
                      </a:r>
                      <a:r>
                        <a:rPr sz="1100" spc="500" dirty="0">
                          <a:latin typeface="Arial MT"/>
                          <a:cs typeface="Arial MT"/>
                        </a:rPr>
                        <a:t> </a:t>
                      </a:r>
                      <a:r>
                        <a:rPr sz="1100" dirty="0">
                          <a:latin typeface="Arial MT"/>
                          <a:cs typeface="Arial MT"/>
                        </a:rPr>
                        <a:t>Chocolate</a:t>
                      </a:r>
                      <a:r>
                        <a:rPr sz="1100" spc="-35" dirty="0">
                          <a:latin typeface="Arial MT"/>
                          <a:cs typeface="Arial MT"/>
                        </a:rPr>
                        <a:t> </a:t>
                      </a:r>
                      <a:r>
                        <a:rPr sz="1100" spc="-20" dirty="0">
                          <a:latin typeface="Arial MT"/>
                          <a:cs typeface="Arial MT"/>
                        </a:rPr>
                        <a:t>Cake</a:t>
                      </a:r>
                      <a:endParaRPr sz="11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905" algn="ctr">
                        <a:lnSpc>
                          <a:spcPct val="100000"/>
                        </a:lnSpc>
                        <a:spcBef>
                          <a:spcPts val="450"/>
                        </a:spcBef>
                      </a:pPr>
                      <a:r>
                        <a:rPr sz="1100" spc="-50" dirty="0">
                          <a:latin typeface="Calibri"/>
                          <a:cs typeface="Calibri"/>
                        </a:rPr>
                        <a:t>3</a:t>
                      </a:r>
                      <a:endParaRPr sz="11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270" algn="ctr">
                        <a:lnSpc>
                          <a:spcPct val="100000"/>
                        </a:lnSpc>
                        <a:spcBef>
                          <a:spcPts val="450"/>
                        </a:spcBef>
                      </a:pPr>
                      <a:r>
                        <a:rPr sz="1100" spc="-50" dirty="0">
                          <a:latin typeface="Calibri"/>
                          <a:cs typeface="Calibri"/>
                        </a:rPr>
                        <a:t>2</a:t>
                      </a:r>
                      <a:endParaRPr sz="11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extLst>
                  <a:ext uri="{0D108BD9-81ED-4DB2-BD59-A6C34878D82A}">
                    <a16:rowId xmlns:a16="http://schemas.microsoft.com/office/drawing/2014/main" val="10010"/>
                  </a:ext>
                </a:extLst>
              </a:tr>
            </a:tbl>
          </a:graphicData>
        </a:graphic>
      </p:graphicFrame>
      <p:sp>
        <p:nvSpPr>
          <p:cNvPr id="24" name="object 24"/>
          <p:cNvSpPr txBox="1"/>
          <p:nvPr/>
        </p:nvSpPr>
        <p:spPr>
          <a:xfrm>
            <a:off x="4179486" y="2794168"/>
            <a:ext cx="1546013" cy="386430"/>
          </a:xfrm>
          <a:prstGeom prst="rect">
            <a:avLst/>
          </a:prstGeom>
        </p:spPr>
        <p:txBody>
          <a:bodyPr vert="horz" wrap="square" lIns="0" tIns="16933" rIns="0" bIns="0" rtlCol="0">
            <a:spAutoFit/>
          </a:bodyPr>
          <a:lstStyle/>
          <a:p>
            <a:pPr marL="16933">
              <a:spcBef>
                <a:spcPts val="133"/>
              </a:spcBef>
            </a:pPr>
            <a:r>
              <a:rPr sz="2400" spc="100" dirty="0">
                <a:solidFill>
                  <a:srgbClr val="99D3FF"/>
                </a:solidFill>
                <a:latin typeface="Arial MT"/>
                <a:cs typeface="Arial MT"/>
              </a:rPr>
              <a:t>Persistant</a:t>
            </a:r>
            <a:endParaRPr sz="2400">
              <a:latin typeface="Arial MT"/>
              <a:cs typeface="Arial MT"/>
            </a:endParaRPr>
          </a:p>
        </p:txBody>
      </p:sp>
      <p:sp>
        <p:nvSpPr>
          <p:cNvPr id="25" name="object 25"/>
          <p:cNvSpPr txBox="1"/>
          <p:nvPr/>
        </p:nvSpPr>
        <p:spPr>
          <a:xfrm>
            <a:off x="4021668" y="4972647"/>
            <a:ext cx="141393" cy="205184"/>
          </a:xfrm>
          <a:prstGeom prst="rect">
            <a:avLst/>
          </a:prstGeom>
        </p:spPr>
        <p:txBody>
          <a:bodyPr vert="horz" wrap="square" lIns="0" tIns="0" rIns="0" bIns="0" rtlCol="0">
            <a:spAutoFit/>
          </a:bodyPr>
          <a:lstStyle/>
          <a:p>
            <a:pPr>
              <a:lnSpc>
                <a:spcPts val="1553"/>
              </a:lnSpc>
            </a:pPr>
            <a:r>
              <a:rPr sz="1400" spc="-33" dirty="0">
                <a:latin typeface="Arial MT"/>
                <a:cs typeface="Arial MT"/>
              </a:rPr>
              <a:t>id</a:t>
            </a:r>
            <a:endParaRPr sz="1400">
              <a:latin typeface="Arial MT"/>
              <a:cs typeface="Arial MT"/>
            </a:endParaRPr>
          </a:p>
        </p:txBody>
      </p:sp>
      <p:sp>
        <p:nvSpPr>
          <p:cNvPr id="26" name="object 26"/>
          <p:cNvSpPr txBox="1"/>
          <p:nvPr/>
        </p:nvSpPr>
        <p:spPr>
          <a:xfrm>
            <a:off x="4391490" y="4972647"/>
            <a:ext cx="347980" cy="205184"/>
          </a:xfrm>
          <a:prstGeom prst="rect">
            <a:avLst/>
          </a:prstGeom>
        </p:spPr>
        <p:txBody>
          <a:bodyPr vert="horz" wrap="square" lIns="0" tIns="0" rIns="0" bIns="0" rtlCol="0">
            <a:spAutoFit/>
          </a:bodyPr>
          <a:lstStyle/>
          <a:p>
            <a:pPr>
              <a:lnSpc>
                <a:spcPts val="1553"/>
              </a:lnSpc>
            </a:pPr>
            <a:r>
              <a:rPr sz="1400" spc="-27" dirty="0">
                <a:latin typeface="Arial MT"/>
                <a:cs typeface="Arial MT"/>
              </a:rPr>
              <a:t>date</a:t>
            </a:r>
            <a:endParaRPr sz="1400">
              <a:latin typeface="Arial MT"/>
              <a:cs typeface="Arial MT"/>
            </a:endParaRPr>
          </a:p>
        </p:txBody>
      </p:sp>
      <p:sp>
        <p:nvSpPr>
          <p:cNvPr id="27" name="object 27"/>
          <p:cNvSpPr txBox="1"/>
          <p:nvPr/>
        </p:nvSpPr>
        <p:spPr>
          <a:xfrm>
            <a:off x="5234771" y="4972647"/>
            <a:ext cx="596900" cy="205184"/>
          </a:xfrm>
          <a:prstGeom prst="rect">
            <a:avLst/>
          </a:prstGeom>
        </p:spPr>
        <p:txBody>
          <a:bodyPr vert="horz" wrap="square" lIns="0" tIns="0" rIns="0" bIns="0" rtlCol="0">
            <a:spAutoFit/>
          </a:bodyPr>
          <a:lstStyle/>
          <a:p>
            <a:pPr>
              <a:lnSpc>
                <a:spcPts val="1553"/>
              </a:lnSpc>
            </a:pPr>
            <a:r>
              <a:rPr sz="1400" spc="-13" dirty="0">
                <a:latin typeface="Arial MT"/>
                <a:cs typeface="Arial MT"/>
              </a:rPr>
              <a:t>product</a:t>
            </a:r>
            <a:endParaRPr sz="1400">
              <a:latin typeface="Arial MT"/>
              <a:cs typeface="Arial MT"/>
            </a:endParaRPr>
          </a:p>
        </p:txBody>
      </p:sp>
      <p:graphicFrame>
        <p:nvGraphicFramePr>
          <p:cNvPr id="28" name="object 28"/>
          <p:cNvGraphicFramePr>
            <a:graphicFrameLocks noGrp="1"/>
          </p:cNvGraphicFramePr>
          <p:nvPr>
            <p:extLst>
              <p:ext uri="{D42A27DB-BD31-4B8C-83A1-F6EECF244321}">
                <p14:modId xmlns:p14="http://schemas.microsoft.com/office/powerpoint/2010/main" val="2764719449"/>
              </p:ext>
            </p:extLst>
          </p:nvPr>
        </p:nvGraphicFramePr>
        <p:xfrm>
          <a:off x="3988783" y="3428695"/>
          <a:ext cx="3786157" cy="3349708"/>
        </p:xfrm>
        <a:graphic>
          <a:graphicData uri="http://schemas.openxmlformats.org/drawingml/2006/table">
            <a:tbl>
              <a:tblPr firstRow="1" bandRow="1">
                <a:tableStyleId>{2D5ABB26-0587-4C30-8999-92F81FD0307C}</a:tableStyleId>
              </a:tblPr>
              <a:tblGrid>
                <a:gridCol w="500586">
                  <a:extLst>
                    <a:ext uri="{9D8B030D-6E8A-4147-A177-3AD203B41FA5}">
                      <a16:colId xmlns:a16="http://schemas.microsoft.com/office/drawing/2014/main" val="20000"/>
                    </a:ext>
                  </a:extLst>
                </a:gridCol>
                <a:gridCol w="894521">
                  <a:extLst>
                    <a:ext uri="{9D8B030D-6E8A-4147-A177-3AD203B41FA5}">
                      <a16:colId xmlns:a16="http://schemas.microsoft.com/office/drawing/2014/main" val="20001"/>
                    </a:ext>
                  </a:extLst>
                </a:gridCol>
                <a:gridCol w="2391050">
                  <a:extLst>
                    <a:ext uri="{9D8B030D-6E8A-4147-A177-3AD203B41FA5}">
                      <a16:colId xmlns:a16="http://schemas.microsoft.com/office/drawing/2014/main" val="20002"/>
                    </a:ext>
                  </a:extLst>
                </a:gridCol>
              </a:tblGrid>
              <a:tr h="277600">
                <a:tc>
                  <a:txBody>
                    <a:bodyPr/>
                    <a:lstStyle/>
                    <a:p>
                      <a:pPr marL="1270" algn="ctr">
                        <a:lnSpc>
                          <a:spcPct val="100000"/>
                        </a:lnSpc>
                        <a:spcBef>
                          <a:spcPts val="135"/>
                        </a:spcBef>
                      </a:pPr>
                      <a:r>
                        <a:rPr sz="1400" spc="-25" dirty="0">
                          <a:latin typeface="Arial MT"/>
                          <a:cs typeface="Arial MT"/>
                        </a:rPr>
                        <a:t>id</a:t>
                      </a:r>
                      <a:endParaRPr sz="14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135"/>
                        </a:spcBef>
                      </a:pPr>
                      <a:r>
                        <a:rPr sz="1400" spc="-20" dirty="0">
                          <a:latin typeface="Arial MT"/>
                          <a:cs typeface="Arial MT"/>
                        </a:rPr>
                        <a:t>date</a:t>
                      </a:r>
                      <a:endParaRPr sz="14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135"/>
                        </a:spcBef>
                      </a:pPr>
                      <a:r>
                        <a:rPr sz="1400" spc="-10" dirty="0">
                          <a:latin typeface="Arial MT"/>
                          <a:cs typeface="Arial MT"/>
                        </a:rPr>
                        <a:t>product</a:t>
                      </a:r>
                      <a:endParaRPr sz="14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0"/>
                  </a:ext>
                </a:extLst>
              </a:tr>
              <a:tr h="277600">
                <a:tc>
                  <a:txBody>
                    <a:bodyPr/>
                    <a:lstStyle/>
                    <a:p>
                      <a:pPr algn="ctr">
                        <a:lnSpc>
                          <a:spcPct val="100000"/>
                        </a:lnSpc>
                        <a:spcBef>
                          <a:spcPts val="345"/>
                        </a:spcBef>
                      </a:pPr>
                      <a:r>
                        <a:rPr sz="1100" spc="-50" dirty="0">
                          <a:latin typeface="Arial MT"/>
                          <a:cs typeface="Arial MT"/>
                        </a:rPr>
                        <a:t>1</a:t>
                      </a:r>
                      <a:endParaRPr sz="1100" dirty="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345"/>
                        </a:spcBef>
                      </a:pPr>
                      <a:r>
                        <a:rPr sz="1100" spc="-10" dirty="0">
                          <a:latin typeface="Arial MT"/>
                          <a:cs typeface="Arial MT"/>
                        </a:rPr>
                        <a:t>1/2/2022</a:t>
                      </a:r>
                      <a:endParaRPr sz="11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45"/>
                        </a:spcBef>
                      </a:pPr>
                      <a:r>
                        <a:rPr sz="1100" dirty="0">
                          <a:latin typeface="Arial MT"/>
                          <a:cs typeface="Arial MT"/>
                        </a:rPr>
                        <a:t>Fulltoss</a:t>
                      </a:r>
                      <a:r>
                        <a:rPr sz="1100" spc="-20" dirty="0">
                          <a:latin typeface="Arial MT"/>
                          <a:cs typeface="Arial MT"/>
                        </a:rPr>
                        <a:t> </a:t>
                      </a:r>
                      <a:r>
                        <a:rPr sz="1100" dirty="0">
                          <a:latin typeface="Arial MT"/>
                          <a:cs typeface="Arial MT"/>
                        </a:rPr>
                        <a:t>Tangy</a:t>
                      </a:r>
                      <a:r>
                        <a:rPr sz="1100" spc="-25" dirty="0">
                          <a:latin typeface="Arial MT"/>
                          <a:cs typeface="Arial MT"/>
                        </a:rPr>
                        <a:t> </a:t>
                      </a:r>
                      <a:r>
                        <a:rPr sz="1100" spc="-10" dirty="0">
                          <a:latin typeface="Arial MT"/>
                          <a:cs typeface="Arial MT"/>
                        </a:rPr>
                        <a:t>Tomato</a:t>
                      </a:r>
                      <a:endParaRPr sz="1100" dirty="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323866">
                <a:tc>
                  <a:txBody>
                    <a:bodyPr/>
                    <a:lstStyle/>
                    <a:p>
                      <a:pPr algn="ctr">
                        <a:lnSpc>
                          <a:spcPct val="100000"/>
                        </a:lnSpc>
                        <a:spcBef>
                          <a:spcPts val="475"/>
                        </a:spcBef>
                      </a:pPr>
                      <a:r>
                        <a:rPr sz="1100" spc="-50" dirty="0">
                          <a:latin typeface="Arial MT"/>
                          <a:cs typeface="Arial MT"/>
                        </a:rPr>
                        <a:t>2</a:t>
                      </a:r>
                      <a:endParaRPr sz="11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475"/>
                        </a:spcBef>
                      </a:pPr>
                      <a:r>
                        <a:rPr sz="1100" spc="-10" dirty="0">
                          <a:latin typeface="Arial MT"/>
                          <a:cs typeface="Arial MT"/>
                        </a:rPr>
                        <a:t>1/2/2022</a:t>
                      </a:r>
                      <a:endParaRPr sz="1100" dirty="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400685" marR="16510" indent="-375285">
                        <a:lnSpc>
                          <a:spcPts val="830"/>
                        </a:lnSpc>
                      </a:pPr>
                      <a:endParaRPr lang="en-IN" sz="1100" dirty="0">
                        <a:latin typeface="Arial MT"/>
                        <a:cs typeface="Arial MT"/>
                      </a:endParaRPr>
                    </a:p>
                    <a:p>
                      <a:pPr marL="400685" marR="16510" indent="-375285">
                        <a:lnSpc>
                          <a:spcPts val="830"/>
                        </a:lnSpc>
                      </a:pPr>
                      <a:r>
                        <a:rPr sz="1100" dirty="0">
                          <a:latin typeface="Arial MT"/>
                          <a:cs typeface="Arial MT"/>
                        </a:rPr>
                        <a:t>Chilli</a:t>
                      </a:r>
                      <a:r>
                        <a:rPr sz="1100" spc="-40" dirty="0">
                          <a:latin typeface="Arial MT"/>
                          <a:cs typeface="Arial MT"/>
                        </a:rPr>
                        <a:t> </a:t>
                      </a:r>
                      <a:r>
                        <a:rPr sz="1100" dirty="0">
                          <a:latin typeface="Arial MT"/>
                          <a:cs typeface="Arial MT"/>
                        </a:rPr>
                        <a:t>-</a:t>
                      </a:r>
                      <a:r>
                        <a:rPr sz="1100" spc="-15" dirty="0">
                          <a:latin typeface="Arial MT"/>
                          <a:cs typeface="Arial MT"/>
                        </a:rPr>
                        <a:t> </a:t>
                      </a:r>
                      <a:r>
                        <a:rPr sz="1100" dirty="0">
                          <a:latin typeface="Arial MT"/>
                          <a:cs typeface="Arial MT"/>
                        </a:rPr>
                        <a:t>Green,</a:t>
                      </a:r>
                      <a:r>
                        <a:rPr sz="1100" spc="15" dirty="0">
                          <a:latin typeface="Arial MT"/>
                          <a:cs typeface="Arial MT"/>
                        </a:rPr>
                        <a:t> </a:t>
                      </a:r>
                      <a:r>
                        <a:rPr sz="1100" spc="-10" dirty="0">
                          <a:latin typeface="Arial MT"/>
                          <a:cs typeface="Arial MT"/>
                        </a:rPr>
                        <a:t>Organically</a:t>
                      </a:r>
                      <a:r>
                        <a:rPr sz="1100" spc="500" dirty="0">
                          <a:latin typeface="Arial MT"/>
                          <a:cs typeface="Arial MT"/>
                        </a:rPr>
                        <a:t> </a:t>
                      </a:r>
                      <a:r>
                        <a:rPr sz="1100" spc="-10" dirty="0">
                          <a:latin typeface="Arial MT"/>
                          <a:cs typeface="Arial MT"/>
                        </a:rPr>
                        <a:t>Grown</a:t>
                      </a:r>
                      <a:endParaRPr sz="11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77600">
                <a:tc>
                  <a:txBody>
                    <a:bodyPr/>
                    <a:lstStyle/>
                    <a:p>
                      <a:pPr algn="ctr">
                        <a:lnSpc>
                          <a:spcPct val="100000"/>
                        </a:lnSpc>
                        <a:spcBef>
                          <a:spcPts val="345"/>
                        </a:spcBef>
                      </a:pPr>
                      <a:r>
                        <a:rPr sz="1100" spc="-50" dirty="0">
                          <a:latin typeface="Arial MT"/>
                          <a:cs typeface="Arial MT"/>
                        </a:rPr>
                        <a:t>3</a:t>
                      </a:r>
                      <a:endParaRPr sz="11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345"/>
                        </a:spcBef>
                      </a:pPr>
                      <a:r>
                        <a:rPr sz="1100" spc="-10" dirty="0">
                          <a:latin typeface="Arial MT"/>
                          <a:cs typeface="Arial MT"/>
                        </a:rPr>
                        <a:t>1/2/2022</a:t>
                      </a:r>
                      <a:endParaRPr sz="11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1100" dirty="0">
                          <a:latin typeface="Arial MT"/>
                          <a:cs typeface="Arial MT"/>
                        </a:rPr>
                        <a:t>Masala</a:t>
                      </a:r>
                      <a:r>
                        <a:rPr sz="1100" spc="-35" dirty="0">
                          <a:latin typeface="Arial MT"/>
                          <a:cs typeface="Arial MT"/>
                        </a:rPr>
                        <a:t> </a:t>
                      </a:r>
                      <a:r>
                        <a:rPr sz="1100" spc="-10" dirty="0">
                          <a:latin typeface="Arial MT"/>
                          <a:cs typeface="Arial MT"/>
                        </a:rPr>
                        <a:t>Powder</a:t>
                      </a:r>
                      <a:endParaRPr sz="1100" dirty="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324792">
                <a:tc>
                  <a:txBody>
                    <a:bodyPr/>
                    <a:lstStyle/>
                    <a:p>
                      <a:pPr algn="ctr">
                        <a:lnSpc>
                          <a:spcPct val="100000"/>
                        </a:lnSpc>
                        <a:spcBef>
                          <a:spcPts val="475"/>
                        </a:spcBef>
                      </a:pPr>
                      <a:r>
                        <a:rPr sz="1100" spc="-50" dirty="0">
                          <a:latin typeface="Arial MT"/>
                          <a:cs typeface="Arial MT"/>
                        </a:rPr>
                        <a:t>4</a:t>
                      </a:r>
                      <a:endParaRPr sz="11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475"/>
                        </a:spcBef>
                      </a:pPr>
                      <a:r>
                        <a:rPr sz="1100" spc="-10" dirty="0">
                          <a:latin typeface="Arial MT"/>
                          <a:cs typeface="Arial MT"/>
                        </a:rPr>
                        <a:t>1/2/2022</a:t>
                      </a:r>
                      <a:endParaRPr sz="11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40995" marR="201930" indent="-132715">
                        <a:lnSpc>
                          <a:spcPts val="830"/>
                        </a:lnSpc>
                      </a:pPr>
                      <a:endParaRPr lang="en-IN" sz="1100" dirty="0">
                        <a:latin typeface="Arial MT"/>
                        <a:cs typeface="Arial MT"/>
                      </a:endParaRPr>
                    </a:p>
                    <a:p>
                      <a:pPr marL="340995" marR="201930" indent="-132715">
                        <a:lnSpc>
                          <a:spcPts val="830"/>
                        </a:lnSpc>
                      </a:pPr>
                      <a:r>
                        <a:rPr sz="1100" dirty="0">
                          <a:latin typeface="Arial MT"/>
                          <a:cs typeface="Arial MT"/>
                        </a:rPr>
                        <a:t>Cheese</a:t>
                      </a:r>
                      <a:r>
                        <a:rPr sz="1100" spc="-25" dirty="0">
                          <a:latin typeface="Arial MT"/>
                          <a:cs typeface="Arial MT"/>
                        </a:rPr>
                        <a:t> </a:t>
                      </a:r>
                      <a:r>
                        <a:rPr sz="1100" spc="-10" dirty="0">
                          <a:latin typeface="Arial MT"/>
                          <a:cs typeface="Arial MT"/>
                        </a:rPr>
                        <a:t>Cracker</a:t>
                      </a:r>
                      <a:r>
                        <a:rPr sz="1100" spc="500" dirty="0">
                          <a:latin typeface="Arial MT"/>
                          <a:cs typeface="Arial MT"/>
                        </a:rPr>
                        <a:t> </a:t>
                      </a:r>
                      <a:r>
                        <a:rPr sz="1100" spc="-10" dirty="0">
                          <a:latin typeface="Arial MT"/>
                          <a:cs typeface="Arial MT"/>
                        </a:rPr>
                        <a:t>(Mcvities)</a:t>
                      </a:r>
                      <a:endParaRPr sz="11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324792">
                <a:tc>
                  <a:txBody>
                    <a:bodyPr/>
                    <a:lstStyle/>
                    <a:p>
                      <a:pPr algn="ctr">
                        <a:lnSpc>
                          <a:spcPct val="100000"/>
                        </a:lnSpc>
                        <a:spcBef>
                          <a:spcPts val="475"/>
                        </a:spcBef>
                      </a:pPr>
                      <a:r>
                        <a:rPr sz="1100" spc="-50" dirty="0">
                          <a:latin typeface="Arial MT"/>
                          <a:cs typeface="Arial MT"/>
                        </a:rPr>
                        <a:t>5</a:t>
                      </a:r>
                      <a:endParaRPr sz="11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475"/>
                        </a:spcBef>
                      </a:pPr>
                      <a:r>
                        <a:rPr sz="1100" spc="-10" dirty="0">
                          <a:latin typeface="Arial MT"/>
                          <a:cs typeface="Arial MT"/>
                        </a:rPr>
                        <a:t>1/2/2022</a:t>
                      </a:r>
                      <a:endParaRPr sz="11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424815" marR="59055" indent="-358140">
                        <a:lnSpc>
                          <a:spcPts val="830"/>
                        </a:lnSpc>
                      </a:pPr>
                      <a:endParaRPr lang="en-IN" sz="1100" dirty="0">
                        <a:latin typeface="Arial MT"/>
                        <a:cs typeface="Arial MT"/>
                      </a:endParaRPr>
                    </a:p>
                    <a:p>
                      <a:pPr marL="424815" marR="59055" indent="-358140">
                        <a:lnSpc>
                          <a:spcPts val="830"/>
                        </a:lnSpc>
                      </a:pPr>
                      <a:r>
                        <a:rPr sz="1100" dirty="0">
                          <a:latin typeface="Arial MT"/>
                          <a:cs typeface="Arial MT"/>
                        </a:rPr>
                        <a:t>Centre</a:t>
                      </a:r>
                      <a:r>
                        <a:rPr sz="1100" spc="-5" dirty="0">
                          <a:latin typeface="Arial MT"/>
                          <a:cs typeface="Arial MT"/>
                        </a:rPr>
                        <a:t> </a:t>
                      </a:r>
                      <a:r>
                        <a:rPr sz="1100" dirty="0">
                          <a:latin typeface="Arial MT"/>
                          <a:cs typeface="Arial MT"/>
                        </a:rPr>
                        <a:t>Filled</a:t>
                      </a:r>
                      <a:r>
                        <a:rPr sz="1100" spc="-35" dirty="0">
                          <a:latin typeface="Arial MT"/>
                          <a:cs typeface="Arial MT"/>
                        </a:rPr>
                        <a:t> </a:t>
                      </a:r>
                      <a:r>
                        <a:rPr sz="1100" spc="-10" dirty="0">
                          <a:latin typeface="Arial MT"/>
                          <a:cs typeface="Arial MT"/>
                        </a:rPr>
                        <a:t>Chocolate</a:t>
                      </a:r>
                      <a:r>
                        <a:rPr sz="1100" spc="500" dirty="0">
                          <a:latin typeface="Arial MT"/>
                          <a:cs typeface="Arial MT"/>
                        </a:rPr>
                        <a:t> </a:t>
                      </a:r>
                      <a:r>
                        <a:rPr sz="1100" spc="-20" dirty="0">
                          <a:latin typeface="Arial MT"/>
                          <a:cs typeface="Arial MT"/>
                        </a:rPr>
                        <a:t>Cake</a:t>
                      </a:r>
                      <a:endParaRPr sz="11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r h="260018">
                <a:tc>
                  <a:txBody>
                    <a:bodyPr/>
                    <a:lstStyle/>
                    <a:p>
                      <a:pPr algn="ctr">
                        <a:lnSpc>
                          <a:spcPct val="100000"/>
                        </a:lnSpc>
                        <a:spcBef>
                          <a:spcPts val="265"/>
                        </a:spcBef>
                      </a:pPr>
                      <a:r>
                        <a:rPr sz="1100" spc="-50" dirty="0">
                          <a:latin typeface="Arial MT"/>
                          <a:cs typeface="Arial MT"/>
                        </a:rPr>
                        <a:t>6</a:t>
                      </a:r>
                      <a:endParaRPr sz="1100">
                        <a:latin typeface="Arial MT"/>
                        <a:cs typeface="Arial MT"/>
                      </a:endParaRPr>
                    </a:p>
                  </a:txBody>
                  <a:tcPr marL="0" marR="0" marT="448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905" algn="ctr">
                        <a:lnSpc>
                          <a:spcPct val="100000"/>
                        </a:lnSpc>
                        <a:spcBef>
                          <a:spcPts val="265"/>
                        </a:spcBef>
                      </a:pPr>
                      <a:r>
                        <a:rPr sz="1100" spc="-10" dirty="0">
                          <a:latin typeface="Arial MT"/>
                          <a:cs typeface="Arial MT"/>
                        </a:rPr>
                        <a:t>1/3/2022</a:t>
                      </a:r>
                      <a:endParaRPr sz="1100">
                        <a:latin typeface="Arial MT"/>
                        <a:cs typeface="Arial MT"/>
                      </a:endParaRPr>
                    </a:p>
                  </a:txBody>
                  <a:tcPr marL="0" marR="0" marT="448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algn="ctr">
                        <a:lnSpc>
                          <a:spcPct val="100000"/>
                        </a:lnSpc>
                        <a:spcBef>
                          <a:spcPts val="265"/>
                        </a:spcBef>
                      </a:pPr>
                      <a:r>
                        <a:rPr sz="1100" dirty="0">
                          <a:latin typeface="Arial MT"/>
                          <a:cs typeface="Arial MT"/>
                        </a:rPr>
                        <a:t>Chocos</a:t>
                      </a:r>
                      <a:r>
                        <a:rPr sz="1100" spc="-15" dirty="0">
                          <a:latin typeface="Arial MT"/>
                          <a:cs typeface="Arial MT"/>
                        </a:rPr>
                        <a:t> </a:t>
                      </a:r>
                      <a:r>
                        <a:rPr sz="1100" dirty="0">
                          <a:latin typeface="Arial MT"/>
                          <a:cs typeface="Arial MT"/>
                        </a:rPr>
                        <a:t>-</a:t>
                      </a:r>
                      <a:r>
                        <a:rPr sz="1100" spc="-20" dirty="0">
                          <a:latin typeface="Arial MT"/>
                          <a:cs typeface="Arial MT"/>
                        </a:rPr>
                        <a:t> </a:t>
                      </a:r>
                      <a:r>
                        <a:rPr sz="1100" dirty="0">
                          <a:latin typeface="Arial MT"/>
                          <a:cs typeface="Arial MT"/>
                        </a:rPr>
                        <a:t>Magic</a:t>
                      </a:r>
                      <a:r>
                        <a:rPr sz="1100" spc="-5" dirty="0">
                          <a:latin typeface="Arial MT"/>
                          <a:cs typeface="Arial MT"/>
                        </a:rPr>
                        <a:t> </a:t>
                      </a:r>
                      <a:r>
                        <a:rPr sz="1100" spc="-10" dirty="0">
                          <a:latin typeface="Arial MT"/>
                          <a:cs typeface="Arial MT"/>
                        </a:rPr>
                        <a:t>Hearts</a:t>
                      </a:r>
                      <a:endParaRPr sz="1100" dirty="0">
                        <a:latin typeface="Arial MT"/>
                        <a:cs typeface="Arial MT"/>
                      </a:endParaRPr>
                    </a:p>
                  </a:txBody>
                  <a:tcPr marL="0" marR="0" marT="448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extLst>
                  <a:ext uri="{0D108BD9-81ED-4DB2-BD59-A6C34878D82A}">
                    <a16:rowId xmlns:a16="http://schemas.microsoft.com/office/drawing/2014/main" val="10006"/>
                  </a:ext>
                </a:extLst>
              </a:tr>
              <a:tr h="323866">
                <a:tc>
                  <a:txBody>
                    <a:bodyPr/>
                    <a:lstStyle/>
                    <a:p>
                      <a:pPr algn="ctr">
                        <a:lnSpc>
                          <a:spcPct val="100000"/>
                        </a:lnSpc>
                        <a:spcBef>
                          <a:spcPts val="484"/>
                        </a:spcBef>
                      </a:pPr>
                      <a:r>
                        <a:rPr sz="1100" spc="-50" dirty="0">
                          <a:latin typeface="Arial MT"/>
                          <a:cs typeface="Arial MT"/>
                        </a:rPr>
                        <a:t>7</a:t>
                      </a:r>
                      <a:endParaRPr sz="11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905" algn="ctr">
                        <a:lnSpc>
                          <a:spcPct val="100000"/>
                        </a:lnSpc>
                        <a:spcBef>
                          <a:spcPts val="484"/>
                        </a:spcBef>
                      </a:pPr>
                      <a:r>
                        <a:rPr sz="1100" spc="-10" dirty="0">
                          <a:latin typeface="Arial MT"/>
                          <a:cs typeface="Arial MT"/>
                        </a:rPr>
                        <a:t>1/3/2022</a:t>
                      </a:r>
                      <a:endParaRPr sz="11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314960" marR="217804" indent="-90170">
                        <a:lnSpc>
                          <a:spcPct val="100000"/>
                        </a:lnSpc>
                      </a:pPr>
                      <a:endParaRPr lang="en-IN" sz="1100" dirty="0">
                        <a:latin typeface="Arial MT"/>
                        <a:cs typeface="Arial MT"/>
                      </a:endParaRPr>
                    </a:p>
                    <a:p>
                      <a:pPr marL="314960" marR="217804" indent="-90170">
                        <a:lnSpc>
                          <a:spcPct val="100000"/>
                        </a:lnSpc>
                      </a:pPr>
                      <a:r>
                        <a:rPr sz="1100" dirty="0" err="1">
                          <a:latin typeface="Arial MT"/>
                          <a:cs typeface="Arial MT"/>
                        </a:rPr>
                        <a:t>Chocos</a:t>
                      </a:r>
                      <a:r>
                        <a:rPr sz="1100" dirty="0">
                          <a:latin typeface="Arial MT"/>
                          <a:cs typeface="Arial MT"/>
                        </a:rPr>
                        <a:t> Webs</a:t>
                      </a:r>
                      <a:r>
                        <a:rPr sz="1100" spc="-40" dirty="0">
                          <a:latin typeface="Arial MT"/>
                          <a:cs typeface="Arial MT"/>
                        </a:rPr>
                        <a:t> </a:t>
                      </a:r>
                      <a:r>
                        <a:rPr lang="en-IN" sz="1100" spc="-50" dirty="0">
                          <a:latin typeface="Arial MT"/>
                          <a:cs typeface="Arial MT"/>
                        </a:rPr>
                        <a:t>–</a:t>
                      </a:r>
                      <a:r>
                        <a:rPr sz="1100" spc="500" dirty="0">
                          <a:latin typeface="Arial MT"/>
                          <a:cs typeface="Arial MT"/>
                        </a:rPr>
                        <a:t> </a:t>
                      </a:r>
                      <a:r>
                        <a:rPr sz="1100" spc="-10" dirty="0">
                          <a:latin typeface="Arial MT"/>
                          <a:cs typeface="Arial MT"/>
                        </a:rPr>
                        <a:t>Spiderman</a:t>
                      </a:r>
                      <a:endParaRPr sz="11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extLst>
                  <a:ext uri="{0D108BD9-81ED-4DB2-BD59-A6C34878D82A}">
                    <a16:rowId xmlns:a16="http://schemas.microsoft.com/office/drawing/2014/main" val="10007"/>
                  </a:ext>
                </a:extLst>
              </a:tr>
              <a:tr h="323866">
                <a:tc>
                  <a:txBody>
                    <a:bodyPr/>
                    <a:lstStyle/>
                    <a:p>
                      <a:pPr algn="ctr">
                        <a:lnSpc>
                          <a:spcPct val="100000"/>
                        </a:lnSpc>
                        <a:spcBef>
                          <a:spcPts val="489"/>
                        </a:spcBef>
                      </a:pPr>
                      <a:r>
                        <a:rPr sz="1100" spc="-50" dirty="0">
                          <a:latin typeface="Arial MT"/>
                          <a:cs typeface="Arial MT"/>
                        </a:rPr>
                        <a:t>8</a:t>
                      </a:r>
                      <a:endParaRPr sz="1100">
                        <a:latin typeface="Arial MT"/>
                        <a:cs typeface="Arial MT"/>
                      </a:endParaRPr>
                    </a:p>
                  </a:txBody>
                  <a:tcPr marL="0" marR="0" marT="829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905" algn="ctr">
                        <a:lnSpc>
                          <a:spcPct val="100000"/>
                        </a:lnSpc>
                        <a:spcBef>
                          <a:spcPts val="489"/>
                        </a:spcBef>
                      </a:pPr>
                      <a:r>
                        <a:rPr sz="1100" spc="-10" dirty="0">
                          <a:latin typeface="Arial MT"/>
                          <a:cs typeface="Arial MT"/>
                        </a:rPr>
                        <a:t>1/3/2022</a:t>
                      </a:r>
                      <a:endParaRPr sz="1100">
                        <a:latin typeface="Arial MT"/>
                        <a:cs typeface="Arial MT"/>
                      </a:endParaRPr>
                    </a:p>
                  </a:txBody>
                  <a:tcPr marL="0" marR="0" marT="829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330200" marR="162560" indent="-160020">
                        <a:lnSpc>
                          <a:spcPct val="100000"/>
                        </a:lnSpc>
                      </a:pPr>
                      <a:endParaRPr lang="en-IN" sz="1100" dirty="0">
                        <a:latin typeface="Arial MT"/>
                        <a:cs typeface="Arial MT"/>
                      </a:endParaRPr>
                    </a:p>
                    <a:p>
                      <a:pPr marL="330200" marR="162560" indent="-160020">
                        <a:lnSpc>
                          <a:spcPct val="100000"/>
                        </a:lnSpc>
                      </a:pPr>
                      <a:r>
                        <a:rPr sz="1100" dirty="0">
                          <a:latin typeface="Arial MT"/>
                          <a:cs typeface="Arial MT"/>
                        </a:rPr>
                        <a:t>Breakfast</a:t>
                      </a:r>
                      <a:r>
                        <a:rPr sz="1100" spc="-20" dirty="0">
                          <a:latin typeface="Arial MT"/>
                          <a:cs typeface="Arial MT"/>
                        </a:rPr>
                        <a:t> </a:t>
                      </a:r>
                      <a:r>
                        <a:rPr sz="1100" dirty="0">
                          <a:latin typeface="Arial MT"/>
                          <a:cs typeface="Arial MT"/>
                        </a:rPr>
                        <a:t>Cereal</a:t>
                      </a:r>
                      <a:r>
                        <a:rPr sz="1100" spc="-35" dirty="0">
                          <a:latin typeface="Arial MT"/>
                          <a:cs typeface="Arial MT"/>
                        </a:rPr>
                        <a:t> </a:t>
                      </a:r>
                      <a:r>
                        <a:rPr lang="en-IN" sz="1100" spc="-50" dirty="0">
                          <a:latin typeface="Arial MT"/>
                          <a:cs typeface="Arial MT"/>
                        </a:rPr>
                        <a:t>–</a:t>
                      </a:r>
                      <a:r>
                        <a:rPr sz="1100" spc="500" dirty="0">
                          <a:latin typeface="Arial MT"/>
                          <a:cs typeface="Arial MT"/>
                        </a:rPr>
                        <a:t> </a:t>
                      </a:r>
                      <a:r>
                        <a:rPr sz="1100" spc="-10" dirty="0">
                          <a:latin typeface="Arial MT"/>
                          <a:cs typeface="Arial MT"/>
                        </a:rPr>
                        <a:t>Chocolate</a:t>
                      </a:r>
                      <a:endParaRPr sz="11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extLst>
                  <a:ext uri="{0D108BD9-81ED-4DB2-BD59-A6C34878D82A}">
                    <a16:rowId xmlns:a16="http://schemas.microsoft.com/office/drawing/2014/main" val="10008"/>
                  </a:ext>
                </a:extLst>
              </a:tr>
              <a:tr h="277600">
                <a:tc>
                  <a:txBody>
                    <a:bodyPr/>
                    <a:lstStyle/>
                    <a:p>
                      <a:pPr algn="ctr">
                        <a:lnSpc>
                          <a:spcPct val="100000"/>
                        </a:lnSpc>
                        <a:spcBef>
                          <a:spcPts val="360"/>
                        </a:spcBef>
                      </a:pPr>
                      <a:r>
                        <a:rPr sz="1100" spc="-50" dirty="0">
                          <a:latin typeface="Arial MT"/>
                          <a:cs typeface="Arial MT"/>
                        </a:rPr>
                        <a:t>9</a:t>
                      </a:r>
                      <a:endParaRPr sz="1100">
                        <a:latin typeface="Arial MT"/>
                        <a:cs typeface="Arial MT"/>
                      </a:endParaRPr>
                    </a:p>
                  </a:txBody>
                  <a:tcPr marL="0" marR="0" marT="609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905" algn="ctr">
                        <a:lnSpc>
                          <a:spcPct val="100000"/>
                        </a:lnSpc>
                        <a:spcBef>
                          <a:spcPts val="360"/>
                        </a:spcBef>
                      </a:pPr>
                      <a:r>
                        <a:rPr sz="1100" spc="-10" dirty="0">
                          <a:latin typeface="Arial MT"/>
                          <a:cs typeface="Arial MT"/>
                        </a:rPr>
                        <a:t>1/3/2022</a:t>
                      </a:r>
                      <a:endParaRPr sz="1100">
                        <a:latin typeface="Arial MT"/>
                        <a:cs typeface="Arial MT"/>
                      </a:endParaRPr>
                    </a:p>
                  </a:txBody>
                  <a:tcPr marL="0" marR="0" marT="609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270" algn="ctr">
                        <a:lnSpc>
                          <a:spcPct val="100000"/>
                        </a:lnSpc>
                        <a:spcBef>
                          <a:spcPts val="360"/>
                        </a:spcBef>
                      </a:pPr>
                      <a:r>
                        <a:rPr sz="1100" dirty="0">
                          <a:latin typeface="Arial MT"/>
                          <a:cs typeface="Arial MT"/>
                        </a:rPr>
                        <a:t>Fiber</a:t>
                      </a:r>
                      <a:r>
                        <a:rPr sz="1100" spc="-10" dirty="0">
                          <a:latin typeface="Arial MT"/>
                          <a:cs typeface="Arial MT"/>
                        </a:rPr>
                        <a:t> </a:t>
                      </a:r>
                      <a:r>
                        <a:rPr sz="1100" dirty="0">
                          <a:latin typeface="Arial MT"/>
                          <a:cs typeface="Arial MT"/>
                        </a:rPr>
                        <a:t>Rich</a:t>
                      </a:r>
                      <a:r>
                        <a:rPr sz="1100" spc="-25" dirty="0">
                          <a:latin typeface="Arial MT"/>
                          <a:cs typeface="Arial MT"/>
                        </a:rPr>
                        <a:t> </a:t>
                      </a:r>
                      <a:r>
                        <a:rPr sz="1100" spc="-10" dirty="0">
                          <a:latin typeface="Arial MT"/>
                          <a:cs typeface="Arial MT"/>
                        </a:rPr>
                        <a:t>Chocolate</a:t>
                      </a:r>
                      <a:endParaRPr sz="1100" dirty="0">
                        <a:latin typeface="Arial MT"/>
                        <a:cs typeface="Arial MT"/>
                      </a:endParaRPr>
                    </a:p>
                  </a:txBody>
                  <a:tcPr marL="0" marR="0" marT="609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extLst>
                  <a:ext uri="{0D108BD9-81ED-4DB2-BD59-A6C34878D82A}">
                    <a16:rowId xmlns:a16="http://schemas.microsoft.com/office/drawing/2014/main" val="10009"/>
                  </a:ext>
                </a:extLst>
              </a:tr>
              <a:tr h="324792">
                <a:tc>
                  <a:txBody>
                    <a:bodyPr/>
                    <a:lstStyle/>
                    <a:p>
                      <a:pPr algn="ctr">
                        <a:lnSpc>
                          <a:spcPct val="100000"/>
                        </a:lnSpc>
                        <a:spcBef>
                          <a:spcPts val="484"/>
                        </a:spcBef>
                      </a:pPr>
                      <a:r>
                        <a:rPr sz="1100" spc="-25" dirty="0">
                          <a:latin typeface="Arial MT"/>
                          <a:cs typeface="Arial MT"/>
                        </a:rPr>
                        <a:t>10</a:t>
                      </a:r>
                      <a:endParaRPr sz="11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1905" algn="ctr">
                        <a:lnSpc>
                          <a:spcPct val="100000"/>
                        </a:lnSpc>
                        <a:spcBef>
                          <a:spcPts val="484"/>
                        </a:spcBef>
                      </a:pPr>
                      <a:r>
                        <a:rPr sz="1100" spc="-10" dirty="0">
                          <a:latin typeface="Arial MT"/>
                          <a:cs typeface="Arial MT"/>
                        </a:rPr>
                        <a:t>1/3/2022</a:t>
                      </a:r>
                      <a:endParaRPr sz="1100">
                        <a:latin typeface="Arial MT"/>
                        <a:cs typeface="Arial MT"/>
                      </a:endParaRPr>
                    </a:p>
                  </a:txBody>
                  <a:tcPr marL="0" marR="0" marT="821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tc>
                  <a:txBody>
                    <a:bodyPr/>
                    <a:lstStyle/>
                    <a:p>
                      <a:pPr marL="424815" marR="59055" indent="-358140">
                        <a:lnSpc>
                          <a:spcPct val="100000"/>
                        </a:lnSpc>
                      </a:pPr>
                      <a:endParaRPr lang="en-IN" sz="1100" dirty="0">
                        <a:latin typeface="Arial MT"/>
                        <a:cs typeface="Arial MT"/>
                      </a:endParaRPr>
                    </a:p>
                    <a:p>
                      <a:pPr marL="424815" marR="59055" indent="-358140">
                        <a:lnSpc>
                          <a:spcPct val="100000"/>
                        </a:lnSpc>
                      </a:pPr>
                      <a:r>
                        <a:rPr sz="1100" dirty="0">
                          <a:latin typeface="Arial MT"/>
                          <a:cs typeface="Arial MT"/>
                        </a:rPr>
                        <a:t>Centre</a:t>
                      </a:r>
                      <a:r>
                        <a:rPr sz="1100" spc="-5" dirty="0">
                          <a:latin typeface="Arial MT"/>
                          <a:cs typeface="Arial MT"/>
                        </a:rPr>
                        <a:t> </a:t>
                      </a:r>
                      <a:r>
                        <a:rPr sz="1100" dirty="0">
                          <a:latin typeface="Arial MT"/>
                          <a:cs typeface="Arial MT"/>
                        </a:rPr>
                        <a:t>Filled</a:t>
                      </a:r>
                      <a:r>
                        <a:rPr sz="1100" spc="-35" dirty="0">
                          <a:latin typeface="Arial MT"/>
                          <a:cs typeface="Arial MT"/>
                        </a:rPr>
                        <a:t> </a:t>
                      </a:r>
                      <a:r>
                        <a:rPr sz="1100" spc="-10" dirty="0">
                          <a:latin typeface="Arial MT"/>
                          <a:cs typeface="Arial MT"/>
                        </a:rPr>
                        <a:t>Chocolate</a:t>
                      </a:r>
                      <a:r>
                        <a:rPr sz="1100" spc="500" dirty="0">
                          <a:latin typeface="Arial MT"/>
                          <a:cs typeface="Arial MT"/>
                        </a:rPr>
                        <a:t> </a:t>
                      </a:r>
                      <a:r>
                        <a:rPr sz="1100" spc="-20" dirty="0">
                          <a:latin typeface="Arial MT"/>
                          <a:cs typeface="Arial MT"/>
                        </a:rPr>
                        <a:t>Cake</a:t>
                      </a:r>
                      <a:endParaRPr sz="11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6A6A6"/>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17467" y="362589"/>
            <a:ext cx="5514003"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The</a:t>
            </a:r>
            <a:r>
              <a:rPr spc="-60" dirty="0">
                <a:solidFill>
                  <a:schemeClr val="bg1"/>
                </a:solidFill>
                <a:latin typeface="+mn-lt"/>
              </a:rPr>
              <a:t> </a:t>
            </a:r>
            <a:r>
              <a:rPr dirty="0">
                <a:solidFill>
                  <a:schemeClr val="bg1"/>
                </a:solidFill>
                <a:latin typeface="+mn-lt"/>
              </a:rPr>
              <a:t>Staging</a:t>
            </a:r>
            <a:r>
              <a:rPr spc="-53" dirty="0">
                <a:solidFill>
                  <a:schemeClr val="bg1"/>
                </a:solidFill>
                <a:latin typeface="+mn-lt"/>
              </a:rPr>
              <a:t> </a:t>
            </a:r>
            <a:r>
              <a:rPr spc="-13" dirty="0">
                <a:solidFill>
                  <a:schemeClr val="bg1"/>
                </a:solidFill>
                <a:latin typeface="+mn-lt"/>
              </a:rPr>
              <a:t>Layer</a:t>
            </a:r>
          </a:p>
        </p:txBody>
      </p:sp>
      <p:sp>
        <p:nvSpPr>
          <p:cNvPr id="3" name="object 3"/>
          <p:cNvSpPr txBox="1"/>
          <p:nvPr/>
        </p:nvSpPr>
        <p:spPr>
          <a:xfrm>
            <a:off x="3153326" y="2055706"/>
            <a:ext cx="6442287" cy="301792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Staging</a:t>
            </a:r>
            <a:r>
              <a:rPr sz="2400" b="1" spc="-13" dirty="0">
                <a:solidFill>
                  <a:srgbClr val="D9D9D9"/>
                </a:solidFill>
                <a:latin typeface="Calibri"/>
                <a:cs typeface="Calibri"/>
              </a:rPr>
              <a:t> </a:t>
            </a:r>
            <a:r>
              <a:rPr sz="2400" b="1" dirty="0">
                <a:solidFill>
                  <a:srgbClr val="D9D9D9"/>
                </a:solidFill>
                <a:latin typeface="Calibri"/>
                <a:cs typeface="Calibri"/>
              </a:rPr>
              <a:t>Layer</a:t>
            </a:r>
            <a:r>
              <a:rPr sz="2400" b="1" spc="-20" dirty="0">
                <a:solidFill>
                  <a:srgbClr val="D9D9D9"/>
                </a:solidFill>
                <a:latin typeface="Calibri"/>
                <a:cs typeface="Calibri"/>
              </a:rPr>
              <a:t> </a:t>
            </a:r>
            <a:r>
              <a:rPr sz="2400" b="1" dirty="0">
                <a:solidFill>
                  <a:srgbClr val="D9D9D9"/>
                </a:solidFill>
                <a:latin typeface="Calibri"/>
                <a:cs typeface="Calibri"/>
              </a:rPr>
              <a:t>is</a:t>
            </a:r>
            <a:r>
              <a:rPr sz="2400" b="1" spc="7" dirty="0">
                <a:solidFill>
                  <a:srgbClr val="D9D9D9"/>
                </a:solidFill>
                <a:latin typeface="Calibri"/>
                <a:cs typeface="Calibri"/>
              </a:rPr>
              <a:t> </a:t>
            </a:r>
            <a:r>
              <a:rPr sz="2400" b="1" dirty="0">
                <a:solidFill>
                  <a:srgbClr val="D9D9D9"/>
                </a:solidFill>
                <a:latin typeface="Calibri"/>
                <a:cs typeface="Calibri"/>
              </a:rPr>
              <a:t>the</a:t>
            </a:r>
            <a:r>
              <a:rPr sz="2400" b="1" spc="-27" dirty="0">
                <a:solidFill>
                  <a:srgbClr val="D9D9D9"/>
                </a:solidFill>
                <a:latin typeface="Calibri"/>
                <a:cs typeface="Calibri"/>
              </a:rPr>
              <a:t> </a:t>
            </a:r>
            <a:r>
              <a:rPr sz="2400" b="1" dirty="0">
                <a:solidFill>
                  <a:srgbClr val="D9D9D9"/>
                </a:solidFill>
                <a:latin typeface="Calibri"/>
                <a:cs typeface="Calibri"/>
              </a:rPr>
              <a:t>landing</a:t>
            </a:r>
            <a:r>
              <a:rPr sz="2400" b="1" spc="-40" dirty="0">
                <a:solidFill>
                  <a:srgbClr val="D9D9D9"/>
                </a:solidFill>
                <a:latin typeface="Calibri"/>
                <a:cs typeface="Calibri"/>
              </a:rPr>
              <a:t> </a:t>
            </a:r>
            <a:r>
              <a:rPr sz="2400" b="1" dirty="0">
                <a:solidFill>
                  <a:srgbClr val="D9D9D9"/>
                </a:solidFill>
                <a:latin typeface="Calibri"/>
                <a:cs typeface="Calibri"/>
              </a:rPr>
              <a:t>zone</a:t>
            </a:r>
            <a:r>
              <a:rPr sz="2400" b="1" spc="-40" dirty="0">
                <a:solidFill>
                  <a:srgbClr val="D9D9D9"/>
                </a:solidFill>
                <a:latin typeface="Calibri"/>
                <a:cs typeface="Calibri"/>
              </a:rPr>
              <a:t> </a:t>
            </a:r>
            <a:r>
              <a:rPr sz="2400" b="1" dirty="0">
                <a:solidFill>
                  <a:srgbClr val="D9D9D9"/>
                </a:solidFill>
                <a:latin typeface="Calibri"/>
                <a:cs typeface="Calibri"/>
              </a:rPr>
              <a:t>extracted</a:t>
            </a:r>
            <a:r>
              <a:rPr sz="2400" b="1" spc="-33" dirty="0">
                <a:solidFill>
                  <a:srgbClr val="D9D9D9"/>
                </a:solidFill>
                <a:latin typeface="Calibri"/>
                <a:cs typeface="Calibri"/>
              </a:rPr>
              <a:t> </a:t>
            </a:r>
            <a:r>
              <a:rPr sz="2400" b="1" spc="-27" dirty="0">
                <a:solidFill>
                  <a:srgbClr val="D9D9D9"/>
                </a:solidFill>
                <a:latin typeface="Calibri"/>
                <a:cs typeface="Calibri"/>
              </a:rPr>
              <a:t>data</a:t>
            </a:r>
            <a:endParaRPr sz="2400">
              <a:latin typeface="Calibri"/>
              <a:cs typeface="Calibri"/>
            </a:endParaRPr>
          </a:p>
          <a:p>
            <a:pPr marL="398770" indent="-381837">
              <a:spcBef>
                <a:spcPts val="1980"/>
              </a:spcBef>
              <a:buClr>
                <a:srgbClr val="99D3FF"/>
              </a:buClr>
              <a:buFont typeface="Wingdings"/>
              <a:buChar char=""/>
              <a:tabLst>
                <a:tab pos="398770" algn="l"/>
              </a:tabLst>
            </a:pPr>
            <a:r>
              <a:rPr sz="2400" b="1" dirty="0">
                <a:solidFill>
                  <a:srgbClr val="D9D9D9"/>
                </a:solidFill>
                <a:latin typeface="Calibri"/>
                <a:cs typeface="Calibri"/>
              </a:rPr>
              <a:t>Data</a:t>
            </a:r>
            <a:r>
              <a:rPr sz="2400" b="1" spc="-7" dirty="0">
                <a:solidFill>
                  <a:srgbClr val="D9D9D9"/>
                </a:solidFill>
                <a:latin typeface="Calibri"/>
                <a:cs typeface="Calibri"/>
              </a:rPr>
              <a:t> </a:t>
            </a:r>
            <a:r>
              <a:rPr sz="2400" b="1" dirty="0">
                <a:solidFill>
                  <a:srgbClr val="D9D9D9"/>
                </a:solidFill>
                <a:latin typeface="Calibri"/>
                <a:cs typeface="Calibri"/>
              </a:rPr>
              <a:t>in</a:t>
            </a:r>
            <a:r>
              <a:rPr sz="2400" b="1" spc="-7" dirty="0">
                <a:solidFill>
                  <a:srgbClr val="D9D9D9"/>
                </a:solidFill>
                <a:latin typeface="Calibri"/>
                <a:cs typeface="Calibri"/>
              </a:rPr>
              <a:t> </a:t>
            </a:r>
            <a:r>
              <a:rPr sz="2400" b="1" dirty="0">
                <a:solidFill>
                  <a:srgbClr val="D9D9D9"/>
                </a:solidFill>
                <a:latin typeface="Calibri"/>
                <a:cs typeface="Calibri"/>
              </a:rPr>
              <a:t>tables</a:t>
            </a:r>
            <a:r>
              <a:rPr sz="2400" b="1" spc="-33" dirty="0">
                <a:solidFill>
                  <a:srgbClr val="D9D9D9"/>
                </a:solidFill>
                <a:latin typeface="Calibri"/>
                <a:cs typeface="Calibri"/>
              </a:rPr>
              <a:t> </a:t>
            </a:r>
            <a:r>
              <a:rPr sz="2400" b="1" dirty="0">
                <a:solidFill>
                  <a:srgbClr val="D9D9D9"/>
                </a:solidFill>
                <a:latin typeface="Calibri"/>
                <a:cs typeface="Calibri"/>
              </a:rPr>
              <a:t>and</a:t>
            </a:r>
            <a:r>
              <a:rPr sz="2400" b="1" spc="-27" dirty="0">
                <a:solidFill>
                  <a:srgbClr val="D9D9D9"/>
                </a:solidFill>
                <a:latin typeface="Calibri"/>
                <a:cs typeface="Calibri"/>
              </a:rPr>
              <a:t> </a:t>
            </a:r>
            <a:r>
              <a:rPr sz="2400" b="1" dirty="0">
                <a:solidFill>
                  <a:srgbClr val="D9D9D9"/>
                </a:solidFill>
                <a:latin typeface="Calibri"/>
                <a:cs typeface="Calibri"/>
              </a:rPr>
              <a:t>on</a:t>
            </a:r>
            <a:r>
              <a:rPr sz="2400" b="1" spc="-13" dirty="0">
                <a:solidFill>
                  <a:srgbClr val="D9D9D9"/>
                </a:solidFill>
                <a:latin typeface="Calibri"/>
                <a:cs typeface="Calibri"/>
              </a:rPr>
              <a:t> </a:t>
            </a:r>
            <a:r>
              <a:rPr sz="2400" b="1" dirty="0">
                <a:solidFill>
                  <a:srgbClr val="D9D9D9"/>
                </a:solidFill>
                <a:latin typeface="Calibri"/>
                <a:cs typeface="Calibri"/>
              </a:rPr>
              <a:t>a</a:t>
            </a:r>
            <a:r>
              <a:rPr sz="2400" b="1" spc="13" dirty="0">
                <a:solidFill>
                  <a:srgbClr val="D9D9D9"/>
                </a:solidFill>
                <a:latin typeface="Calibri"/>
                <a:cs typeface="Calibri"/>
              </a:rPr>
              <a:t> </a:t>
            </a:r>
            <a:r>
              <a:rPr sz="2400" b="1" dirty="0">
                <a:solidFill>
                  <a:srgbClr val="D9D9D9"/>
                </a:solidFill>
                <a:latin typeface="Calibri"/>
                <a:cs typeface="Calibri"/>
              </a:rPr>
              <a:t>separate</a:t>
            </a:r>
            <a:r>
              <a:rPr sz="2400" b="1" spc="-13" dirty="0">
                <a:solidFill>
                  <a:srgbClr val="D9D9D9"/>
                </a:solidFill>
                <a:latin typeface="Calibri"/>
                <a:cs typeface="Calibri"/>
              </a:rPr>
              <a:t> database</a:t>
            </a:r>
            <a:endParaRPr sz="2400">
              <a:latin typeface="Calibri"/>
              <a:cs typeface="Calibri"/>
            </a:endParaRPr>
          </a:p>
          <a:p>
            <a:pPr marL="397923" indent="-380990">
              <a:spcBef>
                <a:spcPts val="2300"/>
              </a:spcBef>
              <a:buClr>
                <a:srgbClr val="99D3FF"/>
              </a:buClr>
              <a:buFont typeface="Wingdings"/>
              <a:buChar char=""/>
              <a:tabLst>
                <a:tab pos="397923" algn="l"/>
              </a:tabLst>
            </a:pPr>
            <a:r>
              <a:rPr sz="2400" b="1" dirty="0">
                <a:solidFill>
                  <a:srgbClr val="D9D9D9"/>
                </a:solidFill>
                <a:latin typeface="Calibri"/>
                <a:cs typeface="Calibri"/>
              </a:rPr>
              <a:t>As</a:t>
            </a:r>
            <a:r>
              <a:rPr sz="2400" b="1" spc="-20" dirty="0">
                <a:solidFill>
                  <a:srgbClr val="D9D9D9"/>
                </a:solidFill>
                <a:latin typeface="Calibri"/>
                <a:cs typeface="Calibri"/>
              </a:rPr>
              <a:t> </a:t>
            </a:r>
            <a:r>
              <a:rPr sz="2400" b="1" dirty="0">
                <a:solidFill>
                  <a:srgbClr val="D9D9D9"/>
                </a:solidFill>
                <a:latin typeface="Calibri"/>
                <a:cs typeface="Calibri"/>
              </a:rPr>
              <a:t>little</a:t>
            </a:r>
            <a:r>
              <a:rPr sz="2400" b="1" spc="-27" dirty="0">
                <a:solidFill>
                  <a:srgbClr val="D9D9D9"/>
                </a:solidFill>
                <a:latin typeface="Calibri"/>
                <a:cs typeface="Calibri"/>
              </a:rPr>
              <a:t> </a:t>
            </a:r>
            <a:r>
              <a:rPr sz="2400" b="1" dirty="0">
                <a:solidFill>
                  <a:srgbClr val="D9D9D9"/>
                </a:solidFill>
                <a:latin typeface="Calibri"/>
                <a:cs typeface="Calibri"/>
              </a:rPr>
              <a:t>"touching"</a:t>
            </a:r>
            <a:r>
              <a:rPr sz="2400" b="1" spc="-13" dirty="0">
                <a:solidFill>
                  <a:srgbClr val="D9D9D9"/>
                </a:solidFill>
                <a:latin typeface="Calibri"/>
                <a:cs typeface="Calibri"/>
              </a:rPr>
              <a:t> </a:t>
            </a:r>
            <a:r>
              <a:rPr sz="2400" b="1" dirty="0">
                <a:solidFill>
                  <a:srgbClr val="D9D9D9"/>
                </a:solidFill>
                <a:latin typeface="Calibri"/>
                <a:cs typeface="Calibri"/>
              </a:rPr>
              <a:t>as</a:t>
            </a:r>
            <a:r>
              <a:rPr sz="2400" b="1" spc="-40" dirty="0">
                <a:solidFill>
                  <a:srgbClr val="D9D9D9"/>
                </a:solidFill>
                <a:latin typeface="Calibri"/>
                <a:cs typeface="Calibri"/>
              </a:rPr>
              <a:t> </a:t>
            </a:r>
            <a:r>
              <a:rPr sz="2400" b="1" spc="-13" dirty="0">
                <a:solidFill>
                  <a:srgbClr val="D9D9D9"/>
                </a:solidFill>
                <a:latin typeface="Calibri"/>
                <a:cs typeface="Calibri"/>
              </a:rPr>
              <a:t>possible</a:t>
            </a:r>
            <a:endParaRPr sz="2400">
              <a:latin typeface="Calibri"/>
              <a:cs typeface="Calibri"/>
            </a:endParaRPr>
          </a:p>
          <a:p>
            <a:pPr marL="397923" indent="-380990">
              <a:spcBef>
                <a:spcPts val="2313"/>
              </a:spcBef>
              <a:buClr>
                <a:srgbClr val="99D3FF"/>
              </a:buClr>
              <a:buFont typeface="Wingdings"/>
              <a:buChar char=""/>
              <a:tabLst>
                <a:tab pos="397923" algn="l"/>
              </a:tabLst>
            </a:pPr>
            <a:r>
              <a:rPr sz="2400" b="1" dirty="0">
                <a:solidFill>
                  <a:srgbClr val="D9D9D9"/>
                </a:solidFill>
                <a:latin typeface="Calibri"/>
                <a:cs typeface="Calibri"/>
              </a:rPr>
              <a:t>We don't</a:t>
            </a:r>
            <a:r>
              <a:rPr sz="2400" b="1" spc="-27" dirty="0">
                <a:solidFill>
                  <a:srgbClr val="D9D9D9"/>
                </a:solidFill>
                <a:latin typeface="Calibri"/>
                <a:cs typeface="Calibri"/>
              </a:rPr>
              <a:t> </a:t>
            </a:r>
            <a:r>
              <a:rPr sz="2400" b="1" dirty="0">
                <a:solidFill>
                  <a:srgbClr val="D9D9D9"/>
                </a:solidFill>
                <a:latin typeface="Calibri"/>
                <a:cs typeface="Calibri"/>
              </a:rPr>
              <a:t>charge</a:t>
            </a:r>
            <a:r>
              <a:rPr sz="2400" b="1" spc="-27" dirty="0">
                <a:solidFill>
                  <a:srgbClr val="D9D9D9"/>
                </a:solidFill>
                <a:latin typeface="Calibri"/>
                <a:cs typeface="Calibri"/>
              </a:rPr>
              <a:t> </a:t>
            </a:r>
            <a:r>
              <a:rPr sz="2400" b="1" dirty="0">
                <a:solidFill>
                  <a:srgbClr val="D9D9D9"/>
                </a:solidFill>
                <a:latin typeface="Calibri"/>
                <a:cs typeface="Calibri"/>
              </a:rPr>
              <a:t>the</a:t>
            </a:r>
            <a:r>
              <a:rPr sz="2400" b="1" spc="-7" dirty="0">
                <a:solidFill>
                  <a:srgbClr val="D9D9D9"/>
                </a:solidFill>
                <a:latin typeface="Calibri"/>
                <a:cs typeface="Calibri"/>
              </a:rPr>
              <a:t> </a:t>
            </a:r>
            <a:r>
              <a:rPr sz="2400" b="1" dirty="0">
                <a:solidFill>
                  <a:srgbClr val="D9D9D9"/>
                </a:solidFill>
                <a:latin typeface="Calibri"/>
                <a:cs typeface="Calibri"/>
              </a:rPr>
              <a:t>source</a:t>
            </a:r>
            <a:r>
              <a:rPr sz="2400" b="1" spc="-13" dirty="0">
                <a:solidFill>
                  <a:srgbClr val="D9D9D9"/>
                </a:solidFill>
                <a:latin typeface="Calibri"/>
                <a:cs typeface="Calibri"/>
              </a:rPr>
              <a:t> systems</a:t>
            </a:r>
            <a:endParaRPr sz="2400">
              <a:latin typeface="Calibri"/>
              <a:cs typeface="Calibri"/>
            </a:endParaRPr>
          </a:p>
          <a:p>
            <a:pPr marL="397923" indent="-380990">
              <a:spcBef>
                <a:spcPts val="2407"/>
              </a:spcBef>
              <a:buClr>
                <a:srgbClr val="99D3FF"/>
              </a:buClr>
              <a:buFont typeface="Wingdings"/>
              <a:buChar char=""/>
              <a:tabLst>
                <a:tab pos="397923" algn="l"/>
              </a:tabLst>
            </a:pPr>
            <a:r>
              <a:rPr sz="2400" b="1" dirty="0">
                <a:solidFill>
                  <a:srgbClr val="D9D9D9"/>
                </a:solidFill>
                <a:latin typeface="Calibri"/>
                <a:cs typeface="Calibri"/>
              </a:rPr>
              <a:t>Temporary</a:t>
            </a:r>
            <a:r>
              <a:rPr sz="2400" b="1" spc="-33" dirty="0">
                <a:solidFill>
                  <a:srgbClr val="D9D9D9"/>
                </a:solidFill>
                <a:latin typeface="Calibri"/>
                <a:cs typeface="Calibri"/>
              </a:rPr>
              <a:t> </a:t>
            </a:r>
            <a:r>
              <a:rPr sz="2400" b="1" dirty="0">
                <a:solidFill>
                  <a:srgbClr val="D9D9D9"/>
                </a:solidFill>
                <a:latin typeface="Calibri"/>
                <a:cs typeface="Calibri"/>
              </a:rPr>
              <a:t>or</a:t>
            </a:r>
            <a:r>
              <a:rPr sz="2400" b="1" spc="-13" dirty="0">
                <a:solidFill>
                  <a:srgbClr val="D9D9D9"/>
                </a:solidFill>
                <a:latin typeface="Calibri"/>
                <a:cs typeface="Calibri"/>
              </a:rPr>
              <a:t> </a:t>
            </a:r>
            <a:r>
              <a:rPr sz="2400" b="1" dirty="0">
                <a:solidFill>
                  <a:srgbClr val="D9D9D9"/>
                </a:solidFill>
                <a:latin typeface="Calibri"/>
                <a:cs typeface="Calibri"/>
              </a:rPr>
              <a:t>Persistant</a:t>
            </a:r>
            <a:r>
              <a:rPr sz="2400" b="1" spc="-27" dirty="0">
                <a:solidFill>
                  <a:srgbClr val="D9D9D9"/>
                </a:solidFill>
                <a:latin typeface="Calibri"/>
                <a:cs typeface="Calibri"/>
              </a:rPr>
              <a:t> </a:t>
            </a:r>
            <a:r>
              <a:rPr sz="2400" b="1" dirty="0">
                <a:solidFill>
                  <a:srgbClr val="D9D9D9"/>
                </a:solidFill>
                <a:latin typeface="Calibri"/>
                <a:cs typeface="Calibri"/>
              </a:rPr>
              <a:t>Staging</a:t>
            </a:r>
            <a:r>
              <a:rPr sz="2400" b="1" spc="-27" dirty="0">
                <a:solidFill>
                  <a:srgbClr val="D9D9D9"/>
                </a:solidFill>
                <a:latin typeface="Calibri"/>
                <a:cs typeface="Calibri"/>
              </a:rPr>
              <a:t> </a:t>
            </a:r>
            <a:r>
              <a:rPr sz="2400" b="1" spc="-13" dirty="0">
                <a:solidFill>
                  <a:srgbClr val="D9D9D9"/>
                </a:solidFill>
                <a:latin typeface="Calibri"/>
                <a:cs typeface="Calibri"/>
              </a:rPr>
              <a:t>Layers</a:t>
            </a:r>
            <a:endParaRPr sz="2400">
              <a:latin typeface="Calibri"/>
              <a:cs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27759" y="2320543"/>
            <a:ext cx="9930384" cy="1704848"/>
          </a:xfrm>
          <a:prstGeom prst="rect">
            <a:avLst/>
          </a:prstGeom>
        </p:spPr>
      </p:pic>
      <p:sp>
        <p:nvSpPr>
          <p:cNvPr id="3" name="object 3"/>
          <p:cNvSpPr txBox="1">
            <a:spLocks noGrp="1"/>
          </p:cNvSpPr>
          <p:nvPr>
            <p:ph type="title"/>
          </p:nvPr>
        </p:nvSpPr>
        <p:spPr>
          <a:xfrm>
            <a:off x="1190751" y="2621034"/>
            <a:ext cx="9811173" cy="1049004"/>
          </a:xfrm>
          <a:prstGeom prst="rect">
            <a:avLst/>
          </a:prstGeom>
          <a:noFill/>
          <a:ln w="9144">
            <a:noFill/>
          </a:ln>
        </p:spPr>
        <p:txBody>
          <a:bodyPr vert="horz" wrap="square" lIns="0" tIns="307339" rIns="0" bIns="0" rtlCol="0" anchor="ctr">
            <a:spAutoFit/>
          </a:bodyPr>
          <a:lstStyle/>
          <a:p>
            <a:pPr algn="ctr">
              <a:lnSpc>
                <a:spcPct val="100000"/>
              </a:lnSpc>
              <a:spcBef>
                <a:spcPts val="2419"/>
              </a:spcBef>
            </a:pPr>
            <a:r>
              <a:rPr sz="4800" dirty="0">
                <a:solidFill>
                  <a:schemeClr val="bg1"/>
                </a:solidFill>
              </a:rPr>
              <a:t>Data</a:t>
            </a:r>
            <a:r>
              <a:rPr sz="4800" spc="-7" dirty="0">
                <a:solidFill>
                  <a:schemeClr val="bg1"/>
                </a:solidFill>
              </a:rPr>
              <a:t> </a:t>
            </a:r>
            <a:r>
              <a:rPr sz="4800" spc="-13" dirty="0">
                <a:solidFill>
                  <a:schemeClr val="bg1"/>
                </a:solidFill>
              </a:rPr>
              <a:t>Marts</a:t>
            </a:r>
            <a:endParaRPr sz="4800" dirty="0">
              <a:solidFill>
                <a:schemeClr val="bg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56168" y="383228"/>
            <a:ext cx="6252295"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Data</a:t>
            </a:r>
            <a:r>
              <a:rPr spc="-33" dirty="0">
                <a:solidFill>
                  <a:schemeClr val="bg1"/>
                </a:solidFill>
                <a:latin typeface="+mn-lt"/>
              </a:rPr>
              <a:t> </a:t>
            </a:r>
            <a:r>
              <a:rPr dirty="0">
                <a:solidFill>
                  <a:schemeClr val="bg1"/>
                </a:solidFill>
                <a:latin typeface="+mn-lt"/>
              </a:rPr>
              <a:t>Warehouse</a:t>
            </a:r>
            <a:r>
              <a:rPr spc="-60" dirty="0">
                <a:solidFill>
                  <a:schemeClr val="bg1"/>
                </a:solidFill>
                <a:latin typeface="+mn-lt"/>
              </a:rPr>
              <a:t> </a:t>
            </a:r>
            <a:r>
              <a:rPr spc="-13" dirty="0">
                <a:solidFill>
                  <a:schemeClr val="bg1"/>
                </a:solidFill>
                <a:latin typeface="+mn-lt"/>
              </a:rPr>
              <a:t>Layers</a:t>
            </a:r>
          </a:p>
        </p:txBody>
      </p:sp>
      <p:grpSp>
        <p:nvGrpSpPr>
          <p:cNvPr id="3" name="object 3"/>
          <p:cNvGrpSpPr/>
          <p:nvPr/>
        </p:nvGrpSpPr>
        <p:grpSpPr>
          <a:xfrm>
            <a:off x="6662674" y="2048002"/>
            <a:ext cx="2044700" cy="2959100"/>
            <a:chOff x="4997005" y="1536001"/>
            <a:chExt cx="1533525" cy="2219325"/>
          </a:xfrm>
        </p:grpSpPr>
        <p:sp>
          <p:nvSpPr>
            <p:cNvPr id="4" name="object 4"/>
            <p:cNvSpPr/>
            <p:nvPr/>
          </p:nvSpPr>
          <p:spPr>
            <a:xfrm>
              <a:off x="5001767" y="1540763"/>
              <a:ext cx="1524000" cy="2209800"/>
            </a:xfrm>
            <a:custGeom>
              <a:avLst/>
              <a:gdLst/>
              <a:ahLst/>
              <a:cxnLst/>
              <a:rect l="l" t="t" r="r" b="b"/>
              <a:pathLst>
                <a:path w="1524000" h="2209800">
                  <a:moveTo>
                    <a:pt x="0" y="254000"/>
                  </a:moveTo>
                  <a:lnTo>
                    <a:pt x="4090" y="208328"/>
                  </a:lnTo>
                  <a:lnTo>
                    <a:pt x="15884" y="165349"/>
                  </a:lnTo>
                  <a:lnTo>
                    <a:pt x="34666" y="125777"/>
                  </a:lnTo>
                  <a:lnTo>
                    <a:pt x="59719" y="90328"/>
                  </a:lnTo>
                  <a:lnTo>
                    <a:pt x="90328" y="59719"/>
                  </a:lnTo>
                  <a:lnTo>
                    <a:pt x="125777" y="34666"/>
                  </a:lnTo>
                  <a:lnTo>
                    <a:pt x="165349" y="15884"/>
                  </a:lnTo>
                  <a:lnTo>
                    <a:pt x="208328" y="4090"/>
                  </a:lnTo>
                  <a:lnTo>
                    <a:pt x="254000" y="0"/>
                  </a:lnTo>
                  <a:lnTo>
                    <a:pt x="1270000" y="0"/>
                  </a:lnTo>
                  <a:lnTo>
                    <a:pt x="1315671" y="4090"/>
                  </a:lnTo>
                  <a:lnTo>
                    <a:pt x="1358650" y="15884"/>
                  </a:lnTo>
                  <a:lnTo>
                    <a:pt x="1398222" y="34666"/>
                  </a:lnTo>
                  <a:lnTo>
                    <a:pt x="1433671" y="59719"/>
                  </a:lnTo>
                  <a:lnTo>
                    <a:pt x="1464280" y="90328"/>
                  </a:lnTo>
                  <a:lnTo>
                    <a:pt x="1489333" y="125777"/>
                  </a:lnTo>
                  <a:lnTo>
                    <a:pt x="1508115" y="165349"/>
                  </a:lnTo>
                  <a:lnTo>
                    <a:pt x="1519909" y="208328"/>
                  </a:lnTo>
                  <a:lnTo>
                    <a:pt x="1524000" y="254000"/>
                  </a:lnTo>
                  <a:lnTo>
                    <a:pt x="1524000" y="1955800"/>
                  </a:lnTo>
                  <a:lnTo>
                    <a:pt x="1519909" y="2001471"/>
                  </a:lnTo>
                  <a:lnTo>
                    <a:pt x="1508115" y="2044450"/>
                  </a:lnTo>
                  <a:lnTo>
                    <a:pt x="1489333" y="2084022"/>
                  </a:lnTo>
                  <a:lnTo>
                    <a:pt x="1464280" y="2119471"/>
                  </a:lnTo>
                  <a:lnTo>
                    <a:pt x="1433671" y="2150080"/>
                  </a:lnTo>
                  <a:lnTo>
                    <a:pt x="1398222" y="2175133"/>
                  </a:lnTo>
                  <a:lnTo>
                    <a:pt x="1358650" y="2193915"/>
                  </a:lnTo>
                  <a:lnTo>
                    <a:pt x="1315671" y="2205709"/>
                  </a:lnTo>
                  <a:lnTo>
                    <a:pt x="1270000" y="2209800"/>
                  </a:lnTo>
                  <a:lnTo>
                    <a:pt x="254000" y="2209800"/>
                  </a:lnTo>
                  <a:lnTo>
                    <a:pt x="208328" y="2205709"/>
                  </a:lnTo>
                  <a:lnTo>
                    <a:pt x="165349" y="2193915"/>
                  </a:lnTo>
                  <a:lnTo>
                    <a:pt x="125777" y="2175133"/>
                  </a:lnTo>
                  <a:lnTo>
                    <a:pt x="90328" y="2150080"/>
                  </a:lnTo>
                  <a:lnTo>
                    <a:pt x="59719" y="2119471"/>
                  </a:lnTo>
                  <a:lnTo>
                    <a:pt x="34666" y="2084022"/>
                  </a:lnTo>
                  <a:lnTo>
                    <a:pt x="15884" y="2044450"/>
                  </a:lnTo>
                  <a:lnTo>
                    <a:pt x="4090" y="2001471"/>
                  </a:lnTo>
                  <a:lnTo>
                    <a:pt x="0" y="1955800"/>
                  </a:lnTo>
                  <a:lnTo>
                    <a:pt x="0" y="254000"/>
                  </a:lnTo>
                  <a:close/>
                </a:path>
              </a:pathLst>
            </a:custGeom>
            <a:ln w="9144">
              <a:solidFill>
                <a:srgbClr val="00C3FF"/>
              </a:solidFill>
            </a:ln>
          </p:spPr>
          <p:txBody>
            <a:bodyPr wrap="square" lIns="0" tIns="0" rIns="0" bIns="0" rtlCol="0"/>
            <a:lstStyle/>
            <a:p>
              <a:endParaRPr sz="2400"/>
            </a:p>
          </p:txBody>
        </p:sp>
        <p:sp>
          <p:nvSpPr>
            <p:cNvPr id="5" name="object 5"/>
            <p:cNvSpPr/>
            <p:nvPr/>
          </p:nvSpPr>
          <p:spPr>
            <a:xfrm>
              <a:off x="5482463" y="1985543"/>
              <a:ext cx="581660" cy="1351915"/>
            </a:xfrm>
            <a:custGeom>
              <a:avLst/>
              <a:gdLst/>
              <a:ahLst/>
              <a:cxnLst/>
              <a:rect l="l" t="t" r="r" b="b"/>
              <a:pathLst>
                <a:path w="581660" h="1351914">
                  <a:moveTo>
                    <a:pt x="212267" y="525195"/>
                  </a:moveTo>
                  <a:lnTo>
                    <a:pt x="183959" y="525195"/>
                  </a:lnTo>
                  <a:lnTo>
                    <a:pt x="183959" y="610171"/>
                  </a:lnTo>
                  <a:lnTo>
                    <a:pt x="212267" y="610171"/>
                  </a:lnTo>
                  <a:lnTo>
                    <a:pt x="212267" y="525195"/>
                  </a:lnTo>
                  <a:close/>
                </a:path>
                <a:path w="581660" h="1351914">
                  <a:moveTo>
                    <a:pt x="212267" y="156387"/>
                  </a:moveTo>
                  <a:lnTo>
                    <a:pt x="183959" y="156387"/>
                  </a:lnTo>
                  <a:lnTo>
                    <a:pt x="183959" y="241363"/>
                  </a:lnTo>
                  <a:lnTo>
                    <a:pt x="212267" y="241363"/>
                  </a:lnTo>
                  <a:lnTo>
                    <a:pt x="212267" y="156387"/>
                  </a:lnTo>
                  <a:close/>
                </a:path>
                <a:path w="581660" h="1351914">
                  <a:moveTo>
                    <a:pt x="227507" y="1110411"/>
                  </a:moveTo>
                  <a:lnTo>
                    <a:pt x="199199" y="1110411"/>
                  </a:lnTo>
                  <a:lnTo>
                    <a:pt x="199199" y="1195387"/>
                  </a:lnTo>
                  <a:lnTo>
                    <a:pt x="227507" y="1195387"/>
                  </a:lnTo>
                  <a:lnTo>
                    <a:pt x="227507" y="1110411"/>
                  </a:lnTo>
                  <a:close/>
                </a:path>
                <a:path w="581660" h="1351914">
                  <a:moveTo>
                    <a:pt x="382079" y="525195"/>
                  </a:moveTo>
                  <a:lnTo>
                    <a:pt x="353771" y="525195"/>
                  </a:lnTo>
                  <a:lnTo>
                    <a:pt x="353771" y="610171"/>
                  </a:lnTo>
                  <a:lnTo>
                    <a:pt x="382079" y="610171"/>
                  </a:lnTo>
                  <a:lnTo>
                    <a:pt x="382079" y="525195"/>
                  </a:lnTo>
                  <a:close/>
                </a:path>
                <a:path w="581660" h="1351914">
                  <a:moveTo>
                    <a:pt x="382079" y="156387"/>
                  </a:moveTo>
                  <a:lnTo>
                    <a:pt x="353771" y="156387"/>
                  </a:lnTo>
                  <a:lnTo>
                    <a:pt x="353771" y="241363"/>
                  </a:lnTo>
                  <a:lnTo>
                    <a:pt x="382079" y="241363"/>
                  </a:lnTo>
                  <a:lnTo>
                    <a:pt x="382079" y="156387"/>
                  </a:lnTo>
                  <a:close/>
                </a:path>
                <a:path w="581660" h="1351914">
                  <a:moveTo>
                    <a:pt x="397319" y="1110411"/>
                  </a:moveTo>
                  <a:lnTo>
                    <a:pt x="369011" y="1110411"/>
                  </a:lnTo>
                  <a:lnTo>
                    <a:pt x="369011" y="1195387"/>
                  </a:lnTo>
                  <a:lnTo>
                    <a:pt x="397319" y="1195387"/>
                  </a:lnTo>
                  <a:lnTo>
                    <a:pt x="397319" y="1110411"/>
                  </a:lnTo>
                  <a:close/>
                </a:path>
                <a:path w="581660" h="1351914">
                  <a:moveTo>
                    <a:pt x="566051" y="525195"/>
                  </a:moveTo>
                  <a:lnTo>
                    <a:pt x="523582" y="525195"/>
                  </a:lnTo>
                  <a:lnTo>
                    <a:pt x="523582" y="610171"/>
                  </a:lnTo>
                  <a:lnTo>
                    <a:pt x="566051" y="610171"/>
                  </a:lnTo>
                  <a:lnTo>
                    <a:pt x="566051" y="525195"/>
                  </a:lnTo>
                  <a:close/>
                </a:path>
                <a:path w="581660" h="1351914">
                  <a:moveTo>
                    <a:pt x="566051" y="156387"/>
                  </a:moveTo>
                  <a:lnTo>
                    <a:pt x="523582" y="156387"/>
                  </a:lnTo>
                  <a:lnTo>
                    <a:pt x="523582" y="241363"/>
                  </a:lnTo>
                  <a:lnTo>
                    <a:pt x="566051" y="241363"/>
                  </a:lnTo>
                  <a:lnTo>
                    <a:pt x="566051" y="156387"/>
                  </a:lnTo>
                  <a:close/>
                </a:path>
                <a:path w="581660" h="1351914">
                  <a:moveTo>
                    <a:pt x="566051" y="0"/>
                  </a:moveTo>
                  <a:lnTo>
                    <a:pt x="0" y="0"/>
                  </a:lnTo>
                  <a:lnTo>
                    <a:pt x="0" y="43205"/>
                  </a:lnTo>
                  <a:lnTo>
                    <a:pt x="0" y="128333"/>
                  </a:lnTo>
                  <a:lnTo>
                    <a:pt x="0" y="766495"/>
                  </a:lnTo>
                  <a:lnTo>
                    <a:pt x="566051" y="766495"/>
                  </a:lnTo>
                  <a:lnTo>
                    <a:pt x="566051" y="723480"/>
                  </a:lnTo>
                  <a:lnTo>
                    <a:pt x="566051" y="723290"/>
                  </a:lnTo>
                  <a:lnTo>
                    <a:pt x="566051" y="638492"/>
                  </a:lnTo>
                  <a:lnTo>
                    <a:pt x="523582" y="638492"/>
                  </a:lnTo>
                  <a:lnTo>
                    <a:pt x="523582" y="723290"/>
                  </a:lnTo>
                  <a:lnTo>
                    <a:pt x="382079" y="723290"/>
                  </a:lnTo>
                  <a:lnTo>
                    <a:pt x="382079" y="638492"/>
                  </a:lnTo>
                  <a:lnTo>
                    <a:pt x="353771" y="638492"/>
                  </a:lnTo>
                  <a:lnTo>
                    <a:pt x="353771" y="723290"/>
                  </a:lnTo>
                  <a:lnTo>
                    <a:pt x="212267" y="723290"/>
                  </a:lnTo>
                  <a:lnTo>
                    <a:pt x="212267" y="638492"/>
                  </a:lnTo>
                  <a:lnTo>
                    <a:pt x="183959" y="638492"/>
                  </a:lnTo>
                  <a:lnTo>
                    <a:pt x="183959" y="723290"/>
                  </a:lnTo>
                  <a:lnTo>
                    <a:pt x="42456" y="723290"/>
                  </a:lnTo>
                  <a:lnTo>
                    <a:pt x="42456" y="638162"/>
                  </a:lnTo>
                  <a:lnTo>
                    <a:pt x="566051" y="638162"/>
                  </a:lnTo>
                  <a:lnTo>
                    <a:pt x="566051" y="610209"/>
                  </a:lnTo>
                  <a:lnTo>
                    <a:pt x="42456" y="610209"/>
                  </a:lnTo>
                  <a:lnTo>
                    <a:pt x="42456" y="525094"/>
                  </a:lnTo>
                  <a:lnTo>
                    <a:pt x="566051" y="525094"/>
                  </a:lnTo>
                  <a:lnTo>
                    <a:pt x="566051" y="497141"/>
                  </a:lnTo>
                  <a:lnTo>
                    <a:pt x="42456" y="497141"/>
                  </a:lnTo>
                  <a:lnTo>
                    <a:pt x="42456" y="412013"/>
                  </a:lnTo>
                  <a:lnTo>
                    <a:pt x="183959" y="412013"/>
                  </a:lnTo>
                  <a:lnTo>
                    <a:pt x="183959" y="496862"/>
                  </a:lnTo>
                  <a:lnTo>
                    <a:pt x="212267" y="496862"/>
                  </a:lnTo>
                  <a:lnTo>
                    <a:pt x="212267" y="412013"/>
                  </a:lnTo>
                  <a:lnTo>
                    <a:pt x="353771" y="412013"/>
                  </a:lnTo>
                  <a:lnTo>
                    <a:pt x="353771" y="496862"/>
                  </a:lnTo>
                  <a:lnTo>
                    <a:pt x="382079" y="496862"/>
                  </a:lnTo>
                  <a:lnTo>
                    <a:pt x="382079" y="412013"/>
                  </a:lnTo>
                  <a:lnTo>
                    <a:pt x="523582" y="412013"/>
                  </a:lnTo>
                  <a:lnTo>
                    <a:pt x="523582" y="496862"/>
                  </a:lnTo>
                  <a:lnTo>
                    <a:pt x="566051" y="496862"/>
                  </a:lnTo>
                  <a:lnTo>
                    <a:pt x="566051" y="269684"/>
                  </a:lnTo>
                  <a:lnTo>
                    <a:pt x="523582" y="269684"/>
                  </a:lnTo>
                  <a:lnTo>
                    <a:pt x="523582" y="354482"/>
                  </a:lnTo>
                  <a:lnTo>
                    <a:pt x="382079" y="354482"/>
                  </a:lnTo>
                  <a:lnTo>
                    <a:pt x="382079" y="269684"/>
                  </a:lnTo>
                  <a:lnTo>
                    <a:pt x="353771" y="269684"/>
                  </a:lnTo>
                  <a:lnTo>
                    <a:pt x="353771" y="354482"/>
                  </a:lnTo>
                  <a:lnTo>
                    <a:pt x="212267" y="354482"/>
                  </a:lnTo>
                  <a:lnTo>
                    <a:pt x="212267" y="269684"/>
                  </a:lnTo>
                  <a:lnTo>
                    <a:pt x="183959" y="269684"/>
                  </a:lnTo>
                  <a:lnTo>
                    <a:pt x="183959" y="354482"/>
                  </a:lnTo>
                  <a:lnTo>
                    <a:pt x="42456" y="354482"/>
                  </a:lnTo>
                  <a:lnTo>
                    <a:pt x="42456" y="269354"/>
                  </a:lnTo>
                  <a:lnTo>
                    <a:pt x="566051" y="269354"/>
                  </a:lnTo>
                  <a:lnTo>
                    <a:pt x="566051" y="241401"/>
                  </a:lnTo>
                  <a:lnTo>
                    <a:pt x="42456" y="241401"/>
                  </a:lnTo>
                  <a:lnTo>
                    <a:pt x="42456" y="156286"/>
                  </a:lnTo>
                  <a:lnTo>
                    <a:pt x="566051" y="156286"/>
                  </a:lnTo>
                  <a:lnTo>
                    <a:pt x="566051" y="128333"/>
                  </a:lnTo>
                  <a:lnTo>
                    <a:pt x="42456" y="128333"/>
                  </a:lnTo>
                  <a:lnTo>
                    <a:pt x="42456" y="43205"/>
                  </a:lnTo>
                  <a:lnTo>
                    <a:pt x="183959" y="43205"/>
                  </a:lnTo>
                  <a:lnTo>
                    <a:pt x="183959" y="128054"/>
                  </a:lnTo>
                  <a:lnTo>
                    <a:pt x="212267" y="128054"/>
                  </a:lnTo>
                  <a:lnTo>
                    <a:pt x="212267" y="43205"/>
                  </a:lnTo>
                  <a:lnTo>
                    <a:pt x="353771" y="43205"/>
                  </a:lnTo>
                  <a:lnTo>
                    <a:pt x="353771" y="128054"/>
                  </a:lnTo>
                  <a:lnTo>
                    <a:pt x="382079" y="128054"/>
                  </a:lnTo>
                  <a:lnTo>
                    <a:pt x="382079" y="43205"/>
                  </a:lnTo>
                  <a:lnTo>
                    <a:pt x="523582" y="43205"/>
                  </a:lnTo>
                  <a:lnTo>
                    <a:pt x="523582" y="128054"/>
                  </a:lnTo>
                  <a:lnTo>
                    <a:pt x="566051" y="128054"/>
                  </a:lnTo>
                  <a:lnTo>
                    <a:pt x="566051" y="43205"/>
                  </a:lnTo>
                  <a:lnTo>
                    <a:pt x="566051" y="43078"/>
                  </a:lnTo>
                  <a:lnTo>
                    <a:pt x="566051" y="0"/>
                  </a:lnTo>
                  <a:close/>
                </a:path>
                <a:path w="581660" h="1351914">
                  <a:moveTo>
                    <a:pt x="581291" y="1110411"/>
                  </a:moveTo>
                  <a:lnTo>
                    <a:pt x="538822" y="1110411"/>
                  </a:lnTo>
                  <a:lnTo>
                    <a:pt x="538822" y="1195387"/>
                  </a:lnTo>
                  <a:lnTo>
                    <a:pt x="581291" y="1195387"/>
                  </a:lnTo>
                  <a:lnTo>
                    <a:pt x="581291" y="1110411"/>
                  </a:lnTo>
                  <a:close/>
                </a:path>
                <a:path w="581660" h="1351914">
                  <a:moveTo>
                    <a:pt x="581291" y="954024"/>
                  </a:moveTo>
                  <a:lnTo>
                    <a:pt x="15240" y="954024"/>
                  </a:lnTo>
                  <a:lnTo>
                    <a:pt x="15240" y="997229"/>
                  </a:lnTo>
                  <a:lnTo>
                    <a:pt x="15240" y="1082357"/>
                  </a:lnTo>
                  <a:lnTo>
                    <a:pt x="15240" y="1351711"/>
                  </a:lnTo>
                  <a:lnTo>
                    <a:pt x="581291" y="1351711"/>
                  </a:lnTo>
                  <a:lnTo>
                    <a:pt x="581291" y="1308696"/>
                  </a:lnTo>
                  <a:lnTo>
                    <a:pt x="581291" y="1308506"/>
                  </a:lnTo>
                  <a:lnTo>
                    <a:pt x="581291" y="1223708"/>
                  </a:lnTo>
                  <a:lnTo>
                    <a:pt x="538822" y="1223708"/>
                  </a:lnTo>
                  <a:lnTo>
                    <a:pt x="538822" y="1308506"/>
                  </a:lnTo>
                  <a:lnTo>
                    <a:pt x="397319" y="1308506"/>
                  </a:lnTo>
                  <a:lnTo>
                    <a:pt x="397319" y="1223708"/>
                  </a:lnTo>
                  <a:lnTo>
                    <a:pt x="369011" y="1223708"/>
                  </a:lnTo>
                  <a:lnTo>
                    <a:pt x="369011" y="1308506"/>
                  </a:lnTo>
                  <a:lnTo>
                    <a:pt x="227507" y="1308506"/>
                  </a:lnTo>
                  <a:lnTo>
                    <a:pt x="227507" y="1223708"/>
                  </a:lnTo>
                  <a:lnTo>
                    <a:pt x="199199" y="1223708"/>
                  </a:lnTo>
                  <a:lnTo>
                    <a:pt x="199199" y="1308506"/>
                  </a:lnTo>
                  <a:lnTo>
                    <a:pt x="57696" y="1308506"/>
                  </a:lnTo>
                  <a:lnTo>
                    <a:pt x="57696" y="1223378"/>
                  </a:lnTo>
                  <a:lnTo>
                    <a:pt x="581291" y="1223378"/>
                  </a:lnTo>
                  <a:lnTo>
                    <a:pt x="581291" y="1195425"/>
                  </a:lnTo>
                  <a:lnTo>
                    <a:pt x="57696" y="1195425"/>
                  </a:lnTo>
                  <a:lnTo>
                    <a:pt x="57696" y="1110310"/>
                  </a:lnTo>
                  <a:lnTo>
                    <a:pt x="581291" y="1110310"/>
                  </a:lnTo>
                  <a:lnTo>
                    <a:pt x="581291" y="1082357"/>
                  </a:lnTo>
                  <a:lnTo>
                    <a:pt x="57696" y="1082357"/>
                  </a:lnTo>
                  <a:lnTo>
                    <a:pt x="57696" y="997229"/>
                  </a:lnTo>
                  <a:lnTo>
                    <a:pt x="199199" y="997229"/>
                  </a:lnTo>
                  <a:lnTo>
                    <a:pt x="199199" y="1082078"/>
                  </a:lnTo>
                  <a:lnTo>
                    <a:pt x="227507" y="1082078"/>
                  </a:lnTo>
                  <a:lnTo>
                    <a:pt x="227507" y="997229"/>
                  </a:lnTo>
                  <a:lnTo>
                    <a:pt x="369011" y="997229"/>
                  </a:lnTo>
                  <a:lnTo>
                    <a:pt x="369011" y="1082078"/>
                  </a:lnTo>
                  <a:lnTo>
                    <a:pt x="397319" y="1082078"/>
                  </a:lnTo>
                  <a:lnTo>
                    <a:pt x="397319" y="997229"/>
                  </a:lnTo>
                  <a:lnTo>
                    <a:pt x="538822" y="997229"/>
                  </a:lnTo>
                  <a:lnTo>
                    <a:pt x="538822" y="1082078"/>
                  </a:lnTo>
                  <a:lnTo>
                    <a:pt x="581291" y="1082078"/>
                  </a:lnTo>
                  <a:lnTo>
                    <a:pt x="581291" y="997229"/>
                  </a:lnTo>
                  <a:lnTo>
                    <a:pt x="581291" y="997102"/>
                  </a:lnTo>
                  <a:lnTo>
                    <a:pt x="581291" y="954024"/>
                  </a:lnTo>
                  <a:close/>
                </a:path>
              </a:pathLst>
            </a:custGeom>
            <a:solidFill>
              <a:srgbClr val="BCBCBC"/>
            </a:solidFill>
          </p:spPr>
          <p:txBody>
            <a:bodyPr wrap="square" lIns="0" tIns="0" rIns="0" bIns="0" rtlCol="0"/>
            <a:lstStyle/>
            <a:p>
              <a:endParaRPr sz="2400"/>
            </a:p>
          </p:txBody>
        </p:sp>
      </p:grpSp>
      <p:grpSp>
        <p:nvGrpSpPr>
          <p:cNvPr id="6" name="object 6"/>
          <p:cNvGrpSpPr/>
          <p:nvPr/>
        </p:nvGrpSpPr>
        <p:grpSpPr>
          <a:xfrm>
            <a:off x="9656063" y="2107184"/>
            <a:ext cx="2030307" cy="2040467"/>
            <a:chOff x="7242047" y="1580388"/>
            <a:chExt cx="1522730" cy="1530350"/>
          </a:xfrm>
        </p:grpSpPr>
        <p:pic>
          <p:nvPicPr>
            <p:cNvPr id="7" name="object 7"/>
            <p:cNvPicPr/>
            <p:nvPr/>
          </p:nvPicPr>
          <p:blipFill>
            <a:blip r:embed="rId2" cstate="print"/>
            <a:stretch>
              <a:fillRect/>
            </a:stretch>
          </p:blipFill>
          <p:spPr>
            <a:xfrm>
              <a:off x="7242047" y="1944624"/>
              <a:ext cx="950976" cy="950976"/>
            </a:xfrm>
            <a:prstGeom prst="rect">
              <a:avLst/>
            </a:prstGeom>
          </p:spPr>
        </p:pic>
        <p:pic>
          <p:nvPicPr>
            <p:cNvPr id="8" name="object 8"/>
            <p:cNvPicPr/>
            <p:nvPr/>
          </p:nvPicPr>
          <p:blipFill>
            <a:blip r:embed="rId3" cstate="print"/>
            <a:stretch>
              <a:fillRect/>
            </a:stretch>
          </p:blipFill>
          <p:spPr>
            <a:xfrm>
              <a:off x="7242047" y="2793491"/>
              <a:ext cx="1522476" cy="316992"/>
            </a:xfrm>
            <a:prstGeom prst="rect">
              <a:avLst/>
            </a:prstGeom>
          </p:spPr>
        </p:pic>
        <p:pic>
          <p:nvPicPr>
            <p:cNvPr id="9" name="object 9"/>
            <p:cNvPicPr/>
            <p:nvPr/>
          </p:nvPicPr>
          <p:blipFill>
            <a:blip r:embed="rId4" cstate="print"/>
            <a:stretch>
              <a:fillRect/>
            </a:stretch>
          </p:blipFill>
          <p:spPr>
            <a:xfrm>
              <a:off x="7356347" y="1580388"/>
              <a:ext cx="463296" cy="463295"/>
            </a:xfrm>
            <a:prstGeom prst="rect">
              <a:avLst/>
            </a:prstGeom>
          </p:spPr>
        </p:pic>
      </p:grpSp>
      <p:grpSp>
        <p:nvGrpSpPr>
          <p:cNvPr id="10" name="object 10"/>
          <p:cNvGrpSpPr/>
          <p:nvPr/>
        </p:nvGrpSpPr>
        <p:grpSpPr>
          <a:xfrm>
            <a:off x="8881872" y="2405889"/>
            <a:ext cx="593512" cy="197273"/>
            <a:chOff x="6661404" y="1804416"/>
            <a:chExt cx="445134" cy="147955"/>
          </a:xfrm>
        </p:grpSpPr>
        <p:sp>
          <p:nvSpPr>
            <p:cNvPr id="11" name="object 11"/>
            <p:cNvSpPr/>
            <p:nvPr/>
          </p:nvSpPr>
          <p:spPr>
            <a:xfrm>
              <a:off x="6674358" y="1817370"/>
              <a:ext cx="419100" cy="121920"/>
            </a:xfrm>
            <a:custGeom>
              <a:avLst/>
              <a:gdLst/>
              <a:ahLst/>
              <a:cxnLst/>
              <a:rect l="l" t="t" r="r" b="b"/>
              <a:pathLst>
                <a:path w="419100" h="121919">
                  <a:moveTo>
                    <a:pt x="358140" y="0"/>
                  </a:moveTo>
                  <a:lnTo>
                    <a:pt x="358140" y="30479"/>
                  </a:lnTo>
                  <a:lnTo>
                    <a:pt x="0" y="30479"/>
                  </a:lnTo>
                  <a:lnTo>
                    <a:pt x="0" y="91439"/>
                  </a:lnTo>
                  <a:lnTo>
                    <a:pt x="358140" y="91439"/>
                  </a:lnTo>
                  <a:lnTo>
                    <a:pt x="358140" y="121919"/>
                  </a:lnTo>
                  <a:lnTo>
                    <a:pt x="419100" y="60959"/>
                  </a:lnTo>
                  <a:lnTo>
                    <a:pt x="358140" y="0"/>
                  </a:lnTo>
                  <a:close/>
                </a:path>
              </a:pathLst>
            </a:custGeom>
            <a:solidFill>
              <a:srgbClr val="00C3FF"/>
            </a:solidFill>
          </p:spPr>
          <p:txBody>
            <a:bodyPr wrap="square" lIns="0" tIns="0" rIns="0" bIns="0" rtlCol="0"/>
            <a:lstStyle/>
            <a:p>
              <a:endParaRPr sz="2400"/>
            </a:p>
          </p:txBody>
        </p:sp>
        <p:sp>
          <p:nvSpPr>
            <p:cNvPr id="12" name="object 12"/>
            <p:cNvSpPr/>
            <p:nvPr/>
          </p:nvSpPr>
          <p:spPr>
            <a:xfrm>
              <a:off x="6674358" y="1817370"/>
              <a:ext cx="419100" cy="121920"/>
            </a:xfrm>
            <a:custGeom>
              <a:avLst/>
              <a:gdLst/>
              <a:ahLst/>
              <a:cxnLst/>
              <a:rect l="l" t="t" r="r" b="b"/>
              <a:pathLst>
                <a:path w="419100" h="121919">
                  <a:moveTo>
                    <a:pt x="0" y="30479"/>
                  </a:moveTo>
                  <a:lnTo>
                    <a:pt x="358140" y="30479"/>
                  </a:lnTo>
                  <a:lnTo>
                    <a:pt x="358140" y="0"/>
                  </a:lnTo>
                  <a:lnTo>
                    <a:pt x="419100" y="60959"/>
                  </a:lnTo>
                  <a:lnTo>
                    <a:pt x="358140" y="121919"/>
                  </a:lnTo>
                  <a:lnTo>
                    <a:pt x="358140" y="91439"/>
                  </a:lnTo>
                  <a:lnTo>
                    <a:pt x="0" y="91439"/>
                  </a:lnTo>
                  <a:lnTo>
                    <a:pt x="0" y="30479"/>
                  </a:lnTo>
                  <a:close/>
                </a:path>
              </a:pathLst>
            </a:custGeom>
            <a:ln w="25907">
              <a:solidFill>
                <a:srgbClr val="008FBB"/>
              </a:solidFill>
            </a:ln>
          </p:spPr>
          <p:txBody>
            <a:bodyPr wrap="square" lIns="0" tIns="0" rIns="0" bIns="0" rtlCol="0"/>
            <a:lstStyle/>
            <a:p>
              <a:endParaRPr sz="2400"/>
            </a:p>
          </p:txBody>
        </p:sp>
      </p:grpSp>
      <p:grpSp>
        <p:nvGrpSpPr>
          <p:cNvPr id="13" name="object 13"/>
          <p:cNvGrpSpPr/>
          <p:nvPr/>
        </p:nvGrpSpPr>
        <p:grpSpPr>
          <a:xfrm>
            <a:off x="8920479" y="3127247"/>
            <a:ext cx="591820" cy="199813"/>
            <a:chOff x="6690359" y="2345435"/>
            <a:chExt cx="443865" cy="149860"/>
          </a:xfrm>
        </p:grpSpPr>
        <p:sp>
          <p:nvSpPr>
            <p:cNvPr id="14" name="object 14"/>
            <p:cNvSpPr/>
            <p:nvPr/>
          </p:nvSpPr>
          <p:spPr>
            <a:xfrm>
              <a:off x="6703313" y="2358389"/>
              <a:ext cx="417830" cy="123825"/>
            </a:xfrm>
            <a:custGeom>
              <a:avLst/>
              <a:gdLst/>
              <a:ahLst/>
              <a:cxnLst/>
              <a:rect l="l" t="t" r="r" b="b"/>
              <a:pathLst>
                <a:path w="417829" h="123825">
                  <a:moveTo>
                    <a:pt x="355853" y="0"/>
                  </a:moveTo>
                  <a:lnTo>
                    <a:pt x="355853" y="30861"/>
                  </a:lnTo>
                  <a:lnTo>
                    <a:pt x="0" y="30861"/>
                  </a:lnTo>
                  <a:lnTo>
                    <a:pt x="0" y="92583"/>
                  </a:lnTo>
                  <a:lnTo>
                    <a:pt x="355853" y="92583"/>
                  </a:lnTo>
                  <a:lnTo>
                    <a:pt x="355853" y="123443"/>
                  </a:lnTo>
                  <a:lnTo>
                    <a:pt x="417575" y="61722"/>
                  </a:lnTo>
                  <a:lnTo>
                    <a:pt x="355853" y="0"/>
                  </a:lnTo>
                  <a:close/>
                </a:path>
              </a:pathLst>
            </a:custGeom>
            <a:solidFill>
              <a:srgbClr val="00C3FF"/>
            </a:solidFill>
          </p:spPr>
          <p:txBody>
            <a:bodyPr wrap="square" lIns="0" tIns="0" rIns="0" bIns="0" rtlCol="0"/>
            <a:lstStyle/>
            <a:p>
              <a:endParaRPr sz="2400"/>
            </a:p>
          </p:txBody>
        </p:sp>
        <p:sp>
          <p:nvSpPr>
            <p:cNvPr id="15" name="object 15"/>
            <p:cNvSpPr/>
            <p:nvPr/>
          </p:nvSpPr>
          <p:spPr>
            <a:xfrm>
              <a:off x="6703313" y="2358389"/>
              <a:ext cx="417830" cy="123825"/>
            </a:xfrm>
            <a:custGeom>
              <a:avLst/>
              <a:gdLst/>
              <a:ahLst/>
              <a:cxnLst/>
              <a:rect l="l" t="t" r="r" b="b"/>
              <a:pathLst>
                <a:path w="417829" h="123825">
                  <a:moveTo>
                    <a:pt x="0" y="30861"/>
                  </a:moveTo>
                  <a:lnTo>
                    <a:pt x="355853" y="30861"/>
                  </a:lnTo>
                  <a:lnTo>
                    <a:pt x="355853" y="0"/>
                  </a:lnTo>
                  <a:lnTo>
                    <a:pt x="417575" y="61722"/>
                  </a:lnTo>
                  <a:lnTo>
                    <a:pt x="355853" y="123443"/>
                  </a:lnTo>
                  <a:lnTo>
                    <a:pt x="355853" y="92583"/>
                  </a:lnTo>
                  <a:lnTo>
                    <a:pt x="0" y="92583"/>
                  </a:lnTo>
                  <a:lnTo>
                    <a:pt x="0" y="30861"/>
                  </a:lnTo>
                  <a:close/>
                </a:path>
              </a:pathLst>
            </a:custGeom>
            <a:ln w="25908">
              <a:solidFill>
                <a:srgbClr val="008FBB"/>
              </a:solidFill>
            </a:ln>
          </p:spPr>
          <p:txBody>
            <a:bodyPr wrap="square" lIns="0" tIns="0" rIns="0" bIns="0" rtlCol="0"/>
            <a:lstStyle/>
            <a:p>
              <a:endParaRPr sz="2400"/>
            </a:p>
          </p:txBody>
        </p:sp>
      </p:grpSp>
      <p:grpSp>
        <p:nvGrpSpPr>
          <p:cNvPr id="16" name="object 16"/>
          <p:cNvGrpSpPr/>
          <p:nvPr/>
        </p:nvGrpSpPr>
        <p:grpSpPr>
          <a:xfrm>
            <a:off x="8920479" y="3814065"/>
            <a:ext cx="593512" cy="197273"/>
            <a:chOff x="6690359" y="2860548"/>
            <a:chExt cx="445134" cy="147955"/>
          </a:xfrm>
        </p:grpSpPr>
        <p:sp>
          <p:nvSpPr>
            <p:cNvPr id="17" name="object 17"/>
            <p:cNvSpPr/>
            <p:nvPr/>
          </p:nvSpPr>
          <p:spPr>
            <a:xfrm>
              <a:off x="6703313" y="2873502"/>
              <a:ext cx="419100" cy="121920"/>
            </a:xfrm>
            <a:custGeom>
              <a:avLst/>
              <a:gdLst/>
              <a:ahLst/>
              <a:cxnLst/>
              <a:rect l="l" t="t" r="r" b="b"/>
              <a:pathLst>
                <a:path w="419100" h="121919">
                  <a:moveTo>
                    <a:pt x="358139" y="0"/>
                  </a:moveTo>
                  <a:lnTo>
                    <a:pt x="358139" y="30480"/>
                  </a:lnTo>
                  <a:lnTo>
                    <a:pt x="0" y="30480"/>
                  </a:lnTo>
                  <a:lnTo>
                    <a:pt x="0" y="91440"/>
                  </a:lnTo>
                  <a:lnTo>
                    <a:pt x="358139" y="91440"/>
                  </a:lnTo>
                  <a:lnTo>
                    <a:pt x="358139" y="121920"/>
                  </a:lnTo>
                  <a:lnTo>
                    <a:pt x="419100" y="60960"/>
                  </a:lnTo>
                  <a:lnTo>
                    <a:pt x="358139" y="0"/>
                  </a:lnTo>
                  <a:close/>
                </a:path>
              </a:pathLst>
            </a:custGeom>
            <a:solidFill>
              <a:srgbClr val="00C3FF"/>
            </a:solidFill>
          </p:spPr>
          <p:txBody>
            <a:bodyPr wrap="square" lIns="0" tIns="0" rIns="0" bIns="0" rtlCol="0"/>
            <a:lstStyle/>
            <a:p>
              <a:endParaRPr sz="2400"/>
            </a:p>
          </p:txBody>
        </p:sp>
        <p:sp>
          <p:nvSpPr>
            <p:cNvPr id="18" name="object 18"/>
            <p:cNvSpPr/>
            <p:nvPr/>
          </p:nvSpPr>
          <p:spPr>
            <a:xfrm>
              <a:off x="6703313" y="2873502"/>
              <a:ext cx="419100" cy="121920"/>
            </a:xfrm>
            <a:custGeom>
              <a:avLst/>
              <a:gdLst/>
              <a:ahLst/>
              <a:cxnLst/>
              <a:rect l="l" t="t" r="r" b="b"/>
              <a:pathLst>
                <a:path w="419100" h="121919">
                  <a:moveTo>
                    <a:pt x="0" y="30480"/>
                  </a:moveTo>
                  <a:lnTo>
                    <a:pt x="358139" y="30480"/>
                  </a:lnTo>
                  <a:lnTo>
                    <a:pt x="358139" y="0"/>
                  </a:lnTo>
                  <a:lnTo>
                    <a:pt x="419100" y="60960"/>
                  </a:lnTo>
                  <a:lnTo>
                    <a:pt x="358139" y="121920"/>
                  </a:lnTo>
                  <a:lnTo>
                    <a:pt x="358139" y="91440"/>
                  </a:lnTo>
                  <a:lnTo>
                    <a:pt x="0" y="91440"/>
                  </a:lnTo>
                  <a:lnTo>
                    <a:pt x="0" y="30480"/>
                  </a:lnTo>
                  <a:close/>
                </a:path>
              </a:pathLst>
            </a:custGeom>
            <a:ln w="25907">
              <a:solidFill>
                <a:srgbClr val="008FBB"/>
              </a:solidFill>
            </a:ln>
          </p:spPr>
          <p:txBody>
            <a:bodyPr wrap="square" lIns="0" tIns="0" rIns="0" bIns="0" rtlCol="0"/>
            <a:lstStyle/>
            <a:p>
              <a:endParaRPr sz="2400"/>
            </a:p>
          </p:txBody>
        </p:sp>
      </p:grpSp>
      <p:grpSp>
        <p:nvGrpSpPr>
          <p:cNvPr id="19" name="object 19"/>
          <p:cNvGrpSpPr/>
          <p:nvPr/>
        </p:nvGrpSpPr>
        <p:grpSpPr>
          <a:xfrm>
            <a:off x="8965184" y="4572000"/>
            <a:ext cx="593512" cy="199813"/>
            <a:chOff x="6723888" y="3429000"/>
            <a:chExt cx="445134" cy="149860"/>
          </a:xfrm>
        </p:grpSpPr>
        <p:sp>
          <p:nvSpPr>
            <p:cNvPr id="20" name="object 20"/>
            <p:cNvSpPr/>
            <p:nvPr/>
          </p:nvSpPr>
          <p:spPr>
            <a:xfrm>
              <a:off x="6736842" y="3441953"/>
              <a:ext cx="419100" cy="123825"/>
            </a:xfrm>
            <a:custGeom>
              <a:avLst/>
              <a:gdLst/>
              <a:ahLst/>
              <a:cxnLst/>
              <a:rect l="l" t="t" r="r" b="b"/>
              <a:pathLst>
                <a:path w="419100" h="123825">
                  <a:moveTo>
                    <a:pt x="357377" y="0"/>
                  </a:moveTo>
                  <a:lnTo>
                    <a:pt x="357377" y="30861"/>
                  </a:lnTo>
                  <a:lnTo>
                    <a:pt x="0" y="30861"/>
                  </a:lnTo>
                  <a:lnTo>
                    <a:pt x="0" y="92583"/>
                  </a:lnTo>
                  <a:lnTo>
                    <a:pt x="357377" y="92583"/>
                  </a:lnTo>
                  <a:lnTo>
                    <a:pt x="357377" y="123444"/>
                  </a:lnTo>
                  <a:lnTo>
                    <a:pt x="419100" y="61722"/>
                  </a:lnTo>
                  <a:lnTo>
                    <a:pt x="357377" y="0"/>
                  </a:lnTo>
                  <a:close/>
                </a:path>
              </a:pathLst>
            </a:custGeom>
            <a:solidFill>
              <a:srgbClr val="00C3FF"/>
            </a:solidFill>
          </p:spPr>
          <p:txBody>
            <a:bodyPr wrap="square" lIns="0" tIns="0" rIns="0" bIns="0" rtlCol="0"/>
            <a:lstStyle/>
            <a:p>
              <a:endParaRPr sz="2400"/>
            </a:p>
          </p:txBody>
        </p:sp>
        <p:sp>
          <p:nvSpPr>
            <p:cNvPr id="21" name="object 21"/>
            <p:cNvSpPr/>
            <p:nvPr/>
          </p:nvSpPr>
          <p:spPr>
            <a:xfrm>
              <a:off x="6736842" y="3441953"/>
              <a:ext cx="419100" cy="123825"/>
            </a:xfrm>
            <a:custGeom>
              <a:avLst/>
              <a:gdLst/>
              <a:ahLst/>
              <a:cxnLst/>
              <a:rect l="l" t="t" r="r" b="b"/>
              <a:pathLst>
                <a:path w="419100" h="123825">
                  <a:moveTo>
                    <a:pt x="0" y="30861"/>
                  </a:moveTo>
                  <a:lnTo>
                    <a:pt x="357377" y="30861"/>
                  </a:lnTo>
                  <a:lnTo>
                    <a:pt x="357377" y="0"/>
                  </a:lnTo>
                  <a:lnTo>
                    <a:pt x="419100" y="61722"/>
                  </a:lnTo>
                  <a:lnTo>
                    <a:pt x="357377" y="123444"/>
                  </a:lnTo>
                  <a:lnTo>
                    <a:pt x="357377" y="92583"/>
                  </a:lnTo>
                  <a:lnTo>
                    <a:pt x="0" y="92583"/>
                  </a:lnTo>
                  <a:lnTo>
                    <a:pt x="0" y="30861"/>
                  </a:lnTo>
                  <a:close/>
                </a:path>
              </a:pathLst>
            </a:custGeom>
            <a:ln w="25908">
              <a:solidFill>
                <a:srgbClr val="008FBB"/>
              </a:solidFill>
            </a:ln>
          </p:spPr>
          <p:txBody>
            <a:bodyPr wrap="square" lIns="0" tIns="0" rIns="0" bIns="0" rtlCol="0"/>
            <a:lstStyle/>
            <a:p>
              <a:endParaRPr sz="2400"/>
            </a:p>
          </p:txBody>
        </p:sp>
      </p:grpSp>
      <p:sp>
        <p:nvSpPr>
          <p:cNvPr id="22" name="object 22"/>
          <p:cNvSpPr txBox="1"/>
          <p:nvPr/>
        </p:nvSpPr>
        <p:spPr>
          <a:xfrm>
            <a:off x="6748441" y="4336796"/>
            <a:ext cx="4212167" cy="1657399"/>
          </a:xfrm>
          <a:prstGeom prst="rect">
            <a:avLst/>
          </a:prstGeom>
        </p:spPr>
        <p:txBody>
          <a:bodyPr vert="horz" wrap="square" lIns="0" tIns="16087" rIns="0" bIns="0" rtlCol="0">
            <a:spAutoFit/>
          </a:bodyPr>
          <a:lstStyle/>
          <a:p>
            <a:pPr marL="3096183">
              <a:spcBef>
                <a:spcPts val="127"/>
              </a:spcBef>
            </a:pPr>
            <a:r>
              <a:rPr sz="2133" spc="-13" dirty="0">
                <a:solidFill>
                  <a:srgbClr val="FFFFFF"/>
                </a:solidFill>
                <a:latin typeface="Calibri"/>
                <a:cs typeface="Calibri"/>
              </a:rPr>
              <a:t>Predictive</a:t>
            </a:r>
            <a:endParaRPr sz="2133">
              <a:latin typeface="Calibri"/>
              <a:cs typeface="Calibri"/>
            </a:endParaRPr>
          </a:p>
          <a:p>
            <a:pPr marL="3151215">
              <a:spcBef>
                <a:spcPts val="13"/>
              </a:spcBef>
            </a:pPr>
            <a:r>
              <a:rPr sz="2133" spc="-13" dirty="0">
                <a:solidFill>
                  <a:srgbClr val="FFFFFF"/>
                </a:solidFill>
                <a:latin typeface="Calibri"/>
                <a:cs typeface="Calibri"/>
              </a:rPr>
              <a:t>Analytics</a:t>
            </a:r>
            <a:endParaRPr sz="2133">
              <a:latin typeface="Calibri"/>
              <a:cs typeface="Calibri"/>
            </a:endParaRPr>
          </a:p>
          <a:p>
            <a:pPr marL="16933" marR="2342668" indent="579106">
              <a:lnSpc>
                <a:spcPct val="100400"/>
              </a:lnSpc>
              <a:spcBef>
                <a:spcPts val="40"/>
              </a:spcBef>
            </a:pPr>
            <a:r>
              <a:rPr sz="2133" dirty="0">
                <a:solidFill>
                  <a:srgbClr val="FFFFFF"/>
                </a:solidFill>
                <a:latin typeface="Calibri"/>
                <a:cs typeface="Calibri"/>
              </a:rPr>
              <a:t>Core</a:t>
            </a:r>
            <a:r>
              <a:rPr sz="2133" spc="-33" dirty="0">
                <a:solidFill>
                  <a:srgbClr val="FFFFFF"/>
                </a:solidFill>
                <a:latin typeface="Calibri"/>
                <a:cs typeface="Calibri"/>
              </a:rPr>
              <a:t> </a:t>
            </a:r>
            <a:r>
              <a:rPr sz="2133" spc="-67" dirty="0">
                <a:solidFill>
                  <a:srgbClr val="FFFFFF"/>
                </a:solidFill>
                <a:latin typeface="Calibri"/>
                <a:cs typeface="Calibri"/>
              </a:rPr>
              <a:t>/ </a:t>
            </a:r>
            <a:r>
              <a:rPr sz="2133" dirty="0">
                <a:solidFill>
                  <a:srgbClr val="FFFFFF"/>
                </a:solidFill>
                <a:latin typeface="Calibri"/>
                <a:cs typeface="Calibri"/>
              </a:rPr>
              <a:t>Access</a:t>
            </a:r>
            <a:r>
              <a:rPr sz="2133" spc="-53" dirty="0">
                <a:solidFill>
                  <a:srgbClr val="FFFFFF"/>
                </a:solidFill>
                <a:latin typeface="Calibri"/>
                <a:cs typeface="Calibri"/>
              </a:rPr>
              <a:t> </a:t>
            </a:r>
            <a:r>
              <a:rPr sz="2133" dirty="0">
                <a:solidFill>
                  <a:srgbClr val="FFFFFF"/>
                </a:solidFill>
                <a:latin typeface="Calibri"/>
                <a:cs typeface="Calibri"/>
              </a:rPr>
              <a:t>Layer</a:t>
            </a:r>
            <a:r>
              <a:rPr sz="2133" spc="-33" dirty="0">
                <a:solidFill>
                  <a:srgbClr val="FFFFFF"/>
                </a:solidFill>
                <a:latin typeface="Calibri"/>
                <a:cs typeface="Calibri"/>
              </a:rPr>
              <a:t> </a:t>
            </a:r>
            <a:r>
              <a:rPr sz="2133" spc="-67" dirty="0">
                <a:solidFill>
                  <a:srgbClr val="FFFFFF"/>
                </a:solidFill>
                <a:latin typeface="Calibri"/>
                <a:cs typeface="Calibri"/>
              </a:rPr>
              <a:t>/ </a:t>
            </a:r>
            <a:r>
              <a:rPr sz="2133" dirty="0">
                <a:solidFill>
                  <a:srgbClr val="FFFFFF"/>
                </a:solidFill>
                <a:latin typeface="Calibri"/>
                <a:cs typeface="Calibri"/>
              </a:rPr>
              <a:t>Data</a:t>
            </a:r>
            <a:r>
              <a:rPr sz="2133" spc="-53" dirty="0">
                <a:solidFill>
                  <a:srgbClr val="FFFFFF"/>
                </a:solidFill>
                <a:latin typeface="Calibri"/>
                <a:cs typeface="Calibri"/>
              </a:rPr>
              <a:t> </a:t>
            </a:r>
            <a:r>
              <a:rPr sz="2133" spc="-13" dirty="0">
                <a:solidFill>
                  <a:srgbClr val="FFFFFF"/>
                </a:solidFill>
                <a:latin typeface="Calibri"/>
                <a:cs typeface="Calibri"/>
              </a:rPr>
              <a:t>Warehouse</a:t>
            </a:r>
            <a:endParaRPr sz="2133">
              <a:latin typeface="Calibri"/>
              <a:cs typeface="Calibri"/>
            </a:endParaRPr>
          </a:p>
        </p:txBody>
      </p:sp>
      <p:pic>
        <p:nvPicPr>
          <p:cNvPr id="23" name="object 23"/>
          <p:cNvPicPr/>
          <p:nvPr/>
        </p:nvPicPr>
        <p:blipFill>
          <a:blip r:embed="rId5" cstate="print"/>
          <a:stretch>
            <a:fillRect/>
          </a:stretch>
        </p:blipFill>
        <p:spPr>
          <a:xfrm>
            <a:off x="1796288" y="1926336"/>
            <a:ext cx="4974336" cy="3641344"/>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86455" y="346338"/>
            <a:ext cx="6323328"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Data</a:t>
            </a:r>
            <a:r>
              <a:rPr spc="-33" dirty="0">
                <a:solidFill>
                  <a:schemeClr val="bg1"/>
                </a:solidFill>
                <a:latin typeface="+mn-lt"/>
              </a:rPr>
              <a:t> </a:t>
            </a:r>
            <a:r>
              <a:rPr dirty="0">
                <a:solidFill>
                  <a:schemeClr val="bg1"/>
                </a:solidFill>
                <a:latin typeface="+mn-lt"/>
              </a:rPr>
              <a:t>Warehouse</a:t>
            </a:r>
            <a:r>
              <a:rPr spc="-60" dirty="0">
                <a:solidFill>
                  <a:schemeClr val="bg1"/>
                </a:solidFill>
                <a:latin typeface="+mn-lt"/>
              </a:rPr>
              <a:t> </a:t>
            </a:r>
            <a:r>
              <a:rPr spc="-13" dirty="0">
                <a:solidFill>
                  <a:schemeClr val="bg1"/>
                </a:solidFill>
                <a:latin typeface="+mn-lt"/>
              </a:rPr>
              <a:t>Layers</a:t>
            </a:r>
          </a:p>
        </p:txBody>
      </p:sp>
      <p:grpSp>
        <p:nvGrpSpPr>
          <p:cNvPr id="3" name="object 3"/>
          <p:cNvGrpSpPr/>
          <p:nvPr/>
        </p:nvGrpSpPr>
        <p:grpSpPr>
          <a:xfrm>
            <a:off x="3753103" y="2009649"/>
            <a:ext cx="2044700" cy="2959100"/>
            <a:chOff x="2814827" y="1507236"/>
            <a:chExt cx="1533525" cy="2219325"/>
          </a:xfrm>
        </p:grpSpPr>
        <p:sp>
          <p:nvSpPr>
            <p:cNvPr id="4" name="object 4"/>
            <p:cNvSpPr/>
            <p:nvPr/>
          </p:nvSpPr>
          <p:spPr>
            <a:xfrm>
              <a:off x="2819399" y="1511808"/>
              <a:ext cx="1524000" cy="2209800"/>
            </a:xfrm>
            <a:custGeom>
              <a:avLst/>
              <a:gdLst/>
              <a:ahLst/>
              <a:cxnLst/>
              <a:rect l="l" t="t" r="r" b="b"/>
              <a:pathLst>
                <a:path w="1524000" h="2209800">
                  <a:moveTo>
                    <a:pt x="0" y="254000"/>
                  </a:moveTo>
                  <a:lnTo>
                    <a:pt x="4090" y="208328"/>
                  </a:lnTo>
                  <a:lnTo>
                    <a:pt x="15884" y="165349"/>
                  </a:lnTo>
                  <a:lnTo>
                    <a:pt x="34666" y="125777"/>
                  </a:lnTo>
                  <a:lnTo>
                    <a:pt x="59719" y="90328"/>
                  </a:lnTo>
                  <a:lnTo>
                    <a:pt x="90328" y="59719"/>
                  </a:lnTo>
                  <a:lnTo>
                    <a:pt x="125777" y="34666"/>
                  </a:lnTo>
                  <a:lnTo>
                    <a:pt x="165349" y="15884"/>
                  </a:lnTo>
                  <a:lnTo>
                    <a:pt x="208328" y="4090"/>
                  </a:lnTo>
                  <a:lnTo>
                    <a:pt x="254000" y="0"/>
                  </a:lnTo>
                  <a:lnTo>
                    <a:pt x="1270000" y="0"/>
                  </a:lnTo>
                  <a:lnTo>
                    <a:pt x="1315671" y="4090"/>
                  </a:lnTo>
                  <a:lnTo>
                    <a:pt x="1358650" y="15884"/>
                  </a:lnTo>
                  <a:lnTo>
                    <a:pt x="1398222" y="34666"/>
                  </a:lnTo>
                  <a:lnTo>
                    <a:pt x="1433671" y="59719"/>
                  </a:lnTo>
                  <a:lnTo>
                    <a:pt x="1464280" y="90328"/>
                  </a:lnTo>
                  <a:lnTo>
                    <a:pt x="1489333" y="125777"/>
                  </a:lnTo>
                  <a:lnTo>
                    <a:pt x="1508115" y="165349"/>
                  </a:lnTo>
                  <a:lnTo>
                    <a:pt x="1519909" y="208328"/>
                  </a:lnTo>
                  <a:lnTo>
                    <a:pt x="1524000" y="254000"/>
                  </a:lnTo>
                  <a:lnTo>
                    <a:pt x="1524000" y="1955799"/>
                  </a:lnTo>
                  <a:lnTo>
                    <a:pt x="1519909" y="2001471"/>
                  </a:lnTo>
                  <a:lnTo>
                    <a:pt x="1508115" y="2044450"/>
                  </a:lnTo>
                  <a:lnTo>
                    <a:pt x="1489333" y="2084022"/>
                  </a:lnTo>
                  <a:lnTo>
                    <a:pt x="1464280" y="2119471"/>
                  </a:lnTo>
                  <a:lnTo>
                    <a:pt x="1433671" y="2150080"/>
                  </a:lnTo>
                  <a:lnTo>
                    <a:pt x="1398222" y="2175133"/>
                  </a:lnTo>
                  <a:lnTo>
                    <a:pt x="1358650" y="2193915"/>
                  </a:lnTo>
                  <a:lnTo>
                    <a:pt x="1315671" y="2205709"/>
                  </a:lnTo>
                  <a:lnTo>
                    <a:pt x="1270000" y="2209800"/>
                  </a:lnTo>
                  <a:lnTo>
                    <a:pt x="254000" y="2209800"/>
                  </a:lnTo>
                  <a:lnTo>
                    <a:pt x="208328" y="2205709"/>
                  </a:lnTo>
                  <a:lnTo>
                    <a:pt x="165349" y="2193915"/>
                  </a:lnTo>
                  <a:lnTo>
                    <a:pt x="125777" y="2175133"/>
                  </a:lnTo>
                  <a:lnTo>
                    <a:pt x="90328" y="2150080"/>
                  </a:lnTo>
                  <a:lnTo>
                    <a:pt x="59719" y="2119471"/>
                  </a:lnTo>
                  <a:lnTo>
                    <a:pt x="34666" y="2084022"/>
                  </a:lnTo>
                  <a:lnTo>
                    <a:pt x="15884" y="2044450"/>
                  </a:lnTo>
                  <a:lnTo>
                    <a:pt x="4090" y="2001471"/>
                  </a:lnTo>
                  <a:lnTo>
                    <a:pt x="0" y="1955799"/>
                  </a:lnTo>
                  <a:lnTo>
                    <a:pt x="0" y="254000"/>
                  </a:lnTo>
                  <a:close/>
                </a:path>
              </a:pathLst>
            </a:custGeom>
            <a:ln w="9144">
              <a:solidFill>
                <a:srgbClr val="00C3FF"/>
              </a:solidFill>
            </a:ln>
          </p:spPr>
          <p:txBody>
            <a:bodyPr wrap="square" lIns="0" tIns="0" rIns="0" bIns="0" rtlCol="0"/>
            <a:lstStyle/>
            <a:p>
              <a:endParaRPr sz="2400"/>
            </a:p>
          </p:txBody>
        </p:sp>
        <p:sp>
          <p:nvSpPr>
            <p:cNvPr id="5" name="object 5"/>
            <p:cNvSpPr/>
            <p:nvPr/>
          </p:nvSpPr>
          <p:spPr>
            <a:xfrm>
              <a:off x="3299955" y="1957260"/>
              <a:ext cx="581660" cy="1351280"/>
            </a:xfrm>
            <a:custGeom>
              <a:avLst/>
              <a:gdLst/>
              <a:ahLst/>
              <a:cxnLst/>
              <a:rect l="l" t="t" r="r" b="b"/>
              <a:pathLst>
                <a:path w="581660" h="1351279">
                  <a:moveTo>
                    <a:pt x="227647" y="1109738"/>
                  </a:moveTo>
                  <a:lnTo>
                    <a:pt x="199339" y="1109738"/>
                  </a:lnTo>
                  <a:lnTo>
                    <a:pt x="199339" y="1194714"/>
                  </a:lnTo>
                  <a:lnTo>
                    <a:pt x="227647" y="1194714"/>
                  </a:lnTo>
                  <a:lnTo>
                    <a:pt x="227647" y="1109738"/>
                  </a:lnTo>
                  <a:close/>
                </a:path>
                <a:path w="581660" h="1351279">
                  <a:moveTo>
                    <a:pt x="397459" y="1109738"/>
                  </a:moveTo>
                  <a:lnTo>
                    <a:pt x="369150" y="1109738"/>
                  </a:lnTo>
                  <a:lnTo>
                    <a:pt x="369150" y="1194714"/>
                  </a:lnTo>
                  <a:lnTo>
                    <a:pt x="397459" y="1194714"/>
                  </a:lnTo>
                  <a:lnTo>
                    <a:pt x="397459" y="1109738"/>
                  </a:lnTo>
                  <a:close/>
                </a:path>
                <a:path w="581660" h="1351279">
                  <a:moveTo>
                    <a:pt x="564794" y="0"/>
                  </a:moveTo>
                  <a:lnTo>
                    <a:pt x="0" y="0"/>
                  </a:lnTo>
                  <a:lnTo>
                    <a:pt x="0" y="41973"/>
                  </a:lnTo>
                  <a:lnTo>
                    <a:pt x="0" y="127190"/>
                  </a:lnTo>
                  <a:lnTo>
                    <a:pt x="0" y="765657"/>
                  </a:lnTo>
                  <a:lnTo>
                    <a:pt x="564794" y="765657"/>
                  </a:lnTo>
                  <a:lnTo>
                    <a:pt x="564794" y="722807"/>
                  </a:lnTo>
                  <a:lnTo>
                    <a:pt x="564794" y="722414"/>
                  </a:lnTo>
                  <a:lnTo>
                    <a:pt x="564794" y="637819"/>
                  </a:lnTo>
                  <a:lnTo>
                    <a:pt x="522427" y="637819"/>
                  </a:lnTo>
                  <a:lnTo>
                    <a:pt x="522427" y="722414"/>
                  </a:lnTo>
                  <a:lnTo>
                    <a:pt x="381228" y="722414"/>
                  </a:lnTo>
                  <a:lnTo>
                    <a:pt x="381228" y="637819"/>
                  </a:lnTo>
                  <a:lnTo>
                    <a:pt x="352996" y="637819"/>
                  </a:lnTo>
                  <a:lnTo>
                    <a:pt x="352996" y="722414"/>
                  </a:lnTo>
                  <a:lnTo>
                    <a:pt x="211797" y="722414"/>
                  </a:lnTo>
                  <a:lnTo>
                    <a:pt x="211797" y="637819"/>
                  </a:lnTo>
                  <a:lnTo>
                    <a:pt x="183553" y="637819"/>
                  </a:lnTo>
                  <a:lnTo>
                    <a:pt x="183553" y="722414"/>
                  </a:lnTo>
                  <a:lnTo>
                    <a:pt x="42367" y="722414"/>
                  </a:lnTo>
                  <a:lnTo>
                    <a:pt x="42367" y="637197"/>
                  </a:lnTo>
                  <a:lnTo>
                    <a:pt x="564794" y="637197"/>
                  </a:lnTo>
                  <a:lnTo>
                    <a:pt x="564794" y="609498"/>
                  </a:lnTo>
                  <a:lnTo>
                    <a:pt x="564794" y="609206"/>
                  </a:lnTo>
                  <a:lnTo>
                    <a:pt x="564794" y="524522"/>
                  </a:lnTo>
                  <a:lnTo>
                    <a:pt x="522427" y="524522"/>
                  </a:lnTo>
                  <a:lnTo>
                    <a:pt x="522427" y="609206"/>
                  </a:lnTo>
                  <a:lnTo>
                    <a:pt x="381228" y="609206"/>
                  </a:lnTo>
                  <a:lnTo>
                    <a:pt x="381228" y="524522"/>
                  </a:lnTo>
                  <a:lnTo>
                    <a:pt x="352996" y="524522"/>
                  </a:lnTo>
                  <a:lnTo>
                    <a:pt x="352996" y="609206"/>
                  </a:lnTo>
                  <a:lnTo>
                    <a:pt x="211797" y="609206"/>
                  </a:lnTo>
                  <a:lnTo>
                    <a:pt x="211797" y="524522"/>
                  </a:lnTo>
                  <a:lnTo>
                    <a:pt x="183553" y="524522"/>
                  </a:lnTo>
                  <a:lnTo>
                    <a:pt x="183553" y="609206"/>
                  </a:lnTo>
                  <a:lnTo>
                    <a:pt x="42367" y="609206"/>
                  </a:lnTo>
                  <a:lnTo>
                    <a:pt x="42367" y="523989"/>
                  </a:lnTo>
                  <a:lnTo>
                    <a:pt x="564794" y="523989"/>
                  </a:lnTo>
                  <a:lnTo>
                    <a:pt x="564794" y="496189"/>
                  </a:lnTo>
                  <a:lnTo>
                    <a:pt x="564794" y="495998"/>
                  </a:lnTo>
                  <a:lnTo>
                    <a:pt x="564794" y="411213"/>
                  </a:lnTo>
                  <a:lnTo>
                    <a:pt x="522427" y="411213"/>
                  </a:lnTo>
                  <a:lnTo>
                    <a:pt x="522427" y="495998"/>
                  </a:lnTo>
                  <a:lnTo>
                    <a:pt x="381228" y="495998"/>
                  </a:lnTo>
                  <a:lnTo>
                    <a:pt x="381228" y="411213"/>
                  </a:lnTo>
                  <a:lnTo>
                    <a:pt x="352996" y="411213"/>
                  </a:lnTo>
                  <a:lnTo>
                    <a:pt x="352996" y="495998"/>
                  </a:lnTo>
                  <a:lnTo>
                    <a:pt x="211797" y="495998"/>
                  </a:lnTo>
                  <a:lnTo>
                    <a:pt x="211797" y="411213"/>
                  </a:lnTo>
                  <a:lnTo>
                    <a:pt x="183553" y="411213"/>
                  </a:lnTo>
                  <a:lnTo>
                    <a:pt x="183553" y="495998"/>
                  </a:lnTo>
                  <a:lnTo>
                    <a:pt x="42367" y="495998"/>
                  </a:lnTo>
                  <a:lnTo>
                    <a:pt x="42367" y="410781"/>
                  </a:lnTo>
                  <a:lnTo>
                    <a:pt x="564794" y="410781"/>
                  </a:lnTo>
                  <a:lnTo>
                    <a:pt x="564794" y="396849"/>
                  </a:lnTo>
                  <a:lnTo>
                    <a:pt x="564794" y="368808"/>
                  </a:lnTo>
                  <a:lnTo>
                    <a:pt x="564794" y="353999"/>
                  </a:lnTo>
                  <a:lnTo>
                    <a:pt x="564794" y="353606"/>
                  </a:lnTo>
                  <a:lnTo>
                    <a:pt x="564794" y="269011"/>
                  </a:lnTo>
                  <a:lnTo>
                    <a:pt x="522427" y="269011"/>
                  </a:lnTo>
                  <a:lnTo>
                    <a:pt x="522427" y="353606"/>
                  </a:lnTo>
                  <a:lnTo>
                    <a:pt x="381228" y="353606"/>
                  </a:lnTo>
                  <a:lnTo>
                    <a:pt x="381228" y="269011"/>
                  </a:lnTo>
                  <a:lnTo>
                    <a:pt x="352996" y="269011"/>
                  </a:lnTo>
                  <a:lnTo>
                    <a:pt x="352996" y="353606"/>
                  </a:lnTo>
                  <a:lnTo>
                    <a:pt x="211797" y="353606"/>
                  </a:lnTo>
                  <a:lnTo>
                    <a:pt x="211797" y="269011"/>
                  </a:lnTo>
                  <a:lnTo>
                    <a:pt x="183553" y="269011"/>
                  </a:lnTo>
                  <a:lnTo>
                    <a:pt x="183553" y="353606"/>
                  </a:lnTo>
                  <a:lnTo>
                    <a:pt x="42367" y="353606"/>
                  </a:lnTo>
                  <a:lnTo>
                    <a:pt x="42367" y="268389"/>
                  </a:lnTo>
                  <a:lnTo>
                    <a:pt x="564794" y="268389"/>
                  </a:lnTo>
                  <a:lnTo>
                    <a:pt x="564794" y="240690"/>
                  </a:lnTo>
                  <a:lnTo>
                    <a:pt x="564794" y="240398"/>
                  </a:lnTo>
                  <a:lnTo>
                    <a:pt x="564794" y="155714"/>
                  </a:lnTo>
                  <a:lnTo>
                    <a:pt x="522427" y="155714"/>
                  </a:lnTo>
                  <a:lnTo>
                    <a:pt x="522427" y="240398"/>
                  </a:lnTo>
                  <a:lnTo>
                    <a:pt x="381228" y="240398"/>
                  </a:lnTo>
                  <a:lnTo>
                    <a:pt x="381228" y="155714"/>
                  </a:lnTo>
                  <a:lnTo>
                    <a:pt x="352996" y="155714"/>
                  </a:lnTo>
                  <a:lnTo>
                    <a:pt x="352996" y="240398"/>
                  </a:lnTo>
                  <a:lnTo>
                    <a:pt x="211797" y="240398"/>
                  </a:lnTo>
                  <a:lnTo>
                    <a:pt x="211797" y="155714"/>
                  </a:lnTo>
                  <a:lnTo>
                    <a:pt x="183553" y="155714"/>
                  </a:lnTo>
                  <a:lnTo>
                    <a:pt x="183553" y="240398"/>
                  </a:lnTo>
                  <a:lnTo>
                    <a:pt x="42367" y="240398"/>
                  </a:lnTo>
                  <a:lnTo>
                    <a:pt x="42367" y="155181"/>
                  </a:lnTo>
                  <a:lnTo>
                    <a:pt x="564794" y="155181"/>
                  </a:lnTo>
                  <a:lnTo>
                    <a:pt x="564794" y="127381"/>
                  </a:lnTo>
                  <a:lnTo>
                    <a:pt x="564794" y="127190"/>
                  </a:lnTo>
                  <a:lnTo>
                    <a:pt x="564794" y="42405"/>
                  </a:lnTo>
                  <a:lnTo>
                    <a:pt x="522427" y="42405"/>
                  </a:lnTo>
                  <a:lnTo>
                    <a:pt x="522427" y="127190"/>
                  </a:lnTo>
                  <a:lnTo>
                    <a:pt x="381228" y="127190"/>
                  </a:lnTo>
                  <a:lnTo>
                    <a:pt x="381228" y="42405"/>
                  </a:lnTo>
                  <a:lnTo>
                    <a:pt x="352996" y="42405"/>
                  </a:lnTo>
                  <a:lnTo>
                    <a:pt x="352996" y="127190"/>
                  </a:lnTo>
                  <a:lnTo>
                    <a:pt x="211797" y="127190"/>
                  </a:lnTo>
                  <a:lnTo>
                    <a:pt x="211797" y="42405"/>
                  </a:lnTo>
                  <a:lnTo>
                    <a:pt x="183553" y="42405"/>
                  </a:lnTo>
                  <a:lnTo>
                    <a:pt x="183553" y="127190"/>
                  </a:lnTo>
                  <a:lnTo>
                    <a:pt x="42367" y="127190"/>
                  </a:lnTo>
                  <a:lnTo>
                    <a:pt x="42367" y="41973"/>
                  </a:lnTo>
                  <a:lnTo>
                    <a:pt x="564794" y="41973"/>
                  </a:lnTo>
                  <a:lnTo>
                    <a:pt x="564794" y="0"/>
                  </a:lnTo>
                  <a:close/>
                </a:path>
                <a:path w="581660" h="1351279">
                  <a:moveTo>
                    <a:pt x="581431" y="1109738"/>
                  </a:moveTo>
                  <a:lnTo>
                    <a:pt x="538962" y="1109738"/>
                  </a:lnTo>
                  <a:lnTo>
                    <a:pt x="538962" y="1194714"/>
                  </a:lnTo>
                  <a:lnTo>
                    <a:pt x="581431" y="1194714"/>
                  </a:lnTo>
                  <a:lnTo>
                    <a:pt x="581431" y="1109738"/>
                  </a:lnTo>
                  <a:close/>
                </a:path>
                <a:path w="581660" h="1351279">
                  <a:moveTo>
                    <a:pt x="581431" y="953350"/>
                  </a:moveTo>
                  <a:lnTo>
                    <a:pt x="15379" y="953350"/>
                  </a:lnTo>
                  <a:lnTo>
                    <a:pt x="15379" y="996556"/>
                  </a:lnTo>
                  <a:lnTo>
                    <a:pt x="15379" y="1081684"/>
                  </a:lnTo>
                  <a:lnTo>
                    <a:pt x="15379" y="1351038"/>
                  </a:lnTo>
                  <a:lnTo>
                    <a:pt x="581431" y="1351038"/>
                  </a:lnTo>
                  <a:lnTo>
                    <a:pt x="581431" y="1308023"/>
                  </a:lnTo>
                  <a:lnTo>
                    <a:pt x="581431" y="1307833"/>
                  </a:lnTo>
                  <a:lnTo>
                    <a:pt x="581431" y="1223035"/>
                  </a:lnTo>
                  <a:lnTo>
                    <a:pt x="538962" y="1223035"/>
                  </a:lnTo>
                  <a:lnTo>
                    <a:pt x="538962" y="1307833"/>
                  </a:lnTo>
                  <a:lnTo>
                    <a:pt x="397459" y="1307833"/>
                  </a:lnTo>
                  <a:lnTo>
                    <a:pt x="397459" y="1223035"/>
                  </a:lnTo>
                  <a:lnTo>
                    <a:pt x="369150" y="1223035"/>
                  </a:lnTo>
                  <a:lnTo>
                    <a:pt x="369150" y="1307833"/>
                  </a:lnTo>
                  <a:lnTo>
                    <a:pt x="227647" y="1307833"/>
                  </a:lnTo>
                  <a:lnTo>
                    <a:pt x="227647" y="1223035"/>
                  </a:lnTo>
                  <a:lnTo>
                    <a:pt x="199339" y="1223035"/>
                  </a:lnTo>
                  <a:lnTo>
                    <a:pt x="199339" y="1307833"/>
                  </a:lnTo>
                  <a:lnTo>
                    <a:pt x="57835" y="1307833"/>
                  </a:lnTo>
                  <a:lnTo>
                    <a:pt x="57835" y="1222705"/>
                  </a:lnTo>
                  <a:lnTo>
                    <a:pt x="581431" y="1222705"/>
                  </a:lnTo>
                  <a:lnTo>
                    <a:pt x="581431" y="1194752"/>
                  </a:lnTo>
                  <a:lnTo>
                    <a:pt x="57835" y="1194752"/>
                  </a:lnTo>
                  <a:lnTo>
                    <a:pt x="57835" y="1109637"/>
                  </a:lnTo>
                  <a:lnTo>
                    <a:pt x="581431" y="1109637"/>
                  </a:lnTo>
                  <a:lnTo>
                    <a:pt x="581431" y="1081684"/>
                  </a:lnTo>
                  <a:lnTo>
                    <a:pt x="57835" y="1081684"/>
                  </a:lnTo>
                  <a:lnTo>
                    <a:pt x="57835" y="996556"/>
                  </a:lnTo>
                  <a:lnTo>
                    <a:pt x="199339" y="996556"/>
                  </a:lnTo>
                  <a:lnTo>
                    <a:pt x="199339" y="1081405"/>
                  </a:lnTo>
                  <a:lnTo>
                    <a:pt x="227647" y="1081405"/>
                  </a:lnTo>
                  <a:lnTo>
                    <a:pt x="227647" y="996556"/>
                  </a:lnTo>
                  <a:lnTo>
                    <a:pt x="369150" y="996556"/>
                  </a:lnTo>
                  <a:lnTo>
                    <a:pt x="369150" y="1081405"/>
                  </a:lnTo>
                  <a:lnTo>
                    <a:pt x="397459" y="1081405"/>
                  </a:lnTo>
                  <a:lnTo>
                    <a:pt x="397459" y="996556"/>
                  </a:lnTo>
                  <a:lnTo>
                    <a:pt x="538962" y="996556"/>
                  </a:lnTo>
                  <a:lnTo>
                    <a:pt x="538962" y="1081405"/>
                  </a:lnTo>
                  <a:lnTo>
                    <a:pt x="581431" y="1081405"/>
                  </a:lnTo>
                  <a:lnTo>
                    <a:pt x="581431" y="996556"/>
                  </a:lnTo>
                  <a:lnTo>
                    <a:pt x="581431" y="996429"/>
                  </a:lnTo>
                  <a:lnTo>
                    <a:pt x="581431" y="953350"/>
                  </a:lnTo>
                  <a:close/>
                </a:path>
              </a:pathLst>
            </a:custGeom>
            <a:solidFill>
              <a:srgbClr val="BCBCBC"/>
            </a:solidFill>
          </p:spPr>
          <p:txBody>
            <a:bodyPr wrap="square" lIns="0" tIns="0" rIns="0" bIns="0" rtlCol="0"/>
            <a:lstStyle/>
            <a:p>
              <a:endParaRPr sz="2400"/>
            </a:p>
          </p:txBody>
        </p:sp>
      </p:grpSp>
      <p:grpSp>
        <p:nvGrpSpPr>
          <p:cNvPr id="6" name="object 6"/>
          <p:cNvGrpSpPr/>
          <p:nvPr/>
        </p:nvGrpSpPr>
        <p:grpSpPr>
          <a:xfrm>
            <a:off x="6746239" y="2068576"/>
            <a:ext cx="2030307" cy="2040467"/>
            <a:chOff x="5059679" y="1551432"/>
            <a:chExt cx="1522730" cy="1530350"/>
          </a:xfrm>
        </p:grpSpPr>
        <p:pic>
          <p:nvPicPr>
            <p:cNvPr id="7" name="object 7"/>
            <p:cNvPicPr/>
            <p:nvPr/>
          </p:nvPicPr>
          <p:blipFill>
            <a:blip r:embed="rId2" cstate="print"/>
            <a:stretch>
              <a:fillRect/>
            </a:stretch>
          </p:blipFill>
          <p:spPr>
            <a:xfrm>
              <a:off x="5059679" y="1915668"/>
              <a:ext cx="950976" cy="950976"/>
            </a:xfrm>
            <a:prstGeom prst="rect">
              <a:avLst/>
            </a:prstGeom>
          </p:spPr>
        </p:pic>
        <p:pic>
          <p:nvPicPr>
            <p:cNvPr id="8" name="object 8"/>
            <p:cNvPicPr/>
            <p:nvPr/>
          </p:nvPicPr>
          <p:blipFill>
            <a:blip r:embed="rId3" cstate="print"/>
            <a:stretch>
              <a:fillRect/>
            </a:stretch>
          </p:blipFill>
          <p:spPr>
            <a:xfrm>
              <a:off x="5059679" y="2764536"/>
              <a:ext cx="1522476" cy="316992"/>
            </a:xfrm>
            <a:prstGeom prst="rect">
              <a:avLst/>
            </a:prstGeom>
          </p:spPr>
        </p:pic>
        <p:pic>
          <p:nvPicPr>
            <p:cNvPr id="9" name="object 9"/>
            <p:cNvPicPr/>
            <p:nvPr/>
          </p:nvPicPr>
          <p:blipFill>
            <a:blip r:embed="rId4" cstate="print"/>
            <a:stretch>
              <a:fillRect/>
            </a:stretch>
          </p:blipFill>
          <p:spPr>
            <a:xfrm>
              <a:off x="5173979" y="1551432"/>
              <a:ext cx="463296" cy="463296"/>
            </a:xfrm>
            <a:prstGeom prst="rect">
              <a:avLst/>
            </a:prstGeom>
          </p:spPr>
        </p:pic>
      </p:grpSp>
      <p:grpSp>
        <p:nvGrpSpPr>
          <p:cNvPr id="10" name="object 10"/>
          <p:cNvGrpSpPr/>
          <p:nvPr/>
        </p:nvGrpSpPr>
        <p:grpSpPr>
          <a:xfrm>
            <a:off x="5972047" y="2367281"/>
            <a:ext cx="593512" cy="197273"/>
            <a:chOff x="4479035" y="1775460"/>
            <a:chExt cx="445134" cy="147955"/>
          </a:xfrm>
        </p:grpSpPr>
        <p:sp>
          <p:nvSpPr>
            <p:cNvPr id="11" name="object 11"/>
            <p:cNvSpPr/>
            <p:nvPr/>
          </p:nvSpPr>
          <p:spPr>
            <a:xfrm>
              <a:off x="4491989" y="1788414"/>
              <a:ext cx="419100" cy="121920"/>
            </a:xfrm>
            <a:custGeom>
              <a:avLst/>
              <a:gdLst/>
              <a:ahLst/>
              <a:cxnLst/>
              <a:rect l="l" t="t" r="r" b="b"/>
              <a:pathLst>
                <a:path w="419100" h="121919">
                  <a:moveTo>
                    <a:pt x="358139" y="0"/>
                  </a:moveTo>
                  <a:lnTo>
                    <a:pt x="358139" y="30480"/>
                  </a:lnTo>
                  <a:lnTo>
                    <a:pt x="0" y="30480"/>
                  </a:lnTo>
                  <a:lnTo>
                    <a:pt x="0" y="91439"/>
                  </a:lnTo>
                  <a:lnTo>
                    <a:pt x="358139" y="91439"/>
                  </a:lnTo>
                  <a:lnTo>
                    <a:pt x="358139" y="121919"/>
                  </a:lnTo>
                  <a:lnTo>
                    <a:pt x="419100" y="60960"/>
                  </a:lnTo>
                  <a:lnTo>
                    <a:pt x="358139" y="0"/>
                  </a:lnTo>
                  <a:close/>
                </a:path>
              </a:pathLst>
            </a:custGeom>
            <a:solidFill>
              <a:srgbClr val="00C3FF"/>
            </a:solidFill>
          </p:spPr>
          <p:txBody>
            <a:bodyPr wrap="square" lIns="0" tIns="0" rIns="0" bIns="0" rtlCol="0"/>
            <a:lstStyle/>
            <a:p>
              <a:endParaRPr sz="2400"/>
            </a:p>
          </p:txBody>
        </p:sp>
        <p:sp>
          <p:nvSpPr>
            <p:cNvPr id="12" name="object 12"/>
            <p:cNvSpPr/>
            <p:nvPr/>
          </p:nvSpPr>
          <p:spPr>
            <a:xfrm>
              <a:off x="4491989" y="1788414"/>
              <a:ext cx="419100" cy="121920"/>
            </a:xfrm>
            <a:custGeom>
              <a:avLst/>
              <a:gdLst/>
              <a:ahLst/>
              <a:cxnLst/>
              <a:rect l="l" t="t" r="r" b="b"/>
              <a:pathLst>
                <a:path w="419100" h="121919">
                  <a:moveTo>
                    <a:pt x="0" y="30480"/>
                  </a:moveTo>
                  <a:lnTo>
                    <a:pt x="358139" y="30480"/>
                  </a:lnTo>
                  <a:lnTo>
                    <a:pt x="358139" y="0"/>
                  </a:lnTo>
                  <a:lnTo>
                    <a:pt x="419100" y="60960"/>
                  </a:lnTo>
                  <a:lnTo>
                    <a:pt x="358139" y="121919"/>
                  </a:lnTo>
                  <a:lnTo>
                    <a:pt x="358139" y="91439"/>
                  </a:lnTo>
                  <a:lnTo>
                    <a:pt x="0" y="91439"/>
                  </a:lnTo>
                  <a:lnTo>
                    <a:pt x="0" y="30480"/>
                  </a:lnTo>
                  <a:close/>
                </a:path>
              </a:pathLst>
            </a:custGeom>
            <a:ln w="25908">
              <a:solidFill>
                <a:srgbClr val="008FBB"/>
              </a:solidFill>
            </a:ln>
          </p:spPr>
          <p:txBody>
            <a:bodyPr wrap="square" lIns="0" tIns="0" rIns="0" bIns="0" rtlCol="0"/>
            <a:lstStyle/>
            <a:p>
              <a:endParaRPr sz="2400"/>
            </a:p>
          </p:txBody>
        </p:sp>
      </p:grpSp>
      <p:grpSp>
        <p:nvGrpSpPr>
          <p:cNvPr id="13" name="object 13"/>
          <p:cNvGrpSpPr/>
          <p:nvPr/>
        </p:nvGrpSpPr>
        <p:grpSpPr>
          <a:xfrm>
            <a:off x="6008623" y="3088639"/>
            <a:ext cx="593512" cy="199813"/>
            <a:chOff x="4506467" y="2316479"/>
            <a:chExt cx="445134" cy="149860"/>
          </a:xfrm>
        </p:grpSpPr>
        <p:sp>
          <p:nvSpPr>
            <p:cNvPr id="14" name="object 14"/>
            <p:cNvSpPr/>
            <p:nvPr/>
          </p:nvSpPr>
          <p:spPr>
            <a:xfrm>
              <a:off x="4519421" y="2329433"/>
              <a:ext cx="419100" cy="123825"/>
            </a:xfrm>
            <a:custGeom>
              <a:avLst/>
              <a:gdLst/>
              <a:ahLst/>
              <a:cxnLst/>
              <a:rect l="l" t="t" r="r" b="b"/>
              <a:pathLst>
                <a:path w="419100" h="123825">
                  <a:moveTo>
                    <a:pt x="357377" y="0"/>
                  </a:moveTo>
                  <a:lnTo>
                    <a:pt x="357377" y="30861"/>
                  </a:lnTo>
                  <a:lnTo>
                    <a:pt x="0" y="30861"/>
                  </a:lnTo>
                  <a:lnTo>
                    <a:pt x="0" y="92583"/>
                  </a:lnTo>
                  <a:lnTo>
                    <a:pt x="357377" y="92583"/>
                  </a:lnTo>
                  <a:lnTo>
                    <a:pt x="357377" y="123443"/>
                  </a:lnTo>
                  <a:lnTo>
                    <a:pt x="419100" y="61722"/>
                  </a:lnTo>
                  <a:lnTo>
                    <a:pt x="357377" y="0"/>
                  </a:lnTo>
                  <a:close/>
                </a:path>
              </a:pathLst>
            </a:custGeom>
            <a:solidFill>
              <a:srgbClr val="00C3FF"/>
            </a:solidFill>
          </p:spPr>
          <p:txBody>
            <a:bodyPr wrap="square" lIns="0" tIns="0" rIns="0" bIns="0" rtlCol="0"/>
            <a:lstStyle/>
            <a:p>
              <a:endParaRPr sz="2400"/>
            </a:p>
          </p:txBody>
        </p:sp>
        <p:sp>
          <p:nvSpPr>
            <p:cNvPr id="15" name="object 15"/>
            <p:cNvSpPr/>
            <p:nvPr/>
          </p:nvSpPr>
          <p:spPr>
            <a:xfrm>
              <a:off x="4519421" y="2329433"/>
              <a:ext cx="419100" cy="123825"/>
            </a:xfrm>
            <a:custGeom>
              <a:avLst/>
              <a:gdLst/>
              <a:ahLst/>
              <a:cxnLst/>
              <a:rect l="l" t="t" r="r" b="b"/>
              <a:pathLst>
                <a:path w="419100" h="123825">
                  <a:moveTo>
                    <a:pt x="0" y="30861"/>
                  </a:moveTo>
                  <a:lnTo>
                    <a:pt x="357377" y="30861"/>
                  </a:lnTo>
                  <a:lnTo>
                    <a:pt x="357377" y="0"/>
                  </a:lnTo>
                  <a:lnTo>
                    <a:pt x="419100" y="61722"/>
                  </a:lnTo>
                  <a:lnTo>
                    <a:pt x="357377" y="123443"/>
                  </a:lnTo>
                  <a:lnTo>
                    <a:pt x="357377" y="92583"/>
                  </a:lnTo>
                  <a:lnTo>
                    <a:pt x="0" y="92583"/>
                  </a:lnTo>
                  <a:lnTo>
                    <a:pt x="0" y="30861"/>
                  </a:lnTo>
                  <a:close/>
                </a:path>
              </a:pathLst>
            </a:custGeom>
            <a:ln w="25908">
              <a:solidFill>
                <a:srgbClr val="008FBB"/>
              </a:solidFill>
            </a:ln>
          </p:spPr>
          <p:txBody>
            <a:bodyPr wrap="square" lIns="0" tIns="0" rIns="0" bIns="0" rtlCol="0"/>
            <a:lstStyle/>
            <a:p>
              <a:endParaRPr sz="2400"/>
            </a:p>
          </p:txBody>
        </p:sp>
      </p:grpSp>
      <p:grpSp>
        <p:nvGrpSpPr>
          <p:cNvPr id="16" name="object 16"/>
          <p:cNvGrpSpPr/>
          <p:nvPr/>
        </p:nvGrpSpPr>
        <p:grpSpPr>
          <a:xfrm>
            <a:off x="6010655" y="3775457"/>
            <a:ext cx="593512" cy="197273"/>
            <a:chOff x="4507991" y="2831592"/>
            <a:chExt cx="445134" cy="147955"/>
          </a:xfrm>
        </p:grpSpPr>
        <p:sp>
          <p:nvSpPr>
            <p:cNvPr id="17" name="object 17"/>
            <p:cNvSpPr/>
            <p:nvPr/>
          </p:nvSpPr>
          <p:spPr>
            <a:xfrm>
              <a:off x="4520945" y="2844546"/>
              <a:ext cx="419100" cy="121920"/>
            </a:xfrm>
            <a:custGeom>
              <a:avLst/>
              <a:gdLst/>
              <a:ahLst/>
              <a:cxnLst/>
              <a:rect l="l" t="t" r="r" b="b"/>
              <a:pathLst>
                <a:path w="419100" h="121919">
                  <a:moveTo>
                    <a:pt x="358139" y="0"/>
                  </a:moveTo>
                  <a:lnTo>
                    <a:pt x="358139" y="30480"/>
                  </a:lnTo>
                  <a:lnTo>
                    <a:pt x="0" y="30480"/>
                  </a:lnTo>
                  <a:lnTo>
                    <a:pt x="0" y="91440"/>
                  </a:lnTo>
                  <a:lnTo>
                    <a:pt x="358139" y="91440"/>
                  </a:lnTo>
                  <a:lnTo>
                    <a:pt x="358139" y="121920"/>
                  </a:lnTo>
                  <a:lnTo>
                    <a:pt x="419100" y="60960"/>
                  </a:lnTo>
                  <a:lnTo>
                    <a:pt x="358139" y="0"/>
                  </a:lnTo>
                  <a:close/>
                </a:path>
              </a:pathLst>
            </a:custGeom>
            <a:solidFill>
              <a:srgbClr val="00C3FF"/>
            </a:solidFill>
          </p:spPr>
          <p:txBody>
            <a:bodyPr wrap="square" lIns="0" tIns="0" rIns="0" bIns="0" rtlCol="0"/>
            <a:lstStyle/>
            <a:p>
              <a:endParaRPr sz="2400"/>
            </a:p>
          </p:txBody>
        </p:sp>
        <p:sp>
          <p:nvSpPr>
            <p:cNvPr id="18" name="object 18"/>
            <p:cNvSpPr/>
            <p:nvPr/>
          </p:nvSpPr>
          <p:spPr>
            <a:xfrm>
              <a:off x="4520945" y="2844546"/>
              <a:ext cx="419100" cy="121920"/>
            </a:xfrm>
            <a:custGeom>
              <a:avLst/>
              <a:gdLst/>
              <a:ahLst/>
              <a:cxnLst/>
              <a:rect l="l" t="t" r="r" b="b"/>
              <a:pathLst>
                <a:path w="419100" h="121919">
                  <a:moveTo>
                    <a:pt x="0" y="30480"/>
                  </a:moveTo>
                  <a:lnTo>
                    <a:pt x="358139" y="30480"/>
                  </a:lnTo>
                  <a:lnTo>
                    <a:pt x="358139" y="0"/>
                  </a:lnTo>
                  <a:lnTo>
                    <a:pt x="419100" y="60960"/>
                  </a:lnTo>
                  <a:lnTo>
                    <a:pt x="358139" y="121920"/>
                  </a:lnTo>
                  <a:lnTo>
                    <a:pt x="358139" y="91440"/>
                  </a:lnTo>
                  <a:lnTo>
                    <a:pt x="0" y="91440"/>
                  </a:lnTo>
                  <a:lnTo>
                    <a:pt x="0" y="30480"/>
                  </a:lnTo>
                  <a:close/>
                </a:path>
              </a:pathLst>
            </a:custGeom>
            <a:ln w="25907">
              <a:solidFill>
                <a:srgbClr val="008FBB"/>
              </a:solidFill>
            </a:ln>
          </p:spPr>
          <p:txBody>
            <a:bodyPr wrap="square" lIns="0" tIns="0" rIns="0" bIns="0" rtlCol="0"/>
            <a:lstStyle/>
            <a:p>
              <a:endParaRPr sz="2400"/>
            </a:p>
          </p:txBody>
        </p:sp>
      </p:grpSp>
      <p:grpSp>
        <p:nvGrpSpPr>
          <p:cNvPr id="19" name="object 19"/>
          <p:cNvGrpSpPr/>
          <p:nvPr/>
        </p:nvGrpSpPr>
        <p:grpSpPr>
          <a:xfrm>
            <a:off x="6055361" y="4533392"/>
            <a:ext cx="591820" cy="199813"/>
            <a:chOff x="4541520" y="3400044"/>
            <a:chExt cx="443865" cy="149860"/>
          </a:xfrm>
        </p:grpSpPr>
        <p:sp>
          <p:nvSpPr>
            <p:cNvPr id="20" name="object 20"/>
            <p:cNvSpPr/>
            <p:nvPr/>
          </p:nvSpPr>
          <p:spPr>
            <a:xfrm>
              <a:off x="4554474" y="3412998"/>
              <a:ext cx="417830" cy="123825"/>
            </a:xfrm>
            <a:custGeom>
              <a:avLst/>
              <a:gdLst/>
              <a:ahLst/>
              <a:cxnLst/>
              <a:rect l="l" t="t" r="r" b="b"/>
              <a:pathLst>
                <a:path w="417829" h="123825">
                  <a:moveTo>
                    <a:pt x="355853" y="0"/>
                  </a:moveTo>
                  <a:lnTo>
                    <a:pt x="355853" y="30860"/>
                  </a:lnTo>
                  <a:lnTo>
                    <a:pt x="0" y="30860"/>
                  </a:lnTo>
                  <a:lnTo>
                    <a:pt x="0" y="92582"/>
                  </a:lnTo>
                  <a:lnTo>
                    <a:pt x="355853" y="92582"/>
                  </a:lnTo>
                  <a:lnTo>
                    <a:pt x="355853" y="123443"/>
                  </a:lnTo>
                  <a:lnTo>
                    <a:pt x="417575" y="61721"/>
                  </a:lnTo>
                  <a:lnTo>
                    <a:pt x="355853" y="0"/>
                  </a:lnTo>
                  <a:close/>
                </a:path>
              </a:pathLst>
            </a:custGeom>
            <a:solidFill>
              <a:srgbClr val="00C3FF"/>
            </a:solidFill>
          </p:spPr>
          <p:txBody>
            <a:bodyPr wrap="square" lIns="0" tIns="0" rIns="0" bIns="0" rtlCol="0"/>
            <a:lstStyle/>
            <a:p>
              <a:endParaRPr sz="2400"/>
            </a:p>
          </p:txBody>
        </p:sp>
        <p:sp>
          <p:nvSpPr>
            <p:cNvPr id="21" name="object 21"/>
            <p:cNvSpPr/>
            <p:nvPr/>
          </p:nvSpPr>
          <p:spPr>
            <a:xfrm>
              <a:off x="4554474" y="3412998"/>
              <a:ext cx="417830" cy="123825"/>
            </a:xfrm>
            <a:custGeom>
              <a:avLst/>
              <a:gdLst/>
              <a:ahLst/>
              <a:cxnLst/>
              <a:rect l="l" t="t" r="r" b="b"/>
              <a:pathLst>
                <a:path w="417829" h="123825">
                  <a:moveTo>
                    <a:pt x="0" y="30860"/>
                  </a:moveTo>
                  <a:lnTo>
                    <a:pt x="355853" y="30860"/>
                  </a:lnTo>
                  <a:lnTo>
                    <a:pt x="355853" y="0"/>
                  </a:lnTo>
                  <a:lnTo>
                    <a:pt x="417575" y="61721"/>
                  </a:lnTo>
                  <a:lnTo>
                    <a:pt x="355853" y="123443"/>
                  </a:lnTo>
                  <a:lnTo>
                    <a:pt x="355853" y="92582"/>
                  </a:lnTo>
                  <a:lnTo>
                    <a:pt x="0" y="92582"/>
                  </a:lnTo>
                  <a:lnTo>
                    <a:pt x="0" y="30860"/>
                  </a:lnTo>
                  <a:close/>
                </a:path>
              </a:pathLst>
            </a:custGeom>
            <a:ln w="25907">
              <a:solidFill>
                <a:srgbClr val="008FBB"/>
              </a:solidFill>
            </a:ln>
          </p:spPr>
          <p:txBody>
            <a:bodyPr wrap="square" lIns="0" tIns="0" rIns="0" bIns="0" rtlCol="0"/>
            <a:lstStyle/>
            <a:p>
              <a:endParaRPr sz="2400"/>
            </a:p>
          </p:txBody>
        </p:sp>
      </p:grpSp>
      <p:sp>
        <p:nvSpPr>
          <p:cNvPr id="22" name="object 22"/>
          <p:cNvSpPr txBox="1"/>
          <p:nvPr/>
        </p:nvSpPr>
        <p:spPr>
          <a:xfrm>
            <a:off x="3837431" y="4298187"/>
            <a:ext cx="4212167" cy="1657399"/>
          </a:xfrm>
          <a:prstGeom prst="rect">
            <a:avLst/>
          </a:prstGeom>
        </p:spPr>
        <p:txBody>
          <a:bodyPr vert="horz" wrap="square" lIns="0" tIns="16087" rIns="0" bIns="0" rtlCol="0">
            <a:spAutoFit/>
          </a:bodyPr>
          <a:lstStyle/>
          <a:p>
            <a:pPr marL="3096183">
              <a:spcBef>
                <a:spcPts val="127"/>
              </a:spcBef>
            </a:pPr>
            <a:r>
              <a:rPr sz="2133" spc="-13" dirty="0">
                <a:solidFill>
                  <a:srgbClr val="FFFFFF"/>
                </a:solidFill>
                <a:latin typeface="Calibri"/>
                <a:cs typeface="Calibri"/>
              </a:rPr>
              <a:t>Predictive</a:t>
            </a:r>
            <a:endParaRPr sz="2133">
              <a:latin typeface="Calibri"/>
              <a:cs typeface="Calibri"/>
            </a:endParaRPr>
          </a:p>
          <a:p>
            <a:pPr marL="3151215">
              <a:spcBef>
                <a:spcPts val="13"/>
              </a:spcBef>
            </a:pPr>
            <a:r>
              <a:rPr sz="2133" spc="-13" dirty="0">
                <a:solidFill>
                  <a:srgbClr val="FFFFFF"/>
                </a:solidFill>
                <a:latin typeface="Calibri"/>
                <a:cs typeface="Calibri"/>
              </a:rPr>
              <a:t>Analytics</a:t>
            </a:r>
            <a:endParaRPr sz="2133">
              <a:latin typeface="Calibri"/>
              <a:cs typeface="Calibri"/>
            </a:endParaRPr>
          </a:p>
          <a:p>
            <a:pPr marL="16933" marR="2342668" indent="579106">
              <a:lnSpc>
                <a:spcPct val="100400"/>
              </a:lnSpc>
              <a:spcBef>
                <a:spcPts val="40"/>
              </a:spcBef>
            </a:pPr>
            <a:r>
              <a:rPr sz="2133" dirty="0">
                <a:solidFill>
                  <a:srgbClr val="FFFFFF"/>
                </a:solidFill>
                <a:latin typeface="Calibri"/>
                <a:cs typeface="Calibri"/>
              </a:rPr>
              <a:t>Core</a:t>
            </a:r>
            <a:r>
              <a:rPr sz="2133" spc="-33" dirty="0">
                <a:solidFill>
                  <a:srgbClr val="FFFFFF"/>
                </a:solidFill>
                <a:latin typeface="Calibri"/>
                <a:cs typeface="Calibri"/>
              </a:rPr>
              <a:t> </a:t>
            </a:r>
            <a:r>
              <a:rPr sz="2133" spc="-67" dirty="0">
                <a:solidFill>
                  <a:srgbClr val="FFFFFF"/>
                </a:solidFill>
                <a:latin typeface="Calibri"/>
                <a:cs typeface="Calibri"/>
              </a:rPr>
              <a:t>/ </a:t>
            </a:r>
            <a:r>
              <a:rPr sz="2133" dirty="0">
                <a:solidFill>
                  <a:srgbClr val="FFFFFF"/>
                </a:solidFill>
                <a:latin typeface="Calibri"/>
                <a:cs typeface="Calibri"/>
              </a:rPr>
              <a:t>Access</a:t>
            </a:r>
            <a:r>
              <a:rPr sz="2133" spc="-53" dirty="0">
                <a:solidFill>
                  <a:srgbClr val="FFFFFF"/>
                </a:solidFill>
                <a:latin typeface="Calibri"/>
                <a:cs typeface="Calibri"/>
              </a:rPr>
              <a:t> </a:t>
            </a:r>
            <a:r>
              <a:rPr sz="2133" dirty="0">
                <a:solidFill>
                  <a:srgbClr val="FFFFFF"/>
                </a:solidFill>
                <a:latin typeface="Calibri"/>
                <a:cs typeface="Calibri"/>
              </a:rPr>
              <a:t>Layer</a:t>
            </a:r>
            <a:r>
              <a:rPr sz="2133" spc="-33" dirty="0">
                <a:solidFill>
                  <a:srgbClr val="FFFFFF"/>
                </a:solidFill>
                <a:latin typeface="Calibri"/>
                <a:cs typeface="Calibri"/>
              </a:rPr>
              <a:t> </a:t>
            </a:r>
            <a:r>
              <a:rPr sz="2133" spc="-67" dirty="0">
                <a:solidFill>
                  <a:srgbClr val="FFFFFF"/>
                </a:solidFill>
                <a:latin typeface="Calibri"/>
                <a:cs typeface="Calibri"/>
              </a:rPr>
              <a:t>/ </a:t>
            </a:r>
            <a:r>
              <a:rPr sz="2133" dirty="0">
                <a:solidFill>
                  <a:srgbClr val="FFFFFF"/>
                </a:solidFill>
                <a:latin typeface="Calibri"/>
                <a:cs typeface="Calibri"/>
              </a:rPr>
              <a:t>Data</a:t>
            </a:r>
            <a:r>
              <a:rPr sz="2133" spc="-53" dirty="0">
                <a:solidFill>
                  <a:srgbClr val="FFFFFF"/>
                </a:solidFill>
                <a:latin typeface="Calibri"/>
                <a:cs typeface="Calibri"/>
              </a:rPr>
              <a:t> </a:t>
            </a:r>
            <a:r>
              <a:rPr sz="2133" spc="-13" dirty="0">
                <a:solidFill>
                  <a:srgbClr val="FFFFFF"/>
                </a:solidFill>
                <a:latin typeface="Calibri"/>
                <a:cs typeface="Calibri"/>
              </a:rPr>
              <a:t>Warehouse</a:t>
            </a:r>
            <a:endParaRPr sz="2133">
              <a:latin typeface="Calibri"/>
              <a:cs typeface="Calibri"/>
            </a:endParaRPr>
          </a:p>
        </p:txBody>
      </p:sp>
      <p:pic>
        <p:nvPicPr>
          <p:cNvPr id="23" name="object 23"/>
          <p:cNvPicPr/>
          <p:nvPr/>
        </p:nvPicPr>
        <p:blipFill>
          <a:blip r:embed="rId5" cstate="print"/>
          <a:stretch>
            <a:fillRect/>
          </a:stretch>
        </p:blipFill>
        <p:spPr>
          <a:xfrm>
            <a:off x="191007" y="2627377"/>
            <a:ext cx="2348992" cy="1721103"/>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70977" y="234128"/>
            <a:ext cx="6283571"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Data</a:t>
            </a:r>
            <a:r>
              <a:rPr spc="-33" dirty="0">
                <a:solidFill>
                  <a:schemeClr val="bg1"/>
                </a:solidFill>
                <a:latin typeface="+mn-lt"/>
              </a:rPr>
              <a:t> </a:t>
            </a:r>
            <a:r>
              <a:rPr dirty="0">
                <a:solidFill>
                  <a:schemeClr val="bg1"/>
                </a:solidFill>
                <a:latin typeface="+mn-lt"/>
              </a:rPr>
              <a:t>Warehouse</a:t>
            </a:r>
            <a:r>
              <a:rPr spc="-60" dirty="0">
                <a:solidFill>
                  <a:schemeClr val="bg1"/>
                </a:solidFill>
                <a:latin typeface="+mn-lt"/>
              </a:rPr>
              <a:t> </a:t>
            </a:r>
            <a:r>
              <a:rPr spc="-13" dirty="0">
                <a:solidFill>
                  <a:schemeClr val="bg1"/>
                </a:solidFill>
                <a:latin typeface="+mn-lt"/>
              </a:rPr>
              <a:t>Layers</a:t>
            </a:r>
          </a:p>
        </p:txBody>
      </p:sp>
      <p:sp>
        <p:nvSpPr>
          <p:cNvPr id="3" name="object 3"/>
          <p:cNvSpPr txBox="1"/>
          <p:nvPr/>
        </p:nvSpPr>
        <p:spPr>
          <a:xfrm>
            <a:off x="2921000" y="4893192"/>
            <a:ext cx="1876213" cy="1000082"/>
          </a:xfrm>
          <a:prstGeom prst="rect">
            <a:avLst/>
          </a:prstGeom>
        </p:spPr>
        <p:txBody>
          <a:bodyPr vert="horz" wrap="square" lIns="0" tIns="15240" rIns="0" bIns="0" rtlCol="0">
            <a:spAutoFit/>
          </a:bodyPr>
          <a:lstStyle/>
          <a:p>
            <a:pPr marL="16933" marR="6773" indent="579106">
              <a:lnSpc>
                <a:spcPct val="100299"/>
              </a:lnSpc>
              <a:spcBef>
                <a:spcPts val="120"/>
              </a:spcBef>
            </a:pPr>
            <a:r>
              <a:rPr sz="2133" dirty="0">
                <a:solidFill>
                  <a:srgbClr val="FFFFFF"/>
                </a:solidFill>
                <a:latin typeface="Calibri"/>
                <a:cs typeface="Calibri"/>
              </a:rPr>
              <a:t>Core</a:t>
            </a:r>
            <a:r>
              <a:rPr sz="2133" spc="-33" dirty="0">
                <a:solidFill>
                  <a:srgbClr val="FFFFFF"/>
                </a:solidFill>
                <a:latin typeface="Calibri"/>
                <a:cs typeface="Calibri"/>
              </a:rPr>
              <a:t> </a:t>
            </a:r>
            <a:r>
              <a:rPr sz="2133" spc="-67" dirty="0">
                <a:solidFill>
                  <a:srgbClr val="FFFFFF"/>
                </a:solidFill>
                <a:latin typeface="Calibri"/>
                <a:cs typeface="Calibri"/>
              </a:rPr>
              <a:t>/ </a:t>
            </a:r>
            <a:r>
              <a:rPr sz="2133" dirty="0">
                <a:solidFill>
                  <a:srgbClr val="FFFFFF"/>
                </a:solidFill>
                <a:latin typeface="Calibri"/>
                <a:cs typeface="Calibri"/>
              </a:rPr>
              <a:t>Access</a:t>
            </a:r>
            <a:r>
              <a:rPr sz="2133" spc="-60" dirty="0">
                <a:solidFill>
                  <a:srgbClr val="FFFFFF"/>
                </a:solidFill>
                <a:latin typeface="Calibri"/>
                <a:cs typeface="Calibri"/>
              </a:rPr>
              <a:t> </a:t>
            </a:r>
            <a:r>
              <a:rPr sz="2133" dirty="0">
                <a:solidFill>
                  <a:srgbClr val="FFFFFF"/>
                </a:solidFill>
                <a:latin typeface="Calibri"/>
                <a:cs typeface="Calibri"/>
              </a:rPr>
              <a:t>Layer</a:t>
            </a:r>
            <a:r>
              <a:rPr sz="2133" spc="-53" dirty="0">
                <a:solidFill>
                  <a:srgbClr val="FFFFFF"/>
                </a:solidFill>
                <a:latin typeface="Calibri"/>
                <a:cs typeface="Calibri"/>
              </a:rPr>
              <a:t> </a:t>
            </a:r>
            <a:r>
              <a:rPr sz="2133" spc="-67" dirty="0">
                <a:solidFill>
                  <a:srgbClr val="FFFFFF"/>
                </a:solidFill>
                <a:latin typeface="Calibri"/>
                <a:cs typeface="Calibri"/>
              </a:rPr>
              <a:t>/ </a:t>
            </a:r>
            <a:r>
              <a:rPr sz="2133" dirty="0">
                <a:solidFill>
                  <a:srgbClr val="FFFFFF"/>
                </a:solidFill>
                <a:latin typeface="Calibri"/>
                <a:cs typeface="Calibri"/>
              </a:rPr>
              <a:t>Data</a:t>
            </a:r>
            <a:r>
              <a:rPr sz="2133" spc="-53" dirty="0">
                <a:solidFill>
                  <a:srgbClr val="FFFFFF"/>
                </a:solidFill>
                <a:latin typeface="Calibri"/>
                <a:cs typeface="Calibri"/>
              </a:rPr>
              <a:t> </a:t>
            </a:r>
            <a:r>
              <a:rPr sz="2133" spc="-13" dirty="0">
                <a:solidFill>
                  <a:srgbClr val="FFFFFF"/>
                </a:solidFill>
                <a:latin typeface="Calibri"/>
                <a:cs typeface="Calibri"/>
              </a:rPr>
              <a:t>Warehouse</a:t>
            </a:r>
            <a:endParaRPr sz="2133">
              <a:latin typeface="Calibri"/>
              <a:cs typeface="Calibri"/>
            </a:endParaRPr>
          </a:p>
        </p:txBody>
      </p:sp>
      <p:graphicFrame>
        <p:nvGraphicFramePr>
          <p:cNvPr id="4" name="object 4"/>
          <p:cNvGraphicFramePr>
            <a:graphicFrameLocks noGrp="1"/>
          </p:cNvGraphicFramePr>
          <p:nvPr/>
        </p:nvGraphicFramePr>
        <p:xfrm>
          <a:off x="3483515" y="2545865"/>
          <a:ext cx="696805" cy="960965"/>
        </p:xfrm>
        <a:graphic>
          <a:graphicData uri="http://schemas.openxmlformats.org/drawingml/2006/table">
            <a:tbl>
              <a:tblPr firstRow="1" bandRow="1">
                <a:tableStyleId>{2D5ABB26-0587-4C30-8999-92F81FD0307C}</a:tableStyleId>
              </a:tblPr>
              <a:tblGrid>
                <a:gridCol w="235373">
                  <a:extLst>
                    <a:ext uri="{9D8B030D-6E8A-4147-A177-3AD203B41FA5}">
                      <a16:colId xmlns:a16="http://schemas.microsoft.com/office/drawing/2014/main" val="20000"/>
                    </a:ext>
                  </a:extLst>
                </a:gridCol>
                <a:gridCol w="226060">
                  <a:extLst>
                    <a:ext uri="{9D8B030D-6E8A-4147-A177-3AD203B41FA5}">
                      <a16:colId xmlns:a16="http://schemas.microsoft.com/office/drawing/2014/main" val="20001"/>
                    </a:ext>
                  </a:extLst>
                </a:gridCol>
                <a:gridCol w="235372">
                  <a:extLst>
                    <a:ext uri="{9D8B030D-6E8A-4147-A177-3AD203B41FA5}">
                      <a16:colId xmlns:a16="http://schemas.microsoft.com/office/drawing/2014/main" val="20002"/>
                    </a:ext>
                  </a:extLst>
                </a:gridCol>
              </a:tblGrid>
              <a:tr h="160019">
                <a:tc>
                  <a:txBody>
                    <a:bodyPr/>
                    <a:lstStyle/>
                    <a:p>
                      <a:pPr>
                        <a:lnSpc>
                          <a:spcPct val="100000"/>
                        </a:lnSpc>
                      </a:pPr>
                      <a:endParaRPr sz="800">
                        <a:latin typeface="Times New Roman"/>
                        <a:cs typeface="Times New Roman"/>
                      </a:endParaRPr>
                    </a:p>
                  </a:txBody>
                  <a:tcPr marL="0" marR="0" marT="0" marB="0">
                    <a:lnL w="57150">
                      <a:solidFill>
                        <a:srgbClr val="BCBCBC"/>
                      </a:solidFill>
                      <a:prstDash val="solid"/>
                    </a:lnL>
                    <a:lnR w="28575">
                      <a:solidFill>
                        <a:srgbClr val="BCBCBC"/>
                      </a:solidFill>
                      <a:prstDash val="solid"/>
                    </a:lnR>
                    <a:lnT w="57150">
                      <a:solidFill>
                        <a:srgbClr val="BCBCBC"/>
                      </a:solidFill>
                      <a:prstDash val="solid"/>
                    </a:lnT>
                    <a:lnB w="28575">
                      <a:solidFill>
                        <a:srgbClr val="BCBCBC"/>
                      </a:solidFill>
                      <a:prstDash val="solid"/>
                    </a:lnB>
                  </a:tcPr>
                </a:tc>
                <a:tc>
                  <a:txBody>
                    <a:bodyPr/>
                    <a:lstStyle/>
                    <a:p>
                      <a:pPr>
                        <a:lnSpc>
                          <a:spcPct val="100000"/>
                        </a:lnSpc>
                      </a:pPr>
                      <a:endParaRPr sz="800">
                        <a:latin typeface="Times New Roman"/>
                        <a:cs typeface="Times New Roman"/>
                      </a:endParaRPr>
                    </a:p>
                  </a:txBody>
                  <a:tcPr marL="0" marR="0" marT="0" marB="0">
                    <a:lnL w="28575">
                      <a:solidFill>
                        <a:srgbClr val="BCBCBC"/>
                      </a:solidFill>
                      <a:prstDash val="solid"/>
                    </a:lnL>
                    <a:lnR w="28575">
                      <a:solidFill>
                        <a:srgbClr val="BCBCBC"/>
                      </a:solidFill>
                      <a:prstDash val="solid"/>
                    </a:lnR>
                    <a:lnT w="57150">
                      <a:solidFill>
                        <a:srgbClr val="BCBCBC"/>
                      </a:solidFill>
                      <a:prstDash val="solid"/>
                    </a:lnT>
                    <a:lnB w="28575">
                      <a:solidFill>
                        <a:srgbClr val="BCBCBC"/>
                      </a:solidFill>
                      <a:prstDash val="solid"/>
                    </a:lnB>
                  </a:tcPr>
                </a:tc>
                <a:tc>
                  <a:txBody>
                    <a:bodyPr/>
                    <a:lstStyle/>
                    <a:p>
                      <a:pPr>
                        <a:lnSpc>
                          <a:spcPct val="100000"/>
                        </a:lnSpc>
                      </a:pPr>
                      <a:endParaRPr sz="800">
                        <a:latin typeface="Times New Roman"/>
                        <a:cs typeface="Times New Roman"/>
                      </a:endParaRPr>
                    </a:p>
                  </a:txBody>
                  <a:tcPr marL="0" marR="0" marT="0" marB="0">
                    <a:lnL w="28575">
                      <a:solidFill>
                        <a:srgbClr val="BCBCBC"/>
                      </a:solidFill>
                      <a:prstDash val="solid"/>
                    </a:lnL>
                    <a:lnR w="57150">
                      <a:solidFill>
                        <a:srgbClr val="BCBCBC"/>
                      </a:solidFill>
                      <a:prstDash val="solid"/>
                    </a:lnR>
                    <a:lnT w="57150">
                      <a:solidFill>
                        <a:srgbClr val="BCBCBC"/>
                      </a:solidFill>
                      <a:prstDash val="solid"/>
                    </a:lnT>
                    <a:lnB w="28575">
                      <a:solidFill>
                        <a:srgbClr val="BCBCBC"/>
                      </a:solidFill>
                      <a:prstDash val="solid"/>
                    </a:lnB>
                  </a:tcPr>
                </a:tc>
                <a:extLst>
                  <a:ext uri="{0D108BD9-81ED-4DB2-BD59-A6C34878D82A}">
                    <a16:rowId xmlns:a16="http://schemas.microsoft.com/office/drawing/2014/main" val="10000"/>
                  </a:ext>
                </a:extLst>
              </a:tr>
              <a:tr h="150707">
                <a:tc>
                  <a:txBody>
                    <a:bodyPr/>
                    <a:lstStyle/>
                    <a:p>
                      <a:pPr>
                        <a:lnSpc>
                          <a:spcPct val="100000"/>
                        </a:lnSpc>
                      </a:pPr>
                      <a:endParaRPr sz="800">
                        <a:latin typeface="Times New Roman"/>
                        <a:cs typeface="Times New Roman"/>
                      </a:endParaRPr>
                    </a:p>
                  </a:txBody>
                  <a:tcPr marL="0" marR="0" marT="0" marB="0">
                    <a:lnL w="57150">
                      <a:solidFill>
                        <a:srgbClr val="BCBCBC"/>
                      </a:solidFill>
                      <a:prstDash val="solid"/>
                    </a:lnL>
                    <a:lnR w="28575">
                      <a:solidFill>
                        <a:srgbClr val="BCBCBC"/>
                      </a:solidFill>
                      <a:prstDash val="solid"/>
                    </a:lnR>
                    <a:lnT w="28575">
                      <a:solidFill>
                        <a:srgbClr val="BCBCBC"/>
                      </a:solidFill>
                      <a:prstDash val="solid"/>
                    </a:lnT>
                    <a:lnB w="28575">
                      <a:solidFill>
                        <a:srgbClr val="BCBCBC"/>
                      </a:solidFill>
                      <a:prstDash val="solid"/>
                    </a:lnB>
                  </a:tcPr>
                </a:tc>
                <a:tc>
                  <a:txBody>
                    <a:bodyPr/>
                    <a:lstStyle/>
                    <a:p>
                      <a:pPr>
                        <a:lnSpc>
                          <a:spcPct val="100000"/>
                        </a:lnSpc>
                      </a:pPr>
                      <a:endParaRPr sz="800">
                        <a:latin typeface="Times New Roman"/>
                        <a:cs typeface="Times New Roman"/>
                      </a:endParaRPr>
                    </a:p>
                  </a:txBody>
                  <a:tcPr marL="0" marR="0" marT="0" marB="0">
                    <a:lnL w="28575">
                      <a:solidFill>
                        <a:srgbClr val="BCBCBC"/>
                      </a:solidFill>
                      <a:prstDash val="solid"/>
                    </a:lnL>
                    <a:lnR w="28575">
                      <a:solidFill>
                        <a:srgbClr val="BCBCBC"/>
                      </a:solidFill>
                      <a:prstDash val="solid"/>
                    </a:lnR>
                    <a:lnT w="28575">
                      <a:solidFill>
                        <a:srgbClr val="BCBCBC"/>
                      </a:solidFill>
                      <a:prstDash val="solid"/>
                    </a:lnT>
                    <a:lnB w="28575">
                      <a:solidFill>
                        <a:srgbClr val="BCBCBC"/>
                      </a:solidFill>
                      <a:prstDash val="solid"/>
                    </a:lnB>
                  </a:tcPr>
                </a:tc>
                <a:tc>
                  <a:txBody>
                    <a:bodyPr/>
                    <a:lstStyle/>
                    <a:p>
                      <a:pPr>
                        <a:lnSpc>
                          <a:spcPct val="100000"/>
                        </a:lnSpc>
                      </a:pPr>
                      <a:endParaRPr sz="800">
                        <a:latin typeface="Times New Roman"/>
                        <a:cs typeface="Times New Roman"/>
                      </a:endParaRPr>
                    </a:p>
                  </a:txBody>
                  <a:tcPr marL="0" marR="0" marT="0" marB="0">
                    <a:lnL w="28575">
                      <a:solidFill>
                        <a:srgbClr val="BCBCBC"/>
                      </a:solidFill>
                      <a:prstDash val="solid"/>
                    </a:lnL>
                    <a:lnR w="57150">
                      <a:solidFill>
                        <a:srgbClr val="BCBCBC"/>
                      </a:solidFill>
                      <a:prstDash val="solid"/>
                    </a:lnR>
                    <a:lnT w="28575">
                      <a:solidFill>
                        <a:srgbClr val="BCBCBC"/>
                      </a:solidFill>
                      <a:prstDash val="solid"/>
                    </a:lnT>
                    <a:lnB w="28575">
                      <a:solidFill>
                        <a:srgbClr val="BCBCBC"/>
                      </a:solidFill>
                      <a:prstDash val="solid"/>
                    </a:lnB>
                  </a:tcPr>
                </a:tc>
                <a:extLst>
                  <a:ext uri="{0D108BD9-81ED-4DB2-BD59-A6C34878D82A}">
                    <a16:rowId xmlns:a16="http://schemas.microsoft.com/office/drawing/2014/main" val="10001"/>
                  </a:ext>
                </a:extLst>
              </a:tr>
              <a:tr h="170180">
                <a:tc>
                  <a:txBody>
                    <a:bodyPr/>
                    <a:lstStyle/>
                    <a:p>
                      <a:pPr>
                        <a:lnSpc>
                          <a:spcPct val="100000"/>
                        </a:lnSpc>
                      </a:pPr>
                      <a:endParaRPr sz="900">
                        <a:latin typeface="Times New Roman"/>
                        <a:cs typeface="Times New Roman"/>
                      </a:endParaRPr>
                    </a:p>
                  </a:txBody>
                  <a:tcPr marL="0" marR="0" marT="0" marB="0">
                    <a:lnL w="57150">
                      <a:solidFill>
                        <a:srgbClr val="BCBCBC"/>
                      </a:solidFill>
                      <a:prstDash val="solid"/>
                    </a:lnL>
                    <a:lnR w="28575">
                      <a:solidFill>
                        <a:srgbClr val="BCBCBC"/>
                      </a:solidFill>
                      <a:prstDash val="solid"/>
                    </a:lnR>
                    <a:lnT w="28575">
                      <a:solidFill>
                        <a:srgbClr val="BCBCBC"/>
                      </a:solidFill>
                      <a:prstDash val="solid"/>
                    </a:lnT>
                    <a:lnB w="7620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28575">
                      <a:solidFill>
                        <a:srgbClr val="BCBCBC"/>
                      </a:solidFill>
                      <a:prstDash val="solid"/>
                    </a:lnL>
                    <a:lnR w="28575">
                      <a:solidFill>
                        <a:srgbClr val="BCBCBC"/>
                      </a:solidFill>
                      <a:prstDash val="solid"/>
                    </a:lnR>
                    <a:lnT w="28575">
                      <a:solidFill>
                        <a:srgbClr val="BCBCBC"/>
                      </a:solidFill>
                      <a:prstDash val="solid"/>
                    </a:lnT>
                    <a:lnB w="7620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28575">
                      <a:solidFill>
                        <a:srgbClr val="BCBCBC"/>
                      </a:solidFill>
                      <a:prstDash val="solid"/>
                    </a:lnL>
                    <a:lnR w="57150">
                      <a:solidFill>
                        <a:srgbClr val="BCBCBC"/>
                      </a:solidFill>
                      <a:prstDash val="solid"/>
                    </a:lnR>
                    <a:lnT w="28575">
                      <a:solidFill>
                        <a:srgbClr val="BCBCBC"/>
                      </a:solidFill>
                      <a:prstDash val="solid"/>
                    </a:lnT>
                    <a:lnB w="76200">
                      <a:solidFill>
                        <a:srgbClr val="BCBCBC"/>
                      </a:solidFill>
                      <a:prstDash val="solid"/>
                    </a:lnB>
                  </a:tcPr>
                </a:tc>
                <a:extLst>
                  <a:ext uri="{0D108BD9-81ED-4DB2-BD59-A6C34878D82A}">
                    <a16:rowId xmlns:a16="http://schemas.microsoft.com/office/drawing/2014/main" val="10002"/>
                  </a:ext>
                </a:extLst>
              </a:tr>
              <a:tr h="170180">
                <a:tc>
                  <a:txBody>
                    <a:bodyPr/>
                    <a:lstStyle/>
                    <a:p>
                      <a:pPr>
                        <a:lnSpc>
                          <a:spcPct val="100000"/>
                        </a:lnSpc>
                      </a:pPr>
                      <a:endParaRPr sz="900">
                        <a:latin typeface="Times New Roman"/>
                        <a:cs typeface="Times New Roman"/>
                      </a:endParaRPr>
                    </a:p>
                  </a:txBody>
                  <a:tcPr marL="0" marR="0" marT="0" marB="0">
                    <a:lnL w="57150">
                      <a:solidFill>
                        <a:srgbClr val="BCBCBC"/>
                      </a:solidFill>
                      <a:prstDash val="solid"/>
                    </a:lnL>
                    <a:lnR w="28575">
                      <a:solidFill>
                        <a:srgbClr val="BCBCBC"/>
                      </a:solidFill>
                      <a:prstDash val="solid"/>
                    </a:lnR>
                    <a:lnT w="76200">
                      <a:solidFill>
                        <a:srgbClr val="BCBCBC"/>
                      </a:solidFill>
                      <a:prstDash val="solid"/>
                    </a:lnT>
                    <a:lnB w="28575">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28575">
                      <a:solidFill>
                        <a:srgbClr val="BCBCBC"/>
                      </a:solidFill>
                      <a:prstDash val="solid"/>
                    </a:lnL>
                    <a:lnR w="28575">
                      <a:solidFill>
                        <a:srgbClr val="BCBCBC"/>
                      </a:solidFill>
                      <a:prstDash val="solid"/>
                    </a:lnR>
                    <a:lnT w="76200">
                      <a:solidFill>
                        <a:srgbClr val="BCBCBC"/>
                      </a:solidFill>
                      <a:prstDash val="solid"/>
                    </a:lnT>
                    <a:lnB w="28575">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28575">
                      <a:solidFill>
                        <a:srgbClr val="BCBCBC"/>
                      </a:solidFill>
                      <a:prstDash val="solid"/>
                    </a:lnL>
                    <a:lnR w="57150">
                      <a:solidFill>
                        <a:srgbClr val="BCBCBC"/>
                      </a:solidFill>
                      <a:prstDash val="solid"/>
                    </a:lnR>
                    <a:lnT w="76200">
                      <a:solidFill>
                        <a:srgbClr val="BCBCBC"/>
                      </a:solidFill>
                      <a:prstDash val="solid"/>
                    </a:lnT>
                    <a:lnB w="28575">
                      <a:solidFill>
                        <a:srgbClr val="BCBCBC"/>
                      </a:solidFill>
                      <a:prstDash val="solid"/>
                    </a:lnB>
                  </a:tcPr>
                </a:tc>
                <a:extLst>
                  <a:ext uri="{0D108BD9-81ED-4DB2-BD59-A6C34878D82A}">
                    <a16:rowId xmlns:a16="http://schemas.microsoft.com/office/drawing/2014/main" val="10003"/>
                  </a:ext>
                </a:extLst>
              </a:tr>
              <a:tr h="149860">
                <a:tc>
                  <a:txBody>
                    <a:bodyPr/>
                    <a:lstStyle/>
                    <a:p>
                      <a:pPr>
                        <a:lnSpc>
                          <a:spcPct val="100000"/>
                        </a:lnSpc>
                      </a:pPr>
                      <a:endParaRPr sz="700">
                        <a:latin typeface="Times New Roman"/>
                        <a:cs typeface="Times New Roman"/>
                      </a:endParaRPr>
                    </a:p>
                  </a:txBody>
                  <a:tcPr marL="0" marR="0" marT="0" marB="0">
                    <a:lnL w="57150">
                      <a:solidFill>
                        <a:srgbClr val="BCBCBC"/>
                      </a:solidFill>
                      <a:prstDash val="solid"/>
                    </a:lnL>
                    <a:lnR w="28575">
                      <a:solidFill>
                        <a:srgbClr val="BCBCBC"/>
                      </a:solidFill>
                      <a:prstDash val="solid"/>
                    </a:lnR>
                    <a:lnT w="28575">
                      <a:solidFill>
                        <a:srgbClr val="BCBCBC"/>
                      </a:solidFill>
                      <a:prstDash val="solid"/>
                    </a:lnT>
                    <a:lnB w="38100">
                      <a:solidFill>
                        <a:srgbClr val="BCBCBC"/>
                      </a:solidFill>
                      <a:prstDash val="solid"/>
                    </a:lnB>
                  </a:tcPr>
                </a:tc>
                <a:tc>
                  <a:txBody>
                    <a:bodyPr/>
                    <a:lstStyle/>
                    <a:p>
                      <a:pPr>
                        <a:lnSpc>
                          <a:spcPct val="100000"/>
                        </a:lnSpc>
                      </a:pPr>
                      <a:endParaRPr sz="700">
                        <a:latin typeface="Times New Roman"/>
                        <a:cs typeface="Times New Roman"/>
                      </a:endParaRPr>
                    </a:p>
                  </a:txBody>
                  <a:tcPr marL="0" marR="0" marT="0" marB="0">
                    <a:lnL w="28575">
                      <a:solidFill>
                        <a:srgbClr val="BCBCBC"/>
                      </a:solidFill>
                      <a:prstDash val="solid"/>
                    </a:lnL>
                    <a:lnR w="28575">
                      <a:solidFill>
                        <a:srgbClr val="BCBCBC"/>
                      </a:solidFill>
                      <a:prstDash val="solid"/>
                    </a:lnR>
                    <a:lnT w="28575">
                      <a:solidFill>
                        <a:srgbClr val="BCBCBC"/>
                      </a:solidFill>
                      <a:prstDash val="solid"/>
                    </a:lnT>
                    <a:lnB w="38100">
                      <a:solidFill>
                        <a:srgbClr val="BCBCBC"/>
                      </a:solidFill>
                      <a:prstDash val="solid"/>
                    </a:lnB>
                  </a:tcPr>
                </a:tc>
                <a:tc>
                  <a:txBody>
                    <a:bodyPr/>
                    <a:lstStyle/>
                    <a:p>
                      <a:pPr>
                        <a:lnSpc>
                          <a:spcPct val="100000"/>
                        </a:lnSpc>
                      </a:pPr>
                      <a:endParaRPr sz="700">
                        <a:latin typeface="Times New Roman"/>
                        <a:cs typeface="Times New Roman"/>
                      </a:endParaRPr>
                    </a:p>
                  </a:txBody>
                  <a:tcPr marL="0" marR="0" marT="0" marB="0">
                    <a:lnL w="28575">
                      <a:solidFill>
                        <a:srgbClr val="BCBCBC"/>
                      </a:solidFill>
                      <a:prstDash val="solid"/>
                    </a:lnL>
                    <a:lnR w="57150">
                      <a:solidFill>
                        <a:srgbClr val="BCBCBC"/>
                      </a:solidFill>
                      <a:prstDash val="solid"/>
                    </a:lnR>
                    <a:lnT w="28575">
                      <a:solidFill>
                        <a:srgbClr val="BCBCBC"/>
                      </a:solidFill>
                      <a:prstDash val="solid"/>
                    </a:lnT>
                    <a:lnB w="38100">
                      <a:solidFill>
                        <a:srgbClr val="BCBCBC"/>
                      </a:solidFill>
                      <a:prstDash val="solid"/>
                    </a:lnB>
                  </a:tcPr>
                </a:tc>
                <a:extLst>
                  <a:ext uri="{0D108BD9-81ED-4DB2-BD59-A6C34878D82A}">
                    <a16:rowId xmlns:a16="http://schemas.microsoft.com/office/drawing/2014/main" val="10004"/>
                  </a:ext>
                </a:extLst>
              </a:tr>
              <a:tr h="160019">
                <a:tc>
                  <a:txBody>
                    <a:bodyPr/>
                    <a:lstStyle/>
                    <a:p>
                      <a:pPr>
                        <a:lnSpc>
                          <a:spcPct val="100000"/>
                        </a:lnSpc>
                      </a:pPr>
                      <a:endParaRPr sz="800">
                        <a:latin typeface="Times New Roman"/>
                        <a:cs typeface="Times New Roman"/>
                      </a:endParaRPr>
                    </a:p>
                  </a:txBody>
                  <a:tcPr marL="0" marR="0" marT="0" marB="0">
                    <a:lnL w="57150">
                      <a:solidFill>
                        <a:srgbClr val="BCBCBC"/>
                      </a:solidFill>
                      <a:prstDash val="solid"/>
                    </a:lnL>
                    <a:lnR w="28575">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800">
                        <a:latin typeface="Times New Roman"/>
                        <a:cs typeface="Times New Roman"/>
                      </a:endParaRPr>
                    </a:p>
                  </a:txBody>
                  <a:tcPr marL="0" marR="0" marT="0" marB="0">
                    <a:lnL w="28575">
                      <a:solidFill>
                        <a:srgbClr val="BCBCBC"/>
                      </a:solidFill>
                      <a:prstDash val="solid"/>
                    </a:lnL>
                    <a:lnR w="28575">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800">
                        <a:latin typeface="Times New Roman"/>
                        <a:cs typeface="Times New Roman"/>
                      </a:endParaRPr>
                    </a:p>
                  </a:txBody>
                  <a:tcPr marL="0" marR="0" marT="0" marB="0">
                    <a:lnL w="28575">
                      <a:solidFill>
                        <a:srgbClr val="BCBCBC"/>
                      </a:solidFill>
                      <a:prstDash val="solid"/>
                    </a:lnL>
                    <a:lnR w="57150">
                      <a:solidFill>
                        <a:srgbClr val="BCBCBC"/>
                      </a:solidFill>
                      <a:prstDash val="solid"/>
                    </a:lnR>
                    <a:lnT w="38100">
                      <a:solidFill>
                        <a:srgbClr val="BCBCBC"/>
                      </a:solidFill>
                      <a:prstDash val="solid"/>
                    </a:lnT>
                    <a:lnB w="57150">
                      <a:solidFill>
                        <a:srgbClr val="BCBCBC"/>
                      </a:solidFill>
                      <a:prstDash val="solid"/>
                    </a:lnB>
                  </a:tcPr>
                </a:tc>
                <a:extLst>
                  <a:ext uri="{0D108BD9-81ED-4DB2-BD59-A6C34878D82A}">
                    <a16:rowId xmlns:a16="http://schemas.microsoft.com/office/drawing/2014/main" val="10005"/>
                  </a:ext>
                </a:extLst>
              </a:tr>
            </a:tbl>
          </a:graphicData>
        </a:graphic>
      </p:graphicFrame>
      <p:grpSp>
        <p:nvGrpSpPr>
          <p:cNvPr id="5" name="object 5"/>
          <p:cNvGrpSpPr/>
          <p:nvPr/>
        </p:nvGrpSpPr>
        <p:grpSpPr>
          <a:xfrm>
            <a:off x="2836672" y="1946655"/>
            <a:ext cx="2292773" cy="2959100"/>
            <a:chOff x="2127504" y="1459991"/>
            <a:chExt cx="1719580" cy="2219325"/>
          </a:xfrm>
        </p:grpSpPr>
        <p:sp>
          <p:nvSpPr>
            <p:cNvPr id="6" name="object 6"/>
            <p:cNvSpPr/>
            <p:nvPr/>
          </p:nvSpPr>
          <p:spPr>
            <a:xfrm>
              <a:off x="2132076" y="1464563"/>
              <a:ext cx="1524000" cy="2209800"/>
            </a:xfrm>
            <a:custGeom>
              <a:avLst/>
              <a:gdLst/>
              <a:ahLst/>
              <a:cxnLst/>
              <a:rect l="l" t="t" r="r" b="b"/>
              <a:pathLst>
                <a:path w="1524000" h="2209800">
                  <a:moveTo>
                    <a:pt x="0" y="254000"/>
                  </a:moveTo>
                  <a:lnTo>
                    <a:pt x="4090" y="208328"/>
                  </a:lnTo>
                  <a:lnTo>
                    <a:pt x="15884" y="165349"/>
                  </a:lnTo>
                  <a:lnTo>
                    <a:pt x="34666" y="125777"/>
                  </a:lnTo>
                  <a:lnTo>
                    <a:pt x="59719" y="90328"/>
                  </a:lnTo>
                  <a:lnTo>
                    <a:pt x="90328" y="59719"/>
                  </a:lnTo>
                  <a:lnTo>
                    <a:pt x="125777" y="34666"/>
                  </a:lnTo>
                  <a:lnTo>
                    <a:pt x="165349" y="15884"/>
                  </a:lnTo>
                  <a:lnTo>
                    <a:pt x="208328" y="4090"/>
                  </a:lnTo>
                  <a:lnTo>
                    <a:pt x="254000" y="0"/>
                  </a:lnTo>
                  <a:lnTo>
                    <a:pt x="1270000" y="0"/>
                  </a:lnTo>
                  <a:lnTo>
                    <a:pt x="1315671" y="4090"/>
                  </a:lnTo>
                  <a:lnTo>
                    <a:pt x="1358650" y="15884"/>
                  </a:lnTo>
                  <a:lnTo>
                    <a:pt x="1398222" y="34666"/>
                  </a:lnTo>
                  <a:lnTo>
                    <a:pt x="1433671" y="59719"/>
                  </a:lnTo>
                  <a:lnTo>
                    <a:pt x="1464280" y="90328"/>
                  </a:lnTo>
                  <a:lnTo>
                    <a:pt x="1489333" y="125777"/>
                  </a:lnTo>
                  <a:lnTo>
                    <a:pt x="1508115" y="165349"/>
                  </a:lnTo>
                  <a:lnTo>
                    <a:pt x="1519909" y="208328"/>
                  </a:lnTo>
                  <a:lnTo>
                    <a:pt x="1524000" y="254000"/>
                  </a:lnTo>
                  <a:lnTo>
                    <a:pt x="1524000" y="1955800"/>
                  </a:lnTo>
                  <a:lnTo>
                    <a:pt x="1519909" y="2001471"/>
                  </a:lnTo>
                  <a:lnTo>
                    <a:pt x="1508115" y="2044450"/>
                  </a:lnTo>
                  <a:lnTo>
                    <a:pt x="1489333" y="2084022"/>
                  </a:lnTo>
                  <a:lnTo>
                    <a:pt x="1464280" y="2119471"/>
                  </a:lnTo>
                  <a:lnTo>
                    <a:pt x="1433671" y="2150080"/>
                  </a:lnTo>
                  <a:lnTo>
                    <a:pt x="1398222" y="2175133"/>
                  </a:lnTo>
                  <a:lnTo>
                    <a:pt x="1358650" y="2193915"/>
                  </a:lnTo>
                  <a:lnTo>
                    <a:pt x="1315671" y="2205709"/>
                  </a:lnTo>
                  <a:lnTo>
                    <a:pt x="1270000" y="2209800"/>
                  </a:lnTo>
                  <a:lnTo>
                    <a:pt x="254000" y="2209800"/>
                  </a:lnTo>
                  <a:lnTo>
                    <a:pt x="208328" y="2205709"/>
                  </a:lnTo>
                  <a:lnTo>
                    <a:pt x="165349" y="2193915"/>
                  </a:lnTo>
                  <a:lnTo>
                    <a:pt x="125777" y="2175133"/>
                  </a:lnTo>
                  <a:lnTo>
                    <a:pt x="90328" y="2150080"/>
                  </a:lnTo>
                  <a:lnTo>
                    <a:pt x="59719" y="2119471"/>
                  </a:lnTo>
                  <a:lnTo>
                    <a:pt x="34666" y="2084022"/>
                  </a:lnTo>
                  <a:lnTo>
                    <a:pt x="15884" y="2044450"/>
                  </a:lnTo>
                  <a:lnTo>
                    <a:pt x="4090" y="2001471"/>
                  </a:lnTo>
                  <a:lnTo>
                    <a:pt x="0" y="1955800"/>
                  </a:lnTo>
                  <a:lnTo>
                    <a:pt x="0" y="254000"/>
                  </a:lnTo>
                  <a:close/>
                </a:path>
              </a:pathLst>
            </a:custGeom>
            <a:ln w="9144">
              <a:solidFill>
                <a:srgbClr val="00C3FF"/>
              </a:solidFill>
            </a:ln>
          </p:spPr>
          <p:txBody>
            <a:bodyPr wrap="square" lIns="0" tIns="0" rIns="0" bIns="0" rtlCol="0"/>
            <a:lstStyle/>
            <a:p>
              <a:endParaRPr sz="2400"/>
            </a:p>
          </p:txBody>
        </p:sp>
        <p:sp>
          <p:nvSpPr>
            <p:cNvPr id="7" name="object 7"/>
            <p:cNvSpPr/>
            <p:nvPr/>
          </p:nvSpPr>
          <p:spPr>
            <a:xfrm>
              <a:off x="2628011" y="2863367"/>
              <a:ext cx="566420" cy="398145"/>
            </a:xfrm>
            <a:custGeom>
              <a:avLst/>
              <a:gdLst/>
              <a:ahLst/>
              <a:cxnLst/>
              <a:rect l="l" t="t" r="r" b="b"/>
              <a:pathLst>
                <a:path w="566419" h="398145">
                  <a:moveTo>
                    <a:pt x="212267" y="156387"/>
                  </a:moveTo>
                  <a:lnTo>
                    <a:pt x="183959" y="156387"/>
                  </a:lnTo>
                  <a:lnTo>
                    <a:pt x="183959" y="241363"/>
                  </a:lnTo>
                  <a:lnTo>
                    <a:pt x="212267" y="241363"/>
                  </a:lnTo>
                  <a:lnTo>
                    <a:pt x="212267" y="156387"/>
                  </a:lnTo>
                  <a:close/>
                </a:path>
                <a:path w="566419" h="398145">
                  <a:moveTo>
                    <a:pt x="382079" y="156387"/>
                  </a:moveTo>
                  <a:lnTo>
                    <a:pt x="353771" y="156387"/>
                  </a:lnTo>
                  <a:lnTo>
                    <a:pt x="353771" y="241363"/>
                  </a:lnTo>
                  <a:lnTo>
                    <a:pt x="382079" y="241363"/>
                  </a:lnTo>
                  <a:lnTo>
                    <a:pt x="382079" y="156387"/>
                  </a:lnTo>
                  <a:close/>
                </a:path>
                <a:path w="566419" h="398145">
                  <a:moveTo>
                    <a:pt x="566051" y="156387"/>
                  </a:moveTo>
                  <a:lnTo>
                    <a:pt x="523582" y="156387"/>
                  </a:lnTo>
                  <a:lnTo>
                    <a:pt x="523582" y="241363"/>
                  </a:lnTo>
                  <a:lnTo>
                    <a:pt x="566051" y="241363"/>
                  </a:lnTo>
                  <a:lnTo>
                    <a:pt x="566051" y="156387"/>
                  </a:lnTo>
                  <a:close/>
                </a:path>
                <a:path w="566419" h="398145">
                  <a:moveTo>
                    <a:pt x="566051" y="0"/>
                  </a:moveTo>
                  <a:lnTo>
                    <a:pt x="0" y="0"/>
                  </a:lnTo>
                  <a:lnTo>
                    <a:pt x="0" y="43205"/>
                  </a:lnTo>
                  <a:lnTo>
                    <a:pt x="0" y="128333"/>
                  </a:lnTo>
                  <a:lnTo>
                    <a:pt x="0" y="397687"/>
                  </a:lnTo>
                  <a:lnTo>
                    <a:pt x="566051" y="397687"/>
                  </a:lnTo>
                  <a:lnTo>
                    <a:pt x="566051" y="354672"/>
                  </a:lnTo>
                  <a:lnTo>
                    <a:pt x="566051" y="354482"/>
                  </a:lnTo>
                  <a:lnTo>
                    <a:pt x="566051" y="269684"/>
                  </a:lnTo>
                  <a:lnTo>
                    <a:pt x="523582" y="269684"/>
                  </a:lnTo>
                  <a:lnTo>
                    <a:pt x="523582" y="354482"/>
                  </a:lnTo>
                  <a:lnTo>
                    <a:pt x="382079" y="354482"/>
                  </a:lnTo>
                  <a:lnTo>
                    <a:pt x="382079" y="269684"/>
                  </a:lnTo>
                  <a:lnTo>
                    <a:pt x="353771" y="269684"/>
                  </a:lnTo>
                  <a:lnTo>
                    <a:pt x="353771" y="354482"/>
                  </a:lnTo>
                  <a:lnTo>
                    <a:pt x="212267" y="354482"/>
                  </a:lnTo>
                  <a:lnTo>
                    <a:pt x="212267" y="269684"/>
                  </a:lnTo>
                  <a:lnTo>
                    <a:pt x="183959" y="269684"/>
                  </a:lnTo>
                  <a:lnTo>
                    <a:pt x="183959" y="354482"/>
                  </a:lnTo>
                  <a:lnTo>
                    <a:pt x="42456" y="354482"/>
                  </a:lnTo>
                  <a:lnTo>
                    <a:pt x="42456" y="269354"/>
                  </a:lnTo>
                  <a:lnTo>
                    <a:pt x="566051" y="269354"/>
                  </a:lnTo>
                  <a:lnTo>
                    <a:pt x="566051" y="241401"/>
                  </a:lnTo>
                  <a:lnTo>
                    <a:pt x="42456" y="241401"/>
                  </a:lnTo>
                  <a:lnTo>
                    <a:pt x="42456" y="156286"/>
                  </a:lnTo>
                  <a:lnTo>
                    <a:pt x="566051" y="156286"/>
                  </a:lnTo>
                  <a:lnTo>
                    <a:pt x="566051" y="128333"/>
                  </a:lnTo>
                  <a:lnTo>
                    <a:pt x="42456" y="128333"/>
                  </a:lnTo>
                  <a:lnTo>
                    <a:pt x="42456" y="43205"/>
                  </a:lnTo>
                  <a:lnTo>
                    <a:pt x="183959" y="43205"/>
                  </a:lnTo>
                  <a:lnTo>
                    <a:pt x="183959" y="128054"/>
                  </a:lnTo>
                  <a:lnTo>
                    <a:pt x="212267" y="128054"/>
                  </a:lnTo>
                  <a:lnTo>
                    <a:pt x="212267" y="43205"/>
                  </a:lnTo>
                  <a:lnTo>
                    <a:pt x="353771" y="43205"/>
                  </a:lnTo>
                  <a:lnTo>
                    <a:pt x="353771" y="128054"/>
                  </a:lnTo>
                  <a:lnTo>
                    <a:pt x="382079" y="128054"/>
                  </a:lnTo>
                  <a:lnTo>
                    <a:pt x="382079" y="43205"/>
                  </a:lnTo>
                  <a:lnTo>
                    <a:pt x="523582" y="43205"/>
                  </a:lnTo>
                  <a:lnTo>
                    <a:pt x="523582" y="128054"/>
                  </a:lnTo>
                  <a:lnTo>
                    <a:pt x="566051" y="128054"/>
                  </a:lnTo>
                  <a:lnTo>
                    <a:pt x="566051" y="43205"/>
                  </a:lnTo>
                  <a:lnTo>
                    <a:pt x="566051" y="43078"/>
                  </a:lnTo>
                  <a:lnTo>
                    <a:pt x="566051" y="0"/>
                  </a:lnTo>
                  <a:close/>
                </a:path>
              </a:pathLst>
            </a:custGeom>
            <a:solidFill>
              <a:srgbClr val="BCBCBC"/>
            </a:solidFill>
          </p:spPr>
          <p:txBody>
            <a:bodyPr wrap="square" lIns="0" tIns="0" rIns="0" bIns="0" rtlCol="0"/>
            <a:lstStyle/>
            <a:p>
              <a:endParaRPr sz="2400"/>
            </a:p>
          </p:txBody>
        </p:sp>
        <p:sp>
          <p:nvSpPr>
            <p:cNvPr id="8" name="object 8"/>
            <p:cNvSpPr/>
            <p:nvPr/>
          </p:nvSpPr>
          <p:spPr>
            <a:xfrm>
              <a:off x="3416046" y="1914905"/>
              <a:ext cx="417830" cy="121920"/>
            </a:xfrm>
            <a:custGeom>
              <a:avLst/>
              <a:gdLst/>
              <a:ahLst/>
              <a:cxnLst/>
              <a:rect l="l" t="t" r="r" b="b"/>
              <a:pathLst>
                <a:path w="417829" h="121919">
                  <a:moveTo>
                    <a:pt x="356615" y="0"/>
                  </a:moveTo>
                  <a:lnTo>
                    <a:pt x="356615" y="30480"/>
                  </a:lnTo>
                  <a:lnTo>
                    <a:pt x="0" y="30480"/>
                  </a:lnTo>
                  <a:lnTo>
                    <a:pt x="0" y="91439"/>
                  </a:lnTo>
                  <a:lnTo>
                    <a:pt x="356615" y="91439"/>
                  </a:lnTo>
                  <a:lnTo>
                    <a:pt x="356615" y="121919"/>
                  </a:lnTo>
                  <a:lnTo>
                    <a:pt x="417575" y="60960"/>
                  </a:lnTo>
                  <a:lnTo>
                    <a:pt x="356615" y="0"/>
                  </a:lnTo>
                  <a:close/>
                </a:path>
              </a:pathLst>
            </a:custGeom>
            <a:solidFill>
              <a:srgbClr val="00C3FF"/>
            </a:solidFill>
          </p:spPr>
          <p:txBody>
            <a:bodyPr wrap="square" lIns="0" tIns="0" rIns="0" bIns="0" rtlCol="0"/>
            <a:lstStyle/>
            <a:p>
              <a:endParaRPr sz="2400"/>
            </a:p>
          </p:txBody>
        </p:sp>
        <p:sp>
          <p:nvSpPr>
            <p:cNvPr id="9" name="object 9"/>
            <p:cNvSpPr/>
            <p:nvPr/>
          </p:nvSpPr>
          <p:spPr>
            <a:xfrm>
              <a:off x="3416046" y="1914905"/>
              <a:ext cx="417830" cy="121920"/>
            </a:xfrm>
            <a:custGeom>
              <a:avLst/>
              <a:gdLst/>
              <a:ahLst/>
              <a:cxnLst/>
              <a:rect l="l" t="t" r="r" b="b"/>
              <a:pathLst>
                <a:path w="417829" h="121919">
                  <a:moveTo>
                    <a:pt x="0" y="30480"/>
                  </a:moveTo>
                  <a:lnTo>
                    <a:pt x="356615" y="30480"/>
                  </a:lnTo>
                  <a:lnTo>
                    <a:pt x="356615" y="0"/>
                  </a:lnTo>
                  <a:lnTo>
                    <a:pt x="417575" y="60960"/>
                  </a:lnTo>
                  <a:lnTo>
                    <a:pt x="356615" y="121919"/>
                  </a:lnTo>
                  <a:lnTo>
                    <a:pt x="356615" y="91439"/>
                  </a:lnTo>
                  <a:lnTo>
                    <a:pt x="0" y="91439"/>
                  </a:lnTo>
                  <a:lnTo>
                    <a:pt x="0" y="30480"/>
                  </a:lnTo>
                  <a:close/>
                </a:path>
              </a:pathLst>
            </a:custGeom>
            <a:ln w="25908">
              <a:solidFill>
                <a:srgbClr val="008FBB"/>
              </a:solidFill>
            </a:ln>
          </p:spPr>
          <p:txBody>
            <a:bodyPr wrap="square" lIns="0" tIns="0" rIns="0" bIns="0" rtlCol="0"/>
            <a:lstStyle/>
            <a:p>
              <a:endParaRPr sz="2400"/>
            </a:p>
          </p:txBody>
        </p:sp>
        <p:sp>
          <p:nvSpPr>
            <p:cNvPr id="10" name="object 10"/>
            <p:cNvSpPr/>
            <p:nvPr/>
          </p:nvSpPr>
          <p:spPr>
            <a:xfrm>
              <a:off x="3403854" y="3202686"/>
              <a:ext cx="417830" cy="123825"/>
            </a:xfrm>
            <a:custGeom>
              <a:avLst/>
              <a:gdLst/>
              <a:ahLst/>
              <a:cxnLst/>
              <a:rect l="l" t="t" r="r" b="b"/>
              <a:pathLst>
                <a:path w="417829" h="123825">
                  <a:moveTo>
                    <a:pt x="355854" y="0"/>
                  </a:moveTo>
                  <a:lnTo>
                    <a:pt x="355854" y="30861"/>
                  </a:lnTo>
                  <a:lnTo>
                    <a:pt x="0" y="30861"/>
                  </a:lnTo>
                  <a:lnTo>
                    <a:pt x="0" y="92582"/>
                  </a:lnTo>
                  <a:lnTo>
                    <a:pt x="355854" y="92582"/>
                  </a:lnTo>
                  <a:lnTo>
                    <a:pt x="355854" y="123443"/>
                  </a:lnTo>
                  <a:lnTo>
                    <a:pt x="417575" y="61721"/>
                  </a:lnTo>
                  <a:lnTo>
                    <a:pt x="355854" y="0"/>
                  </a:lnTo>
                  <a:close/>
                </a:path>
              </a:pathLst>
            </a:custGeom>
            <a:solidFill>
              <a:srgbClr val="00C3FF"/>
            </a:solidFill>
          </p:spPr>
          <p:txBody>
            <a:bodyPr wrap="square" lIns="0" tIns="0" rIns="0" bIns="0" rtlCol="0"/>
            <a:lstStyle/>
            <a:p>
              <a:endParaRPr sz="2400"/>
            </a:p>
          </p:txBody>
        </p:sp>
        <p:sp>
          <p:nvSpPr>
            <p:cNvPr id="11" name="object 11"/>
            <p:cNvSpPr/>
            <p:nvPr/>
          </p:nvSpPr>
          <p:spPr>
            <a:xfrm>
              <a:off x="3403854" y="3202686"/>
              <a:ext cx="417830" cy="123825"/>
            </a:xfrm>
            <a:custGeom>
              <a:avLst/>
              <a:gdLst/>
              <a:ahLst/>
              <a:cxnLst/>
              <a:rect l="l" t="t" r="r" b="b"/>
              <a:pathLst>
                <a:path w="417829" h="123825">
                  <a:moveTo>
                    <a:pt x="0" y="30861"/>
                  </a:moveTo>
                  <a:lnTo>
                    <a:pt x="355854" y="30861"/>
                  </a:lnTo>
                  <a:lnTo>
                    <a:pt x="355854" y="0"/>
                  </a:lnTo>
                  <a:lnTo>
                    <a:pt x="417575" y="61721"/>
                  </a:lnTo>
                  <a:lnTo>
                    <a:pt x="355854" y="123443"/>
                  </a:lnTo>
                  <a:lnTo>
                    <a:pt x="355854" y="92582"/>
                  </a:lnTo>
                  <a:lnTo>
                    <a:pt x="0" y="92582"/>
                  </a:lnTo>
                  <a:lnTo>
                    <a:pt x="0" y="30861"/>
                  </a:lnTo>
                  <a:close/>
                </a:path>
              </a:pathLst>
            </a:custGeom>
            <a:ln w="25908">
              <a:solidFill>
                <a:srgbClr val="008FBB"/>
              </a:solidFill>
            </a:ln>
          </p:spPr>
          <p:txBody>
            <a:bodyPr wrap="square" lIns="0" tIns="0" rIns="0" bIns="0" rtlCol="0"/>
            <a:lstStyle/>
            <a:p>
              <a:endParaRPr sz="2400"/>
            </a:p>
          </p:txBody>
        </p:sp>
      </p:grpSp>
      <p:grpSp>
        <p:nvGrpSpPr>
          <p:cNvPr id="12" name="object 12"/>
          <p:cNvGrpSpPr/>
          <p:nvPr/>
        </p:nvGrpSpPr>
        <p:grpSpPr>
          <a:xfrm>
            <a:off x="7756145" y="1229359"/>
            <a:ext cx="4301913" cy="2042160"/>
            <a:chOff x="5817108" y="922019"/>
            <a:chExt cx="3226435" cy="1531620"/>
          </a:xfrm>
        </p:grpSpPr>
        <p:pic>
          <p:nvPicPr>
            <p:cNvPr id="13" name="object 13"/>
            <p:cNvPicPr/>
            <p:nvPr/>
          </p:nvPicPr>
          <p:blipFill>
            <a:blip r:embed="rId2" cstate="print"/>
            <a:stretch>
              <a:fillRect/>
            </a:stretch>
          </p:blipFill>
          <p:spPr>
            <a:xfrm>
              <a:off x="5817108" y="1990344"/>
              <a:ext cx="463296" cy="463295"/>
            </a:xfrm>
            <a:prstGeom prst="rect">
              <a:avLst/>
            </a:prstGeom>
          </p:spPr>
        </p:pic>
        <p:pic>
          <p:nvPicPr>
            <p:cNvPr id="14" name="object 14"/>
            <p:cNvPicPr/>
            <p:nvPr/>
          </p:nvPicPr>
          <p:blipFill>
            <a:blip r:embed="rId3" cstate="print"/>
            <a:stretch>
              <a:fillRect/>
            </a:stretch>
          </p:blipFill>
          <p:spPr>
            <a:xfrm>
              <a:off x="6318504" y="922019"/>
              <a:ext cx="2724911" cy="1310639"/>
            </a:xfrm>
            <a:prstGeom prst="rect">
              <a:avLst/>
            </a:prstGeom>
          </p:spPr>
        </p:pic>
        <p:pic>
          <p:nvPicPr>
            <p:cNvPr id="15" name="object 15"/>
            <p:cNvPicPr/>
            <p:nvPr/>
          </p:nvPicPr>
          <p:blipFill>
            <a:blip r:embed="rId4" cstate="print"/>
            <a:stretch>
              <a:fillRect/>
            </a:stretch>
          </p:blipFill>
          <p:spPr>
            <a:xfrm>
              <a:off x="6313932" y="1040904"/>
              <a:ext cx="2535936" cy="1094219"/>
            </a:xfrm>
            <a:prstGeom prst="rect">
              <a:avLst/>
            </a:prstGeom>
          </p:spPr>
        </p:pic>
      </p:grpSp>
      <p:sp>
        <p:nvSpPr>
          <p:cNvPr id="16" name="object 16"/>
          <p:cNvSpPr txBox="1"/>
          <p:nvPr/>
        </p:nvSpPr>
        <p:spPr>
          <a:xfrm>
            <a:off x="7741580" y="4631944"/>
            <a:ext cx="1131992" cy="672706"/>
          </a:xfrm>
          <a:prstGeom prst="rect">
            <a:avLst/>
          </a:prstGeom>
        </p:spPr>
        <p:txBody>
          <a:bodyPr vert="horz" wrap="square" lIns="0" tIns="16087" rIns="0" bIns="0" rtlCol="0">
            <a:spAutoFit/>
          </a:bodyPr>
          <a:lstStyle/>
          <a:p>
            <a:pPr marL="16933">
              <a:spcBef>
                <a:spcPts val="127"/>
              </a:spcBef>
            </a:pPr>
            <a:r>
              <a:rPr sz="2133" spc="-13" dirty="0">
                <a:solidFill>
                  <a:srgbClr val="FFFFFF"/>
                </a:solidFill>
                <a:latin typeface="Calibri"/>
                <a:cs typeface="Calibri"/>
              </a:rPr>
              <a:t>Predictive</a:t>
            </a:r>
            <a:endParaRPr sz="2133">
              <a:latin typeface="Calibri"/>
              <a:cs typeface="Calibri"/>
            </a:endParaRPr>
          </a:p>
          <a:p>
            <a:pPr marL="71118">
              <a:spcBef>
                <a:spcPts val="13"/>
              </a:spcBef>
            </a:pPr>
            <a:r>
              <a:rPr sz="2133" spc="-13" dirty="0">
                <a:solidFill>
                  <a:srgbClr val="FFFFFF"/>
                </a:solidFill>
                <a:latin typeface="Calibri"/>
                <a:cs typeface="Calibri"/>
              </a:rPr>
              <a:t>Analytics</a:t>
            </a:r>
            <a:endParaRPr sz="2133">
              <a:latin typeface="Calibri"/>
              <a:cs typeface="Calibri"/>
            </a:endParaRPr>
          </a:p>
        </p:txBody>
      </p:sp>
      <p:pic>
        <p:nvPicPr>
          <p:cNvPr id="17" name="object 17"/>
          <p:cNvPicPr/>
          <p:nvPr/>
        </p:nvPicPr>
        <p:blipFill>
          <a:blip r:embed="rId5" cstate="print"/>
          <a:stretch>
            <a:fillRect/>
          </a:stretch>
        </p:blipFill>
        <p:spPr>
          <a:xfrm>
            <a:off x="191007" y="2627377"/>
            <a:ext cx="2348992" cy="1721103"/>
          </a:xfrm>
          <a:prstGeom prst="rect">
            <a:avLst/>
          </a:prstGeom>
        </p:spPr>
      </p:pic>
      <p:sp>
        <p:nvSpPr>
          <p:cNvPr id="18" name="object 18"/>
          <p:cNvSpPr txBox="1"/>
          <p:nvPr/>
        </p:nvSpPr>
        <p:spPr>
          <a:xfrm>
            <a:off x="5565310" y="3438754"/>
            <a:ext cx="1355513"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Data</a:t>
            </a:r>
            <a:r>
              <a:rPr sz="2133" spc="-33" dirty="0">
                <a:solidFill>
                  <a:srgbClr val="FFFFFF"/>
                </a:solidFill>
                <a:latin typeface="Calibri"/>
                <a:cs typeface="Calibri"/>
              </a:rPr>
              <a:t> </a:t>
            </a:r>
            <a:r>
              <a:rPr sz="2133" dirty="0">
                <a:solidFill>
                  <a:srgbClr val="FFFFFF"/>
                </a:solidFill>
                <a:latin typeface="Calibri"/>
                <a:cs typeface="Calibri"/>
              </a:rPr>
              <a:t>Mart</a:t>
            </a:r>
            <a:r>
              <a:rPr sz="2133" spc="-20" dirty="0">
                <a:solidFill>
                  <a:srgbClr val="FFFFFF"/>
                </a:solidFill>
                <a:latin typeface="Calibri"/>
                <a:cs typeface="Calibri"/>
              </a:rPr>
              <a:t> </a:t>
            </a:r>
            <a:r>
              <a:rPr sz="2133" spc="-67" dirty="0">
                <a:solidFill>
                  <a:srgbClr val="FFFFFF"/>
                </a:solidFill>
                <a:latin typeface="Calibri"/>
                <a:cs typeface="Calibri"/>
              </a:rPr>
              <a:t>1</a:t>
            </a:r>
            <a:endParaRPr sz="2133">
              <a:latin typeface="Calibri"/>
              <a:cs typeface="Calibri"/>
            </a:endParaRPr>
          </a:p>
        </p:txBody>
      </p:sp>
      <p:grpSp>
        <p:nvGrpSpPr>
          <p:cNvPr id="19" name="object 19"/>
          <p:cNvGrpSpPr/>
          <p:nvPr/>
        </p:nvGrpSpPr>
        <p:grpSpPr>
          <a:xfrm>
            <a:off x="5220207" y="1654048"/>
            <a:ext cx="2400300" cy="1794933"/>
            <a:chOff x="3915155" y="1240536"/>
            <a:chExt cx="1800225" cy="1346200"/>
          </a:xfrm>
        </p:grpSpPr>
        <p:sp>
          <p:nvSpPr>
            <p:cNvPr id="20" name="object 20"/>
            <p:cNvSpPr/>
            <p:nvPr/>
          </p:nvSpPr>
          <p:spPr>
            <a:xfrm>
              <a:off x="3919727" y="1245108"/>
              <a:ext cx="1524000" cy="1336675"/>
            </a:xfrm>
            <a:custGeom>
              <a:avLst/>
              <a:gdLst/>
              <a:ahLst/>
              <a:cxnLst/>
              <a:rect l="l" t="t" r="r" b="b"/>
              <a:pathLst>
                <a:path w="1524000" h="1336675">
                  <a:moveTo>
                    <a:pt x="0" y="222757"/>
                  </a:moveTo>
                  <a:lnTo>
                    <a:pt x="4524" y="177853"/>
                  </a:lnTo>
                  <a:lnTo>
                    <a:pt x="17500" y="136034"/>
                  </a:lnTo>
                  <a:lnTo>
                    <a:pt x="38033" y="98195"/>
                  </a:lnTo>
                  <a:lnTo>
                    <a:pt x="65230" y="65230"/>
                  </a:lnTo>
                  <a:lnTo>
                    <a:pt x="98195" y="38033"/>
                  </a:lnTo>
                  <a:lnTo>
                    <a:pt x="136034" y="17500"/>
                  </a:lnTo>
                  <a:lnTo>
                    <a:pt x="177853" y="4524"/>
                  </a:lnTo>
                  <a:lnTo>
                    <a:pt x="222758" y="0"/>
                  </a:lnTo>
                  <a:lnTo>
                    <a:pt x="1301242" y="0"/>
                  </a:lnTo>
                  <a:lnTo>
                    <a:pt x="1346146" y="4524"/>
                  </a:lnTo>
                  <a:lnTo>
                    <a:pt x="1387965" y="17500"/>
                  </a:lnTo>
                  <a:lnTo>
                    <a:pt x="1425804" y="38033"/>
                  </a:lnTo>
                  <a:lnTo>
                    <a:pt x="1458769" y="65230"/>
                  </a:lnTo>
                  <a:lnTo>
                    <a:pt x="1485966" y="98195"/>
                  </a:lnTo>
                  <a:lnTo>
                    <a:pt x="1506499" y="136034"/>
                  </a:lnTo>
                  <a:lnTo>
                    <a:pt x="1519475" y="177853"/>
                  </a:lnTo>
                  <a:lnTo>
                    <a:pt x="1524000" y="222757"/>
                  </a:lnTo>
                  <a:lnTo>
                    <a:pt x="1524000" y="1113789"/>
                  </a:lnTo>
                  <a:lnTo>
                    <a:pt x="1519475" y="1158694"/>
                  </a:lnTo>
                  <a:lnTo>
                    <a:pt x="1506499" y="1200513"/>
                  </a:lnTo>
                  <a:lnTo>
                    <a:pt x="1485966" y="1238352"/>
                  </a:lnTo>
                  <a:lnTo>
                    <a:pt x="1458769" y="1271317"/>
                  </a:lnTo>
                  <a:lnTo>
                    <a:pt x="1425804" y="1298514"/>
                  </a:lnTo>
                  <a:lnTo>
                    <a:pt x="1387965" y="1319047"/>
                  </a:lnTo>
                  <a:lnTo>
                    <a:pt x="1346146" y="1332023"/>
                  </a:lnTo>
                  <a:lnTo>
                    <a:pt x="1301242" y="1336547"/>
                  </a:lnTo>
                  <a:lnTo>
                    <a:pt x="222758" y="1336547"/>
                  </a:lnTo>
                  <a:lnTo>
                    <a:pt x="177853" y="1332023"/>
                  </a:lnTo>
                  <a:lnTo>
                    <a:pt x="136034" y="1319047"/>
                  </a:lnTo>
                  <a:lnTo>
                    <a:pt x="98195" y="1298514"/>
                  </a:lnTo>
                  <a:lnTo>
                    <a:pt x="65230" y="1271317"/>
                  </a:lnTo>
                  <a:lnTo>
                    <a:pt x="38033" y="1238352"/>
                  </a:lnTo>
                  <a:lnTo>
                    <a:pt x="17500" y="1200513"/>
                  </a:lnTo>
                  <a:lnTo>
                    <a:pt x="4524" y="1158694"/>
                  </a:lnTo>
                  <a:lnTo>
                    <a:pt x="0" y="1113789"/>
                  </a:lnTo>
                  <a:lnTo>
                    <a:pt x="0" y="222757"/>
                  </a:lnTo>
                  <a:close/>
                </a:path>
              </a:pathLst>
            </a:custGeom>
            <a:ln w="9144">
              <a:solidFill>
                <a:srgbClr val="00C3FF"/>
              </a:solidFill>
            </a:ln>
          </p:spPr>
          <p:txBody>
            <a:bodyPr wrap="square" lIns="0" tIns="0" rIns="0" bIns="0" rtlCol="0"/>
            <a:lstStyle/>
            <a:p>
              <a:endParaRPr sz="2400"/>
            </a:p>
          </p:txBody>
        </p:sp>
        <p:sp>
          <p:nvSpPr>
            <p:cNvPr id="21" name="object 21"/>
            <p:cNvSpPr/>
            <p:nvPr/>
          </p:nvSpPr>
          <p:spPr>
            <a:xfrm>
              <a:off x="4105249" y="1428356"/>
              <a:ext cx="1254760" cy="1022985"/>
            </a:xfrm>
            <a:custGeom>
              <a:avLst/>
              <a:gdLst/>
              <a:ahLst/>
              <a:cxnLst/>
              <a:rect l="l" t="t" r="r" b="b"/>
              <a:pathLst>
                <a:path w="1254760" h="1022985">
                  <a:moveTo>
                    <a:pt x="129895" y="805764"/>
                  </a:moveTo>
                  <a:lnTo>
                    <a:pt x="112572" y="805764"/>
                  </a:lnTo>
                  <a:lnTo>
                    <a:pt x="112572" y="857770"/>
                  </a:lnTo>
                  <a:lnTo>
                    <a:pt x="129895" y="857770"/>
                  </a:lnTo>
                  <a:lnTo>
                    <a:pt x="129895" y="805764"/>
                  </a:lnTo>
                  <a:close/>
                </a:path>
                <a:path w="1254760" h="1022985">
                  <a:moveTo>
                    <a:pt x="129895" y="25476"/>
                  </a:moveTo>
                  <a:lnTo>
                    <a:pt x="112572" y="25476"/>
                  </a:lnTo>
                  <a:lnTo>
                    <a:pt x="112572" y="77482"/>
                  </a:lnTo>
                  <a:lnTo>
                    <a:pt x="129895" y="77482"/>
                  </a:lnTo>
                  <a:lnTo>
                    <a:pt x="129895" y="25476"/>
                  </a:lnTo>
                  <a:close/>
                </a:path>
                <a:path w="1254760" h="1022985">
                  <a:moveTo>
                    <a:pt x="233819" y="805764"/>
                  </a:moveTo>
                  <a:lnTo>
                    <a:pt x="216496" y="805764"/>
                  </a:lnTo>
                  <a:lnTo>
                    <a:pt x="216496" y="857770"/>
                  </a:lnTo>
                  <a:lnTo>
                    <a:pt x="233819" y="857770"/>
                  </a:lnTo>
                  <a:lnTo>
                    <a:pt x="233819" y="805764"/>
                  </a:lnTo>
                  <a:close/>
                </a:path>
                <a:path w="1254760" h="1022985">
                  <a:moveTo>
                    <a:pt x="233819" y="25476"/>
                  </a:moveTo>
                  <a:lnTo>
                    <a:pt x="216496" y="25476"/>
                  </a:lnTo>
                  <a:lnTo>
                    <a:pt x="216496" y="77482"/>
                  </a:lnTo>
                  <a:lnTo>
                    <a:pt x="233819" y="77482"/>
                  </a:lnTo>
                  <a:lnTo>
                    <a:pt x="233819" y="25476"/>
                  </a:lnTo>
                  <a:close/>
                </a:path>
                <a:path w="1254760" h="1022985">
                  <a:moveTo>
                    <a:pt x="346405" y="805764"/>
                  </a:moveTo>
                  <a:lnTo>
                    <a:pt x="320421" y="805764"/>
                  </a:lnTo>
                  <a:lnTo>
                    <a:pt x="320421" y="857770"/>
                  </a:lnTo>
                  <a:lnTo>
                    <a:pt x="346405" y="857770"/>
                  </a:lnTo>
                  <a:lnTo>
                    <a:pt x="346405" y="805764"/>
                  </a:lnTo>
                  <a:close/>
                </a:path>
                <a:path w="1254760" h="1022985">
                  <a:moveTo>
                    <a:pt x="346405" y="780288"/>
                  </a:moveTo>
                  <a:lnTo>
                    <a:pt x="0" y="780288"/>
                  </a:lnTo>
                  <a:lnTo>
                    <a:pt x="0" y="805700"/>
                  </a:lnTo>
                  <a:lnTo>
                    <a:pt x="0" y="857796"/>
                  </a:lnTo>
                  <a:lnTo>
                    <a:pt x="0" y="1022972"/>
                  </a:lnTo>
                  <a:lnTo>
                    <a:pt x="346405" y="1022972"/>
                  </a:lnTo>
                  <a:lnTo>
                    <a:pt x="346405" y="996454"/>
                  </a:lnTo>
                  <a:lnTo>
                    <a:pt x="346405" y="996289"/>
                  </a:lnTo>
                  <a:lnTo>
                    <a:pt x="346405" y="944448"/>
                  </a:lnTo>
                  <a:lnTo>
                    <a:pt x="320421" y="944448"/>
                  </a:lnTo>
                  <a:lnTo>
                    <a:pt x="320421" y="996289"/>
                  </a:lnTo>
                  <a:lnTo>
                    <a:pt x="233819" y="996289"/>
                  </a:lnTo>
                  <a:lnTo>
                    <a:pt x="233819" y="944448"/>
                  </a:lnTo>
                  <a:lnTo>
                    <a:pt x="216496" y="944448"/>
                  </a:lnTo>
                  <a:lnTo>
                    <a:pt x="216496" y="996289"/>
                  </a:lnTo>
                  <a:lnTo>
                    <a:pt x="129895" y="996289"/>
                  </a:lnTo>
                  <a:lnTo>
                    <a:pt x="129895" y="944448"/>
                  </a:lnTo>
                  <a:lnTo>
                    <a:pt x="112572" y="944448"/>
                  </a:lnTo>
                  <a:lnTo>
                    <a:pt x="112572" y="996289"/>
                  </a:lnTo>
                  <a:lnTo>
                    <a:pt x="25984" y="996289"/>
                  </a:lnTo>
                  <a:lnTo>
                    <a:pt x="25984" y="944194"/>
                  </a:lnTo>
                  <a:lnTo>
                    <a:pt x="346405" y="944194"/>
                  </a:lnTo>
                  <a:lnTo>
                    <a:pt x="346405" y="927671"/>
                  </a:lnTo>
                  <a:lnTo>
                    <a:pt x="25984" y="927671"/>
                  </a:lnTo>
                  <a:lnTo>
                    <a:pt x="25984" y="875588"/>
                  </a:lnTo>
                  <a:lnTo>
                    <a:pt x="112572" y="875588"/>
                  </a:lnTo>
                  <a:lnTo>
                    <a:pt x="112572" y="927112"/>
                  </a:lnTo>
                  <a:lnTo>
                    <a:pt x="129895" y="927112"/>
                  </a:lnTo>
                  <a:lnTo>
                    <a:pt x="129895" y="875588"/>
                  </a:lnTo>
                  <a:lnTo>
                    <a:pt x="216496" y="875588"/>
                  </a:lnTo>
                  <a:lnTo>
                    <a:pt x="216496" y="927112"/>
                  </a:lnTo>
                  <a:lnTo>
                    <a:pt x="233819" y="927112"/>
                  </a:lnTo>
                  <a:lnTo>
                    <a:pt x="233819" y="875588"/>
                  </a:lnTo>
                  <a:lnTo>
                    <a:pt x="320421" y="875588"/>
                  </a:lnTo>
                  <a:lnTo>
                    <a:pt x="320421" y="927112"/>
                  </a:lnTo>
                  <a:lnTo>
                    <a:pt x="346405" y="927112"/>
                  </a:lnTo>
                  <a:lnTo>
                    <a:pt x="346405" y="875588"/>
                  </a:lnTo>
                  <a:lnTo>
                    <a:pt x="346405" y="875106"/>
                  </a:lnTo>
                  <a:lnTo>
                    <a:pt x="346405" y="857796"/>
                  </a:lnTo>
                  <a:lnTo>
                    <a:pt x="25984" y="857796"/>
                  </a:lnTo>
                  <a:lnTo>
                    <a:pt x="25984" y="805700"/>
                  </a:lnTo>
                  <a:lnTo>
                    <a:pt x="346405" y="805700"/>
                  </a:lnTo>
                  <a:lnTo>
                    <a:pt x="346405" y="780288"/>
                  </a:lnTo>
                  <a:close/>
                </a:path>
                <a:path w="1254760" h="1022985">
                  <a:moveTo>
                    <a:pt x="346405" y="25476"/>
                  </a:moveTo>
                  <a:lnTo>
                    <a:pt x="320421" y="25476"/>
                  </a:lnTo>
                  <a:lnTo>
                    <a:pt x="320421" y="77482"/>
                  </a:lnTo>
                  <a:lnTo>
                    <a:pt x="346405" y="77482"/>
                  </a:lnTo>
                  <a:lnTo>
                    <a:pt x="346405" y="25476"/>
                  </a:lnTo>
                  <a:close/>
                </a:path>
                <a:path w="1254760" h="1022985">
                  <a:moveTo>
                    <a:pt x="346405" y="0"/>
                  </a:moveTo>
                  <a:lnTo>
                    <a:pt x="0" y="0"/>
                  </a:lnTo>
                  <a:lnTo>
                    <a:pt x="0" y="25412"/>
                  </a:lnTo>
                  <a:lnTo>
                    <a:pt x="0" y="77508"/>
                  </a:lnTo>
                  <a:lnTo>
                    <a:pt x="0" y="242684"/>
                  </a:lnTo>
                  <a:lnTo>
                    <a:pt x="346405" y="242684"/>
                  </a:lnTo>
                  <a:lnTo>
                    <a:pt x="346405" y="216166"/>
                  </a:lnTo>
                  <a:lnTo>
                    <a:pt x="346405" y="216001"/>
                  </a:lnTo>
                  <a:lnTo>
                    <a:pt x="346405" y="164160"/>
                  </a:lnTo>
                  <a:lnTo>
                    <a:pt x="320421" y="164160"/>
                  </a:lnTo>
                  <a:lnTo>
                    <a:pt x="320421" y="216001"/>
                  </a:lnTo>
                  <a:lnTo>
                    <a:pt x="233819" y="216001"/>
                  </a:lnTo>
                  <a:lnTo>
                    <a:pt x="233819" y="164160"/>
                  </a:lnTo>
                  <a:lnTo>
                    <a:pt x="216496" y="164160"/>
                  </a:lnTo>
                  <a:lnTo>
                    <a:pt x="216496" y="216001"/>
                  </a:lnTo>
                  <a:lnTo>
                    <a:pt x="129895" y="216001"/>
                  </a:lnTo>
                  <a:lnTo>
                    <a:pt x="129895" y="164160"/>
                  </a:lnTo>
                  <a:lnTo>
                    <a:pt x="112572" y="164160"/>
                  </a:lnTo>
                  <a:lnTo>
                    <a:pt x="112572" y="216001"/>
                  </a:lnTo>
                  <a:lnTo>
                    <a:pt x="25984" y="216001"/>
                  </a:lnTo>
                  <a:lnTo>
                    <a:pt x="25984" y="163906"/>
                  </a:lnTo>
                  <a:lnTo>
                    <a:pt x="346405" y="163906"/>
                  </a:lnTo>
                  <a:lnTo>
                    <a:pt x="346405" y="147383"/>
                  </a:lnTo>
                  <a:lnTo>
                    <a:pt x="25984" y="147383"/>
                  </a:lnTo>
                  <a:lnTo>
                    <a:pt x="25984" y="95300"/>
                  </a:lnTo>
                  <a:lnTo>
                    <a:pt x="112572" y="95300"/>
                  </a:lnTo>
                  <a:lnTo>
                    <a:pt x="112572" y="146824"/>
                  </a:lnTo>
                  <a:lnTo>
                    <a:pt x="129895" y="146824"/>
                  </a:lnTo>
                  <a:lnTo>
                    <a:pt x="129895" y="95300"/>
                  </a:lnTo>
                  <a:lnTo>
                    <a:pt x="216496" y="95300"/>
                  </a:lnTo>
                  <a:lnTo>
                    <a:pt x="216496" y="146824"/>
                  </a:lnTo>
                  <a:lnTo>
                    <a:pt x="233819" y="146824"/>
                  </a:lnTo>
                  <a:lnTo>
                    <a:pt x="233819" y="95300"/>
                  </a:lnTo>
                  <a:lnTo>
                    <a:pt x="320421" y="95300"/>
                  </a:lnTo>
                  <a:lnTo>
                    <a:pt x="320421" y="146824"/>
                  </a:lnTo>
                  <a:lnTo>
                    <a:pt x="346405" y="146824"/>
                  </a:lnTo>
                  <a:lnTo>
                    <a:pt x="346405" y="95300"/>
                  </a:lnTo>
                  <a:lnTo>
                    <a:pt x="346405" y="94818"/>
                  </a:lnTo>
                  <a:lnTo>
                    <a:pt x="346405" y="77508"/>
                  </a:lnTo>
                  <a:lnTo>
                    <a:pt x="25984" y="77508"/>
                  </a:lnTo>
                  <a:lnTo>
                    <a:pt x="25984" y="25412"/>
                  </a:lnTo>
                  <a:lnTo>
                    <a:pt x="346405" y="25412"/>
                  </a:lnTo>
                  <a:lnTo>
                    <a:pt x="346405" y="0"/>
                  </a:lnTo>
                  <a:close/>
                </a:path>
                <a:path w="1254760" h="1022985">
                  <a:moveTo>
                    <a:pt x="768426" y="331571"/>
                  </a:moveTo>
                  <a:lnTo>
                    <a:pt x="420763" y="331571"/>
                  </a:lnTo>
                  <a:lnTo>
                    <a:pt x="420763" y="358203"/>
                  </a:lnTo>
                  <a:lnTo>
                    <a:pt x="420763" y="410197"/>
                  </a:lnTo>
                  <a:lnTo>
                    <a:pt x="420763" y="726198"/>
                  </a:lnTo>
                  <a:lnTo>
                    <a:pt x="768426" y="726198"/>
                  </a:lnTo>
                  <a:lnTo>
                    <a:pt x="768426" y="700836"/>
                  </a:lnTo>
                  <a:lnTo>
                    <a:pt x="446836" y="700836"/>
                  </a:lnTo>
                  <a:lnTo>
                    <a:pt x="446836" y="648843"/>
                  </a:lnTo>
                  <a:lnTo>
                    <a:pt x="768426" y="648843"/>
                  </a:lnTo>
                  <a:lnTo>
                    <a:pt x="768426" y="631088"/>
                  </a:lnTo>
                  <a:lnTo>
                    <a:pt x="446836" y="631088"/>
                  </a:lnTo>
                  <a:lnTo>
                    <a:pt x="446836" y="579081"/>
                  </a:lnTo>
                  <a:lnTo>
                    <a:pt x="768426" y="579081"/>
                  </a:lnTo>
                  <a:lnTo>
                    <a:pt x="768426" y="573798"/>
                  </a:lnTo>
                  <a:lnTo>
                    <a:pt x="768426" y="562597"/>
                  </a:lnTo>
                  <a:lnTo>
                    <a:pt x="768426" y="548436"/>
                  </a:lnTo>
                  <a:lnTo>
                    <a:pt x="446836" y="548436"/>
                  </a:lnTo>
                  <a:lnTo>
                    <a:pt x="446836" y="510603"/>
                  </a:lnTo>
                  <a:lnTo>
                    <a:pt x="533742" y="510603"/>
                  </a:lnTo>
                  <a:lnTo>
                    <a:pt x="533742" y="548398"/>
                  </a:lnTo>
                  <a:lnTo>
                    <a:pt x="551129" y="548398"/>
                  </a:lnTo>
                  <a:lnTo>
                    <a:pt x="551129" y="510603"/>
                  </a:lnTo>
                  <a:lnTo>
                    <a:pt x="638048" y="510603"/>
                  </a:lnTo>
                  <a:lnTo>
                    <a:pt x="638048" y="548398"/>
                  </a:lnTo>
                  <a:lnTo>
                    <a:pt x="655421" y="548398"/>
                  </a:lnTo>
                  <a:lnTo>
                    <a:pt x="655421" y="510603"/>
                  </a:lnTo>
                  <a:lnTo>
                    <a:pt x="742340" y="510603"/>
                  </a:lnTo>
                  <a:lnTo>
                    <a:pt x="742340" y="548398"/>
                  </a:lnTo>
                  <a:lnTo>
                    <a:pt x="768426" y="548398"/>
                  </a:lnTo>
                  <a:lnTo>
                    <a:pt x="768426" y="427050"/>
                  </a:lnTo>
                  <a:lnTo>
                    <a:pt x="742340" y="427050"/>
                  </a:lnTo>
                  <a:lnTo>
                    <a:pt x="742340" y="478688"/>
                  </a:lnTo>
                  <a:lnTo>
                    <a:pt x="655421" y="478688"/>
                  </a:lnTo>
                  <a:lnTo>
                    <a:pt x="655421" y="427050"/>
                  </a:lnTo>
                  <a:lnTo>
                    <a:pt x="638048" y="427050"/>
                  </a:lnTo>
                  <a:lnTo>
                    <a:pt x="638048" y="478688"/>
                  </a:lnTo>
                  <a:lnTo>
                    <a:pt x="551129" y="478688"/>
                  </a:lnTo>
                  <a:lnTo>
                    <a:pt x="551129" y="427050"/>
                  </a:lnTo>
                  <a:lnTo>
                    <a:pt x="533742" y="427050"/>
                  </a:lnTo>
                  <a:lnTo>
                    <a:pt x="533742" y="478688"/>
                  </a:lnTo>
                  <a:lnTo>
                    <a:pt x="446836" y="478688"/>
                  </a:lnTo>
                  <a:lnTo>
                    <a:pt x="446836" y="426681"/>
                  </a:lnTo>
                  <a:lnTo>
                    <a:pt x="768426" y="426681"/>
                  </a:lnTo>
                  <a:lnTo>
                    <a:pt x="768426" y="410197"/>
                  </a:lnTo>
                  <a:lnTo>
                    <a:pt x="446836" y="410197"/>
                  </a:lnTo>
                  <a:lnTo>
                    <a:pt x="446836" y="358203"/>
                  </a:lnTo>
                  <a:lnTo>
                    <a:pt x="533742" y="358203"/>
                  </a:lnTo>
                  <a:lnTo>
                    <a:pt x="533742" y="409714"/>
                  </a:lnTo>
                  <a:lnTo>
                    <a:pt x="551129" y="409714"/>
                  </a:lnTo>
                  <a:lnTo>
                    <a:pt x="551129" y="358203"/>
                  </a:lnTo>
                  <a:lnTo>
                    <a:pt x="638048" y="358203"/>
                  </a:lnTo>
                  <a:lnTo>
                    <a:pt x="638048" y="409714"/>
                  </a:lnTo>
                  <a:lnTo>
                    <a:pt x="655421" y="409714"/>
                  </a:lnTo>
                  <a:lnTo>
                    <a:pt x="655421" y="358203"/>
                  </a:lnTo>
                  <a:lnTo>
                    <a:pt x="742340" y="358203"/>
                  </a:lnTo>
                  <a:lnTo>
                    <a:pt x="742340" y="409714"/>
                  </a:lnTo>
                  <a:lnTo>
                    <a:pt x="768426" y="409714"/>
                  </a:lnTo>
                  <a:lnTo>
                    <a:pt x="768426" y="358203"/>
                  </a:lnTo>
                  <a:lnTo>
                    <a:pt x="768426" y="357708"/>
                  </a:lnTo>
                  <a:lnTo>
                    <a:pt x="768426" y="331571"/>
                  </a:lnTo>
                  <a:close/>
                </a:path>
                <a:path w="1254760" h="1022985">
                  <a:moveTo>
                    <a:pt x="1254582" y="153263"/>
                  </a:moveTo>
                  <a:lnTo>
                    <a:pt x="906919" y="153263"/>
                  </a:lnTo>
                  <a:lnTo>
                    <a:pt x="906919" y="179895"/>
                  </a:lnTo>
                  <a:lnTo>
                    <a:pt x="906919" y="231889"/>
                  </a:lnTo>
                  <a:lnTo>
                    <a:pt x="906919" y="395490"/>
                  </a:lnTo>
                  <a:lnTo>
                    <a:pt x="1254582" y="395490"/>
                  </a:lnTo>
                  <a:lnTo>
                    <a:pt x="1254582" y="370128"/>
                  </a:lnTo>
                  <a:lnTo>
                    <a:pt x="932992" y="370128"/>
                  </a:lnTo>
                  <a:lnTo>
                    <a:pt x="932992" y="318135"/>
                  </a:lnTo>
                  <a:lnTo>
                    <a:pt x="1019898" y="318135"/>
                  </a:lnTo>
                  <a:lnTo>
                    <a:pt x="1019898" y="370090"/>
                  </a:lnTo>
                  <a:lnTo>
                    <a:pt x="1037285" y="370090"/>
                  </a:lnTo>
                  <a:lnTo>
                    <a:pt x="1037285" y="318135"/>
                  </a:lnTo>
                  <a:lnTo>
                    <a:pt x="1124204" y="318135"/>
                  </a:lnTo>
                  <a:lnTo>
                    <a:pt x="1124204" y="370090"/>
                  </a:lnTo>
                  <a:lnTo>
                    <a:pt x="1141590" y="370090"/>
                  </a:lnTo>
                  <a:lnTo>
                    <a:pt x="1141590" y="318135"/>
                  </a:lnTo>
                  <a:lnTo>
                    <a:pt x="1228496" y="318135"/>
                  </a:lnTo>
                  <a:lnTo>
                    <a:pt x="1228496" y="370090"/>
                  </a:lnTo>
                  <a:lnTo>
                    <a:pt x="1254582" y="370090"/>
                  </a:lnTo>
                  <a:lnTo>
                    <a:pt x="1254582" y="248742"/>
                  </a:lnTo>
                  <a:lnTo>
                    <a:pt x="1228496" y="248742"/>
                  </a:lnTo>
                  <a:lnTo>
                    <a:pt x="1228496" y="300380"/>
                  </a:lnTo>
                  <a:lnTo>
                    <a:pt x="1141590" y="300380"/>
                  </a:lnTo>
                  <a:lnTo>
                    <a:pt x="1141590" y="248742"/>
                  </a:lnTo>
                  <a:lnTo>
                    <a:pt x="1124204" y="248742"/>
                  </a:lnTo>
                  <a:lnTo>
                    <a:pt x="1124204" y="300380"/>
                  </a:lnTo>
                  <a:lnTo>
                    <a:pt x="1037285" y="300380"/>
                  </a:lnTo>
                  <a:lnTo>
                    <a:pt x="1037285" y="248742"/>
                  </a:lnTo>
                  <a:lnTo>
                    <a:pt x="1019898" y="248742"/>
                  </a:lnTo>
                  <a:lnTo>
                    <a:pt x="1019898" y="300380"/>
                  </a:lnTo>
                  <a:lnTo>
                    <a:pt x="932992" y="300380"/>
                  </a:lnTo>
                  <a:lnTo>
                    <a:pt x="932992" y="248373"/>
                  </a:lnTo>
                  <a:lnTo>
                    <a:pt x="1254582" y="248373"/>
                  </a:lnTo>
                  <a:lnTo>
                    <a:pt x="1254582" y="231889"/>
                  </a:lnTo>
                  <a:lnTo>
                    <a:pt x="932992" y="231889"/>
                  </a:lnTo>
                  <a:lnTo>
                    <a:pt x="932992" y="179895"/>
                  </a:lnTo>
                  <a:lnTo>
                    <a:pt x="1019898" y="179895"/>
                  </a:lnTo>
                  <a:lnTo>
                    <a:pt x="1019898" y="231406"/>
                  </a:lnTo>
                  <a:lnTo>
                    <a:pt x="1037285" y="231406"/>
                  </a:lnTo>
                  <a:lnTo>
                    <a:pt x="1037285" y="179895"/>
                  </a:lnTo>
                  <a:lnTo>
                    <a:pt x="1124204" y="179895"/>
                  </a:lnTo>
                  <a:lnTo>
                    <a:pt x="1124204" y="231406"/>
                  </a:lnTo>
                  <a:lnTo>
                    <a:pt x="1141590" y="231406"/>
                  </a:lnTo>
                  <a:lnTo>
                    <a:pt x="1141590" y="179895"/>
                  </a:lnTo>
                  <a:lnTo>
                    <a:pt x="1228496" y="179895"/>
                  </a:lnTo>
                  <a:lnTo>
                    <a:pt x="1228496" y="231406"/>
                  </a:lnTo>
                  <a:lnTo>
                    <a:pt x="1254582" y="231406"/>
                  </a:lnTo>
                  <a:lnTo>
                    <a:pt x="1254582" y="179895"/>
                  </a:lnTo>
                  <a:lnTo>
                    <a:pt x="1254582" y="179400"/>
                  </a:lnTo>
                  <a:lnTo>
                    <a:pt x="1254582" y="153263"/>
                  </a:lnTo>
                  <a:close/>
                </a:path>
              </a:pathLst>
            </a:custGeom>
            <a:solidFill>
              <a:srgbClr val="BCBCBC"/>
            </a:solidFill>
          </p:spPr>
          <p:txBody>
            <a:bodyPr wrap="square" lIns="0" tIns="0" rIns="0" bIns="0" rtlCol="0"/>
            <a:lstStyle/>
            <a:p>
              <a:endParaRPr sz="2400"/>
            </a:p>
          </p:txBody>
        </p:sp>
        <p:sp>
          <p:nvSpPr>
            <p:cNvPr id="22" name="object 22"/>
            <p:cNvSpPr/>
            <p:nvPr/>
          </p:nvSpPr>
          <p:spPr>
            <a:xfrm>
              <a:off x="4526013" y="1912327"/>
              <a:ext cx="347980" cy="217170"/>
            </a:xfrm>
            <a:custGeom>
              <a:avLst/>
              <a:gdLst/>
              <a:ahLst/>
              <a:cxnLst/>
              <a:rect l="l" t="t" r="r" b="b"/>
              <a:pathLst>
                <a:path w="347979" h="217169">
                  <a:moveTo>
                    <a:pt x="130365" y="164820"/>
                  </a:moveTo>
                  <a:lnTo>
                    <a:pt x="112979" y="164820"/>
                  </a:lnTo>
                  <a:lnTo>
                    <a:pt x="112979" y="216827"/>
                  </a:lnTo>
                  <a:lnTo>
                    <a:pt x="130365" y="216827"/>
                  </a:lnTo>
                  <a:lnTo>
                    <a:pt x="130365" y="164820"/>
                  </a:lnTo>
                  <a:close/>
                </a:path>
                <a:path w="347979" h="217169">
                  <a:moveTo>
                    <a:pt x="130365" y="95478"/>
                  </a:moveTo>
                  <a:lnTo>
                    <a:pt x="112979" y="95478"/>
                  </a:lnTo>
                  <a:lnTo>
                    <a:pt x="112979" y="147485"/>
                  </a:lnTo>
                  <a:lnTo>
                    <a:pt x="130365" y="147485"/>
                  </a:lnTo>
                  <a:lnTo>
                    <a:pt x="130365" y="95478"/>
                  </a:lnTo>
                  <a:close/>
                </a:path>
                <a:path w="347979" h="217169">
                  <a:moveTo>
                    <a:pt x="234657" y="164820"/>
                  </a:moveTo>
                  <a:lnTo>
                    <a:pt x="217284" y="164820"/>
                  </a:lnTo>
                  <a:lnTo>
                    <a:pt x="217284" y="216827"/>
                  </a:lnTo>
                  <a:lnTo>
                    <a:pt x="234657" y="216827"/>
                  </a:lnTo>
                  <a:lnTo>
                    <a:pt x="234657" y="164820"/>
                  </a:lnTo>
                  <a:close/>
                </a:path>
                <a:path w="347979" h="217169">
                  <a:moveTo>
                    <a:pt x="234657" y="95478"/>
                  </a:moveTo>
                  <a:lnTo>
                    <a:pt x="217284" y="95478"/>
                  </a:lnTo>
                  <a:lnTo>
                    <a:pt x="217284" y="147485"/>
                  </a:lnTo>
                  <a:lnTo>
                    <a:pt x="234657" y="147485"/>
                  </a:lnTo>
                  <a:lnTo>
                    <a:pt x="234657" y="95478"/>
                  </a:lnTo>
                  <a:close/>
                </a:path>
                <a:path w="347979" h="217169">
                  <a:moveTo>
                    <a:pt x="347662" y="164820"/>
                  </a:moveTo>
                  <a:lnTo>
                    <a:pt x="321576" y="164820"/>
                  </a:lnTo>
                  <a:lnTo>
                    <a:pt x="321576" y="216827"/>
                  </a:lnTo>
                  <a:lnTo>
                    <a:pt x="347662" y="216827"/>
                  </a:lnTo>
                  <a:lnTo>
                    <a:pt x="347662" y="164820"/>
                  </a:lnTo>
                  <a:close/>
                </a:path>
                <a:path w="347979" h="217169">
                  <a:moveTo>
                    <a:pt x="347662" y="95478"/>
                  </a:moveTo>
                  <a:lnTo>
                    <a:pt x="321576" y="95478"/>
                  </a:lnTo>
                  <a:lnTo>
                    <a:pt x="321576" y="147485"/>
                  </a:lnTo>
                  <a:lnTo>
                    <a:pt x="347662" y="147485"/>
                  </a:lnTo>
                  <a:lnTo>
                    <a:pt x="347662" y="95478"/>
                  </a:lnTo>
                  <a:close/>
                </a:path>
                <a:path w="347979" h="217169">
                  <a:moveTo>
                    <a:pt x="347662" y="0"/>
                  </a:moveTo>
                  <a:lnTo>
                    <a:pt x="0" y="0"/>
                  </a:lnTo>
                  <a:lnTo>
                    <a:pt x="0" y="26631"/>
                  </a:lnTo>
                  <a:lnTo>
                    <a:pt x="112979" y="26631"/>
                  </a:lnTo>
                  <a:lnTo>
                    <a:pt x="112979" y="78143"/>
                  </a:lnTo>
                  <a:lnTo>
                    <a:pt x="130365" y="78143"/>
                  </a:lnTo>
                  <a:lnTo>
                    <a:pt x="130365" y="26631"/>
                  </a:lnTo>
                  <a:lnTo>
                    <a:pt x="217284" y="26631"/>
                  </a:lnTo>
                  <a:lnTo>
                    <a:pt x="217284" y="78143"/>
                  </a:lnTo>
                  <a:lnTo>
                    <a:pt x="234657" y="78143"/>
                  </a:lnTo>
                  <a:lnTo>
                    <a:pt x="234657" y="26631"/>
                  </a:lnTo>
                  <a:lnTo>
                    <a:pt x="321576" y="26631"/>
                  </a:lnTo>
                  <a:lnTo>
                    <a:pt x="321576" y="78143"/>
                  </a:lnTo>
                  <a:lnTo>
                    <a:pt x="347662" y="78143"/>
                  </a:lnTo>
                  <a:lnTo>
                    <a:pt x="347662" y="26631"/>
                  </a:lnTo>
                  <a:lnTo>
                    <a:pt x="347662" y="26136"/>
                  </a:lnTo>
                  <a:lnTo>
                    <a:pt x="347662" y="0"/>
                  </a:lnTo>
                  <a:close/>
                </a:path>
              </a:pathLst>
            </a:custGeom>
            <a:solidFill>
              <a:srgbClr val="BCBCBC"/>
            </a:solidFill>
          </p:spPr>
          <p:txBody>
            <a:bodyPr wrap="square" lIns="0" tIns="0" rIns="0" bIns="0" rtlCol="0"/>
            <a:lstStyle/>
            <a:p>
              <a:endParaRPr sz="2400"/>
            </a:p>
          </p:txBody>
        </p:sp>
        <p:sp>
          <p:nvSpPr>
            <p:cNvPr id="23" name="object 23"/>
            <p:cNvSpPr/>
            <p:nvPr/>
          </p:nvSpPr>
          <p:spPr>
            <a:xfrm>
              <a:off x="4258817" y="1652777"/>
              <a:ext cx="838835" cy="515620"/>
            </a:xfrm>
            <a:custGeom>
              <a:avLst/>
              <a:gdLst/>
              <a:ahLst/>
              <a:cxnLst/>
              <a:rect l="l" t="t" r="r" b="b"/>
              <a:pathLst>
                <a:path w="838835" h="515619">
                  <a:moveTo>
                    <a:pt x="230886" y="107569"/>
                  </a:moveTo>
                  <a:lnTo>
                    <a:pt x="0" y="0"/>
                  </a:lnTo>
                </a:path>
                <a:path w="838835" h="515619">
                  <a:moveTo>
                    <a:pt x="838327" y="188975"/>
                  </a:moveTo>
                  <a:lnTo>
                    <a:pt x="652272" y="381127"/>
                  </a:lnTo>
                </a:path>
                <a:path w="838835" h="515619">
                  <a:moveTo>
                    <a:pt x="236347" y="323088"/>
                  </a:moveTo>
                  <a:lnTo>
                    <a:pt x="50292" y="515239"/>
                  </a:lnTo>
                </a:path>
              </a:pathLst>
            </a:custGeom>
            <a:ln w="38100">
              <a:solidFill>
                <a:srgbClr val="00C2FF"/>
              </a:solidFill>
            </a:ln>
          </p:spPr>
          <p:txBody>
            <a:bodyPr wrap="square" lIns="0" tIns="0" rIns="0" bIns="0" rtlCol="0"/>
            <a:lstStyle/>
            <a:p>
              <a:endParaRPr sz="2400"/>
            </a:p>
          </p:txBody>
        </p:sp>
        <p:sp>
          <p:nvSpPr>
            <p:cNvPr id="24" name="object 24"/>
            <p:cNvSpPr/>
            <p:nvPr/>
          </p:nvSpPr>
          <p:spPr>
            <a:xfrm>
              <a:off x="5282945" y="2216658"/>
              <a:ext cx="419100" cy="123825"/>
            </a:xfrm>
            <a:custGeom>
              <a:avLst/>
              <a:gdLst/>
              <a:ahLst/>
              <a:cxnLst/>
              <a:rect l="l" t="t" r="r" b="b"/>
              <a:pathLst>
                <a:path w="419100" h="123825">
                  <a:moveTo>
                    <a:pt x="357377" y="0"/>
                  </a:moveTo>
                  <a:lnTo>
                    <a:pt x="357377" y="30861"/>
                  </a:lnTo>
                  <a:lnTo>
                    <a:pt x="0" y="30861"/>
                  </a:lnTo>
                  <a:lnTo>
                    <a:pt x="0" y="92583"/>
                  </a:lnTo>
                  <a:lnTo>
                    <a:pt x="357377" y="92583"/>
                  </a:lnTo>
                  <a:lnTo>
                    <a:pt x="357377" y="123443"/>
                  </a:lnTo>
                  <a:lnTo>
                    <a:pt x="419100" y="61722"/>
                  </a:lnTo>
                  <a:lnTo>
                    <a:pt x="357377" y="0"/>
                  </a:lnTo>
                  <a:close/>
                </a:path>
              </a:pathLst>
            </a:custGeom>
            <a:solidFill>
              <a:srgbClr val="00C3FF"/>
            </a:solidFill>
          </p:spPr>
          <p:txBody>
            <a:bodyPr wrap="square" lIns="0" tIns="0" rIns="0" bIns="0" rtlCol="0"/>
            <a:lstStyle/>
            <a:p>
              <a:endParaRPr sz="2400"/>
            </a:p>
          </p:txBody>
        </p:sp>
        <p:sp>
          <p:nvSpPr>
            <p:cNvPr id="25" name="object 25"/>
            <p:cNvSpPr/>
            <p:nvPr/>
          </p:nvSpPr>
          <p:spPr>
            <a:xfrm>
              <a:off x="5282945" y="2216658"/>
              <a:ext cx="419100" cy="123825"/>
            </a:xfrm>
            <a:custGeom>
              <a:avLst/>
              <a:gdLst/>
              <a:ahLst/>
              <a:cxnLst/>
              <a:rect l="l" t="t" r="r" b="b"/>
              <a:pathLst>
                <a:path w="419100" h="123825">
                  <a:moveTo>
                    <a:pt x="0" y="30861"/>
                  </a:moveTo>
                  <a:lnTo>
                    <a:pt x="357377" y="30861"/>
                  </a:lnTo>
                  <a:lnTo>
                    <a:pt x="357377" y="0"/>
                  </a:lnTo>
                  <a:lnTo>
                    <a:pt x="419100" y="61722"/>
                  </a:lnTo>
                  <a:lnTo>
                    <a:pt x="357377" y="123443"/>
                  </a:lnTo>
                  <a:lnTo>
                    <a:pt x="357377" y="92583"/>
                  </a:lnTo>
                  <a:lnTo>
                    <a:pt x="0" y="92583"/>
                  </a:lnTo>
                  <a:lnTo>
                    <a:pt x="0" y="30861"/>
                  </a:lnTo>
                  <a:close/>
                </a:path>
              </a:pathLst>
            </a:custGeom>
            <a:ln w="25908">
              <a:solidFill>
                <a:srgbClr val="008FBB"/>
              </a:solidFill>
            </a:ln>
          </p:spPr>
          <p:txBody>
            <a:bodyPr wrap="square" lIns="0" tIns="0" rIns="0" bIns="0" rtlCol="0"/>
            <a:lstStyle/>
            <a:p>
              <a:endParaRPr sz="2400"/>
            </a:p>
          </p:txBody>
        </p:sp>
      </p:grpSp>
      <p:sp>
        <p:nvSpPr>
          <p:cNvPr id="26" name="object 26"/>
          <p:cNvSpPr txBox="1"/>
          <p:nvPr/>
        </p:nvSpPr>
        <p:spPr>
          <a:xfrm>
            <a:off x="5588507" y="5543025"/>
            <a:ext cx="1354667"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Data</a:t>
            </a:r>
            <a:r>
              <a:rPr sz="2133" spc="-53" dirty="0">
                <a:solidFill>
                  <a:srgbClr val="FFFFFF"/>
                </a:solidFill>
                <a:latin typeface="Calibri"/>
                <a:cs typeface="Calibri"/>
              </a:rPr>
              <a:t> </a:t>
            </a:r>
            <a:r>
              <a:rPr sz="2133" dirty="0">
                <a:solidFill>
                  <a:srgbClr val="FFFFFF"/>
                </a:solidFill>
                <a:latin typeface="Calibri"/>
                <a:cs typeface="Calibri"/>
              </a:rPr>
              <a:t>Mart</a:t>
            </a:r>
            <a:r>
              <a:rPr sz="2133" spc="-27" dirty="0">
                <a:solidFill>
                  <a:srgbClr val="FFFFFF"/>
                </a:solidFill>
                <a:latin typeface="Calibri"/>
                <a:cs typeface="Calibri"/>
              </a:rPr>
              <a:t> </a:t>
            </a:r>
            <a:r>
              <a:rPr sz="2133" spc="-67" dirty="0">
                <a:solidFill>
                  <a:srgbClr val="FFFFFF"/>
                </a:solidFill>
                <a:latin typeface="Calibri"/>
                <a:cs typeface="Calibri"/>
              </a:rPr>
              <a:t>2</a:t>
            </a:r>
            <a:endParaRPr sz="2133">
              <a:latin typeface="Calibri"/>
              <a:cs typeface="Calibri"/>
            </a:endParaRPr>
          </a:p>
        </p:txBody>
      </p:sp>
      <p:grpSp>
        <p:nvGrpSpPr>
          <p:cNvPr id="27" name="object 27"/>
          <p:cNvGrpSpPr/>
          <p:nvPr/>
        </p:nvGrpSpPr>
        <p:grpSpPr>
          <a:xfrm>
            <a:off x="5252721" y="3970527"/>
            <a:ext cx="2379980" cy="1452880"/>
            <a:chOff x="3939540" y="2977895"/>
            <a:chExt cx="1784985" cy="1089660"/>
          </a:xfrm>
        </p:grpSpPr>
        <p:sp>
          <p:nvSpPr>
            <p:cNvPr id="28" name="object 28"/>
            <p:cNvSpPr/>
            <p:nvPr/>
          </p:nvSpPr>
          <p:spPr>
            <a:xfrm>
              <a:off x="3944112" y="2982467"/>
              <a:ext cx="1524000" cy="1080770"/>
            </a:xfrm>
            <a:custGeom>
              <a:avLst/>
              <a:gdLst/>
              <a:ahLst/>
              <a:cxnLst/>
              <a:rect l="l" t="t" r="r" b="b"/>
              <a:pathLst>
                <a:path w="1524000" h="1080770">
                  <a:moveTo>
                    <a:pt x="0" y="180086"/>
                  </a:moveTo>
                  <a:lnTo>
                    <a:pt x="6434" y="132218"/>
                  </a:lnTo>
                  <a:lnTo>
                    <a:pt x="24590" y="89201"/>
                  </a:lnTo>
                  <a:lnTo>
                    <a:pt x="52752" y="52752"/>
                  </a:lnTo>
                  <a:lnTo>
                    <a:pt x="89201" y="24590"/>
                  </a:lnTo>
                  <a:lnTo>
                    <a:pt x="132218" y="6434"/>
                  </a:lnTo>
                  <a:lnTo>
                    <a:pt x="180086" y="0"/>
                  </a:lnTo>
                  <a:lnTo>
                    <a:pt x="1343914" y="0"/>
                  </a:lnTo>
                  <a:lnTo>
                    <a:pt x="1391781" y="6434"/>
                  </a:lnTo>
                  <a:lnTo>
                    <a:pt x="1434798" y="24590"/>
                  </a:lnTo>
                  <a:lnTo>
                    <a:pt x="1471247" y="52752"/>
                  </a:lnTo>
                  <a:lnTo>
                    <a:pt x="1499409" y="89201"/>
                  </a:lnTo>
                  <a:lnTo>
                    <a:pt x="1517565" y="132218"/>
                  </a:lnTo>
                  <a:lnTo>
                    <a:pt x="1524000" y="180086"/>
                  </a:lnTo>
                  <a:lnTo>
                    <a:pt x="1524000" y="900429"/>
                  </a:lnTo>
                  <a:lnTo>
                    <a:pt x="1517565" y="948302"/>
                  </a:lnTo>
                  <a:lnTo>
                    <a:pt x="1499409" y="991320"/>
                  </a:lnTo>
                  <a:lnTo>
                    <a:pt x="1471247" y="1027768"/>
                  </a:lnTo>
                  <a:lnTo>
                    <a:pt x="1434798" y="1055927"/>
                  </a:lnTo>
                  <a:lnTo>
                    <a:pt x="1391781" y="1074082"/>
                  </a:lnTo>
                  <a:lnTo>
                    <a:pt x="1343914" y="1080516"/>
                  </a:lnTo>
                  <a:lnTo>
                    <a:pt x="180086" y="1080516"/>
                  </a:lnTo>
                  <a:lnTo>
                    <a:pt x="132218" y="1074082"/>
                  </a:lnTo>
                  <a:lnTo>
                    <a:pt x="89201" y="1055927"/>
                  </a:lnTo>
                  <a:lnTo>
                    <a:pt x="52752" y="1027768"/>
                  </a:lnTo>
                  <a:lnTo>
                    <a:pt x="24590" y="991320"/>
                  </a:lnTo>
                  <a:lnTo>
                    <a:pt x="6434" y="948302"/>
                  </a:lnTo>
                  <a:lnTo>
                    <a:pt x="0" y="900429"/>
                  </a:lnTo>
                  <a:lnTo>
                    <a:pt x="0" y="180086"/>
                  </a:lnTo>
                  <a:close/>
                </a:path>
              </a:pathLst>
            </a:custGeom>
            <a:ln w="9144">
              <a:solidFill>
                <a:srgbClr val="00C3FF"/>
              </a:solidFill>
            </a:ln>
          </p:spPr>
          <p:txBody>
            <a:bodyPr wrap="square" lIns="0" tIns="0" rIns="0" bIns="0" rtlCol="0"/>
            <a:lstStyle/>
            <a:p>
              <a:endParaRPr sz="2400"/>
            </a:p>
          </p:txBody>
        </p:sp>
        <p:sp>
          <p:nvSpPr>
            <p:cNvPr id="29" name="object 29"/>
            <p:cNvSpPr/>
            <p:nvPr/>
          </p:nvSpPr>
          <p:spPr>
            <a:xfrm>
              <a:off x="4128249" y="3165970"/>
              <a:ext cx="1254760" cy="727075"/>
            </a:xfrm>
            <a:custGeom>
              <a:avLst/>
              <a:gdLst/>
              <a:ahLst/>
              <a:cxnLst/>
              <a:rect l="l" t="t" r="r" b="b"/>
              <a:pathLst>
                <a:path w="1254760" h="727075">
                  <a:moveTo>
                    <a:pt x="347662" y="0"/>
                  </a:moveTo>
                  <a:lnTo>
                    <a:pt x="0" y="0"/>
                  </a:lnTo>
                  <a:lnTo>
                    <a:pt x="0" y="25412"/>
                  </a:lnTo>
                  <a:lnTo>
                    <a:pt x="0" y="77508"/>
                  </a:lnTo>
                  <a:lnTo>
                    <a:pt x="0" y="242671"/>
                  </a:lnTo>
                  <a:lnTo>
                    <a:pt x="347662" y="242684"/>
                  </a:lnTo>
                  <a:lnTo>
                    <a:pt x="347662" y="217271"/>
                  </a:lnTo>
                  <a:lnTo>
                    <a:pt x="26073" y="217271"/>
                  </a:lnTo>
                  <a:lnTo>
                    <a:pt x="26073" y="165176"/>
                  </a:lnTo>
                  <a:lnTo>
                    <a:pt x="112979" y="165176"/>
                  </a:lnTo>
                  <a:lnTo>
                    <a:pt x="112979" y="217017"/>
                  </a:lnTo>
                  <a:lnTo>
                    <a:pt x="130365" y="217017"/>
                  </a:lnTo>
                  <a:lnTo>
                    <a:pt x="130365" y="165176"/>
                  </a:lnTo>
                  <a:lnTo>
                    <a:pt x="217284" y="165176"/>
                  </a:lnTo>
                  <a:lnTo>
                    <a:pt x="217284" y="217017"/>
                  </a:lnTo>
                  <a:lnTo>
                    <a:pt x="234657" y="217017"/>
                  </a:lnTo>
                  <a:lnTo>
                    <a:pt x="234657" y="165176"/>
                  </a:lnTo>
                  <a:lnTo>
                    <a:pt x="321576" y="165176"/>
                  </a:lnTo>
                  <a:lnTo>
                    <a:pt x="321576" y="217017"/>
                  </a:lnTo>
                  <a:lnTo>
                    <a:pt x="347662" y="217017"/>
                  </a:lnTo>
                  <a:lnTo>
                    <a:pt x="347662" y="25641"/>
                  </a:lnTo>
                  <a:lnTo>
                    <a:pt x="321576" y="25641"/>
                  </a:lnTo>
                  <a:lnTo>
                    <a:pt x="321576" y="77508"/>
                  </a:lnTo>
                  <a:lnTo>
                    <a:pt x="321576" y="95300"/>
                  </a:lnTo>
                  <a:lnTo>
                    <a:pt x="321576" y="147383"/>
                  </a:lnTo>
                  <a:lnTo>
                    <a:pt x="234657" y="147383"/>
                  </a:lnTo>
                  <a:lnTo>
                    <a:pt x="234657" y="95300"/>
                  </a:lnTo>
                  <a:lnTo>
                    <a:pt x="321576" y="95300"/>
                  </a:lnTo>
                  <a:lnTo>
                    <a:pt x="321576" y="77508"/>
                  </a:lnTo>
                  <a:lnTo>
                    <a:pt x="234657" y="77508"/>
                  </a:lnTo>
                  <a:lnTo>
                    <a:pt x="234657" y="25641"/>
                  </a:lnTo>
                  <a:lnTo>
                    <a:pt x="217284" y="25641"/>
                  </a:lnTo>
                  <a:lnTo>
                    <a:pt x="217284" y="77508"/>
                  </a:lnTo>
                  <a:lnTo>
                    <a:pt x="217284" y="95300"/>
                  </a:lnTo>
                  <a:lnTo>
                    <a:pt x="217284" y="147383"/>
                  </a:lnTo>
                  <a:lnTo>
                    <a:pt x="130365" y="147383"/>
                  </a:lnTo>
                  <a:lnTo>
                    <a:pt x="130365" y="95300"/>
                  </a:lnTo>
                  <a:lnTo>
                    <a:pt x="217284" y="95300"/>
                  </a:lnTo>
                  <a:lnTo>
                    <a:pt x="217284" y="77508"/>
                  </a:lnTo>
                  <a:lnTo>
                    <a:pt x="130365" y="77508"/>
                  </a:lnTo>
                  <a:lnTo>
                    <a:pt x="130365" y="25641"/>
                  </a:lnTo>
                  <a:lnTo>
                    <a:pt x="112979" y="25641"/>
                  </a:lnTo>
                  <a:lnTo>
                    <a:pt x="112979" y="77508"/>
                  </a:lnTo>
                  <a:lnTo>
                    <a:pt x="112979" y="95300"/>
                  </a:lnTo>
                  <a:lnTo>
                    <a:pt x="112979" y="147383"/>
                  </a:lnTo>
                  <a:lnTo>
                    <a:pt x="26073" y="147383"/>
                  </a:lnTo>
                  <a:lnTo>
                    <a:pt x="26073" y="95300"/>
                  </a:lnTo>
                  <a:lnTo>
                    <a:pt x="112979" y="95300"/>
                  </a:lnTo>
                  <a:lnTo>
                    <a:pt x="112979" y="77508"/>
                  </a:lnTo>
                  <a:lnTo>
                    <a:pt x="26073" y="77508"/>
                  </a:lnTo>
                  <a:lnTo>
                    <a:pt x="26073" y="25412"/>
                  </a:lnTo>
                  <a:lnTo>
                    <a:pt x="347662" y="25412"/>
                  </a:lnTo>
                  <a:lnTo>
                    <a:pt x="347662" y="0"/>
                  </a:lnTo>
                  <a:close/>
                </a:path>
                <a:path w="1254760" h="727075">
                  <a:moveTo>
                    <a:pt x="551903" y="357454"/>
                  </a:moveTo>
                  <a:lnTo>
                    <a:pt x="534581" y="357454"/>
                  </a:lnTo>
                  <a:lnTo>
                    <a:pt x="534581" y="409460"/>
                  </a:lnTo>
                  <a:lnTo>
                    <a:pt x="551903" y="409460"/>
                  </a:lnTo>
                  <a:lnTo>
                    <a:pt x="551903" y="357454"/>
                  </a:lnTo>
                  <a:close/>
                </a:path>
                <a:path w="1254760" h="727075">
                  <a:moveTo>
                    <a:pt x="655828" y="357454"/>
                  </a:moveTo>
                  <a:lnTo>
                    <a:pt x="638505" y="357454"/>
                  </a:lnTo>
                  <a:lnTo>
                    <a:pt x="638505" y="409460"/>
                  </a:lnTo>
                  <a:lnTo>
                    <a:pt x="655828" y="409460"/>
                  </a:lnTo>
                  <a:lnTo>
                    <a:pt x="655828" y="357454"/>
                  </a:lnTo>
                  <a:close/>
                </a:path>
                <a:path w="1254760" h="727075">
                  <a:moveTo>
                    <a:pt x="768413" y="357454"/>
                  </a:moveTo>
                  <a:lnTo>
                    <a:pt x="742429" y="357454"/>
                  </a:lnTo>
                  <a:lnTo>
                    <a:pt x="742429" y="409460"/>
                  </a:lnTo>
                  <a:lnTo>
                    <a:pt x="768413" y="409460"/>
                  </a:lnTo>
                  <a:lnTo>
                    <a:pt x="768413" y="357454"/>
                  </a:lnTo>
                  <a:close/>
                </a:path>
                <a:path w="1254760" h="727075">
                  <a:moveTo>
                    <a:pt x="768413" y="331978"/>
                  </a:moveTo>
                  <a:lnTo>
                    <a:pt x="422008" y="331978"/>
                  </a:lnTo>
                  <a:lnTo>
                    <a:pt x="422008" y="357390"/>
                  </a:lnTo>
                  <a:lnTo>
                    <a:pt x="422008" y="409486"/>
                  </a:lnTo>
                  <a:lnTo>
                    <a:pt x="422008" y="727062"/>
                  </a:lnTo>
                  <a:lnTo>
                    <a:pt x="768413" y="727062"/>
                  </a:lnTo>
                  <a:lnTo>
                    <a:pt x="768413" y="700544"/>
                  </a:lnTo>
                  <a:lnTo>
                    <a:pt x="768413" y="700379"/>
                  </a:lnTo>
                  <a:lnTo>
                    <a:pt x="768413" y="648538"/>
                  </a:lnTo>
                  <a:lnTo>
                    <a:pt x="742429" y="648538"/>
                  </a:lnTo>
                  <a:lnTo>
                    <a:pt x="742429" y="700379"/>
                  </a:lnTo>
                  <a:lnTo>
                    <a:pt x="655828" y="700379"/>
                  </a:lnTo>
                  <a:lnTo>
                    <a:pt x="655828" y="648538"/>
                  </a:lnTo>
                  <a:lnTo>
                    <a:pt x="638505" y="648538"/>
                  </a:lnTo>
                  <a:lnTo>
                    <a:pt x="638505" y="700379"/>
                  </a:lnTo>
                  <a:lnTo>
                    <a:pt x="551903" y="700379"/>
                  </a:lnTo>
                  <a:lnTo>
                    <a:pt x="551903" y="648538"/>
                  </a:lnTo>
                  <a:lnTo>
                    <a:pt x="534581" y="648538"/>
                  </a:lnTo>
                  <a:lnTo>
                    <a:pt x="534581" y="700379"/>
                  </a:lnTo>
                  <a:lnTo>
                    <a:pt x="447992" y="700379"/>
                  </a:lnTo>
                  <a:lnTo>
                    <a:pt x="447992" y="648284"/>
                  </a:lnTo>
                  <a:lnTo>
                    <a:pt x="768413" y="648284"/>
                  </a:lnTo>
                  <a:lnTo>
                    <a:pt x="768413" y="631761"/>
                  </a:lnTo>
                  <a:lnTo>
                    <a:pt x="447992" y="631761"/>
                  </a:lnTo>
                  <a:lnTo>
                    <a:pt x="447992" y="579678"/>
                  </a:lnTo>
                  <a:lnTo>
                    <a:pt x="534581" y="579678"/>
                  </a:lnTo>
                  <a:lnTo>
                    <a:pt x="534581" y="631202"/>
                  </a:lnTo>
                  <a:lnTo>
                    <a:pt x="551903" y="631202"/>
                  </a:lnTo>
                  <a:lnTo>
                    <a:pt x="551903" y="579678"/>
                  </a:lnTo>
                  <a:lnTo>
                    <a:pt x="638505" y="579678"/>
                  </a:lnTo>
                  <a:lnTo>
                    <a:pt x="638505" y="631202"/>
                  </a:lnTo>
                  <a:lnTo>
                    <a:pt x="655828" y="631202"/>
                  </a:lnTo>
                  <a:lnTo>
                    <a:pt x="655828" y="579678"/>
                  </a:lnTo>
                  <a:lnTo>
                    <a:pt x="742429" y="579678"/>
                  </a:lnTo>
                  <a:lnTo>
                    <a:pt x="742429" y="631202"/>
                  </a:lnTo>
                  <a:lnTo>
                    <a:pt x="768413" y="631202"/>
                  </a:lnTo>
                  <a:lnTo>
                    <a:pt x="768413" y="479361"/>
                  </a:lnTo>
                  <a:lnTo>
                    <a:pt x="742429" y="479361"/>
                  </a:lnTo>
                  <a:lnTo>
                    <a:pt x="742429" y="509790"/>
                  </a:lnTo>
                  <a:lnTo>
                    <a:pt x="742429" y="547979"/>
                  </a:lnTo>
                  <a:lnTo>
                    <a:pt x="655828" y="547979"/>
                  </a:lnTo>
                  <a:lnTo>
                    <a:pt x="655828" y="509854"/>
                  </a:lnTo>
                  <a:lnTo>
                    <a:pt x="742429" y="509790"/>
                  </a:lnTo>
                  <a:lnTo>
                    <a:pt x="742429" y="479361"/>
                  </a:lnTo>
                  <a:lnTo>
                    <a:pt x="638505" y="479361"/>
                  </a:lnTo>
                  <a:lnTo>
                    <a:pt x="638505" y="509790"/>
                  </a:lnTo>
                  <a:lnTo>
                    <a:pt x="638505" y="547979"/>
                  </a:lnTo>
                  <a:lnTo>
                    <a:pt x="551903" y="547979"/>
                  </a:lnTo>
                  <a:lnTo>
                    <a:pt x="551903" y="509854"/>
                  </a:lnTo>
                  <a:lnTo>
                    <a:pt x="638505" y="509790"/>
                  </a:lnTo>
                  <a:lnTo>
                    <a:pt x="638505" y="479361"/>
                  </a:lnTo>
                  <a:lnTo>
                    <a:pt x="534581" y="479361"/>
                  </a:lnTo>
                  <a:lnTo>
                    <a:pt x="534581" y="509790"/>
                  </a:lnTo>
                  <a:lnTo>
                    <a:pt x="534581" y="547979"/>
                  </a:lnTo>
                  <a:lnTo>
                    <a:pt x="447992" y="547979"/>
                  </a:lnTo>
                  <a:lnTo>
                    <a:pt x="447992" y="509790"/>
                  </a:lnTo>
                  <a:lnTo>
                    <a:pt x="534581" y="509790"/>
                  </a:lnTo>
                  <a:lnTo>
                    <a:pt x="534581" y="479361"/>
                  </a:lnTo>
                  <a:lnTo>
                    <a:pt x="447992" y="479361"/>
                  </a:lnTo>
                  <a:lnTo>
                    <a:pt x="447992" y="427278"/>
                  </a:lnTo>
                  <a:lnTo>
                    <a:pt x="534581" y="427278"/>
                  </a:lnTo>
                  <a:lnTo>
                    <a:pt x="534581" y="478802"/>
                  </a:lnTo>
                  <a:lnTo>
                    <a:pt x="551903" y="478802"/>
                  </a:lnTo>
                  <a:lnTo>
                    <a:pt x="551903" y="427278"/>
                  </a:lnTo>
                  <a:lnTo>
                    <a:pt x="638505" y="427278"/>
                  </a:lnTo>
                  <a:lnTo>
                    <a:pt x="638505" y="478802"/>
                  </a:lnTo>
                  <a:lnTo>
                    <a:pt x="655828" y="478802"/>
                  </a:lnTo>
                  <a:lnTo>
                    <a:pt x="655828" y="427278"/>
                  </a:lnTo>
                  <a:lnTo>
                    <a:pt x="742429" y="427278"/>
                  </a:lnTo>
                  <a:lnTo>
                    <a:pt x="742429" y="478802"/>
                  </a:lnTo>
                  <a:lnTo>
                    <a:pt x="768413" y="478802"/>
                  </a:lnTo>
                  <a:lnTo>
                    <a:pt x="768413" y="427278"/>
                  </a:lnTo>
                  <a:lnTo>
                    <a:pt x="768413" y="426796"/>
                  </a:lnTo>
                  <a:lnTo>
                    <a:pt x="768413" y="409486"/>
                  </a:lnTo>
                  <a:lnTo>
                    <a:pt x="447992" y="409486"/>
                  </a:lnTo>
                  <a:lnTo>
                    <a:pt x="447992" y="357390"/>
                  </a:lnTo>
                  <a:lnTo>
                    <a:pt x="768413" y="357390"/>
                  </a:lnTo>
                  <a:lnTo>
                    <a:pt x="768413" y="331978"/>
                  </a:lnTo>
                  <a:close/>
                </a:path>
                <a:path w="1254760" h="727075">
                  <a:moveTo>
                    <a:pt x="1038059" y="179146"/>
                  </a:moveTo>
                  <a:lnTo>
                    <a:pt x="1020737" y="179146"/>
                  </a:lnTo>
                  <a:lnTo>
                    <a:pt x="1020737" y="231152"/>
                  </a:lnTo>
                  <a:lnTo>
                    <a:pt x="1038059" y="231152"/>
                  </a:lnTo>
                  <a:lnTo>
                    <a:pt x="1038059" y="179146"/>
                  </a:lnTo>
                  <a:close/>
                </a:path>
                <a:path w="1254760" h="727075">
                  <a:moveTo>
                    <a:pt x="1141984" y="179146"/>
                  </a:moveTo>
                  <a:lnTo>
                    <a:pt x="1124661" y="179146"/>
                  </a:lnTo>
                  <a:lnTo>
                    <a:pt x="1124661" y="231152"/>
                  </a:lnTo>
                  <a:lnTo>
                    <a:pt x="1141984" y="231152"/>
                  </a:lnTo>
                  <a:lnTo>
                    <a:pt x="1141984" y="179146"/>
                  </a:lnTo>
                  <a:close/>
                </a:path>
                <a:path w="1254760" h="727075">
                  <a:moveTo>
                    <a:pt x="1254569" y="179146"/>
                  </a:moveTo>
                  <a:lnTo>
                    <a:pt x="1228585" y="179146"/>
                  </a:lnTo>
                  <a:lnTo>
                    <a:pt x="1228585" y="231152"/>
                  </a:lnTo>
                  <a:lnTo>
                    <a:pt x="1254569" y="231152"/>
                  </a:lnTo>
                  <a:lnTo>
                    <a:pt x="1254569" y="179146"/>
                  </a:lnTo>
                  <a:close/>
                </a:path>
                <a:path w="1254760" h="727075">
                  <a:moveTo>
                    <a:pt x="1254569" y="153670"/>
                  </a:moveTo>
                  <a:lnTo>
                    <a:pt x="908164" y="153670"/>
                  </a:lnTo>
                  <a:lnTo>
                    <a:pt x="908164" y="179082"/>
                  </a:lnTo>
                  <a:lnTo>
                    <a:pt x="908164" y="231178"/>
                  </a:lnTo>
                  <a:lnTo>
                    <a:pt x="908164" y="396354"/>
                  </a:lnTo>
                  <a:lnTo>
                    <a:pt x="1254569" y="396354"/>
                  </a:lnTo>
                  <a:lnTo>
                    <a:pt x="1254569" y="369836"/>
                  </a:lnTo>
                  <a:lnTo>
                    <a:pt x="1254569" y="369671"/>
                  </a:lnTo>
                  <a:lnTo>
                    <a:pt x="1254569" y="317830"/>
                  </a:lnTo>
                  <a:lnTo>
                    <a:pt x="1228585" y="317830"/>
                  </a:lnTo>
                  <a:lnTo>
                    <a:pt x="1228585" y="369671"/>
                  </a:lnTo>
                  <a:lnTo>
                    <a:pt x="1141984" y="369671"/>
                  </a:lnTo>
                  <a:lnTo>
                    <a:pt x="1141984" y="317830"/>
                  </a:lnTo>
                  <a:lnTo>
                    <a:pt x="1124661" y="317830"/>
                  </a:lnTo>
                  <a:lnTo>
                    <a:pt x="1124661" y="369671"/>
                  </a:lnTo>
                  <a:lnTo>
                    <a:pt x="1038059" y="369671"/>
                  </a:lnTo>
                  <a:lnTo>
                    <a:pt x="1038059" y="317830"/>
                  </a:lnTo>
                  <a:lnTo>
                    <a:pt x="1020737" y="317830"/>
                  </a:lnTo>
                  <a:lnTo>
                    <a:pt x="1020737" y="369671"/>
                  </a:lnTo>
                  <a:lnTo>
                    <a:pt x="934148" y="369671"/>
                  </a:lnTo>
                  <a:lnTo>
                    <a:pt x="934148" y="317576"/>
                  </a:lnTo>
                  <a:lnTo>
                    <a:pt x="1254569" y="317576"/>
                  </a:lnTo>
                  <a:lnTo>
                    <a:pt x="1254569" y="301053"/>
                  </a:lnTo>
                  <a:lnTo>
                    <a:pt x="934148" y="301053"/>
                  </a:lnTo>
                  <a:lnTo>
                    <a:pt x="934148" y="248970"/>
                  </a:lnTo>
                  <a:lnTo>
                    <a:pt x="1020737" y="248970"/>
                  </a:lnTo>
                  <a:lnTo>
                    <a:pt x="1020737" y="300494"/>
                  </a:lnTo>
                  <a:lnTo>
                    <a:pt x="1038059" y="300494"/>
                  </a:lnTo>
                  <a:lnTo>
                    <a:pt x="1038059" y="248970"/>
                  </a:lnTo>
                  <a:lnTo>
                    <a:pt x="1124661" y="248970"/>
                  </a:lnTo>
                  <a:lnTo>
                    <a:pt x="1124661" y="300494"/>
                  </a:lnTo>
                  <a:lnTo>
                    <a:pt x="1141984" y="300494"/>
                  </a:lnTo>
                  <a:lnTo>
                    <a:pt x="1141984" y="248970"/>
                  </a:lnTo>
                  <a:lnTo>
                    <a:pt x="1228585" y="248970"/>
                  </a:lnTo>
                  <a:lnTo>
                    <a:pt x="1228585" y="300494"/>
                  </a:lnTo>
                  <a:lnTo>
                    <a:pt x="1254569" y="300494"/>
                  </a:lnTo>
                  <a:lnTo>
                    <a:pt x="1254569" y="248970"/>
                  </a:lnTo>
                  <a:lnTo>
                    <a:pt x="1254569" y="248488"/>
                  </a:lnTo>
                  <a:lnTo>
                    <a:pt x="1254569" y="231178"/>
                  </a:lnTo>
                  <a:lnTo>
                    <a:pt x="934148" y="231178"/>
                  </a:lnTo>
                  <a:lnTo>
                    <a:pt x="934148" y="179082"/>
                  </a:lnTo>
                  <a:lnTo>
                    <a:pt x="1254569" y="179082"/>
                  </a:lnTo>
                  <a:lnTo>
                    <a:pt x="1254569" y="153670"/>
                  </a:lnTo>
                  <a:close/>
                </a:path>
              </a:pathLst>
            </a:custGeom>
            <a:solidFill>
              <a:srgbClr val="BCBCBC"/>
            </a:solidFill>
          </p:spPr>
          <p:txBody>
            <a:bodyPr wrap="square" lIns="0" tIns="0" rIns="0" bIns="0" rtlCol="0"/>
            <a:lstStyle/>
            <a:p>
              <a:endParaRPr sz="2400"/>
            </a:p>
          </p:txBody>
        </p:sp>
        <p:sp>
          <p:nvSpPr>
            <p:cNvPr id="30" name="object 30"/>
            <p:cNvSpPr/>
            <p:nvPr/>
          </p:nvSpPr>
          <p:spPr>
            <a:xfrm>
              <a:off x="4281678" y="3390137"/>
              <a:ext cx="838835" cy="381635"/>
            </a:xfrm>
            <a:custGeom>
              <a:avLst/>
              <a:gdLst/>
              <a:ahLst/>
              <a:cxnLst/>
              <a:rect l="l" t="t" r="r" b="b"/>
              <a:pathLst>
                <a:path w="838835" h="381635">
                  <a:moveTo>
                    <a:pt x="230886" y="107568"/>
                  </a:moveTo>
                  <a:lnTo>
                    <a:pt x="0" y="0"/>
                  </a:lnTo>
                </a:path>
                <a:path w="838835" h="381635">
                  <a:moveTo>
                    <a:pt x="838326" y="188975"/>
                  </a:moveTo>
                  <a:lnTo>
                    <a:pt x="652272" y="381127"/>
                  </a:lnTo>
                </a:path>
              </a:pathLst>
            </a:custGeom>
            <a:ln w="38100">
              <a:solidFill>
                <a:srgbClr val="00C2FF"/>
              </a:solidFill>
            </a:ln>
          </p:spPr>
          <p:txBody>
            <a:bodyPr wrap="square" lIns="0" tIns="0" rIns="0" bIns="0" rtlCol="0"/>
            <a:lstStyle/>
            <a:p>
              <a:endParaRPr sz="2400"/>
            </a:p>
          </p:txBody>
        </p:sp>
        <p:sp>
          <p:nvSpPr>
            <p:cNvPr id="31" name="object 31"/>
            <p:cNvSpPr/>
            <p:nvPr/>
          </p:nvSpPr>
          <p:spPr>
            <a:xfrm>
              <a:off x="5292090" y="3693413"/>
              <a:ext cx="419100" cy="121920"/>
            </a:xfrm>
            <a:custGeom>
              <a:avLst/>
              <a:gdLst/>
              <a:ahLst/>
              <a:cxnLst/>
              <a:rect l="l" t="t" r="r" b="b"/>
              <a:pathLst>
                <a:path w="419100" h="121920">
                  <a:moveTo>
                    <a:pt x="358139" y="0"/>
                  </a:moveTo>
                  <a:lnTo>
                    <a:pt x="358139" y="30480"/>
                  </a:lnTo>
                  <a:lnTo>
                    <a:pt x="0" y="30480"/>
                  </a:lnTo>
                  <a:lnTo>
                    <a:pt x="0" y="91440"/>
                  </a:lnTo>
                  <a:lnTo>
                    <a:pt x="358139" y="91440"/>
                  </a:lnTo>
                  <a:lnTo>
                    <a:pt x="358139" y="121920"/>
                  </a:lnTo>
                  <a:lnTo>
                    <a:pt x="419100" y="60960"/>
                  </a:lnTo>
                  <a:lnTo>
                    <a:pt x="358139" y="0"/>
                  </a:lnTo>
                  <a:close/>
                </a:path>
              </a:pathLst>
            </a:custGeom>
            <a:solidFill>
              <a:srgbClr val="00C3FF"/>
            </a:solidFill>
          </p:spPr>
          <p:txBody>
            <a:bodyPr wrap="square" lIns="0" tIns="0" rIns="0" bIns="0" rtlCol="0"/>
            <a:lstStyle/>
            <a:p>
              <a:endParaRPr sz="2400"/>
            </a:p>
          </p:txBody>
        </p:sp>
        <p:sp>
          <p:nvSpPr>
            <p:cNvPr id="32" name="object 32"/>
            <p:cNvSpPr/>
            <p:nvPr/>
          </p:nvSpPr>
          <p:spPr>
            <a:xfrm>
              <a:off x="5292090" y="3693413"/>
              <a:ext cx="419100" cy="121920"/>
            </a:xfrm>
            <a:custGeom>
              <a:avLst/>
              <a:gdLst/>
              <a:ahLst/>
              <a:cxnLst/>
              <a:rect l="l" t="t" r="r" b="b"/>
              <a:pathLst>
                <a:path w="419100" h="121920">
                  <a:moveTo>
                    <a:pt x="0" y="30480"/>
                  </a:moveTo>
                  <a:lnTo>
                    <a:pt x="358139" y="30480"/>
                  </a:lnTo>
                  <a:lnTo>
                    <a:pt x="358139" y="0"/>
                  </a:lnTo>
                  <a:lnTo>
                    <a:pt x="419100" y="60960"/>
                  </a:lnTo>
                  <a:lnTo>
                    <a:pt x="358139" y="121920"/>
                  </a:lnTo>
                  <a:lnTo>
                    <a:pt x="358139" y="91440"/>
                  </a:lnTo>
                  <a:lnTo>
                    <a:pt x="0" y="91440"/>
                  </a:lnTo>
                  <a:lnTo>
                    <a:pt x="0" y="30480"/>
                  </a:lnTo>
                  <a:close/>
                </a:path>
              </a:pathLst>
            </a:custGeom>
            <a:ln w="25908">
              <a:solidFill>
                <a:srgbClr val="008FBB"/>
              </a:solidFill>
            </a:ln>
          </p:spPr>
          <p:txBody>
            <a:bodyPr wrap="square" lIns="0" tIns="0" rIns="0" bIns="0" rtlCol="0"/>
            <a:lstStyle/>
            <a:p>
              <a:endParaRPr sz="2400"/>
            </a:p>
          </p:txBody>
        </p:sp>
      </p:grpSp>
      <p:sp>
        <p:nvSpPr>
          <p:cNvPr id="33" name="object 33"/>
          <p:cNvSpPr txBox="1"/>
          <p:nvPr/>
        </p:nvSpPr>
        <p:spPr>
          <a:xfrm>
            <a:off x="8487663" y="1261871"/>
            <a:ext cx="3513667" cy="1353554"/>
          </a:xfrm>
          <a:prstGeom prst="rect">
            <a:avLst/>
          </a:prstGeom>
          <a:noFill/>
          <a:ln w="9144">
            <a:noFill/>
          </a:ln>
        </p:spPr>
        <p:txBody>
          <a:bodyPr vert="horz" wrap="square" lIns="0" tIns="207433" rIns="0" bIns="0" rtlCol="0">
            <a:spAutoFit/>
          </a:bodyPr>
          <a:lstStyle/>
          <a:p>
            <a:pPr marL="579106" indent="-456342">
              <a:spcBef>
                <a:spcPts val="1633"/>
              </a:spcBef>
              <a:buFont typeface="Courier New"/>
              <a:buChar char="o"/>
              <a:tabLst>
                <a:tab pos="579106" algn="l"/>
              </a:tabLst>
            </a:pPr>
            <a:r>
              <a:rPr sz="1867" i="1" dirty="0">
                <a:solidFill>
                  <a:srgbClr val="FFFFFF"/>
                </a:solidFill>
                <a:latin typeface="Calibri"/>
                <a:cs typeface="Calibri"/>
              </a:rPr>
              <a:t>Subset</a:t>
            </a:r>
            <a:r>
              <a:rPr sz="1867" i="1" spc="-20" dirty="0">
                <a:solidFill>
                  <a:srgbClr val="FFFFFF"/>
                </a:solidFill>
                <a:latin typeface="Calibri"/>
                <a:cs typeface="Calibri"/>
              </a:rPr>
              <a:t> </a:t>
            </a:r>
            <a:r>
              <a:rPr sz="1867" i="1" dirty="0">
                <a:solidFill>
                  <a:srgbClr val="FFFFFF"/>
                </a:solidFill>
                <a:latin typeface="Calibri"/>
                <a:cs typeface="Calibri"/>
              </a:rPr>
              <a:t>of</a:t>
            </a:r>
            <a:r>
              <a:rPr sz="1867" i="1" spc="-53" dirty="0">
                <a:solidFill>
                  <a:srgbClr val="FFFFFF"/>
                </a:solidFill>
                <a:latin typeface="Calibri"/>
                <a:cs typeface="Calibri"/>
              </a:rPr>
              <a:t> </a:t>
            </a:r>
            <a:r>
              <a:rPr sz="1867" i="1" dirty="0">
                <a:solidFill>
                  <a:srgbClr val="FFFFFF"/>
                </a:solidFill>
                <a:latin typeface="Calibri"/>
                <a:cs typeface="Calibri"/>
              </a:rPr>
              <a:t>a</a:t>
            </a:r>
            <a:r>
              <a:rPr sz="1867" i="1" spc="-13" dirty="0">
                <a:solidFill>
                  <a:srgbClr val="FFFFFF"/>
                </a:solidFill>
                <a:latin typeface="Calibri"/>
                <a:cs typeface="Calibri"/>
              </a:rPr>
              <a:t> </a:t>
            </a:r>
            <a:r>
              <a:rPr sz="1867" i="1" spc="-33" dirty="0">
                <a:solidFill>
                  <a:srgbClr val="FFFFFF"/>
                </a:solidFill>
                <a:latin typeface="Calibri"/>
                <a:cs typeface="Calibri"/>
              </a:rPr>
              <a:t>DWH</a:t>
            </a:r>
            <a:endParaRPr sz="1867">
              <a:latin typeface="Calibri"/>
              <a:cs typeface="Calibri"/>
            </a:endParaRPr>
          </a:p>
          <a:p>
            <a:pPr marL="579106" indent="-456342">
              <a:spcBef>
                <a:spcPts val="1120"/>
              </a:spcBef>
              <a:buFont typeface="Courier New"/>
              <a:buChar char="o"/>
              <a:tabLst>
                <a:tab pos="579106" algn="l"/>
              </a:tabLst>
            </a:pPr>
            <a:r>
              <a:rPr sz="1867" i="1" dirty="0">
                <a:solidFill>
                  <a:srgbClr val="FFFFFF"/>
                </a:solidFill>
                <a:latin typeface="Calibri"/>
                <a:cs typeface="Calibri"/>
              </a:rPr>
              <a:t>Dimensional</a:t>
            </a:r>
            <a:r>
              <a:rPr sz="1867" i="1" spc="-93" dirty="0">
                <a:solidFill>
                  <a:srgbClr val="FFFFFF"/>
                </a:solidFill>
                <a:latin typeface="Calibri"/>
                <a:cs typeface="Calibri"/>
              </a:rPr>
              <a:t> </a:t>
            </a:r>
            <a:r>
              <a:rPr sz="1867" i="1" spc="-13" dirty="0">
                <a:solidFill>
                  <a:srgbClr val="FFFFFF"/>
                </a:solidFill>
                <a:latin typeface="Calibri"/>
                <a:cs typeface="Calibri"/>
              </a:rPr>
              <a:t>Model</a:t>
            </a:r>
            <a:endParaRPr sz="1867">
              <a:latin typeface="Calibri"/>
              <a:cs typeface="Calibri"/>
            </a:endParaRPr>
          </a:p>
          <a:p>
            <a:pPr marL="579106" indent="-456342">
              <a:spcBef>
                <a:spcPts val="1120"/>
              </a:spcBef>
              <a:buFont typeface="Courier New"/>
              <a:buChar char="o"/>
              <a:tabLst>
                <a:tab pos="579106" algn="l"/>
              </a:tabLst>
            </a:pPr>
            <a:r>
              <a:rPr sz="1867" dirty="0">
                <a:solidFill>
                  <a:srgbClr val="FFFFFF"/>
                </a:solidFill>
                <a:latin typeface="Calibri"/>
                <a:cs typeface="Calibri"/>
              </a:rPr>
              <a:t>Can</a:t>
            </a:r>
            <a:r>
              <a:rPr sz="1867" spc="-40" dirty="0">
                <a:solidFill>
                  <a:srgbClr val="FFFFFF"/>
                </a:solidFill>
                <a:latin typeface="Calibri"/>
                <a:cs typeface="Calibri"/>
              </a:rPr>
              <a:t> </a:t>
            </a:r>
            <a:r>
              <a:rPr sz="1867" dirty="0">
                <a:solidFill>
                  <a:srgbClr val="FFFFFF"/>
                </a:solidFill>
                <a:latin typeface="Calibri"/>
                <a:cs typeface="Calibri"/>
              </a:rPr>
              <a:t>be</a:t>
            </a:r>
            <a:r>
              <a:rPr sz="1867" spc="-47" dirty="0">
                <a:solidFill>
                  <a:srgbClr val="FFFFFF"/>
                </a:solidFill>
                <a:latin typeface="Calibri"/>
                <a:cs typeface="Calibri"/>
              </a:rPr>
              <a:t> </a:t>
            </a:r>
            <a:r>
              <a:rPr sz="1867" dirty="0">
                <a:solidFill>
                  <a:srgbClr val="FFFFFF"/>
                </a:solidFill>
                <a:latin typeface="Calibri"/>
                <a:cs typeface="Calibri"/>
              </a:rPr>
              <a:t>further</a:t>
            </a:r>
            <a:r>
              <a:rPr sz="1867" spc="-33" dirty="0">
                <a:solidFill>
                  <a:srgbClr val="FFFFFF"/>
                </a:solidFill>
                <a:latin typeface="Calibri"/>
                <a:cs typeface="Calibri"/>
              </a:rPr>
              <a:t> </a:t>
            </a:r>
            <a:r>
              <a:rPr sz="1867" spc="-13" dirty="0">
                <a:solidFill>
                  <a:srgbClr val="FFFFFF"/>
                </a:solidFill>
                <a:latin typeface="Calibri"/>
                <a:cs typeface="Calibri"/>
              </a:rPr>
              <a:t>aggregated</a:t>
            </a:r>
            <a:endParaRPr sz="1867">
              <a:latin typeface="Calibri"/>
              <a:cs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7829" y="351866"/>
            <a:ext cx="6195562"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Data</a:t>
            </a:r>
            <a:r>
              <a:rPr spc="-33" dirty="0">
                <a:solidFill>
                  <a:schemeClr val="bg1"/>
                </a:solidFill>
                <a:latin typeface="+mn-lt"/>
              </a:rPr>
              <a:t> </a:t>
            </a:r>
            <a:r>
              <a:rPr dirty="0">
                <a:solidFill>
                  <a:schemeClr val="bg1"/>
                </a:solidFill>
                <a:latin typeface="+mn-lt"/>
              </a:rPr>
              <a:t>Warehouse</a:t>
            </a:r>
            <a:r>
              <a:rPr spc="-60" dirty="0">
                <a:solidFill>
                  <a:schemeClr val="bg1"/>
                </a:solidFill>
                <a:latin typeface="+mn-lt"/>
              </a:rPr>
              <a:t> </a:t>
            </a:r>
            <a:r>
              <a:rPr spc="-13" dirty="0">
                <a:solidFill>
                  <a:schemeClr val="bg1"/>
                </a:solidFill>
                <a:latin typeface="+mn-lt"/>
              </a:rPr>
              <a:t>Layers</a:t>
            </a:r>
          </a:p>
        </p:txBody>
      </p:sp>
      <p:sp>
        <p:nvSpPr>
          <p:cNvPr id="3" name="object 3"/>
          <p:cNvSpPr txBox="1"/>
          <p:nvPr/>
        </p:nvSpPr>
        <p:spPr>
          <a:xfrm>
            <a:off x="2921000" y="4893192"/>
            <a:ext cx="1876213" cy="1000082"/>
          </a:xfrm>
          <a:prstGeom prst="rect">
            <a:avLst/>
          </a:prstGeom>
        </p:spPr>
        <p:txBody>
          <a:bodyPr vert="horz" wrap="square" lIns="0" tIns="15240" rIns="0" bIns="0" rtlCol="0">
            <a:spAutoFit/>
          </a:bodyPr>
          <a:lstStyle/>
          <a:p>
            <a:pPr marL="16933" marR="6773" indent="579106">
              <a:lnSpc>
                <a:spcPct val="100299"/>
              </a:lnSpc>
              <a:spcBef>
                <a:spcPts val="120"/>
              </a:spcBef>
            </a:pPr>
            <a:r>
              <a:rPr sz="2133" dirty="0">
                <a:solidFill>
                  <a:srgbClr val="FFFFFF"/>
                </a:solidFill>
                <a:latin typeface="Calibri"/>
                <a:cs typeface="Calibri"/>
              </a:rPr>
              <a:t>Core</a:t>
            </a:r>
            <a:r>
              <a:rPr sz="2133" spc="-33" dirty="0">
                <a:solidFill>
                  <a:srgbClr val="FFFFFF"/>
                </a:solidFill>
                <a:latin typeface="Calibri"/>
                <a:cs typeface="Calibri"/>
              </a:rPr>
              <a:t> </a:t>
            </a:r>
            <a:r>
              <a:rPr sz="2133" spc="-67" dirty="0">
                <a:solidFill>
                  <a:srgbClr val="FFFFFF"/>
                </a:solidFill>
                <a:latin typeface="Calibri"/>
                <a:cs typeface="Calibri"/>
              </a:rPr>
              <a:t>/ </a:t>
            </a:r>
            <a:r>
              <a:rPr sz="2133" dirty="0">
                <a:solidFill>
                  <a:srgbClr val="FFFFFF"/>
                </a:solidFill>
                <a:latin typeface="Calibri"/>
                <a:cs typeface="Calibri"/>
              </a:rPr>
              <a:t>Access</a:t>
            </a:r>
            <a:r>
              <a:rPr sz="2133" spc="-60" dirty="0">
                <a:solidFill>
                  <a:srgbClr val="FFFFFF"/>
                </a:solidFill>
                <a:latin typeface="Calibri"/>
                <a:cs typeface="Calibri"/>
              </a:rPr>
              <a:t> </a:t>
            </a:r>
            <a:r>
              <a:rPr sz="2133" dirty="0">
                <a:solidFill>
                  <a:srgbClr val="FFFFFF"/>
                </a:solidFill>
                <a:latin typeface="Calibri"/>
                <a:cs typeface="Calibri"/>
              </a:rPr>
              <a:t>Layer</a:t>
            </a:r>
            <a:r>
              <a:rPr sz="2133" spc="-53" dirty="0">
                <a:solidFill>
                  <a:srgbClr val="FFFFFF"/>
                </a:solidFill>
                <a:latin typeface="Calibri"/>
                <a:cs typeface="Calibri"/>
              </a:rPr>
              <a:t> </a:t>
            </a:r>
            <a:r>
              <a:rPr sz="2133" spc="-67" dirty="0">
                <a:solidFill>
                  <a:srgbClr val="FFFFFF"/>
                </a:solidFill>
                <a:latin typeface="Calibri"/>
                <a:cs typeface="Calibri"/>
              </a:rPr>
              <a:t>/ </a:t>
            </a:r>
            <a:r>
              <a:rPr sz="2133" dirty="0">
                <a:solidFill>
                  <a:srgbClr val="FFFFFF"/>
                </a:solidFill>
                <a:latin typeface="Calibri"/>
                <a:cs typeface="Calibri"/>
              </a:rPr>
              <a:t>Data</a:t>
            </a:r>
            <a:r>
              <a:rPr sz="2133" spc="-53" dirty="0">
                <a:solidFill>
                  <a:srgbClr val="FFFFFF"/>
                </a:solidFill>
                <a:latin typeface="Calibri"/>
                <a:cs typeface="Calibri"/>
              </a:rPr>
              <a:t> </a:t>
            </a:r>
            <a:r>
              <a:rPr sz="2133" spc="-13" dirty="0">
                <a:solidFill>
                  <a:srgbClr val="FFFFFF"/>
                </a:solidFill>
                <a:latin typeface="Calibri"/>
                <a:cs typeface="Calibri"/>
              </a:rPr>
              <a:t>Warehouse</a:t>
            </a:r>
            <a:endParaRPr sz="2133">
              <a:latin typeface="Calibri"/>
              <a:cs typeface="Calibri"/>
            </a:endParaRPr>
          </a:p>
        </p:txBody>
      </p:sp>
      <p:graphicFrame>
        <p:nvGraphicFramePr>
          <p:cNvPr id="4" name="object 4"/>
          <p:cNvGraphicFramePr>
            <a:graphicFrameLocks noGrp="1"/>
          </p:cNvGraphicFramePr>
          <p:nvPr/>
        </p:nvGraphicFramePr>
        <p:xfrm>
          <a:off x="3483515" y="2545865"/>
          <a:ext cx="696805" cy="960965"/>
        </p:xfrm>
        <a:graphic>
          <a:graphicData uri="http://schemas.openxmlformats.org/drawingml/2006/table">
            <a:tbl>
              <a:tblPr firstRow="1" bandRow="1">
                <a:tableStyleId>{2D5ABB26-0587-4C30-8999-92F81FD0307C}</a:tableStyleId>
              </a:tblPr>
              <a:tblGrid>
                <a:gridCol w="235373">
                  <a:extLst>
                    <a:ext uri="{9D8B030D-6E8A-4147-A177-3AD203B41FA5}">
                      <a16:colId xmlns:a16="http://schemas.microsoft.com/office/drawing/2014/main" val="20000"/>
                    </a:ext>
                  </a:extLst>
                </a:gridCol>
                <a:gridCol w="226060">
                  <a:extLst>
                    <a:ext uri="{9D8B030D-6E8A-4147-A177-3AD203B41FA5}">
                      <a16:colId xmlns:a16="http://schemas.microsoft.com/office/drawing/2014/main" val="20001"/>
                    </a:ext>
                  </a:extLst>
                </a:gridCol>
                <a:gridCol w="235372">
                  <a:extLst>
                    <a:ext uri="{9D8B030D-6E8A-4147-A177-3AD203B41FA5}">
                      <a16:colId xmlns:a16="http://schemas.microsoft.com/office/drawing/2014/main" val="20002"/>
                    </a:ext>
                  </a:extLst>
                </a:gridCol>
              </a:tblGrid>
              <a:tr h="160019">
                <a:tc>
                  <a:txBody>
                    <a:bodyPr/>
                    <a:lstStyle/>
                    <a:p>
                      <a:pPr>
                        <a:lnSpc>
                          <a:spcPct val="100000"/>
                        </a:lnSpc>
                      </a:pPr>
                      <a:endParaRPr sz="800">
                        <a:latin typeface="Times New Roman"/>
                        <a:cs typeface="Times New Roman"/>
                      </a:endParaRPr>
                    </a:p>
                  </a:txBody>
                  <a:tcPr marL="0" marR="0" marT="0" marB="0">
                    <a:lnL w="57150">
                      <a:solidFill>
                        <a:srgbClr val="BCBCBC"/>
                      </a:solidFill>
                      <a:prstDash val="solid"/>
                    </a:lnL>
                    <a:lnR w="28575">
                      <a:solidFill>
                        <a:srgbClr val="BCBCBC"/>
                      </a:solidFill>
                      <a:prstDash val="solid"/>
                    </a:lnR>
                    <a:lnT w="57150">
                      <a:solidFill>
                        <a:srgbClr val="BCBCBC"/>
                      </a:solidFill>
                      <a:prstDash val="solid"/>
                    </a:lnT>
                    <a:lnB w="28575">
                      <a:solidFill>
                        <a:srgbClr val="BCBCBC"/>
                      </a:solidFill>
                      <a:prstDash val="solid"/>
                    </a:lnB>
                  </a:tcPr>
                </a:tc>
                <a:tc>
                  <a:txBody>
                    <a:bodyPr/>
                    <a:lstStyle/>
                    <a:p>
                      <a:pPr>
                        <a:lnSpc>
                          <a:spcPct val="100000"/>
                        </a:lnSpc>
                      </a:pPr>
                      <a:endParaRPr sz="800">
                        <a:latin typeface="Times New Roman"/>
                        <a:cs typeface="Times New Roman"/>
                      </a:endParaRPr>
                    </a:p>
                  </a:txBody>
                  <a:tcPr marL="0" marR="0" marT="0" marB="0">
                    <a:lnL w="28575">
                      <a:solidFill>
                        <a:srgbClr val="BCBCBC"/>
                      </a:solidFill>
                      <a:prstDash val="solid"/>
                    </a:lnL>
                    <a:lnR w="28575">
                      <a:solidFill>
                        <a:srgbClr val="BCBCBC"/>
                      </a:solidFill>
                      <a:prstDash val="solid"/>
                    </a:lnR>
                    <a:lnT w="57150">
                      <a:solidFill>
                        <a:srgbClr val="BCBCBC"/>
                      </a:solidFill>
                      <a:prstDash val="solid"/>
                    </a:lnT>
                    <a:lnB w="28575">
                      <a:solidFill>
                        <a:srgbClr val="BCBCBC"/>
                      </a:solidFill>
                      <a:prstDash val="solid"/>
                    </a:lnB>
                  </a:tcPr>
                </a:tc>
                <a:tc>
                  <a:txBody>
                    <a:bodyPr/>
                    <a:lstStyle/>
                    <a:p>
                      <a:pPr>
                        <a:lnSpc>
                          <a:spcPct val="100000"/>
                        </a:lnSpc>
                      </a:pPr>
                      <a:endParaRPr sz="800">
                        <a:latin typeface="Times New Roman"/>
                        <a:cs typeface="Times New Roman"/>
                      </a:endParaRPr>
                    </a:p>
                  </a:txBody>
                  <a:tcPr marL="0" marR="0" marT="0" marB="0">
                    <a:lnL w="28575">
                      <a:solidFill>
                        <a:srgbClr val="BCBCBC"/>
                      </a:solidFill>
                      <a:prstDash val="solid"/>
                    </a:lnL>
                    <a:lnR w="57150">
                      <a:solidFill>
                        <a:srgbClr val="BCBCBC"/>
                      </a:solidFill>
                      <a:prstDash val="solid"/>
                    </a:lnR>
                    <a:lnT w="57150">
                      <a:solidFill>
                        <a:srgbClr val="BCBCBC"/>
                      </a:solidFill>
                      <a:prstDash val="solid"/>
                    </a:lnT>
                    <a:lnB w="28575">
                      <a:solidFill>
                        <a:srgbClr val="BCBCBC"/>
                      </a:solidFill>
                      <a:prstDash val="solid"/>
                    </a:lnB>
                  </a:tcPr>
                </a:tc>
                <a:extLst>
                  <a:ext uri="{0D108BD9-81ED-4DB2-BD59-A6C34878D82A}">
                    <a16:rowId xmlns:a16="http://schemas.microsoft.com/office/drawing/2014/main" val="10000"/>
                  </a:ext>
                </a:extLst>
              </a:tr>
              <a:tr h="150707">
                <a:tc>
                  <a:txBody>
                    <a:bodyPr/>
                    <a:lstStyle/>
                    <a:p>
                      <a:pPr>
                        <a:lnSpc>
                          <a:spcPct val="100000"/>
                        </a:lnSpc>
                      </a:pPr>
                      <a:endParaRPr sz="800">
                        <a:latin typeface="Times New Roman"/>
                        <a:cs typeface="Times New Roman"/>
                      </a:endParaRPr>
                    </a:p>
                  </a:txBody>
                  <a:tcPr marL="0" marR="0" marT="0" marB="0">
                    <a:lnL w="57150">
                      <a:solidFill>
                        <a:srgbClr val="BCBCBC"/>
                      </a:solidFill>
                      <a:prstDash val="solid"/>
                    </a:lnL>
                    <a:lnR w="28575">
                      <a:solidFill>
                        <a:srgbClr val="BCBCBC"/>
                      </a:solidFill>
                      <a:prstDash val="solid"/>
                    </a:lnR>
                    <a:lnT w="28575">
                      <a:solidFill>
                        <a:srgbClr val="BCBCBC"/>
                      </a:solidFill>
                      <a:prstDash val="solid"/>
                    </a:lnT>
                    <a:lnB w="28575">
                      <a:solidFill>
                        <a:srgbClr val="BCBCBC"/>
                      </a:solidFill>
                      <a:prstDash val="solid"/>
                    </a:lnB>
                  </a:tcPr>
                </a:tc>
                <a:tc>
                  <a:txBody>
                    <a:bodyPr/>
                    <a:lstStyle/>
                    <a:p>
                      <a:pPr>
                        <a:lnSpc>
                          <a:spcPct val="100000"/>
                        </a:lnSpc>
                      </a:pPr>
                      <a:endParaRPr sz="800">
                        <a:latin typeface="Times New Roman"/>
                        <a:cs typeface="Times New Roman"/>
                      </a:endParaRPr>
                    </a:p>
                  </a:txBody>
                  <a:tcPr marL="0" marR="0" marT="0" marB="0">
                    <a:lnL w="28575">
                      <a:solidFill>
                        <a:srgbClr val="BCBCBC"/>
                      </a:solidFill>
                      <a:prstDash val="solid"/>
                    </a:lnL>
                    <a:lnR w="28575">
                      <a:solidFill>
                        <a:srgbClr val="BCBCBC"/>
                      </a:solidFill>
                      <a:prstDash val="solid"/>
                    </a:lnR>
                    <a:lnT w="28575">
                      <a:solidFill>
                        <a:srgbClr val="BCBCBC"/>
                      </a:solidFill>
                      <a:prstDash val="solid"/>
                    </a:lnT>
                    <a:lnB w="28575">
                      <a:solidFill>
                        <a:srgbClr val="BCBCBC"/>
                      </a:solidFill>
                      <a:prstDash val="solid"/>
                    </a:lnB>
                  </a:tcPr>
                </a:tc>
                <a:tc>
                  <a:txBody>
                    <a:bodyPr/>
                    <a:lstStyle/>
                    <a:p>
                      <a:pPr>
                        <a:lnSpc>
                          <a:spcPct val="100000"/>
                        </a:lnSpc>
                      </a:pPr>
                      <a:endParaRPr sz="800">
                        <a:latin typeface="Times New Roman"/>
                        <a:cs typeface="Times New Roman"/>
                      </a:endParaRPr>
                    </a:p>
                  </a:txBody>
                  <a:tcPr marL="0" marR="0" marT="0" marB="0">
                    <a:lnL w="28575">
                      <a:solidFill>
                        <a:srgbClr val="BCBCBC"/>
                      </a:solidFill>
                      <a:prstDash val="solid"/>
                    </a:lnL>
                    <a:lnR w="57150">
                      <a:solidFill>
                        <a:srgbClr val="BCBCBC"/>
                      </a:solidFill>
                      <a:prstDash val="solid"/>
                    </a:lnR>
                    <a:lnT w="28575">
                      <a:solidFill>
                        <a:srgbClr val="BCBCBC"/>
                      </a:solidFill>
                      <a:prstDash val="solid"/>
                    </a:lnT>
                    <a:lnB w="28575">
                      <a:solidFill>
                        <a:srgbClr val="BCBCBC"/>
                      </a:solidFill>
                      <a:prstDash val="solid"/>
                    </a:lnB>
                  </a:tcPr>
                </a:tc>
                <a:extLst>
                  <a:ext uri="{0D108BD9-81ED-4DB2-BD59-A6C34878D82A}">
                    <a16:rowId xmlns:a16="http://schemas.microsoft.com/office/drawing/2014/main" val="10001"/>
                  </a:ext>
                </a:extLst>
              </a:tr>
              <a:tr h="170180">
                <a:tc>
                  <a:txBody>
                    <a:bodyPr/>
                    <a:lstStyle/>
                    <a:p>
                      <a:pPr>
                        <a:lnSpc>
                          <a:spcPct val="100000"/>
                        </a:lnSpc>
                      </a:pPr>
                      <a:endParaRPr sz="900">
                        <a:latin typeface="Times New Roman"/>
                        <a:cs typeface="Times New Roman"/>
                      </a:endParaRPr>
                    </a:p>
                  </a:txBody>
                  <a:tcPr marL="0" marR="0" marT="0" marB="0">
                    <a:lnL w="57150">
                      <a:solidFill>
                        <a:srgbClr val="BCBCBC"/>
                      </a:solidFill>
                      <a:prstDash val="solid"/>
                    </a:lnL>
                    <a:lnR w="28575">
                      <a:solidFill>
                        <a:srgbClr val="BCBCBC"/>
                      </a:solidFill>
                      <a:prstDash val="solid"/>
                    </a:lnR>
                    <a:lnT w="28575">
                      <a:solidFill>
                        <a:srgbClr val="BCBCBC"/>
                      </a:solidFill>
                      <a:prstDash val="solid"/>
                    </a:lnT>
                    <a:lnB w="7620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28575">
                      <a:solidFill>
                        <a:srgbClr val="BCBCBC"/>
                      </a:solidFill>
                      <a:prstDash val="solid"/>
                    </a:lnL>
                    <a:lnR w="28575">
                      <a:solidFill>
                        <a:srgbClr val="BCBCBC"/>
                      </a:solidFill>
                      <a:prstDash val="solid"/>
                    </a:lnR>
                    <a:lnT w="28575">
                      <a:solidFill>
                        <a:srgbClr val="BCBCBC"/>
                      </a:solidFill>
                      <a:prstDash val="solid"/>
                    </a:lnT>
                    <a:lnB w="76200">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28575">
                      <a:solidFill>
                        <a:srgbClr val="BCBCBC"/>
                      </a:solidFill>
                      <a:prstDash val="solid"/>
                    </a:lnL>
                    <a:lnR w="57150">
                      <a:solidFill>
                        <a:srgbClr val="BCBCBC"/>
                      </a:solidFill>
                      <a:prstDash val="solid"/>
                    </a:lnR>
                    <a:lnT w="28575">
                      <a:solidFill>
                        <a:srgbClr val="BCBCBC"/>
                      </a:solidFill>
                      <a:prstDash val="solid"/>
                    </a:lnT>
                    <a:lnB w="76200">
                      <a:solidFill>
                        <a:srgbClr val="BCBCBC"/>
                      </a:solidFill>
                      <a:prstDash val="solid"/>
                    </a:lnB>
                  </a:tcPr>
                </a:tc>
                <a:extLst>
                  <a:ext uri="{0D108BD9-81ED-4DB2-BD59-A6C34878D82A}">
                    <a16:rowId xmlns:a16="http://schemas.microsoft.com/office/drawing/2014/main" val="10002"/>
                  </a:ext>
                </a:extLst>
              </a:tr>
              <a:tr h="170180">
                <a:tc>
                  <a:txBody>
                    <a:bodyPr/>
                    <a:lstStyle/>
                    <a:p>
                      <a:pPr>
                        <a:lnSpc>
                          <a:spcPct val="100000"/>
                        </a:lnSpc>
                      </a:pPr>
                      <a:endParaRPr sz="900">
                        <a:latin typeface="Times New Roman"/>
                        <a:cs typeface="Times New Roman"/>
                      </a:endParaRPr>
                    </a:p>
                  </a:txBody>
                  <a:tcPr marL="0" marR="0" marT="0" marB="0">
                    <a:lnL w="57150">
                      <a:solidFill>
                        <a:srgbClr val="BCBCBC"/>
                      </a:solidFill>
                      <a:prstDash val="solid"/>
                    </a:lnL>
                    <a:lnR w="28575">
                      <a:solidFill>
                        <a:srgbClr val="BCBCBC"/>
                      </a:solidFill>
                      <a:prstDash val="solid"/>
                    </a:lnR>
                    <a:lnT w="76200">
                      <a:solidFill>
                        <a:srgbClr val="BCBCBC"/>
                      </a:solidFill>
                      <a:prstDash val="solid"/>
                    </a:lnT>
                    <a:lnB w="28575">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28575">
                      <a:solidFill>
                        <a:srgbClr val="BCBCBC"/>
                      </a:solidFill>
                      <a:prstDash val="solid"/>
                    </a:lnL>
                    <a:lnR w="28575">
                      <a:solidFill>
                        <a:srgbClr val="BCBCBC"/>
                      </a:solidFill>
                      <a:prstDash val="solid"/>
                    </a:lnR>
                    <a:lnT w="76200">
                      <a:solidFill>
                        <a:srgbClr val="BCBCBC"/>
                      </a:solidFill>
                      <a:prstDash val="solid"/>
                    </a:lnT>
                    <a:lnB w="28575">
                      <a:solidFill>
                        <a:srgbClr val="BCBCBC"/>
                      </a:solidFill>
                      <a:prstDash val="solid"/>
                    </a:lnB>
                  </a:tcPr>
                </a:tc>
                <a:tc>
                  <a:txBody>
                    <a:bodyPr/>
                    <a:lstStyle/>
                    <a:p>
                      <a:pPr>
                        <a:lnSpc>
                          <a:spcPct val="100000"/>
                        </a:lnSpc>
                      </a:pPr>
                      <a:endParaRPr sz="900">
                        <a:latin typeface="Times New Roman"/>
                        <a:cs typeface="Times New Roman"/>
                      </a:endParaRPr>
                    </a:p>
                  </a:txBody>
                  <a:tcPr marL="0" marR="0" marT="0" marB="0">
                    <a:lnL w="28575">
                      <a:solidFill>
                        <a:srgbClr val="BCBCBC"/>
                      </a:solidFill>
                      <a:prstDash val="solid"/>
                    </a:lnL>
                    <a:lnR w="57150">
                      <a:solidFill>
                        <a:srgbClr val="BCBCBC"/>
                      </a:solidFill>
                      <a:prstDash val="solid"/>
                    </a:lnR>
                    <a:lnT w="76200">
                      <a:solidFill>
                        <a:srgbClr val="BCBCBC"/>
                      </a:solidFill>
                      <a:prstDash val="solid"/>
                    </a:lnT>
                    <a:lnB w="28575">
                      <a:solidFill>
                        <a:srgbClr val="BCBCBC"/>
                      </a:solidFill>
                      <a:prstDash val="solid"/>
                    </a:lnB>
                  </a:tcPr>
                </a:tc>
                <a:extLst>
                  <a:ext uri="{0D108BD9-81ED-4DB2-BD59-A6C34878D82A}">
                    <a16:rowId xmlns:a16="http://schemas.microsoft.com/office/drawing/2014/main" val="10003"/>
                  </a:ext>
                </a:extLst>
              </a:tr>
              <a:tr h="149860">
                <a:tc>
                  <a:txBody>
                    <a:bodyPr/>
                    <a:lstStyle/>
                    <a:p>
                      <a:pPr>
                        <a:lnSpc>
                          <a:spcPct val="100000"/>
                        </a:lnSpc>
                      </a:pPr>
                      <a:endParaRPr sz="700">
                        <a:latin typeface="Times New Roman"/>
                        <a:cs typeface="Times New Roman"/>
                      </a:endParaRPr>
                    </a:p>
                  </a:txBody>
                  <a:tcPr marL="0" marR="0" marT="0" marB="0">
                    <a:lnL w="57150">
                      <a:solidFill>
                        <a:srgbClr val="BCBCBC"/>
                      </a:solidFill>
                      <a:prstDash val="solid"/>
                    </a:lnL>
                    <a:lnR w="28575">
                      <a:solidFill>
                        <a:srgbClr val="BCBCBC"/>
                      </a:solidFill>
                      <a:prstDash val="solid"/>
                    </a:lnR>
                    <a:lnT w="28575">
                      <a:solidFill>
                        <a:srgbClr val="BCBCBC"/>
                      </a:solidFill>
                      <a:prstDash val="solid"/>
                    </a:lnT>
                    <a:lnB w="38100">
                      <a:solidFill>
                        <a:srgbClr val="BCBCBC"/>
                      </a:solidFill>
                      <a:prstDash val="solid"/>
                    </a:lnB>
                  </a:tcPr>
                </a:tc>
                <a:tc>
                  <a:txBody>
                    <a:bodyPr/>
                    <a:lstStyle/>
                    <a:p>
                      <a:pPr>
                        <a:lnSpc>
                          <a:spcPct val="100000"/>
                        </a:lnSpc>
                      </a:pPr>
                      <a:endParaRPr sz="700">
                        <a:latin typeface="Times New Roman"/>
                        <a:cs typeface="Times New Roman"/>
                      </a:endParaRPr>
                    </a:p>
                  </a:txBody>
                  <a:tcPr marL="0" marR="0" marT="0" marB="0">
                    <a:lnL w="28575">
                      <a:solidFill>
                        <a:srgbClr val="BCBCBC"/>
                      </a:solidFill>
                      <a:prstDash val="solid"/>
                    </a:lnL>
                    <a:lnR w="28575">
                      <a:solidFill>
                        <a:srgbClr val="BCBCBC"/>
                      </a:solidFill>
                      <a:prstDash val="solid"/>
                    </a:lnR>
                    <a:lnT w="28575">
                      <a:solidFill>
                        <a:srgbClr val="BCBCBC"/>
                      </a:solidFill>
                      <a:prstDash val="solid"/>
                    </a:lnT>
                    <a:lnB w="38100">
                      <a:solidFill>
                        <a:srgbClr val="BCBCBC"/>
                      </a:solidFill>
                      <a:prstDash val="solid"/>
                    </a:lnB>
                  </a:tcPr>
                </a:tc>
                <a:tc>
                  <a:txBody>
                    <a:bodyPr/>
                    <a:lstStyle/>
                    <a:p>
                      <a:pPr>
                        <a:lnSpc>
                          <a:spcPct val="100000"/>
                        </a:lnSpc>
                      </a:pPr>
                      <a:endParaRPr sz="700">
                        <a:latin typeface="Times New Roman"/>
                        <a:cs typeface="Times New Roman"/>
                      </a:endParaRPr>
                    </a:p>
                  </a:txBody>
                  <a:tcPr marL="0" marR="0" marT="0" marB="0">
                    <a:lnL w="28575">
                      <a:solidFill>
                        <a:srgbClr val="BCBCBC"/>
                      </a:solidFill>
                      <a:prstDash val="solid"/>
                    </a:lnL>
                    <a:lnR w="57150">
                      <a:solidFill>
                        <a:srgbClr val="BCBCBC"/>
                      </a:solidFill>
                      <a:prstDash val="solid"/>
                    </a:lnR>
                    <a:lnT w="28575">
                      <a:solidFill>
                        <a:srgbClr val="BCBCBC"/>
                      </a:solidFill>
                      <a:prstDash val="solid"/>
                    </a:lnT>
                    <a:lnB w="38100">
                      <a:solidFill>
                        <a:srgbClr val="BCBCBC"/>
                      </a:solidFill>
                      <a:prstDash val="solid"/>
                    </a:lnB>
                  </a:tcPr>
                </a:tc>
                <a:extLst>
                  <a:ext uri="{0D108BD9-81ED-4DB2-BD59-A6C34878D82A}">
                    <a16:rowId xmlns:a16="http://schemas.microsoft.com/office/drawing/2014/main" val="10004"/>
                  </a:ext>
                </a:extLst>
              </a:tr>
              <a:tr h="160019">
                <a:tc>
                  <a:txBody>
                    <a:bodyPr/>
                    <a:lstStyle/>
                    <a:p>
                      <a:pPr>
                        <a:lnSpc>
                          <a:spcPct val="100000"/>
                        </a:lnSpc>
                      </a:pPr>
                      <a:endParaRPr sz="800">
                        <a:latin typeface="Times New Roman"/>
                        <a:cs typeface="Times New Roman"/>
                      </a:endParaRPr>
                    </a:p>
                  </a:txBody>
                  <a:tcPr marL="0" marR="0" marT="0" marB="0">
                    <a:lnL w="57150">
                      <a:solidFill>
                        <a:srgbClr val="BCBCBC"/>
                      </a:solidFill>
                      <a:prstDash val="solid"/>
                    </a:lnL>
                    <a:lnR w="28575">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800">
                        <a:latin typeface="Times New Roman"/>
                        <a:cs typeface="Times New Roman"/>
                      </a:endParaRPr>
                    </a:p>
                  </a:txBody>
                  <a:tcPr marL="0" marR="0" marT="0" marB="0">
                    <a:lnL w="28575">
                      <a:solidFill>
                        <a:srgbClr val="BCBCBC"/>
                      </a:solidFill>
                      <a:prstDash val="solid"/>
                    </a:lnL>
                    <a:lnR w="28575">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800">
                        <a:latin typeface="Times New Roman"/>
                        <a:cs typeface="Times New Roman"/>
                      </a:endParaRPr>
                    </a:p>
                  </a:txBody>
                  <a:tcPr marL="0" marR="0" marT="0" marB="0">
                    <a:lnL w="28575">
                      <a:solidFill>
                        <a:srgbClr val="BCBCBC"/>
                      </a:solidFill>
                      <a:prstDash val="solid"/>
                    </a:lnL>
                    <a:lnR w="57150">
                      <a:solidFill>
                        <a:srgbClr val="BCBCBC"/>
                      </a:solidFill>
                      <a:prstDash val="solid"/>
                    </a:lnR>
                    <a:lnT w="38100">
                      <a:solidFill>
                        <a:srgbClr val="BCBCBC"/>
                      </a:solidFill>
                      <a:prstDash val="solid"/>
                    </a:lnT>
                    <a:lnB w="57150">
                      <a:solidFill>
                        <a:srgbClr val="BCBCBC"/>
                      </a:solidFill>
                      <a:prstDash val="solid"/>
                    </a:lnB>
                  </a:tcPr>
                </a:tc>
                <a:extLst>
                  <a:ext uri="{0D108BD9-81ED-4DB2-BD59-A6C34878D82A}">
                    <a16:rowId xmlns:a16="http://schemas.microsoft.com/office/drawing/2014/main" val="10005"/>
                  </a:ext>
                </a:extLst>
              </a:tr>
            </a:tbl>
          </a:graphicData>
        </a:graphic>
      </p:graphicFrame>
      <p:pic>
        <p:nvPicPr>
          <p:cNvPr id="5" name="object 5"/>
          <p:cNvPicPr/>
          <p:nvPr/>
        </p:nvPicPr>
        <p:blipFill>
          <a:blip r:embed="rId2" cstate="print"/>
          <a:stretch>
            <a:fillRect/>
          </a:stretch>
        </p:blipFill>
        <p:spPr>
          <a:xfrm>
            <a:off x="7756144" y="2653793"/>
            <a:ext cx="617728" cy="617727"/>
          </a:xfrm>
          <a:prstGeom prst="rect">
            <a:avLst/>
          </a:prstGeom>
        </p:spPr>
      </p:pic>
      <p:grpSp>
        <p:nvGrpSpPr>
          <p:cNvPr id="6" name="object 6"/>
          <p:cNvGrpSpPr/>
          <p:nvPr/>
        </p:nvGrpSpPr>
        <p:grpSpPr>
          <a:xfrm>
            <a:off x="2836672" y="1946655"/>
            <a:ext cx="2292773" cy="2959100"/>
            <a:chOff x="2127504" y="1459991"/>
            <a:chExt cx="1719580" cy="2219325"/>
          </a:xfrm>
        </p:grpSpPr>
        <p:sp>
          <p:nvSpPr>
            <p:cNvPr id="7" name="object 7"/>
            <p:cNvSpPr/>
            <p:nvPr/>
          </p:nvSpPr>
          <p:spPr>
            <a:xfrm>
              <a:off x="2132076" y="1464563"/>
              <a:ext cx="1524000" cy="2209800"/>
            </a:xfrm>
            <a:custGeom>
              <a:avLst/>
              <a:gdLst/>
              <a:ahLst/>
              <a:cxnLst/>
              <a:rect l="l" t="t" r="r" b="b"/>
              <a:pathLst>
                <a:path w="1524000" h="2209800">
                  <a:moveTo>
                    <a:pt x="0" y="254000"/>
                  </a:moveTo>
                  <a:lnTo>
                    <a:pt x="4090" y="208328"/>
                  </a:lnTo>
                  <a:lnTo>
                    <a:pt x="15884" y="165349"/>
                  </a:lnTo>
                  <a:lnTo>
                    <a:pt x="34666" y="125777"/>
                  </a:lnTo>
                  <a:lnTo>
                    <a:pt x="59719" y="90328"/>
                  </a:lnTo>
                  <a:lnTo>
                    <a:pt x="90328" y="59719"/>
                  </a:lnTo>
                  <a:lnTo>
                    <a:pt x="125777" y="34666"/>
                  </a:lnTo>
                  <a:lnTo>
                    <a:pt x="165349" y="15884"/>
                  </a:lnTo>
                  <a:lnTo>
                    <a:pt x="208328" y="4090"/>
                  </a:lnTo>
                  <a:lnTo>
                    <a:pt x="254000" y="0"/>
                  </a:lnTo>
                  <a:lnTo>
                    <a:pt x="1270000" y="0"/>
                  </a:lnTo>
                  <a:lnTo>
                    <a:pt x="1315671" y="4090"/>
                  </a:lnTo>
                  <a:lnTo>
                    <a:pt x="1358650" y="15884"/>
                  </a:lnTo>
                  <a:lnTo>
                    <a:pt x="1398222" y="34666"/>
                  </a:lnTo>
                  <a:lnTo>
                    <a:pt x="1433671" y="59719"/>
                  </a:lnTo>
                  <a:lnTo>
                    <a:pt x="1464280" y="90328"/>
                  </a:lnTo>
                  <a:lnTo>
                    <a:pt x="1489333" y="125777"/>
                  </a:lnTo>
                  <a:lnTo>
                    <a:pt x="1508115" y="165349"/>
                  </a:lnTo>
                  <a:lnTo>
                    <a:pt x="1519909" y="208328"/>
                  </a:lnTo>
                  <a:lnTo>
                    <a:pt x="1524000" y="254000"/>
                  </a:lnTo>
                  <a:lnTo>
                    <a:pt x="1524000" y="1955800"/>
                  </a:lnTo>
                  <a:lnTo>
                    <a:pt x="1519909" y="2001471"/>
                  </a:lnTo>
                  <a:lnTo>
                    <a:pt x="1508115" y="2044450"/>
                  </a:lnTo>
                  <a:lnTo>
                    <a:pt x="1489333" y="2084022"/>
                  </a:lnTo>
                  <a:lnTo>
                    <a:pt x="1464280" y="2119471"/>
                  </a:lnTo>
                  <a:lnTo>
                    <a:pt x="1433671" y="2150080"/>
                  </a:lnTo>
                  <a:lnTo>
                    <a:pt x="1398222" y="2175133"/>
                  </a:lnTo>
                  <a:lnTo>
                    <a:pt x="1358650" y="2193915"/>
                  </a:lnTo>
                  <a:lnTo>
                    <a:pt x="1315671" y="2205709"/>
                  </a:lnTo>
                  <a:lnTo>
                    <a:pt x="1270000" y="2209800"/>
                  </a:lnTo>
                  <a:lnTo>
                    <a:pt x="254000" y="2209800"/>
                  </a:lnTo>
                  <a:lnTo>
                    <a:pt x="208328" y="2205709"/>
                  </a:lnTo>
                  <a:lnTo>
                    <a:pt x="165349" y="2193915"/>
                  </a:lnTo>
                  <a:lnTo>
                    <a:pt x="125777" y="2175133"/>
                  </a:lnTo>
                  <a:lnTo>
                    <a:pt x="90328" y="2150080"/>
                  </a:lnTo>
                  <a:lnTo>
                    <a:pt x="59719" y="2119471"/>
                  </a:lnTo>
                  <a:lnTo>
                    <a:pt x="34666" y="2084022"/>
                  </a:lnTo>
                  <a:lnTo>
                    <a:pt x="15884" y="2044450"/>
                  </a:lnTo>
                  <a:lnTo>
                    <a:pt x="4090" y="2001471"/>
                  </a:lnTo>
                  <a:lnTo>
                    <a:pt x="0" y="1955800"/>
                  </a:lnTo>
                  <a:lnTo>
                    <a:pt x="0" y="254000"/>
                  </a:lnTo>
                  <a:close/>
                </a:path>
              </a:pathLst>
            </a:custGeom>
            <a:ln w="9144">
              <a:solidFill>
                <a:srgbClr val="00C3FF"/>
              </a:solidFill>
            </a:ln>
          </p:spPr>
          <p:txBody>
            <a:bodyPr wrap="square" lIns="0" tIns="0" rIns="0" bIns="0" rtlCol="0"/>
            <a:lstStyle/>
            <a:p>
              <a:endParaRPr sz="2400"/>
            </a:p>
          </p:txBody>
        </p:sp>
        <p:sp>
          <p:nvSpPr>
            <p:cNvPr id="8" name="object 8"/>
            <p:cNvSpPr/>
            <p:nvPr/>
          </p:nvSpPr>
          <p:spPr>
            <a:xfrm>
              <a:off x="2628011" y="2863367"/>
              <a:ext cx="566420" cy="398145"/>
            </a:xfrm>
            <a:custGeom>
              <a:avLst/>
              <a:gdLst/>
              <a:ahLst/>
              <a:cxnLst/>
              <a:rect l="l" t="t" r="r" b="b"/>
              <a:pathLst>
                <a:path w="566419" h="398145">
                  <a:moveTo>
                    <a:pt x="212267" y="156387"/>
                  </a:moveTo>
                  <a:lnTo>
                    <a:pt x="183959" y="156387"/>
                  </a:lnTo>
                  <a:lnTo>
                    <a:pt x="183959" y="241363"/>
                  </a:lnTo>
                  <a:lnTo>
                    <a:pt x="212267" y="241363"/>
                  </a:lnTo>
                  <a:lnTo>
                    <a:pt x="212267" y="156387"/>
                  </a:lnTo>
                  <a:close/>
                </a:path>
                <a:path w="566419" h="398145">
                  <a:moveTo>
                    <a:pt x="382079" y="156387"/>
                  </a:moveTo>
                  <a:lnTo>
                    <a:pt x="353771" y="156387"/>
                  </a:lnTo>
                  <a:lnTo>
                    <a:pt x="353771" y="241363"/>
                  </a:lnTo>
                  <a:lnTo>
                    <a:pt x="382079" y="241363"/>
                  </a:lnTo>
                  <a:lnTo>
                    <a:pt x="382079" y="156387"/>
                  </a:lnTo>
                  <a:close/>
                </a:path>
                <a:path w="566419" h="398145">
                  <a:moveTo>
                    <a:pt x="566051" y="156387"/>
                  </a:moveTo>
                  <a:lnTo>
                    <a:pt x="523582" y="156387"/>
                  </a:lnTo>
                  <a:lnTo>
                    <a:pt x="523582" y="241363"/>
                  </a:lnTo>
                  <a:lnTo>
                    <a:pt x="566051" y="241363"/>
                  </a:lnTo>
                  <a:lnTo>
                    <a:pt x="566051" y="156387"/>
                  </a:lnTo>
                  <a:close/>
                </a:path>
                <a:path w="566419" h="398145">
                  <a:moveTo>
                    <a:pt x="566051" y="0"/>
                  </a:moveTo>
                  <a:lnTo>
                    <a:pt x="0" y="0"/>
                  </a:lnTo>
                  <a:lnTo>
                    <a:pt x="0" y="43205"/>
                  </a:lnTo>
                  <a:lnTo>
                    <a:pt x="0" y="128333"/>
                  </a:lnTo>
                  <a:lnTo>
                    <a:pt x="0" y="397687"/>
                  </a:lnTo>
                  <a:lnTo>
                    <a:pt x="566051" y="397687"/>
                  </a:lnTo>
                  <a:lnTo>
                    <a:pt x="566051" y="354672"/>
                  </a:lnTo>
                  <a:lnTo>
                    <a:pt x="566051" y="354482"/>
                  </a:lnTo>
                  <a:lnTo>
                    <a:pt x="566051" y="269684"/>
                  </a:lnTo>
                  <a:lnTo>
                    <a:pt x="523582" y="269684"/>
                  </a:lnTo>
                  <a:lnTo>
                    <a:pt x="523582" y="354482"/>
                  </a:lnTo>
                  <a:lnTo>
                    <a:pt x="382079" y="354482"/>
                  </a:lnTo>
                  <a:lnTo>
                    <a:pt x="382079" y="269684"/>
                  </a:lnTo>
                  <a:lnTo>
                    <a:pt x="353771" y="269684"/>
                  </a:lnTo>
                  <a:lnTo>
                    <a:pt x="353771" y="354482"/>
                  </a:lnTo>
                  <a:lnTo>
                    <a:pt x="212267" y="354482"/>
                  </a:lnTo>
                  <a:lnTo>
                    <a:pt x="212267" y="269684"/>
                  </a:lnTo>
                  <a:lnTo>
                    <a:pt x="183959" y="269684"/>
                  </a:lnTo>
                  <a:lnTo>
                    <a:pt x="183959" y="354482"/>
                  </a:lnTo>
                  <a:lnTo>
                    <a:pt x="42456" y="354482"/>
                  </a:lnTo>
                  <a:lnTo>
                    <a:pt x="42456" y="269354"/>
                  </a:lnTo>
                  <a:lnTo>
                    <a:pt x="566051" y="269354"/>
                  </a:lnTo>
                  <a:lnTo>
                    <a:pt x="566051" y="241401"/>
                  </a:lnTo>
                  <a:lnTo>
                    <a:pt x="42456" y="241401"/>
                  </a:lnTo>
                  <a:lnTo>
                    <a:pt x="42456" y="156286"/>
                  </a:lnTo>
                  <a:lnTo>
                    <a:pt x="566051" y="156286"/>
                  </a:lnTo>
                  <a:lnTo>
                    <a:pt x="566051" y="128333"/>
                  </a:lnTo>
                  <a:lnTo>
                    <a:pt x="42456" y="128333"/>
                  </a:lnTo>
                  <a:lnTo>
                    <a:pt x="42456" y="43205"/>
                  </a:lnTo>
                  <a:lnTo>
                    <a:pt x="183959" y="43205"/>
                  </a:lnTo>
                  <a:lnTo>
                    <a:pt x="183959" y="128054"/>
                  </a:lnTo>
                  <a:lnTo>
                    <a:pt x="212267" y="128054"/>
                  </a:lnTo>
                  <a:lnTo>
                    <a:pt x="212267" y="43205"/>
                  </a:lnTo>
                  <a:lnTo>
                    <a:pt x="353771" y="43205"/>
                  </a:lnTo>
                  <a:lnTo>
                    <a:pt x="353771" y="128054"/>
                  </a:lnTo>
                  <a:lnTo>
                    <a:pt x="382079" y="128054"/>
                  </a:lnTo>
                  <a:lnTo>
                    <a:pt x="382079" y="43205"/>
                  </a:lnTo>
                  <a:lnTo>
                    <a:pt x="523582" y="43205"/>
                  </a:lnTo>
                  <a:lnTo>
                    <a:pt x="523582" y="128054"/>
                  </a:lnTo>
                  <a:lnTo>
                    <a:pt x="566051" y="128054"/>
                  </a:lnTo>
                  <a:lnTo>
                    <a:pt x="566051" y="43205"/>
                  </a:lnTo>
                  <a:lnTo>
                    <a:pt x="566051" y="43078"/>
                  </a:lnTo>
                  <a:lnTo>
                    <a:pt x="566051" y="0"/>
                  </a:lnTo>
                  <a:close/>
                </a:path>
              </a:pathLst>
            </a:custGeom>
            <a:solidFill>
              <a:srgbClr val="BCBCBC"/>
            </a:solidFill>
          </p:spPr>
          <p:txBody>
            <a:bodyPr wrap="square" lIns="0" tIns="0" rIns="0" bIns="0" rtlCol="0"/>
            <a:lstStyle/>
            <a:p>
              <a:endParaRPr sz="2400"/>
            </a:p>
          </p:txBody>
        </p:sp>
        <p:sp>
          <p:nvSpPr>
            <p:cNvPr id="9" name="object 9"/>
            <p:cNvSpPr/>
            <p:nvPr/>
          </p:nvSpPr>
          <p:spPr>
            <a:xfrm>
              <a:off x="3416046" y="1914905"/>
              <a:ext cx="417830" cy="121920"/>
            </a:xfrm>
            <a:custGeom>
              <a:avLst/>
              <a:gdLst/>
              <a:ahLst/>
              <a:cxnLst/>
              <a:rect l="l" t="t" r="r" b="b"/>
              <a:pathLst>
                <a:path w="417829" h="121919">
                  <a:moveTo>
                    <a:pt x="356615" y="0"/>
                  </a:moveTo>
                  <a:lnTo>
                    <a:pt x="356615" y="30480"/>
                  </a:lnTo>
                  <a:lnTo>
                    <a:pt x="0" y="30480"/>
                  </a:lnTo>
                  <a:lnTo>
                    <a:pt x="0" y="91439"/>
                  </a:lnTo>
                  <a:lnTo>
                    <a:pt x="356615" y="91439"/>
                  </a:lnTo>
                  <a:lnTo>
                    <a:pt x="356615" y="121919"/>
                  </a:lnTo>
                  <a:lnTo>
                    <a:pt x="417575" y="60960"/>
                  </a:lnTo>
                  <a:lnTo>
                    <a:pt x="356615" y="0"/>
                  </a:lnTo>
                  <a:close/>
                </a:path>
              </a:pathLst>
            </a:custGeom>
            <a:solidFill>
              <a:srgbClr val="00C3FF"/>
            </a:solidFill>
          </p:spPr>
          <p:txBody>
            <a:bodyPr wrap="square" lIns="0" tIns="0" rIns="0" bIns="0" rtlCol="0"/>
            <a:lstStyle/>
            <a:p>
              <a:endParaRPr sz="2400"/>
            </a:p>
          </p:txBody>
        </p:sp>
        <p:sp>
          <p:nvSpPr>
            <p:cNvPr id="10" name="object 10"/>
            <p:cNvSpPr/>
            <p:nvPr/>
          </p:nvSpPr>
          <p:spPr>
            <a:xfrm>
              <a:off x="3416046" y="1914905"/>
              <a:ext cx="417830" cy="121920"/>
            </a:xfrm>
            <a:custGeom>
              <a:avLst/>
              <a:gdLst/>
              <a:ahLst/>
              <a:cxnLst/>
              <a:rect l="l" t="t" r="r" b="b"/>
              <a:pathLst>
                <a:path w="417829" h="121919">
                  <a:moveTo>
                    <a:pt x="0" y="30480"/>
                  </a:moveTo>
                  <a:lnTo>
                    <a:pt x="356615" y="30480"/>
                  </a:lnTo>
                  <a:lnTo>
                    <a:pt x="356615" y="0"/>
                  </a:lnTo>
                  <a:lnTo>
                    <a:pt x="417575" y="60960"/>
                  </a:lnTo>
                  <a:lnTo>
                    <a:pt x="356615" y="121919"/>
                  </a:lnTo>
                  <a:lnTo>
                    <a:pt x="356615" y="91439"/>
                  </a:lnTo>
                  <a:lnTo>
                    <a:pt x="0" y="91439"/>
                  </a:lnTo>
                  <a:lnTo>
                    <a:pt x="0" y="30480"/>
                  </a:lnTo>
                  <a:close/>
                </a:path>
              </a:pathLst>
            </a:custGeom>
            <a:ln w="25908">
              <a:solidFill>
                <a:srgbClr val="008FBB"/>
              </a:solidFill>
            </a:ln>
          </p:spPr>
          <p:txBody>
            <a:bodyPr wrap="square" lIns="0" tIns="0" rIns="0" bIns="0" rtlCol="0"/>
            <a:lstStyle/>
            <a:p>
              <a:endParaRPr sz="2400"/>
            </a:p>
          </p:txBody>
        </p:sp>
        <p:sp>
          <p:nvSpPr>
            <p:cNvPr id="11" name="object 11"/>
            <p:cNvSpPr/>
            <p:nvPr/>
          </p:nvSpPr>
          <p:spPr>
            <a:xfrm>
              <a:off x="3403854" y="3202686"/>
              <a:ext cx="417830" cy="123825"/>
            </a:xfrm>
            <a:custGeom>
              <a:avLst/>
              <a:gdLst/>
              <a:ahLst/>
              <a:cxnLst/>
              <a:rect l="l" t="t" r="r" b="b"/>
              <a:pathLst>
                <a:path w="417829" h="123825">
                  <a:moveTo>
                    <a:pt x="355854" y="0"/>
                  </a:moveTo>
                  <a:lnTo>
                    <a:pt x="355854" y="30861"/>
                  </a:lnTo>
                  <a:lnTo>
                    <a:pt x="0" y="30861"/>
                  </a:lnTo>
                  <a:lnTo>
                    <a:pt x="0" y="92582"/>
                  </a:lnTo>
                  <a:lnTo>
                    <a:pt x="355854" y="92582"/>
                  </a:lnTo>
                  <a:lnTo>
                    <a:pt x="355854" y="123443"/>
                  </a:lnTo>
                  <a:lnTo>
                    <a:pt x="417575" y="61721"/>
                  </a:lnTo>
                  <a:lnTo>
                    <a:pt x="355854" y="0"/>
                  </a:lnTo>
                  <a:close/>
                </a:path>
              </a:pathLst>
            </a:custGeom>
            <a:solidFill>
              <a:srgbClr val="00C3FF"/>
            </a:solidFill>
          </p:spPr>
          <p:txBody>
            <a:bodyPr wrap="square" lIns="0" tIns="0" rIns="0" bIns="0" rtlCol="0"/>
            <a:lstStyle/>
            <a:p>
              <a:endParaRPr sz="2400"/>
            </a:p>
          </p:txBody>
        </p:sp>
        <p:sp>
          <p:nvSpPr>
            <p:cNvPr id="12" name="object 12"/>
            <p:cNvSpPr/>
            <p:nvPr/>
          </p:nvSpPr>
          <p:spPr>
            <a:xfrm>
              <a:off x="3403854" y="3202686"/>
              <a:ext cx="417830" cy="123825"/>
            </a:xfrm>
            <a:custGeom>
              <a:avLst/>
              <a:gdLst/>
              <a:ahLst/>
              <a:cxnLst/>
              <a:rect l="l" t="t" r="r" b="b"/>
              <a:pathLst>
                <a:path w="417829" h="123825">
                  <a:moveTo>
                    <a:pt x="0" y="30861"/>
                  </a:moveTo>
                  <a:lnTo>
                    <a:pt x="355854" y="30861"/>
                  </a:lnTo>
                  <a:lnTo>
                    <a:pt x="355854" y="0"/>
                  </a:lnTo>
                  <a:lnTo>
                    <a:pt x="417575" y="61721"/>
                  </a:lnTo>
                  <a:lnTo>
                    <a:pt x="355854" y="123443"/>
                  </a:lnTo>
                  <a:lnTo>
                    <a:pt x="355854" y="92582"/>
                  </a:lnTo>
                  <a:lnTo>
                    <a:pt x="0" y="92582"/>
                  </a:lnTo>
                  <a:lnTo>
                    <a:pt x="0" y="30861"/>
                  </a:lnTo>
                  <a:close/>
                </a:path>
              </a:pathLst>
            </a:custGeom>
            <a:ln w="25908">
              <a:solidFill>
                <a:srgbClr val="008FBB"/>
              </a:solidFill>
            </a:ln>
          </p:spPr>
          <p:txBody>
            <a:bodyPr wrap="square" lIns="0" tIns="0" rIns="0" bIns="0" rtlCol="0"/>
            <a:lstStyle/>
            <a:p>
              <a:endParaRPr sz="2400"/>
            </a:p>
          </p:txBody>
        </p:sp>
      </p:grpSp>
      <p:sp>
        <p:nvSpPr>
          <p:cNvPr id="13" name="object 13"/>
          <p:cNvSpPr txBox="1"/>
          <p:nvPr/>
        </p:nvSpPr>
        <p:spPr>
          <a:xfrm>
            <a:off x="7430345" y="4640411"/>
            <a:ext cx="995680" cy="586507"/>
          </a:xfrm>
          <a:prstGeom prst="rect">
            <a:avLst/>
          </a:prstGeom>
        </p:spPr>
        <p:txBody>
          <a:bodyPr vert="horz" wrap="square" lIns="0" tIns="15240" rIns="0" bIns="0" rtlCol="0">
            <a:spAutoFit/>
          </a:bodyPr>
          <a:lstStyle/>
          <a:p>
            <a:pPr marL="63498" marR="6773" indent="-47412">
              <a:lnSpc>
                <a:spcPct val="100699"/>
              </a:lnSpc>
              <a:spcBef>
                <a:spcPts val="120"/>
              </a:spcBef>
            </a:pPr>
            <a:r>
              <a:rPr sz="1867" spc="-13" dirty="0">
                <a:solidFill>
                  <a:srgbClr val="FFFFFF"/>
                </a:solidFill>
                <a:latin typeface="Calibri"/>
                <a:cs typeface="Calibri"/>
              </a:rPr>
              <a:t>Predictive Analytics</a:t>
            </a:r>
            <a:endParaRPr sz="1867">
              <a:latin typeface="Calibri"/>
              <a:cs typeface="Calibri"/>
            </a:endParaRPr>
          </a:p>
        </p:txBody>
      </p:sp>
      <p:pic>
        <p:nvPicPr>
          <p:cNvPr id="14" name="object 14"/>
          <p:cNvPicPr/>
          <p:nvPr/>
        </p:nvPicPr>
        <p:blipFill>
          <a:blip r:embed="rId3" cstate="print"/>
          <a:stretch>
            <a:fillRect/>
          </a:stretch>
        </p:blipFill>
        <p:spPr>
          <a:xfrm>
            <a:off x="191007" y="2627377"/>
            <a:ext cx="2348992" cy="1721103"/>
          </a:xfrm>
          <a:prstGeom prst="rect">
            <a:avLst/>
          </a:prstGeom>
        </p:spPr>
      </p:pic>
      <p:sp>
        <p:nvSpPr>
          <p:cNvPr id="15" name="object 15"/>
          <p:cNvSpPr txBox="1"/>
          <p:nvPr/>
        </p:nvSpPr>
        <p:spPr>
          <a:xfrm>
            <a:off x="5565310" y="3438754"/>
            <a:ext cx="1355513"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Data</a:t>
            </a:r>
            <a:r>
              <a:rPr sz="2133" spc="-33" dirty="0">
                <a:solidFill>
                  <a:srgbClr val="FFFFFF"/>
                </a:solidFill>
                <a:latin typeface="Calibri"/>
                <a:cs typeface="Calibri"/>
              </a:rPr>
              <a:t> </a:t>
            </a:r>
            <a:r>
              <a:rPr sz="2133" dirty="0">
                <a:solidFill>
                  <a:srgbClr val="FFFFFF"/>
                </a:solidFill>
                <a:latin typeface="Calibri"/>
                <a:cs typeface="Calibri"/>
              </a:rPr>
              <a:t>Mart</a:t>
            </a:r>
            <a:r>
              <a:rPr sz="2133" spc="-20" dirty="0">
                <a:solidFill>
                  <a:srgbClr val="FFFFFF"/>
                </a:solidFill>
                <a:latin typeface="Calibri"/>
                <a:cs typeface="Calibri"/>
              </a:rPr>
              <a:t> </a:t>
            </a:r>
            <a:r>
              <a:rPr sz="2133" spc="-67" dirty="0">
                <a:solidFill>
                  <a:srgbClr val="FFFFFF"/>
                </a:solidFill>
                <a:latin typeface="Calibri"/>
                <a:cs typeface="Calibri"/>
              </a:rPr>
              <a:t>1</a:t>
            </a:r>
            <a:endParaRPr sz="2133">
              <a:latin typeface="Calibri"/>
              <a:cs typeface="Calibri"/>
            </a:endParaRPr>
          </a:p>
        </p:txBody>
      </p:sp>
      <p:grpSp>
        <p:nvGrpSpPr>
          <p:cNvPr id="16" name="object 16"/>
          <p:cNvGrpSpPr/>
          <p:nvPr/>
        </p:nvGrpSpPr>
        <p:grpSpPr>
          <a:xfrm>
            <a:off x="5220207" y="1654048"/>
            <a:ext cx="2400300" cy="1794933"/>
            <a:chOff x="3915155" y="1240536"/>
            <a:chExt cx="1800225" cy="1346200"/>
          </a:xfrm>
        </p:grpSpPr>
        <p:sp>
          <p:nvSpPr>
            <p:cNvPr id="17" name="object 17"/>
            <p:cNvSpPr/>
            <p:nvPr/>
          </p:nvSpPr>
          <p:spPr>
            <a:xfrm>
              <a:off x="3919727" y="1245108"/>
              <a:ext cx="1524000" cy="1336675"/>
            </a:xfrm>
            <a:custGeom>
              <a:avLst/>
              <a:gdLst/>
              <a:ahLst/>
              <a:cxnLst/>
              <a:rect l="l" t="t" r="r" b="b"/>
              <a:pathLst>
                <a:path w="1524000" h="1336675">
                  <a:moveTo>
                    <a:pt x="0" y="222757"/>
                  </a:moveTo>
                  <a:lnTo>
                    <a:pt x="4524" y="177853"/>
                  </a:lnTo>
                  <a:lnTo>
                    <a:pt x="17500" y="136034"/>
                  </a:lnTo>
                  <a:lnTo>
                    <a:pt x="38033" y="98195"/>
                  </a:lnTo>
                  <a:lnTo>
                    <a:pt x="65230" y="65230"/>
                  </a:lnTo>
                  <a:lnTo>
                    <a:pt x="98195" y="38033"/>
                  </a:lnTo>
                  <a:lnTo>
                    <a:pt x="136034" y="17500"/>
                  </a:lnTo>
                  <a:lnTo>
                    <a:pt x="177853" y="4524"/>
                  </a:lnTo>
                  <a:lnTo>
                    <a:pt x="222758" y="0"/>
                  </a:lnTo>
                  <a:lnTo>
                    <a:pt x="1301242" y="0"/>
                  </a:lnTo>
                  <a:lnTo>
                    <a:pt x="1346146" y="4524"/>
                  </a:lnTo>
                  <a:lnTo>
                    <a:pt x="1387965" y="17500"/>
                  </a:lnTo>
                  <a:lnTo>
                    <a:pt x="1425804" y="38033"/>
                  </a:lnTo>
                  <a:lnTo>
                    <a:pt x="1458769" y="65230"/>
                  </a:lnTo>
                  <a:lnTo>
                    <a:pt x="1485966" y="98195"/>
                  </a:lnTo>
                  <a:lnTo>
                    <a:pt x="1506499" y="136034"/>
                  </a:lnTo>
                  <a:lnTo>
                    <a:pt x="1519475" y="177853"/>
                  </a:lnTo>
                  <a:lnTo>
                    <a:pt x="1524000" y="222757"/>
                  </a:lnTo>
                  <a:lnTo>
                    <a:pt x="1524000" y="1113789"/>
                  </a:lnTo>
                  <a:lnTo>
                    <a:pt x="1519475" y="1158694"/>
                  </a:lnTo>
                  <a:lnTo>
                    <a:pt x="1506499" y="1200513"/>
                  </a:lnTo>
                  <a:lnTo>
                    <a:pt x="1485966" y="1238352"/>
                  </a:lnTo>
                  <a:lnTo>
                    <a:pt x="1458769" y="1271317"/>
                  </a:lnTo>
                  <a:lnTo>
                    <a:pt x="1425804" y="1298514"/>
                  </a:lnTo>
                  <a:lnTo>
                    <a:pt x="1387965" y="1319047"/>
                  </a:lnTo>
                  <a:lnTo>
                    <a:pt x="1346146" y="1332023"/>
                  </a:lnTo>
                  <a:lnTo>
                    <a:pt x="1301242" y="1336547"/>
                  </a:lnTo>
                  <a:lnTo>
                    <a:pt x="222758" y="1336547"/>
                  </a:lnTo>
                  <a:lnTo>
                    <a:pt x="177853" y="1332023"/>
                  </a:lnTo>
                  <a:lnTo>
                    <a:pt x="136034" y="1319047"/>
                  </a:lnTo>
                  <a:lnTo>
                    <a:pt x="98195" y="1298514"/>
                  </a:lnTo>
                  <a:lnTo>
                    <a:pt x="65230" y="1271317"/>
                  </a:lnTo>
                  <a:lnTo>
                    <a:pt x="38033" y="1238352"/>
                  </a:lnTo>
                  <a:lnTo>
                    <a:pt x="17500" y="1200513"/>
                  </a:lnTo>
                  <a:lnTo>
                    <a:pt x="4524" y="1158694"/>
                  </a:lnTo>
                  <a:lnTo>
                    <a:pt x="0" y="1113789"/>
                  </a:lnTo>
                  <a:lnTo>
                    <a:pt x="0" y="222757"/>
                  </a:lnTo>
                  <a:close/>
                </a:path>
              </a:pathLst>
            </a:custGeom>
            <a:ln w="9144">
              <a:solidFill>
                <a:srgbClr val="00C3FF"/>
              </a:solidFill>
            </a:ln>
          </p:spPr>
          <p:txBody>
            <a:bodyPr wrap="square" lIns="0" tIns="0" rIns="0" bIns="0" rtlCol="0"/>
            <a:lstStyle/>
            <a:p>
              <a:endParaRPr sz="2400"/>
            </a:p>
          </p:txBody>
        </p:sp>
        <p:sp>
          <p:nvSpPr>
            <p:cNvPr id="18" name="object 18"/>
            <p:cNvSpPr/>
            <p:nvPr/>
          </p:nvSpPr>
          <p:spPr>
            <a:xfrm>
              <a:off x="4105249" y="1428356"/>
              <a:ext cx="1254760" cy="1022985"/>
            </a:xfrm>
            <a:custGeom>
              <a:avLst/>
              <a:gdLst/>
              <a:ahLst/>
              <a:cxnLst/>
              <a:rect l="l" t="t" r="r" b="b"/>
              <a:pathLst>
                <a:path w="1254760" h="1022985">
                  <a:moveTo>
                    <a:pt x="129895" y="805764"/>
                  </a:moveTo>
                  <a:lnTo>
                    <a:pt x="112572" y="805764"/>
                  </a:lnTo>
                  <a:lnTo>
                    <a:pt x="112572" y="857770"/>
                  </a:lnTo>
                  <a:lnTo>
                    <a:pt x="129895" y="857770"/>
                  </a:lnTo>
                  <a:lnTo>
                    <a:pt x="129895" y="805764"/>
                  </a:lnTo>
                  <a:close/>
                </a:path>
                <a:path w="1254760" h="1022985">
                  <a:moveTo>
                    <a:pt x="129895" y="25476"/>
                  </a:moveTo>
                  <a:lnTo>
                    <a:pt x="112572" y="25476"/>
                  </a:lnTo>
                  <a:lnTo>
                    <a:pt x="112572" y="77482"/>
                  </a:lnTo>
                  <a:lnTo>
                    <a:pt x="129895" y="77482"/>
                  </a:lnTo>
                  <a:lnTo>
                    <a:pt x="129895" y="25476"/>
                  </a:lnTo>
                  <a:close/>
                </a:path>
                <a:path w="1254760" h="1022985">
                  <a:moveTo>
                    <a:pt x="233819" y="805764"/>
                  </a:moveTo>
                  <a:lnTo>
                    <a:pt x="216496" y="805764"/>
                  </a:lnTo>
                  <a:lnTo>
                    <a:pt x="216496" y="857770"/>
                  </a:lnTo>
                  <a:lnTo>
                    <a:pt x="233819" y="857770"/>
                  </a:lnTo>
                  <a:lnTo>
                    <a:pt x="233819" y="805764"/>
                  </a:lnTo>
                  <a:close/>
                </a:path>
                <a:path w="1254760" h="1022985">
                  <a:moveTo>
                    <a:pt x="233819" y="25476"/>
                  </a:moveTo>
                  <a:lnTo>
                    <a:pt x="216496" y="25476"/>
                  </a:lnTo>
                  <a:lnTo>
                    <a:pt x="216496" y="77482"/>
                  </a:lnTo>
                  <a:lnTo>
                    <a:pt x="233819" y="77482"/>
                  </a:lnTo>
                  <a:lnTo>
                    <a:pt x="233819" y="25476"/>
                  </a:lnTo>
                  <a:close/>
                </a:path>
                <a:path w="1254760" h="1022985">
                  <a:moveTo>
                    <a:pt x="346405" y="805764"/>
                  </a:moveTo>
                  <a:lnTo>
                    <a:pt x="320421" y="805764"/>
                  </a:lnTo>
                  <a:lnTo>
                    <a:pt x="320421" y="857770"/>
                  </a:lnTo>
                  <a:lnTo>
                    <a:pt x="346405" y="857770"/>
                  </a:lnTo>
                  <a:lnTo>
                    <a:pt x="346405" y="805764"/>
                  </a:lnTo>
                  <a:close/>
                </a:path>
                <a:path w="1254760" h="1022985">
                  <a:moveTo>
                    <a:pt x="346405" y="780288"/>
                  </a:moveTo>
                  <a:lnTo>
                    <a:pt x="0" y="780288"/>
                  </a:lnTo>
                  <a:lnTo>
                    <a:pt x="0" y="805700"/>
                  </a:lnTo>
                  <a:lnTo>
                    <a:pt x="0" y="857796"/>
                  </a:lnTo>
                  <a:lnTo>
                    <a:pt x="0" y="1022972"/>
                  </a:lnTo>
                  <a:lnTo>
                    <a:pt x="346405" y="1022972"/>
                  </a:lnTo>
                  <a:lnTo>
                    <a:pt x="346405" y="996454"/>
                  </a:lnTo>
                  <a:lnTo>
                    <a:pt x="346405" y="996289"/>
                  </a:lnTo>
                  <a:lnTo>
                    <a:pt x="346405" y="944448"/>
                  </a:lnTo>
                  <a:lnTo>
                    <a:pt x="320421" y="944448"/>
                  </a:lnTo>
                  <a:lnTo>
                    <a:pt x="320421" y="996289"/>
                  </a:lnTo>
                  <a:lnTo>
                    <a:pt x="233819" y="996289"/>
                  </a:lnTo>
                  <a:lnTo>
                    <a:pt x="233819" y="944448"/>
                  </a:lnTo>
                  <a:lnTo>
                    <a:pt x="216496" y="944448"/>
                  </a:lnTo>
                  <a:lnTo>
                    <a:pt x="216496" y="996289"/>
                  </a:lnTo>
                  <a:lnTo>
                    <a:pt x="129895" y="996289"/>
                  </a:lnTo>
                  <a:lnTo>
                    <a:pt x="129895" y="944448"/>
                  </a:lnTo>
                  <a:lnTo>
                    <a:pt x="112572" y="944448"/>
                  </a:lnTo>
                  <a:lnTo>
                    <a:pt x="112572" y="996289"/>
                  </a:lnTo>
                  <a:lnTo>
                    <a:pt x="25984" y="996289"/>
                  </a:lnTo>
                  <a:lnTo>
                    <a:pt x="25984" y="944194"/>
                  </a:lnTo>
                  <a:lnTo>
                    <a:pt x="346405" y="944194"/>
                  </a:lnTo>
                  <a:lnTo>
                    <a:pt x="346405" y="927671"/>
                  </a:lnTo>
                  <a:lnTo>
                    <a:pt x="25984" y="927671"/>
                  </a:lnTo>
                  <a:lnTo>
                    <a:pt x="25984" y="875588"/>
                  </a:lnTo>
                  <a:lnTo>
                    <a:pt x="112572" y="875588"/>
                  </a:lnTo>
                  <a:lnTo>
                    <a:pt x="112572" y="927112"/>
                  </a:lnTo>
                  <a:lnTo>
                    <a:pt x="129895" y="927112"/>
                  </a:lnTo>
                  <a:lnTo>
                    <a:pt x="129895" y="875588"/>
                  </a:lnTo>
                  <a:lnTo>
                    <a:pt x="216496" y="875588"/>
                  </a:lnTo>
                  <a:lnTo>
                    <a:pt x="216496" y="927112"/>
                  </a:lnTo>
                  <a:lnTo>
                    <a:pt x="233819" y="927112"/>
                  </a:lnTo>
                  <a:lnTo>
                    <a:pt x="233819" y="875588"/>
                  </a:lnTo>
                  <a:lnTo>
                    <a:pt x="320421" y="875588"/>
                  </a:lnTo>
                  <a:lnTo>
                    <a:pt x="320421" y="927112"/>
                  </a:lnTo>
                  <a:lnTo>
                    <a:pt x="346405" y="927112"/>
                  </a:lnTo>
                  <a:lnTo>
                    <a:pt x="346405" y="875588"/>
                  </a:lnTo>
                  <a:lnTo>
                    <a:pt x="346405" y="875106"/>
                  </a:lnTo>
                  <a:lnTo>
                    <a:pt x="346405" y="857796"/>
                  </a:lnTo>
                  <a:lnTo>
                    <a:pt x="25984" y="857796"/>
                  </a:lnTo>
                  <a:lnTo>
                    <a:pt x="25984" y="805700"/>
                  </a:lnTo>
                  <a:lnTo>
                    <a:pt x="346405" y="805700"/>
                  </a:lnTo>
                  <a:lnTo>
                    <a:pt x="346405" y="780288"/>
                  </a:lnTo>
                  <a:close/>
                </a:path>
                <a:path w="1254760" h="1022985">
                  <a:moveTo>
                    <a:pt x="346405" y="25476"/>
                  </a:moveTo>
                  <a:lnTo>
                    <a:pt x="320421" y="25476"/>
                  </a:lnTo>
                  <a:lnTo>
                    <a:pt x="320421" y="77482"/>
                  </a:lnTo>
                  <a:lnTo>
                    <a:pt x="346405" y="77482"/>
                  </a:lnTo>
                  <a:lnTo>
                    <a:pt x="346405" y="25476"/>
                  </a:lnTo>
                  <a:close/>
                </a:path>
                <a:path w="1254760" h="1022985">
                  <a:moveTo>
                    <a:pt x="346405" y="0"/>
                  </a:moveTo>
                  <a:lnTo>
                    <a:pt x="0" y="0"/>
                  </a:lnTo>
                  <a:lnTo>
                    <a:pt x="0" y="25412"/>
                  </a:lnTo>
                  <a:lnTo>
                    <a:pt x="0" y="77508"/>
                  </a:lnTo>
                  <a:lnTo>
                    <a:pt x="0" y="242684"/>
                  </a:lnTo>
                  <a:lnTo>
                    <a:pt x="346405" y="242684"/>
                  </a:lnTo>
                  <a:lnTo>
                    <a:pt x="346405" y="216166"/>
                  </a:lnTo>
                  <a:lnTo>
                    <a:pt x="346405" y="216001"/>
                  </a:lnTo>
                  <a:lnTo>
                    <a:pt x="346405" y="164160"/>
                  </a:lnTo>
                  <a:lnTo>
                    <a:pt x="320421" y="164160"/>
                  </a:lnTo>
                  <a:lnTo>
                    <a:pt x="320421" y="216001"/>
                  </a:lnTo>
                  <a:lnTo>
                    <a:pt x="233819" y="216001"/>
                  </a:lnTo>
                  <a:lnTo>
                    <a:pt x="233819" y="164160"/>
                  </a:lnTo>
                  <a:lnTo>
                    <a:pt x="216496" y="164160"/>
                  </a:lnTo>
                  <a:lnTo>
                    <a:pt x="216496" y="216001"/>
                  </a:lnTo>
                  <a:lnTo>
                    <a:pt x="129895" y="216001"/>
                  </a:lnTo>
                  <a:lnTo>
                    <a:pt x="129895" y="164160"/>
                  </a:lnTo>
                  <a:lnTo>
                    <a:pt x="112572" y="164160"/>
                  </a:lnTo>
                  <a:lnTo>
                    <a:pt x="112572" y="216001"/>
                  </a:lnTo>
                  <a:lnTo>
                    <a:pt x="25984" y="216001"/>
                  </a:lnTo>
                  <a:lnTo>
                    <a:pt x="25984" y="163906"/>
                  </a:lnTo>
                  <a:lnTo>
                    <a:pt x="346405" y="163906"/>
                  </a:lnTo>
                  <a:lnTo>
                    <a:pt x="346405" y="147383"/>
                  </a:lnTo>
                  <a:lnTo>
                    <a:pt x="25984" y="147383"/>
                  </a:lnTo>
                  <a:lnTo>
                    <a:pt x="25984" y="95300"/>
                  </a:lnTo>
                  <a:lnTo>
                    <a:pt x="112572" y="95300"/>
                  </a:lnTo>
                  <a:lnTo>
                    <a:pt x="112572" y="146824"/>
                  </a:lnTo>
                  <a:lnTo>
                    <a:pt x="129895" y="146824"/>
                  </a:lnTo>
                  <a:lnTo>
                    <a:pt x="129895" y="95300"/>
                  </a:lnTo>
                  <a:lnTo>
                    <a:pt x="216496" y="95300"/>
                  </a:lnTo>
                  <a:lnTo>
                    <a:pt x="216496" y="146824"/>
                  </a:lnTo>
                  <a:lnTo>
                    <a:pt x="233819" y="146824"/>
                  </a:lnTo>
                  <a:lnTo>
                    <a:pt x="233819" y="95300"/>
                  </a:lnTo>
                  <a:lnTo>
                    <a:pt x="320421" y="95300"/>
                  </a:lnTo>
                  <a:lnTo>
                    <a:pt x="320421" y="146824"/>
                  </a:lnTo>
                  <a:lnTo>
                    <a:pt x="346405" y="146824"/>
                  </a:lnTo>
                  <a:lnTo>
                    <a:pt x="346405" y="95300"/>
                  </a:lnTo>
                  <a:lnTo>
                    <a:pt x="346405" y="94818"/>
                  </a:lnTo>
                  <a:lnTo>
                    <a:pt x="346405" y="77508"/>
                  </a:lnTo>
                  <a:lnTo>
                    <a:pt x="25984" y="77508"/>
                  </a:lnTo>
                  <a:lnTo>
                    <a:pt x="25984" y="25412"/>
                  </a:lnTo>
                  <a:lnTo>
                    <a:pt x="346405" y="25412"/>
                  </a:lnTo>
                  <a:lnTo>
                    <a:pt x="346405" y="0"/>
                  </a:lnTo>
                  <a:close/>
                </a:path>
                <a:path w="1254760" h="1022985">
                  <a:moveTo>
                    <a:pt x="768426" y="331571"/>
                  </a:moveTo>
                  <a:lnTo>
                    <a:pt x="420763" y="331571"/>
                  </a:lnTo>
                  <a:lnTo>
                    <a:pt x="420763" y="358203"/>
                  </a:lnTo>
                  <a:lnTo>
                    <a:pt x="420763" y="410197"/>
                  </a:lnTo>
                  <a:lnTo>
                    <a:pt x="420763" y="726198"/>
                  </a:lnTo>
                  <a:lnTo>
                    <a:pt x="768426" y="726198"/>
                  </a:lnTo>
                  <a:lnTo>
                    <a:pt x="768426" y="700836"/>
                  </a:lnTo>
                  <a:lnTo>
                    <a:pt x="446836" y="700836"/>
                  </a:lnTo>
                  <a:lnTo>
                    <a:pt x="446836" y="648843"/>
                  </a:lnTo>
                  <a:lnTo>
                    <a:pt x="768426" y="648843"/>
                  </a:lnTo>
                  <a:lnTo>
                    <a:pt x="768426" y="631088"/>
                  </a:lnTo>
                  <a:lnTo>
                    <a:pt x="446836" y="631088"/>
                  </a:lnTo>
                  <a:lnTo>
                    <a:pt x="446836" y="579081"/>
                  </a:lnTo>
                  <a:lnTo>
                    <a:pt x="768426" y="579081"/>
                  </a:lnTo>
                  <a:lnTo>
                    <a:pt x="768426" y="573798"/>
                  </a:lnTo>
                  <a:lnTo>
                    <a:pt x="768426" y="562597"/>
                  </a:lnTo>
                  <a:lnTo>
                    <a:pt x="768426" y="548436"/>
                  </a:lnTo>
                  <a:lnTo>
                    <a:pt x="446836" y="548436"/>
                  </a:lnTo>
                  <a:lnTo>
                    <a:pt x="446836" y="510603"/>
                  </a:lnTo>
                  <a:lnTo>
                    <a:pt x="533742" y="510603"/>
                  </a:lnTo>
                  <a:lnTo>
                    <a:pt x="533742" y="548398"/>
                  </a:lnTo>
                  <a:lnTo>
                    <a:pt x="551129" y="548398"/>
                  </a:lnTo>
                  <a:lnTo>
                    <a:pt x="551129" y="510603"/>
                  </a:lnTo>
                  <a:lnTo>
                    <a:pt x="638048" y="510603"/>
                  </a:lnTo>
                  <a:lnTo>
                    <a:pt x="638048" y="548398"/>
                  </a:lnTo>
                  <a:lnTo>
                    <a:pt x="655421" y="548398"/>
                  </a:lnTo>
                  <a:lnTo>
                    <a:pt x="655421" y="510603"/>
                  </a:lnTo>
                  <a:lnTo>
                    <a:pt x="742340" y="510603"/>
                  </a:lnTo>
                  <a:lnTo>
                    <a:pt x="742340" y="548398"/>
                  </a:lnTo>
                  <a:lnTo>
                    <a:pt x="768426" y="548398"/>
                  </a:lnTo>
                  <a:lnTo>
                    <a:pt x="768426" y="427050"/>
                  </a:lnTo>
                  <a:lnTo>
                    <a:pt x="742340" y="427050"/>
                  </a:lnTo>
                  <a:lnTo>
                    <a:pt x="742340" y="478688"/>
                  </a:lnTo>
                  <a:lnTo>
                    <a:pt x="655421" y="478688"/>
                  </a:lnTo>
                  <a:lnTo>
                    <a:pt x="655421" y="427050"/>
                  </a:lnTo>
                  <a:lnTo>
                    <a:pt x="638048" y="427050"/>
                  </a:lnTo>
                  <a:lnTo>
                    <a:pt x="638048" y="478688"/>
                  </a:lnTo>
                  <a:lnTo>
                    <a:pt x="551129" y="478688"/>
                  </a:lnTo>
                  <a:lnTo>
                    <a:pt x="551129" y="427050"/>
                  </a:lnTo>
                  <a:lnTo>
                    <a:pt x="533742" y="427050"/>
                  </a:lnTo>
                  <a:lnTo>
                    <a:pt x="533742" y="478688"/>
                  </a:lnTo>
                  <a:lnTo>
                    <a:pt x="446836" y="478688"/>
                  </a:lnTo>
                  <a:lnTo>
                    <a:pt x="446836" y="426681"/>
                  </a:lnTo>
                  <a:lnTo>
                    <a:pt x="768426" y="426681"/>
                  </a:lnTo>
                  <a:lnTo>
                    <a:pt x="768426" y="410197"/>
                  </a:lnTo>
                  <a:lnTo>
                    <a:pt x="446836" y="410197"/>
                  </a:lnTo>
                  <a:lnTo>
                    <a:pt x="446836" y="358203"/>
                  </a:lnTo>
                  <a:lnTo>
                    <a:pt x="533742" y="358203"/>
                  </a:lnTo>
                  <a:lnTo>
                    <a:pt x="533742" y="409714"/>
                  </a:lnTo>
                  <a:lnTo>
                    <a:pt x="551129" y="409714"/>
                  </a:lnTo>
                  <a:lnTo>
                    <a:pt x="551129" y="358203"/>
                  </a:lnTo>
                  <a:lnTo>
                    <a:pt x="638048" y="358203"/>
                  </a:lnTo>
                  <a:lnTo>
                    <a:pt x="638048" y="409714"/>
                  </a:lnTo>
                  <a:lnTo>
                    <a:pt x="655421" y="409714"/>
                  </a:lnTo>
                  <a:lnTo>
                    <a:pt x="655421" y="358203"/>
                  </a:lnTo>
                  <a:lnTo>
                    <a:pt x="742340" y="358203"/>
                  </a:lnTo>
                  <a:lnTo>
                    <a:pt x="742340" y="409714"/>
                  </a:lnTo>
                  <a:lnTo>
                    <a:pt x="768426" y="409714"/>
                  </a:lnTo>
                  <a:lnTo>
                    <a:pt x="768426" y="358203"/>
                  </a:lnTo>
                  <a:lnTo>
                    <a:pt x="768426" y="357708"/>
                  </a:lnTo>
                  <a:lnTo>
                    <a:pt x="768426" y="331571"/>
                  </a:lnTo>
                  <a:close/>
                </a:path>
                <a:path w="1254760" h="1022985">
                  <a:moveTo>
                    <a:pt x="1254582" y="153263"/>
                  </a:moveTo>
                  <a:lnTo>
                    <a:pt x="906919" y="153263"/>
                  </a:lnTo>
                  <a:lnTo>
                    <a:pt x="906919" y="179895"/>
                  </a:lnTo>
                  <a:lnTo>
                    <a:pt x="906919" y="231889"/>
                  </a:lnTo>
                  <a:lnTo>
                    <a:pt x="906919" y="395490"/>
                  </a:lnTo>
                  <a:lnTo>
                    <a:pt x="1254582" y="395490"/>
                  </a:lnTo>
                  <a:lnTo>
                    <a:pt x="1254582" y="370128"/>
                  </a:lnTo>
                  <a:lnTo>
                    <a:pt x="932992" y="370128"/>
                  </a:lnTo>
                  <a:lnTo>
                    <a:pt x="932992" y="318135"/>
                  </a:lnTo>
                  <a:lnTo>
                    <a:pt x="1019898" y="318135"/>
                  </a:lnTo>
                  <a:lnTo>
                    <a:pt x="1019898" y="370090"/>
                  </a:lnTo>
                  <a:lnTo>
                    <a:pt x="1037285" y="370090"/>
                  </a:lnTo>
                  <a:lnTo>
                    <a:pt x="1037285" y="318135"/>
                  </a:lnTo>
                  <a:lnTo>
                    <a:pt x="1124204" y="318135"/>
                  </a:lnTo>
                  <a:lnTo>
                    <a:pt x="1124204" y="370090"/>
                  </a:lnTo>
                  <a:lnTo>
                    <a:pt x="1141590" y="370090"/>
                  </a:lnTo>
                  <a:lnTo>
                    <a:pt x="1141590" y="318135"/>
                  </a:lnTo>
                  <a:lnTo>
                    <a:pt x="1228496" y="318135"/>
                  </a:lnTo>
                  <a:lnTo>
                    <a:pt x="1228496" y="370090"/>
                  </a:lnTo>
                  <a:lnTo>
                    <a:pt x="1254582" y="370090"/>
                  </a:lnTo>
                  <a:lnTo>
                    <a:pt x="1254582" y="248742"/>
                  </a:lnTo>
                  <a:lnTo>
                    <a:pt x="1228496" y="248742"/>
                  </a:lnTo>
                  <a:lnTo>
                    <a:pt x="1228496" y="300380"/>
                  </a:lnTo>
                  <a:lnTo>
                    <a:pt x="1141590" y="300380"/>
                  </a:lnTo>
                  <a:lnTo>
                    <a:pt x="1141590" y="248742"/>
                  </a:lnTo>
                  <a:lnTo>
                    <a:pt x="1124204" y="248742"/>
                  </a:lnTo>
                  <a:lnTo>
                    <a:pt x="1124204" y="300380"/>
                  </a:lnTo>
                  <a:lnTo>
                    <a:pt x="1037285" y="300380"/>
                  </a:lnTo>
                  <a:lnTo>
                    <a:pt x="1037285" y="248742"/>
                  </a:lnTo>
                  <a:lnTo>
                    <a:pt x="1019898" y="248742"/>
                  </a:lnTo>
                  <a:lnTo>
                    <a:pt x="1019898" y="300380"/>
                  </a:lnTo>
                  <a:lnTo>
                    <a:pt x="932992" y="300380"/>
                  </a:lnTo>
                  <a:lnTo>
                    <a:pt x="932992" y="248373"/>
                  </a:lnTo>
                  <a:lnTo>
                    <a:pt x="1254582" y="248373"/>
                  </a:lnTo>
                  <a:lnTo>
                    <a:pt x="1254582" y="231889"/>
                  </a:lnTo>
                  <a:lnTo>
                    <a:pt x="932992" y="231889"/>
                  </a:lnTo>
                  <a:lnTo>
                    <a:pt x="932992" y="179895"/>
                  </a:lnTo>
                  <a:lnTo>
                    <a:pt x="1019898" y="179895"/>
                  </a:lnTo>
                  <a:lnTo>
                    <a:pt x="1019898" y="231406"/>
                  </a:lnTo>
                  <a:lnTo>
                    <a:pt x="1037285" y="231406"/>
                  </a:lnTo>
                  <a:lnTo>
                    <a:pt x="1037285" y="179895"/>
                  </a:lnTo>
                  <a:lnTo>
                    <a:pt x="1124204" y="179895"/>
                  </a:lnTo>
                  <a:lnTo>
                    <a:pt x="1124204" y="231406"/>
                  </a:lnTo>
                  <a:lnTo>
                    <a:pt x="1141590" y="231406"/>
                  </a:lnTo>
                  <a:lnTo>
                    <a:pt x="1141590" y="179895"/>
                  </a:lnTo>
                  <a:lnTo>
                    <a:pt x="1228496" y="179895"/>
                  </a:lnTo>
                  <a:lnTo>
                    <a:pt x="1228496" y="231406"/>
                  </a:lnTo>
                  <a:lnTo>
                    <a:pt x="1254582" y="231406"/>
                  </a:lnTo>
                  <a:lnTo>
                    <a:pt x="1254582" y="179895"/>
                  </a:lnTo>
                  <a:lnTo>
                    <a:pt x="1254582" y="179400"/>
                  </a:lnTo>
                  <a:lnTo>
                    <a:pt x="1254582" y="153263"/>
                  </a:lnTo>
                  <a:close/>
                </a:path>
              </a:pathLst>
            </a:custGeom>
            <a:solidFill>
              <a:srgbClr val="BCBCBC"/>
            </a:solidFill>
          </p:spPr>
          <p:txBody>
            <a:bodyPr wrap="square" lIns="0" tIns="0" rIns="0" bIns="0" rtlCol="0"/>
            <a:lstStyle/>
            <a:p>
              <a:endParaRPr sz="2400"/>
            </a:p>
          </p:txBody>
        </p:sp>
        <p:sp>
          <p:nvSpPr>
            <p:cNvPr id="19" name="object 19"/>
            <p:cNvSpPr/>
            <p:nvPr/>
          </p:nvSpPr>
          <p:spPr>
            <a:xfrm>
              <a:off x="4526013" y="1912327"/>
              <a:ext cx="347980" cy="217170"/>
            </a:xfrm>
            <a:custGeom>
              <a:avLst/>
              <a:gdLst/>
              <a:ahLst/>
              <a:cxnLst/>
              <a:rect l="l" t="t" r="r" b="b"/>
              <a:pathLst>
                <a:path w="347979" h="217169">
                  <a:moveTo>
                    <a:pt x="130365" y="164820"/>
                  </a:moveTo>
                  <a:lnTo>
                    <a:pt x="112979" y="164820"/>
                  </a:lnTo>
                  <a:lnTo>
                    <a:pt x="112979" y="216827"/>
                  </a:lnTo>
                  <a:lnTo>
                    <a:pt x="130365" y="216827"/>
                  </a:lnTo>
                  <a:lnTo>
                    <a:pt x="130365" y="164820"/>
                  </a:lnTo>
                  <a:close/>
                </a:path>
                <a:path w="347979" h="217169">
                  <a:moveTo>
                    <a:pt x="130365" y="95478"/>
                  </a:moveTo>
                  <a:lnTo>
                    <a:pt x="112979" y="95478"/>
                  </a:lnTo>
                  <a:lnTo>
                    <a:pt x="112979" y="147485"/>
                  </a:lnTo>
                  <a:lnTo>
                    <a:pt x="130365" y="147485"/>
                  </a:lnTo>
                  <a:lnTo>
                    <a:pt x="130365" y="95478"/>
                  </a:lnTo>
                  <a:close/>
                </a:path>
                <a:path w="347979" h="217169">
                  <a:moveTo>
                    <a:pt x="234657" y="164820"/>
                  </a:moveTo>
                  <a:lnTo>
                    <a:pt x="217284" y="164820"/>
                  </a:lnTo>
                  <a:lnTo>
                    <a:pt x="217284" y="216827"/>
                  </a:lnTo>
                  <a:lnTo>
                    <a:pt x="234657" y="216827"/>
                  </a:lnTo>
                  <a:lnTo>
                    <a:pt x="234657" y="164820"/>
                  </a:lnTo>
                  <a:close/>
                </a:path>
                <a:path w="347979" h="217169">
                  <a:moveTo>
                    <a:pt x="234657" y="95478"/>
                  </a:moveTo>
                  <a:lnTo>
                    <a:pt x="217284" y="95478"/>
                  </a:lnTo>
                  <a:lnTo>
                    <a:pt x="217284" y="147485"/>
                  </a:lnTo>
                  <a:lnTo>
                    <a:pt x="234657" y="147485"/>
                  </a:lnTo>
                  <a:lnTo>
                    <a:pt x="234657" y="95478"/>
                  </a:lnTo>
                  <a:close/>
                </a:path>
                <a:path w="347979" h="217169">
                  <a:moveTo>
                    <a:pt x="347662" y="164820"/>
                  </a:moveTo>
                  <a:lnTo>
                    <a:pt x="321576" y="164820"/>
                  </a:lnTo>
                  <a:lnTo>
                    <a:pt x="321576" y="216827"/>
                  </a:lnTo>
                  <a:lnTo>
                    <a:pt x="347662" y="216827"/>
                  </a:lnTo>
                  <a:lnTo>
                    <a:pt x="347662" y="164820"/>
                  </a:lnTo>
                  <a:close/>
                </a:path>
                <a:path w="347979" h="217169">
                  <a:moveTo>
                    <a:pt x="347662" y="95478"/>
                  </a:moveTo>
                  <a:lnTo>
                    <a:pt x="321576" y="95478"/>
                  </a:lnTo>
                  <a:lnTo>
                    <a:pt x="321576" y="147485"/>
                  </a:lnTo>
                  <a:lnTo>
                    <a:pt x="347662" y="147485"/>
                  </a:lnTo>
                  <a:lnTo>
                    <a:pt x="347662" y="95478"/>
                  </a:lnTo>
                  <a:close/>
                </a:path>
                <a:path w="347979" h="217169">
                  <a:moveTo>
                    <a:pt x="347662" y="0"/>
                  </a:moveTo>
                  <a:lnTo>
                    <a:pt x="0" y="0"/>
                  </a:lnTo>
                  <a:lnTo>
                    <a:pt x="0" y="26631"/>
                  </a:lnTo>
                  <a:lnTo>
                    <a:pt x="112979" y="26631"/>
                  </a:lnTo>
                  <a:lnTo>
                    <a:pt x="112979" y="78143"/>
                  </a:lnTo>
                  <a:lnTo>
                    <a:pt x="130365" y="78143"/>
                  </a:lnTo>
                  <a:lnTo>
                    <a:pt x="130365" y="26631"/>
                  </a:lnTo>
                  <a:lnTo>
                    <a:pt x="217284" y="26631"/>
                  </a:lnTo>
                  <a:lnTo>
                    <a:pt x="217284" y="78143"/>
                  </a:lnTo>
                  <a:lnTo>
                    <a:pt x="234657" y="78143"/>
                  </a:lnTo>
                  <a:lnTo>
                    <a:pt x="234657" y="26631"/>
                  </a:lnTo>
                  <a:lnTo>
                    <a:pt x="321576" y="26631"/>
                  </a:lnTo>
                  <a:lnTo>
                    <a:pt x="321576" y="78143"/>
                  </a:lnTo>
                  <a:lnTo>
                    <a:pt x="347662" y="78143"/>
                  </a:lnTo>
                  <a:lnTo>
                    <a:pt x="347662" y="26631"/>
                  </a:lnTo>
                  <a:lnTo>
                    <a:pt x="347662" y="26136"/>
                  </a:lnTo>
                  <a:lnTo>
                    <a:pt x="347662" y="0"/>
                  </a:lnTo>
                  <a:close/>
                </a:path>
              </a:pathLst>
            </a:custGeom>
            <a:solidFill>
              <a:srgbClr val="BCBCBC"/>
            </a:solidFill>
          </p:spPr>
          <p:txBody>
            <a:bodyPr wrap="square" lIns="0" tIns="0" rIns="0" bIns="0" rtlCol="0"/>
            <a:lstStyle/>
            <a:p>
              <a:endParaRPr sz="2400"/>
            </a:p>
          </p:txBody>
        </p:sp>
        <p:sp>
          <p:nvSpPr>
            <p:cNvPr id="20" name="object 20"/>
            <p:cNvSpPr/>
            <p:nvPr/>
          </p:nvSpPr>
          <p:spPr>
            <a:xfrm>
              <a:off x="4258817" y="1652777"/>
              <a:ext cx="838835" cy="515620"/>
            </a:xfrm>
            <a:custGeom>
              <a:avLst/>
              <a:gdLst/>
              <a:ahLst/>
              <a:cxnLst/>
              <a:rect l="l" t="t" r="r" b="b"/>
              <a:pathLst>
                <a:path w="838835" h="515619">
                  <a:moveTo>
                    <a:pt x="230886" y="107569"/>
                  </a:moveTo>
                  <a:lnTo>
                    <a:pt x="0" y="0"/>
                  </a:lnTo>
                </a:path>
                <a:path w="838835" h="515619">
                  <a:moveTo>
                    <a:pt x="838327" y="188975"/>
                  </a:moveTo>
                  <a:lnTo>
                    <a:pt x="652272" y="381127"/>
                  </a:lnTo>
                </a:path>
                <a:path w="838835" h="515619">
                  <a:moveTo>
                    <a:pt x="236347" y="323088"/>
                  </a:moveTo>
                  <a:lnTo>
                    <a:pt x="50292" y="515239"/>
                  </a:lnTo>
                </a:path>
              </a:pathLst>
            </a:custGeom>
            <a:ln w="38100">
              <a:solidFill>
                <a:srgbClr val="00C2FF"/>
              </a:solidFill>
            </a:ln>
          </p:spPr>
          <p:txBody>
            <a:bodyPr wrap="square" lIns="0" tIns="0" rIns="0" bIns="0" rtlCol="0"/>
            <a:lstStyle/>
            <a:p>
              <a:endParaRPr sz="2400"/>
            </a:p>
          </p:txBody>
        </p:sp>
        <p:sp>
          <p:nvSpPr>
            <p:cNvPr id="21" name="object 21"/>
            <p:cNvSpPr/>
            <p:nvPr/>
          </p:nvSpPr>
          <p:spPr>
            <a:xfrm>
              <a:off x="5282945" y="2216658"/>
              <a:ext cx="419100" cy="123825"/>
            </a:xfrm>
            <a:custGeom>
              <a:avLst/>
              <a:gdLst/>
              <a:ahLst/>
              <a:cxnLst/>
              <a:rect l="l" t="t" r="r" b="b"/>
              <a:pathLst>
                <a:path w="419100" h="123825">
                  <a:moveTo>
                    <a:pt x="357377" y="0"/>
                  </a:moveTo>
                  <a:lnTo>
                    <a:pt x="357377" y="30861"/>
                  </a:lnTo>
                  <a:lnTo>
                    <a:pt x="0" y="30861"/>
                  </a:lnTo>
                  <a:lnTo>
                    <a:pt x="0" y="92583"/>
                  </a:lnTo>
                  <a:lnTo>
                    <a:pt x="357377" y="92583"/>
                  </a:lnTo>
                  <a:lnTo>
                    <a:pt x="357377" y="123443"/>
                  </a:lnTo>
                  <a:lnTo>
                    <a:pt x="419100" y="61722"/>
                  </a:lnTo>
                  <a:lnTo>
                    <a:pt x="357377" y="0"/>
                  </a:lnTo>
                  <a:close/>
                </a:path>
              </a:pathLst>
            </a:custGeom>
            <a:solidFill>
              <a:srgbClr val="00C3FF"/>
            </a:solidFill>
          </p:spPr>
          <p:txBody>
            <a:bodyPr wrap="square" lIns="0" tIns="0" rIns="0" bIns="0" rtlCol="0"/>
            <a:lstStyle/>
            <a:p>
              <a:endParaRPr sz="2400"/>
            </a:p>
          </p:txBody>
        </p:sp>
        <p:sp>
          <p:nvSpPr>
            <p:cNvPr id="22" name="object 22"/>
            <p:cNvSpPr/>
            <p:nvPr/>
          </p:nvSpPr>
          <p:spPr>
            <a:xfrm>
              <a:off x="5282945" y="2216658"/>
              <a:ext cx="419100" cy="123825"/>
            </a:xfrm>
            <a:custGeom>
              <a:avLst/>
              <a:gdLst/>
              <a:ahLst/>
              <a:cxnLst/>
              <a:rect l="l" t="t" r="r" b="b"/>
              <a:pathLst>
                <a:path w="419100" h="123825">
                  <a:moveTo>
                    <a:pt x="0" y="30861"/>
                  </a:moveTo>
                  <a:lnTo>
                    <a:pt x="357377" y="30861"/>
                  </a:lnTo>
                  <a:lnTo>
                    <a:pt x="357377" y="0"/>
                  </a:lnTo>
                  <a:lnTo>
                    <a:pt x="419100" y="61722"/>
                  </a:lnTo>
                  <a:lnTo>
                    <a:pt x="357377" y="123443"/>
                  </a:lnTo>
                  <a:lnTo>
                    <a:pt x="357377" y="92583"/>
                  </a:lnTo>
                  <a:lnTo>
                    <a:pt x="0" y="92583"/>
                  </a:lnTo>
                  <a:lnTo>
                    <a:pt x="0" y="30861"/>
                  </a:lnTo>
                  <a:close/>
                </a:path>
              </a:pathLst>
            </a:custGeom>
            <a:ln w="25908">
              <a:solidFill>
                <a:srgbClr val="008FBB"/>
              </a:solidFill>
            </a:ln>
          </p:spPr>
          <p:txBody>
            <a:bodyPr wrap="square" lIns="0" tIns="0" rIns="0" bIns="0" rtlCol="0"/>
            <a:lstStyle/>
            <a:p>
              <a:endParaRPr sz="2400"/>
            </a:p>
          </p:txBody>
        </p:sp>
      </p:grpSp>
      <p:sp>
        <p:nvSpPr>
          <p:cNvPr id="23" name="object 23"/>
          <p:cNvSpPr txBox="1"/>
          <p:nvPr/>
        </p:nvSpPr>
        <p:spPr>
          <a:xfrm>
            <a:off x="5588507" y="5543025"/>
            <a:ext cx="1354667"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Data</a:t>
            </a:r>
            <a:r>
              <a:rPr sz="2133" spc="-53" dirty="0">
                <a:solidFill>
                  <a:srgbClr val="FFFFFF"/>
                </a:solidFill>
                <a:latin typeface="Calibri"/>
                <a:cs typeface="Calibri"/>
              </a:rPr>
              <a:t> </a:t>
            </a:r>
            <a:r>
              <a:rPr sz="2133" dirty="0">
                <a:solidFill>
                  <a:srgbClr val="FFFFFF"/>
                </a:solidFill>
                <a:latin typeface="Calibri"/>
                <a:cs typeface="Calibri"/>
              </a:rPr>
              <a:t>Mart</a:t>
            </a:r>
            <a:r>
              <a:rPr sz="2133" spc="-27" dirty="0">
                <a:solidFill>
                  <a:srgbClr val="FFFFFF"/>
                </a:solidFill>
                <a:latin typeface="Calibri"/>
                <a:cs typeface="Calibri"/>
              </a:rPr>
              <a:t> </a:t>
            </a:r>
            <a:r>
              <a:rPr sz="2133" spc="-67" dirty="0">
                <a:solidFill>
                  <a:srgbClr val="FFFFFF"/>
                </a:solidFill>
                <a:latin typeface="Calibri"/>
                <a:cs typeface="Calibri"/>
              </a:rPr>
              <a:t>2</a:t>
            </a:r>
            <a:endParaRPr sz="2133">
              <a:latin typeface="Calibri"/>
              <a:cs typeface="Calibri"/>
            </a:endParaRPr>
          </a:p>
        </p:txBody>
      </p:sp>
      <p:grpSp>
        <p:nvGrpSpPr>
          <p:cNvPr id="24" name="object 24"/>
          <p:cNvGrpSpPr/>
          <p:nvPr/>
        </p:nvGrpSpPr>
        <p:grpSpPr>
          <a:xfrm>
            <a:off x="5252720" y="3970527"/>
            <a:ext cx="2235200" cy="1452880"/>
            <a:chOff x="3939540" y="2977895"/>
            <a:chExt cx="1676400" cy="1089660"/>
          </a:xfrm>
        </p:grpSpPr>
        <p:sp>
          <p:nvSpPr>
            <p:cNvPr id="25" name="object 25"/>
            <p:cNvSpPr/>
            <p:nvPr/>
          </p:nvSpPr>
          <p:spPr>
            <a:xfrm>
              <a:off x="3944112" y="2982467"/>
              <a:ext cx="1524000" cy="1080770"/>
            </a:xfrm>
            <a:custGeom>
              <a:avLst/>
              <a:gdLst/>
              <a:ahLst/>
              <a:cxnLst/>
              <a:rect l="l" t="t" r="r" b="b"/>
              <a:pathLst>
                <a:path w="1524000" h="1080770">
                  <a:moveTo>
                    <a:pt x="0" y="180086"/>
                  </a:moveTo>
                  <a:lnTo>
                    <a:pt x="6434" y="132218"/>
                  </a:lnTo>
                  <a:lnTo>
                    <a:pt x="24590" y="89201"/>
                  </a:lnTo>
                  <a:lnTo>
                    <a:pt x="52752" y="52752"/>
                  </a:lnTo>
                  <a:lnTo>
                    <a:pt x="89201" y="24590"/>
                  </a:lnTo>
                  <a:lnTo>
                    <a:pt x="132218" y="6434"/>
                  </a:lnTo>
                  <a:lnTo>
                    <a:pt x="180086" y="0"/>
                  </a:lnTo>
                  <a:lnTo>
                    <a:pt x="1343914" y="0"/>
                  </a:lnTo>
                  <a:lnTo>
                    <a:pt x="1391781" y="6434"/>
                  </a:lnTo>
                  <a:lnTo>
                    <a:pt x="1434798" y="24590"/>
                  </a:lnTo>
                  <a:lnTo>
                    <a:pt x="1471247" y="52752"/>
                  </a:lnTo>
                  <a:lnTo>
                    <a:pt x="1499409" y="89201"/>
                  </a:lnTo>
                  <a:lnTo>
                    <a:pt x="1517565" y="132218"/>
                  </a:lnTo>
                  <a:lnTo>
                    <a:pt x="1524000" y="180086"/>
                  </a:lnTo>
                  <a:lnTo>
                    <a:pt x="1524000" y="900429"/>
                  </a:lnTo>
                  <a:lnTo>
                    <a:pt x="1517565" y="948302"/>
                  </a:lnTo>
                  <a:lnTo>
                    <a:pt x="1499409" y="991320"/>
                  </a:lnTo>
                  <a:lnTo>
                    <a:pt x="1471247" y="1027768"/>
                  </a:lnTo>
                  <a:lnTo>
                    <a:pt x="1434798" y="1055927"/>
                  </a:lnTo>
                  <a:lnTo>
                    <a:pt x="1391781" y="1074082"/>
                  </a:lnTo>
                  <a:lnTo>
                    <a:pt x="1343914" y="1080516"/>
                  </a:lnTo>
                  <a:lnTo>
                    <a:pt x="180086" y="1080516"/>
                  </a:lnTo>
                  <a:lnTo>
                    <a:pt x="132218" y="1074082"/>
                  </a:lnTo>
                  <a:lnTo>
                    <a:pt x="89201" y="1055927"/>
                  </a:lnTo>
                  <a:lnTo>
                    <a:pt x="52752" y="1027768"/>
                  </a:lnTo>
                  <a:lnTo>
                    <a:pt x="24590" y="991320"/>
                  </a:lnTo>
                  <a:lnTo>
                    <a:pt x="6434" y="948302"/>
                  </a:lnTo>
                  <a:lnTo>
                    <a:pt x="0" y="900429"/>
                  </a:lnTo>
                  <a:lnTo>
                    <a:pt x="0" y="180086"/>
                  </a:lnTo>
                  <a:close/>
                </a:path>
              </a:pathLst>
            </a:custGeom>
            <a:ln w="9144">
              <a:solidFill>
                <a:srgbClr val="00C3FF"/>
              </a:solidFill>
            </a:ln>
          </p:spPr>
          <p:txBody>
            <a:bodyPr wrap="square" lIns="0" tIns="0" rIns="0" bIns="0" rtlCol="0"/>
            <a:lstStyle/>
            <a:p>
              <a:endParaRPr sz="2400"/>
            </a:p>
          </p:txBody>
        </p:sp>
        <p:sp>
          <p:nvSpPr>
            <p:cNvPr id="26" name="object 26"/>
            <p:cNvSpPr/>
            <p:nvPr/>
          </p:nvSpPr>
          <p:spPr>
            <a:xfrm>
              <a:off x="4128249" y="3165970"/>
              <a:ext cx="1254760" cy="727075"/>
            </a:xfrm>
            <a:custGeom>
              <a:avLst/>
              <a:gdLst/>
              <a:ahLst/>
              <a:cxnLst/>
              <a:rect l="l" t="t" r="r" b="b"/>
              <a:pathLst>
                <a:path w="1254760" h="727075">
                  <a:moveTo>
                    <a:pt x="347662" y="0"/>
                  </a:moveTo>
                  <a:lnTo>
                    <a:pt x="0" y="0"/>
                  </a:lnTo>
                  <a:lnTo>
                    <a:pt x="0" y="25412"/>
                  </a:lnTo>
                  <a:lnTo>
                    <a:pt x="0" y="77508"/>
                  </a:lnTo>
                  <a:lnTo>
                    <a:pt x="0" y="242671"/>
                  </a:lnTo>
                  <a:lnTo>
                    <a:pt x="347662" y="242684"/>
                  </a:lnTo>
                  <a:lnTo>
                    <a:pt x="347662" y="217271"/>
                  </a:lnTo>
                  <a:lnTo>
                    <a:pt x="26073" y="217271"/>
                  </a:lnTo>
                  <a:lnTo>
                    <a:pt x="26073" y="165176"/>
                  </a:lnTo>
                  <a:lnTo>
                    <a:pt x="112979" y="165176"/>
                  </a:lnTo>
                  <a:lnTo>
                    <a:pt x="112979" y="217017"/>
                  </a:lnTo>
                  <a:lnTo>
                    <a:pt x="130365" y="217017"/>
                  </a:lnTo>
                  <a:lnTo>
                    <a:pt x="130365" y="165176"/>
                  </a:lnTo>
                  <a:lnTo>
                    <a:pt x="217284" y="165176"/>
                  </a:lnTo>
                  <a:lnTo>
                    <a:pt x="217284" y="217017"/>
                  </a:lnTo>
                  <a:lnTo>
                    <a:pt x="234657" y="217017"/>
                  </a:lnTo>
                  <a:lnTo>
                    <a:pt x="234657" y="165176"/>
                  </a:lnTo>
                  <a:lnTo>
                    <a:pt x="321576" y="165176"/>
                  </a:lnTo>
                  <a:lnTo>
                    <a:pt x="321576" y="217017"/>
                  </a:lnTo>
                  <a:lnTo>
                    <a:pt x="347662" y="217017"/>
                  </a:lnTo>
                  <a:lnTo>
                    <a:pt x="347662" y="25641"/>
                  </a:lnTo>
                  <a:lnTo>
                    <a:pt x="321576" y="25641"/>
                  </a:lnTo>
                  <a:lnTo>
                    <a:pt x="321576" y="77508"/>
                  </a:lnTo>
                  <a:lnTo>
                    <a:pt x="321576" y="95300"/>
                  </a:lnTo>
                  <a:lnTo>
                    <a:pt x="321576" y="147383"/>
                  </a:lnTo>
                  <a:lnTo>
                    <a:pt x="234657" y="147383"/>
                  </a:lnTo>
                  <a:lnTo>
                    <a:pt x="234657" y="95300"/>
                  </a:lnTo>
                  <a:lnTo>
                    <a:pt x="321576" y="95300"/>
                  </a:lnTo>
                  <a:lnTo>
                    <a:pt x="321576" y="77508"/>
                  </a:lnTo>
                  <a:lnTo>
                    <a:pt x="234657" y="77508"/>
                  </a:lnTo>
                  <a:lnTo>
                    <a:pt x="234657" y="25641"/>
                  </a:lnTo>
                  <a:lnTo>
                    <a:pt x="217284" y="25641"/>
                  </a:lnTo>
                  <a:lnTo>
                    <a:pt x="217284" y="77508"/>
                  </a:lnTo>
                  <a:lnTo>
                    <a:pt x="217284" y="95300"/>
                  </a:lnTo>
                  <a:lnTo>
                    <a:pt x="217284" y="147383"/>
                  </a:lnTo>
                  <a:lnTo>
                    <a:pt x="130365" y="147383"/>
                  </a:lnTo>
                  <a:lnTo>
                    <a:pt x="130365" y="95300"/>
                  </a:lnTo>
                  <a:lnTo>
                    <a:pt x="217284" y="95300"/>
                  </a:lnTo>
                  <a:lnTo>
                    <a:pt x="217284" y="77508"/>
                  </a:lnTo>
                  <a:lnTo>
                    <a:pt x="130365" y="77508"/>
                  </a:lnTo>
                  <a:lnTo>
                    <a:pt x="130365" y="25641"/>
                  </a:lnTo>
                  <a:lnTo>
                    <a:pt x="112979" y="25641"/>
                  </a:lnTo>
                  <a:lnTo>
                    <a:pt x="112979" y="77508"/>
                  </a:lnTo>
                  <a:lnTo>
                    <a:pt x="112979" y="95300"/>
                  </a:lnTo>
                  <a:lnTo>
                    <a:pt x="112979" y="147383"/>
                  </a:lnTo>
                  <a:lnTo>
                    <a:pt x="26073" y="147383"/>
                  </a:lnTo>
                  <a:lnTo>
                    <a:pt x="26073" y="95300"/>
                  </a:lnTo>
                  <a:lnTo>
                    <a:pt x="112979" y="95300"/>
                  </a:lnTo>
                  <a:lnTo>
                    <a:pt x="112979" y="77508"/>
                  </a:lnTo>
                  <a:lnTo>
                    <a:pt x="26073" y="77508"/>
                  </a:lnTo>
                  <a:lnTo>
                    <a:pt x="26073" y="25412"/>
                  </a:lnTo>
                  <a:lnTo>
                    <a:pt x="347662" y="25412"/>
                  </a:lnTo>
                  <a:lnTo>
                    <a:pt x="347662" y="0"/>
                  </a:lnTo>
                  <a:close/>
                </a:path>
                <a:path w="1254760" h="727075">
                  <a:moveTo>
                    <a:pt x="551903" y="357454"/>
                  </a:moveTo>
                  <a:lnTo>
                    <a:pt x="534581" y="357454"/>
                  </a:lnTo>
                  <a:lnTo>
                    <a:pt x="534581" y="409460"/>
                  </a:lnTo>
                  <a:lnTo>
                    <a:pt x="551903" y="409460"/>
                  </a:lnTo>
                  <a:lnTo>
                    <a:pt x="551903" y="357454"/>
                  </a:lnTo>
                  <a:close/>
                </a:path>
                <a:path w="1254760" h="727075">
                  <a:moveTo>
                    <a:pt x="655828" y="357454"/>
                  </a:moveTo>
                  <a:lnTo>
                    <a:pt x="638505" y="357454"/>
                  </a:lnTo>
                  <a:lnTo>
                    <a:pt x="638505" y="409460"/>
                  </a:lnTo>
                  <a:lnTo>
                    <a:pt x="655828" y="409460"/>
                  </a:lnTo>
                  <a:lnTo>
                    <a:pt x="655828" y="357454"/>
                  </a:lnTo>
                  <a:close/>
                </a:path>
                <a:path w="1254760" h="727075">
                  <a:moveTo>
                    <a:pt x="768413" y="357454"/>
                  </a:moveTo>
                  <a:lnTo>
                    <a:pt x="742429" y="357454"/>
                  </a:lnTo>
                  <a:lnTo>
                    <a:pt x="742429" y="409460"/>
                  </a:lnTo>
                  <a:lnTo>
                    <a:pt x="768413" y="409460"/>
                  </a:lnTo>
                  <a:lnTo>
                    <a:pt x="768413" y="357454"/>
                  </a:lnTo>
                  <a:close/>
                </a:path>
                <a:path w="1254760" h="727075">
                  <a:moveTo>
                    <a:pt x="768413" y="331978"/>
                  </a:moveTo>
                  <a:lnTo>
                    <a:pt x="422008" y="331978"/>
                  </a:lnTo>
                  <a:lnTo>
                    <a:pt x="422008" y="357390"/>
                  </a:lnTo>
                  <a:lnTo>
                    <a:pt x="422008" y="409486"/>
                  </a:lnTo>
                  <a:lnTo>
                    <a:pt x="422008" y="727062"/>
                  </a:lnTo>
                  <a:lnTo>
                    <a:pt x="768413" y="727062"/>
                  </a:lnTo>
                  <a:lnTo>
                    <a:pt x="768413" y="700544"/>
                  </a:lnTo>
                  <a:lnTo>
                    <a:pt x="768413" y="700379"/>
                  </a:lnTo>
                  <a:lnTo>
                    <a:pt x="768413" y="648538"/>
                  </a:lnTo>
                  <a:lnTo>
                    <a:pt x="742429" y="648538"/>
                  </a:lnTo>
                  <a:lnTo>
                    <a:pt x="742429" y="700379"/>
                  </a:lnTo>
                  <a:lnTo>
                    <a:pt x="655828" y="700379"/>
                  </a:lnTo>
                  <a:lnTo>
                    <a:pt x="655828" y="648538"/>
                  </a:lnTo>
                  <a:lnTo>
                    <a:pt x="638505" y="648538"/>
                  </a:lnTo>
                  <a:lnTo>
                    <a:pt x="638505" y="700379"/>
                  </a:lnTo>
                  <a:lnTo>
                    <a:pt x="551903" y="700379"/>
                  </a:lnTo>
                  <a:lnTo>
                    <a:pt x="551903" y="648538"/>
                  </a:lnTo>
                  <a:lnTo>
                    <a:pt x="534581" y="648538"/>
                  </a:lnTo>
                  <a:lnTo>
                    <a:pt x="534581" y="700379"/>
                  </a:lnTo>
                  <a:lnTo>
                    <a:pt x="447992" y="700379"/>
                  </a:lnTo>
                  <a:lnTo>
                    <a:pt x="447992" y="648284"/>
                  </a:lnTo>
                  <a:lnTo>
                    <a:pt x="768413" y="648284"/>
                  </a:lnTo>
                  <a:lnTo>
                    <a:pt x="768413" y="631761"/>
                  </a:lnTo>
                  <a:lnTo>
                    <a:pt x="447992" y="631761"/>
                  </a:lnTo>
                  <a:lnTo>
                    <a:pt x="447992" y="579678"/>
                  </a:lnTo>
                  <a:lnTo>
                    <a:pt x="534581" y="579678"/>
                  </a:lnTo>
                  <a:lnTo>
                    <a:pt x="534581" y="631202"/>
                  </a:lnTo>
                  <a:lnTo>
                    <a:pt x="551903" y="631202"/>
                  </a:lnTo>
                  <a:lnTo>
                    <a:pt x="551903" y="579678"/>
                  </a:lnTo>
                  <a:lnTo>
                    <a:pt x="638505" y="579678"/>
                  </a:lnTo>
                  <a:lnTo>
                    <a:pt x="638505" y="631202"/>
                  </a:lnTo>
                  <a:lnTo>
                    <a:pt x="655828" y="631202"/>
                  </a:lnTo>
                  <a:lnTo>
                    <a:pt x="655828" y="579678"/>
                  </a:lnTo>
                  <a:lnTo>
                    <a:pt x="742429" y="579678"/>
                  </a:lnTo>
                  <a:lnTo>
                    <a:pt x="742429" y="631202"/>
                  </a:lnTo>
                  <a:lnTo>
                    <a:pt x="768413" y="631202"/>
                  </a:lnTo>
                  <a:lnTo>
                    <a:pt x="768413" y="479361"/>
                  </a:lnTo>
                  <a:lnTo>
                    <a:pt x="742429" y="479361"/>
                  </a:lnTo>
                  <a:lnTo>
                    <a:pt x="742429" y="509790"/>
                  </a:lnTo>
                  <a:lnTo>
                    <a:pt x="742429" y="547979"/>
                  </a:lnTo>
                  <a:lnTo>
                    <a:pt x="655828" y="547979"/>
                  </a:lnTo>
                  <a:lnTo>
                    <a:pt x="655828" y="509854"/>
                  </a:lnTo>
                  <a:lnTo>
                    <a:pt x="742429" y="509790"/>
                  </a:lnTo>
                  <a:lnTo>
                    <a:pt x="742429" y="479361"/>
                  </a:lnTo>
                  <a:lnTo>
                    <a:pt x="638505" y="479361"/>
                  </a:lnTo>
                  <a:lnTo>
                    <a:pt x="638505" y="509790"/>
                  </a:lnTo>
                  <a:lnTo>
                    <a:pt x="638505" y="547979"/>
                  </a:lnTo>
                  <a:lnTo>
                    <a:pt x="551903" y="547979"/>
                  </a:lnTo>
                  <a:lnTo>
                    <a:pt x="551903" y="509854"/>
                  </a:lnTo>
                  <a:lnTo>
                    <a:pt x="638505" y="509790"/>
                  </a:lnTo>
                  <a:lnTo>
                    <a:pt x="638505" y="479361"/>
                  </a:lnTo>
                  <a:lnTo>
                    <a:pt x="534581" y="479361"/>
                  </a:lnTo>
                  <a:lnTo>
                    <a:pt x="534581" y="509790"/>
                  </a:lnTo>
                  <a:lnTo>
                    <a:pt x="534581" y="547979"/>
                  </a:lnTo>
                  <a:lnTo>
                    <a:pt x="447992" y="547979"/>
                  </a:lnTo>
                  <a:lnTo>
                    <a:pt x="447992" y="509790"/>
                  </a:lnTo>
                  <a:lnTo>
                    <a:pt x="534581" y="509790"/>
                  </a:lnTo>
                  <a:lnTo>
                    <a:pt x="534581" y="479361"/>
                  </a:lnTo>
                  <a:lnTo>
                    <a:pt x="447992" y="479361"/>
                  </a:lnTo>
                  <a:lnTo>
                    <a:pt x="447992" y="427278"/>
                  </a:lnTo>
                  <a:lnTo>
                    <a:pt x="534581" y="427278"/>
                  </a:lnTo>
                  <a:lnTo>
                    <a:pt x="534581" y="478802"/>
                  </a:lnTo>
                  <a:lnTo>
                    <a:pt x="551903" y="478802"/>
                  </a:lnTo>
                  <a:lnTo>
                    <a:pt x="551903" y="427278"/>
                  </a:lnTo>
                  <a:lnTo>
                    <a:pt x="638505" y="427278"/>
                  </a:lnTo>
                  <a:lnTo>
                    <a:pt x="638505" y="478802"/>
                  </a:lnTo>
                  <a:lnTo>
                    <a:pt x="655828" y="478802"/>
                  </a:lnTo>
                  <a:lnTo>
                    <a:pt x="655828" y="427278"/>
                  </a:lnTo>
                  <a:lnTo>
                    <a:pt x="742429" y="427278"/>
                  </a:lnTo>
                  <a:lnTo>
                    <a:pt x="742429" y="478802"/>
                  </a:lnTo>
                  <a:lnTo>
                    <a:pt x="768413" y="478802"/>
                  </a:lnTo>
                  <a:lnTo>
                    <a:pt x="768413" y="427278"/>
                  </a:lnTo>
                  <a:lnTo>
                    <a:pt x="768413" y="426796"/>
                  </a:lnTo>
                  <a:lnTo>
                    <a:pt x="768413" y="409486"/>
                  </a:lnTo>
                  <a:lnTo>
                    <a:pt x="447992" y="409486"/>
                  </a:lnTo>
                  <a:lnTo>
                    <a:pt x="447992" y="357390"/>
                  </a:lnTo>
                  <a:lnTo>
                    <a:pt x="768413" y="357390"/>
                  </a:lnTo>
                  <a:lnTo>
                    <a:pt x="768413" y="331978"/>
                  </a:lnTo>
                  <a:close/>
                </a:path>
                <a:path w="1254760" h="727075">
                  <a:moveTo>
                    <a:pt x="1038059" y="179146"/>
                  </a:moveTo>
                  <a:lnTo>
                    <a:pt x="1020737" y="179146"/>
                  </a:lnTo>
                  <a:lnTo>
                    <a:pt x="1020737" y="231152"/>
                  </a:lnTo>
                  <a:lnTo>
                    <a:pt x="1038059" y="231152"/>
                  </a:lnTo>
                  <a:lnTo>
                    <a:pt x="1038059" y="179146"/>
                  </a:lnTo>
                  <a:close/>
                </a:path>
                <a:path w="1254760" h="727075">
                  <a:moveTo>
                    <a:pt x="1141984" y="179146"/>
                  </a:moveTo>
                  <a:lnTo>
                    <a:pt x="1124661" y="179146"/>
                  </a:lnTo>
                  <a:lnTo>
                    <a:pt x="1124661" y="231152"/>
                  </a:lnTo>
                  <a:lnTo>
                    <a:pt x="1141984" y="231152"/>
                  </a:lnTo>
                  <a:lnTo>
                    <a:pt x="1141984" y="179146"/>
                  </a:lnTo>
                  <a:close/>
                </a:path>
                <a:path w="1254760" h="727075">
                  <a:moveTo>
                    <a:pt x="1254569" y="179146"/>
                  </a:moveTo>
                  <a:lnTo>
                    <a:pt x="1228585" y="179146"/>
                  </a:lnTo>
                  <a:lnTo>
                    <a:pt x="1228585" y="231152"/>
                  </a:lnTo>
                  <a:lnTo>
                    <a:pt x="1254569" y="231152"/>
                  </a:lnTo>
                  <a:lnTo>
                    <a:pt x="1254569" y="179146"/>
                  </a:lnTo>
                  <a:close/>
                </a:path>
                <a:path w="1254760" h="727075">
                  <a:moveTo>
                    <a:pt x="1254569" y="153670"/>
                  </a:moveTo>
                  <a:lnTo>
                    <a:pt x="908164" y="153670"/>
                  </a:lnTo>
                  <a:lnTo>
                    <a:pt x="908164" y="179082"/>
                  </a:lnTo>
                  <a:lnTo>
                    <a:pt x="908164" y="231178"/>
                  </a:lnTo>
                  <a:lnTo>
                    <a:pt x="908164" y="396354"/>
                  </a:lnTo>
                  <a:lnTo>
                    <a:pt x="1254569" y="396354"/>
                  </a:lnTo>
                  <a:lnTo>
                    <a:pt x="1254569" y="369836"/>
                  </a:lnTo>
                  <a:lnTo>
                    <a:pt x="1254569" y="369671"/>
                  </a:lnTo>
                  <a:lnTo>
                    <a:pt x="1254569" y="317830"/>
                  </a:lnTo>
                  <a:lnTo>
                    <a:pt x="1228585" y="317830"/>
                  </a:lnTo>
                  <a:lnTo>
                    <a:pt x="1228585" y="369671"/>
                  </a:lnTo>
                  <a:lnTo>
                    <a:pt x="1141984" y="369671"/>
                  </a:lnTo>
                  <a:lnTo>
                    <a:pt x="1141984" y="317830"/>
                  </a:lnTo>
                  <a:lnTo>
                    <a:pt x="1124661" y="317830"/>
                  </a:lnTo>
                  <a:lnTo>
                    <a:pt x="1124661" y="369671"/>
                  </a:lnTo>
                  <a:lnTo>
                    <a:pt x="1038059" y="369671"/>
                  </a:lnTo>
                  <a:lnTo>
                    <a:pt x="1038059" y="317830"/>
                  </a:lnTo>
                  <a:lnTo>
                    <a:pt x="1020737" y="317830"/>
                  </a:lnTo>
                  <a:lnTo>
                    <a:pt x="1020737" y="369671"/>
                  </a:lnTo>
                  <a:lnTo>
                    <a:pt x="934148" y="369671"/>
                  </a:lnTo>
                  <a:lnTo>
                    <a:pt x="934148" y="317576"/>
                  </a:lnTo>
                  <a:lnTo>
                    <a:pt x="1254569" y="317576"/>
                  </a:lnTo>
                  <a:lnTo>
                    <a:pt x="1254569" y="301053"/>
                  </a:lnTo>
                  <a:lnTo>
                    <a:pt x="934148" y="301053"/>
                  </a:lnTo>
                  <a:lnTo>
                    <a:pt x="934148" y="248970"/>
                  </a:lnTo>
                  <a:lnTo>
                    <a:pt x="1020737" y="248970"/>
                  </a:lnTo>
                  <a:lnTo>
                    <a:pt x="1020737" y="300494"/>
                  </a:lnTo>
                  <a:lnTo>
                    <a:pt x="1038059" y="300494"/>
                  </a:lnTo>
                  <a:lnTo>
                    <a:pt x="1038059" y="248970"/>
                  </a:lnTo>
                  <a:lnTo>
                    <a:pt x="1124661" y="248970"/>
                  </a:lnTo>
                  <a:lnTo>
                    <a:pt x="1124661" y="300494"/>
                  </a:lnTo>
                  <a:lnTo>
                    <a:pt x="1141984" y="300494"/>
                  </a:lnTo>
                  <a:lnTo>
                    <a:pt x="1141984" y="248970"/>
                  </a:lnTo>
                  <a:lnTo>
                    <a:pt x="1228585" y="248970"/>
                  </a:lnTo>
                  <a:lnTo>
                    <a:pt x="1228585" y="300494"/>
                  </a:lnTo>
                  <a:lnTo>
                    <a:pt x="1254569" y="300494"/>
                  </a:lnTo>
                  <a:lnTo>
                    <a:pt x="1254569" y="248970"/>
                  </a:lnTo>
                  <a:lnTo>
                    <a:pt x="1254569" y="248488"/>
                  </a:lnTo>
                  <a:lnTo>
                    <a:pt x="1254569" y="231178"/>
                  </a:lnTo>
                  <a:lnTo>
                    <a:pt x="934148" y="231178"/>
                  </a:lnTo>
                  <a:lnTo>
                    <a:pt x="934148" y="179082"/>
                  </a:lnTo>
                  <a:lnTo>
                    <a:pt x="1254569" y="179082"/>
                  </a:lnTo>
                  <a:lnTo>
                    <a:pt x="1254569" y="153670"/>
                  </a:lnTo>
                  <a:close/>
                </a:path>
              </a:pathLst>
            </a:custGeom>
            <a:solidFill>
              <a:srgbClr val="BCBCBC"/>
            </a:solidFill>
          </p:spPr>
          <p:txBody>
            <a:bodyPr wrap="square" lIns="0" tIns="0" rIns="0" bIns="0" rtlCol="0"/>
            <a:lstStyle/>
            <a:p>
              <a:endParaRPr sz="2400"/>
            </a:p>
          </p:txBody>
        </p:sp>
        <p:sp>
          <p:nvSpPr>
            <p:cNvPr id="27" name="object 27"/>
            <p:cNvSpPr/>
            <p:nvPr/>
          </p:nvSpPr>
          <p:spPr>
            <a:xfrm>
              <a:off x="4281678" y="3390137"/>
              <a:ext cx="838835" cy="381635"/>
            </a:xfrm>
            <a:custGeom>
              <a:avLst/>
              <a:gdLst/>
              <a:ahLst/>
              <a:cxnLst/>
              <a:rect l="l" t="t" r="r" b="b"/>
              <a:pathLst>
                <a:path w="838835" h="381635">
                  <a:moveTo>
                    <a:pt x="230886" y="107568"/>
                  </a:moveTo>
                  <a:lnTo>
                    <a:pt x="0" y="0"/>
                  </a:lnTo>
                </a:path>
                <a:path w="838835" h="381635">
                  <a:moveTo>
                    <a:pt x="838326" y="188975"/>
                  </a:moveTo>
                  <a:lnTo>
                    <a:pt x="652272" y="381127"/>
                  </a:lnTo>
                </a:path>
              </a:pathLst>
            </a:custGeom>
            <a:ln w="38100">
              <a:solidFill>
                <a:srgbClr val="00C2FF"/>
              </a:solidFill>
            </a:ln>
          </p:spPr>
          <p:txBody>
            <a:bodyPr wrap="square" lIns="0" tIns="0" rIns="0" bIns="0" rtlCol="0"/>
            <a:lstStyle/>
            <a:p>
              <a:endParaRPr sz="2400"/>
            </a:p>
          </p:txBody>
        </p:sp>
        <p:sp>
          <p:nvSpPr>
            <p:cNvPr id="28" name="object 28"/>
            <p:cNvSpPr/>
            <p:nvPr/>
          </p:nvSpPr>
          <p:spPr>
            <a:xfrm>
              <a:off x="5183886" y="3684269"/>
              <a:ext cx="419100" cy="121920"/>
            </a:xfrm>
            <a:custGeom>
              <a:avLst/>
              <a:gdLst/>
              <a:ahLst/>
              <a:cxnLst/>
              <a:rect l="l" t="t" r="r" b="b"/>
              <a:pathLst>
                <a:path w="419100" h="121920">
                  <a:moveTo>
                    <a:pt x="358139" y="0"/>
                  </a:moveTo>
                  <a:lnTo>
                    <a:pt x="358139" y="30479"/>
                  </a:lnTo>
                  <a:lnTo>
                    <a:pt x="0" y="30479"/>
                  </a:lnTo>
                  <a:lnTo>
                    <a:pt x="0" y="91439"/>
                  </a:lnTo>
                  <a:lnTo>
                    <a:pt x="358139" y="91439"/>
                  </a:lnTo>
                  <a:lnTo>
                    <a:pt x="358139" y="121919"/>
                  </a:lnTo>
                  <a:lnTo>
                    <a:pt x="419100" y="60959"/>
                  </a:lnTo>
                  <a:lnTo>
                    <a:pt x="358139" y="0"/>
                  </a:lnTo>
                  <a:close/>
                </a:path>
              </a:pathLst>
            </a:custGeom>
            <a:solidFill>
              <a:srgbClr val="00C3FF"/>
            </a:solidFill>
          </p:spPr>
          <p:txBody>
            <a:bodyPr wrap="square" lIns="0" tIns="0" rIns="0" bIns="0" rtlCol="0"/>
            <a:lstStyle/>
            <a:p>
              <a:endParaRPr sz="2400"/>
            </a:p>
          </p:txBody>
        </p:sp>
        <p:sp>
          <p:nvSpPr>
            <p:cNvPr id="29" name="object 29"/>
            <p:cNvSpPr/>
            <p:nvPr/>
          </p:nvSpPr>
          <p:spPr>
            <a:xfrm>
              <a:off x="5183886" y="3684269"/>
              <a:ext cx="419100" cy="121920"/>
            </a:xfrm>
            <a:custGeom>
              <a:avLst/>
              <a:gdLst/>
              <a:ahLst/>
              <a:cxnLst/>
              <a:rect l="l" t="t" r="r" b="b"/>
              <a:pathLst>
                <a:path w="419100" h="121920">
                  <a:moveTo>
                    <a:pt x="0" y="30479"/>
                  </a:moveTo>
                  <a:lnTo>
                    <a:pt x="358139" y="30479"/>
                  </a:lnTo>
                  <a:lnTo>
                    <a:pt x="358139" y="0"/>
                  </a:lnTo>
                  <a:lnTo>
                    <a:pt x="419100" y="60959"/>
                  </a:lnTo>
                  <a:lnTo>
                    <a:pt x="358139" y="121919"/>
                  </a:lnTo>
                  <a:lnTo>
                    <a:pt x="358139" y="91439"/>
                  </a:lnTo>
                  <a:lnTo>
                    <a:pt x="0" y="91439"/>
                  </a:lnTo>
                  <a:lnTo>
                    <a:pt x="0" y="30479"/>
                  </a:lnTo>
                  <a:close/>
                </a:path>
              </a:pathLst>
            </a:custGeom>
            <a:ln w="25908">
              <a:solidFill>
                <a:srgbClr val="008FBB"/>
              </a:solidFill>
            </a:ln>
          </p:spPr>
          <p:txBody>
            <a:bodyPr wrap="square" lIns="0" tIns="0" rIns="0" bIns="0" rtlCol="0"/>
            <a:lstStyle/>
            <a:p>
              <a:endParaRPr sz="2400"/>
            </a:p>
          </p:txBody>
        </p:sp>
      </p:grpSp>
      <p:grpSp>
        <p:nvGrpSpPr>
          <p:cNvPr id="30" name="object 30"/>
          <p:cNvGrpSpPr/>
          <p:nvPr/>
        </p:nvGrpSpPr>
        <p:grpSpPr>
          <a:xfrm>
            <a:off x="8418577" y="1229359"/>
            <a:ext cx="3639820" cy="1747520"/>
            <a:chOff x="6313932" y="922019"/>
            <a:chExt cx="2729865" cy="1310640"/>
          </a:xfrm>
        </p:grpSpPr>
        <p:pic>
          <p:nvPicPr>
            <p:cNvPr id="31" name="object 31"/>
            <p:cNvPicPr/>
            <p:nvPr/>
          </p:nvPicPr>
          <p:blipFill>
            <a:blip r:embed="rId4" cstate="print"/>
            <a:stretch>
              <a:fillRect/>
            </a:stretch>
          </p:blipFill>
          <p:spPr>
            <a:xfrm>
              <a:off x="6318504" y="922019"/>
              <a:ext cx="2724911" cy="1310639"/>
            </a:xfrm>
            <a:prstGeom prst="rect">
              <a:avLst/>
            </a:prstGeom>
          </p:spPr>
        </p:pic>
        <p:pic>
          <p:nvPicPr>
            <p:cNvPr id="32" name="object 32"/>
            <p:cNvPicPr/>
            <p:nvPr/>
          </p:nvPicPr>
          <p:blipFill>
            <a:blip r:embed="rId5" cstate="print"/>
            <a:stretch>
              <a:fillRect/>
            </a:stretch>
          </p:blipFill>
          <p:spPr>
            <a:xfrm>
              <a:off x="6313932" y="1040904"/>
              <a:ext cx="2535936" cy="1094219"/>
            </a:xfrm>
            <a:prstGeom prst="rect">
              <a:avLst/>
            </a:prstGeom>
          </p:spPr>
        </p:pic>
      </p:grpSp>
      <p:sp>
        <p:nvSpPr>
          <p:cNvPr id="33" name="object 33"/>
          <p:cNvSpPr txBox="1"/>
          <p:nvPr/>
        </p:nvSpPr>
        <p:spPr>
          <a:xfrm>
            <a:off x="8487663" y="1261871"/>
            <a:ext cx="3513667" cy="1353554"/>
          </a:xfrm>
          <a:prstGeom prst="rect">
            <a:avLst/>
          </a:prstGeom>
          <a:noFill/>
          <a:ln w="9144">
            <a:noFill/>
          </a:ln>
        </p:spPr>
        <p:txBody>
          <a:bodyPr vert="horz" wrap="square" lIns="0" tIns="207433" rIns="0" bIns="0" rtlCol="0">
            <a:spAutoFit/>
          </a:bodyPr>
          <a:lstStyle/>
          <a:p>
            <a:pPr marL="579106" indent="-456342">
              <a:spcBef>
                <a:spcPts val="1633"/>
              </a:spcBef>
              <a:buFont typeface="Courier New"/>
              <a:buChar char="o"/>
              <a:tabLst>
                <a:tab pos="579106" algn="l"/>
              </a:tabLst>
            </a:pPr>
            <a:r>
              <a:rPr sz="1867" dirty="0">
                <a:solidFill>
                  <a:srgbClr val="FFFFFF"/>
                </a:solidFill>
                <a:latin typeface="Calibri"/>
                <a:cs typeface="Calibri"/>
              </a:rPr>
              <a:t>Subset</a:t>
            </a:r>
            <a:r>
              <a:rPr sz="1867" spc="-20" dirty="0">
                <a:solidFill>
                  <a:srgbClr val="FFFFFF"/>
                </a:solidFill>
                <a:latin typeface="Calibri"/>
                <a:cs typeface="Calibri"/>
              </a:rPr>
              <a:t> </a:t>
            </a:r>
            <a:r>
              <a:rPr sz="1867" dirty="0">
                <a:solidFill>
                  <a:srgbClr val="FFFFFF"/>
                </a:solidFill>
                <a:latin typeface="Calibri"/>
                <a:cs typeface="Calibri"/>
              </a:rPr>
              <a:t>of</a:t>
            </a:r>
            <a:r>
              <a:rPr sz="1867" spc="-40" dirty="0">
                <a:solidFill>
                  <a:srgbClr val="FFFFFF"/>
                </a:solidFill>
                <a:latin typeface="Calibri"/>
                <a:cs typeface="Calibri"/>
              </a:rPr>
              <a:t> </a:t>
            </a:r>
            <a:r>
              <a:rPr sz="1867" dirty="0">
                <a:solidFill>
                  <a:srgbClr val="FFFFFF"/>
                </a:solidFill>
                <a:latin typeface="Calibri"/>
                <a:cs typeface="Calibri"/>
              </a:rPr>
              <a:t>a</a:t>
            </a:r>
            <a:r>
              <a:rPr sz="1867" spc="-20" dirty="0">
                <a:solidFill>
                  <a:srgbClr val="FFFFFF"/>
                </a:solidFill>
                <a:latin typeface="Calibri"/>
                <a:cs typeface="Calibri"/>
              </a:rPr>
              <a:t> </a:t>
            </a:r>
            <a:r>
              <a:rPr sz="1867" spc="-33" dirty="0">
                <a:solidFill>
                  <a:srgbClr val="FFFFFF"/>
                </a:solidFill>
                <a:latin typeface="Calibri"/>
                <a:cs typeface="Calibri"/>
              </a:rPr>
              <a:t>DWH</a:t>
            </a:r>
            <a:endParaRPr sz="1867" dirty="0">
              <a:latin typeface="Calibri"/>
              <a:cs typeface="Calibri"/>
            </a:endParaRPr>
          </a:p>
          <a:p>
            <a:pPr marL="579106" indent="-456342">
              <a:spcBef>
                <a:spcPts val="1120"/>
              </a:spcBef>
              <a:buFont typeface="Courier New"/>
              <a:buChar char="o"/>
              <a:tabLst>
                <a:tab pos="579106" algn="l"/>
              </a:tabLst>
            </a:pPr>
            <a:r>
              <a:rPr sz="1867" dirty="0">
                <a:solidFill>
                  <a:srgbClr val="FFFFFF"/>
                </a:solidFill>
                <a:latin typeface="Calibri"/>
                <a:cs typeface="Calibri"/>
              </a:rPr>
              <a:t>Dimensional</a:t>
            </a:r>
            <a:r>
              <a:rPr sz="1867" spc="-80" dirty="0">
                <a:solidFill>
                  <a:srgbClr val="FFFFFF"/>
                </a:solidFill>
                <a:latin typeface="Calibri"/>
                <a:cs typeface="Calibri"/>
              </a:rPr>
              <a:t> </a:t>
            </a:r>
            <a:r>
              <a:rPr sz="1867" spc="-27" dirty="0">
                <a:solidFill>
                  <a:srgbClr val="FFFFFF"/>
                </a:solidFill>
                <a:latin typeface="Calibri"/>
                <a:cs typeface="Calibri"/>
              </a:rPr>
              <a:t>Model</a:t>
            </a:r>
            <a:endParaRPr sz="1867" dirty="0">
              <a:latin typeface="Calibri"/>
              <a:cs typeface="Calibri"/>
            </a:endParaRPr>
          </a:p>
          <a:p>
            <a:pPr marL="579106" indent="-456342">
              <a:spcBef>
                <a:spcPts val="1120"/>
              </a:spcBef>
              <a:buFont typeface="Courier New"/>
              <a:buChar char="o"/>
              <a:tabLst>
                <a:tab pos="579106" algn="l"/>
              </a:tabLst>
            </a:pPr>
            <a:r>
              <a:rPr sz="1867" dirty="0">
                <a:solidFill>
                  <a:srgbClr val="FFFFFF"/>
                </a:solidFill>
                <a:latin typeface="Calibri"/>
                <a:cs typeface="Calibri"/>
              </a:rPr>
              <a:t>Can</a:t>
            </a:r>
            <a:r>
              <a:rPr sz="1867" spc="-40" dirty="0">
                <a:solidFill>
                  <a:srgbClr val="FFFFFF"/>
                </a:solidFill>
                <a:latin typeface="Calibri"/>
                <a:cs typeface="Calibri"/>
              </a:rPr>
              <a:t> </a:t>
            </a:r>
            <a:r>
              <a:rPr sz="1867" dirty="0">
                <a:solidFill>
                  <a:srgbClr val="FFFFFF"/>
                </a:solidFill>
                <a:latin typeface="Calibri"/>
                <a:cs typeface="Calibri"/>
              </a:rPr>
              <a:t>be</a:t>
            </a:r>
            <a:r>
              <a:rPr sz="1867" spc="-47" dirty="0">
                <a:solidFill>
                  <a:srgbClr val="FFFFFF"/>
                </a:solidFill>
                <a:latin typeface="Calibri"/>
                <a:cs typeface="Calibri"/>
              </a:rPr>
              <a:t> </a:t>
            </a:r>
            <a:r>
              <a:rPr sz="1867" dirty="0">
                <a:solidFill>
                  <a:srgbClr val="FFFFFF"/>
                </a:solidFill>
                <a:latin typeface="Calibri"/>
                <a:cs typeface="Calibri"/>
              </a:rPr>
              <a:t>further</a:t>
            </a:r>
            <a:r>
              <a:rPr sz="1867" spc="-33" dirty="0">
                <a:solidFill>
                  <a:srgbClr val="FFFFFF"/>
                </a:solidFill>
                <a:latin typeface="Calibri"/>
                <a:cs typeface="Calibri"/>
              </a:rPr>
              <a:t> </a:t>
            </a:r>
            <a:r>
              <a:rPr sz="1867" spc="-13" dirty="0">
                <a:solidFill>
                  <a:srgbClr val="FFFFFF"/>
                </a:solidFill>
                <a:latin typeface="Calibri"/>
                <a:cs typeface="Calibri"/>
              </a:rPr>
              <a:t>aggregated</a:t>
            </a:r>
            <a:endParaRPr sz="1867" dirty="0">
              <a:latin typeface="Calibri"/>
              <a:cs typeface="Calibri"/>
            </a:endParaRPr>
          </a:p>
        </p:txBody>
      </p:sp>
      <p:grpSp>
        <p:nvGrpSpPr>
          <p:cNvPr id="34" name="object 34"/>
          <p:cNvGrpSpPr/>
          <p:nvPr/>
        </p:nvGrpSpPr>
        <p:grpSpPr>
          <a:xfrm>
            <a:off x="8418577" y="2944334"/>
            <a:ext cx="3639820" cy="1243753"/>
            <a:chOff x="6313932" y="2208250"/>
            <a:chExt cx="2729865" cy="932815"/>
          </a:xfrm>
        </p:grpSpPr>
        <p:pic>
          <p:nvPicPr>
            <p:cNvPr id="35" name="object 35"/>
            <p:cNvPicPr/>
            <p:nvPr/>
          </p:nvPicPr>
          <p:blipFill>
            <a:blip r:embed="rId6" cstate="print"/>
            <a:stretch>
              <a:fillRect/>
            </a:stretch>
          </p:blipFill>
          <p:spPr>
            <a:xfrm>
              <a:off x="6318504" y="2208250"/>
              <a:ext cx="2724911" cy="932713"/>
            </a:xfrm>
            <a:prstGeom prst="rect">
              <a:avLst/>
            </a:prstGeom>
          </p:spPr>
        </p:pic>
        <p:pic>
          <p:nvPicPr>
            <p:cNvPr id="36" name="object 36"/>
            <p:cNvPicPr/>
            <p:nvPr/>
          </p:nvPicPr>
          <p:blipFill>
            <a:blip r:embed="rId7" cstate="print"/>
            <a:stretch>
              <a:fillRect/>
            </a:stretch>
          </p:blipFill>
          <p:spPr>
            <a:xfrm>
              <a:off x="6313932" y="2325636"/>
              <a:ext cx="2263140" cy="774179"/>
            </a:xfrm>
            <a:prstGeom prst="rect">
              <a:avLst/>
            </a:prstGeom>
          </p:spPr>
        </p:pic>
      </p:grpSp>
      <p:sp>
        <p:nvSpPr>
          <p:cNvPr id="37" name="object 37"/>
          <p:cNvSpPr txBox="1"/>
          <p:nvPr/>
        </p:nvSpPr>
        <p:spPr>
          <a:xfrm>
            <a:off x="8487663" y="2976881"/>
            <a:ext cx="3513667" cy="923458"/>
          </a:xfrm>
          <a:prstGeom prst="rect">
            <a:avLst/>
          </a:prstGeom>
          <a:solidFill>
            <a:srgbClr val="D9D9D9"/>
          </a:solidFill>
          <a:ln w="9144">
            <a:solidFill>
              <a:srgbClr val="373737"/>
            </a:solidFill>
          </a:ln>
        </p:spPr>
        <p:txBody>
          <a:bodyPr vert="horz" wrap="square" lIns="0" tIns="205740" rIns="0" bIns="0" rtlCol="0">
            <a:spAutoFit/>
          </a:bodyPr>
          <a:lstStyle/>
          <a:p>
            <a:pPr marL="579106" indent="-456342">
              <a:spcBef>
                <a:spcPts val="1620"/>
              </a:spcBef>
              <a:buClr>
                <a:srgbClr val="FFFFFF"/>
              </a:buClr>
              <a:buFont typeface="Courier New"/>
              <a:buChar char="o"/>
              <a:tabLst>
                <a:tab pos="579106" algn="l"/>
              </a:tabLst>
            </a:pPr>
            <a:r>
              <a:rPr sz="1867" i="1" dirty="0">
                <a:solidFill>
                  <a:srgbClr val="3B3B3B"/>
                </a:solidFill>
                <a:latin typeface="Calibri"/>
                <a:cs typeface="Calibri"/>
              </a:rPr>
              <a:t>Usability</a:t>
            </a:r>
            <a:r>
              <a:rPr sz="1867" i="1" spc="-53" dirty="0">
                <a:solidFill>
                  <a:srgbClr val="3B3B3B"/>
                </a:solidFill>
                <a:latin typeface="Calibri"/>
                <a:cs typeface="Calibri"/>
              </a:rPr>
              <a:t> </a:t>
            </a:r>
            <a:r>
              <a:rPr sz="1867" i="1" dirty="0">
                <a:solidFill>
                  <a:srgbClr val="3B3B3B"/>
                </a:solidFill>
                <a:latin typeface="Calibri"/>
                <a:cs typeface="Calibri"/>
              </a:rPr>
              <a:t>+</a:t>
            </a:r>
            <a:r>
              <a:rPr sz="1867" i="1" spc="-73" dirty="0">
                <a:solidFill>
                  <a:srgbClr val="3B3B3B"/>
                </a:solidFill>
                <a:latin typeface="Calibri"/>
                <a:cs typeface="Calibri"/>
              </a:rPr>
              <a:t> </a:t>
            </a:r>
            <a:r>
              <a:rPr sz="1867" i="1" spc="-13" dirty="0">
                <a:solidFill>
                  <a:srgbClr val="3B3B3B"/>
                </a:solidFill>
                <a:latin typeface="Calibri"/>
                <a:cs typeface="Calibri"/>
              </a:rPr>
              <a:t>Acceptance</a:t>
            </a:r>
            <a:endParaRPr sz="1867">
              <a:latin typeface="Calibri"/>
              <a:cs typeface="Calibri"/>
            </a:endParaRPr>
          </a:p>
          <a:p>
            <a:pPr marL="579106" indent="-456342">
              <a:spcBef>
                <a:spcPts val="1120"/>
              </a:spcBef>
              <a:buClr>
                <a:srgbClr val="FFFFFF"/>
              </a:buClr>
              <a:buFont typeface="Courier New"/>
              <a:buChar char="o"/>
              <a:tabLst>
                <a:tab pos="579106" algn="l"/>
              </a:tabLst>
            </a:pPr>
            <a:r>
              <a:rPr sz="1867" i="1" spc="-13" dirty="0">
                <a:solidFill>
                  <a:srgbClr val="3B3B3B"/>
                </a:solidFill>
                <a:latin typeface="Calibri"/>
                <a:cs typeface="Calibri"/>
              </a:rPr>
              <a:t>Performance</a:t>
            </a:r>
            <a:endParaRPr sz="1867">
              <a:latin typeface="Calibri"/>
              <a:cs typeface="Calibri"/>
            </a:endParaRPr>
          </a:p>
        </p:txBody>
      </p:sp>
      <p:grpSp>
        <p:nvGrpSpPr>
          <p:cNvPr id="38" name="object 38"/>
          <p:cNvGrpSpPr/>
          <p:nvPr/>
        </p:nvGrpSpPr>
        <p:grpSpPr>
          <a:xfrm>
            <a:off x="8457184" y="4155424"/>
            <a:ext cx="3562773" cy="2107353"/>
            <a:chOff x="6342888" y="3116567"/>
            <a:chExt cx="2672080" cy="1580515"/>
          </a:xfrm>
        </p:grpSpPr>
        <p:pic>
          <p:nvPicPr>
            <p:cNvPr id="39" name="object 39"/>
            <p:cNvPicPr/>
            <p:nvPr/>
          </p:nvPicPr>
          <p:blipFill>
            <a:blip r:embed="rId8" cstate="print"/>
            <a:stretch>
              <a:fillRect/>
            </a:stretch>
          </p:blipFill>
          <p:spPr>
            <a:xfrm>
              <a:off x="6347460" y="3116567"/>
              <a:ext cx="2666999" cy="1580388"/>
            </a:xfrm>
            <a:prstGeom prst="rect">
              <a:avLst/>
            </a:prstGeom>
          </p:spPr>
        </p:pic>
        <p:pic>
          <p:nvPicPr>
            <p:cNvPr id="40" name="object 40"/>
            <p:cNvPicPr/>
            <p:nvPr/>
          </p:nvPicPr>
          <p:blipFill>
            <a:blip r:embed="rId9" cstate="print"/>
            <a:stretch>
              <a:fillRect/>
            </a:stretch>
          </p:blipFill>
          <p:spPr>
            <a:xfrm>
              <a:off x="6342888" y="3233928"/>
              <a:ext cx="1577339" cy="1414272"/>
            </a:xfrm>
            <a:prstGeom prst="rect">
              <a:avLst/>
            </a:prstGeom>
          </p:spPr>
        </p:pic>
      </p:grpSp>
      <p:sp>
        <p:nvSpPr>
          <p:cNvPr id="41" name="object 41"/>
          <p:cNvSpPr txBox="1"/>
          <p:nvPr/>
        </p:nvSpPr>
        <p:spPr>
          <a:xfrm>
            <a:off x="8526271" y="4187952"/>
            <a:ext cx="3436620" cy="1780231"/>
          </a:xfrm>
          <a:prstGeom prst="rect">
            <a:avLst/>
          </a:prstGeom>
          <a:solidFill>
            <a:srgbClr val="00607E"/>
          </a:solidFill>
          <a:ln w="9144">
            <a:solidFill>
              <a:srgbClr val="373737"/>
            </a:solidFill>
          </a:ln>
        </p:spPr>
        <p:txBody>
          <a:bodyPr vert="horz" wrap="square" lIns="0" tIns="205740" rIns="0" bIns="0" rtlCol="0">
            <a:spAutoFit/>
          </a:bodyPr>
          <a:lstStyle/>
          <a:p>
            <a:pPr marL="579106" indent="-456342">
              <a:spcBef>
                <a:spcPts val="1620"/>
              </a:spcBef>
              <a:buFont typeface="Courier New"/>
              <a:buChar char="o"/>
              <a:tabLst>
                <a:tab pos="579106" algn="l"/>
              </a:tabLst>
            </a:pPr>
            <a:r>
              <a:rPr sz="1867" i="1" spc="-13" dirty="0">
                <a:solidFill>
                  <a:srgbClr val="FFFFFF"/>
                </a:solidFill>
                <a:latin typeface="Calibri"/>
                <a:cs typeface="Calibri"/>
              </a:rPr>
              <a:t>Tools</a:t>
            </a:r>
            <a:endParaRPr sz="1867">
              <a:latin typeface="Calibri"/>
              <a:cs typeface="Calibri"/>
            </a:endParaRPr>
          </a:p>
          <a:p>
            <a:pPr marL="579106" indent="-456342">
              <a:spcBef>
                <a:spcPts val="1125"/>
              </a:spcBef>
              <a:buFont typeface="Courier New"/>
              <a:buChar char="o"/>
              <a:tabLst>
                <a:tab pos="579106" algn="l"/>
              </a:tabLst>
            </a:pPr>
            <a:r>
              <a:rPr sz="1867" i="1" spc="-13" dirty="0">
                <a:solidFill>
                  <a:srgbClr val="FFFFFF"/>
                </a:solidFill>
                <a:latin typeface="Calibri"/>
                <a:cs typeface="Calibri"/>
              </a:rPr>
              <a:t>Departments</a:t>
            </a:r>
            <a:endParaRPr sz="1867">
              <a:latin typeface="Calibri"/>
              <a:cs typeface="Calibri"/>
            </a:endParaRPr>
          </a:p>
          <a:p>
            <a:pPr marL="579106" indent="-456342">
              <a:spcBef>
                <a:spcPts val="1120"/>
              </a:spcBef>
              <a:buFont typeface="Courier New"/>
              <a:buChar char="o"/>
              <a:tabLst>
                <a:tab pos="579106" algn="l"/>
              </a:tabLst>
            </a:pPr>
            <a:r>
              <a:rPr sz="1867" i="1" spc="-13" dirty="0">
                <a:solidFill>
                  <a:srgbClr val="FFFFFF"/>
                </a:solidFill>
                <a:latin typeface="Calibri"/>
                <a:cs typeface="Calibri"/>
              </a:rPr>
              <a:t>Regions</a:t>
            </a:r>
            <a:endParaRPr sz="1867">
              <a:latin typeface="Calibri"/>
              <a:cs typeface="Calibri"/>
            </a:endParaRPr>
          </a:p>
          <a:p>
            <a:pPr marL="579106" indent="-456342">
              <a:spcBef>
                <a:spcPts val="1120"/>
              </a:spcBef>
              <a:buFont typeface="Courier New"/>
              <a:buChar char="o"/>
              <a:tabLst>
                <a:tab pos="579106" algn="l"/>
              </a:tabLst>
            </a:pPr>
            <a:r>
              <a:rPr sz="1867" i="1" spc="-13" dirty="0">
                <a:solidFill>
                  <a:srgbClr val="FFFFFF"/>
                </a:solidFill>
                <a:latin typeface="Calibri"/>
                <a:cs typeface="Calibri"/>
              </a:rPr>
              <a:t>Use-</a:t>
            </a:r>
            <a:r>
              <a:rPr sz="1867" i="1" spc="-27" dirty="0">
                <a:solidFill>
                  <a:srgbClr val="FFFFFF"/>
                </a:solidFill>
                <a:latin typeface="Calibri"/>
                <a:cs typeface="Calibri"/>
              </a:rPr>
              <a:t>cases</a:t>
            </a:r>
            <a:endParaRPr sz="1867">
              <a:latin typeface="Calibri"/>
              <a:cs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86807" y="180365"/>
            <a:ext cx="3254558"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Data</a:t>
            </a:r>
            <a:r>
              <a:rPr spc="-73" dirty="0">
                <a:solidFill>
                  <a:schemeClr val="bg1"/>
                </a:solidFill>
                <a:latin typeface="+mn-lt"/>
              </a:rPr>
              <a:t> </a:t>
            </a:r>
            <a:r>
              <a:rPr spc="-27" dirty="0">
                <a:solidFill>
                  <a:schemeClr val="bg1"/>
                </a:solidFill>
                <a:latin typeface="+mn-lt"/>
              </a:rPr>
              <a:t>Marts</a:t>
            </a:r>
          </a:p>
        </p:txBody>
      </p:sp>
      <p:sp>
        <p:nvSpPr>
          <p:cNvPr id="3" name="object 3"/>
          <p:cNvSpPr txBox="1"/>
          <p:nvPr/>
        </p:nvSpPr>
        <p:spPr>
          <a:xfrm>
            <a:off x="3400552" y="1859788"/>
            <a:ext cx="5410200" cy="2890856"/>
          </a:xfrm>
          <a:prstGeom prst="rect">
            <a:avLst/>
          </a:prstGeom>
        </p:spPr>
        <p:txBody>
          <a:bodyPr vert="horz" wrap="square" lIns="0" tIns="17780" rIns="0" bIns="0" rtlCol="0">
            <a:spAutoFit/>
          </a:bodyPr>
          <a:lstStyle/>
          <a:p>
            <a:pPr marL="397923" indent="-380990">
              <a:spcBef>
                <a:spcPts val="140"/>
              </a:spcBef>
              <a:buClr>
                <a:srgbClr val="99D3FF"/>
              </a:buClr>
              <a:buFont typeface="Wingdings"/>
              <a:buChar char=""/>
              <a:tabLst>
                <a:tab pos="397923" algn="l"/>
              </a:tabLst>
            </a:pPr>
            <a:r>
              <a:rPr sz="2667" b="1" dirty="0">
                <a:solidFill>
                  <a:srgbClr val="D9D9D9"/>
                </a:solidFill>
                <a:latin typeface="Calibri"/>
                <a:cs typeface="Calibri"/>
              </a:rPr>
              <a:t>Data</a:t>
            </a:r>
            <a:r>
              <a:rPr sz="2667" b="1" spc="-20" dirty="0">
                <a:solidFill>
                  <a:srgbClr val="D9D9D9"/>
                </a:solidFill>
                <a:latin typeface="Calibri"/>
                <a:cs typeface="Calibri"/>
              </a:rPr>
              <a:t> </a:t>
            </a:r>
            <a:r>
              <a:rPr sz="2667" b="1" dirty="0">
                <a:solidFill>
                  <a:srgbClr val="D9D9D9"/>
                </a:solidFill>
                <a:latin typeface="Calibri"/>
                <a:cs typeface="Calibri"/>
              </a:rPr>
              <a:t>Mart</a:t>
            </a:r>
            <a:r>
              <a:rPr sz="2667" b="1" spc="-33" dirty="0">
                <a:solidFill>
                  <a:srgbClr val="D9D9D9"/>
                </a:solidFill>
                <a:latin typeface="Calibri"/>
                <a:cs typeface="Calibri"/>
              </a:rPr>
              <a:t> </a:t>
            </a:r>
            <a:r>
              <a:rPr sz="2667" b="1" dirty="0">
                <a:solidFill>
                  <a:srgbClr val="D9D9D9"/>
                </a:solidFill>
                <a:latin typeface="Calibri"/>
                <a:cs typeface="Calibri"/>
              </a:rPr>
              <a:t>=</a:t>
            </a:r>
            <a:r>
              <a:rPr sz="2667" b="1" spc="-13" dirty="0">
                <a:solidFill>
                  <a:srgbClr val="D9D9D9"/>
                </a:solidFill>
                <a:latin typeface="Calibri"/>
                <a:cs typeface="Calibri"/>
              </a:rPr>
              <a:t> </a:t>
            </a:r>
            <a:r>
              <a:rPr sz="2667" b="1" dirty="0">
                <a:solidFill>
                  <a:srgbClr val="D9D9D9"/>
                </a:solidFill>
                <a:latin typeface="Calibri"/>
                <a:cs typeface="Calibri"/>
              </a:rPr>
              <a:t>Small</a:t>
            </a:r>
            <a:r>
              <a:rPr sz="2667" b="1" spc="-47" dirty="0">
                <a:solidFill>
                  <a:srgbClr val="D9D9D9"/>
                </a:solidFill>
                <a:latin typeface="Calibri"/>
                <a:cs typeface="Calibri"/>
              </a:rPr>
              <a:t> </a:t>
            </a:r>
            <a:r>
              <a:rPr sz="2667" b="1" dirty="0">
                <a:solidFill>
                  <a:srgbClr val="D9D9D9"/>
                </a:solidFill>
                <a:latin typeface="Calibri"/>
                <a:cs typeface="Calibri"/>
              </a:rPr>
              <a:t>scale</a:t>
            </a:r>
            <a:r>
              <a:rPr sz="2667" b="1" spc="-27" dirty="0">
                <a:solidFill>
                  <a:srgbClr val="D9D9D9"/>
                </a:solidFill>
                <a:latin typeface="Calibri"/>
                <a:cs typeface="Calibri"/>
              </a:rPr>
              <a:t> DWH?</a:t>
            </a:r>
            <a:endParaRPr sz="2667">
              <a:latin typeface="Calibri"/>
              <a:cs typeface="Calibri"/>
            </a:endParaRPr>
          </a:p>
          <a:p>
            <a:pPr marL="38099">
              <a:spcBef>
                <a:spcPts val="2360"/>
              </a:spcBef>
            </a:pPr>
            <a:r>
              <a:rPr sz="2667" dirty="0">
                <a:solidFill>
                  <a:srgbClr val="99D3FF"/>
                </a:solidFill>
                <a:latin typeface="Symbol"/>
                <a:cs typeface="Symbol"/>
              </a:rPr>
              <a:t></a:t>
            </a:r>
            <a:r>
              <a:rPr sz="2667" spc="-300" dirty="0">
                <a:solidFill>
                  <a:srgbClr val="99D3FF"/>
                </a:solidFill>
                <a:latin typeface="Times New Roman"/>
                <a:cs typeface="Times New Roman"/>
              </a:rPr>
              <a:t> </a:t>
            </a:r>
            <a:r>
              <a:rPr sz="2667" b="1" dirty="0">
                <a:solidFill>
                  <a:srgbClr val="0092BE"/>
                </a:solidFill>
                <a:latin typeface="Calibri"/>
                <a:cs typeface="Calibri"/>
              </a:rPr>
              <a:t>Focus</a:t>
            </a:r>
            <a:r>
              <a:rPr sz="2667" b="1" spc="-73" dirty="0">
                <a:solidFill>
                  <a:srgbClr val="0092BE"/>
                </a:solidFill>
                <a:latin typeface="Calibri"/>
                <a:cs typeface="Calibri"/>
              </a:rPr>
              <a:t> </a:t>
            </a:r>
            <a:r>
              <a:rPr sz="2667" b="1" dirty="0">
                <a:solidFill>
                  <a:srgbClr val="0092BE"/>
                </a:solidFill>
                <a:latin typeface="Calibri"/>
                <a:cs typeface="Calibri"/>
              </a:rPr>
              <a:t>on</a:t>
            </a:r>
            <a:r>
              <a:rPr sz="2667" b="1" spc="-13" dirty="0">
                <a:solidFill>
                  <a:srgbClr val="0092BE"/>
                </a:solidFill>
                <a:latin typeface="Calibri"/>
                <a:cs typeface="Calibri"/>
              </a:rPr>
              <a:t> </a:t>
            </a:r>
            <a:r>
              <a:rPr sz="2667" b="1" dirty="0">
                <a:solidFill>
                  <a:srgbClr val="0092BE"/>
                </a:solidFill>
                <a:latin typeface="Calibri"/>
                <a:cs typeface="Calibri"/>
              </a:rPr>
              <a:t>the</a:t>
            </a:r>
            <a:r>
              <a:rPr sz="2667" b="1" spc="-27" dirty="0">
                <a:solidFill>
                  <a:srgbClr val="0092BE"/>
                </a:solidFill>
                <a:latin typeface="Calibri"/>
                <a:cs typeface="Calibri"/>
              </a:rPr>
              <a:t> </a:t>
            </a:r>
            <a:r>
              <a:rPr sz="2667" b="1" dirty="0">
                <a:solidFill>
                  <a:srgbClr val="0092BE"/>
                </a:solidFill>
                <a:latin typeface="Calibri"/>
                <a:cs typeface="Calibri"/>
              </a:rPr>
              <a:t>business</a:t>
            </a:r>
            <a:r>
              <a:rPr sz="2667" b="1" spc="-53" dirty="0">
                <a:solidFill>
                  <a:srgbClr val="0092BE"/>
                </a:solidFill>
                <a:latin typeface="Calibri"/>
                <a:cs typeface="Calibri"/>
              </a:rPr>
              <a:t> </a:t>
            </a:r>
            <a:r>
              <a:rPr sz="2667" b="1" spc="-13" dirty="0">
                <a:solidFill>
                  <a:srgbClr val="0092BE"/>
                </a:solidFill>
                <a:latin typeface="Calibri"/>
                <a:cs typeface="Calibri"/>
              </a:rPr>
              <a:t>problem</a:t>
            </a:r>
            <a:endParaRPr sz="2667">
              <a:latin typeface="Calibri"/>
              <a:cs typeface="Calibri"/>
            </a:endParaRPr>
          </a:p>
          <a:p>
            <a:pPr>
              <a:spcBef>
                <a:spcPts val="1200"/>
              </a:spcBef>
            </a:pPr>
            <a:endParaRPr sz="2667">
              <a:latin typeface="Calibri"/>
              <a:cs typeface="Calibri"/>
            </a:endParaRPr>
          </a:p>
          <a:p>
            <a:pPr marL="397923" indent="-380990">
              <a:buClr>
                <a:srgbClr val="99D3FF"/>
              </a:buClr>
              <a:buFont typeface="Wingdings"/>
              <a:buChar char=""/>
              <a:tabLst>
                <a:tab pos="397923" algn="l"/>
              </a:tabLst>
            </a:pPr>
            <a:r>
              <a:rPr sz="2667" b="1" dirty="0">
                <a:solidFill>
                  <a:srgbClr val="D9D9D9"/>
                </a:solidFill>
                <a:latin typeface="Calibri"/>
                <a:cs typeface="Calibri"/>
              </a:rPr>
              <a:t>Should</a:t>
            </a:r>
            <a:r>
              <a:rPr sz="2667" b="1" spc="-33" dirty="0">
                <a:solidFill>
                  <a:srgbClr val="D9D9D9"/>
                </a:solidFill>
                <a:latin typeface="Calibri"/>
                <a:cs typeface="Calibri"/>
              </a:rPr>
              <a:t> </a:t>
            </a:r>
            <a:r>
              <a:rPr sz="2667" b="1" dirty="0">
                <a:solidFill>
                  <a:srgbClr val="D9D9D9"/>
                </a:solidFill>
                <a:latin typeface="Calibri"/>
                <a:cs typeface="Calibri"/>
              </a:rPr>
              <a:t>you</a:t>
            </a:r>
            <a:r>
              <a:rPr sz="2667" b="1" spc="-33" dirty="0">
                <a:solidFill>
                  <a:srgbClr val="D9D9D9"/>
                </a:solidFill>
                <a:latin typeface="Calibri"/>
                <a:cs typeface="Calibri"/>
              </a:rPr>
              <a:t> </a:t>
            </a:r>
            <a:r>
              <a:rPr sz="2667" b="1" dirty="0">
                <a:solidFill>
                  <a:srgbClr val="D9D9D9"/>
                </a:solidFill>
                <a:latin typeface="Calibri"/>
                <a:cs typeface="Calibri"/>
              </a:rPr>
              <a:t>use</a:t>
            </a:r>
            <a:r>
              <a:rPr sz="2667" b="1" spc="-13" dirty="0">
                <a:solidFill>
                  <a:srgbClr val="D9D9D9"/>
                </a:solidFill>
                <a:latin typeface="Calibri"/>
                <a:cs typeface="Calibri"/>
              </a:rPr>
              <a:t> </a:t>
            </a:r>
            <a:r>
              <a:rPr sz="2667" b="1" dirty="0">
                <a:solidFill>
                  <a:srgbClr val="D9D9D9"/>
                </a:solidFill>
                <a:latin typeface="Calibri"/>
                <a:cs typeface="Calibri"/>
              </a:rPr>
              <a:t>a</a:t>
            </a:r>
            <a:r>
              <a:rPr sz="2667" b="1" spc="-20" dirty="0">
                <a:solidFill>
                  <a:srgbClr val="D9D9D9"/>
                </a:solidFill>
                <a:latin typeface="Calibri"/>
                <a:cs typeface="Calibri"/>
              </a:rPr>
              <a:t> </a:t>
            </a:r>
            <a:r>
              <a:rPr sz="2667" b="1" dirty="0">
                <a:solidFill>
                  <a:srgbClr val="D9D9D9"/>
                </a:solidFill>
                <a:latin typeface="Calibri"/>
                <a:cs typeface="Calibri"/>
              </a:rPr>
              <a:t>Data</a:t>
            </a:r>
            <a:r>
              <a:rPr sz="2667" b="1" spc="-7" dirty="0">
                <a:solidFill>
                  <a:srgbClr val="D9D9D9"/>
                </a:solidFill>
                <a:latin typeface="Calibri"/>
                <a:cs typeface="Calibri"/>
              </a:rPr>
              <a:t> </a:t>
            </a:r>
            <a:r>
              <a:rPr sz="2667" b="1" dirty="0">
                <a:solidFill>
                  <a:srgbClr val="D9D9D9"/>
                </a:solidFill>
                <a:latin typeface="Calibri"/>
                <a:cs typeface="Calibri"/>
              </a:rPr>
              <a:t>Mart</a:t>
            </a:r>
            <a:r>
              <a:rPr sz="2667" b="1" spc="-27" dirty="0">
                <a:solidFill>
                  <a:srgbClr val="D9D9D9"/>
                </a:solidFill>
                <a:latin typeface="Calibri"/>
                <a:cs typeface="Calibri"/>
              </a:rPr>
              <a:t> </a:t>
            </a:r>
            <a:r>
              <a:rPr sz="2667" b="1" dirty="0">
                <a:solidFill>
                  <a:srgbClr val="D9D9D9"/>
                </a:solidFill>
                <a:latin typeface="Calibri"/>
                <a:cs typeface="Calibri"/>
              </a:rPr>
              <a:t>or</a:t>
            </a:r>
            <a:r>
              <a:rPr sz="2667" b="1" spc="-13" dirty="0">
                <a:solidFill>
                  <a:srgbClr val="D9D9D9"/>
                </a:solidFill>
                <a:latin typeface="Calibri"/>
                <a:cs typeface="Calibri"/>
              </a:rPr>
              <a:t> </a:t>
            </a:r>
            <a:r>
              <a:rPr sz="2667" b="1" spc="-27" dirty="0">
                <a:solidFill>
                  <a:srgbClr val="D9D9D9"/>
                </a:solidFill>
                <a:latin typeface="Calibri"/>
                <a:cs typeface="Calibri"/>
              </a:rPr>
              <a:t>not?</a:t>
            </a:r>
            <a:endParaRPr sz="2667">
              <a:latin typeface="Calibri"/>
              <a:cs typeface="Calibri"/>
            </a:endParaRPr>
          </a:p>
          <a:p>
            <a:pPr marL="74505">
              <a:spcBef>
                <a:spcPts val="2820"/>
              </a:spcBef>
            </a:pPr>
            <a:r>
              <a:rPr sz="2667" dirty="0">
                <a:solidFill>
                  <a:srgbClr val="99D3FF"/>
                </a:solidFill>
                <a:latin typeface="Symbol"/>
                <a:cs typeface="Symbol"/>
              </a:rPr>
              <a:t></a:t>
            </a:r>
            <a:r>
              <a:rPr sz="2667" spc="-293" dirty="0">
                <a:solidFill>
                  <a:srgbClr val="99D3FF"/>
                </a:solidFill>
                <a:latin typeface="Times New Roman"/>
                <a:cs typeface="Times New Roman"/>
              </a:rPr>
              <a:t> </a:t>
            </a:r>
            <a:r>
              <a:rPr sz="2667" b="1" dirty="0">
                <a:solidFill>
                  <a:srgbClr val="0092BE"/>
                </a:solidFill>
                <a:latin typeface="Calibri"/>
                <a:cs typeface="Calibri"/>
              </a:rPr>
              <a:t>Focus</a:t>
            </a:r>
            <a:r>
              <a:rPr sz="2667" b="1" spc="-73" dirty="0">
                <a:solidFill>
                  <a:srgbClr val="0092BE"/>
                </a:solidFill>
                <a:latin typeface="Calibri"/>
                <a:cs typeface="Calibri"/>
              </a:rPr>
              <a:t> </a:t>
            </a:r>
            <a:r>
              <a:rPr sz="2667" b="1" dirty="0">
                <a:solidFill>
                  <a:srgbClr val="0092BE"/>
                </a:solidFill>
                <a:latin typeface="Calibri"/>
                <a:cs typeface="Calibri"/>
              </a:rPr>
              <a:t>on</a:t>
            </a:r>
            <a:r>
              <a:rPr sz="2667" b="1" spc="-13" dirty="0">
                <a:solidFill>
                  <a:srgbClr val="0092BE"/>
                </a:solidFill>
                <a:latin typeface="Calibri"/>
                <a:cs typeface="Calibri"/>
              </a:rPr>
              <a:t> </a:t>
            </a:r>
            <a:r>
              <a:rPr sz="2667" b="1" dirty="0">
                <a:solidFill>
                  <a:srgbClr val="0092BE"/>
                </a:solidFill>
                <a:latin typeface="Calibri"/>
                <a:cs typeface="Calibri"/>
              </a:rPr>
              <a:t>the</a:t>
            </a:r>
            <a:r>
              <a:rPr sz="2667" b="1" spc="-27" dirty="0">
                <a:solidFill>
                  <a:srgbClr val="0092BE"/>
                </a:solidFill>
                <a:latin typeface="Calibri"/>
                <a:cs typeface="Calibri"/>
              </a:rPr>
              <a:t> </a:t>
            </a:r>
            <a:r>
              <a:rPr sz="2667" b="1" dirty="0">
                <a:solidFill>
                  <a:srgbClr val="0092BE"/>
                </a:solidFill>
                <a:latin typeface="Calibri"/>
                <a:cs typeface="Calibri"/>
              </a:rPr>
              <a:t>business</a:t>
            </a:r>
            <a:r>
              <a:rPr sz="2667" b="1" spc="-53" dirty="0">
                <a:solidFill>
                  <a:srgbClr val="0092BE"/>
                </a:solidFill>
                <a:latin typeface="Calibri"/>
                <a:cs typeface="Calibri"/>
              </a:rPr>
              <a:t> </a:t>
            </a:r>
            <a:r>
              <a:rPr sz="2667" b="1" spc="-13" dirty="0">
                <a:solidFill>
                  <a:srgbClr val="0092BE"/>
                </a:solidFill>
                <a:latin typeface="Calibri"/>
                <a:cs typeface="Calibri"/>
              </a:rPr>
              <a:t>problem</a:t>
            </a:r>
            <a:endParaRPr sz="2667">
              <a:latin typeface="Calibri"/>
              <a:cs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27759" y="2320543"/>
            <a:ext cx="9930384" cy="1704848"/>
          </a:xfrm>
          <a:prstGeom prst="rect">
            <a:avLst/>
          </a:prstGeom>
        </p:spPr>
      </p:pic>
      <p:sp>
        <p:nvSpPr>
          <p:cNvPr id="3" name="object 3"/>
          <p:cNvSpPr txBox="1">
            <a:spLocks noGrp="1"/>
          </p:cNvSpPr>
          <p:nvPr>
            <p:ph type="title"/>
          </p:nvPr>
        </p:nvSpPr>
        <p:spPr>
          <a:xfrm>
            <a:off x="1190751" y="2621034"/>
            <a:ext cx="9811173" cy="1049004"/>
          </a:xfrm>
          <a:prstGeom prst="rect">
            <a:avLst/>
          </a:prstGeom>
          <a:noFill/>
          <a:ln w="9144">
            <a:noFill/>
          </a:ln>
        </p:spPr>
        <p:txBody>
          <a:bodyPr vert="horz" wrap="square" lIns="0" tIns="307339" rIns="0" bIns="0" rtlCol="0" anchor="ctr">
            <a:spAutoFit/>
          </a:bodyPr>
          <a:lstStyle/>
          <a:p>
            <a:pPr marL="2540" algn="ctr">
              <a:lnSpc>
                <a:spcPct val="100000"/>
              </a:lnSpc>
              <a:spcBef>
                <a:spcPts val="2419"/>
              </a:spcBef>
            </a:pPr>
            <a:r>
              <a:rPr sz="4800" dirty="0">
                <a:solidFill>
                  <a:schemeClr val="bg1"/>
                </a:solidFill>
                <a:latin typeface="+mn-lt"/>
              </a:rPr>
              <a:t>Relational</a:t>
            </a:r>
            <a:r>
              <a:rPr sz="4800" spc="-27" dirty="0">
                <a:solidFill>
                  <a:schemeClr val="bg1"/>
                </a:solidFill>
                <a:latin typeface="+mn-lt"/>
              </a:rPr>
              <a:t> </a:t>
            </a:r>
            <a:r>
              <a:rPr sz="4800" spc="-13" dirty="0">
                <a:solidFill>
                  <a:schemeClr val="bg1"/>
                </a:solidFill>
                <a:latin typeface="+mn-lt"/>
              </a:rPr>
              <a:t>Database</a:t>
            </a:r>
            <a:endParaRPr sz="4800" dirty="0">
              <a:solidFill>
                <a:schemeClr val="bg1"/>
              </a:solidFill>
              <a:latin typeface="+mn-lt"/>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03657" y="2664157"/>
            <a:ext cx="701816" cy="947895"/>
          </a:xfrm>
          <a:prstGeom prst="rect">
            <a:avLst/>
          </a:prstGeom>
        </p:spPr>
      </p:pic>
      <p:sp>
        <p:nvSpPr>
          <p:cNvPr id="3" name="object 3"/>
          <p:cNvSpPr txBox="1"/>
          <p:nvPr/>
        </p:nvSpPr>
        <p:spPr>
          <a:xfrm>
            <a:off x="2340526" y="3790290"/>
            <a:ext cx="2204719"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Relational</a:t>
            </a:r>
            <a:r>
              <a:rPr sz="2133" spc="-47" dirty="0">
                <a:solidFill>
                  <a:srgbClr val="FFFFFF"/>
                </a:solidFill>
                <a:latin typeface="Calibri"/>
                <a:cs typeface="Calibri"/>
              </a:rPr>
              <a:t> </a:t>
            </a:r>
            <a:r>
              <a:rPr sz="2133" spc="-13" dirty="0">
                <a:solidFill>
                  <a:srgbClr val="FFFFFF"/>
                </a:solidFill>
                <a:latin typeface="Calibri"/>
                <a:cs typeface="Calibri"/>
              </a:rPr>
              <a:t>database</a:t>
            </a:r>
            <a:endParaRPr sz="2133">
              <a:latin typeface="Calibri"/>
              <a:cs typeface="Calibri"/>
            </a:endParaRPr>
          </a:p>
        </p:txBody>
      </p:sp>
      <p:graphicFrame>
        <p:nvGraphicFramePr>
          <p:cNvPr id="4" name="object 4"/>
          <p:cNvGraphicFramePr>
            <a:graphicFrameLocks noGrp="1"/>
          </p:cNvGraphicFramePr>
          <p:nvPr/>
        </p:nvGraphicFramePr>
        <p:xfrm>
          <a:off x="5477807" y="2800361"/>
          <a:ext cx="929639" cy="628227"/>
        </p:xfrm>
        <a:graphic>
          <a:graphicData uri="http://schemas.openxmlformats.org/drawingml/2006/table">
            <a:tbl>
              <a:tblPr firstRow="1" bandRow="1">
                <a:tableStyleId>{2D5ABB26-0587-4C30-8999-92F81FD0307C}</a:tableStyleId>
              </a:tblPr>
              <a:tblGrid>
                <a:gridCol w="314113">
                  <a:extLst>
                    <a:ext uri="{9D8B030D-6E8A-4147-A177-3AD203B41FA5}">
                      <a16:colId xmlns:a16="http://schemas.microsoft.com/office/drawing/2014/main" val="20000"/>
                    </a:ext>
                  </a:extLst>
                </a:gridCol>
                <a:gridCol w="301413">
                  <a:extLst>
                    <a:ext uri="{9D8B030D-6E8A-4147-A177-3AD203B41FA5}">
                      <a16:colId xmlns:a16="http://schemas.microsoft.com/office/drawing/2014/main" val="20001"/>
                    </a:ext>
                  </a:extLst>
                </a:gridCol>
                <a:gridCol w="314113">
                  <a:extLst>
                    <a:ext uri="{9D8B030D-6E8A-4147-A177-3AD203B41FA5}">
                      <a16:colId xmlns:a16="http://schemas.microsoft.com/office/drawing/2014/main" val="20002"/>
                    </a:ext>
                  </a:extLst>
                </a:gridCol>
              </a:tblGrid>
              <a:tr h="213360">
                <a:tc>
                  <a:txBody>
                    <a:bodyPr/>
                    <a:lstStyle/>
                    <a:p>
                      <a:pPr>
                        <a:lnSpc>
                          <a:spcPct val="100000"/>
                        </a:lnSpc>
                      </a:pPr>
                      <a:endParaRPr sz="1200">
                        <a:latin typeface="Times New Roman"/>
                        <a:cs typeface="Times New Roman"/>
                      </a:endParaRPr>
                    </a:p>
                  </a:txBody>
                  <a:tcPr marL="0" marR="0" marT="0" marB="0">
                    <a:lnL w="5715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57150">
                      <a:solidFill>
                        <a:srgbClr val="BCBCBC"/>
                      </a:solidFill>
                      <a:prstDash val="solid"/>
                    </a:lnR>
                    <a:lnT w="57150">
                      <a:solidFill>
                        <a:srgbClr val="BCBCBC"/>
                      </a:solidFill>
                      <a:prstDash val="solid"/>
                    </a:lnT>
                    <a:lnB w="38100">
                      <a:solidFill>
                        <a:srgbClr val="BCBCBC"/>
                      </a:solidFill>
                      <a:prstDash val="solid"/>
                    </a:lnB>
                  </a:tcPr>
                </a:tc>
                <a:extLst>
                  <a:ext uri="{0D108BD9-81ED-4DB2-BD59-A6C34878D82A}">
                    <a16:rowId xmlns:a16="http://schemas.microsoft.com/office/drawing/2014/main" val="10000"/>
                  </a:ext>
                </a:extLst>
              </a:tr>
              <a:tr h="201507">
                <a:tc>
                  <a:txBody>
                    <a:bodyPr/>
                    <a:lstStyle/>
                    <a:p>
                      <a:pPr>
                        <a:lnSpc>
                          <a:spcPct val="100000"/>
                        </a:lnSpc>
                      </a:pPr>
                      <a:endParaRPr sz="11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11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11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38100">
                      <a:solidFill>
                        <a:srgbClr val="BCBCBC"/>
                      </a:solidFill>
                      <a:prstDash val="solid"/>
                    </a:lnB>
                  </a:tcPr>
                </a:tc>
                <a:extLst>
                  <a:ext uri="{0D108BD9-81ED-4DB2-BD59-A6C34878D82A}">
                    <a16:rowId xmlns:a16="http://schemas.microsoft.com/office/drawing/2014/main" val="10001"/>
                  </a:ext>
                </a:extLst>
              </a:tr>
              <a:tr h="213360">
                <a:tc>
                  <a:txBody>
                    <a:bodyPr/>
                    <a:lstStyle/>
                    <a:p>
                      <a:pPr>
                        <a:lnSpc>
                          <a:spcPct val="100000"/>
                        </a:lnSpc>
                      </a:pPr>
                      <a:endParaRPr sz="12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57150">
                      <a:solidFill>
                        <a:srgbClr val="BCBCBC"/>
                      </a:solidFill>
                      <a:prstDash val="solid"/>
                    </a:lnB>
                  </a:tcPr>
                </a:tc>
                <a:extLst>
                  <a:ext uri="{0D108BD9-81ED-4DB2-BD59-A6C34878D82A}">
                    <a16:rowId xmlns:a16="http://schemas.microsoft.com/office/drawing/2014/main" val="10002"/>
                  </a:ext>
                </a:extLst>
              </a:tr>
            </a:tbl>
          </a:graphicData>
        </a:graphic>
      </p:graphicFrame>
      <p:sp>
        <p:nvSpPr>
          <p:cNvPr id="6" name="object 6"/>
          <p:cNvSpPr txBox="1"/>
          <p:nvPr/>
        </p:nvSpPr>
        <p:spPr>
          <a:xfrm>
            <a:off x="5004137" y="3790290"/>
            <a:ext cx="1928707"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Tables</a:t>
            </a:r>
            <a:r>
              <a:rPr sz="2133" spc="-47" dirty="0">
                <a:solidFill>
                  <a:srgbClr val="FFFFFF"/>
                </a:solidFill>
                <a:latin typeface="Calibri"/>
                <a:cs typeface="Calibri"/>
              </a:rPr>
              <a:t> </a:t>
            </a:r>
            <a:r>
              <a:rPr sz="2133" spc="-13" dirty="0">
                <a:solidFill>
                  <a:srgbClr val="FFFFFF"/>
                </a:solidFill>
                <a:latin typeface="Calibri"/>
                <a:cs typeface="Calibri"/>
              </a:rPr>
              <a:t>(relations)</a:t>
            </a:r>
            <a:endParaRPr sz="2133">
              <a:latin typeface="Calibri"/>
              <a:cs typeface="Calibri"/>
            </a:endParaRPr>
          </a:p>
        </p:txBody>
      </p:sp>
      <p:graphicFrame>
        <p:nvGraphicFramePr>
          <p:cNvPr id="7" name="object 7"/>
          <p:cNvGraphicFramePr>
            <a:graphicFrameLocks noGrp="1"/>
          </p:cNvGraphicFramePr>
          <p:nvPr/>
        </p:nvGraphicFramePr>
        <p:xfrm>
          <a:off x="7493507" y="2506133"/>
          <a:ext cx="2991272" cy="1695026"/>
        </p:xfrm>
        <a:graphic>
          <a:graphicData uri="http://schemas.openxmlformats.org/drawingml/2006/table">
            <a:tbl>
              <a:tblPr firstRow="1" bandRow="1">
                <a:tableStyleId>{2D5ABB26-0587-4C30-8999-92F81FD0307C}</a:tableStyleId>
              </a:tblPr>
              <a:tblGrid>
                <a:gridCol w="204893">
                  <a:extLst>
                    <a:ext uri="{9D8B030D-6E8A-4147-A177-3AD203B41FA5}">
                      <a16:colId xmlns:a16="http://schemas.microsoft.com/office/drawing/2014/main" val="20000"/>
                    </a:ext>
                  </a:extLst>
                </a:gridCol>
                <a:gridCol w="551179">
                  <a:extLst>
                    <a:ext uri="{9D8B030D-6E8A-4147-A177-3AD203B41FA5}">
                      <a16:colId xmlns:a16="http://schemas.microsoft.com/office/drawing/2014/main" val="20001"/>
                    </a:ext>
                  </a:extLst>
                </a:gridCol>
                <a:gridCol w="1117600">
                  <a:extLst>
                    <a:ext uri="{9D8B030D-6E8A-4147-A177-3AD203B41FA5}">
                      <a16:colId xmlns:a16="http://schemas.microsoft.com/office/drawing/2014/main" val="20002"/>
                    </a:ext>
                  </a:extLst>
                </a:gridCol>
                <a:gridCol w="1117600">
                  <a:extLst>
                    <a:ext uri="{9D8B030D-6E8A-4147-A177-3AD203B41FA5}">
                      <a16:colId xmlns:a16="http://schemas.microsoft.com/office/drawing/2014/main" val="20003"/>
                    </a:ext>
                  </a:extLst>
                </a:gridCol>
              </a:tblGrid>
              <a:tr h="254000">
                <a:tc>
                  <a:txBody>
                    <a:bodyPr/>
                    <a:lstStyle/>
                    <a:p>
                      <a:pPr marR="19050" algn="ctr">
                        <a:lnSpc>
                          <a:spcPct val="100000"/>
                        </a:lnSpc>
                        <a:spcBef>
                          <a:spcPts val="130"/>
                        </a:spcBef>
                      </a:pPr>
                      <a:r>
                        <a:rPr sz="1400" spc="-25" dirty="0">
                          <a:latin typeface="Arial MT"/>
                          <a:cs typeface="Arial MT"/>
                        </a:rPr>
                        <a:t>id</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0160">
                        <a:lnSpc>
                          <a:spcPct val="100000"/>
                        </a:lnSpc>
                        <a:spcBef>
                          <a:spcPts val="130"/>
                        </a:spcBef>
                      </a:pPr>
                      <a:r>
                        <a:rPr sz="1400" spc="-20" dirty="0">
                          <a:latin typeface="Arial MT"/>
                          <a:cs typeface="Arial MT"/>
                        </a:rPr>
                        <a:t>date</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0160">
                        <a:lnSpc>
                          <a:spcPct val="100000"/>
                        </a:lnSpc>
                        <a:spcBef>
                          <a:spcPts val="130"/>
                        </a:spcBef>
                      </a:pPr>
                      <a:r>
                        <a:rPr sz="1400" spc="-10" dirty="0">
                          <a:latin typeface="Arial MT"/>
                          <a:cs typeface="Arial MT"/>
                        </a:rPr>
                        <a:t>product</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0160">
                        <a:lnSpc>
                          <a:spcPct val="100000"/>
                        </a:lnSpc>
                        <a:spcBef>
                          <a:spcPts val="130"/>
                        </a:spcBef>
                      </a:pPr>
                      <a:r>
                        <a:rPr sz="1400" spc="-10" dirty="0">
                          <a:latin typeface="Arial MT"/>
                          <a:cs typeface="Arial MT"/>
                        </a:rPr>
                        <a:t>customer_id</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0"/>
                  </a:ext>
                </a:extLst>
              </a:tr>
              <a:tr h="297180">
                <a:tc>
                  <a:txBody>
                    <a:bodyPr/>
                    <a:lstStyle/>
                    <a:p>
                      <a:pPr marL="1270" algn="ctr">
                        <a:lnSpc>
                          <a:spcPct val="100000"/>
                        </a:lnSpc>
                        <a:spcBef>
                          <a:spcPts val="470"/>
                        </a:spcBef>
                      </a:pPr>
                      <a:r>
                        <a:rPr sz="900" spc="-50" dirty="0">
                          <a:latin typeface="Arial MT"/>
                          <a:cs typeface="Arial MT"/>
                        </a:rPr>
                        <a:t>1</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R="26670" algn="r">
                        <a:lnSpc>
                          <a:spcPct val="100000"/>
                        </a:lnSpc>
                        <a:spcBef>
                          <a:spcPts val="470"/>
                        </a:spcBef>
                      </a:pPr>
                      <a:r>
                        <a:rPr sz="900" spc="-10" dirty="0">
                          <a:latin typeface="Arial MT"/>
                          <a:cs typeface="Arial MT"/>
                        </a:rPr>
                        <a:t>1/2/2022</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69240" marR="120014" indent="-135890">
                        <a:lnSpc>
                          <a:spcPts val="830"/>
                        </a:lnSpc>
                      </a:pPr>
                      <a:r>
                        <a:rPr sz="900" dirty="0">
                          <a:latin typeface="Arial MT"/>
                          <a:cs typeface="Arial MT"/>
                        </a:rPr>
                        <a:t>Fulltoss</a:t>
                      </a:r>
                      <a:r>
                        <a:rPr sz="900" spc="-25" dirty="0">
                          <a:latin typeface="Arial MT"/>
                          <a:cs typeface="Arial MT"/>
                        </a:rPr>
                        <a:t> </a:t>
                      </a:r>
                      <a:r>
                        <a:rPr sz="900" spc="-10" dirty="0">
                          <a:latin typeface="Arial MT"/>
                          <a:cs typeface="Arial MT"/>
                        </a:rPr>
                        <a:t>Tangy</a:t>
                      </a:r>
                      <a:r>
                        <a:rPr sz="900" spc="500" dirty="0">
                          <a:latin typeface="Arial MT"/>
                          <a:cs typeface="Arial MT"/>
                        </a:rPr>
                        <a:t> </a:t>
                      </a:r>
                      <a:r>
                        <a:rPr sz="900" spc="-10" dirty="0">
                          <a:latin typeface="Arial MT"/>
                          <a:cs typeface="Arial MT"/>
                        </a:rPr>
                        <a:t>Tomato</a:t>
                      </a:r>
                      <a:endParaRPr sz="9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445"/>
                        </a:spcBef>
                      </a:pPr>
                      <a:r>
                        <a:rPr sz="900" spc="-50" dirty="0">
                          <a:latin typeface="Calibri"/>
                          <a:cs typeface="Calibri"/>
                        </a:rPr>
                        <a:t>2</a:t>
                      </a:r>
                      <a:endParaRPr sz="9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96333">
                <a:tc>
                  <a:txBody>
                    <a:bodyPr/>
                    <a:lstStyle/>
                    <a:p>
                      <a:pPr marL="1270" algn="ctr">
                        <a:lnSpc>
                          <a:spcPct val="100000"/>
                        </a:lnSpc>
                        <a:spcBef>
                          <a:spcPts val="470"/>
                        </a:spcBef>
                      </a:pPr>
                      <a:r>
                        <a:rPr sz="900" spc="-50" dirty="0">
                          <a:latin typeface="Arial MT"/>
                          <a:cs typeface="Arial MT"/>
                        </a:rPr>
                        <a:t>2</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R="26670" algn="r">
                        <a:lnSpc>
                          <a:spcPct val="100000"/>
                        </a:lnSpc>
                        <a:spcBef>
                          <a:spcPts val="470"/>
                        </a:spcBef>
                      </a:pPr>
                      <a:r>
                        <a:rPr sz="900" spc="-10" dirty="0">
                          <a:latin typeface="Arial MT"/>
                          <a:cs typeface="Arial MT"/>
                        </a:rPr>
                        <a:t>1/2/2022</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57785" marR="46355" indent="92710">
                        <a:lnSpc>
                          <a:spcPts val="830"/>
                        </a:lnSpc>
                      </a:pPr>
                      <a:r>
                        <a:rPr sz="900" dirty="0">
                          <a:latin typeface="Arial MT"/>
                          <a:cs typeface="Arial MT"/>
                        </a:rPr>
                        <a:t>Chilli</a:t>
                      </a:r>
                      <a:r>
                        <a:rPr sz="900" spc="-20" dirty="0">
                          <a:latin typeface="Arial MT"/>
                          <a:cs typeface="Arial MT"/>
                        </a:rPr>
                        <a:t> </a:t>
                      </a:r>
                      <a:r>
                        <a:rPr sz="900" dirty="0">
                          <a:latin typeface="Arial MT"/>
                          <a:cs typeface="Arial MT"/>
                        </a:rPr>
                        <a:t>- </a:t>
                      </a:r>
                      <a:r>
                        <a:rPr sz="900" spc="-10" dirty="0">
                          <a:latin typeface="Arial MT"/>
                          <a:cs typeface="Arial MT"/>
                        </a:rPr>
                        <a:t>Green,</a:t>
                      </a:r>
                      <a:r>
                        <a:rPr sz="900" spc="500" dirty="0">
                          <a:latin typeface="Arial MT"/>
                          <a:cs typeface="Arial MT"/>
                        </a:rPr>
                        <a:t> </a:t>
                      </a:r>
                      <a:r>
                        <a:rPr sz="900" dirty="0">
                          <a:latin typeface="Arial MT"/>
                          <a:cs typeface="Arial MT"/>
                        </a:rPr>
                        <a:t>Organically</a:t>
                      </a:r>
                      <a:r>
                        <a:rPr sz="900" spc="-35" dirty="0">
                          <a:latin typeface="Arial MT"/>
                          <a:cs typeface="Arial MT"/>
                        </a:rPr>
                        <a:t> </a:t>
                      </a:r>
                      <a:r>
                        <a:rPr sz="900" spc="-10" dirty="0">
                          <a:latin typeface="Arial MT"/>
                          <a:cs typeface="Arial MT"/>
                        </a:rPr>
                        <a:t>Grown</a:t>
                      </a:r>
                      <a:endParaRPr sz="9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445"/>
                        </a:spcBef>
                      </a:pPr>
                      <a:r>
                        <a:rPr sz="900" spc="-50" dirty="0">
                          <a:latin typeface="Calibri"/>
                          <a:cs typeface="Calibri"/>
                        </a:rPr>
                        <a:t>2</a:t>
                      </a:r>
                      <a:endParaRPr sz="9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marL="1270" algn="ctr">
                        <a:lnSpc>
                          <a:spcPct val="100000"/>
                        </a:lnSpc>
                        <a:spcBef>
                          <a:spcPts val="340"/>
                        </a:spcBef>
                      </a:pPr>
                      <a:r>
                        <a:rPr sz="900" spc="-50" dirty="0">
                          <a:latin typeface="Arial MT"/>
                          <a:cs typeface="Arial MT"/>
                        </a:rPr>
                        <a:t>3</a:t>
                      </a:r>
                      <a:endParaRPr sz="900">
                        <a:latin typeface="Arial MT"/>
                        <a:cs typeface="Arial MT"/>
                      </a:endParaRPr>
                    </a:p>
                  </a:txBody>
                  <a:tcPr marL="0" marR="0" marT="575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R="26670" algn="r">
                        <a:lnSpc>
                          <a:spcPct val="100000"/>
                        </a:lnSpc>
                        <a:spcBef>
                          <a:spcPts val="340"/>
                        </a:spcBef>
                      </a:pPr>
                      <a:r>
                        <a:rPr sz="900" spc="-10" dirty="0">
                          <a:latin typeface="Arial MT"/>
                          <a:cs typeface="Arial MT"/>
                        </a:rPr>
                        <a:t>1/2/2022</a:t>
                      </a:r>
                      <a:endParaRPr sz="900">
                        <a:latin typeface="Arial MT"/>
                        <a:cs typeface="Arial MT"/>
                      </a:endParaRPr>
                    </a:p>
                  </a:txBody>
                  <a:tcPr marL="0" marR="0" marT="575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15570">
                        <a:lnSpc>
                          <a:spcPct val="100000"/>
                        </a:lnSpc>
                        <a:spcBef>
                          <a:spcPts val="340"/>
                        </a:spcBef>
                      </a:pPr>
                      <a:r>
                        <a:rPr sz="900" dirty="0">
                          <a:latin typeface="Arial MT"/>
                          <a:cs typeface="Arial MT"/>
                        </a:rPr>
                        <a:t>Masala</a:t>
                      </a:r>
                      <a:r>
                        <a:rPr sz="900" spc="-25" dirty="0">
                          <a:latin typeface="Arial MT"/>
                          <a:cs typeface="Arial MT"/>
                        </a:rPr>
                        <a:t> </a:t>
                      </a:r>
                      <a:r>
                        <a:rPr sz="900" spc="-10" dirty="0">
                          <a:latin typeface="Arial MT"/>
                          <a:cs typeface="Arial MT"/>
                        </a:rPr>
                        <a:t>Powder</a:t>
                      </a:r>
                      <a:endParaRPr sz="900">
                        <a:latin typeface="Arial MT"/>
                        <a:cs typeface="Arial MT"/>
                      </a:endParaRPr>
                    </a:p>
                  </a:txBody>
                  <a:tcPr marL="0" marR="0" marT="575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320"/>
                        </a:spcBef>
                      </a:pPr>
                      <a:r>
                        <a:rPr sz="900" spc="-50" dirty="0">
                          <a:latin typeface="Calibri"/>
                          <a:cs typeface="Calibri"/>
                        </a:rPr>
                        <a:t>5</a:t>
                      </a:r>
                      <a:endParaRPr sz="9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97180">
                <a:tc>
                  <a:txBody>
                    <a:bodyPr/>
                    <a:lstStyle/>
                    <a:p>
                      <a:pPr marL="1270" algn="ctr">
                        <a:lnSpc>
                          <a:spcPct val="100000"/>
                        </a:lnSpc>
                        <a:spcBef>
                          <a:spcPts val="470"/>
                        </a:spcBef>
                      </a:pPr>
                      <a:r>
                        <a:rPr sz="900" spc="-50" dirty="0">
                          <a:latin typeface="Arial MT"/>
                          <a:cs typeface="Arial MT"/>
                        </a:rPr>
                        <a:t>4</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R="26670" algn="r">
                        <a:lnSpc>
                          <a:spcPct val="100000"/>
                        </a:lnSpc>
                        <a:spcBef>
                          <a:spcPts val="470"/>
                        </a:spcBef>
                      </a:pPr>
                      <a:r>
                        <a:rPr sz="900" spc="-10" dirty="0">
                          <a:latin typeface="Arial MT"/>
                          <a:cs typeface="Arial MT"/>
                        </a:rPr>
                        <a:t>1/2/2022</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33045" marR="90170" indent="-132715">
                        <a:lnSpc>
                          <a:spcPts val="830"/>
                        </a:lnSpc>
                      </a:pPr>
                      <a:r>
                        <a:rPr sz="900" dirty="0">
                          <a:latin typeface="Arial MT"/>
                          <a:cs typeface="Arial MT"/>
                        </a:rPr>
                        <a:t>Cheese</a:t>
                      </a:r>
                      <a:r>
                        <a:rPr sz="900" spc="-25" dirty="0">
                          <a:latin typeface="Arial MT"/>
                          <a:cs typeface="Arial MT"/>
                        </a:rPr>
                        <a:t> </a:t>
                      </a:r>
                      <a:r>
                        <a:rPr sz="900" spc="-10" dirty="0">
                          <a:latin typeface="Arial MT"/>
                          <a:cs typeface="Arial MT"/>
                        </a:rPr>
                        <a:t>Cracker</a:t>
                      </a:r>
                      <a:r>
                        <a:rPr sz="900" spc="500" dirty="0">
                          <a:latin typeface="Arial MT"/>
                          <a:cs typeface="Arial MT"/>
                        </a:rPr>
                        <a:t> </a:t>
                      </a:r>
                      <a:r>
                        <a:rPr sz="900" spc="-10" dirty="0">
                          <a:latin typeface="Arial MT"/>
                          <a:cs typeface="Arial MT"/>
                        </a:rPr>
                        <a:t>(Mcvities)</a:t>
                      </a:r>
                      <a:endParaRPr sz="9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450"/>
                        </a:spcBef>
                      </a:pPr>
                      <a:r>
                        <a:rPr sz="900" spc="-50" dirty="0">
                          <a:latin typeface="Calibri"/>
                          <a:cs typeface="Calibri"/>
                        </a:rPr>
                        <a:t>1</a:t>
                      </a:r>
                      <a:endParaRPr sz="9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96333">
                <a:tc>
                  <a:txBody>
                    <a:bodyPr/>
                    <a:lstStyle/>
                    <a:p>
                      <a:pPr marL="1270" algn="ctr">
                        <a:lnSpc>
                          <a:spcPct val="100000"/>
                        </a:lnSpc>
                        <a:spcBef>
                          <a:spcPts val="470"/>
                        </a:spcBef>
                      </a:pPr>
                      <a:r>
                        <a:rPr sz="900" spc="-50" dirty="0">
                          <a:latin typeface="Arial MT"/>
                          <a:cs typeface="Arial MT"/>
                        </a:rPr>
                        <a:t>5</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R="26670" algn="r">
                        <a:lnSpc>
                          <a:spcPct val="100000"/>
                        </a:lnSpc>
                        <a:spcBef>
                          <a:spcPts val="470"/>
                        </a:spcBef>
                      </a:pPr>
                      <a:r>
                        <a:rPr sz="900" spc="-10" dirty="0">
                          <a:latin typeface="Arial MT"/>
                          <a:cs typeface="Arial MT"/>
                        </a:rPr>
                        <a:t>1/2/2022</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04775" marR="93980" indent="63500">
                        <a:lnSpc>
                          <a:spcPts val="830"/>
                        </a:lnSpc>
                      </a:pPr>
                      <a:r>
                        <a:rPr sz="900" dirty="0">
                          <a:latin typeface="Arial MT"/>
                          <a:cs typeface="Arial MT"/>
                        </a:rPr>
                        <a:t>Centre</a:t>
                      </a:r>
                      <a:r>
                        <a:rPr sz="900" spc="-15" dirty="0">
                          <a:latin typeface="Arial MT"/>
                          <a:cs typeface="Arial MT"/>
                        </a:rPr>
                        <a:t> </a:t>
                      </a:r>
                      <a:r>
                        <a:rPr sz="900" spc="-10" dirty="0">
                          <a:latin typeface="Arial MT"/>
                          <a:cs typeface="Arial MT"/>
                        </a:rPr>
                        <a:t>Filled</a:t>
                      </a:r>
                      <a:r>
                        <a:rPr sz="900" spc="500" dirty="0">
                          <a:latin typeface="Arial MT"/>
                          <a:cs typeface="Arial MT"/>
                        </a:rPr>
                        <a:t> </a:t>
                      </a:r>
                      <a:r>
                        <a:rPr sz="900" dirty="0">
                          <a:latin typeface="Arial MT"/>
                          <a:cs typeface="Arial MT"/>
                        </a:rPr>
                        <a:t>Chocolate</a:t>
                      </a:r>
                      <a:r>
                        <a:rPr sz="900" spc="-35" dirty="0">
                          <a:latin typeface="Arial MT"/>
                          <a:cs typeface="Arial MT"/>
                        </a:rPr>
                        <a:t> </a:t>
                      </a:r>
                      <a:r>
                        <a:rPr sz="900" spc="-20" dirty="0">
                          <a:latin typeface="Arial MT"/>
                          <a:cs typeface="Arial MT"/>
                        </a:rPr>
                        <a:t>Cake</a:t>
                      </a:r>
                      <a:endParaRPr sz="9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445"/>
                        </a:spcBef>
                      </a:pPr>
                      <a:r>
                        <a:rPr sz="900" spc="-50" dirty="0">
                          <a:latin typeface="Calibri"/>
                          <a:cs typeface="Calibri"/>
                        </a:rPr>
                        <a:t>5</a:t>
                      </a:r>
                      <a:endParaRPr sz="9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sp>
        <p:nvSpPr>
          <p:cNvPr id="8" name="object 8"/>
          <p:cNvSpPr/>
          <p:nvPr/>
        </p:nvSpPr>
        <p:spPr>
          <a:xfrm>
            <a:off x="6543039" y="4427728"/>
            <a:ext cx="4909820" cy="1635760"/>
          </a:xfrm>
          <a:custGeom>
            <a:avLst/>
            <a:gdLst/>
            <a:ahLst/>
            <a:cxnLst/>
            <a:rect l="l" t="t" r="r" b="b"/>
            <a:pathLst>
              <a:path w="3682365" h="1226820">
                <a:moveTo>
                  <a:pt x="3681983" y="0"/>
                </a:moveTo>
                <a:lnTo>
                  <a:pt x="0" y="0"/>
                </a:lnTo>
                <a:lnTo>
                  <a:pt x="0" y="1226819"/>
                </a:lnTo>
                <a:lnTo>
                  <a:pt x="3681983" y="1226819"/>
                </a:lnTo>
                <a:lnTo>
                  <a:pt x="3681983" y="0"/>
                </a:lnTo>
                <a:close/>
              </a:path>
            </a:pathLst>
          </a:custGeom>
          <a:solidFill>
            <a:srgbClr val="EDEDED"/>
          </a:solidFill>
        </p:spPr>
        <p:txBody>
          <a:bodyPr wrap="square" lIns="0" tIns="0" rIns="0" bIns="0" rtlCol="0"/>
          <a:lstStyle/>
          <a:p>
            <a:endParaRPr sz="2400"/>
          </a:p>
        </p:txBody>
      </p:sp>
      <p:sp>
        <p:nvSpPr>
          <p:cNvPr id="9" name="object 9"/>
          <p:cNvSpPr txBox="1"/>
          <p:nvPr/>
        </p:nvSpPr>
        <p:spPr>
          <a:xfrm>
            <a:off x="7255934" y="4819228"/>
            <a:ext cx="870373" cy="904714"/>
          </a:xfrm>
          <a:prstGeom prst="rect">
            <a:avLst/>
          </a:prstGeom>
        </p:spPr>
        <p:txBody>
          <a:bodyPr vert="horz" wrap="square" lIns="0" tIns="16933" rIns="0" bIns="0" rtlCol="0">
            <a:spAutoFit/>
          </a:bodyPr>
          <a:lstStyle/>
          <a:p>
            <a:pPr>
              <a:spcBef>
                <a:spcPts val="133"/>
              </a:spcBef>
            </a:pPr>
            <a:r>
              <a:rPr sz="1867" spc="-13" dirty="0">
                <a:latin typeface="Courier New"/>
                <a:cs typeface="Courier New"/>
              </a:rPr>
              <a:t>SELECT</a:t>
            </a:r>
            <a:endParaRPr sz="1867">
              <a:latin typeface="Courier New"/>
              <a:cs typeface="Courier New"/>
            </a:endParaRPr>
          </a:p>
          <a:p>
            <a:pPr>
              <a:spcBef>
                <a:spcPts val="173"/>
              </a:spcBef>
            </a:pPr>
            <a:endParaRPr sz="1867">
              <a:latin typeface="Courier New"/>
              <a:cs typeface="Courier New"/>
            </a:endParaRPr>
          </a:p>
          <a:p>
            <a:pPr marL="50799">
              <a:spcBef>
                <a:spcPts val="7"/>
              </a:spcBef>
            </a:pPr>
            <a:r>
              <a:rPr sz="1867" spc="-27" dirty="0">
                <a:latin typeface="Courier New"/>
                <a:cs typeface="Courier New"/>
              </a:rPr>
              <a:t>FROM</a:t>
            </a:r>
            <a:endParaRPr sz="1867">
              <a:latin typeface="Courier New"/>
              <a:cs typeface="Courier New"/>
            </a:endParaRPr>
          </a:p>
        </p:txBody>
      </p:sp>
      <p:sp>
        <p:nvSpPr>
          <p:cNvPr id="10" name="object 10"/>
          <p:cNvSpPr txBox="1"/>
          <p:nvPr/>
        </p:nvSpPr>
        <p:spPr>
          <a:xfrm>
            <a:off x="8678673" y="4819227"/>
            <a:ext cx="2005753" cy="879066"/>
          </a:xfrm>
          <a:prstGeom prst="rect">
            <a:avLst/>
          </a:prstGeom>
        </p:spPr>
        <p:txBody>
          <a:bodyPr vert="horz" wrap="square" lIns="0" tIns="16933" rIns="0" bIns="0" rtlCol="0">
            <a:spAutoFit/>
          </a:bodyPr>
          <a:lstStyle/>
          <a:p>
            <a:pPr>
              <a:spcBef>
                <a:spcPts val="133"/>
              </a:spcBef>
            </a:pPr>
            <a:r>
              <a:rPr sz="1867" i="1" spc="-13" dirty="0">
                <a:solidFill>
                  <a:srgbClr val="009999"/>
                </a:solidFill>
                <a:latin typeface="Courier New"/>
                <a:cs typeface="Courier New"/>
              </a:rPr>
              <a:t>&lt;column1&gt;,</a:t>
            </a:r>
            <a:endParaRPr sz="1867">
              <a:latin typeface="Courier New"/>
              <a:cs typeface="Courier New"/>
            </a:endParaRPr>
          </a:p>
          <a:p>
            <a:pPr>
              <a:spcBef>
                <a:spcPts val="7"/>
              </a:spcBef>
            </a:pPr>
            <a:r>
              <a:rPr sz="1867" i="1" dirty="0">
                <a:solidFill>
                  <a:srgbClr val="009999"/>
                </a:solidFill>
                <a:latin typeface="Courier New"/>
                <a:cs typeface="Courier New"/>
              </a:rPr>
              <a:t>&lt;column2&gt;,</a:t>
            </a:r>
            <a:r>
              <a:rPr sz="1867" i="1" spc="-100" dirty="0">
                <a:solidFill>
                  <a:srgbClr val="009999"/>
                </a:solidFill>
                <a:latin typeface="Courier New"/>
                <a:cs typeface="Courier New"/>
              </a:rPr>
              <a:t> </a:t>
            </a:r>
            <a:r>
              <a:rPr sz="1867" spc="-33" dirty="0">
                <a:latin typeface="Courier New"/>
                <a:cs typeface="Courier New"/>
              </a:rPr>
              <a:t>...</a:t>
            </a:r>
            <a:endParaRPr sz="1867">
              <a:latin typeface="Courier New"/>
              <a:cs typeface="Courier New"/>
            </a:endParaRPr>
          </a:p>
          <a:p>
            <a:pPr>
              <a:spcBef>
                <a:spcPts val="47"/>
              </a:spcBef>
            </a:pPr>
            <a:r>
              <a:rPr sz="1867" i="1" spc="-13" dirty="0">
                <a:solidFill>
                  <a:srgbClr val="009999"/>
                </a:solidFill>
                <a:latin typeface="Courier New"/>
                <a:cs typeface="Courier New"/>
              </a:rPr>
              <a:t>&lt;table_name&gt;</a:t>
            </a:r>
            <a:endParaRPr sz="1867">
              <a:latin typeface="Courier New"/>
              <a:cs typeface="Courier New"/>
            </a:endParaRPr>
          </a:p>
        </p:txBody>
      </p:sp>
      <p:sp>
        <p:nvSpPr>
          <p:cNvPr id="14" name="TextBox 13">
            <a:extLst>
              <a:ext uri="{FF2B5EF4-FFF2-40B4-BE49-F238E27FC236}">
                <a16:creationId xmlns:a16="http://schemas.microsoft.com/office/drawing/2014/main" id="{263D892F-4751-83CE-2308-C4294FB6B84F}"/>
              </a:ext>
            </a:extLst>
          </p:cNvPr>
          <p:cNvSpPr txBox="1"/>
          <p:nvPr/>
        </p:nvSpPr>
        <p:spPr>
          <a:xfrm>
            <a:off x="3047172" y="226398"/>
            <a:ext cx="6097656" cy="769441"/>
          </a:xfrm>
          <a:prstGeom prst="rect">
            <a:avLst/>
          </a:prstGeom>
          <a:noFill/>
        </p:spPr>
        <p:txBody>
          <a:bodyPr wrap="square">
            <a:spAutoFit/>
          </a:bodyPr>
          <a:lstStyle/>
          <a:p>
            <a:pPr algn="ctr"/>
            <a:r>
              <a:rPr lang="en-IN" sz="4400" dirty="0">
                <a:solidFill>
                  <a:schemeClr val="bg1"/>
                </a:solidFill>
                <a:latin typeface="+mn-lt"/>
              </a:rPr>
              <a:t>Relational</a:t>
            </a:r>
            <a:r>
              <a:rPr lang="en-IN" sz="4400" spc="-27" dirty="0">
                <a:solidFill>
                  <a:schemeClr val="bg1"/>
                </a:solidFill>
                <a:latin typeface="+mn-lt"/>
              </a:rPr>
              <a:t> </a:t>
            </a:r>
            <a:r>
              <a:rPr lang="en-IN" sz="4400" spc="-13" dirty="0">
                <a:solidFill>
                  <a:schemeClr val="bg1"/>
                </a:solidFill>
                <a:latin typeface="+mn-lt"/>
              </a:rPr>
              <a:t>Database</a:t>
            </a:r>
            <a:endParaRPr lang="en-IN" sz="4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03657" y="2664157"/>
            <a:ext cx="701816" cy="947895"/>
          </a:xfrm>
          <a:prstGeom prst="rect">
            <a:avLst/>
          </a:prstGeom>
        </p:spPr>
      </p:pic>
      <p:sp>
        <p:nvSpPr>
          <p:cNvPr id="3" name="object 3"/>
          <p:cNvSpPr txBox="1"/>
          <p:nvPr/>
        </p:nvSpPr>
        <p:spPr>
          <a:xfrm>
            <a:off x="2340526" y="3790290"/>
            <a:ext cx="2204719"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Relational</a:t>
            </a:r>
            <a:r>
              <a:rPr sz="2133" spc="-47" dirty="0">
                <a:solidFill>
                  <a:srgbClr val="FFFFFF"/>
                </a:solidFill>
                <a:latin typeface="Calibri"/>
                <a:cs typeface="Calibri"/>
              </a:rPr>
              <a:t> </a:t>
            </a:r>
            <a:r>
              <a:rPr sz="2133" spc="-13" dirty="0">
                <a:solidFill>
                  <a:srgbClr val="FFFFFF"/>
                </a:solidFill>
                <a:latin typeface="Calibri"/>
                <a:cs typeface="Calibri"/>
              </a:rPr>
              <a:t>database</a:t>
            </a:r>
            <a:endParaRPr sz="2133">
              <a:latin typeface="Calibri"/>
              <a:cs typeface="Calibri"/>
            </a:endParaRPr>
          </a:p>
        </p:txBody>
      </p:sp>
      <p:graphicFrame>
        <p:nvGraphicFramePr>
          <p:cNvPr id="4" name="object 4"/>
          <p:cNvGraphicFramePr>
            <a:graphicFrameLocks noGrp="1"/>
          </p:cNvGraphicFramePr>
          <p:nvPr/>
        </p:nvGraphicFramePr>
        <p:xfrm>
          <a:off x="5477807" y="2800361"/>
          <a:ext cx="929639" cy="628227"/>
        </p:xfrm>
        <a:graphic>
          <a:graphicData uri="http://schemas.openxmlformats.org/drawingml/2006/table">
            <a:tbl>
              <a:tblPr firstRow="1" bandRow="1">
                <a:tableStyleId>{2D5ABB26-0587-4C30-8999-92F81FD0307C}</a:tableStyleId>
              </a:tblPr>
              <a:tblGrid>
                <a:gridCol w="314113">
                  <a:extLst>
                    <a:ext uri="{9D8B030D-6E8A-4147-A177-3AD203B41FA5}">
                      <a16:colId xmlns:a16="http://schemas.microsoft.com/office/drawing/2014/main" val="20000"/>
                    </a:ext>
                  </a:extLst>
                </a:gridCol>
                <a:gridCol w="301413">
                  <a:extLst>
                    <a:ext uri="{9D8B030D-6E8A-4147-A177-3AD203B41FA5}">
                      <a16:colId xmlns:a16="http://schemas.microsoft.com/office/drawing/2014/main" val="20001"/>
                    </a:ext>
                  </a:extLst>
                </a:gridCol>
                <a:gridCol w="314113">
                  <a:extLst>
                    <a:ext uri="{9D8B030D-6E8A-4147-A177-3AD203B41FA5}">
                      <a16:colId xmlns:a16="http://schemas.microsoft.com/office/drawing/2014/main" val="20002"/>
                    </a:ext>
                  </a:extLst>
                </a:gridCol>
              </a:tblGrid>
              <a:tr h="213360">
                <a:tc>
                  <a:txBody>
                    <a:bodyPr/>
                    <a:lstStyle/>
                    <a:p>
                      <a:pPr>
                        <a:lnSpc>
                          <a:spcPct val="100000"/>
                        </a:lnSpc>
                      </a:pPr>
                      <a:endParaRPr sz="1100">
                        <a:latin typeface="Times New Roman"/>
                        <a:cs typeface="Times New Roman"/>
                      </a:endParaRPr>
                    </a:p>
                  </a:txBody>
                  <a:tcPr marL="0" marR="0" marT="0" marB="0">
                    <a:lnL w="5715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1100">
                        <a:latin typeface="Times New Roman"/>
                        <a:cs typeface="Times New Roman"/>
                      </a:endParaRPr>
                    </a:p>
                  </a:txBody>
                  <a:tcPr marL="0" marR="0" marT="0" marB="0">
                    <a:lnL w="3810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1100">
                        <a:latin typeface="Times New Roman"/>
                        <a:cs typeface="Times New Roman"/>
                      </a:endParaRPr>
                    </a:p>
                  </a:txBody>
                  <a:tcPr marL="0" marR="0" marT="0" marB="0">
                    <a:lnL w="38100">
                      <a:solidFill>
                        <a:srgbClr val="BCBCBC"/>
                      </a:solidFill>
                      <a:prstDash val="solid"/>
                    </a:lnL>
                    <a:lnR w="57150">
                      <a:solidFill>
                        <a:srgbClr val="BCBCBC"/>
                      </a:solidFill>
                      <a:prstDash val="solid"/>
                    </a:lnR>
                    <a:lnT w="57150">
                      <a:solidFill>
                        <a:srgbClr val="BCBCBC"/>
                      </a:solidFill>
                      <a:prstDash val="solid"/>
                    </a:lnT>
                    <a:lnB w="38100">
                      <a:solidFill>
                        <a:srgbClr val="BCBCBC"/>
                      </a:solidFill>
                      <a:prstDash val="solid"/>
                    </a:lnB>
                  </a:tcPr>
                </a:tc>
                <a:extLst>
                  <a:ext uri="{0D108BD9-81ED-4DB2-BD59-A6C34878D82A}">
                    <a16:rowId xmlns:a16="http://schemas.microsoft.com/office/drawing/2014/main" val="10000"/>
                  </a:ext>
                </a:extLst>
              </a:tr>
              <a:tr h="201507">
                <a:tc>
                  <a:txBody>
                    <a:bodyPr/>
                    <a:lstStyle/>
                    <a:p>
                      <a:pPr>
                        <a:lnSpc>
                          <a:spcPct val="100000"/>
                        </a:lnSpc>
                      </a:pPr>
                      <a:endParaRPr sz="11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11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11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38100">
                      <a:solidFill>
                        <a:srgbClr val="BCBCBC"/>
                      </a:solidFill>
                      <a:prstDash val="solid"/>
                    </a:lnB>
                  </a:tcPr>
                </a:tc>
                <a:extLst>
                  <a:ext uri="{0D108BD9-81ED-4DB2-BD59-A6C34878D82A}">
                    <a16:rowId xmlns:a16="http://schemas.microsoft.com/office/drawing/2014/main" val="10001"/>
                  </a:ext>
                </a:extLst>
              </a:tr>
              <a:tr h="213360">
                <a:tc>
                  <a:txBody>
                    <a:bodyPr/>
                    <a:lstStyle/>
                    <a:p>
                      <a:pPr>
                        <a:lnSpc>
                          <a:spcPct val="100000"/>
                        </a:lnSpc>
                      </a:pPr>
                      <a:endParaRPr sz="11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11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11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57150">
                      <a:solidFill>
                        <a:srgbClr val="BCBCBC"/>
                      </a:solidFill>
                      <a:prstDash val="solid"/>
                    </a:lnB>
                  </a:tcPr>
                </a:tc>
                <a:extLst>
                  <a:ext uri="{0D108BD9-81ED-4DB2-BD59-A6C34878D82A}">
                    <a16:rowId xmlns:a16="http://schemas.microsoft.com/office/drawing/2014/main" val="10002"/>
                  </a:ext>
                </a:extLst>
              </a:tr>
            </a:tbl>
          </a:graphicData>
        </a:graphic>
      </p:graphicFrame>
      <p:sp>
        <p:nvSpPr>
          <p:cNvPr id="6" name="object 6"/>
          <p:cNvSpPr txBox="1"/>
          <p:nvPr/>
        </p:nvSpPr>
        <p:spPr>
          <a:xfrm>
            <a:off x="5004137" y="3790290"/>
            <a:ext cx="1928707"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Tables</a:t>
            </a:r>
            <a:r>
              <a:rPr sz="2133" spc="-47" dirty="0">
                <a:solidFill>
                  <a:srgbClr val="FFFFFF"/>
                </a:solidFill>
                <a:latin typeface="Calibri"/>
                <a:cs typeface="Calibri"/>
              </a:rPr>
              <a:t> </a:t>
            </a:r>
            <a:r>
              <a:rPr sz="2133" spc="-13" dirty="0">
                <a:solidFill>
                  <a:srgbClr val="FFFFFF"/>
                </a:solidFill>
                <a:latin typeface="Calibri"/>
                <a:cs typeface="Calibri"/>
              </a:rPr>
              <a:t>(relations)</a:t>
            </a:r>
            <a:endParaRPr sz="2133">
              <a:latin typeface="Calibri"/>
              <a:cs typeface="Calibri"/>
            </a:endParaRPr>
          </a:p>
        </p:txBody>
      </p:sp>
      <p:graphicFrame>
        <p:nvGraphicFramePr>
          <p:cNvPr id="7" name="object 7"/>
          <p:cNvGraphicFramePr>
            <a:graphicFrameLocks noGrp="1"/>
          </p:cNvGraphicFramePr>
          <p:nvPr/>
        </p:nvGraphicFramePr>
        <p:xfrm>
          <a:off x="7493507" y="2506133"/>
          <a:ext cx="2991272" cy="1695026"/>
        </p:xfrm>
        <a:graphic>
          <a:graphicData uri="http://schemas.openxmlformats.org/drawingml/2006/table">
            <a:tbl>
              <a:tblPr firstRow="1" bandRow="1">
                <a:tableStyleId>{2D5ABB26-0587-4C30-8999-92F81FD0307C}</a:tableStyleId>
              </a:tblPr>
              <a:tblGrid>
                <a:gridCol w="204893">
                  <a:extLst>
                    <a:ext uri="{9D8B030D-6E8A-4147-A177-3AD203B41FA5}">
                      <a16:colId xmlns:a16="http://schemas.microsoft.com/office/drawing/2014/main" val="20000"/>
                    </a:ext>
                  </a:extLst>
                </a:gridCol>
                <a:gridCol w="551179">
                  <a:extLst>
                    <a:ext uri="{9D8B030D-6E8A-4147-A177-3AD203B41FA5}">
                      <a16:colId xmlns:a16="http://schemas.microsoft.com/office/drawing/2014/main" val="20001"/>
                    </a:ext>
                  </a:extLst>
                </a:gridCol>
                <a:gridCol w="1117600">
                  <a:extLst>
                    <a:ext uri="{9D8B030D-6E8A-4147-A177-3AD203B41FA5}">
                      <a16:colId xmlns:a16="http://schemas.microsoft.com/office/drawing/2014/main" val="20002"/>
                    </a:ext>
                  </a:extLst>
                </a:gridCol>
                <a:gridCol w="1117600">
                  <a:extLst>
                    <a:ext uri="{9D8B030D-6E8A-4147-A177-3AD203B41FA5}">
                      <a16:colId xmlns:a16="http://schemas.microsoft.com/office/drawing/2014/main" val="20003"/>
                    </a:ext>
                  </a:extLst>
                </a:gridCol>
              </a:tblGrid>
              <a:tr h="254000">
                <a:tc>
                  <a:txBody>
                    <a:bodyPr/>
                    <a:lstStyle/>
                    <a:p>
                      <a:pPr marR="19050" algn="ctr">
                        <a:lnSpc>
                          <a:spcPct val="100000"/>
                        </a:lnSpc>
                        <a:spcBef>
                          <a:spcPts val="130"/>
                        </a:spcBef>
                      </a:pPr>
                      <a:r>
                        <a:rPr sz="1400" spc="-25" dirty="0">
                          <a:latin typeface="Arial MT"/>
                          <a:cs typeface="Arial MT"/>
                        </a:rPr>
                        <a:t>id</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0160">
                        <a:lnSpc>
                          <a:spcPct val="100000"/>
                        </a:lnSpc>
                        <a:spcBef>
                          <a:spcPts val="130"/>
                        </a:spcBef>
                      </a:pPr>
                      <a:r>
                        <a:rPr sz="1400" spc="-20" dirty="0">
                          <a:latin typeface="Arial MT"/>
                          <a:cs typeface="Arial MT"/>
                        </a:rPr>
                        <a:t>date</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0160">
                        <a:lnSpc>
                          <a:spcPct val="100000"/>
                        </a:lnSpc>
                        <a:spcBef>
                          <a:spcPts val="130"/>
                        </a:spcBef>
                      </a:pPr>
                      <a:r>
                        <a:rPr sz="1400" spc="-10" dirty="0">
                          <a:latin typeface="Arial MT"/>
                          <a:cs typeface="Arial MT"/>
                        </a:rPr>
                        <a:t>product</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0160">
                        <a:lnSpc>
                          <a:spcPct val="100000"/>
                        </a:lnSpc>
                        <a:spcBef>
                          <a:spcPts val="130"/>
                        </a:spcBef>
                      </a:pPr>
                      <a:r>
                        <a:rPr sz="1400" spc="-10" dirty="0">
                          <a:latin typeface="Arial MT"/>
                          <a:cs typeface="Arial MT"/>
                        </a:rPr>
                        <a:t>customer_id</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0"/>
                  </a:ext>
                </a:extLst>
              </a:tr>
              <a:tr h="297180">
                <a:tc>
                  <a:txBody>
                    <a:bodyPr/>
                    <a:lstStyle/>
                    <a:p>
                      <a:pPr marL="1270" algn="ctr">
                        <a:lnSpc>
                          <a:spcPct val="100000"/>
                        </a:lnSpc>
                        <a:spcBef>
                          <a:spcPts val="470"/>
                        </a:spcBef>
                      </a:pPr>
                      <a:r>
                        <a:rPr sz="900" spc="-50" dirty="0">
                          <a:latin typeface="Arial MT"/>
                          <a:cs typeface="Arial MT"/>
                        </a:rPr>
                        <a:t>1</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R="26670" algn="r">
                        <a:lnSpc>
                          <a:spcPct val="100000"/>
                        </a:lnSpc>
                        <a:spcBef>
                          <a:spcPts val="470"/>
                        </a:spcBef>
                      </a:pPr>
                      <a:r>
                        <a:rPr sz="900" spc="-10" dirty="0">
                          <a:latin typeface="Arial MT"/>
                          <a:cs typeface="Arial MT"/>
                        </a:rPr>
                        <a:t>1/2/2022</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69240" marR="120014" indent="-135890">
                        <a:lnSpc>
                          <a:spcPts val="830"/>
                        </a:lnSpc>
                      </a:pPr>
                      <a:r>
                        <a:rPr sz="900" dirty="0">
                          <a:latin typeface="Arial MT"/>
                          <a:cs typeface="Arial MT"/>
                        </a:rPr>
                        <a:t>Fulltoss</a:t>
                      </a:r>
                      <a:r>
                        <a:rPr sz="900" spc="-25" dirty="0">
                          <a:latin typeface="Arial MT"/>
                          <a:cs typeface="Arial MT"/>
                        </a:rPr>
                        <a:t> </a:t>
                      </a:r>
                      <a:r>
                        <a:rPr sz="900" spc="-10" dirty="0">
                          <a:latin typeface="Arial MT"/>
                          <a:cs typeface="Arial MT"/>
                        </a:rPr>
                        <a:t>Tangy</a:t>
                      </a:r>
                      <a:r>
                        <a:rPr sz="900" spc="500" dirty="0">
                          <a:latin typeface="Arial MT"/>
                          <a:cs typeface="Arial MT"/>
                        </a:rPr>
                        <a:t> </a:t>
                      </a:r>
                      <a:r>
                        <a:rPr sz="900" spc="-10" dirty="0">
                          <a:latin typeface="Arial MT"/>
                          <a:cs typeface="Arial MT"/>
                        </a:rPr>
                        <a:t>Tomato</a:t>
                      </a:r>
                      <a:endParaRPr sz="9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445"/>
                        </a:spcBef>
                      </a:pPr>
                      <a:r>
                        <a:rPr sz="900" spc="-50" dirty="0">
                          <a:latin typeface="Calibri"/>
                          <a:cs typeface="Calibri"/>
                        </a:rPr>
                        <a:t>2</a:t>
                      </a:r>
                      <a:endParaRPr sz="9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96333">
                <a:tc>
                  <a:txBody>
                    <a:bodyPr/>
                    <a:lstStyle/>
                    <a:p>
                      <a:pPr marL="1270" algn="ctr">
                        <a:lnSpc>
                          <a:spcPct val="100000"/>
                        </a:lnSpc>
                        <a:spcBef>
                          <a:spcPts val="470"/>
                        </a:spcBef>
                      </a:pPr>
                      <a:r>
                        <a:rPr sz="900" spc="-50" dirty="0">
                          <a:latin typeface="Arial MT"/>
                          <a:cs typeface="Arial MT"/>
                        </a:rPr>
                        <a:t>2</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R="26670" algn="r">
                        <a:lnSpc>
                          <a:spcPct val="100000"/>
                        </a:lnSpc>
                        <a:spcBef>
                          <a:spcPts val="470"/>
                        </a:spcBef>
                      </a:pPr>
                      <a:r>
                        <a:rPr sz="900" spc="-10" dirty="0">
                          <a:latin typeface="Arial MT"/>
                          <a:cs typeface="Arial MT"/>
                        </a:rPr>
                        <a:t>1/2/2022</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57785" marR="46355" indent="92710">
                        <a:lnSpc>
                          <a:spcPts val="830"/>
                        </a:lnSpc>
                      </a:pPr>
                      <a:r>
                        <a:rPr sz="900" dirty="0">
                          <a:latin typeface="Arial MT"/>
                          <a:cs typeface="Arial MT"/>
                        </a:rPr>
                        <a:t>Chilli</a:t>
                      </a:r>
                      <a:r>
                        <a:rPr sz="900" spc="-20" dirty="0">
                          <a:latin typeface="Arial MT"/>
                          <a:cs typeface="Arial MT"/>
                        </a:rPr>
                        <a:t> </a:t>
                      </a:r>
                      <a:r>
                        <a:rPr sz="900" dirty="0">
                          <a:latin typeface="Arial MT"/>
                          <a:cs typeface="Arial MT"/>
                        </a:rPr>
                        <a:t>- </a:t>
                      </a:r>
                      <a:r>
                        <a:rPr sz="900" spc="-10" dirty="0">
                          <a:latin typeface="Arial MT"/>
                          <a:cs typeface="Arial MT"/>
                        </a:rPr>
                        <a:t>Green,</a:t>
                      </a:r>
                      <a:r>
                        <a:rPr sz="900" spc="500" dirty="0">
                          <a:latin typeface="Arial MT"/>
                          <a:cs typeface="Arial MT"/>
                        </a:rPr>
                        <a:t> </a:t>
                      </a:r>
                      <a:r>
                        <a:rPr sz="900" dirty="0">
                          <a:latin typeface="Arial MT"/>
                          <a:cs typeface="Arial MT"/>
                        </a:rPr>
                        <a:t>Organically</a:t>
                      </a:r>
                      <a:r>
                        <a:rPr sz="900" spc="-35" dirty="0">
                          <a:latin typeface="Arial MT"/>
                          <a:cs typeface="Arial MT"/>
                        </a:rPr>
                        <a:t> </a:t>
                      </a:r>
                      <a:r>
                        <a:rPr sz="900" spc="-10" dirty="0">
                          <a:latin typeface="Arial MT"/>
                          <a:cs typeface="Arial MT"/>
                        </a:rPr>
                        <a:t>Grown</a:t>
                      </a:r>
                      <a:endParaRPr sz="9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445"/>
                        </a:spcBef>
                      </a:pPr>
                      <a:r>
                        <a:rPr sz="900" spc="-50" dirty="0">
                          <a:latin typeface="Calibri"/>
                          <a:cs typeface="Calibri"/>
                        </a:rPr>
                        <a:t>2</a:t>
                      </a:r>
                      <a:endParaRPr sz="9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marL="1270" algn="ctr">
                        <a:lnSpc>
                          <a:spcPct val="100000"/>
                        </a:lnSpc>
                        <a:spcBef>
                          <a:spcPts val="340"/>
                        </a:spcBef>
                      </a:pPr>
                      <a:r>
                        <a:rPr sz="900" spc="-50" dirty="0">
                          <a:latin typeface="Arial MT"/>
                          <a:cs typeface="Arial MT"/>
                        </a:rPr>
                        <a:t>3</a:t>
                      </a:r>
                      <a:endParaRPr sz="900">
                        <a:latin typeface="Arial MT"/>
                        <a:cs typeface="Arial MT"/>
                      </a:endParaRPr>
                    </a:p>
                  </a:txBody>
                  <a:tcPr marL="0" marR="0" marT="575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R="26670" algn="r">
                        <a:lnSpc>
                          <a:spcPct val="100000"/>
                        </a:lnSpc>
                        <a:spcBef>
                          <a:spcPts val="340"/>
                        </a:spcBef>
                      </a:pPr>
                      <a:r>
                        <a:rPr sz="900" spc="-10" dirty="0">
                          <a:latin typeface="Arial MT"/>
                          <a:cs typeface="Arial MT"/>
                        </a:rPr>
                        <a:t>1/2/2022</a:t>
                      </a:r>
                      <a:endParaRPr sz="900">
                        <a:latin typeface="Arial MT"/>
                        <a:cs typeface="Arial MT"/>
                      </a:endParaRPr>
                    </a:p>
                  </a:txBody>
                  <a:tcPr marL="0" marR="0" marT="575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15570">
                        <a:lnSpc>
                          <a:spcPct val="100000"/>
                        </a:lnSpc>
                        <a:spcBef>
                          <a:spcPts val="340"/>
                        </a:spcBef>
                      </a:pPr>
                      <a:r>
                        <a:rPr sz="900" dirty="0">
                          <a:latin typeface="Arial MT"/>
                          <a:cs typeface="Arial MT"/>
                        </a:rPr>
                        <a:t>Masala</a:t>
                      </a:r>
                      <a:r>
                        <a:rPr sz="900" spc="-25" dirty="0">
                          <a:latin typeface="Arial MT"/>
                          <a:cs typeface="Arial MT"/>
                        </a:rPr>
                        <a:t> </a:t>
                      </a:r>
                      <a:r>
                        <a:rPr sz="900" spc="-10" dirty="0">
                          <a:latin typeface="Arial MT"/>
                          <a:cs typeface="Arial MT"/>
                        </a:rPr>
                        <a:t>Powder</a:t>
                      </a:r>
                      <a:endParaRPr sz="900">
                        <a:latin typeface="Arial MT"/>
                        <a:cs typeface="Arial MT"/>
                      </a:endParaRPr>
                    </a:p>
                  </a:txBody>
                  <a:tcPr marL="0" marR="0" marT="575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320"/>
                        </a:spcBef>
                      </a:pPr>
                      <a:r>
                        <a:rPr sz="900" spc="-50" dirty="0">
                          <a:latin typeface="Calibri"/>
                          <a:cs typeface="Calibri"/>
                        </a:rPr>
                        <a:t>5</a:t>
                      </a:r>
                      <a:endParaRPr sz="9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97180">
                <a:tc>
                  <a:txBody>
                    <a:bodyPr/>
                    <a:lstStyle/>
                    <a:p>
                      <a:pPr marL="1270" algn="ctr">
                        <a:lnSpc>
                          <a:spcPct val="100000"/>
                        </a:lnSpc>
                        <a:spcBef>
                          <a:spcPts val="470"/>
                        </a:spcBef>
                      </a:pPr>
                      <a:r>
                        <a:rPr sz="900" spc="-50" dirty="0">
                          <a:latin typeface="Arial MT"/>
                          <a:cs typeface="Arial MT"/>
                        </a:rPr>
                        <a:t>4</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R="26670" algn="r">
                        <a:lnSpc>
                          <a:spcPct val="100000"/>
                        </a:lnSpc>
                        <a:spcBef>
                          <a:spcPts val="470"/>
                        </a:spcBef>
                      </a:pPr>
                      <a:r>
                        <a:rPr sz="900" spc="-10" dirty="0">
                          <a:latin typeface="Arial MT"/>
                          <a:cs typeface="Arial MT"/>
                        </a:rPr>
                        <a:t>1/2/2022</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33045" marR="90170" indent="-132715">
                        <a:lnSpc>
                          <a:spcPts val="830"/>
                        </a:lnSpc>
                      </a:pPr>
                      <a:r>
                        <a:rPr sz="900" dirty="0">
                          <a:latin typeface="Arial MT"/>
                          <a:cs typeface="Arial MT"/>
                        </a:rPr>
                        <a:t>Cheese</a:t>
                      </a:r>
                      <a:r>
                        <a:rPr sz="900" spc="-25" dirty="0">
                          <a:latin typeface="Arial MT"/>
                          <a:cs typeface="Arial MT"/>
                        </a:rPr>
                        <a:t> </a:t>
                      </a:r>
                      <a:r>
                        <a:rPr sz="900" spc="-10" dirty="0">
                          <a:latin typeface="Arial MT"/>
                          <a:cs typeface="Arial MT"/>
                        </a:rPr>
                        <a:t>Cracker</a:t>
                      </a:r>
                      <a:r>
                        <a:rPr sz="900" spc="500" dirty="0">
                          <a:latin typeface="Arial MT"/>
                          <a:cs typeface="Arial MT"/>
                        </a:rPr>
                        <a:t> </a:t>
                      </a:r>
                      <a:r>
                        <a:rPr sz="900" spc="-10" dirty="0">
                          <a:latin typeface="Arial MT"/>
                          <a:cs typeface="Arial MT"/>
                        </a:rPr>
                        <a:t>(Mcvities)</a:t>
                      </a:r>
                      <a:endParaRPr sz="9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450"/>
                        </a:spcBef>
                      </a:pPr>
                      <a:r>
                        <a:rPr sz="900" spc="-50" dirty="0">
                          <a:latin typeface="Calibri"/>
                          <a:cs typeface="Calibri"/>
                        </a:rPr>
                        <a:t>1</a:t>
                      </a:r>
                      <a:endParaRPr sz="9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96333">
                <a:tc>
                  <a:txBody>
                    <a:bodyPr/>
                    <a:lstStyle/>
                    <a:p>
                      <a:pPr marL="1270" algn="ctr">
                        <a:lnSpc>
                          <a:spcPct val="100000"/>
                        </a:lnSpc>
                        <a:spcBef>
                          <a:spcPts val="470"/>
                        </a:spcBef>
                      </a:pPr>
                      <a:r>
                        <a:rPr sz="900" spc="-50" dirty="0">
                          <a:latin typeface="Arial MT"/>
                          <a:cs typeface="Arial MT"/>
                        </a:rPr>
                        <a:t>5</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R="26670" algn="r">
                        <a:lnSpc>
                          <a:spcPct val="100000"/>
                        </a:lnSpc>
                        <a:spcBef>
                          <a:spcPts val="470"/>
                        </a:spcBef>
                      </a:pPr>
                      <a:r>
                        <a:rPr sz="900" spc="-10" dirty="0">
                          <a:latin typeface="Arial MT"/>
                          <a:cs typeface="Arial MT"/>
                        </a:rPr>
                        <a:t>1/2/2022</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04775" marR="93980" indent="63500">
                        <a:lnSpc>
                          <a:spcPts val="830"/>
                        </a:lnSpc>
                      </a:pPr>
                      <a:r>
                        <a:rPr sz="900" dirty="0">
                          <a:latin typeface="Arial MT"/>
                          <a:cs typeface="Arial MT"/>
                        </a:rPr>
                        <a:t>Centre</a:t>
                      </a:r>
                      <a:r>
                        <a:rPr sz="900" spc="-15" dirty="0">
                          <a:latin typeface="Arial MT"/>
                          <a:cs typeface="Arial MT"/>
                        </a:rPr>
                        <a:t> </a:t>
                      </a:r>
                      <a:r>
                        <a:rPr sz="900" spc="-10" dirty="0">
                          <a:latin typeface="Arial MT"/>
                          <a:cs typeface="Arial MT"/>
                        </a:rPr>
                        <a:t>Filled</a:t>
                      </a:r>
                      <a:r>
                        <a:rPr sz="900" spc="500" dirty="0">
                          <a:latin typeface="Arial MT"/>
                          <a:cs typeface="Arial MT"/>
                        </a:rPr>
                        <a:t> </a:t>
                      </a:r>
                      <a:r>
                        <a:rPr sz="900" dirty="0">
                          <a:latin typeface="Arial MT"/>
                          <a:cs typeface="Arial MT"/>
                        </a:rPr>
                        <a:t>Chocolate</a:t>
                      </a:r>
                      <a:r>
                        <a:rPr sz="900" spc="-35" dirty="0">
                          <a:latin typeface="Arial MT"/>
                          <a:cs typeface="Arial MT"/>
                        </a:rPr>
                        <a:t> </a:t>
                      </a:r>
                      <a:r>
                        <a:rPr sz="900" spc="-20" dirty="0">
                          <a:latin typeface="Arial MT"/>
                          <a:cs typeface="Arial MT"/>
                        </a:rPr>
                        <a:t>Cake</a:t>
                      </a:r>
                      <a:endParaRPr sz="9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445"/>
                        </a:spcBef>
                      </a:pPr>
                      <a:r>
                        <a:rPr sz="900" spc="-50" dirty="0">
                          <a:latin typeface="Calibri"/>
                          <a:cs typeface="Calibri"/>
                        </a:rPr>
                        <a:t>5</a:t>
                      </a:r>
                      <a:endParaRPr sz="9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sp>
        <p:nvSpPr>
          <p:cNvPr id="8" name="object 8"/>
          <p:cNvSpPr/>
          <p:nvPr/>
        </p:nvSpPr>
        <p:spPr>
          <a:xfrm>
            <a:off x="7417815" y="2415031"/>
            <a:ext cx="342053" cy="1930400"/>
          </a:xfrm>
          <a:custGeom>
            <a:avLst/>
            <a:gdLst/>
            <a:ahLst/>
            <a:cxnLst/>
            <a:rect l="l" t="t" r="r" b="b"/>
            <a:pathLst>
              <a:path w="256539" h="1447800">
                <a:moveTo>
                  <a:pt x="0" y="42672"/>
                </a:moveTo>
                <a:lnTo>
                  <a:pt x="3345" y="26038"/>
                </a:lnTo>
                <a:lnTo>
                  <a:pt x="12477" y="12477"/>
                </a:lnTo>
                <a:lnTo>
                  <a:pt x="26038" y="3345"/>
                </a:lnTo>
                <a:lnTo>
                  <a:pt x="42672" y="0"/>
                </a:lnTo>
                <a:lnTo>
                  <a:pt x="213360" y="0"/>
                </a:lnTo>
                <a:lnTo>
                  <a:pt x="229993" y="3345"/>
                </a:lnTo>
                <a:lnTo>
                  <a:pt x="243554" y="12477"/>
                </a:lnTo>
                <a:lnTo>
                  <a:pt x="252686" y="26038"/>
                </a:lnTo>
                <a:lnTo>
                  <a:pt x="256032" y="42672"/>
                </a:lnTo>
                <a:lnTo>
                  <a:pt x="256032" y="1405127"/>
                </a:lnTo>
                <a:lnTo>
                  <a:pt x="252686" y="1421761"/>
                </a:lnTo>
                <a:lnTo>
                  <a:pt x="243554" y="1435322"/>
                </a:lnTo>
                <a:lnTo>
                  <a:pt x="229993" y="1444454"/>
                </a:lnTo>
                <a:lnTo>
                  <a:pt x="213360" y="1447800"/>
                </a:lnTo>
                <a:lnTo>
                  <a:pt x="42672" y="1447800"/>
                </a:lnTo>
                <a:lnTo>
                  <a:pt x="26038" y="1444454"/>
                </a:lnTo>
                <a:lnTo>
                  <a:pt x="12477" y="1435322"/>
                </a:lnTo>
                <a:lnTo>
                  <a:pt x="3345" y="1421761"/>
                </a:lnTo>
                <a:lnTo>
                  <a:pt x="0" y="1405127"/>
                </a:lnTo>
                <a:lnTo>
                  <a:pt x="0" y="42672"/>
                </a:lnTo>
                <a:close/>
              </a:path>
            </a:pathLst>
          </a:custGeom>
          <a:ln w="38100">
            <a:solidFill>
              <a:srgbClr val="008FBB"/>
            </a:solidFill>
          </a:ln>
        </p:spPr>
        <p:txBody>
          <a:bodyPr wrap="square" lIns="0" tIns="0" rIns="0" bIns="0" rtlCol="0"/>
          <a:lstStyle/>
          <a:p>
            <a:endParaRPr sz="2400"/>
          </a:p>
        </p:txBody>
      </p:sp>
      <p:sp>
        <p:nvSpPr>
          <p:cNvPr id="9" name="object 9"/>
          <p:cNvSpPr txBox="1"/>
          <p:nvPr/>
        </p:nvSpPr>
        <p:spPr>
          <a:xfrm>
            <a:off x="6827689" y="1961389"/>
            <a:ext cx="1333500"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Primary</a:t>
            </a:r>
            <a:r>
              <a:rPr sz="2133" spc="-73" dirty="0">
                <a:solidFill>
                  <a:srgbClr val="FFFFFF"/>
                </a:solidFill>
                <a:latin typeface="Calibri"/>
                <a:cs typeface="Calibri"/>
              </a:rPr>
              <a:t> </a:t>
            </a:r>
            <a:r>
              <a:rPr sz="2133" spc="-33" dirty="0">
                <a:solidFill>
                  <a:srgbClr val="FFFFFF"/>
                </a:solidFill>
                <a:latin typeface="Calibri"/>
                <a:cs typeface="Calibri"/>
              </a:rPr>
              <a:t>key</a:t>
            </a:r>
            <a:endParaRPr sz="2133">
              <a:latin typeface="Calibri"/>
              <a:cs typeface="Calibri"/>
            </a:endParaRPr>
          </a:p>
        </p:txBody>
      </p:sp>
      <p:sp>
        <p:nvSpPr>
          <p:cNvPr id="10" name="object 10"/>
          <p:cNvSpPr/>
          <p:nvPr/>
        </p:nvSpPr>
        <p:spPr>
          <a:xfrm>
            <a:off x="9301479" y="2415031"/>
            <a:ext cx="1278467" cy="1930400"/>
          </a:xfrm>
          <a:custGeom>
            <a:avLst/>
            <a:gdLst/>
            <a:ahLst/>
            <a:cxnLst/>
            <a:rect l="l" t="t" r="r" b="b"/>
            <a:pathLst>
              <a:path w="958850" h="1447800">
                <a:moveTo>
                  <a:pt x="0" y="159765"/>
                </a:moveTo>
                <a:lnTo>
                  <a:pt x="8142" y="109256"/>
                </a:lnTo>
                <a:lnTo>
                  <a:pt x="30817" y="65397"/>
                </a:lnTo>
                <a:lnTo>
                  <a:pt x="65397" y="30817"/>
                </a:lnTo>
                <a:lnTo>
                  <a:pt x="109256" y="8142"/>
                </a:lnTo>
                <a:lnTo>
                  <a:pt x="159766" y="0"/>
                </a:lnTo>
                <a:lnTo>
                  <a:pt x="798830" y="0"/>
                </a:lnTo>
                <a:lnTo>
                  <a:pt x="849339" y="8142"/>
                </a:lnTo>
                <a:lnTo>
                  <a:pt x="893198" y="30817"/>
                </a:lnTo>
                <a:lnTo>
                  <a:pt x="927778" y="65397"/>
                </a:lnTo>
                <a:lnTo>
                  <a:pt x="950453" y="109256"/>
                </a:lnTo>
                <a:lnTo>
                  <a:pt x="958596" y="159765"/>
                </a:lnTo>
                <a:lnTo>
                  <a:pt x="958596" y="1288033"/>
                </a:lnTo>
                <a:lnTo>
                  <a:pt x="950453" y="1338543"/>
                </a:lnTo>
                <a:lnTo>
                  <a:pt x="927778" y="1382402"/>
                </a:lnTo>
                <a:lnTo>
                  <a:pt x="893198" y="1416982"/>
                </a:lnTo>
                <a:lnTo>
                  <a:pt x="849339" y="1439657"/>
                </a:lnTo>
                <a:lnTo>
                  <a:pt x="798830" y="1447800"/>
                </a:lnTo>
                <a:lnTo>
                  <a:pt x="159766" y="1447800"/>
                </a:lnTo>
                <a:lnTo>
                  <a:pt x="109256" y="1439657"/>
                </a:lnTo>
                <a:lnTo>
                  <a:pt x="65397" y="1416982"/>
                </a:lnTo>
                <a:lnTo>
                  <a:pt x="30817" y="1382402"/>
                </a:lnTo>
                <a:lnTo>
                  <a:pt x="8142" y="1338543"/>
                </a:lnTo>
                <a:lnTo>
                  <a:pt x="0" y="1288033"/>
                </a:lnTo>
                <a:lnTo>
                  <a:pt x="0" y="159765"/>
                </a:lnTo>
                <a:close/>
              </a:path>
            </a:pathLst>
          </a:custGeom>
          <a:ln w="38100">
            <a:solidFill>
              <a:srgbClr val="66DBFF"/>
            </a:solidFill>
          </a:ln>
        </p:spPr>
        <p:txBody>
          <a:bodyPr wrap="square" lIns="0" tIns="0" rIns="0" bIns="0" rtlCol="0"/>
          <a:lstStyle/>
          <a:p>
            <a:endParaRPr sz="2400"/>
          </a:p>
        </p:txBody>
      </p:sp>
      <p:sp>
        <p:nvSpPr>
          <p:cNvPr id="11" name="object 11"/>
          <p:cNvSpPr txBox="1"/>
          <p:nvPr/>
        </p:nvSpPr>
        <p:spPr>
          <a:xfrm>
            <a:off x="9281160" y="1925998"/>
            <a:ext cx="1304713"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Foreign</a:t>
            </a:r>
            <a:r>
              <a:rPr sz="2133" spc="-40" dirty="0">
                <a:solidFill>
                  <a:srgbClr val="FFFFFF"/>
                </a:solidFill>
                <a:latin typeface="Calibri"/>
                <a:cs typeface="Calibri"/>
              </a:rPr>
              <a:t> </a:t>
            </a:r>
            <a:r>
              <a:rPr sz="2133" spc="-33" dirty="0">
                <a:solidFill>
                  <a:srgbClr val="FFFFFF"/>
                </a:solidFill>
                <a:latin typeface="Calibri"/>
                <a:cs typeface="Calibri"/>
              </a:rPr>
              <a:t>key</a:t>
            </a:r>
            <a:endParaRPr sz="2133">
              <a:latin typeface="Calibri"/>
              <a:cs typeface="Calibri"/>
            </a:endParaRPr>
          </a:p>
        </p:txBody>
      </p:sp>
      <p:graphicFrame>
        <p:nvGraphicFramePr>
          <p:cNvPr id="12" name="object 12"/>
          <p:cNvGraphicFramePr>
            <a:graphicFrameLocks noGrp="1"/>
          </p:cNvGraphicFramePr>
          <p:nvPr/>
        </p:nvGraphicFramePr>
        <p:xfrm>
          <a:off x="8143071" y="4739471"/>
          <a:ext cx="1874519" cy="1522306"/>
        </p:xfrm>
        <a:graphic>
          <a:graphicData uri="http://schemas.openxmlformats.org/drawingml/2006/table">
            <a:tbl>
              <a:tblPr firstRow="1" bandRow="1">
                <a:tableStyleId>{2D5ABB26-0587-4C30-8999-92F81FD0307C}</a:tableStyleId>
              </a:tblPr>
              <a:tblGrid>
                <a:gridCol w="205740">
                  <a:extLst>
                    <a:ext uri="{9D8B030D-6E8A-4147-A177-3AD203B41FA5}">
                      <a16:colId xmlns:a16="http://schemas.microsoft.com/office/drawing/2014/main" val="20000"/>
                    </a:ext>
                  </a:extLst>
                </a:gridCol>
                <a:gridCol w="551179">
                  <a:extLst>
                    <a:ext uri="{9D8B030D-6E8A-4147-A177-3AD203B41FA5}">
                      <a16:colId xmlns:a16="http://schemas.microsoft.com/office/drawing/2014/main" val="20001"/>
                    </a:ext>
                  </a:extLst>
                </a:gridCol>
                <a:gridCol w="1117600">
                  <a:extLst>
                    <a:ext uri="{9D8B030D-6E8A-4147-A177-3AD203B41FA5}">
                      <a16:colId xmlns:a16="http://schemas.microsoft.com/office/drawing/2014/main" val="20002"/>
                    </a:ext>
                  </a:extLst>
                </a:gridCol>
              </a:tblGrid>
              <a:tr h="254000">
                <a:tc>
                  <a:txBody>
                    <a:bodyPr/>
                    <a:lstStyle/>
                    <a:p>
                      <a:pPr marL="3175" algn="ctr">
                        <a:lnSpc>
                          <a:spcPct val="100000"/>
                        </a:lnSpc>
                        <a:spcBef>
                          <a:spcPts val="135"/>
                        </a:spcBef>
                      </a:pPr>
                      <a:r>
                        <a:rPr sz="1400" spc="-25" dirty="0">
                          <a:latin typeface="Arial MT"/>
                          <a:cs typeface="Arial MT"/>
                        </a:rPr>
                        <a:t>id</a:t>
                      </a:r>
                      <a:endParaRPr sz="14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135"/>
                        </a:spcBef>
                      </a:pPr>
                      <a:r>
                        <a:rPr sz="1400" spc="-20" dirty="0">
                          <a:latin typeface="Arial MT"/>
                          <a:cs typeface="Arial MT"/>
                        </a:rPr>
                        <a:t>name</a:t>
                      </a:r>
                      <a:endParaRPr sz="14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135"/>
                        </a:spcBef>
                      </a:pPr>
                      <a:r>
                        <a:rPr sz="1400" spc="-20" dirty="0">
                          <a:latin typeface="Arial MT"/>
                          <a:cs typeface="Arial MT"/>
                        </a:rPr>
                        <a:t>city</a:t>
                      </a:r>
                      <a:endParaRPr sz="14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0"/>
                  </a:ext>
                </a:extLst>
              </a:tr>
              <a:tr h="253153">
                <a:tc>
                  <a:txBody>
                    <a:bodyPr/>
                    <a:lstStyle/>
                    <a:p>
                      <a:pPr marL="1270" algn="ctr">
                        <a:lnSpc>
                          <a:spcPct val="100000"/>
                        </a:lnSpc>
                        <a:spcBef>
                          <a:spcPts val="345"/>
                        </a:spcBef>
                      </a:pPr>
                      <a:r>
                        <a:rPr sz="900" spc="-50" dirty="0">
                          <a:latin typeface="Arial MT"/>
                          <a:cs typeface="Arial MT"/>
                        </a:rPr>
                        <a:t>1</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45"/>
                        </a:spcBef>
                      </a:pPr>
                      <a:r>
                        <a:rPr sz="900" spc="-10" dirty="0">
                          <a:latin typeface="Arial MT"/>
                          <a:cs typeface="Arial MT"/>
                        </a:rPr>
                        <a:t>Frank</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45"/>
                        </a:spcBef>
                      </a:pPr>
                      <a:r>
                        <a:rPr sz="900" dirty="0">
                          <a:latin typeface="Arial MT"/>
                          <a:cs typeface="Arial MT"/>
                        </a:rPr>
                        <a:t>New</a:t>
                      </a:r>
                      <a:r>
                        <a:rPr sz="900" spc="-10" dirty="0">
                          <a:latin typeface="Arial MT"/>
                          <a:cs typeface="Arial MT"/>
                        </a:rPr>
                        <a:t> </a:t>
                      </a:r>
                      <a:r>
                        <a:rPr sz="900" spc="-20" dirty="0">
                          <a:latin typeface="Arial MT"/>
                          <a:cs typeface="Arial MT"/>
                        </a:rPr>
                        <a:t>York</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marL="1270" algn="ctr">
                        <a:lnSpc>
                          <a:spcPct val="100000"/>
                        </a:lnSpc>
                        <a:spcBef>
                          <a:spcPts val="350"/>
                        </a:spcBef>
                      </a:pPr>
                      <a:r>
                        <a:rPr sz="900" spc="-50" dirty="0">
                          <a:latin typeface="Arial MT"/>
                          <a:cs typeface="Arial MT"/>
                        </a:rPr>
                        <a:t>2</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350"/>
                        </a:spcBef>
                      </a:pPr>
                      <a:r>
                        <a:rPr sz="900" spc="-10" dirty="0">
                          <a:latin typeface="Arial MT"/>
                          <a:cs typeface="Arial MT"/>
                        </a:rPr>
                        <a:t>Sarah</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350"/>
                        </a:spcBef>
                      </a:pPr>
                      <a:r>
                        <a:rPr sz="900" spc="-10" dirty="0">
                          <a:latin typeface="Arial MT"/>
                          <a:cs typeface="Arial MT"/>
                        </a:rPr>
                        <a:t>Chicago</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marL="1270" algn="ctr">
                        <a:lnSpc>
                          <a:spcPct val="100000"/>
                        </a:lnSpc>
                        <a:spcBef>
                          <a:spcPts val="350"/>
                        </a:spcBef>
                      </a:pPr>
                      <a:r>
                        <a:rPr sz="900" spc="-50" dirty="0">
                          <a:latin typeface="Arial MT"/>
                          <a:cs typeface="Arial MT"/>
                        </a:rPr>
                        <a:t>3</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350"/>
                        </a:spcBef>
                      </a:pPr>
                      <a:r>
                        <a:rPr sz="900" spc="-10" dirty="0">
                          <a:latin typeface="Arial MT"/>
                          <a:cs typeface="Arial MT"/>
                        </a:rPr>
                        <a:t>Sabrina</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350"/>
                        </a:spcBef>
                      </a:pPr>
                      <a:r>
                        <a:rPr sz="900" dirty="0">
                          <a:latin typeface="Arial MT"/>
                          <a:cs typeface="Arial MT"/>
                        </a:rPr>
                        <a:t>New</a:t>
                      </a:r>
                      <a:r>
                        <a:rPr sz="900" spc="-15" dirty="0">
                          <a:latin typeface="Arial MT"/>
                          <a:cs typeface="Arial MT"/>
                        </a:rPr>
                        <a:t> </a:t>
                      </a:r>
                      <a:r>
                        <a:rPr sz="900" spc="-10" dirty="0">
                          <a:latin typeface="Arial MT"/>
                          <a:cs typeface="Arial MT"/>
                        </a:rPr>
                        <a:t>Orleans</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3153">
                <a:tc>
                  <a:txBody>
                    <a:bodyPr/>
                    <a:lstStyle/>
                    <a:p>
                      <a:pPr marL="1270" algn="ctr">
                        <a:lnSpc>
                          <a:spcPct val="100000"/>
                        </a:lnSpc>
                        <a:spcBef>
                          <a:spcPts val="350"/>
                        </a:spcBef>
                      </a:pPr>
                      <a:r>
                        <a:rPr sz="900" spc="-50" dirty="0">
                          <a:latin typeface="Arial MT"/>
                          <a:cs typeface="Arial MT"/>
                        </a:rPr>
                        <a:t>4</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350"/>
                        </a:spcBef>
                      </a:pPr>
                      <a:r>
                        <a:rPr sz="900" spc="-20" dirty="0">
                          <a:latin typeface="Arial MT"/>
                          <a:cs typeface="Arial MT"/>
                        </a:rPr>
                        <a:t>Maya</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50"/>
                        </a:spcBef>
                      </a:pPr>
                      <a:r>
                        <a:rPr sz="900" dirty="0">
                          <a:latin typeface="Arial MT"/>
                          <a:cs typeface="Arial MT"/>
                        </a:rPr>
                        <a:t>Los</a:t>
                      </a:r>
                      <a:r>
                        <a:rPr sz="900" spc="-20" dirty="0">
                          <a:latin typeface="Arial MT"/>
                          <a:cs typeface="Arial MT"/>
                        </a:rPr>
                        <a:t> </a:t>
                      </a:r>
                      <a:r>
                        <a:rPr sz="900" spc="-10" dirty="0">
                          <a:latin typeface="Arial MT"/>
                          <a:cs typeface="Arial MT"/>
                        </a:rPr>
                        <a:t>Angelas</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marL="1270" algn="ctr">
                        <a:lnSpc>
                          <a:spcPct val="100000"/>
                        </a:lnSpc>
                        <a:spcBef>
                          <a:spcPts val="350"/>
                        </a:spcBef>
                      </a:pPr>
                      <a:r>
                        <a:rPr sz="900" spc="-50" dirty="0">
                          <a:latin typeface="Arial MT"/>
                          <a:cs typeface="Arial MT"/>
                        </a:rPr>
                        <a:t>5</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50"/>
                        </a:spcBef>
                      </a:pPr>
                      <a:r>
                        <a:rPr sz="900" spc="-20" dirty="0">
                          <a:latin typeface="Arial MT"/>
                          <a:cs typeface="Arial MT"/>
                        </a:rPr>
                        <a:t>Marc</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350"/>
                        </a:spcBef>
                      </a:pPr>
                      <a:r>
                        <a:rPr sz="900" spc="-10" dirty="0">
                          <a:latin typeface="Arial MT"/>
                          <a:cs typeface="Arial MT"/>
                        </a:rPr>
                        <a:t>Delas</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sp>
        <p:nvSpPr>
          <p:cNvPr id="13" name="object 13"/>
          <p:cNvSpPr/>
          <p:nvPr/>
        </p:nvSpPr>
        <p:spPr>
          <a:xfrm>
            <a:off x="8237729" y="4312751"/>
            <a:ext cx="1711113" cy="408093"/>
          </a:xfrm>
          <a:custGeom>
            <a:avLst/>
            <a:gdLst/>
            <a:ahLst/>
            <a:cxnLst/>
            <a:rect l="l" t="t" r="r" b="b"/>
            <a:pathLst>
              <a:path w="1283334" h="306070">
                <a:moveTo>
                  <a:pt x="25526" y="224409"/>
                </a:moveTo>
                <a:lnTo>
                  <a:pt x="0" y="305689"/>
                </a:lnTo>
                <a:lnTo>
                  <a:pt x="80263" y="277241"/>
                </a:lnTo>
                <a:lnTo>
                  <a:pt x="67106" y="264541"/>
                </a:lnTo>
                <a:lnTo>
                  <a:pt x="48387" y="264541"/>
                </a:lnTo>
                <a:lnTo>
                  <a:pt x="39577" y="255212"/>
                </a:lnTo>
                <a:lnTo>
                  <a:pt x="39943" y="255212"/>
                </a:lnTo>
                <a:lnTo>
                  <a:pt x="48741" y="246815"/>
                </a:lnTo>
                <a:lnTo>
                  <a:pt x="25526" y="224409"/>
                </a:lnTo>
                <a:close/>
              </a:path>
              <a:path w="1283334" h="306070">
                <a:moveTo>
                  <a:pt x="48741" y="246815"/>
                </a:moveTo>
                <a:lnTo>
                  <a:pt x="39943" y="255212"/>
                </a:lnTo>
                <a:lnTo>
                  <a:pt x="39577" y="255212"/>
                </a:lnTo>
                <a:lnTo>
                  <a:pt x="48387" y="264541"/>
                </a:lnTo>
                <a:lnTo>
                  <a:pt x="57864" y="255621"/>
                </a:lnTo>
                <a:lnTo>
                  <a:pt x="48741" y="246815"/>
                </a:lnTo>
                <a:close/>
              </a:path>
              <a:path w="1283334" h="306070">
                <a:moveTo>
                  <a:pt x="57864" y="255621"/>
                </a:moveTo>
                <a:lnTo>
                  <a:pt x="48387" y="264541"/>
                </a:lnTo>
                <a:lnTo>
                  <a:pt x="67106" y="264541"/>
                </a:lnTo>
                <a:lnTo>
                  <a:pt x="57864" y="255621"/>
                </a:lnTo>
                <a:close/>
              </a:path>
              <a:path w="1283334" h="306070">
                <a:moveTo>
                  <a:pt x="1278889" y="18034"/>
                </a:moveTo>
                <a:lnTo>
                  <a:pt x="1263903" y="18034"/>
                </a:lnTo>
                <a:lnTo>
                  <a:pt x="1257680" y="25018"/>
                </a:lnTo>
                <a:lnTo>
                  <a:pt x="1250442" y="31623"/>
                </a:lnTo>
                <a:lnTo>
                  <a:pt x="1205483" y="57785"/>
                </a:lnTo>
                <a:lnTo>
                  <a:pt x="1156843" y="76581"/>
                </a:lnTo>
                <a:lnTo>
                  <a:pt x="1118488" y="88392"/>
                </a:lnTo>
                <a:lnTo>
                  <a:pt x="1075817" y="99441"/>
                </a:lnTo>
                <a:lnTo>
                  <a:pt x="1029334" y="109728"/>
                </a:lnTo>
                <a:lnTo>
                  <a:pt x="979551" y="118999"/>
                </a:lnTo>
                <a:lnTo>
                  <a:pt x="926973" y="127000"/>
                </a:lnTo>
                <a:lnTo>
                  <a:pt x="872108" y="133985"/>
                </a:lnTo>
                <a:lnTo>
                  <a:pt x="815339" y="139445"/>
                </a:lnTo>
                <a:lnTo>
                  <a:pt x="757047" y="143510"/>
                </a:lnTo>
                <a:lnTo>
                  <a:pt x="697864" y="146050"/>
                </a:lnTo>
                <a:lnTo>
                  <a:pt x="578611" y="147828"/>
                </a:lnTo>
                <a:lnTo>
                  <a:pt x="519175" y="150368"/>
                </a:lnTo>
                <a:lnTo>
                  <a:pt x="460628" y="154431"/>
                </a:lnTo>
                <a:lnTo>
                  <a:pt x="403478" y="160147"/>
                </a:lnTo>
                <a:lnTo>
                  <a:pt x="347242" y="167131"/>
                </a:lnTo>
                <a:lnTo>
                  <a:pt x="295275" y="175132"/>
                </a:lnTo>
                <a:lnTo>
                  <a:pt x="244982" y="184404"/>
                </a:lnTo>
                <a:lnTo>
                  <a:pt x="198119" y="194691"/>
                </a:lnTo>
                <a:lnTo>
                  <a:pt x="154939" y="205994"/>
                </a:lnTo>
                <a:lnTo>
                  <a:pt x="115950" y="217931"/>
                </a:lnTo>
                <a:lnTo>
                  <a:pt x="66166" y="237236"/>
                </a:lnTo>
                <a:lnTo>
                  <a:pt x="48741" y="246815"/>
                </a:lnTo>
                <a:lnTo>
                  <a:pt x="57864" y="255621"/>
                </a:lnTo>
                <a:lnTo>
                  <a:pt x="57528" y="255621"/>
                </a:lnTo>
                <a:lnTo>
                  <a:pt x="59181" y="254381"/>
                </a:lnTo>
                <a:lnTo>
                  <a:pt x="60009" y="254381"/>
                </a:lnTo>
                <a:lnTo>
                  <a:pt x="71246" y="248919"/>
                </a:lnTo>
                <a:lnTo>
                  <a:pt x="119761" y="229997"/>
                </a:lnTo>
                <a:lnTo>
                  <a:pt x="158241" y="218186"/>
                </a:lnTo>
                <a:lnTo>
                  <a:pt x="200913" y="207137"/>
                </a:lnTo>
                <a:lnTo>
                  <a:pt x="247395" y="196850"/>
                </a:lnTo>
                <a:lnTo>
                  <a:pt x="297179" y="187706"/>
                </a:lnTo>
                <a:lnTo>
                  <a:pt x="349757" y="179578"/>
                </a:lnTo>
                <a:lnTo>
                  <a:pt x="404622" y="172719"/>
                </a:lnTo>
                <a:lnTo>
                  <a:pt x="461518" y="167131"/>
                </a:lnTo>
                <a:lnTo>
                  <a:pt x="519683" y="163068"/>
                </a:lnTo>
                <a:lnTo>
                  <a:pt x="578738" y="160528"/>
                </a:lnTo>
                <a:lnTo>
                  <a:pt x="698500" y="158750"/>
                </a:lnTo>
                <a:lnTo>
                  <a:pt x="757935" y="156210"/>
                </a:lnTo>
                <a:lnTo>
                  <a:pt x="816482" y="152145"/>
                </a:lnTo>
                <a:lnTo>
                  <a:pt x="873632" y="146557"/>
                </a:lnTo>
                <a:lnTo>
                  <a:pt x="928877" y="139573"/>
                </a:lnTo>
                <a:lnTo>
                  <a:pt x="981836" y="131444"/>
                </a:lnTo>
                <a:lnTo>
                  <a:pt x="1032001" y="122174"/>
                </a:lnTo>
                <a:lnTo>
                  <a:pt x="1078864" y="111887"/>
                </a:lnTo>
                <a:lnTo>
                  <a:pt x="1122045" y="100584"/>
                </a:lnTo>
                <a:lnTo>
                  <a:pt x="1161160" y="88645"/>
                </a:lnTo>
                <a:lnTo>
                  <a:pt x="1210818" y="69214"/>
                </a:lnTo>
                <a:lnTo>
                  <a:pt x="1249045" y="48387"/>
                </a:lnTo>
                <a:lnTo>
                  <a:pt x="1273555" y="26162"/>
                </a:lnTo>
                <a:lnTo>
                  <a:pt x="1273809" y="25907"/>
                </a:lnTo>
                <a:lnTo>
                  <a:pt x="1273936" y="25654"/>
                </a:lnTo>
                <a:lnTo>
                  <a:pt x="1278762" y="18287"/>
                </a:lnTo>
                <a:lnTo>
                  <a:pt x="1278889" y="18034"/>
                </a:lnTo>
                <a:close/>
              </a:path>
              <a:path w="1283334" h="306070">
                <a:moveTo>
                  <a:pt x="59181" y="254381"/>
                </a:moveTo>
                <a:lnTo>
                  <a:pt x="57528" y="255621"/>
                </a:lnTo>
                <a:lnTo>
                  <a:pt x="58298" y="255212"/>
                </a:lnTo>
                <a:lnTo>
                  <a:pt x="59181" y="254381"/>
                </a:lnTo>
                <a:close/>
              </a:path>
              <a:path w="1283334" h="306070">
                <a:moveTo>
                  <a:pt x="58298" y="255212"/>
                </a:moveTo>
                <a:lnTo>
                  <a:pt x="57458" y="255621"/>
                </a:lnTo>
                <a:lnTo>
                  <a:pt x="57864" y="255621"/>
                </a:lnTo>
                <a:lnTo>
                  <a:pt x="58298" y="255212"/>
                </a:lnTo>
                <a:close/>
              </a:path>
              <a:path w="1283334" h="306070">
                <a:moveTo>
                  <a:pt x="60009" y="254381"/>
                </a:moveTo>
                <a:lnTo>
                  <a:pt x="59181" y="254381"/>
                </a:lnTo>
                <a:lnTo>
                  <a:pt x="58298" y="255212"/>
                </a:lnTo>
                <a:lnTo>
                  <a:pt x="60009" y="254381"/>
                </a:lnTo>
                <a:close/>
              </a:path>
              <a:path w="1283334" h="306070">
                <a:moveTo>
                  <a:pt x="1281287" y="11684"/>
                </a:moveTo>
                <a:lnTo>
                  <a:pt x="1267840" y="11684"/>
                </a:lnTo>
                <a:lnTo>
                  <a:pt x="1267460" y="12276"/>
                </a:lnTo>
                <a:lnTo>
                  <a:pt x="1267205" y="12954"/>
                </a:lnTo>
                <a:lnTo>
                  <a:pt x="1267024" y="12954"/>
                </a:lnTo>
                <a:lnTo>
                  <a:pt x="1263595" y="18287"/>
                </a:lnTo>
                <a:lnTo>
                  <a:pt x="1263903" y="18034"/>
                </a:lnTo>
                <a:lnTo>
                  <a:pt x="1278889" y="18034"/>
                </a:lnTo>
                <a:lnTo>
                  <a:pt x="1279017" y="17780"/>
                </a:lnTo>
                <a:lnTo>
                  <a:pt x="1279144" y="17399"/>
                </a:lnTo>
                <a:lnTo>
                  <a:pt x="1280810" y="12954"/>
                </a:lnTo>
                <a:lnTo>
                  <a:pt x="1267205" y="12954"/>
                </a:lnTo>
                <a:lnTo>
                  <a:pt x="1267544" y="12276"/>
                </a:lnTo>
                <a:lnTo>
                  <a:pt x="1281064" y="12276"/>
                </a:lnTo>
                <a:lnTo>
                  <a:pt x="1281287" y="11684"/>
                </a:lnTo>
                <a:close/>
              </a:path>
              <a:path w="1283334" h="306070">
                <a:moveTo>
                  <a:pt x="1270507" y="0"/>
                </a:moveTo>
                <a:lnTo>
                  <a:pt x="1270289" y="1778"/>
                </a:lnTo>
                <a:lnTo>
                  <a:pt x="1269873" y="5842"/>
                </a:lnTo>
                <a:lnTo>
                  <a:pt x="1269750" y="6168"/>
                </a:lnTo>
                <a:lnTo>
                  <a:pt x="1269619" y="7238"/>
                </a:lnTo>
                <a:lnTo>
                  <a:pt x="1269349" y="7238"/>
                </a:lnTo>
                <a:lnTo>
                  <a:pt x="1267460" y="12276"/>
                </a:lnTo>
                <a:lnTo>
                  <a:pt x="1267840" y="11684"/>
                </a:lnTo>
                <a:lnTo>
                  <a:pt x="1281287" y="11684"/>
                </a:lnTo>
                <a:lnTo>
                  <a:pt x="1281810" y="10287"/>
                </a:lnTo>
                <a:lnTo>
                  <a:pt x="1281937" y="9779"/>
                </a:lnTo>
                <a:lnTo>
                  <a:pt x="1282064" y="9398"/>
                </a:lnTo>
                <a:lnTo>
                  <a:pt x="1282192" y="8889"/>
                </a:lnTo>
                <a:lnTo>
                  <a:pt x="1282398" y="7238"/>
                </a:lnTo>
                <a:lnTo>
                  <a:pt x="1269619" y="7238"/>
                </a:lnTo>
                <a:lnTo>
                  <a:pt x="1269813" y="6168"/>
                </a:lnTo>
                <a:lnTo>
                  <a:pt x="1282532" y="6168"/>
                </a:lnTo>
                <a:lnTo>
                  <a:pt x="1283080" y="1778"/>
                </a:lnTo>
                <a:lnTo>
                  <a:pt x="1270507" y="0"/>
                </a:lnTo>
                <a:close/>
              </a:path>
            </a:pathLst>
          </a:custGeom>
          <a:solidFill>
            <a:srgbClr val="00C2FF"/>
          </a:solidFill>
        </p:spPr>
        <p:txBody>
          <a:bodyPr wrap="square" lIns="0" tIns="0" rIns="0" bIns="0" rtlCol="0"/>
          <a:lstStyle/>
          <a:p>
            <a:endParaRPr sz="2400"/>
          </a:p>
        </p:txBody>
      </p:sp>
      <p:sp>
        <p:nvSpPr>
          <p:cNvPr id="14" name="TextBox 13">
            <a:extLst>
              <a:ext uri="{FF2B5EF4-FFF2-40B4-BE49-F238E27FC236}">
                <a16:creationId xmlns:a16="http://schemas.microsoft.com/office/drawing/2014/main" id="{9B7812B0-D294-19D9-6E1B-DAD5B40B9836}"/>
              </a:ext>
            </a:extLst>
          </p:cNvPr>
          <p:cNvSpPr txBox="1"/>
          <p:nvPr/>
        </p:nvSpPr>
        <p:spPr>
          <a:xfrm>
            <a:off x="3047172" y="226398"/>
            <a:ext cx="6097656" cy="769441"/>
          </a:xfrm>
          <a:prstGeom prst="rect">
            <a:avLst/>
          </a:prstGeom>
          <a:noFill/>
        </p:spPr>
        <p:txBody>
          <a:bodyPr wrap="square">
            <a:spAutoFit/>
          </a:bodyPr>
          <a:lstStyle/>
          <a:p>
            <a:pPr algn="ctr"/>
            <a:r>
              <a:rPr lang="en-IN" sz="4400" dirty="0">
                <a:solidFill>
                  <a:schemeClr val="bg1"/>
                </a:solidFill>
                <a:latin typeface="+mn-lt"/>
              </a:rPr>
              <a:t>Relational</a:t>
            </a:r>
            <a:r>
              <a:rPr lang="en-IN" sz="4400" spc="-27" dirty="0">
                <a:solidFill>
                  <a:schemeClr val="bg1"/>
                </a:solidFill>
                <a:latin typeface="+mn-lt"/>
              </a:rPr>
              <a:t> </a:t>
            </a:r>
            <a:r>
              <a:rPr lang="en-IN" sz="4400" spc="-13" dirty="0">
                <a:solidFill>
                  <a:schemeClr val="bg1"/>
                </a:solidFill>
                <a:latin typeface="+mn-lt"/>
              </a:rPr>
              <a:t>Database</a:t>
            </a:r>
            <a:endParaRPr lang="en-IN" sz="4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357459" y="3874888"/>
            <a:ext cx="4558453" cy="264560"/>
          </a:xfrm>
          <a:prstGeom prst="rect">
            <a:avLst/>
          </a:prstGeom>
        </p:spPr>
        <p:txBody>
          <a:bodyPr vert="horz" wrap="square" lIns="0" tIns="0" rIns="0" bIns="0" rtlCol="0">
            <a:spAutoFit/>
          </a:bodyPr>
          <a:lstStyle/>
          <a:p>
            <a:pPr>
              <a:lnSpc>
                <a:spcPts val="2027"/>
              </a:lnSpc>
              <a:tabLst>
                <a:tab pos="2662700" algn="l"/>
              </a:tabLst>
            </a:pPr>
            <a:r>
              <a:rPr sz="2133" dirty="0">
                <a:solidFill>
                  <a:srgbClr val="FFFFFF"/>
                </a:solidFill>
                <a:latin typeface="Calibri"/>
                <a:cs typeface="Calibri"/>
              </a:rPr>
              <a:t>Relational</a:t>
            </a:r>
            <a:r>
              <a:rPr sz="2133" spc="-47" dirty="0">
                <a:solidFill>
                  <a:srgbClr val="FFFFFF"/>
                </a:solidFill>
                <a:latin typeface="Calibri"/>
                <a:cs typeface="Calibri"/>
              </a:rPr>
              <a:t> </a:t>
            </a:r>
            <a:r>
              <a:rPr sz="2133" spc="-13" dirty="0">
                <a:solidFill>
                  <a:srgbClr val="FFFFFF"/>
                </a:solidFill>
                <a:latin typeface="Calibri"/>
                <a:cs typeface="Calibri"/>
              </a:rPr>
              <a:t>database</a:t>
            </a:r>
            <a:r>
              <a:rPr sz="2133" dirty="0">
                <a:solidFill>
                  <a:srgbClr val="FFFFFF"/>
                </a:solidFill>
                <a:latin typeface="Calibri"/>
                <a:cs typeface="Calibri"/>
              </a:rPr>
              <a:t>	Tables</a:t>
            </a:r>
            <a:r>
              <a:rPr sz="2133" spc="-47" dirty="0">
                <a:solidFill>
                  <a:srgbClr val="FFFFFF"/>
                </a:solidFill>
                <a:latin typeface="Calibri"/>
                <a:cs typeface="Calibri"/>
              </a:rPr>
              <a:t> </a:t>
            </a:r>
            <a:r>
              <a:rPr sz="2133" spc="-13" dirty="0">
                <a:solidFill>
                  <a:srgbClr val="FFFFFF"/>
                </a:solidFill>
                <a:latin typeface="Calibri"/>
                <a:cs typeface="Calibri"/>
              </a:rPr>
              <a:t>(relations)</a:t>
            </a:r>
            <a:endParaRPr sz="2133">
              <a:latin typeface="Calibri"/>
              <a:cs typeface="Calibri"/>
            </a:endParaRPr>
          </a:p>
        </p:txBody>
      </p:sp>
      <p:graphicFrame>
        <p:nvGraphicFramePr>
          <p:cNvPr id="4" name="object 4"/>
          <p:cNvGraphicFramePr>
            <a:graphicFrameLocks noGrp="1"/>
          </p:cNvGraphicFramePr>
          <p:nvPr/>
        </p:nvGraphicFramePr>
        <p:xfrm>
          <a:off x="7493507" y="2506133"/>
          <a:ext cx="4081780" cy="1695026"/>
        </p:xfrm>
        <a:graphic>
          <a:graphicData uri="http://schemas.openxmlformats.org/drawingml/2006/table">
            <a:tbl>
              <a:tblPr firstRow="1" bandRow="1">
                <a:tableStyleId>{2D5ABB26-0587-4C30-8999-92F81FD0307C}</a:tableStyleId>
              </a:tblPr>
              <a:tblGrid>
                <a:gridCol w="204047">
                  <a:extLst>
                    <a:ext uri="{9D8B030D-6E8A-4147-A177-3AD203B41FA5}">
                      <a16:colId xmlns:a16="http://schemas.microsoft.com/office/drawing/2014/main" val="20000"/>
                    </a:ext>
                  </a:extLst>
                </a:gridCol>
                <a:gridCol w="547793">
                  <a:extLst>
                    <a:ext uri="{9D8B030D-6E8A-4147-A177-3AD203B41FA5}">
                      <a16:colId xmlns:a16="http://schemas.microsoft.com/office/drawing/2014/main" val="20001"/>
                    </a:ext>
                  </a:extLst>
                </a:gridCol>
                <a:gridCol w="1109980">
                  <a:extLst>
                    <a:ext uri="{9D8B030D-6E8A-4147-A177-3AD203B41FA5}">
                      <a16:colId xmlns:a16="http://schemas.microsoft.com/office/drawing/2014/main" val="20002"/>
                    </a:ext>
                  </a:extLst>
                </a:gridCol>
                <a:gridCol w="1109980">
                  <a:extLst>
                    <a:ext uri="{9D8B030D-6E8A-4147-A177-3AD203B41FA5}">
                      <a16:colId xmlns:a16="http://schemas.microsoft.com/office/drawing/2014/main" val="20003"/>
                    </a:ext>
                  </a:extLst>
                </a:gridCol>
                <a:gridCol w="1109980">
                  <a:extLst>
                    <a:ext uri="{9D8B030D-6E8A-4147-A177-3AD203B41FA5}">
                      <a16:colId xmlns:a16="http://schemas.microsoft.com/office/drawing/2014/main" val="20004"/>
                    </a:ext>
                  </a:extLst>
                </a:gridCol>
              </a:tblGrid>
              <a:tr h="254000">
                <a:tc>
                  <a:txBody>
                    <a:bodyPr/>
                    <a:lstStyle/>
                    <a:p>
                      <a:pPr marR="18415" algn="ctr">
                        <a:lnSpc>
                          <a:spcPct val="100000"/>
                        </a:lnSpc>
                        <a:spcBef>
                          <a:spcPts val="130"/>
                        </a:spcBef>
                      </a:pPr>
                      <a:r>
                        <a:rPr sz="1400" spc="-25" dirty="0">
                          <a:latin typeface="Arial MT"/>
                          <a:cs typeface="Arial MT"/>
                        </a:rPr>
                        <a:t>id</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0160">
                        <a:lnSpc>
                          <a:spcPct val="100000"/>
                        </a:lnSpc>
                        <a:spcBef>
                          <a:spcPts val="130"/>
                        </a:spcBef>
                      </a:pPr>
                      <a:r>
                        <a:rPr sz="1400" spc="-20" dirty="0">
                          <a:latin typeface="Arial MT"/>
                          <a:cs typeface="Arial MT"/>
                        </a:rPr>
                        <a:t>date</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0160">
                        <a:lnSpc>
                          <a:spcPct val="100000"/>
                        </a:lnSpc>
                        <a:spcBef>
                          <a:spcPts val="130"/>
                        </a:spcBef>
                      </a:pPr>
                      <a:r>
                        <a:rPr sz="1400" spc="-10" dirty="0">
                          <a:latin typeface="Arial MT"/>
                          <a:cs typeface="Arial MT"/>
                        </a:rPr>
                        <a:t>product</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R="71755" algn="ctr">
                        <a:lnSpc>
                          <a:spcPct val="100000"/>
                        </a:lnSpc>
                        <a:spcBef>
                          <a:spcPts val="130"/>
                        </a:spcBef>
                      </a:pPr>
                      <a:r>
                        <a:rPr sz="1400" spc="-10" dirty="0">
                          <a:latin typeface="Arial MT"/>
                          <a:cs typeface="Arial MT"/>
                        </a:rPr>
                        <a:t>customer_id</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0795">
                        <a:lnSpc>
                          <a:spcPct val="100000"/>
                        </a:lnSpc>
                        <a:spcBef>
                          <a:spcPts val="130"/>
                        </a:spcBef>
                      </a:pPr>
                      <a:r>
                        <a:rPr sz="1400" spc="-20" dirty="0">
                          <a:latin typeface="Arial MT"/>
                          <a:cs typeface="Arial MT"/>
                        </a:rPr>
                        <a:t>name</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0"/>
                  </a:ext>
                </a:extLst>
              </a:tr>
              <a:tr h="297180">
                <a:tc>
                  <a:txBody>
                    <a:bodyPr/>
                    <a:lstStyle/>
                    <a:p>
                      <a:pPr marL="2540" algn="ctr">
                        <a:lnSpc>
                          <a:spcPct val="100000"/>
                        </a:lnSpc>
                        <a:spcBef>
                          <a:spcPts val="470"/>
                        </a:spcBef>
                      </a:pPr>
                      <a:r>
                        <a:rPr sz="900" spc="-50" dirty="0">
                          <a:latin typeface="Arial MT"/>
                          <a:cs typeface="Arial MT"/>
                        </a:rPr>
                        <a:t>1</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4925">
                        <a:lnSpc>
                          <a:spcPct val="100000"/>
                        </a:lnSpc>
                        <a:spcBef>
                          <a:spcPts val="470"/>
                        </a:spcBef>
                      </a:pPr>
                      <a:r>
                        <a:rPr sz="900" spc="-10" dirty="0">
                          <a:latin typeface="Arial MT"/>
                          <a:cs typeface="Arial MT"/>
                        </a:rPr>
                        <a:t>1/2/2022</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66700" marR="118745" indent="-137160">
                        <a:lnSpc>
                          <a:spcPts val="830"/>
                        </a:lnSpc>
                      </a:pPr>
                      <a:r>
                        <a:rPr sz="900" dirty="0">
                          <a:latin typeface="Arial MT"/>
                          <a:cs typeface="Arial MT"/>
                        </a:rPr>
                        <a:t>Fulltoss</a:t>
                      </a:r>
                      <a:r>
                        <a:rPr sz="900" spc="-25" dirty="0">
                          <a:latin typeface="Arial MT"/>
                          <a:cs typeface="Arial MT"/>
                        </a:rPr>
                        <a:t> </a:t>
                      </a:r>
                      <a:r>
                        <a:rPr sz="900" spc="-10" dirty="0">
                          <a:latin typeface="Arial MT"/>
                          <a:cs typeface="Arial MT"/>
                        </a:rPr>
                        <a:t>Tangy</a:t>
                      </a:r>
                      <a:r>
                        <a:rPr sz="900" spc="500" dirty="0">
                          <a:latin typeface="Arial MT"/>
                          <a:cs typeface="Arial MT"/>
                        </a:rPr>
                        <a:t> </a:t>
                      </a:r>
                      <a:r>
                        <a:rPr sz="900" spc="-10" dirty="0">
                          <a:latin typeface="Arial MT"/>
                          <a:cs typeface="Arial MT"/>
                        </a:rPr>
                        <a:t>Tomato</a:t>
                      </a:r>
                      <a:endParaRPr sz="9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445"/>
                        </a:spcBef>
                      </a:pPr>
                      <a:r>
                        <a:rPr sz="900" spc="-50" dirty="0">
                          <a:latin typeface="Calibri"/>
                          <a:cs typeface="Calibri"/>
                        </a:rPr>
                        <a:t>2</a:t>
                      </a:r>
                      <a:endParaRPr sz="9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R="305435" algn="r">
                        <a:lnSpc>
                          <a:spcPct val="100000"/>
                        </a:lnSpc>
                        <a:spcBef>
                          <a:spcPts val="445"/>
                        </a:spcBef>
                      </a:pPr>
                      <a:r>
                        <a:rPr sz="900" spc="-10" dirty="0">
                          <a:latin typeface="Calibri"/>
                          <a:cs typeface="Calibri"/>
                        </a:rPr>
                        <a:t>Sarah</a:t>
                      </a:r>
                      <a:endParaRPr sz="9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96333">
                <a:tc>
                  <a:txBody>
                    <a:bodyPr/>
                    <a:lstStyle/>
                    <a:p>
                      <a:pPr marL="2540" algn="ctr">
                        <a:lnSpc>
                          <a:spcPct val="100000"/>
                        </a:lnSpc>
                        <a:spcBef>
                          <a:spcPts val="470"/>
                        </a:spcBef>
                      </a:pPr>
                      <a:r>
                        <a:rPr sz="900" spc="-50" dirty="0">
                          <a:latin typeface="Arial MT"/>
                          <a:cs typeface="Arial MT"/>
                        </a:rPr>
                        <a:t>2</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4925">
                        <a:lnSpc>
                          <a:spcPct val="100000"/>
                        </a:lnSpc>
                        <a:spcBef>
                          <a:spcPts val="470"/>
                        </a:spcBef>
                      </a:pPr>
                      <a:r>
                        <a:rPr sz="900" spc="-10" dirty="0">
                          <a:latin typeface="Arial MT"/>
                          <a:cs typeface="Arial MT"/>
                        </a:rPr>
                        <a:t>1/2/2022</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52705" marR="45085" indent="93980">
                        <a:lnSpc>
                          <a:spcPts val="830"/>
                        </a:lnSpc>
                      </a:pPr>
                      <a:r>
                        <a:rPr sz="900" dirty="0">
                          <a:latin typeface="Arial MT"/>
                          <a:cs typeface="Arial MT"/>
                        </a:rPr>
                        <a:t>Chilli</a:t>
                      </a:r>
                      <a:r>
                        <a:rPr sz="900" spc="-20" dirty="0">
                          <a:latin typeface="Arial MT"/>
                          <a:cs typeface="Arial MT"/>
                        </a:rPr>
                        <a:t> </a:t>
                      </a:r>
                      <a:r>
                        <a:rPr sz="900" dirty="0">
                          <a:latin typeface="Arial MT"/>
                          <a:cs typeface="Arial MT"/>
                        </a:rPr>
                        <a:t>- </a:t>
                      </a:r>
                      <a:r>
                        <a:rPr sz="900" spc="-10" dirty="0">
                          <a:latin typeface="Arial MT"/>
                          <a:cs typeface="Arial MT"/>
                        </a:rPr>
                        <a:t>Green,</a:t>
                      </a:r>
                      <a:r>
                        <a:rPr sz="900" spc="500" dirty="0">
                          <a:latin typeface="Arial MT"/>
                          <a:cs typeface="Arial MT"/>
                        </a:rPr>
                        <a:t> </a:t>
                      </a:r>
                      <a:r>
                        <a:rPr sz="900" dirty="0">
                          <a:latin typeface="Arial MT"/>
                          <a:cs typeface="Arial MT"/>
                        </a:rPr>
                        <a:t>Organically</a:t>
                      </a:r>
                      <a:r>
                        <a:rPr sz="900" spc="-35" dirty="0">
                          <a:latin typeface="Arial MT"/>
                          <a:cs typeface="Arial MT"/>
                        </a:rPr>
                        <a:t> </a:t>
                      </a:r>
                      <a:r>
                        <a:rPr sz="900" spc="-10" dirty="0">
                          <a:latin typeface="Arial MT"/>
                          <a:cs typeface="Arial MT"/>
                        </a:rPr>
                        <a:t>Grown</a:t>
                      </a:r>
                      <a:endParaRPr sz="9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445"/>
                        </a:spcBef>
                      </a:pPr>
                      <a:r>
                        <a:rPr sz="900" spc="-50" dirty="0">
                          <a:latin typeface="Calibri"/>
                          <a:cs typeface="Calibri"/>
                        </a:rPr>
                        <a:t>2</a:t>
                      </a:r>
                      <a:endParaRPr sz="9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R="305435" algn="r">
                        <a:lnSpc>
                          <a:spcPct val="100000"/>
                        </a:lnSpc>
                        <a:spcBef>
                          <a:spcPts val="445"/>
                        </a:spcBef>
                      </a:pPr>
                      <a:r>
                        <a:rPr sz="900" spc="-10" dirty="0">
                          <a:latin typeface="Calibri"/>
                          <a:cs typeface="Calibri"/>
                        </a:rPr>
                        <a:t>Sarah</a:t>
                      </a:r>
                      <a:endParaRPr sz="9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marL="3175" algn="ctr">
                        <a:lnSpc>
                          <a:spcPct val="100000"/>
                        </a:lnSpc>
                        <a:spcBef>
                          <a:spcPts val="340"/>
                        </a:spcBef>
                      </a:pPr>
                      <a:r>
                        <a:rPr sz="900" spc="-50" dirty="0">
                          <a:latin typeface="Arial MT"/>
                          <a:cs typeface="Arial MT"/>
                        </a:rPr>
                        <a:t>3</a:t>
                      </a:r>
                      <a:endParaRPr sz="900">
                        <a:latin typeface="Arial MT"/>
                        <a:cs typeface="Arial MT"/>
                      </a:endParaRPr>
                    </a:p>
                  </a:txBody>
                  <a:tcPr marL="0" marR="0" marT="575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4925">
                        <a:lnSpc>
                          <a:spcPct val="100000"/>
                        </a:lnSpc>
                        <a:spcBef>
                          <a:spcPts val="340"/>
                        </a:spcBef>
                      </a:pPr>
                      <a:r>
                        <a:rPr sz="900" spc="-10" dirty="0">
                          <a:latin typeface="Arial MT"/>
                          <a:cs typeface="Arial MT"/>
                        </a:rPr>
                        <a:t>1/2/2022</a:t>
                      </a:r>
                      <a:endParaRPr sz="900">
                        <a:latin typeface="Arial MT"/>
                        <a:cs typeface="Arial MT"/>
                      </a:endParaRPr>
                    </a:p>
                  </a:txBody>
                  <a:tcPr marL="0" marR="0" marT="575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12395">
                        <a:lnSpc>
                          <a:spcPct val="100000"/>
                        </a:lnSpc>
                        <a:spcBef>
                          <a:spcPts val="340"/>
                        </a:spcBef>
                      </a:pPr>
                      <a:r>
                        <a:rPr sz="900" dirty="0">
                          <a:latin typeface="Arial MT"/>
                          <a:cs typeface="Arial MT"/>
                        </a:rPr>
                        <a:t>Masala</a:t>
                      </a:r>
                      <a:r>
                        <a:rPr sz="900" spc="-25" dirty="0">
                          <a:latin typeface="Arial MT"/>
                          <a:cs typeface="Arial MT"/>
                        </a:rPr>
                        <a:t> </a:t>
                      </a:r>
                      <a:r>
                        <a:rPr sz="900" spc="-10" dirty="0">
                          <a:latin typeface="Arial MT"/>
                          <a:cs typeface="Arial MT"/>
                        </a:rPr>
                        <a:t>Powder</a:t>
                      </a:r>
                      <a:endParaRPr sz="900">
                        <a:latin typeface="Arial MT"/>
                        <a:cs typeface="Arial MT"/>
                      </a:endParaRPr>
                    </a:p>
                  </a:txBody>
                  <a:tcPr marL="0" marR="0" marT="575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320"/>
                        </a:spcBef>
                      </a:pPr>
                      <a:r>
                        <a:rPr sz="900" spc="-50" dirty="0">
                          <a:latin typeface="Calibri"/>
                          <a:cs typeface="Calibri"/>
                        </a:rPr>
                        <a:t>5</a:t>
                      </a:r>
                      <a:endParaRPr sz="9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R="314325" algn="r">
                        <a:lnSpc>
                          <a:spcPct val="100000"/>
                        </a:lnSpc>
                        <a:spcBef>
                          <a:spcPts val="320"/>
                        </a:spcBef>
                      </a:pPr>
                      <a:r>
                        <a:rPr sz="900" spc="-20" dirty="0">
                          <a:latin typeface="Calibri"/>
                          <a:cs typeface="Calibri"/>
                        </a:rPr>
                        <a:t>Marc</a:t>
                      </a:r>
                      <a:endParaRPr sz="9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97180">
                <a:tc>
                  <a:txBody>
                    <a:bodyPr/>
                    <a:lstStyle/>
                    <a:p>
                      <a:pPr marL="2540" algn="ctr">
                        <a:lnSpc>
                          <a:spcPct val="100000"/>
                        </a:lnSpc>
                        <a:spcBef>
                          <a:spcPts val="470"/>
                        </a:spcBef>
                      </a:pPr>
                      <a:r>
                        <a:rPr sz="900" spc="-50" dirty="0">
                          <a:latin typeface="Arial MT"/>
                          <a:cs typeface="Arial MT"/>
                        </a:rPr>
                        <a:t>4</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4925">
                        <a:lnSpc>
                          <a:spcPct val="100000"/>
                        </a:lnSpc>
                        <a:spcBef>
                          <a:spcPts val="470"/>
                        </a:spcBef>
                      </a:pPr>
                      <a:r>
                        <a:rPr sz="900" spc="-10" dirty="0">
                          <a:latin typeface="Arial MT"/>
                          <a:cs typeface="Arial MT"/>
                        </a:rPr>
                        <a:t>1/2/2022</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28600" marR="88900" indent="-132715">
                        <a:lnSpc>
                          <a:spcPts val="830"/>
                        </a:lnSpc>
                      </a:pPr>
                      <a:r>
                        <a:rPr sz="900" dirty="0">
                          <a:latin typeface="Arial MT"/>
                          <a:cs typeface="Arial MT"/>
                        </a:rPr>
                        <a:t>Cheese</a:t>
                      </a:r>
                      <a:r>
                        <a:rPr sz="900" spc="-25" dirty="0">
                          <a:latin typeface="Arial MT"/>
                          <a:cs typeface="Arial MT"/>
                        </a:rPr>
                        <a:t> </a:t>
                      </a:r>
                      <a:r>
                        <a:rPr sz="900" spc="-10" dirty="0">
                          <a:latin typeface="Arial MT"/>
                          <a:cs typeface="Arial MT"/>
                        </a:rPr>
                        <a:t>Cracker</a:t>
                      </a:r>
                      <a:r>
                        <a:rPr sz="900" spc="500" dirty="0">
                          <a:latin typeface="Arial MT"/>
                          <a:cs typeface="Arial MT"/>
                        </a:rPr>
                        <a:t> </a:t>
                      </a:r>
                      <a:r>
                        <a:rPr sz="900" spc="-10" dirty="0">
                          <a:latin typeface="Arial MT"/>
                          <a:cs typeface="Arial MT"/>
                        </a:rPr>
                        <a:t>(Mcvities)</a:t>
                      </a:r>
                      <a:endParaRPr sz="9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450"/>
                        </a:spcBef>
                      </a:pPr>
                      <a:r>
                        <a:rPr sz="900" spc="-50" dirty="0">
                          <a:latin typeface="Calibri"/>
                          <a:cs typeface="Calibri"/>
                        </a:rPr>
                        <a:t>1</a:t>
                      </a:r>
                      <a:endParaRPr sz="9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R="306705" algn="r">
                        <a:lnSpc>
                          <a:spcPct val="100000"/>
                        </a:lnSpc>
                        <a:spcBef>
                          <a:spcPts val="450"/>
                        </a:spcBef>
                      </a:pPr>
                      <a:r>
                        <a:rPr sz="900" spc="-10" dirty="0">
                          <a:latin typeface="Calibri"/>
                          <a:cs typeface="Calibri"/>
                        </a:rPr>
                        <a:t>Frank</a:t>
                      </a:r>
                      <a:endParaRPr sz="9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96333">
                <a:tc>
                  <a:txBody>
                    <a:bodyPr/>
                    <a:lstStyle/>
                    <a:p>
                      <a:pPr marL="2540" algn="ctr">
                        <a:lnSpc>
                          <a:spcPct val="100000"/>
                        </a:lnSpc>
                        <a:spcBef>
                          <a:spcPts val="470"/>
                        </a:spcBef>
                      </a:pPr>
                      <a:r>
                        <a:rPr sz="900" spc="-50" dirty="0">
                          <a:latin typeface="Arial MT"/>
                          <a:cs typeface="Arial MT"/>
                        </a:rPr>
                        <a:t>5</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4925">
                        <a:lnSpc>
                          <a:spcPct val="100000"/>
                        </a:lnSpc>
                        <a:spcBef>
                          <a:spcPts val="470"/>
                        </a:spcBef>
                      </a:pPr>
                      <a:r>
                        <a:rPr sz="900" spc="-10" dirty="0">
                          <a:latin typeface="Arial MT"/>
                          <a:cs typeface="Arial MT"/>
                        </a:rPr>
                        <a:t>1/2/2022</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00330" marR="92710" indent="63500">
                        <a:lnSpc>
                          <a:spcPts val="830"/>
                        </a:lnSpc>
                      </a:pPr>
                      <a:r>
                        <a:rPr sz="900" dirty="0">
                          <a:latin typeface="Arial MT"/>
                          <a:cs typeface="Arial MT"/>
                        </a:rPr>
                        <a:t>Centre</a:t>
                      </a:r>
                      <a:r>
                        <a:rPr sz="900" spc="-15" dirty="0">
                          <a:latin typeface="Arial MT"/>
                          <a:cs typeface="Arial MT"/>
                        </a:rPr>
                        <a:t> </a:t>
                      </a:r>
                      <a:r>
                        <a:rPr sz="900" spc="-10" dirty="0">
                          <a:latin typeface="Arial MT"/>
                          <a:cs typeface="Arial MT"/>
                        </a:rPr>
                        <a:t>Filled</a:t>
                      </a:r>
                      <a:r>
                        <a:rPr sz="900" spc="500" dirty="0">
                          <a:latin typeface="Arial MT"/>
                          <a:cs typeface="Arial MT"/>
                        </a:rPr>
                        <a:t> </a:t>
                      </a:r>
                      <a:r>
                        <a:rPr sz="900" dirty="0">
                          <a:latin typeface="Arial MT"/>
                          <a:cs typeface="Arial MT"/>
                        </a:rPr>
                        <a:t>Chocolate</a:t>
                      </a:r>
                      <a:r>
                        <a:rPr sz="900" spc="-35" dirty="0">
                          <a:latin typeface="Arial MT"/>
                          <a:cs typeface="Arial MT"/>
                        </a:rPr>
                        <a:t> </a:t>
                      </a:r>
                      <a:r>
                        <a:rPr sz="900" spc="-20" dirty="0">
                          <a:latin typeface="Arial MT"/>
                          <a:cs typeface="Arial MT"/>
                        </a:rPr>
                        <a:t>Cake</a:t>
                      </a:r>
                      <a:endParaRPr sz="9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445"/>
                        </a:spcBef>
                      </a:pPr>
                      <a:r>
                        <a:rPr sz="900" spc="-50" dirty="0">
                          <a:latin typeface="Calibri"/>
                          <a:cs typeface="Calibri"/>
                        </a:rPr>
                        <a:t>5</a:t>
                      </a:r>
                      <a:endParaRPr sz="9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R="314325" algn="r">
                        <a:lnSpc>
                          <a:spcPct val="100000"/>
                        </a:lnSpc>
                        <a:spcBef>
                          <a:spcPts val="445"/>
                        </a:spcBef>
                      </a:pPr>
                      <a:r>
                        <a:rPr sz="900" spc="-20" dirty="0">
                          <a:latin typeface="Calibri"/>
                          <a:cs typeface="Calibri"/>
                        </a:rPr>
                        <a:t>Marc</a:t>
                      </a:r>
                      <a:endParaRPr sz="9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sp>
        <p:nvSpPr>
          <p:cNvPr id="5" name="object 5"/>
          <p:cNvSpPr/>
          <p:nvPr/>
        </p:nvSpPr>
        <p:spPr>
          <a:xfrm>
            <a:off x="7417815" y="2415031"/>
            <a:ext cx="342053" cy="1930400"/>
          </a:xfrm>
          <a:custGeom>
            <a:avLst/>
            <a:gdLst/>
            <a:ahLst/>
            <a:cxnLst/>
            <a:rect l="l" t="t" r="r" b="b"/>
            <a:pathLst>
              <a:path w="256539" h="1447800">
                <a:moveTo>
                  <a:pt x="0" y="42672"/>
                </a:moveTo>
                <a:lnTo>
                  <a:pt x="3345" y="26038"/>
                </a:lnTo>
                <a:lnTo>
                  <a:pt x="12477" y="12477"/>
                </a:lnTo>
                <a:lnTo>
                  <a:pt x="26038" y="3345"/>
                </a:lnTo>
                <a:lnTo>
                  <a:pt x="42672" y="0"/>
                </a:lnTo>
                <a:lnTo>
                  <a:pt x="213360" y="0"/>
                </a:lnTo>
                <a:lnTo>
                  <a:pt x="229993" y="3345"/>
                </a:lnTo>
                <a:lnTo>
                  <a:pt x="243554" y="12477"/>
                </a:lnTo>
                <a:lnTo>
                  <a:pt x="252686" y="26038"/>
                </a:lnTo>
                <a:lnTo>
                  <a:pt x="256032" y="42672"/>
                </a:lnTo>
                <a:lnTo>
                  <a:pt x="256032" y="1405127"/>
                </a:lnTo>
                <a:lnTo>
                  <a:pt x="252686" y="1421761"/>
                </a:lnTo>
                <a:lnTo>
                  <a:pt x="243554" y="1435322"/>
                </a:lnTo>
                <a:lnTo>
                  <a:pt x="229993" y="1444454"/>
                </a:lnTo>
                <a:lnTo>
                  <a:pt x="213360" y="1447800"/>
                </a:lnTo>
                <a:lnTo>
                  <a:pt x="42672" y="1447800"/>
                </a:lnTo>
                <a:lnTo>
                  <a:pt x="26038" y="1444454"/>
                </a:lnTo>
                <a:lnTo>
                  <a:pt x="12477" y="1435322"/>
                </a:lnTo>
                <a:lnTo>
                  <a:pt x="3345" y="1421761"/>
                </a:lnTo>
                <a:lnTo>
                  <a:pt x="0" y="1405127"/>
                </a:lnTo>
                <a:lnTo>
                  <a:pt x="0" y="42672"/>
                </a:lnTo>
                <a:close/>
              </a:path>
            </a:pathLst>
          </a:custGeom>
          <a:ln w="38100">
            <a:solidFill>
              <a:srgbClr val="008FBB"/>
            </a:solidFill>
          </a:ln>
        </p:spPr>
        <p:txBody>
          <a:bodyPr wrap="square" lIns="0" tIns="0" rIns="0" bIns="0" rtlCol="0"/>
          <a:lstStyle/>
          <a:p>
            <a:endParaRPr sz="2400"/>
          </a:p>
        </p:txBody>
      </p:sp>
      <p:sp>
        <p:nvSpPr>
          <p:cNvPr id="6" name="object 6"/>
          <p:cNvSpPr txBox="1"/>
          <p:nvPr/>
        </p:nvSpPr>
        <p:spPr>
          <a:xfrm>
            <a:off x="6827689" y="1961389"/>
            <a:ext cx="1333500"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Primary</a:t>
            </a:r>
            <a:r>
              <a:rPr sz="2133" spc="-73" dirty="0">
                <a:solidFill>
                  <a:srgbClr val="FFFFFF"/>
                </a:solidFill>
                <a:latin typeface="Calibri"/>
                <a:cs typeface="Calibri"/>
              </a:rPr>
              <a:t> </a:t>
            </a:r>
            <a:r>
              <a:rPr sz="2133" spc="-33" dirty="0">
                <a:solidFill>
                  <a:srgbClr val="FFFFFF"/>
                </a:solidFill>
                <a:latin typeface="Calibri"/>
                <a:cs typeface="Calibri"/>
              </a:rPr>
              <a:t>key</a:t>
            </a:r>
            <a:endParaRPr sz="2133">
              <a:latin typeface="Calibri"/>
              <a:cs typeface="Calibri"/>
            </a:endParaRPr>
          </a:p>
        </p:txBody>
      </p:sp>
      <p:sp>
        <p:nvSpPr>
          <p:cNvPr id="7" name="object 7"/>
          <p:cNvSpPr/>
          <p:nvPr/>
        </p:nvSpPr>
        <p:spPr>
          <a:xfrm>
            <a:off x="9301479" y="2415031"/>
            <a:ext cx="1278467" cy="1930400"/>
          </a:xfrm>
          <a:custGeom>
            <a:avLst/>
            <a:gdLst/>
            <a:ahLst/>
            <a:cxnLst/>
            <a:rect l="l" t="t" r="r" b="b"/>
            <a:pathLst>
              <a:path w="958850" h="1447800">
                <a:moveTo>
                  <a:pt x="0" y="159765"/>
                </a:moveTo>
                <a:lnTo>
                  <a:pt x="8142" y="109256"/>
                </a:lnTo>
                <a:lnTo>
                  <a:pt x="30817" y="65397"/>
                </a:lnTo>
                <a:lnTo>
                  <a:pt x="65397" y="30817"/>
                </a:lnTo>
                <a:lnTo>
                  <a:pt x="109256" y="8142"/>
                </a:lnTo>
                <a:lnTo>
                  <a:pt x="159766" y="0"/>
                </a:lnTo>
                <a:lnTo>
                  <a:pt x="798830" y="0"/>
                </a:lnTo>
                <a:lnTo>
                  <a:pt x="849339" y="8142"/>
                </a:lnTo>
                <a:lnTo>
                  <a:pt x="893198" y="30817"/>
                </a:lnTo>
                <a:lnTo>
                  <a:pt x="927778" y="65397"/>
                </a:lnTo>
                <a:lnTo>
                  <a:pt x="950453" y="109256"/>
                </a:lnTo>
                <a:lnTo>
                  <a:pt x="958596" y="159765"/>
                </a:lnTo>
                <a:lnTo>
                  <a:pt x="958596" y="1288033"/>
                </a:lnTo>
                <a:lnTo>
                  <a:pt x="950453" y="1338543"/>
                </a:lnTo>
                <a:lnTo>
                  <a:pt x="927778" y="1382402"/>
                </a:lnTo>
                <a:lnTo>
                  <a:pt x="893198" y="1416982"/>
                </a:lnTo>
                <a:lnTo>
                  <a:pt x="849339" y="1439657"/>
                </a:lnTo>
                <a:lnTo>
                  <a:pt x="798830" y="1447800"/>
                </a:lnTo>
                <a:lnTo>
                  <a:pt x="159766" y="1447800"/>
                </a:lnTo>
                <a:lnTo>
                  <a:pt x="109256" y="1439657"/>
                </a:lnTo>
                <a:lnTo>
                  <a:pt x="65397" y="1416982"/>
                </a:lnTo>
                <a:lnTo>
                  <a:pt x="30817" y="1382402"/>
                </a:lnTo>
                <a:lnTo>
                  <a:pt x="8142" y="1338543"/>
                </a:lnTo>
                <a:lnTo>
                  <a:pt x="0" y="1288033"/>
                </a:lnTo>
                <a:lnTo>
                  <a:pt x="0" y="159765"/>
                </a:lnTo>
                <a:close/>
              </a:path>
            </a:pathLst>
          </a:custGeom>
          <a:ln w="38100">
            <a:solidFill>
              <a:srgbClr val="66DBFF"/>
            </a:solidFill>
          </a:ln>
        </p:spPr>
        <p:txBody>
          <a:bodyPr wrap="square" lIns="0" tIns="0" rIns="0" bIns="0" rtlCol="0"/>
          <a:lstStyle/>
          <a:p>
            <a:endParaRPr sz="2400"/>
          </a:p>
        </p:txBody>
      </p:sp>
      <p:sp>
        <p:nvSpPr>
          <p:cNvPr id="8" name="object 8"/>
          <p:cNvSpPr txBox="1">
            <a:spLocks noGrp="1"/>
          </p:cNvSpPr>
          <p:nvPr>
            <p:ph type="title"/>
          </p:nvPr>
        </p:nvSpPr>
        <p:spPr>
          <a:xfrm>
            <a:off x="9281160" y="1933255"/>
            <a:ext cx="1304713" cy="344475"/>
          </a:xfrm>
          <a:prstGeom prst="rect">
            <a:avLst/>
          </a:prstGeom>
        </p:spPr>
        <p:txBody>
          <a:bodyPr vert="horz" wrap="square" lIns="0" tIns="16087" rIns="0" bIns="0" rtlCol="0" anchor="ctr">
            <a:spAutoFit/>
          </a:bodyPr>
          <a:lstStyle/>
          <a:p>
            <a:pPr marL="16933">
              <a:lnSpc>
                <a:spcPct val="100000"/>
              </a:lnSpc>
              <a:spcBef>
                <a:spcPts val="127"/>
              </a:spcBef>
            </a:pPr>
            <a:r>
              <a:rPr sz="2133" dirty="0"/>
              <a:t>Foreign</a:t>
            </a:r>
            <a:r>
              <a:rPr sz="2133" spc="-40" dirty="0"/>
              <a:t> </a:t>
            </a:r>
            <a:r>
              <a:rPr sz="2133" spc="-33" dirty="0"/>
              <a:t>key</a:t>
            </a:r>
            <a:endParaRPr sz="2133"/>
          </a:p>
        </p:txBody>
      </p:sp>
      <p:graphicFrame>
        <p:nvGraphicFramePr>
          <p:cNvPr id="9" name="object 9"/>
          <p:cNvGraphicFramePr>
            <a:graphicFrameLocks noGrp="1"/>
          </p:cNvGraphicFramePr>
          <p:nvPr/>
        </p:nvGraphicFramePr>
        <p:xfrm>
          <a:off x="8143071" y="4739471"/>
          <a:ext cx="1873673" cy="1522306"/>
        </p:xfrm>
        <a:graphic>
          <a:graphicData uri="http://schemas.openxmlformats.org/drawingml/2006/table">
            <a:tbl>
              <a:tblPr firstRow="1" bandRow="1">
                <a:tableStyleId>{2D5ABB26-0587-4C30-8999-92F81FD0307C}</a:tableStyleId>
              </a:tblPr>
              <a:tblGrid>
                <a:gridCol w="382693">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982980">
                  <a:extLst>
                    <a:ext uri="{9D8B030D-6E8A-4147-A177-3AD203B41FA5}">
                      <a16:colId xmlns:a16="http://schemas.microsoft.com/office/drawing/2014/main" val="20002"/>
                    </a:ext>
                  </a:extLst>
                </a:gridCol>
              </a:tblGrid>
              <a:tr h="254000">
                <a:tc>
                  <a:txBody>
                    <a:bodyPr/>
                    <a:lstStyle/>
                    <a:p>
                      <a:pPr marL="2540" algn="ctr">
                        <a:lnSpc>
                          <a:spcPct val="100000"/>
                        </a:lnSpc>
                        <a:spcBef>
                          <a:spcPts val="135"/>
                        </a:spcBef>
                      </a:pPr>
                      <a:r>
                        <a:rPr sz="1400" spc="-25" dirty="0">
                          <a:latin typeface="Arial MT"/>
                          <a:cs typeface="Arial MT"/>
                        </a:rPr>
                        <a:t>id</a:t>
                      </a:r>
                      <a:endParaRPr sz="14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135"/>
                        </a:spcBef>
                      </a:pPr>
                      <a:r>
                        <a:rPr sz="1400" spc="-20" dirty="0">
                          <a:latin typeface="Arial MT"/>
                          <a:cs typeface="Arial MT"/>
                        </a:rPr>
                        <a:t>name</a:t>
                      </a:r>
                      <a:endParaRPr sz="14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810" algn="ctr">
                        <a:lnSpc>
                          <a:spcPct val="100000"/>
                        </a:lnSpc>
                        <a:spcBef>
                          <a:spcPts val="135"/>
                        </a:spcBef>
                      </a:pPr>
                      <a:r>
                        <a:rPr sz="1400" spc="-20" dirty="0">
                          <a:latin typeface="Arial MT"/>
                          <a:cs typeface="Arial MT"/>
                        </a:rPr>
                        <a:t>city</a:t>
                      </a:r>
                      <a:endParaRPr sz="14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0"/>
                  </a:ext>
                </a:extLst>
              </a:tr>
              <a:tr h="253153">
                <a:tc>
                  <a:txBody>
                    <a:bodyPr/>
                    <a:lstStyle/>
                    <a:p>
                      <a:pPr marL="635" algn="ctr">
                        <a:lnSpc>
                          <a:spcPct val="100000"/>
                        </a:lnSpc>
                        <a:spcBef>
                          <a:spcPts val="345"/>
                        </a:spcBef>
                      </a:pPr>
                      <a:r>
                        <a:rPr sz="900" spc="-50" dirty="0">
                          <a:latin typeface="Arial MT"/>
                          <a:cs typeface="Arial MT"/>
                        </a:rPr>
                        <a:t>1</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900" spc="-10" dirty="0">
                          <a:latin typeface="Arial MT"/>
                          <a:cs typeface="Arial MT"/>
                        </a:rPr>
                        <a:t>Frank</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45"/>
                        </a:spcBef>
                      </a:pPr>
                      <a:r>
                        <a:rPr sz="900" dirty="0">
                          <a:latin typeface="Arial MT"/>
                          <a:cs typeface="Arial MT"/>
                        </a:rPr>
                        <a:t>New</a:t>
                      </a:r>
                      <a:r>
                        <a:rPr sz="900" spc="-15" dirty="0">
                          <a:latin typeface="Arial MT"/>
                          <a:cs typeface="Arial MT"/>
                        </a:rPr>
                        <a:t> </a:t>
                      </a:r>
                      <a:r>
                        <a:rPr sz="900" spc="-20" dirty="0">
                          <a:latin typeface="Arial MT"/>
                          <a:cs typeface="Arial MT"/>
                        </a:rPr>
                        <a:t>York</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marL="635" algn="ctr">
                        <a:lnSpc>
                          <a:spcPct val="100000"/>
                        </a:lnSpc>
                        <a:spcBef>
                          <a:spcPts val="350"/>
                        </a:spcBef>
                      </a:pPr>
                      <a:r>
                        <a:rPr sz="900" spc="-50" dirty="0">
                          <a:latin typeface="Arial MT"/>
                          <a:cs typeface="Arial MT"/>
                        </a:rPr>
                        <a:t>2</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350"/>
                        </a:spcBef>
                      </a:pPr>
                      <a:r>
                        <a:rPr sz="900" spc="-10" dirty="0">
                          <a:latin typeface="Arial MT"/>
                          <a:cs typeface="Arial MT"/>
                        </a:rPr>
                        <a:t>Sarah</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50"/>
                        </a:spcBef>
                      </a:pPr>
                      <a:r>
                        <a:rPr sz="900" spc="-10" dirty="0">
                          <a:latin typeface="Arial MT"/>
                          <a:cs typeface="Arial MT"/>
                        </a:rPr>
                        <a:t>Chicago</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marL="635" algn="ctr">
                        <a:lnSpc>
                          <a:spcPct val="100000"/>
                        </a:lnSpc>
                        <a:spcBef>
                          <a:spcPts val="350"/>
                        </a:spcBef>
                      </a:pPr>
                      <a:r>
                        <a:rPr sz="900" spc="-50" dirty="0">
                          <a:latin typeface="Arial MT"/>
                          <a:cs typeface="Arial MT"/>
                        </a:rPr>
                        <a:t>3</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350"/>
                        </a:spcBef>
                      </a:pPr>
                      <a:r>
                        <a:rPr sz="900" spc="-10" dirty="0">
                          <a:latin typeface="Arial MT"/>
                          <a:cs typeface="Arial MT"/>
                        </a:rPr>
                        <a:t>Sabrina</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50"/>
                        </a:spcBef>
                      </a:pPr>
                      <a:r>
                        <a:rPr sz="900" dirty="0">
                          <a:latin typeface="Arial MT"/>
                          <a:cs typeface="Arial MT"/>
                        </a:rPr>
                        <a:t>New</a:t>
                      </a:r>
                      <a:r>
                        <a:rPr sz="900" spc="-15" dirty="0">
                          <a:latin typeface="Arial MT"/>
                          <a:cs typeface="Arial MT"/>
                        </a:rPr>
                        <a:t> </a:t>
                      </a:r>
                      <a:r>
                        <a:rPr sz="900" spc="-10" dirty="0">
                          <a:latin typeface="Arial MT"/>
                          <a:cs typeface="Arial MT"/>
                        </a:rPr>
                        <a:t>Orleans</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3153">
                <a:tc>
                  <a:txBody>
                    <a:bodyPr/>
                    <a:lstStyle/>
                    <a:p>
                      <a:pPr marL="635" algn="ctr">
                        <a:lnSpc>
                          <a:spcPct val="100000"/>
                        </a:lnSpc>
                        <a:spcBef>
                          <a:spcPts val="350"/>
                        </a:spcBef>
                      </a:pPr>
                      <a:r>
                        <a:rPr sz="900" spc="-50" dirty="0">
                          <a:latin typeface="Arial MT"/>
                          <a:cs typeface="Arial MT"/>
                        </a:rPr>
                        <a:t>4</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350"/>
                        </a:spcBef>
                      </a:pPr>
                      <a:r>
                        <a:rPr sz="900" spc="-20" dirty="0">
                          <a:latin typeface="Arial MT"/>
                          <a:cs typeface="Arial MT"/>
                        </a:rPr>
                        <a:t>Maya</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350"/>
                        </a:spcBef>
                      </a:pPr>
                      <a:r>
                        <a:rPr sz="900" dirty="0">
                          <a:latin typeface="Arial MT"/>
                          <a:cs typeface="Arial MT"/>
                        </a:rPr>
                        <a:t>Los</a:t>
                      </a:r>
                      <a:r>
                        <a:rPr sz="900" spc="-20" dirty="0">
                          <a:latin typeface="Arial MT"/>
                          <a:cs typeface="Arial MT"/>
                        </a:rPr>
                        <a:t> </a:t>
                      </a:r>
                      <a:r>
                        <a:rPr sz="900" spc="-10" dirty="0">
                          <a:latin typeface="Arial MT"/>
                          <a:cs typeface="Arial MT"/>
                        </a:rPr>
                        <a:t>Angelas</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marL="635" algn="ctr">
                        <a:lnSpc>
                          <a:spcPct val="100000"/>
                        </a:lnSpc>
                        <a:spcBef>
                          <a:spcPts val="350"/>
                        </a:spcBef>
                      </a:pPr>
                      <a:r>
                        <a:rPr sz="900" spc="-50" dirty="0">
                          <a:latin typeface="Arial MT"/>
                          <a:cs typeface="Arial MT"/>
                        </a:rPr>
                        <a:t>5</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50"/>
                        </a:spcBef>
                      </a:pPr>
                      <a:r>
                        <a:rPr sz="900" spc="-20" dirty="0">
                          <a:latin typeface="Arial MT"/>
                          <a:cs typeface="Arial MT"/>
                        </a:rPr>
                        <a:t>Marc</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350"/>
                        </a:spcBef>
                      </a:pPr>
                      <a:r>
                        <a:rPr sz="900" spc="-10" dirty="0">
                          <a:latin typeface="Arial MT"/>
                          <a:cs typeface="Arial MT"/>
                        </a:rPr>
                        <a:t>Delas</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sp>
        <p:nvSpPr>
          <p:cNvPr id="10" name="object 10"/>
          <p:cNvSpPr/>
          <p:nvPr/>
        </p:nvSpPr>
        <p:spPr>
          <a:xfrm>
            <a:off x="8237729" y="4312751"/>
            <a:ext cx="1711113" cy="408093"/>
          </a:xfrm>
          <a:custGeom>
            <a:avLst/>
            <a:gdLst/>
            <a:ahLst/>
            <a:cxnLst/>
            <a:rect l="l" t="t" r="r" b="b"/>
            <a:pathLst>
              <a:path w="1283334" h="306070">
                <a:moveTo>
                  <a:pt x="25526" y="224409"/>
                </a:moveTo>
                <a:lnTo>
                  <a:pt x="0" y="305689"/>
                </a:lnTo>
                <a:lnTo>
                  <a:pt x="80263" y="277241"/>
                </a:lnTo>
                <a:lnTo>
                  <a:pt x="67106" y="264541"/>
                </a:lnTo>
                <a:lnTo>
                  <a:pt x="48387" y="264541"/>
                </a:lnTo>
                <a:lnTo>
                  <a:pt x="39577" y="255212"/>
                </a:lnTo>
                <a:lnTo>
                  <a:pt x="39943" y="255212"/>
                </a:lnTo>
                <a:lnTo>
                  <a:pt x="48741" y="246815"/>
                </a:lnTo>
                <a:lnTo>
                  <a:pt x="25526" y="224409"/>
                </a:lnTo>
                <a:close/>
              </a:path>
              <a:path w="1283334" h="306070">
                <a:moveTo>
                  <a:pt x="48741" y="246815"/>
                </a:moveTo>
                <a:lnTo>
                  <a:pt x="39943" y="255212"/>
                </a:lnTo>
                <a:lnTo>
                  <a:pt x="39577" y="255212"/>
                </a:lnTo>
                <a:lnTo>
                  <a:pt x="48387" y="264541"/>
                </a:lnTo>
                <a:lnTo>
                  <a:pt x="57864" y="255621"/>
                </a:lnTo>
                <a:lnTo>
                  <a:pt x="48741" y="246815"/>
                </a:lnTo>
                <a:close/>
              </a:path>
              <a:path w="1283334" h="306070">
                <a:moveTo>
                  <a:pt x="57864" y="255621"/>
                </a:moveTo>
                <a:lnTo>
                  <a:pt x="48387" y="264541"/>
                </a:lnTo>
                <a:lnTo>
                  <a:pt x="67106" y="264541"/>
                </a:lnTo>
                <a:lnTo>
                  <a:pt x="57864" y="255621"/>
                </a:lnTo>
                <a:close/>
              </a:path>
              <a:path w="1283334" h="306070">
                <a:moveTo>
                  <a:pt x="1278889" y="18034"/>
                </a:moveTo>
                <a:lnTo>
                  <a:pt x="1263903" y="18034"/>
                </a:lnTo>
                <a:lnTo>
                  <a:pt x="1257680" y="25018"/>
                </a:lnTo>
                <a:lnTo>
                  <a:pt x="1250442" y="31623"/>
                </a:lnTo>
                <a:lnTo>
                  <a:pt x="1205483" y="57785"/>
                </a:lnTo>
                <a:lnTo>
                  <a:pt x="1156843" y="76581"/>
                </a:lnTo>
                <a:lnTo>
                  <a:pt x="1118488" y="88392"/>
                </a:lnTo>
                <a:lnTo>
                  <a:pt x="1075817" y="99441"/>
                </a:lnTo>
                <a:lnTo>
                  <a:pt x="1029334" y="109728"/>
                </a:lnTo>
                <a:lnTo>
                  <a:pt x="979551" y="118999"/>
                </a:lnTo>
                <a:lnTo>
                  <a:pt x="926973" y="127000"/>
                </a:lnTo>
                <a:lnTo>
                  <a:pt x="872108" y="133985"/>
                </a:lnTo>
                <a:lnTo>
                  <a:pt x="815339" y="139445"/>
                </a:lnTo>
                <a:lnTo>
                  <a:pt x="757047" y="143510"/>
                </a:lnTo>
                <a:lnTo>
                  <a:pt x="697864" y="146050"/>
                </a:lnTo>
                <a:lnTo>
                  <a:pt x="578611" y="147828"/>
                </a:lnTo>
                <a:lnTo>
                  <a:pt x="519175" y="150368"/>
                </a:lnTo>
                <a:lnTo>
                  <a:pt x="460628" y="154431"/>
                </a:lnTo>
                <a:lnTo>
                  <a:pt x="403478" y="160147"/>
                </a:lnTo>
                <a:lnTo>
                  <a:pt x="347242" y="167131"/>
                </a:lnTo>
                <a:lnTo>
                  <a:pt x="295275" y="175132"/>
                </a:lnTo>
                <a:lnTo>
                  <a:pt x="244982" y="184404"/>
                </a:lnTo>
                <a:lnTo>
                  <a:pt x="198119" y="194691"/>
                </a:lnTo>
                <a:lnTo>
                  <a:pt x="154939" y="205994"/>
                </a:lnTo>
                <a:lnTo>
                  <a:pt x="115950" y="217931"/>
                </a:lnTo>
                <a:lnTo>
                  <a:pt x="66166" y="237236"/>
                </a:lnTo>
                <a:lnTo>
                  <a:pt x="48741" y="246815"/>
                </a:lnTo>
                <a:lnTo>
                  <a:pt x="57864" y="255621"/>
                </a:lnTo>
                <a:lnTo>
                  <a:pt x="57528" y="255621"/>
                </a:lnTo>
                <a:lnTo>
                  <a:pt x="59181" y="254381"/>
                </a:lnTo>
                <a:lnTo>
                  <a:pt x="60009" y="254381"/>
                </a:lnTo>
                <a:lnTo>
                  <a:pt x="71246" y="248919"/>
                </a:lnTo>
                <a:lnTo>
                  <a:pt x="119761" y="229997"/>
                </a:lnTo>
                <a:lnTo>
                  <a:pt x="158241" y="218186"/>
                </a:lnTo>
                <a:lnTo>
                  <a:pt x="200913" y="207137"/>
                </a:lnTo>
                <a:lnTo>
                  <a:pt x="247395" y="196850"/>
                </a:lnTo>
                <a:lnTo>
                  <a:pt x="297179" y="187706"/>
                </a:lnTo>
                <a:lnTo>
                  <a:pt x="349757" y="179578"/>
                </a:lnTo>
                <a:lnTo>
                  <a:pt x="404622" y="172719"/>
                </a:lnTo>
                <a:lnTo>
                  <a:pt x="461518" y="167131"/>
                </a:lnTo>
                <a:lnTo>
                  <a:pt x="519683" y="163068"/>
                </a:lnTo>
                <a:lnTo>
                  <a:pt x="578738" y="160528"/>
                </a:lnTo>
                <a:lnTo>
                  <a:pt x="698500" y="158750"/>
                </a:lnTo>
                <a:lnTo>
                  <a:pt x="757935" y="156210"/>
                </a:lnTo>
                <a:lnTo>
                  <a:pt x="816482" y="152145"/>
                </a:lnTo>
                <a:lnTo>
                  <a:pt x="873632" y="146557"/>
                </a:lnTo>
                <a:lnTo>
                  <a:pt x="928877" y="139573"/>
                </a:lnTo>
                <a:lnTo>
                  <a:pt x="981836" y="131444"/>
                </a:lnTo>
                <a:lnTo>
                  <a:pt x="1032001" y="122174"/>
                </a:lnTo>
                <a:lnTo>
                  <a:pt x="1078864" y="111887"/>
                </a:lnTo>
                <a:lnTo>
                  <a:pt x="1122045" y="100584"/>
                </a:lnTo>
                <a:lnTo>
                  <a:pt x="1161160" y="88645"/>
                </a:lnTo>
                <a:lnTo>
                  <a:pt x="1210818" y="69214"/>
                </a:lnTo>
                <a:lnTo>
                  <a:pt x="1249045" y="48387"/>
                </a:lnTo>
                <a:lnTo>
                  <a:pt x="1273555" y="26162"/>
                </a:lnTo>
                <a:lnTo>
                  <a:pt x="1273809" y="25907"/>
                </a:lnTo>
                <a:lnTo>
                  <a:pt x="1273936" y="25654"/>
                </a:lnTo>
                <a:lnTo>
                  <a:pt x="1278762" y="18287"/>
                </a:lnTo>
                <a:lnTo>
                  <a:pt x="1278889" y="18034"/>
                </a:lnTo>
                <a:close/>
              </a:path>
              <a:path w="1283334" h="306070">
                <a:moveTo>
                  <a:pt x="59181" y="254381"/>
                </a:moveTo>
                <a:lnTo>
                  <a:pt x="57528" y="255621"/>
                </a:lnTo>
                <a:lnTo>
                  <a:pt x="58298" y="255212"/>
                </a:lnTo>
                <a:lnTo>
                  <a:pt x="59181" y="254381"/>
                </a:lnTo>
                <a:close/>
              </a:path>
              <a:path w="1283334" h="306070">
                <a:moveTo>
                  <a:pt x="58298" y="255212"/>
                </a:moveTo>
                <a:lnTo>
                  <a:pt x="57458" y="255621"/>
                </a:lnTo>
                <a:lnTo>
                  <a:pt x="57864" y="255621"/>
                </a:lnTo>
                <a:lnTo>
                  <a:pt x="58298" y="255212"/>
                </a:lnTo>
                <a:close/>
              </a:path>
              <a:path w="1283334" h="306070">
                <a:moveTo>
                  <a:pt x="60009" y="254381"/>
                </a:moveTo>
                <a:lnTo>
                  <a:pt x="59181" y="254381"/>
                </a:lnTo>
                <a:lnTo>
                  <a:pt x="58298" y="255212"/>
                </a:lnTo>
                <a:lnTo>
                  <a:pt x="60009" y="254381"/>
                </a:lnTo>
                <a:close/>
              </a:path>
              <a:path w="1283334" h="306070">
                <a:moveTo>
                  <a:pt x="1281287" y="11684"/>
                </a:moveTo>
                <a:lnTo>
                  <a:pt x="1267840" y="11684"/>
                </a:lnTo>
                <a:lnTo>
                  <a:pt x="1267460" y="12276"/>
                </a:lnTo>
                <a:lnTo>
                  <a:pt x="1267205" y="12954"/>
                </a:lnTo>
                <a:lnTo>
                  <a:pt x="1267024" y="12954"/>
                </a:lnTo>
                <a:lnTo>
                  <a:pt x="1263595" y="18287"/>
                </a:lnTo>
                <a:lnTo>
                  <a:pt x="1263903" y="18034"/>
                </a:lnTo>
                <a:lnTo>
                  <a:pt x="1278889" y="18034"/>
                </a:lnTo>
                <a:lnTo>
                  <a:pt x="1279017" y="17780"/>
                </a:lnTo>
                <a:lnTo>
                  <a:pt x="1279144" y="17399"/>
                </a:lnTo>
                <a:lnTo>
                  <a:pt x="1280810" y="12954"/>
                </a:lnTo>
                <a:lnTo>
                  <a:pt x="1267205" y="12954"/>
                </a:lnTo>
                <a:lnTo>
                  <a:pt x="1267544" y="12276"/>
                </a:lnTo>
                <a:lnTo>
                  <a:pt x="1281064" y="12276"/>
                </a:lnTo>
                <a:lnTo>
                  <a:pt x="1281287" y="11684"/>
                </a:lnTo>
                <a:close/>
              </a:path>
              <a:path w="1283334" h="306070">
                <a:moveTo>
                  <a:pt x="1270507" y="0"/>
                </a:moveTo>
                <a:lnTo>
                  <a:pt x="1270289" y="1778"/>
                </a:lnTo>
                <a:lnTo>
                  <a:pt x="1269873" y="5842"/>
                </a:lnTo>
                <a:lnTo>
                  <a:pt x="1269750" y="6168"/>
                </a:lnTo>
                <a:lnTo>
                  <a:pt x="1269619" y="7238"/>
                </a:lnTo>
                <a:lnTo>
                  <a:pt x="1269349" y="7238"/>
                </a:lnTo>
                <a:lnTo>
                  <a:pt x="1267460" y="12276"/>
                </a:lnTo>
                <a:lnTo>
                  <a:pt x="1267840" y="11684"/>
                </a:lnTo>
                <a:lnTo>
                  <a:pt x="1281287" y="11684"/>
                </a:lnTo>
                <a:lnTo>
                  <a:pt x="1281810" y="10287"/>
                </a:lnTo>
                <a:lnTo>
                  <a:pt x="1281937" y="9779"/>
                </a:lnTo>
                <a:lnTo>
                  <a:pt x="1282064" y="9398"/>
                </a:lnTo>
                <a:lnTo>
                  <a:pt x="1282192" y="8889"/>
                </a:lnTo>
                <a:lnTo>
                  <a:pt x="1282398" y="7238"/>
                </a:lnTo>
                <a:lnTo>
                  <a:pt x="1269619" y="7238"/>
                </a:lnTo>
                <a:lnTo>
                  <a:pt x="1269813" y="6168"/>
                </a:lnTo>
                <a:lnTo>
                  <a:pt x="1282532" y="6168"/>
                </a:lnTo>
                <a:lnTo>
                  <a:pt x="1283080" y="1778"/>
                </a:lnTo>
                <a:lnTo>
                  <a:pt x="1270507" y="0"/>
                </a:lnTo>
                <a:close/>
              </a:path>
            </a:pathLst>
          </a:custGeom>
          <a:solidFill>
            <a:srgbClr val="00C2FF"/>
          </a:solidFill>
        </p:spPr>
        <p:txBody>
          <a:bodyPr wrap="square" lIns="0" tIns="0" rIns="0" bIns="0" rtlCol="0"/>
          <a:lstStyle/>
          <a:p>
            <a:endParaRPr sz="2400"/>
          </a:p>
        </p:txBody>
      </p:sp>
      <p:sp>
        <p:nvSpPr>
          <p:cNvPr id="11" name="object 11"/>
          <p:cNvSpPr/>
          <p:nvPr/>
        </p:nvSpPr>
        <p:spPr>
          <a:xfrm>
            <a:off x="2170177" y="2635503"/>
            <a:ext cx="4909820" cy="3152140"/>
          </a:xfrm>
          <a:custGeom>
            <a:avLst/>
            <a:gdLst/>
            <a:ahLst/>
            <a:cxnLst/>
            <a:rect l="l" t="t" r="r" b="b"/>
            <a:pathLst>
              <a:path w="3682365" h="2364104">
                <a:moveTo>
                  <a:pt x="3681984" y="0"/>
                </a:moveTo>
                <a:lnTo>
                  <a:pt x="0" y="0"/>
                </a:lnTo>
                <a:lnTo>
                  <a:pt x="0" y="2363724"/>
                </a:lnTo>
                <a:lnTo>
                  <a:pt x="3681984" y="2363724"/>
                </a:lnTo>
                <a:lnTo>
                  <a:pt x="3681984" y="0"/>
                </a:lnTo>
                <a:close/>
              </a:path>
            </a:pathLst>
          </a:custGeom>
          <a:solidFill>
            <a:srgbClr val="EDEDED"/>
          </a:solidFill>
        </p:spPr>
        <p:txBody>
          <a:bodyPr wrap="square" lIns="0" tIns="0" rIns="0" bIns="0" rtlCol="0"/>
          <a:lstStyle/>
          <a:p>
            <a:endParaRPr sz="2400"/>
          </a:p>
        </p:txBody>
      </p:sp>
      <p:sp>
        <p:nvSpPr>
          <p:cNvPr id="12" name="object 12"/>
          <p:cNvSpPr txBox="1"/>
          <p:nvPr/>
        </p:nvSpPr>
        <p:spPr>
          <a:xfrm>
            <a:off x="2882560" y="3032252"/>
            <a:ext cx="870373" cy="1505006"/>
          </a:xfrm>
          <a:prstGeom prst="rect">
            <a:avLst/>
          </a:prstGeom>
        </p:spPr>
        <p:txBody>
          <a:bodyPr vert="horz" wrap="square" lIns="0" tIns="16933" rIns="0" bIns="0" rtlCol="0">
            <a:spAutoFit/>
          </a:bodyPr>
          <a:lstStyle/>
          <a:p>
            <a:pPr>
              <a:spcBef>
                <a:spcPts val="133"/>
              </a:spcBef>
            </a:pPr>
            <a:r>
              <a:rPr sz="1867" spc="-13" dirty="0">
                <a:latin typeface="Courier New"/>
                <a:cs typeface="Courier New"/>
              </a:rPr>
              <a:t>SELECT</a:t>
            </a:r>
            <a:endParaRPr sz="1867">
              <a:latin typeface="Courier New"/>
              <a:cs typeface="Courier New"/>
            </a:endParaRPr>
          </a:p>
          <a:p>
            <a:pPr>
              <a:lnSpc>
                <a:spcPct val="100000"/>
              </a:lnSpc>
            </a:pPr>
            <a:endParaRPr sz="1867">
              <a:latin typeface="Courier New"/>
              <a:cs typeface="Courier New"/>
            </a:endParaRPr>
          </a:p>
          <a:p>
            <a:pPr>
              <a:lnSpc>
                <a:spcPct val="100000"/>
              </a:lnSpc>
            </a:pPr>
            <a:endParaRPr sz="1867">
              <a:latin typeface="Courier New"/>
              <a:cs typeface="Courier New"/>
            </a:endParaRPr>
          </a:p>
          <a:p>
            <a:pPr>
              <a:spcBef>
                <a:spcPts val="380"/>
              </a:spcBef>
            </a:pPr>
            <a:endParaRPr sz="1867">
              <a:latin typeface="Courier New"/>
              <a:cs typeface="Courier New"/>
            </a:endParaRPr>
          </a:p>
          <a:p>
            <a:pPr>
              <a:spcBef>
                <a:spcPts val="7"/>
              </a:spcBef>
            </a:pPr>
            <a:r>
              <a:rPr sz="1867" spc="-27" dirty="0">
                <a:latin typeface="Courier New"/>
                <a:cs typeface="Courier New"/>
              </a:rPr>
              <a:t>FROM</a:t>
            </a:r>
            <a:endParaRPr sz="1867">
              <a:latin typeface="Courier New"/>
              <a:cs typeface="Courier New"/>
            </a:endParaRPr>
          </a:p>
        </p:txBody>
      </p:sp>
      <p:sp>
        <p:nvSpPr>
          <p:cNvPr id="13" name="object 13"/>
          <p:cNvSpPr txBox="1"/>
          <p:nvPr/>
        </p:nvSpPr>
        <p:spPr>
          <a:xfrm>
            <a:off x="4305468" y="3032252"/>
            <a:ext cx="1723813" cy="1453710"/>
          </a:xfrm>
          <a:prstGeom prst="rect">
            <a:avLst/>
          </a:prstGeom>
        </p:spPr>
        <p:txBody>
          <a:bodyPr vert="horz" wrap="square" lIns="0" tIns="16933" rIns="0" bIns="0" rtlCol="0">
            <a:spAutoFit/>
          </a:bodyPr>
          <a:lstStyle/>
          <a:p>
            <a:pPr marR="6773">
              <a:spcBef>
                <a:spcPts val="133"/>
              </a:spcBef>
            </a:pPr>
            <a:r>
              <a:rPr sz="1867" i="1" spc="-13" dirty="0">
                <a:solidFill>
                  <a:srgbClr val="009999"/>
                </a:solidFill>
                <a:latin typeface="Courier New"/>
                <a:cs typeface="Courier New"/>
              </a:rPr>
              <a:t>sales.id, product, customer_id, </a:t>
            </a:r>
            <a:r>
              <a:rPr sz="1867" i="1" spc="-27" dirty="0">
                <a:solidFill>
                  <a:srgbClr val="009999"/>
                </a:solidFill>
                <a:latin typeface="Courier New"/>
                <a:cs typeface="Courier New"/>
              </a:rPr>
              <a:t>name</a:t>
            </a:r>
            <a:endParaRPr sz="1867">
              <a:latin typeface="Courier New"/>
              <a:cs typeface="Courier New"/>
            </a:endParaRPr>
          </a:p>
          <a:p>
            <a:pPr>
              <a:spcBef>
                <a:spcPts val="7"/>
              </a:spcBef>
            </a:pPr>
            <a:r>
              <a:rPr sz="1867" i="1" spc="-13" dirty="0">
                <a:solidFill>
                  <a:srgbClr val="0092BE"/>
                </a:solidFill>
                <a:latin typeface="Courier New"/>
                <a:cs typeface="Courier New"/>
              </a:rPr>
              <a:t>sales</a:t>
            </a:r>
            <a:endParaRPr sz="1867">
              <a:latin typeface="Courier New"/>
              <a:cs typeface="Courier New"/>
            </a:endParaRPr>
          </a:p>
        </p:txBody>
      </p:sp>
      <p:sp>
        <p:nvSpPr>
          <p:cNvPr id="14" name="object 14"/>
          <p:cNvSpPr txBox="1"/>
          <p:nvPr/>
        </p:nvSpPr>
        <p:spPr>
          <a:xfrm>
            <a:off x="2882561" y="4621214"/>
            <a:ext cx="3992033" cy="797782"/>
          </a:xfrm>
          <a:prstGeom prst="rect">
            <a:avLst/>
          </a:prstGeom>
        </p:spPr>
        <p:txBody>
          <a:bodyPr vert="horz" wrap="square" lIns="0" tIns="119380" rIns="0" bIns="0" rtlCol="0">
            <a:spAutoFit/>
          </a:bodyPr>
          <a:lstStyle/>
          <a:p>
            <a:pPr>
              <a:spcBef>
                <a:spcPts val="940"/>
              </a:spcBef>
            </a:pPr>
            <a:r>
              <a:rPr sz="1867" dirty="0">
                <a:latin typeface="Courier New"/>
                <a:cs typeface="Courier New"/>
              </a:rPr>
              <a:t>LEFT</a:t>
            </a:r>
            <a:r>
              <a:rPr sz="1867" spc="-47" dirty="0">
                <a:latin typeface="Courier New"/>
                <a:cs typeface="Courier New"/>
              </a:rPr>
              <a:t> </a:t>
            </a:r>
            <a:r>
              <a:rPr sz="1867" dirty="0">
                <a:latin typeface="Courier New"/>
                <a:cs typeface="Courier New"/>
              </a:rPr>
              <a:t>JOIN</a:t>
            </a:r>
            <a:r>
              <a:rPr sz="1867" spc="-47" dirty="0">
                <a:latin typeface="Courier New"/>
                <a:cs typeface="Courier New"/>
              </a:rPr>
              <a:t> </a:t>
            </a:r>
            <a:r>
              <a:rPr sz="1867" i="1" spc="-13" dirty="0">
                <a:solidFill>
                  <a:srgbClr val="0092BE"/>
                </a:solidFill>
                <a:latin typeface="Courier New"/>
                <a:cs typeface="Courier New"/>
              </a:rPr>
              <a:t>customer</a:t>
            </a:r>
            <a:endParaRPr sz="1867">
              <a:latin typeface="Courier New"/>
              <a:cs typeface="Courier New"/>
            </a:endParaRPr>
          </a:p>
          <a:p>
            <a:pPr>
              <a:spcBef>
                <a:spcPts val="813"/>
              </a:spcBef>
            </a:pPr>
            <a:r>
              <a:rPr sz="1867" dirty="0">
                <a:latin typeface="Courier New"/>
                <a:cs typeface="Courier New"/>
              </a:rPr>
              <a:t>ON</a:t>
            </a:r>
            <a:r>
              <a:rPr sz="1867" spc="-53" dirty="0">
                <a:latin typeface="Courier New"/>
                <a:cs typeface="Courier New"/>
              </a:rPr>
              <a:t> </a:t>
            </a:r>
            <a:r>
              <a:rPr sz="1867" i="1" dirty="0">
                <a:solidFill>
                  <a:srgbClr val="009999"/>
                </a:solidFill>
                <a:latin typeface="Courier New"/>
                <a:cs typeface="Courier New"/>
              </a:rPr>
              <a:t>customer_id</a:t>
            </a:r>
            <a:r>
              <a:rPr sz="1867" i="1" spc="-67" dirty="0">
                <a:solidFill>
                  <a:srgbClr val="009999"/>
                </a:solidFill>
                <a:latin typeface="Courier New"/>
                <a:cs typeface="Courier New"/>
              </a:rPr>
              <a:t> </a:t>
            </a:r>
            <a:r>
              <a:rPr sz="1867" i="1" dirty="0">
                <a:solidFill>
                  <a:srgbClr val="009999"/>
                </a:solidFill>
                <a:latin typeface="Courier New"/>
                <a:cs typeface="Courier New"/>
              </a:rPr>
              <a:t>=</a:t>
            </a:r>
            <a:r>
              <a:rPr sz="1867" i="1" spc="-47" dirty="0">
                <a:solidFill>
                  <a:srgbClr val="009999"/>
                </a:solidFill>
                <a:latin typeface="Courier New"/>
                <a:cs typeface="Courier New"/>
              </a:rPr>
              <a:t> </a:t>
            </a:r>
            <a:r>
              <a:rPr sz="1867" i="1" spc="-13" dirty="0">
                <a:solidFill>
                  <a:srgbClr val="009999"/>
                </a:solidFill>
                <a:latin typeface="Courier New"/>
                <a:cs typeface="Courier New"/>
              </a:rPr>
              <a:t>customer.id</a:t>
            </a:r>
            <a:endParaRPr sz="1867">
              <a:latin typeface="Courier New"/>
              <a:cs typeface="Courier New"/>
            </a:endParaRPr>
          </a:p>
        </p:txBody>
      </p:sp>
      <p:sp>
        <p:nvSpPr>
          <p:cNvPr id="15" name="TextBox 14">
            <a:extLst>
              <a:ext uri="{FF2B5EF4-FFF2-40B4-BE49-F238E27FC236}">
                <a16:creationId xmlns:a16="http://schemas.microsoft.com/office/drawing/2014/main" id="{03A1BF4D-202C-B682-6267-D4C5231233A5}"/>
              </a:ext>
            </a:extLst>
          </p:cNvPr>
          <p:cNvSpPr txBox="1"/>
          <p:nvPr/>
        </p:nvSpPr>
        <p:spPr>
          <a:xfrm>
            <a:off x="3047172" y="226398"/>
            <a:ext cx="6097656" cy="769441"/>
          </a:xfrm>
          <a:prstGeom prst="rect">
            <a:avLst/>
          </a:prstGeom>
          <a:noFill/>
        </p:spPr>
        <p:txBody>
          <a:bodyPr wrap="square">
            <a:spAutoFit/>
          </a:bodyPr>
          <a:lstStyle/>
          <a:p>
            <a:pPr algn="ctr"/>
            <a:r>
              <a:rPr lang="en-IN" sz="4400" dirty="0">
                <a:solidFill>
                  <a:schemeClr val="bg1"/>
                </a:solidFill>
                <a:latin typeface="+mn-lt"/>
              </a:rPr>
              <a:t>Relational</a:t>
            </a:r>
            <a:r>
              <a:rPr lang="en-IN" sz="4400" spc="-27" dirty="0">
                <a:solidFill>
                  <a:schemeClr val="bg1"/>
                </a:solidFill>
                <a:latin typeface="+mn-lt"/>
              </a:rPr>
              <a:t> </a:t>
            </a:r>
            <a:r>
              <a:rPr lang="en-IN" sz="4400" spc="-13" dirty="0">
                <a:solidFill>
                  <a:schemeClr val="bg1"/>
                </a:solidFill>
                <a:latin typeface="+mn-lt"/>
              </a:rPr>
              <a:t>Database</a:t>
            </a:r>
            <a:endParaRPr lang="en-IN" sz="4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357459" y="3874888"/>
            <a:ext cx="4558453" cy="264560"/>
          </a:xfrm>
          <a:prstGeom prst="rect">
            <a:avLst/>
          </a:prstGeom>
        </p:spPr>
        <p:txBody>
          <a:bodyPr vert="horz" wrap="square" lIns="0" tIns="0" rIns="0" bIns="0" rtlCol="0">
            <a:spAutoFit/>
          </a:bodyPr>
          <a:lstStyle/>
          <a:p>
            <a:pPr>
              <a:lnSpc>
                <a:spcPts val="2027"/>
              </a:lnSpc>
              <a:tabLst>
                <a:tab pos="2662700" algn="l"/>
              </a:tabLst>
            </a:pPr>
            <a:r>
              <a:rPr sz="2133" dirty="0">
                <a:solidFill>
                  <a:srgbClr val="FFFFFF"/>
                </a:solidFill>
                <a:latin typeface="Calibri"/>
                <a:cs typeface="Calibri"/>
              </a:rPr>
              <a:t>Relational</a:t>
            </a:r>
            <a:r>
              <a:rPr sz="2133" spc="-47" dirty="0">
                <a:solidFill>
                  <a:srgbClr val="FFFFFF"/>
                </a:solidFill>
                <a:latin typeface="Calibri"/>
                <a:cs typeface="Calibri"/>
              </a:rPr>
              <a:t> </a:t>
            </a:r>
            <a:r>
              <a:rPr sz="2133" spc="-13" dirty="0">
                <a:solidFill>
                  <a:srgbClr val="FFFFFF"/>
                </a:solidFill>
                <a:latin typeface="Calibri"/>
                <a:cs typeface="Calibri"/>
              </a:rPr>
              <a:t>database</a:t>
            </a:r>
            <a:r>
              <a:rPr sz="2133" dirty="0">
                <a:solidFill>
                  <a:srgbClr val="FFFFFF"/>
                </a:solidFill>
                <a:latin typeface="Calibri"/>
                <a:cs typeface="Calibri"/>
              </a:rPr>
              <a:t>	Tables</a:t>
            </a:r>
            <a:r>
              <a:rPr sz="2133" spc="-47" dirty="0">
                <a:solidFill>
                  <a:srgbClr val="FFFFFF"/>
                </a:solidFill>
                <a:latin typeface="Calibri"/>
                <a:cs typeface="Calibri"/>
              </a:rPr>
              <a:t> </a:t>
            </a:r>
            <a:r>
              <a:rPr sz="2133" spc="-13" dirty="0">
                <a:solidFill>
                  <a:srgbClr val="FFFFFF"/>
                </a:solidFill>
                <a:latin typeface="Calibri"/>
                <a:cs typeface="Calibri"/>
              </a:rPr>
              <a:t>(relations)</a:t>
            </a:r>
            <a:endParaRPr sz="2133">
              <a:latin typeface="Calibri"/>
              <a:cs typeface="Calibri"/>
            </a:endParaRPr>
          </a:p>
        </p:txBody>
      </p:sp>
      <p:graphicFrame>
        <p:nvGraphicFramePr>
          <p:cNvPr id="4" name="object 4"/>
          <p:cNvGraphicFramePr>
            <a:graphicFrameLocks noGrp="1"/>
          </p:cNvGraphicFramePr>
          <p:nvPr/>
        </p:nvGraphicFramePr>
        <p:xfrm>
          <a:off x="7493507" y="2506133"/>
          <a:ext cx="4081780" cy="1695026"/>
        </p:xfrm>
        <a:graphic>
          <a:graphicData uri="http://schemas.openxmlformats.org/drawingml/2006/table">
            <a:tbl>
              <a:tblPr firstRow="1" bandRow="1">
                <a:tableStyleId>{2D5ABB26-0587-4C30-8999-92F81FD0307C}</a:tableStyleId>
              </a:tblPr>
              <a:tblGrid>
                <a:gridCol w="204047">
                  <a:extLst>
                    <a:ext uri="{9D8B030D-6E8A-4147-A177-3AD203B41FA5}">
                      <a16:colId xmlns:a16="http://schemas.microsoft.com/office/drawing/2014/main" val="20000"/>
                    </a:ext>
                  </a:extLst>
                </a:gridCol>
                <a:gridCol w="547793">
                  <a:extLst>
                    <a:ext uri="{9D8B030D-6E8A-4147-A177-3AD203B41FA5}">
                      <a16:colId xmlns:a16="http://schemas.microsoft.com/office/drawing/2014/main" val="20001"/>
                    </a:ext>
                  </a:extLst>
                </a:gridCol>
                <a:gridCol w="1109980">
                  <a:extLst>
                    <a:ext uri="{9D8B030D-6E8A-4147-A177-3AD203B41FA5}">
                      <a16:colId xmlns:a16="http://schemas.microsoft.com/office/drawing/2014/main" val="20002"/>
                    </a:ext>
                  </a:extLst>
                </a:gridCol>
                <a:gridCol w="1109980">
                  <a:extLst>
                    <a:ext uri="{9D8B030D-6E8A-4147-A177-3AD203B41FA5}">
                      <a16:colId xmlns:a16="http://schemas.microsoft.com/office/drawing/2014/main" val="20003"/>
                    </a:ext>
                  </a:extLst>
                </a:gridCol>
                <a:gridCol w="1109980">
                  <a:extLst>
                    <a:ext uri="{9D8B030D-6E8A-4147-A177-3AD203B41FA5}">
                      <a16:colId xmlns:a16="http://schemas.microsoft.com/office/drawing/2014/main" val="20004"/>
                    </a:ext>
                  </a:extLst>
                </a:gridCol>
              </a:tblGrid>
              <a:tr h="254000">
                <a:tc>
                  <a:txBody>
                    <a:bodyPr/>
                    <a:lstStyle/>
                    <a:p>
                      <a:pPr marR="18415" algn="ctr">
                        <a:lnSpc>
                          <a:spcPct val="100000"/>
                        </a:lnSpc>
                        <a:spcBef>
                          <a:spcPts val="130"/>
                        </a:spcBef>
                      </a:pPr>
                      <a:r>
                        <a:rPr sz="1400" spc="-25" dirty="0">
                          <a:latin typeface="Arial MT"/>
                          <a:cs typeface="Arial MT"/>
                        </a:rPr>
                        <a:t>id</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0160">
                        <a:lnSpc>
                          <a:spcPct val="100000"/>
                        </a:lnSpc>
                        <a:spcBef>
                          <a:spcPts val="130"/>
                        </a:spcBef>
                      </a:pPr>
                      <a:r>
                        <a:rPr sz="1400" spc="-20" dirty="0">
                          <a:latin typeface="Arial MT"/>
                          <a:cs typeface="Arial MT"/>
                        </a:rPr>
                        <a:t>date</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0160">
                        <a:lnSpc>
                          <a:spcPct val="100000"/>
                        </a:lnSpc>
                        <a:spcBef>
                          <a:spcPts val="130"/>
                        </a:spcBef>
                      </a:pPr>
                      <a:r>
                        <a:rPr sz="1400" spc="-10" dirty="0">
                          <a:latin typeface="Arial MT"/>
                          <a:cs typeface="Arial MT"/>
                        </a:rPr>
                        <a:t>product</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R="71755" algn="ctr">
                        <a:lnSpc>
                          <a:spcPct val="100000"/>
                        </a:lnSpc>
                        <a:spcBef>
                          <a:spcPts val="130"/>
                        </a:spcBef>
                      </a:pPr>
                      <a:r>
                        <a:rPr sz="1400" spc="-10" dirty="0">
                          <a:latin typeface="Arial MT"/>
                          <a:cs typeface="Arial MT"/>
                        </a:rPr>
                        <a:t>customer_id</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0795">
                        <a:lnSpc>
                          <a:spcPct val="100000"/>
                        </a:lnSpc>
                        <a:spcBef>
                          <a:spcPts val="130"/>
                        </a:spcBef>
                      </a:pPr>
                      <a:r>
                        <a:rPr sz="1400" spc="-20" dirty="0">
                          <a:latin typeface="Arial MT"/>
                          <a:cs typeface="Arial MT"/>
                        </a:rPr>
                        <a:t>name</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0"/>
                  </a:ext>
                </a:extLst>
              </a:tr>
              <a:tr h="297180">
                <a:tc>
                  <a:txBody>
                    <a:bodyPr/>
                    <a:lstStyle/>
                    <a:p>
                      <a:pPr marL="2540" algn="ctr">
                        <a:lnSpc>
                          <a:spcPct val="100000"/>
                        </a:lnSpc>
                        <a:spcBef>
                          <a:spcPts val="470"/>
                        </a:spcBef>
                      </a:pPr>
                      <a:r>
                        <a:rPr sz="900" spc="-50" dirty="0">
                          <a:latin typeface="Arial MT"/>
                          <a:cs typeface="Arial MT"/>
                        </a:rPr>
                        <a:t>1</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4925">
                        <a:lnSpc>
                          <a:spcPct val="100000"/>
                        </a:lnSpc>
                        <a:spcBef>
                          <a:spcPts val="470"/>
                        </a:spcBef>
                      </a:pPr>
                      <a:r>
                        <a:rPr sz="900" spc="-10" dirty="0">
                          <a:latin typeface="Arial MT"/>
                          <a:cs typeface="Arial MT"/>
                        </a:rPr>
                        <a:t>1/2/2022</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66700" marR="118745" indent="-137160">
                        <a:lnSpc>
                          <a:spcPts val="830"/>
                        </a:lnSpc>
                      </a:pPr>
                      <a:r>
                        <a:rPr sz="900" dirty="0">
                          <a:latin typeface="Arial MT"/>
                          <a:cs typeface="Arial MT"/>
                        </a:rPr>
                        <a:t>Fulltoss</a:t>
                      </a:r>
                      <a:r>
                        <a:rPr sz="900" spc="-25" dirty="0">
                          <a:latin typeface="Arial MT"/>
                          <a:cs typeface="Arial MT"/>
                        </a:rPr>
                        <a:t> </a:t>
                      </a:r>
                      <a:r>
                        <a:rPr sz="900" spc="-10" dirty="0">
                          <a:latin typeface="Arial MT"/>
                          <a:cs typeface="Arial MT"/>
                        </a:rPr>
                        <a:t>Tangy</a:t>
                      </a:r>
                      <a:r>
                        <a:rPr sz="900" spc="500" dirty="0">
                          <a:latin typeface="Arial MT"/>
                          <a:cs typeface="Arial MT"/>
                        </a:rPr>
                        <a:t> </a:t>
                      </a:r>
                      <a:r>
                        <a:rPr sz="900" spc="-10" dirty="0">
                          <a:latin typeface="Arial MT"/>
                          <a:cs typeface="Arial MT"/>
                        </a:rPr>
                        <a:t>Tomato</a:t>
                      </a:r>
                      <a:endParaRPr sz="9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445"/>
                        </a:spcBef>
                      </a:pPr>
                      <a:r>
                        <a:rPr sz="900" spc="-50" dirty="0">
                          <a:latin typeface="Calibri"/>
                          <a:cs typeface="Calibri"/>
                        </a:rPr>
                        <a:t>2</a:t>
                      </a:r>
                      <a:endParaRPr sz="9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R="305435" algn="r">
                        <a:lnSpc>
                          <a:spcPct val="100000"/>
                        </a:lnSpc>
                        <a:spcBef>
                          <a:spcPts val="445"/>
                        </a:spcBef>
                      </a:pPr>
                      <a:r>
                        <a:rPr sz="900" spc="-10" dirty="0">
                          <a:latin typeface="Calibri"/>
                          <a:cs typeface="Calibri"/>
                        </a:rPr>
                        <a:t>Sarah</a:t>
                      </a:r>
                      <a:endParaRPr sz="9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96333">
                <a:tc>
                  <a:txBody>
                    <a:bodyPr/>
                    <a:lstStyle/>
                    <a:p>
                      <a:pPr marL="2540" algn="ctr">
                        <a:lnSpc>
                          <a:spcPct val="100000"/>
                        </a:lnSpc>
                        <a:spcBef>
                          <a:spcPts val="470"/>
                        </a:spcBef>
                      </a:pPr>
                      <a:r>
                        <a:rPr sz="900" spc="-50" dirty="0">
                          <a:latin typeface="Arial MT"/>
                          <a:cs typeface="Arial MT"/>
                        </a:rPr>
                        <a:t>2</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4925">
                        <a:lnSpc>
                          <a:spcPct val="100000"/>
                        </a:lnSpc>
                        <a:spcBef>
                          <a:spcPts val="470"/>
                        </a:spcBef>
                      </a:pPr>
                      <a:r>
                        <a:rPr sz="900" spc="-10" dirty="0">
                          <a:latin typeface="Arial MT"/>
                          <a:cs typeface="Arial MT"/>
                        </a:rPr>
                        <a:t>1/2/2022</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52705" marR="45085" indent="93980">
                        <a:lnSpc>
                          <a:spcPts val="830"/>
                        </a:lnSpc>
                      </a:pPr>
                      <a:r>
                        <a:rPr sz="900" dirty="0">
                          <a:latin typeface="Arial MT"/>
                          <a:cs typeface="Arial MT"/>
                        </a:rPr>
                        <a:t>Chilli</a:t>
                      </a:r>
                      <a:r>
                        <a:rPr sz="900" spc="-20" dirty="0">
                          <a:latin typeface="Arial MT"/>
                          <a:cs typeface="Arial MT"/>
                        </a:rPr>
                        <a:t> </a:t>
                      </a:r>
                      <a:r>
                        <a:rPr sz="900" dirty="0">
                          <a:latin typeface="Arial MT"/>
                          <a:cs typeface="Arial MT"/>
                        </a:rPr>
                        <a:t>- </a:t>
                      </a:r>
                      <a:r>
                        <a:rPr sz="900" spc="-10" dirty="0">
                          <a:latin typeface="Arial MT"/>
                          <a:cs typeface="Arial MT"/>
                        </a:rPr>
                        <a:t>Green,</a:t>
                      </a:r>
                      <a:r>
                        <a:rPr sz="900" spc="500" dirty="0">
                          <a:latin typeface="Arial MT"/>
                          <a:cs typeface="Arial MT"/>
                        </a:rPr>
                        <a:t> </a:t>
                      </a:r>
                      <a:r>
                        <a:rPr sz="900" dirty="0">
                          <a:latin typeface="Arial MT"/>
                          <a:cs typeface="Arial MT"/>
                        </a:rPr>
                        <a:t>Organically</a:t>
                      </a:r>
                      <a:r>
                        <a:rPr sz="900" spc="-35" dirty="0">
                          <a:latin typeface="Arial MT"/>
                          <a:cs typeface="Arial MT"/>
                        </a:rPr>
                        <a:t> </a:t>
                      </a:r>
                      <a:r>
                        <a:rPr sz="900" spc="-10" dirty="0">
                          <a:latin typeface="Arial MT"/>
                          <a:cs typeface="Arial MT"/>
                        </a:rPr>
                        <a:t>Grown</a:t>
                      </a:r>
                      <a:endParaRPr sz="9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445"/>
                        </a:spcBef>
                      </a:pPr>
                      <a:r>
                        <a:rPr sz="900" spc="-50" dirty="0">
                          <a:latin typeface="Calibri"/>
                          <a:cs typeface="Calibri"/>
                        </a:rPr>
                        <a:t>2</a:t>
                      </a:r>
                      <a:endParaRPr sz="9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R="305435" algn="r">
                        <a:lnSpc>
                          <a:spcPct val="100000"/>
                        </a:lnSpc>
                        <a:spcBef>
                          <a:spcPts val="445"/>
                        </a:spcBef>
                      </a:pPr>
                      <a:r>
                        <a:rPr sz="900" spc="-10" dirty="0">
                          <a:latin typeface="Calibri"/>
                          <a:cs typeface="Calibri"/>
                        </a:rPr>
                        <a:t>Sarah</a:t>
                      </a:r>
                      <a:endParaRPr sz="9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marL="3175" algn="ctr">
                        <a:lnSpc>
                          <a:spcPct val="100000"/>
                        </a:lnSpc>
                        <a:spcBef>
                          <a:spcPts val="340"/>
                        </a:spcBef>
                      </a:pPr>
                      <a:r>
                        <a:rPr sz="900" spc="-50" dirty="0">
                          <a:latin typeface="Arial MT"/>
                          <a:cs typeface="Arial MT"/>
                        </a:rPr>
                        <a:t>3</a:t>
                      </a:r>
                      <a:endParaRPr sz="900">
                        <a:latin typeface="Arial MT"/>
                        <a:cs typeface="Arial MT"/>
                      </a:endParaRPr>
                    </a:p>
                  </a:txBody>
                  <a:tcPr marL="0" marR="0" marT="575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4925">
                        <a:lnSpc>
                          <a:spcPct val="100000"/>
                        </a:lnSpc>
                        <a:spcBef>
                          <a:spcPts val="340"/>
                        </a:spcBef>
                      </a:pPr>
                      <a:r>
                        <a:rPr sz="900" spc="-10" dirty="0">
                          <a:latin typeface="Arial MT"/>
                          <a:cs typeface="Arial MT"/>
                        </a:rPr>
                        <a:t>1/2/2022</a:t>
                      </a:r>
                      <a:endParaRPr sz="900">
                        <a:latin typeface="Arial MT"/>
                        <a:cs typeface="Arial MT"/>
                      </a:endParaRPr>
                    </a:p>
                  </a:txBody>
                  <a:tcPr marL="0" marR="0" marT="575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12395">
                        <a:lnSpc>
                          <a:spcPct val="100000"/>
                        </a:lnSpc>
                        <a:spcBef>
                          <a:spcPts val="340"/>
                        </a:spcBef>
                      </a:pPr>
                      <a:r>
                        <a:rPr sz="900" dirty="0">
                          <a:latin typeface="Arial MT"/>
                          <a:cs typeface="Arial MT"/>
                        </a:rPr>
                        <a:t>Masala</a:t>
                      </a:r>
                      <a:r>
                        <a:rPr sz="900" spc="-25" dirty="0">
                          <a:latin typeface="Arial MT"/>
                          <a:cs typeface="Arial MT"/>
                        </a:rPr>
                        <a:t> </a:t>
                      </a:r>
                      <a:r>
                        <a:rPr sz="900" spc="-10" dirty="0">
                          <a:latin typeface="Arial MT"/>
                          <a:cs typeface="Arial MT"/>
                        </a:rPr>
                        <a:t>Powder</a:t>
                      </a:r>
                      <a:endParaRPr sz="900">
                        <a:latin typeface="Arial MT"/>
                        <a:cs typeface="Arial MT"/>
                      </a:endParaRPr>
                    </a:p>
                  </a:txBody>
                  <a:tcPr marL="0" marR="0" marT="575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320"/>
                        </a:spcBef>
                      </a:pPr>
                      <a:r>
                        <a:rPr sz="900" spc="-50" dirty="0">
                          <a:latin typeface="Calibri"/>
                          <a:cs typeface="Calibri"/>
                        </a:rPr>
                        <a:t>5</a:t>
                      </a:r>
                      <a:endParaRPr sz="9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R="314325" algn="r">
                        <a:lnSpc>
                          <a:spcPct val="100000"/>
                        </a:lnSpc>
                        <a:spcBef>
                          <a:spcPts val="320"/>
                        </a:spcBef>
                      </a:pPr>
                      <a:r>
                        <a:rPr sz="900" spc="-20" dirty="0">
                          <a:latin typeface="Calibri"/>
                          <a:cs typeface="Calibri"/>
                        </a:rPr>
                        <a:t>Marc</a:t>
                      </a:r>
                      <a:endParaRPr sz="9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97180">
                <a:tc>
                  <a:txBody>
                    <a:bodyPr/>
                    <a:lstStyle/>
                    <a:p>
                      <a:pPr marL="2540" algn="ctr">
                        <a:lnSpc>
                          <a:spcPct val="100000"/>
                        </a:lnSpc>
                        <a:spcBef>
                          <a:spcPts val="470"/>
                        </a:spcBef>
                      </a:pPr>
                      <a:r>
                        <a:rPr sz="900" spc="-50" dirty="0">
                          <a:latin typeface="Arial MT"/>
                          <a:cs typeface="Arial MT"/>
                        </a:rPr>
                        <a:t>4</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4925">
                        <a:lnSpc>
                          <a:spcPct val="100000"/>
                        </a:lnSpc>
                        <a:spcBef>
                          <a:spcPts val="470"/>
                        </a:spcBef>
                      </a:pPr>
                      <a:r>
                        <a:rPr sz="900" spc="-10" dirty="0">
                          <a:latin typeface="Arial MT"/>
                          <a:cs typeface="Arial MT"/>
                        </a:rPr>
                        <a:t>1/2/2022</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28600" marR="88900" indent="-132715">
                        <a:lnSpc>
                          <a:spcPts val="830"/>
                        </a:lnSpc>
                      </a:pPr>
                      <a:r>
                        <a:rPr sz="900" dirty="0">
                          <a:latin typeface="Arial MT"/>
                          <a:cs typeface="Arial MT"/>
                        </a:rPr>
                        <a:t>Cheese</a:t>
                      </a:r>
                      <a:r>
                        <a:rPr sz="900" spc="-25" dirty="0">
                          <a:latin typeface="Arial MT"/>
                          <a:cs typeface="Arial MT"/>
                        </a:rPr>
                        <a:t> </a:t>
                      </a:r>
                      <a:r>
                        <a:rPr sz="900" spc="-10" dirty="0">
                          <a:latin typeface="Arial MT"/>
                          <a:cs typeface="Arial MT"/>
                        </a:rPr>
                        <a:t>Cracker</a:t>
                      </a:r>
                      <a:r>
                        <a:rPr sz="900" spc="500" dirty="0">
                          <a:latin typeface="Arial MT"/>
                          <a:cs typeface="Arial MT"/>
                        </a:rPr>
                        <a:t> </a:t>
                      </a:r>
                      <a:r>
                        <a:rPr sz="900" spc="-10" dirty="0">
                          <a:latin typeface="Arial MT"/>
                          <a:cs typeface="Arial MT"/>
                        </a:rPr>
                        <a:t>(Mcvities)</a:t>
                      </a:r>
                      <a:endParaRPr sz="9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450"/>
                        </a:spcBef>
                      </a:pPr>
                      <a:r>
                        <a:rPr sz="900" spc="-50" dirty="0">
                          <a:latin typeface="Calibri"/>
                          <a:cs typeface="Calibri"/>
                        </a:rPr>
                        <a:t>1</a:t>
                      </a:r>
                      <a:endParaRPr sz="9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R="306705" algn="r">
                        <a:lnSpc>
                          <a:spcPct val="100000"/>
                        </a:lnSpc>
                        <a:spcBef>
                          <a:spcPts val="450"/>
                        </a:spcBef>
                      </a:pPr>
                      <a:r>
                        <a:rPr sz="900" spc="-10" dirty="0">
                          <a:latin typeface="Calibri"/>
                          <a:cs typeface="Calibri"/>
                        </a:rPr>
                        <a:t>Frank</a:t>
                      </a:r>
                      <a:endParaRPr sz="9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96333">
                <a:tc>
                  <a:txBody>
                    <a:bodyPr/>
                    <a:lstStyle/>
                    <a:p>
                      <a:pPr marL="2540" algn="ctr">
                        <a:lnSpc>
                          <a:spcPct val="100000"/>
                        </a:lnSpc>
                        <a:spcBef>
                          <a:spcPts val="470"/>
                        </a:spcBef>
                      </a:pPr>
                      <a:r>
                        <a:rPr sz="900" spc="-50" dirty="0">
                          <a:latin typeface="Arial MT"/>
                          <a:cs typeface="Arial MT"/>
                        </a:rPr>
                        <a:t>5</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4925">
                        <a:lnSpc>
                          <a:spcPct val="100000"/>
                        </a:lnSpc>
                        <a:spcBef>
                          <a:spcPts val="470"/>
                        </a:spcBef>
                      </a:pPr>
                      <a:r>
                        <a:rPr sz="900" spc="-10" dirty="0">
                          <a:latin typeface="Arial MT"/>
                          <a:cs typeface="Arial MT"/>
                        </a:rPr>
                        <a:t>1/2/2022</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00330" marR="92710" indent="63500">
                        <a:lnSpc>
                          <a:spcPts val="830"/>
                        </a:lnSpc>
                      </a:pPr>
                      <a:r>
                        <a:rPr sz="900" dirty="0">
                          <a:latin typeface="Arial MT"/>
                          <a:cs typeface="Arial MT"/>
                        </a:rPr>
                        <a:t>Centre</a:t>
                      </a:r>
                      <a:r>
                        <a:rPr sz="900" spc="-15" dirty="0">
                          <a:latin typeface="Arial MT"/>
                          <a:cs typeface="Arial MT"/>
                        </a:rPr>
                        <a:t> </a:t>
                      </a:r>
                      <a:r>
                        <a:rPr sz="900" spc="-10" dirty="0">
                          <a:latin typeface="Arial MT"/>
                          <a:cs typeface="Arial MT"/>
                        </a:rPr>
                        <a:t>Filled</a:t>
                      </a:r>
                      <a:r>
                        <a:rPr sz="900" spc="500" dirty="0">
                          <a:latin typeface="Arial MT"/>
                          <a:cs typeface="Arial MT"/>
                        </a:rPr>
                        <a:t> </a:t>
                      </a:r>
                      <a:r>
                        <a:rPr sz="900" dirty="0">
                          <a:latin typeface="Arial MT"/>
                          <a:cs typeface="Arial MT"/>
                        </a:rPr>
                        <a:t>Chocolate</a:t>
                      </a:r>
                      <a:r>
                        <a:rPr sz="900" spc="-35" dirty="0">
                          <a:latin typeface="Arial MT"/>
                          <a:cs typeface="Arial MT"/>
                        </a:rPr>
                        <a:t> </a:t>
                      </a:r>
                      <a:r>
                        <a:rPr sz="900" spc="-20" dirty="0">
                          <a:latin typeface="Arial MT"/>
                          <a:cs typeface="Arial MT"/>
                        </a:rPr>
                        <a:t>Cake</a:t>
                      </a:r>
                      <a:endParaRPr sz="9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445"/>
                        </a:spcBef>
                      </a:pPr>
                      <a:r>
                        <a:rPr sz="900" spc="-50" dirty="0">
                          <a:latin typeface="Calibri"/>
                          <a:cs typeface="Calibri"/>
                        </a:rPr>
                        <a:t>5</a:t>
                      </a:r>
                      <a:endParaRPr sz="9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R="314325" algn="r">
                        <a:lnSpc>
                          <a:spcPct val="100000"/>
                        </a:lnSpc>
                        <a:spcBef>
                          <a:spcPts val="445"/>
                        </a:spcBef>
                      </a:pPr>
                      <a:r>
                        <a:rPr sz="900" spc="-20" dirty="0">
                          <a:latin typeface="Calibri"/>
                          <a:cs typeface="Calibri"/>
                        </a:rPr>
                        <a:t>Marc</a:t>
                      </a:r>
                      <a:endParaRPr sz="9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sp>
        <p:nvSpPr>
          <p:cNvPr id="5" name="object 5"/>
          <p:cNvSpPr/>
          <p:nvPr/>
        </p:nvSpPr>
        <p:spPr>
          <a:xfrm>
            <a:off x="7417815" y="2415031"/>
            <a:ext cx="342053" cy="1930400"/>
          </a:xfrm>
          <a:custGeom>
            <a:avLst/>
            <a:gdLst/>
            <a:ahLst/>
            <a:cxnLst/>
            <a:rect l="l" t="t" r="r" b="b"/>
            <a:pathLst>
              <a:path w="256539" h="1447800">
                <a:moveTo>
                  <a:pt x="0" y="42672"/>
                </a:moveTo>
                <a:lnTo>
                  <a:pt x="3345" y="26038"/>
                </a:lnTo>
                <a:lnTo>
                  <a:pt x="12477" y="12477"/>
                </a:lnTo>
                <a:lnTo>
                  <a:pt x="26038" y="3345"/>
                </a:lnTo>
                <a:lnTo>
                  <a:pt x="42672" y="0"/>
                </a:lnTo>
                <a:lnTo>
                  <a:pt x="213360" y="0"/>
                </a:lnTo>
                <a:lnTo>
                  <a:pt x="229993" y="3345"/>
                </a:lnTo>
                <a:lnTo>
                  <a:pt x="243554" y="12477"/>
                </a:lnTo>
                <a:lnTo>
                  <a:pt x="252686" y="26038"/>
                </a:lnTo>
                <a:lnTo>
                  <a:pt x="256032" y="42672"/>
                </a:lnTo>
                <a:lnTo>
                  <a:pt x="256032" y="1405127"/>
                </a:lnTo>
                <a:lnTo>
                  <a:pt x="252686" y="1421761"/>
                </a:lnTo>
                <a:lnTo>
                  <a:pt x="243554" y="1435322"/>
                </a:lnTo>
                <a:lnTo>
                  <a:pt x="229993" y="1444454"/>
                </a:lnTo>
                <a:lnTo>
                  <a:pt x="213360" y="1447800"/>
                </a:lnTo>
                <a:lnTo>
                  <a:pt x="42672" y="1447800"/>
                </a:lnTo>
                <a:lnTo>
                  <a:pt x="26038" y="1444454"/>
                </a:lnTo>
                <a:lnTo>
                  <a:pt x="12477" y="1435322"/>
                </a:lnTo>
                <a:lnTo>
                  <a:pt x="3345" y="1421761"/>
                </a:lnTo>
                <a:lnTo>
                  <a:pt x="0" y="1405127"/>
                </a:lnTo>
                <a:lnTo>
                  <a:pt x="0" y="42672"/>
                </a:lnTo>
                <a:close/>
              </a:path>
            </a:pathLst>
          </a:custGeom>
          <a:ln w="38100">
            <a:solidFill>
              <a:srgbClr val="008FBB"/>
            </a:solidFill>
          </a:ln>
        </p:spPr>
        <p:txBody>
          <a:bodyPr wrap="square" lIns="0" tIns="0" rIns="0" bIns="0" rtlCol="0"/>
          <a:lstStyle/>
          <a:p>
            <a:endParaRPr sz="2400"/>
          </a:p>
        </p:txBody>
      </p:sp>
      <p:sp>
        <p:nvSpPr>
          <p:cNvPr id="6" name="object 6"/>
          <p:cNvSpPr txBox="1"/>
          <p:nvPr/>
        </p:nvSpPr>
        <p:spPr>
          <a:xfrm>
            <a:off x="6827689" y="1961389"/>
            <a:ext cx="1333500"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Primary</a:t>
            </a:r>
            <a:r>
              <a:rPr sz="2133" spc="-73" dirty="0">
                <a:solidFill>
                  <a:srgbClr val="FFFFFF"/>
                </a:solidFill>
                <a:latin typeface="Calibri"/>
                <a:cs typeface="Calibri"/>
              </a:rPr>
              <a:t> </a:t>
            </a:r>
            <a:r>
              <a:rPr sz="2133" spc="-33" dirty="0">
                <a:solidFill>
                  <a:srgbClr val="FFFFFF"/>
                </a:solidFill>
                <a:latin typeface="Calibri"/>
                <a:cs typeface="Calibri"/>
              </a:rPr>
              <a:t>key</a:t>
            </a:r>
            <a:endParaRPr sz="2133">
              <a:latin typeface="Calibri"/>
              <a:cs typeface="Calibri"/>
            </a:endParaRPr>
          </a:p>
        </p:txBody>
      </p:sp>
      <p:sp>
        <p:nvSpPr>
          <p:cNvPr id="7" name="object 7"/>
          <p:cNvSpPr/>
          <p:nvPr/>
        </p:nvSpPr>
        <p:spPr>
          <a:xfrm>
            <a:off x="9301479" y="2415031"/>
            <a:ext cx="1278467" cy="1930400"/>
          </a:xfrm>
          <a:custGeom>
            <a:avLst/>
            <a:gdLst/>
            <a:ahLst/>
            <a:cxnLst/>
            <a:rect l="l" t="t" r="r" b="b"/>
            <a:pathLst>
              <a:path w="958850" h="1447800">
                <a:moveTo>
                  <a:pt x="0" y="159765"/>
                </a:moveTo>
                <a:lnTo>
                  <a:pt x="8142" y="109256"/>
                </a:lnTo>
                <a:lnTo>
                  <a:pt x="30817" y="65397"/>
                </a:lnTo>
                <a:lnTo>
                  <a:pt x="65397" y="30817"/>
                </a:lnTo>
                <a:lnTo>
                  <a:pt x="109256" y="8142"/>
                </a:lnTo>
                <a:lnTo>
                  <a:pt x="159766" y="0"/>
                </a:lnTo>
                <a:lnTo>
                  <a:pt x="798830" y="0"/>
                </a:lnTo>
                <a:lnTo>
                  <a:pt x="849339" y="8142"/>
                </a:lnTo>
                <a:lnTo>
                  <a:pt x="893198" y="30817"/>
                </a:lnTo>
                <a:lnTo>
                  <a:pt x="927778" y="65397"/>
                </a:lnTo>
                <a:lnTo>
                  <a:pt x="950453" y="109256"/>
                </a:lnTo>
                <a:lnTo>
                  <a:pt x="958596" y="159765"/>
                </a:lnTo>
                <a:lnTo>
                  <a:pt x="958596" y="1288033"/>
                </a:lnTo>
                <a:lnTo>
                  <a:pt x="950453" y="1338543"/>
                </a:lnTo>
                <a:lnTo>
                  <a:pt x="927778" y="1382402"/>
                </a:lnTo>
                <a:lnTo>
                  <a:pt x="893198" y="1416982"/>
                </a:lnTo>
                <a:lnTo>
                  <a:pt x="849339" y="1439657"/>
                </a:lnTo>
                <a:lnTo>
                  <a:pt x="798830" y="1447800"/>
                </a:lnTo>
                <a:lnTo>
                  <a:pt x="159766" y="1447800"/>
                </a:lnTo>
                <a:lnTo>
                  <a:pt x="109256" y="1439657"/>
                </a:lnTo>
                <a:lnTo>
                  <a:pt x="65397" y="1416982"/>
                </a:lnTo>
                <a:lnTo>
                  <a:pt x="30817" y="1382402"/>
                </a:lnTo>
                <a:lnTo>
                  <a:pt x="8142" y="1338543"/>
                </a:lnTo>
                <a:lnTo>
                  <a:pt x="0" y="1288033"/>
                </a:lnTo>
                <a:lnTo>
                  <a:pt x="0" y="159765"/>
                </a:lnTo>
                <a:close/>
              </a:path>
            </a:pathLst>
          </a:custGeom>
          <a:ln w="38100">
            <a:solidFill>
              <a:srgbClr val="66DBFF"/>
            </a:solidFill>
          </a:ln>
        </p:spPr>
        <p:txBody>
          <a:bodyPr wrap="square" lIns="0" tIns="0" rIns="0" bIns="0" rtlCol="0"/>
          <a:lstStyle/>
          <a:p>
            <a:endParaRPr sz="2400"/>
          </a:p>
        </p:txBody>
      </p:sp>
      <p:sp>
        <p:nvSpPr>
          <p:cNvPr id="8" name="object 8"/>
          <p:cNvSpPr txBox="1">
            <a:spLocks noGrp="1"/>
          </p:cNvSpPr>
          <p:nvPr>
            <p:ph type="title"/>
          </p:nvPr>
        </p:nvSpPr>
        <p:spPr>
          <a:xfrm>
            <a:off x="9281160" y="1933255"/>
            <a:ext cx="1304713" cy="344475"/>
          </a:xfrm>
          <a:prstGeom prst="rect">
            <a:avLst/>
          </a:prstGeom>
        </p:spPr>
        <p:txBody>
          <a:bodyPr vert="horz" wrap="square" lIns="0" tIns="16087" rIns="0" bIns="0" rtlCol="0" anchor="ctr">
            <a:spAutoFit/>
          </a:bodyPr>
          <a:lstStyle/>
          <a:p>
            <a:pPr marL="16933">
              <a:lnSpc>
                <a:spcPct val="100000"/>
              </a:lnSpc>
              <a:spcBef>
                <a:spcPts val="127"/>
              </a:spcBef>
            </a:pPr>
            <a:r>
              <a:rPr sz="2133" dirty="0"/>
              <a:t>Foreign</a:t>
            </a:r>
            <a:r>
              <a:rPr sz="2133" spc="-40" dirty="0"/>
              <a:t> </a:t>
            </a:r>
            <a:r>
              <a:rPr sz="2133" spc="-33" dirty="0"/>
              <a:t>key</a:t>
            </a:r>
            <a:endParaRPr sz="2133"/>
          </a:p>
        </p:txBody>
      </p:sp>
      <p:graphicFrame>
        <p:nvGraphicFramePr>
          <p:cNvPr id="9" name="object 9"/>
          <p:cNvGraphicFramePr>
            <a:graphicFrameLocks noGrp="1"/>
          </p:cNvGraphicFramePr>
          <p:nvPr/>
        </p:nvGraphicFramePr>
        <p:xfrm>
          <a:off x="8143071" y="4739471"/>
          <a:ext cx="1873673" cy="1522306"/>
        </p:xfrm>
        <a:graphic>
          <a:graphicData uri="http://schemas.openxmlformats.org/drawingml/2006/table">
            <a:tbl>
              <a:tblPr firstRow="1" bandRow="1">
                <a:tableStyleId>{2D5ABB26-0587-4C30-8999-92F81FD0307C}</a:tableStyleId>
              </a:tblPr>
              <a:tblGrid>
                <a:gridCol w="382693">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982980">
                  <a:extLst>
                    <a:ext uri="{9D8B030D-6E8A-4147-A177-3AD203B41FA5}">
                      <a16:colId xmlns:a16="http://schemas.microsoft.com/office/drawing/2014/main" val="20002"/>
                    </a:ext>
                  </a:extLst>
                </a:gridCol>
              </a:tblGrid>
              <a:tr h="254000">
                <a:tc>
                  <a:txBody>
                    <a:bodyPr/>
                    <a:lstStyle/>
                    <a:p>
                      <a:pPr marL="2540" algn="ctr">
                        <a:lnSpc>
                          <a:spcPct val="100000"/>
                        </a:lnSpc>
                        <a:spcBef>
                          <a:spcPts val="135"/>
                        </a:spcBef>
                      </a:pPr>
                      <a:r>
                        <a:rPr sz="1400" spc="-25" dirty="0">
                          <a:latin typeface="Arial MT"/>
                          <a:cs typeface="Arial MT"/>
                        </a:rPr>
                        <a:t>id</a:t>
                      </a:r>
                      <a:endParaRPr sz="14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135"/>
                        </a:spcBef>
                      </a:pPr>
                      <a:r>
                        <a:rPr sz="1400" spc="-20" dirty="0">
                          <a:latin typeface="Arial MT"/>
                          <a:cs typeface="Arial MT"/>
                        </a:rPr>
                        <a:t>name</a:t>
                      </a:r>
                      <a:endParaRPr sz="14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810" algn="ctr">
                        <a:lnSpc>
                          <a:spcPct val="100000"/>
                        </a:lnSpc>
                        <a:spcBef>
                          <a:spcPts val="135"/>
                        </a:spcBef>
                      </a:pPr>
                      <a:r>
                        <a:rPr sz="1400" spc="-20" dirty="0">
                          <a:latin typeface="Arial MT"/>
                          <a:cs typeface="Arial MT"/>
                        </a:rPr>
                        <a:t>city</a:t>
                      </a:r>
                      <a:endParaRPr sz="14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0"/>
                  </a:ext>
                </a:extLst>
              </a:tr>
              <a:tr h="253153">
                <a:tc>
                  <a:txBody>
                    <a:bodyPr/>
                    <a:lstStyle/>
                    <a:p>
                      <a:pPr marL="635" algn="ctr">
                        <a:lnSpc>
                          <a:spcPct val="100000"/>
                        </a:lnSpc>
                        <a:spcBef>
                          <a:spcPts val="345"/>
                        </a:spcBef>
                      </a:pPr>
                      <a:r>
                        <a:rPr sz="900" spc="-50" dirty="0">
                          <a:latin typeface="Arial MT"/>
                          <a:cs typeface="Arial MT"/>
                        </a:rPr>
                        <a:t>1</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900" spc="-10" dirty="0">
                          <a:latin typeface="Arial MT"/>
                          <a:cs typeface="Arial MT"/>
                        </a:rPr>
                        <a:t>Frank</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45"/>
                        </a:spcBef>
                      </a:pPr>
                      <a:r>
                        <a:rPr sz="900" dirty="0">
                          <a:latin typeface="Arial MT"/>
                          <a:cs typeface="Arial MT"/>
                        </a:rPr>
                        <a:t>New</a:t>
                      </a:r>
                      <a:r>
                        <a:rPr sz="900" spc="-15" dirty="0">
                          <a:latin typeface="Arial MT"/>
                          <a:cs typeface="Arial MT"/>
                        </a:rPr>
                        <a:t> </a:t>
                      </a:r>
                      <a:r>
                        <a:rPr sz="900" spc="-20" dirty="0">
                          <a:latin typeface="Arial MT"/>
                          <a:cs typeface="Arial MT"/>
                        </a:rPr>
                        <a:t>York</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marL="635" algn="ctr">
                        <a:lnSpc>
                          <a:spcPct val="100000"/>
                        </a:lnSpc>
                        <a:spcBef>
                          <a:spcPts val="350"/>
                        </a:spcBef>
                      </a:pPr>
                      <a:r>
                        <a:rPr sz="900" spc="-50" dirty="0">
                          <a:latin typeface="Arial MT"/>
                          <a:cs typeface="Arial MT"/>
                        </a:rPr>
                        <a:t>2</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350"/>
                        </a:spcBef>
                      </a:pPr>
                      <a:r>
                        <a:rPr sz="900" spc="-10" dirty="0">
                          <a:latin typeface="Arial MT"/>
                          <a:cs typeface="Arial MT"/>
                        </a:rPr>
                        <a:t>Sarah</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50"/>
                        </a:spcBef>
                      </a:pPr>
                      <a:r>
                        <a:rPr sz="900" spc="-10" dirty="0">
                          <a:latin typeface="Arial MT"/>
                          <a:cs typeface="Arial MT"/>
                        </a:rPr>
                        <a:t>Chicago</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marL="635" algn="ctr">
                        <a:lnSpc>
                          <a:spcPct val="100000"/>
                        </a:lnSpc>
                        <a:spcBef>
                          <a:spcPts val="350"/>
                        </a:spcBef>
                      </a:pPr>
                      <a:r>
                        <a:rPr sz="900" spc="-50" dirty="0">
                          <a:latin typeface="Arial MT"/>
                          <a:cs typeface="Arial MT"/>
                        </a:rPr>
                        <a:t>3</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350"/>
                        </a:spcBef>
                      </a:pPr>
                      <a:r>
                        <a:rPr sz="900" spc="-10" dirty="0">
                          <a:latin typeface="Arial MT"/>
                          <a:cs typeface="Arial MT"/>
                        </a:rPr>
                        <a:t>Sabrina</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50"/>
                        </a:spcBef>
                      </a:pPr>
                      <a:r>
                        <a:rPr sz="900" dirty="0">
                          <a:latin typeface="Arial MT"/>
                          <a:cs typeface="Arial MT"/>
                        </a:rPr>
                        <a:t>New</a:t>
                      </a:r>
                      <a:r>
                        <a:rPr sz="900" spc="-15" dirty="0">
                          <a:latin typeface="Arial MT"/>
                          <a:cs typeface="Arial MT"/>
                        </a:rPr>
                        <a:t> </a:t>
                      </a:r>
                      <a:r>
                        <a:rPr sz="900" spc="-10" dirty="0">
                          <a:latin typeface="Arial MT"/>
                          <a:cs typeface="Arial MT"/>
                        </a:rPr>
                        <a:t>Orleans</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3153">
                <a:tc>
                  <a:txBody>
                    <a:bodyPr/>
                    <a:lstStyle/>
                    <a:p>
                      <a:pPr marL="635" algn="ctr">
                        <a:lnSpc>
                          <a:spcPct val="100000"/>
                        </a:lnSpc>
                        <a:spcBef>
                          <a:spcPts val="350"/>
                        </a:spcBef>
                      </a:pPr>
                      <a:r>
                        <a:rPr sz="900" spc="-50" dirty="0">
                          <a:latin typeface="Arial MT"/>
                          <a:cs typeface="Arial MT"/>
                        </a:rPr>
                        <a:t>4</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350"/>
                        </a:spcBef>
                      </a:pPr>
                      <a:r>
                        <a:rPr sz="900" spc="-20" dirty="0">
                          <a:latin typeface="Arial MT"/>
                          <a:cs typeface="Arial MT"/>
                        </a:rPr>
                        <a:t>Maya</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350"/>
                        </a:spcBef>
                      </a:pPr>
                      <a:r>
                        <a:rPr sz="900" dirty="0">
                          <a:latin typeface="Arial MT"/>
                          <a:cs typeface="Arial MT"/>
                        </a:rPr>
                        <a:t>Los</a:t>
                      </a:r>
                      <a:r>
                        <a:rPr sz="900" spc="-20" dirty="0">
                          <a:latin typeface="Arial MT"/>
                          <a:cs typeface="Arial MT"/>
                        </a:rPr>
                        <a:t> </a:t>
                      </a:r>
                      <a:r>
                        <a:rPr sz="900" spc="-10" dirty="0">
                          <a:latin typeface="Arial MT"/>
                          <a:cs typeface="Arial MT"/>
                        </a:rPr>
                        <a:t>Angelas</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marL="635" algn="ctr">
                        <a:lnSpc>
                          <a:spcPct val="100000"/>
                        </a:lnSpc>
                        <a:spcBef>
                          <a:spcPts val="350"/>
                        </a:spcBef>
                      </a:pPr>
                      <a:r>
                        <a:rPr sz="900" spc="-50" dirty="0">
                          <a:latin typeface="Arial MT"/>
                          <a:cs typeface="Arial MT"/>
                        </a:rPr>
                        <a:t>5</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50"/>
                        </a:spcBef>
                      </a:pPr>
                      <a:r>
                        <a:rPr sz="900" spc="-20" dirty="0">
                          <a:latin typeface="Arial MT"/>
                          <a:cs typeface="Arial MT"/>
                        </a:rPr>
                        <a:t>Marc</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350"/>
                        </a:spcBef>
                      </a:pPr>
                      <a:r>
                        <a:rPr sz="900" spc="-10" dirty="0">
                          <a:latin typeface="Arial MT"/>
                          <a:cs typeface="Arial MT"/>
                        </a:rPr>
                        <a:t>Delas</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sp>
        <p:nvSpPr>
          <p:cNvPr id="10" name="object 10"/>
          <p:cNvSpPr/>
          <p:nvPr/>
        </p:nvSpPr>
        <p:spPr>
          <a:xfrm>
            <a:off x="8237729" y="4312751"/>
            <a:ext cx="1711113" cy="408093"/>
          </a:xfrm>
          <a:custGeom>
            <a:avLst/>
            <a:gdLst/>
            <a:ahLst/>
            <a:cxnLst/>
            <a:rect l="l" t="t" r="r" b="b"/>
            <a:pathLst>
              <a:path w="1283334" h="306070">
                <a:moveTo>
                  <a:pt x="25526" y="224409"/>
                </a:moveTo>
                <a:lnTo>
                  <a:pt x="0" y="305689"/>
                </a:lnTo>
                <a:lnTo>
                  <a:pt x="80263" y="277241"/>
                </a:lnTo>
                <a:lnTo>
                  <a:pt x="67106" y="264541"/>
                </a:lnTo>
                <a:lnTo>
                  <a:pt x="48387" y="264541"/>
                </a:lnTo>
                <a:lnTo>
                  <a:pt x="39577" y="255212"/>
                </a:lnTo>
                <a:lnTo>
                  <a:pt x="39943" y="255212"/>
                </a:lnTo>
                <a:lnTo>
                  <a:pt x="48741" y="246815"/>
                </a:lnTo>
                <a:lnTo>
                  <a:pt x="25526" y="224409"/>
                </a:lnTo>
                <a:close/>
              </a:path>
              <a:path w="1283334" h="306070">
                <a:moveTo>
                  <a:pt x="48741" y="246815"/>
                </a:moveTo>
                <a:lnTo>
                  <a:pt x="39943" y="255212"/>
                </a:lnTo>
                <a:lnTo>
                  <a:pt x="39577" y="255212"/>
                </a:lnTo>
                <a:lnTo>
                  <a:pt x="48387" y="264541"/>
                </a:lnTo>
                <a:lnTo>
                  <a:pt x="57864" y="255621"/>
                </a:lnTo>
                <a:lnTo>
                  <a:pt x="48741" y="246815"/>
                </a:lnTo>
                <a:close/>
              </a:path>
              <a:path w="1283334" h="306070">
                <a:moveTo>
                  <a:pt x="57864" y="255621"/>
                </a:moveTo>
                <a:lnTo>
                  <a:pt x="48387" y="264541"/>
                </a:lnTo>
                <a:lnTo>
                  <a:pt x="67106" y="264541"/>
                </a:lnTo>
                <a:lnTo>
                  <a:pt x="57864" y="255621"/>
                </a:lnTo>
                <a:close/>
              </a:path>
              <a:path w="1283334" h="306070">
                <a:moveTo>
                  <a:pt x="1278889" y="18034"/>
                </a:moveTo>
                <a:lnTo>
                  <a:pt x="1263903" y="18034"/>
                </a:lnTo>
                <a:lnTo>
                  <a:pt x="1257680" y="25018"/>
                </a:lnTo>
                <a:lnTo>
                  <a:pt x="1250442" y="31623"/>
                </a:lnTo>
                <a:lnTo>
                  <a:pt x="1205483" y="57785"/>
                </a:lnTo>
                <a:lnTo>
                  <a:pt x="1156843" y="76581"/>
                </a:lnTo>
                <a:lnTo>
                  <a:pt x="1118488" y="88392"/>
                </a:lnTo>
                <a:lnTo>
                  <a:pt x="1075817" y="99441"/>
                </a:lnTo>
                <a:lnTo>
                  <a:pt x="1029334" y="109728"/>
                </a:lnTo>
                <a:lnTo>
                  <a:pt x="979551" y="118999"/>
                </a:lnTo>
                <a:lnTo>
                  <a:pt x="926973" y="127000"/>
                </a:lnTo>
                <a:lnTo>
                  <a:pt x="872108" y="133985"/>
                </a:lnTo>
                <a:lnTo>
                  <a:pt x="815339" y="139445"/>
                </a:lnTo>
                <a:lnTo>
                  <a:pt x="757047" y="143510"/>
                </a:lnTo>
                <a:lnTo>
                  <a:pt x="697864" y="146050"/>
                </a:lnTo>
                <a:lnTo>
                  <a:pt x="578611" y="147828"/>
                </a:lnTo>
                <a:lnTo>
                  <a:pt x="519175" y="150368"/>
                </a:lnTo>
                <a:lnTo>
                  <a:pt x="460628" y="154431"/>
                </a:lnTo>
                <a:lnTo>
                  <a:pt x="403478" y="160147"/>
                </a:lnTo>
                <a:lnTo>
                  <a:pt x="347242" y="167131"/>
                </a:lnTo>
                <a:lnTo>
                  <a:pt x="295275" y="175132"/>
                </a:lnTo>
                <a:lnTo>
                  <a:pt x="244982" y="184404"/>
                </a:lnTo>
                <a:lnTo>
                  <a:pt x="198119" y="194691"/>
                </a:lnTo>
                <a:lnTo>
                  <a:pt x="154939" y="205994"/>
                </a:lnTo>
                <a:lnTo>
                  <a:pt x="115950" y="217931"/>
                </a:lnTo>
                <a:lnTo>
                  <a:pt x="66166" y="237236"/>
                </a:lnTo>
                <a:lnTo>
                  <a:pt x="48741" y="246815"/>
                </a:lnTo>
                <a:lnTo>
                  <a:pt x="57864" y="255621"/>
                </a:lnTo>
                <a:lnTo>
                  <a:pt x="57528" y="255621"/>
                </a:lnTo>
                <a:lnTo>
                  <a:pt x="59181" y="254381"/>
                </a:lnTo>
                <a:lnTo>
                  <a:pt x="60009" y="254381"/>
                </a:lnTo>
                <a:lnTo>
                  <a:pt x="71246" y="248919"/>
                </a:lnTo>
                <a:lnTo>
                  <a:pt x="119761" y="229997"/>
                </a:lnTo>
                <a:lnTo>
                  <a:pt x="158241" y="218186"/>
                </a:lnTo>
                <a:lnTo>
                  <a:pt x="200913" y="207137"/>
                </a:lnTo>
                <a:lnTo>
                  <a:pt x="247395" y="196850"/>
                </a:lnTo>
                <a:lnTo>
                  <a:pt x="297179" y="187706"/>
                </a:lnTo>
                <a:lnTo>
                  <a:pt x="349757" y="179578"/>
                </a:lnTo>
                <a:lnTo>
                  <a:pt x="404622" y="172719"/>
                </a:lnTo>
                <a:lnTo>
                  <a:pt x="461518" y="167131"/>
                </a:lnTo>
                <a:lnTo>
                  <a:pt x="519683" y="163068"/>
                </a:lnTo>
                <a:lnTo>
                  <a:pt x="578738" y="160528"/>
                </a:lnTo>
                <a:lnTo>
                  <a:pt x="698500" y="158750"/>
                </a:lnTo>
                <a:lnTo>
                  <a:pt x="757935" y="156210"/>
                </a:lnTo>
                <a:lnTo>
                  <a:pt x="816482" y="152145"/>
                </a:lnTo>
                <a:lnTo>
                  <a:pt x="873632" y="146557"/>
                </a:lnTo>
                <a:lnTo>
                  <a:pt x="928877" y="139573"/>
                </a:lnTo>
                <a:lnTo>
                  <a:pt x="981836" y="131444"/>
                </a:lnTo>
                <a:lnTo>
                  <a:pt x="1032001" y="122174"/>
                </a:lnTo>
                <a:lnTo>
                  <a:pt x="1078864" y="111887"/>
                </a:lnTo>
                <a:lnTo>
                  <a:pt x="1122045" y="100584"/>
                </a:lnTo>
                <a:lnTo>
                  <a:pt x="1161160" y="88645"/>
                </a:lnTo>
                <a:lnTo>
                  <a:pt x="1210818" y="69214"/>
                </a:lnTo>
                <a:lnTo>
                  <a:pt x="1249045" y="48387"/>
                </a:lnTo>
                <a:lnTo>
                  <a:pt x="1273555" y="26162"/>
                </a:lnTo>
                <a:lnTo>
                  <a:pt x="1273809" y="25907"/>
                </a:lnTo>
                <a:lnTo>
                  <a:pt x="1273936" y="25654"/>
                </a:lnTo>
                <a:lnTo>
                  <a:pt x="1278762" y="18287"/>
                </a:lnTo>
                <a:lnTo>
                  <a:pt x="1278889" y="18034"/>
                </a:lnTo>
                <a:close/>
              </a:path>
              <a:path w="1283334" h="306070">
                <a:moveTo>
                  <a:pt x="59181" y="254381"/>
                </a:moveTo>
                <a:lnTo>
                  <a:pt x="57528" y="255621"/>
                </a:lnTo>
                <a:lnTo>
                  <a:pt x="58298" y="255212"/>
                </a:lnTo>
                <a:lnTo>
                  <a:pt x="59181" y="254381"/>
                </a:lnTo>
                <a:close/>
              </a:path>
              <a:path w="1283334" h="306070">
                <a:moveTo>
                  <a:pt x="58298" y="255212"/>
                </a:moveTo>
                <a:lnTo>
                  <a:pt x="57458" y="255621"/>
                </a:lnTo>
                <a:lnTo>
                  <a:pt x="57864" y="255621"/>
                </a:lnTo>
                <a:lnTo>
                  <a:pt x="58298" y="255212"/>
                </a:lnTo>
                <a:close/>
              </a:path>
              <a:path w="1283334" h="306070">
                <a:moveTo>
                  <a:pt x="60009" y="254381"/>
                </a:moveTo>
                <a:lnTo>
                  <a:pt x="59181" y="254381"/>
                </a:lnTo>
                <a:lnTo>
                  <a:pt x="58298" y="255212"/>
                </a:lnTo>
                <a:lnTo>
                  <a:pt x="60009" y="254381"/>
                </a:lnTo>
                <a:close/>
              </a:path>
              <a:path w="1283334" h="306070">
                <a:moveTo>
                  <a:pt x="1281287" y="11684"/>
                </a:moveTo>
                <a:lnTo>
                  <a:pt x="1267840" y="11684"/>
                </a:lnTo>
                <a:lnTo>
                  <a:pt x="1267460" y="12276"/>
                </a:lnTo>
                <a:lnTo>
                  <a:pt x="1267205" y="12954"/>
                </a:lnTo>
                <a:lnTo>
                  <a:pt x="1267024" y="12954"/>
                </a:lnTo>
                <a:lnTo>
                  <a:pt x="1263595" y="18287"/>
                </a:lnTo>
                <a:lnTo>
                  <a:pt x="1263903" y="18034"/>
                </a:lnTo>
                <a:lnTo>
                  <a:pt x="1278889" y="18034"/>
                </a:lnTo>
                <a:lnTo>
                  <a:pt x="1279017" y="17780"/>
                </a:lnTo>
                <a:lnTo>
                  <a:pt x="1279144" y="17399"/>
                </a:lnTo>
                <a:lnTo>
                  <a:pt x="1280810" y="12954"/>
                </a:lnTo>
                <a:lnTo>
                  <a:pt x="1267205" y="12954"/>
                </a:lnTo>
                <a:lnTo>
                  <a:pt x="1267544" y="12276"/>
                </a:lnTo>
                <a:lnTo>
                  <a:pt x="1281064" y="12276"/>
                </a:lnTo>
                <a:lnTo>
                  <a:pt x="1281287" y="11684"/>
                </a:lnTo>
                <a:close/>
              </a:path>
              <a:path w="1283334" h="306070">
                <a:moveTo>
                  <a:pt x="1270507" y="0"/>
                </a:moveTo>
                <a:lnTo>
                  <a:pt x="1270289" y="1778"/>
                </a:lnTo>
                <a:lnTo>
                  <a:pt x="1269873" y="5842"/>
                </a:lnTo>
                <a:lnTo>
                  <a:pt x="1269750" y="6168"/>
                </a:lnTo>
                <a:lnTo>
                  <a:pt x="1269619" y="7238"/>
                </a:lnTo>
                <a:lnTo>
                  <a:pt x="1269349" y="7238"/>
                </a:lnTo>
                <a:lnTo>
                  <a:pt x="1267460" y="12276"/>
                </a:lnTo>
                <a:lnTo>
                  <a:pt x="1267840" y="11684"/>
                </a:lnTo>
                <a:lnTo>
                  <a:pt x="1281287" y="11684"/>
                </a:lnTo>
                <a:lnTo>
                  <a:pt x="1281810" y="10287"/>
                </a:lnTo>
                <a:lnTo>
                  <a:pt x="1281937" y="9779"/>
                </a:lnTo>
                <a:lnTo>
                  <a:pt x="1282064" y="9398"/>
                </a:lnTo>
                <a:lnTo>
                  <a:pt x="1282192" y="8889"/>
                </a:lnTo>
                <a:lnTo>
                  <a:pt x="1282398" y="7238"/>
                </a:lnTo>
                <a:lnTo>
                  <a:pt x="1269619" y="7238"/>
                </a:lnTo>
                <a:lnTo>
                  <a:pt x="1269813" y="6168"/>
                </a:lnTo>
                <a:lnTo>
                  <a:pt x="1282532" y="6168"/>
                </a:lnTo>
                <a:lnTo>
                  <a:pt x="1283080" y="1778"/>
                </a:lnTo>
                <a:lnTo>
                  <a:pt x="1270507" y="0"/>
                </a:lnTo>
                <a:close/>
              </a:path>
            </a:pathLst>
          </a:custGeom>
          <a:solidFill>
            <a:srgbClr val="00C2FF"/>
          </a:solidFill>
        </p:spPr>
        <p:txBody>
          <a:bodyPr wrap="square" lIns="0" tIns="0" rIns="0" bIns="0" rtlCol="0"/>
          <a:lstStyle/>
          <a:p>
            <a:endParaRPr sz="2400"/>
          </a:p>
        </p:txBody>
      </p:sp>
      <p:grpSp>
        <p:nvGrpSpPr>
          <p:cNvPr id="11" name="object 11"/>
          <p:cNvGrpSpPr/>
          <p:nvPr/>
        </p:nvGrpSpPr>
        <p:grpSpPr>
          <a:xfrm>
            <a:off x="1353311" y="2391680"/>
            <a:ext cx="5698067" cy="2853267"/>
            <a:chOff x="1014983" y="1793760"/>
            <a:chExt cx="4273550" cy="2139950"/>
          </a:xfrm>
        </p:grpSpPr>
        <p:pic>
          <p:nvPicPr>
            <p:cNvPr id="12" name="object 12"/>
            <p:cNvPicPr/>
            <p:nvPr/>
          </p:nvPicPr>
          <p:blipFill>
            <a:blip r:embed="rId2" cstate="print"/>
            <a:stretch>
              <a:fillRect/>
            </a:stretch>
          </p:blipFill>
          <p:spPr>
            <a:xfrm>
              <a:off x="1019555" y="1793760"/>
              <a:ext cx="4258056" cy="2139696"/>
            </a:xfrm>
            <a:prstGeom prst="rect">
              <a:avLst/>
            </a:prstGeom>
          </p:spPr>
        </p:pic>
        <p:pic>
          <p:nvPicPr>
            <p:cNvPr id="13" name="object 13"/>
            <p:cNvPicPr/>
            <p:nvPr/>
          </p:nvPicPr>
          <p:blipFill>
            <a:blip r:embed="rId3" cstate="print"/>
            <a:stretch>
              <a:fillRect/>
            </a:stretch>
          </p:blipFill>
          <p:spPr>
            <a:xfrm>
              <a:off x="1014983" y="1911095"/>
              <a:ext cx="4273296" cy="1734312"/>
            </a:xfrm>
            <a:prstGeom prst="rect">
              <a:avLst/>
            </a:prstGeom>
          </p:spPr>
        </p:pic>
        <p:sp>
          <p:nvSpPr>
            <p:cNvPr id="14" name="object 14"/>
            <p:cNvSpPr/>
            <p:nvPr/>
          </p:nvSpPr>
          <p:spPr>
            <a:xfrm>
              <a:off x="1066799" y="1818131"/>
              <a:ext cx="4168140" cy="2049780"/>
            </a:xfrm>
            <a:custGeom>
              <a:avLst/>
              <a:gdLst/>
              <a:ahLst/>
              <a:cxnLst/>
              <a:rect l="l" t="t" r="r" b="b"/>
              <a:pathLst>
                <a:path w="4168140" h="2049779">
                  <a:moveTo>
                    <a:pt x="4168140" y="0"/>
                  </a:moveTo>
                  <a:lnTo>
                    <a:pt x="0" y="0"/>
                  </a:lnTo>
                  <a:lnTo>
                    <a:pt x="0" y="2049780"/>
                  </a:lnTo>
                  <a:lnTo>
                    <a:pt x="4168140" y="2049780"/>
                  </a:lnTo>
                  <a:lnTo>
                    <a:pt x="4168140" y="0"/>
                  </a:lnTo>
                  <a:close/>
                </a:path>
              </a:pathLst>
            </a:custGeom>
            <a:solidFill>
              <a:srgbClr val="404040"/>
            </a:solidFill>
          </p:spPr>
          <p:txBody>
            <a:bodyPr wrap="square" lIns="0" tIns="0" rIns="0" bIns="0" rtlCol="0"/>
            <a:lstStyle/>
            <a:p>
              <a:endParaRPr sz="2400"/>
            </a:p>
          </p:txBody>
        </p:sp>
        <p:sp>
          <p:nvSpPr>
            <p:cNvPr id="15" name="object 15"/>
            <p:cNvSpPr/>
            <p:nvPr/>
          </p:nvSpPr>
          <p:spPr>
            <a:xfrm>
              <a:off x="1066799" y="1818131"/>
              <a:ext cx="4168140" cy="2049780"/>
            </a:xfrm>
            <a:custGeom>
              <a:avLst/>
              <a:gdLst/>
              <a:ahLst/>
              <a:cxnLst/>
              <a:rect l="l" t="t" r="r" b="b"/>
              <a:pathLst>
                <a:path w="4168140" h="2049779">
                  <a:moveTo>
                    <a:pt x="0" y="2049780"/>
                  </a:moveTo>
                  <a:lnTo>
                    <a:pt x="4168140" y="2049780"/>
                  </a:lnTo>
                  <a:lnTo>
                    <a:pt x="4168140" y="0"/>
                  </a:lnTo>
                  <a:lnTo>
                    <a:pt x="0" y="0"/>
                  </a:lnTo>
                  <a:lnTo>
                    <a:pt x="0" y="2049780"/>
                  </a:lnTo>
                  <a:close/>
                </a:path>
              </a:pathLst>
            </a:custGeom>
            <a:ln w="9144">
              <a:solidFill>
                <a:srgbClr val="373737"/>
              </a:solidFill>
            </a:ln>
          </p:spPr>
          <p:txBody>
            <a:bodyPr wrap="square" lIns="0" tIns="0" rIns="0" bIns="0" rtlCol="0"/>
            <a:lstStyle/>
            <a:p>
              <a:endParaRPr sz="2400"/>
            </a:p>
          </p:txBody>
        </p:sp>
      </p:grpSp>
      <p:sp>
        <p:nvSpPr>
          <p:cNvPr id="16" name="object 16"/>
          <p:cNvSpPr txBox="1"/>
          <p:nvPr/>
        </p:nvSpPr>
        <p:spPr>
          <a:xfrm>
            <a:off x="1544725" y="2471048"/>
            <a:ext cx="5328072" cy="2161596"/>
          </a:xfrm>
          <a:prstGeom prst="rect">
            <a:avLst/>
          </a:prstGeom>
        </p:spPr>
        <p:txBody>
          <a:bodyPr vert="horz" wrap="square" lIns="0" tIns="159173" rIns="0" bIns="0" rtlCol="0">
            <a:spAutoFit/>
          </a:bodyPr>
          <a:lstStyle/>
          <a:p>
            <a:pPr marL="456342" indent="-456342">
              <a:spcBef>
                <a:spcPts val="1253"/>
              </a:spcBef>
              <a:buFont typeface="Courier New"/>
              <a:buChar char="o"/>
              <a:tabLst>
                <a:tab pos="456342" algn="l"/>
              </a:tabLst>
            </a:pPr>
            <a:r>
              <a:rPr sz="1867" dirty="0">
                <a:solidFill>
                  <a:srgbClr val="FFFFFF"/>
                </a:solidFill>
                <a:latin typeface="Calibri"/>
                <a:cs typeface="Calibri"/>
              </a:rPr>
              <a:t>70s</a:t>
            </a:r>
            <a:r>
              <a:rPr sz="1867" spc="-40" dirty="0">
                <a:solidFill>
                  <a:srgbClr val="FFFFFF"/>
                </a:solidFill>
                <a:latin typeface="Calibri"/>
                <a:cs typeface="Calibri"/>
              </a:rPr>
              <a:t> </a:t>
            </a:r>
            <a:r>
              <a:rPr sz="1867" dirty="0">
                <a:solidFill>
                  <a:srgbClr val="FFFFFF"/>
                </a:solidFill>
                <a:latin typeface="Calibri"/>
                <a:cs typeface="Calibri"/>
              </a:rPr>
              <a:t>to</a:t>
            </a:r>
            <a:r>
              <a:rPr sz="1867" spc="-40" dirty="0">
                <a:solidFill>
                  <a:srgbClr val="FFFFFF"/>
                </a:solidFill>
                <a:latin typeface="Calibri"/>
                <a:cs typeface="Calibri"/>
              </a:rPr>
              <a:t> </a:t>
            </a:r>
            <a:r>
              <a:rPr sz="1867" dirty="0">
                <a:solidFill>
                  <a:srgbClr val="FFFFFF"/>
                </a:solidFill>
                <a:latin typeface="Calibri"/>
                <a:cs typeface="Calibri"/>
              </a:rPr>
              <a:t>90s</a:t>
            </a:r>
            <a:r>
              <a:rPr sz="1867" spc="-47" dirty="0">
                <a:solidFill>
                  <a:srgbClr val="FFFFFF"/>
                </a:solidFill>
                <a:latin typeface="Calibri"/>
                <a:cs typeface="Calibri"/>
              </a:rPr>
              <a:t> </a:t>
            </a:r>
            <a:r>
              <a:rPr sz="1867" dirty="0">
                <a:solidFill>
                  <a:srgbClr val="FFFFFF"/>
                </a:solidFill>
                <a:latin typeface="Calibri"/>
                <a:cs typeface="Calibri"/>
              </a:rPr>
              <a:t>building</a:t>
            </a:r>
            <a:r>
              <a:rPr sz="1867" spc="-7" dirty="0">
                <a:solidFill>
                  <a:srgbClr val="FFFFFF"/>
                </a:solidFill>
                <a:latin typeface="Calibri"/>
                <a:cs typeface="Calibri"/>
              </a:rPr>
              <a:t> </a:t>
            </a:r>
            <a:r>
              <a:rPr sz="1867" dirty="0">
                <a:solidFill>
                  <a:srgbClr val="FFFFFF"/>
                </a:solidFill>
                <a:latin typeface="Calibri"/>
                <a:cs typeface="Calibri"/>
              </a:rPr>
              <a:t>logic</a:t>
            </a:r>
            <a:r>
              <a:rPr sz="1867" spc="-60" dirty="0">
                <a:solidFill>
                  <a:srgbClr val="FFFFFF"/>
                </a:solidFill>
                <a:latin typeface="Calibri"/>
                <a:cs typeface="Calibri"/>
              </a:rPr>
              <a:t> </a:t>
            </a:r>
            <a:r>
              <a:rPr sz="1867" dirty="0">
                <a:solidFill>
                  <a:srgbClr val="FFFFFF"/>
                </a:solidFill>
                <a:latin typeface="Calibri"/>
                <a:cs typeface="Calibri"/>
              </a:rPr>
              <a:t>&amp;</a:t>
            </a:r>
            <a:r>
              <a:rPr sz="1867" spc="-60" dirty="0">
                <a:solidFill>
                  <a:srgbClr val="FFFFFF"/>
                </a:solidFill>
                <a:latin typeface="Calibri"/>
                <a:cs typeface="Calibri"/>
              </a:rPr>
              <a:t> </a:t>
            </a:r>
            <a:r>
              <a:rPr sz="1867" dirty="0">
                <a:solidFill>
                  <a:srgbClr val="FFFFFF"/>
                </a:solidFill>
                <a:latin typeface="Calibri"/>
                <a:cs typeface="Calibri"/>
              </a:rPr>
              <a:t>improving</a:t>
            </a:r>
            <a:r>
              <a:rPr sz="1867" spc="-53" dirty="0">
                <a:solidFill>
                  <a:srgbClr val="FFFFFF"/>
                </a:solidFill>
                <a:latin typeface="Calibri"/>
                <a:cs typeface="Calibri"/>
              </a:rPr>
              <a:t> </a:t>
            </a:r>
            <a:r>
              <a:rPr sz="1867" spc="-13" dirty="0">
                <a:solidFill>
                  <a:srgbClr val="FFFFFF"/>
                </a:solidFill>
                <a:latin typeface="Calibri"/>
                <a:cs typeface="Calibri"/>
              </a:rPr>
              <a:t>performance</a:t>
            </a:r>
            <a:endParaRPr sz="1867">
              <a:latin typeface="Calibri"/>
              <a:cs typeface="Calibri"/>
            </a:endParaRPr>
          </a:p>
          <a:p>
            <a:pPr marL="456342" indent="-456342">
              <a:spcBef>
                <a:spcPts val="1120"/>
              </a:spcBef>
              <a:buFont typeface="Courier New"/>
              <a:buChar char="o"/>
              <a:tabLst>
                <a:tab pos="456342" algn="l"/>
              </a:tabLst>
            </a:pPr>
            <a:r>
              <a:rPr sz="1867" dirty="0">
                <a:solidFill>
                  <a:srgbClr val="FFFFFF"/>
                </a:solidFill>
                <a:latin typeface="Calibri"/>
                <a:cs typeface="Calibri"/>
              </a:rPr>
              <a:t>Operational</a:t>
            </a:r>
            <a:r>
              <a:rPr sz="1867" spc="-53" dirty="0">
                <a:solidFill>
                  <a:srgbClr val="FFFFFF"/>
                </a:solidFill>
                <a:latin typeface="Calibri"/>
                <a:cs typeface="Calibri"/>
              </a:rPr>
              <a:t> </a:t>
            </a:r>
            <a:r>
              <a:rPr sz="1867" dirty="0">
                <a:solidFill>
                  <a:srgbClr val="FFFFFF"/>
                </a:solidFill>
                <a:latin typeface="Calibri"/>
                <a:cs typeface="Calibri"/>
              </a:rPr>
              <a:t>systems:</a:t>
            </a:r>
            <a:r>
              <a:rPr sz="1867" spc="-60" dirty="0">
                <a:solidFill>
                  <a:srgbClr val="FFFFFF"/>
                </a:solidFill>
                <a:latin typeface="Calibri"/>
                <a:cs typeface="Calibri"/>
              </a:rPr>
              <a:t> </a:t>
            </a:r>
            <a:r>
              <a:rPr sz="1867" dirty="0">
                <a:solidFill>
                  <a:srgbClr val="0092BE"/>
                </a:solidFill>
                <a:latin typeface="Calibri"/>
                <a:cs typeface="Calibri"/>
              </a:rPr>
              <a:t>1</a:t>
            </a:r>
            <a:r>
              <a:rPr sz="1867" spc="-67" dirty="0">
                <a:solidFill>
                  <a:srgbClr val="0092BE"/>
                </a:solidFill>
                <a:latin typeface="Calibri"/>
                <a:cs typeface="Calibri"/>
              </a:rPr>
              <a:t> </a:t>
            </a:r>
            <a:r>
              <a:rPr sz="1867" spc="-27" dirty="0">
                <a:solidFill>
                  <a:srgbClr val="0092BE"/>
                </a:solidFill>
                <a:latin typeface="Calibri"/>
                <a:cs typeface="Calibri"/>
              </a:rPr>
              <a:t>table</a:t>
            </a:r>
            <a:endParaRPr sz="1867">
              <a:latin typeface="Calibri"/>
              <a:cs typeface="Calibri"/>
            </a:endParaRPr>
          </a:p>
          <a:p>
            <a:pPr marL="456342">
              <a:spcBef>
                <a:spcPts val="1120"/>
              </a:spcBef>
              <a:tabLst>
                <a:tab pos="2544170" algn="l"/>
              </a:tabLst>
            </a:pPr>
            <a:r>
              <a:rPr sz="1867" dirty="0">
                <a:solidFill>
                  <a:srgbClr val="FFFFFF"/>
                </a:solidFill>
                <a:latin typeface="Calibri"/>
                <a:cs typeface="Calibri"/>
              </a:rPr>
              <a:t>OLAP</a:t>
            </a:r>
            <a:r>
              <a:rPr sz="1867" spc="-20" dirty="0">
                <a:solidFill>
                  <a:srgbClr val="FFFFFF"/>
                </a:solidFill>
                <a:latin typeface="Calibri"/>
                <a:cs typeface="Calibri"/>
              </a:rPr>
              <a:t> </a:t>
            </a:r>
            <a:r>
              <a:rPr sz="1867" dirty="0">
                <a:solidFill>
                  <a:srgbClr val="FFFFFF"/>
                </a:solidFill>
                <a:latin typeface="Calibri"/>
                <a:cs typeface="Calibri"/>
              </a:rPr>
              <a:t>/</a:t>
            </a:r>
            <a:r>
              <a:rPr sz="1867" spc="-20" dirty="0">
                <a:solidFill>
                  <a:srgbClr val="FFFFFF"/>
                </a:solidFill>
                <a:latin typeface="Calibri"/>
                <a:cs typeface="Calibri"/>
              </a:rPr>
              <a:t> </a:t>
            </a:r>
            <a:r>
              <a:rPr sz="1867" spc="-13" dirty="0">
                <a:solidFill>
                  <a:srgbClr val="FFFFFF"/>
                </a:solidFill>
                <a:latin typeface="Calibri"/>
                <a:cs typeface="Calibri"/>
              </a:rPr>
              <a:t>Analysis:</a:t>
            </a:r>
            <a:r>
              <a:rPr sz="1867" dirty="0">
                <a:solidFill>
                  <a:srgbClr val="FFFFFF"/>
                </a:solidFill>
                <a:latin typeface="Calibri"/>
                <a:cs typeface="Calibri"/>
              </a:rPr>
              <a:t>	</a:t>
            </a:r>
            <a:r>
              <a:rPr sz="1867" dirty="0">
                <a:solidFill>
                  <a:srgbClr val="0092BE"/>
                </a:solidFill>
                <a:latin typeface="Calibri"/>
                <a:cs typeface="Calibri"/>
              </a:rPr>
              <a:t>multiple</a:t>
            </a:r>
            <a:r>
              <a:rPr sz="1867" spc="-73" dirty="0">
                <a:solidFill>
                  <a:srgbClr val="0092BE"/>
                </a:solidFill>
                <a:latin typeface="Calibri"/>
                <a:cs typeface="Calibri"/>
              </a:rPr>
              <a:t> </a:t>
            </a:r>
            <a:r>
              <a:rPr sz="1867" dirty="0">
                <a:solidFill>
                  <a:srgbClr val="0092BE"/>
                </a:solidFill>
                <a:latin typeface="Calibri"/>
                <a:cs typeface="Calibri"/>
              </a:rPr>
              <a:t>tables</a:t>
            </a:r>
            <a:r>
              <a:rPr sz="1867" spc="-73" dirty="0">
                <a:solidFill>
                  <a:srgbClr val="0092BE"/>
                </a:solidFill>
                <a:latin typeface="Calibri"/>
                <a:cs typeface="Calibri"/>
              </a:rPr>
              <a:t> </a:t>
            </a:r>
            <a:r>
              <a:rPr sz="1867" spc="-13" dirty="0">
                <a:solidFill>
                  <a:srgbClr val="FFFFFF"/>
                </a:solidFill>
                <a:latin typeface="Calibri"/>
                <a:cs typeface="Calibri"/>
              </a:rPr>
              <a:t>(context)</a:t>
            </a:r>
            <a:endParaRPr sz="1867">
              <a:latin typeface="Calibri"/>
              <a:cs typeface="Calibri"/>
            </a:endParaRPr>
          </a:p>
          <a:p>
            <a:pPr>
              <a:spcBef>
                <a:spcPts val="2200"/>
              </a:spcBef>
            </a:pPr>
            <a:endParaRPr sz="1867">
              <a:latin typeface="Calibri"/>
              <a:cs typeface="Calibri"/>
            </a:endParaRPr>
          </a:p>
          <a:p>
            <a:pPr marL="1218323"/>
            <a:r>
              <a:rPr sz="1867" i="1" dirty="0">
                <a:solidFill>
                  <a:srgbClr val="FFFFFF"/>
                </a:solidFill>
                <a:latin typeface="Calibri"/>
                <a:cs typeface="Calibri"/>
              </a:rPr>
              <a:t>Rise</a:t>
            </a:r>
            <a:r>
              <a:rPr sz="1867" i="1" spc="-33" dirty="0">
                <a:solidFill>
                  <a:srgbClr val="FFFFFF"/>
                </a:solidFill>
                <a:latin typeface="Calibri"/>
                <a:cs typeface="Calibri"/>
              </a:rPr>
              <a:t> </a:t>
            </a:r>
            <a:r>
              <a:rPr sz="1867" i="1" dirty="0">
                <a:solidFill>
                  <a:srgbClr val="FFFFFF"/>
                </a:solidFill>
                <a:latin typeface="Calibri"/>
                <a:cs typeface="Calibri"/>
              </a:rPr>
              <a:t>of</a:t>
            </a:r>
            <a:r>
              <a:rPr sz="1867" i="1" spc="373" dirty="0">
                <a:solidFill>
                  <a:srgbClr val="FFFFFF"/>
                </a:solidFill>
                <a:latin typeface="Calibri"/>
                <a:cs typeface="Calibri"/>
              </a:rPr>
              <a:t> </a:t>
            </a:r>
            <a:r>
              <a:rPr sz="1867" i="1" dirty="0">
                <a:solidFill>
                  <a:srgbClr val="FFFFFF"/>
                </a:solidFill>
                <a:latin typeface="Calibri"/>
                <a:cs typeface="Calibri"/>
              </a:rPr>
              <a:t>RD</a:t>
            </a:r>
            <a:r>
              <a:rPr sz="1867" i="1" spc="-33" dirty="0">
                <a:solidFill>
                  <a:srgbClr val="FFFFFF"/>
                </a:solidFill>
                <a:latin typeface="Calibri"/>
                <a:cs typeface="Calibri"/>
              </a:rPr>
              <a:t> </a:t>
            </a:r>
            <a:r>
              <a:rPr sz="1867" i="1" dirty="0">
                <a:solidFill>
                  <a:srgbClr val="FFFFFF"/>
                </a:solidFill>
                <a:latin typeface="Calibri"/>
                <a:cs typeface="Calibri"/>
              </a:rPr>
              <a:t>=&gt;</a:t>
            </a:r>
            <a:r>
              <a:rPr sz="1867" i="1" spc="-7" dirty="0">
                <a:solidFill>
                  <a:srgbClr val="FFFFFF"/>
                </a:solidFill>
                <a:latin typeface="Calibri"/>
                <a:cs typeface="Calibri"/>
              </a:rPr>
              <a:t> </a:t>
            </a:r>
            <a:r>
              <a:rPr sz="1867" i="1" dirty="0">
                <a:solidFill>
                  <a:srgbClr val="FFFFFF"/>
                </a:solidFill>
                <a:latin typeface="Calibri"/>
                <a:cs typeface="Calibri"/>
              </a:rPr>
              <a:t>rise</a:t>
            </a:r>
            <a:r>
              <a:rPr sz="1867" i="1" spc="-47" dirty="0">
                <a:solidFill>
                  <a:srgbClr val="FFFFFF"/>
                </a:solidFill>
                <a:latin typeface="Calibri"/>
                <a:cs typeface="Calibri"/>
              </a:rPr>
              <a:t> </a:t>
            </a:r>
            <a:r>
              <a:rPr sz="1867" i="1" dirty="0">
                <a:solidFill>
                  <a:srgbClr val="FFFFFF"/>
                </a:solidFill>
                <a:latin typeface="Calibri"/>
                <a:cs typeface="Calibri"/>
              </a:rPr>
              <a:t>of</a:t>
            </a:r>
            <a:r>
              <a:rPr sz="1867" i="1" spc="-27" dirty="0">
                <a:solidFill>
                  <a:srgbClr val="FFFFFF"/>
                </a:solidFill>
                <a:latin typeface="Calibri"/>
                <a:cs typeface="Calibri"/>
              </a:rPr>
              <a:t> </a:t>
            </a:r>
            <a:r>
              <a:rPr sz="1867" i="1" dirty="0">
                <a:solidFill>
                  <a:srgbClr val="FFFFFF"/>
                </a:solidFill>
                <a:latin typeface="Calibri"/>
                <a:cs typeface="Calibri"/>
              </a:rPr>
              <a:t>OLAP</a:t>
            </a:r>
            <a:r>
              <a:rPr sz="1867" i="1" spc="-20" dirty="0">
                <a:solidFill>
                  <a:srgbClr val="FFFFFF"/>
                </a:solidFill>
                <a:latin typeface="Calibri"/>
                <a:cs typeface="Calibri"/>
              </a:rPr>
              <a:t> </a:t>
            </a:r>
            <a:r>
              <a:rPr sz="1867" i="1" dirty="0">
                <a:solidFill>
                  <a:srgbClr val="FFFFFF"/>
                </a:solidFill>
                <a:latin typeface="Calibri"/>
                <a:cs typeface="Calibri"/>
              </a:rPr>
              <a:t>/</a:t>
            </a:r>
            <a:r>
              <a:rPr sz="1867" i="1" spc="-33" dirty="0">
                <a:solidFill>
                  <a:srgbClr val="FFFFFF"/>
                </a:solidFill>
                <a:latin typeface="Calibri"/>
                <a:cs typeface="Calibri"/>
              </a:rPr>
              <a:t> DWH</a:t>
            </a:r>
            <a:endParaRPr sz="1867">
              <a:latin typeface="Calibri"/>
              <a:cs typeface="Calibri"/>
            </a:endParaRPr>
          </a:p>
        </p:txBody>
      </p:sp>
      <p:sp>
        <p:nvSpPr>
          <p:cNvPr id="17" name="TextBox 16">
            <a:extLst>
              <a:ext uri="{FF2B5EF4-FFF2-40B4-BE49-F238E27FC236}">
                <a16:creationId xmlns:a16="http://schemas.microsoft.com/office/drawing/2014/main" id="{1D849A52-1DBF-297C-7A5D-F57CD47F2F02}"/>
              </a:ext>
            </a:extLst>
          </p:cNvPr>
          <p:cNvSpPr txBox="1"/>
          <p:nvPr/>
        </p:nvSpPr>
        <p:spPr>
          <a:xfrm>
            <a:off x="3047172" y="226398"/>
            <a:ext cx="6097656" cy="769441"/>
          </a:xfrm>
          <a:prstGeom prst="rect">
            <a:avLst/>
          </a:prstGeom>
          <a:noFill/>
        </p:spPr>
        <p:txBody>
          <a:bodyPr wrap="square">
            <a:spAutoFit/>
          </a:bodyPr>
          <a:lstStyle/>
          <a:p>
            <a:pPr algn="ctr"/>
            <a:r>
              <a:rPr lang="en-IN" sz="4400" dirty="0">
                <a:solidFill>
                  <a:schemeClr val="bg1"/>
                </a:solidFill>
                <a:latin typeface="+mn-lt"/>
              </a:rPr>
              <a:t>Relational</a:t>
            </a:r>
            <a:r>
              <a:rPr lang="en-IN" sz="4400" spc="-27" dirty="0">
                <a:solidFill>
                  <a:schemeClr val="bg1"/>
                </a:solidFill>
                <a:latin typeface="+mn-lt"/>
              </a:rPr>
              <a:t> </a:t>
            </a:r>
            <a:r>
              <a:rPr lang="en-IN" sz="4400" spc="-13" dirty="0">
                <a:solidFill>
                  <a:schemeClr val="bg1"/>
                </a:solidFill>
                <a:latin typeface="+mn-lt"/>
              </a:rPr>
              <a:t>Database</a:t>
            </a:r>
            <a:endParaRPr lang="en-IN" sz="4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357459" y="3874888"/>
            <a:ext cx="4558453" cy="264560"/>
          </a:xfrm>
          <a:prstGeom prst="rect">
            <a:avLst/>
          </a:prstGeom>
        </p:spPr>
        <p:txBody>
          <a:bodyPr vert="horz" wrap="square" lIns="0" tIns="0" rIns="0" bIns="0" rtlCol="0">
            <a:spAutoFit/>
          </a:bodyPr>
          <a:lstStyle/>
          <a:p>
            <a:pPr>
              <a:lnSpc>
                <a:spcPts val="2027"/>
              </a:lnSpc>
              <a:tabLst>
                <a:tab pos="2662700" algn="l"/>
              </a:tabLst>
            </a:pPr>
            <a:r>
              <a:rPr sz="2133" dirty="0">
                <a:solidFill>
                  <a:srgbClr val="FFFFFF"/>
                </a:solidFill>
                <a:latin typeface="Calibri"/>
                <a:cs typeface="Calibri"/>
              </a:rPr>
              <a:t>Relational</a:t>
            </a:r>
            <a:r>
              <a:rPr sz="2133" spc="-47" dirty="0">
                <a:solidFill>
                  <a:srgbClr val="FFFFFF"/>
                </a:solidFill>
                <a:latin typeface="Calibri"/>
                <a:cs typeface="Calibri"/>
              </a:rPr>
              <a:t> </a:t>
            </a:r>
            <a:r>
              <a:rPr sz="2133" spc="-13" dirty="0">
                <a:solidFill>
                  <a:srgbClr val="FFFFFF"/>
                </a:solidFill>
                <a:latin typeface="Calibri"/>
                <a:cs typeface="Calibri"/>
              </a:rPr>
              <a:t>database</a:t>
            </a:r>
            <a:r>
              <a:rPr sz="2133" dirty="0">
                <a:solidFill>
                  <a:srgbClr val="FFFFFF"/>
                </a:solidFill>
                <a:latin typeface="Calibri"/>
                <a:cs typeface="Calibri"/>
              </a:rPr>
              <a:t>	Tables</a:t>
            </a:r>
            <a:r>
              <a:rPr sz="2133" spc="-47" dirty="0">
                <a:solidFill>
                  <a:srgbClr val="FFFFFF"/>
                </a:solidFill>
                <a:latin typeface="Calibri"/>
                <a:cs typeface="Calibri"/>
              </a:rPr>
              <a:t> </a:t>
            </a:r>
            <a:r>
              <a:rPr sz="2133" spc="-13" dirty="0">
                <a:solidFill>
                  <a:srgbClr val="FFFFFF"/>
                </a:solidFill>
                <a:latin typeface="Calibri"/>
                <a:cs typeface="Calibri"/>
              </a:rPr>
              <a:t>(relations)</a:t>
            </a:r>
            <a:endParaRPr sz="2133">
              <a:latin typeface="Calibri"/>
              <a:cs typeface="Calibri"/>
            </a:endParaRPr>
          </a:p>
        </p:txBody>
      </p:sp>
      <p:graphicFrame>
        <p:nvGraphicFramePr>
          <p:cNvPr id="4" name="object 4"/>
          <p:cNvGraphicFramePr>
            <a:graphicFrameLocks noGrp="1"/>
          </p:cNvGraphicFramePr>
          <p:nvPr/>
        </p:nvGraphicFramePr>
        <p:xfrm>
          <a:off x="7493507" y="2506133"/>
          <a:ext cx="4081780" cy="1695026"/>
        </p:xfrm>
        <a:graphic>
          <a:graphicData uri="http://schemas.openxmlformats.org/drawingml/2006/table">
            <a:tbl>
              <a:tblPr firstRow="1" bandRow="1">
                <a:tableStyleId>{2D5ABB26-0587-4C30-8999-92F81FD0307C}</a:tableStyleId>
              </a:tblPr>
              <a:tblGrid>
                <a:gridCol w="204047">
                  <a:extLst>
                    <a:ext uri="{9D8B030D-6E8A-4147-A177-3AD203B41FA5}">
                      <a16:colId xmlns:a16="http://schemas.microsoft.com/office/drawing/2014/main" val="20000"/>
                    </a:ext>
                  </a:extLst>
                </a:gridCol>
                <a:gridCol w="547793">
                  <a:extLst>
                    <a:ext uri="{9D8B030D-6E8A-4147-A177-3AD203B41FA5}">
                      <a16:colId xmlns:a16="http://schemas.microsoft.com/office/drawing/2014/main" val="20001"/>
                    </a:ext>
                  </a:extLst>
                </a:gridCol>
                <a:gridCol w="1109980">
                  <a:extLst>
                    <a:ext uri="{9D8B030D-6E8A-4147-A177-3AD203B41FA5}">
                      <a16:colId xmlns:a16="http://schemas.microsoft.com/office/drawing/2014/main" val="20002"/>
                    </a:ext>
                  </a:extLst>
                </a:gridCol>
                <a:gridCol w="1109980">
                  <a:extLst>
                    <a:ext uri="{9D8B030D-6E8A-4147-A177-3AD203B41FA5}">
                      <a16:colId xmlns:a16="http://schemas.microsoft.com/office/drawing/2014/main" val="20003"/>
                    </a:ext>
                  </a:extLst>
                </a:gridCol>
                <a:gridCol w="1109980">
                  <a:extLst>
                    <a:ext uri="{9D8B030D-6E8A-4147-A177-3AD203B41FA5}">
                      <a16:colId xmlns:a16="http://schemas.microsoft.com/office/drawing/2014/main" val="20004"/>
                    </a:ext>
                  </a:extLst>
                </a:gridCol>
              </a:tblGrid>
              <a:tr h="254000">
                <a:tc>
                  <a:txBody>
                    <a:bodyPr/>
                    <a:lstStyle/>
                    <a:p>
                      <a:pPr marR="18415" algn="ctr">
                        <a:lnSpc>
                          <a:spcPct val="100000"/>
                        </a:lnSpc>
                        <a:spcBef>
                          <a:spcPts val="130"/>
                        </a:spcBef>
                      </a:pPr>
                      <a:r>
                        <a:rPr sz="1400" spc="-25" dirty="0">
                          <a:latin typeface="Arial MT"/>
                          <a:cs typeface="Arial MT"/>
                        </a:rPr>
                        <a:t>id</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0160">
                        <a:lnSpc>
                          <a:spcPct val="100000"/>
                        </a:lnSpc>
                        <a:spcBef>
                          <a:spcPts val="130"/>
                        </a:spcBef>
                      </a:pPr>
                      <a:r>
                        <a:rPr sz="1400" spc="-20" dirty="0">
                          <a:latin typeface="Arial MT"/>
                          <a:cs typeface="Arial MT"/>
                        </a:rPr>
                        <a:t>date</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0160">
                        <a:lnSpc>
                          <a:spcPct val="100000"/>
                        </a:lnSpc>
                        <a:spcBef>
                          <a:spcPts val="130"/>
                        </a:spcBef>
                      </a:pPr>
                      <a:r>
                        <a:rPr sz="1400" spc="-10" dirty="0">
                          <a:latin typeface="Arial MT"/>
                          <a:cs typeface="Arial MT"/>
                        </a:rPr>
                        <a:t>product</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R="71755" algn="ctr">
                        <a:lnSpc>
                          <a:spcPct val="100000"/>
                        </a:lnSpc>
                        <a:spcBef>
                          <a:spcPts val="130"/>
                        </a:spcBef>
                      </a:pPr>
                      <a:r>
                        <a:rPr sz="1400" spc="-10" dirty="0">
                          <a:latin typeface="Arial MT"/>
                          <a:cs typeface="Arial MT"/>
                        </a:rPr>
                        <a:t>customer_id</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0795">
                        <a:lnSpc>
                          <a:spcPct val="100000"/>
                        </a:lnSpc>
                        <a:spcBef>
                          <a:spcPts val="130"/>
                        </a:spcBef>
                      </a:pPr>
                      <a:r>
                        <a:rPr sz="1400" spc="-20" dirty="0">
                          <a:latin typeface="Arial MT"/>
                          <a:cs typeface="Arial MT"/>
                        </a:rPr>
                        <a:t>name</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0"/>
                  </a:ext>
                </a:extLst>
              </a:tr>
              <a:tr h="297180">
                <a:tc>
                  <a:txBody>
                    <a:bodyPr/>
                    <a:lstStyle/>
                    <a:p>
                      <a:pPr marL="2540" algn="ctr">
                        <a:lnSpc>
                          <a:spcPct val="100000"/>
                        </a:lnSpc>
                        <a:spcBef>
                          <a:spcPts val="470"/>
                        </a:spcBef>
                      </a:pPr>
                      <a:r>
                        <a:rPr sz="900" spc="-50" dirty="0">
                          <a:latin typeface="Arial MT"/>
                          <a:cs typeface="Arial MT"/>
                        </a:rPr>
                        <a:t>1</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4925">
                        <a:lnSpc>
                          <a:spcPct val="100000"/>
                        </a:lnSpc>
                        <a:spcBef>
                          <a:spcPts val="470"/>
                        </a:spcBef>
                      </a:pPr>
                      <a:r>
                        <a:rPr sz="900" spc="-10" dirty="0">
                          <a:latin typeface="Arial MT"/>
                          <a:cs typeface="Arial MT"/>
                        </a:rPr>
                        <a:t>1/2/2022</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66700" marR="118745" indent="-137160">
                        <a:lnSpc>
                          <a:spcPts val="830"/>
                        </a:lnSpc>
                      </a:pPr>
                      <a:r>
                        <a:rPr sz="900" dirty="0">
                          <a:latin typeface="Arial MT"/>
                          <a:cs typeface="Arial MT"/>
                        </a:rPr>
                        <a:t>Fulltoss</a:t>
                      </a:r>
                      <a:r>
                        <a:rPr sz="900" spc="-25" dirty="0">
                          <a:latin typeface="Arial MT"/>
                          <a:cs typeface="Arial MT"/>
                        </a:rPr>
                        <a:t> </a:t>
                      </a:r>
                      <a:r>
                        <a:rPr sz="900" spc="-10" dirty="0">
                          <a:latin typeface="Arial MT"/>
                          <a:cs typeface="Arial MT"/>
                        </a:rPr>
                        <a:t>Tangy</a:t>
                      </a:r>
                      <a:r>
                        <a:rPr sz="900" spc="500" dirty="0">
                          <a:latin typeface="Arial MT"/>
                          <a:cs typeface="Arial MT"/>
                        </a:rPr>
                        <a:t> </a:t>
                      </a:r>
                      <a:r>
                        <a:rPr sz="900" spc="-10" dirty="0">
                          <a:latin typeface="Arial MT"/>
                          <a:cs typeface="Arial MT"/>
                        </a:rPr>
                        <a:t>Tomato</a:t>
                      </a:r>
                      <a:endParaRPr sz="9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445"/>
                        </a:spcBef>
                      </a:pPr>
                      <a:r>
                        <a:rPr sz="900" spc="-50" dirty="0">
                          <a:latin typeface="Calibri"/>
                          <a:cs typeface="Calibri"/>
                        </a:rPr>
                        <a:t>2</a:t>
                      </a:r>
                      <a:endParaRPr sz="9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R="305435" algn="r">
                        <a:lnSpc>
                          <a:spcPct val="100000"/>
                        </a:lnSpc>
                        <a:spcBef>
                          <a:spcPts val="445"/>
                        </a:spcBef>
                      </a:pPr>
                      <a:r>
                        <a:rPr sz="900" spc="-10" dirty="0">
                          <a:latin typeface="Calibri"/>
                          <a:cs typeface="Calibri"/>
                        </a:rPr>
                        <a:t>Sarah</a:t>
                      </a:r>
                      <a:endParaRPr sz="9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96333">
                <a:tc>
                  <a:txBody>
                    <a:bodyPr/>
                    <a:lstStyle/>
                    <a:p>
                      <a:pPr marL="2540" algn="ctr">
                        <a:lnSpc>
                          <a:spcPct val="100000"/>
                        </a:lnSpc>
                        <a:spcBef>
                          <a:spcPts val="470"/>
                        </a:spcBef>
                      </a:pPr>
                      <a:r>
                        <a:rPr sz="900" spc="-50" dirty="0">
                          <a:latin typeface="Arial MT"/>
                          <a:cs typeface="Arial MT"/>
                        </a:rPr>
                        <a:t>2</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4925">
                        <a:lnSpc>
                          <a:spcPct val="100000"/>
                        </a:lnSpc>
                        <a:spcBef>
                          <a:spcPts val="470"/>
                        </a:spcBef>
                      </a:pPr>
                      <a:r>
                        <a:rPr sz="900" spc="-10" dirty="0">
                          <a:latin typeface="Arial MT"/>
                          <a:cs typeface="Arial MT"/>
                        </a:rPr>
                        <a:t>1/2/2022</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52705" marR="45085" indent="93980">
                        <a:lnSpc>
                          <a:spcPts val="830"/>
                        </a:lnSpc>
                      </a:pPr>
                      <a:r>
                        <a:rPr sz="900" dirty="0">
                          <a:latin typeface="Arial MT"/>
                          <a:cs typeface="Arial MT"/>
                        </a:rPr>
                        <a:t>Chilli</a:t>
                      </a:r>
                      <a:r>
                        <a:rPr sz="900" spc="-20" dirty="0">
                          <a:latin typeface="Arial MT"/>
                          <a:cs typeface="Arial MT"/>
                        </a:rPr>
                        <a:t> </a:t>
                      </a:r>
                      <a:r>
                        <a:rPr sz="900" dirty="0">
                          <a:latin typeface="Arial MT"/>
                          <a:cs typeface="Arial MT"/>
                        </a:rPr>
                        <a:t>- </a:t>
                      </a:r>
                      <a:r>
                        <a:rPr sz="900" spc="-10" dirty="0">
                          <a:latin typeface="Arial MT"/>
                          <a:cs typeface="Arial MT"/>
                        </a:rPr>
                        <a:t>Green,</a:t>
                      </a:r>
                      <a:r>
                        <a:rPr sz="900" spc="500" dirty="0">
                          <a:latin typeface="Arial MT"/>
                          <a:cs typeface="Arial MT"/>
                        </a:rPr>
                        <a:t> </a:t>
                      </a:r>
                      <a:r>
                        <a:rPr sz="900" dirty="0">
                          <a:latin typeface="Arial MT"/>
                          <a:cs typeface="Arial MT"/>
                        </a:rPr>
                        <a:t>Organically</a:t>
                      </a:r>
                      <a:r>
                        <a:rPr sz="900" spc="-35" dirty="0">
                          <a:latin typeface="Arial MT"/>
                          <a:cs typeface="Arial MT"/>
                        </a:rPr>
                        <a:t> </a:t>
                      </a:r>
                      <a:r>
                        <a:rPr sz="900" spc="-10" dirty="0">
                          <a:latin typeface="Arial MT"/>
                          <a:cs typeface="Arial MT"/>
                        </a:rPr>
                        <a:t>Grown</a:t>
                      </a:r>
                      <a:endParaRPr sz="9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445"/>
                        </a:spcBef>
                      </a:pPr>
                      <a:r>
                        <a:rPr sz="900" spc="-50" dirty="0">
                          <a:latin typeface="Calibri"/>
                          <a:cs typeface="Calibri"/>
                        </a:rPr>
                        <a:t>2</a:t>
                      </a:r>
                      <a:endParaRPr sz="9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R="305435" algn="r">
                        <a:lnSpc>
                          <a:spcPct val="100000"/>
                        </a:lnSpc>
                        <a:spcBef>
                          <a:spcPts val="445"/>
                        </a:spcBef>
                      </a:pPr>
                      <a:r>
                        <a:rPr sz="900" spc="-10" dirty="0">
                          <a:latin typeface="Calibri"/>
                          <a:cs typeface="Calibri"/>
                        </a:rPr>
                        <a:t>Sarah</a:t>
                      </a:r>
                      <a:endParaRPr sz="9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marL="3175" algn="ctr">
                        <a:lnSpc>
                          <a:spcPct val="100000"/>
                        </a:lnSpc>
                        <a:spcBef>
                          <a:spcPts val="340"/>
                        </a:spcBef>
                      </a:pPr>
                      <a:r>
                        <a:rPr sz="900" spc="-50" dirty="0">
                          <a:latin typeface="Arial MT"/>
                          <a:cs typeface="Arial MT"/>
                        </a:rPr>
                        <a:t>3</a:t>
                      </a:r>
                      <a:endParaRPr sz="900">
                        <a:latin typeface="Arial MT"/>
                        <a:cs typeface="Arial MT"/>
                      </a:endParaRPr>
                    </a:p>
                  </a:txBody>
                  <a:tcPr marL="0" marR="0" marT="575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4925">
                        <a:lnSpc>
                          <a:spcPct val="100000"/>
                        </a:lnSpc>
                        <a:spcBef>
                          <a:spcPts val="340"/>
                        </a:spcBef>
                      </a:pPr>
                      <a:r>
                        <a:rPr sz="900" spc="-10" dirty="0">
                          <a:latin typeface="Arial MT"/>
                          <a:cs typeface="Arial MT"/>
                        </a:rPr>
                        <a:t>1/2/2022</a:t>
                      </a:r>
                      <a:endParaRPr sz="900">
                        <a:latin typeface="Arial MT"/>
                        <a:cs typeface="Arial MT"/>
                      </a:endParaRPr>
                    </a:p>
                  </a:txBody>
                  <a:tcPr marL="0" marR="0" marT="575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12395">
                        <a:lnSpc>
                          <a:spcPct val="100000"/>
                        </a:lnSpc>
                        <a:spcBef>
                          <a:spcPts val="340"/>
                        </a:spcBef>
                      </a:pPr>
                      <a:r>
                        <a:rPr sz="900" dirty="0">
                          <a:latin typeface="Arial MT"/>
                          <a:cs typeface="Arial MT"/>
                        </a:rPr>
                        <a:t>Masala</a:t>
                      </a:r>
                      <a:r>
                        <a:rPr sz="900" spc="-25" dirty="0">
                          <a:latin typeface="Arial MT"/>
                          <a:cs typeface="Arial MT"/>
                        </a:rPr>
                        <a:t> </a:t>
                      </a:r>
                      <a:r>
                        <a:rPr sz="900" spc="-10" dirty="0">
                          <a:latin typeface="Arial MT"/>
                          <a:cs typeface="Arial MT"/>
                        </a:rPr>
                        <a:t>Powder</a:t>
                      </a:r>
                      <a:endParaRPr sz="900">
                        <a:latin typeface="Arial MT"/>
                        <a:cs typeface="Arial MT"/>
                      </a:endParaRPr>
                    </a:p>
                  </a:txBody>
                  <a:tcPr marL="0" marR="0" marT="575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320"/>
                        </a:spcBef>
                      </a:pPr>
                      <a:r>
                        <a:rPr sz="900" spc="-50" dirty="0">
                          <a:latin typeface="Calibri"/>
                          <a:cs typeface="Calibri"/>
                        </a:rPr>
                        <a:t>5</a:t>
                      </a:r>
                      <a:endParaRPr sz="9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R="314325" algn="r">
                        <a:lnSpc>
                          <a:spcPct val="100000"/>
                        </a:lnSpc>
                        <a:spcBef>
                          <a:spcPts val="320"/>
                        </a:spcBef>
                      </a:pPr>
                      <a:r>
                        <a:rPr sz="900" spc="-20" dirty="0">
                          <a:latin typeface="Calibri"/>
                          <a:cs typeface="Calibri"/>
                        </a:rPr>
                        <a:t>Marc</a:t>
                      </a:r>
                      <a:endParaRPr sz="9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97180">
                <a:tc>
                  <a:txBody>
                    <a:bodyPr/>
                    <a:lstStyle/>
                    <a:p>
                      <a:pPr marL="2540" algn="ctr">
                        <a:lnSpc>
                          <a:spcPct val="100000"/>
                        </a:lnSpc>
                        <a:spcBef>
                          <a:spcPts val="470"/>
                        </a:spcBef>
                      </a:pPr>
                      <a:r>
                        <a:rPr sz="900" spc="-50" dirty="0">
                          <a:latin typeface="Arial MT"/>
                          <a:cs typeface="Arial MT"/>
                        </a:rPr>
                        <a:t>4</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4925">
                        <a:lnSpc>
                          <a:spcPct val="100000"/>
                        </a:lnSpc>
                        <a:spcBef>
                          <a:spcPts val="470"/>
                        </a:spcBef>
                      </a:pPr>
                      <a:r>
                        <a:rPr sz="900" spc="-10" dirty="0">
                          <a:latin typeface="Arial MT"/>
                          <a:cs typeface="Arial MT"/>
                        </a:rPr>
                        <a:t>1/2/2022</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28600" marR="88900" indent="-132715">
                        <a:lnSpc>
                          <a:spcPts val="830"/>
                        </a:lnSpc>
                      </a:pPr>
                      <a:r>
                        <a:rPr sz="900" dirty="0">
                          <a:latin typeface="Arial MT"/>
                          <a:cs typeface="Arial MT"/>
                        </a:rPr>
                        <a:t>Cheese</a:t>
                      </a:r>
                      <a:r>
                        <a:rPr sz="900" spc="-25" dirty="0">
                          <a:latin typeface="Arial MT"/>
                          <a:cs typeface="Arial MT"/>
                        </a:rPr>
                        <a:t> </a:t>
                      </a:r>
                      <a:r>
                        <a:rPr sz="900" spc="-10" dirty="0">
                          <a:latin typeface="Arial MT"/>
                          <a:cs typeface="Arial MT"/>
                        </a:rPr>
                        <a:t>Cracker</a:t>
                      </a:r>
                      <a:r>
                        <a:rPr sz="900" spc="500" dirty="0">
                          <a:latin typeface="Arial MT"/>
                          <a:cs typeface="Arial MT"/>
                        </a:rPr>
                        <a:t> </a:t>
                      </a:r>
                      <a:r>
                        <a:rPr sz="900" spc="-10" dirty="0">
                          <a:latin typeface="Arial MT"/>
                          <a:cs typeface="Arial MT"/>
                        </a:rPr>
                        <a:t>(Mcvities)</a:t>
                      </a:r>
                      <a:endParaRPr sz="9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450"/>
                        </a:spcBef>
                      </a:pPr>
                      <a:r>
                        <a:rPr sz="900" spc="-50" dirty="0">
                          <a:latin typeface="Calibri"/>
                          <a:cs typeface="Calibri"/>
                        </a:rPr>
                        <a:t>1</a:t>
                      </a:r>
                      <a:endParaRPr sz="9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R="306705" algn="r">
                        <a:lnSpc>
                          <a:spcPct val="100000"/>
                        </a:lnSpc>
                        <a:spcBef>
                          <a:spcPts val="450"/>
                        </a:spcBef>
                      </a:pPr>
                      <a:r>
                        <a:rPr sz="900" spc="-10" dirty="0">
                          <a:latin typeface="Calibri"/>
                          <a:cs typeface="Calibri"/>
                        </a:rPr>
                        <a:t>Frank</a:t>
                      </a:r>
                      <a:endParaRPr sz="9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96333">
                <a:tc>
                  <a:txBody>
                    <a:bodyPr/>
                    <a:lstStyle/>
                    <a:p>
                      <a:pPr marL="2540" algn="ctr">
                        <a:lnSpc>
                          <a:spcPct val="100000"/>
                        </a:lnSpc>
                        <a:spcBef>
                          <a:spcPts val="470"/>
                        </a:spcBef>
                      </a:pPr>
                      <a:r>
                        <a:rPr sz="900" spc="-50" dirty="0">
                          <a:latin typeface="Arial MT"/>
                          <a:cs typeface="Arial MT"/>
                        </a:rPr>
                        <a:t>5</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4925">
                        <a:lnSpc>
                          <a:spcPct val="100000"/>
                        </a:lnSpc>
                        <a:spcBef>
                          <a:spcPts val="470"/>
                        </a:spcBef>
                      </a:pPr>
                      <a:r>
                        <a:rPr sz="900" spc="-10" dirty="0">
                          <a:latin typeface="Arial MT"/>
                          <a:cs typeface="Arial MT"/>
                        </a:rPr>
                        <a:t>1/2/2022</a:t>
                      </a:r>
                      <a:endParaRPr sz="9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00330" marR="92710" indent="63500">
                        <a:lnSpc>
                          <a:spcPts val="830"/>
                        </a:lnSpc>
                      </a:pPr>
                      <a:r>
                        <a:rPr sz="900" dirty="0">
                          <a:latin typeface="Arial MT"/>
                          <a:cs typeface="Arial MT"/>
                        </a:rPr>
                        <a:t>Centre</a:t>
                      </a:r>
                      <a:r>
                        <a:rPr sz="900" spc="-15" dirty="0">
                          <a:latin typeface="Arial MT"/>
                          <a:cs typeface="Arial MT"/>
                        </a:rPr>
                        <a:t> </a:t>
                      </a:r>
                      <a:r>
                        <a:rPr sz="900" spc="-10" dirty="0">
                          <a:latin typeface="Arial MT"/>
                          <a:cs typeface="Arial MT"/>
                        </a:rPr>
                        <a:t>Filled</a:t>
                      </a:r>
                      <a:r>
                        <a:rPr sz="900" spc="500" dirty="0">
                          <a:latin typeface="Arial MT"/>
                          <a:cs typeface="Arial MT"/>
                        </a:rPr>
                        <a:t> </a:t>
                      </a:r>
                      <a:r>
                        <a:rPr sz="900" dirty="0">
                          <a:latin typeface="Arial MT"/>
                          <a:cs typeface="Arial MT"/>
                        </a:rPr>
                        <a:t>Chocolate</a:t>
                      </a:r>
                      <a:r>
                        <a:rPr sz="900" spc="-35" dirty="0">
                          <a:latin typeface="Arial MT"/>
                          <a:cs typeface="Arial MT"/>
                        </a:rPr>
                        <a:t> </a:t>
                      </a:r>
                      <a:r>
                        <a:rPr sz="900" spc="-20" dirty="0">
                          <a:latin typeface="Arial MT"/>
                          <a:cs typeface="Arial MT"/>
                        </a:rPr>
                        <a:t>Cake</a:t>
                      </a:r>
                      <a:endParaRPr sz="9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445"/>
                        </a:spcBef>
                      </a:pPr>
                      <a:r>
                        <a:rPr sz="900" spc="-50" dirty="0">
                          <a:latin typeface="Calibri"/>
                          <a:cs typeface="Calibri"/>
                        </a:rPr>
                        <a:t>5</a:t>
                      </a:r>
                      <a:endParaRPr sz="9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R="314325" algn="r">
                        <a:lnSpc>
                          <a:spcPct val="100000"/>
                        </a:lnSpc>
                        <a:spcBef>
                          <a:spcPts val="445"/>
                        </a:spcBef>
                      </a:pPr>
                      <a:r>
                        <a:rPr sz="900" spc="-20" dirty="0">
                          <a:latin typeface="Calibri"/>
                          <a:cs typeface="Calibri"/>
                        </a:rPr>
                        <a:t>Marc</a:t>
                      </a:r>
                      <a:endParaRPr sz="900">
                        <a:latin typeface="Calibri"/>
                        <a:cs typeface="Calibri"/>
                      </a:endParaRPr>
                    </a:p>
                  </a:txBody>
                  <a:tcPr marL="0" marR="0" marT="753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sp>
        <p:nvSpPr>
          <p:cNvPr id="5" name="object 5"/>
          <p:cNvSpPr/>
          <p:nvPr/>
        </p:nvSpPr>
        <p:spPr>
          <a:xfrm>
            <a:off x="7417815" y="2415031"/>
            <a:ext cx="342053" cy="1930400"/>
          </a:xfrm>
          <a:custGeom>
            <a:avLst/>
            <a:gdLst/>
            <a:ahLst/>
            <a:cxnLst/>
            <a:rect l="l" t="t" r="r" b="b"/>
            <a:pathLst>
              <a:path w="256539" h="1447800">
                <a:moveTo>
                  <a:pt x="0" y="42672"/>
                </a:moveTo>
                <a:lnTo>
                  <a:pt x="3345" y="26038"/>
                </a:lnTo>
                <a:lnTo>
                  <a:pt x="12477" y="12477"/>
                </a:lnTo>
                <a:lnTo>
                  <a:pt x="26038" y="3345"/>
                </a:lnTo>
                <a:lnTo>
                  <a:pt x="42672" y="0"/>
                </a:lnTo>
                <a:lnTo>
                  <a:pt x="213360" y="0"/>
                </a:lnTo>
                <a:lnTo>
                  <a:pt x="229993" y="3345"/>
                </a:lnTo>
                <a:lnTo>
                  <a:pt x="243554" y="12477"/>
                </a:lnTo>
                <a:lnTo>
                  <a:pt x="252686" y="26038"/>
                </a:lnTo>
                <a:lnTo>
                  <a:pt x="256032" y="42672"/>
                </a:lnTo>
                <a:lnTo>
                  <a:pt x="256032" y="1405127"/>
                </a:lnTo>
                <a:lnTo>
                  <a:pt x="252686" y="1421761"/>
                </a:lnTo>
                <a:lnTo>
                  <a:pt x="243554" y="1435322"/>
                </a:lnTo>
                <a:lnTo>
                  <a:pt x="229993" y="1444454"/>
                </a:lnTo>
                <a:lnTo>
                  <a:pt x="213360" y="1447800"/>
                </a:lnTo>
                <a:lnTo>
                  <a:pt x="42672" y="1447800"/>
                </a:lnTo>
                <a:lnTo>
                  <a:pt x="26038" y="1444454"/>
                </a:lnTo>
                <a:lnTo>
                  <a:pt x="12477" y="1435322"/>
                </a:lnTo>
                <a:lnTo>
                  <a:pt x="3345" y="1421761"/>
                </a:lnTo>
                <a:lnTo>
                  <a:pt x="0" y="1405127"/>
                </a:lnTo>
                <a:lnTo>
                  <a:pt x="0" y="42672"/>
                </a:lnTo>
                <a:close/>
              </a:path>
            </a:pathLst>
          </a:custGeom>
          <a:ln w="38100">
            <a:solidFill>
              <a:srgbClr val="008FBB"/>
            </a:solidFill>
          </a:ln>
        </p:spPr>
        <p:txBody>
          <a:bodyPr wrap="square" lIns="0" tIns="0" rIns="0" bIns="0" rtlCol="0"/>
          <a:lstStyle/>
          <a:p>
            <a:endParaRPr sz="2400"/>
          </a:p>
        </p:txBody>
      </p:sp>
      <p:sp>
        <p:nvSpPr>
          <p:cNvPr id="6" name="object 6"/>
          <p:cNvSpPr txBox="1"/>
          <p:nvPr/>
        </p:nvSpPr>
        <p:spPr>
          <a:xfrm>
            <a:off x="6827689" y="1961389"/>
            <a:ext cx="1333500"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Primary</a:t>
            </a:r>
            <a:r>
              <a:rPr sz="2133" spc="-73" dirty="0">
                <a:solidFill>
                  <a:srgbClr val="FFFFFF"/>
                </a:solidFill>
                <a:latin typeface="Calibri"/>
                <a:cs typeface="Calibri"/>
              </a:rPr>
              <a:t> </a:t>
            </a:r>
            <a:r>
              <a:rPr sz="2133" spc="-33" dirty="0">
                <a:solidFill>
                  <a:srgbClr val="FFFFFF"/>
                </a:solidFill>
                <a:latin typeface="Calibri"/>
                <a:cs typeface="Calibri"/>
              </a:rPr>
              <a:t>key</a:t>
            </a:r>
            <a:endParaRPr sz="2133">
              <a:latin typeface="Calibri"/>
              <a:cs typeface="Calibri"/>
            </a:endParaRPr>
          </a:p>
        </p:txBody>
      </p:sp>
      <p:sp>
        <p:nvSpPr>
          <p:cNvPr id="7" name="object 7"/>
          <p:cNvSpPr/>
          <p:nvPr/>
        </p:nvSpPr>
        <p:spPr>
          <a:xfrm>
            <a:off x="9301479" y="2415031"/>
            <a:ext cx="1278467" cy="1930400"/>
          </a:xfrm>
          <a:custGeom>
            <a:avLst/>
            <a:gdLst/>
            <a:ahLst/>
            <a:cxnLst/>
            <a:rect l="l" t="t" r="r" b="b"/>
            <a:pathLst>
              <a:path w="958850" h="1447800">
                <a:moveTo>
                  <a:pt x="0" y="159765"/>
                </a:moveTo>
                <a:lnTo>
                  <a:pt x="8142" y="109256"/>
                </a:lnTo>
                <a:lnTo>
                  <a:pt x="30817" y="65397"/>
                </a:lnTo>
                <a:lnTo>
                  <a:pt x="65397" y="30817"/>
                </a:lnTo>
                <a:lnTo>
                  <a:pt x="109256" y="8142"/>
                </a:lnTo>
                <a:lnTo>
                  <a:pt x="159766" y="0"/>
                </a:lnTo>
                <a:lnTo>
                  <a:pt x="798830" y="0"/>
                </a:lnTo>
                <a:lnTo>
                  <a:pt x="849339" y="8142"/>
                </a:lnTo>
                <a:lnTo>
                  <a:pt x="893198" y="30817"/>
                </a:lnTo>
                <a:lnTo>
                  <a:pt x="927778" y="65397"/>
                </a:lnTo>
                <a:lnTo>
                  <a:pt x="950453" y="109256"/>
                </a:lnTo>
                <a:lnTo>
                  <a:pt x="958596" y="159765"/>
                </a:lnTo>
                <a:lnTo>
                  <a:pt x="958596" y="1288033"/>
                </a:lnTo>
                <a:lnTo>
                  <a:pt x="950453" y="1338543"/>
                </a:lnTo>
                <a:lnTo>
                  <a:pt x="927778" y="1382402"/>
                </a:lnTo>
                <a:lnTo>
                  <a:pt x="893198" y="1416982"/>
                </a:lnTo>
                <a:lnTo>
                  <a:pt x="849339" y="1439657"/>
                </a:lnTo>
                <a:lnTo>
                  <a:pt x="798830" y="1447800"/>
                </a:lnTo>
                <a:lnTo>
                  <a:pt x="159766" y="1447800"/>
                </a:lnTo>
                <a:lnTo>
                  <a:pt x="109256" y="1439657"/>
                </a:lnTo>
                <a:lnTo>
                  <a:pt x="65397" y="1416982"/>
                </a:lnTo>
                <a:lnTo>
                  <a:pt x="30817" y="1382402"/>
                </a:lnTo>
                <a:lnTo>
                  <a:pt x="8142" y="1338543"/>
                </a:lnTo>
                <a:lnTo>
                  <a:pt x="0" y="1288033"/>
                </a:lnTo>
                <a:lnTo>
                  <a:pt x="0" y="159765"/>
                </a:lnTo>
                <a:close/>
              </a:path>
            </a:pathLst>
          </a:custGeom>
          <a:ln w="38100">
            <a:solidFill>
              <a:srgbClr val="66DBFF"/>
            </a:solidFill>
          </a:ln>
        </p:spPr>
        <p:txBody>
          <a:bodyPr wrap="square" lIns="0" tIns="0" rIns="0" bIns="0" rtlCol="0"/>
          <a:lstStyle/>
          <a:p>
            <a:endParaRPr sz="2400"/>
          </a:p>
        </p:txBody>
      </p:sp>
      <p:sp>
        <p:nvSpPr>
          <p:cNvPr id="8" name="object 8"/>
          <p:cNvSpPr txBox="1">
            <a:spLocks noGrp="1"/>
          </p:cNvSpPr>
          <p:nvPr>
            <p:ph type="title"/>
          </p:nvPr>
        </p:nvSpPr>
        <p:spPr>
          <a:xfrm>
            <a:off x="9281160" y="1933255"/>
            <a:ext cx="1304713" cy="344475"/>
          </a:xfrm>
          <a:prstGeom prst="rect">
            <a:avLst/>
          </a:prstGeom>
        </p:spPr>
        <p:txBody>
          <a:bodyPr vert="horz" wrap="square" lIns="0" tIns="16087" rIns="0" bIns="0" rtlCol="0" anchor="ctr">
            <a:spAutoFit/>
          </a:bodyPr>
          <a:lstStyle/>
          <a:p>
            <a:pPr marL="16933">
              <a:lnSpc>
                <a:spcPct val="100000"/>
              </a:lnSpc>
              <a:spcBef>
                <a:spcPts val="127"/>
              </a:spcBef>
            </a:pPr>
            <a:r>
              <a:rPr sz="2133" dirty="0"/>
              <a:t>Foreign</a:t>
            </a:r>
            <a:r>
              <a:rPr sz="2133" spc="-40" dirty="0"/>
              <a:t> </a:t>
            </a:r>
            <a:r>
              <a:rPr sz="2133" spc="-33" dirty="0"/>
              <a:t>key</a:t>
            </a:r>
            <a:endParaRPr sz="2133"/>
          </a:p>
        </p:txBody>
      </p:sp>
      <p:graphicFrame>
        <p:nvGraphicFramePr>
          <p:cNvPr id="9" name="object 9"/>
          <p:cNvGraphicFramePr>
            <a:graphicFrameLocks noGrp="1"/>
          </p:cNvGraphicFramePr>
          <p:nvPr/>
        </p:nvGraphicFramePr>
        <p:xfrm>
          <a:off x="8143071" y="4739471"/>
          <a:ext cx="1873673" cy="1522306"/>
        </p:xfrm>
        <a:graphic>
          <a:graphicData uri="http://schemas.openxmlformats.org/drawingml/2006/table">
            <a:tbl>
              <a:tblPr firstRow="1" bandRow="1">
                <a:tableStyleId>{2D5ABB26-0587-4C30-8999-92F81FD0307C}</a:tableStyleId>
              </a:tblPr>
              <a:tblGrid>
                <a:gridCol w="382693">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982980">
                  <a:extLst>
                    <a:ext uri="{9D8B030D-6E8A-4147-A177-3AD203B41FA5}">
                      <a16:colId xmlns:a16="http://schemas.microsoft.com/office/drawing/2014/main" val="20002"/>
                    </a:ext>
                  </a:extLst>
                </a:gridCol>
              </a:tblGrid>
              <a:tr h="254000">
                <a:tc>
                  <a:txBody>
                    <a:bodyPr/>
                    <a:lstStyle/>
                    <a:p>
                      <a:pPr marL="2540" algn="ctr">
                        <a:lnSpc>
                          <a:spcPct val="100000"/>
                        </a:lnSpc>
                        <a:spcBef>
                          <a:spcPts val="135"/>
                        </a:spcBef>
                      </a:pPr>
                      <a:r>
                        <a:rPr sz="1400" spc="-25" dirty="0">
                          <a:latin typeface="Arial MT"/>
                          <a:cs typeface="Arial MT"/>
                        </a:rPr>
                        <a:t>id</a:t>
                      </a:r>
                      <a:endParaRPr sz="14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135"/>
                        </a:spcBef>
                      </a:pPr>
                      <a:r>
                        <a:rPr sz="1400" spc="-20" dirty="0">
                          <a:latin typeface="Arial MT"/>
                          <a:cs typeface="Arial MT"/>
                        </a:rPr>
                        <a:t>name</a:t>
                      </a:r>
                      <a:endParaRPr sz="14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810" algn="ctr">
                        <a:lnSpc>
                          <a:spcPct val="100000"/>
                        </a:lnSpc>
                        <a:spcBef>
                          <a:spcPts val="135"/>
                        </a:spcBef>
                      </a:pPr>
                      <a:r>
                        <a:rPr sz="1400" spc="-20" dirty="0">
                          <a:latin typeface="Arial MT"/>
                          <a:cs typeface="Arial MT"/>
                        </a:rPr>
                        <a:t>city</a:t>
                      </a:r>
                      <a:endParaRPr sz="14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0"/>
                  </a:ext>
                </a:extLst>
              </a:tr>
              <a:tr h="253153">
                <a:tc>
                  <a:txBody>
                    <a:bodyPr/>
                    <a:lstStyle/>
                    <a:p>
                      <a:pPr marL="635" algn="ctr">
                        <a:lnSpc>
                          <a:spcPct val="100000"/>
                        </a:lnSpc>
                        <a:spcBef>
                          <a:spcPts val="345"/>
                        </a:spcBef>
                      </a:pPr>
                      <a:r>
                        <a:rPr sz="900" spc="-50" dirty="0">
                          <a:latin typeface="Arial MT"/>
                          <a:cs typeface="Arial MT"/>
                        </a:rPr>
                        <a:t>1</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900" spc="-10" dirty="0">
                          <a:latin typeface="Arial MT"/>
                          <a:cs typeface="Arial MT"/>
                        </a:rPr>
                        <a:t>Frank</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45"/>
                        </a:spcBef>
                      </a:pPr>
                      <a:r>
                        <a:rPr sz="900" dirty="0">
                          <a:latin typeface="Arial MT"/>
                          <a:cs typeface="Arial MT"/>
                        </a:rPr>
                        <a:t>New</a:t>
                      </a:r>
                      <a:r>
                        <a:rPr sz="900" spc="-15" dirty="0">
                          <a:latin typeface="Arial MT"/>
                          <a:cs typeface="Arial MT"/>
                        </a:rPr>
                        <a:t> </a:t>
                      </a:r>
                      <a:r>
                        <a:rPr sz="900" spc="-20" dirty="0">
                          <a:latin typeface="Arial MT"/>
                          <a:cs typeface="Arial MT"/>
                        </a:rPr>
                        <a:t>York</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marL="635" algn="ctr">
                        <a:lnSpc>
                          <a:spcPct val="100000"/>
                        </a:lnSpc>
                        <a:spcBef>
                          <a:spcPts val="350"/>
                        </a:spcBef>
                      </a:pPr>
                      <a:r>
                        <a:rPr sz="900" spc="-50" dirty="0">
                          <a:latin typeface="Arial MT"/>
                          <a:cs typeface="Arial MT"/>
                        </a:rPr>
                        <a:t>2</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350"/>
                        </a:spcBef>
                      </a:pPr>
                      <a:r>
                        <a:rPr sz="900" spc="-10" dirty="0">
                          <a:latin typeface="Arial MT"/>
                          <a:cs typeface="Arial MT"/>
                        </a:rPr>
                        <a:t>Sarah</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50"/>
                        </a:spcBef>
                      </a:pPr>
                      <a:r>
                        <a:rPr sz="900" spc="-10" dirty="0">
                          <a:latin typeface="Arial MT"/>
                          <a:cs typeface="Arial MT"/>
                        </a:rPr>
                        <a:t>Chicago</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marL="635" algn="ctr">
                        <a:lnSpc>
                          <a:spcPct val="100000"/>
                        </a:lnSpc>
                        <a:spcBef>
                          <a:spcPts val="350"/>
                        </a:spcBef>
                      </a:pPr>
                      <a:r>
                        <a:rPr sz="900" spc="-50" dirty="0">
                          <a:latin typeface="Arial MT"/>
                          <a:cs typeface="Arial MT"/>
                        </a:rPr>
                        <a:t>3</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350"/>
                        </a:spcBef>
                      </a:pPr>
                      <a:r>
                        <a:rPr sz="900" spc="-10" dirty="0">
                          <a:latin typeface="Arial MT"/>
                          <a:cs typeface="Arial MT"/>
                        </a:rPr>
                        <a:t>Sabrina</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50"/>
                        </a:spcBef>
                      </a:pPr>
                      <a:r>
                        <a:rPr sz="900" dirty="0">
                          <a:latin typeface="Arial MT"/>
                          <a:cs typeface="Arial MT"/>
                        </a:rPr>
                        <a:t>New</a:t>
                      </a:r>
                      <a:r>
                        <a:rPr sz="900" spc="-15" dirty="0">
                          <a:latin typeface="Arial MT"/>
                          <a:cs typeface="Arial MT"/>
                        </a:rPr>
                        <a:t> </a:t>
                      </a:r>
                      <a:r>
                        <a:rPr sz="900" spc="-10" dirty="0">
                          <a:latin typeface="Arial MT"/>
                          <a:cs typeface="Arial MT"/>
                        </a:rPr>
                        <a:t>Orleans</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3153">
                <a:tc>
                  <a:txBody>
                    <a:bodyPr/>
                    <a:lstStyle/>
                    <a:p>
                      <a:pPr marL="635" algn="ctr">
                        <a:lnSpc>
                          <a:spcPct val="100000"/>
                        </a:lnSpc>
                        <a:spcBef>
                          <a:spcPts val="350"/>
                        </a:spcBef>
                      </a:pPr>
                      <a:r>
                        <a:rPr sz="900" spc="-50" dirty="0">
                          <a:latin typeface="Arial MT"/>
                          <a:cs typeface="Arial MT"/>
                        </a:rPr>
                        <a:t>4</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350"/>
                        </a:spcBef>
                      </a:pPr>
                      <a:r>
                        <a:rPr sz="900" spc="-20" dirty="0">
                          <a:latin typeface="Arial MT"/>
                          <a:cs typeface="Arial MT"/>
                        </a:rPr>
                        <a:t>Maya</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350"/>
                        </a:spcBef>
                      </a:pPr>
                      <a:r>
                        <a:rPr sz="900" dirty="0">
                          <a:latin typeface="Arial MT"/>
                          <a:cs typeface="Arial MT"/>
                        </a:rPr>
                        <a:t>Los</a:t>
                      </a:r>
                      <a:r>
                        <a:rPr sz="900" spc="-20" dirty="0">
                          <a:latin typeface="Arial MT"/>
                          <a:cs typeface="Arial MT"/>
                        </a:rPr>
                        <a:t> </a:t>
                      </a:r>
                      <a:r>
                        <a:rPr sz="900" spc="-10" dirty="0">
                          <a:latin typeface="Arial MT"/>
                          <a:cs typeface="Arial MT"/>
                        </a:rPr>
                        <a:t>Angelas</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marL="635" algn="ctr">
                        <a:lnSpc>
                          <a:spcPct val="100000"/>
                        </a:lnSpc>
                        <a:spcBef>
                          <a:spcPts val="350"/>
                        </a:spcBef>
                      </a:pPr>
                      <a:r>
                        <a:rPr sz="900" spc="-50" dirty="0">
                          <a:latin typeface="Arial MT"/>
                          <a:cs typeface="Arial MT"/>
                        </a:rPr>
                        <a:t>5</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50"/>
                        </a:spcBef>
                      </a:pPr>
                      <a:r>
                        <a:rPr sz="900" spc="-20" dirty="0">
                          <a:latin typeface="Arial MT"/>
                          <a:cs typeface="Arial MT"/>
                        </a:rPr>
                        <a:t>Marc</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350"/>
                        </a:spcBef>
                      </a:pPr>
                      <a:r>
                        <a:rPr sz="900" spc="-10" dirty="0">
                          <a:latin typeface="Arial MT"/>
                          <a:cs typeface="Arial MT"/>
                        </a:rPr>
                        <a:t>Delas</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sp>
        <p:nvSpPr>
          <p:cNvPr id="10" name="object 10"/>
          <p:cNvSpPr/>
          <p:nvPr/>
        </p:nvSpPr>
        <p:spPr>
          <a:xfrm>
            <a:off x="8237729" y="4312751"/>
            <a:ext cx="1711113" cy="408093"/>
          </a:xfrm>
          <a:custGeom>
            <a:avLst/>
            <a:gdLst/>
            <a:ahLst/>
            <a:cxnLst/>
            <a:rect l="l" t="t" r="r" b="b"/>
            <a:pathLst>
              <a:path w="1283334" h="306070">
                <a:moveTo>
                  <a:pt x="25526" y="224409"/>
                </a:moveTo>
                <a:lnTo>
                  <a:pt x="0" y="305689"/>
                </a:lnTo>
                <a:lnTo>
                  <a:pt x="80263" y="277241"/>
                </a:lnTo>
                <a:lnTo>
                  <a:pt x="67106" y="264541"/>
                </a:lnTo>
                <a:lnTo>
                  <a:pt x="48387" y="264541"/>
                </a:lnTo>
                <a:lnTo>
                  <a:pt x="39577" y="255212"/>
                </a:lnTo>
                <a:lnTo>
                  <a:pt x="39943" y="255212"/>
                </a:lnTo>
                <a:lnTo>
                  <a:pt x="48741" y="246815"/>
                </a:lnTo>
                <a:lnTo>
                  <a:pt x="25526" y="224409"/>
                </a:lnTo>
                <a:close/>
              </a:path>
              <a:path w="1283334" h="306070">
                <a:moveTo>
                  <a:pt x="48741" y="246815"/>
                </a:moveTo>
                <a:lnTo>
                  <a:pt x="39943" y="255212"/>
                </a:lnTo>
                <a:lnTo>
                  <a:pt x="39577" y="255212"/>
                </a:lnTo>
                <a:lnTo>
                  <a:pt x="48387" y="264541"/>
                </a:lnTo>
                <a:lnTo>
                  <a:pt x="57864" y="255621"/>
                </a:lnTo>
                <a:lnTo>
                  <a:pt x="48741" y="246815"/>
                </a:lnTo>
                <a:close/>
              </a:path>
              <a:path w="1283334" h="306070">
                <a:moveTo>
                  <a:pt x="57864" y="255621"/>
                </a:moveTo>
                <a:lnTo>
                  <a:pt x="48387" y="264541"/>
                </a:lnTo>
                <a:lnTo>
                  <a:pt x="67106" y="264541"/>
                </a:lnTo>
                <a:lnTo>
                  <a:pt x="57864" y="255621"/>
                </a:lnTo>
                <a:close/>
              </a:path>
              <a:path w="1283334" h="306070">
                <a:moveTo>
                  <a:pt x="1278889" y="18034"/>
                </a:moveTo>
                <a:lnTo>
                  <a:pt x="1263903" y="18034"/>
                </a:lnTo>
                <a:lnTo>
                  <a:pt x="1257680" y="25018"/>
                </a:lnTo>
                <a:lnTo>
                  <a:pt x="1250442" y="31623"/>
                </a:lnTo>
                <a:lnTo>
                  <a:pt x="1205483" y="57785"/>
                </a:lnTo>
                <a:lnTo>
                  <a:pt x="1156843" y="76581"/>
                </a:lnTo>
                <a:lnTo>
                  <a:pt x="1118488" y="88392"/>
                </a:lnTo>
                <a:lnTo>
                  <a:pt x="1075817" y="99441"/>
                </a:lnTo>
                <a:lnTo>
                  <a:pt x="1029334" y="109728"/>
                </a:lnTo>
                <a:lnTo>
                  <a:pt x="979551" y="118999"/>
                </a:lnTo>
                <a:lnTo>
                  <a:pt x="926973" y="127000"/>
                </a:lnTo>
                <a:lnTo>
                  <a:pt x="872108" y="133985"/>
                </a:lnTo>
                <a:lnTo>
                  <a:pt x="815339" y="139445"/>
                </a:lnTo>
                <a:lnTo>
                  <a:pt x="757047" y="143510"/>
                </a:lnTo>
                <a:lnTo>
                  <a:pt x="697864" y="146050"/>
                </a:lnTo>
                <a:lnTo>
                  <a:pt x="578611" y="147828"/>
                </a:lnTo>
                <a:lnTo>
                  <a:pt x="519175" y="150368"/>
                </a:lnTo>
                <a:lnTo>
                  <a:pt x="460628" y="154431"/>
                </a:lnTo>
                <a:lnTo>
                  <a:pt x="403478" y="160147"/>
                </a:lnTo>
                <a:lnTo>
                  <a:pt x="347242" y="167131"/>
                </a:lnTo>
                <a:lnTo>
                  <a:pt x="295275" y="175132"/>
                </a:lnTo>
                <a:lnTo>
                  <a:pt x="244982" y="184404"/>
                </a:lnTo>
                <a:lnTo>
                  <a:pt x="198119" y="194691"/>
                </a:lnTo>
                <a:lnTo>
                  <a:pt x="154939" y="205994"/>
                </a:lnTo>
                <a:lnTo>
                  <a:pt x="115950" y="217931"/>
                </a:lnTo>
                <a:lnTo>
                  <a:pt x="66166" y="237236"/>
                </a:lnTo>
                <a:lnTo>
                  <a:pt x="48741" y="246815"/>
                </a:lnTo>
                <a:lnTo>
                  <a:pt x="57864" y="255621"/>
                </a:lnTo>
                <a:lnTo>
                  <a:pt x="57528" y="255621"/>
                </a:lnTo>
                <a:lnTo>
                  <a:pt x="59181" y="254381"/>
                </a:lnTo>
                <a:lnTo>
                  <a:pt x="60009" y="254381"/>
                </a:lnTo>
                <a:lnTo>
                  <a:pt x="71246" y="248919"/>
                </a:lnTo>
                <a:lnTo>
                  <a:pt x="119761" y="229997"/>
                </a:lnTo>
                <a:lnTo>
                  <a:pt x="158241" y="218186"/>
                </a:lnTo>
                <a:lnTo>
                  <a:pt x="200913" y="207137"/>
                </a:lnTo>
                <a:lnTo>
                  <a:pt x="247395" y="196850"/>
                </a:lnTo>
                <a:lnTo>
                  <a:pt x="297179" y="187706"/>
                </a:lnTo>
                <a:lnTo>
                  <a:pt x="349757" y="179578"/>
                </a:lnTo>
                <a:lnTo>
                  <a:pt x="404622" y="172719"/>
                </a:lnTo>
                <a:lnTo>
                  <a:pt x="461518" y="167131"/>
                </a:lnTo>
                <a:lnTo>
                  <a:pt x="519683" y="163068"/>
                </a:lnTo>
                <a:lnTo>
                  <a:pt x="578738" y="160528"/>
                </a:lnTo>
                <a:lnTo>
                  <a:pt x="698500" y="158750"/>
                </a:lnTo>
                <a:lnTo>
                  <a:pt x="757935" y="156210"/>
                </a:lnTo>
                <a:lnTo>
                  <a:pt x="816482" y="152145"/>
                </a:lnTo>
                <a:lnTo>
                  <a:pt x="873632" y="146557"/>
                </a:lnTo>
                <a:lnTo>
                  <a:pt x="928877" y="139573"/>
                </a:lnTo>
                <a:lnTo>
                  <a:pt x="981836" y="131444"/>
                </a:lnTo>
                <a:lnTo>
                  <a:pt x="1032001" y="122174"/>
                </a:lnTo>
                <a:lnTo>
                  <a:pt x="1078864" y="111887"/>
                </a:lnTo>
                <a:lnTo>
                  <a:pt x="1122045" y="100584"/>
                </a:lnTo>
                <a:lnTo>
                  <a:pt x="1161160" y="88645"/>
                </a:lnTo>
                <a:lnTo>
                  <a:pt x="1210818" y="69214"/>
                </a:lnTo>
                <a:lnTo>
                  <a:pt x="1249045" y="48387"/>
                </a:lnTo>
                <a:lnTo>
                  <a:pt x="1273555" y="26162"/>
                </a:lnTo>
                <a:lnTo>
                  <a:pt x="1273809" y="25907"/>
                </a:lnTo>
                <a:lnTo>
                  <a:pt x="1273936" y="25654"/>
                </a:lnTo>
                <a:lnTo>
                  <a:pt x="1278762" y="18287"/>
                </a:lnTo>
                <a:lnTo>
                  <a:pt x="1278889" y="18034"/>
                </a:lnTo>
                <a:close/>
              </a:path>
              <a:path w="1283334" h="306070">
                <a:moveTo>
                  <a:pt x="59181" y="254381"/>
                </a:moveTo>
                <a:lnTo>
                  <a:pt x="57528" y="255621"/>
                </a:lnTo>
                <a:lnTo>
                  <a:pt x="58298" y="255212"/>
                </a:lnTo>
                <a:lnTo>
                  <a:pt x="59181" y="254381"/>
                </a:lnTo>
                <a:close/>
              </a:path>
              <a:path w="1283334" h="306070">
                <a:moveTo>
                  <a:pt x="58298" y="255212"/>
                </a:moveTo>
                <a:lnTo>
                  <a:pt x="57458" y="255621"/>
                </a:lnTo>
                <a:lnTo>
                  <a:pt x="57864" y="255621"/>
                </a:lnTo>
                <a:lnTo>
                  <a:pt x="58298" y="255212"/>
                </a:lnTo>
                <a:close/>
              </a:path>
              <a:path w="1283334" h="306070">
                <a:moveTo>
                  <a:pt x="60009" y="254381"/>
                </a:moveTo>
                <a:lnTo>
                  <a:pt x="59181" y="254381"/>
                </a:lnTo>
                <a:lnTo>
                  <a:pt x="58298" y="255212"/>
                </a:lnTo>
                <a:lnTo>
                  <a:pt x="60009" y="254381"/>
                </a:lnTo>
                <a:close/>
              </a:path>
              <a:path w="1283334" h="306070">
                <a:moveTo>
                  <a:pt x="1281287" y="11684"/>
                </a:moveTo>
                <a:lnTo>
                  <a:pt x="1267840" y="11684"/>
                </a:lnTo>
                <a:lnTo>
                  <a:pt x="1267460" y="12276"/>
                </a:lnTo>
                <a:lnTo>
                  <a:pt x="1267205" y="12954"/>
                </a:lnTo>
                <a:lnTo>
                  <a:pt x="1267024" y="12954"/>
                </a:lnTo>
                <a:lnTo>
                  <a:pt x="1263595" y="18287"/>
                </a:lnTo>
                <a:lnTo>
                  <a:pt x="1263903" y="18034"/>
                </a:lnTo>
                <a:lnTo>
                  <a:pt x="1278889" y="18034"/>
                </a:lnTo>
                <a:lnTo>
                  <a:pt x="1279017" y="17780"/>
                </a:lnTo>
                <a:lnTo>
                  <a:pt x="1279144" y="17399"/>
                </a:lnTo>
                <a:lnTo>
                  <a:pt x="1280810" y="12954"/>
                </a:lnTo>
                <a:lnTo>
                  <a:pt x="1267205" y="12954"/>
                </a:lnTo>
                <a:lnTo>
                  <a:pt x="1267544" y="12276"/>
                </a:lnTo>
                <a:lnTo>
                  <a:pt x="1281064" y="12276"/>
                </a:lnTo>
                <a:lnTo>
                  <a:pt x="1281287" y="11684"/>
                </a:lnTo>
                <a:close/>
              </a:path>
              <a:path w="1283334" h="306070">
                <a:moveTo>
                  <a:pt x="1270507" y="0"/>
                </a:moveTo>
                <a:lnTo>
                  <a:pt x="1270289" y="1778"/>
                </a:lnTo>
                <a:lnTo>
                  <a:pt x="1269873" y="5842"/>
                </a:lnTo>
                <a:lnTo>
                  <a:pt x="1269750" y="6168"/>
                </a:lnTo>
                <a:lnTo>
                  <a:pt x="1269619" y="7238"/>
                </a:lnTo>
                <a:lnTo>
                  <a:pt x="1269349" y="7238"/>
                </a:lnTo>
                <a:lnTo>
                  <a:pt x="1267460" y="12276"/>
                </a:lnTo>
                <a:lnTo>
                  <a:pt x="1267840" y="11684"/>
                </a:lnTo>
                <a:lnTo>
                  <a:pt x="1281287" y="11684"/>
                </a:lnTo>
                <a:lnTo>
                  <a:pt x="1281810" y="10287"/>
                </a:lnTo>
                <a:lnTo>
                  <a:pt x="1281937" y="9779"/>
                </a:lnTo>
                <a:lnTo>
                  <a:pt x="1282064" y="9398"/>
                </a:lnTo>
                <a:lnTo>
                  <a:pt x="1282192" y="8889"/>
                </a:lnTo>
                <a:lnTo>
                  <a:pt x="1282398" y="7238"/>
                </a:lnTo>
                <a:lnTo>
                  <a:pt x="1269619" y="7238"/>
                </a:lnTo>
                <a:lnTo>
                  <a:pt x="1269813" y="6168"/>
                </a:lnTo>
                <a:lnTo>
                  <a:pt x="1282532" y="6168"/>
                </a:lnTo>
                <a:lnTo>
                  <a:pt x="1283080" y="1778"/>
                </a:lnTo>
                <a:lnTo>
                  <a:pt x="1270507" y="0"/>
                </a:lnTo>
                <a:close/>
              </a:path>
            </a:pathLst>
          </a:custGeom>
          <a:solidFill>
            <a:srgbClr val="00C2FF"/>
          </a:solidFill>
        </p:spPr>
        <p:txBody>
          <a:bodyPr wrap="square" lIns="0" tIns="0" rIns="0" bIns="0" rtlCol="0"/>
          <a:lstStyle/>
          <a:p>
            <a:endParaRPr sz="2400"/>
          </a:p>
        </p:txBody>
      </p:sp>
      <p:grpSp>
        <p:nvGrpSpPr>
          <p:cNvPr id="11" name="object 11"/>
          <p:cNvGrpSpPr/>
          <p:nvPr/>
        </p:nvGrpSpPr>
        <p:grpSpPr>
          <a:xfrm>
            <a:off x="1375664" y="2279903"/>
            <a:ext cx="5683673" cy="3776133"/>
            <a:chOff x="1031747" y="1709927"/>
            <a:chExt cx="4262755" cy="2832100"/>
          </a:xfrm>
        </p:grpSpPr>
        <p:pic>
          <p:nvPicPr>
            <p:cNvPr id="12" name="object 12"/>
            <p:cNvPicPr/>
            <p:nvPr/>
          </p:nvPicPr>
          <p:blipFill>
            <a:blip r:embed="rId2" cstate="print"/>
            <a:stretch>
              <a:fillRect/>
            </a:stretch>
          </p:blipFill>
          <p:spPr>
            <a:xfrm>
              <a:off x="1036319" y="1709927"/>
              <a:ext cx="4258056" cy="2831592"/>
            </a:xfrm>
            <a:prstGeom prst="rect">
              <a:avLst/>
            </a:prstGeom>
          </p:spPr>
        </p:pic>
        <p:pic>
          <p:nvPicPr>
            <p:cNvPr id="13" name="object 13"/>
            <p:cNvPicPr/>
            <p:nvPr/>
          </p:nvPicPr>
          <p:blipFill>
            <a:blip r:embed="rId3" cstate="print"/>
            <a:stretch>
              <a:fillRect/>
            </a:stretch>
          </p:blipFill>
          <p:spPr>
            <a:xfrm>
              <a:off x="1031747" y="1827275"/>
              <a:ext cx="4204716" cy="2694432"/>
            </a:xfrm>
            <a:prstGeom prst="rect">
              <a:avLst/>
            </a:prstGeom>
          </p:spPr>
        </p:pic>
      </p:grpSp>
      <p:sp>
        <p:nvSpPr>
          <p:cNvPr id="14" name="object 14"/>
          <p:cNvSpPr txBox="1"/>
          <p:nvPr/>
        </p:nvSpPr>
        <p:spPr>
          <a:xfrm>
            <a:off x="1444751" y="2312416"/>
            <a:ext cx="5557520" cy="3460649"/>
          </a:xfrm>
          <a:prstGeom prst="rect">
            <a:avLst/>
          </a:prstGeom>
          <a:solidFill>
            <a:srgbClr val="404040"/>
          </a:solidFill>
          <a:ln w="9144">
            <a:solidFill>
              <a:srgbClr val="373737"/>
            </a:solidFill>
          </a:ln>
        </p:spPr>
        <p:txBody>
          <a:bodyPr vert="horz" wrap="square" lIns="0" tIns="206587" rIns="0" bIns="0" rtlCol="0">
            <a:spAutoFit/>
          </a:bodyPr>
          <a:lstStyle/>
          <a:p>
            <a:pPr marL="579952" indent="-458035">
              <a:spcBef>
                <a:spcPts val="1627"/>
              </a:spcBef>
              <a:buFont typeface="Courier New"/>
              <a:buChar char="o"/>
              <a:tabLst>
                <a:tab pos="579952" algn="l"/>
              </a:tabLst>
            </a:pPr>
            <a:r>
              <a:rPr sz="1867" dirty="0">
                <a:solidFill>
                  <a:srgbClr val="FFFFFF"/>
                </a:solidFill>
                <a:latin typeface="Calibri"/>
                <a:cs typeface="Calibri"/>
              </a:rPr>
              <a:t>Relational</a:t>
            </a:r>
            <a:r>
              <a:rPr sz="1867" spc="-60" dirty="0">
                <a:solidFill>
                  <a:srgbClr val="FFFFFF"/>
                </a:solidFill>
                <a:latin typeface="Calibri"/>
                <a:cs typeface="Calibri"/>
              </a:rPr>
              <a:t> </a:t>
            </a:r>
            <a:r>
              <a:rPr sz="1867" dirty="0">
                <a:solidFill>
                  <a:srgbClr val="FFFFFF"/>
                </a:solidFill>
                <a:latin typeface="Calibri"/>
                <a:cs typeface="Calibri"/>
              </a:rPr>
              <a:t>database</a:t>
            </a:r>
            <a:r>
              <a:rPr sz="1867" spc="-40" dirty="0">
                <a:solidFill>
                  <a:srgbClr val="FFFFFF"/>
                </a:solidFill>
                <a:latin typeface="Calibri"/>
                <a:cs typeface="Calibri"/>
              </a:rPr>
              <a:t> </a:t>
            </a:r>
            <a:r>
              <a:rPr sz="1867" spc="-13" dirty="0">
                <a:solidFill>
                  <a:srgbClr val="FFFFFF"/>
                </a:solidFill>
                <a:latin typeface="Calibri"/>
                <a:cs typeface="Calibri"/>
              </a:rPr>
              <a:t>management</a:t>
            </a:r>
            <a:r>
              <a:rPr sz="1867" spc="-47" dirty="0">
                <a:solidFill>
                  <a:srgbClr val="FFFFFF"/>
                </a:solidFill>
                <a:latin typeface="Calibri"/>
                <a:cs typeface="Calibri"/>
              </a:rPr>
              <a:t> </a:t>
            </a:r>
            <a:r>
              <a:rPr sz="1867" dirty="0">
                <a:solidFill>
                  <a:srgbClr val="FFFFFF"/>
                </a:solidFill>
                <a:latin typeface="Calibri"/>
                <a:cs typeface="Calibri"/>
              </a:rPr>
              <a:t>system</a:t>
            </a:r>
            <a:r>
              <a:rPr sz="1867" spc="-80" dirty="0">
                <a:solidFill>
                  <a:srgbClr val="FFFFFF"/>
                </a:solidFill>
                <a:latin typeface="Calibri"/>
                <a:cs typeface="Calibri"/>
              </a:rPr>
              <a:t> </a:t>
            </a:r>
            <a:r>
              <a:rPr sz="1867" spc="-13" dirty="0">
                <a:solidFill>
                  <a:srgbClr val="FFFFFF"/>
                </a:solidFill>
                <a:latin typeface="Calibri"/>
                <a:cs typeface="Calibri"/>
              </a:rPr>
              <a:t>(RDMS)</a:t>
            </a:r>
            <a:endParaRPr sz="1867">
              <a:latin typeface="Calibri"/>
              <a:cs typeface="Calibri"/>
            </a:endParaRPr>
          </a:p>
          <a:p>
            <a:pPr marL="504601">
              <a:spcBef>
                <a:spcPts val="1120"/>
              </a:spcBef>
            </a:pPr>
            <a:r>
              <a:rPr sz="1867" i="1" spc="-13" dirty="0">
                <a:solidFill>
                  <a:srgbClr val="FFFFFF"/>
                </a:solidFill>
                <a:latin typeface="Calibri"/>
                <a:cs typeface="Calibri"/>
              </a:rPr>
              <a:t>Oracle</a:t>
            </a:r>
            <a:endParaRPr sz="1867">
              <a:latin typeface="Calibri"/>
              <a:cs typeface="Calibri"/>
            </a:endParaRPr>
          </a:p>
          <a:p>
            <a:pPr marL="504601" marR="3045384">
              <a:lnSpc>
                <a:spcPct val="150000"/>
              </a:lnSpc>
            </a:pPr>
            <a:r>
              <a:rPr sz="1867" i="1" dirty="0">
                <a:solidFill>
                  <a:srgbClr val="FFFFFF"/>
                </a:solidFill>
                <a:latin typeface="Calibri"/>
                <a:cs typeface="Calibri"/>
              </a:rPr>
              <a:t>Microsoft</a:t>
            </a:r>
            <a:r>
              <a:rPr sz="1867" i="1" spc="-80" dirty="0">
                <a:solidFill>
                  <a:srgbClr val="FFFFFF"/>
                </a:solidFill>
                <a:latin typeface="Calibri"/>
                <a:cs typeface="Calibri"/>
              </a:rPr>
              <a:t> </a:t>
            </a:r>
            <a:r>
              <a:rPr sz="1867" i="1" dirty="0">
                <a:solidFill>
                  <a:srgbClr val="FFFFFF"/>
                </a:solidFill>
                <a:latin typeface="Calibri"/>
                <a:cs typeface="Calibri"/>
              </a:rPr>
              <a:t>SQL</a:t>
            </a:r>
            <a:r>
              <a:rPr sz="1867" i="1" spc="-60" dirty="0">
                <a:solidFill>
                  <a:srgbClr val="FFFFFF"/>
                </a:solidFill>
                <a:latin typeface="Calibri"/>
                <a:cs typeface="Calibri"/>
              </a:rPr>
              <a:t> </a:t>
            </a:r>
            <a:r>
              <a:rPr sz="1867" i="1" spc="-13" dirty="0">
                <a:solidFill>
                  <a:srgbClr val="FFFFFF"/>
                </a:solidFill>
                <a:latin typeface="Calibri"/>
                <a:cs typeface="Calibri"/>
              </a:rPr>
              <a:t>Server PostgreSQL</a:t>
            </a:r>
            <a:endParaRPr sz="1867">
              <a:latin typeface="Calibri"/>
              <a:cs typeface="Calibri"/>
            </a:endParaRPr>
          </a:p>
          <a:p>
            <a:pPr marL="504601">
              <a:spcBef>
                <a:spcPts val="1120"/>
              </a:spcBef>
            </a:pPr>
            <a:r>
              <a:rPr sz="1867" i="1" spc="-13" dirty="0">
                <a:solidFill>
                  <a:srgbClr val="FFFFFF"/>
                </a:solidFill>
                <a:latin typeface="Calibri"/>
                <a:cs typeface="Calibri"/>
              </a:rPr>
              <a:t>MySQL</a:t>
            </a:r>
            <a:endParaRPr sz="1867">
              <a:latin typeface="Calibri"/>
              <a:cs typeface="Calibri"/>
            </a:endParaRPr>
          </a:p>
          <a:p>
            <a:pPr marL="504601">
              <a:spcBef>
                <a:spcPts val="1120"/>
              </a:spcBef>
            </a:pPr>
            <a:r>
              <a:rPr sz="1867" i="1" dirty="0">
                <a:solidFill>
                  <a:srgbClr val="FFFFFF"/>
                </a:solidFill>
                <a:latin typeface="Calibri"/>
                <a:cs typeface="Calibri"/>
              </a:rPr>
              <a:t>Amazon</a:t>
            </a:r>
            <a:r>
              <a:rPr sz="1867" i="1" spc="-73" dirty="0">
                <a:solidFill>
                  <a:srgbClr val="FFFFFF"/>
                </a:solidFill>
                <a:latin typeface="Calibri"/>
                <a:cs typeface="Calibri"/>
              </a:rPr>
              <a:t> </a:t>
            </a:r>
            <a:r>
              <a:rPr sz="1867" i="1" dirty="0">
                <a:solidFill>
                  <a:srgbClr val="FFFFFF"/>
                </a:solidFill>
                <a:latin typeface="Calibri"/>
                <a:cs typeface="Calibri"/>
              </a:rPr>
              <a:t>Relational</a:t>
            </a:r>
            <a:r>
              <a:rPr sz="1867" i="1" spc="-40" dirty="0">
                <a:solidFill>
                  <a:srgbClr val="FFFFFF"/>
                </a:solidFill>
                <a:latin typeface="Calibri"/>
                <a:cs typeface="Calibri"/>
              </a:rPr>
              <a:t> </a:t>
            </a:r>
            <a:r>
              <a:rPr sz="1867" i="1" dirty="0">
                <a:solidFill>
                  <a:srgbClr val="FFFFFF"/>
                </a:solidFill>
                <a:latin typeface="Calibri"/>
                <a:cs typeface="Calibri"/>
              </a:rPr>
              <a:t>Database</a:t>
            </a:r>
            <a:r>
              <a:rPr sz="1867" i="1" spc="-33" dirty="0">
                <a:solidFill>
                  <a:srgbClr val="FFFFFF"/>
                </a:solidFill>
                <a:latin typeface="Calibri"/>
                <a:cs typeface="Calibri"/>
              </a:rPr>
              <a:t> </a:t>
            </a:r>
            <a:r>
              <a:rPr sz="1867" i="1" dirty="0">
                <a:solidFill>
                  <a:srgbClr val="FFFFFF"/>
                </a:solidFill>
                <a:latin typeface="Calibri"/>
                <a:cs typeface="Calibri"/>
              </a:rPr>
              <a:t>Service</a:t>
            </a:r>
            <a:r>
              <a:rPr sz="1867" i="1" spc="-73" dirty="0">
                <a:solidFill>
                  <a:srgbClr val="FFFFFF"/>
                </a:solidFill>
                <a:latin typeface="Calibri"/>
                <a:cs typeface="Calibri"/>
              </a:rPr>
              <a:t> </a:t>
            </a:r>
            <a:r>
              <a:rPr sz="1867" i="1" spc="-13" dirty="0">
                <a:solidFill>
                  <a:srgbClr val="FFFFFF"/>
                </a:solidFill>
                <a:latin typeface="Calibri"/>
                <a:cs typeface="Calibri"/>
              </a:rPr>
              <a:t>(RDS)</a:t>
            </a:r>
            <a:endParaRPr sz="1867">
              <a:latin typeface="Calibri"/>
              <a:cs typeface="Calibri"/>
            </a:endParaRPr>
          </a:p>
          <a:p>
            <a:pPr marL="504601" marR="3037764">
              <a:lnSpc>
                <a:spcPct val="150000"/>
              </a:lnSpc>
              <a:spcBef>
                <a:spcPts val="7"/>
              </a:spcBef>
            </a:pPr>
            <a:r>
              <a:rPr sz="1867" i="1" dirty="0">
                <a:solidFill>
                  <a:srgbClr val="FFFFFF"/>
                </a:solidFill>
                <a:latin typeface="Calibri"/>
                <a:cs typeface="Calibri"/>
              </a:rPr>
              <a:t>Azure</a:t>
            </a:r>
            <a:r>
              <a:rPr sz="1867" i="1" spc="-33" dirty="0">
                <a:solidFill>
                  <a:srgbClr val="FFFFFF"/>
                </a:solidFill>
                <a:latin typeface="Calibri"/>
                <a:cs typeface="Calibri"/>
              </a:rPr>
              <a:t> </a:t>
            </a:r>
            <a:r>
              <a:rPr sz="1867" i="1" dirty="0">
                <a:solidFill>
                  <a:srgbClr val="FFFFFF"/>
                </a:solidFill>
                <a:latin typeface="Calibri"/>
                <a:cs typeface="Calibri"/>
              </a:rPr>
              <a:t>SQL</a:t>
            </a:r>
            <a:r>
              <a:rPr sz="1867" i="1" spc="-27" dirty="0">
                <a:solidFill>
                  <a:srgbClr val="FFFFFF"/>
                </a:solidFill>
                <a:latin typeface="Calibri"/>
                <a:cs typeface="Calibri"/>
              </a:rPr>
              <a:t> </a:t>
            </a:r>
            <a:r>
              <a:rPr sz="1867" i="1" spc="-13" dirty="0">
                <a:solidFill>
                  <a:srgbClr val="FFFFFF"/>
                </a:solidFill>
                <a:latin typeface="Calibri"/>
                <a:cs typeface="Calibri"/>
              </a:rPr>
              <a:t>databases (Snowflake)</a:t>
            </a:r>
            <a:endParaRPr sz="1867">
              <a:latin typeface="Calibri"/>
              <a:cs typeface="Calibri"/>
            </a:endParaRPr>
          </a:p>
        </p:txBody>
      </p:sp>
      <p:sp>
        <p:nvSpPr>
          <p:cNvPr id="15" name="TextBox 14">
            <a:extLst>
              <a:ext uri="{FF2B5EF4-FFF2-40B4-BE49-F238E27FC236}">
                <a16:creationId xmlns:a16="http://schemas.microsoft.com/office/drawing/2014/main" id="{253B1C8B-A446-4104-4F8E-C509ACDC13E0}"/>
              </a:ext>
            </a:extLst>
          </p:cNvPr>
          <p:cNvSpPr txBox="1"/>
          <p:nvPr/>
        </p:nvSpPr>
        <p:spPr>
          <a:xfrm>
            <a:off x="3047172" y="226398"/>
            <a:ext cx="6097656" cy="769441"/>
          </a:xfrm>
          <a:prstGeom prst="rect">
            <a:avLst/>
          </a:prstGeom>
          <a:noFill/>
        </p:spPr>
        <p:txBody>
          <a:bodyPr wrap="square">
            <a:spAutoFit/>
          </a:bodyPr>
          <a:lstStyle/>
          <a:p>
            <a:pPr algn="ctr"/>
            <a:r>
              <a:rPr lang="en-IN" sz="4400" dirty="0">
                <a:solidFill>
                  <a:schemeClr val="bg1"/>
                </a:solidFill>
                <a:latin typeface="+mn-lt"/>
              </a:rPr>
              <a:t>Relational</a:t>
            </a:r>
            <a:r>
              <a:rPr lang="en-IN" sz="4400" spc="-27" dirty="0">
                <a:solidFill>
                  <a:schemeClr val="bg1"/>
                </a:solidFill>
                <a:latin typeface="+mn-lt"/>
              </a:rPr>
              <a:t> </a:t>
            </a:r>
            <a:r>
              <a:rPr lang="en-IN" sz="4400" spc="-13" dirty="0">
                <a:solidFill>
                  <a:schemeClr val="bg1"/>
                </a:solidFill>
                <a:latin typeface="+mn-lt"/>
              </a:rPr>
              <a:t>Database</a:t>
            </a:r>
            <a:endParaRPr lang="en-IN" sz="4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388D54F-BBC5-55BA-65CD-E94CC31CBDF5}"/>
              </a:ext>
            </a:extLst>
          </p:cNvPr>
          <p:cNvSpPr txBox="1"/>
          <p:nvPr/>
        </p:nvSpPr>
        <p:spPr>
          <a:xfrm>
            <a:off x="3047172" y="2659559"/>
            <a:ext cx="6097656" cy="830997"/>
          </a:xfrm>
          <a:prstGeom prst="rect">
            <a:avLst/>
          </a:prstGeom>
          <a:noFill/>
        </p:spPr>
        <p:txBody>
          <a:bodyPr wrap="square">
            <a:spAutoFit/>
          </a:bodyPr>
          <a:lstStyle/>
          <a:p>
            <a:pPr algn="ctr"/>
            <a:r>
              <a:rPr lang="en-IN" sz="4800" dirty="0">
                <a:solidFill>
                  <a:schemeClr val="bg1"/>
                </a:solidFill>
                <a:latin typeface="+mn-lt"/>
              </a:rPr>
              <a:t>In Memory Database</a:t>
            </a:r>
            <a:endParaRPr lang="en-IN" sz="4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433065" y="2362201"/>
            <a:ext cx="5510953" cy="2533172"/>
          </a:xfrm>
          <a:prstGeom prst="rect">
            <a:avLst/>
          </a:prstGeom>
        </p:spPr>
        <p:txBody>
          <a:bodyPr vert="horz" wrap="square" lIns="0" tIns="16933" rIns="0" bIns="0" rtlCol="0">
            <a:spAutoFit/>
          </a:bodyPr>
          <a:lstStyle/>
          <a:p>
            <a:pPr marL="422476" indent="-380990">
              <a:spcBef>
                <a:spcPts val="133"/>
              </a:spcBef>
              <a:buClr>
                <a:srgbClr val="99D3FF"/>
              </a:buClr>
              <a:buFont typeface="Wingdings"/>
              <a:buChar char=""/>
              <a:tabLst>
                <a:tab pos="422476" algn="l"/>
              </a:tabLst>
            </a:pPr>
            <a:r>
              <a:rPr sz="2400" b="1" dirty="0">
                <a:solidFill>
                  <a:srgbClr val="D9D9D9"/>
                </a:solidFill>
                <a:latin typeface="Calibri"/>
                <a:cs typeface="Calibri"/>
              </a:rPr>
              <a:t>Highly</a:t>
            </a:r>
            <a:r>
              <a:rPr sz="2400" b="1" spc="-40" dirty="0">
                <a:solidFill>
                  <a:srgbClr val="D9D9D9"/>
                </a:solidFill>
                <a:latin typeface="Calibri"/>
                <a:cs typeface="Calibri"/>
              </a:rPr>
              <a:t> </a:t>
            </a:r>
            <a:r>
              <a:rPr sz="2400" b="1" dirty="0">
                <a:solidFill>
                  <a:srgbClr val="D9D9D9"/>
                </a:solidFill>
                <a:latin typeface="Calibri"/>
                <a:cs typeface="Calibri"/>
              </a:rPr>
              <a:t>optimized</a:t>
            </a:r>
            <a:r>
              <a:rPr sz="2400" b="1" spc="-73" dirty="0">
                <a:solidFill>
                  <a:srgbClr val="D9D9D9"/>
                </a:solidFill>
                <a:latin typeface="Calibri"/>
                <a:cs typeface="Calibri"/>
              </a:rPr>
              <a:t> </a:t>
            </a:r>
            <a:r>
              <a:rPr sz="2400" b="1" dirty="0">
                <a:solidFill>
                  <a:srgbClr val="D9D9D9"/>
                </a:solidFill>
                <a:latin typeface="Calibri"/>
                <a:cs typeface="Calibri"/>
              </a:rPr>
              <a:t>for</a:t>
            </a:r>
            <a:r>
              <a:rPr sz="2400" b="1" spc="-7" dirty="0">
                <a:solidFill>
                  <a:srgbClr val="D9D9D9"/>
                </a:solidFill>
                <a:latin typeface="Calibri"/>
                <a:cs typeface="Calibri"/>
              </a:rPr>
              <a:t> </a:t>
            </a:r>
            <a:r>
              <a:rPr sz="2400" b="1" dirty="0">
                <a:solidFill>
                  <a:srgbClr val="D9D9D9"/>
                </a:solidFill>
                <a:latin typeface="Calibri"/>
                <a:cs typeface="Calibri"/>
              </a:rPr>
              <a:t>query</a:t>
            </a:r>
            <a:r>
              <a:rPr sz="2400" b="1" spc="-47" dirty="0">
                <a:solidFill>
                  <a:srgbClr val="D9D9D9"/>
                </a:solidFill>
                <a:latin typeface="Calibri"/>
                <a:cs typeface="Calibri"/>
              </a:rPr>
              <a:t> </a:t>
            </a:r>
            <a:r>
              <a:rPr sz="2400" b="1" spc="-13" dirty="0">
                <a:solidFill>
                  <a:srgbClr val="D9D9D9"/>
                </a:solidFill>
                <a:latin typeface="Calibri"/>
                <a:cs typeface="Calibri"/>
              </a:rPr>
              <a:t>performance</a:t>
            </a:r>
            <a:endParaRPr sz="2400">
              <a:latin typeface="Calibri"/>
              <a:cs typeface="Calibri"/>
            </a:endParaRPr>
          </a:p>
          <a:p>
            <a:pPr marL="422476" indent="-380990">
              <a:spcBef>
                <a:spcPts val="2820"/>
              </a:spcBef>
              <a:buClr>
                <a:srgbClr val="99D3FF"/>
              </a:buClr>
              <a:buFont typeface="Wingdings"/>
              <a:buChar char=""/>
              <a:tabLst>
                <a:tab pos="422476" algn="l"/>
              </a:tabLst>
            </a:pPr>
            <a:r>
              <a:rPr sz="2400" b="1" dirty="0">
                <a:solidFill>
                  <a:srgbClr val="D9D9D9"/>
                </a:solidFill>
                <a:latin typeface="Calibri"/>
                <a:cs typeface="Calibri"/>
              </a:rPr>
              <a:t>Good</a:t>
            </a:r>
            <a:r>
              <a:rPr sz="2400" b="1" spc="-40" dirty="0">
                <a:solidFill>
                  <a:srgbClr val="D9D9D9"/>
                </a:solidFill>
                <a:latin typeface="Calibri"/>
                <a:cs typeface="Calibri"/>
              </a:rPr>
              <a:t> </a:t>
            </a:r>
            <a:r>
              <a:rPr sz="2400" b="1" dirty="0">
                <a:solidFill>
                  <a:srgbClr val="D9D9D9"/>
                </a:solidFill>
                <a:latin typeface="Calibri"/>
                <a:cs typeface="Calibri"/>
              </a:rPr>
              <a:t>for</a:t>
            </a:r>
            <a:r>
              <a:rPr sz="2400" b="1" spc="-20" dirty="0">
                <a:solidFill>
                  <a:srgbClr val="D9D9D9"/>
                </a:solidFill>
                <a:latin typeface="Calibri"/>
                <a:cs typeface="Calibri"/>
              </a:rPr>
              <a:t> </a:t>
            </a:r>
            <a:r>
              <a:rPr sz="2400" b="1" dirty="0">
                <a:solidFill>
                  <a:srgbClr val="D9D9D9"/>
                </a:solidFill>
                <a:latin typeface="Calibri"/>
                <a:cs typeface="Calibri"/>
              </a:rPr>
              <a:t>Analytics</a:t>
            </a:r>
            <a:r>
              <a:rPr sz="2400" b="1" spc="-53" dirty="0">
                <a:solidFill>
                  <a:srgbClr val="D9D9D9"/>
                </a:solidFill>
                <a:latin typeface="Calibri"/>
                <a:cs typeface="Calibri"/>
              </a:rPr>
              <a:t> </a:t>
            </a:r>
            <a:r>
              <a:rPr sz="2400" b="1" dirty="0">
                <a:solidFill>
                  <a:srgbClr val="D9D9D9"/>
                </a:solidFill>
                <a:latin typeface="Calibri"/>
                <a:cs typeface="Calibri"/>
              </a:rPr>
              <a:t>/</a:t>
            </a:r>
            <a:r>
              <a:rPr sz="2400" b="1" spc="-7" dirty="0">
                <a:solidFill>
                  <a:srgbClr val="D9D9D9"/>
                </a:solidFill>
                <a:latin typeface="Calibri"/>
                <a:cs typeface="Calibri"/>
              </a:rPr>
              <a:t> </a:t>
            </a:r>
            <a:r>
              <a:rPr sz="2400" b="1" dirty="0">
                <a:solidFill>
                  <a:srgbClr val="D9D9D9"/>
                </a:solidFill>
                <a:latin typeface="Calibri"/>
                <a:cs typeface="Calibri"/>
              </a:rPr>
              <a:t>High</a:t>
            </a:r>
            <a:r>
              <a:rPr sz="2400" b="1" spc="-27" dirty="0">
                <a:solidFill>
                  <a:srgbClr val="D9D9D9"/>
                </a:solidFill>
                <a:latin typeface="Calibri"/>
                <a:cs typeface="Calibri"/>
              </a:rPr>
              <a:t> </a:t>
            </a:r>
            <a:r>
              <a:rPr sz="2400" b="1" dirty="0">
                <a:solidFill>
                  <a:srgbClr val="D9D9D9"/>
                </a:solidFill>
                <a:latin typeface="Calibri"/>
                <a:cs typeface="Calibri"/>
              </a:rPr>
              <a:t>query</a:t>
            </a:r>
            <a:r>
              <a:rPr sz="2400" b="1" spc="-47" dirty="0">
                <a:solidFill>
                  <a:srgbClr val="D9D9D9"/>
                </a:solidFill>
                <a:latin typeface="Calibri"/>
                <a:cs typeface="Calibri"/>
              </a:rPr>
              <a:t> </a:t>
            </a:r>
            <a:r>
              <a:rPr sz="2400" b="1" spc="-13" dirty="0">
                <a:solidFill>
                  <a:srgbClr val="D9D9D9"/>
                </a:solidFill>
                <a:latin typeface="Calibri"/>
                <a:cs typeface="Calibri"/>
              </a:rPr>
              <a:t>volume</a:t>
            </a:r>
            <a:endParaRPr sz="2400">
              <a:latin typeface="Calibri"/>
              <a:cs typeface="Calibri"/>
            </a:endParaRPr>
          </a:p>
          <a:p>
            <a:pPr marL="397923" indent="-380990">
              <a:spcBef>
                <a:spcPts val="2519"/>
              </a:spcBef>
              <a:buClr>
                <a:srgbClr val="99D3FF"/>
              </a:buClr>
              <a:buFont typeface="Wingdings"/>
              <a:buChar char=""/>
              <a:tabLst>
                <a:tab pos="397923" algn="l"/>
              </a:tabLst>
            </a:pPr>
            <a:r>
              <a:rPr sz="2400" b="1" dirty="0">
                <a:solidFill>
                  <a:srgbClr val="D9D9D9"/>
                </a:solidFill>
                <a:latin typeface="Calibri"/>
                <a:cs typeface="Calibri"/>
              </a:rPr>
              <a:t>Usually</a:t>
            </a:r>
            <a:r>
              <a:rPr sz="2400" b="1" spc="-40" dirty="0">
                <a:solidFill>
                  <a:srgbClr val="D9D9D9"/>
                </a:solidFill>
                <a:latin typeface="Calibri"/>
                <a:cs typeface="Calibri"/>
              </a:rPr>
              <a:t> </a:t>
            </a:r>
            <a:r>
              <a:rPr sz="2400" b="1" dirty="0">
                <a:solidFill>
                  <a:srgbClr val="D9D9D9"/>
                </a:solidFill>
                <a:latin typeface="Calibri"/>
                <a:cs typeface="Calibri"/>
              </a:rPr>
              <a:t>used</a:t>
            </a:r>
            <a:r>
              <a:rPr sz="2400" b="1" spc="-13" dirty="0">
                <a:solidFill>
                  <a:srgbClr val="D9D9D9"/>
                </a:solidFill>
                <a:latin typeface="Calibri"/>
                <a:cs typeface="Calibri"/>
              </a:rPr>
              <a:t> </a:t>
            </a:r>
            <a:r>
              <a:rPr sz="2400" b="1" dirty="0">
                <a:solidFill>
                  <a:srgbClr val="D9D9D9"/>
                </a:solidFill>
                <a:latin typeface="Calibri"/>
                <a:cs typeface="Calibri"/>
              </a:rPr>
              <a:t>for</a:t>
            </a:r>
            <a:r>
              <a:rPr sz="2400" b="1" spc="-40" dirty="0">
                <a:solidFill>
                  <a:srgbClr val="D9D9D9"/>
                </a:solidFill>
                <a:latin typeface="Calibri"/>
                <a:cs typeface="Calibri"/>
              </a:rPr>
              <a:t> </a:t>
            </a:r>
            <a:r>
              <a:rPr sz="2400" b="1" dirty="0">
                <a:solidFill>
                  <a:srgbClr val="D9D9D9"/>
                </a:solidFill>
                <a:latin typeface="Calibri"/>
                <a:cs typeface="Calibri"/>
              </a:rPr>
              <a:t>data </a:t>
            </a:r>
            <a:r>
              <a:rPr sz="2400" b="1" spc="-27" dirty="0">
                <a:solidFill>
                  <a:srgbClr val="D9D9D9"/>
                </a:solidFill>
                <a:latin typeface="Calibri"/>
                <a:cs typeface="Calibri"/>
              </a:rPr>
              <a:t>marts</a:t>
            </a:r>
            <a:endParaRPr sz="2400">
              <a:latin typeface="Calibri"/>
              <a:cs typeface="Calibri"/>
            </a:endParaRPr>
          </a:p>
          <a:p>
            <a:pPr marL="397923" indent="-380990">
              <a:spcBef>
                <a:spcPts val="2820"/>
              </a:spcBef>
              <a:buClr>
                <a:srgbClr val="99D3FF"/>
              </a:buClr>
              <a:buFont typeface="Wingdings"/>
              <a:buChar char=""/>
              <a:tabLst>
                <a:tab pos="397923" algn="l"/>
              </a:tabLst>
            </a:pPr>
            <a:r>
              <a:rPr sz="2400" b="1" dirty="0">
                <a:solidFill>
                  <a:srgbClr val="D9D9D9"/>
                </a:solidFill>
                <a:latin typeface="Calibri"/>
                <a:cs typeface="Calibri"/>
              </a:rPr>
              <a:t>Relational</a:t>
            </a:r>
            <a:r>
              <a:rPr sz="2400" b="1" spc="-13" dirty="0">
                <a:solidFill>
                  <a:srgbClr val="D9D9D9"/>
                </a:solidFill>
                <a:latin typeface="Calibri"/>
                <a:cs typeface="Calibri"/>
              </a:rPr>
              <a:t> </a:t>
            </a:r>
            <a:r>
              <a:rPr sz="2400" b="1" dirty="0">
                <a:solidFill>
                  <a:srgbClr val="D9D9D9"/>
                </a:solidFill>
                <a:latin typeface="Calibri"/>
                <a:cs typeface="Calibri"/>
              </a:rPr>
              <a:t>and</a:t>
            </a:r>
            <a:r>
              <a:rPr sz="2400" b="1" spc="-53" dirty="0">
                <a:solidFill>
                  <a:srgbClr val="D9D9D9"/>
                </a:solidFill>
                <a:latin typeface="Calibri"/>
                <a:cs typeface="Calibri"/>
              </a:rPr>
              <a:t> </a:t>
            </a:r>
            <a:r>
              <a:rPr sz="2400" b="1" dirty="0">
                <a:solidFill>
                  <a:srgbClr val="D9D9D9"/>
                </a:solidFill>
                <a:latin typeface="Calibri"/>
                <a:cs typeface="Calibri"/>
              </a:rPr>
              <a:t>non-</a:t>
            </a:r>
            <a:r>
              <a:rPr sz="2400" b="1" spc="-13" dirty="0">
                <a:solidFill>
                  <a:srgbClr val="D9D9D9"/>
                </a:solidFill>
                <a:latin typeface="Calibri"/>
                <a:cs typeface="Calibri"/>
              </a:rPr>
              <a:t>relational</a:t>
            </a:r>
            <a:endParaRPr sz="2400">
              <a:latin typeface="Calibri"/>
              <a:cs typeface="Calibri"/>
            </a:endParaRPr>
          </a:p>
        </p:txBody>
      </p:sp>
      <p:sp>
        <p:nvSpPr>
          <p:cNvPr id="4" name="TextBox 3">
            <a:extLst>
              <a:ext uri="{FF2B5EF4-FFF2-40B4-BE49-F238E27FC236}">
                <a16:creationId xmlns:a16="http://schemas.microsoft.com/office/drawing/2014/main" id="{1D79F364-FD7A-B480-5ECD-5EE0698841C5}"/>
              </a:ext>
            </a:extLst>
          </p:cNvPr>
          <p:cNvSpPr txBox="1"/>
          <p:nvPr/>
        </p:nvSpPr>
        <p:spPr>
          <a:xfrm>
            <a:off x="3047172" y="226398"/>
            <a:ext cx="6097656" cy="769441"/>
          </a:xfrm>
          <a:prstGeom prst="rect">
            <a:avLst/>
          </a:prstGeom>
          <a:noFill/>
        </p:spPr>
        <p:txBody>
          <a:bodyPr wrap="square">
            <a:spAutoFit/>
          </a:bodyPr>
          <a:lstStyle/>
          <a:p>
            <a:pPr algn="ctr"/>
            <a:r>
              <a:rPr lang="en-IN" sz="4400" dirty="0">
                <a:solidFill>
                  <a:schemeClr val="bg1"/>
                </a:solidFill>
                <a:latin typeface="+mn-lt"/>
              </a:rPr>
              <a:t>In Memory </a:t>
            </a:r>
            <a:r>
              <a:rPr lang="en-IN" sz="4400" spc="-13" dirty="0">
                <a:solidFill>
                  <a:schemeClr val="bg1"/>
                </a:solidFill>
                <a:latin typeface="+mn-lt"/>
              </a:rPr>
              <a:t>Database</a:t>
            </a:r>
            <a:endParaRPr lang="en-IN" sz="4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5745257" y="2361389"/>
            <a:ext cx="701816" cy="947895"/>
          </a:xfrm>
          <a:prstGeom prst="rect">
            <a:avLst/>
          </a:prstGeom>
        </p:spPr>
      </p:pic>
      <p:sp>
        <p:nvSpPr>
          <p:cNvPr id="4" name="object 4"/>
          <p:cNvSpPr txBox="1"/>
          <p:nvPr/>
        </p:nvSpPr>
        <p:spPr>
          <a:xfrm>
            <a:off x="4982126" y="3487927"/>
            <a:ext cx="2289385"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Traditional</a:t>
            </a:r>
            <a:r>
              <a:rPr sz="2133" spc="-60" dirty="0">
                <a:solidFill>
                  <a:srgbClr val="FFFFFF"/>
                </a:solidFill>
                <a:latin typeface="Calibri"/>
                <a:cs typeface="Calibri"/>
              </a:rPr>
              <a:t> </a:t>
            </a:r>
            <a:r>
              <a:rPr sz="2133" spc="-13" dirty="0">
                <a:solidFill>
                  <a:srgbClr val="FFFFFF"/>
                </a:solidFill>
                <a:latin typeface="Calibri"/>
                <a:cs typeface="Calibri"/>
              </a:rPr>
              <a:t>database</a:t>
            </a:r>
            <a:endParaRPr sz="2133">
              <a:latin typeface="Calibri"/>
              <a:cs typeface="Calibri"/>
            </a:endParaRPr>
          </a:p>
        </p:txBody>
      </p:sp>
      <p:sp>
        <p:nvSpPr>
          <p:cNvPr id="5" name="object 5"/>
          <p:cNvSpPr/>
          <p:nvPr/>
        </p:nvSpPr>
        <p:spPr>
          <a:xfrm>
            <a:off x="4876800" y="4032673"/>
            <a:ext cx="716280" cy="515620"/>
          </a:xfrm>
          <a:custGeom>
            <a:avLst/>
            <a:gdLst/>
            <a:ahLst/>
            <a:cxnLst/>
            <a:rect l="l" t="t" r="r" b="b"/>
            <a:pathLst>
              <a:path w="537210" h="386714">
                <a:moveTo>
                  <a:pt x="39877" y="310895"/>
                </a:moveTo>
                <a:lnTo>
                  <a:pt x="0" y="386206"/>
                </a:lnTo>
                <a:lnTo>
                  <a:pt x="84200" y="372871"/>
                </a:lnTo>
                <a:lnTo>
                  <a:pt x="71031" y="354456"/>
                </a:lnTo>
                <a:lnTo>
                  <a:pt x="55372" y="354456"/>
                </a:lnTo>
                <a:lnTo>
                  <a:pt x="48005" y="344169"/>
                </a:lnTo>
                <a:lnTo>
                  <a:pt x="58375" y="336761"/>
                </a:lnTo>
                <a:lnTo>
                  <a:pt x="39877" y="310895"/>
                </a:lnTo>
                <a:close/>
              </a:path>
              <a:path w="537210" h="386714">
                <a:moveTo>
                  <a:pt x="58375" y="336761"/>
                </a:moveTo>
                <a:lnTo>
                  <a:pt x="48005" y="344169"/>
                </a:lnTo>
                <a:lnTo>
                  <a:pt x="55372" y="354456"/>
                </a:lnTo>
                <a:lnTo>
                  <a:pt x="65737" y="347054"/>
                </a:lnTo>
                <a:lnTo>
                  <a:pt x="58375" y="336761"/>
                </a:lnTo>
                <a:close/>
              </a:path>
              <a:path w="537210" h="386714">
                <a:moveTo>
                  <a:pt x="65737" y="347054"/>
                </a:moveTo>
                <a:lnTo>
                  <a:pt x="55372" y="354456"/>
                </a:lnTo>
                <a:lnTo>
                  <a:pt x="71031" y="354456"/>
                </a:lnTo>
                <a:lnTo>
                  <a:pt x="65737" y="347054"/>
                </a:lnTo>
                <a:close/>
              </a:path>
              <a:path w="537210" h="386714">
                <a:moveTo>
                  <a:pt x="529716" y="0"/>
                </a:moveTo>
                <a:lnTo>
                  <a:pt x="58375" y="336761"/>
                </a:lnTo>
                <a:lnTo>
                  <a:pt x="65737" y="347054"/>
                </a:lnTo>
                <a:lnTo>
                  <a:pt x="537083" y="10413"/>
                </a:lnTo>
                <a:lnTo>
                  <a:pt x="529716" y="0"/>
                </a:lnTo>
                <a:close/>
              </a:path>
            </a:pathLst>
          </a:custGeom>
          <a:solidFill>
            <a:srgbClr val="00C2FF"/>
          </a:solidFill>
        </p:spPr>
        <p:txBody>
          <a:bodyPr wrap="square" lIns="0" tIns="0" rIns="0" bIns="0" rtlCol="0"/>
          <a:lstStyle/>
          <a:p>
            <a:endParaRPr sz="2400"/>
          </a:p>
        </p:txBody>
      </p:sp>
      <p:sp>
        <p:nvSpPr>
          <p:cNvPr id="6" name="object 6"/>
          <p:cNvSpPr txBox="1"/>
          <p:nvPr/>
        </p:nvSpPr>
        <p:spPr>
          <a:xfrm>
            <a:off x="4267200" y="4679696"/>
            <a:ext cx="833120" cy="387222"/>
          </a:xfrm>
          <a:prstGeom prst="rect">
            <a:avLst/>
          </a:prstGeom>
          <a:solidFill>
            <a:srgbClr val="00C3FF">
              <a:alpha val="50195"/>
            </a:srgbClr>
          </a:solidFill>
        </p:spPr>
        <p:txBody>
          <a:bodyPr vert="horz" wrap="square" lIns="0" tIns="58420" rIns="0" bIns="0" rtlCol="0">
            <a:spAutoFit/>
          </a:bodyPr>
          <a:lstStyle/>
          <a:p>
            <a:pPr marL="121917">
              <a:spcBef>
                <a:spcPts val="460"/>
              </a:spcBef>
            </a:pPr>
            <a:r>
              <a:rPr sz="2133" spc="67" dirty="0">
                <a:solidFill>
                  <a:srgbClr val="FFFFFF"/>
                </a:solidFill>
                <a:latin typeface="Arial MT"/>
                <a:cs typeface="Arial MT"/>
              </a:rPr>
              <a:t>Disc</a:t>
            </a:r>
            <a:endParaRPr sz="2133">
              <a:latin typeface="Arial MT"/>
              <a:cs typeface="Arial MT"/>
            </a:endParaRPr>
          </a:p>
        </p:txBody>
      </p:sp>
      <p:sp>
        <p:nvSpPr>
          <p:cNvPr id="7" name="object 7"/>
          <p:cNvSpPr/>
          <p:nvPr/>
        </p:nvSpPr>
        <p:spPr>
          <a:xfrm>
            <a:off x="5338063" y="4856479"/>
            <a:ext cx="961813" cy="101600"/>
          </a:xfrm>
          <a:custGeom>
            <a:avLst/>
            <a:gdLst/>
            <a:ahLst/>
            <a:cxnLst/>
            <a:rect l="l" t="t" r="r" b="b"/>
            <a:pathLst>
              <a:path w="721360" h="76200">
                <a:moveTo>
                  <a:pt x="645032" y="0"/>
                </a:moveTo>
                <a:lnTo>
                  <a:pt x="645032" y="76199"/>
                </a:lnTo>
                <a:lnTo>
                  <a:pt x="708532" y="44449"/>
                </a:lnTo>
                <a:lnTo>
                  <a:pt x="657732" y="44449"/>
                </a:lnTo>
                <a:lnTo>
                  <a:pt x="657732" y="31749"/>
                </a:lnTo>
                <a:lnTo>
                  <a:pt x="708532" y="31749"/>
                </a:lnTo>
                <a:lnTo>
                  <a:pt x="645032" y="0"/>
                </a:lnTo>
                <a:close/>
              </a:path>
              <a:path w="721360" h="76200">
                <a:moveTo>
                  <a:pt x="645032" y="31749"/>
                </a:moveTo>
                <a:lnTo>
                  <a:pt x="0" y="31749"/>
                </a:lnTo>
                <a:lnTo>
                  <a:pt x="0" y="44449"/>
                </a:lnTo>
                <a:lnTo>
                  <a:pt x="645032" y="44449"/>
                </a:lnTo>
                <a:lnTo>
                  <a:pt x="645032" y="31749"/>
                </a:lnTo>
                <a:close/>
              </a:path>
              <a:path w="721360" h="76200">
                <a:moveTo>
                  <a:pt x="708532" y="31749"/>
                </a:moveTo>
                <a:lnTo>
                  <a:pt x="657732" y="31749"/>
                </a:lnTo>
                <a:lnTo>
                  <a:pt x="657732" y="44449"/>
                </a:lnTo>
                <a:lnTo>
                  <a:pt x="708532" y="44449"/>
                </a:lnTo>
                <a:lnTo>
                  <a:pt x="721232" y="38099"/>
                </a:lnTo>
                <a:lnTo>
                  <a:pt x="708532" y="31749"/>
                </a:lnTo>
                <a:close/>
              </a:path>
            </a:pathLst>
          </a:custGeom>
          <a:solidFill>
            <a:srgbClr val="00C2FF"/>
          </a:solidFill>
        </p:spPr>
        <p:txBody>
          <a:bodyPr wrap="square" lIns="0" tIns="0" rIns="0" bIns="0" rtlCol="0"/>
          <a:lstStyle/>
          <a:p>
            <a:endParaRPr sz="2400"/>
          </a:p>
        </p:txBody>
      </p:sp>
      <p:sp>
        <p:nvSpPr>
          <p:cNvPr id="8" name="object 8"/>
          <p:cNvSpPr txBox="1"/>
          <p:nvPr/>
        </p:nvSpPr>
        <p:spPr>
          <a:xfrm>
            <a:off x="6563360" y="4679696"/>
            <a:ext cx="1666240" cy="387222"/>
          </a:xfrm>
          <a:prstGeom prst="rect">
            <a:avLst/>
          </a:prstGeom>
          <a:solidFill>
            <a:srgbClr val="00C3FF">
              <a:alpha val="50195"/>
            </a:srgbClr>
          </a:solidFill>
        </p:spPr>
        <p:txBody>
          <a:bodyPr vert="horz" wrap="square" lIns="0" tIns="58420" rIns="0" bIns="0" rtlCol="0">
            <a:spAutoFit/>
          </a:bodyPr>
          <a:lstStyle/>
          <a:p>
            <a:pPr marL="123610">
              <a:spcBef>
                <a:spcPts val="460"/>
              </a:spcBef>
            </a:pPr>
            <a:r>
              <a:rPr sz="2133" dirty="0">
                <a:solidFill>
                  <a:srgbClr val="FFFFFF"/>
                </a:solidFill>
                <a:latin typeface="Arial MT"/>
                <a:cs typeface="Arial MT"/>
              </a:rPr>
              <a:t>In-</a:t>
            </a:r>
            <a:r>
              <a:rPr sz="2133" spc="87" dirty="0">
                <a:solidFill>
                  <a:srgbClr val="FFFFFF"/>
                </a:solidFill>
                <a:latin typeface="Arial MT"/>
                <a:cs typeface="Arial MT"/>
              </a:rPr>
              <a:t>memory</a:t>
            </a:r>
            <a:endParaRPr sz="2133">
              <a:latin typeface="Arial MT"/>
              <a:cs typeface="Arial MT"/>
            </a:endParaRPr>
          </a:p>
        </p:txBody>
      </p:sp>
      <p:sp>
        <p:nvSpPr>
          <p:cNvPr id="9" name="object 9"/>
          <p:cNvSpPr txBox="1"/>
          <p:nvPr/>
        </p:nvSpPr>
        <p:spPr>
          <a:xfrm>
            <a:off x="5185326" y="4528989"/>
            <a:ext cx="1253913" cy="263320"/>
          </a:xfrm>
          <a:prstGeom prst="rect">
            <a:avLst/>
          </a:prstGeom>
        </p:spPr>
        <p:txBody>
          <a:bodyPr vert="horz" wrap="square" lIns="0" tIns="16933" rIns="0" bIns="0" rtlCol="0">
            <a:spAutoFit/>
          </a:bodyPr>
          <a:lstStyle/>
          <a:p>
            <a:pPr marL="16933">
              <a:spcBef>
                <a:spcPts val="133"/>
              </a:spcBef>
            </a:pPr>
            <a:r>
              <a:rPr sz="1600" dirty="0">
                <a:solidFill>
                  <a:srgbClr val="FFFFFF"/>
                </a:solidFill>
                <a:latin typeface="Calibri"/>
                <a:cs typeface="Calibri"/>
              </a:rPr>
              <a:t>Response</a:t>
            </a:r>
            <a:r>
              <a:rPr sz="1600" spc="-73" dirty="0">
                <a:solidFill>
                  <a:srgbClr val="FFFFFF"/>
                </a:solidFill>
                <a:latin typeface="Calibri"/>
                <a:cs typeface="Calibri"/>
              </a:rPr>
              <a:t> </a:t>
            </a:r>
            <a:r>
              <a:rPr sz="1600" spc="-27" dirty="0">
                <a:solidFill>
                  <a:srgbClr val="FFFFFF"/>
                </a:solidFill>
                <a:latin typeface="Calibri"/>
                <a:cs typeface="Calibri"/>
              </a:rPr>
              <a:t>time</a:t>
            </a:r>
            <a:endParaRPr sz="1600">
              <a:latin typeface="Calibri"/>
              <a:cs typeface="Calibri"/>
            </a:endParaRPr>
          </a:p>
        </p:txBody>
      </p:sp>
      <p:sp>
        <p:nvSpPr>
          <p:cNvPr id="10" name="TextBox 9">
            <a:extLst>
              <a:ext uri="{FF2B5EF4-FFF2-40B4-BE49-F238E27FC236}">
                <a16:creationId xmlns:a16="http://schemas.microsoft.com/office/drawing/2014/main" id="{14CCCE75-7416-568D-6F4E-44D94CBCBCB3}"/>
              </a:ext>
            </a:extLst>
          </p:cNvPr>
          <p:cNvSpPr txBox="1"/>
          <p:nvPr/>
        </p:nvSpPr>
        <p:spPr>
          <a:xfrm>
            <a:off x="3047172" y="226398"/>
            <a:ext cx="6097656" cy="769441"/>
          </a:xfrm>
          <a:prstGeom prst="rect">
            <a:avLst/>
          </a:prstGeom>
          <a:noFill/>
        </p:spPr>
        <p:txBody>
          <a:bodyPr wrap="square">
            <a:spAutoFit/>
          </a:bodyPr>
          <a:lstStyle/>
          <a:p>
            <a:pPr algn="ctr"/>
            <a:r>
              <a:rPr lang="en-IN" sz="4400" dirty="0">
                <a:solidFill>
                  <a:schemeClr val="bg1"/>
                </a:solidFill>
                <a:latin typeface="+mn-lt"/>
              </a:rPr>
              <a:t>In Memory </a:t>
            </a:r>
            <a:r>
              <a:rPr lang="en-IN" sz="4400" spc="-13" dirty="0">
                <a:solidFill>
                  <a:schemeClr val="bg1"/>
                </a:solidFill>
                <a:latin typeface="+mn-lt"/>
              </a:rPr>
              <a:t>Database</a:t>
            </a:r>
            <a:endParaRPr lang="en-IN" sz="4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3505993" y="2633677"/>
            <a:ext cx="701816" cy="947895"/>
          </a:xfrm>
          <a:prstGeom prst="rect">
            <a:avLst/>
          </a:prstGeom>
        </p:spPr>
      </p:pic>
      <p:sp>
        <p:nvSpPr>
          <p:cNvPr id="4" name="object 4"/>
          <p:cNvSpPr txBox="1"/>
          <p:nvPr/>
        </p:nvSpPr>
        <p:spPr>
          <a:xfrm>
            <a:off x="2743369" y="3759810"/>
            <a:ext cx="2290233"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Traditional</a:t>
            </a:r>
            <a:r>
              <a:rPr sz="2133" spc="-27" dirty="0">
                <a:solidFill>
                  <a:srgbClr val="FFFFFF"/>
                </a:solidFill>
                <a:latin typeface="Calibri"/>
                <a:cs typeface="Calibri"/>
              </a:rPr>
              <a:t> </a:t>
            </a:r>
            <a:r>
              <a:rPr sz="2133" spc="-13" dirty="0">
                <a:solidFill>
                  <a:srgbClr val="FFFFFF"/>
                </a:solidFill>
                <a:latin typeface="Calibri"/>
                <a:cs typeface="Calibri"/>
              </a:rPr>
              <a:t>database</a:t>
            </a:r>
            <a:endParaRPr sz="2133">
              <a:latin typeface="Calibri"/>
              <a:cs typeface="Calibri"/>
            </a:endParaRPr>
          </a:p>
        </p:txBody>
      </p:sp>
      <p:pic>
        <p:nvPicPr>
          <p:cNvPr id="5" name="object 5"/>
          <p:cNvPicPr/>
          <p:nvPr/>
        </p:nvPicPr>
        <p:blipFill>
          <a:blip r:embed="rId3" cstate="print"/>
          <a:stretch>
            <a:fillRect/>
          </a:stretch>
        </p:blipFill>
        <p:spPr>
          <a:xfrm>
            <a:off x="7825602" y="2633677"/>
            <a:ext cx="700620" cy="947895"/>
          </a:xfrm>
          <a:prstGeom prst="rect">
            <a:avLst/>
          </a:prstGeom>
        </p:spPr>
      </p:pic>
      <p:sp>
        <p:nvSpPr>
          <p:cNvPr id="6" name="object 6"/>
          <p:cNvSpPr txBox="1"/>
          <p:nvPr/>
        </p:nvSpPr>
        <p:spPr>
          <a:xfrm>
            <a:off x="7062215" y="3759810"/>
            <a:ext cx="2323252"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In-memory</a:t>
            </a:r>
            <a:r>
              <a:rPr sz="2133" spc="-73" dirty="0">
                <a:solidFill>
                  <a:srgbClr val="FFFFFF"/>
                </a:solidFill>
                <a:latin typeface="Calibri"/>
                <a:cs typeface="Calibri"/>
              </a:rPr>
              <a:t> </a:t>
            </a:r>
            <a:r>
              <a:rPr sz="2133" spc="-13" dirty="0">
                <a:solidFill>
                  <a:srgbClr val="FFFFFF"/>
                </a:solidFill>
                <a:latin typeface="Calibri"/>
                <a:cs typeface="Calibri"/>
              </a:rPr>
              <a:t>database</a:t>
            </a:r>
            <a:endParaRPr sz="2133">
              <a:latin typeface="Calibri"/>
              <a:cs typeface="Calibri"/>
            </a:endParaRPr>
          </a:p>
        </p:txBody>
      </p:sp>
      <p:sp>
        <p:nvSpPr>
          <p:cNvPr id="7" name="object 7"/>
          <p:cNvSpPr/>
          <p:nvPr/>
        </p:nvSpPr>
        <p:spPr>
          <a:xfrm>
            <a:off x="2637535" y="4306994"/>
            <a:ext cx="716280" cy="515620"/>
          </a:xfrm>
          <a:custGeom>
            <a:avLst/>
            <a:gdLst/>
            <a:ahLst/>
            <a:cxnLst/>
            <a:rect l="l" t="t" r="r" b="b"/>
            <a:pathLst>
              <a:path w="537210" h="386714">
                <a:moveTo>
                  <a:pt x="39878" y="310896"/>
                </a:moveTo>
                <a:lnTo>
                  <a:pt x="0" y="386207"/>
                </a:lnTo>
                <a:lnTo>
                  <a:pt x="84200" y="372872"/>
                </a:lnTo>
                <a:lnTo>
                  <a:pt x="71031" y="354457"/>
                </a:lnTo>
                <a:lnTo>
                  <a:pt x="55372" y="354457"/>
                </a:lnTo>
                <a:lnTo>
                  <a:pt x="48006" y="344170"/>
                </a:lnTo>
                <a:lnTo>
                  <a:pt x="58375" y="336761"/>
                </a:lnTo>
                <a:lnTo>
                  <a:pt x="39878" y="310896"/>
                </a:lnTo>
                <a:close/>
              </a:path>
              <a:path w="537210" h="386714">
                <a:moveTo>
                  <a:pt x="58375" y="336761"/>
                </a:moveTo>
                <a:lnTo>
                  <a:pt x="48006" y="344170"/>
                </a:lnTo>
                <a:lnTo>
                  <a:pt x="55372" y="354457"/>
                </a:lnTo>
                <a:lnTo>
                  <a:pt x="65737" y="347054"/>
                </a:lnTo>
                <a:lnTo>
                  <a:pt x="58375" y="336761"/>
                </a:lnTo>
                <a:close/>
              </a:path>
              <a:path w="537210" h="386714">
                <a:moveTo>
                  <a:pt x="65737" y="347054"/>
                </a:moveTo>
                <a:lnTo>
                  <a:pt x="55372" y="354457"/>
                </a:lnTo>
                <a:lnTo>
                  <a:pt x="71031" y="354457"/>
                </a:lnTo>
                <a:lnTo>
                  <a:pt x="65737" y="347054"/>
                </a:lnTo>
                <a:close/>
              </a:path>
              <a:path w="537210" h="386714">
                <a:moveTo>
                  <a:pt x="529717" y="0"/>
                </a:moveTo>
                <a:lnTo>
                  <a:pt x="58375" y="336761"/>
                </a:lnTo>
                <a:lnTo>
                  <a:pt x="65737" y="347054"/>
                </a:lnTo>
                <a:lnTo>
                  <a:pt x="537083" y="10413"/>
                </a:lnTo>
                <a:lnTo>
                  <a:pt x="529717" y="0"/>
                </a:lnTo>
                <a:close/>
              </a:path>
            </a:pathLst>
          </a:custGeom>
          <a:solidFill>
            <a:srgbClr val="00C2FF"/>
          </a:solidFill>
        </p:spPr>
        <p:txBody>
          <a:bodyPr wrap="square" lIns="0" tIns="0" rIns="0" bIns="0" rtlCol="0"/>
          <a:lstStyle/>
          <a:p>
            <a:endParaRPr sz="2400"/>
          </a:p>
        </p:txBody>
      </p:sp>
      <p:sp>
        <p:nvSpPr>
          <p:cNvPr id="8" name="object 8"/>
          <p:cNvSpPr txBox="1"/>
          <p:nvPr/>
        </p:nvSpPr>
        <p:spPr>
          <a:xfrm>
            <a:off x="2027937" y="4954016"/>
            <a:ext cx="835660" cy="385510"/>
          </a:xfrm>
          <a:prstGeom prst="rect">
            <a:avLst/>
          </a:prstGeom>
          <a:solidFill>
            <a:srgbClr val="00C3FF">
              <a:alpha val="50195"/>
            </a:srgbClr>
          </a:solidFill>
        </p:spPr>
        <p:txBody>
          <a:bodyPr vert="horz" wrap="square" lIns="0" tIns="56725" rIns="0" bIns="0" rtlCol="0">
            <a:spAutoFit/>
          </a:bodyPr>
          <a:lstStyle/>
          <a:p>
            <a:pPr marL="122764">
              <a:spcBef>
                <a:spcPts val="445"/>
              </a:spcBef>
            </a:pPr>
            <a:r>
              <a:rPr sz="2133" spc="67" dirty="0">
                <a:solidFill>
                  <a:srgbClr val="FFFFFF"/>
                </a:solidFill>
                <a:latin typeface="Arial MT"/>
                <a:cs typeface="Arial MT"/>
              </a:rPr>
              <a:t>Disc</a:t>
            </a:r>
            <a:endParaRPr sz="2133">
              <a:latin typeface="Arial MT"/>
              <a:cs typeface="Arial MT"/>
            </a:endParaRPr>
          </a:p>
        </p:txBody>
      </p:sp>
      <p:sp>
        <p:nvSpPr>
          <p:cNvPr id="9" name="object 9"/>
          <p:cNvSpPr/>
          <p:nvPr/>
        </p:nvSpPr>
        <p:spPr>
          <a:xfrm>
            <a:off x="3098800" y="5128768"/>
            <a:ext cx="961813" cy="101600"/>
          </a:xfrm>
          <a:custGeom>
            <a:avLst/>
            <a:gdLst/>
            <a:ahLst/>
            <a:cxnLst/>
            <a:rect l="l" t="t" r="r" b="b"/>
            <a:pathLst>
              <a:path w="721360" h="76200">
                <a:moveTo>
                  <a:pt x="645032" y="0"/>
                </a:moveTo>
                <a:lnTo>
                  <a:pt x="645032" y="76200"/>
                </a:lnTo>
                <a:lnTo>
                  <a:pt x="708532" y="44450"/>
                </a:lnTo>
                <a:lnTo>
                  <a:pt x="657732" y="44450"/>
                </a:lnTo>
                <a:lnTo>
                  <a:pt x="657732" y="31750"/>
                </a:lnTo>
                <a:lnTo>
                  <a:pt x="708532" y="31750"/>
                </a:lnTo>
                <a:lnTo>
                  <a:pt x="645032" y="0"/>
                </a:lnTo>
                <a:close/>
              </a:path>
              <a:path w="721360" h="76200">
                <a:moveTo>
                  <a:pt x="645032" y="31750"/>
                </a:moveTo>
                <a:lnTo>
                  <a:pt x="0" y="31750"/>
                </a:lnTo>
                <a:lnTo>
                  <a:pt x="0" y="44450"/>
                </a:lnTo>
                <a:lnTo>
                  <a:pt x="645032" y="44450"/>
                </a:lnTo>
                <a:lnTo>
                  <a:pt x="645032" y="31750"/>
                </a:lnTo>
                <a:close/>
              </a:path>
              <a:path w="721360" h="76200">
                <a:moveTo>
                  <a:pt x="708532" y="31750"/>
                </a:moveTo>
                <a:lnTo>
                  <a:pt x="657732" y="31750"/>
                </a:lnTo>
                <a:lnTo>
                  <a:pt x="657732" y="44450"/>
                </a:lnTo>
                <a:lnTo>
                  <a:pt x="708532" y="44450"/>
                </a:lnTo>
                <a:lnTo>
                  <a:pt x="721232" y="38100"/>
                </a:lnTo>
                <a:lnTo>
                  <a:pt x="708532" y="31750"/>
                </a:lnTo>
                <a:close/>
              </a:path>
            </a:pathLst>
          </a:custGeom>
          <a:solidFill>
            <a:srgbClr val="00C2FF"/>
          </a:solidFill>
        </p:spPr>
        <p:txBody>
          <a:bodyPr wrap="square" lIns="0" tIns="0" rIns="0" bIns="0" rtlCol="0"/>
          <a:lstStyle/>
          <a:p>
            <a:endParaRPr sz="2400"/>
          </a:p>
        </p:txBody>
      </p:sp>
      <p:sp>
        <p:nvSpPr>
          <p:cNvPr id="10" name="object 10"/>
          <p:cNvSpPr txBox="1"/>
          <p:nvPr/>
        </p:nvSpPr>
        <p:spPr>
          <a:xfrm>
            <a:off x="4326127" y="4954016"/>
            <a:ext cx="1664547" cy="385510"/>
          </a:xfrm>
          <a:prstGeom prst="rect">
            <a:avLst/>
          </a:prstGeom>
          <a:solidFill>
            <a:srgbClr val="00C3FF">
              <a:alpha val="50195"/>
            </a:srgbClr>
          </a:solidFill>
        </p:spPr>
        <p:txBody>
          <a:bodyPr vert="horz" wrap="square" lIns="0" tIns="56725" rIns="0" bIns="0" rtlCol="0">
            <a:spAutoFit/>
          </a:bodyPr>
          <a:lstStyle/>
          <a:p>
            <a:pPr marL="121917">
              <a:spcBef>
                <a:spcPts val="445"/>
              </a:spcBef>
            </a:pPr>
            <a:r>
              <a:rPr sz="2133" dirty="0">
                <a:solidFill>
                  <a:srgbClr val="FFFFFF"/>
                </a:solidFill>
                <a:latin typeface="Arial MT"/>
                <a:cs typeface="Arial MT"/>
              </a:rPr>
              <a:t>In-</a:t>
            </a:r>
            <a:r>
              <a:rPr sz="2133" spc="87" dirty="0">
                <a:solidFill>
                  <a:srgbClr val="FFFFFF"/>
                </a:solidFill>
                <a:latin typeface="Arial MT"/>
                <a:cs typeface="Arial MT"/>
              </a:rPr>
              <a:t>memory</a:t>
            </a:r>
            <a:endParaRPr sz="2133">
              <a:latin typeface="Arial MT"/>
              <a:cs typeface="Arial MT"/>
            </a:endParaRPr>
          </a:p>
        </p:txBody>
      </p:sp>
      <p:sp>
        <p:nvSpPr>
          <p:cNvPr id="11" name="object 11"/>
          <p:cNvSpPr txBox="1"/>
          <p:nvPr/>
        </p:nvSpPr>
        <p:spPr>
          <a:xfrm>
            <a:off x="2946061" y="4800872"/>
            <a:ext cx="1254759" cy="263320"/>
          </a:xfrm>
          <a:prstGeom prst="rect">
            <a:avLst/>
          </a:prstGeom>
        </p:spPr>
        <p:txBody>
          <a:bodyPr vert="horz" wrap="square" lIns="0" tIns="16933" rIns="0" bIns="0" rtlCol="0">
            <a:spAutoFit/>
          </a:bodyPr>
          <a:lstStyle/>
          <a:p>
            <a:pPr marL="16933">
              <a:spcBef>
                <a:spcPts val="133"/>
              </a:spcBef>
            </a:pPr>
            <a:r>
              <a:rPr sz="1600" dirty="0">
                <a:solidFill>
                  <a:srgbClr val="FFFFFF"/>
                </a:solidFill>
                <a:latin typeface="Calibri"/>
                <a:cs typeface="Calibri"/>
              </a:rPr>
              <a:t>Response</a:t>
            </a:r>
            <a:r>
              <a:rPr sz="1600" spc="-40" dirty="0">
                <a:solidFill>
                  <a:srgbClr val="FFFFFF"/>
                </a:solidFill>
                <a:latin typeface="Calibri"/>
                <a:cs typeface="Calibri"/>
              </a:rPr>
              <a:t> </a:t>
            </a:r>
            <a:r>
              <a:rPr sz="1600" spc="-27" dirty="0">
                <a:solidFill>
                  <a:srgbClr val="FFFFFF"/>
                </a:solidFill>
                <a:latin typeface="Calibri"/>
                <a:cs typeface="Calibri"/>
              </a:rPr>
              <a:t>time</a:t>
            </a:r>
            <a:endParaRPr sz="1600">
              <a:latin typeface="Calibri"/>
              <a:cs typeface="Calibri"/>
            </a:endParaRPr>
          </a:p>
        </p:txBody>
      </p:sp>
      <p:sp>
        <p:nvSpPr>
          <p:cNvPr id="12" name="object 12"/>
          <p:cNvSpPr/>
          <p:nvPr/>
        </p:nvSpPr>
        <p:spPr>
          <a:xfrm>
            <a:off x="8584014" y="4175081"/>
            <a:ext cx="763693" cy="594360"/>
          </a:xfrm>
          <a:custGeom>
            <a:avLst/>
            <a:gdLst/>
            <a:ahLst/>
            <a:cxnLst/>
            <a:rect l="l" t="t" r="r" b="b"/>
            <a:pathLst>
              <a:path w="572770" h="445770">
                <a:moveTo>
                  <a:pt x="508562" y="404034"/>
                </a:moveTo>
                <a:lnTo>
                  <a:pt x="489077" y="429132"/>
                </a:lnTo>
                <a:lnTo>
                  <a:pt x="572642" y="445643"/>
                </a:lnTo>
                <a:lnTo>
                  <a:pt x="556423" y="411860"/>
                </a:lnTo>
                <a:lnTo>
                  <a:pt x="518667" y="411860"/>
                </a:lnTo>
                <a:lnTo>
                  <a:pt x="508562" y="404034"/>
                </a:lnTo>
                <a:close/>
              </a:path>
              <a:path w="572770" h="445770">
                <a:moveTo>
                  <a:pt x="516338" y="394019"/>
                </a:moveTo>
                <a:lnTo>
                  <a:pt x="508562" y="404034"/>
                </a:lnTo>
                <a:lnTo>
                  <a:pt x="518667" y="411860"/>
                </a:lnTo>
                <a:lnTo>
                  <a:pt x="526414" y="401828"/>
                </a:lnTo>
                <a:lnTo>
                  <a:pt x="516338" y="394019"/>
                </a:lnTo>
                <a:close/>
              </a:path>
              <a:path w="572770" h="445770">
                <a:moveTo>
                  <a:pt x="535813" y="368935"/>
                </a:moveTo>
                <a:lnTo>
                  <a:pt x="516338" y="394019"/>
                </a:lnTo>
                <a:lnTo>
                  <a:pt x="526414" y="401828"/>
                </a:lnTo>
                <a:lnTo>
                  <a:pt x="518667" y="411860"/>
                </a:lnTo>
                <a:lnTo>
                  <a:pt x="556423" y="411860"/>
                </a:lnTo>
                <a:lnTo>
                  <a:pt x="535813" y="368935"/>
                </a:lnTo>
                <a:close/>
              </a:path>
              <a:path w="572770" h="445770">
                <a:moveTo>
                  <a:pt x="7874" y="0"/>
                </a:moveTo>
                <a:lnTo>
                  <a:pt x="0" y="10160"/>
                </a:lnTo>
                <a:lnTo>
                  <a:pt x="508562" y="404034"/>
                </a:lnTo>
                <a:lnTo>
                  <a:pt x="516338" y="394019"/>
                </a:lnTo>
                <a:lnTo>
                  <a:pt x="7874" y="0"/>
                </a:lnTo>
                <a:close/>
              </a:path>
            </a:pathLst>
          </a:custGeom>
          <a:solidFill>
            <a:srgbClr val="00C2FF"/>
          </a:solidFill>
        </p:spPr>
        <p:txBody>
          <a:bodyPr wrap="square" lIns="0" tIns="0" rIns="0" bIns="0" rtlCol="0"/>
          <a:lstStyle/>
          <a:p>
            <a:endParaRPr sz="2400"/>
          </a:p>
        </p:txBody>
      </p:sp>
      <p:sp>
        <p:nvSpPr>
          <p:cNvPr id="13" name="object 13"/>
          <p:cNvSpPr txBox="1"/>
          <p:nvPr/>
        </p:nvSpPr>
        <p:spPr>
          <a:xfrm>
            <a:off x="8589263" y="4866639"/>
            <a:ext cx="1664547" cy="385512"/>
          </a:xfrm>
          <a:prstGeom prst="rect">
            <a:avLst/>
          </a:prstGeom>
          <a:solidFill>
            <a:srgbClr val="00C3FF">
              <a:alpha val="50195"/>
            </a:srgbClr>
          </a:solidFill>
        </p:spPr>
        <p:txBody>
          <a:bodyPr vert="horz" wrap="square" lIns="0" tIns="56727" rIns="0" bIns="0" rtlCol="0">
            <a:spAutoFit/>
          </a:bodyPr>
          <a:lstStyle/>
          <a:p>
            <a:pPr marL="122764">
              <a:spcBef>
                <a:spcPts val="447"/>
              </a:spcBef>
            </a:pPr>
            <a:r>
              <a:rPr sz="2133" dirty="0">
                <a:solidFill>
                  <a:srgbClr val="FFFFFF"/>
                </a:solidFill>
                <a:latin typeface="Arial MT"/>
                <a:cs typeface="Arial MT"/>
              </a:rPr>
              <a:t>In-</a:t>
            </a:r>
            <a:r>
              <a:rPr sz="2133" spc="87" dirty="0">
                <a:solidFill>
                  <a:srgbClr val="FFFFFF"/>
                </a:solidFill>
                <a:latin typeface="Arial MT"/>
                <a:cs typeface="Arial MT"/>
              </a:rPr>
              <a:t>memory</a:t>
            </a:r>
            <a:endParaRPr sz="2133">
              <a:latin typeface="Arial MT"/>
              <a:cs typeface="Arial MT"/>
            </a:endParaRPr>
          </a:p>
        </p:txBody>
      </p:sp>
      <p:grpSp>
        <p:nvGrpSpPr>
          <p:cNvPr id="14" name="object 14"/>
          <p:cNvGrpSpPr/>
          <p:nvPr/>
        </p:nvGrpSpPr>
        <p:grpSpPr>
          <a:xfrm>
            <a:off x="6362192" y="4219618"/>
            <a:ext cx="1325880" cy="1098125"/>
            <a:chOff x="4771644" y="3164713"/>
            <a:chExt cx="994410" cy="823594"/>
          </a:xfrm>
        </p:grpSpPr>
        <p:sp>
          <p:nvSpPr>
            <p:cNvPr id="15" name="object 15"/>
            <p:cNvSpPr/>
            <p:nvPr/>
          </p:nvSpPr>
          <p:spPr>
            <a:xfrm>
              <a:off x="5228844" y="3164713"/>
              <a:ext cx="537210" cy="386715"/>
            </a:xfrm>
            <a:custGeom>
              <a:avLst/>
              <a:gdLst/>
              <a:ahLst/>
              <a:cxnLst/>
              <a:rect l="l" t="t" r="r" b="b"/>
              <a:pathLst>
                <a:path w="537210" h="386714">
                  <a:moveTo>
                    <a:pt x="39877" y="310895"/>
                  </a:moveTo>
                  <a:lnTo>
                    <a:pt x="0" y="386206"/>
                  </a:lnTo>
                  <a:lnTo>
                    <a:pt x="84200" y="372872"/>
                  </a:lnTo>
                  <a:lnTo>
                    <a:pt x="71031" y="354456"/>
                  </a:lnTo>
                  <a:lnTo>
                    <a:pt x="55371" y="354456"/>
                  </a:lnTo>
                  <a:lnTo>
                    <a:pt x="48005" y="344169"/>
                  </a:lnTo>
                  <a:lnTo>
                    <a:pt x="58375" y="336761"/>
                  </a:lnTo>
                  <a:lnTo>
                    <a:pt x="39877" y="310895"/>
                  </a:lnTo>
                  <a:close/>
                </a:path>
                <a:path w="537210" h="386714">
                  <a:moveTo>
                    <a:pt x="58375" y="336761"/>
                  </a:moveTo>
                  <a:lnTo>
                    <a:pt x="48005" y="344169"/>
                  </a:lnTo>
                  <a:lnTo>
                    <a:pt x="55371" y="354456"/>
                  </a:lnTo>
                  <a:lnTo>
                    <a:pt x="65737" y="347054"/>
                  </a:lnTo>
                  <a:lnTo>
                    <a:pt x="58375" y="336761"/>
                  </a:lnTo>
                  <a:close/>
                </a:path>
                <a:path w="537210" h="386714">
                  <a:moveTo>
                    <a:pt x="65737" y="347054"/>
                  </a:moveTo>
                  <a:lnTo>
                    <a:pt x="55371" y="354456"/>
                  </a:lnTo>
                  <a:lnTo>
                    <a:pt x="71031" y="354456"/>
                  </a:lnTo>
                  <a:lnTo>
                    <a:pt x="65737" y="347054"/>
                  </a:lnTo>
                  <a:close/>
                </a:path>
                <a:path w="537210" h="386714">
                  <a:moveTo>
                    <a:pt x="529716" y="0"/>
                  </a:moveTo>
                  <a:lnTo>
                    <a:pt x="58375" y="336761"/>
                  </a:lnTo>
                  <a:lnTo>
                    <a:pt x="65737" y="347054"/>
                  </a:lnTo>
                  <a:lnTo>
                    <a:pt x="537082" y="10413"/>
                  </a:lnTo>
                  <a:lnTo>
                    <a:pt x="529716" y="0"/>
                  </a:lnTo>
                  <a:close/>
                </a:path>
              </a:pathLst>
            </a:custGeom>
            <a:solidFill>
              <a:srgbClr val="00C2FF"/>
            </a:solidFill>
          </p:spPr>
          <p:txBody>
            <a:bodyPr wrap="square" lIns="0" tIns="0" rIns="0" bIns="0" rtlCol="0"/>
            <a:lstStyle/>
            <a:p>
              <a:endParaRPr sz="2400"/>
            </a:p>
          </p:txBody>
        </p:sp>
        <p:sp>
          <p:nvSpPr>
            <p:cNvPr id="16" name="object 16"/>
            <p:cNvSpPr/>
            <p:nvPr/>
          </p:nvSpPr>
          <p:spPr>
            <a:xfrm>
              <a:off x="4771644" y="3649980"/>
              <a:ext cx="626745" cy="338455"/>
            </a:xfrm>
            <a:custGeom>
              <a:avLst/>
              <a:gdLst/>
              <a:ahLst/>
              <a:cxnLst/>
              <a:rect l="l" t="t" r="r" b="b"/>
              <a:pathLst>
                <a:path w="626745" h="338454">
                  <a:moveTo>
                    <a:pt x="626363" y="0"/>
                  </a:moveTo>
                  <a:lnTo>
                    <a:pt x="0" y="0"/>
                  </a:lnTo>
                  <a:lnTo>
                    <a:pt x="0" y="338328"/>
                  </a:lnTo>
                  <a:lnTo>
                    <a:pt x="626363" y="338328"/>
                  </a:lnTo>
                  <a:lnTo>
                    <a:pt x="626363" y="0"/>
                  </a:lnTo>
                  <a:close/>
                </a:path>
              </a:pathLst>
            </a:custGeom>
            <a:solidFill>
              <a:srgbClr val="00C3FF">
                <a:alpha val="50195"/>
              </a:srgbClr>
            </a:solidFill>
          </p:spPr>
          <p:txBody>
            <a:bodyPr wrap="square" lIns="0" tIns="0" rIns="0" bIns="0" rtlCol="0"/>
            <a:lstStyle/>
            <a:p>
              <a:endParaRPr sz="2400"/>
            </a:p>
          </p:txBody>
        </p:sp>
      </p:grpSp>
      <p:sp>
        <p:nvSpPr>
          <p:cNvPr id="17" name="object 17"/>
          <p:cNvSpPr txBox="1"/>
          <p:nvPr/>
        </p:nvSpPr>
        <p:spPr>
          <a:xfrm>
            <a:off x="6468872" y="4907415"/>
            <a:ext cx="613833" cy="344475"/>
          </a:xfrm>
          <a:prstGeom prst="rect">
            <a:avLst/>
          </a:prstGeom>
        </p:spPr>
        <p:txBody>
          <a:bodyPr vert="horz" wrap="square" lIns="0" tIns="16087" rIns="0" bIns="0" rtlCol="0">
            <a:spAutoFit/>
          </a:bodyPr>
          <a:lstStyle/>
          <a:p>
            <a:pPr marL="16933">
              <a:spcBef>
                <a:spcPts val="127"/>
              </a:spcBef>
            </a:pPr>
            <a:r>
              <a:rPr sz="2133" spc="67" dirty="0">
                <a:solidFill>
                  <a:srgbClr val="FFFFFF"/>
                </a:solidFill>
                <a:latin typeface="Arial MT"/>
                <a:cs typeface="Arial MT"/>
              </a:rPr>
              <a:t>Disc</a:t>
            </a:r>
            <a:endParaRPr sz="2133">
              <a:latin typeface="Arial MT"/>
              <a:cs typeface="Arial MT"/>
            </a:endParaRPr>
          </a:p>
        </p:txBody>
      </p:sp>
      <p:grpSp>
        <p:nvGrpSpPr>
          <p:cNvPr id="18" name="object 18"/>
          <p:cNvGrpSpPr/>
          <p:nvPr/>
        </p:nvGrpSpPr>
        <p:grpSpPr>
          <a:xfrm>
            <a:off x="6626353" y="4261104"/>
            <a:ext cx="1768687" cy="1213273"/>
            <a:chOff x="4969764" y="3195827"/>
            <a:chExt cx="1326515" cy="909955"/>
          </a:xfrm>
        </p:grpSpPr>
        <p:sp>
          <p:nvSpPr>
            <p:cNvPr id="19" name="object 19"/>
            <p:cNvSpPr/>
            <p:nvPr/>
          </p:nvSpPr>
          <p:spPr>
            <a:xfrm>
              <a:off x="5574792" y="3781044"/>
              <a:ext cx="721360" cy="76200"/>
            </a:xfrm>
            <a:custGeom>
              <a:avLst/>
              <a:gdLst/>
              <a:ahLst/>
              <a:cxnLst/>
              <a:rect l="l" t="t" r="r" b="b"/>
              <a:pathLst>
                <a:path w="721360" h="76200">
                  <a:moveTo>
                    <a:pt x="645033" y="0"/>
                  </a:moveTo>
                  <a:lnTo>
                    <a:pt x="645033" y="76199"/>
                  </a:lnTo>
                  <a:lnTo>
                    <a:pt x="708533" y="44449"/>
                  </a:lnTo>
                  <a:lnTo>
                    <a:pt x="657733" y="44449"/>
                  </a:lnTo>
                  <a:lnTo>
                    <a:pt x="657733" y="31749"/>
                  </a:lnTo>
                  <a:lnTo>
                    <a:pt x="708533" y="31749"/>
                  </a:lnTo>
                  <a:lnTo>
                    <a:pt x="645033" y="0"/>
                  </a:lnTo>
                  <a:close/>
                </a:path>
                <a:path w="721360" h="76200">
                  <a:moveTo>
                    <a:pt x="645033" y="31749"/>
                  </a:moveTo>
                  <a:lnTo>
                    <a:pt x="0" y="31749"/>
                  </a:lnTo>
                  <a:lnTo>
                    <a:pt x="0" y="44449"/>
                  </a:lnTo>
                  <a:lnTo>
                    <a:pt x="645033" y="44449"/>
                  </a:lnTo>
                  <a:lnTo>
                    <a:pt x="645033" y="31749"/>
                  </a:lnTo>
                  <a:close/>
                </a:path>
                <a:path w="721360" h="76200">
                  <a:moveTo>
                    <a:pt x="708533" y="31749"/>
                  </a:moveTo>
                  <a:lnTo>
                    <a:pt x="657733" y="31749"/>
                  </a:lnTo>
                  <a:lnTo>
                    <a:pt x="657733" y="44449"/>
                  </a:lnTo>
                  <a:lnTo>
                    <a:pt x="708533" y="44449"/>
                  </a:lnTo>
                  <a:lnTo>
                    <a:pt x="721233" y="38099"/>
                  </a:lnTo>
                  <a:lnTo>
                    <a:pt x="708533" y="31749"/>
                  </a:lnTo>
                  <a:close/>
                </a:path>
              </a:pathLst>
            </a:custGeom>
            <a:solidFill>
              <a:srgbClr val="00C2FF"/>
            </a:solidFill>
          </p:spPr>
          <p:txBody>
            <a:bodyPr wrap="square" lIns="0" tIns="0" rIns="0" bIns="0" rtlCol="0"/>
            <a:lstStyle/>
            <a:p>
              <a:endParaRPr sz="2400"/>
            </a:p>
          </p:txBody>
        </p:sp>
        <p:sp>
          <p:nvSpPr>
            <p:cNvPr id="20" name="object 20"/>
            <p:cNvSpPr/>
            <p:nvPr/>
          </p:nvSpPr>
          <p:spPr>
            <a:xfrm>
              <a:off x="4982718" y="3208781"/>
              <a:ext cx="1059180" cy="883919"/>
            </a:xfrm>
            <a:custGeom>
              <a:avLst/>
              <a:gdLst/>
              <a:ahLst/>
              <a:cxnLst/>
              <a:rect l="l" t="t" r="r" b="b"/>
              <a:pathLst>
                <a:path w="1059179" h="883920">
                  <a:moveTo>
                    <a:pt x="529590" y="0"/>
                  </a:moveTo>
                  <a:lnTo>
                    <a:pt x="478587" y="2023"/>
                  </a:lnTo>
                  <a:lnTo>
                    <a:pt x="428956" y="7968"/>
                  </a:lnTo>
                  <a:lnTo>
                    <a:pt x="380919" y="17652"/>
                  </a:lnTo>
                  <a:lnTo>
                    <a:pt x="334696" y="30888"/>
                  </a:lnTo>
                  <a:lnTo>
                    <a:pt x="290512" y="47491"/>
                  </a:lnTo>
                  <a:lnTo>
                    <a:pt x="248586" y="67276"/>
                  </a:lnTo>
                  <a:lnTo>
                    <a:pt x="209142" y="90058"/>
                  </a:lnTo>
                  <a:lnTo>
                    <a:pt x="172401" y="115651"/>
                  </a:lnTo>
                  <a:lnTo>
                    <a:pt x="138586" y="143871"/>
                  </a:lnTo>
                  <a:lnTo>
                    <a:pt x="107917" y="174532"/>
                  </a:lnTo>
                  <a:lnTo>
                    <a:pt x="80618" y="207449"/>
                  </a:lnTo>
                  <a:lnTo>
                    <a:pt x="56909" y="242437"/>
                  </a:lnTo>
                  <a:lnTo>
                    <a:pt x="37013" y="279311"/>
                  </a:lnTo>
                  <a:lnTo>
                    <a:pt x="21153" y="317885"/>
                  </a:lnTo>
                  <a:lnTo>
                    <a:pt x="9549" y="357975"/>
                  </a:lnTo>
                  <a:lnTo>
                    <a:pt x="2424" y="399395"/>
                  </a:lnTo>
                  <a:lnTo>
                    <a:pt x="0" y="441959"/>
                  </a:lnTo>
                  <a:lnTo>
                    <a:pt x="2424" y="484524"/>
                  </a:lnTo>
                  <a:lnTo>
                    <a:pt x="9549" y="525944"/>
                  </a:lnTo>
                  <a:lnTo>
                    <a:pt x="21153" y="566034"/>
                  </a:lnTo>
                  <a:lnTo>
                    <a:pt x="37013" y="604608"/>
                  </a:lnTo>
                  <a:lnTo>
                    <a:pt x="56909" y="641482"/>
                  </a:lnTo>
                  <a:lnTo>
                    <a:pt x="80645" y="676503"/>
                  </a:lnTo>
                  <a:lnTo>
                    <a:pt x="107917" y="709387"/>
                  </a:lnTo>
                  <a:lnTo>
                    <a:pt x="138586" y="740048"/>
                  </a:lnTo>
                  <a:lnTo>
                    <a:pt x="172401" y="768268"/>
                  </a:lnTo>
                  <a:lnTo>
                    <a:pt x="209142" y="793861"/>
                  </a:lnTo>
                  <a:lnTo>
                    <a:pt x="248586" y="816643"/>
                  </a:lnTo>
                  <a:lnTo>
                    <a:pt x="290512" y="836428"/>
                  </a:lnTo>
                  <a:lnTo>
                    <a:pt x="334696" y="853031"/>
                  </a:lnTo>
                  <a:lnTo>
                    <a:pt x="380919" y="866267"/>
                  </a:lnTo>
                  <a:lnTo>
                    <a:pt x="428956" y="875951"/>
                  </a:lnTo>
                  <a:lnTo>
                    <a:pt x="478587" y="881896"/>
                  </a:lnTo>
                  <a:lnTo>
                    <a:pt x="529590" y="883920"/>
                  </a:lnTo>
                  <a:lnTo>
                    <a:pt x="580592" y="881896"/>
                  </a:lnTo>
                  <a:lnTo>
                    <a:pt x="630223" y="875951"/>
                  </a:lnTo>
                  <a:lnTo>
                    <a:pt x="678260" y="866267"/>
                  </a:lnTo>
                  <a:lnTo>
                    <a:pt x="724483" y="853031"/>
                  </a:lnTo>
                  <a:lnTo>
                    <a:pt x="768667" y="836428"/>
                  </a:lnTo>
                  <a:lnTo>
                    <a:pt x="810593" y="816643"/>
                  </a:lnTo>
                  <a:lnTo>
                    <a:pt x="850037" y="793861"/>
                  </a:lnTo>
                  <a:lnTo>
                    <a:pt x="886778" y="768268"/>
                  </a:lnTo>
                  <a:lnTo>
                    <a:pt x="920593" y="740048"/>
                  </a:lnTo>
                  <a:lnTo>
                    <a:pt x="942583" y="718064"/>
                  </a:lnTo>
                  <a:lnTo>
                    <a:pt x="518906" y="718064"/>
                  </a:lnTo>
                  <a:lnTo>
                    <a:pt x="471703" y="714665"/>
                  </a:lnTo>
                  <a:lnTo>
                    <a:pt x="425309" y="706595"/>
                  </a:lnTo>
                  <a:lnTo>
                    <a:pt x="380346" y="693870"/>
                  </a:lnTo>
                  <a:lnTo>
                    <a:pt x="337439" y="676503"/>
                  </a:lnTo>
                  <a:lnTo>
                    <a:pt x="293855" y="652390"/>
                  </a:lnTo>
                  <a:lnTo>
                    <a:pt x="256326" y="624418"/>
                  </a:lnTo>
                  <a:lnTo>
                    <a:pt x="225031" y="593175"/>
                  </a:lnTo>
                  <a:lnTo>
                    <a:pt x="200149" y="559249"/>
                  </a:lnTo>
                  <a:lnTo>
                    <a:pt x="181860" y="523227"/>
                  </a:lnTo>
                  <a:lnTo>
                    <a:pt x="170342" y="485699"/>
                  </a:lnTo>
                  <a:lnTo>
                    <a:pt x="165775" y="447252"/>
                  </a:lnTo>
                  <a:lnTo>
                    <a:pt x="168338" y="408474"/>
                  </a:lnTo>
                  <a:lnTo>
                    <a:pt x="178210" y="369954"/>
                  </a:lnTo>
                  <a:lnTo>
                    <a:pt x="195571" y="332278"/>
                  </a:lnTo>
                  <a:lnTo>
                    <a:pt x="220599" y="296037"/>
                  </a:lnTo>
                  <a:lnTo>
                    <a:pt x="476062" y="296037"/>
                  </a:lnTo>
                  <a:lnTo>
                    <a:pt x="355854" y="199262"/>
                  </a:lnTo>
                  <a:lnTo>
                    <a:pt x="400053" y="183823"/>
                  </a:lnTo>
                  <a:lnTo>
                    <a:pt x="445938" y="173118"/>
                  </a:lnTo>
                  <a:lnTo>
                    <a:pt x="492886" y="167131"/>
                  </a:lnTo>
                  <a:lnTo>
                    <a:pt x="540273" y="165846"/>
                  </a:lnTo>
                  <a:lnTo>
                    <a:pt x="942573" y="165846"/>
                  </a:lnTo>
                  <a:lnTo>
                    <a:pt x="920593" y="143871"/>
                  </a:lnTo>
                  <a:lnTo>
                    <a:pt x="886778" y="115651"/>
                  </a:lnTo>
                  <a:lnTo>
                    <a:pt x="850037" y="90058"/>
                  </a:lnTo>
                  <a:lnTo>
                    <a:pt x="810593" y="67276"/>
                  </a:lnTo>
                  <a:lnTo>
                    <a:pt x="768667" y="47491"/>
                  </a:lnTo>
                  <a:lnTo>
                    <a:pt x="724483" y="30888"/>
                  </a:lnTo>
                  <a:lnTo>
                    <a:pt x="678260" y="17652"/>
                  </a:lnTo>
                  <a:lnTo>
                    <a:pt x="630223" y="7968"/>
                  </a:lnTo>
                  <a:lnTo>
                    <a:pt x="580592" y="2023"/>
                  </a:lnTo>
                  <a:lnTo>
                    <a:pt x="529590" y="0"/>
                  </a:lnTo>
                  <a:close/>
                </a:path>
                <a:path w="1059179" h="883920">
                  <a:moveTo>
                    <a:pt x="476062" y="296037"/>
                  </a:moveTo>
                  <a:lnTo>
                    <a:pt x="220599" y="296037"/>
                  </a:lnTo>
                  <a:lnTo>
                    <a:pt x="703326" y="684682"/>
                  </a:lnTo>
                  <a:lnTo>
                    <a:pt x="659126" y="700102"/>
                  </a:lnTo>
                  <a:lnTo>
                    <a:pt x="613241" y="710797"/>
                  </a:lnTo>
                  <a:lnTo>
                    <a:pt x="566293" y="716779"/>
                  </a:lnTo>
                  <a:lnTo>
                    <a:pt x="518906" y="718064"/>
                  </a:lnTo>
                  <a:lnTo>
                    <a:pt x="942583" y="718064"/>
                  </a:lnTo>
                  <a:lnTo>
                    <a:pt x="978534" y="676503"/>
                  </a:lnTo>
                  <a:lnTo>
                    <a:pt x="1002270" y="641482"/>
                  </a:lnTo>
                  <a:lnTo>
                    <a:pt x="1022166" y="604608"/>
                  </a:lnTo>
                  <a:lnTo>
                    <a:pt x="1029042" y="587883"/>
                  </a:lnTo>
                  <a:lnTo>
                    <a:pt x="838581" y="587883"/>
                  </a:lnTo>
                  <a:lnTo>
                    <a:pt x="476062" y="296037"/>
                  </a:lnTo>
                  <a:close/>
                </a:path>
                <a:path w="1059179" h="883920">
                  <a:moveTo>
                    <a:pt x="942573" y="165846"/>
                  </a:moveTo>
                  <a:lnTo>
                    <a:pt x="540273" y="165846"/>
                  </a:lnTo>
                  <a:lnTo>
                    <a:pt x="587476" y="169245"/>
                  </a:lnTo>
                  <a:lnTo>
                    <a:pt x="633870" y="177313"/>
                  </a:lnTo>
                  <a:lnTo>
                    <a:pt x="678833" y="190034"/>
                  </a:lnTo>
                  <a:lnTo>
                    <a:pt x="721847" y="207449"/>
                  </a:lnTo>
                  <a:lnTo>
                    <a:pt x="765324" y="231510"/>
                  </a:lnTo>
                  <a:lnTo>
                    <a:pt x="802853" y="259487"/>
                  </a:lnTo>
                  <a:lnTo>
                    <a:pt x="834148" y="290734"/>
                  </a:lnTo>
                  <a:lnTo>
                    <a:pt x="859030" y="324664"/>
                  </a:lnTo>
                  <a:lnTo>
                    <a:pt x="877319" y="360687"/>
                  </a:lnTo>
                  <a:lnTo>
                    <a:pt x="888837" y="398217"/>
                  </a:lnTo>
                  <a:lnTo>
                    <a:pt x="893404" y="436666"/>
                  </a:lnTo>
                  <a:lnTo>
                    <a:pt x="890841" y="475444"/>
                  </a:lnTo>
                  <a:lnTo>
                    <a:pt x="880969" y="513965"/>
                  </a:lnTo>
                  <a:lnTo>
                    <a:pt x="863608" y="551641"/>
                  </a:lnTo>
                  <a:lnTo>
                    <a:pt x="838581" y="587883"/>
                  </a:lnTo>
                  <a:lnTo>
                    <a:pt x="1029042" y="587883"/>
                  </a:lnTo>
                  <a:lnTo>
                    <a:pt x="1038026" y="566034"/>
                  </a:lnTo>
                  <a:lnTo>
                    <a:pt x="1049630" y="525944"/>
                  </a:lnTo>
                  <a:lnTo>
                    <a:pt x="1056755" y="484524"/>
                  </a:lnTo>
                  <a:lnTo>
                    <a:pt x="1059180" y="441959"/>
                  </a:lnTo>
                  <a:lnTo>
                    <a:pt x="1056755" y="399395"/>
                  </a:lnTo>
                  <a:lnTo>
                    <a:pt x="1049630" y="357975"/>
                  </a:lnTo>
                  <a:lnTo>
                    <a:pt x="1038026" y="317885"/>
                  </a:lnTo>
                  <a:lnTo>
                    <a:pt x="1022166" y="279311"/>
                  </a:lnTo>
                  <a:lnTo>
                    <a:pt x="1002270" y="242437"/>
                  </a:lnTo>
                  <a:lnTo>
                    <a:pt x="978561" y="207449"/>
                  </a:lnTo>
                  <a:lnTo>
                    <a:pt x="951262" y="174532"/>
                  </a:lnTo>
                  <a:lnTo>
                    <a:pt x="942573" y="165846"/>
                  </a:lnTo>
                  <a:close/>
                </a:path>
              </a:pathLst>
            </a:custGeom>
            <a:solidFill>
              <a:srgbClr val="F1F1F1"/>
            </a:solidFill>
          </p:spPr>
          <p:txBody>
            <a:bodyPr wrap="square" lIns="0" tIns="0" rIns="0" bIns="0" rtlCol="0"/>
            <a:lstStyle/>
            <a:p>
              <a:endParaRPr sz="2400"/>
            </a:p>
          </p:txBody>
        </p:sp>
        <p:sp>
          <p:nvSpPr>
            <p:cNvPr id="21" name="object 21"/>
            <p:cNvSpPr/>
            <p:nvPr/>
          </p:nvSpPr>
          <p:spPr>
            <a:xfrm>
              <a:off x="4982718" y="3208781"/>
              <a:ext cx="1059180" cy="883919"/>
            </a:xfrm>
            <a:custGeom>
              <a:avLst/>
              <a:gdLst/>
              <a:ahLst/>
              <a:cxnLst/>
              <a:rect l="l" t="t" r="r" b="b"/>
              <a:pathLst>
                <a:path w="1059179" h="883920">
                  <a:moveTo>
                    <a:pt x="0" y="441959"/>
                  </a:moveTo>
                  <a:lnTo>
                    <a:pt x="2424" y="399395"/>
                  </a:lnTo>
                  <a:lnTo>
                    <a:pt x="9549" y="357975"/>
                  </a:lnTo>
                  <a:lnTo>
                    <a:pt x="21153" y="317885"/>
                  </a:lnTo>
                  <a:lnTo>
                    <a:pt x="37013" y="279311"/>
                  </a:lnTo>
                  <a:lnTo>
                    <a:pt x="56909" y="242437"/>
                  </a:lnTo>
                  <a:lnTo>
                    <a:pt x="80618" y="207449"/>
                  </a:lnTo>
                  <a:lnTo>
                    <a:pt x="107917" y="174532"/>
                  </a:lnTo>
                  <a:lnTo>
                    <a:pt x="138586" y="143871"/>
                  </a:lnTo>
                  <a:lnTo>
                    <a:pt x="172401" y="115651"/>
                  </a:lnTo>
                  <a:lnTo>
                    <a:pt x="209142" y="90058"/>
                  </a:lnTo>
                  <a:lnTo>
                    <a:pt x="248586" y="67276"/>
                  </a:lnTo>
                  <a:lnTo>
                    <a:pt x="290512" y="47491"/>
                  </a:lnTo>
                  <a:lnTo>
                    <a:pt x="334696" y="30888"/>
                  </a:lnTo>
                  <a:lnTo>
                    <a:pt x="380919" y="17652"/>
                  </a:lnTo>
                  <a:lnTo>
                    <a:pt x="428956" y="7968"/>
                  </a:lnTo>
                  <a:lnTo>
                    <a:pt x="478587" y="2023"/>
                  </a:lnTo>
                  <a:lnTo>
                    <a:pt x="529590" y="0"/>
                  </a:lnTo>
                  <a:lnTo>
                    <a:pt x="580592" y="2023"/>
                  </a:lnTo>
                  <a:lnTo>
                    <a:pt x="630223" y="7968"/>
                  </a:lnTo>
                  <a:lnTo>
                    <a:pt x="678260" y="17652"/>
                  </a:lnTo>
                  <a:lnTo>
                    <a:pt x="724483" y="30888"/>
                  </a:lnTo>
                  <a:lnTo>
                    <a:pt x="768667" y="47491"/>
                  </a:lnTo>
                  <a:lnTo>
                    <a:pt x="810593" y="67276"/>
                  </a:lnTo>
                  <a:lnTo>
                    <a:pt x="850037" y="90058"/>
                  </a:lnTo>
                  <a:lnTo>
                    <a:pt x="886778" y="115651"/>
                  </a:lnTo>
                  <a:lnTo>
                    <a:pt x="920593" y="143871"/>
                  </a:lnTo>
                  <a:lnTo>
                    <a:pt x="951262" y="174532"/>
                  </a:lnTo>
                  <a:lnTo>
                    <a:pt x="978561" y="207449"/>
                  </a:lnTo>
                  <a:lnTo>
                    <a:pt x="1002270" y="242437"/>
                  </a:lnTo>
                  <a:lnTo>
                    <a:pt x="1022166" y="279311"/>
                  </a:lnTo>
                  <a:lnTo>
                    <a:pt x="1038026" y="317885"/>
                  </a:lnTo>
                  <a:lnTo>
                    <a:pt x="1049630" y="357975"/>
                  </a:lnTo>
                  <a:lnTo>
                    <a:pt x="1056755" y="399395"/>
                  </a:lnTo>
                  <a:lnTo>
                    <a:pt x="1059180" y="441959"/>
                  </a:lnTo>
                  <a:lnTo>
                    <a:pt x="1056755" y="484524"/>
                  </a:lnTo>
                  <a:lnTo>
                    <a:pt x="1049630" y="525944"/>
                  </a:lnTo>
                  <a:lnTo>
                    <a:pt x="1038026" y="566034"/>
                  </a:lnTo>
                  <a:lnTo>
                    <a:pt x="1022166" y="604608"/>
                  </a:lnTo>
                  <a:lnTo>
                    <a:pt x="1002270" y="641482"/>
                  </a:lnTo>
                  <a:lnTo>
                    <a:pt x="978561" y="676470"/>
                  </a:lnTo>
                  <a:lnTo>
                    <a:pt x="951262" y="709387"/>
                  </a:lnTo>
                  <a:lnTo>
                    <a:pt x="920593" y="740048"/>
                  </a:lnTo>
                  <a:lnTo>
                    <a:pt x="886778" y="768268"/>
                  </a:lnTo>
                  <a:lnTo>
                    <a:pt x="850037" y="793861"/>
                  </a:lnTo>
                  <a:lnTo>
                    <a:pt x="810593" y="816643"/>
                  </a:lnTo>
                  <a:lnTo>
                    <a:pt x="768667" y="836428"/>
                  </a:lnTo>
                  <a:lnTo>
                    <a:pt x="724483" y="853031"/>
                  </a:lnTo>
                  <a:lnTo>
                    <a:pt x="678260" y="866267"/>
                  </a:lnTo>
                  <a:lnTo>
                    <a:pt x="630223" y="875951"/>
                  </a:lnTo>
                  <a:lnTo>
                    <a:pt x="580592" y="881896"/>
                  </a:lnTo>
                  <a:lnTo>
                    <a:pt x="529590" y="883920"/>
                  </a:lnTo>
                  <a:lnTo>
                    <a:pt x="478587" y="881896"/>
                  </a:lnTo>
                  <a:lnTo>
                    <a:pt x="428956" y="875951"/>
                  </a:lnTo>
                  <a:lnTo>
                    <a:pt x="380919" y="866267"/>
                  </a:lnTo>
                  <a:lnTo>
                    <a:pt x="334696" y="853031"/>
                  </a:lnTo>
                  <a:lnTo>
                    <a:pt x="290512" y="836428"/>
                  </a:lnTo>
                  <a:lnTo>
                    <a:pt x="248586" y="816643"/>
                  </a:lnTo>
                  <a:lnTo>
                    <a:pt x="209142" y="793861"/>
                  </a:lnTo>
                  <a:lnTo>
                    <a:pt x="172401" y="768268"/>
                  </a:lnTo>
                  <a:lnTo>
                    <a:pt x="138586" y="740048"/>
                  </a:lnTo>
                  <a:lnTo>
                    <a:pt x="107917" y="709387"/>
                  </a:lnTo>
                  <a:lnTo>
                    <a:pt x="80618" y="676470"/>
                  </a:lnTo>
                  <a:lnTo>
                    <a:pt x="56909" y="641482"/>
                  </a:lnTo>
                  <a:lnTo>
                    <a:pt x="37013" y="604608"/>
                  </a:lnTo>
                  <a:lnTo>
                    <a:pt x="21153" y="566034"/>
                  </a:lnTo>
                  <a:lnTo>
                    <a:pt x="9549" y="525944"/>
                  </a:lnTo>
                  <a:lnTo>
                    <a:pt x="2424" y="484524"/>
                  </a:lnTo>
                  <a:lnTo>
                    <a:pt x="0" y="441959"/>
                  </a:lnTo>
                  <a:close/>
                </a:path>
                <a:path w="1059179" h="883920">
                  <a:moveTo>
                    <a:pt x="838581" y="587883"/>
                  </a:moveTo>
                  <a:lnTo>
                    <a:pt x="863608" y="551641"/>
                  </a:lnTo>
                  <a:lnTo>
                    <a:pt x="880969" y="513965"/>
                  </a:lnTo>
                  <a:lnTo>
                    <a:pt x="890841" y="475444"/>
                  </a:lnTo>
                  <a:lnTo>
                    <a:pt x="893404" y="436666"/>
                  </a:lnTo>
                  <a:lnTo>
                    <a:pt x="888837" y="398217"/>
                  </a:lnTo>
                  <a:lnTo>
                    <a:pt x="877319" y="360687"/>
                  </a:lnTo>
                  <a:lnTo>
                    <a:pt x="859030" y="324664"/>
                  </a:lnTo>
                  <a:lnTo>
                    <a:pt x="834148" y="290734"/>
                  </a:lnTo>
                  <a:lnTo>
                    <a:pt x="802853" y="259487"/>
                  </a:lnTo>
                  <a:lnTo>
                    <a:pt x="765324" y="231510"/>
                  </a:lnTo>
                  <a:lnTo>
                    <a:pt x="721741" y="207391"/>
                  </a:lnTo>
                  <a:lnTo>
                    <a:pt x="678833" y="190034"/>
                  </a:lnTo>
                  <a:lnTo>
                    <a:pt x="633870" y="177313"/>
                  </a:lnTo>
                  <a:lnTo>
                    <a:pt x="587476" y="169245"/>
                  </a:lnTo>
                  <a:lnTo>
                    <a:pt x="540273" y="165846"/>
                  </a:lnTo>
                  <a:lnTo>
                    <a:pt x="492886" y="167131"/>
                  </a:lnTo>
                  <a:lnTo>
                    <a:pt x="445938" y="173118"/>
                  </a:lnTo>
                  <a:lnTo>
                    <a:pt x="400053" y="183823"/>
                  </a:lnTo>
                  <a:lnTo>
                    <a:pt x="355854" y="199262"/>
                  </a:lnTo>
                  <a:lnTo>
                    <a:pt x="838581" y="587883"/>
                  </a:lnTo>
                  <a:close/>
                </a:path>
                <a:path w="1059179" h="883920">
                  <a:moveTo>
                    <a:pt x="220599" y="296037"/>
                  </a:moveTo>
                  <a:lnTo>
                    <a:pt x="195571" y="332278"/>
                  </a:lnTo>
                  <a:lnTo>
                    <a:pt x="178210" y="369954"/>
                  </a:lnTo>
                  <a:lnTo>
                    <a:pt x="168338" y="408474"/>
                  </a:lnTo>
                  <a:lnTo>
                    <a:pt x="165775" y="447252"/>
                  </a:lnTo>
                  <a:lnTo>
                    <a:pt x="170342" y="485699"/>
                  </a:lnTo>
                  <a:lnTo>
                    <a:pt x="181860" y="523227"/>
                  </a:lnTo>
                  <a:lnTo>
                    <a:pt x="200149" y="559249"/>
                  </a:lnTo>
                  <a:lnTo>
                    <a:pt x="225031" y="593175"/>
                  </a:lnTo>
                  <a:lnTo>
                    <a:pt x="256326" y="624418"/>
                  </a:lnTo>
                  <a:lnTo>
                    <a:pt x="293855" y="652390"/>
                  </a:lnTo>
                  <a:lnTo>
                    <a:pt x="337439" y="676503"/>
                  </a:lnTo>
                  <a:lnTo>
                    <a:pt x="380346" y="693870"/>
                  </a:lnTo>
                  <a:lnTo>
                    <a:pt x="425309" y="706595"/>
                  </a:lnTo>
                  <a:lnTo>
                    <a:pt x="471703" y="714665"/>
                  </a:lnTo>
                  <a:lnTo>
                    <a:pt x="518906" y="718064"/>
                  </a:lnTo>
                  <a:lnTo>
                    <a:pt x="566293" y="716779"/>
                  </a:lnTo>
                  <a:lnTo>
                    <a:pt x="613241" y="710797"/>
                  </a:lnTo>
                  <a:lnTo>
                    <a:pt x="659126" y="700102"/>
                  </a:lnTo>
                  <a:lnTo>
                    <a:pt x="703326" y="684682"/>
                  </a:lnTo>
                  <a:lnTo>
                    <a:pt x="220599" y="296037"/>
                  </a:lnTo>
                  <a:close/>
                </a:path>
              </a:pathLst>
            </a:custGeom>
            <a:ln w="25908">
              <a:solidFill>
                <a:srgbClr val="008FBB"/>
              </a:solidFill>
            </a:ln>
          </p:spPr>
          <p:txBody>
            <a:bodyPr wrap="square" lIns="0" tIns="0" rIns="0" bIns="0" rtlCol="0"/>
            <a:lstStyle/>
            <a:p>
              <a:endParaRPr sz="2400"/>
            </a:p>
          </p:txBody>
        </p:sp>
      </p:grpSp>
      <p:grpSp>
        <p:nvGrpSpPr>
          <p:cNvPr id="22" name="object 22"/>
          <p:cNvGrpSpPr/>
          <p:nvPr/>
        </p:nvGrpSpPr>
        <p:grpSpPr>
          <a:xfrm>
            <a:off x="8713215" y="1958848"/>
            <a:ext cx="3207173" cy="1715347"/>
            <a:chOff x="6534911" y="1469136"/>
            <a:chExt cx="2405380" cy="1286510"/>
          </a:xfrm>
        </p:grpSpPr>
        <p:pic>
          <p:nvPicPr>
            <p:cNvPr id="23" name="object 23"/>
            <p:cNvPicPr/>
            <p:nvPr/>
          </p:nvPicPr>
          <p:blipFill>
            <a:blip r:embed="rId4" cstate="print"/>
            <a:stretch>
              <a:fillRect/>
            </a:stretch>
          </p:blipFill>
          <p:spPr>
            <a:xfrm>
              <a:off x="6539483" y="1469136"/>
              <a:ext cx="2400300" cy="1286256"/>
            </a:xfrm>
            <a:prstGeom prst="rect">
              <a:avLst/>
            </a:prstGeom>
          </p:spPr>
        </p:pic>
        <p:pic>
          <p:nvPicPr>
            <p:cNvPr id="24" name="object 24"/>
            <p:cNvPicPr/>
            <p:nvPr/>
          </p:nvPicPr>
          <p:blipFill>
            <a:blip r:embed="rId5" cstate="print"/>
            <a:stretch>
              <a:fillRect/>
            </a:stretch>
          </p:blipFill>
          <p:spPr>
            <a:xfrm>
              <a:off x="6534911" y="1586496"/>
              <a:ext cx="2154936" cy="1094219"/>
            </a:xfrm>
            <a:prstGeom prst="rect">
              <a:avLst/>
            </a:prstGeom>
          </p:spPr>
        </p:pic>
      </p:grpSp>
      <p:sp>
        <p:nvSpPr>
          <p:cNvPr id="25" name="object 25"/>
          <p:cNvSpPr txBox="1"/>
          <p:nvPr/>
        </p:nvSpPr>
        <p:spPr>
          <a:xfrm>
            <a:off x="8838691" y="1725833"/>
            <a:ext cx="3081020" cy="1352700"/>
          </a:xfrm>
          <a:prstGeom prst="rect">
            <a:avLst/>
          </a:prstGeom>
          <a:solidFill>
            <a:srgbClr val="D9D9D9"/>
          </a:solidFill>
          <a:ln w="9144">
            <a:solidFill>
              <a:srgbClr val="373737"/>
            </a:solidFill>
          </a:ln>
        </p:spPr>
        <p:txBody>
          <a:bodyPr vert="horz" wrap="square" lIns="0" tIns="206587" rIns="0" bIns="0" rtlCol="0">
            <a:spAutoFit/>
          </a:bodyPr>
          <a:lstStyle/>
          <a:p>
            <a:pPr marL="579106" indent="-456342">
              <a:spcBef>
                <a:spcPts val="1627"/>
              </a:spcBef>
              <a:buClr>
                <a:srgbClr val="FFFFFF"/>
              </a:buClr>
              <a:buFont typeface="Courier New"/>
              <a:buChar char="o"/>
              <a:tabLst>
                <a:tab pos="579106" algn="l"/>
              </a:tabLst>
            </a:pPr>
            <a:r>
              <a:rPr sz="1867" i="1" dirty="0">
                <a:solidFill>
                  <a:srgbClr val="3B3B3B"/>
                </a:solidFill>
                <a:latin typeface="Calibri"/>
                <a:cs typeface="Calibri"/>
              </a:rPr>
              <a:t>columnar</a:t>
            </a:r>
            <a:r>
              <a:rPr sz="1867" i="1" spc="-67" dirty="0">
                <a:solidFill>
                  <a:srgbClr val="3B3B3B"/>
                </a:solidFill>
                <a:latin typeface="Calibri"/>
                <a:cs typeface="Calibri"/>
              </a:rPr>
              <a:t> </a:t>
            </a:r>
            <a:r>
              <a:rPr sz="1867" i="1" spc="-13" dirty="0">
                <a:solidFill>
                  <a:srgbClr val="3B3B3B"/>
                </a:solidFill>
                <a:latin typeface="Calibri"/>
                <a:cs typeface="Calibri"/>
              </a:rPr>
              <a:t>storage,</a:t>
            </a:r>
            <a:endParaRPr sz="1867">
              <a:latin typeface="Calibri"/>
              <a:cs typeface="Calibri"/>
            </a:endParaRPr>
          </a:p>
          <a:p>
            <a:pPr marL="579106" indent="-456342">
              <a:spcBef>
                <a:spcPts val="1125"/>
              </a:spcBef>
              <a:buClr>
                <a:srgbClr val="FFFFFF"/>
              </a:buClr>
              <a:buFont typeface="Courier New"/>
              <a:buChar char="o"/>
              <a:tabLst>
                <a:tab pos="579106" algn="l"/>
              </a:tabLst>
            </a:pPr>
            <a:r>
              <a:rPr sz="1867" i="1" dirty="0">
                <a:solidFill>
                  <a:srgbClr val="3B3B3B"/>
                </a:solidFill>
                <a:latin typeface="Calibri"/>
                <a:cs typeface="Calibri"/>
              </a:rPr>
              <a:t>parallel</a:t>
            </a:r>
            <a:r>
              <a:rPr sz="1867" i="1" spc="-40" dirty="0">
                <a:solidFill>
                  <a:srgbClr val="3B3B3B"/>
                </a:solidFill>
                <a:latin typeface="Calibri"/>
                <a:cs typeface="Calibri"/>
              </a:rPr>
              <a:t> </a:t>
            </a:r>
            <a:r>
              <a:rPr sz="1867" i="1" dirty="0">
                <a:solidFill>
                  <a:srgbClr val="3B3B3B"/>
                </a:solidFill>
                <a:latin typeface="Calibri"/>
                <a:cs typeface="Calibri"/>
              </a:rPr>
              <a:t>query</a:t>
            </a:r>
            <a:r>
              <a:rPr sz="1867" i="1" spc="-60" dirty="0">
                <a:solidFill>
                  <a:srgbClr val="3B3B3B"/>
                </a:solidFill>
                <a:latin typeface="Calibri"/>
                <a:cs typeface="Calibri"/>
              </a:rPr>
              <a:t> </a:t>
            </a:r>
            <a:r>
              <a:rPr sz="1867" i="1" spc="-13" dirty="0">
                <a:solidFill>
                  <a:srgbClr val="3B3B3B"/>
                </a:solidFill>
                <a:latin typeface="Calibri"/>
                <a:cs typeface="Calibri"/>
              </a:rPr>
              <a:t>plans,</a:t>
            </a:r>
            <a:endParaRPr sz="1867">
              <a:latin typeface="Calibri"/>
              <a:cs typeface="Calibri"/>
            </a:endParaRPr>
          </a:p>
          <a:p>
            <a:pPr marL="579106" indent="-456342">
              <a:spcBef>
                <a:spcPts val="1120"/>
              </a:spcBef>
              <a:buClr>
                <a:srgbClr val="FFFFFF"/>
              </a:buClr>
              <a:buFont typeface="Courier New"/>
              <a:buChar char="o"/>
              <a:tabLst>
                <a:tab pos="579106" algn="l"/>
              </a:tabLst>
            </a:pPr>
            <a:r>
              <a:rPr sz="1867" i="1" dirty="0">
                <a:solidFill>
                  <a:srgbClr val="3B3B3B"/>
                </a:solidFill>
                <a:latin typeface="Calibri"/>
                <a:cs typeface="Calibri"/>
              </a:rPr>
              <a:t>and</a:t>
            </a:r>
            <a:r>
              <a:rPr sz="1867" i="1" spc="-27" dirty="0">
                <a:solidFill>
                  <a:srgbClr val="3B3B3B"/>
                </a:solidFill>
                <a:latin typeface="Calibri"/>
                <a:cs typeface="Calibri"/>
              </a:rPr>
              <a:t> </a:t>
            </a:r>
            <a:r>
              <a:rPr sz="1867" i="1" dirty="0">
                <a:solidFill>
                  <a:srgbClr val="3B3B3B"/>
                </a:solidFill>
                <a:latin typeface="Calibri"/>
                <a:cs typeface="Calibri"/>
              </a:rPr>
              <a:t>other</a:t>
            </a:r>
            <a:r>
              <a:rPr sz="1867" i="1" spc="-53" dirty="0">
                <a:solidFill>
                  <a:srgbClr val="3B3B3B"/>
                </a:solidFill>
                <a:latin typeface="Calibri"/>
                <a:cs typeface="Calibri"/>
              </a:rPr>
              <a:t> </a:t>
            </a:r>
            <a:r>
              <a:rPr sz="1867" i="1" spc="-13" dirty="0">
                <a:solidFill>
                  <a:srgbClr val="3B3B3B"/>
                </a:solidFill>
                <a:latin typeface="Calibri"/>
                <a:cs typeface="Calibri"/>
              </a:rPr>
              <a:t>techniques</a:t>
            </a:r>
            <a:endParaRPr sz="1867">
              <a:latin typeface="Calibri"/>
              <a:cs typeface="Calibri"/>
            </a:endParaRPr>
          </a:p>
        </p:txBody>
      </p:sp>
      <p:sp>
        <p:nvSpPr>
          <p:cNvPr id="26" name="TextBox 25">
            <a:extLst>
              <a:ext uri="{FF2B5EF4-FFF2-40B4-BE49-F238E27FC236}">
                <a16:creationId xmlns:a16="http://schemas.microsoft.com/office/drawing/2014/main" id="{56848246-0259-DADE-A2D3-4C259B2A6A52}"/>
              </a:ext>
            </a:extLst>
          </p:cNvPr>
          <p:cNvSpPr txBox="1"/>
          <p:nvPr/>
        </p:nvSpPr>
        <p:spPr>
          <a:xfrm>
            <a:off x="3047172" y="226398"/>
            <a:ext cx="6097656" cy="769441"/>
          </a:xfrm>
          <a:prstGeom prst="rect">
            <a:avLst/>
          </a:prstGeom>
          <a:noFill/>
        </p:spPr>
        <p:txBody>
          <a:bodyPr wrap="square">
            <a:spAutoFit/>
          </a:bodyPr>
          <a:lstStyle/>
          <a:p>
            <a:pPr algn="ctr"/>
            <a:r>
              <a:rPr lang="en-IN" sz="4400" dirty="0">
                <a:solidFill>
                  <a:schemeClr val="bg1"/>
                </a:solidFill>
                <a:latin typeface="+mn-lt"/>
              </a:rPr>
              <a:t>In Memory </a:t>
            </a:r>
            <a:r>
              <a:rPr lang="en-IN" sz="4400" spc="-13" dirty="0">
                <a:solidFill>
                  <a:schemeClr val="bg1"/>
                </a:solidFill>
                <a:latin typeface="+mn-lt"/>
              </a:rPr>
              <a:t>Database</a:t>
            </a:r>
            <a:endParaRPr lang="en-IN" sz="4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3505994" y="2633676"/>
            <a:ext cx="701887" cy="209973"/>
            <a:chOff x="2629495" y="1975257"/>
            <a:chExt cx="526415" cy="157480"/>
          </a:xfrm>
        </p:grpSpPr>
        <p:sp>
          <p:nvSpPr>
            <p:cNvPr id="4" name="object 4"/>
            <p:cNvSpPr/>
            <p:nvPr/>
          </p:nvSpPr>
          <p:spPr>
            <a:xfrm>
              <a:off x="2633985" y="1979489"/>
              <a:ext cx="516890" cy="147955"/>
            </a:xfrm>
            <a:custGeom>
              <a:avLst/>
              <a:gdLst/>
              <a:ahLst/>
              <a:cxnLst/>
              <a:rect l="l" t="t" r="r" b="b"/>
              <a:pathLst>
                <a:path w="516889" h="147955">
                  <a:moveTo>
                    <a:pt x="258292" y="0"/>
                  </a:moveTo>
                  <a:lnTo>
                    <a:pt x="189630" y="2639"/>
                  </a:lnTo>
                  <a:lnTo>
                    <a:pt x="127929" y="10088"/>
                  </a:lnTo>
                  <a:lnTo>
                    <a:pt x="75654" y="21640"/>
                  </a:lnTo>
                  <a:lnTo>
                    <a:pt x="35265" y="36593"/>
                  </a:lnTo>
                  <a:lnTo>
                    <a:pt x="0" y="73876"/>
                  </a:lnTo>
                  <a:lnTo>
                    <a:pt x="9226" y="93511"/>
                  </a:lnTo>
                  <a:lnTo>
                    <a:pt x="75654" y="126104"/>
                  </a:lnTo>
                  <a:lnTo>
                    <a:pt x="127929" y="137653"/>
                  </a:lnTo>
                  <a:lnTo>
                    <a:pt x="189630" y="145099"/>
                  </a:lnTo>
                  <a:lnTo>
                    <a:pt x="258292" y="147737"/>
                  </a:lnTo>
                  <a:lnTo>
                    <a:pt x="326957" y="145099"/>
                  </a:lnTo>
                  <a:lnTo>
                    <a:pt x="388658" y="137653"/>
                  </a:lnTo>
                  <a:lnTo>
                    <a:pt x="440933" y="126104"/>
                  </a:lnTo>
                  <a:lnTo>
                    <a:pt x="481320" y="111155"/>
                  </a:lnTo>
                  <a:lnTo>
                    <a:pt x="516584" y="73876"/>
                  </a:lnTo>
                  <a:lnTo>
                    <a:pt x="507358" y="54240"/>
                  </a:lnTo>
                  <a:lnTo>
                    <a:pt x="440933" y="21640"/>
                  </a:lnTo>
                  <a:lnTo>
                    <a:pt x="388658" y="10088"/>
                  </a:lnTo>
                  <a:lnTo>
                    <a:pt x="326957" y="2639"/>
                  </a:lnTo>
                  <a:lnTo>
                    <a:pt x="258292" y="0"/>
                  </a:lnTo>
                  <a:close/>
                </a:path>
              </a:pathLst>
            </a:custGeom>
            <a:solidFill>
              <a:srgbClr val="00607E"/>
            </a:solidFill>
          </p:spPr>
          <p:txBody>
            <a:bodyPr wrap="square" lIns="0" tIns="0" rIns="0" bIns="0" rtlCol="0"/>
            <a:lstStyle/>
            <a:p>
              <a:endParaRPr sz="2400"/>
            </a:p>
          </p:txBody>
        </p:sp>
        <p:sp>
          <p:nvSpPr>
            <p:cNvPr id="5" name="object 5"/>
            <p:cNvSpPr/>
            <p:nvPr/>
          </p:nvSpPr>
          <p:spPr>
            <a:xfrm>
              <a:off x="2629495" y="1975257"/>
              <a:ext cx="526415" cy="157480"/>
            </a:xfrm>
            <a:custGeom>
              <a:avLst/>
              <a:gdLst/>
              <a:ahLst/>
              <a:cxnLst/>
              <a:rect l="l" t="t" r="r" b="b"/>
              <a:pathLst>
                <a:path w="526414" h="157480">
                  <a:moveTo>
                    <a:pt x="263181" y="0"/>
                  </a:moveTo>
                  <a:lnTo>
                    <a:pt x="211023" y="1769"/>
                  </a:lnTo>
                  <a:lnTo>
                    <a:pt x="161732" y="5770"/>
                  </a:lnTo>
                  <a:lnTo>
                    <a:pt x="117592" y="12771"/>
                  </a:lnTo>
                  <a:lnTo>
                    <a:pt x="79148" y="21542"/>
                  </a:lnTo>
                  <a:lnTo>
                    <a:pt x="22369" y="45832"/>
                  </a:lnTo>
                  <a:lnTo>
                    <a:pt x="0" y="78477"/>
                  </a:lnTo>
                  <a:lnTo>
                    <a:pt x="6096" y="96088"/>
                  </a:lnTo>
                  <a:lnTo>
                    <a:pt x="46846" y="124271"/>
                  </a:lnTo>
                  <a:lnTo>
                    <a:pt x="117592" y="144183"/>
                  </a:lnTo>
                  <a:lnTo>
                    <a:pt x="161732" y="151161"/>
                  </a:lnTo>
                  <a:lnTo>
                    <a:pt x="211023" y="155223"/>
                  </a:lnTo>
                  <a:lnTo>
                    <a:pt x="263181" y="156962"/>
                  </a:lnTo>
                  <a:lnTo>
                    <a:pt x="315339" y="155223"/>
                  </a:lnTo>
                  <a:lnTo>
                    <a:pt x="364053" y="151161"/>
                  </a:lnTo>
                  <a:lnTo>
                    <a:pt x="385803" y="147722"/>
                  </a:lnTo>
                  <a:lnTo>
                    <a:pt x="263335" y="147722"/>
                  </a:lnTo>
                  <a:lnTo>
                    <a:pt x="211676" y="145998"/>
                  </a:lnTo>
                  <a:lnTo>
                    <a:pt x="163222" y="142005"/>
                  </a:lnTo>
                  <a:lnTo>
                    <a:pt x="163008" y="142005"/>
                  </a:lnTo>
                  <a:lnTo>
                    <a:pt x="119531" y="135135"/>
                  </a:lnTo>
                  <a:lnTo>
                    <a:pt x="82081" y="126625"/>
                  </a:lnTo>
                  <a:lnTo>
                    <a:pt x="81945" y="126625"/>
                  </a:lnTo>
                  <a:lnTo>
                    <a:pt x="51081" y="115954"/>
                  </a:lnTo>
                  <a:lnTo>
                    <a:pt x="50889" y="115954"/>
                  </a:lnTo>
                  <a:lnTo>
                    <a:pt x="28512" y="103936"/>
                  </a:lnTo>
                  <a:lnTo>
                    <a:pt x="28196" y="103936"/>
                  </a:lnTo>
                  <a:lnTo>
                    <a:pt x="27759" y="103532"/>
                  </a:lnTo>
                  <a:lnTo>
                    <a:pt x="27251" y="103259"/>
                  </a:lnTo>
                  <a:lnTo>
                    <a:pt x="27464" y="103259"/>
                  </a:lnTo>
                  <a:lnTo>
                    <a:pt x="15238" y="91964"/>
                  </a:lnTo>
                  <a:lnTo>
                    <a:pt x="14444" y="91964"/>
                  </a:lnTo>
                  <a:lnTo>
                    <a:pt x="13206" y="90087"/>
                  </a:lnTo>
                  <a:lnTo>
                    <a:pt x="13795" y="90087"/>
                  </a:lnTo>
                  <a:lnTo>
                    <a:pt x="10301" y="79985"/>
                  </a:lnTo>
                  <a:lnTo>
                    <a:pt x="9255" y="79985"/>
                  </a:lnTo>
                  <a:lnTo>
                    <a:pt x="9255" y="76961"/>
                  </a:lnTo>
                  <a:lnTo>
                    <a:pt x="10301" y="76961"/>
                  </a:lnTo>
                  <a:lnTo>
                    <a:pt x="13792" y="66867"/>
                  </a:lnTo>
                  <a:lnTo>
                    <a:pt x="13206" y="66867"/>
                  </a:lnTo>
                  <a:lnTo>
                    <a:pt x="14444" y="64982"/>
                  </a:lnTo>
                  <a:lnTo>
                    <a:pt x="15247" y="64982"/>
                  </a:lnTo>
                  <a:lnTo>
                    <a:pt x="27439" y="53718"/>
                  </a:lnTo>
                  <a:lnTo>
                    <a:pt x="27208" y="53718"/>
                  </a:lnTo>
                  <a:lnTo>
                    <a:pt x="27718" y="53444"/>
                  </a:lnTo>
                  <a:lnTo>
                    <a:pt x="28196" y="53018"/>
                  </a:lnTo>
                  <a:lnTo>
                    <a:pt x="28512" y="53018"/>
                  </a:lnTo>
                  <a:lnTo>
                    <a:pt x="50837" y="41023"/>
                  </a:lnTo>
                  <a:lnTo>
                    <a:pt x="51012" y="41023"/>
                  </a:lnTo>
                  <a:lnTo>
                    <a:pt x="81479" y="30467"/>
                  </a:lnTo>
                  <a:lnTo>
                    <a:pt x="118997" y="21915"/>
                  </a:lnTo>
                  <a:lnTo>
                    <a:pt x="119205" y="21915"/>
                  </a:lnTo>
                  <a:lnTo>
                    <a:pt x="120849" y="21542"/>
                  </a:lnTo>
                  <a:lnTo>
                    <a:pt x="121145" y="21542"/>
                  </a:lnTo>
                  <a:lnTo>
                    <a:pt x="162352" y="15029"/>
                  </a:lnTo>
                  <a:lnTo>
                    <a:pt x="210257" y="11042"/>
                  </a:lnTo>
                  <a:lnTo>
                    <a:pt x="263181" y="9237"/>
                  </a:lnTo>
                  <a:lnTo>
                    <a:pt x="385910" y="9237"/>
                  </a:lnTo>
                  <a:lnTo>
                    <a:pt x="364053" y="5770"/>
                  </a:lnTo>
                  <a:lnTo>
                    <a:pt x="315339" y="1769"/>
                  </a:lnTo>
                  <a:lnTo>
                    <a:pt x="263181" y="0"/>
                  </a:lnTo>
                  <a:close/>
                </a:path>
                <a:path w="526414" h="157480">
                  <a:moveTo>
                    <a:pt x="512505" y="103259"/>
                  </a:moveTo>
                  <a:lnTo>
                    <a:pt x="499117" y="103259"/>
                  </a:lnTo>
                  <a:lnTo>
                    <a:pt x="498165" y="103936"/>
                  </a:lnTo>
                  <a:lnTo>
                    <a:pt x="497814" y="103936"/>
                  </a:lnTo>
                  <a:lnTo>
                    <a:pt x="474891" y="115954"/>
                  </a:lnTo>
                  <a:lnTo>
                    <a:pt x="474719" y="115954"/>
                  </a:lnTo>
                  <a:lnTo>
                    <a:pt x="444416" y="126625"/>
                  </a:lnTo>
                  <a:lnTo>
                    <a:pt x="444286" y="126625"/>
                  </a:lnTo>
                  <a:lnTo>
                    <a:pt x="406254" y="135135"/>
                  </a:lnTo>
                  <a:lnTo>
                    <a:pt x="362777" y="142005"/>
                  </a:lnTo>
                  <a:lnTo>
                    <a:pt x="362562" y="142005"/>
                  </a:lnTo>
                  <a:lnTo>
                    <a:pt x="314686" y="145998"/>
                  </a:lnTo>
                  <a:lnTo>
                    <a:pt x="263027" y="147722"/>
                  </a:lnTo>
                  <a:lnTo>
                    <a:pt x="385803" y="147722"/>
                  </a:lnTo>
                  <a:lnTo>
                    <a:pt x="447222" y="135435"/>
                  </a:lnTo>
                  <a:lnTo>
                    <a:pt x="494790" y="115954"/>
                  </a:lnTo>
                  <a:lnTo>
                    <a:pt x="474882" y="115954"/>
                  </a:lnTo>
                  <a:lnTo>
                    <a:pt x="475301" y="115770"/>
                  </a:lnTo>
                  <a:lnTo>
                    <a:pt x="495140" y="115770"/>
                  </a:lnTo>
                  <a:lnTo>
                    <a:pt x="503977" y="111137"/>
                  </a:lnTo>
                  <a:lnTo>
                    <a:pt x="511772" y="103936"/>
                  </a:lnTo>
                  <a:lnTo>
                    <a:pt x="498165" y="103936"/>
                  </a:lnTo>
                  <a:lnTo>
                    <a:pt x="498603" y="103532"/>
                  </a:lnTo>
                  <a:lnTo>
                    <a:pt x="512210" y="103532"/>
                  </a:lnTo>
                  <a:lnTo>
                    <a:pt x="512505" y="103259"/>
                  </a:lnTo>
                  <a:close/>
                </a:path>
                <a:path w="526414" h="157480">
                  <a:moveTo>
                    <a:pt x="50549" y="115770"/>
                  </a:moveTo>
                  <a:lnTo>
                    <a:pt x="50889" y="115954"/>
                  </a:lnTo>
                  <a:lnTo>
                    <a:pt x="51081" y="115954"/>
                  </a:lnTo>
                  <a:lnTo>
                    <a:pt x="50549" y="115770"/>
                  </a:lnTo>
                  <a:close/>
                </a:path>
                <a:path w="526414" h="157480">
                  <a:moveTo>
                    <a:pt x="27759" y="103532"/>
                  </a:moveTo>
                  <a:lnTo>
                    <a:pt x="28196" y="103936"/>
                  </a:lnTo>
                  <a:lnTo>
                    <a:pt x="28512" y="103936"/>
                  </a:lnTo>
                  <a:lnTo>
                    <a:pt x="27759" y="103532"/>
                  </a:lnTo>
                  <a:close/>
                </a:path>
                <a:path w="526414" h="157480">
                  <a:moveTo>
                    <a:pt x="499117" y="103259"/>
                  </a:moveTo>
                  <a:lnTo>
                    <a:pt x="498603" y="103532"/>
                  </a:lnTo>
                  <a:lnTo>
                    <a:pt x="498165" y="103936"/>
                  </a:lnTo>
                  <a:lnTo>
                    <a:pt x="499117" y="103259"/>
                  </a:lnTo>
                  <a:close/>
                </a:path>
                <a:path w="526414" h="157480">
                  <a:moveTo>
                    <a:pt x="27464" y="103259"/>
                  </a:moveTo>
                  <a:lnTo>
                    <a:pt x="27251" y="103259"/>
                  </a:lnTo>
                  <a:lnTo>
                    <a:pt x="27759" y="103532"/>
                  </a:lnTo>
                  <a:lnTo>
                    <a:pt x="27464" y="103259"/>
                  </a:lnTo>
                  <a:close/>
                </a:path>
                <a:path w="526414" h="157480">
                  <a:moveTo>
                    <a:pt x="512291" y="90886"/>
                  </a:moveTo>
                  <a:lnTo>
                    <a:pt x="498603" y="103532"/>
                  </a:lnTo>
                  <a:lnTo>
                    <a:pt x="499105" y="103259"/>
                  </a:lnTo>
                  <a:lnTo>
                    <a:pt x="512505" y="103259"/>
                  </a:lnTo>
                  <a:lnTo>
                    <a:pt x="520266" y="96088"/>
                  </a:lnTo>
                  <a:lnTo>
                    <a:pt x="521694" y="91964"/>
                  </a:lnTo>
                  <a:lnTo>
                    <a:pt x="511918" y="91964"/>
                  </a:lnTo>
                  <a:lnTo>
                    <a:pt x="512291" y="90886"/>
                  </a:lnTo>
                  <a:close/>
                </a:path>
                <a:path w="526414" h="157480">
                  <a:moveTo>
                    <a:pt x="13206" y="90087"/>
                  </a:moveTo>
                  <a:lnTo>
                    <a:pt x="14444" y="91964"/>
                  </a:lnTo>
                  <a:lnTo>
                    <a:pt x="14071" y="90886"/>
                  </a:lnTo>
                  <a:lnTo>
                    <a:pt x="13206" y="90087"/>
                  </a:lnTo>
                  <a:close/>
                </a:path>
                <a:path w="526414" h="157480">
                  <a:moveTo>
                    <a:pt x="14071" y="90886"/>
                  </a:moveTo>
                  <a:lnTo>
                    <a:pt x="14444" y="91964"/>
                  </a:lnTo>
                  <a:lnTo>
                    <a:pt x="15238" y="91964"/>
                  </a:lnTo>
                  <a:lnTo>
                    <a:pt x="14071" y="90886"/>
                  </a:lnTo>
                  <a:close/>
                </a:path>
                <a:path w="526414" h="157480">
                  <a:moveTo>
                    <a:pt x="513156" y="90087"/>
                  </a:moveTo>
                  <a:lnTo>
                    <a:pt x="512291" y="90886"/>
                  </a:lnTo>
                  <a:lnTo>
                    <a:pt x="511918" y="91964"/>
                  </a:lnTo>
                  <a:lnTo>
                    <a:pt x="513156" y="90087"/>
                  </a:lnTo>
                  <a:close/>
                </a:path>
                <a:path w="526414" h="157480">
                  <a:moveTo>
                    <a:pt x="522344" y="90087"/>
                  </a:moveTo>
                  <a:lnTo>
                    <a:pt x="513156" y="90087"/>
                  </a:lnTo>
                  <a:lnTo>
                    <a:pt x="511918" y="91964"/>
                  </a:lnTo>
                  <a:lnTo>
                    <a:pt x="521694" y="91964"/>
                  </a:lnTo>
                  <a:lnTo>
                    <a:pt x="522344" y="90087"/>
                  </a:lnTo>
                  <a:close/>
                </a:path>
                <a:path w="526414" h="157480">
                  <a:moveTo>
                    <a:pt x="13795" y="90087"/>
                  </a:moveTo>
                  <a:lnTo>
                    <a:pt x="13206" y="90087"/>
                  </a:lnTo>
                  <a:lnTo>
                    <a:pt x="14071" y="90886"/>
                  </a:lnTo>
                  <a:lnTo>
                    <a:pt x="13795" y="90087"/>
                  </a:lnTo>
                  <a:close/>
                </a:path>
                <a:path w="526414" h="157480">
                  <a:moveTo>
                    <a:pt x="525838" y="76961"/>
                  </a:moveTo>
                  <a:lnTo>
                    <a:pt x="517107" y="76961"/>
                  </a:lnTo>
                  <a:lnTo>
                    <a:pt x="517107" y="79985"/>
                  </a:lnTo>
                  <a:lnTo>
                    <a:pt x="516061" y="79985"/>
                  </a:lnTo>
                  <a:lnTo>
                    <a:pt x="512291" y="90886"/>
                  </a:lnTo>
                  <a:lnTo>
                    <a:pt x="513156" y="90087"/>
                  </a:lnTo>
                  <a:lnTo>
                    <a:pt x="522344" y="90087"/>
                  </a:lnTo>
                  <a:lnTo>
                    <a:pt x="525840" y="79985"/>
                  </a:lnTo>
                  <a:lnTo>
                    <a:pt x="517107" y="79985"/>
                  </a:lnTo>
                  <a:lnTo>
                    <a:pt x="516585" y="78477"/>
                  </a:lnTo>
                  <a:lnTo>
                    <a:pt x="526362" y="78477"/>
                  </a:lnTo>
                  <a:lnTo>
                    <a:pt x="525838" y="76961"/>
                  </a:lnTo>
                  <a:close/>
                </a:path>
                <a:path w="526414" h="157480">
                  <a:moveTo>
                    <a:pt x="9255" y="76961"/>
                  </a:moveTo>
                  <a:lnTo>
                    <a:pt x="9255" y="79985"/>
                  </a:lnTo>
                  <a:lnTo>
                    <a:pt x="9777" y="78477"/>
                  </a:lnTo>
                  <a:lnTo>
                    <a:pt x="9255" y="76961"/>
                  </a:lnTo>
                  <a:close/>
                </a:path>
                <a:path w="526414" h="157480">
                  <a:moveTo>
                    <a:pt x="9779" y="78477"/>
                  </a:moveTo>
                  <a:lnTo>
                    <a:pt x="9255" y="79985"/>
                  </a:lnTo>
                  <a:lnTo>
                    <a:pt x="10301" y="79985"/>
                  </a:lnTo>
                  <a:lnTo>
                    <a:pt x="9779" y="78477"/>
                  </a:lnTo>
                  <a:close/>
                </a:path>
                <a:path w="526414" h="157480">
                  <a:moveTo>
                    <a:pt x="517107" y="76961"/>
                  </a:moveTo>
                  <a:lnTo>
                    <a:pt x="516585" y="78477"/>
                  </a:lnTo>
                  <a:lnTo>
                    <a:pt x="517107" y="79985"/>
                  </a:lnTo>
                  <a:lnTo>
                    <a:pt x="517107" y="76961"/>
                  </a:lnTo>
                  <a:close/>
                </a:path>
                <a:path w="526414" h="157480">
                  <a:moveTo>
                    <a:pt x="10301" y="76961"/>
                  </a:moveTo>
                  <a:lnTo>
                    <a:pt x="9255" y="76961"/>
                  </a:lnTo>
                  <a:lnTo>
                    <a:pt x="9779" y="78477"/>
                  </a:lnTo>
                  <a:lnTo>
                    <a:pt x="10301" y="76961"/>
                  </a:lnTo>
                  <a:close/>
                </a:path>
                <a:path w="526414" h="157480">
                  <a:moveTo>
                    <a:pt x="512295" y="66072"/>
                  </a:moveTo>
                  <a:lnTo>
                    <a:pt x="516585" y="78477"/>
                  </a:lnTo>
                  <a:lnTo>
                    <a:pt x="517107" y="76961"/>
                  </a:lnTo>
                  <a:lnTo>
                    <a:pt x="525838" y="76961"/>
                  </a:lnTo>
                  <a:lnTo>
                    <a:pt x="522344" y="66867"/>
                  </a:lnTo>
                  <a:lnTo>
                    <a:pt x="513156" y="66867"/>
                  </a:lnTo>
                  <a:lnTo>
                    <a:pt x="512295" y="66072"/>
                  </a:lnTo>
                  <a:close/>
                </a:path>
                <a:path w="526414" h="157480">
                  <a:moveTo>
                    <a:pt x="14444" y="64982"/>
                  </a:moveTo>
                  <a:lnTo>
                    <a:pt x="13206" y="66867"/>
                  </a:lnTo>
                  <a:lnTo>
                    <a:pt x="14067" y="66072"/>
                  </a:lnTo>
                  <a:lnTo>
                    <a:pt x="14444" y="64982"/>
                  </a:lnTo>
                  <a:close/>
                </a:path>
                <a:path w="526414" h="157480">
                  <a:moveTo>
                    <a:pt x="14067" y="66072"/>
                  </a:moveTo>
                  <a:lnTo>
                    <a:pt x="13206" y="66867"/>
                  </a:lnTo>
                  <a:lnTo>
                    <a:pt x="13792" y="66867"/>
                  </a:lnTo>
                  <a:lnTo>
                    <a:pt x="14067" y="66072"/>
                  </a:lnTo>
                  <a:close/>
                </a:path>
                <a:path w="526414" h="157480">
                  <a:moveTo>
                    <a:pt x="511918" y="64982"/>
                  </a:moveTo>
                  <a:lnTo>
                    <a:pt x="512295" y="66072"/>
                  </a:lnTo>
                  <a:lnTo>
                    <a:pt x="513156" y="66867"/>
                  </a:lnTo>
                  <a:lnTo>
                    <a:pt x="511918" y="64982"/>
                  </a:lnTo>
                  <a:close/>
                </a:path>
                <a:path w="526414" h="157480">
                  <a:moveTo>
                    <a:pt x="521691" y="64982"/>
                  </a:moveTo>
                  <a:lnTo>
                    <a:pt x="511918" y="64982"/>
                  </a:lnTo>
                  <a:lnTo>
                    <a:pt x="513156" y="66867"/>
                  </a:lnTo>
                  <a:lnTo>
                    <a:pt x="522344" y="66867"/>
                  </a:lnTo>
                  <a:lnTo>
                    <a:pt x="521691" y="64982"/>
                  </a:lnTo>
                  <a:close/>
                </a:path>
                <a:path w="526414" h="157480">
                  <a:moveTo>
                    <a:pt x="15247" y="64982"/>
                  </a:moveTo>
                  <a:lnTo>
                    <a:pt x="14444" y="64982"/>
                  </a:lnTo>
                  <a:lnTo>
                    <a:pt x="14067" y="66072"/>
                  </a:lnTo>
                  <a:lnTo>
                    <a:pt x="15247" y="64982"/>
                  </a:lnTo>
                  <a:close/>
                </a:path>
                <a:path w="526414" h="157480">
                  <a:moveTo>
                    <a:pt x="498627" y="53444"/>
                  </a:moveTo>
                  <a:lnTo>
                    <a:pt x="512295" y="66072"/>
                  </a:lnTo>
                  <a:lnTo>
                    <a:pt x="511918" y="64982"/>
                  </a:lnTo>
                  <a:lnTo>
                    <a:pt x="521691" y="64982"/>
                  </a:lnTo>
                  <a:lnTo>
                    <a:pt x="520266" y="60866"/>
                  </a:lnTo>
                  <a:lnTo>
                    <a:pt x="512530" y="53718"/>
                  </a:lnTo>
                  <a:lnTo>
                    <a:pt x="499149" y="53718"/>
                  </a:lnTo>
                  <a:lnTo>
                    <a:pt x="498627" y="53444"/>
                  </a:lnTo>
                  <a:close/>
                </a:path>
                <a:path w="526414" h="157480">
                  <a:moveTo>
                    <a:pt x="28196" y="53018"/>
                  </a:moveTo>
                  <a:lnTo>
                    <a:pt x="27219" y="53718"/>
                  </a:lnTo>
                  <a:lnTo>
                    <a:pt x="27439" y="53718"/>
                  </a:lnTo>
                  <a:lnTo>
                    <a:pt x="28196" y="53018"/>
                  </a:lnTo>
                  <a:close/>
                </a:path>
                <a:path w="526414" h="157480">
                  <a:moveTo>
                    <a:pt x="498165" y="53018"/>
                  </a:moveTo>
                  <a:lnTo>
                    <a:pt x="498627" y="53444"/>
                  </a:lnTo>
                  <a:lnTo>
                    <a:pt x="499149" y="53718"/>
                  </a:lnTo>
                  <a:lnTo>
                    <a:pt x="498165" y="53018"/>
                  </a:lnTo>
                  <a:close/>
                </a:path>
                <a:path w="526414" h="157480">
                  <a:moveTo>
                    <a:pt x="511772" y="53018"/>
                  </a:moveTo>
                  <a:lnTo>
                    <a:pt x="498165" y="53018"/>
                  </a:lnTo>
                  <a:lnTo>
                    <a:pt x="499149" y="53718"/>
                  </a:lnTo>
                  <a:lnTo>
                    <a:pt x="512530" y="53718"/>
                  </a:lnTo>
                  <a:lnTo>
                    <a:pt x="511772" y="53018"/>
                  </a:lnTo>
                  <a:close/>
                </a:path>
                <a:path w="526414" h="157480">
                  <a:moveTo>
                    <a:pt x="28512" y="53018"/>
                  </a:moveTo>
                  <a:lnTo>
                    <a:pt x="28196" y="53018"/>
                  </a:lnTo>
                  <a:lnTo>
                    <a:pt x="27735" y="53444"/>
                  </a:lnTo>
                  <a:lnTo>
                    <a:pt x="28512" y="53018"/>
                  </a:lnTo>
                  <a:close/>
                </a:path>
                <a:path w="526414" h="157480">
                  <a:moveTo>
                    <a:pt x="494834" y="41023"/>
                  </a:moveTo>
                  <a:lnTo>
                    <a:pt x="474935" y="41023"/>
                  </a:lnTo>
                  <a:lnTo>
                    <a:pt x="498627" y="53444"/>
                  </a:lnTo>
                  <a:lnTo>
                    <a:pt x="498165" y="53018"/>
                  </a:lnTo>
                  <a:lnTo>
                    <a:pt x="511772" y="53018"/>
                  </a:lnTo>
                  <a:lnTo>
                    <a:pt x="503994" y="45832"/>
                  </a:lnTo>
                  <a:lnTo>
                    <a:pt x="494834" y="41023"/>
                  </a:lnTo>
                  <a:close/>
                </a:path>
                <a:path w="526414" h="157480">
                  <a:moveTo>
                    <a:pt x="51012" y="41023"/>
                  </a:moveTo>
                  <a:lnTo>
                    <a:pt x="50846" y="41023"/>
                  </a:lnTo>
                  <a:lnTo>
                    <a:pt x="50331" y="41300"/>
                  </a:lnTo>
                  <a:lnTo>
                    <a:pt x="51012" y="41023"/>
                  </a:lnTo>
                  <a:close/>
                </a:path>
                <a:path w="526414" h="157480">
                  <a:moveTo>
                    <a:pt x="447222" y="21542"/>
                  </a:moveTo>
                  <a:lnTo>
                    <a:pt x="404931" y="21542"/>
                  </a:lnTo>
                  <a:lnTo>
                    <a:pt x="444853" y="30467"/>
                  </a:lnTo>
                  <a:lnTo>
                    <a:pt x="475593" y="41300"/>
                  </a:lnTo>
                  <a:lnTo>
                    <a:pt x="475463" y="41300"/>
                  </a:lnTo>
                  <a:lnTo>
                    <a:pt x="474935" y="41023"/>
                  </a:lnTo>
                  <a:lnTo>
                    <a:pt x="494834" y="41023"/>
                  </a:lnTo>
                  <a:lnTo>
                    <a:pt x="478924" y="32683"/>
                  </a:lnTo>
                  <a:lnTo>
                    <a:pt x="447222" y="21542"/>
                  </a:lnTo>
                  <a:close/>
                </a:path>
                <a:path w="526414" h="157480">
                  <a:moveTo>
                    <a:pt x="385910" y="9237"/>
                  </a:moveTo>
                  <a:lnTo>
                    <a:pt x="263186" y="9237"/>
                  </a:lnTo>
                  <a:lnTo>
                    <a:pt x="317881" y="11042"/>
                  </a:lnTo>
                  <a:lnTo>
                    <a:pt x="316089" y="11042"/>
                  </a:lnTo>
                  <a:lnTo>
                    <a:pt x="363713" y="15029"/>
                  </a:lnTo>
                  <a:lnTo>
                    <a:pt x="363428" y="15029"/>
                  </a:lnTo>
                  <a:lnTo>
                    <a:pt x="407003" y="21915"/>
                  </a:lnTo>
                  <a:lnTo>
                    <a:pt x="406446" y="21915"/>
                  </a:lnTo>
                  <a:lnTo>
                    <a:pt x="405038" y="21542"/>
                  </a:lnTo>
                  <a:lnTo>
                    <a:pt x="447222" y="21542"/>
                  </a:lnTo>
                  <a:lnTo>
                    <a:pt x="408186" y="12771"/>
                  </a:lnTo>
                  <a:lnTo>
                    <a:pt x="385910" y="9237"/>
                  </a:lnTo>
                  <a:close/>
                </a:path>
              </a:pathLst>
            </a:custGeom>
            <a:solidFill>
              <a:srgbClr val="D5D5D5"/>
            </a:solidFill>
          </p:spPr>
          <p:txBody>
            <a:bodyPr wrap="square" lIns="0" tIns="0" rIns="0" bIns="0" rtlCol="0"/>
            <a:lstStyle/>
            <a:p>
              <a:endParaRPr sz="2400"/>
            </a:p>
          </p:txBody>
        </p:sp>
      </p:grpSp>
      <p:pic>
        <p:nvPicPr>
          <p:cNvPr id="6" name="object 6"/>
          <p:cNvPicPr/>
          <p:nvPr/>
        </p:nvPicPr>
        <p:blipFill>
          <a:blip r:embed="rId2" cstate="print"/>
          <a:stretch>
            <a:fillRect/>
          </a:stretch>
        </p:blipFill>
        <p:spPr>
          <a:xfrm>
            <a:off x="7825602" y="2633677"/>
            <a:ext cx="700620" cy="947895"/>
          </a:xfrm>
          <a:prstGeom prst="rect">
            <a:avLst/>
          </a:prstGeom>
        </p:spPr>
      </p:pic>
      <p:sp>
        <p:nvSpPr>
          <p:cNvPr id="7" name="object 7"/>
          <p:cNvSpPr txBox="1"/>
          <p:nvPr/>
        </p:nvSpPr>
        <p:spPr>
          <a:xfrm>
            <a:off x="7062215" y="3759810"/>
            <a:ext cx="2323252"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In-memory</a:t>
            </a:r>
            <a:r>
              <a:rPr sz="2133" spc="-73" dirty="0">
                <a:solidFill>
                  <a:srgbClr val="FFFFFF"/>
                </a:solidFill>
                <a:latin typeface="Calibri"/>
                <a:cs typeface="Calibri"/>
              </a:rPr>
              <a:t> </a:t>
            </a:r>
            <a:r>
              <a:rPr sz="2133" spc="-13" dirty="0">
                <a:solidFill>
                  <a:srgbClr val="FFFFFF"/>
                </a:solidFill>
                <a:latin typeface="Calibri"/>
                <a:cs typeface="Calibri"/>
              </a:rPr>
              <a:t>database</a:t>
            </a:r>
            <a:endParaRPr sz="2133">
              <a:latin typeface="Calibri"/>
              <a:cs typeface="Calibri"/>
            </a:endParaRPr>
          </a:p>
        </p:txBody>
      </p:sp>
      <p:sp>
        <p:nvSpPr>
          <p:cNvPr id="8" name="object 8"/>
          <p:cNvSpPr txBox="1"/>
          <p:nvPr/>
        </p:nvSpPr>
        <p:spPr>
          <a:xfrm>
            <a:off x="2150704" y="3844408"/>
            <a:ext cx="3702473" cy="1490023"/>
          </a:xfrm>
          <a:prstGeom prst="rect">
            <a:avLst/>
          </a:prstGeom>
        </p:spPr>
        <p:txBody>
          <a:bodyPr vert="horz" wrap="square" lIns="0" tIns="0" rIns="0" bIns="0" rtlCol="0">
            <a:spAutoFit/>
          </a:bodyPr>
          <a:lstStyle/>
          <a:p>
            <a:pPr marL="608738">
              <a:lnSpc>
                <a:spcPts val="2027"/>
              </a:lnSpc>
            </a:pPr>
            <a:r>
              <a:rPr sz="2133" dirty="0">
                <a:solidFill>
                  <a:srgbClr val="FFFFFF"/>
                </a:solidFill>
                <a:latin typeface="Calibri"/>
                <a:cs typeface="Calibri"/>
              </a:rPr>
              <a:t>Traditional</a:t>
            </a:r>
            <a:r>
              <a:rPr sz="2133" spc="-27" dirty="0">
                <a:solidFill>
                  <a:srgbClr val="FFFFFF"/>
                </a:solidFill>
                <a:latin typeface="Calibri"/>
                <a:cs typeface="Calibri"/>
              </a:rPr>
              <a:t> </a:t>
            </a:r>
            <a:r>
              <a:rPr sz="2133" spc="-13" dirty="0">
                <a:solidFill>
                  <a:srgbClr val="FFFFFF"/>
                </a:solidFill>
                <a:latin typeface="Calibri"/>
                <a:cs typeface="Calibri"/>
              </a:rPr>
              <a:t>database</a:t>
            </a:r>
            <a:endParaRPr sz="2133">
              <a:latin typeface="Calibri"/>
              <a:cs typeface="Calibri"/>
            </a:endParaRPr>
          </a:p>
          <a:p>
            <a:pPr>
              <a:lnSpc>
                <a:spcPct val="100000"/>
              </a:lnSpc>
            </a:pPr>
            <a:endParaRPr sz="2133">
              <a:latin typeface="Calibri"/>
              <a:cs typeface="Calibri"/>
            </a:endParaRPr>
          </a:p>
          <a:p>
            <a:pPr>
              <a:spcBef>
                <a:spcPts val="433"/>
              </a:spcBef>
            </a:pPr>
            <a:endParaRPr sz="2133">
              <a:latin typeface="Calibri"/>
              <a:cs typeface="Calibri"/>
            </a:endParaRPr>
          </a:p>
          <a:p>
            <a:pPr marL="811933">
              <a:lnSpc>
                <a:spcPts val="1720"/>
              </a:lnSpc>
            </a:pPr>
            <a:r>
              <a:rPr sz="1600" dirty="0">
                <a:solidFill>
                  <a:srgbClr val="FFFFFF"/>
                </a:solidFill>
                <a:latin typeface="Calibri"/>
                <a:cs typeface="Calibri"/>
              </a:rPr>
              <a:t>Response</a:t>
            </a:r>
            <a:r>
              <a:rPr sz="1600" spc="-40" dirty="0">
                <a:solidFill>
                  <a:srgbClr val="FFFFFF"/>
                </a:solidFill>
                <a:latin typeface="Calibri"/>
                <a:cs typeface="Calibri"/>
              </a:rPr>
              <a:t> </a:t>
            </a:r>
            <a:r>
              <a:rPr sz="1600" spc="-27" dirty="0">
                <a:solidFill>
                  <a:srgbClr val="FFFFFF"/>
                </a:solidFill>
                <a:latin typeface="Calibri"/>
                <a:cs typeface="Calibri"/>
              </a:rPr>
              <a:t>time</a:t>
            </a:r>
            <a:endParaRPr sz="1600">
              <a:latin typeface="Calibri"/>
              <a:cs typeface="Calibri"/>
            </a:endParaRPr>
          </a:p>
          <a:p>
            <a:pPr>
              <a:lnSpc>
                <a:spcPts val="2360"/>
              </a:lnSpc>
              <a:tabLst>
                <a:tab pos="2296949" algn="l"/>
              </a:tabLst>
            </a:pPr>
            <a:r>
              <a:rPr sz="2133" spc="67" dirty="0">
                <a:solidFill>
                  <a:srgbClr val="FFFFFF"/>
                </a:solidFill>
                <a:latin typeface="Arial MT"/>
                <a:cs typeface="Arial MT"/>
              </a:rPr>
              <a:t>Disc</a:t>
            </a:r>
            <a:r>
              <a:rPr sz="2133" dirty="0">
                <a:solidFill>
                  <a:srgbClr val="FFFFFF"/>
                </a:solidFill>
                <a:latin typeface="Arial MT"/>
                <a:cs typeface="Arial MT"/>
              </a:rPr>
              <a:t>	In-</a:t>
            </a:r>
            <a:r>
              <a:rPr sz="2133" spc="87" dirty="0">
                <a:solidFill>
                  <a:srgbClr val="FFFFFF"/>
                </a:solidFill>
                <a:latin typeface="Arial MT"/>
                <a:cs typeface="Arial MT"/>
              </a:rPr>
              <a:t>memory</a:t>
            </a:r>
            <a:endParaRPr sz="2133">
              <a:latin typeface="Arial MT"/>
              <a:cs typeface="Arial MT"/>
            </a:endParaRPr>
          </a:p>
        </p:txBody>
      </p:sp>
      <p:sp>
        <p:nvSpPr>
          <p:cNvPr id="9" name="object 9"/>
          <p:cNvSpPr/>
          <p:nvPr/>
        </p:nvSpPr>
        <p:spPr>
          <a:xfrm>
            <a:off x="8584014" y="4175081"/>
            <a:ext cx="763693" cy="594360"/>
          </a:xfrm>
          <a:custGeom>
            <a:avLst/>
            <a:gdLst/>
            <a:ahLst/>
            <a:cxnLst/>
            <a:rect l="l" t="t" r="r" b="b"/>
            <a:pathLst>
              <a:path w="572770" h="445770">
                <a:moveTo>
                  <a:pt x="508562" y="404034"/>
                </a:moveTo>
                <a:lnTo>
                  <a:pt x="489077" y="429132"/>
                </a:lnTo>
                <a:lnTo>
                  <a:pt x="572642" y="445643"/>
                </a:lnTo>
                <a:lnTo>
                  <a:pt x="556423" y="411860"/>
                </a:lnTo>
                <a:lnTo>
                  <a:pt x="518667" y="411860"/>
                </a:lnTo>
                <a:lnTo>
                  <a:pt x="508562" y="404034"/>
                </a:lnTo>
                <a:close/>
              </a:path>
              <a:path w="572770" h="445770">
                <a:moveTo>
                  <a:pt x="516338" y="394019"/>
                </a:moveTo>
                <a:lnTo>
                  <a:pt x="508562" y="404034"/>
                </a:lnTo>
                <a:lnTo>
                  <a:pt x="518667" y="411860"/>
                </a:lnTo>
                <a:lnTo>
                  <a:pt x="526414" y="401828"/>
                </a:lnTo>
                <a:lnTo>
                  <a:pt x="516338" y="394019"/>
                </a:lnTo>
                <a:close/>
              </a:path>
              <a:path w="572770" h="445770">
                <a:moveTo>
                  <a:pt x="535813" y="368935"/>
                </a:moveTo>
                <a:lnTo>
                  <a:pt x="516338" y="394019"/>
                </a:lnTo>
                <a:lnTo>
                  <a:pt x="526414" y="401828"/>
                </a:lnTo>
                <a:lnTo>
                  <a:pt x="518667" y="411860"/>
                </a:lnTo>
                <a:lnTo>
                  <a:pt x="556423" y="411860"/>
                </a:lnTo>
                <a:lnTo>
                  <a:pt x="535813" y="368935"/>
                </a:lnTo>
                <a:close/>
              </a:path>
              <a:path w="572770" h="445770">
                <a:moveTo>
                  <a:pt x="7874" y="0"/>
                </a:moveTo>
                <a:lnTo>
                  <a:pt x="0" y="10160"/>
                </a:lnTo>
                <a:lnTo>
                  <a:pt x="508562" y="404034"/>
                </a:lnTo>
                <a:lnTo>
                  <a:pt x="516338" y="394019"/>
                </a:lnTo>
                <a:lnTo>
                  <a:pt x="7874" y="0"/>
                </a:lnTo>
                <a:close/>
              </a:path>
            </a:pathLst>
          </a:custGeom>
          <a:solidFill>
            <a:srgbClr val="00C2FF"/>
          </a:solidFill>
        </p:spPr>
        <p:txBody>
          <a:bodyPr wrap="square" lIns="0" tIns="0" rIns="0" bIns="0" rtlCol="0"/>
          <a:lstStyle/>
          <a:p>
            <a:endParaRPr sz="2400"/>
          </a:p>
        </p:txBody>
      </p:sp>
      <p:sp>
        <p:nvSpPr>
          <p:cNvPr id="10" name="object 10"/>
          <p:cNvSpPr txBox="1"/>
          <p:nvPr/>
        </p:nvSpPr>
        <p:spPr>
          <a:xfrm>
            <a:off x="8589263" y="4866639"/>
            <a:ext cx="1664547" cy="385512"/>
          </a:xfrm>
          <a:prstGeom prst="rect">
            <a:avLst/>
          </a:prstGeom>
          <a:solidFill>
            <a:srgbClr val="00C3FF">
              <a:alpha val="50195"/>
            </a:srgbClr>
          </a:solidFill>
        </p:spPr>
        <p:txBody>
          <a:bodyPr vert="horz" wrap="square" lIns="0" tIns="56727" rIns="0" bIns="0" rtlCol="0">
            <a:spAutoFit/>
          </a:bodyPr>
          <a:lstStyle/>
          <a:p>
            <a:pPr marL="122764">
              <a:spcBef>
                <a:spcPts val="447"/>
              </a:spcBef>
            </a:pPr>
            <a:r>
              <a:rPr sz="2133" dirty="0">
                <a:solidFill>
                  <a:srgbClr val="FFFFFF"/>
                </a:solidFill>
                <a:latin typeface="Arial MT"/>
                <a:cs typeface="Arial MT"/>
              </a:rPr>
              <a:t>In-</a:t>
            </a:r>
            <a:r>
              <a:rPr sz="2133" spc="87" dirty="0">
                <a:solidFill>
                  <a:srgbClr val="FFFFFF"/>
                </a:solidFill>
                <a:latin typeface="Arial MT"/>
                <a:cs typeface="Arial MT"/>
              </a:rPr>
              <a:t>memory</a:t>
            </a:r>
            <a:endParaRPr sz="2133">
              <a:latin typeface="Arial MT"/>
              <a:cs typeface="Arial MT"/>
            </a:endParaRPr>
          </a:p>
        </p:txBody>
      </p:sp>
      <p:grpSp>
        <p:nvGrpSpPr>
          <p:cNvPr id="11" name="object 11"/>
          <p:cNvGrpSpPr/>
          <p:nvPr/>
        </p:nvGrpSpPr>
        <p:grpSpPr>
          <a:xfrm>
            <a:off x="6362192" y="4219618"/>
            <a:ext cx="1325880" cy="1098125"/>
            <a:chOff x="4771644" y="3164713"/>
            <a:chExt cx="994410" cy="823594"/>
          </a:xfrm>
        </p:grpSpPr>
        <p:sp>
          <p:nvSpPr>
            <p:cNvPr id="12" name="object 12"/>
            <p:cNvSpPr/>
            <p:nvPr/>
          </p:nvSpPr>
          <p:spPr>
            <a:xfrm>
              <a:off x="5228844" y="3164713"/>
              <a:ext cx="537210" cy="386715"/>
            </a:xfrm>
            <a:custGeom>
              <a:avLst/>
              <a:gdLst/>
              <a:ahLst/>
              <a:cxnLst/>
              <a:rect l="l" t="t" r="r" b="b"/>
              <a:pathLst>
                <a:path w="537210" h="386714">
                  <a:moveTo>
                    <a:pt x="39877" y="310895"/>
                  </a:moveTo>
                  <a:lnTo>
                    <a:pt x="0" y="386206"/>
                  </a:lnTo>
                  <a:lnTo>
                    <a:pt x="84200" y="372872"/>
                  </a:lnTo>
                  <a:lnTo>
                    <a:pt x="71031" y="354456"/>
                  </a:lnTo>
                  <a:lnTo>
                    <a:pt x="55371" y="354456"/>
                  </a:lnTo>
                  <a:lnTo>
                    <a:pt x="48005" y="344169"/>
                  </a:lnTo>
                  <a:lnTo>
                    <a:pt x="58375" y="336761"/>
                  </a:lnTo>
                  <a:lnTo>
                    <a:pt x="39877" y="310895"/>
                  </a:lnTo>
                  <a:close/>
                </a:path>
                <a:path w="537210" h="386714">
                  <a:moveTo>
                    <a:pt x="58375" y="336761"/>
                  </a:moveTo>
                  <a:lnTo>
                    <a:pt x="48005" y="344169"/>
                  </a:lnTo>
                  <a:lnTo>
                    <a:pt x="55371" y="354456"/>
                  </a:lnTo>
                  <a:lnTo>
                    <a:pt x="65737" y="347054"/>
                  </a:lnTo>
                  <a:lnTo>
                    <a:pt x="58375" y="336761"/>
                  </a:lnTo>
                  <a:close/>
                </a:path>
                <a:path w="537210" h="386714">
                  <a:moveTo>
                    <a:pt x="65737" y="347054"/>
                  </a:moveTo>
                  <a:lnTo>
                    <a:pt x="55371" y="354456"/>
                  </a:lnTo>
                  <a:lnTo>
                    <a:pt x="71031" y="354456"/>
                  </a:lnTo>
                  <a:lnTo>
                    <a:pt x="65737" y="347054"/>
                  </a:lnTo>
                  <a:close/>
                </a:path>
                <a:path w="537210" h="386714">
                  <a:moveTo>
                    <a:pt x="529716" y="0"/>
                  </a:moveTo>
                  <a:lnTo>
                    <a:pt x="58375" y="336761"/>
                  </a:lnTo>
                  <a:lnTo>
                    <a:pt x="65737" y="347054"/>
                  </a:lnTo>
                  <a:lnTo>
                    <a:pt x="537082" y="10413"/>
                  </a:lnTo>
                  <a:lnTo>
                    <a:pt x="529716" y="0"/>
                  </a:lnTo>
                  <a:close/>
                </a:path>
              </a:pathLst>
            </a:custGeom>
            <a:solidFill>
              <a:srgbClr val="00C2FF"/>
            </a:solidFill>
          </p:spPr>
          <p:txBody>
            <a:bodyPr wrap="square" lIns="0" tIns="0" rIns="0" bIns="0" rtlCol="0"/>
            <a:lstStyle/>
            <a:p>
              <a:endParaRPr sz="2400"/>
            </a:p>
          </p:txBody>
        </p:sp>
        <p:sp>
          <p:nvSpPr>
            <p:cNvPr id="13" name="object 13"/>
            <p:cNvSpPr/>
            <p:nvPr/>
          </p:nvSpPr>
          <p:spPr>
            <a:xfrm>
              <a:off x="4771644" y="3649980"/>
              <a:ext cx="626745" cy="338455"/>
            </a:xfrm>
            <a:custGeom>
              <a:avLst/>
              <a:gdLst/>
              <a:ahLst/>
              <a:cxnLst/>
              <a:rect l="l" t="t" r="r" b="b"/>
              <a:pathLst>
                <a:path w="626745" h="338454">
                  <a:moveTo>
                    <a:pt x="626363" y="0"/>
                  </a:moveTo>
                  <a:lnTo>
                    <a:pt x="0" y="0"/>
                  </a:lnTo>
                  <a:lnTo>
                    <a:pt x="0" y="338328"/>
                  </a:lnTo>
                  <a:lnTo>
                    <a:pt x="626363" y="338328"/>
                  </a:lnTo>
                  <a:lnTo>
                    <a:pt x="626363" y="0"/>
                  </a:lnTo>
                  <a:close/>
                </a:path>
              </a:pathLst>
            </a:custGeom>
            <a:solidFill>
              <a:srgbClr val="00C3FF">
                <a:alpha val="50195"/>
              </a:srgbClr>
            </a:solidFill>
          </p:spPr>
          <p:txBody>
            <a:bodyPr wrap="square" lIns="0" tIns="0" rIns="0" bIns="0" rtlCol="0"/>
            <a:lstStyle/>
            <a:p>
              <a:endParaRPr sz="2400"/>
            </a:p>
          </p:txBody>
        </p:sp>
      </p:grpSp>
      <p:sp>
        <p:nvSpPr>
          <p:cNvPr id="14" name="object 14"/>
          <p:cNvSpPr txBox="1"/>
          <p:nvPr/>
        </p:nvSpPr>
        <p:spPr>
          <a:xfrm>
            <a:off x="6468872" y="4907415"/>
            <a:ext cx="613833" cy="344475"/>
          </a:xfrm>
          <a:prstGeom prst="rect">
            <a:avLst/>
          </a:prstGeom>
        </p:spPr>
        <p:txBody>
          <a:bodyPr vert="horz" wrap="square" lIns="0" tIns="16087" rIns="0" bIns="0" rtlCol="0">
            <a:spAutoFit/>
          </a:bodyPr>
          <a:lstStyle/>
          <a:p>
            <a:pPr marL="16933">
              <a:spcBef>
                <a:spcPts val="127"/>
              </a:spcBef>
            </a:pPr>
            <a:r>
              <a:rPr sz="2133" spc="67" dirty="0">
                <a:solidFill>
                  <a:srgbClr val="FFFFFF"/>
                </a:solidFill>
                <a:latin typeface="Arial MT"/>
                <a:cs typeface="Arial MT"/>
              </a:rPr>
              <a:t>Disc</a:t>
            </a:r>
            <a:endParaRPr sz="2133">
              <a:latin typeface="Arial MT"/>
              <a:cs typeface="Arial MT"/>
            </a:endParaRPr>
          </a:p>
        </p:txBody>
      </p:sp>
      <p:grpSp>
        <p:nvGrpSpPr>
          <p:cNvPr id="15" name="object 15"/>
          <p:cNvGrpSpPr/>
          <p:nvPr/>
        </p:nvGrpSpPr>
        <p:grpSpPr>
          <a:xfrm>
            <a:off x="6626353" y="4261104"/>
            <a:ext cx="1768687" cy="1213273"/>
            <a:chOff x="4969764" y="3195827"/>
            <a:chExt cx="1326515" cy="909955"/>
          </a:xfrm>
        </p:grpSpPr>
        <p:sp>
          <p:nvSpPr>
            <p:cNvPr id="16" name="object 16"/>
            <p:cNvSpPr/>
            <p:nvPr/>
          </p:nvSpPr>
          <p:spPr>
            <a:xfrm>
              <a:off x="5574792" y="3781044"/>
              <a:ext cx="721360" cy="76200"/>
            </a:xfrm>
            <a:custGeom>
              <a:avLst/>
              <a:gdLst/>
              <a:ahLst/>
              <a:cxnLst/>
              <a:rect l="l" t="t" r="r" b="b"/>
              <a:pathLst>
                <a:path w="721360" h="76200">
                  <a:moveTo>
                    <a:pt x="645033" y="0"/>
                  </a:moveTo>
                  <a:lnTo>
                    <a:pt x="645033" y="76199"/>
                  </a:lnTo>
                  <a:lnTo>
                    <a:pt x="708533" y="44449"/>
                  </a:lnTo>
                  <a:lnTo>
                    <a:pt x="657733" y="44449"/>
                  </a:lnTo>
                  <a:lnTo>
                    <a:pt x="657733" y="31749"/>
                  </a:lnTo>
                  <a:lnTo>
                    <a:pt x="708533" y="31749"/>
                  </a:lnTo>
                  <a:lnTo>
                    <a:pt x="645033" y="0"/>
                  </a:lnTo>
                  <a:close/>
                </a:path>
                <a:path w="721360" h="76200">
                  <a:moveTo>
                    <a:pt x="645033" y="31749"/>
                  </a:moveTo>
                  <a:lnTo>
                    <a:pt x="0" y="31749"/>
                  </a:lnTo>
                  <a:lnTo>
                    <a:pt x="0" y="44449"/>
                  </a:lnTo>
                  <a:lnTo>
                    <a:pt x="645033" y="44449"/>
                  </a:lnTo>
                  <a:lnTo>
                    <a:pt x="645033" y="31749"/>
                  </a:lnTo>
                  <a:close/>
                </a:path>
                <a:path w="721360" h="76200">
                  <a:moveTo>
                    <a:pt x="708533" y="31749"/>
                  </a:moveTo>
                  <a:lnTo>
                    <a:pt x="657733" y="31749"/>
                  </a:lnTo>
                  <a:lnTo>
                    <a:pt x="657733" y="44449"/>
                  </a:lnTo>
                  <a:lnTo>
                    <a:pt x="708533" y="44449"/>
                  </a:lnTo>
                  <a:lnTo>
                    <a:pt x="721233" y="38099"/>
                  </a:lnTo>
                  <a:lnTo>
                    <a:pt x="708533" y="31749"/>
                  </a:lnTo>
                  <a:close/>
                </a:path>
              </a:pathLst>
            </a:custGeom>
            <a:solidFill>
              <a:srgbClr val="00C2FF"/>
            </a:solidFill>
          </p:spPr>
          <p:txBody>
            <a:bodyPr wrap="square" lIns="0" tIns="0" rIns="0" bIns="0" rtlCol="0"/>
            <a:lstStyle/>
            <a:p>
              <a:endParaRPr sz="2400"/>
            </a:p>
          </p:txBody>
        </p:sp>
        <p:sp>
          <p:nvSpPr>
            <p:cNvPr id="17" name="object 17"/>
            <p:cNvSpPr/>
            <p:nvPr/>
          </p:nvSpPr>
          <p:spPr>
            <a:xfrm>
              <a:off x="4982718" y="3208781"/>
              <a:ext cx="1059180" cy="883919"/>
            </a:xfrm>
            <a:custGeom>
              <a:avLst/>
              <a:gdLst/>
              <a:ahLst/>
              <a:cxnLst/>
              <a:rect l="l" t="t" r="r" b="b"/>
              <a:pathLst>
                <a:path w="1059179" h="883920">
                  <a:moveTo>
                    <a:pt x="529590" y="0"/>
                  </a:moveTo>
                  <a:lnTo>
                    <a:pt x="478587" y="2023"/>
                  </a:lnTo>
                  <a:lnTo>
                    <a:pt x="428956" y="7968"/>
                  </a:lnTo>
                  <a:lnTo>
                    <a:pt x="380919" y="17652"/>
                  </a:lnTo>
                  <a:lnTo>
                    <a:pt x="334696" y="30888"/>
                  </a:lnTo>
                  <a:lnTo>
                    <a:pt x="290512" y="47491"/>
                  </a:lnTo>
                  <a:lnTo>
                    <a:pt x="248586" y="67276"/>
                  </a:lnTo>
                  <a:lnTo>
                    <a:pt x="209142" y="90058"/>
                  </a:lnTo>
                  <a:lnTo>
                    <a:pt x="172401" y="115651"/>
                  </a:lnTo>
                  <a:lnTo>
                    <a:pt x="138586" y="143871"/>
                  </a:lnTo>
                  <a:lnTo>
                    <a:pt x="107917" y="174532"/>
                  </a:lnTo>
                  <a:lnTo>
                    <a:pt x="80618" y="207449"/>
                  </a:lnTo>
                  <a:lnTo>
                    <a:pt x="56909" y="242437"/>
                  </a:lnTo>
                  <a:lnTo>
                    <a:pt x="37013" y="279311"/>
                  </a:lnTo>
                  <a:lnTo>
                    <a:pt x="21153" y="317885"/>
                  </a:lnTo>
                  <a:lnTo>
                    <a:pt x="9549" y="357975"/>
                  </a:lnTo>
                  <a:lnTo>
                    <a:pt x="2424" y="399395"/>
                  </a:lnTo>
                  <a:lnTo>
                    <a:pt x="0" y="441959"/>
                  </a:lnTo>
                  <a:lnTo>
                    <a:pt x="2424" y="484524"/>
                  </a:lnTo>
                  <a:lnTo>
                    <a:pt x="9549" y="525944"/>
                  </a:lnTo>
                  <a:lnTo>
                    <a:pt x="21153" y="566034"/>
                  </a:lnTo>
                  <a:lnTo>
                    <a:pt x="37013" y="604608"/>
                  </a:lnTo>
                  <a:lnTo>
                    <a:pt x="56909" y="641482"/>
                  </a:lnTo>
                  <a:lnTo>
                    <a:pt x="80645" y="676503"/>
                  </a:lnTo>
                  <a:lnTo>
                    <a:pt x="107917" y="709387"/>
                  </a:lnTo>
                  <a:lnTo>
                    <a:pt x="138586" y="740048"/>
                  </a:lnTo>
                  <a:lnTo>
                    <a:pt x="172401" y="768268"/>
                  </a:lnTo>
                  <a:lnTo>
                    <a:pt x="209142" y="793861"/>
                  </a:lnTo>
                  <a:lnTo>
                    <a:pt x="248586" y="816643"/>
                  </a:lnTo>
                  <a:lnTo>
                    <a:pt x="290512" y="836428"/>
                  </a:lnTo>
                  <a:lnTo>
                    <a:pt x="334696" y="853031"/>
                  </a:lnTo>
                  <a:lnTo>
                    <a:pt x="380919" y="866267"/>
                  </a:lnTo>
                  <a:lnTo>
                    <a:pt x="428956" y="875951"/>
                  </a:lnTo>
                  <a:lnTo>
                    <a:pt x="478587" y="881896"/>
                  </a:lnTo>
                  <a:lnTo>
                    <a:pt x="529590" y="883920"/>
                  </a:lnTo>
                  <a:lnTo>
                    <a:pt x="580592" y="881896"/>
                  </a:lnTo>
                  <a:lnTo>
                    <a:pt x="630223" y="875951"/>
                  </a:lnTo>
                  <a:lnTo>
                    <a:pt x="678260" y="866267"/>
                  </a:lnTo>
                  <a:lnTo>
                    <a:pt x="724483" y="853031"/>
                  </a:lnTo>
                  <a:lnTo>
                    <a:pt x="768667" y="836428"/>
                  </a:lnTo>
                  <a:lnTo>
                    <a:pt x="810593" y="816643"/>
                  </a:lnTo>
                  <a:lnTo>
                    <a:pt x="850037" y="793861"/>
                  </a:lnTo>
                  <a:lnTo>
                    <a:pt x="886778" y="768268"/>
                  </a:lnTo>
                  <a:lnTo>
                    <a:pt x="920593" y="740048"/>
                  </a:lnTo>
                  <a:lnTo>
                    <a:pt x="942583" y="718064"/>
                  </a:lnTo>
                  <a:lnTo>
                    <a:pt x="518906" y="718064"/>
                  </a:lnTo>
                  <a:lnTo>
                    <a:pt x="471703" y="714665"/>
                  </a:lnTo>
                  <a:lnTo>
                    <a:pt x="425309" y="706595"/>
                  </a:lnTo>
                  <a:lnTo>
                    <a:pt x="380346" y="693870"/>
                  </a:lnTo>
                  <a:lnTo>
                    <a:pt x="337439" y="676503"/>
                  </a:lnTo>
                  <a:lnTo>
                    <a:pt x="293855" y="652390"/>
                  </a:lnTo>
                  <a:lnTo>
                    <a:pt x="256326" y="624418"/>
                  </a:lnTo>
                  <a:lnTo>
                    <a:pt x="225031" y="593175"/>
                  </a:lnTo>
                  <a:lnTo>
                    <a:pt x="200149" y="559249"/>
                  </a:lnTo>
                  <a:lnTo>
                    <a:pt x="181860" y="523227"/>
                  </a:lnTo>
                  <a:lnTo>
                    <a:pt x="170342" y="485699"/>
                  </a:lnTo>
                  <a:lnTo>
                    <a:pt x="165775" y="447252"/>
                  </a:lnTo>
                  <a:lnTo>
                    <a:pt x="168338" y="408474"/>
                  </a:lnTo>
                  <a:lnTo>
                    <a:pt x="178210" y="369954"/>
                  </a:lnTo>
                  <a:lnTo>
                    <a:pt x="195571" y="332278"/>
                  </a:lnTo>
                  <a:lnTo>
                    <a:pt x="220599" y="296037"/>
                  </a:lnTo>
                  <a:lnTo>
                    <a:pt x="476062" y="296037"/>
                  </a:lnTo>
                  <a:lnTo>
                    <a:pt x="355854" y="199262"/>
                  </a:lnTo>
                  <a:lnTo>
                    <a:pt x="400053" y="183823"/>
                  </a:lnTo>
                  <a:lnTo>
                    <a:pt x="445938" y="173118"/>
                  </a:lnTo>
                  <a:lnTo>
                    <a:pt x="492886" y="167131"/>
                  </a:lnTo>
                  <a:lnTo>
                    <a:pt x="540273" y="165846"/>
                  </a:lnTo>
                  <a:lnTo>
                    <a:pt x="942573" y="165846"/>
                  </a:lnTo>
                  <a:lnTo>
                    <a:pt x="920593" y="143871"/>
                  </a:lnTo>
                  <a:lnTo>
                    <a:pt x="886778" y="115651"/>
                  </a:lnTo>
                  <a:lnTo>
                    <a:pt x="850037" y="90058"/>
                  </a:lnTo>
                  <a:lnTo>
                    <a:pt x="810593" y="67276"/>
                  </a:lnTo>
                  <a:lnTo>
                    <a:pt x="768667" y="47491"/>
                  </a:lnTo>
                  <a:lnTo>
                    <a:pt x="724483" y="30888"/>
                  </a:lnTo>
                  <a:lnTo>
                    <a:pt x="678260" y="17652"/>
                  </a:lnTo>
                  <a:lnTo>
                    <a:pt x="630223" y="7968"/>
                  </a:lnTo>
                  <a:lnTo>
                    <a:pt x="580592" y="2023"/>
                  </a:lnTo>
                  <a:lnTo>
                    <a:pt x="529590" y="0"/>
                  </a:lnTo>
                  <a:close/>
                </a:path>
                <a:path w="1059179" h="883920">
                  <a:moveTo>
                    <a:pt x="476062" y="296037"/>
                  </a:moveTo>
                  <a:lnTo>
                    <a:pt x="220599" y="296037"/>
                  </a:lnTo>
                  <a:lnTo>
                    <a:pt x="703326" y="684682"/>
                  </a:lnTo>
                  <a:lnTo>
                    <a:pt x="659126" y="700102"/>
                  </a:lnTo>
                  <a:lnTo>
                    <a:pt x="613241" y="710797"/>
                  </a:lnTo>
                  <a:lnTo>
                    <a:pt x="566293" y="716779"/>
                  </a:lnTo>
                  <a:lnTo>
                    <a:pt x="518906" y="718064"/>
                  </a:lnTo>
                  <a:lnTo>
                    <a:pt x="942583" y="718064"/>
                  </a:lnTo>
                  <a:lnTo>
                    <a:pt x="978534" y="676503"/>
                  </a:lnTo>
                  <a:lnTo>
                    <a:pt x="1002270" y="641482"/>
                  </a:lnTo>
                  <a:lnTo>
                    <a:pt x="1022166" y="604608"/>
                  </a:lnTo>
                  <a:lnTo>
                    <a:pt x="1029042" y="587883"/>
                  </a:lnTo>
                  <a:lnTo>
                    <a:pt x="838581" y="587883"/>
                  </a:lnTo>
                  <a:lnTo>
                    <a:pt x="476062" y="296037"/>
                  </a:lnTo>
                  <a:close/>
                </a:path>
                <a:path w="1059179" h="883920">
                  <a:moveTo>
                    <a:pt x="942573" y="165846"/>
                  </a:moveTo>
                  <a:lnTo>
                    <a:pt x="540273" y="165846"/>
                  </a:lnTo>
                  <a:lnTo>
                    <a:pt x="587476" y="169245"/>
                  </a:lnTo>
                  <a:lnTo>
                    <a:pt x="633870" y="177313"/>
                  </a:lnTo>
                  <a:lnTo>
                    <a:pt x="678833" y="190034"/>
                  </a:lnTo>
                  <a:lnTo>
                    <a:pt x="721847" y="207449"/>
                  </a:lnTo>
                  <a:lnTo>
                    <a:pt x="765324" y="231510"/>
                  </a:lnTo>
                  <a:lnTo>
                    <a:pt x="802853" y="259487"/>
                  </a:lnTo>
                  <a:lnTo>
                    <a:pt x="834148" y="290734"/>
                  </a:lnTo>
                  <a:lnTo>
                    <a:pt x="859030" y="324664"/>
                  </a:lnTo>
                  <a:lnTo>
                    <a:pt x="877319" y="360687"/>
                  </a:lnTo>
                  <a:lnTo>
                    <a:pt x="888837" y="398217"/>
                  </a:lnTo>
                  <a:lnTo>
                    <a:pt x="893404" y="436666"/>
                  </a:lnTo>
                  <a:lnTo>
                    <a:pt x="890841" y="475444"/>
                  </a:lnTo>
                  <a:lnTo>
                    <a:pt x="880969" y="513965"/>
                  </a:lnTo>
                  <a:lnTo>
                    <a:pt x="863608" y="551641"/>
                  </a:lnTo>
                  <a:lnTo>
                    <a:pt x="838581" y="587883"/>
                  </a:lnTo>
                  <a:lnTo>
                    <a:pt x="1029042" y="587883"/>
                  </a:lnTo>
                  <a:lnTo>
                    <a:pt x="1038026" y="566034"/>
                  </a:lnTo>
                  <a:lnTo>
                    <a:pt x="1049630" y="525944"/>
                  </a:lnTo>
                  <a:lnTo>
                    <a:pt x="1056755" y="484524"/>
                  </a:lnTo>
                  <a:lnTo>
                    <a:pt x="1059180" y="441959"/>
                  </a:lnTo>
                  <a:lnTo>
                    <a:pt x="1056755" y="399395"/>
                  </a:lnTo>
                  <a:lnTo>
                    <a:pt x="1049630" y="357975"/>
                  </a:lnTo>
                  <a:lnTo>
                    <a:pt x="1038026" y="317885"/>
                  </a:lnTo>
                  <a:lnTo>
                    <a:pt x="1022166" y="279311"/>
                  </a:lnTo>
                  <a:lnTo>
                    <a:pt x="1002270" y="242437"/>
                  </a:lnTo>
                  <a:lnTo>
                    <a:pt x="978561" y="207449"/>
                  </a:lnTo>
                  <a:lnTo>
                    <a:pt x="951262" y="174532"/>
                  </a:lnTo>
                  <a:lnTo>
                    <a:pt x="942573" y="165846"/>
                  </a:lnTo>
                  <a:close/>
                </a:path>
              </a:pathLst>
            </a:custGeom>
            <a:solidFill>
              <a:srgbClr val="F1F1F1"/>
            </a:solidFill>
          </p:spPr>
          <p:txBody>
            <a:bodyPr wrap="square" lIns="0" tIns="0" rIns="0" bIns="0" rtlCol="0"/>
            <a:lstStyle/>
            <a:p>
              <a:endParaRPr sz="2400"/>
            </a:p>
          </p:txBody>
        </p:sp>
        <p:sp>
          <p:nvSpPr>
            <p:cNvPr id="18" name="object 18"/>
            <p:cNvSpPr/>
            <p:nvPr/>
          </p:nvSpPr>
          <p:spPr>
            <a:xfrm>
              <a:off x="4982718" y="3208781"/>
              <a:ext cx="1059180" cy="883919"/>
            </a:xfrm>
            <a:custGeom>
              <a:avLst/>
              <a:gdLst/>
              <a:ahLst/>
              <a:cxnLst/>
              <a:rect l="l" t="t" r="r" b="b"/>
              <a:pathLst>
                <a:path w="1059179" h="883920">
                  <a:moveTo>
                    <a:pt x="0" y="441959"/>
                  </a:moveTo>
                  <a:lnTo>
                    <a:pt x="2424" y="399395"/>
                  </a:lnTo>
                  <a:lnTo>
                    <a:pt x="9549" y="357975"/>
                  </a:lnTo>
                  <a:lnTo>
                    <a:pt x="21153" y="317885"/>
                  </a:lnTo>
                  <a:lnTo>
                    <a:pt x="37013" y="279311"/>
                  </a:lnTo>
                  <a:lnTo>
                    <a:pt x="56909" y="242437"/>
                  </a:lnTo>
                  <a:lnTo>
                    <a:pt x="80618" y="207449"/>
                  </a:lnTo>
                  <a:lnTo>
                    <a:pt x="107917" y="174532"/>
                  </a:lnTo>
                  <a:lnTo>
                    <a:pt x="138586" y="143871"/>
                  </a:lnTo>
                  <a:lnTo>
                    <a:pt x="172401" y="115651"/>
                  </a:lnTo>
                  <a:lnTo>
                    <a:pt x="209142" y="90058"/>
                  </a:lnTo>
                  <a:lnTo>
                    <a:pt x="248586" y="67276"/>
                  </a:lnTo>
                  <a:lnTo>
                    <a:pt x="290512" y="47491"/>
                  </a:lnTo>
                  <a:lnTo>
                    <a:pt x="334696" y="30888"/>
                  </a:lnTo>
                  <a:lnTo>
                    <a:pt x="380919" y="17652"/>
                  </a:lnTo>
                  <a:lnTo>
                    <a:pt x="428956" y="7968"/>
                  </a:lnTo>
                  <a:lnTo>
                    <a:pt x="478587" y="2023"/>
                  </a:lnTo>
                  <a:lnTo>
                    <a:pt x="529590" y="0"/>
                  </a:lnTo>
                  <a:lnTo>
                    <a:pt x="580592" y="2023"/>
                  </a:lnTo>
                  <a:lnTo>
                    <a:pt x="630223" y="7968"/>
                  </a:lnTo>
                  <a:lnTo>
                    <a:pt x="678260" y="17652"/>
                  </a:lnTo>
                  <a:lnTo>
                    <a:pt x="724483" y="30888"/>
                  </a:lnTo>
                  <a:lnTo>
                    <a:pt x="768667" y="47491"/>
                  </a:lnTo>
                  <a:lnTo>
                    <a:pt x="810593" y="67276"/>
                  </a:lnTo>
                  <a:lnTo>
                    <a:pt x="850037" y="90058"/>
                  </a:lnTo>
                  <a:lnTo>
                    <a:pt x="886778" y="115651"/>
                  </a:lnTo>
                  <a:lnTo>
                    <a:pt x="920593" y="143871"/>
                  </a:lnTo>
                  <a:lnTo>
                    <a:pt x="951262" y="174532"/>
                  </a:lnTo>
                  <a:lnTo>
                    <a:pt x="978561" y="207449"/>
                  </a:lnTo>
                  <a:lnTo>
                    <a:pt x="1002270" y="242437"/>
                  </a:lnTo>
                  <a:lnTo>
                    <a:pt x="1022166" y="279311"/>
                  </a:lnTo>
                  <a:lnTo>
                    <a:pt x="1038026" y="317885"/>
                  </a:lnTo>
                  <a:lnTo>
                    <a:pt x="1049630" y="357975"/>
                  </a:lnTo>
                  <a:lnTo>
                    <a:pt x="1056755" y="399395"/>
                  </a:lnTo>
                  <a:lnTo>
                    <a:pt x="1059180" y="441959"/>
                  </a:lnTo>
                  <a:lnTo>
                    <a:pt x="1056755" y="484524"/>
                  </a:lnTo>
                  <a:lnTo>
                    <a:pt x="1049630" y="525944"/>
                  </a:lnTo>
                  <a:lnTo>
                    <a:pt x="1038026" y="566034"/>
                  </a:lnTo>
                  <a:lnTo>
                    <a:pt x="1022166" y="604608"/>
                  </a:lnTo>
                  <a:lnTo>
                    <a:pt x="1002270" y="641482"/>
                  </a:lnTo>
                  <a:lnTo>
                    <a:pt x="978561" y="676470"/>
                  </a:lnTo>
                  <a:lnTo>
                    <a:pt x="951262" y="709387"/>
                  </a:lnTo>
                  <a:lnTo>
                    <a:pt x="920593" y="740048"/>
                  </a:lnTo>
                  <a:lnTo>
                    <a:pt x="886778" y="768268"/>
                  </a:lnTo>
                  <a:lnTo>
                    <a:pt x="850037" y="793861"/>
                  </a:lnTo>
                  <a:lnTo>
                    <a:pt x="810593" y="816643"/>
                  </a:lnTo>
                  <a:lnTo>
                    <a:pt x="768667" y="836428"/>
                  </a:lnTo>
                  <a:lnTo>
                    <a:pt x="724483" y="853031"/>
                  </a:lnTo>
                  <a:lnTo>
                    <a:pt x="678260" y="866267"/>
                  </a:lnTo>
                  <a:lnTo>
                    <a:pt x="630223" y="875951"/>
                  </a:lnTo>
                  <a:lnTo>
                    <a:pt x="580592" y="881896"/>
                  </a:lnTo>
                  <a:lnTo>
                    <a:pt x="529590" y="883920"/>
                  </a:lnTo>
                  <a:lnTo>
                    <a:pt x="478587" y="881896"/>
                  </a:lnTo>
                  <a:lnTo>
                    <a:pt x="428956" y="875951"/>
                  </a:lnTo>
                  <a:lnTo>
                    <a:pt x="380919" y="866267"/>
                  </a:lnTo>
                  <a:lnTo>
                    <a:pt x="334696" y="853031"/>
                  </a:lnTo>
                  <a:lnTo>
                    <a:pt x="290512" y="836428"/>
                  </a:lnTo>
                  <a:lnTo>
                    <a:pt x="248586" y="816643"/>
                  </a:lnTo>
                  <a:lnTo>
                    <a:pt x="209142" y="793861"/>
                  </a:lnTo>
                  <a:lnTo>
                    <a:pt x="172401" y="768268"/>
                  </a:lnTo>
                  <a:lnTo>
                    <a:pt x="138586" y="740048"/>
                  </a:lnTo>
                  <a:lnTo>
                    <a:pt x="107917" y="709387"/>
                  </a:lnTo>
                  <a:lnTo>
                    <a:pt x="80618" y="676470"/>
                  </a:lnTo>
                  <a:lnTo>
                    <a:pt x="56909" y="641482"/>
                  </a:lnTo>
                  <a:lnTo>
                    <a:pt x="37013" y="604608"/>
                  </a:lnTo>
                  <a:lnTo>
                    <a:pt x="21153" y="566034"/>
                  </a:lnTo>
                  <a:lnTo>
                    <a:pt x="9549" y="525944"/>
                  </a:lnTo>
                  <a:lnTo>
                    <a:pt x="2424" y="484524"/>
                  </a:lnTo>
                  <a:lnTo>
                    <a:pt x="0" y="441959"/>
                  </a:lnTo>
                  <a:close/>
                </a:path>
                <a:path w="1059179" h="883920">
                  <a:moveTo>
                    <a:pt x="838581" y="587883"/>
                  </a:moveTo>
                  <a:lnTo>
                    <a:pt x="863608" y="551641"/>
                  </a:lnTo>
                  <a:lnTo>
                    <a:pt x="880969" y="513965"/>
                  </a:lnTo>
                  <a:lnTo>
                    <a:pt x="890841" y="475444"/>
                  </a:lnTo>
                  <a:lnTo>
                    <a:pt x="893404" y="436666"/>
                  </a:lnTo>
                  <a:lnTo>
                    <a:pt x="888837" y="398217"/>
                  </a:lnTo>
                  <a:lnTo>
                    <a:pt x="877319" y="360687"/>
                  </a:lnTo>
                  <a:lnTo>
                    <a:pt x="859030" y="324664"/>
                  </a:lnTo>
                  <a:lnTo>
                    <a:pt x="834148" y="290734"/>
                  </a:lnTo>
                  <a:lnTo>
                    <a:pt x="802853" y="259487"/>
                  </a:lnTo>
                  <a:lnTo>
                    <a:pt x="765324" y="231510"/>
                  </a:lnTo>
                  <a:lnTo>
                    <a:pt x="721741" y="207391"/>
                  </a:lnTo>
                  <a:lnTo>
                    <a:pt x="678833" y="190034"/>
                  </a:lnTo>
                  <a:lnTo>
                    <a:pt x="633870" y="177313"/>
                  </a:lnTo>
                  <a:lnTo>
                    <a:pt x="587476" y="169245"/>
                  </a:lnTo>
                  <a:lnTo>
                    <a:pt x="540273" y="165846"/>
                  </a:lnTo>
                  <a:lnTo>
                    <a:pt x="492886" y="167131"/>
                  </a:lnTo>
                  <a:lnTo>
                    <a:pt x="445938" y="173118"/>
                  </a:lnTo>
                  <a:lnTo>
                    <a:pt x="400053" y="183823"/>
                  </a:lnTo>
                  <a:lnTo>
                    <a:pt x="355854" y="199262"/>
                  </a:lnTo>
                  <a:lnTo>
                    <a:pt x="838581" y="587883"/>
                  </a:lnTo>
                  <a:close/>
                </a:path>
                <a:path w="1059179" h="883920">
                  <a:moveTo>
                    <a:pt x="220599" y="296037"/>
                  </a:moveTo>
                  <a:lnTo>
                    <a:pt x="195571" y="332278"/>
                  </a:lnTo>
                  <a:lnTo>
                    <a:pt x="178210" y="369954"/>
                  </a:lnTo>
                  <a:lnTo>
                    <a:pt x="168338" y="408474"/>
                  </a:lnTo>
                  <a:lnTo>
                    <a:pt x="165775" y="447252"/>
                  </a:lnTo>
                  <a:lnTo>
                    <a:pt x="170342" y="485699"/>
                  </a:lnTo>
                  <a:lnTo>
                    <a:pt x="181860" y="523227"/>
                  </a:lnTo>
                  <a:lnTo>
                    <a:pt x="200149" y="559249"/>
                  </a:lnTo>
                  <a:lnTo>
                    <a:pt x="225031" y="593175"/>
                  </a:lnTo>
                  <a:lnTo>
                    <a:pt x="256326" y="624418"/>
                  </a:lnTo>
                  <a:lnTo>
                    <a:pt x="293855" y="652390"/>
                  </a:lnTo>
                  <a:lnTo>
                    <a:pt x="337439" y="676503"/>
                  </a:lnTo>
                  <a:lnTo>
                    <a:pt x="380346" y="693870"/>
                  </a:lnTo>
                  <a:lnTo>
                    <a:pt x="425309" y="706595"/>
                  </a:lnTo>
                  <a:lnTo>
                    <a:pt x="471703" y="714665"/>
                  </a:lnTo>
                  <a:lnTo>
                    <a:pt x="518906" y="718064"/>
                  </a:lnTo>
                  <a:lnTo>
                    <a:pt x="566293" y="716779"/>
                  </a:lnTo>
                  <a:lnTo>
                    <a:pt x="613241" y="710797"/>
                  </a:lnTo>
                  <a:lnTo>
                    <a:pt x="659126" y="700102"/>
                  </a:lnTo>
                  <a:lnTo>
                    <a:pt x="703326" y="684682"/>
                  </a:lnTo>
                  <a:lnTo>
                    <a:pt x="220599" y="296037"/>
                  </a:lnTo>
                  <a:close/>
                </a:path>
              </a:pathLst>
            </a:custGeom>
            <a:ln w="25908">
              <a:solidFill>
                <a:srgbClr val="008FBB"/>
              </a:solidFill>
            </a:ln>
          </p:spPr>
          <p:txBody>
            <a:bodyPr wrap="square" lIns="0" tIns="0" rIns="0" bIns="0" rtlCol="0"/>
            <a:lstStyle/>
            <a:p>
              <a:endParaRPr sz="2400"/>
            </a:p>
          </p:txBody>
        </p:sp>
      </p:grpSp>
      <p:grpSp>
        <p:nvGrpSpPr>
          <p:cNvPr id="19" name="object 19"/>
          <p:cNvGrpSpPr/>
          <p:nvPr/>
        </p:nvGrpSpPr>
        <p:grpSpPr>
          <a:xfrm>
            <a:off x="630853" y="2604145"/>
            <a:ext cx="5683673" cy="2853267"/>
            <a:chOff x="448055" y="1979688"/>
            <a:chExt cx="4262755" cy="2139950"/>
          </a:xfrm>
        </p:grpSpPr>
        <p:pic>
          <p:nvPicPr>
            <p:cNvPr id="20" name="object 20"/>
            <p:cNvPicPr/>
            <p:nvPr/>
          </p:nvPicPr>
          <p:blipFill>
            <a:blip r:embed="rId3" cstate="print"/>
            <a:stretch>
              <a:fillRect/>
            </a:stretch>
          </p:blipFill>
          <p:spPr>
            <a:xfrm>
              <a:off x="452627" y="1979688"/>
              <a:ext cx="4258056" cy="2139695"/>
            </a:xfrm>
            <a:prstGeom prst="rect">
              <a:avLst/>
            </a:prstGeom>
          </p:spPr>
        </p:pic>
        <p:pic>
          <p:nvPicPr>
            <p:cNvPr id="21" name="object 21"/>
            <p:cNvPicPr/>
            <p:nvPr/>
          </p:nvPicPr>
          <p:blipFill>
            <a:blip r:embed="rId4" cstate="print"/>
            <a:stretch>
              <a:fillRect/>
            </a:stretch>
          </p:blipFill>
          <p:spPr>
            <a:xfrm>
              <a:off x="448055" y="2097023"/>
              <a:ext cx="4256532" cy="1734312"/>
            </a:xfrm>
            <a:prstGeom prst="rect">
              <a:avLst/>
            </a:prstGeom>
          </p:spPr>
        </p:pic>
        <p:sp>
          <p:nvSpPr>
            <p:cNvPr id="22" name="object 22"/>
            <p:cNvSpPr/>
            <p:nvPr/>
          </p:nvSpPr>
          <p:spPr>
            <a:xfrm>
              <a:off x="499871" y="2004059"/>
              <a:ext cx="4168140" cy="2049780"/>
            </a:xfrm>
            <a:custGeom>
              <a:avLst/>
              <a:gdLst/>
              <a:ahLst/>
              <a:cxnLst/>
              <a:rect l="l" t="t" r="r" b="b"/>
              <a:pathLst>
                <a:path w="4168140" h="2049779">
                  <a:moveTo>
                    <a:pt x="4168140" y="0"/>
                  </a:moveTo>
                  <a:lnTo>
                    <a:pt x="0" y="0"/>
                  </a:lnTo>
                  <a:lnTo>
                    <a:pt x="0" y="2049779"/>
                  </a:lnTo>
                  <a:lnTo>
                    <a:pt x="4168140" y="2049779"/>
                  </a:lnTo>
                  <a:lnTo>
                    <a:pt x="4168140" y="0"/>
                  </a:lnTo>
                  <a:close/>
                </a:path>
              </a:pathLst>
            </a:custGeom>
            <a:solidFill>
              <a:srgbClr val="404040"/>
            </a:solidFill>
          </p:spPr>
          <p:txBody>
            <a:bodyPr wrap="square" lIns="0" tIns="0" rIns="0" bIns="0" rtlCol="0"/>
            <a:lstStyle/>
            <a:p>
              <a:endParaRPr sz="2400"/>
            </a:p>
          </p:txBody>
        </p:sp>
      </p:grpSp>
      <p:sp>
        <p:nvSpPr>
          <p:cNvPr id="23" name="object 23"/>
          <p:cNvSpPr txBox="1"/>
          <p:nvPr/>
        </p:nvSpPr>
        <p:spPr>
          <a:xfrm>
            <a:off x="666496" y="2672081"/>
            <a:ext cx="5557520" cy="2211311"/>
          </a:xfrm>
          <a:prstGeom prst="rect">
            <a:avLst/>
          </a:prstGeom>
          <a:ln w="9144">
            <a:solidFill>
              <a:srgbClr val="373737"/>
            </a:solidFill>
          </a:ln>
        </p:spPr>
        <p:txBody>
          <a:bodyPr vert="horz" wrap="square" lIns="0" tIns="63500" rIns="0" bIns="0" rtlCol="0">
            <a:spAutoFit/>
          </a:bodyPr>
          <a:lstStyle/>
          <a:p>
            <a:pPr marL="578259" marR="178642" indent="-457189">
              <a:lnSpc>
                <a:spcPct val="150000"/>
              </a:lnSpc>
              <a:spcBef>
                <a:spcPts val="500"/>
              </a:spcBef>
              <a:buFont typeface="Courier New"/>
              <a:buChar char="o"/>
              <a:tabLst>
                <a:tab pos="578259" algn="l"/>
              </a:tabLst>
            </a:pPr>
            <a:r>
              <a:rPr sz="1867" i="1" dirty="0">
                <a:solidFill>
                  <a:srgbClr val="FFFFFF"/>
                </a:solidFill>
                <a:latin typeface="Calibri"/>
                <a:cs typeface="Calibri"/>
              </a:rPr>
              <a:t>Durability</a:t>
            </a:r>
            <a:r>
              <a:rPr sz="1867" dirty="0">
                <a:solidFill>
                  <a:srgbClr val="FFFFFF"/>
                </a:solidFill>
                <a:latin typeface="Calibri"/>
                <a:cs typeface="Calibri"/>
              </a:rPr>
              <a:t>:</a:t>
            </a:r>
            <a:r>
              <a:rPr sz="1867" spc="-33" dirty="0">
                <a:solidFill>
                  <a:srgbClr val="FFFFFF"/>
                </a:solidFill>
                <a:latin typeface="Calibri"/>
                <a:cs typeface="Calibri"/>
              </a:rPr>
              <a:t> </a:t>
            </a:r>
            <a:r>
              <a:rPr sz="1867" dirty="0">
                <a:solidFill>
                  <a:srgbClr val="FFFFFF"/>
                </a:solidFill>
                <a:latin typeface="Calibri"/>
                <a:cs typeface="Calibri"/>
              </a:rPr>
              <a:t>Lose</a:t>
            </a:r>
            <a:r>
              <a:rPr sz="1867" spc="-53" dirty="0">
                <a:solidFill>
                  <a:srgbClr val="FFFFFF"/>
                </a:solidFill>
                <a:latin typeface="Calibri"/>
                <a:cs typeface="Calibri"/>
              </a:rPr>
              <a:t> </a:t>
            </a:r>
            <a:r>
              <a:rPr sz="1867" dirty="0">
                <a:solidFill>
                  <a:srgbClr val="FFFFFF"/>
                </a:solidFill>
                <a:latin typeface="Calibri"/>
                <a:cs typeface="Calibri"/>
              </a:rPr>
              <a:t>all</a:t>
            </a:r>
            <a:r>
              <a:rPr sz="1867" spc="-40" dirty="0">
                <a:solidFill>
                  <a:srgbClr val="FFFFFF"/>
                </a:solidFill>
                <a:latin typeface="Calibri"/>
                <a:cs typeface="Calibri"/>
              </a:rPr>
              <a:t> </a:t>
            </a:r>
            <a:r>
              <a:rPr sz="1867" dirty="0">
                <a:solidFill>
                  <a:srgbClr val="FFFFFF"/>
                </a:solidFill>
                <a:latin typeface="Calibri"/>
                <a:cs typeface="Calibri"/>
              </a:rPr>
              <a:t>information</a:t>
            </a:r>
            <a:r>
              <a:rPr sz="1867" spc="-60" dirty="0">
                <a:solidFill>
                  <a:srgbClr val="FFFFFF"/>
                </a:solidFill>
                <a:latin typeface="Calibri"/>
                <a:cs typeface="Calibri"/>
              </a:rPr>
              <a:t> </a:t>
            </a:r>
            <a:r>
              <a:rPr sz="1867" dirty="0">
                <a:solidFill>
                  <a:srgbClr val="FFFFFF"/>
                </a:solidFill>
                <a:latin typeface="Calibri"/>
                <a:cs typeface="Calibri"/>
              </a:rPr>
              <a:t>when</a:t>
            </a:r>
            <a:r>
              <a:rPr sz="1867" spc="-60" dirty="0">
                <a:solidFill>
                  <a:srgbClr val="FFFFFF"/>
                </a:solidFill>
                <a:latin typeface="Calibri"/>
                <a:cs typeface="Calibri"/>
              </a:rPr>
              <a:t> </a:t>
            </a:r>
            <a:r>
              <a:rPr sz="1867" dirty="0">
                <a:solidFill>
                  <a:srgbClr val="FFFFFF"/>
                </a:solidFill>
                <a:latin typeface="Calibri"/>
                <a:cs typeface="Calibri"/>
              </a:rPr>
              <a:t>device</a:t>
            </a:r>
            <a:r>
              <a:rPr sz="1867" spc="-27" dirty="0">
                <a:solidFill>
                  <a:srgbClr val="FFFFFF"/>
                </a:solidFill>
                <a:latin typeface="Calibri"/>
                <a:cs typeface="Calibri"/>
              </a:rPr>
              <a:t> </a:t>
            </a:r>
            <a:r>
              <a:rPr sz="1867" spc="-13" dirty="0">
                <a:solidFill>
                  <a:srgbClr val="FFFFFF"/>
                </a:solidFill>
                <a:latin typeface="Calibri"/>
                <a:cs typeface="Calibri"/>
              </a:rPr>
              <a:t>loses </a:t>
            </a:r>
            <a:r>
              <a:rPr sz="1867" dirty="0">
                <a:solidFill>
                  <a:srgbClr val="FFFFFF"/>
                </a:solidFill>
                <a:latin typeface="Calibri"/>
                <a:cs typeface="Calibri"/>
              </a:rPr>
              <a:t>power</a:t>
            </a:r>
            <a:r>
              <a:rPr sz="1867" spc="-40" dirty="0">
                <a:solidFill>
                  <a:srgbClr val="FFFFFF"/>
                </a:solidFill>
                <a:latin typeface="Calibri"/>
                <a:cs typeface="Calibri"/>
              </a:rPr>
              <a:t> </a:t>
            </a:r>
            <a:r>
              <a:rPr sz="1867" dirty="0">
                <a:solidFill>
                  <a:srgbClr val="FFFFFF"/>
                </a:solidFill>
                <a:latin typeface="Calibri"/>
                <a:cs typeface="Calibri"/>
              </a:rPr>
              <a:t>or</a:t>
            </a:r>
            <a:r>
              <a:rPr sz="1867" spc="-27" dirty="0">
                <a:solidFill>
                  <a:srgbClr val="FFFFFF"/>
                </a:solidFill>
                <a:latin typeface="Calibri"/>
                <a:cs typeface="Calibri"/>
              </a:rPr>
              <a:t> </a:t>
            </a:r>
            <a:r>
              <a:rPr sz="1867" dirty="0">
                <a:solidFill>
                  <a:srgbClr val="FFFFFF"/>
                </a:solidFill>
                <a:latin typeface="Calibri"/>
                <a:cs typeface="Calibri"/>
              </a:rPr>
              <a:t>is</a:t>
            </a:r>
            <a:r>
              <a:rPr sz="1867" spc="-7" dirty="0">
                <a:solidFill>
                  <a:srgbClr val="FFFFFF"/>
                </a:solidFill>
                <a:latin typeface="Calibri"/>
                <a:cs typeface="Calibri"/>
              </a:rPr>
              <a:t> </a:t>
            </a:r>
            <a:r>
              <a:rPr sz="1867" spc="-13" dirty="0">
                <a:solidFill>
                  <a:srgbClr val="FFFFFF"/>
                </a:solidFill>
                <a:latin typeface="Calibri"/>
                <a:cs typeface="Calibri"/>
              </a:rPr>
              <a:t>reset</a:t>
            </a:r>
            <a:endParaRPr sz="1867" dirty="0">
              <a:latin typeface="Calibri"/>
              <a:cs typeface="Calibri"/>
            </a:endParaRPr>
          </a:p>
          <a:p>
            <a:pPr marL="578259" indent="-457189">
              <a:spcBef>
                <a:spcPts val="1120"/>
              </a:spcBef>
              <a:buFont typeface="Courier New"/>
              <a:buChar char="o"/>
              <a:tabLst>
                <a:tab pos="578259" algn="l"/>
              </a:tabLst>
            </a:pPr>
            <a:r>
              <a:rPr sz="1867" dirty="0">
                <a:solidFill>
                  <a:srgbClr val="FFFFFF"/>
                </a:solidFill>
                <a:latin typeface="Calibri"/>
                <a:cs typeface="Calibri"/>
              </a:rPr>
              <a:t>Durability</a:t>
            </a:r>
            <a:r>
              <a:rPr sz="1867" spc="-33" dirty="0">
                <a:solidFill>
                  <a:srgbClr val="FFFFFF"/>
                </a:solidFill>
                <a:latin typeface="Calibri"/>
                <a:cs typeface="Calibri"/>
              </a:rPr>
              <a:t> </a:t>
            </a:r>
            <a:r>
              <a:rPr sz="1867" dirty="0">
                <a:solidFill>
                  <a:srgbClr val="FFFFFF"/>
                </a:solidFill>
                <a:latin typeface="Calibri"/>
                <a:cs typeface="Calibri"/>
              </a:rPr>
              <a:t>added</a:t>
            </a:r>
            <a:r>
              <a:rPr sz="1867" spc="-40" dirty="0">
                <a:solidFill>
                  <a:srgbClr val="FFFFFF"/>
                </a:solidFill>
                <a:latin typeface="Calibri"/>
                <a:cs typeface="Calibri"/>
              </a:rPr>
              <a:t> </a:t>
            </a:r>
            <a:r>
              <a:rPr sz="1867" dirty="0">
                <a:solidFill>
                  <a:srgbClr val="FFFFFF"/>
                </a:solidFill>
                <a:latin typeface="Calibri"/>
                <a:cs typeface="Calibri"/>
              </a:rPr>
              <a:t>through</a:t>
            </a:r>
            <a:r>
              <a:rPr sz="1867" spc="-60" dirty="0">
                <a:solidFill>
                  <a:srgbClr val="FFFFFF"/>
                </a:solidFill>
                <a:latin typeface="Calibri"/>
                <a:cs typeface="Calibri"/>
              </a:rPr>
              <a:t> </a:t>
            </a:r>
            <a:r>
              <a:rPr sz="1867" spc="-13" dirty="0">
                <a:solidFill>
                  <a:srgbClr val="FFFFFF"/>
                </a:solidFill>
                <a:latin typeface="Calibri"/>
                <a:cs typeface="Calibri"/>
              </a:rPr>
              <a:t>snapshots</a:t>
            </a:r>
            <a:r>
              <a:rPr sz="1867" spc="-40" dirty="0">
                <a:solidFill>
                  <a:srgbClr val="FFFFFF"/>
                </a:solidFill>
                <a:latin typeface="Calibri"/>
                <a:cs typeface="Calibri"/>
              </a:rPr>
              <a:t> </a:t>
            </a:r>
            <a:r>
              <a:rPr sz="1867" dirty="0">
                <a:solidFill>
                  <a:srgbClr val="FFFFFF"/>
                </a:solidFill>
                <a:latin typeface="Calibri"/>
                <a:cs typeface="Calibri"/>
              </a:rPr>
              <a:t>/</a:t>
            </a:r>
            <a:r>
              <a:rPr sz="1867" spc="-60" dirty="0">
                <a:solidFill>
                  <a:srgbClr val="FFFFFF"/>
                </a:solidFill>
                <a:latin typeface="Calibri"/>
                <a:cs typeface="Calibri"/>
              </a:rPr>
              <a:t> </a:t>
            </a:r>
            <a:r>
              <a:rPr sz="1867" spc="-13" dirty="0">
                <a:solidFill>
                  <a:srgbClr val="FFFFFF"/>
                </a:solidFill>
                <a:latin typeface="Calibri"/>
                <a:cs typeface="Calibri"/>
              </a:rPr>
              <a:t>images</a:t>
            </a:r>
            <a:endParaRPr sz="1867" dirty="0">
              <a:latin typeface="Calibri"/>
              <a:cs typeface="Calibri"/>
            </a:endParaRPr>
          </a:p>
          <a:p>
            <a:pPr marL="578259" indent="-457189">
              <a:spcBef>
                <a:spcPts val="1120"/>
              </a:spcBef>
              <a:buFont typeface="Courier New"/>
              <a:buChar char="o"/>
              <a:tabLst>
                <a:tab pos="578259" algn="l"/>
              </a:tabLst>
            </a:pPr>
            <a:r>
              <a:rPr sz="1867" spc="-13" dirty="0">
                <a:solidFill>
                  <a:srgbClr val="FFFFFF"/>
                </a:solidFill>
                <a:latin typeface="Calibri"/>
                <a:cs typeface="Calibri"/>
              </a:rPr>
              <a:t>Cost-factor</a:t>
            </a:r>
            <a:endParaRPr sz="1867" dirty="0">
              <a:latin typeface="Calibri"/>
              <a:cs typeface="Calibri"/>
            </a:endParaRPr>
          </a:p>
          <a:p>
            <a:pPr marL="578259" indent="-457189">
              <a:spcBef>
                <a:spcPts val="1125"/>
              </a:spcBef>
              <a:buFont typeface="Courier New"/>
              <a:buChar char="o"/>
              <a:tabLst>
                <a:tab pos="578259" algn="l"/>
              </a:tabLst>
            </a:pPr>
            <a:r>
              <a:rPr sz="1867" dirty="0">
                <a:solidFill>
                  <a:srgbClr val="FFFFFF"/>
                </a:solidFill>
                <a:latin typeface="Calibri"/>
                <a:cs typeface="Calibri"/>
              </a:rPr>
              <a:t>Traditional</a:t>
            </a:r>
            <a:r>
              <a:rPr sz="1867" spc="-33" dirty="0">
                <a:solidFill>
                  <a:srgbClr val="FFFFFF"/>
                </a:solidFill>
                <a:latin typeface="Calibri"/>
                <a:cs typeface="Calibri"/>
              </a:rPr>
              <a:t> </a:t>
            </a:r>
            <a:r>
              <a:rPr sz="1867" dirty="0">
                <a:solidFill>
                  <a:srgbClr val="FFFFFF"/>
                </a:solidFill>
                <a:latin typeface="Calibri"/>
                <a:cs typeface="Calibri"/>
              </a:rPr>
              <a:t>DBs</a:t>
            </a:r>
            <a:r>
              <a:rPr sz="1867" spc="-60" dirty="0">
                <a:solidFill>
                  <a:srgbClr val="FFFFFF"/>
                </a:solidFill>
                <a:latin typeface="Calibri"/>
                <a:cs typeface="Calibri"/>
              </a:rPr>
              <a:t> </a:t>
            </a:r>
            <a:r>
              <a:rPr sz="1867" dirty="0">
                <a:solidFill>
                  <a:srgbClr val="FFFFFF"/>
                </a:solidFill>
                <a:latin typeface="Calibri"/>
                <a:cs typeface="Calibri"/>
              </a:rPr>
              <a:t>also</a:t>
            </a:r>
            <a:r>
              <a:rPr sz="1867" spc="-47" dirty="0">
                <a:solidFill>
                  <a:srgbClr val="FFFFFF"/>
                </a:solidFill>
                <a:latin typeface="Calibri"/>
                <a:cs typeface="Calibri"/>
              </a:rPr>
              <a:t> </a:t>
            </a:r>
            <a:r>
              <a:rPr sz="1867" dirty="0">
                <a:solidFill>
                  <a:srgbClr val="FFFFFF"/>
                </a:solidFill>
                <a:latin typeface="Calibri"/>
                <a:cs typeface="Calibri"/>
              </a:rPr>
              <a:t>trying</a:t>
            </a:r>
            <a:r>
              <a:rPr sz="1867" spc="-40" dirty="0">
                <a:solidFill>
                  <a:srgbClr val="FFFFFF"/>
                </a:solidFill>
                <a:latin typeface="Calibri"/>
                <a:cs typeface="Calibri"/>
              </a:rPr>
              <a:t> </a:t>
            </a:r>
            <a:r>
              <a:rPr sz="1867" dirty="0">
                <a:solidFill>
                  <a:srgbClr val="FFFFFF"/>
                </a:solidFill>
                <a:latin typeface="Calibri"/>
                <a:cs typeface="Calibri"/>
              </a:rPr>
              <a:t>reduce</a:t>
            </a:r>
            <a:r>
              <a:rPr sz="1867" spc="-40" dirty="0">
                <a:solidFill>
                  <a:srgbClr val="FFFFFF"/>
                </a:solidFill>
                <a:latin typeface="Calibri"/>
                <a:cs typeface="Calibri"/>
              </a:rPr>
              <a:t> </a:t>
            </a:r>
            <a:r>
              <a:rPr sz="1867" dirty="0">
                <a:solidFill>
                  <a:srgbClr val="FFFFFF"/>
                </a:solidFill>
                <a:latin typeface="Calibri"/>
                <a:cs typeface="Calibri"/>
              </a:rPr>
              <a:t>usage</a:t>
            </a:r>
            <a:r>
              <a:rPr sz="1867" spc="-47" dirty="0">
                <a:solidFill>
                  <a:srgbClr val="FFFFFF"/>
                </a:solidFill>
                <a:latin typeface="Calibri"/>
                <a:cs typeface="Calibri"/>
              </a:rPr>
              <a:t> </a:t>
            </a:r>
            <a:r>
              <a:rPr sz="1867" dirty="0">
                <a:solidFill>
                  <a:srgbClr val="FFFFFF"/>
                </a:solidFill>
                <a:latin typeface="Calibri"/>
                <a:cs typeface="Calibri"/>
              </a:rPr>
              <a:t>of</a:t>
            </a:r>
            <a:r>
              <a:rPr sz="1867" spc="-60" dirty="0">
                <a:solidFill>
                  <a:srgbClr val="FFFFFF"/>
                </a:solidFill>
                <a:latin typeface="Calibri"/>
                <a:cs typeface="Calibri"/>
              </a:rPr>
              <a:t> </a:t>
            </a:r>
            <a:r>
              <a:rPr sz="1867" spc="-27" dirty="0">
                <a:solidFill>
                  <a:srgbClr val="FFFFFF"/>
                </a:solidFill>
                <a:latin typeface="Calibri"/>
                <a:cs typeface="Calibri"/>
              </a:rPr>
              <a:t>disc</a:t>
            </a:r>
            <a:endParaRPr sz="1867" dirty="0">
              <a:latin typeface="Calibri"/>
              <a:cs typeface="Calibri"/>
            </a:endParaRPr>
          </a:p>
        </p:txBody>
      </p:sp>
      <p:grpSp>
        <p:nvGrpSpPr>
          <p:cNvPr id="24" name="object 24"/>
          <p:cNvGrpSpPr/>
          <p:nvPr/>
        </p:nvGrpSpPr>
        <p:grpSpPr>
          <a:xfrm>
            <a:off x="8713215" y="1958848"/>
            <a:ext cx="3207173" cy="1715347"/>
            <a:chOff x="6534911" y="1469136"/>
            <a:chExt cx="2405380" cy="1286510"/>
          </a:xfrm>
        </p:grpSpPr>
        <p:pic>
          <p:nvPicPr>
            <p:cNvPr id="25" name="object 25"/>
            <p:cNvPicPr/>
            <p:nvPr/>
          </p:nvPicPr>
          <p:blipFill>
            <a:blip r:embed="rId5" cstate="print"/>
            <a:stretch>
              <a:fillRect/>
            </a:stretch>
          </p:blipFill>
          <p:spPr>
            <a:xfrm>
              <a:off x="6539483" y="1469136"/>
              <a:ext cx="2400300" cy="1286256"/>
            </a:xfrm>
            <a:prstGeom prst="rect">
              <a:avLst/>
            </a:prstGeom>
          </p:spPr>
        </p:pic>
        <p:pic>
          <p:nvPicPr>
            <p:cNvPr id="26" name="object 26"/>
            <p:cNvPicPr/>
            <p:nvPr/>
          </p:nvPicPr>
          <p:blipFill>
            <a:blip r:embed="rId6" cstate="print"/>
            <a:stretch>
              <a:fillRect/>
            </a:stretch>
          </p:blipFill>
          <p:spPr>
            <a:xfrm>
              <a:off x="6534911" y="1586496"/>
              <a:ext cx="2154936" cy="1094219"/>
            </a:xfrm>
            <a:prstGeom prst="rect">
              <a:avLst/>
            </a:prstGeom>
          </p:spPr>
        </p:pic>
      </p:grpSp>
      <p:sp>
        <p:nvSpPr>
          <p:cNvPr id="27" name="object 27"/>
          <p:cNvSpPr txBox="1"/>
          <p:nvPr/>
        </p:nvSpPr>
        <p:spPr>
          <a:xfrm>
            <a:off x="8782305" y="1991360"/>
            <a:ext cx="3081020" cy="1352700"/>
          </a:xfrm>
          <a:prstGeom prst="rect">
            <a:avLst/>
          </a:prstGeom>
          <a:solidFill>
            <a:srgbClr val="D9D9D9"/>
          </a:solidFill>
          <a:ln w="9144">
            <a:solidFill>
              <a:srgbClr val="373737"/>
            </a:solidFill>
          </a:ln>
        </p:spPr>
        <p:txBody>
          <a:bodyPr vert="horz" wrap="square" lIns="0" tIns="206587" rIns="0" bIns="0" rtlCol="0">
            <a:spAutoFit/>
          </a:bodyPr>
          <a:lstStyle/>
          <a:p>
            <a:pPr marL="579106" indent="-456342">
              <a:spcBef>
                <a:spcPts val="1627"/>
              </a:spcBef>
              <a:buClr>
                <a:srgbClr val="FFFFFF"/>
              </a:buClr>
              <a:buFont typeface="Courier New"/>
              <a:buChar char="o"/>
              <a:tabLst>
                <a:tab pos="579106" algn="l"/>
              </a:tabLst>
            </a:pPr>
            <a:r>
              <a:rPr sz="1867" i="1" dirty="0">
                <a:solidFill>
                  <a:srgbClr val="3B3B3B"/>
                </a:solidFill>
                <a:latin typeface="Calibri"/>
                <a:cs typeface="Calibri"/>
              </a:rPr>
              <a:t>columnar</a:t>
            </a:r>
            <a:r>
              <a:rPr sz="1867" i="1" spc="-67" dirty="0">
                <a:solidFill>
                  <a:srgbClr val="3B3B3B"/>
                </a:solidFill>
                <a:latin typeface="Calibri"/>
                <a:cs typeface="Calibri"/>
              </a:rPr>
              <a:t> </a:t>
            </a:r>
            <a:r>
              <a:rPr sz="1867" i="1" spc="-13" dirty="0">
                <a:solidFill>
                  <a:srgbClr val="3B3B3B"/>
                </a:solidFill>
                <a:latin typeface="Calibri"/>
                <a:cs typeface="Calibri"/>
              </a:rPr>
              <a:t>storage,</a:t>
            </a:r>
            <a:endParaRPr sz="1867">
              <a:latin typeface="Calibri"/>
              <a:cs typeface="Calibri"/>
            </a:endParaRPr>
          </a:p>
          <a:p>
            <a:pPr marL="579106" indent="-456342">
              <a:spcBef>
                <a:spcPts val="1125"/>
              </a:spcBef>
              <a:buClr>
                <a:srgbClr val="FFFFFF"/>
              </a:buClr>
              <a:buFont typeface="Courier New"/>
              <a:buChar char="o"/>
              <a:tabLst>
                <a:tab pos="579106" algn="l"/>
              </a:tabLst>
            </a:pPr>
            <a:r>
              <a:rPr sz="1867" i="1" dirty="0">
                <a:solidFill>
                  <a:srgbClr val="3B3B3B"/>
                </a:solidFill>
                <a:latin typeface="Calibri"/>
                <a:cs typeface="Calibri"/>
              </a:rPr>
              <a:t>parallel</a:t>
            </a:r>
            <a:r>
              <a:rPr sz="1867" i="1" spc="-40" dirty="0">
                <a:solidFill>
                  <a:srgbClr val="3B3B3B"/>
                </a:solidFill>
                <a:latin typeface="Calibri"/>
                <a:cs typeface="Calibri"/>
              </a:rPr>
              <a:t> </a:t>
            </a:r>
            <a:r>
              <a:rPr sz="1867" i="1" dirty="0">
                <a:solidFill>
                  <a:srgbClr val="3B3B3B"/>
                </a:solidFill>
                <a:latin typeface="Calibri"/>
                <a:cs typeface="Calibri"/>
              </a:rPr>
              <a:t>query</a:t>
            </a:r>
            <a:r>
              <a:rPr sz="1867" i="1" spc="-60" dirty="0">
                <a:solidFill>
                  <a:srgbClr val="3B3B3B"/>
                </a:solidFill>
                <a:latin typeface="Calibri"/>
                <a:cs typeface="Calibri"/>
              </a:rPr>
              <a:t> </a:t>
            </a:r>
            <a:r>
              <a:rPr sz="1867" i="1" spc="-13" dirty="0">
                <a:solidFill>
                  <a:srgbClr val="3B3B3B"/>
                </a:solidFill>
                <a:latin typeface="Calibri"/>
                <a:cs typeface="Calibri"/>
              </a:rPr>
              <a:t>plans,</a:t>
            </a:r>
            <a:endParaRPr sz="1867">
              <a:latin typeface="Calibri"/>
              <a:cs typeface="Calibri"/>
            </a:endParaRPr>
          </a:p>
          <a:p>
            <a:pPr marL="579106" indent="-456342">
              <a:spcBef>
                <a:spcPts val="1120"/>
              </a:spcBef>
              <a:buClr>
                <a:srgbClr val="FFFFFF"/>
              </a:buClr>
              <a:buFont typeface="Courier New"/>
              <a:buChar char="o"/>
              <a:tabLst>
                <a:tab pos="579106" algn="l"/>
              </a:tabLst>
            </a:pPr>
            <a:r>
              <a:rPr sz="1867" i="1" dirty="0">
                <a:solidFill>
                  <a:srgbClr val="3B3B3B"/>
                </a:solidFill>
                <a:latin typeface="Calibri"/>
                <a:cs typeface="Calibri"/>
              </a:rPr>
              <a:t>and</a:t>
            </a:r>
            <a:r>
              <a:rPr sz="1867" i="1" spc="-27" dirty="0">
                <a:solidFill>
                  <a:srgbClr val="3B3B3B"/>
                </a:solidFill>
                <a:latin typeface="Calibri"/>
                <a:cs typeface="Calibri"/>
              </a:rPr>
              <a:t> </a:t>
            </a:r>
            <a:r>
              <a:rPr sz="1867" i="1" dirty="0">
                <a:solidFill>
                  <a:srgbClr val="3B3B3B"/>
                </a:solidFill>
                <a:latin typeface="Calibri"/>
                <a:cs typeface="Calibri"/>
              </a:rPr>
              <a:t>other</a:t>
            </a:r>
            <a:r>
              <a:rPr sz="1867" i="1" spc="-53" dirty="0">
                <a:solidFill>
                  <a:srgbClr val="3B3B3B"/>
                </a:solidFill>
                <a:latin typeface="Calibri"/>
                <a:cs typeface="Calibri"/>
              </a:rPr>
              <a:t> </a:t>
            </a:r>
            <a:r>
              <a:rPr sz="1867" i="1" spc="-13" dirty="0">
                <a:solidFill>
                  <a:srgbClr val="3B3B3B"/>
                </a:solidFill>
                <a:latin typeface="Calibri"/>
                <a:cs typeface="Calibri"/>
              </a:rPr>
              <a:t>techniques</a:t>
            </a:r>
            <a:endParaRPr sz="1867">
              <a:latin typeface="Calibri"/>
              <a:cs typeface="Calibri"/>
            </a:endParaRPr>
          </a:p>
        </p:txBody>
      </p:sp>
      <p:sp>
        <p:nvSpPr>
          <p:cNvPr id="28" name="TextBox 27">
            <a:extLst>
              <a:ext uri="{FF2B5EF4-FFF2-40B4-BE49-F238E27FC236}">
                <a16:creationId xmlns:a16="http://schemas.microsoft.com/office/drawing/2014/main" id="{EF71D98F-FC7E-089C-DF02-04FECCAB22F2}"/>
              </a:ext>
            </a:extLst>
          </p:cNvPr>
          <p:cNvSpPr txBox="1"/>
          <p:nvPr/>
        </p:nvSpPr>
        <p:spPr>
          <a:xfrm>
            <a:off x="3047172" y="226398"/>
            <a:ext cx="6097656" cy="769441"/>
          </a:xfrm>
          <a:prstGeom prst="rect">
            <a:avLst/>
          </a:prstGeom>
          <a:noFill/>
        </p:spPr>
        <p:txBody>
          <a:bodyPr wrap="square">
            <a:spAutoFit/>
          </a:bodyPr>
          <a:lstStyle/>
          <a:p>
            <a:pPr algn="ctr"/>
            <a:r>
              <a:rPr lang="en-IN" sz="4400" dirty="0">
                <a:solidFill>
                  <a:schemeClr val="bg1"/>
                </a:solidFill>
                <a:latin typeface="+mn-lt"/>
              </a:rPr>
              <a:t>In Memory </a:t>
            </a:r>
            <a:r>
              <a:rPr lang="en-IN" sz="4400" spc="-13" dirty="0">
                <a:solidFill>
                  <a:schemeClr val="bg1"/>
                </a:solidFill>
                <a:latin typeface="+mn-lt"/>
              </a:rPr>
              <a:t>Database</a:t>
            </a:r>
            <a:endParaRPr lang="en-IN" sz="44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50539" y="180364"/>
            <a:ext cx="7166887"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Products</a:t>
            </a:r>
            <a:r>
              <a:rPr spc="-53" dirty="0">
                <a:solidFill>
                  <a:schemeClr val="bg1"/>
                </a:solidFill>
                <a:latin typeface="+mn-lt"/>
              </a:rPr>
              <a:t> </a:t>
            </a:r>
            <a:r>
              <a:rPr dirty="0">
                <a:solidFill>
                  <a:schemeClr val="bg1"/>
                </a:solidFill>
                <a:latin typeface="+mn-lt"/>
              </a:rPr>
              <a:t>in</a:t>
            </a:r>
            <a:r>
              <a:rPr spc="-47" dirty="0">
                <a:solidFill>
                  <a:schemeClr val="bg1"/>
                </a:solidFill>
                <a:latin typeface="+mn-lt"/>
              </a:rPr>
              <a:t> </a:t>
            </a:r>
            <a:r>
              <a:rPr dirty="0">
                <a:solidFill>
                  <a:schemeClr val="bg1"/>
                </a:solidFill>
                <a:latin typeface="+mn-lt"/>
              </a:rPr>
              <a:t>RDMS</a:t>
            </a:r>
            <a:r>
              <a:rPr spc="-33" dirty="0">
                <a:solidFill>
                  <a:schemeClr val="bg1"/>
                </a:solidFill>
                <a:latin typeface="+mn-lt"/>
              </a:rPr>
              <a:t> </a:t>
            </a:r>
            <a:r>
              <a:rPr spc="-13" dirty="0">
                <a:solidFill>
                  <a:schemeClr val="bg1"/>
                </a:solidFill>
                <a:latin typeface="+mn-lt"/>
              </a:rPr>
              <a:t>context</a:t>
            </a:r>
          </a:p>
        </p:txBody>
      </p:sp>
      <p:sp>
        <p:nvSpPr>
          <p:cNvPr id="3" name="object 3"/>
          <p:cNvSpPr txBox="1"/>
          <p:nvPr/>
        </p:nvSpPr>
        <p:spPr>
          <a:xfrm>
            <a:off x="3356525" y="1854200"/>
            <a:ext cx="4636347" cy="2987142"/>
          </a:xfrm>
          <a:prstGeom prst="rect">
            <a:avLst/>
          </a:prstGeom>
        </p:spPr>
        <p:txBody>
          <a:bodyPr vert="horz" wrap="square" lIns="0" tIns="16933" rIns="0" bIns="0" rtlCol="0">
            <a:spAutoFit/>
          </a:bodyPr>
          <a:lstStyle/>
          <a:p>
            <a:pPr marL="499521" indent="-380990">
              <a:spcBef>
                <a:spcPts val="133"/>
              </a:spcBef>
              <a:buClr>
                <a:srgbClr val="99D3FF"/>
              </a:buClr>
              <a:buFont typeface="Wingdings"/>
              <a:buChar char=""/>
              <a:tabLst>
                <a:tab pos="499521" algn="l"/>
              </a:tabLst>
            </a:pPr>
            <a:r>
              <a:rPr sz="2400" b="1" dirty="0">
                <a:solidFill>
                  <a:srgbClr val="D9D9D9"/>
                </a:solidFill>
                <a:latin typeface="Calibri"/>
                <a:cs typeface="Calibri"/>
              </a:rPr>
              <a:t>SAP</a:t>
            </a:r>
            <a:r>
              <a:rPr sz="2400" b="1" spc="-60" dirty="0">
                <a:solidFill>
                  <a:srgbClr val="D9D9D9"/>
                </a:solidFill>
                <a:latin typeface="Calibri"/>
                <a:cs typeface="Calibri"/>
              </a:rPr>
              <a:t> </a:t>
            </a:r>
            <a:r>
              <a:rPr sz="2400" b="1" spc="-27" dirty="0">
                <a:solidFill>
                  <a:srgbClr val="D9D9D9"/>
                </a:solidFill>
                <a:latin typeface="Calibri"/>
                <a:cs typeface="Calibri"/>
              </a:rPr>
              <a:t>HANA</a:t>
            </a:r>
            <a:endParaRPr sz="2400">
              <a:latin typeface="Calibri"/>
              <a:cs typeface="Calibri"/>
            </a:endParaRPr>
          </a:p>
          <a:p>
            <a:pPr>
              <a:spcBef>
                <a:spcPts val="973"/>
              </a:spcBef>
            </a:pPr>
            <a:endParaRPr sz="2400">
              <a:latin typeface="Calibri"/>
              <a:cs typeface="Calibri"/>
            </a:endParaRPr>
          </a:p>
          <a:p>
            <a:pPr marL="397923" indent="-380990">
              <a:buClr>
                <a:srgbClr val="99D3FF"/>
              </a:buClr>
              <a:buFont typeface="Wingdings"/>
              <a:buChar char=""/>
              <a:tabLst>
                <a:tab pos="397923" algn="l"/>
              </a:tabLst>
            </a:pPr>
            <a:r>
              <a:rPr sz="2400" b="1" dirty="0">
                <a:solidFill>
                  <a:srgbClr val="D9D9D9"/>
                </a:solidFill>
                <a:latin typeface="Calibri"/>
                <a:cs typeface="Calibri"/>
              </a:rPr>
              <a:t>MS</a:t>
            </a:r>
            <a:r>
              <a:rPr sz="2400" b="1" spc="-27" dirty="0">
                <a:solidFill>
                  <a:srgbClr val="D9D9D9"/>
                </a:solidFill>
                <a:latin typeface="Calibri"/>
                <a:cs typeface="Calibri"/>
              </a:rPr>
              <a:t> </a:t>
            </a:r>
            <a:r>
              <a:rPr sz="2400" b="1" dirty="0">
                <a:solidFill>
                  <a:srgbClr val="D9D9D9"/>
                </a:solidFill>
                <a:latin typeface="Calibri"/>
                <a:cs typeface="Calibri"/>
              </a:rPr>
              <a:t>SQL</a:t>
            </a:r>
            <a:r>
              <a:rPr sz="2400" b="1" spc="-13" dirty="0">
                <a:solidFill>
                  <a:srgbClr val="D9D9D9"/>
                </a:solidFill>
                <a:latin typeface="Calibri"/>
                <a:cs typeface="Calibri"/>
              </a:rPr>
              <a:t> </a:t>
            </a:r>
            <a:r>
              <a:rPr sz="2400" b="1" dirty="0">
                <a:solidFill>
                  <a:srgbClr val="D9D9D9"/>
                </a:solidFill>
                <a:latin typeface="Calibri"/>
                <a:cs typeface="Calibri"/>
              </a:rPr>
              <a:t>Server</a:t>
            </a:r>
            <a:r>
              <a:rPr sz="2400" b="1" spc="-33" dirty="0">
                <a:solidFill>
                  <a:srgbClr val="D9D9D9"/>
                </a:solidFill>
                <a:latin typeface="Calibri"/>
                <a:cs typeface="Calibri"/>
              </a:rPr>
              <a:t> </a:t>
            </a:r>
            <a:r>
              <a:rPr sz="2400" b="1" dirty="0">
                <a:solidFill>
                  <a:srgbClr val="D9D9D9"/>
                </a:solidFill>
                <a:latin typeface="Calibri"/>
                <a:cs typeface="Calibri"/>
              </a:rPr>
              <a:t>In-Memory</a:t>
            </a:r>
            <a:r>
              <a:rPr sz="2400" b="1" spc="-67" dirty="0">
                <a:solidFill>
                  <a:srgbClr val="D9D9D9"/>
                </a:solidFill>
                <a:latin typeface="Calibri"/>
                <a:cs typeface="Calibri"/>
              </a:rPr>
              <a:t> </a:t>
            </a:r>
            <a:r>
              <a:rPr sz="2400" b="1" spc="-13" dirty="0">
                <a:solidFill>
                  <a:srgbClr val="D9D9D9"/>
                </a:solidFill>
                <a:latin typeface="Calibri"/>
                <a:cs typeface="Calibri"/>
              </a:rPr>
              <a:t>Tables</a:t>
            </a:r>
            <a:endParaRPr sz="2400">
              <a:latin typeface="Calibri"/>
              <a:cs typeface="Calibri"/>
            </a:endParaRPr>
          </a:p>
          <a:p>
            <a:pPr>
              <a:spcBef>
                <a:spcPts val="973"/>
              </a:spcBef>
              <a:buClr>
                <a:srgbClr val="99D3FF"/>
              </a:buClr>
              <a:buFont typeface="Wingdings"/>
              <a:buChar char=""/>
            </a:pPr>
            <a:endParaRPr sz="2400">
              <a:latin typeface="Calibri"/>
              <a:cs typeface="Calibri"/>
            </a:endParaRPr>
          </a:p>
          <a:p>
            <a:pPr marL="398770" indent="-381837">
              <a:buClr>
                <a:srgbClr val="99D3FF"/>
              </a:buClr>
              <a:buFont typeface="Wingdings"/>
              <a:buChar char=""/>
              <a:tabLst>
                <a:tab pos="398770" algn="l"/>
              </a:tabLst>
            </a:pPr>
            <a:r>
              <a:rPr sz="2400" b="1" dirty="0">
                <a:solidFill>
                  <a:srgbClr val="D9D9D9"/>
                </a:solidFill>
                <a:latin typeface="Calibri"/>
                <a:cs typeface="Calibri"/>
              </a:rPr>
              <a:t>Oracle</a:t>
            </a:r>
            <a:r>
              <a:rPr sz="2400" b="1" spc="-60" dirty="0">
                <a:solidFill>
                  <a:srgbClr val="D9D9D9"/>
                </a:solidFill>
                <a:latin typeface="Calibri"/>
                <a:cs typeface="Calibri"/>
              </a:rPr>
              <a:t> </a:t>
            </a:r>
            <a:r>
              <a:rPr sz="2400" b="1" dirty="0">
                <a:solidFill>
                  <a:srgbClr val="D9D9D9"/>
                </a:solidFill>
                <a:latin typeface="Calibri"/>
                <a:cs typeface="Calibri"/>
              </a:rPr>
              <a:t>In-</a:t>
            </a:r>
            <a:r>
              <a:rPr sz="2400" b="1" spc="-13" dirty="0">
                <a:solidFill>
                  <a:srgbClr val="D9D9D9"/>
                </a:solidFill>
                <a:latin typeface="Calibri"/>
                <a:cs typeface="Calibri"/>
              </a:rPr>
              <a:t>Memory</a:t>
            </a:r>
            <a:endParaRPr sz="2400">
              <a:latin typeface="Calibri"/>
              <a:cs typeface="Calibri"/>
            </a:endParaRPr>
          </a:p>
          <a:p>
            <a:pPr>
              <a:spcBef>
                <a:spcPts val="980"/>
              </a:spcBef>
              <a:buClr>
                <a:srgbClr val="99D3FF"/>
              </a:buClr>
              <a:buFont typeface="Wingdings"/>
              <a:buChar char=""/>
            </a:pPr>
            <a:endParaRPr sz="2400">
              <a:latin typeface="Calibri"/>
              <a:cs typeface="Calibri"/>
            </a:endParaRPr>
          </a:p>
          <a:p>
            <a:pPr marL="397923" indent="-380990">
              <a:buClr>
                <a:srgbClr val="99D3FF"/>
              </a:buClr>
              <a:buFont typeface="Wingdings"/>
              <a:buChar char=""/>
              <a:tabLst>
                <a:tab pos="397923" algn="l"/>
              </a:tabLst>
            </a:pPr>
            <a:r>
              <a:rPr sz="2400" b="1" dirty="0">
                <a:solidFill>
                  <a:srgbClr val="D9D9D9"/>
                </a:solidFill>
                <a:latin typeface="Calibri"/>
                <a:cs typeface="Calibri"/>
              </a:rPr>
              <a:t>Amazon</a:t>
            </a:r>
            <a:r>
              <a:rPr sz="2400" b="1" spc="-60" dirty="0">
                <a:solidFill>
                  <a:srgbClr val="D9D9D9"/>
                </a:solidFill>
                <a:latin typeface="Calibri"/>
                <a:cs typeface="Calibri"/>
              </a:rPr>
              <a:t> </a:t>
            </a:r>
            <a:r>
              <a:rPr sz="2400" b="1" spc="-13" dirty="0">
                <a:solidFill>
                  <a:srgbClr val="D9D9D9"/>
                </a:solidFill>
                <a:latin typeface="Calibri"/>
                <a:cs typeface="Calibri"/>
              </a:rPr>
              <a:t>MemoryDB</a:t>
            </a:r>
            <a:endParaRPr sz="2400">
              <a:latin typeface="Calibri"/>
              <a:cs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27759" y="2320543"/>
            <a:ext cx="9930384" cy="1704848"/>
          </a:xfrm>
          <a:prstGeom prst="rect">
            <a:avLst/>
          </a:prstGeom>
        </p:spPr>
      </p:pic>
      <p:sp>
        <p:nvSpPr>
          <p:cNvPr id="3" name="object 3"/>
          <p:cNvSpPr txBox="1">
            <a:spLocks noGrp="1"/>
          </p:cNvSpPr>
          <p:nvPr>
            <p:ph type="title"/>
          </p:nvPr>
        </p:nvSpPr>
        <p:spPr>
          <a:xfrm>
            <a:off x="1190751" y="2621034"/>
            <a:ext cx="9811173" cy="1049004"/>
          </a:xfrm>
          <a:prstGeom prst="rect">
            <a:avLst/>
          </a:prstGeom>
          <a:noFill/>
          <a:ln w="9144">
            <a:noFill/>
          </a:ln>
        </p:spPr>
        <p:txBody>
          <a:bodyPr vert="horz" wrap="square" lIns="0" tIns="307339" rIns="0" bIns="0" rtlCol="0" anchor="ctr">
            <a:spAutoFit/>
          </a:bodyPr>
          <a:lstStyle/>
          <a:p>
            <a:pPr marL="847" algn="ctr">
              <a:lnSpc>
                <a:spcPct val="100000"/>
              </a:lnSpc>
              <a:spcBef>
                <a:spcPts val="2419"/>
              </a:spcBef>
            </a:pPr>
            <a:r>
              <a:rPr sz="4800" dirty="0">
                <a:solidFill>
                  <a:schemeClr val="bg1"/>
                </a:solidFill>
                <a:latin typeface="+mn-lt"/>
              </a:rPr>
              <a:t>OLAP</a:t>
            </a:r>
            <a:r>
              <a:rPr sz="4800" spc="-107" dirty="0">
                <a:solidFill>
                  <a:schemeClr val="bg1"/>
                </a:solidFill>
                <a:latin typeface="+mn-lt"/>
              </a:rPr>
              <a:t> </a:t>
            </a:r>
            <a:r>
              <a:rPr sz="4800" spc="-13" dirty="0">
                <a:solidFill>
                  <a:schemeClr val="bg1"/>
                </a:solidFill>
                <a:latin typeface="+mn-lt"/>
              </a:rPr>
              <a:t>Cubes</a:t>
            </a:r>
            <a:endParaRPr sz="4800" dirty="0">
              <a:solidFill>
                <a:schemeClr val="bg1"/>
              </a:solidFill>
              <a:latin typeface="+mn-lt"/>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383789" y="2057400"/>
            <a:ext cx="7051887" cy="3779667"/>
          </a:xfrm>
          <a:prstGeom prst="rect">
            <a:avLst/>
          </a:prstGeom>
        </p:spPr>
        <p:txBody>
          <a:bodyPr vert="horz" wrap="square" lIns="0" tIns="16933" rIns="0" bIns="0" rtlCol="0">
            <a:spAutoFit/>
          </a:bodyPr>
          <a:lstStyle/>
          <a:p>
            <a:pPr marL="471582" indent="-380990">
              <a:spcBef>
                <a:spcPts val="133"/>
              </a:spcBef>
              <a:buClr>
                <a:srgbClr val="99D3FF"/>
              </a:buClr>
              <a:buFont typeface="Wingdings"/>
              <a:buChar char=""/>
              <a:tabLst>
                <a:tab pos="471582" algn="l"/>
              </a:tabLst>
            </a:pPr>
            <a:r>
              <a:rPr sz="2400" b="1" dirty="0">
                <a:solidFill>
                  <a:srgbClr val="D9D9D9"/>
                </a:solidFill>
                <a:latin typeface="Calibri"/>
                <a:cs typeface="Calibri"/>
              </a:rPr>
              <a:t>Traditional</a:t>
            </a:r>
            <a:r>
              <a:rPr sz="2400" b="1" spc="-93" dirty="0">
                <a:solidFill>
                  <a:srgbClr val="D9D9D9"/>
                </a:solidFill>
                <a:latin typeface="Calibri"/>
                <a:cs typeface="Calibri"/>
              </a:rPr>
              <a:t> </a:t>
            </a:r>
            <a:r>
              <a:rPr sz="2400" b="1" dirty="0">
                <a:solidFill>
                  <a:srgbClr val="D9D9D9"/>
                </a:solidFill>
                <a:latin typeface="Calibri"/>
                <a:cs typeface="Calibri"/>
              </a:rPr>
              <a:t>DWH</a:t>
            </a:r>
            <a:r>
              <a:rPr sz="2400" b="1" spc="-13" dirty="0">
                <a:solidFill>
                  <a:srgbClr val="D9D9D9"/>
                </a:solidFill>
                <a:latin typeface="Calibri"/>
                <a:cs typeface="Calibri"/>
              </a:rPr>
              <a:t> </a:t>
            </a:r>
            <a:r>
              <a:rPr sz="2400" b="1" dirty="0">
                <a:solidFill>
                  <a:srgbClr val="D9D9D9"/>
                </a:solidFill>
                <a:latin typeface="Calibri"/>
                <a:cs typeface="Calibri"/>
              </a:rPr>
              <a:t>based</a:t>
            </a:r>
            <a:r>
              <a:rPr sz="2400" b="1" spc="-67" dirty="0">
                <a:solidFill>
                  <a:srgbClr val="D9D9D9"/>
                </a:solidFill>
                <a:latin typeface="Calibri"/>
                <a:cs typeface="Calibri"/>
              </a:rPr>
              <a:t> </a:t>
            </a:r>
            <a:r>
              <a:rPr sz="2400" b="1" dirty="0">
                <a:solidFill>
                  <a:srgbClr val="D9D9D9"/>
                </a:solidFill>
                <a:latin typeface="Calibri"/>
                <a:cs typeface="Calibri"/>
              </a:rPr>
              <a:t>on</a:t>
            </a:r>
            <a:r>
              <a:rPr sz="2400" b="1" spc="-33" dirty="0">
                <a:solidFill>
                  <a:srgbClr val="D9D9D9"/>
                </a:solidFill>
                <a:latin typeface="Calibri"/>
                <a:cs typeface="Calibri"/>
              </a:rPr>
              <a:t> </a:t>
            </a:r>
            <a:r>
              <a:rPr sz="2400" b="1" dirty="0">
                <a:solidFill>
                  <a:srgbClr val="D9D9D9"/>
                </a:solidFill>
                <a:latin typeface="Calibri"/>
                <a:cs typeface="Calibri"/>
              </a:rPr>
              <a:t>relational</a:t>
            </a:r>
            <a:r>
              <a:rPr sz="2400" b="1" spc="-73" dirty="0">
                <a:solidFill>
                  <a:srgbClr val="D9D9D9"/>
                </a:solidFill>
                <a:latin typeface="Calibri"/>
                <a:cs typeface="Calibri"/>
              </a:rPr>
              <a:t> </a:t>
            </a:r>
            <a:r>
              <a:rPr sz="2400" b="1" dirty="0">
                <a:solidFill>
                  <a:srgbClr val="D9D9D9"/>
                </a:solidFill>
                <a:latin typeface="Calibri"/>
                <a:cs typeface="Calibri"/>
              </a:rPr>
              <a:t>DBMS</a:t>
            </a:r>
            <a:r>
              <a:rPr sz="2400" b="1" spc="-13" dirty="0">
                <a:solidFill>
                  <a:srgbClr val="D9D9D9"/>
                </a:solidFill>
                <a:latin typeface="Calibri"/>
                <a:cs typeface="Calibri"/>
              </a:rPr>
              <a:t> (ROLAP)</a:t>
            </a:r>
            <a:endParaRPr sz="2400" dirty="0">
              <a:latin typeface="Calibri"/>
              <a:cs typeface="Calibri"/>
            </a:endParaRPr>
          </a:p>
          <a:p>
            <a:pPr marL="471582" marR="304792" indent="-380990">
              <a:lnSpc>
                <a:spcPct val="150000"/>
              </a:lnSpc>
              <a:spcBef>
                <a:spcPts val="1380"/>
              </a:spcBef>
              <a:buClr>
                <a:srgbClr val="99D3FF"/>
              </a:buClr>
              <a:buFont typeface="Wingdings"/>
              <a:buChar char=""/>
              <a:tabLst>
                <a:tab pos="473275" algn="l"/>
              </a:tabLst>
            </a:pPr>
            <a:r>
              <a:rPr sz="2400" b="1" dirty="0">
                <a:solidFill>
                  <a:srgbClr val="D9D9D9"/>
                </a:solidFill>
                <a:latin typeface="Calibri"/>
                <a:cs typeface="Calibri"/>
              </a:rPr>
              <a:t>Data</a:t>
            </a:r>
            <a:r>
              <a:rPr sz="2400" b="1" spc="-13" dirty="0">
                <a:solidFill>
                  <a:srgbClr val="D9D9D9"/>
                </a:solidFill>
                <a:latin typeface="Calibri"/>
                <a:cs typeface="Calibri"/>
              </a:rPr>
              <a:t> </a:t>
            </a:r>
            <a:r>
              <a:rPr sz="2400" b="1" dirty="0">
                <a:solidFill>
                  <a:srgbClr val="D9D9D9"/>
                </a:solidFill>
                <a:latin typeface="Calibri"/>
                <a:cs typeface="Calibri"/>
              </a:rPr>
              <a:t>is</a:t>
            </a:r>
            <a:r>
              <a:rPr sz="2400" b="1" spc="-20" dirty="0">
                <a:solidFill>
                  <a:srgbClr val="D9D9D9"/>
                </a:solidFill>
                <a:latin typeface="Calibri"/>
                <a:cs typeface="Calibri"/>
              </a:rPr>
              <a:t> </a:t>
            </a:r>
            <a:r>
              <a:rPr sz="2400" b="1" dirty="0">
                <a:solidFill>
                  <a:srgbClr val="D9D9D9"/>
                </a:solidFill>
                <a:latin typeface="Calibri"/>
                <a:cs typeface="Calibri"/>
              </a:rPr>
              <a:t>organized</a:t>
            </a:r>
            <a:r>
              <a:rPr sz="2400" b="1" spc="-73" dirty="0">
                <a:solidFill>
                  <a:srgbClr val="D9D9D9"/>
                </a:solidFill>
                <a:latin typeface="Calibri"/>
                <a:cs typeface="Calibri"/>
              </a:rPr>
              <a:t> </a:t>
            </a:r>
            <a:r>
              <a:rPr sz="2400" b="1" dirty="0">
                <a:solidFill>
                  <a:srgbClr val="D9D9D9"/>
                </a:solidFill>
                <a:latin typeface="Calibri"/>
                <a:cs typeface="Calibri"/>
              </a:rPr>
              <a:t>non-relational</a:t>
            </a:r>
            <a:r>
              <a:rPr sz="2400" b="1" spc="-53" dirty="0">
                <a:solidFill>
                  <a:srgbClr val="D9D9D9"/>
                </a:solidFill>
                <a:latin typeface="Calibri"/>
                <a:cs typeface="Calibri"/>
              </a:rPr>
              <a:t> </a:t>
            </a:r>
            <a:r>
              <a:rPr sz="2400" b="1" dirty="0">
                <a:solidFill>
                  <a:srgbClr val="D9D9D9"/>
                </a:solidFill>
                <a:latin typeface="Calibri"/>
                <a:cs typeface="Calibri"/>
              </a:rPr>
              <a:t>in</a:t>
            </a:r>
            <a:r>
              <a:rPr sz="2400" b="1" spc="-13" dirty="0">
                <a:solidFill>
                  <a:srgbClr val="D9D9D9"/>
                </a:solidFill>
                <a:latin typeface="Calibri"/>
                <a:cs typeface="Calibri"/>
              </a:rPr>
              <a:t> </a:t>
            </a:r>
            <a:r>
              <a:rPr sz="2400" b="1" dirty="0">
                <a:solidFill>
                  <a:srgbClr val="D9D9D9"/>
                </a:solidFill>
                <a:latin typeface="Calibri"/>
                <a:cs typeface="Calibri"/>
              </a:rPr>
              <a:t>Cube</a:t>
            </a:r>
            <a:r>
              <a:rPr sz="2400" b="1" spc="-40" dirty="0">
                <a:solidFill>
                  <a:srgbClr val="D9D9D9"/>
                </a:solidFill>
                <a:latin typeface="Calibri"/>
                <a:cs typeface="Calibri"/>
              </a:rPr>
              <a:t> </a:t>
            </a:r>
            <a:r>
              <a:rPr sz="2400" b="1" spc="-13" dirty="0">
                <a:solidFill>
                  <a:srgbClr val="D9D9D9"/>
                </a:solidFill>
                <a:latin typeface="Calibri"/>
                <a:cs typeface="Calibri"/>
              </a:rPr>
              <a:t>(MOLAP) 	</a:t>
            </a:r>
            <a:r>
              <a:rPr sz="2400" b="1" dirty="0">
                <a:solidFill>
                  <a:srgbClr val="D9D9D9"/>
                </a:solidFill>
                <a:latin typeface="Calibri"/>
                <a:cs typeface="Calibri"/>
              </a:rPr>
              <a:t>Cube</a:t>
            </a:r>
            <a:r>
              <a:rPr sz="2400" b="1" spc="-33" dirty="0">
                <a:solidFill>
                  <a:srgbClr val="D9D9D9"/>
                </a:solidFill>
                <a:latin typeface="Calibri"/>
                <a:cs typeface="Calibri"/>
              </a:rPr>
              <a:t> </a:t>
            </a:r>
            <a:r>
              <a:rPr sz="2400" b="1" dirty="0">
                <a:solidFill>
                  <a:srgbClr val="D9D9D9"/>
                </a:solidFill>
                <a:latin typeface="Calibri"/>
                <a:cs typeface="Calibri"/>
              </a:rPr>
              <a:t>=</a:t>
            </a:r>
            <a:r>
              <a:rPr sz="2400" b="1" spc="-13" dirty="0">
                <a:solidFill>
                  <a:srgbClr val="D9D9D9"/>
                </a:solidFill>
                <a:latin typeface="Calibri"/>
                <a:cs typeface="Calibri"/>
              </a:rPr>
              <a:t> </a:t>
            </a:r>
            <a:r>
              <a:rPr sz="2400" b="1" dirty="0">
                <a:solidFill>
                  <a:srgbClr val="D9D9D9"/>
                </a:solidFill>
                <a:latin typeface="Calibri"/>
                <a:cs typeface="Calibri"/>
              </a:rPr>
              <a:t>Multidimensial</a:t>
            </a:r>
            <a:r>
              <a:rPr sz="2400" b="1" spc="-53" dirty="0">
                <a:solidFill>
                  <a:srgbClr val="D9D9D9"/>
                </a:solidFill>
                <a:latin typeface="Calibri"/>
                <a:cs typeface="Calibri"/>
              </a:rPr>
              <a:t> </a:t>
            </a:r>
            <a:r>
              <a:rPr sz="2400" b="1" spc="-13" dirty="0">
                <a:solidFill>
                  <a:srgbClr val="D9D9D9"/>
                </a:solidFill>
                <a:latin typeface="Calibri"/>
                <a:cs typeface="Calibri"/>
              </a:rPr>
              <a:t>dataset</a:t>
            </a:r>
            <a:endParaRPr sz="2400" dirty="0">
              <a:latin typeface="Calibri"/>
              <a:cs typeface="Calibri"/>
            </a:endParaRPr>
          </a:p>
          <a:p>
            <a:pPr marL="423323" indent="-380990">
              <a:spcBef>
                <a:spcPts val="2020"/>
              </a:spcBef>
              <a:buClr>
                <a:srgbClr val="99D3FF"/>
              </a:buClr>
              <a:buFont typeface="Wingdings"/>
              <a:buChar char=""/>
              <a:tabLst>
                <a:tab pos="423323" algn="l"/>
              </a:tabLst>
            </a:pPr>
            <a:r>
              <a:rPr sz="2400" b="1" dirty="0">
                <a:solidFill>
                  <a:srgbClr val="D9D9D9"/>
                </a:solidFill>
                <a:latin typeface="Calibri"/>
                <a:cs typeface="Calibri"/>
              </a:rPr>
              <a:t>Arrays</a:t>
            </a:r>
            <a:r>
              <a:rPr sz="2400" b="1" spc="-40" dirty="0">
                <a:solidFill>
                  <a:srgbClr val="D9D9D9"/>
                </a:solidFill>
                <a:latin typeface="Calibri"/>
                <a:cs typeface="Calibri"/>
              </a:rPr>
              <a:t> </a:t>
            </a:r>
            <a:r>
              <a:rPr sz="2400" b="1" dirty="0">
                <a:solidFill>
                  <a:srgbClr val="D9D9D9"/>
                </a:solidFill>
                <a:latin typeface="Calibri"/>
                <a:cs typeface="Calibri"/>
              </a:rPr>
              <a:t>instead</a:t>
            </a:r>
            <a:r>
              <a:rPr sz="2400" b="1" spc="-53" dirty="0">
                <a:solidFill>
                  <a:srgbClr val="D9D9D9"/>
                </a:solidFill>
                <a:latin typeface="Calibri"/>
                <a:cs typeface="Calibri"/>
              </a:rPr>
              <a:t> </a:t>
            </a:r>
            <a:r>
              <a:rPr sz="2400" b="1" dirty="0">
                <a:solidFill>
                  <a:srgbClr val="D9D9D9"/>
                </a:solidFill>
                <a:latin typeface="Calibri"/>
                <a:cs typeface="Calibri"/>
              </a:rPr>
              <a:t>of</a:t>
            </a:r>
            <a:r>
              <a:rPr sz="2400" b="1" spc="-13" dirty="0">
                <a:solidFill>
                  <a:srgbClr val="D9D9D9"/>
                </a:solidFill>
                <a:latin typeface="Calibri"/>
                <a:cs typeface="Calibri"/>
              </a:rPr>
              <a:t> tables</a:t>
            </a:r>
            <a:endParaRPr sz="2400" dirty="0">
              <a:latin typeface="Calibri"/>
              <a:cs typeface="Calibri"/>
            </a:endParaRPr>
          </a:p>
          <a:p>
            <a:pPr marL="423323" indent="-380990">
              <a:spcBef>
                <a:spcPts val="2820"/>
              </a:spcBef>
              <a:buClr>
                <a:srgbClr val="99D3FF"/>
              </a:buClr>
              <a:buFont typeface="Wingdings"/>
              <a:buChar char=""/>
              <a:tabLst>
                <a:tab pos="423323" algn="l"/>
              </a:tabLst>
            </a:pPr>
            <a:r>
              <a:rPr sz="2400" b="1" dirty="0">
                <a:solidFill>
                  <a:srgbClr val="D9D9D9"/>
                </a:solidFill>
                <a:latin typeface="Calibri"/>
                <a:cs typeface="Calibri"/>
              </a:rPr>
              <a:t>Main</a:t>
            </a:r>
            <a:r>
              <a:rPr sz="2400" b="1" spc="-27" dirty="0">
                <a:solidFill>
                  <a:srgbClr val="D9D9D9"/>
                </a:solidFill>
                <a:latin typeface="Calibri"/>
                <a:cs typeface="Calibri"/>
              </a:rPr>
              <a:t> </a:t>
            </a:r>
            <a:r>
              <a:rPr sz="2400" b="1" dirty="0">
                <a:solidFill>
                  <a:srgbClr val="D9D9D9"/>
                </a:solidFill>
                <a:latin typeface="Calibri"/>
                <a:cs typeface="Calibri"/>
              </a:rPr>
              <a:t>reason</a:t>
            </a:r>
            <a:r>
              <a:rPr sz="2400" b="1" spc="-47" dirty="0">
                <a:solidFill>
                  <a:srgbClr val="D9D9D9"/>
                </a:solidFill>
                <a:latin typeface="Calibri"/>
                <a:cs typeface="Calibri"/>
              </a:rPr>
              <a:t> </a:t>
            </a:r>
            <a:r>
              <a:rPr sz="2400" b="1" dirty="0">
                <a:solidFill>
                  <a:srgbClr val="D9D9D9"/>
                </a:solidFill>
                <a:latin typeface="Calibri"/>
                <a:cs typeface="Calibri"/>
              </a:rPr>
              <a:t>to use:</a:t>
            </a:r>
            <a:r>
              <a:rPr sz="2400" b="1" spc="-27" dirty="0">
                <a:solidFill>
                  <a:srgbClr val="D9D9D9"/>
                </a:solidFill>
                <a:latin typeface="Calibri"/>
                <a:cs typeface="Calibri"/>
              </a:rPr>
              <a:t> </a:t>
            </a:r>
            <a:r>
              <a:rPr sz="2400" b="1" dirty="0">
                <a:solidFill>
                  <a:srgbClr val="D9D9D9"/>
                </a:solidFill>
                <a:latin typeface="Calibri"/>
                <a:cs typeface="Calibri"/>
              </a:rPr>
              <a:t>Fast</a:t>
            </a:r>
            <a:r>
              <a:rPr sz="2400" b="1" spc="-13" dirty="0">
                <a:solidFill>
                  <a:srgbClr val="D9D9D9"/>
                </a:solidFill>
                <a:latin typeface="Calibri"/>
                <a:cs typeface="Calibri"/>
              </a:rPr>
              <a:t> </a:t>
            </a:r>
            <a:r>
              <a:rPr sz="2400" b="1" dirty="0">
                <a:solidFill>
                  <a:srgbClr val="D9D9D9"/>
                </a:solidFill>
                <a:latin typeface="Calibri"/>
                <a:cs typeface="Calibri"/>
              </a:rPr>
              <a:t>query</a:t>
            </a:r>
            <a:r>
              <a:rPr sz="2400" b="1" spc="-33" dirty="0">
                <a:solidFill>
                  <a:srgbClr val="D9D9D9"/>
                </a:solidFill>
                <a:latin typeface="Calibri"/>
                <a:cs typeface="Calibri"/>
              </a:rPr>
              <a:t> </a:t>
            </a:r>
            <a:r>
              <a:rPr sz="2400" b="1" spc="-13" dirty="0">
                <a:solidFill>
                  <a:srgbClr val="D9D9D9"/>
                </a:solidFill>
                <a:latin typeface="Calibri"/>
                <a:cs typeface="Calibri"/>
              </a:rPr>
              <a:t>performance</a:t>
            </a:r>
            <a:endParaRPr sz="2400" dirty="0">
              <a:latin typeface="Calibri"/>
              <a:cs typeface="Calibri"/>
            </a:endParaRPr>
          </a:p>
          <a:p>
            <a:pPr>
              <a:spcBef>
                <a:spcPts val="120"/>
              </a:spcBef>
              <a:buClr>
                <a:srgbClr val="99D3FF"/>
              </a:buClr>
              <a:buFont typeface="Wingdings"/>
              <a:buChar char=""/>
            </a:pPr>
            <a:endParaRPr sz="2400" dirty="0">
              <a:latin typeface="Calibri"/>
              <a:cs typeface="Calibri"/>
            </a:endParaRPr>
          </a:p>
          <a:p>
            <a:pPr marL="397923" indent="-380990">
              <a:buClr>
                <a:srgbClr val="99D3FF"/>
              </a:buClr>
              <a:buFont typeface="Wingdings"/>
              <a:buChar char=""/>
              <a:tabLst>
                <a:tab pos="397923" algn="l"/>
              </a:tabLst>
            </a:pPr>
            <a:r>
              <a:rPr sz="2400" b="1" dirty="0">
                <a:solidFill>
                  <a:srgbClr val="D9D9D9"/>
                </a:solidFill>
                <a:latin typeface="Calibri"/>
                <a:cs typeface="Calibri"/>
              </a:rPr>
              <a:t>Works</a:t>
            </a:r>
            <a:r>
              <a:rPr sz="2400" b="1" spc="-13" dirty="0">
                <a:solidFill>
                  <a:srgbClr val="D9D9D9"/>
                </a:solidFill>
                <a:latin typeface="Calibri"/>
                <a:cs typeface="Calibri"/>
              </a:rPr>
              <a:t> </a:t>
            </a:r>
            <a:r>
              <a:rPr sz="2400" b="1" dirty="0">
                <a:solidFill>
                  <a:srgbClr val="D9D9D9"/>
                </a:solidFill>
                <a:latin typeface="Calibri"/>
                <a:cs typeface="Calibri"/>
              </a:rPr>
              <a:t>well</a:t>
            </a:r>
            <a:r>
              <a:rPr sz="2400" b="1" spc="-27" dirty="0">
                <a:solidFill>
                  <a:srgbClr val="D9D9D9"/>
                </a:solidFill>
                <a:latin typeface="Calibri"/>
                <a:cs typeface="Calibri"/>
              </a:rPr>
              <a:t> </a:t>
            </a:r>
            <a:r>
              <a:rPr sz="2400" b="1" dirty="0">
                <a:solidFill>
                  <a:srgbClr val="D9D9D9"/>
                </a:solidFill>
                <a:latin typeface="Calibri"/>
                <a:cs typeface="Calibri"/>
              </a:rPr>
              <a:t>with many</a:t>
            </a:r>
            <a:r>
              <a:rPr sz="2400" b="1" spc="-13" dirty="0">
                <a:solidFill>
                  <a:srgbClr val="D9D9D9"/>
                </a:solidFill>
                <a:latin typeface="Calibri"/>
                <a:cs typeface="Calibri"/>
              </a:rPr>
              <a:t> </a:t>
            </a:r>
            <a:r>
              <a:rPr sz="2400" b="1" dirty="0">
                <a:solidFill>
                  <a:srgbClr val="D9D9D9"/>
                </a:solidFill>
                <a:latin typeface="Calibri"/>
                <a:cs typeface="Calibri"/>
              </a:rPr>
              <a:t>BI </a:t>
            </a:r>
            <a:r>
              <a:rPr sz="2400" b="1" spc="-13" dirty="0">
                <a:solidFill>
                  <a:srgbClr val="D9D9D9"/>
                </a:solidFill>
                <a:latin typeface="Calibri"/>
                <a:cs typeface="Calibri"/>
              </a:rPr>
              <a:t>solutions</a:t>
            </a:r>
            <a:endParaRPr sz="2400" dirty="0">
              <a:latin typeface="Calibri"/>
              <a:cs typeface="Calibri"/>
            </a:endParaRPr>
          </a:p>
        </p:txBody>
      </p:sp>
      <p:sp>
        <p:nvSpPr>
          <p:cNvPr id="4" name="TextBox 3">
            <a:extLst>
              <a:ext uri="{FF2B5EF4-FFF2-40B4-BE49-F238E27FC236}">
                <a16:creationId xmlns:a16="http://schemas.microsoft.com/office/drawing/2014/main" id="{C837A50C-16B5-38C2-D35F-5959E1722225}"/>
              </a:ext>
            </a:extLst>
          </p:cNvPr>
          <p:cNvSpPr txBox="1"/>
          <p:nvPr/>
        </p:nvSpPr>
        <p:spPr>
          <a:xfrm>
            <a:off x="3047172" y="226398"/>
            <a:ext cx="6097656" cy="769441"/>
          </a:xfrm>
          <a:prstGeom prst="rect">
            <a:avLst/>
          </a:prstGeom>
          <a:noFill/>
        </p:spPr>
        <p:txBody>
          <a:bodyPr wrap="square">
            <a:spAutoFit/>
          </a:bodyPr>
          <a:lstStyle/>
          <a:p>
            <a:pPr algn="ctr"/>
            <a:r>
              <a:rPr lang="en-IN" sz="4400" dirty="0">
                <a:solidFill>
                  <a:schemeClr val="bg1"/>
                </a:solidFill>
              </a:rPr>
              <a:t>OLAP Cube</a:t>
            </a:r>
            <a:endParaRPr lang="en-IN" sz="44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574288" y="946911"/>
            <a:ext cx="5428486" cy="5428488"/>
            <a:chOff x="2680715" y="710183"/>
            <a:chExt cx="4071365" cy="4071366"/>
          </a:xfrm>
        </p:grpSpPr>
        <p:pic>
          <p:nvPicPr>
            <p:cNvPr id="4" name="object 4"/>
            <p:cNvPicPr/>
            <p:nvPr/>
          </p:nvPicPr>
          <p:blipFill>
            <a:blip r:embed="rId2" cstate="print"/>
            <a:stretch>
              <a:fillRect/>
            </a:stretch>
          </p:blipFill>
          <p:spPr>
            <a:xfrm>
              <a:off x="2680715" y="710183"/>
              <a:ext cx="4071365" cy="4071366"/>
            </a:xfrm>
            <a:prstGeom prst="rect">
              <a:avLst/>
            </a:prstGeom>
          </p:spPr>
        </p:pic>
        <p:pic>
          <p:nvPicPr>
            <p:cNvPr id="5" name="object 5"/>
            <p:cNvPicPr/>
            <p:nvPr/>
          </p:nvPicPr>
          <p:blipFill>
            <a:blip r:embed="rId3" cstate="print"/>
            <a:stretch>
              <a:fillRect/>
            </a:stretch>
          </p:blipFill>
          <p:spPr>
            <a:xfrm>
              <a:off x="3345814" y="1885822"/>
              <a:ext cx="769112" cy="478789"/>
            </a:xfrm>
            <a:prstGeom prst="rect">
              <a:avLst/>
            </a:prstGeom>
          </p:spPr>
        </p:pic>
        <p:sp>
          <p:nvSpPr>
            <p:cNvPr id="6" name="object 6"/>
            <p:cNvSpPr/>
            <p:nvPr/>
          </p:nvSpPr>
          <p:spPr>
            <a:xfrm>
              <a:off x="5216144" y="2102612"/>
              <a:ext cx="460375" cy="285750"/>
            </a:xfrm>
            <a:custGeom>
              <a:avLst/>
              <a:gdLst/>
              <a:ahLst/>
              <a:cxnLst/>
              <a:rect l="l" t="t" r="r" b="b"/>
              <a:pathLst>
                <a:path w="460375" h="285750">
                  <a:moveTo>
                    <a:pt x="79241" y="184150"/>
                  </a:moveTo>
                  <a:lnTo>
                    <a:pt x="44957" y="184150"/>
                  </a:lnTo>
                  <a:lnTo>
                    <a:pt x="102488" y="284480"/>
                  </a:lnTo>
                  <a:lnTo>
                    <a:pt x="102869" y="285750"/>
                  </a:lnTo>
                  <a:lnTo>
                    <a:pt x="109600" y="285750"/>
                  </a:lnTo>
                  <a:lnTo>
                    <a:pt x="111251" y="284480"/>
                  </a:lnTo>
                  <a:lnTo>
                    <a:pt x="113029" y="284480"/>
                  </a:lnTo>
                  <a:lnTo>
                    <a:pt x="115188" y="283210"/>
                  </a:lnTo>
                  <a:lnTo>
                    <a:pt x="117601" y="281939"/>
                  </a:lnTo>
                  <a:lnTo>
                    <a:pt x="120141" y="280669"/>
                  </a:lnTo>
                  <a:lnTo>
                    <a:pt x="122046" y="279400"/>
                  </a:lnTo>
                  <a:lnTo>
                    <a:pt x="123697" y="278130"/>
                  </a:lnTo>
                  <a:lnTo>
                    <a:pt x="125221" y="276860"/>
                  </a:lnTo>
                  <a:lnTo>
                    <a:pt x="126364" y="275589"/>
                  </a:lnTo>
                  <a:lnTo>
                    <a:pt x="127888" y="274319"/>
                  </a:lnTo>
                  <a:lnTo>
                    <a:pt x="128396" y="273050"/>
                  </a:lnTo>
                  <a:lnTo>
                    <a:pt x="128523" y="271780"/>
                  </a:lnTo>
                  <a:lnTo>
                    <a:pt x="128650" y="271780"/>
                  </a:lnTo>
                  <a:lnTo>
                    <a:pt x="128523" y="270510"/>
                  </a:lnTo>
                  <a:lnTo>
                    <a:pt x="128142" y="270510"/>
                  </a:lnTo>
                  <a:lnTo>
                    <a:pt x="79241" y="184150"/>
                  </a:lnTo>
                  <a:close/>
                </a:path>
                <a:path w="460375" h="285750">
                  <a:moveTo>
                    <a:pt x="181863" y="243839"/>
                  </a:moveTo>
                  <a:lnTo>
                    <a:pt x="178688" y="243839"/>
                  </a:lnTo>
                  <a:lnTo>
                    <a:pt x="179577" y="245110"/>
                  </a:lnTo>
                  <a:lnTo>
                    <a:pt x="181863" y="243839"/>
                  </a:lnTo>
                  <a:close/>
                </a:path>
                <a:path w="460375" h="285750">
                  <a:moveTo>
                    <a:pt x="151764" y="142239"/>
                  </a:moveTo>
                  <a:lnTo>
                    <a:pt x="143382" y="142239"/>
                  </a:lnTo>
                  <a:lnTo>
                    <a:pt x="141731" y="143510"/>
                  </a:lnTo>
                  <a:lnTo>
                    <a:pt x="139700" y="144780"/>
                  </a:lnTo>
                  <a:lnTo>
                    <a:pt x="134873" y="147319"/>
                  </a:lnTo>
                  <a:lnTo>
                    <a:pt x="132968" y="148589"/>
                  </a:lnTo>
                  <a:lnTo>
                    <a:pt x="131571" y="148589"/>
                  </a:lnTo>
                  <a:lnTo>
                    <a:pt x="130047" y="149860"/>
                  </a:lnTo>
                  <a:lnTo>
                    <a:pt x="129031" y="151130"/>
                  </a:lnTo>
                  <a:lnTo>
                    <a:pt x="127507" y="152400"/>
                  </a:lnTo>
                  <a:lnTo>
                    <a:pt x="127126" y="153669"/>
                  </a:lnTo>
                  <a:lnTo>
                    <a:pt x="127000" y="154939"/>
                  </a:lnTo>
                  <a:lnTo>
                    <a:pt x="126872" y="154939"/>
                  </a:lnTo>
                  <a:lnTo>
                    <a:pt x="127000" y="156210"/>
                  </a:lnTo>
                  <a:lnTo>
                    <a:pt x="127380" y="156210"/>
                  </a:lnTo>
                  <a:lnTo>
                    <a:pt x="176529" y="242569"/>
                  </a:lnTo>
                  <a:lnTo>
                    <a:pt x="176910" y="243839"/>
                  </a:lnTo>
                  <a:lnTo>
                    <a:pt x="183260" y="243839"/>
                  </a:lnTo>
                  <a:lnTo>
                    <a:pt x="186562" y="242569"/>
                  </a:lnTo>
                  <a:lnTo>
                    <a:pt x="188594" y="241300"/>
                  </a:lnTo>
                  <a:lnTo>
                    <a:pt x="190880" y="240030"/>
                  </a:lnTo>
                  <a:lnTo>
                    <a:pt x="193293" y="238760"/>
                  </a:lnTo>
                  <a:lnTo>
                    <a:pt x="196722" y="236219"/>
                  </a:lnTo>
                  <a:lnTo>
                    <a:pt x="198119" y="234950"/>
                  </a:lnTo>
                  <a:lnTo>
                    <a:pt x="199262" y="233680"/>
                  </a:lnTo>
                  <a:lnTo>
                    <a:pt x="200025" y="233680"/>
                  </a:lnTo>
                  <a:lnTo>
                    <a:pt x="200786" y="232410"/>
                  </a:lnTo>
                  <a:lnTo>
                    <a:pt x="201167" y="231139"/>
                  </a:lnTo>
                  <a:lnTo>
                    <a:pt x="201294" y="229869"/>
                  </a:lnTo>
                  <a:lnTo>
                    <a:pt x="200913" y="228600"/>
                  </a:lnTo>
                  <a:lnTo>
                    <a:pt x="151764" y="142239"/>
                  </a:lnTo>
                  <a:close/>
                </a:path>
                <a:path w="460375" h="285750">
                  <a:moveTo>
                    <a:pt x="229742" y="215900"/>
                  </a:moveTo>
                  <a:lnTo>
                    <a:pt x="226440" y="215900"/>
                  </a:lnTo>
                  <a:lnTo>
                    <a:pt x="227710" y="217169"/>
                  </a:lnTo>
                  <a:lnTo>
                    <a:pt x="228600" y="217169"/>
                  </a:lnTo>
                  <a:lnTo>
                    <a:pt x="229742" y="215900"/>
                  </a:lnTo>
                  <a:close/>
                </a:path>
                <a:path w="460375" h="285750">
                  <a:moveTo>
                    <a:pt x="196722" y="115569"/>
                  </a:moveTo>
                  <a:lnTo>
                    <a:pt x="189864" y="115569"/>
                  </a:lnTo>
                  <a:lnTo>
                    <a:pt x="188340" y="116839"/>
                  </a:lnTo>
                  <a:lnTo>
                    <a:pt x="186562" y="116839"/>
                  </a:lnTo>
                  <a:lnTo>
                    <a:pt x="182498" y="119380"/>
                  </a:lnTo>
                  <a:lnTo>
                    <a:pt x="180975" y="120650"/>
                  </a:lnTo>
                  <a:lnTo>
                    <a:pt x="178434" y="123189"/>
                  </a:lnTo>
                  <a:lnTo>
                    <a:pt x="177545" y="123189"/>
                  </a:lnTo>
                  <a:lnTo>
                    <a:pt x="176148" y="125730"/>
                  </a:lnTo>
                  <a:lnTo>
                    <a:pt x="175894" y="125730"/>
                  </a:lnTo>
                  <a:lnTo>
                    <a:pt x="175894" y="128269"/>
                  </a:lnTo>
                  <a:lnTo>
                    <a:pt x="176275" y="128269"/>
                  </a:lnTo>
                  <a:lnTo>
                    <a:pt x="225551" y="214630"/>
                  </a:lnTo>
                  <a:lnTo>
                    <a:pt x="225932" y="215900"/>
                  </a:lnTo>
                  <a:lnTo>
                    <a:pt x="232282" y="215900"/>
                  </a:lnTo>
                  <a:lnTo>
                    <a:pt x="233933" y="214630"/>
                  </a:lnTo>
                  <a:lnTo>
                    <a:pt x="235584" y="214630"/>
                  </a:lnTo>
                  <a:lnTo>
                    <a:pt x="237489" y="213360"/>
                  </a:lnTo>
                  <a:lnTo>
                    <a:pt x="248284" y="205739"/>
                  </a:lnTo>
                  <a:lnTo>
                    <a:pt x="249808" y="204469"/>
                  </a:lnTo>
                  <a:lnTo>
                    <a:pt x="250189" y="203200"/>
                  </a:lnTo>
                  <a:lnTo>
                    <a:pt x="250316" y="201930"/>
                  </a:lnTo>
                  <a:lnTo>
                    <a:pt x="249935" y="200660"/>
                  </a:lnTo>
                  <a:lnTo>
                    <a:pt x="217169" y="143510"/>
                  </a:lnTo>
                  <a:lnTo>
                    <a:pt x="218185" y="137160"/>
                  </a:lnTo>
                  <a:lnTo>
                    <a:pt x="219455" y="132080"/>
                  </a:lnTo>
                  <a:lnTo>
                    <a:pt x="221233" y="128269"/>
                  </a:lnTo>
                  <a:lnTo>
                    <a:pt x="221784" y="127000"/>
                  </a:lnTo>
                  <a:lnTo>
                    <a:pt x="202818" y="127000"/>
                  </a:lnTo>
                  <a:lnTo>
                    <a:pt x="197103" y="116839"/>
                  </a:lnTo>
                  <a:lnTo>
                    <a:pt x="196722" y="115569"/>
                  </a:lnTo>
                  <a:close/>
                </a:path>
                <a:path w="460375" h="285750">
                  <a:moveTo>
                    <a:pt x="92709" y="129539"/>
                  </a:moveTo>
                  <a:lnTo>
                    <a:pt x="90169" y="129539"/>
                  </a:lnTo>
                  <a:lnTo>
                    <a:pt x="1650" y="180339"/>
                  </a:lnTo>
                  <a:lnTo>
                    <a:pt x="1015" y="180339"/>
                  </a:lnTo>
                  <a:lnTo>
                    <a:pt x="0" y="182880"/>
                  </a:lnTo>
                  <a:lnTo>
                    <a:pt x="126" y="184150"/>
                  </a:lnTo>
                  <a:lnTo>
                    <a:pt x="253" y="185419"/>
                  </a:lnTo>
                  <a:lnTo>
                    <a:pt x="634" y="186689"/>
                  </a:lnTo>
                  <a:lnTo>
                    <a:pt x="1904" y="189230"/>
                  </a:lnTo>
                  <a:lnTo>
                    <a:pt x="2666" y="191769"/>
                  </a:lnTo>
                  <a:lnTo>
                    <a:pt x="5841" y="196850"/>
                  </a:lnTo>
                  <a:lnTo>
                    <a:pt x="6857" y="198119"/>
                  </a:lnTo>
                  <a:lnTo>
                    <a:pt x="7746" y="199389"/>
                  </a:lnTo>
                  <a:lnTo>
                    <a:pt x="8508" y="199389"/>
                  </a:lnTo>
                  <a:lnTo>
                    <a:pt x="9397" y="200660"/>
                  </a:lnTo>
                  <a:lnTo>
                    <a:pt x="10159" y="201930"/>
                  </a:lnTo>
                  <a:lnTo>
                    <a:pt x="13461" y="201930"/>
                  </a:lnTo>
                  <a:lnTo>
                    <a:pt x="44957" y="184150"/>
                  </a:lnTo>
                  <a:lnTo>
                    <a:pt x="79241" y="184150"/>
                  </a:lnTo>
                  <a:lnTo>
                    <a:pt x="70611" y="168910"/>
                  </a:lnTo>
                  <a:lnTo>
                    <a:pt x="101980" y="151130"/>
                  </a:lnTo>
                  <a:lnTo>
                    <a:pt x="102615" y="151130"/>
                  </a:lnTo>
                  <a:lnTo>
                    <a:pt x="102996" y="149860"/>
                  </a:lnTo>
                  <a:lnTo>
                    <a:pt x="103504" y="148589"/>
                  </a:lnTo>
                  <a:lnTo>
                    <a:pt x="103377" y="146050"/>
                  </a:lnTo>
                  <a:lnTo>
                    <a:pt x="102996" y="144780"/>
                  </a:lnTo>
                  <a:lnTo>
                    <a:pt x="100964" y="140969"/>
                  </a:lnTo>
                  <a:lnTo>
                    <a:pt x="99821" y="138430"/>
                  </a:lnTo>
                  <a:lnTo>
                    <a:pt x="98805" y="137160"/>
                  </a:lnTo>
                  <a:lnTo>
                    <a:pt x="97789" y="134619"/>
                  </a:lnTo>
                  <a:lnTo>
                    <a:pt x="96773" y="133350"/>
                  </a:lnTo>
                  <a:lnTo>
                    <a:pt x="95884" y="132080"/>
                  </a:lnTo>
                  <a:lnTo>
                    <a:pt x="94995" y="132080"/>
                  </a:lnTo>
                  <a:lnTo>
                    <a:pt x="93471" y="130810"/>
                  </a:lnTo>
                  <a:lnTo>
                    <a:pt x="92709" y="129539"/>
                  </a:lnTo>
                  <a:close/>
                </a:path>
                <a:path w="460375" h="285750">
                  <a:moveTo>
                    <a:pt x="277452" y="118110"/>
                  </a:moveTo>
                  <a:lnTo>
                    <a:pt x="239521" y="118110"/>
                  </a:lnTo>
                  <a:lnTo>
                    <a:pt x="241680" y="119380"/>
                  </a:lnTo>
                  <a:lnTo>
                    <a:pt x="245744" y="121919"/>
                  </a:lnTo>
                  <a:lnTo>
                    <a:pt x="249554" y="125730"/>
                  </a:lnTo>
                  <a:lnTo>
                    <a:pt x="251332" y="128269"/>
                  </a:lnTo>
                  <a:lnTo>
                    <a:pt x="282193" y="182880"/>
                  </a:lnTo>
                  <a:lnTo>
                    <a:pt x="282575" y="182880"/>
                  </a:lnTo>
                  <a:lnTo>
                    <a:pt x="283082" y="184150"/>
                  </a:lnTo>
                  <a:lnTo>
                    <a:pt x="288925" y="184150"/>
                  </a:lnTo>
                  <a:lnTo>
                    <a:pt x="292226" y="181610"/>
                  </a:lnTo>
                  <a:lnTo>
                    <a:pt x="294258" y="181610"/>
                  </a:lnTo>
                  <a:lnTo>
                    <a:pt x="296544" y="179069"/>
                  </a:lnTo>
                  <a:lnTo>
                    <a:pt x="298957" y="177800"/>
                  </a:lnTo>
                  <a:lnTo>
                    <a:pt x="300863" y="177800"/>
                  </a:lnTo>
                  <a:lnTo>
                    <a:pt x="302259" y="176530"/>
                  </a:lnTo>
                  <a:lnTo>
                    <a:pt x="303783" y="175260"/>
                  </a:lnTo>
                  <a:lnTo>
                    <a:pt x="304800" y="173989"/>
                  </a:lnTo>
                  <a:lnTo>
                    <a:pt x="305561" y="172719"/>
                  </a:lnTo>
                  <a:lnTo>
                    <a:pt x="306323" y="172719"/>
                  </a:lnTo>
                  <a:lnTo>
                    <a:pt x="306831" y="171450"/>
                  </a:lnTo>
                  <a:lnTo>
                    <a:pt x="306831" y="170180"/>
                  </a:lnTo>
                  <a:lnTo>
                    <a:pt x="306577" y="168910"/>
                  </a:lnTo>
                  <a:lnTo>
                    <a:pt x="277452" y="118110"/>
                  </a:lnTo>
                  <a:close/>
                </a:path>
                <a:path w="460375" h="285750">
                  <a:moveTo>
                    <a:pt x="333753" y="85089"/>
                  </a:moveTo>
                  <a:lnTo>
                    <a:pt x="294004" y="85089"/>
                  </a:lnTo>
                  <a:lnTo>
                    <a:pt x="296163" y="86360"/>
                  </a:lnTo>
                  <a:lnTo>
                    <a:pt x="298195" y="87630"/>
                  </a:lnTo>
                  <a:lnTo>
                    <a:pt x="300354" y="87630"/>
                  </a:lnTo>
                  <a:lnTo>
                    <a:pt x="302386" y="90169"/>
                  </a:lnTo>
                  <a:lnTo>
                    <a:pt x="304291" y="91439"/>
                  </a:lnTo>
                  <a:lnTo>
                    <a:pt x="306196" y="93980"/>
                  </a:lnTo>
                  <a:lnTo>
                    <a:pt x="307975" y="96519"/>
                  </a:lnTo>
                  <a:lnTo>
                    <a:pt x="338835" y="151130"/>
                  </a:lnTo>
                  <a:lnTo>
                    <a:pt x="339725" y="151130"/>
                  </a:lnTo>
                  <a:lnTo>
                    <a:pt x="340359" y="152400"/>
                  </a:lnTo>
                  <a:lnTo>
                    <a:pt x="344042" y="152400"/>
                  </a:lnTo>
                  <a:lnTo>
                    <a:pt x="345439" y="151130"/>
                  </a:lnTo>
                  <a:lnTo>
                    <a:pt x="348741" y="149860"/>
                  </a:lnTo>
                  <a:lnTo>
                    <a:pt x="350773" y="148589"/>
                  </a:lnTo>
                  <a:lnTo>
                    <a:pt x="353313" y="147319"/>
                  </a:lnTo>
                  <a:lnTo>
                    <a:pt x="355600" y="146050"/>
                  </a:lnTo>
                  <a:lnTo>
                    <a:pt x="357631" y="144780"/>
                  </a:lnTo>
                  <a:lnTo>
                    <a:pt x="359028" y="143510"/>
                  </a:lnTo>
                  <a:lnTo>
                    <a:pt x="360552" y="142239"/>
                  </a:lnTo>
                  <a:lnTo>
                    <a:pt x="361568" y="142239"/>
                  </a:lnTo>
                  <a:lnTo>
                    <a:pt x="363092" y="139700"/>
                  </a:lnTo>
                  <a:lnTo>
                    <a:pt x="363473" y="139700"/>
                  </a:lnTo>
                  <a:lnTo>
                    <a:pt x="363600" y="138430"/>
                  </a:lnTo>
                  <a:lnTo>
                    <a:pt x="363600" y="137160"/>
                  </a:lnTo>
                  <a:lnTo>
                    <a:pt x="363219" y="137160"/>
                  </a:lnTo>
                  <a:lnTo>
                    <a:pt x="333753" y="85089"/>
                  </a:lnTo>
                  <a:close/>
                </a:path>
                <a:path w="460375" h="285750">
                  <a:moveTo>
                    <a:pt x="150875" y="140969"/>
                  </a:moveTo>
                  <a:lnTo>
                    <a:pt x="146430" y="140969"/>
                  </a:lnTo>
                  <a:lnTo>
                    <a:pt x="145033" y="142239"/>
                  </a:lnTo>
                  <a:lnTo>
                    <a:pt x="151510" y="142239"/>
                  </a:lnTo>
                  <a:lnTo>
                    <a:pt x="150875" y="140969"/>
                  </a:lnTo>
                  <a:close/>
                </a:path>
                <a:path w="460375" h="285750">
                  <a:moveTo>
                    <a:pt x="125348" y="102869"/>
                  </a:moveTo>
                  <a:lnTo>
                    <a:pt x="121157" y="104139"/>
                  </a:lnTo>
                  <a:lnTo>
                    <a:pt x="115696" y="107950"/>
                  </a:lnTo>
                  <a:lnTo>
                    <a:pt x="110235" y="110489"/>
                  </a:lnTo>
                  <a:lnTo>
                    <a:pt x="107060" y="114300"/>
                  </a:lnTo>
                  <a:lnTo>
                    <a:pt x="105282" y="119380"/>
                  </a:lnTo>
                  <a:lnTo>
                    <a:pt x="106171" y="123189"/>
                  </a:lnTo>
                  <a:lnTo>
                    <a:pt x="111759" y="133350"/>
                  </a:lnTo>
                  <a:lnTo>
                    <a:pt x="114553" y="135889"/>
                  </a:lnTo>
                  <a:lnTo>
                    <a:pt x="117475" y="137160"/>
                  </a:lnTo>
                  <a:lnTo>
                    <a:pt x="120395" y="137160"/>
                  </a:lnTo>
                  <a:lnTo>
                    <a:pt x="140588" y="120650"/>
                  </a:lnTo>
                  <a:lnTo>
                    <a:pt x="139700" y="116839"/>
                  </a:lnTo>
                  <a:lnTo>
                    <a:pt x="136905" y="111760"/>
                  </a:lnTo>
                  <a:lnTo>
                    <a:pt x="134238" y="107950"/>
                  </a:lnTo>
                  <a:lnTo>
                    <a:pt x="131317" y="104139"/>
                  </a:lnTo>
                  <a:lnTo>
                    <a:pt x="128396" y="104139"/>
                  </a:lnTo>
                  <a:lnTo>
                    <a:pt x="125348" y="102869"/>
                  </a:lnTo>
                  <a:close/>
                </a:path>
                <a:path w="460375" h="285750">
                  <a:moveTo>
                    <a:pt x="245871" y="88900"/>
                  </a:moveTo>
                  <a:lnTo>
                    <a:pt x="236727" y="88900"/>
                  </a:lnTo>
                  <a:lnTo>
                    <a:pt x="230123" y="91439"/>
                  </a:lnTo>
                  <a:lnTo>
                    <a:pt x="226694" y="92710"/>
                  </a:lnTo>
                  <a:lnTo>
                    <a:pt x="202818" y="127000"/>
                  </a:lnTo>
                  <a:lnTo>
                    <a:pt x="221784" y="127000"/>
                  </a:lnTo>
                  <a:lnTo>
                    <a:pt x="222884" y="124460"/>
                  </a:lnTo>
                  <a:lnTo>
                    <a:pt x="225170" y="121919"/>
                  </a:lnTo>
                  <a:lnTo>
                    <a:pt x="228218" y="119380"/>
                  </a:lnTo>
                  <a:lnTo>
                    <a:pt x="230504" y="118110"/>
                  </a:lnTo>
                  <a:lnTo>
                    <a:pt x="277452" y="118110"/>
                  </a:lnTo>
                  <a:lnTo>
                    <a:pt x="273811" y="111760"/>
                  </a:lnTo>
                  <a:lnTo>
                    <a:pt x="274827" y="105410"/>
                  </a:lnTo>
                  <a:lnTo>
                    <a:pt x="276225" y="100330"/>
                  </a:lnTo>
                  <a:lnTo>
                    <a:pt x="277875" y="96519"/>
                  </a:lnTo>
                  <a:lnTo>
                    <a:pt x="278288" y="95250"/>
                  </a:lnTo>
                  <a:lnTo>
                    <a:pt x="259206" y="95250"/>
                  </a:lnTo>
                  <a:lnTo>
                    <a:pt x="256793" y="92710"/>
                  </a:lnTo>
                  <a:lnTo>
                    <a:pt x="254253" y="91439"/>
                  </a:lnTo>
                  <a:lnTo>
                    <a:pt x="251459" y="90169"/>
                  </a:lnTo>
                  <a:lnTo>
                    <a:pt x="248792" y="90169"/>
                  </a:lnTo>
                  <a:lnTo>
                    <a:pt x="245871" y="88900"/>
                  </a:lnTo>
                  <a:close/>
                </a:path>
                <a:path w="460375" h="285750">
                  <a:moveTo>
                    <a:pt x="195071" y="114300"/>
                  </a:moveTo>
                  <a:lnTo>
                    <a:pt x="192404" y="114300"/>
                  </a:lnTo>
                  <a:lnTo>
                    <a:pt x="191261" y="115569"/>
                  </a:lnTo>
                  <a:lnTo>
                    <a:pt x="195706" y="115569"/>
                  </a:lnTo>
                  <a:lnTo>
                    <a:pt x="195071" y="114300"/>
                  </a:lnTo>
                  <a:close/>
                </a:path>
                <a:path w="460375" h="285750">
                  <a:moveTo>
                    <a:pt x="400557" y="0"/>
                  </a:moveTo>
                  <a:lnTo>
                    <a:pt x="361441" y="17780"/>
                  </a:lnTo>
                  <a:lnTo>
                    <a:pt x="348995" y="40639"/>
                  </a:lnTo>
                  <a:lnTo>
                    <a:pt x="347598" y="46989"/>
                  </a:lnTo>
                  <a:lnTo>
                    <a:pt x="347598" y="53339"/>
                  </a:lnTo>
                  <a:lnTo>
                    <a:pt x="350646" y="68580"/>
                  </a:lnTo>
                  <a:lnTo>
                    <a:pt x="378205" y="107950"/>
                  </a:lnTo>
                  <a:lnTo>
                    <a:pt x="402716" y="115569"/>
                  </a:lnTo>
                  <a:lnTo>
                    <a:pt x="416559" y="113030"/>
                  </a:lnTo>
                  <a:lnTo>
                    <a:pt x="423798" y="109219"/>
                  </a:lnTo>
                  <a:lnTo>
                    <a:pt x="431545" y="105410"/>
                  </a:lnTo>
                  <a:lnTo>
                    <a:pt x="451929" y="90169"/>
                  </a:lnTo>
                  <a:lnTo>
                    <a:pt x="404494" y="90169"/>
                  </a:lnTo>
                  <a:lnTo>
                    <a:pt x="401319" y="88900"/>
                  </a:lnTo>
                  <a:lnTo>
                    <a:pt x="398271" y="88900"/>
                  </a:lnTo>
                  <a:lnTo>
                    <a:pt x="395477" y="86360"/>
                  </a:lnTo>
                  <a:lnTo>
                    <a:pt x="392810" y="83819"/>
                  </a:lnTo>
                  <a:lnTo>
                    <a:pt x="390270" y="81280"/>
                  </a:lnTo>
                  <a:lnTo>
                    <a:pt x="387857" y="78739"/>
                  </a:lnTo>
                  <a:lnTo>
                    <a:pt x="385825" y="74930"/>
                  </a:lnTo>
                  <a:lnTo>
                    <a:pt x="414374" y="58419"/>
                  </a:lnTo>
                  <a:lnTo>
                    <a:pt x="376935" y="58419"/>
                  </a:lnTo>
                  <a:lnTo>
                    <a:pt x="375284" y="55880"/>
                  </a:lnTo>
                  <a:lnTo>
                    <a:pt x="374141" y="53339"/>
                  </a:lnTo>
                  <a:lnTo>
                    <a:pt x="372617" y="46989"/>
                  </a:lnTo>
                  <a:lnTo>
                    <a:pt x="372490" y="43180"/>
                  </a:lnTo>
                  <a:lnTo>
                    <a:pt x="373252" y="38100"/>
                  </a:lnTo>
                  <a:lnTo>
                    <a:pt x="374268" y="35560"/>
                  </a:lnTo>
                  <a:lnTo>
                    <a:pt x="377570" y="30480"/>
                  </a:lnTo>
                  <a:lnTo>
                    <a:pt x="379983" y="27939"/>
                  </a:lnTo>
                  <a:lnTo>
                    <a:pt x="383031" y="26669"/>
                  </a:lnTo>
                  <a:lnTo>
                    <a:pt x="389254" y="22860"/>
                  </a:lnTo>
                  <a:lnTo>
                    <a:pt x="394842" y="21589"/>
                  </a:lnTo>
                  <a:lnTo>
                    <a:pt x="435355" y="21589"/>
                  </a:lnTo>
                  <a:lnTo>
                    <a:pt x="431418" y="16510"/>
                  </a:lnTo>
                  <a:lnTo>
                    <a:pt x="426846" y="12700"/>
                  </a:lnTo>
                  <a:lnTo>
                    <a:pt x="422401" y="7619"/>
                  </a:lnTo>
                  <a:lnTo>
                    <a:pt x="417448" y="5080"/>
                  </a:lnTo>
                  <a:lnTo>
                    <a:pt x="406526" y="1269"/>
                  </a:lnTo>
                  <a:lnTo>
                    <a:pt x="400557" y="0"/>
                  </a:lnTo>
                  <a:close/>
                </a:path>
                <a:path w="460375" h="285750">
                  <a:moveTo>
                    <a:pt x="305942" y="57150"/>
                  </a:moveTo>
                  <a:lnTo>
                    <a:pt x="291083" y="57150"/>
                  </a:lnTo>
                  <a:lnTo>
                    <a:pt x="285750" y="58419"/>
                  </a:lnTo>
                  <a:lnTo>
                    <a:pt x="279907" y="62230"/>
                  </a:lnTo>
                  <a:lnTo>
                    <a:pt x="277367" y="63500"/>
                  </a:lnTo>
                  <a:lnTo>
                    <a:pt x="275081" y="64769"/>
                  </a:lnTo>
                  <a:lnTo>
                    <a:pt x="271017" y="69850"/>
                  </a:lnTo>
                  <a:lnTo>
                    <a:pt x="269113" y="71119"/>
                  </a:lnTo>
                  <a:lnTo>
                    <a:pt x="267334" y="74930"/>
                  </a:lnTo>
                  <a:lnTo>
                    <a:pt x="265683" y="76200"/>
                  </a:lnTo>
                  <a:lnTo>
                    <a:pt x="264159" y="80010"/>
                  </a:lnTo>
                  <a:lnTo>
                    <a:pt x="262763" y="83819"/>
                  </a:lnTo>
                  <a:lnTo>
                    <a:pt x="261492" y="86360"/>
                  </a:lnTo>
                  <a:lnTo>
                    <a:pt x="260222" y="90169"/>
                  </a:lnTo>
                  <a:lnTo>
                    <a:pt x="259206" y="95250"/>
                  </a:lnTo>
                  <a:lnTo>
                    <a:pt x="278288" y="95250"/>
                  </a:lnTo>
                  <a:lnTo>
                    <a:pt x="279526" y="91439"/>
                  </a:lnTo>
                  <a:lnTo>
                    <a:pt x="281813" y="88900"/>
                  </a:lnTo>
                  <a:lnTo>
                    <a:pt x="284733" y="87630"/>
                  </a:lnTo>
                  <a:lnTo>
                    <a:pt x="287146" y="86360"/>
                  </a:lnTo>
                  <a:lnTo>
                    <a:pt x="289432" y="85089"/>
                  </a:lnTo>
                  <a:lnTo>
                    <a:pt x="333753" y="85089"/>
                  </a:lnTo>
                  <a:lnTo>
                    <a:pt x="331596" y="81280"/>
                  </a:lnTo>
                  <a:lnTo>
                    <a:pt x="328802" y="76200"/>
                  </a:lnTo>
                  <a:lnTo>
                    <a:pt x="325627" y="72389"/>
                  </a:lnTo>
                  <a:lnTo>
                    <a:pt x="322071" y="68580"/>
                  </a:lnTo>
                  <a:lnTo>
                    <a:pt x="318515" y="63500"/>
                  </a:lnTo>
                  <a:lnTo>
                    <a:pt x="314578" y="60960"/>
                  </a:lnTo>
                  <a:lnTo>
                    <a:pt x="310260" y="59689"/>
                  </a:lnTo>
                  <a:lnTo>
                    <a:pt x="305942" y="57150"/>
                  </a:lnTo>
                  <a:close/>
                </a:path>
                <a:path w="460375" h="285750">
                  <a:moveTo>
                    <a:pt x="453770" y="63500"/>
                  </a:moveTo>
                  <a:lnTo>
                    <a:pt x="448182" y="63500"/>
                  </a:lnTo>
                  <a:lnTo>
                    <a:pt x="447166" y="64769"/>
                  </a:lnTo>
                  <a:lnTo>
                    <a:pt x="445896" y="66039"/>
                  </a:lnTo>
                  <a:lnTo>
                    <a:pt x="444753" y="67310"/>
                  </a:lnTo>
                  <a:lnTo>
                    <a:pt x="441197" y="71119"/>
                  </a:lnTo>
                  <a:lnTo>
                    <a:pt x="439292" y="73660"/>
                  </a:lnTo>
                  <a:lnTo>
                    <a:pt x="436879" y="76200"/>
                  </a:lnTo>
                  <a:lnTo>
                    <a:pt x="431038" y="80010"/>
                  </a:lnTo>
                  <a:lnTo>
                    <a:pt x="427481" y="82550"/>
                  </a:lnTo>
                  <a:lnTo>
                    <a:pt x="423290" y="85089"/>
                  </a:lnTo>
                  <a:lnTo>
                    <a:pt x="418972" y="87630"/>
                  </a:lnTo>
                  <a:lnTo>
                    <a:pt x="415163" y="88900"/>
                  </a:lnTo>
                  <a:lnTo>
                    <a:pt x="407796" y="90169"/>
                  </a:lnTo>
                  <a:lnTo>
                    <a:pt x="451929" y="90169"/>
                  </a:lnTo>
                  <a:lnTo>
                    <a:pt x="454405" y="87630"/>
                  </a:lnTo>
                  <a:lnTo>
                    <a:pt x="456438" y="85089"/>
                  </a:lnTo>
                  <a:lnTo>
                    <a:pt x="457834" y="83819"/>
                  </a:lnTo>
                  <a:lnTo>
                    <a:pt x="459231" y="81280"/>
                  </a:lnTo>
                  <a:lnTo>
                    <a:pt x="459993" y="80010"/>
                  </a:lnTo>
                  <a:lnTo>
                    <a:pt x="460247" y="80010"/>
                  </a:lnTo>
                  <a:lnTo>
                    <a:pt x="460375" y="78739"/>
                  </a:lnTo>
                  <a:lnTo>
                    <a:pt x="460375" y="77469"/>
                  </a:lnTo>
                  <a:lnTo>
                    <a:pt x="460247" y="76200"/>
                  </a:lnTo>
                  <a:lnTo>
                    <a:pt x="459739" y="74930"/>
                  </a:lnTo>
                  <a:lnTo>
                    <a:pt x="458850" y="72389"/>
                  </a:lnTo>
                  <a:lnTo>
                    <a:pt x="458342" y="71119"/>
                  </a:lnTo>
                  <a:lnTo>
                    <a:pt x="457707" y="71119"/>
                  </a:lnTo>
                  <a:lnTo>
                    <a:pt x="455929" y="67310"/>
                  </a:lnTo>
                  <a:lnTo>
                    <a:pt x="454405" y="64769"/>
                  </a:lnTo>
                  <a:lnTo>
                    <a:pt x="453770" y="63500"/>
                  </a:lnTo>
                  <a:close/>
                </a:path>
                <a:path w="460375" h="285750">
                  <a:moveTo>
                    <a:pt x="451865" y="62230"/>
                  </a:moveTo>
                  <a:lnTo>
                    <a:pt x="449706" y="62230"/>
                  </a:lnTo>
                  <a:lnTo>
                    <a:pt x="449198" y="63500"/>
                  </a:lnTo>
                  <a:lnTo>
                    <a:pt x="452500" y="63500"/>
                  </a:lnTo>
                  <a:lnTo>
                    <a:pt x="451865" y="62230"/>
                  </a:lnTo>
                  <a:close/>
                </a:path>
                <a:path w="460375" h="285750">
                  <a:moveTo>
                    <a:pt x="435355" y="21589"/>
                  </a:moveTo>
                  <a:lnTo>
                    <a:pt x="394842" y="21589"/>
                  </a:lnTo>
                  <a:lnTo>
                    <a:pt x="405256" y="26669"/>
                  </a:lnTo>
                  <a:lnTo>
                    <a:pt x="409701" y="31750"/>
                  </a:lnTo>
                  <a:lnTo>
                    <a:pt x="413384" y="38100"/>
                  </a:lnTo>
                  <a:lnTo>
                    <a:pt x="376935" y="58419"/>
                  </a:lnTo>
                  <a:lnTo>
                    <a:pt x="414374" y="58419"/>
                  </a:lnTo>
                  <a:lnTo>
                    <a:pt x="438530" y="44450"/>
                  </a:lnTo>
                  <a:lnTo>
                    <a:pt x="440816" y="43180"/>
                  </a:lnTo>
                  <a:lnTo>
                    <a:pt x="442213" y="41910"/>
                  </a:lnTo>
                  <a:lnTo>
                    <a:pt x="443229" y="36830"/>
                  </a:lnTo>
                  <a:lnTo>
                    <a:pt x="442721" y="34289"/>
                  </a:lnTo>
                  <a:lnTo>
                    <a:pt x="440943" y="31750"/>
                  </a:lnTo>
                  <a:lnTo>
                    <a:pt x="435355" y="21589"/>
                  </a:lnTo>
                  <a:close/>
                </a:path>
              </a:pathLst>
            </a:custGeom>
            <a:solidFill>
              <a:srgbClr val="252525"/>
            </a:solidFill>
          </p:spPr>
          <p:txBody>
            <a:bodyPr wrap="square" lIns="0" tIns="0" rIns="0" bIns="0" rtlCol="0"/>
            <a:lstStyle/>
            <a:p>
              <a:endParaRPr sz="2400"/>
            </a:p>
          </p:txBody>
        </p:sp>
      </p:grpSp>
      <p:sp>
        <p:nvSpPr>
          <p:cNvPr id="7" name="object 7"/>
          <p:cNvSpPr txBox="1"/>
          <p:nvPr/>
        </p:nvSpPr>
        <p:spPr>
          <a:xfrm>
            <a:off x="6166611" y="4119791"/>
            <a:ext cx="312073" cy="1383453"/>
          </a:xfrm>
          <a:prstGeom prst="rect">
            <a:avLst/>
          </a:prstGeom>
        </p:spPr>
        <p:txBody>
          <a:bodyPr vert="vert270" wrap="square" lIns="0" tIns="0" rIns="0" bIns="0" rtlCol="0">
            <a:spAutoFit/>
          </a:bodyPr>
          <a:lstStyle/>
          <a:p>
            <a:pPr marL="16933">
              <a:lnSpc>
                <a:spcPts val="2413"/>
              </a:lnSpc>
            </a:pPr>
            <a:r>
              <a:rPr sz="2400" b="1" spc="-13" dirty="0">
                <a:solidFill>
                  <a:srgbClr val="252525"/>
                </a:solidFill>
                <a:latin typeface="Calibri"/>
                <a:cs typeface="Calibri"/>
              </a:rPr>
              <a:t>Customers</a:t>
            </a:r>
            <a:endParaRPr sz="2400">
              <a:latin typeface="Calibri"/>
              <a:cs typeface="Calibri"/>
            </a:endParaRPr>
          </a:p>
        </p:txBody>
      </p:sp>
      <p:sp>
        <p:nvSpPr>
          <p:cNvPr id="8" name="TextBox 7">
            <a:extLst>
              <a:ext uri="{FF2B5EF4-FFF2-40B4-BE49-F238E27FC236}">
                <a16:creationId xmlns:a16="http://schemas.microsoft.com/office/drawing/2014/main" id="{BB8999C2-9F52-D496-A3EB-00BD65ABC118}"/>
              </a:ext>
            </a:extLst>
          </p:cNvPr>
          <p:cNvSpPr txBox="1"/>
          <p:nvPr/>
        </p:nvSpPr>
        <p:spPr>
          <a:xfrm>
            <a:off x="3047172" y="226398"/>
            <a:ext cx="6097656" cy="769441"/>
          </a:xfrm>
          <a:prstGeom prst="rect">
            <a:avLst/>
          </a:prstGeom>
          <a:noFill/>
        </p:spPr>
        <p:txBody>
          <a:bodyPr wrap="square">
            <a:spAutoFit/>
          </a:bodyPr>
          <a:lstStyle/>
          <a:p>
            <a:pPr algn="ctr"/>
            <a:r>
              <a:rPr lang="en-IN" sz="4400" dirty="0">
                <a:solidFill>
                  <a:schemeClr val="bg1"/>
                </a:solidFill>
              </a:rPr>
              <a:t>OLAP Cube</a:t>
            </a:r>
            <a:endParaRPr lang="en-IN" sz="4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472688" y="1024128"/>
            <a:ext cx="5428486" cy="5428488"/>
            <a:chOff x="2604515" y="768095"/>
            <a:chExt cx="4071365" cy="4071366"/>
          </a:xfrm>
        </p:grpSpPr>
        <p:pic>
          <p:nvPicPr>
            <p:cNvPr id="4" name="object 4"/>
            <p:cNvPicPr/>
            <p:nvPr/>
          </p:nvPicPr>
          <p:blipFill>
            <a:blip r:embed="rId2" cstate="print"/>
            <a:stretch>
              <a:fillRect/>
            </a:stretch>
          </p:blipFill>
          <p:spPr>
            <a:xfrm>
              <a:off x="2604515" y="768095"/>
              <a:ext cx="4071365" cy="4071366"/>
            </a:xfrm>
            <a:prstGeom prst="rect">
              <a:avLst/>
            </a:prstGeom>
          </p:spPr>
        </p:pic>
        <p:pic>
          <p:nvPicPr>
            <p:cNvPr id="5" name="object 5"/>
            <p:cNvPicPr/>
            <p:nvPr/>
          </p:nvPicPr>
          <p:blipFill>
            <a:blip r:embed="rId3" cstate="print"/>
            <a:stretch>
              <a:fillRect/>
            </a:stretch>
          </p:blipFill>
          <p:spPr>
            <a:xfrm>
              <a:off x="3301237" y="1971293"/>
              <a:ext cx="768858" cy="478790"/>
            </a:xfrm>
            <a:prstGeom prst="rect">
              <a:avLst/>
            </a:prstGeom>
          </p:spPr>
        </p:pic>
        <p:sp>
          <p:nvSpPr>
            <p:cNvPr id="6" name="object 6"/>
            <p:cNvSpPr/>
            <p:nvPr/>
          </p:nvSpPr>
          <p:spPr>
            <a:xfrm>
              <a:off x="5171439" y="2187956"/>
              <a:ext cx="461009" cy="285750"/>
            </a:xfrm>
            <a:custGeom>
              <a:avLst/>
              <a:gdLst/>
              <a:ahLst/>
              <a:cxnLst/>
              <a:rect l="l" t="t" r="r" b="b"/>
              <a:pathLst>
                <a:path w="461010" h="285750">
                  <a:moveTo>
                    <a:pt x="92837" y="129539"/>
                  </a:moveTo>
                  <a:lnTo>
                    <a:pt x="90805" y="129539"/>
                  </a:lnTo>
                  <a:lnTo>
                    <a:pt x="90170" y="130810"/>
                  </a:lnTo>
                  <a:lnTo>
                    <a:pt x="1650" y="180339"/>
                  </a:lnTo>
                  <a:lnTo>
                    <a:pt x="1015" y="180339"/>
                  </a:lnTo>
                  <a:lnTo>
                    <a:pt x="635" y="181610"/>
                  </a:lnTo>
                  <a:lnTo>
                    <a:pt x="381" y="181610"/>
                  </a:lnTo>
                  <a:lnTo>
                    <a:pt x="126" y="182880"/>
                  </a:lnTo>
                  <a:lnTo>
                    <a:pt x="0" y="184150"/>
                  </a:lnTo>
                  <a:lnTo>
                    <a:pt x="44958" y="184150"/>
                  </a:lnTo>
                  <a:lnTo>
                    <a:pt x="102615" y="284480"/>
                  </a:lnTo>
                  <a:lnTo>
                    <a:pt x="102997" y="285750"/>
                  </a:lnTo>
                  <a:lnTo>
                    <a:pt x="109600" y="285750"/>
                  </a:lnTo>
                  <a:lnTo>
                    <a:pt x="113157" y="284480"/>
                  </a:lnTo>
                  <a:lnTo>
                    <a:pt x="115188" y="283210"/>
                  </a:lnTo>
                  <a:lnTo>
                    <a:pt x="117729" y="281939"/>
                  </a:lnTo>
                  <a:lnTo>
                    <a:pt x="127126" y="274319"/>
                  </a:lnTo>
                  <a:lnTo>
                    <a:pt x="128015" y="274319"/>
                  </a:lnTo>
                  <a:lnTo>
                    <a:pt x="128397" y="273050"/>
                  </a:lnTo>
                  <a:lnTo>
                    <a:pt x="128524" y="270510"/>
                  </a:lnTo>
                  <a:lnTo>
                    <a:pt x="128143" y="270510"/>
                  </a:lnTo>
                  <a:lnTo>
                    <a:pt x="70612" y="168910"/>
                  </a:lnTo>
                  <a:lnTo>
                    <a:pt x="102108" y="151130"/>
                  </a:lnTo>
                  <a:lnTo>
                    <a:pt x="102615" y="151130"/>
                  </a:lnTo>
                  <a:lnTo>
                    <a:pt x="103632" y="148589"/>
                  </a:lnTo>
                  <a:lnTo>
                    <a:pt x="103377" y="146050"/>
                  </a:lnTo>
                  <a:lnTo>
                    <a:pt x="102997" y="144780"/>
                  </a:lnTo>
                  <a:lnTo>
                    <a:pt x="102362" y="143510"/>
                  </a:lnTo>
                  <a:lnTo>
                    <a:pt x="101854" y="142239"/>
                  </a:lnTo>
                  <a:lnTo>
                    <a:pt x="99949" y="138430"/>
                  </a:lnTo>
                  <a:lnTo>
                    <a:pt x="97789" y="134619"/>
                  </a:lnTo>
                  <a:lnTo>
                    <a:pt x="96900" y="133350"/>
                  </a:lnTo>
                  <a:lnTo>
                    <a:pt x="95885" y="132080"/>
                  </a:lnTo>
                  <a:lnTo>
                    <a:pt x="95123" y="132080"/>
                  </a:lnTo>
                  <a:lnTo>
                    <a:pt x="94361" y="130810"/>
                  </a:lnTo>
                  <a:lnTo>
                    <a:pt x="93472" y="130810"/>
                  </a:lnTo>
                  <a:lnTo>
                    <a:pt x="92837" y="129539"/>
                  </a:lnTo>
                  <a:close/>
                </a:path>
                <a:path w="461010" h="285750">
                  <a:moveTo>
                    <a:pt x="180721" y="243839"/>
                  </a:moveTo>
                  <a:lnTo>
                    <a:pt x="178054" y="243839"/>
                  </a:lnTo>
                  <a:lnTo>
                    <a:pt x="178815" y="245110"/>
                  </a:lnTo>
                  <a:lnTo>
                    <a:pt x="179705" y="245110"/>
                  </a:lnTo>
                  <a:lnTo>
                    <a:pt x="180721" y="243839"/>
                  </a:lnTo>
                  <a:close/>
                </a:path>
                <a:path w="461010" h="285750">
                  <a:moveTo>
                    <a:pt x="151892" y="142239"/>
                  </a:moveTo>
                  <a:lnTo>
                    <a:pt x="143383" y="142239"/>
                  </a:lnTo>
                  <a:lnTo>
                    <a:pt x="141732" y="143510"/>
                  </a:lnTo>
                  <a:lnTo>
                    <a:pt x="139700" y="144780"/>
                  </a:lnTo>
                  <a:lnTo>
                    <a:pt x="137287" y="146050"/>
                  </a:lnTo>
                  <a:lnTo>
                    <a:pt x="135000" y="147319"/>
                  </a:lnTo>
                  <a:lnTo>
                    <a:pt x="132969" y="148589"/>
                  </a:lnTo>
                  <a:lnTo>
                    <a:pt x="131572" y="148589"/>
                  </a:lnTo>
                  <a:lnTo>
                    <a:pt x="130175" y="149860"/>
                  </a:lnTo>
                  <a:lnTo>
                    <a:pt x="129032" y="151130"/>
                  </a:lnTo>
                  <a:lnTo>
                    <a:pt x="128270" y="152400"/>
                  </a:lnTo>
                  <a:lnTo>
                    <a:pt x="127635" y="152400"/>
                  </a:lnTo>
                  <a:lnTo>
                    <a:pt x="127126" y="153669"/>
                  </a:lnTo>
                  <a:lnTo>
                    <a:pt x="127000" y="156210"/>
                  </a:lnTo>
                  <a:lnTo>
                    <a:pt x="127381" y="156210"/>
                  </a:lnTo>
                  <a:lnTo>
                    <a:pt x="176530" y="242569"/>
                  </a:lnTo>
                  <a:lnTo>
                    <a:pt x="176911" y="243839"/>
                  </a:lnTo>
                  <a:lnTo>
                    <a:pt x="183261" y="243839"/>
                  </a:lnTo>
                  <a:lnTo>
                    <a:pt x="184912" y="242569"/>
                  </a:lnTo>
                  <a:lnTo>
                    <a:pt x="186562" y="242569"/>
                  </a:lnTo>
                  <a:lnTo>
                    <a:pt x="188595" y="241300"/>
                  </a:lnTo>
                  <a:lnTo>
                    <a:pt x="193421" y="238760"/>
                  </a:lnTo>
                  <a:lnTo>
                    <a:pt x="195325" y="237489"/>
                  </a:lnTo>
                  <a:lnTo>
                    <a:pt x="196723" y="236219"/>
                  </a:lnTo>
                  <a:lnTo>
                    <a:pt x="198247" y="234950"/>
                  </a:lnTo>
                  <a:lnTo>
                    <a:pt x="199389" y="234950"/>
                  </a:lnTo>
                  <a:lnTo>
                    <a:pt x="200025" y="233680"/>
                  </a:lnTo>
                  <a:lnTo>
                    <a:pt x="200787" y="232410"/>
                  </a:lnTo>
                  <a:lnTo>
                    <a:pt x="201295" y="231139"/>
                  </a:lnTo>
                  <a:lnTo>
                    <a:pt x="201422" y="229869"/>
                  </a:lnTo>
                  <a:lnTo>
                    <a:pt x="201040" y="228600"/>
                  </a:lnTo>
                  <a:lnTo>
                    <a:pt x="151892" y="142239"/>
                  </a:lnTo>
                  <a:close/>
                </a:path>
                <a:path w="461010" h="285750">
                  <a:moveTo>
                    <a:pt x="229743" y="215900"/>
                  </a:moveTo>
                  <a:lnTo>
                    <a:pt x="227075" y="215900"/>
                  </a:lnTo>
                  <a:lnTo>
                    <a:pt x="227837" y="217169"/>
                  </a:lnTo>
                  <a:lnTo>
                    <a:pt x="229743" y="215900"/>
                  </a:lnTo>
                  <a:close/>
                </a:path>
                <a:path w="461010" h="285750">
                  <a:moveTo>
                    <a:pt x="196850" y="115569"/>
                  </a:moveTo>
                  <a:lnTo>
                    <a:pt x="189864" y="115569"/>
                  </a:lnTo>
                  <a:lnTo>
                    <a:pt x="188468" y="116839"/>
                  </a:lnTo>
                  <a:lnTo>
                    <a:pt x="186689" y="116839"/>
                  </a:lnTo>
                  <a:lnTo>
                    <a:pt x="182625" y="119380"/>
                  </a:lnTo>
                  <a:lnTo>
                    <a:pt x="180975" y="120650"/>
                  </a:lnTo>
                  <a:lnTo>
                    <a:pt x="178562" y="123189"/>
                  </a:lnTo>
                  <a:lnTo>
                    <a:pt x="177546" y="123189"/>
                  </a:lnTo>
                  <a:lnTo>
                    <a:pt x="176275" y="125730"/>
                  </a:lnTo>
                  <a:lnTo>
                    <a:pt x="175895" y="125730"/>
                  </a:lnTo>
                  <a:lnTo>
                    <a:pt x="175768" y="127000"/>
                  </a:lnTo>
                  <a:lnTo>
                    <a:pt x="176275" y="128269"/>
                  </a:lnTo>
                  <a:lnTo>
                    <a:pt x="225551" y="214630"/>
                  </a:lnTo>
                  <a:lnTo>
                    <a:pt x="225933" y="215900"/>
                  </a:lnTo>
                  <a:lnTo>
                    <a:pt x="232283" y="215900"/>
                  </a:lnTo>
                  <a:lnTo>
                    <a:pt x="233934" y="214630"/>
                  </a:lnTo>
                  <a:lnTo>
                    <a:pt x="235585" y="214630"/>
                  </a:lnTo>
                  <a:lnTo>
                    <a:pt x="237617" y="213360"/>
                  </a:lnTo>
                  <a:lnTo>
                    <a:pt x="242443" y="210819"/>
                  </a:lnTo>
                  <a:lnTo>
                    <a:pt x="244348" y="209550"/>
                  </a:lnTo>
                  <a:lnTo>
                    <a:pt x="245745" y="208280"/>
                  </a:lnTo>
                  <a:lnTo>
                    <a:pt x="247269" y="207010"/>
                  </a:lnTo>
                  <a:lnTo>
                    <a:pt x="248285" y="205739"/>
                  </a:lnTo>
                  <a:lnTo>
                    <a:pt x="249809" y="204469"/>
                  </a:lnTo>
                  <a:lnTo>
                    <a:pt x="250317" y="203200"/>
                  </a:lnTo>
                  <a:lnTo>
                    <a:pt x="250444" y="201930"/>
                  </a:lnTo>
                  <a:lnTo>
                    <a:pt x="250062" y="200660"/>
                  </a:lnTo>
                  <a:lnTo>
                    <a:pt x="217297" y="143510"/>
                  </a:lnTo>
                  <a:lnTo>
                    <a:pt x="218186" y="137160"/>
                  </a:lnTo>
                  <a:lnTo>
                    <a:pt x="219583" y="132080"/>
                  </a:lnTo>
                  <a:lnTo>
                    <a:pt x="221784" y="127000"/>
                  </a:lnTo>
                  <a:lnTo>
                    <a:pt x="202819" y="127000"/>
                  </a:lnTo>
                  <a:lnTo>
                    <a:pt x="197231" y="116839"/>
                  </a:lnTo>
                  <a:lnTo>
                    <a:pt x="196850" y="115569"/>
                  </a:lnTo>
                  <a:close/>
                </a:path>
                <a:path w="461010" h="285750">
                  <a:moveTo>
                    <a:pt x="44958" y="184150"/>
                  </a:moveTo>
                  <a:lnTo>
                    <a:pt x="254" y="184150"/>
                  </a:lnTo>
                  <a:lnTo>
                    <a:pt x="381" y="185419"/>
                  </a:lnTo>
                  <a:lnTo>
                    <a:pt x="762" y="186689"/>
                  </a:lnTo>
                  <a:lnTo>
                    <a:pt x="1270" y="187960"/>
                  </a:lnTo>
                  <a:lnTo>
                    <a:pt x="1905" y="189230"/>
                  </a:lnTo>
                  <a:lnTo>
                    <a:pt x="2794" y="191769"/>
                  </a:lnTo>
                  <a:lnTo>
                    <a:pt x="3937" y="193039"/>
                  </a:lnTo>
                  <a:lnTo>
                    <a:pt x="4952" y="195580"/>
                  </a:lnTo>
                  <a:lnTo>
                    <a:pt x="5969" y="196850"/>
                  </a:lnTo>
                  <a:lnTo>
                    <a:pt x="7747" y="199389"/>
                  </a:lnTo>
                  <a:lnTo>
                    <a:pt x="8636" y="199389"/>
                  </a:lnTo>
                  <a:lnTo>
                    <a:pt x="10160" y="201930"/>
                  </a:lnTo>
                  <a:lnTo>
                    <a:pt x="13588" y="201930"/>
                  </a:lnTo>
                  <a:lnTo>
                    <a:pt x="44958" y="184150"/>
                  </a:lnTo>
                  <a:close/>
                </a:path>
                <a:path w="461010" h="285750">
                  <a:moveTo>
                    <a:pt x="277452" y="118110"/>
                  </a:moveTo>
                  <a:lnTo>
                    <a:pt x="239649" y="118110"/>
                  </a:lnTo>
                  <a:lnTo>
                    <a:pt x="245745" y="121919"/>
                  </a:lnTo>
                  <a:lnTo>
                    <a:pt x="247650" y="124460"/>
                  </a:lnTo>
                  <a:lnTo>
                    <a:pt x="249555" y="125730"/>
                  </a:lnTo>
                  <a:lnTo>
                    <a:pt x="251333" y="128269"/>
                  </a:lnTo>
                  <a:lnTo>
                    <a:pt x="282194" y="182880"/>
                  </a:lnTo>
                  <a:lnTo>
                    <a:pt x="282575" y="184150"/>
                  </a:lnTo>
                  <a:lnTo>
                    <a:pt x="288925" y="184150"/>
                  </a:lnTo>
                  <a:lnTo>
                    <a:pt x="292226" y="181610"/>
                  </a:lnTo>
                  <a:lnTo>
                    <a:pt x="294259" y="181610"/>
                  </a:lnTo>
                  <a:lnTo>
                    <a:pt x="296672" y="179069"/>
                  </a:lnTo>
                  <a:lnTo>
                    <a:pt x="298958" y="177800"/>
                  </a:lnTo>
                  <a:lnTo>
                    <a:pt x="300863" y="177800"/>
                  </a:lnTo>
                  <a:lnTo>
                    <a:pt x="302387" y="176530"/>
                  </a:lnTo>
                  <a:lnTo>
                    <a:pt x="303784" y="175260"/>
                  </a:lnTo>
                  <a:lnTo>
                    <a:pt x="304926" y="173989"/>
                  </a:lnTo>
                  <a:lnTo>
                    <a:pt x="306450" y="172719"/>
                  </a:lnTo>
                  <a:lnTo>
                    <a:pt x="306832" y="171450"/>
                  </a:lnTo>
                  <a:lnTo>
                    <a:pt x="306959" y="170180"/>
                  </a:lnTo>
                  <a:lnTo>
                    <a:pt x="306577" y="168910"/>
                  </a:lnTo>
                  <a:lnTo>
                    <a:pt x="277452" y="118110"/>
                  </a:lnTo>
                  <a:close/>
                </a:path>
                <a:path w="461010" h="285750">
                  <a:moveTo>
                    <a:pt x="345567" y="151130"/>
                  </a:moveTo>
                  <a:lnTo>
                    <a:pt x="339725" y="151130"/>
                  </a:lnTo>
                  <a:lnTo>
                    <a:pt x="340360" y="152400"/>
                  </a:lnTo>
                  <a:lnTo>
                    <a:pt x="344170" y="152400"/>
                  </a:lnTo>
                  <a:lnTo>
                    <a:pt x="345567" y="151130"/>
                  </a:lnTo>
                  <a:close/>
                </a:path>
                <a:path w="461010" h="285750">
                  <a:moveTo>
                    <a:pt x="333871" y="85089"/>
                  </a:moveTo>
                  <a:lnTo>
                    <a:pt x="294005" y="85089"/>
                  </a:lnTo>
                  <a:lnTo>
                    <a:pt x="298323" y="87630"/>
                  </a:lnTo>
                  <a:lnTo>
                    <a:pt x="300355" y="87630"/>
                  </a:lnTo>
                  <a:lnTo>
                    <a:pt x="302387" y="90169"/>
                  </a:lnTo>
                  <a:lnTo>
                    <a:pt x="304292" y="91439"/>
                  </a:lnTo>
                  <a:lnTo>
                    <a:pt x="306197" y="93980"/>
                  </a:lnTo>
                  <a:lnTo>
                    <a:pt x="307975" y="96519"/>
                  </a:lnTo>
                  <a:lnTo>
                    <a:pt x="338836" y="151130"/>
                  </a:lnTo>
                  <a:lnTo>
                    <a:pt x="347218" y="151130"/>
                  </a:lnTo>
                  <a:lnTo>
                    <a:pt x="348869" y="149860"/>
                  </a:lnTo>
                  <a:lnTo>
                    <a:pt x="350900" y="148589"/>
                  </a:lnTo>
                  <a:lnTo>
                    <a:pt x="355726" y="146050"/>
                  </a:lnTo>
                  <a:lnTo>
                    <a:pt x="359156" y="143510"/>
                  </a:lnTo>
                  <a:lnTo>
                    <a:pt x="360552" y="142239"/>
                  </a:lnTo>
                  <a:lnTo>
                    <a:pt x="361696" y="142239"/>
                  </a:lnTo>
                  <a:lnTo>
                    <a:pt x="363093" y="139700"/>
                  </a:lnTo>
                  <a:lnTo>
                    <a:pt x="363474" y="139700"/>
                  </a:lnTo>
                  <a:lnTo>
                    <a:pt x="363600" y="137160"/>
                  </a:lnTo>
                  <a:lnTo>
                    <a:pt x="363220" y="137160"/>
                  </a:lnTo>
                  <a:lnTo>
                    <a:pt x="333871" y="85089"/>
                  </a:lnTo>
                  <a:close/>
                </a:path>
                <a:path w="461010" h="285750">
                  <a:moveTo>
                    <a:pt x="151002" y="140969"/>
                  </a:moveTo>
                  <a:lnTo>
                    <a:pt x="146431" y="140969"/>
                  </a:lnTo>
                  <a:lnTo>
                    <a:pt x="145034" y="142239"/>
                  </a:lnTo>
                  <a:lnTo>
                    <a:pt x="151511" y="142239"/>
                  </a:lnTo>
                  <a:lnTo>
                    <a:pt x="151002" y="140969"/>
                  </a:lnTo>
                  <a:close/>
                </a:path>
                <a:path w="461010" h="285750">
                  <a:moveTo>
                    <a:pt x="125475" y="102869"/>
                  </a:moveTo>
                  <a:lnTo>
                    <a:pt x="121285" y="104139"/>
                  </a:lnTo>
                  <a:lnTo>
                    <a:pt x="115824" y="107950"/>
                  </a:lnTo>
                  <a:lnTo>
                    <a:pt x="110236" y="110489"/>
                  </a:lnTo>
                  <a:lnTo>
                    <a:pt x="107061" y="114300"/>
                  </a:lnTo>
                  <a:lnTo>
                    <a:pt x="105283" y="119380"/>
                  </a:lnTo>
                  <a:lnTo>
                    <a:pt x="106299" y="123189"/>
                  </a:lnTo>
                  <a:lnTo>
                    <a:pt x="111760" y="133350"/>
                  </a:lnTo>
                  <a:lnTo>
                    <a:pt x="114554" y="135889"/>
                  </a:lnTo>
                  <a:lnTo>
                    <a:pt x="120396" y="137160"/>
                  </a:lnTo>
                  <a:lnTo>
                    <a:pt x="124713" y="135889"/>
                  </a:lnTo>
                  <a:lnTo>
                    <a:pt x="140715" y="120650"/>
                  </a:lnTo>
                  <a:lnTo>
                    <a:pt x="139700" y="116839"/>
                  </a:lnTo>
                  <a:lnTo>
                    <a:pt x="136906" y="111760"/>
                  </a:lnTo>
                  <a:lnTo>
                    <a:pt x="134238" y="107950"/>
                  </a:lnTo>
                  <a:lnTo>
                    <a:pt x="131445" y="104139"/>
                  </a:lnTo>
                  <a:lnTo>
                    <a:pt x="128397" y="104139"/>
                  </a:lnTo>
                  <a:lnTo>
                    <a:pt x="125475" y="102869"/>
                  </a:lnTo>
                  <a:close/>
                </a:path>
                <a:path w="461010" h="285750">
                  <a:moveTo>
                    <a:pt x="245999" y="88900"/>
                  </a:moveTo>
                  <a:lnTo>
                    <a:pt x="236727" y="88900"/>
                  </a:lnTo>
                  <a:lnTo>
                    <a:pt x="233425" y="90169"/>
                  </a:lnTo>
                  <a:lnTo>
                    <a:pt x="230250" y="91439"/>
                  </a:lnTo>
                  <a:lnTo>
                    <a:pt x="226822" y="92710"/>
                  </a:lnTo>
                  <a:lnTo>
                    <a:pt x="202819" y="127000"/>
                  </a:lnTo>
                  <a:lnTo>
                    <a:pt x="221784" y="127000"/>
                  </a:lnTo>
                  <a:lnTo>
                    <a:pt x="222885" y="124460"/>
                  </a:lnTo>
                  <a:lnTo>
                    <a:pt x="225298" y="121919"/>
                  </a:lnTo>
                  <a:lnTo>
                    <a:pt x="228219" y="119380"/>
                  </a:lnTo>
                  <a:lnTo>
                    <a:pt x="230632" y="118110"/>
                  </a:lnTo>
                  <a:lnTo>
                    <a:pt x="277452" y="118110"/>
                  </a:lnTo>
                  <a:lnTo>
                    <a:pt x="273812" y="111760"/>
                  </a:lnTo>
                  <a:lnTo>
                    <a:pt x="274827" y="105410"/>
                  </a:lnTo>
                  <a:lnTo>
                    <a:pt x="276225" y="100330"/>
                  </a:lnTo>
                  <a:lnTo>
                    <a:pt x="277875" y="96519"/>
                  </a:lnTo>
                  <a:lnTo>
                    <a:pt x="278320" y="95250"/>
                  </a:lnTo>
                  <a:lnTo>
                    <a:pt x="259334" y="95250"/>
                  </a:lnTo>
                  <a:lnTo>
                    <a:pt x="256794" y="92710"/>
                  </a:lnTo>
                  <a:lnTo>
                    <a:pt x="254254" y="91439"/>
                  </a:lnTo>
                  <a:lnTo>
                    <a:pt x="251587" y="90169"/>
                  </a:lnTo>
                  <a:lnTo>
                    <a:pt x="248793" y="90169"/>
                  </a:lnTo>
                  <a:lnTo>
                    <a:pt x="245999" y="88900"/>
                  </a:lnTo>
                  <a:close/>
                </a:path>
                <a:path w="461010" h="285750">
                  <a:moveTo>
                    <a:pt x="195199" y="114300"/>
                  </a:moveTo>
                  <a:lnTo>
                    <a:pt x="192532" y="115569"/>
                  </a:lnTo>
                  <a:lnTo>
                    <a:pt x="195707" y="115569"/>
                  </a:lnTo>
                  <a:lnTo>
                    <a:pt x="195199" y="114300"/>
                  </a:lnTo>
                  <a:close/>
                </a:path>
                <a:path w="461010" h="285750">
                  <a:moveTo>
                    <a:pt x="400685" y="0"/>
                  </a:moveTo>
                  <a:lnTo>
                    <a:pt x="361569" y="17780"/>
                  </a:lnTo>
                  <a:lnTo>
                    <a:pt x="347599" y="46989"/>
                  </a:lnTo>
                  <a:lnTo>
                    <a:pt x="347725" y="53339"/>
                  </a:lnTo>
                  <a:lnTo>
                    <a:pt x="362712" y="91439"/>
                  </a:lnTo>
                  <a:lnTo>
                    <a:pt x="396239" y="114300"/>
                  </a:lnTo>
                  <a:lnTo>
                    <a:pt x="402717" y="115569"/>
                  </a:lnTo>
                  <a:lnTo>
                    <a:pt x="416560" y="113030"/>
                  </a:lnTo>
                  <a:lnTo>
                    <a:pt x="423799" y="109219"/>
                  </a:lnTo>
                  <a:lnTo>
                    <a:pt x="431546" y="105410"/>
                  </a:lnTo>
                  <a:lnTo>
                    <a:pt x="451993" y="90169"/>
                  </a:lnTo>
                  <a:lnTo>
                    <a:pt x="404495" y="90169"/>
                  </a:lnTo>
                  <a:lnTo>
                    <a:pt x="401447" y="88900"/>
                  </a:lnTo>
                  <a:lnTo>
                    <a:pt x="398272" y="88900"/>
                  </a:lnTo>
                  <a:lnTo>
                    <a:pt x="395477" y="86360"/>
                  </a:lnTo>
                  <a:lnTo>
                    <a:pt x="392938" y="83819"/>
                  </a:lnTo>
                  <a:lnTo>
                    <a:pt x="390271" y="81280"/>
                  </a:lnTo>
                  <a:lnTo>
                    <a:pt x="387985" y="78739"/>
                  </a:lnTo>
                  <a:lnTo>
                    <a:pt x="385825" y="74930"/>
                  </a:lnTo>
                  <a:lnTo>
                    <a:pt x="414374" y="58419"/>
                  </a:lnTo>
                  <a:lnTo>
                    <a:pt x="376936" y="58419"/>
                  </a:lnTo>
                  <a:lnTo>
                    <a:pt x="375285" y="55880"/>
                  </a:lnTo>
                  <a:lnTo>
                    <a:pt x="374142" y="53339"/>
                  </a:lnTo>
                  <a:lnTo>
                    <a:pt x="373507" y="49530"/>
                  </a:lnTo>
                  <a:lnTo>
                    <a:pt x="372745" y="46989"/>
                  </a:lnTo>
                  <a:lnTo>
                    <a:pt x="383159" y="26669"/>
                  </a:lnTo>
                  <a:lnTo>
                    <a:pt x="389255" y="22860"/>
                  </a:lnTo>
                  <a:lnTo>
                    <a:pt x="394970" y="21589"/>
                  </a:lnTo>
                  <a:lnTo>
                    <a:pt x="435356" y="21589"/>
                  </a:lnTo>
                  <a:lnTo>
                    <a:pt x="431419" y="16510"/>
                  </a:lnTo>
                  <a:lnTo>
                    <a:pt x="422401" y="7619"/>
                  </a:lnTo>
                  <a:lnTo>
                    <a:pt x="417449" y="5080"/>
                  </a:lnTo>
                  <a:lnTo>
                    <a:pt x="406526" y="1269"/>
                  </a:lnTo>
                  <a:lnTo>
                    <a:pt x="400685" y="0"/>
                  </a:lnTo>
                  <a:close/>
                </a:path>
                <a:path w="461010" h="285750">
                  <a:moveTo>
                    <a:pt x="305943" y="57150"/>
                  </a:moveTo>
                  <a:lnTo>
                    <a:pt x="291211" y="57150"/>
                  </a:lnTo>
                  <a:lnTo>
                    <a:pt x="285750" y="58419"/>
                  </a:lnTo>
                  <a:lnTo>
                    <a:pt x="280035" y="62230"/>
                  </a:lnTo>
                  <a:lnTo>
                    <a:pt x="277495" y="63500"/>
                  </a:lnTo>
                  <a:lnTo>
                    <a:pt x="275209" y="64769"/>
                  </a:lnTo>
                  <a:lnTo>
                    <a:pt x="273050" y="67310"/>
                  </a:lnTo>
                  <a:lnTo>
                    <a:pt x="271018" y="69850"/>
                  </a:lnTo>
                  <a:lnTo>
                    <a:pt x="269113" y="71119"/>
                  </a:lnTo>
                  <a:lnTo>
                    <a:pt x="267462" y="74930"/>
                  </a:lnTo>
                  <a:lnTo>
                    <a:pt x="265684" y="77469"/>
                  </a:lnTo>
                  <a:lnTo>
                    <a:pt x="264160" y="80010"/>
                  </a:lnTo>
                  <a:lnTo>
                    <a:pt x="262889" y="83819"/>
                  </a:lnTo>
                  <a:lnTo>
                    <a:pt x="261493" y="86360"/>
                  </a:lnTo>
                  <a:lnTo>
                    <a:pt x="260350" y="90169"/>
                  </a:lnTo>
                  <a:lnTo>
                    <a:pt x="259334" y="95250"/>
                  </a:lnTo>
                  <a:lnTo>
                    <a:pt x="278320" y="95250"/>
                  </a:lnTo>
                  <a:lnTo>
                    <a:pt x="279654" y="91439"/>
                  </a:lnTo>
                  <a:lnTo>
                    <a:pt x="281939" y="88900"/>
                  </a:lnTo>
                  <a:lnTo>
                    <a:pt x="284861" y="87630"/>
                  </a:lnTo>
                  <a:lnTo>
                    <a:pt x="287147" y="86360"/>
                  </a:lnTo>
                  <a:lnTo>
                    <a:pt x="289560" y="85089"/>
                  </a:lnTo>
                  <a:lnTo>
                    <a:pt x="333871" y="85089"/>
                  </a:lnTo>
                  <a:lnTo>
                    <a:pt x="331724" y="81280"/>
                  </a:lnTo>
                  <a:lnTo>
                    <a:pt x="328930" y="76200"/>
                  </a:lnTo>
                  <a:lnTo>
                    <a:pt x="325627" y="72389"/>
                  </a:lnTo>
                  <a:lnTo>
                    <a:pt x="322072" y="68580"/>
                  </a:lnTo>
                  <a:lnTo>
                    <a:pt x="318515" y="63500"/>
                  </a:lnTo>
                  <a:lnTo>
                    <a:pt x="314579" y="60960"/>
                  </a:lnTo>
                  <a:lnTo>
                    <a:pt x="305943" y="57150"/>
                  </a:lnTo>
                  <a:close/>
                </a:path>
                <a:path w="461010" h="285750">
                  <a:moveTo>
                    <a:pt x="453136" y="63500"/>
                  </a:moveTo>
                  <a:lnTo>
                    <a:pt x="448310" y="63500"/>
                  </a:lnTo>
                  <a:lnTo>
                    <a:pt x="447167" y="64769"/>
                  </a:lnTo>
                  <a:lnTo>
                    <a:pt x="444754" y="67310"/>
                  </a:lnTo>
                  <a:lnTo>
                    <a:pt x="443230" y="69850"/>
                  </a:lnTo>
                  <a:lnTo>
                    <a:pt x="439293" y="73660"/>
                  </a:lnTo>
                  <a:lnTo>
                    <a:pt x="436880" y="76200"/>
                  </a:lnTo>
                  <a:lnTo>
                    <a:pt x="431164" y="81280"/>
                  </a:lnTo>
                  <a:lnTo>
                    <a:pt x="427609" y="82550"/>
                  </a:lnTo>
                  <a:lnTo>
                    <a:pt x="423290" y="85089"/>
                  </a:lnTo>
                  <a:lnTo>
                    <a:pt x="419100" y="87630"/>
                  </a:lnTo>
                  <a:lnTo>
                    <a:pt x="415163" y="88900"/>
                  </a:lnTo>
                  <a:lnTo>
                    <a:pt x="411480" y="90169"/>
                  </a:lnTo>
                  <a:lnTo>
                    <a:pt x="451993" y="90169"/>
                  </a:lnTo>
                  <a:lnTo>
                    <a:pt x="454533" y="87630"/>
                  </a:lnTo>
                  <a:lnTo>
                    <a:pt x="456438" y="85089"/>
                  </a:lnTo>
                  <a:lnTo>
                    <a:pt x="459359" y="81280"/>
                  </a:lnTo>
                  <a:lnTo>
                    <a:pt x="460121" y="80010"/>
                  </a:lnTo>
                  <a:lnTo>
                    <a:pt x="460501" y="78739"/>
                  </a:lnTo>
                  <a:lnTo>
                    <a:pt x="460375" y="76200"/>
                  </a:lnTo>
                  <a:lnTo>
                    <a:pt x="460121" y="76200"/>
                  </a:lnTo>
                  <a:lnTo>
                    <a:pt x="459359" y="73660"/>
                  </a:lnTo>
                  <a:lnTo>
                    <a:pt x="457708" y="71119"/>
                  </a:lnTo>
                  <a:lnTo>
                    <a:pt x="456057" y="67310"/>
                  </a:lnTo>
                  <a:lnTo>
                    <a:pt x="455168" y="66039"/>
                  </a:lnTo>
                  <a:lnTo>
                    <a:pt x="454533" y="64769"/>
                  </a:lnTo>
                  <a:lnTo>
                    <a:pt x="453771" y="64769"/>
                  </a:lnTo>
                  <a:lnTo>
                    <a:pt x="453136" y="63500"/>
                  </a:lnTo>
                  <a:close/>
                </a:path>
                <a:path w="461010" h="285750">
                  <a:moveTo>
                    <a:pt x="451993" y="62230"/>
                  </a:moveTo>
                  <a:lnTo>
                    <a:pt x="449834" y="62230"/>
                  </a:lnTo>
                  <a:lnTo>
                    <a:pt x="449199" y="63500"/>
                  </a:lnTo>
                  <a:lnTo>
                    <a:pt x="452500" y="63500"/>
                  </a:lnTo>
                  <a:lnTo>
                    <a:pt x="451993" y="62230"/>
                  </a:lnTo>
                  <a:close/>
                </a:path>
                <a:path w="461010" h="285750">
                  <a:moveTo>
                    <a:pt x="435356" y="21589"/>
                  </a:moveTo>
                  <a:lnTo>
                    <a:pt x="394970" y="21589"/>
                  </a:lnTo>
                  <a:lnTo>
                    <a:pt x="400050" y="24130"/>
                  </a:lnTo>
                  <a:lnTo>
                    <a:pt x="405257" y="26669"/>
                  </a:lnTo>
                  <a:lnTo>
                    <a:pt x="409701" y="31750"/>
                  </a:lnTo>
                  <a:lnTo>
                    <a:pt x="413385" y="38100"/>
                  </a:lnTo>
                  <a:lnTo>
                    <a:pt x="376936" y="58419"/>
                  </a:lnTo>
                  <a:lnTo>
                    <a:pt x="414374" y="58419"/>
                  </a:lnTo>
                  <a:lnTo>
                    <a:pt x="438531" y="44450"/>
                  </a:lnTo>
                  <a:lnTo>
                    <a:pt x="440944" y="43180"/>
                  </a:lnTo>
                  <a:lnTo>
                    <a:pt x="442340" y="41910"/>
                  </a:lnTo>
                  <a:lnTo>
                    <a:pt x="443357" y="36830"/>
                  </a:lnTo>
                  <a:lnTo>
                    <a:pt x="442722" y="34289"/>
                  </a:lnTo>
                  <a:lnTo>
                    <a:pt x="441071" y="31750"/>
                  </a:lnTo>
                  <a:lnTo>
                    <a:pt x="438912" y="27939"/>
                  </a:lnTo>
                  <a:lnTo>
                    <a:pt x="435356" y="21589"/>
                  </a:lnTo>
                  <a:close/>
                </a:path>
              </a:pathLst>
            </a:custGeom>
            <a:solidFill>
              <a:srgbClr val="252525"/>
            </a:solidFill>
          </p:spPr>
          <p:txBody>
            <a:bodyPr wrap="square" lIns="0" tIns="0" rIns="0" bIns="0" rtlCol="0"/>
            <a:lstStyle/>
            <a:p>
              <a:endParaRPr sz="2400"/>
            </a:p>
          </p:txBody>
        </p:sp>
      </p:grpSp>
      <p:sp>
        <p:nvSpPr>
          <p:cNvPr id="7" name="object 7"/>
          <p:cNvSpPr txBox="1"/>
          <p:nvPr/>
        </p:nvSpPr>
        <p:spPr>
          <a:xfrm>
            <a:off x="6107344" y="4233583"/>
            <a:ext cx="312073" cy="1383453"/>
          </a:xfrm>
          <a:prstGeom prst="rect">
            <a:avLst/>
          </a:prstGeom>
        </p:spPr>
        <p:txBody>
          <a:bodyPr vert="vert270" wrap="square" lIns="0" tIns="0" rIns="0" bIns="0" rtlCol="0">
            <a:spAutoFit/>
          </a:bodyPr>
          <a:lstStyle/>
          <a:p>
            <a:pPr marL="16933">
              <a:lnSpc>
                <a:spcPts val="2413"/>
              </a:lnSpc>
            </a:pPr>
            <a:r>
              <a:rPr sz="2400" b="1" spc="-13" dirty="0">
                <a:solidFill>
                  <a:srgbClr val="252525"/>
                </a:solidFill>
                <a:latin typeface="Calibri"/>
                <a:cs typeface="Calibri"/>
              </a:rPr>
              <a:t>Customers</a:t>
            </a:r>
            <a:endParaRPr sz="2400">
              <a:latin typeface="Calibri"/>
              <a:cs typeface="Calibri"/>
            </a:endParaRPr>
          </a:p>
        </p:txBody>
      </p:sp>
      <p:grpSp>
        <p:nvGrpSpPr>
          <p:cNvPr id="8" name="object 8"/>
          <p:cNvGrpSpPr/>
          <p:nvPr/>
        </p:nvGrpSpPr>
        <p:grpSpPr>
          <a:xfrm>
            <a:off x="6423152" y="3005327"/>
            <a:ext cx="1710267" cy="2563707"/>
            <a:chOff x="4817364" y="2253995"/>
            <a:chExt cx="1282700" cy="1922780"/>
          </a:xfrm>
        </p:grpSpPr>
        <p:pic>
          <p:nvPicPr>
            <p:cNvPr id="9" name="object 9"/>
            <p:cNvPicPr/>
            <p:nvPr/>
          </p:nvPicPr>
          <p:blipFill>
            <a:blip r:embed="rId4" cstate="print"/>
            <a:stretch>
              <a:fillRect/>
            </a:stretch>
          </p:blipFill>
          <p:spPr>
            <a:xfrm>
              <a:off x="5291328" y="2804147"/>
              <a:ext cx="336067" cy="651522"/>
            </a:xfrm>
            <a:prstGeom prst="rect">
              <a:avLst/>
            </a:prstGeom>
          </p:spPr>
        </p:pic>
        <p:pic>
          <p:nvPicPr>
            <p:cNvPr id="10" name="object 10"/>
            <p:cNvPicPr/>
            <p:nvPr/>
          </p:nvPicPr>
          <p:blipFill>
            <a:blip r:embed="rId5" cstate="print"/>
            <a:stretch>
              <a:fillRect/>
            </a:stretch>
          </p:blipFill>
          <p:spPr>
            <a:xfrm>
              <a:off x="4817364" y="2471927"/>
              <a:ext cx="1282446" cy="1314450"/>
            </a:xfrm>
            <a:prstGeom prst="rect">
              <a:avLst/>
            </a:prstGeom>
          </p:spPr>
        </p:pic>
        <p:pic>
          <p:nvPicPr>
            <p:cNvPr id="11" name="object 11"/>
            <p:cNvPicPr/>
            <p:nvPr/>
          </p:nvPicPr>
          <p:blipFill>
            <a:blip r:embed="rId6" cstate="print"/>
            <a:stretch>
              <a:fillRect/>
            </a:stretch>
          </p:blipFill>
          <p:spPr>
            <a:xfrm>
              <a:off x="5292852" y="2253995"/>
              <a:ext cx="331495" cy="1922526"/>
            </a:xfrm>
            <a:prstGeom prst="rect">
              <a:avLst/>
            </a:prstGeom>
          </p:spPr>
        </p:pic>
      </p:grpSp>
      <p:sp>
        <p:nvSpPr>
          <p:cNvPr id="12" name="object 12"/>
          <p:cNvSpPr txBox="1"/>
          <p:nvPr/>
        </p:nvSpPr>
        <p:spPr>
          <a:xfrm>
            <a:off x="3618993" y="1672337"/>
            <a:ext cx="5433905" cy="539464"/>
          </a:xfrm>
          <a:prstGeom prst="rect">
            <a:avLst/>
          </a:prstGeom>
          <a:solidFill>
            <a:srgbClr val="383838">
              <a:alpha val="89019"/>
            </a:srgbClr>
          </a:solidFill>
        </p:spPr>
        <p:txBody>
          <a:bodyPr vert="horz" wrap="square" lIns="0" tIns="168487" rIns="0" bIns="0" rtlCol="0">
            <a:spAutoFit/>
          </a:bodyPr>
          <a:lstStyle/>
          <a:p>
            <a:pPr marL="502907" indent="-380990">
              <a:spcBef>
                <a:spcPts val="1327"/>
              </a:spcBef>
              <a:buClr>
                <a:srgbClr val="99D3FF"/>
              </a:buClr>
              <a:buFont typeface="Wingdings"/>
              <a:buChar char=""/>
              <a:tabLst>
                <a:tab pos="502907" algn="l"/>
              </a:tabLst>
            </a:pPr>
            <a:r>
              <a:rPr sz="2400" b="1" dirty="0">
                <a:solidFill>
                  <a:srgbClr val="D9D9D9"/>
                </a:solidFill>
                <a:latin typeface="Calibri"/>
                <a:cs typeface="Calibri"/>
              </a:rPr>
              <a:t>Precalculated</a:t>
            </a:r>
            <a:r>
              <a:rPr sz="2400" b="1" spc="-120" dirty="0">
                <a:solidFill>
                  <a:srgbClr val="D9D9D9"/>
                </a:solidFill>
                <a:latin typeface="Calibri"/>
                <a:cs typeface="Calibri"/>
              </a:rPr>
              <a:t> </a:t>
            </a:r>
            <a:r>
              <a:rPr sz="2400" b="1" dirty="0">
                <a:solidFill>
                  <a:srgbClr val="D9D9D9"/>
                </a:solidFill>
                <a:latin typeface="Calibri"/>
                <a:cs typeface="Calibri"/>
              </a:rPr>
              <a:t>(aggregated</a:t>
            </a:r>
            <a:r>
              <a:rPr sz="2400" b="1" spc="-113" dirty="0">
                <a:solidFill>
                  <a:srgbClr val="D9D9D9"/>
                </a:solidFill>
                <a:latin typeface="Calibri"/>
                <a:cs typeface="Calibri"/>
              </a:rPr>
              <a:t> </a:t>
            </a:r>
            <a:r>
              <a:rPr sz="2400" b="1" spc="-13" dirty="0">
                <a:solidFill>
                  <a:srgbClr val="D9D9D9"/>
                </a:solidFill>
                <a:latin typeface="Calibri"/>
                <a:cs typeface="Calibri"/>
              </a:rPr>
              <a:t>values)</a:t>
            </a:r>
            <a:endParaRPr sz="2400">
              <a:latin typeface="Calibri"/>
              <a:cs typeface="Calibri"/>
            </a:endParaRPr>
          </a:p>
        </p:txBody>
      </p:sp>
      <p:sp>
        <p:nvSpPr>
          <p:cNvPr id="13" name="object 13"/>
          <p:cNvSpPr txBox="1"/>
          <p:nvPr/>
        </p:nvSpPr>
        <p:spPr>
          <a:xfrm>
            <a:off x="8219440" y="3230880"/>
            <a:ext cx="1863513" cy="539462"/>
          </a:xfrm>
          <a:prstGeom prst="rect">
            <a:avLst/>
          </a:prstGeom>
          <a:solidFill>
            <a:srgbClr val="404040">
              <a:alpha val="89019"/>
            </a:srgbClr>
          </a:solidFill>
        </p:spPr>
        <p:txBody>
          <a:bodyPr vert="horz" wrap="square" lIns="0" tIns="168485" rIns="0" bIns="0" rtlCol="0">
            <a:spAutoFit/>
          </a:bodyPr>
          <a:lstStyle/>
          <a:p>
            <a:pPr marL="474121" indent="-380990">
              <a:spcBef>
                <a:spcPts val="1325"/>
              </a:spcBef>
              <a:buFont typeface="Wingdings"/>
              <a:buChar char=""/>
              <a:tabLst>
                <a:tab pos="474121" algn="l"/>
              </a:tabLst>
            </a:pPr>
            <a:r>
              <a:rPr sz="2400" b="1" spc="-33" dirty="0">
                <a:solidFill>
                  <a:srgbClr val="99D3FF"/>
                </a:solidFill>
                <a:latin typeface="Calibri"/>
                <a:cs typeface="Calibri"/>
              </a:rPr>
              <a:t>MDX</a:t>
            </a:r>
            <a:endParaRPr sz="2400">
              <a:latin typeface="Calibri"/>
              <a:cs typeface="Calibri"/>
            </a:endParaRPr>
          </a:p>
        </p:txBody>
      </p:sp>
      <p:sp>
        <p:nvSpPr>
          <p:cNvPr id="14" name="object 14"/>
          <p:cNvSpPr txBox="1"/>
          <p:nvPr/>
        </p:nvSpPr>
        <p:spPr>
          <a:xfrm>
            <a:off x="164593" y="3328415"/>
            <a:ext cx="3202940" cy="539462"/>
          </a:xfrm>
          <a:prstGeom prst="rect">
            <a:avLst/>
          </a:prstGeom>
          <a:solidFill>
            <a:srgbClr val="383838">
              <a:alpha val="89019"/>
            </a:srgbClr>
          </a:solidFill>
        </p:spPr>
        <p:txBody>
          <a:bodyPr vert="horz" wrap="square" lIns="0" tIns="168485" rIns="0" bIns="0" rtlCol="0">
            <a:spAutoFit/>
          </a:bodyPr>
          <a:lstStyle/>
          <a:p>
            <a:pPr marL="502907" indent="-380990">
              <a:spcBef>
                <a:spcPts val="1325"/>
              </a:spcBef>
              <a:buClr>
                <a:srgbClr val="99D3FF"/>
              </a:buClr>
              <a:buFont typeface="Wingdings"/>
              <a:buChar char=""/>
              <a:tabLst>
                <a:tab pos="502907" algn="l"/>
              </a:tabLst>
            </a:pPr>
            <a:r>
              <a:rPr sz="2400" b="1" dirty="0">
                <a:solidFill>
                  <a:srgbClr val="D9D9D9"/>
                </a:solidFill>
                <a:latin typeface="Calibri"/>
                <a:cs typeface="Calibri"/>
              </a:rPr>
              <a:t>High</a:t>
            </a:r>
            <a:r>
              <a:rPr sz="2400" b="1" spc="-13" dirty="0">
                <a:solidFill>
                  <a:srgbClr val="D9D9D9"/>
                </a:solidFill>
                <a:latin typeface="Calibri"/>
                <a:cs typeface="Calibri"/>
              </a:rPr>
              <a:t> performance</a:t>
            </a:r>
            <a:endParaRPr sz="2400">
              <a:latin typeface="Calibri"/>
              <a:cs typeface="Calibri"/>
            </a:endParaRPr>
          </a:p>
        </p:txBody>
      </p:sp>
      <p:sp>
        <p:nvSpPr>
          <p:cNvPr id="15" name="object 15"/>
          <p:cNvSpPr txBox="1"/>
          <p:nvPr/>
        </p:nvSpPr>
        <p:spPr>
          <a:xfrm>
            <a:off x="164593" y="3974592"/>
            <a:ext cx="3202940" cy="1088330"/>
          </a:xfrm>
          <a:prstGeom prst="rect">
            <a:avLst/>
          </a:prstGeom>
          <a:solidFill>
            <a:srgbClr val="383838">
              <a:alpha val="89019"/>
            </a:srgbClr>
          </a:solidFill>
        </p:spPr>
        <p:txBody>
          <a:bodyPr vert="horz" wrap="square" lIns="0" tIns="168485" rIns="0" bIns="0" rtlCol="0">
            <a:spAutoFit/>
          </a:bodyPr>
          <a:lstStyle/>
          <a:p>
            <a:pPr marL="529153" indent="-380990">
              <a:spcBef>
                <a:spcPts val="1325"/>
              </a:spcBef>
              <a:buClr>
                <a:srgbClr val="99D3FF"/>
              </a:buClr>
              <a:buFont typeface="Wingdings"/>
              <a:buChar char=""/>
              <a:tabLst>
                <a:tab pos="529153" algn="l"/>
              </a:tabLst>
            </a:pPr>
            <a:r>
              <a:rPr sz="2400" b="1" dirty="0">
                <a:solidFill>
                  <a:srgbClr val="D9D9D9"/>
                </a:solidFill>
                <a:latin typeface="Calibri"/>
                <a:cs typeface="Calibri"/>
              </a:rPr>
              <a:t>Interactive</a:t>
            </a:r>
            <a:r>
              <a:rPr sz="2400" b="1" spc="-100" dirty="0">
                <a:solidFill>
                  <a:srgbClr val="D9D9D9"/>
                </a:solidFill>
                <a:latin typeface="Calibri"/>
                <a:cs typeface="Calibri"/>
              </a:rPr>
              <a:t> </a:t>
            </a:r>
            <a:r>
              <a:rPr sz="2400" b="1" dirty="0">
                <a:solidFill>
                  <a:srgbClr val="D9D9D9"/>
                </a:solidFill>
                <a:latin typeface="Calibri"/>
                <a:cs typeface="Calibri"/>
              </a:rPr>
              <a:t>tools</a:t>
            </a:r>
            <a:r>
              <a:rPr sz="2400" b="1" spc="-47" dirty="0">
                <a:solidFill>
                  <a:srgbClr val="D9D9D9"/>
                </a:solidFill>
                <a:latin typeface="Calibri"/>
                <a:cs typeface="Calibri"/>
              </a:rPr>
              <a:t> </a:t>
            </a:r>
            <a:r>
              <a:rPr sz="2400" b="1" spc="-33" dirty="0">
                <a:solidFill>
                  <a:srgbClr val="D9D9D9"/>
                </a:solidFill>
                <a:latin typeface="Calibri"/>
                <a:cs typeface="Calibri"/>
              </a:rPr>
              <a:t>to</a:t>
            </a:r>
            <a:endParaRPr sz="2400">
              <a:latin typeface="Calibri"/>
              <a:cs typeface="Calibri"/>
            </a:endParaRPr>
          </a:p>
          <a:p>
            <a:pPr marL="530000">
              <a:spcBef>
                <a:spcPts val="1440"/>
              </a:spcBef>
            </a:pPr>
            <a:r>
              <a:rPr sz="2400" b="1" dirty="0">
                <a:solidFill>
                  <a:srgbClr val="D9D9D9"/>
                </a:solidFill>
                <a:latin typeface="Calibri"/>
                <a:cs typeface="Calibri"/>
              </a:rPr>
              <a:t>drill</a:t>
            </a:r>
            <a:r>
              <a:rPr sz="2400" b="1" spc="-47" dirty="0">
                <a:solidFill>
                  <a:srgbClr val="D9D9D9"/>
                </a:solidFill>
                <a:latin typeface="Calibri"/>
                <a:cs typeface="Calibri"/>
              </a:rPr>
              <a:t> </a:t>
            </a:r>
            <a:r>
              <a:rPr sz="2400" b="1" dirty="0">
                <a:solidFill>
                  <a:srgbClr val="D9D9D9"/>
                </a:solidFill>
                <a:latin typeface="Calibri"/>
                <a:cs typeface="Calibri"/>
              </a:rPr>
              <a:t>/</a:t>
            </a:r>
            <a:r>
              <a:rPr sz="2400" b="1" spc="-7" dirty="0">
                <a:solidFill>
                  <a:srgbClr val="D9D9D9"/>
                </a:solidFill>
                <a:latin typeface="Calibri"/>
                <a:cs typeface="Calibri"/>
              </a:rPr>
              <a:t> </a:t>
            </a:r>
            <a:r>
              <a:rPr sz="2400" b="1" dirty="0">
                <a:solidFill>
                  <a:srgbClr val="D9D9D9"/>
                </a:solidFill>
                <a:latin typeface="Calibri"/>
                <a:cs typeface="Calibri"/>
              </a:rPr>
              <a:t>slice</a:t>
            </a:r>
            <a:r>
              <a:rPr sz="2400" b="1" spc="-53" dirty="0">
                <a:solidFill>
                  <a:srgbClr val="D9D9D9"/>
                </a:solidFill>
                <a:latin typeface="Calibri"/>
                <a:cs typeface="Calibri"/>
              </a:rPr>
              <a:t> </a:t>
            </a:r>
            <a:r>
              <a:rPr sz="2400" b="1" dirty="0">
                <a:solidFill>
                  <a:srgbClr val="D9D9D9"/>
                </a:solidFill>
                <a:latin typeface="Calibri"/>
                <a:cs typeface="Calibri"/>
              </a:rPr>
              <a:t>&amp;</a:t>
            </a:r>
            <a:r>
              <a:rPr sz="2400" b="1" spc="-7" dirty="0">
                <a:solidFill>
                  <a:srgbClr val="D9D9D9"/>
                </a:solidFill>
                <a:latin typeface="Calibri"/>
                <a:cs typeface="Calibri"/>
              </a:rPr>
              <a:t> </a:t>
            </a:r>
            <a:r>
              <a:rPr sz="2400" b="1" spc="-27" dirty="0">
                <a:solidFill>
                  <a:srgbClr val="D9D9D9"/>
                </a:solidFill>
                <a:latin typeface="Calibri"/>
                <a:cs typeface="Calibri"/>
              </a:rPr>
              <a:t>dice</a:t>
            </a:r>
            <a:endParaRPr sz="2400">
              <a:latin typeface="Calibri"/>
              <a:cs typeface="Calibri"/>
            </a:endParaRPr>
          </a:p>
        </p:txBody>
      </p:sp>
      <p:sp>
        <p:nvSpPr>
          <p:cNvPr id="16" name="object 16"/>
          <p:cNvSpPr txBox="1"/>
          <p:nvPr/>
        </p:nvSpPr>
        <p:spPr>
          <a:xfrm>
            <a:off x="8219439" y="3933952"/>
            <a:ext cx="3464560" cy="539462"/>
          </a:xfrm>
          <a:prstGeom prst="rect">
            <a:avLst/>
          </a:prstGeom>
          <a:solidFill>
            <a:srgbClr val="404040">
              <a:alpha val="89019"/>
            </a:srgbClr>
          </a:solidFill>
        </p:spPr>
        <p:txBody>
          <a:bodyPr vert="horz" wrap="square" lIns="0" tIns="168485" rIns="0" bIns="0" rtlCol="0">
            <a:spAutoFit/>
          </a:bodyPr>
          <a:lstStyle/>
          <a:p>
            <a:pPr marL="504601" indent="-381837">
              <a:spcBef>
                <a:spcPts val="1325"/>
              </a:spcBef>
              <a:buFont typeface="Wingdings"/>
              <a:buChar char=""/>
              <a:tabLst>
                <a:tab pos="504601" algn="l"/>
              </a:tabLst>
            </a:pPr>
            <a:r>
              <a:rPr sz="2400" b="1" dirty="0">
                <a:solidFill>
                  <a:srgbClr val="99D3FF"/>
                </a:solidFill>
                <a:latin typeface="Calibri"/>
                <a:cs typeface="Calibri"/>
              </a:rPr>
              <a:t>Multidimensional</a:t>
            </a:r>
            <a:r>
              <a:rPr sz="2400" b="1" spc="-107" dirty="0">
                <a:solidFill>
                  <a:srgbClr val="99D3FF"/>
                </a:solidFill>
                <a:latin typeface="Calibri"/>
                <a:cs typeface="Calibri"/>
              </a:rPr>
              <a:t> </a:t>
            </a:r>
            <a:r>
              <a:rPr sz="2400" b="1" spc="-33" dirty="0">
                <a:solidFill>
                  <a:srgbClr val="99D3FF"/>
                </a:solidFill>
                <a:latin typeface="Calibri"/>
                <a:cs typeface="Calibri"/>
              </a:rPr>
              <a:t>DBs</a:t>
            </a:r>
            <a:endParaRPr sz="2400">
              <a:latin typeface="Calibri"/>
              <a:cs typeface="Calibri"/>
            </a:endParaRPr>
          </a:p>
        </p:txBody>
      </p:sp>
      <p:sp>
        <p:nvSpPr>
          <p:cNvPr id="17" name="TextBox 16">
            <a:extLst>
              <a:ext uri="{FF2B5EF4-FFF2-40B4-BE49-F238E27FC236}">
                <a16:creationId xmlns:a16="http://schemas.microsoft.com/office/drawing/2014/main" id="{CB9AB3F9-4D57-9B1D-444D-7B9DBA2CA303}"/>
              </a:ext>
            </a:extLst>
          </p:cNvPr>
          <p:cNvSpPr txBox="1"/>
          <p:nvPr/>
        </p:nvSpPr>
        <p:spPr>
          <a:xfrm>
            <a:off x="3047172" y="226398"/>
            <a:ext cx="6097656" cy="769441"/>
          </a:xfrm>
          <a:prstGeom prst="rect">
            <a:avLst/>
          </a:prstGeom>
          <a:noFill/>
        </p:spPr>
        <p:txBody>
          <a:bodyPr wrap="square">
            <a:spAutoFit/>
          </a:bodyPr>
          <a:lstStyle/>
          <a:p>
            <a:pPr algn="ctr"/>
            <a:r>
              <a:rPr lang="en-IN" sz="4400" dirty="0">
                <a:solidFill>
                  <a:schemeClr val="bg1"/>
                </a:solidFill>
              </a:rPr>
              <a:t>OLAP Cube</a:t>
            </a:r>
            <a:endParaRPr lang="en-IN" sz="44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79229" y="552730"/>
            <a:ext cx="2294997" cy="695062"/>
          </a:xfrm>
          <a:prstGeom prst="rect">
            <a:avLst/>
          </a:prstGeom>
        </p:spPr>
        <p:txBody>
          <a:bodyPr vert="horz" wrap="square" lIns="0" tIns="17780" rIns="0" bIns="0" rtlCol="0" anchor="ctr">
            <a:spAutoFit/>
          </a:bodyPr>
          <a:lstStyle/>
          <a:p>
            <a:pPr marL="16933">
              <a:lnSpc>
                <a:spcPct val="100000"/>
              </a:lnSpc>
              <a:spcBef>
                <a:spcPts val="140"/>
              </a:spcBef>
            </a:pPr>
            <a:r>
              <a:rPr spc="-13" dirty="0">
                <a:solidFill>
                  <a:schemeClr val="bg1"/>
                </a:solidFill>
                <a:latin typeface="+mn-lt"/>
              </a:rPr>
              <a:t>Benefits</a:t>
            </a:r>
          </a:p>
        </p:txBody>
      </p:sp>
      <p:pic>
        <p:nvPicPr>
          <p:cNvPr id="3" name="object 3"/>
          <p:cNvPicPr/>
          <p:nvPr/>
        </p:nvPicPr>
        <p:blipFill>
          <a:blip r:embed="rId2" cstate="print"/>
          <a:stretch>
            <a:fillRect/>
          </a:stretch>
        </p:blipFill>
        <p:spPr>
          <a:xfrm>
            <a:off x="93471" y="999744"/>
            <a:ext cx="11590528" cy="541528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2275" y="296545"/>
            <a:ext cx="4628249" cy="695062"/>
          </a:xfrm>
          <a:prstGeom prst="rect">
            <a:avLst/>
          </a:prstGeom>
        </p:spPr>
        <p:txBody>
          <a:bodyPr vert="horz" wrap="square" lIns="0" tIns="17780" rIns="0" bIns="0" rtlCol="0" anchor="ctr">
            <a:spAutoFit/>
          </a:bodyPr>
          <a:lstStyle/>
          <a:p>
            <a:pPr marL="16933">
              <a:lnSpc>
                <a:spcPct val="100000"/>
              </a:lnSpc>
              <a:spcBef>
                <a:spcPts val="140"/>
              </a:spcBef>
            </a:pPr>
            <a:r>
              <a:rPr spc="-13" dirty="0">
                <a:solidFill>
                  <a:schemeClr val="bg1"/>
                </a:solidFill>
                <a:latin typeface="+mn-lt"/>
              </a:rPr>
              <a:t>Recommendation</a:t>
            </a:r>
          </a:p>
        </p:txBody>
      </p:sp>
      <p:sp>
        <p:nvSpPr>
          <p:cNvPr id="4" name="object 4"/>
          <p:cNvSpPr txBox="1"/>
          <p:nvPr/>
        </p:nvSpPr>
        <p:spPr>
          <a:xfrm>
            <a:off x="2438400" y="1725167"/>
            <a:ext cx="8636000" cy="3956297"/>
          </a:xfrm>
          <a:prstGeom prst="rect">
            <a:avLst/>
          </a:prstGeom>
          <a:noFill/>
        </p:spPr>
        <p:txBody>
          <a:bodyPr vert="horz" wrap="square" lIns="0" tIns="94827" rIns="0" bIns="0" rtlCol="0">
            <a:spAutoFit/>
          </a:bodyPr>
          <a:lstStyle/>
          <a:p>
            <a:pPr>
              <a:spcBef>
                <a:spcPts val="747"/>
              </a:spcBef>
            </a:pPr>
            <a:endParaRPr sz="2667">
              <a:latin typeface="Times New Roman"/>
              <a:cs typeface="Times New Roman"/>
            </a:endParaRPr>
          </a:p>
          <a:p>
            <a:pPr marL="502907" indent="-380990">
              <a:buClr>
                <a:srgbClr val="99D3FF"/>
              </a:buClr>
              <a:buFont typeface="Wingdings"/>
              <a:buChar char=""/>
              <a:tabLst>
                <a:tab pos="502907" algn="l"/>
              </a:tabLst>
            </a:pPr>
            <a:r>
              <a:rPr sz="2667" b="1" dirty="0">
                <a:solidFill>
                  <a:srgbClr val="D9D9D9"/>
                </a:solidFill>
                <a:latin typeface="Calibri"/>
                <a:cs typeface="Calibri"/>
              </a:rPr>
              <a:t>Built</a:t>
            </a:r>
            <a:r>
              <a:rPr sz="2667" b="1" spc="-67" dirty="0">
                <a:solidFill>
                  <a:srgbClr val="D9D9D9"/>
                </a:solidFill>
                <a:latin typeface="Calibri"/>
                <a:cs typeface="Calibri"/>
              </a:rPr>
              <a:t> </a:t>
            </a:r>
            <a:r>
              <a:rPr sz="2667" b="1" dirty="0">
                <a:solidFill>
                  <a:srgbClr val="D9D9D9"/>
                </a:solidFill>
                <a:latin typeface="Calibri"/>
                <a:cs typeface="Calibri"/>
              </a:rPr>
              <a:t>for</a:t>
            </a:r>
            <a:r>
              <a:rPr sz="2667" b="1" spc="-33" dirty="0">
                <a:solidFill>
                  <a:srgbClr val="D9D9D9"/>
                </a:solidFill>
                <a:latin typeface="Calibri"/>
                <a:cs typeface="Calibri"/>
              </a:rPr>
              <a:t> </a:t>
            </a:r>
            <a:r>
              <a:rPr sz="2667" b="1" dirty="0">
                <a:solidFill>
                  <a:srgbClr val="D9D9D9"/>
                </a:solidFill>
                <a:latin typeface="Calibri"/>
                <a:cs typeface="Calibri"/>
              </a:rPr>
              <a:t>a</a:t>
            </a:r>
            <a:r>
              <a:rPr sz="2667" b="1" spc="-20" dirty="0">
                <a:solidFill>
                  <a:srgbClr val="D9D9D9"/>
                </a:solidFill>
                <a:latin typeface="Calibri"/>
                <a:cs typeface="Calibri"/>
              </a:rPr>
              <a:t> </a:t>
            </a:r>
            <a:r>
              <a:rPr sz="2667" b="1" dirty="0">
                <a:solidFill>
                  <a:srgbClr val="D9D9D9"/>
                </a:solidFill>
                <a:latin typeface="Calibri"/>
                <a:cs typeface="Calibri"/>
              </a:rPr>
              <a:t>specific</a:t>
            </a:r>
            <a:r>
              <a:rPr sz="2667" b="1" spc="-47" dirty="0">
                <a:solidFill>
                  <a:srgbClr val="D9D9D9"/>
                </a:solidFill>
                <a:latin typeface="Calibri"/>
                <a:cs typeface="Calibri"/>
              </a:rPr>
              <a:t> </a:t>
            </a:r>
            <a:r>
              <a:rPr sz="2667" b="1" dirty="0">
                <a:solidFill>
                  <a:srgbClr val="D9D9D9"/>
                </a:solidFill>
                <a:latin typeface="Calibri"/>
                <a:cs typeface="Calibri"/>
              </a:rPr>
              <a:t>use-case</a:t>
            </a:r>
            <a:r>
              <a:rPr sz="2667" b="1" spc="-33" dirty="0">
                <a:solidFill>
                  <a:srgbClr val="D9D9D9"/>
                </a:solidFill>
                <a:latin typeface="Calibri"/>
                <a:cs typeface="Calibri"/>
              </a:rPr>
              <a:t> </a:t>
            </a:r>
            <a:r>
              <a:rPr sz="2667" b="1" dirty="0">
                <a:solidFill>
                  <a:srgbClr val="D9D9D9"/>
                </a:solidFill>
                <a:latin typeface="Calibri"/>
                <a:cs typeface="Calibri"/>
              </a:rPr>
              <a:t>(as</a:t>
            </a:r>
            <a:r>
              <a:rPr sz="2667" b="1" spc="-13" dirty="0">
                <a:solidFill>
                  <a:srgbClr val="D9D9D9"/>
                </a:solidFill>
                <a:latin typeface="Calibri"/>
                <a:cs typeface="Calibri"/>
              </a:rPr>
              <a:t> </a:t>
            </a:r>
            <a:r>
              <a:rPr sz="2667" b="1" dirty="0">
                <a:solidFill>
                  <a:srgbClr val="D9D9D9"/>
                </a:solidFill>
                <a:latin typeface="Calibri"/>
                <a:cs typeface="Calibri"/>
              </a:rPr>
              <a:t>data</a:t>
            </a:r>
            <a:r>
              <a:rPr sz="2667" b="1" spc="-40" dirty="0">
                <a:solidFill>
                  <a:srgbClr val="D9D9D9"/>
                </a:solidFill>
                <a:latin typeface="Calibri"/>
                <a:cs typeface="Calibri"/>
              </a:rPr>
              <a:t> </a:t>
            </a:r>
            <a:r>
              <a:rPr sz="2667" b="1" dirty="0">
                <a:solidFill>
                  <a:srgbClr val="D9D9D9"/>
                </a:solidFill>
                <a:latin typeface="Calibri"/>
                <a:cs typeface="Calibri"/>
              </a:rPr>
              <a:t>marts</a:t>
            </a:r>
            <a:r>
              <a:rPr sz="2667" b="1" spc="-47" dirty="0">
                <a:solidFill>
                  <a:srgbClr val="D9D9D9"/>
                </a:solidFill>
                <a:latin typeface="Calibri"/>
                <a:cs typeface="Calibri"/>
              </a:rPr>
              <a:t> </a:t>
            </a:r>
            <a:r>
              <a:rPr sz="2667" b="1" dirty="0">
                <a:solidFill>
                  <a:srgbClr val="D9D9D9"/>
                </a:solidFill>
                <a:latin typeface="Calibri"/>
                <a:cs typeface="Calibri"/>
              </a:rPr>
              <a:t>in</a:t>
            </a:r>
            <a:r>
              <a:rPr sz="2667" b="1" spc="-27" dirty="0">
                <a:solidFill>
                  <a:srgbClr val="D9D9D9"/>
                </a:solidFill>
                <a:latin typeface="Calibri"/>
                <a:cs typeface="Calibri"/>
              </a:rPr>
              <a:t> </a:t>
            </a:r>
            <a:r>
              <a:rPr sz="2667" b="1" spc="-13" dirty="0">
                <a:solidFill>
                  <a:srgbClr val="D9D9D9"/>
                </a:solidFill>
                <a:latin typeface="Calibri"/>
                <a:cs typeface="Calibri"/>
              </a:rPr>
              <a:t>general)</a:t>
            </a:r>
            <a:endParaRPr sz="2667">
              <a:latin typeface="Calibri"/>
              <a:cs typeface="Calibri"/>
            </a:endParaRPr>
          </a:p>
          <a:p>
            <a:pPr>
              <a:spcBef>
                <a:spcPts val="1540"/>
              </a:spcBef>
              <a:buClr>
                <a:srgbClr val="99D3FF"/>
              </a:buClr>
              <a:buFont typeface="Wingdings"/>
              <a:buChar char=""/>
            </a:pPr>
            <a:endParaRPr sz="2667">
              <a:latin typeface="Calibri"/>
              <a:cs typeface="Calibri"/>
            </a:endParaRPr>
          </a:p>
          <a:p>
            <a:pPr marL="502907" indent="-380990">
              <a:buClr>
                <a:srgbClr val="99D3FF"/>
              </a:buClr>
              <a:buFont typeface="Wingdings"/>
              <a:buChar char=""/>
              <a:tabLst>
                <a:tab pos="502907" algn="l"/>
              </a:tabLst>
            </a:pPr>
            <a:r>
              <a:rPr sz="2667" b="1" dirty="0">
                <a:solidFill>
                  <a:srgbClr val="D9D9D9"/>
                </a:solidFill>
                <a:latin typeface="Calibri"/>
                <a:cs typeface="Calibri"/>
              </a:rPr>
              <a:t>More</a:t>
            </a:r>
            <a:r>
              <a:rPr sz="2667" b="1" spc="-47" dirty="0">
                <a:solidFill>
                  <a:srgbClr val="D9D9D9"/>
                </a:solidFill>
                <a:latin typeface="Calibri"/>
                <a:cs typeface="Calibri"/>
              </a:rPr>
              <a:t> </a:t>
            </a:r>
            <a:r>
              <a:rPr sz="2667" b="1" dirty="0">
                <a:solidFill>
                  <a:srgbClr val="D9D9D9"/>
                </a:solidFill>
                <a:latin typeface="Calibri"/>
                <a:cs typeface="Calibri"/>
              </a:rPr>
              <a:t>efficient</a:t>
            </a:r>
            <a:r>
              <a:rPr sz="2667" b="1" spc="-33" dirty="0">
                <a:solidFill>
                  <a:srgbClr val="D9D9D9"/>
                </a:solidFill>
                <a:latin typeface="Calibri"/>
                <a:cs typeface="Calibri"/>
              </a:rPr>
              <a:t> </a:t>
            </a:r>
            <a:r>
              <a:rPr sz="2667" b="1" dirty="0">
                <a:solidFill>
                  <a:srgbClr val="D9D9D9"/>
                </a:solidFill>
                <a:latin typeface="Calibri"/>
                <a:cs typeface="Calibri"/>
              </a:rPr>
              <a:t>&amp;</a:t>
            </a:r>
            <a:r>
              <a:rPr sz="2667" b="1" spc="-33" dirty="0">
                <a:solidFill>
                  <a:srgbClr val="D9D9D9"/>
                </a:solidFill>
                <a:latin typeface="Calibri"/>
                <a:cs typeface="Calibri"/>
              </a:rPr>
              <a:t> </a:t>
            </a:r>
            <a:r>
              <a:rPr sz="2667" b="1" dirty="0">
                <a:solidFill>
                  <a:srgbClr val="D9D9D9"/>
                </a:solidFill>
                <a:latin typeface="Calibri"/>
                <a:cs typeface="Calibri"/>
              </a:rPr>
              <a:t>less</a:t>
            </a:r>
            <a:r>
              <a:rPr sz="2667" b="1" spc="-20" dirty="0">
                <a:solidFill>
                  <a:srgbClr val="D9D9D9"/>
                </a:solidFill>
                <a:latin typeface="Calibri"/>
                <a:cs typeface="Calibri"/>
              </a:rPr>
              <a:t> </a:t>
            </a:r>
            <a:r>
              <a:rPr sz="2667" b="1" dirty="0">
                <a:solidFill>
                  <a:srgbClr val="D9D9D9"/>
                </a:solidFill>
                <a:latin typeface="Calibri"/>
                <a:cs typeface="Calibri"/>
              </a:rPr>
              <a:t>complex</a:t>
            </a:r>
            <a:r>
              <a:rPr sz="2667" b="1" spc="-47" dirty="0">
                <a:solidFill>
                  <a:srgbClr val="D9D9D9"/>
                </a:solidFill>
                <a:latin typeface="Calibri"/>
                <a:cs typeface="Calibri"/>
              </a:rPr>
              <a:t> </a:t>
            </a:r>
            <a:r>
              <a:rPr sz="2667" b="1" dirty="0">
                <a:solidFill>
                  <a:srgbClr val="D9D9D9"/>
                </a:solidFill>
                <a:latin typeface="Calibri"/>
                <a:cs typeface="Calibri"/>
              </a:rPr>
              <a:t>with</a:t>
            </a:r>
            <a:r>
              <a:rPr sz="2667" b="1" spc="-40" dirty="0">
                <a:solidFill>
                  <a:srgbClr val="D9D9D9"/>
                </a:solidFill>
                <a:latin typeface="Calibri"/>
                <a:cs typeface="Calibri"/>
              </a:rPr>
              <a:t> </a:t>
            </a:r>
            <a:r>
              <a:rPr sz="2667" b="1" dirty="0">
                <a:solidFill>
                  <a:srgbClr val="D9D9D9"/>
                </a:solidFill>
                <a:latin typeface="Calibri"/>
                <a:cs typeface="Calibri"/>
              </a:rPr>
              <a:t>separate</a:t>
            </a:r>
            <a:r>
              <a:rPr sz="2667" b="1" spc="-20" dirty="0">
                <a:solidFill>
                  <a:srgbClr val="D9D9D9"/>
                </a:solidFill>
                <a:latin typeface="Calibri"/>
                <a:cs typeface="Calibri"/>
              </a:rPr>
              <a:t> </a:t>
            </a:r>
            <a:r>
              <a:rPr sz="2667" b="1" dirty="0">
                <a:solidFill>
                  <a:srgbClr val="D9D9D9"/>
                </a:solidFill>
                <a:latin typeface="Calibri"/>
                <a:cs typeface="Calibri"/>
              </a:rPr>
              <a:t>data</a:t>
            </a:r>
            <a:r>
              <a:rPr sz="2667" b="1" spc="-40" dirty="0">
                <a:solidFill>
                  <a:srgbClr val="D9D9D9"/>
                </a:solidFill>
                <a:latin typeface="Calibri"/>
                <a:cs typeface="Calibri"/>
              </a:rPr>
              <a:t> </a:t>
            </a:r>
            <a:r>
              <a:rPr sz="2667" b="1" spc="-13" dirty="0">
                <a:solidFill>
                  <a:srgbClr val="D9D9D9"/>
                </a:solidFill>
                <a:latin typeface="Calibri"/>
                <a:cs typeface="Calibri"/>
              </a:rPr>
              <a:t>marts</a:t>
            </a:r>
            <a:endParaRPr sz="2667">
              <a:latin typeface="Calibri"/>
              <a:cs typeface="Calibri"/>
            </a:endParaRPr>
          </a:p>
          <a:p>
            <a:pPr>
              <a:spcBef>
                <a:spcPts val="1547"/>
              </a:spcBef>
              <a:buClr>
                <a:srgbClr val="99D3FF"/>
              </a:buClr>
              <a:buFont typeface="Wingdings"/>
              <a:buChar char=""/>
            </a:pPr>
            <a:endParaRPr sz="2667">
              <a:latin typeface="Calibri"/>
              <a:cs typeface="Calibri"/>
            </a:endParaRPr>
          </a:p>
          <a:p>
            <a:pPr marL="502907" indent="-380990">
              <a:spcBef>
                <a:spcPts val="7"/>
              </a:spcBef>
              <a:buClr>
                <a:srgbClr val="99D3FF"/>
              </a:buClr>
              <a:buFont typeface="Wingdings"/>
              <a:buChar char=""/>
              <a:tabLst>
                <a:tab pos="502907" algn="l"/>
              </a:tabLst>
            </a:pPr>
            <a:r>
              <a:rPr sz="2667" b="1" dirty="0">
                <a:solidFill>
                  <a:srgbClr val="D9D9D9"/>
                </a:solidFill>
                <a:latin typeface="Calibri"/>
                <a:cs typeface="Calibri"/>
              </a:rPr>
              <a:t>Good</a:t>
            </a:r>
            <a:r>
              <a:rPr sz="2667" b="1" spc="-53" dirty="0">
                <a:solidFill>
                  <a:srgbClr val="D9D9D9"/>
                </a:solidFill>
                <a:latin typeface="Calibri"/>
                <a:cs typeface="Calibri"/>
              </a:rPr>
              <a:t> </a:t>
            </a:r>
            <a:r>
              <a:rPr sz="2667" b="1" dirty="0">
                <a:solidFill>
                  <a:srgbClr val="D9D9D9"/>
                </a:solidFill>
                <a:latin typeface="Calibri"/>
                <a:cs typeface="Calibri"/>
              </a:rPr>
              <a:t>for</a:t>
            </a:r>
            <a:r>
              <a:rPr sz="2667" b="1" spc="-33" dirty="0">
                <a:solidFill>
                  <a:srgbClr val="D9D9D9"/>
                </a:solidFill>
                <a:latin typeface="Calibri"/>
                <a:cs typeface="Calibri"/>
              </a:rPr>
              <a:t> </a:t>
            </a:r>
            <a:r>
              <a:rPr sz="2667" b="1" dirty="0">
                <a:solidFill>
                  <a:srgbClr val="D9D9D9"/>
                </a:solidFill>
                <a:latin typeface="Calibri"/>
                <a:cs typeface="Calibri"/>
              </a:rPr>
              <a:t>interactive</a:t>
            </a:r>
            <a:r>
              <a:rPr sz="2667" b="1" spc="-53" dirty="0">
                <a:solidFill>
                  <a:srgbClr val="D9D9D9"/>
                </a:solidFill>
                <a:latin typeface="Calibri"/>
                <a:cs typeface="Calibri"/>
              </a:rPr>
              <a:t> </a:t>
            </a:r>
            <a:r>
              <a:rPr sz="2667" b="1" dirty="0">
                <a:solidFill>
                  <a:srgbClr val="D9D9D9"/>
                </a:solidFill>
                <a:latin typeface="Calibri"/>
                <a:cs typeface="Calibri"/>
              </a:rPr>
              <a:t>queries</a:t>
            </a:r>
            <a:r>
              <a:rPr sz="2667" b="1" spc="-40" dirty="0">
                <a:solidFill>
                  <a:srgbClr val="D9D9D9"/>
                </a:solidFill>
                <a:latin typeface="Calibri"/>
                <a:cs typeface="Calibri"/>
              </a:rPr>
              <a:t> </a:t>
            </a:r>
            <a:r>
              <a:rPr sz="2667" b="1" dirty="0">
                <a:solidFill>
                  <a:srgbClr val="D9D9D9"/>
                </a:solidFill>
                <a:latin typeface="Calibri"/>
                <a:cs typeface="Calibri"/>
              </a:rPr>
              <a:t>with</a:t>
            </a:r>
            <a:r>
              <a:rPr sz="2667" b="1" spc="-53" dirty="0">
                <a:solidFill>
                  <a:srgbClr val="D9D9D9"/>
                </a:solidFill>
                <a:latin typeface="Calibri"/>
                <a:cs typeface="Calibri"/>
              </a:rPr>
              <a:t> </a:t>
            </a:r>
            <a:r>
              <a:rPr sz="2667" b="1" spc="-13" dirty="0">
                <a:solidFill>
                  <a:srgbClr val="D9D9D9"/>
                </a:solidFill>
                <a:latin typeface="Calibri"/>
                <a:cs typeface="Calibri"/>
              </a:rPr>
              <a:t>hierarchies</a:t>
            </a:r>
            <a:endParaRPr sz="2667">
              <a:latin typeface="Calibri"/>
              <a:cs typeface="Calibri"/>
            </a:endParaRPr>
          </a:p>
          <a:p>
            <a:pPr>
              <a:spcBef>
                <a:spcPts val="1547"/>
              </a:spcBef>
              <a:buClr>
                <a:srgbClr val="99D3FF"/>
              </a:buClr>
              <a:buFont typeface="Wingdings"/>
              <a:buChar char=""/>
            </a:pPr>
            <a:endParaRPr sz="2667">
              <a:latin typeface="Calibri"/>
              <a:cs typeface="Calibri"/>
            </a:endParaRPr>
          </a:p>
          <a:p>
            <a:pPr marL="502907" indent="-380990">
              <a:buClr>
                <a:srgbClr val="99D3FF"/>
              </a:buClr>
              <a:buFont typeface="Wingdings"/>
              <a:buChar char=""/>
              <a:tabLst>
                <a:tab pos="502907" algn="l"/>
              </a:tabLst>
            </a:pPr>
            <a:r>
              <a:rPr sz="2667" b="1" dirty="0">
                <a:solidFill>
                  <a:srgbClr val="D9D9D9"/>
                </a:solidFill>
                <a:latin typeface="Calibri"/>
                <a:cs typeface="Calibri"/>
              </a:rPr>
              <a:t>Optional</a:t>
            </a:r>
            <a:r>
              <a:rPr sz="2667" b="1" spc="-60" dirty="0">
                <a:solidFill>
                  <a:srgbClr val="D9D9D9"/>
                </a:solidFill>
                <a:latin typeface="Calibri"/>
                <a:cs typeface="Calibri"/>
              </a:rPr>
              <a:t> </a:t>
            </a:r>
            <a:r>
              <a:rPr sz="2667" b="1" dirty="0">
                <a:solidFill>
                  <a:srgbClr val="D9D9D9"/>
                </a:solidFill>
                <a:latin typeface="Calibri"/>
                <a:cs typeface="Calibri"/>
              </a:rPr>
              <a:t>after</a:t>
            </a:r>
            <a:r>
              <a:rPr sz="2667" b="1" spc="-20" dirty="0">
                <a:solidFill>
                  <a:srgbClr val="D9D9D9"/>
                </a:solidFill>
                <a:latin typeface="Calibri"/>
                <a:cs typeface="Calibri"/>
              </a:rPr>
              <a:t> </a:t>
            </a:r>
            <a:r>
              <a:rPr sz="2667" b="1" dirty="0">
                <a:solidFill>
                  <a:srgbClr val="D9D9D9"/>
                </a:solidFill>
                <a:latin typeface="Calibri"/>
                <a:cs typeface="Calibri"/>
              </a:rPr>
              <a:t>star</a:t>
            </a:r>
            <a:r>
              <a:rPr sz="2667" b="1" spc="-40" dirty="0">
                <a:solidFill>
                  <a:srgbClr val="D9D9D9"/>
                </a:solidFill>
                <a:latin typeface="Calibri"/>
                <a:cs typeface="Calibri"/>
              </a:rPr>
              <a:t> </a:t>
            </a:r>
            <a:r>
              <a:rPr sz="2667" b="1" dirty="0">
                <a:solidFill>
                  <a:srgbClr val="D9D9D9"/>
                </a:solidFill>
                <a:latin typeface="Calibri"/>
                <a:cs typeface="Calibri"/>
              </a:rPr>
              <a:t>schema</a:t>
            </a:r>
            <a:r>
              <a:rPr sz="2667" b="1" spc="-40" dirty="0">
                <a:solidFill>
                  <a:srgbClr val="D9D9D9"/>
                </a:solidFill>
                <a:latin typeface="Calibri"/>
                <a:cs typeface="Calibri"/>
              </a:rPr>
              <a:t> </a:t>
            </a:r>
            <a:r>
              <a:rPr sz="2667" b="1" dirty="0">
                <a:solidFill>
                  <a:srgbClr val="D9D9D9"/>
                </a:solidFill>
                <a:latin typeface="Calibri"/>
                <a:cs typeface="Calibri"/>
              </a:rPr>
              <a:t>is</a:t>
            </a:r>
            <a:r>
              <a:rPr sz="2667" b="1" spc="-13" dirty="0">
                <a:solidFill>
                  <a:srgbClr val="D9D9D9"/>
                </a:solidFill>
                <a:latin typeface="Calibri"/>
                <a:cs typeface="Calibri"/>
              </a:rPr>
              <a:t> </a:t>
            </a:r>
            <a:r>
              <a:rPr sz="2667" b="1" dirty="0">
                <a:solidFill>
                  <a:srgbClr val="D9D9D9"/>
                </a:solidFill>
                <a:latin typeface="Calibri"/>
                <a:cs typeface="Calibri"/>
              </a:rPr>
              <a:t>built</a:t>
            </a:r>
            <a:r>
              <a:rPr sz="2667" b="1" spc="-53" dirty="0">
                <a:solidFill>
                  <a:srgbClr val="D9D9D9"/>
                </a:solidFill>
                <a:latin typeface="Calibri"/>
                <a:cs typeface="Calibri"/>
              </a:rPr>
              <a:t> </a:t>
            </a:r>
            <a:r>
              <a:rPr sz="2667" b="1" dirty="0">
                <a:solidFill>
                  <a:srgbClr val="D9D9D9"/>
                </a:solidFill>
                <a:latin typeface="Calibri"/>
                <a:cs typeface="Calibri"/>
              </a:rPr>
              <a:t>in</a:t>
            </a:r>
            <a:r>
              <a:rPr sz="2667" b="1" spc="-20" dirty="0">
                <a:solidFill>
                  <a:srgbClr val="D9D9D9"/>
                </a:solidFill>
                <a:latin typeface="Calibri"/>
                <a:cs typeface="Calibri"/>
              </a:rPr>
              <a:t> </a:t>
            </a:r>
            <a:r>
              <a:rPr sz="2667" b="1" dirty="0">
                <a:solidFill>
                  <a:srgbClr val="D9D9D9"/>
                </a:solidFill>
                <a:latin typeface="Calibri"/>
                <a:cs typeface="Calibri"/>
              </a:rPr>
              <a:t>relational</a:t>
            </a:r>
            <a:r>
              <a:rPr sz="2667" b="1" spc="-40" dirty="0">
                <a:solidFill>
                  <a:srgbClr val="D9D9D9"/>
                </a:solidFill>
                <a:latin typeface="Calibri"/>
                <a:cs typeface="Calibri"/>
              </a:rPr>
              <a:t> </a:t>
            </a:r>
            <a:r>
              <a:rPr sz="2667" b="1" spc="-33" dirty="0">
                <a:solidFill>
                  <a:srgbClr val="D9D9D9"/>
                </a:solidFill>
                <a:latin typeface="Calibri"/>
                <a:cs typeface="Calibri"/>
              </a:rPr>
              <a:t>DB</a:t>
            </a:r>
            <a:endParaRPr sz="2667">
              <a:latin typeface="Calibri"/>
              <a:cs typeface="Calibri"/>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51916" y="408873"/>
            <a:ext cx="3726162" cy="695062"/>
          </a:xfrm>
          <a:prstGeom prst="rect">
            <a:avLst/>
          </a:prstGeom>
        </p:spPr>
        <p:txBody>
          <a:bodyPr vert="horz" wrap="square" lIns="0" tIns="17780" rIns="0" bIns="0" rtlCol="0" anchor="ctr">
            <a:spAutoFit/>
          </a:bodyPr>
          <a:lstStyle/>
          <a:p>
            <a:pPr marL="16933">
              <a:lnSpc>
                <a:spcPct val="100000"/>
              </a:lnSpc>
              <a:spcBef>
                <a:spcPts val="140"/>
              </a:spcBef>
            </a:pPr>
            <a:r>
              <a:rPr spc="-13" dirty="0">
                <a:solidFill>
                  <a:schemeClr val="bg1"/>
                </a:solidFill>
                <a:latin typeface="+mn-lt"/>
              </a:rPr>
              <a:t>Alternatives</a:t>
            </a:r>
          </a:p>
        </p:txBody>
      </p:sp>
      <p:sp>
        <p:nvSpPr>
          <p:cNvPr id="4" name="object 4"/>
          <p:cNvSpPr txBox="1"/>
          <p:nvPr/>
        </p:nvSpPr>
        <p:spPr>
          <a:xfrm>
            <a:off x="2540000" y="1763776"/>
            <a:ext cx="8636000" cy="3482534"/>
          </a:xfrm>
          <a:prstGeom prst="rect">
            <a:avLst/>
          </a:prstGeom>
          <a:noFill/>
        </p:spPr>
        <p:txBody>
          <a:bodyPr vert="horz" wrap="square" lIns="0" tIns="95673" rIns="0" bIns="0" rtlCol="0">
            <a:spAutoFit/>
          </a:bodyPr>
          <a:lstStyle/>
          <a:p>
            <a:pPr>
              <a:spcBef>
                <a:spcPts val="753"/>
              </a:spcBef>
            </a:pPr>
            <a:endParaRPr sz="2667" dirty="0">
              <a:latin typeface="Times New Roman"/>
              <a:cs typeface="Times New Roman"/>
            </a:endParaRPr>
          </a:p>
          <a:p>
            <a:pPr marL="502907" indent="-380990">
              <a:buClr>
                <a:srgbClr val="99D3FF"/>
              </a:buClr>
              <a:buFont typeface="Wingdings"/>
              <a:buChar char=""/>
              <a:tabLst>
                <a:tab pos="502907" algn="l"/>
              </a:tabLst>
            </a:pPr>
            <a:r>
              <a:rPr sz="2667" b="1" dirty="0">
                <a:solidFill>
                  <a:srgbClr val="D9D9D9"/>
                </a:solidFill>
                <a:latin typeface="Calibri"/>
                <a:cs typeface="Calibri"/>
              </a:rPr>
              <a:t>Less</a:t>
            </a:r>
            <a:r>
              <a:rPr sz="2667" b="1" spc="-27" dirty="0">
                <a:solidFill>
                  <a:srgbClr val="D9D9D9"/>
                </a:solidFill>
                <a:latin typeface="Calibri"/>
                <a:cs typeface="Calibri"/>
              </a:rPr>
              <a:t> </a:t>
            </a:r>
            <a:r>
              <a:rPr sz="2667" b="1" dirty="0">
                <a:solidFill>
                  <a:srgbClr val="D9D9D9"/>
                </a:solidFill>
                <a:latin typeface="Calibri"/>
                <a:cs typeface="Calibri"/>
              </a:rPr>
              <a:t>important</a:t>
            </a:r>
            <a:r>
              <a:rPr sz="2667" b="1" spc="-73" dirty="0">
                <a:solidFill>
                  <a:srgbClr val="D9D9D9"/>
                </a:solidFill>
                <a:latin typeface="Calibri"/>
                <a:cs typeface="Calibri"/>
              </a:rPr>
              <a:t> </a:t>
            </a:r>
            <a:r>
              <a:rPr sz="2667" b="1" dirty="0">
                <a:solidFill>
                  <a:srgbClr val="D9D9D9"/>
                </a:solidFill>
                <a:latin typeface="Calibri"/>
                <a:cs typeface="Calibri"/>
              </a:rPr>
              <a:t>today</a:t>
            </a:r>
            <a:r>
              <a:rPr sz="2667" b="1" spc="-60" dirty="0">
                <a:solidFill>
                  <a:srgbClr val="D9D9D9"/>
                </a:solidFill>
                <a:latin typeface="Calibri"/>
                <a:cs typeface="Calibri"/>
              </a:rPr>
              <a:t> </a:t>
            </a:r>
            <a:r>
              <a:rPr sz="2667" b="1" dirty="0">
                <a:solidFill>
                  <a:srgbClr val="D9D9D9"/>
                </a:solidFill>
                <a:latin typeface="Calibri"/>
                <a:cs typeface="Calibri"/>
              </a:rPr>
              <a:t>with</a:t>
            </a:r>
            <a:r>
              <a:rPr sz="2667" b="1" spc="-60" dirty="0">
                <a:solidFill>
                  <a:srgbClr val="D9D9D9"/>
                </a:solidFill>
                <a:latin typeface="Calibri"/>
                <a:cs typeface="Calibri"/>
              </a:rPr>
              <a:t> </a:t>
            </a:r>
            <a:r>
              <a:rPr sz="2667" b="1" dirty="0">
                <a:solidFill>
                  <a:srgbClr val="D9D9D9"/>
                </a:solidFill>
                <a:latin typeface="Calibri"/>
                <a:cs typeface="Calibri"/>
              </a:rPr>
              <a:t>advancement</a:t>
            </a:r>
            <a:r>
              <a:rPr sz="2667" b="1" spc="-47" dirty="0">
                <a:solidFill>
                  <a:srgbClr val="D9D9D9"/>
                </a:solidFill>
                <a:latin typeface="Calibri"/>
                <a:cs typeface="Calibri"/>
              </a:rPr>
              <a:t> </a:t>
            </a:r>
            <a:r>
              <a:rPr sz="2667" b="1" dirty="0">
                <a:solidFill>
                  <a:srgbClr val="D9D9D9"/>
                </a:solidFill>
                <a:latin typeface="Calibri"/>
                <a:cs typeface="Calibri"/>
              </a:rPr>
              <a:t>of</a:t>
            </a:r>
            <a:r>
              <a:rPr sz="2667" b="1" spc="-33" dirty="0">
                <a:solidFill>
                  <a:srgbClr val="D9D9D9"/>
                </a:solidFill>
                <a:latin typeface="Calibri"/>
                <a:cs typeface="Calibri"/>
              </a:rPr>
              <a:t> </a:t>
            </a:r>
            <a:r>
              <a:rPr sz="2667" b="1" spc="-13" dirty="0">
                <a:solidFill>
                  <a:srgbClr val="D9D9D9"/>
                </a:solidFill>
                <a:latin typeface="Calibri"/>
                <a:cs typeface="Calibri"/>
              </a:rPr>
              <a:t>hardware</a:t>
            </a:r>
            <a:endParaRPr sz="2667" dirty="0">
              <a:latin typeface="Calibri"/>
              <a:cs typeface="Calibri"/>
            </a:endParaRPr>
          </a:p>
          <a:p>
            <a:pPr marL="502907" indent="-380990">
              <a:spcBef>
                <a:spcPts val="2400"/>
              </a:spcBef>
              <a:buClr>
                <a:srgbClr val="99D3FF"/>
              </a:buClr>
              <a:buFont typeface="Wingdings"/>
              <a:buChar char=""/>
              <a:tabLst>
                <a:tab pos="502907" algn="l"/>
              </a:tabLst>
            </a:pPr>
            <a:r>
              <a:rPr sz="2667" b="1" spc="-13" dirty="0">
                <a:solidFill>
                  <a:srgbClr val="D9D9D9"/>
                </a:solidFill>
                <a:latin typeface="Calibri"/>
                <a:cs typeface="Calibri"/>
              </a:rPr>
              <a:t>Alternatives:</a:t>
            </a:r>
            <a:endParaRPr sz="2667" dirty="0">
              <a:latin typeface="Calibri"/>
              <a:cs typeface="Calibri"/>
            </a:endParaRPr>
          </a:p>
          <a:p>
            <a:pPr marL="683243" lvl="1" indent="-179489">
              <a:spcBef>
                <a:spcPts val="1607"/>
              </a:spcBef>
              <a:buChar char="-"/>
              <a:tabLst>
                <a:tab pos="683243" algn="l"/>
              </a:tabLst>
            </a:pPr>
            <a:r>
              <a:rPr sz="2667" b="1" dirty="0">
                <a:solidFill>
                  <a:srgbClr val="D9D9D9"/>
                </a:solidFill>
                <a:latin typeface="Calibri"/>
                <a:cs typeface="Calibri"/>
              </a:rPr>
              <a:t>Tabular</a:t>
            </a:r>
            <a:r>
              <a:rPr sz="2667" b="1" spc="-60" dirty="0">
                <a:solidFill>
                  <a:srgbClr val="D9D9D9"/>
                </a:solidFill>
                <a:latin typeface="Calibri"/>
                <a:cs typeface="Calibri"/>
              </a:rPr>
              <a:t> </a:t>
            </a:r>
            <a:r>
              <a:rPr sz="2667" b="1" dirty="0">
                <a:solidFill>
                  <a:srgbClr val="D9D9D9"/>
                </a:solidFill>
                <a:latin typeface="Calibri"/>
                <a:cs typeface="Calibri"/>
              </a:rPr>
              <a:t>models</a:t>
            </a:r>
            <a:r>
              <a:rPr sz="2667" b="1" spc="-40" dirty="0">
                <a:solidFill>
                  <a:srgbClr val="D9D9D9"/>
                </a:solidFill>
                <a:latin typeface="Calibri"/>
                <a:cs typeface="Calibri"/>
              </a:rPr>
              <a:t> </a:t>
            </a:r>
            <a:r>
              <a:rPr sz="2667" b="1" spc="-13" dirty="0">
                <a:solidFill>
                  <a:srgbClr val="D9D9D9"/>
                </a:solidFill>
                <a:latin typeface="Calibri"/>
                <a:cs typeface="Calibri"/>
              </a:rPr>
              <a:t>(SSAS)</a:t>
            </a:r>
            <a:endParaRPr sz="2667" dirty="0">
              <a:latin typeface="Calibri"/>
              <a:cs typeface="Calibri"/>
            </a:endParaRPr>
          </a:p>
          <a:p>
            <a:pPr marL="683243" lvl="1" indent="-179489">
              <a:spcBef>
                <a:spcPts val="1600"/>
              </a:spcBef>
              <a:buChar char="-"/>
              <a:tabLst>
                <a:tab pos="683243" algn="l"/>
              </a:tabLst>
            </a:pPr>
            <a:r>
              <a:rPr sz="2667" b="1" spc="-13" dirty="0">
                <a:solidFill>
                  <a:srgbClr val="D9D9D9"/>
                </a:solidFill>
                <a:latin typeface="Calibri"/>
                <a:cs typeface="Calibri"/>
              </a:rPr>
              <a:t>ROLAP</a:t>
            </a:r>
            <a:endParaRPr sz="2667" dirty="0">
              <a:latin typeface="Calibri"/>
              <a:cs typeface="Calibri"/>
            </a:endParaRPr>
          </a:p>
          <a:p>
            <a:pPr marL="683243" lvl="1" indent="-179489">
              <a:spcBef>
                <a:spcPts val="1600"/>
              </a:spcBef>
              <a:buChar char="-"/>
              <a:tabLst>
                <a:tab pos="683243" algn="l"/>
              </a:tabLst>
            </a:pPr>
            <a:r>
              <a:rPr sz="2667" b="1" dirty="0">
                <a:solidFill>
                  <a:srgbClr val="D9D9D9"/>
                </a:solidFill>
                <a:latin typeface="Calibri"/>
                <a:cs typeface="Calibri"/>
              </a:rPr>
              <a:t>columnar</a:t>
            </a:r>
            <a:r>
              <a:rPr sz="2667" b="1" spc="-60" dirty="0">
                <a:solidFill>
                  <a:srgbClr val="D9D9D9"/>
                </a:solidFill>
                <a:latin typeface="Calibri"/>
                <a:cs typeface="Calibri"/>
              </a:rPr>
              <a:t> </a:t>
            </a:r>
            <a:r>
              <a:rPr sz="2667" b="1" spc="-13" dirty="0">
                <a:solidFill>
                  <a:srgbClr val="D9D9D9"/>
                </a:solidFill>
                <a:latin typeface="Calibri"/>
                <a:cs typeface="Calibri"/>
              </a:rPr>
              <a:t>storage</a:t>
            </a:r>
            <a:endParaRPr sz="2667" dirty="0">
              <a:latin typeface="Calibri"/>
              <a:cs typeface="Calibri"/>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27759" y="2320543"/>
            <a:ext cx="9930384" cy="1704848"/>
          </a:xfrm>
          <a:prstGeom prst="rect">
            <a:avLst/>
          </a:prstGeom>
        </p:spPr>
      </p:pic>
      <p:sp>
        <p:nvSpPr>
          <p:cNvPr id="3" name="object 3"/>
          <p:cNvSpPr txBox="1">
            <a:spLocks noGrp="1"/>
          </p:cNvSpPr>
          <p:nvPr>
            <p:ph type="title"/>
          </p:nvPr>
        </p:nvSpPr>
        <p:spPr>
          <a:xfrm>
            <a:off x="1190751" y="2621035"/>
            <a:ext cx="9811173" cy="1049004"/>
          </a:xfrm>
          <a:prstGeom prst="rect">
            <a:avLst/>
          </a:prstGeom>
          <a:noFill/>
          <a:ln w="9144">
            <a:noFill/>
          </a:ln>
        </p:spPr>
        <p:txBody>
          <a:bodyPr vert="horz" wrap="square" lIns="0" tIns="307339" rIns="0" bIns="0" rtlCol="0" anchor="ctr">
            <a:spAutoFit/>
          </a:bodyPr>
          <a:lstStyle/>
          <a:p>
            <a:pPr marL="981262">
              <a:lnSpc>
                <a:spcPct val="100000"/>
              </a:lnSpc>
              <a:spcBef>
                <a:spcPts val="2419"/>
              </a:spcBef>
            </a:pPr>
            <a:r>
              <a:rPr sz="4800" dirty="0">
                <a:solidFill>
                  <a:schemeClr val="bg1"/>
                </a:solidFill>
                <a:latin typeface="+mn-lt"/>
              </a:rPr>
              <a:t>ODS</a:t>
            </a:r>
            <a:r>
              <a:rPr sz="4800" spc="-33" dirty="0">
                <a:solidFill>
                  <a:schemeClr val="bg1"/>
                </a:solidFill>
                <a:latin typeface="+mn-lt"/>
              </a:rPr>
              <a:t> </a:t>
            </a:r>
            <a:r>
              <a:rPr sz="4800" dirty="0">
                <a:solidFill>
                  <a:schemeClr val="bg1"/>
                </a:solidFill>
                <a:latin typeface="+mn-lt"/>
              </a:rPr>
              <a:t>(Operational</a:t>
            </a:r>
            <a:r>
              <a:rPr sz="4800" spc="-67" dirty="0">
                <a:solidFill>
                  <a:schemeClr val="bg1"/>
                </a:solidFill>
                <a:latin typeface="+mn-lt"/>
              </a:rPr>
              <a:t> </a:t>
            </a:r>
            <a:r>
              <a:rPr sz="4800" dirty="0">
                <a:solidFill>
                  <a:schemeClr val="bg1"/>
                </a:solidFill>
                <a:latin typeface="+mn-lt"/>
              </a:rPr>
              <a:t>Data</a:t>
            </a:r>
            <a:r>
              <a:rPr sz="4800" spc="-40" dirty="0">
                <a:solidFill>
                  <a:schemeClr val="bg1"/>
                </a:solidFill>
                <a:latin typeface="+mn-lt"/>
              </a:rPr>
              <a:t> </a:t>
            </a:r>
            <a:r>
              <a:rPr sz="4800" spc="-13" dirty="0">
                <a:solidFill>
                  <a:schemeClr val="bg1"/>
                </a:solidFill>
                <a:latin typeface="+mn-lt"/>
              </a:rPr>
              <a:t>Storage)</a:t>
            </a:r>
            <a:endParaRPr sz="4800" dirty="0">
              <a:solidFill>
                <a:schemeClr val="bg1"/>
              </a:solidFill>
              <a:latin typeface="+mn-lt"/>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340525" y="557784"/>
            <a:ext cx="7985760" cy="3913828"/>
          </a:xfrm>
          <a:prstGeom prst="rect">
            <a:avLst/>
          </a:prstGeom>
        </p:spPr>
        <p:txBody>
          <a:bodyPr vert="horz" wrap="square" lIns="0" tIns="17780" rIns="0" bIns="0" rtlCol="0">
            <a:spAutoFit/>
          </a:bodyPr>
          <a:lstStyle/>
          <a:p>
            <a:pPr marR="463962" algn="ctr">
              <a:spcBef>
                <a:spcPts val="140"/>
              </a:spcBef>
            </a:pPr>
            <a:r>
              <a:rPr sz="4400" spc="-33" dirty="0">
                <a:solidFill>
                  <a:srgbClr val="FFFFFF"/>
                </a:solidFill>
                <a:latin typeface="Calibri"/>
                <a:cs typeface="Calibri"/>
              </a:rPr>
              <a:t>ODS</a:t>
            </a:r>
            <a:endParaRPr sz="4400" dirty="0">
              <a:latin typeface="Calibri"/>
              <a:cs typeface="Calibri"/>
            </a:endParaRPr>
          </a:p>
          <a:p>
            <a:pPr>
              <a:spcBef>
                <a:spcPts val="4327"/>
              </a:spcBef>
            </a:pPr>
            <a:endParaRPr sz="4267" dirty="0">
              <a:latin typeface="Calibri"/>
              <a:cs typeface="Calibri"/>
            </a:endParaRPr>
          </a:p>
          <a:p>
            <a:pPr marL="397923" indent="-380990">
              <a:buClr>
                <a:srgbClr val="99D3FF"/>
              </a:buClr>
              <a:buSzPct val="96428"/>
              <a:buFont typeface="Wingdings"/>
              <a:buChar char=""/>
              <a:tabLst>
                <a:tab pos="397923" algn="l"/>
              </a:tabLst>
            </a:pPr>
            <a:r>
              <a:rPr sz="3733" b="1" dirty="0">
                <a:solidFill>
                  <a:srgbClr val="D9D9D9"/>
                </a:solidFill>
                <a:latin typeface="Calibri"/>
                <a:cs typeface="Calibri"/>
              </a:rPr>
              <a:t>Sometimes</a:t>
            </a:r>
            <a:r>
              <a:rPr sz="3733" b="1" spc="-67" dirty="0">
                <a:solidFill>
                  <a:srgbClr val="D9D9D9"/>
                </a:solidFill>
                <a:latin typeface="Calibri"/>
                <a:cs typeface="Calibri"/>
              </a:rPr>
              <a:t> </a:t>
            </a:r>
            <a:r>
              <a:rPr sz="3733" b="1" dirty="0">
                <a:solidFill>
                  <a:srgbClr val="D9D9D9"/>
                </a:solidFill>
                <a:latin typeface="Calibri"/>
                <a:cs typeface="Calibri"/>
              </a:rPr>
              <a:t>a</a:t>
            </a:r>
            <a:r>
              <a:rPr sz="3733" b="1" spc="-67" dirty="0">
                <a:solidFill>
                  <a:srgbClr val="D9D9D9"/>
                </a:solidFill>
                <a:latin typeface="Calibri"/>
                <a:cs typeface="Calibri"/>
              </a:rPr>
              <a:t> </a:t>
            </a:r>
            <a:r>
              <a:rPr sz="3733" b="1" dirty="0">
                <a:solidFill>
                  <a:srgbClr val="D9D9D9"/>
                </a:solidFill>
                <a:latin typeface="Calibri"/>
                <a:cs typeface="Calibri"/>
              </a:rPr>
              <a:t>little</a:t>
            </a:r>
            <a:r>
              <a:rPr sz="3733" b="1" spc="-60" dirty="0">
                <a:solidFill>
                  <a:srgbClr val="D9D9D9"/>
                </a:solidFill>
                <a:latin typeface="Calibri"/>
                <a:cs typeface="Calibri"/>
              </a:rPr>
              <a:t> </a:t>
            </a:r>
            <a:r>
              <a:rPr sz="3733" b="1" dirty="0">
                <a:solidFill>
                  <a:srgbClr val="D9D9D9"/>
                </a:solidFill>
                <a:latin typeface="Calibri"/>
                <a:cs typeface="Calibri"/>
              </a:rPr>
              <a:t>bit</a:t>
            </a:r>
            <a:r>
              <a:rPr sz="3733" b="1" spc="-73" dirty="0">
                <a:solidFill>
                  <a:srgbClr val="D9D9D9"/>
                </a:solidFill>
                <a:latin typeface="Calibri"/>
                <a:cs typeface="Calibri"/>
              </a:rPr>
              <a:t> </a:t>
            </a:r>
            <a:r>
              <a:rPr sz="3733" b="1" spc="-13" dirty="0">
                <a:solidFill>
                  <a:srgbClr val="D9D9D9"/>
                </a:solidFill>
                <a:latin typeface="Calibri"/>
                <a:cs typeface="Calibri"/>
              </a:rPr>
              <a:t>confusing</a:t>
            </a:r>
            <a:endParaRPr sz="3733" dirty="0">
              <a:latin typeface="Calibri"/>
              <a:cs typeface="Calibri"/>
            </a:endParaRPr>
          </a:p>
          <a:p>
            <a:pPr>
              <a:spcBef>
                <a:spcPts val="2407"/>
              </a:spcBef>
              <a:buClr>
                <a:srgbClr val="99D3FF"/>
              </a:buClr>
              <a:buFont typeface="Wingdings"/>
              <a:buChar char=""/>
            </a:pPr>
            <a:endParaRPr sz="3733" dirty="0">
              <a:latin typeface="Calibri"/>
              <a:cs typeface="Calibri"/>
            </a:endParaRPr>
          </a:p>
          <a:p>
            <a:pPr marL="496134" lvl="1" indent="-380990">
              <a:buClr>
                <a:srgbClr val="99D3FF"/>
              </a:buClr>
              <a:buSzPct val="96428"/>
              <a:buFont typeface="Wingdings"/>
              <a:buChar char=""/>
              <a:tabLst>
                <a:tab pos="496134" algn="l"/>
              </a:tabLst>
            </a:pPr>
            <a:r>
              <a:rPr sz="3733" b="1" dirty="0">
                <a:solidFill>
                  <a:srgbClr val="D9D9D9"/>
                </a:solidFill>
                <a:latin typeface="Calibri"/>
                <a:cs typeface="Calibri"/>
              </a:rPr>
              <a:t>Different</a:t>
            </a:r>
            <a:r>
              <a:rPr sz="3733" b="1" spc="-33" dirty="0">
                <a:solidFill>
                  <a:srgbClr val="D9D9D9"/>
                </a:solidFill>
                <a:latin typeface="Calibri"/>
                <a:cs typeface="Calibri"/>
              </a:rPr>
              <a:t> </a:t>
            </a:r>
            <a:r>
              <a:rPr sz="3733" b="1" spc="-13" dirty="0">
                <a:solidFill>
                  <a:srgbClr val="D9D9D9"/>
                </a:solidFill>
                <a:latin typeface="Calibri"/>
                <a:cs typeface="Calibri"/>
              </a:rPr>
              <a:t>understandings</a:t>
            </a:r>
            <a:r>
              <a:rPr sz="3733" b="1" spc="-47" dirty="0">
                <a:solidFill>
                  <a:srgbClr val="D9D9D9"/>
                </a:solidFill>
                <a:latin typeface="Calibri"/>
                <a:cs typeface="Calibri"/>
              </a:rPr>
              <a:t> </a:t>
            </a:r>
            <a:r>
              <a:rPr sz="3733" b="1" dirty="0">
                <a:solidFill>
                  <a:srgbClr val="D9D9D9"/>
                </a:solidFill>
                <a:latin typeface="Calibri"/>
                <a:cs typeface="Calibri"/>
              </a:rPr>
              <a:t>/</a:t>
            </a:r>
            <a:r>
              <a:rPr sz="3733" b="1" spc="-53" dirty="0">
                <a:solidFill>
                  <a:srgbClr val="D9D9D9"/>
                </a:solidFill>
                <a:latin typeface="Calibri"/>
                <a:cs typeface="Calibri"/>
              </a:rPr>
              <a:t> </a:t>
            </a:r>
            <a:r>
              <a:rPr sz="3733" b="1" spc="-13" dirty="0">
                <a:solidFill>
                  <a:srgbClr val="D9D9D9"/>
                </a:solidFill>
                <a:latin typeface="Calibri"/>
                <a:cs typeface="Calibri"/>
              </a:rPr>
              <a:t>definitions</a:t>
            </a:r>
            <a:endParaRPr sz="3733" dirty="0">
              <a:latin typeface="Calibri"/>
              <a:cs typeface="Calibri"/>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97896" y="383227"/>
            <a:ext cx="2322981" cy="695062"/>
          </a:xfrm>
          <a:prstGeom prst="rect">
            <a:avLst/>
          </a:prstGeom>
        </p:spPr>
        <p:txBody>
          <a:bodyPr vert="horz" wrap="square" lIns="0" tIns="17780" rIns="0" bIns="0" rtlCol="0" anchor="ctr">
            <a:spAutoFit/>
          </a:bodyPr>
          <a:lstStyle/>
          <a:p>
            <a:pPr marL="16933">
              <a:lnSpc>
                <a:spcPct val="100000"/>
              </a:lnSpc>
              <a:spcBef>
                <a:spcPts val="140"/>
              </a:spcBef>
            </a:pPr>
            <a:r>
              <a:rPr lang="en-IN" sz="4400" spc="-33" dirty="0">
                <a:solidFill>
                  <a:srgbClr val="FFFFFF"/>
                </a:solidFill>
                <a:latin typeface="Calibri"/>
                <a:cs typeface="Calibri"/>
              </a:rPr>
              <a:t>ODS</a:t>
            </a:r>
            <a:endParaRPr spc="-33" dirty="0"/>
          </a:p>
        </p:txBody>
      </p:sp>
      <p:sp>
        <p:nvSpPr>
          <p:cNvPr id="3" name="object 3"/>
          <p:cNvSpPr/>
          <p:nvPr/>
        </p:nvSpPr>
        <p:spPr>
          <a:xfrm>
            <a:off x="8923544" y="2760963"/>
            <a:ext cx="1398693" cy="1899920"/>
          </a:xfrm>
          <a:custGeom>
            <a:avLst/>
            <a:gdLst/>
            <a:ahLst/>
            <a:cxnLst/>
            <a:rect l="l" t="t" r="r" b="b"/>
            <a:pathLst>
              <a:path w="1049020" h="1424939">
                <a:moveTo>
                  <a:pt x="1048981" y="974928"/>
                </a:moveTo>
                <a:lnTo>
                  <a:pt x="1030160" y="1014679"/>
                </a:lnTo>
                <a:lnTo>
                  <a:pt x="977099" y="1050480"/>
                </a:lnTo>
                <a:lnTo>
                  <a:pt x="939330" y="1066431"/>
                </a:lnTo>
                <a:lnTo>
                  <a:pt x="936586" y="1067333"/>
                </a:lnTo>
                <a:lnTo>
                  <a:pt x="936586" y="1237399"/>
                </a:lnTo>
                <a:lnTo>
                  <a:pt x="933894" y="1252753"/>
                </a:lnTo>
                <a:lnTo>
                  <a:pt x="926287" y="1264589"/>
                </a:lnTo>
                <a:lnTo>
                  <a:pt x="914463" y="1272197"/>
                </a:lnTo>
                <a:lnTo>
                  <a:pt x="899121" y="1274889"/>
                </a:lnTo>
                <a:lnTo>
                  <a:pt x="883793" y="1272197"/>
                </a:lnTo>
                <a:lnTo>
                  <a:pt x="871969" y="1264589"/>
                </a:lnTo>
                <a:lnTo>
                  <a:pt x="864349" y="1252753"/>
                </a:lnTo>
                <a:lnTo>
                  <a:pt x="861656" y="1237399"/>
                </a:lnTo>
                <a:lnTo>
                  <a:pt x="864349" y="1222044"/>
                </a:lnTo>
                <a:lnTo>
                  <a:pt x="871969" y="1210221"/>
                </a:lnTo>
                <a:lnTo>
                  <a:pt x="883793" y="1202601"/>
                </a:lnTo>
                <a:lnTo>
                  <a:pt x="899121" y="1199908"/>
                </a:lnTo>
                <a:lnTo>
                  <a:pt x="914463" y="1202601"/>
                </a:lnTo>
                <a:lnTo>
                  <a:pt x="926287" y="1210221"/>
                </a:lnTo>
                <a:lnTo>
                  <a:pt x="933894" y="1222044"/>
                </a:lnTo>
                <a:lnTo>
                  <a:pt x="936586" y="1237399"/>
                </a:lnTo>
                <a:lnTo>
                  <a:pt x="936586" y="1067333"/>
                </a:lnTo>
                <a:lnTo>
                  <a:pt x="894905" y="1080858"/>
                </a:lnTo>
                <a:lnTo>
                  <a:pt x="844473" y="1093558"/>
                </a:lnTo>
                <a:lnTo>
                  <a:pt x="788682" y="1104353"/>
                </a:lnTo>
                <a:lnTo>
                  <a:pt x="728141" y="1113078"/>
                </a:lnTo>
                <a:lnTo>
                  <a:pt x="663498" y="1119530"/>
                </a:lnTo>
                <a:lnTo>
                  <a:pt x="595401" y="1123530"/>
                </a:lnTo>
                <a:lnTo>
                  <a:pt x="524484" y="1124915"/>
                </a:lnTo>
                <a:lnTo>
                  <a:pt x="453567" y="1123530"/>
                </a:lnTo>
                <a:lnTo>
                  <a:pt x="385470" y="1119530"/>
                </a:lnTo>
                <a:lnTo>
                  <a:pt x="320840" y="1113078"/>
                </a:lnTo>
                <a:lnTo>
                  <a:pt x="260299" y="1104353"/>
                </a:lnTo>
                <a:lnTo>
                  <a:pt x="204495" y="1093558"/>
                </a:lnTo>
                <a:lnTo>
                  <a:pt x="154063" y="1080858"/>
                </a:lnTo>
                <a:lnTo>
                  <a:pt x="109639" y="1066431"/>
                </a:lnTo>
                <a:lnTo>
                  <a:pt x="71869" y="1050480"/>
                </a:lnTo>
                <a:lnTo>
                  <a:pt x="18821" y="1014679"/>
                </a:lnTo>
                <a:lnTo>
                  <a:pt x="0" y="974928"/>
                </a:lnTo>
                <a:lnTo>
                  <a:pt x="0" y="1274889"/>
                </a:lnTo>
                <a:lnTo>
                  <a:pt x="18821" y="1314653"/>
                </a:lnTo>
                <a:lnTo>
                  <a:pt x="71869" y="1350441"/>
                </a:lnTo>
                <a:lnTo>
                  <a:pt x="109639" y="1366405"/>
                </a:lnTo>
                <a:lnTo>
                  <a:pt x="154063" y="1380820"/>
                </a:lnTo>
                <a:lnTo>
                  <a:pt x="204495" y="1393520"/>
                </a:lnTo>
                <a:lnTo>
                  <a:pt x="260299" y="1404327"/>
                </a:lnTo>
                <a:lnTo>
                  <a:pt x="320840" y="1413040"/>
                </a:lnTo>
                <a:lnTo>
                  <a:pt x="385470" y="1419491"/>
                </a:lnTo>
                <a:lnTo>
                  <a:pt x="453567" y="1423504"/>
                </a:lnTo>
                <a:lnTo>
                  <a:pt x="524484" y="1424876"/>
                </a:lnTo>
                <a:lnTo>
                  <a:pt x="595401" y="1423504"/>
                </a:lnTo>
                <a:lnTo>
                  <a:pt x="663498" y="1419491"/>
                </a:lnTo>
                <a:lnTo>
                  <a:pt x="728141" y="1413040"/>
                </a:lnTo>
                <a:lnTo>
                  <a:pt x="788682" y="1404327"/>
                </a:lnTo>
                <a:lnTo>
                  <a:pt x="844473" y="1393520"/>
                </a:lnTo>
                <a:lnTo>
                  <a:pt x="894905" y="1380820"/>
                </a:lnTo>
                <a:lnTo>
                  <a:pt x="939330" y="1366405"/>
                </a:lnTo>
                <a:lnTo>
                  <a:pt x="977099" y="1350441"/>
                </a:lnTo>
                <a:lnTo>
                  <a:pt x="1030160" y="1314653"/>
                </a:lnTo>
                <a:lnTo>
                  <a:pt x="1048981" y="1274889"/>
                </a:lnTo>
                <a:lnTo>
                  <a:pt x="1048981" y="1199908"/>
                </a:lnTo>
                <a:lnTo>
                  <a:pt x="1048981" y="1124915"/>
                </a:lnTo>
                <a:lnTo>
                  <a:pt x="1048981" y="974928"/>
                </a:lnTo>
                <a:close/>
              </a:path>
              <a:path w="1049020" h="1424939">
                <a:moveTo>
                  <a:pt x="1048981" y="599973"/>
                </a:moveTo>
                <a:lnTo>
                  <a:pt x="1030160" y="639724"/>
                </a:lnTo>
                <a:lnTo>
                  <a:pt x="977099" y="675513"/>
                </a:lnTo>
                <a:lnTo>
                  <a:pt x="939330" y="691476"/>
                </a:lnTo>
                <a:lnTo>
                  <a:pt x="936586" y="692378"/>
                </a:lnTo>
                <a:lnTo>
                  <a:pt x="936586" y="862444"/>
                </a:lnTo>
                <a:lnTo>
                  <a:pt x="933894" y="877785"/>
                </a:lnTo>
                <a:lnTo>
                  <a:pt x="926287" y="889622"/>
                </a:lnTo>
                <a:lnTo>
                  <a:pt x="914463" y="897242"/>
                </a:lnTo>
                <a:lnTo>
                  <a:pt x="899121" y="899934"/>
                </a:lnTo>
                <a:lnTo>
                  <a:pt x="883793" y="897242"/>
                </a:lnTo>
                <a:lnTo>
                  <a:pt x="871969" y="889622"/>
                </a:lnTo>
                <a:lnTo>
                  <a:pt x="864349" y="877785"/>
                </a:lnTo>
                <a:lnTo>
                  <a:pt x="861656" y="862444"/>
                </a:lnTo>
                <a:lnTo>
                  <a:pt x="864349" y="847090"/>
                </a:lnTo>
                <a:lnTo>
                  <a:pt x="871969" y="835253"/>
                </a:lnTo>
                <a:lnTo>
                  <a:pt x="883793" y="827646"/>
                </a:lnTo>
                <a:lnTo>
                  <a:pt x="899121" y="824941"/>
                </a:lnTo>
                <a:lnTo>
                  <a:pt x="914463" y="827646"/>
                </a:lnTo>
                <a:lnTo>
                  <a:pt x="926287" y="835253"/>
                </a:lnTo>
                <a:lnTo>
                  <a:pt x="933894" y="847090"/>
                </a:lnTo>
                <a:lnTo>
                  <a:pt x="936586" y="862444"/>
                </a:lnTo>
                <a:lnTo>
                  <a:pt x="936586" y="692378"/>
                </a:lnTo>
                <a:lnTo>
                  <a:pt x="894905" y="705891"/>
                </a:lnTo>
                <a:lnTo>
                  <a:pt x="844473" y="718604"/>
                </a:lnTo>
                <a:lnTo>
                  <a:pt x="788682" y="729399"/>
                </a:lnTo>
                <a:lnTo>
                  <a:pt x="728141" y="738124"/>
                </a:lnTo>
                <a:lnTo>
                  <a:pt x="663498" y="744575"/>
                </a:lnTo>
                <a:lnTo>
                  <a:pt x="595401" y="748576"/>
                </a:lnTo>
                <a:lnTo>
                  <a:pt x="524484" y="749947"/>
                </a:lnTo>
                <a:lnTo>
                  <a:pt x="453567" y="748576"/>
                </a:lnTo>
                <a:lnTo>
                  <a:pt x="385470" y="744575"/>
                </a:lnTo>
                <a:lnTo>
                  <a:pt x="320840" y="738124"/>
                </a:lnTo>
                <a:lnTo>
                  <a:pt x="260299" y="729399"/>
                </a:lnTo>
                <a:lnTo>
                  <a:pt x="204495" y="718604"/>
                </a:lnTo>
                <a:lnTo>
                  <a:pt x="154063" y="705891"/>
                </a:lnTo>
                <a:lnTo>
                  <a:pt x="109639" y="691476"/>
                </a:lnTo>
                <a:lnTo>
                  <a:pt x="71869" y="675513"/>
                </a:lnTo>
                <a:lnTo>
                  <a:pt x="18821" y="639724"/>
                </a:lnTo>
                <a:lnTo>
                  <a:pt x="0" y="599973"/>
                </a:lnTo>
                <a:lnTo>
                  <a:pt x="0" y="899934"/>
                </a:lnTo>
                <a:lnTo>
                  <a:pt x="18821" y="939685"/>
                </a:lnTo>
                <a:lnTo>
                  <a:pt x="71869" y="975487"/>
                </a:lnTo>
                <a:lnTo>
                  <a:pt x="109639" y="991438"/>
                </a:lnTo>
                <a:lnTo>
                  <a:pt x="154063" y="1005865"/>
                </a:lnTo>
                <a:lnTo>
                  <a:pt x="204495" y="1018565"/>
                </a:lnTo>
                <a:lnTo>
                  <a:pt x="260299" y="1029373"/>
                </a:lnTo>
                <a:lnTo>
                  <a:pt x="320840" y="1038085"/>
                </a:lnTo>
                <a:lnTo>
                  <a:pt x="385470" y="1044536"/>
                </a:lnTo>
                <a:lnTo>
                  <a:pt x="453567" y="1048550"/>
                </a:lnTo>
                <a:lnTo>
                  <a:pt x="524484" y="1049921"/>
                </a:lnTo>
                <a:lnTo>
                  <a:pt x="595401" y="1048550"/>
                </a:lnTo>
                <a:lnTo>
                  <a:pt x="663498" y="1044536"/>
                </a:lnTo>
                <a:lnTo>
                  <a:pt x="728141" y="1038085"/>
                </a:lnTo>
                <a:lnTo>
                  <a:pt x="788682" y="1029373"/>
                </a:lnTo>
                <a:lnTo>
                  <a:pt x="844473" y="1018565"/>
                </a:lnTo>
                <a:lnTo>
                  <a:pt x="894905" y="1005865"/>
                </a:lnTo>
                <a:lnTo>
                  <a:pt x="939330" y="991438"/>
                </a:lnTo>
                <a:lnTo>
                  <a:pt x="977099" y="975487"/>
                </a:lnTo>
                <a:lnTo>
                  <a:pt x="1030160" y="939685"/>
                </a:lnTo>
                <a:lnTo>
                  <a:pt x="1048981" y="899934"/>
                </a:lnTo>
                <a:lnTo>
                  <a:pt x="1048981" y="824941"/>
                </a:lnTo>
                <a:lnTo>
                  <a:pt x="1048981" y="749947"/>
                </a:lnTo>
                <a:lnTo>
                  <a:pt x="1048981" y="599973"/>
                </a:lnTo>
                <a:close/>
              </a:path>
              <a:path w="1049020" h="1424939">
                <a:moveTo>
                  <a:pt x="1048981" y="225005"/>
                </a:moveTo>
                <a:lnTo>
                  <a:pt x="1030160" y="264769"/>
                </a:lnTo>
                <a:lnTo>
                  <a:pt x="977099" y="300558"/>
                </a:lnTo>
                <a:lnTo>
                  <a:pt x="939330" y="316522"/>
                </a:lnTo>
                <a:lnTo>
                  <a:pt x="936586" y="317423"/>
                </a:lnTo>
                <a:lnTo>
                  <a:pt x="936586" y="487476"/>
                </a:lnTo>
                <a:lnTo>
                  <a:pt x="933894" y="502831"/>
                </a:lnTo>
                <a:lnTo>
                  <a:pt x="926287" y="514667"/>
                </a:lnTo>
                <a:lnTo>
                  <a:pt x="914463" y="522287"/>
                </a:lnTo>
                <a:lnTo>
                  <a:pt x="899121" y="524979"/>
                </a:lnTo>
                <a:lnTo>
                  <a:pt x="883793" y="522287"/>
                </a:lnTo>
                <a:lnTo>
                  <a:pt x="871969" y="514667"/>
                </a:lnTo>
                <a:lnTo>
                  <a:pt x="864349" y="502831"/>
                </a:lnTo>
                <a:lnTo>
                  <a:pt x="861656" y="487476"/>
                </a:lnTo>
                <a:lnTo>
                  <a:pt x="864349" y="472135"/>
                </a:lnTo>
                <a:lnTo>
                  <a:pt x="871969" y="460298"/>
                </a:lnTo>
                <a:lnTo>
                  <a:pt x="883793" y="452678"/>
                </a:lnTo>
                <a:lnTo>
                  <a:pt x="899121" y="449986"/>
                </a:lnTo>
                <a:lnTo>
                  <a:pt x="914463" y="452678"/>
                </a:lnTo>
                <a:lnTo>
                  <a:pt x="926287" y="460298"/>
                </a:lnTo>
                <a:lnTo>
                  <a:pt x="933894" y="472135"/>
                </a:lnTo>
                <a:lnTo>
                  <a:pt x="936586" y="487476"/>
                </a:lnTo>
                <a:lnTo>
                  <a:pt x="936586" y="317423"/>
                </a:lnTo>
                <a:lnTo>
                  <a:pt x="894905" y="330936"/>
                </a:lnTo>
                <a:lnTo>
                  <a:pt x="844473" y="343636"/>
                </a:lnTo>
                <a:lnTo>
                  <a:pt x="788682" y="354444"/>
                </a:lnTo>
                <a:lnTo>
                  <a:pt x="728141" y="363156"/>
                </a:lnTo>
                <a:lnTo>
                  <a:pt x="663498" y="369608"/>
                </a:lnTo>
                <a:lnTo>
                  <a:pt x="595401" y="373621"/>
                </a:lnTo>
                <a:lnTo>
                  <a:pt x="524484" y="374992"/>
                </a:lnTo>
                <a:lnTo>
                  <a:pt x="453567" y="373621"/>
                </a:lnTo>
                <a:lnTo>
                  <a:pt x="385470" y="369608"/>
                </a:lnTo>
                <a:lnTo>
                  <a:pt x="320840" y="363156"/>
                </a:lnTo>
                <a:lnTo>
                  <a:pt x="260299" y="354444"/>
                </a:lnTo>
                <a:lnTo>
                  <a:pt x="204495" y="343636"/>
                </a:lnTo>
                <a:lnTo>
                  <a:pt x="154063" y="330936"/>
                </a:lnTo>
                <a:lnTo>
                  <a:pt x="109639" y="316522"/>
                </a:lnTo>
                <a:lnTo>
                  <a:pt x="71869" y="300558"/>
                </a:lnTo>
                <a:lnTo>
                  <a:pt x="18821" y="264769"/>
                </a:lnTo>
                <a:lnTo>
                  <a:pt x="0" y="225005"/>
                </a:lnTo>
                <a:lnTo>
                  <a:pt x="0" y="524979"/>
                </a:lnTo>
                <a:lnTo>
                  <a:pt x="18821" y="564730"/>
                </a:lnTo>
                <a:lnTo>
                  <a:pt x="71869" y="600519"/>
                </a:lnTo>
                <a:lnTo>
                  <a:pt x="109639" y="616483"/>
                </a:lnTo>
                <a:lnTo>
                  <a:pt x="154063" y="630897"/>
                </a:lnTo>
                <a:lnTo>
                  <a:pt x="204495" y="643610"/>
                </a:lnTo>
                <a:lnTo>
                  <a:pt x="260299" y="654405"/>
                </a:lnTo>
                <a:lnTo>
                  <a:pt x="320840" y="663130"/>
                </a:lnTo>
                <a:lnTo>
                  <a:pt x="385470" y="669582"/>
                </a:lnTo>
                <a:lnTo>
                  <a:pt x="453567" y="673582"/>
                </a:lnTo>
                <a:lnTo>
                  <a:pt x="524484" y="674966"/>
                </a:lnTo>
                <a:lnTo>
                  <a:pt x="595401" y="673582"/>
                </a:lnTo>
                <a:lnTo>
                  <a:pt x="663498" y="669582"/>
                </a:lnTo>
                <a:lnTo>
                  <a:pt x="728141" y="663130"/>
                </a:lnTo>
                <a:lnTo>
                  <a:pt x="788682" y="654405"/>
                </a:lnTo>
                <a:lnTo>
                  <a:pt x="844473" y="643610"/>
                </a:lnTo>
                <a:lnTo>
                  <a:pt x="894905" y="630897"/>
                </a:lnTo>
                <a:lnTo>
                  <a:pt x="939330" y="616483"/>
                </a:lnTo>
                <a:lnTo>
                  <a:pt x="977099" y="600519"/>
                </a:lnTo>
                <a:lnTo>
                  <a:pt x="1030160" y="564730"/>
                </a:lnTo>
                <a:lnTo>
                  <a:pt x="1048981" y="524979"/>
                </a:lnTo>
                <a:lnTo>
                  <a:pt x="1048981" y="449986"/>
                </a:lnTo>
                <a:lnTo>
                  <a:pt x="1048981" y="374992"/>
                </a:lnTo>
                <a:lnTo>
                  <a:pt x="1048981" y="225005"/>
                </a:lnTo>
                <a:close/>
              </a:path>
              <a:path w="1049020" h="1424939">
                <a:moveTo>
                  <a:pt x="1048981" y="150025"/>
                </a:moveTo>
                <a:lnTo>
                  <a:pt x="1030249" y="110147"/>
                </a:lnTo>
                <a:lnTo>
                  <a:pt x="977366" y="74307"/>
                </a:lnTo>
                <a:lnTo>
                  <a:pt x="939698" y="58356"/>
                </a:lnTo>
                <a:lnTo>
                  <a:pt x="895362" y="43954"/>
                </a:lnTo>
                <a:lnTo>
                  <a:pt x="844994" y="31267"/>
                </a:lnTo>
                <a:lnTo>
                  <a:pt x="789216" y="20485"/>
                </a:lnTo>
                <a:lnTo>
                  <a:pt x="728649" y="11798"/>
                </a:lnTo>
                <a:lnTo>
                  <a:pt x="663917" y="5359"/>
                </a:lnTo>
                <a:lnTo>
                  <a:pt x="595655" y="1371"/>
                </a:lnTo>
                <a:lnTo>
                  <a:pt x="524484" y="0"/>
                </a:lnTo>
                <a:lnTo>
                  <a:pt x="453326" y="1371"/>
                </a:lnTo>
                <a:lnTo>
                  <a:pt x="385064" y="5359"/>
                </a:lnTo>
                <a:lnTo>
                  <a:pt x="320332" y="11798"/>
                </a:lnTo>
                <a:lnTo>
                  <a:pt x="259778" y="20485"/>
                </a:lnTo>
                <a:lnTo>
                  <a:pt x="203987" y="31267"/>
                </a:lnTo>
                <a:lnTo>
                  <a:pt x="153619" y="43954"/>
                </a:lnTo>
                <a:lnTo>
                  <a:pt x="109283" y="58356"/>
                </a:lnTo>
                <a:lnTo>
                  <a:pt x="71602" y="74307"/>
                </a:lnTo>
                <a:lnTo>
                  <a:pt x="18732" y="110147"/>
                </a:lnTo>
                <a:lnTo>
                  <a:pt x="0" y="150025"/>
                </a:lnTo>
                <a:lnTo>
                  <a:pt x="4787" y="170370"/>
                </a:lnTo>
                <a:lnTo>
                  <a:pt x="41211" y="208407"/>
                </a:lnTo>
                <a:lnTo>
                  <a:pt x="109283" y="241668"/>
                </a:lnTo>
                <a:lnTo>
                  <a:pt x="153619" y="256070"/>
                </a:lnTo>
                <a:lnTo>
                  <a:pt x="203987" y="268757"/>
                </a:lnTo>
                <a:lnTo>
                  <a:pt x="259778" y="279527"/>
                </a:lnTo>
                <a:lnTo>
                  <a:pt x="320332" y="288213"/>
                </a:lnTo>
                <a:lnTo>
                  <a:pt x="385064" y="294640"/>
                </a:lnTo>
                <a:lnTo>
                  <a:pt x="453326" y="298640"/>
                </a:lnTo>
                <a:lnTo>
                  <a:pt x="524484" y="299999"/>
                </a:lnTo>
                <a:lnTo>
                  <a:pt x="595655" y="298640"/>
                </a:lnTo>
                <a:lnTo>
                  <a:pt x="663917" y="294640"/>
                </a:lnTo>
                <a:lnTo>
                  <a:pt x="728649" y="288213"/>
                </a:lnTo>
                <a:lnTo>
                  <a:pt x="789216" y="279527"/>
                </a:lnTo>
                <a:lnTo>
                  <a:pt x="844994" y="268757"/>
                </a:lnTo>
                <a:lnTo>
                  <a:pt x="895362" y="256070"/>
                </a:lnTo>
                <a:lnTo>
                  <a:pt x="939698" y="241668"/>
                </a:lnTo>
                <a:lnTo>
                  <a:pt x="977366" y="225717"/>
                </a:lnTo>
                <a:lnTo>
                  <a:pt x="1030249" y="189890"/>
                </a:lnTo>
                <a:lnTo>
                  <a:pt x="1048981" y="150025"/>
                </a:lnTo>
                <a:close/>
              </a:path>
            </a:pathLst>
          </a:custGeom>
          <a:solidFill>
            <a:srgbClr val="99D3FF"/>
          </a:solidFill>
        </p:spPr>
        <p:txBody>
          <a:bodyPr wrap="square" lIns="0" tIns="0" rIns="0" bIns="0" rtlCol="0"/>
          <a:lstStyle/>
          <a:p>
            <a:endParaRPr sz="2400"/>
          </a:p>
        </p:txBody>
      </p:sp>
      <p:sp>
        <p:nvSpPr>
          <p:cNvPr id="4" name="object 4"/>
          <p:cNvSpPr/>
          <p:nvPr/>
        </p:nvSpPr>
        <p:spPr>
          <a:xfrm>
            <a:off x="3359133" y="2836434"/>
            <a:ext cx="688340" cy="936413"/>
          </a:xfrm>
          <a:custGeom>
            <a:avLst/>
            <a:gdLst/>
            <a:ahLst/>
            <a:cxnLst/>
            <a:rect l="l" t="t" r="r" b="b"/>
            <a:pathLst>
              <a:path w="516255" h="702310">
                <a:moveTo>
                  <a:pt x="515708" y="480110"/>
                </a:moveTo>
                <a:lnTo>
                  <a:pt x="506450" y="499681"/>
                </a:lnTo>
                <a:lnTo>
                  <a:pt x="480377" y="517309"/>
                </a:lnTo>
                <a:lnTo>
                  <a:pt x="460451" y="524687"/>
                </a:lnTo>
                <a:lnTo>
                  <a:pt x="460451" y="609371"/>
                </a:lnTo>
                <a:lnTo>
                  <a:pt x="459130" y="616927"/>
                </a:lnTo>
                <a:lnTo>
                  <a:pt x="455383" y="622757"/>
                </a:lnTo>
                <a:lnTo>
                  <a:pt x="449580" y="626503"/>
                </a:lnTo>
                <a:lnTo>
                  <a:pt x="442036" y="627837"/>
                </a:lnTo>
                <a:lnTo>
                  <a:pt x="434492" y="626503"/>
                </a:lnTo>
                <a:lnTo>
                  <a:pt x="428688" y="622757"/>
                </a:lnTo>
                <a:lnTo>
                  <a:pt x="424942" y="616927"/>
                </a:lnTo>
                <a:lnTo>
                  <a:pt x="423621" y="609371"/>
                </a:lnTo>
                <a:lnTo>
                  <a:pt x="424942" y="601802"/>
                </a:lnTo>
                <a:lnTo>
                  <a:pt x="428688" y="595985"/>
                </a:lnTo>
                <a:lnTo>
                  <a:pt x="434492" y="592226"/>
                </a:lnTo>
                <a:lnTo>
                  <a:pt x="442036" y="590905"/>
                </a:lnTo>
                <a:lnTo>
                  <a:pt x="449580" y="592226"/>
                </a:lnTo>
                <a:lnTo>
                  <a:pt x="455383" y="595985"/>
                </a:lnTo>
                <a:lnTo>
                  <a:pt x="459130" y="601802"/>
                </a:lnTo>
                <a:lnTo>
                  <a:pt x="460451" y="609371"/>
                </a:lnTo>
                <a:lnTo>
                  <a:pt x="460451" y="524687"/>
                </a:lnTo>
                <a:lnTo>
                  <a:pt x="439966" y="532269"/>
                </a:lnTo>
                <a:lnTo>
                  <a:pt x="387731" y="543852"/>
                </a:lnTo>
                <a:lnTo>
                  <a:pt x="326199" y="551319"/>
                </a:lnTo>
                <a:lnTo>
                  <a:pt x="257860" y="553974"/>
                </a:lnTo>
                <a:lnTo>
                  <a:pt x="189509" y="551319"/>
                </a:lnTo>
                <a:lnTo>
                  <a:pt x="127977" y="543852"/>
                </a:lnTo>
                <a:lnTo>
                  <a:pt x="75742" y="532269"/>
                </a:lnTo>
                <a:lnTo>
                  <a:pt x="35344" y="517309"/>
                </a:lnTo>
                <a:lnTo>
                  <a:pt x="0" y="480110"/>
                </a:lnTo>
                <a:lnTo>
                  <a:pt x="0" y="627837"/>
                </a:lnTo>
                <a:lnTo>
                  <a:pt x="35344" y="665035"/>
                </a:lnTo>
                <a:lnTo>
                  <a:pt x="75742" y="679996"/>
                </a:lnTo>
                <a:lnTo>
                  <a:pt x="127977" y="691565"/>
                </a:lnTo>
                <a:lnTo>
                  <a:pt x="189509" y="699046"/>
                </a:lnTo>
                <a:lnTo>
                  <a:pt x="257860" y="701687"/>
                </a:lnTo>
                <a:lnTo>
                  <a:pt x="326199" y="699046"/>
                </a:lnTo>
                <a:lnTo>
                  <a:pt x="387731" y="691565"/>
                </a:lnTo>
                <a:lnTo>
                  <a:pt x="439966" y="679996"/>
                </a:lnTo>
                <a:lnTo>
                  <a:pt x="480377" y="665035"/>
                </a:lnTo>
                <a:lnTo>
                  <a:pt x="515708" y="627837"/>
                </a:lnTo>
                <a:lnTo>
                  <a:pt x="515708" y="590905"/>
                </a:lnTo>
                <a:lnTo>
                  <a:pt x="515708" y="553974"/>
                </a:lnTo>
                <a:lnTo>
                  <a:pt x="515708" y="480110"/>
                </a:lnTo>
                <a:close/>
              </a:path>
              <a:path w="516255" h="702310">
                <a:moveTo>
                  <a:pt x="515708" y="295452"/>
                </a:moveTo>
                <a:lnTo>
                  <a:pt x="506450" y="315036"/>
                </a:lnTo>
                <a:lnTo>
                  <a:pt x="480377" y="332663"/>
                </a:lnTo>
                <a:lnTo>
                  <a:pt x="460451" y="340042"/>
                </a:lnTo>
                <a:lnTo>
                  <a:pt x="460451" y="424713"/>
                </a:lnTo>
                <a:lnTo>
                  <a:pt x="459130" y="432269"/>
                </a:lnTo>
                <a:lnTo>
                  <a:pt x="455383" y="438099"/>
                </a:lnTo>
                <a:lnTo>
                  <a:pt x="449580" y="441858"/>
                </a:lnTo>
                <a:lnTo>
                  <a:pt x="442036" y="443179"/>
                </a:lnTo>
                <a:lnTo>
                  <a:pt x="434492" y="441858"/>
                </a:lnTo>
                <a:lnTo>
                  <a:pt x="428688" y="438099"/>
                </a:lnTo>
                <a:lnTo>
                  <a:pt x="424942" y="432269"/>
                </a:lnTo>
                <a:lnTo>
                  <a:pt x="423621" y="424713"/>
                </a:lnTo>
                <a:lnTo>
                  <a:pt x="424942" y="417156"/>
                </a:lnTo>
                <a:lnTo>
                  <a:pt x="428688" y="411327"/>
                </a:lnTo>
                <a:lnTo>
                  <a:pt x="434492" y="407581"/>
                </a:lnTo>
                <a:lnTo>
                  <a:pt x="442036" y="406247"/>
                </a:lnTo>
                <a:lnTo>
                  <a:pt x="449580" y="407581"/>
                </a:lnTo>
                <a:lnTo>
                  <a:pt x="455383" y="411327"/>
                </a:lnTo>
                <a:lnTo>
                  <a:pt x="459130" y="417156"/>
                </a:lnTo>
                <a:lnTo>
                  <a:pt x="460451" y="424713"/>
                </a:lnTo>
                <a:lnTo>
                  <a:pt x="460451" y="340042"/>
                </a:lnTo>
                <a:lnTo>
                  <a:pt x="439966" y="347624"/>
                </a:lnTo>
                <a:lnTo>
                  <a:pt x="387731" y="359194"/>
                </a:lnTo>
                <a:lnTo>
                  <a:pt x="326199" y="366674"/>
                </a:lnTo>
                <a:lnTo>
                  <a:pt x="257860" y="369316"/>
                </a:lnTo>
                <a:lnTo>
                  <a:pt x="189509" y="366674"/>
                </a:lnTo>
                <a:lnTo>
                  <a:pt x="127977" y="359194"/>
                </a:lnTo>
                <a:lnTo>
                  <a:pt x="75742" y="347624"/>
                </a:lnTo>
                <a:lnTo>
                  <a:pt x="35344" y="332663"/>
                </a:lnTo>
                <a:lnTo>
                  <a:pt x="0" y="295452"/>
                </a:lnTo>
                <a:lnTo>
                  <a:pt x="0" y="443179"/>
                </a:lnTo>
                <a:lnTo>
                  <a:pt x="35344" y="480390"/>
                </a:lnTo>
                <a:lnTo>
                  <a:pt x="75742" y="495338"/>
                </a:lnTo>
                <a:lnTo>
                  <a:pt x="127977" y="506920"/>
                </a:lnTo>
                <a:lnTo>
                  <a:pt x="189509" y="514388"/>
                </a:lnTo>
                <a:lnTo>
                  <a:pt x="257860" y="517042"/>
                </a:lnTo>
                <a:lnTo>
                  <a:pt x="326199" y="514388"/>
                </a:lnTo>
                <a:lnTo>
                  <a:pt x="387731" y="506920"/>
                </a:lnTo>
                <a:lnTo>
                  <a:pt x="439966" y="495338"/>
                </a:lnTo>
                <a:lnTo>
                  <a:pt x="480377" y="480390"/>
                </a:lnTo>
                <a:lnTo>
                  <a:pt x="515708" y="443179"/>
                </a:lnTo>
                <a:lnTo>
                  <a:pt x="515708" y="406247"/>
                </a:lnTo>
                <a:lnTo>
                  <a:pt x="515708" y="369316"/>
                </a:lnTo>
                <a:lnTo>
                  <a:pt x="515708" y="295452"/>
                </a:lnTo>
                <a:close/>
              </a:path>
              <a:path w="516255" h="702310">
                <a:moveTo>
                  <a:pt x="515708" y="110807"/>
                </a:moveTo>
                <a:lnTo>
                  <a:pt x="506450" y="130378"/>
                </a:lnTo>
                <a:lnTo>
                  <a:pt x="480377" y="148005"/>
                </a:lnTo>
                <a:lnTo>
                  <a:pt x="460451" y="155384"/>
                </a:lnTo>
                <a:lnTo>
                  <a:pt x="460451" y="240055"/>
                </a:lnTo>
                <a:lnTo>
                  <a:pt x="459130" y="247624"/>
                </a:lnTo>
                <a:lnTo>
                  <a:pt x="455383" y="253453"/>
                </a:lnTo>
                <a:lnTo>
                  <a:pt x="449580" y="257200"/>
                </a:lnTo>
                <a:lnTo>
                  <a:pt x="442036" y="258521"/>
                </a:lnTo>
                <a:lnTo>
                  <a:pt x="434492" y="257200"/>
                </a:lnTo>
                <a:lnTo>
                  <a:pt x="428688" y="253453"/>
                </a:lnTo>
                <a:lnTo>
                  <a:pt x="424942" y="247624"/>
                </a:lnTo>
                <a:lnTo>
                  <a:pt x="423621" y="240055"/>
                </a:lnTo>
                <a:lnTo>
                  <a:pt x="424942" y="232498"/>
                </a:lnTo>
                <a:lnTo>
                  <a:pt x="428688" y="226669"/>
                </a:lnTo>
                <a:lnTo>
                  <a:pt x="434492" y="222923"/>
                </a:lnTo>
                <a:lnTo>
                  <a:pt x="442036" y="221602"/>
                </a:lnTo>
                <a:lnTo>
                  <a:pt x="449580" y="222923"/>
                </a:lnTo>
                <a:lnTo>
                  <a:pt x="455383" y="226669"/>
                </a:lnTo>
                <a:lnTo>
                  <a:pt x="459130" y="232498"/>
                </a:lnTo>
                <a:lnTo>
                  <a:pt x="460451" y="240055"/>
                </a:lnTo>
                <a:lnTo>
                  <a:pt x="460451" y="155384"/>
                </a:lnTo>
                <a:lnTo>
                  <a:pt x="439966" y="162966"/>
                </a:lnTo>
                <a:lnTo>
                  <a:pt x="387731" y="174548"/>
                </a:lnTo>
                <a:lnTo>
                  <a:pt x="326199" y="182016"/>
                </a:lnTo>
                <a:lnTo>
                  <a:pt x="257860" y="184670"/>
                </a:lnTo>
                <a:lnTo>
                  <a:pt x="189509" y="182016"/>
                </a:lnTo>
                <a:lnTo>
                  <a:pt x="127977" y="174548"/>
                </a:lnTo>
                <a:lnTo>
                  <a:pt x="75742" y="162966"/>
                </a:lnTo>
                <a:lnTo>
                  <a:pt x="35344" y="148005"/>
                </a:lnTo>
                <a:lnTo>
                  <a:pt x="0" y="110807"/>
                </a:lnTo>
                <a:lnTo>
                  <a:pt x="0" y="258521"/>
                </a:lnTo>
                <a:lnTo>
                  <a:pt x="35344" y="295732"/>
                </a:lnTo>
                <a:lnTo>
                  <a:pt x="75742" y="310692"/>
                </a:lnTo>
                <a:lnTo>
                  <a:pt x="127977" y="322262"/>
                </a:lnTo>
                <a:lnTo>
                  <a:pt x="189509" y="329742"/>
                </a:lnTo>
                <a:lnTo>
                  <a:pt x="257860" y="332384"/>
                </a:lnTo>
                <a:lnTo>
                  <a:pt x="326199" y="329742"/>
                </a:lnTo>
                <a:lnTo>
                  <a:pt x="387731" y="322262"/>
                </a:lnTo>
                <a:lnTo>
                  <a:pt x="439966" y="310692"/>
                </a:lnTo>
                <a:lnTo>
                  <a:pt x="480377" y="295732"/>
                </a:lnTo>
                <a:lnTo>
                  <a:pt x="515708" y="258521"/>
                </a:lnTo>
                <a:lnTo>
                  <a:pt x="515708" y="221602"/>
                </a:lnTo>
                <a:lnTo>
                  <a:pt x="515708" y="184670"/>
                </a:lnTo>
                <a:lnTo>
                  <a:pt x="515708" y="110807"/>
                </a:lnTo>
                <a:close/>
              </a:path>
              <a:path w="516255" h="702310">
                <a:moveTo>
                  <a:pt x="515708" y="73875"/>
                </a:moveTo>
                <a:lnTo>
                  <a:pt x="480504" y="36588"/>
                </a:lnTo>
                <a:lnTo>
                  <a:pt x="440182" y="21640"/>
                </a:lnTo>
                <a:lnTo>
                  <a:pt x="387997" y="10083"/>
                </a:lnTo>
                <a:lnTo>
                  <a:pt x="326402" y="2641"/>
                </a:lnTo>
                <a:lnTo>
                  <a:pt x="257860" y="0"/>
                </a:lnTo>
                <a:lnTo>
                  <a:pt x="189306" y="2641"/>
                </a:lnTo>
                <a:lnTo>
                  <a:pt x="127711" y="10083"/>
                </a:lnTo>
                <a:lnTo>
                  <a:pt x="75526" y="21640"/>
                </a:lnTo>
                <a:lnTo>
                  <a:pt x="35204" y="36588"/>
                </a:lnTo>
                <a:lnTo>
                  <a:pt x="0" y="73875"/>
                </a:lnTo>
                <a:lnTo>
                  <a:pt x="9220" y="93510"/>
                </a:lnTo>
                <a:lnTo>
                  <a:pt x="75526" y="126098"/>
                </a:lnTo>
                <a:lnTo>
                  <a:pt x="127711" y="137655"/>
                </a:lnTo>
                <a:lnTo>
                  <a:pt x="189306" y="145097"/>
                </a:lnTo>
                <a:lnTo>
                  <a:pt x="257860" y="147739"/>
                </a:lnTo>
                <a:lnTo>
                  <a:pt x="326402" y="145097"/>
                </a:lnTo>
                <a:lnTo>
                  <a:pt x="387997" y="137655"/>
                </a:lnTo>
                <a:lnTo>
                  <a:pt x="440182" y="126098"/>
                </a:lnTo>
                <a:lnTo>
                  <a:pt x="480504" y="111150"/>
                </a:lnTo>
                <a:lnTo>
                  <a:pt x="515708" y="73875"/>
                </a:lnTo>
                <a:close/>
              </a:path>
            </a:pathLst>
          </a:custGeom>
          <a:solidFill>
            <a:srgbClr val="9B9B9B"/>
          </a:solidFill>
        </p:spPr>
        <p:txBody>
          <a:bodyPr wrap="square" lIns="0" tIns="0" rIns="0" bIns="0" rtlCol="0"/>
          <a:lstStyle/>
          <a:p>
            <a:endParaRPr sz="2400"/>
          </a:p>
        </p:txBody>
      </p:sp>
      <p:pic>
        <p:nvPicPr>
          <p:cNvPr id="5" name="object 5"/>
          <p:cNvPicPr/>
          <p:nvPr/>
        </p:nvPicPr>
        <p:blipFill>
          <a:blip r:embed="rId2" cstate="print"/>
          <a:stretch>
            <a:fillRect/>
          </a:stretch>
        </p:blipFill>
        <p:spPr>
          <a:xfrm>
            <a:off x="3353170" y="4444189"/>
            <a:ext cx="700620" cy="947895"/>
          </a:xfrm>
          <a:prstGeom prst="rect">
            <a:avLst/>
          </a:prstGeom>
        </p:spPr>
      </p:pic>
      <p:sp>
        <p:nvSpPr>
          <p:cNvPr id="6" name="object 6"/>
          <p:cNvSpPr txBox="1"/>
          <p:nvPr/>
        </p:nvSpPr>
        <p:spPr>
          <a:xfrm>
            <a:off x="3078141" y="3754458"/>
            <a:ext cx="1145540"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Sales</a:t>
            </a:r>
            <a:r>
              <a:rPr sz="2133" spc="-27" dirty="0">
                <a:solidFill>
                  <a:srgbClr val="FFFFFF"/>
                </a:solidFill>
                <a:latin typeface="Calibri"/>
                <a:cs typeface="Calibri"/>
              </a:rPr>
              <a:t> data</a:t>
            </a:r>
            <a:endParaRPr sz="2133">
              <a:latin typeface="Calibri"/>
              <a:cs typeface="Calibri"/>
            </a:endParaRPr>
          </a:p>
        </p:txBody>
      </p:sp>
      <p:sp>
        <p:nvSpPr>
          <p:cNvPr id="7" name="object 7"/>
          <p:cNvSpPr txBox="1"/>
          <p:nvPr/>
        </p:nvSpPr>
        <p:spPr>
          <a:xfrm>
            <a:off x="2996523" y="5390625"/>
            <a:ext cx="1391920"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CRM</a:t>
            </a:r>
            <a:r>
              <a:rPr sz="2133" spc="-53" dirty="0">
                <a:solidFill>
                  <a:srgbClr val="FFFFFF"/>
                </a:solidFill>
                <a:latin typeface="Calibri"/>
                <a:cs typeface="Calibri"/>
              </a:rPr>
              <a:t> </a:t>
            </a:r>
            <a:r>
              <a:rPr sz="2133" spc="-13" dirty="0">
                <a:solidFill>
                  <a:srgbClr val="FFFFFF"/>
                </a:solidFill>
                <a:latin typeface="Calibri"/>
                <a:cs typeface="Calibri"/>
              </a:rPr>
              <a:t>system</a:t>
            </a:r>
            <a:endParaRPr sz="2133">
              <a:latin typeface="Calibri"/>
              <a:cs typeface="Calibri"/>
            </a:endParaRPr>
          </a:p>
        </p:txBody>
      </p:sp>
      <p:graphicFrame>
        <p:nvGraphicFramePr>
          <p:cNvPr id="8" name="object 8"/>
          <p:cNvGraphicFramePr>
            <a:graphicFrameLocks noGrp="1"/>
          </p:cNvGraphicFramePr>
          <p:nvPr/>
        </p:nvGraphicFramePr>
        <p:xfrm>
          <a:off x="3549439" y="1571001"/>
          <a:ext cx="929639" cy="628227"/>
        </p:xfrm>
        <a:graphic>
          <a:graphicData uri="http://schemas.openxmlformats.org/drawingml/2006/table">
            <a:tbl>
              <a:tblPr firstRow="1" bandRow="1">
                <a:tableStyleId>{2D5ABB26-0587-4C30-8999-92F81FD0307C}</a:tableStyleId>
              </a:tblPr>
              <a:tblGrid>
                <a:gridCol w="314113">
                  <a:extLst>
                    <a:ext uri="{9D8B030D-6E8A-4147-A177-3AD203B41FA5}">
                      <a16:colId xmlns:a16="http://schemas.microsoft.com/office/drawing/2014/main" val="20000"/>
                    </a:ext>
                  </a:extLst>
                </a:gridCol>
                <a:gridCol w="301413">
                  <a:extLst>
                    <a:ext uri="{9D8B030D-6E8A-4147-A177-3AD203B41FA5}">
                      <a16:colId xmlns:a16="http://schemas.microsoft.com/office/drawing/2014/main" val="20001"/>
                    </a:ext>
                  </a:extLst>
                </a:gridCol>
                <a:gridCol w="314113">
                  <a:extLst>
                    <a:ext uri="{9D8B030D-6E8A-4147-A177-3AD203B41FA5}">
                      <a16:colId xmlns:a16="http://schemas.microsoft.com/office/drawing/2014/main" val="20002"/>
                    </a:ext>
                  </a:extLst>
                </a:gridCol>
              </a:tblGrid>
              <a:tr h="213360">
                <a:tc>
                  <a:txBody>
                    <a:bodyPr/>
                    <a:lstStyle/>
                    <a:p>
                      <a:pPr>
                        <a:lnSpc>
                          <a:spcPct val="100000"/>
                        </a:lnSpc>
                      </a:pPr>
                      <a:endParaRPr sz="1200">
                        <a:latin typeface="Times New Roman"/>
                        <a:cs typeface="Times New Roman"/>
                      </a:endParaRPr>
                    </a:p>
                  </a:txBody>
                  <a:tcPr marL="0" marR="0" marT="0" marB="0">
                    <a:lnL w="5715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57150">
                      <a:solidFill>
                        <a:srgbClr val="BCBCBC"/>
                      </a:solidFill>
                      <a:prstDash val="solid"/>
                    </a:lnR>
                    <a:lnT w="57150">
                      <a:solidFill>
                        <a:srgbClr val="BCBCBC"/>
                      </a:solidFill>
                      <a:prstDash val="solid"/>
                    </a:lnT>
                    <a:lnB w="38100">
                      <a:solidFill>
                        <a:srgbClr val="BCBCBC"/>
                      </a:solidFill>
                      <a:prstDash val="solid"/>
                    </a:lnB>
                  </a:tcPr>
                </a:tc>
                <a:extLst>
                  <a:ext uri="{0D108BD9-81ED-4DB2-BD59-A6C34878D82A}">
                    <a16:rowId xmlns:a16="http://schemas.microsoft.com/office/drawing/2014/main" val="10000"/>
                  </a:ext>
                </a:extLst>
              </a:tr>
              <a:tr h="201507">
                <a:tc>
                  <a:txBody>
                    <a:bodyPr/>
                    <a:lstStyle/>
                    <a:p>
                      <a:pPr>
                        <a:lnSpc>
                          <a:spcPct val="100000"/>
                        </a:lnSpc>
                      </a:pPr>
                      <a:endParaRPr sz="11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11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11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38100">
                      <a:solidFill>
                        <a:srgbClr val="BCBCBC"/>
                      </a:solidFill>
                      <a:prstDash val="solid"/>
                    </a:lnB>
                  </a:tcPr>
                </a:tc>
                <a:extLst>
                  <a:ext uri="{0D108BD9-81ED-4DB2-BD59-A6C34878D82A}">
                    <a16:rowId xmlns:a16="http://schemas.microsoft.com/office/drawing/2014/main" val="10001"/>
                  </a:ext>
                </a:extLst>
              </a:tr>
              <a:tr h="213360">
                <a:tc>
                  <a:txBody>
                    <a:bodyPr/>
                    <a:lstStyle/>
                    <a:p>
                      <a:pPr>
                        <a:lnSpc>
                          <a:spcPct val="100000"/>
                        </a:lnSpc>
                      </a:pPr>
                      <a:endParaRPr sz="12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57150">
                      <a:solidFill>
                        <a:srgbClr val="BCBCBC"/>
                      </a:solidFill>
                      <a:prstDash val="solid"/>
                    </a:lnB>
                  </a:tcPr>
                </a:tc>
                <a:extLst>
                  <a:ext uri="{0D108BD9-81ED-4DB2-BD59-A6C34878D82A}">
                    <a16:rowId xmlns:a16="http://schemas.microsoft.com/office/drawing/2014/main" val="10002"/>
                  </a:ext>
                </a:extLst>
              </a:tr>
            </a:tbl>
          </a:graphicData>
        </a:graphic>
      </p:graphicFrame>
      <p:sp>
        <p:nvSpPr>
          <p:cNvPr id="9" name="object 9"/>
          <p:cNvSpPr txBox="1"/>
          <p:nvPr/>
        </p:nvSpPr>
        <p:spPr>
          <a:xfrm>
            <a:off x="2794169" y="2298361"/>
            <a:ext cx="2129367"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Other</a:t>
            </a:r>
            <a:r>
              <a:rPr sz="2133" spc="-13" dirty="0">
                <a:solidFill>
                  <a:srgbClr val="FFFFFF"/>
                </a:solidFill>
                <a:latin typeface="Calibri"/>
                <a:cs typeface="Calibri"/>
              </a:rPr>
              <a:t> </a:t>
            </a:r>
            <a:r>
              <a:rPr sz="2133" dirty="0">
                <a:solidFill>
                  <a:srgbClr val="FFFFFF"/>
                </a:solidFill>
                <a:latin typeface="Calibri"/>
                <a:cs typeface="Calibri"/>
              </a:rPr>
              <a:t>data</a:t>
            </a:r>
            <a:r>
              <a:rPr sz="2133" spc="-47" dirty="0">
                <a:solidFill>
                  <a:srgbClr val="FFFFFF"/>
                </a:solidFill>
                <a:latin typeface="Calibri"/>
                <a:cs typeface="Calibri"/>
              </a:rPr>
              <a:t> </a:t>
            </a:r>
            <a:r>
              <a:rPr sz="2133" spc="-13" dirty="0">
                <a:solidFill>
                  <a:srgbClr val="FFFFFF"/>
                </a:solidFill>
                <a:latin typeface="Calibri"/>
                <a:cs typeface="Calibri"/>
              </a:rPr>
              <a:t>sources</a:t>
            </a:r>
            <a:endParaRPr sz="2133">
              <a:latin typeface="Calibri"/>
              <a:cs typeface="Calibri"/>
            </a:endParaRPr>
          </a:p>
        </p:txBody>
      </p:sp>
      <p:sp>
        <p:nvSpPr>
          <p:cNvPr id="10" name="object 10"/>
          <p:cNvSpPr txBox="1"/>
          <p:nvPr/>
        </p:nvSpPr>
        <p:spPr>
          <a:xfrm>
            <a:off x="9365148" y="4754541"/>
            <a:ext cx="502920" cy="344475"/>
          </a:xfrm>
          <a:prstGeom prst="rect">
            <a:avLst/>
          </a:prstGeom>
        </p:spPr>
        <p:txBody>
          <a:bodyPr vert="horz" wrap="square" lIns="0" tIns="16087" rIns="0" bIns="0" rtlCol="0">
            <a:spAutoFit/>
          </a:bodyPr>
          <a:lstStyle/>
          <a:p>
            <a:pPr marL="16933">
              <a:spcBef>
                <a:spcPts val="127"/>
              </a:spcBef>
            </a:pPr>
            <a:r>
              <a:rPr sz="2133" spc="-33" dirty="0">
                <a:solidFill>
                  <a:srgbClr val="FFFFFF"/>
                </a:solidFill>
                <a:latin typeface="Calibri"/>
                <a:cs typeface="Calibri"/>
              </a:rPr>
              <a:t>ODS</a:t>
            </a:r>
            <a:endParaRPr sz="2133">
              <a:latin typeface="Calibri"/>
              <a:cs typeface="Calibri"/>
            </a:endParaRPr>
          </a:p>
        </p:txBody>
      </p:sp>
      <p:grpSp>
        <p:nvGrpSpPr>
          <p:cNvPr id="11" name="object 11"/>
          <p:cNvGrpSpPr/>
          <p:nvPr/>
        </p:nvGrpSpPr>
        <p:grpSpPr>
          <a:xfrm>
            <a:off x="5076813" y="2319359"/>
            <a:ext cx="2827867" cy="2637367"/>
            <a:chOff x="3807610" y="1739519"/>
            <a:chExt cx="2120900" cy="1978025"/>
          </a:xfrm>
        </p:grpSpPr>
        <p:sp>
          <p:nvSpPr>
            <p:cNvPr id="12" name="object 12"/>
            <p:cNvSpPr/>
            <p:nvPr/>
          </p:nvSpPr>
          <p:spPr>
            <a:xfrm>
              <a:off x="3812182" y="1744091"/>
              <a:ext cx="1155065" cy="1436370"/>
            </a:xfrm>
            <a:custGeom>
              <a:avLst/>
              <a:gdLst/>
              <a:ahLst/>
              <a:cxnLst/>
              <a:rect l="l" t="t" r="r" b="b"/>
              <a:pathLst>
                <a:path w="1155064" h="1436370">
                  <a:moveTo>
                    <a:pt x="844653" y="0"/>
                  </a:moveTo>
                  <a:lnTo>
                    <a:pt x="844653" y="124079"/>
                  </a:lnTo>
                  <a:lnTo>
                    <a:pt x="795003" y="134345"/>
                  </a:lnTo>
                  <a:lnTo>
                    <a:pt x="746524" y="146511"/>
                  </a:lnTo>
                  <a:lnTo>
                    <a:pt x="699249" y="160518"/>
                  </a:lnTo>
                  <a:lnTo>
                    <a:pt x="653213" y="176308"/>
                  </a:lnTo>
                  <a:lnTo>
                    <a:pt x="608449" y="193821"/>
                  </a:lnTo>
                  <a:lnTo>
                    <a:pt x="564989" y="212999"/>
                  </a:lnTo>
                  <a:lnTo>
                    <a:pt x="522867" y="233783"/>
                  </a:lnTo>
                  <a:lnTo>
                    <a:pt x="482117" y="256115"/>
                  </a:lnTo>
                  <a:lnTo>
                    <a:pt x="442772" y="279935"/>
                  </a:lnTo>
                  <a:lnTo>
                    <a:pt x="404864" y="305184"/>
                  </a:lnTo>
                  <a:lnTo>
                    <a:pt x="368428" y="331805"/>
                  </a:lnTo>
                  <a:lnTo>
                    <a:pt x="333497" y="359738"/>
                  </a:lnTo>
                  <a:lnTo>
                    <a:pt x="300104" y="388924"/>
                  </a:lnTo>
                  <a:lnTo>
                    <a:pt x="268282" y="419304"/>
                  </a:lnTo>
                  <a:lnTo>
                    <a:pt x="238064" y="450820"/>
                  </a:lnTo>
                  <a:lnTo>
                    <a:pt x="209485" y="483413"/>
                  </a:lnTo>
                  <a:lnTo>
                    <a:pt x="182577" y="517025"/>
                  </a:lnTo>
                  <a:lnTo>
                    <a:pt x="157373" y="551595"/>
                  </a:lnTo>
                  <a:lnTo>
                    <a:pt x="133907" y="587066"/>
                  </a:lnTo>
                  <a:lnTo>
                    <a:pt x="112213" y="623379"/>
                  </a:lnTo>
                  <a:lnTo>
                    <a:pt x="92323" y="660475"/>
                  </a:lnTo>
                  <a:lnTo>
                    <a:pt x="74270" y="698295"/>
                  </a:lnTo>
                  <a:lnTo>
                    <a:pt x="58089" y="736780"/>
                  </a:lnTo>
                  <a:lnTo>
                    <a:pt x="43813" y="775872"/>
                  </a:lnTo>
                  <a:lnTo>
                    <a:pt x="31474" y="815512"/>
                  </a:lnTo>
                  <a:lnTo>
                    <a:pt x="21106" y="855640"/>
                  </a:lnTo>
                  <a:lnTo>
                    <a:pt x="12743" y="896199"/>
                  </a:lnTo>
                  <a:lnTo>
                    <a:pt x="6417" y="937129"/>
                  </a:lnTo>
                  <a:lnTo>
                    <a:pt x="2162" y="978372"/>
                  </a:lnTo>
                  <a:lnTo>
                    <a:pt x="12" y="1019869"/>
                  </a:lnTo>
                  <a:lnTo>
                    <a:pt x="0" y="1061561"/>
                  </a:lnTo>
                  <a:lnTo>
                    <a:pt x="2158" y="1103389"/>
                  </a:lnTo>
                  <a:lnTo>
                    <a:pt x="6520" y="1145294"/>
                  </a:lnTo>
                  <a:lnTo>
                    <a:pt x="13121" y="1187218"/>
                  </a:lnTo>
                  <a:lnTo>
                    <a:pt x="21992" y="1229102"/>
                  </a:lnTo>
                  <a:lnTo>
                    <a:pt x="33167" y="1270887"/>
                  </a:lnTo>
                  <a:lnTo>
                    <a:pt x="46680" y="1312514"/>
                  </a:lnTo>
                  <a:lnTo>
                    <a:pt x="62563" y="1353925"/>
                  </a:lnTo>
                  <a:lnTo>
                    <a:pt x="80851" y="1395060"/>
                  </a:lnTo>
                  <a:lnTo>
                    <a:pt x="101576" y="1435862"/>
                  </a:lnTo>
                  <a:lnTo>
                    <a:pt x="411456" y="1251839"/>
                  </a:lnTo>
                  <a:lnTo>
                    <a:pt x="389374" y="1198814"/>
                  </a:lnTo>
                  <a:lnTo>
                    <a:pt x="373483" y="1144444"/>
                  </a:lnTo>
                  <a:lnTo>
                    <a:pt x="363879" y="1089193"/>
                  </a:lnTo>
                  <a:lnTo>
                    <a:pt x="360656" y="1033526"/>
                  </a:lnTo>
                  <a:lnTo>
                    <a:pt x="363531" y="986492"/>
                  </a:lnTo>
                  <a:lnTo>
                    <a:pt x="370153" y="940334"/>
                  </a:lnTo>
                  <a:lnTo>
                    <a:pt x="380413" y="895197"/>
                  </a:lnTo>
                  <a:lnTo>
                    <a:pt x="394201" y="851227"/>
                  </a:lnTo>
                  <a:lnTo>
                    <a:pt x="411409" y="808569"/>
                  </a:lnTo>
                  <a:lnTo>
                    <a:pt x="431925" y="767370"/>
                  </a:lnTo>
                  <a:lnTo>
                    <a:pt x="455642" y="727773"/>
                  </a:lnTo>
                  <a:lnTo>
                    <a:pt x="482448" y="689925"/>
                  </a:lnTo>
                  <a:lnTo>
                    <a:pt x="512234" y="653972"/>
                  </a:lnTo>
                  <a:lnTo>
                    <a:pt x="544891" y="620058"/>
                  </a:lnTo>
                  <a:lnTo>
                    <a:pt x="580308" y="588329"/>
                  </a:lnTo>
                  <a:lnTo>
                    <a:pt x="618377" y="558931"/>
                  </a:lnTo>
                  <a:lnTo>
                    <a:pt x="658988" y="532009"/>
                  </a:lnTo>
                  <a:lnTo>
                    <a:pt x="702031" y="507709"/>
                  </a:lnTo>
                  <a:lnTo>
                    <a:pt x="747395" y="486176"/>
                  </a:lnTo>
                  <a:lnTo>
                    <a:pt x="794973" y="467555"/>
                  </a:lnTo>
                  <a:lnTo>
                    <a:pt x="844653" y="451993"/>
                  </a:lnTo>
                  <a:lnTo>
                    <a:pt x="844653" y="566420"/>
                  </a:lnTo>
                  <a:lnTo>
                    <a:pt x="1154533" y="292862"/>
                  </a:lnTo>
                  <a:lnTo>
                    <a:pt x="844653" y="0"/>
                  </a:lnTo>
                  <a:close/>
                </a:path>
              </a:pathLst>
            </a:custGeom>
            <a:solidFill>
              <a:srgbClr val="7E7E7E"/>
            </a:solidFill>
          </p:spPr>
          <p:txBody>
            <a:bodyPr wrap="square" lIns="0" tIns="0" rIns="0" bIns="0" rtlCol="0"/>
            <a:lstStyle/>
            <a:p>
              <a:endParaRPr sz="2400"/>
            </a:p>
          </p:txBody>
        </p:sp>
        <p:sp>
          <p:nvSpPr>
            <p:cNvPr id="13" name="object 13"/>
            <p:cNvSpPr/>
            <p:nvPr/>
          </p:nvSpPr>
          <p:spPr>
            <a:xfrm>
              <a:off x="3812182" y="1744091"/>
              <a:ext cx="1155065" cy="1436370"/>
            </a:xfrm>
            <a:custGeom>
              <a:avLst/>
              <a:gdLst/>
              <a:ahLst/>
              <a:cxnLst/>
              <a:rect l="l" t="t" r="r" b="b"/>
              <a:pathLst>
                <a:path w="1155064" h="1436370">
                  <a:moveTo>
                    <a:pt x="844653" y="0"/>
                  </a:moveTo>
                  <a:lnTo>
                    <a:pt x="844653" y="124079"/>
                  </a:lnTo>
                  <a:lnTo>
                    <a:pt x="795003" y="134345"/>
                  </a:lnTo>
                  <a:lnTo>
                    <a:pt x="746524" y="146511"/>
                  </a:lnTo>
                  <a:lnTo>
                    <a:pt x="699249" y="160518"/>
                  </a:lnTo>
                  <a:lnTo>
                    <a:pt x="653213" y="176308"/>
                  </a:lnTo>
                  <a:lnTo>
                    <a:pt x="608449" y="193821"/>
                  </a:lnTo>
                  <a:lnTo>
                    <a:pt x="564989" y="212999"/>
                  </a:lnTo>
                  <a:lnTo>
                    <a:pt x="522867" y="233783"/>
                  </a:lnTo>
                  <a:lnTo>
                    <a:pt x="482117" y="256115"/>
                  </a:lnTo>
                  <a:lnTo>
                    <a:pt x="442772" y="279935"/>
                  </a:lnTo>
                  <a:lnTo>
                    <a:pt x="404864" y="305184"/>
                  </a:lnTo>
                  <a:lnTo>
                    <a:pt x="368428" y="331805"/>
                  </a:lnTo>
                  <a:lnTo>
                    <a:pt x="333497" y="359738"/>
                  </a:lnTo>
                  <a:lnTo>
                    <a:pt x="300104" y="388924"/>
                  </a:lnTo>
                  <a:lnTo>
                    <a:pt x="268282" y="419304"/>
                  </a:lnTo>
                  <a:lnTo>
                    <a:pt x="238064" y="450820"/>
                  </a:lnTo>
                  <a:lnTo>
                    <a:pt x="209485" y="483413"/>
                  </a:lnTo>
                  <a:lnTo>
                    <a:pt x="182577" y="517025"/>
                  </a:lnTo>
                  <a:lnTo>
                    <a:pt x="157373" y="551595"/>
                  </a:lnTo>
                  <a:lnTo>
                    <a:pt x="133907" y="587066"/>
                  </a:lnTo>
                  <a:lnTo>
                    <a:pt x="112213" y="623379"/>
                  </a:lnTo>
                  <a:lnTo>
                    <a:pt x="92323" y="660475"/>
                  </a:lnTo>
                  <a:lnTo>
                    <a:pt x="74270" y="698295"/>
                  </a:lnTo>
                  <a:lnTo>
                    <a:pt x="58089" y="736780"/>
                  </a:lnTo>
                  <a:lnTo>
                    <a:pt x="43813" y="775872"/>
                  </a:lnTo>
                  <a:lnTo>
                    <a:pt x="31474" y="815512"/>
                  </a:lnTo>
                  <a:lnTo>
                    <a:pt x="21106" y="855640"/>
                  </a:lnTo>
                  <a:lnTo>
                    <a:pt x="12743" y="896199"/>
                  </a:lnTo>
                  <a:lnTo>
                    <a:pt x="6417" y="937129"/>
                  </a:lnTo>
                  <a:lnTo>
                    <a:pt x="2162" y="978372"/>
                  </a:lnTo>
                  <a:lnTo>
                    <a:pt x="12" y="1019869"/>
                  </a:lnTo>
                  <a:lnTo>
                    <a:pt x="0" y="1061561"/>
                  </a:lnTo>
                  <a:lnTo>
                    <a:pt x="2158" y="1103389"/>
                  </a:lnTo>
                  <a:lnTo>
                    <a:pt x="6520" y="1145294"/>
                  </a:lnTo>
                  <a:lnTo>
                    <a:pt x="13121" y="1187218"/>
                  </a:lnTo>
                  <a:lnTo>
                    <a:pt x="21992" y="1229102"/>
                  </a:lnTo>
                  <a:lnTo>
                    <a:pt x="33167" y="1270887"/>
                  </a:lnTo>
                  <a:lnTo>
                    <a:pt x="46680" y="1312514"/>
                  </a:lnTo>
                  <a:lnTo>
                    <a:pt x="62563" y="1353925"/>
                  </a:lnTo>
                  <a:lnTo>
                    <a:pt x="80851" y="1395060"/>
                  </a:lnTo>
                  <a:lnTo>
                    <a:pt x="101576" y="1435862"/>
                  </a:lnTo>
                  <a:lnTo>
                    <a:pt x="411456" y="1251839"/>
                  </a:lnTo>
                  <a:lnTo>
                    <a:pt x="389374" y="1198814"/>
                  </a:lnTo>
                  <a:lnTo>
                    <a:pt x="373483" y="1144444"/>
                  </a:lnTo>
                  <a:lnTo>
                    <a:pt x="363879" y="1089193"/>
                  </a:lnTo>
                  <a:lnTo>
                    <a:pt x="360656" y="1033526"/>
                  </a:lnTo>
                  <a:lnTo>
                    <a:pt x="363531" y="986492"/>
                  </a:lnTo>
                  <a:lnTo>
                    <a:pt x="370153" y="940334"/>
                  </a:lnTo>
                  <a:lnTo>
                    <a:pt x="380413" y="895197"/>
                  </a:lnTo>
                  <a:lnTo>
                    <a:pt x="394201" y="851227"/>
                  </a:lnTo>
                  <a:lnTo>
                    <a:pt x="411409" y="808569"/>
                  </a:lnTo>
                  <a:lnTo>
                    <a:pt x="431925" y="767370"/>
                  </a:lnTo>
                  <a:lnTo>
                    <a:pt x="455642" y="727773"/>
                  </a:lnTo>
                  <a:lnTo>
                    <a:pt x="482448" y="689925"/>
                  </a:lnTo>
                  <a:lnTo>
                    <a:pt x="512234" y="653972"/>
                  </a:lnTo>
                  <a:lnTo>
                    <a:pt x="544891" y="620058"/>
                  </a:lnTo>
                  <a:lnTo>
                    <a:pt x="580308" y="588329"/>
                  </a:lnTo>
                  <a:lnTo>
                    <a:pt x="618377" y="558931"/>
                  </a:lnTo>
                  <a:lnTo>
                    <a:pt x="658988" y="532009"/>
                  </a:lnTo>
                  <a:lnTo>
                    <a:pt x="702031" y="507709"/>
                  </a:lnTo>
                  <a:lnTo>
                    <a:pt x="747395" y="486176"/>
                  </a:lnTo>
                  <a:lnTo>
                    <a:pt x="794973" y="467555"/>
                  </a:lnTo>
                  <a:lnTo>
                    <a:pt x="844653" y="451993"/>
                  </a:lnTo>
                  <a:lnTo>
                    <a:pt x="844653" y="566420"/>
                  </a:lnTo>
                  <a:lnTo>
                    <a:pt x="1154533" y="292862"/>
                  </a:lnTo>
                  <a:lnTo>
                    <a:pt x="844653" y="0"/>
                  </a:lnTo>
                  <a:close/>
                </a:path>
              </a:pathLst>
            </a:custGeom>
            <a:ln w="9144">
              <a:solidFill>
                <a:srgbClr val="A4B7C5"/>
              </a:solidFill>
            </a:ln>
          </p:spPr>
          <p:txBody>
            <a:bodyPr wrap="square" lIns="0" tIns="0" rIns="0" bIns="0" rtlCol="0"/>
            <a:lstStyle/>
            <a:p>
              <a:endParaRPr sz="2400"/>
            </a:p>
          </p:txBody>
        </p:sp>
        <p:sp>
          <p:nvSpPr>
            <p:cNvPr id="14" name="object 14"/>
            <p:cNvSpPr/>
            <p:nvPr/>
          </p:nvSpPr>
          <p:spPr>
            <a:xfrm>
              <a:off x="5061204" y="1862963"/>
              <a:ext cx="862965" cy="1411605"/>
            </a:xfrm>
            <a:custGeom>
              <a:avLst/>
              <a:gdLst/>
              <a:ahLst/>
              <a:cxnLst/>
              <a:rect l="l" t="t" r="r" b="b"/>
              <a:pathLst>
                <a:path w="862964" h="1411604">
                  <a:moveTo>
                    <a:pt x="0" y="0"/>
                  </a:moveTo>
                  <a:lnTo>
                    <a:pt x="0" y="328041"/>
                  </a:lnTo>
                  <a:lnTo>
                    <a:pt x="50748" y="343652"/>
                  </a:lnTo>
                  <a:lnTo>
                    <a:pt x="99494" y="362413"/>
                  </a:lnTo>
                  <a:lnTo>
                    <a:pt x="146099" y="384165"/>
                  </a:lnTo>
                  <a:lnTo>
                    <a:pt x="190425" y="408751"/>
                  </a:lnTo>
                  <a:lnTo>
                    <a:pt x="232332" y="436012"/>
                  </a:lnTo>
                  <a:lnTo>
                    <a:pt x="271683" y="465792"/>
                  </a:lnTo>
                  <a:lnTo>
                    <a:pt x="308338" y="497933"/>
                  </a:lnTo>
                  <a:lnTo>
                    <a:pt x="342160" y="532278"/>
                  </a:lnTo>
                  <a:lnTo>
                    <a:pt x="373010" y="568668"/>
                  </a:lnTo>
                  <a:lnTo>
                    <a:pt x="400748" y="606946"/>
                  </a:lnTo>
                  <a:lnTo>
                    <a:pt x="425238" y="646955"/>
                  </a:lnTo>
                  <a:lnTo>
                    <a:pt x="446340" y="688537"/>
                  </a:lnTo>
                  <a:lnTo>
                    <a:pt x="463916" y="731534"/>
                  </a:lnTo>
                  <a:lnTo>
                    <a:pt x="477828" y="775790"/>
                  </a:lnTo>
                  <a:lnTo>
                    <a:pt x="487936" y="821145"/>
                  </a:lnTo>
                  <a:lnTo>
                    <a:pt x="494102" y="867443"/>
                  </a:lnTo>
                  <a:lnTo>
                    <a:pt x="496188" y="914526"/>
                  </a:lnTo>
                  <a:lnTo>
                    <a:pt x="494024" y="966648"/>
                  </a:lnTo>
                  <a:lnTo>
                    <a:pt x="487156" y="1018317"/>
                  </a:lnTo>
                  <a:lnTo>
                    <a:pt x="475025" y="1069082"/>
                  </a:lnTo>
                  <a:lnTo>
                    <a:pt x="457073" y="1118489"/>
                  </a:lnTo>
                  <a:lnTo>
                    <a:pt x="315595" y="1028954"/>
                  </a:lnTo>
                  <a:lnTo>
                    <a:pt x="400812" y="1411478"/>
                  </a:lnTo>
                  <a:lnTo>
                    <a:pt x="850900" y="1352169"/>
                  </a:lnTo>
                  <a:lnTo>
                    <a:pt x="766445" y="1297051"/>
                  </a:lnTo>
                  <a:lnTo>
                    <a:pt x="788515" y="1251886"/>
                  </a:lnTo>
                  <a:lnTo>
                    <a:pt x="807827" y="1205866"/>
                  </a:lnTo>
                  <a:lnTo>
                    <a:pt x="824322" y="1159040"/>
                  </a:lnTo>
                  <a:lnTo>
                    <a:pt x="837946" y="1111456"/>
                  </a:lnTo>
                  <a:lnTo>
                    <a:pt x="848640" y="1063163"/>
                  </a:lnTo>
                  <a:lnTo>
                    <a:pt x="856349" y="1014212"/>
                  </a:lnTo>
                  <a:lnTo>
                    <a:pt x="861015" y="964650"/>
                  </a:lnTo>
                  <a:lnTo>
                    <a:pt x="862584" y="914526"/>
                  </a:lnTo>
                  <a:lnTo>
                    <a:pt x="861286" y="868493"/>
                  </a:lnTo>
                  <a:lnTo>
                    <a:pt x="857433" y="822975"/>
                  </a:lnTo>
                  <a:lnTo>
                    <a:pt x="851082" y="778030"/>
                  </a:lnTo>
                  <a:lnTo>
                    <a:pt x="842292" y="733716"/>
                  </a:lnTo>
                  <a:lnTo>
                    <a:pt x="831121" y="690091"/>
                  </a:lnTo>
                  <a:lnTo>
                    <a:pt x="817627" y="647213"/>
                  </a:lnTo>
                  <a:lnTo>
                    <a:pt x="801868" y="605138"/>
                  </a:lnTo>
                  <a:lnTo>
                    <a:pt x="783903" y="563926"/>
                  </a:lnTo>
                  <a:lnTo>
                    <a:pt x="763789" y="523634"/>
                  </a:lnTo>
                  <a:lnTo>
                    <a:pt x="741585" y="484320"/>
                  </a:lnTo>
                  <a:lnTo>
                    <a:pt x="717349" y="446041"/>
                  </a:lnTo>
                  <a:lnTo>
                    <a:pt x="691139" y="408856"/>
                  </a:lnTo>
                  <a:lnTo>
                    <a:pt x="663014" y="372822"/>
                  </a:lnTo>
                  <a:lnTo>
                    <a:pt x="633032" y="337997"/>
                  </a:lnTo>
                  <a:lnTo>
                    <a:pt x="601250" y="304438"/>
                  </a:lnTo>
                  <a:lnTo>
                    <a:pt x="567728" y="272204"/>
                  </a:lnTo>
                  <a:lnTo>
                    <a:pt x="532523" y="241353"/>
                  </a:lnTo>
                  <a:lnTo>
                    <a:pt x="495693" y="211942"/>
                  </a:lnTo>
                  <a:lnTo>
                    <a:pt x="457297" y="184028"/>
                  </a:lnTo>
                  <a:lnTo>
                    <a:pt x="417394" y="157671"/>
                  </a:lnTo>
                  <a:lnTo>
                    <a:pt x="376040" y="132927"/>
                  </a:lnTo>
                  <a:lnTo>
                    <a:pt x="333294" y="109854"/>
                  </a:lnTo>
                  <a:lnTo>
                    <a:pt x="289215" y="88511"/>
                  </a:lnTo>
                  <a:lnTo>
                    <a:pt x="243861" y="68954"/>
                  </a:lnTo>
                  <a:lnTo>
                    <a:pt x="197290" y="51242"/>
                  </a:lnTo>
                  <a:lnTo>
                    <a:pt x="149560" y="35433"/>
                  </a:lnTo>
                  <a:lnTo>
                    <a:pt x="100730" y="21585"/>
                  </a:lnTo>
                  <a:lnTo>
                    <a:pt x="50857" y="9754"/>
                  </a:lnTo>
                  <a:lnTo>
                    <a:pt x="0" y="0"/>
                  </a:lnTo>
                  <a:close/>
                </a:path>
              </a:pathLst>
            </a:custGeom>
            <a:solidFill>
              <a:srgbClr val="D5D5D5"/>
            </a:solidFill>
          </p:spPr>
          <p:txBody>
            <a:bodyPr wrap="square" lIns="0" tIns="0" rIns="0" bIns="0" rtlCol="0"/>
            <a:lstStyle/>
            <a:p>
              <a:endParaRPr sz="2400"/>
            </a:p>
          </p:txBody>
        </p:sp>
        <p:sp>
          <p:nvSpPr>
            <p:cNvPr id="15" name="object 15"/>
            <p:cNvSpPr/>
            <p:nvPr/>
          </p:nvSpPr>
          <p:spPr>
            <a:xfrm>
              <a:off x="5061204" y="1862963"/>
              <a:ext cx="862965" cy="1411605"/>
            </a:xfrm>
            <a:custGeom>
              <a:avLst/>
              <a:gdLst/>
              <a:ahLst/>
              <a:cxnLst/>
              <a:rect l="l" t="t" r="r" b="b"/>
              <a:pathLst>
                <a:path w="862964" h="1411604">
                  <a:moveTo>
                    <a:pt x="0" y="0"/>
                  </a:moveTo>
                  <a:lnTo>
                    <a:pt x="0" y="328041"/>
                  </a:lnTo>
                  <a:lnTo>
                    <a:pt x="50748" y="343652"/>
                  </a:lnTo>
                  <a:lnTo>
                    <a:pt x="99494" y="362413"/>
                  </a:lnTo>
                  <a:lnTo>
                    <a:pt x="146099" y="384165"/>
                  </a:lnTo>
                  <a:lnTo>
                    <a:pt x="190425" y="408751"/>
                  </a:lnTo>
                  <a:lnTo>
                    <a:pt x="232332" y="436012"/>
                  </a:lnTo>
                  <a:lnTo>
                    <a:pt x="271683" y="465792"/>
                  </a:lnTo>
                  <a:lnTo>
                    <a:pt x="308338" y="497933"/>
                  </a:lnTo>
                  <a:lnTo>
                    <a:pt x="342160" y="532278"/>
                  </a:lnTo>
                  <a:lnTo>
                    <a:pt x="373010" y="568668"/>
                  </a:lnTo>
                  <a:lnTo>
                    <a:pt x="400748" y="606946"/>
                  </a:lnTo>
                  <a:lnTo>
                    <a:pt x="425238" y="646955"/>
                  </a:lnTo>
                  <a:lnTo>
                    <a:pt x="446340" y="688537"/>
                  </a:lnTo>
                  <a:lnTo>
                    <a:pt x="463916" y="731534"/>
                  </a:lnTo>
                  <a:lnTo>
                    <a:pt x="477828" y="775790"/>
                  </a:lnTo>
                  <a:lnTo>
                    <a:pt x="487936" y="821145"/>
                  </a:lnTo>
                  <a:lnTo>
                    <a:pt x="494102" y="867443"/>
                  </a:lnTo>
                  <a:lnTo>
                    <a:pt x="496188" y="914526"/>
                  </a:lnTo>
                  <a:lnTo>
                    <a:pt x="494024" y="966648"/>
                  </a:lnTo>
                  <a:lnTo>
                    <a:pt x="487156" y="1018317"/>
                  </a:lnTo>
                  <a:lnTo>
                    <a:pt x="475025" y="1069082"/>
                  </a:lnTo>
                  <a:lnTo>
                    <a:pt x="457073" y="1118489"/>
                  </a:lnTo>
                  <a:lnTo>
                    <a:pt x="315595" y="1028954"/>
                  </a:lnTo>
                  <a:lnTo>
                    <a:pt x="400812" y="1411478"/>
                  </a:lnTo>
                  <a:lnTo>
                    <a:pt x="850900" y="1352169"/>
                  </a:lnTo>
                  <a:lnTo>
                    <a:pt x="766445" y="1297051"/>
                  </a:lnTo>
                  <a:lnTo>
                    <a:pt x="788515" y="1251886"/>
                  </a:lnTo>
                  <a:lnTo>
                    <a:pt x="807827" y="1205866"/>
                  </a:lnTo>
                  <a:lnTo>
                    <a:pt x="824322" y="1159040"/>
                  </a:lnTo>
                  <a:lnTo>
                    <a:pt x="837946" y="1111456"/>
                  </a:lnTo>
                  <a:lnTo>
                    <a:pt x="848640" y="1063163"/>
                  </a:lnTo>
                  <a:lnTo>
                    <a:pt x="856349" y="1014212"/>
                  </a:lnTo>
                  <a:lnTo>
                    <a:pt x="861015" y="964650"/>
                  </a:lnTo>
                  <a:lnTo>
                    <a:pt x="862584" y="914526"/>
                  </a:lnTo>
                  <a:lnTo>
                    <a:pt x="861286" y="868493"/>
                  </a:lnTo>
                  <a:lnTo>
                    <a:pt x="857433" y="822975"/>
                  </a:lnTo>
                  <a:lnTo>
                    <a:pt x="851082" y="778030"/>
                  </a:lnTo>
                  <a:lnTo>
                    <a:pt x="842292" y="733716"/>
                  </a:lnTo>
                  <a:lnTo>
                    <a:pt x="831121" y="690091"/>
                  </a:lnTo>
                  <a:lnTo>
                    <a:pt x="817627" y="647213"/>
                  </a:lnTo>
                  <a:lnTo>
                    <a:pt x="801868" y="605138"/>
                  </a:lnTo>
                  <a:lnTo>
                    <a:pt x="783903" y="563926"/>
                  </a:lnTo>
                  <a:lnTo>
                    <a:pt x="763789" y="523634"/>
                  </a:lnTo>
                  <a:lnTo>
                    <a:pt x="741585" y="484320"/>
                  </a:lnTo>
                  <a:lnTo>
                    <a:pt x="717349" y="446041"/>
                  </a:lnTo>
                  <a:lnTo>
                    <a:pt x="691139" y="408856"/>
                  </a:lnTo>
                  <a:lnTo>
                    <a:pt x="663014" y="372822"/>
                  </a:lnTo>
                  <a:lnTo>
                    <a:pt x="633032" y="337997"/>
                  </a:lnTo>
                  <a:lnTo>
                    <a:pt x="601250" y="304438"/>
                  </a:lnTo>
                  <a:lnTo>
                    <a:pt x="567728" y="272204"/>
                  </a:lnTo>
                  <a:lnTo>
                    <a:pt x="532523" y="241353"/>
                  </a:lnTo>
                  <a:lnTo>
                    <a:pt x="495693" y="211942"/>
                  </a:lnTo>
                  <a:lnTo>
                    <a:pt x="457297" y="184028"/>
                  </a:lnTo>
                  <a:lnTo>
                    <a:pt x="417394" y="157671"/>
                  </a:lnTo>
                  <a:lnTo>
                    <a:pt x="376040" y="132927"/>
                  </a:lnTo>
                  <a:lnTo>
                    <a:pt x="333294" y="109854"/>
                  </a:lnTo>
                  <a:lnTo>
                    <a:pt x="289215" y="88511"/>
                  </a:lnTo>
                  <a:lnTo>
                    <a:pt x="243861" y="68954"/>
                  </a:lnTo>
                  <a:lnTo>
                    <a:pt x="197290" y="51242"/>
                  </a:lnTo>
                  <a:lnTo>
                    <a:pt x="149560" y="35433"/>
                  </a:lnTo>
                  <a:lnTo>
                    <a:pt x="100730" y="21585"/>
                  </a:lnTo>
                  <a:lnTo>
                    <a:pt x="50857" y="9754"/>
                  </a:lnTo>
                  <a:lnTo>
                    <a:pt x="0" y="0"/>
                  </a:lnTo>
                  <a:close/>
                </a:path>
              </a:pathLst>
            </a:custGeom>
            <a:ln w="9144">
              <a:solidFill>
                <a:srgbClr val="859FB1"/>
              </a:solidFill>
            </a:ln>
          </p:spPr>
          <p:txBody>
            <a:bodyPr wrap="square" lIns="0" tIns="0" rIns="0" bIns="0" rtlCol="0"/>
            <a:lstStyle/>
            <a:p>
              <a:endParaRPr sz="2400"/>
            </a:p>
          </p:txBody>
        </p:sp>
        <p:sp>
          <p:nvSpPr>
            <p:cNvPr id="16" name="object 16"/>
            <p:cNvSpPr/>
            <p:nvPr/>
          </p:nvSpPr>
          <p:spPr>
            <a:xfrm>
              <a:off x="4053840" y="3150743"/>
              <a:ext cx="1537335" cy="561975"/>
            </a:xfrm>
            <a:custGeom>
              <a:avLst/>
              <a:gdLst/>
              <a:ahLst/>
              <a:cxnLst/>
              <a:rect l="l" t="t" r="r" b="b"/>
              <a:pathLst>
                <a:path w="1537335" h="561975">
                  <a:moveTo>
                    <a:pt x="85089" y="0"/>
                  </a:moveTo>
                  <a:lnTo>
                    <a:pt x="0" y="383031"/>
                  </a:lnTo>
                  <a:lnTo>
                    <a:pt x="106934" y="318134"/>
                  </a:lnTo>
                  <a:lnTo>
                    <a:pt x="147766" y="349604"/>
                  </a:lnTo>
                  <a:lnTo>
                    <a:pt x="189934" y="378888"/>
                  </a:lnTo>
                  <a:lnTo>
                    <a:pt x="233341" y="405988"/>
                  </a:lnTo>
                  <a:lnTo>
                    <a:pt x="277891" y="430907"/>
                  </a:lnTo>
                  <a:lnTo>
                    <a:pt x="323487" y="453648"/>
                  </a:lnTo>
                  <a:lnTo>
                    <a:pt x="370033" y="474212"/>
                  </a:lnTo>
                  <a:lnTo>
                    <a:pt x="417431" y="492602"/>
                  </a:lnTo>
                  <a:lnTo>
                    <a:pt x="465585" y="508820"/>
                  </a:lnTo>
                  <a:lnTo>
                    <a:pt x="514399" y="522869"/>
                  </a:lnTo>
                  <a:lnTo>
                    <a:pt x="563776" y="534749"/>
                  </a:lnTo>
                  <a:lnTo>
                    <a:pt x="613619" y="544465"/>
                  </a:lnTo>
                  <a:lnTo>
                    <a:pt x="663832" y="552018"/>
                  </a:lnTo>
                  <a:lnTo>
                    <a:pt x="714317" y="557410"/>
                  </a:lnTo>
                  <a:lnTo>
                    <a:pt x="764979" y="560643"/>
                  </a:lnTo>
                  <a:lnTo>
                    <a:pt x="815721" y="561720"/>
                  </a:lnTo>
                  <a:lnTo>
                    <a:pt x="864420" y="560727"/>
                  </a:lnTo>
                  <a:lnTo>
                    <a:pt x="913021" y="557746"/>
                  </a:lnTo>
                  <a:lnTo>
                    <a:pt x="961443" y="552781"/>
                  </a:lnTo>
                  <a:lnTo>
                    <a:pt x="1009602" y="545834"/>
                  </a:lnTo>
                  <a:lnTo>
                    <a:pt x="1057416" y="536905"/>
                  </a:lnTo>
                  <a:lnTo>
                    <a:pt x="1104801" y="525997"/>
                  </a:lnTo>
                  <a:lnTo>
                    <a:pt x="1151677" y="513112"/>
                  </a:lnTo>
                  <a:lnTo>
                    <a:pt x="1197959" y="498252"/>
                  </a:lnTo>
                  <a:lnTo>
                    <a:pt x="1243565" y="481419"/>
                  </a:lnTo>
                  <a:lnTo>
                    <a:pt x="1288414" y="462613"/>
                  </a:lnTo>
                  <a:lnTo>
                    <a:pt x="1332421" y="441838"/>
                  </a:lnTo>
                  <a:lnTo>
                    <a:pt x="1375505" y="419096"/>
                  </a:lnTo>
                  <a:lnTo>
                    <a:pt x="1417583" y="394387"/>
                  </a:lnTo>
                  <a:lnTo>
                    <a:pt x="1458572" y="367714"/>
                  </a:lnTo>
                  <a:lnTo>
                    <a:pt x="1498390" y="339078"/>
                  </a:lnTo>
                  <a:lnTo>
                    <a:pt x="1536954" y="308482"/>
                  </a:lnTo>
                  <a:lnTo>
                    <a:pt x="1536954" y="303656"/>
                  </a:lnTo>
                  <a:lnTo>
                    <a:pt x="1227836" y="119380"/>
                  </a:lnTo>
                  <a:lnTo>
                    <a:pt x="1186631" y="145032"/>
                  </a:lnTo>
                  <a:lnTo>
                    <a:pt x="1143838" y="167709"/>
                  </a:lnTo>
                  <a:lnTo>
                    <a:pt x="1099655" y="187400"/>
                  </a:lnTo>
                  <a:lnTo>
                    <a:pt x="1054280" y="204093"/>
                  </a:lnTo>
                  <a:lnTo>
                    <a:pt x="1007912" y="217777"/>
                  </a:lnTo>
                  <a:lnTo>
                    <a:pt x="960750" y="228440"/>
                  </a:lnTo>
                  <a:lnTo>
                    <a:pt x="912992" y="236070"/>
                  </a:lnTo>
                  <a:lnTo>
                    <a:pt x="864836" y="240657"/>
                  </a:lnTo>
                  <a:lnTo>
                    <a:pt x="816483" y="242188"/>
                  </a:lnTo>
                  <a:lnTo>
                    <a:pt x="764383" y="240415"/>
                  </a:lnTo>
                  <a:lnTo>
                    <a:pt x="712440" y="235098"/>
                  </a:lnTo>
                  <a:lnTo>
                    <a:pt x="660880" y="226242"/>
                  </a:lnTo>
                  <a:lnTo>
                    <a:pt x="609933" y="213852"/>
                  </a:lnTo>
                  <a:lnTo>
                    <a:pt x="559825" y="197931"/>
                  </a:lnTo>
                  <a:lnTo>
                    <a:pt x="510784" y="178484"/>
                  </a:lnTo>
                  <a:lnTo>
                    <a:pt x="463037" y="155516"/>
                  </a:lnTo>
                  <a:lnTo>
                    <a:pt x="416813" y="129031"/>
                  </a:lnTo>
                  <a:lnTo>
                    <a:pt x="529209" y="64896"/>
                  </a:lnTo>
                  <a:lnTo>
                    <a:pt x="85089" y="0"/>
                  </a:lnTo>
                  <a:close/>
                </a:path>
              </a:pathLst>
            </a:custGeom>
            <a:solidFill>
              <a:srgbClr val="CCF3FF"/>
            </a:solidFill>
          </p:spPr>
          <p:txBody>
            <a:bodyPr wrap="square" lIns="0" tIns="0" rIns="0" bIns="0" rtlCol="0"/>
            <a:lstStyle/>
            <a:p>
              <a:endParaRPr sz="2400"/>
            </a:p>
          </p:txBody>
        </p:sp>
        <p:sp>
          <p:nvSpPr>
            <p:cNvPr id="17" name="object 17"/>
            <p:cNvSpPr/>
            <p:nvPr/>
          </p:nvSpPr>
          <p:spPr>
            <a:xfrm>
              <a:off x="4053840" y="3150743"/>
              <a:ext cx="1537335" cy="561975"/>
            </a:xfrm>
            <a:custGeom>
              <a:avLst/>
              <a:gdLst/>
              <a:ahLst/>
              <a:cxnLst/>
              <a:rect l="l" t="t" r="r" b="b"/>
              <a:pathLst>
                <a:path w="1537335" h="561975">
                  <a:moveTo>
                    <a:pt x="85089" y="0"/>
                  </a:moveTo>
                  <a:lnTo>
                    <a:pt x="0" y="383031"/>
                  </a:lnTo>
                  <a:lnTo>
                    <a:pt x="106934" y="318134"/>
                  </a:lnTo>
                  <a:lnTo>
                    <a:pt x="147766" y="349604"/>
                  </a:lnTo>
                  <a:lnTo>
                    <a:pt x="189934" y="378888"/>
                  </a:lnTo>
                  <a:lnTo>
                    <a:pt x="233341" y="405988"/>
                  </a:lnTo>
                  <a:lnTo>
                    <a:pt x="277891" y="430907"/>
                  </a:lnTo>
                  <a:lnTo>
                    <a:pt x="323487" y="453648"/>
                  </a:lnTo>
                  <a:lnTo>
                    <a:pt x="370033" y="474212"/>
                  </a:lnTo>
                  <a:lnTo>
                    <a:pt x="417431" y="492602"/>
                  </a:lnTo>
                  <a:lnTo>
                    <a:pt x="465585" y="508820"/>
                  </a:lnTo>
                  <a:lnTo>
                    <a:pt x="514399" y="522869"/>
                  </a:lnTo>
                  <a:lnTo>
                    <a:pt x="563776" y="534749"/>
                  </a:lnTo>
                  <a:lnTo>
                    <a:pt x="613619" y="544465"/>
                  </a:lnTo>
                  <a:lnTo>
                    <a:pt x="663832" y="552018"/>
                  </a:lnTo>
                  <a:lnTo>
                    <a:pt x="714317" y="557410"/>
                  </a:lnTo>
                  <a:lnTo>
                    <a:pt x="764979" y="560643"/>
                  </a:lnTo>
                  <a:lnTo>
                    <a:pt x="815721" y="561720"/>
                  </a:lnTo>
                  <a:lnTo>
                    <a:pt x="864420" y="560727"/>
                  </a:lnTo>
                  <a:lnTo>
                    <a:pt x="913021" y="557746"/>
                  </a:lnTo>
                  <a:lnTo>
                    <a:pt x="961443" y="552781"/>
                  </a:lnTo>
                  <a:lnTo>
                    <a:pt x="1009602" y="545834"/>
                  </a:lnTo>
                  <a:lnTo>
                    <a:pt x="1057416" y="536905"/>
                  </a:lnTo>
                  <a:lnTo>
                    <a:pt x="1104801" y="525997"/>
                  </a:lnTo>
                  <a:lnTo>
                    <a:pt x="1151677" y="513112"/>
                  </a:lnTo>
                  <a:lnTo>
                    <a:pt x="1197959" y="498252"/>
                  </a:lnTo>
                  <a:lnTo>
                    <a:pt x="1243565" y="481419"/>
                  </a:lnTo>
                  <a:lnTo>
                    <a:pt x="1288414" y="462613"/>
                  </a:lnTo>
                  <a:lnTo>
                    <a:pt x="1332421" y="441838"/>
                  </a:lnTo>
                  <a:lnTo>
                    <a:pt x="1375505" y="419096"/>
                  </a:lnTo>
                  <a:lnTo>
                    <a:pt x="1417583" y="394387"/>
                  </a:lnTo>
                  <a:lnTo>
                    <a:pt x="1458572" y="367714"/>
                  </a:lnTo>
                  <a:lnTo>
                    <a:pt x="1498390" y="339078"/>
                  </a:lnTo>
                  <a:lnTo>
                    <a:pt x="1536954" y="308482"/>
                  </a:lnTo>
                  <a:lnTo>
                    <a:pt x="1536954" y="303656"/>
                  </a:lnTo>
                  <a:lnTo>
                    <a:pt x="1227836" y="119380"/>
                  </a:lnTo>
                  <a:lnTo>
                    <a:pt x="1186631" y="145032"/>
                  </a:lnTo>
                  <a:lnTo>
                    <a:pt x="1143838" y="167709"/>
                  </a:lnTo>
                  <a:lnTo>
                    <a:pt x="1099655" y="187400"/>
                  </a:lnTo>
                  <a:lnTo>
                    <a:pt x="1054280" y="204093"/>
                  </a:lnTo>
                  <a:lnTo>
                    <a:pt x="1007912" y="217777"/>
                  </a:lnTo>
                  <a:lnTo>
                    <a:pt x="960750" y="228440"/>
                  </a:lnTo>
                  <a:lnTo>
                    <a:pt x="912992" y="236070"/>
                  </a:lnTo>
                  <a:lnTo>
                    <a:pt x="864836" y="240657"/>
                  </a:lnTo>
                  <a:lnTo>
                    <a:pt x="816483" y="242188"/>
                  </a:lnTo>
                  <a:lnTo>
                    <a:pt x="764383" y="240415"/>
                  </a:lnTo>
                  <a:lnTo>
                    <a:pt x="712440" y="235098"/>
                  </a:lnTo>
                  <a:lnTo>
                    <a:pt x="660880" y="226242"/>
                  </a:lnTo>
                  <a:lnTo>
                    <a:pt x="609933" y="213852"/>
                  </a:lnTo>
                  <a:lnTo>
                    <a:pt x="559825" y="197931"/>
                  </a:lnTo>
                  <a:lnTo>
                    <a:pt x="510784" y="178484"/>
                  </a:lnTo>
                  <a:lnTo>
                    <a:pt x="463037" y="155516"/>
                  </a:lnTo>
                  <a:lnTo>
                    <a:pt x="416813" y="129031"/>
                  </a:lnTo>
                  <a:lnTo>
                    <a:pt x="529209" y="64896"/>
                  </a:lnTo>
                  <a:lnTo>
                    <a:pt x="85089" y="0"/>
                  </a:lnTo>
                  <a:close/>
                </a:path>
              </a:pathLst>
            </a:custGeom>
            <a:ln w="9144">
              <a:solidFill>
                <a:srgbClr val="5F7C94"/>
              </a:solidFill>
            </a:ln>
          </p:spPr>
          <p:txBody>
            <a:bodyPr wrap="square" lIns="0" tIns="0" rIns="0" bIns="0" rtlCol="0"/>
            <a:lstStyle/>
            <a:p>
              <a:endParaRPr sz="2400"/>
            </a:p>
          </p:txBody>
        </p:sp>
      </p:grpSp>
      <p:sp>
        <p:nvSpPr>
          <p:cNvPr id="18" name="object 18"/>
          <p:cNvSpPr txBox="1"/>
          <p:nvPr/>
        </p:nvSpPr>
        <p:spPr>
          <a:xfrm>
            <a:off x="6048587" y="3315479"/>
            <a:ext cx="892387" cy="755762"/>
          </a:xfrm>
          <a:prstGeom prst="rect">
            <a:avLst/>
          </a:prstGeom>
        </p:spPr>
        <p:txBody>
          <a:bodyPr vert="horz" wrap="square" lIns="0" tIns="16933" rIns="0" bIns="0" rtlCol="0">
            <a:spAutoFit/>
          </a:bodyPr>
          <a:lstStyle/>
          <a:p>
            <a:pPr marL="16933">
              <a:spcBef>
                <a:spcPts val="133"/>
              </a:spcBef>
            </a:pPr>
            <a:r>
              <a:rPr sz="4800" b="1" spc="-33" dirty="0">
                <a:solidFill>
                  <a:srgbClr val="FFFFFF"/>
                </a:solidFill>
                <a:latin typeface="Calibri"/>
                <a:cs typeface="Calibri"/>
              </a:rPr>
              <a:t>ETL</a:t>
            </a:r>
            <a:endParaRPr sz="4800">
              <a:latin typeface="Calibri"/>
              <a:cs typeface="Calibri"/>
            </a:endParaRPr>
          </a:p>
        </p:txBody>
      </p:sp>
      <p:pic>
        <p:nvPicPr>
          <p:cNvPr id="19" name="object 19"/>
          <p:cNvPicPr/>
          <p:nvPr/>
        </p:nvPicPr>
        <p:blipFill>
          <a:blip r:embed="rId3" cstate="print"/>
          <a:stretch>
            <a:fillRect/>
          </a:stretch>
        </p:blipFill>
        <p:spPr>
          <a:xfrm>
            <a:off x="2544064" y="1501649"/>
            <a:ext cx="829056" cy="833119"/>
          </a:xfrm>
          <a:prstGeom prst="rect">
            <a:avLst/>
          </a:prstGeom>
        </p:spPr>
      </p:pic>
      <p:sp>
        <p:nvSpPr>
          <p:cNvPr id="20" name="object 20"/>
          <p:cNvSpPr txBox="1"/>
          <p:nvPr/>
        </p:nvSpPr>
        <p:spPr>
          <a:xfrm>
            <a:off x="5084234" y="1653303"/>
            <a:ext cx="5758180" cy="551498"/>
          </a:xfrm>
          <a:prstGeom prst="rect">
            <a:avLst/>
          </a:prstGeom>
        </p:spPr>
        <p:txBody>
          <a:bodyPr vert="horz" wrap="square" lIns="0" tIns="17780" rIns="0" bIns="0" rtlCol="0">
            <a:spAutoFit/>
          </a:bodyPr>
          <a:lstStyle/>
          <a:p>
            <a:pPr marL="497828" indent="-480895">
              <a:spcBef>
                <a:spcPts val="140"/>
              </a:spcBef>
              <a:buClr>
                <a:srgbClr val="99D3FF"/>
              </a:buClr>
              <a:buFont typeface="Wingdings"/>
              <a:buChar char=""/>
              <a:tabLst>
                <a:tab pos="497828" algn="l"/>
              </a:tabLst>
            </a:pPr>
            <a:r>
              <a:rPr sz="3467" b="1" dirty="0">
                <a:solidFill>
                  <a:srgbClr val="D9D9D9"/>
                </a:solidFill>
                <a:latin typeface="Calibri"/>
                <a:cs typeface="Calibri"/>
              </a:rPr>
              <a:t>Operational</a:t>
            </a:r>
            <a:r>
              <a:rPr sz="3467" b="1" spc="-73" dirty="0">
                <a:solidFill>
                  <a:srgbClr val="D9D9D9"/>
                </a:solidFill>
                <a:latin typeface="Calibri"/>
                <a:cs typeface="Calibri"/>
              </a:rPr>
              <a:t> </a:t>
            </a:r>
            <a:r>
              <a:rPr sz="3467" b="1" dirty="0">
                <a:solidFill>
                  <a:srgbClr val="D9D9D9"/>
                </a:solidFill>
                <a:latin typeface="Calibri"/>
                <a:cs typeface="Calibri"/>
              </a:rPr>
              <a:t>decision</a:t>
            </a:r>
            <a:r>
              <a:rPr sz="3467" b="1" spc="-93" dirty="0">
                <a:solidFill>
                  <a:srgbClr val="D9D9D9"/>
                </a:solidFill>
                <a:latin typeface="Calibri"/>
                <a:cs typeface="Calibri"/>
              </a:rPr>
              <a:t> </a:t>
            </a:r>
            <a:r>
              <a:rPr sz="3467" b="1" spc="-13" dirty="0">
                <a:solidFill>
                  <a:srgbClr val="D9D9D9"/>
                </a:solidFill>
                <a:latin typeface="Calibri"/>
                <a:cs typeface="Calibri"/>
              </a:rPr>
              <a:t>making</a:t>
            </a:r>
            <a:endParaRPr sz="3467">
              <a:latin typeface="Calibri"/>
              <a:cs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340526" y="557785"/>
            <a:ext cx="7854527" cy="3688254"/>
          </a:xfrm>
          <a:prstGeom prst="rect">
            <a:avLst/>
          </a:prstGeom>
        </p:spPr>
        <p:txBody>
          <a:bodyPr vert="horz" wrap="square" lIns="0" tIns="17780" rIns="0" bIns="0" rtlCol="0">
            <a:spAutoFit/>
          </a:bodyPr>
          <a:lstStyle/>
          <a:p>
            <a:pPr marR="332730" algn="ctr">
              <a:spcBef>
                <a:spcPts val="140"/>
              </a:spcBef>
            </a:pPr>
            <a:r>
              <a:rPr sz="4267" spc="-33" dirty="0">
                <a:solidFill>
                  <a:srgbClr val="FFFFFF"/>
                </a:solidFill>
                <a:latin typeface="Calibri"/>
                <a:cs typeface="Calibri"/>
              </a:rPr>
              <a:t>ODS</a:t>
            </a:r>
            <a:endParaRPr sz="4267">
              <a:latin typeface="Calibri"/>
              <a:cs typeface="Calibri"/>
            </a:endParaRPr>
          </a:p>
          <a:p>
            <a:pPr>
              <a:lnSpc>
                <a:spcPct val="100000"/>
              </a:lnSpc>
            </a:pPr>
            <a:endParaRPr sz="4267">
              <a:latin typeface="Calibri"/>
              <a:cs typeface="Calibri"/>
            </a:endParaRPr>
          </a:p>
          <a:p>
            <a:pPr>
              <a:spcBef>
                <a:spcPts val="60"/>
              </a:spcBef>
            </a:pPr>
            <a:endParaRPr sz="4267">
              <a:latin typeface="Calibri"/>
              <a:cs typeface="Calibri"/>
            </a:endParaRPr>
          </a:p>
          <a:p>
            <a:pPr marL="505447" indent="-488514">
              <a:buClr>
                <a:srgbClr val="99D3FF"/>
              </a:buClr>
              <a:buFont typeface="Wingdings"/>
              <a:buChar char=""/>
              <a:tabLst>
                <a:tab pos="505447" algn="l"/>
              </a:tabLst>
            </a:pPr>
            <a:r>
              <a:rPr sz="3733" b="1" dirty="0">
                <a:solidFill>
                  <a:srgbClr val="D9D9D9"/>
                </a:solidFill>
                <a:latin typeface="Calibri"/>
                <a:cs typeface="Calibri"/>
              </a:rPr>
              <a:t>No</a:t>
            </a:r>
            <a:r>
              <a:rPr sz="3733" b="1" spc="-53" dirty="0">
                <a:solidFill>
                  <a:srgbClr val="D9D9D9"/>
                </a:solidFill>
                <a:latin typeface="Calibri"/>
                <a:cs typeface="Calibri"/>
              </a:rPr>
              <a:t> </a:t>
            </a:r>
            <a:r>
              <a:rPr sz="3733" b="1" dirty="0">
                <a:solidFill>
                  <a:srgbClr val="D9D9D9"/>
                </a:solidFill>
                <a:latin typeface="Calibri"/>
                <a:cs typeface="Calibri"/>
              </a:rPr>
              <a:t>need</a:t>
            </a:r>
            <a:r>
              <a:rPr sz="3733" b="1" spc="-33" dirty="0">
                <a:solidFill>
                  <a:srgbClr val="D9D9D9"/>
                </a:solidFill>
                <a:latin typeface="Calibri"/>
                <a:cs typeface="Calibri"/>
              </a:rPr>
              <a:t> </a:t>
            </a:r>
            <a:r>
              <a:rPr sz="3733" b="1" dirty="0">
                <a:solidFill>
                  <a:srgbClr val="D9D9D9"/>
                </a:solidFill>
                <a:latin typeface="Calibri"/>
                <a:cs typeface="Calibri"/>
              </a:rPr>
              <a:t>for</a:t>
            </a:r>
            <a:r>
              <a:rPr sz="3733" b="1" spc="-60" dirty="0">
                <a:solidFill>
                  <a:srgbClr val="D9D9D9"/>
                </a:solidFill>
                <a:latin typeface="Calibri"/>
                <a:cs typeface="Calibri"/>
              </a:rPr>
              <a:t> </a:t>
            </a:r>
            <a:r>
              <a:rPr sz="3733" b="1" dirty="0">
                <a:solidFill>
                  <a:srgbClr val="D9D9D9"/>
                </a:solidFill>
                <a:latin typeface="Calibri"/>
                <a:cs typeface="Calibri"/>
              </a:rPr>
              <a:t>long</a:t>
            </a:r>
            <a:r>
              <a:rPr sz="3733" b="1" spc="-60" dirty="0">
                <a:solidFill>
                  <a:srgbClr val="D9D9D9"/>
                </a:solidFill>
                <a:latin typeface="Calibri"/>
                <a:cs typeface="Calibri"/>
              </a:rPr>
              <a:t> </a:t>
            </a:r>
            <a:r>
              <a:rPr sz="3733" b="1" spc="-13" dirty="0">
                <a:solidFill>
                  <a:srgbClr val="D9D9D9"/>
                </a:solidFill>
                <a:latin typeface="Calibri"/>
                <a:cs typeface="Calibri"/>
              </a:rPr>
              <a:t>history</a:t>
            </a:r>
            <a:endParaRPr sz="3733">
              <a:latin typeface="Calibri"/>
              <a:cs typeface="Calibri"/>
            </a:endParaRPr>
          </a:p>
          <a:p>
            <a:pPr marL="505447" indent="-488514">
              <a:spcBef>
                <a:spcPts val="4187"/>
              </a:spcBef>
              <a:buClr>
                <a:srgbClr val="99D3FF"/>
              </a:buClr>
              <a:buFont typeface="Wingdings"/>
              <a:buChar char=""/>
              <a:tabLst>
                <a:tab pos="505447" algn="l"/>
              </a:tabLst>
            </a:pPr>
            <a:r>
              <a:rPr sz="3733" b="1" dirty="0">
                <a:solidFill>
                  <a:srgbClr val="D9D9D9"/>
                </a:solidFill>
                <a:latin typeface="Calibri"/>
                <a:cs typeface="Calibri"/>
              </a:rPr>
              <a:t>Needs</a:t>
            </a:r>
            <a:r>
              <a:rPr sz="3733" b="1" spc="-20" dirty="0">
                <a:solidFill>
                  <a:srgbClr val="D9D9D9"/>
                </a:solidFill>
                <a:latin typeface="Calibri"/>
                <a:cs typeface="Calibri"/>
              </a:rPr>
              <a:t> </a:t>
            </a:r>
            <a:r>
              <a:rPr sz="3733" b="1" dirty="0">
                <a:solidFill>
                  <a:srgbClr val="D9D9D9"/>
                </a:solidFill>
                <a:latin typeface="Calibri"/>
                <a:cs typeface="Calibri"/>
              </a:rPr>
              <a:t>to</a:t>
            </a:r>
            <a:r>
              <a:rPr sz="3733" b="1" spc="-53" dirty="0">
                <a:solidFill>
                  <a:srgbClr val="D9D9D9"/>
                </a:solidFill>
                <a:latin typeface="Calibri"/>
                <a:cs typeface="Calibri"/>
              </a:rPr>
              <a:t> </a:t>
            </a:r>
            <a:r>
              <a:rPr sz="3733" b="1" dirty="0">
                <a:solidFill>
                  <a:srgbClr val="D9D9D9"/>
                </a:solidFill>
                <a:latin typeface="Calibri"/>
                <a:cs typeface="Calibri"/>
              </a:rPr>
              <a:t>be</a:t>
            </a:r>
            <a:r>
              <a:rPr sz="3733" b="1" spc="-60" dirty="0">
                <a:solidFill>
                  <a:srgbClr val="D9D9D9"/>
                </a:solidFill>
                <a:latin typeface="Calibri"/>
                <a:cs typeface="Calibri"/>
              </a:rPr>
              <a:t> </a:t>
            </a:r>
            <a:r>
              <a:rPr sz="3733" b="1" dirty="0">
                <a:solidFill>
                  <a:srgbClr val="D9D9D9"/>
                </a:solidFill>
                <a:latin typeface="Calibri"/>
                <a:cs typeface="Calibri"/>
              </a:rPr>
              <a:t>very</a:t>
            </a:r>
            <a:r>
              <a:rPr sz="3733" b="1" spc="-27" dirty="0">
                <a:solidFill>
                  <a:srgbClr val="D9D9D9"/>
                </a:solidFill>
                <a:latin typeface="Calibri"/>
                <a:cs typeface="Calibri"/>
              </a:rPr>
              <a:t> </a:t>
            </a:r>
            <a:r>
              <a:rPr sz="3733" b="1" dirty="0">
                <a:solidFill>
                  <a:srgbClr val="D9D9D9"/>
                </a:solidFill>
                <a:latin typeface="Calibri"/>
                <a:cs typeface="Calibri"/>
              </a:rPr>
              <a:t>current</a:t>
            </a:r>
            <a:r>
              <a:rPr sz="3733" b="1" spc="-53" dirty="0">
                <a:solidFill>
                  <a:srgbClr val="D9D9D9"/>
                </a:solidFill>
                <a:latin typeface="Calibri"/>
                <a:cs typeface="Calibri"/>
              </a:rPr>
              <a:t> </a:t>
            </a:r>
            <a:r>
              <a:rPr sz="3733" b="1" dirty="0">
                <a:solidFill>
                  <a:srgbClr val="D9D9D9"/>
                </a:solidFill>
                <a:latin typeface="Calibri"/>
                <a:cs typeface="Calibri"/>
              </a:rPr>
              <a:t>or</a:t>
            </a:r>
            <a:r>
              <a:rPr sz="3733" b="1" spc="-47" dirty="0">
                <a:solidFill>
                  <a:srgbClr val="D9D9D9"/>
                </a:solidFill>
                <a:latin typeface="Calibri"/>
                <a:cs typeface="Calibri"/>
              </a:rPr>
              <a:t> </a:t>
            </a:r>
            <a:r>
              <a:rPr sz="3733" b="1" spc="-27" dirty="0">
                <a:solidFill>
                  <a:srgbClr val="D9D9D9"/>
                </a:solidFill>
                <a:latin typeface="Calibri"/>
                <a:cs typeface="Calibri"/>
              </a:rPr>
              <a:t>real-time</a:t>
            </a:r>
            <a:endParaRPr sz="3733">
              <a:latin typeface="Calibri"/>
              <a:cs typeface="Calibri"/>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97897" y="383228"/>
            <a:ext cx="1776329" cy="695062"/>
          </a:xfrm>
          <a:prstGeom prst="rect">
            <a:avLst/>
          </a:prstGeom>
        </p:spPr>
        <p:txBody>
          <a:bodyPr vert="horz" wrap="square" lIns="0" tIns="17780" rIns="0" bIns="0" rtlCol="0" anchor="ctr">
            <a:spAutoFit/>
          </a:bodyPr>
          <a:lstStyle/>
          <a:p>
            <a:pPr marL="16933">
              <a:lnSpc>
                <a:spcPct val="100000"/>
              </a:lnSpc>
              <a:spcBef>
                <a:spcPts val="140"/>
              </a:spcBef>
            </a:pPr>
            <a:r>
              <a:rPr spc="-33" dirty="0">
                <a:solidFill>
                  <a:schemeClr val="bg1"/>
                </a:solidFill>
                <a:latin typeface="+mn-lt"/>
              </a:rPr>
              <a:t>ODS</a:t>
            </a:r>
          </a:p>
        </p:txBody>
      </p:sp>
      <p:sp>
        <p:nvSpPr>
          <p:cNvPr id="3" name="object 3"/>
          <p:cNvSpPr/>
          <p:nvPr/>
        </p:nvSpPr>
        <p:spPr>
          <a:xfrm>
            <a:off x="8663450" y="2760963"/>
            <a:ext cx="1398693" cy="1899920"/>
          </a:xfrm>
          <a:custGeom>
            <a:avLst/>
            <a:gdLst/>
            <a:ahLst/>
            <a:cxnLst/>
            <a:rect l="l" t="t" r="r" b="b"/>
            <a:pathLst>
              <a:path w="1049020" h="1424939">
                <a:moveTo>
                  <a:pt x="1048981" y="974928"/>
                </a:moveTo>
                <a:lnTo>
                  <a:pt x="1030160" y="1014679"/>
                </a:lnTo>
                <a:lnTo>
                  <a:pt x="977099" y="1050480"/>
                </a:lnTo>
                <a:lnTo>
                  <a:pt x="939330" y="1066431"/>
                </a:lnTo>
                <a:lnTo>
                  <a:pt x="936586" y="1067333"/>
                </a:lnTo>
                <a:lnTo>
                  <a:pt x="936586" y="1237399"/>
                </a:lnTo>
                <a:lnTo>
                  <a:pt x="933894" y="1252753"/>
                </a:lnTo>
                <a:lnTo>
                  <a:pt x="926287" y="1264589"/>
                </a:lnTo>
                <a:lnTo>
                  <a:pt x="914463" y="1272197"/>
                </a:lnTo>
                <a:lnTo>
                  <a:pt x="899121" y="1274889"/>
                </a:lnTo>
                <a:lnTo>
                  <a:pt x="883793" y="1272197"/>
                </a:lnTo>
                <a:lnTo>
                  <a:pt x="871969" y="1264589"/>
                </a:lnTo>
                <a:lnTo>
                  <a:pt x="864349" y="1252753"/>
                </a:lnTo>
                <a:lnTo>
                  <a:pt x="861656" y="1237399"/>
                </a:lnTo>
                <a:lnTo>
                  <a:pt x="864349" y="1222044"/>
                </a:lnTo>
                <a:lnTo>
                  <a:pt x="871969" y="1210221"/>
                </a:lnTo>
                <a:lnTo>
                  <a:pt x="883793" y="1202601"/>
                </a:lnTo>
                <a:lnTo>
                  <a:pt x="899121" y="1199908"/>
                </a:lnTo>
                <a:lnTo>
                  <a:pt x="914463" y="1202601"/>
                </a:lnTo>
                <a:lnTo>
                  <a:pt x="926287" y="1210221"/>
                </a:lnTo>
                <a:lnTo>
                  <a:pt x="933894" y="1222044"/>
                </a:lnTo>
                <a:lnTo>
                  <a:pt x="936586" y="1237399"/>
                </a:lnTo>
                <a:lnTo>
                  <a:pt x="936586" y="1067333"/>
                </a:lnTo>
                <a:lnTo>
                  <a:pt x="894905" y="1080858"/>
                </a:lnTo>
                <a:lnTo>
                  <a:pt x="844473" y="1093558"/>
                </a:lnTo>
                <a:lnTo>
                  <a:pt x="788682" y="1104353"/>
                </a:lnTo>
                <a:lnTo>
                  <a:pt x="728141" y="1113078"/>
                </a:lnTo>
                <a:lnTo>
                  <a:pt x="663498" y="1119530"/>
                </a:lnTo>
                <a:lnTo>
                  <a:pt x="595401" y="1123530"/>
                </a:lnTo>
                <a:lnTo>
                  <a:pt x="524484" y="1124915"/>
                </a:lnTo>
                <a:lnTo>
                  <a:pt x="453567" y="1123530"/>
                </a:lnTo>
                <a:lnTo>
                  <a:pt x="385470" y="1119530"/>
                </a:lnTo>
                <a:lnTo>
                  <a:pt x="320840" y="1113078"/>
                </a:lnTo>
                <a:lnTo>
                  <a:pt x="260299" y="1104353"/>
                </a:lnTo>
                <a:lnTo>
                  <a:pt x="204495" y="1093558"/>
                </a:lnTo>
                <a:lnTo>
                  <a:pt x="154063" y="1080858"/>
                </a:lnTo>
                <a:lnTo>
                  <a:pt x="109639" y="1066431"/>
                </a:lnTo>
                <a:lnTo>
                  <a:pt x="71869" y="1050480"/>
                </a:lnTo>
                <a:lnTo>
                  <a:pt x="18821" y="1014679"/>
                </a:lnTo>
                <a:lnTo>
                  <a:pt x="0" y="974928"/>
                </a:lnTo>
                <a:lnTo>
                  <a:pt x="0" y="1274889"/>
                </a:lnTo>
                <a:lnTo>
                  <a:pt x="18821" y="1314653"/>
                </a:lnTo>
                <a:lnTo>
                  <a:pt x="71869" y="1350441"/>
                </a:lnTo>
                <a:lnTo>
                  <a:pt x="109639" y="1366405"/>
                </a:lnTo>
                <a:lnTo>
                  <a:pt x="154063" y="1380820"/>
                </a:lnTo>
                <a:lnTo>
                  <a:pt x="204495" y="1393520"/>
                </a:lnTo>
                <a:lnTo>
                  <a:pt x="260299" y="1404327"/>
                </a:lnTo>
                <a:lnTo>
                  <a:pt x="320840" y="1413040"/>
                </a:lnTo>
                <a:lnTo>
                  <a:pt x="385470" y="1419491"/>
                </a:lnTo>
                <a:lnTo>
                  <a:pt x="453567" y="1423504"/>
                </a:lnTo>
                <a:lnTo>
                  <a:pt x="524484" y="1424876"/>
                </a:lnTo>
                <a:lnTo>
                  <a:pt x="595401" y="1423504"/>
                </a:lnTo>
                <a:lnTo>
                  <a:pt x="663498" y="1419491"/>
                </a:lnTo>
                <a:lnTo>
                  <a:pt x="728141" y="1413040"/>
                </a:lnTo>
                <a:lnTo>
                  <a:pt x="788682" y="1404327"/>
                </a:lnTo>
                <a:lnTo>
                  <a:pt x="844473" y="1393520"/>
                </a:lnTo>
                <a:lnTo>
                  <a:pt x="894905" y="1380820"/>
                </a:lnTo>
                <a:lnTo>
                  <a:pt x="939330" y="1366405"/>
                </a:lnTo>
                <a:lnTo>
                  <a:pt x="977099" y="1350441"/>
                </a:lnTo>
                <a:lnTo>
                  <a:pt x="1030160" y="1314653"/>
                </a:lnTo>
                <a:lnTo>
                  <a:pt x="1048981" y="1274889"/>
                </a:lnTo>
                <a:lnTo>
                  <a:pt x="1048981" y="1199908"/>
                </a:lnTo>
                <a:lnTo>
                  <a:pt x="1048981" y="1124915"/>
                </a:lnTo>
                <a:lnTo>
                  <a:pt x="1048981" y="974928"/>
                </a:lnTo>
                <a:close/>
              </a:path>
              <a:path w="1049020" h="1424939">
                <a:moveTo>
                  <a:pt x="1048981" y="599973"/>
                </a:moveTo>
                <a:lnTo>
                  <a:pt x="1030160" y="639724"/>
                </a:lnTo>
                <a:lnTo>
                  <a:pt x="977099" y="675513"/>
                </a:lnTo>
                <a:lnTo>
                  <a:pt x="939330" y="691476"/>
                </a:lnTo>
                <a:lnTo>
                  <a:pt x="936586" y="692378"/>
                </a:lnTo>
                <a:lnTo>
                  <a:pt x="936586" y="862444"/>
                </a:lnTo>
                <a:lnTo>
                  <a:pt x="933894" y="877785"/>
                </a:lnTo>
                <a:lnTo>
                  <a:pt x="926287" y="889622"/>
                </a:lnTo>
                <a:lnTo>
                  <a:pt x="914463" y="897242"/>
                </a:lnTo>
                <a:lnTo>
                  <a:pt x="899121" y="899934"/>
                </a:lnTo>
                <a:lnTo>
                  <a:pt x="883793" y="897242"/>
                </a:lnTo>
                <a:lnTo>
                  <a:pt x="871969" y="889622"/>
                </a:lnTo>
                <a:lnTo>
                  <a:pt x="864349" y="877785"/>
                </a:lnTo>
                <a:lnTo>
                  <a:pt x="861656" y="862444"/>
                </a:lnTo>
                <a:lnTo>
                  <a:pt x="864349" y="847090"/>
                </a:lnTo>
                <a:lnTo>
                  <a:pt x="871969" y="835253"/>
                </a:lnTo>
                <a:lnTo>
                  <a:pt x="883793" y="827646"/>
                </a:lnTo>
                <a:lnTo>
                  <a:pt x="899121" y="824941"/>
                </a:lnTo>
                <a:lnTo>
                  <a:pt x="914463" y="827646"/>
                </a:lnTo>
                <a:lnTo>
                  <a:pt x="926287" y="835253"/>
                </a:lnTo>
                <a:lnTo>
                  <a:pt x="933894" y="847090"/>
                </a:lnTo>
                <a:lnTo>
                  <a:pt x="936586" y="862444"/>
                </a:lnTo>
                <a:lnTo>
                  <a:pt x="936586" y="692378"/>
                </a:lnTo>
                <a:lnTo>
                  <a:pt x="894905" y="705891"/>
                </a:lnTo>
                <a:lnTo>
                  <a:pt x="844473" y="718604"/>
                </a:lnTo>
                <a:lnTo>
                  <a:pt x="788682" y="729399"/>
                </a:lnTo>
                <a:lnTo>
                  <a:pt x="728141" y="738124"/>
                </a:lnTo>
                <a:lnTo>
                  <a:pt x="663498" y="744575"/>
                </a:lnTo>
                <a:lnTo>
                  <a:pt x="595401" y="748576"/>
                </a:lnTo>
                <a:lnTo>
                  <a:pt x="524484" y="749947"/>
                </a:lnTo>
                <a:lnTo>
                  <a:pt x="453567" y="748576"/>
                </a:lnTo>
                <a:lnTo>
                  <a:pt x="385470" y="744575"/>
                </a:lnTo>
                <a:lnTo>
                  <a:pt x="320840" y="738124"/>
                </a:lnTo>
                <a:lnTo>
                  <a:pt x="260299" y="729399"/>
                </a:lnTo>
                <a:lnTo>
                  <a:pt x="204495" y="718604"/>
                </a:lnTo>
                <a:lnTo>
                  <a:pt x="154063" y="705891"/>
                </a:lnTo>
                <a:lnTo>
                  <a:pt x="109639" y="691476"/>
                </a:lnTo>
                <a:lnTo>
                  <a:pt x="71869" y="675513"/>
                </a:lnTo>
                <a:lnTo>
                  <a:pt x="18821" y="639724"/>
                </a:lnTo>
                <a:lnTo>
                  <a:pt x="0" y="599973"/>
                </a:lnTo>
                <a:lnTo>
                  <a:pt x="0" y="899934"/>
                </a:lnTo>
                <a:lnTo>
                  <a:pt x="18821" y="939685"/>
                </a:lnTo>
                <a:lnTo>
                  <a:pt x="71869" y="975487"/>
                </a:lnTo>
                <a:lnTo>
                  <a:pt x="109639" y="991438"/>
                </a:lnTo>
                <a:lnTo>
                  <a:pt x="154063" y="1005865"/>
                </a:lnTo>
                <a:lnTo>
                  <a:pt x="204495" y="1018565"/>
                </a:lnTo>
                <a:lnTo>
                  <a:pt x="260299" y="1029373"/>
                </a:lnTo>
                <a:lnTo>
                  <a:pt x="320840" y="1038085"/>
                </a:lnTo>
                <a:lnTo>
                  <a:pt x="385470" y="1044536"/>
                </a:lnTo>
                <a:lnTo>
                  <a:pt x="453567" y="1048550"/>
                </a:lnTo>
                <a:lnTo>
                  <a:pt x="524484" y="1049921"/>
                </a:lnTo>
                <a:lnTo>
                  <a:pt x="595401" y="1048550"/>
                </a:lnTo>
                <a:lnTo>
                  <a:pt x="663498" y="1044536"/>
                </a:lnTo>
                <a:lnTo>
                  <a:pt x="728141" y="1038085"/>
                </a:lnTo>
                <a:lnTo>
                  <a:pt x="788682" y="1029373"/>
                </a:lnTo>
                <a:lnTo>
                  <a:pt x="844473" y="1018565"/>
                </a:lnTo>
                <a:lnTo>
                  <a:pt x="894905" y="1005865"/>
                </a:lnTo>
                <a:lnTo>
                  <a:pt x="939330" y="991438"/>
                </a:lnTo>
                <a:lnTo>
                  <a:pt x="977099" y="975487"/>
                </a:lnTo>
                <a:lnTo>
                  <a:pt x="1030160" y="939685"/>
                </a:lnTo>
                <a:lnTo>
                  <a:pt x="1048981" y="899934"/>
                </a:lnTo>
                <a:lnTo>
                  <a:pt x="1048981" y="824941"/>
                </a:lnTo>
                <a:lnTo>
                  <a:pt x="1048981" y="749947"/>
                </a:lnTo>
                <a:lnTo>
                  <a:pt x="1048981" y="599973"/>
                </a:lnTo>
                <a:close/>
              </a:path>
              <a:path w="1049020" h="1424939">
                <a:moveTo>
                  <a:pt x="1048981" y="225005"/>
                </a:moveTo>
                <a:lnTo>
                  <a:pt x="1030160" y="264769"/>
                </a:lnTo>
                <a:lnTo>
                  <a:pt x="977099" y="300558"/>
                </a:lnTo>
                <a:lnTo>
                  <a:pt x="939330" y="316522"/>
                </a:lnTo>
                <a:lnTo>
                  <a:pt x="936586" y="317423"/>
                </a:lnTo>
                <a:lnTo>
                  <a:pt x="936586" y="487476"/>
                </a:lnTo>
                <a:lnTo>
                  <a:pt x="933894" y="502831"/>
                </a:lnTo>
                <a:lnTo>
                  <a:pt x="926287" y="514667"/>
                </a:lnTo>
                <a:lnTo>
                  <a:pt x="914463" y="522287"/>
                </a:lnTo>
                <a:lnTo>
                  <a:pt x="899121" y="524979"/>
                </a:lnTo>
                <a:lnTo>
                  <a:pt x="883793" y="522287"/>
                </a:lnTo>
                <a:lnTo>
                  <a:pt x="871969" y="514667"/>
                </a:lnTo>
                <a:lnTo>
                  <a:pt x="864349" y="502831"/>
                </a:lnTo>
                <a:lnTo>
                  <a:pt x="861656" y="487476"/>
                </a:lnTo>
                <a:lnTo>
                  <a:pt x="864349" y="472135"/>
                </a:lnTo>
                <a:lnTo>
                  <a:pt x="871969" y="460298"/>
                </a:lnTo>
                <a:lnTo>
                  <a:pt x="883793" y="452678"/>
                </a:lnTo>
                <a:lnTo>
                  <a:pt x="899121" y="449986"/>
                </a:lnTo>
                <a:lnTo>
                  <a:pt x="914463" y="452678"/>
                </a:lnTo>
                <a:lnTo>
                  <a:pt x="926287" y="460298"/>
                </a:lnTo>
                <a:lnTo>
                  <a:pt x="933894" y="472135"/>
                </a:lnTo>
                <a:lnTo>
                  <a:pt x="936586" y="487476"/>
                </a:lnTo>
                <a:lnTo>
                  <a:pt x="936586" y="317423"/>
                </a:lnTo>
                <a:lnTo>
                  <a:pt x="894905" y="330936"/>
                </a:lnTo>
                <a:lnTo>
                  <a:pt x="844473" y="343636"/>
                </a:lnTo>
                <a:lnTo>
                  <a:pt x="788682" y="354444"/>
                </a:lnTo>
                <a:lnTo>
                  <a:pt x="728141" y="363156"/>
                </a:lnTo>
                <a:lnTo>
                  <a:pt x="663498" y="369608"/>
                </a:lnTo>
                <a:lnTo>
                  <a:pt x="595401" y="373621"/>
                </a:lnTo>
                <a:lnTo>
                  <a:pt x="524484" y="374992"/>
                </a:lnTo>
                <a:lnTo>
                  <a:pt x="453567" y="373621"/>
                </a:lnTo>
                <a:lnTo>
                  <a:pt x="385470" y="369608"/>
                </a:lnTo>
                <a:lnTo>
                  <a:pt x="320840" y="363156"/>
                </a:lnTo>
                <a:lnTo>
                  <a:pt x="260299" y="354444"/>
                </a:lnTo>
                <a:lnTo>
                  <a:pt x="204495" y="343636"/>
                </a:lnTo>
                <a:lnTo>
                  <a:pt x="154063" y="330936"/>
                </a:lnTo>
                <a:lnTo>
                  <a:pt x="109639" y="316522"/>
                </a:lnTo>
                <a:lnTo>
                  <a:pt x="71869" y="300558"/>
                </a:lnTo>
                <a:lnTo>
                  <a:pt x="18808" y="264769"/>
                </a:lnTo>
                <a:lnTo>
                  <a:pt x="0" y="225005"/>
                </a:lnTo>
                <a:lnTo>
                  <a:pt x="0" y="524979"/>
                </a:lnTo>
                <a:lnTo>
                  <a:pt x="18821" y="564730"/>
                </a:lnTo>
                <a:lnTo>
                  <a:pt x="71869" y="600519"/>
                </a:lnTo>
                <a:lnTo>
                  <a:pt x="109639" y="616483"/>
                </a:lnTo>
                <a:lnTo>
                  <a:pt x="154063" y="630897"/>
                </a:lnTo>
                <a:lnTo>
                  <a:pt x="204495" y="643610"/>
                </a:lnTo>
                <a:lnTo>
                  <a:pt x="260299" y="654405"/>
                </a:lnTo>
                <a:lnTo>
                  <a:pt x="320840" y="663130"/>
                </a:lnTo>
                <a:lnTo>
                  <a:pt x="385470" y="669582"/>
                </a:lnTo>
                <a:lnTo>
                  <a:pt x="453567" y="673582"/>
                </a:lnTo>
                <a:lnTo>
                  <a:pt x="524484" y="674966"/>
                </a:lnTo>
                <a:lnTo>
                  <a:pt x="595401" y="673582"/>
                </a:lnTo>
                <a:lnTo>
                  <a:pt x="663498" y="669582"/>
                </a:lnTo>
                <a:lnTo>
                  <a:pt x="728141" y="663130"/>
                </a:lnTo>
                <a:lnTo>
                  <a:pt x="788682" y="654405"/>
                </a:lnTo>
                <a:lnTo>
                  <a:pt x="844473" y="643610"/>
                </a:lnTo>
                <a:lnTo>
                  <a:pt x="894905" y="630897"/>
                </a:lnTo>
                <a:lnTo>
                  <a:pt x="939330" y="616483"/>
                </a:lnTo>
                <a:lnTo>
                  <a:pt x="977099" y="600519"/>
                </a:lnTo>
                <a:lnTo>
                  <a:pt x="1030160" y="564730"/>
                </a:lnTo>
                <a:lnTo>
                  <a:pt x="1048981" y="524979"/>
                </a:lnTo>
                <a:lnTo>
                  <a:pt x="1048981" y="449986"/>
                </a:lnTo>
                <a:lnTo>
                  <a:pt x="1048981" y="374992"/>
                </a:lnTo>
                <a:lnTo>
                  <a:pt x="1048981" y="225005"/>
                </a:lnTo>
                <a:close/>
              </a:path>
              <a:path w="1049020" h="1424939">
                <a:moveTo>
                  <a:pt x="1048981" y="150025"/>
                </a:moveTo>
                <a:lnTo>
                  <a:pt x="1030249" y="110147"/>
                </a:lnTo>
                <a:lnTo>
                  <a:pt x="977366" y="74307"/>
                </a:lnTo>
                <a:lnTo>
                  <a:pt x="939698" y="58356"/>
                </a:lnTo>
                <a:lnTo>
                  <a:pt x="895362" y="43954"/>
                </a:lnTo>
                <a:lnTo>
                  <a:pt x="844994" y="31267"/>
                </a:lnTo>
                <a:lnTo>
                  <a:pt x="789216" y="20485"/>
                </a:lnTo>
                <a:lnTo>
                  <a:pt x="728649" y="11798"/>
                </a:lnTo>
                <a:lnTo>
                  <a:pt x="663917" y="5359"/>
                </a:lnTo>
                <a:lnTo>
                  <a:pt x="595655" y="1371"/>
                </a:lnTo>
                <a:lnTo>
                  <a:pt x="524484" y="0"/>
                </a:lnTo>
                <a:lnTo>
                  <a:pt x="453313" y="1371"/>
                </a:lnTo>
                <a:lnTo>
                  <a:pt x="385064" y="5359"/>
                </a:lnTo>
                <a:lnTo>
                  <a:pt x="320332" y="11798"/>
                </a:lnTo>
                <a:lnTo>
                  <a:pt x="259778" y="20485"/>
                </a:lnTo>
                <a:lnTo>
                  <a:pt x="203987" y="31267"/>
                </a:lnTo>
                <a:lnTo>
                  <a:pt x="153619" y="43954"/>
                </a:lnTo>
                <a:lnTo>
                  <a:pt x="109283" y="58356"/>
                </a:lnTo>
                <a:lnTo>
                  <a:pt x="71602" y="74307"/>
                </a:lnTo>
                <a:lnTo>
                  <a:pt x="18732" y="110147"/>
                </a:lnTo>
                <a:lnTo>
                  <a:pt x="0" y="150025"/>
                </a:lnTo>
                <a:lnTo>
                  <a:pt x="4787" y="170370"/>
                </a:lnTo>
                <a:lnTo>
                  <a:pt x="41211" y="208407"/>
                </a:lnTo>
                <a:lnTo>
                  <a:pt x="109283" y="241668"/>
                </a:lnTo>
                <a:lnTo>
                  <a:pt x="153619" y="256070"/>
                </a:lnTo>
                <a:lnTo>
                  <a:pt x="203987" y="268757"/>
                </a:lnTo>
                <a:lnTo>
                  <a:pt x="259778" y="279527"/>
                </a:lnTo>
                <a:lnTo>
                  <a:pt x="320332" y="288213"/>
                </a:lnTo>
                <a:lnTo>
                  <a:pt x="385064" y="294640"/>
                </a:lnTo>
                <a:lnTo>
                  <a:pt x="453313" y="298640"/>
                </a:lnTo>
                <a:lnTo>
                  <a:pt x="524484" y="299999"/>
                </a:lnTo>
                <a:lnTo>
                  <a:pt x="595655" y="298640"/>
                </a:lnTo>
                <a:lnTo>
                  <a:pt x="663917" y="294640"/>
                </a:lnTo>
                <a:lnTo>
                  <a:pt x="728649" y="288213"/>
                </a:lnTo>
                <a:lnTo>
                  <a:pt x="789216" y="279527"/>
                </a:lnTo>
                <a:lnTo>
                  <a:pt x="844994" y="268757"/>
                </a:lnTo>
                <a:lnTo>
                  <a:pt x="895362" y="256070"/>
                </a:lnTo>
                <a:lnTo>
                  <a:pt x="939698" y="241668"/>
                </a:lnTo>
                <a:lnTo>
                  <a:pt x="977366" y="225717"/>
                </a:lnTo>
                <a:lnTo>
                  <a:pt x="1030249" y="189890"/>
                </a:lnTo>
                <a:lnTo>
                  <a:pt x="1048981" y="150025"/>
                </a:lnTo>
                <a:close/>
              </a:path>
            </a:pathLst>
          </a:custGeom>
          <a:solidFill>
            <a:srgbClr val="99D3FF"/>
          </a:solidFill>
        </p:spPr>
        <p:txBody>
          <a:bodyPr wrap="square" lIns="0" tIns="0" rIns="0" bIns="0" rtlCol="0"/>
          <a:lstStyle/>
          <a:p>
            <a:endParaRPr sz="2400"/>
          </a:p>
        </p:txBody>
      </p:sp>
      <p:sp>
        <p:nvSpPr>
          <p:cNvPr id="4" name="object 4"/>
          <p:cNvSpPr/>
          <p:nvPr/>
        </p:nvSpPr>
        <p:spPr>
          <a:xfrm>
            <a:off x="3099037" y="2836434"/>
            <a:ext cx="688340" cy="936413"/>
          </a:xfrm>
          <a:custGeom>
            <a:avLst/>
            <a:gdLst/>
            <a:ahLst/>
            <a:cxnLst/>
            <a:rect l="l" t="t" r="r" b="b"/>
            <a:pathLst>
              <a:path w="516255" h="702310">
                <a:moveTo>
                  <a:pt x="515708" y="480110"/>
                </a:moveTo>
                <a:lnTo>
                  <a:pt x="506450" y="499681"/>
                </a:lnTo>
                <a:lnTo>
                  <a:pt x="480377" y="517309"/>
                </a:lnTo>
                <a:lnTo>
                  <a:pt x="460451" y="524687"/>
                </a:lnTo>
                <a:lnTo>
                  <a:pt x="460451" y="609371"/>
                </a:lnTo>
                <a:lnTo>
                  <a:pt x="459130" y="616927"/>
                </a:lnTo>
                <a:lnTo>
                  <a:pt x="455383" y="622757"/>
                </a:lnTo>
                <a:lnTo>
                  <a:pt x="449580" y="626503"/>
                </a:lnTo>
                <a:lnTo>
                  <a:pt x="442036" y="627837"/>
                </a:lnTo>
                <a:lnTo>
                  <a:pt x="434492" y="626503"/>
                </a:lnTo>
                <a:lnTo>
                  <a:pt x="428688" y="622757"/>
                </a:lnTo>
                <a:lnTo>
                  <a:pt x="424942" y="616927"/>
                </a:lnTo>
                <a:lnTo>
                  <a:pt x="423621" y="609371"/>
                </a:lnTo>
                <a:lnTo>
                  <a:pt x="424942" y="601802"/>
                </a:lnTo>
                <a:lnTo>
                  <a:pt x="428688" y="595985"/>
                </a:lnTo>
                <a:lnTo>
                  <a:pt x="434492" y="592226"/>
                </a:lnTo>
                <a:lnTo>
                  <a:pt x="442036" y="590905"/>
                </a:lnTo>
                <a:lnTo>
                  <a:pt x="449580" y="592226"/>
                </a:lnTo>
                <a:lnTo>
                  <a:pt x="455383" y="595985"/>
                </a:lnTo>
                <a:lnTo>
                  <a:pt x="459130" y="601802"/>
                </a:lnTo>
                <a:lnTo>
                  <a:pt x="460451" y="609371"/>
                </a:lnTo>
                <a:lnTo>
                  <a:pt x="460451" y="524687"/>
                </a:lnTo>
                <a:lnTo>
                  <a:pt x="439966" y="532269"/>
                </a:lnTo>
                <a:lnTo>
                  <a:pt x="387731" y="543852"/>
                </a:lnTo>
                <a:lnTo>
                  <a:pt x="326199" y="551319"/>
                </a:lnTo>
                <a:lnTo>
                  <a:pt x="257860" y="553974"/>
                </a:lnTo>
                <a:lnTo>
                  <a:pt x="189509" y="551319"/>
                </a:lnTo>
                <a:lnTo>
                  <a:pt x="127977" y="543852"/>
                </a:lnTo>
                <a:lnTo>
                  <a:pt x="75742" y="532269"/>
                </a:lnTo>
                <a:lnTo>
                  <a:pt x="35344" y="517309"/>
                </a:lnTo>
                <a:lnTo>
                  <a:pt x="0" y="480110"/>
                </a:lnTo>
                <a:lnTo>
                  <a:pt x="0" y="627837"/>
                </a:lnTo>
                <a:lnTo>
                  <a:pt x="35344" y="665035"/>
                </a:lnTo>
                <a:lnTo>
                  <a:pt x="75742" y="679996"/>
                </a:lnTo>
                <a:lnTo>
                  <a:pt x="127977" y="691565"/>
                </a:lnTo>
                <a:lnTo>
                  <a:pt x="189509" y="699046"/>
                </a:lnTo>
                <a:lnTo>
                  <a:pt x="257860" y="701687"/>
                </a:lnTo>
                <a:lnTo>
                  <a:pt x="326199" y="699046"/>
                </a:lnTo>
                <a:lnTo>
                  <a:pt x="387731" y="691565"/>
                </a:lnTo>
                <a:lnTo>
                  <a:pt x="439966" y="679996"/>
                </a:lnTo>
                <a:lnTo>
                  <a:pt x="480377" y="665035"/>
                </a:lnTo>
                <a:lnTo>
                  <a:pt x="515708" y="627837"/>
                </a:lnTo>
                <a:lnTo>
                  <a:pt x="515708" y="590905"/>
                </a:lnTo>
                <a:lnTo>
                  <a:pt x="515708" y="553974"/>
                </a:lnTo>
                <a:lnTo>
                  <a:pt x="515708" y="480110"/>
                </a:lnTo>
                <a:close/>
              </a:path>
              <a:path w="516255" h="702310">
                <a:moveTo>
                  <a:pt x="515708" y="295452"/>
                </a:moveTo>
                <a:lnTo>
                  <a:pt x="506450" y="315036"/>
                </a:lnTo>
                <a:lnTo>
                  <a:pt x="480377" y="332663"/>
                </a:lnTo>
                <a:lnTo>
                  <a:pt x="460451" y="340042"/>
                </a:lnTo>
                <a:lnTo>
                  <a:pt x="460451" y="424713"/>
                </a:lnTo>
                <a:lnTo>
                  <a:pt x="459130" y="432269"/>
                </a:lnTo>
                <a:lnTo>
                  <a:pt x="455383" y="438099"/>
                </a:lnTo>
                <a:lnTo>
                  <a:pt x="449580" y="441858"/>
                </a:lnTo>
                <a:lnTo>
                  <a:pt x="442036" y="443179"/>
                </a:lnTo>
                <a:lnTo>
                  <a:pt x="434492" y="441858"/>
                </a:lnTo>
                <a:lnTo>
                  <a:pt x="428688" y="438099"/>
                </a:lnTo>
                <a:lnTo>
                  <a:pt x="424942" y="432269"/>
                </a:lnTo>
                <a:lnTo>
                  <a:pt x="423621" y="424713"/>
                </a:lnTo>
                <a:lnTo>
                  <a:pt x="424942" y="417156"/>
                </a:lnTo>
                <a:lnTo>
                  <a:pt x="428688" y="411327"/>
                </a:lnTo>
                <a:lnTo>
                  <a:pt x="434492" y="407581"/>
                </a:lnTo>
                <a:lnTo>
                  <a:pt x="442036" y="406247"/>
                </a:lnTo>
                <a:lnTo>
                  <a:pt x="449580" y="407581"/>
                </a:lnTo>
                <a:lnTo>
                  <a:pt x="455383" y="411327"/>
                </a:lnTo>
                <a:lnTo>
                  <a:pt x="459130" y="417156"/>
                </a:lnTo>
                <a:lnTo>
                  <a:pt x="460451" y="424713"/>
                </a:lnTo>
                <a:lnTo>
                  <a:pt x="460451" y="340042"/>
                </a:lnTo>
                <a:lnTo>
                  <a:pt x="439966" y="347624"/>
                </a:lnTo>
                <a:lnTo>
                  <a:pt x="387731" y="359194"/>
                </a:lnTo>
                <a:lnTo>
                  <a:pt x="326199" y="366674"/>
                </a:lnTo>
                <a:lnTo>
                  <a:pt x="257860" y="369316"/>
                </a:lnTo>
                <a:lnTo>
                  <a:pt x="189509" y="366674"/>
                </a:lnTo>
                <a:lnTo>
                  <a:pt x="127977" y="359194"/>
                </a:lnTo>
                <a:lnTo>
                  <a:pt x="75742" y="347624"/>
                </a:lnTo>
                <a:lnTo>
                  <a:pt x="35344" y="332663"/>
                </a:lnTo>
                <a:lnTo>
                  <a:pt x="0" y="295452"/>
                </a:lnTo>
                <a:lnTo>
                  <a:pt x="0" y="443179"/>
                </a:lnTo>
                <a:lnTo>
                  <a:pt x="35344" y="480390"/>
                </a:lnTo>
                <a:lnTo>
                  <a:pt x="75742" y="495338"/>
                </a:lnTo>
                <a:lnTo>
                  <a:pt x="127977" y="506920"/>
                </a:lnTo>
                <a:lnTo>
                  <a:pt x="189509" y="514388"/>
                </a:lnTo>
                <a:lnTo>
                  <a:pt x="257860" y="517042"/>
                </a:lnTo>
                <a:lnTo>
                  <a:pt x="326199" y="514388"/>
                </a:lnTo>
                <a:lnTo>
                  <a:pt x="387731" y="506920"/>
                </a:lnTo>
                <a:lnTo>
                  <a:pt x="439966" y="495338"/>
                </a:lnTo>
                <a:lnTo>
                  <a:pt x="480377" y="480390"/>
                </a:lnTo>
                <a:lnTo>
                  <a:pt x="515708" y="443179"/>
                </a:lnTo>
                <a:lnTo>
                  <a:pt x="515708" y="406247"/>
                </a:lnTo>
                <a:lnTo>
                  <a:pt x="515708" y="369316"/>
                </a:lnTo>
                <a:lnTo>
                  <a:pt x="515708" y="295452"/>
                </a:lnTo>
                <a:close/>
              </a:path>
              <a:path w="516255" h="702310">
                <a:moveTo>
                  <a:pt x="515708" y="110807"/>
                </a:moveTo>
                <a:lnTo>
                  <a:pt x="506450" y="130378"/>
                </a:lnTo>
                <a:lnTo>
                  <a:pt x="480377" y="148005"/>
                </a:lnTo>
                <a:lnTo>
                  <a:pt x="460451" y="155384"/>
                </a:lnTo>
                <a:lnTo>
                  <a:pt x="460451" y="240055"/>
                </a:lnTo>
                <a:lnTo>
                  <a:pt x="459130" y="247624"/>
                </a:lnTo>
                <a:lnTo>
                  <a:pt x="455383" y="253453"/>
                </a:lnTo>
                <a:lnTo>
                  <a:pt x="449580" y="257200"/>
                </a:lnTo>
                <a:lnTo>
                  <a:pt x="442036" y="258521"/>
                </a:lnTo>
                <a:lnTo>
                  <a:pt x="434492" y="257200"/>
                </a:lnTo>
                <a:lnTo>
                  <a:pt x="428688" y="253453"/>
                </a:lnTo>
                <a:lnTo>
                  <a:pt x="424942" y="247624"/>
                </a:lnTo>
                <a:lnTo>
                  <a:pt x="423621" y="240055"/>
                </a:lnTo>
                <a:lnTo>
                  <a:pt x="424942" y="232498"/>
                </a:lnTo>
                <a:lnTo>
                  <a:pt x="428688" y="226669"/>
                </a:lnTo>
                <a:lnTo>
                  <a:pt x="434492" y="222923"/>
                </a:lnTo>
                <a:lnTo>
                  <a:pt x="442036" y="221602"/>
                </a:lnTo>
                <a:lnTo>
                  <a:pt x="449580" y="222923"/>
                </a:lnTo>
                <a:lnTo>
                  <a:pt x="455383" y="226669"/>
                </a:lnTo>
                <a:lnTo>
                  <a:pt x="459130" y="232498"/>
                </a:lnTo>
                <a:lnTo>
                  <a:pt x="460451" y="240055"/>
                </a:lnTo>
                <a:lnTo>
                  <a:pt x="460451" y="155384"/>
                </a:lnTo>
                <a:lnTo>
                  <a:pt x="439966" y="162966"/>
                </a:lnTo>
                <a:lnTo>
                  <a:pt x="387731" y="174548"/>
                </a:lnTo>
                <a:lnTo>
                  <a:pt x="326199" y="182016"/>
                </a:lnTo>
                <a:lnTo>
                  <a:pt x="257860" y="184670"/>
                </a:lnTo>
                <a:lnTo>
                  <a:pt x="189509" y="182016"/>
                </a:lnTo>
                <a:lnTo>
                  <a:pt x="127977" y="174548"/>
                </a:lnTo>
                <a:lnTo>
                  <a:pt x="75742" y="162966"/>
                </a:lnTo>
                <a:lnTo>
                  <a:pt x="35344" y="148005"/>
                </a:lnTo>
                <a:lnTo>
                  <a:pt x="0" y="110807"/>
                </a:lnTo>
                <a:lnTo>
                  <a:pt x="0" y="258521"/>
                </a:lnTo>
                <a:lnTo>
                  <a:pt x="35344" y="295732"/>
                </a:lnTo>
                <a:lnTo>
                  <a:pt x="75742" y="310692"/>
                </a:lnTo>
                <a:lnTo>
                  <a:pt x="127977" y="322262"/>
                </a:lnTo>
                <a:lnTo>
                  <a:pt x="189509" y="329742"/>
                </a:lnTo>
                <a:lnTo>
                  <a:pt x="257860" y="332384"/>
                </a:lnTo>
                <a:lnTo>
                  <a:pt x="326199" y="329742"/>
                </a:lnTo>
                <a:lnTo>
                  <a:pt x="387731" y="322262"/>
                </a:lnTo>
                <a:lnTo>
                  <a:pt x="439966" y="310692"/>
                </a:lnTo>
                <a:lnTo>
                  <a:pt x="480377" y="295732"/>
                </a:lnTo>
                <a:lnTo>
                  <a:pt x="515708" y="258521"/>
                </a:lnTo>
                <a:lnTo>
                  <a:pt x="515708" y="221602"/>
                </a:lnTo>
                <a:lnTo>
                  <a:pt x="515708" y="184670"/>
                </a:lnTo>
                <a:lnTo>
                  <a:pt x="515708" y="110807"/>
                </a:lnTo>
                <a:close/>
              </a:path>
              <a:path w="516255" h="702310">
                <a:moveTo>
                  <a:pt x="515708" y="73875"/>
                </a:moveTo>
                <a:lnTo>
                  <a:pt x="480504" y="36588"/>
                </a:lnTo>
                <a:lnTo>
                  <a:pt x="440182" y="21640"/>
                </a:lnTo>
                <a:lnTo>
                  <a:pt x="387997" y="10083"/>
                </a:lnTo>
                <a:lnTo>
                  <a:pt x="326402" y="2641"/>
                </a:lnTo>
                <a:lnTo>
                  <a:pt x="257860" y="0"/>
                </a:lnTo>
                <a:lnTo>
                  <a:pt x="189306" y="2641"/>
                </a:lnTo>
                <a:lnTo>
                  <a:pt x="127711" y="10083"/>
                </a:lnTo>
                <a:lnTo>
                  <a:pt x="75526" y="21640"/>
                </a:lnTo>
                <a:lnTo>
                  <a:pt x="35204" y="36588"/>
                </a:lnTo>
                <a:lnTo>
                  <a:pt x="0" y="73875"/>
                </a:lnTo>
                <a:lnTo>
                  <a:pt x="9220" y="93510"/>
                </a:lnTo>
                <a:lnTo>
                  <a:pt x="75526" y="126098"/>
                </a:lnTo>
                <a:lnTo>
                  <a:pt x="127711" y="137655"/>
                </a:lnTo>
                <a:lnTo>
                  <a:pt x="189306" y="145097"/>
                </a:lnTo>
                <a:lnTo>
                  <a:pt x="257860" y="147739"/>
                </a:lnTo>
                <a:lnTo>
                  <a:pt x="326402" y="145097"/>
                </a:lnTo>
                <a:lnTo>
                  <a:pt x="387997" y="137655"/>
                </a:lnTo>
                <a:lnTo>
                  <a:pt x="440182" y="126098"/>
                </a:lnTo>
                <a:lnTo>
                  <a:pt x="480504" y="111150"/>
                </a:lnTo>
                <a:lnTo>
                  <a:pt x="515708" y="73875"/>
                </a:lnTo>
                <a:close/>
              </a:path>
            </a:pathLst>
          </a:custGeom>
          <a:solidFill>
            <a:srgbClr val="9B9B9B"/>
          </a:solidFill>
        </p:spPr>
        <p:txBody>
          <a:bodyPr wrap="square" lIns="0" tIns="0" rIns="0" bIns="0" rtlCol="0"/>
          <a:lstStyle/>
          <a:p>
            <a:endParaRPr sz="2400"/>
          </a:p>
        </p:txBody>
      </p:sp>
      <p:pic>
        <p:nvPicPr>
          <p:cNvPr id="5" name="object 5"/>
          <p:cNvPicPr/>
          <p:nvPr/>
        </p:nvPicPr>
        <p:blipFill>
          <a:blip r:embed="rId2" cstate="print"/>
          <a:stretch>
            <a:fillRect/>
          </a:stretch>
        </p:blipFill>
        <p:spPr>
          <a:xfrm>
            <a:off x="3093074" y="4444189"/>
            <a:ext cx="700620" cy="947895"/>
          </a:xfrm>
          <a:prstGeom prst="rect">
            <a:avLst/>
          </a:prstGeom>
        </p:spPr>
      </p:pic>
      <p:sp>
        <p:nvSpPr>
          <p:cNvPr id="6" name="object 6"/>
          <p:cNvSpPr txBox="1"/>
          <p:nvPr/>
        </p:nvSpPr>
        <p:spPr>
          <a:xfrm>
            <a:off x="2817706" y="3754458"/>
            <a:ext cx="1145540"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Sales</a:t>
            </a:r>
            <a:r>
              <a:rPr sz="2133" spc="-27" dirty="0">
                <a:solidFill>
                  <a:srgbClr val="FFFFFF"/>
                </a:solidFill>
                <a:latin typeface="Calibri"/>
                <a:cs typeface="Calibri"/>
              </a:rPr>
              <a:t> data</a:t>
            </a:r>
            <a:endParaRPr sz="2133">
              <a:latin typeface="Calibri"/>
              <a:cs typeface="Calibri"/>
            </a:endParaRPr>
          </a:p>
        </p:txBody>
      </p:sp>
      <p:sp>
        <p:nvSpPr>
          <p:cNvPr id="7" name="object 7"/>
          <p:cNvSpPr txBox="1"/>
          <p:nvPr/>
        </p:nvSpPr>
        <p:spPr>
          <a:xfrm>
            <a:off x="2736088" y="5390625"/>
            <a:ext cx="1391920"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CRM</a:t>
            </a:r>
            <a:r>
              <a:rPr sz="2133" spc="-53" dirty="0">
                <a:solidFill>
                  <a:srgbClr val="FFFFFF"/>
                </a:solidFill>
                <a:latin typeface="Calibri"/>
                <a:cs typeface="Calibri"/>
              </a:rPr>
              <a:t> </a:t>
            </a:r>
            <a:r>
              <a:rPr sz="2133" spc="-13" dirty="0">
                <a:solidFill>
                  <a:srgbClr val="FFFFFF"/>
                </a:solidFill>
                <a:latin typeface="Calibri"/>
                <a:cs typeface="Calibri"/>
              </a:rPr>
              <a:t>system</a:t>
            </a:r>
            <a:endParaRPr sz="2133">
              <a:latin typeface="Calibri"/>
              <a:cs typeface="Calibri"/>
            </a:endParaRPr>
          </a:p>
        </p:txBody>
      </p:sp>
      <p:graphicFrame>
        <p:nvGraphicFramePr>
          <p:cNvPr id="8" name="object 8"/>
          <p:cNvGraphicFramePr>
            <a:graphicFrameLocks noGrp="1"/>
          </p:cNvGraphicFramePr>
          <p:nvPr/>
        </p:nvGraphicFramePr>
        <p:xfrm>
          <a:off x="3549439" y="1571001"/>
          <a:ext cx="929639" cy="628227"/>
        </p:xfrm>
        <a:graphic>
          <a:graphicData uri="http://schemas.openxmlformats.org/drawingml/2006/table">
            <a:tbl>
              <a:tblPr firstRow="1" bandRow="1">
                <a:tableStyleId>{2D5ABB26-0587-4C30-8999-92F81FD0307C}</a:tableStyleId>
              </a:tblPr>
              <a:tblGrid>
                <a:gridCol w="314113">
                  <a:extLst>
                    <a:ext uri="{9D8B030D-6E8A-4147-A177-3AD203B41FA5}">
                      <a16:colId xmlns:a16="http://schemas.microsoft.com/office/drawing/2014/main" val="20000"/>
                    </a:ext>
                  </a:extLst>
                </a:gridCol>
                <a:gridCol w="301413">
                  <a:extLst>
                    <a:ext uri="{9D8B030D-6E8A-4147-A177-3AD203B41FA5}">
                      <a16:colId xmlns:a16="http://schemas.microsoft.com/office/drawing/2014/main" val="20001"/>
                    </a:ext>
                  </a:extLst>
                </a:gridCol>
                <a:gridCol w="314113">
                  <a:extLst>
                    <a:ext uri="{9D8B030D-6E8A-4147-A177-3AD203B41FA5}">
                      <a16:colId xmlns:a16="http://schemas.microsoft.com/office/drawing/2014/main" val="20002"/>
                    </a:ext>
                  </a:extLst>
                </a:gridCol>
              </a:tblGrid>
              <a:tr h="213360">
                <a:tc>
                  <a:txBody>
                    <a:bodyPr/>
                    <a:lstStyle/>
                    <a:p>
                      <a:pPr>
                        <a:lnSpc>
                          <a:spcPct val="100000"/>
                        </a:lnSpc>
                      </a:pPr>
                      <a:endParaRPr sz="1200">
                        <a:latin typeface="Times New Roman"/>
                        <a:cs typeface="Times New Roman"/>
                      </a:endParaRPr>
                    </a:p>
                  </a:txBody>
                  <a:tcPr marL="0" marR="0" marT="0" marB="0">
                    <a:lnL w="5715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57150">
                      <a:solidFill>
                        <a:srgbClr val="BCBCBC"/>
                      </a:solidFill>
                      <a:prstDash val="solid"/>
                    </a:lnR>
                    <a:lnT w="57150">
                      <a:solidFill>
                        <a:srgbClr val="BCBCBC"/>
                      </a:solidFill>
                      <a:prstDash val="solid"/>
                    </a:lnT>
                    <a:lnB w="38100">
                      <a:solidFill>
                        <a:srgbClr val="BCBCBC"/>
                      </a:solidFill>
                      <a:prstDash val="solid"/>
                    </a:lnB>
                  </a:tcPr>
                </a:tc>
                <a:extLst>
                  <a:ext uri="{0D108BD9-81ED-4DB2-BD59-A6C34878D82A}">
                    <a16:rowId xmlns:a16="http://schemas.microsoft.com/office/drawing/2014/main" val="10000"/>
                  </a:ext>
                </a:extLst>
              </a:tr>
              <a:tr h="201507">
                <a:tc>
                  <a:txBody>
                    <a:bodyPr/>
                    <a:lstStyle/>
                    <a:p>
                      <a:pPr>
                        <a:lnSpc>
                          <a:spcPct val="100000"/>
                        </a:lnSpc>
                      </a:pPr>
                      <a:endParaRPr sz="11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11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11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38100">
                      <a:solidFill>
                        <a:srgbClr val="BCBCBC"/>
                      </a:solidFill>
                      <a:prstDash val="solid"/>
                    </a:lnB>
                  </a:tcPr>
                </a:tc>
                <a:extLst>
                  <a:ext uri="{0D108BD9-81ED-4DB2-BD59-A6C34878D82A}">
                    <a16:rowId xmlns:a16="http://schemas.microsoft.com/office/drawing/2014/main" val="10001"/>
                  </a:ext>
                </a:extLst>
              </a:tr>
              <a:tr h="213360">
                <a:tc>
                  <a:txBody>
                    <a:bodyPr/>
                    <a:lstStyle/>
                    <a:p>
                      <a:pPr>
                        <a:lnSpc>
                          <a:spcPct val="100000"/>
                        </a:lnSpc>
                      </a:pPr>
                      <a:endParaRPr sz="12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57150">
                      <a:solidFill>
                        <a:srgbClr val="BCBCBC"/>
                      </a:solidFill>
                      <a:prstDash val="solid"/>
                    </a:lnB>
                  </a:tcPr>
                </a:tc>
                <a:extLst>
                  <a:ext uri="{0D108BD9-81ED-4DB2-BD59-A6C34878D82A}">
                    <a16:rowId xmlns:a16="http://schemas.microsoft.com/office/drawing/2014/main" val="10002"/>
                  </a:ext>
                </a:extLst>
              </a:tr>
            </a:tbl>
          </a:graphicData>
        </a:graphic>
      </p:graphicFrame>
      <p:sp>
        <p:nvSpPr>
          <p:cNvPr id="9" name="object 9"/>
          <p:cNvSpPr txBox="1"/>
          <p:nvPr/>
        </p:nvSpPr>
        <p:spPr>
          <a:xfrm>
            <a:off x="2533565" y="2298361"/>
            <a:ext cx="2129367"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Other</a:t>
            </a:r>
            <a:r>
              <a:rPr sz="2133" spc="-13" dirty="0">
                <a:solidFill>
                  <a:srgbClr val="FFFFFF"/>
                </a:solidFill>
                <a:latin typeface="Calibri"/>
                <a:cs typeface="Calibri"/>
              </a:rPr>
              <a:t> </a:t>
            </a:r>
            <a:r>
              <a:rPr sz="2133" dirty="0">
                <a:solidFill>
                  <a:srgbClr val="FFFFFF"/>
                </a:solidFill>
                <a:latin typeface="Calibri"/>
                <a:cs typeface="Calibri"/>
              </a:rPr>
              <a:t>data</a:t>
            </a:r>
            <a:r>
              <a:rPr sz="2133" spc="-47" dirty="0">
                <a:solidFill>
                  <a:srgbClr val="FFFFFF"/>
                </a:solidFill>
                <a:latin typeface="Calibri"/>
                <a:cs typeface="Calibri"/>
              </a:rPr>
              <a:t> </a:t>
            </a:r>
            <a:r>
              <a:rPr sz="2133" spc="-13" dirty="0">
                <a:solidFill>
                  <a:srgbClr val="FFFFFF"/>
                </a:solidFill>
                <a:latin typeface="Calibri"/>
                <a:cs typeface="Calibri"/>
              </a:rPr>
              <a:t>sources</a:t>
            </a:r>
            <a:endParaRPr sz="2133">
              <a:latin typeface="Calibri"/>
              <a:cs typeface="Calibri"/>
            </a:endParaRPr>
          </a:p>
        </p:txBody>
      </p:sp>
      <p:sp>
        <p:nvSpPr>
          <p:cNvPr id="10" name="object 10"/>
          <p:cNvSpPr txBox="1"/>
          <p:nvPr/>
        </p:nvSpPr>
        <p:spPr>
          <a:xfrm>
            <a:off x="9104713" y="4754541"/>
            <a:ext cx="502920" cy="344475"/>
          </a:xfrm>
          <a:prstGeom prst="rect">
            <a:avLst/>
          </a:prstGeom>
        </p:spPr>
        <p:txBody>
          <a:bodyPr vert="horz" wrap="square" lIns="0" tIns="16087" rIns="0" bIns="0" rtlCol="0">
            <a:spAutoFit/>
          </a:bodyPr>
          <a:lstStyle/>
          <a:p>
            <a:pPr marL="16933">
              <a:spcBef>
                <a:spcPts val="127"/>
              </a:spcBef>
            </a:pPr>
            <a:r>
              <a:rPr sz="2133" spc="-33" dirty="0">
                <a:solidFill>
                  <a:srgbClr val="FFFFFF"/>
                </a:solidFill>
                <a:latin typeface="Calibri"/>
                <a:cs typeface="Calibri"/>
              </a:rPr>
              <a:t>ODS</a:t>
            </a:r>
            <a:endParaRPr sz="2133">
              <a:latin typeface="Calibri"/>
              <a:cs typeface="Calibri"/>
            </a:endParaRPr>
          </a:p>
        </p:txBody>
      </p:sp>
      <p:grpSp>
        <p:nvGrpSpPr>
          <p:cNvPr id="11" name="object 11"/>
          <p:cNvGrpSpPr/>
          <p:nvPr/>
        </p:nvGrpSpPr>
        <p:grpSpPr>
          <a:xfrm>
            <a:off x="4816718" y="2319359"/>
            <a:ext cx="2826173" cy="2637367"/>
            <a:chOff x="3612538" y="1739519"/>
            <a:chExt cx="2119630" cy="1978025"/>
          </a:xfrm>
        </p:grpSpPr>
        <p:sp>
          <p:nvSpPr>
            <p:cNvPr id="12" name="object 12"/>
            <p:cNvSpPr/>
            <p:nvPr/>
          </p:nvSpPr>
          <p:spPr>
            <a:xfrm>
              <a:off x="3617110" y="1744091"/>
              <a:ext cx="1155065" cy="1436370"/>
            </a:xfrm>
            <a:custGeom>
              <a:avLst/>
              <a:gdLst/>
              <a:ahLst/>
              <a:cxnLst/>
              <a:rect l="l" t="t" r="r" b="b"/>
              <a:pathLst>
                <a:path w="1155064" h="1436370">
                  <a:moveTo>
                    <a:pt x="844653" y="0"/>
                  </a:moveTo>
                  <a:lnTo>
                    <a:pt x="844653" y="124079"/>
                  </a:lnTo>
                  <a:lnTo>
                    <a:pt x="795003" y="134345"/>
                  </a:lnTo>
                  <a:lnTo>
                    <a:pt x="746524" y="146511"/>
                  </a:lnTo>
                  <a:lnTo>
                    <a:pt x="699249" y="160518"/>
                  </a:lnTo>
                  <a:lnTo>
                    <a:pt x="653213" y="176308"/>
                  </a:lnTo>
                  <a:lnTo>
                    <a:pt x="608449" y="193821"/>
                  </a:lnTo>
                  <a:lnTo>
                    <a:pt x="564989" y="212999"/>
                  </a:lnTo>
                  <a:lnTo>
                    <a:pt x="522867" y="233783"/>
                  </a:lnTo>
                  <a:lnTo>
                    <a:pt x="482117" y="256115"/>
                  </a:lnTo>
                  <a:lnTo>
                    <a:pt x="442772" y="279935"/>
                  </a:lnTo>
                  <a:lnTo>
                    <a:pt x="404864" y="305184"/>
                  </a:lnTo>
                  <a:lnTo>
                    <a:pt x="368428" y="331805"/>
                  </a:lnTo>
                  <a:lnTo>
                    <a:pt x="333497" y="359738"/>
                  </a:lnTo>
                  <a:lnTo>
                    <a:pt x="300104" y="388924"/>
                  </a:lnTo>
                  <a:lnTo>
                    <a:pt x="268282" y="419304"/>
                  </a:lnTo>
                  <a:lnTo>
                    <a:pt x="238064" y="450820"/>
                  </a:lnTo>
                  <a:lnTo>
                    <a:pt x="209485" y="483413"/>
                  </a:lnTo>
                  <a:lnTo>
                    <a:pt x="182577" y="517025"/>
                  </a:lnTo>
                  <a:lnTo>
                    <a:pt x="157373" y="551595"/>
                  </a:lnTo>
                  <a:lnTo>
                    <a:pt x="133907" y="587066"/>
                  </a:lnTo>
                  <a:lnTo>
                    <a:pt x="112213" y="623379"/>
                  </a:lnTo>
                  <a:lnTo>
                    <a:pt x="92323" y="660475"/>
                  </a:lnTo>
                  <a:lnTo>
                    <a:pt x="74270" y="698295"/>
                  </a:lnTo>
                  <a:lnTo>
                    <a:pt x="58089" y="736780"/>
                  </a:lnTo>
                  <a:lnTo>
                    <a:pt x="43813" y="775872"/>
                  </a:lnTo>
                  <a:lnTo>
                    <a:pt x="31474" y="815512"/>
                  </a:lnTo>
                  <a:lnTo>
                    <a:pt x="21106" y="855640"/>
                  </a:lnTo>
                  <a:lnTo>
                    <a:pt x="12743" y="896199"/>
                  </a:lnTo>
                  <a:lnTo>
                    <a:pt x="6417" y="937129"/>
                  </a:lnTo>
                  <a:lnTo>
                    <a:pt x="2162" y="978372"/>
                  </a:lnTo>
                  <a:lnTo>
                    <a:pt x="12" y="1019869"/>
                  </a:lnTo>
                  <a:lnTo>
                    <a:pt x="0" y="1061561"/>
                  </a:lnTo>
                  <a:lnTo>
                    <a:pt x="2158" y="1103389"/>
                  </a:lnTo>
                  <a:lnTo>
                    <a:pt x="6520" y="1145294"/>
                  </a:lnTo>
                  <a:lnTo>
                    <a:pt x="13121" y="1187218"/>
                  </a:lnTo>
                  <a:lnTo>
                    <a:pt x="21992" y="1229102"/>
                  </a:lnTo>
                  <a:lnTo>
                    <a:pt x="33167" y="1270887"/>
                  </a:lnTo>
                  <a:lnTo>
                    <a:pt x="46680" y="1312514"/>
                  </a:lnTo>
                  <a:lnTo>
                    <a:pt x="62563" y="1353925"/>
                  </a:lnTo>
                  <a:lnTo>
                    <a:pt x="80851" y="1395060"/>
                  </a:lnTo>
                  <a:lnTo>
                    <a:pt x="101576" y="1435862"/>
                  </a:lnTo>
                  <a:lnTo>
                    <a:pt x="411456" y="1251839"/>
                  </a:lnTo>
                  <a:lnTo>
                    <a:pt x="389374" y="1198814"/>
                  </a:lnTo>
                  <a:lnTo>
                    <a:pt x="373483" y="1144444"/>
                  </a:lnTo>
                  <a:lnTo>
                    <a:pt x="363879" y="1089193"/>
                  </a:lnTo>
                  <a:lnTo>
                    <a:pt x="360656" y="1033526"/>
                  </a:lnTo>
                  <a:lnTo>
                    <a:pt x="363531" y="986492"/>
                  </a:lnTo>
                  <a:lnTo>
                    <a:pt x="370153" y="940334"/>
                  </a:lnTo>
                  <a:lnTo>
                    <a:pt x="380413" y="895197"/>
                  </a:lnTo>
                  <a:lnTo>
                    <a:pt x="394201" y="851227"/>
                  </a:lnTo>
                  <a:lnTo>
                    <a:pt x="411409" y="808569"/>
                  </a:lnTo>
                  <a:lnTo>
                    <a:pt x="431925" y="767370"/>
                  </a:lnTo>
                  <a:lnTo>
                    <a:pt x="455642" y="727773"/>
                  </a:lnTo>
                  <a:lnTo>
                    <a:pt x="482448" y="689925"/>
                  </a:lnTo>
                  <a:lnTo>
                    <a:pt x="512234" y="653972"/>
                  </a:lnTo>
                  <a:lnTo>
                    <a:pt x="544891" y="620058"/>
                  </a:lnTo>
                  <a:lnTo>
                    <a:pt x="580308" y="588329"/>
                  </a:lnTo>
                  <a:lnTo>
                    <a:pt x="618377" y="558931"/>
                  </a:lnTo>
                  <a:lnTo>
                    <a:pt x="658988" y="532009"/>
                  </a:lnTo>
                  <a:lnTo>
                    <a:pt x="702031" y="507709"/>
                  </a:lnTo>
                  <a:lnTo>
                    <a:pt x="747395" y="486176"/>
                  </a:lnTo>
                  <a:lnTo>
                    <a:pt x="794973" y="467555"/>
                  </a:lnTo>
                  <a:lnTo>
                    <a:pt x="844653" y="451993"/>
                  </a:lnTo>
                  <a:lnTo>
                    <a:pt x="844653" y="566420"/>
                  </a:lnTo>
                  <a:lnTo>
                    <a:pt x="1154533" y="292862"/>
                  </a:lnTo>
                  <a:lnTo>
                    <a:pt x="844653" y="0"/>
                  </a:lnTo>
                  <a:close/>
                </a:path>
              </a:pathLst>
            </a:custGeom>
            <a:solidFill>
              <a:srgbClr val="7E7E7E"/>
            </a:solidFill>
          </p:spPr>
          <p:txBody>
            <a:bodyPr wrap="square" lIns="0" tIns="0" rIns="0" bIns="0" rtlCol="0"/>
            <a:lstStyle/>
            <a:p>
              <a:endParaRPr sz="2400"/>
            </a:p>
          </p:txBody>
        </p:sp>
        <p:sp>
          <p:nvSpPr>
            <p:cNvPr id="13" name="object 13"/>
            <p:cNvSpPr/>
            <p:nvPr/>
          </p:nvSpPr>
          <p:spPr>
            <a:xfrm>
              <a:off x="3617110" y="1744091"/>
              <a:ext cx="1155065" cy="1436370"/>
            </a:xfrm>
            <a:custGeom>
              <a:avLst/>
              <a:gdLst/>
              <a:ahLst/>
              <a:cxnLst/>
              <a:rect l="l" t="t" r="r" b="b"/>
              <a:pathLst>
                <a:path w="1155064" h="1436370">
                  <a:moveTo>
                    <a:pt x="844653" y="0"/>
                  </a:moveTo>
                  <a:lnTo>
                    <a:pt x="844653" y="124079"/>
                  </a:lnTo>
                  <a:lnTo>
                    <a:pt x="795003" y="134345"/>
                  </a:lnTo>
                  <a:lnTo>
                    <a:pt x="746524" y="146511"/>
                  </a:lnTo>
                  <a:lnTo>
                    <a:pt x="699249" y="160518"/>
                  </a:lnTo>
                  <a:lnTo>
                    <a:pt x="653213" y="176308"/>
                  </a:lnTo>
                  <a:lnTo>
                    <a:pt x="608449" y="193821"/>
                  </a:lnTo>
                  <a:lnTo>
                    <a:pt x="564989" y="212999"/>
                  </a:lnTo>
                  <a:lnTo>
                    <a:pt x="522867" y="233783"/>
                  </a:lnTo>
                  <a:lnTo>
                    <a:pt x="482117" y="256115"/>
                  </a:lnTo>
                  <a:lnTo>
                    <a:pt x="442772" y="279935"/>
                  </a:lnTo>
                  <a:lnTo>
                    <a:pt x="404864" y="305184"/>
                  </a:lnTo>
                  <a:lnTo>
                    <a:pt x="368428" y="331805"/>
                  </a:lnTo>
                  <a:lnTo>
                    <a:pt x="333497" y="359738"/>
                  </a:lnTo>
                  <a:lnTo>
                    <a:pt x="300104" y="388924"/>
                  </a:lnTo>
                  <a:lnTo>
                    <a:pt x="268282" y="419304"/>
                  </a:lnTo>
                  <a:lnTo>
                    <a:pt x="238064" y="450820"/>
                  </a:lnTo>
                  <a:lnTo>
                    <a:pt x="209485" y="483413"/>
                  </a:lnTo>
                  <a:lnTo>
                    <a:pt x="182577" y="517025"/>
                  </a:lnTo>
                  <a:lnTo>
                    <a:pt x="157373" y="551595"/>
                  </a:lnTo>
                  <a:lnTo>
                    <a:pt x="133907" y="587066"/>
                  </a:lnTo>
                  <a:lnTo>
                    <a:pt x="112213" y="623379"/>
                  </a:lnTo>
                  <a:lnTo>
                    <a:pt x="92323" y="660475"/>
                  </a:lnTo>
                  <a:lnTo>
                    <a:pt x="74270" y="698295"/>
                  </a:lnTo>
                  <a:lnTo>
                    <a:pt x="58089" y="736780"/>
                  </a:lnTo>
                  <a:lnTo>
                    <a:pt x="43813" y="775872"/>
                  </a:lnTo>
                  <a:lnTo>
                    <a:pt x="31474" y="815512"/>
                  </a:lnTo>
                  <a:lnTo>
                    <a:pt x="21106" y="855640"/>
                  </a:lnTo>
                  <a:lnTo>
                    <a:pt x="12743" y="896199"/>
                  </a:lnTo>
                  <a:lnTo>
                    <a:pt x="6417" y="937129"/>
                  </a:lnTo>
                  <a:lnTo>
                    <a:pt x="2162" y="978372"/>
                  </a:lnTo>
                  <a:lnTo>
                    <a:pt x="12" y="1019869"/>
                  </a:lnTo>
                  <a:lnTo>
                    <a:pt x="0" y="1061561"/>
                  </a:lnTo>
                  <a:lnTo>
                    <a:pt x="2158" y="1103389"/>
                  </a:lnTo>
                  <a:lnTo>
                    <a:pt x="6520" y="1145294"/>
                  </a:lnTo>
                  <a:lnTo>
                    <a:pt x="13121" y="1187218"/>
                  </a:lnTo>
                  <a:lnTo>
                    <a:pt x="21992" y="1229102"/>
                  </a:lnTo>
                  <a:lnTo>
                    <a:pt x="33167" y="1270887"/>
                  </a:lnTo>
                  <a:lnTo>
                    <a:pt x="46680" y="1312514"/>
                  </a:lnTo>
                  <a:lnTo>
                    <a:pt x="62563" y="1353925"/>
                  </a:lnTo>
                  <a:lnTo>
                    <a:pt x="80851" y="1395060"/>
                  </a:lnTo>
                  <a:lnTo>
                    <a:pt x="101576" y="1435862"/>
                  </a:lnTo>
                  <a:lnTo>
                    <a:pt x="411456" y="1251839"/>
                  </a:lnTo>
                  <a:lnTo>
                    <a:pt x="389374" y="1198814"/>
                  </a:lnTo>
                  <a:lnTo>
                    <a:pt x="373483" y="1144444"/>
                  </a:lnTo>
                  <a:lnTo>
                    <a:pt x="363879" y="1089193"/>
                  </a:lnTo>
                  <a:lnTo>
                    <a:pt x="360656" y="1033526"/>
                  </a:lnTo>
                  <a:lnTo>
                    <a:pt x="363531" y="986492"/>
                  </a:lnTo>
                  <a:lnTo>
                    <a:pt x="370153" y="940334"/>
                  </a:lnTo>
                  <a:lnTo>
                    <a:pt x="380413" y="895197"/>
                  </a:lnTo>
                  <a:lnTo>
                    <a:pt x="394201" y="851227"/>
                  </a:lnTo>
                  <a:lnTo>
                    <a:pt x="411409" y="808569"/>
                  </a:lnTo>
                  <a:lnTo>
                    <a:pt x="431925" y="767370"/>
                  </a:lnTo>
                  <a:lnTo>
                    <a:pt x="455642" y="727773"/>
                  </a:lnTo>
                  <a:lnTo>
                    <a:pt x="482448" y="689925"/>
                  </a:lnTo>
                  <a:lnTo>
                    <a:pt x="512234" y="653972"/>
                  </a:lnTo>
                  <a:lnTo>
                    <a:pt x="544891" y="620058"/>
                  </a:lnTo>
                  <a:lnTo>
                    <a:pt x="580308" y="588329"/>
                  </a:lnTo>
                  <a:lnTo>
                    <a:pt x="618377" y="558931"/>
                  </a:lnTo>
                  <a:lnTo>
                    <a:pt x="658988" y="532009"/>
                  </a:lnTo>
                  <a:lnTo>
                    <a:pt x="702031" y="507709"/>
                  </a:lnTo>
                  <a:lnTo>
                    <a:pt x="747395" y="486176"/>
                  </a:lnTo>
                  <a:lnTo>
                    <a:pt x="794973" y="467555"/>
                  </a:lnTo>
                  <a:lnTo>
                    <a:pt x="844653" y="451993"/>
                  </a:lnTo>
                  <a:lnTo>
                    <a:pt x="844653" y="566420"/>
                  </a:lnTo>
                  <a:lnTo>
                    <a:pt x="1154533" y="292862"/>
                  </a:lnTo>
                  <a:lnTo>
                    <a:pt x="844653" y="0"/>
                  </a:lnTo>
                  <a:close/>
                </a:path>
              </a:pathLst>
            </a:custGeom>
            <a:ln w="9144">
              <a:solidFill>
                <a:srgbClr val="A4B7C5"/>
              </a:solidFill>
            </a:ln>
          </p:spPr>
          <p:txBody>
            <a:bodyPr wrap="square" lIns="0" tIns="0" rIns="0" bIns="0" rtlCol="0"/>
            <a:lstStyle/>
            <a:p>
              <a:endParaRPr sz="2400"/>
            </a:p>
          </p:txBody>
        </p:sp>
        <p:sp>
          <p:nvSpPr>
            <p:cNvPr id="14" name="object 14"/>
            <p:cNvSpPr/>
            <p:nvPr/>
          </p:nvSpPr>
          <p:spPr>
            <a:xfrm>
              <a:off x="4866131" y="1862963"/>
              <a:ext cx="861060" cy="1411605"/>
            </a:xfrm>
            <a:custGeom>
              <a:avLst/>
              <a:gdLst/>
              <a:ahLst/>
              <a:cxnLst/>
              <a:rect l="l" t="t" r="r" b="b"/>
              <a:pathLst>
                <a:path w="861060" h="1411604">
                  <a:moveTo>
                    <a:pt x="0" y="0"/>
                  </a:moveTo>
                  <a:lnTo>
                    <a:pt x="0" y="328041"/>
                  </a:lnTo>
                  <a:lnTo>
                    <a:pt x="50660" y="343652"/>
                  </a:lnTo>
                  <a:lnTo>
                    <a:pt x="99321" y="362413"/>
                  </a:lnTo>
                  <a:lnTo>
                    <a:pt x="145844" y="384165"/>
                  </a:lnTo>
                  <a:lnTo>
                    <a:pt x="190091" y="408751"/>
                  </a:lnTo>
                  <a:lnTo>
                    <a:pt x="231923" y="436012"/>
                  </a:lnTo>
                  <a:lnTo>
                    <a:pt x="271203" y="465792"/>
                  </a:lnTo>
                  <a:lnTo>
                    <a:pt x="307793" y="497933"/>
                  </a:lnTo>
                  <a:lnTo>
                    <a:pt x="341554" y="532278"/>
                  </a:lnTo>
                  <a:lnTo>
                    <a:pt x="372347" y="568668"/>
                  </a:lnTo>
                  <a:lnTo>
                    <a:pt x="400036" y="606946"/>
                  </a:lnTo>
                  <a:lnTo>
                    <a:pt x="424480" y="646955"/>
                  </a:lnTo>
                  <a:lnTo>
                    <a:pt x="445544" y="688537"/>
                  </a:lnTo>
                  <a:lnTo>
                    <a:pt x="463087" y="731534"/>
                  </a:lnTo>
                  <a:lnTo>
                    <a:pt x="476973" y="775790"/>
                  </a:lnTo>
                  <a:lnTo>
                    <a:pt x="487062" y="821145"/>
                  </a:lnTo>
                  <a:lnTo>
                    <a:pt x="493217" y="867443"/>
                  </a:lnTo>
                  <a:lnTo>
                    <a:pt x="495300" y="914526"/>
                  </a:lnTo>
                  <a:lnTo>
                    <a:pt x="493154" y="966648"/>
                  </a:lnTo>
                  <a:lnTo>
                    <a:pt x="486330" y="1018317"/>
                  </a:lnTo>
                  <a:lnTo>
                    <a:pt x="474243" y="1069082"/>
                  </a:lnTo>
                  <a:lnTo>
                    <a:pt x="456310" y="1118489"/>
                  </a:lnTo>
                  <a:lnTo>
                    <a:pt x="315087" y="1028954"/>
                  </a:lnTo>
                  <a:lnTo>
                    <a:pt x="400050" y="1411478"/>
                  </a:lnTo>
                  <a:lnTo>
                    <a:pt x="849376" y="1352169"/>
                  </a:lnTo>
                  <a:lnTo>
                    <a:pt x="765175" y="1297051"/>
                  </a:lnTo>
                  <a:lnTo>
                    <a:pt x="787198" y="1251886"/>
                  </a:lnTo>
                  <a:lnTo>
                    <a:pt x="806463" y="1205866"/>
                  </a:lnTo>
                  <a:lnTo>
                    <a:pt x="822916" y="1159040"/>
                  </a:lnTo>
                  <a:lnTo>
                    <a:pt x="836501" y="1111456"/>
                  </a:lnTo>
                  <a:lnTo>
                    <a:pt x="847163" y="1063163"/>
                  </a:lnTo>
                  <a:lnTo>
                    <a:pt x="854846" y="1014212"/>
                  </a:lnTo>
                  <a:lnTo>
                    <a:pt x="859497" y="964650"/>
                  </a:lnTo>
                  <a:lnTo>
                    <a:pt x="861059" y="914526"/>
                  </a:lnTo>
                  <a:lnTo>
                    <a:pt x="859764" y="868493"/>
                  </a:lnTo>
                  <a:lnTo>
                    <a:pt x="855918" y="822975"/>
                  </a:lnTo>
                  <a:lnTo>
                    <a:pt x="849578" y="778030"/>
                  </a:lnTo>
                  <a:lnTo>
                    <a:pt x="840804" y="733716"/>
                  </a:lnTo>
                  <a:lnTo>
                    <a:pt x="829652" y="690091"/>
                  </a:lnTo>
                  <a:lnTo>
                    <a:pt x="816181" y="647213"/>
                  </a:lnTo>
                  <a:lnTo>
                    <a:pt x="800450" y="605138"/>
                  </a:lnTo>
                  <a:lnTo>
                    <a:pt x="782516" y="563926"/>
                  </a:lnTo>
                  <a:lnTo>
                    <a:pt x="762437" y="523634"/>
                  </a:lnTo>
                  <a:lnTo>
                    <a:pt x="740272" y="484320"/>
                  </a:lnTo>
                  <a:lnTo>
                    <a:pt x="716078" y="446041"/>
                  </a:lnTo>
                  <a:lnTo>
                    <a:pt x="689915" y="408856"/>
                  </a:lnTo>
                  <a:lnTo>
                    <a:pt x="661839" y="372822"/>
                  </a:lnTo>
                  <a:lnTo>
                    <a:pt x="631909" y="337997"/>
                  </a:lnTo>
                  <a:lnTo>
                    <a:pt x="600183" y="304438"/>
                  </a:lnTo>
                  <a:lnTo>
                    <a:pt x="566720" y="272204"/>
                  </a:lnTo>
                  <a:lnTo>
                    <a:pt x="531577" y="241353"/>
                  </a:lnTo>
                  <a:lnTo>
                    <a:pt x="494812" y="211942"/>
                  </a:lnTo>
                  <a:lnTo>
                    <a:pt x="456484" y="184028"/>
                  </a:lnTo>
                  <a:lnTo>
                    <a:pt x="416651" y="157671"/>
                  </a:lnTo>
                  <a:lnTo>
                    <a:pt x="375370" y="132927"/>
                  </a:lnTo>
                  <a:lnTo>
                    <a:pt x="332700" y="109854"/>
                  </a:lnTo>
                  <a:lnTo>
                    <a:pt x="288700" y="88511"/>
                  </a:lnTo>
                  <a:lnTo>
                    <a:pt x="243426" y="68954"/>
                  </a:lnTo>
                  <a:lnTo>
                    <a:pt x="196938" y="51242"/>
                  </a:lnTo>
                  <a:lnTo>
                    <a:pt x="149293" y="35433"/>
                  </a:lnTo>
                  <a:lnTo>
                    <a:pt x="100550" y="21585"/>
                  </a:lnTo>
                  <a:lnTo>
                    <a:pt x="50766" y="9754"/>
                  </a:lnTo>
                  <a:lnTo>
                    <a:pt x="0" y="0"/>
                  </a:lnTo>
                  <a:close/>
                </a:path>
              </a:pathLst>
            </a:custGeom>
            <a:solidFill>
              <a:srgbClr val="D5D5D5"/>
            </a:solidFill>
          </p:spPr>
          <p:txBody>
            <a:bodyPr wrap="square" lIns="0" tIns="0" rIns="0" bIns="0" rtlCol="0"/>
            <a:lstStyle/>
            <a:p>
              <a:endParaRPr sz="2400"/>
            </a:p>
          </p:txBody>
        </p:sp>
        <p:sp>
          <p:nvSpPr>
            <p:cNvPr id="15" name="object 15"/>
            <p:cNvSpPr/>
            <p:nvPr/>
          </p:nvSpPr>
          <p:spPr>
            <a:xfrm>
              <a:off x="4866131" y="1862963"/>
              <a:ext cx="861060" cy="1411605"/>
            </a:xfrm>
            <a:custGeom>
              <a:avLst/>
              <a:gdLst/>
              <a:ahLst/>
              <a:cxnLst/>
              <a:rect l="l" t="t" r="r" b="b"/>
              <a:pathLst>
                <a:path w="861060" h="1411604">
                  <a:moveTo>
                    <a:pt x="0" y="0"/>
                  </a:moveTo>
                  <a:lnTo>
                    <a:pt x="0" y="328041"/>
                  </a:lnTo>
                  <a:lnTo>
                    <a:pt x="50660" y="343652"/>
                  </a:lnTo>
                  <a:lnTo>
                    <a:pt x="99321" y="362413"/>
                  </a:lnTo>
                  <a:lnTo>
                    <a:pt x="145844" y="384165"/>
                  </a:lnTo>
                  <a:lnTo>
                    <a:pt x="190091" y="408751"/>
                  </a:lnTo>
                  <a:lnTo>
                    <a:pt x="231923" y="436012"/>
                  </a:lnTo>
                  <a:lnTo>
                    <a:pt x="271203" y="465792"/>
                  </a:lnTo>
                  <a:lnTo>
                    <a:pt x="307793" y="497933"/>
                  </a:lnTo>
                  <a:lnTo>
                    <a:pt x="341554" y="532278"/>
                  </a:lnTo>
                  <a:lnTo>
                    <a:pt x="372347" y="568668"/>
                  </a:lnTo>
                  <a:lnTo>
                    <a:pt x="400036" y="606946"/>
                  </a:lnTo>
                  <a:lnTo>
                    <a:pt x="424480" y="646955"/>
                  </a:lnTo>
                  <a:lnTo>
                    <a:pt x="445544" y="688537"/>
                  </a:lnTo>
                  <a:lnTo>
                    <a:pt x="463087" y="731534"/>
                  </a:lnTo>
                  <a:lnTo>
                    <a:pt x="476973" y="775790"/>
                  </a:lnTo>
                  <a:lnTo>
                    <a:pt x="487062" y="821145"/>
                  </a:lnTo>
                  <a:lnTo>
                    <a:pt x="493217" y="867443"/>
                  </a:lnTo>
                  <a:lnTo>
                    <a:pt x="495300" y="914526"/>
                  </a:lnTo>
                  <a:lnTo>
                    <a:pt x="493154" y="966648"/>
                  </a:lnTo>
                  <a:lnTo>
                    <a:pt x="486330" y="1018317"/>
                  </a:lnTo>
                  <a:lnTo>
                    <a:pt x="474243" y="1069082"/>
                  </a:lnTo>
                  <a:lnTo>
                    <a:pt x="456310" y="1118489"/>
                  </a:lnTo>
                  <a:lnTo>
                    <a:pt x="315087" y="1028954"/>
                  </a:lnTo>
                  <a:lnTo>
                    <a:pt x="400050" y="1411478"/>
                  </a:lnTo>
                  <a:lnTo>
                    <a:pt x="849376" y="1352169"/>
                  </a:lnTo>
                  <a:lnTo>
                    <a:pt x="765175" y="1297051"/>
                  </a:lnTo>
                  <a:lnTo>
                    <a:pt x="787198" y="1251886"/>
                  </a:lnTo>
                  <a:lnTo>
                    <a:pt x="806463" y="1205866"/>
                  </a:lnTo>
                  <a:lnTo>
                    <a:pt x="822916" y="1159040"/>
                  </a:lnTo>
                  <a:lnTo>
                    <a:pt x="836501" y="1111456"/>
                  </a:lnTo>
                  <a:lnTo>
                    <a:pt x="847163" y="1063163"/>
                  </a:lnTo>
                  <a:lnTo>
                    <a:pt x="854846" y="1014212"/>
                  </a:lnTo>
                  <a:lnTo>
                    <a:pt x="859497" y="964650"/>
                  </a:lnTo>
                  <a:lnTo>
                    <a:pt x="861059" y="914526"/>
                  </a:lnTo>
                  <a:lnTo>
                    <a:pt x="859764" y="868493"/>
                  </a:lnTo>
                  <a:lnTo>
                    <a:pt x="855918" y="822975"/>
                  </a:lnTo>
                  <a:lnTo>
                    <a:pt x="849578" y="778030"/>
                  </a:lnTo>
                  <a:lnTo>
                    <a:pt x="840804" y="733716"/>
                  </a:lnTo>
                  <a:lnTo>
                    <a:pt x="829652" y="690091"/>
                  </a:lnTo>
                  <a:lnTo>
                    <a:pt x="816181" y="647213"/>
                  </a:lnTo>
                  <a:lnTo>
                    <a:pt x="800450" y="605138"/>
                  </a:lnTo>
                  <a:lnTo>
                    <a:pt x="782516" y="563926"/>
                  </a:lnTo>
                  <a:lnTo>
                    <a:pt x="762437" y="523634"/>
                  </a:lnTo>
                  <a:lnTo>
                    <a:pt x="740272" y="484320"/>
                  </a:lnTo>
                  <a:lnTo>
                    <a:pt x="716078" y="446041"/>
                  </a:lnTo>
                  <a:lnTo>
                    <a:pt x="689915" y="408856"/>
                  </a:lnTo>
                  <a:lnTo>
                    <a:pt x="661839" y="372822"/>
                  </a:lnTo>
                  <a:lnTo>
                    <a:pt x="631909" y="337997"/>
                  </a:lnTo>
                  <a:lnTo>
                    <a:pt x="600183" y="304438"/>
                  </a:lnTo>
                  <a:lnTo>
                    <a:pt x="566720" y="272204"/>
                  </a:lnTo>
                  <a:lnTo>
                    <a:pt x="531577" y="241353"/>
                  </a:lnTo>
                  <a:lnTo>
                    <a:pt x="494812" y="211942"/>
                  </a:lnTo>
                  <a:lnTo>
                    <a:pt x="456484" y="184028"/>
                  </a:lnTo>
                  <a:lnTo>
                    <a:pt x="416651" y="157671"/>
                  </a:lnTo>
                  <a:lnTo>
                    <a:pt x="375370" y="132927"/>
                  </a:lnTo>
                  <a:lnTo>
                    <a:pt x="332700" y="109854"/>
                  </a:lnTo>
                  <a:lnTo>
                    <a:pt x="288700" y="88511"/>
                  </a:lnTo>
                  <a:lnTo>
                    <a:pt x="243426" y="68954"/>
                  </a:lnTo>
                  <a:lnTo>
                    <a:pt x="196938" y="51242"/>
                  </a:lnTo>
                  <a:lnTo>
                    <a:pt x="149293" y="35433"/>
                  </a:lnTo>
                  <a:lnTo>
                    <a:pt x="100550" y="21585"/>
                  </a:lnTo>
                  <a:lnTo>
                    <a:pt x="50766" y="9754"/>
                  </a:lnTo>
                  <a:lnTo>
                    <a:pt x="0" y="0"/>
                  </a:lnTo>
                  <a:close/>
                </a:path>
              </a:pathLst>
            </a:custGeom>
            <a:ln w="9143">
              <a:solidFill>
                <a:srgbClr val="859FB1"/>
              </a:solidFill>
            </a:ln>
          </p:spPr>
          <p:txBody>
            <a:bodyPr wrap="square" lIns="0" tIns="0" rIns="0" bIns="0" rtlCol="0"/>
            <a:lstStyle/>
            <a:p>
              <a:endParaRPr sz="2400"/>
            </a:p>
          </p:txBody>
        </p:sp>
        <p:sp>
          <p:nvSpPr>
            <p:cNvPr id="16" name="object 16"/>
            <p:cNvSpPr/>
            <p:nvPr/>
          </p:nvSpPr>
          <p:spPr>
            <a:xfrm>
              <a:off x="3858767" y="3150743"/>
              <a:ext cx="1537335" cy="561975"/>
            </a:xfrm>
            <a:custGeom>
              <a:avLst/>
              <a:gdLst/>
              <a:ahLst/>
              <a:cxnLst/>
              <a:rect l="l" t="t" r="r" b="b"/>
              <a:pathLst>
                <a:path w="1537335" h="561975">
                  <a:moveTo>
                    <a:pt x="85090" y="0"/>
                  </a:moveTo>
                  <a:lnTo>
                    <a:pt x="0" y="383031"/>
                  </a:lnTo>
                  <a:lnTo>
                    <a:pt x="106934" y="318134"/>
                  </a:lnTo>
                  <a:lnTo>
                    <a:pt x="147766" y="349604"/>
                  </a:lnTo>
                  <a:lnTo>
                    <a:pt x="189934" y="378888"/>
                  </a:lnTo>
                  <a:lnTo>
                    <a:pt x="233341" y="405988"/>
                  </a:lnTo>
                  <a:lnTo>
                    <a:pt x="277891" y="430907"/>
                  </a:lnTo>
                  <a:lnTo>
                    <a:pt x="323487" y="453648"/>
                  </a:lnTo>
                  <a:lnTo>
                    <a:pt x="370033" y="474212"/>
                  </a:lnTo>
                  <a:lnTo>
                    <a:pt x="417431" y="492602"/>
                  </a:lnTo>
                  <a:lnTo>
                    <a:pt x="465585" y="508820"/>
                  </a:lnTo>
                  <a:lnTo>
                    <a:pt x="514399" y="522869"/>
                  </a:lnTo>
                  <a:lnTo>
                    <a:pt x="563776" y="534749"/>
                  </a:lnTo>
                  <a:lnTo>
                    <a:pt x="613619" y="544465"/>
                  </a:lnTo>
                  <a:lnTo>
                    <a:pt x="663832" y="552018"/>
                  </a:lnTo>
                  <a:lnTo>
                    <a:pt x="714317" y="557410"/>
                  </a:lnTo>
                  <a:lnTo>
                    <a:pt x="764979" y="560643"/>
                  </a:lnTo>
                  <a:lnTo>
                    <a:pt x="815721" y="561720"/>
                  </a:lnTo>
                  <a:lnTo>
                    <a:pt x="864420" y="560727"/>
                  </a:lnTo>
                  <a:lnTo>
                    <a:pt x="913021" y="557746"/>
                  </a:lnTo>
                  <a:lnTo>
                    <a:pt x="961443" y="552781"/>
                  </a:lnTo>
                  <a:lnTo>
                    <a:pt x="1009602" y="545834"/>
                  </a:lnTo>
                  <a:lnTo>
                    <a:pt x="1057416" y="536905"/>
                  </a:lnTo>
                  <a:lnTo>
                    <a:pt x="1104801" y="525997"/>
                  </a:lnTo>
                  <a:lnTo>
                    <a:pt x="1151677" y="513112"/>
                  </a:lnTo>
                  <a:lnTo>
                    <a:pt x="1197959" y="498252"/>
                  </a:lnTo>
                  <a:lnTo>
                    <a:pt x="1243565" y="481419"/>
                  </a:lnTo>
                  <a:lnTo>
                    <a:pt x="1288414" y="462613"/>
                  </a:lnTo>
                  <a:lnTo>
                    <a:pt x="1332421" y="441838"/>
                  </a:lnTo>
                  <a:lnTo>
                    <a:pt x="1375505" y="419096"/>
                  </a:lnTo>
                  <a:lnTo>
                    <a:pt x="1417583" y="394387"/>
                  </a:lnTo>
                  <a:lnTo>
                    <a:pt x="1458572" y="367714"/>
                  </a:lnTo>
                  <a:lnTo>
                    <a:pt x="1498390" y="339078"/>
                  </a:lnTo>
                  <a:lnTo>
                    <a:pt x="1536954" y="308482"/>
                  </a:lnTo>
                  <a:lnTo>
                    <a:pt x="1536954" y="303656"/>
                  </a:lnTo>
                  <a:lnTo>
                    <a:pt x="1227836" y="119380"/>
                  </a:lnTo>
                  <a:lnTo>
                    <a:pt x="1186631" y="145032"/>
                  </a:lnTo>
                  <a:lnTo>
                    <a:pt x="1143838" y="167709"/>
                  </a:lnTo>
                  <a:lnTo>
                    <a:pt x="1099655" y="187400"/>
                  </a:lnTo>
                  <a:lnTo>
                    <a:pt x="1054280" y="204093"/>
                  </a:lnTo>
                  <a:lnTo>
                    <a:pt x="1007912" y="217777"/>
                  </a:lnTo>
                  <a:lnTo>
                    <a:pt x="960750" y="228440"/>
                  </a:lnTo>
                  <a:lnTo>
                    <a:pt x="912992" y="236070"/>
                  </a:lnTo>
                  <a:lnTo>
                    <a:pt x="864836" y="240657"/>
                  </a:lnTo>
                  <a:lnTo>
                    <a:pt x="816483" y="242188"/>
                  </a:lnTo>
                  <a:lnTo>
                    <a:pt x="764383" y="240415"/>
                  </a:lnTo>
                  <a:lnTo>
                    <a:pt x="712440" y="235098"/>
                  </a:lnTo>
                  <a:lnTo>
                    <a:pt x="660880" y="226242"/>
                  </a:lnTo>
                  <a:lnTo>
                    <a:pt x="609933" y="213852"/>
                  </a:lnTo>
                  <a:lnTo>
                    <a:pt x="559825" y="197931"/>
                  </a:lnTo>
                  <a:lnTo>
                    <a:pt x="510784" y="178484"/>
                  </a:lnTo>
                  <a:lnTo>
                    <a:pt x="463037" y="155516"/>
                  </a:lnTo>
                  <a:lnTo>
                    <a:pt x="416814" y="129031"/>
                  </a:lnTo>
                  <a:lnTo>
                    <a:pt x="529209" y="64896"/>
                  </a:lnTo>
                  <a:lnTo>
                    <a:pt x="85090" y="0"/>
                  </a:lnTo>
                  <a:close/>
                </a:path>
              </a:pathLst>
            </a:custGeom>
            <a:solidFill>
              <a:srgbClr val="CCF3FF"/>
            </a:solidFill>
          </p:spPr>
          <p:txBody>
            <a:bodyPr wrap="square" lIns="0" tIns="0" rIns="0" bIns="0" rtlCol="0"/>
            <a:lstStyle/>
            <a:p>
              <a:endParaRPr sz="2400"/>
            </a:p>
          </p:txBody>
        </p:sp>
        <p:sp>
          <p:nvSpPr>
            <p:cNvPr id="17" name="object 17"/>
            <p:cNvSpPr/>
            <p:nvPr/>
          </p:nvSpPr>
          <p:spPr>
            <a:xfrm>
              <a:off x="3858767" y="3150743"/>
              <a:ext cx="1537335" cy="561975"/>
            </a:xfrm>
            <a:custGeom>
              <a:avLst/>
              <a:gdLst/>
              <a:ahLst/>
              <a:cxnLst/>
              <a:rect l="l" t="t" r="r" b="b"/>
              <a:pathLst>
                <a:path w="1537335" h="561975">
                  <a:moveTo>
                    <a:pt x="85090" y="0"/>
                  </a:moveTo>
                  <a:lnTo>
                    <a:pt x="0" y="383031"/>
                  </a:lnTo>
                  <a:lnTo>
                    <a:pt x="106934" y="318134"/>
                  </a:lnTo>
                  <a:lnTo>
                    <a:pt x="147766" y="349604"/>
                  </a:lnTo>
                  <a:lnTo>
                    <a:pt x="189934" y="378888"/>
                  </a:lnTo>
                  <a:lnTo>
                    <a:pt x="233341" y="405988"/>
                  </a:lnTo>
                  <a:lnTo>
                    <a:pt x="277891" y="430907"/>
                  </a:lnTo>
                  <a:lnTo>
                    <a:pt x="323487" y="453648"/>
                  </a:lnTo>
                  <a:lnTo>
                    <a:pt x="370033" y="474212"/>
                  </a:lnTo>
                  <a:lnTo>
                    <a:pt x="417431" y="492602"/>
                  </a:lnTo>
                  <a:lnTo>
                    <a:pt x="465585" y="508820"/>
                  </a:lnTo>
                  <a:lnTo>
                    <a:pt x="514399" y="522869"/>
                  </a:lnTo>
                  <a:lnTo>
                    <a:pt x="563776" y="534749"/>
                  </a:lnTo>
                  <a:lnTo>
                    <a:pt x="613619" y="544465"/>
                  </a:lnTo>
                  <a:lnTo>
                    <a:pt x="663832" y="552018"/>
                  </a:lnTo>
                  <a:lnTo>
                    <a:pt x="714317" y="557410"/>
                  </a:lnTo>
                  <a:lnTo>
                    <a:pt x="764979" y="560643"/>
                  </a:lnTo>
                  <a:lnTo>
                    <a:pt x="815721" y="561720"/>
                  </a:lnTo>
                  <a:lnTo>
                    <a:pt x="864420" y="560727"/>
                  </a:lnTo>
                  <a:lnTo>
                    <a:pt x="913021" y="557746"/>
                  </a:lnTo>
                  <a:lnTo>
                    <a:pt x="961443" y="552781"/>
                  </a:lnTo>
                  <a:lnTo>
                    <a:pt x="1009602" y="545834"/>
                  </a:lnTo>
                  <a:lnTo>
                    <a:pt x="1057416" y="536905"/>
                  </a:lnTo>
                  <a:lnTo>
                    <a:pt x="1104801" y="525997"/>
                  </a:lnTo>
                  <a:lnTo>
                    <a:pt x="1151677" y="513112"/>
                  </a:lnTo>
                  <a:lnTo>
                    <a:pt x="1197959" y="498252"/>
                  </a:lnTo>
                  <a:lnTo>
                    <a:pt x="1243565" y="481419"/>
                  </a:lnTo>
                  <a:lnTo>
                    <a:pt x="1288414" y="462613"/>
                  </a:lnTo>
                  <a:lnTo>
                    <a:pt x="1332421" y="441838"/>
                  </a:lnTo>
                  <a:lnTo>
                    <a:pt x="1375505" y="419096"/>
                  </a:lnTo>
                  <a:lnTo>
                    <a:pt x="1417583" y="394387"/>
                  </a:lnTo>
                  <a:lnTo>
                    <a:pt x="1458572" y="367714"/>
                  </a:lnTo>
                  <a:lnTo>
                    <a:pt x="1498390" y="339078"/>
                  </a:lnTo>
                  <a:lnTo>
                    <a:pt x="1536954" y="308482"/>
                  </a:lnTo>
                  <a:lnTo>
                    <a:pt x="1536954" y="303656"/>
                  </a:lnTo>
                  <a:lnTo>
                    <a:pt x="1227836" y="119380"/>
                  </a:lnTo>
                  <a:lnTo>
                    <a:pt x="1186631" y="145032"/>
                  </a:lnTo>
                  <a:lnTo>
                    <a:pt x="1143838" y="167709"/>
                  </a:lnTo>
                  <a:lnTo>
                    <a:pt x="1099655" y="187400"/>
                  </a:lnTo>
                  <a:lnTo>
                    <a:pt x="1054280" y="204093"/>
                  </a:lnTo>
                  <a:lnTo>
                    <a:pt x="1007912" y="217777"/>
                  </a:lnTo>
                  <a:lnTo>
                    <a:pt x="960750" y="228440"/>
                  </a:lnTo>
                  <a:lnTo>
                    <a:pt x="912992" y="236070"/>
                  </a:lnTo>
                  <a:lnTo>
                    <a:pt x="864836" y="240657"/>
                  </a:lnTo>
                  <a:lnTo>
                    <a:pt x="816483" y="242188"/>
                  </a:lnTo>
                  <a:lnTo>
                    <a:pt x="764383" y="240415"/>
                  </a:lnTo>
                  <a:lnTo>
                    <a:pt x="712440" y="235098"/>
                  </a:lnTo>
                  <a:lnTo>
                    <a:pt x="660880" y="226242"/>
                  </a:lnTo>
                  <a:lnTo>
                    <a:pt x="609933" y="213852"/>
                  </a:lnTo>
                  <a:lnTo>
                    <a:pt x="559825" y="197931"/>
                  </a:lnTo>
                  <a:lnTo>
                    <a:pt x="510784" y="178484"/>
                  </a:lnTo>
                  <a:lnTo>
                    <a:pt x="463037" y="155516"/>
                  </a:lnTo>
                  <a:lnTo>
                    <a:pt x="416814" y="129031"/>
                  </a:lnTo>
                  <a:lnTo>
                    <a:pt x="529209" y="64896"/>
                  </a:lnTo>
                  <a:lnTo>
                    <a:pt x="85090" y="0"/>
                  </a:lnTo>
                  <a:close/>
                </a:path>
              </a:pathLst>
            </a:custGeom>
            <a:ln w="9144">
              <a:solidFill>
                <a:srgbClr val="5F7C94"/>
              </a:solidFill>
            </a:ln>
          </p:spPr>
          <p:txBody>
            <a:bodyPr wrap="square" lIns="0" tIns="0" rIns="0" bIns="0" rtlCol="0"/>
            <a:lstStyle/>
            <a:p>
              <a:endParaRPr sz="2400"/>
            </a:p>
          </p:txBody>
        </p:sp>
      </p:grpSp>
      <p:sp>
        <p:nvSpPr>
          <p:cNvPr id="18" name="object 18"/>
          <p:cNvSpPr txBox="1"/>
          <p:nvPr/>
        </p:nvSpPr>
        <p:spPr>
          <a:xfrm>
            <a:off x="5788152" y="3315479"/>
            <a:ext cx="892387" cy="755762"/>
          </a:xfrm>
          <a:prstGeom prst="rect">
            <a:avLst/>
          </a:prstGeom>
        </p:spPr>
        <p:txBody>
          <a:bodyPr vert="horz" wrap="square" lIns="0" tIns="16933" rIns="0" bIns="0" rtlCol="0">
            <a:spAutoFit/>
          </a:bodyPr>
          <a:lstStyle/>
          <a:p>
            <a:pPr marL="16933">
              <a:spcBef>
                <a:spcPts val="133"/>
              </a:spcBef>
            </a:pPr>
            <a:r>
              <a:rPr sz="4800" b="1" spc="-33" dirty="0">
                <a:solidFill>
                  <a:srgbClr val="FFFFFF"/>
                </a:solidFill>
                <a:latin typeface="Calibri"/>
                <a:cs typeface="Calibri"/>
              </a:rPr>
              <a:t>ETL</a:t>
            </a:r>
            <a:endParaRPr sz="4800">
              <a:latin typeface="Calibri"/>
              <a:cs typeface="Calibri"/>
            </a:endParaRPr>
          </a:p>
        </p:txBody>
      </p:sp>
      <p:pic>
        <p:nvPicPr>
          <p:cNvPr id="19" name="object 19"/>
          <p:cNvPicPr/>
          <p:nvPr/>
        </p:nvPicPr>
        <p:blipFill>
          <a:blip r:embed="rId3" cstate="print"/>
          <a:stretch>
            <a:fillRect/>
          </a:stretch>
        </p:blipFill>
        <p:spPr>
          <a:xfrm>
            <a:off x="2283968" y="1501649"/>
            <a:ext cx="829056" cy="833119"/>
          </a:xfrm>
          <a:prstGeom prst="rect">
            <a:avLst/>
          </a:prstGeom>
        </p:spPr>
      </p:pic>
      <p:sp>
        <p:nvSpPr>
          <p:cNvPr id="20" name="object 20"/>
          <p:cNvSpPr txBox="1"/>
          <p:nvPr/>
        </p:nvSpPr>
        <p:spPr>
          <a:xfrm>
            <a:off x="5131307" y="1585128"/>
            <a:ext cx="3456093" cy="551498"/>
          </a:xfrm>
          <a:prstGeom prst="rect">
            <a:avLst/>
          </a:prstGeom>
        </p:spPr>
        <p:txBody>
          <a:bodyPr vert="horz" wrap="square" lIns="0" tIns="17780" rIns="0" bIns="0" rtlCol="0">
            <a:spAutoFit/>
          </a:bodyPr>
          <a:lstStyle/>
          <a:p>
            <a:pPr marL="498674" indent="-481741">
              <a:spcBef>
                <a:spcPts val="140"/>
              </a:spcBef>
              <a:buClr>
                <a:srgbClr val="99D3FF"/>
              </a:buClr>
              <a:buFont typeface="Wingdings"/>
              <a:buChar char=""/>
              <a:tabLst>
                <a:tab pos="498674" algn="l"/>
              </a:tabLst>
            </a:pPr>
            <a:r>
              <a:rPr sz="3467" b="1" dirty="0">
                <a:solidFill>
                  <a:srgbClr val="D9D9D9"/>
                </a:solidFill>
                <a:latin typeface="Calibri"/>
                <a:cs typeface="Calibri"/>
              </a:rPr>
              <a:t>(Near)</a:t>
            </a:r>
            <a:r>
              <a:rPr sz="3467" b="1" spc="-60" dirty="0">
                <a:solidFill>
                  <a:srgbClr val="D9D9D9"/>
                </a:solidFill>
                <a:latin typeface="Calibri"/>
                <a:cs typeface="Calibri"/>
              </a:rPr>
              <a:t> </a:t>
            </a:r>
            <a:r>
              <a:rPr sz="3467" b="1" spc="-27" dirty="0">
                <a:solidFill>
                  <a:srgbClr val="D9D9D9"/>
                </a:solidFill>
                <a:latin typeface="Calibri"/>
                <a:cs typeface="Calibri"/>
              </a:rPr>
              <a:t>real-time</a:t>
            </a:r>
            <a:endParaRPr sz="3467">
              <a:latin typeface="Calibri"/>
              <a:cs typeface="Calibri"/>
            </a:endParaRPr>
          </a:p>
        </p:txBody>
      </p:sp>
      <p:graphicFrame>
        <p:nvGraphicFramePr>
          <p:cNvPr id="21" name="object 21"/>
          <p:cNvGraphicFramePr>
            <a:graphicFrameLocks noGrp="1"/>
          </p:cNvGraphicFramePr>
          <p:nvPr/>
        </p:nvGraphicFramePr>
        <p:xfrm>
          <a:off x="9611359" y="2449236"/>
          <a:ext cx="1861821" cy="1524000"/>
        </p:xfrm>
        <a:graphic>
          <a:graphicData uri="http://schemas.openxmlformats.org/drawingml/2006/table">
            <a:tbl>
              <a:tblPr firstRow="1" bandRow="1">
                <a:tableStyleId>{2D5ABB26-0587-4C30-8999-92F81FD0307C}</a:tableStyleId>
              </a:tblPr>
              <a:tblGrid>
                <a:gridCol w="204047">
                  <a:extLst>
                    <a:ext uri="{9D8B030D-6E8A-4147-A177-3AD203B41FA5}">
                      <a16:colId xmlns:a16="http://schemas.microsoft.com/office/drawing/2014/main" val="20000"/>
                    </a:ext>
                  </a:extLst>
                </a:gridCol>
                <a:gridCol w="828887">
                  <a:extLst>
                    <a:ext uri="{9D8B030D-6E8A-4147-A177-3AD203B41FA5}">
                      <a16:colId xmlns:a16="http://schemas.microsoft.com/office/drawing/2014/main" val="20001"/>
                    </a:ext>
                  </a:extLst>
                </a:gridCol>
                <a:gridCol w="828887">
                  <a:extLst>
                    <a:ext uri="{9D8B030D-6E8A-4147-A177-3AD203B41FA5}">
                      <a16:colId xmlns:a16="http://schemas.microsoft.com/office/drawing/2014/main" val="20002"/>
                    </a:ext>
                  </a:extLst>
                </a:gridCol>
              </a:tblGrid>
              <a:tr h="254000">
                <a:tc>
                  <a:txBody>
                    <a:bodyPr/>
                    <a:lstStyle/>
                    <a:p>
                      <a:pPr marR="17780" algn="ctr">
                        <a:lnSpc>
                          <a:spcPct val="100000"/>
                        </a:lnSpc>
                        <a:spcBef>
                          <a:spcPts val="130"/>
                        </a:spcBef>
                      </a:pPr>
                      <a:r>
                        <a:rPr sz="1400" spc="-25" dirty="0">
                          <a:latin typeface="Arial MT"/>
                          <a:cs typeface="Arial MT"/>
                        </a:rPr>
                        <a:t>id</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130"/>
                        </a:spcBef>
                      </a:pPr>
                      <a:r>
                        <a:rPr sz="1400" spc="-10" dirty="0">
                          <a:latin typeface="Arial MT"/>
                          <a:cs typeface="Arial MT"/>
                        </a:rPr>
                        <a:t>customer</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130"/>
                        </a:spcBef>
                      </a:pPr>
                      <a:r>
                        <a:rPr sz="1400" spc="-10" dirty="0">
                          <a:latin typeface="Arial MT"/>
                          <a:cs typeface="Arial MT"/>
                        </a:rPr>
                        <a:t>total</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0"/>
                  </a:ext>
                </a:extLst>
              </a:tr>
              <a:tr h="254000">
                <a:tc>
                  <a:txBody>
                    <a:bodyPr/>
                    <a:lstStyle/>
                    <a:p>
                      <a:pPr marL="3175" algn="ctr">
                        <a:lnSpc>
                          <a:spcPct val="100000"/>
                        </a:lnSpc>
                        <a:spcBef>
                          <a:spcPts val="345"/>
                        </a:spcBef>
                      </a:pPr>
                      <a:r>
                        <a:rPr sz="900" spc="-50" dirty="0">
                          <a:latin typeface="Arial MT"/>
                          <a:cs typeface="Arial MT"/>
                        </a:rPr>
                        <a:t>1</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900" spc="-10" dirty="0">
                          <a:latin typeface="Arial MT"/>
                          <a:cs typeface="Arial MT"/>
                        </a:rPr>
                        <a:t>Sarah</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900" spc="-20" dirty="0">
                          <a:latin typeface="Arial MT"/>
                          <a:cs typeface="Arial MT"/>
                        </a:rPr>
                        <a:t>$334</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marL="3175" algn="ctr">
                        <a:lnSpc>
                          <a:spcPct val="100000"/>
                        </a:lnSpc>
                        <a:spcBef>
                          <a:spcPts val="345"/>
                        </a:spcBef>
                      </a:pPr>
                      <a:r>
                        <a:rPr sz="900" spc="-50" dirty="0">
                          <a:latin typeface="Arial MT"/>
                          <a:cs typeface="Arial MT"/>
                        </a:rPr>
                        <a:t>2</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45"/>
                        </a:spcBef>
                      </a:pPr>
                      <a:r>
                        <a:rPr sz="900" spc="-10" dirty="0">
                          <a:latin typeface="Arial MT"/>
                          <a:cs typeface="Arial MT"/>
                        </a:rPr>
                        <a:t>Frank</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900" spc="-10" dirty="0">
                          <a:latin typeface="Arial MT"/>
                          <a:cs typeface="Arial MT"/>
                        </a:rPr>
                        <a:t>$4234</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marL="3175" algn="ctr">
                        <a:lnSpc>
                          <a:spcPct val="100000"/>
                        </a:lnSpc>
                        <a:spcBef>
                          <a:spcPts val="345"/>
                        </a:spcBef>
                      </a:pPr>
                      <a:r>
                        <a:rPr sz="900" spc="-50" dirty="0">
                          <a:latin typeface="Arial MT"/>
                          <a:cs typeface="Arial MT"/>
                        </a:rPr>
                        <a:t>3</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900" spc="-10" dirty="0">
                          <a:latin typeface="Arial MT"/>
                          <a:cs typeface="Arial MT"/>
                        </a:rPr>
                        <a:t>Thomas</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900" spc="-20" dirty="0">
                          <a:latin typeface="Arial MT"/>
                          <a:cs typeface="Arial MT"/>
                        </a:rPr>
                        <a:t>$544</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marL="3175" algn="ctr">
                        <a:lnSpc>
                          <a:spcPct val="100000"/>
                        </a:lnSpc>
                        <a:spcBef>
                          <a:spcPts val="345"/>
                        </a:spcBef>
                      </a:pPr>
                      <a:r>
                        <a:rPr sz="900" spc="-50" dirty="0">
                          <a:latin typeface="Arial MT"/>
                          <a:cs typeface="Arial MT"/>
                        </a:rPr>
                        <a:t>4</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900" spc="-10" dirty="0">
                          <a:latin typeface="Arial MT"/>
                          <a:cs typeface="Arial MT"/>
                        </a:rPr>
                        <a:t>Angela</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900" spc="-10" dirty="0">
                          <a:latin typeface="Arial MT"/>
                          <a:cs typeface="Arial MT"/>
                        </a:rPr>
                        <a:t>$4332</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marL="3175" algn="ctr">
                        <a:lnSpc>
                          <a:spcPct val="100000"/>
                        </a:lnSpc>
                        <a:spcBef>
                          <a:spcPts val="345"/>
                        </a:spcBef>
                      </a:pPr>
                      <a:r>
                        <a:rPr sz="900" spc="-50" dirty="0">
                          <a:latin typeface="Arial MT"/>
                          <a:cs typeface="Arial MT"/>
                        </a:rPr>
                        <a:t>5</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320"/>
                        </a:spcBef>
                      </a:pPr>
                      <a:r>
                        <a:rPr sz="900" spc="-20" dirty="0">
                          <a:latin typeface="Calibri"/>
                          <a:cs typeface="Calibri"/>
                        </a:rPr>
                        <a:t>Kate</a:t>
                      </a:r>
                      <a:endParaRPr sz="9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900" spc="-20" dirty="0">
                          <a:latin typeface="Arial MT"/>
                          <a:cs typeface="Arial MT"/>
                        </a:rPr>
                        <a:t>$460</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sp>
        <p:nvSpPr>
          <p:cNvPr id="22" name="object 22"/>
          <p:cNvSpPr txBox="1"/>
          <p:nvPr/>
        </p:nvSpPr>
        <p:spPr>
          <a:xfrm>
            <a:off x="4764702" y="5115086"/>
            <a:ext cx="5607473" cy="550642"/>
          </a:xfrm>
          <a:prstGeom prst="rect">
            <a:avLst/>
          </a:prstGeom>
        </p:spPr>
        <p:txBody>
          <a:bodyPr vert="horz" wrap="square" lIns="0" tIns="16933" rIns="0" bIns="0" rtlCol="0">
            <a:spAutoFit/>
          </a:bodyPr>
          <a:lstStyle/>
          <a:p>
            <a:pPr marL="498674" indent="-481741">
              <a:spcBef>
                <a:spcPts val="133"/>
              </a:spcBef>
              <a:buClr>
                <a:srgbClr val="99D3FF"/>
              </a:buClr>
              <a:buFont typeface="Wingdings"/>
              <a:buChar char=""/>
              <a:tabLst>
                <a:tab pos="498674" algn="l"/>
              </a:tabLst>
            </a:pPr>
            <a:r>
              <a:rPr sz="3467" b="1" dirty="0">
                <a:solidFill>
                  <a:srgbClr val="D9D9D9"/>
                </a:solidFill>
                <a:latin typeface="Calibri"/>
                <a:cs typeface="Calibri"/>
              </a:rPr>
              <a:t>Current</a:t>
            </a:r>
            <a:r>
              <a:rPr sz="3467" b="1" spc="-93" dirty="0">
                <a:solidFill>
                  <a:srgbClr val="D9D9D9"/>
                </a:solidFill>
                <a:latin typeface="Calibri"/>
                <a:cs typeface="Calibri"/>
              </a:rPr>
              <a:t> </a:t>
            </a:r>
            <a:r>
              <a:rPr sz="3467" b="1" dirty="0">
                <a:solidFill>
                  <a:srgbClr val="D9D9D9"/>
                </a:solidFill>
                <a:latin typeface="Calibri"/>
                <a:cs typeface="Calibri"/>
              </a:rPr>
              <a:t>state</a:t>
            </a:r>
            <a:r>
              <a:rPr sz="3467" b="1" spc="-107" dirty="0">
                <a:solidFill>
                  <a:srgbClr val="D9D9D9"/>
                </a:solidFill>
                <a:latin typeface="Calibri"/>
                <a:cs typeface="Calibri"/>
              </a:rPr>
              <a:t> </a:t>
            </a:r>
            <a:r>
              <a:rPr sz="3467" b="1" dirty="0">
                <a:solidFill>
                  <a:srgbClr val="D9D9D9"/>
                </a:solidFill>
                <a:latin typeface="Calibri"/>
                <a:cs typeface="Calibri"/>
              </a:rPr>
              <a:t>(Update</a:t>
            </a:r>
            <a:r>
              <a:rPr sz="3467" b="1" spc="-87" dirty="0">
                <a:solidFill>
                  <a:srgbClr val="D9D9D9"/>
                </a:solidFill>
                <a:latin typeface="Calibri"/>
                <a:cs typeface="Calibri"/>
              </a:rPr>
              <a:t> </a:t>
            </a:r>
            <a:r>
              <a:rPr sz="3467" b="1" spc="-13" dirty="0">
                <a:solidFill>
                  <a:srgbClr val="D9D9D9"/>
                </a:solidFill>
                <a:latin typeface="Calibri"/>
                <a:cs typeface="Calibri"/>
              </a:rPr>
              <a:t>logic)</a:t>
            </a:r>
            <a:endParaRPr sz="3467">
              <a:latin typeface="Calibri"/>
              <a:cs typeface="Calibri"/>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247902" y="1663058"/>
            <a:ext cx="2253486" cy="3882976"/>
            <a:chOff x="1981200" y="1277111"/>
            <a:chExt cx="1564005" cy="2694940"/>
          </a:xfrm>
        </p:grpSpPr>
        <p:sp>
          <p:nvSpPr>
            <p:cNvPr id="3" name="object 3"/>
            <p:cNvSpPr/>
            <p:nvPr/>
          </p:nvSpPr>
          <p:spPr>
            <a:xfrm>
              <a:off x="1981200" y="1277111"/>
              <a:ext cx="1564005" cy="2694940"/>
            </a:xfrm>
            <a:custGeom>
              <a:avLst/>
              <a:gdLst/>
              <a:ahLst/>
              <a:cxnLst/>
              <a:rect l="l" t="t" r="r" b="b"/>
              <a:pathLst>
                <a:path w="1564004" h="2694940">
                  <a:moveTo>
                    <a:pt x="1303020" y="0"/>
                  </a:moveTo>
                  <a:lnTo>
                    <a:pt x="260604" y="0"/>
                  </a:lnTo>
                  <a:lnTo>
                    <a:pt x="213769" y="4199"/>
                  </a:lnTo>
                  <a:lnTo>
                    <a:pt x="169685" y="16308"/>
                  </a:lnTo>
                  <a:lnTo>
                    <a:pt x="129088" y="35588"/>
                  </a:lnTo>
                  <a:lnTo>
                    <a:pt x="92715" y="61302"/>
                  </a:lnTo>
                  <a:lnTo>
                    <a:pt x="61302" y="92715"/>
                  </a:lnTo>
                  <a:lnTo>
                    <a:pt x="35588" y="129088"/>
                  </a:lnTo>
                  <a:lnTo>
                    <a:pt x="16308" y="169685"/>
                  </a:lnTo>
                  <a:lnTo>
                    <a:pt x="4199" y="213769"/>
                  </a:lnTo>
                  <a:lnTo>
                    <a:pt x="0" y="260603"/>
                  </a:lnTo>
                  <a:lnTo>
                    <a:pt x="0" y="2433828"/>
                  </a:lnTo>
                  <a:lnTo>
                    <a:pt x="4199" y="2480662"/>
                  </a:lnTo>
                  <a:lnTo>
                    <a:pt x="16308" y="2524746"/>
                  </a:lnTo>
                  <a:lnTo>
                    <a:pt x="35588" y="2565343"/>
                  </a:lnTo>
                  <a:lnTo>
                    <a:pt x="61302" y="2601716"/>
                  </a:lnTo>
                  <a:lnTo>
                    <a:pt x="92715" y="2633129"/>
                  </a:lnTo>
                  <a:lnTo>
                    <a:pt x="129088" y="2658843"/>
                  </a:lnTo>
                  <a:lnTo>
                    <a:pt x="169685" y="2678123"/>
                  </a:lnTo>
                  <a:lnTo>
                    <a:pt x="213769" y="2690232"/>
                  </a:lnTo>
                  <a:lnTo>
                    <a:pt x="260604" y="2694432"/>
                  </a:lnTo>
                  <a:lnTo>
                    <a:pt x="1303020" y="2694432"/>
                  </a:lnTo>
                  <a:lnTo>
                    <a:pt x="1349854" y="2690232"/>
                  </a:lnTo>
                  <a:lnTo>
                    <a:pt x="1393938" y="2678123"/>
                  </a:lnTo>
                  <a:lnTo>
                    <a:pt x="1434535" y="2658843"/>
                  </a:lnTo>
                  <a:lnTo>
                    <a:pt x="1470908" y="2633129"/>
                  </a:lnTo>
                  <a:lnTo>
                    <a:pt x="1502321" y="2601716"/>
                  </a:lnTo>
                  <a:lnTo>
                    <a:pt x="1528035" y="2565343"/>
                  </a:lnTo>
                  <a:lnTo>
                    <a:pt x="1547315" y="2524746"/>
                  </a:lnTo>
                  <a:lnTo>
                    <a:pt x="1559424" y="2480662"/>
                  </a:lnTo>
                  <a:lnTo>
                    <a:pt x="1563624" y="2433828"/>
                  </a:lnTo>
                  <a:lnTo>
                    <a:pt x="1563624" y="260603"/>
                  </a:lnTo>
                  <a:lnTo>
                    <a:pt x="1559424" y="213769"/>
                  </a:lnTo>
                  <a:lnTo>
                    <a:pt x="1547315" y="169685"/>
                  </a:lnTo>
                  <a:lnTo>
                    <a:pt x="1528035" y="129088"/>
                  </a:lnTo>
                  <a:lnTo>
                    <a:pt x="1502321" y="92715"/>
                  </a:lnTo>
                  <a:lnTo>
                    <a:pt x="1470908" y="61302"/>
                  </a:lnTo>
                  <a:lnTo>
                    <a:pt x="1434535" y="35588"/>
                  </a:lnTo>
                  <a:lnTo>
                    <a:pt x="1393938" y="16308"/>
                  </a:lnTo>
                  <a:lnTo>
                    <a:pt x="1349854" y="4199"/>
                  </a:lnTo>
                  <a:lnTo>
                    <a:pt x="1303020" y="0"/>
                  </a:lnTo>
                  <a:close/>
                </a:path>
              </a:pathLst>
            </a:custGeom>
            <a:solidFill>
              <a:srgbClr val="00C3FF">
                <a:alpha val="50195"/>
              </a:srgbClr>
            </a:solidFill>
          </p:spPr>
          <p:txBody>
            <a:bodyPr wrap="square" lIns="0" tIns="0" rIns="0" bIns="0" rtlCol="0"/>
            <a:lstStyle/>
            <a:p>
              <a:endParaRPr sz="2400"/>
            </a:p>
          </p:txBody>
        </p:sp>
        <p:pic>
          <p:nvPicPr>
            <p:cNvPr id="4" name="object 4"/>
            <p:cNvPicPr/>
            <p:nvPr/>
          </p:nvPicPr>
          <p:blipFill>
            <a:blip r:embed="rId2" cstate="print"/>
            <a:stretch>
              <a:fillRect/>
            </a:stretch>
          </p:blipFill>
          <p:spPr>
            <a:xfrm>
              <a:off x="2191511" y="1367027"/>
              <a:ext cx="1289303" cy="2353056"/>
            </a:xfrm>
            <a:prstGeom prst="rect">
              <a:avLst/>
            </a:prstGeom>
          </p:spPr>
        </p:pic>
      </p:grpSp>
      <p:sp>
        <p:nvSpPr>
          <p:cNvPr id="5" name="object 5"/>
          <p:cNvSpPr txBox="1">
            <a:spLocks noGrp="1"/>
          </p:cNvSpPr>
          <p:nvPr>
            <p:ph type="title"/>
          </p:nvPr>
        </p:nvSpPr>
        <p:spPr>
          <a:xfrm>
            <a:off x="4675801" y="383228"/>
            <a:ext cx="3722763"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ODS</a:t>
            </a:r>
            <a:r>
              <a:rPr spc="-33" dirty="0">
                <a:solidFill>
                  <a:schemeClr val="bg1"/>
                </a:solidFill>
                <a:latin typeface="+mn-lt"/>
              </a:rPr>
              <a:t> </a:t>
            </a:r>
            <a:r>
              <a:rPr dirty="0">
                <a:solidFill>
                  <a:schemeClr val="bg1"/>
                </a:solidFill>
                <a:latin typeface="+mn-lt"/>
              </a:rPr>
              <a:t>-</a:t>
            </a:r>
            <a:r>
              <a:rPr spc="-53" dirty="0">
                <a:solidFill>
                  <a:schemeClr val="bg1"/>
                </a:solidFill>
                <a:latin typeface="+mn-lt"/>
              </a:rPr>
              <a:t> </a:t>
            </a:r>
            <a:r>
              <a:rPr spc="-13" dirty="0">
                <a:solidFill>
                  <a:schemeClr val="bg1"/>
                </a:solidFill>
                <a:latin typeface="+mn-lt"/>
              </a:rPr>
              <a:t>Paral</a:t>
            </a:r>
            <a:r>
              <a:rPr lang="en-IN" spc="-13" dirty="0">
                <a:solidFill>
                  <a:schemeClr val="bg1"/>
                </a:solidFill>
                <a:latin typeface="+mn-lt"/>
              </a:rPr>
              <a:t>l</a:t>
            </a:r>
            <a:r>
              <a:rPr spc="-13" dirty="0" err="1">
                <a:solidFill>
                  <a:schemeClr val="bg1"/>
                </a:solidFill>
                <a:latin typeface="+mn-lt"/>
              </a:rPr>
              <a:t>el</a:t>
            </a:r>
            <a:endParaRPr spc="-13" dirty="0">
              <a:solidFill>
                <a:schemeClr val="bg1"/>
              </a:solidFill>
              <a:latin typeface="+mn-lt"/>
            </a:endParaRPr>
          </a:p>
        </p:txBody>
      </p:sp>
      <p:sp>
        <p:nvSpPr>
          <p:cNvPr id="6" name="object 6"/>
          <p:cNvSpPr/>
          <p:nvPr/>
        </p:nvSpPr>
        <p:spPr>
          <a:xfrm>
            <a:off x="6641608" y="3933630"/>
            <a:ext cx="1398693" cy="1901613"/>
          </a:xfrm>
          <a:custGeom>
            <a:avLst/>
            <a:gdLst/>
            <a:ahLst/>
            <a:cxnLst/>
            <a:rect l="l" t="t" r="r" b="b"/>
            <a:pathLst>
              <a:path w="1049020" h="1426210">
                <a:moveTo>
                  <a:pt x="1048981" y="975753"/>
                </a:moveTo>
                <a:lnTo>
                  <a:pt x="1030160" y="1015530"/>
                </a:lnTo>
                <a:lnTo>
                  <a:pt x="977099" y="1051356"/>
                </a:lnTo>
                <a:lnTo>
                  <a:pt x="939330" y="1067333"/>
                </a:lnTo>
                <a:lnTo>
                  <a:pt x="936586" y="1068235"/>
                </a:lnTo>
                <a:lnTo>
                  <a:pt x="936586" y="1238440"/>
                </a:lnTo>
                <a:lnTo>
                  <a:pt x="933894" y="1253807"/>
                </a:lnTo>
                <a:lnTo>
                  <a:pt x="926287" y="1265656"/>
                </a:lnTo>
                <a:lnTo>
                  <a:pt x="914463" y="1273276"/>
                </a:lnTo>
                <a:lnTo>
                  <a:pt x="899121" y="1275969"/>
                </a:lnTo>
                <a:lnTo>
                  <a:pt x="883793" y="1273276"/>
                </a:lnTo>
                <a:lnTo>
                  <a:pt x="871969" y="1265656"/>
                </a:lnTo>
                <a:lnTo>
                  <a:pt x="864349" y="1253807"/>
                </a:lnTo>
                <a:lnTo>
                  <a:pt x="861656" y="1238440"/>
                </a:lnTo>
                <a:lnTo>
                  <a:pt x="864349" y="1223086"/>
                </a:lnTo>
                <a:lnTo>
                  <a:pt x="871969" y="1211237"/>
                </a:lnTo>
                <a:lnTo>
                  <a:pt x="883793" y="1203617"/>
                </a:lnTo>
                <a:lnTo>
                  <a:pt x="899121" y="1200912"/>
                </a:lnTo>
                <a:lnTo>
                  <a:pt x="914463" y="1203617"/>
                </a:lnTo>
                <a:lnTo>
                  <a:pt x="926287" y="1211237"/>
                </a:lnTo>
                <a:lnTo>
                  <a:pt x="933894" y="1223086"/>
                </a:lnTo>
                <a:lnTo>
                  <a:pt x="936586" y="1238440"/>
                </a:lnTo>
                <a:lnTo>
                  <a:pt x="936586" y="1068235"/>
                </a:lnTo>
                <a:lnTo>
                  <a:pt x="894905" y="1081760"/>
                </a:lnTo>
                <a:lnTo>
                  <a:pt x="844473" y="1094473"/>
                </a:lnTo>
                <a:lnTo>
                  <a:pt x="788682" y="1105293"/>
                </a:lnTo>
                <a:lnTo>
                  <a:pt x="728141" y="1114018"/>
                </a:lnTo>
                <a:lnTo>
                  <a:pt x="663498" y="1120470"/>
                </a:lnTo>
                <a:lnTo>
                  <a:pt x="595401" y="1124483"/>
                </a:lnTo>
                <a:lnTo>
                  <a:pt x="524484" y="1125855"/>
                </a:lnTo>
                <a:lnTo>
                  <a:pt x="453567" y="1124483"/>
                </a:lnTo>
                <a:lnTo>
                  <a:pt x="385470" y="1120470"/>
                </a:lnTo>
                <a:lnTo>
                  <a:pt x="320840" y="1114018"/>
                </a:lnTo>
                <a:lnTo>
                  <a:pt x="260299" y="1105293"/>
                </a:lnTo>
                <a:lnTo>
                  <a:pt x="204495" y="1094473"/>
                </a:lnTo>
                <a:lnTo>
                  <a:pt x="154063" y="1081760"/>
                </a:lnTo>
                <a:lnTo>
                  <a:pt x="109639" y="1067333"/>
                </a:lnTo>
                <a:lnTo>
                  <a:pt x="71869" y="1051356"/>
                </a:lnTo>
                <a:lnTo>
                  <a:pt x="18821" y="1015530"/>
                </a:lnTo>
                <a:lnTo>
                  <a:pt x="0" y="975753"/>
                </a:lnTo>
                <a:lnTo>
                  <a:pt x="0" y="1275969"/>
                </a:lnTo>
                <a:lnTo>
                  <a:pt x="18821" y="1315758"/>
                </a:lnTo>
                <a:lnTo>
                  <a:pt x="71869" y="1351584"/>
                </a:lnTo>
                <a:lnTo>
                  <a:pt x="109639" y="1367561"/>
                </a:lnTo>
                <a:lnTo>
                  <a:pt x="154063" y="1381988"/>
                </a:lnTo>
                <a:lnTo>
                  <a:pt x="204495" y="1394701"/>
                </a:lnTo>
                <a:lnTo>
                  <a:pt x="260299" y="1405509"/>
                </a:lnTo>
                <a:lnTo>
                  <a:pt x="320840" y="1414233"/>
                </a:lnTo>
                <a:lnTo>
                  <a:pt x="385470" y="1420698"/>
                </a:lnTo>
                <a:lnTo>
                  <a:pt x="453567" y="1424711"/>
                </a:lnTo>
                <a:lnTo>
                  <a:pt x="524484" y="1426083"/>
                </a:lnTo>
                <a:lnTo>
                  <a:pt x="595401" y="1424711"/>
                </a:lnTo>
                <a:lnTo>
                  <a:pt x="663498" y="1420698"/>
                </a:lnTo>
                <a:lnTo>
                  <a:pt x="728141" y="1414233"/>
                </a:lnTo>
                <a:lnTo>
                  <a:pt x="788682" y="1405509"/>
                </a:lnTo>
                <a:lnTo>
                  <a:pt x="844473" y="1394701"/>
                </a:lnTo>
                <a:lnTo>
                  <a:pt x="894905" y="1381988"/>
                </a:lnTo>
                <a:lnTo>
                  <a:pt x="939330" y="1367561"/>
                </a:lnTo>
                <a:lnTo>
                  <a:pt x="977099" y="1351584"/>
                </a:lnTo>
                <a:lnTo>
                  <a:pt x="1030160" y="1315758"/>
                </a:lnTo>
                <a:lnTo>
                  <a:pt x="1048981" y="1275969"/>
                </a:lnTo>
                <a:lnTo>
                  <a:pt x="1048981" y="1200912"/>
                </a:lnTo>
                <a:lnTo>
                  <a:pt x="1048981" y="1125855"/>
                </a:lnTo>
                <a:lnTo>
                  <a:pt x="1048981" y="975753"/>
                </a:lnTo>
                <a:close/>
              </a:path>
              <a:path w="1049020" h="1426210">
                <a:moveTo>
                  <a:pt x="1048981" y="600468"/>
                </a:moveTo>
                <a:lnTo>
                  <a:pt x="1030160" y="640257"/>
                </a:lnTo>
                <a:lnTo>
                  <a:pt x="977099" y="676084"/>
                </a:lnTo>
                <a:lnTo>
                  <a:pt x="939330" y="692048"/>
                </a:lnTo>
                <a:lnTo>
                  <a:pt x="936586" y="692950"/>
                </a:lnTo>
                <a:lnTo>
                  <a:pt x="936586" y="863168"/>
                </a:lnTo>
                <a:lnTo>
                  <a:pt x="933894" y="878535"/>
                </a:lnTo>
                <a:lnTo>
                  <a:pt x="926287" y="890371"/>
                </a:lnTo>
                <a:lnTo>
                  <a:pt x="914463" y="897991"/>
                </a:lnTo>
                <a:lnTo>
                  <a:pt x="899121" y="900696"/>
                </a:lnTo>
                <a:lnTo>
                  <a:pt x="883793" y="897991"/>
                </a:lnTo>
                <a:lnTo>
                  <a:pt x="871969" y="890371"/>
                </a:lnTo>
                <a:lnTo>
                  <a:pt x="864349" y="878535"/>
                </a:lnTo>
                <a:lnTo>
                  <a:pt x="861656" y="863168"/>
                </a:lnTo>
                <a:lnTo>
                  <a:pt x="864349" y="847801"/>
                </a:lnTo>
                <a:lnTo>
                  <a:pt x="871969" y="835964"/>
                </a:lnTo>
                <a:lnTo>
                  <a:pt x="883793" y="828332"/>
                </a:lnTo>
                <a:lnTo>
                  <a:pt x="899121" y="825639"/>
                </a:lnTo>
                <a:lnTo>
                  <a:pt x="914463" y="828332"/>
                </a:lnTo>
                <a:lnTo>
                  <a:pt x="926287" y="835964"/>
                </a:lnTo>
                <a:lnTo>
                  <a:pt x="933894" y="847801"/>
                </a:lnTo>
                <a:lnTo>
                  <a:pt x="936586" y="863168"/>
                </a:lnTo>
                <a:lnTo>
                  <a:pt x="936586" y="692950"/>
                </a:lnTo>
                <a:lnTo>
                  <a:pt x="894905" y="706488"/>
                </a:lnTo>
                <a:lnTo>
                  <a:pt x="844473" y="719201"/>
                </a:lnTo>
                <a:lnTo>
                  <a:pt x="788682" y="730008"/>
                </a:lnTo>
                <a:lnTo>
                  <a:pt x="728141" y="738733"/>
                </a:lnTo>
                <a:lnTo>
                  <a:pt x="663498" y="745197"/>
                </a:lnTo>
                <a:lnTo>
                  <a:pt x="595401" y="749211"/>
                </a:lnTo>
                <a:lnTo>
                  <a:pt x="524484" y="750582"/>
                </a:lnTo>
                <a:lnTo>
                  <a:pt x="453567" y="749211"/>
                </a:lnTo>
                <a:lnTo>
                  <a:pt x="385470" y="745197"/>
                </a:lnTo>
                <a:lnTo>
                  <a:pt x="320840" y="738733"/>
                </a:lnTo>
                <a:lnTo>
                  <a:pt x="260299" y="730008"/>
                </a:lnTo>
                <a:lnTo>
                  <a:pt x="204495" y="719201"/>
                </a:lnTo>
                <a:lnTo>
                  <a:pt x="154063" y="706488"/>
                </a:lnTo>
                <a:lnTo>
                  <a:pt x="109639" y="692048"/>
                </a:lnTo>
                <a:lnTo>
                  <a:pt x="71869" y="676084"/>
                </a:lnTo>
                <a:lnTo>
                  <a:pt x="18821" y="640257"/>
                </a:lnTo>
                <a:lnTo>
                  <a:pt x="0" y="600468"/>
                </a:lnTo>
                <a:lnTo>
                  <a:pt x="0" y="900696"/>
                </a:lnTo>
                <a:lnTo>
                  <a:pt x="18821" y="940485"/>
                </a:lnTo>
                <a:lnTo>
                  <a:pt x="71869" y="976299"/>
                </a:lnTo>
                <a:lnTo>
                  <a:pt x="109639" y="992276"/>
                </a:lnTo>
                <a:lnTo>
                  <a:pt x="154063" y="1006716"/>
                </a:lnTo>
                <a:lnTo>
                  <a:pt x="204495" y="1019429"/>
                </a:lnTo>
                <a:lnTo>
                  <a:pt x="260299" y="1030236"/>
                </a:lnTo>
                <a:lnTo>
                  <a:pt x="320840" y="1038961"/>
                </a:lnTo>
                <a:lnTo>
                  <a:pt x="385470" y="1045425"/>
                </a:lnTo>
                <a:lnTo>
                  <a:pt x="453567" y="1049426"/>
                </a:lnTo>
                <a:lnTo>
                  <a:pt x="524484" y="1050810"/>
                </a:lnTo>
                <a:lnTo>
                  <a:pt x="595401" y="1049426"/>
                </a:lnTo>
                <a:lnTo>
                  <a:pt x="663498" y="1045425"/>
                </a:lnTo>
                <a:lnTo>
                  <a:pt x="728141" y="1038961"/>
                </a:lnTo>
                <a:lnTo>
                  <a:pt x="788682" y="1030236"/>
                </a:lnTo>
                <a:lnTo>
                  <a:pt x="844473" y="1019429"/>
                </a:lnTo>
                <a:lnTo>
                  <a:pt x="894905" y="1006716"/>
                </a:lnTo>
                <a:lnTo>
                  <a:pt x="939330" y="992276"/>
                </a:lnTo>
                <a:lnTo>
                  <a:pt x="977099" y="976299"/>
                </a:lnTo>
                <a:lnTo>
                  <a:pt x="1030160" y="940485"/>
                </a:lnTo>
                <a:lnTo>
                  <a:pt x="1048981" y="900696"/>
                </a:lnTo>
                <a:lnTo>
                  <a:pt x="1048981" y="825639"/>
                </a:lnTo>
                <a:lnTo>
                  <a:pt x="1048981" y="750582"/>
                </a:lnTo>
                <a:lnTo>
                  <a:pt x="1048981" y="600468"/>
                </a:lnTo>
                <a:close/>
              </a:path>
              <a:path w="1049020" h="1426210">
                <a:moveTo>
                  <a:pt x="1048981" y="225196"/>
                </a:moveTo>
                <a:lnTo>
                  <a:pt x="1030160" y="264972"/>
                </a:lnTo>
                <a:lnTo>
                  <a:pt x="977099" y="300799"/>
                </a:lnTo>
                <a:lnTo>
                  <a:pt x="939330" y="316776"/>
                </a:lnTo>
                <a:lnTo>
                  <a:pt x="936586" y="317677"/>
                </a:lnTo>
                <a:lnTo>
                  <a:pt x="936586" y="487883"/>
                </a:lnTo>
                <a:lnTo>
                  <a:pt x="933894" y="503250"/>
                </a:lnTo>
                <a:lnTo>
                  <a:pt x="926287" y="515099"/>
                </a:lnTo>
                <a:lnTo>
                  <a:pt x="914463" y="522719"/>
                </a:lnTo>
                <a:lnTo>
                  <a:pt x="899121" y="525411"/>
                </a:lnTo>
                <a:lnTo>
                  <a:pt x="883793" y="522719"/>
                </a:lnTo>
                <a:lnTo>
                  <a:pt x="871969" y="515099"/>
                </a:lnTo>
                <a:lnTo>
                  <a:pt x="864349" y="503250"/>
                </a:lnTo>
                <a:lnTo>
                  <a:pt x="861656" y="487883"/>
                </a:lnTo>
                <a:lnTo>
                  <a:pt x="864349" y="472528"/>
                </a:lnTo>
                <a:lnTo>
                  <a:pt x="871969" y="460679"/>
                </a:lnTo>
                <a:lnTo>
                  <a:pt x="883793" y="453059"/>
                </a:lnTo>
                <a:lnTo>
                  <a:pt x="899121" y="450354"/>
                </a:lnTo>
                <a:lnTo>
                  <a:pt x="914463" y="453059"/>
                </a:lnTo>
                <a:lnTo>
                  <a:pt x="926287" y="460679"/>
                </a:lnTo>
                <a:lnTo>
                  <a:pt x="933894" y="472528"/>
                </a:lnTo>
                <a:lnTo>
                  <a:pt x="936586" y="487883"/>
                </a:lnTo>
                <a:lnTo>
                  <a:pt x="936586" y="317677"/>
                </a:lnTo>
                <a:lnTo>
                  <a:pt x="894905" y="331203"/>
                </a:lnTo>
                <a:lnTo>
                  <a:pt x="844473" y="343916"/>
                </a:lnTo>
                <a:lnTo>
                  <a:pt x="788682" y="354736"/>
                </a:lnTo>
                <a:lnTo>
                  <a:pt x="728141" y="363461"/>
                </a:lnTo>
                <a:lnTo>
                  <a:pt x="663498" y="369912"/>
                </a:lnTo>
                <a:lnTo>
                  <a:pt x="595401" y="373926"/>
                </a:lnTo>
                <a:lnTo>
                  <a:pt x="524484" y="375310"/>
                </a:lnTo>
                <a:lnTo>
                  <a:pt x="453567" y="373926"/>
                </a:lnTo>
                <a:lnTo>
                  <a:pt x="385470" y="369912"/>
                </a:lnTo>
                <a:lnTo>
                  <a:pt x="320840" y="363461"/>
                </a:lnTo>
                <a:lnTo>
                  <a:pt x="260299" y="354736"/>
                </a:lnTo>
                <a:lnTo>
                  <a:pt x="204495" y="343916"/>
                </a:lnTo>
                <a:lnTo>
                  <a:pt x="154063" y="331203"/>
                </a:lnTo>
                <a:lnTo>
                  <a:pt x="109639" y="316776"/>
                </a:lnTo>
                <a:lnTo>
                  <a:pt x="71869" y="300799"/>
                </a:lnTo>
                <a:lnTo>
                  <a:pt x="18821" y="264972"/>
                </a:lnTo>
                <a:lnTo>
                  <a:pt x="0" y="225196"/>
                </a:lnTo>
                <a:lnTo>
                  <a:pt x="0" y="525411"/>
                </a:lnTo>
                <a:lnTo>
                  <a:pt x="18821" y="565200"/>
                </a:lnTo>
                <a:lnTo>
                  <a:pt x="71869" y="601027"/>
                </a:lnTo>
                <a:lnTo>
                  <a:pt x="109639" y="617004"/>
                </a:lnTo>
                <a:lnTo>
                  <a:pt x="154063" y="631431"/>
                </a:lnTo>
                <a:lnTo>
                  <a:pt x="204495" y="644144"/>
                </a:lnTo>
                <a:lnTo>
                  <a:pt x="260299" y="654951"/>
                </a:lnTo>
                <a:lnTo>
                  <a:pt x="320840" y="663676"/>
                </a:lnTo>
                <a:lnTo>
                  <a:pt x="385470" y="670140"/>
                </a:lnTo>
                <a:lnTo>
                  <a:pt x="453567" y="674154"/>
                </a:lnTo>
                <a:lnTo>
                  <a:pt x="524484" y="675525"/>
                </a:lnTo>
                <a:lnTo>
                  <a:pt x="595401" y="674154"/>
                </a:lnTo>
                <a:lnTo>
                  <a:pt x="663498" y="670140"/>
                </a:lnTo>
                <a:lnTo>
                  <a:pt x="728141" y="663676"/>
                </a:lnTo>
                <a:lnTo>
                  <a:pt x="788682" y="654951"/>
                </a:lnTo>
                <a:lnTo>
                  <a:pt x="844473" y="644144"/>
                </a:lnTo>
                <a:lnTo>
                  <a:pt x="894905" y="631431"/>
                </a:lnTo>
                <a:lnTo>
                  <a:pt x="939330" y="617004"/>
                </a:lnTo>
                <a:lnTo>
                  <a:pt x="977099" y="601027"/>
                </a:lnTo>
                <a:lnTo>
                  <a:pt x="1030160" y="565200"/>
                </a:lnTo>
                <a:lnTo>
                  <a:pt x="1048981" y="525411"/>
                </a:lnTo>
                <a:lnTo>
                  <a:pt x="1048981" y="450354"/>
                </a:lnTo>
                <a:lnTo>
                  <a:pt x="1048981" y="375310"/>
                </a:lnTo>
                <a:lnTo>
                  <a:pt x="1048981" y="225196"/>
                </a:lnTo>
                <a:close/>
              </a:path>
              <a:path w="1049020" h="1426210">
                <a:moveTo>
                  <a:pt x="1048981" y="150139"/>
                </a:moveTo>
                <a:lnTo>
                  <a:pt x="1030249" y="110223"/>
                </a:lnTo>
                <a:lnTo>
                  <a:pt x="977366" y="74358"/>
                </a:lnTo>
                <a:lnTo>
                  <a:pt x="939698" y="58394"/>
                </a:lnTo>
                <a:lnTo>
                  <a:pt x="895362" y="43980"/>
                </a:lnTo>
                <a:lnTo>
                  <a:pt x="844994" y="31280"/>
                </a:lnTo>
                <a:lnTo>
                  <a:pt x="789216" y="20497"/>
                </a:lnTo>
                <a:lnTo>
                  <a:pt x="728649" y="11798"/>
                </a:lnTo>
                <a:lnTo>
                  <a:pt x="663917" y="5359"/>
                </a:lnTo>
                <a:lnTo>
                  <a:pt x="595655" y="1358"/>
                </a:lnTo>
                <a:lnTo>
                  <a:pt x="524484" y="0"/>
                </a:lnTo>
                <a:lnTo>
                  <a:pt x="453326" y="1358"/>
                </a:lnTo>
                <a:lnTo>
                  <a:pt x="385064" y="5359"/>
                </a:lnTo>
                <a:lnTo>
                  <a:pt x="320332" y="11798"/>
                </a:lnTo>
                <a:lnTo>
                  <a:pt x="259778" y="20497"/>
                </a:lnTo>
                <a:lnTo>
                  <a:pt x="203987" y="31280"/>
                </a:lnTo>
                <a:lnTo>
                  <a:pt x="153619" y="43980"/>
                </a:lnTo>
                <a:lnTo>
                  <a:pt x="109283" y="58394"/>
                </a:lnTo>
                <a:lnTo>
                  <a:pt x="71602" y="74358"/>
                </a:lnTo>
                <a:lnTo>
                  <a:pt x="18732" y="110223"/>
                </a:lnTo>
                <a:lnTo>
                  <a:pt x="0" y="150139"/>
                </a:lnTo>
                <a:lnTo>
                  <a:pt x="4787" y="170510"/>
                </a:lnTo>
                <a:lnTo>
                  <a:pt x="41211" y="208572"/>
                </a:lnTo>
                <a:lnTo>
                  <a:pt x="109283" y="241871"/>
                </a:lnTo>
                <a:lnTo>
                  <a:pt x="153619" y="256286"/>
                </a:lnTo>
                <a:lnTo>
                  <a:pt x="203987" y="268973"/>
                </a:lnTo>
                <a:lnTo>
                  <a:pt x="259778" y="279755"/>
                </a:lnTo>
                <a:lnTo>
                  <a:pt x="320332" y="288455"/>
                </a:lnTo>
                <a:lnTo>
                  <a:pt x="385064" y="294881"/>
                </a:lnTo>
                <a:lnTo>
                  <a:pt x="453326" y="298881"/>
                </a:lnTo>
                <a:lnTo>
                  <a:pt x="524484" y="300253"/>
                </a:lnTo>
                <a:lnTo>
                  <a:pt x="595655" y="298881"/>
                </a:lnTo>
                <a:lnTo>
                  <a:pt x="663917" y="294881"/>
                </a:lnTo>
                <a:lnTo>
                  <a:pt x="728649" y="288455"/>
                </a:lnTo>
                <a:lnTo>
                  <a:pt x="789216" y="279755"/>
                </a:lnTo>
                <a:lnTo>
                  <a:pt x="844994" y="268973"/>
                </a:lnTo>
                <a:lnTo>
                  <a:pt x="895362" y="256286"/>
                </a:lnTo>
                <a:lnTo>
                  <a:pt x="939698" y="241871"/>
                </a:lnTo>
                <a:lnTo>
                  <a:pt x="977366" y="225907"/>
                </a:lnTo>
                <a:lnTo>
                  <a:pt x="1030249" y="190042"/>
                </a:lnTo>
                <a:lnTo>
                  <a:pt x="1048981" y="150139"/>
                </a:lnTo>
                <a:close/>
              </a:path>
            </a:pathLst>
          </a:custGeom>
          <a:solidFill>
            <a:srgbClr val="99D3FF"/>
          </a:solidFill>
        </p:spPr>
        <p:txBody>
          <a:bodyPr wrap="square" lIns="0" tIns="0" rIns="0" bIns="0" rtlCol="0"/>
          <a:lstStyle/>
          <a:p>
            <a:endParaRPr sz="2400"/>
          </a:p>
        </p:txBody>
      </p:sp>
      <p:sp>
        <p:nvSpPr>
          <p:cNvPr id="7" name="object 7"/>
          <p:cNvSpPr txBox="1"/>
          <p:nvPr/>
        </p:nvSpPr>
        <p:spPr>
          <a:xfrm>
            <a:off x="8169995" y="4563534"/>
            <a:ext cx="502920" cy="344475"/>
          </a:xfrm>
          <a:prstGeom prst="rect">
            <a:avLst/>
          </a:prstGeom>
        </p:spPr>
        <p:txBody>
          <a:bodyPr vert="horz" wrap="square" lIns="0" tIns="16087" rIns="0" bIns="0" rtlCol="0">
            <a:spAutoFit/>
          </a:bodyPr>
          <a:lstStyle/>
          <a:p>
            <a:pPr marL="16933">
              <a:spcBef>
                <a:spcPts val="127"/>
              </a:spcBef>
            </a:pPr>
            <a:r>
              <a:rPr sz="2133" spc="-33" dirty="0">
                <a:solidFill>
                  <a:srgbClr val="FFFFFF"/>
                </a:solidFill>
                <a:latin typeface="Calibri"/>
                <a:cs typeface="Calibri"/>
              </a:rPr>
              <a:t>ODS</a:t>
            </a:r>
            <a:endParaRPr sz="2133">
              <a:latin typeface="Calibri"/>
              <a:cs typeface="Calibri"/>
            </a:endParaRPr>
          </a:p>
        </p:txBody>
      </p:sp>
      <p:sp>
        <p:nvSpPr>
          <p:cNvPr id="8" name="object 8"/>
          <p:cNvSpPr txBox="1"/>
          <p:nvPr/>
        </p:nvSpPr>
        <p:spPr>
          <a:xfrm>
            <a:off x="4779433" y="3530939"/>
            <a:ext cx="1620520" cy="304421"/>
          </a:xfrm>
          <a:prstGeom prst="rect">
            <a:avLst/>
          </a:prstGeom>
        </p:spPr>
        <p:txBody>
          <a:bodyPr vert="horz" wrap="square" lIns="0" tIns="16933" rIns="0" bIns="0" rtlCol="0">
            <a:spAutoFit/>
          </a:bodyPr>
          <a:lstStyle/>
          <a:p>
            <a:pPr marL="16933">
              <a:spcBef>
                <a:spcPts val="133"/>
              </a:spcBef>
            </a:pPr>
            <a:r>
              <a:rPr sz="1867" b="1" dirty="0">
                <a:solidFill>
                  <a:srgbClr val="D9D9D9"/>
                </a:solidFill>
                <a:latin typeface="Calibri"/>
                <a:cs typeface="Calibri"/>
              </a:rPr>
              <a:t>(Near)</a:t>
            </a:r>
            <a:r>
              <a:rPr sz="1867" b="1" spc="-7" dirty="0">
                <a:solidFill>
                  <a:srgbClr val="D9D9D9"/>
                </a:solidFill>
                <a:latin typeface="Calibri"/>
                <a:cs typeface="Calibri"/>
              </a:rPr>
              <a:t> </a:t>
            </a:r>
            <a:r>
              <a:rPr sz="1867" b="1" spc="-13" dirty="0">
                <a:solidFill>
                  <a:srgbClr val="D9D9D9"/>
                </a:solidFill>
                <a:latin typeface="Calibri"/>
                <a:cs typeface="Calibri"/>
              </a:rPr>
              <a:t>real-</a:t>
            </a:r>
            <a:r>
              <a:rPr sz="1867" b="1" spc="-27" dirty="0">
                <a:solidFill>
                  <a:srgbClr val="D9D9D9"/>
                </a:solidFill>
                <a:latin typeface="Calibri"/>
                <a:cs typeface="Calibri"/>
              </a:rPr>
              <a:t>time</a:t>
            </a:r>
            <a:endParaRPr sz="1867">
              <a:latin typeface="Calibri"/>
              <a:cs typeface="Calibri"/>
            </a:endParaRPr>
          </a:p>
        </p:txBody>
      </p:sp>
      <p:pic>
        <p:nvPicPr>
          <p:cNvPr id="9" name="object 9"/>
          <p:cNvPicPr/>
          <p:nvPr/>
        </p:nvPicPr>
        <p:blipFill>
          <a:blip r:embed="rId3" cstate="print"/>
          <a:stretch>
            <a:fillRect/>
          </a:stretch>
        </p:blipFill>
        <p:spPr>
          <a:xfrm>
            <a:off x="4895087" y="1966976"/>
            <a:ext cx="1304544" cy="1219200"/>
          </a:xfrm>
          <a:prstGeom prst="rect">
            <a:avLst/>
          </a:prstGeom>
        </p:spPr>
      </p:pic>
      <p:pic>
        <p:nvPicPr>
          <p:cNvPr id="10" name="object 10"/>
          <p:cNvPicPr/>
          <p:nvPr/>
        </p:nvPicPr>
        <p:blipFill>
          <a:blip r:embed="rId4" cstate="print"/>
          <a:stretch>
            <a:fillRect/>
          </a:stretch>
        </p:blipFill>
        <p:spPr>
          <a:xfrm>
            <a:off x="6729503" y="1793273"/>
            <a:ext cx="1283107" cy="1733003"/>
          </a:xfrm>
          <a:prstGeom prst="rect">
            <a:avLst/>
          </a:prstGeom>
        </p:spPr>
      </p:pic>
      <p:sp>
        <p:nvSpPr>
          <p:cNvPr id="11" name="object 11"/>
          <p:cNvSpPr txBox="1"/>
          <p:nvPr/>
        </p:nvSpPr>
        <p:spPr>
          <a:xfrm>
            <a:off x="8063145" y="2567770"/>
            <a:ext cx="609600" cy="344475"/>
          </a:xfrm>
          <a:prstGeom prst="rect">
            <a:avLst/>
          </a:prstGeom>
        </p:spPr>
        <p:txBody>
          <a:bodyPr vert="horz" wrap="square" lIns="0" tIns="16087" rIns="0" bIns="0" rtlCol="0">
            <a:spAutoFit/>
          </a:bodyPr>
          <a:lstStyle/>
          <a:p>
            <a:pPr marL="16933">
              <a:spcBef>
                <a:spcPts val="127"/>
              </a:spcBef>
            </a:pPr>
            <a:r>
              <a:rPr sz="2133" spc="-33" dirty="0">
                <a:solidFill>
                  <a:srgbClr val="FFFFFF"/>
                </a:solidFill>
                <a:latin typeface="Calibri"/>
                <a:cs typeface="Calibri"/>
              </a:rPr>
              <a:t>DWH</a:t>
            </a:r>
            <a:endParaRPr sz="2133">
              <a:latin typeface="Calibri"/>
              <a:cs typeface="Calibri"/>
            </a:endParaRPr>
          </a:p>
        </p:txBody>
      </p:sp>
      <p:pic>
        <p:nvPicPr>
          <p:cNvPr id="12" name="object 12"/>
          <p:cNvPicPr/>
          <p:nvPr/>
        </p:nvPicPr>
        <p:blipFill>
          <a:blip r:embed="rId3" cstate="print"/>
          <a:stretch>
            <a:fillRect/>
          </a:stretch>
        </p:blipFill>
        <p:spPr>
          <a:xfrm>
            <a:off x="4895087" y="3923792"/>
            <a:ext cx="1306576" cy="1219200"/>
          </a:xfrm>
          <a:prstGeom prst="rect">
            <a:avLst/>
          </a:prstGeom>
        </p:spPr>
      </p:pic>
      <p:grpSp>
        <p:nvGrpSpPr>
          <p:cNvPr id="13" name="object 13"/>
          <p:cNvGrpSpPr/>
          <p:nvPr/>
        </p:nvGrpSpPr>
        <p:grpSpPr>
          <a:xfrm>
            <a:off x="8162544" y="2082800"/>
            <a:ext cx="863600" cy="403013"/>
            <a:chOff x="6121908" y="1562100"/>
            <a:chExt cx="647700" cy="302260"/>
          </a:xfrm>
        </p:grpSpPr>
        <p:sp>
          <p:nvSpPr>
            <p:cNvPr id="14" name="object 14"/>
            <p:cNvSpPr/>
            <p:nvPr/>
          </p:nvSpPr>
          <p:spPr>
            <a:xfrm>
              <a:off x="6134862" y="1575053"/>
              <a:ext cx="622300" cy="276225"/>
            </a:xfrm>
            <a:custGeom>
              <a:avLst/>
              <a:gdLst/>
              <a:ahLst/>
              <a:cxnLst/>
              <a:rect l="l" t="t" r="r" b="b"/>
              <a:pathLst>
                <a:path w="622300" h="276225">
                  <a:moveTo>
                    <a:pt x="137922" y="0"/>
                  </a:moveTo>
                  <a:lnTo>
                    <a:pt x="0" y="137922"/>
                  </a:lnTo>
                  <a:lnTo>
                    <a:pt x="137922" y="275844"/>
                  </a:lnTo>
                  <a:lnTo>
                    <a:pt x="137922" y="206883"/>
                  </a:lnTo>
                  <a:lnTo>
                    <a:pt x="621791" y="206883"/>
                  </a:lnTo>
                  <a:lnTo>
                    <a:pt x="621791" y="68961"/>
                  </a:lnTo>
                  <a:lnTo>
                    <a:pt x="137922" y="68961"/>
                  </a:lnTo>
                  <a:lnTo>
                    <a:pt x="137922" y="0"/>
                  </a:lnTo>
                  <a:close/>
                </a:path>
              </a:pathLst>
            </a:custGeom>
            <a:solidFill>
              <a:srgbClr val="00C3FF"/>
            </a:solidFill>
          </p:spPr>
          <p:txBody>
            <a:bodyPr wrap="square" lIns="0" tIns="0" rIns="0" bIns="0" rtlCol="0"/>
            <a:lstStyle/>
            <a:p>
              <a:endParaRPr sz="2400"/>
            </a:p>
          </p:txBody>
        </p:sp>
        <p:sp>
          <p:nvSpPr>
            <p:cNvPr id="15" name="object 15"/>
            <p:cNvSpPr/>
            <p:nvPr/>
          </p:nvSpPr>
          <p:spPr>
            <a:xfrm>
              <a:off x="6134862" y="1575053"/>
              <a:ext cx="622300" cy="276225"/>
            </a:xfrm>
            <a:custGeom>
              <a:avLst/>
              <a:gdLst/>
              <a:ahLst/>
              <a:cxnLst/>
              <a:rect l="l" t="t" r="r" b="b"/>
              <a:pathLst>
                <a:path w="622300" h="276225">
                  <a:moveTo>
                    <a:pt x="621791" y="206883"/>
                  </a:moveTo>
                  <a:lnTo>
                    <a:pt x="137922" y="206883"/>
                  </a:lnTo>
                  <a:lnTo>
                    <a:pt x="137922" y="275844"/>
                  </a:lnTo>
                  <a:lnTo>
                    <a:pt x="0" y="137922"/>
                  </a:lnTo>
                  <a:lnTo>
                    <a:pt x="137922" y="0"/>
                  </a:lnTo>
                  <a:lnTo>
                    <a:pt x="137922" y="68961"/>
                  </a:lnTo>
                  <a:lnTo>
                    <a:pt x="621791" y="68961"/>
                  </a:lnTo>
                  <a:lnTo>
                    <a:pt x="621791" y="206883"/>
                  </a:lnTo>
                  <a:close/>
                </a:path>
              </a:pathLst>
            </a:custGeom>
            <a:ln w="25908">
              <a:solidFill>
                <a:srgbClr val="008FBB"/>
              </a:solidFill>
            </a:ln>
          </p:spPr>
          <p:txBody>
            <a:bodyPr wrap="square" lIns="0" tIns="0" rIns="0" bIns="0" rtlCol="0"/>
            <a:lstStyle/>
            <a:p>
              <a:endParaRPr sz="2400"/>
            </a:p>
          </p:txBody>
        </p:sp>
      </p:grpSp>
      <p:grpSp>
        <p:nvGrpSpPr>
          <p:cNvPr id="16" name="object 16"/>
          <p:cNvGrpSpPr/>
          <p:nvPr/>
        </p:nvGrpSpPr>
        <p:grpSpPr>
          <a:xfrm>
            <a:off x="8162544" y="4169665"/>
            <a:ext cx="863600" cy="400473"/>
            <a:chOff x="6121908" y="3127248"/>
            <a:chExt cx="647700" cy="300355"/>
          </a:xfrm>
        </p:grpSpPr>
        <p:sp>
          <p:nvSpPr>
            <p:cNvPr id="17" name="object 17"/>
            <p:cNvSpPr/>
            <p:nvPr/>
          </p:nvSpPr>
          <p:spPr>
            <a:xfrm>
              <a:off x="6134862" y="3140202"/>
              <a:ext cx="622300" cy="274320"/>
            </a:xfrm>
            <a:custGeom>
              <a:avLst/>
              <a:gdLst/>
              <a:ahLst/>
              <a:cxnLst/>
              <a:rect l="l" t="t" r="r" b="b"/>
              <a:pathLst>
                <a:path w="622300" h="274320">
                  <a:moveTo>
                    <a:pt x="137160" y="0"/>
                  </a:moveTo>
                  <a:lnTo>
                    <a:pt x="0" y="137160"/>
                  </a:lnTo>
                  <a:lnTo>
                    <a:pt x="137160" y="274320"/>
                  </a:lnTo>
                  <a:lnTo>
                    <a:pt x="137160" y="205740"/>
                  </a:lnTo>
                  <a:lnTo>
                    <a:pt x="621791" y="205740"/>
                  </a:lnTo>
                  <a:lnTo>
                    <a:pt x="621791" y="68580"/>
                  </a:lnTo>
                  <a:lnTo>
                    <a:pt x="137160" y="68580"/>
                  </a:lnTo>
                  <a:lnTo>
                    <a:pt x="137160" y="0"/>
                  </a:lnTo>
                  <a:close/>
                </a:path>
              </a:pathLst>
            </a:custGeom>
            <a:solidFill>
              <a:srgbClr val="00C3FF"/>
            </a:solidFill>
          </p:spPr>
          <p:txBody>
            <a:bodyPr wrap="square" lIns="0" tIns="0" rIns="0" bIns="0" rtlCol="0"/>
            <a:lstStyle/>
            <a:p>
              <a:endParaRPr sz="2400"/>
            </a:p>
          </p:txBody>
        </p:sp>
        <p:sp>
          <p:nvSpPr>
            <p:cNvPr id="18" name="object 18"/>
            <p:cNvSpPr/>
            <p:nvPr/>
          </p:nvSpPr>
          <p:spPr>
            <a:xfrm>
              <a:off x="6134862" y="3140202"/>
              <a:ext cx="622300" cy="274320"/>
            </a:xfrm>
            <a:custGeom>
              <a:avLst/>
              <a:gdLst/>
              <a:ahLst/>
              <a:cxnLst/>
              <a:rect l="l" t="t" r="r" b="b"/>
              <a:pathLst>
                <a:path w="622300" h="274320">
                  <a:moveTo>
                    <a:pt x="621791" y="205740"/>
                  </a:moveTo>
                  <a:lnTo>
                    <a:pt x="137160" y="205740"/>
                  </a:lnTo>
                  <a:lnTo>
                    <a:pt x="137160" y="274320"/>
                  </a:lnTo>
                  <a:lnTo>
                    <a:pt x="0" y="137160"/>
                  </a:lnTo>
                  <a:lnTo>
                    <a:pt x="137160" y="0"/>
                  </a:lnTo>
                  <a:lnTo>
                    <a:pt x="137160" y="68580"/>
                  </a:lnTo>
                  <a:lnTo>
                    <a:pt x="621791" y="68580"/>
                  </a:lnTo>
                  <a:lnTo>
                    <a:pt x="621791" y="205740"/>
                  </a:lnTo>
                  <a:close/>
                </a:path>
              </a:pathLst>
            </a:custGeom>
            <a:ln w="25908">
              <a:solidFill>
                <a:srgbClr val="008FBB"/>
              </a:solidFill>
            </a:ln>
          </p:spPr>
          <p:txBody>
            <a:bodyPr wrap="square" lIns="0" tIns="0" rIns="0" bIns="0" rtlCol="0"/>
            <a:lstStyle/>
            <a:p>
              <a:endParaRPr sz="2400"/>
            </a:p>
          </p:txBody>
        </p:sp>
      </p:grpSp>
      <p:sp>
        <p:nvSpPr>
          <p:cNvPr id="19" name="object 19"/>
          <p:cNvSpPr txBox="1"/>
          <p:nvPr/>
        </p:nvSpPr>
        <p:spPr>
          <a:xfrm>
            <a:off x="8967215" y="2078737"/>
            <a:ext cx="2201333" cy="334345"/>
          </a:xfrm>
          <a:prstGeom prst="rect">
            <a:avLst/>
          </a:prstGeom>
          <a:solidFill>
            <a:srgbClr val="D9D9D9"/>
          </a:solidFill>
        </p:spPr>
        <p:txBody>
          <a:bodyPr vert="horz" wrap="square" lIns="0" tIns="46567" rIns="0" bIns="0" rtlCol="0">
            <a:spAutoFit/>
          </a:bodyPr>
          <a:lstStyle/>
          <a:p>
            <a:pPr marL="122764">
              <a:spcBef>
                <a:spcPts val="367"/>
              </a:spcBef>
            </a:pPr>
            <a:r>
              <a:rPr sz="1867" b="1" dirty="0">
                <a:solidFill>
                  <a:srgbClr val="434343"/>
                </a:solidFill>
                <a:latin typeface="Calibri"/>
                <a:cs typeface="Calibri"/>
              </a:rPr>
              <a:t>Analytical</a:t>
            </a:r>
            <a:r>
              <a:rPr sz="1867" b="1" spc="-60" dirty="0">
                <a:solidFill>
                  <a:srgbClr val="434343"/>
                </a:solidFill>
                <a:latin typeface="Calibri"/>
                <a:cs typeface="Calibri"/>
              </a:rPr>
              <a:t> </a:t>
            </a:r>
            <a:r>
              <a:rPr sz="1867" b="1" spc="-13" dirty="0">
                <a:solidFill>
                  <a:srgbClr val="434343"/>
                </a:solidFill>
                <a:latin typeface="Calibri"/>
                <a:cs typeface="Calibri"/>
              </a:rPr>
              <a:t>decisions</a:t>
            </a:r>
            <a:endParaRPr sz="1867">
              <a:latin typeface="Calibri"/>
              <a:cs typeface="Calibri"/>
            </a:endParaRPr>
          </a:p>
        </p:txBody>
      </p:sp>
      <p:sp>
        <p:nvSpPr>
          <p:cNvPr id="20" name="object 20"/>
          <p:cNvSpPr txBox="1"/>
          <p:nvPr/>
        </p:nvSpPr>
        <p:spPr>
          <a:xfrm>
            <a:off x="9007857" y="4141215"/>
            <a:ext cx="2407919" cy="334345"/>
          </a:xfrm>
          <a:prstGeom prst="rect">
            <a:avLst/>
          </a:prstGeom>
          <a:solidFill>
            <a:srgbClr val="D9D9D9"/>
          </a:solidFill>
        </p:spPr>
        <p:txBody>
          <a:bodyPr vert="horz" wrap="square" lIns="0" tIns="46567" rIns="0" bIns="0" rtlCol="0">
            <a:spAutoFit/>
          </a:bodyPr>
          <a:lstStyle/>
          <a:p>
            <a:pPr marL="123610">
              <a:spcBef>
                <a:spcPts val="367"/>
              </a:spcBef>
            </a:pPr>
            <a:r>
              <a:rPr sz="1867" b="1" dirty="0">
                <a:solidFill>
                  <a:srgbClr val="434343"/>
                </a:solidFill>
                <a:latin typeface="Calibri"/>
                <a:cs typeface="Calibri"/>
              </a:rPr>
              <a:t>Operational</a:t>
            </a:r>
            <a:r>
              <a:rPr sz="1867" b="1" spc="-87" dirty="0">
                <a:solidFill>
                  <a:srgbClr val="434343"/>
                </a:solidFill>
                <a:latin typeface="Calibri"/>
                <a:cs typeface="Calibri"/>
              </a:rPr>
              <a:t> </a:t>
            </a:r>
            <a:r>
              <a:rPr sz="1867" b="1" spc="-13" dirty="0">
                <a:solidFill>
                  <a:srgbClr val="434343"/>
                </a:solidFill>
                <a:latin typeface="Calibri"/>
                <a:cs typeface="Calibri"/>
              </a:rPr>
              <a:t>decisions</a:t>
            </a:r>
            <a:endParaRPr sz="1867">
              <a:latin typeface="Calibri"/>
              <a:cs typeface="Calibri"/>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485393" y="1861311"/>
            <a:ext cx="2085340" cy="3594947"/>
            <a:chOff x="1114044" y="1395983"/>
            <a:chExt cx="1564005" cy="2696210"/>
          </a:xfrm>
        </p:grpSpPr>
        <p:sp>
          <p:nvSpPr>
            <p:cNvPr id="3" name="object 3"/>
            <p:cNvSpPr/>
            <p:nvPr/>
          </p:nvSpPr>
          <p:spPr>
            <a:xfrm>
              <a:off x="1114044" y="1395983"/>
              <a:ext cx="1564005" cy="2696210"/>
            </a:xfrm>
            <a:custGeom>
              <a:avLst/>
              <a:gdLst/>
              <a:ahLst/>
              <a:cxnLst/>
              <a:rect l="l" t="t" r="r" b="b"/>
              <a:pathLst>
                <a:path w="1564005" h="2696210">
                  <a:moveTo>
                    <a:pt x="1303020" y="0"/>
                  </a:moveTo>
                  <a:lnTo>
                    <a:pt x="260603" y="0"/>
                  </a:lnTo>
                  <a:lnTo>
                    <a:pt x="213759" y="4199"/>
                  </a:lnTo>
                  <a:lnTo>
                    <a:pt x="169670" y="16308"/>
                  </a:lnTo>
                  <a:lnTo>
                    <a:pt x="129071" y="35588"/>
                  </a:lnTo>
                  <a:lnTo>
                    <a:pt x="92699" y="61302"/>
                  </a:lnTo>
                  <a:lnTo>
                    <a:pt x="61290" y="92715"/>
                  </a:lnTo>
                  <a:lnTo>
                    <a:pt x="35579" y="129088"/>
                  </a:lnTo>
                  <a:lnTo>
                    <a:pt x="16303" y="169685"/>
                  </a:lnTo>
                  <a:lnTo>
                    <a:pt x="4198" y="213769"/>
                  </a:lnTo>
                  <a:lnTo>
                    <a:pt x="0" y="260603"/>
                  </a:lnTo>
                  <a:lnTo>
                    <a:pt x="0" y="2435352"/>
                  </a:lnTo>
                  <a:lnTo>
                    <a:pt x="4198" y="2482196"/>
                  </a:lnTo>
                  <a:lnTo>
                    <a:pt x="16303" y="2526285"/>
                  </a:lnTo>
                  <a:lnTo>
                    <a:pt x="35579" y="2566884"/>
                  </a:lnTo>
                  <a:lnTo>
                    <a:pt x="61290" y="2603256"/>
                  </a:lnTo>
                  <a:lnTo>
                    <a:pt x="92699" y="2634665"/>
                  </a:lnTo>
                  <a:lnTo>
                    <a:pt x="129071" y="2660376"/>
                  </a:lnTo>
                  <a:lnTo>
                    <a:pt x="169670" y="2679652"/>
                  </a:lnTo>
                  <a:lnTo>
                    <a:pt x="213759" y="2691757"/>
                  </a:lnTo>
                  <a:lnTo>
                    <a:pt x="260603" y="2695955"/>
                  </a:lnTo>
                  <a:lnTo>
                    <a:pt x="1303020" y="2695955"/>
                  </a:lnTo>
                  <a:lnTo>
                    <a:pt x="1349854" y="2691757"/>
                  </a:lnTo>
                  <a:lnTo>
                    <a:pt x="1393938" y="2679652"/>
                  </a:lnTo>
                  <a:lnTo>
                    <a:pt x="1434535" y="2660376"/>
                  </a:lnTo>
                  <a:lnTo>
                    <a:pt x="1470908" y="2634665"/>
                  </a:lnTo>
                  <a:lnTo>
                    <a:pt x="1502321" y="2603256"/>
                  </a:lnTo>
                  <a:lnTo>
                    <a:pt x="1528035" y="2566884"/>
                  </a:lnTo>
                  <a:lnTo>
                    <a:pt x="1547315" y="2526285"/>
                  </a:lnTo>
                  <a:lnTo>
                    <a:pt x="1559424" y="2482196"/>
                  </a:lnTo>
                  <a:lnTo>
                    <a:pt x="1563624" y="2435352"/>
                  </a:lnTo>
                  <a:lnTo>
                    <a:pt x="1563624" y="260603"/>
                  </a:lnTo>
                  <a:lnTo>
                    <a:pt x="1559424" y="213769"/>
                  </a:lnTo>
                  <a:lnTo>
                    <a:pt x="1547315" y="169685"/>
                  </a:lnTo>
                  <a:lnTo>
                    <a:pt x="1528035" y="129088"/>
                  </a:lnTo>
                  <a:lnTo>
                    <a:pt x="1502321" y="92715"/>
                  </a:lnTo>
                  <a:lnTo>
                    <a:pt x="1470908" y="61302"/>
                  </a:lnTo>
                  <a:lnTo>
                    <a:pt x="1434535" y="35588"/>
                  </a:lnTo>
                  <a:lnTo>
                    <a:pt x="1393938" y="16308"/>
                  </a:lnTo>
                  <a:lnTo>
                    <a:pt x="1349854" y="4199"/>
                  </a:lnTo>
                  <a:lnTo>
                    <a:pt x="1303020" y="0"/>
                  </a:lnTo>
                  <a:close/>
                </a:path>
              </a:pathLst>
            </a:custGeom>
            <a:solidFill>
              <a:srgbClr val="00C3FF">
                <a:alpha val="50195"/>
              </a:srgbClr>
            </a:solidFill>
          </p:spPr>
          <p:txBody>
            <a:bodyPr wrap="square" lIns="0" tIns="0" rIns="0" bIns="0" rtlCol="0"/>
            <a:lstStyle/>
            <a:p>
              <a:endParaRPr sz="2400"/>
            </a:p>
          </p:txBody>
        </p:sp>
        <p:pic>
          <p:nvPicPr>
            <p:cNvPr id="4" name="object 4"/>
            <p:cNvPicPr/>
            <p:nvPr/>
          </p:nvPicPr>
          <p:blipFill>
            <a:blip r:embed="rId2" cstate="print"/>
            <a:stretch>
              <a:fillRect/>
            </a:stretch>
          </p:blipFill>
          <p:spPr>
            <a:xfrm>
              <a:off x="1324356" y="1487423"/>
              <a:ext cx="1289304" cy="2353056"/>
            </a:xfrm>
            <a:prstGeom prst="rect">
              <a:avLst/>
            </a:prstGeom>
          </p:spPr>
        </p:pic>
      </p:grpSp>
      <p:sp>
        <p:nvSpPr>
          <p:cNvPr id="5" name="object 5"/>
          <p:cNvSpPr txBox="1">
            <a:spLocks noGrp="1"/>
          </p:cNvSpPr>
          <p:nvPr>
            <p:ph type="title"/>
          </p:nvPr>
        </p:nvSpPr>
        <p:spPr>
          <a:xfrm>
            <a:off x="4324264" y="383227"/>
            <a:ext cx="4849878"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ODS</a:t>
            </a:r>
            <a:r>
              <a:rPr spc="-33" dirty="0">
                <a:solidFill>
                  <a:schemeClr val="bg1"/>
                </a:solidFill>
                <a:latin typeface="+mn-lt"/>
              </a:rPr>
              <a:t> </a:t>
            </a:r>
            <a:r>
              <a:rPr dirty="0">
                <a:solidFill>
                  <a:schemeClr val="bg1"/>
                </a:solidFill>
                <a:latin typeface="+mn-lt"/>
              </a:rPr>
              <a:t>-</a:t>
            </a:r>
            <a:r>
              <a:rPr spc="-53" dirty="0">
                <a:solidFill>
                  <a:schemeClr val="bg1"/>
                </a:solidFill>
                <a:latin typeface="+mn-lt"/>
              </a:rPr>
              <a:t> </a:t>
            </a:r>
            <a:r>
              <a:rPr spc="-13" dirty="0">
                <a:solidFill>
                  <a:schemeClr val="bg1"/>
                </a:solidFill>
                <a:latin typeface="+mn-lt"/>
              </a:rPr>
              <a:t>Sequential</a:t>
            </a:r>
          </a:p>
        </p:txBody>
      </p:sp>
      <p:sp>
        <p:nvSpPr>
          <p:cNvPr id="6" name="object 6"/>
          <p:cNvSpPr/>
          <p:nvPr/>
        </p:nvSpPr>
        <p:spPr>
          <a:xfrm>
            <a:off x="5381024" y="3045443"/>
            <a:ext cx="1259840" cy="1712807"/>
          </a:xfrm>
          <a:custGeom>
            <a:avLst/>
            <a:gdLst/>
            <a:ahLst/>
            <a:cxnLst/>
            <a:rect l="l" t="t" r="r" b="b"/>
            <a:pathLst>
              <a:path w="944879" h="1284604">
                <a:moveTo>
                  <a:pt x="944460" y="878560"/>
                </a:moveTo>
                <a:lnTo>
                  <a:pt x="924382" y="917486"/>
                </a:lnTo>
                <a:lnTo>
                  <a:pt x="868108" y="952017"/>
                </a:lnTo>
                <a:lnTo>
                  <a:pt x="843267" y="961428"/>
                </a:lnTo>
                <a:lnTo>
                  <a:pt x="843267" y="1115085"/>
                </a:lnTo>
                <a:lnTo>
                  <a:pt x="840841" y="1128915"/>
                </a:lnTo>
                <a:lnTo>
                  <a:pt x="833996" y="1139583"/>
                </a:lnTo>
                <a:lnTo>
                  <a:pt x="823341" y="1146454"/>
                </a:lnTo>
                <a:lnTo>
                  <a:pt x="809536" y="1148880"/>
                </a:lnTo>
                <a:lnTo>
                  <a:pt x="795731" y="1146454"/>
                </a:lnTo>
                <a:lnTo>
                  <a:pt x="785075" y="1139583"/>
                </a:lnTo>
                <a:lnTo>
                  <a:pt x="778230" y="1128915"/>
                </a:lnTo>
                <a:lnTo>
                  <a:pt x="775804" y="1115085"/>
                </a:lnTo>
                <a:lnTo>
                  <a:pt x="778230" y="1101255"/>
                </a:lnTo>
                <a:lnTo>
                  <a:pt x="785075" y="1090587"/>
                </a:lnTo>
                <a:lnTo>
                  <a:pt x="795731" y="1083729"/>
                </a:lnTo>
                <a:lnTo>
                  <a:pt x="809536" y="1081303"/>
                </a:lnTo>
                <a:lnTo>
                  <a:pt x="823341" y="1083729"/>
                </a:lnTo>
                <a:lnTo>
                  <a:pt x="833996" y="1090587"/>
                </a:lnTo>
                <a:lnTo>
                  <a:pt x="840841" y="1101255"/>
                </a:lnTo>
                <a:lnTo>
                  <a:pt x="843267" y="1115085"/>
                </a:lnTo>
                <a:lnTo>
                  <a:pt x="843267" y="961428"/>
                </a:lnTo>
                <a:lnTo>
                  <a:pt x="781608" y="980465"/>
                </a:lnTo>
                <a:lnTo>
                  <a:pt x="728891" y="991870"/>
                </a:lnTo>
                <a:lnTo>
                  <a:pt x="670839" y="1001102"/>
                </a:lnTo>
                <a:lnTo>
                  <a:pt x="608228" y="1007973"/>
                </a:lnTo>
                <a:lnTo>
                  <a:pt x="541769" y="1012240"/>
                </a:lnTo>
                <a:lnTo>
                  <a:pt x="472236" y="1013714"/>
                </a:lnTo>
                <a:lnTo>
                  <a:pt x="402691" y="1012240"/>
                </a:lnTo>
                <a:lnTo>
                  <a:pt x="336245" y="1007973"/>
                </a:lnTo>
                <a:lnTo>
                  <a:pt x="273621" y="1001102"/>
                </a:lnTo>
                <a:lnTo>
                  <a:pt x="215569" y="991870"/>
                </a:lnTo>
                <a:lnTo>
                  <a:pt x="162852" y="980465"/>
                </a:lnTo>
                <a:lnTo>
                  <a:pt x="116205" y="967105"/>
                </a:lnTo>
                <a:lnTo>
                  <a:pt x="76352" y="952017"/>
                </a:lnTo>
                <a:lnTo>
                  <a:pt x="20091" y="917486"/>
                </a:lnTo>
                <a:lnTo>
                  <a:pt x="0" y="878560"/>
                </a:lnTo>
                <a:lnTo>
                  <a:pt x="0" y="1148880"/>
                </a:lnTo>
                <a:lnTo>
                  <a:pt x="20091" y="1187805"/>
                </a:lnTo>
                <a:lnTo>
                  <a:pt x="76352" y="1222336"/>
                </a:lnTo>
                <a:lnTo>
                  <a:pt x="116205" y="1237424"/>
                </a:lnTo>
                <a:lnTo>
                  <a:pt x="162852" y="1250784"/>
                </a:lnTo>
                <a:lnTo>
                  <a:pt x="215569" y="1262176"/>
                </a:lnTo>
                <a:lnTo>
                  <a:pt x="273621" y="1271422"/>
                </a:lnTo>
                <a:lnTo>
                  <a:pt x="336245" y="1278293"/>
                </a:lnTo>
                <a:lnTo>
                  <a:pt x="402691" y="1282560"/>
                </a:lnTo>
                <a:lnTo>
                  <a:pt x="472236" y="1284033"/>
                </a:lnTo>
                <a:lnTo>
                  <a:pt x="541769" y="1282560"/>
                </a:lnTo>
                <a:lnTo>
                  <a:pt x="608228" y="1278293"/>
                </a:lnTo>
                <a:lnTo>
                  <a:pt x="670839" y="1271422"/>
                </a:lnTo>
                <a:lnTo>
                  <a:pt x="728891" y="1262176"/>
                </a:lnTo>
                <a:lnTo>
                  <a:pt x="781608" y="1250784"/>
                </a:lnTo>
                <a:lnTo>
                  <a:pt x="828268" y="1237424"/>
                </a:lnTo>
                <a:lnTo>
                  <a:pt x="868108" y="1222336"/>
                </a:lnTo>
                <a:lnTo>
                  <a:pt x="924382" y="1187805"/>
                </a:lnTo>
                <a:lnTo>
                  <a:pt x="944460" y="1148880"/>
                </a:lnTo>
                <a:lnTo>
                  <a:pt x="944460" y="1081303"/>
                </a:lnTo>
                <a:lnTo>
                  <a:pt x="944460" y="1013714"/>
                </a:lnTo>
                <a:lnTo>
                  <a:pt x="944460" y="878560"/>
                </a:lnTo>
                <a:close/>
              </a:path>
              <a:path w="944879" h="1284604">
                <a:moveTo>
                  <a:pt x="944460" y="540664"/>
                </a:moveTo>
                <a:lnTo>
                  <a:pt x="924382" y="579589"/>
                </a:lnTo>
                <a:lnTo>
                  <a:pt x="868108" y="614121"/>
                </a:lnTo>
                <a:lnTo>
                  <a:pt x="843267" y="623531"/>
                </a:lnTo>
                <a:lnTo>
                  <a:pt x="843267" y="777189"/>
                </a:lnTo>
                <a:lnTo>
                  <a:pt x="840841" y="791019"/>
                </a:lnTo>
                <a:lnTo>
                  <a:pt x="833996" y="801687"/>
                </a:lnTo>
                <a:lnTo>
                  <a:pt x="823341" y="808558"/>
                </a:lnTo>
                <a:lnTo>
                  <a:pt x="809536" y="810983"/>
                </a:lnTo>
                <a:lnTo>
                  <a:pt x="795731" y="808558"/>
                </a:lnTo>
                <a:lnTo>
                  <a:pt x="785075" y="801687"/>
                </a:lnTo>
                <a:lnTo>
                  <a:pt x="778230" y="791019"/>
                </a:lnTo>
                <a:lnTo>
                  <a:pt x="775804" y="777189"/>
                </a:lnTo>
                <a:lnTo>
                  <a:pt x="778230" y="763358"/>
                </a:lnTo>
                <a:lnTo>
                  <a:pt x="785075" y="752690"/>
                </a:lnTo>
                <a:lnTo>
                  <a:pt x="795731" y="745832"/>
                </a:lnTo>
                <a:lnTo>
                  <a:pt x="809536" y="743407"/>
                </a:lnTo>
                <a:lnTo>
                  <a:pt x="823341" y="745832"/>
                </a:lnTo>
                <a:lnTo>
                  <a:pt x="833996" y="752690"/>
                </a:lnTo>
                <a:lnTo>
                  <a:pt x="840841" y="763358"/>
                </a:lnTo>
                <a:lnTo>
                  <a:pt x="843267" y="777189"/>
                </a:lnTo>
                <a:lnTo>
                  <a:pt x="843267" y="623531"/>
                </a:lnTo>
                <a:lnTo>
                  <a:pt x="781608" y="642569"/>
                </a:lnTo>
                <a:lnTo>
                  <a:pt x="728891" y="653973"/>
                </a:lnTo>
                <a:lnTo>
                  <a:pt x="670839" y="663206"/>
                </a:lnTo>
                <a:lnTo>
                  <a:pt x="608228" y="670077"/>
                </a:lnTo>
                <a:lnTo>
                  <a:pt x="541769" y="674344"/>
                </a:lnTo>
                <a:lnTo>
                  <a:pt x="472236" y="675817"/>
                </a:lnTo>
                <a:lnTo>
                  <a:pt x="402691" y="674344"/>
                </a:lnTo>
                <a:lnTo>
                  <a:pt x="336245" y="670077"/>
                </a:lnTo>
                <a:lnTo>
                  <a:pt x="273621" y="663206"/>
                </a:lnTo>
                <a:lnTo>
                  <a:pt x="215569" y="653973"/>
                </a:lnTo>
                <a:lnTo>
                  <a:pt x="162852" y="642569"/>
                </a:lnTo>
                <a:lnTo>
                  <a:pt x="116205" y="629208"/>
                </a:lnTo>
                <a:lnTo>
                  <a:pt x="76352" y="614121"/>
                </a:lnTo>
                <a:lnTo>
                  <a:pt x="20091" y="579589"/>
                </a:lnTo>
                <a:lnTo>
                  <a:pt x="0" y="540664"/>
                </a:lnTo>
                <a:lnTo>
                  <a:pt x="0" y="810983"/>
                </a:lnTo>
                <a:lnTo>
                  <a:pt x="20091" y="849909"/>
                </a:lnTo>
                <a:lnTo>
                  <a:pt x="76352" y="884440"/>
                </a:lnTo>
                <a:lnTo>
                  <a:pt x="116205" y="899528"/>
                </a:lnTo>
                <a:lnTo>
                  <a:pt x="162852" y="912888"/>
                </a:lnTo>
                <a:lnTo>
                  <a:pt x="215569" y="924280"/>
                </a:lnTo>
                <a:lnTo>
                  <a:pt x="273621" y="933526"/>
                </a:lnTo>
                <a:lnTo>
                  <a:pt x="336245" y="940396"/>
                </a:lnTo>
                <a:lnTo>
                  <a:pt x="402691" y="944664"/>
                </a:lnTo>
                <a:lnTo>
                  <a:pt x="472236" y="946137"/>
                </a:lnTo>
                <a:lnTo>
                  <a:pt x="541769" y="944664"/>
                </a:lnTo>
                <a:lnTo>
                  <a:pt x="608228" y="940396"/>
                </a:lnTo>
                <a:lnTo>
                  <a:pt x="670839" y="933526"/>
                </a:lnTo>
                <a:lnTo>
                  <a:pt x="728891" y="924280"/>
                </a:lnTo>
                <a:lnTo>
                  <a:pt x="781608" y="912888"/>
                </a:lnTo>
                <a:lnTo>
                  <a:pt x="828268" y="899528"/>
                </a:lnTo>
                <a:lnTo>
                  <a:pt x="868108" y="884440"/>
                </a:lnTo>
                <a:lnTo>
                  <a:pt x="924382" y="849909"/>
                </a:lnTo>
                <a:lnTo>
                  <a:pt x="944460" y="810983"/>
                </a:lnTo>
                <a:lnTo>
                  <a:pt x="944460" y="743407"/>
                </a:lnTo>
                <a:lnTo>
                  <a:pt x="944460" y="675817"/>
                </a:lnTo>
                <a:lnTo>
                  <a:pt x="944460" y="540664"/>
                </a:lnTo>
                <a:close/>
              </a:path>
              <a:path w="944879" h="1284604">
                <a:moveTo>
                  <a:pt x="944460" y="202768"/>
                </a:moveTo>
                <a:lnTo>
                  <a:pt x="924382" y="241693"/>
                </a:lnTo>
                <a:lnTo>
                  <a:pt x="868108" y="276225"/>
                </a:lnTo>
                <a:lnTo>
                  <a:pt x="843267" y="285635"/>
                </a:lnTo>
                <a:lnTo>
                  <a:pt x="843267" y="439293"/>
                </a:lnTo>
                <a:lnTo>
                  <a:pt x="840841" y="453123"/>
                </a:lnTo>
                <a:lnTo>
                  <a:pt x="833996" y="463791"/>
                </a:lnTo>
                <a:lnTo>
                  <a:pt x="823341" y="470662"/>
                </a:lnTo>
                <a:lnTo>
                  <a:pt x="809536" y="473087"/>
                </a:lnTo>
                <a:lnTo>
                  <a:pt x="795731" y="470662"/>
                </a:lnTo>
                <a:lnTo>
                  <a:pt x="785075" y="463791"/>
                </a:lnTo>
                <a:lnTo>
                  <a:pt x="778230" y="453123"/>
                </a:lnTo>
                <a:lnTo>
                  <a:pt x="775804" y="439293"/>
                </a:lnTo>
                <a:lnTo>
                  <a:pt x="778230" y="425462"/>
                </a:lnTo>
                <a:lnTo>
                  <a:pt x="785075" y="414794"/>
                </a:lnTo>
                <a:lnTo>
                  <a:pt x="795731" y="407936"/>
                </a:lnTo>
                <a:lnTo>
                  <a:pt x="809536" y="405511"/>
                </a:lnTo>
                <a:lnTo>
                  <a:pt x="823341" y="407936"/>
                </a:lnTo>
                <a:lnTo>
                  <a:pt x="833996" y="414794"/>
                </a:lnTo>
                <a:lnTo>
                  <a:pt x="840841" y="425462"/>
                </a:lnTo>
                <a:lnTo>
                  <a:pt x="843267" y="439293"/>
                </a:lnTo>
                <a:lnTo>
                  <a:pt x="843267" y="285635"/>
                </a:lnTo>
                <a:lnTo>
                  <a:pt x="781608" y="304673"/>
                </a:lnTo>
                <a:lnTo>
                  <a:pt x="728891" y="316077"/>
                </a:lnTo>
                <a:lnTo>
                  <a:pt x="670839" y="325310"/>
                </a:lnTo>
                <a:lnTo>
                  <a:pt x="608228" y="332181"/>
                </a:lnTo>
                <a:lnTo>
                  <a:pt x="541769" y="336448"/>
                </a:lnTo>
                <a:lnTo>
                  <a:pt x="472236" y="337921"/>
                </a:lnTo>
                <a:lnTo>
                  <a:pt x="402691" y="336448"/>
                </a:lnTo>
                <a:lnTo>
                  <a:pt x="336245" y="332181"/>
                </a:lnTo>
                <a:lnTo>
                  <a:pt x="273621" y="325310"/>
                </a:lnTo>
                <a:lnTo>
                  <a:pt x="215569" y="316077"/>
                </a:lnTo>
                <a:lnTo>
                  <a:pt x="162852" y="304673"/>
                </a:lnTo>
                <a:lnTo>
                  <a:pt x="116192" y="291312"/>
                </a:lnTo>
                <a:lnTo>
                  <a:pt x="76352" y="276225"/>
                </a:lnTo>
                <a:lnTo>
                  <a:pt x="20091" y="241693"/>
                </a:lnTo>
                <a:lnTo>
                  <a:pt x="0" y="202768"/>
                </a:lnTo>
                <a:lnTo>
                  <a:pt x="0" y="473087"/>
                </a:lnTo>
                <a:lnTo>
                  <a:pt x="20091" y="512013"/>
                </a:lnTo>
                <a:lnTo>
                  <a:pt x="76352" y="546544"/>
                </a:lnTo>
                <a:lnTo>
                  <a:pt x="116205" y="561632"/>
                </a:lnTo>
                <a:lnTo>
                  <a:pt x="162852" y="574992"/>
                </a:lnTo>
                <a:lnTo>
                  <a:pt x="215569" y="586384"/>
                </a:lnTo>
                <a:lnTo>
                  <a:pt x="273621" y="595630"/>
                </a:lnTo>
                <a:lnTo>
                  <a:pt x="336245" y="602500"/>
                </a:lnTo>
                <a:lnTo>
                  <a:pt x="402691" y="606767"/>
                </a:lnTo>
                <a:lnTo>
                  <a:pt x="472236" y="608241"/>
                </a:lnTo>
                <a:lnTo>
                  <a:pt x="541769" y="606767"/>
                </a:lnTo>
                <a:lnTo>
                  <a:pt x="608228" y="602500"/>
                </a:lnTo>
                <a:lnTo>
                  <a:pt x="670839" y="595630"/>
                </a:lnTo>
                <a:lnTo>
                  <a:pt x="728891" y="586384"/>
                </a:lnTo>
                <a:lnTo>
                  <a:pt x="781608" y="574992"/>
                </a:lnTo>
                <a:lnTo>
                  <a:pt x="828268" y="561632"/>
                </a:lnTo>
                <a:lnTo>
                  <a:pt x="868108" y="546544"/>
                </a:lnTo>
                <a:lnTo>
                  <a:pt x="924382" y="512013"/>
                </a:lnTo>
                <a:lnTo>
                  <a:pt x="944460" y="473087"/>
                </a:lnTo>
                <a:lnTo>
                  <a:pt x="944460" y="405511"/>
                </a:lnTo>
                <a:lnTo>
                  <a:pt x="944460" y="337921"/>
                </a:lnTo>
                <a:lnTo>
                  <a:pt x="944460" y="202768"/>
                </a:lnTo>
                <a:close/>
              </a:path>
              <a:path w="944879" h="1284604">
                <a:moveTo>
                  <a:pt x="944460" y="135191"/>
                </a:moveTo>
                <a:lnTo>
                  <a:pt x="924471" y="96151"/>
                </a:lnTo>
                <a:lnTo>
                  <a:pt x="868375" y="61582"/>
                </a:lnTo>
                <a:lnTo>
                  <a:pt x="828624" y="46507"/>
                </a:lnTo>
                <a:lnTo>
                  <a:pt x="782053" y="33172"/>
                </a:lnTo>
                <a:lnTo>
                  <a:pt x="729361" y="21780"/>
                </a:lnTo>
                <a:lnTo>
                  <a:pt x="671309" y="12573"/>
                </a:lnTo>
                <a:lnTo>
                  <a:pt x="608622" y="5727"/>
                </a:lnTo>
                <a:lnTo>
                  <a:pt x="542010" y="1473"/>
                </a:lnTo>
                <a:lnTo>
                  <a:pt x="472236" y="0"/>
                </a:lnTo>
                <a:lnTo>
                  <a:pt x="402450" y="1473"/>
                </a:lnTo>
                <a:lnTo>
                  <a:pt x="335851" y="5727"/>
                </a:lnTo>
                <a:lnTo>
                  <a:pt x="273151" y="12573"/>
                </a:lnTo>
                <a:lnTo>
                  <a:pt x="215099" y="21780"/>
                </a:lnTo>
                <a:lnTo>
                  <a:pt x="162420" y="33172"/>
                </a:lnTo>
                <a:lnTo>
                  <a:pt x="115836" y="46507"/>
                </a:lnTo>
                <a:lnTo>
                  <a:pt x="76085" y="61582"/>
                </a:lnTo>
                <a:lnTo>
                  <a:pt x="20002" y="96151"/>
                </a:lnTo>
                <a:lnTo>
                  <a:pt x="0" y="135191"/>
                </a:lnTo>
                <a:lnTo>
                  <a:pt x="5130" y="155155"/>
                </a:lnTo>
                <a:lnTo>
                  <a:pt x="43891" y="192163"/>
                </a:lnTo>
                <a:lnTo>
                  <a:pt x="115836" y="223862"/>
                </a:lnTo>
                <a:lnTo>
                  <a:pt x="162420" y="237197"/>
                </a:lnTo>
                <a:lnTo>
                  <a:pt x="215099" y="248577"/>
                </a:lnTo>
                <a:lnTo>
                  <a:pt x="273151" y="257784"/>
                </a:lnTo>
                <a:lnTo>
                  <a:pt x="335851" y="264629"/>
                </a:lnTo>
                <a:lnTo>
                  <a:pt x="402450" y="268884"/>
                </a:lnTo>
                <a:lnTo>
                  <a:pt x="472236" y="270344"/>
                </a:lnTo>
                <a:lnTo>
                  <a:pt x="542010" y="268884"/>
                </a:lnTo>
                <a:lnTo>
                  <a:pt x="608622" y="264629"/>
                </a:lnTo>
                <a:lnTo>
                  <a:pt x="671309" y="257784"/>
                </a:lnTo>
                <a:lnTo>
                  <a:pt x="729361" y="248577"/>
                </a:lnTo>
                <a:lnTo>
                  <a:pt x="782053" y="237197"/>
                </a:lnTo>
                <a:lnTo>
                  <a:pt x="828624" y="223862"/>
                </a:lnTo>
                <a:lnTo>
                  <a:pt x="868375" y="208788"/>
                </a:lnTo>
                <a:lnTo>
                  <a:pt x="924471" y="174231"/>
                </a:lnTo>
                <a:lnTo>
                  <a:pt x="944460" y="135191"/>
                </a:lnTo>
                <a:close/>
              </a:path>
            </a:pathLst>
          </a:custGeom>
          <a:solidFill>
            <a:srgbClr val="99D3FF"/>
          </a:solidFill>
        </p:spPr>
        <p:txBody>
          <a:bodyPr wrap="square" lIns="0" tIns="0" rIns="0" bIns="0" rtlCol="0"/>
          <a:lstStyle/>
          <a:p>
            <a:endParaRPr sz="2400"/>
          </a:p>
        </p:txBody>
      </p:sp>
      <p:sp>
        <p:nvSpPr>
          <p:cNvPr id="7" name="object 7"/>
          <p:cNvSpPr txBox="1"/>
          <p:nvPr/>
        </p:nvSpPr>
        <p:spPr>
          <a:xfrm>
            <a:off x="5732779" y="4903351"/>
            <a:ext cx="502920" cy="344475"/>
          </a:xfrm>
          <a:prstGeom prst="rect">
            <a:avLst/>
          </a:prstGeom>
        </p:spPr>
        <p:txBody>
          <a:bodyPr vert="horz" wrap="square" lIns="0" tIns="16087" rIns="0" bIns="0" rtlCol="0">
            <a:spAutoFit/>
          </a:bodyPr>
          <a:lstStyle/>
          <a:p>
            <a:pPr marL="16933">
              <a:spcBef>
                <a:spcPts val="127"/>
              </a:spcBef>
            </a:pPr>
            <a:r>
              <a:rPr sz="2133" spc="-33" dirty="0">
                <a:solidFill>
                  <a:srgbClr val="FFFFFF"/>
                </a:solidFill>
                <a:latin typeface="Calibri"/>
                <a:cs typeface="Calibri"/>
              </a:rPr>
              <a:t>ODS</a:t>
            </a:r>
            <a:endParaRPr sz="2133">
              <a:latin typeface="Calibri"/>
              <a:cs typeface="Calibri"/>
            </a:endParaRPr>
          </a:p>
        </p:txBody>
      </p:sp>
      <p:sp>
        <p:nvSpPr>
          <p:cNvPr id="8" name="object 8"/>
          <p:cNvSpPr txBox="1"/>
          <p:nvPr/>
        </p:nvSpPr>
        <p:spPr>
          <a:xfrm>
            <a:off x="3675548" y="2761150"/>
            <a:ext cx="1620520" cy="304421"/>
          </a:xfrm>
          <a:prstGeom prst="rect">
            <a:avLst/>
          </a:prstGeom>
        </p:spPr>
        <p:txBody>
          <a:bodyPr vert="horz" wrap="square" lIns="0" tIns="16933" rIns="0" bIns="0" rtlCol="0">
            <a:spAutoFit/>
          </a:bodyPr>
          <a:lstStyle/>
          <a:p>
            <a:pPr marL="16933">
              <a:spcBef>
                <a:spcPts val="133"/>
              </a:spcBef>
            </a:pPr>
            <a:r>
              <a:rPr sz="1867" b="1" dirty="0">
                <a:solidFill>
                  <a:srgbClr val="D9D9D9"/>
                </a:solidFill>
                <a:latin typeface="Calibri"/>
                <a:cs typeface="Calibri"/>
              </a:rPr>
              <a:t>(Near)</a:t>
            </a:r>
            <a:r>
              <a:rPr sz="1867" b="1" spc="-7" dirty="0">
                <a:solidFill>
                  <a:srgbClr val="D9D9D9"/>
                </a:solidFill>
                <a:latin typeface="Calibri"/>
                <a:cs typeface="Calibri"/>
              </a:rPr>
              <a:t> </a:t>
            </a:r>
            <a:r>
              <a:rPr sz="1867" b="1" spc="-13" dirty="0">
                <a:solidFill>
                  <a:srgbClr val="D9D9D9"/>
                </a:solidFill>
                <a:latin typeface="Calibri"/>
                <a:cs typeface="Calibri"/>
              </a:rPr>
              <a:t>real-</a:t>
            </a:r>
            <a:r>
              <a:rPr sz="1867" b="1" spc="-27" dirty="0">
                <a:solidFill>
                  <a:srgbClr val="D9D9D9"/>
                </a:solidFill>
                <a:latin typeface="Calibri"/>
                <a:cs typeface="Calibri"/>
              </a:rPr>
              <a:t>time</a:t>
            </a:r>
            <a:endParaRPr sz="1867">
              <a:latin typeface="Calibri"/>
              <a:cs typeface="Calibri"/>
            </a:endParaRPr>
          </a:p>
        </p:txBody>
      </p:sp>
      <p:pic>
        <p:nvPicPr>
          <p:cNvPr id="9" name="object 9"/>
          <p:cNvPicPr/>
          <p:nvPr/>
        </p:nvPicPr>
        <p:blipFill>
          <a:blip r:embed="rId3" cstate="print"/>
          <a:stretch>
            <a:fillRect/>
          </a:stretch>
        </p:blipFill>
        <p:spPr>
          <a:xfrm>
            <a:off x="6786879" y="3243072"/>
            <a:ext cx="1306576" cy="1221232"/>
          </a:xfrm>
          <a:prstGeom prst="rect">
            <a:avLst/>
          </a:prstGeom>
        </p:spPr>
      </p:pic>
      <p:pic>
        <p:nvPicPr>
          <p:cNvPr id="10" name="object 10"/>
          <p:cNvPicPr/>
          <p:nvPr/>
        </p:nvPicPr>
        <p:blipFill>
          <a:blip r:embed="rId4" cstate="print"/>
          <a:stretch>
            <a:fillRect/>
          </a:stretch>
        </p:blipFill>
        <p:spPr>
          <a:xfrm>
            <a:off x="8277885" y="3051081"/>
            <a:ext cx="1283107" cy="1733003"/>
          </a:xfrm>
          <a:prstGeom prst="rect">
            <a:avLst/>
          </a:prstGeom>
        </p:spPr>
      </p:pic>
      <p:sp>
        <p:nvSpPr>
          <p:cNvPr id="11" name="object 11"/>
          <p:cNvSpPr txBox="1"/>
          <p:nvPr/>
        </p:nvSpPr>
        <p:spPr>
          <a:xfrm>
            <a:off x="8792633" y="2560489"/>
            <a:ext cx="609600" cy="344475"/>
          </a:xfrm>
          <a:prstGeom prst="rect">
            <a:avLst/>
          </a:prstGeom>
        </p:spPr>
        <p:txBody>
          <a:bodyPr vert="horz" wrap="square" lIns="0" tIns="16087" rIns="0" bIns="0" rtlCol="0">
            <a:spAutoFit/>
          </a:bodyPr>
          <a:lstStyle/>
          <a:p>
            <a:pPr marL="16933">
              <a:spcBef>
                <a:spcPts val="127"/>
              </a:spcBef>
            </a:pPr>
            <a:r>
              <a:rPr sz="2133" spc="-33" dirty="0">
                <a:solidFill>
                  <a:srgbClr val="FFFFFF"/>
                </a:solidFill>
                <a:latin typeface="Calibri"/>
                <a:cs typeface="Calibri"/>
              </a:rPr>
              <a:t>DWH</a:t>
            </a:r>
            <a:endParaRPr sz="2133">
              <a:latin typeface="Calibri"/>
              <a:cs typeface="Calibri"/>
            </a:endParaRPr>
          </a:p>
        </p:txBody>
      </p:sp>
      <p:pic>
        <p:nvPicPr>
          <p:cNvPr id="12" name="object 12"/>
          <p:cNvPicPr/>
          <p:nvPr/>
        </p:nvPicPr>
        <p:blipFill>
          <a:blip r:embed="rId3" cstate="print"/>
          <a:stretch>
            <a:fillRect/>
          </a:stretch>
        </p:blipFill>
        <p:spPr>
          <a:xfrm>
            <a:off x="3791711" y="3153664"/>
            <a:ext cx="1306576" cy="1219200"/>
          </a:xfrm>
          <a:prstGeom prst="rect">
            <a:avLst/>
          </a:prstGeom>
        </p:spPr>
      </p:pic>
      <p:grpSp>
        <p:nvGrpSpPr>
          <p:cNvPr id="13" name="object 13"/>
          <p:cNvGrpSpPr/>
          <p:nvPr/>
        </p:nvGrpSpPr>
        <p:grpSpPr>
          <a:xfrm>
            <a:off x="9157209" y="1736344"/>
            <a:ext cx="767927" cy="843280"/>
            <a:chOff x="6867906" y="1302258"/>
            <a:chExt cx="575945" cy="632460"/>
          </a:xfrm>
        </p:grpSpPr>
        <p:sp>
          <p:nvSpPr>
            <p:cNvPr id="14" name="object 14"/>
            <p:cNvSpPr/>
            <p:nvPr/>
          </p:nvSpPr>
          <p:spPr>
            <a:xfrm>
              <a:off x="6880606" y="1314958"/>
              <a:ext cx="550545" cy="607060"/>
            </a:xfrm>
            <a:custGeom>
              <a:avLst/>
              <a:gdLst/>
              <a:ahLst/>
              <a:cxnLst/>
              <a:rect l="l" t="t" r="r" b="b"/>
              <a:pathLst>
                <a:path w="550545" h="607060">
                  <a:moveTo>
                    <a:pt x="446024" y="0"/>
                  </a:moveTo>
                  <a:lnTo>
                    <a:pt x="51943" y="458088"/>
                  </a:lnTo>
                  <a:lnTo>
                    <a:pt x="0" y="413384"/>
                  </a:lnTo>
                  <a:lnTo>
                    <a:pt x="14477" y="606805"/>
                  </a:lnTo>
                  <a:lnTo>
                    <a:pt x="208025" y="592327"/>
                  </a:lnTo>
                  <a:lnTo>
                    <a:pt x="155955" y="547624"/>
                  </a:lnTo>
                  <a:lnTo>
                    <a:pt x="550037" y="89534"/>
                  </a:lnTo>
                  <a:lnTo>
                    <a:pt x="446024" y="0"/>
                  </a:lnTo>
                  <a:close/>
                </a:path>
              </a:pathLst>
            </a:custGeom>
            <a:solidFill>
              <a:srgbClr val="00C3FF"/>
            </a:solidFill>
          </p:spPr>
          <p:txBody>
            <a:bodyPr wrap="square" lIns="0" tIns="0" rIns="0" bIns="0" rtlCol="0"/>
            <a:lstStyle/>
            <a:p>
              <a:endParaRPr sz="2400"/>
            </a:p>
          </p:txBody>
        </p:sp>
        <p:sp>
          <p:nvSpPr>
            <p:cNvPr id="15" name="object 15"/>
            <p:cNvSpPr/>
            <p:nvPr/>
          </p:nvSpPr>
          <p:spPr>
            <a:xfrm>
              <a:off x="6880606" y="1314958"/>
              <a:ext cx="550545" cy="607060"/>
            </a:xfrm>
            <a:custGeom>
              <a:avLst/>
              <a:gdLst/>
              <a:ahLst/>
              <a:cxnLst/>
              <a:rect l="l" t="t" r="r" b="b"/>
              <a:pathLst>
                <a:path w="550545" h="607060">
                  <a:moveTo>
                    <a:pt x="550037" y="89534"/>
                  </a:moveTo>
                  <a:lnTo>
                    <a:pt x="155955" y="547624"/>
                  </a:lnTo>
                  <a:lnTo>
                    <a:pt x="208025" y="592327"/>
                  </a:lnTo>
                  <a:lnTo>
                    <a:pt x="14477" y="606805"/>
                  </a:lnTo>
                  <a:lnTo>
                    <a:pt x="0" y="413384"/>
                  </a:lnTo>
                  <a:lnTo>
                    <a:pt x="51943" y="458088"/>
                  </a:lnTo>
                  <a:lnTo>
                    <a:pt x="446024" y="0"/>
                  </a:lnTo>
                  <a:lnTo>
                    <a:pt x="550037" y="89534"/>
                  </a:lnTo>
                  <a:close/>
                </a:path>
              </a:pathLst>
            </a:custGeom>
            <a:ln w="25399">
              <a:solidFill>
                <a:srgbClr val="008FBB"/>
              </a:solidFill>
            </a:ln>
          </p:spPr>
          <p:txBody>
            <a:bodyPr wrap="square" lIns="0" tIns="0" rIns="0" bIns="0" rtlCol="0"/>
            <a:lstStyle/>
            <a:p>
              <a:endParaRPr sz="2400"/>
            </a:p>
          </p:txBody>
        </p:sp>
      </p:grpSp>
      <p:grpSp>
        <p:nvGrpSpPr>
          <p:cNvPr id="16" name="object 16"/>
          <p:cNvGrpSpPr/>
          <p:nvPr/>
        </p:nvGrpSpPr>
        <p:grpSpPr>
          <a:xfrm>
            <a:off x="6503078" y="4827862"/>
            <a:ext cx="1113367" cy="798407"/>
            <a:chOff x="4877308" y="3620896"/>
            <a:chExt cx="835025" cy="598805"/>
          </a:xfrm>
        </p:grpSpPr>
        <p:sp>
          <p:nvSpPr>
            <p:cNvPr id="17" name="object 17"/>
            <p:cNvSpPr/>
            <p:nvPr/>
          </p:nvSpPr>
          <p:spPr>
            <a:xfrm>
              <a:off x="4890008" y="3633596"/>
              <a:ext cx="809625" cy="573405"/>
            </a:xfrm>
            <a:custGeom>
              <a:avLst/>
              <a:gdLst/>
              <a:ahLst/>
              <a:cxnLst/>
              <a:rect l="l" t="t" r="r" b="b"/>
              <a:pathLst>
                <a:path w="809625" h="573404">
                  <a:moveTo>
                    <a:pt x="188340" y="0"/>
                  </a:moveTo>
                  <a:lnTo>
                    <a:pt x="0" y="46481"/>
                  </a:lnTo>
                  <a:lnTo>
                    <a:pt x="46481" y="234949"/>
                  </a:lnTo>
                  <a:lnTo>
                    <a:pt x="81914" y="176148"/>
                  </a:lnTo>
                  <a:lnTo>
                    <a:pt x="738124" y="572782"/>
                  </a:lnTo>
                  <a:lnTo>
                    <a:pt x="809116" y="455345"/>
                  </a:lnTo>
                  <a:lnTo>
                    <a:pt x="152907" y="58800"/>
                  </a:lnTo>
                  <a:lnTo>
                    <a:pt x="188340" y="0"/>
                  </a:lnTo>
                  <a:close/>
                </a:path>
              </a:pathLst>
            </a:custGeom>
            <a:solidFill>
              <a:srgbClr val="00C3FF"/>
            </a:solidFill>
          </p:spPr>
          <p:txBody>
            <a:bodyPr wrap="square" lIns="0" tIns="0" rIns="0" bIns="0" rtlCol="0"/>
            <a:lstStyle/>
            <a:p>
              <a:endParaRPr sz="2400"/>
            </a:p>
          </p:txBody>
        </p:sp>
        <p:sp>
          <p:nvSpPr>
            <p:cNvPr id="18" name="object 18"/>
            <p:cNvSpPr/>
            <p:nvPr/>
          </p:nvSpPr>
          <p:spPr>
            <a:xfrm>
              <a:off x="4890008" y="3633596"/>
              <a:ext cx="809625" cy="573405"/>
            </a:xfrm>
            <a:custGeom>
              <a:avLst/>
              <a:gdLst/>
              <a:ahLst/>
              <a:cxnLst/>
              <a:rect l="l" t="t" r="r" b="b"/>
              <a:pathLst>
                <a:path w="809625" h="573404">
                  <a:moveTo>
                    <a:pt x="738124" y="572782"/>
                  </a:moveTo>
                  <a:lnTo>
                    <a:pt x="81914" y="176148"/>
                  </a:lnTo>
                  <a:lnTo>
                    <a:pt x="46481" y="234949"/>
                  </a:lnTo>
                  <a:lnTo>
                    <a:pt x="0" y="46481"/>
                  </a:lnTo>
                  <a:lnTo>
                    <a:pt x="188340" y="0"/>
                  </a:lnTo>
                  <a:lnTo>
                    <a:pt x="152907" y="58800"/>
                  </a:lnTo>
                  <a:lnTo>
                    <a:pt x="809116" y="455345"/>
                  </a:lnTo>
                  <a:lnTo>
                    <a:pt x="738124" y="572782"/>
                  </a:lnTo>
                  <a:close/>
                </a:path>
              </a:pathLst>
            </a:custGeom>
            <a:ln w="25400">
              <a:solidFill>
                <a:srgbClr val="008FBB"/>
              </a:solidFill>
            </a:ln>
          </p:spPr>
          <p:txBody>
            <a:bodyPr wrap="square" lIns="0" tIns="0" rIns="0" bIns="0" rtlCol="0"/>
            <a:lstStyle/>
            <a:p>
              <a:endParaRPr sz="2400"/>
            </a:p>
          </p:txBody>
        </p:sp>
      </p:grpSp>
      <p:sp>
        <p:nvSpPr>
          <p:cNvPr id="19" name="object 19"/>
          <p:cNvSpPr txBox="1"/>
          <p:nvPr/>
        </p:nvSpPr>
        <p:spPr>
          <a:xfrm>
            <a:off x="9121647" y="1467103"/>
            <a:ext cx="2203027" cy="335199"/>
          </a:xfrm>
          <a:prstGeom prst="rect">
            <a:avLst/>
          </a:prstGeom>
          <a:solidFill>
            <a:srgbClr val="D9D9D9"/>
          </a:solidFill>
        </p:spPr>
        <p:txBody>
          <a:bodyPr vert="horz" wrap="square" lIns="0" tIns="47413" rIns="0" bIns="0" rtlCol="0">
            <a:spAutoFit/>
          </a:bodyPr>
          <a:lstStyle/>
          <a:p>
            <a:pPr marL="123610">
              <a:spcBef>
                <a:spcPts val="373"/>
              </a:spcBef>
            </a:pPr>
            <a:r>
              <a:rPr sz="1867" b="1" dirty="0">
                <a:solidFill>
                  <a:srgbClr val="434343"/>
                </a:solidFill>
                <a:latin typeface="Calibri"/>
                <a:cs typeface="Calibri"/>
              </a:rPr>
              <a:t>Analytical</a:t>
            </a:r>
            <a:r>
              <a:rPr sz="1867" b="1" spc="-60" dirty="0">
                <a:solidFill>
                  <a:srgbClr val="434343"/>
                </a:solidFill>
                <a:latin typeface="Calibri"/>
                <a:cs typeface="Calibri"/>
              </a:rPr>
              <a:t> </a:t>
            </a:r>
            <a:r>
              <a:rPr sz="1867" b="1" spc="-13" dirty="0">
                <a:solidFill>
                  <a:srgbClr val="434343"/>
                </a:solidFill>
                <a:latin typeface="Calibri"/>
                <a:cs typeface="Calibri"/>
              </a:rPr>
              <a:t>decisions</a:t>
            </a:r>
            <a:endParaRPr sz="1867">
              <a:latin typeface="Calibri"/>
              <a:cs typeface="Calibri"/>
            </a:endParaRPr>
          </a:p>
        </p:txBody>
      </p:sp>
      <p:sp>
        <p:nvSpPr>
          <p:cNvPr id="20" name="object 20"/>
          <p:cNvSpPr txBox="1"/>
          <p:nvPr/>
        </p:nvSpPr>
        <p:spPr>
          <a:xfrm>
            <a:off x="7225792" y="5411215"/>
            <a:ext cx="2406227" cy="335199"/>
          </a:xfrm>
          <a:prstGeom prst="rect">
            <a:avLst/>
          </a:prstGeom>
          <a:solidFill>
            <a:srgbClr val="D9D9D9"/>
          </a:solidFill>
        </p:spPr>
        <p:txBody>
          <a:bodyPr vert="horz" wrap="square" lIns="0" tIns="47413" rIns="0" bIns="0" rtlCol="0">
            <a:spAutoFit/>
          </a:bodyPr>
          <a:lstStyle/>
          <a:p>
            <a:pPr marL="122764">
              <a:spcBef>
                <a:spcPts val="373"/>
              </a:spcBef>
            </a:pPr>
            <a:r>
              <a:rPr sz="1867" b="1" dirty="0">
                <a:solidFill>
                  <a:srgbClr val="434343"/>
                </a:solidFill>
                <a:latin typeface="Calibri"/>
                <a:cs typeface="Calibri"/>
              </a:rPr>
              <a:t>Operational</a:t>
            </a:r>
            <a:r>
              <a:rPr sz="1867" b="1" spc="-87" dirty="0">
                <a:solidFill>
                  <a:srgbClr val="434343"/>
                </a:solidFill>
                <a:latin typeface="Calibri"/>
                <a:cs typeface="Calibri"/>
              </a:rPr>
              <a:t> </a:t>
            </a:r>
            <a:r>
              <a:rPr sz="1867" b="1" spc="-13" dirty="0">
                <a:solidFill>
                  <a:srgbClr val="434343"/>
                </a:solidFill>
                <a:latin typeface="Calibri"/>
                <a:cs typeface="Calibri"/>
              </a:rPr>
              <a:t>decisions</a:t>
            </a:r>
            <a:endParaRPr sz="1867">
              <a:latin typeface="Calibri"/>
              <a:cs typeface="Calibri"/>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07981" y="552730"/>
            <a:ext cx="2035210" cy="695062"/>
          </a:xfrm>
          <a:prstGeom prst="rect">
            <a:avLst/>
          </a:prstGeom>
        </p:spPr>
        <p:txBody>
          <a:bodyPr vert="horz" wrap="square" lIns="0" tIns="17780" rIns="0" bIns="0" rtlCol="0" anchor="ctr">
            <a:spAutoFit/>
          </a:bodyPr>
          <a:lstStyle/>
          <a:p>
            <a:pPr marL="16933">
              <a:lnSpc>
                <a:spcPct val="100000"/>
              </a:lnSpc>
              <a:spcBef>
                <a:spcPts val="140"/>
              </a:spcBef>
            </a:pPr>
            <a:r>
              <a:rPr spc="-33" dirty="0">
                <a:solidFill>
                  <a:schemeClr val="bg1"/>
                </a:solidFill>
                <a:latin typeface="+mn-lt"/>
              </a:rPr>
              <a:t>ODS</a:t>
            </a:r>
          </a:p>
        </p:txBody>
      </p:sp>
      <p:sp>
        <p:nvSpPr>
          <p:cNvPr id="3" name="object 3"/>
          <p:cNvSpPr txBox="1"/>
          <p:nvPr/>
        </p:nvSpPr>
        <p:spPr>
          <a:xfrm>
            <a:off x="2746925" y="1727559"/>
            <a:ext cx="7735147" cy="3135111"/>
          </a:xfrm>
          <a:prstGeom prst="rect">
            <a:avLst/>
          </a:prstGeom>
        </p:spPr>
        <p:txBody>
          <a:bodyPr vert="horz" wrap="square" lIns="0" tIns="201507" rIns="0" bIns="0" rtlCol="0">
            <a:spAutoFit/>
          </a:bodyPr>
          <a:lstStyle/>
          <a:p>
            <a:pPr marL="506294" indent="-489361">
              <a:spcBef>
                <a:spcPts val="1587"/>
              </a:spcBef>
              <a:buClr>
                <a:srgbClr val="99D3FF"/>
              </a:buClr>
              <a:buFont typeface="Wingdings"/>
              <a:buChar char=""/>
              <a:tabLst>
                <a:tab pos="506294" algn="l"/>
              </a:tabLst>
            </a:pPr>
            <a:r>
              <a:rPr sz="3733" b="1" dirty="0">
                <a:solidFill>
                  <a:srgbClr val="D9D9D9"/>
                </a:solidFill>
                <a:latin typeface="Calibri"/>
                <a:cs typeface="Calibri"/>
              </a:rPr>
              <a:t>Getting</a:t>
            </a:r>
            <a:r>
              <a:rPr sz="3733" b="1" spc="-27" dirty="0">
                <a:solidFill>
                  <a:srgbClr val="D9D9D9"/>
                </a:solidFill>
                <a:latin typeface="Calibri"/>
                <a:cs typeface="Calibri"/>
              </a:rPr>
              <a:t> </a:t>
            </a:r>
            <a:r>
              <a:rPr sz="3733" b="1" dirty="0">
                <a:solidFill>
                  <a:srgbClr val="D9D9D9"/>
                </a:solidFill>
                <a:latin typeface="Calibri"/>
                <a:cs typeface="Calibri"/>
              </a:rPr>
              <a:t>less</a:t>
            </a:r>
            <a:r>
              <a:rPr sz="3733" b="1" spc="-47" dirty="0">
                <a:solidFill>
                  <a:srgbClr val="D9D9D9"/>
                </a:solidFill>
                <a:latin typeface="Calibri"/>
                <a:cs typeface="Calibri"/>
              </a:rPr>
              <a:t> </a:t>
            </a:r>
            <a:r>
              <a:rPr sz="3733" b="1" spc="-13" dirty="0">
                <a:solidFill>
                  <a:srgbClr val="D9D9D9"/>
                </a:solidFill>
                <a:latin typeface="Calibri"/>
                <a:cs typeface="Calibri"/>
              </a:rPr>
              <a:t>relevant</a:t>
            </a:r>
            <a:endParaRPr sz="3733" dirty="0">
              <a:latin typeface="Calibri"/>
              <a:cs typeface="Calibri"/>
            </a:endParaRPr>
          </a:p>
          <a:p>
            <a:pPr marL="1388499" lvl="1" indent="-457189">
              <a:spcBef>
                <a:spcPts val="1053"/>
              </a:spcBef>
              <a:buClr>
                <a:srgbClr val="99D3FF"/>
              </a:buClr>
              <a:buFont typeface="Wingdings"/>
              <a:buChar char=""/>
              <a:tabLst>
                <a:tab pos="1388499" algn="l"/>
              </a:tabLst>
            </a:pPr>
            <a:r>
              <a:rPr sz="2667" b="1" dirty="0">
                <a:solidFill>
                  <a:srgbClr val="A6A6A6"/>
                </a:solidFill>
                <a:latin typeface="Calibri"/>
                <a:cs typeface="Calibri"/>
              </a:rPr>
              <a:t>Better</a:t>
            </a:r>
            <a:r>
              <a:rPr sz="2667" b="1" spc="-47" dirty="0">
                <a:solidFill>
                  <a:srgbClr val="A6A6A6"/>
                </a:solidFill>
                <a:latin typeface="Calibri"/>
                <a:cs typeface="Calibri"/>
              </a:rPr>
              <a:t> </a:t>
            </a:r>
            <a:r>
              <a:rPr sz="2667" b="1" dirty="0">
                <a:solidFill>
                  <a:srgbClr val="A6A6A6"/>
                </a:solidFill>
                <a:latin typeface="Calibri"/>
                <a:cs typeface="Calibri"/>
              </a:rPr>
              <a:t>performance</a:t>
            </a:r>
            <a:r>
              <a:rPr sz="2667" b="1" spc="-27" dirty="0">
                <a:solidFill>
                  <a:srgbClr val="A6A6A6"/>
                </a:solidFill>
                <a:latin typeface="Calibri"/>
                <a:cs typeface="Calibri"/>
              </a:rPr>
              <a:t> </a:t>
            </a:r>
            <a:r>
              <a:rPr sz="2667" b="1" dirty="0">
                <a:solidFill>
                  <a:srgbClr val="A6A6A6"/>
                </a:solidFill>
                <a:latin typeface="Calibri"/>
                <a:cs typeface="Calibri"/>
              </a:rPr>
              <a:t>(Faster</a:t>
            </a:r>
            <a:r>
              <a:rPr sz="2667" b="1" spc="-53" dirty="0">
                <a:solidFill>
                  <a:srgbClr val="A6A6A6"/>
                </a:solidFill>
                <a:latin typeface="Calibri"/>
                <a:cs typeface="Calibri"/>
              </a:rPr>
              <a:t> </a:t>
            </a:r>
            <a:r>
              <a:rPr sz="2667" b="1" dirty="0">
                <a:solidFill>
                  <a:srgbClr val="A6A6A6"/>
                </a:solidFill>
                <a:latin typeface="Calibri"/>
                <a:cs typeface="Calibri"/>
              </a:rPr>
              <a:t>ETL</a:t>
            </a:r>
            <a:r>
              <a:rPr sz="2667" b="1" spc="-33" dirty="0">
                <a:solidFill>
                  <a:srgbClr val="A6A6A6"/>
                </a:solidFill>
                <a:latin typeface="Calibri"/>
                <a:cs typeface="Calibri"/>
              </a:rPr>
              <a:t> </a:t>
            </a:r>
            <a:r>
              <a:rPr sz="2667" b="1" dirty="0">
                <a:solidFill>
                  <a:srgbClr val="A6A6A6"/>
                </a:solidFill>
                <a:latin typeface="Calibri"/>
                <a:cs typeface="Calibri"/>
              </a:rPr>
              <a:t>/</a:t>
            </a:r>
            <a:r>
              <a:rPr sz="2667" b="1" spc="-20" dirty="0">
                <a:solidFill>
                  <a:srgbClr val="A6A6A6"/>
                </a:solidFill>
                <a:latin typeface="Calibri"/>
                <a:cs typeface="Calibri"/>
              </a:rPr>
              <a:t> </a:t>
            </a:r>
            <a:r>
              <a:rPr sz="2667" b="1" spc="-27" dirty="0">
                <a:solidFill>
                  <a:srgbClr val="A6A6A6"/>
                </a:solidFill>
                <a:latin typeface="Calibri"/>
                <a:cs typeface="Calibri"/>
              </a:rPr>
              <a:t>DBs)</a:t>
            </a:r>
            <a:endParaRPr sz="2667" dirty="0">
              <a:latin typeface="Calibri"/>
              <a:cs typeface="Calibri"/>
            </a:endParaRPr>
          </a:p>
          <a:p>
            <a:pPr marL="1388499" lvl="1" indent="-457189">
              <a:spcBef>
                <a:spcPts val="1473"/>
              </a:spcBef>
              <a:buClr>
                <a:srgbClr val="99D3FF"/>
              </a:buClr>
              <a:buFont typeface="Wingdings"/>
              <a:buChar char=""/>
              <a:tabLst>
                <a:tab pos="1388499" algn="l"/>
              </a:tabLst>
            </a:pPr>
            <a:r>
              <a:rPr sz="2667" b="1" dirty="0">
                <a:solidFill>
                  <a:srgbClr val="A6A6A6"/>
                </a:solidFill>
                <a:latin typeface="Calibri"/>
                <a:cs typeface="Calibri"/>
              </a:rPr>
              <a:t>Big</a:t>
            </a:r>
            <a:r>
              <a:rPr sz="2667" b="1" spc="-13" dirty="0">
                <a:solidFill>
                  <a:srgbClr val="A6A6A6"/>
                </a:solidFill>
                <a:latin typeface="Calibri"/>
                <a:cs typeface="Calibri"/>
              </a:rPr>
              <a:t> </a:t>
            </a:r>
            <a:r>
              <a:rPr sz="2667" b="1" dirty="0">
                <a:solidFill>
                  <a:srgbClr val="A6A6A6"/>
                </a:solidFill>
                <a:latin typeface="Calibri"/>
                <a:cs typeface="Calibri"/>
              </a:rPr>
              <a:t>data</a:t>
            </a:r>
            <a:r>
              <a:rPr sz="2667" b="1" spc="-60" dirty="0">
                <a:solidFill>
                  <a:srgbClr val="A6A6A6"/>
                </a:solidFill>
                <a:latin typeface="Calibri"/>
                <a:cs typeface="Calibri"/>
              </a:rPr>
              <a:t> </a:t>
            </a:r>
            <a:r>
              <a:rPr sz="2667" b="1" dirty="0">
                <a:solidFill>
                  <a:srgbClr val="A6A6A6"/>
                </a:solidFill>
                <a:latin typeface="Calibri"/>
                <a:cs typeface="Calibri"/>
              </a:rPr>
              <a:t>technologies</a:t>
            </a:r>
            <a:r>
              <a:rPr sz="2667" b="1" spc="-53" dirty="0">
                <a:solidFill>
                  <a:srgbClr val="A6A6A6"/>
                </a:solidFill>
                <a:latin typeface="Calibri"/>
                <a:cs typeface="Calibri"/>
              </a:rPr>
              <a:t> </a:t>
            </a:r>
            <a:r>
              <a:rPr sz="2667" b="1" dirty="0">
                <a:solidFill>
                  <a:srgbClr val="A6A6A6"/>
                </a:solidFill>
                <a:latin typeface="Calibri"/>
                <a:cs typeface="Calibri"/>
              </a:rPr>
              <a:t>(very</a:t>
            </a:r>
            <a:r>
              <a:rPr sz="2667" b="1" spc="-7" dirty="0">
                <a:solidFill>
                  <a:srgbClr val="A6A6A6"/>
                </a:solidFill>
                <a:latin typeface="Calibri"/>
                <a:cs typeface="Calibri"/>
              </a:rPr>
              <a:t> </a:t>
            </a:r>
            <a:r>
              <a:rPr sz="2667" b="1" dirty="0">
                <a:solidFill>
                  <a:srgbClr val="A6A6A6"/>
                </a:solidFill>
                <a:latin typeface="Calibri"/>
                <a:cs typeface="Calibri"/>
              </a:rPr>
              <a:t>fast</a:t>
            </a:r>
            <a:r>
              <a:rPr sz="2667" b="1" spc="-27" dirty="0">
                <a:solidFill>
                  <a:srgbClr val="A6A6A6"/>
                </a:solidFill>
                <a:latin typeface="Calibri"/>
                <a:cs typeface="Calibri"/>
              </a:rPr>
              <a:t> </a:t>
            </a:r>
            <a:r>
              <a:rPr sz="2667" b="1" dirty="0">
                <a:solidFill>
                  <a:srgbClr val="A6A6A6"/>
                </a:solidFill>
                <a:latin typeface="Calibri"/>
                <a:cs typeface="Calibri"/>
              </a:rPr>
              <a:t>/</a:t>
            </a:r>
            <a:r>
              <a:rPr sz="2667" b="1" spc="-13" dirty="0">
                <a:solidFill>
                  <a:srgbClr val="A6A6A6"/>
                </a:solidFill>
                <a:latin typeface="Calibri"/>
                <a:cs typeface="Calibri"/>
              </a:rPr>
              <a:t> real-time)</a:t>
            </a:r>
            <a:endParaRPr sz="2667" dirty="0">
              <a:latin typeface="Calibri"/>
              <a:cs typeface="Calibri"/>
            </a:endParaRPr>
          </a:p>
          <a:p>
            <a:pPr lvl="1">
              <a:spcBef>
                <a:spcPts val="1740"/>
              </a:spcBef>
              <a:buClr>
                <a:srgbClr val="99D3FF"/>
              </a:buClr>
              <a:buFont typeface="Wingdings"/>
              <a:buChar char=""/>
            </a:pPr>
            <a:endParaRPr sz="2667" dirty="0">
              <a:latin typeface="Calibri"/>
              <a:cs typeface="Calibri"/>
            </a:endParaRPr>
          </a:p>
          <a:p>
            <a:pPr marL="531693" indent="-489361">
              <a:spcBef>
                <a:spcPts val="7"/>
              </a:spcBef>
              <a:buClr>
                <a:srgbClr val="99D3FF"/>
              </a:buClr>
              <a:buFont typeface="Wingdings"/>
              <a:buChar char=""/>
              <a:tabLst>
                <a:tab pos="531693" algn="l"/>
              </a:tabLst>
            </a:pPr>
            <a:r>
              <a:rPr sz="3733" b="1" dirty="0">
                <a:solidFill>
                  <a:srgbClr val="D9D9D9"/>
                </a:solidFill>
                <a:latin typeface="Calibri"/>
                <a:cs typeface="Calibri"/>
              </a:rPr>
              <a:t>Don't</a:t>
            </a:r>
            <a:r>
              <a:rPr sz="3733" b="1" spc="-27" dirty="0">
                <a:solidFill>
                  <a:srgbClr val="D9D9D9"/>
                </a:solidFill>
                <a:latin typeface="Calibri"/>
                <a:cs typeface="Calibri"/>
              </a:rPr>
              <a:t> </a:t>
            </a:r>
            <a:r>
              <a:rPr sz="3733" b="1" dirty="0">
                <a:solidFill>
                  <a:srgbClr val="D9D9D9"/>
                </a:solidFill>
                <a:latin typeface="Calibri"/>
                <a:cs typeface="Calibri"/>
              </a:rPr>
              <a:t>get</a:t>
            </a:r>
            <a:r>
              <a:rPr sz="3733" b="1" spc="-20" dirty="0">
                <a:solidFill>
                  <a:srgbClr val="D9D9D9"/>
                </a:solidFill>
                <a:latin typeface="Calibri"/>
                <a:cs typeface="Calibri"/>
              </a:rPr>
              <a:t> </a:t>
            </a:r>
            <a:r>
              <a:rPr sz="3733" b="1" dirty="0">
                <a:solidFill>
                  <a:srgbClr val="D9D9D9"/>
                </a:solidFill>
                <a:latin typeface="Calibri"/>
                <a:cs typeface="Calibri"/>
              </a:rPr>
              <a:t>hung</a:t>
            </a:r>
            <a:r>
              <a:rPr sz="3733" b="1" spc="-27" dirty="0">
                <a:solidFill>
                  <a:srgbClr val="D9D9D9"/>
                </a:solidFill>
                <a:latin typeface="Calibri"/>
                <a:cs typeface="Calibri"/>
              </a:rPr>
              <a:t> </a:t>
            </a:r>
            <a:r>
              <a:rPr sz="3733" b="1" dirty="0">
                <a:solidFill>
                  <a:srgbClr val="D9D9D9"/>
                </a:solidFill>
                <a:latin typeface="Calibri"/>
                <a:cs typeface="Calibri"/>
              </a:rPr>
              <a:t>up</a:t>
            </a:r>
            <a:r>
              <a:rPr sz="3733" b="1" spc="-27" dirty="0">
                <a:solidFill>
                  <a:srgbClr val="D9D9D9"/>
                </a:solidFill>
                <a:latin typeface="Calibri"/>
                <a:cs typeface="Calibri"/>
              </a:rPr>
              <a:t> </a:t>
            </a:r>
            <a:r>
              <a:rPr sz="3733" b="1" dirty="0">
                <a:solidFill>
                  <a:srgbClr val="D9D9D9"/>
                </a:solidFill>
                <a:latin typeface="Calibri"/>
                <a:cs typeface="Calibri"/>
              </a:rPr>
              <a:t>with</a:t>
            </a:r>
            <a:r>
              <a:rPr sz="3733" b="1" spc="-27" dirty="0">
                <a:solidFill>
                  <a:srgbClr val="D9D9D9"/>
                </a:solidFill>
                <a:latin typeface="Calibri"/>
                <a:cs typeface="Calibri"/>
              </a:rPr>
              <a:t> </a:t>
            </a:r>
            <a:r>
              <a:rPr sz="3733" b="1" spc="-13" dirty="0">
                <a:solidFill>
                  <a:srgbClr val="D9D9D9"/>
                </a:solidFill>
                <a:latin typeface="Calibri"/>
                <a:cs typeface="Calibri"/>
              </a:rPr>
              <a:t>terminology!</a:t>
            </a:r>
            <a:endParaRPr sz="3733" dirty="0">
              <a:latin typeface="Calibri"/>
              <a:cs typeface="Calibri"/>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27759" y="2279903"/>
            <a:ext cx="9930384" cy="1702816"/>
          </a:xfrm>
          <a:prstGeom prst="rect">
            <a:avLst/>
          </a:prstGeom>
        </p:spPr>
      </p:pic>
      <p:sp>
        <p:nvSpPr>
          <p:cNvPr id="3" name="object 3"/>
          <p:cNvSpPr txBox="1">
            <a:spLocks noGrp="1"/>
          </p:cNvSpPr>
          <p:nvPr>
            <p:ph type="title"/>
          </p:nvPr>
        </p:nvSpPr>
        <p:spPr>
          <a:xfrm>
            <a:off x="1190751" y="2579973"/>
            <a:ext cx="9811173" cy="1048150"/>
          </a:xfrm>
          <a:prstGeom prst="rect">
            <a:avLst/>
          </a:prstGeom>
          <a:noFill/>
          <a:ln w="9144">
            <a:noFill/>
          </a:ln>
        </p:spPr>
        <p:txBody>
          <a:bodyPr vert="horz" wrap="square" lIns="0" tIns="306493" rIns="0" bIns="0" rtlCol="0" anchor="ctr">
            <a:spAutoFit/>
          </a:bodyPr>
          <a:lstStyle/>
          <a:p>
            <a:pPr marL="1693" algn="ctr">
              <a:lnSpc>
                <a:spcPct val="100000"/>
              </a:lnSpc>
              <a:spcBef>
                <a:spcPts val="2413"/>
              </a:spcBef>
            </a:pPr>
            <a:r>
              <a:rPr lang="en-IN" sz="4800" spc="-13" dirty="0">
                <a:solidFill>
                  <a:schemeClr val="bg1"/>
                </a:solidFill>
                <a:latin typeface="+mn-lt"/>
              </a:rPr>
              <a:t>Let us Deliberate and </a:t>
            </a:r>
            <a:r>
              <a:rPr sz="4800" spc="-13" dirty="0">
                <a:solidFill>
                  <a:schemeClr val="bg1"/>
                </a:solidFill>
                <a:latin typeface="+mn-lt"/>
              </a:rPr>
              <a:t>Summar</a:t>
            </a:r>
            <a:r>
              <a:rPr lang="en-IN" sz="4800" spc="-13" dirty="0" err="1">
                <a:solidFill>
                  <a:schemeClr val="bg1"/>
                </a:solidFill>
                <a:latin typeface="+mn-lt"/>
              </a:rPr>
              <a:t>ize</a:t>
            </a:r>
            <a:r>
              <a:rPr lang="en-IN" sz="4800" spc="-13" dirty="0">
                <a:solidFill>
                  <a:schemeClr val="bg1"/>
                </a:solidFill>
                <a:latin typeface="+mn-lt"/>
              </a:rPr>
              <a:t> </a:t>
            </a:r>
            <a:endParaRPr sz="4800" dirty="0">
              <a:solidFill>
                <a:schemeClr val="bg1"/>
              </a:solidFill>
              <a:latin typeface="+mn-lt"/>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12558" y="104706"/>
            <a:ext cx="6532049"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Data</a:t>
            </a:r>
            <a:r>
              <a:rPr spc="-33" dirty="0">
                <a:solidFill>
                  <a:schemeClr val="bg1"/>
                </a:solidFill>
                <a:latin typeface="+mn-lt"/>
              </a:rPr>
              <a:t> </a:t>
            </a:r>
            <a:r>
              <a:rPr dirty="0">
                <a:solidFill>
                  <a:schemeClr val="bg1"/>
                </a:solidFill>
                <a:latin typeface="+mn-lt"/>
              </a:rPr>
              <a:t>Warehouse</a:t>
            </a:r>
            <a:r>
              <a:rPr spc="-60" dirty="0">
                <a:solidFill>
                  <a:schemeClr val="bg1"/>
                </a:solidFill>
                <a:latin typeface="+mn-lt"/>
              </a:rPr>
              <a:t> </a:t>
            </a:r>
            <a:r>
              <a:rPr spc="-13" dirty="0">
                <a:solidFill>
                  <a:schemeClr val="bg1"/>
                </a:solidFill>
                <a:latin typeface="+mn-lt"/>
              </a:rPr>
              <a:t>Layers</a:t>
            </a:r>
          </a:p>
        </p:txBody>
      </p:sp>
      <p:sp>
        <p:nvSpPr>
          <p:cNvPr id="3" name="object 3"/>
          <p:cNvSpPr txBox="1"/>
          <p:nvPr/>
        </p:nvSpPr>
        <p:spPr>
          <a:xfrm>
            <a:off x="3661326" y="5017143"/>
            <a:ext cx="839893" cy="344475"/>
          </a:xfrm>
          <a:prstGeom prst="rect">
            <a:avLst/>
          </a:prstGeom>
        </p:spPr>
        <p:txBody>
          <a:bodyPr vert="horz" wrap="square" lIns="0" tIns="16087" rIns="0" bIns="0" rtlCol="0">
            <a:spAutoFit/>
          </a:bodyPr>
          <a:lstStyle/>
          <a:p>
            <a:pPr marL="16933">
              <a:spcBef>
                <a:spcPts val="127"/>
              </a:spcBef>
            </a:pPr>
            <a:r>
              <a:rPr sz="2133" spc="-13" dirty="0">
                <a:solidFill>
                  <a:srgbClr val="FFFFFF"/>
                </a:solidFill>
                <a:latin typeface="Calibri"/>
                <a:cs typeface="Calibri"/>
              </a:rPr>
              <a:t>Staging</a:t>
            </a:r>
            <a:endParaRPr sz="2133">
              <a:latin typeface="Calibri"/>
              <a:cs typeface="Calibri"/>
            </a:endParaRPr>
          </a:p>
        </p:txBody>
      </p:sp>
      <p:graphicFrame>
        <p:nvGraphicFramePr>
          <p:cNvPr id="4" name="object 4"/>
          <p:cNvGraphicFramePr>
            <a:graphicFrameLocks noGrp="1"/>
          </p:cNvGraphicFramePr>
          <p:nvPr/>
        </p:nvGraphicFramePr>
        <p:xfrm>
          <a:off x="1157775" y="2562617"/>
          <a:ext cx="929639" cy="628227"/>
        </p:xfrm>
        <a:graphic>
          <a:graphicData uri="http://schemas.openxmlformats.org/drawingml/2006/table">
            <a:tbl>
              <a:tblPr firstRow="1" bandRow="1">
                <a:tableStyleId>{2D5ABB26-0587-4C30-8999-92F81FD0307C}</a:tableStyleId>
              </a:tblPr>
              <a:tblGrid>
                <a:gridCol w="314113">
                  <a:extLst>
                    <a:ext uri="{9D8B030D-6E8A-4147-A177-3AD203B41FA5}">
                      <a16:colId xmlns:a16="http://schemas.microsoft.com/office/drawing/2014/main" val="20000"/>
                    </a:ext>
                  </a:extLst>
                </a:gridCol>
                <a:gridCol w="301413">
                  <a:extLst>
                    <a:ext uri="{9D8B030D-6E8A-4147-A177-3AD203B41FA5}">
                      <a16:colId xmlns:a16="http://schemas.microsoft.com/office/drawing/2014/main" val="20001"/>
                    </a:ext>
                  </a:extLst>
                </a:gridCol>
                <a:gridCol w="314113">
                  <a:extLst>
                    <a:ext uri="{9D8B030D-6E8A-4147-A177-3AD203B41FA5}">
                      <a16:colId xmlns:a16="http://schemas.microsoft.com/office/drawing/2014/main" val="20002"/>
                    </a:ext>
                  </a:extLst>
                </a:gridCol>
              </a:tblGrid>
              <a:tr h="213360">
                <a:tc>
                  <a:txBody>
                    <a:bodyPr/>
                    <a:lstStyle/>
                    <a:p>
                      <a:pPr>
                        <a:lnSpc>
                          <a:spcPct val="100000"/>
                        </a:lnSpc>
                      </a:pPr>
                      <a:endParaRPr sz="1200">
                        <a:latin typeface="Times New Roman"/>
                        <a:cs typeface="Times New Roman"/>
                      </a:endParaRPr>
                    </a:p>
                  </a:txBody>
                  <a:tcPr marL="0" marR="0" marT="0" marB="0">
                    <a:lnL w="5715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38100">
                      <a:solidFill>
                        <a:srgbClr val="BCBCBC"/>
                      </a:solidFill>
                      <a:prstDash val="solid"/>
                    </a:lnR>
                    <a:lnT w="57150">
                      <a:solidFill>
                        <a:srgbClr val="BCBCBC"/>
                      </a:solidFill>
                      <a:prstDash val="solid"/>
                    </a:lnT>
                    <a:lnB w="3810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57150">
                      <a:solidFill>
                        <a:srgbClr val="BCBCBC"/>
                      </a:solidFill>
                      <a:prstDash val="solid"/>
                    </a:lnR>
                    <a:lnT w="57150">
                      <a:solidFill>
                        <a:srgbClr val="BCBCBC"/>
                      </a:solidFill>
                      <a:prstDash val="solid"/>
                    </a:lnT>
                    <a:lnB w="38100">
                      <a:solidFill>
                        <a:srgbClr val="BCBCBC"/>
                      </a:solidFill>
                      <a:prstDash val="solid"/>
                    </a:lnB>
                  </a:tcPr>
                </a:tc>
                <a:extLst>
                  <a:ext uri="{0D108BD9-81ED-4DB2-BD59-A6C34878D82A}">
                    <a16:rowId xmlns:a16="http://schemas.microsoft.com/office/drawing/2014/main" val="10000"/>
                  </a:ext>
                </a:extLst>
              </a:tr>
              <a:tr h="201507">
                <a:tc>
                  <a:txBody>
                    <a:bodyPr/>
                    <a:lstStyle/>
                    <a:p>
                      <a:pPr>
                        <a:lnSpc>
                          <a:spcPct val="100000"/>
                        </a:lnSpc>
                      </a:pPr>
                      <a:endParaRPr sz="11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11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38100">
                      <a:solidFill>
                        <a:srgbClr val="BCBCBC"/>
                      </a:solidFill>
                      <a:prstDash val="solid"/>
                    </a:lnB>
                  </a:tcPr>
                </a:tc>
                <a:tc>
                  <a:txBody>
                    <a:bodyPr/>
                    <a:lstStyle/>
                    <a:p>
                      <a:pPr>
                        <a:lnSpc>
                          <a:spcPct val="100000"/>
                        </a:lnSpc>
                      </a:pPr>
                      <a:endParaRPr sz="11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38100">
                      <a:solidFill>
                        <a:srgbClr val="BCBCBC"/>
                      </a:solidFill>
                      <a:prstDash val="solid"/>
                    </a:lnB>
                  </a:tcPr>
                </a:tc>
                <a:extLst>
                  <a:ext uri="{0D108BD9-81ED-4DB2-BD59-A6C34878D82A}">
                    <a16:rowId xmlns:a16="http://schemas.microsoft.com/office/drawing/2014/main" val="10001"/>
                  </a:ext>
                </a:extLst>
              </a:tr>
              <a:tr h="213360">
                <a:tc>
                  <a:txBody>
                    <a:bodyPr/>
                    <a:lstStyle/>
                    <a:p>
                      <a:pPr>
                        <a:lnSpc>
                          <a:spcPct val="100000"/>
                        </a:lnSpc>
                      </a:pPr>
                      <a:endParaRPr sz="1200">
                        <a:latin typeface="Times New Roman"/>
                        <a:cs typeface="Times New Roman"/>
                      </a:endParaRPr>
                    </a:p>
                  </a:txBody>
                  <a:tcPr marL="0" marR="0" marT="0" marB="0">
                    <a:lnL w="5715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38100">
                      <a:solidFill>
                        <a:srgbClr val="BCBCBC"/>
                      </a:solidFill>
                      <a:prstDash val="solid"/>
                    </a:lnR>
                    <a:lnT w="38100">
                      <a:solidFill>
                        <a:srgbClr val="BCBCBC"/>
                      </a:solidFill>
                      <a:prstDash val="solid"/>
                    </a:lnT>
                    <a:lnB w="57150">
                      <a:solidFill>
                        <a:srgbClr val="BCBCBC"/>
                      </a:solidFill>
                      <a:prstDash val="solid"/>
                    </a:lnB>
                  </a:tcPr>
                </a:tc>
                <a:tc>
                  <a:txBody>
                    <a:bodyPr/>
                    <a:lstStyle/>
                    <a:p>
                      <a:pPr>
                        <a:lnSpc>
                          <a:spcPct val="100000"/>
                        </a:lnSpc>
                      </a:pPr>
                      <a:endParaRPr sz="1200">
                        <a:latin typeface="Times New Roman"/>
                        <a:cs typeface="Times New Roman"/>
                      </a:endParaRPr>
                    </a:p>
                  </a:txBody>
                  <a:tcPr marL="0" marR="0" marT="0" marB="0">
                    <a:lnL w="38100">
                      <a:solidFill>
                        <a:srgbClr val="BCBCBC"/>
                      </a:solidFill>
                      <a:prstDash val="solid"/>
                    </a:lnL>
                    <a:lnR w="57150">
                      <a:solidFill>
                        <a:srgbClr val="BCBCBC"/>
                      </a:solidFill>
                      <a:prstDash val="solid"/>
                    </a:lnR>
                    <a:lnT w="38100">
                      <a:solidFill>
                        <a:srgbClr val="BCBCBC"/>
                      </a:solidFill>
                      <a:prstDash val="solid"/>
                    </a:lnT>
                    <a:lnB w="57150">
                      <a:solidFill>
                        <a:srgbClr val="BCBCBC"/>
                      </a:solidFill>
                      <a:prstDash val="solid"/>
                    </a:lnB>
                  </a:tcPr>
                </a:tc>
                <a:extLst>
                  <a:ext uri="{0D108BD9-81ED-4DB2-BD59-A6C34878D82A}">
                    <a16:rowId xmlns:a16="http://schemas.microsoft.com/office/drawing/2014/main" val="10002"/>
                  </a:ext>
                </a:extLst>
              </a:tr>
            </a:tbl>
          </a:graphicData>
        </a:graphic>
      </p:graphicFrame>
      <p:sp>
        <p:nvSpPr>
          <p:cNvPr id="5" name="object 5"/>
          <p:cNvSpPr txBox="1"/>
          <p:nvPr/>
        </p:nvSpPr>
        <p:spPr>
          <a:xfrm>
            <a:off x="935668" y="4679357"/>
            <a:ext cx="1424093"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data</a:t>
            </a:r>
            <a:r>
              <a:rPr sz="2133" spc="-33" dirty="0">
                <a:solidFill>
                  <a:srgbClr val="FFFFFF"/>
                </a:solidFill>
                <a:latin typeface="Calibri"/>
                <a:cs typeface="Calibri"/>
              </a:rPr>
              <a:t> </a:t>
            </a:r>
            <a:r>
              <a:rPr sz="2133" spc="-13" dirty="0">
                <a:solidFill>
                  <a:srgbClr val="FFFFFF"/>
                </a:solidFill>
                <a:latin typeface="Calibri"/>
                <a:cs typeface="Calibri"/>
              </a:rPr>
              <a:t>sources</a:t>
            </a:r>
            <a:endParaRPr sz="2133">
              <a:latin typeface="Calibri"/>
              <a:cs typeface="Calibri"/>
            </a:endParaRPr>
          </a:p>
        </p:txBody>
      </p:sp>
      <p:sp>
        <p:nvSpPr>
          <p:cNvPr id="6" name="object 6"/>
          <p:cNvSpPr/>
          <p:nvPr/>
        </p:nvSpPr>
        <p:spPr>
          <a:xfrm>
            <a:off x="1327573" y="3561639"/>
            <a:ext cx="689187" cy="934720"/>
          </a:xfrm>
          <a:custGeom>
            <a:avLst/>
            <a:gdLst/>
            <a:ahLst/>
            <a:cxnLst/>
            <a:rect l="l" t="t" r="r" b="b"/>
            <a:pathLst>
              <a:path w="516890" h="701039">
                <a:moveTo>
                  <a:pt x="516585" y="479298"/>
                </a:moveTo>
                <a:lnTo>
                  <a:pt x="507314" y="498830"/>
                </a:lnTo>
                <a:lnTo>
                  <a:pt x="481190" y="516432"/>
                </a:lnTo>
                <a:lnTo>
                  <a:pt x="461238" y="523798"/>
                </a:lnTo>
                <a:lnTo>
                  <a:pt x="461238" y="608330"/>
                </a:lnTo>
                <a:lnTo>
                  <a:pt x="459905" y="615873"/>
                </a:lnTo>
                <a:lnTo>
                  <a:pt x="456158" y="621690"/>
                </a:lnTo>
                <a:lnTo>
                  <a:pt x="450342" y="625436"/>
                </a:lnTo>
                <a:lnTo>
                  <a:pt x="442785" y="626757"/>
                </a:lnTo>
                <a:lnTo>
                  <a:pt x="435229" y="625436"/>
                </a:lnTo>
                <a:lnTo>
                  <a:pt x="429412" y="621690"/>
                </a:lnTo>
                <a:lnTo>
                  <a:pt x="425665" y="615873"/>
                </a:lnTo>
                <a:lnTo>
                  <a:pt x="424332" y="608330"/>
                </a:lnTo>
                <a:lnTo>
                  <a:pt x="425665" y="600786"/>
                </a:lnTo>
                <a:lnTo>
                  <a:pt x="429412" y="594969"/>
                </a:lnTo>
                <a:lnTo>
                  <a:pt x="435229" y="591223"/>
                </a:lnTo>
                <a:lnTo>
                  <a:pt x="442785" y="589889"/>
                </a:lnTo>
                <a:lnTo>
                  <a:pt x="450342" y="591223"/>
                </a:lnTo>
                <a:lnTo>
                  <a:pt x="456158" y="594969"/>
                </a:lnTo>
                <a:lnTo>
                  <a:pt x="459905" y="600786"/>
                </a:lnTo>
                <a:lnTo>
                  <a:pt x="461238" y="608330"/>
                </a:lnTo>
                <a:lnTo>
                  <a:pt x="461238" y="523798"/>
                </a:lnTo>
                <a:lnTo>
                  <a:pt x="440715" y="531368"/>
                </a:lnTo>
                <a:lnTo>
                  <a:pt x="388391" y="542925"/>
                </a:lnTo>
                <a:lnTo>
                  <a:pt x="326745" y="550379"/>
                </a:lnTo>
                <a:lnTo>
                  <a:pt x="258292" y="553021"/>
                </a:lnTo>
                <a:lnTo>
                  <a:pt x="189826" y="550379"/>
                </a:lnTo>
                <a:lnTo>
                  <a:pt x="128193" y="542925"/>
                </a:lnTo>
                <a:lnTo>
                  <a:pt x="75869" y="531368"/>
                </a:lnTo>
                <a:lnTo>
                  <a:pt x="35394" y="516432"/>
                </a:lnTo>
                <a:lnTo>
                  <a:pt x="0" y="479298"/>
                </a:lnTo>
                <a:lnTo>
                  <a:pt x="0" y="626757"/>
                </a:lnTo>
                <a:lnTo>
                  <a:pt x="35394" y="663905"/>
                </a:lnTo>
                <a:lnTo>
                  <a:pt x="75869" y="678840"/>
                </a:lnTo>
                <a:lnTo>
                  <a:pt x="128193" y="690397"/>
                </a:lnTo>
                <a:lnTo>
                  <a:pt x="189826" y="697852"/>
                </a:lnTo>
                <a:lnTo>
                  <a:pt x="258292" y="700493"/>
                </a:lnTo>
                <a:lnTo>
                  <a:pt x="326745" y="697852"/>
                </a:lnTo>
                <a:lnTo>
                  <a:pt x="388391" y="690397"/>
                </a:lnTo>
                <a:lnTo>
                  <a:pt x="440715" y="678840"/>
                </a:lnTo>
                <a:lnTo>
                  <a:pt x="481190" y="663905"/>
                </a:lnTo>
                <a:lnTo>
                  <a:pt x="516585" y="626757"/>
                </a:lnTo>
                <a:lnTo>
                  <a:pt x="516585" y="589889"/>
                </a:lnTo>
                <a:lnTo>
                  <a:pt x="516585" y="553021"/>
                </a:lnTo>
                <a:lnTo>
                  <a:pt x="516585" y="479298"/>
                </a:lnTo>
                <a:close/>
              </a:path>
              <a:path w="516890" h="701039">
                <a:moveTo>
                  <a:pt x="516585" y="294957"/>
                </a:moveTo>
                <a:lnTo>
                  <a:pt x="507314" y="314502"/>
                </a:lnTo>
                <a:lnTo>
                  <a:pt x="481190" y="332092"/>
                </a:lnTo>
                <a:lnTo>
                  <a:pt x="461238" y="339458"/>
                </a:lnTo>
                <a:lnTo>
                  <a:pt x="461238" y="423989"/>
                </a:lnTo>
                <a:lnTo>
                  <a:pt x="459905" y="431533"/>
                </a:lnTo>
                <a:lnTo>
                  <a:pt x="456158" y="437349"/>
                </a:lnTo>
                <a:lnTo>
                  <a:pt x="450342" y="441096"/>
                </a:lnTo>
                <a:lnTo>
                  <a:pt x="442785" y="442429"/>
                </a:lnTo>
                <a:lnTo>
                  <a:pt x="435229" y="441096"/>
                </a:lnTo>
                <a:lnTo>
                  <a:pt x="429412" y="437349"/>
                </a:lnTo>
                <a:lnTo>
                  <a:pt x="425665" y="431533"/>
                </a:lnTo>
                <a:lnTo>
                  <a:pt x="424332" y="423989"/>
                </a:lnTo>
                <a:lnTo>
                  <a:pt x="425665" y="416445"/>
                </a:lnTo>
                <a:lnTo>
                  <a:pt x="429412" y="410629"/>
                </a:lnTo>
                <a:lnTo>
                  <a:pt x="435229" y="406882"/>
                </a:lnTo>
                <a:lnTo>
                  <a:pt x="442785" y="405561"/>
                </a:lnTo>
                <a:lnTo>
                  <a:pt x="450342" y="406882"/>
                </a:lnTo>
                <a:lnTo>
                  <a:pt x="456158" y="410629"/>
                </a:lnTo>
                <a:lnTo>
                  <a:pt x="459905" y="416445"/>
                </a:lnTo>
                <a:lnTo>
                  <a:pt x="461238" y="423989"/>
                </a:lnTo>
                <a:lnTo>
                  <a:pt x="461238" y="339458"/>
                </a:lnTo>
                <a:lnTo>
                  <a:pt x="440715" y="347027"/>
                </a:lnTo>
                <a:lnTo>
                  <a:pt x="388391" y="358584"/>
                </a:lnTo>
                <a:lnTo>
                  <a:pt x="326745" y="366039"/>
                </a:lnTo>
                <a:lnTo>
                  <a:pt x="258292" y="368693"/>
                </a:lnTo>
                <a:lnTo>
                  <a:pt x="189826" y="366039"/>
                </a:lnTo>
                <a:lnTo>
                  <a:pt x="128193" y="358584"/>
                </a:lnTo>
                <a:lnTo>
                  <a:pt x="75869" y="347027"/>
                </a:lnTo>
                <a:lnTo>
                  <a:pt x="35394" y="332092"/>
                </a:lnTo>
                <a:lnTo>
                  <a:pt x="0" y="294957"/>
                </a:lnTo>
                <a:lnTo>
                  <a:pt x="0" y="442429"/>
                </a:lnTo>
                <a:lnTo>
                  <a:pt x="35394" y="479564"/>
                </a:lnTo>
                <a:lnTo>
                  <a:pt x="75869" y="494499"/>
                </a:lnTo>
                <a:lnTo>
                  <a:pt x="128193" y="506056"/>
                </a:lnTo>
                <a:lnTo>
                  <a:pt x="189826" y="513511"/>
                </a:lnTo>
                <a:lnTo>
                  <a:pt x="258292" y="516153"/>
                </a:lnTo>
                <a:lnTo>
                  <a:pt x="326745" y="513511"/>
                </a:lnTo>
                <a:lnTo>
                  <a:pt x="388391" y="506056"/>
                </a:lnTo>
                <a:lnTo>
                  <a:pt x="440715" y="494499"/>
                </a:lnTo>
                <a:lnTo>
                  <a:pt x="481190" y="479564"/>
                </a:lnTo>
                <a:lnTo>
                  <a:pt x="516585" y="442429"/>
                </a:lnTo>
                <a:lnTo>
                  <a:pt x="516585" y="405561"/>
                </a:lnTo>
                <a:lnTo>
                  <a:pt x="516585" y="368693"/>
                </a:lnTo>
                <a:lnTo>
                  <a:pt x="516585" y="294957"/>
                </a:lnTo>
                <a:close/>
              </a:path>
              <a:path w="516890" h="701039">
                <a:moveTo>
                  <a:pt x="516585" y="110617"/>
                </a:moveTo>
                <a:lnTo>
                  <a:pt x="507314" y="130162"/>
                </a:lnTo>
                <a:lnTo>
                  <a:pt x="481190" y="147751"/>
                </a:lnTo>
                <a:lnTo>
                  <a:pt x="461238" y="155117"/>
                </a:lnTo>
                <a:lnTo>
                  <a:pt x="461238" y="239649"/>
                </a:lnTo>
                <a:lnTo>
                  <a:pt x="459905" y="247192"/>
                </a:lnTo>
                <a:lnTo>
                  <a:pt x="456158" y="253022"/>
                </a:lnTo>
                <a:lnTo>
                  <a:pt x="450342" y="256755"/>
                </a:lnTo>
                <a:lnTo>
                  <a:pt x="442785" y="258089"/>
                </a:lnTo>
                <a:lnTo>
                  <a:pt x="435229" y="256755"/>
                </a:lnTo>
                <a:lnTo>
                  <a:pt x="429412" y="253022"/>
                </a:lnTo>
                <a:lnTo>
                  <a:pt x="425665" y="247192"/>
                </a:lnTo>
                <a:lnTo>
                  <a:pt x="424332" y="239649"/>
                </a:lnTo>
                <a:lnTo>
                  <a:pt x="425665" y="232105"/>
                </a:lnTo>
                <a:lnTo>
                  <a:pt x="429412" y="226288"/>
                </a:lnTo>
                <a:lnTo>
                  <a:pt x="435229" y="222542"/>
                </a:lnTo>
                <a:lnTo>
                  <a:pt x="442785" y="221221"/>
                </a:lnTo>
                <a:lnTo>
                  <a:pt x="450342" y="222542"/>
                </a:lnTo>
                <a:lnTo>
                  <a:pt x="456158" y="226288"/>
                </a:lnTo>
                <a:lnTo>
                  <a:pt x="459905" y="232105"/>
                </a:lnTo>
                <a:lnTo>
                  <a:pt x="461238" y="239649"/>
                </a:lnTo>
                <a:lnTo>
                  <a:pt x="461238" y="155117"/>
                </a:lnTo>
                <a:lnTo>
                  <a:pt x="440715" y="162687"/>
                </a:lnTo>
                <a:lnTo>
                  <a:pt x="388391" y="174244"/>
                </a:lnTo>
                <a:lnTo>
                  <a:pt x="326745" y="181698"/>
                </a:lnTo>
                <a:lnTo>
                  <a:pt x="258292" y="184353"/>
                </a:lnTo>
                <a:lnTo>
                  <a:pt x="189826" y="181698"/>
                </a:lnTo>
                <a:lnTo>
                  <a:pt x="128193" y="174244"/>
                </a:lnTo>
                <a:lnTo>
                  <a:pt x="75869" y="162687"/>
                </a:lnTo>
                <a:lnTo>
                  <a:pt x="35394" y="147751"/>
                </a:lnTo>
                <a:lnTo>
                  <a:pt x="0" y="110617"/>
                </a:lnTo>
                <a:lnTo>
                  <a:pt x="0" y="258089"/>
                </a:lnTo>
                <a:lnTo>
                  <a:pt x="35394" y="295224"/>
                </a:lnTo>
                <a:lnTo>
                  <a:pt x="75869" y="310159"/>
                </a:lnTo>
                <a:lnTo>
                  <a:pt x="128193" y="321716"/>
                </a:lnTo>
                <a:lnTo>
                  <a:pt x="189826" y="329171"/>
                </a:lnTo>
                <a:lnTo>
                  <a:pt x="258292" y="331825"/>
                </a:lnTo>
                <a:lnTo>
                  <a:pt x="326745" y="329171"/>
                </a:lnTo>
                <a:lnTo>
                  <a:pt x="388391" y="321716"/>
                </a:lnTo>
                <a:lnTo>
                  <a:pt x="440715" y="310159"/>
                </a:lnTo>
                <a:lnTo>
                  <a:pt x="481190" y="295224"/>
                </a:lnTo>
                <a:lnTo>
                  <a:pt x="516585" y="258089"/>
                </a:lnTo>
                <a:lnTo>
                  <a:pt x="516585" y="221221"/>
                </a:lnTo>
                <a:lnTo>
                  <a:pt x="516585" y="184353"/>
                </a:lnTo>
                <a:lnTo>
                  <a:pt x="516585" y="110617"/>
                </a:lnTo>
                <a:close/>
              </a:path>
              <a:path w="516890" h="701039">
                <a:moveTo>
                  <a:pt x="516585" y="73748"/>
                </a:moveTo>
                <a:lnTo>
                  <a:pt x="481317" y="36525"/>
                </a:lnTo>
                <a:lnTo>
                  <a:pt x="440931" y="21602"/>
                </a:lnTo>
                <a:lnTo>
                  <a:pt x="388658" y="10071"/>
                </a:lnTo>
                <a:lnTo>
                  <a:pt x="326961" y="2628"/>
                </a:lnTo>
                <a:lnTo>
                  <a:pt x="258292" y="0"/>
                </a:lnTo>
                <a:lnTo>
                  <a:pt x="189623" y="2628"/>
                </a:lnTo>
                <a:lnTo>
                  <a:pt x="127927" y="10071"/>
                </a:lnTo>
                <a:lnTo>
                  <a:pt x="75653" y="21602"/>
                </a:lnTo>
                <a:lnTo>
                  <a:pt x="35267" y="36525"/>
                </a:lnTo>
                <a:lnTo>
                  <a:pt x="0" y="73748"/>
                </a:lnTo>
                <a:lnTo>
                  <a:pt x="9220" y="93345"/>
                </a:lnTo>
                <a:lnTo>
                  <a:pt x="75653" y="125882"/>
                </a:lnTo>
                <a:lnTo>
                  <a:pt x="127927" y="137414"/>
                </a:lnTo>
                <a:lnTo>
                  <a:pt x="189623" y="144843"/>
                </a:lnTo>
                <a:lnTo>
                  <a:pt x="258292" y="147485"/>
                </a:lnTo>
                <a:lnTo>
                  <a:pt x="326961" y="144843"/>
                </a:lnTo>
                <a:lnTo>
                  <a:pt x="388658" y="137414"/>
                </a:lnTo>
                <a:lnTo>
                  <a:pt x="440931" y="125882"/>
                </a:lnTo>
                <a:lnTo>
                  <a:pt x="481317" y="110959"/>
                </a:lnTo>
                <a:lnTo>
                  <a:pt x="516585" y="73748"/>
                </a:lnTo>
                <a:close/>
              </a:path>
            </a:pathLst>
          </a:custGeom>
          <a:solidFill>
            <a:srgbClr val="9B9B9B"/>
          </a:solidFill>
        </p:spPr>
        <p:txBody>
          <a:bodyPr wrap="square" lIns="0" tIns="0" rIns="0" bIns="0" rtlCol="0"/>
          <a:lstStyle/>
          <a:p>
            <a:endParaRPr sz="2400"/>
          </a:p>
        </p:txBody>
      </p:sp>
      <p:grpSp>
        <p:nvGrpSpPr>
          <p:cNvPr id="7" name="object 7"/>
          <p:cNvGrpSpPr/>
          <p:nvPr/>
        </p:nvGrpSpPr>
        <p:grpSpPr>
          <a:xfrm>
            <a:off x="2468795" y="2001266"/>
            <a:ext cx="2617893" cy="2959100"/>
            <a:chOff x="1851596" y="1500949"/>
            <a:chExt cx="1963420" cy="2219325"/>
          </a:xfrm>
        </p:grpSpPr>
        <p:sp>
          <p:nvSpPr>
            <p:cNvPr id="8" name="object 8"/>
            <p:cNvSpPr/>
            <p:nvPr/>
          </p:nvSpPr>
          <p:spPr>
            <a:xfrm>
              <a:off x="2286000" y="1505711"/>
              <a:ext cx="1524000" cy="2209800"/>
            </a:xfrm>
            <a:custGeom>
              <a:avLst/>
              <a:gdLst/>
              <a:ahLst/>
              <a:cxnLst/>
              <a:rect l="l" t="t" r="r" b="b"/>
              <a:pathLst>
                <a:path w="1524000" h="2209800">
                  <a:moveTo>
                    <a:pt x="0" y="254000"/>
                  </a:moveTo>
                  <a:lnTo>
                    <a:pt x="4090" y="208328"/>
                  </a:lnTo>
                  <a:lnTo>
                    <a:pt x="15884" y="165349"/>
                  </a:lnTo>
                  <a:lnTo>
                    <a:pt x="34666" y="125777"/>
                  </a:lnTo>
                  <a:lnTo>
                    <a:pt x="59719" y="90328"/>
                  </a:lnTo>
                  <a:lnTo>
                    <a:pt x="90328" y="59719"/>
                  </a:lnTo>
                  <a:lnTo>
                    <a:pt x="125777" y="34666"/>
                  </a:lnTo>
                  <a:lnTo>
                    <a:pt x="165349" y="15884"/>
                  </a:lnTo>
                  <a:lnTo>
                    <a:pt x="208328" y="4090"/>
                  </a:lnTo>
                  <a:lnTo>
                    <a:pt x="254000" y="0"/>
                  </a:lnTo>
                  <a:lnTo>
                    <a:pt x="1270000" y="0"/>
                  </a:lnTo>
                  <a:lnTo>
                    <a:pt x="1315671" y="4090"/>
                  </a:lnTo>
                  <a:lnTo>
                    <a:pt x="1358650" y="15884"/>
                  </a:lnTo>
                  <a:lnTo>
                    <a:pt x="1398222" y="34666"/>
                  </a:lnTo>
                  <a:lnTo>
                    <a:pt x="1433671" y="59719"/>
                  </a:lnTo>
                  <a:lnTo>
                    <a:pt x="1464280" y="90328"/>
                  </a:lnTo>
                  <a:lnTo>
                    <a:pt x="1489333" y="125777"/>
                  </a:lnTo>
                  <a:lnTo>
                    <a:pt x="1508115" y="165349"/>
                  </a:lnTo>
                  <a:lnTo>
                    <a:pt x="1519909" y="208328"/>
                  </a:lnTo>
                  <a:lnTo>
                    <a:pt x="1524000" y="254000"/>
                  </a:lnTo>
                  <a:lnTo>
                    <a:pt x="1524000" y="1955800"/>
                  </a:lnTo>
                  <a:lnTo>
                    <a:pt x="1519909" y="2001471"/>
                  </a:lnTo>
                  <a:lnTo>
                    <a:pt x="1508115" y="2044450"/>
                  </a:lnTo>
                  <a:lnTo>
                    <a:pt x="1489333" y="2084022"/>
                  </a:lnTo>
                  <a:lnTo>
                    <a:pt x="1464280" y="2119471"/>
                  </a:lnTo>
                  <a:lnTo>
                    <a:pt x="1433671" y="2150080"/>
                  </a:lnTo>
                  <a:lnTo>
                    <a:pt x="1398222" y="2175133"/>
                  </a:lnTo>
                  <a:lnTo>
                    <a:pt x="1358650" y="2193915"/>
                  </a:lnTo>
                  <a:lnTo>
                    <a:pt x="1315671" y="2205709"/>
                  </a:lnTo>
                  <a:lnTo>
                    <a:pt x="1270000" y="2209800"/>
                  </a:lnTo>
                  <a:lnTo>
                    <a:pt x="254000" y="2209800"/>
                  </a:lnTo>
                  <a:lnTo>
                    <a:pt x="208328" y="2205709"/>
                  </a:lnTo>
                  <a:lnTo>
                    <a:pt x="165349" y="2193915"/>
                  </a:lnTo>
                  <a:lnTo>
                    <a:pt x="125777" y="2175133"/>
                  </a:lnTo>
                  <a:lnTo>
                    <a:pt x="90328" y="2150080"/>
                  </a:lnTo>
                  <a:lnTo>
                    <a:pt x="59719" y="2119471"/>
                  </a:lnTo>
                  <a:lnTo>
                    <a:pt x="34666" y="2084022"/>
                  </a:lnTo>
                  <a:lnTo>
                    <a:pt x="15884" y="2044450"/>
                  </a:lnTo>
                  <a:lnTo>
                    <a:pt x="4090" y="2001471"/>
                  </a:lnTo>
                  <a:lnTo>
                    <a:pt x="0" y="1955800"/>
                  </a:lnTo>
                  <a:lnTo>
                    <a:pt x="0" y="254000"/>
                  </a:lnTo>
                  <a:close/>
                </a:path>
              </a:pathLst>
            </a:custGeom>
            <a:ln w="9144">
              <a:solidFill>
                <a:srgbClr val="00C3FF"/>
              </a:solidFill>
            </a:ln>
          </p:spPr>
          <p:txBody>
            <a:bodyPr wrap="square" lIns="0" tIns="0" rIns="0" bIns="0" rtlCol="0"/>
            <a:lstStyle/>
            <a:p>
              <a:endParaRPr sz="2400"/>
            </a:p>
          </p:txBody>
        </p:sp>
        <p:sp>
          <p:nvSpPr>
            <p:cNvPr id="9" name="object 9"/>
            <p:cNvSpPr/>
            <p:nvPr/>
          </p:nvSpPr>
          <p:spPr>
            <a:xfrm>
              <a:off x="1864613" y="2184653"/>
              <a:ext cx="462280" cy="160020"/>
            </a:xfrm>
            <a:custGeom>
              <a:avLst/>
              <a:gdLst/>
              <a:ahLst/>
              <a:cxnLst/>
              <a:rect l="l" t="t" r="r" b="b"/>
              <a:pathLst>
                <a:path w="462280" h="160019">
                  <a:moveTo>
                    <a:pt x="381762" y="0"/>
                  </a:moveTo>
                  <a:lnTo>
                    <a:pt x="381762" y="40004"/>
                  </a:lnTo>
                  <a:lnTo>
                    <a:pt x="0" y="40004"/>
                  </a:lnTo>
                  <a:lnTo>
                    <a:pt x="0" y="120014"/>
                  </a:lnTo>
                  <a:lnTo>
                    <a:pt x="381762" y="120014"/>
                  </a:lnTo>
                  <a:lnTo>
                    <a:pt x="381762" y="160019"/>
                  </a:lnTo>
                  <a:lnTo>
                    <a:pt x="461772" y="80009"/>
                  </a:lnTo>
                  <a:lnTo>
                    <a:pt x="381762" y="0"/>
                  </a:lnTo>
                  <a:close/>
                </a:path>
              </a:pathLst>
            </a:custGeom>
            <a:solidFill>
              <a:srgbClr val="00C3FF"/>
            </a:solidFill>
          </p:spPr>
          <p:txBody>
            <a:bodyPr wrap="square" lIns="0" tIns="0" rIns="0" bIns="0" rtlCol="0"/>
            <a:lstStyle/>
            <a:p>
              <a:endParaRPr sz="2400"/>
            </a:p>
          </p:txBody>
        </p:sp>
        <p:sp>
          <p:nvSpPr>
            <p:cNvPr id="10" name="object 10"/>
            <p:cNvSpPr/>
            <p:nvPr/>
          </p:nvSpPr>
          <p:spPr>
            <a:xfrm>
              <a:off x="1864613" y="2184653"/>
              <a:ext cx="462280" cy="160020"/>
            </a:xfrm>
            <a:custGeom>
              <a:avLst/>
              <a:gdLst/>
              <a:ahLst/>
              <a:cxnLst/>
              <a:rect l="l" t="t" r="r" b="b"/>
              <a:pathLst>
                <a:path w="462280" h="160019">
                  <a:moveTo>
                    <a:pt x="0" y="40004"/>
                  </a:moveTo>
                  <a:lnTo>
                    <a:pt x="381762" y="40004"/>
                  </a:lnTo>
                  <a:lnTo>
                    <a:pt x="381762" y="0"/>
                  </a:lnTo>
                  <a:lnTo>
                    <a:pt x="461772" y="80009"/>
                  </a:lnTo>
                  <a:lnTo>
                    <a:pt x="381762" y="160019"/>
                  </a:lnTo>
                  <a:lnTo>
                    <a:pt x="381762" y="120014"/>
                  </a:lnTo>
                  <a:lnTo>
                    <a:pt x="0" y="120014"/>
                  </a:lnTo>
                  <a:lnTo>
                    <a:pt x="0" y="40004"/>
                  </a:lnTo>
                  <a:close/>
                </a:path>
              </a:pathLst>
            </a:custGeom>
            <a:ln w="25908">
              <a:solidFill>
                <a:srgbClr val="008FBB"/>
              </a:solidFill>
            </a:ln>
          </p:spPr>
          <p:txBody>
            <a:bodyPr wrap="square" lIns="0" tIns="0" rIns="0" bIns="0" rtlCol="0"/>
            <a:lstStyle/>
            <a:p>
              <a:endParaRPr sz="2400"/>
            </a:p>
          </p:txBody>
        </p:sp>
        <p:sp>
          <p:nvSpPr>
            <p:cNvPr id="11" name="object 11"/>
            <p:cNvSpPr/>
            <p:nvPr/>
          </p:nvSpPr>
          <p:spPr>
            <a:xfrm>
              <a:off x="1864613" y="2971037"/>
              <a:ext cx="462280" cy="160020"/>
            </a:xfrm>
            <a:custGeom>
              <a:avLst/>
              <a:gdLst/>
              <a:ahLst/>
              <a:cxnLst/>
              <a:rect l="l" t="t" r="r" b="b"/>
              <a:pathLst>
                <a:path w="462280" h="160019">
                  <a:moveTo>
                    <a:pt x="381762" y="0"/>
                  </a:moveTo>
                  <a:lnTo>
                    <a:pt x="381762" y="40005"/>
                  </a:lnTo>
                  <a:lnTo>
                    <a:pt x="0" y="40005"/>
                  </a:lnTo>
                  <a:lnTo>
                    <a:pt x="0" y="120014"/>
                  </a:lnTo>
                  <a:lnTo>
                    <a:pt x="381762" y="120014"/>
                  </a:lnTo>
                  <a:lnTo>
                    <a:pt x="381762" y="160019"/>
                  </a:lnTo>
                  <a:lnTo>
                    <a:pt x="461772" y="80010"/>
                  </a:lnTo>
                  <a:lnTo>
                    <a:pt x="381762" y="0"/>
                  </a:lnTo>
                  <a:close/>
                </a:path>
              </a:pathLst>
            </a:custGeom>
            <a:solidFill>
              <a:srgbClr val="00C3FF"/>
            </a:solidFill>
          </p:spPr>
          <p:txBody>
            <a:bodyPr wrap="square" lIns="0" tIns="0" rIns="0" bIns="0" rtlCol="0"/>
            <a:lstStyle/>
            <a:p>
              <a:endParaRPr sz="2400"/>
            </a:p>
          </p:txBody>
        </p:sp>
        <p:sp>
          <p:nvSpPr>
            <p:cNvPr id="12" name="object 12"/>
            <p:cNvSpPr/>
            <p:nvPr/>
          </p:nvSpPr>
          <p:spPr>
            <a:xfrm>
              <a:off x="1864613" y="2971037"/>
              <a:ext cx="462280" cy="160020"/>
            </a:xfrm>
            <a:custGeom>
              <a:avLst/>
              <a:gdLst/>
              <a:ahLst/>
              <a:cxnLst/>
              <a:rect l="l" t="t" r="r" b="b"/>
              <a:pathLst>
                <a:path w="462280" h="160019">
                  <a:moveTo>
                    <a:pt x="0" y="40005"/>
                  </a:moveTo>
                  <a:lnTo>
                    <a:pt x="381762" y="40005"/>
                  </a:lnTo>
                  <a:lnTo>
                    <a:pt x="381762" y="0"/>
                  </a:lnTo>
                  <a:lnTo>
                    <a:pt x="461772" y="80010"/>
                  </a:lnTo>
                  <a:lnTo>
                    <a:pt x="381762" y="160019"/>
                  </a:lnTo>
                  <a:lnTo>
                    <a:pt x="381762" y="120014"/>
                  </a:lnTo>
                  <a:lnTo>
                    <a:pt x="0" y="120014"/>
                  </a:lnTo>
                  <a:lnTo>
                    <a:pt x="0" y="40005"/>
                  </a:lnTo>
                  <a:close/>
                </a:path>
              </a:pathLst>
            </a:custGeom>
            <a:ln w="25908">
              <a:solidFill>
                <a:srgbClr val="008FBB"/>
              </a:solidFill>
            </a:ln>
          </p:spPr>
          <p:txBody>
            <a:bodyPr wrap="square" lIns="0" tIns="0" rIns="0" bIns="0" rtlCol="0"/>
            <a:lstStyle/>
            <a:p>
              <a:endParaRPr sz="2400"/>
            </a:p>
          </p:txBody>
        </p:sp>
        <p:sp>
          <p:nvSpPr>
            <p:cNvPr id="13" name="object 13"/>
            <p:cNvSpPr/>
            <p:nvPr/>
          </p:nvSpPr>
          <p:spPr>
            <a:xfrm>
              <a:off x="2518143" y="1803336"/>
              <a:ext cx="1202055" cy="1675764"/>
            </a:xfrm>
            <a:custGeom>
              <a:avLst/>
              <a:gdLst/>
              <a:ahLst/>
              <a:cxnLst/>
              <a:rect l="l" t="t" r="r" b="b"/>
              <a:pathLst>
                <a:path w="1202054" h="1675764">
                  <a:moveTo>
                    <a:pt x="564794" y="0"/>
                  </a:moveTo>
                  <a:lnTo>
                    <a:pt x="0" y="0"/>
                  </a:lnTo>
                  <a:lnTo>
                    <a:pt x="0" y="41973"/>
                  </a:lnTo>
                  <a:lnTo>
                    <a:pt x="0" y="127190"/>
                  </a:lnTo>
                  <a:lnTo>
                    <a:pt x="0" y="396849"/>
                  </a:lnTo>
                  <a:lnTo>
                    <a:pt x="564794" y="396849"/>
                  </a:lnTo>
                  <a:lnTo>
                    <a:pt x="564794" y="353999"/>
                  </a:lnTo>
                  <a:lnTo>
                    <a:pt x="564794" y="353606"/>
                  </a:lnTo>
                  <a:lnTo>
                    <a:pt x="564794" y="269011"/>
                  </a:lnTo>
                  <a:lnTo>
                    <a:pt x="522427" y="269011"/>
                  </a:lnTo>
                  <a:lnTo>
                    <a:pt x="522427" y="353606"/>
                  </a:lnTo>
                  <a:lnTo>
                    <a:pt x="381228" y="353606"/>
                  </a:lnTo>
                  <a:lnTo>
                    <a:pt x="381228" y="269011"/>
                  </a:lnTo>
                  <a:lnTo>
                    <a:pt x="352996" y="269011"/>
                  </a:lnTo>
                  <a:lnTo>
                    <a:pt x="352996" y="353606"/>
                  </a:lnTo>
                  <a:lnTo>
                    <a:pt x="211797" y="353606"/>
                  </a:lnTo>
                  <a:lnTo>
                    <a:pt x="211797" y="269011"/>
                  </a:lnTo>
                  <a:lnTo>
                    <a:pt x="183553" y="269011"/>
                  </a:lnTo>
                  <a:lnTo>
                    <a:pt x="183553" y="353606"/>
                  </a:lnTo>
                  <a:lnTo>
                    <a:pt x="42367" y="353606"/>
                  </a:lnTo>
                  <a:lnTo>
                    <a:pt x="42367" y="268389"/>
                  </a:lnTo>
                  <a:lnTo>
                    <a:pt x="564794" y="268389"/>
                  </a:lnTo>
                  <a:lnTo>
                    <a:pt x="564794" y="240690"/>
                  </a:lnTo>
                  <a:lnTo>
                    <a:pt x="564794" y="240398"/>
                  </a:lnTo>
                  <a:lnTo>
                    <a:pt x="564794" y="155714"/>
                  </a:lnTo>
                  <a:lnTo>
                    <a:pt x="522427" y="155714"/>
                  </a:lnTo>
                  <a:lnTo>
                    <a:pt x="522427" y="240398"/>
                  </a:lnTo>
                  <a:lnTo>
                    <a:pt x="381228" y="240398"/>
                  </a:lnTo>
                  <a:lnTo>
                    <a:pt x="381228" y="155714"/>
                  </a:lnTo>
                  <a:lnTo>
                    <a:pt x="352996" y="155714"/>
                  </a:lnTo>
                  <a:lnTo>
                    <a:pt x="352996" y="240398"/>
                  </a:lnTo>
                  <a:lnTo>
                    <a:pt x="211797" y="240398"/>
                  </a:lnTo>
                  <a:lnTo>
                    <a:pt x="211797" y="155714"/>
                  </a:lnTo>
                  <a:lnTo>
                    <a:pt x="183553" y="155714"/>
                  </a:lnTo>
                  <a:lnTo>
                    <a:pt x="183553" y="240398"/>
                  </a:lnTo>
                  <a:lnTo>
                    <a:pt x="42367" y="240398"/>
                  </a:lnTo>
                  <a:lnTo>
                    <a:pt x="42367" y="155181"/>
                  </a:lnTo>
                  <a:lnTo>
                    <a:pt x="564794" y="155181"/>
                  </a:lnTo>
                  <a:lnTo>
                    <a:pt x="564794" y="127381"/>
                  </a:lnTo>
                  <a:lnTo>
                    <a:pt x="564794" y="127190"/>
                  </a:lnTo>
                  <a:lnTo>
                    <a:pt x="564794" y="42405"/>
                  </a:lnTo>
                  <a:lnTo>
                    <a:pt x="522427" y="42405"/>
                  </a:lnTo>
                  <a:lnTo>
                    <a:pt x="522427" y="127190"/>
                  </a:lnTo>
                  <a:lnTo>
                    <a:pt x="381228" y="127190"/>
                  </a:lnTo>
                  <a:lnTo>
                    <a:pt x="381228" y="42405"/>
                  </a:lnTo>
                  <a:lnTo>
                    <a:pt x="352996" y="42405"/>
                  </a:lnTo>
                  <a:lnTo>
                    <a:pt x="352996" y="127190"/>
                  </a:lnTo>
                  <a:lnTo>
                    <a:pt x="211797" y="127190"/>
                  </a:lnTo>
                  <a:lnTo>
                    <a:pt x="211797" y="42405"/>
                  </a:lnTo>
                  <a:lnTo>
                    <a:pt x="183553" y="42405"/>
                  </a:lnTo>
                  <a:lnTo>
                    <a:pt x="183553" y="127190"/>
                  </a:lnTo>
                  <a:lnTo>
                    <a:pt x="42367" y="127190"/>
                  </a:lnTo>
                  <a:lnTo>
                    <a:pt x="42367" y="41973"/>
                  </a:lnTo>
                  <a:lnTo>
                    <a:pt x="564794" y="41973"/>
                  </a:lnTo>
                  <a:lnTo>
                    <a:pt x="564794" y="0"/>
                  </a:lnTo>
                  <a:close/>
                </a:path>
                <a:path w="1202054" h="1675764">
                  <a:moveTo>
                    <a:pt x="836066" y="1278636"/>
                  </a:moveTo>
                  <a:lnTo>
                    <a:pt x="271272" y="1278636"/>
                  </a:lnTo>
                  <a:lnTo>
                    <a:pt x="271272" y="1320609"/>
                  </a:lnTo>
                  <a:lnTo>
                    <a:pt x="271272" y="1405826"/>
                  </a:lnTo>
                  <a:lnTo>
                    <a:pt x="271272" y="1675485"/>
                  </a:lnTo>
                  <a:lnTo>
                    <a:pt x="836066" y="1675485"/>
                  </a:lnTo>
                  <a:lnTo>
                    <a:pt x="836066" y="1632635"/>
                  </a:lnTo>
                  <a:lnTo>
                    <a:pt x="836066" y="1632242"/>
                  </a:lnTo>
                  <a:lnTo>
                    <a:pt x="836066" y="1547647"/>
                  </a:lnTo>
                  <a:lnTo>
                    <a:pt x="793699" y="1547647"/>
                  </a:lnTo>
                  <a:lnTo>
                    <a:pt x="793699" y="1632242"/>
                  </a:lnTo>
                  <a:lnTo>
                    <a:pt x="652500" y="1632242"/>
                  </a:lnTo>
                  <a:lnTo>
                    <a:pt x="652500" y="1547647"/>
                  </a:lnTo>
                  <a:lnTo>
                    <a:pt x="624268" y="1547647"/>
                  </a:lnTo>
                  <a:lnTo>
                    <a:pt x="624268" y="1632242"/>
                  </a:lnTo>
                  <a:lnTo>
                    <a:pt x="483069" y="1632242"/>
                  </a:lnTo>
                  <a:lnTo>
                    <a:pt x="483069" y="1547647"/>
                  </a:lnTo>
                  <a:lnTo>
                    <a:pt x="454825" y="1547647"/>
                  </a:lnTo>
                  <a:lnTo>
                    <a:pt x="454825" y="1632242"/>
                  </a:lnTo>
                  <a:lnTo>
                    <a:pt x="313639" y="1632242"/>
                  </a:lnTo>
                  <a:lnTo>
                    <a:pt x="313639" y="1547025"/>
                  </a:lnTo>
                  <a:lnTo>
                    <a:pt x="836066" y="1547025"/>
                  </a:lnTo>
                  <a:lnTo>
                    <a:pt x="836066" y="1519326"/>
                  </a:lnTo>
                  <a:lnTo>
                    <a:pt x="836066" y="1519034"/>
                  </a:lnTo>
                  <a:lnTo>
                    <a:pt x="836066" y="1434350"/>
                  </a:lnTo>
                  <a:lnTo>
                    <a:pt x="793699" y="1434350"/>
                  </a:lnTo>
                  <a:lnTo>
                    <a:pt x="793699" y="1519034"/>
                  </a:lnTo>
                  <a:lnTo>
                    <a:pt x="652500" y="1519034"/>
                  </a:lnTo>
                  <a:lnTo>
                    <a:pt x="652500" y="1434350"/>
                  </a:lnTo>
                  <a:lnTo>
                    <a:pt x="624268" y="1434350"/>
                  </a:lnTo>
                  <a:lnTo>
                    <a:pt x="624268" y="1519034"/>
                  </a:lnTo>
                  <a:lnTo>
                    <a:pt x="483069" y="1519034"/>
                  </a:lnTo>
                  <a:lnTo>
                    <a:pt x="483069" y="1434350"/>
                  </a:lnTo>
                  <a:lnTo>
                    <a:pt x="454825" y="1434350"/>
                  </a:lnTo>
                  <a:lnTo>
                    <a:pt x="454825" y="1519034"/>
                  </a:lnTo>
                  <a:lnTo>
                    <a:pt x="313639" y="1519034"/>
                  </a:lnTo>
                  <a:lnTo>
                    <a:pt x="313639" y="1433817"/>
                  </a:lnTo>
                  <a:lnTo>
                    <a:pt x="836066" y="1433817"/>
                  </a:lnTo>
                  <a:lnTo>
                    <a:pt x="836066" y="1406017"/>
                  </a:lnTo>
                  <a:lnTo>
                    <a:pt x="836066" y="1405826"/>
                  </a:lnTo>
                  <a:lnTo>
                    <a:pt x="836066" y="1321041"/>
                  </a:lnTo>
                  <a:lnTo>
                    <a:pt x="793699" y="1321041"/>
                  </a:lnTo>
                  <a:lnTo>
                    <a:pt x="793699" y="1405826"/>
                  </a:lnTo>
                  <a:lnTo>
                    <a:pt x="652500" y="1405826"/>
                  </a:lnTo>
                  <a:lnTo>
                    <a:pt x="652500" y="1321041"/>
                  </a:lnTo>
                  <a:lnTo>
                    <a:pt x="624268" y="1321041"/>
                  </a:lnTo>
                  <a:lnTo>
                    <a:pt x="624268" y="1405826"/>
                  </a:lnTo>
                  <a:lnTo>
                    <a:pt x="483069" y="1405826"/>
                  </a:lnTo>
                  <a:lnTo>
                    <a:pt x="483069" y="1321041"/>
                  </a:lnTo>
                  <a:lnTo>
                    <a:pt x="454825" y="1321041"/>
                  </a:lnTo>
                  <a:lnTo>
                    <a:pt x="454825" y="1405826"/>
                  </a:lnTo>
                  <a:lnTo>
                    <a:pt x="313639" y="1405826"/>
                  </a:lnTo>
                  <a:lnTo>
                    <a:pt x="313639" y="1320609"/>
                  </a:lnTo>
                  <a:lnTo>
                    <a:pt x="836066" y="1320609"/>
                  </a:lnTo>
                  <a:lnTo>
                    <a:pt x="836066" y="1278636"/>
                  </a:lnTo>
                  <a:close/>
                </a:path>
                <a:path w="1202054" h="1675764">
                  <a:moveTo>
                    <a:pt x="1201699" y="491934"/>
                  </a:moveTo>
                  <a:lnTo>
                    <a:pt x="635647" y="491934"/>
                  </a:lnTo>
                  <a:lnTo>
                    <a:pt x="635647" y="533806"/>
                  </a:lnTo>
                  <a:lnTo>
                    <a:pt x="635647" y="618845"/>
                  </a:lnTo>
                  <a:lnTo>
                    <a:pt x="635647" y="887895"/>
                  </a:lnTo>
                  <a:lnTo>
                    <a:pt x="1201699" y="887895"/>
                  </a:lnTo>
                  <a:lnTo>
                    <a:pt x="1201699" y="845134"/>
                  </a:lnTo>
                  <a:lnTo>
                    <a:pt x="1201699" y="844753"/>
                  </a:lnTo>
                  <a:lnTo>
                    <a:pt x="1201699" y="760349"/>
                  </a:lnTo>
                  <a:lnTo>
                    <a:pt x="1159230" y="760349"/>
                  </a:lnTo>
                  <a:lnTo>
                    <a:pt x="1159230" y="844753"/>
                  </a:lnTo>
                  <a:lnTo>
                    <a:pt x="1017727" y="844753"/>
                  </a:lnTo>
                  <a:lnTo>
                    <a:pt x="1017727" y="760349"/>
                  </a:lnTo>
                  <a:lnTo>
                    <a:pt x="989418" y="760349"/>
                  </a:lnTo>
                  <a:lnTo>
                    <a:pt x="989418" y="844753"/>
                  </a:lnTo>
                  <a:lnTo>
                    <a:pt x="847915" y="844753"/>
                  </a:lnTo>
                  <a:lnTo>
                    <a:pt x="847915" y="760349"/>
                  </a:lnTo>
                  <a:lnTo>
                    <a:pt x="819607" y="760349"/>
                  </a:lnTo>
                  <a:lnTo>
                    <a:pt x="819607" y="844753"/>
                  </a:lnTo>
                  <a:lnTo>
                    <a:pt x="678103" y="844753"/>
                  </a:lnTo>
                  <a:lnTo>
                    <a:pt x="678103" y="759714"/>
                  </a:lnTo>
                  <a:lnTo>
                    <a:pt x="1201699" y="759714"/>
                  </a:lnTo>
                  <a:lnTo>
                    <a:pt x="1201699" y="732078"/>
                  </a:lnTo>
                  <a:lnTo>
                    <a:pt x="1201699" y="731799"/>
                  </a:lnTo>
                  <a:lnTo>
                    <a:pt x="1201699" y="647293"/>
                  </a:lnTo>
                  <a:lnTo>
                    <a:pt x="1159230" y="647293"/>
                  </a:lnTo>
                  <a:lnTo>
                    <a:pt x="1159230" y="731799"/>
                  </a:lnTo>
                  <a:lnTo>
                    <a:pt x="1017727" y="731799"/>
                  </a:lnTo>
                  <a:lnTo>
                    <a:pt x="1017727" y="647293"/>
                  </a:lnTo>
                  <a:lnTo>
                    <a:pt x="989418" y="647293"/>
                  </a:lnTo>
                  <a:lnTo>
                    <a:pt x="989418" y="731799"/>
                  </a:lnTo>
                  <a:lnTo>
                    <a:pt x="847915" y="731799"/>
                  </a:lnTo>
                  <a:lnTo>
                    <a:pt x="847915" y="647293"/>
                  </a:lnTo>
                  <a:lnTo>
                    <a:pt x="819607" y="647293"/>
                  </a:lnTo>
                  <a:lnTo>
                    <a:pt x="819607" y="731799"/>
                  </a:lnTo>
                  <a:lnTo>
                    <a:pt x="678103" y="731799"/>
                  </a:lnTo>
                  <a:lnTo>
                    <a:pt x="678103" y="646760"/>
                  </a:lnTo>
                  <a:lnTo>
                    <a:pt x="1201699" y="646760"/>
                  </a:lnTo>
                  <a:lnTo>
                    <a:pt x="1201699" y="619036"/>
                  </a:lnTo>
                  <a:lnTo>
                    <a:pt x="1201699" y="618845"/>
                  </a:lnTo>
                  <a:lnTo>
                    <a:pt x="1201699" y="534238"/>
                  </a:lnTo>
                  <a:lnTo>
                    <a:pt x="1159230" y="534238"/>
                  </a:lnTo>
                  <a:lnTo>
                    <a:pt x="1159230" y="618845"/>
                  </a:lnTo>
                  <a:lnTo>
                    <a:pt x="1017727" y="618845"/>
                  </a:lnTo>
                  <a:lnTo>
                    <a:pt x="1017727" y="534238"/>
                  </a:lnTo>
                  <a:lnTo>
                    <a:pt x="989418" y="534238"/>
                  </a:lnTo>
                  <a:lnTo>
                    <a:pt x="989418" y="618845"/>
                  </a:lnTo>
                  <a:lnTo>
                    <a:pt x="847915" y="618845"/>
                  </a:lnTo>
                  <a:lnTo>
                    <a:pt x="847915" y="534238"/>
                  </a:lnTo>
                  <a:lnTo>
                    <a:pt x="819607" y="534238"/>
                  </a:lnTo>
                  <a:lnTo>
                    <a:pt x="819607" y="618845"/>
                  </a:lnTo>
                  <a:lnTo>
                    <a:pt x="678103" y="618845"/>
                  </a:lnTo>
                  <a:lnTo>
                    <a:pt x="678103" y="533806"/>
                  </a:lnTo>
                  <a:lnTo>
                    <a:pt x="1201699" y="533806"/>
                  </a:lnTo>
                  <a:lnTo>
                    <a:pt x="1201699" y="491934"/>
                  </a:lnTo>
                  <a:close/>
                </a:path>
              </a:pathLst>
            </a:custGeom>
            <a:solidFill>
              <a:srgbClr val="BCBCBC"/>
            </a:solidFill>
          </p:spPr>
          <p:txBody>
            <a:bodyPr wrap="square" lIns="0" tIns="0" rIns="0" bIns="0" rtlCol="0"/>
            <a:lstStyle/>
            <a:p>
              <a:endParaRPr sz="2400"/>
            </a:p>
          </p:txBody>
        </p:sp>
      </p:grpSp>
      <p:sp>
        <p:nvSpPr>
          <p:cNvPr id="14" name="object 14"/>
          <p:cNvSpPr txBox="1"/>
          <p:nvPr/>
        </p:nvSpPr>
        <p:spPr>
          <a:xfrm>
            <a:off x="5473530" y="4948055"/>
            <a:ext cx="1876213" cy="672706"/>
          </a:xfrm>
          <a:prstGeom prst="rect">
            <a:avLst/>
          </a:prstGeom>
        </p:spPr>
        <p:txBody>
          <a:bodyPr vert="horz" wrap="square" lIns="0" tIns="16087" rIns="0" bIns="0" rtlCol="0">
            <a:spAutoFit/>
          </a:bodyPr>
          <a:lstStyle/>
          <a:p>
            <a:pPr algn="ctr">
              <a:spcBef>
                <a:spcPts val="127"/>
              </a:spcBef>
            </a:pPr>
            <a:r>
              <a:rPr sz="2133" dirty="0">
                <a:solidFill>
                  <a:srgbClr val="FFFFFF"/>
                </a:solidFill>
                <a:latin typeface="Calibri"/>
                <a:cs typeface="Calibri"/>
              </a:rPr>
              <a:t>Core</a:t>
            </a:r>
            <a:r>
              <a:rPr sz="2133" spc="-33" dirty="0">
                <a:solidFill>
                  <a:srgbClr val="FFFFFF"/>
                </a:solidFill>
                <a:latin typeface="Calibri"/>
                <a:cs typeface="Calibri"/>
              </a:rPr>
              <a:t> </a:t>
            </a:r>
            <a:r>
              <a:rPr sz="2133" spc="-67" dirty="0">
                <a:solidFill>
                  <a:srgbClr val="FFFFFF"/>
                </a:solidFill>
                <a:latin typeface="Calibri"/>
                <a:cs typeface="Calibri"/>
              </a:rPr>
              <a:t>/</a:t>
            </a:r>
            <a:endParaRPr sz="2133">
              <a:latin typeface="Calibri"/>
              <a:cs typeface="Calibri"/>
            </a:endParaRPr>
          </a:p>
          <a:p>
            <a:pPr algn="ctr">
              <a:spcBef>
                <a:spcPts val="13"/>
              </a:spcBef>
            </a:pPr>
            <a:r>
              <a:rPr sz="2133" dirty="0">
                <a:solidFill>
                  <a:srgbClr val="FFFFFF"/>
                </a:solidFill>
                <a:latin typeface="Calibri"/>
                <a:cs typeface="Calibri"/>
              </a:rPr>
              <a:t>Data</a:t>
            </a:r>
            <a:r>
              <a:rPr sz="2133" spc="-53" dirty="0">
                <a:solidFill>
                  <a:srgbClr val="FFFFFF"/>
                </a:solidFill>
                <a:latin typeface="Calibri"/>
                <a:cs typeface="Calibri"/>
              </a:rPr>
              <a:t> </a:t>
            </a:r>
            <a:r>
              <a:rPr sz="2133" spc="-13" dirty="0">
                <a:solidFill>
                  <a:srgbClr val="FFFFFF"/>
                </a:solidFill>
                <a:latin typeface="Calibri"/>
                <a:cs typeface="Calibri"/>
              </a:rPr>
              <a:t>Warehouse</a:t>
            </a:r>
            <a:endParaRPr sz="2133">
              <a:latin typeface="Calibri"/>
              <a:cs typeface="Calibri"/>
            </a:endParaRPr>
          </a:p>
        </p:txBody>
      </p:sp>
      <p:grpSp>
        <p:nvGrpSpPr>
          <p:cNvPr id="15" name="object 15"/>
          <p:cNvGrpSpPr/>
          <p:nvPr/>
        </p:nvGrpSpPr>
        <p:grpSpPr>
          <a:xfrm>
            <a:off x="5388610" y="2001266"/>
            <a:ext cx="2044700" cy="2959100"/>
            <a:chOff x="4041457" y="1500949"/>
            <a:chExt cx="1533525" cy="2219325"/>
          </a:xfrm>
        </p:grpSpPr>
        <p:sp>
          <p:nvSpPr>
            <p:cNvPr id="16" name="object 16"/>
            <p:cNvSpPr/>
            <p:nvPr/>
          </p:nvSpPr>
          <p:spPr>
            <a:xfrm>
              <a:off x="4046220" y="1505711"/>
              <a:ext cx="1524000" cy="2209800"/>
            </a:xfrm>
            <a:custGeom>
              <a:avLst/>
              <a:gdLst/>
              <a:ahLst/>
              <a:cxnLst/>
              <a:rect l="l" t="t" r="r" b="b"/>
              <a:pathLst>
                <a:path w="1524000" h="2209800">
                  <a:moveTo>
                    <a:pt x="0" y="254000"/>
                  </a:moveTo>
                  <a:lnTo>
                    <a:pt x="4090" y="208328"/>
                  </a:lnTo>
                  <a:lnTo>
                    <a:pt x="15884" y="165349"/>
                  </a:lnTo>
                  <a:lnTo>
                    <a:pt x="34666" y="125777"/>
                  </a:lnTo>
                  <a:lnTo>
                    <a:pt x="59719" y="90328"/>
                  </a:lnTo>
                  <a:lnTo>
                    <a:pt x="90328" y="59719"/>
                  </a:lnTo>
                  <a:lnTo>
                    <a:pt x="125777" y="34666"/>
                  </a:lnTo>
                  <a:lnTo>
                    <a:pt x="165349" y="15884"/>
                  </a:lnTo>
                  <a:lnTo>
                    <a:pt x="208328" y="4090"/>
                  </a:lnTo>
                  <a:lnTo>
                    <a:pt x="254000" y="0"/>
                  </a:lnTo>
                  <a:lnTo>
                    <a:pt x="1270000" y="0"/>
                  </a:lnTo>
                  <a:lnTo>
                    <a:pt x="1315671" y="4090"/>
                  </a:lnTo>
                  <a:lnTo>
                    <a:pt x="1358650" y="15884"/>
                  </a:lnTo>
                  <a:lnTo>
                    <a:pt x="1398222" y="34666"/>
                  </a:lnTo>
                  <a:lnTo>
                    <a:pt x="1433671" y="59719"/>
                  </a:lnTo>
                  <a:lnTo>
                    <a:pt x="1464280" y="90328"/>
                  </a:lnTo>
                  <a:lnTo>
                    <a:pt x="1489333" y="125777"/>
                  </a:lnTo>
                  <a:lnTo>
                    <a:pt x="1508115" y="165349"/>
                  </a:lnTo>
                  <a:lnTo>
                    <a:pt x="1519909" y="208328"/>
                  </a:lnTo>
                  <a:lnTo>
                    <a:pt x="1524000" y="254000"/>
                  </a:lnTo>
                  <a:lnTo>
                    <a:pt x="1524000" y="1955800"/>
                  </a:lnTo>
                  <a:lnTo>
                    <a:pt x="1519909" y="2001471"/>
                  </a:lnTo>
                  <a:lnTo>
                    <a:pt x="1508115" y="2044450"/>
                  </a:lnTo>
                  <a:lnTo>
                    <a:pt x="1489333" y="2084022"/>
                  </a:lnTo>
                  <a:lnTo>
                    <a:pt x="1464280" y="2119471"/>
                  </a:lnTo>
                  <a:lnTo>
                    <a:pt x="1433671" y="2150080"/>
                  </a:lnTo>
                  <a:lnTo>
                    <a:pt x="1398222" y="2175133"/>
                  </a:lnTo>
                  <a:lnTo>
                    <a:pt x="1358650" y="2193915"/>
                  </a:lnTo>
                  <a:lnTo>
                    <a:pt x="1315671" y="2205709"/>
                  </a:lnTo>
                  <a:lnTo>
                    <a:pt x="1270000" y="2209800"/>
                  </a:lnTo>
                  <a:lnTo>
                    <a:pt x="254000" y="2209800"/>
                  </a:lnTo>
                  <a:lnTo>
                    <a:pt x="208328" y="2205709"/>
                  </a:lnTo>
                  <a:lnTo>
                    <a:pt x="165349" y="2193915"/>
                  </a:lnTo>
                  <a:lnTo>
                    <a:pt x="125777" y="2175133"/>
                  </a:lnTo>
                  <a:lnTo>
                    <a:pt x="90328" y="2150080"/>
                  </a:lnTo>
                  <a:lnTo>
                    <a:pt x="59719" y="2119471"/>
                  </a:lnTo>
                  <a:lnTo>
                    <a:pt x="34666" y="2084022"/>
                  </a:lnTo>
                  <a:lnTo>
                    <a:pt x="15884" y="2044450"/>
                  </a:lnTo>
                  <a:lnTo>
                    <a:pt x="4090" y="2001471"/>
                  </a:lnTo>
                  <a:lnTo>
                    <a:pt x="0" y="1955800"/>
                  </a:lnTo>
                  <a:lnTo>
                    <a:pt x="0" y="254000"/>
                  </a:lnTo>
                  <a:close/>
                </a:path>
              </a:pathLst>
            </a:custGeom>
            <a:ln w="9144">
              <a:solidFill>
                <a:srgbClr val="00C3FF"/>
              </a:solidFill>
            </a:ln>
          </p:spPr>
          <p:txBody>
            <a:bodyPr wrap="square" lIns="0" tIns="0" rIns="0" bIns="0" rtlCol="0"/>
            <a:lstStyle/>
            <a:p>
              <a:endParaRPr sz="2400"/>
            </a:p>
          </p:txBody>
        </p:sp>
        <p:sp>
          <p:nvSpPr>
            <p:cNvPr id="17" name="object 17"/>
            <p:cNvSpPr/>
            <p:nvPr/>
          </p:nvSpPr>
          <p:spPr>
            <a:xfrm>
              <a:off x="4526775" y="1951164"/>
              <a:ext cx="581660" cy="1351280"/>
            </a:xfrm>
            <a:custGeom>
              <a:avLst/>
              <a:gdLst/>
              <a:ahLst/>
              <a:cxnLst/>
              <a:rect l="l" t="t" r="r" b="b"/>
              <a:pathLst>
                <a:path w="581660" h="1351279">
                  <a:moveTo>
                    <a:pt x="227647" y="1109738"/>
                  </a:moveTo>
                  <a:lnTo>
                    <a:pt x="199339" y="1109738"/>
                  </a:lnTo>
                  <a:lnTo>
                    <a:pt x="199339" y="1194714"/>
                  </a:lnTo>
                  <a:lnTo>
                    <a:pt x="227647" y="1194714"/>
                  </a:lnTo>
                  <a:lnTo>
                    <a:pt x="227647" y="1109738"/>
                  </a:lnTo>
                  <a:close/>
                </a:path>
                <a:path w="581660" h="1351279">
                  <a:moveTo>
                    <a:pt x="397459" y="1109738"/>
                  </a:moveTo>
                  <a:lnTo>
                    <a:pt x="369150" y="1109738"/>
                  </a:lnTo>
                  <a:lnTo>
                    <a:pt x="369150" y="1194714"/>
                  </a:lnTo>
                  <a:lnTo>
                    <a:pt x="397459" y="1194714"/>
                  </a:lnTo>
                  <a:lnTo>
                    <a:pt x="397459" y="1109738"/>
                  </a:lnTo>
                  <a:close/>
                </a:path>
                <a:path w="581660" h="1351279">
                  <a:moveTo>
                    <a:pt x="564794" y="0"/>
                  </a:moveTo>
                  <a:lnTo>
                    <a:pt x="0" y="0"/>
                  </a:lnTo>
                  <a:lnTo>
                    <a:pt x="0" y="41973"/>
                  </a:lnTo>
                  <a:lnTo>
                    <a:pt x="0" y="127190"/>
                  </a:lnTo>
                  <a:lnTo>
                    <a:pt x="0" y="764298"/>
                  </a:lnTo>
                  <a:lnTo>
                    <a:pt x="564794" y="764298"/>
                  </a:lnTo>
                  <a:lnTo>
                    <a:pt x="564794" y="496214"/>
                  </a:lnTo>
                  <a:lnTo>
                    <a:pt x="522427" y="496214"/>
                  </a:lnTo>
                  <a:lnTo>
                    <a:pt x="522427" y="524167"/>
                  </a:lnTo>
                  <a:lnTo>
                    <a:pt x="522427" y="608012"/>
                  </a:lnTo>
                  <a:lnTo>
                    <a:pt x="522427" y="637235"/>
                  </a:lnTo>
                  <a:lnTo>
                    <a:pt x="522427" y="721093"/>
                  </a:lnTo>
                  <a:lnTo>
                    <a:pt x="381228" y="721093"/>
                  </a:lnTo>
                  <a:lnTo>
                    <a:pt x="381228" y="637235"/>
                  </a:lnTo>
                  <a:lnTo>
                    <a:pt x="522427" y="637235"/>
                  </a:lnTo>
                  <a:lnTo>
                    <a:pt x="522427" y="608012"/>
                  </a:lnTo>
                  <a:lnTo>
                    <a:pt x="381228" y="608012"/>
                  </a:lnTo>
                  <a:lnTo>
                    <a:pt x="381228" y="524167"/>
                  </a:lnTo>
                  <a:lnTo>
                    <a:pt x="522427" y="524167"/>
                  </a:lnTo>
                  <a:lnTo>
                    <a:pt x="522427" y="496214"/>
                  </a:lnTo>
                  <a:lnTo>
                    <a:pt x="352996" y="496214"/>
                  </a:lnTo>
                  <a:lnTo>
                    <a:pt x="352996" y="524167"/>
                  </a:lnTo>
                  <a:lnTo>
                    <a:pt x="352996" y="608012"/>
                  </a:lnTo>
                  <a:lnTo>
                    <a:pt x="352996" y="637235"/>
                  </a:lnTo>
                  <a:lnTo>
                    <a:pt x="352996" y="721093"/>
                  </a:lnTo>
                  <a:lnTo>
                    <a:pt x="211797" y="721093"/>
                  </a:lnTo>
                  <a:lnTo>
                    <a:pt x="211797" y="637235"/>
                  </a:lnTo>
                  <a:lnTo>
                    <a:pt x="352996" y="637235"/>
                  </a:lnTo>
                  <a:lnTo>
                    <a:pt x="352996" y="608012"/>
                  </a:lnTo>
                  <a:lnTo>
                    <a:pt x="211797" y="608012"/>
                  </a:lnTo>
                  <a:lnTo>
                    <a:pt x="211797" y="524167"/>
                  </a:lnTo>
                  <a:lnTo>
                    <a:pt x="352996" y="524167"/>
                  </a:lnTo>
                  <a:lnTo>
                    <a:pt x="352996" y="496214"/>
                  </a:lnTo>
                  <a:lnTo>
                    <a:pt x="183553" y="496214"/>
                  </a:lnTo>
                  <a:lnTo>
                    <a:pt x="183553" y="524167"/>
                  </a:lnTo>
                  <a:lnTo>
                    <a:pt x="183553" y="608012"/>
                  </a:lnTo>
                  <a:lnTo>
                    <a:pt x="183553" y="637235"/>
                  </a:lnTo>
                  <a:lnTo>
                    <a:pt x="183553" y="721093"/>
                  </a:lnTo>
                  <a:lnTo>
                    <a:pt x="42367" y="721093"/>
                  </a:lnTo>
                  <a:lnTo>
                    <a:pt x="42367" y="637235"/>
                  </a:lnTo>
                  <a:lnTo>
                    <a:pt x="183553" y="637235"/>
                  </a:lnTo>
                  <a:lnTo>
                    <a:pt x="183553" y="608012"/>
                  </a:lnTo>
                  <a:lnTo>
                    <a:pt x="42367" y="608012"/>
                  </a:lnTo>
                  <a:lnTo>
                    <a:pt x="42367" y="524167"/>
                  </a:lnTo>
                  <a:lnTo>
                    <a:pt x="183553" y="524167"/>
                  </a:lnTo>
                  <a:lnTo>
                    <a:pt x="183553" y="496214"/>
                  </a:lnTo>
                  <a:lnTo>
                    <a:pt x="42367" y="496214"/>
                  </a:lnTo>
                  <a:lnTo>
                    <a:pt x="42367" y="411086"/>
                  </a:lnTo>
                  <a:lnTo>
                    <a:pt x="183553" y="411086"/>
                  </a:lnTo>
                  <a:lnTo>
                    <a:pt x="183553" y="495592"/>
                  </a:lnTo>
                  <a:lnTo>
                    <a:pt x="211797" y="495592"/>
                  </a:lnTo>
                  <a:lnTo>
                    <a:pt x="211797" y="411086"/>
                  </a:lnTo>
                  <a:lnTo>
                    <a:pt x="352996" y="411086"/>
                  </a:lnTo>
                  <a:lnTo>
                    <a:pt x="352996" y="495592"/>
                  </a:lnTo>
                  <a:lnTo>
                    <a:pt x="381228" y="495592"/>
                  </a:lnTo>
                  <a:lnTo>
                    <a:pt x="381228" y="411086"/>
                  </a:lnTo>
                  <a:lnTo>
                    <a:pt x="522427" y="411086"/>
                  </a:lnTo>
                  <a:lnTo>
                    <a:pt x="522427" y="495592"/>
                  </a:lnTo>
                  <a:lnTo>
                    <a:pt x="564794" y="495592"/>
                  </a:lnTo>
                  <a:lnTo>
                    <a:pt x="564794" y="269011"/>
                  </a:lnTo>
                  <a:lnTo>
                    <a:pt x="522427" y="269011"/>
                  </a:lnTo>
                  <a:lnTo>
                    <a:pt x="522427" y="353606"/>
                  </a:lnTo>
                  <a:lnTo>
                    <a:pt x="381228" y="353606"/>
                  </a:lnTo>
                  <a:lnTo>
                    <a:pt x="381228" y="269011"/>
                  </a:lnTo>
                  <a:lnTo>
                    <a:pt x="352996" y="269011"/>
                  </a:lnTo>
                  <a:lnTo>
                    <a:pt x="352996" y="353606"/>
                  </a:lnTo>
                  <a:lnTo>
                    <a:pt x="211797" y="353606"/>
                  </a:lnTo>
                  <a:lnTo>
                    <a:pt x="211797" y="269011"/>
                  </a:lnTo>
                  <a:lnTo>
                    <a:pt x="183553" y="269011"/>
                  </a:lnTo>
                  <a:lnTo>
                    <a:pt x="183553" y="353606"/>
                  </a:lnTo>
                  <a:lnTo>
                    <a:pt x="42367" y="353606"/>
                  </a:lnTo>
                  <a:lnTo>
                    <a:pt x="42367" y="268389"/>
                  </a:lnTo>
                  <a:lnTo>
                    <a:pt x="564794" y="268389"/>
                  </a:lnTo>
                  <a:lnTo>
                    <a:pt x="564794" y="240690"/>
                  </a:lnTo>
                  <a:lnTo>
                    <a:pt x="564794" y="240398"/>
                  </a:lnTo>
                  <a:lnTo>
                    <a:pt x="564794" y="155714"/>
                  </a:lnTo>
                  <a:lnTo>
                    <a:pt x="522427" y="155714"/>
                  </a:lnTo>
                  <a:lnTo>
                    <a:pt x="522427" y="240398"/>
                  </a:lnTo>
                  <a:lnTo>
                    <a:pt x="381228" y="240398"/>
                  </a:lnTo>
                  <a:lnTo>
                    <a:pt x="381228" y="155714"/>
                  </a:lnTo>
                  <a:lnTo>
                    <a:pt x="352996" y="155714"/>
                  </a:lnTo>
                  <a:lnTo>
                    <a:pt x="352996" y="240398"/>
                  </a:lnTo>
                  <a:lnTo>
                    <a:pt x="211797" y="240398"/>
                  </a:lnTo>
                  <a:lnTo>
                    <a:pt x="211797" y="155714"/>
                  </a:lnTo>
                  <a:lnTo>
                    <a:pt x="183553" y="155714"/>
                  </a:lnTo>
                  <a:lnTo>
                    <a:pt x="183553" y="240398"/>
                  </a:lnTo>
                  <a:lnTo>
                    <a:pt x="42367" y="240398"/>
                  </a:lnTo>
                  <a:lnTo>
                    <a:pt x="42367" y="155181"/>
                  </a:lnTo>
                  <a:lnTo>
                    <a:pt x="564794" y="155181"/>
                  </a:lnTo>
                  <a:lnTo>
                    <a:pt x="564794" y="127381"/>
                  </a:lnTo>
                  <a:lnTo>
                    <a:pt x="564794" y="127190"/>
                  </a:lnTo>
                  <a:lnTo>
                    <a:pt x="564794" y="42405"/>
                  </a:lnTo>
                  <a:lnTo>
                    <a:pt x="522427" y="42405"/>
                  </a:lnTo>
                  <a:lnTo>
                    <a:pt x="522427" y="127190"/>
                  </a:lnTo>
                  <a:lnTo>
                    <a:pt x="381228" y="127190"/>
                  </a:lnTo>
                  <a:lnTo>
                    <a:pt x="381228" y="42405"/>
                  </a:lnTo>
                  <a:lnTo>
                    <a:pt x="352996" y="42405"/>
                  </a:lnTo>
                  <a:lnTo>
                    <a:pt x="352996" y="127190"/>
                  </a:lnTo>
                  <a:lnTo>
                    <a:pt x="211797" y="127190"/>
                  </a:lnTo>
                  <a:lnTo>
                    <a:pt x="211797" y="42405"/>
                  </a:lnTo>
                  <a:lnTo>
                    <a:pt x="183553" y="42405"/>
                  </a:lnTo>
                  <a:lnTo>
                    <a:pt x="183553" y="127190"/>
                  </a:lnTo>
                  <a:lnTo>
                    <a:pt x="42367" y="127190"/>
                  </a:lnTo>
                  <a:lnTo>
                    <a:pt x="42367" y="41973"/>
                  </a:lnTo>
                  <a:lnTo>
                    <a:pt x="564794" y="41973"/>
                  </a:lnTo>
                  <a:lnTo>
                    <a:pt x="564794" y="0"/>
                  </a:lnTo>
                  <a:close/>
                </a:path>
                <a:path w="581660" h="1351279">
                  <a:moveTo>
                    <a:pt x="581431" y="1109738"/>
                  </a:moveTo>
                  <a:lnTo>
                    <a:pt x="538962" y="1109738"/>
                  </a:lnTo>
                  <a:lnTo>
                    <a:pt x="538962" y="1194714"/>
                  </a:lnTo>
                  <a:lnTo>
                    <a:pt x="581431" y="1194714"/>
                  </a:lnTo>
                  <a:lnTo>
                    <a:pt x="581431" y="1109738"/>
                  </a:lnTo>
                  <a:close/>
                </a:path>
                <a:path w="581660" h="1351279">
                  <a:moveTo>
                    <a:pt x="581431" y="953350"/>
                  </a:moveTo>
                  <a:lnTo>
                    <a:pt x="15379" y="953350"/>
                  </a:lnTo>
                  <a:lnTo>
                    <a:pt x="15379" y="996556"/>
                  </a:lnTo>
                  <a:lnTo>
                    <a:pt x="15379" y="1081684"/>
                  </a:lnTo>
                  <a:lnTo>
                    <a:pt x="15379" y="1351038"/>
                  </a:lnTo>
                  <a:lnTo>
                    <a:pt x="581431" y="1351038"/>
                  </a:lnTo>
                  <a:lnTo>
                    <a:pt x="581431" y="1308023"/>
                  </a:lnTo>
                  <a:lnTo>
                    <a:pt x="581431" y="1307833"/>
                  </a:lnTo>
                  <a:lnTo>
                    <a:pt x="581431" y="1223035"/>
                  </a:lnTo>
                  <a:lnTo>
                    <a:pt x="538962" y="1223035"/>
                  </a:lnTo>
                  <a:lnTo>
                    <a:pt x="538962" y="1307833"/>
                  </a:lnTo>
                  <a:lnTo>
                    <a:pt x="397459" y="1307833"/>
                  </a:lnTo>
                  <a:lnTo>
                    <a:pt x="397459" y="1223035"/>
                  </a:lnTo>
                  <a:lnTo>
                    <a:pt x="369150" y="1223035"/>
                  </a:lnTo>
                  <a:lnTo>
                    <a:pt x="369150" y="1307833"/>
                  </a:lnTo>
                  <a:lnTo>
                    <a:pt x="227647" y="1307833"/>
                  </a:lnTo>
                  <a:lnTo>
                    <a:pt x="227647" y="1223035"/>
                  </a:lnTo>
                  <a:lnTo>
                    <a:pt x="199339" y="1223035"/>
                  </a:lnTo>
                  <a:lnTo>
                    <a:pt x="199339" y="1307833"/>
                  </a:lnTo>
                  <a:lnTo>
                    <a:pt x="57835" y="1307833"/>
                  </a:lnTo>
                  <a:lnTo>
                    <a:pt x="57835" y="1222705"/>
                  </a:lnTo>
                  <a:lnTo>
                    <a:pt x="581431" y="1222705"/>
                  </a:lnTo>
                  <a:lnTo>
                    <a:pt x="581431" y="1194752"/>
                  </a:lnTo>
                  <a:lnTo>
                    <a:pt x="57835" y="1194752"/>
                  </a:lnTo>
                  <a:lnTo>
                    <a:pt x="57835" y="1109637"/>
                  </a:lnTo>
                  <a:lnTo>
                    <a:pt x="581431" y="1109637"/>
                  </a:lnTo>
                  <a:lnTo>
                    <a:pt x="581431" y="1081684"/>
                  </a:lnTo>
                  <a:lnTo>
                    <a:pt x="57835" y="1081684"/>
                  </a:lnTo>
                  <a:lnTo>
                    <a:pt x="57835" y="996556"/>
                  </a:lnTo>
                  <a:lnTo>
                    <a:pt x="199339" y="996556"/>
                  </a:lnTo>
                  <a:lnTo>
                    <a:pt x="199339" y="1081405"/>
                  </a:lnTo>
                  <a:lnTo>
                    <a:pt x="227647" y="1081405"/>
                  </a:lnTo>
                  <a:lnTo>
                    <a:pt x="227647" y="996556"/>
                  </a:lnTo>
                  <a:lnTo>
                    <a:pt x="369150" y="996556"/>
                  </a:lnTo>
                  <a:lnTo>
                    <a:pt x="369150" y="1081405"/>
                  </a:lnTo>
                  <a:lnTo>
                    <a:pt x="397459" y="1081405"/>
                  </a:lnTo>
                  <a:lnTo>
                    <a:pt x="397459" y="996556"/>
                  </a:lnTo>
                  <a:lnTo>
                    <a:pt x="538962" y="996556"/>
                  </a:lnTo>
                  <a:lnTo>
                    <a:pt x="538962" y="1081405"/>
                  </a:lnTo>
                  <a:lnTo>
                    <a:pt x="581431" y="1081405"/>
                  </a:lnTo>
                  <a:lnTo>
                    <a:pt x="581431" y="996556"/>
                  </a:lnTo>
                  <a:lnTo>
                    <a:pt x="581431" y="996429"/>
                  </a:lnTo>
                  <a:lnTo>
                    <a:pt x="581431" y="953350"/>
                  </a:lnTo>
                  <a:close/>
                </a:path>
              </a:pathLst>
            </a:custGeom>
            <a:solidFill>
              <a:srgbClr val="BCBCBC"/>
            </a:solidFill>
          </p:spPr>
          <p:txBody>
            <a:bodyPr wrap="square" lIns="0" tIns="0" rIns="0" bIns="0" rtlCol="0"/>
            <a:lstStyle/>
            <a:p>
              <a:endParaRPr sz="2400"/>
            </a:p>
          </p:txBody>
        </p:sp>
      </p:grpSp>
      <p:sp>
        <p:nvSpPr>
          <p:cNvPr id="18" name="object 18"/>
          <p:cNvSpPr txBox="1"/>
          <p:nvPr/>
        </p:nvSpPr>
        <p:spPr>
          <a:xfrm>
            <a:off x="8219610" y="3444850"/>
            <a:ext cx="1355513"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Data</a:t>
            </a:r>
            <a:r>
              <a:rPr sz="2133" spc="-33" dirty="0">
                <a:solidFill>
                  <a:srgbClr val="FFFFFF"/>
                </a:solidFill>
                <a:latin typeface="Calibri"/>
                <a:cs typeface="Calibri"/>
              </a:rPr>
              <a:t> </a:t>
            </a:r>
            <a:r>
              <a:rPr sz="2133" dirty="0">
                <a:solidFill>
                  <a:srgbClr val="FFFFFF"/>
                </a:solidFill>
                <a:latin typeface="Calibri"/>
                <a:cs typeface="Calibri"/>
              </a:rPr>
              <a:t>Mart</a:t>
            </a:r>
            <a:r>
              <a:rPr sz="2133" spc="-20" dirty="0">
                <a:solidFill>
                  <a:srgbClr val="FFFFFF"/>
                </a:solidFill>
                <a:latin typeface="Calibri"/>
                <a:cs typeface="Calibri"/>
              </a:rPr>
              <a:t> </a:t>
            </a:r>
            <a:r>
              <a:rPr sz="2133" spc="-67" dirty="0">
                <a:solidFill>
                  <a:srgbClr val="FFFFFF"/>
                </a:solidFill>
                <a:latin typeface="Calibri"/>
                <a:cs typeface="Calibri"/>
              </a:rPr>
              <a:t>1</a:t>
            </a:r>
            <a:endParaRPr sz="2133">
              <a:latin typeface="Calibri"/>
              <a:cs typeface="Calibri"/>
            </a:endParaRPr>
          </a:p>
        </p:txBody>
      </p:sp>
      <p:grpSp>
        <p:nvGrpSpPr>
          <p:cNvPr id="19" name="object 19"/>
          <p:cNvGrpSpPr/>
          <p:nvPr/>
        </p:nvGrpSpPr>
        <p:grpSpPr>
          <a:xfrm>
            <a:off x="5021071" y="1660144"/>
            <a:ext cx="5344160" cy="3769360"/>
            <a:chOff x="3765803" y="1245108"/>
            <a:chExt cx="4008120" cy="2827020"/>
          </a:xfrm>
        </p:grpSpPr>
        <p:sp>
          <p:nvSpPr>
            <p:cNvPr id="20" name="object 20"/>
            <p:cNvSpPr/>
            <p:nvPr/>
          </p:nvSpPr>
          <p:spPr>
            <a:xfrm>
              <a:off x="5910071" y="1249680"/>
              <a:ext cx="1524000" cy="1336675"/>
            </a:xfrm>
            <a:custGeom>
              <a:avLst/>
              <a:gdLst/>
              <a:ahLst/>
              <a:cxnLst/>
              <a:rect l="l" t="t" r="r" b="b"/>
              <a:pathLst>
                <a:path w="1524000" h="1336675">
                  <a:moveTo>
                    <a:pt x="0" y="222758"/>
                  </a:moveTo>
                  <a:lnTo>
                    <a:pt x="4524" y="177853"/>
                  </a:lnTo>
                  <a:lnTo>
                    <a:pt x="17500" y="136034"/>
                  </a:lnTo>
                  <a:lnTo>
                    <a:pt x="38033" y="98195"/>
                  </a:lnTo>
                  <a:lnTo>
                    <a:pt x="65230" y="65230"/>
                  </a:lnTo>
                  <a:lnTo>
                    <a:pt x="98195" y="38033"/>
                  </a:lnTo>
                  <a:lnTo>
                    <a:pt x="136034" y="17500"/>
                  </a:lnTo>
                  <a:lnTo>
                    <a:pt x="177853" y="4524"/>
                  </a:lnTo>
                  <a:lnTo>
                    <a:pt x="222757" y="0"/>
                  </a:lnTo>
                  <a:lnTo>
                    <a:pt x="1301242" y="0"/>
                  </a:lnTo>
                  <a:lnTo>
                    <a:pt x="1346146" y="4524"/>
                  </a:lnTo>
                  <a:lnTo>
                    <a:pt x="1387965" y="17500"/>
                  </a:lnTo>
                  <a:lnTo>
                    <a:pt x="1425804" y="38033"/>
                  </a:lnTo>
                  <a:lnTo>
                    <a:pt x="1458769" y="65230"/>
                  </a:lnTo>
                  <a:lnTo>
                    <a:pt x="1485966" y="98195"/>
                  </a:lnTo>
                  <a:lnTo>
                    <a:pt x="1506499" y="136034"/>
                  </a:lnTo>
                  <a:lnTo>
                    <a:pt x="1519475" y="177853"/>
                  </a:lnTo>
                  <a:lnTo>
                    <a:pt x="1524000" y="222758"/>
                  </a:lnTo>
                  <a:lnTo>
                    <a:pt x="1524000" y="1113790"/>
                  </a:lnTo>
                  <a:lnTo>
                    <a:pt x="1519475" y="1158694"/>
                  </a:lnTo>
                  <a:lnTo>
                    <a:pt x="1506499" y="1200513"/>
                  </a:lnTo>
                  <a:lnTo>
                    <a:pt x="1485966" y="1238352"/>
                  </a:lnTo>
                  <a:lnTo>
                    <a:pt x="1458769" y="1271317"/>
                  </a:lnTo>
                  <a:lnTo>
                    <a:pt x="1425804" y="1298514"/>
                  </a:lnTo>
                  <a:lnTo>
                    <a:pt x="1387965" y="1319047"/>
                  </a:lnTo>
                  <a:lnTo>
                    <a:pt x="1346146" y="1332023"/>
                  </a:lnTo>
                  <a:lnTo>
                    <a:pt x="1301242" y="1336548"/>
                  </a:lnTo>
                  <a:lnTo>
                    <a:pt x="222757" y="1336548"/>
                  </a:lnTo>
                  <a:lnTo>
                    <a:pt x="177853" y="1332023"/>
                  </a:lnTo>
                  <a:lnTo>
                    <a:pt x="136034" y="1319047"/>
                  </a:lnTo>
                  <a:lnTo>
                    <a:pt x="98195" y="1298514"/>
                  </a:lnTo>
                  <a:lnTo>
                    <a:pt x="65230" y="1271317"/>
                  </a:lnTo>
                  <a:lnTo>
                    <a:pt x="38033" y="1238352"/>
                  </a:lnTo>
                  <a:lnTo>
                    <a:pt x="17500" y="1200513"/>
                  </a:lnTo>
                  <a:lnTo>
                    <a:pt x="4524" y="1158694"/>
                  </a:lnTo>
                  <a:lnTo>
                    <a:pt x="0" y="1113790"/>
                  </a:lnTo>
                  <a:lnTo>
                    <a:pt x="0" y="222758"/>
                  </a:lnTo>
                  <a:close/>
                </a:path>
              </a:pathLst>
            </a:custGeom>
            <a:ln w="9144">
              <a:solidFill>
                <a:srgbClr val="00C3FF"/>
              </a:solidFill>
            </a:ln>
          </p:spPr>
          <p:txBody>
            <a:bodyPr wrap="square" lIns="0" tIns="0" rIns="0" bIns="0" rtlCol="0"/>
            <a:lstStyle/>
            <a:p>
              <a:endParaRPr sz="2400"/>
            </a:p>
          </p:txBody>
        </p:sp>
        <p:sp>
          <p:nvSpPr>
            <p:cNvPr id="21" name="object 21"/>
            <p:cNvSpPr/>
            <p:nvPr/>
          </p:nvSpPr>
          <p:spPr>
            <a:xfrm>
              <a:off x="6095733" y="1432267"/>
              <a:ext cx="1254760" cy="1022985"/>
            </a:xfrm>
            <a:custGeom>
              <a:avLst/>
              <a:gdLst/>
              <a:ahLst/>
              <a:cxnLst/>
              <a:rect l="l" t="t" r="r" b="b"/>
              <a:pathLst>
                <a:path w="1254759" h="1022985">
                  <a:moveTo>
                    <a:pt x="347662" y="780288"/>
                  </a:moveTo>
                  <a:lnTo>
                    <a:pt x="0" y="780288"/>
                  </a:lnTo>
                  <a:lnTo>
                    <a:pt x="0" y="806919"/>
                  </a:lnTo>
                  <a:lnTo>
                    <a:pt x="0" y="858913"/>
                  </a:lnTo>
                  <a:lnTo>
                    <a:pt x="0" y="1022515"/>
                  </a:lnTo>
                  <a:lnTo>
                    <a:pt x="347662" y="1022515"/>
                  </a:lnTo>
                  <a:lnTo>
                    <a:pt x="347662" y="997153"/>
                  </a:lnTo>
                  <a:lnTo>
                    <a:pt x="26073" y="997153"/>
                  </a:lnTo>
                  <a:lnTo>
                    <a:pt x="26073" y="945159"/>
                  </a:lnTo>
                  <a:lnTo>
                    <a:pt x="112979" y="945159"/>
                  </a:lnTo>
                  <a:lnTo>
                    <a:pt x="112979" y="997115"/>
                  </a:lnTo>
                  <a:lnTo>
                    <a:pt x="130365" y="997115"/>
                  </a:lnTo>
                  <a:lnTo>
                    <a:pt x="130365" y="945159"/>
                  </a:lnTo>
                  <a:lnTo>
                    <a:pt x="217284" y="945159"/>
                  </a:lnTo>
                  <a:lnTo>
                    <a:pt x="217284" y="997115"/>
                  </a:lnTo>
                  <a:lnTo>
                    <a:pt x="234657" y="997115"/>
                  </a:lnTo>
                  <a:lnTo>
                    <a:pt x="234657" y="945159"/>
                  </a:lnTo>
                  <a:lnTo>
                    <a:pt x="321576" y="945159"/>
                  </a:lnTo>
                  <a:lnTo>
                    <a:pt x="321576" y="997115"/>
                  </a:lnTo>
                  <a:lnTo>
                    <a:pt x="347662" y="997115"/>
                  </a:lnTo>
                  <a:lnTo>
                    <a:pt x="347662" y="875766"/>
                  </a:lnTo>
                  <a:lnTo>
                    <a:pt x="321576" y="875766"/>
                  </a:lnTo>
                  <a:lnTo>
                    <a:pt x="321576" y="927404"/>
                  </a:lnTo>
                  <a:lnTo>
                    <a:pt x="234657" y="927404"/>
                  </a:lnTo>
                  <a:lnTo>
                    <a:pt x="234657" y="875766"/>
                  </a:lnTo>
                  <a:lnTo>
                    <a:pt x="217284" y="875766"/>
                  </a:lnTo>
                  <a:lnTo>
                    <a:pt x="217284" y="927404"/>
                  </a:lnTo>
                  <a:lnTo>
                    <a:pt x="130365" y="927404"/>
                  </a:lnTo>
                  <a:lnTo>
                    <a:pt x="130365" y="875766"/>
                  </a:lnTo>
                  <a:lnTo>
                    <a:pt x="112979" y="875766"/>
                  </a:lnTo>
                  <a:lnTo>
                    <a:pt x="112979" y="927404"/>
                  </a:lnTo>
                  <a:lnTo>
                    <a:pt x="26073" y="927404"/>
                  </a:lnTo>
                  <a:lnTo>
                    <a:pt x="26073" y="875398"/>
                  </a:lnTo>
                  <a:lnTo>
                    <a:pt x="347662" y="875398"/>
                  </a:lnTo>
                  <a:lnTo>
                    <a:pt x="347662" y="858913"/>
                  </a:lnTo>
                  <a:lnTo>
                    <a:pt x="26073" y="858913"/>
                  </a:lnTo>
                  <a:lnTo>
                    <a:pt x="26073" y="806919"/>
                  </a:lnTo>
                  <a:lnTo>
                    <a:pt x="112979" y="806919"/>
                  </a:lnTo>
                  <a:lnTo>
                    <a:pt x="112979" y="858431"/>
                  </a:lnTo>
                  <a:lnTo>
                    <a:pt x="130365" y="858431"/>
                  </a:lnTo>
                  <a:lnTo>
                    <a:pt x="130365" y="806919"/>
                  </a:lnTo>
                  <a:lnTo>
                    <a:pt x="217284" y="806919"/>
                  </a:lnTo>
                  <a:lnTo>
                    <a:pt x="217284" y="858431"/>
                  </a:lnTo>
                  <a:lnTo>
                    <a:pt x="234657" y="858431"/>
                  </a:lnTo>
                  <a:lnTo>
                    <a:pt x="234657" y="806919"/>
                  </a:lnTo>
                  <a:lnTo>
                    <a:pt x="321576" y="806919"/>
                  </a:lnTo>
                  <a:lnTo>
                    <a:pt x="321576" y="858431"/>
                  </a:lnTo>
                  <a:lnTo>
                    <a:pt x="347662" y="858431"/>
                  </a:lnTo>
                  <a:lnTo>
                    <a:pt x="347662" y="806919"/>
                  </a:lnTo>
                  <a:lnTo>
                    <a:pt x="347662" y="806424"/>
                  </a:lnTo>
                  <a:lnTo>
                    <a:pt x="347662" y="780288"/>
                  </a:lnTo>
                  <a:close/>
                </a:path>
                <a:path w="1254759" h="1022985">
                  <a:moveTo>
                    <a:pt x="347662" y="0"/>
                  </a:moveTo>
                  <a:lnTo>
                    <a:pt x="0" y="0"/>
                  </a:lnTo>
                  <a:lnTo>
                    <a:pt x="0" y="26631"/>
                  </a:lnTo>
                  <a:lnTo>
                    <a:pt x="0" y="78625"/>
                  </a:lnTo>
                  <a:lnTo>
                    <a:pt x="0" y="242227"/>
                  </a:lnTo>
                  <a:lnTo>
                    <a:pt x="347662" y="242227"/>
                  </a:lnTo>
                  <a:lnTo>
                    <a:pt x="347662" y="216865"/>
                  </a:lnTo>
                  <a:lnTo>
                    <a:pt x="26073" y="216865"/>
                  </a:lnTo>
                  <a:lnTo>
                    <a:pt x="26073" y="164871"/>
                  </a:lnTo>
                  <a:lnTo>
                    <a:pt x="112979" y="164871"/>
                  </a:lnTo>
                  <a:lnTo>
                    <a:pt x="112979" y="216827"/>
                  </a:lnTo>
                  <a:lnTo>
                    <a:pt x="130365" y="216827"/>
                  </a:lnTo>
                  <a:lnTo>
                    <a:pt x="130365" y="164871"/>
                  </a:lnTo>
                  <a:lnTo>
                    <a:pt x="217284" y="164871"/>
                  </a:lnTo>
                  <a:lnTo>
                    <a:pt x="217284" y="216827"/>
                  </a:lnTo>
                  <a:lnTo>
                    <a:pt x="234657" y="216827"/>
                  </a:lnTo>
                  <a:lnTo>
                    <a:pt x="234657" y="164871"/>
                  </a:lnTo>
                  <a:lnTo>
                    <a:pt x="321576" y="164871"/>
                  </a:lnTo>
                  <a:lnTo>
                    <a:pt x="321576" y="216827"/>
                  </a:lnTo>
                  <a:lnTo>
                    <a:pt x="347662" y="216827"/>
                  </a:lnTo>
                  <a:lnTo>
                    <a:pt x="347662" y="95478"/>
                  </a:lnTo>
                  <a:lnTo>
                    <a:pt x="321576" y="95478"/>
                  </a:lnTo>
                  <a:lnTo>
                    <a:pt x="321576" y="147116"/>
                  </a:lnTo>
                  <a:lnTo>
                    <a:pt x="234657" y="147116"/>
                  </a:lnTo>
                  <a:lnTo>
                    <a:pt x="234657" y="95478"/>
                  </a:lnTo>
                  <a:lnTo>
                    <a:pt x="217284" y="95478"/>
                  </a:lnTo>
                  <a:lnTo>
                    <a:pt x="217284" y="147116"/>
                  </a:lnTo>
                  <a:lnTo>
                    <a:pt x="130365" y="147116"/>
                  </a:lnTo>
                  <a:lnTo>
                    <a:pt x="130365" y="95478"/>
                  </a:lnTo>
                  <a:lnTo>
                    <a:pt x="112979" y="95478"/>
                  </a:lnTo>
                  <a:lnTo>
                    <a:pt x="112979" y="147116"/>
                  </a:lnTo>
                  <a:lnTo>
                    <a:pt x="26073" y="147116"/>
                  </a:lnTo>
                  <a:lnTo>
                    <a:pt x="26073" y="95110"/>
                  </a:lnTo>
                  <a:lnTo>
                    <a:pt x="347662" y="95110"/>
                  </a:lnTo>
                  <a:lnTo>
                    <a:pt x="347662" y="78625"/>
                  </a:lnTo>
                  <a:lnTo>
                    <a:pt x="26073" y="78625"/>
                  </a:lnTo>
                  <a:lnTo>
                    <a:pt x="26073" y="26631"/>
                  </a:lnTo>
                  <a:lnTo>
                    <a:pt x="112979" y="26631"/>
                  </a:lnTo>
                  <a:lnTo>
                    <a:pt x="112979" y="78143"/>
                  </a:lnTo>
                  <a:lnTo>
                    <a:pt x="130365" y="78143"/>
                  </a:lnTo>
                  <a:lnTo>
                    <a:pt x="130365" y="26631"/>
                  </a:lnTo>
                  <a:lnTo>
                    <a:pt x="217284" y="26631"/>
                  </a:lnTo>
                  <a:lnTo>
                    <a:pt x="217284" y="78143"/>
                  </a:lnTo>
                  <a:lnTo>
                    <a:pt x="234657" y="78143"/>
                  </a:lnTo>
                  <a:lnTo>
                    <a:pt x="234657" y="26631"/>
                  </a:lnTo>
                  <a:lnTo>
                    <a:pt x="321576" y="26631"/>
                  </a:lnTo>
                  <a:lnTo>
                    <a:pt x="321576" y="78143"/>
                  </a:lnTo>
                  <a:lnTo>
                    <a:pt x="347662" y="78143"/>
                  </a:lnTo>
                  <a:lnTo>
                    <a:pt x="347662" y="26631"/>
                  </a:lnTo>
                  <a:lnTo>
                    <a:pt x="347662" y="26136"/>
                  </a:lnTo>
                  <a:lnTo>
                    <a:pt x="347662" y="0"/>
                  </a:lnTo>
                  <a:close/>
                </a:path>
                <a:path w="1254759" h="1022985">
                  <a:moveTo>
                    <a:pt x="551903" y="358368"/>
                  </a:moveTo>
                  <a:lnTo>
                    <a:pt x="534581" y="358368"/>
                  </a:lnTo>
                  <a:lnTo>
                    <a:pt x="534581" y="410375"/>
                  </a:lnTo>
                  <a:lnTo>
                    <a:pt x="551903" y="410375"/>
                  </a:lnTo>
                  <a:lnTo>
                    <a:pt x="551903" y="358368"/>
                  </a:lnTo>
                  <a:close/>
                </a:path>
                <a:path w="1254759" h="1022985">
                  <a:moveTo>
                    <a:pt x="655828" y="358368"/>
                  </a:moveTo>
                  <a:lnTo>
                    <a:pt x="638505" y="358368"/>
                  </a:lnTo>
                  <a:lnTo>
                    <a:pt x="638505" y="410375"/>
                  </a:lnTo>
                  <a:lnTo>
                    <a:pt x="655828" y="410375"/>
                  </a:lnTo>
                  <a:lnTo>
                    <a:pt x="655828" y="358368"/>
                  </a:lnTo>
                  <a:close/>
                </a:path>
                <a:path w="1254759" h="1022985">
                  <a:moveTo>
                    <a:pt x="768413" y="358368"/>
                  </a:moveTo>
                  <a:lnTo>
                    <a:pt x="742429" y="358368"/>
                  </a:lnTo>
                  <a:lnTo>
                    <a:pt x="742429" y="410375"/>
                  </a:lnTo>
                  <a:lnTo>
                    <a:pt x="768413" y="410375"/>
                  </a:lnTo>
                  <a:lnTo>
                    <a:pt x="768413" y="358368"/>
                  </a:lnTo>
                  <a:close/>
                </a:path>
                <a:path w="1254759" h="1022985">
                  <a:moveTo>
                    <a:pt x="768413" y="332892"/>
                  </a:moveTo>
                  <a:lnTo>
                    <a:pt x="422008" y="332892"/>
                  </a:lnTo>
                  <a:lnTo>
                    <a:pt x="422008" y="358305"/>
                  </a:lnTo>
                  <a:lnTo>
                    <a:pt x="422008" y="410400"/>
                  </a:lnTo>
                  <a:lnTo>
                    <a:pt x="422008" y="727976"/>
                  </a:lnTo>
                  <a:lnTo>
                    <a:pt x="768413" y="727976"/>
                  </a:lnTo>
                  <a:lnTo>
                    <a:pt x="768413" y="701294"/>
                  </a:lnTo>
                  <a:lnTo>
                    <a:pt x="447992" y="701294"/>
                  </a:lnTo>
                  <a:lnTo>
                    <a:pt x="447992" y="649198"/>
                  </a:lnTo>
                  <a:lnTo>
                    <a:pt x="768413" y="649198"/>
                  </a:lnTo>
                  <a:lnTo>
                    <a:pt x="768413" y="632675"/>
                  </a:lnTo>
                  <a:lnTo>
                    <a:pt x="447992" y="632675"/>
                  </a:lnTo>
                  <a:lnTo>
                    <a:pt x="447992" y="580593"/>
                  </a:lnTo>
                  <a:lnTo>
                    <a:pt x="768413" y="580593"/>
                  </a:lnTo>
                  <a:lnTo>
                    <a:pt x="768413" y="575576"/>
                  </a:lnTo>
                  <a:lnTo>
                    <a:pt x="768413" y="562800"/>
                  </a:lnTo>
                  <a:lnTo>
                    <a:pt x="768413" y="480275"/>
                  </a:lnTo>
                  <a:lnTo>
                    <a:pt x="742429" y="480275"/>
                  </a:lnTo>
                  <a:lnTo>
                    <a:pt x="742429" y="510705"/>
                  </a:lnTo>
                  <a:lnTo>
                    <a:pt x="742429" y="548894"/>
                  </a:lnTo>
                  <a:lnTo>
                    <a:pt x="655828" y="548894"/>
                  </a:lnTo>
                  <a:lnTo>
                    <a:pt x="655828" y="510705"/>
                  </a:lnTo>
                  <a:lnTo>
                    <a:pt x="742429" y="510705"/>
                  </a:lnTo>
                  <a:lnTo>
                    <a:pt x="742429" y="480275"/>
                  </a:lnTo>
                  <a:lnTo>
                    <a:pt x="638505" y="480275"/>
                  </a:lnTo>
                  <a:lnTo>
                    <a:pt x="638505" y="510705"/>
                  </a:lnTo>
                  <a:lnTo>
                    <a:pt x="638505" y="548894"/>
                  </a:lnTo>
                  <a:lnTo>
                    <a:pt x="551903" y="548894"/>
                  </a:lnTo>
                  <a:lnTo>
                    <a:pt x="551903" y="510705"/>
                  </a:lnTo>
                  <a:lnTo>
                    <a:pt x="638505" y="510705"/>
                  </a:lnTo>
                  <a:lnTo>
                    <a:pt x="638505" y="480275"/>
                  </a:lnTo>
                  <a:lnTo>
                    <a:pt x="534581" y="480275"/>
                  </a:lnTo>
                  <a:lnTo>
                    <a:pt x="534581" y="510705"/>
                  </a:lnTo>
                  <a:lnTo>
                    <a:pt x="534581" y="548894"/>
                  </a:lnTo>
                  <a:lnTo>
                    <a:pt x="447992" y="548894"/>
                  </a:lnTo>
                  <a:lnTo>
                    <a:pt x="447992" y="510705"/>
                  </a:lnTo>
                  <a:lnTo>
                    <a:pt x="534581" y="510705"/>
                  </a:lnTo>
                  <a:lnTo>
                    <a:pt x="534581" y="480275"/>
                  </a:lnTo>
                  <a:lnTo>
                    <a:pt x="447992" y="480275"/>
                  </a:lnTo>
                  <a:lnTo>
                    <a:pt x="447992" y="428193"/>
                  </a:lnTo>
                  <a:lnTo>
                    <a:pt x="534581" y="428193"/>
                  </a:lnTo>
                  <a:lnTo>
                    <a:pt x="534581" y="479717"/>
                  </a:lnTo>
                  <a:lnTo>
                    <a:pt x="551903" y="479717"/>
                  </a:lnTo>
                  <a:lnTo>
                    <a:pt x="551903" y="428193"/>
                  </a:lnTo>
                  <a:lnTo>
                    <a:pt x="638505" y="428193"/>
                  </a:lnTo>
                  <a:lnTo>
                    <a:pt x="638505" y="479717"/>
                  </a:lnTo>
                  <a:lnTo>
                    <a:pt x="655828" y="479717"/>
                  </a:lnTo>
                  <a:lnTo>
                    <a:pt x="655828" y="428193"/>
                  </a:lnTo>
                  <a:lnTo>
                    <a:pt x="742429" y="428193"/>
                  </a:lnTo>
                  <a:lnTo>
                    <a:pt x="742429" y="479717"/>
                  </a:lnTo>
                  <a:lnTo>
                    <a:pt x="768413" y="479717"/>
                  </a:lnTo>
                  <a:lnTo>
                    <a:pt x="768413" y="428193"/>
                  </a:lnTo>
                  <a:lnTo>
                    <a:pt x="768413" y="427710"/>
                  </a:lnTo>
                  <a:lnTo>
                    <a:pt x="768413" y="410400"/>
                  </a:lnTo>
                  <a:lnTo>
                    <a:pt x="447992" y="410400"/>
                  </a:lnTo>
                  <a:lnTo>
                    <a:pt x="447992" y="358305"/>
                  </a:lnTo>
                  <a:lnTo>
                    <a:pt x="768413" y="358305"/>
                  </a:lnTo>
                  <a:lnTo>
                    <a:pt x="768413" y="332892"/>
                  </a:lnTo>
                  <a:close/>
                </a:path>
                <a:path w="1254759" h="1022985">
                  <a:moveTo>
                    <a:pt x="1254442" y="153924"/>
                  </a:moveTo>
                  <a:lnTo>
                    <a:pt x="906780" y="153924"/>
                  </a:lnTo>
                  <a:lnTo>
                    <a:pt x="906780" y="180555"/>
                  </a:lnTo>
                  <a:lnTo>
                    <a:pt x="906780" y="232549"/>
                  </a:lnTo>
                  <a:lnTo>
                    <a:pt x="906780" y="396151"/>
                  </a:lnTo>
                  <a:lnTo>
                    <a:pt x="1254442" y="396151"/>
                  </a:lnTo>
                  <a:lnTo>
                    <a:pt x="1254442" y="370789"/>
                  </a:lnTo>
                  <a:lnTo>
                    <a:pt x="932853" y="370789"/>
                  </a:lnTo>
                  <a:lnTo>
                    <a:pt x="932853" y="318795"/>
                  </a:lnTo>
                  <a:lnTo>
                    <a:pt x="1019759" y="318795"/>
                  </a:lnTo>
                  <a:lnTo>
                    <a:pt x="1019759" y="370751"/>
                  </a:lnTo>
                  <a:lnTo>
                    <a:pt x="1037145" y="370751"/>
                  </a:lnTo>
                  <a:lnTo>
                    <a:pt x="1037145" y="318795"/>
                  </a:lnTo>
                  <a:lnTo>
                    <a:pt x="1124064" y="318795"/>
                  </a:lnTo>
                  <a:lnTo>
                    <a:pt x="1124064" y="370751"/>
                  </a:lnTo>
                  <a:lnTo>
                    <a:pt x="1141450" y="370751"/>
                  </a:lnTo>
                  <a:lnTo>
                    <a:pt x="1141450" y="318795"/>
                  </a:lnTo>
                  <a:lnTo>
                    <a:pt x="1228356" y="318795"/>
                  </a:lnTo>
                  <a:lnTo>
                    <a:pt x="1228356" y="370751"/>
                  </a:lnTo>
                  <a:lnTo>
                    <a:pt x="1254442" y="370751"/>
                  </a:lnTo>
                  <a:lnTo>
                    <a:pt x="1254442" y="249402"/>
                  </a:lnTo>
                  <a:lnTo>
                    <a:pt x="1228356" y="249402"/>
                  </a:lnTo>
                  <a:lnTo>
                    <a:pt x="1228356" y="301040"/>
                  </a:lnTo>
                  <a:lnTo>
                    <a:pt x="1141450" y="301040"/>
                  </a:lnTo>
                  <a:lnTo>
                    <a:pt x="1141450" y="249402"/>
                  </a:lnTo>
                  <a:lnTo>
                    <a:pt x="1124064" y="249402"/>
                  </a:lnTo>
                  <a:lnTo>
                    <a:pt x="1124064" y="301040"/>
                  </a:lnTo>
                  <a:lnTo>
                    <a:pt x="1037145" y="301040"/>
                  </a:lnTo>
                  <a:lnTo>
                    <a:pt x="1037145" y="249402"/>
                  </a:lnTo>
                  <a:lnTo>
                    <a:pt x="1019759" y="249402"/>
                  </a:lnTo>
                  <a:lnTo>
                    <a:pt x="1019759" y="301040"/>
                  </a:lnTo>
                  <a:lnTo>
                    <a:pt x="932853" y="301040"/>
                  </a:lnTo>
                  <a:lnTo>
                    <a:pt x="932853" y="249034"/>
                  </a:lnTo>
                  <a:lnTo>
                    <a:pt x="1254442" y="249034"/>
                  </a:lnTo>
                  <a:lnTo>
                    <a:pt x="1254442" y="232549"/>
                  </a:lnTo>
                  <a:lnTo>
                    <a:pt x="932853" y="232549"/>
                  </a:lnTo>
                  <a:lnTo>
                    <a:pt x="932853" y="180555"/>
                  </a:lnTo>
                  <a:lnTo>
                    <a:pt x="1019759" y="180555"/>
                  </a:lnTo>
                  <a:lnTo>
                    <a:pt x="1019759" y="232067"/>
                  </a:lnTo>
                  <a:lnTo>
                    <a:pt x="1037145" y="232067"/>
                  </a:lnTo>
                  <a:lnTo>
                    <a:pt x="1037145" y="180555"/>
                  </a:lnTo>
                  <a:lnTo>
                    <a:pt x="1124064" y="180555"/>
                  </a:lnTo>
                  <a:lnTo>
                    <a:pt x="1124064" y="232067"/>
                  </a:lnTo>
                  <a:lnTo>
                    <a:pt x="1141450" y="232067"/>
                  </a:lnTo>
                  <a:lnTo>
                    <a:pt x="1141450" y="180555"/>
                  </a:lnTo>
                  <a:lnTo>
                    <a:pt x="1228356" y="180555"/>
                  </a:lnTo>
                  <a:lnTo>
                    <a:pt x="1228356" y="232067"/>
                  </a:lnTo>
                  <a:lnTo>
                    <a:pt x="1254442" y="232067"/>
                  </a:lnTo>
                  <a:lnTo>
                    <a:pt x="1254442" y="180555"/>
                  </a:lnTo>
                  <a:lnTo>
                    <a:pt x="1254442" y="180060"/>
                  </a:lnTo>
                  <a:lnTo>
                    <a:pt x="1254442" y="153924"/>
                  </a:lnTo>
                  <a:close/>
                </a:path>
              </a:pathLst>
            </a:custGeom>
            <a:solidFill>
              <a:srgbClr val="BCBCBC"/>
            </a:solidFill>
          </p:spPr>
          <p:txBody>
            <a:bodyPr wrap="square" lIns="0" tIns="0" rIns="0" bIns="0" rtlCol="0"/>
            <a:lstStyle/>
            <a:p>
              <a:endParaRPr sz="2400"/>
            </a:p>
          </p:txBody>
        </p:sp>
        <p:sp>
          <p:nvSpPr>
            <p:cNvPr id="22" name="object 22"/>
            <p:cNvSpPr/>
            <p:nvPr/>
          </p:nvSpPr>
          <p:spPr>
            <a:xfrm>
              <a:off x="6517741" y="1917560"/>
              <a:ext cx="346710" cy="216535"/>
            </a:xfrm>
            <a:custGeom>
              <a:avLst/>
              <a:gdLst/>
              <a:ahLst/>
              <a:cxnLst/>
              <a:rect l="l" t="t" r="r" b="b"/>
              <a:pathLst>
                <a:path w="346709" h="216535">
                  <a:moveTo>
                    <a:pt x="129895" y="164160"/>
                  </a:moveTo>
                  <a:lnTo>
                    <a:pt x="112572" y="164160"/>
                  </a:lnTo>
                  <a:lnTo>
                    <a:pt x="112572" y="216166"/>
                  </a:lnTo>
                  <a:lnTo>
                    <a:pt x="129895" y="216166"/>
                  </a:lnTo>
                  <a:lnTo>
                    <a:pt x="129895" y="164160"/>
                  </a:lnTo>
                  <a:close/>
                </a:path>
                <a:path w="346709" h="216535">
                  <a:moveTo>
                    <a:pt x="129895" y="94818"/>
                  </a:moveTo>
                  <a:lnTo>
                    <a:pt x="112572" y="94818"/>
                  </a:lnTo>
                  <a:lnTo>
                    <a:pt x="112572" y="146824"/>
                  </a:lnTo>
                  <a:lnTo>
                    <a:pt x="129895" y="146824"/>
                  </a:lnTo>
                  <a:lnTo>
                    <a:pt x="129895" y="94818"/>
                  </a:lnTo>
                  <a:close/>
                </a:path>
                <a:path w="346709" h="216535">
                  <a:moveTo>
                    <a:pt x="129895" y="25476"/>
                  </a:moveTo>
                  <a:lnTo>
                    <a:pt x="112572" y="25476"/>
                  </a:lnTo>
                  <a:lnTo>
                    <a:pt x="112572" y="77482"/>
                  </a:lnTo>
                  <a:lnTo>
                    <a:pt x="129895" y="77482"/>
                  </a:lnTo>
                  <a:lnTo>
                    <a:pt x="129895" y="25476"/>
                  </a:lnTo>
                  <a:close/>
                </a:path>
                <a:path w="346709" h="216535">
                  <a:moveTo>
                    <a:pt x="233819" y="164160"/>
                  </a:moveTo>
                  <a:lnTo>
                    <a:pt x="216496" y="164160"/>
                  </a:lnTo>
                  <a:lnTo>
                    <a:pt x="216496" y="216166"/>
                  </a:lnTo>
                  <a:lnTo>
                    <a:pt x="233819" y="216166"/>
                  </a:lnTo>
                  <a:lnTo>
                    <a:pt x="233819" y="164160"/>
                  </a:lnTo>
                  <a:close/>
                </a:path>
                <a:path w="346709" h="216535">
                  <a:moveTo>
                    <a:pt x="233819" y="94818"/>
                  </a:moveTo>
                  <a:lnTo>
                    <a:pt x="216496" y="94818"/>
                  </a:lnTo>
                  <a:lnTo>
                    <a:pt x="216496" y="146824"/>
                  </a:lnTo>
                  <a:lnTo>
                    <a:pt x="233819" y="146824"/>
                  </a:lnTo>
                  <a:lnTo>
                    <a:pt x="233819" y="94818"/>
                  </a:lnTo>
                  <a:close/>
                </a:path>
                <a:path w="346709" h="216535">
                  <a:moveTo>
                    <a:pt x="233819" y="25476"/>
                  </a:moveTo>
                  <a:lnTo>
                    <a:pt x="216496" y="25476"/>
                  </a:lnTo>
                  <a:lnTo>
                    <a:pt x="216496" y="77482"/>
                  </a:lnTo>
                  <a:lnTo>
                    <a:pt x="233819" y="77482"/>
                  </a:lnTo>
                  <a:lnTo>
                    <a:pt x="233819" y="25476"/>
                  </a:lnTo>
                  <a:close/>
                </a:path>
                <a:path w="346709" h="216535">
                  <a:moveTo>
                    <a:pt x="346405" y="164160"/>
                  </a:moveTo>
                  <a:lnTo>
                    <a:pt x="320421" y="164160"/>
                  </a:lnTo>
                  <a:lnTo>
                    <a:pt x="320421" y="216166"/>
                  </a:lnTo>
                  <a:lnTo>
                    <a:pt x="346405" y="216166"/>
                  </a:lnTo>
                  <a:lnTo>
                    <a:pt x="346405" y="164160"/>
                  </a:lnTo>
                  <a:close/>
                </a:path>
                <a:path w="346709" h="216535">
                  <a:moveTo>
                    <a:pt x="346405" y="94818"/>
                  </a:moveTo>
                  <a:lnTo>
                    <a:pt x="320421" y="94818"/>
                  </a:lnTo>
                  <a:lnTo>
                    <a:pt x="320421" y="146824"/>
                  </a:lnTo>
                  <a:lnTo>
                    <a:pt x="346405" y="146824"/>
                  </a:lnTo>
                  <a:lnTo>
                    <a:pt x="346405" y="94818"/>
                  </a:lnTo>
                  <a:close/>
                </a:path>
                <a:path w="346709" h="216535">
                  <a:moveTo>
                    <a:pt x="346405" y="25476"/>
                  </a:moveTo>
                  <a:lnTo>
                    <a:pt x="320421" y="25476"/>
                  </a:lnTo>
                  <a:lnTo>
                    <a:pt x="320421" y="77482"/>
                  </a:lnTo>
                  <a:lnTo>
                    <a:pt x="346405" y="77482"/>
                  </a:lnTo>
                  <a:lnTo>
                    <a:pt x="346405" y="25476"/>
                  </a:lnTo>
                  <a:close/>
                </a:path>
                <a:path w="346709" h="216535">
                  <a:moveTo>
                    <a:pt x="346405" y="0"/>
                  </a:moveTo>
                  <a:lnTo>
                    <a:pt x="0" y="0"/>
                  </a:lnTo>
                  <a:lnTo>
                    <a:pt x="0" y="25412"/>
                  </a:lnTo>
                  <a:lnTo>
                    <a:pt x="346405" y="25412"/>
                  </a:lnTo>
                  <a:lnTo>
                    <a:pt x="346405" y="0"/>
                  </a:lnTo>
                  <a:close/>
                </a:path>
              </a:pathLst>
            </a:custGeom>
            <a:solidFill>
              <a:srgbClr val="BCBCBC"/>
            </a:solidFill>
          </p:spPr>
          <p:txBody>
            <a:bodyPr wrap="square" lIns="0" tIns="0" rIns="0" bIns="0" rtlCol="0"/>
            <a:lstStyle/>
            <a:p>
              <a:endParaRPr sz="2400"/>
            </a:p>
          </p:txBody>
        </p:sp>
        <p:sp>
          <p:nvSpPr>
            <p:cNvPr id="23" name="object 23"/>
            <p:cNvSpPr/>
            <p:nvPr/>
          </p:nvSpPr>
          <p:spPr>
            <a:xfrm>
              <a:off x="6249161" y="1657350"/>
              <a:ext cx="838835" cy="515620"/>
            </a:xfrm>
            <a:custGeom>
              <a:avLst/>
              <a:gdLst/>
              <a:ahLst/>
              <a:cxnLst/>
              <a:rect l="l" t="t" r="r" b="b"/>
              <a:pathLst>
                <a:path w="838834" h="515619">
                  <a:moveTo>
                    <a:pt x="230886" y="107569"/>
                  </a:moveTo>
                  <a:lnTo>
                    <a:pt x="0" y="0"/>
                  </a:lnTo>
                </a:path>
                <a:path w="838834" h="515619">
                  <a:moveTo>
                    <a:pt x="838327" y="188975"/>
                  </a:moveTo>
                  <a:lnTo>
                    <a:pt x="652271" y="381126"/>
                  </a:lnTo>
                </a:path>
                <a:path w="838834" h="515619">
                  <a:moveTo>
                    <a:pt x="236347" y="323088"/>
                  </a:moveTo>
                  <a:lnTo>
                    <a:pt x="50291" y="515238"/>
                  </a:lnTo>
                </a:path>
              </a:pathLst>
            </a:custGeom>
            <a:ln w="38100">
              <a:solidFill>
                <a:srgbClr val="00C2FF"/>
              </a:solidFill>
            </a:ln>
          </p:spPr>
          <p:txBody>
            <a:bodyPr wrap="square" lIns="0" tIns="0" rIns="0" bIns="0" rtlCol="0"/>
            <a:lstStyle/>
            <a:p>
              <a:endParaRPr sz="2400"/>
            </a:p>
          </p:txBody>
        </p:sp>
        <p:sp>
          <p:nvSpPr>
            <p:cNvPr id="24" name="object 24"/>
            <p:cNvSpPr/>
            <p:nvPr/>
          </p:nvSpPr>
          <p:spPr>
            <a:xfrm>
              <a:off x="5934455" y="2987040"/>
              <a:ext cx="1524000" cy="1080770"/>
            </a:xfrm>
            <a:custGeom>
              <a:avLst/>
              <a:gdLst/>
              <a:ahLst/>
              <a:cxnLst/>
              <a:rect l="l" t="t" r="r" b="b"/>
              <a:pathLst>
                <a:path w="1524000" h="1080770">
                  <a:moveTo>
                    <a:pt x="0" y="180086"/>
                  </a:moveTo>
                  <a:lnTo>
                    <a:pt x="6434" y="132218"/>
                  </a:lnTo>
                  <a:lnTo>
                    <a:pt x="24590" y="89201"/>
                  </a:lnTo>
                  <a:lnTo>
                    <a:pt x="52752" y="52752"/>
                  </a:lnTo>
                  <a:lnTo>
                    <a:pt x="89201" y="24590"/>
                  </a:lnTo>
                  <a:lnTo>
                    <a:pt x="132218" y="6434"/>
                  </a:lnTo>
                  <a:lnTo>
                    <a:pt x="180086" y="0"/>
                  </a:lnTo>
                  <a:lnTo>
                    <a:pt x="1343914" y="0"/>
                  </a:lnTo>
                  <a:lnTo>
                    <a:pt x="1391781" y="6434"/>
                  </a:lnTo>
                  <a:lnTo>
                    <a:pt x="1434798" y="24590"/>
                  </a:lnTo>
                  <a:lnTo>
                    <a:pt x="1471247" y="52752"/>
                  </a:lnTo>
                  <a:lnTo>
                    <a:pt x="1499409" y="89201"/>
                  </a:lnTo>
                  <a:lnTo>
                    <a:pt x="1517565" y="132218"/>
                  </a:lnTo>
                  <a:lnTo>
                    <a:pt x="1524000" y="180086"/>
                  </a:lnTo>
                  <a:lnTo>
                    <a:pt x="1524000" y="900430"/>
                  </a:lnTo>
                  <a:lnTo>
                    <a:pt x="1517565" y="948302"/>
                  </a:lnTo>
                  <a:lnTo>
                    <a:pt x="1499409" y="991320"/>
                  </a:lnTo>
                  <a:lnTo>
                    <a:pt x="1471247" y="1027768"/>
                  </a:lnTo>
                  <a:lnTo>
                    <a:pt x="1434798" y="1055927"/>
                  </a:lnTo>
                  <a:lnTo>
                    <a:pt x="1391781" y="1074082"/>
                  </a:lnTo>
                  <a:lnTo>
                    <a:pt x="1343914" y="1080516"/>
                  </a:lnTo>
                  <a:lnTo>
                    <a:pt x="180086" y="1080516"/>
                  </a:lnTo>
                  <a:lnTo>
                    <a:pt x="132218" y="1074082"/>
                  </a:lnTo>
                  <a:lnTo>
                    <a:pt x="89201" y="1055927"/>
                  </a:lnTo>
                  <a:lnTo>
                    <a:pt x="52752" y="1027768"/>
                  </a:lnTo>
                  <a:lnTo>
                    <a:pt x="24590" y="991320"/>
                  </a:lnTo>
                  <a:lnTo>
                    <a:pt x="6434" y="948302"/>
                  </a:lnTo>
                  <a:lnTo>
                    <a:pt x="0" y="900430"/>
                  </a:lnTo>
                  <a:lnTo>
                    <a:pt x="0" y="180086"/>
                  </a:lnTo>
                  <a:close/>
                </a:path>
              </a:pathLst>
            </a:custGeom>
            <a:ln w="9143">
              <a:solidFill>
                <a:srgbClr val="00C3FF"/>
              </a:solidFill>
            </a:ln>
          </p:spPr>
          <p:txBody>
            <a:bodyPr wrap="square" lIns="0" tIns="0" rIns="0" bIns="0" rtlCol="0"/>
            <a:lstStyle/>
            <a:p>
              <a:endParaRPr sz="2400"/>
            </a:p>
          </p:txBody>
        </p:sp>
        <p:sp>
          <p:nvSpPr>
            <p:cNvPr id="25" name="object 25"/>
            <p:cNvSpPr/>
            <p:nvPr/>
          </p:nvSpPr>
          <p:spPr>
            <a:xfrm>
              <a:off x="6118593" y="3170542"/>
              <a:ext cx="1254760" cy="727075"/>
            </a:xfrm>
            <a:custGeom>
              <a:avLst/>
              <a:gdLst/>
              <a:ahLst/>
              <a:cxnLst/>
              <a:rect l="l" t="t" r="r" b="b"/>
              <a:pathLst>
                <a:path w="1254759" h="727075">
                  <a:moveTo>
                    <a:pt x="347662" y="0"/>
                  </a:moveTo>
                  <a:lnTo>
                    <a:pt x="0" y="0"/>
                  </a:lnTo>
                  <a:lnTo>
                    <a:pt x="0" y="25412"/>
                  </a:lnTo>
                  <a:lnTo>
                    <a:pt x="0" y="77508"/>
                  </a:lnTo>
                  <a:lnTo>
                    <a:pt x="0" y="242671"/>
                  </a:lnTo>
                  <a:lnTo>
                    <a:pt x="347662" y="242684"/>
                  </a:lnTo>
                  <a:lnTo>
                    <a:pt x="347662" y="217271"/>
                  </a:lnTo>
                  <a:lnTo>
                    <a:pt x="26073" y="217271"/>
                  </a:lnTo>
                  <a:lnTo>
                    <a:pt x="26073" y="165176"/>
                  </a:lnTo>
                  <a:lnTo>
                    <a:pt x="112979" y="165176"/>
                  </a:lnTo>
                  <a:lnTo>
                    <a:pt x="112979" y="217017"/>
                  </a:lnTo>
                  <a:lnTo>
                    <a:pt x="130365" y="217017"/>
                  </a:lnTo>
                  <a:lnTo>
                    <a:pt x="130365" y="165176"/>
                  </a:lnTo>
                  <a:lnTo>
                    <a:pt x="217284" y="165176"/>
                  </a:lnTo>
                  <a:lnTo>
                    <a:pt x="217284" y="217017"/>
                  </a:lnTo>
                  <a:lnTo>
                    <a:pt x="234657" y="217017"/>
                  </a:lnTo>
                  <a:lnTo>
                    <a:pt x="234657" y="165176"/>
                  </a:lnTo>
                  <a:lnTo>
                    <a:pt x="321576" y="165176"/>
                  </a:lnTo>
                  <a:lnTo>
                    <a:pt x="321576" y="217017"/>
                  </a:lnTo>
                  <a:lnTo>
                    <a:pt x="347662" y="217017"/>
                  </a:lnTo>
                  <a:lnTo>
                    <a:pt x="347662" y="25641"/>
                  </a:lnTo>
                  <a:lnTo>
                    <a:pt x="321576" y="25641"/>
                  </a:lnTo>
                  <a:lnTo>
                    <a:pt x="321576" y="77508"/>
                  </a:lnTo>
                  <a:lnTo>
                    <a:pt x="321576" y="95300"/>
                  </a:lnTo>
                  <a:lnTo>
                    <a:pt x="321576" y="147383"/>
                  </a:lnTo>
                  <a:lnTo>
                    <a:pt x="234657" y="147383"/>
                  </a:lnTo>
                  <a:lnTo>
                    <a:pt x="234657" y="95300"/>
                  </a:lnTo>
                  <a:lnTo>
                    <a:pt x="321576" y="95300"/>
                  </a:lnTo>
                  <a:lnTo>
                    <a:pt x="321576" y="77508"/>
                  </a:lnTo>
                  <a:lnTo>
                    <a:pt x="234657" y="77508"/>
                  </a:lnTo>
                  <a:lnTo>
                    <a:pt x="234657" y="25641"/>
                  </a:lnTo>
                  <a:lnTo>
                    <a:pt x="217284" y="25641"/>
                  </a:lnTo>
                  <a:lnTo>
                    <a:pt x="217284" y="77508"/>
                  </a:lnTo>
                  <a:lnTo>
                    <a:pt x="217284" y="95300"/>
                  </a:lnTo>
                  <a:lnTo>
                    <a:pt x="217284" y="147383"/>
                  </a:lnTo>
                  <a:lnTo>
                    <a:pt x="130365" y="147383"/>
                  </a:lnTo>
                  <a:lnTo>
                    <a:pt x="130365" y="95300"/>
                  </a:lnTo>
                  <a:lnTo>
                    <a:pt x="217284" y="95300"/>
                  </a:lnTo>
                  <a:lnTo>
                    <a:pt x="217284" y="77508"/>
                  </a:lnTo>
                  <a:lnTo>
                    <a:pt x="130365" y="77508"/>
                  </a:lnTo>
                  <a:lnTo>
                    <a:pt x="130365" y="25641"/>
                  </a:lnTo>
                  <a:lnTo>
                    <a:pt x="112979" y="25641"/>
                  </a:lnTo>
                  <a:lnTo>
                    <a:pt x="112979" y="77508"/>
                  </a:lnTo>
                  <a:lnTo>
                    <a:pt x="112979" y="95300"/>
                  </a:lnTo>
                  <a:lnTo>
                    <a:pt x="112979" y="147383"/>
                  </a:lnTo>
                  <a:lnTo>
                    <a:pt x="26073" y="147383"/>
                  </a:lnTo>
                  <a:lnTo>
                    <a:pt x="26073" y="95300"/>
                  </a:lnTo>
                  <a:lnTo>
                    <a:pt x="112979" y="95300"/>
                  </a:lnTo>
                  <a:lnTo>
                    <a:pt x="112979" y="77508"/>
                  </a:lnTo>
                  <a:lnTo>
                    <a:pt x="26073" y="77508"/>
                  </a:lnTo>
                  <a:lnTo>
                    <a:pt x="26073" y="25412"/>
                  </a:lnTo>
                  <a:lnTo>
                    <a:pt x="347662" y="25412"/>
                  </a:lnTo>
                  <a:lnTo>
                    <a:pt x="347662" y="0"/>
                  </a:lnTo>
                  <a:close/>
                </a:path>
                <a:path w="1254759" h="727075">
                  <a:moveTo>
                    <a:pt x="551903" y="357454"/>
                  </a:moveTo>
                  <a:lnTo>
                    <a:pt x="534581" y="357454"/>
                  </a:lnTo>
                  <a:lnTo>
                    <a:pt x="534581" y="409460"/>
                  </a:lnTo>
                  <a:lnTo>
                    <a:pt x="551903" y="409460"/>
                  </a:lnTo>
                  <a:lnTo>
                    <a:pt x="551903" y="357454"/>
                  </a:lnTo>
                  <a:close/>
                </a:path>
                <a:path w="1254759" h="727075">
                  <a:moveTo>
                    <a:pt x="655828" y="357454"/>
                  </a:moveTo>
                  <a:lnTo>
                    <a:pt x="638505" y="357454"/>
                  </a:lnTo>
                  <a:lnTo>
                    <a:pt x="638505" y="409460"/>
                  </a:lnTo>
                  <a:lnTo>
                    <a:pt x="655828" y="409460"/>
                  </a:lnTo>
                  <a:lnTo>
                    <a:pt x="655828" y="357454"/>
                  </a:lnTo>
                  <a:close/>
                </a:path>
                <a:path w="1254759" h="727075">
                  <a:moveTo>
                    <a:pt x="768413" y="357454"/>
                  </a:moveTo>
                  <a:lnTo>
                    <a:pt x="742429" y="357454"/>
                  </a:lnTo>
                  <a:lnTo>
                    <a:pt x="742429" y="409460"/>
                  </a:lnTo>
                  <a:lnTo>
                    <a:pt x="768413" y="409460"/>
                  </a:lnTo>
                  <a:lnTo>
                    <a:pt x="768413" y="357454"/>
                  </a:lnTo>
                  <a:close/>
                </a:path>
                <a:path w="1254759" h="727075">
                  <a:moveTo>
                    <a:pt x="768413" y="331978"/>
                  </a:moveTo>
                  <a:lnTo>
                    <a:pt x="422008" y="331978"/>
                  </a:lnTo>
                  <a:lnTo>
                    <a:pt x="422008" y="357390"/>
                  </a:lnTo>
                  <a:lnTo>
                    <a:pt x="422008" y="409486"/>
                  </a:lnTo>
                  <a:lnTo>
                    <a:pt x="422008" y="727062"/>
                  </a:lnTo>
                  <a:lnTo>
                    <a:pt x="768413" y="727062"/>
                  </a:lnTo>
                  <a:lnTo>
                    <a:pt x="768413" y="700544"/>
                  </a:lnTo>
                  <a:lnTo>
                    <a:pt x="768413" y="700379"/>
                  </a:lnTo>
                  <a:lnTo>
                    <a:pt x="768413" y="648538"/>
                  </a:lnTo>
                  <a:lnTo>
                    <a:pt x="742429" y="648538"/>
                  </a:lnTo>
                  <a:lnTo>
                    <a:pt x="742429" y="700379"/>
                  </a:lnTo>
                  <a:lnTo>
                    <a:pt x="655828" y="700379"/>
                  </a:lnTo>
                  <a:lnTo>
                    <a:pt x="655828" y="648538"/>
                  </a:lnTo>
                  <a:lnTo>
                    <a:pt x="638505" y="648538"/>
                  </a:lnTo>
                  <a:lnTo>
                    <a:pt x="638505" y="700379"/>
                  </a:lnTo>
                  <a:lnTo>
                    <a:pt x="551903" y="700379"/>
                  </a:lnTo>
                  <a:lnTo>
                    <a:pt x="551903" y="648538"/>
                  </a:lnTo>
                  <a:lnTo>
                    <a:pt x="534581" y="648538"/>
                  </a:lnTo>
                  <a:lnTo>
                    <a:pt x="534581" y="700379"/>
                  </a:lnTo>
                  <a:lnTo>
                    <a:pt x="447992" y="700379"/>
                  </a:lnTo>
                  <a:lnTo>
                    <a:pt x="447992" y="648284"/>
                  </a:lnTo>
                  <a:lnTo>
                    <a:pt x="768413" y="648284"/>
                  </a:lnTo>
                  <a:lnTo>
                    <a:pt x="768413" y="631761"/>
                  </a:lnTo>
                  <a:lnTo>
                    <a:pt x="447992" y="631761"/>
                  </a:lnTo>
                  <a:lnTo>
                    <a:pt x="447992" y="579678"/>
                  </a:lnTo>
                  <a:lnTo>
                    <a:pt x="534581" y="579678"/>
                  </a:lnTo>
                  <a:lnTo>
                    <a:pt x="534581" y="631202"/>
                  </a:lnTo>
                  <a:lnTo>
                    <a:pt x="551903" y="631202"/>
                  </a:lnTo>
                  <a:lnTo>
                    <a:pt x="551903" y="579678"/>
                  </a:lnTo>
                  <a:lnTo>
                    <a:pt x="638505" y="579678"/>
                  </a:lnTo>
                  <a:lnTo>
                    <a:pt x="638505" y="631202"/>
                  </a:lnTo>
                  <a:lnTo>
                    <a:pt x="655828" y="631202"/>
                  </a:lnTo>
                  <a:lnTo>
                    <a:pt x="655828" y="579678"/>
                  </a:lnTo>
                  <a:lnTo>
                    <a:pt x="742429" y="579678"/>
                  </a:lnTo>
                  <a:lnTo>
                    <a:pt x="742429" y="631202"/>
                  </a:lnTo>
                  <a:lnTo>
                    <a:pt x="768413" y="631202"/>
                  </a:lnTo>
                  <a:lnTo>
                    <a:pt x="768413" y="479361"/>
                  </a:lnTo>
                  <a:lnTo>
                    <a:pt x="742429" y="479361"/>
                  </a:lnTo>
                  <a:lnTo>
                    <a:pt x="742429" y="509790"/>
                  </a:lnTo>
                  <a:lnTo>
                    <a:pt x="742429" y="547979"/>
                  </a:lnTo>
                  <a:lnTo>
                    <a:pt x="655828" y="547979"/>
                  </a:lnTo>
                  <a:lnTo>
                    <a:pt x="655828" y="509854"/>
                  </a:lnTo>
                  <a:lnTo>
                    <a:pt x="742429" y="509790"/>
                  </a:lnTo>
                  <a:lnTo>
                    <a:pt x="742429" y="479361"/>
                  </a:lnTo>
                  <a:lnTo>
                    <a:pt x="638505" y="479361"/>
                  </a:lnTo>
                  <a:lnTo>
                    <a:pt x="638505" y="509790"/>
                  </a:lnTo>
                  <a:lnTo>
                    <a:pt x="638505" y="547979"/>
                  </a:lnTo>
                  <a:lnTo>
                    <a:pt x="551903" y="547979"/>
                  </a:lnTo>
                  <a:lnTo>
                    <a:pt x="551903" y="509854"/>
                  </a:lnTo>
                  <a:lnTo>
                    <a:pt x="638505" y="509790"/>
                  </a:lnTo>
                  <a:lnTo>
                    <a:pt x="638505" y="479361"/>
                  </a:lnTo>
                  <a:lnTo>
                    <a:pt x="534581" y="479361"/>
                  </a:lnTo>
                  <a:lnTo>
                    <a:pt x="534581" y="509790"/>
                  </a:lnTo>
                  <a:lnTo>
                    <a:pt x="534581" y="547979"/>
                  </a:lnTo>
                  <a:lnTo>
                    <a:pt x="447992" y="547979"/>
                  </a:lnTo>
                  <a:lnTo>
                    <a:pt x="447992" y="509790"/>
                  </a:lnTo>
                  <a:lnTo>
                    <a:pt x="534581" y="509790"/>
                  </a:lnTo>
                  <a:lnTo>
                    <a:pt x="534581" y="479361"/>
                  </a:lnTo>
                  <a:lnTo>
                    <a:pt x="447992" y="479361"/>
                  </a:lnTo>
                  <a:lnTo>
                    <a:pt x="447992" y="427278"/>
                  </a:lnTo>
                  <a:lnTo>
                    <a:pt x="534581" y="427278"/>
                  </a:lnTo>
                  <a:lnTo>
                    <a:pt x="534581" y="478802"/>
                  </a:lnTo>
                  <a:lnTo>
                    <a:pt x="551903" y="478802"/>
                  </a:lnTo>
                  <a:lnTo>
                    <a:pt x="551903" y="427278"/>
                  </a:lnTo>
                  <a:lnTo>
                    <a:pt x="638505" y="427278"/>
                  </a:lnTo>
                  <a:lnTo>
                    <a:pt x="638505" y="478802"/>
                  </a:lnTo>
                  <a:lnTo>
                    <a:pt x="655828" y="478802"/>
                  </a:lnTo>
                  <a:lnTo>
                    <a:pt x="655828" y="427278"/>
                  </a:lnTo>
                  <a:lnTo>
                    <a:pt x="742429" y="427278"/>
                  </a:lnTo>
                  <a:lnTo>
                    <a:pt x="742429" y="478802"/>
                  </a:lnTo>
                  <a:lnTo>
                    <a:pt x="768413" y="478802"/>
                  </a:lnTo>
                  <a:lnTo>
                    <a:pt x="768413" y="427278"/>
                  </a:lnTo>
                  <a:lnTo>
                    <a:pt x="768413" y="426796"/>
                  </a:lnTo>
                  <a:lnTo>
                    <a:pt x="768413" y="409486"/>
                  </a:lnTo>
                  <a:lnTo>
                    <a:pt x="447992" y="409486"/>
                  </a:lnTo>
                  <a:lnTo>
                    <a:pt x="447992" y="357390"/>
                  </a:lnTo>
                  <a:lnTo>
                    <a:pt x="768413" y="357390"/>
                  </a:lnTo>
                  <a:lnTo>
                    <a:pt x="768413" y="331978"/>
                  </a:lnTo>
                  <a:close/>
                </a:path>
                <a:path w="1254759" h="727075">
                  <a:moveTo>
                    <a:pt x="1038059" y="179146"/>
                  </a:moveTo>
                  <a:lnTo>
                    <a:pt x="1020737" y="179146"/>
                  </a:lnTo>
                  <a:lnTo>
                    <a:pt x="1020737" y="231152"/>
                  </a:lnTo>
                  <a:lnTo>
                    <a:pt x="1038059" y="231152"/>
                  </a:lnTo>
                  <a:lnTo>
                    <a:pt x="1038059" y="179146"/>
                  </a:lnTo>
                  <a:close/>
                </a:path>
                <a:path w="1254759" h="727075">
                  <a:moveTo>
                    <a:pt x="1141984" y="179146"/>
                  </a:moveTo>
                  <a:lnTo>
                    <a:pt x="1124661" y="179146"/>
                  </a:lnTo>
                  <a:lnTo>
                    <a:pt x="1124661" y="231152"/>
                  </a:lnTo>
                  <a:lnTo>
                    <a:pt x="1141984" y="231152"/>
                  </a:lnTo>
                  <a:lnTo>
                    <a:pt x="1141984" y="179146"/>
                  </a:lnTo>
                  <a:close/>
                </a:path>
                <a:path w="1254759" h="727075">
                  <a:moveTo>
                    <a:pt x="1254569" y="179146"/>
                  </a:moveTo>
                  <a:lnTo>
                    <a:pt x="1228585" y="179146"/>
                  </a:lnTo>
                  <a:lnTo>
                    <a:pt x="1228585" y="231152"/>
                  </a:lnTo>
                  <a:lnTo>
                    <a:pt x="1254569" y="231152"/>
                  </a:lnTo>
                  <a:lnTo>
                    <a:pt x="1254569" y="179146"/>
                  </a:lnTo>
                  <a:close/>
                </a:path>
                <a:path w="1254759" h="727075">
                  <a:moveTo>
                    <a:pt x="1254569" y="153670"/>
                  </a:moveTo>
                  <a:lnTo>
                    <a:pt x="908164" y="153670"/>
                  </a:lnTo>
                  <a:lnTo>
                    <a:pt x="908164" y="179082"/>
                  </a:lnTo>
                  <a:lnTo>
                    <a:pt x="908164" y="231178"/>
                  </a:lnTo>
                  <a:lnTo>
                    <a:pt x="908164" y="396354"/>
                  </a:lnTo>
                  <a:lnTo>
                    <a:pt x="1254569" y="396354"/>
                  </a:lnTo>
                  <a:lnTo>
                    <a:pt x="1254569" y="369836"/>
                  </a:lnTo>
                  <a:lnTo>
                    <a:pt x="1254569" y="369671"/>
                  </a:lnTo>
                  <a:lnTo>
                    <a:pt x="1254569" y="317830"/>
                  </a:lnTo>
                  <a:lnTo>
                    <a:pt x="1228585" y="317830"/>
                  </a:lnTo>
                  <a:lnTo>
                    <a:pt x="1228585" y="369671"/>
                  </a:lnTo>
                  <a:lnTo>
                    <a:pt x="1141984" y="369671"/>
                  </a:lnTo>
                  <a:lnTo>
                    <a:pt x="1141984" y="317830"/>
                  </a:lnTo>
                  <a:lnTo>
                    <a:pt x="1124661" y="317830"/>
                  </a:lnTo>
                  <a:lnTo>
                    <a:pt x="1124661" y="369671"/>
                  </a:lnTo>
                  <a:lnTo>
                    <a:pt x="1038059" y="369671"/>
                  </a:lnTo>
                  <a:lnTo>
                    <a:pt x="1038059" y="317830"/>
                  </a:lnTo>
                  <a:lnTo>
                    <a:pt x="1020737" y="317830"/>
                  </a:lnTo>
                  <a:lnTo>
                    <a:pt x="1020737" y="369671"/>
                  </a:lnTo>
                  <a:lnTo>
                    <a:pt x="934148" y="369671"/>
                  </a:lnTo>
                  <a:lnTo>
                    <a:pt x="934148" y="317576"/>
                  </a:lnTo>
                  <a:lnTo>
                    <a:pt x="1254569" y="317576"/>
                  </a:lnTo>
                  <a:lnTo>
                    <a:pt x="1254569" y="301053"/>
                  </a:lnTo>
                  <a:lnTo>
                    <a:pt x="934148" y="301053"/>
                  </a:lnTo>
                  <a:lnTo>
                    <a:pt x="934148" y="248970"/>
                  </a:lnTo>
                  <a:lnTo>
                    <a:pt x="1020737" y="248970"/>
                  </a:lnTo>
                  <a:lnTo>
                    <a:pt x="1020737" y="300494"/>
                  </a:lnTo>
                  <a:lnTo>
                    <a:pt x="1038059" y="300494"/>
                  </a:lnTo>
                  <a:lnTo>
                    <a:pt x="1038059" y="248970"/>
                  </a:lnTo>
                  <a:lnTo>
                    <a:pt x="1124661" y="248970"/>
                  </a:lnTo>
                  <a:lnTo>
                    <a:pt x="1124661" y="300494"/>
                  </a:lnTo>
                  <a:lnTo>
                    <a:pt x="1141984" y="300494"/>
                  </a:lnTo>
                  <a:lnTo>
                    <a:pt x="1141984" y="248970"/>
                  </a:lnTo>
                  <a:lnTo>
                    <a:pt x="1228585" y="248970"/>
                  </a:lnTo>
                  <a:lnTo>
                    <a:pt x="1228585" y="300494"/>
                  </a:lnTo>
                  <a:lnTo>
                    <a:pt x="1254569" y="300494"/>
                  </a:lnTo>
                  <a:lnTo>
                    <a:pt x="1254569" y="248970"/>
                  </a:lnTo>
                  <a:lnTo>
                    <a:pt x="1254569" y="248488"/>
                  </a:lnTo>
                  <a:lnTo>
                    <a:pt x="1254569" y="231178"/>
                  </a:lnTo>
                  <a:lnTo>
                    <a:pt x="934148" y="231178"/>
                  </a:lnTo>
                  <a:lnTo>
                    <a:pt x="934148" y="179082"/>
                  </a:lnTo>
                  <a:lnTo>
                    <a:pt x="1254569" y="179082"/>
                  </a:lnTo>
                  <a:lnTo>
                    <a:pt x="1254569" y="153670"/>
                  </a:lnTo>
                  <a:close/>
                </a:path>
              </a:pathLst>
            </a:custGeom>
            <a:solidFill>
              <a:srgbClr val="BCBCBC"/>
            </a:solidFill>
          </p:spPr>
          <p:txBody>
            <a:bodyPr wrap="square" lIns="0" tIns="0" rIns="0" bIns="0" rtlCol="0"/>
            <a:lstStyle/>
            <a:p>
              <a:endParaRPr sz="2400"/>
            </a:p>
          </p:txBody>
        </p:sp>
        <p:sp>
          <p:nvSpPr>
            <p:cNvPr id="26" name="object 26"/>
            <p:cNvSpPr/>
            <p:nvPr/>
          </p:nvSpPr>
          <p:spPr>
            <a:xfrm>
              <a:off x="6272021" y="3394709"/>
              <a:ext cx="838835" cy="381635"/>
            </a:xfrm>
            <a:custGeom>
              <a:avLst/>
              <a:gdLst/>
              <a:ahLst/>
              <a:cxnLst/>
              <a:rect l="l" t="t" r="r" b="b"/>
              <a:pathLst>
                <a:path w="838834" h="381635">
                  <a:moveTo>
                    <a:pt x="230885" y="107568"/>
                  </a:moveTo>
                  <a:lnTo>
                    <a:pt x="0" y="0"/>
                  </a:lnTo>
                </a:path>
                <a:path w="838834" h="381635">
                  <a:moveTo>
                    <a:pt x="838326" y="188975"/>
                  </a:moveTo>
                  <a:lnTo>
                    <a:pt x="652272" y="381126"/>
                  </a:lnTo>
                </a:path>
              </a:pathLst>
            </a:custGeom>
            <a:ln w="38100">
              <a:solidFill>
                <a:srgbClr val="00C2FF"/>
              </a:solidFill>
            </a:ln>
          </p:spPr>
          <p:txBody>
            <a:bodyPr wrap="square" lIns="0" tIns="0" rIns="0" bIns="0" rtlCol="0"/>
            <a:lstStyle/>
            <a:p>
              <a:endParaRPr sz="2400"/>
            </a:p>
          </p:txBody>
        </p:sp>
        <p:sp>
          <p:nvSpPr>
            <p:cNvPr id="27" name="object 27"/>
            <p:cNvSpPr/>
            <p:nvPr/>
          </p:nvSpPr>
          <p:spPr>
            <a:xfrm>
              <a:off x="3778757" y="2544318"/>
              <a:ext cx="419100" cy="121920"/>
            </a:xfrm>
            <a:custGeom>
              <a:avLst/>
              <a:gdLst/>
              <a:ahLst/>
              <a:cxnLst/>
              <a:rect l="l" t="t" r="r" b="b"/>
              <a:pathLst>
                <a:path w="419100" h="121919">
                  <a:moveTo>
                    <a:pt x="358139" y="0"/>
                  </a:moveTo>
                  <a:lnTo>
                    <a:pt x="358139" y="30480"/>
                  </a:lnTo>
                  <a:lnTo>
                    <a:pt x="0" y="30480"/>
                  </a:lnTo>
                  <a:lnTo>
                    <a:pt x="0" y="91439"/>
                  </a:lnTo>
                  <a:lnTo>
                    <a:pt x="358139" y="91439"/>
                  </a:lnTo>
                  <a:lnTo>
                    <a:pt x="358139" y="121919"/>
                  </a:lnTo>
                  <a:lnTo>
                    <a:pt x="419100" y="60959"/>
                  </a:lnTo>
                  <a:lnTo>
                    <a:pt x="358139" y="0"/>
                  </a:lnTo>
                  <a:close/>
                </a:path>
              </a:pathLst>
            </a:custGeom>
            <a:solidFill>
              <a:srgbClr val="00C3FF"/>
            </a:solidFill>
          </p:spPr>
          <p:txBody>
            <a:bodyPr wrap="square" lIns="0" tIns="0" rIns="0" bIns="0" rtlCol="0"/>
            <a:lstStyle/>
            <a:p>
              <a:endParaRPr sz="2400"/>
            </a:p>
          </p:txBody>
        </p:sp>
        <p:sp>
          <p:nvSpPr>
            <p:cNvPr id="28" name="object 28"/>
            <p:cNvSpPr/>
            <p:nvPr/>
          </p:nvSpPr>
          <p:spPr>
            <a:xfrm>
              <a:off x="3778757" y="2544318"/>
              <a:ext cx="419100" cy="121920"/>
            </a:xfrm>
            <a:custGeom>
              <a:avLst/>
              <a:gdLst/>
              <a:ahLst/>
              <a:cxnLst/>
              <a:rect l="l" t="t" r="r" b="b"/>
              <a:pathLst>
                <a:path w="419100" h="121919">
                  <a:moveTo>
                    <a:pt x="0" y="30480"/>
                  </a:moveTo>
                  <a:lnTo>
                    <a:pt x="358139" y="30480"/>
                  </a:lnTo>
                  <a:lnTo>
                    <a:pt x="358139" y="0"/>
                  </a:lnTo>
                  <a:lnTo>
                    <a:pt x="419100" y="60959"/>
                  </a:lnTo>
                  <a:lnTo>
                    <a:pt x="358139" y="121919"/>
                  </a:lnTo>
                  <a:lnTo>
                    <a:pt x="358139" y="91439"/>
                  </a:lnTo>
                  <a:lnTo>
                    <a:pt x="0" y="91439"/>
                  </a:lnTo>
                  <a:lnTo>
                    <a:pt x="0" y="30480"/>
                  </a:lnTo>
                  <a:close/>
                </a:path>
              </a:pathLst>
            </a:custGeom>
            <a:ln w="25908">
              <a:solidFill>
                <a:srgbClr val="008FBB"/>
              </a:solidFill>
            </a:ln>
          </p:spPr>
          <p:txBody>
            <a:bodyPr wrap="square" lIns="0" tIns="0" rIns="0" bIns="0" rtlCol="0"/>
            <a:lstStyle/>
            <a:p>
              <a:endParaRPr sz="2400"/>
            </a:p>
          </p:txBody>
        </p:sp>
        <p:sp>
          <p:nvSpPr>
            <p:cNvPr id="29" name="object 29"/>
            <p:cNvSpPr/>
            <p:nvPr/>
          </p:nvSpPr>
          <p:spPr>
            <a:xfrm>
              <a:off x="5557265" y="1954530"/>
              <a:ext cx="417830" cy="121920"/>
            </a:xfrm>
            <a:custGeom>
              <a:avLst/>
              <a:gdLst/>
              <a:ahLst/>
              <a:cxnLst/>
              <a:rect l="l" t="t" r="r" b="b"/>
              <a:pathLst>
                <a:path w="417829" h="121919">
                  <a:moveTo>
                    <a:pt x="356616" y="0"/>
                  </a:moveTo>
                  <a:lnTo>
                    <a:pt x="356616" y="30480"/>
                  </a:lnTo>
                  <a:lnTo>
                    <a:pt x="0" y="30480"/>
                  </a:lnTo>
                  <a:lnTo>
                    <a:pt x="0" y="91439"/>
                  </a:lnTo>
                  <a:lnTo>
                    <a:pt x="356616" y="91439"/>
                  </a:lnTo>
                  <a:lnTo>
                    <a:pt x="356616" y="121919"/>
                  </a:lnTo>
                  <a:lnTo>
                    <a:pt x="417575" y="60959"/>
                  </a:lnTo>
                  <a:lnTo>
                    <a:pt x="356616" y="0"/>
                  </a:lnTo>
                  <a:close/>
                </a:path>
              </a:pathLst>
            </a:custGeom>
            <a:solidFill>
              <a:srgbClr val="00C3FF"/>
            </a:solidFill>
          </p:spPr>
          <p:txBody>
            <a:bodyPr wrap="square" lIns="0" tIns="0" rIns="0" bIns="0" rtlCol="0"/>
            <a:lstStyle/>
            <a:p>
              <a:endParaRPr sz="2400"/>
            </a:p>
          </p:txBody>
        </p:sp>
        <p:sp>
          <p:nvSpPr>
            <p:cNvPr id="30" name="object 30"/>
            <p:cNvSpPr/>
            <p:nvPr/>
          </p:nvSpPr>
          <p:spPr>
            <a:xfrm>
              <a:off x="5557265" y="1954530"/>
              <a:ext cx="417830" cy="121920"/>
            </a:xfrm>
            <a:custGeom>
              <a:avLst/>
              <a:gdLst/>
              <a:ahLst/>
              <a:cxnLst/>
              <a:rect l="l" t="t" r="r" b="b"/>
              <a:pathLst>
                <a:path w="417829" h="121919">
                  <a:moveTo>
                    <a:pt x="0" y="30480"/>
                  </a:moveTo>
                  <a:lnTo>
                    <a:pt x="356616" y="30480"/>
                  </a:lnTo>
                  <a:lnTo>
                    <a:pt x="356616" y="0"/>
                  </a:lnTo>
                  <a:lnTo>
                    <a:pt x="417575" y="60959"/>
                  </a:lnTo>
                  <a:lnTo>
                    <a:pt x="356616" y="121919"/>
                  </a:lnTo>
                  <a:lnTo>
                    <a:pt x="356616" y="91439"/>
                  </a:lnTo>
                  <a:lnTo>
                    <a:pt x="0" y="91439"/>
                  </a:lnTo>
                  <a:lnTo>
                    <a:pt x="0" y="30480"/>
                  </a:lnTo>
                  <a:close/>
                </a:path>
              </a:pathLst>
            </a:custGeom>
            <a:ln w="25908">
              <a:solidFill>
                <a:srgbClr val="008FBB"/>
              </a:solidFill>
            </a:ln>
          </p:spPr>
          <p:txBody>
            <a:bodyPr wrap="square" lIns="0" tIns="0" rIns="0" bIns="0" rtlCol="0"/>
            <a:lstStyle/>
            <a:p>
              <a:endParaRPr sz="2400"/>
            </a:p>
          </p:txBody>
        </p:sp>
        <p:sp>
          <p:nvSpPr>
            <p:cNvPr id="31" name="object 31"/>
            <p:cNvSpPr/>
            <p:nvPr/>
          </p:nvSpPr>
          <p:spPr>
            <a:xfrm>
              <a:off x="5545073" y="3242309"/>
              <a:ext cx="417830" cy="123825"/>
            </a:xfrm>
            <a:custGeom>
              <a:avLst/>
              <a:gdLst/>
              <a:ahLst/>
              <a:cxnLst/>
              <a:rect l="l" t="t" r="r" b="b"/>
              <a:pathLst>
                <a:path w="417829" h="123825">
                  <a:moveTo>
                    <a:pt x="355853" y="0"/>
                  </a:moveTo>
                  <a:lnTo>
                    <a:pt x="355853" y="30860"/>
                  </a:lnTo>
                  <a:lnTo>
                    <a:pt x="0" y="30860"/>
                  </a:lnTo>
                  <a:lnTo>
                    <a:pt x="0" y="92582"/>
                  </a:lnTo>
                  <a:lnTo>
                    <a:pt x="355853" y="92582"/>
                  </a:lnTo>
                  <a:lnTo>
                    <a:pt x="355853" y="123443"/>
                  </a:lnTo>
                  <a:lnTo>
                    <a:pt x="417575" y="61721"/>
                  </a:lnTo>
                  <a:lnTo>
                    <a:pt x="355853" y="0"/>
                  </a:lnTo>
                  <a:close/>
                </a:path>
              </a:pathLst>
            </a:custGeom>
            <a:solidFill>
              <a:srgbClr val="00C3FF"/>
            </a:solidFill>
          </p:spPr>
          <p:txBody>
            <a:bodyPr wrap="square" lIns="0" tIns="0" rIns="0" bIns="0" rtlCol="0"/>
            <a:lstStyle/>
            <a:p>
              <a:endParaRPr sz="2400"/>
            </a:p>
          </p:txBody>
        </p:sp>
        <p:sp>
          <p:nvSpPr>
            <p:cNvPr id="32" name="object 32"/>
            <p:cNvSpPr/>
            <p:nvPr/>
          </p:nvSpPr>
          <p:spPr>
            <a:xfrm>
              <a:off x="5545073" y="3242309"/>
              <a:ext cx="417830" cy="123825"/>
            </a:xfrm>
            <a:custGeom>
              <a:avLst/>
              <a:gdLst/>
              <a:ahLst/>
              <a:cxnLst/>
              <a:rect l="l" t="t" r="r" b="b"/>
              <a:pathLst>
                <a:path w="417829" h="123825">
                  <a:moveTo>
                    <a:pt x="0" y="30860"/>
                  </a:moveTo>
                  <a:lnTo>
                    <a:pt x="355853" y="30860"/>
                  </a:lnTo>
                  <a:lnTo>
                    <a:pt x="355853" y="0"/>
                  </a:lnTo>
                  <a:lnTo>
                    <a:pt x="417575" y="61721"/>
                  </a:lnTo>
                  <a:lnTo>
                    <a:pt x="355853" y="123443"/>
                  </a:lnTo>
                  <a:lnTo>
                    <a:pt x="355853" y="92582"/>
                  </a:lnTo>
                  <a:lnTo>
                    <a:pt x="0" y="92582"/>
                  </a:lnTo>
                  <a:lnTo>
                    <a:pt x="0" y="30860"/>
                  </a:lnTo>
                  <a:close/>
                </a:path>
              </a:pathLst>
            </a:custGeom>
            <a:ln w="25908">
              <a:solidFill>
                <a:srgbClr val="008FBB"/>
              </a:solidFill>
            </a:ln>
          </p:spPr>
          <p:txBody>
            <a:bodyPr wrap="square" lIns="0" tIns="0" rIns="0" bIns="0" rtlCol="0"/>
            <a:lstStyle/>
            <a:p>
              <a:endParaRPr sz="2400"/>
            </a:p>
          </p:txBody>
        </p:sp>
        <p:sp>
          <p:nvSpPr>
            <p:cNvPr id="33" name="object 33"/>
            <p:cNvSpPr/>
            <p:nvPr/>
          </p:nvSpPr>
          <p:spPr>
            <a:xfrm>
              <a:off x="7273289" y="2221230"/>
              <a:ext cx="419100" cy="123825"/>
            </a:xfrm>
            <a:custGeom>
              <a:avLst/>
              <a:gdLst/>
              <a:ahLst/>
              <a:cxnLst/>
              <a:rect l="l" t="t" r="r" b="b"/>
              <a:pathLst>
                <a:path w="419100" h="123825">
                  <a:moveTo>
                    <a:pt x="357377" y="0"/>
                  </a:moveTo>
                  <a:lnTo>
                    <a:pt x="357377" y="30861"/>
                  </a:lnTo>
                  <a:lnTo>
                    <a:pt x="0" y="30861"/>
                  </a:lnTo>
                  <a:lnTo>
                    <a:pt x="0" y="92582"/>
                  </a:lnTo>
                  <a:lnTo>
                    <a:pt x="357377" y="92582"/>
                  </a:lnTo>
                  <a:lnTo>
                    <a:pt x="357377" y="123443"/>
                  </a:lnTo>
                  <a:lnTo>
                    <a:pt x="419100" y="61721"/>
                  </a:lnTo>
                  <a:lnTo>
                    <a:pt x="357377" y="0"/>
                  </a:lnTo>
                  <a:close/>
                </a:path>
              </a:pathLst>
            </a:custGeom>
            <a:solidFill>
              <a:srgbClr val="00C3FF"/>
            </a:solidFill>
          </p:spPr>
          <p:txBody>
            <a:bodyPr wrap="square" lIns="0" tIns="0" rIns="0" bIns="0" rtlCol="0"/>
            <a:lstStyle/>
            <a:p>
              <a:endParaRPr sz="2400"/>
            </a:p>
          </p:txBody>
        </p:sp>
        <p:sp>
          <p:nvSpPr>
            <p:cNvPr id="34" name="object 34"/>
            <p:cNvSpPr/>
            <p:nvPr/>
          </p:nvSpPr>
          <p:spPr>
            <a:xfrm>
              <a:off x="7273289" y="2221230"/>
              <a:ext cx="419100" cy="123825"/>
            </a:xfrm>
            <a:custGeom>
              <a:avLst/>
              <a:gdLst/>
              <a:ahLst/>
              <a:cxnLst/>
              <a:rect l="l" t="t" r="r" b="b"/>
              <a:pathLst>
                <a:path w="419100" h="123825">
                  <a:moveTo>
                    <a:pt x="0" y="30861"/>
                  </a:moveTo>
                  <a:lnTo>
                    <a:pt x="357377" y="30861"/>
                  </a:lnTo>
                  <a:lnTo>
                    <a:pt x="357377" y="0"/>
                  </a:lnTo>
                  <a:lnTo>
                    <a:pt x="419100" y="61721"/>
                  </a:lnTo>
                  <a:lnTo>
                    <a:pt x="357377" y="123443"/>
                  </a:lnTo>
                  <a:lnTo>
                    <a:pt x="357377" y="92582"/>
                  </a:lnTo>
                  <a:lnTo>
                    <a:pt x="0" y="92582"/>
                  </a:lnTo>
                  <a:lnTo>
                    <a:pt x="0" y="30861"/>
                  </a:lnTo>
                  <a:close/>
                </a:path>
              </a:pathLst>
            </a:custGeom>
            <a:ln w="25908">
              <a:solidFill>
                <a:srgbClr val="008FBB"/>
              </a:solidFill>
            </a:ln>
          </p:spPr>
          <p:txBody>
            <a:bodyPr wrap="square" lIns="0" tIns="0" rIns="0" bIns="0" rtlCol="0"/>
            <a:lstStyle/>
            <a:p>
              <a:endParaRPr sz="2400"/>
            </a:p>
          </p:txBody>
        </p:sp>
        <p:sp>
          <p:nvSpPr>
            <p:cNvPr id="35" name="object 35"/>
            <p:cNvSpPr/>
            <p:nvPr/>
          </p:nvSpPr>
          <p:spPr>
            <a:xfrm>
              <a:off x="7341869" y="3601974"/>
              <a:ext cx="419100" cy="123825"/>
            </a:xfrm>
            <a:custGeom>
              <a:avLst/>
              <a:gdLst/>
              <a:ahLst/>
              <a:cxnLst/>
              <a:rect l="l" t="t" r="r" b="b"/>
              <a:pathLst>
                <a:path w="419100" h="123825">
                  <a:moveTo>
                    <a:pt x="357377" y="0"/>
                  </a:moveTo>
                  <a:lnTo>
                    <a:pt x="357377" y="30860"/>
                  </a:lnTo>
                  <a:lnTo>
                    <a:pt x="0" y="30860"/>
                  </a:lnTo>
                  <a:lnTo>
                    <a:pt x="0" y="92582"/>
                  </a:lnTo>
                  <a:lnTo>
                    <a:pt x="357377" y="92582"/>
                  </a:lnTo>
                  <a:lnTo>
                    <a:pt x="357377" y="123443"/>
                  </a:lnTo>
                  <a:lnTo>
                    <a:pt x="419100" y="61721"/>
                  </a:lnTo>
                  <a:lnTo>
                    <a:pt x="357377" y="0"/>
                  </a:lnTo>
                  <a:close/>
                </a:path>
              </a:pathLst>
            </a:custGeom>
            <a:solidFill>
              <a:srgbClr val="00C3FF"/>
            </a:solidFill>
          </p:spPr>
          <p:txBody>
            <a:bodyPr wrap="square" lIns="0" tIns="0" rIns="0" bIns="0" rtlCol="0"/>
            <a:lstStyle/>
            <a:p>
              <a:endParaRPr sz="2400"/>
            </a:p>
          </p:txBody>
        </p:sp>
        <p:sp>
          <p:nvSpPr>
            <p:cNvPr id="36" name="object 36"/>
            <p:cNvSpPr/>
            <p:nvPr/>
          </p:nvSpPr>
          <p:spPr>
            <a:xfrm>
              <a:off x="7341869" y="3601974"/>
              <a:ext cx="419100" cy="123825"/>
            </a:xfrm>
            <a:custGeom>
              <a:avLst/>
              <a:gdLst/>
              <a:ahLst/>
              <a:cxnLst/>
              <a:rect l="l" t="t" r="r" b="b"/>
              <a:pathLst>
                <a:path w="419100" h="123825">
                  <a:moveTo>
                    <a:pt x="0" y="30860"/>
                  </a:moveTo>
                  <a:lnTo>
                    <a:pt x="357377" y="30860"/>
                  </a:lnTo>
                  <a:lnTo>
                    <a:pt x="357377" y="0"/>
                  </a:lnTo>
                  <a:lnTo>
                    <a:pt x="419100" y="61721"/>
                  </a:lnTo>
                  <a:lnTo>
                    <a:pt x="357377" y="123443"/>
                  </a:lnTo>
                  <a:lnTo>
                    <a:pt x="357377" y="92582"/>
                  </a:lnTo>
                  <a:lnTo>
                    <a:pt x="0" y="92582"/>
                  </a:lnTo>
                  <a:lnTo>
                    <a:pt x="0" y="30860"/>
                  </a:lnTo>
                  <a:close/>
                </a:path>
              </a:pathLst>
            </a:custGeom>
            <a:ln w="25908">
              <a:solidFill>
                <a:srgbClr val="008FBB"/>
              </a:solidFill>
            </a:ln>
          </p:spPr>
          <p:txBody>
            <a:bodyPr wrap="square" lIns="0" tIns="0" rIns="0" bIns="0" rtlCol="0"/>
            <a:lstStyle/>
            <a:p>
              <a:endParaRPr sz="2400"/>
            </a:p>
          </p:txBody>
        </p:sp>
      </p:grpSp>
      <p:sp>
        <p:nvSpPr>
          <p:cNvPr id="37" name="object 37"/>
          <p:cNvSpPr txBox="1"/>
          <p:nvPr/>
        </p:nvSpPr>
        <p:spPr>
          <a:xfrm>
            <a:off x="8243145" y="5549121"/>
            <a:ext cx="1354667" cy="344475"/>
          </a:xfrm>
          <a:prstGeom prst="rect">
            <a:avLst/>
          </a:prstGeom>
        </p:spPr>
        <p:txBody>
          <a:bodyPr vert="horz" wrap="square" lIns="0" tIns="16087" rIns="0" bIns="0" rtlCol="0">
            <a:spAutoFit/>
          </a:bodyPr>
          <a:lstStyle/>
          <a:p>
            <a:pPr marL="16933">
              <a:spcBef>
                <a:spcPts val="127"/>
              </a:spcBef>
            </a:pPr>
            <a:r>
              <a:rPr sz="2133" dirty="0">
                <a:solidFill>
                  <a:srgbClr val="FFFFFF"/>
                </a:solidFill>
                <a:latin typeface="Calibri"/>
                <a:cs typeface="Calibri"/>
              </a:rPr>
              <a:t>Data</a:t>
            </a:r>
            <a:r>
              <a:rPr sz="2133" spc="-53" dirty="0">
                <a:solidFill>
                  <a:srgbClr val="FFFFFF"/>
                </a:solidFill>
                <a:latin typeface="Calibri"/>
                <a:cs typeface="Calibri"/>
              </a:rPr>
              <a:t> </a:t>
            </a:r>
            <a:r>
              <a:rPr sz="2133" dirty="0">
                <a:solidFill>
                  <a:srgbClr val="FFFFFF"/>
                </a:solidFill>
                <a:latin typeface="Calibri"/>
                <a:cs typeface="Calibri"/>
              </a:rPr>
              <a:t>Mart</a:t>
            </a:r>
            <a:r>
              <a:rPr sz="2133" spc="-27" dirty="0">
                <a:solidFill>
                  <a:srgbClr val="FFFFFF"/>
                </a:solidFill>
                <a:latin typeface="Calibri"/>
                <a:cs typeface="Calibri"/>
              </a:rPr>
              <a:t> </a:t>
            </a:r>
            <a:r>
              <a:rPr sz="2133" spc="-67" dirty="0">
                <a:solidFill>
                  <a:srgbClr val="FFFFFF"/>
                </a:solidFill>
                <a:latin typeface="Calibri"/>
                <a:cs typeface="Calibri"/>
              </a:rPr>
              <a:t>2</a:t>
            </a:r>
            <a:endParaRPr sz="2133">
              <a:latin typeface="Calibri"/>
              <a:cs typeface="Calibri"/>
            </a:endParaRPr>
          </a:p>
        </p:txBody>
      </p:sp>
      <p:pic>
        <p:nvPicPr>
          <p:cNvPr id="38" name="object 38"/>
          <p:cNvPicPr/>
          <p:nvPr/>
        </p:nvPicPr>
        <p:blipFill>
          <a:blip r:embed="rId2" cstate="print"/>
          <a:stretch>
            <a:fillRect/>
          </a:stretch>
        </p:blipFill>
        <p:spPr>
          <a:xfrm>
            <a:off x="10607040" y="2645665"/>
            <a:ext cx="617728" cy="617727"/>
          </a:xfrm>
          <a:prstGeom prst="rect">
            <a:avLst/>
          </a:prstGeom>
        </p:spPr>
      </p:pic>
      <p:sp>
        <p:nvSpPr>
          <p:cNvPr id="39" name="object 39"/>
          <p:cNvSpPr txBox="1"/>
          <p:nvPr/>
        </p:nvSpPr>
        <p:spPr>
          <a:xfrm>
            <a:off x="10473096" y="4468877"/>
            <a:ext cx="1131992" cy="666892"/>
          </a:xfrm>
          <a:prstGeom prst="rect">
            <a:avLst/>
          </a:prstGeom>
        </p:spPr>
        <p:txBody>
          <a:bodyPr vert="horz" wrap="square" lIns="0" tIns="14393" rIns="0" bIns="0" rtlCol="0">
            <a:spAutoFit/>
          </a:bodyPr>
          <a:lstStyle/>
          <a:p>
            <a:pPr marL="71118" marR="6773" indent="-55032">
              <a:lnSpc>
                <a:spcPct val="100600"/>
              </a:lnSpc>
              <a:spcBef>
                <a:spcPts val="113"/>
              </a:spcBef>
            </a:pPr>
            <a:r>
              <a:rPr sz="2133" spc="-13" dirty="0">
                <a:solidFill>
                  <a:srgbClr val="FFFFFF"/>
                </a:solidFill>
                <a:latin typeface="Calibri"/>
                <a:cs typeface="Calibri"/>
              </a:rPr>
              <a:t>Predictive Analytics</a:t>
            </a:r>
            <a:endParaRPr sz="2133">
              <a:latin typeface="Calibri"/>
              <a:cs typeface="Calibri"/>
            </a:endParaRPr>
          </a:p>
        </p:txBody>
      </p:sp>
      <p:sp>
        <p:nvSpPr>
          <p:cNvPr id="40" name="object 40"/>
          <p:cNvSpPr txBox="1"/>
          <p:nvPr/>
        </p:nvSpPr>
        <p:spPr>
          <a:xfrm>
            <a:off x="3210560" y="1467103"/>
            <a:ext cx="1706880" cy="375253"/>
          </a:xfrm>
          <a:prstGeom prst="rect">
            <a:avLst/>
          </a:prstGeom>
          <a:solidFill>
            <a:srgbClr val="404040"/>
          </a:solidFill>
        </p:spPr>
        <p:txBody>
          <a:bodyPr vert="horz" wrap="square" lIns="0" tIns="46567" rIns="0" bIns="0" rtlCol="0">
            <a:spAutoFit/>
          </a:bodyPr>
          <a:lstStyle/>
          <a:p>
            <a:pPr marL="121917">
              <a:spcBef>
                <a:spcPts val="367"/>
              </a:spcBef>
            </a:pPr>
            <a:r>
              <a:rPr sz="2133" dirty="0">
                <a:solidFill>
                  <a:srgbClr val="FFFFFF"/>
                </a:solidFill>
                <a:latin typeface="Calibri"/>
                <a:cs typeface="Calibri"/>
              </a:rPr>
              <a:t>Landing</a:t>
            </a:r>
            <a:r>
              <a:rPr sz="2133" spc="-27" dirty="0">
                <a:solidFill>
                  <a:srgbClr val="FFFFFF"/>
                </a:solidFill>
                <a:latin typeface="Calibri"/>
                <a:cs typeface="Calibri"/>
              </a:rPr>
              <a:t> zone</a:t>
            </a:r>
            <a:endParaRPr sz="2133">
              <a:latin typeface="Calibri"/>
              <a:cs typeface="Calibri"/>
            </a:endParaRPr>
          </a:p>
        </p:txBody>
      </p:sp>
      <p:sp>
        <p:nvSpPr>
          <p:cNvPr id="41" name="object 41"/>
          <p:cNvSpPr txBox="1"/>
          <p:nvPr/>
        </p:nvSpPr>
        <p:spPr>
          <a:xfrm>
            <a:off x="5273039" y="1469136"/>
            <a:ext cx="2471419" cy="375253"/>
          </a:xfrm>
          <a:prstGeom prst="rect">
            <a:avLst/>
          </a:prstGeom>
          <a:solidFill>
            <a:srgbClr val="404040"/>
          </a:solidFill>
        </p:spPr>
        <p:txBody>
          <a:bodyPr vert="horz" wrap="square" lIns="0" tIns="46567" rIns="0" bIns="0" rtlCol="0">
            <a:spAutoFit/>
          </a:bodyPr>
          <a:lstStyle/>
          <a:p>
            <a:pPr marL="121917">
              <a:spcBef>
                <a:spcPts val="367"/>
              </a:spcBef>
            </a:pPr>
            <a:r>
              <a:rPr sz="2133" dirty="0">
                <a:solidFill>
                  <a:srgbClr val="FFFFFF"/>
                </a:solidFill>
                <a:latin typeface="Calibri"/>
                <a:cs typeface="Calibri"/>
              </a:rPr>
              <a:t>Single</a:t>
            </a:r>
            <a:r>
              <a:rPr sz="2133" spc="-53" dirty="0">
                <a:solidFill>
                  <a:srgbClr val="FFFFFF"/>
                </a:solidFill>
                <a:latin typeface="Calibri"/>
                <a:cs typeface="Calibri"/>
              </a:rPr>
              <a:t> </a:t>
            </a:r>
            <a:r>
              <a:rPr sz="2133" dirty="0">
                <a:solidFill>
                  <a:srgbClr val="FFFFFF"/>
                </a:solidFill>
                <a:latin typeface="Calibri"/>
                <a:cs typeface="Calibri"/>
              </a:rPr>
              <a:t>point</a:t>
            </a:r>
            <a:r>
              <a:rPr sz="2133" spc="-27" dirty="0">
                <a:solidFill>
                  <a:srgbClr val="FFFFFF"/>
                </a:solidFill>
                <a:latin typeface="Calibri"/>
                <a:cs typeface="Calibri"/>
              </a:rPr>
              <a:t> </a:t>
            </a:r>
            <a:r>
              <a:rPr sz="2133" dirty="0">
                <a:solidFill>
                  <a:srgbClr val="FFFFFF"/>
                </a:solidFill>
                <a:latin typeface="Calibri"/>
                <a:cs typeface="Calibri"/>
              </a:rPr>
              <a:t>of</a:t>
            </a:r>
            <a:r>
              <a:rPr sz="2133" spc="-33" dirty="0">
                <a:solidFill>
                  <a:srgbClr val="FFFFFF"/>
                </a:solidFill>
                <a:latin typeface="Calibri"/>
                <a:cs typeface="Calibri"/>
              </a:rPr>
              <a:t> </a:t>
            </a:r>
            <a:r>
              <a:rPr sz="2133" spc="-27" dirty="0">
                <a:solidFill>
                  <a:srgbClr val="FFFFFF"/>
                </a:solidFill>
                <a:latin typeface="Calibri"/>
                <a:cs typeface="Calibri"/>
              </a:rPr>
              <a:t>truth</a:t>
            </a:r>
            <a:endParaRPr sz="2133">
              <a:latin typeface="Calibri"/>
              <a:cs typeface="Calibri"/>
            </a:endParaRPr>
          </a:p>
        </p:txBody>
      </p:sp>
      <p:sp>
        <p:nvSpPr>
          <p:cNvPr id="42" name="object 42"/>
          <p:cNvSpPr txBox="1"/>
          <p:nvPr/>
        </p:nvSpPr>
        <p:spPr>
          <a:xfrm>
            <a:off x="8152385" y="1180593"/>
            <a:ext cx="1597660" cy="374398"/>
          </a:xfrm>
          <a:prstGeom prst="rect">
            <a:avLst/>
          </a:prstGeom>
          <a:solidFill>
            <a:srgbClr val="404040"/>
          </a:solidFill>
        </p:spPr>
        <p:txBody>
          <a:bodyPr vert="horz" wrap="square" lIns="0" tIns="45720" rIns="0" bIns="0" rtlCol="0">
            <a:spAutoFit/>
          </a:bodyPr>
          <a:lstStyle/>
          <a:p>
            <a:pPr marL="123610">
              <a:spcBef>
                <a:spcPts val="360"/>
              </a:spcBef>
            </a:pPr>
            <a:r>
              <a:rPr sz="2133" dirty="0">
                <a:solidFill>
                  <a:srgbClr val="FFFFFF"/>
                </a:solidFill>
                <a:latin typeface="Calibri"/>
                <a:cs typeface="Calibri"/>
              </a:rPr>
              <a:t>Access</a:t>
            </a:r>
            <a:r>
              <a:rPr sz="2133" spc="-67" dirty="0">
                <a:solidFill>
                  <a:srgbClr val="FFFFFF"/>
                </a:solidFill>
                <a:latin typeface="Calibri"/>
                <a:cs typeface="Calibri"/>
              </a:rPr>
              <a:t> </a:t>
            </a:r>
            <a:r>
              <a:rPr sz="2133" spc="-13" dirty="0">
                <a:solidFill>
                  <a:srgbClr val="FFFFFF"/>
                </a:solidFill>
                <a:latin typeface="Calibri"/>
                <a:cs typeface="Calibri"/>
              </a:rPr>
              <a:t>layer</a:t>
            </a:r>
            <a:endParaRPr sz="2133">
              <a:latin typeface="Calibri"/>
              <a:cs typeface="Calibri"/>
            </a:endParaRPr>
          </a:p>
        </p:txBody>
      </p:sp>
      <p:sp>
        <p:nvSpPr>
          <p:cNvPr id="43" name="object 43"/>
          <p:cNvSpPr txBox="1"/>
          <p:nvPr/>
        </p:nvSpPr>
        <p:spPr>
          <a:xfrm>
            <a:off x="10194543" y="1076959"/>
            <a:ext cx="1583267" cy="695104"/>
          </a:xfrm>
          <a:prstGeom prst="rect">
            <a:avLst/>
          </a:prstGeom>
          <a:solidFill>
            <a:srgbClr val="404040"/>
          </a:solidFill>
        </p:spPr>
        <p:txBody>
          <a:bodyPr vert="horz" wrap="square" lIns="0" tIns="42333" rIns="0" bIns="0" rtlCol="0">
            <a:spAutoFit/>
          </a:bodyPr>
          <a:lstStyle/>
          <a:p>
            <a:pPr marL="123610" marR="121917">
              <a:lnSpc>
                <a:spcPct val="100600"/>
              </a:lnSpc>
              <a:spcBef>
                <a:spcPts val="333"/>
              </a:spcBef>
            </a:pPr>
            <a:r>
              <a:rPr sz="2133" spc="-13" dirty="0">
                <a:solidFill>
                  <a:srgbClr val="FFFFFF"/>
                </a:solidFill>
                <a:latin typeface="Calibri"/>
                <a:cs typeface="Calibri"/>
              </a:rPr>
              <a:t>Business applications</a:t>
            </a:r>
            <a:endParaRPr sz="2133">
              <a:latin typeface="Calibri"/>
              <a:cs typeface="Calibri"/>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9757" y="260251"/>
            <a:ext cx="5632233"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The</a:t>
            </a:r>
            <a:r>
              <a:rPr spc="13" dirty="0">
                <a:solidFill>
                  <a:schemeClr val="bg1"/>
                </a:solidFill>
                <a:latin typeface="+mn-lt"/>
              </a:rPr>
              <a:t> </a:t>
            </a:r>
            <a:r>
              <a:rPr dirty="0">
                <a:solidFill>
                  <a:schemeClr val="bg1"/>
                </a:solidFill>
                <a:latin typeface="+mn-lt"/>
              </a:rPr>
              <a:t>different </a:t>
            </a:r>
            <a:r>
              <a:rPr spc="-13" dirty="0">
                <a:solidFill>
                  <a:schemeClr val="bg1"/>
                </a:solidFill>
                <a:latin typeface="+mn-lt"/>
              </a:rPr>
              <a:t>layers</a:t>
            </a:r>
          </a:p>
        </p:txBody>
      </p:sp>
      <p:sp>
        <p:nvSpPr>
          <p:cNvPr id="3" name="object 3"/>
          <p:cNvSpPr txBox="1"/>
          <p:nvPr/>
        </p:nvSpPr>
        <p:spPr>
          <a:xfrm>
            <a:off x="1335023" y="1702815"/>
            <a:ext cx="1422400" cy="608779"/>
          </a:xfrm>
          <a:prstGeom prst="rect">
            <a:avLst/>
          </a:prstGeom>
          <a:solidFill>
            <a:srgbClr val="585858"/>
          </a:solidFill>
        </p:spPr>
        <p:txBody>
          <a:bodyPr vert="horz" wrap="square" lIns="0" tIns="196427" rIns="0" bIns="0" rtlCol="0">
            <a:spAutoFit/>
          </a:bodyPr>
          <a:lstStyle/>
          <a:p>
            <a:pPr marL="121917">
              <a:spcBef>
                <a:spcPts val="1547"/>
              </a:spcBef>
            </a:pPr>
            <a:r>
              <a:rPr sz="2667" b="1" spc="-13" dirty="0">
                <a:solidFill>
                  <a:srgbClr val="D9D9D9"/>
                </a:solidFill>
                <a:latin typeface="Calibri"/>
                <a:cs typeface="Calibri"/>
              </a:rPr>
              <a:t>Staging</a:t>
            </a:r>
            <a:endParaRPr sz="2667">
              <a:latin typeface="Calibri"/>
              <a:cs typeface="Calibri"/>
            </a:endParaRPr>
          </a:p>
        </p:txBody>
      </p:sp>
      <p:sp>
        <p:nvSpPr>
          <p:cNvPr id="4" name="object 4"/>
          <p:cNvSpPr txBox="1"/>
          <p:nvPr/>
        </p:nvSpPr>
        <p:spPr>
          <a:xfrm>
            <a:off x="1324863" y="3393439"/>
            <a:ext cx="1422400" cy="610488"/>
          </a:xfrm>
          <a:prstGeom prst="rect">
            <a:avLst/>
          </a:prstGeom>
          <a:solidFill>
            <a:srgbClr val="585858"/>
          </a:solidFill>
        </p:spPr>
        <p:txBody>
          <a:bodyPr vert="horz" wrap="square" lIns="0" tIns="198120" rIns="0" bIns="0" rtlCol="0">
            <a:spAutoFit/>
          </a:bodyPr>
          <a:lstStyle/>
          <a:p>
            <a:pPr marL="121917">
              <a:spcBef>
                <a:spcPts val="1560"/>
              </a:spcBef>
            </a:pPr>
            <a:r>
              <a:rPr sz="2667" b="1" spc="-27" dirty="0">
                <a:solidFill>
                  <a:srgbClr val="D9D9D9"/>
                </a:solidFill>
                <a:latin typeface="Calibri"/>
                <a:cs typeface="Calibri"/>
              </a:rPr>
              <a:t>Core</a:t>
            </a:r>
            <a:endParaRPr sz="2667">
              <a:latin typeface="Calibri"/>
              <a:cs typeface="Calibri"/>
            </a:endParaRPr>
          </a:p>
        </p:txBody>
      </p:sp>
      <p:sp>
        <p:nvSpPr>
          <p:cNvPr id="5" name="object 5"/>
          <p:cNvSpPr txBox="1"/>
          <p:nvPr/>
        </p:nvSpPr>
        <p:spPr>
          <a:xfrm>
            <a:off x="3316731" y="1330622"/>
            <a:ext cx="5212927" cy="3384687"/>
          </a:xfrm>
          <a:prstGeom prst="rect">
            <a:avLst/>
          </a:prstGeom>
        </p:spPr>
        <p:txBody>
          <a:bodyPr vert="horz" wrap="square" lIns="0" tIns="192193" rIns="0" bIns="0" rtlCol="0">
            <a:spAutoFit/>
          </a:bodyPr>
          <a:lstStyle/>
          <a:p>
            <a:pPr marL="511374" indent="-451262">
              <a:spcBef>
                <a:spcPts val="1513"/>
              </a:spcBef>
              <a:buClr>
                <a:srgbClr val="99D3FF"/>
              </a:buClr>
              <a:buFont typeface="Wingdings"/>
              <a:buChar char=""/>
              <a:tabLst>
                <a:tab pos="511374" algn="l"/>
              </a:tabLst>
            </a:pPr>
            <a:r>
              <a:rPr sz="2400" b="1" dirty="0">
                <a:solidFill>
                  <a:srgbClr val="A6A6A6"/>
                </a:solidFill>
                <a:latin typeface="Calibri"/>
                <a:cs typeface="Calibri"/>
              </a:rPr>
              <a:t>Landing</a:t>
            </a:r>
            <a:r>
              <a:rPr sz="2400" b="1" spc="-47" dirty="0">
                <a:solidFill>
                  <a:srgbClr val="A6A6A6"/>
                </a:solidFill>
                <a:latin typeface="Calibri"/>
                <a:cs typeface="Calibri"/>
              </a:rPr>
              <a:t> </a:t>
            </a:r>
            <a:r>
              <a:rPr sz="2400" b="1" spc="-27" dirty="0">
                <a:solidFill>
                  <a:srgbClr val="A6A6A6"/>
                </a:solidFill>
                <a:latin typeface="Calibri"/>
                <a:cs typeface="Calibri"/>
              </a:rPr>
              <a:t>zone</a:t>
            </a:r>
            <a:endParaRPr sz="2400">
              <a:latin typeface="Calibri"/>
              <a:cs typeface="Calibri"/>
            </a:endParaRPr>
          </a:p>
          <a:p>
            <a:pPr marL="489361" indent="-451262">
              <a:spcBef>
                <a:spcPts val="1387"/>
              </a:spcBef>
              <a:buClr>
                <a:srgbClr val="99D3FF"/>
              </a:buClr>
              <a:buFont typeface="Wingdings"/>
              <a:buChar char=""/>
              <a:tabLst>
                <a:tab pos="489361" algn="l"/>
              </a:tabLst>
            </a:pPr>
            <a:r>
              <a:rPr sz="2400" b="1" dirty="0">
                <a:solidFill>
                  <a:srgbClr val="A6A6A6"/>
                </a:solidFill>
                <a:latin typeface="Calibri"/>
                <a:cs typeface="Calibri"/>
              </a:rPr>
              <a:t>Minimal</a:t>
            </a:r>
            <a:r>
              <a:rPr sz="2400" b="1" spc="-33" dirty="0">
                <a:solidFill>
                  <a:srgbClr val="A6A6A6"/>
                </a:solidFill>
                <a:latin typeface="Calibri"/>
                <a:cs typeface="Calibri"/>
              </a:rPr>
              <a:t> </a:t>
            </a:r>
            <a:r>
              <a:rPr sz="2400" b="1" spc="-13" dirty="0">
                <a:solidFill>
                  <a:srgbClr val="A6A6A6"/>
                </a:solidFill>
                <a:latin typeface="Calibri"/>
                <a:cs typeface="Calibri"/>
              </a:rPr>
              <a:t>transformation</a:t>
            </a:r>
            <a:endParaRPr sz="2400">
              <a:latin typeface="Calibri"/>
              <a:cs typeface="Calibri"/>
            </a:endParaRPr>
          </a:p>
          <a:p>
            <a:pPr marL="500367" indent="-451262">
              <a:spcBef>
                <a:spcPts val="1373"/>
              </a:spcBef>
              <a:buClr>
                <a:srgbClr val="99D3FF"/>
              </a:buClr>
              <a:buFont typeface="Wingdings"/>
              <a:buChar char=""/>
              <a:tabLst>
                <a:tab pos="500367" algn="l"/>
              </a:tabLst>
            </a:pPr>
            <a:r>
              <a:rPr sz="2400" b="1" dirty="0">
                <a:solidFill>
                  <a:srgbClr val="A6A6A6"/>
                </a:solidFill>
                <a:latin typeface="Calibri"/>
                <a:cs typeface="Calibri"/>
              </a:rPr>
              <a:t>"Stage"</a:t>
            </a:r>
            <a:r>
              <a:rPr sz="2400" b="1" spc="-40" dirty="0">
                <a:solidFill>
                  <a:srgbClr val="A6A6A6"/>
                </a:solidFill>
                <a:latin typeface="Calibri"/>
                <a:cs typeface="Calibri"/>
              </a:rPr>
              <a:t> </a:t>
            </a:r>
            <a:r>
              <a:rPr sz="2400" b="1" dirty="0">
                <a:solidFill>
                  <a:srgbClr val="A6A6A6"/>
                </a:solidFill>
                <a:latin typeface="Calibri"/>
                <a:cs typeface="Calibri"/>
              </a:rPr>
              <a:t>the</a:t>
            </a:r>
            <a:r>
              <a:rPr sz="2400" b="1" spc="-40" dirty="0">
                <a:solidFill>
                  <a:srgbClr val="A6A6A6"/>
                </a:solidFill>
                <a:latin typeface="Calibri"/>
                <a:cs typeface="Calibri"/>
              </a:rPr>
              <a:t> </a:t>
            </a:r>
            <a:r>
              <a:rPr sz="2400" b="1" dirty="0">
                <a:solidFill>
                  <a:srgbClr val="A6A6A6"/>
                </a:solidFill>
                <a:latin typeface="Calibri"/>
                <a:cs typeface="Calibri"/>
              </a:rPr>
              <a:t>data</a:t>
            </a:r>
            <a:r>
              <a:rPr sz="2400" b="1" spc="-13" dirty="0">
                <a:solidFill>
                  <a:srgbClr val="A6A6A6"/>
                </a:solidFill>
                <a:latin typeface="Calibri"/>
                <a:cs typeface="Calibri"/>
              </a:rPr>
              <a:t> </a:t>
            </a:r>
            <a:r>
              <a:rPr sz="2400" b="1" dirty="0">
                <a:solidFill>
                  <a:srgbClr val="A6A6A6"/>
                </a:solidFill>
                <a:latin typeface="Calibri"/>
                <a:cs typeface="Calibri"/>
              </a:rPr>
              <a:t>in</a:t>
            </a:r>
            <a:r>
              <a:rPr sz="2400" b="1" spc="-13" dirty="0">
                <a:solidFill>
                  <a:srgbClr val="A6A6A6"/>
                </a:solidFill>
                <a:latin typeface="Calibri"/>
                <a:cs typeface="Calibri"/>
              </a:rPr>
              <a:t> tables</a:t>
            </a:r>
            <a:endParaRPr sz="2400">
              <a:latin typeface="Calibri"/>
              <a:cs typeface="Calibri"/>
            </a:endParaRPr>
          </a:p>
          <a:p>
            <a:pPr marL="489361" indent="-451262">
              <a:spcBef>
                <a:spcPts val="2000"/>
              </a:spcBef>
              <a:buClr>
                <a:srgbClr val="99D3FF"/>
              </a:buClr>
              <a:buFont typeface="Wingdings"/>
              <a:buChar char=""/>
              <a:tabLst>
                <a:tab pos="489361" algn="l"/>
              </a:tabLst>
            </a:pPr>
            <a:r>
              <a:rPr sz="2400" b="1" dirty="0">
                <a:solidFill>
                  <a:srgbClr val="CCEAFF"/>
                </a:solidFill>
                <a:latin typeface="Calibri"/>
                <a:cs typeface="Calibri"/>
              </a:rPr>
              <a:t>Always</a:t>
            </a:r>
            <a:r>
              <a:rPr sz="2400" b="1" spc="-47" dirty="0">
                <a:solidFill>
                  <a:srgbClr val="CCEAFF"/>
                </a:solidFill>
                <a:latin typeface="Calibri"/>
                <a:cs typeface="Calibri"/>
              </a:rPr>
              <a:t> </a:t>
            </a:r>
            <a:r>
              <a:rPr sz="2400" b="1" spc="-13" dirty="0">
                <a:solidFill>
                  <a:srgbClr val="CCEAFF"/>
                </a:solidFill>
                <a:latin typeface="Calibri"/>
                <a:cs typeface="Calibri"/>
              </a:rPr>
              <a:t>there</a:t>
            </a:r>
            <a:endParaRPr sz="2400">
              <a:latin typeface="Calibri"/>
              <a:cs typeface="Calibri"/>
            </a:endParaRPr>
          </a:p>
          <a:p>
            <a:pPr marL="467348" indent="-450415">
              <a:spcBef>
                <a:spcPts val="1380"/>
              </a:spcBef>
              <a:buClr>
                <a:srgbClr val="99D3FF"/>
              </a:buClr>
              <a:buFont typeface="Wingdings"/>
              <a:buChar char=""/>
              <a:tabLst>
                <a:tab pos="467348" algn="l"/>
              </a:tabLst>
            </a:pPr>
            <a:r>
              <a:rPr sz="2400" b="1" dirty="0">
                <a:solidFill>
                  <a:srgbClr val="CCEAFF"/>
                </a:solidFill>
                <a:latin typeface="Calibri"/>
                <a:cs typeface="Calibri"/>
              </a:rPr>
              <a:t>Business</a:t>
            </a:r>
            <a:r>
              <a:rPr sz="2400" b="1" spc="-60" dirty="0">
                <a:solidFill>
                  <a:srgbClr val="CCEAFF"/>
                </a:solidFill>
                <a:latin typeface="Calibri"/>
                <a:cs typeface="Calibri"/>
              </a:rPr>
              <a:t> </a:t>
            </a:r>
            <a:r>
              <a:rPr sz="2400" b="1" dirty="0">
                <a:solidFill>
                  <a:srgbClr val="CCEAFF"/>
                </a:solidFill>
                <a:latin typeface="Calibri"/>
                <a:cs typeface="Calibri"/>
              </a:rPr>
              <a:t>Logic</a:t>
            </a:r>
            <a:r>
              <a:rPr sz="2400" b="1" spc="-27" dirty="0">
                <a:solidFill>
                  <a:srgbClr val="CCEAFF"/>
                </a:solidFill>
                <a:latin typeface="Calibri"/>
                <a:cs typeface="Calibri"/>
              </a:rPr>
              <a:t> </a:t>
            </a:r>
            <a:r>
              <a:rPr sz="2400" b="1" dirty="0">
                <a:solidFill>
                  <a:srgbClr val="CCEAFF"/>
                </a:solidFill>
                <a:latin typeface="Calibri"/>
                <a:cs typeface="Calibri"/>
              </a:rPr>
              <a:t>&amp;</a:t>
            </a:r>
            <a:r>
              <a:rPr sz="2400" b="1" spc="-13" dirty="0">
                <a:solidFill>
                  <a:srgbClr val="CCEAFF"/>
                </a:solidFill>
                <a:latin typeface="Calibri"/>
                <a:cs typeface="Calibri"/>
              </a:rPr>
              <a:t> </a:t>
            </a:r>
            <a:r>
              <a:rPr sz="2400" b="1" dirty="0">
                <a:solidFill>
                  <a:srgbClr val="CCEAFF"/>
                </a:solidFill>
                <a:latin typeface="Calibri"/>
                <a:cs typeface="Calibri"/>
              </a:rPr>
              <a:t>Single</a:t>
            </a:r>
            <a:r>
              <a:rPr sz="2400" b="1" spc="-27" dirty="0">
                <a:solidFill>
                  <a:srgbClr val="CCEAFF"/>
                </a:solidFill>
                <a:latin typeface="Calibri"/>
                <a:cs typeface="Calibri"/>
              </a:rPr>
              <a:t> </a:t>
            </a:r>
            <a:r>
              <a:rPr sz="2400" b="1" dirty="0">
                <a:solidFill>
                  <a:srgbClr val="CCEAFF"/>
                </a:solidFill>
                <a:latin typeface="Calibri"/>
                <a:cs typeface="Calibri"/>
              </a:rPr>
              <a:t>Point</a:t>
            </a:r>
            <a:r>
              <a:rPr sz="2400" b="1" spc="-60" dirty="0">
                <a:solidFill>
                  <a:srgbClr val="CCEAFF"/>
                </a:solidFill>
                <a:latin typeface="Calibri"/>
                <a:cs typeface="Calibri"/>
              </a:rPr>
              <a:t> </a:t>
            </a:r>
            <a:r>
              <a:rPr sz="2400" b="1" dirty="0">
                <a:solidFill>
                  <a:srgbClr val="CCEAFF"/>
                </a:solidFill>
                <a:latin typeface="Calibri"/>
                <a:cs typeface="Calibri"/>
              </a:rPr>
              <a:t>of</a:t>
            </a:r>
            <a:r>
              <a:rPr sz="2400" b="1" spc="-7" dirty="0">
                <a:solidFill>
                  <a:srgbClr val="CCEAFF"/>
                </a:solidFill>
                <a:latin typeface="Calibri"/>
                <a:cs typeface="Calibri"/>
              </a:rPr>
              <a:t> </a:t>
            </a:r>
            <a:r>
              <a:rPr sz="2400" b="1" spc="-13" dirty="0">
                <a:solidFill>
                  <a:srgbClr val="CCEAFF"/>
                </a:solidFill>
                <a:latin typeface="Calibri"/>
                <a:cs typeface="Calibri"/>
              </a:rPr>
              <a:t>Truth</a:t>
            </a:r>
            <a:endParaRPr sz="2400">
              <a:latin typeface="Calibri"/>
              <a:cs typeface="Calibri"/>
            </a:endParaRPr>
          </a:p>
          <a:p>
            <a:pPr marL="478355" indent="-450415">
              <a:spcBef>
                <a:spcPts val="1380"/>
              </a:spcBef>
              <a:buClr>
                <a:srgbClr val="99D3FF"/>
              </a:buClr>
              <a:buFont typeface="Wingdings"/>
              <a:buChar char=""/>
              <a:tabLst>
                <a:tab pos="478355" algn="l"/>
              </a:tabLst>
            </a:pPr>
            <a:r>
              <a:rPr sz="2400" b="1" dirty="0">
                <a:solidFill>
                  <a:srgbClr val="CCEAFF"/>
                </a:solidFill>
                <a:latin typeface="Calibri"/>
                <a:cs typeface="Calibri"/>
              </a:rPr>
              <a:t>Can</a:t>
            </a:r>
            <a:r>
              <a:rPr sz="2400" b="1" spc="-13" dirty="0">
                <a:solidFill>
                  <a:srgbClr val="CCEAFF"/>
                </a:solidFill>
                <a:latin typeface="Calibri"/>
                <a:cs typeface="Calibri"/>
              </a:rPr>
              <a:t> </a:t>
            </a:r>
            <a:r>
              <a:rPr sz="2400" b="1" dirty="0">
                <a:solidFill>
                  <a:srgbClr val="CCEAFF"/>
                </a:solidFill>
                <a:latin typeface="Calibri"/>
                <a:cs typeface="Calibri"/>
              </a:rPr>
              <a:t>be</a:t>
            </a:r>
            <a:r>
              <a:rPr sz="2400" b="1" spc="-20" dirty="0">
                <a:solidFill>
                  <a:srgbClr val="CCEAFF"/>
                </a:solidFill>
                <a:latin typeface="Calibri"/>
                <a:cs typeface="Calibri"/>
              </a:rPr>
              <a:t> </a:t>
            </a:r>
            <a:r>
              <a:rPr sz="2400" b="1" dirty="0">
                <a:solidFill>
                  <a:srgbClr val="CCEAFF"/>
                </a:solidFill>
                <a:latin typeface="Calibri"/>
                <a:cs typeface="Calibri"/>
              </a:rPr>
              <a:t>sometimes</a:t>
            </a:r>
            <a:r>
              <a:rPr sz="2400" b="1" spc="-67" dirty="0">
                <a:solidFill>
                  <a:srgbClr val="CCEAFF"/>
                </a:solidFill>
                <a:latin typeface="Calibri"/>
                <a:cs typeface="Calibri"/>
              </a:rPr>
              <a:t> </a:t>
            </a:r>
            <a:r>
              <a:rPr sz="2400" b="1" dirty="0">
                <a:solidFill>
                  <a:srgbClr val="CCEAFF"/>
                </a:solidFill>
                <a:latin typeface="Calibri"/>
                <a:cs typeface="Calibri"/>
              </a:rPr>
              <a:t>the</a:t>
            </a:r>
            <a:r>
              <a:rPr sz="2400" b="1" spc="-20" dirty="0">
                <a:solidFill>
                  <a:srgbClr val="CCEAFF"/>
                </a:solidFill>
                <a:latin typeface="Calibri"/>
                <a:cs typeface="Calibri"/>
              </a:rPr>
              <a:t> </a:t>
            </a:r>
            <a:r>
              <a:rPr sz="2400" b="1" dirty="0">
                <a:solidFill>
                  <a:srgbClr val="CCEAFF"/>
                </a:solidFill>
                <a:latin typeface="Calibri"/>
                <a:cs typeface="Calibri"/>
              </a:rPr>
              <a:t>access</a:t>
            </a:r>
            <a:r>
              <a:rPr sz="2400" b="1" spc="-47" dirty="0">
                <a:solidFill>
                  <a:srgbClr val="CCEAFF"/>
                </a:solidFill>
                <a:latin typeface="Calibri"/>
                <a:cs typeface="Calibri"/>
              </a:rPr>
              <a:t> </a:t>
            </a:r>
            <a:r>
              <a:rPr sz="2400" b="1" spc="-27" dirty="0">
                <a:solidFill>
                  <a:srgbClr val="CCEAFF"/>
                </a:solidFill>
                <a:latin typeface="Calibri"/>
                <a:cs typeface="Calibri"/>
              </a:rPr>
              <a:t>layer</a:t>
            </a:r>
            <a:endParaRPr sz="2400">
              <a:latin typeface="Calibri"/>
              <a:cs typeface="Calibri"/>
            </a:endParaRPr>
          </a:p>
        </p:txBody>
      </p:sp>
      <p:sp>
        <p:nvSpPr>
          <p:cNvPr id="6" name="object 6"/>
          <p:cNvSpPr txBox="1"/>
          <p:nvPr/>
        </p:nvSpPr>
        <p:spPr>
          <a:xfrm>
            <a:off x="1335023" y="5124705"/>
            <a:ext cx="1422400" cy="609633"/>
          </a:xfrm>
          <a:prstGeom prst="rect">
            <a:avLst/>
          </a:prstGeom>
          <a:solidFill>
            <a:srgbClr val="585858"/>
          </a:solidFill>
        </p:spPr>
        <p:txBody>
          <a:bodyPr vert="horz" wrap="square" lIns="0" tIns="197273" rIns="0" bIns="0" rtlCol="0">
            <a:spAutoFit/>
          </a:bodyPr>
          <a:lstStyle/>
          <a:p>
            <a:pPr marL="121917">
              <a:spcBef>
                <a:spcPts val="1553"/>
              </a:spcBef>
            </a:pPr>
            <a:r>
              <a:rPr sz="2667" b="1" spc="-27" dirty="0">
                <a:solidFill>
                  <a:srgbClr val="D9D9D9"/>
                </a:solidFill>
                <a:latin typeface="Calibri"/>
                <a:cs typeface="Calibri"/>
              </a:rPr>
              <a:t>Mart</a:t>
            </a:r>
            <a:endParaRPr sz="2667">
              <a:latin typeface="Calibri"/>
              <a:cs typeface="Calibri"/>
            </a:endParaRPr>
          </a:p>
        </p:txBody>
      </p:sp>
      <p:sp>
        <p:nvSpPr>
          <p:cNvPr id="7" name="object 7"/>
          <p:cNvSpPr txBox="1"/>
          <p:nvPr/>
        </p:nvSpPr>
        <p:spPr>
          <a:xfrm>
            <a:off x="3316731" y="4770865"/>
            <a:ext cx="3947160" cy="1661138"/>
          </a:xfrm>
          <a:prstGeom prst="rect">
            <a:avLst/>
          </a:prstGeom>
        </p:spPr>
        <p:txBody>
          <a:bodyPr vert="horz" wrap="square" lIns="0" tIns="192193" rIns="0" bIns="0" rtlCol="0">
            <a:spAutoFit/>
          </a:bodyPr>
          <a:lstStyle/>
          <a:p>
            <a:pPr marL="489361" indent="-451262">
              <a:spcBef>
                <a:spcPts val="1513"/>
              </a:spcBef>
              <a:buClr>
                <a:srgbClr val="99D3FF"/>
              </a:buClr>
              <a:buFont typeface="Wingdings"/>
              <a:buChar char=""/>
              <a:tabLst>
                <a:tab pos="489361" algn="l"/>
              </a:tabLst>
            </a:pPr>
            <a:r>
              <a:rPr sz="2400" b="1" dirty="0">
                <a:solidFill>
                  <a:srgbClr val="0092BE"/>
                </a:solidFill>
                <a:latin typeface="Calibri"/>
                <a:cs typeface="Calibri"/>
              </a:rPr>
              <a:t>Access</a:t>
            </a:r>
            <a:r>
              <a:rPr sz="2400" b="1" spc="-53" dirty="0">
                <a:solidFill>
                  <a:srgbClr val="0092BE"/>
                </a:solidFill>
                <a:latin typeface="Calibri"/>
                <a:cs typeface="Calibri"/>
              </a:rPr>
              <a:t> </a:t>
            </a:r>
            <a:r>
              <a:rPr sz="2400" b="1" spc="-13" dirty="0">
                <a:solidFill>
                  <a:srgbClr val="0092BE"/>
                </a:solidFill>
                <a:latin typeface="Calibri"/>
                <a:cs typeface="Calibri"/>
              </a:rPr>
              <a:t>Layer</a:t>
            </a:r>
            <a:endParaRPr sz="2400">
              <a:latin typeface="Calibri"/>
              <a:cs typeface="Calibri"/>
            </a:endParaRPr>
          </a:p>
          <a:p>
            <a:pPr marL="467348" indent="-450415">
              <a:spcBef>
                <a:spcPts val="1373"/>
              </a:spcBef>
              <a:buClr>
                <a:srgbClr val="99D3FF"/>
              </a:buClr>
              <a:buFont typeface="Wingdings"/>
              <a:buChar char=""/>
              <a:tabLst>
                <a:tab pos="467348" algn="l"/>
              </a:tabLst>
            </a:pPr>
            <a:r>
              <a:rPr sz="2400" b="1" dirty="0">
                <a:solidFill>
                  <a:srgbClr val="0092BE"/>
                </a:solidFill>
                <a:latin typeface="Calibri"/>
                <a:cs typeface="Calibri"/>
              </a:rPr>
              <a:t>Specific</a:t>
            </a:r>
            <a:r>
              <a:rPr sz="2400" b="1" spc="-27" dirty="0">
                <a:solidFill>
                  <a:srgbClr val="0092BE"/>
                </a:solidFill>
                <a:latin typeface="Calibri"/>
                <a:cs typeface="Calibri"/>
              </a:rPr>
              <a:t> </a:t>
            </a:r>
            <a:r>
              <a:rPr sz="2400" b="1" dirty="0">
                <a:solidFill>
                  <a:srgbClr val="0092BE"/>
                </a:solidFill>
                <a:latin typeface="Calibri"/>
                <a:cs typeface="Calibri"/>
              </a:rPr>
              <a:t>to</a:t>
            </a:r>
            <a:r>
              <a:rPr sz="2400" b="1" spc="-13" dirty="0">
                <a:solidFill>
                  <a:srgbClr val="0092BE"/>
                </a:solidFill>
                <a:latin typeface="Calibri"/>
                <a:cs typeface="Calibri"/>
              </a:rPr>
              <a:t> </a:t>
            </a:r>
            <a:r>
              <a:rPr sz="2400" b="1" dirty="0">
                <a:solidFill>
                  <a:srgbClr val="0092BE"/>
                </a:solidFill>
                <a:latin typeface="Calibri"/>
                <a:cs typeface="Calibri"/>
              </a:rPr>
              <a:t>one</a:t>
            </a:r>
            <a:r>
              <a:rPr sz="2400" b="1" spc="-27" dirty="0">
                <a:solidFill>
                  <a:srgbClr val="0092BE"/>
                </a:solidFill>
                <a:latin typeface="Calibri"/>
                <a:cs typeface="Calibri"/>
              </a:rPr>
              <a:t> </a:t>
            </a:r>
            <a:r>
              <a:rPr sz="2400" b="1" dirty="0">
                <a:solidFill>
                  <a:srgbClr val="0092BE"/>
                </a:solidFill>
                <a:latin typeface="Calibri"/>
                <a:cs typeface="Calibri"/>
              </a:rPr>
              <a:t>use-</a:t>
            </a:r>
            <a:r>
              <a:rPr sz="2400" b="1" spc="-27" dirty="0">
                <a:solidFill>
                  <a:srgbClr val="0092BE"/>
                </a:solidFill>
                <a:latin typeface="Calibri"/>
                <a:cs typeface="Calibri"/>
              </a:rPr>
              <a:t>case</a:t>
            </a:r>
            <a:endParaRPr sz="2400">
              <a:latin typeface="Calibri"/>
              <a:cs typeface="Calibri"/>
            </a:endParaRPr>
          </a:p>
          <a:p>
            <a:pPr marL="478355" indent="-450415">
              <a:spcBef>
                <a:spcPts val="1387"/>
              </a:spcBef>
              <a:buClr>
                <a:srgbClr val="99D3FF"/>
              </a:buClr>
              <a:buFont typeface="Wingdings"/>
              <a:buChar char=""/>
              <a:tabLst>
                <a:tab pos="478355" algn="l"/>
              </a:tabLst>
            </a:pPr>
            <a:r>
              <a:rPr sz="2400" b="1" dirty="0">
                <a:solidFill>
                  <a:srgbClr val="0092BE"/>
                </a:solidFill>
                <a:latin typeface="Calibri"/>
                <a:cs typeface="Calibri"/>
              </a:rPr>
              <a:t>Optimized</a:t>
            </a:r>
            <a:r>
              <a:rPr sz="2400" b="1" spc="-87" dirty="0">
                <a:solidFill>
                  <a:srgbClr val="0092BE"/>
                </a:solidFill>
                <a:latin typeface="Calibri"/>
                <a:cs typeface="Calibri"/>
              </a:rPr>
              <a:t> </a:t>
            </a:r>
            <a:r>
              <a:rPr sz="2400" b="1" dirty="0">
                <a:solidFill>
                  <a:srgbClr val="0092BE"/>
                </a:solidFill>
                <a:latin typeface="Calibri"/>
                <a:cs typeface="Calibri"/>
              </a:rPr>
              <a:t>for</a:t>
            </a:r>
            <a:r>
              <a:rPr sz="2400" b="1" spc="-13" dirty="0">
                <a:solidFill>
                  <a:srgbClr val="0092BE"/>
                </a:solidFill>
                <a:latin typeface="Calibri"/>
                <a:cs typeface="Calibri"/>
              </a:rPr>
              <a:t> performance</a:t>
            </a:r>
            <a:endParaRPr sz="2400">
              <a:latin typeface="Calibri"/>
              <a:cs typeface="Calibri"/>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27759" y="2279903"/>
            <a:ext cx="9930384" cy="1702816"/>
          </a:xfrm>
          <a:prstGeom prst="rect">
            <a:avLst/>
          </a:prstGeom>
        </p:spPr>
      </p:pic>
      <p:sp>
        <p:nvSpPr>
          <p:cNvPr id="3" name="object 3"/>
          <p:cNvSpPr txBox="1">
            <a:spLocks noGrp="1"/>
          </p:cNvSpPr>
          <p:nvPr>
            <p:ph type="title"/>
          </p:nvPr>
        </p:nvSpPr>
        <p:spPr>
          <a:xfrm>
            <a:off x="1190751" y="2579973"/>
            <a:ext cx="9811173" cy="1048150"/>
          </a:xfrm>
          <a:prstGeom prst="rect">
            <a:avLst/>
          </a:prstGeom>
          <a:noFill/>
          <a:ln w="9144">
            <a:noFill/>
          </a:ln>
        </p:spPr>
        <p:txBody>
          <a:bodyPr vert="horz" wrap="square" lIns="0" tIns="306493" rIns="0" bIns="0" rtlCol="0" anchor="ctr">
            <a:spAutoFit/>
          </a:bodyPr>
          <a:lstStyle/>
          <a:p>
            <a:pPr marL="1017668">
              <a:lnSpc>
                <a:spcPct val="100000"/>
              </a:lnSpc>
              <a:spcBef>
                <a:spcPts val="2413"/>
              </a:spcBef>
            </a:pPr>
            <a:r>
              <a:rPr sz="4800" dirty="0">
                <a:solidFill>
                  <a:schemeClr val="bg1"/>
                </a:solidFill>
                <a:latin typeface="+mn-lt"/>
              </a:rPr>
              <a:t>What</a:t>
            </a:r>
            <a:r>
              <a:rPr sz="4800" spc="-60" dirty="0">
                <a:solidFill>
                  <a:schemeClr val="bg1"/>
                </a:solidFill>
                <a:latin typeface="+mn-lt"/>
              </a:rPr>
              <a:t> </a:t>
            </a:r>
            <a:r>
              <a:rPr sz="4800" dirty="0">
                <a:solidFill>
                  <a:schemeClr val="bg1"/>
                </a:solidFill>
                <a:latin typeface="+mn-lt"/>
              </a:rPr>
              <a:t>is</a:t>
            </a:r>
            <a:r>
              <a:rPr sz="4800" spc="-20" dirty="0">
                <a:solidFill>
                  <a:schemeClr val="bg1"/>
                </a:solidFill>
                <a:latin typeface="+mn-lt"/>
              </a:rPr>
              <a:t> </a:t>
            </a:r>
            <a:r>
              <a:rPr sz="4800" dirty="0">
                <a:solidFill>
                  <a:schemeClr val="bg1"/>
                </a:solidFill>
                <a:latin typeface="+mn-lt"/>
              </a:rPr>
              <a:t>dimensional</a:t>
            </a:r>
            <a:r>
              <a:rPr sz="4800" spc="-67" dirty="0">
                <a:solidFill>
                  <a:schemeClr val="bg1"/>
                </a:solidFill>
                <a:latin typeface="+mn-lt"/>
              </a:rPr>
              <a:t> </a:t>
            </a:r>
            <a:r>
              <a:rPr sz="4800" spc="-13" dirty="0">
                <a:solidFill>
                  <a:schemeClr val="bg1"/>
                </a:solidFill>
                <a:latin typeface="+mn-lt"/>
              </a:rPr>
              <a:t>modeling?</a:t>
            </a:r>
            <a:endParaRPr sz="4800" dirty="0">
              <a:solidFill>
                <a:schemeClr val="bg1"/>
              </a:solidFill>
              <a:latin typeface="+mn-lt"/>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C32541E-FCB6-9F98-4472-3D638C9A016C}"/>
              </a:ext>
            </a:extLst>
          </p:cNvPr>
          <p:cNvSpPr txBox="1"/>
          <p:nvPr/>
        </p:nvSpPr>
        <p:spPr>
          <a:xfrm>
            <a:off x="765312" y="1500809"/>
            <a:ext cx="11121887" cy="4893647"/>
          </a:xfrm>
          <a:prstGeom prst="rect">
            <a:avLst/>
          </a:prstGeom>
          <a:noFill/>
        </p:spPr>
        <p:txBody>
          <a:bodyPr wrap="square">
            <a:spAutoFit/>
          </a:bodyPr>
          <a:lstStyle/>
          <a:p>
            <a:pPr algn="l"/>
            <a:r>
              <a:rPr lang="en-GB" sz="3200" b="0" i="1" u="none" strike="noStrike" baseline="0" dirty="0">
                <a:solidFill>
                  <a:schemeClr val="bg1"/>
                </a:solidFill>
              </a:rPr>
              <a:t>Dimensional modeling </a:t>
            </a:r>
            <a:r>
              <a:rPr lang="en-GB" sz="3200" b="0" i="0" u="none" strike="noStrike" baseline="0" dirty="0">
                <a:solidFill>
                  <a:schemeClr val="bg1"/>
                </a:solidFill>
              </a:rPr>
              <a:t>is widely accepted as the preferred technique for presenting analytic data because it addresses two simultaneous requirements:</a:t>
            </a:r>
          </a:p>
          <a:p>
            <a:pPr algn="l"/>
            <a:r>
              <a:rPr lang="en-GB" sz="3200" b="0" i="0" u="none" strike="noStrike" baseline="0" dirty="0">
                <a:solidFill>
                  <a:schemeClr val="bg1"/>
                </a:solidFill>
              </a:rPr>
              <a:t>■ Deliver data that’s understandable to the business users.</a:t>
            </a:r>
          </a:p>
          <a:p>
            <a:pPr algn="l"/>
            <a:r>
              <a:rPr lang="en-IN" sz="3200" b="0" i="0" u="none" strike="noStrike" baseline="0" dirty="0">
                <a:solidFill>
                  <a:schemeClr val="bg1"/>
                </a:solidFill>
              </a:rPr>
              <a:t>■ Deliver fast query performance.</a:t>
            </a:r>
          </a:p>
          <a:p>
            <a:pPr algn="l"/>
            <a:endParaRPr lang="en-IN" sz="3200" dirty="0">
              <a:solidFill>
                <a:schemeClr val="bg1"/>
              </a:solidFill>
            </a:endParaRPr>
          </a:p>
          <a:p>
            <a:pPr algn="l"/>
            <a:r>
              <a:rPr lang="en-IN" sz="3200" dirty="0">
                <a:solidFill>
                  <a:schemeClr val="bg1"/>
                </a:solidFill>
              </a:rPr>
              <a:t>Dimensional Model simplifies   database and it ensures that user can easily understand the data and allows software to navigate and deliver results quickly.</a:t>
            </a:r>
          </a:p>
          <a:p>
            <a:pPr algn="l"/>
            <a:endParaRPr lang="en-IN" sz="2400" dirty="0"/>
          </a:p>
        </p:txBody>
      </p:sp>
      <p:sp>
        <p:nvSpPr>
          <p:cNvPr id="3" name="object 2">
            <a:extLst>
              <a:ext uri="{FF2B5EF4-FFF2-40B4-BE49-F238E27FC236}">
                <a16:creationId xmlns:a16="http://schemas.microsoft.com/office/drawing/2014/main" id="{623EE569-97E2-E696-E3BC-E79999B57AF6}"/>
              </a:ext>
            </a:extLst>
          </p:cNvPr>
          <p:cNvSpPr txBox="1">
            <a:spLocks noGrp="1"/>
          </p:cNvSpPr>
          <p:nvPr>
            <p:ph type="title"/>
          </p:nvPr>
        </p:nvSpPr>
        <p:spPr>
          <a:xfrm>
            <a:off x="3412558" y="104706"/>
            <a:ext cx="6532049" cy="695062"/>
          </a:xfrm>
          <a:prstGeom prst="rect">
            <a:avLst/>
          </a:prstGeom>
        </p:spPr>
        <p:txBody>
          <a:bodyPr vert="horz" wrap="square" lIns="0" tIns="17780" rIns="0" bIns="0" rtlCol="0" anchor="ctr">
            <a:spAutoFit/>
          </a:bodyPr>
          <a:lstStyle/>
          <a:p>
            <a:pPr marL="16933">
              <a:lnSpc>
                <a:spcPct val="100000"/>
              </a:lnSpc>
              <a:spcBef>
                <a:spcPts val="140"/>
              </a:spcBef>
            </a:pPr>
            <a:r>
              <a:rPr lang="en-IN" dirty="0">
                <a:solidFill>
                  <a:schemeClr val="bg1"/>
                </a:solidFill>
                <a:latin typeface="+mn-lt"/>
              </a:rPr>
              <a:t>Dimensional Modelling</a:t>
            </a:r>
            <a:endParaRPr spc="-13" dirty="0">
              <a:solidFill>
                <a:schemeClr val="bg1"/>
              </a:solidFill>
              <a:latin typeface="+mn-lt"/>
            </a:endParaRPr>
          </a:p>
        </p:txBody>
      </p:sp>
    </p:spTree>
    <p:extLst>
      <p:ext uri="{BB962C8B-B14F-4D97-AF65-F5344CB8AC3E}">
        <p14:creationId xmlns:p14="http://schemas.microsoft.com/office/powerpoint/2010/main" val="201643902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F025497-D4D8-53E6-9C88-CC6B6555B183}"/>
              </a:ext>
            </a:extLst>
          </p:cNvPr>
          <p:cNvSpPr txBox="1"/>
          <p:nvPr/>
        </p:nvSpPr>
        <p:spPr>
          <a:xfrm>
            <a:off x="838199" y="1793870"/>
            <a:ext cx="10979427" cy="4339650"/>
          </a:xfrm>
          <a:prstGeom prst="rect">
            <a:avLst/>
          </a:prstGeom>
          <a:noFill/>
        </p:spPr>
        <p:txBody>
          <a:bodyPr wrap="square">
            <a:spAutoFit/>
          </a:bodyPr>
          <a:lstStyle/>
          <a:p>
            <a:pPr algn="l"/>
            <a:r>
              <a:rPr lang="en-GB" sz="2800" b="0" i="0" u="none" strike="noStrike" baseline="0" dirty="0">
                <a:solidFill>
                  <a:schemeClr val="bg1"/>
                </a:solidFill>
              </a:rPr>
              <a:t>If someone describes business as “We sell products in various markets and measure our performance over time.”</a:t>
            </a:r>
          </a:p>
          <a:p>
            <a:pPr algn="l"/>
            <a:endParaRPr lang="en-GB" sz="2800" dirty="0">
              <a:solidFill>
                <a:schemeClr val="bg1"/>
              </a:solidFill>
            </a:endParaRPr>
          </a:p>
          <a:p>
            <a:pPr algn="l"/>
            <a:r>
              <a:rPr lang="en-GB" sz="2800" dirty="0">
                <a:solidFill>
                  <a:schemeClr val="bg1"/>
                </a:solidFill>
              </a:rPr>
              <a:t>A Dimensional Designers listen carefully and identifies product, market and time as dimensions. </a:t>
            </a:r>
          </a:p>
          <a:p>
            <a:pPr algn="l"/>
            <a:endParaRPr lang="en-GB" sz="2800" dirty="0">
              <a:solidFill>
                <a:schemeClr val="bg1"/>
              </a:solidFill>
            </a:endParaRPr>
          </a:p>
          <a:p>
            <a:pPr algn="l"/>
            <a:r>
              <a:rPr lang="en-GB" sz="2800" dirty="0">
                <a:solidFill>
                  <a:schemeClr val="bg1"/>
                </a:solidFill>
              </a:rPr>
              <a:t>Objective of a Dimensional Modeller should be to make initial design simple so that it remains simple. But if design is complex in the beginning then it will eventually be more complex.</a:t>
            </a:r>
          </a:p>
          <a:p>
            <a:pPr algn="l"/>
            <a:endParaRPr lang="en-GB" sz="2400" dirty="0">
              <a:latin typeface="BerkeleyStd-Medium"/>
            </a:endParaRPr>
          </a:p>
        </p:txBody>
      </p:sp>
      <p:sp>
        <p:nvSpPr>
          <p:cNvPr id="7" name="object 2">
            <a:extLst>
              <a:ext uri="{FF2B5EF4-FFF2-40B4-BE49-F238E27FC236}">
                <a16:creationId xmlns:a16="http://schemas.microsoft.com/office/drawing/2014/main" id="{4D992517-6B85-EBED-7217-C0D0D57B1DD1}"/>
              </a:ext>
            </a:extLst>
          </p:cNvPr>
          <p:cNvSpPr txBox="1">
            <a:spLocks/>
          </p:cNvSpPr>
          <p:nvPr/>
        </p:nvSpPr>
        <p:spPr>
          <a:xfrm>
            <a:off x="3412558" y="104706"/>
            <a:ext cx="6532049" cy="695062"/>
          </a:xfrm>
          <a:prstGeom prst="rect">
            <a:avLst/>
          </a:prstGeom>
        </p:spPr>
        <p:txBody>
          <a:bodyPr vert="horz" wrap="square" lIns="0" tIns="1778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6933">
              <a:lnSpc>
                <a:spcPct val="100000"/>
              </a:lnSpc>
              <a:spcBef>
                <a:spcPts val="140"/>
              </a:spcBef>
            </a:pPr>
            <a:r>
              <a:rPr lang="en-IN">
                <a:solidFill>
                  <a:schemeClr val="bg1"/>
                </a:solidFill>
                <a:latin typeface="+mn-lt"/>
              </a:rPr>
              <a:t>Dimensional Modelling</a:t>
            </a:r>
            <a:endParaRPr lang="en-IN" spc="-13" dirty="0">
              <a:solidFill>
                <a:schemeClr val="bg1"/>
              </a:solidFill>
              <a:latin typeface="+mn-lt"/>
            </a:endParaRPr>
          </a:p>
        </p:txBody>
      </p:sp>
    </p:spTree>
    <p:extLst>
      <p:ext uri="{BB962C8B-B14F-4D97-AF65-F5344CB8AC3E}">
        <p14:creationId xmlns:p14="http://schemas.microsoft.com/office/powerpoint/2010/main" val="205512939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ABC789-789B-9488-BD75-9B7BBA089841}"/>
              </a:ext>
            </a:extLst>
          </p:cNvPr>
          <p:cNvSpPr>
            <a:spLocks noGrp="1"/>
          </p:cNvSpPr>
          <p:nvPr>
            <p:ph idx="1"/>
          </p:nvPr>
        </p:nvSpPr>
        <p:spPr/>
        <p:txBody>
          <a:bodyPr>
            <a:normAutofit lnSpcReduction="10000"/>
          </a:bodyPr>
          <a:lstStyle/>
          <a:p>
            <a:pPr algn="l"/>
            <a:r>
              <a:rPr lang="en-GB" sz="2800" dirty="0">
                <a:solidFill>
                  <a:schemeClr val="bg1"/>
                </a:solidFill>
              </a:rPr>
              <a:t>Dimensional model is instantiated in Relational database and they are difference than 3NF.</a:t>
            </a:r>
          </a:p>
          <a:p>
            <a:pPr algn="l"/>
            <a:endParaRPr lang="en-GB" sz="2800" dirty="0">
              <a:solidFill>
                <a:schemeClr val="bg1"/>
              </a:solidFill>
            </a:endParaRPr>
          </a:p>
          <a:p>
            <a:pPr algn="l"/>
            <a:r>
              <a:rPr lang="en-GB" sz="2800" dirty="0">
                <a:solidFill>
                  <a:schemeClr val="bg1"/>
                </a:solidFill>
              </a:rPr>
              <a:t>3NF is used to remove data redundancies and data is divided into many discreet entities. </a:t>
            </a:r>
          </a:p>
          <a:p>
            <a:pPr algn="l"/>
            <a:endParaRPr lang="en-GB" sz="2800" dirty="0">
              <a:solidFill>
                <a:schemeClr val="bg1"/>
              </a:solidFill>
            </a:endParaRPr>
          </a:p>
          <a:p>
            <a:pPr algn="l"/>
            <a:r>
              <a:rPr lang="en-GB" sz="2800" dirty="0">
                <a:solidFill>
                  <a:schemeClr val="bg1"/>
                </a:solidFill>
              </a:rPr>
              <a:t>Dimensional model is different than 3NF based on degree of normalization. </a:t>
            </a:r>
          </a:p>
          <a:p>
            <a:pPr algn="l"/>
            <a:endParaRPr lang="en-GB" sz="2800" dirty="0">
              <a:solidFill>
                <a:schemeClr val="bg1"/>
              </a:solidFill>
            </a:endParaRPr>
          </a:p>
          <a:p>
            <a:pPr algn="l"/>
            <a:r>
              <a:rPr lang="en-GB" sz="2800" dirty="0">
                <a:solidFill>
                  <a:schemeClr val="bg1"/>
                </a:solidFill>
              </a:rPr>
              <a:t>Both can be represented as E-R (Entity Relationship) Diagram. </a:t>
            </a:r>
            <a:endParaRPr lang="en-IN" sz="2800" dirty="0">
              <a:solidFill>
                <a:schemeClr val="bg1"/>
              </a:solidFill>
            </a:endParaRPr>
          </a:p>
          <a:p>
            <a:endParaRPr lang="en-IN" dirty="0">
              <a:solidFill>
                <a:schemeClr val="bg1"/>
              </a:solidFill>
            </a:endParaRPr>
          </a:p>
        </p:txBody>
      </p:sp>
      <p:sp>
        <p:nvSpPr>
          <p:cNvPr id="6" name="object 2">
            <a:extLst>
              <a:ext uri="{FF2B5EF4-FFF2-40B4-BE49-F238E27FC236}">
                <a16:creationId xmlns:a16="http://schemas.microsoft.com/office/drawing/2014/main" id="{5109AAA4-FEB9-9A7E-1C2B-572BC91CE065}"/>
              </a:ext>
            </a:extLst>
          </p:cNvPr>
          <p:cNvSpPr txBox="1">
            <a:spLocks noGrp="1"/>
          </p:cNvSpPr>
          <p:nvPr>
            <p:ph type="title"/>
          </p:nvPr>
        </p:nvSpPr>
        <p:spPr>
          <a:xfrm>
            <a:off x="967409" y="333506"/>
            <a:ext cx="10515600" cy="695062"/>
          </a:xfrm>
          <a:prstGeom prst="rect">
            <a:avLst/>
          </a:prstGeom>
        </p:spPr>
        <p:txBody>
          <a:bodyPr vert="horz" wrap="square" lIns="0" tIns="17780" rIns="0" bIns="0" rtlCol="0" anchor="ctr">
            <a:spAutoFit/>
          </a:bodyPr>
          <a:lstStyle/>
          <a:p>
            <a:pPr marL="16933" algn="ctr">
              <a:lnSpc>
                <a:spcPct val="100000"/>
              </a:lnSpc>
              <a:spcBef>
                <a:spcPts val="140"/>
              </a:spcBef>
            </a:pPr>
            <a:r>
              <a:rPr lang="en-IN" dirty="0">
                <a:solidFill>
                  <a:schemeClr val="bg1"/>
                </a:solidFill>
                <a:latin typeface="+mn-lt"/>
              </a:rPr>
              <a:t>Dimensional Modelling</a:t>
            </a:r>
            <a:endParaRPr spc="-13" dirty="0">
              <a:solidFill>
                <a:schemeClr val="bg1"/>
              </a:solidFill>
              <a:latin typeface="+mn-lt"/>
            </a:endParaRPr>
          </a:p>
        </p:txBody>
      </p:sp>
    </p:spTree>
    <p:extLst>
      <p:ext uri="{BB962C8B-B14F-4D97-AF65-F5344CB8AC3E}">
        <p14:creationId xmlns:p14="http://schemas.microsoft.com/office/powerpoint/2010/main" val="274753321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BA5F26-9822-C62D-F137-F3210EC2CCF8}"/>
              </a:ext>
            </a:extLst>
          </p:cNvPr>
          <p:cNvSpPr>
            <a:spLocks noGrp="1"/>
          </p:cNvSpPr>
          <p:nvPr>
            <p:ph idx="1"/>
          </p:nvPr>
        </p:nvSpPr>
        <p:spPr/>
        <p:txBody>
          <a:bodyPr>
            <a:normAutofit/>
          </a:bodyPr>
          <a:lstStyle/>
          <a:p>
            <a:pPr algn="l"/>
            <a:r>
              <a:rPr lang="en-GB" sz="2600" b="0" i="0" u="none" strike="noStrike" baseline="0" dirty="0">
                <a:solidFill>
                  <a:schemeClr val="bg1"/>
                </a:solidFill>
              </a:rPr>
              <a:t>Normalized 3NF structures are immensely useful in operational processing because an update or insert transaction touches the database in only one place.</a:t>
            </a:r>
          </a:p>
          <a:p>
            <a:pPr algn="l"/>
            <a:endParaRPr lang="en-GB" sz="2600" dirty="0">
              <a:solidFill>
                <a:schemeClr val="bg1"/>
              </a:solidFill>
            </a:endParaRPr>
          </a:p>
          <a:p>
            <a:pPr algn="l"/>
            <a:r>
              <a:rPr lang="en-GB" sz="2600" dirty="0">
                <a:solidFill>
                  <a:schemeClr val="bg1"/>
                </a:solidFill>
              </a:rPr>
              <a:t>Normalized models are too complex for BI queries.</a:t>
            </a:r>
          </a:p>
          <a:p>
            <a:pPr algn="l"/>
            <a:endParaRPr lang="en-GB" sz="2600" dirty="0">
              <a:solidFill>
                <a:schemeClr val="bg1"/>
              </a:solidFill>
            </a:endParaRPr>
          </a:p>
          <a:p>
            <a:pPr algn="l"/>
            <a:r>
              <a:rPr lang="en-GB" sz="2600" dirty="0">
                <a:solidFill>
                  <a:schemeClr val="bg1"/>
                </a:solidFill>
              </a:rPr>
              <a:t>The use of normalized modeling in the DW/BI presentation area defeats the intuitive and high-performance retrieval of data. Fortunately, dimensional modeling addresses the problem of overly complex schemas in the presentation area.</a:t>
            </a:r>
            <a:endParaRPr lang="en-IN" sz="2600" dirty="0">
              <a:solidFill>
                <a:schemeClr val="bg1"/>
              </a:solidFill>
            </a:endParaRPr>
          </a:p>
        </p:txBody>
      </p:sp>
      <p:sp>
        <p:nvSpPr>
          <p:cNvPr id="4" name="object 2">
            <a:extLst>
              <a:ext uri="{FF2B5EF4-FFF2-40B4-BE49-F238E27FC236}">
                <a16:creationId xmlns:a16="http://schemas.microsoft.com/office/drawing/2014/main" id="{1EA2F952-551E-7A69-DA9A-B0215B87B536}"/>
              </a:ext>
            </a:extLst>
          </p:cNvPr>
          <p:cNvSpPr txBox="1">
            <a:spLocks noGrp="1"/>
          </p:cNvSpPr>
          <p:nvPr>
            <p:ph type="title"/>
          </p:nvPr>
        </p:nvSpPr>
        <p:spPr>
          <a:xfrm>
            <a:off x="3352923" y="204097"/>
            <a:ext cx="6532049" cy="695062"/>
          </a:xfrm>
          <a:prstGeom prst="rect">
            <a:avLst/>
          </a:prstGeom>
        </p:spPr>
        <p:txBody>
          <a:bodyPr vert="horz" wrap="square" lIns="0" tIns="17780" rIns="0" bIns="0" rtlCol="0" anchor="ctr">
            <a:spAutoFit/>
          </a:bodyPr>
          <a:lstStyle/>
          <a:p>
            <a:pPr marL="16933">
              <a:lnSpc>
                <a:spcPct val="100000"/>
              </a:lnSpc>
              <a:spcBef>
                <a:spcPts val="140"/>
              </a:spcBef>
            </a:pPr>
            <a:r>
              <a:rPr lang="en-IN" dirty="0">
                <a:solidFill>
                  <a:schemeClr val="bg1"/>
                </a:solidFill>
                <a:latin typeface="+mn-lt"/>
              </a:rPr>
              <a:t>Dimensional Modelling</a:t>
            </a:r>
            <a:endParaRPr spc="-13" dirty="0">
              <a:solidFill>
                <a:schemeClr val="bg1"/>
              </a:solidFill>
              <a:latin typeface="+mn-lt"/>
            </a:endParaRPr>
          </a:p>
        </p:txBody>
      </p:sp>
    </p:spTree>
    <p:extLst>
      <p:ext uri="{BB962C8B-B14F-4D97-AF65-F5344CB8AC3E}">
        <p14:creationId xmlns:p14="http://schemas.microsoft.com/office/powerpoint/2010/main" val="54910972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ADC74-5C2C-F59D-5794-5F7267284811}"/>
              </a:ext>
            </a:extLst>
          </p:cNvPr>
          <p:cNvSpPr>
            <a:spLocks noGrp="1"/>
          </p:cNvSpPr>
          <p:nvPr>
            <p:ph type="title"/>
          </p:nvPr>
        </p:nvSpPr>
        <p:spPr>
          <a:xfrm>
            <a:off x="689113" y="142252"/>
            <a:ext cx="10515600" cy="987633"/>
          </a:xfrm>
        </p:spPr>
        <p:txBody>
          <a:bodyPr>
            <a:normAutofit/>
          </a:bodyPr>
          <a:lstStyle/>
          <a:p>
            <a:pPr algn="ctr"/>
            <a:r>
              <a:rPr lang="de-DE" b="0" i="0" u="none" strike="noStrike" baseline="0" dirty="0">
                <a:solidFill>
                  <a:schemeClr val="bg1"/>
                </a:solidFill>
                <a:latin typeface="+mn-lt"/>
              </a:rPr>
              <a:t>Star Schemas Versus OLAP Cubes</a:t>
            </a:r>
            <a:endParaRPr lang="en-IN" dirty="0">
              <a:solidFill>
                <a:schemeClr val="bg1"/>
              </a:solidFill>
              <a:latin typeface="+mn-lt"/>
            </a:endParaRPr>
          </a:p>
        </p:txBody>
      </p:sp>
      <p:sp>
        <p:nvSpPr>
          <p:cNvPr id="3" name="Content Placeholder 2">
            <a:extLst>
              <a:ext uri="{FF2B5EF4-FFF2-40B4-BE49-F238E27FC236}">
                <a16:creationId xmlns:a16="http://schemas.microsoft.com/office/drawing/2014/main" id="{10ADC738-9915-C86B-304D-DF6C3927E4BE}"/>
              </a:ext>
            </a:extLst>
          </p:cNvPr>
          <p:cNvSpPr>
            <a:spLocks noGrp="1"/>
          </p:cNvSpPr>
          <p:nvPr>
            <p:ph idx="1"/>
          </p:nvPr>
        </p:nvSpPr>
        <p:spPr>
          <a:xfrm>
            <a:off x="261730" y="1129885"/>
            <a:ext cx="11744739" cy="5362989"/>
          </a:xfrm>
        </p:spPr>
        <p:txBody>
          <a:bodyPr>
            <a:noAutofit/>
          </a:bodyPr>
          <a:lstStyle/>
          <a:p>
            <a:pPr algn="l"/>
            <a:r>
              <a:rPr lang="en-GB" sz="2400" b="0" i="0" u="none" strike="noStrike" baseline="0" dirty="0">
                <a:solidFill>
                  <a:schemeClr val="bg1"/>
                </a:solidFill>
              </a:rPr>
              <a:t>Dimensional models implemented in relational database management systems are referred to as </a:t>
            </a:r>
            <a:r>
              <a:rPr lang="en-GB" sz="2400" b="0" i="1" u="none" strike="noStrike" baseline="0" dirty="0">
                <a:solidFill>
                  <a:schemeClr val="bg1"/>
                </a:solidFill>
              </a:rPr>
              <a:t>star schemas </a:t>
            </a:r>
            <a:r>
              <a:rPr lang="en-GB" sz="2400" b="0" i="0" u="none" strike="noStrike" baseline="0" dirty="0">
                <a:solidFill>
                  <a:schemeClr val="bg1"/>
                </a:solidFill>
              </a:rPr>
              <a:t>because of their resemblance to a star-like structure.</a:t>
            </a:r>
          </a:p>
          <a:p>
            <a:pPr algn="l"/>
            <a:r>
              <a:rPr lang="en-IN" sz="2400" b="0" i="0" u="none" strike="noStrike" baseline="0" dirty="0">
                <a:solidFill>
                  <a:schemeClr val="bg1"/>
                </a:solidFill>
              </a:rPr>
              <a:t>Dimensional models implemented in multidimensional database environments are </a:t>
            </a:r>
            <a:r>
              <a:rPr lang="en-GB" sz="2400" b="0" i="0" u="none" strike="noStrike" baseline="0" dirty="0">
                <a:solidFill>
                  <a:schemeClr val="bg1"/>
                </a:solidFill>
              </a:rPr>
              <a:t>referred to as </a:t>
            </a:r>
            <a:r>
              <a:rPr lang="en-GB" sz="2400" b="0" i="1" u="none" strike="noStrike" baseline="0" dirty="0">
                <a:solidFill>
                  <a:schemeClr val="bg1"/>
                </a:solidFill>
              </a:rPr>
              <a:t>online analytical processing (OLAP) cubes</a:t>
            </a:r>
            <a:r>
              <a:rPr lang="en-GB" sz="2400" b="0" i="0" u="none" strike="noStrike" baseline="0" dirty="0">
                <a:solidFill>
                  <a:schemeClr val="bg1"/>
                </a:solidFill>
              </a:rPr>
              <a:t>,</a:t>
            </a:r>
          </a:p>
          <a:p>
            <a:pPr algn="l"/>
            <a:r>
              <a:rPr lang="en-IN" sz="2400" dirty="0">
                <a:solidFill>
                  <a:schemeClr val="bg1"/>
                </a:solidFill>
              </a:rPr>
              <a:t>Both Star and Cube has common design with recognizable Dimensions.</a:t>
            </a:r>
          </a:p>
          <a:p>
            <a:pPr algn="l"/>
            <a:r>
              <a:rPr lang="en-GB" sz="2400" b="0" i="0" u="none" strike="noStrike" baseline="0" dirty="0">
                <a:solidFill>
                  <a:schemeClr val="bg1"/>
                </a:solidFill>
              </a:rPr>
              <a:t>When data is loaded into an OLAP cube, it is stored and indexed using formats and techniques that are designed for dimensional data. </a:t>
            </a:r>
          </a:p>
          <a:p>
            <a:pPr algn="l"/>
            <a:r>
              <a:rPr lang="en-GB" sz="2400" b="0" i="0" u="none" strike="noStrike" baseline="0" dirty="0">
                <a:solidFill>
                  <a:schemeClr val="bg1"/>
                </a:solidFill>
              </a:rPr>
              <a:t>Performance aggregations or precalculated summary tables are often created and managed by the OLAP cube engine. Consequently, cubes deliver superior query performance because of the </a:t>
            </a:r>
            <a:r>
              <a:rPr lang="en-GB" sz="2400" b="0" i="0" u="none" strike="noStrike" baseline="0" dirty="0" err="1">
                <a:solidFill>
                  <a:schemeClr val="bg1"/>
                </a:solidFill>
              </a:rPr>
              <a:t>precalculations</a:t>
            </a:r>
            <a:r>
              <a:rPr lang="en-GB" sz="2400" b="0" i="0" u="none" strike="noStrike" baseline="0" dirty="0">
                <a:solidFill>
                  <a:schemeClr val="bg1"/>
                </a:solidFill>
              </a:rPr>
              <a:t>, indexing strategies, and other optimizations. </a:t>
            </a:r>
          </a:p>
          <a:p>
            <a:pPr algn="l"/>
            <a:r>
              <a:rPr lang="en-GB" sz="2400" b="0" i="0" u="none" strike="noStrike" baseline="0" dirty="0">
                <a:solidFill>
                  <a:schemeClr val="bg1"/>
                </a:solidFill>
              </a:rPr>
              <a:t>Business users can drill down or up by adding or removing attributes from their analyses with excellent performance without issuing new queries. OLAP cubes also provide more analytically robust functions that exceed those available with SQL.</a:t>
            </a:r>
            <a:endParaRPr lang="en-GB" sz="2400" dirty="0">
              <a:solidFill>
                <a:schemeClr val="bg1"/>
              </a:solidFill>
            </a:endParaRPr>
          </a:p>
        </p:txBody>
      </p:sp>
    </p:spTree>
    <p:extLst>
      <p:ext uri="{BB962C8B-B14F-4D97-AF65-F5344CB8AC3E}">
        <p14:creationId xmlns:p14="http://schemas.microsoft.com/office/powerpoint/2010/main" val="132920986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9F502-CD27-93F8-1E2E-4A627A37B4AC}"/>
              </a:ext>
            </a:extLst>
          </p:cNvPr>
          <p:cNvSpPr>
            <a:spLocks noGrp="1"/>
          </p:cNvSpPr>
          <p:nvPr>
            <p:ph type="title"/>
          </p:nvPr>
        </p:nvSpPr>
        <p:spPr/>
        <p:txBody>
          <a:bodyPr/>
          <a:lstStyle/>
          <a:p>
            <a:pPr algn="ctr"/>
            <a:r>
              <a:rPr lang="de-DE" sz="4400" b="0" i="0" u="none" strike="noStrike" baseline="0" dirty="0">
                <a:solidFill>
                  <a:schemeClr val="bg1"/>
                </a:solidFill>
                <a:latin typeface="+mn-lt"/>
              </a:rPr>
              <a:t>Star Schemas Versus OLAP Cubes</a:t>
            </a:r>
            <a:endParaRPr lang="en-IN" dirty="0">
              <a:solidFill>
                <a:schemeClr val="bg1"/>
              </a:solidFill>
              <a:latin typeface="+mn-lt"/>
            </a:endParaRPr>
          </a:p>
        </p:txBody>
      </p:sp>
      <p:pic>
        <p:nvPicPr>
          <p:cNvPr id="5" name="Content Placeholder 4">
            <a:extLst>
              <a:ext uri="{FF2B5EF4-FFF2-40B4-BE49-F238E27FC236}">
                <a16:creationId xmlns:a16="http://schemas.microsoft.com/office/drawing/2014/main" id="{A7E450AE-5BD9-766E-B1D8-DA723FDC8E78}"/>
              </a:ext>
            </a:extLst>
          </p:cNvPr>
          <p:cNvPicPr>
            <a:picLocks noGrp="1" noChangeAspect="1"/>
          </p:cNvPicPr>
          <p:nvPr>
            <p:ph idx="1"/>
          </p:nvPr>
        </p:nvPicPr>
        <p:blipFill>
          <a:blip r:embed="rId2"/>
          <a:srcRect b="11214"/>
          <a:stretch/>
        </p:blipFill>
        <p:spPr>
          <a:xfrm>
            <a:off x="761532" y="1945448"/>
            <a:ext cx="10592268" cy="3988213"/>
          </a:xfrm>
        </p:spPr>
      </p:pic>
    </p:spTree>
    <p:extLst>
      <p:ext uri="{BB962C8B-B14F-4D97-AF65-F5344CB8AC3E}">
        <p14:creationId xmlns:p14="http://schemas.microsoft.com/office/powerpoint/2010/main" val="35969965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08F7A-665D-111A-7564-D25D60145067}"/>
              </a:ext>
            </a:extLst>
          </p:cNvPr>
          <p:cNvSpPr>
            <a:spLocks noGrp="1"/>
          </p:cNvSpPr>
          <p:nvPr>
            <p:ph type="title"/>
          </p:nvPr>
        </p:nvSpPr>
        <p:spPr>
          <a:xfrm>
            <a:off x="838200" y="0"/>
            <a:ext cx="10515600" cy="965131"/>
          </a:xfrm>
        </p:spPr>
        <p:txBody>
          <a:bodyPr/>
          <a:lstStyle/>
          <a:p>
            <a:pPr algn="ctr"/>
            <a:r>
              <a:rPr lang="de-DE" sz="4400" b="0" i="0" u="none" strike="noStrike" baseline="0" dirty="0">
                <a:solidFill>
                  <a:schemeClr val="bg1"/>
                </a:solidFill>
                <a:latin typeface="+mn-lt"/>
              </a:rPr>
              <a:t>Star Schemas Versus OLAP Cubes</a:t>
            </a:r>
            <a:endParaRPr lang="en-IN" dirty="0">
              <a:solidFill>
                <a:schemeClr val="bg1"/>
              </a:solidFill>
              <a:latin typeface="+mn-lt"/>
            </a:endParaRPr>
          </a:p>
        </p:txBody>
      </p:sp>
      <p:sp>
        <p:nvSpPr>
          <p:cNvPr id="5" name="TextBox 4">
            <a:extLst>
              <a:ext uri="{FF2B5EF4-FFF2-40B4-BE49-F238E27FC236}">
                <a16:creationId xmlns:a16="http://schemas.microsoft.com/office/drawing/2014/main" id="{EB87C0C4-FBEB-2DBF-E94F-5E035F86A529}"/>
              </a:ext>
            </a:extLst>
          </p:cNvPr>
          <p:cNvSpPr txBox="1"/>
          <p:nvPr/>
        </p:nvSpPr>
        <p:spPr>
          <a:xfrm>
            <a:off x="337931" y="768637"/>
            <a:ext cx="11923643" cy="6186309"/>
          </a:xfrm>
          <a:prstGeom prst="rect">
            <a:avLst/>
          </a:prstGeom>
          <a:noFill/>
        </p:spPr>
        <p:txBody>
          <a:bodyPr wrap="square">
            <a:spAutoFit/>
          </a:bodyPr>
          <a:lstStyle/>
          <a:p>
            <a:pPr algn="l"/>
            <a:r>
              <a:rPr lang="en-GB" sz="2200" b="0" i="0" u="none" strike="noStrike" baseline="0" dirty="0">
                <a:solidFill>
                  <a:schemeClr val="bg1"/>
                </a:solidFill>
              </a:rPr>
              <a:t>A star schema hosted in a relational database is a good physical foundation for building an OLAP cube, and more stable basis </a:t>
            </a:r>
            <a:r>
              <a:rPr lang="en-IN" sz="2200" b="0" i="0" u="none" strike="noStrike" baseline="0" dirty="0">
                <a:solidFill>
                  <a:schemeClr val="bg1"/>
                </a:solidFill>
              </a:rPr>
              <a:t>for backup and recovery.</a:t>
            </a:r>
          </a:p>
          <a:p>
            <a:pPr algn="l"/>
            <a:endParaRPr lang="en-GB" sz="2200" b="0" i="0" u="none" strike="noStrike" baseline="0" dirty="0">
              <a:solidFill>
                <a:schemeClr val="bg1"/>
              </a:solidFill>
            </a:endParaRPr>
          </a:p>
          <a:p>
            <a:pPr algn="l"/>
            <a:r>
              <a:rPr lang="en-GB" sz="2200" b="0" i="0" u="none" strike="noStrike" baseline="0" dirty="0">
                <a:solidFill>
                  <a:schemeClr val="bg1"/>
                </a:solidFill>
              </a:rPr>
              <a:t>OLAP cubes are traditionally known been noted for extreme performance advantages over RDBMS, but that distinction has become less important with advances in computer hardware, like in-memory databases, and RDBMS software, such as columnar databases</a:t>
            </a:r>
          </a:p>
          <a:p>
            <a:pPr algn="l"/>
            <a:endParaRPr lang="en-GB" sz="2200" dirty="0">
              <a:solidFill>
                <a:schemeClr val="bg1"/>
              </a:solidFill>
            </a:endParaRPr>
          </a:p>
          <a:p>
            <a:pPr algn="l"/>
            <a:r>
              <a:rPr lang="en-GB" sz="2200" b="0" i="0" u="none" strike="noStrike" baseline="0" dirty="0">
                <a:solidFill>
                  <a:schemeClr val="bg1"/>
                </a:solidFill>
              </a:rPr>
              <a:t>OLAP cube data structures are more variable across different vendors than relational DBMSs -  the final deployment details often depend on which OLAP software is chosen. </a:t>
            </a:r>
          </a:p>
          <a:p>
            <a:pPr algn="l"/>
            <a:endParaRPr lang="en-GB" sz="2200" dirty="0">
              <a:solidFill>
                <a:schemeClr val="bg1"/>
              </a:solidFill>
            </a:endParaRPr>
          </a:p>
          <a:p>
            <a:pPr algn="l"/>
            <a:r>
              <a:rPr lang="en-GB" sz="2200" b="0" i="0" u="none" strike="noStrike" baseline="0" dirty="0">
                <a:solidFill>
                  <a:schemeClr val="bg1"/>
                </a:solidFill>
              </a:rPr>
              <a:t>It is more difficult to port BI applications between different OLAP tools than to port BI applications across different </a:t>
            </a:r>
            <a:r>
              <a:rPr lang="en-IN" sz="2200" b="0" i="0" u="none" strike="noStrike" baseline="0" dirty="0">
                <a:solidFill>
                  <a:schemeClr val="bg1"/>
                </a:solidFill>
              </a:rPr>
              <a:t>relational databases.</a:t>
            </a:r>
          </a:p>
          <a:p>
            <a:pPr algn="l"/>
            <a:endParaRPr lang="en-IN" sz="2200" dirty="0">
              <a:solidFill>
                <a:schemeClr val="bg1"/>
              </a:solidFill>
            </a:endParaRPr>
          </a:p>
          <a:p>
            <a:pPr algn="l"/>
            <a:r>
              <a:rPr lang="en-GB" sz="2200" b="0" i="0" u="none" strike="noStrike" baseline="0" dirty="0">
                <a:solidFill>
                  <a:schemeClr val="bg1"/>
                </a:solidFill>
              </a:rPr>
              <a:t>OLAP cubes typically off er more sophisticated security options than RDBMSs, such as limiting access to detailed data but providing more open access to </a:t>
            </a:r>
            <a:r>
              <a:rPr lang="en-IN" sz="2200" b="0" i="0" u="none" strike="noStrike" baseline="0" dirty="0">
                <a:solidFill>
                  <a:schemeClr val="bg1"/>
                </a:solidFill>
              </a:rPr>
              <a:t>summary data.</a:t>
            </a:r>
          </a:p>
          <a:p>
            <a:pPr algn="l"/>
            <a:endParaRPr lang="en-GB" sz="2200" dirty="0">
              <a:solidFill>
                <a:schemeClr val="bg1"/>
              </a:solidFill>
            </a:endParaRPr>
          </a:p>
          <a:p>
            <a:pPr algn="l"/>
            <a:r>
              <a:rPr lang="en-GB" sz="2200" b="0" i="0" u="none" strike="noStrike" baseline="0" dirty="0">
                <a:solidFill>
                  <a:schemeClr val="bg1"/>
                </a:solidFill>
              </a:rPr>
              <a:t>OLAP cubes offer significantly richer analysis capabilities than RDBMSs, which are saddled by the constraints of SQL.  </a:t>
            </a:r>
          </a:p>
        </p:txBody>
      </p:sp>
    </p:spTree>
    <p:extLst>
      <p:ext uri="{BB962C8B-B14F-4D97-AF65-F5344CB8AC3E}">
        <p14:creationId xmlns:p14="http://schemas.microsoft.com/office/powerpoint/2010/main" val="88161739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FBFF2-9427-6187-0E32-4A0DFE6314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0FDB98-2987-AC12-7C52-3E5A3A816155}"/>
              </a:ext>
            </a:extLst>
          </p:cNvPr>
          <p:cNvSpPr>
            <a:spLocks noGrp="1"/>
          </p:cNvSpPr>
          <p:nvPr>
            <p:ph type="title"/>
          </p:nvPr>
        </p:nvSpPr>
        <p:spPr>
          <a:xfrm>
            <a:off x="1036982" y="13262"/>
            <a:ext cx="10515600" cy="910407"/>
          </a:xfrm>
        </p:spPr>
        <p:txBody>
          <a:bodyPr/>
          <a:lstStyle/>
          <a:p>
            <a:pPr algn="ctr"/>
            <a:r>
              <a:rPr lang="de-DE" sz="4400" b="0" i="0" u="none" strike="noStrike" baseline="0" dirty="0">
                <a:solidFill>
                  <a:schemeClr val="bg1"/>
                </a:solidFill>
                <a:latin typeface="+mn-lt"/>
              </a:rPr>
              <a:t>Star Schemas Versus OLAP Cubes</a:t>
            </a:r>
            <a:endParaRPr lang="en-IN" dirty="0">
              <a:solidFill>
                <a:schemeClr val="bg1"/>
              </a:solidFill>
              <a:latin typeface="+mn-lt"/>
            </a:endParaRPr>
          </a:p>
        </p:txBody>
      </p:sp>
      <p:sp>
        <p:nvSpPr>
          <p:cNvPr id="5" name="TextBox 4">
            <a:extLst>
              <a:ext uri="{FF2B5EF4-FFF2-40B4-BE49-F238E27FC236}">
                <a16:creationId xmlns:a16="http://schemas.microsoft.com/office/drawing/2014/main" id="{AD945A7B-0FF5-FF11-2F27-A045DA65A808}"/>
              </a:ext>
            </a:extLst>
          </p:cNvPr>
          <p:cNvSpPr txBox="1"/>
          <p:nvPr/>
        </p:nvSpPr>
        <p:spPr>
          <a:xfrm>
            <a:off x="134178" y="1235775"/>
            <a:ext cx="11923643" cy="4893647"/>
          </a:xfrm>
          <a:prstGeom prst="rect">
            <a:avLst/>
          </a:prstGeom>
          <a:noFill/>
        </p:spPr>
        <p:txBody>
          <a:bodyPr wrap="square">
            <a:spAutoFit/>
          </a:bodyPr>
          <a:lstStyle/>
          <a:p>
            <a:pPr algn="l"/>
            <a:r>
              <a:rPr lang="en-GB" sz="2400" b="0" i="0" u="none" strike="noStrike" baseline="0" dirty="0">
                <a:solidFill>
                  <a:schemeClr val="bg1"/>
                </a:solidFill>
              </a:rPr>
              <a:t>OLAP cubes typically off er more sophisticated security options than RDBMSs, such as limiting access to detailed data but providing more open access to </a:t>
            </a:r>
            <a:r>
              <a:rPr lang="en-IN" sz="2400" b="0" i="0" u="none" strike="noStrike" baseline="0" dirty="0">
                <a:solidFill>
                  <a:schemeClr val="bg1"/>
                </a:solidFill>
              </a:rPr>
              <a:t>summary data.</a:t>
            </a:r>
          </a:p>
          <a:p>
            <a:pPr algn="l"/>
            <a:endParaRPr lang="en-GB" sz="2400" dirty="0">
              <a:solidFill>
                <a:schemeClr val="bg1"/>
              </a:solidFill>
            </a:endParaRPr>
          </a:p>
          <a:p>
            <a:pPr algn="l"/>
            <a:r>
              <a:rPr lang="en-GB" sz="2400" b="0" i="0" u="none" strike="noStrike" baseline="0" dirty="0">
                <a:solidFill>
                  <a:schemeClr val="bg1"/>
                </a:solidFill>
              </a:rPr>
              <a:t>OLAP cubes offer significantly richer analysis capabilities than RDBMSs, which are saddled by the constraints of SQL. This may be the main justification for using an OLAP product.</a:t>
            </a:r>
          </a:p>
          <a:p>
            <a:pPr algn="l"/>
            <a:endParaRPr lang="en-GB" sz="2400" b="0" i="0" u="none" strike="noStrike" baseline="0" dirty="0">
              <a:solidFill>
                <a:schemeClr val="bg1"/>
              </a:solidFill>
            </a:endParaRPr>
          </a:p>
          <a:p>
            <a:pPr algn="l"/>
            <a:r>
              <a:rPr lang="en-GB" sz="2400" b="0" i="0" u="none" strike="noStrike" baseline="0" dirty="0">
                <a:solidFill>
                  <a:schemeClr val="bg1"/>
                </a:solidFill>
              </a:rPr>
              <a:t>OLAP cubes gracefully support slowly changing dimension type 2 changes, but cubes often need to be reprocessed partially or totally whenever data is overwritten using alternative </a:t>
            </a:r>
            <a:r>
              <a:rPr lang="en-IN" sz="2400" b="0" i="0" u="none" strike="noStrike" baseline="0" dirty="0">
                <a:solidFill>
                  <a:schemeClr val="bg1"/>
                </a:solidFill>
              </a:rPr>
              <a:t>slowly changing dimension techniques.</a:t>
            </a:r>
          </a:p>
          <a:p>
            <a:pPr algn="l"/>
            <a:endParaRPr lang="en-GB" sz="2400" dirty="0">
              <a:solidFill>
                <a:schemeClr val="bg1"/>
              </a:solidFill>
            </a:endParaRPr>
          </a:p>
          <a:p>
            <a:pPr algn="l"/>
            <a:r>
              <a:rPr lang="en-GB" sz="2400" b="0" i="0" u="none" strike="noStrike" baseline="0" dirty="0">
                <a:solidFill>
                  <a:schemeClr val="bg1"/>
                </a:solidFill>
              </a:rPr>
              <a:t>OLAP cubes gracefully support transaction and periodic snapshot fact tables, but do not handle accumulating snapshot fact tables because of the limitations on overwriting data described in the previous point.</a:t>
            </a:r>
          </a:p>
        </p:txBody>
      </p:sp>
    </p:spTree>
    <p:extLst>
      <p:ext uri="{BB962C8B-B14F-4D97-AF65-F5344CB8AC3E}">
        <p14:creationId xmlns:p14="http://schemas.microsoft.com/office/powerpoint/2010/main" val="184952263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23E53-9FC1-D55A-2FEA-08F65FA9C8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83CB6A-DD78-E523-16F7-FF4C7C90C6B3}"/>
              </a:ext>
            </a:extLst>
          </p:cNvPr>
          <p:cNvSpPr>
            <a:spLocks noGrp="1"/>
          </p:cNvSpPr>
          <p:nvPr>
            <p:ph type="title"/>
          </p:nvPr>
        </p:nvSpPr>
        <p:spPr>
          <a:xfrm>
            <a:off x="1136374" y="1"/>
            <a:ext cx="10515600" cy="1021564"/>
          </a:xfrm>
        </p:spPr>
        <p:txBody>
          <a:bodyPr/>
          <a:lstStyle/>
          <a:p>
            <a:pPr algn="ctr"/>
            <a:r>
              <a:rPr lang="de-DE" sz="4400" b="0" i="0" u="none" strike="noStrike" baseline="0" dirty="0">
                <a:solidFill>
                  <a:schemeClr val="bg1"/>
                </a:solidFill>
                <a:latin typeface="+mn-lt"/>
              </a:rPr>
              <a:t>Star Schemas Versus OLAP Cubes</a:t>
            </a:r>
            <a:endParaRPr lang="en-IN" dirty="0">
              <a:solidFill>
                <a:schemeClr val="bg1"/>
              </a:solidFill>
              <a:latin typeface="+mn-lt"/>
            </a:endParaRPr>
          </a:p>
        </p:txBody>
      </p:sp>
      <p:sp>
        <p:nvSpPr>
          <p:cNvPr id="5" name="TextBox 4">
            <a:extLst>
              <a:ext uri="{FF2B5EF4-FFF2-40B4-BE49-F238E27FC236}">
                <a16:creationId xmlns:a16="http://schemas.microsoft.com/office/drawing/2014/main" id="{8C2776AB-D9B5-6B29-10C9-641E7CCD919F}"/>
              </a:ext>
            </a:extLst>
          </p:cNvPr>
          <p:cNvSpPr txBox="1"/>
          <p:nvPr/>
        </p:nvSpPr>
        <p:spPr>
          <a:xfrm>
            <a:off x="268357" y="1414680"/>
            <a:ext cx="11923643" cy="3785652"/>
          </a:xfrm>
          <a:prstGeom prst="rect">
            <a:avLst/>
          </a:prstGeom>
          <a:noFill/>
        </p:spPr>
        <p:txBody>
          <a:bodyPr wrap="square">
            <a:spAutoFit/>
          </a:bodyPr>
          <a:lstStyle/>
          <a:p>
            <a:pPr algn="l"/>
            <a:endParaRPr lang="en-GB" sz="2400" b="0" i="0" u="none" strike="noStrike" baseline="0" dirty="0">
              <a:solidFill>
                <a:schemeClr val="bg1"/>
              </a:solidFill>
            </a:endParaRPr>
          </a:p>
          <a:p>
            <a:pPr algn="l"/>
            <a:r>
              <a:rPr lang="en-GB" sz="2400" b="0" i="0" u="none" strike="noStrike" baseline="0" dirty="0">
                <a:solidFill>
                  <a:schemeClr val="bg1"/>
                </a:solidFill>
              </a:rPr>
              <a:t>OLAP cubes typically support complex ragged hierarchies of indeterminate depth, such as organization charts or bills of material, using native query syntax that is superior to the approaches required for RDBMSs.</a:t>
            </a:r>
          </a:p>
          <a:p>
            <a:pPr algn="l"/>
            <a:endParaRPr lang="en-GB" sz="2400" b="0" i="0" u="none" strike="noStrike" baseline="0" dirty="0">
              <a:solidFill>
                <a:schemeClr val="bg1"/>
              </a:solidFill>
            </a:endParaRPr>
          </a:p>
          <a:p>
            <a:pPr algn="l"/>
            <a:r>
              <a:rPr lang="en-GB" sz="2400" b="0" i="0" u="none" strike="noStrike" baseline="0" dirty="0">
                <a:solidFill>
                  <a:schemeClr val="bg1"/>
                </a:solidFill>
              </a:rPr>
              <a:t>OLAP cubes may impose detailed constraints on the structure of dimension keys that implement drill-down hierarchies compared to relational databases.</a:t>
            </a:r>
          </a:p>
          <a:p>
            <a:pPr algn="l"/>
            <a:endParaRPr lang="en-GB" sz="2400" b="0" i="0" u="none" strike="noStrike" baseline="0" dirty="0">
              <a:solidFill>
                <a:schemeClr val="bg1"/>
              </a:solidFill>
            </a:endParaRPr>
          </a:p>
          <a:p>
            <a:pPr algn="l"/>
            <a:r>
              <a:rPr lang="en-GB" sz="2400" b="0" i="0" u="none" strike="noStrike" baseline="0" dirty="0">
                <a:solidFill>
                  <a:schemeClr val="bg1"/>
                </a:solidFill>
              </a:rPr>
              <a:t>Some OLAP products do not enable dimensional roles or aliases, thus requiring separate physical dimensions to be defi ned.</a:t>
            </a:r>
            <a:endParaRPr lang="en-IN" sz="2400" dirty="0">
              <a:solidFill>
                <a:schemeClr val="bg1"/>
              </a:solidFill>
            </a:endParaRPr>
          </a:p>
        </p:txBody>
      </p:sp>
    </p:spTree>
    <p:extLst>
      <p:ext uri="{BB962C8B-B14F-4D97-AF65-F5344CB8AC3E}">
        <p14:creationId xmlns:p14="http://schemas.microsoft.com/office/powerpoint/2010/main" val="381851880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859023" y="1771921"/>
            <a:ext cx="6967220" cy="682412"/>
            <a:chOff x="2144267" y="1328940"/>
            <a:chExt cx="5225415" cy="511809"/>
          </a:xfrm>
        </p:grpSpPr>
        <p:pic>
          <p:nvPicPr>
            <p:cNvPr id="3" name="object 3"/>
            <p:cNvPicPr/>
            <p:nvPr/>
          </p:nvPicPr>
          <p:blipFill>
            <a:blip r:embed="rId2" cstate="print"/>
            <a:stretch>
              <a:fillRect/>
            </a:stretch>
          </p:blipFill>
          <p:spPr>
            <a:xfrm>
              <a:off x="2144267" y="1342631"/>
              <a:ext cx="465569" cy="476262"/>
            </a:xfrm>
            <a:prstGeom prst="rect">
              <a:avLst/>
            </a:prstGeom>
          </p:spPr>
        </p:pic>
        <p:pic>
          <p:nvPicPr>
            <p:cNvPr id="4" name="object 4"/>
            <p:cNvPicPr/>
            <p:nvPr/>
          </p:nvPicPr>
          <p:blipFill>
            <a:blip r:embed="rId3" cstate="print"/>
            <a:stretch>
              <a:fillRect/>
            </a:stretch>
          </p:blipFill>
          <p:spPr>
            <a:xfrm>
              <a:off x="2421635" y="1328940"/>
              <a:ext cx="4947666" cy="511289"/>
            </a:xfrm>
            <a:prstGeom prst="rect">
              <a:avLst/>
            </a:prstGeom>
          </p:spPr>
        </p:pic>
      </p:grpSp>
      <p:sp>
        <p:nvSpPr>
          <p:cNvPr id="5" name="object 5"/>
          <p:cNvSpPr txBox="1"/>
          <p:nvPr/>
        </p:nvSpPr>
        <p:spPr>
          <a:xfrm>
            <a:off x="3021245" y="1837096"/>
            <a:ext cx="6601460"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u="sng" dirty="0">
                <a:solidFill>
                  <a:srgbClr val="D9D9D9"/>
                </a:solidFill>
                <a:uFill>
                  <a:solidFill>
                    <a:srgbClr val="D9D9D9"/>
                  </a:solidFill>
                </a:uFill>
                <a:latin typeface="Calibri"/>
                <a:cs typeface="Calibri"/>
              </a:rPr>
              <a:t>Method</a:t>
            </a:r>
            <a:r>
              <a:rPr sz="2400" b="1" u="sng" spc="-53" dirty="0">
                <a:solidFill>
                  <a:srgbClr val="D9D9D9"/>
                </a:solidFill>
                <a:uFill>
                  <a:solidFill>
                    <a:srgbClr val="D9D9D9"/>
                  </a:solidFill>
                </a:uFill>
                <a:latin typeface="Calibri"/>
                <a:cs typeface="Calibri"/>
              </a:rPr>
              <a:t> </a:t>
            </a:r>
            <a:r>
              <a:rPr sz="2400" b="1" u="sng" dirty="0">
                <a:solidFill>
                  <a:srgbClr val="D9D9D9"/>
                </a:solidFill>
                <a:uFill>
                  <a:solidFill>
                    <a:srgbClr val="D9D9D9"/>
                  </a:solidFill>
                </a:uFill>
                <a:latin typeface="Calibri"/>
                <a:cs typeface="Calibri"/>
              </a:rPr>
              <a:t>of organizing</a:t>
            </a:r>
            <a:r>
              <a:rPr sz="2400" b="1" u="sng" spc="-60" dirty="0">
                <a:solidFill>
                  <a:srgbClr val="D9D9D9"/>
                </a:solidFill>
                <a:uFill>
                  <a:solidFill>
                    <a:srgbClr val="D9D9D9"/>
                  </a:solidFill>
                </a:uFill>
                <a:latin typeface="Calibri"/>
                <a:cs typeface="Calibri"/>
              </a:rPr>
              <a:t> </a:t>
            </a:r>
            <a:r>
              <a:rPr sz="2400" b="1" u="sng" dirty="0">
                <a:solidFill>
                  <a:srgbClr val="D9D9D9"/>
                </a:solidFill>
                <a:uFill>
                  <a:solidFill>
                    <a:srgbClr val="D9D9D9"/>
                  </a:solidFill>
                </a:uFill>
                <a:latin typeface="Calibri"/>
                <a:cs typeface="Calibri"/>
              </a:rPr>
              <a:t>data</a:t>
            </a:r>
            <a:r>
              <a:rPr sz="2400" b="1" u="sng" spc="-27" dirty="0">
                <a:solidFill>
                  <a:srgbClr val="D9D9D9"/>
                </a:solidFill>
                <a:uFill>
                  <a:solidFill>
                    <a:srgbClr val="D9D9D9"/>
                  </a:solidFill>
                </a:uFill>
                <a:latin typeface="Calibri"/>
                <a:cs typeface="Calibri"/>
              </a:rPr>
              <a:t> </a:t>
            </a:r>
            <a:r>
              <a:rPr sz="2400" b="1" u="sng" dirty="0">
                <a:solidFill>
                  <a:srgbClr val="D9D9D9"/>
                </a:solidFill>
                <a:uFill>
                  <a:solidFill>
                    <a:srgbClr val="D9D9D9"/>
                  </a:solidFill>
                </a:uFill>
                <a:latin typeface="Calibri"/>
                <a:cs typeface="Calibri"/>
              </a:rPr>
              <a:t>(in</a:t>
            </a:r>
            <a:r>
              <a:rPr sz="2400" b="1" u="sng" spc="-13" dirty="0">
                <a:solidFill>
                  <a:srgbClr val="D9D9D9"/>
                </a:solidFill>
                <a:uFill>
                  <a:solidFill>
                    <a:srgbClr val="D9D9D9"/>
                  </a:solidFill>
                </a:uFill>
                <a:latin typeface="Calibri"/>
                <a:cs typeface="Calibri"/>
              </a:rPr>
              <a:t> </a:t>
            </a:r>
            <a:r>
              <a:rPr sz="2400" b="1" u="sng" dirty="0">
                <a:solidFill>
                  <a:srgbClr val="D9D9D9"/>
                </a:solidFill>
                <a:uFill>
                  <a:solidFill>
                    <a:srgbClr val="D9D9D9"/>
                  </a:solidFill>
                </a:uFill>
                <a:latin typeface="Calibri"/>
                <a:cs typeface="Calibri"/>
              </a:rPr>
              <a:t>a data</a:t>
            </a:r>
            <a:r>
              <a:rPr sz="2400" b="1" u="sng" spc="-27" dirty="0">
                <a:solidFill>
                  <a:srgbClr val="D9D9D9"/>
                </a:solidFill>
                <a:uFill>
                  <a:solidFill>
                    <a:srgbClr val="D9D9D9"/>
                  </a:solidFill>
                </a:uFill>
                <a:latin typeface="Calibri"/>
                <a:cs typeface="Calibri"/>
              </a:rPr>
              <a:t> </a:t>
            </a:r>
            <a:r>
              <a:rPr sz="2400" b="1" u="sng" spc="-13" dirty="0">
                <a:solidFill>
                  <a:srgbClr val="D9D9D9"/>
                </a:solidFill>
                <a:uFill>
                  <a:solidFill>
                    <a:srgbClr val="D9D9D9"/>
                  </a:solidFill>
                </a:uFill>
                <a:latin typeface="Calibri"/>
                <a:cs typeface="Calibri"/>
              </a:rPr>
              <a:t>warehouse)</a:t>
            </a:r>
            <a:endParaRPr sz="2400">
              <a:latin typeface="Calibri"/>
              <a:cs typeface="Calibri"/>
            </a:endParaRPr>
          </a:p>
        </p:txBody>
      </p:sp>
      <p:pic>
        <p:nvPicPr>
          <p:cNvPr id="6" name="object 6"/>
          <p:cNvPicPr/>
          <p:nvPr/>
        </p:nvPicPr>
        <p:blipFill>
          <a:blip r:embed="rId4" cstate="print"/>
          <a:stretch>
            <a:fillRect/>
          </a:stretch>
        </p:blipFill>
        <p:spPr>
          <a:xfrm>
            <a:off x="3411727" y="2184477"/>
            <a:ext cx="6231128" cy="62067"/>
          </a:xfrm>
          <a:prstGeom prst="rect">
            <a:avLst/>
          </a:prstGeom>
        </p:spPr>
      </p:pic>
      <p:sp>
        <p:nvSpPr>
          <p:cNvPr id="7" name="object 7"/>
          <p:cNvSpPr txBox="1"/>
          <p:nvPr/>
        </p:nvSpPr>
        <p:spPr>
          <a:xfrm>
            <a:off x="2540001" y="3210560"/>
            <a:ext cx="1893993" cy="539462"/>
          </a:xfrm>
          <a:prstGeom prst="rect">
            <a:avLst/>
          </a:prstGeom>
          <a:noFill/>
        </p:spPr>
        <p:txBody>
          <a:bodyPr vert="horz" wrap="square" lIns="0" tIns="168485" rIns="0" bIns="0" rtlCol="0">
            <a:spAutoFit/>
          </a:bodyPr>
          <a:lstStyle/>
          <a:p>
            <a:pPr marL="503754" indent="-381837">
              <a:spcBef>
                <a:spcPts val="1325"/>
              </a:spcBef>
              <a:buFont typeface="Wingdings"/>
              <a:buChar char=""/>
              <a:tabLst>
                <a:tab pos="503754" algn="l"/>
              </a:tabLst>
            </a:pPr>
            <a:r>
              <a:rPr sz="2400" b="1" spc="-13" dirty="0">
                <a:solidFill>
                  <a:srgbClr val="99D3FF"/>
                </a:solidFill>
                <a:latin typeface="Calibri"/>
                <a:cs typeface="Calibri"/>
              </a:rPr>
              <a:t>Facts</a:t>
            </a:r>
            <a:endParaRPr sz="2400">
              <a:latin typeface="Calibri"/>
              <a:cs typeface="Calibri"/>
            </a:endParaRPr>
          </a:p>
        </p:txBody>
      </p:sp>
      <p:sp>
        <p:nvSpPr>
          <p:cNvPr id="8" name="object 8"/>
          <p:cNvSpPr txBox="1"/>
          <p:nvPr/>
        </p:nvSpPr>
        <p:spPr>
          <a:xfrm>
            <a:off x="7112000" y="3210560"/>
            <a:ext cx="3156373" cy="539462"/>
          </a:xfrm>
          <a:prstGeom prst="rect">
            <a:avLst/>
          </a:prstGeom>
          <a:noFill/>
        </p:spPr>
        <p:txBody>
          <a:bodyPr vert="horz" wrap="square" lIns="0" tIns="168485" rIns="0" bIns="0" rtlCol="0">
            <a:spAutoFit/>
          </a:bodyPr>
          <a:lstStyle/>
          <a:p>
            <a:pPr marL="504601" indent="-381837">
              <a:spcBef>
                <a:spcPts val="1325"/>
              </a:spcBef>
              <a:buClr>
                <a:srgbClr val="99D3FF"/>
              </a:buClr>
              <a:buFont typeface="Wingdings"/>
              <a:buChar char=""/>
              <a:tabLst>
                <a:tab pos="504601" algn="l"/>
              </a:tabLst>
            </a:pPr>
            <a:r>
              <a:rPr sz="2400" b="1" spc="-13" dirty="0">
                <a:solidFill>
                  <a:srgbClr val="D9D9D9"/>
                </a:solidFill>
                <a:latin typeface="Calibri"/>
                <a:cs typeface="Calibri"/>
              </a:rPr>
              <a:t>Dimensions</a:t>
            </a:r>
            <a:endParaRPr sz="2400">
              <a:latin typeface="Calibri"/>
              <a:cs typeface="Calibri"/>
            </a:endParaRPr>
          </a:p>
        </p:txBody>
      </p:sp>
      <p:sp>
        <p:nvSpPr>
          <p:cNvPr id="9" name="object 9"/>
          <p:cNvSpPr txBox="1"/>
          <p:nvPr/>
        </p:nvSpPr>
        <p:spPr>
          <a:xfrm>
            <a:off x="1756156" y="3980348"/>
            <a:ext cx="9021233" cy="386430"/>
          </a:xfrm>
          <a:prstGeom prst="rect">
            <a:avLst/>
          </a:prstGeom>
        </p:spPr>
        <p:txBody>
          <a:bodyPr vert="horz" wrap="square" lIns="0" tIns="16933" rIns="0" bIns="0" rtlCol="0">
            <a:spAutoFit/>
          </a:bodyPr>
          <a:lstStyle/>
          <a:p>
            <a:pPr marL="16933">
              <a:spcBef>
                <a:spcPts val="133"/>
              </a:spcBef>
              <a:tabLst>
                <a:tab pos="4710736" algn="l"/>
              </a:tabLst>
            </a:pPr>
            <a:r>
              <a:rPr sz="2400" dirty="0">
                <a:solidFill>
                  <a:srgbClr val="99D3FF"/>
                </a:solidFill>
                <a:latin typeface="Courier New"/>
                <a:cs typeface="Courier New"/>
              </a:rPr>
              <a:t>o</a:t>
            </a:r>
            <a:r>
              <a:rPr sz="2400" spc="80" dirty="0">
                <a:solidFill>
                  <a:srgbClr val="99D3FF"/>
                </a:solidFill>
                <a:latin typeface="Courier New"/>
                <a:cs typeface="Courier New"/>
              </a:rPr>
              <a:t> </a:t>
            </a:r>
            <a:r>
              <a:rPr sz="2400" b="1" u="sng" dirty="0">
                <a:solidFill>
                  <a:srgbClr val="D9D9D9"/>
                </a:solidFill>
                <a:uFill>
                  <a:solidFill>
                    <a:srgbClr val="D9D9D9"/>
                  </a:solidFill>
                </a:uFill>
                <a:latin typeface="Calibri"/>
                <a:cs typeface="Calibri"/>
              </a:rPr>
              <a:t>Measurement</a:t>
            </a:r>
            <a:r>
              <a:rPr sz="2400" b="1" spc="-53" dirty="0">
                <a:solidFill>
                  <a:srgbClr val="D9D9D9"/>
                </a:solidFill>
                <a:latin typeface="Calibri"/>
                <a:cs typeface="Calibri"/>
              </a:rPr>
              <a:t> </a:t>
            </a:r>
            <a:r>
              <a:rPr sz="2400" b="1" dirty="0">
                <a:solidFill>
                  <a:srgbClr val="D9D9D9"/>
                </a:solidFill>
                <a:latin typeface="Calibri"/>
                <a:cs typeface="Calibri"/>
              </a:rPr>
              <a:t>like</a:t>
            </a:r>
            <a:r>
              <a:rPr sz="2400" b="1" spc="-27" dirty="0">
                <a:solidFill>
                  <a:srgbClr val="D9D9D9"/>
                </a:solidFill>
                <a:latin typeface="Calibri"/>
                <a:cs typeface="Calibri"/>
              </a:rPr>
              <a:t> </a:t>
            </a:r>
            <a:r>
              <a:rPr sz="2400" b="1" spc="-13" dirty="0">
                <a:solidFill>
                  <a:srgbClr val="D9D9D9"/>
                </a:solidFill>
                <a:latin typeface="Calibri"/>
                <a:cs typeface="Calibri"/>
              </a:rPr>
              <a:t>profit</a:t>
            </a:r>
            <a:r>
              <a:rPr sz="2400" b="1" dirty="0">
                <a:solidFill>
                  <a:srgbClr val="D9D9D9"/>
                </a:solidFill>
                <a:latin typeface="Calibri"/>
                <a:cs typeface="Calibri"/>
              </a:rPr>
              <a:t>	</a:t>
            </a:r>
            <a:r>
              <a:rPr sz="2400" dirty="0">
                <a:solidFill>
                  <a:srgbClr val="99D3FF"/>
                </a:solidFill>
                <a:latin typeface="Courier New"/>
                <a:cs typeface="Courier New"/>
              </a:rPr>
              <a:t>o</a:t>
            </a:r>
            <a:r>
              <a:rPr sz="2400" spc="100" dirty="0">
                <a:solidFill>
                  <a:srgbClr val="99D3FF"/>
                </a:solidFill>
                <a:latin typeface="Courier New"/>
                <a:cs typeface="Courier New"/>
              </a:rPr>
              <a:t> </a:t>
            </a:r>
            <a:r>
              <a:rPr sz="2400" b="1" u="sng" dirty="0">
                <a:solidFill>
                  <a:srgbClr val="D9D9D9"/>
                </a:solidFill>
                <a:uFill>
                  <a:solidFill>
                    <a:srgbClr val="D9D9D9"/>
                  </a:solidFill>
                </a:uFill>
                <a:latin typeface="Calibri"/>
                <a:cs typeface="Calibri"/>
              </a:rPr>
              <a:t>Context</a:t>
            </a:r>
            <a:r>
              <a:rPr sz="2400" b="1" spc="-40" dirty="0">
                <a:solidFill>
                  <a:srgbClr val="D9D9D9"/>
                </a:solidFill>
                <a:latin typeface="Calibri"/>
                <a:cs typeface="Calibri"/>
              </a:rPr>
              <a:t> </a:t>
            </a:r>
            <a:r>
              <a:rPr sz="2400" b="1" dirty="0">
                <a:solidFill>
                  <a:srgbClr val="D9D9D9"/>
                </a:solidFill>
                <a:latin typeface="Calibri"/>
                <a:cs typeface="Calibri"/>
              </a:rPr>
              <a:t>like</a:t>
            </a:r>
            <a:r>
              <a:rPr sz="2400" b="1" spc="-33" dirty="0">
                <a:solidFill>
                  <a:srgbClr val="D9D9D9"/>
                </a:solidFill>
                <a:latin typeface="Calibri"/>
                <a:cs typeface="Calibri"/>
              </a:rPr>
              <a:t> </a:t>
            </a:r>
            <a:r>
              <a:rPr sz="2400" b="1" dirty="0">
                <a:solidFill>
                  <a:srgbClr val="D9D9D9"/>
                </a:solidFill>
                <a:latin typeface="Calibri"/>
                <a:cs typeface="Calibri"/>
              </a:rPr>
              <a:t>category</a:t>
            </a:r>
            <a:r>
              <a:rPr sz="2400" b="1" spc="-40" dirty="0">
                <a:solidFill>
                  <a:srgbClr val="D9D9D9"/>
                </a:solidFill>
                <a:latin typeface="Calibri"/>
                <a:cs typeface="Calibri"/>
              </a:rPr>
              <a:t> </a:t>
            </a:r>
            <a:r>
              <a:rPr sz="2400" b="1" dirty="0">
                <a:solidFill>
                  <a:srgbClr val="D9D9D9"/>
                </a:solidFill>
                <a:latin typeface="Calibri"/>
                <a:cs typeface="Calibri"/>
              </a:rPr>
              <a:t>or</a:t>
            </a:r>
            <a:r>
              <a:rPr sz="2400" b="1" spc="-13" dirty="0">
                <a:solidFill>
                  <a:srgbClr val="D9D9D9"/>
                </a:solidFill>
                <a:latin typeface="Calibri"/>
                <a:cs typeface="Calibri"/>
              </a:rPr>
              <a:t> period</a:t>
            </a:r>
            <a:endParaRPr sz="2400">
              <a:latin typeface="Calibri"/>
              <a:cs typeface="Calibri"/>
            </a:endParaRPr>
          </a:p>
        </p:txBody>
      </p:sp>
      <p:sp>
        <p:nvSpPr>
          <p:cNvPr id="10" name="object 10"/>
          <p:cNvSpPr txBox="1">
            <a:spLocks noGrp="1"/>
          </p:cNvSpPr>
          <p:nvPr>
            <p:ph type="title"/>
          </p:nvPr>
        </p:nvSpPr>
        <p:spPr>
          <a:xfrm>
            <a:off x="2009309" y="270224"/>
            <a:ext cx="8768080" cy="695062"/>
          </a:xfrm>
          <a:prstGeom prst="rect">
            <a:avLst/>
          </a:prstGeom>
        </p:spPr>
        <p:txBody>
          <a:bodyPr vert="horz" wrap="square" lIns="0" tIns="17780" rIns="0" bIns="0" rtlCol="0" anchor="ctr">
            <a:spAutoFit/>
          </a:bodyPr>
          <a:lstStyle/>
          <a:p>
            <a:pPr marL="1239489">
              <a:lnSpc>
                <a:spcPct val="100000"/>
              </a:lnSpc>
              <a:spcBef>
                <a:spcPts val="140"/>
              </a:spcBef>
            </a:pPr>
            <a:r>
              <a:rPr dirty="0">
                <a:solidFill>
                  <a:schemeClr val="bg1"/>
                </a:solidFill>
                <a:latin typeface="+mn-lt"/>
              </a:rPr>
              <a:t>Dimensional</a:t>
            </a:r>
            <a:r>
              <a:rPr spc="-152" dirty="0">
                <a:solidFill>
                  <a:schemeClr val="bg1"/>
                </a:solidFill>
                <a:latin typeface="+mn-lt"/>
              </a:rPr>
              <a:t> </a:t>
            </a:r>
            <a:r>
              <a:rPr spc="-13" dirty="0">
                <a:solidFill>
                  <a:schemeClr val="bg1"/>
                </a:solidFill>
                <a:latin typeface="+mn-lt"/>
              </a:rPr>
              <a:t>modeling</a:t>
            </a:r>
          </a:p>
        </p:txBody>
      </p:sp>
      <p:sp>
        <p:nvSpPr>
          <p:cNvPr id="11" name="object 11"/>
          <p:cNvSpPr txBox="1"/>
          <p:nvPr/>
        </p:nvSpPr>
        <p:spPr>
          <a:xfrm>
            <a:off x="4572000" y="4775201"/>
            <a:ext cx="2540000" cy="541174"/>
          </a:xfrm>
          <a:prstGeom prst="rect">
            <a:avLst/>
          </a:prstGeom>
          <a:solidFill>
            <a:srgbClr val="F1F1F1"/>
          </a:solidFill>
        </p:spPr>
        <p:txBody>
          <a:bodyPr vert="horz" wrap="square" lIns="0" tIns="170180" rIns="0" bIns="0" rtlCol="0">
            <a:spAutoFit/>
          </a:bodyPr>
          <a:lstStyle/>
          <a:p>
            <a:pPr marL="411470">
              <a:spcBef>
                <a:spcPts val="1340"/>
              </a:spcBef>
            </a:pPr>
            <a:r>
              <a:rPr sz="2400" b="1" dirty="0">
                <a:solidFill>
                  <a:srgbClr val="7E7E7E"/>
                </a:solidFill>
                <a:latin typeface="Calibri"/>
                <a:cs typeface="Calibri"/>
              </a:rPr>
              <a:t>Profit</a:t>
            </a:r>
            <a:r>
              <a:rPr sz="2400" b="1" spc="-13" dirty="0">
                <a:solidFill>
                  <a:srgbClr val="7E7E7E"/>
                </a:solidFill>
                <a:latin typeface="Calibri"/>
                <a:cs typeface="Calibri"/>
              </a:rPr>
              <a:t> </a:t>
            </a:r>
            <a:r>
              <a:rPr sz="2400" b="1" dirty="0">
                <a:solidFill>
                  <a:srgbClr val="7E7E7E"/>
                </a:solidFill>
                <a:latin typeface="Calibri"/>
                <a:cs typeface="Calibri"/>
              </a:rPr>
              <a:t>by </a:t>
            </a:r>
            <a:r>
              <a:rPr sz="2400" b="1" spc="-27" dirty="0">
                <a:solidFill>
                  <a:srgbClr val="7E7E7E"/>
                </a:solidFill>
                <a:latin typeface="Calibri"/>
                <a:cs typeface="Calibri"/>
              </a:rPr>
              <a:t>year</a:t>
            </a:r>
            <a:endParaRPr sz="2400">
              <a:latin typeface="Calibri"/>
              <a:cs typeface="Calibri"/>
            </a:endParaRPr>
          </a:p>
        </p:txBody>
      </p:sp>
      <p:sp>
        <p:nvSpPr>
          <p:cNvPr id="12" name="object 12"/>
          <p:cNvSpPr txBox="1"/>
          <p:nvPr/>
        </p:nvSpPr>
        <p:spPr>
          <a:xfrm>
            <a:off x="4580129" y="5520944"/>
            <a:ext cx="2532380" cy="540319"/>
          </a:xfrm>
          <a:prstGeom prst="rect">
            <a:avLst/>
          </a:prstGeom>
          <a:solidFill>
            <a:srgbClr val="F1F1F1"/>
          </a:solidFill>
        </p:spPr>
        <p:txBody>
          <a:bodyPr vert="horz" wrap="square" lIns="0" tIns="169333" rIns="0" bIns="0" rtlCol="0">
            <a:spAutoFit/>
          </a:bodyPr>
          <a:lstStyle/>
          <a:p>
            <a:pPr marL="136310">
              <a:spcBef>
                <a:spcPts val="1333"/>
              </a:spcBef>
            </a:pPr>
            <a:r>
              <a:rPr sz="2400" b="1" dirty="0">
                <a:solidFill>
                  <a:srgbClr val="7E7E7E"/>
                </a:solidFill>
                <a:latin typeface="Calibri"/>
                <a:cs typeface="Calibri"/>
              </a:rPr>
              <a:t>Profit</a:t>
            </a:r>
            <a:r>
              <a:rPr sz="2400" b="1" spc="-20" dirty="0">
                <a:solidFill>
                  <a:srgbClr val="7E7E7E"/>
                </a:solidFill>
                <a:latin typeface="Calibri"/>
                <a:cs typeface="Calibri"/>
              </a:rPr>
              <a:t> </a:t>
            </a:r>
            <a:r>
              <a:rPr sz="2400" b="1" dirty="0">
                <a:solidFill>
                  <a:srgbClr val="7E7E7E"/>
                </a:solidFill>
                <a:latin typeface="Calibri"/>
                <a:cs typeface="Calibri"/>
              </a:rPr>
              <a:t>by</a:t>
            </a:r>
            <a:r>
              <a:rPr sz="2400" b="1" spc="-13" dirty="0">
                <a:solidFill>
                  <a:srgbClr val="7E7E7E"/>
                </a:solidFill>
                <a:latin typeface="Calibri"/>
                <a:cs typeface="Calibri"/>
              </a:rPr>
              <a:t> category</a:t>
            </a:r>
            <a:endParaRPr sz="2400">
              <a:latin typeface="Calibri"/>
              <a:cs typeface="Calibri"/>
            </a:endParaRPr>
          </a:p>
        </p:txBody>
      </p:sp>
      <p:sp>
        <p:nvSpPr>
          <p:cNvPr id="14" name="TextBox 13">
            <a:extLst>
              <a:ext uri="{FF2B5EF4-FFF2-40B4-BE49-F238E27FC236}">
                <a16:creationId xmlns:a16="http://schemas.microsoft.com/office/drawing/2014/main" id="{576D6DB7-9116-F5A0-B592-1EF9BE430AF8}"/>
              </a:ext>
            </a:extLst>
          </p:cNvPr>
          <p:cNvSpPr txBox="1"/>
          <p:nvPr/>
        </p:nvSpPr>
        <p:spPr>
          <a:xfrm>
            <a:off x="1470992" y="1174642"/>
            <a:ext cx="10586968" cy="461665"/>
          </a:xfrm>
          <a:prstGeom prst="rect">
            <a:avLst/>
          </a:prstGeom>
          <a:noFill/>
        </p:spPr>
        <p:txBody>
          <a:bodyPr wrap="square">
            <a:spAutoFit/>
          </a:bodyPr>
          <a:lstStyle/>
          <a:p>
            <a:r>
              <a:rPr lang="en-GB" sz="2400" b="0" i="0" u="none" strike="noStrike" baseline="0" dirty="0">
                <a:solidFill>
                  <a:schemeClr val="bg1"/>
                </a:solidFill>
                <a:latin typeface="BerkeleyStd-Medium"/>
              </a:rPr>
              <a:t>Dimensional modelling is a longstanding technique for making databases simple.</a:t>
            </a:r>
            <a:endParaRPr lang="en-IN" sz="2400" dirty="0">
              <a:solidFill>
                <a:schemeClr val="bg1"/>
              </a:solidFill>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92381" y="247908"/>
            <a:ext cx="8351519" cy="695062"/>
          </a:xfrm>
          <a:prstGeom prst="rect">
            <a:avLst/>
          </a:prstGeom>
        </p:spPr>
        <p:txBody>
          <a:bodyPr vert="horz" wrap="square" lIns="0" tIns="17780" rIns="0" bIns="0" rtlCol="0" anchor="ctr">
            <a:spAutoFit/>
          </a:bodyPr>
          <a:lstStyle/>
          <a:p>
            <a:pPr marL="1239489" algn="ctr">
              <a:lnSpc>
                <a:spcPct val="100000"/>
              </a:lnSpc>
              <a:spcBef>
                <a:spcPts val="140"/>
              </a:spcBef>
            </a:pPr>
            <a:r>
              <a:rPr dirty="0">
                <a:solidFill>
                  <a:schemeClr val="bg1"/>
                </a:solidFill>
                <a:latin typeface="+mn-lt"/>
              </a:rPr>
              <a:t>Dimensional</a:t>
            </a:r>
            <a:r>
              <a:rPr spc="-152" dirty="0">
                <a:solidFill>
                  <a:schemeClr val="bg1"/>
                </a:solidFill>
                <a:latin typeface="+mn-lt"/>
              </a:rPr>
              <a:t> </a:t>
            </a:r>
            <a:r>
              <a:rPr spc="-13" dirty="0">
                <a:solidFill>
                  <a:schemeClr val="bg1"/>
                </a:solidFill>
                <a:latin typeface="+mn-lt"/>
              </a:rPr>
              <a:t>modeling</a:t>
            </a:r>
          </a:p>
        </p:txBody>
      </p:sp>
      <p:sp>
        <p:nvSpPr>
          <p:cNvPr id="3" name="object 3"/>
          <p:cNvSpPr txBox="1"/>
          <p:nvPr/>
        </p:nvSpPr>
        <p:spPr>
          <a:xfrm>
            <a:off x="5185663" y="1906015"/>
            <a:ext cx="2201333" cy="538609"/>
          </a:xfrm>
          <a:prstGeom prst="rect">
            <a:avLst/>
          </a:prstGeom>
          <a:noFill/>
        </p:spPr>
        <p:txBody>
          <a:bodyPr vert="horz" wrap="square" lIns="0" tIns="167640" rIns="0" bIns="0" rtlCol="0">
            <a:spAutoFit/>
          </a:bodyPr>
          <a:lstStyle/>
          <a:p>
            <a:pPr marL="502907" indent="-380990">
              <a:spcBef>
                <a:spcPts val="1320"/>
              </a:spcBef>
              <a:buClr>
                <a:srgbClr val="99D3FF"/>
              </a:buClr>
              <a:buFont typeface="Wingdings"/>
              <a:buChar char=""/>
              <a:tabLst>
                <a:tab pos="502907" algn="l"/>
              </a:tabLst>
            </a:pPr>
            <a:r>
              <a:rPr sz="2400" b="1" spc="-13" dirty="0">
                <a:solidFill>
                  <a:srgbClr val="D9D9D9"/>
                </a:solidFill>
                <a:latin typeface="Calibri"/>
                <a:cs typeface="Calibri"/>
              </a:rPr>
              <a:t>Dimensions</a:t>
            </a:r>
            <a:endParaRPr sz="2400">
              <a:latin typeface="Calibri"/>
              <a:cs typeface="Calibri"/>
            </a:endParaRPr>
          </a:p>
        </p:txBody>
      </p:sp>
      <p:sp>
        <p:nvSpPr>
          <p:cNvPr id="4" name="object 4"/>
          <p:cNvSpPr txBox="1"/>
          <p:nvPr/>
        </p:nvSpPr>
        <p:spPr>
          <a:xfrm>
            <a:off x="7833360" y="4011169"/>
            <a:ext cx="2438400" cy="541174"/>
          </a:xfrm>
          <a:prstGeom prst="rect">
            <a:avLst/>
          </a:prstGeom>
          <a:noFill/>
        </p:spPr>
        <p:txBody>
          <a:bodyPr vert="horz" wrap="square" lIns="0" tIns="170180" rIns="0" bIns="0" rtlCol="0">
            <a:spAutoFit/>
          </a:bodyPr>
          <a:lstStyle/>
          <a:p>
            <a:pPr marL="504601" indent="-380990">
              <a:spcBef>
                <a:spcPts val="1340"/>
              </a:spcBef>
              <a:buClr>
                <a:srgbClr val="99D3FF"/>
              </a:buClr>
              <a:buFont typeface="Wingdings"/>
              <a:buChar char=""/>
              <a:tabLst>
                <a:tab pos="504601" algn="l"/>
              </a:tabLst>
            </a:pPr>
            <a:r>
              <a:rPr sz="2400" b="1" spc="-13" dirty="0">
                <a:solidFill>
                  <a:srgbClr val="D9D9D9"/>
                </a:solidFill>
                <a:latin typeface="Calibri"/>
                <a:cs typeface="Calibri"/>
              </a:rPr>
              <a:t>Dimensions</a:t>
            </a:r>
            <a:endParaRPr sz="2400">
              <a:latin typeface="Calibri"/>
              <a:cs typeface="Calibri"/>
            </a:endParaRPr>
          </a:p>
        </p:txBody>
      </p:sp>
      <p:sp>
        <p:nvSpPr>
          <p:cNvPr id="5" name="object 5"/>
          <p:cNvSpPr txBox="1"/>
          <p:nvPr/>
        </p:nvSpPr>
        <p:spPr>
          <a:xfrm>
            <a:off x="2129536" y="3960369"/>
            <a:ext cx="2438400" cy="541174"/>
          </a:xfrm>
          <a:prstGeom prst="rect">
            <a:avLst/>
          </a:prstGeom>
          <a:noFill/>
        </p:spPr>
        <p:txBody>
          <a:bodyPr vert="horz" wrap="square" lIns="0" tIns="170180" rIns="0" bIns="0" rtlCol="0">
            <a:spAutoFit/>
          </a:bodyPr>
          <a:lstStyle/>
          <a:p>
            <a:pPr marL="503754" indent="-380990">
              <a:spcBef>
                <a:spcPts val="1340"/>
              </a:spcBef>
              <a:buClr>
                <a:srgbClr val="99D3FF"/>
              </a:buClr>
              <a:buFont typeface="Wingdings"/>
              <a:buChar char=""/>
              <a:tabLst>
                <a:tab pos="503754" algn="l"/>
              </a:tabLst>
            </a:pPr>
            <a:r>
              <a:rPr sz="2400" b="1" spc="-13" dirty="0">
                <a:solidFill>
                  <a:srgbClr val="D9D9D9"/>
                </a:solidFill>
                <a:latin typeface="Calibri"/>
                <a:cs typeface="Calibri"/>
              </a:rPr>
              <a:t>Dimensions</a:t>
            </a:r>
            <a:endParaRPr sz="2400">
              <a:latin typeface="Calibri"/>
              <a:cs typeface="Calibri"/>
            </a:endParaRPr>
          </a:p>
        </p:txBody>
      </p:sp>
      <p:sp>
        <p:nvSpPr>
          <p:cNvPr id="6" name="object 6"/>
          <p:cNvSpPr/>
          <p:nvPr/>
        </p:nvSpPr>
        <p:spPr>
          <a:xfrm>
            <a:off x="6284976" y="2521711"/>
            <a:ext cx="0" cy="488527"/>
          </a:xfrm>
          <a:custGeom>
            <a:avLst/>
            <a:gdLst/>
            <a:ahLst/>
            <a:cxnLst/>
            <a:rect l="l" t="t" r="r" b="b"/>
            <a:pathLst>
              <a:path h="366394">
                <a:moveTo>
                  <a:pt x="0" y="366267"/>
                </a:moveTo>
                <a:lnTo>
                  <a:pt x="0" y="0"/>
                </a:lnTo>
              </a:path>
            </a:pathLst>
          </a:custGeom>
          <a:ln w="9144">
            <a:solidFill>
              <a:srgbClr val="00C2FF"/>
            </a:solidFill>
          </a:ln>
        </p:spPr>
        <p:txBody>
          <a:bodyPr wrap="square" lIns="0" tIns="0" rIns="0" bIns="0" rtlCol="0"/>
          <a:lstStyle/>
          <a:p>
            <a:endParaRPr sz="2400"/>
          </a:p>
        </p:txBody>
      </p:sp>
      <p:sp>
        <p:nvSpPr>
          <p:cNvPr id="7" name="object 7"/>
          <p:cNvSpPr/>
          <p:nvPr/>
        </p:nvSpPr>
        <p:spPr>
          <a:xfrm>
            <a:off x="7244079" y="3501135"/>
            <a:ext cx="1810173" cy="511387"/>
          </a:xfrm>
          <a:custGeom>
            <a:avLst/>
            <a:gdLst/>
            <a:ahLst/>
            <a:cxnLst/>
            <a:rect l="l" t="t" r="r" b="b"/>
            <a:pathLst>
              <a:path w="1357629" h="383539">
                <a:moveTo>
                  <a:pt x="0" y="0"/>
                </a:moveTo>
                <a:lnTo>
                  <a:pt x="1357630" y="383286"/>
                </a:lnTo>
              </a:path>
            </a:pathLst>
          </a:custGeom>
          <a:ln w="9144">
            <a:solidFill>
              <a:srgbClr val="00C2FF"/>
            </a:solidFill>
          </a:ln>
        </p:spPr>
        <p:txBody>
          <a:bodyPr wrap="square" lIns="0" tIns="0" rIns="0" bIns="0" rtlCol="0"/>
          <a:lstStyle/>
          <a:p>
            <a:endParaRPr sz="2400"/>
          </a:p>
        </p:txBody>
      </p:sp>
      <p:sp>
        <p:nvSpPr>
          <p:cNvPr id="8" name="object 8"/>
          <p:cNvSpPr/>
          <p:nvPr/>
        </p:nvSpPr>
        <p:spPr>
          <a:xfrm>
            <a:off x="3348735" y="3531616"/>
            <a:ext cx="2035387" cy="430953"/>
          </a:xfrm>
          <a:custGeom>
            <a:avLst/>
            <a:gdLst/>
            <a:ahLst/>
            <a:cxnLst/>
            <a:rect l="l" t="t" r="r" b="b"/>
            <a:pathLst>
              <a:path w="1526539" h="323214">
                <a:moveTo>
                  <a:pt x="1526539" y="0"/>
                </a:moveTo>
                <a:lnTo>
                  <a:pt x="0" y="322706"/>
                </a:lnTo>
              </a:path>
            </a:pathLst>
          </a:custGeom>
          <a:ln w="9144">
            <a:solidFill>
              <a:srgbClr val="00C2FF"/>
            </a:solidFill>
          </a:ln>
        </p:spPr>
        <p:txBody>
          <a:bodyPr wrap="square" lIns="0" tIns="0" rIns="0" bIns="0" rtlCol="0"/>
          <a:lstStyle/>
          <a:p>
            <a:endParaRPr sz="2400"/>
          </a:p>
        </p:txBody>
      </p:sp>
      <p:sp>
        <p:nvSpPr>
          <p:cNvPr id="9" name="object 9"/>
          <p:cNvSpPr txBox="1"/>
          <p:nvPr/>
        </p:nvSpPr>
        <p:spPr>
          <a:xfrm>
            <a:off x="5338064" y="3011423"/>
            <a:ext cx="1893993" cy="539462"/>
          </a:xfrm>
          <a:prstGeom prst="rect">
            <a:avLst/>
          </a:prstGeom>
          <a:noFill/>
        </p:spPr>
        <p:txBody>
          <a:bodyPr vert="horz" wrap="square" lIns="0" tIns="168485" rIns="0" bIns="0" rtlCol="0">
            <a:spAutoFit/>
          </a:bodyPr>
          <a:lstStyle/>
          <a:p>
            <a:pPr marL="504601" indent="-380990">
              <a:spcBef>
                <a:spcPts val="1325"/>
              </a:spcBef>
              <a:buFont typeface="Wingdings"/>
              <a:buChar char=""/>
              <a:tabLst>
                <a:tab pos="504601" algn="l"/>
              </a:tabLst>
            </a:pPr>
            <a:r>
              <a:rPr sz="2400" b="1" spc="-13" dirty="0">
                <a:solidFill>
                  <a:srgbClr val="99D3FF"/>
                </a:solidFill>
                <a:latin typeface="Calibri"/>
                <a:cs typeface="Calibri"/>
              </a:rPr>
              <a:t>Facts</a:t>
            </a:r>
            <a:endParaRPr sz="2400">
              <a:latin typeface="Calibri"/>
              <a:cs typeface="Calibri"/>
            </a:endParaRPr>
          </a:p>
        </p:txBody>
      </p:sp>
      <p:sp>
        <p:nvSpPr>
          <p:cNvPr id="10" name="object 10"/>
          <p:cNvSpPr txBox="1"/>
          <p:nvPr/>
        </p:nvSpPr>
        <p:spPr>
          <a:xfrm>
            <a:off x="4673600" y="5065776"/>
            <a:ext cx="3048000" cy="540319"/>
          </a:xfrm>
          <a:prstGeom prst="rect">
            <a:avLst/>
          </a:prstGeom>
          <a:solidFill>
            <a:srgbClr val="99E7FF"/>
          </a:solidFill>
        </p:spPr>
        <p:txBody>
          <a:bodyPr vert="horz" wrap="square" lIns="0" tIns="169333" rIns="0" bIns="0" rtlCol="0">
            <a:spAutoFit/>
          </a:bodyPr>
          <a:lstStyle/>
          <a:p>
            <a:pPr marL="763674">
              <a:spcBef>
                <a:spcPts val="1333"/>
              </a:spcBef>
            </a:pPr>
            <a:r>
              <a:rPr sz="2400" b="1" dirty="0">
                <a:solidFill>
                  <a:srgbClr val="404040"/>
                </a:solidFill>
                <a:latin typeface="Calibri"/>
                <a:cs typeface="Calibri"/>
              </a:rPr>
              <a:t>star</a:t>
            </a:r>
            <a:r>
              <a:rPr sz="2400" b="1" spc="-40" dirty="0">
                <a:solidFill>
                  <a:srgbClr val="404040"/>
                </a:solidFill>
                <a:latin typeface="Calibri"/>
                <a:cs typeface="Calibri"/>
              </a:rPr>
              <a:t> </a:t>
            </a:r>
            <a:r>
              <a:rPr sz="2400" b="1" spc="-13" dirty="0">
                <a:solidFill>
                  <a:srgbClr val="404040"/>
                </a:solidFill>
                <a:latin typeface="Calibri"/>
                <a:cs typeface="Calibri"/>
              </a:rPr>
              <a:t>schema</a:t>
            </a:r>
            <a:endParaRPr sz="2400">
              <a:latin typeface="Calibri"/>
              <a:cs typeface="Calibri"/>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47520" y="344850"/>
            <a:ext cx="9357360" cy="695062"/>
          </a:xfrm>
          <a:prstGeom prst="rect">
            <a:avLst/>
          </a:prstGeom>
        </p:spPr>
        <p:txBody>
          <a:bodyPr vert="horz" wrap="square" lIns="0" tIns="17780" rIns="0" bIns="0" rtlCol="0" anchor="ctr">
            <a:spAutoFit/>
          </a:bodyPr>
          <a:lstStyle/>
          <a:p>
            <a:pPr marL="1239489" algn="ctr">
              <a:lnSpc>
                <a:spcPct val="100000"/>
              </a:lnSpc>
              <a:spcBef>
                <a:spcPts val="140"/>
              </a:spcBef>
            </a:pPr>
            <a:r>
              <a:rPr dirty="0">
                <a:solidFill>
                  <a:schemeClr val="bg1"/>
                </a:solidFill>
                <a:latin typeface="+mn-lt"/>
              </a:rPr>
              <a:t>Dimensional</a:t>
            </a:r>
            <a:r>
              <a:rPr spc="-152" dirty="0">
                <a:solidFill>
                  <a:schemeClr val="bg1"/>
                </a:solidFill>
                <a:latin typeface="+mn-lt"/>
              </a:rPr>
              <a:t> </a:t>
            </a:r>
            <a:r>
              <a:rPr spc="-13" dirty="0">
                <a:solidFill>
                  <a:schemeClr val="bg1"/>
                </a:solidFill>
                <a:latin typeface="+mn-lt"/>
              </a:rPr>
              <a:t>modeling</a:t>
            </a:r>
          </a:p>
        </p:txBody>
      </p:sp>
      <p:sp>
        <p:nvSpPr>
          <p:cNvPr id="3" name="object 3"/>
          <p:cNvSpPr txBox="1"/>
          <p:nvPr/>
        </p:nvSpPr>
        <p:spPr>
          <a:xfrm>
            <a:off x="3112686" y="1990682"/>
            <a:ext cx="5666740" cy="3725806"/>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Unique</a:t>
            </a:r>
            <a:r>
              <a:rPr sz="2400" b="1" spc="-87" dirty="0">
                <a:solidFill>
                  <a:srgbClr val="D9D9D9"/>
                </a:solidFill>
                <a:latin typeface="Calibri"/>
                <a:cs typeface="Calibri"/>
              </a:rPr>
              <a:t> </a:t>
            </a:r>
            <a:r>
              <a:rPr sz="2400" b="1" dirty="0">
                <a:solidFill>
                  <a:srgbClr val="D9D9D9"/>
                </a:solidFill>
                <a:latin typeface="Calibri"/>
                <a:cs typeface="Calibri"/>
              </a:rPr>
              <a:t>technique</a:t>
            </a:r>
            <a:r>
              <a:rPr sz="2400" b="1" spc="-33" dirty="0">
                <a:solidFill>
                  <a:srgbClr val="D9D9D9"/>
                </a:solidFill>
                <a:latin typeface="Calibri"/>
                <a:cs typeface="Calibri"/>
              </a:rPr>
              <a:t> </a:t>
            </a:r>
            <a:r>
              <a:rPr sz="2400" b="1" dirty="0">
                <a:solidFill>
                  <a:srgbClr val="D9D9D9"/>
                </a:solidFill>
                <a:latin typeface="Calibri"/>
                <a:cs typeface="Calibri"/>
              </a:rPr>
              <a:t>of</a:t>
            </a:r>
            <a:r>
              <a:rPr sz="2400" b="1" spc="-53" dirty="0">
                <a:solidFill>
                  <a:srgbClr val="D9D9D9"/>
                </a:solidFill>
                <a:latin typeface="Calibri"/>
                <a:cs typeface="Calibri"/>
              </a:rPr>
              <a:t> </a:t>
            </a:r>
            <a:r>
              <a:rPr sz="2400" b="1" dirty="0">
                <a:solidFill>
                  <a:srgbClr val="D9D9D9"/>
                </a:solidFill>
                <a:latin typeface="Calibri"/>
                <a:cs typeface="Calibri"/>
              </a:rPr>
              <a:t>structering</a:t>
            </a:r>
            <a:r>
              <a:rPr sz="2400" b="1" spc="-60" dirty="0">
                <a:solidFill>
                  <a:srgbClr val="D9D9D9"/>
                </a:solidFill>
                <a:latin typeface="Calibri"/>
                <a:cs typeface="Calibri"/>
              </a:rPr>
              <a:t> </a:t>
            </a:r>
            <a:r>
              <a:rPr sz="2400" b="1" spc="-27" dirty="0">
                <a:solidFill>
                  <a:srgbClr val="D9D9D9"/>
                </a:solidFill>
                <a:latin typeface="Calibri"/>
                <a:cs typeface="Calibri"/>
              </a:rPr>
              <a:t>data</a:t>
            </a:r>
            <a:endParaRPr sz="2400">
              <a:latin typeface="Calibri"/>
              <a:cs typeface="Calibri"/>
            </a:endParaRPr>
          </a:p>
          <a:p>
            <a:pPr>
              <a:spcBef>
                <a:spcPts val="587"/>
              </a:spcBef>
              <a:buClr>
                <a:srgbClr val="99D3FF"/>
              </a:buClr>
              <a:buFont typeface="Wingdings"/>
              <a:buChar char=""/>
            </a:pPr>
            <a:endParaRPr sz="2400">
              <a:latin typeface="Calibri"/>
              <a:cs typeface="Calibri"/>
            </a:endParaRPr>
          </a:p>
          <a:p>
            <a:pPr marL="398770" indent="-381837">
              <a:buClr>
                <a:srgbClr val="99D3FF"/>
              </a:buClr>
              <a:buFont typeface="Wingdings"/>
              <a:buChar char=""/>
              <a:tabLst>
                <a:tab pos="398770" algn="l"/>
              </a:tabLst>
            </a:pPr>
            <a:r>
              <a:rPr sz="2400" b="1" dirty="0">
                <a:solidFill>
                  <a:srgbClr val="D9D9D9"/>
                </a:solidFill>
                <a:latin typeface="Calibri"/>
                <a:cs typeface="Calibri"/>
              </a:rPr>
              <a:t>Commonly</a:t>
            </a:r>
            <a:r>
              <a:rPr sz="2400" b="1" spc="-60" dirty="0">
                <a:solidFill>
                  <a:srgbClr val="D9D9D9"/>
                </a:solidFill>
                <a:latin typeface="Calibri"/>
                <a:cs typeface="Calibri"/>
              </a:rPr>
              <a:t> </a:t>
            </a:r>
            <a:r>
              <a:rPr sz="2400" b="1" dirty="0">
                <a:solidFill>
                  <a:srgbClr val="D9D9D9"/>
                </a:solidFill>
                <a:latin typeface="Calibri"/>
                <a:cs typeface="Calibri"/>
              </a:rPr>
              <a:t>used</a:t>
            </a:r>
            <a:r>
              <a:rPr sz="2400" b="1" spc="-47" dirty="0">
                <a:solidFill>
                  <a:srgbClr val="D9D9D9"/>
                </a:solidFill>
                <a:latin typeface="Calibri"/>
                <a:cs typeface="Calibri"/>
              </a:rPr>
              <a:t> </a:t>
            </a:r>
            <a:r>
              <a:rPr sz="2400" b="1" dirty="0">
                <a:solidFill>
                  <a:srgbClr val="D9D9D9"/>
                </a:solidFill>
                <a:latin typeface="Calibri"/>
                <a:cs typeface="Calibri"/>
              </a:rPr>
              <a:t>in</a:t>
            </a:r>
            <a:r>
              <a:rPr sz="2400" b="1" spc="-20" dirty="0">
                <a:solidFill>
                  <a:srgbClr val="D9D9D9"/>
                </a:solidFill>
                <a:latin typeface="Calibri"/>
                <a:cs typeface="Calibri"/>
              </a:rPr>
              <a:t> </a:t>
            </a:r>
            <a:r>
              <a:rPr sz="2400" b="1" spc="-33" dirty="0">
                <a:solidFill>
                  <a:srgbClr val="D9D9D9"/>
                </a:solidFill>
                <a:latin typeface="Calibri"/>
                <a:cs typeface="Calibri"/>
              </a:rPr>
              <a:t>DWH</a:t>
            </a:r>
            <a:endParaRPr sz="2400">
              <a:latin typeface="Calibri"/>
              <a:cs typeface="Calibri"/>
            </a:endParaRPr>
          </a:p>
          <a:p>
            <a:pPr>
              <a:spcBef>
                <a:spcPts val="593"/>
              </a:spcBef>
              <a:buClr>
                <a:srgbClr val="99D3FF"/>
              </a:buClr>
              <a:buFont typeface="Wingdings"/>
              <a:buChar char=""/>
            </a:pPr>
            <a:endParaRPr sz="2400">
              <a:latin typeface="Calibri"/>
              <a:cs typeface="Calibri"/>
            </a:endParaRPr>
          </a:p>
          <a:p>
            <a:pPr marL="416550" indent="-380990">
              <a:buClr>
                <a:srgbClr val="99D3FF"/>
              </a:buClr>
              <a:buFont typeface="Wingdings"/>
              <a:buChar char=""/>
              <a:tabLst>
                <a:tab pos="416550" algn="l"/>
              </a:tabLst>
            </a:pPr>
            <a:r>
              <a:rPr sz="2400" b="1" dirty="0">
                <a:solidFill>
                  <a:srgbClr val="D9D9D9"/>
                </a:solidFill>
                <a:latin typeface="Calibri"/>
                <a:cs typeface="Calibri"/>
              </a:rPr>
              <a:t>Optimized</a:t>
            </a:r>
            <a:r>
              <a:rPr sz="2400" b="1" spc="-73" dirty="0">
                <a:solidFill>
                  <a:srgbClr val="D9D9D9"/>
                </a:solidFill>
                <a:latin typeface="Calibri"/>
                <a:cs typeface="Calibri"/>
              </a:rPr>
              <a:t> </a:t>
            </a:r>
            <a:r>
              <a:rPr sz="2400" b="1" dirty="0">
                <a:solidFill>
                  <a:srgbClr val="D9D9D9"/>
                </a:solidFill>
                <a:latin typeface="Calibri"/>
                <a:cs typeface="Calibri"/>
              </a:rPr>
              <a:t>for</a:t>
            </a:r>
            <a:r>
              <a:rPr sz="2400" b="1" spc="-20" dirty="0">
                <a:solidFill>
                  <a:srgbClr val="D9D9D9"/>
                </a:solidFill>
                <a:latin typeface="Calibri"/>
                <a:cs typeface="Calibri"/>
              </a:rPr>
              <a:t> </a:t>
            </a:r>
            <a:r>
              <a:rPr sz="2400" b="1" dirty="0">
                <a:solidFill>
                  <a:srgbClr val="D9D9D9"/>
                </a:solidFill>
                <a:latin typeface="Calibri"/>
                <a:cs typeface="Calibri"/>
              </a:rPr>
              <a:t>faster</a:t>
            </a:r>
            <a:r>
              <a:rPr sz="2400" b="1" spc="-33" dirty="0">
                <a:solidFill>
                  <a:srgbClr val="D9D9D9"/>
                </a:solidFill>
                <a:latin typeface="Calibri"/>
                <a:cs typeface="Calibri"/>
              </a:rPr>
              <a:t> </a:t>
            </a:r>
            <a:r>
              <a:rPr sz="2400" b="1" dirty="0">
                <a:solidFill>
                  <a:srgbClr val="D9D9D9"/>
                </a:solidFill>
                <a:latin typeface="Calibri"/>
                <a:cs typeface="Calibri"/>
              </a:rPr>
              <a:t>data</a:t>
            </a:r>
            <a:r>
              <a:rPr sz="2400" b="1" spc="-40" dirty="0">
                <a:solidFill>
                  <a:srgbClr val="D9D9D9"/>
                </a:solidFill>
                <a:latin typeface="Calibri"/>
                <a:cs typeface="Calibri"/>
              </a:rPr>
              <a:t> </a:t>
            </a:r>
            <a:r>
              <a:rPr sz="2400" b="1" spc="-13" dirty="0">
                <a:solidFill>
                  <a:srgbClr val="D9D9D9"/>
                </a:solidFill>
                <a:latin typeface="Calibri"/>
                <a:cs typeface="Calibri"/>
              </a:rPr>
              <a:t>retrieval</a:t>
            </a:r>
            <a:endParaRPr sz="2400">
              <a:latin typeface="Calibri"/>
              <a:cs typeface="Calibri"/>
            </a:endParaRPr>
          </a:p>
          <a:p>
            <a:pPr>
              <a:spcBef>
                <a:spcPts val="947"/>
              </a:spcBef>
              <a:buClr>
                <a:srgbClr val="99D3FF"/>
              </a:buClr>
              <a:buFont typeface="Wingdings"/>
              <a:buChar char=""/>
            </a:pPr>
            <a:endParaRPr sz="2400">
              <a:latin typeface="Calibri"/>
              <a:cs typeface="Calibri"/>
            </a:endParaRPr>
          </a:p>
          <a:p>
            <a:pPr marL="416550" indent="-380990">
              <a:buClr>
                <a:srgbClr val="99D3FF"/>
              </a:buClr>
              <a:buFont typeface="Wingdings"/>
              <a:buChar char=""/>
              <a:tabLst>
                <a:tab pos="416550" algn="l"/>
              </a:tabLst>
            </a:pPr>
            <a:r>
              <a:rPr sz="2400" b="1" dirty="0">
                <a:solidFill>
                  <a:srgbClr val="D9D9D9"/>
                </a:solidFill>
                <a:latin typeface="Calibri"/>
                <a:cs typeface="Calibri"/>
              </a:rPr>
              <a:t>Oriented</a:t>
            </a:r>
            <a:r>
              <a:rPr sz="2400" b="1" spc="-80" dirty="0">
                <a:solidFill>
                  <a:srgbClr val="D9D9D9"/>
                </a:solidFill>
                <a:latin typeface="Calibri"/>
                <a:cs typeface="Calibri"/>
              </a:rPr>
              <a:t> </a:t>
            </a:r>
            <a:r>
              <a:rPr sz="2400" b="1" dirty="0">
                <a:solidFill>
                  <a:srgbClr val="D9D9D9"/>
                </a:solidFill>
                <a:latin typeface="Calibri"/>
                <a:cs typeface="Calibri"/>
              </a:rPr>
              <a:t>around</a:t>
            </a:r>
            <a:r>
              <a:rPr sz="2400" b="1" spc="-47" dirty="0">
                <a:solidFill>
                  <a:srgbClr val="D9D9D9"/>
                </a:solidFill>
                <a:latin typeface="Calibri"/>
                <a:cs typeface="Calibri"/>
              </a:rPr>
              <a:t> </a:t>
            </a:r>
            <a:r>
              <a:rPr sz="2400" b="1" dirty="0">
                <a:solidFill>
                  <a:srgbClr val="D9D9D9"/>
                </a:solidFill>
                <a:latin typeface="Calibri"/>
                <a:cs typeface="Calibri"/>
              </a:rPr>
              <a:t>performance</a:t>
            </a:r>
            <a:r>
              <a:rPr sz="2400" b="1" spc="-67" dirty="0">
                <a:solidFill>
                  <a:srgbClr val="D9D9D9"/>
                </a:solidFill>
                <a:latin typeface="Calibri"/>
                <a:cs typeface="Calibri"/>
              </a:rPr>
              <a:t> </a:t>
            </a:r>
            <a:r>
              <a:rPr sz="2400" b="1" dirty="0">
                <a:solidFill>
                  <a:srgbClr val="D9D9D9"/>
                </a:solidFill>
                <a:latin typeface="Calibri"/>
                <a:cs typeface="Calibri"/>
              </a:rPr>
              <a:t>&amp;</a:t>
            </a:r>
            <a:r>
              <a:rPr sz="2400" b="1" spc="-20" dirty="0">
                <a:solidFill>
                  <a:srgbClr val="D9D9D9"/>
                </a:solidFill>
                <a:latin typeface="Calibri"/>
                <a:cs typeface="Calibri"/>
              </a:rPr>
              <a:t> </a:t>
            </a:r>
            <a:r>
              <a:rPr sz="2400" b="1" spc="-13" dirty="0">
                <a:solidFill>
                  <a:srgbClr val="D9D9D9"/>
                </a:solidFill>
                <a:latin typeface="Calibri"/>
                <a:cs typeface="Calibri"/>
              </a:rPr>
              <a:t>usability</a:t>
            </a:r>
            <a:endParaRPr sz="2400">
              <a:latin typeface="Calibri"/>
              <a:cs typeface="Calibri"/>
            </a:endParaRPr>
          </a:p>
          <a:p>
            <a:pPr>
              <a:spcBef>
                <a:spcPts val="920"/>
              </a:spcBef>
              <a:buClr>
                <a:srgbClr val="99D3FF"/>
              </a:buClr>
              <a:buFont typeface="Wingdings"/>
              <a:buChar char=""/>
            </a:pPr>
            <a:endParaRPr sz="2400">
              <a:latin typeface="Calibri"/>
              <a:cs typeface="Calibri"/>
            </a:endParaRPr>
          </a:p>
          <a:p>
            <a:pPr marL="397923" indent="-380990">
              <a:spcBef>
                <a:spcPts val="7"/>
              </a:spcBef>
              <a:buClr>
                <a:srgbClr val="99D3FF"/>
              </a:buClr>
              <a:buFont typeface="Wingdings"/>
              <a:buChar char=""/>
              <a:tabLst>
                <a:tab pos="397923" algn="l"/>
              </a:tabLst>
            </a:pPr>
            <a:r>
              <a:rPr sz="2400" b="1" dirty="0">
                <a:solidFill>
                  <a:srgbClr val="D9D9D9"/>
                </a:solidFill>
                <a:latin typeface="Calibri"/>
                <a:cs typeface="Calibri"/>
              </a:rPr>
              <a:t>Designed</a:t>
            </a:r>
            <a:r>
              <a:rPr sz="2400" b="1" spc="-73" dirty="0">
                <a:solidFill>
                  <a:srgbClr val="D9D9D9"/>
                </a:solidFill>
                <a:latin typeface="Calibri"/>
                <a:cs typeface="Calibri"/>
              </a:rPr>
              <a:t> </a:t>
            </a:r>
            <a:r>
              <a:rPr sz="2400" b="1" dirty="0">
                <a:solidFill>
                  <a:srgbClr val="D9D9D9"/>
                </a:solidFill>
                <a:latin typeface="Calibri"/>
                <a:cs typeface="Calibri"/>
              </a:rPr>
              <a:t>Reporting</a:t>
            </a:r>
            <a:r>
              <a:rPr sz="2400" b="1" spc="-67" dirty="0">
                <a:solidFill>
                  <a:srgbClr val="D9D9D9"/>
                </a:solidFill>
                <a:latin typeface="Calibri"/>
                <a:cs typeface="Calibri"/>
              </a:rPr>
              <a:t> </a:t>
            </a:r>
            <a:r>
              <a:rPr sz="2400" b="1" dirty="0">
                <a:solidFill>
                  <a:srgbClr val="D9D9D9"/>
                </a:solidFill>
                <a:latin typeface="Calibri"/>
                <a:cs typeface="Calibri"/>
              </a:rPr>
              <a:t>/</a:t>
            </a:r>
            <a:r>
              <a:rPr sz="2400" b="1" spc="-7" dirty="0">
                <a:solidFill>
                  <a:srgbClr val="D9D9D9"/>
                </a:solidFill>
                <a:latin typeface="Calibri"/>
                <a:cs typeface="Calibri"/>
              </a:rPr>
              <a:t> </a:t>
            </a:r>
            <a:r>
              <a:rPr sz="2400" b="1" spc="-27" dirty="0">
                <a:solidFill>
                  <a:srgbClr val="D9D9D9"/>
                </a:solidFill>
                <a:latin typeface="Calibri"/>
                <a:cs typeface="Calibri"/>
              </a:rPr>
              <a:t>OLAP</a:t>
            </a:r>
            <a:endParaRPr sz="2400">
              <a:latin typeface="Calibri"/>
              <a:cs typeface="Calibri"/>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57807" y="2279903"/>
            <a:ext cx="9930384" cy="1702816"/>
          </a:xfrm>
          <a:prstGeom prst="rect">
            <a:avLst/>
          </a:prstGeom>
        </p:spPr>
      </p:pic>
      <p:sp>
        <p:nvSpPr>
          <p:cNvPr id="3" name="object 3"/>
          <p:cNvSpPr txBox="1">
            <a:spLocks noGrp="1"/>
          </p:cNvSpPr>
          <p:nvPr>
            <p:ph type="title"/>
          </p:nvPr>
        </p:nvSpPr>
        <p:spPr>
          <a:xfrm>
            <a:off x="1320800" y="2579973"/>
            <a:ext cx="9811173" cy="1048150"/>
          </a:xfrm>
          <a:prstGeom prst="rect">
            <a:avLst/>
          </a:prstGeom>
          <a:noFill/>
          <a:ln w="9144">
            <a:noFill/>
          </a:ln>
        </p:spPr>
        <p:txBody>
          <a:bodyPr vert="horz" wrap="square" lIns="0" tIns="306493" rIns="0" bIns="0" rtlCol="0" anchor="ctr">
            <a:spAutoFit/>
          </a:bodyPr>
          <a:lstStyle/>
          <a:p>
            <a:pPr algn="ctr">
              <a:lnSpc>
                <a:spcPct val="100000"/>
              </a:lnSpc>
              <a:spcBef>
                <a:spcPts val="2413"/>
              </a:spcBef>
            </a:pPr>
            <a:r>
              <a:rPr sz="4800" dirty="0">
                <a:solidFill>
                  <a:schemeClr val="bg1"/>
                </a:solidFill>
                <a:latin typeface="+mn-lt"/>
              </a:rPr>
              <a:t>Why</a:t>
            </a:r>
            <a:r>
              <a:rPr sz="4800" spc="-47" dirty="0">
                <a:solidFill>
                  <a:schemeClr val="bg1"/>
                </a:solidFill>
                <a:latin typeface="+mn-lt"/>
              </a:rPr>
              <a:t> </a:t>
            </a:r>
            <a:r>
              <a:rPr sz="4800" dirty="0">
                <a:solidFill>
                  <a:schemeClr val="bg1"/>
                </a:solidFill>
                <a:latin typeface="+mn-lt"/>
              </a:rPr>
              <a:t>dimensional</a:t>
            </a:r>
            <a:r>
              <a:rPr sz="4800" spc="-60" dirty="0">
                <a:solidFill>
                  <a:schemeClr val="bg1"/>
                </a:solidFill>
                <a:latin typeface="+mn-lt"/>
              </a:rPr>
              <a:t> </a:t>
            </a:r>
            <a:r>
              <a:rPr sz="4800" spc="-13" dirty="0">
                <a:solidFill>
                  <a:schemeClr val="bg1"/>
                </a:solidFill>
                <a:latin typeface="+mn-lt"/>
              </a:rPr>
              <a:t>modeling?</a:t>
            </a:r>
            <a:endParaRPr sz="4800" dirty="0">
              <a:solidFill>
                <a:schemeClr val="bg1"/>
              </a:solidFill>
              <a:latin typeface="+mn-lt"/>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356525" y="1854200"/>
            <a:ext cx="5648960" cy="124051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Goal:</a:t>
            </a:r>
            <a:r>
              <a:rPr sz="2400" b="1" spc="-27" dirty="0">
                <a:solidFill>
                  <a:srgbClr val="D9D9D9"/>
                </a:solidFill>
                <a:latin typeface="Calibri"/>
                <a:cs typeface="Calibri"/>
              </a:rPr>
              <a:t> </a:t>
            </a:r>
            <a:r>
              <a:rPr sz="2400" b="1" dirty="0">
                <a:solidFill>
                  <a:srgbClr val="D9D9D9"/>
                </a:solidFill>
                <a:latin typeface="Calibri"/>
                <a:cs typeface="Calibri"/>
              </a:rPr>
              <a:t>Fast</a:t>
            </a:r>
            <a:r>
              <a:rPr sz="2400" b="1" spc="7" dirty="0">
                <a:solidFill>
                  <a:srgbClr val="D9D9D9"/>
                </a:solidFill>
                <a:latin typeface="Calibri"/>
                <a:cs typeface="Calibri"/>
              </a:rPr>
              <a:t> </a:t>
            </a:r>
            <a:r>
              <a:rPr sz="2400" b="1" dirty="0">
                <a:solidFill>
                  <a:srgbClr val="D9D9D9"/>
                </a:solidFill>
                <a:latin typeface="Calibri"/>
                <a:cs typeface="Calibri"/>
              </a:rPr>
              <a:t>data</a:t>
            </a:r>
            <a:r>
              <a:rPr sz="2400" b="1" spc="7" dirty="0">
                <a:solidFill>
                  <a:srgbClr val="D9D9D9"/>
                </a:solidFill>
                <a:latin typeface="Calibri"/>
                <a:cs typeface="Calibri"/>
              </a:rPr>
              <a:t> </a:t>
            </a:r>
            <a:r>
              <a:rPr sz="2400" b="1" spc="-13" dirty="0">
                <a:solidFill>
                  <a:srgbClr val="D9D9D9"/>
                </a:solidFill>
                <a:latin typeface="Calibri"/>
                <a:cs typeface="Calibri"/>
              </a:rPr>
              <a:t>retrieval</a:t>
            </a:r>
            <a:endParaRPr sz="2400">
              <a:latin typeface="Calibri"/>
              <a:cs typeface="Calibri"/>
            </a:endParaRPr>
          </a:p>
          <a:p>
            <a:pPr>
              <a:spcBef>
                <a:spcPts val="940"/>
              </a:spcBef>
              <a:buClr>
                <a:srgbClr val="99D3FF"/>
              </a:buClr>
              <a:buFont typeface="Wingdings"/>
              <a:buChar char=""/>
            </a:pPr>
            <a:endParaRPr sz="2400">
              <a:latin typeface="Calibri"/>
              <a:cs typeface="Calibri"/>
            </a:endParaRPr>
          </a:p>
          <a:p>
            <a:pPr marL="397923" indent="-380990">
              <a:buClr>
                <a:srgbClr val="99D3FF"/>
              </a:buClr>
              <a:buFont typeface="Wingdings"/>
              <a:buChar char=""/>
              <a:tabLst>
                <a:tab pos="397923" algn="l"/>
              </a:tabLst>
            </a:pPr>
            <a:r>
              <a:rPr sz="2400" b="1" dirty="0">
                <a:solidFill>
                  <a:srgbClr val="D9D9D9"/>
                </a:solidFill>
                <a:latin typeface="Calibri"/>
                <a:cs typeface="Calibri"/>
              </a:rPr>
              <a:t>Oriented</a:t>
            </a:r>
            <a:r>
              <a:rPr sz="2400" b="1" spc="-80" dirty="0">
                <a:solidFill>
                  <a:srgbClr val="D9D9D9"/>
                </a:solidFill>
                <a:latin typeface="Calibri"/>
                <a:cs typeface="Calibri"/>
              </a:rPr>
              <a:t> </a:t>
            </a:r>
            <a:r>
              <a:rPr sz="2400" b="1" dirty="0">
                <a:solidFill>
                  <a:srgbClr val="D9D9D9"/>
                </a:solidFill>
                <a:latin typeface="Calibri"/>
                <a:cs typeface="Calibri"/>
              </a:rPr>
              <a:t>around</a:t>
            </a:r>
            <a:r>
              <a:rPr sz="2400" b="1" spc="-47" dirty="0">
                <a:solidFill>
                  <a:srgbClr val="D9D9D9"/>
                </a:solidFill>
                <a:latin typeface="Calibri"/>
                <a:cs typeface="Calibri"/>
              </a:rPr>
              <a:t> </a:t>
            </a:r>
            <a:r>
              <a:rPr sz="2400" b="1" dirty="0">
                <a:solidFill>
                  <a:srgbClr val="D9D9D9"/>
                </a:solidFill>
                <a:latin typeface="Calibri"/>
                <a:cs typeface="Calibri"/>
              </a:rPr>
              <a:t>performance</a:t>
            </a:r>
            <a:r>
              <a:rPr sz="2400" b="1" spc="-67" dirty="0">
                <a:solidFill>
                  <a:srgbClr val="D9D9D9"/>
                </a:solidFill>
                <a:latin typeface="Calibri"/>
                <a:cs typeface="Calibri"/>
              </a:rPr>
              <a:t> </a:t>
            </a:r>
            <a:r>
              <a:rPr sz="2400" b="1" dirty="0">
                <a:solidFill>
                  <a:srgbClr val="D9D9D9"/>
                </a:solidFill>
                <a:latin typeface="Calibri"/>
                <a:cs typeface="Calibri"/>
              </a:rPr>
              <a:t>&amp;</a:t>
            </a:r>
            <a:r>
              <a:rPr sz="2400" b="1" spc="-20" dirty="0">
                <a:solidFill>
                  <a:srgbClr val="D9D9D9"/>
                </a:solidFill>
                <a:latin typeface="Calibri"/>
                <a:cs typeface="Calibri"/>
              </a:rPr>
              <a:t> </a:t>
            </a:r>
            <a:r>
              <a:rPr sz="2400" b="1" spc="-13" dirty="0">
                <a:solidFill>
                  <a:srgbClr val="D9D9D9"/>
                </a:solidFill>
                <a:latin typeface="Calibri"/>
                <a:cs typeface="Calibri"/>
              </a:rPr>
              <a:t>usability</a:t>
            </a:r>
            <a:endParaRPr sz="2400">
              <a:latin typeface="Calibri"/>
              <a:cs typeface="Calibri"/>
            </a:endParaRPr>
          </a:p>
        </p:txBody>
      </p:sp>
      <p:sp>
        <p:nvSpPr>
          <p:cNvPr id="3" name="object 3"/>
          <p:cNvSpPr txBox="1">
            <a:spLocks noGrp="1"/>
          </p:cNvSpPr>
          <p:nvPr>
            <p:ph type="title"/>
          </p:nvPr>
        </p:nvSpPr>
        <p:spPr>
          <a:xfrm>
            <a:off x="2327965" y="158305"/>
            <a:ext cx="7738165" cy="695062"/>
          </a:xfrm>
          <a:prstGeom prst="rect">
            <a:avLst/>
          </a:prstGeom>
        </p:spPr>
        <p:txBody>
          <a:bodyPr vert="horz" wrap="square" lIns="0" tIns="17780" rIns="0" bIns="0" rtlCol="0" anchor="ctr">
            <a:spAutoFit/>
          </a:bodyPr>
          <a:lstStyle/>
          <a:p>
            <a:pPr marL="1239489">
              <a:lnSpc>
                <a:spcPct val="100000"/>
              </a:lnSpc>
              <a:spcBef>
                <a:spcPts val="140"/>
              </a:spcBef>
            </a:pPr>
            <a:r>
              <a:rPr dirty="0">
                <a:solidFill>
                  <a:schemeClr val="bg1"/>
                </a:solidFill>
                <a:latin typeface="+mn-lt"/>
              </a:rPr>
              <a:t>Dimensional</a:t>
            </a:r>
            <a:r>
              <a:rPr spc="-152" dirty="0">
                <a:solidFill>
                  <a:schemeClr val="bg1"/>
                </a:solidFill>
                <a:latin typeface="+mn-lt"/>
              </a:rPr>
              <a:t> </a:t>
            </a:r>
            <a:r>
              <a:rPr spc="-13" dirty="0">
                <a:solidFill>
                  <a:schemeClr val="bg1"/>
                </a:solidFill>
                <a:latin typeface="+mn-lt"/>
              </a:rPr>
              <a:t>modeling</a:t>
            </a:r>
          </a:p>
        </p:txBody>
      </p:sp>
      <p:graphicFrame>
        <p:nvGraphicFramePr>
          <p:cNvPr id="4" name="object 4"/>
          <p:cNvGraphicFramePr>
            <a:graphicFrameLocks noGrp="1"/>
          </p:cNvGraphicFramePr>
          <p:nvPr>
            <p:extLst>
              <p:ext uri="{D42A27DB-BD31-4B8C-83A1-F6EECF244321}">
                <p14:modId xmlns:p14="http://schemas.microsoft.com/office/powerpoint/2010/main" val="8337282"/>
              </p:ext>
            </p:extLst>
          </p:nvPr>
        </p:nvGraphicFramePr>
        <p:xfrm>
          <a:off x="1938129" y="3230837"/>
          <a:ext cx="8816009" cy="2702824"/>
        </p:xfrm>
        <a:graphic>
          <a:graphicData uri="http://schemas.openxmlformats.org/drawingml/2006/table">
            <a:tbl>
              <a:tblPr firstRow="1" bandRow="1">
                <a:tableStyleId>{2D5ABB26-0587-4C30-8999-92F81FD0307C}</a:tableStyleId>
              </a:tblPr>
              <a:tblGrid>
                <a:gridCol w="266248">
                  <a:extLst>
                    <a:ext uri="{9D8B030D-6E8A-4147-A177-3AD203B41FA5}">
                      <a16:colId xmlns:a16="http://schemas.microsoft.com/office/drawing/2014/main" val="20000"/>
                    </a:ext>
                  </a:extLst>
                </a:gridCol>
                <a:gridCol w="929374">
                  <a:extLst>
                    <a:ext uri="{9D8B030D-6E8A-4147-A177-3AD203B41FA5}">
                      <a16:colId xmlns:a16="http://schemas.microsoft.com/office/drawing/2014/main" val="20001"/>
                    </a:ext>
                  </a:extLst>
                </a:gridCol>
                <a:gridCol w="1885510">
                  <a:extLst>
                    <a:ext uri="{9D8B030D-6E8A-4147-A177-3AD203B41FA5}">
                      <a16:colId xmlns:a16="http://schemas.microsoft.com/office/drawing/2014/main" val="20002"/>
                    </a:ext>
                  </a:extLst>
                </a:gridCol>
                <a:gridCol w="1093304">
                  <a:extLst>
                    <a:ext uri="{9D8B030D-6E8A-4147-A177-3AD203B41FA5}">
                      <a16:colId xmlns:a16="http://schemas.microsoft.com/office/drawing/2014/main" val="20003"/>
                    </a:ext>
                  </a:extLst>
                </a:gridCol>
                <a:gridCol w="1354545">
                  <a:extLst>
                    <a:ext uri="{9D8B030D-6E8A-4147-A177-3AD203B41FA5}">
                      <a16:colId xmlns:a16="http://schemas.microsoft.com/office/drawing/2014/main" val="20004"/>
                    </a:ext>
                  </a:extLst>
                </a:gridCol>
                <a:gridCol w="1241655">
                  <a:extLst>
                    <a:ext uri="{9D8B030D-6E8A-4147-A177-3AD203B41FA5}">
                      <a16:colId xmlns:a16="http://schemas.microsoft.com/office/drawing/2014/main" val="20005"/>
                    </a:ext>
                  </a:extLst>
                </a:gridCol>
                <a:gridCol w="2045373">
                  <a:extLst>
                    <a:ext uri="{9D8B030D-6E8A-4147-A177-3AD203B41FA5}">
                      <a16:colId xmlns:a16="http://schemas.microsoft.com/office/drawing/2014/main" val="20006"/>
                    </a:ext>
                  </a:extLst>
                </a:gridCol>
              </a:tblGrid>
              <a:tr h="405019">
                <a:tc>
                  <a:txBody>
                    <a:bodyPr/>
                    <a:lstStyle/>
                    <a:p>
                      <a:pPr algn="ctr">
                        <a:lnSpc>
                          <a:spcPct val="100000"/>
                        </a:lnSpc>
                        <a:spcBef>
                          <a:spcPts val="135"/>
                        </a:spcBef>
                      </a:pPr>
                      <a:r>
                        <a:rPr sz="1600" spc="-25" dirty="0">
                          <a:latin typeface="Arial MT"/>
                          <a:cs typeface="Arial MT"/>
                        </a:rPr>
                        <a:t>id</a:t>
                      </a:r>
                      <a:endParaRPr sz="1600" dirty="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135"/>
                        </a:spcBef>
                      </a:pPr>
                      <a:r>
                        <a:rPr sz="1600" spc="-20" dirty="0">
                          <a:latin typeface="Arial MT"/>
                          <a:cs typeface="Arial MT"/>
                        </a:rPr>
                        <a:t>date</a:t>
                      </a:r>
                      <a:endParaRPr sz="1600" dirty="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135"/>
                        </a:spcBef>
                      </a:pPr>
                      <a:r>
                        <a:rPr sz="1600" spc="-10" dirty="0">
                          <a:latin typeface="Arial MT"/>
                          <a:cs typeface="Arial MT"/>
                        </a:rPr>
                        <a:t>product</a:t>
                      </a:r>
                      <a:endParaRPr sz="1600" dirty="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810" algn="ctr">
                        <a:lnSpc>
                          <a:spcPct val="100000"/>
                        </a:lnSpc>
                        <a:spcBef>
                          <a:spcPts val="135"/>
                        </a:spcBef>
                      </a:pPr>
                      <a:r>
                        <a:rPr sz="1600" spc="-10" dirty="0">
                          <a:latin typeface="Arial MT"/>
                          <a:cs typeface="Arial MT"/>
                        </a:rPr>
                        <a:t>category</a:t>
                      </a:r>
                      <a:endParaRPr sz="1600" dirty="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135"/>
                        </a:spcBef>
                      </a:pPr>
                      <a:r>
                        <a:rPr sz="1600" spc="-10" dirty="0">
                          <a:latin typeface="Arial MT"/>
                          <a:cs typeface="Arial MT"/>
                        </a:rPr>
                        <a:t>customer_id</a:t>
                      </a:r>
                      <a:endParaRPr sz="1600" dirty="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135"/>
                        </a:spcBef>
                      </a:pPr>
                      <a:r>
                        <a:rPr sz="1600" spc="-20" dirty="0">
                          <a:latin typeface="Arial MT"/>
                          <a:cs typeface="Arial MT"/>
                        </a:rPr>
                        <a:t>name</a:t>
                      </a:r>
                      <a:endParaRPr sz="1600" dirty="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135"/>
                        </a:spcBef>
                      </a:pPr>
                      <a:r>
                        <a:rPr sz="1600" spc="-10" dirty="0">
                          <a:latin typeface="Arial MT"/>
                          <a:cs typeface="Arial MT"/>
                        </a:rPr>
                        <a:t>profit</a:t>
                      </a:r>
                      <a:endParaRPr sz="1600" dirty="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0"/>
                  </a:ext>
                </a:extLst>
              </a:tr>
              <a:tr h="473871">
                <a:tc>
                  <a:txBody>
                    <a:bodyPr/>
                    <a:lstStyle/>
                    <a:p>
                      <a:pPr marL="635" algn="ctr">
                        <a:lnSpc>
                          <a:spcPct val="100000"/>
                        </a:lnSpc>
                        <a:spcBef>
                          <a:spcPts val="475"/>
                        </a:spcBef>
                      </a:pPr>
                      <a:r>
                        <a:rPr sz="1600" spc="-50" dirty="0">
                          <a:latin typeface="Arial MT"/>
                          <a:cs typeface="Arial MT"/>
                        </a:rPr>
                        <a:t>1</a:t>
                      </a:r>
                      <a:endParaRPr sz="1600" dirty="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75"/>
                        </a:spcBef>
                      </a:pPr>
                      <a:r>
                        <a:rPr sz="1600" spc="-10" dirty="0">
                          <a:latin typeface="Arial MT"/>
                          <a:cs typeface="Arial MT"/>
                        </a:rPr>
                        <a:t>1/2/2022</a:t>
                      </a:r>
                      <a:endParaRPr sz="1600" dirty="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30504" marR="82550" indent="-135890">
                        <a:lnSpc>
                          <a:spcPts val="830"/>
                        </a:lnSpc>
                      </a:pPr>
                      <a:endParaRPr lang="en-IN" sz="1600" dirty="0">
                        <a:latin typeface="Arial MT"/>
                        <a:cs typeface="Arial MT"/>
                      </a:endParaRPr>
                    </a:p>
                    <a:p>
                      <a:pPr marL="230504" marR="82550" indent="-135890">
                        <a:lnSpc>
                          <a:spcPts val="830"/>
                        </a:lnSpc>
                      </a:pPr>
                      <a:r>
                        <a:rPr sz="1600" dirty="0" err="1">
                          <a:latin typeface="Arial MT"/>
                          <a:cs typeface="Arial MT"/>
                        </a:rPr>
                        <a:t>Fulltoss</a:t>
                      </a:r>
                      <a:r>
                        <a:rPr sz="1600" spc="-25" dirty="0">
                          <a:latin typeface="Arial MT"/>
                          <a:cs typeface="Arial MT"/>
                        </a:rPr>
                        <a:t> </a:t>
                      </a:r>
                      <a:r>
                        <a:rPr sz="1600" spc="-10" dirty="0">
                          <a:latin typeface="Arial MT"/>
                          <a:cs typeface="Arial MT"/>
                        </a:rPr>
                        <a:t>Tangy</a:t>
                      </a:r>
                      <a:r>
                        <a:rPr lang="en-IN" sz="1600" spc="-10" dirty="0">
                          <a:latin typeface="Arial MT"/>
                          <a:cs typeface="Arial MT"/>
                        </a:rPr>
                        <a:t> </a:t>
                      </a:r>
                    </a:p>
                    <a:p>
                      <a:pPr marL="230504" marR="82550" indent="-135890">
                        <a:lnSpc>
                          <a:spcPts val="830"/>
                        </a:lnSpc>
                      </a:pPr>
                      <a:endParaRPr lang="en-IN" sz="1600" spc="-10" dirty="0">
                        <a:latin typeface="Arial MT"/>
                        <a:cs typeface="Arial MT"/>
                      </a:endParaRPr>
                    </a:p>
                    <a:p>
                      <a:pPr marL="230504" marR="82550" indent="-135890">
                        <a:lnSpc>
                          <a:spcPts val="830"/>
                        </a:lnSpc>
                      </a:pPr>
                      <a:r>
                        <a:rPr sz="1600" spc="-10" dirty="0">
                          <a:latin typeface="Arial MT"/>
                          <a:cs typeface="Arial MT"/>
                        </a:rPr>
                        <a:t>Tomato</a:t>
                      </a:r>
                      <a:endParaRPr sz="16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50"/>
                        </a:spcBef>
                      </a:pPr>
                      <a:r>
                        <a:rPr sz="1600" spc="-10" dirty="0">
                          <a:latin typeface="Calibri"/>
                          <a:cs typeface="Calibri"/>
                        </a:rPr>
                        <a:t>Vegetables</a:t>
                      </a:r>
                      <a:endParaRPr sz="16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50"/>
                        </a:spcBef>
                      </a:pPr>
                      <a:r>
                        <a:rPr sz="1600" spc="-50" dirty="0">
                          <a:latin typeface="Calibri"/>
                          <a:cs typeface="Calibri"/>
                        </a:rPr>
                        <a:t>2</a:t>
                      </a:r>
                      <a:endParaRPr sz="16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450"/>
                        </a:spcBef>
                      </a:pPr>
                      <a:r>
                        <a:rPr sz="1600" spc="-10" dirty="0">
                          <a:latin typeface="Calibri"/>
                          <a:cs typeface="Calibri"/>
                        </a:rPr>
                        <a:t>Sarah</a:t>
                      </a:r>
                      <a:endParaRPr sz="16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450"/>
                        </a:spcBef>
                      </a:pPr>
                      <a:r>
                        <a:rPr sz="1600" spc="-25" dirty="0">
                          <a:latin typeface="Calibri"/>
                          <a:cs typeface="Calibri"/>
                        </a:rPr>
                        <a:t>$23</a:t>
                      </a:r>
                      <a:endParaRPr sz="16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472522">
                <a:tc>
                  <a:txBody>
                    <a:bodyPr/>
                    <a:lstStyle/>
                    <a:p>
                      <a:pPr marL="635" algn="ctr">
                        <a:lnSpc>
                          <a:spcPct val="100000"/>
                        </a:lnSpc>
                        <a:spcBef>
                          <a:spcPts val="470"/>
                        </a:spcBef>
                      </a:pPr>
                      <a:r>
                        <a:rPr sz="1600" spc="-50" dirty="0">
                          <a:latin typeface="Arial MT"/>
                          <a:cs typeface="Arial MT"/>
                        </a:rPr>
                        <a:t>2</a:t>
                      </a:r>
                      <a:endParaRPr sz="16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70"/>
                        </a:spcBef>
                      </a:pPr>
                      <a:r>
                        <a:rPr sz="1600" spc="-10" dirty="0">
                          <a:latin typeface="Arial MT"/>
                          <a:cs typeface="Arial MT"/>
                        </a:rPr>
                        <a:t>1/2/2022</a:t>
                      </a:r>
                      <a:endParaRPr sz="1600" dirty="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0" marR="8890" indent="92710">
                        <a:lnSpc>
                          <a:spcPts val="830"/>
                        </a:lnSpc>
                      </a:pPr>
                      <a:endParaRPr lang="en-IN" sz="1600" dirty="0">
                        <a:latin typeface="Arial MT"/>
                        <a:cs typeface="Arial MT"/>
                      </a:endParaRPr>
                    </a:p>
                    <a:p>
                      <a:pPr marL="19050" marR="8890" indent="92710">
                        <a:lnSpc>
                          <a:spcPts val="830"/>
                        </a:lnSpc>
                      </a:pPr>
                      <a:r>
                        <a:rPr sz="1600" dirty="0">
                          <a:latin typeface="Arial MT"/>
                          <a:cs typeface="Arial MT"/>
                        </a:rPr>
                        <a:t>Chilli</a:t>
                      </a:r>
                      <a:r>
                        <a:rPr sz="1600" spc="-20" dirty="0">
                          <a:latin typeface="Arial MT"/>
                          <a:cs typeface="Arial MT"/>
                        </a:rPr>
                        <a:t> </a:t>
                      </a:r>
                      <a:r>
                        <a:rPr sz="1600" dirty="0">
                          <a:latin typeface="Arial MT"/>
                          <a:cs typeface="Arial MT"/>
                        </a:rPr>
                        <a:t>- </a:t>
                      </a:r>
                      <a:r>
                        <a:rPr sz="1600" spc="-10" dirty="0">
                          <a:latin typeface="Arial MT"/>
                          <a:cs typeface="Arial MT"/>
                        </a:rPr>
                        <a:t>Green,</a:t>
                      </a:r>
                      <a:endParaRPr lang="en-IN" sz="1600" spc="-10" dirty="0">
                        <a:latin typeface="Arial MT"/>
                        <a:cs typeface="Arial MT"/>
                      </a:endParaRPr>
                    </a:p>
                    <a:p>
                      <a:pPr marL="19050" marR="8890" indent="92710">
                        <a:lnSpc>
                          <a:spcPts val="830"/>
                        </a:lnSpc>
                      </a:pPr>
                      <a:endParaRPr lang="en-IN" sz="1600" spc="-10" dirty="0">
                        <a:latin typeface="Arial MT"/>
                        <a:cs typeface="Arial MT"/>
                      </a:endParaRPr>
                    </a:p>
                    <a:p>
                      <a:pPr marL="19050" marR="8890" indent="92710">
                        <a:lnSpc>
                          <a:spcPts val="830"/>
                        </a:lnSpc>
                      </a:pPr>
                      <a:r>
                        <a:rPr lang="en-IN" sz="1600" spc="-10" dirty="0">
                          <a:latin typeface="Arial MT"/>
                          <a:cs typeface="Arial MT"/>
                        </a:rPr>
                        <a:t>O</a:t>
                      </a:r>
                      <a:r>
                        <a:rPr sz="1600" dirty="0" err="1">
                          <a:latin typeface="Arial MT"/>
                          <a:cs typeface="Arial MT"/>
                        </a:rPr>
                        <a:t>rganically</a:t>
                      </a:r>
                      <a:r>
                        <a:rPr sz="1600" spc="-35" dirty="0">
                          <a:latin typeface="Arial MT"/>
                          <a:cs typeface="Arial MT"/>
                        </a:rPr>
                        <a:t> </a:t>
                      </a:r>
                      <a:r>
                        <a:rPr sz="1600" spc="-10" dirty="0">
                          <a:latin typeface="Arial MT"/>
                          <a:cs typeface="Arial MT"/>
                        </a:rPr>
                        <a:t>Grown</a:t>
                      </a:r>
                      <a:endParaRPr sz="16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450"/>
                        </a:spcBef>
                      </a:pPr>
                      <a:r>
                        <a:rPr sz="1600" spc="-10" dirty="0">
                          <a:latin typeface="Calibri"/>
                          <a:cs typeface="Calibri"/>
                        </a:rPr>
                        <a:t>Snacks</a:t>
                      </a:r>
                      <a:endParaRPr sz="16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50"/>
                        </a:spcBef>
                      </a:pPr>
                      <a:r>
                        <a:rPr sz="1600" spc="-50" dirty="0">
                          <a:latin typeface="Calibri"/>
                          <a:cs typeface="Calibri"/>
                        </a:rPr>
                        <a:t>2</a:t>
                      </a:r>
                      <a:endParaRPr sz="16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450"/>
                        </a:spcBef>
                      </a:pPr>
                      <a:r>
                        <a:rPr sz="1600" spc="-10" dirty="0">
                          <a:latin typeface="Calibri"/>
                          <a:cs typeface="Calibri"/>
                        </a:rPr>
                        <a:t>Sarah</a:t>
                      </a:r>
                      <a:endParaRPr sz="16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450"/>
                        </a:spcBef>
                      </a:pPr>
                      <a:r>
                        <a:rPr sz="1600" spc="-25" dirty="0">
                          <a:latin typeface="Calibri"/>
                          <a:cs typeface="Calibri"/>
                        </a:rPr>
                        <a:t>$12</a:t>
                      </a:r>
                      <a:endParaRPr sz="16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405019">
                <a:tc>
                  <a:txBody>
                    <a:bodyPr/>
                    <a:lstStyle/>
                    <a:p>
                      <a:pPr marL="635" algn="ctr">
                        <a:lnSpc>
                          <a:spcPct val="100000"/>
                        </a:lnSpc>
                        <a:spcBef>
                          <a:spcPts val="345"/>
                        </a:spcBef>
                      </a:pPr>
                      <a:r>
                        <a:rPr sz="1600" spc="-50" dirty="0">
                          <a:latin typeface="Arial MT"/>
                          <a:cs typeface="Arial MT"/>
                        </a:rPr>
                        <a:t>3</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1600" spc="-10" dirty="0">
                          <a:latin typeface="Arial MT"/>
                          <a:cs typeface="Arial MT"/>
                        </a:rPr>
                        <a:t>1/2/2022</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45"/>
                        </a:spcBef>
                      </a:pPr>
                      <a:r>
                        <a:rPr sz="1600" dirty="0">
                          <a:latin typeface="Arial MT"/>
                          <a:cs typeface="Arial MT"/>
                        </a:rPr>
                        <a:t>Masala</a:t>
                      </a:r>
                      <a:r>
                        <a:rPr sz="1600" spc="-35" dirty="0">
                          <a:latin typeface="Arial MT"/>
                          <a:cs typeface="Arial MT"/>
                        </a:rPr>
                        <a:t> </a:t>
                      </a:r>
                      <a:r>
                        <a:rPr sz="1600" spc="-10" dirty="0">
                          <a:latin typeface="Arial MT"/>
                          <a:cs typeface="Arial MT"/>
                        </a:rPr>
                        <a:t>Powder</a:t>
                      </a:r>
                      <a:endParaRPr sz="1600" dirty="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20"/>
                        </a:spcBef>
                      </a:pPr>
                      <a:r>
                        <a:rPr sz="1600" spc="-10" dirty="0">
                          <a:latin typeface="Calibri"/>
                          <a:cs typeface="Calibri"/>
                        </a:rPr>
                        <a:t>Herbs</a:t>
                      </a:r>
                      <a:endParaRPr sz="1600" dirty="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20"/>
                        </a:spcBef>
                      </a:pPr>
                      <a:r>
                        <a:rPr sz="1600" spc="-50" dirty="0">
                          <a:latin typeface="Calibri"/>
                          <a:cs typeface="Calibri"/>
                        </a:rPr>
                        <a:t>5</a:t>
                      </a:r>
                      <a:endParaRPr sz="1600" dirty="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20"/>
                        </a:spcBef>
                      </a:pPr>
                      <a:r>
                        <a:rPr sz="1600" spc="-20" dirty="0">
                          <a:latin typeface="Calibri"/>
                          <a:cs typeface="Calibri"/>
                        </a:rPr>
                        <a:t>Marc</a:t>
                      </a:r>
                      <a:endParaRPr sz="1600" dirty="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320"/>
                        </a:spcBef>
                      </a:pPr>
                      <a:r>
                        <a:rPr sz="1600" spc="-25" dirty="0">
                          <a:latin typeface="Calibri"/>
                          <a:cs typeface="Calibri"/>
                        </a:rPr>
                        <a:t>$93</a:t>
                      </a:r>
                      <a:endParaRPr sz="16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472522">
                <a:tc>
                  <a:txBody>
                    <a:bodyPr/>
                    <a:lstStyle/>
                    <a:p>
                      <a:pPr marL="635" algn="ctr">
                        <a:lnSpc>
                          <a:spcPct val="100000"/>
                        </a:lnSpc>
                        <a:spcBef>
                          <a:spcPts val="475"/>
                        </a:spcBef>
                      </a:pPr>
                      <a:r>
                        <a:rPr sz="1600" spc="-50" dirty="0">
                          <a:latin typeface="Arial MT"/>
                          <a:cs typeface="Arial MT"/>
                        </a:rPr>
                        <a:t>4</a:t>
                      </a:r>
                      <a:endParaRPr sz="16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75"/>
                        </a:spcBef>
                      </a:pPr>
                      <a:r>
                        <a:rPr sz="1600" spc="-10" dirty="0">
                          <a:latin typeface="Arial MT"/>
                          <a:cs typeface="Arial MT"/>
                        </a:rPr>
                        <a:t>1/2/2022</a:t>
                      </a:r>
                      <a:endParaRPr sz="1600" dirty="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4310" marR="52705" indent="-132715">
                        <a:lnSpc>
                          <a:spcPts val="830"/>
                        </a:lnSpc>
                      </a:pPr>
                      <a:endParaRPr lang="en-IN" sz="1600" dirty="0">
                        <a:latin typeface="Arial MT"/>
                        <a:cs typeface="Arial MT"/>
                      </a:endParaRPr>
                    </a:p>
                    <a:p>
                      <a:pPr marL="194310" marR="52705" indent="-132715">
                        <a:lnSpc>
                          <a:spcPts val="830"/>
                        </a:lnSpc>
                      </a:pPr>
                      <a:r>
                        <a:rPr sz="1600" dirty="0">
                          <a:latin typeface="Arial MT"/>
                          <a:cs typeface="Arial MT"/>
                        </a:rPr>
                        <a:t>Cheese</a:t>
                      </a:r>
                      <a:r>
                        <a:rPr sz="1600" spc="-25" dirty="0">
                          <a:latin typeface="Arial MT"/>
                          <a:cs typeface="Arial MT"/>
                        </a:rPr>
                        <a:t> </a:t>
                      </a:r>
                      <a:r>
                        <a:rPr sz="1600" spc="-10" dirty="0">
                          <a:latin typeface="Arial MT"/>
                          <a:cs typeface="Arial MT"/>
                        </a:rPr>
                        <a:t>Cracker</a:t>
                      </a:r>
                      <a:endParaRPr lang="en-IN" sz="1600" spc="-10" dirty="0">
                        <a:latin typeface="Arial MT"/>
                        <a:cs typeface="Arial MT"/>
                      </a:endParaRPr>
                    </a:p>
                    <a:p>
                      <a:pPr marL="194310" marR="52705" indent="-132715">
                        <a:lnSpc>
                          <a:spcPts val="830"/>
                        </a:lnSpc>
                      </a:pPr>
                      <a:endParaRPr lang="en-IN" sz="1600" spc="-10" dirty="0">
                        <a:latin typeface="Arial MT"/>
                        <a:cs typeface="Arial MT"/>
                      </a:endParaRPr>
                    </a:p>
                    <a:p>
                      <a:pPr marL="194310" marR="52705" indent="-132715">
                        <a:lnSpc>
                          <a:spcPts val="830"/>
                        </a:lnSpc>
                      </a:pPr>
                      <a:r>
                        <a:rPr sz="1600" spc="500" dirty="0">
                          <a:latin typeface="Arial MT"/>
                          <a:cs typeface="Arial MT"/>
                        </a:rPr>
                        <a:t> </a:t>
                      </a:r>
                      <a:r>
                        <a:rPr sz="1600" spc="-10" dirty="0">
                          <a:latin typeface="Arial MT"/>
                          <a:cs typeface="Arial MT"/>
                        </a:rPr>
                        <a:t>(Mcvities)</a:t>
                      </a:r>
                      <a:endParaRPr sz="16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450"/>
                        </a:spcBef>
                      </a:pPr>
                      <a:r>
                        <a:rPr sz="1600" spc="-10" dirty="0">
                          <a:latin typeface="Calibri"/>
                          <a:cs typeface="Calibri"/>
                        </a:rPr>
                        <a:t>Snacks</a:t>
                      </a:r>
                      <a:endParaRPr sz="16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50"/>
                        </a:spcBef>
                      </a:pPr>
                      <a:r>
                        <a:rPr sz="1600" spc="-50" dirty="0">
                          <a:latin typeface="Calibri"/>
                          <a:cs typeface="Calibri"/>
                        </a:rPr>
                        <a:t>1</a:t>
                      </a:r>
                      <a:endParaRPr sz="16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450"/>
                        </a:spcBef>
                      </a:pPr>
                      <a:r>
                        <a:rPr sz="1600" spc="-10" dirty="0">
                          <a:latin typeface="Calibri"/>
                          <a:cs typeface="Calibri"/>
                        </a:rPr>
                        <a:t>Frank</a:t>
                      </a:r>
                      <a:endParaRPr sz="16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450"/>
                        </a:spcBef>
                      </a:pPr>
                      <a:r>
                        <a:rPr sz="1600" spc="-25" dirty="0">
                          <a:latin typeface="Calibri"/>
                          <a:cs typeface="Calibri"/>
                        </a:rPr>
                        <a:t>$23</a:t>
                      </a:r>
                      <a:endParaRPr sz="16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473871">
                <a:tc>
                  <a:txBody>
                    <a:bodyPr/>
                    <a:lstStyle/>
                    <a:p>
                      <a:pPr marL="635" algn="ctr">
                        <a:lnSpc>
                          <a:spcPct val="100000"/>
                        </a:lnSpc>
                        <a:spcBef>
                          <a:spcPts val="475"/>
                        </a:spcBef>
                      </a:pPr>
                      <a:r>
                        <a:rPr sz="1600" spc="-50" dirty="0">
                          <a:latin typeface="Arial MT"/>
                          <a:cs typeface="Arial MT"/>
                        </a:rPr>
                        <a:t>5</a:t>
                      </a:r>
                      <a:endParaRPr sz="16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75"/>
                        </a:spcBef>
                      </a:pPr>
                      <a:r>
                        <a:rPr sz="1600" spc="-10" dirty="0">
                          <a:latin typeface="Arial MT"/>
                          <a:cs typeface="Arial MT"/>
                        </a:rPr>
                        <a:t>1/2/2022</a:t>
                      </a:r>
                      <a:endParaRPr sz="16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6040" marR="56515" indent="63500">
                        <a:lnSpc>
                          <a:spcPts val="830"/>
                        </a:lnSpc>
                      </a:pPr>
                      <a:endParaRPr lang="en-IN" sz="1600" dirty="0">
                        <a:latin typeface="Arial MT"/>
                        <a:cs typeface="Arial MT"/>
                      </a:endParaRPr>
                    </a:p>
                    <a:p>
                      <a:pPr marL="66040" marR="56515" indent="63500">
                        <a:lnSpc>
                          <a:spcPts val="830"/>
                        </a:lnSpc>
                      </a:pPr>
                      <a:r>
                        <a:rPr sz="1600" dirty="0">
                          <a:latin typeface="Arial MT"/>
                          <a:cs typeface="Arial MT"/>
                        </a:rPr>
                        <a:t>Centre</a:t>
                      </a:r>
                      <a:r>
                        <a:rPr sz="1600" spc="-15" dirty="0">
                          <a:latin typeface="Arial MT"/>
                          <a:cs typeface="Arial MT"/>
                        </a:rPr>
                        <a:t> </a:t>
                      </a:r>
                      <a:r>
                        <a:rPr sz="1600" spc="-10" dirty="0">
                          <a:latin typeface="Arial MT"/>
                          <a:cs typeface="Arial MT"/>
                        </a:rPr>
                        <a:t>Filled</a:t>
                      </a:r>
                      <a:endParaRPr lang="en-IN" sz="1600" spc="-10" dirty="0">
                        <a:latin typeface="Arial MT"/>
                        <a:cs typeface="Arial MT"/>
                      </a:endParaRPr>
                    </a:p>
                    <a:p>
                      <a:pPr marL="66040" marR="56515" indent="63500">
                        <a:lnSpc>
                          <a:spcPts val="830"/>
                        </a:lnSpc>
                      </a:pPr>
                      <a:endParaRPr lang="en-IN" sz="1600" spc="-10" dirty="0">
                        <a:latin typeface="Arial MT"/>
                        <a:cs typeface="Arial MT"/>
                      </a:endParaRPr>
                    </a:p>
                    <a:p>
                      <a:pPr marL="66040" marR="56515" indent="63500">
                        <a:lnSpc>
                          <a:spcPts val="830"/>
                        </a:lnSpc>
                      </a:pPr>
                      <a:r>
                        <a:rPr sz="1600" spc="500" dirty="0">
                          <a:latin typeface="Arial MT"/>
                          <a:cs typeface="Arial MT"/>
                        </a:rPr>
                        <a:t> </a:t>
                      </a:r>
                      <a:r>
                        <a:rPr sz="1600" dirty="0">
                          <a:latin typeface="Arial MT"/>
                          <a:cs typeface="Arial MT"/>
                        </a:rPr>
                        <a:t>Chocolate</a:t>
                      </a:r>
                      <a:r>
                        <a:rPr sz="1600" spc="-35" dirty="0">
                          <a:latin typeface="Arial MT"/>
                          <a:cs typeface="Arial MT"/>
                        </a:rPr>
                        <a:t> </a:t>
                      </a:r>
                      <a:r>
                        <a:rPr sz="1600" spc="-20" dirty="0">
                          <a:latin typeface="Arial MT"/>
                          <a:cs typeface="Arial MT"/>
                        </a:rPr>
                        <a:t>Cake</a:t>
                      </a:r>
                      <a:endParaRPr sz="16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450"/>
                        </a:spcBef>
                      </a:pPr>
                      <a:r>
                        <a:rPr sz="1600" spc="-10" dirty="0">
                          <a:latin typeface="Calibri"/>
                          <a:cs typeface="Calibri"/>
                        </a:rPr>
                        <a:t>Snacks</a:t>
                      </a:r>
                      <a:endParaRPr sz="16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50"/>
                        </a:spcBef>
                      </a:pPr>
                      <a:r>
                        <a:rPr sz="1600" spc="-50" dirty="0">
                          <a:latin typeface="Calibri"/>
                          <a:cs typeface="Calibri"/>
                        </a:rPr>
                        <a:t>5</a:t>
                      </a:r>
                      <a:endParaRPr sz="16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450"/>
                        </a:spcBef>
                      </a:pPr>
                      <a:r>
                        <a:rPr sz="1600" spc="-20" dirty="0">
                          <a:latin typeface="Calibri"/>
                          <a:cs typeface="Calibri"/>
                        </a:rPr>
                        <a:t>Marc</a:t>
                      </a:r>
                      <a:endParaRPr sz="16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450"/>
                        </a:spcBef>
                      </a:pPr>
                      <a:r>
                        <a:rPr sz="1600" spc="-25" dirty="0">
                          <a:latin typeface="Calibri"/>
                          <a:cs typeface="Calibri"/>
                        </a:rPr>
                        <a:t>$21</a:t>
                      </a:r>
                      <a:endParaRPr sz="16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356525" y="1854200"/>
            <a:ext cx="5648960" cy="124051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Goal:</a:t>
            </a:r>
            <a:r>
              <a:rPr sz="2400" b="1" spc="-27" dirty="0">
                <a:solidFill>
                  <a:srgbClr val="D9D9D9"/>
                </a:solidFill>
                <a:latin typeface="Calibri"/>
                <a:cs typeface="Calibri"/>
              </a:rPr>
              <a:t> </a:t>
            </a:r>
            <a:r>
              <a:rPr sz="2400" b="1" dirty="0">
                <a:solidFill>
                  <a:srgbClr val="D9D9D9"/>
                </a:solidFill>
                <a:latin typeface="Calibri"/>
                <a:cs typeface="Calibri"/>
              </a:rPr>
              <a:t>Fast</a:t>
            </a:r>
            <a:r>
              <a:rPr sz="2400" b="1" spc="7" dirty="0">
                <a:solidFill>
                  <a:srgbClr val="D9D9D9"/>
                </a:solidFill>
                <a:latin typeface="Calibri"/>
                <a:cs typeface="Calibri"/>
              </a:rPr>
              <a:t> </a:t>
            </a:r>
            <a:r>
              <a:rPr sz="2400" b="1" dirty="0">
                <a:solidFill>
                  <a:srgbClr val="D9D9D9"/>
                </a:solidFill>
                <a:latin typeface="Calibri"/>
                <a:cs typeface="Calibri"/>
              </a:rPr>
              <a:t>data</a:t>
            </a:r>
            <a:r>
              <a:rPr sz="2400" b="1" spc="7" dirty="0">
                <a:solidFill>
                  <a:srgbClr val="D9D9D9"/>
                </a:solidFill>
                <a:latin typeface="Calibri"/>
                <a:cs typeface="Calibri"/>
              </a:rPr>
              <a:t> </a:t>
            </a:r>
            <a:r>
              <a:rPr sz="2400" b="1" spc="-13" dirty="0">
                <a:solidFill>
                  <a:srgbClr val="D9D9D9"/>
                </a:solidFill>
                <a:latin typeface="Calibri"/>
                <a:cs typeface="Calibri"/>
              </a:rPr>
              <a:t>retrieval</a:t>
            </a:r>
            <a:endParaRPr sz="2400">
              <a:latin typeface="Calibri"/>
              <a:cs typeface="Calibri"/>
            </a:endParaRPr>
          </a:p>
          <a:p>
            <a:pPr>
              <a:spcBef>
                <a:spcPts val="940"/>
              </a:spcBef>
              <a:buClr>
                <a:srgbClr val="99D3FF"/>
              </a:buClr>
              <a:buFont typeface="Wingdings"/>
              <a:buChar char=""/>
            </a:pPr>
            <a:endParaRPr sz="2400">
              <a:latin typeface="Calibri"/>
              <a:cs typeface="Calibri"/>
            </a:endParaRPr>
          </a:p>
          <a:p>
            <a:pPr marL="397923" indent="-380990">
              <a:buClr>
                <a:srgbClr val="99D3FF"/>
              </a:buClr>
              <a:buFont typeface="Wingdings"/>
              <a:buChar char=""/>
              <a:tabLst>
                <a:tab pos="397923" algn="l"/>
              </a:tabLst>
            </a:pPr>
            <a:r>
              <a:rPr sz="2400" b="1" dirty="0">
                <a:solidFill>
                  <a:srgbClr val="D9D9D9"/>
                </a:solidFill>
                <a:latin typeface="Calibri"/>
                <a:cs typeface="Calibri"/>
              </a:rPr>
              <a:t>Oriented</a:t>
            </a:r>
            <a:r>
              <a:rPr sz="2400" b="1" spc="-80" dirty="0">
                <a:solidFill>
                  <a:srgbClr val="D9D9D9"/>
                </a:solidFill>
                <a:latin typeface="Calibri"/>
                <a:cs typeface="Calibri"/>
              </a:rPr>
              <a:t> </a:t>
            </a:r>
            <a:r>
              <a:rPr sz="2400" b="1" dirty="0">
                <a:solidFill>
                  <a:srgbClr val="D9D9D9"/>
                </a:solidFill>
                <a:latin typeface="Calibri"/>
                <a:cs typeface="Calibri"/>
              </a:rPr>
              <a:t>around</a:t>
            </a:r>
            <a:r>
              <a:rPr sz="2400" b="1" spc="-47" dirty="0">
                <a:solidFill>
                  <a:srgbClr val="D9D9D9"/>
                </a:solidFill>
                <a:latin typeface="Calibri"/>
                <a:cs typeface="Calibri"/>
              </a:rPr>
              <a:t> </a:t>
            </a:r>
            <a:r>
              <a:rPr sz="2400" b="1" dirty="0">
                <a:solidFill>
                  <a:srgbClr val="D9D9D9"/>
                </a:solidFill>
                <a:latin typeface="Calibri"/>
                <a:cs typeface="Calibri"/>
              </a:rPr>
              <a:t>performance</a:t>
            </a:r>
            <a:r>
              <a:rPr sz="2400" b="1" spc="-67" dirty="0">
                <a:solidFill>
                  <a:srgbClr val="D9D9D9"/>
                </a:solidFill>
                <a:latin typeface="Calibri"/>
                <a:cs typeface="Calibri"/>
              </a:rPr>
              <a:t> </a:t>
            </a:r>
            <a:r>
              <a:rPr sz="2400" b="1" dirty="0">
                <a:solidFill>
                  <a:srgbClr val="D9D9D9"/>
                </a:solidFill>
                <a:latin typeface="Calibri"/>
                <a:cs typeface="Calibri"/>
              </a:rPr>
              <a:t>&amp;</a:t>
            </a:r>
            <a:r>
              <a:rPr sz="2400" b="1" spc="-20" dirty="0">
                <a:solidFill>
                  <a:srgbClr val="D9D9D9"/>
                </a:solidFill>
                <a:latin typeface="Calibri"/>
                <a:cs typeface="Calibri"/>
              </a:rPr>
              <a:t> </a:t>
            </a:r>
            <a:r>
              <a:rPr sz="2400" b="1" spc="-13" dirty="0">
                <a:solidFill>
                  <a:srgbClr val="D9D9D9"/>
                </a:solidFill>
                <a:latin typeface="Calibri"/>
                <a:cs typeface="Calibri"/>
              </a:rPr>
              <a:t>usability</a:t>
            </a:r>
            <a:endParaRPr sz="2400">
              <a:latin typeface="Calibri"/>
              <a:cs typeface="Calibri"/>
            </a:endParaRPr>
          </a:p>
        </p:txBody>
      </p:sp>
      <p:sp>
        <p:nvSpPr>
          <p:cNvPr id="3" name="object 3"/>
          <p:cNvSpPr txBox="1">
            <a:spLocks noGrp="1"/>
          </p:cNvSpPr>
          <p:nvPr>
            <p:ph type="title"/>
          </p:nvPr>
        </p:nvSpPr>
        <p:spPr>
          <a:xfrm>
            <a:off x="1302689" y="192244"/>
            <a:ext cx="8910320" cy="695062"/>
          </a:xfrm>
          <a:prstGeom prst="rect">
            <a:avLst/>
          </a:prstGeom>
        </p:spPr>
        <p:txBody>
          <a:bodyPr vert="horz" wrap="square" lIns="0" tIns="17780" rIns="0" bIns="0" rtlCol="0" anchor="ctr">
            <a:spAutoFit/>
          </a:bodyPr>
          <a:lstStyle/>
          <a:p>
            <a:pPr marL="1239489" algn="ctr">
              <a:lnSpc>
                <a:spcPct val="100000"/>
              </a:lnSpc>
              <a:spcBef>
                <a:spcPts val="140"/>
              </a:spcBef>
            </a:pPr>
            <a:r>
              <a:rPr dirty="0">
                <a:solidFill>
                  <a:schemeClr val="bg1"/>
                </a:solidFill>
                <a:latin typeface="+mn-lt"/>
              </a:rPr>
              <a:t>Dimensional</a:t>
            </a:r>
            <a:r>
              <a:rPr spc="-152" dirty="0">
                <a:solidFill>
                  <a:schemeClr val="bg1"/>
                </a:solidFill>
                <a:latin typeface="+mn-lt"/>
              </a:rPr>
              <a:t> </a:t>
            </a:r>
            <a:r>
              <a:rPr spc="-13" dirty="0">
                <a:solidFill>
                  <a:schemeClr val="bg1"/>
                </a:solidFill>
                <a:latin typeface="+mn-lt"/>
              </a:rPr>
              <a:t>modeling</a:t>
            </a:r>
          </a:p>
        </p:txBody>
      </p:sp>
      <p:graphicFrame>
        <p:nvGraphicFramePr>
          <p:cNvPr id="5" name="object 4">
            <a:extLst>
              <a:ext uri="{FF2B5EF4-FFF2-40B4-BE49-F238E27FC236}">
                <a16:creationId xmlns:a16="http://schemas.microsoft.com/office/drawing/2014/main" id="{0F9C8771-16B3-9012-4D19-A7E3CB2198FD}"/>
              </a:ext>
            </a:extLst>
          </p:cNvPr>
          <p:cNvGraphicFramePr>
            <a:graphicFrameLocks noGrp="1"/>
          </p:cNvGraphicFramePr>
          <p:nvPr>
            <p:extLst>
              <p:ext uri="{D42A27DB-BD31-4B8C-83A1-F6EECF244321}">
                <p14:modId xmlns:p14="http://schemas.microsoft.com/office/powerpoint/2010/main" val="3130807916"/>
              </p:ext>
            </p:extLst>
          </p:nvPr>
        </p:nvGraphicFramePr>
        <p:xfrm>
          <a:off x="1885123" y="3597965"/>
          <a:ext cx="9008164" cy="2882348"/>
        </p:xfrm>
        <a:graphic>
          <a:graphicData uri="http://schemas.openxmlformats.org/drawingml/2006/table">
            <a:tbl>
              <a:tblPr firstRow="1" bandRow="1">
                <a:tableStyleId>{2D5ABB26-0587-4C30-8999-92F81FD0307C}</a:tableStyleId>
              </a:tblPr>
              <a:tblGrid>
                <a:gridCol w="272051">
                  <a:extLst>
                    <a:ext uri="{9D8B030D-6E8A-4147-A177-3AD203B41FA5}">
                      <a16:colId xmlns:a16="http://schemas.microsoft.com/office/drawing/2014/main" val="20000"/>
                    </a:ext>
                  </a:extLst>
                </a:gridCol>
                <a:gridCol w="949631">
                  <a:extLst>
                    <a:ext uri="{9D8B030D-6E8A-4147-A177-3AD203B41FA5}">
                      <a16:colId xmlns:a16="http://schemas.microsoft.com/office/drawing/2014/main" val="20001"/>
                    </a:ext>
                  </a:extLst>
                </a:gridCol>
                <a:gridCol w="1926607">
                  <a:extLst>
                    <a:ext uri="{9D8B030D-6E8A-4147-A177-3AD203B41FA5}">
                      <a16:colId xmlns:a16="http://schemas.microsoft.com/office/drawing/2014/main" val="20002"/>
                    </a:ext>
                  </a:extLst>
                </a:gridCol>
                <a:gridCol w="1117134">
                  <a:extLst>
                    <a:ext uri="{9D8B030D-6E8A-4147-A177-3AD203B41FA5}">
                      <a16:colId xmlns:a16="http://schemas.microsoft.com/office/drawing/2014/main" val="20003"/>
                    </a:ext>
                  </a:extLst>
                </a:gridCol>
                <a:gridCol w="1384069">
                  <a:extLst>
                    <a:ext uri="{9D8B030D-6E8A-4147-A177-3AD203B41FA5}">
                      <a16:colId xmlns:a16="http://schemas.microsoft.com/office/drawing/2014/main" val="20004"/>
                    </a:ext>
                  </a:extLst>
                </a:gridCol>
                <a:gridCol w="1268718">
                  <a:extLst>
                    <a:ext uri="{9D8B030D-6E8A-4147-A177-3AD203B41FA5}">
                      <a16:colId xmlns:a16="http://schemas.microsoft.com/office/drawing/2014/main" val="20005"/>
                    </a:ext>
                  </a:extLst>
                </a:gridCol>
                <a:gridCol w="2089954">
                  <a:extLst>
                    <a:ext uri="{9D8B030D-6E8A-4147-A177-3AD203B41FA5}">
                      <a16:colId xmlns:a16="http://schemas.microsoft.com/office/drawing/2014/main" val="20006"/>
                    </a:ext>
                  </a:extLst>
                </a:gridCol>
              </a:tblGrid>
              <a:tr h="431921">
                <a:tc>
                  <a:txBody>
                    <a:bodyPr/>
                    <a:lstStyle/>
                    <a:p>
                      <a:pPr algn="ctr">
                        <a:lnSpc>
                          <a:spcPct val="100000"/>
                        </a:lnSpc>
                        <a:spcBef>
                          <a:spcPts val="135"/>
                        </a:spcBef>
                      </a:pPr>
                      <a:r>
                        <a:rPr sz="1600" spc="-25" dirty="0">
                          <a:latin typeface="Arial MT"/>
                          <a:cs typeface="Arial MT"/>
                        </a:rPr>
                        <a:t>id</a:t>
                      </a:r>
                      <a:endParaRPr sz="1600" dirty="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135"/>
                        </a:spcBef>
                      </a:pPr>
                      <a:r>
                        <a:rPr sz="1600" spc="-20" dirty="0">
                          <a:latin typeface="Arial MT"/>
                          <a:cs typeface="Arial MT"/>
                        </a:rPr>
                        <a:t>date</a:t>
                      </a:r>
                      <a:endParaRPr sz="1600" dirty="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135"/>
                        </a:spcBef>
                      </a:pPr>
                      <a:r>
                        <a:rPr sz="1600" spc="-10" dirty="0">
                          <a:latin typeface="Arial MT"/>
                          <a:cs typeface="Arial MT"/>
                        </a:rPr>
                        <a:t>product</a:t>
                      </a:r>
                      <a:endParaRPr sz="1600" dirty="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810" algn="ctr">
                        <a:lnSpc>
                          <a:spcPct val="100000"/>
                        </a:lnSpc>
                        <a:spcBef>
                          <a:spcPts val="135"/>
                        </a:spcBef>
                      </a:pPr>
                      <a:r>
                        <a:rPr sz="1600" spc="-10" dirty="0">
                          <a:latin typeface="Arial MT"/>
                          <a:cs typeface="Arial MT"/>
                        </a:rPr>
                        <a:t>category</a:t>
                      </a:r>
                      <a:endParaRPr sz="1600" dirty="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135"/>
                        </a:spcBef>
                      </a:pPr>
                      <a:r>
                        <a:rPr sz="1600" spc="-10" dirty="0">
                          <a:latin typeface="Arial MT"/>
                          <a:cs typeface="Arial MT"/>
                        </a:rPr>
                        <a:t>customer_id</a:t>
                      </a:r>
                      <a:endParaRPr sz="1600" dirty="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135"/>
                        </a:spcBef>
                      </a:pPr>
                      <a:r>
                        <a:rPr sz="1600" spc="-20" dirty="0">
                          <a:latin typeface="Arial MT"/>
                          <a:cs typeface="Arial MT"/>
                        </a:rPr>
                        <a:t>name</a:t>
                      </a:r>
                      <a:endParaRPr sz="1600" dirty="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chemeClr val="bg1">
                        <a:lumMod val="75000"/>
                      </a:schemeClr>
                    </a:solidFill>
                  </a:tcPr>
                </a:tc>
                <a:tc>
                  <a:txBody>
                    <a:bodyPr/>
                    <a:lstStyle/>
                    <a:p>
                      <a:pPr marL="2540" algn="ctr">
                        <a:lnSpc>
                          <a:spcPct val="100000"/>
                        </a:lnSpc>
                        <a:spcBef>
                          <a:spcPts val="135"/>
                        </a:spcBef>
                      </a:pPr>
                      <a:r>
                        <a:rPr sz="1600" spc="-10" dirty="0">
                          <a:latin typeface="Arial MT"/>
                          <a:cs typeface="Arial MT"/>
                        </a:rPr>
                        <a:t>profit</a:t>
                      </a:r>
                      <a:endParaRPr sz="1600" dirty="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0"/>
                  </a:ext>
                </a:extLst>
              </a:tr>
              <a:tr h="505346">
                <a:tc>
                  <a:txBody>
                    <a:bodyPr/>
                    <a:lstStyle/>
                    <a:p>
                      <a:pPr marL="635" algn="ctr">
                        <a:lnSpc>
                          <a:spcPct val="100000"/>
                        </a:lnSpc>
                        <a:spcBef>
                          <a:spcPts val="475"/>
                        </a:spcBef>
                      </a:pPr>
                      <a:r>
                        <a:rPr sz="1600" spc="-50" dirty="0">
                          <a:latin typeface="Arial MT"/>
                          <a:cs typeface="Arial MT"/>
                        </a:rPr>
                        <a:t>1</a:t>
                      </a:r>
                      <a:endParaRPr sz="1600" dirty="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75"/>
                        </a:spcBef>
                      </a:pPr>
                      <a:r>
                        <a:rPr sz="1600" spc="-10" dirty="0">
                          <a:latin typeface="Arial MT"/>
                          <a:cs typeface="Arial MT"/>
                        </a:rPr>
                        <a:t>1/2/2022</a:t>
                      </a:r>
                      <a:endParaRPr sz="1600" dirty="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30504" marR="82550" indent="-135890">
                        <a:lnSpc>
                          <a:spcPts val="830"/>
                        </a:lnSpc>
                      </a:pPr>
                      <a:endParaRPr lang="en-IN" sz="1600" dirty="0">
                        <a:latin typeface="Arial MT"/>
                        <a:cs typeface="Arial MT"/>
                      </a:endParaRPr>
                    </a:p>
                    <a:p>
                      <a:pPr marL="230504" marR="82550" indent="-135890">
                        <a:lnSpc>
                          <a:spcPts val="830"/>
                        </a:lnSpc>
                      </a:pPr>
                      <a:r>
                        <a:rPr sz="1600" dirty="0" err="1">
                          <a:latin typeface="Arial MT"/>
                          <a:cs typeface="Arial MT"/>
                        </a:rPr>
                        <a:t>Fulltoss</a:t>
                      </a:r>
                      <a:r>
                        <a:rPr sz="1600" spc="-25" dirty="0">
                          <a:latin typeface="Arial MT"/>
                          <a:cs typeface="Arial MT"/>
                        </a:rPr>
                        <a:t> </a:t>
                      </a:r>
                      <a:r>
                        <a:rPr sz="1600" spc="-10" dirty="0">
                          <a:latin typeface="Arial MT"/>
                          <a:cs typeface="Arial MT"/>
                        </a:rPr>
                        <a:t>Tangy</a:t>
                      </a:r>
                      <a:r>
                        <a:rPr lang="en-IN" sz="1600" spc="-10" dirty="0">
                          <a:latin typeface="Arial MT"/>
                          <a:cs typeface="Arial MT"/>
                        </a:rPr>
                        <a:t> </a:t>
                      </a:r>
                    </a:p>
                    <a:p>
                      <a:pPr marL="230504" marR="82550" indent="-135890">
                        <a:lnSpc>
                          <a:spcPts val="830"/>
                        </a:lnSpc>
                      </a:pPr>
                      <a:endParaRPr lang="en-IN" sz="1600" spc="-10" dirty="0">
                        <a:latin typeface="Arial MT"/>
                        <a:cs typeface="Arial MT"/>
                      </a:endParaRPr>
                    </a:p>
                    <a:p>
                      <a:pPr marL="230504" marR="82550" indent="-135890">
                        <a:lnSpc>
                          <a:spcPts val="830"/>
                        </a:lnSpc>
                      </a:pPr>
                      <a:r>
                        <a:rPr sz="1600" spc="-10" dirty="0">
                          <a:latin typeface="Arial MT"/>
                          <a:cs typeface="Arial MT"/>
                        </a:rPr>
                        <a:t>Tomato</a:t>
                      </a:r>
                      <a:endParaRPr sz="16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50"/>
                        </a:spcBef>
                      </a:pPr>
                      <a:r>
                        <a:rPr sz="1600" spc="-10" dirty="0">
                          <a:latin typeface="Calibri"/>
                          <a:cs typeface="Calibri"/>
                        </a:rPr>
                        <a:t>Vegetables</a:t>
                      </a:r>
                      <a:endParaRPr sz="16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50"/>
                        </a:spcBef>
                      </a:pPr>
                      <a:r>
                        <a:rPr sz="1600" spc="-50" dirty="0">
                          <a:latin typeface="Calibri"/>
                          <a:cs typeface="Calibri"/>
                        </a:rPr>
                        <a:t>2</a:t>
                      </a:r>
                      <a:endParaRPr sz="16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450"/>
                        </a:spcBef>
                      </a:pPr>
                      <a:r>
                        <a:rPr sz="1600" spc="-10" dirty="0">
                          <a:latin typeface="Calibri"/>
                          <a:cs typeface="Calibri"/>
                        </a:rPr>
                        <a:t>Sarah</a:t>
                      </a:r>
                      <a:endParaRPr sz="16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chemeClr val="bg1">
                        <a:lumMod val="75000"/>
                      </a:schemeClr>
                    </a:solidFill>
                  </a:tcPr>
                </a:tc>
                <a:tc>
                  <a:txBody>
                    <a:bodyPr/>
                    <a:lstStyle/>
                    <a:p>
                      <a:pPr marL="635" algn="ctr">
                        <a:lnSpc>
                          <a:spcPct val="100000"/>
                        </a:lnSpc>
                        <a:spcBef>
                          <a:spcPts val="450"/>
                        </a:spcBef>
                      </a:pPr>
                      <a:r>
                        <a:rPr sz="1600" spc="-25" dirty="0">
                          <a:latin typeface="Calibri"/>
                          <a:cs typeface="Calibri"/>
                        </a:rPr>
                        <a:t>$23</a:t>
                      </a:r>
                      <a:endParaRPr sz="16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503907">
                <a:tc>
                  <a:txBody>
                    <a:bodyPr/>
                    <a:lstStyle/>
                    <a:p>
                      <a:pPr marL="635" algn="ctr">
                        <a:lnSpc>
                          <a:spcPct val="100000"/>
                        </a:lnSpc>
                        <a:spcBef>
                          <a:spcPts val="470"/>
                        </a:spcBef>
                      </a:pPr>
                      <a:r>
                        <a:rPr sz="1600" spc="-50" dirty="0">
                          <a:latin typeface="Arial MT"/>
                          <a:cs typeface="Arial MT"/>
                        </a:rPr>
                        <a:t>2</a:t>
                      </a:r>
                      <a:endParaRPr sz="16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70"/>
                        </a:spcBef>
                      </a:pPr>
                      <a:r>
                        <a:rPr sz="1600" spc="-10" dirty="0">
                          <a:latin typeface="Arial MT"/>
                          <a:cs typeface="Arial MT"/>
                        </a:rPr>
                        <a:t>1/2/2022</a:t>
                      </a:r>
                      <a:endParaRPr sz="1600" dirty="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0" marR="8890" indent="92710">
                        <a:lnSpc>
                          <a:spcPts val="830"/>
                        </a:lnSpc>
                      </a:pPr>
                      <a:endParaRPr lang="en-IN" sz="1600" dirty="0">
                        <a:latin typeface="Arial MT"/>
                        <a:cs typeface="Arial MT"/>
                      </a:endParaRPr>
                    </a:p>
                    <a:p>
                      <a:pPr marL="19050" marR="8890" indent="92710">
                        <a:lnSpc>
                          <a:spcPts val="830"/>
                        </a:lnSpc>
                      </a:pPr>
                      <a:r>
                        <a:rPr sz="1600" dirty="0">
                          <a:latin typeface="Arial MT"/>
                          <a:cs typeface="Arial MT"/>
                        </a:rPr>
                        <a:t>Chilli</a:t>
                      </a:r>
                      <a:r>
                        <a:rPr sz="1600" spc="-20" dirty="0">
                          <a:latin typeface="Arial MT"/>
                          <a:cs typeface="Arial MT"/>
                        </a:rPr>
                        <a:t> </a:t>
                      </a:r>
                      <a:r>
                        <a:rPr sz="1600" dirty="0">
                          <a:latin typeface="Arial MT"/>
                          <a:cs typeface="Arial MT"/>
                        </a:rPr>
                        <a:t>- </a:t>
                      </a:r>
                      <a:r>
                        <a:rPr sz="1600" spc="-10" dirty="0">
                          <a:latin typeface="Arial MT"/>
                          <a:cs typeface="Arial MT"/>
                        </a:rPr>
                        <a:t>Green,</a:t>
                      </a:r>
                      <a:endParaRPr lang="en-IN" sz="1600" spc="-10" dirty="0">
                        <a:latin typeface="Arial MT"/>
                        <a:cs typeface="Arial MT"/>
                      </a:endParaRPr>
                    </a:p>
                    <a:p>
                      <a:pPr marL="19050" marR="8890" indent="92710">
                        <a:lnSpc>
                          <a:spcPts val="830"/>
                        </a:lnSpc>
                      </a:pPr>
                      <a:endParaRPr lang="en-IN" sz="1600" spc="-10" dirty="0">
                        <a:latin typeface="Arial MT"/>
                        <a:cs typeface="Arial MT"/>
                      </a:endParaRPr>
                    </a:p>
                    <a:p>
                      <a:pPr marL="19050" marR="8890" indent="92710">
                        <a:lnSpc>
                          <a:spcPts val="830"/>
                        </a:lnSpc>
                      </a:pPr>
                      <a:r>
                        <a:rPr lang="en-IN" sz="1600" spc="-10" dirty="0">
                          <a:latin typeface="Arial MT"/>
                          <a:cs typeface="Arial MT"/>
                        </a:rPr>
                        <a:t>O</a:t>
                      </a:r>
                      <a:r>
                        <a:rPr sz="1600" dirty="0" err="1">
                          <a:latin typeface="Arial MT"/>
                          <a:cs typeface="Arial MT"/>
                        </a:rPr>
                        <a:t>rganically</a:t>
                      </a:r>
                      <a:r>
                        <a:rPr sz="1600" spc="-35" dirty="0">
                          <a:latin typeface="Arial MT"/>
                          <a:cs typeface="Arial MT"/>
                        </a:rPr>
                        <a:t> </a:t>
                      </a:r>
                      <a:r>
                        <a:rPr sz="1600" spc="-10" dirty="0">
                          <a:latin typeface="Arial MT"/>
                          <a:cs typeface="Arial MT"/>
                        </a:rPr>
                        <a:t>Grown</a:t>
                      </a:r>
                      <a:endParaRPr sz="16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450"/>
                        </a:spcBef>
                      </a:pPr>
                      <a:r>
                        <a:rPr sz="1600" spc="-10" dirty="0">
                          <a:latin typeface="Calibri"/>
                          <a:cs typeface="Calibri"/>
                        </a:rPr>
                        <a:t>Snacks</a:t>
                      </a:r>
                      <a:endParaRPr sz="16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50"/>
                        </a:spcBef>
                      </a:pPr>
                      <a:r>
                        <a:rPr sz="1600" spc="-50" dirty="0">
                          <a:latin typeface="Calibri"/>
                          <a:cs typeface="Calibri"/>
                        </a:rPr>
                        <a:t>2</a:t>
                      </a:r>
                      <a:endParaRPr sz="16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450"/>
                        </a:spcBef>
                      </a:pPr>
                      <a:r>
                        <a:rPr sz="1600" spc="-10" dirty="0">
                          <a:latin typeface="Calibri"/>
                          <a:cs typeface="Calibri"/>
                        </a:rPr>
                        <a:t>Sarah</a:t>
                      </a:r>
                      <a:endParaRPr sz="16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chemeClr val="bg1">
                        <a:lumMod val="75000"/>
                      </a:schemeClr>
                    </a:solidFill>
                  </a:tcPr>
                </a:tc>
                <a:tc>
                  <a:txBody>
                    <a:bodyPr/>
                    <a:lstStyle/>
                    <a:p>
                      <a:pPr marL="635" algn="ctr">
                        <a:lnSpc>
                          <a:spcPct val="100000"/>
                        </a:lnSpc>
                        <a:spcBef>
                          <a:spcPts val="450"/>
                        </a:spcBef>
                      </a:pPr>
                      <a:r>
                        <a:rPr sz="1600" spc="-25" dirty="0">
                          <a:latin typeface="Calibri"/>
                          <a:cs typeface="Calibri"/>
                        </a:rPr>
                        <a:t>$12</a:t>
                      </a:r>
                      <a:endParaRPr sz="16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431921">
                <a:tc>
                  <a:txBody>
                    <a:bodyPr/>
                    <a:lstStyle/>
                    <a:p>
                      <a:pPr marL="635" algn="ctr">
                        <a:lnSpc>
                          <a:spcPct val="100000"/>
                        </a:lnSpc>
                        <a:spcBef>
                          <a:spcPts val="345"/>
                        </a:spcBef>
                      </a:pPr>
                      <a:r>
                        <a:rPr sz="1600" spc="-50" dirty="0">
                          <a:latin typeface="Arial MT"/>
                          <a:cs typeface="Arial MT"/>
                        </a:rPr>
                        <a:t>3</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1600" spc="-10" dirty="0">
                          <a:latin typeface="Arial MT"/>
                          <a:cs typeface="Arial MT"/>
                        </a:rPr>
                        <a:t>1/2/2022</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45"/>
                        </a:spcBef>
                      </a:pPr>
                      <a:r>
                        <a:rPr sz="1600" dirty="0">
                          <a:latin typeface="Arial MT"/>
                          <a:cs typeface="Arial MT"/>
                        </a:rPr>
                        <a:t>Masala</a:t>
                      </a:r>
                      <a:r>
                        <a:rPr sz="1600" spc="-35" dirty="0">
                          <a:latin typeface="Arial MT"/>
                          <a:cs typeface="Arial MT"/>
                        </a:rPr>
                        <a:t> </a:t>
                      </a:r>
                      <a:r>
                        <a:rPr sz="1600" spc="-10" dirty="0">
                          <a:latin typeface="Arial MT"/>
                          <a:cs typeface="Arial MT"/>
                        </a:rPr>
                        <a:t>Powder</a:t>
                      </a:r>
                      <a:endParaRPr sz="1600" dirty="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20"/>
                        </a:spcBef>
                      </a:pPr>
                      <a:r>
                        <a:rPr sz="1600" spc="-10" dirty="0">
                          <a:latin typeface="Calibri"/>
                          <a:cs typeface="Calibri"/>
                        </a:rPr>
                        <a:t>Herbs</a:t>
                      </a:r>
                      <a:endParaRPr sz="1600" dirty="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20"/>
                        </a:spcBef>
                      </a:pPr>
                      <a:r>
                        <a:rPr sz="1600" spc="-50" dirty="0">
                          <a:latin typeface="Calibri"/>
                          <a:cs typeface="Calibri"/>
                        </a:rPr>
                        <a:t>5</a:t>
                      </a:r>
                      <a:endParaRPr sz="1600" dirty="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20"/>
                        </a:spcBef>
                      </a:pPr>
                      <a:r>
                        <a:rPr sz="1600" spc="-20" dirty="0">
                          <a:latin typeface="Calibri"/>
                          <a:cs typeface="Calibri"/>
                        </a:rPr>
                        <a:t>Marc</a:t>
                      </a:r>
                      <a:endParaRPr sz="1600" dirty="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chemeClr val="bg1">
                        <a:lumMod val="75000"/>
                      </a:schemeClr>
                    </a:solidFill>
                  </a:tcPr>
                </a:tc>
                <a:tc>
                  <a:txBody>
                    <a:bodyPr/>
                    <a:lstStyle/>
                    <a:p>
                      <a:pPr marL="635" algn="ctr">
                        <a:lnSpc>
                          <a:spcPct val="100000"/>
                        </a:lnSpc>
                        <a:spcBef>
                          <a:spcPts val="320"/>
                        </a:spcBef>
                      </a:pPr>
                      <a:r>
                        <a:rPr sz="1600" spc="-25" dirty="0">
                          <a:latin typeface="Calibri"/>
                          <a:cs typeface="Calibri"/>
                        </a:rPr>
                        <a:t>$93</a:t>
                      </a:r>
                      <a:endParaRPr sz="16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503907">
                <a:tc>
                  <a:txBody>
                    <a:bodyPr/>
                    <a:lstStyle/>
                    <a:p>
                      <a:pPr marL="635" algn="ctr">
                        <a:lnSpc>
                          <a:spcPct val="100000"/>
                        </a:lnSpc>
                        <a:spcBef>
                          <a:spcPts val="475"/>
                        </a:spcBef>
                      </a:pPr>
                      <a:r>
                        <a:rPr sz="1600" spc="-50" dirty="0">
                          <a:latin typeface="Arial MT"/>
                          <a:cs typeface="Arial MT"/>
                        </a:rPr>
                        <a:t>4</a:t>
                      </a:r>
                      <a:endParaRPr sz="16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75"/>
                        </a:spcBef>
                      </a:pPr>
                      <a:r>
                        <a:rPr sz="1600" spc="-10" dirty="0">
                          <a:latin typeface="Arial MT"/>
                          <a:cs typeface="Arial MT"/>
                        </a:rPr>
                        <a:t>1/2/2022</a:t>
                      </a:r>
                      <a:endParaRPr sz="1600" dirty="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4310" marR="52705" indent="-132715">
                        <a:lnSpc>
                          <a:spcPts val="830"/>
                        </a:lnSpc>
                      </a:pPr>
                      <a:endParaRPr lang="en-IN" sz="1600" dirty="0">
                        <a:latin typeface="Arial MT"/>
                        <a:cs typeface="Arial MT"/>
                      </a:endParaRPr>
                    </a:p>
                    <a:p>
                      <a:pPr marL="194310" marR="52705" indent="-132715">
                        <a:lnSpc>
                          <a:spcPts val="830"/>
                        </a:lnSpc>
                      </a:pPr>
                      <a:r>
                        <a:rPr sz="1600" dirty="0">
                          <a:latin typeface="Arial MT"/>
                          <a:cs typeface="Arial MT"/>
                        </a:rPr>
                        <a:t>Cheese</a:t>
                      </a:r>
                      <a:r>
                        <a:rPr sz="1600" spc="-25" dirty="0">
                          <a:latin typeface="Arial MT"/>
                          <a:cs typeface="Arial MT"/>
                        </a:rPr>
                        <a:t> </a:t>
                      </a:r>
                      <a:r>
                        <a:rPr sz="1600" spc="-10" dirty="0">
                          <a:latin typeface="Arial MT"/>
                          <a:cs typeface="Arial MT"/>
                        </a:rPr>
                        <a:t>Cracker</a:t>
                      </a:r>
                      <a:endParaRPr lang="en-IN" sz="1600" spc="-10" dirty="0">
                        <a:latin typeface="Arial MT"/>
                        <a:cs typeface="Arial MT"/>
                      </a:endParaRPr>
                    </a:p>
                    <a:p>
                      <a:pPr marL="194310" marR="52705" indent="-132715">
                        <a:lnSpc>
                          <a:spcPts val="830"/>
                        </a:lnSpc>
                      </a:pPr>
                      <a:endParaRPr lang="en-IN" sz="1600" spc="-10" dirty="0">
                        <a:latin typeface="Arial MT"/>
                        <a:cs typeface="Arial MT"/>
                      </a:endParaRPr>
                    </a:p>
                    <a:p>
                      <a:pPr marL="194310" marR="52705" indent="-132715">
                        <a:lnSpc>
                          <a:spcPts val="830"/>
                        </a:lnSpc>
                      </a:pPr>
                      <a:r>
                        <a:rPr sz="1600" spc="500" dirty="0">
                          <a:latin typeface="Arial MT"/>
                          <a:cs typeface="Arial MT"/>
                        </a:rPr>
                        <a:t> </a:t>
                      </a:r>
                      <a:r>
                        <a:rPr sz="1600" spc="-10" dirty="0">
                          <a:latin typeface="Arial MT"/>
                          <a:cs typeface="Arial MT"/>
                        </a:rPr>
                        <a:t>(Mcvities)</a:t>
                      </a:r>
                      <a:endParaRPr sz="16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450"/>
                        </a:spcBef>
                      </a:pPr>
                      <a:r>
                        <a:rPr sz="1600" spc="-10" dirty="0">
                          <a:latin typeface="Calibri"/>
                          <a:cs typeface="Calibri"/>
                        </a:rPr>
                        <a:t>Snacks</a:t>
                      </a:r>
                      <a:endParaRPr sz="16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50"/>
                        </a:spcBef>
                      </a:pPr>
                      <a:r>
                        <a:rPr sz="1600" spc="-50" dirty="0">
                          <a:latin typeface="Calibri"/>
                          <a:cs typeface="Calibri"/>
                        </a:rPr>
                        <a:t>1</a:t>
                      </a:r>
                      <a:endParaRPr sz="16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450"/>
                        </a:spcBef>
                      </a:pPr>
                      <a:r>
                        <a:rPr sz="1600" spc="-10" dirty="0">
                          <a:latin typeface="Calibri"/>
                          <a:cs typeface="Calibri"/>
                        </a:rPr>
                        <a:t>Frank</a:t>
                      </a:r>
                      <a:endParaRPr sz="16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chemeClr val="bg1">
                        <a:lumMod val="75000"/>
                      </a:schemeClr>
                    </a:solidFill>
                  </a:tcPr>
                </a:tc>
                <a:tc>
                  <a:txBody>
                    <a:bodyPr/>
                    <a:lstStyle/>
                    <a:p>
                      <a:pPr marL="635" algn="ctr">
                        <a:lnSpc>
                          <a:spcPct val="100000"/>
                        </a:lnSpc>
                        <a:spcBef>
                          <a:spcPts val="450"/>
                        </a:spcBef>
                      </a:pPr>
                      <a:r>
                        <a:rPr sz="1600" spc="-25" dirty="0">
                          <a:latin typeface="Calibri"/>
                          <a:cs typeface="Calibri"/>
                        </a:rPr>
                        <a:t>$23</a:t>
                      </a:r>
                      <a:endParaRPr sz="16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505346">
                <a:tc>
                  <a:txBody>
                    <a:bodyPr/>
                    <a:lstStyle/>
                    <a:p>
                      <a:pPr marL="635" algn="ctr">
                        <a:lnSpc>
                          <a:spcPct val="100000"/>
                        </a:lnSpc>
                        <a:spcBef>
                          <a:spcPts val="475"/>
                        </a:spcBef>
                      </a:pPr>
                      <a:r>
                        <a:rPr sz="1600" spc="-50" dirty="0">
                          <a:latin typeface="Arial MT"/>
                          <a:cs typeface="Arial MT"/>
                        </a:rPr>
                        <a:t>5</a:t>
                      </a:r>
                      <a:endParaRPr sz="16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75"/>
                        </a:spcBef>
                      </a:pPr>
                      <a:r>
                        <a:rPr sz="1600" spc="-10" dirty="0">
                          <a:latin typeface="Arial MT"/>
                          <a:cs typeface="Arial MT"/>
                        </a:rPr>
                        <a:t>1/2/2022</a:t>
                      </a:r>
                      <a:endParaRPr sz="16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6040" marR="56515" indent="63500">
                        <a:lnSpc>
                          <a:spcPts val="830"/>
                        </a:lnSpc>
                      </a:pPr>
                      <a:endParaRPr lang="en-IN" sz="1600" dirty="0">
                        <a:latin typeface="Arial MT"/>
                        <a:cs typeface="Arial MT"/>
                      </a:endParaRPr>
                    </a:p>
                    <a:p>
                      <a:pPr marL="66040" marR="56515" indent="63500">
                        <a:lnSpc>
                          <a:spcPts val="830"/>
                        </a:lnSpc>
                      </a:pPr>
                      <a:r>
                        <a:rPr sz="1600" dirty="0">
                          <a:latin typeface="Arial MT"/>
                          <a:cs typeface="Arial MT"/>
                        </a:rPr>
                        <a:t>Centre</a:t>
                      </a:r>
                      <a:r>
                        <a:rPr sz="1600" spc="-15" dirty="0">
                          <a:latin typeface="Arial MT"/>
                          <a:cs typeface="Arial MT"/>
                        </a:rPr>
                        <a:t> </a:t>
                      </a:r>
                      <a:r>
                        <a:rPr sz="1600" spc="-10" dirty="0">
                          <a:latin typeface="Arial MT"/>
                          <a:cs typeface="Arial MT"/>
                        </a:rPr>
                        <a:t>Filled</a:t>
                      </a:r>
                      <a:endParaRPr lang="en-IN" sz="1600" spc="-10" dirty="0">
                        <a:latin typeface="Arial MT"/>
                        <a:cs typeface="Arial MT"/>
                      </a:endParaRPr>
                    </a:p>
                    <a:p>
                      <a:pPr marL="66040" marR="56515" indent="63500">
                        <a:lnSpc>
                          <a:spcPts val="830"/>
                        </a:lnSpc>
                      </a:pPr>
                      <a:endParaRPr lang="en-IN" sz="1600" spc="-10" dirty="0">
                        <a:latin typeface="Arial MT"/>
                        <a:cs typeface="Arial MT"/>
                      </a:endParaRPr>
                    </a:p>
                    <a:p>
                      <a:pPr marL="66040" marR="56515" indent="63500">
                        <a:lnSpc>
                          <a:spcPts val="830"/>
                        </a:lnSpc>
                      </a:pPr>
                      <a:r>
                        <a:rPr sz="1600" spc="500" dirty="0">
                          <a:latin typeface="Arial MT"/>
                          <a:cs typeface="Arial MT"/>
                        </a:rPr>
                        <a:t> </a:t>
                      </a:r>
                      <a:r>
                        <a:rPr sz="1600" dirty="0">
                          <a:latin typeface="Arial MT"/>
                          <a:cs typeface="Arial MT"/>
                        </a:rPr>
                        <a:t>Chocolate</a:t>
                      </a:r>
                      <a:r>
                        <a:rPr sz="1600" spc="-35" dirty="0">
                          <a:latin typeface="Arial MT"/>
                          <a:cs typeface="Arial MT"/>
                        </a:rPr>
                        <a:t> </a:t>
                      </a:r>
                      <a:r>
                        <a:rPr sz="1600" spc="-20" dirty="0">
                          <a:latin typeface="Arial MT"/>
                          <a:cs typeface="Arial MT"/>
                        </a:rPr>
                        <a:t>Cake</a:t>
                      </a:r>
                      <a:endParaRPr sz="16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450"/>
                        </a:spcBef>
                      </a:pPr>
                      <a:r>
                        <a:rPr sz="1600" spc="-10" dirty="0">
                          <a:latin typeface="Calibri"/>
                          <a:cs typeface="Calibri"/>
                        </a:rPr>
                        <a:t>Snacks</a:t>
                      </a:r>
                      <a:endParaRPr sz="16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50"/>
                        </a:spcBef>
                      </a:pPr>
                      <a:r>
                        <a:rPr sz="1600" spc="-50" dirty="0">
                          <a:latin typeface="Calibri"/>
                          <a:cs typeface="Calibri"/>
                        </a:rPr>
                        <a:t>5</a:t>
                      </a:r>
                      <a:endParaRPr sz="16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450"/>
                        </a:spcBef>
                      </a:pPr>
                      <a:r>
                        <a:rPr sz="1600" spc="-20" dirty="0">
                          <a:latin typeface="Calibri"/>
                          <a:cs typeface="Calibri"/>
                        </a:rPr>
                        <a:t>Marc</a:t>
                      </a:r>
                      <a:endParaRPr sz="16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chemeClr val="bg1">
                        <a:lumMod val="75000"/>
                      </a:schemeClr>
                    </a:solidFill>
                  </a:tcPr>
                </a:tc>
                <a:tc>
                  <a:txBody>
                    <a:bodyPr/>
                    <a:lstStyle/>
                    <a:p>
                      <a:pPr marL="635" algn="ctr">
                        <a:lnSpc>
                          <a:spcPct val="100000"/>
                        </a:lnSpc>
                        <a:spcBef>
                          <a:spcPts val="450"/>
                        </a:spcBef>
                      </a:pPr>
                      <a:r>
                        <a:rPr sz="1600" spc="-25" dirty="0">
                          <a:latin typeface="Calibri"/>
                          <a:cs typeface="Calibri"/>
                        </a:rPr>
                        <a:t>$21</a:t>
                      </a:r>
                      <a:endParaRPr sz="16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271520" y="1308752"/>
            <a:ext cx="5648960" cy="124051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Goal:</a:t>
            </a:r>
            <a:r>
              <a:rPr sz="2400" b="1" spc="-27" dirty="0">
                <a:solidFill>
                  <a:srgbClr val="D9D9D9"/>
                </a:solidFill>
                <a:latin typeface="Calibri"/>
                <a:cs typeface="Calibri"/>
              </a:rPr>
              <a:t> </a:t>
            </a:r>
            <a:r>
              <a:rPr sz="2400" b="1" dirty="0">
                <a:solidFill>
                  <a:srgbClr val="D9D9D9"/>
                </a:solidFill>
                <a:latin typeface="Calibri"/>
                <a:cs typeface="Calibri"/>
              </a:rPr>
              <a:t>Fast</a:t>
            </a:r>
            <a:r>
              <a:rPr sz="2400" b="1" spc="7" dirty="0">
                <a:solidFill>
                  <a:srgbClr val="D9D9D9"/>
                </a:solidFill>
                <a:latin typeface="Calibri"/>
                <a:cs typeface="Calibri"/>
              </a:rPr>
              <a:t> </a:t>
            </a:r>
            <a:r>
              <a:rPr sz="2400" b="1" dirty="0">
                <a:solidFill>
                  <a:srgbClr val="D9D9D9"/>
                </a:solidFill>
                <a:latin typeface="Calibri"/>
                <a:cs typeface="Calibri"/>
              </a:rPr>
              <a:t>data</a:t>
            </a:r>
            <a:r>
              <a:rPr sz="2400" b="1" spc="7" dirty="0">
                <a:solidFill>
                  <a:srgbClr val="D9D9D9"/>
                </a:solidFill>
                <a:latin typeface="Calibri"/>
                <a:cs typeface="Calibri"/>
              </a:rPr>
              <a:t> </a:t>
            </a:r>
            <a:r>
              <a:rPr sz="2400" b="1" spc="-13" dirty="0">
                <a:solidFill>
                  <a:srgbClr val="D9D9D9"/>
                </a:solidFill>
                <a:latin typeface="Calibri"/>
                <a:cs typeface="Calibri"/>
              </a:rPr>
              <a:t>retrieval</a:t>
            </a:r>
            <a:endParaRPr sz="2400" dirty="0">
              <a:latin typeface="Calibri"/>
              <a:cs typeface="Calibri"/>
            </a:endParaRPr>
          </a:p>
          <a:p>
            <a:pPr>
              <a:spcBef>
                <a:spcPts val="940"/>
              </a:spcBef>
              <a:buClr>
                <a:srgbClr val="99D3FF"/>
              </a:buClr>
              <a:buFont typeface="Wingdings"/>
              <a:buChar char=""/>
            </a:pPr>
            <a:endParaRPr sz="2400" dirty="0">
              <a:latin typeface="Calibri"/>
              <a:cs typeface="Calibri"/>
            </a:endParaRPr>
          </a:p>
          <a:p>
            <a:pPr marL="397923" indent="-380990">
              <a:buClr>
                <a:srgbClr val="99D3FF"/>
              </a:buClr>
              <a:buFont typeface="Wingdings"/>
              <a:buChar char=""/>
              <a:tabLst>
                <a:tab pos="397923" algn="l"/>
              </a:tabLst>
            </a:pPr>
            <a:r>
              <a:rPr sz="2400" b="1" dirty="0">
                <a:solidFill>
                  <a:srgbClr val="D9D9D9"/>
                </a:solidFill>
                <a:latin typeface="Calibri"/>
                <a:cs typeface="Calibri"/>
              </a:rPr>
              <a:t>Oriented</a:t>
            </a:r>
            <a:r>
              <a:rPr sz="2400" b="1" spc="-80" dirty="0">
                <a:solidFill>
                  <a:srgbClr val="D9D9D9"/>
                </a:solidFill>
                <a:latin typeface="Calibri"/>
                <a:cs typeface="Calibri"/>
              </a:rPr>
              <a:t> </a:t>
            </a:r>
            <a:r>
              <a:rPr sz="2400" b="1" dirty="0">
                <a:solidFill>
                  <a:srgbClr val="D9D9D9"/>
                </a:solidFill>
                <a:latin typeface="Calibri"/>
                <a:cs typeface="Calibri"/>
              </a:rPr>
              <a:t>around</a:t>
            </a:r>
            <a:r>
              <a:rPr sz="2400" b="1" spc="-47" dirty="0">
                <a:solidFill>
                  <a:srgbClr val="D9D9D9"/>
                </a:solidFill>
                <a:latin typeface="Calibri"/>
                <a:cs typeface="Calibri"/>
              </a:rPr>
              <a:t> </a:t>
            </a:r>
            <a:r>
              <a:rPr sz="2400" b="1" dirty="0">
                <a:solidFill>
                  <a:srgbClr val="D9D9D9"/>
                </a:solidFill>
                <a:latin typeface="Calibri"/>
                <a:cs typeface="Calibri"/>
              </a:rPr>
              <a:t>performance</a:t>
            </a:r>
            <a:r>
              <a:rPr sz="2400" b="1" spc="-67" dirty="0">
                <a:solidFill>
                  <a:srgbClr val="D9D9D9"/>
                </a:solidFill>
                <a:latin typeface="Calibri"/>
                <a:cs typeface="Calibri"/>
              </a:rPr>
              <a:t> </a:t>
            </a:r>
            <a:r>
              <a:rPr sz="2400" b="1" dirty="0">
                <a:solidFill>
                  <a:srgbClr val="D9D9D9"/>
                </a:solidFill>
                <a:latin typeface="Calibri"/>
                <a:cs typeface="Calibri"/>
              </a:rPr>
              <a:t>&amp;</a:t>
            </a:r>
            <a:r>
              <a:rPr sz="2400" b="1" spc="-20" dirty="0">
                <a:solidFill>
                  <a:srgbClr val="D9D9D9"/>
                </a:solidFill>
                <a:latin typeface="Calibri"/>
                <a:cs typeface="Calibri"/>
              </a:rPr>
              <a:t> </a:t>
            </a:r>
            <a:r>
              <a:rPr sz="2400" b="1" spc="-13" dirty="0">
                <a:solidFill>
                  <a:srgbClr val="D9D9D9"/>
                </a:solidFill>
                <a:latin typeface="Calibri"/>
                <a:cs typeface="Calibri"/>
              </a:rPr>
              <a:t>usability</a:t>
            </a:r>
            <a:endParaRPr sz="2400" dirty="0">
              <a:latin typeface="Calibri"/>
              <a:cs typeface="Calibri"/>
            </a:endParaRPr>
          </a:p>
        </p:txBody>
      </p:sp>
      <p:sp>
        <p:nvSpPr>
          <p:cNvPr id="3" name="object 3"/>
          <p:cNvSpPr txBox="1">
            <a:spLocks noGrp="1"/>
          </p:cNvSpPr>
          <p:nvPr>
            <p:ph type="title"/>
          </p:nvPr>
        </p:nvSpPr>
        <p:spPr>
          <a:xfrm>
            <a:off x="1988221" y="160515"/>
            <a:ext cx="7755882" cy="695062"/>
          </a:xfrm>
          <a:prstGeom prst="rect">
            <a:avLst/>
          </a:prstGeom>
        </p:spPr>
        <p:txBody>
          <a:bodyPr vert="horz" wrap="square" lIns="0" tIns="17780" rIns="0" bIns="0" rtlCol="0" anchor="ctr">
            <a:spAutoFit/>
          </a:bodyPr>
          <a:lstStyle/>
          <a:p>
            <a:pPr marL="1239489" algn="ctr">
              <a:lnSpc>
                <a:spcPct val="100000"/>
              </a:lnSpc>
              <a:spcBef>
                <a:spcPts val="140"/>
              </a:spcBef>
            </a:pPr>
            <a:r>
              <a:rPr dirty="0">
                <a:solidFill>
                  <a:schemeClr val="bg1"/>
                </a:solidFill>
                <a:latin typeface="+mn-lt"/>
              </a:rPr>
              <a:t>Dimensional</a:t>
            </a:r>
            <a:r>
              <a:rPr spc="-152" dirty="0">
                <a:solidFill>
                  <a:schemeClr val="bg1"/>
                </a:solidFill>
                <a:latin typeface="+mn-lt"/>
              </a:rPr>
              <a:t> </a:t>
            </a:r>
            <a:r>
              <a:rPr spc="-13" dirty="0">
                <a:solidFill>
                  <a:schemeClr val="bg1"/>
                </a:solidFill>
                <a:latin typeface="+mn-lt"/>
              </a:rPr>
              <a:t>modeling</a:t>
            </a:r>
          </a:p>
        </p:txBody>
      </p:sp>
      <p:graphicFrame>
        <p:nvGraphicFramePr>
          <p:cNvPr id="4" name="object 4"/>
          <p:cNvGraphicFramePr>
            <a:graphicFrameLocks noGrp="1"/>
          </p:cNvGraphicFramePr>
          <p:nvPr>
            <p:extLst>
              <p:ext uri="{D42A27DB-BD31-4B8C-83A1-F6EECF244321}">
                <p14:modId xmlns:p14="http://schemas.microsoft.com/office/powerpoint/2010/main" val="3174716980"/>
              </p:ext>
            </p:extLst>
          </p:nvPr>
        </p:nvGraphicFramePr>
        <p:xfrm>
          <a:off x="2322393" y="3354772"/>
          <a:ext cx="8690164" cy="2767732"/>
        </p:xfrm>
        <a:graphic>
          <a:graphicData uri="http://schemas.openxmlformats.org/drawingml/2006/table">
            <a:tbl>
              <a:tblPr firstRow="1" bandRow="1">
                <a:tableStyleId>{2D5ABB26-0587-4C30-8999-92F81FD0307C}</a:tableStyleId>
              </a:tblPr>
              <a:tblGrid>
                <a:gridCol w="305469">
                  <a:extLst>
                    <a:ext uri="{9D8B030D-6E8A-4147-A177-3AD203B41FA5}">
                      <a16:colId xmlns:a16="http://schemas.microsoft.com/office/drawing/2014/main" val="20000"/>
                    </a:ext>
                  </a:extLst>
                </a:gridCol>
                <a:gridCol w="1066286">
                  <a:extLst>
                    <a:ext uri="{9D8B030D-6E8A-4147-A177-3AD203B41FA5}">
                      <a16:colId xmlns:a16="http://schemas.microsoft.com/office/drawing/2014/main" val="20001"/>
                    </a:ext>
                  </a:extLst>
                </a:gridCol>
                <a:gridCol w="1950447">
                  <a:extLst>
                    <a:ext uri="{9D8B030D-6E8A-4147-A177-3AD203B41FA5}">
                      <a16:colId xmlns:a16="http://schemas.microsoft.com/office/drawing/2014/main" val="20002"/>
                    </a:ext>
                  </a:extLst>
                </a:gridCol>
                <a:gridCol w="1306936">
                  <a:extLst>
                    <a:ext uri="{9D8B030D-6E8A-4147-A177-3AD203B41FA5}">
                      <a16:colId xmlns:a16="http://schemas.microsoft.com/office/drawing/2014/main" val="20003"/>
                    </a:ext>
                  </a:extLst>
                </a:gridCol>
                <a:gridCol w="1714339">
                  <a:extLst>
                    <a:ext uri="{9D8B030D-6E8A-4147-A177-3AD203B41FA5}">
                      <a16:colId xmlns:a16="http://schemas.microsoft.com/office/drawing/2014/main" val="20004"/>
                    </a:ext>
                  </a:extLst>
                </a:gridCol>
                <a:gridCol w="2346687">
                  <a:extLst>
                    <a:ext uri="{9D8B030D-6E8A-4147-A177-3AD203B41FA5}">
                      <a16:colId xmlns:a16="http://schemas.microsoft.com/office/drawing/2014/main" val="20005"/>
                    </a:ext>
                  </a:extLst>
                </a:gridCol>
              </a:tblGrid>
              <a:tr h="414745">
                <a:tc>
                  <a:txBody>
                    <a:bodyPr/>
                    <a:lstStyle/>
                    <a:p>
                      <a:pPr algn="ctr">
                        <a:lnSpc>
                          <a:spcPct val="100000"/>
                        </a:lnSpc>
                        <a:spcBef>
                          <a:spcPts val="135"/>
                        </a:spcBef>
                      </a:pPr>
                      <a:r>
                        <a:rPr sz="1600" spc="-25" dirty="0">
                          <a:latin typeface="Arial MT"/>
                          <a:cs typeface="Arial MT"/>
                        </a:rPr>
                        <a:t>id</a:t>
                      </a:r>
                      <a:endParaRPr sz="16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135"/>
                        </a:spcBef>
                      </a:pPr>
                      <a:r>
                        <a:rPr sz="1600" spc="-20" dirty="0">
                          <a:latin typeface="Arial MT"/>
                          <a:cs typeface="Arial MT"/>
                        </a:rPr>
                        <a:t>date</a:t>
                      </a:r>
                      <a:endParaRPr sz="1600" dirty="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135"/>
                        </a:spcBef>
                      </a:pPr>
                      <a:r>
                        <a:rPr sz="1600" spc="-10" dirty="0">
                          <a:latin typeface="Arial MT"/>
                          <a:cs typeface="Arial MT"/>
                        </a:rPr>
                        <a:t>product</a:t>
                      </a:r>
                      <a:endParaRPr sz="16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810" algn="ctr">
                        <a:lnSpc>
                          <a:spcPct val="100000"/>
                        </a:lnSpc>
                        <a:spcBef>
                          <a:spcPts val="135"/>
                        </a:spcBef>
                      </a:pPr>
                      <a:r>
                        <a:rPr sz="1600" spc="-10" dirty="0">
                          <a:latin typeface="Arial MT"/>
                          <a:cs typeface="Arial MT"/>
                        </a:rPr>
                        <a:t>category</a:t>
                      </a:r>
                      <a:endParaRPr sz="16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135"/>
                        </a:spcBef>
                      </a:pPr>
                      <a:r>
                        <a:rPr sz="1600" spc="-10" dirty="0">
                          <a:latin typeface="Arial MT"/>
                          <a:cs typeface="Arial MT"/>
                        </a:rPr>
                        <a:t>customer_id</a:t>
                      </a:r>
                      <a:endParaRPr sz="16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135"/>
                        </a:spcBef>
                      </a:pPr>
                      <a:r>
                        <a:rPr sz="1600" spc="-10" dirty="0">
                          <a:latin typeface="Arial MT"/>
                          <a:cs typeface="Arial MT"/>
                        </a:rPr>
                        <a:t>profit</a:t>
                      </a:r>
                      <a:endParaRPr sz="16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0"/>
                  </a:ext>
                </a:extLst>
              </a:tr>
              <a:tr h="485252">
                <a:tc>
                  <a:txBody>
                    <a:bodyPr/>
                    <a:lstStyle/>
                    <a:p>
                      <a:pPr marL="635" algn="ctr">
                        <a:lnSpc>
                          <a:spcPct val="100000"/>
                        </a:lnSpc>
                        <a:spcBef>
                          <a:spcPts val="475"/>
                        </a:spcBef>
                      </a:pPr>
                      <a:r>
                        <a:rPr sz="1600" spc="-50" dirty="0">
                          <a:latin typeface="Arial MT"/>
                          <a:cs typeface="Arial MT"/>
                        </a:rPr>
                        <a:t>1</a:t>
                      </a:r>
                      <a:endParaRPr sz="16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75"/>
                        </a:spcBef>
                      </a:pPr>
                      <a:r>
                        <a:rPr sz="1600" spc="-10" dirty="0">
                          <a:latin typeface="Arial MT"/>
                          <a:cs typeface="Arial MT"/>
                        </a:rPr>
                        <a:t>1/2/2022</a:t>
                      </a:r>
                      <a:endParaRPr sz="16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30504" marR="82550" indent="-135890">
                        <a:lnSpc>
                          <a:spcPts val="830"/>
                        </a:lnSpc>
                      </a:pPr>
                      <a:endParaRPr lang="en-IN" sz="1600" dirty="0">
                        <a:latin typeface="Arial MT"/>
                        <a:cs typeface="Arial MT"/>
                      </a:endParaRPr>
                    </a:p>
                    <a:p>
                      <a:pPr marL="230504" marR="82550" indent="-135890">
                        <a:lnSpc>
                          <a:spcPts val="830"/>
                        </a:lnSpc>
                      </a:pPr>
                      <a:r>
                        <a:rPr sz="1600" dirty="0" err="1">
                          <a:latin typeface="Arial MT"/>
                          <a:cs typeface="Arial MT"/>
                        </a:rPr>
                        <a:t>Fulltoss</a:t>
                      </a:r>
                      <a:r>
                        <a:rPr sz="1600" spc="-25" dirty="0">
                          <a:latin typeface="Arial MT"/>
                          <a:cs typeface="Arial MT"/>
                        </a:rPr>
                        <a:t> </a:t>
                      </a:r>
                      <a:r>
                        <a:rPr sz="1600" spc="-10" dirty="0">
                          <a:latin typeface="Arial MT"/>
                          <a:cs typeface="Arial MT"/>
                        </a:rPr>
                        <a:t>Tangy</a:t>
                      </a:r>
                      <a:endParaRPr lang="en-IN" sz="1600" spc="-10" dirty="0">
                        <a:latin typeface="Arial MT"/>
                        <a:cs typeface="Arial MT"/>
                      </a:endParaRPr>
                    </a:p>
                    <a:p>
                      <a:pPr marL="230504" marR="82550" indent="-135890">
                        <a:lnSpc>
                          <a:spcPts val="830"/>
                        </a:lnSpc>
                      </a:pPr>
                      <a:endParaRPr lang="en-IN" sz="1600" spc="-10" dirty="0">
                        <a:latin typeface="Arial MT"/>
                        <a:cs typeface="Arial MT"/>
                      </a:endParaRPr>
                    </a:p>
                    <a:p>
                      <a:pPr marL="230504" marR="82550" indent="-135890">
                        <a:lnSpc>
                          <a:spcPts val="830"/>
                        </a:lnSpc>
                      </a:pPr>
                      <a:r>
                        <a:rPr sz="1600" spc="-10" dirty="0">
                          <a:latin typeface="Arial MT"/>
                          <a:cs typeface="Arial MT"/>
                        </a:rPr>
                        <a:t>Tomato</a:t>
                      </a:r>
                      <a:endParaRPr sz="16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50"/>
                        </a:spcBef>
                      </a:pPr>
                      <a:r>
                        <a:rPr sz="1600" spc="-10" dirty="0">
                          <a:latin typeface="Calibri"/>
                          <a:cs typeface="Calibri"/>
                        </a:rPr>
                        <a:t>Vegetables</a:t>
                      </a:r>
                      <a:endParaRPr sz="16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50"/>
                        </a:spcBef>
                      </a:pPr>
                      <a:r>
                        <a:rPr sz="1600" spc="-50" dirty="0">
                          <a:latin typeface="Calibri"/>
                          <a:cs typeface="Calibri"/>
                        </a:rPr>
                        <a:t>2</a:t>
                      </a:r>
                      <a:endParaRPr sz="16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450"/>
                        </a:spcBef>
                      </a:pPr>
                      <a:r>
                        <a:rPr sz="1600" spc="-25" dirty="0">
                          <a:latin typeface="Calibri"/>
                          <a:cs typeface="Calibri"/>
                        </a:rPr>
                        <a:t>$23</a:t>
                      </a:r>
                      <a:endParaRPr sz="16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483869">
                <a:tc>
                  <a:txBody>
                    <a:bodyPr/>
                    <a:lstStyle/>
                    <a:p>
                      <a:pPr marL="635" algn="ctr">
                        <a:lnSpc>
                          <a:spcPct val="100000"/>
                        </a:lnSpc>
                        <a:spcBef>
                          <a:spcPts val="470"/>
                        </a:spcBef>
                      </a:pPr>
                      <a:r>
                        <a:rPr sz="1600" spc="-50" dirty="0">
                          <a:latin typeface="Arial MT"/>
                          <a:cs typeface="Arial MT"/>
                        </a:rPr>
                        <a:t>2</a:t>
                      </a:r>
                      <a:endParaRPr sz="16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70"/>
                        </a:spcBef>
                      </a:pPr>
                      <a:r>
                        <a:rPr sz="1600" spc="-10" dirty="0">
                          <a:latin typeface="Arial MT"/>
                          <a:cs typeface="Arial MT"/>
                        </a:rPr>
                        <a:t>1/2/2022</a:t>
                      </a:r>
                      <a:endParaRPr sz="16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0" marR="8890" indent="92710">
                        <a:lnSpc>
                          <a:spcPts val="830"/>
                        </a:lnSpc>
                      </a:pPr>
                      <a:endParaRPr lang="en-IN" sz="1600" dirty="0">
                        <a:latin typeface="Arial MT"/>
                        <a:cs typeface="Arial MT"/>
                      </a:endParaRPr>
                    </a:p>
                    <a:p>
                      <a:pPr marL="19050" marR="8890" indent="92710">
                        <a:lnSpc>
                          <a:spcPts val="830"/>
                        </a:lnSpc>
                      </a:pPr>
                      <a:r>
                        <a:rPr sz="1600" dirty="0">
                          <a:latin typeface="Arial MT"/>
                          <a:cs typeface="Arial MT"/>
                        </a:rPr>
                        <a:t>Chilli</a:t>
                      </a:r>
                      <a:r>
                        <a:rPr sz="1600" spc="-20" dirty="0">
                          <a:latin typeface="Arial MT"/>
                          <a:cs typeface="Arial MT"/>
                        </a:rPr>
                        <a:t> </a:t>
                      </a:r>
                      <a:r>
                        <a:rPr sz="1600" dirty="0">
                          <a:latin typeface="Arial MT"/>
                          <a:cs typeface="Arial MT"/>
                        </a:rPr>
                        <a:t>- </a:t>
                      </a:r>
                      <a:r>
                        <a:rPr sz="1600" spc="-10" dirty="0">
                          <a:latin typeface="Arial MT"/>
                          <a:cs typeface="Arial MT"/>
                        </a:rPr>
                        <a:t>Green,</a:t>
                      </a:r>
                      <a:endParaRPr lang="en-IN" sz="1600" spc="-10" dirty="0">
                        <a:latin typeface="Arial MT"/>
                        <a:cs typeface="Arial MT"/>
                      </a:endParaRPr>
                    </a:p>
                    <a:p>
                      <a:pPr marL="19050" marR="8890" indent="92710">
                        <a:lnSpc>
                          <a:spcPts val="830"/>
                        </a:lnSpc>
                      </a:pPr>
                      <a:endParaRPr lang="en-IN" sz="1600" spc="-10" dirty="0">
                        <a:latin typeface="Arial MT"/>
                        <a:cs typeface="Arial MT"/>
                      </a:endParaRPr>
                    </a:p>
                    <a:p>
                      <a:pPr marL="19050" marR="8890" indent="92710">
                        <a:lnSpc>
                          <a:spcPts val="830"/>
                        </a:lnSpc>
                      </a:pPr>
                      <a:r>
                        <a:rPr sz="1600" dirty="0">
                          <a:latin typeface="Arial MT"/>
                          <a:cs typeface="Arial MT"/>
                        </a:rPr>
                        <a:t>Organically</a:t>
                      </a:r>
                      <a:r>
                        <a:rPr sz="1600" spc="-35" dirty="0">
                          <a:latin typeface="Arial MT"/>
                          <a:cs typeface="Arial MT"/>
                        </a:rPr>
                        <a:t> </a:t>
                      </a:r>
                      <a:r>
                        <a:rPr sz="1600" spc="-10" dirty="0">
                          <a:latin typeface="Arial MT"/>
                          <a:cs typeface="Arial MT"/>
                        </a:rPr>
                        <a:t>Grown</a:t>
                      </a:r>
                      <a:endParaRPr sz="16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450"/>
                        </a:spcBef>
                      </a:pPr>
                      <a:r>
                        <a:rPr sz="1600" spc="-10" dirty="0">
                          <a:latin typeface="Calibri"/>
                          <a:cs typeface="Calibri"/>
                        </a:rPr>
                        <a:t>Snacks</a:t>
                      </a:r>
                      <a:endParaRPr sz="16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50"/>
                        </a:spcBef>
                      </a:pPr>
                      <a:r>
                        <a:rPr sz="1600" spc="-50" dirty="0">
                          <a:latin typeface="Calibri"/>
                          <a:cs typeface="Calibri"/>
                        </a:rPr>
                        <a:t>2</a:t>
                      </a:r>
                      <a:endParaRPr sz="16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450"/>
                        </a:spcBef>
                      </a:pPr>
                      <a:r>
                        <a:rPr sz="1600" spc="-25" dirty="0">
                          <a:latin typeface="Calibri"/>
                          <a:cs typeface="Calibri"/>
                        </a:rPr>
                        <a:t>$12</a:t>
                      </a:r>
                      <a:endParaRPr sz="16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414745">
                <a:tc>
                  <a:txBody>
                    <a:bodyPr/>
                    <a:lstStyle/>
                    <a:p>
                      <a:pPr marL="635" algn="ctr">
                        <a:lnSpc>
                          <a:spcPct val="100000"/>
                        </a:lnSpc>
                        <a:spcBef>
                          <a:spcPts val="345"/>
                        </a:spcBef>
                      </a:pPr>
                      <a:r>
                        <a:rPr sz="1600" spc="-50" dirty="0">
                          <a:latin typeface="Arial MT"/>
                          <a:cs typeface="Arial MT"/>
                        </a:rPr>
                        <a:t>3</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1600" spc="-10" dirty="0">
                          <a:latin typeface="Arial MT"/>
                          <a:cs typeface="Arial MT"/>
                        </a:rPr>
                        <a:t>1/2/2022</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45"/>
                        </a:spcBef>
                      </a:pPr>
                      <a:r>
                        <a:rPr sz="1600" dirty="0">
                          <a:latin typeface="Arial MT"/>
                          <a:cs typeface="Arial MT"/>
                        </a:rPr>
                        <a:t>Masala</a:t>
                      </a:r>
                      <a:r>
                        <a:rPr sz="1600" spc="-35" dirty="0">
                          <a:latin typeface="Arial MT"/>
                          <a:cs typeface="Arial MT"/>
                        </a:rPr>
                        <a:t> </a:t>
                      </a:r>
                      <a:r>
                        <a:rPr sz="1600" spc="-10" dirty="0">
                          <a:latin typeface="Arial MT"/>
                          <a:cs typeface="Arial MT"/>
                        </a:rPr>
                        <a:t>Powder</a:t>
                      </a:r>
                      <a:endParaRPr sz="1600" dirty="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20"/>
                        </a:spcBef>
                      </a:pPr>
                      <a:r>
                        <a:rPr sz="1600" spc="-10" dirty="0">
                          <a:latin typeface="Calibri"/>
                          <a:cs typeface="Calibri"/>
                        </a:rPr>
                        <a:t>Herbs</a:t>
                      </a:r>
                      <a:endParaRPr sz="16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20"/>
                        </a:spcBef>
                      </a:pPr>
                      <a:r>
                        <a:rPr sz="1600" spc="-50" dirty="0">
                          <a:latin typeface="Calibri"/>
                          <a:cs typeface="Calibri"/>
                        </a:rPr>
                        <a:t>5</a:t>
                      </a:r>
                      <a:endParaRPr sz="16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320"/>
                        </a:spcBef>
                      </a:pPr>
                      <a:r>
                        <a:rPr sz="1600" spc="-25" dirty="0">
                          <a:latin typeface="Calibri"/>
                          <a:cs typeface="Calibri"/>
                        </a:rPr>
                        <a:t>$93</a:t>
                      </a:r>
                      <a:endParaRPr sz="16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483869">
                <a:tc>
                  <a:txBody>
                    <a:bodyPr/>
                    <a:lstStyle/>
                    <a:p>
                      <a:pPr marL="635" algn="ctr">
                        <a:lnSpc>
                          <a:spcPct val="100000"/>
                        </a:lnSpc>
                        <a:spcBef>
                          <a:spcPts val="475"/>
                        </a:spcBef>
                      </a:pPr>
                      <a:r>
                        <a:rPr sz="1600" spc="-50" dirty="0">
                          <a:latin typeface="Arial MT"/>
                          <a:cs typeface="Arial MT"/>
                        </a:rPr>
                        <a:t>4</a:t>
                      </a:r>
                      <a:endParaRPr sz="16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75"/>
                        </a:spcBef>
                      </a:pPr>
                      <a:r>
                        <a:rPr sz="1600" spc="-10" dirty="0">
                          <a:latin typeface="Arial MT"/>
                          <a:cs typeface="Arial MT"/>
                        </a:rPr>
                        <a:t>1/2/2022</a:t>
                      </a:r>
                      <a:endParaRPr sz="16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4310" marR="52705" indent="-132715">
                        <a:lnSpc>
                          <a:spcPts val="830"/>
                        </a:lnSpc>
                      </a:pPr>
                      <a:endParaRPr lang="en-IN" sz="1600" dirty="0">
                        <a:latin typeface="Arial MT"/>
                        <a:cs typeface="Arial MT"/>
                      </a:endParaRPr>
                    </a:p>
                    <a:p>
                      <a:pPr marL="194310" marR="52705" indent="-132715">
                        <a:lnSpc>
                          <a:spcPts val="830"/>
                        </a:lnSpc>
                      </a:pPr>
                      <a:r>
                        <a:rPr sz="1600" dirty="0">
                          <a:latin typeface="Arial MT"/>
                          <a:cs typeface="Arial MT"/>
                        </a:rPr>
                        <a:t>Cheese</a:t>
                      </a:r>
                      <a:r>
                        <a:rPr sz="1600" spc="-25" dirty="0">
                          <a:latin typeface="Arial MT"/>
                          <a:cs typeface="Arial MT"/>
                        </a:rPr>
                        <a:t> </a:t>
                      </a:r>
                      <a:r>
                        <a:rPr sz="1600" spc="-10" dirty="0">
                          <a:latin typeface="Arial MT"/>
                          <a:cs typeface="Arial MT"/>
                        </a:rPr>
                        <a:t>Cracker</a:t>
                      </a:r>
                      <a:endParaRPr lang="en-IN" sz="1600" spc="-10" dirty="0">
                        <a:latin typeface="Arial MT"/>
                        <a:cs typeface="Arial MT"/>
                      </a:endParaRPr>
                    </a:p>
                    <a:p>
                      <a:pPr marL="194310" marR="52705" indent="-132715">
                        <a:lnSpc>
                          <a:spcPts val="830"/>
                        </a:lnSpc>
                      </a:pPr>
                      <a:endParaRPr lang="en-IN" sz="1600" spc="-10" dirty="0">
                        <a:latin typeface="Arial MT"/>
                        <a:cs typeface="Arial MT"/>
                      </a:endParaRPr>
                    </a:p>
                    <a:p>
                      <a:pPr marL="194310" marR="52705" indent="-132715">
                        <a:lnSpc>
                          <a:spcPts val="830"/>
                        </a:lnSpc>
                      </a:pPr>
                      <a:r>
                        <a:rPr sz="1600" spc="-10" dirty="0">
                          <a:latin typeface="Arial MT"/>
                          <a:cs typeface="Arial MT"/>
                        </a:rPr>
                        <a:t>(Mcvities)</a:t>
                      </a:r>
                      <a:endParaRPr sz="16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450"/>
                        </a:spcBef>
                      </a:pPr>
                      <a:r>
                        <a:rPr sz="1600" spc="-10" dirty="0">
                          <a:latin typeface="Calibri"/>
                          <a:cs typeface="Calibri"/>
                        </a:rPr>
                        <a:t>Snacks</a:t>
                      </a:r>
                      <a:endParaRPr sz="16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50"/>
                        </a:spcBef>
                      </a:pPr>
                      <a:r>
                        <a:rPr sz="1600" spc="-50" dirty="0">
                          <a:latin typeface="Calibri"/>
                          <a:cs typeface="Calibri"/>
                        </a:rPr>
                        <a:t>1</a:t>
                      </a:r>
                      <a:endParaRPr sz="16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450"/>
                        </a:spcBef>
                      </a:pPr>
                      <a:r>
                        <a:rPr sz="1600" spc="-25" dirty="0">
                          <a:latin typeface="Calibri"/>
                          <a:cs typeface="Calibri"/>
                        </a:rPr>
                        <a:t>$23</a:t>
                      </a:r>
                      <a:endParaRPr sz="16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485252">
                <a:tc>
                  <a:txBody>
                    <a:bodyPr/>
                    <a:lstStyle/>
                    <a:p>
                      <a:pPr marL="635" algn="ctr">
                        <a:lnSpc>
                          <a:spcPct val="100000"/>
                        </a:lnSpc>
                        <a:spcBef>
                          <a:spcPts val="475"/>
                        </a:spcBef>
                      </a:pPr>
                      <a:r>
                        <a:rPr sz="1600" spc="-50" dirty="0">
                          <a:latin typeface="Arial MT"/>
                          <a:cs typeface="Arial MT"/>
                        </a:rPr>
                        <a:t>5</a:t>
                      </a:r>
                      <a:endParaRPr sz="16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75"/>
                        </a:spcBef>
                      </a:pPr>
                      <a:r>
                        <a:rPr sz="1600" spc="-10" dirty="0">
                          <a:latin typeface="Arial MT"/>
                          <a:cs typeface="Arial MT"/>
                        </a:rPr>
                        <a:t>1/2/2022</a:t>
                      </a:r>
                      <a:endParaRPr sz="16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6040" marR="56515" indent="63500">
                        <a:lnSpc>
                          <a:spcPts val="830"/>
                        </a:lnSpc>
                      </a:pPr>
                      <a:endParaRPr lang="en-IN" sz="1600" dirty="0">
                        <a:latin typeface="Arial MT"/>
                        <a:cs typeface="Arial MT"/>
                      </a:endParaRPr>
                    </a:p>
                    <a:p>
                      <a:pPr marL="66040" marR="56515" indent="63500">
                        <a:lnSpc>
                          <a:spcPts val="830"/>
                        </a:lnSpc>
                      </a:pPr>
                      <a:r>
                        <a:rPr sz="1600" dirty="0">
                          <a:latin typeface="Arial MT"/>
                          <a:cs typeface="Arial MT"/>
                        </a:rPr>
                        <a:t>Centre</a:t>
                      </a:r>
                      <a:r>
                        <a:rPr sz="1600" spc="-15" dirty="0">
                          <a:latin typeface="Arial MT"/>
                          <a:cs typeface="Arial MT"/>
                        </a:rPr>
                        <a:t> </a:t>
                      </a:r>
                      <a:r>
                        <a:rPr sz="1600" spc="-10" dirty="0">
                          <a:latin typeface="Arial MT"/>
                          <a:cs typeface="Arial MT"/>
                        </a:rPr>
                        <a:t>Filled</a:t>
                      </a:r>
                      <a:endParaRPr lang="en-IN" sz="1600" spc="-10" dirty="0">
                        <a:latin typeface="Arial MT"/>
                        <a:cs typeface="Arial MT"/>
                      </a:endParaRPr>
                    </a:p>
                    <a:p>
                      <a:pPr marL="66040" marR="56515" indent="63500">
                        <a:lnSpc>
                          <a:spcPts val="830"/>
                        </a:lnSpc>
                      </a:pPr>
                      <a:endParaRPr lang="en-IN" sz="1600" spc="-10" dirty="0">
                        <a:latin typeface="Arial MT"/>
                        <a:cs typeface="Arial MT"/>
                      </a:endParaRPr>
                    </a:p>
                    <a:p>
                      <a:pPr marL="66040" marR="56515" indent="63500">
                        <a:lnSpc>
                          <a:spcPts val="830"/>
                        </a:lnSpc>
                      </a:pPr>
                      <a:r>
                        <a:rPr sz="1600" dirty="0">
                          <a:latin typeface="Arial MT"/>
                          <a:cs typeface="Arial MT"/>
                        </a:rPr>
                        <a:t>Chocolate</a:t>
                      </a:r>
                      <a:r>
                        <a:rPr sz="1600" spc="-35" dirty="0">
                          <a:latin typeface="Arial MT"/>
                          <a:cs typeface="Arial MT"/>
                        </a:rPr>
                        <a:t> </a:t>
                      </a:r>
                      <a:r>
                        <a:rPr sz="1600" spc="-20" dirty="0">
                          <a:latin typeface="Arial MT"/>
                          <a:cs typeface="Arial MT"/>
                        </a:rPr>
                        <a:t>Cake</a:t>
                      </a:r>
                      <a:endParaRPr sz="16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450"/>
                        </a:spcBef>
                      </a:pPr>
                      <a:r>
                        <a:rPr sz="1600" spc="-10" dirty="0">
                          <a:latin typeface="Calibri"/>
                          <a:cs typeface="Calibri"/>
                        </a:rPr>
                        <a:t>Snacks</a:t>
                      </a:r>
                      <a:endParaRPr sz="16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50"/>
                        </a:spcBef>
                      </a:pPr>
                      <a:r>
                        <a:rPr sz="1600" spc="-50" dirty="0">
                          <a:latin typeface="Calibri"/>
                          <a:cs typeface="Calibri"/>
                        </a:rPr>
                        <a:t>5</a:t>
                      </a:r>
                      <a:endParaRPr sz="16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450"/>
                        </a:spcBef>
                      </a:pPr>
                      <a:r>
                        <a:rPr sz="1600" spc="-25" dirty="0">
                          <a:latin typeface="Calibri"/>
                          <a:cs typeface="Calibri"/>
                        </a:rPr>
                        <a:t>$21</a:t>
                      </a:r>
                      <a:endParaRPr sz="16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356525" y="1854200"/>
            <a:ext cx="5648960" cy="124051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Goal:</a:t>
            </a:r>
            <a:r>
              <a:rPr sz="2400" b="1" spc="-27" dirty="0">
                <a:solidFill>
                  <a:srgbClr val="D9D9D9"/>
                </a:solidFill>
                <a:latin typeface="Calibri"/>
                <a:cs typeface="Calibri"/>
              </a:rPr>
              <a:t> </a:t>
            </a:r>
            <a:r>
              <a:rPr sz="2400" b="1" dirty="0">
                <a:solidFill>
                  <a:srgbClr val="D9D9D9"/>
                </a:solidFill>
                <a:latin typeface="Calibri"/>
                <a:cs typeface="Calibri"/>
              </a:rPr>
              <a:t>Fast</a:t>
            </a:r>
            <a:r>
              <a:rPr sz="2400" b="1" spc="7" dirty="0">
                <a:solidFill>
                  <a:srgbClr val="D9D9D9"/>
                </a:solidFill>
                <a:latin typeface="Calibri"/>
                <a:cs typeface="Calibri"/>
              </a:rPr>
              <a:t> </a:t>
            </a:r>
            <a:r>
              <a:rPr sz="2400" b="1" dirty="0">
                <a:solidFill>
                  <a:srgbClr val="D9D9D9"/>
                </a:solidFill>
                <a:latin typeface="Calibri"/>
                <a:cs typeface="Calibri"/>
              </a:rPr>
              <a:t>data</a:t>
            </a:r>
            <a:r>
              <a:rPr sz="2400" b="1" spc="7" dirty="0">
                <a:solidFill>
                  <a:srgbClr val="D9D9D9"/>
                </a:solidFill>
                <a:latin typeface="Calibri"/>
                <a:cs typeface="Calibri"/>
              </a:rPr>
              <a:t> </a:t>
            </a:r>
            <a:r>
              <a:rPr sz="2400" b="1" spc="-13" dirty="0">
                <a:solidFill>
                  <a:srgbClr val="D9D9D9"/>
                </a:solidFill>
                <a:latin typeface="Calibri"/>
                <a:cs typeface="Calibri"/>
              </a:rPr>
              <a:t>retrieval</a:t>
            </a:r>
            <a:endParaRPr sz="2400">
              <a:latin typeface="Calibri"/>
              <a:cs typeface="Calibri"/>
            </a:endParaRPr>
          </a:p>
          <a:p>
            <a:pPr>
              <a:spcBef>
                <a:spcPts val="940"/>
              </a:spcBef>
              <a:buClr>
                <a:srgbClr val="99D3FF"/>
              </a:buClr>
              <a:buFont typeface="Wingdings"/>
              <a:buChar char=""/>
            </a:pPr>
            <a:endParaRPr sz="2400">
              <a:latin typeface="Calibri"/>
              <a:cs typeface="Calibri"/>
            </a:endParaRPr>
          </a:p>
          <a:p>
            <a:pPr marL="397923" indent="-380990">
              <a:buClr>
                <a:srgbClr val="99D3FF"/>
              </a:buClr>
              <a:buFont typeface="Wingdings"/>
              <a:buChar char=""/>
              <a:tabLst>
                <a:tab pos="397923" algn="l"/>
              </a:tabLst>
            </a:pPr>
            <a:r>
              <a:rPr sz="2400" b="1" dirty="0">
                <a:solidFill>
                  <a:srgbClr val="D9D9D9"/>
                </a:solidFill>
                <a:latin typeface="Calibri"/>
                <a:cs typeface="Calibri"/>
              </a:rPr>
              <a:t>Oriented</a:t>
            </a:r>
            <a:r>
              <a:rPr sz="2400" b="1" spc="-80" dirty="0">
                <a:solidFill>
                  <a:srgbClr val="D9D9D9"/>
                </a:solidFill>
                <a:latin typeface="Calibri"/>
                <a:cs typeface="Calibri"/>
              </a:rPr>
              <a:t> </a:t>
            </a:r>
            <a:r>
              <a:rPr sz="2400" b="1" dirty="0">
                <a:solidFill>
                  <a:srgbClr val="D9D9D9"/>
                </a:solidFill>
                <a:latin typeface="Calibri"/>
                <a:cs typeface="Calibri"/>
              </a:rPr>
              <a:t>around</a:t>
            </a:r>
            <a:r>
              <a:rPr sz="2400" b="1" spc="-47" dirty="0">
                <a:solidFill>
                  <a:srgbClr val="D9D9D9"/>
                </a:solidFill>
                <a:latin typeface="Calibri"/>
                <a:cs typeface="Calibri"/>
              </a:rPr>
              <a:t> </a:t>
            </a:r>
            <a:r>
              <a:rPr sz="2400" b="1" dirty="0">
                <a:solidFill>
                  <a:srgbClr val="D9D9D9"/>
                </a:solidFill>
                <a:latin typeface="Calibri"/>
                <a:cs typeface="Calibri"/>
              </a:rPr>
              <a:t>performance</a:t>
            </a:r>
            <a:r>
              <a:rPr sz="2400" b="1" spc="-67" dirty="0">
                <a:solidFill>
                  <a:srgbClr val="D9D9D9"/>
                </a:solidFill>
                <a:latin typeface="Calibri"/>
                <a:cs typeface="Calibri"/>
              </a:rPr>
              <a:t> </a:t>
            </a:r>
            <a:r>
              <a:rPr sz="2400" b="1" dirty="0">
                <a:solidFill>
                  <a:srgbClr val="D9D9D9"/>
                </a:solidFill>
                <a:latin typeface="Calibri"/>
                <a:cs typeface="Calibri"/>
              </a:rPr>
              <a:t>&amp;</a:t>
            </a:r>
            <a:r>
              <a:rPr sz="2400" b="1" spc="-20" dirty="0">
                <a:solidFill>
                  <a:srgbClr val="D9D9D9"/>
                </a:solidFill>
                <a:latin typeface="Calibri"/>
                <a:cs typeface="Calibri"/>
              </a:rPr>
              <a:t> </a:t>
            </a:r>
            <a:r>
              <a:rPr sz="2400" b="1" spc="-13" dirty="0">
                <a:solidFill>
                  <a:srgbClr val="D9D9D9"/>
                </a:solidFill>
                <a:latin typeface="Calibri"/>
                <a:cs typeface="Calibri"/>
              </a:rPr>
              <a:t>usability</a:t>
            </a:r>
            <a:endParaRPr sz="2400">
              <a:latin typeface="Calibri"/>
              <a:cs typeface="Calibri"/>
            </a:endParaRPr>
          </a:p>
        </p:txBody>
      </p:sp>
      <p:sp>
        <p:nvSpPr>
          <p:cNvPr id="3" name="object 3"/>
          <p:cNvSpPr txBox="1">
            <a:spLocks noGrp="1"/>
          </p:cNvSpPr>
          <p:nvPr>
            <p:ph type="title"/>
          </p:nvPr>
        </p:nvSpPr>
        <p:spPr>
          <a:xfrm>
            <a:off x="2089486" y="198062"/>
            <a:ext cx="8563113" cy="695062"/>
          </a:xfrm>
          <a:prstGeom prst="rect">
            <a:avLst/>
          </a:prstGeom>
        </p:spPr>
        <p:txBody>
          <a:bodyPr vert="horz" wrap="square" lIns="0" tIns="17780" rIns="0" bIns="0" rtlCol="0" anchor="ctr">
            <a:spAutoFit/>
          </a:bodyPr>
          <a:lstStyle/>
          <a:p>
            <a:pPr marL="1239489">
              <a:lnSpc>
                <a:spcPct val="100000"/>
              </a:lnSpc>
              <a:spcBef>
                <a:spcPts val="140"/>
              </a:spcBef>
            </a:pPr>
            <a:r>
              <a:rPr dirty="0">
                <a:solidFill>
                  <a:schemeClr val="bg1"/>
                </a:solidFill>
                <a:latin typeface="+mn-lt"/>
              </a:rPr>
              <a:t>Dimensional</a:t>
            </a:r>
            <a:r>
              <a:rPr spc="-152" dirty="0">
                <a:solidFill>
                  <a:schemeClr val="bg1"/>
                </a:solidFill>
                <a:latin typeface="+mn-lt"/>
              </a:rPr>
              <a:t> </a:t>
            </a:r>
            <a:r>
              <a:rPr spc="-13" dirty="0">
                <a:solidFill>
                  <a:schemeClr val="bg1"/>
                </a:solidFill>
                <a:latin typeface="+mn-lt"/>
              </a:rPr>
              <a:t>modeling</a:t>
            </a:r>
          </a:p>
        </p:txBody>
      </p:sp>
      <p:graphicFrame>
        <p:nvGraphicFramePr>
          <p:cNvPr id="4" name="object 4"/>
          <p:cNvGraphicFramePr>
            <a:graphicFrameLocks noGrp="1"/>
          </p:cNvGraphicFramePr>
          <p:nvPr>
            <p:extLst>
              <p:ext uri="{D42A27DB-BD31-4B8C-83A1-F6EECF244321}">
                <p14:modId xmlns:p14="http://schemas.microsoft.com/office/powerpoint/2010/main" val="292183672"/>
              </p:ext>
            </p:extLst>
          </p:nvPr>
        </p:nvGraphicFramePr>
        <p:xfrm>
          <a:off x="2186610" y="3429000"/>
          <a:ext cx="7345015" cy="2653746"/>
        </p:xfrm>
        <a:graphic>
          <a:graphicData uri="http://schemas.openxmlformats.org/drawingml/2006/table">
            <a:tbl>
              <a:tblPr firstRow="1" bandRow="1">
                <a:tableStyleId>{2D5ABB26-0587-4C30-8999-92F81FD0307C}</a:tableStyleId>
              </a:tblPr>
              <a:tblGrid>
                <a:gridCol w="258186">
                  <a:extLst>
                    <a:ext uri="{9D8B030D-6E8A-4147-A177-3AD203B41FA5}">
                      <a16:colId xmlns:a16="http://schemas.microsoft.com/office/drawing/2014/main" val="20000"/>
                    </a:ext>
                  </a:extLst>
                </a:gridCol>
                <a:gridCol w="901235">
                  <a:extLst>
                    <a:ext uri="{9D8B030D-6E8A-4147-A177-3AD203B41FA5}">
                      <a16:colId xmlns:a16="http://schemas.microsoft.com/office/drawing/2014/main" val="20001"/>
                    </a:ext>
                  </a:extLst>
                </a:gridCol>
                <a:gridCol w="1941586">
                  <a:extLst>
                    <a:ext uri="{9D8B030D-6E8A-4147-A177-3AD203B41FA5}">
                      <a16:colId xmlns:a16="http://schemas.microsoft.com/office/drawing/2014/main" val="20002"/>
                    </a:ext>
                  </a:extLst>
                </a:gridCol>
                <a:gridCol w="1053548">
                  <a:extLst>
                    <a:ext uri="{9D8B030D-6E8A-4147-A177-3AD203B41FA5}">
                      <a16:colId xmlns:a16="http://schemas.microsoft.com/office/drawing/2014/main" val="20003"/>
                    </a:ext>
                  </a:extLst>
                </a:gridCol>
                <a:gridCol w="1560444">
                  <a:extLst>
                    <a:ext uri="{9D8B030D-6E8A-4147-A177-3AD203B41FA5}">
                      <a16:colId xmlns:a16="http://schemas.microsoft.com/office/drawing/2014/main" val="20004"/>
                    </a:ext>
                  </a:extLst>
                </a:gridCol>
                <a:gridCol w="1630016">
                  <a:extLst>
                    <a:ext uri="{9D8B030D-6E8A-4147-A177-3AD203B41FA5}">
                      <a16:colId xmlns:a16="http://schemas.microsoft.com/office/drawing/2014/main" val="20005"/>
                    </a:ext>
                  </a:extLst>
                </a:gridCol>
              </a:tblGrid>
              <a:tr h="397664">
                <a:tc>
                  <a:txBody>
                    <a:bodyPr/>
                    <a:lstStyle/>
                    <a:p>
                      <a:pPr algn="ctr">
                        <a:lnSpc>
                          <a:spcPct val="100000"/>
                        </a:lnSpc>
                        <a:spcBef>
                          <a:spcPts val="135"/>
                        </a:spcBef>
                      </a:pPr>
                      <a:r>
                        <a:rPr sz="1600" spc="-25" dirty="0">
                          <a:latin typeface="Arial MT"/>
                          <a:cs typeface="Arial MT"/>
                        </a:rPr>
                        <a:t>id</a:t>
                      </a:r>
                      <a:endParaRPr sz="16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135"/>
                        </a:spcBef>
                      </a:pPr>
                      <a:r>
                        <a:rPr sz="1600" spc="-20" dirty="0">
                          <a:latin typeface="Arial MT"/>
                          <a:cs typeface="Arial MT"/>
                        </a:rPr>
                        <a:t>date</a:t>
                      </a:r>
                      <a:endParaRPr sz="16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135"/>
                        </a:spcBef>
                      </a:pPr>
                      <a:r>
                        <a:rPr sz="1600" spc="-10" dirty="0">
                          <a:latin typeface="Arial MT"/>
                          <a:cs typeface="Arial MT"/>
                        </a:rPr>
                        <a:t>product</a:t>
                      </a:r>
                      <a:endParaRPr sz="16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tc>
                  <a:txBody>
                    <a:bodyPr/>
                    <a:lstStyle/>
                    <a:p>
                      <a:pPr marL="3810" algn="ctr">
                        <a:lnSpc>
                          <a:spcPct val="100000"/>
                        </a:lnSpc>
                        <a:spcBef>
                          <a:spcPts val="135"/>
                        </a:spcBef>
                      </a:pPr>
                      <a:r>
                        <a:rPr sz="1600" spc="-10" dirty="0">
                          <a:latin typeface="Arial MT"/>
                          <a:cs typeface="Arial MT"/>
                        </a:rPr>
                        <a:t>category</a:t>
                      </a:r>
                      <a:endParaRPr sz="16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tc>
                  <a:txBody>
                    <a:bodyPr/>
                    <a:lstStyle/>
                    <a:p>
                      <a:pPr marL="1905" algn="ctr">
                        <a:lnSpc>
                          <a:spcPct val="100000"/>
                        </a:lnSpc>
                        <a:spcBef>
                          <a:spcPts val="135"/>
                        </a:spcBef>
                      </a:pPr>
                      <a:r>
                        <a:rPr sz="1600" spc="-10" dirty="0">
                          <a:latin typeface="Arial MT"/>
                          <a:cs typeface="Arial MT"/>
                        </a:rPr>
                        <a:t>customer_id</a:t>
                      </a:r>
                      <a:endParaRPr sz="16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135"/>
                        </a:spcBef>
                      </a:pPr>
                      <a:r>
                        <a:rPr sz="1600" spc="-10" dirty="0">
                          <a:latin typeface="Arial MT"/>
                          <a:cs typeface="Arial MT"/>
                        </a:rPr>
                        <a:t>profit</a:t>
                      </a:r>
                      <a:endParaRPr sz="16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0"/>
                  </a:ext>
                </a:extLst>
              </a:tr>
              <a:tr h="465267">
                <a:tc>
                  <a:txBody>
                    <a:bodyPr/>
                    <a:lstStyle/>
                    <a:p>
                      <a:pPr marL="635" algn="ctr">
                        <a:lnSpc>
                          <a:spcPct val="100000"/>
                        </a:lnSpc>
                        <a:spcBef>
                          <a:spcPts val="475"/>
                        </a:spcBef>
                      </a:pPr>
                      <a:r>
                        <a:rPr sz="1600" spc="-50" dirty="0">
                          <a:latin typeface="Arial MT"/>
                          <a:cs typeface="Arial MT"/>
                        </a:rPr>
                        <a:t>1</a:t>
                      </a:r>
                      <a:endParaRPr sz="16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75"/>
                        </a:spcBef>
                      </a:pPr>
                      <a:r>
                        <a:rPr sz="1600" spc="-10" dirty="0">
                          <a:latin typeface="Arial MT"/>
                          <a:cs typeface="Arial MT"/>
                        </a:rPr>
                        <a:t>1/2/2022</a:t>
                      </a:r>
                      <a:endParaRPr sz="16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30504" marR="82550" indent="-135890">
                        <a:lnSpc>
                          <a:spcPts val="830"/>
                        </a:lnSpc>
                      </a:pPr>
                      <a:endParaRPr lang="en-IN" sz="1600" dirty="0">
                        <a:latin typeface="Arial MT"/>
                        <a:cs typeface="Arial MT"/>
                      </a:endParaRPr>
                    </a:p>
                    <a:p>
                      <a:pPr marL="230504" marR="82550" indent="-135890">
                        <a:lnSpc>
                          <a:spcPts val="830"/>
                        </a:lnSpc>
                      </a:pPr>
                      <a:r>
                        <a:rPr sz="1600" dirty="0" err="1">
                          <a:latin typeface="Arial MT"/>
                          <a:cs typeface="Arial MT"/>
                        </a:rPr>
                        <a:t>Fulltoss</a:t>
                      </a:r>
                      <a:r>
                        <a:rPr sz="1600" spc="-25" dirty="0">
                          <a:latin typeface="Arial MT"/>
                          <a:cs typeface="Arial MT"/>
                        </a:rPr>
                        <a:t> </a:t>
                      </a:r>
                      <a:r>
                        <a:rPr sz="1600" spc="-10" dirty="0">
                          <a:latin typeface="Arial MT"/>
                          <a:cs typeface="Arial MT"/>
                        </a:rPr>
                        <a:t>Tangy</a:t>
                      </a:r>
                      <a:r>
                        <a:rPr sz="1600" spc="500" dirty="0">
                          <a:latin typeface="Arial MT"/>
                          <a:cs typeface="Arial MT"/>
                        </a:rPr>
                        <a:t> </a:t>
                      </a:r>
                      <a:endParaRPr lang="en-IN" sz="1600" spc="500" dirty="0">
                        <a:latin typeface="Arial MT"/>
                        <a:cs typeface="Arial MT"/>
                      </a:endParaRPr>
                    </a:p>
                    <a:p>
                      <a:pPr marL="230504" marR="82550" indent="-135890">
                        <a:lnSpc>
                          <a:spcPts val="830"/>
                        </a:lnSpc>
                      </a:pPr>
                      <a:endParaRPr lang="en-IN" sz="1600" spc="500" dirty="0">
                        <a:latin typeface="Arial MT"/>
                        <a:cs typeface="Arial MT"/>
                      </a:endParaRPr>
                    </a:p>
                    <a:p>
                      <a:pPr marL="230504" marR="82550" indent="-135890">
                        <a:lnSpc>
                          <a:spcPts val="830"/>
                        </a:lnSpc>
                      </a:pPr>
                      <a:r>
                        <a:rPr sz="1600" spc="-10" dirty="0">
                          <a:latin typeface="Arial MT"/>
                          <a:cs typeface="Arial MT"/>
                        </a:rPr>
                        <a:t>Tomato</a:t>
                      </a:r>
                      <a:endParaRPr sz="16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tc>
                  <a:txBody>
                    <a:bodyPr/>
                    <a:lstStyle/>
                    <a:p>
                      <a:pPr marL="1270" algn="ctr">
                        <a:lnSpc>
                          <a:spcPct val="100000"/>
                        </a:lnSpc>
                        <a:spcBef>
                          <a:spcPts val="450"/>
                        </a:spcBef>
                      </a:pPr>
                      <a:r>
                        <a:rPr sz="1600" spc="-10" dirty="0">
                          <a:latin typeface="Calibri"/>
                          <a:cs typeface="Calibri"/>
                        </a:rPr>
                        <a:t>Vegetables</a:t>
                      </a:r>
                      <a:endParaRPr sz="16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tc>
                  <a:txBody>
                    <a:bodyPr/>
                    <a:lstStyle/>
                    <a:p>
                      <a:pPr marL="1270" algn="ctr">
                        <a:lnSpc>
                          <a:spcPct val="100000"/>
                        </a:lnSpc>
                        <a:spcBef>
                          <a:spcPts val="450"/>
                        </a:spcBef>
                      </a:pPr>
                      <a:r>
                        <a:rPr sz="1600" spc="-50" dirty="0">
                          <a:latin typeface="Calibri"/>
                          <a:cs typeface="Calibri"/>
                        </a:rPr>
                        <a:t>2</a:t>
                      </a:r>
                      <a:endParaRPr sz="16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450"/>
                        </a:spcBef>
                      </a:pPr>
                      <a:r>
                        <a:rPr sz="1600" spc="-25" dirty="0">
                          <a:latin typeface="Calibri"/>
                          <a:cs typeface="Calibri"/>
                        </a:rPr>
                        <a:t>$23</a:t>
                      </a:r>
                      <a:endParaRPr sz="16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463942">
                <a:tc>
                  <a:txBody>
                    <a:bodyPr/>
                    <a:lstStyle/>
                    <a:p>
                      <a:pPr marL="635" algn="ctr">
                        <a:lnSpc>
                          <a:spcPct val="100000"/>
                        </a:lnSpc>
                        <a:spcBef>
                          <a:spcPts val="470"/>
                        </a:spcBef>
                      </a:pPr>
                      <a:r>
                        <a:rPr sz="1600" spc="-50" dirty="0">
                          <a:latin typeface="Arial MT"/>
                          <a:cs typeface="Arial MT"/>
                        </a:rPr>
                        <a:t>2</a:t>
                      </a:r>
                      <a:endParaRPr sz="16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70"/>
                        </a:spcBef>
                      </a:pPr>
                      <a:r>
                        <a:rPr sz="1600" spc="-10" dirty="0">
                          <a:latin typeface="Arial MT"/>
                          <a:cs typeface="Arial MT"/>
                        </a:rPr>
                        <a:t>1/2/2022</a:t>
                      </a:r>
                      <a:endParaRPr sz="1600">
                        <a:latin typeface="Arial MT"/>
                        <a:cs typeface="Arial MT"/>
                      </a:endParaRPr>
                    </a:p>
                  </a:txBody>
                  <a:tcPr marL="0" marR="0" marT="795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0" marR="8890" indent="92710">
                        <a:lnSpc>
                          <a:spcPts val="830"/>
                        </a:lnSpc>
                      </a:pPr>
                      <a:endParaRPr lang="en-IN" sz="1600" dirty="0">
                        <a:latin typeface="Arial MT"/>
                        <a:cs typeface="Arial MT"/>
                      </a:endParaRPr>
                    </a:p>
                    <a:p>
                      <a:pPr marL="19050" marR="8890" indent="92710">
                        <a:lnSpc>
                          <a:spcPts val="830"/>
                        </a:lnSpc>
                      </a:pPr>
                      <a:r>
                        <a:rPr sz="1600" dirty="0">
                          <a:latin typeface="Arial MT"/>
                          <a:cs typeface="Arial MT"/>
                        </a:rPr>
                        <a:t>Chilli</a:t>
                      </a:r>
                      <a:r>
                        <a:rPr sz="1600" spc="-20" dirty="0">
                          <a:latin typeface="Arial MT"/>
                          <a:cs typeface="Arial MT"/>
                        </a:rPr>
                        <a:t> </a:t>
                      </a:r>
                      <a:r>
                        <a:rPr sz="1600" dirty="0">
                          <a:latin typeface="Arial MT"/>
                          <a:cs typeface="Arial MT"/>
                        </a:rPr>
                        <a:t>- </a:t>
                      </a:r>
                      <a:r>
                        <a:rPr sz="1600" spc="-10" dirty="0">
                          <a:latin typeface="Arial MT"/>
                          <a:cs typeface="Arial MT"/>
                        </a:rPr>
                        <a:t>Green,</a:t>
                      </a:r>
                      <a:r>
                        <a:rPr sz="1600" spc="500" dirty="0">
                          <a:latin typeface="Arial MT"/>
                          <a:cs typeface="Arial MT"/>
                        </a:rPr>
                        <a:t> </a:t>
                      </a:r>
                      <a:endParaRPr lang="en-IN" sz="1600" spc="500" dirty="0">
                        <a:latin typeface="Arial MT"/>
                        <a:cs typeface="Arial MT"/>
                      </a:endParaRPr>
                    </a:p>
                    <a:p>
                      <a:pPr marL="19050" marR="8890" indent="92710">
                        <a:lnSpc>
                          <a:spcPts val="830"/>
                        </a:lnSpc>
                      </a:pPr>
                      <a:endParaRPr lang="en-IN" sz="1600" spc="500" dirty="0">
                        <a:latin typeface="Arial MT"/>
                        <a:cs typeface="Arial MT"/>
                      </a:endParaRPr>
                    </a:p>
                    <a:p>
                      <a:pPr marL="19050" marR="8890" indent="92710">
                        <a:lnSpc>
                          <a:spcPts val="830"/>
                        </a:lnSpc>
                      </a:pPr>
                      <a:r>
                        <a:rPr sz="1600" dirty="0">
                          <a:latin typeface="Arial MT"/>
                          <a:cs typeface="Arial MT"/>
                        </a:rPr>
                        <a:t>Organically</a:t>
                      </a:r>
                      <a:r>
                        <a:rPr sz="1600" spc="-35" dirty="0">
                          <a:latin typeface="Arial MT"/>
                          <a:cs typeface="Arial MT"/>
                        </a:rPr>
                        <a:t> </a:t>
                      </a:r>
                      <a:r>
                        <a:rPr sz="1600" spc="-10" dirty="0">
                          <a:latin typeface="Arial MT"/>
                          <a:cs typeface="Arial MT"/>
                        </a:rPr>
                        <a:t>Grown</a:t>
                      </a:r>
                      <a:endParaRPr sz="16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tc>
                  <a:txBody>
                    <a:bodyPr/>
                    <a:lstStyle/>
                    <a:p>
                      <a:pPr algn="ctr">
                        <a:lnSpc>
                          <a:spcPct val="100000"/>
                        </a:lnSpc>
                        <a:spcBef>
                          <a:spcPts val="450"/>
                        </a:spcBef>
                      </a:pPr>
                      <a:r>
                        <a:rPr sz="1600" spc="-10" dirty="0">
                          <a:latin typeface="Calibri"/>
                          <a:cs typeface="Calibri"/>
                        </a:rPr>
                        <a:t>Snacks</a:t>
                      </a:r>
                      <a:endParaRPr sz="16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tc>
                  <a:txBody>
                    <a:bodyPr/>
                    <a:lstStyle/>
                    <a:p>
                      <a:pPr marL="1270" algn="ctr">
                        <a:lnSpc>
                          <a:spcPct val="100000"/>
                        </a:lnSpc>
                        <a:spcBef>
                          <a:spcPts val="450"/>
                        </a:spcBef>
                      </a:pPr>
                      <a:r>
                        <a:rPr sz="1600" spc="-50" dirty="0">
                          <a:latin typeface="Calibri"/>
                          <a:cs typeface="Calibri"/>
                        </a:rPr>
                        <a:t>2</a:t>
                      </a:r>
                      <a:endParaRPr sz="16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450"/>
                        </a:spcBef>
                      </a:pPr>
                      <a:r>
                        <a:rPr sz="1600" spc="-25" dirty="0">
                          <a:latin typeface="Calibri"/>
                          <a:cs typeface="Calibri"/>
                        </a:rPr>
                        <a:t>$12</a:t>
                      </a:r>
                      <a:endParaRPr sz="16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397664">
                <a:tc>
                  <a:txBody>
                    <a:bodyPr/>
                    <a:lstStyle/>
                    <a:p>
                      <a:pPr marL="635" algn="ctr">
                        <a:lnSpc>
                          <a:spcPct val="100000"/>
                        </a:lnSpc>
                        <a:spcBef>
                          <a:spcPts val="345"/>
                        </a:spcBef>
                      </a:pPr>
                      <a:r>
                        <a:rPr sz="1600" spc="-50" dirty="0">
                          <a:latin typeface="Arial MT"/>
                          <a:cs typeface="Arial MT"/>
                        </a:rPr>
                        <a:t>3</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1600" spc="-10" dirty="0">
                          <a:latin typeface="Arial MT"/>
                          <a:cs typeface="Arial MT"/>
                        </a:rPr>
                        <a:t>1/2/2022</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45"/>
                        </a:spcBef>
                      </a:pPr>
                      <a:r>
                        <a:rPr sz="1600" dirty="0">
                          <a:latin typeface="Arial MT"/>
                          <a:cs typeface="Arial MT"/>
                        </a:rPr>
                        <a:t>Masala</a:t>
                      </a:r>
                      <a:r>
                        <a:rPr sz="1600" spc="-35" dirty="0">
                          <a:latin typeface="Arial MT"/>
                          <a:cs typeface="Arial MT"/>
                        </a:rPr>
                        <a:t> </a:t>
                      </a:r>
                      <a:r>
                        <a:rPr sz="1600" spc="-10" dirty="0">
                          <a:latin typeface="Arial MT"/>
                          <a:cs typeface="Arial MT"/>
                        </a:rPr>
                        <a:t>Powder</a:t>
                      </a:r>
                      <a:endParaRPr sz="1600" dirty="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tc>
                  <a:txBody>
                    <a:bodyPr/>
                    <a:lstStyle/>
                    <a:p>
                      <a:pPr marL="1270" algn="ctr">
                        <a:lnSpc>
                          <a:spcPct val="100000"/>
                        </a:lnSpc>
                        <a:spcBef>
                          <a:spcPts val="320"/>
                        </a:spcBef>
                      </a:pPr>
                      <a:r>
                        <a:rPr sz="1600" spc="-10" dirty="0">
                          <a:latin typeface="Calibri"/>
                          <a:cs typeface="Calibri"/>
                        </a:rPr>
                        <a:t>Herbs</a:t>
                      </a:r>
                      <a:endParaRPr sz="16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tc>
                  <a:txBody>
                    <a:bodyPr/>
                    <a:lstStyle/>
                    <a:p>
                      <a:pPr marL="1270" algn="ctr">
                        <a:lnSpc>
                          <a:spcPct val="100000"/>
                        </a:lnSpc>
                        <a:spcBef>
                          <a:spcPts val="320"/>
                        </a:spcBef>
                      </a:pPr>
                      <a:r>
                        <a:rPr sz="1600" spc="-50" dirty="0">
                          <a:latin typeface="Calibri"/>
                          <a:cs typeface="Calibri"/>
                        </a:rPr>
                        <a:t>5</a:t>
                      </a:r>
                      <a:endParaRPr sz="16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320"/>
                        </a:spcBef>
                      </a:pPr>
                      <a:r>
                        <a:rPr sz="1600" spc="-25" dirty="0">
                          <a:latin typeface="Calibri"/>
                          <a:cs typeface="Calibri"/>
                        </a:rPr>
                        <a:t>$93</a:t>
                      </a:r>
                      <a:endParaRPr sz="16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463942">
                <a:tc>
                  <a:txBody>
                    <a:bodyPr/>
                    <a:lstStyle/>
                    <a:p>
                      <a:pPr marL="635" algn="ctr">
                        <a:lnSpc>
                          <a:spcPct val="100000"/>
                        </a:lnSpc>
                        <a:spcBef>
                          <a:spcPts val="475"/>
                        </a:spcBef>
                      </a:pPr>
                      <a:r>
                        <a:rPr sz="1600" spc="-50" dirty="0">
                          <a:latin typeface="Arial MT"/>
                          <a:cs typeface="Arial MT"/>
                        </a:rPr>
                        <a:t>4</a:t>
                      </a:r>
                      <a:endParaRPr sz="16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75"/>
                        </a:spcBef>
                      </a:pPr>
                      <a:r>
                        <a:rPr sz="1600" spc="-10" dirty="0">
                          <a:latin typeface="Arial MT"/>
                          <a:cs typeface="Arial MT"/>
                        </a:rPr>
                        <a:t>1/2/2022</a:t>
                      </a:r>
                      <a:endParaRPr sz="1600" dirty="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4310" marR="52705" indent="-132715">
                        <a:lnSpc>
                          <a:spcPts val="830"/>
                        </a:lnSpc>
                      </a:pPr>
                      <a:endParaRPr lang="en-IN" sz="1600" dirty="0">
                        <a:latin typeface="Arial MT"/>
                        <a:cs typeface="Arial MT"/>
                      </a:endParaRPr>
                    </a:p>
                    <a:p>
                      <a:pPr marL="194310" marR="52705" indent="-132715">
                        <a:lnSpc>
                          <a:spcPts val="830"/>
                        </a:lnSpc>
                      </a:pPr>
                      <a:r>
                        <a:rPr sz="1600" dirty="0">
                          <a:latin typeface="Arial MT"/>
                          <a:cs typeface="Arial MT"/>
                        </a:rPr>
                        <a:t>Cheese</a:t>
                      </a:r>
                      <a:r>
                        <a:rPr sz="1600" spc="-25" dirty="0">
                          <a:latin typeface="Arial MT"/>
                          <a:cs typeface="Arial MT"/>
                        </a:rPr>
                        <a:t> </a:t>
                      </a:r>
                      <a:r>
                        <a:rPr sz="1600" spc="-10" dirty="0">
                          <a:latin typeface="Arial MT"/>
                          <a:cs typeface="Arial MT"/>
                        </a:rPr>
                        <a:t>Cracker</a:t>
                      </a:r>
                      <a:r>
                        <a:rPr sz="1600" spc="500" dirty="0">
                          <a:latin typeface="Arial MT"/>
                          <a:cs typeface="Arial MT"/>
                        </a:rPr>
                        <a:t> </a:t>
                      </a:r>
                      <a:endParaRPr lang="en-IN" sz="1600" spc="500" dirty="0">
                        <a:latin typeface="Arial MT"/>
                        <a:cs typeface="Arial MT"/>
                      </a:endParaRPr>
                    </a:p>
                    <a:p>
                      <a:pPr marL="194310" marR="52705" indent="-132715">
                        <a:lnSpc>
                          <a:spcPts val="830"/>
                        </a:lnSpc>
                      </a:pPr>
                      <a:endParaRPr lang="en-IN" sz="1600" spc="500" dirty="0">
                        <a:latin typeface="Arial MT"/>
                        <a:cs typeface="Arial MT"/>
                      </a:endParaRPr>
                    </a:p>
                    <a:p>
                      <a:pPr marL="194310" marR="52705" indent="-132715">
                        <a:lnSpc>
                          <a:spcPts val="830"/>
                        </a:lnSpc>
                      </a:pPr>
                      <a:r>
                        <a:rPr sz="1600" spc="-10" dirty="0">
                          <a:latin typeface="Arial MT"/>
                          <a:cs typeface="Arial MT"/>
                        </a:rPr>
                        <a:t>(Mcvities)</a:t>
                      </a:r>
                      <a:endParaRPr sz="16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tc>
                  <a:txBody>
                    <a:bodyPr/>
                    <a:lstStyle/>
                    <a:p>
                      <a:pPr algn="ctr">
                        <a:lnSpc>
                          <a:spcPct val="100000"/>
                        </a:lnSpc>
                        <a:spcBef>
                          <a:spcPts val="450"/>
                        </a:spcBef>
                      </a:pPr>
                      <a:r>
                        <a:rPr sz="1600" spc="-10" dirty="0">
                          <a:latin typeface="Calibri"/>
                          <a:cs typeface="Calibri"/>
                        </a:rPr>
                        <a:t>Snacks</a:t>
                      </a:r>
                      <a:endParaRPr sz="16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tc>
                  <a:txBody>
                    <a:bodyPr/>
                    <a:lstStyle/>
                    <a:p>
                      <a:pPr marL="1270" algn="ctr">
                        <a:lnSpc>
                          <a:spcPct val="100000"/>
                        </a:lnSpc>
                        <a:spcBef>
                          <a:spcPts val="450"/>
                        </a:spcBef>
                      </a:pPr>
                      <a:r>
                        <a:rPr sz="1600" spc="-50" dirty="0">
                          <a:latin typeface="Calibri"/>
                          <a:cs typeface="Calibri"/>
                        </a:rPr>
                        <a:t>1</a:t>
                      </a:r>
                      <a:endParaRPr sz="16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450"/>
                        </a:spcBef>
                      </a:pPr>
                      <a:r>
                        <a:rPr sz="1600" spc="-25" dirty="0">
                          <a:latin typeface="Calibri"/>
                          <a:cs typeface="Calibri"/>
                        </a:rPr>
                        <a:t>$23</a:t>
                      </a:r>
                      <a:endParaRPr sz="160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465267">
                <a:tc>
                  <a:txBody>
                    <a:bodyPr/>
                    <a:lstStyle/>
                    <a:p>
                      <a:pPr marL="635" algn="ctr">
                        <a:lnSpc>
                          <a:spcPct val="100000"/>
                        </a:lnSpc>
                        <a:spcBef>
                          <a:spcPts val="475"/>
                        </a:spcBef>
                      </a:pPr>
                      <a:r>
                        <a:rPr sz="1600" spc="-50" dirty="0">
                          <a:latin typeface="Arial MT"/>
                          <a:cs typeface="Arial MT"/>
                        </a:rPr>
                        <a:t>5</a:t>
                      </a:r>
                      <a:endParaRPr sz="16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475"/>
                        </a:spcBef>
                      </a:pPr>
                      <a:r>
                        <a:rPr sz="1600" spc="-10" dirty="0">
                          <a:latin typeface="Arial MT"/>
                          <a:cs typeface="Arial MT"/>
                        </a:rPr>
                        <a:t>1/2/2022</a:t>
                      </a:r>
                      <a:endParaRPr sz="1600">
                        <a:latin typeface="Arial MT"/>
                        <a:cs typeface="Arial MT"/>
                      </a:endParaRPr>
                    </a:p>
                  </a:txBody>
                  <a:tcPr marL="0" marR="0" marT="804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6040" marR="56515" indent="63500">
                        <a:lnSpc>
                          <a:spcPts val="830"/>
                        </a:lnSpc>
                      </a:pPr>
                      <a:endParaRPr lang="en-IN" sz="1600" dirty="0">
                        <a:latin typeface="Arial MT"/>
                        <a:cs typeface="Arial MT"/>
                      </a:endParaRPr>
                    </a:p>
                    <a:p>
                      <a:pPr marL="66040" marR="56515" indent="63500">
                        <a:lnSpc>
                          <a:spcPts val="830"/>
                        </a:lnSpc>
                      </a:pPr>
                      <a:r>
                        <a:rPr sz="1600" dirty="0">
                          <a:latin typeface="Arial MT"/>
                          <a:cs typeface="Arial MT"/>
                        </a:rPr>
                        <a:t>Centre</a:t>
                      </a:r>
                      <a:r>
                        <a:rPr sz="1600" spc="-15" dirty="0">
                          <a:latin typeface="Arial MT"/>
                          <a:cs typeface="Arial MT"/>
                        </a:rPr>
                        <a:t> </a:t>
                      </a:r>
                      <a:r>
                        <a:rPr sz="1600" spc="-10" dirty="0">
                          <a:latin typeface="Arial MT"/>
                          <a:cs typeface="Arial MT"/>
                        </a:rPr>
                        <a:t>Filled</a:t>
                      </a:r>
                      <a:r>
                        <a:rPr sz="1600" spc="500" dirty="0">
                          <a:latin typeface="Arial MT"/>
                          <a:cs typeface="Arial MT"/>
                        </a:rPr>
                        <a:t> </a:t>
                      </a:r>
                      <a:endParaRPr lang="en-IN" sz="1600" spc="500" dirty="0">
                        <a:latin typeface="Arial MT"/>
                        <a:cs typeface="Arial MT"/>
                      </a:endParaRPr>
                    </a:p>
                    <a:p>
                      <a:pPr marL="66040" marR="56515" indent="63500">
                        <a:lnSpc>
                          <a:spcPts val="830"/>
                        </a:lnSpc>
                      </a:pPr>
                      <a:endParaRPr lang="en-IN" sz="1600" spc="500" dirty="0">
                        <a:latin typeface="Arial MT"/>
                        <a:cs typeface="Arial MT"/>
                      </a:endParaRPr>
                    </a:p>
                    <a:p>
                      <a:pPr marL="66040" marR="56515" indent="63500">
                        <a:lnSpc>
                          <a:spcPts val="830"/>
                        </a:lnSpc>
                      </a:pPr>
                      <a:r>
                        <a:rPr sz="1600" dirty="0">
                          <a:latin typeface="Arial MT"/>
                          <a:cs typeface="Arial MT"/>
                        </a:rPr>
                        <a:t>Chocolate</a:t>
                      </a:r>
                      <a:r>
                        <a:rPr sz="1600" spc="-35" dirty="0">
                          <a:latin typeface="Arial MT"/>
                          <a:cs typeface="Arial MT"/>
                        </a:rPr>
                        <a:t> </a:t>
                      </a:r>
                      <a:r>
                        <a:rPr sz="1600" spc="-20" dirty="0">
                          <a:latin typeface="Arial MT"/>
                          <a:cs typeface="Arial MT"/>
                        </a:rPr>
                        <a:t>Cake</a:t>
                      </a:r>
                      <a:endParaRPr sz="1600" dirty="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tc>
                  <a:txBody>
                    <a:bodyPr/>
                    <a:lstStyle/>
                    <a:p>
                      <a:pPr algn="ctr">
                        <a:lnSpc>
                          <a:spcPct val="100000"/>
                        </a:lnSpc>
                        <a:spcBef>
                          <a:spcPts val="450"/>
                        </a:spcBef>
                      </a:pPr>
                      <a:r>
                        <a:rPr sz="1600" spc="-10" dirty="0">
                          <a:latin typeface="Calibri"/>
                          <a:cs typeface="Calibri"/>
                        </a:rPr>
                        <a:t>Snacks</a:t>
                      </a:r>
                      <a:endParaRPr sz="16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tc>
                  <a:txBody>
                    <a:bodyPr/>
                    <a:lstStyle/>
                    <a:p>
                      <a:pPr marL="1270" algn="ctr">
                        <a:lnSpc>
                          <a:spcPct val="100000"/>
                        </a:lnSpc>
                        <a:spcBef>
                          <a:spcPts val="450"/>
                        </a:spcBef>
                      </a:pPr>
                      <a:r>
                        <a:rPr sz="1600" spc="-50" dirty="0">
                          <a:latin typeface="Calibri"/>
                          <a:cs typeface="Calibri"/>
                        </a:rPr>
                        <a:t>5</a:t>
                      </a:r>
                      <a:endParaRPr sz="16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450"/>
                        </a:spcBef>
                      </a:pPr>
                      <a:r>
                        <a:rPr sz="1600" spc="-25" dirty="0">
                          <a:latin typeface="Calibri"/>
                          <a:cs typeface="Calibri"/>
                        </a:rPr>
                        <a:t>$21</a:t>
                      </a:r>
                      <a:endParaRPr sz="1600" dirty="0">
                        <a:latin typeface="Calibri"/>
                        <a:cs typeface="Calibri"/>
                      </a:endParaRPr>
                    </a:p>
                  </a:txBody>
                  <a:tcPr marL="0" marR="0" marT="762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356525" y="1854200"/>
            <a:ext cx="5648960" cy="124051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Goal:</a:t>
            </a:r>
            <a:r>
              <a:rPr sz="2400" b="1" spc="-27" dirty="0">
                <a:solidFill>
                  <a:srgbClr val="D9D9D9"/>
                </a:solidFill>
                <a:latin typeface="Calibri"/>
                <a:cs typeface="Calibri"/>
              </a:rPr>
              <a:t> </a:t>
            </a:r>
            <a:r>
              <a:rPr sz="2400" b="1" dirty="0">
                <a:solidFill>
                  <a:srgbClr val="D9D9D9"/>
                </a:solidFill>
                <a:latin typeface="Calibri"/>
                <a:cs typeface="Calibri"/>
              </a:rPr>
              <a:t>Fast</a:t>
            </a:r>
            <a:r>
              <a:rPr sz="2400" b="1" spc="7" dirty="0">
                <a:solidFill>
                  <a:srgbClr val="D9D9D9"/>
                </a:solidFill>
                <a:latin typeface="Calibri"/>
                <a:cs typeface="Calibri"/>
              </a:rPr>
              <a:t> </a:t>
            </a:r>
            <a:r>
              <a:rPr sz="2400" b="1" dirty="0">
                <a:solidFill>
                  <a:srgbClr val="D9D9D9"/>
                </a:solidFill>
                <a:latin typeface="Calibri"/>
                <a:cs typeface="Calibri"/>
              </a:rPr>
              <a:t>data</a:t>
            </a:r>
            <a:r>
              <a:rPr sz="2400" b="1" spc="7" dirty="0">
                <a:solidFill>
                  <a:srgbClr val="D9D9D9"/>
                </a:solidFill>
                <a:latin typeface="Calibri"/>
                <a:cs typeface="Calibri"/>
              </a:rPr>
              <a:t> </a:t>
            </a:r>
            <a:r>
              <a:rPr sz="2400" b="1" spc="-13" dirty="0">
                <a:solidFill>
                  <a:srgbClr val="D9D9D9"/>
                </a:solidFill>
                <a:latin typeface="Calibri"/>
                <a:cs typeface="Calibri"/>
              </a:rPr>
              <a:t>retrieval</a:t>
            </a:r>
            <a:endParaRPr sz="2400">
              <a:latin typeface="Calibri"/>
              <a:cs typeface="Calibri"/>
            </a:endParaRPr>
          </a:p>
          <a:p>
            <a:pPr>
              <a:spcBef>
                <a:spcPts val="940"/>
              </a:spcBef>
              <a:buClr>
                <a:srgbClr val="99D3FF"/>
              </a:buClr>
              <a:buFont typeface="Wingdings"/>
              <a:buChar char=""/>
            </a:pPr>
            <a:endParaRPr sz="2400">
              <a:latin typeface="Calibri"/>
              <a:cs typeface="Calibri"/>
            </a:endParaRPr>
          </a:p>
          <a:p>
            <a:pPr marL="397923" indent="-380990">
              <a:buClr>
                <a:srgbClr val="99D3FF"/>
              </a:buClr>
              <a:buFont typeface="Wingdings"/>
              <a:buChar char=""/>
              <a:tabLst>
                <a:tab pos="397923" algn="l"/>
              </a:tabLst>
            </a:pPr>
            <a:r>
              <a:rPr sz="2400" b="1" dirty="0">
                <a:solidFill>
                  <a:srgbClr val="D9D9D9"/>
                </a:solidFill>
                <a:latin typeface="Calibri"/>
                <a:cs typeface="Calibri"/>
              </a:rPr>
              <a:t>Oriented</a:t>
            </a:r>
            <a:r>
              <a:rPr sz="2400" b="1" spc="-80" dirty="0">
                <a:solidFill>
                  <a:srgbClr val="D9D9D9"/>
                </a:solidFill>
                <a:latin typeface="Calibri"/>
                <a:cs typeface="Calibri"/>
              </a:rPr>
              <a:t> </a:t>
            </a:r>
            <a:r>
              <a:rPr sz="2400" b="1" dirty="0">
                <a:solidFill>
                  <a:srgbClr val="D9D9D9"/>
                </a:solidFill>
                <a:latin typeface="Calibri"/>
                <a:cs typeface="Calibri"/>
              </a:rPr>
              <a:t>around</a:t>
            </a:r>
            <a:r>
              <a:rPr sz="2400" b="1" spc="-47" dirty="0">
                <a:solidFill>
                  <a:srgbClr val="D9D9D9"/>
                </a:solidFill>
                <a:latin typeface="Calibri"/>
                <a:cs typeface="Calibri"/>
              </a:rPr>
              <a:t> </a:t>
            </a:r>
            <a:r>
              <a:rPr sz="2400" b="1" dirty="0">
                <a:solidFill>
                  <a:srgbClr val="D9D9D9"/>
                </a:solidFill>
                <a:latin typeface="Calibri"/>
                <a:cs typeface="Calibri"/>
              </a:rPr>
              <a:t>performance</a:t>
            </a:r>
            <a:r>
              <a:rPr sz="2400" b="1" spc="-67" dirty="0">
                <a:solidFill>
                  <a:srgbClr val="D9D9D9"/>
                </a:solidFill>
                <a:latin typeface="Calibri"/>
                <a:cs typeface="Calibri"/>
              </a:rPr>
              <a:t> </a:t>
            </a:r>
            <a:r>
              <a:rPr sz="2400" b="1" dirty="0">
                <a:solidFill>
                  <a:srgbClr val="D9D9D9"/>
                </a:solidFill>
                <a:latin typeface="Calibri"/>
                <a:cs typeface="Calibri"/>
              </a:rPr>
              <a:t>&amp;</a:t>
            </a:r>
            <a:r>
              <a:rPr sz="2400" b="1" spc="-20" dirty="0">
                <a:solidFill>
                  <a:srgbClr val="D9D9D9"/>
                </a:solidFill>
                <a:latin typeface="Calibri"/>
                <a:cs typeface="Calibri"/>
              </a:rPr>
              <a:t> </a:t>
            </a:r>
            <a:r>
              <a:rPr sz="2400" b="1" spc="-13" dirty="0">
                <a:solidFill>
                  <a:srgbClr val="D9D9D9"/>
                </a:solidFill>
                <a:latin typeface="Calibri"/>
                <a:cs typeface="Calibri"/>
              </a:rPr>
              <a:t>usability</a:t>
            </a:r>
            <a:endParaRPr sz="2400">
              <a:latin typeface="Calibri"/>
              <a:cs typeface="Calibri"/>
            </a:endParaRPr>
          </a:p>
        </p:txBody>
      </p:sp>
      <p:sp>
        <p:nvSpPr>
          <p:cNvPr id="3" name="object 3"/>
          <p:cNvSpPr txBox="1">
            <a:spLocks noGrp="1"/>
          </p:cNvSpPr>
          <p:nvPr>
            <p:ph type="title"/>
          </p:nvPr>
        </p:nvSpPr>
        <p:spPr>
          <a:xfrm>
            <a:off x="3180522" y="117632"/>
            <a:ext cx="6586742" cy="695062"/>
          </a:xfrm>
          <a:prstGeom prst="rect">
            <a:avLst/>
          </a:prstGeom>
        </p:spPr>
        <p:txBody>
          <a:bodyPr vert="horz" wrap="square" lIns="0" tIns="17780" rIns="0" bIns="0" rtlCol="0" anchor="ctr">
            <a:spAutoFit/>
          </a:bodyPr>
          <a:lstStyle/>
          <a:p>
            <a:pPr marL="1239489" algn="ctr">
              <a:lnSpc>
                <a:spcPct val="100000"/>
              </a:lnSpc>
              <a:spcBef>
                <a:spcPts val="140"/>
              </a:spcBef>
            </a:pPr>
            <a:r>
              <a:rPr dirty="0">
                <a:solidFill>
                  <a:schemeClr val="bg1"/>
                </a:solidFill>
                <a:latin typeface="+mn-lt"/>
              </a:rPr>
              <a:t>Dimensional</a:t>
            </a:r>
            <a:r>
              <a:rPr spc="-152" dirty="0">
                <a:solidFill>
                  <a:schemeClr val="bg1"/>
                </a:solidFill>
                <a:latin typeface="+mn-lt"/>
              </a:rPr>
              <a:t> </a:t>
            </a:r>
            <a:r>
              <a:rPr spc="-13" dirty="0">
                <a:solidFill>
                  <a:schemeClr val="bg1"/>
                </a:solidFill>
                <a:latin typeface="+mn-lt"/>
              </a:rPr>
              <a:t>modeling</a:t>
            </a:r>
          </a:p>
        </p:txBody>
      </p:sp>
      <p:graphicFrame>
        <p:nvGraphicFramePr>
          <p:cNvPr id="4" name="object 4"/>
          <p:cNvGraphicFramePr>
            <a:graphicFrameLocks noGrp="1"/>
          </p:cNvGraphicFramePr>
          <p:nvPr>
            <p:extLst>
              <p:ext uri="{D42A27DB-BD31-4B8C-83A1-F6EECF244321}">
                <p14:modId xmlns:p14="http://schemas.microsoft.com/office/powerpoint/2010/main" val="3856615010"/>
              </p:ext>
            </p:extLst>
          </p:nvPr>
        </p:nvGraphicFramePr>
        <p:xfrm>
          <a:off x="1722340" y="3763291"/>
          <a:ext cx="5212045" cy="1778000"/>
        </p:xfrm>
        <a:graphic>
          <a:graphicData uri="http://schemas.openxmlformats.org/drawingml/2006/table">
            <a:tbl>
              <a:tblPr firstRow="1" bandRow="1">
                <a:tableStyleId>{2D5ABB26-0587-4C30-8999-92F81FD0307C}</a:tableStyleId>
              </a:tblPr>
              <a:tblGrid>
                <a:gridCol w="550759">
                  <a:extLst>
                    <a:ext uri="{9D8B030D-6E8A-4147-A177-3AD203B41FA5}">
                      <a16:colId xmlns:a16="http://schemas.microsoft.com/office/drawing/2014/main" val="20000"/>
                    </a:ext>
                  </a:extLst>
                </a:gridCol>
                <a:gridCol w="863608">
                  <a:extLst>
                    <a:ext uri="{9D8B030D-6E8A-4147-A177-3AD203B41FA5}">
                      <a16:colId xmlns:a16="http://schemas.microsoft.com/office/drawing/2014/main" val="20001"/>
                    </a:ext>
                  </a:extLst>
                </a:gridCol>
                <a:gridCol w="1030861">
                  <a:extLst>
                    <a:ext uri="{9D8B030D-6E8A-4147-A177-3AD203B41FA5}">
                      <a16:colId xmlns:a16="http://schemas.microsoft.com/office/drawing/2014/main" val="20002"/>
                    </a:ext>
                  </a:extLst>
                </a:gridCol>
                <a:gridCol w="1167995">
                  <a:extLst>
                    <a:ext uri="{9D8B030D-6E8A-4147-A177-3AD203B41FA5}">
                      <a16:colId xmlns:a16="http://schemas.microsoft.com/office/drawing/2014/main" val="20003"/>
                    </a:ext>
                  </a:extLst>
                </a:gridCol>
                <a:gridCol w="1598822">
                  <a:extLst>
                    <a:ext uri="{9D8B030D-6E8A-4147-A177-3AD203B41FA5}">
                      <a16:colId xmlns:a16="http://schemas.microsoft.com/office/drawing/2014/main" val="20004"/>
                    </a:ext>
                  </a:extLst>
                </a:gridCol>
              </a:tblGrid>
              <a:tr h="254000">
                <a:tc>
                  <a:txBody>
                    <a:bodyPr/>
                    <a:lstStyle/>
                    <a:p>
                      <a:pPr algn="ctr">
                        <a:lnSpc>
                          <a:spcPct val="100000"/>
                        </a:lnSpc>
                        <a:spcBef>
                          <a:spcPts val="135"/>
                        </a:spcBef>
                      </a:pPr>
                      <a:r>
                        <a:rPr sz="1600" spc="-25" dirty="0">
                          <a:latin typeface="Arial MT"/>
                          <a:cs typeface="Arial MT"/>
                        </a:rPr>
                        <a:t>id</a:t>
                      </a:r>
                      <a:endParaRPr sz="16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135"/>
                        </a:spcBef>
                      </a:pPr>
                      <a:r>
                        <a:rPr sz="1600" spc="-20" dirty="0">
                          <a:latin typeface="Arial MT"/>
                          <a:cs typeface="Arial MT"/>
                        </a:rPr>
                        <a:t>date</a:t>
                      </a:r>
                      <a:endParaRPr sz="16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135"/>
                        </a:spcBef>
                      </a:pPr>
                      <a:r>
                        <a:rPr sz="1600" spc="-10" dirty="0">
                          <a:latin typeface="Arial MT"/>
                          <a:cs typeface="Arial MT"/>
                        </a:rPr>
                        <a:t>product_id</a:t>
                      </a:r>
                      <a:endParaRPr sz="16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135"/>
                        </a:spcBef>
                      </a:pPr>
                      <a:r>
                        <a:rPr sz="1600" spc="-10" dirty="0">
                          <a:latin typeface="Arial MT"/>
                          <a:cs typeface="Arial MT"/>
                        </a:rPr>
                        <a:t>customer_id</a:t>
                      </a:r>
                      <a:endParaRPr sz="16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135"/>
                        </a:spcBef>
                      </a:pPr>
                      <a:r>
                        <a:rPr sz="1600" spc="-10" dirty="0">
                          <a:latin typeface="Arial MT"/>
                          <a:cs typeface="Arial MT"/>
                        </a:rPr>
                        <a:t>profit</a:t>
                      </a:r>
                      <a:endParaRPr sz="16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0"/>
                  </a:ext>
                </a:extLst>
              </a:tr>
              <a:tr h="254000">
                <a:tc>
                  <a:txBody>
                    <a:bodyPr/>
                    <a:lstStyle/>
                    <a:p>
                      <a:pPr marL="635" algn="ctr">
                        <a:lnSpc>
                          <a:spcPct val="100000"/>
                        </a:lnSpc>
                        <a:spcBef>
                          <a:spcPts val="345"/>
                        </a:spcBef>
                      </a:pPr>
                      <a:r>
                        <a:rPr sz="1600" spc="-50" dirty="0">
                          <a:latin typeface="Arial MT"/>
                          <a:cs typeface="Arial MT"/>
                        </a:rPr>
                        <a:t>1</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1600" spc="-10" dirty="0">
                          <a:latin typeface="Arial MT"/>
                          <a:cs typeface="Arial MT"/>
                        </a:rPr>
                        <a:t>1/2/2022</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345"/>
                        </a:spcBef>
                      </a:pPr>
                      <a:r>
                        <a:rPr sz="1600" spc="-50" dirty="0">
                          <a:latin typeface="Arial MT"/>
                          <a:cs typeface="Arial MT"/>
                        </a:rPr>
                        <a:t>2</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20"/>
                        </a:spcBef>
                      </a:pPr>
                      <a:r>
                        <a:rPr sz="1600" spc="-50" dirty="0">
                          <a:latin typeface="Calibri"/>
                          <a:cs typeface="Calibri"/>
                        </a:rPr>
                        <a:t>2</a:t>
                      </a:r>
                      <a:endParaRPr sz="16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20"/>
                        </a:spcBef>
                      </a:pPr>
                      <a:r>
                        <a:rPr sz="1600" spc="-25" dirty="0">
                          <a:latin typeface="Calibri"/>
                          <a:cs typeface="Calibri"/>
                        </a:rPr>
                        <a:t>$23</a:t>
                      </a:r>
                      <a:endParaRPr sz="1600" dirty="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marL="635" algn="ctr">
                        <a:lnSpc>
                          <a:spcPct val="100000"/>
                        </a:lnSpc>
                        <a:spcBef>
                          <a:spcPts val="345"/>
                        </a:spcBef>
                      </a:pPr>
                      <a:r>
                        <a:rPr sz="1600" spc="-50" dirty="0">
                          <a:latin typeface="Arial MT"/>
                          <a:cs typeface="Arial MT"/>
                        </a:rPr>
                        <a:t>2</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1600" spc="-10" dirty="0">
                          <a:latin typeface="Arial MT"/>
                          <a:cs typeface="Arial MT"/>
                        </a:rPr>
                        <a:t>1/2/2022</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345"/>
                        </a:spcBef>
                      </a:pPr>
                      <a:r>
                        <a:rPr sz="1600" spc="-50" dirty="0">
                          <a:latin typeface="Arial MT"/>
                          <a:cs typeface="Arial MT"/>
                        </a:rPr>
                        <a:t>5</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20"/>
                        </a:spcBef>
                      </a:pPr>
                      <a:r>
                        <a:rPr sz="1600" spc="-50" dirty="0">
                          <a:latin typeface="Calibri"/>
                          <a:cs typeface="Calibri"/>
                        </a:rPr>
                        <a:t>2</a:t>
                      </a:r>
                      <a:endParaRPr sz="16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20"/>
                        </a:spcBef>
                      </a:pPr>
                      <a:r>
                        <a:rPr sz="1600" spc="-25" dirty="0">
                          <a:latin typeface="Calibri"/>
                          <a:cs typeface="Calibri"/>
                        </a:rPr>
                        <a:t>$12</a:t>
                      </a:r>
                      <a:endParaRPr sz="1600" dirty="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marL="635" algn="ctr">
                        <a:lnSpc>
                          <a:spcPct val="100000"/>
                        </a:lnSpc>
                        <a:spcBef>
                          <a:spcPts val="345"/>
                        </a:spcBef>
                      </a:pPr>
                      <a:r>
                        <a:rPr sz="1600" spc="-50" dirty="0">
                          <a:latin typeface="Arial MT"/>
                          <a:cs typeface="Arial MT"/>
                        </a:rPr>
                        <a:t>3</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1600" spc="-10" dirty="0">
                          <a:latin typeface="Arial MT"/>
                          <a:cs typeface="Arial MT"/>
                        </a:rPr>
                        <a:t>1/2/2022</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345"/>
                        </a:spcBef>
                      </a:pPr>
                      <a:r>
                        <a:rPr sz="1600" spc="-50" dirty="0">
                          <a:latin typeface="Arial MT"/>
                          <a:cs typeface="Arial MT"/>
                        </a:rPr>
                        <a:t>6</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20"/>
                        </a:spcBef>
                      </a:pPr>
                      <a:r>
                        <a:rPr sz="1600" spc="-50" dirty="0">
                          <a:latin typeface="Calibri"/>
                          <a:cs typeface="Calibri"/>
                        </a:rPr>
                        <a:t>5</a:t>
                      </a:r>
                      <a:endParaRPr sz="1600" dirty="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20"/>
                        </a:spcBef>
                      </a:pPr>
                      <a:r>
                        <a:rPr sz="1600" spc="-25" dirty="0">
                          <a:latin typeface="Calibri"/>
                          <a:cs typeface="Calibri"/>
                        </a:rPr>
                        <a:t>$93</a:t>
                      </a:r>
                      <a:endParaRPr sz="1600" dirty="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marL="635" algn="ctr">
                        <a:lnSpc>
                          <a:spcPct val="100000"/>
                        </a:lnSpc>
                        <a:spcBef>
                          <a:spcPts val="345"/>
                        </a:spcBef>
                      </a:pPr>
                      <a:r>
                        <a:rPr sz="1600" spc="-50" dirty="0">
                          <a:latin typeface="Arial MT"/>
                          <a:cs typeface="Arial MT"/>
                        </a:rPr>
                        <a:t>4</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1600" spc="-10" dirty="0">
                          <a:latin typeface="Arial MT"/>
                          <a:cs typeface="Arial MT"/>
                        </a:rPr>
                        <a:t>1/2/2022</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1600" spc="-25" dirty="0">
                          <a:latin typeface="Arial MT"/>
                          <a:cs typeface="Arial MT"/>
                        </a:rPr>
                        <a:t>23</a:t>
                      </a:r>
                      <a:endParaRPr sz="1600" dirty="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20"/>
                        </a:spcBef>
                      </a:pPr>
                      <a:r>
                        <a:rPr sz="1600" spc="-50" dirty="0">
                          <a:latin typeface="Calibri"/>
                          <a:cs typeface="Calibri"/>
                        </a:rPr>
                        <a:t>1</a:t>
                      </a:r>
                      <a:endParaRPr sz="16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20"/>
                        </a:spcBef>
                      </a:pPr>
                      <a:r>
                        <a:rPr sz="1600" spc="-25" dirty="0">
                          <a:latin typeface="Calibri"/>
                          <a:cs typeface="Calibri"/>
                        </a:rPr>
                        <a:t>$23</a:t>
                      </a:r>
                      <a:endParaRPr sz="1600" dirty="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marL="635" algn="ctr">
                        <a:lnSpc>
                          <a:spcPct val="100000"/>
                        </a:lnSpc>
                        <a:spcBef>
                          <a:spcPts val="345"/>
                        </a:spcBef>
                      </a:pPr>
                      <a:r>
                        <a:rPr sz="1600" spc="-50" dirty="0">
                          <a:latin typeface="Arial MT"/>
                          <a:cs typeface="Arial MT"/>
                        </a:rPr>
                        <a:t>5</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1600" spc="-10" dirty="0">
                          <a:latin typeface="Arial MT"/>
                          <a:cs typeface="Arial MT"/>
                        </a:rPr>
                        <a:t>1/2/2022</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1600" spc="-25" dirty="0">
                          <a:latin typeface="Arial MT"/>
                          <a:cs typeface="Arial MT"/>
                        </a:rPr>
                        <a:t>16</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20"/>
                        </a:spcBef>
                      </a:pPr>
                      <a:r>
                        <a:rPr sz="1600" spc="-50" dirty="0">
                          <a:latin typeface="Calibri"/>
                          <a:cs typeface="Calibri"/>
                        </a:rPr>
                        <a:t>5</a:t>
                      </a:r>
                      <a:endParaRPr sz="16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20"/>
                        </a:spcBef>
                      </a:pPr>
                      <a:r>
                        <a:rPr sz="1600" spc="-25" dirty="0">
                          <a:latin typeface="Calibri"/>
                          <a:cs typeface="Calibri"/>
                        </a:rPr>
                        <a:t>$21</a:t>
                      </a:r>
                      <a:endParaRPr sz="1600" dirty="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graphicFrame>
        <p:nvGraphicFramePr>
          <p:cNvPr id="5" name="object 5"/>
          <p:cNvGraphicFramePr>
            <a:graphicFrameLocks noGrp="1"/>
          </p:cNvGraphicFramePr>
          <p:nvPr>
            <p:extLst>
              <p:ext uri="{D42A27DB-BD31-4B8C-83A1-F6EECF244321}">
                <p14:modId xmlns:p14="http://schemas.microsoft.com/office/powerpoint/2010/main" val="949324073"/>
              </p:ext>
            </p:extLst>
          </p:nvPr>
        </p:nvGraphicFramePr>
        <p:xfrm>
          <a:off x="8221134" y="3638296"/>
          <a:ext cx="3606430" cy="2417756"/>
        </p:xfrm>
        <a:graphic>
          <a:graphicData uri="http://schemas.openxmlformats.org/drawingml/2006/table">
            <a:tbl>
              <a:tblPr firstRow="1" bandRow="1">
                <a:tableStyleId>{2D5ABB26-0587-4C30-8999-92F81FD0307C}</a:tableStyleId>
              </a:tblPr>
              <a:tblGrid>
                <a:gridCol w="1243756">
                  <a:extLst>
                    <a:ext uri="{9D8B030D-6E8A-4147-A177-3AD203B41FA5}">
                      <a16:colId xmlns:a16="http://schemas.microsoft.com/office/drawing/2014/main" val="20000"/>
                    </a:ext>
                  </a:extLst>
                </a:gridCol>
                <a:gridCol w="1243756">
                  <a:extLst>
                    <a:ext uri="{9D8B030D-6E8A-4147-A177-3AD203B41FA5}">
                      <a16:colId xmlns:a16="http://schemas.microsoft.com/office/drawing/2014/main" val="20001"/>
                    </a:ext>
                  </a:extLst>
                </a:gridCol>
                <a:gridCol w="1118918">
                  <a:extLst>
                    <a:ext uri="{9D8B030D-6E8A-4147-A177-3AD203B41FA5}">
                      <a16:colId xmlns:a16="http://schemas.microsoft.com/office/drawing/2014/main" val="20002"/>
                    </a:ext>
                  </a:extLst>
                </a:gridCol>
              </a:tblGrid>
              <a:tr h="545127">
                <a:tc>
                  <a:txBody>
                    <a:bodyPr/>
                    <a:lstStyle/>
                    <a:p>
                      <a:pPr marL="1270" algn="ctr">
                        <a:lnSpc>
                          <a:spcPct val="100000"/>
                        </a:lnSpc>
                        <a:spcBef>
                          <a:spcPts val="130"/>
                        </a:spcBef>
                      </a:pPr>
                      <a:r>
                        <a:rPr sz="1600" spc="-10" dirty="0">
                          <a:latin typeface="Arial MT"/>
                          <a:cs typeface="Arial MT"/>
                        </a:rPr>
                        <a:t>product_id</a:t>
                      </a:r>
                      <a:endParaRPr sz="16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tc>
                  <a:txBody>
                    <a:bodyPr/>
                    <a:lstStyle/>
                    <a:p>
                      <a:pPr marL="1905" algn="ctr">
                        <a:lnSpc>
                          <a:spcPct val="100000"/>
                        </a:lnSpc>
                        <a:spcBef>
                          <a:spcPts val="130"/>
                        </a:spcBef>
                      </a:pPr>
                      <a:r>
                        <a:rPr sz="1600" spc="-10" dirty="0">
                          <a:latin typeface="Arial MT"/>
                          <a:cs typeface="Arial MT"/>
                        </a:rPr>
                        <a:t>product</a:t>
                      </a:r>
                      <a:endParaRPr sz="16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tc>
                  <a:txBody>
                    <a:bodyPr/>
                    <a:lstStyle/>
                    <a:p>
                      <a:pPr marL="3175" algn="ctr">
                        <a:lnSpc>
                          <a:spcPct val="100000"/>
                        </a:lnSpc>
                        <a:spcBef>
                          <a:spcPts val="130"/>
                        </a:spcBef>
                      </a:pPr>
                      <a:r>
                        <a:rPr sz="1600" spc="-10" dirty="0">
                          <a:latin typeface="Arial MT"/>
                          <a:cs typeface="Arial MT"/>
                        </a:rPr>
                        <a:t>category</a:t>
                      </a:r>
                      <a:endParaRPr sz="16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extLst>
                  <a:ext uri="{0D108BD9-81ED-4DB2-BD59-A6C34878D82A}">
                    <a16:rowId xmlns:a16="http://schemas.microsoft.com/office/drawing/2014/main" val="10000"/>
                  </a:ext>
                </a:extLst>
              </a:tr>
              <a:tr h="579537">
                <a:tc>
                  <a:txBody>
                    <a:bodyPr/>
                    <a:lstStyle/>
                    <a:p>
                      <a:pPr algn="ctr">
                        <a:lnSpc>
                          <a:spcPct val="100000"/>
                        </a:lnSpc>
                        <a:spcBef>
                          <a:spcPts val="345"/>
                        </a:spcBef>
                      </a:pPr>
                      <a:r>
                        <a:rPr sz="1600" spc="-50" dirty="0">
                          <a:latin typeface="Arial MT"/>
                          <a:cs typeface="Arial MT"/>
                        </a:rPr>
                        <a:t>1</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tc>
                  <a:txBody>
                    <a:bodyPr/>
                    <a:lstStyle/>
                    <a:p>
                      <a:pPr marL="1905" algn="ctr">
                        <a:lnSpc>
                          <a:spcPct val="100000"/>
                        </a:lnSpc>
                        <a:spcBef>
                          <a:spcPts val="345"/>
                        </a:spcBef>
                      </a:pPr>
                      <a:r>
                        <a:rPr sz="1600" dirty="0">
                          <a:latin typeface="Arial MT"/>
                          <a:cs typeface="Arial MT"/>
                        </a:rPr>
                        <a:t>product</a:t>
                      </a:r>
                      <a:r>
                        <a:rPr sz="1600" spc="-30" dirty="0">
                          <a:latin typeface="Arial MT"/>
                          <a:cs typeface="Arial MT"/>
                        </a:rPr>
                        <a:t> </a:t>
                      </a:r>
                      <a:r>
                        <a:rPr sz="1600" spc="-50" dirty="0">
                          <a:latin typeface="Arial MT"/>
                          <a:cs typeface="Arial MT"/>
                        </a:rPr>
                        <a:t>1</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tc>
                  <a:txBody>
                    <a:bodyPr/>
                    <a:lstStyle/>
                    <a:p>
                      <a:pPr marL="635" algn="ctr">
                        <a:lnSpc>
                          <a:spcPct val="100000"/>
                        </a:lnSpc>
                        <a:spcBef>
                          <a:spcPts val="320"/>
                        </a:spcBef>
                      </a:pPr>
                      <a:r>
                        <a:rPr sz="1600" spc="-10" dirty="0">
                          <a:latin typeface="Calibri"/>
                          <a:cs typeface="Calibri"/>
                        </a:rPr>
                        <a:t>Vegetables</a:t>
                      </a:r>
                      <a:endParaRPr sz="16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extLst>
                  <a:ext uri="{0D108BD9-81ED-4DB2-BD59-A6C34878D82A}">
                    <a16:rowId xmlns:a16="http://schemas.microsoft.com/office/drawing/2014/main" val="10001"/>
                  </a:ext>
                </a:extLst>
              </a:tr>
              <a:tr h="323273">
                <a:tc>
                  <a:txBody>
                    <a:bodyPr/>
                    <a:lstStyle/>
                    <a:p>
                      <a:pPr algn="ctr">
                        <a:lnSpc>
                          <a:spcPct val="100000"/>
                        </a:lnSpc>
                        <a:spcBef>
                          <a:spcPts val="345"/>
                        </a:spcBef>
                      </a:pPr>
                      <a:r>
                        <a:rPr sz="1600" spc="-50" dirty="0">
                          <a:latin typeface="Arial MT"/>
                          <a:cs typeface="Arial MT"/>
                        </a:rPr>
                        <a:t>2</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tc>
                  <a:txBody>
                    <a:bodyPr/>
                    <a:lstStyle/>
                    <a:p>
                      <a:pPr marL="1905" algn="ctr">
                        <a:lnSpc>
                          <a:spcPct val="100000"/>
                        </a:lnSpc>
                        <a:spcBef>
                          <a:spcPts val="345"/>
                        </a:spcBef>
                      </a:pPr>
                      <a:r>
                        <a:rPr sz="1600" dirty="0">
                          <a:latin typeface="Arial MT"/>
                          <a:cs typeface="Arial MT"/>
                        </a:rPr>
                        <a:t>product</a:t>
                      </a:r>
                      <a:r>
                        <a:rPr sz="1600" spc="-30" dirty="0">
                          <a:latin typeface="Arial MT"/>
                          <a:cs typeface="Arial MT"/>
                        </a:rPr>
                        <a:t> </a:t>
                      </a:r>
                      <a:r>
                        <a:rPr sz="1600" spc="-50" dirty="0">
                          <a:latin typeface="Arial MT"/>
                          <a:cs typeface="Arial MT"/>
                        </a:rPr>
                        <a:t>2</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tc>
                  <a:txBody>
                    <a:bodyPr/>
                    <a:lstStyle/>
                    <a:p>
                      <a:pPr marL="1905" algn="ctr">
                        <a:lnSpc>
                          <a:spcPct val="100000"/>
                        </a:lnSpc>
                        <a:spcBef>
                          <a:spcPts val="320"/>
                        </a:spcBef>
                      </a:pPr>
                      <a:r>
                        <a:rPr sz="1600" spc="-10" dirty="0">
                          <a:latin typeface="Calibri"/>
                          <a:cs typeface="Calibri"/>
                        </a:rPr>
                        <a:t>Snacks</a:t>
                      </a:r>
                      <a:endParaRPr sz="16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extLst>
                  <a:ext uri="{0D108BD9-81ED-4DB2-BD59-A6C34878D82A}">
                    <a16:rowId xmlns:a16="http://schemas.microsoft.com/office/drawing/2014/main" val="10002"/>
                  </a:ext>
                </a:extLst>
              </a:tr>
              <a:tr h="323273">
                <a:tc>
                  <a:txBody>
                    <a:bodyPr/>
                    <a:lstStyle/>
                    <a:p>
                      <a:pPr marL="1905" algn="ctr">
                        <a:lnSpc>
                          <a:spcPct val="100000"/>
                        </a:lnSpc>
                        <a:spcBef>
                          <a:spcPts val="320"/>
                        </a:spcBef>
                      </a:pPr>
                      <a:r>
                        <a:rPr sz="1600" spc="-50" dirty="0">
                          <a:latin typeface="Calibri"/>
                          <a:cs typeface="Calibri"/>
                        </a:rPr>
                        <a:t>3</a:t>
                      </a:r>
                      <a:endParaRPr sz="16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tc>
                  <a:txBody>
                    <a:bodyPr/>
                    <a:lstStyle/>
                    <a:p>
                      <a:pPr marL="1905" algn="ctr">
                        <a:lnSpc>
                          <a:spcPct val="100000"/>
                        </a:lnSpc>
                        <a:spcBef>
                          <a:spcPts val="345"/>
                        </a:spcBef>
                      </a:pPr>
                      <a:r>
                        <a:rPr sz="1600" dirty="0">
                          <a:latin typeface="Arial MT"/>
                          <a:cs typeface="Arial MT"/>
                        </a:rPr>
                        <a:t>product</a:t>
                      </a:r>
                      <a:r>
                        <a:rPr sz="1600" spc="-30" dirty="0">
                          <a:latin typeface="Arial MT"/>
                          <a:cs typeface="Arial MT"/>
                        </a:rPr>
                        <a:t> </a:t>
                      </a:r>
                      <a:r>
                        <a:rPr sz="1600" spc="-50" dirty="0">
                          <a:latin typeface="Arial MT"/>
                          <a:cs typeface="Arial MT"/>
                        </a:rPr>
                        <a:t>3</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tc>
                  <a:txBody>
                    <a:bodyPr/>
                    <a:lstStyle/>
                    <a:p>
                      <a:pPr marL="635" algn="ctr">
                        <a:lnSpc>
                          <a:spcPct val="100000"/>
                        </a:lnSpc>
                        <a:spcBef>
                          <a:spcPts val="320"/>
                        </a:spcBef>
                      </a:pPr>
                      <a:r>
                        <a:rPr sz="1600" spc="-10" dirty="0">
                          <a:latin typeface="Calibri"/>
                          <a:cs typeface="Calibri"/>
                        </a:rPr>
                        <a:t>Herbs</a:t>
                      </a:r>
                      <a:endParaRPr sz="16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extLst>
                  <a:ext uri="{0D108BD9-81ED-4DB2-BD59-A6C34878D82A}">
                    <a16:rowId xmlns:a16="http://schemas.microsoft.com/office/drawing/2014/main" val="10003"/>
                  </a:ext>
                </a:extLst>
              </a:tr>
              <a:tr h="323273">
                <a:tc>
                  <a:txBody>
                    <a:bodyPr/>
                    <a:lstStyle/>
                    <a:p>
                      <a:pPr marL="1905" algn="ctr">
                        <a:lnSpc>
                          <a:spcPct val="100000"/>
                        </a:lnSpc>
                        <a:spcBef>
                          <a:spcPts val="320"/>
                        </a:spcBef>
                      </a:pPr>
                      <a:r>
                        <a:rPr sz="1600" spc="-50" dirty="0">
                          <a:latin typeface="Calibri"/>
                          <a:cs typeface="Calibri"/>
                        </a:rPr>
                        <a:t>4</a:t>
                      </a:r>
                      <a:endParaRPr sz="16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tc>
                  <a:txBody>
                    <a:bodyPr/>
                    <a:lstStyle/>
                    <a:p>
                      <a:pPr marL="1905" algn="ctr">
                        <a:lnSpc>
                          <a:spcPct val="100000"/>
                        </a:lnSpc>
                        <a:spcBef>
                          <a:spcPts val="345"/>
                        </a:spcBef>
                      </a:pPr>
                      <a:r>
                        <a:rPr sz="1600" dirty="0">
                          <a:latin typeface="Arial MT"/>
                          <a:cs typeface="Arial MT"/>
                        </a:rPr>
                        <a:t>product</a:t>
                      </a:r>
                      <a:r>
                        <a:rPr sz="1600" spc="-30" dirty="0">
                          <a:latin typeface="Arial MT"/>
                          <a:cs typeface="Arial MT"/>
                        </a:rPr>
                        <a:t> </a:t>
                      </a:r>
                      <a:r>
                        <a:rPr sz="1600" spc="-50" dirty="0">
                          <a:latin typeface="Arial MT"/>
                          <a:cs typeface="Arial MT"/>
                        </a:rPr>
                        <a:t>4</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tc>
                  <a:txBody>
                    <a:bodyPr/>
                    <a:lstStyle/>
                    <a:p>
                      <a:pPr marL="1905" algn="ctr">
                        <a:lnSpc>
                          <a:spcPct val="100000"/>
                        </a:lnSpc>
                        <a:spcBef>
                          <a:spcPts val="320"/>
                        </a:spcBef>
                      </a:pPr>
                      <a:r>
                        <a:rPr sz="1600" spc="-10" dirty="0">
                          <a:latin typeface="Calibri"/>
                          <a:cs typeface="Calibri"/>
                        </a:rPr>
                        <a:t>Snacks</a:t>
                      </a:r>
                      <a:endParaRPr sz="16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extLst>
                  <a:ext uri="{0D108BD9-81ED-4DB2-BD59-A6C34878D82A}">
                    <a16:rowId xmlns:a16="http://schemas.microsoft.com/office/drawing/2014/main" val="10004"/>
                  </a:ext>
                </a:extLst>
              </a:tr>
              <a:tr h="323273">
                <a:tc>
                  <a:txBody>
                    <a:bodyPr/>
                    <a:lstStyle/>
                    <a:p>
                      <a:pPr algn="ctr">
                        <a:lnSpc>
                          <a:spcPct val="100000"/>
                        </a:lnSpc>
                        <a:spcBef>
                          <a:spcPts val="345"/>
                        </a:spcBef>
                      </a:pPr>
                      <a:r>
                        <a:rPr sz="1600" spc="-50" dirty="0">
                          <a:latin typeface="Arial MT"/>
                          <a:cs typeface="Arial MT"/>
                        </a:rPr>
                        <a:t>5</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tc>
                  <a:txBody>
                    <a:bodyPr/>
                    <a:lstStyle/>
                    <a:p>
                      <a:pPr algn="ctr">
                        <a:lnSpc>
                          <a:spcPct val="100000"/>
                        </a:lnSpc>
                        <a:spcBef>
                          <a:spcPts val="320"/>
                        </a:spcBef>
                      </a:pPr>
                      <a:r>
                        <a:rPr sz="1600" dirty="0">
                          <a:latin typeface="Calibri"/>
                          <a:cs typeface="Calibri"/>
                        </a:rPr>
                        <a:t>product</a:t>
                      </a:r>
                      <a:r>
                        <a:rPr sz="1600" spc="-35" dirty="0">
                          <a:latin typeface="Calibri"/>
                          <a:cs typeface="Calibri"/>
                        </a:rPr>
                        <a:t> </a:t>
                      </a:r>
                      <a:r>
                        <a:rPr sz="1600" spc="-50" dirty="0">
                          <a:latin typeface="Calibri"/>
                          <a:cs typeface="Calibri"/>
                        </a:rPr>
                        <a:t>5</a:t>
                      </a:r>
                      <a:endParaRPr sz="16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tc>
                  <a:txBody>
                    <a:bodyPr/>
                    <a:lstStyle/>
                    <a:p>
                      <a:pPr marL="1905" algn="ctr">
                        <a:lnSpc>
                          <a:spcPct val="100000"/>
                        </a:lnSpc>
                        <a:spcBef>
                          <a:spcPts val="320"/>
                        </a:spcBef>
                      </a:pPr>
                      <a:r>
                        <a:rPr sz="1600" spc="-10" dirty="0">
                          <a:latin typeface="Calibri"/>
                          <a:cs typeface="Calibri"/>
                        </a:rPr>
                        <a:t>Snacks</a:t>
                      </a:r>
                      <a:endParaRPr sz="1600" dirty="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extLst>
                  <a:ext uri="{0D108BD9-81ED-4DB2-BD59-A6C34878D82A}">
                    <a16:rowId xmlns:a16="http://schemas.microsoft.com/office/drawing/2014/main" val="10005"/>
                  </a:ext>
                </a:extLst>
              </a:tr>
            </a:tbl>
          </a:graphicData>
        </a:graphic>
      </p:graphicFrame>
      <p:sp>
        <p:nvSpPr>
          <p:cNvPr id="6" name="object 6"/>
          <p:cNvSpPr txBox="1"/>
          <p:nvPr/>
        </p:nvSpPr>
        <p:spPr>
          <a:xfrm>
            <a:off x="3304009" y="5713748"/>
            <a:ext cx="2102273" cy="386430"/>
          </a:xfrm>
          <a:prstGeom prst="rect">
            <a:avLst/>
          </a:prstGeom>
        </p:spPr>
        <p:txBody>
          <a:bodyPr vert="horz" wrap="square" lIns="0" tIns="16933" rIns="0" bIns="0" rtlCol="0">
            <a:spAutoFit/>
          </a:bodyPr>
          <a:lstStyle/>
          <a:p>
            <a:pPr marL="16933">
              <a:spcBef>
                <a:spcPts val="133"/>
              </a:spcBef>
            </a:pPr>
            <a:r>
              <a:rPr sz="2400" b="1" dirty="0">
                <a:solidFill>
                  <a:srgbClr val="D9D9D9"/>
                </a:solidFill>
                <a:latin typeface="Calibri"/>
                <a:cs typeface="Calibri"/>
              </a:rPr>
              <a:t>Profit Fact </a:t>
            </a:r>
            <a:r>
              <a:rPr sz="2400" b="1" spc="-13" dirty="0">
                <a:solidFill>
                  <a:srgbClr val="D9D9D9"/>
                </a:solidFill>
                <a:latin typeface="Calibri"/>
                <a:cs typeface="Calibri"/>
              </a:rPr>
              <a:t>Table</a:t>
            </a:r>
            <a:endParaRPr sz="2400" dirty="0">
              <a:latin typeface="Calibri"/>
              <a:cs typeface="Calibri"/>
            </a:endParaRPr>
          </a:p>
        </p:txBody>
      </p:sp>
      <p:sp>
        <p:nvSpPr>
          <p:cNvPr id="7" name="object 7"/>
          <p:cNvSpPr txBox="1"/>
          <p:nvPr/>
        </p:nvSpPr>
        <p:spPr>
          <a:xfrm>
            <a:off x="8843432" y="6056052"/>
            <a:ext cx="1614593" cy="386430"/>
          </a:xfrm>
          <a:prstGeom prst="rect">
            <a:avLst/>
          </a:prstGeom>
        </p:spPr>
        <p:txBody>
          <a:bodyPr vert="horz" wrap="square" lIns="0" tIns="16933" rIns="0" bIns="0" rtlCol="0">
            <a:spAutoFit/>
          </a:bodyPr>
          <a:lstStyle/>
          <a:p>
            <a:pPr marL="16933">
              <a:spcBef>
                <a:spcPts val="133"/>
              </a:spcBef>
            </a:pPr>
            <a:r>
              <a:rPr sz="2400" b="1" dirty="0">
                <a:solidFill>
                  <a:srgbClr val="D9D9D9"/>
                </a:solidFill>
                <a:latin typeface="Calibri"/>
                <a:cs typeface="Calibri"/>
              </a:rPr>
              <a:t>Product</a:t>
            </a:r>
            <a:r>
              <a:rPr sz="2400" b="1" spc="-27" dirty="0">
                <a:solidFill>
                  <a:srgbClr val="D9D9D9"/>
                </a:solidFill>
                <a:latin typeface="Calibri"/>
                <a:cs typeface="Calibri"/>
              </a:rPr>
              <a:t> </a:t>
            </a:r>
            <a:r>
              <a:rPr sz="2400" b="1" spc="-33" dirty="0">
                <a:solidFill>
                  <a:srgbClr val="D9D9D9"/>
                </a:solidFill>
                <a:latin typeface="Calibri"/>
                <a:cs typeface="Calibri"/>
              </a:rPr>
              <a:t>Dim</a:t>
            </a:r>
            <a:endParaRPr sz="2400" dirty="0">
              <a:latin typeface="Calibri"/>
              <a:cs typeface="Calibri"/>
            </a:endParaRPr>
          </a:p>
        </p:txBody>
      </p:sp>
      <p:sp>
        <p:nvSpPr>
          <p:cNvPr id="8" name="object 8"/>
          <p:cNvSpPr/>
          <p:nvPr/>
        </p:nvSpPr>
        <p:spPr>
          <a:xfrm>
            <a:off x="5406282" y="3608418"/>
            <a:ext cx="1439333" cy="2038369"/>
          </a:xfrm>
          <a:custGeom>
            <a:avLst/>
            <a:gdLst/>
            <a:ahLst/>
            <a:cxnLst/>
            <a:rect l="l" t="t" r="r" b="b"/>
            <a:pathLst>
              <a:path w="1079500" h="1178560">
                <a:moveTo>
                  <a:pt x="0" y="179831"/>
                </a:moveTo>
                <a:lnTo>
                  <a:pt x="6424" y="132027"/>
                </a:lnTo>
                <a:lnTo>
                  <a:pt x="24553" y="89069"/>
                </a:lnTo>
                <a:lnTo>
                  <a:pt x="52673" y="52673"/>
                </a:lnTo>
                <a:lnTo>
                  <a:pt x="89069" y="24553"/>
                </a:lnTo>
                <a:lnTo>
                  <a:pt x="132027" y="6424"/>
                </a:lnTo>
                <a:lnTo>
                  <a:pt x="179832" y="0"/>
                </a:lnTo>
                <a:lnTo>
                  <a:pt x="899160" y="0"/>
                </a:lnTo>
                <a:lnTo>
                  <a:pt x="946964" y="6424"/>
                </a:lnTo>
                <a:lnTo>
                  <a:pt x="989922" y="24553"/>
                </a:lnTo>
                <a:lnTo>
                  <a:pt x="1026318" y="52673"/>
                </a:lnTo>
                <a:lnTo>
                  <a:pt x="1054438" y="89069"/>
                </a:lnTo>
                <a:lnTo>
                  <a:pt x="1072567" y="132027"/>
                </a:lnTo>
                <a:lnTo>
                  <a:pt x="1078991" y="179831"/>
                </a:lnTo>
                <a:lnTo>
                  <a:pt x="1078991" y="998219"/>
                </a:lnTo>
                <a:lnTo>
                  <a:pt x="1072567" y="1046024"/>
                </a:lnTo>
                <a:lnTo>
                  <a:pt x="1054438" y="1088982"/>
                </a:lnTo>
                <a:lnTo>
                  <a:pt x="1026318" y="1125378"/>
                </a:lnTo>
                <a:lnTo>
                  <a:pt x="989922" y="1153498"/>
                </a:lnTo>
                <a:lnTo>
                  <a:pt x="946964" y="1171627"/>
                </a:lnTo>
                <a:lnTo>
                  <a:pt x="899160" y="1178052"/>
                </a:lnTo>
                <a:lnTo>
                  <a:pt x="179832" y="1178052"/>
                </a:lnTo>
                <a:lnTo>
                  <a:pt x="132027" y="1171627"/>
                </a:lnTo>
                <a:lnTo>
                  <a:pt x="89069" y="1153498"/>
                </a:lnTo>
                <a:lnTo>
                  <a:pt x="52673" y="1125378"/>
                </a:lnTo>
                <a:lnTo>
                  <a:pt x="24553" y="1088982"/>
                </a:lnTo>
                <a:lnTo>
                  <a:pt x="6424" y="1046024"/>
                </a:lnTo>
                <a:lnTo>
                  <a:pt x="0" y="998219"/>
                </a:lnTo>
                <a:lnTo>
                  <a:pt x="0" y="179831"/>
                </a:lnTo>
                <a:close/>
              </a:path>
            </a:pathLst>
          </a:custGeom>
          <a:ln w="25908">
            <a:solidFill>
              <a:srgbClr val="008FBB"/>
            </a:solidFill>
          </a:ln>
        </p:spPr>
        <p:txBody>
          <a:bodyPr wrap="square" lIns="0" tIns="0" rIns="0" bIns="0" rtlCol="0"/>
          <a:lstStyle/>
          <a:p>
            <a:endParaRPr sz="2400"/>
          </a:p>
        </p:txBody>
      </p:sp>
      <p:sp>
        <p:nvSpPr>
          <p:cNvPr id="9" name="object 9"/>
          <p:cNvSpPr/>
          <p:nvPr/>
        </p:nvSpPr>
        <p:spPr>
          <a:xfrm>
            <a:off x="10794631" y="3662958"/>
            <a:ext cx="1032933" cy="2393094"/>
          </a:xfrm>
          <a:custGeom>
            <a:avLst/>
            <a:gdLst/>
            <a:ahLst/>
            <a:cxnLst/>
            <a:rect l="l" t="t" r="r" b="b"/>
            <a:pathLst>
              <a:path w="774700" h="1178560">
                <a:moveTo>
                  <a:pt x="0" y="129032"/>
                </a:moveTo>
                <a:lnTo>
                  <a:pt x="10142" y="78813"/>
                </a:lnTo>
                <a:lnTo>
                  <a:pt x="37798" y="37798"/>
                </a:lnTo>
                <a:lnTo>
                  <a:pt x="78813" y="10142"/>
                </a:lnTo>
                <a:lnTo>
                  <a:pt x="129031" y="0"/>
                </a:lnTo>
                <a:lnTo>
                  <a:pt x="645159" y="0"/>
                </a:lnTo>
                <a:lnTo>
                  <a:pt x="695378" y="10142"/>
                </a:lnTo>
                <a:lnTo>
                  <a:pt x="736393" y="37798"/>
                </a:lnTo>
                <a:lnTo>
                  <a:pt x="764049" y="78813"/>
                </a:lnTo>
                <a:lnTo>
                  <a:pt x="774191" y="129032"/>
                </a:lnTo>
                <a:lnTo>
                  <a:pt x="774191" y="1049020"/>
                </a:lnTo>
                <a:lnTo>
                  <a:pt x="764049" y="1099238"/>
                </a:lnTo>
                <a:lnTo>
                  <a:pt x="736393" y="1140253"/>
                </a:lnTo>
                <a:lnTo>
                  <a:pt x="695378" y="1167909"/>
                </a:lnTo>
                <a:lnTo>
                  <a:pt x="645159" y="1178052"/>
                </a:lnTo>
                <a:lnTo>
                  <a:pt x="129031" y="1178052"/>
                </a:lnTo>
                <a:lnTo>
                  <a:pt x="78813" y="1167909"/>
                </a:lnTo>
                <a:lnTo>
                  <a:pt x="37798" y="1140253"/>
                </a:lnTo>
                <a:lnTo>
                  <a:pt x="10142" y="1099238"/>
                </a:lnTo>
                <a:lnTo>
                  <a:pt x="0" y="1049020"/>
                </a:lnTo>
                <a:lnTo>
                  <a:pt x="0" y="129032"/>
                </a:lnTo>
                <a:close/>
              </a:path>
            </a:pathLst>
          </a:custGeom>
          <a:ln w="25908">
            <a:solidFill>
              <a:srgbClr val="FFFFFF"/>
            </a:solidFill>
          </a:ln>
        </p:spPr>
        <p:txBody>
          <a:bodyPr wrap="square" lIns="0" tIns="0" rIns="0" bIns="0" rtlCol="0"/>
          <a:lstStyle/>
          <a:p>
            <a:endParaRPr sz="2400"/>
          </a:p>
        </p:txBody>
      </p:sp>
      <p:sp>
        <p:nvSpPr>
          <p:cNvPr id="10" name="object 10"/>
          <p:cNvSpPr txBox="1"/>
          <p:nvPr/>
        </p:nvSpPr>
        <p:spPr>
          <a:xfrm>
            <a:off x="4389288" y="3259835"/>
            <a:ext cx="342053" cy="386430"/>
          </a:xfrm>
          <a:prstGeom prst="rect">
            <a:avLst/>
          </a:prstGeom>
        </p:spPr>
        <p:txBody>
          <a:bodyPr vert="horz" wrap="square" lIns="0" tIns="16933" rIns="0" bIns="0" rtlCol="0">
            <a:spAutoFit/>
          </a:bodyPr>
          <a:lstStyle/>
          <a:p>
            <a:pPr marL="16933">
              <a:spcBef>
                <a:spcPts val="133"/>
              </a:spcBef>
            </a:pPr>
            <a:r>
              <a:rPr sz="2400" b="1" spc="-33" dirty="0">
                <a:solidFill>
                  <a:srgbClr val="D9D9D9"/>
                </a:solidFill>
                <a:latin typeface="Calibri"/>
                <a:cs typeface="Calibri"/>
              </a:rPr>
              <a:t>FK</a:t>
            </a:r>
            <a:endParaRPr sz="2400">
              <a:latin typeface="Calibri"/>
              <a:cs typeface="Calibri"/>
            </a:endParaRPr>
          </a:p>
        </p:txBody>
      </p:sp>
      <p:sp>
        <p:nvSpPr>
          <p:cNvPr id="11" name="object 11"/>
          <p:cNvSpPr txBox="1"/>
          <p:nvPr/>
        </p:nvSpPr>
        <p:spPr>
          <a:xfrm>
            <a:off x="8446685" y="3184652"/>
            <a:ext cx="364067" cy="386430"/>
          </a:xfrm>
          <a:prstGeom prst="rect">
            <a:avLst/>
          </a:prstGeom>
        </p:spPr>
        <p:txBody>
          <a:bodyPr vert="horz" wrap="square" lIns="0" tIns="16933" rIns="0" bIns="0" rtlCol="0">
            <a:spAutoFit/>
          </a:bodyPr>
          <a:lstStyle/>
          <a:p>
            <a:pPr marL="16933">
              <a:spcBef>
                <a:spcPts val="133"/>
              </a:spcBef>
            </a:pPr>
            <a:r>
              <a:rPr sz="2400" b="1" spc="-33" dirty="0">
                <a:solidFill>
                  <a:srgbClr val="D9D9D9"/>
                </a:solidFill>
                <a:latin typeface="Calibri"/>
                <a:cs typeface="Calibri"/>
              </a:rPr>
              <a:t>PK</a:t>
            </a:r>
            <a:endParaRPr sz="2400">
              <a:latin typeface="Calibri"/>
              <a:cs typeface="Calibri"/>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356525" y="1854200"/>
            <a:ext cx="5648960" cy="124051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Goal:</a:t>
            </a:r>
            <a:r>
              <a:rPr sz="2400" b="1" spc="-27" dirty="0">
                <a:solidFill>
                  <a:srgbClr val="D9D9D9"/>
                </a:solidFill>
                <a:latin typeface="Calibri"/>
                <a:cs typeface="Calibri"/>
              </a:rPr>
              <a:t> </a:t>
            </a:r>
            <a:r>
              <a:rPr sz="2400" b="1" dirty="0">
                <a:solidFill>
                  <a:srgbClr val="D9D9D9"/>
                </a:solidFill>
                <a:latin typeface="Calibri"/>
                <a:cs typeface="Calibri"/>
              </a:rPr>
              <a:t>Fast</a:t>
            </a:r>
            <a:r>
              <a:rPr sz="2400" b="1" spc="7" dirty="0">
                <a:solidFill>
                  <a:srgbClr val="D9D9D9"/>
                </a:solidFill>
                <a:latin typeface="Calibri"/>
                <a:cs typeface="Calibri"/>
              </a:rPr>
              <a:t> </a:t>
            </a:r>
            <a:r>
              <a:rPr sz="2400" b="1" dirty="0">
                <a:solidFill>
                  <a:srgbClr val="D9D9D9"/>
                </a:solidFill>
                <a:latin typeface="Calibri"/>
                <a:cs typeface="Calibri"/>
              </a:rPr>
              <a:t>data</a:t>
            </a:r>
            <a:r>
              <a:rPr sz="2400" b="1" spc="7" dirty="0">
                <a:solidFill>
                  <a:srgbClr val="D9D9D9"/>
                </a:solidFill>
                <a:latin typeface="Calibri"/>
                <a:cs typeface="Calibri"/>
              </a:rPr>
              <a:t> </a:t>
            </a:r>
            <a:r>
              <a:rPr sz="2400" b="1" spc="-13" dirty="0">
                <a:solidFill>
                  <a:srgbClr val="D9D9D9"/>
                </a:solidFill>
                <a:latin typeface="Calibri"/>
                <a:cs typeface="Calibri"/>
              </a:rPr>
              <a:t>retrieval</a:t>
            </a:r>
            <a:endParaRPr sz="2400" dirty="0">
              <a:latin typeface="Calibri"/>
              <a:cs typeface="Calibri"/>
            </a:endParaRPr>
          </a:p>
          <a:p>
            <a:pPr>
              <a:spcBef>
                <a:spcPts val="940"/>
              </a:spcBef>
              <a:buClr>
                <a:srgbClr val="99D3FF"/>
              </a:buClr>
              <a:buFont typeface="Wingdings"/>
              <a:buChar char=""/>
            </a:pPr>
            <a:endParaRPr sz="2400" dirty="0">
              <a:latin typeface="Calibri"/>
              <a:cs typeface="Calibri"/>
            </a:endParaRPr>
          </a:p>
          <a:p>
            <a:pPr marL="397923" indent="-380990">
              <a:buClr>
                <a:srgbClr val="99D3FF"/>
              </a:buClr>
              <a:buFont typeface="Wingdings"/>
              <a:buChar char=""/>
              <a:tabLst>
                <a:tab pos="397923" algn="l"/>
              </a:tabLst>
            </a:pPr>
            <a:r>
              <a:rPr sz="2400" b="1" dirty="0">
                <a:solidFill>
                  <a:srgbClr val="D9D9D9"/>
                </a:solidFill>
                <a:latin typeface="Calibri"/>
                <a:cs typeface="Calibri"/>
              </a:rPr>
              <a:t>Oriented</a:t>
            </a:r>
            <a:r>
              <a:rPr sz="2400" b="1" spc="-80" dirty="0">
                <a:solidFill>
                  <a:srgbClr val="D9D9D9"/>
                </a:solidFill>
                <a:latin typeface="Calibri"/>
                <a:cs typeface="Calibri"/>
              </a:rPr>
              <a:t> </a:t>
            </a:r>
            <a:r>
              <a:rPr sz="2400" b="1" dirty="0">
                <a:solidFill>
                  <a:srgbClr val="D9D9D9"/>
                </a:solidFill>
                <a:latin typeface="Calibri"/>
                <a:cs typeface="Calibri"/>
              </a:rPr>
              <a:t>around</a:t>
            </a:r>
            <a:r>
              <a:rPr sz="2400" b="1" spc="-47" dirty="0">
                <a:solidFill>
                  <a:srgbClr val="D9D9D9"/>
                </a:solidFill>
                <a:latin typeface="Calibri"/>
                <a:cs typeface="Calibri"/>
              </a:rPr>
              <a:t> </a:t>
            </a:r>
            <a:r>
              <a:rPr sz="2400" b="1" dirty="0">
                <a:solidFill>
                  <a:srgbClr val="D9D9D9"/>
                </a:solidFill>
                <a:latin typeface="Calibri"/>
                <a:cs typeface="Calibri"/>
              </a:rPr>
              <a:t>performance</a:t>
            </a:r>
            <a:r>
              <a:rPr sz="2400" b="1" spc="-67" dirty="0">
                <a:solidFill>
                  <a:srgbClr val="D9D9D9"/>
                </a:solidFill>
                <a:latin typeface="Calibri"/>
                <a:cs typeface="Calibri"/>
              </a:rPr>
              <a:t> </a:t>
            </a:r>
            <a:r>
              <a:rPr sz="2400" b="1" dirty="0">
                <a:solidFill>
                  <a:srgbClr val="D9D9D9"/>
                </a:solidFill>
                <a:latin typeface="Calibri"/>
                <a:cs typeface="Calibri"/>
              </a:rPr>
              <a:t>&amp;</a:t>
            </a:r>
            <a:r>
              <a:rPr sz="2400" b="1" spc="-20" dirty="0">
                <a:solidFill>
                  <a:srgbClr val="D9D9D9"/>
                </a:solidFill>
                <a:latin typeface="Calibri"/>
                <a:cs typeface="Calibri"/>
              </a:rPr>
              <a:t> </a:t>
            </a:r>
            <a:r>
              <a:rPr sz="2400" b="1" spc="-13" dirty="0">
                <a:solidFill>
                  <a:srgbClr val="D9D9D9"/>
                </a:solidFill>
                <a:latin typeface="Calibri"/>
                <a:cs typeface="Calibri"/>
              </a:rPr>
              <a:t>usability</a:t>
            </a:r>
            <a:endParaRPr sz="2400" dirty="0">
              <a:latin typeface="Calibri"/>
              <a:cs typeface="Calibri"/>
            </a:endParaRPr>
          </a:p>
        </p:txBody>
      </p:sp>
      <p:sp>
        <p:nvSpPr>
          <p:cNvPr id="3" name="object 3"/>
          <p:cNvSpPr txBox="1">
            <a:spLocks noGrp="1"/>
          </p:cNvSpPr>
          <p:nvPr>
            <p:ph type="title"/>
          </p:nvPr>
        </p:nvSpPr>
        <p:spPr>
          <a:xfrm>
            <a:off x="2051879" y="317332"/>
            <a:ext cx="7579139" cy="695062"/>
          </a:xfrm>
          <a:prstGeom prst="rect">
            <a:avLst/>
          </a:prstGeom>
        </p:spPr>
        <p:txBody>
          <a:bodyPr vert="horz" wrap="square" lIns="0" tIns="17780" rIns="0" bIns="0" rtlCol="0" anchor="ctr">
            <a:spAutoFit/>
          </a:bodyPr>
          <a:lstStyle/>
          <a:p>
            <a:pPr marL="1239489" algn="ctr">
              <a:lnSpc>
                <a:spcPct val="100000"/>
              </a:lnSpc>
              <a:spcBef>
                <a:spcPts val="140"/>
              </a:spcBef>
            </a:pPr>
            <a:r>
              <a:rPr dirty="0">
                <a:solidFill>
                  <a:schemeClr val="bg1"/>
                </a:solidFill>
                <a:latin typeface="+mn-lt"/>
              </a:rPr>
              <a:t>Dimensional</a:t>
            </a:r>
            <a:r>
              <a:rPr spc="-152" dirty="0">
                <a:solidFill>
                  <a:schemeClr val="bg1"/>
                </a:solidFill>
                <a:latin typeface="+mn-lt"/>
              </a:rPr>
              <a:t> </a:t>
            </a:r>
            <a:r>
              <a:rPr spc="-13" dirty="0">
                <a:solidFill>
                  <a:schemeClr val="bg1"/>
                </a:solidFill>
                <a:latin typeface="+mn-lt"/>
              </a:rPr>
              <a:t>modeling</a:t>
            </a:r>
          </a:p>
        </p:txBody>
      </p:sp>
      <p:graphicFrame>
        <p:nvGraphicFramePr>
          <p:cNvPr id="5" name="object 4">
            <a:extLst>
              <a:ext uri="{FF2B5EF4-FFF2-40B4-BE49-F238E27FC236}">
                <a16:creationId xmlns:a16="http://schemas.microsoft.com/office/drawing/2014/main" id="{70886907-5719-6E41-3C12-6E65BCC9B793}"/>
              </a:ext>
            </a:extLst>
          </p:cNvPr>
          <p:cNvGraphicFramePr>
            <a:graphicFrameLocks noGrp="1"/>
          </p:cNvGraphicFramePr>
          <p:nvPr>
            <p:extLst>
              <p:ext uri="{D42A27DB-BD31-4B8C-83A1-F6EECF244321}">
                <p14:modId xmlns:p14="http://schemas.microsoft.com/office/powerpoint/2010/main" val="1193185545"/>
              </p:ext>
            </p:extLst>
          </p:nvPr>
        </p:nvGraphicFramePr>
        <p:xfrm>
          <a:off x="3793440" y="3763291"/>
          <a:ext cx="5212045" cy="1778000"/>
        </p:xfrm>
        <a:graphic>
          <a:graphicData uri="http://schemas.openxmlformats.org/drawingml/2006/table">
            <a:tbl>
              <a:tblPr firstRow="1" bandRow="1">
                <a:tableStyleId>{2D5ABB26-0587-4C30-8999-92F81FD0307C}</a:tableStyleId>
              </a:tblPr>
              <a:tblGrid>
                <a:gridCol w="550759">
                  <a:extLst>
                    <a:ext uri="{9D8B030D-6E8A-4147-A177-3AD203B41FA5}">
                      <a16:colId xmlns:a16="http://schemas.microsoft.com/office/drawing/2014/main" val="20000"/>
                    </a:ext>
                  </a:extLst>
                </a:gridCol>
                <a:gridCol w="863608">
                  <a:extLst>
                    <a:ext uri="{9D8B030D-6E8A-4147-A177-3AD203B41FA5}">
                      <a16:colId xmlns:a16="http://schemas.microsoft.com/office/drawing/2014/main" val="20001"/>
                    </a:ext>
                  </a:extLst>
                </a:gridCol>
                <a:gridCol w="1030861">
                  <a:extLst>
                    <a:ext uri="{9D8B030D-6E8A-4147-A177-3AD203B41FA5}">
                      <a16:colId xmlns:a16="http://schemas.microsoft.com/office/drawing/2014/main" val="20002"/>
                    </a:ext>
                  </a:extLst>
                </a:gridCol>
                <a:gridCol w="1167995">
                  <a:extLst>
                    <a:ext uri="{9D8B030D-6E8A-4147-A177-3AD203B41FA5}">
                      <a16:colId xmlns:a16="http://schemas.microsoft.com/office/drawing/2014/main" val="20003"/>
                    </a:ext>
                  </a:extLst>
                </a:gridCol>
                <a:gridCol w="1598822">
                  <a:extLst>
                    <a:ext uri="{9D8B030D-6E8A-4147-A177-3AD203B41FA5}">
                      <a16:colId xmlns:a16="http://schemas.microsoft.com/office/drawing/2014/main" val="20004"/>
                    </a:ext>
                  </a:extLst>
                </a:gridCol>
              </a:tblGrid>
              <a:tr h="254000">
                <a:tc>
                  <a:txBody>
                    <a:bodyPr/>
                    <a:lstStyle/>
                    <a:p>
                      <a:pPr algn="ctr">
                        <a:lnSpc>
                          <a:spcPct val="100000"/>
                        </a:lnSpc>
                        <a:spcBef>
                          <a:spcPts val="135"/>
                        </a:spcBef>
                      </a:pPr>
                      <a:r>
                        <a:rPr sz="1600" spc="-25" dirty="0">
                          <a:latin typeface="Arial MT"/>
                          <a:cs typeface="Arial MT"/>
                        </a:rPr>
                        <a:t>id</a:t>
                      </a:r>
                      <a:endParaRPr sz="16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135"/>
                        </a:spcBef>
                      </a:pPr>
                      <a:r>
                        <a:rPr sz="1600" spc="-20" dirty="0">
                          <a:latin typeface="Arial MT"/>
                          <a:cs typeface="Arial MT"/>
                        </a:rPr>
                        <a:t>date</a:t>
                      </a:r>
                      <a:endParaRPr sz="16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135"/>
                        </a:spcBef>
                      </a:pPr>
                      <a:r>
                        <a:rPr sz="1600" spc="-10" dirty="0">
                          <a:latin typeface="Arial MT"/>
                          <a:cs typeface="Arial MT"/>
                        </a:rPr>
                        <a:t>product_id</a:t>
                      </a:r>
                      <a:endParaRPr sz="16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135"/>
                        </a:spcBef>
                      </a:pPr>
                      <a:r>
                        <a:rPr sz="1600" spc="-10" dirty="0">
                          <a:latin typeface="Arial MT"/>
                          <a:cs typeface="Arial MT"/>
                        </a:rPr>
                        <a:t>customer_id</a:t>
                      </a:r>
                      <a:endParaRPr sz="16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135"/>
                        </a:spcBef>
                      </a:pPr>
                      <a:r>
                        <a:rPr sz="1600" spc="-10" dirty="0">
                          <a:latin typeface="Arial MT"/>
                          <a:cs typeface="Arial MT"/>
                        </a:rPr>
                        <a:t>profit</a:t>
                      </a:r>
                      <a:endParaRPr sz="16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0"/>
                  </a:ext>
                </a:extLst>
              </a:tr>
              <a:tr h="254000">
                <a:tc>
                  <a:txBody>
                    <a:bodyPr/>
                    <a:lstStyle/>
                    <a:p>
                      <a:pPr marL="635" algn="ctr">
                        <a:lnSpc>
                          <a:spcPct val="100000"/>
                        </a:lnSpc>
                        <a:spcBef>
                          <a:spcPts val="345"/>
                        </a:spcBef>
                      </a:pPr>
                      <a:r>
                        <a:rPr sz="1600" spc="-50" dirty="0">
                          <a:latin typeface="Arial MT"/>
                          <a:cs typeface="Arial MT"/>
                        </a:rPr>
                        <a:t>1</a:t>
                      </a:r>
                      <a:endParaRPr sz="1600" dirty="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1600" spc="-10" dirty="0">
                          <a:latin typeface="Arial MT"/>
                          <a:cs typeface="Arial MT"/>
                        </a:rPr>
                        <a:t>1/2/2022</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345"/>
                        </a:spcBef>
                      </a:pPr>
                      <a:r>
                        <a:rPr sz="1600" spc="-50" dirty="0">
                          <a:latin typeface="Arial MT"/>
                          <a:cs typeface="Arial MT"/>
                        </a:rPr>
                        <a:t>2</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20"/>
                        </a:spcBef>
                      </a:pPr>
                      <a:r>
                        <a:rPr sz="1600" spc="-50" dirty="0">
                          <a:latin typeface="Calibri"/>
                          <a:cs typeface="Calibri"/>
                        </a:rPr>
                        <a:t>2</a:t>
                      </a:r>
                      <a:endParaRPr sz="16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20"/>
                        </a:spcBef>
                      </a:pPr>
                      <a:r>
                        <a:rPr sz="1600" spc="-25" dirty="0">
                          <a:latin typeface="Calibri"/>
                          <a:cs typeface="Calibri"/>
                        </a:rPr>
                        <a:t>$23</a:t>
                      </a:r>
                      <a:endParaRPr sz="1600" dirty="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marL="635" algn="ctr">
                        <a:lnSpc>
                          <a:spcPct val="100000"/>
                        </a:lnSpc>
                        <a:spcBef>
                          <a:spcPts val="345"/>
                        </a:spcBef>
                      </a:pPr>
                      <a:r>
                        <a:rPr sz="1600" spc="-50" dirty="0">
                          <a:latin typeface="Arial MT"/>
                          <a:cs typeface="Arial MT"/>
                        </a:rPr>
                        <a:t>2</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1600" spc="-10" dirty="0">
                          <a:latin typeface="Arial MT"/>
                          <a:cs typeface="Arial MT"/>
                        </a:rPr>
                        <a:t>1/2/2022</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345"/>
                        </a:spcBef>
                      </a:pPr>
                      <a:r>
                        <a:rPr sz="1600" spc="-50" dirty="0">
                          <a:latin typeface="Arial MT"/>
                          <a:cs typeface="Arial MT"/>
                        </a:rPr>
                        <a:t>5</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20"/>
                        </a:spcBef>
                      </a:pPr>
                      <a:r>
                        <a:rPr sz="1600" spc="-50" dirty="0">
                          <a:latin typeface="Calibri"/>
                          <a:cs typeface="Calibri"/>
                        </a:rPr>
                        <a:t>2</a:t>
                      </a:r>
                      <a:endParaRPr sz="16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20"/>
                        </a:spcBef>
                      </a:pPr>
                      <a:r>
                        <a:rPr sz="1600" spc="-25" dirty="0">
                          <a:latin typeface="Calibri"/>
                          <a:cs typeface="Calibri"/>
                        </a:rPr>
                        <a:t>$12</a:t>
                      </a:r>
                      <a:endParaRPr sz="1600" dirty="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marL="635" algn="ctr">
                        <a:lnSpc>
                          <a:spcPct val="100000"/>
                        </a:lnSpc>
                        <a:spcBef>
                          <a:spcPts val="345"/>
                        </a:spcBef>
                      </a:pPr>
                      <a:r>
                        <a:rPr sz="1600" spc="-50" dirty="0">
                          <a:latin typeface="Arial MT"/>
                          <a:cs typeface="Arial MT"/>
                        </a:rPr>
                        <a:t>3</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1600" spc="-10" dirty="0">
                          <a:latin typeface="Arial MT"/>
                          <a:cs typeface="Arial MT"/>
                        </a:rPr>
                        <a:t>1/2/2022</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345"/>
                        </a:spcBef>
                      </a:pPr>
                      <a:r>
                        <a:rPr sz="1600" spc="-50" dirty="0">
                          <a:latin typeface="Arial MT"/>
                          <a:cs typeface="Arial MT"/>
                        </a:rPr>
                        <a:t>6</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20"/>
                        </a:spcBef>
                      </a:pPr>
                      <a:r>
                        <a:rPr sz="1600" spc="-50" dirty="0">
                          <a:latin typeface="Calibri"/>
                          <a:cs typeface="Calibri"/>
                        </a:rPr>
                        <a:t>5</a:t>
                      </a:r>
                      <a:endParaRPr sz="1600" dirty="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20"/>
                        </a:spcBef>
                      </a:pPr>
                      <a:r>
                        <a:rPr sz="1600" spc="-25" dirty="0">
                          <a:latin typeface="Calibri"/>
                          <a:cs typeface="Calibri"/>
                        </a:rPr>
                        <a:t>$93</a:t>
                      </a:r>
                      <a:endParaRPr sz="1600" dirty="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marL="635" algn="ctr">
                        <a:lnSpc>
                          <a:spcPct val="100000"/>
                        </a:lnSpc>
                        <a:spcBef>
                          <a:spcPts val="345"/>
                        </a:spcBef>
                      </a:pPr>
                      <a:r>
                        <a:rPr sz="1600" spc="-50" dirty="0">
                          <a:latin typeface="Arial MT"/>
                          <a:cs typeface="Arial MT"/>
                        </a:rPr>
                        <a:t>4</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1600" spc="-10" dirty="0">
                          <a:latin typeface="Arial MT"/>
                          <a:cs typeface="Arial MT"/>
                        </a:rPr>
                        <a:t>1/2/2022</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1600" spc="-25" dirty="0">
                          <a:latin typeface="Arial MT"/>
                          <a:cs typeface="Arial MT"/>
                        </a:rPr>
                        <a:t>23</a:t>
                      </a:r>
                      <a:endParaRPr sz="1600" dirty="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20"/>
                        </a:spcBef>
                      </a:pPr>
                      <a:r>
                        <a:rPr sz="1600" spc="-50" dirty="0">
                          <a:latin typeface="Calibri"/>
                          <a:cs typeface="Calibri"/>
                        </a:rPr>
                        <a:t>1</a:t>
                      </a:r>
                      <a:endParaRPr sz="16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20"/>
                        </a:spcBef>
                      </a:pPr>
                      <a:r>
                        <a:rPr sz="1600" spc="-25" dirty="0">
                          <a:latin typeface="Calibri"/>
                          <a:cs typeface="Calibri"/>
                        </a:rPr>
                        <a:t>$23</a:t>
                      </a:r>
                      <a:endParaRPr sz="1600" dirty="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marL="635" algn="ctr">
                        <a:lnSpc>
                          <a:spcPct val="100000"/>
                        </a:lnSpc>
                        <a:spcBef>
                          <a:spcPts val="345"/>
                        </a:spcBef>
                      </a:pPr>
                      <a:r>
                        <a:rPr sz="1600" spc="-50" dirty="0">
                          <a:latin typeface="Arial MT"/>
                          <a:cs typeface="Arial MT"/>
                        </a:rPr>
                        <a:t>5</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1600" spc="-10" dirty="0">
                          <a:latin typeface="Arial MT"/>
                          <a:cs typeface="Arial MT"/>
                        </a:rPr>
                        <a:t>1/2/2022</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1600" spc="-25" dirty="0">
                          <a:latin typeface="Arial MT"/>
                          <a:cs typeface="Arial MT"/>
                        </a:rPr>
                        <a:t>16</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20"/>
                        </a:spcBef>
                      </a:pPr>
                      <a:r>
                        <a:rPr sz="1600" spc="-50" dirty="0">
                          <a:latin typeface="Calibri"/>
                          <a:cs typeface="Calibri"/>
                        </a:rPr>
                        <a:t>5</a:t>
                      </a:r>
                      <a:endParaRPr sz="16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20"/>
                        </a:spcBef>
                      </a:pPr>
                      <a:r>
                        <a:rPr sz="1600" spc="-25" dirty="0">
                          <a:latin typeface="Calibri"/>
                          <a:cs typeface="Calibri"/>
                        </a:rPr>
                        <a:t>$21</a:t>
                      </a:r>
                      <a:endParaRPr sz="1600" dirty="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356525" y="1854200"/>
            <a:ext cx="5648960" cy="124051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Goal:</a:t>
            </a:r>
            <a:r>
              <a:rPr sz="2400" b="1" spc="-27" dirty="0">
                <a:solidFill>
                  <a:srgbClr val="D9D9D9"/>
                </a:solidFill>
                <a:latin typeface="Calibri"/>
                <a:cs typeface="Calibri"/>
              </a:rPr>
              <a:t> </a:t>
            </a:r>
            <a:r>
              <a:rPr sz="2400" b="1" dirty="0">
                <a:solidFill>
                  <a:srgbClr val="D9D9D9"/>
                </a:solidFill>
                <a:latin typeface="Calibri"/>
                <a:cs typeface="Calibri"/>
              </a:rPr>
              <a:t>Fast</a:t>
            </a:r>
            <a:r>
              <a:rPr sz="2400" b="1" spc="7" dirty="0">
                <a:solidFill>
                  <a:srgbClr val="D9D9D9"/>
                </a:solidFill>
                <a:latin typeface="Calibri"/>
                <a:cs typeface="Calibri"/>
              </a:rPr>
              <a:t> </a:t>
            </a:r>
            <a:r>
              <a:rPr sz="2400" b="1" dirty="0">
                <a:solidFill>
                  <a:srgbClr val="D9D9D9"/>
                </a:solidFill>
                <a:latin typeface="Calibri"/>
                <a:cs typeface="Calibri"/>
              </a:rPr>
              <a:t>data</a:t>
            </a:r>
            <a:r>
              <a:rPr sz="2400" b="1" spc="7" dirty="0">
                <a:solidFill>
                  <a:srgbClr val="D9D9D9"/>
                </a:solidFill>
                <a:latin typeface="Calibri"/>
                <a:cs typeface="Calibri"/>
              </a:rPr>
              <a:t> </a:t>
            </a:r>
            <a:r>
              <a:rPr sz="2400" b="1" spc="-13" dirty="0">
                <a:solidFill>
                  <a:srgbClr val="D9D9D9"/>
                </a:solidFill>
                <a:latin typeface="Calibri"/>
                <a:cs typeface="Calibri"/>
              </a:rPr>
              <a:t>retrieval</a:t>
            </a:r>
            <a:endParaRPr sz="2400" dirty="0">
              <a:latin typeface="Calibri"/>
              <a:cs typeface="Calibri"/>
            </a:endParaRPr>
          </a:p>
          <a:p>
            <a:pPr>
              <a:spcBef>
                <a:spcPts val="940"/>
              </a:spcBef>
              <a:buClr>
                <a:srgbClr val="99D3FF"/>
              </a:buClr>
              <a:buFont typeface="Wingdings"/>
              <a:buChar char=""/>
            </a:pPr>
            <a:endParaRPr sz="2400" dirty="0">
              <a:latin typeface="Calibri"/>
              <a:cs typeface="Calibri"/>
            </a:endParaRPr>
          </a:p>
          <a:p>
            <a:pPr marL="397923" indent="-380990">
              <a:buClr>
                <a:srgbClr val="99D3FF"/>
              </a:buClr>
              <a:buFont typeface="Wingdings"/>
              <a:buChar char=""/>
              <a:tabLst>
                <a:tab pos="397923" algn="l"/>
              </a:tabLst>
            </a:pPr>
            <a:r>
              <a:rPr sz="2400" b="1" dirty="0">
                <a:solidFill>
                  <a:srgbClr val="D9D9D9"/>
                </a:solidFill>
                <a:latin typeface="Calibri"/>
                <a:cs typeface="Calibri"/>
              </a:rPr>
              <a:t>Oriented</a:t>
            </a:r>
            <a:r>
              <a:rPr sz="2400" b="1" spc="-80" dirty="0">
                <a:solidFill>
                  <a:srgbClr val="D9D9D9"/>
                </a:solidFill>
                <a:latin typeface="Calibri"/>
                <a:cs typeface="Calibri"/>
              </a:rPr>
              <a:t> </a:t>
            </a:r>
            <a:r>
              <a:rPr sz="2400" b="1" dirty="0">
                <a:solidFill>
                  <a:srgbClr val="D9D9D9"/>
                </a:solidFill>
                <a:latin typeface="Calibri"/>
                <a:cs typeface="Calibri"/>
              </a:rPr>
              <a:t>around</a:t>
            </a:r>
            <a:r>
              <a:rPr sz="2400" b="1" spc="-47" dirty="0">
                <a:solidFill>
                  <a:srgbClr val="D9D9D9"/>
                </a:solidFill>
                <a:latin typeface="Calibri"/>
                <a:cs typeface="Calibri"/>
              </a:rPr>
              <a:t> </a:t>
            </a:r>
            <a:r>
              <a:rPr sz="2400" b="1" dirty="0">
                <a:solidFill>
                  <a:srgbClr val="D9D9D9"/>
                </a:solidFill>
                <a:latin typeface="Calibri"/>
                <a:cs typeface="Calibri"/>
              </a:rPr>
              <a:t>performance</a:t>
            </a:r>
            <a:r>
              <a:rPr sz="2400" b="1" spc="-67" dirty="0">
                <a:solidFill>
                  <a:srgbClr val="D9D9D9"/>
                </a:solidFill>
                <a:latin typeface="Calibri"/>
                <a:cs typeface="Calibri"/>
              </a:rPr>
              <a:t> </a:t>
            </a:r>
            <a:r>
              <a:rPr sz="2400" b="1" dirty="0">
                <a:solidFill>
                  <a:srgbClr val="D9D9D9"/>
                </a:solidFill>
                <a:latin typeface="Calibri"/>
                <a:cs typeface="Calibri"/>
              </a:rPr>
              <a:t>&amp;</a:t>
            </a:r>
            <a:r>
              <a:rPr sz="2400" b="1" spc="-20" dirty="0">
                <a:solidFill>
                  <a:srgbClr val="D9D9D9"/>
                </a:solidFill>
                <a:latin typeface="Calibri"/>
                <a:cs typeface="Calibri"/>
              </a:rPr>
              <a:t> </a:t>
            </a:r>
            <a:r>
              <a:rPr sz="2400" b="1" spc="-13" dirty="0">
                <a:solidFill>
                  <a:srgbClr val="D9D9D9"/>
                </a:solidFill>
                <a:latin typeface="Calibri"/>
                <a:cs typeface="Calibri"/>
              </a:rPr>
              <a:t>usability</a:t>
            </a:r>
            <a:endParaRPr sz="2400" dirty="0">
              <a:latin typeface="Calibri"/>
              <a:cs typeface="Calibri"/>
            </a:endParaRPr>
          </a:p>
        </p:txBody>
      </p:sp>
      <p:sp>
        <p:nvSpPr>
          <p:cNvPr id="3" name="object 3"/>
          <p:cNvSpPr txBox="1">
            <a:spLocks noGrp="1"/>
          </p:cNvSpPr>
          <p:nvPr>
            <p:ph type="title"/>
          </p:nvPr>
        </p:nvSpPr>
        <p:spPr>
          <a:xfrm>
            <a:off x="2097708" y="469918"/>
            <a:ext cx="7996583" cy="695062"/>
          </a:xfrm>
          <a:prstGeom prst="rect">
            <a:avLst/>
          </a:prstGeom>
        </p:spPr>
        <p:txBody>
          <a:bodyPr vert="horz" wrap="square" lIns="0" tIns="17780" rIns="0" bIns="0" rtlCol="0" anchor="ctr">
            <a:spAutoFit/>
          </a:bodyPr>
          <a:lstStyle/>
          <a:p>
            <a:pPr marL="1239489">
              <a:lnSpc>
                <a:spcPct val="100000"/>
              </a:lnSpc>
              <a:spcBef>
                <a:spcPts val="140"/>
              </a:spcBef>
            </a:pPr>
            <a:r>
              <a:rPr dirty="0">
                <a:solidFill>
                  <a:schemeClr val="bg1"/>
                </a:solidFill>
                <a:latin typeface="+mn-lt"/>
              </a:rPr>
              <a:t>Dimensional</a:t>
            </a:r>
            <a:r>
              <a:rPr spc="-152" dirty="0">
                <a:solidFill>
                  <a:schemeClr val="bg1"/>
                </a:solidFill>
                <a:latin typeface="+mn-lt"/>
              </a:rPr>
              <a:t> </a:t>
            </a:r>
            <a:r>
              <a:rPr spc="-13" dirty="0">
                <a:solidFill>
                  <a:schemeClr val="bg1"/>
                </a:solidFill>
                <a:latin typeface="+mn-lt"/>
              </a:rPr>
              <a:t>modeling</a:t>
            </a:r>
          </a:p>
        </p:txBody>
      </p:sp>
      <p:graphicFrame>
        <p:nvGraphicFramePr>
          <p:cNvPr id="5" name="object 5"/>
          <p:cNvGraphicFramePr>
            <a:graphicFrameLocks noGrp="1"/>
          </p:cNvGraphicFramePr>
          <p:nvPr>
            <p:extLst>
              <p:ext uri="{D42A27DB-BD31-4B8C-83A1-F6EECF244321}">
                <p14:modId xmlns:p14="http://schemas.microsoft.com/office/powerpoint/2010/main" val="3042855037"/>
              </p:ext>
            </p:extLst>
          </p:nvPr>
        </p:nvGraphicFramePr>
        <p:xfrm>
          <a:off x="8221134" y="3638296"/>
          <a:ext cx="3318196" cy="1777153"/>
        </p:xfrm>
        <a:graphic>
          <a:graphicData uri="http://schemas.openxmlformats.org/drawingml/2006/table">
            <a:tbl>
              <a:tblPr firstRow="1" bandRow="1">
                <a:tableStyleId>{2D5ABB26-0587-4C30-8999-92F81FD0307C}</a:tableStyleId>
              </a:tblPr>
              <a:tblGrid>
                <a:gridCol w="1144352">
                  <a:extLst>
                    <a:ext uri="{9D8B030D-6E8A-4147-A177-3AD203B41FA5}">
                      <a16:colId xmlns:a16="http://schemas.microsoft.com/office/drawing/2014/main" val="20000"/>
                    </a:ext>
                  </a:extLst>
                </a:gridCol>
                <a:gridCol w="1144352">
                  <a:extLst>
                    <a:ext uri="{9D8B030D-6E8A-4147-A177-3AD203B41FA5}">
                      <a16:colId xmlns:a16="http://schemas.microsoft.com/office/drawing/2014/main" val="20001"/>
                    </a:ext>
                  </a:extLst>
                </a:gridCol>
                <a:gridCol w="1029492">
                  <a:extLst>
                    <a:ext uri="{9D8B030D-6E8A-4147-A177-3AD203B41FA5}">
                      <a16:colId xmlns:a16="http://schemas.microsoft.com/office/drawing/2014/main" val="20002"/>
                    </a:ext>
                  </a:extLst>
                </a:gridCol>
              </a:tblGrid>
              <a:tr h="254000">
                <a:tc>
                  <a:txBody>
                    <a:bodyPr/>
                    <a:lstStyle/>
                    <a:p>
                      <a:pPr marL="1270" algn="ctr">
                        <a:lnSpc>
                          <a:spcPct val="100000"/>
                        </a:lnSpc>
                        <a:spcBef>
                          <a:spcPts val="130"/>
                        </a:spcBef>
                      </a:pPr>
                      <a:r>
                        <a:rPr sz="1600" spc="-10" dirty="0">
                          <a:latin typeface="Arial MT"/>
                          <a:cs typeface="Arial MT"/>
                        </a:rPr>
                        <a:t>date_id</a:t>
                      </a:r>
                      <a:endParaRPr sz="16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tc>
                  <a:txBody>
                    <a:bodyPr/>
                    <a:lstStyle/>
                    <a:p>
                      <a:pPr marL="2540" algn="ctr">
                        <a:lnSpc>
                          <a:spcPct val="100000"/>
                        </a:lnSpc>
                        <a:spcBef>
                          <a:spcPts val="130"/>
                        </a:spcBef>
                      </a:pPr>
                      <a:r>
                        <a:rPr sz="1600" spc="-10" dirty="0">
                          <a:latin typeface="Arial MT"/>
                          <a:cs typeface="Arial MT"/>
                        </a:rPr>
                        <a:t>weekday</a:t>
                      </a:r>
                      <a:endParaRPr sz="16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tc>
                  <a:txBody>
                    <a:bodyPr/>
                    <a:lstStyle/>
                    <a:p>
                      <a:pPr marL="2540" algn="ctr">
                        <a:lnSpc>
                          <a:spcPct val="100000"/>
                        </a:lnSpc>
                        <a:spcBef>
                          <a:spcPts val="130"/>
                        </a:spcBef>
                      </a:pPr>
                      <a:r>
                        <a:rPr sz="1600" spc="-10" dirty="0">
                          <a:latin typeface="Arial MT"/>
                          <a:cs typeface="Arial MT"/>
                        </a:rPr>
                        <a:t>month</a:t>
                      </a:r>
                      <a:endParaRPr sz="16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extLst>
                  <a:ext uri="{0D108BD9-81ED-4DB2-BD59-A6C34878D82A}">
                    <a16:rowId xmlns:a16="http://schemas.microsoft.com/office/drawing/2014/main" val="10000"/>
                  </a:ext>
                </a:extLst>
              </a:tr>
              <a:tr h="254000">
                <a:tc>
                  <a:txBody>
                    <a:bodyPr/>
                    <a:lstStyle/>
                    <a:p>
                      <a:pPr algn="ctr">
                        <a:lnSpc>
                          <a:spcPct val="100000"/>
                        </a:lnSpc>
                        <a:spcBef>
                          <a:spcPts val="345"/>
                        </a:spcBef>
                      </a:pPr>
                      <a:r>
                        <a:rPr sz="1600" spc="-10" dirty="0">
                          <a:latin typeface="Arial MT"/>
                          <a:cs typeface="Arial MT"/>
                        </a:rPr>
                        <a:t>20220102</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tc>
                  <a:txBody>
                    <a:bodyPr/>
                    <a:lstStyle/>
                    <a:p>
                      <a:pPr marL="1270" algn="ctr">
                        <a:lnSpc>
                          <a:spcPct val="100000"/>
                        </a:lnSpc>
                        <a:spcBef>
                          <a:spcPts val="320"/>
                        </a:spcBef>
                      </a:pPr>
                      <a:r>
                        <a:rPr sz="1600" spc="-10" dirty="0">
                          <a:latin typeface="Calibri"/>
                          <a:cs typeface="Calibri"/>
                        </a:rPr>
                        <a:t>Monday</a:t>
                      </a:r>
                      <a:endParaRPr sz="16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tc>
                  <a:txBody>
                    <a:bodyPr/>
                    <a:lstStyle/>
                    <a:p>
                      <a:pPr marL="3175" algn="ctr">
                        <a:lnSpc>
                          <a:spcPct val="100000"/>
                        </a:lnSpc>
                        <a:spcBef>
                          <a:spcPts val="320"/>
                        </a:spcBef>
                      </a:pPr>
                      <a:r>
                        <a:rPr sz="1600" spc="-10" dirty="0">
                          <a:latin typeface="Calibri"/>
                          <a:cs typeface="Calibri"/>
                        </a:rPr>
                        <a:t>January</a:t>
                      </a:r>
                      <a:endParaRPr sz="16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extLst>
                  <a:ext uri="{0D108BD9-81ED-4DB2-BD59-A6C34878D82A}">
                    <a16:rowId xmlns:a16="http://schemas.microsoft.com/office/drawing/2014/main" val="10001"/>
                  </a:ext>
                </a:extLst>
              </a:tr>
              <a:tr h="254000">
                <a:tc>
                  <a:txBody>
                    <a:bodyPr/>
                    <a:lstStyle/>
                    <a:p>
                      <a:pPr algn="ctr">
                        <a:lnSpc>
                          <a:spcPct val="100000"/>
                        </a:lnSpc>
                        <a:spcBef>
                          <a:spcPts val="345"/>
                        </a:spcBef>
                      </a:pPr>
                      <a:r>
                        <a:rPr sz="1600" spc="-10" dirty="0">
                          <a:latin typeface="Arial MT"/>
                          <a:cs typeface="Arial MT"/>
                        </a:rPr>
                        <a:t>20220103</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tc>
                  <a:txBody>
                    <a:bodyPr/>
                    <a:lstStyle/>
                    <a:p>
                      <a:pPr algn="ctr">
                        <a:lnSpc>
                          <a:spcPct val="100000"/>
                        </a:lnSpc>
                        <a:spcBef>
                          <a:spcPts val="320"/>
                        </a:spcBef>
                      </a:pPr>
                      <a:r>
                        <a:rPr sz="1600" spc="-10" dirty="0">
                          <a:latin typeface="Calibri"/>
                          <a:cs typeface="Calibri"/>
                        </a:rPr>
                        <a:t>Tuesday</a:t>
                      </a:r>
                      <a:endParaRPr sz="16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tc>
                  <a:txBody>
                    <a:bodyPr/>
                    <a:lstStyle/>
                    <a:p>
                      <a:pPr marL="3175" algn="ctr">
                        <a:lnSpc>
                          <a:spcPct val="100000"/>
                        </a:lnSpc>
                        <a:spcBef>
                          <a:spcPts val="320"/>
                        </a:spcBef>
                      </a:pPr>
                      <a:r>
                        <a:rPr sz="1600" spc="-10" dirty="0">
                          <a:latin typeface="Calibri"/>
                          <a:cs typeface="Calibri"/>
                        </a:rPr>
                        <a:t>January</a:t>
                      </a:r>
                      <a:endParaRPr sz="16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extLst>
                  <a:ext uri="{0D108BD9-81ED-4DB2-BD59-A6C34878D82A}">
                    <a16:rowId xmlns:a16="http://schemas.microsoft.com/office/drawing/2014/main" val="10002"/>
                  </a:ext>
                </a:extLst>
              </a:tr>
              <a:tr h="254000">
                <a:tc>
                  <a:txBody>
                    <a:bodyPr/>
                    <a:lstStyle/>
                    <a:p>
                      <a:pPr algn="ctr">
                        <a:lnSpc>
                          <a:spcPct val="100000"/>
                        </a:lnSpc>
                        <a:spcBef>
                          <a:spcPts val="345"/>
                        </a:spcBef>
                      </a:pPr>
                      <a:r>
                        <a:rPr sz="1600" spc="-10" dirty="0">
                          <a:latin typeface="Arial MT"/>
                          <a:cs typeface="Arial MT"/>
                        </a:rPr>
                        <a:t>20220104</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tc>
                  <a:txBody>
                    <a:bodyPr/>
                    <a:lstStyle/>
                    <a:p>
                      <a:pPr marL="1270" algn="ctr">
                        <a:lnSpc>
                          <a:spcPct val="100000"/>
                        </a:lnSpc>
                        <a:spcBef>
                          <a:spcPts val="320"/>
                        </a:spcBef>
                      </a:pPr>
                      <a:r>
                        <a:rPr sz="1600" spc="-10" dirty="0">
                          <a:latin typeface="Calibri"/>
                          <a:cs typeface="Calibri"/>
                        </a:rPr>
                        <a:t>Wednesday</a:t>
                      </a:r>
                      <a:endParaRPr sz="16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tc>
                  <a:txBody>
                    <a:bodyPr/>
                    <a:lstStyle/>
                    <a:p>
                      <a:pPr marL="3175" algn="ctr">
                        <a:lnSpc>
                          <a:spcPct val="100000"/>
                        </a:lnSpc>
                        <a:spcBef>
                          <a:spcPts val="320"/>
                        </a:spcBef>
                      </a:pPr>
                      <a:r>
                        <a:rPr sz="1600" spc="-10" dirty="0">
                          <a:latin typeface="Calibri"/>
                          <a:cs typeface="Calibri"/>
                        </a:rPr>
                        <a:t>January</a:t>
                      </a:r>
                      <a:endParaRPr sz="1600" dirty="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extLst>
                  <a:ext uri="{0D108BD9-81ED-4DB2-BD59-A6C34878D82A}">
                    <a16:rowId xmlns:a16="http://schemas.microsoft.com/office/drawing/2014/main" val="10003"/>
                  </a:ext>
                </a:extLst>
              </a:tr>
              <a:tr h="253153">
                <a:tc>
                  <a:txBody>
                    <a:bodyPr/>
                    <a:lstStyle/>
                    <a:p>
                      <a:pPr algn="ctr">
                        <a:lnSpc>
                          <a:spcPct val="100000"/>
                        </a:lnSpc>
                        <a:spcBef>
                          <a:spcPts val="345"/>
                        </a:spcBef>
                      </a:pPr>
                      <a:r>
                        <a:rPr sz="1600" spc="-10" dirty="0">
                          <a:latin typeface="Arial MT"/>
                          <a:cs typeface="Arial MT"/>
                        </a:rPr>
                        <a:t>20220105</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tc>
                  <a:txBody>
                    <a:bodyPr/>
                    <a:lstStyle/>
                    <a:p>
                      <a:pPr algn="ctr">
                        <a:lnSpc>
                          <a:spcPct val="100000"/>
                        </a:lnSpc>
                        <a:spcBef>
                          <a:spcPts val="320"/>
                        </a:spcBef>
                      </a:pPr>
                      <a:r>
                        <a:rPr sz="1600" spc="-10" dirty="0">
                          <a:latin typeface="Calibri"/>
                          <a:cs typeface="Calibri"/>
                        </a:rPr>
                        <a:t>Friday</a:t>
                      </a:r>
                      <a:endParaRPr sz="16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tc>
                  <a:txBody>
                    <a:bodyPr/>
                    <a:lstStyle/>
                    <a:p>
                      <a:pPr marL="3175" algn="ctr">
                        <a:lnSpc>
                          <a:spcPct val="100000"/>
                        </a:lnSpc>
                        <a:spcBef>
                          <a:spcPts val="320"/>
                        </a:spcBef>
                      </a:pPr>
                      <a:r>
                        <a:rPr sz="1600" spc="-10" dirty="0">
                          <a:latin typeface="Calibri"/>
                          <a:cs typeface="Calibri"/>
                        </a:rPr>
                        <a:t>January</a:t>
                      </a:r>
                      <a:endParaRPr sz="16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extLst>
                  <a:ext uri="{0D108BD9-81ED-4DB2-BD59-A6C34878D82A}">
                    <a16:rowId xmlns:a16="http://schemas.microsoft.com/office/drawing/2014/main" val="10004"/>
                  </a:ext>
                </a:extLst>
              </a:tr>
              <a:tr h="253153">
                <a:tc>
                  <a:txBody>
                    <a:bodyPr/>
                    <a:lstStyle/>
                    <a:p>
                      <a:pPr algn="ctr">
                        <a:lnSpc>
                          <a:spcPct val="100000"/>
                        </a:lnSpc>
                        <a:spcBef>
                          <a:spcPts val="345"/>
                        </a:spcBef>
                      </a:pPr>
                      <a:r>
                        <a:rPr sz="1600" spc="-10" dirty="0">
                          <a:latin typeface="Arial MT"/>
                          <a:cs typeface="Arial MT"/>
                        </a:rPr>
                        <a:t>20220106</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tc>
                  <a:txBody>
                    <a:bodyPr/>
                    <a:lstStyle/>
                    <a:p>
                      <a:pPr algn="ctr">
                        <a:lnSpc>
                          <a:spcPct val="100000"/>
                        </a:lnSpc>
                        <a:spcBef>
                          <a:spcPts val="320"/>
                        </a:spcBef>
                      </a:pPr>
                      <a:r>
                        <a:rPr sz="1600" spc="-10" dirty="0">
                          <a:latin typeface="Calibri"/>
                          <a:cs typeface="Calibri"/>
                        </a:rPr>
                        <a:t>Saturday</a:t>
                      </a:r>
                      <a:endParaRPr sz="16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tc>
                  <a:txBody>
                    <a:bodyPr/>
                    <a:lstStyle/>
                    <a:p>
                      <a:pPr marL="3175" algn="ctr">
                        <a:lnSpc>
                          <a:spcPct val="100000"/>
                        </a:lnSpc>
                        <a:spcBef>
                          <a:spcPts val="320"/>
                        </a:spcBef>
                      </a:pPr>
                      <a:r>
                        <a:rPr sz="1600" spc="-10" dirty="0">
                          <a:latin typeface="Calibri"/>
                          <a:cs typeface="Calibri"/>
                        </a:rPr>
                        <a:t>January</a:t>
                      </a:r>
                      <a:endParaRPr sz="1600" dirty="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D3FF"/>
                    </a:solidFill>
                  </a:tcPr>
                </a:tc>
                <a:extLst>
                  <a:ext uri="{0D108BD9-81ED-4DB2-BD59-A6C34878D82A}">
                    <a16:rowId xmlns:a16="http://schemas.microsoft.com/office/drawing/2014/main" val="10005"/>
                  </a:ext>
                </a:extLst>
              </a:tr>
            </a:tbl>
          </a:graphicData>
        </a:graphic>
      </p:graphicFrame>
      <p:sp>
        <p:nvSpPr>
          <p:cNvPr id="6" name="object 6"/>
          <p:cNvSpPr txBox="1"/>
          <p:nvPr/>
        </p:nvSpPr>
        <p:spPr>
          <a:xfrm>
            <a:off x="3504318" y="5381336"/>
            <a:ext cx="2102273" cy="386430"/>
          </a:xfrm>
          <a:prstGeom prst="rect">
            <a:avLst/>
          </a:prstGeom>
        </p:spPr>
        <p:txBody>
          <a:bodyPr vert="horz" wrap="square" lIns="0" tIns="16933" rIns="0" bIns="0" rtlCol="0">
            <a:spAutoFit/>
          </a:bodyPr>
          <a:lstStyle/>
          <a:p>
            <a:pPr marL="16933">
              <a:spcBef>
                <a:spcPts val="133"/>
              </a:spcBef>
            </a:pPr>
            <a:r>
              <a:rPr sz="2400" b="1" dirty="0">
                <a:solidFill>
                  <a:srgbClr val="D9D9D9"/>
                </a:solidFill>
                <a:latin typeface="Calibri"/>
                <a:cs typeface="Calibri"/>
              </a:rPr>
              <a:t>Profit Fact </a:t>
            </a:r>
            <a:r>
              <a:rPr sz="2400" b="1" spc="-13" dirty="0">
                <a:solidFill>
                  <a:srgbClr val="D9D9D9"/>
                </a:solidFill>
                <a:latin typeface="Calibri"/>
                <a:cs typeface="Calibri"/>
              </a:rPr>
              <a:t>Table</a:t>
            </a:r>
            <a:endParaRPr sz="2400" dirty="0">
              <a:latin typeface="Calibri"/>
              <a:cs typeface="Calibri"/>
            </a:endParaRPr>
          </a:p>
        </p:txBody>
      </p:sp>
      <p:sp>
        <p:nvSpPr>
          <p:cNvPr id="7" name="object 7"/>
          <p:cNvSpPr txBox="1"/>
          <p:nvPr/>
        </p:nvSpPr>
        <p:spPr>
          <a:xfrm>
            <a:off x="9269362" y="5457855"/>
            <a:ext cx="1221740" cy="386430"/>
          </a:xfrm>
          <a:prstGeom prst="rect">
            <a:avLst/>
          </a:prstGeom>
        </p:spPr>
        <p:txBody>
          <a:bodyPr vert="horz" wrap="square" lIns="0" tIns="16933" rIns="0" bIns="0" rtlCol="0">
            <a:spAutoFit/>
          </a:bodyPr>
          <a:lstStyle/>
          <a:p>
            <a:pPr marL="16933">
              <a:spcBef>
                <a:spcPts val="133"/>
              </a:spcBef>
            </a:pPr>
            <a:r>
              <a:rPr sz="2400" b="1" dirty="0">
                <a:solidFill>
                  <a:srgbClr val="D9D9D9"/>
                </a:solidFill>
                <a:latin typeface="Calibri"/>
                <a:cs typeface="Calibri"/>
              </a:rPr>
              <a:t>Date</a:t>
            </a:r>
            <a:r>
              <a:rPr sz="2400" b="1" spc="-33" dirty="0">
                <a:solidFill>
                  <a:srgbClr val="D9D9D9"/>
                </a:solidFill>
                <a:latin typeface="Calibri"/>
                <a:cs typeface="Calibri"/>
              </a:rPr>
              <a:t> Dim</a:t>
            </a:r>
            <a:endParaRPr sz="2400" dirty="0">
              <a:latin typeface="Calibri"/>
              <a:cs typeface="Calibri"/>
            </a:endParaRPr>
          </a:p>
        </p:txBody>
      </p:sp>
      <p:sp>
        <p:nvSpPr>
          <p:cNvPr id="9" name="object 9"/>
          <p:cNvSpPr/>
          <p:nvPr/>
        </p:nvSpPr>
        <p:spPr>
          <a:xfrm>
            <a:off x="10506397" y="3589933"/>
            <a:ext cx="1032933" cy="1867922"/>
          </a:xfrm>
          <a:custGeom>
            <a:avLst/>
            <a:gdLst/>
            <a:ahLst/>
            <a:cxnLst/>
            <a:rect l="l" t="t" r="r" b="b"/>
            <a:pathLst>
              <a:path w="774700" h="1178560">
                <a:moveTo>
                  <a:pt x="0" y="129032"/>
                </a:moveTo>
                <a:lnTo>
                  <a:pt x="10142" y="78813"/>
                </a:lnTo>
                <a:lnTo>
                  <a:pt x="37798" y="37798"/>
                </a:lnTo>
                <a:lnTo>
                  <a:pt x="78813" y="10142"/>
                </a:lnTo>
                <a:lnTo>
                  <a:pt x="129031" y="0"/>
                </a:lnTo>
                <a:lnTo>
                  <a:pt x="645159" y="0"/>
                </a:lnTo>
                <a:lnTo>
                  <a:pt x="695378" y="10142"/>
                </a:lnTo>
                <a:lnTo>
                  <a:pt x="736393" y="37798"/>
                </a:lnTo>
                <a:lnTo>
                  <a:pt x="764049" y="78813"/>
                </a:lnTo>
                <a:lnTo>
                  <a:pt x="774191" y="129032"/>
                </a:lnTo>
                <a:lnTo>
                  <a:pt x="774191" y="1049020"/>
                </a:lnTo>
                <a:lnTo>
                  <a:pt x="764049" y="1099238"/>
                </a:lnTo>
                <a:lnTo>
                  <a:pt x="736393" y="1140253"/>
                </a:lnTo>
                <a:lnTo>
                  <a:pt x="695378" y="1167909"/>
                </a:lnTo>
                <a:lnTo>
                  <a:pt x="645159" y="1178052"/>
                </a:lnTo>
                <a:lnTo>
                  <a:pt x="129031" y="1178052"/>
                </a:lnTo>
                <a:lnTo>
                  <a:pt x="78813" y="1167909"/>
                </a:lnTo>
                <a:lnTo>
                  <a:pt x="37798" y="1140253"/>
                </a:lnTo>
                <a:lnTo>
                  <a:pt x="10142" y="1099238"/>
                </a:lnTo>
                <a:lnTo>
                  <a:pt x="0" y="1049020"/>
                </a:lnTo>
                <a:lnTo>
                  <a:pt x="0" y="129032"/>
                </a:lnTo>
                <a:close/>
              </a:path>
            </a:pathLst>
          </a:custGeom>
          <a:ln w="25908">
            <a:solidFill>
              <a:srgbClr val="FFFFFF"/>
            </a:solidFill>
          </a:ln>
        </p:spPr>
        <p:txBody>
          <a:bodyPr wrap="square" lIns="0" tIns="0" rIns="0" bIns="0" rtlCol="0"/>
          <a:lstStyle/>
          <a:p>
            <a:endParaRPr sz="2400"/>
          </a:p>
        </p:txBody>
      </p:sp>
      <p:graphicFrame>
        <p:nvGraphicFramePr>
          <p:cNvPr id="10" name="object 4">
            <a:extLst>
              <a:ext uri="{FF2B5EF4-FFF2-40B4-BE49-F238E27FC236}">
                <a16:creationId xmlns:a16="http://schemas.microsoft.com/office/drawing/2014/main" id="{79ABF168-2037-0A58-9DD2-9F7D2187B8DB}"/>
              </a:ext>
            </a:extLst>
          </p:cNvPr>
          <p:cNvGraphicFramePr>
            <a:graphicFrameLocks noGrp="1"/>
          </p:cNvGraphicFramePr>
          <p:nvPr>
            <p:extLst>
              <p:ext uri="{D42A27DB-BD31-4B8C-83A1-F6EECF244321}">
                <p14:modId xmlns:p14="http://schemas.microsoft.com/office/powerpoint/2010/main" val="4073006441"/>
              </p:ext>
            </p:extLst>
          </p:nvPr>
        </p:nvGraphicFramePr>
        <p:xfrm>
          <a:off x="2020514" y="3486640"/>
          <a:ext cx="5212045" cy="1778000"/>
        </p:xfrm>
        <a:graphic>
          <a:graphicData uri="http://schemas.openxmlformats.org/drawingml/2006/table">
            <a:tbl>
              <a:tblPr firstRow="1" bandRow="1">
                <a:tableStyleId>{2D5ABB26-0587-4C30-8999-92F81FD0307C}</a:tableStyleId>
              </a:tblPr>
              <a:tblGrid>
                <a:gridCol w="550759">
                  <a:extLst>
                    <a:ext uri="{9D8B030D-6E8A-4147-A177-3AD203B41FA5}">
                      <a16:colId xmlns:a16="http://schemas.microsoft.com/office/drawing/2014/main" val="20000"/>
                    </a:ext>
                  </a:extLst>
                </a:gridCol>
                <a:gridCol w="863608">
                  <a:extLst>
                    <a:ext uri="{9D8B030D-6E8A-4147-A177-3AD203B41FA5}">
                      <a16:colId xmlns:a16="http://schemas.microsoft.com/office/drawing/2014/main" val="20001"/>
                    </a:ext>
                  </a:extLst>
                </a:gridCol>
                <a:gridCol w="1030861">
                  <a:extLst>
                    <a:ext uri="{9D8B030D-6E8A-4147-A177-3AD203B41FA5}">
                      <a16:colId xmlns:a16="http://schemas.microsoft.com/office/drawing/2014/main" val="20002"/>
                    </a:ext>
                  </a:extLst>
                </a:gridCol>
                <a:gridCol w="1167995">
                  <a:extLst>
                    <a:ext uri="{9D8B030D-6E8A-4147-A177-3AD203B41FA5}">
                      <a16:colId xmlns:a16="http://schemas.microsoft.com/office/drawing/2014/main" val="20003"/>
                    </a:ext>
                  </a:extLst>
                </a:gridCol>
                <a:gridCol w="1598822">
                  <a:extLst>
                    <a:ext uri="{9D8B030D-6E8A-4147-A177-3AD203B41FA5}">
                      <a16:colId xmlns:a16="http://schemas.microsoft.com/office/drawing/2014/main" val="20004"/>
                    </a:ext>
                  </a:extLst>
                </a:gridCol>
              </a:tblGrid>
              <a:tr h="254000">
                <a:tc>
                  <a:txBody>
                    <a:bodyPr/>
                    <a:lstStyle/>
                    <a:p>
                      <a:pPr algn="ctr">
                        <a:lnSpc>
                          <a:spcPct val="100000"/>
                        </a:lnSpc>
                        <a:spcBef>
                          <a:spcPts val="135"/>
                        </a:spcBef>
                      </a:pPr>
                      <a:r>
                        <a:rPr sz="1600" spc="-25" dirty="0">
                          <a:latin typeface="Arial MT"/>
                          <a:cs typeface="Arial MT"/>
                        </a:rPr>
                        <a:t>id</a:t>
                      </a:r>
                      <a:endParaRPr sz="16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135"/>
                        </a:spcBef>
                      </a:pPr>
                      <a:r>
                        <a:rPr sz="1600" spc="-20" dirty="0">
                          <a:latin typeface="Arial MT"/>
                          <a:cs typeface="Arial MT"/>
                        </a:rPr>
                        <a:t>date</a:t>
                      </a:r>
                      <a:endParaRPr sz="16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135"/>
                        </a:spcBef>
                      </a:pPr>
                      <a:r>
                        <a:rPr sz="1600" spc="-10" dirty="0">
                          <a:latin typeface="Arial MT"/>
                          <a:cs typeface="Arial MT"/>
                        </a:rPr>
                        <a:t>product_id</a:t>
                      </a:r>
                      <a:endParaRPr sz="16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135"/>
                        </a:spcBef>
                      </a:pPr>
                      <a:r>
                        <a:rPr sz="1600" spc="-10" dirty="0">
                          <a:latin typeface="Arial MT"/>
                          <a:cs typeface="Arial MT"/>
                        </a:rPr>
                        <a:t>customer_id</a:t>
                      </a:r>
                      <a:endParaRPr sz="16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135"/>
                        </a:spcBef>
                      </a:pPr>
                      <a:r>
                        <a:rPr sz="1600" spc="-10" dirty="0">
                          <a:latin typeface="Arial MT"/>
                          <a:cs typeface="Arial MT"/>
                        </a:rPr>
                        <a:t>profit</a:t>
                      </a:r>
                      <a:endParaRPr sz="1600">
                        <a:latin typeface="Arial MT"/>
                        <a:cs typeface="Arial MT"/>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0"/>
                  </a:ext>
                </a:extLst>
              </a:tr>
              <a:tr h="254000">
                <a:tc>
                  <a:txBody>
                    <a:bodyPr/>
                    <a:lstStyle/>
                    <a:p>
                      <a:pPr marL="635" algn="ctr">
                        <a:lnSpc>
                          <a:spcPct val="100000"/>
                        </a:lnSpc>
                        <a:spcBef>
                          <a:spcPts val="345"/>
                        </a:spcBef>
                      </a:pPr>
                      <a:r>
                        <a:rPr sz="1600" spc="-50" dirty="0">
                          <a:latin typeface="Arial MT"/>
                          <a:cs typeface="Arial MT"/>
                        </a:rPr>
                        <a:t>1</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1600" spc="-10" dirty="0">
                          <a:latin typeface="Arial MT"/>
                          <a:cs typeface="Arial MT"/>
                        </a:rPr>
                        <a:t>1/2/2022</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345"/>
                        </a:spcBef>
                      </a:pPr>
                      <a:r>
                        <a:rPr sz="1600" spc="-50" dirty="0">
                          <a:latin typeface="Arial MT"/>
                          <a:cs typeface="Arial MT"/>
                        </a:rPr>
                        <a:t>2</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20"/>
                        </a:spcBef>
                      </a:pPr>
                      <a:r>
                        <a:rPr sz="1600" spc="-50" dirty="0">
                          <a:latin typeface="Calibri"/>
                          <a:cs typeface="Calibri"/>
                        </a:rPr>
                        <a:t>2</a:t>
                      </a:r>
                      <a:endParaRPr sz="16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20"/>
                        </a:spcBef>
                      </a:pPr>
                      <a:r>
                        <a:rPr sz="1600" spc="-25" dirty="0">
                          <a:latin typeface="Calibri"/>
                          <a:cs typeface="Calibri"/>
                        </a:rPr>
                        <a:t>$23</a:t>
                      </a:r>
                      <a:endParaRPr sz="1600" dirty="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marL="635" algn="ctr">
                        <a:lnSpc>
                          <a:spcPct val="100000"/>
                        </a:lnSpc>
                        <a:spcBef>
                          <a:spcPts val="345"/>
                        </a:spcBef>
                      </a:pPr>
                      <a:r>
                        <a:rPr sz="1600" spc="-50" dirty="0">
                          <a:latin typeface="Arial MT"/>
                          <a:cs typeface="Arial MT"/>
                        </a:rPr>
                        <a:t>2</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1600" spc="-10" dirty="0">
                          <a:latin typeface="Arial MT"/>
                          <a:cs typeface="Arial MT"/>
                        </a:rPr>
                        <a:t>1/2/2022</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345"/>
                        </a:spcBef>
                      </a:pPr>
                      <a:r>
                        <a:rPr sz="1600" spc="-50" dirty="0">
                          <a:latin typeface="Arial MT"/>
                          <a:cs typeface="Arial MT"/>
                        </a:rPr>
                        <a:t>5</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20"/>
                        </a:spcBef>
                      </a:pPr>
                      <a:r>
                        <a:rPr sz="1600" spc="-50" dirty="0">
                          <a:latin typeface="Calibri"/>
                          <a:cs typeface="Calibri"/>
                        </a:rPr>
                        <a:t>2</a:t>
                      </a:r>
                      <a:endParaRPr sz="16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20"/>
                        </a:spcBef>
                      </a:pPr>
                      <a:r>
                        <a:rPr sz="1600" spc="-25" dirty="0">
                          <a:latin typeface="Calibri"/>
                          <a:cs typeface="Calibri"/>
                        </a:rPr>
                        <a:t>$12</a:t>
                      </a:r>
                      <a:endParaRPr sz="1600" dirty="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marL="635" algn="ctr">
                        <a:lnSpc>
                          <a:spcPct val="100000"/>
                        </a:lnSpc>
                        <a:spcBef>
                          <a:spcPts val="345"/>
                        </a:spcBef>
                      </a:pPr>
                      <a:r>
                        <a:rPr sz="1600" spc="-50" dirty="0">
                          <a:latin typeface="Arial MT"/>
                          <a:cs typeface="Arial MT"/>
                        </a:rPr>
                        <a:t>3</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1600" spc="-10" dirty="0">
                          <a:latin typeface="Arial MT"/>
                          <a:cs typeface="Arial MT"/>
                        </a:rPr>
                        <a:t>1/2/2022</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345"/>
                        </a:spcBef>
                      </a:pPr>
                      <a:r>
                        <a:rPr sz="1600" spc="-50" dirty="0">
                          <a:latin typeface="Arial MT"/>
                          <a:cs typeface="Arial MT"/>
                        </a:rPr>
                        <a:t>6</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20"/>
                        </a:spcBef>
                      </a:pPr>
                      <a:r>
                        <a:rPr sz="1600" spc="-50" dirty="0">
                          <a:latin typeface="Calibri"/>
                          <a:cs typeface="Calibri"/>
                        </a:rPr>
                        <a:t>5</a:t>
                      </a:r>
                      <a:endParaRPr sz="1600" dirty="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20"/>
                        </a:spcBef>
                      </a:pPr>
                      <a:r>
                        <a:rPr sz="1600" spc="-25" dirty="0">
                          <a:latin typeface="Calibri"/>
                          <a:cs typeface="Calibri"/>
                        </a:rPr>
                        <a:t>$93</a:t>
                      </a:r>
                      <a:endParaRPr sz="1600" dirty="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marL="635" algn="ctr">
                        <a:lnSpc>
                          <a:spcPct val="100000"/>
                        </a:lnSpc>
                        <a:spcBef>
                          <a:spcPts val="345"/>
                        </a:spcBef>
                      </a:pPr>
                      <a:r>
                        <a:rPr sz="1600" spc="-50" dirty="0">
                          <a:latin typeface="Arial MT"/>
                          <a:cs typeface="Arial MT"/>
                        </a:rPr>
                        <a:t>4</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1600" spc="-10" dirty="0">
                          <a:latin typeface="Arial MT"/>
                          <a:cs typeface="Arial MT"/>
                        </a:rPr>
                        <a:t>1/2/2022</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1600" spc="-25" dirty="0">
                          <a:latin typeface="Arial MT"/>
                          <a:cs typeface="Arial MT"/>
                        </a:rPr>
                        <a:t>23</a:t>
                      </a:r>
                      <a:endParaRPr sz="1600" dirty="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20"/>
                        </a:spcBef>
                      </a:pPr>
                      <a:r>
                        <a:rPr sz="1600" spc="-50" dirty="0">
                          <a:latin typeface="Calibri"/>
                          <a:cs typeface="Calibri"/>
                        </a:rPr>
                        <a:t>1</a:t>
                      </a:r>
                      <a:endParaRPr sz="16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20"/>
                        </a:spcBef>
                      </a:pPr>
                      <a:r>
                        <a:rPr sz="1600" spc="-25" dirty="0">
                          <a:latin typeface="Calibri"/>
                          <a:cs typeface="Calibri"/>
                        </a:rPr>
                        <a:t>$23</a:t>
                      </a:r>
                      <a:endParaRPr sz="1600" dirty="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marL="635" algn="ctr">
                        <a:lnSpc>
                          <a:spcPct val="100000"/>
                        </a:lnSpc>
                        <a:spcBef>
                          <a:spcPts val="345"/>
                        </a:spcBef>
                      </a:pPr>
                      <a:r>
                        <a:rPr sz="1600" spc="-50" dirty="0">
                          <a:latin typeface="Arial MT"/>
                          <a:cs typeface="Arial MT"/>
                        </a:rPr>
                        <a:t>5</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1600" spc="-10" dirty="0">
                          <a:latin typeface="Arial MT"/>
                          <a:cs typeface="Arial MT"/>
                        </a:rPr>
                        <a:t>1/2/2022</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1600" spc="-25" dirty="0">
                          <a:latin typeface="Arial MT"/>
                          <a:cs typeface="Arial MT"/>
                        </a:rPr>
                        <a:t>16</a:t>
                      </a:r>
                      <a:endParaRPr sz="16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20"/>
                        </a:spcBef>
                      </a:pPr>
                      <a:r>
                        <a:rPr sz="1600" spc="-50" dirty="0">
                          <a:latin typeface="Calibri"/>
                          <a:cs typeface="Calibri"/>
                        </a:rPr>
                        <a:t>5</a:t>
                      </a:r>
                      <a:endParaRPr sz="16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20"/>
                        </a:spcBef>
                      </a:pPr>
                      <a:r>
                        <a:rPr sz="1600" spc="-25" dirty="0">
                          <a:latin typeface="Calibri"/>
                          <a:cs typeface="Calibri"/>
                        </a:rPr>
                        <a:t>$21</a:t>
                      </a:r>
                      <a:endParaRPr sz="1600" dirty="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356525" y="1854200"/>
            <a:ext cx="5648960" cy="124051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Goal:</a:t>
            </a:r>
            <a:r>
              <a:rPr sz="2400" b="1" spc="-27" dirty="0">
                <a:solidFill>
                  <a:srgbClr val="D9D9D9"/>
                </a:solidFill>
                <a:latin typeface="Calibri"/>
                <a:cs typeface="Calibri"/>
              </a:rPr>
              <a:t> </a:t>
            </a:r>
            <a:r>
              <a:rPr sz="2400" b="1" dirty="0">
                <a:solidFill>
                  <a:srgbClr val="D9D9D9"/>
                </a:solidFill>
                <a:latin typeface="Calibri"/>
                <a:cs typeface="Calibri"/>
              </a:rPr>
              <a:t>Fast</a:t>
            </a:r>
            <a:r>
              <a:rPr sz="2400" b="1" spc="7" dirty="0">
                <a:solidFill>
                  <a:srgbClr val="D9D9D9"/>
                </a:solidFill>
                <a:latin typeface="Calibri"/>
                <a:cs typeface="Calibri"/>
              </a:rPr>
              <a:t> </a:t>
            </a:r>
            <a:r>
              <a:rPr sz="2400" b="1" dirty="0">
                <a:solidFill>
                  <a:srgbClr val="D9D9D9"/>
                </a:solidFill>
                <a:latin typeface="Calibri"/>
                <a:cs typeface="Calibri"/>
              </a:rPr>
              <a:t>data</a:t>
            </a:r>
            <a:r>
              <a:rPr sz="2400" b="1" spc="7" dirty="0">
                <a:solidFill>
                  <a:srgbClr val="D9D9D9"/>
                </a:solidFill>
                <a:latin typeface="Calibri"/>
                <a:cs typeface="Calibri"/>
              </a:rPr>
              <a:t> </a:t>
            </a:r>
            <a:r>
              <a:rPr sz="2400" b="1" spc="-13" dirty="0">
                <a:solidFill>
                  <a:srgbClr val="D9D9D9"/>
                </a:solidFill>
                <a:latin typeface="Calibri"/>
                <a:cs typeface="Calibri"/>
              </a:rPr>
              <a:t>retrieval</a:t>
            </a:r>
            <a:endParaRPr sz="2400">
              <a:latin typeface="Calibri"/>
              <a:cs typeface="Calibri"/>
            </a:endParaRPr>
          </a:p>
          <a:p>
            <a:pPr>
              <a:spcBef>
                <a:spcPts val="940"/>
              </a:spcBef>
              <a:buClr>
                <a:srgbClr val="99D3FF"/>
              </a:buClr>
              <a:buFont typeface="Wingdings"/>
              <a:buChar char=""/>
            </a:pPr>
            <a:endParaRPr sz="2400">
              <a:latin typeface="Calibri"/>
              <a:cs typeface="Calibri"/>
            </a:endParaRPr>
          </a:p>
          <a:p>
            <a:pPr marL="397923" indent="-380990">
              <a:buClr>
                <a:srgbClr val="99D3FF"/>
              </a:buClr>
              <a:buFont typeface="Wingdings"/>
              <a:buChar char=""/>
              <a:tabLst>
                <a:tab pos="397923" algn="l"/>
              </a:tabLst>
            </a:pPr>
            <a:r>
              <a:rPr sz="2400" b="1" dirty="0">
                <a:solidFill>
                  <a:srgbClr val="D9D9D9"/>
                </a:solidFill>
                <a:latin typeface="Calibri"/>
                <a:cs typeface="Calibri"/>
              </a:rPr>
              <a:t>Oriented</a:t>
            </a:r>
            <a:r>
              <a:rPr sz="2400" b="1" spc="-80" dirty="0">
                <a:solidFill>
                  <a:srgbClr val="D9D9D9"/>
                </a:solidFill>
                <a:latin typeface="Calibri"/>
                <a:cs typeface="Calibri"/>
              </a:rPr>
              <a:t> </a:t>
            </a:r>
            <a:r>
              <a:rPr sz="2400" b="1" dirty="0">
                <a:solidFill>
                  <a:srgbClr val="D9D9D9"/>
                </a:solidFill>
                <a:latin typeface="Calibri"/>
                <a:cs typeface="Calibri"/>
              </a:rPr>
              <a:t>around</a:t>
            </a:r>
            <a:r>
              <a:rPr sz="2400" b="1" spc="-47" dirty="0">
                <a:solidFill>
                  <a:srgbClr val="D9D9D9"/>
                </a:solidFill>
                <a:latin typeface="Calibri"/>
                <a:cs typeface="Calibri"/>
              </a:rPr>
              <a:t> </a:t>
            </a:r>
            <a:r>
              <a:rPr sz="2400" b="1" dirty="0">
                <a:solidFill>
                  <a:srgbClr val="D9D9D9"/>
                </a:solidFill>
                <a:latin typeface="Calibri"/>
                <a:cs typeface="Calibri"/>
              </a:rPr>
              <a:t>performance</a:t>
            </a:r>
            <a:r>
              <a:rPr sz="2400" b="1" spc="-67" dirty="0">
                <a:solidFill>
                  <a:srgbClr val="D9D9D9"/>
                </a:solidFill>
                <a:latin typeface="Calibri"/>
                <a:cs typeface="Calibri"/>
              </a:rPr>
              <a:t> </a:t>
            </a:r>
            <a:r>
              <a:rPr sz="2400" b="1" dirty="0">
                <a:solidFill>
                  <a:srgbClr val="D9D9D9"/>
                </a:solidFill>
                <a:latin typeface="Calibri"/>
                <a:cs typeface="Calibri"/>
              </a:rPr>
              <a:t>&amp;</a:t>
            </a:r>
            <a:r>
              <a:rPr sz="2400" b="1" spc="-20" dirty="0">
                <a:solidFill>
                  <a:srgbClr val="D9D9D9"/>
                </a:solidFill>
                <a:latin typeface="Calibri"/>
                <a:cs typeface="Calibri"/>
              </a:rPr>
              <a:t> </a:t>
            </a:r>
            <a:r>
              <a:rPr sz="2400" b="1" spc="-13" dirty="0">
                <a:solidFill>
                  <a:srgbClr val="D9D9D9"/>
                </a:solidFill>
                <a:latin typeface="Calibri"/>
                <a:cs typeface="Calibri"/>
              </a:rPr>
              <a:t>usability</a:t>
            </a:r>
            <a:endParaRPr sz="2400">
              <a:latin typeface="Calibri"/>
              <a:cs typeface="Calibri"/>
            </a:endParaRPr>
          </a:p>
        </p:txBody>
      </p:sp>
      <p:sp>
        <p:nvSpPr>
          <p:cNvPr id="3" name="object 3"/>
          <p:cNvSpPr txBox="1">
            <a:spLocks noGrp="1"/>
          </p:cNvSpPr>
          <p:nvPr>
            <p:ph type="title"/>
          </p:nvPr>
        </p:nvSpPr>
        <p:spPr>
          <a:xfrm>
            <a:off x="2101574" y="234566"/>
            <a:ext cx="7698409" cy="695062"/>
          </a:xfrm>
          <a:prstGeom prst="rect">
            <a:avLst/>
          </a:prstGeom>
        </p:spPr>
        <p:txBody>
          <a:bodyPr vert="horz" wrap="square" lIns="0" tIns="17780" rIns="0" bIns="0" rtlCol="0" anchor="ctr">
            <a:spAutoFit/>
          </a:bodyPr>
          <a:lstStyle/>
          <a:p>
            <a:pPr marL="1239489">
              <a:lnSpc>
                <a:spcPct val="100000"/>
              </a:lnSpc>
              <a:spcBef>
                <a:spcPts val="140"/>
              </a:spcBef>
            </a:pPr>
            <a:r>
              <a:rPr dirty="0">
                <a:solidFill>
                  <a:schemeClr val="bg1"/>
                </a:solidFill>
                <a:latin typeface="+mn-lt"/>
              </a:rPr>
              <a:t>Dimensional</a:t>
            </a:r>
            <a:r>
              <a:rPr spc="-152" dirty="0">
                <a:solidFill>
                  <a:schemeClr val="bg1"/>
                </a:solidFill>
                <a:latin typeface="+mn-lt"/>
              </a:rPr>
              <a:t> </a:t>
            </a:r>
            <a:r>
              <a:rPr spc="-13" dirty="0">
                <a:solidFill>
                  <a:schemeClr val="bg1"/>
                </a:solidFill>
                <a:latin typeface="+mn-lt"/>
              </a:rPr>
              <a:t>modeling</a:t>
            </a:r>
          </a:p>
        </p:txBody>
      </p:sp>
      <p:sp>
        <p:nvSpPr>
          <p:cNvPr id="4" name="object 4"/>
          <p:cNvSpPr txBox="1"/>
          <p:nvPr/>
        </p:nvSpPr>
        <p:spPr>
          <a:xfrm>
            <a:off x="3696207" y="3836415"/>
            <a:ext cx="1981200" cy="384657"/>
          </a:xfrm>
          <a:prstGeom prst="rect">
            <a:avLst/>
          </a:prstGeom>
          <a:solidFill>
            <a:srgbClr val="00C3FF">
              <a:alpha val="50195"/>
            </a:srgbClr>
          </a:solidFill>
        </p:spPr>
        <p:txBody>
          <a:bodyPr vert="horz" wrap="square" lIns="0" tIns="55880" rIns="0" bIns="0" rtlCol="0">
            <a:spAutoFit/>
          </a:bodyPr>
          <a:lstStyle/>
          <a:p>
            <a:pPr marL="123610">
              <a:spcBef>
                <a:spcPts val="440"/>
              </a:spcBef>
            </a:pPr>
            <a:r>
              <a:rPr sz="2133" spc="87" dirty="0">
                <a:solidFill>
                  <a:srgbClr val="FFFFFF"/>
                </a:solidFill>
                <a:latin typeface="Arial MT"/>
                <a:cs typeface="Arial MT"/>
              </a:rPr>
              <a:t>Performance</a:t>
            </a:r>
            <a:endParaRPr sz="2133">
              <a:latin typeface="Arial MT"/>
              <a:cs typeface="Arial MT"/>
            </a:endParaRPr>
          </a:p>
        </p:txBody>
      </p:sp>
      <p:sp>
        <p:nvSpPr>
          <p:cNvPr id="5" name="object 5"/>
          <p:cNvSpPr txBox="1"/>
          <p:nvPr/>
        </p:nvSpPr>
        <p:spPr>
          <a:xfrm>
            <a:off x="7011415" y="3837432"/>
            <a:ext cx="1581573" cy="386367"/>
          </a:xfrm>
          <a:prstGeom prst="rect">
            <a:avLst/>
          </a:prstGeom>
          <a:solidFill>
            <a:srgbClr val="777777"/>
          </a:solidFill>
          <a:ln w="25907">
            <a:solidFill>
              <a:srgbClr val="008FBB"/>
            </a:solidFill>
          </a:ln>
        </p:spPr>
        <p:txBody>
          <a:bodyPr vert="horz" wrap="square" lIns="0" tIns="57573" rIns="0" bIns="0" rtlCol="0">
            <a:spAutoFit/>
          </a:bodyPr>
          <a:lstStyle/>
          <a:p>
            <a:pPr marL="217588">
              <a:spcBef>
                <a:spcPts val="453"/>
              </a:spcBef>
            </a:pPr>
            <a:r>
              <a:rPr sz="2133" spc="87" dirty="0">
                <a:solidFill>
                  <a:srgbClr val="FFFFFF"/>
                </a:solidFill>
                <a:latin typeface="Arial MT"/>
                <a:cs typeface="Arial MT"/>
              </a:rPr>
              <a:t>Usability</a:t>
            </a:r>
            <a:endParaRPr sz="2133">
              <a:latin typeface="Arial MT"/>
              <a:cs typeface="Arial MT"/>
            </a:endParaRPr>
          </a:p>
        </p:txBody>
      </p:sp>
      <p:grpSp>
        <p:nvGrpSpPr>
          <p:cNvPr id="6" name="object 6"/>
          <p:cNvGrpSpPr/>
          <p:nvPr/>
        </p:nvGrpSpPr>
        <p:grpSpPr>
          <a:xfrm>
            <a:off x="2625343" y="3773424"/>
            <a:ext cx="644312" cy="532553"/>
            <a:chOff x="1969007" y="2830067"/>
            <a:chExt cx="483234" cy="399415"/>
          </a:xfrm>
        </p:grpSpPr>
        <p:sp>
          <p:nvSpPr>
            <p:cNvPr id="7" name="object 7"/>
            <p:cNvSpPr/>
            <p:nvPr/>
          </p:nvSpPr>
          <p:spPr>
            <a:xfrm>
              <a:off x="1981961" y="2843021"/>
              <a:ext cx="457200" cy="373380"/>
            </a:xfrm>
            <a:custGeom>
              <a:avLst/>
              <a:gdLst/>
              <a:ahLst/>
              <a:cxnLst/>
              <a:rect l="l" t="t" r="r" b="b"/>
              <a:pathLst>
                <a:path w="457200" h="373380">
                  <a:moveTo>
                    <a:pt x="228600" y="0"/>
                  </a:moveTo>
                  <a:lnTo>
                    <a:pt x="0" y="186689"/>
                  </a:lnTo>
                  <a:lnTo>
                    <a:pt x="114300" y="186689"/>
                  </a:lnTo>
                  <a:lnTo>
                    <a:pt x="114300" y="373379"/>
                  </a:lnTo>
                  <a:lnTo>
                    <a:pt x="342900" y="373379"/>
                  </a:lnTo>
                  <a:lnTo>
                    <a:pt x="342900" y="186689"/>
                  </a:lnTo>
                  <a:lnTo>
                    <a:pt x="457200" y="186689"/>
                  </a:lnTo>
                  <a:lnTo>
                    <a:pt x="228600" y="0"/>
                  </a:lnTo>
                  <a:close/>
                </a:path>
              </a:pathLst>
            </a:custGeom>
            <a:solidFill>
              <a:srgbClr val="00C3FF"/>
            </a:solidFill>
          </p:spPr>
          <p:txBody>
            <a:bodyPr wrap="square" lIns="0" tIns="0" rIns="0" bIns="0" rtlCol="0"/>
            <a:lstStyle/>
            <a:p>
              <a:endParaRPr sz="2400"/>
            </a:p>
          </p:txBody>
        </p:sp>
        <p:sp>
          <p:nvSpPr>
            <p:cNvPr id="8" name="object 8"/>
            <p:cNvSpPr/>
            <p:nvPr/>
          </p:nvSpPr>
          <p:spPr>
            <a:xfrm>
              <a:off x="1981961" y="2843021"/>
              <a:ext cx="457200" cy="373380"/>
            </a:xfrm>
            <a:custGeom>
              <a:avLst/>
              <a:gdLst/>
              <a:ahLst/>
              <a:cxnLst/>
              <a:rect l="l" t="t" r="r" b="b"/>
              <a:pathLst>
                <a:path w="457200" h="373380">
                  <a:moveTo>
                    <a:pt x="0" y="186689"/>
                  </a:moveTo>
                  <a:lnTo>
                    <a:pt x="228600" y="0"/>
                  </a:lnTo>
                  <a:lnTo>
                    <a:pt x="457200" y="186689"/>
                  </a:lnTo>
                  <a:lnTo>
                    <a:pt x="342900" y="186689"/>
                  </a:lnTo>
                  <a:lnTo>
                    <a:pt x="342900" y="373379"/>
                  </a:lnTo>
                  <a:lnTo>
                    <a:pt x="114300" y="373379"/>
                  </a:lnTo>
                  <a:lnTo>
                    <a:pt x="114300" y="186689"/>
                  </a:lnTo>
                  <a:lnTo>
                    <a:pt x="0" y="186689"/>
                  </a:lnTo>
                  <a:close/>
                </a:path>
              </a:pathLst>
            </a:custGeom>
            <a:ln w="25908">
              <a:solidFill>
                <a:srgbClr val="008FBB"/>
              </a:solidFill>
            </a:ln>
          </p:spPr>
          <p:txBody>
            <a:bodyPr wrap="square" lIns="0" tIns="0" rIns="0" bIns="0" rtlCol="0"/>
            <a:lstStyle/>
            <a:p>
              <a:endParaRPr sz="2400"/>
            </a:p>
          </p:txBody>
        </p:sp>
      </p:grpSp>
      <p:grpSp>
        <p:nvGrpSpPr>
          <p:cNvPr id="9" name="object 9"/>
          <p:cNvGrpSpPr/>
          <p:nvPr/>
        </p:nvGrpSpPr>
        <p:grpSpPr>
          <a:xfrm>
            <a:off x="9026143" y="3773424"/>
            <a:ext cx="644312" cy="532553"/>
            <a:chOff x="6769607" y="2830067"/>
            <a:chExt cx="483234" cy="399415"/>
          </a:xfrm>
        </p:grpSpPr>
        <p:sp>
          <p:nvSpPr>
            <p:cNvPr id="10" name="object 10"/>
            <p:cNvSpPr/>
            <p:nvPr/>
          </p:nvSpPr>
          <p:spPr>
            <a:xfrm>
              <a:off x="6782561" y="2843021"/>
              <a:ext cx="457200" cy="373380"/>
            </a:xfrm>
            <a:custGeom>
              <a:avLst/>
              <a:gdLst/>
              <a:ahLst/>
              <a:cxnLst/>
              <a:rect l="l" t="t" r="r" b="b"/>
              <a:pathLst>
                <a:path w="457200" h="373380">
                  <a:moveTo>
                    <a:pt x="228600" y="0"/>
                  </a:moveTo>
                  <a:lnTo>
                    <a:pt x="0" y="186689"/>
                  </a:lnTo>
                  <a:lnTo>
                    <a:pt x="114300" y="186689"/>
                  </a:lnTo>
                  <a:lnTo>
                    <a:pt x="114300" y="373379"/>
                  </a:lnTo>
                  <a:lnTo>
                    <a:pt x="342900" y="373379"/>
                  </a:lnTo>
                  <a:lnTo>
                    <a:pt x="342900" y="186689"/>
                  </a:lnTo>
                  <a:lnTo>
                    <a:pt x="457200" y="186689"/>
                  </a:lnTo>
                  <a:lnTo>
                    <a:pt x="228600" y="0"/>
                  </a:lnTo>
                  <a:close/>
                </a:path>
              </a:pathLst>
            </a:custGeom>
            <a:solidFill>
              <a:srgbClr val="777777"/>
            </a:solidFill>
          </p:spPr>
          <p:txBody>
            <a:bodyPr wrap="square" lIns="0" tIns="0" rIns="0" bIns="0" rtlCol="0"/>
            <a:lstStyle/>
            <a:p>
              <a:endParaRPr sz="2400"/>
            </a:p>
          </p:txBody>
        </p:sp>
        <p:sp>
          <p:nvSpPr>
            <p:cNvPr id="11" name="object 11"/>
            <p:cNvSpPr/>
            <p:nvPr/>
          </p:nvSpPr>
          <p:spPr>
            <a:xfrm>
              <a:off x="6782561" y="2843021"/>
              <a:ext cx="457200" cy="373380"/>
            </a:xfrm>
            <a:custGeom>
              <a:avLst/>
              <a:gdLst/>
              <a:ahLst/>
              <a:cxnLst/>
              <a:rect l="l" t="t" r="r" b="b"/>
              <a:pathLst>
                <a:path w="457200" h="373380">
                  <a:moveTo>
                    <a:pt x="0" y="186689"/>
                  </a:moveTo>
                  <a:lnTo>
                    <a:pt x="228600" y="0"/>
                  </a:lnTo>
                  <a:lnTo>
                    <a:pt x="457200" y="186689"/>
                  </a:lnTo>
                  <a:lnTo>
                    <a:pt x="342900" y="186689"/>
                  </a:lnTo>
                  <a:lnTo>
                    <a:pt x="342900" y="373379"/>
                  </a:lnTo>
                  <a:lnTo>
                    <a:pt x="114300" y="373379"/>
                  </a:lnTo>
                  <a:lnTo>
                    <a:pt x="114300" y="186689"/>
                  </a:lnTo>
                  <a:lnTo>
                    <a:pt x="0" y="186689"/>
                  </a:lnTo>
                  <a:close/>
                </a:path>
              </a:pathLst>
            </a:custGeom>
            <a:ln w="25908">
              <a:solidFill>
                <a:srgbClr val="008FBB"/>
              </a:solidFill>
            </a:ln>
          </p:spPr>
          <p:txBody>
            <a:bodyPr wrap="square" lIns="0" tIns="0" rIns="0" bIns="0" rtlCol="0"/>
            <a:lstStyle/>
            <a:p>
              <a:endParaRPr sz="2400"/>
            </a:p>
          </p:txBody>
        </p:sp>
      </p:grpSp>
      <p:sp>
        <p:nvSpPr>
          <p:cNvPr id="12" name="object 12"/>
          <p:cNvSpPr txBox="1"/>
          <p:nvPr/>
        </p:nvSpPr>
        <p:spPr>
          <a:xfrm>
            <a:off x="3690111" y="4943855"/>
            <a:ext cx="5486400" cy="539462"/>
          </a:xfrm>
          <a:prstGeom prst="rect">
            <a:avLst/>
          </a:prstGeom>
          <a:solidFill>
            <a:srgbClr val="66BEFF">
              <a:alpha val="50195"/>
            </a:srgbClr>
          </a:solidFill>
          <a:ln w="9144">
            <a:solidFill>
              <a:srgbClr val="D5D5D5"/>
            </a:solidFill>
          </a:ln>
        </p:spPr>
        <p:txBody>
          <a:bodyPr vert="horz" wrap="square" lIns="0" tIns="168485" rIns="0" bIns="0" rtlCol="0">
            <a:spAutoFit/>
          </a:bodyPr>
          <a:lstStyle/>
          <a:p>
            <a:pPr marL="202348">
              <a:spcBef>
                <a:spcPts val="1325"/>
              </a:spcBef>
            </a:pPr>
            <a:r>
              <a:rPr sz="2400" b="1" dirty="0">
                <a:solidFill>
                  <a:srgbClr val="D9D9D9"/>
                </a:solidFill>
                <a:latin typeface="Calibri"/>
                <a:cs typeface="Calibri"/>
              </a:rPr>
              <a:t>Prefered</a:t>
            </a:r>
            <a:r>
              <a:rPr sz="2400" b="1" spc="-40" dirty="0">
                <a:solidFill>
                  <a:srgbClr val="D9D9D9"/>
                </a:solidFill>
                <a:latin typeface="Calibri"/>
                <a:cs typeface="Calibri"/>
              </a:rPr>
              <a:t> </a:t>
            </a:r>
            <a:r>
              <a:rPr sz="2400" b="1" dirty="0">
                <a:solidFill>
                  <a:srgbClr val="D9D9D9"/>
                </a:solidFill>
                <a:latin typeface="Calibri"/>
                <a:cs typeface="Calibri"/>
              </a:rPr>
              <a:t>technique</a:t>
            </a:r>
            <a:r>
              <a:rPr sz="2400" b="1" spc="-67" dirty="0">
                <a:solidFill>
                  <a:srgbClr val="D9D9D9"/>
                </a:solidFill>
                <a:latin typeface="Calibri"/>
                <a:cs typeface="Calibri"/>
              </a:rPr>
              <a:t> </a:t>
            </a:r>
            <a:r>
              <a:rPr sz="2400" b="1" dirty="0">
                <a:solidFill>
                  <a:srgbClr val="D9D9D9"/>
                </a:solidFill>
                <a:latin typeface="Calibri"/>
                <a:cs typeface="Calibri"/>
              </a:rPr>
              <a:t>for</a:t>
            </a:r>
            <a:r>
              <a:rPr sz="2400" b="1" spc="-13" dirty="0">
                <a:solidFill>
                  <a:srgbClr val="D9D9D9"/>
                </a:solidFill>
                <a:latin typeface="Calibri"/>
                <a:cs typeface="Calibri"/>
              </a:rPr>
              <a:t> </a:t>
            </a:r>
            <a:r>
              <a:rPr sz="2400" b="1" dirty="0">
                <a:solidFill>
                  <a:srgbClr val="D9D9D9"/>
                </a:solidFill>
                <a:latin typeface="Calibri"/>
                <a:cs typeface="Calibri"/>
              </a:rPr>
              <a:t>data</a:t>
            </a:r>
            <a:r>
              <a:rPr sz="2400" b="1" spc="-33" dirty="0">
                <a:solidFill>
                  <a:srgbClr val="D9D9D9"/>
                </a:solidFill>
                <a:latin typeface="Calibri"/>
                <a:cs typeface="Calibri"/>
              </a:rPr>
              <a:t> </a:t>
            </a:r>
            <a:r>
              <a:rPr sz="2400" b="1" spc="-13" dirty="0">
                <a:solidFill>
                  <a:srgbClr val="D9D9D9"/>
                </a:solidFill>
                <a:latin typeface="Calibri"/>
                <a:cs typeface="Calibri"/>
              </a:rPr>
              <a:t>warehouse!</a:t>
            </a:r>
            <a:endParaRPr sz="2400">
              <a:latin typeface="Calibri"/>
              <a:cs typeface="Calibri"/>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57807" y="2279903"/>
            <a:ext cx="9930384" cy="1702816"/>
          </a:xfrm>
          <a:prstGeom prst="rect">
            <a:avLst/>
          </a:prstGeom>
        </p:spPr>
      </p:pic>
      <p:sp>
        <p:nvSpPr>
          <p:cNvPr id="3" name="object 3"/>
          <p:cNvSpPr txBox="1">
            <a:spLocks noGrp="1"/>
          </p:cNvSpPr>
          <p:nvPr>
            <p:ph type="title"/>
          </p:nvPr>
        </p:nvSpPr>
        <p:spPr>
          <a:xfrm>
            <a:off x="1320800" y="2579973"/>
            <a:ext cx="9811173" cy="1048150"/>
          </a:xfrm>
          <a:prstGeom prst="rect">
            <a:avLst/>
          </a:prstGeom>
          <a:noFill/>
          <a:ln w="9144">
            <a:noFill/>
          </a:ln>
        </p:spPr>
        <p:txBody>
          <a:bodyPr vert="horz" wrap="square" lIns="0" tIns="306493" rIns="0" bIns="0" rtlCol="0" anchor="ctr">
            <a:spAutoFit/>
          </a:bodyPr>
          <a:lstStyle/>
          <a:p>
            <a:pPr marL="1693" algn="ctr">
              <a:lnSpc>
                <a:spcPct val="100000"/>
              </a:lnSpc>
              <a:spcBef>
                <a:spcPts val="2413"/>
              </a:spcBef>
            </a:pPr>
            <a:r>
              <a:rPr sz="4800" spc="-13" dirty="0">
                <a:solidFill>
                  <a:schemeClr val="bg1"/>
                </a:solidFill>
                <a:latin typeface="+mn-lt"/>
              </a:rPr>
              <a:t>Facts</a:t>
            </a:r>
            <a:endParaRPr sz="4800" dirty="0">
              <a:solidFill>
                <a:schemeClr val="bg1"/>
              </a:solidFill>
              <a:latin typeface="+mn-lt"/>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05269" y="336795"/>
            <a:ext cx="4755543" cy="695062"/>
          </a:xfrm>
          <a:prstGeom prst="rect">
            <a:avLst/>
          </a:prstGeom>
        </p:spPr>
        <p:txBody>
          <a:bodyPr vert="horz" wrap="square" lIns="0" tIns="17780" rIns="0" bIns="0" rtlCol="0" anchor="ctr">
            <a:spAutoFit/>
          </a:bodyPr>
          <a:lstStyle/>
          <a:p>
            <a:pPr marL="3135975" algn="ctr">
              <a:lnSpc>
                <a:spcPct val="100000"/>
              </a:lnSpc>
              <a:spcBef>
                <a:spcPts val="140"/>
              </a:spcBef>
            </a:pPr>
            <a:r>
              <a:rPr spc="-13" dirty="0">
                <a:solidFill>
                  <a:schemeClr val="bg1"/>
                </a:solidFill>
                <a:latin typeface="+mn-lt"/>
              </a:rPr>
              <a:t>Facts</a:t>
            </a:r>
          </a:p>
        </p:txBody>
      </p:sp>
      <p:sp>
        <p:nvSpPr>
          <p:cNvPr id="3" name="object 3"/>
          <p:cNvSpPr txBox="1"/>
          <p:nvPr/>
        </p:nvSpPr>
        <p:spPr>
          <a:xfrm>
            <a:off x="5185663" y="1906015"/>
            <a:ext cx="2201333" cy="538609"/>
          </a:xfrm>
          <a:prstGeom prst="rect">
            <a:avLst/>
          </a:prstGeom>
          <a:noFill/>
        </p:spPr>
        <p:txBody>
          <a:bodyPr vert="horz" wrap="square" lIns="0" tIns="167640" rIns="0" bIns="0" rtlCol="0">
            <a:spAutoFit/>
          </a:bodyPr>
          <a:lstStyle/>
          <a:p>
            <a:pPr marL="502907" indent="-380990">
              <a:spcBef>
                <a:spcPts val="1320"/>
              </a:spcBef>
              <a:buClr>
                <a:srgbClr val="99D3FF"/>
              </a:buClr>
              <a:buFont typeface="Wingdings"/>
              <a:buChar char=""/>
              <a:tabLst>
                <a:tab pos="502907" algn="l"/>
              </a:tabLst>
            </a:pPr>
            <a:r>
              <a:rPr sz="2400" b="1" spc="-13" dirty="0">
                <a:solidFill>
                  <a:srgbClr val="D9D9D9"/>
                </a:solidFill>
                <a:latin typeface="Calibri"/>
                <a:cs typeface="Calibri"/>
              </a:rPr>
              <a:t>Dimensions</a:t>
            </a:r>
            <a:endParaRPr sz="2400">
              <a:latin typeface="Calibri"/>
              <a:cs typeface="Calibri"/>
            </a:endParaRPr>
          </a:p>
        </p:txBody>
      </p:sp>
      <p:sp>
        <p:nvSpPr>
          <p:cNvPr id="4" name="object 4"/>
          <p:cNvSpPr txBox="1"/>
          <p:nvPr/>
        </p:nvSpPr>
        <p:spPr>
          <a:xfrm>
            <a:off x="7833360" y="4011169"/>
            <a:ext cx="2438400" cy="541174"/>
          </a:xfrm>
          <a:prstGeom prst="rect">
            <a:avLst/>
          </a:prstGeom>
          <a:noFill/>
        </p:spPr>
        <p:txBody>
          <a:bodyPr vert="horz" wrap="square" lIns="0" tIns="170180" rIns="0" bIns="0" rtlCol="0">
            <a:spAutoFit/>
          </a:bodyPr>
          <a:lstStyle/>
          <a:p>
            <a:pPr marL="504601" indent="-380990">
              <a:spcBef>
                <a:spcPts val="1340"/>
              </a:spcBef>
              <a:buClr>
                <a:srgbClr val="99D3FF"/>
              </a:buClr>
              <a:buFont typeface="Wingdings"/>
              <a:buChar char=""/>
              <a:tabLst>
                <a:tab pos="504601" algn="l"/>
              </a:tabLst>
            </a:pPr>
            <a:r>
              <a:rPr sz="2400" b="1" spc="-13" dirty="0">
                <a:solidFill>
                  <a:srgbClr val="D9D9D9"/>
                </a:solidFill>
                <a:latin typeface="Calibri"/>
                <a:cs typeface="Calibri"/>
              </a:rPr>
              <a:t>Dimensions</a:t>
            </a:r>
            <a:endParaRPr sz="2400">
              <a:latin typeface="Calibri"/>
              <a:cs typeface="Calibri"/>
            </a:endParaRPr>
          </a:p>
        </p:txBody>
      </p:sp>
      <p:sp>
        <p:nvSpPr>
          <p:cNvPr id="5" name="object 5"/>
          <p:cNvSpPr txBox="1"/>
          <p:nvPr/>
        </p:nvSpPr>
        <p:spPr>
          <a:xfrm>
            <a:off x="2129536" y="3960369"/>
            <a:ext cx="2438400" cy="541174"/>
          </a:xfrm>
          <a:prstGeom prst="rect">
            <a:avLst/>
          </a:prstGeom>
          <a:noFill/>
        </p:spPr>
        <p:txBody>
          <a:bodyPr vert="horz" wrap="square" lIns="0" tIns="170180" rIns="0" bIns="0" rtlCol="0">
            <a:spAutoFit/>
          </a:bodyPr>
          <a:lstStyle/>
          <a:p>
            <a:pPr marL="503754" indent="-380990">
              <a:spcBef>
                <a:spcPts val="1340"/>
              </a:spcBef>
              <a:buClr>
                <a:srgbClr val="99D3FF"/>
              </a:buClr>
              <a:buFont typeface="Wingdings"/>
              <a:buChar char=""/>
              <a:tabLst>
                <a:tab pos="503754" algn="l"/>
              </a:tabLst>
            </a:pPr>
            <a:r>
              <a:rPr sz="2400" b="1" spc="-13" dirty="0">
                <a:solidFill>
                  <a:srgbClr val="D9D9D9"/>
                </a:solidFill>
                <a:latin typeface="Calibri"/>
                <a:cs typeface="Calibri"/>
              </a:rPr>
              <a:t>Dimensions</a:t>
            </a:r>
            <a:endParaRPr sz="2400">
              <a:latin typeface="Calibri"/>
              <a:cs typeface="Calibri"/>
            </a:endParaRPr>
          </a:p>
        </p:txBody>
      </p:sp>
      <p:sp>
        <p:nvSpPr>
          <p:cNvPr id="6" name="object 6"/>
          <p:cNvSpPr/>
          <p:nvPr/>
        </p:nvSpPr>
        <p:spPr>
          <a:xfrm>
            <a:off x="6284976" y="2521711"/>
            <a:ext cx="0" cy="488527"/>
          </a:xfrm>
          <a:custGeom>
            <a:avLst/>
            <a:gdLst/>
            <a:ahLst/>
            <a:cxnLst/>
            <a:rect l="l" t="t" r="r" b="b"/>
            <a:pathLst>
              <a:path h="366394">
                <a:moveTo>
                  <a:pt x="0" y="366267"/>
                </a:moveTo>
                <a:lnTo>
                  <a:pt x="0" y="0"/>
                </a:lnTo>
              </a:path>
            </a:pathLst>
          </a:custGeom>
          <a:ln w="9144">
            <a:solidFill>
              <a:srgbClr val="00C2FF"/>
            </a:solidFill>
          </a:ln>
        </p:spPr>
        <p:txBody>
          <a:bodyPr wrap="square" lIns="0" tIns="0" rIns="0" bIns="0" rtlCol="0"/>
          <a:lstStyle/>
          <a:p>
            <a:endParaRPr sz="2400"/>
          </a:p>
        </p:txBody>
      </p:sp>
      <p:sp>
        <p:nvSpPr>
          <p:cNvPr id="7" name="object 7"/>
          <p:cNvSpPr/>
          <p:nvPr/>
        </p:nvSpPr>
        <p:spPr>
          <a:xfrm>
            <a:off x="7244079" y="3501135"/>
            <a:ext cx="1810173" cy="511387"/>
          </a:xfrm>
          <a:custGeom>
            <a:avLst/>
            <a:gdLst/>
            <a:ahLst/>
            <a:cxnLst/>
            <a:rect l="l" t="t" r="r" b="b"/>
            <a:pathLst>
              <a:path w="1357629" h="383539">
                <a:moveTo>
                  <a:pt x="0" y="0"/>
                </a:moveTo>
                <a:lnTo>
                  <a:pt x="1357630" y="383286"/>
                </a:lnTo>
              </a:path>
            </a:pathLst>
          </a:custGeom>
          <a:ln w="9144">
            <a:solidFill>
              <a:srgbClr val="00C2FF"/>
            </a:solidFill>
          </a:ln>
        </p:spPr>
        <p:txBody>
          <a:bodyPr wrap="square" lIns="0" tIns="0" rIns="0" bIns="0" rtlCol="0"/>
          <a:lstStyle/>
          <a:p>
            <a:endParaRPr sz="2400"/>
          </a:p>
        </p:txBody>
      </p:sp>
      <p:sp>
        <p:nvSpPr>
          <p:cNvPr id="8" name="object 8"/>
          <p:cNvSpPr/>
          <p:nvPr/>
        </p:nvSpPr>
        <p:spPr>
          <a:xfrm>
            <a:off x="3348735" y="3531616"/>
            <a:ext cx="2035387" cy="430953"/>
          </a:xfrm>
          <a:custGeom>
            <a:avLst/>
            <a:gdLst/>
            <a:ahLst/>
            <a:cxnLst/>
            <a:rect l="l" t="t" r="r" b="b"/>
            <a:pathLst>
              <a:path w="1526539" h="323214">
                <a:moveTo>
                  <a:pt x="1526539" y="0"/>
                </a:moveTo>
                <a:lnTo>
                  <a:pt x="0" y="322706"/>
                </a:lnTo>
              </a:path>
            </a:pathLst>
          </a:custGeom>
          <a:ln w="9144">
            <a:solidFill>
              <a:srgbClr val="00C2FF"/>
            </a:solidFill>
          </a:ln>
        </p:spPr>
        <p:txBody>
          <a:bodyPr wrap="square" lIns="0" tIns="0" rIns="0" bIns="0" rtlCol="0"/>
          <a:lstStyle/>
          <a:p>
            <a:endParaRPr sz="2400"/>
          </a:p>
        </p:txBody>
      </p:sp>
      <p:sp>
        <p:nvSpPr>
          <p:cNvPr id="9" name="object 9"/>
          <p:cNvSpPr txBox="1"/>
          <p:nvPr/>
        </p:nvSpPr>
        <p:spPr>
          <a:xfrm>
            <a:off x="5338064" y="3011423"/>
            <a:ext cx="1893993" cy="539462"/>
          </a:xfrm>
          <a:prstGeom prst="rect">
            <a:avLst/>
          </a:prstGeom>
          <a:noFill/>
        </p:spPr>
        <p:txBody>
          <a:bodyPr vert="horz" wrap="square" lIns="0" tIns="168485" rIns="0" bIns="0" rtlCol="0">
            <a:spAutoFit/>
          </a:bodyPr>
          <a:lstStyle/>
          <a:p>
            <a:pPr marL="504601" indent="-380990">
              <a:spcBef>
                <a:spcPts val="1325"/>
              </a:spcBef>
              <a:buFont typeface="Wingdings"/>
              <a:buChar char=""/>
              <a:tabLst>
                <a:tab pos="504601" algn="l"/>
              </a:tabLst>
            </a:pPr>
            <a:r>
              <a:rPr sz="2400" b="1" spc="-13" dirty="0">
                <a:solidFill>
                  <a:srgbClr val="99D3FF"/>
                </a:solidFill>
                <a:latin typeface="Calibri"/>
                <a:cs typeface="Calibri"/>
              </a:rPr>
              <a:t>Facts</a:t>
            </a:r>
            <a:endParaRPr sz="2400">
              <a:latin typeface="Calibri"/>
              <a:cs typeface="Calibri"/>
            </a:endParaRPr>
          </a:p>
        </p:txBody>
      </p:sp>
      <p:sp>
        <p:nvSpPr>
          <p:cNvPr id="10" name="object 10"/>
          <p:cNvSpPr txBox="1"/>
          <p:nvPr/>
        </p:nvSpPr>
        <p:spPr>
          <a:xfrm>
            <a:off x="4673600" y="5065776"/>
            <a:ext cx="3048000" cy="601874"/>
          </a:xfrm>
          <a:prstGeom prst="rect">
            <a:avLst/>
          </a:prstGeom>
          <a:solidFill>
            <a:srgbClr val="99E7FF"/>
          </a:solidFill>
        </p:spPr>
        <p:txBody>
          <a:bodyPr vert="horz" wrap="square" lIns="0" tIns="169333" rIns="0" bIns="0" rtlCol="0">
            <a:spAutoFit/>
          </a:bodyPr>
          <a:lstStyle/>
          <a:p>
            <a:pPr marL="763674">
              <a:spcBef>
                <a:spcPts val="1333"/>
              </a:spcBef>
            </a:pPr>
            <a:r>
              <a:rPr sz="2800" b="1" dirty="0">
                <a:solidFill>
                  <a:srgbClr val="404040"/>
                </a:solidFill>
                <a:latin typeface="Calibri"/>
                <a:cs typeface="Calibri"/>
              </a:rPr>
              <a:t>star</a:t>
            </a:r>
            <a:r>
              <a:rPr sz="2800" b="1" spc="-40" dirty="0">
                <a:solidFill>
                  <a:srgbClr val="404040"/>
                </a:solidFill>
                <a:latin typeface="Calibri"/>
                <a:cs typeface="Calibri"/>
              </a:rPr>
              <a:t> </a:t>
            </a:r>
            <a:r>
              <a:rPr sz="2800" b="1" spc="-13" dirty="0">
                <a:solidFill>
                  <a:srgbClr val="404040"/>
                </a:solidFill>
                <a:latin typeface="Calibri"/>
                <a:cs typeface="Calibri"/>
              </a:rPr>
              <a:t>schema</a:t>
            </a:r>
            <a:endParaRPr sz="2800">
              <a:latin typeface="Calibri"/>
              <a:cs typeface="Calibri"/>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86676-C512-1328-F32E-7C9BB2CDED48}"/>
              </a:ext>
            </a:extLst>
          </p:cNvPr>
          <p:cNvSpPr>
            <a:spLocks noGrp="1"/>
          </p:cNvSpPr>
          <p:nvPr>
            <p:ph type="title"/>
          </p:nvPr>
        </p:nvSpPr>
        <p:spPr>
          <a:xfrm>
            <a:off x="907774" y="206099"/>
            <a:ext cx="10515600" cy="598971"/>
          </a:xfrm>
        </p:spPr>
        <p:txBody>
          <a:bodyPr>
            <a:noAutofit/>
          </a:bodyPr>
          <a:lstStyle/>
          <a:p>
            <a:pPr algn="ctr"/>
            <a:r>
              <a:rPr lang="en-IN" dirty="0">
                <a:solidFill>
                  <a:schemeClr val="bg1"/>
                </a:solidFill>
                <a:latin typeface="+mn-lt"/>
              </a:rPr>
              <a:t>Fact</a:t>
            </a:r>
          </a:p>
        </p:txBody>
      </p:sp>
      <p:sp>
        <p:nvSpPr>
          <p:cNvPr id="3" name="Content Placeholder 2">
            <a:extLst>
              <a:ext uri="{FF2B5EF4-FFF2-40B4-BE49-F238E27FC236}">
                <a16:creationId xmlns:a16="http://schemas.microsoft.com/office/drawing/2014/main" id="{E3A78DCB-2A77-030B-D4E0-5526A3069472}"/>
              </a:ext>
            </a:extLst>
          </p:cNvPr>
          <p:cNvSpPr>
            <a:spLocks noGrp="1"/>
          </p:cNvSpPr>
          <p:nvPr>
            <p:ph idx="1"/>
          </p:nvPr>
        </p:nvSpPr>
        <p:spPr>
          <a:xfrm>
            <a:off x="0" y="894523"/>
            <a:ext cx="6380922" cy="5973417"/>
          </a:xfrm>
        </p:spPr>
        <p:txBody>
          <a:bodyPr>
            <a:noAutofit/>
          </a:bodyPr>
          <a:lstStyle/>
          <a:p>
            <a:pPr algn="l"/>
            <a:r>
              <a:rPr lang="en-GB" sz="2400" b="0" i="0" u="none" strike="noStrike" baseline="0" dirty="0">
                <a:solidFill>
                  <a:schemeClr val="bg1"/>
                </a:solidFill>
              </a:rPr>
              <a:t>The term </a:t>
            </a:r>
            <a:r>
              <a:rPr lang="en-GB" sz="2400" b="0" i="1" u="none" strike="noStrike" baseline="0" dirty="0">
                <a:solidFill>
                  <a:schemeClr val="bg1"/>
                </a:solidFill>
              </a:rPr>
              <a:t>fact </a:t>
            </a:r>
            <a:r>
              <a:rPr lang="en-GB" sz="2400" b="0" i="0" u="none" strike="noStrike" baseline="0" dirty="0">
                <a:solidFill>
                  <a:schemeClr val="bg1"/>
                </a:solidFill>
              </a:rPr>
              <a:t>represents a business measure. Imagine standing in the marketplace watching products being sold and writing down the unit quantity and dollar sales amount for each product in each sales transaction. </a:t>
            </a:r>
          </a:p>
          <a:p>
            <a:pPr algn="l"/>
            <a:r>
              <a:rPr lang="en-GB" sz="2400" b="0" i="0" u="none" strike="noStrike" baseline="0" dirty="0">
                <a:solidFill>
                  <a:schemeClr val="bg1"/>
                </a:solidFill>
              </a:rPr>
              <a:t>These measurements are captured as products are scanned at the register</a:t>
            </a:r>
          </a:p>
          <a:p>
            <a:pPr algn="l"/>
            <a:r>
              <a:rPr lang="en-GB" sz="2400" b="0" i="0" u="none" strike="noStrike" baseline="0" dirty="0">
                <a:solidFill>
                  <a:schemeClr val="bg1"/>
                </a:solidFill>
              </a:rPr>
              <a:t>Each row in a fact table corresponds to a measurement event. The data on each row is at a specific level of detail, referred to as the </a:t>
            </a:r>
            <a:r>
              <a:rPr lang="en-GB" sz="2400" b="0" i="1" u="none" strike="noStrike" baseline="0" dirty="0">
                <a:solidFill>
                  <a:schemeClr val="bg1"/>
                </a:solidFill>
              </a:rPr>
              <a:t>grain</a:t>
            </a:r>
            <a:r>
              <a:rPr lang="en-GB" sz="2400" b="0" i="0" u="none" strike="noStrike" baseline="0" dirty="0">
                <a:solidFill>
                  <a:schemeClr val="bg1"/>
                </a:solidFill>
              </a:rPr>
              <a:t>, such as one row per product sold on a sales transaction. </a:t>
            </a:r>
          </a:p>
          <a:p>
            <a:pPr algn="l"/>
            <a:r>
              <a:rPr lang="en-GB" sz="2400" b="0" i="0" u="none" strike="noStrike" baseline="0" dirty="0">
                <a:solidFill>
                  <a:schemeClr val="bg1"/>
                </a:solidFill>
              </a:rPr>
              <a:t>One of the core tenets of dimensional modeling is that all the measurement rows in a fact table must be at the same grain.</a:t>
            </a:r>
            <a:endParaRPr lang="en-IN" sz="2400" dirty="0">
              <a:solidFill>
                <a:schemeClr val="bg1"/>
              </a:solidFill>
            </a:endParaRPr>
          </a:p>
        </p:txBody>
      </p:sp>
      <p:pic>
        <p:nvPicPr>
          <p:cNvPr id="5" name="Picture 4">
            <a:extLst>
              <a:ext uri="{FF2B5EF4-FFF2-40B4-BE49-F238E27FC236}">
                <a16:creationId xmlns:a16="http://schemas.microsoft.com/office/drawing/2014/main" id="{63F64127-165A-1A95-1F4C-1CD58E4C019C}"/>
              </a:ext>
            </a:extLst>
          </p:cNvPr>
          <p:cNvPicPr>
            <a:picLocks noChangeAspect="1"/>
          </p:cNvPicPr>
          <p:nvPr/>
        </p:nvPicPr>
        <p:blipFill>
          <a:blip r:embed="rId2"/>
          <a:stretch>
            <a:fillRect/>
          </a:stretch>
        </p:blipFill>
        <p:spPr>
          <a:xfrm>
            <a:off x="6278467" y="2792896"/>
            <a:ext cx="5913533" cy="3051314"/>
          </a:xfrm>
          <a:prstGeom prst="rect">
            <a:avLst/>
          </a:prstGeom>
        </p:spPr>
      </p:pic>
    </p:spTree>
    <p:extLst>
      <p:ext uri="{BB962C8B-B14F-4D97-AF65-F5344CB8AC3E}">
        <p14:creationId xmlns:p14="http://schemas.microsoft.com/office/powerpoint/2010/main" val="87926984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E251E-9A6B-8F7D-1E74-F9A2AEC20E92}"/>
              </a:ext>
            </a:extLst>
          </p:cNvPr>
          <p:cNvSpPr>
            <a:spLocks noGrp="1"/>
          </p:cNvSpPr>
          <p:nvPr>
            <p:ph type="title"/>
          </p:nvPr>
        </p:nvSpPr>
        <p:spPr>
          <a:xfrm>
            <a:off x="838200" y="365126"/>
            <a:ext cx="10515600" cy="1085988"/>
          </a:xfrm>
        </p:spPr>
        <p:txBody>
          <a:bodyPr/>
          <a:lstStyle/>
          <a:p>
            <a:pPr algn="ctr"/>
            <a:r>
              <a:rPr lang="en-IN" dirty="0">
                <a:solidFill>
                  <a:schemeClr val="bg1"/>
                </a:solidFill>
                <a:latin typeface="+mn-lt"/>
              </a:rPr>
              <a:t>Fact</a:t>
            </a:r>
          </a:p>
        </p:txBody>
      </p:sp>
      <p:sp>
        <p:nvSpPr>
          <p:cNvPr id="3" name="Content Placeholder 2">
            <a:extLst>
              <a:ext uri="{FF2B5EF4-FFF2-40B4-BE49-F238E27FC236}">
                <a16:creationId xmlns:a16="http://schemas.microsoft.com/office/drawing/2014/main" id="{1754E586-6929-4D83-981A-E39F322B629D}"/>
              </a:ext>
            </a:extLst>
          </p:cNvPr>
          <p:cNvSpPr>
            <a:spLocks noGrp="1"/>
          </p:cNvSpPr>
          <p:nvPr>
            <p:ph idx="1"/>
          </p:nvPr>
        </p:nvSpPr>
        <p:spPr>
          <a:xfrm>
            <a:off x="838200" y="1825625"/>
            <a:ext cx="10929730" cy="4351338"/>
          </a:xfrm>
        </p:spPr>
        <p:txBody>
          <a:bodyPr>
            <a:normAutofit/>
          </a:bodyPr>
          <a:lstStyle/>
          <a:p>
            <a:pPr algn="l"/>
            <a:r>
              <a:rPr lang="en-IN" sz="2600" b="0" i="0" u="none" strike="noStrike" baseline="0" dirty="0">
                <a:solidFill>
                  <a:schemeClr val="bg1"/>
                </a:solidFill>
              </a:rPr>
              <a:t>Fact table </a:t>
            </a:r>
            <a:r>
              <a:rPr lang="en-GB" sz="2600" b="0" i="0" u="none" strike="noStrike" baseline="0" dirty="0">
                <a:solidFill>
                  <a:schemeClr val="bg1"/>
                </a:solidFill>
              </a:rPr>
              <a:t>grains fall into one of three categories: transaction, periodic snapshot, and accumulating </a:t>
            </a:r>
            <a:r>
              <a:rPr lang="en-IN" sz="2600" b="0" i="0" u="none" strike="noStrike" baseline="0" dirty="0">
                <a:solidFill>
                  <a:schemeClr val="bg1"/>
                </a:solidFill>
              </a:rPr>
              <a:t>snapshot.</a:t>
            </a:r>
          </a:p>
          <a:p>
            <a:pPr algn="l"/>
            <a:r>
              <a:rPr lang="en-GB" sz="2600" b="0" i="0" u="none" strike="noStrike" baseline="0" dirty="0">
                <a:solidFill>
                  <a:schemeClr val="bg1"/>
                </a:solidFill>
              </a:rPr>
              <a:t>All fact tables have two or more foreign keys that connect to the dimension tables’ primary keys.</a:t>
            </a:r>
            <a:endParaRPr lang="en-IN" sz="2600" dirty="0">
              <a:solidFill>
                <a:schemeClr val="bg1"/>
              </a:solidFill>
            </a:endParaRPr>
          </a:p>
        </p:txBody>
      </p:sp>
    </p:spTree>
    <p:extLst>
      <p:ext uri="{BB962C8B-B14F-4D97-AF65-F5344CB8AC3E}">
        <p14:creationId xmlns:p14="http://schemas.microsoft.com/office/powerpoint/2010/main" val="58406357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5185663" y="1906015"/>
            <a:ext cx="2201333" cy="616373"/>
          </a:xfrm>
          <a:custGeom>
            <a:avLst/>
            <a:gdLst/>
            <a:ahLst/>
            <a:cxnLst/>
            <a:rect l="l" t="t" r="r" b="b"/>
            <a:pathLst>
              <a:path w="1651000" h="462280">
                <a:moveTo>
                  <a:pt x="1650492" y="0"/>
                </a:moveTo>
                <a:lnTo>
                  <a:pt x="0" y="0"/>
                </a:lnTo>
                <a:lnTo>
                  <a:pt x="0" y="461772"/>
                </a:lnTo>
                <a:lnTo>
                  <a:pt x="1650492" y="461772"/>
                </a:lnTo>
                <a:lnTo>
                  <a:pt x="1650492" y="0"/>
                </a:lnTo>
                <a:close/>
              </a:path>
            </a:pathLst>
          </a:custGeom>
          <a:solidFill>
            <a:srgbClr val="383838">
              <a:alpha val="89019"/>
            </a:srgbClr>
          </a:solidFill>
        </p:spPr>
        <p:txBody>
          <a:bodyPr wrap="square" lIns="0" tIns="0" rIns="0" bIns="0" rtlCol="0"/>
          <a:lstStyle/>
          <a:p>
            <a:endParaRPr sz="2400"/>
          </a:p>
        </p:txBody>
      </p:sp>
      <p:sp>
        <p:nvSpPr>
          <p:cNvPr id="4" name="object 4"/>
          <p:cNvSpPr txBox="1"/>
          <p:nvPr/>
        </p:nvSpPr>
        <p:spPr>
          <a:xfrm>
            <a:off x="5290988" y="2057400"/>
            <a:ext cx="273472" cy="386430"/>
          </a:xfrm>
          <a:prstGeom prst="rect">
            <a:avLst/>
          </a:prstGeom>
        </p:spPr>
        <p:txBody>
          <a:bodyPr vert="horz" wrap="square" lIns="0" tIns="16933" rIns="0" bIns="0" rtlCol="0">
            <a:spAutoFit/>
          </a:bodyPr>
          <a:lstStyle/>
          <a:p>
            <a:pPr marL="16933">
              <a:spcBef>
                <a:spcPts val="133"/>
              </a:spcBef>
            </a:pPr>
            <a:r>
              <a:rPr sz="2400" spc="-67" dirty="0">
                <a:solidFill>
                  <a:srgbClr val="99D3FF"/>
                </a:solidFill>
                <a:latin typeface="Wingdings"/>
                <a:cs typeface="Wingdings"/>
              </a:rPr>
              <a:t></a:t>
            </a:r>
            <a:endParaRPr sz="2400">
              <a:latin typeface="Wingdings"/>
              <a:cs typeface="Wingdings"/>
            </a:endParaRPr>
          </a:p>
        </p:txBody>
      </p:sp>
      <p:sp>
        <p:nvSpPr>
          <p:cNvPr id="5" name="object 5"/>
          <p:cNvSpPr txBox="1"/>
          <p:nvPr/>
        </p:nvSpPr>
        <p:spPr>
          <a:xfrm>
            <a:off x="5689938" y="2150533"/>
            <a:ext cx="1355513" cy="302455"/>
          </a:xfrm>
          <a:prstGeom prst="rect">
            <a:avLst/>
          </a:prstGeom>
        </p:spPr>
        <p:txBody>
          <a:bodyPr vert="horz" wrap="square" lIns="0" tIns="0" rIns="0" bIns="0" rtlCol="0">
            <a:spAutoFit/>
          </a:bodyPr>
          <a:lstStyle/>
          <a:p>
            <a:pPr>
              <a:lnSpc>
                <a:spcPts val="2280"/>
              </a:lnSpc>
            </a:pPr>
            <a:r>
              <a:rPr sz="2400" b="1" spc="-13" dirty="0">
                <a:solidFill>
                  <a:srgbClr val="D9D9D9"/>
                </a:solidFill>
                <a:latin typeface="Calibri"/>
                <a:cs typeface="Calibri"/>
              </a:rPr>
              <a:t>Dimension</a:t>
            </a:r>
            <a:endParaRPr sz="2400">
              <a:latin typeface="Calibri"/>
              <a:cs typeface="Calibri"/>
            </a:endParaRPr>
          </a:p>
        </p:txBody>
      </p:sp>
      <p:sp>
        <p:nvSpPr>
          <p:cNvPr id="6" name="object 6"/>
          <p:cNvSpPr txBox="1"/>
          <p:nvPr/>
        </p:nvSpPr>
        <p:spPr>
          <a:xfrm>
            <a:off x="7028929" y="2057400"/>
            <a:ext cx="155785" cy="386430"/>
          </a:xfrm>
          <a:prstGeom prst="rect">
            <a:avLst/>
          </a:prstGeom>
        </p:spPr>
        <p:txBody>
          <a:bodyPr vert="horz" wrap="square" lIns="0" tIns="16933" rIns="0" bIns="0" rtlCol="0">
            <a:spAutoFit/>
          </a:bodyPr>
          <a:lstStyle/>
          <a:p>
            <a:pPr marL="16933">
              <a:spcBef>
                <a:spcPts val="133"/>
              </a:spcBef>
            </a:pPr>
            <a:r>
              <a:rPr sz="2400" b="1" spc="-67" dirty="0">
                <a:solidFill>
                  <a:srgbClr val="D9D9D9"/>
                </a:solidFill>
                <a:latin typeface="Calibri"/>
                <a:cs typeface="Calibri"/>
              </a:rPr>
              <a:t>s</a:t>
            </a:r>
            <a:endParaRPr sz="2400">
              <a:latin typeface="Calibri"/>
              <a:cs typeface="Calibri"/>
            </a:endParaRPr>
          </a:p>
        </p:txBody>
      </p:sp>
      <p:sp>
        <p:nvSpPr>
          <p:cNvPr id="8" name="object 8"/>
          <p:cNvSpPr txBox="1"/>
          <p:nvPr/>
        </p:nvSpPr>
        <p:spPr>
          <a:xfrm>
            <a:off x="7940379" y="4164584"/>
            <a:ext cx="683260"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spc="-33" dirty="0">
                <a:solidFill>
                  <a:srgbClr val="D9D9D9"/>
                </a:solidFill>
                <a:latin typeface="Calibri"/>
                <a:cs typeface="Calibri"/>
              </a:rPr>
              <a:t>Di</a:t>
            </a:r>
            <a:endParaRPr sz="2400">
              <a:latin typeface="Calibri"/>
              <a:cs typeface="Calibri"/>
            </a:endParaRPr>
          </a:p>
        </p:txBody>
      </p:sp>
      <p:sp>
        <p:nvSpPr>
          <p:cNvPr id="9" name="object 9"/>
          <p:cNvSpPr txBox="1"/>
          <p:nvPr/>
        </p:nvSpPr>
        <p:spPr>
          <a:xfrm>
            <a:off x="8606695" y="4257717"/>
            <a:ext cx="1210733" cy="302455"/>
          </a:xfrm>
          <a:prstGeom prst="rect">
            <a:avLst/>
          </a:prstGeom>
        </p:spPr>
        <p:txBody>
          <a:bodyPr vert="horz" wrap="square" lIns="0" tIns="0" rIns="0" bIns="0" rtlCol="0">
            <a:spAutoFit/>
          </a:bodyPr>
          <a:lstStyle/>
          <a:p>
            <a:pPr>
              <a:lnSpc>
                <a:spcPts val="2280"/>
              </a:lnSpc>
            </a:pPr>
            <a:r>
              <a:rPr sz="2400" b="1" spc="-13" dirty="0">
                <a:solidFill>
                  <a:srgbClr val="D9D9D9"/>
                </a:solidFill>
                <a:latin typeface="Calibri"/>
                <a:cs typeface="Calibri"/>
              </a:rPr>
              <a:t>mensions</a:t>
            </a:r>
            <a:endParaRPr sz="2400">
              <a:latin typeface="Calibri"/>
              <a:cs typeface="Calibri"/>
            </a:endParaRPr>
          </a:p>
        </p:txBody>
      </p:sp>
      <p:sp>
        <p:nvSpPr>
          <p:cNvPr id="11" name="object 11"/>
          <p:cNvSpPr txBox="1"/>
          <p:nvPr/>
        </p:nvSpPr>
        <p:spPr>
          <a:xfrm>
            <a:off x="2235707" y="4113784"/>
            <a:ext cx="273472" cy="386430"/>
          </a:xfrm>
          <a:prstGeom prst="rect">
            <a:avLst/>
          </a:prstGeom>
        </p:spPr>
        <p:txBody>
          <a:bodyPr vert="horz" wrap="square" lIns="0" tIns="16933" rIns="0" bIns="0" rtlCol="0">
            <a:spAutoFit/>
          </a:bodyPr>
          <a:lstStyle/>
          <a:p>
            <a:pPr marL="16933">
              <a:spcBef>
                <a:spcPts val="133"/>
              </a:spcBef>
            </a:pPr>
            <a:r>
              <a:rPr sz="2400" spc="-67" dirty="0">
                <a:solidFill>
                  <a:srgbClr val="99D3FF"/>
                </a:solidFill>
                <a:latin typeface="Wingdings"/>
                <a:cs typeface="Wingdings"/>
              </a:rPr>
              <a:t></a:t>
            </a:r>
            <a:endParaRPr sz="2400">
              <a:latin typeface="Wingdings"/>
              <a:cs typeface="Wingdings"/>
            </a:endParaRPr>
          </a:p>
        </p:txBody>
      </p:sp>
      <p:sp>
        <p:nvSpPr>
          <p:cNvPr id="12" name="object 12"/>
          <p:cNvSpPr txBox="1"/>
          <p:nvPr/>
        </p:nvSpPr>
        <p:spPr>
          <a:xfrm>
            <a:off x="2634657" y="4206917"/>
            <a:ext cx="1355513" cy="302455"/>
          </a:xfrm>
          <a:prstGeom prst="rect">
            <a:avLst/>
          </a:prstGeom>
        </p:spPr>
        <p:txBody>
          <a:bodyPr vert="horz" wrap="square" lIns="0" tIns="0" rIns="0" bIns="0" rtlCol="0">
            <a:spAutoFit/>
          </a:bodyPr>
          <a:lstStyle/>
          <a:p>
            <a:pPr>
              <a:lnSpc>
                <a:spcPts val="2280"/>
              </a:lnSpc>
            </a:pPr>
            <a:r>
              <a:rPr sz="2400" b="1" spc="-13" dirty="0">
                <a:solidFill>
                  <a:srgbClr val="D9D9D9"/>
                </a:solidFill>
                <a:latin typeface="Calibri"/>
                <a:cs typeface="Calibri"/>
              </a:rPr>
              <a:t>Dimension</a:t>
            </a:r>
            <a:endParaRPr sz="2400">
              <a:latin typeface="Calibri"/>
              <a:cs typeface="Calibri"/>
            </a:endParaRPr>
          </a:p>
        </p:txBody>
      </p:sp>
      <p:sp>
        <p:nvSpPr>
          <p:cNvPr id="13" name="object 13"/>
          <p:cNvSpPr txBox="1"/>
          <p:nvPr/>
        </p:nvSpPr>
        <p:spPr>
          <a:xfrm>
            <a:off x="3973648" y="4113784"/>
            <a:ext cx="155785" cy="386430"/>
          </a:xfrm>
          <a:prstGeom prst="rect">
            <a:avLst/>
          </a:prstGeom>
        </p:spPr>
        <p:txBody>
          <a:bodyPr vert="horz" wrap="square" lIns="0" tIns="16933" rIns="0" bIns="0" rtlCol="0">
            <a:spAutoFit/>
          </a:bodyPr>
          <a:lstStyle/>
          <a:p>
            <a:pPr marL="16933">
              <a:spcBef>
                <a:spcPts val="133"/>
              </a:spcBef>
            </a:pPr>
            <a:r>
              <a:rPr sz="2400" b="1" spc="-67" dirty="0">
                <a:solidFill>
                  <a:srgbClr val="D9D9D9"/>
                </a:solidFill>
                <a:latin typeface="Calibri"/>
                <a:cs typeface="Calibri"/>
              </a:rPr>
              <a:t>s</a:t>
            </a:r>
            <a:endParaRPr sz="2400">
              <a:latin typeface="Calibri"/>
              <a:cs typeface="Calibri"/>
            </a:endParaRPr>
          </a:p>
        </p:txBody>
      </p:sp>
      <p:grpSp>
        <p:nvGrpSpPr>
          <p:cNvPr id="14" name="object 14"/>
          <p:cNvGrpSpPr/>
          <p:nvPr/>
        </p:nvGrpSpPr>
        <p:grpSpPr>
          <a:xfrm>
            <a:off x="3334173" y="3072921"/>
            <a:ext cx="5718387" cy="1007533"/>
            <a:chOff x="2506789" y="2258567"/>
            <a:chExt cx="4288790" cy="755650"/>
          </a:xfrm>
        </p:grpSpPr>
        <p:sp>
          <p:nvSpPr>
            <p:cNvPr id="15" name="object 15"/>
            <p:cNvSpPr/>
            <p:nvPr/>
          </p:nvSpPr>
          <p:spPr>
            <a:xfrm>
              <a:off x="2511551" y="2625851"/>
              <a:ext cx="4279265" cy="383540"/>
            </a:xfrm>
            <a:custGeom>
              <a:avLst/>
              <a:gdLst/>
              <a:ahLst/>
              <a:cxnLst/>
              <a:rect l="l" t="t" r="r" b="b"/>
              <a:pathLst>
                <a:path w="4279265" h="383539">
                  <a:moveTo>
                    <a:pt x="2921508" y="0"/>
                  </a:moveTo>
                  <a:lnTo>
                    <a:pt x="4279138" y="383286"/>
                  </a:lnTo>
                </a:path>
                <a:path w="4279265" h="383539">
                  <a:moveTo>
                    <a:pt x="1526539" y="22860"/>
                  </a:moveTo>
                  <a:lnTo>
                    <a:pt x="0" y="345567"/>
                  </a:lnTo>
                </a:path>
              </a:pathLst>
            </a:custGeom>
            <a:ln w="9144">
              <a:solidFill>
                <a:srgbClr val="00C2FF"/>
              </a:solidFill>
            </a:ln>
          </p:spPr>
          <p:txBody>
            <a:bodyPr wrap="square" lIns="0" tIns="0" rIns="0" bIns="0" rtlCol="0"/>
            <a:lstStyle/>
            <a:p>
              <a:endParaRPr sz="2400"/>
            </a:p>
          </p:txBody>
        </p:sp>
        <p:sp>
          <p:nvSpPr>
            <p:cNvPr id="16" name="object 16"/>
            <p:cNvSpPr/>
            <p:nvPr/>
          </p:nvSpPr>
          <p:spPr>
            <a:xfrm>
              <a:off x="4003547" y="2258567"/>
              <a:ext cx="1420495" cy="463550"/>
            </a:xfrm>
            <a:custGeom>
              <a:avLst/>
              <a:gdLst/>
              <a:ahLst/>
              <a:cxnLst/>
              <a:rect l="l" t="t" r="r" b="b"/>
              <a:pathLst>
                <a:path w="1420495" h="463550">
                  <a:moveTo>
                    <a:pt x="1420368" y="0"/>
                  </a:moveTo>
                  <a:lnTo>
                    <a:pt x="0" y="0"/>
                  </a:lnTo>
                  <a:lnTo>
                    <a:pt x="0" y="463295"/>
                  </a:lnTo>
                  <a:lnTo>
                    <a:pt x="1420368" y="463295"/>
                  </a:lnTo>
                  <a:lnTo>
                    <a:pt x="1420368" y="0"/>
                  </a:lnTo>
                  <a:close/>
                </a:path>
              </a:pathLst>
            </a:custGeom>
            <a:solidFill>
              <a:srgbClr val="404040">
                <a:alpha val="89019"/>
              </a:srgbClr>
            </a:solidFill>
          </p:spPr>
          <p:txBody>
            <a:bodyPr wrap="square" lIns="0" tIns="0" rIns="0" bIns="0" rtlCol="0"/>
            <a:lstStyle/>
            <a:p>
              <a:endParaRPr sz="2400"/>
            </a:p>
          </p:txBody>
        </p:sp>
      </p:grpSp>
      <p:sp>
        <p:nvSpPr>
          <p:cNvPr id="17" name="object 17"/>
          <p:cNvSpPr txBox="1"/>
          <p:nvPr/>
        </p:nvSpPr>
        <p:spPr>
          <a:xfrm>
            <a:off x="5444744" y="3163486"/>
            <a:ext cx="273472" cy="386430"/>
          </a:xfrm>
          <a:prstGeom prst="rect">
            <a:avLst/>
          </a:prstGeom>
        </p:spPr>
        <p:txBody>
          <a:bodyPr vert="horz" wrap="square" lIns="0" tIns="16933" rIns="0" bIns="0" rtlCol="0">
            <a:spAutoFit/>
          </a:bodyPr>
          <a:lstStyle/>
          <a:p>
            <a:pPr marL="16933">
              <a:spcBef>
                <a:spcPts val="133"/>
              </a:spcBef>
            </a:pPr>
            <a:r>
              <a:rPr sz="2400" spc="-67" dirty="0">
                <a:solidFill>
                  <a:srgbClr val="99D3FF"/>
                </a:solidFill>
                <a:latin typeface="Wingdings"/>
                <a:cs typeface="Wingdings"/>
              </a:rPr>
              <a:t></a:t>
            </a:r>
            <a:endParaRPr sz="2400">
              <a:latin typeface="Wingdings"/>
              <a:cs typeface="Wingdings"/>
            </a:endParaRPr>
          </a:p>
        </p:txBody>
      </p:sp>
      <p:sp>
        <p:nvSpPr>
          <p:cNvPr id="18" name="object 18"/>
          <p:cNvSpPr txBox="1"/>
          <p:nvPr/>
        </p:nvSpPr>
        <p:spPr>
          <a:xfrm>
            <a:off x="5843694" y="3256619"/>
            <a:ext cx="646007" cy="302455"/>
          </a:xfrm>
          <a:prstGeom prst="rect">
            <a:avLst/>
          </a:prstGeom>
        </p:spPr>
        <p:txBody>
          <a:bodyPr vert="horz" wrap="square" lIns="0" tIns="0" rIns="0" bIns="0" rtlCol="0">
            <a:spAutoFit/>
          </a:bodyPr>
          <a:lstStyle/>
          <a:p>
            <a:pPr>
              <a:lnSpc>
                <a:spcPts val="2280"/>
              </a:lnSpc>
            </a:pPr>
            <a:r>
              <a:rPr sz="2400" b="1" spc="-13" dirty="0">
                <a:solidFill>
                  <a:srgbClr val="99D3FF"/>
                </a:solidFill>
                <a:latin typeface="Calibri"/>
                <a:cs typeface="Calibri"/>
              </a:rPr>
              <a:t>Facts</a:t>
            </a:r>
            <a:endParaRPr sz="2400">
              <a:latin typeface="Calibri"/>
              <a:cs typeface="Calibri"/>
            </a:endParaRPr>
          </a:p>
        </p:txBody>
      </p:sp>
      <p:sp>
        <p:nvSpPr>
          <p:cNvPr id="19" name="object 19"/>
          <p:cNvSpPr/>
          <p:nvPr/>
        </p:nvSpPr>
        <p:spPr>
          <a:xfrm>
            <a:off x="8048752" y="717296"/>
            <a:ext cx="3048000" cy="619760"/>
          </a:xfrm>
          <a:custGeom>
            <a:avLst/>
            <a:gdLst/>
            <a:ahLst/>
            <a:cxnLst/>
            <a:rect l="l" t="t" r="r" b="b"/>
            <a:pathLst>
              <a:path w="2286000" h="464819">
                <a:moveTo>
                  <a:pt x="2285999" y="0"/>
                </a:moveTo>
                <a:lnTo>
                  <a:pt x="0" y="0"/>
                </a:lnTo>
                <a:lnTo>
                  <a:pt x="0" y="464820"/>
                </a:lnTo>
                <a:lnTo>
                  <a:pt x="2285999" y="464820"/>
                </a:lnTo>
                <a:lnTo>
                  <a:pt x="2285999" y="0"/>
                </a:lnTo>
                <a:close/>
              </a:path>
            </a:pathLst>
          </a:custGeom>
          <a:solidFill>
            <a:srgbClr val="99E7FF"/>
          </a:solidFill>
        </p:spPr>
        <p:txBody>
          <a:bodyPr wrap="square" lIns="0" tIns="0" rIns="0" bIns="0" rtlCol="0"/>
          <a:lstStyle/>
          <a:p>
            <a:endParaRPr sz="2400"/>
          </a:p>
        </p:txBody>
      </p:sp>
      <p:sp>
        <p:nvSpPr>
          <p:cNvPr id="20" name="object 20"/>
          <p:cNvSpPr txBox="1"/>
          <p:nvPr/>
        </p:nvSpPr>
        <p:spPr>
          <a:xfrm>
            <a:off x="8983642" y="869019"/>
            <a:ext cx="1180253" cy="386430"/>
          </a:xfrm>
          <a:prstGeom prst="rect">
            <a:avLst/>
          </a:prstGeom>
        </p:spPr>
        <p:txBody>
          <a:bodyPr vert="horz" wrap="square" lIns="0" tIns="16933" rIns="0" bIns="0" rtlCol="0">
            <a:spAutoFit/>
          </a:bodyPr>
          <a:lstStyle/>
          <a:p>
            <a:pPr marL="16933">
              <a:spcBef>
                <a:spcPts val="133"/>
              </a:spcBef>
            </a:pPr>
            <a:r>
              <a:rPr sz="2400" b="1" spc="-13" dirty="0">
                <a:solidFill>
                  <a:srgbClr val="404040"/>
                </a:solidFill>
                <a:latin typeface="Calibri"/>
                <a:cs typeface="Calibri"/>
              </a:rPr>
              <a:t>Usually…</a:t>
            </a:r>
            <a:endParaRPr sz="2400">
              <a:latin typeface="Calibri"/>
              <a:cs typeface="Calibri"/>
            </a:endParaRPr>
          </a:p>
        </p:txBody>
      </p:sp>
      <p:graphicFrame>
        <p:nvGraphicFramePr>
          <p:cNvPr id="21" name="object 21"/>
          <p:cNvGraphicFramePr>
            <a:graphicFrameLocks noGrp="1"/>
          </p:cNvGraphicFramePr>
          <p:nvPr>
            <p:extLst>
              <p:ext uri="{D42A27DB-BD31-4B8C-83A1-F6EECF244321}">
                <p14:modId xmlns:p14="http://schemas.microsoft.com/office/powerpoint/2010/main" val="2624046781"/>
              </p:ext>
            </p:extLst>
          </p:nvPr>
        </p:nvGraphicFramePr>
        <p:xfrm>
          <a:off x="2516450" y="4551014"/>
          <a:ext cx="1391073" cy="1524000"/>
        </p:xfrm>
        <a:graphic>
          <a:graphicData uri="http://schemas.openxmlformats.org/drawingml/2006/table">
            <a:tbl>
              <a:tblPr firstRow="1" bandRow="1">
                <a:tableStyleId>{2D5ABB26-0587-4C30-8999-92F81FD0307C}</a:tableStyleId>
              </a:tblPr>
              <a:tblGrid>
                <a:gridCol w="1391073">
                  <a:extLst>
                    <a:ext uri="{9D8B030D-6E8A-4147-A177-3AD203B41FA5}">
                      <a16:colId xmlns:a16="http://schemas.microsoft.com/office/drawing/2014/main" val="20000"/>
                    </a:ext>
                  </a:extLst>
                </a:gridCol>
              </a:tblGrid>
              <a:tr h="254000">
                <a:tc>
                  <a:txBody>
                    <a:bodyPr/>
                    <a:lstStyle/>
                    <a:p>
                      <a:pPr marL="635" algn="ctr">
                        <a:lnSpc>
                          <a:spcPts val="1175"/>
                        </a:lnSpc>
                        <a:spcBef>
                          <a:spcPts val="225"/>
                        </a:spcBef>
                      </a:pPr>
                      <a:r>
                        <a:rPr sz="1400" b="1" spc="-10" dirty="0">
                          <a:latin typeface="Arial"/>
                          <a:cs typeface="Arial"/>
                        </a:rPr>
                        <a:t>Dim_Product</a:t>
                      </a:r>
                      <a:endParaRPr sz="1400">
                        <a:latin typeface="Arial"/>
                        <a:cs typeface="Arial"/>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extLst>
                  <a:ext uri="{0D108BD9-81ED-4DB2-BD59-A6C34878D82A}">
                    <a16:rowId xmlns:a16="http://schemas.microsoft.com/office/drawing/2014/main" val="10000"/>
                  </a:ext>
                </a:extLst>
              </a:tr>
              <a:tr h="254000">
                <a:tc>
                  <a:txBody>
                    <a:bodyPr/>
                    <a:lstStyle/>
                    <a:p>
                      <a:pPr algn="ctr">
                        <a:lnSpc>
                          <a:spcPts val="1175"/>
                        </a:lnSpc>
                        <a:spcBef>
                          <a:spcPts val="225"/>
                        </a:spcBef>
                      </a:pPr>
                      <a:r>
                        <a:rPr sz="1400" spc="-10" dirty="0">
                          <a:latin typeface="Arial MT"/>
                          <a:cs typeface="Arial MT"/>
                        </a:rPr>
                        <a:t>product_id</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ts val="1170"/>
                        </a:lnSpc>
                        <a:spcBef>
                          <a:spcPts val="225"/>
                        </a:spcBef>
                      </a:pPr>
                      <a:r>
                        <a:rPr sz="1400" spc="-20" dirty="0">
                          <a:latin typeface="Arial MT"/>
                          <a:cs typeface="Arial MT"/>
                        </a:rPr>
                        <a:t>name</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marL="2540" algn="ctr">
                        <a:lnSpc>
                          <a:spcPts val="1170"/>
                        </a:lnSpc>
                        <a:spcBef>
                          <a:spcPts val="225"/>
                        </a:spcBef>
                      </a:pPr>
                      <a:r>
                        <a:rPr sz="1400" spc="-10" dirty="0">
                          <a:latin typeface="Arial MT"/>
                          <a:cs typeface="Arial MT"/>
                        </a:rPr>
                        <a:t>category</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marL="1905" algn="ctr">
                        <a:lnSpc>
                          <a:spcPts val="1170"/>
                        </a:lnSpc>
                        <a:spcBef>
                          <a:spcPts val="225"/>
                        </a:spcBef>
                      </a:pPr>
                      <a:r>
                        <a:rPr sz="1400" spc="-10" dirty="0">
                          <a:latin typeface="Arial MT"/>
                          <a:cs typeface="Arial MT"/>
                        </a:rPr>
                        <a:t>subcategory</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algn="ctr">
                        <a:lnSpc>
                          <a:spcPts val="1170"/>
                        </a:lnSpc>
                        <a:spcBef>
                          <a:spcPts val="225"/>
                        </a:spcBef>
                      </a:pPr>
                      <a:r>
                        <a:rPr sz="1400" spc="-10" dirty="0">
                          <a:latin typeface="Arial MT"/>
                          <a:cs typeface="Arial MT"/>
                        </a:rPr>
                        <a:t>dimensions</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graphicFrame>
        <p:nvGraphicFramePr>
          <p:cNvPr id="22" name="object 22"/>
          <p:cNvGraphicFramePr>
            <a:graphicFrameLocks noGrp="1"/>
          </p:cNvGraphicFramePr>
          <p:nvPr>
            <p:extLst>
              <p:ext uri="{D42A27DB-BD31-4B8C-83A1-F6EECF244321}">
                <p14:modId xmlns:p14="http://schemas.microsoft.com/office/powerpoint/2010/main" val="1727128748"/>
              </p:ext>
            </p:extLst>
          </p:nvPr>
        </p:nvGraphicFramePr>
        <p:xfrm>
          <a:off x="8592750" y="4578435"/>
          <a:ext cx="1391073" cy="2286000"/>
        </p:xfrm>
        <a:graphic>
          <a:graphicData uri="http://schemas.openxmlformats.org/drawingml/2006/table">
            <a:tbl>
              <a:tblPr firstRow="1" bandRow="1">
                <a:tableStyleId>{2D5ABB26-0587-4C30-8999-92F81FD0307C}</a:tableStyleId>
              </a:tblPr>
              <a:tblGrid>
                <a:gridCol w="1391073">
                  <a:extLst>
                    <a:ext uri="{9D8B030D-6E8A-4147-A177-3AD203B41FA5}">
                      <a16:colId xmlns:a16="http://schemas.microsoft.com/office/drawing/2014/main" val="20000"/>
                    </a:ext>
                  </a:extLst>
                </a:gridCol>
              </a:tblGrid>
              <a:tr h="254000">
                <a:tc>
                  <a:txBody>
                    <a:bodyPr/>
                    <a:lstStyle/>
                    <a:p>
                      <a:pPr marL="1270" algn="ctr">
                        <a:lnSpc>
                          <a:spcPts val="1280"/>
                        </a:lnSpc>
                        <a:spcBef>
                          <a:spcPts val="120"/>
                        </a:spcBef>
                      </a:pPr>
                      <a:r>
                        <a:rPr sz="1500" b="1" spc="-10" dirty="0">
                          <a:latin typeface="Calibri"/>
                          <a:cs typeface="Calibri"/>
                        </a:rPr>
                        <a:t>Dim_Date</a:t>
                      </a:r>
                      <a:endParaRPr sz="1500">
                        <a:latin typeface="Calibri"/>
                        <a:cs typeface="Calibri"/>
                      </a:endParaRPr>
                    </a:p>
                  </a:txBody>
                  <a:tcPr marL="0" marR="0" marT="203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extLst>
                  <a:ext uri="{0D108BD9-81ED-4DB2-BD59-A6C34878D82A}">
                    <a16:rowId xmlns:a16="http://schemas.microsoft.com/office/drawing/2014/main" val="10000"/>
                  </a:ext>
                </a:extLst>
              </a:tr>
              <a:tr h="254000">
                <a:tc>
                  <a:txBody>
                    <a:bodyPr/>
                    <a:lstStyle/>
                    <a:p>
                      <a:pPr marL="2540" algn="ctr">
                        <a:lnSpc>
                          <a:spcPts val="1280"/>
                        </a:lnSpc>
                        <a:spcBef>
                          <a:spcPts val="120"/>
                        </a:spcBef>
                      </a:pPr>
                      <a:r>
                        <a:rPr sz="1500" spc="-10" dirty="0">
                          <a:latin typeface="Calibri"/>
                          <a:cs typeface="Calibri"/>
                        </a:rPr>
                        <a:t>date_id</a:t>
                      </a:r>
                      <a:endParaRPr sz="1500">
                        <a:latin typeface="Calibri"/>
                        <a:cs typeface="Calibri"/>
                      </a:endParaRPr>
                    </a:p>
                  </a:txBody>
                  <a:tcPr marL="0" marR="0" marT="203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F1F1"/>
                    </a:solidFill>
                  </a:tcPr>
                </a:tc>
                <a:extLst>
                  <a:ext uri="{0D108BD9-81ED-4DB2-BD59-A6C34878D82A}">
                    <a16:rowId xmlns:a16="http://schemas.microsoft.com/office/drawing/2014/main" val="10001"/>
                  </a:ext>
                </a:extLst>
              </a:tr>
              <a:tr h="254000">
                <a:tc>
                  <a:txBody>
                    <a:bodyPr/>
                    <a:lstStyle/>
                    <a:p>
                      <a:pPr marL="2540" algn="ctr">
                        <a:lnSpc>
                          <a:spcPts val="1280"/>
                        </a:lnSpc>
                        <a:spcBef>
                          <a:spcPts val="120"/>
                        </a:spcBef>
                      </a:pPr>
                      <a:r>
                        <a:rPr sz="1500" spc="-20" dirty="0">
                          <a:latin typeface="Calibri"/>
                          <a:cs typeface="Calibri"/>
                        </a:rPr>
                        <a:t>year</a:t>
                      </a:r>
                      <a:endParaRPr sz="1500">
                        <a:latin typeface="Calibri"/>
                        <a:cs typeface="Calibri"/>
                      </a:endParaRPr>
                    </a:p>
                  </a:txBody>
                  <a:tcPr marL="0" marR="0" marT="203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F1F1"/>
                    </a:solidFill>
                  </a:tcPr>
                </a:tc>
                <a:extLst>
                  <a:ext uri="{0D108BD9-81ED-4DB2-BD59-A6C34878D82A}">
                    <a16:rowId xmlns:a16="http://schemas.microsoft.com/office/drawing/2014/main" val="10002"/>
                  </a:ext>
                </a:extLst>
              </a:tr>
              <a:tr h="254000">
                <a:tc>
                  <a:txBody>
                    <a:bodyPr/>
                    <a:lstStyle/>
                    <a:p>
                      <a:pPr marL="635" algn="ctr">
                        <a:lnSpc>
                          <a:spcPts val="1280"/>
                        </a:lnSpc>
                        <a:spcBef>
                          <a:spcPts val="120"/>
                        </a:spcBef>
                      </a:pPr>
                      <a:r>
                        <a:rPr sz="1500" spc="-10" dirty="0">
                          <a:latin typeface="Calibri"/>
                          <a:cs typeface="Calibri"/>
                        </a:rPr>
                        <a:t>quarter</a:t>
                      </a:r>
                      <a:endParaRPr sz="1500">
                        <a:latin typeface="Calibri"/>
                        <a:cs typeface="Calibri"/>
                      </a:endParaRPr>
                    </a:p>
                  </a:txBody>
                  <a:tcPr marL="0" marR="0" marT="203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F1F1"/>
                    </a:solidFill>
                  </a:tcPr>
                </a:tc>
                <a:extLst>
                  <a:ext uri="{0D108BD9-81ED-4DB2-BD59-A6C34878D82A}">
                    <a16:rowId xmlns:a16="http://schemas.microsoft.com/office/drawing/2014/main" val="10003"/>
                  </a:ext>
                </a:extLst>
              </a:tr>
              <a:tr h="254000">
                <a:tc>
                  <a:txBody>
                    <a:bodyPr/>
                    <a:lstStyle/>
                    <a:p>
                      <a:pPr marL="2540" algn="ctr">
                        <a:lnSpc>
                          <a:spcPts val="1280"/>
                        </a:lnSpc>
                        <a:spcBef>
                          <a:spcPts val="120"/>
                        </a:spcBef>
                      </a:pPr>
                      <a:r>
                        <a:rPr sz="1500" spc="-20" dirty="0">
                          <a:latin typeface="Calibri"/>
                          <a:cs typeface="Calibri"/>
                        </a:rPr>
                        <a:t>month</a:t>
                      </a:r>
                      <a:endParaRPr sz="1500">
                        <a:latin typeface="Calibri"/>
                        <a:cs typeface="Calibri"/>
                      </a:endParaRPr>
                    </a:p>
                  </a:txBody>
                  <a:tcPr marL="0" marR="0" marT="203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marL="2540" algn="ctr">
                        <a:lnSpc>
                          <a:spcPts val="1280"/>
                        </a:lnSpc>
                        <a:spcBef>
                          <a:spcPts val="120"/>
                        </a:spcBef>
                      </a:pPr>
                      <a:r>
                        <a:rPr sz="1500" spc="-20" dirty="0">
                          <a:latin typeface="Calibri"/>
                          <a:cs typeface="Calibri"/>
                        </a:rPr>
                        <a:t>week</a:t>
                      </a:r>
                      <a:endParaRPr sz="1500">
                        <a:latin typeface="Calibri"/>
                        <a:cs typeface="Calibri"/>
                      </a:endParaRPr>
                    </a:p>
                  </a:txBody>
                  <a:tcPr marL="0" marR="0" marT="203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r h="254000">
                <a:tc>
                  <a:txBody>
                    <a:bodyPr/>
                    <a:lstStyle/>
                    <a:p>
                      <a:pPr marL="1905" algn="ctr">
                        <a:lnSpc>
                          <a:spcPts val="1280"/>
                        </a:lnSpc>
                        <a:spcBef>
                          <a:spcPts val="120"/>
                        </a:spcBef>
                      </a:pPr>
                      <a:r>
                        <a:rPr sz="1500" spc="-25" dirty="0">
                          <a:latin typeface="Calibri"/>
                          <a:cs typeface="Calibri"/>
                        </a:rPr>
                        <a:t>day</a:t>
                      </a:r>
                      <a:endParaRPr sz="1500">
                        <a:latin typeface="Calibri"/>
                        <a:cs typeface="Calibri"/>
                      </a:endParaRPr>
                    </a:p>
                  </a:txBody>
                  <a:tcPr marL="0" marR="0" marT="203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6"/>
                  </a:ext>
                </a:extLst>
              </a:tr>
              <a:tr h="254000">
                <a:tc>
                  <a:txBody>
                    <a:bodyPr/>
                    <a:lstStyle/>
                    <a:p>
                      <a:pPr marL="1905" algn="ctr">
                        <a:lnSpc>
                          <a:spcPts val="1280"/>
                        </a:lnSpc>
                        <a:spcBef>
                          <a:spcPts val="120"/>
                        </a:spcBef>
                      </a:pPr>
                      <a:r>
                        <a:rPr sz="1500" spc="-10" dirty="0">
                          <a:latin typeface="Calibri"/>
                          <a:cs typeface="Calibri"/>
                        </a:rPr>
                        <a:t>weekday</a:t>
                      </a:r>
                      <a:endParaRPr sz="1500">
                        <a:latin typeface="Calibri"/>
                        <a:cs typeface="Calibri"/>
                      </a:endParaRPr>
                    </a:p>
                  </a:txBody>
                  <a:tcPr marL="0" marR="0" marT="203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7"/>
                  </a:ext>
                </a:extLst>
              </a:tr>
              <a:tr h="254000">
                <a:tc>
                  <a:txBody>
                    <a:bodyPr/>
                    <a:lstStyle/>
                    <a:p>
                      <a:pPr marL="1270" algn="ctr">
                        <a:lnSpc>
                          <a:spcPts val="1280"/>
                        </a:lnSpc>
                        <a:spcBef>
                          <a:spcPts val="120"/>
                        </a:spcBef>
                      </a:pPr>
                      <a:r>
                        <a:rPr sz="1500" spc="-10" dirty="0">
                          <a:latin typeface="Calibri"/>
                          <a:cs typeface="Calibri"/>
                        </a:rPr>
                        <a:t>holiday_flag</a:t>
                      </a:r>
                      <a:endParaRPr sz="1500" dirty="0">
                        <a:latin typeface="Calibri"/>
                        <a:cs typeface="Calibri"/>
                      </a:endParaRPr>
                    </a:p>
                  </a:txBody>
                  <a:tcPr marL="0" marR="0" marT="203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8"/>
                  </a:ext>
                </a:extLst>
              </a:tr>
            </a:tbl>
          </a:graphicData>
        </a:graphic>
      </p:graphicFrame>
      <p:graphicFrame>
        <p:nvGraphicFramePr>
          <p:cNvPr id="23" name="object 23"/>
          <p:cNvGraphicFramePr>
            <a:graphicFrameLocks noGrp="1"/>
          </p:cNvGraphicFramePr>
          <p:nvPr>
            <p:extLst>
              <p:ext uri="{D42A27DB-BD31-4B8C-83A1-F6EECF244321}">
                <p14:modId xmlns:p14="http://schemas.microsoft.com/office/powerpoint/2010/main" val="3085507725"/>
              </p:ext>
            </p:extLst>
          </p:nvPr>
        </p:nvGraphicFramePr>
        <p:xfrm>
          <a:off x="5293104" y="335329"/>
          <a:ext cx="1986450" cy="4977685"/>
        </p:xfrm>
        <a:graphic>
          <a:graphicData uri="http://schemas.openxmlformats.org/drawingml/2006/table">
            <a:tbl>
              <a:tblPr firstRow="1" bandRow="1">
                <a:tableStyleId>{2D5ABB26-0587-4C30-8999-92F81FD0307C}</a:tableStyleId>
              </a:tblPr>
              <a:tblGrid>
                <a:gridCol w="863780">
                  <a:extLst>
                    <a:ext uri="{9D8B030D-6E8A-4147-A177-3AD203B41FA5}">
                      <a16:colId xmlns:a16="http://schemas.microsoft.com/office/drawing/2014/main" val="20000"/>
                    </a:ext>
                  </a:extLst>
                </a:gridCol>
                <a:gridCol w="1122670">
                  <a:extLst>
                    <a:ext uri="{9D8B030D-6E8A-4147-A177-3AD203B41FA5}">
                      <a16:colId xmlns:a16="http://schemas.microsoft.com/office/drawing/2014/main" val="20001"/>
                    </a:ext>
                  </a:extLst>
                </a:gridCol>
              </a:tblGrid>
              <a:tr h="262482">
                <a:tc gridSpan="2">
                  <a:txBody>
                    <a:bodyPr/>
                    <a:lstStyle/>
                    <a:p>
                      <a:pPr marL="84455" algn="ctr">
                        <a:lnSpc>
                          <a:spcPts val="1285"/>
                        </a:lnSpc>
                        <a:spcBef>
                          <a:spcPts val="115"/>
                        </a:spcBef>
                      </a:pPr>
                      <a:r>
                        <a:rPr sz="1500" b="1" spc="-10" dirty="0">
                          <a:latin typeface="Calibri"/>
                          <a:cs typeface="Calibri"/>
                        </a:rPr>
                        <a:t>Dim_Customer</a:t>
                      </a:r>
                      <a:endParaRPr sz="1500">
                        <a:latin typeface="Calibri"/>
                        <a:cs typeface="Calibri"/>
                      </a:endParaRPr>
                    </a:p>
                  </a:txBody>
                  <a:tcPr marL="0" marR="0" marT="194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hMerge="1">
                  <a:txBody>
                    <a:bodyPr/>
                    <a:lstStyle/>
                    <a:p>
                      <a:endParaRPr/>
                    </a:p>
                  </a:txBody>
                  <a:tcPr marL="0" marR="0" marT="0" marB="0"/>
                </a:tc>
                <a:extLst>
                  <a:ext uri="{0D108BD9-81ED-4DB2-BD59-A6C34878D82A}">
                    <a16:rowId xmlns:a16="http://schemas.microsoft.com/office/drawing/2014/main" val="10000"/>
                  </a:ext>
                </a:extLst>
              </a:tr>
              <a:tr h="262482">
                <a:tc gridSpan="2">
                  <a:txBody>
                    <a:bodyPr/>
                    <a:lstStyle/>
                    <a:p>
                      <a:pPr marL="161925" algn="ctr">
                        <a:lnSpc>
                          <a:spcPts val="1285"/>
                        </a:lnSpc>
                        <a:spcBef>
                          <a:spcPts val="115"/>
                        </a:spcBef>
                      </a:pPr>
                      <a:r>
                        <a:rPr sz="1500" spc="-10" dirty="0">
                          <a:latin typeface="Calibri"/>
                          <a:cs typeface="Calibri"/>
                        </a:rPr>
                        <a:t>customer_id</a:t>
                      </a:r>
                      <a:endParaRPr sz="1500">
                        <a:latin typeface="Calibri"/>
                        <a:cs typeface="Calibri"/>
                      </a:endParaRPr>
                    </a:p>
                  </a:txBody>
                  <a:tcPr marL="0" marR="0" marT="194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hMerge="1">
                  <a:txBody>
                    <a:bodyPr/>
                    <a:lstStyle/>
                    <a:p>
                      <a:endParaRPr/>
                    </a:p>
                  </a:txBody>
                  <a:tcPr marL="0" marR="0" marT="0" marB="0"/>
                </a:tc>
                <a:extLst>
                  <a:ext uri="{0D108BD9-81ED-4DB2-BD59-A6C34878D82A}">
                    <a16:rowId xmlns:a16="http://schemas.microsoft.com/office/drawing/2014/main" val="10001"/>
                  </a:ext>
                </a:extLst>
              </a:tr>
              <a:tr h="262482">
                <a:tc gridSpan="2">
                  <a:txBody>
                    <a:bodyPr/>
                    <a:lstStyle/>
                    <a:p>
                      <a:pPr marL="230504" algn="ctr">
                        <a:lnSpc>
                          <a:spcPts val="1285"/>
                        </a:lnSpc>
                        <a:spcBef>
                          <a:spcPts val="115"/>
                        </a:spcBef>
                      </a:pPr>
                      <a:r>
                        <a:rPr sz="1500" dirty="0">
                          <a:latin typeface="Calibri"/>
                          <a:cs typeface="Calibri"/>
                        </a:rPr>
                        <a:t>first</a:t>
                      </a:r>
                      <a:r>
                        <a:rPr sz="1500" spc="-10" dirty="0">
                          <a:latin typeface="Calibri"/>
                          <a:cs typeface="Calibri"/>
                        </a:rPr>
                        <a:t> </a:t>
                      </a:r>
                      <a:r>
                        <a:rPr sz="1500" spc="-20" dirty="0">
                          <a:latin typeface="Calibri"/>
                          <a:cs typeface="Calibri"/>
                        </a:rPr>
                        <a:t>name</a:t>
                      </a:r>
                      <a:endParaRPr sz="1500">
                        <a:latin typeface="Calibri"/>
                        <a:cs typeface="Calibri"/>
                      </a:endParaRPr>
                    </a:p>
                  </a:txBody>
                  <a:tcPr marL="0" marR="0" marT="194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hMerge="1">
                  <a:txBody>
                    <a:bodyPr/>
                    <a:lstStyle/>
                    <a:p>
                      <a:endParaRPr/>
                    </a:p>
                  </a:txBody>
                  <a:tcPr marL="0" marR="0" marT="0" marB="0"/>
                </a:tc>
                <a:extLst>
                  <a:ext uri="{0D108BD9-81ED-4DB2-BD59-A6C34878D82A}">
                    <a16:rowId xmlns:a16="http://schemas.microsoft.com/office/drawing/2014/main" val="10002"/>
                  </a:ext>
                </a:extLst>
              </a:tr>
              <a:tr h="262482">
                <a:tc gridSpan="2">
                  <a:txBody>
                    <a:bodyPr/>
                    <a:lstStyle/>
                    <a:p>
                      <a:pPr marL="243204" algn="ctr">
                        <a:lnSpc>
                          <a:spcPts val="1285"/>
                        </a:lnSpc>
                        <a:spcBef>
                          <a:spcPts val="114"/>
                        </a:spcBef>
                      </a:pPr>
                      <a:r>
                        <a:rPr sz="1500" dirty="0">
                          <a:latin typeface="Calibri"/>
                          <a:cs typeface="Calibri"/>
                        </a:rPr>
                        <a:t>last</a:t>
                      </a:r>
                      <a:r>
                        <a:rPr sz="1500" spc="-10" dirty="0">
                          <a:latin typeface="Calibri"/>
                          <a:cs typeface="Calibri"/>
                        </a:rPr>
                        <a:t> </a:t>
                      </a:r>
                      <a:r>
                        <a:rPr sz="1500" spc="-20" dirty="0">
                          <a:latin typeface="Calibri"/>
                          <a:cs typeface="Calibri"/>
                        </a:rPr>
                        <a:t>name</a:t>
                      </a:r>
                      <a:endParaRPr sz="1500">
                        <a:latin typeface="Calibri"/>
                        <a:cs typeface="Calibri"/>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hMerge="1">
                  <a:txBody>
                    <a:bodyPr/>
                    <a:lstStyle/>
                    <a:p>
                      <a:endParaRPr/>
                    </a:p>
                  </a:txBody>
                  <a:tcPr marL="0" marR="0" marT="0" marB="0"/>
                </a:tc>
                <a:extLst>
                  <a:ext uri="{0D108BD9-81ED-4DB2-BD59-A6C34878D82A}">
                    <a16:rowId xmlns:a16="http://schemas.microsoft.com/office/drawing/2014/main" val="10003"/>
                  </a:ext>
                </a:extLst>
              </a:tr>
              <a:tr h="262482">
                <a:tc gridSpan="2">
                  <a:txBody>
                    <a:bodyPr/>
                    <a:lstStyle/>
                    <a:p>
                      <a:pPr algn="ctr">
                        <a:lnSpc>
                          <a:spcPts val="1285"/>
                        </a:lnSpc>
                        <a:spcBef>
                          <a:spcPts val="114"/>
                        </a:spcBef>
                      </a:pPr>
                      <a:r>
                        <a:rPr sz="1500" spc="-25" dirty="0">
                          <a:latin typeface="Calibri"/>
                          <a:cs typeface="Calibri"/>
                        </a:rPr>
                        <a:t>sex</a:t>
                      </a:r>
                      <a:endParaRPr sz="1500" dirty="0">
                        <a:latin typeface="Calibri"/>
                        <a:cs typeface="Calibri"/>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hMerge="1">
                  <a:txBody>
                    <a:bodyPr/>
                    <a:lstStyle/>
                    <a:p>
                      <a:endParaRPr/>
                    </a:p>
                  </a:txBody>
                  <a:tcPr marL="0" marR="0" marT="0" marB="0"/>
                </a:tc>
                <a:extLst>
                  <a:ext uri="{0D108BD9-81ED-4DB2-BD59-A6C34878D82A}">
                    <a16:rowId xmlns:a16="http://schemas.microsoft.com/office/drawing/2014/main" val="10004"/>
                  </a:ext>
                </a:extLst>
              </a:tr>
              <a:tr h="183434">
                <a:tc gridSpan="2">
                  <a:txBody>
                    <a:bodyPr/>
                    <a:lstStyle/>
                    <a:p>
                      <a:pPr algn="ctr">
                        <a:lnSpc>
                          <a:spcPts val="1285"/>
                        </a:lnSpc>
                        <a:spcBef>
                          <a:spcPts val="114"/>
                        </a:spcBef>
                      </a:pPr>
                      <a:r>
                        <a:rPr sz="1500" spc="-20" dirty="0">
                          <a:latin typeface="Calibri"/>
                          <a:cs typeface="Calibri"/>
                        </a:rPr>
                        <a:t>city</a:t>
                      </a:r>
                      <a:endParaRPr sz="1500">
                        <a:latin typeface="Calibri"/>
                        <a:cs typeface="Calibri"/>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hMerge="1">
                  <a:txBody>
                    <a:bodyPr/>
                    <a:lstStyle/>
                    <a:p>
                      <a:endParaRPr/>
                    </a:p>
                  </a:txBody>
                  <a:tcPr marL="0" marR="0" marT="0" marB="0"/>
                </a:tc>
                <a:extLst>
                  <a:ext uri="{0D108BD9-81ED-4DB2-BD59-A6C34878D82A}">
                    <a16:rowId xmlns:a16="http://schemas.microsoft.com/office/drawing/2014/main" val="10005"/>
                  </a:ext>
                </a:extLst>
              </a:tr>
              <a:tr h="1896794">
                <a:tc>
                  <a:txBody>
                    <a:bodyPr/>
                    <a:lstStyle/>
                    <a:p>
                      <a:pPr algn="ctr">
                        <a:lnSpc>
                          <a:spcPct val="100000"/>
                        </a:lnSpc>
                      </a:pPr>
                      <a:endParaRPr sz="900">
                        <a:latin typeface="Times New Roman"/>
                        <a:cs typeface="Times New Roman"/>
                      </a:endParaRPr>
                    </a:p>
                  </a:txBody>
                  <a:tcPr marL="0" marR="0" marT="0" marB="0">
                    <a:lnR w="9525">
                      <a:solidFill>
                        <a:srgbClr val="00C2FF"/>
                      </a:solidFill>
                      <a:prstDash val="solid"/>
                    </a:lnR>
                    <a:lnT w="12700">
                      <a:solidFill>
                        <a:srgbClr val="000000"/>
                      </a:solidFill>
                      <a:prstDash val="solid"/>
                    </a:lnT>
                    <a:lnB w="12700">
                      <a:solidFill>
                        <a:srgbClr val="000000"/>
                      </a:solidFill>
                      <a:prstDash val="solid"/>
                    </a:lnB>
                  </a:tcPr>
                </a:tc>
                <a:tc>
                  <a:txBody>
                    <a:bodyPr/>
                    <a:lstStyle/>
                    <a:p>
                      <a:pPr algn="ctr">
                        <a:lnSpc>
                          <a:spcPct val="100000"/>
                        </a:lnSpc>
                      </a:pPr>
                      <a:endParaRPr sz="900" dirty="0">
                        <a:latin typeface="Times New Roman"/>
                        <a:cs typeface="Times New Roman"/>
                      </a:endParaRPr>
                    </a:p>
                  </a:txBody>
                  <a:tcPr marL="0" marR="0" marT="0" marB="0">
                    <a:lnL w="9525">
                      <a:solidFill>
                        <a:srgbClr val="00C2FF"/>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262482">
                <a:tc gridSpan="2">
                  <a:txBody>
                    <a:bodyPr/>
                    <a:lstStyle/>
                    <a:p>
                      <a:pPr marL="3810" algn="ctr">
                        <a:lnSpc>
                          <a:spcPts val="1285"/>
                        </a:lnSpc>
                        <a:spcBef>
                          <a:spcPts val="114"/>
                        </a:spcBef>
                      </a:pPr>
                      <a:r>
                        <a:rPr sz="1500" b="1" spc="-10" dirty="0">
                          <a:solidFill>
                            <a:srgbClr val="F1F1F1"/>
                          </a:solidFill>
                          <a:latin typeface="Calibri"/>
                          <a:cs typeface="Calibri"/>
                        </a:rPr>
                        <a:t>Sales</a:t>
                      </a:r>
                      <a:endParaRPr sz="1500">
                        <a:latin typeface="Calibri"/>
                        <a:cs typeface="Calibri"/>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1C1C1C"/>
                    </a:solidFill>
                  </a:tcPr>
                </a:tc>
                <a:tc hMerge="1">
                  <a:txBody>
                    <a:bodyPr/>
                    <a:lstStyle/>
                    <a:p>
                      <a:endParaRPr/>
                    </a:p>
                  </a:txBody>
                  <a:tcPr marL="0" marR="0" marT="0" marB="0"/>
                </a:tc>
                <a:extLst>
                  <a:ext uri="{0D108BD9-81ED-4DB2-BD59-A6C34878D82A}">
                    <a16:rowId xmlns:a16="http://schemas.microsoft.com/office/drawing/2014/main" val="10007"/>
                  </a:ext>
                </a:extLst>
              </a:tr>
              <a:tr h="262482">
                <a:tc gridSpan="2">
                  <a:txBody>
                    <a:bodyPr/>
                    <a:lstStyle/>
                    <a:p>
                      <a:pPr marL="296545" algn="ctr">
                        <a:lnSpc>
                          <a:spcPts val="1285"/>
                        </a:lnSpc>
                        <a:spcBef>
                          <a:spcPts val="114"/>
                        </a:spcBef>
                      </a:pPr>
                      <a:r>
                        <a:rPr sz="1500" spc="-10" dirty="0">
                          <a:latin typeface="Calibri"/>
                          <a:cs typeface="Calibri"/>
                        </a:rPr>
                        <a:t>sales_id</a:t>
                      </a:r>
                      <a:endParaRPr sz="1500">
                        <a:latin typeface="Calibri"/>
                        <a:cs typeface="Calibri"/>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hMerge="1">
                  <a:txBody>
                    <a:bodyPr/>
                    <a:lstStyle/>
                    <a:p>
                      <a:endParaRPr/>
                    </a:p>
                  </a:txBody>
                  <a:tcPr marL="0" marR="0" marT="0" marB="0"/>
                </a:tc>
                <a:extLst>
                  <a:ext uri="{0D108BD9-81ED-4DB2-BD59-A6C34878D82A}">
                    <a16:rowId xmlns:a16="http://schemas.microsoft.com/office/drawing/2014/main" val="10008"/>
                  </a:ext>
                </a:extLst>
              </a:tr>
              <a:tr h="262482">
                <a:tc gridSpan="2">
                  <a:txBody>
                    <a:bodyPr/>
                    <a:lstStyle/>
                    <a:p>
                      <a:pPr marL="211454" algn="ctr">
                        <a:lnSpc>
                          <a:spcPts val="1285"/>
                        </a:lnSpc>
                        <a:spcBef>
                          <a:spcPts val="114"/>
                        </a:spcBef>
                      </a:pPr>
                      <a:r>
                        <a:rPr sz="1500" spc="-10" dirty="0">
                          <a:latin typeface="Calibri"/>
                          <a:cs typeface="Calibri"/>
                        </a:rPr>
                        <a:t>product_id</a:t>
                      </a:r>
                      <a:endParaRPr sz="1500">
                        <a:latin typeface="Calibri"/>
                        <a:cs typeface="Calibri"/>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hMerge="1">
                  <a:txBody>
                    <a:bodyPr/>
                    <a:lstStyle/>
                    <a:p>
                      <a:endParaRPr/>
                    </a:p>
                  </a:txBody>
                  <a:tcPr marL="0" marR="0" marT="0" marB="0"/>
                </a:tc>
                <a:extLst>
                  <a:ext uri="{0D108BD9-81ED-4DB2-BD59-A6C34878D82A}">
                    <a16:rowId xmlns:a16="http://schemas.microsoft.com/office/drawing/2014/main" val="10009"/>
                  </a:ext>
                </a:extLst>
              </a:tr>
              <a:tr h="262482">
                <a:tc gridSpan="2">
                  <a:txBody>
                    <a:bodyPr/>
                    <a:lstStyle/>
                    <a:p>
                      <a:pPr marL="165735" algn="ctr">
                        <a:lnSpc>
                          <a:spcPts val="1285"/>
                        </a:lnSpc>
                        <a:spcBef>
                          <a:spcPts val="114"/>
                        </a:spcBef>
                      </a:pPr>
                      <a:r>
                        <a:rPr sz="1500" spc="-10" dirty="0">
                          <a:latin typeface="Calibri"/>
                          <a:cs typeface="Calibri"/>
                        </a:rPr>
                        <a:t>customer_id</a:t>
                      </a:r>
                      <a:endParaRPr sz="1500">
                        <a:latin typeface="Calibri"/>
                        <a:cs typeface="Calibri"/>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hMerge="1">
                  <a:txBody>
                    <a:bodyPr/>
                    <a:lstStyle/>
                    <a:p>
                      <a:endParaRPr/>
                    </a:p>
                  </a:txBody>
                  <a:tcPr marL="0" marR="0" marT="0" marB="0"/>
                </a:tc>
                <a:extLst>
                  <a:ext uri="{0D108BD9-81ED-4DB2-BD59-A6C34878D82A}">
                    <a16:rowId xmlns:a16="http://schemas.microsoft.com/office/drawing/2014/main" val="10010"/>
                  </a:ext>
                </a:extLst>
              </a:tr>
              <a:tr h="262482">
                <a:tc gridSpan="2">
                  <a:txBody>
                    <a:bodyPr/>
                    <a:lstStyle/>
                    <a:p>
                      <a:pPr marL="4445" algn="ctr">
                        <a:lnSpc>
                          <a:spcPts val="1285"/>
                        </a:lnSpc>
                        <a:spcBef>
                          <a:spcPts val="114"/>
                        </a:spcBef>
                      </a:pPr>
                      <a:r>
                        <a:rPr sz="1500" spc="-10" dirty="0">
                          <a:latin typeface="Calibri"/>
                          <a:cs typeface="Calibri"/>
                        </a:rPr>
                        <a:t>units</a:t>
                      </a:r>
                      <a:endParaRPr sz="1500">
                        <a:latin typeface="Calibri"/>
                        <a:cs typeface="Calibri"/>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hMerge="1">
                  <a:txBody>
                    <a:bodyPr/>
                    <a:lstStyle/>
                    <a:p>
                      <a:endParaRPr/>
                    </a:p>
                  </a:txBody>
                  <a:tcPr marL="0" marR="0" marT="0" marB="0"/>
                </a:tc>
                <a:extLst>
                  <a:ext uri="{0D108BD9-81ED-4DB2-BD59-A6C34878D82A}">
                    <a16:rowId xmlns:a16="http://schemas.microsoft.com/office/drawing/2014/main" val="10011"/>
                  </a:ext>
                </a:extLst>
              </a:tr>
              <a:tr h="262482">
                <a:tc gridSpan="2">
                  <a:txBody>
                    <a:bodyPr/>
                    <a:lstStyle/>
                    <a:p>
                      <a:pPr marL="4445" algn="ctr">
                        <a:lnSpc>
                          <a:spcPts val="1280"/>
                        </a:lnSpc>
                        <a:spcBef>
                          <a:spcPts val="120"/>
                        </a:spcBef>
                      </a:pPr>
                      <a:r>
                        <a:rPr sz="1500" spc="-10" dirty="0">
                          <a:latin typeface="Calibri"/>
                          <a:cs typeface="Calibri"/>
                        </a:rPr>
                        <a:t>price</a:t>
                      </a:r>
                      <a:endParaRPr sz="1500" dirty="0">
                        <a:latin typeface="Calibri"/>
                        <a:cs typeface="Calibri"/>
                      </a:endParaRPr>
                    </a:p>
                  </a:txBody>
                  <a:tcPr marL="0" marR="0" marT="203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hMerge="1">
                  <a:txBody>
                    <a:bodyPr/>
                    <a:lstStyle/>
                    <a:p>
                      <a:endParaRPr/>
                    </a:p>
                  </a:txBody>
                  <a:tcPr marL="0" marR="0" marT="0" marB="0"/>
                </a:tc>
                <a:extLst>
                  <a:ext uri="{0D108BD9-81ED-4DB2-BD59-A6C34878D82A}">
                    <a16:rowId xmlns:a16="http://schemas.microsoft.com/office/drawing/2014/main" val="10012"/>
                  </a:ext>
                </a:extLst>
              </a:tr>
            </a:tbl>
          </a:graphicData>
        </a:graphic>
      </p:graphicFrame>
      <p:grpSp>
        <p:nvGrpSpPr>
          <p:cNvPr id="24" name="object 24"/>
          <p:cNvGrpSpPr/>
          <p:nvPr/>
        </p:nvGrpSpPr>
        <p:grpSpPr>
          <a:xfrm>
            <a:off x="1251711" y="1487423"/>
            <a:ext cx="3423920" cy="1715347"/>
            <a:chOff x="938783" y="1115567"/>
            <a:chExt cx="2567940" cy="1286510"/>
          </a:xfrm>
        </p:grpSpPr>
        <p:pic>
          <p:nvPicPr>
            <p:cNvPr id="25" name="object 25"/>
            <p:cNvPicPr/>
            <p:nvPr/>
          </p:nvPicPr>
          <p:blipFill>
            <a:blip r:embed="rId2" cstate="print"/>
            <a:stretch>
              <a:fillRect/>
            </a:stretch>
          </p:blipFill>
          <p:spPr>
            <a:xfrm>
              <a:off x="943355" y="1115567"/>
              <a:ext cx="2563368" cy="1286255"/>
            </a:xfrm>
            <a:prstGeom prst="rect">
              <a:avLst/>
            </a:prstGeom>
          </p:spPr>
        </p:pic>
        <p:pic>
          <p:nvPicPr>
            <p:cNvPr id="26" name="object 26"/>
            <p:cNvPicPr/>
            <p:nvPr/>
          </p:nvPicPr>
          <p:blipFill>
            <a:blip r:embed="rId3" cstate="print"/>
            <a:stretch>
              <a:fillRect/>
            </a:stretch>
          </p:blipFill>
          <p:spPr>
            <a:xfrm>
              <a:off x="938783" y="1232928"/>
              <a:ext cx="2481072" cy="1094219"/>
            </a:xfrm>
            <a:prstGeom prst="rect">
              <a:avLst/>
            </a:prstGeom>
          </p:spPr>
        </p:pic>
      </p:grpSp>
      <p:sp>
        <p:nvSpPr>
          <p:cNvPr id="27" name="object 27"/>
          <p:cNvSpPr txBox="1"/>
          <p:nvPr/>
        </p:nvSpPr>
        <p:spPr>
          <a:xfrm>
            <a:off x="1320800" y="1519937"/>
            <a:ext cx="3298613" cy="1351845"/>
          </a:xfrm>
          <a:prstGeom prst="rect">
            <a:avLst/>
          </a:prstGeom>
          <a:solidFill>
            <a:srgbClr val="D9D9D9"/>
          </a:solidFill>
          <a:ln w="9144">
            <a:solidFill>
              <a:srgbClr val="373737"/>
            </a:solidFill>
          </a:ln>
        </p:spPr>
        <p:txBody>
          <a:bodyPr vert="horz" wrap="square" lIns="0" tIns="205740" rIns="0" bIns="0" rtlCol="0">
            <a:spAutoFit/>
          </a:bodyPr>
          <a:lstStyle/>
          <a:p>
            <a:pPr marL="579106" indent="-457189">
              <a:spcBef>
                <a:spcPts val="1620"/>
              </a:spcBef>
              <a:buClr>
                <a:srgbClr val="FFFFFF"/>
              </a:buClr>
              <a:buFont typeface="Courier New"/>
              <a:buChar char="o"/>
              <a:tabLst>
                <a:tab pos="579106" algn="l"/>
              </a:tabLst>
            </a:pPr>
            <a:r>
              <a:rPr sz="1867" i="1" dirty="0">
                <a:solidFill>
                  <a:srgbClr val="3B3B3B"/>
                </a:solidFill>
                <a:latin typeface="Calibri"/>
                <a:cs typeface="Calibri"/>
              </a:rPr>
              <a:t>Foundation</a:t>
            </a:r>
            <a:r>
              <a:rPr sz="1867" i="1" spc="-47" dirty="0">
                <a:solidFill>
                  <a:srgbClr val="3B3B3B"/>
                </a:solidFill>
                <a:latin typeface="Calibri"/>
                <a:cs typeface="Calibri"/>
              </a:rPr>
              <a:t> </a:t>
            </a:r>
            <a:r>
              <a:rPr sz="1867" i="1" dirty="0">
                <a:solidFill>
                  <a:srgbClr val="3B3B3B"/>
                </a:solidFill>
                <a:latin typeface="Calibri"/>
                <a:cs typeface="Calibri"/>
              </a:rPr>
              <a:t>of</a:t>
            </a:r>
            <a:r>
              <a:rPr sz="1867" i="1" spc="-73" dirty="0">
                <a:solidFill>
                  <a:srgbClr val="3B3B3B"/>
                </a:solidFill>
                <a:latin typeface="Calibri"/>
                <a:cs typeface="Calibri"/>
              </a:rPr>
              <a:t> </a:t>
            </a:r>
            <a:r>
              <a:rPr sz="1867" i="1" spc="-33" dirty="0">
                <a:solidFill>
                  <a:srgbClr val="3B3B3B"/>
                </a:solidFill>
                <a:latin typeface="Calibri"/>
                <a:cs typeface="Calibri"/>
              </a:rPr>
              <a:t>DWH</a:t>
            </a:r>
            <a:endParaRPr sz="1867">
              <a:latin typeface="Calibri"/>
              <a:cs typeface="Calibri"/>
            </a:endParaRPr>
          </a:p>
          <a:p>
            <a:pPr marL="579106" indent="-457189">
              <a:spcBef>
                <a:spcPts val="1120"/>
              </a:spcBef>
              <a:buClr>
                <a:srgbClr val="FFFFFF"/>
              </a:buClr>
              <a:buFont typeface="Courier New"/>
              <a:buChar char="o"/>
              <a:tabLst>
                <a:tab pos="579106" algn="l"/>
              </a:tabLst>
            </a:pPr>
            <a:r>
              <a:rPr sz="1867" i="1" dirty="0">
                <a:solidFill>
                  <a:srgbClr val="3B3B3B"/>
                </a:solidFill>
                <a:latin typeface="Calibri"/>
                <a:cs typeface="Calibri"/>
              </a:rPr>
              <a:t>Key</a:t>
            </a:r>
            <a:r>
              <a:rPr sz="1867" i="1" spc="-47" dirty="0">
                <a:solidFill>
                  <a:srgbClr val="3B3B3B"/>
                </a:solidFill>
                <a:latin typeface="Calibri"/>
                <a:cs typeface="Calibri"/>
              </a:rPr>
              <a:t> </a:t>
            </a:r>
            <a:r>
              <a:rPr sz="1867" i="1" spc="-13" dirty="0">
                <a:solidFill>
                  <a:srgbClr val="3B3B3B"/>
                </a:solidFill>
                <a:latin typeface="Calibri"/>
                <a:cs typeface="Calibri"/>
              </a:rPr>
              <a:t>measurements</a:t>
            </a:r>
            <a:endParaRPr sz="1867">
              <a:latin typeface="Calibri"/>
              <a:cs typeface="Calibri"/>
            </a:endParaRPr>
          </a:p>
          <a:p>
            <a:pPr marL="579106" indent="-457189">
              <a:spcBef>
                <a:spcPts val="1120"/>
              </a:spcBef>
              <a:buClr>
                <a:srgbClr val="FFFFFF"/>
              </a:buClr>
              <a:buFont typeface="Courier New"/>
              <a:buChar char="o"/>
              <a:tabLst>
                <a:tab pos="579106" algn="l"/>
              </a:tabLst>
            </a:pPr>
            <a:r>
              <a:rPr sz="1867" i="1" dirty="0">
                <a:solidFill>
                  <a:srgbClr val="3B3B3B"/>
                </a:solidFill>
                <a:latin typeface="Calibri"/>
                <a:cs typeface="Calibri"/>
              </a:rPr>
              <a:t>Aggregated</a:t>
            </a:r>
            <a:r>
              <a:rPr sz="1867" i="1" spc="-67" dirty="0">
                <a:solidFill>
                  <a:srgbClr val="3B3B3B"/>
                </a:solidFill>
                <a:latin typeface="Calibri"/>
                <a:cs typeface="Calibri"/>
              </a:rPr>
              <a:t> </a:t>
            </a:r>
            <a:r>
              <a:rPr sz="1867" i="1" dirty="0">
                <a:solidFill>
                  <a:srgbClr val="3B3B3B"/>
                </a:solidFill>
                <a:latin typeface="Calibri"/>
                <a:cs typeface="Calibri"/>
              </a:rPr>
              <a:t>and</a:t>
            </a:r>
            <a:r>
              <a:rPr sz="1867" i="1" spc="-40" dirty="0">
                <a:solidFill>
                  <a:srgbClr val="3B3B3B"/>
                </a:solidFill>
                <a:latin typeface="Calibri"/>
                <a:cs typeface="Calibri"/>
              </a:rPr>
              <a:t> </a:t>
            </a:r>
            <a:r>
              <a:rPr sz="1867" i="1" spc="-13" dirty="0">
                <a:solidFill>
                  <a:srgbClr val="3B3B3B"/>
                </a:solidFill>
                <a:latin typeface="Calibri"/>
                <a:cs typeface="Calibri"/>
              </a:rPr>
              <a:t>analyzed</a:t>
            </a:r>
            <a:endParaRPr sz="1867">
              <a:latin typeface="Calibri"/>
              <a:cs typeface="Calibri"/>
            </a:endParaRPr>
          </a:p>
        </p:txBody>
      </p:sp>
      <p:grpSp>
        <p:nvGrpSpPr>
          <p:cNvPr id="28" name="object 28"/>
          <p:cNvGrpSpPr/>
          <p:nvPr/>
        </p:nvGrpSpPr>
        <p:grpSpPr>
          <a:xfrm>
            <a:off x="7481823" y="1288289"/>
            <a:ext cx="4259580" cy="2065020"/>
            <a:chOff x="5611367" y="966216"/>
            <a:chExt cx="3194685" cy="1548765"/>
          </a:xfrm>
        </p:grpSpPr>
        <p:pic>
          <p:nvPicPr>
            <p:cNvPr id="29" name="object 29"/>
            <p:cNvPicPr/>
            <p:nvPr/>
          </p:nvPicPr>
          <p:blipFill>
            <a:blip r:embed="rId4" cstate="print"/>
            <a:stretch>
              <a:fillRect/>
            </a:stretch>
          </p:blipFill>
          <p:spPr>
            <a:xfrm>
              <a:off x="5615939" y="966216"/>
              <a:ext cx="3189732" cy="1548384"/>
            </a:xfrm>
            <a:prstGeom prst="rect">
              <a:avLst/>
            </a:prstGeom>
          </p:spPr>
        </p:pic>
        <p:pic>
          <p:nvPicPr>
            <p:cNvPr id="30" name="object 30"/>
            <p:cNvPicPr/>
            <p:nvPr/>
          </p:nvPicPr>
          <p:blipFill>
            <a:blip r:embed="rId5" cstate="print"/>
            <a:stretch>
              <a:fillRect/>
            </a:stretch>
          </p:blipFill>
          <p:spPr>
            <a:xfrm>
              <a:off x="5611367" y="1083564"/>
              <a:ext cx="2980943" cy="1414272"/>
            </a:xfrm>
            <a:prstGeom prst="rect">
              <a:avLst/>
            </a:prstGeom>
          </p:spPr>
        </p:pic>
      </p:grpSp>
      <p:sp>
        <p:nvSpPr>
          <p:cNvPr id="31" name="object 31"/>
          <p:cNvSpPr txBox="1"/>
          <p:nvPr/>
        </p:nvSpPr>
        <p:spPr>
          <a:xfrm>
            <a:off x="7715840" y="1292690"/>
            <a:ext cx="3941612" cy="1780231"/>
          </a:xfrm>
          <a:prstGeom prst="rect">
            <a:avLst/>
          </a:prstGeom>
          <a:solidFill>
            <a:srgbClr val="404040"/>
          </a:solidFill>
          <a:ln w="9144">
            <a:solidFill>
              <a:srgbClr val="373737"/>
            </a:solidFill>
          </a:ln>
        </p:spPr>
        <p:txBody>
          <a:bodyPr vert="horz" wrap="square" lIns="0" tIns="205740" rIns="0" bIns="0" rtlCol="0">
            <a:spAutoFit/>
          </a:bodyPr>
          <a:lstStyle/>
          <a:p>
            <a:pPr marL="579106" indent="-456342">
              <a:spcBef>
                <a:spcPts val="1620"/>
              </a:spcBef>
              <a:buClr>
                <a:srgbClr val="FFFFFF"/>
              </a:buClr>
              <a:buFont typeface="Courier New"/>
              <a:buChar char="o"/>
              <a:tabLst>
                <a:tab pos="579106" algn="l"/>
              </a:tabLst>
            </a:pPr>
            <a:r>
              <a:rPr sz="1867" i="1" dirty="0">
                <a:solidFill>
                  <a:srgbClr val="D9D9D9"/>
                </a:solidFill>
                <a:latin typeface="Calibri"/>
                <a:cs typeface="Calibri"/>
              </a:rPr>
              <a:t>Aggregatable</a:t>
            </a:r>
            <a:r>
              <a:rPr sz="1867" i="1" spc="-87" dirty="0">
                <a:solidFill>
                  <a:srgbClr val="D9D9D9"/>
                </a:solidFill>
                <a:latin typeface="Calibri"/>
                <a:cs typeface="Calibri"/>
              </a:rPr>
              <a:t> </a:t>
            </a:r>
            <a:r>
              <a:rPr sz="1867" i="1" dirty="0">
                <a:solidFill>
                  <a:srgbClr val="D9D9D9"/>
                </a:solidFill>
                <a:latin typeface="Calibri"/>
                <a:cs typeface="Calibri"/>
              </a:rPr>
              <a:t>(numerical</a:t>
            </a:r>
            <a:r>
              <a:rPr sz="1867" i="1" spc="-100" dirty="0">
                <a:solidFill>
                  <a:srgbClr val="D9D9D9"/>
                </a:solidFill>
                <a:latin typeface="Calibri"/>
                <a:cs typeface="Calibri"/>
              </a:rPr>
              <a:t> </a:t>
            </a:r>
            <a:r>
              <a:rPr sz="1867" i="1" spc="-13" dirty="0">
                <a:solidFill>
                  <a:srgbClr val="D9D9D9"/>
                </a:solidFill>
                <a:latin typeface="Calibri"/>
                <a:cs typeface="Calibri"/>
              </a:rPr>
              <a:t>values)</a:t>
            </a:r>
            <a:endParaRPr sz="1867" dirty="0">
              <a:latin typeface="Calibri"/>
              <a:cs typeface="Calibri"/>
            </a:endParaRPr>
          </a:p>
          <a:p>
            <a:pPr marL="579106" indent="-456342">
              <a:spcBef>
                <a:spcPts val="1113"/>
              </a:spcBef>
              <a:buClr>
                <a:srgbClr val="FFFFFF"/>
              </a:buClr>
              <a:buFont typeface="Courier New"/>
              <a:buChar char="o"/>
              <a:tabLst>
                <a:tab pos="579106" algn="l"/>
              </a:tabLst>
            </a:pPr>
            <a:r>
              <a:rPr sz="1867" i="1" dirty="0">
                <a:solidFill>
                  <a:srgbClr val="D9D9D9"/>
                </a:solidFill>
                <a:latin typeface="Calibri"/>
                <a:cs typeface="Calibri"/>
              </a:rPr>
              <a:t>Measureable</a:t>
            </a:r>
            <a:r>
              <a:rPr sz="1867" i="1" spc="-60" dirty="0">
                <a:solidFill>
                  <a:srgbClr val="D9D9D9"/>
                </a:solidFill>
                <a:latin typeface="Calibri"/>
                <a:cs typeface="Calibri"/>
              </a:rPr>
              <a:t> </a:t>
            </a:r>
            <a:r>
              <a:rPr sz="1867" i="1" dirty="0">
                <a:solidFill>
                  <a:srgbClr val="D9D9D9"/>
                </a:solidFill>
                <a:latin typeface="Calibri"/>
                <a:cs typeface="Calibri"/>
              </a:rPr>
              <a:t>vs.</a:t>
            </a:r>
            <a:r>
              <a:rPr sz="1867" i="1" spc="-47" dirty="0">
                <a:solidFill>
                  <a:srgbClr val="D9D9D9"/>
                </a:solidFill>
                <a:latin typeface="Calibri"/>
                <a:cs typeface="Calibri"/>
              </a:rPr>
              <a:t> </a:t>
            </a:r>
            <a:r>
              <a:rPr sz="1867" i="1" spc="-13" dirty="0">
                <a:solidFill>
                  <a:srgbClr val="D9D9D9"/>
                </a:solidFill>
                <a:latin typeface="Calibri"/>
                <a:cs typeface="Calibri"/>
              </a:rPr>
              <a:t>descriptive</a:t>
            </a:r>
            <a:endParaRPr sz="1867" dirty="0">
              <a:latin typeface="Calibri"/>
              <a:cs typeface="Calibri"/>
            </a:endParaRPr>
          </a:p>
          <a:p>
            <a:pPr marL="579106" indent="-456342">
              <a:spcBef>
                <a:spcPts val="1120"/>
              </a:spcBef>
              <a:buClr>
                <a:srgbClr val="FFFFFF"/>
              </a:buClr>
              <a:buFont typeface="Courier New"/>
              <a:buChar char="o"/>
              <a:tabLst>
                <a:tab pos="579106" algn="l"/>
              </a:tabLst>
            </a:pPr>
            <a:r>
              <a:rPr sz="1867" i="1" dirty="0">
                <a:solidFill>
                  <a:srgbClr val="D9D9D9"/>
                </a:solidFill>
                <a:latin typeface="Calibri"/>
                <a:cs typeface="Calibri"/>
              </a:rPr>
              <a:t>Event-</a:t>
            </a:r>
            <a:r>
              <a:rPr sz="1867" i="1" spc="-13" dirty="0">
                <a:solidFill>
                  <a:srgbClr val="D9D9D9"/>
                </a:solidFill>
                <a:latin typeface="Calibri"/>
                <a:cs typeface="Calibri"/>
              </a:rPr>
              <a:t> </a:t>
            </a:r>
            <a:r>
              <a:rPr sz="1867" i="1" dirty="0">
                <a:solidFill>
                  <a:srgbClr val="D9D9D9"/>
                </a:solidFill>
                <a:latin typeface="Calibri"/>
                <a:cs typeface="Calibri"/>
              </a:rPr>
              <a:t>or</a:t>
            </a:r>
            <a:r>
              <a:rPr sz="1867" i="1" spc="-27" dirty="0">
                <a:solidFill>
                  <a:srgbClr val="D9D9D9"/>
                </a:solidFill>
                <a:latin typeface="Calibri"/>
                <a:cs typeface="Calibri"/>
              </a:rPr>
              <a:t> </a:t>
            </a:r>
            <a:r>
              <a:rPr sz="1867" i="1" spc="-13" dirty="0">
                <a:solidFill>
                  <a:srgbClr val="D9D9D9"/>
                </a:solidFill>
                <a:latin typeface="Calibri"/>
                <a:cs typeface="Calibri"/>
              </a:rPr>
              <a:t>transactional</a:t>
            </a:r>
            <a:r>
              <a:rPr sz="1867" i="1" spc="13" dirty="0">
                <a:solidFill>
                  <a:srgbClr val="D9D9D9"/>
                </a:solidFill>
                <a:latin typeface="Calibri"/>
                <a:cs typeface="Calibri"/>
              </a:rPr>
              <a:t> </a:t>
            </a:r>
            <a:r>
              <a:rPr sz="1867" i="1" spc="-27" dirty="0">
                <a:solidFill>
                  <a:srgbClr val="D9D9D9"/>
                </a:solidFill>
                <a:latin typeface="Calibri"/>
                <a:cs typeface="Calibri"/>
              </a:rPr>
              <a:t>data</a:t>
            </a:r>
            <a:endParaRPr sz="1867" dirty="0">
              <a:latin typeface="Calibri"/>
              <a:cs typeface="Calibri"/>
            </a:endParaRPr>
          </a:p>
          <a:p>
            <a:pPr marL="579106" indent="-456342">
              <a:spcBef>
                <a:spcPts val="1125"/>
              </a:spcBef>
              <a:buClr>
                <a:srgbClr val="FFFFFF"/>
              </a:buClr>
              <a:buFont typeface="Courier New"/>
              <a:buChar char="o"/>
              <a:tabLst>
                <a:tab pos="579106" algn="l"/>
              </a:tabLst>
            </a:pPr>
            <a:r>
              <a:rPr sz="1867" i="1" dirty="0">
                <a:solidFill>
                  <a:srgbClr val="D9D9D9"/>
                </a:solidFill>
                <a:latin typeface="Calibri"/>
                <a:cs typeface="Calibri"/>
              </a:rPr>
              <a:t>Date/time</a:t>
            </a:r>
            <a:r>
              <a:rPr sz="1867" i="1" spc="-47" dirty="0">
                <a:solidFill>
                  <a:srgbClr val="D9D9D9"/>
                </a:solidFill>
                <a:latin typeface="Calibri"/>
                <a:cs typeface="Calibri"/>
              </a:rPr>
              <a:t> </a:t>
            </a:r>
            <a:r>
              <a:rPr sz="1867" i="1" dirty="0">
                <a:solidFill>
                  <a:srgbClr val="D9D9D9"/>
                </a:solidFill>
                <a:latin typeface="Calibri"/>
                <a:cs typeface="Calibri"/>
              </a:rPr>
              <a:t>in</a:t>
            </a:r>
            <a:r>
              <a:rPr sz="1867" i="1" spc="-33" dirty="0">
                <a:solidFill>
                  <a:srgbClr val="D9D9D9"/>
                </a:solidFill>
                <a:latin typeface="Calibri"/>
                <a:cs typeface="Calibri"/>
              </a:rPr>
              <a:t> </a:t>
            </a:r>
            <a:r>
              <a:rPr sz="1867" i="1" dirty="0">
                <a:solidFill>
                  <a:srgbClr val="D9D9D9"/>
                </a:solidFill>
                <a:latin typeface="Calibri"/>
                <a:cs typeface="Calibri"/>
              </a:rPr>
              <a:t>a</a:t>
            </a:r>
            <a:r>
              <a:rPr sz="1867" i="1" spc="-40" dirty="0">
                <a:solidFill>
                  <a:srgbClr val="D9D9D9"/>
                </a:solidFill>
                <a:latin typeface="Calibri"/>
                <a:cs typeface="Calibri"/>
              </a:rPr>
              <a:t> </a:t>
            </a:r>
            <a:r>
              <a:rPr sz="1867" i="1" dirty="0">
                <a:solidFill>
                  <a:srgbClr val="D9D9D9"/>
                </a:solidFill>
                <a:latin typeface="Calibri"/>
                <a:cs typeface="Calibri"/>
              </a:rPr>
              <a:t>fact</a:t>
            </a:r>
            <a:r>
              <a:rPr sz="1867" i="1" spc="-27" dirty="0">
                <a:solidFill>
                  <a:srgbClr val="D9D9D9"/>
                </a:solidFill>
                <a:latin typeface="Calibri"/>
                <a:cs typeface="Calibri"/>
              </a:rPr>
              <a:t> </a:t>
            </a:r>
            <a:r>
              <a:rPr sz="1867" i="1" spc="-13" dirty="0">
                <a:solidFill>
                  <a:srgbClr val="D9D9D9"/>
                </a:solidFill>
                <a:latin typeface="Calibri"/>
                <a:cs typeface="Calibri"/>
              </a:rPr>
              <a:t>table</a:t>
            </a:r>
            <a:endParaRPr sz="1867" dirty="0">
              <a:latin typeface="Calibri"/>
              <a:cs typeface="Calibri"/>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356526" y="1854200"/>
            <a:ext cx="5711613" cy="124051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Fact</a:t>
            </a:r>
            <a:r>
              <a:rPr sz="2400" b="1" spc="-13" dirty="0">
                <a:solidFill>
                  <a:srgbClr val="D9D9D9"/>
                </a:solidFill>
                <a:latin typeface="Calibri"/>
                <a:cs typeface="Calibri"/>
              </a:rPr>
              <a:t> </a:t>
            </a:r>
            <a:r>
              <a:rPr sz="2400" b="1" dirty="0">
                <a:solidFill>
                  <a:srgbClr val="D9D9D9"/>
                </a:solidFill>
                <a:latin typeface="Calibri"/>
                <a:cs typeface="Calibri"/>
              </a:rPr>
              <a:t>table:</a:t>
            </a:r>
            <a:r>
              <a:rPr sz="2400" b="1" spc="-53" dirty="0">
                <a:solidFill>
                  <a:srgbClr val="D9D9D9"/>
                </a:solidFill>
                <a:latin typeface="Calibri"/>
                <a:cs typeface="Calibri"/>
              </a:rPr>
              <a:t> </a:t>
            </a:r>
            <a:r>
              <a:rPr sz="2400" b="1" dirty="0">
                <a:solidFill>
                  <a:srgbClr val="D9D9D9"/>
                </a:solidFill>
                <a:latin typeface="Calibri"/>
                <a:cs typeface="Calibri"/>
              </a:rPr>
              <a:t>PK, FK</a:t>
            </a:r>
            <a:r>
              <a:rPr sz="2400" b="1" spc="-13" dirty="0">
                <a:solidFill>
                  <a:srgbClr val="D9D9D9"/>
                </a:solidFill>
                <a:latin typeface="Calibri"/>
                <a:cs typeface="Calibri"/>
              </a:rPr>
              <a:t> </a:t>
            </a:r>
            <a:r>
              <a:rPr sz="2400" b="1" dirty="0">
                <a:solidFill>
                  <a:srgbClr val="D9D9D9"/>
                </a:solidFill>
                <a:latin typeface="Calibri"/>
                <a:cs typeface="Calibri"/>
              </a:rPr>
              <a:t>&amp;</a:t>
            </a:r>
            <a:r>
              <a:rPr sz="2400" b="1" spc="-13" dirty="0">
                <a:solidFill>
                  <a:srgbClr val="D9D9D9"/>
                </a:solidFill>
                <a:latin typeface="Calibri"/>
                <a:cs typeface="Calibri"/>
              </a:rPr>
              <a:t> Facts</a:t>
            </a:r>
            <a:endParaRPr sz="2400">
              <a:latin typeface="Calibri"/>
              <a:cs typeface="Calibri"/>
            </a:endParaRPr>
          </a:p>
          <a:p>
            <a:pPr>
              <a:spcBef>
                <a:spcPts val="940"/>
              </a:spcBef>
              <a:buClr>
                <a:srgbClr val="99D3FF"/>
              </a:buClr>
              <a:buFont typeface="Wingdings"/>
              <a:buChar char=""/>
            </a:pPr>
            <a:endParaRPr sz="2400">
              <a:latin typeface="Calibri"/>
              <a:cs typeface="Calibri"/>
            </a:endParaRPr>
          </a:p>
          <a:p>
            <a:pPr marL="397923" indent="-380990">
              <a:buClr>
                <a:srgbClr val="99D3FF"/>
              </a:buClr>
              <a:buFont typeface="Wingdings"/>
              <a:buChar char=""/>
              <a:tabLst>
                <a:tab pos="397923" algn="l"/>
              </a:tabLst>
            </a:pPr>
            <a:r>
              <a:rPr sz="2400" b="1" dirty="0">
                <a:solidFill>
                  <a:srgbClr val="D9D9D9"/>
                </a:solidFill>
                <a:latin typeface="Calibri"/>
                <a:cs typeface="Calibri"/>
              </a:rPr>
              <a:t>Grain:</a:t>
            </a:r>
            <a:r>
              <a:rPr sz="2400" b="1" spc="-20" dirty="0">
                <a:solidFill>
                  <a:srgbClr val="D9D9D9"/>
                </a:solidFill>
                <a:latin typeface="Calibri"/>
                <a:cs typeface="Calibri"/>
              </a:rPr>
              <a:t> </a:t>
            </a:r>
            <a:r>
              <a:rPr sz="2400" b="1" dirty="0">
                <a:solidFill>
                  <a:srgbClr val="D9D9D9"/>
                </a:solidFill>
                <a:latin typeface="Calibri"/>
                <a:cs typeface="Calibri"/>
              </a:rPr>
              <a:t>Most</a:t>
            </a:r>
            <a:r>
              <a:rPr sz="2400" b="1" spc="-33" dirty="0">
                <a:solidFill>
                  <a:srgbClr val="D9D9D9"/>
                </a:solidFill>
                <a:latin typeface="Calibri"/>
                <a:cs typeface="Calibri"/>
              </a:rPr>
              <a:t> </a:t>
            </a:r>
            <a:r>
              <a:rPr sz="2400" b="1" dirty="0">
                <a:solidFill>
                  <a:srgbClr val="D9D9D9"/>
                </a:solidFill>
                <a:latin typeface="Calibri"/>
                <a:cs typeface="Calibri"/>
              </a:rPr>
              <a:t>atomic</a:t>
            </a:r>
            <a:r>
              <a:rPr sz="2400" b="1" spc="-40" dirty="0">
                <a:solidFill>
                  <a:srgbClr val="D9D9D9"/>
                </a:solidFill>
                <a:latin typeface="Calibri"/>
                <a:cs typeface="Calibri"/>
              </a:rPr>
              <a:t> </a:t>
            </a:r>
            <a:r>
              <a:rPr sz="2400" b="1" dirty="0">
                <a:solidFill>
                  <a:srgbClr val="D9D9D9"/>
                </a:solidFill>
                <a:latin typeface="Calibri"/>
                <a:cs typeface="Calibri"/>
              </a:rPr>
              <a:t>level</a:t>
            </a:r>
            <a:r>
              <a:rPr sz="2400" b="1" spc="-40" dirty="0">
                <a:solidFill>
                  <a:srgbClr val="D9D9D9"/>
                </a:solidFill>
                <a:latin typeface="Calibri"/>
                <a:cs typeface="Calibri"/>
              </a:rPr>
              <a:t> </a:t>
            </a:r>
            <a:r>
              <a:rPr sz="2400" b="1" dirty="0">
                <a:solidFill>
                  <a:srgbClr val="D9D9D9"/>
                </a:solidFill>
                <a:latin typeface="Calibri"/>
                <a:cs typeface="Calibri"/>
              </a:rPr>
              <a:t>facts</a:t>
            </a:r>
            <a:r>
              <a:rPr sz="2400" b="1" spc="-20" dirty="0">
                <a:solidFill>
                  <a:srgbClr val="D9D9D9"/>
                </a:solidFill>
                <a:latin typeface="Calibri"/>
                <a:cs typeface="Calibri"/>
              </a:rPr>
              <a:t> </a:t>
            </a:r>
            <a:r>
              <a:rPr sz="2400" b="1" dirty="0">
                <a:solidFill>
                  <a:srgbClr val="D9D9D9"/>
                </a:solidFill>
                <a:latin typeface="Calibri"/>
                <a:cs typeface="Calibri"/>
              </a:rPr>
              <a:t>are</a:t>
            </a:r>
            <a:r>
              <a:rPr sz="2400" b="1" spc="-27" dirty="0">
                <a:solidFill>
                  <a:srgbClr val="D9D9D9"/>
                </a:solidFill>
                <a:latin typeface="Calibri"/>
                <a:cs typeface="Calibri"/>
              </a:rPr>
              <a:t> </a:t>
            </a:r>
            <a:r>
              <a:rPr sz="2400" b="1" spc="-13" dirty="0">
                <a:solidFill>
                  <a:srgbClr val="D9D9D9"/>
                </a:solidFill>
                <a:latin typeface="Calibri"/>
                <a:cs typeface="Calibri"/>
              </a:rPr>
              <a:t>defined</a:t>
            </a:r>
            <a:endParaRPr sz="2400">
              <a:latin typeface="Calibri"/>
              <a:cs typeface="Calibri"/>
            </a:endParaRPr>
          </a:p>
        </p:txBody>
      </p:sp>
      <p:sp>
        <p:nvSpPr>
          <p:cNvPr id="3" name="object 3"/>
          <p:cNvSpPr txBox="1">
            <a:spLocks noGrp="1"/>
          </p:cNvSpPr>
          <p:nvPr>
            <p:ph type="title"/>
          </p:nvPr>
        </p:nvSpPr>
        <p:spPr>
          <a:xfrm>
            <a:off x="2129366" y="319640"/>
            <a:ext cx="7684347" cy="695062"/>
          </a:xfrm>
          <a:prstGeom prst="rect">
            <a:avLst/>
          </a:prstGeom>
        </p:spPr>
        <p:txBody>
          <a:bodyPr vert="horz" wrap="square" lIns="0" tIns="17780" rIns="0" bIns="0" rtlCol="0" anchor="ctr">
            <a:spAutoFit/>
          </a:bodyPr>
          <a:lstStyle/>
          <a:p>
            <a:pPr marL="3135975">
              <a:lnSpc>
                <a:spcPct val="100000"/>
              </a:lnSpc>
              <a:spcBef>
                <a:spcPts val="140"/>
              </a:spcBef>
            </a:pPr>
            <a:r>
              <a:rPr spc="-13" dirty="0">
                <a:solidFill>
                  <a:schemeClr val="bg1"/>
                </a:solidFill>
                <a:latin typeface="+mn-lt"/>
              </a:rPr>
              <a:t>Facts</a:t>
            </a:r>
          </a:p>
        </p:txBody>
      </p:sp>
      <p:graphicFrame>
        <p:nvGraphicFramePr>
          <p:cNvPr id="4" name="object 4"/>
          <p:cNvGraphicFramePr>
            <a:graphicFrameLocks noGrp="1"/>
          </p:cNvGraphicFramePr>
          <p:nvPr/>
        </p:nvGraphicFramePr>
        <p:xfrm>
          <a:off x="4360334" y="3625935"/>
          <a:ext cx="3222413" cy="1524000"/>
        </p:xfrm>
        <a:graphic>
          <a:graphicData uri="http://schemas.openxmlformats.org/drawingml/2006/table">
            <a:tbl>
              <a:tblPr firstRow="1" bandRow="1">
                <a:tableStyleId>{2D5ABB26-0587-4C30-8999-92F81FD0307C}</a:tableStyleId>
              </a:tblPr>
              <a:tblGrid>
                <a:gridCol w="181187">
                  <a:extLst>
                    <a:ext uri="{9D8B030D-6E8A-4147-A177-3AD203B41FA5}">
                      <a16:colId xmlns:a16="http://schemas.microsoft.com/office/drawing/2014/main" val="20000"/>
                    </a:ext>
                  </a:extLst>
                </a:gridCol>
                <a:gridCol w="632459">
                  <a:extLst>
                    <a:ext uri="{9D8B030D-6E8A-4147-A177-3AD203B41FA5}">
                      <a16:colId xmlns:a16="http://schemas.microsoft.com/office/drawing/2014/main" val="20001"/>
                    </a:ext>
                  </a:extLst>
                </a:gridCol>
                <a:gridCol w="1016847">
                  <a:extLst>
                    <a:ext uri="{9D8B030D-6E8A-4147-A177-3AD203B41FA5}">
                      <a16:colId xmlns:a16="http://schemas.microsoft.com/office/drawing/2014/main" val="20002"/>
                    </a:ext>
                  </a:extLst>
                </a:gridCol>
                <a:gridCol w="1391920">
                  <a:extLst>
                    <a:ext uri="{9D8B030D-6E8A-4147-A177-3AD203B41FA5}">
                      <a16:colId xmlns:a16="http://schemas.microsoft.com/office/drawing/2014/main" val="20003"/>
                    </a:ext>
                  </a:extLst>
                </a:gridCol>
              </a:tblGrid>
              <a:tr h="254000">
                <a:tc>
                  <a:txBody>
                    <a:bodyPr/>
                    <a:lstStyle/>
                    <a:p>
                      <a:pPr algn="ctr">
                        <a:lnSpc>
                          <a:spcPct val="100000"/>
                        </a:lnSpc>
                        <a:spcBef>
                          <a:spcPts val="130"/>
                        </a:spcBef>
                      </a:pPr>
                      <a:r>
                        <a:rPr sz="1400" spc="-25" dirty="0">
                          <a:latin typeface="Arial MT"/>
                          <a:cs typeface="Arial MT"/>
                        </a:rPr>
                        <a:t>id</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130"/>
                        </a:spcBef>
                      </a:pPr>
                      <a:r>
                        <a:rPr sz="1400" spc="-10" dirty="0">
                          <a:latin typeface="Arial MT"/>
                          <a:cs typeface="Arial MT"/>
                        </a:rPr>
                        <a:t>date_id</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130"/>
                        </a:spcBef>
                      </a:pPr>
                      <a:r>
                        <a:rPr sz="1400" spc="-10" dirty="0">
                          <a:latin typeface="Arial MT"/>
                          <a:cs typeface="Arial MT"/>
                        </a:rPr>
                        <a:t>region_id</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130"/>
                        </a:spcBef>
                      </a:pPr>
                      <a:r>
                        <a:rPr sz="1400" spc="-10" dirty="0">
                          <a:latin typeface="Arial MT"/>
                          <a:cs typeface="Arial MT"/>
                        </a:rPr>
                        <a:t>profit</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0"/>
                  </a:ext>
                </a:extLst>
              </a:tr>
              <a:tr h="254000">
                <a:tc>
                  <a:txBody>
                    <a:bodyPr/>
                    <a:lstStyle/>
                    <a:p>
                      <a:pPr marL="1270" algn="ctr">
                        <a:lnSpc>
                          <a:spcPct val="100000"/>
                        </a:lnSpc>
                        <a:spcBef>
                          <a:spcPts val="345"/>
                        </a:spcBef>
                      </a:pPr>
                      <a:r>
                        <a:rPr sz="900" spc="-50" dirty="0">
                          <a:latin typeface="Arial MT"/>
                          <a:cs typeface="Arial MT"/>
                        </a:rPr>
                        <a:t>1</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900" spc="-10" dirty="0">
                          <a:latin typeface="Arial MT"/>
                          <a:cs typeface="Arial MT"/>
                        </a:rPr>
                        <a:t>20220102</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345"/>
                        </a:spcBef>
                      </a:pPr>
                      <a:r>
                        <a:rPr sz="900" spc="-50" dirty="0">
                          <a:latin typeface="Arial MT"/>
                          <a:cs typeface="Arial MT"/>
                        </a:rPr>
                        <a:t>1</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20"/>
                        </a:spcBef>
                      </a:pPr>
                      <a:r>
                        <a:rPr sz="900" spc="-25" dirty="0">
                          <a:latin typeface="Calibri"/>
                          <a:cs typeface="Calibri"/>
                        </a:rPr>
                        <a:t>$23</a:t>
                      </a:r>
                      <a:endParaRPr sz="9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marL="1270" algn="ctr">
                        <a:lnSpc>
                          <a:spcPct val="100000"/>
                        </a:lnSpc>
                        <a:spcBef>
                          <a:spcPts val="345"/>
                        </a:spcBef>
                      </a:pPr>
                      <a:r>
                        <a:rPr sz="900" spc="-50" dirty="0">
                          <a:latin typeface="Arial MT"/>
                          <a:cs typeface="Arial MT"/>
                        </a:rPr>
                        <a:t>2</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900" spc="-10" dirty="0">
                          <a:latin typeface="Arial MT"/>
                          <a:cs typeface="Arial MT"/>
                        </a:rPr>
                        <a:t>20220102</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345"/>
                        </a:spcBef>
                      </a:pPr>
                      <a:r>
                        <a:rPr sz="900" spc="-50" dirty="0">
                          <a:latin typeface="Arial MT"/>
                          <a:cs typeface="Arial MT"/>
                        </a:rPr>
                        <a:t>2</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20"/>
                        </a:spcBef>
                      </a:pPr>
                      <a:r>
                        <a:rPr sz="900" spc="-25" dirty="0">
                          <a:latin typeface="Calibri"/>
                          <a:cs typeface="Calibri"/>
                        </a:rPr>
                        <a:t>$12</a:t>
                      </a:r>
                      <a:endParaRPr sz="9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marL="1270" algn="ctr">
                        <a:lnSpc>
                          <a:spcPct val="100000"/>
                        </a:lnSpc>
                        <a:spcBef>
                          <a:spcPts val="345"/>
                        </a:spcBef>
                      </a:pPr>
                      <a:r>
                        <a:rPr sz="900" spc="-50" dirty="0">
                          <a:latin typeface="Arial MT"/>
                          <a:cs typeface="Arial MT"/>
                        </a:rPr>
                        <a:t>3</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900" spc="-10" dirty="0">
                          <a:latin typeface="Arial MT"/>
                          <a:cs typeface="Arial MT"/>
                        </a:rPr>
                        <a:t>20220102</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345"/>
                        </a:spcBef>
                      </a:pPr>
                      <a:r>
                        <a:rPr sz="900" spc="-50" dirty="0">
                          <a:latin typeface="Arial MT"/>
                          <a:cs typeface="Arial MT"/>
                        </a:rPr>
                        <a:t>2</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20"/>
                        </a:spcBef>
                      </a:pPr>
                      <a:r>
                        <a:rPr sz="900" spc="-25" dirty="0">
                          <a:latin typeface="Calibri"/>
                          <a:cs typeface="Calibri"/>
                        </a:rPr>
                        <a:t>$93</a:t>
                      </a:r>
                      <a:endParaRPr sz="9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marL="1270" algn="ctr">
                        <a:lnSpc>
                          <a:spcPct val="100000"/>
                        </a:lnSpc>
                        <a:spcBef>
                          <a:spcPts val="345"/>
                        </a:spcBef>
                      </a:pPr>
                      <a:r>
                        <a:rPr sz="900" spc="-50" dirty="0">
                          <a:latin typeface="Arial MT"/>
                          <a:cs typeface="Arial MT"/>
                        </a:rPr>
                        <a:t>4</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45"/>
                        </a:spcBef>
                      </a:pPr>
                      <a:r>
                        <a:rPr sz="900" spc="-10" dirty="0">
                          <a:latin typeface="Arial MT"/>
                          <a:cs typeface="Arial MT"/>
                        </a:rPr>
                        <a:t>20220102</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345"/>
                        </a:spcBef>
                      </a:pPr>
                      <a:r>
                        <a:rPr sz="900" spc="-50" dirty="0">
                          <a:latin typeface="Arial MT"/>
                          <a:cs typeface="Arial MT"/>
                        </a:rPr>
                        <a:t>3</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20"/>
                        </a:spcBef>
                      </a:pPr>
                      <a:r>
                        <a:rPr sz="900" spc="-25" dirty="0">
                          <a:latin typeface="Calibri"/>
                          <a:cs typeface="Calibri"/>
                        </a:rPr>
                        <a:t>$23</a:t>
                      </a:r>
                      <a:endParaRPr sz="9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marL="1270" algn="ctr">
                        <a:lnSpc>
                          <a:spcPct val="100000"/>
                        </a:lnSpc>
                        <a:spcBef>
                          <a:spcPts val="350"/>
                        </a:spcBef>
                      </a:pPr>
                      <a:r>
                        <a:rPr sz="900" spc="-50" dirty="0">
                          <a:latin typeface="Arial MT"/>
                          <a:cs typeface="Arial MT"/>
                        </a:rPr>
                        <a:t>5</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350"/>
                        </a:spcBef>
                      </a:pPr>
                      <a:r>
                        <a:rPr sz="900" spc="-10" dirty="0">
                          <a:latin typeface="Arial MT"/>
                          <a:cs typeface="Arial MT"/>
                        </a:rPr>
                        <a:t>20220102</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350"/>
                        </a:spcBef>
                      </a:pPr>
                      <a:r>
                        <a:rPr sz="900" spc="-25" dirty="0">
                          <a:latin typeface="Arial MT"/>
                          <a:cs typeface="Arial MT"/>
                        </a:rPr>
                        <a:t>16</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25"/>
                        </a:spcBef>
                      </a:pPr>
                      <a:r>
                        <a:rPr sz="900" spc="-25" dirty="0">
                          <a:latin typeface="Calibri"/>
                          <a:cs typeface="Calibri"/>
                        </a:rPr>
                        <a:t>$21</a:t>
                      </a:r>
                      <a:endParaRPr sz="900">
                        <a:latin typeface="Calibri"/>
                        <a:cs typeface="Calibri"/>
                      </a:endParaRPr>
                    </a:p>
                  </a:txBody>
                  <a:tcPr marL="0" marR="0" marT="550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sp>
        <p:nvSpPr>
          <p:cNvPr id="5" name="object 5"/>
          <p:cNvSpPr txBox="1"/>
          <p:nvPr/>
        </p:nvSpPr>
        <p:spPr>
          <a:xfrm>
            <a:off x="3254926" y="5456868"/>
            <a:ext cx="3313853"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Different</a:t>
            </a:r>
            <a:r>
              <a:rPr sz="2400" b="1" spc="-60" dirty="0">
                <a:solidFill>
                  <a:srgbClr val="D9D9D9"/>
                </a:solidFill>
                <a:latin typeface="Calibri"/>
                <a:cs typeface="Calibri"/>
              </a:rPr>
              <a:t> </a:t>
            </a:r>
            <a:r>
              <a:rPr sz="2400" b="1" dirty="0">
                <a:solidFill>
                  <a:srgbClr val="D9D9D9"/>
                </a:solidFill>
                <a:latin typeface="Calibri"/>
                <a:cs typeface="Calibri"/>
              </a:rPr>
              <a:t>types</a:t>
            </a:r>
            <a:r>
              <a:rPr sz="2400" b="1" spc="-67" dirty="0">
                <a:solidFill>
                  <a:srgbClr val="D9D9D9"/>
                </a:solidFill>
                <a:latin typeface="Calibri"/>
                <a:cs typeface="Calibri"/>
              </a:rPr>
              <a:t> </a:t>
            </a:r>
            <a:r>
              <a:rPr sz="2400" b="1" dirty="0">
                <a:solidFill>
                  <a:srgbClr val="D9D9D9"/>
                </a:solidFill>
                <a:latin typeface="Calibri"/>
                <a:cs typeface="Calibri"/>
              </a:rPr>
              <a:t>of</a:t>
            </a:r>
            <a:r>
              <a:rPr sz="2400" b="1" spc="-40" dirty="0">
                <a:solidFill>
                  <a:srgbClr val="D9D9D9"/>
                </a:solidFill>
                <a:latin typeface="Calibri"/>
                <a:cs typeface="Calibri"/>
              </a:rPr>
              <a:t> </a:t>
            </a:r>
            <a:r>
              <a:rPr sz="2400" b="1" spc="-13" dirty="0">
                <a:solidFill>
                  <a:srgbClr val="D9D9D9"/>
                </a:solidFill>
                <a:latin typeface="Calibri"/>
                <a:cs typeface="Calibri"/>
              </a:rPr>
              <a:t>facts</a:t>
            </a:r>
            <a:endParaRPr sz="2400">
              <a:latin typeface="Calibri"/>
              <a:cs typeface="Calibri"/>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57807" y="2279903"/>
            <a:ext cx="9930384" cy="1702816"/>
          </a:xfrm>
          <a:prstGeom prst="rect">
            <a:avLst/>
          </a:prstGeom>
        </p:spPr>
      </p:pic>
      <p:sp>
        <p:nvSpPr>
          <p:cNvPr id="3" name="object 3"/>
          <p:cNvSpPr txBox="1">
            <a:spLocks noGrp="1"/>
          </p:cNvSpPr>
          <p:nvPr>
            <p:ph type="title"/>
          </p:nvPr>
        </p:nvSpPr>
        <p:spPr>
          <a:xfrm>
            <a:off x="1320800" y="2579973"/>
            <a:ext cx="9811173" cy="1048150"/>
          </a:xfrm>
          <a:prstGeom prst="rect">
            <a:avLst/>
          </a:prstGeom>
          <a:noFill/>
          <a:ln w="9144">
            <a:noFill/>
          </a:ln>
        </p:spPr>
        <p:txBody>
          <a:bodyPr vert="horz" wrap="square" lIns="0" tIns="306493" rIns="0" bIns="0" rtlCol="0" anchor="ctr">
            <a:spAutoFit/>
          </a:bodyPr>
          <a:lstStyle/>
          <a:p>
            <a:pPr algn="ctr">
              <a:lnSpc>
                <a:spcPct val="100000"/>
              </a:lnSpc>
              <a:spcBef>
                <a:spcPts val="2413"/>
              </a:spcBef>
            </a:pPr>
            <a:r>
              <a:rPr sz="4800" spc="-13" dirty="0">
                <a:solidFill>
                  <a:schemeClr val="bg1"/>
                </a:solidFill>
                <a:latin typeface="+mn-lt"/>
              </a:rPr>
              <a:t>Dimensions</a:t>
            </a:r>
            <a:endParaRPr sz="4800" dirty="0">
              <a:solidFill>
                <a:schemeClr val="bg1"/>
              </a:solidFill>
              <a:latin typeface="+mn-lt"/>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B33AF-B0C0-63BC-C045-95CDD0B11A84}"/>
              </a:ext>
            </a:extLst>
          </p:cNvPr>
          <p:cNvSpPr>
            <a:spLocks noGrp="1"/>
          </p:cNvSpPr>
          <p:nvPr>
            <p:ph type="title"/>
          </p:nvPr>
        </p:nvSpPr>
        <p:spPr>
          <a:xfrm>
            <a:off x="838200" y="267251"/>
            <a:ext cx="10515600" cy="827571"/>
          </a:xfrm>
        </p:spPr>
        <p:txBody>
          <a:bodyPr/>
          <a:lstStyle/>
          <a:p>
            <a:pPr algn="ctr"/>
            <a:r>
              <a:rPr lang="en-IN" dirty="0">
                <a:solidFill>
                  <a:schemeClr val="bg1"/>
                </a:solidFill>
                <a:latin typeface="+mn-lt"/>
              </a:rPr>
              <a:t>Dimensions </a:t>
            </a:r>
          </a:p>
        </p:txBody>
      </p:sp>
      <p:sp>
        <p:nvSpPr>
          <p:cNvPr id="3" name="Content Placeholder 2">
            <a:extLst>
              <a:ext uri="{FF2B5EF4-FFF2-40B4-BE49-F238E27FC236}">
                <a16:creationId xmlns:a16="http://schemas.microsoft.com/office/drawing/2014/main" id="{90B0C26D-443C-3A2E-F144-8D21DF9FAF2A}"/>
              </a:ext>
            </a:extLst>
          </p:cNvPr>
          <p:cNvSpPr>
            <a:spLocks noGrp="1"/>
          </p:cNvSpPr>
          <p:nvPr>
            <p:ph idx="1"/>
          </p:nvPr>
        </p:nvSpPr>
        <p:spPr>
          <a:xfrm>
            <a:off x="311426" y="1094822"/>
            <a:ext cx="11353800" cy="5663787"/>
          </a:xfrm>
        </p:spPr>
        <p:txBody>
          <a:bodyPr>
            <a:noAutofit/>
          </a:bodyPr>
          <a:lstStyle/>
          <a:p>
            <a:pPr algn="l"/>
            <a:r>
              <a:rPr lang="en-IN" sz="2600" b="0" i="0" u="none" strike="noStrike" baseline="0" dirty="0">
                <a:solidFill>
                  <a:schemeClr val="bg1"/>
                </a:solidFill>
              </a:rPr>
              <a:t>The </a:t>
            </a:r>
            <a:r>
              <a:rPr lang="en-GB" sz="2600" b="0" i="0" u="none" strike="noStrike" baseline="0" dirty="0">
                <a:solidFill>
                  <a:schemeClr val="bg1"/>
                </a:solidFill>
              </a:rPr>
              <a:t>analytic power of the DW/BI environment is directly proportional to the quality and depth of the dimension attributes.</a:t>
            </a:r>
          </a:p>
          <a:p>
            <a:pPr algn="l"/>
            <a:r>
              <a:rPr lang="en-GB" sz="2600" b="0" i="0" u="none" strike="noStrike" baseline="0" dirty="0">
                <a:solidFill>
                  <a:schemeClr val="bg1"/>
                </a:solidFill>
              </a:rPr>
              <a:t>Dimensions provide the entry points to the data, and the final labels and groupings on all DW/BI analyses.</a:t>
            </a:r>
          </a:p>
          <a:p>
            <a:pPr algn="l"/>
            <a:r>
              <a:rPr lang="en-GB" sz="2600" b="0" i="0" u="none" strike="noStrike" baseline="0" dirty="0">
                <a:solidFill>
                  <a:schemeClr val="bg1"/>
                </a:solidFill>
              </a:rPr>
              <a:t>dimension tables often represent hierarchical relationships.</a:t>
            </a:r>
          </a:p>
          <a:p>
            <a:pPr algn="l"/>
            <a:r>
              <a:rPr lang="en-GB" sz="2600" b="0" i="0" u="none" strike="noStrike" baseline="0" dirty="0">
                <a:solidFill>
                  <a:schemeClr val="bg1"/>
                </a:solidFill>
              </a:rPr>
              <a:t>For example, products roll up into brands and then into categories. For each</a:t>
            </a:r>
          </a:p>
          <a:p>
            <a:pPr algn="l"/>
            <a:r>
              <a:rPr lang="en-GB" sz="2600" b="0" i="0" u="none" strike="noStrike" baseline="0" dirty="0">
                <a:solidFill>
                  <a:schemeClr val="bg1"/>
                </a:solidFill>
              </a:rPr>
              <a:t>row in the product dimension, you should store the associated brand and category description. The hierarchical descriptive information is stored redundantly in the spirit of ease of use and query performance.</a:t>
            </a:r>
          </a:p>
          <a:p>
            <a:pPr algn="l"/>
            <a:r>
              <a:rPr lang="en-GB" sz="2600" b="0" i="0" u="none" strike="noStrike" baseline="0" dirty="0">
                <a:solidFill>
                  <a:schemeClr val="bg1"/>
                </a:solidFill>
              </a:rPr>
              <a:t>The hierarchical descriptive information is stored redundantly in the spirit of ease of use and query performance</a:t>
            </a:r>
            <a:endParaRPr lang="en-IN" sz="2600" dirty="0">
              <a:solidFill>
                <a:schemeClr val="bg1"/>
              </a:solidFill>
            </a:endParaRPr>
          </a:p>
        </p:txBody>
      </p:sp>
    </p:spTree>
    <p:extLst>
      <p:ext uri="{BB962C8B-B14F-4D97-AF65-F5344CB8AC3E}">
        <p14:creationId xmlns:p14="http://schemas.microsoft.com/office/powerpoint/2010/main" val="252794500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DE93F-C883-2B9B-BEE7-E6975323D778}"/>
              </a:ext>
            </a:extLst>
          </p:cNvPr>
          <p:cNvSpPr>
            <a:spLocks noGrp="1"/>
          </p:cNvSpPr>
          <p:nvPr>
            <p:ph type="title"/>
          </p:nvPr>
        </p:nvSpPr>
        <p:spPr/>
        <p:txBody>
          <a:bodyPr/>
          <a:lstStyle/>
          <a:p>
            <a:pPr algn="ctr"/>
            <a:r>
              <a:rPr lang="en-IN" dirty="0">
                <a:solidFill>
                  <a:schemeClr val="bg1"/>
                </a:solidFill>
                <a:latin typeface="+mn-lt"/>
              </a:rPr>
              <a:t>Sample Dimensions</a:t>
            </a:r>
          </a:p>
        </p:txBody>
      </p:sp>
      <p:pic>
        <p:nvPicPr>
          <p:cNvPr id="5" name="Content Placeholder 4">
            <a:extLst>
              <a:ext uri="{FF2B5EF4-FFF2-40B4-BE49-F238E27FC236}">
                <a16:creationId xmlns:a16="http://schemas.microsoft.com/office/drawing/2014/main" id="{93618E1A-895A-3F8C-3317-A3678C681664}"/>
              </a:ext>
            </a:extLst>
          </p:cNvPr>
          <p:cNvPicPr>
            <a:picLocks noGrp="1" noChangeAspect="1"/>
          </p:cNvPicPr>
          <p:nvPr>
            <p:ph idx="1"/>
          </p:nvPr>
        </p:nvPicPr>
        <p:blipFill>
          <a:blip r:embed="rId2"/>
          <a:stretch>
            <a:fillRect/>
          </a:stretch>
        </p:blipFill>
        <p:spPr>
          <a:xfrm>
            <a:off x="1919067" y="2270475"/>
            <a:ext cx="8278481" cy="3939203"/>
          </a:xfrm>
        </p:spPr>
      </p:pic>
    </p:spTree>
    <p:extLst>
      <p:ext uri="{BB962C8B-B14F-4D97-AF65-F5344CB8AC3E}">
        <p14:creationId xmlns:p14="http://schemas.microsoft.com/office/powerpoint/2010/main" val="257126067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95938" y="247908"/>
            <a:ext cx="7140713" cy="695062"/>
          </a:xfrm>
          <a:prstGeom prst="rect">
            <a:avLst/>
          </a:prstGeom>
        </p:spPr>
        <p:txBody>
          <a:bodyPr vert="horz" wrap="square" lIns="0" tIns="17780" rIns="0" bIns="0" rtlCol="0" anchor="ctr">
            <a:spAutoFit/>
          </a:bodyPr>
          <a:lstStyle/>
          <a:p>
            <a:pPr marL="2420558">
              <a:lnSpc>
                <a:spcPct val="100000"/>
              </a:lnSpc>
              <a:spcBef>
                <a:spcPts val="140"/>
              </a:spcBef>
            </a:pPr>
            <a:r>
              <a:rPr spc="-13" dirty="0">
                <a:solidFill>
                  <a:schemeClr val="bg1"/>
                </a:solidFill>
                <a:latin typeface="+mn-lt"/>
              </a:rPr>
              <a:t>Dimensions</a:t>
            </a:r>
          </a:p>
        </p:txBody>
      </p:sp>
      <p:sp>
        <p:nvSpPr>
          <p:cNvPr id="3" name="object 3"/>
          <p:cNvSpPr txBox="1"/>
          <p:nvPr/>
        </p:nvSpPr>
        <p:spPr>
          <a:xfrm>
            <a:off x="5185663" y="1906015"/>
            <a:ext cx="2201333" cy="538609"/>
          </a:xfrm>
          <a:prstGeom prst="rect">
            <a:avLst/>
          </a:prstGeom>
          <a:noFill/>
        </p:spPr>
        <p:txBody>
          <a:bodyPr vert="horz" wrap="square" lIns="0" tIns="167640" rIns="0" bIns="0" rtlCol="0">
            <a:spAutoFit/>
          </a:bodyPr>
          <a:lstStyle/>
          <a:p>
            <a:pPr marL="502907" indent="-380990">
              <a:spcBef>
                <a:spcPts val="1320"/>
              </a:spcBef>
              <a:buClr>
                <a:srgbClr val="99D3FF"/>
              </a:buClr>
              <a:buFont typeface="Wingdings"/>
              <a:buChar char=""/>
              <a:tabLst>
                <a:tab pos="502907" algn="l"/>
              </a:tabLst>
            </a:pPr>
            <a:r>
              <a:rPr sz="2400" b="1" spc="-13" dirty="0">
                <a:solidFill>
                  <a:srgbClr val="D9D9D9"/>
                </a:solidFill>
                <a:latin typeface="Calibri"/>
                <a:cs typeface="Calibri"/>
              </a:rPr>
              <a:t>Dimensions</a:t>
            </a:r>
            <a:endParaRPr sz="2400" dirty="0">
              <a:latin typeface="Calibri"/>
              <a:cs typeface="Calibri"/>
            </a:endParaRPr>
          </a:p>
        </p:txBody>
      </p:sp>
      <p:sp>
        <p:nvSpPr>
          <p:cNvPr id="4" name="object 4"/>
          <p:cNvSpPr txBox="1"/>
          <p:nvPr/>
        </p:nvSpPr>
        <p:spPr>
          <a:xfrm>
            <a:off x="7833360" y="4011169"/>
            <a:ext cx="2438400" cy="541174"/>
          </a:xfrm>
          <a:prstGeom prst="rect">
            <a:avLst/>
          </a:prstGeom>
          <a:noFill/>
        </p:spPr>
        <p:txBody>
          <a:bodyPr vert="horz" wrap="square" lIns="0" tIns="170180" rIns="0" bIns="0" rtlCol="0">
            <a:spAutoFit/>
          </a:bodyPr>
          <a:lstStyle/>
          <a:p>
            <a:pPr marL="504601" indent="-380990">
              <a:spcBef>
                <a:spcPts val="1340"/>
              </a:spcBef>
              <a:buClr>
                <a:srgbClr val="99D3FF"/>
              </a:buClr>
              <a:buFont typeface="Wingdings"/>
              <a:buChar char=""/>
              <a:tabLst>
                <a:tab pos="504601" algn="l"/>
              </a:tabLst>
            </a:pPr>
            <a:r>
              <a:rPr sz="2400" b="1" spc="-13" dirty="0">
                <a:solidFill>
                  <a:srgbClr val="D9D9D9"/>
                </a:solidFill>
                <a:latin typeface="Calibri"/>
                <a:cs typeface="Calibri"/>
              </a:rPr>
              <a:t>Dimensions</a:t>
            </a:r>
            <a:endParaRPr sz="2400">
              <a:latin typeface="Calibri"/>
              <a:cs typeface="Calibri"/>
            </a:endParaRPr>
          </a:p>
        </p:txBody>
      </p:sp>
      <p:sp>
        <p:nvSpPr>
          <p:cNvPr id="5" name="object 5"/>
          <p:cNvSpPr txBox="1"/>
          <p:nvPr/>
        </p:nvSpPr>
        <p:spPr>
          <a:xfrm>
            <a:off x="2129536" y="3960369"/>
            <a:ext cx="2438400" cy="541174"/>
          </a:xfrm>
          <a:prstGeom prst="rect">
            <a:avLst/>
          </a:prstGeom>
          <a:noFill/>
        </p:spPr>
        <p:txBody>
          <a:bodyPr vert="horz" wrap="square" lIns="0" tIns="170180" rIns="0" bIns="0" rtlCol="0">
            <a:spAutoFit/>
          </a:bodyPr>
          <a:lstStyle/>
          <a:p>
            <a:pPr marL="503754" indent="-380990">
              <a:spcBef>
                <a:spcPts val="1340"/>
              </a:spcBef>
              <a:buClr>
                <a:srgbClr val="99D3FF"/>
              </a:buClr>
              <a:buFont typeface="Wingdings"/>
              <a:buChar char=""/>
              <a:tabLst>
                <a:tab pos="503754" algn="l"/>
              </a:tabLst>
            </a:pPr>
            <a:r>
              <a:rPr sz="2400" b="1" spc="-13" dirty="0">
                <a:solidFill>
                  <a:srgbClr val="D9D9D9"/>
                </a:solidFill>
                <a:latin typeface="Calibri"/>
                <a:cs typeface="Calibri"/>
              </a:rPr>
              <a:t>Dimensions</a:t>
            </a:r>
            <a:endParaRPr sz="2400">
              <a:latin typeface="Calibri"/>
              <a:cs typeface="Calibri"/>
            </a:endParaRPr>
          </a:p>
        </p:txBody>
      </p:sp>
      <p:sp>
        <p:nvSpPr>
          <p:cNvPr id="6" name="object 6"/>
          <p:cNvSpPr/>
          <p:nvPr/>
        </p:nvSpPr>
        <p:spPr>
          <a:xfrm>
            <a:off x="6284976" y="2521711"/>
            <a:ext cx="0" cy="488527"/>
          </a:xfrm>
          <a:custGeom>
            <a:avLst/>
            <a:gdLst/>
            <a:ahLst/>
            <a:cxnLst/>
            <a:rect l="l" t="t" r="r" b="b"/>
            <a:pathLst>
              <a:path h="366394">
                <a:moveTo>
                  <a:pt x="0" y="366267"/>
                </a:moveTo>
                <a:lnTo>
                  <a:pt x="0" y="0"/>
                </a:lnTo>
              </a:path>
            </a:pathLst>
          </a:custGeom>
          <a:ln w="9144">
            <a:solidFill>
              <a:srgbClr val="00C2FF"/>
            </a:solidFill>
          </a:ln>
        </p:spPr>
        <p:txBody>
          <a:bodyPr wrap="square" lIns="0" tIns="0" rIns="0" bIns="0" rtlCol="0"/>
          <a:lstStyle/>
          <a:p>
            <a:endParaRPr sz="2400"/>
          </a:p>
        </p:txBody>
      </p:sp>
      <p:sp>
        <p:nvSpPr>
          <p:cNvPr id="7" name="object 7"/>
          <p:cNvSpPr/>
          <p:nvPr/>
        </p:nvSpPr>
        <p:spPr>
          <a:xfrm>
            <a:off x="7244079" y="3501135"/>
            <a:ext cx="1810173" cy="511387"/>
          </a:xfrm>
          <a:custGeom>
            <a:avLst/>
            <a:gdLst/>
            <a:ahLst/>
            <a:cxnLst/>
            <a:rect l="l" t="t" r="r" b="b"/>
            <a:pathLst>
              <a:path w="1357629" h="383539">
                <a:moveTo>
                  <a:pt x="0" y="0"/>
                </a:moveTo>
                <a:lnTo>
                  <a:pt x="1357630" y="383286"/>
                </a:lnTo>
              </a:path>
            </a:pathLst>
          </a:custGeom>
          <a:ln w="9144">
            <a:solidFill>
              <a:srgbClr val="00C2FF"/>
            </a:solidFill>
          </a:ln>
        </p:spPr>
        <p:txBody>
          <a:bodyPr wrap="square" lIns="0" tIns="0" rIns="0" bIns="0" rtlCol="0"/>
          <a:lstStyle/>
          <a:p>
            <a:endParaRPr sz="2400"/>
          </a:p>
        </p:txBody>
      </p:sp>
      <p:sp>
        <p:nvSpPr>
          <p:cNvPr id="8" name="object 8"/>
          <p:cNvSpPr/>
          <p:nvPr/>
        </p:nvSpPr>
        <p:spPr>
          <a:xfrm>
            <a:off x="3348735" y="3531616"/>
            <a:ext cx="2035387" cy="430953"/>
          </a:xfrm>
          <a:custGeom>
            <a:avLst/>
            <a:gdLst/>
            <a:ahLst/>
            <a:cxnLst/>
            <a:rect l="l" t="t" r="r" b="b"/>
            <a:pathLst>
              <a:path w="1526539" h="323214">
                <a:moveTo>
                  <a:pt x="1526539" y="0"/>
                </a:moveTo>
                <a:lnTo>
                  <a:pt x="0" y="322706"/>
                </a:lnTo>
              </a:path>
            </a:pathLst>
          </a:custGeom>
          <a:ln w="9144">
            <a:solidFill>
              <a:srgbClr val="00C2FF"/>
            </a:solidFill>
          </a:ln>
        </p:spPr>
        <p:txBody>
          <a:bodyPr wrap="square" lIns="0" tIns="0" rIns="0" bIns="0" rtlCol="0"/>
          <a:lstStyle/>
          <a:p>
            <a:endParaRPr sz="2400"/>
          </a:p>
        </p:txBody>
      </p:sp>
      <p:sp>
        <p:nvSpPr>
          <p:cNvPr id="9" name="object 9"/>
          <p:cNvSpPr txBox="1"/>
          <p:nvPr/>
        </p:nvSpPr>
        <p:spPr>
          <a:xfrm>
            <a:off x="5338064" y="3011423"/>
            <a:ext cx="1893993" cy="539462"/>
          </a:xfrm>
          <a:prstGeom prst="rect">
            <a:avLst/>
          </a:prstGeom>
          <a:noFill/>
        </p:spPr>
        <p:txBody>
          <a:bodyPr vert="horz" wrap="square" lIns="0" tIns="168485" rIns="0" bIns="0" rtlCol="0">
            <a:spAutoFit/>
          </a:bodyPr>
          <a:lstStyle/>
          <a:p>
            <a:pPr marL="504601" indent="-380990">
              <a:spcBef>
                <a:spcPts val="1325"/>
              </a:spcBef>
              <a:buFont typeface="Wingdings"/>
              <a:buChar char=""/>
              <a:tabLst>
                <a:tab pos="504601" algn="l"/>
              </a:tabLst>
            </a:pPr>
            <a:r>
              <a:rPr sz="2400" b="1" spc="-13" dirty="0">
                <a:solidFill>
                  <a:srgbClr val="99D3FF"/>
                </a:solidFill>
                <a:latin typeface="Calibri"/>
                <a:cs typeface="Calibri"/>
              </a:rPr>
              <a:t>Facts</a:t>
            </a:r>
            <a:endParaRPr sz="2400">
              <a:latin typeface="Calibri"/>
              <a:cs typeface="Calibri"/>
            </a:endParaRPr>
          </a:p>
        </p:txBody>
      </p:sp>
      <p:sp>
        <p:nvSpPr>
          <p:cNvPr id="10" name="object 10"/>
          <p:cNvSpPr txBox="1"/>
          <p:nvPr/>
        </p:nvSpPr>
        <p:spPr>
          <a:xfrm>
            <a:off x="4673600" y="5065776"/>
            <a:ext cx="3048000" cy="540319"/>
          </a:xfrm>
          <a:prstGeom prst="rect">
            <a:avLst/>
          </a:prstGeom>
          <a:solidFill>
            <a:srgbClr val="99E7FF"/>
          </a:solidFill>
        </p:spPr>
        <p:txBody>
          <a:bodyPr vert="horz" wrap="square" lIns="0" tIns="169333" rIns="0" bIns="0" rtlCol="0">
            <a:spAutoFit/>
          </a:bodyPr>
          <a:lstStyle/>
          <a:p>
            <a:pPr marL="763674">
              <a:spcBef>
                <a:spcPts val="1333"/>
              </a:spcBef>
            </a:pPr>
            <a:r>
              <a:rPr sz="2400" b="1" dirty="0">
                <a:solidFill>
                  <a:srgbClr val="404040"/>
                </a:solidFill>
                <a:latin typeface="Calibri"/>
                <a:cs typeface="Calibri"/>
              </a:rPr>
              <a:t>star</a:t>
            </a:r>
            <a:r>
              <a:rPr sz="2400" b="1" spc="-40" dirty="0">
                <a:solidFill>
                  <a:srgbClr val="404040"/>
                </a:solidFill>
                <a:latin typeface="Calibri"/>
                <a:cs typeface="Calibri"/>
              </a:rPr>
              <a:t> </a:t>
            </a:r>
            <a:r>
              <a:rPr sz="2400" b="1" spc="-13" dirty="0">
                <a:solidFill>
                  <a:srgbClr val="404040"/>
                </a:solidFill>
                <a:latin typeface="Calibri"/>
                <a:cs typeface="Calibri"/>
              </a:rPr>
              <a:t>schema</a:t>
            </a:r>
            <a:endParaRPr sz="2400">
              <a:latin typeface="Calibri"/>
              <a:cs typeface="Calibri"/>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858" y="65861"/>
            <a:ext cx="3950641" cy="695062"/>
          </a:xfrm>
          <a:prstGeom prst="rect">
            <a:avLst/>
          </a:prstGeom>
        </p:spPr>
        <p:txBody>
          <a:bodyPr vert="horz" wrap="square" lIns="0" tIns="17780" rIns="0" bIns="0" rtlCol="0" anchor="ctr">
            <a:spAutoFit/>
          </a:bodyPr>
          <a:lstStyle/>
          <a:p>
            <a:pPr marL="16933">
              <a:lnSpc>
                <a:spcPct val="100000"/>
              </a:lnSpc>
              <a:spcBef>
                <a:spcPts val="140"/>
              </a:spcBef>
            </a:pPr>
            <a:r>
              <a:rPr spc="-13" dirty="0">
                <a:solidFill>
                  <a:schemeClr val="bg1"/>
                </a:solidFill>
                <a:latin typeface="+mn-lt"/>
              </a:rPr>
              <a:t>Dimensions</a:t>
            </a:r>
          </a:p>
        </p:txBody>
      </p:sp>
      <p:sp>
        <p:nvSpPr>
          <p:cNvPr id="3" name="object 3"/>
          <p:cNvSpPr/>
          <p:nvPr/>
        </p:nvSpPr>
        <p:spPr>
          <a:xfrm>
            <a:off x="5185663" y="1906015"/>
            <a:ext cx="2201333" cy="616373"/>
          </a:xfrm>
          <a:custGeom>
            <a:avLst/>
            <a:gdLst/>
            <a:ahLst/>
            <a:cxnLst/>
            <a:rect l="l" t="t" r="r" b="b"/>
            <a:pathLst>
              <a:path w="1651000" h="462280">
                <a:moveTo>
                  <a:pt x="1650492" y="0"/>
                </a:moveTo>
                <a:lnTo>
                  <a:pt x="0" y="0"/>
                </a:lnTo>
                <a:lnTo>
                  <a:pt x="0" y="461772"/>
                </a:lnTo>
                <a:lnTo>
                  <a:pt x="1650492" y="461772"/>
                </a:lnTo>
                <a:lnTo>
                  <a:pt x="1650492" y="0"/>
                </a:lnTo>
                <a:close/>
              </a:path>
            </a:pathLst>
          </a:custGeom>
          <a:noFill/>
        </p:spPr>
        <p:txBody>
          <a:bodyPr wrap="square" lIns="0" tIns="0" rIns="0" bIns="0" rtlCol="0"/>
          <a:lstStyle/>
          <a:p>
            <a:endParaRPr sz="2400"/>
          </a:p>
        </p:txBody>
      </p:sp>
      <p:sp>
        <p:nvSpPr>
          <p:cNvPr id="4" name="object 4"/>
          <p:cNvSpPr txBox="1"/>
          <p:nvPr/>
        </p:nvSpPr>
        <p:spPr>
          <a:xfrm>
            <a:off x="5290988" y="2057400"/>
            <a:ext cx="273472" cy="386430"/>
          </a:xfrm>
          <a:prstGeom prst="rect">
            <a:avLst/>
          </a:prstGeom>
        </p:spPr>
        <p:txBody>
          <a:bodyPr vert="horz" wrap="square" lIns="0" tIns="16933" rIns="0" bIns="0" rtlCol="0">
            <a:spAutoFit/>
          </a:bodyPr>
          <a:lstStyle/>
          <a:p>
            <a:pPr marL="16933">
              <a:spcBef>
                <a:spcPts val="133"/>
              </a:spcBef>
            </a:pPr>
            <a:r>
              <a:rPr sz="2400" spc="-67" dirty="0">
                <a:solidFill>
                  <a:srgbClr val="99D3FF"/>
                </a:solidFill>
                <a:latin typeface="Wingdings"/>
                <a:cs typeface="Wingdings"/>
              </a:rPr>
              <a:t></a:t>
            </a:r>
            <a:endParaRPr sz="2400">
              <a:latin typeface="Wingdings"/>
              <a:cs typeface="Wingdings"/>
            </a:endParaRPr>
          </a:p>
        </p:txBody>
      </p:sp>
      <p:sp>
        <p:nvSpPr>
          <p:cNvPr id="5" name="object 5"/>
          <p:cNvSpPr txBox="1"/>
          <p:nvPr/>
        </p:nvSpPr>
        <p:spPr>
          <a:xfrm>
            <a:off x="5689938" y="2150533"/>
            <a:ext cx="1355513" cy="302455"/>
          </a:xfrm>
          <a:prstGeom prst="rect">
            <a:avLst/>
          </a:prstGeom>
        </p:spPr>
        <p:txBody>
          <a:bodyPr vert="horz" wrap="square" lIns="0" tIns="0" rIns="0" bIns="0" rtlCol="0">
            <a:spAutoFit/>
          </a:bodyPr>
          <a:lstStyle/>
          <a:p>
            <a:pPr>
              <a:lnSpc>
                <a:spcPts val="2280"/>
              </a:lnSpc>
            </a:pPr>
            <a:r>
              <a:rPr sz="2400" b="1" spc="-13" dirty="0">
                <a:solidFill>
                  <a:srgbClr val="D9D9D9"/>
                </a:solidFill>
                <a:latin typeface="Calibri"/>
                <a:cs typeface="Calibri"/>
              </a:rPr>
              <a:t>Dimension</a:t>
            </a:r>
            <a:endParaRPr sz="2400">
              <a:latin typeface="Calibri"/>
              <a:cs typeface="Calibri"/>
            </a:endParaRPr>
          </a:p>
        </p:txBody>
      </p:sp>
      <p:sp>
        <p:nvSpPr>
          <p:cNvPr id="6" name="object 6"/>
          <p:cNvSpPr txBox="1"/>
          <p:nvPr/>
        </p:nvSpPr>
        <p:spPr>
          <a:xfrm>
            <a:off x="7028929" y="2057400"/>
            <a:ext cx="155785" cy="386430"/>
          </a:xfrm>
          <a:prstGeom prst="rect">
            <a:avLst/>
          </a:prstGeom>
        </p:spPr>
        <p:txBody>
          <a:bodyPr vert="horz" wrap="square" lIns="0" tIns="16933" rIns="0" bIns="0" rtlCol="0">
            <a:spAutoFit/>
          </a:bodyPr>
          <a:lstStyle/>
          <a:p>
            <a:pPr marL="16933">
              <a:spcBef>
                <a:spcPts val="133"/>
              </a:spcBef>
            </a:pPr>
            <a:r>
              <a:rPr sz="2400" b="1" spc="-67" dirty="0">
                <a:solidFill>
                  <a:srgbClr val="D9D9D9"/>
                </a:solidFill>
                <a:latin typeface="Calibri"/>
                <a:cs typeface="Calibri"/>
              </a:rPr>
              <a:t>s</a:t>
            </a:r>
            <a:endParaRPr sz="2400">
              <a:latin typeface="Calibri"/>
              <a:cs typeface="Calibri"/>
            </a:endParaRPr>
          </a:p>
        </p:txBody>
      </p:sp>
      <p:sp>
        <p:nvSpPr>
          <p:cNvPr id="8" name="object 8"/>
          <p:cNvSpPr txBox="1"/>
          <p:nvPr/>
        </p:nvSpPr>
        <p:spPr>
          <a:xfrm>
            <a:off x="7940379" y="4164584"/>
            <a:ext cx="683260"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spc="-33" dirty="0">
                <a:solidFill>
                  <a:srgbClr val="D9D9D9"/>
                </a:solidFill>
                <a:latin typeface="Calibri"/>
                <a:cs typeface="Calibri"/>
              </a:rPr>
              <a:t>Di</a:t>
            </a:r>
            <a:endParaRPr sz="2400">
              <a:latin typeface="Calibri"/>
              <a:cs typeface="Calibri"/>
            </a:endParaRPr>
          </a:p>
        </p:txBody>
      </p:sp>
      <p:sp>
        <p:nvSpPr>
          <p:cNvPr id="9" name="object 9"/>
          <p:cNvSpPr txBox="1"/>
          <p:nvPr/>
        </p:nvSpPr>
        <p:spPr>
          <a:xfrm>
            <a:off x="8606695" y="4257717"/>
            <a:ext cx="1210733" cy="302455"/>
          </a:xfrm>
          <a:prstGeom prst="rect">
            <a:avLst/>
          </a:prstGeom>
        </p:spPr>
        <p:txBody>
          <a:bodyPr vert="horz" wrap="square" lIns="0" tIns="0" rIns="0" bIns="0" rtlCol="0">
            <a:spAutoFit/>
          </a:bodyPr>
          <a:lstStyle/>
          <a:p>
            <a:pPr>
              <a:lnSpc>
                <a:spcPts val="2280"/>
              </a:lnSpc>
            </a:pPr>
            <a:r>
              <a:rPr sz="2400" b="1" spc="-13" dirty="0">
                <a:solidFill>
                  <a:srgbClr val="D9D9D9"/>
                </a:solidFill>
                <a:latin typeface="Calibri"/>
                <a:cs typeface="Calibri"/>
              </a:rPr>
              <a:t>mensions</a:t>
            </a:r>
            <a:endParaRPr sz="2400">
              <a:latin typeface="Calibri"/>
              <a:cs typeface="Calibri"/>
            </a:endParaRPr>
          </a:p>
        </p:txBody>
      </p:sp>
      <p:sp>
        <p:nvSpPr>
          <p:cNvPr id="11" name="object 11"/>
          <p:cNvSpPr txBox="1"/>
          <p:nvPr/>
        </p:nvSpPr>
        <p:spPr>
          <a:xfrm>
            <a:off x="2235707" y="4113784"/>
            <a:ext cx="273472" cy="386430"/>
          </a:xfrm>
          <a:prstGeom prst="rect">
            <a:avLst/>
          </a:prstGeom>
        </p:spPr>
        <p:txBody>
          <a:bodyPr vert="horz" wrap="square" lIns="0" tIns="16933" rIns="0" bIns="0" rtlCol="0">
            <a:spAutoFit/>
          </a:bodyPr>
          <a:lstStyle/>
          <a:p>
            <a:pPr marL="16933">
              <a:spcBef>
                <a:spcPts val="133"/>
              </a:spcBef>
            </a:pPr>
            <a:r>
              <a:rPr sz="2400" spc="-67" dirty="0">
                <a:solidFill>
                  <a:srgbClr val="99D3FF"/>
                </a:solidFill>
                <a:latin typeface="Wingdings"/>
                <a:cs typeface="Wingdings"/>
              </a:rPr>
              <a:t></a:t>
            </a:r>
            <a:endParaRPr sz="2400">
              <a:latin typeface="Wingdings"/>
              <a:cs typeface="Wingdings"/>
            </a:endParaRPr>
          </a:p>
        </p:txBody>
      </p:sp>
      <p:sp>
        <p:nvSpPr>
          <p:cNvPr id="12" name="object 12"/>
          <p:cNvSpPr txBox="1"/>
          <p:nvPr/>
        </p:nvSpPr>
        <p:spPr>
          <a:xfrm>
            <a:off x="2634657" y="4206917"/>
            <a:ext cx="1355513" cy="302455"/>
          </a:xfrm>
          <a:prstGeom prst="rect">
            <a:avLst/>
          </a:prstGeom>
        </p:spPr>
        <p:txBody>
          <a:bodyPr vert="horz" wrap="square" lIns="0" tIns="0" rIns="0" bIns="0" rtlCol="0">
            <a:spAutoFit/>
          </a:bodyPr>
          <a:lstStyle/>
          <a:p>
            <a:pPr>
              <a:lnSpc>
                <a:spcPts val="2280"/>
              </a:lnSpc>
            </a:pPr>
            <a:r>
              <a:rPr sz="2400" b="1" spc="-13" dirty="0">
                <a:solidFill>
                  <a:srgbClr val="D9D9D9"/>
                </a:solidFill>
                <a:latin typeface="Calibri"/>
                <a:cs typeface="Calibri"/>
              </a:rPr>
              <a:t>Dimension</a:t>
            </a:r>
            <a:endParaRPr sz="2400">
              <a:latin typeface="Calibri"/>
              <a:cs typeface="Calibri"/>
            </a:endParaRPr>
          </a:p>
        </p:txBody>
      </p:sp>
      <p:sp>
        <p:nvSpPr>
          <p:cNvPr id="13" name="object 13"/>
          <p:cNvSpPr txBox="1"/>
          <p:nvPr/>
        </p:nvSpPr>
        <p:spPr>
          <a:xfrm>
            <a:off x="3973648" y="4113784"/>
            <a:ext cx="155785" cy="386430"/>
          </a:xfrm>
          <a:prstGeom prst="rect">
            <a:avLst/>
          </a:prstGeom>
        </p:spPr>
        <p:txBody>
          <a:bodyPr vert="horz" wrap="square" lIns="0" tIns="16933" rIns="0" bIns="0" rtlCol="0">
            <a:spAutoFit/>
          </a:bodyPr>
          <a:lstStyle/>
          <a:p>
            <a:pPr marL="16933">
              <a:spcBef>
                <a:spcPts val="133"/>
              </a:spcBef>
            </a:pPr>
            <a:r>
              <a:rPr sz="2400" b="1" spc="-67" dirty="0">
                <a:solidFill>
                  <a:srgbClr val="D9D9D9"/>
                </a:solidFill>
                <a:latin typeface="Calibri"/>
                <a:cs typeface="Calibri"/>
              </a:rPr>
              <a:t>s</a:t>
            </a:r>
            <a:endParaRPr sz="2400">
              <a:latin typeface="Calibri"/>
              <a:cs typeface="Calibri"/>
            </a:endParaRPr>
          </a:p>
        </p:txBody>
      </p:sp>
      <p:grpSp>
        <p:nvGrpSpPr>
          <p:cNvPr id="14" name="object 14"/>
          <p:cNvGrpSpPr/>
          <p:nvPr/>
        </p:nvGrpSpPr>
        <p:grpSpPr>
          <a:xfrm>
            <a:off x="3342385" y="3011423"/>
            <a:ext cx="5718387" cy="1007533"/>
            <a:chOff x="2506789" y="2258567"/>
            <a:chExt cx="4288790" cy="755650"/>
          </a:xfrm>
        </p:grpSpPr>
        <p:sp>
          <p:nvSpPr>
            <p:cNvPr id="15" name="object 15"/>
            <p:cNvSpPr/>
            <p:nvPr/>
          </p:nvSpPr>
          <p:spPr>
            <a:xfrm>
              <a:off x="2511551" y="2625851"/>
              <a:ext cx="4279265" cy="383540"/>
            </a:xfrm>
            <a:custGeom>
              <a:avLst/>
              <a:gdLst/>
              <a:ahLst/>
              <a:cxnLst/>
              <a:rect l="l" t="t" r="r" b="b"/>
              <a:pathLst>
                <a:path w="4279265" h="383539">
                  <a:moveTo>
                    <a:pt x="2921508" y="0"/>
                  </a:moveTo>
                  <a:lnTo>
                    <a:pt x="4279138" y="383286"/>
                  </a:lnTo>
                </a:path>
                <a:path w="4279265" h="383539">
                  <a:moveTo>
                    <a:pt x="1526539" y="22860"/>
                  </a:moveTo>
                  <a:lnTo>
                    <a:pt x="0" y="345567"/>
                  </a:lnTo>
                </a:path>
              </a:pathLst>
            </a:custGeom>
            <a:ln w="9144">
              <a:solidFill>
                <a:srgbClr val="00C2FF"/>
              </a:solidFill>
            </a:ln>
          </p:spPr>
          <p:txBody>
            <a:bodyPr wrap="square" lIns="0" tIns="0" rIns="0" bIns="0" rtlCol="0"/>
            <a:lstStyle/>
            <a:p>
              <a:endParaRPr sz="2400"/>
            </a:p>
          </p:txBody>
        </p:sp>
        <p:sp>
          <p:nvSpPr>
            <p:cNvPr id="16" name="object 16"/>
            <p:cNvSpPr/>
            <p:nvPr/>
          </p:nvSpPr>
          <p:spPr>
            <a:xfrm>
              <a:off x="4003547" y="2258567"/>
              <a:ext cx="1420495" cy="463550"/>
            </a:xfrm>
            <a:custGeom>
              <a:avLst/>
              <a:gdLst/>
              <a:ahLst/>
              <a:cxnLst/>
              <a:rect l="l" t="t" r="r" b="b"/>
              <a:pathLst>
                <a:path w="1420495" h="463550">
                  <a:moveTo>
                    <a:pt x="1420368" y="0"/>
                  </a:moveTo>
                  <a:lnTo>
                    <a:pt x="0" y="0"/>
                  </a:lnTo>
                  <a:lnTo>
                    <a:pt x="0" y="463295"/>
                  </a:lnTo>
                  <a:lnTo>
                    <a:pt x="1420368" y="463295"/>
                  </a:lnTo>
                  <a:lnTo>
                    <a:pt x="1420368" y="0"/>
                  </a:lnTo>
                  <a:close/>
                </a:path>
              </a:pathLst>
            </a:custGeom>
            <a:noFill/>
          </p:spPr>
          <p:txBody>
            <a:bodyPr wrap="square" lIns="0" tIns="0" rIns="0" bIns="0" rtlCol="0"/>
            <a:lstStyle/>
            <a:p>
              <a:endParaRPr sz="2400"/>
            </a:p>
          </p:txBody>
        </p:sp>
      </p:grpSp>
      <p:sp>
        <p:nvSpPr>
          <p:cNvPr id="17" name="object 17"/>
          <p:cNvSpPr txBox="1"/>
          <p:nvPr/>
        </p:nvSpPr>
        <p:spPr>
          <a:xfrm>
            <a:off x="5444744" y="3163486"/>
            <a:ext cx="273472" cy="386430"/>
          </a:xfrm>
          <a:prstGeom prst="rect">
            <a:avLst/>
          </a:prstGeom>
        </p:spPr>
        <p:txBody>
          <a:bodyPr vert="horz" wrap="square" lIns="0" tIns="16933" rIns="0" bIns="0" rtlCol="0">
            <a:spAutoFit/>
          </a:bodyPr>
          <a:lstStyle/>
          <a:p>
            <a:pPr marL="16933">
              <a:spcBef>
                <a:spcPts val="133"/>
              </a:spcBef>
            </a:pPr>
            <a:r>
              <a:rPr sz="2400" spc="-67" dirty="0">
                <a:solidFill>
                  <a:srgbClr val="99D3FF"/>
                </a:solidFill>
                <a:latin typeface="Wingdings"/>
                <a:cs typeface="Wingdings"/>
              </a:rPr>
              <a:t></a:t>
            </a:r>
            <a:endParaRPr sz="2400">
              <a:latin typeface="Wingdings"/>
              <a:cs typeface="Wingdings"/>
            </a:endParaRPr>
          </a:p>
        </p:txBody>
      </p:sp>
      <p:sp>
        <p:nvSpPr>
          <p:cNvPr id="18" name="object 18"/>
          <p:cNvSpPr txBox="1"/>
          <p:nvPr/>
        </p:nvSpPr>
        <p:spPr>
          <a:xfrm>
            <a:off x="5843694" y="3256619"/>
            <a:ext cx="646007" cy="302455"/>
          </a:xfrm>
          <a:prstGeom prst="rect">
            <a:avLst/>
          </a:prstGeom>
        </p:spPr>
        <p:txBody>
          <a:bodyPr vert="horz" wrap="square" lIns="0" tIns="0" rIns="0" bIns="0" rtlCol="0">
            <a:spAutoFit/>
          </a:bodyPr>
          <a:lstStyle/>
          <a:p>
            <a:pPr>
              <a:lnSpc>
                <a:spcPts val="2280"/>
              </a:lnSpc>
            </a:pPr>
            <a:r>
              <a:rPr sz="2400" b="1" spc="-13" dirty="0">
                <a:solidFill>
                  <a:srgbClr val="99D3FF"/>
                </a:solidFill>
                <a:latin typeface="Calibri"/>
                <a:cs typeface="Calibri"/>
              </a:rPr>
              <a:t>Facts</a:t>
            </a:r>
            <a:endParaRPr sz="2400">
              <a:latin typeface="Calibri"/>
              <a:cs typeface="Calibri"/>
            </a:endParaRPr>
          </a:p>
        </p:txBody>
      </p:sp>
      <p:sp>
        <p:nvSpPr>
          <p:cNvPr id="19" name="object 19"/>
          <p:cNvSpPr/>
          <p:nvPr/>
        </p:nvSpPr>
        <p:spPr>
          <a:xfrm>
            <a:off x="8048752" y="717296"/>
            <a:ext cx="3048000" cy="619760"/>
          </a:xfrm>
          <a:custGeom>
            <a:avLst/>
            <a:gdLst/>
            <a:ahLst/>
            <a:cxnLst/>
            <a:rect l="l" t="t" r="r" b="b"/>
            <a:pathLst>
              <a:path w="2286000" h="464819">
                <a:moveTo>
                  <a:pt x="2285999" y="0"/>
                </a:moveTo>
                <a:lnTo>
                  <a:pt x="0" y="0"/>
                </a:lnTo>
                <a:lnTo>
                  <a:pt x="0" y="464820"/>
                </a:lnTo>
                <a:lnTo>
                  <a:pt x="2285999" y="464820"/>
                </a:lnTo>
                <a:lnTo>
                  <a:pt x="2285999" y="0"/>
                </a:lnTo>
                <a:close/>
              </a:path>
            </a:pathLst>
          </a:custGeom>
          <a:solidFill>
            <a:srgbClr val="99E7FF"/>
          </a:solidFill>
        </p:spPr>
        <p:txBody>
          <a:bodyPr wrap="square" lIns="0" tIns="0" rIns="0" bIns="0" rtlCol="0"/>
          <a:lstStyle/>
          <a:p>
            <a:endParaRPr sz="2400"/>
          </a:p>
        </p:txBody>
      </p:sp>
      <p:sp>
        <p:nvSpPr>
          <p:cNvPr id="20" name="object 20"/>
          <p:cNvSpPr txBox="1"/>
          <p:nvPr/>
        </p:nvSpPr>
        <p:spPr>
          <a:xfrm>
            <a:off x="8983642" y="869019"/>
            <a:ext cx="1180253" cy="386430"/>
          </a:xfrm>
          <a:prstGeom prst="rect">
            <a:avLst/>
          </a:prstGeom>
        </p:spPr>
        <p:txBody>
          <a:bodyPr vert="horz" wrap="square" lIns="0" tIns="16933" rIns="0" bIns="0" rtlCol="0">
            <a:spAutoFit/>
          </a:bodyPr>
          <a:lstStyle/>
          <a:p>
            <a:pPr marL="16933">
              <a:spcBef>
                <a:spcPts val="133"/>
              </a:spcBef>
            </a:pPr>
            <a:r>
              <a:rPr sz="2400" b="1" spc="-13" dirty="0">
                <a:solidFill>
                  <a:srgbClr val="404040"/>
                </a:solidFill>
                <a:latin typeface="Calibri"/>
                <a:cs typeface="Calibri"/>
              </a:rPr>
              <a:t>Usually…</a:t>
            </a:r>
            <a:endParaRPr sz="2400">
              <a:latin typeface="Calibri"/>
              <a:cs typeface="Calibri"/>
            </a:endParaRPr>
          </a:p>
        </p:txBody>
      </p:sp>
      <p:graphicFrame>
        <p:nvGraphicFramePr>
          <p:cNvPr id="21" name="object 21"/>
          <p:cNvGraphicFramePr>
            <a:graphicFrameLocks noGrp="1"/>
          </p:cNvGraphicFramePr>
          <p:nvPr>
            <p:extLst>
              <p:ext uri="{D42A27DB-BD31-4B8C-83A1-F6EECF244321}">
                <p14:modId xmlns:p14="http://schemas.microsoft.com/office/powerpoint/2010/main" val="196702331"/>
              </p:ext>
            </p:extLst>
          </p:nvPr>
        </p:nvGraphicFramePr>
        <p:xfrm>
          <a:off x="2582575" y="4607069"/>
          <a:ext cx="1391073" cy="1524000"/>
        </p:xfrm>
        <a:graphic>
          <a:graphicData uri="http://schemas.openxmlformats.org/drawingml/2006/table">
            <a:tbl>
              <a:tblPr firstRow="1" bandRow="1">
                <a:tableStyleId>{2D5ABB26-0587-4C30-8999-92F81FD0307C}</a:tableStyleId>
              </a:tblPr>
              <a:tblGrid>
                <a:gridCol w="1391073">
                  <a:extLst>
                    <a:ext uri="{9D8B030D-6E8A-4147-A177-3AD203B41FA5}">
                      <a16:colId xmlns:a16="http://schemas.microsoft.com/office/drawing/2014/main" val="20000"/>
                    </a:ext>
                  </a:extLst>
                </a:gridCol>
              </a:tblGrid>
              <a:tr h="254000">
                <a:tc>
                  <a:txBody>
                    <a:bodyPr/>
                    <a:lstStyle/>
                    <a:p>
                      <a:pPr marL="635" algn="ctr">
                        <a:lnSpc>
                          <a:spcPts val="1175"/>
                        </a:lnSpc>
                        <a:spcBef>
                          <a:spcPts val="225"/>
                        </a:spcBef>
                      </a:pPr>
                      <a:r>
                        <a:rPr sz="1600" b="1" spc="-10" dirty="0">
                          <a:latin typeface="Arial"/>
                          <a:cs typeface="Arial"/>
                        </a:rPr>
                        <a:t>Dim_Product</a:t>
                      </a:r>
                      <a:endParaRPr sz="1600" dirty="0">
                        <a:latin typeface="Arial"/>
                        <a:cs typeface="Arial"/>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extLst>
                  <a:ext uri="{0D108BD9-81ED-4DB2-BD59-A6C34878D82A}">
                    <a16:rowId xmlns:a16="http://schemas.microsoft.com/office/drawing/2014/main" val="10000"/>
                  </a:ext>
                </a:extLst>
              </a:tr>
              <a:tr h="254000">
                <a:tc>
                  <a:txBody>
                    <a:bodyPr/>
                    <a:lstStyle/>
                    <a:p>
                      <a:pPr algn="ctr">
                        <a:lnSpc>
                          <a:spcPts val="1175"/>
                        </a:lnSpc>
                        <a:spcBef>
                          <a:spcPts val="225"/>
                        </a:spcBef>
                      </a:pPr>
                      <a:r>
                        <a:rPr sz="1600" spc="-10" dirty="0">
                          <a:latin typeface="Arial MT"/>
                          <a:cs typeface="Arial MT"/>
                        </a:rPr>
                        <a:t>product_id</a:t>
                      </a:r>
                      <a:endParaRPr sz="16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ts val="1170"/>
                        </a:lnSpc>
                        <a:spcBef>
                          <a:spcPts val="225"/>
                        </a:spcBef>
                      </a:pPr>
                      <a:r>
                        <a:rPr sz="1600" spc="-20" dirty="0">
                          <a:latin typeface="Arial MT"/>
                          <a:cs typeface="Arial MT"/>
                        </a:rPr>
                        <a:t>name</a:t>
                      </a:r>
                      <a:endParaRPr sz="16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marL="2540" algn="ctr">
                        <a:lnSpc>
                          <a:spcPts val="1170"/>
                        </a:lnSpc>
                        <a:spcBef>
                          <a:spcPts val="225"/>
                        </a:spcBef>
                      </a:pPr>
                      <a:r>
                        <a:rPr sz="1600" spc="-10" dirty="0">
                          <a:latin typeface="Arial MT"/>
                          <a:cs typeface="Arial MT"/>
                        </a:rPr>
                        <a:t>category</a:t>
                      </a:r>
                      <a:endParaRPr sz="16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marL="1905" algn="ctr">
                        <a:lnSpc>
                          <a:spcPts val="1170"/>
                        </a:lnSpc>
                        <a:spcBef>
                          <a:spcPts val="225"/>
                        </a:spcBef>
                      </a:pPr>
                      <a:r>
                        <a:rPr sz="1600" spc="-10" dirty="0">
                          <a:latin typeface="Arial MT"/>
                          <a:cs typeface="Arial MT"/>
                        </a:rPr>
                        <a:t>subcategory</a:t>
                      </a:r>
                      <a:endParaRPr sz="16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algn="ctr">
                        <a:lnSpc>
                          <a:spcPts val="1170"/>
                        </a:lnSpc>
                        <a:spcBef>
                          <a:spcPts val="225"/>
                        </a:spcBef>
                      </a:pPr>
                      <a:r>
                        <a:rPr sz="1600" spc="-10" dirty="0">
                          <a:latin typeface="Arial MT"/>
                          <a:cs typeface="Arial MT"/>
                        </a:rPr>
                        <a:t>dimensions</a:t>
                      </a:r>
                      <a:endParaRPr sz="16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graphicFrame>
        <p:nvGraphicFramePr>
          <p:cNvPr id="22" name="object 22"/>
          <p:cNvGraphicFramePr>
            <a:graphicFrameLocks noGrp="1"/>
          </p:cNvGraphicFramePr>
          <p:nvPr>
            <p:extLst>
              <p:ext uri="{D42A27DB-BD31-4B8C-83A1-F6EECF244321}">
                <p14:modId xmlns:p14="http://schemas.microsoft.com/office/powerpoint/2010/main" val="136962765"/>
              </p:ext>
            </p:extLst>
          </p:nvPr>
        </p:nvGraphicFramePr>
        <p:xfrm>
          <a:off x="8512961" y="4531217"/>
          <a:ext cx="1391073" cy="2286000"/>
        </p:xfrm>
        <a:graphic>
          <a:graphicData uri="http://schemas.openxmlformats.org/drawingml/2006/table">
            <a:tbl>
              <a:tblPr firstRow="1" bandRow="1">
                <a:tableStyleId>{2D5ABB26-0587-4C30-8999-92F81FD0307C}</a:tableStyleId>
              </a:tblPr>
              <a:tblGrid>
                <a:gridCol w="1391073">
                  <a:extLst>
                    <a:ext uri="{9D8B030D-6E8A-4147-A177-3AD203B41FA5}">
                      <a16:colId xmlns:a16="http://schemas.microsoft.com/office/drawing/2014/main" val="20000"/>
                    </a:ext>
                  </a:extLst>
                </a:gridCol>
              </a:tblGrid>
              <a:tr h="254000">
                <a:tc>
                  <a:txBody>
                    <a:bodyPr/>
                    <a:lstStyle/>
                    <a:p>
                      <a:pPr marL="1270" algn="ctr">
                        <a:lnSpc>
                          <a:spcPts val="1280"/>
                        </a:lnSpc>
                        <a:spcBef>
                          <a:spcPts val="120"/>
                        </a:spcBef>
                      </a:pPr>
                      <a:r>
                        <a:rPr sz="1500" b="1" spc="-10" dirty="0">
                          <a:latin typeface="Calibri"/>
                          <a:cs typeface="Calibri"/>
                        </a:rPr>
                        <a:t>Dim_Date</a:t>
                      </a:r>
                      <a:endParaRPr sz="1500" dirty="0">
                        <a:latin typeface="Calibri"/>
                        <a:cs typeface="Calibri"/>
                      </a:endParaRPr>
                    </a:p>
                  </a:txBody>
                  <a:tcPr marL="0" marR="0" marT="203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extLst>
                  <a:ext uri="{0D108BD9-81ED-4DB2-BD59-A6C34878D82A}">
                    <a16:rowId xmlns:a16="http://schemas.microsoft.com/office/drawing/2014/main" val="10000"/>
                  </a:ext>
                </a:extLst>
              </a:tr>
              <a:tr h="254000">
                <a:tc>
                  <a:txBody>
                    <a:bodyPr/>
                    <a:lstStyle/>
                    <a:p>
                      <a:pPr marL="2540" algn="ctr">
                        <a:lnSpc>
                          <a:spcPts val="1280"/>
                        </a:lnSpc>
                        <a:spcBef>
                          <a:spcPts val="120"/>
                        </a:spcBef>
                      </a:pPr>
                      <a:r>
                        <a:rPr sz="1500" spc="-10" dirty="0">
                          <a:latin typeface="Calibri"/>
                          <a:cs typeface="Calibri"/>
                        </a:rPr>
                        <a:t>date_id</a:t>
                      </a:r>
                      <a:endParaRPr sz="1500">
                        <a:latin typeface="Calibri"/>
                        <a:cs typeface="Calibri"/>
                      </a:endParaRPr>
                    </a:p>
                  </a:txBody>
                  <a:tcPr marL="0" marR="0" marT="203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F1F1"/>
                    </a:solidFill>
                  </a:tcPr>
                </a:tc>
                <a:extLst>
                  <a:ext uri="{0D108BD9-81ED-4DB2-BD59-A6C34878D82A}">
                    <a16:rowId xmlns:a16="http://schemas.microsoft.com/office/drawing/2014/main" val="10001"/>
                  </a:ext>
                </a:extLst>
              </a:tr>
              <a:tr h="254000">
                <a:tc>
                  <a:txBody>
                    <a:bodyPr/>
                    <a:lstStyle/>
                    <a:p>
                      <a:pPr marL="2540" algn="ctr">
                        <a:lnSpc>
                          <a:spcPts val="1280"/>
                        </a:lnSpc>
                        <a:spcBef>
                          <a:spcPts val="120"/>
                        </a:spcBef>
                      </a:pPr>
                      <a:r>
                        <a:rPr sz="1500" spc="-20" dirty="0">
                          <a:latin typeface="Calibri"/>
                          <a:cs typeface="Calibri"/>
                        </a:rPr>
                        <a:t>year</a:t>
                      </a:r>
                      <a:endParaRPr sz="1500">
                        <a:latin typeface="Calibri"/>
                        <a:cs typeface="Calibri"/>
                      </a:endParaRPr>
                    </a:p>
                  </a:txBody>
                  <a:tcPr marL="0" marR="0" marT="203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F1F1"/>
                    </a:solidFill>
                  </a:tcPr>
                </a:tc>
                <a:extLst>
                  <a:ext uri="{0D108BD9-81ED-4DB2-BD59-A6C34878D82A}">
                    <a16:rowId xmlns:a16="http://schemas.microsoft.com/office/drawing/2014/main" val="10002"/>
                  </a:ext>
                </a:extLst>
              </a:tr>
              <a:tr h="254000">
                <a:tc>
                  <a:txBody>
                    <a:bodyPr/>
                    <a:lstStyle/>
                    <a:p>
                      <a:pPr marL="635" algn="ctr">
                        <a:lnSpc>
                          <a:spcPts val="1280"/>
                        </a:lnSpc>
                        <a:spcBef>
                          <a:spcPts val="120"/>
                        </a:spcBef>
                      </a:pPr>
                      <a:r>
                        <a:rPr sz="1500" spc="-10" dirty="0">
                          <a:latin typeface="Calibri"/>
                          <a:cs typeface="Calibri"/>
                        </a:rPr>
                        <a:t>quarter</a:t>
                      </a:r>
                      <a:endParaRPr sz="1500">
                        <a:latin typeface="Calibri"/>
                        <a:cs typeface="Calibri"/>
                      </a:endParaRPr>
                    </a:p>
                  </a:txBody>
                  <a:tcPr marL="0" marR="0" marT="203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F1F1"/>
                    </a:solidFill>
                  </a:tcPr>
                </a:tc>
                <a:extLst>
                  <a:ext uri="{0D108BD9-81ED-4DB2-BD59-A6C34878D82A}">
                    <a16:rowId xmlns:a16="http://schemas.microsoft.com/office/drawing/2014/main" val="10003"/>
                  </a:ext>
                </a:extLst>
              </a:tr>
              <a:tr h="254000">
                <a:tc>
                  <a:txBody>
                    <a:bodyPr/>
                    <a:lstStyle/>
                    <a:p>
                      <a:pPr marL="2540" algn="ctr">
                        <a:lnSpc>
                          <a:spcPts val="1280"/>
                        </a:lnSpc>
                        <a:spcBef>
                          <a:spcPts val="120"/>
                        </a:spcBef>
                      </a:pPr>
                      <a:r>
                        <a:rPr sz="1500" spc="-20" dirty="0">
                          <a:latin typeface="Calibri"/>
                          <a:cs typeface="Calibri"/>
                        </a:rPr>
                        <a:t>month</a:t>
                      </a:r>
                      <a:endParaRPr sz="1500" dirty="0">
                        <a:latin typeface="Calibri"/>
                        <a:cs typeface="Calibri"/>
                      </a:endParaRPr>
                    </a:p>
                  </a:txBody>
                  <a:tcPr marL="0" marR="0" marT="203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marL="2540" algn="ctr">
                        <a:lnSpc>
                          <a:spcPts val="1280"/>
                        </a:lnSpc>
                        <a:spcBef>
                          <a:spcPts val="120"/>
                        </a:spcBef>
                      </a:pPr>
                      <a:r>
                        <a:rPr sz="1500" spc="-20" dirty="0">
                          <a:latin typeface="Calibri"/>
                          <a:cs typeface="Calibri"/>
                        </a:rPr>
                        <a:t>week</a:t>
                      </a:r>
                      <a:endParaRPr sz="1500">
                        <a:latin typeface="Calibri"/>
                        <a:cs typeface="Calibri"/>
                      </a:endParaRPr>
                    </a:p>
                  </a:txBody>
                  <a:tcPr marL="0" marR="0" marT="203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r h="254000">
                <a:tc>
                  <a:txBody>
                    <a:bodyPr/>
                    <a:lstStyle/>
                    <a:p>
                      <a:pPr marL="1905" algn="ctr">
                        <a:lnSpc>
                          <a:spcPts val="1280"/>
                        </a:lnSpc>
                        <a:spcBef>
                          <a:spcPts val="120"/>
                        </a:spcBef>
                      </a:pPr>
                      <a:r>
                        <a:rPr sz="1500" spc="-25" dirty="0">
                          <a:latin typeface="Calibri"/>
                          <a:cs typeface="Calibri"/>
                        </a:rPr>
                        <a:t>day</a:t>
                      </a:r>
                      <a:endParaRPr sz="1500" dirty="0">
                        <a:latin typeface="Calibri"/>
                        <a:cs typeface="Calibri"/>
                      </a:endParaRPr>
                    </a:p>
                  </a:txBody>
                  <a:tcPr marL="0" marR="0" marT="203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6"/>
                  </a:ext>
                </a:extLst>
              </a:tr>
              <a:tr h="254000">
                <a:tc>
                  <a:txBody>
                    <a:bodyPr/>
                    <a:lstStyle/>
                    <a:p>
                      <a:pPr marL="1905" algn="ctr">
                        <a:lnSpc>
                          <a:spcPts val="1280"/>
                        </a:lnSpc>
                        <a:spcBef>
                          <a:spcPts val="120"/>
                        </a:spcBef>
                      </a:pPr>
                      <a:r>
                        <a:rPr sz="1500" spc="-10" dirty="0">
                          <a:latin typeface="Calibri"/>
                          <a:cs typeface="Calibri"/>
                        </a:rPr>
                        <a:t>weekday</a:t>
                      </a:r>
                      <a:endParaRPr sz="1500">
                        <a:latin typeface="Calibri"/>
                        <a:cs typeface="Calibri"/>
                      </a:endParaRPr>
                    </a:p>
                  </a:txBody>
                  <a:tcPr marL="0" marR="0" marT="203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7"/>
                  </a:ext>
                </a:extLst>
              </a:tr>
              <a:tr h="254000">
                <a:tc>
                  <a:txBody>
                    <a:bodyPr/>
                    <a:lstStyle/>
                    <a:p>
                      <a:pPr marL="1270" algn="ctr">
                        <a:lnSpc>
                          <a:spcPts val="1280"/>
                        </a:lnSpc>
                        <a:spcBef>
                          <a:spcPts val="120"/>
                        </a:spcBef>
                      </a:pPr>
                      <a:r>
                        <a:rPr sz="1500" spc="-10" dirty="0">
                          <a:latin typeface="Calibri"/>
                          <a:cs typeface="Calibri"/>
                        </a:rPr>
                        <a:t>holiday_flag</a:t>
                      </a:r>
                      <a:endParaRPr sz="1500" dirty="0">
                        <a:latin typeface="Calibri"/>
                        <a:cs typeface="Calibri"/>
                      </a:endParaRPr>
                    </a:p>
                  </a:txBody>
                  <a:tcPr marL="0" marR="0" marT="203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8"/>
                  </a:ext>
                </a:extLst>
              </a:tr>
            </a:tbl>
          </a:graphicData>
        </a:graphic>
      </p:graphicFrame>
      <p:graphicFrame>
        <p:nvGraphicFramePr>
          <p:cNvPr id="23" name="object 23"/>
          <p:cNvGraphicFramePr>
            <a:graphicFrameLocks noGrp="1"/>
          </p:cNvGraphicFramePr>
          <p:nvPr>
            <p:extLst>
              <p:ext uri="{D42A27DB-BD31-4B8C-83A1-F6EECF244321}">
                <p14:modId xmlns:p14="http://schemas.microsoft.com/office/powerpoint/2010/main" val="3176679172"/>
              </p:ext>
            </p:extLst>
          </p:nvPr>
        </p:nvGraphicFramePr>
        <p:xfrm>
          <a:off x="5531104" y="65861"/>
          <a:ext cx="1495890" cy="5752059"/>
        </p:xfrm>
        <a:graphic>
          <a:graphicData uri="http://schemas.openxmlformats.org/drawingml/2006/table">
            <a:tbl>
              <a:tblPr firstRow="1" bandRow="1">
                <a:tableStyleId>{2D5ABB26-0587-4C30-8999-92F81FD0307C}</a:tableStyleId>
              </a:tblPr>
              <a:tblGrid>
                <a:gridCol w="650467">
                  <a:extLst>
                    <a:ext uri="{9D8B030D-6E8A-4147-A177-3AD203B41FA5}">
                      <a16:colId xmlns:a16="http://schemas.microsoft.com/office/drawing/2014/main" val="20000"/>
                    </a:ext>
                  </a:extLst>
                </a:gridCol>
                <a:gridCol w="845423">
                  <a:extLst>
                    <a:ext uri="{9D8B030D-6E8A-4147-A177-3AD203B41FA5}">
                      <a16:colId xmlns:a16="http://schemas.microsoft.com/office/drawing/2014/main" val="20001"/>
                    </a:ext>
                  </a:extLst>
                </a:gridCol>
              </a:tblGrid>
              <a:tr h="201770">
                <a:tc gridSpan="2">
                  <a:txBody>
                    <a:bodyPr/>
                    <a:lstStyle/>
                    <a:p>
                      <a:pPr marL="84455" algn="ctr">
                        <a:lnSpc>
                          <a:spcPts val="1285"/>
                        </a:lnSpc>
                        <a:spcBef>
                          <a:spcPts val="115"/>
                        </a:spcBef>
                      </a:pPr>
                      <a:r>
                        <a:rPr sz="1600" b="1" spc="-10" dirty="0" err="1">
                          <a:latin typeface="Calibri"/>
                          <a:cs typeface="Calibri"/>
                        </a:rPr>
                        <a:t>Dim_Customer</a:t>
                      </a:r>
                      <a:endParaRPr sz="1600" dirty="0">
                        <a:latin typeface="Calibri"/>
                        <a:cs typeface="Calibri"/>
                      </a:endParaRPr>
                    </a:p>
                  </a:txBody>
                  <a:tcPr marL="0" marR="0" marT="194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hMerge="1">
                  <a:txBody>
                    <a:bodyPr/>
                    <a:lstStyle/>
                    <a:p>
                      <a:endParaRPr/>
                    </a:p>
                  </a:txBody>
                  <a:tcPr marL="0" marR="0" marT="0" marB="0"/>
                </a:tc>
                <a:extLst>
                  <a:ext uri="{0D108BD9-81ED-4DB2-BD59-A6C34878D82A}">
                    <a16:rowId xmlns:a16="http://schemas.microsoft.com/office/drawing/2014/main" val="10000"/>
                  </a:ext>
                </a:extLst>
              </a:tr>
              <a:tr h="330747">
                <a:tc gridSpan="2">
                  <a:txBody>
                    <a:bodyPr/>
                    <a:lstStyle/>
                    <a:p>
                      <a:pPr marL="161925" algn="ctr">
                        <a:lnSpc>
                          <a:spcPts val="1285"/>
                        </a:lnSpc>
                        <a:spcBef>
                          <a:spcPts val="115"/>
                        </a:spcBef>
                      </a:pPr>
                      <a:r>
                        <a:rPr sz="1600" spc="-10" dirty="0">
                          <a:latin typeface="Calibri"/>
                          <a:cs typeface="Calibri"/>
                        </a:rPr>
                        <a:t>customer_id</a:t>
                      </a:r>
                      <a:endParaRPr sz="1600" dirty="0">
                        <a:latin typeface="Calibri"/>
                        <a:cs typeface="Calibri"/>
                      </a:endParaRPr>
                    </a:p>
                  </a:txBody>
                  <a:tcPr marL="0" marR="0" marT="194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hMerge="1">
                  <a:txBody>
                    <a:bodyPr/>
                    <a:lstStyle/>
                    <a:p>
                      <a:endParaRPr/>
                    </a:p>
                  </a:txBody>
                  <a:tcPr marL="0" marR="0" marT="0" marB="0"/>
                </a:tc>
                <a:extLst>
                  <a:ext uri="{0D108BD9-81ED-4DB2-BD59-A6C34878D82A}">
                    <a16:rowId xmlns:a16="http://schemas.microsoft.com/office/drawing/2014/main" val="10001"/>
                  </a:ext>
                </a:extLst>
              </a:tr>
              <a:tr h="330747">
                <a:tc gridSpan="2">
                  <a:txBody>
                    <a:bodyPr/>
                    <a:lstStyle/>
                    <a:p>
                      <a:pPr marL="230504" algn="ctr">
                        <a:lnSpc>
                          <a:spcPts val="1285"/>
                        </a:lnSpc>
                        <a:spcBef>
                          <a:spcPts val="115"/>
                        </a:spcBef>
                      </a:pPr>
                      <a:r>
                        <a:rPr sz="1600" dirty="0">
                          <a:latin typeface="Calibri"/>
                          <a:cs typeface="Calibri"/>
                        </a:rPr>
                        <a:t>first</a:t>
                      </a:r>
                      <a:r>
                        <a:rPr sz="1600" spc="-10" dirty="0">
                          <a:latin typeface="Calibri"/>
                          <a:cs typeface="Calibri"/>
                        </a:rPr>
                        <a:t> </a:t>
                      </a:r>
                      <a:r>
                        <a:rPr sz="1600" spc="-20" dirty="0">
                          <a:latin typeface="Calibri"/>
                          <a:cs typeface="Calibri"/>
                        </a:rPr>
                        <a:t>name</a:t>
                      </a:r>
                      <a:endParaRPr sz="1600" dirty="0">
                        <a:latin typeface="Calibri"/>
                        <a:cs typeface="Calibri"/>
                      </a:endParaRPr>
                    </a:p>
                  </a:txBody>
                  <a:tcPr marL="0" marR="0" marT="194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hMerge="1">
                  <a:txBody>
                    <a:bodyPr/>
                    <a:lstStyle/>
                    <a:p>
                      <a:endParaRPr/>
                    </a:p>
                  </a:txBody>
                  <a:tcPr marL="0" marR="0" marT="0" marB="0"/>
                </a:tc>
                <a:extLst>
                  <a:ext uri="{0D108BD9-81ED-4DB2-BD59-A6C34878D82A}">
                    <a16:rowId xmlns:a16="http://schemas.microsoft.com/office/drawing/2014/main" val="10002"/>
                  </a:ext>
                </a:extLst>
              </a:tr>
              <a:tr h="330747">
                <a:tc gridSpan="2">
                  <a:txBody>
                    <a:bodyPr/>
                    <a:lstStyle/>
                    <a:p>
                      <a:pPr marL="243204" algn="ctr">
                        <a:lnSpc>
                          <a:spcPts val="1285"/>
                        </a:lnSpc>
                        <a:spcBef>
                          <a:spcPts val="114"/>
                        </a:spcBef>
                      </a:pPr>
                      <a:r>
                        <a:rPr sz="1600" dirty="0">
                          <a:latin typeface="Calibri"/>
                          <a:cs typeface="Calibri"/>
                        </a:rPr>
                        <a:t>last</a:t>
                      </a:r>
                      <a:r>
                        <a:rPr sz="1600" spc="-10" dirty="0">
                          <a:latin typeface="Calibri"/>
                          <a:cs typeface="Calibri"/>
                        </a:rPr>
                        <a:t> </a:t>
                      </a:r>
                      <a:r>
                        <a:rPr sz="1600" spc="-20" dirty="0">
                          <a:latin typeface="Calibri"/>
                          <a:cs typeface="Calibri"/>
                        </a:rPr>
                        <a:t>name</a:t>
                      </a:r>
                      <a:endParaRPr sz="1600" dirty="0">
                        <a:latin typeface="Calibri"/>
                        <a:cs typeface="Calibri"/>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hMerge="1">
                  <a:txBody>
                    <a:bodyPr/>
                    <a:lstStyle/>
                    <a:p>
                      <a:endParaRPr/>
                    </a:p>
                  </a:txBody>
                  <a:tcPr marL="0" marR="0" marT="0" marB="0"/>
                </a:tc>
                <a:extLst>
                  <a:ext uri="{0D108BD9-81ED-4DB2-BD59-A6C34878D82A}">
                    <a16:rowId xmlns:a16="http://schemas.microsoft.com/office/drawing/2014/main" val="10003"/>
                  </a:ext>
                </a:extLst>
              </a:tr>
              <a:tr h="330747">
                <a:tc gridSpan="2">
                  <a:txBody>
                    <a:bodyPr/>
                    <a:lstStyle/>
                    <a:p>
                      <a:pPr algn="ctr">
                        <a:lnSpc>
                          <a:spcPts val="1285"/>
                        </a:lnSpc>
                        <a:spcBef>
                          <a:spcPts val="114"/>
                        </a:spcBef>
                      </a:pPr>
                      <a:r>
                        <a:rPr sz="1600" spc="-25" dirty="0">
                          <a:latin typeface="Calibri"/>
                          <a:cs typeface="Calibri"/>
                        </a:rPr>
                        <a:t>sex</a:t>
                      </a:r>
                      <a:endParaRPr sz="1600" dirty="0">
                        <a:latin typeface="Calibri"/>
                        <a:cs typeface="Calibri"/>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hMerge="1">
                  <a:txBody>
                    <a:bodyPr/>
                    <a:lstStyle/>
                    <a:p>
                      <a:endParaRPr/>
                    </a:p>
                  </a:txBody>
                  <a:tcPr marL="0" marR="0" marT="0" marB="0"/>
                </a:tc>
                <a:extLst>
                  <a:ext uri="{0D108BD9-81ED-4DB2-BD59-A6C34878D82A}">
                    <a16:rowId xmlns:a16="http://schemas.microsoft.com/office/drawing/2014/main" val="10004"/>
                  </a:ext>
                </a:extLst>
              </a:tr>
              <a:tr h="330747">
                <a:tc gridSpan="2">
                  <a:txBody>
                    <a:bodyPr/>
                    <a:lstStyle/>
                    <a:p>
                      <a:pPr algn="ctr">
                        <a:lnSpc>
                          <a:spcPts val="1285"/>
                        </a:lnSpc>
                        <a:spcBef>
                          <a:spcPts val="114"/>
                        </a:spcBef>
                      </a:pPr>
                      <a:r>
                        <a:rPr sz="1600" spc="-20" dirty="0">
                          <a:latin typeface="Calibri"/>
                          <a:cs typeface="Calibri"/>
                        </a:rPr>
                        <a:t>city</a:t>
                      </a:r>
                      <a:endParaRPr sz="1600" dirty="0">
                        <a:latin typeface="Calibri"/>
                        <a:cs typeface="Calibri"/>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hMerge="1">
                  <a:txBody>
                    <a:bodyPr/>
                    <a:lstStyle/>
                    <a:p>
                      <a:endParaRPr/>
                    </a:p>
                  </a:txBody>
                  <a:tcPr marL="0" marR="0" marT="0" marB="0"/>
                </a:tc>
                <a:extLst>
                  <a:ext uri="{0D108BD9-81ED-4DB2-BD59-A6C34878D82A}">
                    <a16:rowId xmlns:a16="http://schemas.microsoft.com/office/drawing/2014/main" val="10005"/>
                  </a:ext>
                </a:extLst>
              </a:tr>
              <a:tr h="1945227">
                <a:tc>
                  <a:txBody>
                    <a:bodyPr/>
                    <a:lstStyle/>
                    <a:p>
                      <a:pPr algn="ctr">
                        <a:lnSpc>
                          <a:spcPct val="100000"/>
                        </a:lnSpc>
                      </a:pPr>
                      <a:endParaRPr sz="1400">
                        <a:latin typeface="Times New Roman"/>
                        <a:cs typeface="Times New Roman"/>
                      </a:endParaRPr>
                    </a:p>
                  </a:txBody>
                  <a:tcPr marL="0" marR="0" marT="0" marB="0">
                    <a:lnR w="9525">
                      <a:solidFill>
                        <a:srgbClr val="00C2FF"/>
                      </a:solidFill>
                      <a:prstDash val="solid"/>
                    </a:lnR>
                    <a:lnT w="12700">
                      <a:solidFill>
                        <a:srgbClr val="000000"/>
                      </a:solidFill>
                      <a:prstDash val="solid"/>
                    </a:lnT>
                    <a:lnB w="12700">
                      <a:solidFill>
                        <a:srgbClr val="000000"/>
                      </a:solidFill>
                      <a:prstDash val="solid"/>
                    </a:lnB>
                  </a:tcPr>
                </a:tc>
                <a:tc>
                  <a:txBody>
                    <a:bodyPr/>
                    <a:lstStyle/>
                    <a:p>
                      <a:pPr algn="ctr">
                        <a:lnSpc>
                          <a:spcPct val="100000"/>
                        </a:lnSpc>
                      </a:pPr>
                      <a:endParaRPr sz="1400" dirty="0">
                        <a:latin typeface="Times New Roman"/>
                        <a:cs typeface="Times New Roman"/>
                      </a:endParaRPr>
                    </a:p>
                  </a:txBody>
                  <a:tcPr marL="0" marR="0" marT="0" marB="0">
                    <a:lnL w="9525">
                      <a:solidFill>
                        <a:srgbClr val="00C2FF"/>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297592">
                <a:tc gridSpan="2">
                  <a:txBody>
                    <a:bodyPr/>
                    <a:lstStyle/>
                    <a:p>
                      <a:pPr marL="3810" algn="ctr">
                        <a:lnSpc>
                          <a:spcPts val="1285"/>
                        </a:lnSpc>
                        <a:spcBef>
                          <a:spcPts val="114"/>
                        </a:spcBef>
                      </a:pPr>
                      <a:r>
                        <a:rPr sz="1800" b="1" spc="-10" dirty="0">
                          <a:solidFill>
                            <a:srgbClr val="F1F1F1"/>
                          </a:solidFill>
                          <a:latin typeface="Calibri"/>
                          <a:cs typeface="Calibri"/>
                        </a:rPr>
                        <a:t>Sales</a:t>
                      </a:r>
                      <a:endParaRPr sz="1800" dirty="0">
                        <a:latin typeface="Calibri"/>
                        <a:cs typeface="Calibri"/>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1C1C1C"/>
                    </a:solidFill>
                  </a:tcPr>
                </a:tc>
                <a:tc hMerge="1">
                  <a:txBody>
                    <a:bodyPr/>
                    <a:lstStyle/>
                    <a:p>
                      <a:endParaRPr/>
                    </a:p>
                  </a:txBody>
                  <a:tcPr marL="0" marR="0" marT="0" marB="0"/>
                </a:tc>
                <a:extLst>
                  <a:ext uri="{0D108BD9-81ED-4DB2-BD59-A6C34878D82A}">
                    <a16:rowId xmlns:a16="http://schemas.microsoft.com/office/drawing/2014/main" val="10007"/>
                  </a:ext>
                </a:extLst>
              </a:tr>
              <a:tr h="330747">
                <a:tc gridSpan="2">
                  <a:txBody>
                    <a:bodyPr/>
                    <a:lstStyle/>
                    <a:p>
                      <a:pPr marL="296545" algn="ctr">
                        <a:lnSpc>
                          <a:spcPts val="1285"/>
                        </a:lnSpc>
                        <a:spcBef>
                          <a:spcPts val="114"/>
                        </a:spcBef>
                      </a:pPr>
                      <a:r>
                        <a:rPr sz="1600" spc="-10" dirty="0">
                          <a:latin typeface="Calibri"/>
                          <a:cs typeface="Calibri"/>
                        </a:rPr>
                        <a:t>sales_id</a:t>
                      </a:r>
                      <a:endParaRPr sz="1600" dirty="0">
                        <a:latin typeface="Calibri"/>
                        <a:cs typeface="Calibri"/>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hMerge="1">
                  <a:txBody>
                    <a:bodyPr/>
                    <a:lstStyle/>
                    <a:p>
                      <a:endParaRPr/>
                    </a:p>
                  </a:txBody>
                  <a:tcPr marL="0" marR="0" marT="0" marB="0"/>
                </a:tc>
                <a:extLst>
                  <a:ext uri="{0D108BD9-81ED-4DB2-BD59-A6C34878D82A}">
                    <a16:rowId xmlns:a16="http://schemas.microsoft.com/office/drawing/2014/main" val="10008"/>
                  </a:ext>
                </a:extLst>
              </a:tr>
              <a:tr h="330747">
                <a:tc gridSpan="2">
                  <a:txBody>
                    <a:bodyPr/>
                    <a:lstStyle/>
                    <a:p>
                      <a:pPr marL="211454" algn="ctr">
                        <a:lnSpc>
                          <a:spcPts val="1285"/>
                        </a:lnSpc>
                        <a:spcBef>
                          <a:spcPts val="114"/>
                        </a:spcBef>
                      </a:pPr>
                      <a:r>
                        <a:rPr sz="1600" spc="-10" dirty="0">
                          <a:latin typeface="Calibri"/>
                          <a:cs typeface="Calibri"/>
                        </a:rPr>
                        <a:t>product_id</a:t>
                      </a:r>
                      <a:endParaRPr sz="1600" dirty="0">
                        <a:latin typeface="Calibri"/>
                        <a:cs typeface="Calibri"/>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hMerge="1">
                  <a:txBody>
                    <a:bodyPr/>
                    <a:lstStyle/>
                    <a:p>
                      <a:endParaRPr/>
                    </a:p>
                  </a:txBody>
                  <a:tcPr marL="0" marR="0" marT="0" marB="0"/>
                </a:tc>
                <a:extLst>
                  <a:ext uri="{0D108BD9-81ED-4DB2-BD59-A6C34878D82A}">
                    <a16:rowId xmlns:a16="http://schemas.microsoft.com/office/drawing/2014/main" val="10009"/>
                  </a:ext>
                </a:extLst>
              </a:tr>
              <a:tr h="330747">
                <a:tc gridSpan="2">
                  <a:txBody>
                    <a:bodyPr/>
                    <a:lstStyle/>
                    <a:p>
                      <a:pPr marL="165735" algn="ctr">
                        <a:lnSpc>
                          <a:spcPts val="1285"/>
                        </a:lnSpc>
                        <a:spcBef>
                          <a:spcPts val="114"/>
                        </a:spcBef>
                      </a:pPr>
                      <a:r>
                        <a:rPr sz="1600" spc="-10" dirty="0">
                          <a:latin typeface="Calibri"/>
                          <a:cs typeface="Calibri"/>
                        </a:rPr>
                        <a:t>customer_id</a:t>
                      </a:r>
                      <a:endParaRPr sz="1600" dirty="0">
                        <a:latin typeface="Calibri"/>
                        <a:cs typeface="Calibri"/>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hMerge="1">
                  <a:txBody>
                    <a:bodyPr/>
                    <a:lstStyle/>
                    <a:p>
                      <a:endParaRPr/>
                    </a:p>
                  </a:txBody>
                  <a:tcPr marL="0" marR="0" marT="0" marB="0"/>
                </a:tc>
                <a:extLst>
                  <a:ext uri="{0D108BD9-81ED-4DB2-BD59-A6C34878D82A}">
                    <a16:rowId xmlns:a16="http://schemas.microsoft.com/office/drawing/2014/main" val="10010"/>
                  </a:ext>
                </a:extLst>
              </a:tr>
              <a:tr h="330747">
                <a:tc gridSpan="2">
                  <a:txBody>
                    <a:bodyPr/>
                    <a:lstStyle/>
                    <a:p>
                      <a:pPr marL="4445" algn="ctr">
                        <a:lnSpc>
                          <a:spcPts val="1285"/>
                        </a:lnSpc>
                        <a:spcBef>
                          <a:spcPts val="114"/>
                        </a:spcBef>
                      </a:pPr>
                      <a:r>
                        <a:rPr sz="1600" spc="-10" dirty="0">
                          <a:latin typeface="Calibri"/>
                          <a:cs typeface="Calibri"/>
                        </a:rPr>
                        <a:t>units</a:t>
                      </a:r>
                      <a:endParaRPr sz="1600" dirty="0">
                        <a:latin typeface="Calibri"/>
                        <a:cs typeface="Calibri"/>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hMerge="1">
                  <a:txBody>
                    <a:bodyPr/>
                    <a:lstStyle/>
                    <a:p>
                      <a:endParaRPr/>
                    </a:p>
                  </a:txBody>
                  <a:tcPr marL="0" marR="0" marT="0" marB="0"/>
                </a:tc>
                <a:extLst>
                  <a:ext uri="{0D108BD9-81ED-4DB2-BD59-A6C34878D82A}">
                    <a16:rowId xmlns:a16="http://schemas.microsoft.com/office/drawing/2014/main" val="10011"/>
                  </a:ext>
                </a:extLst>
              </a:tr>
              <a:tr h="330747">
                <a:tc gridSpan="2">
                  <a:txBody>
                    <a:bodyPr/>
                    <a:lstStyle/>
                    <a:p>
                      <a:pPr marL="4445" algn="ctr">
                        <a:lnSpc>
                          <a:spcPts val="1280"/>
                        </a:lnSpc>
                        <a:spcBef>
                          <a:spcPts val="120"/>
                        </a:spcBef>
                      </a:pPr>
                      <a:r>
                        <a:rPr sz="1600" spc="-10" dirty="0">
                          <a:latin typeface="Calibri"/>
                          <a:cs typeface="Calibri"/>
                        </a:rPr>
                        <a:t>price</a:t>
                      </a:r>
                      <a:endParaRPr sz="1600" dirty="0">
                        <a:latin typeface="Calibri"/>
                        <a:cs typeface="Calibri"/>
                      </a:endParaRPr>
                    </a:p>
                  </a:txBody>
                  <a:tcPr marL="0" marR="0" marT="203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hMerge="1">
                  <a:txBody>
                    <a:bodyPr/>
                    <a:lstStyle/>
                    <a:p>
                      <a:endParaRPr/>
                    </a:p>
                  </a:txBody>
                  <a:tcPr marL="0" marR="0" marT="0" marB="0"/>
                </a:tc>
                <a:extLst>
                  <a:ext uri="{0D108BD9-81ED-4DB2-BD59-A6C34878D82A}">
                    <a16:rowId xmlns:a16="http://schemas.microsoft.com/office/drawing/2014/main" val="10012"/>
                  </a:ext>
                </a:extLst>
              </a:tr>
            </a:tbl>
          </a:graphicData>
        </a:graphic>
      </p:graphicFrame>
      <p:grpSp>
        <p:nvGrpSpPr>
          <p:cNvPr id="24" name="object 24"/>
          <p:cNvGrpSpPr/>
          <p:nvPr/>
        </p:nvGrpSpPr>
        <p:grpSpPr>
          <a:xfrm>
            <a:off x="845311" y="1487423"/>
            <a:ext cx="3830320" cy="1715347"/>
            <a:chOff x="633983" y="1115567"/>
            <a:chExt cx="2872740" cy="1286510"/>
          </a:xfrm>
        </p:grpSpPr>
        <p:pic>
          <p:nvPicPr>
            <p:cNvPr id="25" name="object 25"/>
            <p:cNvPicPr/>
            <p:nvPr/>
          </p:nvPicPr>
          <p:blipFill>
            <a:blip r:embed="rId2" cstate="print"/>
            <a:stretch>
              <a:fillRect/>
            </a:stretch>
          </p:blipFill>
          <p:spPr>
            <a:xfrm>
              <a:off x="638555" y="1115567"/>
              <a:ext cx="2868168" cy="1286255"/>
            </a:xfrm>
            <a:prstGeom prst="rect">
              <a:avLst/>
            </a:prstGeom>
          </p:spPr>
        </p:pic>
        <p:pic>
          <p:nvPicPr>
            <p:cNvPr id="26" name="object 26"/>
            <p:cNvPicPr/>
            <p:nvPr/>
          </p:nvPicPr>
          <p:blipFill>
            <a:blip r:embed="rId3" cstate="print"/>
            <a:stretch>
              <a:fillRect/>
            </a:stretch>
          </p:blipFill>
          <p:spPr>
            <a:xfrm>
              <a:off x="633983" y="1232928"/>
              <a:ext cx="2790443" cy="1094219"/>
            </a:xfrm>
            <a:prstGeom prst="rect">
              <a:avLst/>
            </a:prstGeom>
          </p:spPr>
        </p:pic>
      </p:grpSp>
      <p:sp>
        <p:nvSpPr>
          <p:cNvPr id="27" name="object 27"/>
          <p:cNvSpPr txBox="1"/>
          <p:nvPr/>
        </p:nvSpPr>
        <p:spPr>
          <a:xfrm>
            <a:off x="914400" y="1519936"/>
            <a:ext cx="3705013" cy="1351845"/>
          </a:xfrm>
          <a:prstGeom prst="rect">
            <a:avLst/>
          </a:prstGeom>
          <a:solidFill>
            <a:srgbClr val="D9D9D9"/>
          </a:solidFill>
          <a:ln w="9144">
            <a:solidFill>
              <a:srgbClr val="373737"/>
            </a:solidFill>
          </a:ln>
        </p:spPr>
        <p:txBody>
          <a:bodyPr vert="horz" wrap="square" lIns="0" tIns="205740" rIns="0" bIns="0" rtlCol="0">
            <a:spAutoFit/>
          </a:bodyPr>
          <a:lstStyle/>
          <a:p>
            <a:pPr marL="579106" indent="-457189">
              <a:spcBef>
                <a:spcPts val="1620"/>
              </a:spcBef>
              <a:buClr>
                <a:srgbClr val="FFFFFF"/>
              </a:buClr>
              <a:buFont typeface="Courier New"/>
              <a:buChar char="o"/>
              <a:tabLst>
                <a:tab pos="579106" algn="l"/>
              </a:tabLst>
            </a:pPr>
            <a:r>
              <a:rPr sz="1867" i="1" dirty="0">
                <a:solidFill>
                  <a:srgbClr val="3B3B3B"/>
                </a:solidFill>
                <a:latin typeface="Calibri"/>
                <a:cs typeface="Calibri"/>
              </a:rPr>
              <a:t>Categorizes</a:t>
            </a:r>
            <a:r>
              <a:rPr sz="1867" i="1" spc="-100" dirty="0">
                <a:solidFill>
                  <a:srgbClr val="3B3B3B"/>
                </a:solidFill>
                <a:latin typeface="Calibri"/>
                <a:cs typeface="Calibri"/>
              </a:rPr>
              <a:t> </a:t>
            </a:r>
            <a:r>
              <a:rPr sz="1867" i="1" spc="-13" dirty="0">
                <a:solidFill>
                  <a:srgbClr val="3B3B3B"/>
                </a:solidFill>
                <a:latin typeface="Calibri"/>
                <a:cs typeface="Calibri"/>
              </a:rPr>
              <a:t>facts</a:t>
            </a:r>
            <a:endParaRPr sz="1867" dirty="0">
              <a:latin typeface="Calibri"/>
              <a:cs typeface="Calibri"/>
            </a:endParaRPr>
          </a:p>
          <a:p>
            <a:pPr marL="579106" indent="-457189">
              <a:spcBef>
                <a:spcPts val="1120"/>
              </a:spcBef>
              <a:buClr>
                <a:srgbClr val="FFFFFF"/>
              </a:buClr>
              <a:buFont typeface="Courier New"/>
              <a:buChar char="o"/>
              <a:tabLst>
                <a:tab pos="579106" algn="l"/>
              </a:tabLst>
            </a:pPr>
            <a:r>
              <a:rPr sz="1867" i="1" dirty="0">
                <a:solidFill>
                  <a:srgbClr val="3B3B3B"/>
                </a:solidFill>
                <a:latin typeface="Calibri"/>
                <a:cs typeface="Calibri"/>
              </a:rPr>
              <a:t>Supportive</a:t>
            </a:r>
            <a:r>
              <a:rPr sz="1867" i="1" spc="-60" dirty="0">
                <a:solidFill>
                  <a:srgbClr val="3B3B3B"/>
                </a:solidFill>
                <a:latin typeface="Calibri"/>
                <a:cs typeface="Calibri"/>
              </a:rPr>
              <a:t> </a:t>
            </a:r>
            <a:r>
              <a:rPr sz="1867" i="1" dirty="0">
                <a:solidFill>
                  <a:srgbClr val="3B3B3B"/>
                </a:solidFill>
                <a:latin typeface="Calibri"/>
                <a:cs typeface="Calibri"/>
              </a:rPr>
              <a:t>&amp;</a:t>
            </a:r>
            <a:r>
              <a:rPr sz="1867" i="1" spc="-47" dirty="0">
                <a:solidFill>
                  <a:srgbClr val="3B3B3B"/>
                </a:solidFill>
                <a:latin typeface="Calibri"/>
                <a:cs typeface="Calibri"/>
              </a:rPr>
              <a:t> </a:t>
            </a:r>
            <a:r>
              <a:rPr sz="1867" i="1" spc="-13" dirty="0">
                <a:solidFill>
                  <a:srgbClr val="3B3B3B"/>
                </a:solidFill>
                <a:latin typeface="Calibri"/>
                <a:cs typeface="Calibri"/>
              </a:rPr>
              <a:t>descriptive</a:t>
            </a:r>
            <a:endParaRPr sz="1867" dirty="0">
              <a:latin typeface="Calibri"/>
              <a:cs typeface="Calibri"/>
            </a:endParaRPr>
          </a:p>
          <a:p>
            <a:pPr marL="579106" indent="-457189">
              <a:spcBef>
                <a:spcPts val="1120"/>
              </a:spcBef>
              <a:buClr>
                <a:srgbClr val="FFFFFF"/>
              </a:buClr>
              <a:buFont typeface="Courier New"/>
              <a:buChar char="o"/>
              <a:tabLst>
                <a:tab pos="579106" algn="l"/>
              </a:tabLst>
            </a:pPr>
            <a:r>
              <a:rPr sz="1867" i="1" dirty="0">
                <a:solidFill>
                  <a:srgbClr val="3B3B3B"/>
                </a:solidFill>
                <a:latin typeface="Calibri"/>
                <a:cs typeface="Calibri"/>
              </a:rPr>
              <a:t>Filtering,</a:t>
            </a:r>
            <a:r>
              <a:rPr sz="1867" i="1" spc="-47" dirty="0">
                <a:solidFill>
                  <a:srgbClr val="3B3B3B"/>
                </a:solidFill>
                <a:latin typeface="Calibri"/>
                <a:cs typeface="Calibri"/>
              </a:rPr>
              <a:t> </a:t>
            </a:r>
            <a:r>
              <a:rPr sz="1867" i="1" spc="-13" dirty="0">
                <a:solidFill>
                  <a:srgbClr val="3B3B3B"/>
                </a:solidFill>
                <a:latin typeface="Calibri"/>
                <a:cs typeface="Calibri"/>
              </a:rPr>
              <a:t>Grouping</a:t>
            </a:r>
            <a:r>
              <a:rPr sz="1867" i="1" spc="-40" dirty="0">
                <a:solidFill>
                  <a:srgbClr val="3B3B3B"/>
                </a:solidFill>
                <a:latin typeface="Calibri"/>
                <a:cs typeface="Calibri"/>
              </a:rPr>
              <a:t> </a:t>
            </a:r>
            <a:r>
              <a:rPr sz="1867" i="1" dirty="0">
                <a:solidFill>
                  <a:srgbClr val="3B3B3B"/>
                </a:solidFill>
                <a:latin typeface="Calibri"/>
                <a:cs typeface="Calibri"/>
              </a:rPr>
              <a:t>&amp;</a:t>
            </a:r>
            <a:r>
              <a:rPr sz="1867" i="1" spc="-20" dirty="0">
                <a:solidFill>
                  <a:srgbClr val="3B3B3B"/>
                </a:solidFill>
                <a:latin typeface="Calibri"/>
                <a:cs typeface="Calibri"/>
              </a:rPr>
              <a:t> </a:t>
            </a:r>
            <a:r>
              <a:rPr sz="1867" i="1" spc="-13" dirty="0">
                <a:solidFill>
                  <a:srgbClr val="3B3B3B"/>
                </a:solidFill>
                <a:latin typeface="Calibri"/>
                <a:cs typeface="Calibri"/>
              </a:rPr>
              <a:t>Labeling</a:t>
            </a:r>
            <a:endParaRPr sz="1867" dirty="0">
              <a:latin typeface="Calibri"/>
              <a:cs typeface="Calibri"/>
            </a:endParaRPr>
          </a:p>
        </p:txBody>
      </p:sp>
      <p:grpSp>
        <p:nvGrpSpPr>
          <p:cNvPr id="28" name="object 28"/>
          <p:cNvGrpSpPr/>
          <p:nvPr/>
        </p:nvGrpSpPr>
        <p:grpSpPr>
          <a:xfrm>
            <a:off x="7481823" y="1288289"/>
            <a:ext cx="4259580" cy="1843193"/>
            <a:chOff x="5611367" y="966216"/>
            <a:chExt cx="3194685" cy="1382395"/>
          </a:xfrm>
        </p:grpSpPr>
        <p:pic>
          <p:nvPicPr>
            <p:cNvPr id="29" name="object 29"/>
            <p:cNvPicPr/>
            <p:nvPr/>
          </p:nvPicPr>
          <p:blipFill>
            <a:blip r:embed="rId4" cstate="print"/>
            <a:stretch>
              <a:fillRect/>
            </a:stretch>
          </p:blipFill>
          <p:spPr>
            <a:xfrm>
              <a:off x="5615939" y="966216"/>
              <a:ext cx="3189732" cy="1382268"/>
            </a:xfrm>
            <a:prstGeom prst="rect">
              <a:avLst/>
            </a:prstGeom>
          </p:spPr>
        </p:pic>
        <p:pic>
          <p:nvPicPr>
            <p:cNvPr id="30" name="object 30"/>
            <p:cNvPicPr/>
            <p:nvPr/>
          </p:nvPicPr>
          <p:blipFill>
            <a:blip r:embed="rId5" cstate="print"/>
            <a:stretch>
              <a:fillRect/>
            </a:stretch>
          </p:blipFill>
          <p:spPr>
            <a:xfrm>
              <a:off x="5611367" y="1083576"/>
              <a:ext cx="2628899" cy="1094219"/>
            </a:xfrm>
            <a:prstGeom prst="rect">
              <a:avLst/>
            </a:prstGeom>
          </p:spPr>
        </p:pic>
      </p:grpSp>
      <p:sp>
        <p:nvSpPr>
          <p:cNvPr id="31" name="object 31"/>
          <p:cNvSpPr txBox="1"/>
          <p:nvPr/>
        </p:nvSpPr>
        <p:spPr>
          <a:xfrm>
            <a:off x="7550912" y="1320801"/>
            <a:ext cx="4133427" cy="1351845"/>
          </a:xfrm>
          <a:prstGeom prst="rect">
            <a:avLst/>
          </a:prstGeom>
          <a:solidFill>
            <a:srgbClr val="404040"/>
          </a:solidFill>
          <a:ln w="9144">
            <a:solidFill>
              <a:srgbClr val="373737"/>
            </a:solidFill>
          </a:ln>
        </p:spPr>
        <p:txBody>
          <a:bodyPr vert="horz" wrap="square" lIns="0" tIns="205740" rIns="0" bIns="0" rtlCol="0">
            <a:spAutoFit/>
          </a:bodyPr>
          <a:lstStyle/>
          <a:p>
            <a:pPr marL="579106" indent="-456342">
              <a:spcBef>
                <a:spcPts val="1620"/>
              </a:spcBef>
              <a:buClr>
                <a:srgbClr val="FFFFFF"/>
              </a:buClr>
              <a:buFont typeface="Courier New"/>
              <a:buChar char="o"/>
              <a:tabLst>
                <a:tab pos="579106" algn="l"/>
              </a:tabLst>
            </a:pPr>
            <a:r>
              <a:rPr sz="1867" i="1" spc="-13" dirty="0">
                <a:solidFill>
                  <a:srgbClr val="D9D9D9"/>
                </a:solidFill>
                <a:latin typeface="Calibri"/>
                <a:cs typeface="Calibri"/>
              </a:rPr>
              <a:t>Non-Aggregatable</a:t>
            </a:r>
            <a:endParaRPr sz="1867">
              <a:latin typeface="Calibri"/>
              <a:cs typeface="Calibri"/>
            </a:endParaRPr>
          </a:p>
          <a:p>
            <a:pPr marL="579106" indent="-456342">
              <a:spcBef>
                <a:spcPts val="1113"/>
              </a:spcBef>
              <a:buClr>
                <a:srgbClr val="FFFFFF"/>
              </a:buClr>
              <a:buFont typeface="Courier New"/>
              <a:buChar char="o"/>
              <a:tabLst>
                <a:tab pos="579106" algn="l"/>
              </a:tabLst>
            </a:pPr>
            <a:r>
              <a:rPr sz="1867" i="1" dirty="0">
                <a:solidFill>
                  <a:srgbClr val="D9D9D9"/>
                </a:solidFill>
                <a:latin typeface="Calibri"/>
                <a:cs typeface="Calibri"/>
              </a:rPr>
              <a:t>Measureable</a:t>
            </a:r>
            <a:r>
              <a:rPr sz="1867" i="1" spc="-60" dirty="0">
                <a:solidFill>
                  <a:srgbClr val="D9D9D9"/>
                </a:solidFill>
                <a:latin typeface="Calibri"/>
                <a:cs typeface="Calibri"/>
              </a:rPr>
              <a:t> </a:t>
            </a:r>
            <a:r>
              <a:rPr sz="1867" i="1" dirty="0">
                <a:solidFill>
                  <a:srgbClr val="D9D9D9"/>
                </a:solidFill>
                <a:latin typeface="Calibri"/>
                <a:cs typeface="Calibri"/>
              </a:rPr>
              <a:t>vs.</a:t>
            </a:r>
            <a:r>
              <a:rPr sz="1867" i="1" spc="-47" dirty="0">
                <a:solidFill>
                  <a:srgbClr val="D9D9D9"/>
                </a:solidFill>
                <a:latin typeface="Calibri"/>
                <a:cs typeface="Calibri"/>
              </a:rPr>
              <a:t> </a:t>
            </a:r>
            <a:r>
              <a:rPr sz="1867" i="1" spc="-13" dirty="0">
                <a:solidFill>
                  <a:srgbClr val="D9D9D9"/>
                </a:solidFill>
                <a:latin typeface="Calibri"/>
                <a:cs typeface="Calibri"/>
              </a:rPr>
              <a:t>descriptive</a:t>
            </a:r>
            <a:endParaRPr sz="1867">
              <a:latin typeface="Calibri"/>
              <a:cs typeface="Calibri"/>
            </a:endParaRPr>
          </a:p>
          <a:p>
            <a:pPr marL="579106" indent="-456342">
              <a:spcBef>
                <a:spcPts val="1120"/>
              </a:spcBef>
              <a:buClr>
                <a:srgbClr val="FFFFFF"/>
              </a:buClr>
              <a:buFont typeface="Courier New"/>
              <a:buChar char="o"/>
              <a:tabLst>
                <a:tab pos="579106" algn="l"/>
              </a:tabLst>
            </a:pPr>
            <a:r>
              <a:rPr sz="1867" i="1" dirty="0">
                <a:solidFill>
                  <a:srgbClr val="D9D9D9"/>
                </a:solidFill>
                <a:latin typeface="Calibri"/>
                <a:cs typeface="Calibri"/>
              </a:rPr>
              <a:t>(More)</a:t>
            </a:r>
            <a:r>
              <a:rPr sz="1867" i="1" spc="-87" dirty="0">
                <a:solidFill>
                  <a:srgbClr val="D9D9D9"/>
                </a:solidFill>
                <a:latin typeface="Calibri"/>
                <a:cs typeface="Calibri"/>
              </a:rPr>
              <a:t> </a:t>
            </a:r>
            <a:r>
              <a:rPr sz="1867" i="1" spc="-13" dirty="0">
                <a:solidFill>
                  <a:srgbClr val="D9D9D9"/>
                </a:solidFill>
                <a:latin typeface="Calibri"/>
                <a:cs typeface="Calibri"/>
              </a:rPr>
              <a:t>static</a:t>
            </a:r>
            <a:endParaRPr sz="1867">
              <a:latin typeface="Calibri"/>
              <a:cs typeface="Calibri"/>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356526" y="1854200"/>
            <a:ext cx="5112172" cy="124051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Dimension</a:t>
            </a:r>
            <a:r>
              <a:rPr sz="2400" b="1" spc="-87" dirty="0">
                <a:solidFill>
                  <a:srgbClr val="D9D9D9"/>
                </a:solidFill>
                <a:latin typeface="Calibri"/>
                <a:cs typeface="Calibri"/>
              </a:rPr>
              <a:t> </a:t>
            </a:r>
            <a:r>
              <a:rPr sz="2400" b="1" dirty="0">
                <a:solidFill>
                  <a:srgbClr val="D9D9D9"/>
                </a:solidFill>
                <a:latin typeface="Calibri"/>
                <a:cs typeface="Calibri"/>
              </a:rPr>
              <a:t>table:</a:t>
            </a:r>
            <a:r>
              <a:rPr sz="2400" b="1" spc="-60" dirty="0">
                <a:solidFill>
                  <a:srgbClr val="D9D9D9"/>
                </a:solidFill>
                <a:latin typeface="Calibri"/>
                <a:cs typeface="Calibri"/>
              </a:rPr>
              <a:t> </a:t>
            </a:r>
            <a:r>
              <a:rPr sz="2400" b="1" dirty="0">
                <a:solidFill>
                  <a:srgbClr val="D9D9D9"/>
                </a:solidFill>
                <a:latin typeface="Calibri"/>
                <a:cs typeface="Calibri"/>
              </a:rPr>
              <a:t>PK,</a:t>
            </a:r>
            <a:r>
              <a:rPr sz="2400" b="1" spc="-33" dirty="0">
                <a:solidFill>
                  <a:srgbClr val="D9D9D9"/>
                </a:solidFill>
                <a:latin typeface="Calibri"/>
                <a:cs typeface="Calibri"/>
              </a:rPr>
              <a:t> </a:t>
            </a:r>
            <a:r>
              <a:rPr sz="2400" b="1" dirty="0">
                <a:solidFill>
                  <a:srgbClr val="D9D9D9"/>
                </a:solidFill>
                <a:latin typeface="Calibri"/>
                <a:cs typeface="Calibri"/>
              </a:rPr>
              <a:t>Dimension,</a:t>
            </a:r>
            <a:r>
              <a:rPr sz="2400" b="1" spc="-60" dirty="0">
                <a:solidFill>
                  <a:srgbClr val="D9D9D9"/>
                </a:solidFill>
                <a:latin typeface="Calibri"/>
                <a:cs typeface="Calibri"/>
              </a:rPr>
              <a:t> </a:t>
            </a:r>
            <a:r>
              <a:rPr sz="2400" b="1" spc="-27" dirty="0">
                <a:solidFill>
                  <a:srgbClr val="D9D9D9"/>
                </a:solidFill>
                <a:latin typeface="Calibri"/>
                <a:cs typeface="Calibri"/>
              </a:rPr>
              <a:t>(FK)</a:t>
            </a:r>
            <a:endParaRPr sz="2400">
              <a:latin typeface="Calibri"/>
              <a:cs typeface="Calibri"/>
            </a:endParaRPr>
          </a:p>
          <a:p>
            <a:pPr>
              <a:spcBef>
                <a:spcPts val="940"/>
              </a:spcBef>
              <a:buClr>
                <a:srgbClr val="99D3FF"/>
              </a:buClr>
              <a:buFont typeface="Wingdings"/>
              <a:buChar char=""/>
            </a:pPr>
            <a:endParaRPr sz="2400">
              <a:latin typeface="Calibri"/>
              <a:cs typeface="Calibri"/>
            </a:endParaRPr>
          </a:p>
          <a:p>
            <a:pPr marL="397923" indent="-380990">
              <a:buClr>
                <a:srgbClr val="99D3FF"/>
              </a:buClr>
              <a:buFont typeface="Wingdings"/>
              <a:buChar char=""/>
              <a:tabLst>
                <a:tab pos="397923" algn="l"/>
              </a:tabLst>
            </a:pPr>
            <a:r>
              <a:rPr sz="2400" b="1" dirty="0">
                <a:solidFill>
                  <a:srgbClr val="D9D9D9"/>
                </a:solidFill>
                <a:latin typeface="Calibri"/>
                <a:cs typeface="Calibri"/>
              </a:rPr>
              <a:t>People,</a:t>
            </a:r>
            <a:r>
              <a:rPr sz="2400" b="1" spc="-67" dirty="0">
                <a:solidFill>
                  <a:srgbClr val="D9D9D9"/>
                </a:solidFill>
                <a:latin typeface="Calibri"/>
                <a:cs typeface="Calibri"/>
              </a:rPr>
              <a:t> </a:t>
            </a:r>
            <a:r>
              <a:rPr sz="2400" b="1" dirty="0">
                <a:solidFill>
                  <a:srgbClr val="D9D9D9"/>
                </a:solidFill>
                <a:latin typeface="Calibri"/>
                <a:cs typeface="Calibri"/>
              </a:rPr>
              <a:t>products,</a:t>
            </a:r>
            <a:r>
              <a:rPr sz="2400" b="1" spc="-33" dirty="0">
                <a:solidFill>
                  <a:srgbClr val="D9D9D9"/>
                </a:solidFill>
                <a:latin typeface="Calibri"/>
                <a:cs typeface="Calibri"/>
              </a:rPr>
              <a:t> </a:t>
            </a:r>
            <a:r>
              <a:rPr sz="2400" b="1" dirty="0">
                <a:solidFill>
                  <a:srgbClr val="D9D9D9"/>
                </a:solidFill>
                <a:latin typeface="Calibri"/>
                <a:cs typeface="Calibri"/>
              </a:rPr>
              <a:t>places,</a:t>
            </a:r>
            <a:r>
              <a:rPr sz="2400" b="1" spc="-53" dirty="0">
                <a:solidFill>
                  <a:srgbClr val="D9D9D9"/>
                </a:solidFill>
                <a:latin typeface="Calibri"/>
                <a:cs typeface="Calibri"/>
              </a:rPr>
              <a:t> </a:t>
            </a:r>
            <a:r>
              <a:rPr sz="2400" b="1" spc="-27" dirty="0">
                <a:solidFill>
                  <a:srgbClr val="D9D9D9"/>
                </a:solidFill>
                <a:latin typeface="Calibri"/>
                <a:cs typeface="Calibri"/>
              </a:rPr>
              <a:t>time</a:t>
            </a:r>
            <a:endParaRPr sz="2400">
              <a:latin typeface="Calibri"/>
              <a:cs typeface="Calibri"/>
            </a:endParaRPr>
          </a:p>
        </p:txBody>
      </p:sp>
      <p:graphicFrame>
        <p:nvGraphicFramePr>
          <p:cNvPr id="4" name="object 4"/>
          <p:cNvGraphicFramePr>
            <a:graphicFrameLocks noGrp="1"/>
          </p:cNvGraphicFramePr>
          <p:nvPr/>
        </p:nvGraphicFramePr>
        <p:xfrm>
          <a:off x="4258734" y="3625935"/>
          <a:ext cx="5179905" cy="1524000"/>
        </p:xfrm>
        <a:graphic>
          <a:graphicData uri="http://schemas.openxmlformats.org/drawingml/2006/table">
            <a:tbl>
              <a:tblPr firstRow="1" bandRow="1">
                <a:tableStyleId>{2D5ABB26-0587-4C30-8999-92F81FD0307C}</a:tableStyleId>
              </a:tblPr>
              <a:tblGrid>
                <a:gridCol w="1014307">
                  <a:extLst>
                    <a:ext uri="{9D8B030D-6E8A-4147-A177-3AD203B41FA5}">
                      <a16:colId xmlns:a16="http://schemas.microsoft.com/office/drawing/2014/main" val="20000"/>
                    </a:ext>
                  </a:extLst>
                </a:gridCol>
                <a:gridCol w="1388533">
                  <a:extLst>
                    <a:ext uri="{9D8B030D-6E8A-4147-A177-3AD203B41FA5}">
                      <a16:colId xmlns:a16="http://schemas.microsoft.com/office/drawing/2014/main" val="20001"/>
                    </a:ext>
                  </a:extLst>
                </a:gridCol>
                <a:gridCol w="1388533">
                  <a:extLst>
                    <a:ext uri="{9D8B030D-6E8A-4147-A177-3AD203B41FA5}">
                      <a16:colId xmlns:a16="http://schemas.microsoft.com/office/drawing/2014/main" val="20002"/>
                    </a:ext>
                  </a:extLst>
                </a:gridCol>
                <a:gridCol w="1388532">
                  <a:extLst>
                    <a:ext uri="{9D8B030D-6E8A-4147-A177-3AD203B41FA5}">
                      <a16:colId xmlns:a16="http://schemas.microsoft.com/office/drawing/2014/main" val="20003"/>
                    </a:ext>
                  </a:extLst>
                </a:gridCol>
              </a:tblGrid>
              <a:tr h="254000">
                <a:tc>
                  <a:txBody>
                    <a:bodyPr/>
                    <a:lstStyle/>
                    <a:p>
                      <a:pPr algn="ctr">
                        <a:lnSpc>
                          <a:spcPct val="100000"/>
                        </a:lnSpc>
                        <a:spcBef>
                          <a:spcPts val="130"/>
                        </a:spcBef>
                      </a:pPr>
                      <a:r>
                        <a:rPr sz="1400" spc="-10" dirty="0">
                          <a:latin typeface="Arial MT"/>
                          <a:cs typeface="Arial MT"/>
                        </a:rPr>
                        <a:t>customer_id</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130"/>
                        </a:spcBef>
                      </a:pPr>
                      <a:r>
                        <a:rPr sz="1400" spc="-10" dirty="0">
                          <a:latin typeface="Arial MT"/>
                          <a:cs typeface="Arial MT"/>
                        </a:rPr>
                        <a:t>first_name</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130"/>
                        </a:spcBef>
                      </a:pPr>
                      <a:r>
                        <a:rPr sz="1400" spc="-10" dirty="0">
                          <a:latin typeface="Arial MT"/>
                          <a:cs typeface="Arial MT"/>
                        </a:rPr>
                        <a:t>first_name</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130"/>
                        </a:spcBef>
                      </a:pPr>
                      <a:r>
                        <a:rPr sz="1400" spc="-10" dirty="0">
                          <a:latin typeface="Arial MT"/>
                          <a:cs typeface="Arial MT"/>
                        </a:rPr>
                        <a:t>email</a:t>
                      </a:r>
                      <a:endParaRPr sz="1400">
                        <a:latin typeface="Arial MT"/>
                        <a:cs typeface="Arial MT"/>
                      </a:endParaRPr>
                    </a:p>
                  </a:txBody>
                  <a:tcPr marL="0" marR="0" marT="220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0"/>
                  </a:ext>
                </a:extLst>
              </a:tr>
              <a:tr h="254000">
                <a:tc>
                  <a:txBody>
                    <a:bodyPr/>
                    <a:lstStyle/>
                    <a:p>
                      <a:pPr marL="635" algn="ctr">
                        <a:lnSpc>
                          <a:spcPct val="100000"/>
                        </a:lnSpc>
                        <a:spcBef>
                          <a:spcPts val="345"/>
                        </a:spcBef>
                      </a:pPr>
                      <a:r>
                        <a:rPr sz="900" spc="-50" dirty="0">
                          <a:latin typeface="Arial MT"/>
                          <a:cs typeface="Arial MT"/>
                        </a:rPr>
                        <a:t>1</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20"/>
                        </a:spcBef>
                      </a:pPr>
                      <a:r>
                        <a:rPr sz="900" spc="-20" dirty="0">
                          <a:latin typeface="Calibri"/>
                          <a:cs typeface="Calibri"/>
                        </a:rPr>
                        <a:t>Mike</a:t>
                      </a:r>
                      <a:endParaRPr sz="9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20"/>
                        </a:spcBef>
                      </a:pPr>
                      <a:r>
                        <a:rPr sz="900" spc="-10" dirty="0">
                          <a:latin typeface="Calibri"/>
                          <a:cs typeface="Calibri"/>
                        </a:rPr>
                        <a:t>Miller</a:t>
                      </a:r>
                      <a:endParaRPr sz="9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320"/>
                        </a:spcBef>
                      </a:pPr>
                      <a:r>
                        <a:rPr sz="900" spc="-10" dirty="0">
                          <a:latin typeface="Calibri"/>
                          <a:cs typeface="Calibri"/>
                          <a:hlinkClick r:id="rId2"/>
                        </a:rPr>
                        <a:t>mike323@gmail.com</a:t>
                      </a:r>
                      <a:endParaRPr sz="9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marL="635" algn="ctr">
                        <a:lnSpc>
                          <a:spcPct val="100000"/>
                        </a:lnSpc>
                        <a:spcBef>
                          <a:spcPts val="345"/>
                        </a:spcBef>
                      </a:pPr>
                      <a:r>
                        <a:rPr sz="900" spc="-50" dirty="0">
                          <a:latin typeface="Arial MT"/>
                          <a:cs typeface="Arial MT"/>
                        </a:rPr>
                        <a:t>2</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320"/>
                        </a:spcBef>
                      </a:pPr>
                      <a:r>
                        <a:rPr sz="900" spc="-10" dirty="0">
                          <a:latin typeface="Calibri"/>
                          <a:cs typeface="Calibri"/>
                        </a:rPr>
                        <a:t>Sofia</a:t>
                      </a:r>
                      <a:endParaRPr sz="9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320"/>
                        </a:spcBef>
                      </a:pPr>
                      <a:r>
                        <a:rPr sz="900" spc="-10" dirty="0">
                          <a:latin typeface="Calibri"/>
                          <a:cs typeface="Calibri"/>
                        </a:rPr>
                        <a:t>Snider</a:t>
                      </a:r>
                      <a:endParaRPr sz="9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320"/>
                        </a:spcBef>
                      </a:pPr>
                      <a:r>
                        <a:rPr sz="900" spc="-10" dirty="0">
                          <a:latin typeface="Calibri"/>
                          <a:cs typeface="Calibri"/>
                          <a:hlinkClick r:id="rId3"/>
                        </a:rPr>
                        <a:t>snider_sof@gmail.com</a:t>
                      </a:r>
                      <a:endParaRPr sz="9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marL="635" algn="ctr">
                        <a:lnSpc>
                          <a:spcPct val="100000"/>
                        </a:lnSpc>
                        <a:spcBef>
                          <a:spcPts val="345"/>
                        </a:spcBef>
                      </a:pPr>
                      <a:r>
                        <a:rPr sz="900" spc="-50" dirty="0">
                          <a:latin typeface="Arial MT"/>
                          <a:cs typeface="Arial MT"/>
                        </a:rPr>
                        <a:t>2</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20"/>
                        </a:spcBef>
                      </a:pPr>
                      <a:r>
                        <a:rPr sz="900" spc="-10" dirty="0">
                          <a:latin typeface="Calibri"/>
                          <a:cs typeface="Calibri"/>
                        </a:rPr>
                        <a:t>Marco</a:t>
                      </a:r>
                      <a:endParaRPr sz="9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320"/>
                        </a:spcBef>
                      </a:pPr>
                      <a:r>
                        <a:rPr sz="900" spc="-10" dirty="0">
                          <a:latin typeface="Calibri"/>
                          <a:cs typeface="Calibri"/>
                        </a:rPr>
                        <a:t>Steadman</a:t>
                      </a:r>
                      <a:endParaRPr sz="9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320"/>
                        </a:spcBef>
                      </a:pPr>
                      <a:r>
                        <a:rPr sz="900" spc="-10" dirty="0">
                          <a:latin typeface="Calibri"/>
                          <a:cs typeface="Calibri"/>
                          <a:hlinkClick r:id="rId4"/>
                        </a:rPr>
                        <a:t>mstread23@gmail.com</a:t>
                      </a:r>
                      <a:endParaRPr sz="9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marL="635" algn="ctr">
                        <a:lnSpc>
                          <a:spcPct val="100000"/>
                        </a:lnSpc>
                        <a:spcBef>
                          <a:spcPts val="345"/>
                        </a:spcBef>
                      </a:pPr>
                      <a:r>
                        <a:rPr sz="900" spc="-50" dirty="0">
                          <a:latin typeface="Arial MT"/>
                          <a:cs typeface="Arial MT"/>
                        </a:rPr>
                        <a:t>3</a:t>
                      </a:r>
                      <a:endParaRPr sz="900">
                        <a:latin typeface="Arial MT"/>
                        <a:cs typeface="Arial MT"/>
                      </a:endParaRPr>
                    </a:p>
                  </a:txBody>
                  <a:tcPr marL="0" marR="0" marT="584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320"/>
                        </a:spcBef>
                      </a:pPr>
                      <a:r>
                        <a:rPr sz="900" spc="-10" dirty="0">
                          <a:latin typeface="Calibri"/>
                          <a:cs typeface="Calibri"/>
                        </a:rPr>
                        <a:t>Sarah</a:t>
                      </a:r>
                      <a:endParaRPr sz="9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320"/>
                        </a:spcBef>
                      </a:pPr>
                      <a:r>
                        <a:rPr sz="900" spc="-10" dirty="0">
                          <a:latin typeface="Calibri"/>
                          <a:cs typeface="Calibri"/>
                        </a:rPr>
                        <a:t>Griffith</a:t>
                      </a:r>
                      <a:endParaRPr sz="9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320"/>
                        </a:spcBef>
                      </a:pPr>
                      <a:r>
                        <a:rPr sz="900" spc="-10" dirty="0">
                          <a:latin typeface="Calibri"/>
                          <a:cs typeface="Calibri"/>
                          <a:hlinkClick r:id="rId5"/>
                        </a:rPr>
                        <a:t>sarah.griff@gmail.com</a:t>
                      </a:r>
                      <a:endParaRPr sz="900">
                        <a:latin typeface="Calibri"/>
                        <a:cs typeface="Calibri"/>
                      </a:endParaRPr>
                    </a:p>
                  </a:txBody>
                  <a:tcPr marL="0" marR="0" marT="541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marL="635" algn="ctr">
                        <a:lnSpc>
                          <a:spcPct val="100000"/>
                        </a:lnSpc>
                        <a:spcBef>
                          <a:spcPts val="350"/>
                        </a:spcBef>
                      </a:pPr>
                      <a:r>
                        <a:rPr sz="900" spc="-50" dirty="0">
                          <a:latin typeface="Arial MT"/>
                          <a:cs typeface="Arial MT"/>
                        </a:rPr>
                        <a:t>4</a:t>
                      </a:r>
                      <a:endParaRPr sz="900">
                        <a:latin typeface="Arial MT"/>
                        <a:cs typeface="Arial MT"/>
                      </a:endParaRPr>
                    </a:p>
                  </a:txBody>
                  <a:tcPr marL="0" marR="0" marT="5926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325"/>
                        </a:spcBef>
                      </a:pPr>
                      <a:r>
                        <a:rPr sz="900" spc="-10" dirty="0">
                          <a:latin typeface="Calibri"/>
                          <a:cs typeface="Calibri"/>
                        </a:rPr>
                        <a:t>Jennifer</a:t>
                      </a:r>
                      <a:endParaRPr sz="900">
                        <a:latin typeface="Calibri"/>
                        <a:cs typeface="Calibri"/>
                      </a:endParaRPr>
                    </a:p>
                  </a:txBody>
                  <a:tcPr marL="0" marR="0" marT="550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325"/>
                        </a:spcBef>
                      </a:pPr>
                      <a:r>
                        <a:rPr sz="900" spc="-10" dirty="0">
                          <a:latin typeface="Calibri"/>
                          <a:cs typeface="Calibri"/>
                        </a:rPr>
                        <a:t>Lovell</a:t>
                      </a:r>
                      <a:endParaRPr sz="900">
                        <a:latin typeface="Calibri"/>
                        <a:cs typeface="Calibri"/>
                      </a:endParaRPr>
                    </a:p>
                  </a:txBody>
                  <a:tcPr marL="0" marR="0" marT="550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325"/>
                        </a:spcBef>
                      </a:pPr>
                      <a:r>
                        <a:rPr sz="900" spc="-10" dirty="0">
                          <a:latin typeface="Calibri"/>
                          <a:cs typeface="Calibri"/>
                          <a:hlinkClick r:id="rId6"/>
                        </a:rPr>
                        <a:t>jlovell@gmail.com</a:t>
                      </a:r>
                      <a:endParaRPr sz="900">
                        <a:latin typeface="Calibri"/>
                        <a:cs typeface="Calibri"/>
                      </a:endParaRPr>
                    </a:p>
                  </a:txBody>
                  <a:tcPr marL="0" marR="0" marT="550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sp>
        <p:nvSpPr>
          <p:cNvPr id="5" name="object 5"/>
          <p:cNvSpPr txBox="1"/>
          <p:nvPr/>
        </p:nvSpPr>
        <p:spPr>
          <a:xfrm>
            <a:off x="3254926" y="5456868"/>
            <a:ext cx="4039447"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Different</a:t>
            </a:r>
            <a:r>
              <a:rPr sz="2400" b="1" spc="-60" dirty="0">
                <a:solidFill>
                  <a:srgbClr val="D9D9D9"/>
                </a:solidFill>
                <a:latin typeface="Calibri"/>
                <a:cs typeface="Calibri"/>
              </a:rPr>
              <a:t> </a:t>
            </a:r>
            <a:r>
              <a:rPr sz="2400" b="1" dirty="0">
                <a:solidFill>
                  <a:srgbClr val="D9D9D9"/>
                </a:solidFill>
                <a:latin typeface="Calibri"/>
                <a:cs typeface="Calibri"/>
              </a:rPr>
              <a:t>types</a:t>
            </a:r>
            <a:r>
              <a:rPr sz="2400" b="1" spc="-67" dirty="0">
                <a:solidFill>
                  <a:srgbClr val="D9D9D9"/>
                </a:solidFill>
                <a:latin typeface="Calibri"/>
                <a:cs typeface="Calibri"/>
              </a:rPr>
              <a:t> </a:t>
            </a:r>
            <a:r>
              <a:rPr sz="2400" b="1" dirty="0">
                <a:solidFill>
                  <a:srgbClr val="D9D9D9"/>
                </a:solidFill>
                <a:latin typeface="Calibri"/>
                <a:cs typeface="Calibri"/>
              </a:rPr>
              <a:t>of</a:t>
            </a:r>
            <a:r>
              <a:rPr sz="2400" b="1" spc="-40" dirty="0">
                <a:solidFill>
                  <a:srgbClr val="D9D9D9"/>
                </a:solidFill>
                <a:latin typeface="Calibri"/>
                <a:cs typeface="Calibri"/>
              </a:rPr>
              <a:t> </a:t>
            </a:r>
            <a:r>
              <a:rPr sz="2400" b="1" spc="-13" dirty="0">
                <a:solidFill>
                  <a:srgbClr val="D9D9D9"/>
                </a:solidFill>
                <a:latin typeface="Calibri"/>
                <a:cs typeface="Calibri"/>
              </a:rPr>
              <a:t>dimension</a:t>
            </a:r>
            <a:endParaRPr sz="2400">
              <a:latin typeface="Calibri"/>
              <a:cs typeface="Calibri"/>
            </a:endParaRPr>
          </a:p>
        </p:txBody>
      </p:sp>
      <p:sp>
        <p:nvSpPr>
          <p:cNvPr id="8" name="object 2">
            <a:extLst>
              <a:ext uri="{FF2B5EF4-FFF2-40B4-BE49-F238E27FC236}">
                <a16:creationId xmlns:a16="http://schemas.microsoft.com/office/drawing/2014/main" id="{6B534FF8-88D5-1842-D4DB-0AC21E3E5DFA}"/>
              </a:ext>
            </a:extLst>
          </p:cNvPr>
          <p:cNvSpPr txBox="1">
            <a:spLocks/>
          </p:cNvSpPr>
          <p:nvPr/>
        </p:nvSpPr>
        <p:spPr>
          <a:xfrm>
            <a:off x="4628780" y="125496"/>
            <a:ext cx="3950641" cy="695062"/>
          </a:xfrm>
          <a:prstGeom prst="rect">
            <a:avLst/>
          </a:prstGeom>
        </p:spPr>
        <p:txBody>
          <a:bodyPr vert="horz" wrap="square" lIns="0" tIns="1778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6933" algn="ctr">
              <a:lnSpc>
                <a:spcPct val="100000"/>
              </a:lnSpc>
              <a:spcBef>
                <a:spcPts val="140"/>
              </a:spcBef>
            </a:pPr>
            <a:r>
              <a:rPr lang="en-IN" spc="-13" dirty="0">
                <a:solidFill>
                  <a:schemeClr val="bg1"/>
                </a:solidFill>
                <a:latin typeface="+mn-lt"/>
              </a:rPr>
              <a:t>Dimensions</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57807" y="2279903"/>
            <a:ext cx="9930384" cy="1702816"/>
          </a:xfrm>
          <a:prstGeom prst="rect">
            <a:avLst/>
          </a:prstGeom>
        </p:spPr>
      </p:pic>
      <p:sp>
        <p:nvSpPr>
          <p:cNvPr id="3" name="object 3"/>
          <p:cNvSpPr txBox="1">
            <a:spLocks noGrp="1"/>
          </p:cNvSpPr>
          <p:nvPr>
            <p:ph type="title"/>
          </p:nvPr>
        </p:nvSpPr>
        <p:spPr>
          <a:xfrm>
            <a:off x="1320800" y="2579973"/>
            <a:ext cx="9811173" cy="1048150"/>
          </a:xfrm>
          <a:prstGeom prst="rect">
            <a:avLst/>
          </a:prstGeom>
          <a:noFill/>
          <a:ln w="9144">
            <a:noFill/>
          </a:ln>
        </p:spPr>
        <p:txBody>
          <a:bodyPr vert="horz" wrap="square" lIns="0" tIns="306493" rIns="0" bIns="0" rtlCol="0" anchor="ctr">
            <a:spAutoFit/>
          </a:bodyPr>
          <a:lstStyle/>
          <a:p>
            <a:pPr marL="847" algn="ctr">
              <a:lnSpc>
                <a:spcPct val="100000"/>
              </a:lnSpc>
              <a:spcBef>
                <a:spcPts val="2413"/>
              </a:spcBef>
            </a:pPr>
            <a:r>
              <a:rPr sz="4800" dirty="0">
                <a:solidFill>
                  <a:schemeClr val="bg1"/>
                </a:solidFill>
              </a:rPr>
              <a:t>Star</a:t>
            </a:r>
            <a:r>
              <a:rPr sz="4800" spc="-27" dirty="0">
                <a:solidFill>
                  <a:schemeClr val="bg1"/>
                </a:solidFill>
              </a:rPr>
              <a:t> </a:t>
            </a:r>
            <a:r>
              <a:rPr sz="4800" spc="-13" dirty="0">
                <a:solidFill>
                  <a:schemeClr val="bg1"/>
                </a:solidFill>
              </a:rPr>
              <a:t>schema</a:t>
            </a:r>
            <a:endParaRPr sz="4800" dirty="0">
              <a:solidFill>
                <a:schemeClr val="bg1"/>
              </a:solidFill>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48559" y="168366"/>
            <a:ext cx="8325951" cy="695062"/>
          </a:xfrm>
          <a:prstGeom prst="rect">
            <a:avLst/>
          </a:prstGeom>
        </p:spPr>
        <p:txBody>
          <a:bodyPr vert="horz" wrap="square" lIns="0" tIns="17780" rIns="0" bIns="0" rtlCol="0" anchor="ctr">
            <a:spAutoFit/>
          </a:bodyPr>
          <a:lstStyle/>
          <a:p>
            <a:pPr marL="2355368">
              <a:lnSpc>
                <a:spcPct val="100000"/>
              </a:lnSpc>
              <a:spcBef>
                <a:spcPts val="140"/>
              </a:spcBef>
            </a:pPr>
            <a:r>
              <a:rPr dirty="0">
                <a:solidFill>
                  <a:schemeClr val="bg1"/>
                </a:solidFill>
                <a:latin typeface="+mn-lt"/>
              </a:rPr>
              <a:t>Star</a:t>
            </a:r>
            <a:r>
              <a:rPr spc="-73" dirty="0">
                <a:solidFill>
                  <a:schemeClr val="bg1"/>
                </a:solidFill>
                <a:latin typeface="+mn-lt"/>
              </a:rPr>
              <a:t> </a:t>
            </a:r>
            <a:r>
              <a:rPr spc="-13" dirty="0">
                <a:solidFill>
                  <a:schemeClr val="bg1"/>
                </a:solidFill>
                <a:latin typeface="+mn-lt"/>
              </a:rPr>
              <a:t>schema</a:t>
            </a:r>
          </a:p>
        </p:txBody>
      </p:sp>
      <p:sp>
        <p:nvSpPr>
          <p:cNvPr id="3" name="object 3"/>
          <p:cNvSpPr txBox="1"/>
          <p:nvPr/>
        </p:nvSpPr>
        <p:spPr>
          <a:xfrm>
            <a:off x="7833360" y="4011169"/>
            <a:ext cx="2438400" cy="541174"/>
          </a:xfrm>
          <a:prstGeom prst="rect">
            <a:avLst/>
          </a:prstGeom>
          <a:noFill/>
        </p:spPr>
        <p:txBody>
          <a:bodyPr vert="horz" wrap="square" lIns="0" tIns="170180" rIns="0" bIns="0" rtlCol="0">
            <a:spAutoFit/>
          </a:bodyPr>
          <a:lstStyle/>
          <a:p>
            <a:pPr marL="504601" indent="-380990">
              <a:spcBef>
                <a:spcPts val="1340"/>
              </a:spcBef>
              <a:buClr>
                <a:srgbClr val="99D3FF"/>
              </a:buClr>
              <a:buFont typeface="Wingdings"/>
              <a:buChar char=""/>
              <a:tabLst>
                <a:tab pos="504601" algn="l"/>
              </a:tabLst>
            </a:pPr>
            <a:r>
              <a:rPr sz="2400" b="1" spc="-13" dirty="0">
                <a:solidFill>
                  <a:srgbClr val="D9D9D9"/>
                </a:solidFill>
                <a:latin typeface="Calibri"/>
                <a:cs typeface="Calibri"/>
              </a:rPr>
              <a:t>Dimensions</a:t>
            </a:r>
            <a:endParaRPr sz="2400">
              <a:latin typeface="Calibri"/>
              <a:cs typeface="Calibri"/>
            </a:endParaRPr>
          </a:p>
        </p:txBody>
      </p:sp>
      <p:sp>
        <p:nvSpPr>
          <p:cNvPr id="4" name="object 4"/>
          <p:cNvSpPr txBox="1"/>
          <p:nvPr/>
        </p:nvSpPr>
        <p:spPr>
          <a:xfrm>
            <a:off x="2634657" y="4206917"/>
            <a:ext cx="1355513" cy="302455"/>
          </a:xfrm>
          <a:prstGeom prst="rect">
            <a:avLst/>
          </a:prstGeom>
        </p:spPr>
        <p:txBody>
          <a:bodyPr vert="horz" wrap="square" lIns="0" tIns="0" rIns="0" bIns="0" rtlCol="0">
            <a:spAutoFit/>
          </a:bodyPr>
          <a:lstStyle/>
          <a:p>
            <a:pPr>
              <a:lnSpc>
                <a:spcPts val="2280"/>
              </a:lnSpc>
            </a:pPr>
            <a:r>
              <a:rPr sz="2400" b="1" spc="-13" dirty="0">
                <a:solidFill>
                  <a:srgbClr val="D9D9D9"/>
                </a:solidFill>
                <a:latin typeface="Calibri"/>
                <a:cs typeface="Calibri"/>
              </a:rPr>
              <a:t>Dimension</a:t>
            </a:r>
            <a:endParaRPr sz="2400">
              <a:latin typeface="Calibri"/>
              <a:cs typeface="Calibri"/>
            </a:endParaRPr>
          </a:p>
        </p:txBody>
      </p:sp>
      <p:sp>
        <p:nvSpPr>
          <p:cNvPr id="5" name="object 5"/>
          <p:cNvSpPr/>
          <p:nvPr/>
        </p:nvSpPr>
        <p:spPr>
          <a:xfrm>
            <a:off x="7244079" y="3501135"/>
            <a:ext cx="1810173" cy="511387"/>
          </a:xfrm>
          <a:custGeom>
            <a:avLst/>
            <a:gdLst/>
            <a:ahLst/>
            <a:cxnLst/>
            <a:rect l="l" t="t" r="r" b="b"/>
            <a:pathLst>
              <a:path w="1357629" h="383539">
                <a:moveTo>
                  <a:pt x="0" y="0"/>
                </a:moveTo>
                <a:lnTo>
                  <a:pt x="1357630" y="383286"/>
                </a:lnTo>
              </a:path>
            </a:pathLst>
          </a:custGeom>
          <a:ln w="9144">
            <a:solidFill>
              <a:srgbClr val="00C2FF"/>
            </a:solidFill>
          </a:ln>
        </p:spPr>
        <p:txBody>
          <a:bodyPr wrap="square" lIns="0" tIns="0" rIns="0" bIns="0" rtlCol="0"/>
          <a:lstStyle/>
          <a:p>
            <a:endParaRPr sz="2400"/>
          </a:p>
        </p:txBody>
      </p:sp>
      <p:sp>
        <p:nvSpPr>
          <p:cNvPr id="6" name="object 6"/>
          <p:cNvSpPr/>
          <p:nvPr/>
        </p:nvSpPr>
        <p:spPr>
          <a:xfrm>
            <a:off x="3348735" y="3531616"/>
            <a:ext cx="2035387" cy="430953"/>
          </a:xfrm>
          <a:custGeom>
            <a:avLst/>
            <a:gdLst/>
            <a:ahLst/>
            <a:cxnLst/>
            <a:rect l="l" t="t" r="r" b="b"/>
            <a:pathLst>
              <a:path w="1526539" h="323214">
                <a:moveTo>
                  <a:pt x="1526539" y="0"/>
                </a:moveTo>
                <a:lnTo>
                  <a:pt x="0" y="322706"/>
                </a:lnTo>
              </a:path>
            </a:pathLst>
          </a:custGeom>
          <a:ln w="9144">
            <a:solidFill>
              <a:srgbClr val="00C2FF"/>
            </a:solidFill>
          </a:ln>
        </p:spPr>
        <p:txBody>
          <a:bodyPr wrap="square" lIns="0" tIns="0" rIns="0" bIns="0" rtlCol="0"/>
          <a:lstStyle/>
          <a:p>
            <a:endParaRPr sz="2400"/>
          </a:p>
        </p:txBody>
      </p:sp>
      <p:sp>
        <p:nvSpPr>
          <p:cNvPr id="7" name="object 7"/>
          <p:cNvSpPr/>
          <p:nvPr/>
        </p:nvSpPr>
        <p:spPr>
          <a:xfrm>
            <a:off x="5338064" y="3011423"/>
            <a:ext cx="1893993" cy="618067"/>
          </a:xfrm>
          <a:custGeom>
            <a:avLst/>
            <a:gdLst/>
            <a:ahLst/>
            <a:cxnLst/>
            <a:rect l="l" t="t" r="r" b="b"/>
            <a:pathLst>
              <a:path w="1420495" h="463550">
                <a:moveTo>
                  <a:pt x="1420368" y="0"/>
                </a:moveTo>
                <a:lnTo>
                  <a:pt x="0" y="0"/>
                </a:lnTo>
                <a:lnTo>
                  <a:pt x="0" y="463295"/>
                </a:lnTo>
                <a:lnTo>
                  <a:pt x="1420368" y="463295"/>
                </a:lnTo>
                <a:lnTo>
                  <a:pt x="1420368" y="0"/>
                </a:lnTo>
                <a:close/>
              </a:path>
            </a:pathLst>
          </a:custGeom>
          <a:solidFill>
            <a:srgbClr val="404040">
              <a:alpha val="89019"/>
            </a:srgbClr>
          </a:solidFill>
        </p:spPr>
        <p:txBody>
          <a:bodyPr wrap="square" lIns="0" tIns="0" rIns="0" bIns="0" rtlCol="0"/>
          <a:lstStyle/>
          <a:p>
            <a:endParaRPr sz="2400"/>
          </a:p>
        </p:txBody>
      </p:sp>
      <p:sp>
        <p:nvSpPr>
          <p:cNvPr id="8" name="object 8"/>
          <p:cNvSpPr txBox="1"/>
          <p:nvPr/>
        </p:nvSpPr>
        <p:spPr>
          <a:xfrm>
            <a:off x="5843694" y="3256619"/>
            <a:ext cx="646007" cy="302455"/>
          </a:xfrm>
          <a:prstGeom prst="rect">
            <a:avLst/>
          </a:prstGeom>
        </p:spPr>
        <p:txBody>
          <a:bodyPr vert="horz" wrap="square" lIns="0" tIns="0" rIns="0" bIns="0" rtlCol="0">
            <a:spAutoFit/>
          </a:bodyPr>
          <a:lstStyle/>
          <a:p>
            <a:pPr>
              <a:lnSpc>
                <a:spcPts val="2280"/>
              </a:lnSpc>
            </a:pPr>
            <a:r>
              <a:rPr sz="2400" b="1" spc="-13" dirty="0">
                <a:solidFill>
                  <a:srgbClr val="99D3FF"/>
                </a:solidFill>
                <a:latin typeface="Calibri"/>
                <a:cs typeface="Calibri"/>
              </a:rPr>
              <a:t>Facts</a:t>
            </a:r>
            <a:endParaRPr sz="2400">
              <a:latin typeface="Calibri"/>
              <a:cs typeface="Calibri"/>
            </a:endParaRPr>
          </a:p>
        </p:txBody>
      </p:sp>
      <p:graphicFrame>
        <p:nvGraphicFramePr>
          <p:cNvPr id="9" name="object 9"/>
          <p:cNvGraphicFramePr>
            <a:graphicFrameLocks noGrp="1"/>
          </p:cNvGraphicFramePr>
          <p:nvPr>
            <p:extLst>
              <p:ext uri="{D42A27DB-BD31-4B8C-83A1-F6EECF244321}">
                <p14:modId xmlns:p14="http://schemas.microsoft.com/office/powerpoint/2010/main" val="4013520165"/>
              </p:ext>
            </p:extLst>
          </p:nvPr>
        </p:nvGraphicFramePr>
        <p:xfrm>
          <a:off x="2124372" y="3559074"/>
          <a:ext cx="2436704" cy="1523154"/>
        </p:xfrm>
        <a:graphic>
          <a:graphicData uri="http://schemas.openxmlformats.org/drawingml/2006/table">
            <a:tbl>
              <a:tblPr firstRow="1" bandRow="1">
                <a:tableStyleId>{2D5ABB26-0587-4C30-8999-92F81FD0307C}</a:tableStyleId>
              </a:tblPr>
              <a:tblGrid>
                <a:gridCol w="452967">
                  <a:extLst>
                    <a:ext uri="{9D8B030D-6E8A-4147-A177-3AD203B41FA5}">
                      <a16:colId xmlns:a16="http://schemas.microsoft.com/office/drawing/2014/main" val="20000"/>
                    </a:ext>
                  </a:extLst>
                </a:gridCol>
                <a:gridCol w="1390225">
                  <a:extLst>
                    <a:ext uri="{9D8B030D-6E8A-4147-A177-3AD203B41FA5}">
                      <a16:colId xmlns:a16="http://schemas.microsoft.com/office/drawing/2014/main" val="20001"/>
                    </a:ext>
                  </a:extLst>
                </a:gridCol>
                <a:gridCol w="593512">
                  <a:extLst>
                    <a:ext uri="{9D8B030D-6E8A-4147-A177-3AD203B41FA5}">
                      <a16:colId xmlns:a16="http://schemas.microsoft.com/office/drawing/2014/main" val="20002"/>
                    </a:ext>
                  </a:extLst>
                </a:gridCol>
              </a:tblGrid>
              <a:tr h="254000">
                <a:tc rowSpan="2">
                  <a:txBody>
                    <a:bodyPr/>
                    <a:lstStyle/>
                    <a:p>
                      <a:pPr>
                        <a:lnSpc>
                          <a:spcPct val="100000"/>
                        </a:lnSpc>
                      </a:pPr>
                      <a:endParaRPr sz="1700">
                        <a:latin typeface="Times New Roman"/>
                        <a:cs typeface="Times New Roman"/>
                      </a:endParaRPr>
                    </a:p>
                  </a:txBody>
                  <a:tcPr marL="0" marR="0" marT="0" marB="0">
                    <a:lnR w="12700">
                      <a:solidFill>
                        <a:srgbClr val="000000"/>
                      </a:solidFill>
                      <a:prstDash val="solid"/>
                    </a:lnR>
                  </a:tcPr>
                </a:tc>
                <a:tc>
                  <a:txBody>
                    <a:bodyPr/>
                    <a:lstStyle/>
                    <a:p>
                      <a:pPr marL="635" algn="ctr">
                        <a:lnSpc>
                          <a:spcPts val="1175"/>
                        </a:lnSpc>
                        <a:spcBef>
                          <a:spcPts val="225"/>
                        </a:spcBef>
                      </a:pPr>
                      <a:r>
                        <a:rPr sz="1400" b="1" spc="-10" dirty="0">
                          <a:latin typeface="Arial"/>
                          <a:cs typeface="Arial"/>
                        </a:rPr>
                        <a:t>Dim_Product</a:t>
                      </a:r>
                      <a:endParaRPr sz="1400" dirty="0">
                        <a:latin typeface="Arial"/>
                        <a:cs typeface="Arial"/>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rowSpan="2">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tcPr>
                </a:tc>
                <a:extLst>
                  <a:ext uri="{0D108BD9-81ED-4DB2-BD59-A6C34878D82A}">
                    <a16:rowId xmlns:a16="http://schemas.microsoft.com/office/drawing/2014/main" val="10000"/>
                  </a:ext>
                </a:extLst>
              </a:tr>
              <a:tr h="254000">
                <a:tc vMerge="1">
                  <a:txBody>
                    <a:bodyPr/>
                    <a:lstStyle/>
                    <a:p>
                      <a:endParaRPr/>
                    </a:p>
                  </a:txBody>
                  <a:tcPr marL="0" marR="0" marT="0" marB="0">
                    <a:lnR w="12700">
                      <a:solidFill>
                        <a:srgbClr val="000000"/>
                      </a:solidFill>
                      <a:prstDash val="solid"/>
                    </a:lnR>
                  </a:tcPr>
                </a:tc>
                <a:tc>
                  <a:txBody>
                    <a:bodyPr/>
                    <a:lstStyle/>
                    <a:p>
                      <a:pPr algn="ctr">
                        <a:lnSpc>
                          <a:spcPts val="1175"/>
                        </a:lnSpc>
                        <a:spcBef>
                          <a:spcPts val="225"/>
                        </a:spcBef>
                      </a:pPr>
                      <a:r>
                        <a:rPr sz="1400" spc="-10" dirty="0">
                          <a:latin typeface="Arial MT"/>
                          <a:cs typeface="Arial MT"/>
                        </a:rPr>
                        <a:t>product_id</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vMerge="1">
                  <a:txBody>
                    <a:bodyPr/>
                    <a:lstStyle/>
                    <a:p>
                      <a:endParaRPr/>
                    </a:p>
                  </a:txBody>
                  <a:tcPr marL="0" marR="0" marT="0" marB="0">
                    <a:lnL w="12700">
                      <a:solidFill>
                        <a:srgbClr val="000000"/>
                      </a:solidFill>
                      <a:prstDash val="solid"/>
                    </a:lnL>
                  </a:tcPr>
                </a:tc>
                <a:extLst>
                  <a:ext uri="{0D108BD9-81ED-4DB2-BD59-A6C34878D82A}">
                    <a16:rowId xmlns:a16="http://schemas.microsoft.com/office/drawing/2014/main" val="10001"/>
                  </a:ext>
                </a:extLst>
              </a:tr>
              <a:tr h="254000">
                <a:tc rowSpan="3">
                  <a:txBody>
                    <a:bodyPr/>
                    <a:lstStyle/>
                    <a:p>
                      <a:pPr marL="92075">
                        <a:lnSpc>
                          <a:spcPct val="100000"/>
                        </a:lnSpc>
                        <a:spcBef>
                          <a:spcPts val="830"/>
                        </a:spcBef>
                      </a:pPr>
                      <a:r>
                        <a:rPr sz="2400" spc="-50" dirty="0">
                          <a:solidFill>
                            <a:srgbClr val="99D3FF"/>
                          </a:solidFill>
                          <a:latin typeface="Wingdings"/>
                          <a:cs typeface="Wingdings"/>
                        </a:rPr>
                        <a:t></a:t>
                      </a:r>
                      <a:endParaRPr sz="2400">
                        <a:latin typeface="Wingdings"/>
                        <a:cs typeface="Wingdings"/>
                      </a:endParaRPr>
                    </a:p>
                  </a:txBody>
                  <a:tcPr marL="0" marR="0" marT="140547" marB="0">
                    <a:lnR w="12700">
                      <a:solidFill>
                        <a:srgbClr val="000000"/>
                      </a:solidFill>
                      <a:prstDash val="solid"/>
                    </a:lnR>
                    <a:solidFill>
                      <a:srgbClr val="383838">
                        <a:alpha val="89019"/>
                      </a:srgbClr>
                    </a:solidFill>
                  </a:tcPr>
                </a:tc>
                <a:tc>
                  <a:txBody>
                    <a:bodyPr/>
                    <a:lstStyle/>
                    <a:p>
                      <a:pPr algn="ctr">
                        <a:lnSpc>
                          <a:spcPts val="1170"/>
                        </a:lnSpc>
                        <a:spcBef>
                          <a:spcPts val="225"/>
                        </a:spcBef>
                      </a:pPr>
                      <a:r>
                        <a:rPr sz="1400" spc="-20" dirty="0">
                          <a:latin typeface="Arial MT"/>
                          <a:cs typeface="Arial MT"/>
                        </a:rPr>
                        <a:t>name</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rowSpan="3">
                  <a:txBody>
                    <a:bodyPr/>
                    <a:lstStyle/>
                    <a:p>
                      <a:pPr marL="12700">
                        <a:lnSpc>
                          <a:spcPct val="100000"/>
                        </a:lnSpc>
                        <a:spcBef>
                          <a:spcPts val="830"/>
                        </a:spcBef>
                      </a:pPr>
                      <a:r>
                        <a:rPr sz="2400" b="1" spc="-50" dirty="0">
                          <a:solidFill>
                            <a:srgbClr val="D9D9D9"/>
                          </a:solidFill>
                          <a:latin typeface="Calibri"/>
                          <a:cs typeface="Calibri"/>
                        </a:rPr>
                        <a:t>s</a:t>
                      </a:r>
                      <a:endParaRPr sz="2400" dirty="0">
                        <a:latin typeface="Calibri"/>
                        <a:cs typeface="Calibri"/>
                      </a:endParaRPr>
                    </a:p>
                  </a:txBody>
                  <a:tcPr marL="0" marR="0" marT="140547" marB="0">
                    <a:lnL w="12700">
                      <a:solidFill>
                        <a:srgbClr val="000000"/>
                      </a:solidFill>
                      <a:prstDash val="solid"/>
                    </a:lnL>
                    <a:solidFill>
                      <a:srgbClr val="383838">
                        <a:alpha val="89019"/>
                      </a:srgbClr>
                    </a:solidFill>
                  </a:tcPr>
                </a:tc>
                <a:extLst>
                  <a:ext uri="{0D108BD9-81ED-4DB2-BD59-A6C34878D82A}">
                    <a16:rowId xmlns:a16="http://schemas.microsoft.com/office/drawing/2014/main" val="10002"/>
                  </a:ext>
                </a:extLst>
              </a:tr>
              <a:tr h="254000">
                <a:tc vMerge="1">
                  <a:txBody>
                    <a:bodyPr/>
                    <a:lstStyle/>
                    <a:p>
                      <a:endParaRPr/>
                    </a:p>
                  </a:txBody>
                  <a:tcPr marL="0" marR="0" marT="105410" marB="0">
                    <a:lnR w="12700">
                      <a:solidFill>
                        <a:srgbClr val="000000"/>
                      </a:solidFill>
                      <a:prstDash val="solid"/>
                    </a:lnR>
                    <a:solidFill>
                      <a:srgbClr val="383838">
                        <a:alpha val="89019"/>
                      </a:srgbClr>
                    </a:solidFill>
                  </a:tcPr>
                </a:tc>
                <a:tc>
                  <a:txBody>
                    <a:bodyPr/>
                    <a:lstStyle/>
                    <a:p>
                      <a:pPr marL="2540" algn="ctr">
                        <a:lnSpc>
                          <a:spcPts val="1170"/>
                        </a:lnSpc>
                        <a:spcBef>
                          <a:spcPts val="225"/>
                        </a:spcBef>
                      </a:pPr>
                      <a:r>
                        <a:rPr sz="1400" spc="-10" dirty="0">
                          <a:latin typeface="Arial MT"/>
                          <a:cs typeface="Arial MT"/>
                        </a:rPr>
                        <a:t>category</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vMerge="1">
                  <a:txBody>
                    <a:bodyPr/>
                    <a:lstStyle/>
                    <a:p>
                      <a:endParaRPr/>
                    </a:p>
                  </a:txBody>
                  <a:tcPr marL="0" marR="0" marT="105410" marB="0">
                    <a:lnL w="12700">
                      <a:solidFill>
                        <a:srgbClr val="000000"/>
                      </a:solidFill>
                      <a:prstDash val="solid"/>
                    </a:lnL>
                    <a:solidFill>
                      <a:srgbClr val="383838">
                        <a:alpha val="89019"/>
                      </a:srgbClr>
                    </a:solidFill>
                  </a:tcPr>
                </a:tc>
                <a:extLst>
                  <a:ext uri="{0D108BD9-81ED-4DB2-BD59-A6C34878D82A}">
                    <a16:rowId xmlns:a16="http://schemas.microsoft.com/office/drawing/2014/main" val="10003"/>
                  </a:ext>
                </a:extLst>
              </a:tr>
              <a:tr h="79587">
                <a:tc vMerge="1">
                  <a:txBody>
                    <a:bodyPr/>
                    <a:lstStyle/>
                    <a:p>
                      <a:endParaRPr/>
                    </a:p>
                  </a:txBody>
                  <a:tcPr marL="0" marR="0" marT="105410" marB="0">
                    <a:lnR w="12700">
                      <a:solidFill>
                        <a:srgbClr val="000000"/>
                      </a:solidFill>
                      <a:prstDash val="solid"/>
                    </a:lnR>
                    <a:solidFill>
                      <a:srgbClr val="383838">
                        <a:alpha val="89019"/>
                      </a:srgbClr>
                    </a:solidFill>
                  </a:tcPr>
                </a:tc>
                <a:tc>
                  <a:txBody>
                    <a:bodyPr/>
                    <a:lstStyle/>
                    <a:p>
                      <a:pPr>
                        <a:lnSpc>
                          <a:spcPct val="100000"/>
                        </a:lnSpc>
                      </a:pPr>
                      <a:endParaRPr sz="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solidFill>
                      <a:srgbClr val="E7E7E7"/>
                    </a:solidFill>
                  </a:tcPr>
                </a:tc>
                <a:tc vMerge="1">
                  <a:txBody>
                    <a:bodyPr/>
                    <a:lstStyle/>
                    <a:p>
                      <a:endParaRPr/>
                    </a:p>
                  </a:txBody>
                  <a:tcPr marL="0" marR="0" marT="105410" marB="0">
                    <a:lnL w="12700">
                      <a:solidFill>
                        <a:srgbClr val="000000"/>
                      </a:solidFill>
                      <a:prstDash val="solid"/>
                    </a:lnL>
                    <a:solidFill>
                      <a:srgbClr val="383838">
                        <a:alpha val="89019"/>
                      </a:srgbClr>
                    </a:solidFill>
                  </a:tcPr>
                </a:tc>
                <a:extLst>
                  <a:ext uri="{0D108BD9-81ED-4DB2-BD59-A6C34878D82A}">
                    <a16:rowId xmlns:a16="http://schemas.microsoft.com/office/drawing/2014/main" val="10004"/>
                  </a:ext>
                </a:extLst>
              </a:tr>
              <a:tr h="173567">
                <a:tc rowSpan="2">
                  <a:txBody>
                    <a:bodyPr/>
                    <a:lstStyle/>
                    <a:p>
                      <a:pPr>
                        <a:lnSpc>
                          <a:spcPct val="100000"/>
                        </a:lnSpc>
                      </a:pPr>
                      <a:endParaRPr sz="1700">
                        <a:latin typeface="Times New Roman"/>
                        <a:cs typeface="Times New Roman"/>
                      </a:endParaRPr>
                    </a:p>
                  </a:txBody>
                  <a:tcPr marL="0" marR="0" marT="0" marB="0">
                    <a:lnR w="12700">
                      <a:solidFill>
                        <a:srgbClr val="000000"/>
                      </a:solidFill>
                      <a:prstDash val="solid"/>
                    </a:lnR>
                  </a:tcPr>
                </a:tc>
                <a:tc>
                  <a:txBody>
                    <a:bodyPr/>
                    <a:lstStyle/>
                    <a:p>
                      <a:pPr marL="1905" algn="ctr">
                        <a:lnSpc>
                          <a:spcPts val="925"/>
                        </a:lnSpc>
                      </a:pPr>
                      <a:r>
                        <a:rPr sz="1400" spc="-10" dirty="0">
                          <a:latin typeface="Arial MT"/>
                          <a:cs typeface="Arial MT"/>
                        </a:rPr>
                        <a:t>subcategory</a:t>
                      </a:r>
                      <a:endParaRPr sz="1400">
                        <a:latin typeface="Arial MT"/>
                        <a:cs typeface="Arial MT"/>
                      </a:endParaRPr>
                    </a:p>
                  </a:txBody>
                  <a:tcPr marL="0" marR="0" marT="0" marB="0">
                    <a:lnL w="12700">
                      <a:solidFill>
                        <a:srgbClr val="000000"/>
                      </a:solidFill>
                      <a:prstDash val="solid"/>
                    </a:lnL>
                    <a:lnR w="12700">
                      <a:solidFill>
                        <a:srgbClr val="000000"/>
                      </a:solidFill>
                      <a:prstDash val="solid"/>
                    </a:lnR>
                    <a:lnB w="12700">
                      <a:solidFill>
                        <a:srgbClr val="000000"/>
                      </a:solidFill>
                      <a:prstDash val="solid"/>
                    </a:lnB>
                    <a:solidFill>
                      <a:srgbClr val="E7E7E7"/>
                    </a:solidFill>
                  </a:tcPr>
                </a:tc>
                <a:tc rowSpan="2">
                  <a:txBody>
                    <a:bodyPr/>
                    <a:lstStyle/>
                    <a:p>
                      <a:pPr>
                        <a:lnSpc>
                          <a:spcPct val="100000"/>
                        </a:lnSpc>
                      </a:pPr>
                      <a:endParaRPr sz="1700" dirty="0">
                        <a:latin typeface="Times New Roman"/>
                        <a:cs typeface="Times New Roman"/>
                      </a:endParaRPr>
                    </a:p>
                  </a:txBody>
                  <a:tcPr marL="0" marR="0" marT="0" marB="0">
                    <a:lnL w="12700">
                      <a:solidFill>
                        <a:srgbClr val="000000"/>
                      </a:solidFill>
                      <a:prstDash val="solid"/>
                    </a:lnL>
                  </a:tcPr>
                </a:tc>
                <a:extLst>
                  <a:ext uri="{0D108BD9-81ED-4DB2-BD59-A6C34878D82A}">
                    <a16:rowId xmlns:a16="http://schemas.microsoft.com/office/drawing/2014/main" val="10005"/>
                  </a:ext>
                </a:extLst>
              </a:tr>
              <a:tr h="254000">
                <a:tc vMerge="1">
                  <a:txBody>
                    <a:bodyPr/>
                    <a:lstStyle/>
                    <a:p>
                      <a:endParaRPr/>
                    </a:p>
                  </a:txBody>
                  <a:tcPr marL="0" marR="0" marT="0" marB="0">
                    <a:lnR w="12700">
                      <a:solidFill>
                        <a:srgbClr val="000000"/>
                      </a:solidFill>
                      <a:prstDash val="solid"/>
                    </a:lnR>
                  </a:tcPr>
                </a:tc>
                <a:tc>
                  <a:txBody>
                    <a:bodyPr/>
                    <a:lstStyle/>
                    <a:p>
                      <a:pPr algn="ctr">
                        <a:lnSpc>
                          <a:spcPts val="1170"/>
                        </a:lnSpc>
                        <a:spcBef>
                          <a:spcPts val="225"/>
                        </a:spcBef>
                      </a:pPr>
                      <a:r>
                        <a:rPr sz="1400" spc="-10" dirty="0">
                          <a:latin typeface="Arial MT"/>
                          <a:cs typeface="Arial MT"/>
                        </a:rPr>
                        <a:t>dimensions</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vMerge="1">
                  <a:txBody>
                    <a:bodyPr/>
                    <a:lstStyle/>
                    <a:p>
                      <a:endParaRPr/>
                    </a:p>
                  </a:txBody>
                  <a:tcPr marL="0" marR="0" marT="0" marB="0">
                    <a:lnL w="12700">
                      <a:solidFill>
                        <a:srgbClr val="000000"/>
                      </a:solidFill>
                      <a:prstDash val="solid"/>
                    </a:lnL>
                  </a:tcPr>
                </a:tc>
                <a:extLst>
                  <a:ext uri="{0D108BD9-81ED-4DB2-BD59-A6C34878D82A}">
                    <a16:rowId xmlns:a16="http://schemas.microsoft.com/office/drawing/2014/main" val="10006"/>
                  </a:ext>
                </a:extLst>
              </a:tr>
            </a:tbl>
          </a:graphicData>
        </a:graphic>
      </p:graphicFrame>
      <p:graphicFrame>
        <p:nvGraphicFramePr>
          <p:cNvPr id="10" name="object 10"/>
          <p:cNvGraphicFramePr>
            <a:graphicFrameLocks noGrp="1"/>
          </p:cNvGraphicFramePr>
          <p:nvPr>
            <p:extLst>
              <p:ext uri="{D42A27DB-BD31-4B8C-83A1-F6EECF244321}">
                <p14:modId xmlns:p14="http://schemas.microsoft.com/office/powerpoint/2010/main" val="3826042824"/>
              </p:ext>
            </p:extLst>
          </p:nvPr>
        </p:nvGraphicFramePr>
        <p:xfrm>
          <a:off x="5071361" y="1530626"/>
          <a:ext cx="2225888" cy="3965099"/>
        </p:xfrm>
        <a:graphic>
          <a:graphicData uri="http://schemas.openxmlformats.org/drawingml/2006/table">
            <a:tbl>
              <a:tblPr firstRow="1" bandRow="1">
                <a:tableStyleId>{2D5ABB26-0587-4C30-8999-92F81FD0307C}</a:tableStyleId>
              </a:tblPr>
              <a:tblGrid>
                <a:gridCol w="521547">
                  <a:extLst>
                    <a:ext uri="{9D8B030D-6E8A-4147-A177-3AD203B41FA5}">
                      <a16:colId xmlns:a16="http://schemas.microsoft.com/office/drawing/2014/main" val="20000"/>
                    </a:ext>
                  </a:extLst>
                </a:gridCol>
                <a:gridCol w="602827">
                  <a:extLst>
                    <a:ext uri="{9D8B030D-6E8A-4147-A177-3AD203B41FA5}">
                      <a16:colId xmlns:a16="http://schemas.microsoft.com/office/drawing/2014/main" val="20001"/>
                    </a:ext>
                  </a:extLst>
                </a:gridCol>
                <a:gridCol w="788247">
                  <a:extLst>
                    <a:ext uri="{9D8B030D-6E8A-4147-A177-3AD203B41FA5}">
                      <a16:colId xmlns:a16="http://schemas.microsoft.com/office/drawing/2014/main" val="20002"/>
                    </a:ext>
                  </a:extLst>
                </a:gridCol>
                <a:gridCol w="313267">
                  <a:extLst>
                    <a:ext uri="{9D8B030D-6E8A-4147-A177-3AD203B41FA5}">
                      <a16:colId xmlns:a16="http://schemas.microsoft.com/office/drawing/2014/main" val="20003"/>
                    </a:ext>
                  </a:extLst>
                </a:gridCol>
              </a:tblGrid>
              <a:tr h="1044052">
                <a:tc gridSpan="4">
                  <a:txBody>
                    <a:bodyPr/>
                    <a:lstStyle/>
                    <a:p>
                      <a:pPr marL="377190" indent="-285750">
                        <a:lnSpc>
                          <a:spcPct val="100000"/>
                        </a:lnSpc>
                        <a:spcBef>
                          <a:spcPts val="990"/>
                        </a:spcBef>
                        <a:buClr>
                          <a:srgbClr val="99D3FF"/>
                        </a:buClr>
                        <a:buFont typeface="Wingdings"/>
                        <a:buChar char=""/>
                        <a:tabLst>
                          <a:tab pos="377190" algn="l"/>
                        </a:tabLst>
                      </a:pPr>
                      <a:r>
                        <a:rPr sz="2400" b="1" spc="-10" dirty="0">
                          <a:solidFill>
                            <a:srgbClr val="D9D9D9"/>
                          </a:solidFill>
                          <a:latin typeface="Calibri"/>
                          <a:cs typeface="Calibri"/>
                        </a:rPr>
                        <a:t>Dimensions</a:t>
                      </a:r>
                      <a:endParaRPr sz="2400" dirty="0">
                        <a:latin typeface="Calibri"/>
                        <a:cs typeface="Calibri"/>
                      </a:endParaRPr>
                    </a:p>
                  </a:txBody>
                  <a:tcPr marL="0" marR="0" marT="167640" marB="0">
                    <a:no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336049">
                <a:tc gridSpan="2">
                  <a:txBody>
                    <a:bodyPr/>
                    <a:lstStyle/>
                    <a:p>
                      <a:pPr>
                        <a:lnSpc>
                          <a:spcPct val="100000"/>
                        </a:lnSpc>
                      </a:pPr>
                      <a:endParaRPr sz="1100">
                        <a:latin typeface="Times New Roman"/>
                        <a:cs typeface="Times New Roman"/>
                      </a:endParaRPr>
                    </a:p>
                  </a:txBody>
                  <a:tcPr marL="0" marR="0" marT="0" marB="0">
                    <a:lnR w="9525">
                      <a:solidFill>
                        <a:srgbClr val="00C2FF"/>
                      </a:solidFill>
                      <a:prstDash val="solid"/>
                    </a:lnR>
                  </a:tcPr>
                </a:tc>
                <a:tc hMerge="1">
                  <a:txBody>
                    <a:bodyPr/>
                    <a:lstStyle/>
                    <a:p>
                      <a:endParaRPr/>
                    </a:p>
                  </a:txBody>
                  <a:tcPr marL="0" marR="0" marT="0" marB="0"/>
                </a:tc>
                <a:tc gridSpan="2">
                  <a:txBody>
                    <a:bodyPr/>
                    <a:lstStyle/>
                    <a:p>
                      <a:pPr>
                        <a:lnSpc>
                          <a:spcPct val="100000"/>
                        </a:lnSpc>
                      </a:pPr>
                      <a:endParaRPr sz="1100">
                        <a:latin typeface="Times New Roman"/>
                        <a:cs typeface="Times New Roman"/>
                      </a:endParaRPr>
                    </a:p>
                  </a:txBody>
                  <a:tcPr marL="0" marR="0" marT="0" marB="0">
                    <a:lnL w="9525">
                      <a:solidFill>
                        <a:srgbClr val="00C2FF"/>
                      </a:solidFill>
                      <a:prstDash val="solid"/>
                    </a:lnL>
                  </a:tcPr>
                </a:tc>
                <a:tc hMerge="1">
                  <a:txBody>
                    <a:bodyPr/>
                    <a:lstStyle/>
                    <a:p>
                      <a:endParaRPr/>
                    </a:p>
                  </a:txBody>
                  <a:tcPr marL="0" marR="0" marT="0" marB="0"/>
                </a:tc>
                <a:extLst>
                  <a:ext uri="{0D108BD9-81ED-4DB2-BD59-A6C34878D82A}">
                    <a16:rowId xmlns:a16="http://schemas.microsoft.com/office/drawing/2014/main" val="10001"/>
                  </a:ext>
                </a:extLst>
              </a:tr>
              <a:tr h="430833">
                <a:tc rowSpan="6">
                  <a:txBody>
                    <a:bodyPr/>
                    <a:lstStyle/>
                    <a:p>
                      <a:pPr marR="12065">
                        <a:lnSpc>
                          <a:spcPct val="100000"/>
                        </a:lnSpc>
                        <a:spcBef>
                          <a:spcPts val="645"/>
                        </a:spcBef>
                      </a:pPr>
                      <a:endParaRPr sz="2400">
                        <a:latin typeface="Times New Roman"/>
                        <a:cs typeface="Times New Roman"/>
                      </a:endParaRPr>
                    </a:p>
                    <a:p>
                      <a:pPr marL="207010">
                        <a:lnSpc>
                          <a:spcPct val="100000"/>
                        </a:lnSpc>
                        <a:spcBef>
                          <a:spcPts val="5"/>
                        </a:spcBef>
                      </a:pPr>
                      <a:r>
                        <a:rPr sz="2400" spc="-50" dirty="0">
                          <a:solidFill>
                            <a:srgbClr val="99D3FF"/>
                          </a:solidFill>
                          <a:latin typeface="Wingdings"/>
                          <a:cs typeface="Wingdings"/>
                        </a:rPr>
                        <a:t></a:t>
                      </a:r>
                      <a:endParaRPr sz="2400">
                        <a:latin typeface="Wingdings"/>
                        <a:cs typeface="Wingdings"/>
                      </a:endParaRPr>
                    </a:p>
                  </a:txBody>
                  <a:tcPr marL="0" marR="0" marT="109220" marB="0">
                    <a:lnR w="12700">
                      <a:solidFill>
                        <a:srgbClr val="000000"/>
                      </a:solidFill>
                      <a:prstDash val="solid"/>
                    </a:lnR>
                  </a:tcPr>
                </a:tc>
                <a:tc gridSpan="2">
                  <a:txBody>
                    <a:bodyPr/>
                    <a:lstStyle/>
                    <a:p>
                      <a:pPr marL="635" algn="ctr">
                        <a:lnSpc>
                          <a:spcPts val="1285"/>
                        </a:lnSpc>
                        <a:spcBef>
                          <a:spcPts val="114"/>
                        </a:spcBef>
                      </a:pPr>
                      <a:r>
                        <a:rPr sz="1500" b="1" spc="-10" dirty="0">
                          <a:solidFill>
                            <a:srgbClr val="F1F1F1"/>
                          </a:solidFill>
                          <a:latin typeface="Calibri"/>
                          <a:cs typeface="Calibri"/>
                        </a:rPr>
                        <a:t>Sales</a:t>
                      </a:r>
                      <a:endParaRPr sz="1500">
                        <a:latin typeface="Calibri"/>
                        <a:cs typeface="Calibri"/>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1C1C1C"/>
                    </a:solidFill>
                  </a:tcPr>
                </a:tc>
                <a:tc hMerge="1">
                  <a:txBody>
                    <a:bodyPr/>
                    <a:lstStyle/>
                    <a:p>
                      <a:endParaRPr/>
                    </a:p>
                  </a:txBody>
                  <a:tcPr marL="0" marR="0" marT="0" marB="0"/>
                </a:tc>
                <a:tc rowSpan="6">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tcPr>
                </a:tc>
                <a:extLst>
                  <a:ext uri="{0D108BD9-81ED-4DB2-BD59-A6C34878D82A}">
                    <a16:rowId xmlns:a16="http://schemas.microsoft.com/office/drawing/2014/main" val="10002"/>
                  </a:ext>
                </a:extLst>
              </a:tr>
              <a:tr h="430833">
                <a:tc vMerge="1">
                  <a:txBody>
                    <a:bodyPr/>
                    <a:lstStyle/>
                    <a:p>
                      <a:endParaRPr/>
                    </a:p>
                  </a:txBody>
                  <a:tcPr marL="0" marR="0" marT="81915" marB="0">
                    <a:lnR w="12700">
                      <a:solidFill>
                        <a:srgbClr val="000000"/>
                      </a:solidFill>
                      <a:prstDash val="solid"/>
                    </a:lnR>
                  </a:tcPr>
                </a:tc>
                <a:tc gridSpan="2">
                  <a:txBody>
                    <a:bodyPr/>
                    <a:lstStyle/>
                    <a:p>
                      <a:pPr marL="294640">
                        <a:lnSpc>
                          <a:spcPts val="1285"/>
                        </a:lnSpc>
                        <a:spcBef>
                          <a:spcPts val="114"/>
                        </a:spcBef>
                      </a:pPr>
                      <a:r>
                        <a:rPr sz="1500" spc="-10" dirty="0">
                          <a:latin typeface="Calibri"/>
                          <a:cs typeface="Calibri"/>
                        </a:rPr>
                        <a:t>sales_id</a:t>
                      </a:r>
                      <a:endParaRPr sz="1500">
                        <a:latin typeface="Calibri"/>
                        <a:cs typeface="Calibri"/>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hMerge="1">
                  <a:txBody>
                    <a:bodyPr/>
                    <a:lstStyle/>
                    <a:p>
                      <a:endParaRPr/>
                    </a:p>
                  </a:txBody>
                  <a:tcPr marL="0" marR="0" marT="0" marB="0"/>
                </a:tc>
                <a:tc vMerge="1">
                  <a:txBody>
                    <a:bodyPr/>
                    <a:lstStyle/>
                    <a:p>
                      <a:endParaRPr/>
                    </a:p>
                  </a:txBody>
                  <a:tcPr marL="0" marR="0" marT="0" marB="0">
                    <a:lnL w="12700">
                      <a:solidFill>
                        <a:srgbClr val="000000"/>
                      </a:solidFill>
                      <a:prstDash val="solid"/>
                    </a:lnL>
                  </a:tcPr>
                </a:tc>
                <a:extLst>
                  <a:ext uri="{0D108BD9-81ED-4DB2-BD59-A6C34878D82A}">
                    <a16:rowId xmlns:a16="http://schemas.microsoft.com/office/drawing/2014/main" val="10003"/>
                  </a:ext>
                </a:extLst>
              </a:tr>
              <a:tr h="430833">
                <a:tc vMerge="1">
                  <a:txBody>
                    <a:bodyPr/>
                    <a:lstStyle/>
                    <a:p>
                      <a:endParaRPr/>
                    </a:p>
                  </a:txBody>
                  <a:tcPr marL="0" marR="0" marT="81915" marB="0">
                    <a:lnR w="12700">
                      <a:solidFill>
                        <a:srgbClr val="000000"/>
                      </a:solidFill>
                      <a:prstDash val="solid"/>
                    </a:lnR>
                  </a:tcPr>
                </a:tc>
                <a:tc gridSpan="2">
                  <a:txBody>
                    <a:bodyPr/>
                    <a:lstStyle/>
                    <a:p>
                      <a:pPr marL="209550">
                        <a:lnSpc>
                          <a:spcPts val="1285"/>
                        </a:lnSpc>
                        <a:spcBef>
                          <a:spcPts val="114"/>
                        </a:spcBef>
                      </a:pPr>
                      <a:r>
                        <a:rPr sz="1500" spc="-10" dirty="0">
                          <a:latin typeface="Calibri"/>
                          <a:cs typeface="Calibri"/>
                        </a:rPr>
                        <a:t>product_id</a:t>
                      </a:r>
                      <a:endParaRPr sz="1500">
                        <a:latin typeface="Calibri"/>
                        <a:cs typeface="Calibri"/>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hMerge="1">
                  <a:txBody>
                    <a:bodyPr/>
                    <a:lstStyle/>
                    <a:p>
                      <a:endParaRPr/>
                    </a:p>
                  </a:txBody>
                  <a:tcPr marL="0" marR="0" marT="0" marB="0"/>
                </a:tc>
                <a:tc vMerge="1">
                  <a:txBody>
                    <a:bodyPr/>
                    <a:lstStyle/>
                    <a:p>
                      <a:endParaRPr/>
                    </a:p>
                  </a:txBody>
                  <a:tcPr marL="0" marR="0" marT="0" marB="0">
                    <a:lnL w="12700">
                      <a:solidFill>
                        <a:srgbClr val="000000"/>
                      </a:solidFill>
                      <a:prstDash val="solid"/>
                    </a:lnL>
                  </a:tcPr>
                </a:tc>
                <a:extLst>
                  <a:ext uri="{0D108BD9-81ED-4DB2-BD59-A6C34878D82A}">
                    <a16:rowId xmlns:a16="http://schemas.microsoft.com/office/drawing/2014/main" val="10004"/>
                  </a:ext>
                </a:extLst>
              </a:tr>
              <a:tr h="430833">
                <a:tc vMerge="1">
                  <a:txBody>
                    <a:bodyPr/>
                    <a:lstStyle/>
                    <a:p>
                      <a:endParaRPr/>
                    </a:p>
                  </a:txBody>
                  <a:tcPr marL="0" marR="0" marT="81915" marB="0">
                    <a:lnR w="12700">
                      <a:solidFill>
                        <a:srgbClr val="000000"/>
                      </a:solidFill>
                      <a:prstDash val="solid"/>
                    </a:lnR>
                  </a:tcPr>
                </a:tc>
                <a:tc gridSpan="2">
                  <a:txBody>
                    <a:bodyPr/>
                    <a:lstStyle/>
                    <a:p>
                      <a:pPr marL="163830">
                        <a:lnSpc>
                          <a:spcPts val="1285"/>
                        </a:lnSpc>
                        <a:spcBef>
                          <a:spcPts val="114"/>
                        </a:spcBef>
                      </a:pPr>
                      <a:r>
                        <a:rPr sz="1500" spc="-10" dirty="0">
                          <a:latin typeface="Calibri"/>
                          <a:cs typeface="Calibri"/>
                        </a:rPr>
                        <a:t>customer_id</a:t>
                      </a:r>
                      <a:endParaRPr sz="1500">
                        <a:latin typeface="Calibri"/>
                        <a:cs typeface="Calibri"/>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hMerge="1">
                  <a:txBody>
                    <a:bodyPr/>
                    <a:lstStyle/>
                    <a:p>
                      <a:endParaRPr/>
                    </a:p>
                  </a:txBody>
                  <a:tcPr marL="0" marR="0" marT="0" marB="0"/>
                </a:tc>
                <a:tc vMerge="1">
                  <a:txBody>
                    <a:bodyPr/>
                    <a:lstStyle/>
                    <a:p>
                      <a:endParaRPr/>
                    </a:p>
                  </a:txBody>
                  <a:tcPr marL="0" marR="0" marT="0" marB="0">
                    <a:lnL w="12700">
                      <a:solidFill>
                        <a:srgbClr val="000000"/>
                      </a:solidFill>
                      <a:prstDash val="solid"/>
                    </a:lnL>
                  </a:tcPr>
                </a:tc>
                <a:extLst>
                  <a:ext uri="{0D108BD9-81ED-4DB2-BD59-A6C34878D82A}">
                    <a16:rowId xmlns:a16="http://schemas.microsoft.com/office/drawing/2014/main" val="10005"/>
                  </a:ext>
                </a:extLst>
              </a:tr>
              <a:tr h="430833">
                <a:tc vMerge="1">
                  <a:txBody>
                    <a:bodyPr/>
                    <a:lstStyle/>
                    <a:p>
                      <a:endParaRPr/>
                    </a:p>
                  </a:txBody>
                  <a:tcPr marL="0" marR="0" marT="81915" marB="0">
                    <a:lnR w="12700">
                      <a:solidFill>
                        <a:srgbClr val="000000"/>
                      </a:solidFill>
                      <a:prstDash val="solid"/>
                    </a:lnR>
                  </a:tcPr>
                </a:tc>
                <a:tc gridSpan="2">
                  <a:txBody>
                    <a:bodyPr/>
                    <a:lstStyle/>
                    <a:p>
                      <a:pPr marL="1270" algn="ctr">
                        <a:lnSpc>
                          <a:spcPts val="1285"/>
                        </a:lnSpc>
                        <a:spcBef>
                          <a:spcPts val="114"/>
                        </a:spcBef>
                      </a:pPr>
                      <a:r>
                        <a:rPr sz="1500" spc="-10" dirty="0">
                          <a:latin typeface="Calibri"/>
                          <a:cs typeface="Calibri"/>
                        </a:rPr>
                        <a:t>units</a:t>
                      </a:r>
                      <a:endParaRPr sz="1500">
                        <a:latin typeface="Calibri"/>
                        <a:cs typeface="Calibri"/>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hMerge="1">
                  <a:txBody>
                    <a:bodyPr/>
                    <a:lstStyle/>
                    <a:p>
                      <a:endParaRPr/>
                    </a:p>
                  </a:txBody>
                  <a:tcPr marL="0" marR="0" marT="0" marB="0"/>
                </a:tc>
                <a:tc vMerge="1">
                  <a:txBody>
                    <a:bodyPr/>
                    <a:lstStyle/>
                    <a:p>
                      <a:endParaRPr/>
                    </a:p>
                  </a:txBody>
                  <a:tcPr marL="0" marR="0" marT="0" marB="0">
                    <a:lnL w="12700">
                      <a:solidFill>
                        <a:srgbClr val="000000"/>
                      </a:solidFill>
                      <a:prstDash val="solid"/>
                    </a:lnL>
                  </a:tcPr>
                </a:tc>
                <a:extLst>
                  <a:ext uri="{0D108BD9-81ED-4DB2-BD59-A6C34878D82A}">
                    <a16:rowId xmlns:a16="http://schemas.microsoft.com/office/drawing/2014/main" val="10006"/>
                  </a:ext>
                </a:extLst>
              </a:tr>
              <a:tr h="430833">
                <a:tc vMerge="1">
                  <a:txBody>
                    <a:bodyPr/>
                    <a:lstStyle/>
                    <a:p>
                      <a:endParaRPr/>
                    </a:p>
                  </a:txBody>
                  <a:tcPr marL="0" marR="0" marT="81915" marB="0">
                    <a:lnR w="12700">
                      <a:solidFill>
                        <a:srgbClr val="000000"/>
                      </a:solidFill>
                      <a:prstDash val="solid"/>
                    </a:lnR>
                  </a:tcPr>
                </a:tc>
                <a:tc gridSpan="2">
                  <a:txBody>
                    <a:bodyPr/>
                    <a:lstStyle/>
                    <a:p>
                      <a:pPr marL="1270" algn="ctr">
                        <a:lnSpc>
                          <a:spcPts val="1280"/>
                        </a:lnSpc>
                        <a:spcBef>
                          <a:spcPts val="120"/>
                        </a:spcBef>
                      </a:pPr>
                      <a:r>
                        <a:rPr sz="1500" spc="-10" dirty="0">
                          <a:latin typeface="Calibri"/>
                          <a:cs typeface="Calibri"/>
                        </a:rPr>
                        <a:t>price</a:t>
                      </a:r>
                      <a:endParaRPr sz="1500" dirty="0">
                        <a:latin typeface="Calibri"/>
                        <a:cs typeface="Calibri"/>
                      </a:endParaRPr>
                    </a:p>
                  </a:txBody>
                  <a:tcPr marL="0" marR="0" marT="203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hMerge="1">
                  <a:txBody>
                    <a:bodyPr/>
                    <a:lstStyle/>
                    <a:p>
                      <a:endParaRPr/>
                    </a:p>
                  </a:txBody>
                  <a:tcPr marL="0" marR="0" marT="0" marB="0"/>
                </a:tc>
                <a:tc vMerge="1">
                  <a:txBody>
                    <a:bodyPr/>
                    <a:lstStyle/>
                    <a:p>
                      <a:endParaRPr/>
                    </a:p>
                  </a:txBody>
                  <a:tcPr marL="0" marR="0" marT="0" marB="0">
                    <a:lnL w="12700">
                      <a:solidFill>
                        <a:srgbClr val="000000"/>
                      </a:solidFill>
                      <a:prstDash val="solid"/>
                    </a:lnL>
                  </a:tcPr>
                </a:tc>
                <a:extLst>
                  <a:ext uri="{0D108BD9-81ED-4DB2-BD59-A6C34878D82A}">
                    <a16:rowId xmlns:a16="http://schemas.microsoft.com/office/drawing/2014/main" val="10007"/>
                  </a:ext>
                </a:extLst>
              </a:tr>
            </a:tbl>
          </a:graphicData>
        </a:graphic>
      </p:graphicFrame>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094731" y="299913"/>
            <a:ext cx="4307686"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Star</a:t>
            </a:r>
            <a:r>
              <a:rPr spc="-73" dirty="0">
                <a:solidFill>
                  <a:schemeClr val="bg1"/>
                </a:solidFill>
                <a:latin typeface="+mn-lt"/>
              </a:rPr>
              <a:t> </a:t>
            </a:r>
            <a:r>
              <a:rPr spc="-13" dirty="0">
                <a:solidFill>
                  <a:schemeClr val="bg1"/>
                </a:solidFill>
                <a:latin typeface="+mn-lt"/>
              </a:rPr>
              <a:t>schema</a:t>
            </a:r>
          </a:p>
        </p:txBody>
      </p:sp>
      <p:sp>
        <p:nvSpPr>
          <p:cNvPr id="3" name="object 3"/>
          <p:cNvSpPr/>
          <p:nvPr/>
        </p:nvSpPr>
        <p:spPr>
          <a:xfrm>
            <a:off x="5185663" y="1906015"/>
            <a:ext cx="2201333" cy="616373"/>
          </a:xfrm>
          <a:custGeom>
            <a:avLst/>
            <a:gdLst/>
            <a:ahLst/>
            <a:cxnLst/>
            <a:rect l="l" t="t" r="r" b="b"/>
            <a:pathLst>
              <a:path w="1651000" h="462280">
                <a:moveTo>
                  <a:pt x="1650492" y="0"/>
                </a:moveTo>
                <a:lnTo>
                  <a:pt x="0" y="0"/>
                </a:lnTo>
                <a:lnTo>
                  <a:pt x="0" y="461772"/>
                </a:lnTo>
                <a:lnTo>
                  <a:pt x="1650492" y="461772"/>
                </a:lnTo>
                <a:lnTo>
                  <a:pt x="1650492" y="0"/>
                </a:lnTo>
                <a:close/>
              </a:path>
            </a:pathLst>
          </a:custGeom>
          <a:solidFill>
            <a:srgbClr val="383838">
              <a:alpha val="89019"/>
            </a:srgbClr>
          </a:solidFill>
        </p:spPr>
        <p:txBody>
          <a:bodyPr wrap="square" lIns="0" tIns="0" rIns="0" bIns="0" rtlCol="0"/>
          <a:lstStyle/>
          <a:p>
            <a:endParaRPr sz="2400"/>
          </a:p>
        </p:txBody>
      </p:sp>
      <p:sp>
        <p:nvSpPr>
          <p:cNvPr id="4" name="object 4"/>
          <p:cNvSpPr txBox="1"/>
          <p:nvPr/>
        </p:nvSpPr>
        <p:spPr>
          <a:xfrm>
            <a:off x="5307921" y="2105141"/>
            <a:ext cx="897467" cy="333425"/>
          </a:xfrm>
          <a:prstGeom prst="rect">
            <a:avLst/>
          </a:prstGeom>
        </p:spPr>
        <p:txBody>
          <a:bodyPr vert="horz" wrap="square" lIns="0" tIns="0" rIns="0" bIns="0" rtlCol="0">
            <a:spAutoFit/>
          </a:bodyPr>
          <a:lstStyle/>
          <a:p>
            <a:pPr>
              <a:lnSpc>
                <a:spcPts val="2640"/>
              </a:lnSpc>
            </a:pPr>
            <a:r>
              <a:rPr sz="2400" dirty="0">
                <a:solidFill>
                  <a:srgbClr val="99D3FF"/>
                </a:solidFill>
                <a:latin typeface="Wingdings"/>
                <a:cs typeface="Wingdings"/>
              </a:rPr>
              <a:t></a:t>
            </a:r>
            <a:r>
              <a:rPr sz="2400" spc="520" dirty="0">
                <a:solidFill>
                  <a:srgbClr val="99D3FF"/>
                </a:solidFill>
                <a:latin typeface="Times New Roman"/>
                <a:cs typeface="Times New Roman"/>
              </a:rPr>
              <a:t> </a:t>
            </a:r>
            <a:r>
              <a:rPr sz="2400" b="1" spc="-33" dirty="0">
                <a:solidFill>
                  <a:srgbClr val="D9D9D9"/>
                </a:solidFill>
                <a:latin typeface="Calibri"/>
                <a:cs typeface="Calibri"/>
              </a:rPr>
              <a:t>Dim</a:t>
            </a:r>
            <a:endParaRPr sz="2400">
              <a:latin typeface="Calibri"/>
              <a:cs typeface="Calibri"/>
            </a:endParaRPr>
          </a:p>
        </p:txBody>
      </p:sp>
      <p:sp>
        <p:nvSpPr>
          <p:cNvPr id="5" name="object 5"/>
          <p:cNvSpPr txBox="1"/>
          <p:nvPr/>
        </p:nvSpPr>
        <p:spPr>
          <a:xfrm>
            <a:off x="6205253" y="2150533"/>
            <a:ext cx="962660" cy="302455"/>
          </a:xfrm>
          <a:prstGeom prst="rect">
            <a:avLst/>
          </a:prstGeom>
        </p:spPr>
        <p:txBody>
          <a:bodyPr vert="horz" wrap="square" lIns="0" tIns="0" rIns="0" bIns="0" rtlCol="0">
            <a:spAutoFit/>
          </a:bodyPr>
          <a:lstStyle/>
          <a:p>
            <a:pPr>
              <a:lnSpc>
                <a:spcPts val="2280"/>
              </a:lnSpc>
            </a:pPr>
            <a:r>
              <a:rPr sz="2400" b="1" spc="-13" dirty="0">
                <a:solidFill>
                  <a:srgbClr val="D9D9D9"/>
                </a:solidFill>
                <a:latin typeface="Calibri"/>
                <a:cs typeface="Calibri"/>
              </a:rPr>
              <a:t>ensions</a:t>
            </a:r>
            <a:endParaRPr sz="2400">
              <a:latin typeface="Calibri"/>
              <a:cs typeface="Calibri"/>
            </a:endParaRPr>
          </a:p>
        </p:txBody>
      </p:sp>
      <p:sp>
        <p:nvSpPr>
          <p:cNvPr id="6" name="object 6"/>
          <p:cNvSpPr txBox="1"/>
          <p:nvPr/>
        </p:nvSpPr>
        <p:spPr>
          <a:xfrm>
            <a:off x="7957313" y="4212324"/>
            <a:ext cx="1860127" cy="333425"/>
          </a:xfrm>
          <a:prstGeom prst="rect">
            <a:avLst/>
          </a:prstGeom>
        </p:spPr>
        <p:txBody>
          <a:bodyPr vert="horz" wrap="square" lIns="0" tIns="0" rIns="0" bIns="0" rtlCol="0">
            <a:spAutoFit/>
          </a:bodyPr>
          <a:lstStyle/>
          <a:p>
            <a:pPr>
              <a:lnSpc>
                <a:spcPts val="2640"/>
              </a:lnSpc>
            </a:pPr>
            <a:r>
              <a:rPr sz="2400" dirty="0">
                <a:solidFill>
                  <a:srgbClr val="99D3FF"/>
                </a:solidFill>
                <a:latin typeface="Wingdings"/>
                <a:cs typeface="Wingdings"/>
              </a:rPr>
              <a:t></a:t>
            </a:r>
            <a:r>
              <a:rPr sz="2400" spc="520" dirty="0">
                <a:solidFill>
                  <a:srgbClr val="99D3FF"/>
                </a:solidFill>
                <a:latin typeface="Times New Roman"/>
                <a:cs typeface="Times New Roman"/>
              </a:rPr>
              <a:t> </a:t>
            </a:r>
            <a:r>
              <a:rPr sz="2400" b="1" spc="-13" dirty="0">
                <a:solidFill>
                  <a:srgbClr val="D9D9D9"/>
                </a:solidFill>
                <a:latin typeface="Calibri"/>
                <a:cs typeface="Calibri"/>
              </a:rPr>
              <a:t>Dimensions</a:t>
            </a:r>
            <a:endParaRPr sz="2400">
              <a:latin typeface="Calibri"/>
              <a:cs typeface="Calibri"/>
            </a:endParaRPr>
          </a:p>
        </p:txBody>
      </p:sp>
      <p:sp>
        <p:nvSpPr>
          <p:cNvPr id="7" name="object 7"/>
          <p:cNvSpPr txBox="1"/>
          <p:nvPr/>
        </p:nvSpPr>
        <p:spPr>
          <a:xfrm>
            <a:off x="2129536" y="3960369"/>
            <a:ext cx="2438400" cy="541174"/>
          </a:xfrm>
          <a:prstGeom prst="rect">
            <a:avLst/>
          </a:prstGeom>
          <a:noFill/>
        </p:spPr>
        <p:txBody>
          <a:bodyPr vert="horz" wrap="square" lIns="0" tIns="170180" rIns="0" bIns="0" rtlCol="0">
            <a:spAutoFit/>
          </a:bodyPr>
          <a:lstStyle/>
          <a:p>
            <a:pPr marL="503754" indent="-380990">
              <a:spcBef>
                <a:spcPts val="1340"/>
              </a:spcBef>
              <a:buClr>
                <a:srgbClr val="99D3FF"/>
              </a:buClr>
              <a:buFont typeface="Wingdings"/>
              <a:buChar char=""/>
              <a:tabLst>
                <a:tab pos="503754" algn="l"/>
              </a:tabLst>
            </a:pPr>
            <a:r>
              <a:rPr sz="2400" b="1" spc="-13" dirty="0">
                <a:solidFill>
                  <a:srgbClr val="D9D9D9"/>
                </a:solidFill>
                <a:latin typeface="Calibri"/>
                <a:cs typeface="Calibri"/>
              </a:rPr>
              <a:t>Dimensions</a:t>
            </a:r>
            <a:endParaRPr sz="2400">
              <a:latin typeface="Calibri"/>
              <a:cs typeface="Calibri"/>
            </a:endParaRPr>
          </a:p>
        </p:txBody>
      </p:sp>
      <p:sp>
        <p:nvSpPr>
          <p:cNvPr id="8" name="object 8"/>
          <p:cNvSpPr/>
          <p:nvPr/>
        </p:nvSpPr>
        <p:spPr>
          <a:xfrm>
            <a:off x="7244079" y="3501135"/>
            <a:ext cx="1810173" cy="511387"/>
          </a:xfrm>
          <a:custGeom>
            <a:avLst/>
            <a:gdLst/>
            <a:ahLst/>
            <a:cxnLst/>
            <a:rect l="l" t="t" r="r" b="b"/>
            <a:pathLst>
              <a:path w="1357629" h="383539">
                <a:moveTo>
                  <a:pt x="0" y="0"/>
                </a:moveTo>
                <a:lnTo>
                  <a:pt x="1357630" y="383286"/>
                </a:lnTo>
              </a:path>
            </a:pathLst>
          </a:custGeom>
          <a:ln w="9144">
            <a:solidFill>
              <a:srgbClr val="00C2FF"/>
            </a:solidFill>
          </a:ln>
        </p:spPr>
        <p:txBody>
          <a:bodyPr wrap="square" lIns="0" tIns="0" rIns="0" bIns="0" rtlCol="0"/>
          <a:lstStyle/>
          <a:p>
            <a:endParaRPr sz="2400"/>
          </a:p>
        </p:txBody>
      </p:sp>
      <p:grpSp>
        <p:nvGrpSpPr>
          <p:cNvPr id="9" name="object 9"/>
          <p:cNvGrpSpPr/>
          <p:nvPr/>
        </p:nvGrpSpPr>
        <p:grpSpPr>
          <a:xfrm>
            <a:off x="762000" y="3147569"/>
            <a:ext cx="6096000" cy="1426633"/>
            <a:chOff x="571500" y="2360676"/>
            <a:chExt cx="4572000" cy="1069975"/>
          </a:xfrm>
        </p:grpSpPr>
        <p:sp>
          <p:nvSpPr>
            <p:cNvPr id="10" name="object 10"/>
            <p:cNvSpPr/>
            <p:nvPr/>
          </p:nvSpPr>
          <p:spPr>
            <a:xfrm>
              <a:off x="2511551" y="2648712"/>
              <a:ext cx="1526540" cy="323215"/>
            </a:xfrm>
            <a:custGeom>
              <a:avLst/>
              <a:gdLst/>
              <a:ahLst/>
              <a:cxnLst/>
              <a:rect l="l" t="t" r="r" b="b"/>
              <a:pathLst>
                <a:path w="1526539" h="323214">
                  <a:moveTo>
                    <a:pt x="1526539" y="0"/>
                  </a:moveTo>
                  <a:lnTo>
                    <a:pt x="0" y="322706"/>
                  </a:lnTo>
                </a:path>
              </a:pathLst>
            </a:custGeom>
            <a:ln w="9144">
              <a:solidFill>
                <a:srgbClr val="00C2FF"/>
              </a:solidFill>
            </a:ln>
          </p:spPr>
          <p:txBody>
            <a:bodyPr wrap="square" lIns="0" tIns="0" rIns="0" bIns="0" rtlCol="0"/>
            <a:lstStyle/>
            <a:p>
              <a:endParaRPr sz="2400"/>
            </a:p>
          </p:txBody>
        </p:sp>
        <p:sp>
          <p:nvSpPr>
            <p:cNvPr id="11" name="object 11"/>
            <p:cNvSpPr/>
            <p:nvPr/>
          </p:nvSpPr>
          <p:spPr>
            <a:xfrm>
              <a:off x="609600" y="2398776"/>
              <a:ext cx="4495800" cy="993775"/>
            </a:xfrm>
            <a:custGeom>
              <a:avLst/>
              <a:gdLst/>
              <a:ahLst/>
              <a:cxnLst/>
              <a:rect l="l" t="t" r="r" b="b"/>
              <a:pathLst>
                <a:path w="4495800" h="993775">
                  <a:moveTo>
                    <a:pt x="4495800" y="0"/>
                  </a:moveTo>
                  <a:lnTo>
                    <a:pt x="0" y="993521"/>
                  </a:lnTo>
                </a:path>
              </a:pathLst>
            </a:custGeom>
            <a:ln w="76200">
              <a:solidFill>
                <a:srgbClr val="00C2FF"/>
              </a:solidFill>
            </a:ln>
          </p:spPr>
          <p:txBody>
            <a:bodyPr wrap="square" lIns="0" tIns="0" rIns="0" bIns="0" rtlCol="0"/>
            <a:lstStyle/>
            <a:p>
              <a:endParaRPr sz="2400"/>
            </a:p>
          </p:txBody>
        </p:sp>
      </p:grpSp>
      <p:graphicFrame>
        <p:nvGraphicFramePr>
          <p:cNvPr id="12" name="object 12"/>
          <p:cNvGraphicFramePr>
            <a:graphicFrameLocks noGrp="1"/>
          </p:cNvGraphicFramePr>
          <p:nvPr/>
        </p:nvGraphicFramePr>
        <p:xfrm>
          <a:off x="5323671" y="1722796"/>
          <a:ext cx="4470400" cy="1896533"/>
        </p:xfrm>
        <a:graphic>
          <a:graphicData uri="http://schemas.openxmlformats.org/drawingml/2006/table">
            <a:tbl>
              <a:tblPr firstRow="1" bandRow="1">
                <a:tableStyleId>{2D5ABB26-0587-4C30-8999-92F81FD0307C}</a:tableStyleId>
              </a:tblPr>
              <a:tblGrid>
                <a:gridCol w="9144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698500">
                  <a:extLst>
                    <a:ext uri="{9D8B030D-6E8A-4147-A177-3AD203B41FA5}">
                      <a16:colId xmlns:a16="http://schemas.microsoft.com/office/drawing/2014/main" val="20003"/>
                    </a:ext>
                  </a:extLst>
                </a:gridCol>
                <a:gridCol w="698500">
                  <a:extLst>
                    <a:ext uri="{9D8B030D-6E8A-4147-A177-3AD203B41FA5}">
                      <a16:colId xmlns:a16="http://schemas.microsoft.com/office/drawing/2014/main" val="20004"/>
                    </a:ext>
                  </a:extLst>
                </a:gridCol>
              </a:tblGrid>
              <a:tr h="225213">
                <a:tc>
                  <a:txBody>
                    <a:bodyPr/>
                    <a:lstStyle/>
                    <a:p>
                      <a:pPr algn="ctr">
                        <a:lnSpc>
                          <a:spcPts val="1175"/>
                        </a:lnSpc>
                        <a:spcBef>
                          <a:spcPts val="55"/>
                        </a:spcBef>
                      </a:pPr>
                      <a:r>
                        <a:rPr sz="1400" b="1" spc="-10" dirty="0">
                          <a:latin typeface="Arial"/>
                          <a:cs typeface="Arial"/>
                        </a:rPr>
                        <a:t>sales_id</a:t>
                      </a:r>
                      <a:endParaRPr sz="1400">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5080" algn="ctr">
                        <a:lnSpc>
                          <a:spcPts val="1175"/>
                        </a:lnSpc>
                        <a:spcBef>
                          <a:spcPts val="55"/>
                        </a:spcBef>
                      </a:pPr>
                      <a:r>
                        <a:rPr sz="1400" b="1" spc="-10" dirty="0">
                          <a:latin typeface="Arial"/>
                          <a:cs typeface="Arial"/>
                        </a:rPr>
                        <a:t>product_id</a:t>
                      </a:r>
                      <a:endParaRPr sz="1400">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algn="ctr">
                        <a:lnSpc>
                          <a:spcPts val="1175"/>
                        </a:lnSpc>
                        <a:spcBef>
                          <a:spcPts val="55"/>
                        </a:spcBef>
                      </a:pPr>
                      <a:r>
                        <a:rPr sz="1400" b="1" spc="-10" dirty="0">
                          <a:latin typeface="Arial"/>
                          <a:cs typeface="Arial"/>
                        </a:rPr>
                        <a:t>customer_id</a:t>
                      </a:r>
                      <a:endParaRPr sz="1400">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1905" algn="ctr">
                        <a:lnSpc>
                          <a:spcPts val="1175"/>
                        </a:lnSpc>
                        <a:spcBef>
                          <a:spcPts val="55"/>
                        </a:spcBef>
                      </a:pPr>
                      <a:r>
                        <a:rPr sz="1400" b="1" spc="-10" dirty="0">
                          <a:latin typeface="Arial"/>
                          <a:cs typeface="Arial"/>
                        </a:rPr>
                        <a:t>units</a:t>
                      </a:r>
                      <a:endParaRPr sz="1400">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1905" algn="ctr">
                        <a:lnSpc>
                          <a:spcPts val="1175"/>
                        </a:lnSpc>
                        <a:spcBef>
                          <a:spcPts val="55"/>
                        </a:spcBef>
                      </a:pPr>
                      <a:r>
                        <a:rPr sz="1400" b="1" spc="-10" dirty="0">
                          <a:latin typeface="Arial"/>
                          <a:cs typeface="Arial"/>
                        </a:rPr>
                        <a:t>price</a:t>
                      </a:r>
                      <a:endParaRPr sz="1400">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extLst>
                  <a:ext uri="{0D108BD9-81ED-4DB2-BD59-A6C34878D82A}">
                    <a16:rowId xmlns:a16="http://schemas.microsoft.com/office/drawing/2014/main" val="10000"/>
                  </a:ext>
                </a:extLst>
              </a:tr>
              <a:tr h="254000">
                <a:tc>
                  <a:txBody>
                    <a:bodyPr/>
                    <a:lstStyle/>
                    <a:p>
                      <a:pPr algn="ctr">
                        <a:lnSpc>
                          <a:spcPts val="1175"/>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5"/>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ts val="1175"/>
                        </a:lnSpc>
                        <a:spcBef>
                          <a:spcPts val="225"/>
                        </a:spcBef>
                      </a:pPr>
                      <a:r>
                        <a:rPr sz="1400" spc="-25" dirty="0">
                          <a:latin typeface="Arial MT"/>
                          <a:cs typeface="Arial MT"/>
                        </a:rPr>
                        <a:t>23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5"/>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5"/>
                        </a:lnSpc>
                        <a:spcBef>
                          <a:spcPts val="225"/>
                        </a:spcBef>
                      </a:pPr>
                      <a:r>
                        <a:rPr sz="1400" spc="-20" dirty="0">
                          <a:latin typeface="Arial MT"/>
                          <a:cs typeface="Arial MT"/>
                        </a:rPr>
                        <a:t>2.99</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ts val="1175"/>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5"/>
                        </a:lnSpc>
                        <a:spcBef>
                          <a:spcPts val="225"/>
                        </a:spcBef>
                      </a:pPr>
                      <a:r>
                        <a:rPr sz="1400" spc="-50" dirty="0">
                          <a:latin typeface="Arial MT"/>
                          <a:cs typeface="Arial MT"/>
                        </a:rPr>
                        <a:t>5</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ts val="1175"/>
                        </a:lnSpc>
                        <a:spcBef>
                          <a:spcPts val="225"/>
                        </a:spcBef>
                      </a:pPr>
                      <a:r>
                        <a:rPr sz="1400" spc="-25" dirty="0">
                          <a:latin typeface="Arial MT"/>
                          <a:cs typeface="Arial MT"/>
                        </a:rPr>
                        <a:t>13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5"/>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5"/>
                        </a:lnSpc>
                        <a:spcBef>
                          <a:spcPts val="225"/>
                        </a:spcBef>
                      </a:pPr>
                      <a:r>
                        <a:rPr sz="1400" spc="-20" dirty="0">
                          <a:latin typeface="Arial MT"/>
                          <a:cs typeface="Arial MT"/>
                        </a:rPr>
                        <a:t>1.99</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ts val="1175"/>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5"/>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5"/>
                        </a:lnSpc>
                        <a:spcBef>
                          <a:spcPts val="225"/>
                        </a:spcBef>
                      </a:pPr>
                      <a:r>
                        <a:rPr sz="1400" spc="-50" dirty="0">
                          <a:latin typeface="Arial MT"/>
                          <a:cs typeface="Arial MT"/>
                        </a:rPr>
                        <a:t>7</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5"/>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5"/>
                        </a:lnSpc>
                        <a:spcBef>
                          <a:spcPts val="225"/>
                        </a:spcBef>
                      </a:pPr>
                      <a:r>
                        <a:rPr sz="1400" spc="-20" dirty="0">
                          <a:latin typeface="Arial MT"/>
                          <a:cs typeface="Arial MT"/>
                        </a:rPr>
                        <a:t>3.49</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algn="ctr">
                        <a:lnSpc>
                          <a:spcPts val="1175"/>
                        </a:lnSpc>
                        <a:spcBef>
                          <a:spcPts val="225"/>
                        </a:spcBef>
                      </a:pPr>
                      <a:r>
                        <a:rPr sz="1400" spc="-50" dirty="0">
                          <a:latin typeface="Arial MT"/>
                          <a:cs typeface="Arial MT"/>
                        </a:rPr>
                        <a:t>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5"/>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ts val="1175"/>
                        </a:lnSpc>
                        <a:spcBef>
                          <a:spcPts val="225"/>
                        </a:spcBef>
                      </a:pPr>
                      <a:r>
                        <a:rPr sz="1400" spc="-25" dirty="0">
                          <a:latin typeface="Arial MT"/>
                          <a:cs typeface="Arial MT"/>
                        </a:rPr>
                        <a:t>16</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5"/>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5"/>
                        </a:lnSpc>
                        <a:spcBef>
                          <a:spcPts val="225"/>
                        </a:spcBef>
                      </a:pPr>
                      <a:r>
                        <a:rPr sz="1400" spc="-20" dirty="0">
                          <a:latin typeface="Arial MT"/>
                          <a:cs typeface="Arial MT"/>
                        </a:rPr>
                        <a:t>2.29</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algn="ctr">
                        <a:lnSpc>
                          <a:spcPts val="1175"/>
                        </a:lnSpc>
                        <a:spcBef>
                          <a:spcPts val="225"/>
                        </a:spcBef>
                      </a:pPr>
                      <a:r>
                        <a:rPr sz="1400" spc="-50" dirty="0">
                          <a:latin typeface="Arial MT"/>
                          <a:cs typeface="Arial MT"/>
                        </a:rPr>
                        <a:t>5</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5"/>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ts val="1175"/>
                        </a:lnSpc>
                        <a:spcBef>
                          <a:spcPts val="225"/>
                        </a:spcBef>
                      </a:pPr>
                      <a:r>
                        <a:rPr sz="1400" spc="-25" dirty="0">
                          <a:latin typeface="Arial MT"/>
                          <a:cs typeface="Arial MT"/>
                        </a:rPr>
                        <a:t>13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5"/>
                        </a:lnSpc>
                        <a:spcBef>
                          <a:spcPts val="225"/>
                        </a:spcBef>
                      </a:pPr>
                      <a:r>
                        <a:rPr sz="1400" spc="-50" dirty="0">
                          <a:latin typeface="Arial MT"/>
                          <a:cs typeface="Arial MT"/>
                        </a:rPr>
                        <a:t>5</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5"/>
                        </a:lnSpc>
                        <a:spcBef>
                          <a:spcPts val="225"/>
                        </a:spcBef>
                      </a:pPr>
                      <a:r>
                        <a:rPr sz="1400" spc="-20" dirty="0">
                          <a:latin typeface="Arial MT"/>
                          <a:cs typeface="Arial MT"/>
                        </a:rPr>
                        <a:t>1.49</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r h="401320">
                <a:tc gridSpan="2">
                  <a:txBody>
                    <a:bodyPr/>
                    <a:lstStyle/>
                    <a:p>
                      <a:pPr marL="382905" indent="-285750">
                        <a:lnSpc>
                          <a:spcPts val="1885"/>
                        </a:lnSpc>
                        <a:buFont typeface="Wingdings"/>
                        <a:buChar char=""/>
                        <a:tabLst>
                          <a:tab pos="382905" algn="l"/>
                        </a:tabLst>
                      </a:pPr>
                      <a:r>
                        <a:rPr sz="2400" b="1" spc="-10" dirty="0">
                          <a:solidFill>
                            <a:srgbClr val="99D3FF"/>
                          </a:solidFill>
                          <a:latin typeface="Calibri"/>
                          <a:cs typeface="Calibri"/>
                        </a:rPr>
                        <a:t>Facts</a:t>
                      </a:r>
                      <a:endParaRPr sz="2400">
                        <a:latin typeface="Calibri"/>
                        <a:cs typeface="Calibri"/>
                      </a:endParaRPr>
                    </a:p>
                  </a:txBody>
                  <a:tcPr marL="0" marR="0" marT="0" marB="0">
                    <a:lnT w="12700">
                      <a:solidFill>
                        <a:srgbClr val="000000"/>
                      </a:solidFill>
                      <a:prstDash val="solid"/>
                    </a:lnT>
                    <a:solidFill>
                      <a:srgbClr val="404040">
                        <a:alpha val="89019"/>
                      </a:srgbClr>
                    </a:solidFill>
                  </a:tcPr>
                </a:tc>
                <a:tc hMerge="1">
                  <a:txBody>
                    <a:bodyPr/>
                    <a:lstStyle/>
                    <a:p>
                      <a:endParaRPr/>
                    </a:p>
                  </a:txBody>
                  <a:tcPr marL="0" marR="0" marT="0" marB="0"/>
                </a:tc>
                <a:tc gridSpan="3">
                  <a:txBody>
                    <a:bodyPr/>
                    <a:lstStyle/>
                    <a:p>
                      <a:pPr>
                        <a:lnSpc>
                          <a:spcPct val="100000"/>
                        </a:lnSpc>
                      </a:pPr>
                      <a:endParaRPr sz="1600">
                        <a:latin typeface="Times New Roman"/>
                        <a:cs typeface="Times New Roman"/>
                      </a:endParaRPr>
                    </a:p>
                  </a:txBody>
                  <a:tcPr marL="0" marR="0" marT="0" marB="0">
                    <a:lnT w="12700">
                      <a:solidFill>
                        <a:srgbClr val="000000"/>
                      </a:solidFill>
                      <a:prstDash val="solid"/>
                    </a:lnT>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6"/>
                  </a:ext>
                </a:extLst>
              </a:tr>
            </a:tbl>
          </a:graphicData>
        </a:graphic>
      </p:graphicFrame>
      <p:graphicFrame>
        <p:nvGraphicFramePr>
          <p:cNvPr id="13" name="object 13"/>
          <p:cNvGraphicFramePr>
            <a:graphicFrameLocks noGrp="1"/>
          </p:cNvGraphicFramePr>
          <p:nvPr/>
        </p:nvGraphicFramePr>
        <p:xfrm>
          <a:off x="255727" y="4495630"/>
          <a:ext cx="5936825" cy="1495213"/>
        </p:xfrm>
        <a:graphic>
          <a:graphicData uri="http://schemas.openxmlformats.org/drawingml/2006/table">
            <a:tbl>
              <a:tblPr firstRow="1" bandRow="1">
                <a:tableStyleId>{2D5ABB26-0587-4C30-8999-92F81FD0307C}</a:tableStyleId>
              </a:tblPr>
              <a:tblGrid>
                <a:gridCol w="1263225">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665393">
                  <a:extLst>
                    <a:ext uri="{9D8B030D-6E8A-4147-A177-3AD203B41FA5}">
                      <a16:colId xmlns:a16="http://schemas.microsoft.com/office/drawing/2014/main" val="20002"/>
                    </a:ext>
                  </a:extLst>
                </a:gridCol>
                <a:gridCol w="1484207">
                  <a:extLst>
                    <a:ext uri="{9D8B030D-6E8A-4147-A177-3AD203B41FA5}">
                      <a16:colId xmlns:a16="http://schemas.microsoft.com/office/drawing/2014/main" val="20003"/>
                    </a:ext>
                  </a:extLst>
                </a:gridCol>
              </a:tblGrid>
              <a:tr h="225213">
                <a:tc>
                  <a:txBody>
                    <a:bodyPr/>
                    <a:lstStyle/>
                    <a:p>
                      <a:pPr algn="ctr">
                        <a:lnSpc>
                          <a:spcPts val="1170"/>
                        </a:lnSpc>
                        <a:spcBef>
                          <a:spcPts val="60"/>
                        </a:spcBef>
                      </a:pPr>
                      <a:r>
                        <a:rPr sz="1400" b="1" spc="-10" dirty="0">
                          <a:latin typeface="Arial"/>
                          <a:cs typeface="Arial"/>
                        </a:rPr>
                        <a:t>product_id</a:t>
                      </a:r>
                      <a:endParaRPr sz="1400">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635" algn="ctr">
                        <a:lnSpc>
                          <a:spcPts val="1170"/>
                        </a:lnSpc>
                        <a:spcBef>
                          <a:spcPts val="60"/>
                        </a:spcBef>
                      </a:pPr>
                      <a:r>
                        <a:rPr sz="1400" b="1" spc="-20" dirty="0">
                          <a:latin typeface="Arial"/>
                          <a:cs typeface="Arial"/>
                        </a:rPr>
                        <a:t>name</a:t>
                      </a:r>
                      <a:endParaRPr sz="1400">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1905" algn="ctr">
                        <a:lnSpc>
                          <a:spcPts val="1170"/>
                        </a:lnSpc>
                        <a:spcBef>
                          <a:spcPts val="60"/>
                        </a:spcBef>
                      </a:pPr>
                      <a:r>
                        <a:rPr sz="1400" b="1" spc="-10" dirty="0">
                          <a:latin typeface="Arial"/>
                          <a:cs typeface="Arial"/>
                        </a:rPr>
                        <a:t>category</a:t>
                      </a:r>
                      <a:endParaRPr sz="1400">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4445" algn="ctr">
                        <a:lnSpc>
                          <a:spcPts val="1170"/>
                        </a:lnSpc>
                        <a:spcBef>
                          <a:spcPts val="60"/>
                        </a:spcBef>
                      </a:pPr>
                      <a:r>
                        <a:rPr sz="1400" b="1" spc="-10" dirty="0">
                          <a:latin typeface="Arial"/>
                          <a:cs typeface="Arial"/>
                        </a:rPr>
                        <a:t>sub_category</a:t>
                      </a:r>
                      <a:endParaRPr sz="1400">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extLst>
                  <a:ext uri="{0D108BD9-81ED-4DB2-BD59-A6C34878D82A}">
                    <a16:rowId xmlns:a16="http://schemas.microsoft.com/office/drawing/2014/main" val="10000"/>
                  </a:ext>
                </a:extLst>
              </a:tr>
              <a:tr h="254000">
                <a:tc>
                  <a:txBody>
                    <a:bodyPr/>
                    <a:lstStyle/>
                    <a:p>
                      <a:pPr algn="ctr">
                        <a:lnSpc>
                          <a:spcPts val="117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10" dirty="0">
                          <a:latin typeface="Arial MT"/>
                          <a:cs typeface="Arial MT"/>
                        </a:rPr>
                        <a:t>Chili</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10" dirty="0">
                          <a:latin typeface="Arial MT"/>
                          <a:cs typeface="Arial MT"/>
                        </a:rPr>
                        <a:t>Herbs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10" dirty="0">
                          <a:latin typeface="Arial MT"/>
                          <a:cs typeface="Arial MT"/>
                        </a:rPr>
                        <a:t>Spices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ts val="1170"/>
                        </a:lnSpc>
                        <a:spcBef>
                          <a:spcPts val="229"/>
                        </a:spcBef>
                      </a:pPr>
                      <a:r>
                        <a:rPr sz="1400" spc="-50" dirty="0">
                          <a:latin typeface="Arial MT"/>
                          <a:cs typeface="Arial MT"/>
                        </a:rPr>
                        <a:t>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9"/>
                        </a:spcBef>
                      </a:pPr>
                      <a:r>
                        <a:rPr sz="1400" spc="-10" dirty="0">
                          <a:latin typeface="Arial MT"/>
                          <a:cs typeface="Arial MT"/>
                        </a:rPr>
                        <a:t>Garlic</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dirty="0">
                          <a:latin typeface="Arial MT"/>
                          <a:cs typeface="Arial MT"/>
                        </a:rPr>
                        <a:t>Fruits</a:t>
                      </a:r>
                      <a:r>
                        <a:rPr sz="1400" spc="-30" dirty="0">
                          <a:latin typeface="Arial MT"/>
                          <a:cs typeface="Arial MT"/>
                        </a:rPr>
                        <a:t> </a:t>
                      </a:r>
                      <a:r>
                        <a:rPr sz="1400" dirty="0">
                          <a:latin typeface="Arial MT"/>
                          <a:cs typeface="Arial MT"/>
                        </a:rPr>
                        <a:t>&amp;</a:t>
                      </a:r>
                      <a:r>
                        <a:rPr sz="1400" spc="-25" dirty="0">
                          <a:latin typeface="Arial MT"/>
                          <a:cs typeface="Arial MT"/>
                        </a:rPr>
                        <a:t> </a:t>
                      </a:r>
                      <a:r>
                        <a:rPr sz="1400" spc="-10" dirty="0">
                          <a:latin typeface="Arial MT"/>
                          <a:cs typeface="Arial MT"/>
                        </a:rPr>
                        <a:t>Vegetables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Vegetable</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ts val="117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Banana</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dirty="0">
                          <a:latin typeface="Arial MT"/>
                          <a:cs typeface="Arial MT"/>
                        </a:rPr>
                        <a:t>Fruits</a:t>
                      </a:r>
                      <a:r>
                        <a:rPr sz="1400" spc="-30" dirty="0">
                          <a:latin typeface="Arial MT"/>
                          <a:cs typeface="Arial MT"/>
                        </a:rPr>
                        <a:t> </a:t>
                      </a:r>
                      <a:r>
                        <a:rPr sz="1400" dirty="0">
                          <a:latin typeface="Arial MT"/>
                          <a:cs typeface="Arial MT"/>
                        </a:rPr>
                        <a:t>&amp;</a:t>
                      </a:r>
                      <a:r>
                        <a:rPr sz="1400" spc="-25" dirty="0">
                          <a:latin typeface="Arial MT"/>
                          <a:cs typeface="Arial MT"/>
                        </a:rPr>
                        <a:t> </a:t>
                      </a:r>
                      <a:r>
                        <a:rPr sz="1400" spc="-10" dirty="0">
                          <a:latin typeface="Arial MT"/>
                          <a:cs typeface="Arial MT"/>
                        </a:rPr>
                        <a:t>Vegetables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10" dirty="0">
                          <a:latin typeface="Arial MT"/>
                          <a:cs typeface="Arial MT"/>
                        </a:rPr>
                        <a:t>Fruits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algn="ctr">
                        <a:lnSpc>
                          <a:spcPts val="1170"/>
                        </a:lnSpc>
                        <a:spcBef>
                          <a:spcPts val="229"/>
                        </a:spcBef>
                      </a:pPr>
                      <a:r>
                        <a:rPr sz="1400" spc="-50" dirty="0">
                          <a:latin typeface="Arial MT"/>
                          <a:cs typeface="Arial MT"/>
                        </a:rPr>
                        <a:t>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Chocolate</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dirty="0">
                          <a:latin typeface="Arial MT"/>
                          <a:cs typeface="Arial MT"/>
                        </a:rPr>
                        <a:t>Sweets</a:t>
                      </a:r>
                      <a:r>
                        <a:rPr sz="1400" spc="-30" dirty="0">
                          <a:latin typeface="Arial MT"/>
                          <a:cs typeface="Arial MT"/>
                        </a:rPr>
                        <a:t> </a:t>
                      </a:r>
                      <a:r>
                        <a:rPr sz="1400" dirty="0">
                          <a:latin typeface="Arial MT"/>
                          <a:cs typeface="Arial MT"/>
                        </a:rPr>
                        <a:t>&amp;</a:t>
                      </a:r>
                      <a:r>
                        <a:rPr sz="1400" spc="-10" dirty="0">
                          <a:latin typeface="Arial MT"/>
                          <a:cs typeface="Arial MT"/>
                        </a:rPr>
                        <a:t> Snacks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10" dirty="0">
                          <a:latin typeface="Arial MT"/>
                          <a:cs typeface="Arial MT"/>
                        </a:rPr>
                        <a:t>Sweets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algn="ctr">
                        <a:lnSpc>
                          <a:spcPts val="1170"/>
                        </a:lnSpc>
                        <a:spcBef>
                          <a:spcPts val="229"/>
                        </a:spcBef>
                      </a:pPr>
                      <a:r>
                        <a:rPr sz="1400" spc="-50" dirty="0">
                          <a:latin typeface="Arial MT"/>
                          <a:cs typeface="Arial MT"/>
                        </a:rPr>
                        <a:t>5</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Chips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dirty="0">
                          <a:latin typeface="Arial MT"/>
                          <a:cs typeface="Arial MT"/>
                        </a:rPr>
                        <a:t>Sweets</a:t>
                      </a:r>
                      <a:r>
                        <a:rPr sz="1400" spc="-30" dirty="0">
                          <a:latin typeface="Arial MT"/>
                          <a:cs typeface="Arial MT"/>
                        </a:rPr>
                        <a:t> </a:t>
                      </a:r>
                      <a:r>
                        <a:rPr sz="1400" dirty="0">
                          <a:latin typeface="Arial MT"/>
                          <a:cs typeface="Arial MT"/>
                        </a:rPr>
                        <a:t>&amp;</a:t>
                      </a:r>
                      <a:r>
                        <a:rPr sz="1400" spc="-10" dirty="0">
                          <a:latin typeface="Arial MT"/>
                          <a:cs typeface="Arial MT"/>
                        </a:rPr>
                        <a:t> Snacks</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10" dirty="0">
                          <a:latin typeface="Arial MT"/>
                          <a:cs typeface="Arial MT"/>
                        </a:rPr>
                        <a:t>Snacks</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sp>
        <p:nvSpPr>
          <p:cNvPr id="14" name="object 14"/>
          <p:cNvSpPr txBox="1"/>
          <p:nvPr/>
        </p:nvSpPr>
        <p:spPr>
          <a:xfrm>
            <a:off x="562864" y="3960368"/>
            <a:ext cx="504613" cy="336909"/>
          </a:xfrm>
          <a:prstGeom prst="rect">
            <a:avLst/>
          </a:prstGeom>
          <a:solidFill>
            <a:srgbClr val="FFFFFF"/>
          </a:solidFill>
        </p:spPr>
        <p:txBody>
          <a:bodyPr vert="horz" wrap="square" lIns="0" tIns="49107" rIns="0" bIns="0" rtlCol="0">
            <a:spAutoFit/>
          </a:bodyPr>
          <a:lstStyle/>
          <a:p>
            <a:pPr marL="121070">
              <a:spcBef>
                <a:spcPts val="387"/>
              </a:spcBef>
            </a:pPr>
            <a:r>
              <a:rPr sz="1867" b="1" spc="-33" dirty="0">
                <a:solidFill>
                  <a:srgbClr val="404040"/>
                </a:solidFill>
                <a:latin typeface="Calibri"/>
                <a:cs typeface="Calibri"/>
              </a:rPr>
              <a:t>PK</a:t>
            </a:r>
            <a:endParaRPr sz="1867">
              <a:latin typeface="Calibri"/>
              <a:cs typeface="Calibri"/>
            </a:endParaRPr>
          </a:p>
        </p:txBody>
      </p:sp>
      <p:sp>
        <p:nvSpPr>
          <p:cNvPr id="15" name="object 15"/>
          <p:cNvSpPr txBox="1"/>
          <p:nvPr/>
        </p:nvSpPr>
        <p:spPr>
          <a:xfrm>
            <a:off x="6457695" y="1211071"/>
            <a:ext cx="506307" cy="336053"/>
          </a:xfrm>
          <a:prstGeom prst="rect">
            <a:avLst/>
          </a:prstGeom>
          <a:solidFill>
            <a:srgbClr val="FFFFFF"/>
          </a:solidFill>
        </p:spPr>
        <p:txBody>
          <a:bodyPr vert="horz" wrap="square" lIns="0" tIns="48259" rIns="0" bIns="0" rtlCol="0">
            <a:spAutoFit/>
          </a:bodyPr>
          <a:lstStyle/>
          <a:p>
            <a:pPr marL="123610">
              <a:spcBef>
                <a:spcPts val="379"/>
              </a:spcBef>
            </a:pPr>
            <a:r>
              <a:rPr sz="1867" b="1" spc="-33" dirty="0">
                <a:solidFill>
                  <a:srgbClr val="404040"/>
                </a:solidFill>
                <a:latin typeface="Calibri"/>
                <a:cs typeface="Calibri"/>
              </a:rPr>
              <a:t>FK</a:t>
            </a:r>
            <a:endParaRPr sz="1867">
              <a:latin typeface="Calibri"/>
              <a:cs typeface="Calibri"/>
            </a:endParaRPr>
          </a:p>
        </p:txBody>
      </p:sp>
      <p:sp>
        <p:nvSpPr>
          <p:cNvPr id="16" name="object 16"/>
          <p:cNvSpPr/>
          <p:nvPr/>
        </p:nvSpPr>
        <p:spPr>
          <a:xfrm>
            <a:off x="7827263" y="3974592"/>
            <a:ext cx="3048000" cy="619760"/>
          </a:xfrm>
          <a:custGeom>
            <a:avLst/>
            <a:gdLst/>
            <a:ahLst/>
            <a:cxnLst/>
            <a:rect l="l" t="t" r="r" b="b"/>
            <a:pathLst>
              <a:path w="2286000" h="464820">
                <a:moveTo>
                  <a:pt x="2286000" y="0"/>
                </a:moveTo>
                <a:lnTo>
                  <a:pt x="0" y="0"/>
                </a:lnTo>
                <a:lnTo>
                  <a:pt x="0" y="464819"/>
                </a:lnTo>
                <a:lnTo>
                  <a:pt x="2286000" y="464819"/>
                </a:lnTo>
                <a:lnTo>
                  <a:pt x="2286000" y="0"/>
                </a:lnTo>
                <a:close/>
              </a:path>
            </a:pathLst>
          </a:custGeom>
          <a:solidFill>
            <a:srgbClr val="99E7FF"/>
          </a:solidFill>
        </p:spPr>
        <p:txBody>
          <a:bodyPr wrap="square" lIns="0" tIns="0" rIns="0" bIns="0" rtlCol="0"/>
          <a:lstStyle/>
          <a:p>
            <a:endParaRPr sz="2400"/>
          </a:p>
        </p:txBody>
      </p:sp>
      <p:grpSp>
        <p:nvGrpSpPr>
          <p:cNvPr id="17" name="object 17"/>
          <p:cNvGrpSpPr/>
          <p:nvPr/>
        </p:nvGrpSpPr>
        <p:grpSpPr>
          <a:xfrm>
            <a:off x="869697" y="382015"/>
            <a:ext cx="3541607" cy="3518747"/>
            <a:chOff x="652272" y="286511"/>
            <a:chExt cx="2656205" cy="2639060"/>
          </a:xfrm>
        </p:grpSpPr>
        <p:sp>
          <p:nvSpPr>
            <p:cNvPr id="18" name="object 18"/>
            <p:cNvSpPr/>
            <p:nvPr/>
          </p:nvSpPr>
          <p:spPr>
            <a:xfrm>
              <a:off x="2469261" y="2196338"/>
              <a:ext cx="839469" cy="728980"/>
            </a:xfrm>
            <a:custGeom>
              <a:avLst/>
              <a:gdLst/>
              <a:ahLst/>
              <a:cxnLst/>
              <a:rect l="l" t="t" r="r" b="b"/>
              <a:pathLst>
                <a:path w="839470" h="728980">
                  <a:moveTo>
                    <a:pt x="714120" y="0"/>
                  </a:moveTo>
                  <a:lnTo>
                    <a:pt x="0" y="155701"/>
                  </a:lnTo>
                  <a:lnTo>
                    <a:pt x="124968" y="728980"/>
                  </a:lnTo>
                  <a:lnTo>
                    <a:pt x="839088" y="573278"/>
                  </a:lnTo>
                  <a:lnTo>
                    <a:pt x="714120" y="0"/>
                  </a:lnTo>
                  <a:close/>
                </a:path>
              </a:pathLst>
            </a:custGeom>
            <a:solidFill>
              <a:srgbClr val="66DBFF">
                <a:alpha val="89019"/>
              </a:srgbClr>
            </a:solidFill>
          </p:spPr>
          <p:txBody>
            <a:bodyPr wrap="square" lIns="0" tIns="0" rIns="0" bIns="0" rtlCol="0"/>
            <a:lstStyle/>
            <a:p>
              <a:endParaRPr sz="2400"/>
            </a:p>
          </p:txBody>
        </p:sp>
        <p:sp>
          <p:nvSpPr>
            <p:cNvPr id="19" name="object 19"/>
            <p:cNvSpPr/>
            <p:nvPr/>
          </p:nvSpPr>
          <p:spPr>
            <a:xfrm>
              <a:off x="2715895" y="2547492"/>
              <a:ext cx="385445" cy="210820"/>
            </a:xfrm>
            <a:custGeom>
              <a:avLst/>
              <a:gdLst/>
              <a:ahLst/>
              <a:cxnLst/>
              <a:rect l="l" t="t" r="r" b="b"/>
              <a:pathLst>
                <a:path w="385444" h="210819">
                  <a:moveTo>
                    <a:pt x="81139" y="50545"/>
                  </a:moveTo>
                  <a:lnTo>
                    <a:pt x="41275" y="50545"/>
                  </a:lnTo>
                  <a:lnTo>
                    <a:pt x="67944" y="172974"/>
                  </a:lnTo>
                  <a:lnTo>
                    <a:pt x="32893" y="180720"/>
                  </a:lnTo>
                  <a:lnTo>
                    <a:pt x="32004" y="180848"/>
                  </a:lnTo>
                  <a:lnTo>
                    <a:pt x="31242" y="181229"/>
                  </a:lnTo>
                  <a:lnTo>
                    <a:pt x="30734" y="181990"/>
                  </a:lnTo>
                  <a:lnTo>
                    <a:pt x="30225" y="182625"/>
                  </a:lnTo>
                  <a:lnTo>
                    <a:pt x="29082" y="187832"/>
                  </a:lnTo>
                  <a:lnTo>
                    <a:pt x="29337" y="189737"/>
                  </a:lnTo>
                  <a:lnTo>
                    <a:pt x="29463" y="191643"/>
                  </a:lnTo>
                  <a:lnTo>
                    <a:pt x="37718" y="210312"/>
                  </a:lnTo>
                  <a:lnTo>
                    <a:pt x="38607" y="210312"/>
                  </a:lnTo>
                  <a:lnTo>
                    <a:pt x="143129" y="187579"/>
                  </a:lnTo>
                  <a:lnTo>
                    <a:pt x="145287" y="186308"/>
                  </a:lnTo>
                  <a:lnTo>
                    <a:pt x="145923" y="185674"/>
                  </a:lnTo>
                  <a:lnTo>
                    <a:pt x="146304" y="184784"/>
                  </a:lnTo>
                  <a:lnTo>
                    <a:pt x="146532" y="183642"/>
                  </a:lnTo>
                  <a:lnTo>
                    <a:pt x="146824" y="182625"/>
                  </a:lnTo>
                  <a:lnTo>
                    <a:pt x="143891" y="164719"/>
                  </a:lnTo>
                  <a:lnTo>
                    <a:pt x="106044" y="164719"/>
                  </a:lnTo>
                  <a:lnTo>
                    <a:pt x="81222" y="50926"/>
                  </a:lnTo>
                  <a:lnTo>
                    <a:pt x="81139" y="50545"/>
                  </a:lnTo>
                  <a:close/>
                </a:path>
                <a:path w="385444" h="210819">
                  <a:moveTo>
                    <a:pt x="138430" y="157987"/>
                  </a:moveTo>
                  <a:lnTo>
                    <a:pt x="136652" y="157987"/>
                  </a:lnTo>
                  <a:lnTo>
                    <a:pt x="106044" y="164719"/>
                  </a:lnTo>
                  <a:lnTo>
                    <a:pt x="143891" y="164719"/>
                  </a:lnTo>
                  <a:lnTo>
                    <a:pt x="143256" y="162940"/>
                  </a:lnTo>
                  <a:lnTo>
                    <a:pt x="138430" y="157987"/>
                  </a:lnTo>
                  <a:close/>
                </a:path>
                <a:path w="385444" h="210819">
                  <a:moveTo>
                    <a:pt x="69723" y="6476"/>
                  </a:moveTo>
                  <a:lnTo>
                    <a:pt x="64643" y="6476"/>
                  </a:lnTo>
                  <a:lnTo>
                    <a:pt x="57023" y="7746"/>
                  </a:lnTo>
                  <a:lnTo>
                    <a:pt x="57258" y="7746"/>
                  </a:lnTo>
                  <a:lnTo>
                    <a:pt x="54102" y="8508"/>
                  </a:lnTo>
                  <a:lnTo>
                    <a:pt x="50546" y="9270"/>
                  </a:lnTo>
                  <a:lnTo>
                    <a:pt x="48641" y="9651"/>
                  </a:lnTo>
                  <a:lnTo>
                    <a:pt x="46862" y="10159"/>
                  </a:lnTo>
                  <a:lnTo>
                    <a:pt x="37973" y="13969"/>
                  </a:lnTo>
                  <a:lnTo>
                    <a:pt x="2286" y="50037"/>
                  </a:lnTo>
                  <a:lnTo>
                    <a:pt x="0" y="54737"/>
                  </a:lnTo>
                  <a:lnTo>
                    <a:pt x="0" y="58674"/>
                  </a:lnTo>
                  <a:lnTo>
                    <a:pt x="7112" y="77596"/>
                  </a:lnTo>
                  <a:lnTo>
                    <a:pt x="8255" y="77596"/>
                  </a:lnTo>
                  <a:lnTo>
                    <a:pt x="41275" y="50545"/>
                  </a:lnTo>
                  <a:lnTo>
                    <a:pt x="81139" y="50545"/>
                  </a:lnTo>
                  <a:lnTo>
                    <a:pt x="72413" y="10540"/>
                  </a:lnTo>
                  <a:lnTo>
                    <a:pt x="72329" y="10159"/>
                  </a:lnTo>
                  <a:lnTo>
                    <a:pt x="72219" y="9651"/>
                  </a:lnTo>
                  <a:lnTo>
                    <a:pt x="72136" y="9270"/>
                  </a:lnTo>
                  <a:lnTo>
                    <a:pt x="72027" y="8508"/>
                  </a:lnTo>
                  <a:lnTo>
                    <a:pt x="71628" y="7746"/>
                  </a:lnTo>
                  <a:lnTo>
                    <a:pt x="70612" y="6731"/>
                  </a:lnTo>
                  <a:lnTo>
                    <a:pt x="69723" y="6476"/>
                  </a:lnTo>
                  <a:close/>
                </a:path>
                <a:path w="385444" h="210819">
                  <a:moveTo>
                    <a:pt x="183134" y="35559"/>
                  </a:moveTo>
                  <a:lnTo>
                    <a:pt x="179831" y="35940"/>
                  </a:lnTo>
                  <a:lnTo>
                    <a:pt x="175768" y="36830"/>
                  </a:lnTo>
                  <a:lnTo>
                    <a:pt x="171831" y="37592"/>
                  </a:lnTo>
                  <a:lnTo>
                    <a:pt x="168656" y="38734"/>
                  </a:lnTo>
                  <a:lnTo>
                    <a:pt x="166243" y="40131"/>
                  </a:lnTo>
                  <a:lnTo>
                    <a:pt x="163703" y="41401"/>
                  </a:lnTo>
                  <a:lnTo>
                    <a:pt x="161925" y="43180"/>
                  </a:lnTo>
                  <a:lnTo>
                    <a:pt x="160655" y="45212"/>
                  </a:lnTo>
                  <a:lnTo>
                    <a:pt x="159512" y="47370"/>
                  </a:lnTo>
                  <a:lnTo>
                    <a:pt x="158877" y="49911"/>
                  </a:lnTo>
                  <a:lnTo>
                    <a:pt x="158877" y="55752"/>
                  </a:lnTo>
                  <a:lnTo>
                    <a:pt x="163449" y="73406"/>
                  </a:lnTo>
                  <a:lnTo>
                    <a:pt x="163884" y="74421"/>
                  </a:lnTo>
                  <a:lnTo>
                    <a:pt x="164693" y="76200"/>
                  </a:lnTo>
                  <a:lnTo>
                    <a:pt x="166116" y="77977"/>
                  </a:lnTo>
                  <a:lnTo>
                    <a:pt x="168148" y="79375"/>
                  </a:lnTo>
                  <a:lnTo>
                    <a:pt x="170053" y="80771"/>
                  </a:lnTo>
                  <a:lnTo>
                    <a:pt x="172121" y="81533"/>
                  </a:lnTo>
                  <a:lnTo>
                    <a:pt x="169671" y="81533"/>
                  </a:lnTo>
                  <a:lnTo>
                    <a:pt x="178054" y="81914"/>
                  </a:lnTo>
                  <a:lnTo>
                    <a:pt x="181356" y="81533"/>
                  </a:lnTo>
                  <a:lnTo>
                    <a:pt x="184839" y="80771"/>
                  </a:lnTo>
                  <a:lnTo>
                    <a:pt x="189356" y="79882"/>
                  </a:lnTo>
                  <a:lnTo>
                    <a:pt x="200532" y="72389"/>
                  </a:lnTo>
                  <a:lnTo>
                    <a:pt x="201803" y="70231"/>
                  </a:lnTo>
                  <a:lnTo>
                    <a:pt x="202437" y="67818"/>
                  </a:lnTo>
                  <a:lnTo>
                    <a:pt x="202449" y="67563"/>
                  </a:lnTo>
                  <a:lnTo>
                    <a:pt x="202565" y="62102"/>
                  </a:lnTo>
                  <a:lnTo>
                    <a:pt x="202265" y="59308"/>
                  </a:lnTo>
                  <a:lnTo>
                    <a:pt x="202184" y="58546"/>
                  </a:lnTo>
                  <a:lnTo>
                    <a:pt x="200406" y="50418"/>
                  </a:lnTo>
                  <a:lnTo>
                    <a:pt x="199389" y="47370"/>
                  </a:lnTo>
                  <a:lnTo>
                    <a:pt x="199262" y="46989"/>
                  </a:lnTo>
                  <a:lnTo>
                    <a:pt x="188722" y="35940"/>
                  </a:lnTo>
                  <a:lnTo>
                    <a:pt x="187324" y="35940"/>
                  </a:lnTo>
                  <a:lnTo>
                    <a:pt x="183134" y="35559"/>
                  </a:lnTo>
                  <a:close/>
                </a:path>
                <a:path w="385444" h="210819">
                  <a:moveTo>
                    <a:pt x="203962" y="130682"/>
                  </a:moveTo>
                  <a:lnTo>
                    <a:pt x="186944" y="135127"/>
                  </a:lnTo>
                  <a:lnTo>
                    <a:pt x="184404" y="136398"/>
                  </a:lnTo>
                  <a:lnTo>
                    <a:pt x="182625" y="138175"/>
                  </a:lnTo>
                  <a:lnTo>
                    <a:pt x="181356" y="140207"/>
                  </a:lnTo>
                  <a:lnTo>
                    <a:pt x="180212" y="142367"/>
                  </a:lnTo>
                  <a:lnTo>
                    <a:pt x="179578" y="144906"/>
                  </a:lnTo>
                  <a:lnTo>
                    <a:pt x="179705" y="150875"/>
                  </a:lnTo>
                  <a:lnTo>
                    <a:pt x="180001" y="153543"/>
                  </a:lnTo>
                  <a:lnTo>
                    <a:pt x="180086" y="154305"/>
                  </a:lnTo>
                  <a:lnTo>
                    <a:pt x="181863" y="162432"/>
                  </a:lnTo>
                  <a:lnTo>
                    <a:pt x="182880" y="165862"/>
                  </a:lnTo>
                  <a:lnTo>
                    <a:pt x="184150" y="168529"/>
                  </a:lnTo>
                  <a:lnTo>
                    <a:pt x="184607" y="169544"/>
                  </a:lnTo>
                  <a:lnTo>
                    <a:pt x="197357" y="177037"/>
                  </a:lnTo>
                  <a:lnTo>
                    <a:pt x="198755" y="177037"/>
                  </a:lnTo>
                  <a:lnTo>
                    <a:pt x="221234" y="167512"/>
                  </a:lnTo>
                  <a:lnTo>
                    <a:pt x="222504" y="165354"/>
                  </a:lnTo>
                  <a:lnTo>
                    <a:pt x="223138" y="162813"/>
                  </a:lnTo>
                  <a:lnTo>
                    <a:pt x="223155" y="162432"/>
                  </a:lnTo>
                  <a:lnTo>
                    <a:pt x="223266" y="157099"/>
                  </a:lnTo>
                  <a:lnTo>
                    <a:pt x="222966" y="154305"/>
                  </a:lnTo>
                  <a:lnTo>
                    <a:pt x="218694" y="139319"/>
                  </a:lnTo>
                  <a:lnTo>
                    <a:pt x="217424" y="136651"/>
                  </a:lnTo>
                  <a:lnTo>
                    <a:pt x="215773" y="134493"/>
                  </a:lnTo>
                  <a:lnTo>
                    <a:pt x="213868" y="133095"/>
                  </a:lnTo>
                  <a:lnTo>
                    <a:pt x="212020" y="131825"/>
                  </a:lnTo>
                  <a:lnTo>
                    <a:pt x="212238" y="131825"/>
                  </a:lnTo>
                  <a:lnTo>
                    <a:pt x="209825" y="131063"/>
                  </a:lnTo>
                  <a:lnTo>
                    <a:pt x="212153" y="131063"/>
                  </a:lnTo>
                  <a:lnTo>
                    <a:pt x="203962" y="130682"/>
                  </a:lnTo>
                  <a:close/>
                </a:path>
                <a:path w="385444" h="210819">
                  <a:moveTo>
                    <a:pt x="258953" y="16129"/>
                  </a:moveTo>
                  <a:lnTo>
                    <a:pt x="257302" y="16129"/>
                  </a:lnTo>
                  <a:lnTo>
                    <a:pt x="254063" y="16509"/>
                  </a:lnTo>
                  <a:lnTo>
                    <a:pt x="253111" y="16509"/>
                  </a:lnTo>
                  <a:lnTo>
                    <a:pt x="249834" y="17144"/>
                  </a:lnTo>
                  <a:lnTo>
                    <a:pt x="244348" y="18287"/>
                  </a:lnTo>
                  <a:lnTo>
                    <a:pt x="241554" y="19176"/>
                  </a:lnTo>
                  <a:lnTo>
                    <a:pt x="240030" y="19684"/>
                  </a:lnTo>
                  <a:lnTo>
                    <a:pt x="237998" y="20319"/>
                  </a:lnTo>
                  <a:lnTo>
                    <a:pt x="236474" y="21081"/>
                  </a:lnTo>
                  <a:lnTo>
                    <a:pt x="234187" y="22606"/>
                  </a:lnTo>
                  <a:lnTo>
                    <a:pt x="233425" y="23368"/>
                  </a:lnTo>
                  <a:lnTo>
                    <a:pt x="233172" y="24256"/>
                  </a:lnTo>
                  <a:lnTo>
                    <a:pt x="232791" y="25018"/>
                  </a:lnTo>
                  <a:lnTo>
                    <a:pt x="261155" y="156209"/>
                  </a:lnTo>
                  <a:lnTo>
                    <a:pt x="263550" y="159765"/>
                  </a:lnTo>
                  <a:lnTo>
                    <a:pt x="263778" y="159765"/>
                  </a:lnTo>
                  <a:lnTo>
                    <a:pt x="264921" y="160146"/>
                  </a:lnTo>
                  <a:lnTo>
                    <a:pt x="266065" y="160146"/>
                  </a:lnTo>
                  <a:lnTo>
                    <a:pt x="267588" y="160274"/>
                  </a:lnTo>
                  <a:lnTo>
                    <a:pt x="269494" y="160274"/>
                  </a:lnTo>
                  <a:lnTo>
                    <a:pt x="295021" y="153796"/>
                  </a:lnTo>
                  <a:lnTo>
                    <a:pt x="296291" y="153034"/>
                  </a:lnTo>
                  <a:lnTo>
                    <a:pt x="297180" y="152273"/>
                  </a:lnTo>
                  <a:lnTo>
                    <a:pt x="297942" y="150494"/>
                  </a:lnTo>
                  <a:lnTo>
                    <a:pt x="297815" y="148589"/>
                  </a:lnTo>
                  <a:lnTo>
                    <a:pt x="279019" y="62356"/>
                  </a:lnTo>
                  <a:lnTo>
                    <a:pt x="282829" y="54737"/>
                  </a:lnTo>
                  <a:lnTo>
                    <a:pt x="286638" y="48768"/>
                  </a:lnTo>
                  <a:lnTo>
                    <a:pt x="290703" y="44323"/>
                  </a:lnTo>
                  <a:lnTo>
                    <a:pt x="294640" y="39877"/>
                  </a:lnTo>
                  <a:lnTo>
                    <a:pt x="298957" y="37211"/>
                  </a:lnTo>
                  <a:lnTo>
                    <a:pt x="307340" y="35432"/>
                  </a:lnTo>
                  <a:lnTo>
                    <a:pt x="364041" y="35432"/>
                  </a:lnTo>
                  <a:lnTo>
                    <a:pt x="363912" y="35051"/>
                  </a:lnTo>
                  <a:lnTo>
                    <a:pt x="267462" y="35051"/>
                  </a:lnTo>
                  <a:lnTo>
                    <a:pt x="264215" y="20319"/>
                  </a:lnTo>
                  <a:lnTo>
                    <a:pt x="264105" y="19684"/>
                  </a:lnTo>
                  <a:lnTo>
                    <a:pt x="264032" y="19176"/>
                  </a:lnTo>
                  <a:lnTo>
                    <a:pt x="263525" y="18287"/>
                  </a:lnTo>
                  <a:lnTo>
                    <a:pt x="262890" y="17652"/>
                  </a:lnTo>
                  <a:lnTo>
                    <a:pt x="262255" y="17144"/>
                  </a:lnTo>
                  <a:lnTo>
                    <a:pt x="261366" y="16637"/>
                  </a:lnTo>
                  <a:lnTo>
                    <a:pt x="258953" y="16129"/>
                  </a:lnTo>
                  <a:close/>
                </a:path>
                <a:path w="385444" h="210819">
                  <a:moveTo>
                    <a:pt x="364041" y="35432"/>
                  </a:moveTo>
                  <a:lnTo>
                    <a:pt x="310769" y="35432"/>
                  </a:lnTo>
                  <a:lnTo>
                    <a:pt x="316865" y="36956"/>
                  </a:lnTo>
                  <a:lnTo>
                    <a:pt x="319531" y="38481"/>
                  </a:lnTo>
                  <a:lnTo>
                    <a:pt x="348615" y="137540"/>
                  </a:lnTo>
                  <a:lnTo>
                    <a:pt x="348932" y="138683"/>
                  </a:lnTo>
                  <a:lnTo>
                    <a:pt x="349250" y="139319"/>
                  </a:lnTo>
                  <a:lnTo>
                    <a:pt x="350012" y="139954"/>
                  </a:lnTo>
                  <a:lnTo>
                    <a:pt x="350774" y="140462"/>
                  </a:lnTo>
                  <a:lnTo>
                    <a:pt x="352202" y="141096"/>
                  </a:lnTo>
                  <a:lnTo>
                    <a:pt x="353313" y="141096"/>
                  </a:lnTo>
                  <a:lnTo>
                    <a:pt x="354838" y="141350"/>
                  </a:lnTo>
                  <a:lnTo>
                    <a:pt x="355536" y="141350"/>
                  </a:lnTo>
                  <a:lnTo>
                    <a:pt x="361569" y="140715"/>
                  </a:lnTo>
                  <a:lnTo>
                    <a:pt x="382269" y="134746"/>
                  </a:lnTo>
                  <a:lnTo>
                    <a:pt x="383540" y="133984"/>
                  </a:lnTo>
                  <a:lnTo>
                    <a:pt x="384429" y="133223"/>
                  </a:lnTo>
                  <a:lnTo>
                    <a:pt x="385191" y="131444"/>
                  </a:lnTo>
                  <a:lnTo>
                    <a:pt x="385318" y="130556"/>
                  </a:lnTo>
                  <a:lnTo>
                    <a:pt x="385063" y="129667"/>
                  </a:lnTo>
                  <a:lnTo>
                    <a:pt x="365632" y="40131"/>
                  </a:lnTo>
                  <a:lnTo>
                    <a:pt x="364041" y="35432"/>
                  </a:lnTo>
                  <a:close/>
                </a:path>
                <a:path w="385444" h="210819">
                  <a:moveTo>
                    <a:pt x="324611" y="0"/>
                  </a:moveTo>
                  <a:lnTo>
                    <a:pt x="316356" y="0"/>
                  </a:lnTo>
                  <a:lnTo>
                    <a:pt x="307467" y="2031"/>
                  </a:lnTo>
                  <a:lnTo>
                    <a:pt x="299466" y="3682"/>
                  </a:lnTo>
                  <a:lnTo>
                    <a:pt x="267462" y="35051"/>
                  </a:lnTo>
                  <a:lnTo>
                    <a:pt x="363912" y="35051"/>
                  </a:lnTo>
                  <a:lnTo>
                    <a:pt x="337438" y="3048"/>
                  </a:lnTo>
                  <a:lnTo>
                    <a:pt x="330707" y="1524"/>
                  </a:lnTo>
                  <a:lnTo>
                    <a:pt x="324611" y="0"/>
                  </a:lnTo>
                  <a:close/>
                </a:path>
              </a:pathLst>
            </a:custGeom>
            <a:solidFill>
              <a:srgbClr val="404040"/>
            </a:solidFill>
          </p:spPr>
          <p:txBody>
            <a:bodyPr wrap="square" lIns="0" tIns="0" rIns="0" bIns="0" rtlCol="0"/>
            <a:lstStyle/>
            <a:p>
              <a:endParaRPr sz="2400"/>
            </a:p>
          </p:txBody>
        </p:sp>
        <p:sp>
          <p:nvSpPr>
            <p:cNvPr id="20" name="object 20"/>
            <p:cNvSpPr/>
            <p:nvPr/>
          </p:nvSpPr>
          <p:spPr>
            <a:xfrm>
              <a:off x="652272" y="286511"/>
              <a:ext cx="2286000" cy="464820"/>
            </a:xfrm>
            <a:custGeom>
              <a:avLst/>
              <a:gdLst/>
              <a:ahLst/>
              <a:cxnLst/>
              <a:rect l="l" t="t" r="r" b="b"/>
              <a:pathLst>
                <a:path w="2286000" h="464820">
                  <a:moveTo>
                    <a:pt x="2286000" y="0"/>
                  </a:moveTo>
                  <a:lnTo>
                    <a:pt x="0" y="0"/>
                  </a:lnTo>
                  <a:lnTo>
                    <a:pt x="0" y="464820"/>
                  </a:lnTo>
                  <a:lnTo>
                    <a:pt x="2286000" y="464820"/>
                  </a:lnTo>
                  <a:lnTo>
                    <a:pt x="2286000" y="0"/>
                  </a:lnTo>
                  <a:close/>
                </a:path>
              </a:pathLst>
            </a:custGeom>
            <a:solidFill>
              <a:srgbClr val="99E7FF"/>
            </a:solidFill>
          </p:spPr>
          <p:txBody>
            <a:bodyPr wrap="square" lIns="0" tIns="0" rIns="0" bIns="0" rtlCol="0"/>
            <a:lstStyle/>
            <a:p>
              <a:endParaRPr sz="2400"/>
            </a:p>
          </p:txBody>
        </p:sp>
      </p:grpSp>
      <p:sp>
        <p:nvSpPr>
          <p:cNvPr id="21" name="object 21"/>
          <p:cNvSpPr txBox="1"/>
          <p:nvPr/>
        </p:nvSpPr>
        <p:spPr>
          <a:xfrm>
            <a:off x="8450071" y="4127500"/>
            <a:ext cx="1800860" cy="386430"/>
          </a:xfrm>
          <a:prstGeom prst="rect">
            <a:avLst/>
          </a:prstGeom>
        </p:spPr>
        <p:txBody>
          <a:bodyPr vert="horz" wrap="square" lIns="0" tIns="16933" rIns="0" bIns="0" rtlCol="0">
            <a:spAutoFit/>
          </a:bodyPr>
          <a:lstStyle/>
          <a:p>
            <a:pPr marL="16933">
              <a:spcBef>
                <a:spcPts val="133"/>
              </a:spcBef>
            </a:pPr>
            <a:r>
              <a:rPr sz="2400" b="1" spc="-13" dirty="0">
                <a:solidFill>
                  <a:srgbClr val="404040"/>
                </a:solidFill>
                <a:latin typeface="Calibri"/>
                <a:cs typeface="Calibri"/>
              </a:rPr>
              <a:t>Denormalized</a:t>
            </a:r>
            <a:endParaRPr sz="2400">
              <a:latin typeface="Calibri"/>
              <a:cs typeface="Calibri"/>
            </a:endParaRPr>
          </a:p>
        </p:txBody>
      </p:sp>
      <p:sp>
        <p:nvSpPr>
          <p:cNvPr id="22" name="object 22"/>
          <p:cNvSpPr txBox="1"/>
          <p:nvPr/>
        </p:nvSpPr>
        <p:spPr>
          <a:xfrm>
            <a:off x="1647274" y="533400"/>
            <a:ext cx="1495213" cy="386430"/>
          </a:xfrm>
          <a:prstGeom prst="rect">
            <a:avLst/>
          </a:prstGeom>
        </p:spPr>
        <p:txBody>
          <a:bodyPr vert="horz" wrap="square" lIns="0" tIns="16933" rIns="0" bIns="0" rtlCol="0">
            <a:spAutoFit/>
          </a:bodyPr>
          <a:lstStyle/>
          <a:p>
            <a:pPr marL="16933">
              <a:spcBef>
                <a:spcPts val="133"/>
              </a:spcBef>
            </a:pPr>
            <a:r>
              <a:rPr sz="2400" b="1" spc="-13" dirty="0">
                <a:solidFill>
                  <a:srgbClr val="404040"/>
                </a:solidFill>
                <a:latin typeface="Calibri"/>
                <a:cs typeface="Calibri"/>
              </a:rPr>
              <a:t>Normalized</a:t>
            </a:r>
            <a:endParaRPr sz="2400">
              <a:latin typeface="Calibri"/>
              <a:cs typeface="Calibri"/>
            </a:endParaRPr>
          </a:p>
        </p:txBody>
      </p:sp>
      <p:grpSp>
        <p:nvGrpSpPr>
          <p:cNvPr id="23" name="object 23"/>
          <p:cNvGrpSpPr/>
          <p:nvPr/>
        </p:nvGrpSpPr>
        <p:grpSpPr>
          <a:xfrm>
            <a:off x="333249" y="890016"/>
            <a:ext cx="4108873" cy="2468880"/>
            <a:chOff x="249936" y="667512"/>
            <a:chExt cx="3081655" cy="1851660"/>
          </a:xfrm>
        </p:grpSpPr>
        <p:pic>
          <p:nvPicPr>
            <p:cNvPr id="24" name="object 24"/>
            <p:cNvPicPr/>
            <p:nvPr/>
          </p:nvPicPr>
          <p:blipFill>
            <a:blip r:embed="rId2" cstate="print"/>
            <a:stretch>
              <a:fillRect/>
            </a:stretch>
          </p:blipFill>
          <p:spPr>
            <a:xfrm>
              <a:off x="254508" y="667512"/>
              <a:ext cx="3076956" cy="1818132"/>
            </a:xfrm>
            <a:prstGeom prst="rect">
              <a:avLst/>
            </a:prstGeom>
          </p:spPr>
        </p:pic>
        <p:pic>
          <p:nvPicPr>
            <p:cNvPr id="25" name="object 25"/>
            <p:cNvPicPr/>
            <p:nvPr/>
          </p:nvPicPr>
          <p:blipFill>
            <a:blip r:embed="rId3" cstate="print"/>
            <a:stretch>
              <a:fillRect/>
            </a:stretch>
          </p:blipFill>
          <p:spPr>
            <a:xfrm>
              <a:off x="249936" y="784860"/>
              <a:ext cx="2884932" cy="1734312"/>
            </a:xfrm>
            <a:prstGeom prst="rect">
              <a:avLst/>
            </a:prstGeom>
          </p:spPr>
        </p:pic>
      </p:grpSp>
      <p:sp>
        <p:nvSpPr>
          <p:cNvPr id="26" name="object 26"/>
          <p:cNvSpPr txBox="1"/>
          <p:nvPr/>
        </p:nvSpPr>
        <p:spPr>
          <a:xfrm>
            <a:off x="402336" y="922527"/>
            <a:ext cx="3982720" cy="2208618"/>
          </a:xfrm>
          <a:prstGeom prst="rect">
            <a:avLst/>
          </a:prstGeom>
          <a:solidFill>
            <a:srgbClr val="D9D9D9"/>
          </a:solidFill>
          <a:ln w="9144">
            <a:solidFill>
              <a:srgbClr val="373737"/>
            </a:solidFill>
          </a:ln>
        </p:spPr>
        <p:txBody>
          <a:bodyPr vert="horz" wrap="square" lIns="0" tIns="205740" rIns="0" bIns="0" rtlCol="0">
            <a:spAutoFit/>
          </a:bodyPr>
          <a:lstStyle/>
          <a:p>
            <a:pPr marL="578259" indent="-457189">
              <a:spcBef>
                <a:spcPts val="1620"/>
              </a:spcBef>
              <a:buClr>
                <a:srgbClr val="FFFFFF"/>
              </a:buClr>
              <a:buFont typeface="Courier New"/>
              <a:buChar char="o"/>
              <a:tabLst>
                <a:tab pos="578259" algn="l"/>
              </a:tabLst>
            </a:pPr>
            <a:r>
              <a:rPr sz="1867" i="1" dirty="0">
                <a:solidFill>
                  <a:srgbClr val="3B3B3B"/>
                </a:solidFill>
                <a:latin typeface="Calibri"/>
                <a:cs typeface="Calibri"/>
              </a:rPr>
              <a:t>Technique</a:t>
            </a:r>
            <a:r>
              <a:rPr sz="1867" i="1" spc="-47" dirty="0">
                <a:solidFill>
                  <a:srgbClr val="3B3B3B"/>
                </a:solidFill>
                <a:latin typeface="Calibri"/>
                <a:cs typeface="Calibri"/>
              </a:rPr>
              <a:t> </a:t>
            </a:r>
            <a:r>
              <a:rPr sz="1867" i="1" dirty="0">
                <a:solidFill>
                  <a:srgbClr val="3B3B3B"/>
                </a:solidFill>
                <a:latin typeface="Calibri"/>
                <a:cs typeface="Calibri"/>
              </a:rPr>
              <a:t>to</a:t>
            </a:r>
            <a:r>
              <a:rPr sz="1867" i="1" spc="-47" dirty="0">
                <a:solidFill>
                  <a:srgbClr val="3B3B3B"/>
                </a:solidFill>
                <a:latin typeface="Calibri"/>
                <a:cs typeface="Calibri"/>
              </a:rPr>
              <a:t> </a:t>
            </a:r>
            <a:r>
              <a:rPr sz="1867" i="1" dirty="0">
                <a:solidFill>
                  <a:srgbClr val="3B3B3B"/>
                </a:solidFill>
                <a:latin typeface="Calibri"/>
                <a:cs typeface="Calibri"/>
              </a:rPr>
              <a:t>avoid</a:t>
            </a:r>
            <a:r>
              <a:rPr sz="1867" i="1" spc="-40" dirty="0">
                <a:solidFill>
                  <a:srgbClr val="3B3B3B"/>
                </a:solidFill>
                <a:latin typeface="Calibri"/>
                <a:cs typeface="Calibri"/>
              </a:rPr>
              <a:t> </a:t>
            </a:r>
            <a:r>
              <a:rPr sz="1867" i="1" spc="-13" dirty="0">
                <a:solidFill>
                  <a:srgbClr val="3B3B3B"/>
                </a:solidFill>
                <a:latin typeface="Calibri"/>
                <a:cs typeface="Calibri"/>
              </a:rPr>
              <a:t>redundancy</a:t>
            </a:r>
            <a:endParaRPr sz="1867">
              <a:latin typeface="Calibri"/>
              <a:cs typeface="Calibri"/>
            </a:endParaRPr>
          </a:p>
          <a:p>
            <a:pPr marL="578259" indent="-457189">
              <a:spcBef>
                <a:spcPts val="1120"/>
              </a:spcBef>
              <a:buClr>
                <a:srgbClr val="FFFFFF"/>
              </a:buClr>
              <a:buFont typeface="Courier New"/>
              <a:buChar char="o"/>
              <a:tabLst>
                <a:tab pos="578259" algn="l"/>
              </a:tabLst>
            </a:pPr>
            <a:r>
              <a:rPr sz="1867" i="1" dirty="0">
                <a:solidFill>
                  <a:srgbClr val="3B3B3B"/>
                </a:solidFill>
                <a:latin typeface="Calibri"/>
                <a:cs typeface="Calibri"/>
              </a:rPr>
              <a:t>Minimizes</a:t>
            </a:r>
            <a:r>
              <a:rPr sz="1867" i="1" spc="-93" dirty="0">
                <a:solidFill>
                  <a:srgbClr val="3B3B3B"/>
                </a:solidFill>
                <a:latin typeface="Calibri"/>
                <a:cs typeface="Calibri"/>
              </a:rPr>
              <a:t> </a:t>
            </a:r>
            <a:r>
              <a:rPr sz="1867" i="1" spc="-13" dirty="0">
                <a:solidFill>
                  <a:srgbClr val="3B3B3B"/>
                </a:solidFill>
                <a:latin typeface="Calibri"/>
                <a:cs typeface="Calibri"/>
              </a:rPr>
              <a:t>storage</a:t>
            </a:r>
            <a:endParaRPr sz="1867">
              <a:latin typeface="Calibri"/>
              <a:cs typeface="Calibri"/>
            </a:endParaRPr>
          </a:p>
          <a:p>
            <a:pPr marL="578259" indent="-457189">
              <a:spcBef>
                <a:spcPts val="1120"/>
              </a:spcBef>
              <a:buClr>
                <a:srgbClr val="FFFFFF"/>
              </a:buClr>
              <a:buFont typeface="Courier New"/>
              <a:buChar char="o"/>
              <a:tabLst>
                <a:tab pos="578259" algn="l"/>
              </a:tabLst>
            </a:pPr>
            <a:r>
              <a:rPr sz="1867" i="1" dirty="0">
                <a:solidFill>
                  <a:srgbClr val="3B3B3B"/>
                </a:solidFill>
                <a:latin typeface="Calibri"/>
                <a:cs typeface="Calibri"/>
              </a:rPr>
              <a:t>Performance</a:t>
            </a:r>
            <a:r>
              <a:rPr sz="1867" i="1" spc="-73" dirty="0">
                <a:solidFill>
                  <a:srgbClr val="3B3B3B"/>
                </a:solidFill>
                <a:latin typeface="Calibri"/>
                <a:cs typeface="Calibri"/>
              </a:rPr>
              <a:t> </a:t>
            </a:r>
            <a:r>
              <a:rPr sz="1867" i="1" dirty="0">
                <a:solidFill>
                  <a:srgbClr val="3B3B3B"/>
                </a:solidFill>
                <a:latin typeface="Calibri"/>
                <a:cs typeface="Calibri"/>
              </a:rPr>
              <a:t>(write</a:t>
            </a:r>
            <a:r>
              <a:rPr sz="1867" i="1" spc="-13" dirty="0">
                <a:solidFill>
                  <a:srgbClr val="3B3B3B"/>
                </a:solidFill>
                <a:latin typeface="Calibri"/>
                <a:cs typeface="Calibri"/>
              </a:rPr>
              <a:t> </a:t>
            </a:r>
            <a:r>
              <a:rPr sz="1867" i="1" dirty="0">
                <a:solidFill>
                  <a:srgbClr val="3B3B3B"/>
                </a:solidFill>
                <a:latin typeface="Calibri"/>
                <a:cs typeface="Calibri"/>
              </a:rPr>
              <a:t>/</a:t>
            </a:r>
            <a:r>
              <a:rPr sz="1867" i="1" spc="-53" dirty="0">
                <a:solidFill>
                  <a:srgbClr val="3B3B3B"/>
                </a:solidFill>
                <a:latin typeface="Calibri"/>
                <a:cs typeface="Calibri"/>
              </a:rPr>
              <a:t> </a:t>
            </a:r>
            <a:r>
              <a:rPr sz="1867" i="1" spc="-13" dirty="0">
                <a:solidFill>
                  <a:srgbClr val="3B3B3B"/>
                </a:solidFill>
                <a:latin typeface="Calibri"/>
                <a:cs typeface="Calibri"/>
              </a:rPr>
              <a:t>update)</a:t>
            </a:r>
            <a:endParaRPr sz="1867">
              <a:latin typeface="Calibri"/>
              <a:cs typeface="Calibri"/>
            </a:endParaRPr>
          </a:p>
          <a:p>
            <a:pPr marL="578259" indent="-457189">
              <a:spcBef>
                <a:spcPts val="1125"/>
              </a:spcBef>
              <a:buClr>
                <a:srgbClr val="FFFFFF"/>
              </a:buClr>
              <a:buFont typeface="Courier New"/>
              <a:buChar char="o"/>
              <a:tabLst>
                <a:tab pos="578259" algn="l"/>
              </a:tabLst>
            </a:pPr>
            <a:r>
              <a:rPr sz="1867" i="1" dirty="0">
                <a:solidFill>
                  <a:srgbClr val="3B3B3B"/>
                </a:solidFill>
                <a:latin typeface="Calibri"/>
                <a:cs typeface="Calibri"/>
              </a:rPr>
              <a:t>Many</a:t>
            </a:r>
            <a:r>
              <a:rPr sz="1867" i="1" spc="-73" dirty="0">
                <a:solidFill>
                  <a:srgbClr val="3B3B3B"/>
                </a:solidFill>
                <a:latin typeface="Calibri"/>
                <a:cs typeface="Calibri"/>
              </a:rPr>
              <a:t> </a:t>
            </a:r>
            <a:r>
              <a:rPr sz="1867" i="1" spc="-13" dirty="0">
                <a:solidFill>
                  <a:srgbClr val="3B3B3B"/>
                </a:solidFill>
                <a:latin typeface="Calibri"/>
                <a:cs typeface="Calibri"/>
              </a:rPr>
              <a:t>tables</a:t>
            </a:r>
            <a:endParaRPr sz="1867">
              <a:latin typeface="Calibri"/>
              <a:cs typeface="Calibri"/>
            </a:endParaRPr>
          </a:p>
          <a:p>
            <a:pPr marL="578259" indent="-457189">
              <a:spcBef>
                <a:spcPts val="1120"/>
              </a:spcBef>
              <a:buClr>
                <a:srgbClr val="FFFFFF"/>
              </a:buClr>
              <a:buFont typeface="Courier New"/>
              <a:buChar char="o"/>
              <a:tabLst>
                <a:tab pos="578259" algn="l"/>
              </a:tabLst>
            </a:pPr>
            <a:r>
              <a:rPr sz="1867" i="1" dirty="0">
                <a:solidFill>
                  <a:srgbClr val="3B3B3B"/>
                </a:solidFill>
                <a:latin typeface="Calibri"/>
                <a:cs typeface="Calibri"/>
              </a:rPr>
              <a:t>Many</a:t>
            </a:r>
            <a:r>
              <a:rPr sz="1867" i="1" spc="-73" dirty="0">
                <a:solidFill>
                  <a:srgbClr val="3B3B3B"/>
                </a:solidFill>
                <a:latin typeface="Calibri"/>
                <a:cs typeface="Calibri"/>
              </a:rPr>
              <a:t> </a:t>
            </a:r>
            <a:r>
              <a:rPr sz="1867" i="1" dirty="0">
                <a:solidFill>
                  <a:srgbClr val="3B3B3B"/>
                </a:solidFill>
                <a:latin typeface="Calibri"/>
                <a:cs typeface="Calibri"/>
              </a:rPr>
              <a:t>joins</a:t>
            </a:r>
            <a:r>
              <a:rPr sz="1867" i="1" spc="-67" dirty="0">
                <a:solidFill>
                  <a:srgbClr val="3B3B3B"/>
                </a:solidFill>
                <a:latin typeface="Calibri"/>
                <a:cs typeface="Calibri"/>
              </a:rPr>
              <a:t> </a:t>
            </a:r>
            <a:r>
              <a:rPr sz="1867" i="1" spc="-13" dirty="0">
                <a:solidFill>
                  <a:srgbClr val="3B3B3B"/>
                </a:solidFill>
                <a:latin typeface="Calibri"/>
                <a:cs typeface="Calibri"/>
              </a:rPr>
              <a:t>necessary</a:t>
            </a:r>
            <a:endParaRPr sz="1867">
              <a:latin typeface="Calibri"/>
              <a:cs typeface="Calibri"/>
            </a:endParaRPr>
          </a:p>
        </p:txBody>
      </p:sp>
      <p:grpSp>
        <p:nvGrpSpPr>
          <p:cNvPr id="27" name="object 27"/>
          <p:cNvGrpSpPr/>
          <p:nvPr/>
        </p:nvGrpSpPr>
        <p:grpSpPr>
          <a:xfrm>
            <a:off x="7258305" y="4545584"/>
            <a:ext cx="4259580" cy="2042160"/>
            <a:chOff x="5443728" y="3409188"/>
            <a:chExt cx="3194685" cy="1531620"/>
          </a:xfrm>
        </p:grpSpPr>
        <p:pic>
          <p:nvPicPr>
            <p:cNvPr id="28" name="object 28"/>
            <p:cNvPicPr/>
            <p:nvPr/>
          </p:nvPicPr>
          <p:blipFill>
            <a:blip r:embed="rId4" cstate="print"/>
            <a:stretch>
              <a:fillRect/>
            </a:stretch>
          </p:blipFill>
          <p:spPr>
            <a:xfrm>
              <a:off x="5448300" y="3409188"/>
              <a:ext cx="3189731" cy="1514856"/>
            </a:xfrm>
            <a:prstGeom prst="rect">
              <a:avLst/>
            </a:prstGeom>
          </p:spPr>
        </p:pic>
        <p:pic>
          <p:nvPicPr>
            <p:cNvPr id="29" name="object 29"/>
            <p:cNvPicPr/>
            <p:nvPr/>
          </p:nvPicPr>
          <p:blipFill>
            <a:blip r:embed="rId5" cstate="print"/>
            <a:stretch>
              <a:fillRect/>
            </a:stretch>
          </p:blipFill>
          <p:spPr>
            <a:xfrm>
              <a:off x="5443728" y="3526536"/>
              <a:ext cx="2513076" cy="1414271"/>
            </a:xfrm>
            <a:prstGeom prst="rect">
              <a:avLst/>
            </a:prstGeom>
          </p:spPr>
        </p:pic>
      </p:grpSp>
      <p:sp>
        <p:nvSpPr>
          <p:cNvPr id="30" name="object 30"/>
          <p:cNvSpPr txBox="1"/>
          <p:nvPr/>
        </p:nvSpPr>
        <p:spPr>
          <a:xfrm>
            <a:off x="7327392" y="4578095"/>
            <a:ext cx="4133427" cy="1781086"/>
          </a:xfrm>
          <a:prstGeom prst="rect">
            <a:avLst/>
          </a:prstGeom>
          <a:solidFill>
            <a:srgbClr val="404040"/>
          </a:solidFill>
          <a:ln w="9144">
            <a:solidFill>
              <a:srgbClr val="373737"/>
            </a:solidFill>
          </a:ln>
        </p:spPr>
        <p:txBody>
          <a:bodyPr vert="horz" wrap="square" lIns="0" tIns="206587" rIns="0" bIns="0" rtlCol="0">
            <a:spAutoFit/>
          </a:bodyPr>
          <a:lstStyle/>
          <a:p>
            <a:pPr marL="579952" indent="-457189">
              <a:spcBef>
                <a:spcPts val="1627"/>
              </a:spcBef>
              <a:buClr>
                <a:srgbClr val="FFFFFF"/>
              </a:buClr>
              <a:buFont typeface="Courier New"/>
              <a:buChar char="o"/>
              <a:tabLst>
                <a:tab pos="579952" algn="l"/>
              </a:tabLst>
            </a:pPr>
            <a:r>
              <a:rPr sz="1867" i="1" dirty="0">
                <a:solidFill>
                  <a:srgbClr val="D9D9D9"/>
                </a:solidFill>
                <a:latin typeface="Calibri"/>
                <a:cs typeface="Calibri"/>
              </a:rPr>
              <a:t>There</a:t>
            </a:r>
            <a:r>
              <a:rPr sz="1867" i="1" spc="-53" dirty="0">
                <a:solidFill>
                  <a:srgbClr val="D9D9D9"/>
                </a:solidFill>
                <a:latin typeface="Calibri"/>
                <a:cs typeface="Calibri"/>
              </a:rPr>
              <a:t> </a:t>
            </a:r>
            <a:r>
              <a:rPr sz="1867" i="1" dirty="0">
                <a:solidFill>
                  <a:srgbClr val="D9D9D9"/>
                </a:solidFill>
                <a:latin typeface="Calibri"/>
                <a:cs typeface="Calibri"/>
              </a:rPr>
              <a:t>is</a:t>
            </a:r>
            <a:r>
              <a:rPr sz="1867" i="1" spc="-20" dirty="0">
                <a:solidFill>
                  <a:srgbClr val="D9D9D9"/>
                </a:solidFill>
                <a:latin typeface="Calibri"/>
                <a:cs typeface="Calibri"/>
              </a:rPr>
              <a:t> </a:t>
            </a:r>
            <a:r>
              <a:rPr sz="1867" i="1" dirty="0">
                <a:solidFill>
                  <a:srgbClr val="D9D9D9"/>
                </a:solidFill>
                <a:latin typeface="Calibri"/>
                <a:cs typeface="Calibri"/>
              </a:rPr>
              <a:t>data</a:t>
            </a:r>
            <a:r>
              <a:rPr sz="1867" i="1" spc="-7" dirty="0">
                <a:solidFill>
                  <a:srgbClr val="D9D9D9"/>
                </a:solidFill>
                <a:latin typeface="Calibri"/>
                <a:cs typeface="Calibri"/>
              </a:rPr>
              <a:t> </a:t>
            </a:r>
            <a:r>
              <a:rPr sz="1867" i="1" spc="-13" dirty="0">
                <a:solidFill>
                  <a:srgbClr val="D9D9D9"/>
                </a:solidFill>
                <a:latin typeface="Calibri"/>
                <a:cs typeface="Calibri"/>
              </a:rPr>
              <a:t>redundancy!</a:t>
            </a:r>
            <a:endParaRPr sz="1867">
              <a:latin typeface="Calibri"/>
              <a:cs typeface="Calibri"/>
            </a:endParaRPr>
          </a:p>
          <a:p>
            <a:pPr marL="579952" indent="-457189">
              <a:spcBef>
                <a:spcPts val="1120"/>
              </a:spcBef>
              <a:buClr>
                <a:srgbClr val="FFFFFF"/>
              </a:buClr>
              <a:buFont typeface="Courier New"/>
              <a:buChar char="o"/>
              <a:tabLst>
                <a:tab pos="579952" algn="l"/>
              </a:tabLst>
            </a:pPr>
            <a:r>
              <a:rPr sz="1867" i="1" spc="-13" dirty="0">
                <a:solidFill>
                  <a:srgbClr val="D9D9D9"/>
                </a:solidFill>
                <a:latin typeface="Calibri"/>
                <a:cs typeface="Calibri"/>
              </a:rPr>
              <a:t>Optimized</a:t>
            </a:r>
            <a:r>
              <a:rPr sz="1867" i="1" spc="-40" dirty="0">
                <a:solidFill>
                  <a:srgbClr val="D9D9D9"/>
                </a:solidFill>
                <a:latin typeface="Calibri"/>
                <a:cs typeface="Calibri"/>
              </a:rPr>
              <a:t> </a:t>
            </a:r>
            <a:r>
              <a:rPr sz="1867" i="1" dirty="0">
                <a:solidFill>
                  <a:srgbClr val="D9D9D9"/>
                </a:solidFill>
                <a:latin typeface="Calibri"/>
                <a:cs typeface="Calibri"/>
              </a:rPr>
              <a:t>to</a:t>
            </a:r>
            <a:r>
              <a:rPr sz="1867" i="1" spc="-27" dirty="0">
                <a:solidFill>
                  <a:srgbClr val="D9D9D9"/>
                </a:solidFill>
                <a:latin typeface="Calibri"/>
                <a:cs typeface="Calibri"/>
              </a:rPr>
              <a:t> </a:t>
            </a:r>
            <a:r>
              <a:rPr sz="1867" i="1" dirty="0">
                <a:solidFill>
                  <a:srgbClr val="D9D9D9"/>
                </a:solidFill>
                <a:latin typeface="Calibri"/>
                <a:cs typeface="Calibri"/>
              </a:rPr>
              <a:t>get</a:t>
            </a:r>
            <a:r>
              <a:rPr sz="1867" i="1" spc="-13" dirty="0">
                <a:solidFill>
                  <a:srgbClr val="D9D9D9"/>
                </a:solidFill>
                <a:latin typeface="Calibri"/>
                <a:cs typeface="Calibri"/>
              </a:rPr>
              <a:t> </a:t>
            </a:r>
            <a:r>
              <a:rPr sz="1867" i="1" dirty="0">
                <a:solidFill>
                  <a:srgbClr val="D9D9D9"/>
                </a:solidFill>
                <a:latin typeface="Calibri"/>
                <a:cs typeface="Calibri"/>
              </a:rPr>
              <a:t>data</a:t>
            </a:r>
            <a:r>
              <a:rPr sz="1867" i="1" spc="-7" dirty="0">
                <a:solidFill>
                  <a:srgbClr val="D9D9D9"/>
                </a:solidFill>
                <a:latin typeface="Calibri"/>
                <a:cs typeface="Calibri"/>
              </a:rPr>
              <a:t> </a:t>
            </a:r>
            <a:r>
              <a:rPr sz="1867" i="1" spc="-33" dirty="0">
                <a:solidFill>
                  <a:srgbClr val="D9D9D9"/>
                </a:solidFill>
                <a:latin typeface="Calibri"/>
                <a:cs typeface="Calibri"/>
              </a:rPr>
              <a:t>out</a:t>
            </a:r>
            <a:endParaRPr sz="1867">
              <a:latin typeface="Calibri"/>
              <a:cs typeface="Calibri"/>
            </a:endParaRPr>
          </a:p>
          <a:p>
            <a:pPr marL="579952" indent="-457189">
              <a:spcBef>
                <a:spcPts val="1120"/>
              </a:spcBef>
              <a:buClr>
                <a:srgbClr val="FFFFFF"/>
              </a:buClr>
              <a:buFont typeface="Courier New"/>
              <a:buChar char="o"/>
              <a:tabLst>
                <a:tab pos="579952" algn="l"/>
              </a:tabLst>
            </a:pPr>
            <a:r>
              <a:rPr sz="1867" i="1" dirty="0">
                <a:solidFill>
                  <a:srgbClr val="D9D9D9"/>
                </a:solidFill>
                <a:latin typeface="Calibri"/>
                <a:cs typeface="Calibri"/>
              </a:rPr>
              <a:t>Query</a:t>
            </a:r>
            <a:r>
              <a:rPr sz="1867" i="1" spc="-73" dirty="0">
                <a:solidFill>
                  <a:srgbClr val="D9D9D9"/>
                </a:solidFill>
                <a:latin typeface="Calibri"/>
                <a:cs typeface="Calibri"/>
              </a:rPr>
              <a:t> </a:t>
            </a:r>
            <a:r>
              <a:rPr sz="1867" i="1" dirty="0">
                <a:solidFill>
                  <a:srgbClr val="D9D9D9"/>
                </a:solidFill>
                <a:latin typeface="Calibri"/>
                <a:cs typeface="Calibri"/>
              </a:rPr>
              <a:t>performance</a:t>
            </a:r>
            <a:r>
              <a:rPr sz="1867" i="1" spc="-60" dirty="0">
                <a:solidFill>
                  <a:srgbClr val="D9D9D9"/>
                </a:solidFill>
                <a:latin typeface="Calibri"/>
                <a:cs typeface="Calibri"/>
              </a:rPr>
              <a:t> </a:t>
            </a:r>
            <a:r>
              <a:rPr sz="1867" i="1" spc="-13" dirty="0">
                <a:solidFill>
                  <a:srgbClr val="D9D9D9"/>
                </a:solidFill>
                <a:latin typeface="Calibri"/>
                <a:cs typeface="Calibri"/>
              </a:rPr>
              <a:t>(read)</a:t>
            </a:r>
            <a:endParaRPr sz="1867">
              <a:latin typeface="Calibri"/>
              <a:cs typeface="Calibri"/>
            </a:endParaRPr>
          </a:p>
          <a:p>
            <a:pPr marL="579952" indent="-457189">
              <a:spcBef>
                <a:spcPts val="1120"/>
              </a:spcBef>
              <a:buClr>
                <a:srgbClr val="FFFFFF"/>
              </a:buClr>
              <a:buFont typeface="Courier New"/>
              <a:buChar char="o"/>
              <a:tabLst>
                <a:tab pos="579952" algn="l"/>
              </a:tabLst>
            </a:pPr>
            <a:r>
              <a:rPr sz="1867" i="1" dirty="0">
                <a:solidFill>
                  <a:srgbClr val="D9D9D9"/>
                </a:solidFill>
                <a:latin typeface="Calibri"/>
                <a:cs typeface="Calibri"/>
              </a:rPr>
              <a:t>User</a:t>
            </a:r>
            <a:r>
              <a:rPr sz="1867" i="1" spc="-40" dirty="0">
                <a:solidFill>
                  <a:srgbClr val="D9D9D9"/>
                </a:solidFill>
                <a:latin typeface="Calibri"/>
                <a:cs typeface="Calibri"/>
              </a:rPr>
              <a:t> </a:t>
            </a:r>
            <a:r>
              <a:rPr sz="1867" i="1" spc="-13" dirty="0">
                <a:solidFill>
                  <a:srgbClr val="D9D9D9"/>
                </a:solidFill>
                <a:latin typeface="Calibri"/>
                <a:cs typeface="Calibri"/>
              </a:rPr>
              <a:t>experience</a:t>
            </a:r>
            <a:endParaRPr sz="1867">
              <a:latin typeface="Calibri"/>
              <a:cs typeface="Calibri"/>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4"/>
          <p:cNvPicPr/>
          <p:nvPr/>
        </p:nvPicPr>
        <p:blipFill>
          <a:blip r:embed="rId2" cstate="print"/>
          <a:stretch>
            <a:fillRect/>
          </a:stretch>
        </p:blipFill>
        <p:spPr>
          <a:xfrm>
            <a:off x="1422399" y="619759"/>
            <a:ext cx="8556751" cy="5750560"/>
          </a:xfrm>
          <a:prstGeom prst="rect">
            <a:avLst/>
          </a:prstGeom>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4"/>
          <p:cNvPicPr/>
          <p:nvPr/>
        </p:nvPicPr>
        <p:blipFill>
          <a:blip r:embed="rId2" cstate="print"/>
          <a:stretch>
            <a:fillRect/>
          </a:stretch>
        </p:blipFill>
        <p:spPr>
          <a:xfrm>
            <a:off x="2151478" y="726242"/>
            <a:ext cx="7682879" cy="5736553"/>
          </a:xfrm>
          <a:prstGeom prst="rect">
            <a:avLst/>
          </a:prstGeom>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46746EF-872B-26A2-FED6-A0E139BD7FC3}"/>
              </a:ext>
            </a:extLst>
          </p:cNvPr>
          <p:cNvPicPr>
            <a:picLocks noChangeAspect="1"/>
          </p:cNvPicPr>
          <p:nvPr/>
        </p:nvPicPr>
        <p:blipFill>
          <a:blip r:embed="rId2"/>
          <a:srcRect b="5055"/>
          <a:stretch/>
        </p:blipFill>
        <p:spPr>
          <a:xfrm>
            <a:off x="153227" y="536714"/>
            <a:ext cx="7288248" cy="6213102"/>
          </a:xfrm>
          <a:prstGeom prst="rect">
            <a:avLst/>
          </a:prstGeom>
        </p:spPr>
      </p:pic>
      <p:sp>
        <p:nvSpPr>
          <p:cNvPr id="5" name="TextBox 4">
            <a:extLst>
              <a:ext uri="{FF2B5EF4-FFF2-40B4-BE49-F238E27FC236}">
                <a16:creationId xmlns:a16="http://schemas.microsoft.com/office/drawing/2014/main" id="{CC5918D7-AA36-4B68-62C3-2B61A2A3C924}"/>
              </a:ext>
            </a:extLst>
          </p:cNvPr>
          <p:cNvSpPr txBox="1"/>
          <p:nvPr/>
        </p:nvSpPr>
        <p:spPr>
          <a:xfrm>
            <a:off x="7086831" y="793808"/>
            <a:ext cx="5105169" cy="5078313"/>
          </a:xfrm>
          <a:prstGeom prst="rect">
            <a:avLst/>
          </a:prstGeom>
          <a:solidFill>
            <a:schemeClr val="bg2"/>
          </a:solidFill>
        </p:spPr>
        <p:txBody>
          <a:bodyPr wrap="square">
            <a:spAutoFit/>
          </a:bodyPr>
          <a:lstStyle/>
          <a:p>
            <a:pPr algn="l"/>
            <a:r>
              <a:rPr lang="en-IN" sz="1800" b="0" i="0" u="none" strike="noStrike" baseline="0" dirty="0">
                <a:latin typeface="LetterGothicStd"/>
              </a:rPr>
              <a:t>SELECT</a:t>
            </a:r>
          </a:p>
          <a:p>
            <a:pPr algn="l"/>
            <a:r>
              <a:rPr lang="en-IN" sz="1800" b="0" i="0" u="none" strike="noStrike" baseline="0" dirty="0" err="1">
                <a:latin typeface="LetterGothicStd"/>
              </a:rPr>
              <a:t>store.district_name</a:t>
            </a:r>
            <a:r>
              <a:rPr lang="en-IN" sz="1800" b="0" i="0" u="none" strike="noStrike" baseline="0" dirty="0">
                <a:latin typeface="LetterGothicStd"/>
              </a:rPr>
              <a:t>,</a:t>
            </a:r>
          </a:p>
          <a:p>
            <a:pPr algn="l"/>
            <a:r>
              <a:rPr lang="en-IN" sz="1800" b="0" i="0" u="none" strike="noStrike" baseline="0" dirty="0" err="1">
                <a:latin typeface="LetterGothicStd"/>
              </a:rPr>
              <a:t>product.brand</a:t>
            </a:r>
            <a:r>
              <a:rPr lang="en-IN" sz="1800" b="0" i="0" u="none" strike="noStrike" baseline="0" dirty="0">
                <a:latin typeface="LetterGothicStd"/>
              </a:rPr>
              <a:t>,</a:t>
            </a:r>
          </a:p>
          <a:p>
            <a:pPr algn="l"/>
            <a:r>
              <a:rPr lang="en-GB" sz="1800" b="0" i="0" u="none" strike="noStrike" baseline="0" dirty="0">
                <a:latin typeface="LetterGothicStd"/>
              </a:rPr>
              <a:t>sum(</a:t>
            </a:r>
            <a:r>
              <a:rPr lang="en-GB" sz="1800" b="0" i="0" u="none" strike="noStrike" baseline="0" dirty="0" err="1">
                <a:latin typeface="LetterGothicStd"/>
              </a:rPr>
              <a:t>sales_facts.sales_dollars</a:t>
            </a:r>
            <a:r>
              <a:rPr lang="en-GB" sz="1800" b="0" i="0" u="none" strike="noStrike" baseline="0" dirty="0">
                <a:latin typeface="LetterGothicStd"/>
              </a:rPr>
              <a:t>) AS "Sales Dollars"</a:t>
            </a:r>
          </a:p>
          <a:p>
            <a:pPr algn="l"/>
            <a:r>
              <a:rPr lang="en-IN" sz="1800" b="0" i="0" u="none" strike="noStrike" baseline="0" dirty="0">
                <a:latin typeface="LetterGothicStd"/>
              </a:rPr>
              <a:t>FROM</a:t>
            </a:r>
          </a:p>
          <a:p>
            <a:pPr algn="l"/>
            <a:r>
              <a:rPr lang="en-IN" sz="1800" b="0" i="0" u="none" strike="noStrike" baseline="0" dirty="0">
                <a:latin typeface="LetterGothicStd"/>
              </a:rPr>
              <a:t>store,</a:t>
            </a:r>
          </a:p>
          <a:p>
            <a:pPr algn="l"/>
            <a:r>
              <a:rPr lang="en-IN" sz="1800" b="0" i="0" u="none" strike="noStrike" baseline="0" dirty="0">
                <a:latin typeface="LetterGothicStd"/>
              </a:rPr>
              <a:t>product,</a:t>
            </a:r>
          </a:p>
          <a:p>
            <a:pPr algn="l"/>
            <a:r>
              <a:rPr lang="en-IN" sz="1800" b="0" i="0" u="none" strike="noStrike" baseline="0" dirty="0">
                <a:latin typeface="LetterGothicStd"/>
              </a:rPr>
              <a:t>date,</a:t>
            </a:r>
          </a:p>
          <a:p>
            <a:pPr algn="l"/>
            <a:r>
              <a:rPr lang="en-IN" sz="1800" b="0" i="0" u="none" strike="noStrike" baseline="0" dirty="0" err="1">
                <a:latin typeface="LetterGothicStd"/>
              </a:rPr>
              <a:t>sales_facts</a:t>
            </a:r>
            <a:endParaRPr lang="en-IN" sz="1800" b="0" i="0" u="none" strike="noStrike" baseline="0" dirty="0">
              <a:latin typeface="LetterGothicStd"/>
            </a:endParaRPr>
          </a:p>
          <a:p>
            <a:pPr algn="l"/>
            <a:r>
              <a:rPr lang="en-IN" sz="1800" b="0" i="0" u="none" strike="noStrike" baseline="0" dirty="0">
                <a:latin typeface="LetterGothicStd"/>
              </a:rPr>
              <a:t>WHERE</a:t>
            </a:r>
          </a:p>
          <a:p>
            <a:pPr algn="l"/>
            <a:r>
              <a:rPr lang="en-GB" sz="1800" b="0" i="0" u="none" strike="noStrike" baseline="0" dirty="0" err="1">
                <a:latin typeface="LetterGothicStd"/>
              </a:rPr>
              <a:t>date.month_name</a:t>
            </a:r>
            <a:r>
              <a:rPr lang="en-GB" sz="1800" b="0" i="0" u="none" strike="noStrike" baseline="0" dirty="0">
                <a:latin typeface="LetterGothicStd"/>
              </a:rPr>
              <a:t>="January" AND</a:t>
            </a:r>
          </a:p>
          <a:p>
            <a:pPr algn="l"/>
            <a:r>
              <a:rPr lang="en-IN" sz="1800" b="0" i="0" u="none" strike="noStrike" baseline="0" dirty="0" err="1">
                <a:latin typeface="LetterGothicStd"/>
              </a:rPr>
              <a:t>date.year</a:t>
            </a:r>
            <a:r>
              <a:rPr lang="en-IN" sz="1800" b="0" i="0" u="none" strike="noStrike" baseline="0" dirty="0">
                <a:latin typeface="LetterGothicStd"/>
              </a:rPr>
              <a:t>=2013 AND</a:t>
            </a:r>
          </a:p>
          <a:p>
            <a:pPr algn="l"/>
            <a:r>
              <a:rPr lang="en-GB" sz="1800" b="0" i="0" u="none" strike="noStrike" baseline="0" dirty="0" err="1">
                <a:latin typeface="LetterGothicStd"/>
              </a:rPr>
              <a:t>store.store_key</a:t>
            </a:r>
            <a:r>
              <a:rPr lang="en-GB" sz="1800" b="0" i="0" u="none" strike="noStrike" baseline="0" dirty="0">
                <a:latin typeface="LetterGothicStd"/>
              </a:rPr>
              <a:t> = </a:t>
            </a:r>
            <a:r>
              <a:rPr lang="en-GB" sz="1800" b="0" i="0" u="none" strike="noStrike" baseline="0" dirty="0" err="1">
                <a:latin typeface="LetterGothicStd"/>
              </a:rPr>
              <a:t>sales_facts.store_key</a:t>
            </a:r>
            <a:r>
              <a:rPr lang="en-GB" sz="1800" b="0" i="0" u="none" strike="noStrike" baseline="0" dirty="0">
                <a:latin typeface="LetterGothicStd"/>
              </a:rPr>
              <a:t> AND</a:t>
            </a:r>
          </a:p>
          <a:p>
            <a:pPr algn="l"/>
            <a:r>
              <a:rPr lang="en-GB" sz="1800" b="0" i="0" u="none" strike="noStrike" baseline="0" dirty="0" err="1">
                <a:latin typeface="LetterGothicStd"/>
              </a:rPr>
              <a:t>product.product_key</a:t>
            </a:r>
            <a:r>
              <a:rPr lang="en-GB" sz="1800" b="0" i="0" u="none" strike="noStrike" baseline="0" dirty="0">
                <a:latin typeface="LetterGothicStd"/>
              </a:rPr>
              <a:t> = </a:t>
            </a:r>
            <a:r>
              <a:rPr lang="en-GB" sz="1800" b="0" i="0" u="none" strike="noStrike" baseline="0" dirty="0" err="1">
                <a:latin typeface="LetterGothicStd"/>
              </a:rPr>
              <a:t>sales_facts.product_key</a:t>
            </a:r>
            <a:r>
              <a:rPr lang="en-GB" sz="1800" b="0" i="0" u="none" strike="noStrike" baseline="0" dirty="0">
                <a:latin typeface="LetterGothicStd"/>
              </a:rPr>
              <a:t> AND</a:t>
            </a:r>
          </a:p>
          <a:p>
            <a:pPr algn="l"/>
            <a:r>
              <a:rPr lang="en-GB" sz="1800" b="0" i="0" u="none" strike="noStrike" baseline="0" dirty="0" err="1">
                <a:latin typeface="LetterGothicStd"/>
              </a:rPr>
              <a:t>date.date_key</a:t>
            </a:r>
            <a:r>
              <a:rPr lang="en-GB" sz="1800" b="0" i="0" u="none" strike="noStrike" baseline="0" dirty="0">
                <a:latin typeface="LetterGothicStd"/>
              </a:rPr>
              <a:t> = </a:t>
            </a:r>
            <a:r>
              <a:rPr lang="en-GB" sz="1800" b="0" i="0" u="none" strike="noStrike" baseline="0" dirty="0" err="1">
                <a:latin typeface="LetterGothicStd"/>
              </a:rPr>
              <a:t>sales_facts.date_key</a:t>
            </a:r>
            <a:endParaRPr lang="en-GB" sz="1800" b="0" i="0" u="none" strike="noStrike" baseline="0" dirty="0">
              <a:latin typeface="LetterGothicStd"/>
            </a:endParaRPr>
          </a:p>
          <a:p>
            <a:pPr algn="l"/>
            <a:r>
              <a:rPr lang="en-IN" sz="1800" b="0" i="0" u="none" strike="noStrike" baseline="0" dirty="0">
                <a:latin typeface="LetterGothicStd"/>
              </a:rPr>
              <a:t>GROUP BY</a:t>
            </a:r>
          </a:p>
          <a:p>
            <a:pPr algn="l"/>
            <a:r>
              <a:rPr lang="en-IN" sz="1800" b="0" i="0" u="none" strike="noStrike" baseline="0" dirty="0" err="1">
                <a:latin typeface="LetterGothicStd"/>
              </a:rPr>
              <a:t>store.district_name</a:t>
            </a:r>
            <a:r>
              <a:rPr lang="en-IN" sz="1800" b="0" i="0" u="none" strike="noStrike" baseline="0" dirty="0">
                <a:latin typeface="LetterGothicStd"/>
              </a:rPr>
              <a:t>,</a:t>
            </a:r>
          </a:p>
          <a:p>
            <a:pPr algn="l"/>
            <a:r>
              <a:rPr lang="en-IN" sz="1800" b="0" i="0" u="none" strike="noStrike" baseline="0" dirty="0" err="1">
                <a:latin typeface="LetterGothicStd"/>
              </a:rPr>
              <a:t>product.brand</a:t>
            </a:r>
            <a:endParaRPr lang="en-IN" dirty="0"/>
          </a:p>
        </p:txBody>
      </p:sp>
    </p:spTree>
    <p:extLst>
      <p:ext uri="{BB962C8B-B14F-4D97-AF65-F5344CB8AC3E}">
        <p14:creationId xmlns:p14="http://schemas.microsoft.com/office/powerpoint/2010/main" val="415902223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02202" y="383372"/>
            <a:ext cx="6084391" cy="695062"/>
          </a:xfrm>
          <a:prstGeom prst="rect">
            <a:avLst/>
          </a:prstGeom>
        </p:spPr>
        <p:txBody>
          <a:bodyPr vert="horz" wrap="square" lIns="0" tIns="17780" rIns="0" bIns="0" rtlCol="0" anchor="ctr">
            <a:spAutoFit/>
          </a:bodyPr>
          <a:lstStyle/>
          <a:p>
            <a:pPr marL="2355368" algn="ctr">
              <a:lnSpc>
                <a:spcPct val="100000"/>
              </a:lnSpc>
              <a:spcBef>
                <a:spcPts val="140"/>
              </a:spcBef>
            </a:pPr>
            <a:r>
              <a:rPr dirty="0">
                <a:solidFill>
                  <a:schemeClr val="bg1"/>
                </a:solidFill>
                <a:latin typeface="+mn-lt"/>
              </a:rPr>
              <a:t>Star</a:t>
            </a:r>
            <a:r>
              <a:rPr spc="-73" dirty="0">
                <a:solidFill>
                  <a:schemeClr val="bg1"/>
                </a:solidFill>
                <a:latin typeface="+mn-lt"/>
              </a:rPr>
              <a:t> </a:t>
            </a:r>
            <a:r>
              <a:rPr spc="-13" dirty="0">
                <a:solidFill>
                  <a:schemeClr val="bg1"/>
                </a:solidFill>
                <a:latin typeface="+mn-lt"/>
              </a:rPr>
              <a:t>schema</a:t>
            </a:r>
          </a:p>
        </p:txBody>
      </p:sp>
      <p:sp>
        <p:nvSpPr>
          <p:cNvPr id="3" name="object 3"/>
          <p:cNvSpPr txBox="1"/>
          <p:nvPr/>
        </p:nvSpPr>
        <p:spPr>
          <a:xfrm>
            <a:off x="2485569" y="1888434"/>
            <a:ext cx="7753944" cy="3420594"/>
          </a:xfrm>
          <a:prstGeom prst="rect">
            <a:avLst/>
          </a:prstGeom>
        </p:spPr>
        <p:txBody>
          <a:bodyPr vert="horz" wrap="square" lIns="0" tIns="16933" rIns="0" bIns="0" rtlCol="0">
            <a:spAutoFit/>
          </a:bodyPr>
          <a:lstStyle/>
          <a:p>
            <a:pPr marL="433482" indent="-380990">
              <a:spcBef>
                <a:spcPts val="133"/>
              </a:spcBef>
              <a:buClr>
                <a:srgbClr val="99D3FF"/>
              </a:buClr>
              <a:buFont typeface="Wingdings"/>
              <a:buChar char=""/>
              <a:tabLst>
                <a:tab pos="433482" algn="l"/>
              </a:tabLst>
            </a:pPr>
            <a:r>
              <a:rPr sz="2400" b="1" dirty="0">
                <a:solidFill>
                  <a:srgbClr val="D9D9D9"/>
                </a:solidFill>
                <a:latin typeface="Calibri"/>
                <a:cs typeface="Calibri"/>
              </a:rPr>
              <a:t>Most</a:t>
            </a:r>
            <a:r>
              <a:rPr sz="2400" b="1" spc="-20" dirty="0">
                <a:solidFill>
                  <a:srgbClr val="D9D9D9"/>
                </a:solidFill>
                <a:latin typeface="Calibri"/>
                <a:cs typeface="Calibri"/>
              </a:rPr>
              <a:t> </a:t>
            </a:r>
            <a:r>
              <a:rPr sz="2400" b="1" dirty="0">
                <a:solidFill>
                  <a:srgbClr val="D9D9D9"/>
                </a:solidFill>
                <a:latin typeface="Calibri"/>
                <a:cs typeface="Calibri"/>
              </a:rPr>
              <a:t>common</a:t>
            </a:r>
            <a:r>
              <a:rPr sz="2400" b="1" spc="-20" dirty="0">
                <a:solidFill>
                  <a:srgbClr val="D9D9D9"/>
                </a:solidFill>
                <a:latin typeface="Calibri"/>
                <a:cs typeface="Calibri"/>
              </a:rPr>
              <a:t> </a:t>
            </a:r>
            <a:r>
              <a:rPr sz="2400" b="1" dirty="0">
                <a:solidFill>
                  <a:srgbClr val="D9D9D9"/>
                </a:solidFill>
                <a:latin typeface="Calibri"/>
                <a:cs typeface="Calibri"/>
              </a:rPr>
              <a:t>schema</a:t>
            </a:r>
            <a:r>
              <a:rPr sz="2400" b="1" spc="-20" dirty="0">
                <a:solidFill>
                  <a:srgbClr val="D9D9D9"/>
                </a:solidFill>
                <a:latin typeface="Calibri"/>
                <a:cs typeface="Calibri"/>
              </a:rPr>
              <a:t> </a:t>
            </a:r>
            <a:r>
              <a:rPr sz="2400" b="1" dirty="0">
                <a:solidFill>
                  <a:srgbClr val="D9D9D9"/>
                </a:solidFill>
                <a:latin typeface="Calibri"/>
                <a:cs typeface="Calibri"/>
              </a:rPr>
              <a:t>in</a:t>
            </a:r>
            <a:r>
              <a:rPr sz="2400" b="1" spc="-40" dirty="0">
                <a:solidFill>
                  <a:srgbClr val="D9D9D9"/>
                </a:solidFill>
                <a:latin typeface="Calibri"/>
                <a:cs typeface="Calibri"/>
              </a:rPr>
              <a:t> </a:t>
            </a:r>
            <a:r>
              <a:rPr sz="2400" b="1" dirty="0">
                <a:solidFill>
                  <a:srgbClr val="D9D9D9"/>
                </a:solidFill>
                <a:latin typeface="Calibri"/>
                <a:cs typeface="Calibri"/>
              </a:rPr>
              <a:t>Data </a:t>
            </a:r>
            <a:r>
              <a:rPr sz="2400" b="1" spc="-27" dirty="0">
                <a:solidFill>
                  <a:srgbClr val="D9D9D9"/>
                </a:solidFill>
                <a:latin typeface="Calibri"/>
                <a:cs typeface="Calibri"/>
              </a:rPr>
              <a:t>Mart</a:t>
            </a:r>
            <a:endParaRPr sz="2400" dirty="0">
              <a:latin typeface="Calibri"/>
              <a:cs typeface="Calibri"/>
            </a:endParaRPr>
          </a:p>
          <a:p>
            <a:pPr>
              <a:spcBef>
                <a:spcPts val="940"/>
              </a:spcBef>
              <a:buClr>
                <a:srgbClr val="99D3FF"/>
              </a:buClr>
              <a:buFont typeface="Wingdings"/>
              <a:buChar char=""/>
            </a:pPr>
            <a:endParaRPr sz="2400" dirty="0">
              <a:latin typeface="Calibri"/>
              <a:cs typeface="Calibri"/>
            </a:endParaRPr>
          </a:p>
          <a:p>
            <a:pPr marL="433482" indent="-380990">
              <a:buClr>
                <a:srgbClr val="99D3FF"/>
              </a:buClr>
              <a:buFont typeface="Wingdings"/>
              <a:buChar char=""/>
              <a:tabLst>
                <a:tab pos="433482" algn="l"/>
              </a:tabLst>
            </a:pPr>
            <a:r>
              <a:rPr sz="2400" b="1" dirty="0">
                <a:solidFill>
                  <a:srgbClr val="D9D9D9"/>
                </a:solidFill>
                <a:latin typeface="Calibri"/>
                <a:cs typeface="Calibri"/>
              </a:rPr>
              <a:t>Simplest</a:t>
            </a:r>
            <a:r>
              <a:rPr sz="2400" b="1" spc="-60" dirty="0">
                <a:solidFill>
                  <a:srgbClr val="D9D9D9"/>
                </a:solidFill>
                <a:latin typeface="Calibri"/>
                <a:cs typeface="Calibri"/>
              </a:rPr>
              <a:t> </a:t>
            </a:r>
            <a:r>
              <a:rPr sz="2400" b="1" dirty="0">
                <a:solidFill>
                  <a:srgbClr val="D9D9D9"/>
                </a:solidFill>
                <a:latin typeface="Calibri"/>
                <a:cs typeface="Calibri"/>
              </a:rPr>
              <a:t>form</a:t>
            </a:r>
            <a:r>
              <a:rPr sz="2400" b="1" spc="-27" dirty="0">
                <a:solidFill>
                  <a:srgbClr val="D9D9D9"/>
                </a:solidFill>
                <a:latin typeface="Calibri"/>
                <a:cs typeface="Calibri"/>
              </a:rPr>
              <a:t> </a:t>
            </a:r>
            <a:r>
              <a:rPr sz="2400" b="1" dirty="0">
                <a:solidFill>
                  <a:srgbClr val="D9D9D9"/>
                </a:solidFill>
                <a:latin typeface="Calibri"/>
                <a:cs typeface="Calibri"/>
              </a:rPr>
              <a:t>(vs.</a:t>
            </a:r>
            <a:r>
              <a:rPr sz="2400" b="1" spc="-40" dirty="0">
                <a:solidFill>
                  <a:srgbClr val="D9D9D9"/>
                </a:solidFill>
                <a:latin typeface="Calibri"/>
                <a:cs typeface="Calibri"/>
              </a:rPr>
              <a:t> </a:t>
            </a:r>
            <a:r>
              <a:rPr sz="2400" b="1" dirty="0">
                <a:solidFill>
                  <a:srgbClr val="D9D9D9"/>
                </a:solidFill>
                <a:latin typeface="Calibri"/>
                <a:cs typeface="Calibri"/>
              </a:rPr>
              <a:t>snowflake</a:t>
            </a:r>
            <a:r>
              <a:rPr sz="2400" b="1" spc="-67" dirty="0">
                <a:solidFill>
                  <a:srgbClr val="D9D9D9"/>
                </a:solidFill>
                <a:latin typeface="Calibri"/>
                <a:cs typeface="Calibri"/>
              </a:rPr>
              <a:t> </a:t>
            </a:r>
            <a:r>
              <a:rPr sz="2400" b="1" spc="-13" dirty="0">
                <a:solidFill>
                  <a:srgbClr val="D9D9D9"/>
                </a:solidFill>
                <a:latin typeface="Calibri"/>
                <a:cs typeface="Calibri"/>
              </a:rPr>
              <a:t>schema)</a:t>
            </a:r>
            <a:endParaRPr sz="2400" dirty="0">
              <a:latin typeface="Calibri"/>
              <a:cs typeface="Calibri"/>
            </a:endParaRPr>
          </a:p>
          <a:p>
            <a:pPr>
              <a:spcBef>
                <a:spcPts val="947"/>
              </a:spcBef>
              <a:buClr>
                <a:srgbClr val="99D3FF"/>
              </a:buClr>
              <a:buFont typeface="Wingdings"/>
              <a:buChar char=""/>
            </a:pPr>
            <a:endParaRPr sz="2400" dirty="0">
              <a:latin typeface="Calibri"/>
              <a:cs typeface="Calibri"/>
            </a:endParaRPr>
          </a:p>
          <a:p>
            <a:pPr marL="433482" indent="-380990">
              <a:buClr>
                <a:srgbClr val="99D3FF"/>
              </a:buClr>
              <a:buFont typeface="Wingdings"/>
              <a:buChar char=""/>
              <a:tabLst>
                <a:tab pos="433482" algn="l"/>
              </a:tabLst>
            </a:pPr>
            <a:r>
              <a:rPr sz="2400" b="1" dirty="0">
                <a:solidFill>
                  <a:srgbClr val="D9D9D9"/>
                </a:solidFill>
                <a:latin typeface="Calibri"/>
                <a:cs typeface="Calibri"/>
              </a:rPr>
              <a:t>Work</a:t>
            </a:r>
            <a:r>
              <a:rPr sz="2400" b="1" spc="-20" dirty="0">
                <a:solidFill>
                  <a:srgbClr val="D9D9D9"/>
                </a:solidFill>
                <a:latin typeface="Calibri"/>
                <a:cs typeface="Calibri"/>
              </a:rPr>
              <a:t> </a:t>
            </a:r>
            <a:r>
              <a:rPr sz="2400" b="1" dirty="0">
                <a:solidFill>
                  <a:srgbClr val="D9D9D9"/>
                </a:solidFill>
                <a:latin typeface="Calibri"/>
                <a:cs typeface="Calibri"/>
              </a:rPr>
              <a:t>best</a:t>
            </a:r>
            <a:r>
              <a:rPr sz="2400" b="1" spc="-33" dirty="0">
                <a:solidFill>
                  <a:srgbClr val="D9D9D9"/>
                </a:solidFill>
                <a:latin typeface="Calibri"/>
                <a:cs typeface="Calibri"/>
              </a:rPr>
              <a:t> </a:t>
            </a:r>
            <a:r>
              <a:rPr sz="2400" b="1" dirty="0">
                <a:solidFill>
                  <a:srgbClr val="D9D9D9"/>
                </a:solidFill>
                <a:latin typeface="Calibri"/>
                <a:cs typeface="Calibri"/>
              </a:rPr>
              <a:t>for</a:t>
            </a:r>
            <a:r>
              <a:rPr sz="2400" b="1" spc="-7" dirty="0">
                <a:solidFill>
                  <a:srgbClr val="D9D9D9"/>
                </a:solidFill>
                <a:latin typeface="Calibri"/>
                <a:cs typeface="Calibri"/>
              </a:rPr>
              <a:t> </a:t>
            </a:r>
            <a:r>
              <a:rPr sz="2400" b="1" dirty="0">
                <a:solidFill>
                  <a:srgbClr val="D9D9D9"/>
                </a:solidFill>
                <a:latin typeface="Calibri"/>
                <a:cs typeface="Calibri"/>
              </a:rPr>
              <a:t>specific</a:t>
            </a:r>
            <a:r>
              <a:rPr sz="2400" b="1" spc="-33" dirty="0">
                <a:solidFill>
                  <a:srgbClr val="D9D9D9"/>
                </a:solidFill>
                <a:latin typeface="Calibri"/>
                <a:cs typeface="Calibri"/>
              </a:rPr>
              <a:t> </a:t>
            </a:r>
            <a:r>
              <a:rPr sz="2400" b="1" spc="-27" dirty="0">
                <a:solidFill>
                  <a:srgbClr val="D9D9D9"/>
                </a:solidFill>
                <a:latin typeface="Calibri"/>
                <a:cs typeface="Calibri"/>
              </a:rPr>
              <a:t>needs</a:t>
            </a:r>
            <a:endParaRPr sz="2400" dirty="0">
              <a:latin typeface="Calibri"/>
              <a:cs typeface="Calibri"/>
            </a:endParaRPr>
          </a:p>
          <a:p>
            <a:pPr marL="435176">
              <a:spcBef>
                <a:spcPts val="1440"/>
              </a:spcBef>
            </a:pPr>
            <a:r>
              <a:rPr sz="2400" b="1" dirty="0">
                <a:solidFill>
                  <a:srgbClr val="D9D9D9"/>
                </a:solidFill>
                <a:latin typeface="Calibri"/>
                <a:cs typeface="Calibri"/>
              </a:rPr>
              <a:t>(simple</a:t>
            </a:r>
            <a:r>
              <a:rPr sz="2400" b="1" spc="-27" dirty="0">
                <a:solidFill>
                  <a:srgbClr val="D9D9D9"/>
                </a:solidFill>
                <a:latin typeface="Calibri"/>
                <a:cs typeface="Calibri"/>
              </a:rPr>
              <a:t> </a:t>
            </a:r>
            <a:r>
              <a:rPr sz="2400" b="1" dirty="0">
                <a:solidFill>
                  <a:srgbClr val="D9D9D9"/>
                </a:solidFill>
                <a:latin typeface="Calibri"/>
                <a:cs typeface="Calibri"/>
              </a:rPr>
              <a:t>set</a:t>
            </a:r>
            <a:r>
              <a:rPr sz="2400" b="1" spc="-67" dirty="0">
                <a:solidFill>
                  <a:srgbClr val="D9D9D9"/>
                </a:solidFill>
                <a:latin typeface="Calibri"/>
                <a:cs typeface="Calibri"/>
              </a:rPr>
              <a:t> </a:t>
            </a:r>
            <a:r>
              <a:rPr sz="2400" b="1" dirty="0">
                <a:solidFill>
                  <a:srgbClr val="D9D9D9"/>
                </a:solidFill>
                <a:latin typeface="Calibri"/>
                <a:cs typeface="Calibri"/>
              </a:rPr>
              <a:t>of</a:t>
            </a:r>
            <a:r>
              <a:rPr sz="2400" b="1" spc="-7" dirty="0">
                <a:solidFill>
                  <a:srgbClr val="D9D9D9"/>
                </a:solidFill>
                <a:latin typeface="Calibri"/>
                <a:cs typeface="Calibri"/>
              </a:rPr>
              <a:t> </a:t>
            </a:r>
            <a:r>
              <a:rPr sz="2400" b="1" dirty="0">
                <a:solidFill>
                  <a:srgbClr val="D9D9D9"/>
                </a:solidFill>
                <a:latin typeface="Calibri"/>
                <a:cs typeface="Calibri"/>
              </a:rPr>
              <a:t>queries</a:t>
            </a:r>
            <a:r>
              <a:rPr sz="2400" b="1" spc="-33" dirty="0">
                <a:solidFill>
                  <a:srgbClr val="D9D9D9"/>
                </a:solidFill>
                <a:latin typeface="Calibri"/>
                <a:cs typeface="Calibri"/>
              </a:rPr>
              <a:t> </a:t>
            </a:r>
            <a:r>
              <a:rPr sz="2400" b="1" dirty="0">
                <a:solidFill>
                  <a:srgbClr val="D9D9D9"/>
                </a:solidFill>
                <a:latin typeface="Calibri"/>
                <a:cs typeface="Calibri"/>
              </a:rPr>
              <a:t>vs</a:t>
            </a:r>
            <a:r>
              <a:rPr sz="2400" b="1" spc="-67" dirty="0">
                <a:solidFill>
                  <a:srgbClr val="D9D9D9"/>
                </a:solidFill>
                <a:latin typeface="Calibri"/>
                <a:cs typeface="Calibri"/>
              </a:rPr>
              <a:t> </a:t>
            </a:r>
            <a:r>
              <a:rPr sz="2400" b="1" dirty="0">
                <a:solidFill>
                  <a:srgbClr val="D9D9D9"/>
                </a:solidFill>
                <a:latin typeface="Calibri"/>
                <a:cs typeface="Calibri"/>
              </a:rPr>
              <a:t>complex</a:t>
            </a:r>
            <a:r>
              <a:rPr sz="2400" b="1" spc="-33" dirty="0">
                <a:solidFill>
                  <a:srgbClr val="D9D9D9"/>
                </a:solidFill>
                <a:latin typeface="Calibri"/>
                <a:cs typeface="Calibri"/>
              </a:rPr>
              <a:t> </a:t>
            </a:r>
            <a:r>
              <a:rPr sz="2400" b="1" spc="-13" dirty="0">
                <a:solidFill>
                  <a:srgbClr val="D9D9D9"/>
                </a:solidFill>
                <a:latin typeface="Calibri"/>
                <a:cs typeface="Calibri"/>
              </a:rPr>
              <a:t>queries)</a:t>
            </a:r>
            <a:endParaRPr sz="2400" dirty="0">
              <a:latin typeface="Calibri"/>
              <a:cs typeface="Calibri"/>
            </a:endParaRPr>
          </a:p>
          <a:p>
            <a:pPr>
              <a:spcBef>
                <a:spcPts val="300"/>
              </a:spcBef>
            </a:pPr>
            <a:endParaRPr sz="2400" dirty="0">
              <a:latin typeface="Calibri"/>
              <a:cs typeface="Calibri"/>
            </a:endParaRPr>
          </a:p>
          <a:p>
            <a:pPr marL="397923" indent="-380990">
              <a:buClr>
                <a:srgbClr val="99D3FF"/>
              </a:buClr>
              <a:buFont typeface="Wingdings"/>
              <a:buChar char=""/>
              <a:tabLst>
                <a:tab pos="397923" algn="l"/>
              </a:tabLst>
            </a:pPr>
            <a:r>
              <a:rPr sz="2400" b="1" dirty="0">
                <a:solidFill>
                  <a:srgbClr val="D9D9D9"/>
                </a:solidFill>
                <a:latin typeface="Calibri"/>
                <a:cs typeface="Calibri"/>
              </a:rPr>
              <a:t>Usablity</a:t>
            </a:r>
            <a:r>
              <a:rPr sz="2400" b="1" spc="-47" dirty="0">
                <a:solidFill>
                  <a:srgbClr val="D9D9D9"/>
                </a:solidFill>
                <a:latin typeface="Calibri"/>
                <a:cs typeface="Calibri"/>
              </a:rPr>
              <a:t> </a:t>
            </a:r>
            <a:r>
              <a:rPr sz="2400" b="1" dirty="0">
                <a:solidFill>
                  <a:srgbClr val="D9D9D9"/>
                </a:solidFill>
                <a:latin typeface="Calibri"/>
                <a:cs typeface="Calibri"/>
              </a:rPr>
              <a:t>+</a:t>
            </a:r>
            <a:r>
              <a:rPr sz="2400" b="1" spc="-27" dirty="0">
                <a:solidFill>
                  <a:srgbClr val="D9D9D9"/>
                </a:solidFill>
                <a:latin typeface="Calibri"/>
                <a:cs typeface="Calibri"/>
              </a:rPr>
              <a:t> </a:t>
            </a:r>
            <a:r>
              <a:rPr sz="2400" b="1" dirty="0">
                <a:solidFill>
                  <a:srgbClr val="D9D9D9"/>
                </a:solidFill>
                <a:latin typeface="Calibri"/>
                <a:cs typeface="Calibri"/>
              </a:rPr>
              <a:t>Performance</a:t>
            </a:r>
            <a:r>
              <a:rPr sz="2400" b="1" spc="-40" dirty="0">
                <a:solidFill>
                  <a:srgbClr val="D9D9D9"/>
                </a:solidFill>
                <a:latin typeface="Calibri"/>
                <a:cs typeface="Calibri"/>
              </a:rPr>
              <a:t> </a:t>
            </a:r>
            <a:r>
              <a:rPr sz="2400" b="1" dirty="0">
                <a:solidFill>
                  <a:srgbClr val="D9D9D9"/>
                </a:solidFill>
                <a:latin typeface="Calibri"/>
                <a:cs typeface="Calibri"/>
              </a:rPr>
              <a:t>for</a:t>
            </a:r>
            <a:r>
              <a:rPr sz="2400" b="1" spc="-20" dirty="0">
                <a:solidFill>
                  <a:srgbClr val="D9D9D9"/>
                </a:solidFill>
                <a:latin typeface="Calibri"/>
                <a:cs typeface="Calibri"/>
              </a:rPr>
              <a:t> </a:t>
            </a:r>
            <a:r>
              <a:rPr sz="2400" b="1" dirty="0">
                <a:solidFill>
                  <a:srgbClr val="D9D9D9"/>
                </a:solidFill>
                <a:latin typeface="Calibri"/>
                <a:cs typeface="Calibri"/>
              </a:rPr>
              <a:t>specific</a:t>
            </a:r>
            <a:r>
              <a:rPr sz="2400" b="1" spc="-60" dirty="0">
                <a:solidFill>
                  <a:srgbClr val="D9D9D9"/>
                </a:solidFill>
                <a:latin typeface="Calibri"/>
                <a:cs typeface="Calibri"/>
              </a:rPr>
              <a:t> </a:t>
            </a:r>
            <a:r>
              <a:rPr sz="2400" b="1" dirty="0">
                <a:solidFill>
                  <a:srgbClr val="D9D9D9"/>
                </a:solidFill>
                <a:latin typeface="Calibri"/>
                <a:cs typeface="Calibri"/>
              </a:rPr>
              <a:t>(read)</a:t>
            </a:r>
            <a:r>
              <a:rPr sz="2400" b="1" spc="-40" dirty="0">
                <a:solidFill>
                  <a:srgbClr val="D9D9D9"/>
                </a:solidFill>
                <a:latin typeface="Calibri"/>
                <a:cs typeface="Calibri"/>
              </a:rPr>
              <a:t> </a:t>
            </a:r>
            <a:r>
              <a:rPr sz="2400" b="1" dirty="0">
                <a:solidFill>
                  <a:srgbClr val="D9D9D9"/>
                </a:solidFill>
                <a:latin typeface="Calibri"/>
                <a:cs typeface="Calibri"/>
              </a:rPr>
              <a:t>use-</a:t>
            </a:r>
            <a:r>
              <a:rPr sz="2400" b="1" spc="-27" dirty="0">
                <a:solidFill>
                  <a:srgbClr val="D9D9D9"/>
                </a:solidFill>
                <a:latin typeface="Calibri"/>
                <a:cs typeface="Calibri"/>
              </a:rPr>
              <a:t>case</a:t>
            </a:r>
            <a:endParaRPr sz="2400" dirty="0">
              <a:latin typeface="Calibri"/>
              <a:cs typeface="Calibri"/>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50C11-45B0-62FE-290E-CAB366CD5C27}"/>
              </a:ext>
            </a:extLst>
          </p:cNvPr>
          <p:cNvSpPr>
            <a:spLocks noGrp="1"/>
          </p:cNvSpPr>
          <p:nvPr>
            <p:ph type="title"/>
          </p:nvPr>
        </p:nvSpPr>
        <p:spPr>
          <a:xfrm>
            <a:off x="838200" y="365126"/>
            <a:ext cx="10515600" cy="877266"/>
          </a:xfrm>
        </p:spPr>
        <p:txBody>
          <a:bodyPr>
            <a:normAutofit/>
          </a:bodyPr>
          <a:lstStyle/>
          <a:p>
            <a:pPr algn="ctr"/>
            <a:r>
              <a:rPr lang="en-IN" b="0" i="0" u="none" strike="noStrike" baseline="0" dirty="0">
                <a:solidFill>
                  <a:schemeClr val="bg1"/>
                </a:solidFill>
                <a:latin typeface="+mn-lt"/>
              </a:rPr>
              <a:t>Kimball’s DW/BI Architecture</a:t>
            </a:r>
            <a:endParaRPr lang="en-IN" dirty="0">
              <a:solidFill>
                <a:schemeClr val="bg1"/>
              </a:solidFill>
              <a:latin typeface="+mn-lt"/>
            </a:endParaRPr>
          </a:p>
        </p:txBody>
      </p:sp>
      <p:sp>
        <p:nvSpPr>
          <p:cNvPr id="3" name="Content Placeholder 2">
            <a:extLst>
              <a:ext uri="{FF2B5EF4-FFF2-40B4-BE49-F238E27FC236}">
                <a16:creationId xmlns:a16="http://schemas.microsoft.com/office/drawing/2014/main" id="{553925E8-70C9-2B29-D49C-B50C0224DB0A}"/>
              </a:ext>
            </a:extLst>
          </p:cNvPr>
          <p:cNvSpPr>
            <a:spLocks noGrp="1"/>
          </p:cNvSpPr>
          <p:nvPr>
            <p:ph idx="1"/>
          </p:nvPr>
        </p:nvSpPr>
        <p:spPr>
          <a:xfrm>
            <a:off x="619539" y="1338607"/>
            <a:ext cx="10515600" cy="4351338"/>
          </a:xfrm>
        </p:spPr>
        <p:txBody>
          <a:bodyPr>
            <a:normAutofit/>
          </a:bodyPr>
          <a:lstStyle/>
          <a:p>
            <a:pPr marL="0" indent="0" algn="l">
              <a:buNone/>
            </a:pPr>
            <a:r>
              <a:rPr lang="en-GB" sz="2600" dirty="0">
                <a:solidFill>
                  <a:schemeClr val="bg1"/>
                </a:solidFill>
              </a:rPr>
              <a:t>F</a:t>
            </a:r>
            <a:r>
              <a:rPr lang="en-GB" sz="2600" b="0" i="0" u="none" strike="noStrike" baseline="0" dirty="0">
                <a:solidFill>
                  <a:schemeClr val="bg1"/>
                </a:solidFill>
              </a:rPr>
              <a:t>our separate and distinct components in the DW/BI environment: </a:t>
            </a:r>
          </a:p>
          <a:p>
            <a:pPr marL="0" indent="0" algn="l">
              <a:buNone/>
            </a:pPr>
            <a:endParaRPr lang="en-GB" sz="2600" b="0" i="0" u="none" strike="noStrike" baseline="0" dirty="0">
              <a:solidFill>
                <a:schemeClr val="bg1"/>
              </a:solidFill>
            </a:endParaRPr>
          </a:p>
          <a:p>
            <a:r>
              <a:rPr lang="en-GB" sz="2600" dirty="0">
                <a:solidFill>
                  <a:schemeClr val="bg1"/>
                </a:solidFill>
              </a:rPr>
              <a:t>O</a:t>
            </a:r>
            <a:r>
              <a:rPr lang="en-GB" sz="2600" b="0" i="0" u="none" strike="noStrike" baseline="0" dirty="0">
                <a:solidFill>
                  <a:schemeClr val="bg1"/>
                </a:solidFill>
              </a:rPr>
              <a:t>perational source systems, </a:t>
            </a:r>
          </a:p>
          <a:p>
            <a:r>
              <a:rPr lang="en-GB" sz="2600" b="0" i="0" u="none" strike="noStrike" baseline="0" dirty="0">
                <a:solidFill>
                  <a:schemeClr val="bg1"/>
                </a:solidFill>
              </a:rPr>
              <a:t>ETL system, </a:t>
            </a:r>
          </a:p>
          <a:p>
            <a:r>
              <a:rPr lang="en-GB" sz="2600" b="0" i="0" u="none" strike="noStrike" baseline="0" dirty="0">
                <a:solidFill>
                  <a:schemeClr val="bg1"/>
                </a:solidFill>
              </a:rPr>
              <a:t>Data presentation area, and </a:t>
            </a:r>
          </a:p>
          <a:p>
            <a:r>
              <a:rPr lang="en-GB" sz="2600" dirty="0">
                <a:solidFill>
                  <a:schemeClr val="bg1"/>
                </a:solidFill>
              </a:rPr>
              <a:t>B</a:t>
            </a:r>
            <a:r>
              <a:rPr lang="en-GB" sz="2600" b="0" i="0" u="none" strike="noStrike" baseline="0" dirty="0">
                <a:solidFill>
                  <a:schemeClr val="bg1"/>
                </a:solidFill>
              </a:rPr>
              <a:t>usiness intelligence applications.</a:t>
            </a:r>
            <a:endParaRPr lang="en-IN" sz="2600" dirty="0">
              <a:solidFill>
                <a:schemeClr val="bg1"/>
              </a:solidFill>
            </a:endParaRPr>
          </a:p>
        </p:txBody>
      </p:sp>
    </p:spTree>
    <p:extLst>
      <p:ext uri="{BB962C8B-B14F-4D97-AF65-F5344CB8AC3E}">
        <p14:creationId xmlns:p14="http://schemas.microsoft.com/office/powerpoint/2010/main" val="59997847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69C78-F88F-8461-69AE-A1326FD887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42D6F4-2CFA-A072-9B54-C725EF740288}"/>
              </a:ext>
            </a:extLst>
          </p:cNvPr>
          <p:cNvSpPr>
            <a:spLocks noGrp="1"/>
          </p:cNvSpPr>
          <p:nvPr>
            <p:ph type="title"/>
          </p:nvPr>
        </p:nvSpPr>
        <p:spPr>
          <a:xfrm>
            <a:off x="168965" y="365126"/>
            <a:ext cx="11757991" cy="877266"/>
          </a:xfrm>
        </p:spPr>
        <p:txBody>
          <a:bodyPr>
            <a:noAutofit/>
          </a:bodyPr>
          <a:lstStyle/>
          <a:p>
            <a:r>
              <a:rPr lang="en-IN" sz="3600" b="0" i="0" u="none" strike="noStrike" baseline="0" dirty="0">
                <a:solidFill>
                  <a:schemeClr val="bg1"/>
                </a:solidFill>
                <a:latin typeface="+mn-lt"/>
              </a:rPr>
              <a:t>Kimball’s DW/BI Architecture – Operational Source Systems</a:t>
            </a:r>
            <a:endParaRPr lang="en-IN" sz="3600" dirty="0">
              <a:solidFill>
                <a:schemeClr val="bg1"/>
              </a:solidFill>
              <a:latin typeface="+mn-lt"/>
            </a:endParaRPr>
          </a:p>
        </p:txBody>
      </p:sp>
      <p:sp>
        <p:nvSpPr>
          <p:cNvPr id="3" name="Content Placeholder 2">
            <a:extLst>
              <a:ext uri="{FF2B5EF4-FFF2-40B4-BE49-F238E27FC236}">
                <a16:creationId xmlns:a16="http://schemas.microsoft.com/office/drawing/2014/main" id="{64E44BD3-E78C-D363-CCB5-836CF6B20C8C}"/>
              </a:ext>
            </a:extLst>
          </p:cNvPr>
          <p:cNvSpPr>
            <a:spLocks noGrp="1"/>
          </p:cNvSpPr>
          <p:nvPr>
            <p:ph idx="1"/>
          </p:nvPr>
        </p:nvSpPr>
        <p:spPr>
          <a:xfrm>
            <a:off x="619539" y="1338607"/>
            <a:ext cx="10515600" cy="4351338"/>
          </a:xfrm>
        </p:spPr>
        <p:txBody>
          <a:bodyPr>
            <a:normAutofit/>
          </a:bodyPr>
          <a:lstStyle/>
          <a:p>
            <a:pPr marL="0" indent="0">
              <a:buNone/>
            </a:pPr>
            <a:r>
              <a:rPr lang="en-GB" sz="2600" dirty="0">
                <a:solidFill>
                  <a:schemeClr val="bg1"/>
                </a:solidFill>
              </a:rPr>
              <a:t>O</a:t>
            </a:r>
            <a:r>
              <a:rPr lang="en-GB" sz="2600" b="0" i="0" u="none" strike="noStrike" baseline="0" dirty="0">
                <a:solidFill>
                  <a:schemeClr val="bg1"/>
                </a:solidFill>
              </a:rPr>
              <a:t>perational source systems captures business transactions</a:t>
            </a:r>
          </a:p>
          <a:p>
            <a:pPr marL="0" indent="0">
              <a:buNone/>
            </a:pPr>
            <a:endParaRPr lang="en-GB" sz="2600" dirty="0">
              <a:solidFill>
                <a:schemeClr val="bg1"/>
              </a:solidFill>
            </a:endParaRPr>
          </a:p>
          <a:p>
            <a:pPr marL="0" indent="0">
              <a:buNone/>
            </a:pPr>
            <a:r>
              <a:rPr lang="en-GB" sz="2600" b="0" i="0" u="none" strike="noStrike" baseline="0" dirty="0">
                <a:solidFill>
                  <a:schemeClr val="bg1"/>
                </a:solidFill>
              </a:rPr>
              <a:t>Focus of source systems are processing performance and </a:t>
            </a:r>
            <a:r>
              <a:rPr lang="en-GB" sz="2600" b="0" i="0" u="none" strike="noStrike" baseline="0" dirty="0" err="1">
                <a:solidFill>
                  <a:schemeClr val="bg1"/>
                </a:solidFill>
              </a:rPr>
              <a:t>avaialability</a:t>
            </a:r>
            <a:endParaRPr lang="en-GB" sz="2600" b="0" i="0" u="none" strike="noStrike" baseline="0" dirty="0">
              <a:solidFill>
                <a:schemeClr val="bg1"/>
              </a:solidFill>
            </a:endParaRPr>
          </a:p>
          <a:p>
            <a:pPr marL="0" indent="0">
              <a:buNone/>
            </a:pPr>
            <a:endParaRPr lang="en-GB" sz="2600" dirty="0">
              <a:solidFill>
                <a:schemeClr val="bg1"/>
              </a:solidFill>
            </a:endParaRPr>
          </a:p>
          <a:p>
            <a:pPr marL="0" indent="0">
              <a:buNone/>
            </a:pPr>
            <a:r>
              <a:rPr lang="en-IN" sz="2600" dirty="0">
                <a:solidFill>
                  <a:schemeClr val="bg1"/>
                </a:solidFill>
              </a:rPr>
              <a:t>Operational queries are narrow – one records at a time unlike DW / BI systems</a:t>
            </a:r>
          </a:p>
          <a:p>
            <a:pPr marL="0" indent="0">
              <a:buNone/>
            </a:pPr>
            <a:endParaRPr lang="en-IN" sz="2600" dirty="0">
              <a:solidFill>
                <a:schemeClr val="bg1"/>
              </a:solidFill>
            </a:endParaRPr>
          </a:p>
          <a:p>
            <a:pPr marL="0" indent="0">
              <a:buNone/>
            </a:pPr>
            <a:r>
              <a:rPr lang="en-IN" sz="2600" dirty="0">
                <a:solidFill>
                  <a:schemeClr val="bg1"/>
                </a:solidFill>
              </a:rPr>
              <a:t>Source systems maintains very little history </a:t>
            </a:r>
          </a:p>
        </p:txBody>
      </p:sp>
    </p:spTree>
    <p:extLst>
      <p:ext uri="{BB962C8B-B14F-4D97-AF65-F5344CB8AC3E}">
        <p14:creationId xmlns:p14="http://schemas.microsoft.com/office/powerpoint/2010/main" val="186186613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BADFF-3A70-89FC-AB42-7A085E2AE4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98B8F2-7AA3-66D9-EE28-6CF60E557333}"/>
              </a:ext>
            </a:extLst>
          </p:cNvPr>
          <p:cNvSpPr>
            <a:spLocks noGrp="1"/>
          </p:cNvSpPr>
          <p:nvPr>
            <p:ph type="title"/>
          </p:nvPr>
        </p:nvSpPr>
        <p:spPr>
          <a:xfrm>
            <a:off x="683679" y="225978"/>
            <a:ext cx="11124008" cy="877266"/>
          </a:xfrm>
        </p:spPr>
        <p:txBody>
          <a:bodyPr>
            <a:noAutofit/>
          </a:bodyPr>
          <a:lstStyle/>
          <a:p>
            <a:pPr algn="ctr"/>
            <a:r>
              <a:rPr lang="en-IN" b="0" i="0" u="none" strike="noStrike" baseline="0" dirty="0">
                <a:solidFill>
                  <a:schemeClr val="bg1"/>
                </a:solidFill>
                <a:latin typeface="+mn-lt"/>
              </a:rPr>
              <a:t>Kimball’s DW/BI Architecture – Core elements</a:t>
            </a:r>
            <a:endParaRPr lang="en-IN" dirty="0">
              <a:solidFill>
                <a:schemeClr val="bg1"/>
              </a:solidFill>
              <a:latin typeface="+mn-lt"/>
            </a:endParaRPr>
          </a:p>
        </p:txBody>
      </p:sp>
      <p:pic>
        <p:nvPicPr>
          <p:cNvPr id="5" name="Picture 4">
            <a:extLst>
              <a:ext uri="{FF2B5EF4-FFF2-40B4-BE49-F238E27FC236}">
                <a16:creationId xmlns:a16="http://schemas.microsoft.com/office/drawing/2014/main" id="{0AE63F85-8EF4-769E-4E5A-18DC02E0B348}"/>
              </a:ext>
            </a:extLst>
          </p:cNvPr>
          <p:cNvPicPr>
            <a:picLocks noChangeAspect="1"/>
          </p:cNvPicPr>
          <p:nvPr/>
        </p:nvPicPr>
        <p:blipFill>
          <a:blip r:embed="rId2"/>
          <a:stretch>
            <a:fillRect/>
          </a:stretch>
        </p:blipFill>
        <p:spPr>
          <a:xfrm>
            <a:off x="1526384" y="1392632"/>
            <a:ext cx="8929582" cy="5149981"/>
          </a:xfrm>
          <a:prstGeom prst="rect">
            <a:avLst/>
          </a:prstGeom>
        </p:spPr>
      </p:pic>
    </p:spTree>
    <p:extLst>
      <p:ext uri="{BB962C8B-B14F-4D97-AF65-F5344CB8AC3E}">
        <p14:creationId xmlns:p14="http://schemas.microsoft.com/office/powerpoint/2010/main" val="259743319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3AB22-3B03-57BD-5DF0-3313B4BA8B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FE10CD-090D-927E-B632-71BB7FD3AF92}"/>
              </a:ext>
            </a:extLst>
          </p:cNvPr>
          <p:cNvSpPr>
            <a:spLocks noGrp="1"/>
          </p:cNvSpPr>
          <p:nvPr>
            <p:ph type="title"/>
          </p:nvPr>
        </p:nvSpPr>
        <p:spPr>
          <a:xfrm>
            <a:off x="838200" y="365126"/>
            <a:ext cx="10502348" cy="668544"/>
          </a:xfrm>
        </p:spPr>
        <p:txBody>
          <a:bodyPr>
            <a:noAutofit/>
          </a:bodyPr>
          <a:lstStyle/>
          <a:p>
            <a:pPr algn="ctr"/>
            <a:r>
              <a:rPr lang="en-IN" b="0" i="0" u="none" strike="noStrike" baseline="0" dirty="0">
                <a:solidFill>
                  <a:schemeClr val="bg1"/>
                </a:solidFill>
                <a:latin typeface="+mn-lt"/>
              </a:rPr>
              <a:t>Kimball’s DW/BI Architecture – ETL</a:t>
            </a:r>
            <a:endParaRPr lang="en-IN" dirty="0">
              <a:solidFill>
                <a:schemeClr val="bg1"/>
              </a:solidFill>
              <a:latin typeface="+mn-lt"/>
            </a:endParaRPr>
          </a:p>
        </p:txBody>
      </p:sp>
      <p:sp>
        <p:nvSpPr>
          <p:cNvPr id="3" name="Content Placeholder 2">
            <a:extLst>
              <a:ext uri="{FF2B5EF4-FFF2-40B4-BE49-F238E27FC236}">
                <a16:creationId xmlns:a16="http://schemas.microsoft.com/office/drawing/2014/main" id="{69748C8D-5EBF-235E-39AB-8588985BC658}"/>
              </a:ext>
            </a:extLst>
          </p:cNvPr>
          <p:cNvSpPr>
            <a:spLocks noGrp="1"/>
          </p:cNvSpPr>
          <p:nvPr>
            <p:ph idx="1"/>
          </p:nvPr>
        </p:nvSpPr>
        <p:spPr>
          <a:xfrm>
            <a:off x="188843" y="1338606"/>
            <a:ext cx="11926957" cy="5052255"/>
          </a:xfrm>
        </p:spPr>
        <p:txBody>
          <a:bodyPr>
            <a:noAutofit/>
          </a:bodyPr>
          <a:lstStyle/>
          <a:p>
            <a:pPr marL="0" indent="0" algn="l">
              <a:buNone/>
            </a:pPr>
            <a:r>
              <a:rPr lang="en-GB" sz="2400" b="0" i="0" u="none" strike="noStrike" baseline="0" dirty="0">
                <a:solidFill>
                  <a:schemeClr val="bg1"/>
                </a:solidFill>
              </a:rPr>
              <a:t>The </a:t>
            </a:r>
            <a:r>
              <a:rPr lang="en-GB" sz="2400" b="0" i="1" u="none" strike="noStrike" baseline="0" dirty="0">
                <a:solidFill>
                  <a:schemeClr val="bg1"/>
                </a:solidFill>
              </a:rPr>
              <a:t>extract, transformation, and load </a:t>
            </a:r>
            <a:r>
              <a:rPr lang="en-GB" sz="2400" b="0" i="0" u="none" strike="noStrike" baseline="0" dirty="0">
                <a:solidFill>
                  <a:schemeClr val="bg1"/>
                </a:solidFill>
              </a:rPr>
              <a:t>(</a:t>
            </a:r>
            <a:r>
              <a:rPr lang="en-GB" sz="2400" b="0" i="1" u="none" strike="noStrike" baseline="0" dirty="0">
                <a:solidFill>
                  <a:schemeClr val="bg1"/>
                </a:solidFill>
              </a:rPr>
              <a:t>ETL</a:t>
            </a:r>
            <a:r>
              <a:rPr lang="en-GB" sz="2400" b="0" i="0" u="none" strike="noStrike" baseline="0" dirty="0">
                <a:solidFill>
                  <a:schemeClr val="bg1"/>
                </a:solidFill>
              </a:rPr>
              <a:t>) </a:t>
            </a:r>
            <a:r>
              <a:rPr lang="en-GB" sz="2400" b="0" i="1" u="none" strike="noStrike" baseline="0" dirty="0">
                <a:solidFill>
                  <a:schemeClr val="bg1"/>
                </a:solidFill>
              </a:rPr>
              <a:t>system </a:t>
            </a:r>
            <a:r>
              <a:rPr lang="en-GB" sz="2400" b="0" i="0" u="none" strike="noStrike" baseline="0" dirty="0">
                <a:solidFill>
                  <a:schemeClr val="bg1"/>
                </a:solidFill>
              </a:rPr>
              <a:t>of the DW/BI environment consists of a work area, instantiated data structures, and a set of processes.</a:t>
            </a:r>
          </a:p>
          <a:p>
            <a:pPr marL="0" indent="0" algn="l">
              <a:buNone/>
            </a:pPr>
            <a:r>
              <a:rPr lang="en-GB" sz="2400" b="0" i="1" u="none" strike="noStrike" baseline="0" dirty="0">
                <a:solidFill>
                  <a:schemeClr val="bg1"/>
                </a:solidFill>
              </a:rPr>
              <a:t>Extracting </a:t>
            </a:r>
            <a:r>
              <a:rPr lang="en-GB" sz="2400" b="0" i="0" u="none" strike="noStrike" baseline="0" dirty="0">
                <a:solidFill>
                  <a:schemeClr val="bg1"/>
                </a:solidFill>
              </a:rPr>
              <a:t>means reading and understanding the source data and copying the data needed into the ETL system for further manipulation.</a:t>
            </a:r>
          </a:p>
          <a:p>
            <a:pPr marL="0" indent="0" algn="l">
              <a:buNone/>
            </a:pPr>
            <a:r>
              <a:rPr lang="en-GB" sz="2400" b="0" i="0" u="none" strike="noStrike" baseline="0" dirty="0">
                <a:solidFill>
                  <a:schemeClr val="bg1"/>
                </a:solidFill>
              </a:rPr>
              <a:t>After the data is extracted to the ETL system, there are numerous potential transformations, such as cleansing the data (correcting misspellings, resolving domain conflicts, dealing with missing elements, or parsing into standard formats), combining data from multiple sources, and de-duplicating data.</a:t>
            </a:r>
          </a:p>
          <a:p>
            <a:pPr marL="0" indent="0" algn="l">
              <a:buNone/>
            </a:pPr>
            <a:r>
              <a:rPr lang="en-GB" sz="2400" b="0" i="0" u="none" strike="noStrike" baseline="0" dirty="0">
                <a:solidFill>
                  <a:schemeClr val="bg1"/>
                </a:solidFill>
              </a:rPr>
              <a:t>The final step of the ETL process is the physical structuring and loading of data into the presentation area’s target dimensional models.</a:t>
            </a:r>
          </a:p>
          <a:p>
            <a:pPr marL="0" indent="0" algn="l">
              <a:buNone/>
            </a:pPr>
            <a:r>
              <a:rPr lang="en-IN" sz="2400" b="0" i="0" u="none" strike="noStrike" baseline="0" dirty="0">
                <a:solidFill>
                  <a:schemeClr val="bg1"/>
                </a:solidFill>
              </a:rPr>
              <a:t>The creation of both </a:t>
            </a:r>
            <a:r>
              <a:rPr lang="en-GB" sz="2400" b="0" i="0" u="none" strike="noStrike" baseline="0" dirty="0">
                <a:solidFill>
                  <a:schemeClr val="bg1"/>
                </a:solidFill>
              </a:rPr>
              <a:t>normalized structures for the ETL and dimensional structures for presentation means that the data is potentially extracted, transformed, and loaded twice—once into the normalized database and then again when you load the dimensional model.</a:t>
            </a:r>
            <a:endParaRPr lang="en-GB" sz="2400" dirty="0">
              <a:solidFill>
                <a:schemeClr val="bg1"/>
              </a:solidFill>
            </a:endParaRPr>
          </a:p>
        </p:txBody>
      </p:sp>
    </p:spTree>
    <p:extLst>
      <p:ext uri="{BB962C8B-B14F-4D97-AF65-F5344CB8AC3E}">
        <p14:creationId xmlns:p14="http://schemas.microsoft.com/office/powerpoint/2010/main" val="91786353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C7F51-1103-3825-1EF3-63EE48F36F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DDD9D6-2728-56E8-1AFF-2E93A4BDF310}"/>
              </a:ext>
            </a:extLst>
          </p:cNvPr>
          <p:cNvSpPr>
            <a:spLocks noGrp="1"/>
          </p:cNvSpPr>
          <p:nvPr>
            <p:ph type="title"/>
          </p:nvPr>
        </p:nvSpPr>
        <p:spPr>
          <a:xfrm>
            <a:off x="188843" y="365126"/>
            <a:ext cx="11926957" cy="668544"/>
          </a:xfrm>
        </p:spPr>
        <p:txBody>
          <a:bodyPr>
            <a:noAutofit/>
          </a:bodyPr>
          <a:lstStyle/>
          <a:p>
            <a:pPr algn="ctr"/>
            <a:r>
              <a:rPr lang="en-IN" b="0" i="0" u="none" strike="noStrike" baseline="0" dirty="0">
                <a:solidFill>
                  <a:schemeClr val="bg1"/>
                </a:solidFill>
                <a:latin typeface="+mn-lt"/>
              </a:rPr>
              <a:t>Kimball’s DW/BI Architecture – Presentation Area</a:t>
            </a:r>
            <a:endParaRPr lang="en-IN" dirty="0">
              <a:solidFill>
                <a:schemeClr val="bg1"/>
              </a:solidFill>
              <a:latin typeface="+mn-lt"/>
            </a:endParaRPr>
          </a:p>
        </p:txBody>
      </p:sp>
      <p:sp>
        <p:nvSpPr>
          <p:cNvPr id="3" name="Content Placeholder 2">
            <a:extLst>
              <a:ext uri="{FF2B5EF4-FFF2-40B4-BE49-F238E27FC236}">
                <a16:creationId xmlns:a16="http://schemas.microsoft.com/office/drawing/2014/main" id="{30425243-F1E1-B637-1F39-BDBDBD1E3232}"/>
              </a:ext>
            </a:extLst>
          </p:cNvPr>
          <p:cNvSpPr>
            <a:spLocks noGrp="1"/>
          </p:cNvSpPr>
          <p:nvPr>
            <p:ph idx="1"/>
          </p:nvPr>
        </p:nvSpPr>
        <p:spPr>
          <a:xfrm>
            <a:off x="188843" y="1033670"/>
            <a:ext cx="11926957" cy="5705060"/>
          </a:xfrm>
        </p:spPr>
        <p:txBody>
          <a:bodyPr>
            <a:noAutofit/>
          </a:bodyPr>
          <a:lstStyle/>
          <a:p>
            <a:pPr marL="0" indent="0" algn="l">
              <a:buNone/>
            </a:pPr>
            <a:r>
              <a:rPr lang="en-GB" sz="2400" dirty="0">
                <a:solidFill>
                  <a:schemeClr val="bg1"/>
                </a:solidFill>
              </a:rPr>
              <a:t>The DW/BI presentation area is where data is organized, stored, and made available for direct querying by users, report writers, and other analytical BI applications.</a:t>
            </a:r>
          </a:p>
          <a:p>
            <a:pPr marL="0" indent="0" algn="l">
              <a:buNone/>
            </a:pPr>
            <a:endParaRPr lang="en-GB" sz="2400" dirty="0">
              <a:solidFill>
                <a:schemeClr val="bg1"/>
              </a:solidFill>
            </a:endParaRPr>
          </a:p>
          <a:p>
            <a:pPr marL="0" indent="0" algn="l">
              <a:buNone/>
            </a:pPr>
            <a:r>
              <a:rPr lang="en-GB" sz="2400" dirty="0">
                <a:solidFill>
                  <a:schemeClr val="bg1"/>
                </a:solidFill>
              </a:rPr>
              <a:t>Being ETL is the backroom for data preparation, Business users sees data at Front end after it is cooked at Backend.  </a:t>
            </a:r>
          </a:p>
          <a:p>
            <a:pPr marL="0" indent="0" algn="l">
              <a:buNone/>
            </a:pPr>
            <a:endParaRPr lang="en-GB" sz="2400" dirty="0">
              <a:solidFill>
                <a:schemeClr val="bg1"/>
              </a:solidFill>
            </a:endParaRPr>
          </a:p>
          <a:p>
            <a:pPr marL="0" indent="0" algn="l">
              <a:buNone/>
            </a:pPr>
            <a:r>
              <a:rPr lang="en-GB" sz="2400" dirty="0">
                <a:solidFill>
                  <a:schemeClr val="bg1"/>
                </a:solidFill>
              </a:rPr>
              <a:t>Presentation area can be made off Start Schema or OLAP. </a:t>
            </a:r>
          </a:p>
          <a:p>
            <a:pPr marL="0" indent="0" algn="l">
              <a:buNone/>
            </a:pPr>
            <a:endParaRPr lang="en-GB" sz="2400" dirty="0">
              <a:solidFill>
                <a:schemeClr val="bg1"/>
              </a:solidFill>
            </a:endParaRPr>
          </a:p>
          <a:p>
            <a:pPr marL="0" indent="0" algn="l">
              <a:buNone/>
            </a:pPr>
            <a:r>
              <a:rPr lang="en-GB" sz="2400" dirty="0">
                <a:solidFill>
                  <a:schemeClr val="bg1"/>
                </a:solidFill>
              </a:rPr>
              <a:t>Presentation area contains granular data (atomic data) ; although presentation area may contain aggregated data but  granular data in dimensional form is needed to cater to users’ ad-hoc query needs. </a:t>
            </a:r>
          </a:p>
          <a:p>
            <a:pPr marL="0" indent="0" algn="l">
              <a:buNone/>
            </a:pPr>
            <a:r>
              <a:rPr lang="en-GB" sz="2400" b="0" i="0" u="none" strike="noStrike" baseline="0" dirty="0">
                <a:solidFill>
                  <a:schemeClr val="bg1"/>
                </a:solidFill>
              </a:rPr>
              <a:t>Data in the </a:t>
            </a:r>
            <a:r>
              <a:rPr lang="en-GB" sz="2400" b="0" i="0" u="none" strike="noStrike" baseline="0" dirty="0" err="1">
                <a:solidFill>
                  <a:schemeClr val="bg1"/>
                </a:solidFill>
              </a:rPr>
              <a:t>queryable</a:t>
            </a:r>
            <a:r>
              <a:rPr lang="en-GB" sz="2400" b="0" i="0" u="none" strike="noStrike" baseline="0" dirty="0">
                <a:solidFill>
                  <a:schemeClr val="bg1"/>
                </a:solidFill>
              </a:rPr>
              <a:t> presentation area of the DW/BI system must be dimensional, atomic (complemented by performance-enhancing aggregates), business process-centric, and adhere to the enterprise data warehouse bus architecture.</a:t>
            </a:r>
            <a:r>
              <a:rPr lang="en-GB" sz="2400" dirty="0">
                <a:solidFill>
                  <a:schemeClr val="bg1"/>
                </a:solidFill>
              </a:rPr>
              <a:t> </a:t>
            </a:r>
          </a:p>
        </p:txBody>
      </p:sp>
    </p:spTree>
    <p:extLst>
      <p:ext uri="{BB962C8B-B14F-4D97-AF65-F5344CB8AC3E}">
        <p14:creationId xmlns:p14="http://schemas.microsoft.com/office/powerpoint/2010/main" val="25185243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57807" y="2279903"/>
            <a:ext cx="9930384" cy="1702816"/>
          </a:xfrm>
          <a:prstGeom prst="rect">
            <a:avLst/>
          </a:prstGeom>
        </p:spPr>
      </p:pic>
      <p:sp>
        <p:nvSpPr>
          <p:cNvPr id="3" name="object 3"/>
          <p:cNvSpPr txBox="1">
            <a:spLocks noGrp="1"/>
          </p:cNvSpPr>
          <p:nvPr>
            <p:ph type="title"/>
          </p:nvPr>
        </p:nvSpPr>
        <p:spPr>
          <a:xfrm>
            <a:off x="1320800" y="2579973"/>
            <a:ext cx="9811173" cy="1048150"/>
          </a:xfrm>
          <a:prstGeom prst="rect">
            <a:avLst/>
          </a:prstGeom>
          <a:noFill/>
          <a:ln w="9144">
            <a:noFill/>
          </a:ln>
        </p:spPr>
        <p:txBody>
          <a:bodyPr vert="horz" wrap="square" lIns="0" tIns="306493" rIns="0" bIns="0" rtlCol="0" anchor="ctr">
            <a:spAutoFit/>
          </a:bodyPr>
          <a:lstStyle/>
          <a:p>
            <a:pPr algn="ctr">
              <a:lnSpc>
                <a:spcPct val="100000"/>
              </a:lnSpc>
              <a:spcBef>
                <a:spcPts val="2413"/>
              </a:spcBef>
            </a:pPr>
            <a:r>
              <a:rPr sz="4800" dirty="0">
                <a:solidFill>
                  <a:schemeClr val="bg1"/>
                </a:solidFill>
                <a:latin typeface="+mn-lt"/>
              </a:rPr>
              <a:t>Snowflake</a:t>
            </a:r>
            <a:r>
              <a:rPr sz="4800" spc="-40" dirty="0">
                <a:solidFill>
                  <a:schemeClr val="bg1"/>
                </a:solidFill>
                <a:latin typeface="+mn-lt"/>
              </a:rPr>
              <a:t> </a:t>
            </a:r>
            <a:r>
              <a:rPr sz="4800" spc="-13" dirty="0">
                <a:solidFill>
                  <a:schemeClr val="bg1"/>
                </a:solidFill>
                <a:latin typeface="+mn-lt"/>
              </a:rPr>
              <a:t>schema</a:t>
            </a:r>
            <a:endParaRPr sz="4800" dirty="0">
              <a:solidFill>
                <a:schemeClr val="bg1"/>
              </a:solidFill>
              <a:latin typeface="+mn-lt"/>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9571" y="151433"/>
            <a:ext cx="6774165" cy="695062"/>
          </a:xfrm>
          <a:prstGeom prst="rect">
            <a:avLst/>
          </a:prstGeom>
        </p:spPr>
        <p:txBody>
          <a:bodyPr vert="horz" wrap="square" lIns="0" tIns="17780" rIns="0" bIns="0" rtlCol="0" anchor="ctr">
            <a:spAutoFit/>
          </a:bodyPr>
          <a:lstStyle/>
          <a:p>
            <a:pPr marL="2355368">
              <a:lnSpc>
                <a:spcPct val="100000"/>
              </a:lnSpc>
              <a:spcBef>
                <a:spcPts val="140"/>
              </a:spcBef>
            </a:pPr>
            <a:r>
              <a:rPr dirty="0">
                <a:solidFill>
                  <a:schemeClr val="bg1"/>
                </a:solidFill>
                <a:latin typeface="+mn-lt"/>
              </a:rPr>
              <a:t>Star</a:t>
            </a:r>
            <a:r>
              <a:rPr spc="-73" dirty="0">
                <a:solidFill>
                  <a:schemeClr val="bg1"/>
                </a:solidFill>
                <a:latin typeface="+mn-lt"/>
              </a:rPr>
              <a:t> </a:t>
            </a:r>
            <a:r>
              <a:rPr spc="-13" dirty="0">
                <a:solidFill>
                  <a:schemeClr val="bg1"/>
                </a:solidFill>
                <a:latin typeface="+mn-lt"/>
              </a:rPr>
              <a:t>schema</a:t>
            </a:r>
          </a:p>
        </p:txBody>
      </p:sp>
      <p:sp>
        <p:nvSpPr>
          <p:cNvPr id="3" name="object 3"/>
          <p:cNvSpPr/>
          <p:nvPr/>
        </p:nvSpPr>
        <p:spPr>
          <a:xfrm>
            <a:off x="5185663" y="1906015"/>
            <a:ext cx="2201333" cy="616373"/>
          </a:xfrm>
          <a:custGeom>
            <a:avLst/>
            <a:gdLst/>
            <a:ahLst/>
            <a:cxnLst/>
            <a:rect l="l" t="t" r="r" b="b"/>
            <a:pathLst>
              <a:path w="1651000" h="462280">
                <a:moveTo>
                  <a:pt x="1650492" y="0"/>
                </a:moveTo>
                <a:lnTo>
                  <a:pt x="0" y="0"/>
                </a:lnTo>
                <a:lnTo>
                  <a:pt x="0" y="461772"/>
                </a:lnTo>
                <a:lnTo>
                  <a:pt x="1650492" y="461772"/>
                </a:lnTo>
                <a:lnTo>
                  <a:pt x="1650492" y="0"/>
                </a:lnTo>
                <a:close/>
              </a:path>
            </a:pathLst>
          </a:custGeom>
          <a:solidFill>
            <a:srgbClr val="383838">
              <a:alpha val="89019"/>
            </a:srgbClr>
          </a:solidFill>
        </p:spPr>
        <p:txBody>
          <a:bodyPr wrap="square" lIns="0" tIns="0" rIns="0" bIns="0" rtlCol="0"/>
          <a:lstStyle/>
          <a:p>
            <a:endParaRPr sz="2400"/>
          </a:p>
        </p:txBody>
      </p:sp>
      <p:sp>
        <p:nvSpPr>
          <p:cNvPr id="4" name="object 4"/>
          <p:cNvSpPr txBox="1"/>
          <p:nvPr/>
        </p:nvSpPr>
        <p:spPr>
          <a:xfrm>
            <a:off x="5307921" y="2105141"/>
            <a:ext cx="897467" cy="333425"/>
          </a:xfrm>
          <a:prstGeom prst="rect">
            <a:avLst/>
          </a:prstGeom>
        </p:spPr>
        <p:txBody>
          <a:bodyPr vert="horz" wrap="square" lIns="0" tIns="0" rIns="0" bIns="0" rtlCol="0">
            <a:spAutoFit/>
          </a:bodyPr>
          <a:lstStyle/>
          <a:p>
            <a:pPr>
              <a:lnSpc>
                <a:spcPts val="2640"/>
              </a:lnSpc>
            </a:pPr>
            <a:r>
              <a:rPr sz="2400" dirty="0">
                <a:solidFill>
                  <a:srgbClr val="99D3FF"/>
                </a:solidFill>
                <a:latin typeface="Wingdings"/>
                <a:cs typeface="Wingdings"/>
              </a:rPr>
              <a:t></a:t>
            </a:r>
            <a:r>
              <a:rPr sz="2400" spc="520" dirty="0">
                <a:solidFill>
                  <a:srgbClr val="99D3FF"/>
                </a:solidFill>
                <a:latin typeface="Times New Roman"/>
                <a:cs typeface="Times New Roman"/>
              </a:rPr>
              <a:t> </a:t>
            </a:r>
            <a:r>
              <a:rPr sz="2400" b="1" spc="-33" dirty="0">
                <a:solidFill>
                  <a:srgbClr val="D9D9D9"/>
                </a:solidFill>
                <a:latin typeface="Calibri"/>
                <a:cs typeface="Calibri"/>
              </a:rPr>
              <a:t>Dim</a:t>
            </a:r>
            <a:endParaRPr sz="2400">
              <a:latin typeface="Calibri"/>
              <a:cs typeface="Calibri"/>
            </a:endParaRPr>
          </a:p>
        </p:txBody>
      </p:sp>
      <p:sp>
        <p:nvSpPr>
          <p:cNvPr id="5" name="object 5"/>
          <p:cNvSpPr txBox="1"/>
          <p:nvPr/>
        </p:nvSpPr>
        <p:spPr>
          <a:xfrm>
            <a:off x="6205253" y="2150533"/>
            <a:ext cx="962660" cy="302455"/>
          </a:xfrm>
          <a:prstGeom prst="rect">
            <a:avLst/>
          </a:prstGeom>
        </p:spPr>
        <p:txBody>
          <a:bodyPr vert="horz" wrap="square" lIns="0" tIns="0" rIns="0" bIns="0" rtlCol="0">
            <a:spAutoFit/>
          </a:bodyPr>
          <a:lstStyle/>
          <a:p>
            <a:pPr>
              <a:lnSpc>
                <a:spcPts val="2280"/>
              </a:lnSpc>
            </a:pPr>
            <a:r>
              <a:rPr sz="2400" b="1" spc="-13" dirty="0">
                <a:solidFill>
                  <a:srgbClr val="D9D9D9"/>
                </a:solidFill>
                <a:latin typeface="Calibri"/>
                <a:cs typeface="Calibri"/>
              </a:rPr>
              <a:t>ensions</a:t>
            </a:r>
            <a:endParaRPr sz="2400">
              <a:latin typeface="Calibri"/>
              <a:cs typeface="Calibri"/>
            </a:endParaRPr>
          </a:p>
        </p:txBody>
      </p:sp>
      <p:sp>
        <p:nvSpPr>
          <p:cNvPr id="6" name="object 6"/>
          <p:cNvSpPr txBox="1"/>
          <p:nvPr/>
        </p:nvSpPr>
        <p:spPr>
          <a:xfrm>
            <a:off x="2129536" y="3960369"/>
            <a:ext cx="2438400" cy="541174"/>
          </a:xfrm>
          <a:prstGeom prst="rect">
            <a:avLst/>
          </a:prstGeom>
          <a:solidFill>
            <a:srgbClr val="383838">
              <a:alpha val="89019"/>
            </a:srgbClr>
          </a:solidFill>
        </p:spPr>
        <p:txBody>
          <a:bodyPr vert="horz" wrap="square" lIns="0" tIns="170180" rIns="0" bIns="0" rtlCol="0">
            <a:spAutoFit/>
          </a:bodyPr>
          <a:lstStyle/>
          <a:p>
            <a:pPr marL="503754" indent="-380990">
              <a:spcBef>
                <a:spcPts val="1340"/>
              </a:spcBef>
              <a:buClr>
                <a:srgbClr val="99D3FF"/>
              </a:buClr>
              <a:buFont typeface="Wingdings"/>
              <a:buChar char=""/>
              <a:tabLst>
                <a:tab pos="503754" algn="l"/>
              </a:tabLst>
            </a:pPr>
            <a:r>
              <a:rPr sz="2400" b="1" spc="-13" dirty="0">
                <a:solidFill>
                  <a:srgbClr val="D9D9D9"/>
                </a:solidFill>
                <a:latin typeface="Calibri"/>
                <a:cs typeface="Calibri"/>
              </a:rPr>
              <a:t>Dimensions</a:t>
            </a:r>
            <a:endParaRPr sz="2400">
              <a:latin typeface="Calibri"/>
              <a:cs typeface="Calibri"/>
            </a:endParaRPr>
          </a:p>
        </p:txBody>
      </p:sp>
      <p:grpSp>
        <p:nvGrpSpPr>
          <p:cNvPr id="7" name="object 7"/>
          <p:cNvGrpSpPr/>
          <p:nvPr/>
        </p:nvGrpSpPr>
        <p:grpSpPr>
          <a:xfrm>
            <a:off x="762000" y="3147569"/>
            <a:ext cx="6096000" cy="1426633"/>
            <a:chOff x="571500" y="2360676"/>
            <a:chExt cx="4572000" cy="1069975"/>
          </a:xfrm>
        </p:grpSpPr>
        <p:sp>
          <p:nvSpPr>
            <p:cNvPr id="8" name="object 8"/>
            <p:cNvSpPr/>
            <p:nvPr/>
          </p:nvSpPr>
          <p:spPr>
            <a:xfrm>
              <a:off x="2511551" y="2648712"/>
              <a:ext cx="1526540" cy="323215"/>
            </a:xfrm>
            <a:custGeom>
              <a:avLst/>
              <a:gdLst/>
              <a:ahLst/>
              <a:cxnLst/>
              <a:rect l="l" t="t" r="r" b="b"/>
              <a:pathLst>
                <a:path w="1526539" h="323214">
                  <a:moveTo>
                    <a:pt x="1526539" y="0"/>
                  </a:moveTo>
                  <a:lnTo>
                    <a:pt x="0" y="322706"/>
                  </a:lnTo>
                </a:path>
              </a:pathLst>
            </a:custGeom>
            <a:ln w="9144">
              <a:solidFill>
                <a:srgbClr val="00C2FF"/>
              </a:solidFill>
            </a:ln>
          </p:spPr>
          <p:txBody>
            <a:bodyPr wrap="square" lIns="0" tIns="0" rIns="0" bIns="0" rtlCol="0"/>
            <a:lstStyle/>
            <a:p>
              <a:endParaRPr sz="2400"/>
            </a:p>
          </p:txBody>
        </p:sp>
        <p:sp>
          <p:nvSpPr>
            <p:cNvPr id="9" name="object 9"/>
            <p:cNvSpPr/>
            <p:nvPr/>
          </p:nvSpPr>
          <p:spPr>
            <a:xfrm>
              <a:off x="609600" y="2398776"/>
              <a:ext cx="4495800" cy="993775"/>
            </a:xfrm>
            <a:custGeom>
              <a:avLst/>
              <a:gdLst/>
              <a:ahLst/>
              <a:cxnLst/>
              <a:rect l="l" t="t" r="r" b="b"/>
              <a:pathLst>
                <a:path w="4495800" h="993775">
                  <a:moveTo>
                    <a:pt x="4495800" y="0"/>
                  </a:moveTo>
                  <a:lnTo>
                    <a:pt x="0" y="993521"/>
                  </a:lnTo>
                </a:path>
              </a:pathLst>
            </a:custGeom>
            <a:ln w="76200">
              <a:solidFill>
                <a:srgbClr val="00C2FF"/>
              </a:solidFill>
            </a:ln>
          </p:spPr>
          <p:txBody>
            <a:bodyPr wrap="square" lIns="0" tIns="0" rIns="0" bIns="0" rtlCol="0"/>
            <a:lstStyle/>
            <a:p>
              <a:endParaRPr sz="2400"/>
            </a:p>
          </p:txBody>
        </p:sp>
      </p:grpSp>
      <p:graphicFrame>
        <p:nvGraphicFramePr>
          <p:cNvPr id="10" name="object 10"/>
          <p:cNvGraphicFramePr>
            <a:graphicFrameLocks noGrp="1"/>
          </p:cNvGraphicFramePr>
          <p:nvPr>
            <p:extLst>
              <p:ext uri="{D42A27DB-BD31-4B8C-83A1-F6EECF244321}">
                <p14:modId xmlns:p14="http://schemas.microsoft.com/office/powerpoint/2010/main" val="2752177810"/>
              </p:ext>
            </p:extLst>
          </p:nvPr>
        </p:nvGraphicFramePr>
        <p:xfrm>
          <a:off x="5129073" y="1730928"/>
          <a:ext cx="4470400" cy="1896533"/>
        </p:xfrm>
        <a:graphic>
          <a:graphicData uri="http://schemas.openxmlformats.org/drawingml/2006/table">
            <a:tbl>
              <a:tblPr firstRow="1" bandRow="1">
                <a:tableStyleId>{2D5ABB26-0587-4C30-8999-92F81FD0307C}</a:tableStyleId>
              </a:tblPr>
              <a:tblGrid>
                <a:gridCol w="9144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698500">
                  <a:extLst>
                    <a:ext uri="{9D8B030D-6E8A-4147-A177-3AD203B41FA5}">
                      <a16:colId xmlns:a16="http://schemas.microsoft.com/office/drawing/2014/main" val="20003"/>
                    </a:ext>
                  </a:extLst>
                </a:gridCol>
                <a:gridCol w="698500">
                  <a:extLst>
                    <a:ext uri="{9D8B030D-6E8A-4147-A177-3AD203B41FA5}">
                      <a16:colId xmlns:a16="http://schemas.microsoft.com/office/drawing/2014/main" val="20004"/>
                    </a:ext>
                  </a:extLst>
                </a:gridCol>
              </a:tblGrid>
              <a:tr h="225213">
                <a:tc>
                  <a:txBody>
                    <a:bodyPr/>
                    <a:lstStyle/>
                    <a:p>
                      <a:pPr algn="ctr">
                        <a:lnSpc>
                          <a:spcPts val="1175"/>
                        </a:lnSpc>
                        <a:spcBef>
                          <a:spcPts val="55"/>
                        </a:spcBef>
                      </a:pPr>
                      <a:r>
                        <a:rPr sz="1400" b="1" spc="-10" dirty="0">
                          <a:latin typeface="Arial"/>
                          <a:cs typeface="Arial"/>
                        </a:rPr>
                        <a:t>sales_id</a:t>
                      </a:r>
                      <a:endParaRPr sz="1400">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5080" algn="ctr">
                        <a:lnSpc>
                          <a:spcPts val="1175"/>
                        </a:lnSpc>
                        <a:spcBef>
                          <a:spcPts val="55"/>
                        </a:spcBef>
                      </a:pPr>
                      <a:r>
                        <a:rPr sz="1400" b="1" spc="-10" dirty="0">
                          <a:latin typeface="Arial"/>
                          <a:cs typeface="Arial"/>
                        </a:rPr>
                        <a:t>product_id</a:t>
                      </a:r>
                      <a:endParaRPr sz="1400">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algn="ctr">
                        <a:lnSpc>
                          <a:spcPts val="1175"/>
                        </a:lnSpc>
                        <a:spcBef>
                          <a:spcPts val="55"/>
                        </a:spcBef>
                      </a:pPr>
                      <a:r>
                        <a:rPr sz="1400" b="1" spc="-10" dirty="0">
                          <a:latin typeface="Arial"/>
                          <a:cs typeface="Arial"/>
                        </a:rPr>
                        <a:t>customer_id</a:t>
                      </a:r>
                      <a:endParaRPr sz="1400" dirty="0">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1905" algn="ctr">
                        <a:lnSpc>
                          <a:spcPts val="1175"/>
                        </a:lnSpc>
                        <a:spcBef>
                          <a:spcPts val="55"/>
                        </a:spcBef>
                      </a:pPr>
                      <a:r>
                        <a:rPr sz="1400" b="1" spc="-10" dirty="0">
                          <a:latin typeface="Arial"/>
                          <a:cs typeface="Arial"/>
                        </a:rPr>
                        <a:t>units</a:t>
                      </a:r>
                      <a:endParaRPr sz="1400">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1905" algn="ctr">
                        <a:lnSpc>
                          <a:spcPts val="1175"/>
                        </a:lnSpc>
                        <a:spcBef>
                          <a:spcPts val="55"/>
                        </a:spcBef>
                      </a:pPr>
                      <a:r>
                        <a:rPr sz="1400" b="1" spc="-10" dirty="0">
                          <a:latin typeface="Arial"/>
                          <a:cs typeface="Arial"/>
                        </a:rPr>
                        <a:t>price</a:t>
                      </a:r>
                      <a:endParaRPr sz="1400">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extLst>
                  <a:ext uri="{0D108BD9-81ED-4DB2-BD59-A6C34878D82A}">
                    <a16:rowId xmlns:a16="http://schemas.microsoft.com/office/drawing/2014/main" val="10000"/>
                  </a:ext>
                </a:extLst>
              </a:tr>
              <a:tr h="254000">
                <a:tc>
                  <a:txBody>
                    <a:bodyPr/>
                    <a:lstStyle/>
                    <a:p>
                      <a:pPr algn="ctr">
                        <a:lnSpc>
                          <a:spcPts val="1175"/>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5"/>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ts val="1175"/>
                        </a:lnSpc>
                        <a:spcBef>
                          <a:spcPts val="225"/>
                        </a:spcBef>
                      </a:pPr>
                      <a:r>
                        <a:rPr sz="1400" spc="-25" dirty="0">
                          <a:latin typeface="Arial MT"/>
                          <a:cs typeface="Arial MT"/>
                        </a:rPr>
                        <a:t>23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5"/>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5"/>
                        </a:lnSpc>
                        <a:spcBef>
                          <a:spcPts val="225"/>
                        </a:spcBef>
                      </a:pPr>
                      <a:r>
                        <a:rPr sz="1400" spc="-20" dirty="0">
                          <a:latin typeface="Arial MT"/>
                          <a:cs typeface="Arial MT"/>
                        </a:rPr>
                        <a:t>2.99</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ts val="1175"/>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5"/>
                        </a:lnSpc>
                        <a:spcBef>
                          <a:spcPts val="225"/>
                        </a:spcBef>
                      </a:pPr>
                      <a:r>
                        <a:rPr sz="1400" spc="-50" dirty="0">
                          <a:latin typeface="Arial MT"/>
                          <a:cs typeface="Arial MT"/>
                        </a:rPr>
                        <a:t>5</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ts val="1175"/>
                        </a:lnSpc>
                        <a:spcBef>
                          <a:spcPts val="225"/>
                        </a:spcBef>
                      </a:pPr>
                      <a:r>
                        <a:rPr sz="1400" spc="-25" dirty="0">
                          <a:latin typeface="Arial MT"/>
                          <a:cs typeface="Arial MT"/>
                        </a:rPr>
                        <a:t>13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5"/>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5"/>
                        </a:lnSpc>
                        <a:spcBef>
                          <a:spcPts val="225"/>
                        </a:spcBef>
                      </a:pPr>
                      <a:r>
                        <a:rPr sz="1400" spc="-20" dirty="0">
                          <a:latin typeface="Arial MT"/>
                          <a:cs typeface="Arial MT"/>
                        </a:rPr>
                        <a:t>1.99</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ts val="1175"/>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5"/>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5"/>
                        </a:lnSpc>
                        <a:spcBef>
                          <a:spcPts val="225"/>
                        </a:spcBef>
                      </a:pPr>
                      <a:r>
                        <a:rPr sz="1400" spc="-50" dirty="0">
                          <a:latin typeface="Arial MT"/>
                          <a:cs typeface="Arial MT"/>
                        </a:rPr>
                        <a:t>7</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5"/>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5"/>
                        </a:lnSpc>
                        <a:spcBef>
                          <a:spcPts val="225"/>
                        </a:spcBef>
                      </a:pPr>
                      <a:r>
                        <a:rPr sz="1400" spc="-20" dirty="0">
                          <a:latin typeface="Arial MT"/>
                          <a:cs typeface="Arial MT"/>
                        </a:rPr>
                        <a:t>3.49</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algn="ctr">
                        <a:lnSpc>
                          <a:spcPts val="1175"/>
                        </a:lnSpc>
                        <a:spcBef>
                          <a:spcPts val="225"/>
                        </a:spcBef>
                      </a:pPr>
                      <a:r>
                        <a:rPr sz="1400" spc="-50" dirty="0">
                          <a:latin typeface="Arial MT"/>
                          <a:cs typeface="Arial MT"/>
                        </a:rPr>
                        <a:t>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5"/>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ts val="1175"/>
                        </a:lnSpc>
                        <a:spcBef>
                          <a:spcPts val="225"/>
                        </a:spcBef>
                      </a:pPr>
                      <a:r>
                        <a:rPr sz="1400" spc="-25" dirty="0">
                          <a:latin typeface="Arial MT"/>
                          <a:cs typeface="Arial MT"/>
                        </a:rPr>
                        <a:t>16</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5"/>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5"/>
                        </a:lnSpc>
                        <a:spcBef>
                          <a:spcPts val="225"/>
                        </a:spcBef>
                      </a:pPr>
                      <a:r>
                        <a:rPr sz="1400" spc="-20" dirty="0">
                          <a:latin typeface="Arial MT"/>
                          <a:cs typeface="Arial MT"/>
                        </a:rPr>
                        <a:t>2.29</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algn="ctr">
                        <a:lnSpc>
                          <a:spcPts val="1175"/>
                        </a:lnSpc>
                        <a:spcBef>
                          <a:spcPts val="225"/>
                        </a:spcBef>
                      </a:pPr>
                      <a:r>
                        <a:rPr sz="1400" spc="-50" dirty="0">
                          <a:latin typeface="Arial MT"/>
                          <a:cs typeface="Arial MT"/>
                        </a:rPr>
                        <a:t>5</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5"/>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ts val="1175"/>
                        </a:lnSpc>
                        <a:spcBef>
                          <a:spcPts val="225"/>
                        </a:spcBef>
                      </a:pPr>
                      <a:r>
                        <a:rPr sz="1400" spc="-25" dirty="0">
                          <a:latin typeface="Arial MT"/>
                          <a:cs typeface="Arial MT"/>
                        </a:rPr>
                        <a:t>13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5"/>
                        </a:lnSpc>
                        <a:spcBef>
                          <a:spcPts val="225"/>
                        </a:spcBef>
                      </a:pPr>
                      <a:r>
                        <a:rPr sz="1400" spc="-50" dirty="0">
                          <a:latin typeface="Arial MT"/>
                          <a:cs typeface="Arial MT"/>
                        </a:rPr>
                        <a:t>5</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5"/>
                        </a:lnSpc>
                        <a:spcBef>
                          <a:spcPts val="225"/>
                        </a:spcBef>
                      </a:pPr>
                      <a:r>
                        <a:rPr sz="1400" spc="-20" dirty="0">
                          <a:latin typeface="Arial MT"/>
                          <a:cs typeface="Arial MT"/>
                        </a:rPr>
                        <a:t>1.49</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r h="401320">
                <a:tc gridSpan="2">
                  <a:txBody>
                    <a:bodyPr/>
                    <a:lstStyle/>
                    <a:p>
                      <a:pPr marL="382905" indent="-285750">
                        <a:lnSpc>
                          <a:spcPts val="1885"/>
                        </a:lnSpc>
                        <a:buFont typeface="Wingdings"/>
                        <a:buChar char=""/>
                        <a:tabLst>
                          <a:tab pos="382905" algn="l"/>
                        </a:tabLst>
                      </a:pPr>
                      <a:r>
                        <a:rPr sz="2400" b="1" spc="-10" dirty="0">
                          <a:solidFill>
                            <a:srgbClr val="99D3FF"/>
                          </a:solidFill>
                          <a:latin typeface="Calibri"/>
                          <a:cs typeface="Calibri"/>
                        </a:rPr>
                        <a:t>Facts</a:t>
                      </a:r>
                      <a:endParaRPr sz="2400">
                        <a:latin typeface="Calibri"/>
                        <a:cs typeface="Calibri"/>
                      </a:endParaRPr>
                    </a:p>
                  </a:txBody>
                  <a:tcPr marL="0" marR="0" marT="0" marB="0">
                    <a:lnT w="12700">
                      <a:solidFill>
                        <a:srgbClr val="000000"/>
                      </a:solidFill>
                      <a:prstDash val="solid"/>
                    </a:lnT>
                    <a:solidFill>
                      <a:srgbClr val="404040">
                        <a:alpha val="89019"/>
                      </a:srgbClr>
                    </a:solidFill>
                  </a:tcPr>
                </a:tc>
                <a:tc hMerge="1">
                  <a:txBody>
                    <a:bodyPr/>
                    <a:lstStyle/>
                    <a:p>
                      <a:endParaRPr/>
                    </a:p>
                  </a:txBody>
                  <a:tcPr marL="0" marR="0" marT="0" marB="0"/>
                </a:tc>
                <a:tc gridSpan="3">
                  <a:txBody>
                    <a:bodyPr/>
                    <a:lstStyle/>
                    <a:p>
                      <a:pPr>
                        <a:lnSpc>
                          <a:spcPct val="100000"/>
                        </a:lnSpc>
                      </a:pPr>
                      <a:endParaRPr sz="1500" dirty="0">
                        <a:latin typeface="Times New Roman"/>
                        <a:cs typeface="Times New Roman"/>
                      </a:endParaRPr>
                    </a:p>
                  </a:txBody>
                  <a:tcPr marL="0" marR="0" marT="0" marB="0">
                    <a:lnT w="12700">
                      <a:solidFill>
                        <a:srgbClr val="000000"/>
                      </a:solidFill>
                      <a:prstDash val="solid"/>
                    </a:lnT>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6"/>
                  </a:ext>
                </a:extLst>
              </a:tr>
            </a:tbl>
          </a:graphicData>
        </a:graphic>
      </p:graphicFrame>
      <p:graphicFrame>
        <p:nvGraphicFramePr>
          <p:cNvPr id="11" name="object 11"/>
          <p:cNvGraphicFramePr>
            <a:graphicFrameLocks noGrp="1"/>
          </p:cNvGraphicFramePr>
          <p:nvPr/>
        </p:nvGraphicFramePr>
        <p:xfrm>
          <a:off x="255727" y="4495630"/>
          <a:ext cx="5936825" cy="1495213"/>
        </p:xfrm>
        <a:graphic>
          <a:graphicData uri="http://schemas.openxmlformats.org/drawingml/2006/table">
            <a:tbl>
              <a:tblPr firstRow="1" bandRow="1">
                <a:tableStyleId>{2D5ABB26-0587-4C30-8999-92F81FD0307C}</a:tableStyleId>
              </a:tblPr>
              <a:tblGrid>
                <a:gridCol w="1263225">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665393">
                  <a:extLst>
                    <a:ext uri="{9D8B030D-6E8A-4147-A177-3AD203B41FA5}">
                      <a16:colId xmlns:a16="http://schemas.microsoft.com/office/drawing/2014/main" val="20002"/>
                    </a:ext>
                  </a:extLst>
                </a:gridCol>
                <a:gridCol w="1484207">
                  <a:extLst>
                    <a:ext uri="{9D8B030D-6E8A-4147-A177-3AD203B41FA5}">
                      <a16:colId xmlns:a16="http://schemas.microsoft.com/office/drawing/2014/main" val="20003"/>
                    </a:ext>
                  </a:extLst>
                </a:gridCol>
              </a:tblGrid>
              <a:tr h="225213">
                <a:tc>
                  <a:txBody>
                    <a:bodyPr/>
                    <a:lstStyle/>
                    <a:p>
                      <a:pPr algn="ctr">
                        <a:lnSpc>
                          <a:spcPts val="1170"/>
                        </a:lnSpc>
                        <a:spcBef>
                          <a:spcPts val="60"/>
                        </a:spcBef>
                      </a:pPr>
                      <a:r>
                        <a:rPr sz="1400" b="1" spc="-10" dirty="0">
                          <a:latin typeface="Arial"/>
                          <a:cs typeface="Arial"/>
                        </a:rPr>
                        <a:t>product_id</a:t>
                      </a:r>
                      <a:endParaRPr sz="1400">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635" algn="ctr">
                        <a:lnSpc>
                          <a:spcPts val="1170"/>
                        </a:lnSpc>
                        <a:spcBef>
                          <a:spcPts val="60"/>
                        </a:spcBef>
                      </a:pPr>
                      <a:r>
                        <a:rPr sz="1400" b="1" spc="-20" dirty="0">
                          <a:latin typeface="Arial"/>
                          <a:cs typeface="Arial"/>
                        </a:rPr>
                        <a:t>name</a:t>
                      </a:r>
                      <a:endParaRPr sz="1400">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1905" algn="ctr">
                        <a:lnSpc>
                          <a:spcPts val="1170"/>
                        </a:lnSpc>
                        <a:spcBef>
                          <a:spcPts val="60"/>
                        </a:spcBef>
                      </a:pPr>
                      <a:r>
                        <a:rPr sz="1400" b="1" spc="-10" dirty="0">
                          <a:latin typeface="Arial"/>
                          <a:cs typeface="Arial"/>
                        </a:rPr>
                        <a:t>category</a:t>
                      </a:r>
                      <a:endParaRPr sz="1400">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4445" algn="ctr">
                        <a:lnSpc>
                          <a:spcPts val="1170"/>
                        </a:lnSpc>
                        <a:spcBef>
                          <a:spcPts val="60"/>
                        </a:spcBef>
                      </a:pPr>
                      <a:r>
                        <a:rPr sz="1400" b="1" spc="-10" dirty="0">
                          <a:latin typeface="Arial"/>
                          <a:cs typeface="Arial"/>
                        </a:rPr>
                        <a:t>sub_category</a:t>
                      </a:r>
                      <a:endParaRPr sz="1400">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extLst>
                  <a:ext uri="{0D108BD9-81ED-4DB2-BD59-A6C34878D82A}">
                    <a16:rowId xmlns:a16="http://schemas.microsoft.com/office/drawing/2014/main" val="10000"/>
                  </a:ext>
                </a:extLst>
              </a:tr>
              <a:tr h="254000">
                <a:tc>
                  <a:txBody>
                    <a:bodyPr/>
                    <a:lstStyle/>
                    <a:p>
                      <a:pPr algn="ctr">
                        <a:lnSpc>
                          <a:spcPts val="117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10" dirty="0">
                          <a:latin typeface="Arial MT"/>
                          <a:cs typeface="Arial MT"/>
                        </a:rPr>
                        <a:t>Chili</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10" dirty="0">
                          <a:latin typeface="Arial MT"/>
                          <a:cs typeface="Arial MT"/>
                        </a:rPr>
                        <a:t>Herbs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10" dirty="0">
                          <a:latin typeface="Arial MT"/>
                          <a:cs typeface="Arial MT"/>
                        </a:rPr>
                        <a:t>Spices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ts val="1170"/>
                        </a:lnSpc>
                        <a:spcBef>
                          <a:spcPts val="229"/>
                        </a:spcBef>
                      </a:pPr>
                      <a:r>
                        <a:rPr sz="1400" spc="-50" dirty="0">
                          <a:latin typeface="Arial MT"/>
                          <a:cs typeface="Arial MT"/>
                        </a:rPr>
                        <a:t>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9"/>
                        </a:spcBef>
                      </a:pPr>
                      <a:r>
                        <a:rPr sz="1400" spc="-10" dirty="0">
                          <a:latin typeface="Arial MT"/>
                          <a:cs typeface="Arial MT"/>
                        </a:rPr>
                        <a:t>Garlic</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dirty="0">
                          <a:latin typeface="Arial MT"/>
                          <a:cs typeface="Arial MT"/>
                        </a:rPr>
                        <a:t>Fruits</a:t>
                      </a:r>
                      <a:r>
                        <a:rPr sz="1400" spc="-30" dirty="0">
                          <a:latin typeface="Arial MT"/>
                          <a:cs typeface="Arial MT"/>
                        </a:rPr>
                        <a:t> </a:t>
                      </a:r>
                      <a:r>
                        <a:rPr sz="1400" dirty="0">
                          <a:latin typeface="Arial MT"/>
                          <a:cs typeface="Arial MT"/>
                        </a:rPr>
                        <a:t>&amp;</a:t>
                      </a:r>
                      <a:r>
                        <a:rPr sz="1400" spc="-25" dirty="0">
                          <a:latin typeface="Arial MT"/>
                          <a:cs typeface="Arial MT"/>
                        </a:rPr>
                        <a:t> </a:t>
                      </a:r>
                      <a:r>
                        <a:rPr sz="1400" spc="-10" dirty="0">
                          <a:latin typeface="Arial MT"/>
                          <a:cs typeface="Arial MT"/>
                        </a:rPr>
                        <a:t>Vegetables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Vegetable</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ts val="117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Banana</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dirty="0">
                          <a:latin typeface="Arial MT"/>
                          <a:cs typeface="Arial MT"/>
                        </a:rPr>
                        <a:t>Fruits</a:t>
                      </a:r>
                      <a:r>
                        <a:rPr sz="1400" spc="-30" dirty="0">
                          <a:latin typeface="Arial MT"/>
                          <a:cs typeface="Arial MT"/>
                        </a:rPr>
                        <a:t> </a:t>
                      </a:r>
                      <a:r>
                        <a:rPr sz="1400" dirty="0">
                          <a:latin typeface="Arial MT"/>
                          <a:cs typeface="Arial MT"/>
                        </a:rPr>
                        <a:t>&amp;</a:t>
                      </a:r>
                      <a:r>
                        <a:rPr sz="1400" spc="-25" dirty="0">
                          <a:latin typeface="Arial MT"/>
                          <a:cs typeface="Arial MT"/>
                        </a:rPr>
                        <a:t> </a:t>
                      </a:r>
                      <a:r>
                        <a:rPr sz="1400" spc="-10" dirty="0">
                          <a:latin typeface="Arial MT"/>
                          <a:cs typeface="Arial MT"/>
                        </a:rPr>
                        <a:t>Vegetables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10" dirty="0">
                          <a:latin typeface="Arial MT"/>
                          <a:cs typeface="Arial MT"/>
                        </a:rPr>
                        <a:t>Fruits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algn="ctr">
                        <a:lnSpc>
                          <a:spcPts val="1170"/>
                        </a:lnSpc>
                        <a:spcBef>
                          <a:spcPts val="229"/>
                        </a:spcBef>
                      </a:pPr>
                      <a:r>
                        <a:rPr sz="1400" spc="-50" dirty="0">
                          <a:latin typeface="Arial MT"/>
                          <a:cs typeface="Arial MT"/>
                        </a:rPr>
                        <a:t>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Chocolate</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dirty="0">
                          <a:latin typeface="Arial MT"/>
                          <a:cs typeface="Arial MT"/>
                        </a:rPr>
                        <a:t>Sweets</a:t>
                      </a:r>
                      <a:r>
                        <a:rPr sz="1400" spc="-30" dirty="0">
                          <a:latin typeface="Arial MT"/>
                          <a:cs typeface="Arial MT"/>
                        </a:rPr>
                        <a:t> </a:t>
                      </a:r>
                      <a:r>
                        <a:rPr sz="1400" dirty="0">
                          <a:latin typeface="Arial MT"/>
                          <a:cs typeface="Arial MT"/>
                        </a:rPr>
                        <a:t>&amp;</a:t>
                      </a:r>
                      <a:r>
                        <a:rPr sz="1400" spc="-10" dirty="0">
                          <a:latin typeface="Arial MT"/>
                          <a:cs typeface="Arial MT"/>
                        </a:rPr>
                        <a:t> Snacks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10" dirty="0">
                          <a:latin typeface="Arial MT"/>
                          <a:cs typeface="Arial MT"/>
                        </a:rPr>
                        <a:t>Sweets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algn="ctr">
                        <a:lnSpc>
                          <a:spcPts val="1170"/>
                        </a:lnSpc>
                        <a:spcBef>
                          <a:spcPts val="229"/>
                        </a:spcBef>
                      </a:pPr>
                      <a:r>
                        <a:rPr sz="1400" spc="-50" dirty="0">
                          <a:latin typeface="Arial MT"/>
                          <a:cs typeface="Arial MT"/>
                        </a:rPr>
                        <a:t>5</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Chips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dirty="0">
                          <a:latin typeface="Arial MT"/>
                          <a:cs typeface="Arial MT"/>
                        </a:rPr>
                        <a:t>Sweets</a:t>
                      </a:r>
                      <a:r>
                        <a:rPr sz="1400" spc="-30" dirty="0">
                          <a:latin typeface="Arial MT"/>
                          <a:cs typeface="Arial MT"/>
                        </a:rPr>
                        <a:t> </a:t>
                      </a:r>
                      <a:r>
                        <a:rPr sz="1400" dirty="0">
                          <a:latin typeface="Arial MT"/>
                          <a:cs typeface="Arial MT"/>
                        </a:rPr>
                        <a:t>&amp;</a:t>
                      </a:r>
                      <a:r>
                        <a:rPr sz="1400" spc="-10" dirty="0">
                          <a:latin typeface="Arial MT"/>
                          <a:cs typeface="Arial MT"/>
                        </a:rPr>
                        <a:t> Snacks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10" dirty="0">
                          <a:latin typeface="Arial MT"/>
                          <a:cs typeface="Arial MT"/>
                        </a:rPr>
                        <a:t>Snacks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727200" y="5053585"/>
            <a:ext cx="3605107" cy="684953"/>
          </a:xfrm>
          <a:custGeom>
            <a:avLst/>
            <a:gdLst/>
            <a:ahLst/>
            <a:cxnLst/>
            <a:rect l="l" t="t" r="r" b="b"/>
            <a:pathLst>
              <a:path w="2703829" h="513714">
                <a:moveTo>
                  <a:pt x="2703703" y="0"/>
                </a:moveTo>
                <a:lnTo>
                  <a:pt x="0" y="513422"/>
                </a:lnTo>
              </a:path>
            </a:pathLst>
          </a:custGeom>
          <a:ln w="76200">
            <a:solidFill>
              <a:srgbClr val="00C2FF"/>
            </a:solidFill>
          </a:ln>
        </p:spPr>
        <p:txBody>
          <a:bodyPr wrap="square" lIns="0" tIns="0" rIns="0" bIns="0" rtlCol="0"/>
          <a:lstStyle/>
          <a:p>
            <a:endParaRPr sz="2400"/>
          </a:p>
        </p:txBody>
      </p:sp>
      <p:sp>
        <p:nvSpPr>
          <p:cNvPr id="3" name="object 3"/>
          <p:cNvSpPr txBox="1">
            <a:spLocks noGrp="1"/>
          </p:cNvSpPr>
          <p:nvPr>
            <p:ph type="title"/>
          </p:nvPr>
        </p:nvSpPr>
        <p:spPr>
          <a:xfrm>
            <a:off x="698403" y="123430"/>
            <a:ext cx="9824380" cy="695062"/>
          </a:xfrm>
          <a:prstGeom prst="rect">
            <a:avLst/>
          </a:prstGeom>
        </p:spPr>
        <p:txBody>
          <a:bodyPr vert="horz" wrap="square" lIns="0" tIns="17780" rIns="0" bIns="0" rtlCol="0" anchor="ctr">
            <a:spAutoFit/>
          </a:bodyPr>
          <a:lstStyle/>
          <a:p>
            <a:pPr marL="1660272" algn="ctr">
              <a:lnSpc>
                <a:spcPct val="100000"/>
              </a:lnSpc>
              <a:spcBef>
                <a:spcPts val="140"/>
              </a:spcBef>
            </a:pPr>
            <a:r>
              <a:rPr dirty="0">
                <a:solidFill>
                  <a:schemeClr val="bg1"/>
                </a:solidFill>
                <a:latin typeface="+mn-lt"/>
              </a:rPr>
              <a:t>Snowflake</a:t>
            </a:r>
            <a:r>
              <a:rPr spc="-13" dirty="0">
                <a:solidFill>
                  <a:schemeClr val="bg1"/>
                </a:solidFill>
                <a:latin typeface="+mn-lt"/>
              </a:rPr>
              <a:t> schema</a:t>
            </a:r>
          </a:p>
        </p:txBody>
      </p:sp>
      <p:sp>
        <p:nvSpPr>
          <p:cNvPr id="4" name="object 4"/>
          <p:cNvSpPr/>
          <p:nvPr/>
        </p:nvSpPr>
        <p:spPr>
          <a:xfrm>
            <a:off x="5185663" y="1906015"/>
            <a:ext cx="2201333" cy="616373"/>
          </a:xfrm>
          <a:custGeom>
            <a:avLst/>
            <a:gdLst/>
            <a:ahLst/>
            <a:cxnLst/>
            <a:rect l="l" t="t" r="r" b="b"/>
            <a:pathLst>
              <a:path w="1651000" h="462280">
                <a:moveTo>
                  <a:pt x="1650492" y="0"/>
                </a:moveTo>
                <a:lnTo>
                  <a:pt x="0" y="0"/>
                </a:lnTo>
                <a:lnTo>
                  <a:pt x="0" y="461772"/>
                </a:lnTo>
                <a:lnTo>
                  <a:pt x="1650492" y="461772"/>
                </a:lnTo>
                <a:lnTo>
                  <a:pt x="1650492" y="0"/>
                </a:lnTo>
                <a:close/>
              </a:path>
            </a:pathLst>
          </a:custGeom>
          <a:solidFill>
            <a:srgbClr val="383838">
              <a:alpha val="89019"/>
            </a:srgbClr>
          </a:solidFill>
        </p:spPr>
        <p:txBody>
          <a:bodyPr wrap="square" lIns="0" tIns="0" rIns="0" bIns="0" rtlCol="0"/>
          <a:lstStyle/>
          <a:p>
            <a:endParaRPr sz="2400"/>
          </a:p>
        </p:txBody>
      </p:sp>
      <p:sp>
        <p:nvSpPr>
          <p:cNvPr id="5" name="object 5"/>
          <p:cNvSpPr txBox="1"/>
          <p:nvPr/>
        </p:nvSpPr>
        <p:spPr>
          <a:xfrm>
            <a:off x="5307921" y="2105141"/>
            <a:ext cx="897467" cy="333425"/>
          </a:xfrm>
          <a:prstGeom prst="rect">
            <a:avLst/>
          </a:prstGeom>
        </p:spPr>
        <p:txBody>
          <a:bodyPr vert="horz" wrap="square" lIns="0" tIns="0" rIns="0" bIns="0" rtlCol="0">
            <a:spAutoFit/>
          </a:bodyPr>
          <a:lstStyle/>
          <a:p>
            <a:pPr>
              <a:lnSpc>
                <a:spcPts val="2640"/>
              </a:lnSpc>
            </a:pPr>
            <a:r>
              <a:rPr sz="2400" dirty="0">
                <a:solidFill>
                  <a:srgbClr val="99D3FF"/>
                </a:solidFill>
                <a:latin typeface="Wingdings"/>
                <a:cs typeface="Wingdings"/>
              </a:rPr>
              <a:t></a:t>
            </a:r>
            <a:r>
              <a:rPr sz="2400" spc="520" dirty="0">
                <a:solidFill>
                  <a:srgbClr val="99D3FF"/>
                </a:solidFill>
                <a:latin typeface="Times New Roman"/>
                <a:cs typeface="Times New Roman"/>
              </a:rPr>
              <a:t> </a:t>
            </a:r>
            <a:r>
              <a:rPr sz="2400" b="1" spc="-33" dirty="0">
                <a:solidFill>
                  <a:srgbClr val="D9D9D9"/>
                </a:solidFill>
                <a:latin typeface="Calibri"/>
                <a:cs typeface="Calibri"/>
              </a:rPr>
              <a:t>Dim</a:t>
            </a:r>
            <a:endParaRPr sz="2400">
              <a:latin typeface="Calibri"/>
              <a:cs typeface="Calibri"/>
            </a:endParaRPr>
          </a:p>
        </p:txBody>
      </p:sp>
      <p:sp>
        <p:nvSpPr>
          <p:cNvPr id="6" name="object 6"/>
          <p:cNvSpPr txBox="1"/>
          <p:nvPr/>
        </p:nvSpPr>
        <p:spPr>
          <a:xfrm>
            <a:off x="6205253" y="2150533"/>
            <a:ext cx="962660" cy="302455"/>
          </a:xfrm>
          <a:prstGeom prst="rect">
            <a:avLst/>
          </a:prstGeom>
        </p:spPr>
        <p:txBody>
          <a:bodyPr vert="horz" wrap="square" lIns="0" tIns="0" rIns="0" bIns="0" rtlCol="0">
            <a:spAutoFit/>
          </a:bodyPr>
          <a:lstStyle/>
          <a:p>
            <a:pPr>
              <a:lnSpc>
                <a:spcPts val="2280"/>
              </a:lnSpc>
            </a:pPr>
            <a:r>
              <a:rPr sz="2400" b="1" spc="-13" dirty="0">
                <a:solidFill>
                  <a:srgbClr val="D9D9D9"/>
                </a:solidFill>
                <a:latin typeface="Calibri"/>
                <a:cs typeface="Calibri"/>
              </a:rPr>
              <a:t>ensions</a:t>
            </a:r>
            <a:endParaRPr sz="2400">
              <a:latin typeface="Calibri"/>
              <a:cs typeface="Calibri"/>
            </a:endParaRPr>
          </a:p>
        </p:txBody>
      </p:sp>
      <p:sp>
        <p:nvSpPr>
          <p:cNvPr id="7" name="object 7"/>
          <p:cNvSpPr/>
          <p:nvPr/>
        </p:nvSpPr>
        <p:spPr>
          <a:xfrm>
            <a:off x="2129536" y="3960368"/>
            <a:ext cx="2438400" cy="618067"/>
          </a:xfrm>
          <a:custGeom>
            <a:avLst/>
            <a:gdLst/>
            <a:ahLst/>
            <a:cxnLst/>
            <a:rect l="l" t="t" r="r" b="b"/>
            <a:pathLst>
              <a:path w="1828800" h="463550">
                <a:moveTo>
                  <a:pt x="1828800" y="0"/>
                </a:moveTo>
                <a:lnTo>
                  <a:pt x="0" y="0"/>
                </a:lnTo>
                <a:lnTo>
                  <a:pt x="0" y="463295"/>
                </a:lnTo>
                <a:lnTo>
                  <a:pt x="1828800" y="463295"/>
                </a:lnTo>
                <a:lnTo>
                  <a:pt x="1828800" y="0"/>
                </a:lnTo>
                <a:close/>
              </a:path>
            </a:pathLst>
          </a:custGeom>
          <a:solidFill>
            <a:srgbClr val="383838">
              <a:alpha val="89019"/>
            </a:srgbClr>
          </a:solidFill>
        </p:spPr>
        <p:txBody>
          <a:bodyPr wrap="square" lIns="0" tIns="0" rIns="0" bIns="0" rtlCol="0"/>
          <a:lstStyle/>
          <a:p>
            <a:endParaRPr sz="2400"/>
          </a:p>
        </p:txBody>
      </p:sp>
      <p:sp>
        <p:nvSpPr>
          <p:cNvPr id="8" name="object 8"/>
          <p:cNvSpPr txBox="1"/>
          <p:nvPr/>
        </p:nvSpPr>
        <p:spPr>
          <a:xfrm>
            <a:off x="2252641" y="4161525"/>
            <a:ext cx="574887" cy="333425"/>
          </a:xfrm>
          <a:prstGeom prst="rect">
            <a:avLst/>
          </a:prstGeom>
        </p:spPr>
        <p:txBody>
          <a:bodyPr vert="horz" wrap="square" lIns="0" tIns="0" rIns="0" bIns="0" rtlCol="0">
            <a:spAutoFit/>
          </a:bodyPr>
          <a:lstStyle/>
          <a:p>
            <a:pPr>
              <a:lnSpc>
                <a:spcPts val="2640"/>
              </a:lnSpc>
            </a:pPr>
            <a:r>
              <a:rPr sz="2400" dirty="0">
                <a:solidFill>
                  <a:srgbClr val="99D3FF"/>
                </a:solidFill>
                <a:latin typeface="Wingdings"/>
                <a:cs typeface="Wingdings"/>
              </a:rPr>
              <a:t></a:t>
            </a:r>
            <a:r>
              <a:rPr sz="2400" spc="520" dirty="0">
                <a:solidFill>
                  <a:srgbClr val="99D3FF"/>
                </a:solidFill>
                <a:latin typeface="Times New Roman"/>
                <a:cs typeface="Times New Roman"/>
              </a:rPr>
              <a:t> </a:t>
            </a:r>
            <a:r>
              <a:rPr sz="2400" b="1" spc="-80" dirty="0">
                <a:solidFill>
                  <a:srgbClr val="D9D9D9"/>
                </a:solidFill>
                <a:latin typeface="Calibri"/>
                <a:cs typeface="Calibri"/>
              </a:rPr>
              <a:t>D</a:t>
            </a:r>
            <a:endParaRPr sz="2400">
              <a:latin typeface="Calibri"/>
              <a:cs typeface="Calibri"/>
            </a:endParaRPr>
          </a:p>
        </p:txBody>
      </p:sp>
      <p:sp>
        <p:nvSpPr>
          <p:cNvPr id="9" name="object 9"/>
          <p:cNvSpPr txBox="1"/>
          <p:nvPr/>
        </p:nvSpPr>
        <p:spPr>
          <a:xfrm>
            <a:off x="2827291" y="4206917"/>
            <a:ext cx="1285240" cy="302455"/>
          </a:xfrm>
          <a:prstGeom prst="rect">
            <a:avLst/>
          </a:prstGeom>
        </p:spPr>
        <p:txBody>
          <a:bodyPr vert="horz" wrap="square" lIns="0" tIns="0" rIns="0" bIns="0" rtlCol="0">
            <a:spAutoFit/>
          </a:bodyPr>
          <a:lstStyle/>
          <a:p>
            <a:pPr>
              <a:lnSpc>
                <a:spcPts val="2280"/>
              </a:lnSpc>
            </a:pPr>
            <a:r>
              <a:rPr sz="2400" b="1" spc="-13" dirty="0">
                <a:solidFill>
                  <a:srgbClr val="D9D9D9"/>
                </a:solidFill>
                <a:latin typeface="Calibri"/>
                <a:cs typeface="Calibri"/>
              </a:rPr>
              <a:t>imensions</a:t>
            </a:r>
            <a:endParaRPr sz="2400">
              <a:latin typeface="Calibri"/>
              <a:cs typeface="Calibri"/>
            </a:endParaRPr>
          </a:p>
        </p:txBody>
      </p:sp>
      <p:sp>
        <p:nvSpPr>
          <p:cNvPr id="10" name="object 10"/>
          <p:cNvSpPr/>
          <p:nvPr/>
        </p:nvSpPr>
        <p:spPr>
          <a:xfrm>
            <a:off x="6284977" y="1188719"/>
            <a:ext cx="1363980" cy="1334347"/>
          </a:xfrm>
          <a:custGeom>
            <a:avLst/>
            <a:gdLst/>
            <a:ahLst/>
            <a:cxnLst/>
            <a:rect l="l" t="t" r="r" b="b"/>
            <a:pathLst>
              <a:path w="1022985" h="1000760">
                <a:moveTo>
                  <a:pt x="1022730" y="0"/>
                </a:moveTo>
                <a:lnTo>
                  <a:pt x="0" y="1000506"/>
                </a:lnTo>
              </a:path>
            </a:pathLst>
          </a:custGeom>
          <a:ln w="9144">
            <a:solidFill>
              <a:srgbClr val="00C2FF"/>
            </a:solidFill>
          </a:ln>
        </p:spPr>
        <p:txBody>
          <a:bodyPr wrap="square" lIns="0" tIns="0" rIns="0" bIns="0" rtlCol="0"/>
          <a:lstStyle/>
          <a:p>
            <a:endParaRPr sz="2400"/>
          </a:p>
        </p:txBody>
      </p:sp>
      <p:sp>
        <p:nvSpPr>
          <p:cNvPr id="11" name="object 11"/>
          <p:cNvSpPr txBox="1"/>
          <p:nvPr/>
        </p:nvSpPr>
        <p:spPr>
          <a:xfrm>
            <a:off x="7000663" y="1160100"/>
            <a:ext cx="1893993" cy="539462"/>
          </a:xfrm>
          <a:prstGeom prst="rect">
            <a:avLst/>
          </a:prstGeom>
          <a:noFill/>
        </p:spPr>
        <p:txBody>
          <a:bodyPr vert="horz" wrap="square" lIns="0" tIns="168485" rIns="0" bIns="0" rtlCol="0">
            <a:spAutoFit/>
          </a:bodyPr>
          <a:lstStyle/>
          <a:p>
            <a:pPr marL="504601" indent="-380990">
              <a:spcBef>
                <a:spcPts val="1325"/>
              </a:spcBef>
              <a:buFont typeface="Wingdings"/>
              <a:buChar char=""/>
              <a:tabLst>
                <a:tab pos="504601" algn="l"/>
              </a:tabLst>
            </a:pPr>
            <a:r>
              <a:rPr sz="2400" b="1" spc="-13" dirty="0">
                <a:solidFill>
                  <a:srgbClr val="99D3FF"/>
                </a:solidFill>
                <a:latin typeface="Calibri"/>
                <a:cs typeface="Calibri"/>
              </a:rPr>
              <a:t>Facts</a:t>
            </a:r>
            <a:endParaRPr sz="2400">
              <a:latin typeface="Calibri"/>
              <a:cs typeface="Calibri"/>
            </a:endParaRPr>
          </a:p>
        </p:txBody>
      </p:sp>
      <p:sp>
        <p:nvSpPr>
          <p:cNvPr id="12" name="object 12"/>
          <p:cNvSpPr/>
          <p:nvPr/>
        </p:nvSpPr>
        <p:spPr>
          <a:xfrm>
            <a:off x="1930401" y="2796031"/>
            <a:ext cx="5673513" cy="946573"/>
          </a:xfrm>
          <a:custGeom>
            <a:avLst/>
            <a:gdLst/>
            <a:ahLst/>
            <a:cxnLst/>
            <a:rect l="l" t="t" r="r" b="b"/>
            <a:pathLst>
              <a:path w="4255135" h="709930">
                <a:moveTo>
                  <a:pt x="4254754" y="0"/>
                </a:moveTo>
                <a:lnTo>
                  <a:pt x="0" y="709802"/>
                </a:lnTo>
              </a:path>
            </a:pathLst>
          </a:custGeom>
          <a:ln w="76200">
            <a:solidFill>
              <a:srgbClr val="00C2FF"/>
            </a:solidFill>
          </a:ln>
        </p:spPr>
        <p:txBody>
          <a:bodyPr wrap="square" lIns="0" tIns="0" rIns="0" bIns="0" rtlCol="0"/>
          <a:lstStyle/>
          <a:p>
            <a:endParaRPr sz="2400"/>
          </a:p>
        </p:txBody>
      </p:sp>
      <p:graphicFrame>
        <p:nvGraphicFramePr>
          <p:cNvPr id="13" name="object 13"/>
          <p:cNvGraphicFramePr>
            <a:graphicFrameLocks noGrp="1"/>
          </p:cNvGraphicFramePr>
          <p:nvPr/>
        </p:nvGraphicFramePr>
        <p:xfrm>
          <a:off x="5323671" y="1722796"/>
          <a:ext cx="4470400" cy="1495213"/>
        </p:xfrm>
        <a:graphic>
          <a:graphicData uri="http://schemas.openxmlformats.org/drawingml/2006/table">
            <a:tbl>
              <a:tblPr firstRow="1" bandRow="1">
                <a:tableStyleId>{2D5ABB26-0587-4C30-8999-92F81FD0307C}</a:tableStyleId>
              </a:tblPr>
              <a:tblGrid>
                <a:gridCol w="9144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698500">
                  <a:extLst>
                    <a:ext uri="{9D8B030D-6E8A-4147-A177-3AD203B41FA5}">
                      <a16:colId xmlns:a16="http://schemas.microsoft.com/office/drawing/2014/main" val="20003"/>
                    </a:ext>
                  </a:extLst>
                </a:gridCol>
                <a:gridCol w="698500">
                  <a:extLst>
                    <a:ext uri="{9D8B030D-6E8A-4147-A177-3AD203B41FA5}">
                      <a16:colId xmlns:a16="http://schemas.microsoft.com/office/drawing/2014/main" val="20004"/>
                    </a:ext>
                  </a:extLst>
                </a:gridCol>
              </a:tblGrid>
              <a:tr h="225213">
                <a:tc>
                  <a:txBody>
                    <a:bodyPr/>
                    <a:lstStyle/>
                    <a:p>
                      <a:pPr algn="ctr">
                        <a:lnSpc>
                          <a:spcPts val="1175"/>
                        </a:lnSpc>
                        <a:spcBef>
                          <a:spcPts val="55"/>
                        </a:spcBef>
                      </a:pPr>
                      <a:r>
                        <a:rPr sz="1400" b="1" spc="-10" dirty="0">
                          <a:latin typeface="Arial"/>
                          <a:cs typeface="Arial"/>
                        </a:rPr>
                        <a:t>sales_id</a:t>
                      </a:r>
                      <a:endParaRPr sz="1400">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5080" algn="ctr">
                        <a:lnSpc>
                          <a:spcPts val="1175"/>
                        </a:lnSpc>
                        <a:spcBef>
                          <a:spcPts val="55"/>
                        </a:spcBef>
                      </a:pPr>
                      <a:r>
                        <a:rPr sz="1400" b="1" spc="-10" dirty="0">
                          <a:latin typeface="Arial"/>
                          <a:cs typeface="Arial"/>
                        </a:rPr>
                        <a:t>product_id</a:t>
                      </a:r>
                      <a:endParaRPr sz="1400">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algn="ctr">
                        <a:lnSpc>
                          <a:spcPts val="1175"/>
                        </a:lnSpc>
                        <a:spcBef>
                          <a:spcPts val="55"/>
                        </a:spcBef>
                      </a:pPr>
                      <a:r>
                        <a:rPr sz="1400" b="1" spc="-10" dirty="0">
                          <a:latin typeface="Arial"/>
                          <a:cs typeface="Arial"/>
                        </a:rPr>
                        <a:t>customer_id</a:t>
                      </a:r>
                      <a:endParaRPr sz="1400">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1905" algn="ctr">
                        <a:lnSpc>
                          <a:spcPts val="1175"/>
                        </a:lnSpc>
                        <a:spcBef>
                          <a:spcPts val="55"/>
                        </a:spcBef>
                      </a:pPr>
                      <a:r>
                        <a:rPr sz="1400" b="1" spc="-10" dirty="0">
                          <a:latin typeface="Arial"/>
                          <a:cs typeface="Arial"/>
                        </a:rPr>
                        <a:t>units</a:t>
                      </a:r>
                      <a:endParaRPr sz="1400">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1905" algn="ctr">
                        <a:lnSpc>
                          <a:spcPts val="1175"/>
                        </a:lnSpc>
                        <a:spcBef>
                          <a:spcPts val="55"/>
                        </a:spcBef>
                      </a:pPr>
                      <a:r>
                        <a:rPr sz="1400" b="1" spc="-10" dirty="0">
                          <a:latin typeface="Arial"/>
                          <a:cs typeface="Arial"/>
                        </a:rPr>
                        <a:t>price</a:t>
                      </a:r>
                      <a:endParaRPr sz="1400">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extLst>
                  <a:ext uri="{0D108BD9-81ED-4DB2-BD59-A6C34878D82A}">
                    <a16:rowId xmlns:a16="http://schemas.microsoft.com/office/drawing/2014/main" val="10000"/>
                  </a:ext>
                </a:extLst>
              </a:tr>
              <a:tr h="254000">
                <a:tc>
                  <a:txBody>
                    <a:bodyPr/>
                    <a:lstStyle/>
                    <a:p>
                      <a:pPr algn="ctr">
                        <a:lnSpc>
                          <a:spcPts val="1175"/>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5"/>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ts val="1175"/>
                        </a:lnSpc>
                        <a:spcBef>
                          <a:spcPts val="225"/>
                        </a:spcBef>
                      </a:pPr>
                      <a:r>
                        <a:rPr sz="1400" spc="-25" dirty="0">
                          <a:latin typeface="Arial MT"/>
                          <a:cs typeface="Arial MT"/>
                        </a:rPr>
                        <a:t>23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5"/>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5"/>
                        </a:lnSpc>
                        <a:spcBef>
                          <a:spcPts val="225"/>
                        </a:spcBef>
                      </a:pPr>
                      <a:r>
                        <a:rPr sz="1400" spc="-20" dirty="0">
                          <a:latin typeface="Arial MT"/>
                          <a:cs typeface="Arial MT"/>
                        </a:rPr>
                        <a:t>2.99</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ts val="1175"/>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5"/>
                        </a:lnSpc>
                        <a:spcBef>
                          <a:spcPts val="225"/>
                        </a:spcBef>
                      </a:pPr>
                      <a:r>
                        <a:rPr sz="1400" spc="-50" dirty="0">
                          <a:latin typeface="Arial MT"/>
                          <a:cs typeface="Arial MT"/>
                        </a:rPr>
                        <a:t>5</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ts val="1175"/>
                        </a:lnSpc>
                        <a:spcBef>
                          <a:spcPts val="225"/>
                        </a:spcBef>
                      </a:pPr>
                      <a:r>
                        <a:rPr sz="1400" spc="-25" dirty="0">
                          <a:latin typeface="Arial MT"/>
                          <a:cs typeface="Arial MT"/>
                        </a:rPr>
                        <a:t>13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5"/>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5"/>
                        </a:lnSpc>
                        <a:spcBef>
                          <a:spcPts val="225"/>
                        </a:spcBef>
                      </a:pPr>
                      <a:r>
                        <a:rPr sz="1400" spc="-20" dirty="0">
                          <a:latin typeface="Arial MT"/>
                          <a:cs typeface="Arial MT"/>
                        </a:rPr>
                        <a:t>1.99</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ts val="1175"/>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5"/>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5"/>
                        </a:lnSpc>
                        <a:spcBef>
                          <a:spcPts val="225"/>
                        </a:spcBef>
                      </a:pPr>
                      <a:r>
                        <a:rPr sz="1400" spc="-50" dirty="0">
                          <a:latin typeface="Arial MT"/>
                          <a:cs typeface="Arial MT"/>
                        </a:rPr>
                        <a:t>7</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5"/>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5"/>
                        </a:lnSpc>
                        <a:spcBef>
                          <a:spcPts val="225"/>
                        </a:spcBef>
                      </a:pPr>
                      <a:r>
                        <a:rPr sz="1400" spc="-20" dirty="0">
                          <a:latin typeface="Arial MT"/>
                          <a:cs typeface="Arial MT"/>
                        </a:rPr>
                        <a:t>3.49</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algn="ctr">
                        <a:lnSpc>
                          <a:spcPts val="1175"/>
                        </a:lnSpc>
                        <a:spcBef>
                          <a:spcPts val="225"/>
                        </a:spcBef>
                      </a:pPr>
                      <a:r>
                        <a:rPr sz="1400" spc="-50" dirty="0">
                          <a:latin typeface="Arial MT"/>
                          <a:cs typeface="Arial MT"/>
                        </a:rPr>
                        <a:t>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5"/>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ts val="1175"/>
                        </a:lnSpc>
                        <a:spcBef>
                          <a:spcPts val="225"/>
                        </a:spcBef>
                      </a:pPr>
                      <a:r>
                        <a:rPr sz="1400" spc="-25" dirty="0">
                          <a:latin typeface="Arial MT"/>
                          <a:cs typeface="Arial MT"/>
                        </a:rPr>
                        <a:t>16</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5"/>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5"/>
                        </a:lnSpc>
                        <a:spcBef>
                          <a:spcPts val="225"/>
                        </a:spcBef>
                      </a:pPr>
                      <a:r>
                        <a:rPr sz="1400" spc="-20" dirty="0">
                          <a:latin typeface="Arial MT"/>
                          <a:cs typeface="Arial MT"/>
                        </a:rPr>
                        <a:t>2.29</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algn="ctr">
                        <a:lnSpc>
                          <a:spcPts val="1175"/>
                        </a:lnSpc>
                        <a:spcBef>
                          <a:spcPts val="225"/>
                        </a:spcBef>
                      </a:pPr>
                      <a:r>
                        <a:rPr sz="1400" spc="-50" dirty="0">
                          <a:latin typeface="Arial MT"/>
                          <a:cs typeface="Arial MT"/>
                        </a:rPr>
                        <a:t>5</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5"/>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ts val="1175"/>
                        </a:lnSpc>
                        <a:spcBef>
                          <a:spcPts val="225"/>
                        </a:spcBef>
                      </a:pPr>
                      <a:r>
                        <a:rPr sz="1400" spc="-25" dirty="0">
                          <a:latin typeface="Arial MT"/>
                          <a:cs typeface="Arial MT"/>
                        </a:rPr>
                        <a:t>13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5"/>
                        </a:lnSpc>
                        <a:spcBef>
                          <a:spcPts val="225"/>
                        </a:spcBef>
                      </a:pPr>
                      <a:r>
                        <a:rPr sz="1400" spc="-50" dirty="0">
                          <a:latin typeface="Arial MT"/>
                          <a:cs typeface="Arial MT"/>
                        </a:rPr>
                        <a:t>5</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5"/>
                        </a:lnSpc>
                        <a:spcBef>
                          <a:spcPts val="225"/>
                        </a:spcBef>
                      </a:pPr>
                      <a:r>
                        <a:rPr sz="1400" spc="-20" dirty="0">
                          <a:latin typeface="Arial MT"/>
                          <a:cs typeface="Arial MT"/>
                        </a:rPr>
                        <a:t>1.49</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graphicFrame>
        <p:nvGraphicFramePr>
          <p:cNvPr id="14" name="object 14"/>
          <p:cNvGraphicFramePr>
            <a:graphicFrameLocks noGrp="1"/>
          </p:cNvGraphicFramePr>
          <p:nvPr/>
        </p:nvGraphicFramePr>
        <p:xfrm>
          <a:off x="1591563" y="3626780"/>
          <a:ext cx="5936825" cy="1495213"/>
        </p:xfrm>
        <a:graphic>
          <a:graphicData uri="http://schemas.openxmlformats.org/drawingml/2006/table">
            <a:tbl>
              <a:tblPr firstRow="1" bandRow="1">
                <a:tableStyleId>{2D5ABB26-0587-4C30-8999-92F81FD0307C}</a:tableStyleId>
              </a:tblPr>
              <a:tblGrid>
                <a:gridCol w="1263225">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665393">
                  <a:extLst>
                    <a:ext uri="{9D8B030D-6E8A-4147-A177-3AD203B41FA5}">
                      <a16:colId xmlns:a16="http://schemas.microsoft.com/office/drawing/2014/main" val="20002"/>
                    </a:ext>
                  </a:extLst>
                </a:gridCol>
                <a:gridCol w="1484207">
                  <a:extLst>
                    <a:ext uri="{9D8B030D-6E8A-4147-A177-3AD203B41FA5}">
                      <a16:colId xmlns:a16="http://schemas.microsoft.com/office/drawing/2014/main" val="20003"/>
                    </a:ext>
                  </a:extLst>
                </a:gridCol>
              </a:tblGrid>
              <a:tr h="225213">
                <a:tc>
                  <a:txBody>
                    <a:bodyPr/>
                    <a:lstStyle/>
                    <a:p>
                      <a:pPr marL="635" algn="ctr">
                        <a:lnSpc>
                          <a:spcPts val="1170"/>
                        </a:lnSpc>
                        <a:spcBef>
                          <a:spcPts val="65"/>
                        </a:spcBef>
                      </a:pPr>
                      <a:r>
                        <a:rPr sz="1400" b="1" spc="-10" dirty="0">
                          <a:latin typeface="Arial"/>
                          <a:cs typeface="Arial"/>
                        </a:rPr>
                        <a:t>product_id</a:t>
                      </a:r>
                      <a:endParaRPr sz="1400">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1270" algn="ctr">
                        <a:lnSpc>
                          <a:spcPts val="1170"/>
                        </a:lnSpc>
                        <a:spcBef>
                          <a:spcPts val="65"/>
                        </a:spcBef>
                      </a:pPr>
                      <a:r>
                        <a:rPr sz="1400" b="1" spc="-20" dirty="0">
                          <a:latin typeface="Arial"/>
                          <a:cs typeface="Arial"/>
                        </a:rPr>
                        <a:t>name</a:t>
                      </a:r>
                      <a:endParaRPr sz="1400">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algn="ctr">
                        <a:lnSpc>
                          <a:spcPts val="1170"/>
                        </a:lnSpc>
                        <a:spcBef>
                          <a:spcPts val="65"/>
                        </a:spcBef>
                      </a:pPr>
                      <a:r>
                        <a:rPr sz="1400" b="1" spc="-10" dirty="0">
                          <a:latin typeface="Arial"/>
                          <a:cs typeface="Arial"/>
                        </a:rPr>
                        <a:t>category_id</a:t>
                      </a:r>
                      <a:endParaRPr sz="1400">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4445" algn="ctr">
                        <a:lnSpc>
                          <a:spcPts val="1170"/>
                        </a:lnSpc>
                        <a:spcBef>
                          <a:spcPts val="65"/>
                        </a:spcBef>
                      </a:pPr>
                      <a:r>
                        <a:rPr sz="1400" b="1" spc="-10" dirty="0">
                          <a:latin typeface="Arial"/>
                          <a:cs typeface="Arial"/>
                        </a:rPr>
                        <a:t>sub_category</a:t>
                      </a:r>
                      <a:endParaRPr sz="1400">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extLst>
                  <a:ext uri="{0D108BD9-81ED-4DB2-BD59-A6C34878D82A}">
                    <a16:rowId xmlns:a16="http://schemas.microsoft.com/office/drawing/2014/main" val="10000"/>
                  </a:ext>
                </a:extLst>
              </a:tr>
              <a:tr h="254000">
                <a:tc>
                  <a:txBody>
                    <a:bodyPr/>
                    <a:lstStyle/>
                    <a:p>
                      <a:pPr algn="ctr">
                        <a:lnSpc>
                          <a:spcPts val="1170"/>
                        </a:lnSpc>
                        <a:spcBef>
                          <a:spcPts val="229"/>
                        </a:spcBef>
                      </a:pPr>
                      <a:r>
                        <a:rPr sz="1400" spc="-50" dirty="0">
                          <a:latin typeface="Arial MT"/>
                          <a:cs typeface="Arial MT"/>
                        </a:rPr>
                        <a:t>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Chili</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50" dirty="0">
                          <a:latin typeface="Arial MT"/>
                          <a:cs typeface="Arial MT"/>
                        </a:rPr>
                        <a:t>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9"/>
                        </a:spcBef>
                      </a:pPr>
                      <a:r>
                        <a:rPr sz="1400" spc="-10" dirty="0">
                          <a:latin typeface="Arial MT"/>
                          <a:cs typeface="Arial MT"/>
                        </a:rPr>
                        <a:t>Spices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ts val="1170"/>
                        </a:lnSpc>
                        <a:spcBef>
                          <a:spcPts val="229"/>
                        </a:spcBef>
                      </a:pPr>
                      <a:r>
                        <a:rPr sz="1400" spc="-50" dirty="0">
                          <a:latin typeface="Arial MT"/>
                          <a:cs typeface="Arial MT"/>
                        </a:rPr>
                        <a:t>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10" dirty="0">
                          <a:latin typeface="Arial MT"/>
                          <a:cs typeface="Arial MT"/>
                        </a:rPr>
                        <a:t>Garlic</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50" dirty="0">
                          <a:latin typeface="Arial MT"/>
                          <a:cs typeface="Arial MT"/>
                        </a:rPr>
                        <a:t>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Vegetable</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ts val="117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10" dirty="0">
                          <a:latin typeface="Arial MT"/>
                          <a:cs typeface="Arial MT"/>
                        </a:rPr>
                        <a:t>Banana</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50" dirty="0">
                          <a:latin typeface="Arial MT"/>
                          <a:cs typeface="Arial MT"/>
                        </a:rPr>
                        <a:t>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ts val="1170"/>
                        </a:lnSpc>
                        <a:spcBef>
                          <a:spcPts val="229"/>
                        </a:spcBef>
                      </a:pPr>
                      <a:r>
                        <a:rPr sz="1400" spc="-10" dirty="0">
                          <a:latin typeface="Arial MT"/>
                          <a:cs typeface="Arial MT"/>
                        </a:rPr>
                        <a:t>Fruits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algn="ctr">
                        <a:lnSpc>
                          <a:spcPts val="1170"/>
                        </a:lnSpc>
                        <a:spcBef>
                          <a:spcPts val="225"/>
                        </a:spcBef>
                      </a:pPr>
                      <a:r>
                        <a:rPr sz="1400" spc="-50" dirty="0">
                          <a:latin typeface="Arial MT"/>
                          <a:cs typeface="Arial MT"/>
                        </a:rPr>
                        <a:t>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10" dirty="0">
                          <a:latin typeface="Arial MT"/>
                          <a:cs typeface="Arial MT"/>
                        </a:rPr>
                        <a:t>Chocolate</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ts val="1170"/>
                        </a:lnSpc>
                        <a:spcBef>
                          <a:spcPts val="225"/>
                        </a:spcBef>
                      </a:pPr>
                      <a:r>
                        <a:rPr sz="1400" spc="-10" dirty="0">
                          <a:latin typeface="Arial MT"/>
                          <a:cs typeface="Arial MT"/>
                        </a:rPr>
                        <a:t>Sweets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algn="ctr">
                        <a:lnSpc>
                          <a:spcPts val="1170"/>
                        </a:lnSpc>
                        <a:spcBef>
                          <a:spcPts val="229"/>
                        </a:spcBef>
                      </a:pPr>
                      <a:r>
                        <a:rPr sz="1400" spc="-50" dirty="0">
                          <a:latin typeface="Arial MT"/>
                          <a:cs typeface="Arial MT"/>
                        </a:rPr>
                        <a:t>5</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10" dirty="0">
                          <a:latin typeface="Arial MT"/>
                          <a:cs typeface="Arial MT"/>
                        </a:rPr>
                        <a:t>Chips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ts val="1170"/>
                        </a:lnSpc>
                        <a:spcBef>
                          <a:spcPts val="229"/>
                        </a:spcBef>
                      </a:pPr>
                      <a:r>
                        <a:rPr sz="1400" spc="-10" dirty="0">
                          <a:latin typeface="Arial MT"/>
                          <a:cs typeface="Arial MT"/>
                        </a:rPr>
                        <a:t>Snacks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graphicFrame>
        <p:nvGraphicFramePr>
          <p:cNvPr id="15" name="object 15"/>
          <p:cNvGraphicFramePr>
            <a:graphicFrameLocks noGrp="1"/>
          </p:cNvGraphicFramePr>
          <p:nvPr/>
        </p:nvGraphicFramePr>
        <p:xfrm>
          <a:off x="785435" y="5598177"/>
          <a:ext cx="2935393" cy="988060"/>
        </p:xfrm>
        <a:graphic>
          <a:graphicData uri="http://schemas.openxmlformats.org/drawingml/2006/table">
            <a:tbl>
              <a:tblPr firstRow="1" bandRow="1">
                <a:tableStyleId>{2D5ABB26-0587-4C30-8999-92F81FD0307C}</a:tableStyleId>
              </a:tblPr>
              <a:tblGrid>
                <a:gridCol w="1320800">
                  <a:extLst>
                    <a:ext uri="{9D8B030D-6E8A-4147-A177-3AD203B41FA5}">
                      <a16:colId xmlns:a16="http://schemas.microsoft.com/office/drawing/2014/main" val="20000"/>
                    </a:ext>
                  </a:extLst>
                </a:gridCol>
                <a:gridCol w="1614593">
                  <a:extLst>
                    <a:ext uri="{9D8B030D-6E8A-4147-A177-3AD203B41FA5}">
                      <a16:colId xmlns:a16="http://schemas.microsoft.com/office/drawing/2014/main" val="20001"/>
                    </a:ext>
                  </a:extLst>
                </a:gridCol>
              </a:tblGrid>
              <a:tr h="226060">
                <a:tc>
                  <a:txBody>
                    <a:bodyPr/>
                    <a:lstStyle/>
                    <a:p>
                      <a:pPr algn="ctr">
                        <a:lnSpc>
                          <a:spcPts val="1170"/>
                        </a:lnSpc>
                        <a:spcBef>
                          <a:spcPts val="65"/>
                        </a:spcBef>
                      </a:pPr>
                      <a:r>
                        <a:rPr sz="1400" b="1" spc="-10" dirty="0">
                          <a:latin typeface="Arial"/>
                          <a:cs typeface="Arial"/>
                        </a:rPr>
                        <a:t>category_id</a:t>
                      </a:r>
                      <a:endParaRPr sz="1400">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3810" algn="ctr">
                        <a:lnSpc>
                          <a:spcPts val="1170"/>
                        </a:lnSpc>
                        <a:spcBef>
                          <a:spcPts val="65"/>
                        </a:spcBef>
                      </a:pPr>
                      <a:r>
                        <a:rPr sz="1400" b="1" spc="-10" dirty="0">
                          <a:latin typeface="Arial"/>
                          <a:cs typeface="Arial"/>
                        </a:rPr>
                        <a:t>category</a:t>
                      </a:r>
                      <a:endParaRPr sz="1400">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extLst>
                  <a:ext uri="{0D108BD9-81ED-4DB2-BD59-A6C34878D82A}">
                    <a16:rowId xmlns:a16="http://schemas.microsoft.com/office/drawing/2014/main" val="10000"/>
                  </a:ext>
                </a:extLst>
              </a:tr>
              <a:tr h="254000">
                <a:tc>
                  <a:txBody>
                    <a:bodyPr/>
                    <a:lstStyle/>
                    <a:p>
                      <a:pPr algn="ctr">
                        <a:lnSpc>
                          <a:spcPts val="1170"/>
                        </a:lnSpc>
                        <a:spcBef>
                          <a:spcPts val="229"/>
                        </a:spcBef>
                      </a:pPr>
                      <a:r>
                        <a:rPr sz="1400" spc="-50" dirty="0">
                          <a:latin typeface="Arial MT"/>
                          <a:cs typeface="Arial MT"/>
                        </a:rPr>
                        <a:t>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9"/>
                        </a:spcBef>
                      </a:pPr>
                      <a:r>
                        <a:rPr sz="1400" spc="-10" dirty="0">
                          <a:latin typeface="Arial MT"/>
                          <a:cs typeface="Arial MT"/>
                        </a:rPr>
                        <a:t>Herbs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ts val="1170"/>
                        </a:lnSpc>
                        <a:spcBef>
                          <a:spcPts val="229"/>
                        </a:spcBef>
                      </a:pPr>
                      <a:r>
                        <a:rPr sz="1400" spc="-50" dirty="0">
                          <a:latin typeface="Arial MT"/>
                          <a:cs typeface="Arial MT"/>
                        </a:rPr>
                        <a:t>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dirty="0">
                          <a:latin typeface="Arial MT"/>
                          <a:cs typeface="Arial MT"/>
                        </a:rPr>
                        <a:t>Fruits</a:t>
                      </a:r>
                      <a:r>
                        <a:rPr sz="1400" spc="-30" dirty="0">
                          <a:latin typeface="Arial MT"/>
                          <a:cs typeface="Arial MT"/>
                        </a:rPr>
                        <a:t> </a:t>
                      </a:r>
                      <a:r>
                        <a:rPr sz="1400" dirty="0">
                          <a:latin typeface="Arial MT"/>
                          <a:cs typeface="Arial MT"/>
                        </a:rPr>
                        <a:t>&amp;</a:t>
                      </a:r>
                      <a:r>
                        <a:rPr sz="1400" spc="-25" dirty="0">
                          <a:latin typeface="Arial MT"/>
                          <a:cs typeface="Arial MT"/>
                        </a:rPr>
                        <a:t> </a:t>
                      </a:r>
                      <a:r>
                        <a:rPr sz="1400" spc="-10" dirty="0">
                          <a:latin typeface="Arial MT"/>
                          <a:cs typeface="Arial MT"/>
                        </a:rPr>
                        <a:t>Vegetables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ts val="117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dirty="0">
                          <a:latin typeface="Arial MT"/>
                          <a:cs typeface="Arial MT"/>
                        </a:rPr>
                        <a:t>Sweets</a:t>
                      </a:r>
                      <a:r>
                        <a:rPr sz="1400" spc="-35" dirty="0">
                          <a:latin typeface="Arial MT"/>
                          <a:cs typeface="Arial MT"/>
                        </a:rPr>
                        <a:t> </a:t>
                      </a:r>
                      <a:r>
                        <a:rPr sz="1400" dirty="0">
                          <a:latin typeface="Arial MT"/>
                          <a:cs typeface="Arial MT"/>
                        </a:rPr>
                        <a:t>&amp;</a:t>
                      </a:r>
                      <a:r>
                        <a:rPr sz="1400" spc="-15" dirty="0">
                          <a:latin typeface="Arial MT"/>
                          <a:cs typeface="Arial MT"/>
                        </a:rPr>
                        <a:t> </a:t>
                      </a:r>
                      <a:r>
                        <a:rPr sz="1400" spc="-10" dirty="0">
                          <a:latin typeface="Arial MT"/>
                          <a:cs typeface="Arial MT"/>
                        </a:rPr>
                        <a:t>Snacks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grpSp>
        <p:nvGrpSpPr>
          <p:cNvPr id="16" name="object 16"/>
          <p:cNvGrpSpPr/>
          <p:nvPr/>
        </p:nvGrpSpPr>
        <p:grpSpPr>
          <a:xfrm>
            <a:off x="7841487" y="4250943"/>
            <a:ext cx="3048000" cy="1221740"/>
            <a:chOff x="5881115" y="3188207"/>
            <a:chExt cx="2286000" cy="916305"/>
          </a:xfrm>
        </p:grpSpPr>
        <p:sp>
          <p:nvSpPr>
            <p:cNvPr id="17" name="object 17"/>
            <p:cNvSpPr/>
            <p:nvPr/>
          </p:nvSpPr>
          <p:spPr>
            <a:xfrm>
              <a:off x="5881115" y="3188207"/>
              <a:ext cx="2057400" cy="463550"/>
            </a:xfrm>
            <a:custGeom>
              <a:avLst/>
              <a:gdLst/>
              <a:ahLst/>
              <a:cxnLst/>
              <a:rect l="l" t="t" r="r" b="b"/>
              <a:pathLst>
                <a:path w="2057400" h="463550">
                  <a:moveTo>
                    <a:pt x="2057399" y="0"/>
                  </a:moveTo>
                  <a:lnTo>
                    <a:pt x="0" y="0"/>
                  </a:lnTo>
                  <a:lnTo>
                    <a:pt x="0" y="463296"/>
                  </a:lnTo>
                  <a:lnTo>
                    <a:pt x="2057399" y="463296"/>
                  </a:lnTo>
                  <a:lnTo>
                    <a:pt x="2057399" y="0"/>
                  </a:lnTo>
                  <a:close/>
                </a:path>
              </a:pathLst>
            </a:custGeom>
            <a:noFill/>
          </p:spPr>
          <p:txBody>
            <a:bodyPr wrap="square" lIns="0" tIns="0" rIns="0" bIns="0" rtlCol="0"/>
            <a:lstStyle/>
            <a:p>
              <a:endParaRPr sz="2400"/>
            </a:p>
          </p:txBody>
        </p:sp>
        <p:sp>
          <p:nvSpPr>
            <p:cNvPr id="18" name="object 18"/>
            <p:cNvSpPr/>
            <p:nvPr/>
          </p:nvSpPr>
          <p:spPr>
            <a:xfrm>
              <a:off x="6109715" y="3640835"/>
              <a:ext cx="2057400" cy="463550"/>
            </a:xfrm>
            <a:custGeom>
              <a:avLst/>
              <a:gdLst/>
              <a:ahLst/>
              <a:cxnLst/>
              <a:rect l="l" t="t" r="r" b="b"/>
              <a:pathLst>
                <a:path w="2057400" h="463550">
                  <a:moveTo>
                    <a:pt x="2057399" y="0"/>
                  </a:moveTo>
                  <a:lnTo>
                    <a:pt x="0" y="0"/>
                  </a:lnTo>
                  <a:lnTo>
                    <a:pt x="0" y="463295"/>
                  </a:lnTo>
                  <a:lnTo>
                    <a:pt x="2057399" y="463295"/>
                  </a:lnTo>
                  <a:lnTo>
                    <a:pt x="2057399" y="0"/>
                  </a:lnTo>
                  <a:close/>
                </a:path>
              </a:pathLst>
            </a:custGeom>
            <a:solidFill>
              <a:srgbClr val="99D3FF">
                <a:alpha val="89019"/>
              </a:srgbClr>
            </a:solidFill>
          </p:spPr>
          <p:txBody>
            <a:bodyPr wrap="square" lIns="0" tIns="0" rIns="0" bIns="0" rtlCol="0"/>
            <a:lstStyle/>
            <a:p>
              <a:endParaRPr sz="2400"/>
            </a:p>
          </p:txBody>
        </p:sp>
      </p:grpSp>
      <p:sp>
        <p:nvSpPr>
          <p:cNvPr id="19" name="object 19"/>
          <p:cNvSpPr txBox="1"/>
          <p:nvPr/>
        </p:nvSpPr>
        <p:spPr>
          <a:xfrm>
            <a:off x="7947660" y="4404360"/>
            <a:ext cx="2709333" cy="999419"/>
          </a:xfrm>
          <a:prstGeom prst="rect">
            <a:avLst/>
          </a:prstGeom>
        </p:spPr>
        <p:txBody>
          <a:bodyPr vert="horz" wrap="square" lIns="0" tIns="16933" rIns="0" bIns="0" rtlCol="0">
            <a:spAutoFit/>
          </a:bodyPr>
          <a:lstStyle/>
          <a:p>
            <a:pPr marL="16933">
              <a:spcBef>
                <a:spcPts val="133"/>
              </a:spcBef>
            </a:pPr>
            <a:r>
              <a:rPr sz="2400" b="1" dirty="0">
                <a:solidFill>
                  <a:srgbClr val="99D3FF"/>
                </a:solidFill>
                <a:latin typeface="Calibri"/>
                <a:cs typeface="Calibri"/>
              </a:rPr>
              <a:t>Snowflake</a:t>
            </a:r>
            <a:r>
              <a:rPr sz="2400" b="1" spc="-73" dirty="0">
                <a:solidFill>
                  <a:srgbClr val="99D3FF"/>
                </a:solidFill>
                <a:latin typeface="Calibri"/>
                <a:cs typeface="Calibri"/>
              </a:rPr>
              <a:t> </a:t>
            </a:r>
            <a:r>
              <a:rPr sz="2400" b="1" spc="-13" dirty="0">
                <a:solidFill>
                  <a:srgbClr val="99D3FF"/>
                </a:solidFill>
                <a:latin typeface="Calibri"/>
                <a:cs typeface="Calibri"/>
              </a:rPr>
              <a:t>schema</a:t>
            </a:r>
            <a:endParaRPr sz="2400">
              <a:latin typeface="Calibri"/>
              <a:cs typeface="Calibri"/>
            </a:endParaRPr>
          </a:p>
          <a:p>
            <a:pPr marL="320879">
              <a:spcBef>
                <a:spcPts val="1867"/>
              </a:spcBef>
            </a:pPr>
            <a:r>
              <a:rPr sz="2400" b="1" dirty="0">
                <a:solidFill>
                  <a:srgbClr val="585858"/>
                </a:solidFill>
                <a:latin typeface="Calibri"/>
                <a:cs typeface="Calibri"/>
              </a:rPr>
              <a:t>(More)</a:t>
            </a:r>
            <a:r>
              <a:rPr sz="2400" b="1" spc="-53" dirty="0">
                <a:solidFill>
                  <a:srgbClr val="585858"/>
                </a:solidFill>
                <a:latin typeface="Calibri"/>
                <a:cs typeface="Calibri"/>
              </a:rPr>
              <a:t> </a:t>
            </a:r>
            <a:r>
              <a:rPr sz="2400" b="1" spc="-13" dirty="0">
                <a:solidFill>
                  <a:srgbClr val="585858"/>
                </a:solidFill>
                <a:latin typeface="Calibri"/>
                <a:cs typeface="Calibri"/>
              </a:rPr>
              <a:t>normalized</a:t>
            </a:r>
            <a:endParaRPr sz="2400">
              <a:latin typeface="Calibri"/>
              <a:cs typeface="Calibri"/>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24480" y="322411"/>
            <a:ext cx="6705600" cy="674608"/>
          </a:xfrm>
          <a:prstGeom prst="rect">
            <a:avLst/>
          </a:prstGeom>
        </p:spPr>
        <p:txBody>
          <a:bodyPr vert="horz" wrap="square" lIns="0" tIns="17780" rIns="0" bIns="0" rtlCol="0" anchor="ctr">
            <a:spAutoFit/>
          </a:bodyPr>
          <a:lstStyle/>
          <a:p>
            <a:pPr marL="1660272">
              <a:lnSpc>
                <a:spcPct val="100000"/>
              </a:lnSpc>
              <a:spcBef>
                <a:spcPts val="140"/>
              </a:spcBef>
            </a:pPr>
            <a:r>
              <a:rPr dirty="0"/>
              <a:t>Snowflake</a:t>
            </a:r>
            <a:r>
              <a:rPr spc="-13" dirty="0"/>
              <a:t> schema</a:t>
            </a:r>
          </a:p>
        </p:txBody>
      </p:sp>
      <p:sp>
        <p:nvSpPr>
          <p:cNvPr id="3" name="object 3"/>
          <p:cNvSpPr txBox="1"/>
          <p:nvPr/>
        </p:nvSpPr>
        <p:spPr>
          <a:xfrm>
            <a:off x="7014972" y="2193881"/>
            <a:ext cx="4129193" cy="31410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More</a:t>
            </a:r>
            <a:r>
              <a:rPr sz="2400" b="1" spc="-47" dirty="0">
                <a:solidFill>
                  <a:srgbClr val="D9D9D9"/>
                </a:solidFill>
                <a:latin typeface="Calibri"/>
                <a:cs typeface="Calibri"/>
              </a:rPr>
              <a:t> </a:t>
            </a:r>
            <a:r>
              <a:rPr sz="2400" b="1" spc="-13" dirty="0">
                <a:solidFill>
                  <a:srgbClr val="D9D9D9"/>
                </a:solidFill>
                <a:latin typeface="Calibri"/>
                <a:cs typeface="Calibri"/>
              </a:rPr>
              <a:t>complex</a:t>
            </a:r>
            <a:endParaRPr sz="2400">
              <a:latin typeface="Calibri"/>
              <a:cs typeface="Calibri"/>
            </a:endParaRPr>
          </a:p>
          <a:p>
            <a:pPr>
              <a:spcBef>
                <a:spcPts val="727"/>
              </a:spcBef>
              <a:buClr>
                <a:srgbClr val="99D3FF"/>
              </a:buClr>
              <a:buFont typeface="Wingdings"/>
              <a:buChar char=""/>
            </a:pPr>
            <a:endParaRPr sz="2400">
              <a:latin typeface="Calibri"/>
              <a:cs typeface="Calibri"/>
            </a:endParaRPr>
          </a:p>
          <a:p>
            <a:pPr marL="397923" indent="-380990">
              <a:buClr>
                <a:srgbClr val="99D3FF"/>
              </a:buClr>
              <a:buFont typeface="Wingdings"/>
              <a:buChar char=""/>
              <a:tabLst>
                <a:tab pos="397923" algn="l"/>
              </a:tabLst>
            </a:pPr>
            <a:r>
              <a:rPr sz="2400" b="1" dirty="0">
                <a:solidFill>
                  <a:srgbClr val="D9D9D9"/>
                </a:solidFill>
                <a:latin typeface="Calibri"/>
                <a:cs typeface="Calibri"/>
              </a:rPr>
              <a:t>More</a:t>
            </a:r>
            <a:r>
              <a:rPr sz="2400" b="1" spc="-33" dirty="0">
                <a:solidFill>
                  <a:srgbClr val="D9D9D9"/>
                </a:solidFill>
                <a:latin typeface="Calibri"/>
                <a:cs typeface="Calibri"/>
              </a:rPr>
              <a:t> </a:t>
            </a:r>
            <a:r>
              <a:rPr sz="2400" b="1" spc="-13" dirty="0">
                <a:solidFill>
                  <a:srgbClr val="D9D9D9"/>
                </a:solidFill>
                <a:latin typeface="Calibri"/>
                <a:cs typeface="Calibri"/>
              </a:rPr>
              <a:t>joins</a:t>
            </a:r>
            <a:endParaRPr sz="2400">
              <a:latin typeface="Calibri"/>
              <a:cs typeface="Calibri"/>
            </a:endParaRPr>
          </a:p>
          <a:p>
            <a:pPr marL="398770">
              <a:spcBef>
                <a:spcPts val="1440"/>
              </a:spcBef>
            </a:pPr>
            <a:r>
              <a:rPr sz="2400" b="1" dirty="0">
                <a:solidFill>
                  <a:srgbClr val="D9D9D9"/>
                </a:solidFill>
                <a:latin typeface="Calibri"/>
                <a:cs typeface="Calibri"/>
              </a:rPr>
              <a:t>(more</a:t>
            </a:r>
            <a:r>
              <a:rPr sz="2400" b="1" spc="-47" dirty="0">
                <a:solidFill>
                  <a:srgbClr val="D9D9D9"/>
                </a:solidFill>
                <a:latin typeface="Calibri"/>
                <a:cs typeface="Calibri"/>
              </a:rPr>
              <a:t> </a:t>
            </a:r>
            <a:r>
              <a:rPr sz="2400" b="1" dirty="0">
                <a:solidFill>
                  <a:srgbClr val="D9D9D9"/>
                </a:solidFill>
                <a:latin typeface="Calibri"/>
                <a:cs typeface="Calibri"/>
              </a:rPr>
              <a:t>complex</a:t>
            </a:r>
            <a:r>
              <a:rPr sz="2400" b="1" spc="-27" dirty="0">
                <a:solidFill>
                  <a:srgbClr val="D9D9D9"/>
                </a:solidFill>
                <a:latin typeface="Calibri"/>
                <a:cs typeface="Calibri"/>
              </a:rPr>
              <a:t> </a:t>
            </a:r>
            <a:r>
              <a:rPr sz="2400" b="1" dirty="0">
                <a:solidFill>
                  <a:srgbClr val="D9D9D9"/>
                </a:solidFill>
                <a:latin typeface="Calibri"/>
                <a:cs typeface="Calibri"/>
              </a:rPr>
              <a:t>SQL</a:t>
            </a:r>
            <a:r>
              <a:rPr sz="2400" b="1" spc="-33" dirty="0">
                <a:solidFill>
                  <a:srgbClr val="D9D9D9"/>
                </a:solidFill>
                <a:latin typeface="Calibri"/>
                <a:cs typeface="Calibri"/>
              </a:rPr>
              <a:t> </a:t>
            </a:r>
            <a:r>
              <a:rPr sz="2400" b="1" spc="-13" dirty="0">
                <a:solidFill>
                  <a:srgbClr val="D9D9D9"/>
                </a:solidFill>
                <a:latin typeface="Calibri"/>
                <a:cs typeface="Calibri"/>
              </a:rPr>
              <a:t>queries)</a:t>
            </a:r>
            <a:endParaRPr sz="2400">
              <a:latin typeface="Calibri"/>
              <a:cs typeface="Calibri"/>
            </a:endParaRPr>
          </a:p>
          <a:p>
            <a:pPr>
              <a:spcBef>
                <a:spcPts val="733"/>
              </a:spcBef>
            </a:pPr>
            <a:endParaRPr sz="2400">
              <a:latin typeface="Calibri"/>
              <a:cs typeface="Calibri"/>
            </a:endParaRPr>
          </a:p>
          <a:p>
            <a:pPr marL="397923" indent="-380990">
              <a:buClr>
                <a:srgbClr val="99D3FF"/>
              </a:buClr>
              <a:buFont typeface="Wingdings"/>
              <a:buChar char=""/>
              <a:tabLst>
                <a:tab pos="397923" algn="l"/>
              </a:tabLst>
            </a:pPr>
            <a:r>
              <a:rPr sz="2400" b="1" dirty="0">
                <a:solidFill>
                  <a:srgbClr val="D9D9D9"/>
                </a:solidFill>
                <a:latin typeface="Calibri"/>
                <a:cs typeface="Calibri"/>
              </a:rPr>
              <a:t>Less</a:t>
            </a:r>
            <a:r>
              <a:rPr sz="2400" b="1" spc="-47" dirty="0">
                <a:solidFill>
                  <a:srgbClr val="D9D9D9"/>
                </a:solidFill>
                <a:latin typeface="Calibri"/>
                <a:cs typeface="Calibri"/>
              </a:rPr>
              <a:t> </a:t>
            </a:r>
            <a:r>
              <a:rPr sz="2400" b="1" dirty="0">
                <a:solidFill>
                  <a:srgbClr val="D9D9D9"/>
                </a:solidFill>
                <a:latin typeface="Calibri"/>
                <a:cs typeface="Calibri"/>
              </a:rPr>
              <a:t>performance</a:t>
            </a:r>
            <a:r>
              <a:rPr sz="2400" b="1" spc="-73" dirty="0">
                <a:solidFill>
                  <a:srgbClr val="D9D9D9"/>
                </a:solidFill>
                <a:latin typeface="Calibri"/>
                <a:cs typeface="Calibri"/>
              </a:rPr>
              <a:t> </a:t>
            </a:r>
            <a:r>
              <a:rPr sz="2400" b="1" dirty="0">
                <a:solidFill>
                  <a:srgbClr val="D9D9D9"/>
                </a:solidFill>
                <a:latin typeface="Calibri"/>
                <a:cs typeface="Calibri"/>
              </a:rPr>
              <a:t>Data</a:t>
            </a:r>
            <a:r>
              <a:rPr sz="2400" b="1" spc="-33" dirty="0">
                <a:solidFill>
                  <a:srgbClr val="D9D9D9"/>
                </a:solidFill>
                <a:latin typeface="Calibri"/>
                <a:cs typeface="Calibri"/>
              </a:rPr>
              <a:t> </a:t>
            </a:r>
            <a:r>
              <a:rPr sz="2400" b="1" spc="-27" dirty="0">
                <a:solidFill>
                  <a:srgbClr val="D9D9D9"/>
                </a:solidFill>
                <a:latin typeface="Calibri"/>
                <a:cs typeface="Calibri"/>
              </a:rPr>
              <a:t>Marts</a:t>
            </a:r>
            <a:endParaRPr sz="2400">
              <a:latin typeface="Calibri"/>
              <a:cs typeface="Calibri"/>
            </a:endParaRPr>
          </a:p>
          <a:p>
            <a:pPr marL="398770">
              <a:spcBef>
                <a:spcPts val="1440"/>
              </a:spcBef>
            </a:pPr>
            <a:r>
              <a:rPr sz="2400" b="1" dirty="0">
                <a:solidFill>
                  <a:srgbClr val="D9D9D9"/>
                </a:solidFill>
                <a:latin typeface="Calibri"/>
                <a:cs typeface="Calibri"/>
              </a:rPr>
              <a:t>/</a:t>
            </a:r>
            <a:r>
              <a:rPr sz="2400" b="1" spc="-7" dirty="0">
                <a:solidFill>
                  <a:srgbClr val="D9D9D9"/>
                </a:solidFill>
                <a:latin typeface="Calibri"/>
                <a:cs typeface="Calibri"/>
              </a:rPr>
              <a:t> </a:t>
            </a:r>
            <a:r>
              <a:rPr sz="2400" b="1" spc="-13" dirty="0">
                <a:solidFill>
                  <a:srgbClr val="D9D9D9"/>
                </a:solidFill>
                <a:latin typeface="Calibri"/>
                <a:cs typeface="Calibri"/>
              </a:rPr>
              <a:t>Cubes</a:t>
            </a:r>
            <a:endParaRPr sz="2400">
              <a:latin typeface="Calibri"/>
              <a:cs typeface="Calibri"/>
            </a:endParaRPr>
          </a:p>
        </p:txBody>
      </p:sp>
      <p:sp>
        <p:nvSpPr>
          <p:cNvPr id="4" name="object 4"/>
          <p:cNvSpPr txBox="1"/>
          <p:nvPr/>
        </p:nvSpPr>
        <p:spPr>
          <a:xfrm>
            <a:off x="1934125" y="2161371"/>
            <a:ext cx="3916680" cy="3133336"/>
          </a:xfrm>
          <a:prstGeom prst="rect">
            <a:avLst/>
          </a:prstGeom>
        </p:spPr>
        <p:txBody>
          <a:bodyPr vert="horz" wrap="square" lIns="0" tIns="16933" rIns="0" bIns="0" rtlCol="0">
            <a:spAutoFit/>
          </a:bodyPr>
          <a:lstStyle/>
          <a:p>
            <a:pPr marL="452109" indent="-380990">
              <a:spcBef>
                <a:spcPts val="133"/>
              </a:spcBef>
              <a:buClr>
                <a:srgbClr val="99D3FF"/>
              </a:buClr>
              <a:buFont typeface="Wingdings"/>
              <a:buChar char=""/>
              <a:tabLst>
                <a:tab pos="452109" algn="l"/>
              </a:tabLst>
            </a:pPr>
            <a:r>
              <a:rPr sz="2400" b="1" dirty="0">
                <a:solidFill>
                  <a:srgbClr val="D9D9D9"/>
                </a:solidFill>
                <a:latin typeface="Calibri"/>
                <a:cs typeface="Calibri"/>
              </a:rPr>
              <a:t>Less</a:t>
            </a:r>
            <a:r>
              <a:rPr sz="2400" b="1" spc="-33" dirty="0">
                <a:solidFill>
                  <a:srgbClr val="D9D9D9"/>
                </a:solidFill>
                <a:latin typeface="Calibri"/>
                <a:cs typeface="Calibri"/>
              </a:rPr>
              <a:t> </a:t>
            </a:r>
            <a:r>
              <a:rPr sz="2400" b="1" dirty="0">
                <a:solidFill>
                  <a:srgbClr val="D9D9D9"/>
                </a:solidFill>
                <a:latin typeface="Calibri"/>
                <a:cs typeface="Calibri"/>
              </a:rPr>
              <a:t>space</a:t>
            </a:r>
            <a:r>
              <a:rPr sz="2400" b="1" spc="-60" dirty="0">
                <a:solidFill>
                  <a:srgbClr val="D9D9D9"/>
                </a:solidFill>
                <a:latin typeface="Calibri"/>
                <a:cs typeface="Calibri"/>
              </a:rPr>
              <a:t> </a:t>
            </a:r>
            <a:r>
              <a:rPr sz="2400" b="1" dirty="0">
                <a:solidFill>
                  <a:srgbClr val="D9D9D9"/>
                </a:solidFill>
                <a:latin typeface="Calibri"/>
                <a:cs typeface="Calibri"/>
              </a:rPr>
              <a:t>(storage</a:t>
            </a:r>
            <a:r>
              <a:rPr sz="2400" b="1" spc="-40" dirty="0">
                <a:solidFill>
                  <a:srgbClr val="D9D9D9"/>
                </a:solidFill>
                <a:latin typeface="Calibri"/>
                <a:cs typeface="Calibri"/>
              </a:rPr>
              <a:t> </a:t>
            </a:r>
            <a:r>
              <a:rPr sz="2400" b="1" spc="-13" dirty="0">
                <a:solidFill>
                  <a:srgbClr val="D9D9D9"/>
                </a:solidFill>
                <a:latin typeface="Calibri"/>
                <a:cs typeface="Calibri"/>
              </a:rPr>
              <a:t>cost)</a:t>
            </a:r>
            <a:endParaRPr sz="2400">
              <a:latin typeface="Calibri"/>
              <a:cs typeface="Calibri"/>
            </a:endParaRPr>
          </a:p>
          <a:p>
            <a:pPr marL="397077" marR="6773" indent="-380990">
              <a:lnSpc>
                <a:spcPct val="150000"/>
              </a:lnSpc>
              <a:spcBef>
                <a:spcPts val="2219"/>
              </a:spcBef>
              <a:buClr>
                <a:srgbClr val="99D3FF"/>
              </a:buClr>
              <a:buFont typeface="Wingdings"/>
              <a:buChar char=""/>
              <a:tabLst>
                <a:tab pos="398770" algn="l"/>
              </a:tabLst>
            </a:pPr>
            <a:r>
              <a:rPr sz="2400" b="1" dirty="0">
                <a:solidFill>
                  <a:srgbClr val="D9D9D9"/>
                </a:solidFill>
                <a:latin typeface="Calibri"/>
                <a:cs typeface="Calibri"/>
              </a:rPr>
              <a:t>No</a:t>
            </a:r>
            <a:r>
              <a:rPr sz="2400" b="1" spc="-20" dirty="0">
                <a:solidFill>
                  <a:srgbClr val="D9D9D9"/>
                </a:solidFill>
                <a:latin typeface="Calibri"/>
                <a:cs typeface="Calibri"/>
              </a:rPr>
              <a:t> </a:t>
            </a:r>
            <a:r>
              <a:rPr sz="2400" b="1" dirty="0">
                <a:solidFill>
                  <a:srgbClr val="D9D9D9"/>
                </a:solidFill>
                <a:latin typeface="Calibri"/>
                <a:cs typeface="Calibri"/>
              </a:rPr>
              <a:t>(less)</a:t>
            </a:r>
            <a:r>
              <a:rPr sz="2400" b="1" spc="-27" dirty="0">
                <a:solidFill>
                  <a:srgbClr val="D9D9D9"/>
                </a:solidFill>
                <a:latin typeface="Calibri"/>
                <a:cs typeface="Calibri"/>
              </a:rPr>
              <a:t> </a:t>
            </a:r>
            <a:r>
              <a:rPr sz="2400" b="1" dirty="0">
                <a:solidFill>
                  <a:srgbClr val="D9D9D9"/>
                </a:solidFill>
                <a:latin typeface="Calibri"/>
                <a:cs typeface="Calibri"/>
              </a:rPr>
              <a:t>redundant</a:t>
            </a:r>
            <a:r>
              <a:rPr sz="2400" b="1" spc="-73" dirty="0">
                <a:solidFill>
                  <a:srgbClr val="D9D9D9"/>
                </a:solidFill>
                <a:latin typeface="Calibri"/>
                <a:cs typeface="Calibri"/>
              </a:rPr>
              <a:t> </a:t>
            </a:r>
            <a:r>
              <a:rPr sz="2400" b="1" spc="-27" dirty="0">
                <a:solidFill>
                  <a:srgbClr val="D9D9D9"/>
                </a:solidFill>
                <a:latin typeface="Calibri"/>
                <a:cs typeface="Calibri"/>
              </a:rPr>
              <a:t>data 	</a:t>
            </a:r>
            <a:r>
              <a:rPr sz="2400" b="1" dirty="0">
                <a:solidFill>
                  <a:srgbClr val="D9D9D9"/>
                </a:solidFill>
                <a:latin typeface="Calibri"/>
                <a:cs typeface="Calibri"/>
              </a:rPr>
              <a:t>(easier</a:t>
            </a:r>
            <a:r>
              <a:rPr sz="2400" b="1" spc="-60" dirty="0">
                <a:solidFill>
                  <a:srgbClr val="D9D9D9"/>
                </a:solidFill>
                <a:latin typeface="Calibri"/>
                <a:cs typeface="Calibri"/>
              </a:rPr>
              <a:t> </a:t>
            </a:r>
            <a:r>
              <a:rPr sz="2400" b="1" dirty="0">
                <a:solidFill>
                  <a:srgbClr val="D9D9D9"/>
                </a:solidFill>
                <a:latin typeface="Calibri"/>
                <a:cs typeface="Calibri"/>
              </a:rPr>
              <a:t>to</a:t>
            </a:r>
            <a:r>
              <a:rPr sz="2400" b="1" spc="-7" dirty="0">
                <a:solidFill>
                  <a:srgbClr val="D9D9D9"/>
                </a:solidFill>
                <a:latin typeface="Calibri"/>
                <a:cs typeface="Calibri"/>
              </a:rPr>
              <a:t> </a:t>
            </a:r>
            <a:r>
              <a:rPr sz="2400" b="1" spc="-13" dirty="0">
                <a:solidFill>
                  <a:srgbClr val="D9D9D9"/>
                </a:solidFill>
                <a:latin typeface="Calibri"/>
                <a:cs typeface="Calibri"/>
              </a:rPr>
              <a:t>maintain/update, 	</a:t>
            </a:r>
            <a:r>
              <a:rPr sz="2400" b="1" dirty="0">
                <a:solidFill>
                  <a:srgbClr val="D9D9D9"/>
                </a:solidFill>
                <a:latin typeface="Calibri"/>
                <a:cs typeface="Calibri"/>
              </a:rPr>
              <a:t>less</a:t>
            </a:r>
            <a:r>
              <a:rPr sz="2400" b="1" spc="-53" dirty="0">
                <a:solidFill>
                  <a:srgbClr val="D9D9D9"/>
                </a:solidFill>
                <a:latin typeface="Calibri"/>
                <a:cs typeface="Calibri"/>
              </a:rPr>
              <a:t> </a:t>
            </a:r>
            <a:r>
              <a:rPr sz="2400" b="1" dirty="0">
                <a:solidFill>
                  <a:srgbClr val="D9D9D9"/>
                </a:solidFill>
                <a:latin typeface="Calibri"/>
                <a:cs typeface="Calibri"/>
              </a:rPr>
              <a:t>risk</a:t>
            </a:r>
            <a:r>
              <a:rPr sz="2400" b="1" spc="-33" dirty="0">
                <a:solidFill>
                  <a:srgbClr val="D9D9D9"/>
                </a:solidFill>
                <a:latin typeface="Calibri"/>
                <a:cs typeface="Calibri"/>
              </a:rPr>
              <a:t> </a:t>
            </a:r>
            <a:r>
              <a:rPr sz="2400" b="1" dirty="0">
                <a:solidFill>
                  <a:srgbClr val="D9D9D9"/>
                </a:solidFill>
                <a:latin typeface="Calibri"/>
                <a:cs typeface="Calibri"/>
              </a:rPr>
              <a:t>of</a:t>
            </a:r>
            <a:r>
              <a:rPr sz="2400" b="1" spc="-20" dirty="0">
                <a:solidFill>
                  <a:srgbClr val="D9D9D9"/>
                </a:solidFill>
                <a:latin typeface="Calibri"/>
                <a:cs typeface="Calibri"/>
              </a:rPr>
              <a:t> </a:t>
            </a:r>
            <a:r>
              <a:rPr sz="2400" b="1" dirty="0">
                <a:solidFill>
                  <a:srgbClr val="D9D9D9"/>
                </a:solidFill>
                <a:latin typeface="Calibri"/>
                <a:cs typeface="Calibri"/>
              </a:rPr>
              <a:t>corrupted</a:t>
            </a:r>
            <a:r>
              <a:rPr sz="2400" b="1" spc="-73" dirty="0">
                <a:solidFill>
                  <a:srgbClr val="D9D9D9"/>
                </a:solidFill>
                <a:latin typeface="Calibri"/>
                <a:cs typeface="Calibri"/>
              </a:rPr>
              <a:t> </a:t>
            </a:r>
            <a:r>
              <a:rPr sz="2400" b="1" spc="-13" dirty="0">
                <a:solidFill>
                  <a:srgbClr val="D9D9D9"/>
                </a:solidFill>
                <a:latin typeface="Calibri"/>
                <a:cs typeface="Calibri"/>
              </a:rPr>
              <a:t>data)</a:t>
            </a:r>
            <a:endParaRPr sz="2400">
              <a:latin typeface="Calibri"/>
              <a:cs typeface="Calibri"/>
            </a:endParaRPr>
          </a:p>
          <a:p>
            <a:pPr>
              <a:spcBef>
                <a:spcPts val="480"/>
              </a:spcBef>
              <a:buClr>
                <a:srgbClr val="99D3FF"/>
              </a:buClr>
              <a:buFont typeface="Wingdings"/>
              <a:buChar char=""/>
            </a:pPr>
            <a:endParaRPr sz="2400">
              <a:latin typeface="Calibri"/>
              <a:cs typeface="Calibri"/>
            </a:endParaRPr>
          </a:p>
          <a:p>
            <a:pPr marL="466502" lvl="1" indent="-380990">
              <a:spcBef>
                <a:spcPts val="7"/>
              </a:spcBef>
              <a:buClr>
                <a:srgbClr val="99D3FF"/>
              </a:buClr>
              <a:buFont typeface="Wingdings"/>
              <a:buChar char=""/>
              <a:tabLst>
                <a:tab pos="466502" algn="l"/>
              </a:tabLst>
            </a:pPr>
            <a:r>
              <a:rPr sz="2400" b="1" dirty="0">
                <a:solidFill>
                  <a:srgbClr val="D9D9D9"/>
                </a:solidFill>
                <a:latin typeface="Calibri"/>
                <a:cs typeface="Calibri"/>
              </a:rPr>
              <a:t>Solves</a:t>
            </a:r>
            <a:r>
              <a:rPr sz="2400" b="1" spc="-60" dirty="0">
                <a:solidFill>
                  <a:srgbClr val="D9D9D9"/>
                </a:solidFill>
                <a:latin typeface="Calibri"/>
                <a:cs typeface="Calibri"/>
              </a:rPr>
              <a:t> </a:t>
            </a:r>
            <a:r>
              <a:rPr sz="2400" b="1" dirty="0">
                <a:solidFill>
                  <a:srgbClr val="D9D9D9"/>
                </a:solidFill>
                <a:latin typeface="Calibri"/>
                <a:cs typeface="Calibri"/>
              </a:rPr>
              <a:t>write</a:t>
            </a:r>
            <a:r>
              <a:rPr sz="2400" b="1" spc="-20" dirty="0">
                <a:solidFill>
                  <a:srgbClr val="D9D9D9"/>
                </a:solidFill>
                <a:latin typeface="Calibri"/>
                <a:cs typeface="Calibri"/>
              </a:rPr>
              <a:t> </a:t>
            </a:r>
            <a:r>
              <a:rPr sz="2400" b="1" dirty="0">
                <a:solidFill>
                  <a:srgbClr val="D9D9D9"/>
                </a:solidFill>
                <a:latin typeface="Calibri"/>
                <a:cs typeface="Calibri"/>
              </a:rPr>
              <a:t>slow</a:t>
            </a:r>
            <a:r>
              <a:rPr sz="2400" b="1" spc="-53" dirty="0">
                <a:solidFill>
                  <a:srgbClr val="D9D9D9"/>
                </a:solidFill>
                <a:latin typeface="Calibri"/>
                <a:cs typeface="Calibri"/>
              </a:rPr>
              <a:t> </a:t>
            </a:r>
            <a:r>
              <a:rPr sz="2400" b="1" spc="-27" dirty="0">
                <a:solidFill>
                  <a:srgbClr val="D9D9D9"/>
                </a:solidFill>
                <a:latin typeface="Calibri"/>
                <a:cs typeface="Calibri"/>
              </a:rPr>
              <a:t>downs</a:t>
            </a:r>
            <a:endParaRPr sz="2400">
              <a:latin typeface="Calibri"/>
              <a:cs typeface="Calibri"/>
            </a:endParaRPr>
          </a:p>
        </p:txBody>
      </p:sp>
      <p:grpSp>
        <p:nvGrpSpPr>
          <p:cNvPr id="5" name="object 5"/>
          <p:cNvGrpSpPr/>
          <p:nvPr/>
        </p:nvGrpSpPr>
        <p:grpSpPr>
          <a:xfrm>
            <a:off x="6233838" y="1539410"/>
            <a:ext cx="493607" cy="5013113"/>
            <a:chOff x="4675378" y="1154557"/>
            <a:chExt cx="370205" cy="3759835"/>
          </a:xfrm>
        </p:grpSpPr>
        <p:sp>
          <p:nvSpPr>
            <p:cNvPr id="6" name="object 6"/>
            <p:cNvSpPr/>
            <p:nvPr/>
          </p:nvSpPr>
          <p:spPr>
            <a:xfrm>
              <a:off x="4688078" y="1167257"/>
              <a:ext cx="344805" cy="3734435"/>
            </a:xfrm>
            <a:custGeom>
              <a:avLst/>
              <a:gdLst/>
              <a:ahLst/>
              <a:cxnLst/>
              <a:rect l="l" t="t" r="r" b="b"/>
              <a:pathLst>
                <a:path w="344804" h="3734435">
                  <a:moveTo>
                    <a:pt x="116077" y="0"/>
                  </a:moveTo>
                  <a:lnTo>
                    <a:pt x="0" y="14350"/>
                  </a:lnTo>
                  <a:lnTo>
                    <a:pt x="114046" y="1881504"/>
                  </a:lnTo>
                  <a:lnTo>
                    <a:pt x="344297" y="3734142"/>
                  </a:lnTo>
                  <a:lnTo>
                    <a:pt x="116077" y="0"/>
                  </a:lnTo>
                  <a:close/>
                </a:path>
              </a:pathLst>
            </a:custGeom>
            <a:solidFill>
              <a:srgbClr val="777777"/>
            </a:solidFill>
          </p:spPr>
          <p:txBody>
            <a:bodyPr wrap="square" lIns="0" tIns="0" rIns="0" bIns="0" rtlCol="0"/>
            <a:lstStyle/>
            <a:p>
              <a:endParaRPr sz="2400"/>
            </a:p>
          </p:txBody>
        </p:sp>
        <p:sp>
          <p:nvSpPr>
            <p:cNvPr id="7" name="object 7"/>
            <p:cNvSpPr/>
            <p:nvPr/>
          </p:nvSpPr>
          <p:spPr>
            <a:xfrm>
              <a:off x="4688078" y="1167257"/>
              <a:ext cx="344805" cy="3734435"/>
            </a:xfrm>
            <a:custGeom>
              <a:avLst/>
              <a:gdLst/>
              <a:ahLst/>
              <a:cxnLst/>
              <a:rect l="l" t="t" r="r" b="b"/>
              <a:pathLst>
                <a:path w="344804" h="3734435">
                  <a:moveTo>
                    <a:pt x="114046" y="1881504"/>
                  </a:moveTo>
                  <a:lnTo>
                    <a:pt x="0" y="14350"/>
                  </a:lnTo>
                  <a:lnTo>
                    <a:pt x="116077" y="0"/>
                  </a:lnTo>
                  <a:lnTo>
                    <a:pt x="344297" y="3734142"/>
                  </a:lnTo>
                  <a:lnTo>
                    <a:pt x="114046" y="1881504"/>
                  </a:lnTo>
                  <a:close/>
                </a:path>
              </a:pathLst>
            </a:custGeom>
            <a:ln w="25400">
              <a:solidFill>
                <a:srgbClr val="252525"/>
              </a:solidFill>
            </a:ln>
          </p:spPr>
          <p:txBody>
            <a:bodyPr wrap="square" lIns="0" tIns="0" rIns="0" bIns="0" rtlCol="0"/>
            <a:lstStyle/>
            <a:p>
              <a:endParaRPr sz="2400"/>
            </a:p>
          </p:txBody>
        </p:sp>
      </p:grpSp>
      <p:sp>
        <p:nvSpPr>
          <p:cNvPr id="8" name="object 8"/>
          <p:cNvSpPr txBox="1"/>
          <p:nvPr/>
        </p:nvSpPr>
        <p:spPr>
          <a:xfrm>
            <a:off x="7315200" y="1231392"/>
            <a:ext cx="2743200" cy="539462"/>
          </a:xfrm>
          <a:prstGeom prst="rect">
            <a:avLst/>
          </a:prstGeom>
          <a:solidFill>
            <a:srgbClr val="404040">
              <a:alpha val="89019"/>
            </a:srgbClr>
          </a:solidFill>
        </p:spPr>
        <p:txBody>
          <a:bodyPr vert="horz" wrap="square" lIns="0" tIns="168485" rIns="0" bIns="0" rtlCol="0">
            <a:spAutoFit/>
          </a:bodyPr>
          <a:lstStyle/>
          <a:p>
            <a:pPr marL="513914">
              <a:spcBef>
                <a:spcPts val="1325"/>
              </a:spcBef>
            </a:pPr>
            <a:r>
              <a:rPr sz="2400" b="1" spc="-13" dirty="0">
                <a:solidFill>
                  <a:srgbClr val="99D3FF"/>
                </a:solidFill>
                <a:latin typeface="Calibri"/>
                <a:cs typeface="Calibri"/>
              </a:rPr>
              <a:t>Disadvantage</a:t>
            </a:r>
            <a:endParaRPr sz="2400">
              <a:latin typeface="Calibri"/>
              <a:cs typeface="Calibri"/>
            </a:endParaRPr>
          </a:p>
        </p:txBody>
      </p:sp>
      <p:sp>
        <p:nvSpPr>
          <p:cNvPr id="9" name="object 9"/>
          <p:cNvSpPr txBox="1"/>
          <p:nvPr/>
        </p:nvSpPr>
        <p:spPr>
          <a:xfrm>
            <a:off x="2617215" y="1247648"/>
            <a:ext cx="2462952" cy="539462"/>
          </a:xfrm>
          <a:prstGeom prst="rect">
            <a:avLst/>
          </a:prstGeom>
          <a:solidFill>
            <a:srgbClr val="99D3FF">
              <a:alpha val="89019"/>
            </a:srgbClr>
          </a:solidFill>
        </p:spPr>
        <p:txBody>
          <a:bodyPr vert="horz" wrap="square" lIns="0" tIns="168485" rIns="0" bIns="0" rtlCol="0">
            <a:spAutoFit/>
          </a:bodyPr>
          <a:lstStyle/>
          <a:p>
            <a:pPr marL="550320">
              <a:spcBef>
                <a:spcPts val="1325"/>
              </a:spcBef>
            </a:pPr>
            <a:r>
              <a:rPr sz="2400" b="1" spc="-13" dirty="0">
                <a:solidFill>
                  <a:srgbClr val="585858"/>
                </a:solidFill>
                <a:latin typeface="Calibri"/>
                <a:cs typeface="Calibri"/>
              </a:rPr>
              <a:t>Advantage</a:t>
            </a:r>
            <a:endParaRPr sz="2400">
              <a:latin typeface="Calibri"/>
              <a:cs typeface="Calibri"/>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014971" y="3032354"/>
            <a:ext cx="2134447" cy="428387"/>
          </a:xfrm>
          <a:prstGeom prst="rect">
            <a:avLst/>
          </a:prstGeom>
        </p:spPr>
        <p:txBody>
          <a:bodyPr vert="horz" wrap="square" lIns="0" tIns="17780" rIns="0" bIns="0" rtlCol="0">
            <a:spAutoFit/>
          </a:bodyPr>
          <a:lstStyle/>
          <a:p>
            <a:pPr marL="397923" indent="-380990">
              <a:spcBef>
                <a:spcPts val="140"/>
              </a:spcBef>
              <a:buClr>
                <a:srgbClr val="99D3FF"/>
              </a:buClr>
              <a:buFont typeface="Wingdings"/>
              <a:buChar char=""/>
              <a:tabLst>
                <a:tab pos="397923" algn="l"/>
              </a:tabLst>
            </a:pPr>
            <a:r>
              <a:rPr sz="2667" b="1" dirty="0">
                <a:solidFill>
                  <a:srgbClr val="D9D9D9"/>
                </a:solidFill>
                <a:latin typeface="Calibri"/>
                <a:cs typeface="Calibri"/>
              </a:rPr>
              <a:t>Star</a:t>
            </a:r>
            <a:r>
              <a:rPr sz="2667" b="1" spc="-13" dirty="0">
                <a:solidFill>
                  <a:srgbClr val="D9D9D9"/>
                </a:solidFill>
                <a:latin typeface="Calibri"/>
                <a:cs typeface="Calibri"/>
              </a:rPr>
              <a:t> schema</a:t>
            </a:r>
            <a:endParaRPr sz="2667">
              <a:latin typeface="Calibri"/>
              <a:cs typeface="Calibri"/>
            </a:endParaRPr>
          </a:p>
        </p:txBody>
      </p:sp>
      <p:sp>
        <p:nvSpPr>
          <p:cNvPr id="3" name="object 3"/>
          <p:cNvSpPr txBox="1">
            <a:spLocks noGrp="1"/>
          </p:cNvSpPr>
          <p:nvPr>
            <p:ph type="title"/>
          </p:nvPr>
        </p:nvSpPr>
        <p:spPr>
          <a:xfrm>
            <a:off x="2744215" y="121728"/>
            <a:ext cx="8755380" cy="695062"/>
          </a:xfrm>
          <a:prstGeom prst="rect">
            <a:avLst/>
          </a:prstGeom>
        </p:spPr>
        <p:txBody>
          <a:bodyPr vert="horz" wrap="square" lIns="0" tIns="17780" rIns="0" bIns="0" rtlCol="0" anchor="ctr">
            <a:spAutoFit/>
          </a:bodyPr>
          <a:lstStyle/>
          <a:p>
            <a:pPr marL="1660272">
              <a:lnSpc>
                <a:spcPct val="100000"/>
              </a:lnSpc>
              <a:spcBef>
                <a:spcPts val="140"/>
              </a:spcBef>
            </a:pPr>
            <a:r>
              <a:rPr dirty="0">
                <a:solidFill>
                  <a:schemeClr val="bg1"/>
                </a:solidFill>
                <a:latin typeface="+mn-lt"/>
              </a:rPr>
              <a:t>Snowflake</a:t>
            </a:r>
            <a:r>
              <a:rPr spc="-13" dirty="0">
                <a:solidFill>
                  <a:schemeClr val="bg1"/>
                </a:solidFill>
                <a:latin typeface="+mn-lt"/>
              </a:rPr>
              <a:t> schema</a:t>
            </a:r>
          </a:p>
        </p:txBody>
      </p:sp>
      <p:sp>
        <p:nvSpPr>
          <p:cNvPr id="4" name="object 4"/>
          <p:cNvSpPr txBox="1"/>
          <p:nvPr/>
        </p:nvSpPr>
        <p:spPr>
          <a:xfrm>
            <a:off x="7014971" y="3795099"/>
            <a:ext cx="4064847" cy="427532"/>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667" b="1" dirty="0">
                <a:solidFill>
                  <a:srgbClr val="D9D9D9"/>
                </a:solidFill>
                <a:latin typeface="Calibri"/>
                <a:cs typeface="Calibri"/>
              </a:rPr>
              <a:t>Maybe</a:t>
            </a:r>
            <a:r>
              <a:rPr sz="2667" b="1" spc="-47" dirty="0">
                <a:solidFill>
                  <a:srgbClr val="D9D9D9"/>
                </a:solidFill>
                <a:latin typeface="Calibri"/>
                <a:cs typeface="Calibri"/>
              </a:rPr>
              <a:t> </a:t>
            </a:r>
            <a:r>
              <a:rPr sz="2667" b="1" dirty="0">
                <a:solidFill>
                  <a:srgbClr val="D9D9D9"/>
                </a:solidFill>
                <a:latin typeface="Calibri"/>
                <a:cs typeface="Calibri"/>
              </a:rPr>
              <a:t>snowflake</a:t>
            </a:r>
            <a:r>
              <a:rPr sz="2667" b="1" spc="-67" dirty="0">
                <a:solidFill>
                  <a:srgbClr val="D9D9D9"/>
                </a:solidFill>
                <a:latin typeface="Calibri"/>
                <a:cs typeface="Calibri"/>
              </a:rPr>
              <a:t> </a:t>
            </a:r>
            <a:r>
              <a:rPr sz="2667" b="1" spc="-13" dirty="0">
                <a:solidFill>
                  <a:srgbClr val="D9D9D9"/>
                </a:solidFill>
                <a:latin typeface="Calibri"/>
                <a:cs typeface="Calibri"/>
              </a:rPr>
              <a:t>schema</a:t>
            </a:r>
            <a:endParaRPr sz="2667">
              <a:latin typeface="Calibri"/>
              <a:cs typeface="Calibri"/>
            </a:endParaRPr>
          </a:p>
        </p:txBody>
      </p:sp>
      <p:sp>
        <p:nvSpPr>
          <p:cNvPr id="5" name="object 5"/>
          <p:cNvSpPr txBox="1"/>
          <p:nvPr/>
        </p:nvSpPr>
        <p:spPr>
          <a:xfrm>
            <a:off x="2645326" y="3032354"/>
            <a:ext cx="2134447" cy="428387"/>
          </a:xfrm>
          <a:prstGeom prst="rect">
            <a:avLst/>
          </a:prstGeom>
        </p:spPr>
        <p:txBody>
          <a:bodyPr vert="horz" wrap="square" lIns="0" tIns="17780" rIns="0" bIns="0" rtlCol="0">
            <a:spAutoFit/>
          </a:bodyPr>
          <a:lstStyle/>
          <a:p>
            <a:pPr marL="397923" indent="-380990">
              <a:spcBef>
                <a:spcPts val="140"/>
              </a:spcBef>
              <a:buClr>
                <a:srgbClr val="99D3FF"/>
              </a:buClr>
              <a:buFont typeface="Wingdings"/>
              <a:buChar char=""/>
              <a:tabLst>
                <a:tab pos="397923" algn="l"/>
              </a:tabLst>
            </a:pPr>
            <a:r>
              <a:rPr sz="2667" b="1" dirty="0">
                <a:solidFill>
                  <a:srgbClr val="D9D9D9"/>
                </a:solidFill>
                <a:latin typeface="Calibri"/>
                <a:cs typeface="Calibri"/>
              </a:rPr>
              <a:t>Star</a:t>
            </a:r>
            <a:r>
              <a:rPr sz="2667" b="1" spc="-13" dirty="0">
                <a:solidFill>
                  <a:srgbClr val="D9D9D9"/>
                </a:solidFill>
                <a:latin typeface="Calibri"/>
                <a:cs typeface="Calibri"/>
              </a:rPr>
              <a:t> schema</a:t>
            </a:r>
            <a:endParaRPr sz="2667">
              <a:latin typeface="Calibri"/>
              <a:cs typeface="Calibri"/>
            </a:endParaRPr>
          </a:p>
        </p:txBody>
      </p:sp>
      <p:grpSp>
        <p:nvGrpSpPr>
          <p:cNvPr id="6" name="object 6"/>
          <p:cNvGrpSpPr/>
          <p:nvPr/>
        </p:nvGrpSpPr>
        <p:grpSpPr>
          <a:xfrm>
            <a:off x="6233838" y="1539410"/>
            <a:ext cx="493607" cy="5013113"/>
            <a:chOff x="4675378" y="1154557"/>
            <a:chExt cx="370205" cy="3759835"/>
          </a:xfrm>
        </p:grpSpPr>
        <p:sp>
          <p:nvSpPr>
            <p:cNvPr id="7" name="object 7"/>
            <p:cNvSpPr/>
            <p:nvPr/>
          </p:nvSpPr>
          <p:spPr>
            <a:xfrm>
              <a:off x="4688078" y="1167257"/>
              <a:ext cx="344805" cy="3734435"/>
            </a:xfrm>
            <a:custGeom>
              <a:avLst/>
              <a:gdLst/>
              <a:ahLst/>
              <a:cxnLst/>
              <a:rect l="l" t="t" r="r" b="b"/>
              <a:pathLst>
                <a:path w="344804" h="3734435">
                  <a:moveTo>
                    <a:pt x="116077" y="0"/>
                  </a:moveTo>
                  <a:lnTo>
                    <a:pt x="0" y="14350"/>
                  </a:lnTo>
                  <a:lnTo>
                    <a:pt x="114046" y="1881504"/>
                  </a:lnTo>
                  <a:lnTo>
                    <a:pt x="344297" y="3734142"/>
                  </a:lnTo>
                  <a:lnTo>
                    <a:pt x="116077" y="0"/>
                  </a:lnTo>
                  <a:close/>
                </a:path>
              </a:pathLst>
            </a:custGeom>
            <a:solidFill>
              <a:srgbClr val="777777"/>
            </a:solidFill>
          </p:spPr>
          <p:txBody>
            <a:bodyPr wrap="square" lIns="0" tIns="0" rIns="0" bIns="0" rtlCol="0"/>
            <a:lstStyle/>
            <a:p>
              <a:endParaRPr sz="2400"/>
            </a:p>
          </p:txBody>
        </p:sp>
        <p:sp>
          <p:nvSpPr>
            <p:cNvPr id="8" name="object 8"/>
            <p:cNvSpPr/>
            <p:nvPr/>
          </p:nvSpPr>
          <p:spPr>
            <a:xfrm>
              <a:off x="4688078" y="1167257"/>
              <a:ext cx="344805" cy="3734435"/>
            </a:xfrm>
            <a:custGeom>
              <a:avLst/>
              <a:gdLst/>
              <a:ahLst/>
              <a:cxnLst/>
              <a:rect l="l" t="t" r="r" b="b"/>
              <a:pathLst>
                <a:path w="344804" h="3734435">
                  <a:moveTo>
                    <a:pt x="114046" y="1881504"/>
                  </a:moveTo>
                  <a:lnTo>
                    <a:pt x="0" y="14350"/>
                  </a:lnTo>
                  <a:lnTo>
                    <a:pt x="116077" y="0"/>
                  </a:lnTo>
                  <a:lnTo>
                    <a:pt x="344297" y="3734142"/>
                  </a:lnTo>
                  <a:lnTo>
                    <a:pt x="114046" y="1881504"/>
                  </a:lnTo>
                  <a:close/>
                </a:path>
              </a:pathLst>
            </a:custGeom>
            <a:ln w="25400">
              <a:solidFill>
                <a:srgbClr val="252525"/>
              </a:solidFill>
            </a:ln>
          </p:spPr>
          <p:txBody>
            <a:bodyPr wrap="square" lIns="0" tIns="0" rIns="0" bIns="0" rtlCol="0"/>
            <a:lstStyle/>
            <a:p>
              <a:endParaRPr sz="2400"/>
            </a:p>
          </p:txBody>
        </p:sp>
      </p:grpSp>
      <p:sp>
        <p:nvSpPr>
          <p:cNvPr id="9" name="object 9"/>
          <p:cNvSpPr txBox="1"/>
          <p:nvPr/>
        </p:nvSpPr>
        <p:spPr>
          <a:xfrm>
            <a:off x="7416800" y="1725167"/>
            <a:ext cx="2743200" cy="590825"/>
          </a:xfrm>
          <a:prstGeom prst="rect">
            <a:avLst/>
          </a:prstGeom>
          <a:solidFill>
            <a:srgbClr val="404040">
              <a:alpha val="89019"/>
            </a:srgbClr>
          </a:solidFill>
        </p:spPr>
        <p:txBody>
          <a:bodyPr vert="horz" wrap="square" lIns="0" tIns="178647" rIns="0" bIns="0" rtlCol="0">
            <a:spAutoFit/>
          </a:bodyPr>
          <a:lstStyle/>
          <a:p>
            <a:pPr marL="2540" algn="ctr">
              <a:spcBef>
                <a:spcPts val="1407"/>
              </a:spcBef>
            </a:pPr>
            <a:r>
              <a:rPr sz="2667" b="1" spc="-27" dirty="0">
                <a:solidFill>
                  <a:srgbClr val="99D3FF"/>
                </a:solidFill>
                <a:latin typeface="Calibri"/>
                <a:cs typeface="Calibri"/>
              </a:rPr>
              <a:t>Core</a:t>
            </a:r>
            <a:endParaRPr sz="2667">
              <a:latin typeface="Calibri"/>
              <a:cs typeface="Calibri"/>
            </a:endParaRPr>
          </a:p>
        </p:txBody>
      </p:sp>
      <p:sp>
        <p:nvSpPr>
          <p:cNvPr id="10" name="object 10"/>
          <p:cNvSpPr txBox="1"/>
          <p:nvPr/>
        </p:nvSpPr>
        <p:spPr>
          <a:xfrm>
            <a:off x="2718815" y="1741423"/>
            <a:ext cx="2462952" cy="590825"/>
          </a:xfrm>
          <a:prstGeom prst="rect">
            <a:avLst/>
          </a:prstGeom>
          <a:solidFill>
            <a:srgbClr val="99D3FF">
              <a:alpha val="89019"/>
            </a:srgbClr>
          </a:solidFill>
        </p:spPr>
        <p:txBody>
          <a:bodyPr vert="horz" wrap="square" lIns="0" tIns="178647" rIns="0" bIns="0" rtlCol="0">
            <a:spAutoFit/>
          </a:bodyPr>
          <a:lstStyle/>
          <a:p>
            <a:pPr marL="509681">
              <a:spcBef>
                <a:spcPts val="1407"/>
              </a:spcBef>
            </a:pPr>
            <a:r>
              <a:rPr sz="2667" b="1" dirty="0">
                <a:solidFill>
                  <a:srgbClr val="585858"/>
                </a:solidFill>
                <a:latin typeface="Calibri"/>
                <a:cs typeface="Calibri"/>
              </a:rPr>
              <a:t>Data</a:t>
            </a:r>
            <a:r>
              <a:rPr sz="2667" b="1" spc="-47" dirty="0">
                <a:solidFill>
                  <a:srgbClr val="585858"/>
                </a:solidFill>
                <a:latin typeface="Calibri"/>
                <a:cs typeface="Calibri"/>
              </a:rPr>
              <a:t> </a:t>
            </a:r>
            <a:r>
              <a:rPr sz="2667" b="1" spc="-27" dirty="0">
                <a:solidFill>
                  <a:srgbClr val="585858"/>
                </a:solidFill>
                <a:latin typeface="Calibri"/>
                <a:cs typeface="Calibri"/>
              </a:rPr>
              <a:t>Mart</a:t>
            </a:r>
            <a:endParaRPr sz="2667">
              <a:latin typeface="Calibri"/>
              <a:cs typeface="Calibri"/>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57807" y="2279903"/>
            <a:ext cx="9930384" cy="1702816"/>
          </a:xfrm>
          <a:prstGeom prst="rect">
            <a:avLst/>
          </a:prstGeom>
        </p:spPr>
      </p:pic>
      <p:sp>
        <p:nvSpPr>
          <p:cNvPr id="3" name="object 3"/>
          <p:cNvSpPr txBox="1">
            <a:spLocks noGrp="1"/>
          </p:cNvSpPr>
          <p:nvPr>
            <p:ph type="title"/>
          </p:nvPr>
        </p:nvSpPr>
        <p:spPr>
          <a:xfrm>
            <a:off x="1320800" y="2579973"/>
            <a:ext cx="9811173" cy="1048150"/>
          </a:xfrm>
          <a:prstGeom prst="rect">
            <a:avLst/>
          </a:prstGeom>
          <a:noFill/>
          <a:ln w="9144">
            <a:noFill/>
          </a:ln>
        </p:spPr>
        <p:txBody>
          <a:bodyPr vert="horz" wrap="square" lIns="0" tIns="306493" rIns="0" bIns="0" rtlCol="0" anchor="ctr">
            <a:spAutoFit/>
          </a:bodyPr>
          <a:lstStyle/>
          <a:p>
            <a:pPr algn="ctr">
              <a:lnSpc>
                <a:spcPct val="100000"/>
              </a:lnSpc>
              <a:spcBef>
                <a:spcPts val="2413"/>
              </a:spcBef>
            </a:pPr>
            <a:r>
              <a:rPr sz="4800" dirty="0">
                <a:solidFill>
                  <a:schemeClr val="bg1"/>
                </a:solidFill>
                <a:latin typeface="+mn-lt"/>
              </a:rPr>
              <a:t>Additivity</a:t>
            </a:r>
            <a:r>
              <a:rPr sz="4800" spc="-87" dirty="0">
                <a:solidFill>
                  <a:schemeClr val="bg1"/>
                </a:solidFill>
                <a:latin typeface="+mn-lt"/>
              </a:rPr>
              <a:t> </a:t>
            </a:r>
            <a:r>
              <a:rPr sz="4800" dirty="0">
                <a:solidFill>
                  <a:schemeClr val="bg1"/>
                </a:solidFill>
                <a:latin typeface="+mn-lt"/>
              </a:rPr>
              <a:t>in</a:t>
            </a:r>
            <a:r>
              <a:rPr sz="4800" spc="-13" dirty="0">
                <a:solidFill>
                  <a:schemeClr val="bg1"/>
                </a:solidFill>
                <a:latin typeface="+mn-lt"/>
              </a:rPr>
              <a:t> facts</a:t>
            </a:r>
            <a:endParaRPr sz="4800" dirty="0">
              <a:solidFill>
                <a:schemeClr val="bg1"/>
              </a:solidFill>
              <a:latin typeface="+mn-lt"/>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96324" y="2494956"/>
            <a:ext cx="2998893"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Can</a:t>
            </a:r>
            <a:r>
              <a:rPr sz="2400" b="1" spc="-13" dirty="0">
                <a:solidFill>
                  <a:srgbClr val="D9D9D9"/>
                </a:solidFill>
                <a:latin typeface="Calibri"/>
                <a:cs typeface="Calibri"/>
              </a:rPr>
              <a:t> </a:t>
            </a:r>
            <a:r>
              <a:rPr sz="2400" b="1" dirty="0">
                <a:solidFill>
                  <a:srgbClr val="D9D9D9"/>
                </a:solidFill>
                <a:latin typeface="Calibri"/>
                <a:cs typeface="Calibri"/>
              </a:rPr>
              <a:t>be</a:t>
            </a:r>
            <a:r>
              <a:rPr sz="2400" b="1" spc="-27" dirty="0">
                <a:solidFill>
                  <a:srgbClr val="D9D9D9"/>
                </a:solidFill>
                <a:latin typeface="Calibri"/>
                <a:cs typeface="Calibri"/>
              </a:rPr>
              <a:t> </a:t>
            </a:r>
            <a:r>
              <a:rPr sz="2400" b="1" dirty="0">
                <a:solidFill>
                  <a:srgbClr val="D9D9D9"/>
                </a:solidFill>
                <a:latin typeface="Calibri"/>
                <a:cs typeface="Calibri"/>
              </a:rPr>
              <a:t>added</a:t>
            </a:r>
            <a:r>
              <a:rPr sz="2400" b="1" spc="-40" dirty="0">
                <a:solidFill>
                  <a:srgbClr val="D9D9D9"/>
                </a:solidFill>
                <a:latin typeface="Calibri"/>
                <a:cs typeface="Calibri"/>
              </a:rPr>
              <a:t> </a:t>
            </a:r>
            <a:r>
              <a:rPr sz="2400" b="1" spc="-13" dirty="0">
                <a:solidFill>
                  <a:srgbClr val="D9D9D9"/>
                </a:solidFill>
                <a:latin typeface="Calibri"/>
                <a:cs typeface="Calibri"/>
              </a:rPr>
              <a:t>across</a:t>
            </a:r>
            <a:endParaRPr sz="2400">
              <a:latin typeface="Calibri"/>
              <a:cs typeface="Calibri"/>
            </a:endParaRPr>
          </a:p>
        </p:txBody>
      </p:sp>
      <p:sp>
        <p:nvSpPr>
          <p:cNvPr id="3" name="object 3"/>
          <p:cNvSpPr txBox="1"/>
          <p:nvPr/>
        </p:nvSpPr>
        <p:spPr>
          <a:xfrm>
            <a:off x="995001" y="3072044"/>
            <a:ext cx="1816947" cy="359073"/>
          </a:xfrm>
          <a:prstGeom prst="rect">
            <a:avLst/>
          </a:prstGeom>
          <a:solidFill>
            <a:srgbClr val="25519E"/>
          </a:solidFill>
        </p:spPr>
        <p:txBody>
          <a:bodyPr vert="horz" wrap="square" lIns="0" tIns="0" rIns="0" bIns="0" rtlCol="0">
            <a:spAutoFit/>
          </a:bodyPr>
          <a:lstStyle/>
          <a:p>
            <a:pPr>
              <a:lnSpc>
                <a:spcPts val="2787"/>
              </a:lnSpc>
            </a:pPr>
            <a:r>
              <a:rPr sz="2400" b="1" dirty="0">
                <a:solidFill>
                  <a:srgbClr val="D9D9D9"/>
                </a:solidFill>
                <a:latin typeface="Calibri"/>
                <a:cs typeface="Calibri"/>
              </a:rPr>
              <a:t>all</a:t>
            </a:r>
            <a:r>
              <a:rPr sz="2400" b="1" spc="-20" dirty="0">
                <a:solidFill>
                  <a:srgbClr val="D9D9D9"/>
                </a:solidFill>
                <a:latin typeface="Calibri"/>
                <a:cs typeface="Calibri"/>
              </a:rPr>
              <a:t> </a:t>
            </a:r>
            <a:r>
              <a:rPr sz="2400" b="1" spc="-13" dirty="0">
                <a:solidFill>
                  <a:srgbClr val="D9D9D9"/>
                </a:solidFill>
                <a:latin typeface="Calibri"/>
                <a:cs typeface="Calibri"/>
              </a:rPr>
              <a:t>dimensions</a:t>
            </a:r>
            <a:endParaRPr sz="2400">
              <a:latin typeface="Calibri"/>
              <a:cs typeface="Calibri"/>
            </a:endParaRPr>
          </a:p>
        </p:txBody>
      </p:sp>
      <p:sp>
        <p:nvSpPr>
          <p:cNvPr id="4" name="object 4"/>
          <p:cNvSpPr txBox="1"/>
          <p:nvPr/>
        </p:nvSpPr>
        <p:spPr>
          <a:xfrm>
            <a:off x="5075937" y="3072045"/>
            <a:ext cx="2230119" cy="359073"/>
          </a:xfrm>
          <a:prstGeom prst="rect">
            <a:avLst/>
          </a:prstGeom>
          <a:solidFill>
            <a:srgbClr val="25519E"/>
          </a:solidFill>
        </p:spPr>
        <p:txBody>
          <a:bodyPr vert="horz" wrap="square" lIns="0" tIns="0" rIns="0" bIns="0" rtlCol="0">
            <a:spAutoFit/>
          </a:bodyPr>
          <a:lstStyle/>
          <a:p>
            <a:pPr marL="847">
              <a:lnSpc>
                <a:spcPts val="2787"/>
              </a:lnSpc>
            </a:pPr>
            <a:r>
              <a:rPr sz="2400" b="1" dirty="0">
                <a:solidFill>
                  <a:srgbClr val="D9D9D9"/>
                </a:solidFill>
                <a:latin typeface="Calibri"/>
                <a:cs typeface="Calibri"/>
              </a:rPr>
              <a:t>a</a:t>
            </a:r>
            <a:r>
              <a:rPr sz="2400" b="1" spc="-20" dirty="0">
                <a:solidFill>
                  <a:srgbClr val="D9D9D9"/>
                </a:solidFill>
                <a:latin typeface="Calibri"/>
                <a:cs typeface="Calibri"/>
              </a:rPr>
              <a:t> </a:t>
            </a:r>
            <a:r>
              <a:rPr sz="2400" b="1" dirty="0">
                <a:solidFill>
                  <a:srgbClr val="D9D9D9"/>
                </a:solidFill>
                <a:latin typeface="Calibri"/>
                <a:cs typeface="Calibri"/>
              </a:rPr>
              <a:t>few</a:t>
            </a:r>
            <a:r>
              <a:rPr sz="2400" b="1" spc="-7" dirty="0">
                <a:solidFill>
                  <a:srgbClr val="D9D9D9"/>
                </a:solidFill>
                <a:latin typeface="Calibri"/>
                <a:cs typeface="Calibri"/>
              </a:rPr>
              <a:t> </a:t>
            </a:r>
            <a:r>
              <a:rPr sz="2400" b="1" spc="-13" dirty="0">
                <a:solidFill>
                  <a:srgbClr val="D9D9D9"/>
                </a:solidFill>
                <a:latin typeface="Calibri"/>
                <a:cs typeface="Calibri"/>
              </a:rPr>
              <a:t>dimensions</a:t>
            </a:r>
            <a:endParaRPr sz="2400">
              <a:latin typeface="Calibri"/>
              <a:cs typeface="Calibri"/>
            </a:endParaRPr>
          </a:p>
        </p:txBody>
      </p:sp>
      <p:sp>
        <p:nvSpPr>
          <p:cNvPr id="5" name="object 5"/>
          <p:cNvSpPr txBox="1">
            <a:spLocks noGrp="1"/>
          </p:cNvSpPr>
          <p:nvPr>
            <p:ph type="title"/>
          </p:nvPr>
        </p:nvSpPr>
        <p:spPr>
          <a:xfrm>
            <a:off x="2456772" y="195393"/>
            <a:ext cx="7870884" cy="695062"/>
          </a:xfrm>
          <a:prstGeom prst="rect">
            <a:avLst/>
          </a:prstGeom>
        </p:spPr>
        <p:txBody>
          <a:bodyPr vert="horz" wrap="square" lIns="0" tIns="17780" rIns="0" bIns="0" rtlCol="0" anchor="ctr">
            <a:spAutoFit/>
          </a:bodyPr>
          <a:lstStyle/>
          <a:p>
            <a:pPr marL="2648307">
              <a:lnSpc>
                <a:spcPct val="100000"/>
              </a:lnSpc>
              <a:spcBef>
                <a:spcPts val="140"/>
              </a:spcBef>
            </a:pPr>
            <a:r>
              <a:rPr spc="-13" dirty="0">
                <a:solidFill>
                  <a:schemeClr val="bg1"/>
                </a:solidFill>
                <a:latin typeface="+mn-lt"/>
              </a:rPr>
              <a:t>Additivity</a:t>
            </a:r>
          </a:p>
        </p:txBody>
      </p:sp>
      <p:grpSp>
        <p:nvGrpSpPr>
          <p:cNvPr id="6" name="object 6"/>
          <p:cNvGrpSpPr/>
          <p:nvPr/>
        </p:nvGrpSpPr>
        <p:grpSpPr>
          <a:xfrm>
            <a:off x="4143586" y="2030307"/>
            <a:ext cx="534247" cy="4844627"/>
            <a:chOff x="3107689" y="1522730"/>
            <a:chExt cx="400685" cy="3633470"/>
          </a:xfrm>
        </p:grpSpPr>
        <p:sp>
          <p:nvSpPr>
            <p:cNvPr id="7" name="object 7"/>
            <p:cNvSpPr/>
            <p:nvPr/>
          </p:nvSpPr>
          <p:spPr>
            <a:xfrm>
              <a:off x="3120389" y="1535430"/>
              <a:ext cx="375285" cy="3608070"/>
            </a:xfrm>
            <a:custGeom>
              <a:avLst/>
              <a:gdLst/>
              <a:ahLst/>
              <a:cxnLst/>
              <a:rect l="l" t="t" r="r" b="b"/>
              <a:pathLst>
                <a:path w="375285" h="3608070">
                  <a:moveTo>
                    <a:pt x="75692" y="0"/>
                  </a:moveTo>
                  <a:lnTo>
                    <a:pt x="0" y="9398"/>
                  </a:lnTo>
                  <a:lnTo>
                    <a:pt x="154432" y="1871472"/>
                  </a:lnTo>
                  <a:lnTo>
                    <a:pt x="370259" y="3608068"/>
                  </a:lnTo>
                  <a:lnTo>
                    <a:pt x="375053" y="3608068"/>
                  </a:lnTo>
                  <a:lnTo>
                    <a:pt x="75692" y="0"/>
                  </a:lnTo>
                  <a:close/>
                </a:path>
              </a:pathLst>
            </a:custGeom>
            <a:solidFill>
              <a:srgbClr val="777777"/>
            </a:solidFill>
          </p:spPr>
          <p:txBody>
            <a:bodyPr wrap="square" lIns="0" tIns="0" rIns="0" bIns="0" rtlCol="0"/>
            <a:lstStyle/>
            <a:p>
              <a:endParaRPr sz="2400"/>
            </a:p>
          </p:txBody>
        </p:sp>
        <p:sp>
          <p:nvSpPr>
            <p:cNvPr id="8" name="object 8"/>
            <p:cNvSpPr/>
            <p:nvPr/>
          </p:nvSpPr>
          <p:spPr>
            <a:xfrm>
              <a:off x="3120389" y="1535430"/>
              <a:ext cx="375285" cy="3608070"/>
            </a:xfrm>
            <a:custGeom>
              <a:avLst/>
              <a:gdLst/>
              <a:ahLst/>
              <a:cxnLst/>
              <a:rect l="l" t="t" r="r" b="b"/>
              <a:pathLst>
                <a:path w="375285" h="3608070">
                  <a:moveTo>
                    <a:pt x="370259" y="3608068"/>
                  </a:moveTo>
                  <a:lnTo>
                    <a:pt x="154432" y="1871472"/>
                  </a:lnTo>
                  <a:lnTo>
                    <a:pt x="0" y="9398"/>
                  </a:lnTo>
                  <a:lnTo>
                    <a:pt x="75692" y="0"/>
                  </a:lnTo>
                  <a:lnTo>
                    <a:pt x="375053" y="3608068"/>
                  </a:lnTo>
                </a:path>
              </a:pathLst>
            </a:custGeom>
            <a:ln w="25400">
              <a:solidFill>
                <a:srgbClr val="252525"/>
              </a:solidFill>
            </a:ln>
          </p:spPr>
          <p:txBody>
            <a:bodyPr wrap="square" lIns="0" tIns="0" rIns="0" bIns="0" rtlCol="0"/>
            <a:lstStyle/>
            <a:p>
              <a:endParaRPr sz="2400"/>
            </a:p>
          </p:txBody>
        </p:sp>
      </p:grpSp>
      <p:sp>
        <p:nvSpPr>
          <p:cNvPr id="9" name="object 9"/>
          <p:cNvSpPr txBox="1"/>
          <p:nvPr/>
        </p:nvSpPr>
        <p:spPr>
          <a:xfrm>
            <a:off x="4724400" y="1601215"/>
            <a:ext cx="2743200" cy="538609"/>
          </a:xfrm>
          <a:prstGeom prst="rect">
            <a:avLst/>
          </a:prstGeom>
          <a:noFill/>
        </p:spPr>
        <p:txBody>
          <a:bodyPr vert="horz" wrap="square" lIns="0" tIns="167640" rIns="0" bIns="0" rtlCol="0">
            <a:spAutoFit/>
          </a:bodyPr>
          <a:lstStyle/>
          <a:p>
            <a:pPr marL="499521">
              <a:spcBef>
                <a:spcPts val="1320"/>
              </a:spcBef>
            </a:pPr>
            <a:r>
              <a:rPr sz="2400" b="1" dirty="0">
                <a:solidFill>
                  <a:srgbClr val="99D3FF"/>
                </a:solidFill>
                <a:latin typeface="Calibri"/>
                <a:cs typeface="Calibri"/>
              </a:rPr>
              <a:t>Semi-</a:t>
            </a:r>
            <a:r>
              <a:rPr sz="2400" b="1" spc="-13" dirty="0">
                <a:solidFill>
                  <a:srgbClr val="99D3FF"/>
                </a:solidFill>
                <a:latin typeface="Calibri"/>
                <a:cs typeface="Calibri"/>
              </a:rPr>
              <a:t>additive</a:t>
            </a:r>
            <a:endParaRPr sz="2400">
              <a:latin typeface="Calibri"/>
              <a:cs typeface="Calibri"/>
            </a:endParaRPr>
          </a:p>
        </p:txBody>
      </p:sp>
      <p:sp>
        <p:nvSpPr>
          <p:cNvPr id="10" name="object 10"/>
          <p:cNvSpPr txBox="1"/>
          <p:nvPr/>
        </p:nvSpPr>
        <p:spPr>
          <a:xfrm>
            <a:off x="1225296" y="1551848"/>
            <a:ext cx="2462952" cy="540319"/>
          </a:xfrm>
          <a:prstGeom prst="rect">
            <a:avLst/>
          </a:prstGeom>
          <a:noFill/>
        </p:spPr>
        <p:txBody>
          <a:bodyPr vert="horz" wrap="square" lIns="0" tIns="169333" rIns="0" bIns="0" rtlCol="0">
            <a:spAutoFit/>
          </a:bodyPr>
          <a:lstStyle/>
          <a:p>
            <a:pPr marL="698483">
              <a:spcBef>
                <a:spcPts val="1333"/>
              </a:spcBef>
            </a:pPr>
            <a:r>
              <a:rPr sz="2400" b="1" spc="-13" dirty="0">
                <a:solidFill>
                  <a:schemeClr val="accent5">
                    <a:lumMod val="20000"/>
                    <a:lumOff val="80000"/>
                  </a:schemeClr>
                </a:solidFill>
                <a:latin typeface="Calibri"/>
                <a:cs typeface="Calibri"/>
              </a:rPr>
              <a:t>Additive</a:t>
            </a:r>
            <a:endParaRPr sz="2400">
              <a:solidFill>
                <a:schemeClr val="accent5">
                  <a:lumMod val="20000"/>
                  <a:lumOff val="80000"/>
                </a:schemeClr>
              </a:solidFill>
              <a:latin typeface="Calibri"/>
              <a:cs typeface="Calibri"/>
            </a:endParaRPr>
          </a:p>
        </p:txBody>
      </p:sp>
      <p:sp>
        <p:nvSpPr>
          <p:cNvPr id="11" name="object 11"/>
          <p:cNvSpPr txBox="1"/>
          <p:nvPr/>
        </p:nvSpPr>
        <p:spPr>
          <a:xfrm>
            <a:off x="8670543" y="1601215"/>
            <a:ext cx="2743200" cy="538609"/>
          </a:xfrm>
          <a:prstGeom prst="rect">
            <a:avLst/>
          </a:prstGeom>
          <a:noFill/>
        </p:spPr>
        <p:txBody>
          <a:bodyPr vert="horz" wrap="square" lIns="0" tIns="167640" rIns="0" bIns="0" rtlCol="0">
            <a:spAutoFit/>
          </a:bodyPr>
          <a:lstStyle/>
          <a:p>
            <a:pPr marL="546932">
              <a:spcBef>
                <a:spcPts val="1320"/>
              </a:spcBef>
            </a:pPr>
            <a:r>
              <a:rPr sz="2400" b="1" dirty="0">
                <a:solidFill>
                  <a:schemeClr val="accent5">
                    <a:lumMod val="20000"/>
                    <a:lumOff val="80000"/>
                  </a:schemeClr>
                </a:solidFill>
                <a:latin typeface="Calibri"/>
                <a:cs typeface="Calibri"/>
              </a:rPr>
              <a:t>Non-</a:t>
            </a:r>
            <a:r>
              <a:rPr sz="2400" b="1" spc="-13" dirty="0">
                <a:solidFill>
                  <a:schemeClr val="accent5">
                    <a:lumMod val="20000"/>
                    <a:lumOff val="80000"/>
                  </a:schemeClr>
                </a:solidFill>
                <a:latin typeface="Calibri"/>
                <a:cs typeface="Calibri"/>
              </a:rPr>
              <a:t>additive</a:t>
            </a:r>
            <a:endParaRPr sz="2400" dirty="0">
              <a:solidFill>
                <a:schemeClr val="accent5">
                  <a:lumMod val="20000"/>
                  <a:lumOff val="80000"/>
                </a:schemeClr>
              </a:solidFill>
              <a:latin typeface="Calibri"/>
              <a:cs typeface="Calibri"/>
            </a:endParaRPr>
          </a:p>
        </p:txBody>
      </p:sp>
      <p:grpSp>
        <p:nvGrpSpPr>
          <p:cNvPr id="12" name="object 12"/>
          <p:cNvGrpSpPr/>
          <p:nvPr/>
        </p:nvGrpSpPr>
        <p:grpSpPr>
          <a:xfrm>
            <a:off x="7826755" y="2008633"/>
            <a:ext cx="514773" cy="4866639"/>
            <a:chOff x="5870066" y="1506474"/>
            <a:chExt cx="386080" cy="3649979"/>
          </a:xfrm>
        </p:grpSpPr>
        <p:sp>
          <p:nvSpPr>
            <p:cNvPr id="13" name="object 13"/>
            <p:cNvSpPr/>
            <p:nvPr/>
          </p:nvSpPr>
          <p:spPr>
            <a:xfrm>
              <a:off x="5882766" y="1519174"/>
              <a:ext cx="360680" cy="3624579"/>
            </a:xfrm>
            <a:custGeom>
              <a:avLst/>
              <a:gdLst/>
              <a:ahLst/>
              <a:cxnLst/>
              <a:rect l="l" t="t" r="r" b="b"/>
              <a:pathLst>
                <a:path w="360679" h="3624579">
                  <a:moveTo>
                    <a:pt x="91186" y="0"/>
                  </a:moveTo>
                  <a:lnTo>
                    <a:pt x="0" y="11302"/>
                  </a:lnTo>
                  <a:lnTo>
                    <a:pt x="139192" y="1884933"/>
                  </a:lnTo>
                  <a:lnTo>
                    <a:pt x="355283" y="3624324"/>
                  </a:lnTo>
                  <a:lnTo>
                    <a:pt x="360464" y="3624324"/>
                  </a:lnTo>
                  <a:lnTo>
                    <a:pt x="91186" y="0"/>
                  </a:lnTo>
                  <a:close/>
                </a:path>
              </a:pathLst>
            </a:custGeom>
            <a:solidFill>
              <a:srgbClr val="777777"/>
            </a:solidFill>
          </p:spPr>
          <p:txBody>
            <a:bodyPr wrap="square" lIns="0" tIns="0" rIns="0" bIns="0" rtlCol="0"/>
            <a:lstStyle/>
            <a:p>
              <a:endParaRPr sz="2400"/>
            </a:p>
          </p:txBody>
        </p:sp>
        <p:sp>
          <p:nvSpPr>
            <p:cNvPr id="14" name="object 14"/>
            <p:cNvSpPr/>
            <p:nvPr/>
          </p:nvSpPr>
          <p:spPr>
            <a:xfrm>
              <a:off x="5882766" y="1519174"/>
              <a:ext cx="360680" cy="3624579"/>
            </a:xfrm>
            <a:custGeom>
              <a:avLst/>
              <a:gdLst/>
              <a:ahLst/>
              <a:cxnLst/>
              <a:rect l="l" t="t" r="r" b="b"/>
              <a:pathLst>
                <a:path w="360679" h="3624579">
                  <a:moveTo>
                    <a:pt x="355283" y="3624324"/>
                  </a:moveTo>
                  <a:lnTo>
                    <a:pt x="139192" y="1884933"/>
                  </a:lnTo>
                  <a:lnTo>
                    <a:pt x="0" y="11302"/>
                  </a:lnTo>
                  <a:lnTo>
                    <a:pt x="91186" y="0"/>
                  </a:lnTo>
                  <a:lnTo>
                    <a:pt x="360464" y="3624324"/>
                  </a:lnTo>
                </a:path>
              </a:pathLst>
            </a:custGeom>
            <a:ln w="25400">
              <a:solidFill>
                <a:srgbClr val="252525"/>
              </a:solidFill>
            </a:ln>
          </p:spPr>
          <p:txBody>
            <a:bodyPr wrap="square" lIns="0" tIns="0" rIns="0" bIns="0" rtlCol="0"/>
            <a:lstStyle/>
            <a:p>
              <a:endParaRPr sz="2400"/>
            </a:p>
          </p:txBody>
        </p:sp>
      </p:grpSp>
      <p:sp>
        <p:nvSpPr>
          <p:cNvPr id="15" name="object 15"/>
          <p:cNvSpPr txBox="1"/>
          <p:nvPr/>
        </p:nvSpPr>
        <p:spPr>
          <a:xfrm>
            <a:off x="4677833" y="2494956"/>
            <a:ext cx="3793067"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 pos="3535592" algn="l"/>
              </a:tabLst>
            </a:pPr>
            <a:r>
              <a:rPr sz="2400" b="1" dirty="0">
                <a:solidFill>
                  <a:srgbClr val="D9D9D9"/>
                </a:solidFill>
                <a:latin typeface="Calibri"/>
                <a:cs typeface="Calibri"/>
              </a:rPr>
              <a:t>Can</a:t>
            </a:r>
            <a:r>
              <a:rPr sz="2400" b="1" spc="-13" dirty="0">
                <a:solidFill>
                  <a:srgbClr val="D9D9D9"/>
                </a:solidFill>
                <a:latin typeface="Calibri"/>
                <a:cs typeface="Calibri"/>
              </a:rPr>
              <a:t> </a:t>
            </a:r>
            <a:r>
              <a:rPr sz="2400" b="1" dirty="0">
                <a:solidFill>
                  <a:srgbClr val="D9D9D9"/>
                </a:solidFill>
                <a:latin typeface="Calibri"/>
                <a:cs typeface="Calibri"/>
              </a:rPr>
              <a:t>be</a:t>
            </a:r>
            <a:r>
              <a:rPr sz="2400" b="1" spc="-27" dirty="0">
                <a:solidFill>
                  <a:srgbClr val="D9D9D9"/>
                </a:solidFill>
                <a:latin typeface="Calibri"/>
                <a:cs typeface="Calibri"/>
              </a:rPr>
              <a:t> </a:t>
            </a:r>
            <a:r>
              <a:rPr sz="2400" b="1" dirty="0">
                <a:solidFill>
                  <a:srgbClr val="D9D9D9"/>
                </a:solidFill>
                <a:latin typeface="Calibri"/>
                <a:cs typeface="Calibri"/>
              </a:rPr>
              <a:t>added</a:t>
            </a:r>
            <a:r>
              <a:rPr sz="2400" b="1" spc="-40" dirty="0">
                <a:solidFill>
                  <a:srgbClr val="D9D9D9"/>
                </a:solidFill>
                <a:latin typeface="Calibri"/>
                <a:cs typeface="Calibri"/>
              </a:rPr>
              <a:t> </a:t>
            </a:r>
            <a:r>
              <a:rPr sz="2400" b="1" spc="-13" dirty="0">
                <a:solidFill>
                  <a:srgbClr val="D9D9D9"/>
                </a:solidFill>
                <a:latin typeface="Calibri"/>
                <a:cs typeface="Calibri"/>
              </a:rPr>
              <a:t>across</a:t>
            </a:r>
            <a:r>
              <a:rPr sz="2400" b="1" dirty="0">
                <a:solidFill>
                  <a:srgbClr val="D9D9D9"/>
                </a:solidFill>
                <a:latin typeface="Calibri"/>
                <a:cs typeface="Calibri"/>
              </a:rPr>
              <a:t>	</a:t>
            </a:r>
            <a:r>
              <a:rPr sz="2400" spc="-67" dirty="0">
                <a:solidFill>
                  <a:srgbClr val="99D3FF"/>
                </a:solidFill>
                <a:latin typeface="Wingdings"/>
                <a:cs typeface="Wingdings"/>
              </a:rPr>
              <a:t></a:t>
            </a:r>
            <a:endParaRPr sz="2400">
              <a:latin typeface="Wingdings"/>
              <a:cs typeface="Wingdings"/>
            </a:endParaRPr>
          </a:p>
        </p:txBody>
      </p:sp>
      <p:sp>
        <p:nvSpPr>
          <p:cNvPr id="16" name="object 16"/>
          <p:cNvSpPr txBox="1"/>
          <p:nvPr/>
        </p:nvSpPr>
        <p:spPr>
          <a:xfrm>
            <a:off x="8594512" y="2523406"/>
            <a:ext cx="2175085" cy="359073"/>
          </a:xfrm>
          <a:prstGeom prst="rect">
            <a:avLst/>
          </a:prstGeom>
          <a:solidFill>
            <a:srgbClr val="25519E"/>
          </a:solidFill>
        </p:spPr>
        <p:txBody>
          <a:bodyPr vert="horz" wrap="square" lIns="0" tIns="0" rIns="0" bIns="0" rtlCol="0">
            <a:spAutoFit/>
          </a:bodyPr>
          <a:lstStyle/>
          <a:p>
            <a:pPr marL="847">
              <a:lnSpc>
                <a:spcPts val="2787"/>
              </a:lnSpc>
            </a:pPr>
            <a:r>
              <a:rPr sz="2400" b="1" dirty="0">
                <a:solidFill>
                  <a:srgbClr val="D9D9D9"/>
                </a:solidFill>
                <a:latin typeface="Calibri"/>
                <a:cs typeface="Calibri"/>
              </a:rPr>
              <a:t>Cannot</a:t>
            </a:r>
            <a:r>
              <a:rPr sz="2400" b="1" spc="-33" dirty="0">
                <a:solidFill>
                  <a:srgbClr val="D9D9D9"/>
                </a:solidFill>
                <a:latin typeface="Calibri"/>
                <a:cs typeface="Calibri"/>
              </a:rPr>
              <a:t> </a:t>
            </a:r>
            <a:r>
              <a:rPr sz="2400" b="1" dirty="0">
                <a:solidFill>
                  <a:srgbClr val="D9D9D9"/>
                </a:solidFill>
                <a:latin typeface="Calibri"/>
                <a:cs typeface="Calibri"/>
              </a:rPr>
              <a:t>be</a:t>
            </a:r>
            <a:r>
              <a:rPr sz="2400" b="1" spc="-13" dirty="0">
                <a:solidFill>
                  <a:srgbClr val="D9D9D9"/>
                </a:solidFill>
                <a:latin typeface="Calibri"/>
                <a:cs typeface="Calibri"/>
              </a:rPr>
              <a:t> added</a:t>
            </a:r>
            <a:endParaRPr sz="2400">
              <a:latin typeface="Calibri"/>
              <a:cs typeface="Calibri"/>
            </a:endParaRPr>
          </a:p>
        </p:txBody>
      </p:sp>
      <p:sp>
        <p:nvSpPr>
          <p:cNvPr id="17" name="object 17"/>
          <p:cNvSpPr txBox="1"/>
          <p:nvPr/>
        </p:nvSpPr>
        <p:spPr>
          <a:xfrm>
            <a:off x="8578765" y="3043191"/>
            <a:ext cx="2747433" cy="386430"/>
          </a:xfrm>
          <a:prstGeom prst="rect">
            <a:avLst/>
          </a:prstGeom>
        </p:spPr>
        <p:txBody>
          <a:bodyPr vert="horz" wrap="square" lIns="0" tIns="16933" rIns="0" bIns="0" rtlCol="0">
            <a:spAutoFit/>
          </a:bodyPr>
          <a:lstStyle/>
          <a:p>
            <a:pPr marL="16933">
              <a:spcBef>
                <a:spcPts val="133"/>
              </a:spcBef>
            </a:pPr>
            <a:r>
              <a:rPr sz="2400" b="1" dirty="0">
                <a:solidFill>
                  <a:srgbClr val="D9D9D9"/>
                </a:solidFill>
                <a:latin typeface="Calibri"/>
                <a:cs typeface="Calibri"/>
              </a:rPr>
              <a:t>across</a:t>
            </a:r>
            <a:r>
              <a:rPr sz="2400" b="1" spc="-33" dirty="0">
                <a:solidFill>
                  <a:srgbClr val="D9D9D9"/>
                </a:solidFill>
                <a:latin typeface="Calibri"/>
                <a:cs typeface="Calibri"/>
              </a:rPr>
              <a:t> </a:t>
            </a:r>
            <a:r>
              <a:rPr sz="2400" b="1" dirty="0">
                <a:solidFill>
                  <a:srgbClr val="D9D9D9"/>
                </a:solidFill>
                <a:latin typeface="Calibri"/>
                <a:cs typeface="Calibri"/>
              </a:rPr>
              <a:t>any</a:t>
            </a:r>
            <a:r>
              <a:rPr sz="2400" b="1" spc="-20" dirty="0">
                <a:solidFill>
                  <a:srgbClr val="D9D9D9"/>
                </a:solidFill>
                <a:latin typeface="Calibri"/>
                <a:cs typeface="Calibri"/>
              </a:rPr>
              <a:t> </a:t>
            </a:r>
            <a:r>
              <a:rPr sz="2400" b="1" spc="-13" dirty="0">
                <a:solidFill>
                  <a:srgbClr val="D9D9D9"/>
                </a:solidFill>
                <a:latin typeface="Calibri"/>
                <a:cs typeface="Calibri"/>
              </a:rPr>
              <a:t>dimension</a:t>
            </a:r>
            <a:endParaRPr sz="2400">
              <a:latin typeface="Calibri"/>
              <a:cs typeface="Calibri"/>
            </a:endParaRPr>
          </a:p>
        </p:txBody>
      </p:sp>
      <p:sp>
        <p:nvSpPr>
          <p:cNvPr id="18" name="object 18"/>
          <p:cNvSpPr txBox="1"/>
          <p:nvPr/>
        </p:nvSpPr>
        <p:spPr>
          <a:xfrm>
            <a:off x="546743" y="3696376"/>
            <a:ext cx="3197013"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Most</a:t>
            </a:r>
            <a:r>
              <a:rPr sz="2400" b="1" spc="-20" dirty="0">
                <a:solidFill>
                  <a:srgbClr val="D9D9D9"/>
                </a:solidFill>
                <a:latin typeface="Calibri"/>
                <a:cs typeface="Calibri"/>
              </a:rPr>
              <a:t> </a:t>
            </a:r>
            <a:r>
              <a:rPr sz="2400" b="1" dirty="0">
                <a:solidFill>
                  <a:srgbClr val="D9D9D9"/>
                </a:solidFill>
                <a:latin typeface="Calibri"/>
                <a:cs typeface="Calibri"/>
              </a:rPr>
              <a:t>flexible</a:t>
            </a:r>
            <a:r>
              <a:rPr sz="2400" b="1" spc="-40" dirty="0">
                <a:solidFill>
                  <a:srgbClr val="D9D9D9"/>
                </a:solidFill>
                <a:latin typeface="Calibri"/>
                <a:cs typeface="Calibri"/>
              </a:rPr>
              <a:t> </a:t>
            </a:r>
            <a:r>
              <a:rPr sz="2400" b="1" dirty="0">
                <a:solidFill>
                  <a:srgbClr val="D9D9D9"/>
                </a:solidFill>
                <a:latin typeface="Calibri"/>
                <a:cs typeface="Calibri"/>
              </a:rPr>
              <a:t>&amp;</a:t>
            </a:r>
            <a:r>
              <a:rPr sz="2400" b="1" spc="-13" dirty="0">
                <a:solidFill>
                  <a:srgbClr val="D9D9D9"/>
                </a:solidFill>
                <a:latin typeface="Calibri"/>
                <a:cs typeface="Calibri"/>
              </a:rPr>
              <a:t> useful</a:t>
            </a:r>
            <a:endParaRPr sz="2400">
              <a:latin typeface="Calibri"/>
              <a:cs typeface="Calibri"/>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97319" y="206360"/>
            <a:ext cx="8390466" cy="695062"/>
          </a:xfrm>
          <a:prstGeom prst="rect">
            <a:avLst/>
          </a:prstGeom>
        </p:spPr>
        <p:txBody>
          <a:bodyPr vert="horz" wrap="square" lIns="0" tIns="17780" rIns="0" bIns="0" rtlCol="0" anchor="ctr">
            <a:spAutoFit/>
          </a:bodyPr>
          <a:lstStyle/>
          <a:p>
            <a:pPr marL="2202972">
              <a:lnSpc>
                <a:spcPct val="100000"/>
              </a:lnSpc>
              <a:spcBef>
                <a:spcPts val="140"/>
              </a:spcBef>
            </a:pPr>
            <a:r>
              <a:rPr dirty="0">
                <a:solidFill>
                  <a:schemeClr val="bg1"/>
                </a:solidFill>
                <a:latin typeface="+mn-lt"/>
              </a:rPr>
              <a:t>Additive</a:t>
            </a:r>
            <a:r>
              <a:rPr spc="-127" dirty="0">
                <a:solidFill>
                  <a:schemeClr val="bg1"/>
                </a:solidFill>
                <a:latin typeface="+mn-lt"/>
              </a:rPr>
              <a:t> </a:t>
            </a:r>
            <a:r>
              <a:rPr spc="-13" dirty="0">
                <a:solidFill>
                  <a:schemeClr val="bg1"/>
                </a:solidFill>
                <a:latin typeface="+mn-lt"/>
              </a:rPr>
              <a:t>facts</a:t>
            </a:r>
          </a:p>
        </p:txBody>
      </p:sp>
      <p:sp>
        <p:nvSpPr>
          <p:cNvPr id="3" name="object 3"/>
          <p:cNvSpPr/>
          <p:nvPr/>
        </p:nvSpPr>
        <p:spPr>
          <a:xfrm>
            <a:off x="812800" y="2940303"/>
            <a:ext cx="7112000" cy="1581573"/>
          </a:xfrm>
          <a:custGeom>
            <a:avLst/>
            <a:gdLst/>
            <a:ahLst/>
            <a:cxnLst/>
            <a:rect l="l" t="t" r="r" b="b"/>
            <a:pathLst>
              <a:path w="5334000" h="1186179">
                <a:moveTo>
                  <a:pt x="5334000" y="0"/>
                </a:moveTo>
                <a:lnTo>
                  <a:pt x="0" y="1186180"/>
                </a:lnTo>
              </a:path>
            </a:pathLst>
          </a:custGeom>
          <a:ln w="76200">
            <a:solidFill>
              <a:srgbClr val="00C2FF"/>
            </a:solidFill>
          </a:ln>
        </p:spPr>
        <p:txBody>
          <a:bodyPr wrap="square" lIns="0" tIns="0" rIns="0" bIns="0" rtlCol="0"/>
          <a:lstStyle/>
          <a:p>
            <a:endParaRPr sz="2400"/>
          </a:p>
        </p:txBody>
      </p:sp>
      <p:graphicFrame>
        <p:nvGraphicFramePr>
          <p:cNvPr id="4" name="object 4"/>
          <p:cNvGraphicFramePr>
            <a:graphicFrameLocks noGrp="1"/>
          </p:cNvGraphicFramePr>
          <p:nvPr>
            <p:extLst>
              <p:ext uri="{D42A27DB-BD31-4B8C-83A1-F6EECF244321}">
                <p14:modId xmlns:p14="http://schemas.microsoft.com/office/powerpoint/2010/main" val="2678834847"/>
              </p:ext>
            </p:extLst>
          </p:nvPr>
        </p:nvGraphicFramePr>
        <p:xfrm>
          <a:off x="6290734" y="1494874"/>
          <a:ext cx="4470400" cy="1496060"/>
        </p:xfrm>
        <a:graphic>
          <a:graphicData uri="http://schemas.openxmlformats.org/drawingml/2006/table">
            <a:tbl>
              <a:tblPr firstRow="1" bandRow="1">
                <a:tableStyleId>{2D5ABB26-0587-4C30-8999-92F81FD0307C}</a:tableStyleId>
              </a:tblPr>
              <a:tblGrid>
                <a:gridCol w="9144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698500">
                  <a:extLst>
                    <a:ext uri="{9D8B030D-6E8A-4147-A177-3AD203B41FA5}">
                      <a16:colId xmlns:a16="http://schemas.microsoft.com/office/drawing/2014/main" val="20003"/>
                    </a:ext>
                  </a:extLst>
                </a:gridCol>
                <a:gridCol w="698500">
                  <a:extLst>
                    <a:ext uri="{9D8B030D-6E8A-4147-A177-3AD203B41FA5}">
                      <a16:colId xmlns:a16="http://schemas.microsoft.com/office/drawing/2014/main" val="20004"/>
                    </a:ext>
                  </a:extLst>
                </a:gridCol>
              </a:tblGrid>
              <a:tr h="226060">
                <a:tc>
                  <a:txBody>
                    <a:bodyPr/>
                    <a:lstStyle/>
                    <a:p>
                      <a:pPr algn="ctr">
                        <a:lnSpc>
                          <a:spcPct val="100000"/>
                        </a:lnSpc>
                        <a:spcBef>
                          <a:spcPts val="60"/>
                        </a:spcBef>
                      </a:pPr>
                      <a:r>
                        <a:rPr sz="1400" b="1" spc="-10" dirty="0">
                          <a:solidFill>
                            <a:schemeClr val="bg1"/>
                          </a:solidFill>
                          <a:latin typeface="Arial"/>
                          <a:cs typeface="Arial"/>
                        </a:rPr>
                        <a:t>sales_id</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3175" algn="ctr">
                        <a:lnSpc>
                          <a:spcPct val="100000"/>
                        </a:lnSpc>
                        <a:spcBef>
                          <a:spcPts val="60"/>
                        </a:spcBef>
                      </a:pPr>
                      <a:r>
                        <a:rPr sz="1400" b="1" spc="-10" dirty="0">
                          <a:solidFill>
                            <a:schemeClr val="bg1"/>
                          </a:solidFill>
                          <a:latin typeface="Arial"/>
                          <a:cs typeface="Arial"/>
                        </a:rPr>
                        <a:t>product_id</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1270" algn="ctr">
                        <a:lnSpc>
                          <a:spcPct val="100000"/>
                        </a:lnSpc>
                        <a:spcBef>
                          <a:spcPts val="60"/>
                        </a:spcBef>
                      </a:pPr>
                      <a:r>
                        <a:rPr sz="1400" b="1" spc="-10" dirty="0">
                          <a:solidFill>
                            <a:schemeClr val="bg1"/>
                          </a:solidFill>
                          <a:latin typeface="Arial"/>
                          <a:cs typeface="Arial"/>
                        </a:rPr>
                        <a:t>date_id</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1270" algn="ctr">
                        <a:lnSpc>
                          <a:spcPct val="100000"/>
                        </a:lnSpc>
                        <a:spcBef>
                          <a:spcPts val="60"/>
                        </a:spcBef>
                      </a:pPr>
                      <a:r>
                        <a:rPr sz="1400" b="1" spc="-10" dirty="0">
                          <a:solidFill>
                            <a:schemeClr val="bg1"/>
                          </a:solidFill>
                          <a:latin typeface="Arial"/>
                          <a:cs typeface="Arial"/>
                        </a:rPr>
                        <a:t>units</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1905" algn="ctr">
                        <a:lnSpc>
                          <a:spcPct val="100000"/>
                        </a:lnSpc>
                        <a:spcBef>
                          <a:spcPts val="60"/>
                        </a:spcBef>
                      </a:pPr>
                      <a:r>
                        <a:rPr sz="1400" b="1" spc="-10" dirty="0">
                          <a:solidFill>
                            <a:schemeClr val="bg1"/>
                          </a:solidFill>
                          <a:latin typeface="Arial"/>
                          <a:cs typeface="Arial"/>
                        </a:rPr>
                        <a:t>amount</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extLst>
                  <a:ext uri="{0D108BD9-81ED-4DB2-BD59-A6C34878D82A}">
                    <a16:rowId xmlns:a16="http://schemas.microsoft.com/office/drawing/2014/main" val="10000"/>
                  </a:ext>
                </a:extLst>
              </a:tr>
              <a:tr h="254000">
                <a:tc>
                  <a:txBody>
                    <a:bodyPr/>
                    <a:lstStyle/>
                    <a:p>
                      <a:pPr algn="ctr">
                        <a:lnSpc>
                          <a:spcPct val="100000"/>
                        </a:lnSpc>
                        <a:spcBef>
                          <a:spcPts val="225"/>
                        </a:spcBef>
                      </a:pPr>
                      <a:r>
                        <a:rPr sz="1400" spc="-50" dirty="0">
                          <a:latin typeface="Arial MT"/>
                          <a:cs typeface="Arial MT"/>
                        </a:rPr>
                        <a:t>1</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50" dirty="0">
                          <a:latin typeface="Arial MT"/>
                          <a:cs typeface="Arial MT"/>
                        </a:rPr>
                        <a:t>3</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10" dirty="0">
                          <a:latin typeface="Arial MT"/>
                          <a:cs typeface="Arial MT"/>
                        </a:rPr>
                        <a:t>20220101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20" dirty="0">
                          <a:latin typeface="Arial MT"/>
                          <a:cs typeface="Arial MT"/>
                        </a:rPr>
                        <a:t>2.99</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50" dirty="0">
                          <a:latin typeface="Arial MT"/>
                          <a:cs typeface="Arial MT"/>
                        </a:rPr>
                        <a:t>5</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10" dirty="0">
                          <a:latin typeface="Arial MT"/>
                          <a:cs typeface="Arial MT"/>
                        </a:rPr>
                        <a:t>20220102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20" dirty="0">
                          <a:latin typeface="Arial MT"/>
                          <a:cs typeface="Arial MT"/>
                        </a:rPr>
                        <a:t>1.99</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ct val="10000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10" dirty="0">
                          <a:latin typeface="Arial MT"/>
                          <a:cs typeface="Arial MT"/>
                        </a:rPr>
                        <a:t>20220102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20" dirty="0">
                          <a:latin typeface="Arial MT"/>
                          <a:cs typeface="Arial MT"/>
                        </a:rPr>
                        <a:t>3.49</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algn="ctr">
                        <a:lnSpc>
                          <a:spcPct val="100000"/>
                        </a:lnSpc>
                        <a:spcBef>
                          <a:spcPts val="225"/>
                        </a:spcBef>
                      </a:pPr>
                      <a:r>
                        <a:rPr sz="1400" spc="-50" dirty="0">
                          <a:latin typeface="Arial MT"/>
                          <a:cs typeface="Arial MT"/>
                        </a:rPr>
                        <a:t>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10" dirty="0">
                          <a:latin typeface="Arial MT"/>
                          <a:cs typeface="Arial MT"/>
                        </a:rPr>
                        <a:t>20220103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20" dirty="0">
                          <a:latin typeface="Arial MT"/>
                          <a:cs typeface="Arial MT"/>
                        </a:rPr>
                        <a:t>2.29</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algn="ctr">
                        <a:lnSpc>
                          <a:spcPct val="100000"/>
                        </a:lnSpc>
                        <a:spcBef>
                          <a:spcPts val="225"/>
                        </a:spcBef>
                      </a:pPr>
                      <a:r>
                        <a:rPr sz="1400" spc="-50" dirty="0">
                          <a:latin typeface="Arial MT"/>
                          <a:cs typeface="Arial MT"/>
                        </a:rPr>
                        <a:t>5</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10" dirty="0">
                          <a:latin typeface="Arial MT"/>
                          <a:cs typeface="Arial MT"/>
                        </a:rPr>
                        <a:t>20220104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50" dirty="0">
                          <a:latin typeface="Arial MT"/>
                          <a:cs typeface="Arial MT"/>
                        </a:rPr>
                        <a:t>5</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20" dirty="0">
                          <a:latin typeface="Arial MT"/>
                          <a:cs typeface="Arial MT"/>
                        </a:rPr>
                        <a:t>1.49</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graphicFrame>
        <p:nvGraphicFramePr>
          <p:cNvPr id="5" name="object 5"/>
          <p:cNvGraphicFramePr>
            <a:graphicFrameLocks noGrp="1"/>
          </p:cNvGraphicFramePr>
          <p:nvPr>
            <p:extLst>
              <p:ext uri="{D42A27DB-BD31-4B8C-83A1-F6EECF244321}">
                <p14:modId xmlns:p14="http://schemas.microsoft.com/office/powerpoint/2010/main" val="3534908795"/>
              </p:ext>
            </p:extLst>
          </p:nvPr>
        </p:nvGraphicFramePr>
        <p:xfrm>
          <a:off x="255727" y="4495630"/>
          <a:ext cx="5936825" cy="1495213"/>
        </p:xfrm>
        <a:graphic>
          <a:graphicData uri="http://schemas.openxmlformats.org/drawingml/2006/table">
            <a:tbl>
              <a:tblPr firstRow="1" bandRow="1">
                <a:tableStyleId>{2D5ABB26-0587-4C30-8999-92F81FD0307C}</a:tableStyleId>
              </a:tblPr>
              <a:tblGrid>
                <a:gridCol w="1263225">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665393">
                  <a:extLst>
                    <a:ext uri="{9D8B030D-6E8A-4147-A177-3AD203B41FA5}">
                      <a16:colId xmlns:a16="http://schemas.microsoft.com/office/drawing/2014/main" val="20002"/>
                    </a:ext>
                  </a:extLst>
                </a:gridCol>
                <a:gridCol w="1484207">
                  <a:extLst>
                    <a:ext uri="{9D8B030D-6E8A-4147-A177-3AD203B41FA5}">
                      <a16:colId xmlns:a16="http://schemas.microsoft.com/office/drawing/2014/main" val="20003"/>
                    </a:ext>
                  </a:extLst>
                </a:gridCol>
              </a:tblGrid>
              <a:tr h="225213">
                <a:tc>
                  <a:txBody>
                    <a:bodyPr/>
                    <a:lstStyle/>
                    <a:p>
                      <a:pPr algn="ctr">
                        <a:lnSpc>
                          <a:spcPct val="100000"/>
                        </a:lnSpc>
                        <a:spcBef>
                          <a:spcPts val="60"/>
                        </a:spcBef>
                      </a:pPr>
                      <a:r>
                        <a:rPr sz="1400" b="1" spc="-10" dirty="0">
                          <a:solidFill>
                            <a:schemeClr val="bg1"/>
                          </a:solidFill>
                          <a:latin typeface="Arial"/>
                          <a:cs typeface="Arial"/>
                        </a:rPr>
                        <a:t>product_id</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635" algn="ctr">
                        <a:lnSpc>
                          <a:spcPct val="100000"/>
                        </a:lnSpc>
                        <a:spcBef>
                          <a:spcPts val="60"/>
                        </a:spcBef>
                      </a:pPr>
                      <a:r>
                        <a:rPr sz="1400" b="1" spc="-20" dirty="0">
                          <a:solidFill>
                            <a:schemeClr val="bg1"/>
                          </a:solidFill>
                          <a:latin typeface="Arial"/>
                          <a:cs typeface="Arial"/>
                        </a:rPr>
                        <a:t>name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905" algn="ctr">
                        <a:lnSpc>
                          <a:spcPct val="100000"/>
                        </a:lnSpc>
                        <a:spcBef>
                          <a:spcPts val="60"/>
                        </a:spcBef>
                      </a:pPr>
                      <a:r>
                        <a:rPr sz="1400" b="1" spc="-10" dirty="0">
                          <a:solidFill>
                            <a:schemeClr val="bg1"/>
                          </a:solidFill>
                          <a:latin typeface="Arial"/>
                          <a:cs typeface="Arial"/>
                        </a:rPr>
                        <a:t>category</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4445" algn="ctr">
                        <a:lnSpc>
                          <a:spcPct val="100000"/>
                        </a:lnSpc>
                        <a:spcBef>
                          <a:spcPts val="60"/>
                        </a:spcBef>
                      </a:pPr>
                      <a:r>
                        <a:rPr sz="1400" b="1" spc="-10" dirty="0">
                          <a:solidFill>
                            <a:schemeClr val="bg1"/>
                          </a:solidFill>
                          <a:latin typeface="Arial"/>
                          <a:cs typeface="Arial"/>
                        </a:rPr>
                        <a:t>sub_category</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Chili</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Herbs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Spices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ct val="100000"/>
                        </a:lnSpc>
                        <a:spcBef>
                          <a:spcPts val="229"/>
                        </a:spcBef>
                      </a:pPr>
                      <a:r>
                        <a:rPr sz="1400" spc="-50" dirty="0">
                          <a:latin typeface="Arial MT"/>
                          <a:cs typeface="Arial MT"/>
                        </a:rPr>
                        <a:t>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spc="-10" dirty="0">
                          <a:latin typeface="Arial MT"/>
                          <a:cs typeface="Arial MT"/>
                        </a:rPr>
                        <a:t>Garlic</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dirty="0">
                          <a:latin typeface="Arial MT"/>
                          <a:cs typeface="Arial MT"/>
                        </a:rPr>
                        <a:t>Fruits</a:t>
                      </a:r>
                      <a:r>
                        <a:rPr sz="1400" spc="-30" dirty="0">
                          <a:latin typeface="Arial MT"/>
                          <a:cs typeface="Arial MT"/>
                        </a:rPr>
                        <a:t> </a:t>
                      </a:r>
                      <a:r>
                        <a:rPr sz="1400" dirty="0">
                          <a:latin typeface="Arial MT"/>
                          <a:cs typeface="Arial MT"/>
                        </a:rPr>
                        <a:t>&amp;</a:t>
                      </a:r>
                      <a:r>
                        <a:rPr sz="1400" spc="-25" dirty="0">
                          <a:latin typeface="Arial MT"/>
                          <a:cs typeface="Arial MT"/>
                        </a:rPr>
                        <a:t> </a:t>
                      </a:r>
                      <a:r>
                        <a:rPr sz="1400" spc="-10" dirty="0">
                          <a:latin typeface="Arial MT"/>
                          <a:cs typeface="Arial MT"/>
                        </a:rPr>
                        <a:t>Vegetables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10" dirty="0">
                          <a:latin typeface="Arial MT"/>
                          <a:cs typeface="Arial MT"/>
                        </a:rPr>
                        <a:t>Vegetable</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ct val="10000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10" dirty="0">
                          <a:latin typeface="Arial MT"/>
                          <a:cs typeface="Arial MT"/>
                        </a:rPr>
                        <a:t>Banana</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dirty="0">
                          <a:latin typeface="Arial MT"/>
                          <a:cs typeface="Arial MT"/>
                        </a:rPr>
                        <a:t>Fruits</a:t>
                      </a:r>
                      <a:r>
                        <a:rPr sz="1400" spc="-30" dirty="0">
                          <a:latin typeface="Arial MT"/>
                          <a:cs typeface="Arial MT"/>
                        </a:rPr>
                        <a:t> </a:t>
                      </a:r>
                      <a:r>
                        <a:rPr sz="1400" dirty="0">
                          <a:latin typeface="Arial MT"/>
                          <a:cs typeface="Arial MT"/>
                        </a:rPr>
                        <a:t>&amp;</a:t>
                      </a:r>
                      <a:r>
                        <a:rPr sz="1400" spc="-25" dirty="0">
                          <a:latin typeface="Arial MT"/>
                          <a:cs typeface="Arial MT"/>
                        </a:rPr>
                        <a:t> </a:t>
                      </a:r>
                      <a:r>
                        <a:rPr sz="1400" spc="-10" dirty="0">
                          <a:latin typeface="Arial MT"/>
                          <a:cs typeface="Arial MT"/>
                        </a:rPr>
                        <a:t>Vegetables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spc="-10" dirty="0">
                          <a:latin typeface="Arial MT"/>
                          <a:cs typeface="Arial MT"/>
                        </a:rPr>
                        <a:t>Fruits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algn="ctr">
                        <a:lnSpc>
                          <a:spcPct val="100000"/>
                        </a:lnSpc>
                        <a:spcBef>
                          <a:spcPts val="229"/>
                        </a:spcBef>
                      </a:pPr>
                      <a:r>
                        <a:rPr sz="1400" spc="-50" dirty="0">
                          <a:latin typeface="Arial MT"/>
                          <a:cs typeface="Arial MT"/>
                        </a:rPr>
                        <a:t>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10" dirty="0">
                          <a:latin typeface="Arial MT"/>
                          <a:cs typeface="Arial MT"/>
                        </a:rPr>
                        <a:t>Chocolate</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dirty="0">
                          <a:latin typeface="Arial MT"/>
                          <a:cs typeface="Arial MT"/>
                        </a:rPr>
                        <a:t>Sweets</a:t>
                      </a:r>
                      <a:r>
                        <a:rPr sz="1400" spc="-30" dirty="0">
                          <a:latin typeface="Arial MT"/>
                          <a:cs typeface="Arial MT"/>
                        </a:rPr>
                        <a:t> </a:t>
                      </a:r>
                      <a:r>
                        <a:rPr sz="1400" dirty="0">
                          <a:latin typeface="Arial MT"/>
                          <a:cs typeface="Arial MT"/>
                        </a:rPr>
                        <a:t>&amp;</a:t>
                      </a:r>
                      <a:r>
                        <a:rPr sz="1400" spc="-10" dirty="0">
                          <a:latin typeface="Arial MT"/>
                          <a:cs typeface="Arial MT"/>
                        </a:rPr>
                        <a:t> Snacks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spc="-10" dirty="0">
                          <a:latin typeface="Arial MT"/>
                          <a:cs typeface="Arial MT"/>
                        </a:rPr>
                        <a:t>Sweets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algn="ctr">
                        <a:lnSpc>
                          <a:spcPct val="100000"/>
                        </a:lnSpc>
                        <a:spcBef>
                          <a:spcPts val="229"/>
                        </a:spcBef>
                      </a:pPr>
                      <a:r>
                        <a:rPr sz="1400" spc="-50" dirty="0">
                          <a:latin typeface="Arial MT"/>
                          <a:cs typeface="Arial MT"/>
                        </a:rPr>
                        <a:t>5</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10" dirty="0">
                          <a:latin typeface="Arial MT"/>
                          <a:cs typeface="Arial MT"/>
                        </a:rPr>
                        <a:t>Chips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dirty="0">
                          <a:latin typeface="Arial MT"/>
                          <a:cs typeface="Arial MT"/>
                        </a:rPr>
                        <a:t>Sweets</a:t>
                      </a:r>
                      <a:r>
                        <a:rPr sz="1400" spc="-30" dirty="0">
                          <a:latin typeface="Arial MT"/>
                          <a:cs typeface="Arial MT"/>
                        </a:rPr>
                        <a:t> </a:t>
                      </a:r>
                      <a:r>
                        <a:rPr sz="1400" dirty="0">
                          <a:latin typeface="Arial MT"/>
                          <a:cs typeface="Arial MT"/>
                        </a:rPr>
                        <a:t>&amp;</a:t>
                      </a:r>
                      <a:r>
                        <a:rPr sz="1400" spc="-10" dirty="0">
                          <a:latin typeface="Arial MT"/>
                          <a:cs typeface="Arial MT"/>
                        </a:rPr>
                        <a:t> Snacks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spc="-10" dirty="0">
                          <a:latin typeface="Arial MT"/>
                          <a:cs typeface="Arial MT"/>
                        </a:rPr>
                        <a:t>Snacks</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graphicFrame>
        <p:nvGraphicFramePr>
          <p:cNvPr id="6" name="object 6"/>
          <p:cNvGraphicFramePr>
            <a:graphicFrameLocks noGrp="1"/>
          </p:cNvGraphicFramePr>
          <p:nvPr>
            <p:extLst>
              <p:ext uri="{D42A27DB-BD31-4B8C-83A1-F6EECF244321}">
                <p14:modId xmlns:p14="http://schemas.microsoft.com/office/powerpoint/2010/main" val="3610371417"/>
              </p:ext>
            </p:extLst>
          </p:nvPr>
        </p:nvGraphicFramePr>
        <p:xfrm>
          <a:off x="7062386" y="3622210"/>
          <a:ext cx="2531533" cy="987213"/>
        </p:xfrm>
        <a:graphic>
          <a:graphicData uri="http://schemas.openxmlformats.org/drawingml/2006/table">
            <a:tbl>
              <a:tblPr firstRow="1" bandRow="1">
                <a:tableStyleId>{2D5ABB26-0587-4C30-8999-92F81FD0307C}</a:tableStyleId>
              </a:tblPr>
              <a:tblGrid>
                <a:gridCol w="1609513">
                  <a:extLst>
                    <a:ext uri="{9D8B030D-6E8A-4147-A177-3AD203B41FA5}">
                      <a16:colId xmlns:a16="http://schemas.microsoft.com/office/drawing/2014/main" val="20000"/>
                    </a:ext>
                  </a:extLst>
                </a:gridCol>
                <a:gridCol w="922020">
                  <a:extLst>
                    <a:ext uri="{9D8B030D-6E8A-4147-A177-3AD203B41FA5}">
                      <a16:colId xmlns:a16="http://schemas.microsoft.com/office/drawing/2014/main" val="20001"/>
                    </a:ext>
                  </a:extLst>
                </a:gridCol>
              </a:tblGrid>
              <a:tr h="225213">
                <a:tc>
                  <a:txBody>
                    <a:bodyPr/>
                    <a:lstStyle/>
                    <a:p>
                      <a:pPr marL="4445" algn="ctr">
                        <a:lnSpc>
                          <a:spcPct val="100000"/>
                        </a:lnSpc>
                        <a:spcBef>
                          <a:spcPts val="65"/>
                        </a:spcBef>
                      </a:pPr>
                      <a:r>
                        <a:rPr sz="1400" b="1" spc="-10" dirty="0">
                          <a:solidFill>
                            <a:schemeClr val="bg1"/>
                          </a:solidFill>
                          <a:latin typeface="Arial"/>
                          <a:cs typeface="Arial"/>
                        </a:rPr>
                        <a:t>category</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270" algn="ctr">
                        <a:lnSpc>
                          <a:spcPct val="100000"/>
                        </a:lnSpc>
                        <a:spcBef>
                          <a:spcPts val="65"/>
                        </a:spcBef>
                      </a:pPr>
                      <a:r>
                        <a:rPr sz="1400" b="1" spc="-10" dirty="0">
                          <a:solidFill>
                            <a:schemeClr val="bg1"/>
                          </a:solidFill>
                          <a:latin typeface="Arial"/>
                          <a:cs typeface="Arial"/>
                        </a:rPr>
                        <a:t>units</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marL="1905" algn="ctr">
                        <a:lnSpc>
                          <a:spcPct val="100000"/>
                        </a:lnSpc>
                        <a:spcBef>
                          <a:spcPts val="229"/>
                        </a:spcBef>
                      </a:pPr>
                      <a:r>
                        <a:rPr sz="1400" spc="-10" dirty="0">
                          <a:latin typeface="Arial MT"/>
                          <a:cs typeface="Arial MT"/>
                        </a:rPr>
                        <a:t>Herbs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50" dirty="0">
                          <a:latin typeface="Arial MT"/>
                          <a:cs typeface="Arial MT"/>
                        </a:rPr>
                        <a:t>0</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ct val="100000"/>
                        </a:lnSpc>
                        <a:spcBef>
                          <a:spcPts val="229"/>
                        </a:spcBef>
                      </a:pPr>
                      <a:r>
                        <a:rPr sz="1400" dirty="0">
                          <a:latin typeface="Arial MT"/>
                          <a:cs typeface="Arial MT"/>
                        </a:rPr>
                        <a:t>Fruits</a:t>
                      </a:r>
                      <a:r>
                        <a:rPr sz="1400" spc="-30" dirty="0">
                          <a:latin typeface="Arial MT"/>
                          <a:cs typeface="Arial MT"/>
                        </a:rPr>
                        <a:t> </a:t>
                      </a:r>
                      <a:r>
                        <a:rPr sz="1400" dirty="0">
                          <a:latin typeface="Arial MT"/>
                          <a:cs typeface="Arial MT"/>
                        </a:rPr>
                        <a:t>&amp;</a:t>
                      </a:r>
                      <a:r>
                        <a:rPr sz="1400" spc="-25" dirty="0">
                          <a:latin typeface="Arial MT"/>
                          <a:cs typeface="Arial MT"/>
                        </a:rPr>
                        <a:t> </a:t>
                      </a:r>
                      <a:r>
                        <a:rPr sz="1400" spc="-10" dirty="0">
                          <a:latin typeface="Arial MT"/>
                          <a:cs typeface="Arial MT"/>
                        </a:rPr>
                        <a:t>Vegetables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50" dirty="0">
                          <a:latin typeface="Arial MT"/>
                          <a:cs typeface="Arial MT"/>
                        </a:rPr>
                        <a:t>9</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ct val="100000"/>
                        </a:lnSpc>
                        <a:spcBef>
                          <a:spcPts val="229"/>
                        </a:spcBef>
                      </a:pPr>
                      <a:r>
                        <a:rPr sz="1400" dirty="0">
                          <a:latin typeface="Arial MT"/>
                          <a:cs typeface="Arial MT"/>
                        </a:rPr>
                        <a:t>Sweets</a:t>
                      </a:r>
                      <a:r>
                        <a:rPr sz="1400" spc="-30" dirty="0">
                          <a:latin typeface="Arial MT"/>
                          <a:cs typeface="Arial MT"/>
                        </a:rPr>
                        <a:t> </a:t>
                      </a:r>
                      <a:r>
                        <a:rPr sz="1400" dirty="0">
                          <a:latin typeface="Arial MT"/>
                          <a:cs typeface="Arial MT"/>
                        </a:rPr>
                        <a:t>&amp;</a:t>
                      </a:r>
                      <a:r>
                        <a:rPr sz="1400" spc="-10" dirty="0">
                          <a:latin typeface="Arial MT"/>
                          <a:cs typeface="Arial MT"/>
                        </a:rPr>
                        <a:t> Snacks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50" dirty="0">
                          <a:latin typeface="Arial MT"/>
                          <a:cs typeface="Arial MT"/>
                        </a:rPr>
                        <a:t>1</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graphicFrame>
        <p:nvGraphicFramePr>
          <p:cNvPr id="7" name="object 7"/>
          <p:cNvGraphicFramePr>
            <a:graphicFrameLocks noGrp="1"/>
          </p:cNvGraphicFramePr>
          <p:nvPr>
            <p:extLst>
              <p:ext uri="{D42A27DB-BD31-4B8C-83A1-F6EECF244321}">
                <p14:modId xmlns:p14="http://schemas.microsoft.com/office/powerpoint/2010/main" val="1854957706"/>
              </p:ext>
            </p:extLst>
          </p:nvPr>
        </p:nvGraphicFramePr>
        <p:xfrm>
          <a:off x="7065263" y="4808896"/>
          <a:ext cx="2589106" cy="1495213"/>
        </p:xfrm>
        <a:graphic>
          <a:graphicData uri="http://schemas.openxmlformats.org/drawingml/2006/table">
            <a:tbl>
              <a:tblPr firstRow="1" bandRow="1">
                <a:tableStyleId>{2D5ABB26-0587-4C30-8999-92F81FD0307C}</a:tableStyleId>
              </a:tblPr>
              <a:tblGrid>
                <a:gridCol w="1294553">
                  <a:extLst>
                    <a:ext uri="{9D8B030D-6E8A-4147-A177-3AD203B41FA5}">
                      <a16:colId xmlns:a16="http://schemas.microsoft.com/office/drawing/2014/main" val="20000"/>
                    </a:ext>
                  </a:extLst>
                </a:gridCol>
                <a:gridCol w="1294553">
                  <a:extLst>
                    <a:ext uri="{9D8B030D-6E8A-4147-A177-3AD203B41FA5}">
                      <a16:colId xmlns:a16="http://schemas.microsoft.com/office/drawing/2014/main" val="20001"/>
                    </a:ext>
                  </a:extLst>
                </a:gridCol>
              </a:tblGrid>
              <a:tr h="226060">
                <a:tc>
                  <a:txBody>
                    <a:bodyPr/>
                    <a:lstStyle/>
                    <a:p>
                      <a:pPr marL="1905" algn="ctr">
                        <a:lnSpc>
                          <a:spcPct val="100000"/>
                        </a:lnSpc>
                        <a:spcBef>
                          <a:spcPts val="60"/>
                        </a:spcBef>
                      </a:pPr>
                      <a:r>
                        <a:rPr sz="1400" b="1" spc="-20" dirty="0">
                          <a:solidFill>
                            <a:schemeClr val="bg1"/>
                          </a:solidFill>
                          <a:latin typeface="Arial"/>
                          <a:cs typeface="Arial"/>
                        </a:rPr>
                        <a:t>name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270" algn="ctr">
                        <a:lnSpc>
                          <a:spcPct val="100000"/>
                        </a:lnSpc>
                        <a:spcBef>
                          <a:spcPts val="60"/>
                        </a:spcBef>
                      </a:pPr>
                      <a:r>
                        <a:rPr sz="1400" b="1" spc="-10" dirty="0">
                          <a:solidFill>
                            <a:schemeClr val="bg1"/>
                          </a:solidFill>
                          <a:latin typeface="Arial"/>
                          <a:cs typeface="Arial"/>
                        </a:rPr>
                        <a:t>Units</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3153">
                <a:tc>
                  <a:txBody>
                    <a:bodyPr/>
                    <a:lstStyle/>
                    <a:p>
                      <a:pPr algn="ctr">
                        <a:lnSpc>
                          <a:spcPct val="100000"/>
                        </a:lnSpc>
                        <a:spcBef>
                          <a:spcPts val="229"/>
                        </a:spcBef>
                      </a:pPr>
                      <a:r>
                        <a:rPr sz="1400" spc="-10" dirty="0">
                          <a:latin typeface="Arial MT"/>
                          <a:cs typeface="Arial MT"/>
                        </a:rPr>
                        <a:t>Chili</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50" dirty="0">
                          <a:latin typeface="Arial MT"/>
                          <a:cs typeface="Arial MT"/>
                        </a:rPr>
                        <a:t>0</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marL="1905" algn="ctr">
                        <a:lnSpc>
                          <a:spcPct val="100000"/>
                        </a:lnSpc>
                        <a:spcBef>
                          <a:spcPts val="229"/>
                        </a:spcBef>
                      </a:pPr>
                      <a:r>
                        <a:rPr sz="1400" spc="-10" dirty="0">
                          <a:latin typeface="Arial MT"/>
                          <a:cs typeface="Arial MT"/>
                        </a:rPr>
                        <a:t>Garlic</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spc="-50" dirty="0">
                          <a:latin typeface="Arial MT"/>
                          <a:cs typeface="Arial MT"/>
                        </a:rPr>
                        <a:t>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marL="1905" algn="ctr">
                        <a:lnSpc>
                          <a:spcPct val="100000"/>
                        </a:lnSpc>
                        <a:spcBef>
                          <a:spcPts val="229"/>
                        </a:spcBef>
                      </a:pPr>
                      <a:r>
                        <a:rPr sz="1400" spc="-10" dirty="0">
                          <a:latin typeface="Arial MT"/>
                          <a:cs typeface="Arial MT"/>
                        </a:rPr>
                        <a:t>Banana</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50" dirty="0">
                          <a:latin typeface="Arial MT"/>
                          <a:cs typeface="Arial MT"/>
                        </a:rPr>
                        <a:t>7</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algn="ctr">
                        <a:lnSpc>
                          <a:spcPct val="100000"/>
                        </a:lnSpc>
                        <a:spcBef>
                          <a:spcPts val="229"/>
                        </a:spcBef>
                      </a:pPr>
                      <a:r>
                        <a:rPr sz="1400" spc="-10" dirty="0">
                          <a:latin typeface="Arial MT"/>
                          <a:cs typeface="Arial MT"/>
                        </a:rPr>
                        <a:t>Chocolate</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50" dirty="0">
                          <a:latin typeface="Arial MT"/>
                          <a:cs typeface="Arial MT"/>
                        </a:rPr>
                        <a:t>0</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marL="1270" algn="ctr">
                        <a:lnSpc>
                          <a:spcPct val="100000"/>
                        </a:lnSpc>
                        <a:spcBef>
                          <a:spcPts val="229"/>
                        </a:spcBef>
                      </a:pPr>
                      <a:r>
                        <a:rPr sz="1400" spc="-10" dirty="0">
                          <a:latin typeface="Arial MT"/>
                          <a:cs typeface="Arial MT"/>
                        </a:rPr>
                        <a:t>Chips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50" dirty="0">
                          <a:latin typeface="Arial MT"/>
                          <a:cs typeface="Arial MT"/>
                        </a:rPr>
                        <a:t>1</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890347" y="119262"/>
            <a:ext cx="3716940"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Additive</a:t>
            </a:r>
            <a:r>
              <a:rPr spc="-127" dirty="0">
                <a:solidFill>
                  <a:schemeClr val="bg1"/>
                </a:solidFill>
                <a:latin typeface="+mn-lt"/>
              </a:rPr>
              <a:t> </a:t>
            </a:r>
            <a:r>
              <a:rPr spc="-13" dirty="0">
                <a:solidFill>
                  <a:schemeClr val="bg1"/>
                </a:solidFill>
                <a:latin typeface="+mn-lt"/>
              </a:rPr>
              <a:t>facts</a:t>
            </a:r>
          </a:p>
        </p:txBody>
      </p:sp>
      <p:sp>
        <p:nvSpPr>
          <p:cNvPr id="3" name="object 3"/>
          <p:cNvSpPr/>
          <p:nvPr/>
        </p:nvSpPr>
        <p:spPr>
          <a:xfrm>
            <a:off x="812800" y="2940303"/>
            <a:ext cx="7112000" cy="1581573"/>
          </a:xfrm>
          <a:custGeom>
            <a:avLst/>
            <a:gdLst/>
            <a:ahLst/>
            <a:cxnLst/>
            <a:rect l="l" t="t" r="r" b="b"/>
            <a:pathLst>
              <a:path w="5334000" h="1186179">
                <a:moveTo>
                  <a:pt x="5334000" y="0"/>
                </a:moveTo>
                <a:lnTo>
                  <a:pt x="0" y="1186180"/>
                </a:lnTo>
              </a:path>
            </a:pathLst>
          </a:custGeom>
          <a:ln w="76200">
            <a:solidFill>
              <a:srgbClr val="00C2FF"/>
            </a:solidFill>
          </a:ln>
        </p:spPr>
        <p:txBody>
          <a:bodyPr wrap="square" lIns="0" tIns="0" rIns="0" bIns="0" rtlCol="0"/>
          <a:lstStyle/>
          <a:p>
            <a:endParaRPr sz="2400"/>
          </a:p>
        </p:txBody>
      </p:sp>
      <p:graphicFrame>
        <p:nvGraphicFramePr>
          <p:cNvPr id="4" name="object 4"/>
          <p:cNvGraphicFramePr>
            <a:graphicFrameLocks noGrp="1"/>
          </p:cNvGraphicFramePr>
          <p:nvPr>
            <p:extLst>
              <p:ext uri="{D42A27DB-BD31-4B8C-83A1-F6EECF244321}">
                <p14:modId xmlns:p14="http://schemas.microsoft.com/office/powerpoint/2010/main" val="676467308"/>
              </p:ext>
            </p:extLst>
          </p:nvPr>
        </p:nvGraphicFramePr>
        <p:xfrm>
          <a:off x="6290734" y="1494874"/>
          <a:ext cx="4470400" cy="1496060"/>
        </p:xfrm>
        <a:graphic>
          <a:graphicData uri="http://schemas.openxmlformats.org/drawingml/2006/table">
            <a:tbl>
              <a:tblPr firstRow="1" bandRow="1">
                <a:tableStyleId>{2D5ABB26-0587-4C30-8999-92F81FD0307C}</a:tableStyleId>
              </a:tblPr>
              <a:tblGrid>
                <a:gridCol w="9144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698500">
                  <a:extLst>
                    <a:ext uri="{9D8B030D-6E8A-4147-A177-3AD203B41FA5}">
                      <a16:colId xmlns:a16="http://schemas.microsoft.com/office/drawing/2014/main" val="20003"/>
                    </a:ext>
                  </a:extLst>
                </a:gridCol>
                <a:gridCol w="698500">
                  <a:extLst>
                    <a:ext uri="{9D8B030D-6E8A-4147-A177-3AD203B41FA5}">
                      <a16:colId xmlns:a16="http://schemas.microsoft.com/office/drawing/2014/main" val="20004"/>
                    </a:ext>
                  </a:extLst>
                </a:gridCol>
              </a:tblGrid>
              <a:tr h="226060">
                <a:tc>
                  <a:txBody>
                    <a:bodyPr/>
                    <a:lstStyle/>
                    <a:p>
                      <a:pPr algn="ctr">
                        <a:lnSpc>
                          <a:spcPct val="100000"/>
                        </a:lnSpc>
                        <a:spcBef>
                          <a:spcPts val="0"/>
                        </a:spcBef>
                      </a:pPr>
                      <a:r>
                        <a:rPr sz="1400" b="1" spc="-10" dirty="0">
                          <a:solidFill>
                            <a:schemeClr val="bg1"/>
                          </a:solidFill>
                          <a:latin typeface="Arial"/>
                          <a:cs typeface="Arial"/>
                        </a:rPr>
                        <a:t>sales_id</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3175" algn="ctr">
                        <a:lnSpc>
                          <a:spcPct val="100000"/>
                        </a:lnSpc>
                        <a:spcBef>
                          <a:spcPts val="0"/>
                        </a:spcBef>
                      </a:pPr>
                      <a:r>
                        <a:rPr sz="1400" b="1" spc="-10" dirty="0">
                          <a:solidFill>
                            <a:schemeClr val="bg1"/>
                          </a:solidFill>
                          <a:latin typeface="Arial"/>
                          <a:cs typeface="Arial"/>
                        </a:rPr>
                        <a:t>product_id</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1270" algn="ctr">
                        <a:lnSpc>
                          <a:spcPct val="100000"/>
                        </a:lnSpc>
                        <a:spcBef>
                          <a:spcPts val="0"/>
                        </a:spcBef>
                      </a:pPr>
                      <a:r>
                        <a:rPr sz="1400" b="1" spc="-10" dirty="0">
                          <a:solidFill>
                            <a:schemeClr val="bg1"/>
                          </a:solidFill>
                          <a:latin typeface="Arial"/>
                          <a:cs typeface="Arial"/>
                        </a:rPr>
                        <a:t>date_id</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1270" algn="ctr">
                        <a:lnSpc>
                          <a:spcPct val="100000"/>
                        </a:lnSpc>
                        <a:spcBef>
                          <a:spcPts val="0"/>
                        </a:spcBef>
                      </a:pPr>
                      <a:r>
                        <a:rPr sz="1400" b="1" spc="-10" dirty="0">
                          <a:solidFill>
                            <a:schemeClr val="bg1"/>
                          </a:solidFill>
                          <a:latin typeface="Arial"/>
                          <a:cs typeface="Arial"/>
                        </a:rPr>
                        <a:t>units</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1905" algn="ctr">
                        <a:lnSpc>
                          <a:spcPct val="100000"/>
                        </a:lnSpc>
                        <a:spcBef>
                          <a:spcPts val="0"/>
                        </a:spcBef>
                      </a:pPr>
                      <a:r>
                        <a:rPr sz="1400" b="1" spc="-10" dirty="0">
                          <a:solidFill>
                            <a:schemeClr val="bg1"/>
                          </a:solidFill>
                          <a:latin typeface="Arial"/>
                          <a:cs typeface="Arial"/>
                        </a:rPr>
                        <a:t>price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extLst>
                  <a:ext uri="{0D108BD9-81ED-4DB2-BD59-A6C34878D82A}">
                    <a16:rowId xmlns:a16="http://schemas.microsoft.com/office/drawing/2014/main" val="10000"/>
                  </a:ext>
                </a:extLst>
              </a:tr>
              <a:tr h="254000">
                <a:tc>
                  <a:txBody>
                    <a:bodyPr/>
                    <a:lstStyle/>
                    <a:p>
                      <a:pPr algn="ctr">
                        <a:lnSpc>
                          <a:spcPct val="100000"/>
                        </a:lnSpc>
                        <a:spcBef>
                          <a:spcPts val="0"/>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0"/>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0"/>
                        </a:spcBef>
                      </a:pPr>
                      <a:r>
                        <a:rPr sz="1400" spc="-10" dirty="0">
                          <a:latin typeface="Arial MT"/>
                          <a:cs typeface="Arial MT"/>
                        </a:rPr>
                        <a:t>20220101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spc="-20" dirty="0">
                          <a:latin typeface="Arial MT"/>
                          <a:cs typeface="Arial MT"/>
                        </a:rPr>
                        <a:t>2.99</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ct val="100000"/>
                        </a:lnSpc>
                        <a:spcBef>
                          <a:spcPts val="0"/>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0"/>
                        </a:spcBef>
                      </a:pPr>
                      <a:r>
                        <a:rPr sz="1400" spc="-50" dirty="0">
                          <a:latin typeface="Arial MT"/>
                          <a:cs typeface="Arial MT"/>
                        </a:rPr>
                        <a:t>5</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0"/>
                        </a:spcBef>
                      </a:pPr>
                      <a:r>
                        <a:rPr sz="1400" spc="-10" dirty="0">
                          <a:latin typeface="Arial MT"/>
                          <a:cs typeface="Arial MT"/>
                        </a:rPr>
                        <a:t>20220102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spc="-20" dirty="0">
                          <a:latin typeface="Arial MT"/>
                          <a:cs typeface="Arial MT"/>
                        </a:rPr>
                        <a:t>1.99</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ct val="100000"/>
                        </a:lnSpc>
                        <a:spcBef>
                          <a:spcPts val="0"/>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0"/>
                        </a:spcBef>
                      </a:pPr>
                      <a:r>
                        <a:rPr sz="1400" spc="-50" dirty="0">
                          <a:latin typeface="Arial MT"/>
                          <a:cs typeface="Arial MT"/>
                        </a:rPr>
                        <a:t>2</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0"/>
                        </a:spcBef>
                      </a:pPr>
                      <a:r>
                        <a:rPr sz="1400" spc="-10" dirty="0">
                          <a:latin typeface="Arial MT"/>
                          <a:cs typeface="Arial MT"/>
                        </a:rPr>
                        <a:t>20220102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spc="-20" dirty="0">
                          <a:latin typeface="Arial MT"/>
                          <a:cs typeface="Arial MT"/>
                        </a:rPr>
                        <a:t>3.49</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algn="ctr">
                        <a:lnSpc>
                          <a:spcPct val="100000"/>
                        </a:lnSpc>
                        <a:spcBef>
                          <a:spcPts val="0"/>
                        </a:spcBef>
                      </a:pPr>
                      <a:r>
                        <a:rPr sz="1400" spc="-50" dirty="0">
                          <a:latin typeface="Arial MT"/>
                          <a:cs typeface="Arial MT"/>
                        </a:rPr>
                        <a:t>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0"/>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0"/>
                        </a:spcBef>
                      </a:pPr>
                      <a:r>
                        <a:rPr sz="1400" spc="-10" dirty="0">
                          <a:latin typeface="Arial MT"/>
                          <a:cs typeface="Arial MT"/>
                        </a:rPr>
                        <a:t>20220103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spc="-20" dirty="0">
                          <a:latin typeface="Arial MT"/>
                          <a:cs typeface="Arial MT"/>
                        </a:rPr>
                        <a:t>2.29</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algn="ctr">
                        <a:lnSpc>
                          <a:spcPct val="100000"/>
                        </a:lnSpc>
                        <a:spcBef>
                          <a:spcPts val="0"/>
                        </a:spcBef>
                      </a:pPr>
                      <a:r>
                        <a:rPr sz="1400" spc="-50" dirty="0">
                          <a:latin typeface="Arial MT"/>
                          <a:cs typeface="Arial MT"/>
                        </a:rPr>
                        <a:t>5</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0"/>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0"/>
                        </a:spcBef>
                      </a:pPr>
                      <a:r>
                        <a:rPr sz="1400" spc="-10" dirty="0">
                          <a:latin typeface="Arial MT"/>
                          <a:cs typeface="Arial MT"/>
                        </a:rPr>
                        <a:t>20220104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spc="-50" dirty="0">
                          <a:latin typeface="Arial MT"/>
                          <a:cs typeface="Arial MT"/>
                        </a:rPr>
                        <a:t>5</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0"/>
                        </a:spcBef>
                      </a:pPr>
                      <a:r>
                        <a:rPr sz="1400" spc="-20" dirty="0">
                          <a:latin typeface="Arial MT"/>
                          <a:cs typeface="Arial MT"/>
                        </a:rPr>
                        <a:t>1.49</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graphicFrame>
        <p:nvGraphicFramePr>
          <p:cNvPr id="5" name="object 5"/>
          <p:cNvGraphicFramePr>
            <a:graphicFrameLocks noGrp="1"/>
          </p:cNvGraphicFramePr>
          <p:nvPr>
            <p:extLst>
              <p:ext uri="{D42A27DB-BD31-4B8C-83A1-F6EECF244321}">
                <p14:modId xmlns:p14="http://schemas.microsoft.com/office/powerpoint/2010/main" val="4044737080"/>
              </p:ext>
            </p:extLst>
          </p:nvPr>
        </p:nvGraphicFramePr>
        <p:xfrm>
          <a:off x="255727" y="4601817"/>
          <a:ext cx="5936825" cy="1493520"/>
        </p:xfrm>
        <a:graphic>
          <a:graphicData uri="http://schemas.openxmlformats.org/drawingml/2006/table">
            <a:tbl>
              <a:tblPr firstRow="1" bandRow="1">
                <a:tableStyleId>{2D5ABB26-0587-4C30-8999-92F81FD0307C}</a:tableStyleId>
              </a:tblPr>
              <a:tblGrid>
                <a:gridCol w="1263225">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665393">
                  <a:extLst>
                    <a:ext uri="{9D8B030D-6E8A-4147-A177-3AD203B41FA5}">
                      <a16:colId xmlns:a16="http://schemas.microsoft.com/office/drawing/2014/main" val="20002"/>
                    </a:ext>
                  </a:extLst>
                </a:gridCol>
                <a:gridCol w="1484207">
                  <a:extLst>
                    <a:ext uri="{9D8B030D-6E8A-4147-A177-3AD203B41FA5}">
                      <a16:colId xmlns:a16="http://schemas.microsoft.com/office/drawing/2014/main" val="20003"/>
                    </a:ext>
                  </a:extLst>
                </a:gridCol>
              </a:tblGrid>
              <a:tr h="119026">
                <a:tc>
                  <a:txBody>
                    <a:bodyPr/>
                    <a:lstStyle/>
                    <a:p>
                      <a:pPr algn="ctr">
                        <a:lnSpc>
                          <a:spcPct val="100000"/>
                        </a:lnSpc>
                        <a:spcBef>
                          <a:spcPts val="0"/>
                        </a:spcBef>
                      </a:pPr>
                      <a:r>
                        <a:rPr sz="1400" b="1" spc="-10" dirty="0">
                          <a:solidFill>
                            <a:schemeClr val="bg1"/>
                          </a:solidFill>
                          <a:latin typeface="Arial"/>
                          <a:cs typeface="Arial"/>
                        </a:rPr>
                        <a:t>product_id</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635" algn="ctr">
                        <a:lnSpc>
                          <a:spcPct val="100000"/>
                        </a:lnSpc>
                        <a:spcBef>
                          <a:spcPts val="0"/>
                        </a:spcBef>
                      </a:pPr>
                      <a:r>
                        <a:rPr sz="1400" b="1" spc="-20" dirty="0">
                          <a:solidFill>
                            <a:schemeClr val="bg1"/>
                          </a:solidFill>
                          <a:latin typeface="Arial"/>
                          <a:cs typeface="Arial"/>
                        </a:rPr>
                        <a:t>name</a:t>
                      </a:r>
                      <a:endParaRPr sz="140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905" algn="ctr">
                        <a:lnSpc>
                          <a:spcPct val="100000"/>
                        </a:lnSpc>
                        <a:spcBef>
                          <a:spcPts val="0"/>
                        </a:spcBef>
                      </a:pPr>
                      <a:r>
                        <a:rPr sz="1400" b="1" spc="-10" dirty="0">
                          <a:solidFill>
                            <a:schemeClr val="bg1"/>
                          </a:solidFill>
                          <a:latin typeface="Arial"/>
                          <a:cs typeface="Arial"/>
                        </a:rPr>
                        <a:t>category</a:t>
                      </a:r>
                      <a:endParaRPr sz="140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4445" algn="ctr">
                        <a:lnSpc>
                          <a:spcPct val="100000"/>
                        </a:lnSpc>
                        <a:spcBef>
                          <a:spcPts val="0"/>
                        </a:spcBef>
                      </a:pPr>
                      <a:r>
                        <a:rPr sz="1400" b="1" spc="-10" dirty="0">
                          <a:solidFill>
                            <a:schemeClr val="bg1"/>
                          </a:solidFill>
                          <a:latin typeface="Arial"/>
                          <a:cs typeface="Arial"/>
                        </a:rPr>
                        <a:t>sub_category</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algn="ctr">
                        <a:lnSpc>
                          <a:spcPct val="100000"/>
                        </a:lnSpc>
                        <a:spcBef>
                          <a:spcPts val="0"/>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spc="-10" dirty="0">
                          <a:latin typeface="Arial MT"/>
                          <a:cs typeface="Arial MT"/>
                        </a:rPr>
                        <a:t>Chili</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spc="-10" dirty="0">
                          <a:latin typeface="Arial MT"/>
                          <a:cs typeface="Arial MT"/>
                        </a:rPr>
                        <a:t>Herbs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spc="-10" dirty="0">
                          <a:latin typeface="Arial MT"/>
                          <a:cs typeface="Arial MT"/>
                        </a:rPr>
                        <a:t>Spices</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ct val="100000"/>
                        </a:lnSpc>
                        <a:spcBef>
                          <a:spcPts val="0"/>
                        </a:spcBef>
                      </a:pPr>
                      <a:r>
                        <a:rPr sz="1400" spc="-50" dirty="0">
                          <a:latin typeface="Arial MT"/>
                          <a:cs typeface="Arial MT"/>
                        </a:rPr>
                        <a:t>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0"/>
                        </a:spcBef>
                      </a:pPr>
                      <a:r>
                        <a:rPr sz="1400" spc="-10" dirty="0">
                          <a:latin typeface="Arial MT"/>
                          <a:cs typeface="Arial MT"/>
                        </a:rPr>
                        <a:t>Garlic</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dirty="0">
                          <a:latin typeface="Arial MT"/>
                          <a:cs typeface="Arial MT"/>
                        </a:rPr>
                        <a:t>Fruits</a:t>
                      </a:r>
                      <a:r>
                        <a:rPr sz="1400" spc="-30" dirty="0">
                          <a:latin typeface="Arial MT"/>
                          <a:cs typeface="Arial MT"/>
                        </a:rPr>
                        <a:t> </a:t>
                      </a:r>
                      <a:r>
                        <a:rPr sz="1400" dirty="0">
                          <a:latin typeface="Arial MT"/>
                          <a:cs typeface="Arial MT"/>
                        </a:rPr>
                        <a:t>&amp;</a:t>
                      </a:r>
                      <a:r>
                        <a:rPr sz="1400" spc="-25" dirty="0">
                          <a:latin typeface="Arial MT"/>
                          <a:cs typeface="Arial MT"/>
                        </a:rPr>
                        <a:t> </a:t>
                      </a:r>
                      <a:r>
                        <a:rPr sz="1400" spc="-10" dirty="0">
                          <a:latin typeface="Arial MT"/>
                          <a:cs typeface="Arial MT"/>
                        </a:rPr>
                        <a:t>Vegetables</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spc="-10" dirty="0">
                          <a:latin typeface="Arial MT"/>
                          <a:cs typeface="Arial MT"/>
                        </a:rPr>
                        <a:t>Vegetable</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ct val="100000"/>
                        </a:lnSpc>
                        <a:spcBef>
                          <a:spcPts val="0"/>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spc="-10" dirty="0">
                          <a:latin typeface="Arial MT"/>
                          <a:cs typeface="Arial MT"/>
                        </a:rPr>
                        <a:t>Banana</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dirty="0">
                          <a:latin typeface="Arial MT"/>
                          <a:cs typeface="Arial MT"/>
                        </a:rPr>
                        <a:t>Fruits</a:t>
                      </a:r>
                      <a:r>
                        <a:rPr sz="1400" spc="-30" dirty="0">
                          <a:latin typeface="Arial MT"/>
                          <a:cs typeface="Arial MT"/>
                        </a:rPr>
                        <a:t> </a:t>
                      </a:r>
                      <a:r>
                        <a:rPr sz="1400" dirty="0">
                          <a:latin typeface="Arial MT"/>
                          <a:cs typeface="Arial MT"/>
                        </a:rPr>
                        <a:t>&amp;</a:t>
                      </a:r>
                      <a:r>
                        <a:rPr sz="1400" spc="-25" dirty="0">
                          <a:latin typeface="Arial MT"/>
                          <a:cs typeface="Arial MT"/>
                        </a:rPr>
                        <a:t> </a:t>
                      </a:r>
                      <a:r>
                        <a:rPr sz="1400" spc="-10" dirty="0">
                          <a:latin typeface="Arial MT"/>
                          <a:cs typeface="Arial MT"/>
                        </a:rPr>
                        <a:t>Vegetables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0"/>
                        </a:spcBef>
                      </a:pPr>
                      <a:r>
                        <a:rPr sz="1400" spc="-10" dirty="0">
                          <a:latin typeface="Arial MT"/>
                          <a:cs typeface="Arial MT"/>
                        </a:rPr>
                        <a:t>Fruits</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algn="ctr">
                        <a:lnSpc>
                          <a:spcPct val="100000"/>
                        </a:lnSpc>
                        <a:spcBef>
                          <a:spcPts val="0"/>
                        </a:spcBef>
                      </a:pPr>
                      <a:r>
                        <a:rPr sz="1400" spc="-50" dirty="0">
                          <a:latin typeface="Arial MT"/>
                          <a:cs typeface="Arial MT"/>
                        </a:rPr>
                        <a:t>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spc="-10" dirty="0">
                          <a:latin typeface="Arial MT"/>
                          <a:cs typeface="Arial MT"/>
                        </a:rPr>
                        <a:t>Chocolate</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dirty="0">
                          <a:latin typeface="Arial MT"/>
                          <a:cs typeface="Arial MT"/>
                        </a:rPr>
                        <a:t>Sweets</a:t>
                      </a:r>
                      <a:r>
                        <a:rPr sz="1400" spc="-30" dirty="0">
                          <a:latin typeface="Arial MT"/>
                          <a:cs typeface="Arial MT"/>
                        </a:rPr>
                        <a:t> </a:t>
                      </a:r>
                      <a:r>
                        <a:rPr sz="1400" dirty="0">
                          <a:latin typeface="Arial MT"/>
                          <a:cs typeface="Arial MT"/>
                        </a:rPr>
                        <a:t>&amp;</a:t>
                      </a:r>
                      <a:r>
                        <a:rPr sz="1400" spc="-10" dirty="0">
                          <a:latin typeface="Arial MT"/>
                          <a:cs typeface="Arial MT"/>
                        </a:rPr>
                        <a:t> Snacks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0"/>
                        </a:spcBef>
                      </a:pPr>
                      <a:r>
                        <a:rPr sz="1400" spc="-10" dirty="0">
                          <a:latin typeface="Arial MT"/>
                          <a:cs typeface="Arial MT"/>
                        </a:rPr>
                        <a:t>Sweets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algn="ctr">
                        <a:lnSpc>
                          <a:spcPct val="100000"/>
                        </a:lnSpc>
                        <a:spcBef>
                          <a:spcPts val="0"/>
                        </a:spcBef>
                      </a:pPr>
                      <a:r>
                        <a:rPr sz="1400" spc="-50" dirty="0">
                          <a:latin typeface="Arial MT"/>
                          <a:cs typeface="Arial MT"/>
                        </a:rPr>
                        <a:t>5</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spc="-10" dirty="0">
                          <a:latin typeface="Arial MT"/>
                          <a:cs typeface="Arial MT"/>
                        </a:rPr>
                        <a:t>Chips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dirty="0">
                          <a:latin typeface="Arial MT"/>
                          <a:cs typeface="Arial MT"/>
                        </a:rPr>
                        <a:t>Sweets</a:t>
                      </a:r>
                      <a:r>
                        <a:rPr sz="1400" spc="-30" dirty="0">
                          <a:latin typeface="Arial MT"/>
                          <a:cs typeface="Arial MT"/>
                        </a:rPr>
                        <a:t> </a:t>
                      </a:r>
                      <a:r>
                        <a:rPr sz="1400" dirty="0">
                          <a:latin typeface="Arial MT"/>
                          <a:cs typeface="Arial MT"/>
                        </a:rPr>
                        <a:t>&amp;</a:t>
                      </a:r>
                      <a:r>
                        <a:rPr sz="1400" spc="-10" dirty="0">
                          <a:latin typeface="Arial MT"/>
                          <a:cs typeface="Arial MT"/>
                        </a:rPr>
                        <a:t> Snacks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0"/>
                        </a:spcBef>
                      </a:pPr>
                      <a:r>
                        <a:rPr sz="1400" spc="-10" dirty="0">
                          <a:latin typeface="Arial MT"/>
                          <a:cs typeface="Arial MT"/>
                        </a:rPr>
                        <a:t>Snacks</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graphicFrame>
        <p:nvGraphicFramePr>
          <p:cNvPr id="6" name="object 6"/>
          <p:cNvGraphicFramePr>
            <a:graphicFrameLocks noGrp="1"/>
          </p:cNvGraphicFramePr>
          <p:nvPr>
            <p:extLst>
              <p:ext uri="{D42A27DB-BD31-4B8C-83A1-F6EECF244321}">
                <p14:modId xmlns:p14="http://schemas.microsoft.com/office/powerpoint/2010/main" val="373959243"/>
              </p:ext>
            </p:extLst>
          </p:nvPr>
        </p:nvGraphicFramePr>
        <p:xfrm>
          <a:off x="7924800" y="3534663"/>
          <a:ext cx="2531533" cy="987213"/>
        </p:xfrm>
        <a:graphic>
          <a:graphicData uri="http://schemas.openxmlformats.org/drawingml/2006/table">
            <a:tbl>
              <a:tblPr firstRow="1" bandRow="1">
                <a:tableStyleId>{2D5ABB26-0587-4C30-8999-92F81FD0307C}</a:tableStyleId>
              </a:tblPr>
              <a:tblGrid>
                <a:gridCol w="1609513">
                  <a:extLst>
                    <a:ext uri="{9D8B030D-6E8A-4147-A177-3AD203B41FA5}">
                      <a16:colId xmlns:a16="http://schemas.microsoft.com/office/drawing/2014/main" val="20000"/>
                    </a:ext>
                  </a:extLst>
                </a:gridCol>
                <a:gridCol w="922020">
                  <a:extLst>
                    <a:ext uri="{9D8B030D-6E8A-4147-A177-3AD203B41FA5}">
                      <a16:colId xmlns:a16="http://schemas.microsoft.com/office/drawing/2014/main" val="20001"/>
                    </a:ext>
                  </a:extLst>
                </a:gridCol>
              </a:tblGrid>
              <a:tr h="225213">
                <a:tc>
                  <a:txBody>
                    <a:bodyPr/>
                    <a:lstStyle/>
                    <a:p>
                      <a:pPr marL="4445" algn="ctr">
                        <a:lnSpc>
                          <a:spcPct val="100000"/>
                        </a:lnSpc>
                        <a:spcBef>
                          <a:spcPts val="0"/>
                        </a:spcBef>
                      </a:pPr>
                      <a:r>
                        <a:rPr sz="1400" b="1" spc="-10" dirty="0">
                          <a:solidFill>
                            <a:schemeClr val="bg1"/>
                          </a:solidFill>
                          <a:latin typeface="Arial"/>
                          <a:cs typeface="Arial"/>
                        </a:rPr>
                        <a:t>category</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270" algn="ctr">
                        <a:lnSpc>
                          <a:spcPct val="100000"/>
                        </a:lnSpc>
                        <a:spcBef>
                          <a:spcPts val="0"/>
                        </a:spcBef>
                      </a:pPr>
                      <a:r>
                        <a:rPr sz="1400" b="1" spc="-10" dirty="0">
                          <a:solidFill>
                            <a:schemeClr val="bg1"/>
                          </a:solidFill>
                          <a:latin typeface="Arial"/>
                          <a:cs typeface="Arial"/>
                        </a:rPr>
                        <a:t>units</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marL="1905" algn="ctr">
                        <a:lnSpc>
                          <a:spcPct val="100000"/>
                        </a:lnSpc>
                        <a:spcBef>
                          <a:spcPts val="0"/>
                        </a:spcBef>
                      </a:pPr>
                      <a:r>
                        <a:rPr sz="1400" spc="-10" dirty="0">
                          <a:latin typeface="Arial MT"/>
                          <a:cs typeface="Arial MT"/>
                        </a:rPr>
                        <a:t>Herbs</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0"/>
                        </a:spcBef>
                      </a:pPr>
                      <a:r>
                        <a:rPr sz="1400" spc="-50" dirty="0">
                          <a:latin typeface="Arial MT"/>
                          <a:cs typeface="Arial MT"/>
                        </a:rPr>
                        <a:t>0</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ct val="100000"/>
                        </a:lnSpc>
                        <a:spcBef>
                          <a:spcPts val="0"/>
                        </a:spcBef>
                      </a:pPr>
                      <a:r>
                        <a:rPr sz="1400" dirty="0">
                          <a:latin typeface="Arial MT"/>
                          <a:cs typeface="Arial MT"/>
                        </a:rPr>
                        <a:t>Fruits</a:t>
                      </a:r>
                      <a:r>
                        <a:rPr sz="1400" spc="-30" dirty="0">
                          <a:latin typeface="Arial MT"/>
                          <a:cs typeface="Arial MT"/>
                        </a:rPr>
                        <a:t> </a:t>
                      </a:r>
                      <a:r>
                        <a:rPr sz="1400" dirty="0">
                          <a:latin typeface="Arial MT"/>
                          <a:cs typeface="Arial MT"/>
                        </a:rPr>
                        <a:t>&amp;</a:t>
                      </a:r>
                      <a:r>
                        <a:rPr sz="1400" spc="-25" dirty="0">
                          <a:latin typeface="Arial MT"/>
                          <a:cs typeface="Arial MT"/>
                        </a:rPr>
                        <a:t> </a:t>
                      </a:r>
                      <a:r>
                        <a:rPr sz="1400" spc="-10" dirty="0">
                          <a:latin typeface="Arial MT"/>
                          <a:cs typeface="Arial MT"/>
                        </a:rPr>
                        <a:t>Vegetables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0"/>
                        </a:spcBef>
                      </a:pPr>
                      <a:r>
                        <a:rPr sz="1400" spc="-50" dirty="0">
                          <a:latin typeface="Arial MT"/>
                          <a:cs typeface="Arial MT"/>
                        </a:rPr>
                        <a:t>9</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ct val="100000"/>
                        </a:lnSpc>
                        <a:spcBef>
                          <a:spcPts val="0"/>
                        </a:spcBef>
                      </a:pPr>
                      <a:r>
                        <a:rPr sz="1400" dirty="0">
                          <a:latin typeface="Arial MT"/>
                          <a:cs typeface="Arial MT"/>
                        </a:rPr>
                        <a:t>Sweets</a:t>
                      </a:r>
                      <a:r>
                        <a:rPr sz="1400" spc="-30" dirty="0">
                          <a:latin typeface="Arial MT"/>
                          <a:cs typeface="Arial MT"/>
                        </a:rPr>
                        <a:t> </a:t>
                      </a:r>
                      <a:r>
                        <a:rPr sz="1400" dirty="0">
                          <a:latin typeface="Arial MT"/>
                          <a:cs typeface="Arial MT"/>
                        </a:rPr>
                        <a:t>&amp;</a:t>
                      </a:r>
                      <a:r>
                        <a:rPr sz="1400" spc="-10" dirty="0">
                          <a:latin typeface="Arial MT"/>
                          <a:cs typeface="Arial MT"/>
                        </a:rPr>
                        <a:t> Snacks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0"/>
                        </a:spcBef>
                      </a:pPr>
                      <a:r>
                        <a:rPr sz="1400" spc="-50" dirty="0">
                          <a:latin typeface="Arial MT"/>
                          <a:cs typeface="Arial MT"/>
                        </a:rPr>
                        <a:t>1</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graphicFrame>
        <p:nvGraphicFramePr>
          <p:cNvPr id="7" name="object 7"/>
          <p:cNvGraphicFramePr>
            <a:graphicFrameLocks noGrp="1"/>
          </p:cNvGraphicFramePr>
          <p:nvPr>
            <p:extLst>
              <p:ext uri="{D42A27DB-BD31-4B8C-83A1-F6EECF244321}">
                <p14:modId xmlns:p14="http://schemas.microsoft.com/office/powerpoint/2010/main" val="178931179"/>
              </p:ext>
            </p:extLst>
          </p:nvPr>
        </p:nvGraphicFramePr>
        <p:xfrm>
          <a:off x="7867227" y="4819300"/>
          <a:ext cx="2589106" cy="1495213"/>
        </p:xfrm>
        <a:graphic>
          <a:graphicData uri="http://schemas.openxmlformats.org/drawingml/2006/table">
            <a:tbl>
              <a:tblPr firstRow="1" bandRow="1">
                <a:tableStyleId>{2D5ABB26-0587-4C30-8999-92F81FD0307C}</a:tableStyleId>
              </a:tblPr>
              <a:tblGrid>
                <a:gridCol w="1294553">
                  <a:extLst>
                    <a:ext uri="{9D8B030D-6E8A-4147-A177-3AD203B41FA5}">
                      <a16:colId xmlns:a16="http://schemas.microsoft.com/office/drawing/2014/main" val="20000"/>
                    </a:ext>
                  </a:extLst>
                </a:gridCol>
                <a:gridCol w="1294553">
                  <a:extLst>
                    <a:ext uri="{9D8B030D-6E8A-4147-A177-3AD203B41FA5}">
                      <a16:colId xmlns:a16="http://schemas.microsoft.com/office/drawing/2014/main" val="20001"/>
                    </a:ext>
                  </a:extLst>
                </a:gridCol>
              </a:tblGrid>
              <a:tr h="226060">
                <a:tc>
                  <a:txBody>
                    <a:bodyPr/>
                    <a:lstStyle/>
                    <a:p>
                      <a:pPr marL="1905" algn="ctr">
                        <a:lnSpc>
                          <a:spcPct val="100000"/>
                        </a:lnSpc>
                        <a:spcBef>
                          <a:spcPts val="0"/>
                        </a:spcBef>
                      </a:pPr>
                      <a:r>
                        <a:rPr sz="1400" b="1" spc="-20" dirty="0">
                          <a:solidFill>
                            <a:schemeClr val="bg1"/>
                          </a:solidFill>
                          <a:latin typeface="Arial"/>
                          <a:cs typeface="Arial"/>
                        </a:rPr>
                        <a:t>name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270" algn="ctr">
                        <a:lnSpc>
                          <a:spcPct val="100000"/>
                        </a:lnSpc>
                        <a:spcBef>
                          <a:spcPts val="0"/>
                        </a:spcBef>
                      </a:pPr>
                      <a:r>
                        <a:rPr sz="1400" b="1" spc="-10" dirty="0">
                          <a:solidFill>
                            <a:schemeClr val="bg1"/>
                          </a:solidFill>
                          <a:latin typeface="Arial"/>
                          <a:cs typeface="Arial"/>
                        </a:rPr>
                        <a:t>Units</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3153">
                <a:tc>
                  <a:txBody>
                    <a:bodyPr/>
                    <a:lstStyle/>
                    <a:p>
                      <a:pPr algn="ctr">
                        <a:lnSpc>
                          <a:spcPct val="100000"/>
                        </a:lnSpc>
                        <a:spcBef>
                          <a:spcPts val="0"/>
                        </a:spcBef>
                      </a:pPr>
                      <a:r>
                        <a:rPr sz="1400" spc="-10" dirty="0">
                          <a:latin typeface="Arial MT"/>
                          <a:cs typeface="Arial MT"/>
                        </a:rPr>
                        <a:t>Chili</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spc="-50" dirty="0">
                          <a:latin typeface="Arial MT"/>
                          <a:cs typeface="Arial MT"/>
                        </a:rPr>
                        <a:t>0</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marL="1905" algn="ctr">
                        <a:lnSpc>
                          <a:spcPct val="100000"/>
                        </a:lnSpc>
                        <a:spcBef>
                          <a:spcPts val="0"/>
                        </a:spcBef>
                      </a:pPr>
                      <a:r>
                        <a:rPr sz="1400" spc="-10" dirty="0">
                          <a:latin typeface="Arial MT"/>
                          <a:cs typeface="Arial MT"/>
                        </a:rPr>
                        <a:t>Garlic</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0"/>
                        </a:spcBef>
                      </a:pPr>
                      <a:r>
                        <a:rPr sz="1400" spc="-50" dirty="0">
                          <a:latin typeface="Arial MT"/>
                          <a:cs typeface="Arial MT"/>
                        </a:rPr>
                        <a:t>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marL="1905" algn="ctr">
                        <a:lnSpc>
                          <a:spcPct val="100000"/>
                        </a:lnSpc>
                        <a:spcBef>
                          <a:spcPts val="0"/>
                        </a:spcBef>
                      </a:pPr>
                      <a:r>
                        <a:rPr sz="1400" spc="-10" dirty="0">
                          <a:latin typeface="Arial MT"/>
                          <a:cs typeface="Arial MT"/>
                        </a:rPr>
                        <a:t>Banana</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spc="-50" dirty="0">
                          <a:latin typeface="Arial MT"/>
                          <a:cs typeface="Arial MT"/>
                        </a:rPr>
                        <a:t>7</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algn="ctr">
                        <a:lnSpc>
                          <a:spcPct val="100000"/>
                        </a:lnSpc>
                        <a:spcBef>
                          <a:spcPts val="0"/>
                        </a:spcBef>
                      </a:pPr>
                      <a:r>
                        <a:rPr sz="1400" spc="-10" dirty="0">
                          <a:latin typeface="Arial MT"/>
                          <a:cs typeface="Arial MT"/>
                        </a:rPr>
                        <a:t>Chocolate</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spc="-50" dirty="0">
                          <a:latin typeface="Arial MT"/>
                          <a:cs typeface="Arial MT"/>
                        </a:rPr>
                        <a:t>0</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marL="1270" algn="ctr">
                        <a:lnSpc>
                          <a:spcPct val="100000"/>
                        </a:lnSpc>
                        <a:spcBef>
                          <a:spcPts val="0"/>
                        </a:spcBef>
                      </a:pPr>
                      <a:r>
                        <a:rPr sz="1400" spc="-10" dirty="0">
                          <a:latin typeface="Arial MT"/>
                          <a:cs typeface="Arial MT"/>
                        </a:rPr>
                        <a:t>Chips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spc="-50" dirty="0">
                          <a:latin typeface="Arial MT"/>
                          <a:cs typeface="Arial MT"/>
                        </a:rPr>
                        <a:t>1</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graphicFrame>
        <p:nvGraphicFramePr>
          <p:cNvPr id="8" name="object 8"/>
          <p:cNvGraphicFramePr>
            <a:graphicFrameLocks noGrp="1"/>
          </p:cNvGraphicFramePr>
          <p:nvPr>
            <p:extLst>
              <p:ext uri="{D42A27DB-BD31-4B8C-83A1-F6EECF244321}">
                <p14:modId xmlns:p14="http://schemas.microsoft.com/office/powerpoint/2010/main" val="1543209072"/>
              </p:ext>
            </p:extLst>
          </p:nvPr>
        </p:nvGraphicFramePr>
        <p:xfrm>
          <a:off x="159175" y="873591"/>
          <a:ext cx="5936825" cy="1496060"/>
        </p:xfrm>
        <a:graphic>
          <a:graphicData uri="http://schemas.openxmlformats.org/drawingml/2006/table">
            <a:tbl>
              <a:tblPr firstRow="1" bandRow="1">
                <a:tableStyleId>{2D5ABB26-0587-4C30-8999-92F81FD0307C}</a:tableStyleId>
              </a:tblPr>
              <a:tblGrid>
                <a:gridCol w="1263225">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665393">
                  <a:extLst>
                    <a:ext uri="{9D8B030D-6E8A-4147-A177-3AD203B41FA5}">
                      <a16:colId xmlns:a16="http://schemas.microsoft.com/office/drawing/2014/main" val="20002"/>
                    </a:ext>
                  </a:extLst>
                </a:gridCol>
                <a:gridCol w="1484207">
                  <a:extLst>
                    <a:ext uri="{9D8B030D-6E8A-4147-A177-3AD203B41FA5}">
                      <a16:colId xmlns:a16="http://schemas.microsoft.com/office/drawing/2014/main" val="20003"/>
                    </a:ext>
                  </a:extLst>
                </a:gridCol>
              </a:tblGrid>
              <a:tr h="226060">
                <a:tc>
                  <a:txBody>
                    <a:bodyPr/>
                    <a:lstStyle/>
                    <a:p>
                      <a:pPr marL="0" algn="ctr" defTabSz="914400" rtl="0" eaLnBrk="1" latinLnBrk="0" hangingPunct="1">
                        <a:lnSpc>
                          <a:spcPct val="100000"/>
                        </a:lnSpc>
                        <a:spcBef>
                          <a:spcPts val="0"/>
                        </a:spcBef>
                      </a:pPr>
                      <a:r>
                        <a:rPr sz="1400" b="1" kern="1200" spc="-10" dirty="0">
                          <a:solidFill>
                            <a:schemeClr val="bg1"/>
                          </a:solidFill>
                          <a:latin typeface="Arial"/>
                          <a:ea typeface="+mn-ea"/>
                          <a:cs typeface="Arial"/>
                        </a:rPr>
                        <a:t>date_id</a:t>
                      </a: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chemeClr val="accent5">
                        <a:lumMod val="75000"/>
                      </a:schemeClr>
                    </a:solidFill>
                  </a:tcPr>
                </a:tc>
                <a:tc>
                  <a:txBody>
                    <a:bodyPr/>
                    <a:lstStyle/>
                    <a:p>
                      <a:pPr marL="0" algn="ctr" defTabSz="914400" rtl="0" eaLnBrk="1" latinLnBrk="0" hangingPunct="1">
                        <a:lnSpc>
                          <a:spcPct val="100000"/>
                        </a:lnSpc>
                        <a:spcBef>
                          <a:spcPts val="0"/>
                        </a:spcBef>
                      </a:pPr>
                      <a:r>
                        <a:rPr sz="1400" b="1" kern="1200" spc="-10" dirty="0">
                          <a:solidFill>
                            <a:schemeClr val="bg1"/>
                          </a:solidFill>
                          <a:latin typeface="Arial"/>
                          <a:ea typeface="+mn-ea"/>
                          <a:cs typeface="Arial"/>
                        </a:rPr>
                        <a:t>Date</a:t>
                      </a: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chemeClr val="accent5">
                        <a:lumMod val="75000"/>
                      </a:schemeClr>
                    </a:solidFill>
                  </a:tcPr>
                </a:tc>
                <a:tc>
                  <a:txBody>
                    <a:bodyPr/>
                    <a:lstStyle/>
                    <a:p>
                      <a:pPr marL="0" algn="ctr" defTabSz="914400" rtl="0" eaLnBrk="1" latinLnBrk="0" hangingPunct="1">
                        <a:lnSpc>
                          <a:spcPct val="100000"/>
                        </a:lnSpc>
                        <a:spcBef>
                          <a:spcPts val="0"/>
                        </a:spcBef>
                      </a:pPr>
                      <a:r>
                        <a:rPr sz="1400" b="1" kern="1200" spc="-10" dirty="0">
                          <a:solidFill>
                            <a:schemeClr val="bg1"/>
                          </a:solidFill>
                          <a:latin typeface="Arial"/>
                          <a:ea typeface="+mn-ea"/>
                          <a:cs typeface="Arial"/>
                        </a:rPr>
                        <a:t>Day</a:t>
                      </a: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chemeClr val="accent5">
                        <a:lumMod val="75000"/>
                      </a:schemeClr>
                    </a:solidFill>
                  </a:tcPr>
                </a:tc>
                <a:tc>
                  <a:txBody>
                    <a:bodyPr/>
                    <a:lstStyle/>
                    <a:p>
                      <a:pPr marL="0" algn="ctr" defTabSz="914400" rtl="0" eaLnBrk="1" latinLnBrk="0" hangingPunct="1">
                        <a:lnSpc>
                          <a:spcPct val="100000"/>
                        </a:lnSpc>
                        <a:spcBef>
                          <a:spcPts val="0"/>
                        </a:spcBef>
                      </a:pPr>
                      <a:r>
                        <a:rPr sz="1400" b="1" kern="1200" spc="-10" dirty="0">
                          <a:solidFill>
                            <a:schemeClr val="bg1"/>
                          </a:solidFill>
                          <a:latin typeface="Arial"/>
                          <a:ea typeface="+mn-ea"/>
                          <a:cs typeface="Arial"/>
                        </a:rPr>
                        <a:t>Month</a:t>
                      </a: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chemeClr val="accent5">
                        <a:lumMod val="75000"/>
                      </a:schemeClr>
                    </a:solidFill>
                  </a:tcPr>
                </a:tc>
                <a:extLst>
                  <a:ext uri="{0D108BD9-81ED-4DB2-BD59-A6C34878D82A}">
                    <a16:rowId xmlns:a16="http://schemas.microsoft.com/office/drawing/2014/main" val="10000"/>
                  </a:ext>
                </a:extLst>
              </a:tr>
              <a:tr h="254000">
                <a:tc>
                  <a:txBody>
                    <a:bodyPr/>
                    <a:lstStyle/>
                    <a:p>
                      <a:pPr algn="ctr">
                        <a:lnSpc>
                          <a:spcPct val="100000"/>
                        </a:lnSpc>
                        <a:spcBef>
                          <a:spcPts val="0"/>
                        </a:spcBef>
                      </a:pPr>
                      <a:r>
                        <a:rPr sz="1400" spc="-10" dirty="0">
                          <a:latin typeface="Arial MT"/>
                          <a:cs typeface="Arial MT"/>
                        </a:rPr>
                        <a:t>20220101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0"/>
                        </a:spcBef>
                      </a:pPr>
                      <a:r>
                        <a:rPr sz="1400" spc="-10" dirty="0">
                          <a:latin typeface="Arial MT"/>
                          <a:cs typeface="Arial MT"/>
                        </a:rPr>
                        <a:t>01/01/2022</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spc="-50" dirty="0">
                          <a:latin typeface="Arial MT"/>
                          <a:cs typeface="Arial MT"/>
                        </a:rPr>
                        <a:t>1</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spc="-50" dirty="0">
                          <a:latin typeface="Arial MT"/>
                          <a:cs typeface="Arial MT"/>
                        </a:rPr>
                        <a:t>1</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ct val="100000"/>
                        </a:lnSpc>
                        <a:spcBef>
                          <a:spcPts val="0"/>
                        </a:spcBef>
                      </a:pPr>
                      <a:r>
                        <a:rPr sz="1400" spc="-10" dirty="0">
                          <a:latin typeface="Arial MT"/>
                          <a:cs typeface="Arial MT"/>
                        </a:rPr>
                        <a:t>20220102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0"/>
                        </a:spcBef>
                      </a:pPr>
                      <a:r>
                        <a:rPr sz="1400" spc="-10" dirty="0">
                          <a:latin typeface="Arial MT"/>
                          <a:cs typeface="Arial MT"/>
                        </a:rPr>
                        <a:t>02/01/2022</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ct val="100000"/>
                        </a:lnSpc>
                        <a:spcBef>
                          <a:spcPts val="0"/>
                        </a:spcBef>
                      </a:pPr>
                      <a:r>
                        <a:rPr sz="1400" spc="-10" dirty="0">
                          <a:latin typeface="Arial MT"/>
                          <a:cs typeface="Arial MT"/>
                        </a:rPr>
                        <a:t>20220103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0"/>
                        </a:spcBef>
                      </a:pPr>
                      <a:r>
                        <a:rPr sz="1400" spc="-10" dirty="0">
                          <a:latin typeface="Arial MT"/>
                          <a:cs typeface="Arial MT"/>
                        </a:rPr>
                        <a:t>03/01/2022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algn="ctr">
                        <a:lnSpc>
                          <a:spcPct val="100000"/>
                        </a:lnSpc>
                        <a:spcBef>
                          <a:spcPts val="0"/>
                        </a:spcBef>
                      </a:pPr>
                      <a:r>
                        <a:rPr sz="1400" spc="-10" dirty="0">
                          <a:latin typeface="Arial MT"/>
                          <a:cs typeface="Arial MT"/>
                        </a:rPr>
                        <a:t>20220104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0"/>
                        </a:spcBef>
                      </a:pPr>
                      <a:r>
                        <a:rPr sz="1400" spc="-10" dirty="0">
                          <a:latin typeface="Arial MT"/>
                          <a:cs typeface="Arial MT"/>
                        </a:rPr>
                        <a:t>04/01/2022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spc="-50" dirty="0">
                          <a:latin typeface="Arial MT"/>
                          <a:cs typeface="Arial MT"/>
                        </a:rPr>
                        <a:t>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algn="ctr">
                        <a:lnSpc>
                          <a:spcPct val="100000"/>
                        </a:lnSpc>
                        <a:spcBef>
                          <a:spcPts val="0"/>
                        </a:spcBef>
                      </a:pPr>
                      <a:r>
                        <a:rPr sz="1400" spc="-10" dirty="0">
                          <a:latin typeface="Arial MT"/>
                          <a:cs typeface="Arial MT"/>
                        </a:rPr>
                        <a:t>20220105</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0"/>
                        </a:spcBef>
                      </a:pPr>
                      <a:r>
                        <a:rPr sz="1400" spc="-10" dirty="0">
                          <a:latin typeface="Arial MT"/>
                          <a:cs typeface="Arial MT"/>
                        </a:rPr>
                        <a:t>05/01/2022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spc="-50" dirty="0">
                          <a:latin typeface="Arial MT"/>
                          <a:cs typeface="Arial MT"/>
                        </a:rPr>
                        <a:t>5</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spc="-50" dirty="0">
                          <a:latin typeface="Arial MT"/>
                          <a:cs typeface="Arial MT"/>
                        </a:rPr>
                        <a:t>1</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graphicFrame>
        <p:nvGraphicFramePr>
          <p:cNvPr id="9" name="object 9"/>
          <p:cNvGraphicFramePr>
            <a:graphicFrameLocks noGrp="1"/>
          </p:cNvGraphicFramePr>
          <p:nvPr>
            <p:extLst>
              <p:ext uri="{D42A27DB-BD31-4B8C-83A1-F6EECF244321}">
                <p14:modId xmlns:p14="http://schemas.microsoft.com/office/powerpoint/2010/main" val="454639018"/>
              </p:ext>
            </p:extLst>
          </p:nvPr>
        </p:nvGraphicFramePr>
        <p:xfrm>
          <a:off x="159175" y="2642879"/>
          <a:ext cx="2734734" cy="1241213"/>
        </p:xfrm>
        <a:graphic>
          <a:graphicData uri="http://schemas.openxmlformats.org/drawingml/2006/table">
            <a:tbl>
              <a:tblPr firstRow="1" bandRow="1">
                <a:tableStyleId>{2D5ABB26-0587-4C30-8999-92F81FD0307C}</a:tableStyleId>
              </a:tblPr>
              <a:tblGrid>
                <a:gridCol w="1367367">
                  <a:extLst>
                    <a:ext uri="{9D8B030D-6E8A-4147-A177-3AD203B41FA5}">
                      <a16:colId xmlns:a16="http://schemas.microsoft.com/office/drawing/2014/main" val="20000"/>
                    </a:ext>
                  </a:extLst>
                </a:gridCol>
                <a:gridCol w="1367367">
                  <a:extLst>
                    <a:ext uri="{9D8B030D-6E8A-4147-A177-3AD203B41FA5}">
                      <a16:colId xmlns:a16="http://schemas.microsoft.com/office/drawing/2014/main" val="20001"/>
                    </a:ext>
                  </a:extLst>
                </a:gridCol>
              </a:tblGrid>
              <a:tr h="225213">
                <a:tc>
                  <a:txBody>
                    <a:bodyPr/>
                    <a:lstStyle/>
                    <a:p>
                      <a:pPr algn="ctr">
                        <a:lnSpc>
                          <a:spcPct val="100000"/>
                        </a:lnSpc>
                        <a:spcBef>
                          <a:spcPts val="0"/>
                        </a:spcBef>
                      </a:pPr>
                      <a:r>
                        <a:rPr sz="1400" b="1" spc="-20" dirty="0">
                          <a:solidFill>
                            <a:schemeClr val="bg1"/>
                          </a:solidFill>
                          <a:latin typeface="Arial"/>
                          <a:cs typeface="Arial"/>
                        </a:rPr>
                        <a:t>Date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chemeClr val="accent5">
                        <a:lumMod val="75000"/>
                      </a:schemeClr>
                    </a:solidFill>
                  </a:tcPr>
                </a:tc>
                <a:tc>
                  <a:txBody>
                    <a:bodyPr/>
                    <a:lstStyle/>
                    <a:p>
                      <a:pPr algn="ctr">
                        <a:lnSpc>
                          <a:spcPct val="100000"/>
                        </a:lnSpc>
                        <a:spcBef>
                          <a:spcPts val="0"/>
                        </a:spcBef>
                      </a:pPr>
                      <a:r>
                        <a:rPr sz="1400" b="1" spc="-10" dirty="0">
                          <a:solidFill>
                            <a:schemeClr val="bg1"/>
                          </a:solidFill>
                          <a:latin typeface="Arial"/>
                          <a:cs typeface="Arial"/>
                        </a:rPr>
                        <a:t>units</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chemeClr val="accent5">
                        <a:lumMod val="75000"/>
                      </a:schemeClr>
                    </a:solidFill>
                  </a:tcPr>
                </a:tc>
                <a:extLst>
                  <a:ext uri="{0D108BD9-81ED-4DB2-BD59-A6C34878D82A}">
                    <a16:rowId xmlns:a16="http://schemas.microsoft.com/office/drawing/2014/main" val="10000"/>
                  </a:ext>
                </a:extLst>
              </a:tr>
              <a:tr h="254000">
                <a:tc>
                  <a:txBody>
                    <a:bodyPr/>
                    <a:lstStyle/>
                    <a:p>
                      <a:pPr algn="ctr">
                        <a:lnSpc>
                          <a:spcPct val="100000"/>
                        </a:lnSpc>
                        <a:spcBef>
                          <a:spcPts val="0"/>
                        </a:spcBef>
                      </a:pPr>
                      <a:r>
                        <a:rPr sz="1400" spc="-10" dirty="0">
                          <a:latin typeface="Arial MT"/>
                          <a:cs typeface="Arial MT"/>
                        </a:rPr>
                        <a:t>01/01/2022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ct val="100000"/>
                        </a:lnSpc>
                        <a:spcBef>
                          <a:spcPts val="0"/>
                        </a:spcBef>
                      </a:pPr>
                      <a:r>
                        <a:rPr sz="1400" spc="-10" dirty="0">
                          <a:latin typeface="Arial MT"/>
                          <a:cs typeface="Arial MT"/>
                        </a:rPr>
                        <a:t>02/01/2022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spc="-50" dirty="0">
                          <a:latin typeface="Arial MT"/>
                          <a:cs typeface="Arial MT"/>
                        </a:rPr>
                        <a:t>3</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ct val="100000"/>
                        </a:lnSpc>
                        <a:spcBef>
                          <a:spcPts val="0"/>
                        </a:spcBef>
                      </a:pPr>
                      <a:r>
                        <a:rPr sz="1400" spc="-10" dirty="0">
                          <a:latin typeface="Arial MT"/>
                          <a:cs typeface="Arial MT"/>
                        </a:rPr>
                        <a:t>03/01/2022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algn="ctr">
                        <a:lnSpc>
                          <a:spcPct val="100000"/>
                        </a:lnSpc>
                        <a:spcBef>
                          <a:spcPts val="0"/>
                        </a:spcBef>
                      </a:pPr>
                      <a:r>
                        <a:rPr sz="1400" spc="-10" dirty="0">
                          <a:latin typeface="Arial MT"/>
                          <a:cs typeface="Arial MT"/>
                        </a:rPr>
                        <a:t>04/01/2022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spc="-50" dirty="0">
                          <a:latin typeface="Arial MT"/>
                          <a:cs typeface="Arial MT"/>
                        </a:rPr>
                        <a:t>5</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65119" y="244179"/>
            <a:ext cx="7752757" cy="695062"/>
          </a:xfrm>
          <a:prstGeom prst="rect">
            <a:avLst/>
          </a:prstGeom>
        </p:spPr>
        <p:txBody>
          <a:bodyPr vert="horz" wrap="square" lIns="0" tIns="17780" rIns="0" bIns="0" rtlCol="0" anchor="ctr">
            <a:spAutoFit/>
          </a:bodyPr>
          <a:lstStyle/>
          <a:p>
            <a:pPr marL="1607780">
              <a:lnSpc>
                <a:spcPct val="100000"/>
              </a:lnSpc>
              <a:spcBef>
                <a:spcPts val="140"/>
              </a:spcBef>
            </a:pPr>
            <a:r>
              <a:rPr spc="-13" dirty="0">
                <a:solidFill>
                  <a:schemeClr val="bg1"/>
                </a:solidFill>
                <a:latin typeface="+mn-lt"/>
              </a:rPr>
              <a:t>Semi-</a:t>
            </a:r>
            <a:r>
              <a:rPr dirty="0">
                <a:solidFill>
                  <a:schemeClr val="bg1"/>
                </a:solidFill>
                <a:latin typeface="+mn-lt"/>
              </a:rPr>
              <a:t>additive</a:t>
            </a:r>
            <a:r>
              <a:rPr spc="-80" dirty="0">
                <a:solidFill>
                  <a:schemeClr val="bg1"/>
                </a:solidFill>
                <a:latin typeface="+mn-lt"/>
              </a:rPr>
              <a:t> </a:t>
            </a:r>
            <a:r>
              <a:rPr spc="-13" dirty="0">
                <a:solidFill>
                  <a:schemeClr val="bg1"/>
                </a:solidFill>
                <a:latin typeface="+mn-lt"/>
              </a:rPr>
              <a:t>facts</a:t>
            </a:r>
          </a:p>
        </p:txBody>
      </p:sp>
      <p:sp>
        <p:nvSpPr>
          <p:cNvPr id="3" name="object 3"/>
          <p:cNvSpPr/>
          <p:nvPr/>
        </p:nvSpPr>
        <p:spPr>
          <a:xfrm>
            <a:off x="812800" y="2940303"/>
            <a:ext cx="7112000" cy="1581573"/>
          </a:xfrm>
          <a:custGeom>
            <a:avLst/>
            <a:gdLst/>
            <a:ahLst/>
            <a:cxnLst/>
            <a:rect l="l" t="t" r="r" b="b"/>
            <a:pathLst>
              <a:path w="5334000" h="1186179">
                <a:moveTo>
                  <a:pt x="5334000" y="0"/>
                </a:moveTo>
                <a:lnTo>
                  <a:pt x="0" y="1186180"/>
                </a:lnTo>
              </a:path>
            </a:pathLst>
          </a:custGeom>
          <a:ln w="76200">
            <a:solidFill>
              <a:srgbClr val="00C2FF"/>
            </a:solidFill>
          </a:ln>
        </p:spPr>
        <p:txBody>
          <a:bodyPr wrap="square" lIns="0" tIns="0" rIns="0" bIns="0" rtlCol="0"/>
          <a:lstStyle/>
          <a:p>
            <a:endParaRPr sz="2400"/>
          </a:p>
        </p:txBody>
      </p:sp>
      <p:graphicFrame>
        <p:nvGraphicFramePr>
          <p:cNvPr id="4" name="object 4"/>
          <p:cNvGraphicFramePr>
            <a:graphicFrameLocks noGrp="1"/>
          </p:cNvGraphicFramePr>
          <p:nvPr>
            <p:extLst>
              <p:ext uri="{D42A27DB-BD31-4B8C-83A1-F6EECF244321}">
                <p14:modId xmlns:p14="http://schemas.microsoft.com/office/powerpoint/2010/main" val="2715750076"/>
              </p:ext>
            </p:extLst>
          </p:nvPr>
        </p:nvGraphicFramePr>
        <p:xfrm>
          <a:off x="6087534" y="1345558"/>
          <a:ext cx="4530343" cy="1899374"/>
        </p:xfrm>
        <a:graphic>
          <a:graphicData uri="http://schemas.openxmlformats.org/drawingml/2006/table">
            <a:tbl>
              <a:tblPr firstRow="1" bandRow="1">
                <a:tableStyleId>{2D5ABB26-0587-4C30-8999-92F81FD0307C}</a:tableStyleId>
              </a:tblPr>
              <a:tblGrid>
                <a:gridCol w="1097993">
                  <a:extLst>
                    <a:ext uri="{9D8B030D-6E8A-4147-A177-3AD203B41FA5}">
                      <a16:colId xmlns:a16="http://schemas.microsoft.com/office/drawing/2014/main" val="20000"/>
                    </a:ext>
                  </a:extLst>
                </a:gridCol>
                <a:gridCol w="1220191">
                  <a:extLst>
                    <a:ext uri="{9D8B030D-6E8A-4147-A177-3AD203B41FA5}">
                      <a16:colId xmlns:a16="http://schemas.microsoft.com/office/drawing/2014/main" val="20001"/>
                    </a:ext>
                  </a:extLst>
                </a:gridCol>
                <a:gridCol w="1372940">
                  <a:extLst>
                    <a:ext uri="{9D8B030D-6E8A-4147-A177-3AD203B41FA5}">
                      <a16:colId xmlns:a16="http://schemas.microsoft.com/office/drawing/2014/main" val="20002"/>
                    </a:ext>
                  </a:extLst>
                </a:gridCol>
                <a:gridCol w="839219">
                  <a:extLst>
                    <a:ext uri="{9D8B030D-6E8A-4147-A177-3AD203B41FA5}">
                      <a16:colId xmlns:a16="http://schemas.microsoft.com/office/drawing/2014/main" val="20003"/>
                    </a:ext>
                  </a:extLst>
                </a:gridCol>
              </a:tblGrid>
              <a:tr h="245348">
                <a:tc>
                  <a:txBody>
                    <a:bodyPr/>
                    <a:lstStyle/>
                    <a:p>
                      <a:pPr algn="ctr">
                        <a:lnSpc>
                          <a:spcPct val="100000"/>
                        </a:lnSpc>
                        <a:spcBef>
                          <a:spcPts val="0"/>
                        </a:spcBef>
                      </a:pPr>
                      <a:r>
                        <a:rPr sz="1400" b="1" spc="-10" dirty="0">
                          <a:solidFill>
                            <a:schemeClr val="bg1"/>
                          </a:solidFill>
                          <a:latin typeface="Arial"/>
                          <a:cs typeface="Arial"/>
                        </a:rPr>
                        <a:t>balance_id</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635" algn="ctr">
                        <a:lnSpc>
                          <a:spcPct val="100000"/>
                        </a:lnSpc>
                        <a:spcBef>
                          <a:spcPts val="0"/>
                        </a:spcBef>
                      </a:pPr>
                      <a:r>
                        <a:rPr sz="1400" b="1" spc="-10" dirty="0">
                          <a:solidFill>
                            <a:schemeClr val="bg1"/>
                          </a:solidFill>
                          <a:latin typeface="Arial"/>
                          <a:cs typeface="Arial"/>
                        </a:rPr>
                        <a:t>portfolio_id</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algn="ctr">
                        <a:lnSpc>
                          <a:spcPct val="100000"/>
                        </a:lnSpc>
                        <a:spcBef>
                          <a:spcPts val="0"/>
                        </a:spcBef>
                      </a:pPr>
                      <a:r>
                        <a:rPr sz="1400" b="1" spc="-10" dirty="0">
                          <a:solidFill>
                            <a:schemeClr val="bg1"/>
                          </a:solidFill>
                          <a:latin typeface="Arial"/>
                          <a:cs typeface="Arial"/>
                        </a:rPr>
                        <a:t>date_id</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1905" algn="ctr">
                        <a:lnSpc>
                          <a:spcPct val="100000"/>
                        </a:lnSpc>
                        <a:spcBef>
                          <a:spcPts val="0"/>
                        </a:spcBef>
                      </a:pPr>
                      <a:r>
                        <a:rPr sz="1400" b="1" spc="-10" dirty="0">
                          <a:solidFill>
                            <a:schemeClr val="bg1"/>
                          </a:solidFill>
                          <a:latin typeface="Arial"/>
                          <a:cs typeface="Arial"/>
                        </a:rPr>
                        <a:t>balance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extLst>
                  <a:ext uri="{0D108BD9-81ED-4DB2-BD59-A6C34878D82A}">
                    <a16:rowId xmlns:a16="http://schemas.microsoft.com/office/drawing/2014/main" val="10000"/>
                  </a:ext>
                </a:extLst>
              </a:tr>
              <a:tr h="275671">
                <a:tc>
                  <a:txBody>
                    <a:bodyPr/>
                    <a:lstStyle/>
                    <a:p>
                      <a:pPr algn="ctr">
                        <a:lnSpc>
                          <a:spcPct val="100000"/>
                        </a:lnSpc>
                        <a:spcBef>
                          <a:spcPts val="0"/>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0"/>
                        </a:spcBef>
                      </a:pPr>
                      <a:r>
                        <a:rPr sz="1400" spc="-50" dirty="0">
                          <a:latin typeface="Arial MT"/>
                          <a:cs typeface="Arial MT"/>
                        </a:rPr>
                        <a:t>1</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0"/>
                        </a:spcBef>
                      </a:pPr>
                      <a:r>
                        <a:rPr sz="1400" spc="-10" dirty="0">
                          <a:latin typeface="Arial MT"/>
                          <a:cs typeface="Arial MT"/>
                        </a:rPr>
                        <a:t>20220101</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0"/>
                        </a:spcBef>
                      </a:pPr>
                      <a:r>
                        <a:rPr sz="1400" spc="-25" dirty="0">
                          <a:latin typeface="Arial MT"/>
                          <a:cs typeface="Arial MT"/>
                        </a:rPr>
                        <a:t>$50</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75671">
                <a:tc>
                  <a:txBody>
                    <a:bodyPr/>
                    <a:lstStyle/>
                    <a:p>
                      <a:pPr algn="ctr">
                        <a:lnSpc>
                          <a:spcPct val="100000"/>
                        </a:lnSpc>
                        <a:spcBef>
                          <a:spcPts val="0"/>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0"/>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0"/>
                        </a:spcBef>
                      </a:pPr>
                      <a:r>
                        <a:rPr sz="1400" spc="-10" dirty="0">
                          <a:latin typeface="Arial MT"/>
                          <a:cs typeface="Arial MT"/>
                        </a:rPr>
                        <a:t>20220102</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0"/>
                        </a:spcBef>
                      </a:pPr>
                      <a:r>
                        <a:rPr sz="1400" spc="-20" dirty="0">
                          <a:latin typeface="Arial MT"/>
                          <a:cs typeface="Arial MT"/>
                        </a:rPr>
                        <a:t>$100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75671">
                <a:tc>
                  <a:txBody>
                    <a:bodyPr/>
                    <a:lstStyle/>
                    <a:p>
                      <a:pPr algn="ctr">
                        <a:lnSpc>
                          <a:spcPct val="100000"/>
                        </a:lnSpc>
                        <a:spcBef>
                          <a:spcPts val="0"/>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0"/>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0"/>
                        </a:spcBef>
                      </a:pPr>
                      <a:r>
                        <a:rPr sz="1400" spc="-10" dirty="0">
                          <a:latin typeface="Arial MT"/>
                          <a:cs typeface="Arial MT"/>
                        </a:rPr>
                        <a:t>20220103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0"/>
                        </a:spcBef>
                      </a:pPr>
                      <a:r>
                        <a:rPr sz="1400" spc="-20" dirty="0">
                          <a:latin typeface="Arial MT"/>
                          <a:cs typeface="Arial MT"/>
                        </a:rPr>
                        <a:t>$100</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75671">
                <a:tc>
                  <a:txBody>
                    <a:bodyPr/>
                    <a:lstStyle/>
                    <a:p>
                      <a:pPr algn="ctr">
                        <a:lnSpc>
                          <a:spcPct val="100000"/>
                        </a:lnSpc>
                        <a:spcBef>
                          <a:spcPts val="0"/>
                        </a:spcBef>
                      </a:pPr>
                      <a:r>
                        <a:rPr sz="1400" spc="-50" dirty="0">
                          <a:latin typeface="Arial MT"/>
                          <a:cs typeface="Arial MT"/>
                        </a:rPr>
                        <a:t>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0"/>
                        </a:spcBef>
                      </a:pPr>
                      <a:r>
                        <a:rPr sz="1400" spc="-50" dirty="0">
                          <a:latin typeface="Arial MT"/>
                          <a:cs typeface="Arial MT"/>
                        </a:rPr>
                        <a:t>2</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0"/>
                        </a:spcBef>
                      </a:pPr>
                      <a:r>
                        <a:rPr sz="1400" spc="-10" dirty="0">
                          <a:latin typeface="Arial MT"/>
                          <a:cs typeface="Arial MT"/>
                        </a:rPr>
                        <a:t>20220101</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0"/>
                        </a:spcBef>
                      </a:pPr>
                      <a:r>
                        <a:rPr sz="1400" spc="-20" dirty="0">
                          <a:latin typeface="Arial MT"/>
                          <a:cs typeface="Arial MT"/>
                        </a:rPr>
                        <a:t>$120</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75671">
                <a:tc>
                  <a:txBody>
                    <a:bodyPr/>
                    <a:lstStyle/>
                    <a:p>
                      <a:pPr algn="ctr">
                        <a:lnSpc>
                          <a:spcPct val="100000"/>
                        </a:lnSpc>
                        <a:spcBef>
                          <a:spcPts val="0"/>
                        </a:spcBef>
                      </a:pPr>
                      <a:r>
                        <a:rPr sz="1400" spc="-50" dirty="0">
                          <a:latin typeface="Arial MT"/>
                          <a:cs typeface="Arial MT"/>
                        </a:rPr>
                        <a:t>5</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0"/>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0"/>
                        </a:spcBef>
                      </a:pPr>
                      <a:r>
                        <a:rPr sz="1400" spc="-10" dirty="0">
                          <a:latin typeface="Arial MT"/>
                          <a:cs typeface="Arial MT"/>
                        </a:rPr>
                        <a:t>20220102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0"/>
                        </a:spcBef>
                      </a:pPr>
                      <a:r>
                        <a:rPr sz="1400" spc="-20" dirty="0">
                          <a:latin typeface="Arial MT"/>
                          <a:cs typeface="Arial MT"/>
                        </a:rPr>
                        <a:t>$170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r h="275671">
                <a:tc>
                  <a:txBody>
                    <a:bodyPr/>
                    <a:lstStyle/>
                    <a:p>
                      <a:pPr algn="ctr">
                        <a:lnSpc>
                          <a:spcPct val="100000"/>
                        </a:lnSpc>
                        <a:spcBef>
                          <a:spcPts val="0"/>
                        </a:spcBef>
                      </a:pPr>
                      <a:r>
                        <a:rPr sz="1400" spc="-50" dirty="0">
                          <a:latin typeface="Arial MT"/>
                          <a:cs typeface="Arial MT"/>
                        </a:rPr>
                        <a:t>6</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0"/>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0"/>
                        </a:spcBef>
                      </a:pPr>
                      <a:r>
                        <a:rPr sz="1400" spc="-10" dirty="0">
                          <a:latin typeface="Arial MT"/>
                          <a:cs typeface="Arial MT"/>
                        </a:rPr>
                        <a:t>20220103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0"/>
                        </a:spcBef>
                      </a:pPr>
                      <a:r>
                        <a:rPr sz="1400" spc="-25" dirty="0">
                          <a:latin typeface="Arial MT"/>
                          <a:cs typeface="Arial MT"/>
                        </a:rPr>
                        <a:t>$60</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6"/>
                  </a:ext>
                </a:extLst>
              </a:tr>
            </a:tbl>
          </a:graphicData>
        </a:graphic>
      </p:graphicFrame>
      <p:graphicFrame>
        <p:nvGraphicFramePr>
          <p:cNvPr id="5" name="object 5"/>
          <p:cNvGraphicFramePr>
            <a:graphicFrameLocks noGrp="1"/>
          </p:cNvGraphicFramePr>
          <p:nvPr>
            <p:extLst>
              <p:ext uri="{D42A27DB-BD31-4B8C-83A1-F6EECF244321}">
                <p14:modId xmlns:p14="http://schemas.microsoft.com/office/powerpoint/2010/main" val="1912257343"/>
              </p:ext>
            </p:extLst>
          </p:nvPr>
        </p:nvGraphicFramePr>
        <p:xfrm>
          <a:off x="255727" y="4611757"/>
          <a:ext cx="2787225" cy="731520"/>
        </p:xfrm>
        <a:graphic>
          <a:graphicData uri="http://schemas.openxmlformats.org/drawingml/2006/table">
            <a:tbl>
              <a:tblPr firstRow="1" bandRow="1">
                <a:tableStyleId>{2D5ABB26-0587-4C30-8999-92F81FD0307C}</a:tableStyleId>
              </a:tblPr>
              <a:tblGrid>
                <a:gridCol w="1263225">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tblGrid>
              <a:tr h="109086">
                <a:tc>
                  <a:txBody>
                    <a:bodyPr/>
                    <a:lstStyle/>
                    <a:p>
                      <a:pPr algn="ctr">
                        <a:lnSpc>
                          <a:spcPct val="100000"/>
                        </a:lnSpc>
                        <a:spcBef>
                          <a:spcPts val="0"/>
                        </a:spcBef>
                      </a:pPr>
                      <a:r>
                        <a:rPr sz="1400" b="1" spc="-10" dirty="0">
                          <a:solidFill>
                            <a:schemeClr val="bg1"/>
                          </a:solidFill>
                          <a:latin typeface="Arial"/>
                          <a:cs typeface="Arial"/>
                        </a:rPr>
                        <a:t>Portfolio_id</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gn="ctr">
                        <a:lnSpc>
                          <a:spcPct val="100000"/>
                        </a:lnSpc>
                        <a:spcBef>
                          <a:spcPts val="0"/>
                        </a:spcBef>
                      </a:pPr>
                      <a:r>
                        <a:rPr sz="1400" b="1" spc="-20" dirty="0">
                          <a:solidFill>
                            <a:schemeClr val="bg1"/>
                          </a:solidFill>
                          <a:latin typeface="Arial"/>
                          <a:cs typeface="Arial"/>
                        </a:rPr>
                        <a:t>Type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algn="ctr">
                        <a:lnSpc>
                          <a:spcPct val="100000"/>
                        </a:lnSpc>
                        <a:spcBef>
                          <a:spcPts val="0"/>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spc="-20" dirty="0">
                          <a:latin typeface="Arial MT"/>
                          <a:cs typeface="Arial MT"/>
                        </a:rPr>
                        <a:t>Cash</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ct val="100000"/>
                        </a:lnSpc>
                        <a:spcBef>
                          <a:spcPts val="0"/>
                        </a:spcBef>
                      </a:pPr>
                      <a:r>
                        <a:rPr sz="1400" spc="-50" dirty="0">
                          <a:latin typeface="Arial MT"/>
                          <a:cs typeface="Arial MT"/>
                        </a:rPr>
                        <a:t>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spc="-10" dirty="0">
                          <a:latin typeface="Arial MT"/>
                          <a:cs typeface="Arial MT"/>
                        </a:rPr>
                        <a:t>Stocks</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bl>
          </a:graphicData>
        </a:graphic>
      </p:graphicFrame>
      <p:graphicFrame>
        <p:nvGraphicFramePr>
          <p:cNvPr id="6" name="object 6"/>
          <p:cNvGraphicFramePr>
            <a:graphicFrameLocks noGrp="1"/>
          </p:cNvGraphicFramePr>
          <p:nvPr>
            <p:extLst>
              <p:ext uri="{D42A27DB-BD31-4B8C-83A1-F6EECF244321}">
                <p14:modId xmlns:p14="http://schemas.microsoft.com/office/powerpoint/2010/main" val="205926062"/>
              </p:ext>
            </p:extLst>
          </p:nvPr>
        </p:nvGraphicFramePr>
        <p:xfrm>
          <a:off x="3657601" y="4504944"/>
          <a:ext cx="2787225" cy="987213"/>
        </p:xfrm>
        <a:graphic>
          <a:graphicData uri="http://schemas.openxmlformats.org/drawingml/2006/table">
            <a:tbl>
              <a:tblPr firstRow="1" bandRow="1">
                <a:tableStyleId>{2D5ABB26-0587-4C30-8999-92F81FD0307C}</a:tableStyleId>
              </a:tblPr>
              <a:tblGrid>
                <a:gridCol w="1263225">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tblGrid>
              <a:tr h="226060">
                <a:tc>
                  <a:txBody>
                    <a:bodyPr/>
                    <a:lstStyle/>
                    <a:p>
                      <a:pPr algn="ctr">
                        <a:lnSpc>
                          <a:spcPct val="100000"/>
                        </a:lnSpc>
                        <a:spcBef>
                          <a:spcPts val="0"/>
                        </a:spcBef>
                      </a:pPr>
                      <a:r>
                        <a:rPr sz="1400" b="1" spc="-10" dirty="0">
                          <a:solidFill>
                            <a:schemeClr val="bg1"/>
                          </a:solidFill>
                          <a:latin typeface="Arial"/>
                          <a:cs typeface="Arial"/>
                        </a:rPr>
                        <a:t>Date_id</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635" algn="ctr">
                        <a:lnSpc>
                          <a:spcPct val="100000"/>
                        </a:lnSpc>
                        <a:spcBef>
                          <a:spcPts val="0"/>
                        </a:spcBef>
                      </a:pPr>
                      <a:r>
                        <a:rPr sz="1400" b="1" spc="-10" dirty="0">
                          <a:solidFill>
                            <a:schemeClr val="bg1"/>
                          </a:solidFill>
                          <a:latin typeface="Arial"/>
                          <a:cs typeface="Arial"/>
                        </a:rPr>
                        <a:t>balance</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algn="ctr">
                        <a:lnSpc>
                          <a:spcPct val="100000"/>
                        </a:lnSpc>
                        <a:spcBef>
                          <a:spcPts val="0"/>
                        </a:spcBef>
                      </a:pPr>
                      <a:r>
                        <a:rPr sz="1400" spc="-10" dirty="0">
                          <a:latin typeface="Arial MT"/>
                          <a:cs typeface="Arial MT"/>
                        </a:rPr>
                        <a:t>20220101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0"/>
                        </a:spcBef>
                      </a:pPr>
                      <a:r>
                        <a:rPr sz="1400" spc="-20" dirty="0">
                          <a:latin typeface="Arial MT"/>
                          <a:cs typeface="Arial MT"/>
                        </a:rPr>
                        <a:t>$170</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3153">
                <a:tc>
                  <a:txBody>
                    <a:bodyPr/>
                    <a:lstStyle/>
                    <a:p>
                      <a:pPr algn="ctr">
                        <a:lnSpc>
                          <a:spcPct val="100000"/>
                        </a:lnSpc>
                        <a:spcBef>
                          <a:spcPts val="0"/>
                        </a:spcBef>
                      </a:pPr>
                      <a:r>
                        <a:rPr sz="1400" spc="-10" dirty="0">
                          <a:latin typeface="Arial MT"/>
                          <a:cs typeface="Arial MT"/>
                        </a:rPr>
                        <a:t>20220102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9370" algn="ctr">
                        <a:lnSpc>
                          <a:spcPct val="100000"/>
                        </a:lnSpc>
                        <a:spcBef>
                          <a:spcPts val="0"/>
                        </a:spcBef>
                      </a:pPr>
                      <a:r>
                        <a:rPr sz="1400" spc="-20" dirty="0">
                          <a:latin typeface="Arial MT"/>
                          <a:cs typeface="Arial MT"/>
                        </a:rPr>
                        <a:t>$270</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ct val="100000"/>
                        </a:lnSpc>
                        <a:spcBef>
                          <a:spcPts val="0"/>
                        </a:spcBef>
                      </a:pPr>
                      <a:r>
                        <a:rPr sz="1400" spc="-10" dirty="0">
                          <a:latin typeface="Arial MT"/>
                          <a:cs typeface="Arial MT"/>
                        </a:rPr>
                        <a:t>20220103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0"/>
                        </a:spcBef>
                      </a:pPr>
                      <a:r>
                        <a:rPr sz="1400" spc="-20" dirty="0">
                          <a:latin typeface="Arial MT"/>
                          <a:cs typeface="Arial MT"/>
                        </a:rPr>
                        <a:t>$160</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sp>
        <p:nvSpPr>
          <p:cNvPr id="7" name="object 7"/>
          <p:cNvSpPr txBox="1"/>
          <p:nvPr/>
        </p:nvSpPr>
        <p:spPr>
          <a:xfrm>
            <a:off x="3943097" y="4184228"/>
            <a:ext cx="2156460" cy="269304"/>
          </a:xfrm>
          <a:prstGeom prst="rect">
            <a:avLst/>
          </a:prstGeom>
          <a:solidFill>
            <a:srgbClr val="C0C0C0"/>
          </a:solidFill>
        </p:spPr>
        <p:txBody>
          <a:bodyPr vert="horz" wrap="square" lIns="0" tIns="0" rIns="0" bIns="0" rtlCol="0">
            <a:spAutoFit/>
          </a:bodyPr>
          <a:lstStyle/>
          <a:p>
            <a:pPr>
              <a:lnSpc>
                <a:spcPts val="2067"/>
              </a:lnSpc>
            </a:pPr>
            <a:r>
              <a:rPr sz="1867" dirty="0">
                <a:latin typeface="Arial MT"/>
                <a:cs typeface="Arial MT"/>
              </a:rPr>
              <a:t>Added</a:t>
            </a:r>
            <a:r>
              <a:rPr sz="1867" spc="-47" dirty="0">
                <a:latin typeface="Arial MT"/>
                <a:cs typeface="Arial MT"/>
              </a:rPr>
              <a:t> </a:t>
            </a:r>
            <a:r>
              <a:rPr sz="1867" dirty="0">
                <a:latin typeface="Arial MT"/>
                <a:cs typeface="Arial MT"/>
              </a:rPr>
              <a:t>across</a:t>
            </a:r>
            <a:r>
              <a:rPr sz="1867" spc="-60" dirty="0">
                <a:latin typeface="Arial MT"/>
                <a:cs typeface="Arial MT"/>
              </a:rPr>
              <a:t> </a:t>
            </a:r>
            <a:r>
              <a:rPr sz="1867" spc="-13" dirty="0">
                <a:latin typeface="Arial MT"/>
                <a:cs typeface="Arial MT"/>
              </a:rPr>
              <a:t>Types</a:t>
            </a:r>
            <a:endParaRPr sz="1867">
              <a:latin typeface="Arial MT"/>
              <a:cs typeface="Arial MT"/>
            </a:endParaRPr>
          </a:p>
        </p:txBody>
      </p:sp>
      <p:grpSp>
        <p:nvGrpSpPr>
          <p:cNvPr id="8" name="object 8"/>
          <p:cNvGrpSpPr/>
          <p:nvPr/>
        </p:nvGrpSpPr>
        <p:grpSpPr>
          <a:xfrm>
            <a:off x="7071190" y="4175081"/>
            <a:ext cx="2805007" cy="1071880"/>
            <a:chOff x="5303392" y="3131311"/>
            <a:chExt cx="2103755" cy="803910"/>
          </a:xfrm>
        </p:grpSpPr>
        <p:sp>
          <p:nvSpPr>
            <p:cNvPr id="9" name="object 9"/>
            <p:cNvSpPr/>
            <p:nvPr/>
          </p:nvSpPr>
          <p:spPr>
            <a:xfrm>
              <a:off x="5309743" y="3378072"/>
              <a:ext cx="2091055" cy="169545"/>
            </a:xfrm>
            <a:custGeom>
              <a:avLst/>
              <a:gdLst/>
              <a:ahLst/>
              <a:cxnLst/>
              <a:rect l="l" t="t" r="r" b="b"/>
              <a:pathLst>
                <a:path w="2091054" h="169545">
                  <a:moveTo>
                    <a:pt x="947648" y="0"/>
                  </a:moveTo>
                  <a:lnTo>
                    <a:pt x="0" y="0"/>
                  </a:lnTo>
                  <a:lnTo>
                    <a:pt x="0" y="169545"/>
                  </a:lnTo>
                  <a:lnTo>
                    <a:pt x="947648" y="169545"/>
                  </a:lnTo>
                  <a:lnTo>
                    <a:pt x="947648" y="0"/>
                  </a:lnTo>
                  <a:close/>
                </a:path>
                <a:path w="2091054" h="169545">
                  <a:moveTo>
                    <a:pt x="2090674" y="0"/>
                  </a:moveTo>
                  <a:lnTo>
                    <a:pt x="947674" y="0"/>
                  </a:lnTo>
                  <a:lnTo>
                    <a:pt x="947674" y="169545"/>
                  </a:lnTo>
                  <a:lnTo>
                    <a:pt x="2090674" y="169545"/>
                  </a:lnTo>
                  <a:lnTo>
                    <a:pt x="2090674" y="0"/>
                  </a:lnTo>
                  <a:close/>
                </a:path>
              </a:pathLst>
            </a:custGeom>
            <a:solidFill>
              <a:srgbClr val="00497E"/>
            </a:solidFill>
          </p:spPr>
          <p:txBody>
            <a:bodyPr wrap="square" lIns="0" tIns="0" rIns="0" bIns="0" rtlCol="0"/>
            <a:lstStyle/>
            <a:p>
              <a:endParaRPr sz="2400"/>
            </a:p>
          </p:txBody>
        </p:sp>
        <p:sp>
          <p:nvSpPr>
            <p:cNvPr id="10" name="object 10"/>
            <p:cNvSpPr/>
            <p:nvPr/>
          </p:nvSpPr>
          <p:spPr>
            <a:xfrm>
              <a:off x="5309743" y="3547617"/>
              <a:ext cx="2091055" cy="381000"/>
            </a:xfrm>
            <a:custGeom>
              <a:avLst/>
              <a:gdLst/>
              <a:ahLst/>
              <a:cxnLst/>
              <a:rect l="l" t="t" r="r" b="b"/>
              <a:pathLst>
                <a:path w="2091054" h="381000">
                  <a:moveTo>
                    <a:pt x="947648" y="0"/>
                  </a:moveTo>
                  <a:lnTo>
                    <a:pt x="0" y="0"/>
                  </a:lnTo>
                  <a:lnTo>
                    <a:pt x="0" y="190500"/>
                  </a:lnTo>
                  <a:lnTo>
                    <a:pt x="0" y="381000"/>
                  </a:lnTo>
                  <a:lnTo>
                    <a:pt x="947648" y="381000"/>
                  </a:lnTo>
                  <a:lnTo>
                    <a:pt x="947648" y="190500"/>
                  </a:lnTo>
                  <a:lnTo>
                    <a:pt x="947648" y="0"/>
                  </a:lnTo>
                  <a:close/>
                </a:path>
                <a:path w="2091054" h="381000">
                  <a:moveTo>
                    <a:pt x="2090674" y="0"/>
                  </a:moveTo>
                  <a:lnTo>
                    <a:pt x="947674" y="0"/>
                  </a:lnTo>
                  <a:lnTo>
                    <a:pt x="947674" y="190500"/>
                  </a:lnTo>
                  <a:lnTo>
                    <a:pt x="947674" y="381000"/>
                  </a:lnTo>
                  <a:lnTo>
                    <a:pt x="2090674" y="381000"/>
                  </a:lnTo>
                  <a:lnTo>
                    <a:pt x="2090674" y="190500"/>
                  </a:lnTo>
                  <a:lnTo>
                    <a:pt x="2090674" y="0"/>
                  </a:lnTo>
                  <a:close/>
                </a:path>
              </a:pathLst>
            </a:custGeom>
            <a:solidFill>
              <a:srgbClr val="E7E7E7"/>
            </a:solidFill>
          </p:spPr>
          <p:txBody>
            <a:bodyPr wrap="square" lIns="0" tIns="0" rIns="0" bIns="0" rtlCol="0"/>
            <a:lstStyle/>
            <a:p>
              <a:endParaRPr sz="2400"/>
            </a:p>
          </p:txBody>
        </p:sp>
        <p:sp>
          <p:nvSpPr>
            <p:cNvPr id="11" name="object 11"/>
            <p:cNvSpPr/>
            <p:nvPr/>
          </p:nvSpPr>
          <p:spPr>
            <a:xfrm>
              <a:off x="5303392" y="3371722"/>
              <a:ext cx="2103755" cy="563245"/>
            </a:xfrm>
            <a:custGeom>
              <a:avLst/>
              <a:gdLst/>
              <a:ahLst/>
              <a:cxnLst/>
              <a:rect l="l" t="t" r="r" b="b"/>
              <a:pathLst>
                <a:path w="2103754" h="563245">
                  <a:moveTo>
                    <a:pt x="954024" y="0"/>
                  </a:moveTo>
                  <a:lnTo>
                    <a:pt x="954024" y="563244"/>
                  </a:lnTo>
                </a:path>
                <a:path w="2103754" h="563245">
                  <a:moveTo>
                    <a:pt x="0" y="175894"/>
                  </a:moveTo>
                  <a:lnTo>
                    <a:pt x="2103374" y="175894"/>
                  </a:lnTo>
                </a:path>
                <a:path w="2103754" h="563245">
                  <a:moveTo>
                    <a:pt x="0" y="366394"/>
                  </a:moveTo>
                  <a:lnTo>
                    <a:pt x="2103374" y="366394"/>
                  </a:lnTo>
                </a:path>
                <a:path w="2103754" h="563245">
                  <a:moveTo>
                    <a:pt x="6350" y="0"/>
                  </a:moveTo>
                  <a:lnTo>
                    <a:pt x="6350" y="563244"/>
                  </a:lnTo>
                </a:path>
                <a:path w="2103754" h="563245">
                  <a:moveTo>
                    <a:pt x="2097024" y="0"/>
                  </a:moveTo>
                  <a:lnTo>
                    <a:pt x="2097024" y="563244"/>
                  </a:lnTo>
                </a:path>
                <a:path w="2103754" h="563245">
                  <a:moveTo>
                    <a:pt x="0" y="6350"/>
                  </a:moveTo>
                  <a:lnTo>
                    <a:pt x="2103374" y="6350"/>
                  </a:lnTo>
                </a:path>
                <a:path w="2103754" h="563245">
                  <a:moveTo>
                    <a:pt x="0" y="556894"/>
                  </a:moveTo>
                  <a:lnTo>
                    <a:pt x="2103374" y="556894"/>
                  </a:lnTo>
                </a:path>
              </a:pathLst>
            </a:custGeom>
            <a:ln w="12700">
              <a:solidFill>
                <a:srgbClr val="000000"/>
              </a:solidFill>
            </a:ln>
          </p:spPr>
          <p:txBody>
            <a:bodyPr wrap="square" lIns="0" tIns="0" rIns="0" bIns="0" rtlCol="0"/>
            <a:lstStyle/>
            <a:p>
              <a:endParaRPr sz="2400"/>
            </a:p>
          </p:txBody>
        </p:sp>
        <p:sp>
          <p:nvSpPr>
            <p:cNvPr id="12" name="object 12"/>
            <p:cNvSpPr/>
            <p:nvPr/>
          </p:nvSpPr>
          <p:spPr>
            <a:xfrm>
              <a:off x="5570727" y="3131311"/>
              <a:ext cx="1510665" cy="200025"/>
            </a:xfrm>
            <a:custGeom>
              <a:avLst/>
              <a:gdLst/>
              <a:ahLst/>
              <a:cxnLst/>
              <a:rect l="l" t="t" r="r" b="b"/>
              <a:pathLst>
                <a:path w="1510665" h="200025">
                  <a:moveTo>
                    <a:pt x="1510283" y="0"/>
                  </a:moveTo>
                  <a:lnTo>
                    <a:pt x="0" y="0"/>
                  </a:lnTo>
                  <a:lnTo>
                    <a:pt x="0" y="199644"/>
                  </a:lnTo>
                  <a:lnTo>
                    <a:pt x="1510283" y="199644"/>
                  </a:lnTo>
                  <a:lnTo>
                    <a:pt x="1510283" y="0"/>
                  </a:lnTo>
                  <a:close/>
                </a:path>
              </a:pathLst>
            </a:custGeom>
            <a:solidFill>
              <a:srgbClr val="C0C0C0"/>
            </a:solidFill>
          </p:spPr>
          <p:txBody>
            <a:bodyPr wrap="square" lIns="0" tIns="0" rIns="0" bIns="0" rtlCol="0"/>
            <a:lstStyle/>
            <a:p>
              <a:endParaRPr sz="2400"/>
            </a:p>
          </p:txBody>
        </p:sp>
      </p:grpSp>
      <p:sp>
        <p:nvSpPr>
          <p:cNvPr id="13" name="object 13"/>
          <p:cNvSpPr txBox="1"/>
          <p:nvPr/>
        </p:nvSpPr>
        <p:spPr>
          <a:xfrm>
            <a:off x="7088123" y="4032524"/>
            <a:ext cx="2771140" cy="1208088"/>
          </a:xfrm>
          <a:prstGeom prst="rect">
            <a:avLst/>
          </a:prstGeom>
        </p:spPr>
        <p:txBody>
          <a:bodyPr vert="horz" wrap="square" lIns="0" tIns="119380" rIns="0" bIns="0" rtlCol="0">
            <a:spAutoFit/>
          </a:bodyPr>
          <a:lstStyle/>
          <a:p>
            <a:pPr marL="340351">
              <a:spcBef>
                <a:spcPts val="940"/>
              </a:spcBef>
            </a:pPr>
            <a:r>
              <a:rPr sz="1867" dirty="0">
                <a:latin typeface="Arial MT"/>
                <a:cs typeface="Arial MT"/>
              </a:rPr>
              <a:t>Added</a:t>
            </a:r>
            <a:r>
              <a:rPr sz="1867" spc="-60" dirty="0">
                <a:latin typeface="Arial MT"/>
                <a:cs typeface="Arial MT"/>
              </a:rPr>
              <a:t> </a:t>
            </a:r>
            <a:r>
              <a:rPr sz="1867" dirty="0">
                <a:latin typeface="Arial MT"/>
                <a:cs typeface="Arial MT"/>
              </a:rPr>
              <a:t>across</a:t>
            </a:r>
            <a:r>
              <a:rPr sz="1867" spc="-60" dirty="0">
                <a:latin typeface="Arial MT"/>
                <a:cs typeface="Arial MT"/>
              </a:rPr>
              <a:t> </a:t>
            </a:r>
            <a:r>
              <a:rPr sz="1867" spc="-27" dirty="0">
                <a:latin typeface="Arial MT"/>
                <a:cs typeface="Arial MT"/>
              </a:rPr>
              <a:t>Date</a:t>
            </a:r>
            <a:endParaRPr sz="1867" dirty="0">
              <a:latin typeface="Arial MT"/>
              <a:cs typeface="Arial MT"/>
            </a:endParaRPr>
          </a:p>
          <a:p>
            <a:pPr marL="416550">
              <a:spcBef>
                <a:spcPts val="612"/>
              </a:spcBef>
              <a:tabLst>
                <a:tab pos="1684825" algn="l"/>
              </a:tabLst>
            </a:pPr>
            <a:r>
              <a:rPr sz="1400" b="1" spc="-27" dirty="0">
                <a:solidFill>
                  <a:schemeClr val="bg1"/>
                </a:solidFill>
                <a:latin typeface="Arial"/>
                <a:cs typeface="Arial"/>
              </a:rPr>
              <a:t>Type</a:t>
            </a:r>
            <a:r>
              <a:rPr sz="1400" b="1" dirty="0">
                <a:solidFill>
                  <a:schemeClr val="bg1"/>
                </a:solidFill>
                <a:latin typeface="Arial"/>
                <a:cs typeface="Arial"/>
              </a:rPr>
              <a:t>	</a:t>
            </a:r>
            <a:r>
              <a:rPr sz="1400" b="1" spc="-13" dirty="0">
                <a:solidFill>
                  <a:schemeClr val="bg1"/>
                </a:solidFill>
                <a:latin typeface="Arial"/>
                <a:cs typeface="Arial"/>
              </a:rPr>
              <a:t>balance</a:t>
            </a:r>
            <a:endParaRPr sz="1400" dirty="0">
              <a:solidFill>
                <a:schemeClr val="bg1"/>
              </a:solidFill>
              <a:latin typeface="Arial"/>
              <a:cs typeface="Arial"/>
            </a:endParaRPr>
          </a:p>
          <a:p>
            <a:pPr marL="201502">
              <a:spcBef>
                <a:spcPts val="320"/>
              </a:spcBef>
              <a:tabLst>
                <a:tab pos="1819441" algn="l"/>
              </a:tabLst>
            </a:pPr>
            <a:r>
              <a:rPr sz="1400" spc="-27" dirty="0">
                <a:latin typeface="Arial MT"/>
                <a:cs typeface="Arial MT"/>
              </a:rPr>
              <a:t>Cash</a:t>
            </a:r>
            <a:r>
              <a:rPr sz="1400" dirty="0">
                <a:latin typeface="Arial MT"/>
                <a:cs typeface="Arial MT"/>
              </a:rPr>
              <a:t>	</a:t>
            </a:r>
            <a:r>
              <a:rPr sz="1400" spc="-27" dirty="0">
                <a:latin typeface="Arial MT"/>
                <a:cs typeface="Arial MT"/>
              </a:rPr>
              <a:t>$250</a:t>
            </a:r>
            <a:endParaRPr sz="1400" dirty="0">
              <a:latin typeface="Arial MT"/>
              <a:cs typeface="Arial MT"/>
            </a:endParaRPr>
          </a:p>
          <a:p>
            <a:pPr marL="353898">
              <a:spcBef>
                <a:spcPts val="327"/>
              </a:spcBef>
              <a:tabLst>
                <a:tab pos="1843994" algn="l"/>
              </a:tabLst>
            </a:pPr>
            <a:r>
              <a:rPr sz="1400" spc="-13" dirty="0">
                <a:latin typeface="Arial MT"/>
                <a:cs typeface="Arial MT"/>
              </a:rPr>
              <a:t>Stocks</a:t>
            </a:r>
            <a:r>
              <a:rPr sz="1400" dirty="0">
                <a:latin typeface="Arial MT"/>
                <a:cs typeface="Arial MT"/>
              </a:rPr>
              <a:t>	</a:t>
            </a:r>
            <a:r>
              <a:rPr sz="1400" spc="-27" dirty="0">
                <a:latin typeface="Arial MT"/>
                <a:cs typeface="Arial MT"/>
              </a:rPr>
              <a:t>$350</a:t>
            </a:r>
            <a:endParaRPr sz="1400" dirty="0">
              <a:latin typeface="Arial MT"/>
              <a:cs typeface="Arial MT"/>
            </a:endParaRPr>
          </a:p>
        </p:txBody>
      </p:sp>
      <p:grpSp>
        <p:nvGrpSpPr>
          <p:cNvPr id="14" name="object 14"/>
          <p:cNvGrpSpPr/>
          <p:nvPr/>
        </p:nvGrpSpPr>
        <p:grpSpPr>
          <a:xfrm>
            <a:off x="7276084" y="4485460"/>
            <a:ext cx="2550160" cy="1043113"/>
            <a:chOff x="5458459" y="3199764"/>
            <a:chExt cx="1912620" cy="845819"/>
          </a:xfrm>
        </p:grpSpPr>
        <p:sp>
          <p:nvSpPr>
            <p:cNvPr id="15" name="object 15"/>
            <p:cNvSpPr/>
            <p:nvPr/>
          </p:nvSpPr>
          <p:spPr>
            <a:xfrm>
              <a:off x="5471413" y="3212718"/>
              <a:ext cx="1886585" cy="819785"/>
            </a:xfrm>
            <a:custGeom>
              <a:avLst/>
              <a:gdLst/>
              <a:ahLst/>
              <a:cxnLst/>
              <a:rect l="l" t="t" r="r" b="b"/>
              <a:pathLst>
                <a:path w="1886584" h="819785">
                  <a:moveTo>
                    <a:pt x="1807971" y="0"/>
                  </a:moveTo>
                  <a:lnTo>
                    <a:pt x="943101" y="273938"/>
                  </a:lnTo>
                  <a:lnTo>
                    <a:pt x="78232" y="0"/>
                  </a:lnTo>
                  <a:lnTo>
                    <a:pt x="0" y="247014"/>
                  </a:lnTo>
                  <a:lnTo>
                    <a:pt x="513969" y="409828"/>
                  </a:lnTo>
                  <a:lnTo>
                    <a:pt x="0" y="572643"/>
                  </a:lnTo>
                  <a:lnTo>
                    <a:pt x="78232" y="819645"/>
                  </a:lnTo>
                  <a:lnTo>
                    <a:pt x="943101" y="545719"/>
                  </a:lnTo>
                  <a:lnTo>
                    <a:pt x="1807971" y="819645"/>
                  </a:lnTo>
                  <a:lnTo>
                    <a:pt x="1886204" y="572643"/>
                  </a:lnTo>
                  <a:lnTo>
                    <a:pt x="1372235" y="409828"/>
                  </a:lnTo>
                  <a:lnTo>
                    <a:pt x="1886204" y="247014"/>
                  </a:lnTo>
                  <a:lnTo>
                    <a:pt x="1807971" y="0"/>
                  </a:lnTo>
                  <a:close/>
                </a:path>
              </a:pathLst>
            </a:custGeom>
            <a:solidFill>
              <a:srgbClr val="C00000">
                <a:alpha val="74900"/>
              </a:srgbClr>
            </a:solidFill>
          </p:spPr>
          <p:txBody>
            <a:bodyPr wrap="square" lIns="0" tIns="0" rIns="0" bIns="0" rtlCol="0"/>
            <a:lstStyle/>
            <a:p>
              <a:endParaRPr sz="2400"/>
            </a:p>
          </p:txBody>
        </p:sp>
        <p:sp>
          <p:nvSpPr>
            <p:cNvPr id="16" name="object 16"/>
            <p:cNvSpPr/>
            <p:nvPr/>
          </p:nvSpPr>
          <p:spPr>
            <a:xfrm>
              <a:off x="5471413" y="3212718"/>
              <a:ext cx="1886585" cy="819785"/>
            </a:xfrm>
            <a:custGeom>
              <a:avLst/>
              <a:gdLst/>
              <a:ahLst/>
              <a:cxnLst/>
              <a:rect l="l" t="t" r="r" b="b"/>
              <a:pathLst>
                <a:path w="1886584" h="819785">
                  <a:moveTo>
                    <a:pt x="0" y="247014"/>
                  </a:moveTo>
                  <a:lnTo>
                    <a:pt x="78232" y="0"/>
                  </a:lnTo>
                  <a:lnTo>
                    <a:pt x="943101" y="273938"/>
                  </a:lnTo>
                  <a:lnTo>
                    <a:pt x="1807971" y="0"/>
                  </a:lnTo>
                  <a:lnTo>
                    <a:pt x="1886204" y="247014"/>
                  </a:lnTo>
                  <a:lnTo>
                    <a:pt x="1372235" y="409828"/>
                  </a:lnTo>
                  <a:lnTo>
                    <a:pt x="1886204" y="572643"/>
                  </a:lnTo>
                  <a:lnTo>
                    <a:pt x="1807971" y="819645"/>
                  </a:lnTo>
                  <a:lnTo>
                    <a:pt x="943101" y="545719"/>
                  </a:lnTo>
                  <a:lnTo>
                    <a:pt x="78232" y="819645"/>
                  </a:lnTo>
                  <a:lnTo>
                    <a:pt x="0" y="572643"/>
                  </a:lnTo>
                  <a:lnTo>
                    <a:pt x="513969" y="409828"/>
                  </a:lnTo>
                  <a:lnTo>
                    <a:pt x="0" y="247014"/>
                  </a:lnTo>
                  <a:close/>
                </a:path>
              </a:pathLst>
            </a:custGeom>
            <a:ln w="25908">
              <a:solidFill>
                <a:srgbClr val="008FBB"/>
              </a:solidFill>
            </a:ln>
          </p:spPr>
          <p:txBody>
            <a:bodyPr wrap="square" lIns="0" tIns="0" rIns="0" bIns="0" rtlCol="0"/>
            <a:lstStyle/>
            <a:p>
              <a:endParaRPr sz="2400"/>
            </a:p>
          </p:txBody>
        </p:sp>
      </p:gr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04713" y="177062"/>
            <a:ext cx="8425181" cy="695062"/>
          </a:xfrm>
          <a:prstGeom prst="rect">
            <a:avLst/>
          </a:prstGeom>
        </p:spPr>
        <p:txBody>
          <a:bodyPr vert="horz" wrap="square" lIns="0" tIns="17780" rIns="0" bIns="0" rtlCol="0" anchor="ctr">
            <a:spAutoFit/>
          </a:bodyPr>
          <a:lstStyle/>
          <a:p>
            <a:pPr marL="1607780">
              <a:lnSpc>
                <a:spcPct val="100000"/>
              </a:lnSpc>
              <a:spcBef>
                <a:spcPts val="140"/>
              </a:spcBef>
            </a:pPr>
            <a:r>
              <a:rPr spc="-13" dirty="0">
                <a:solidFill>
                  <a:schemeClr val="bg1"/>
                </a:solidFill>
                <a:latin typeface="+mn-lt"/>
              </a:rPr>
              <a:t>Semi-</a:t>
            </a:r>
            <a:r>
              <a:rPr dirty="0">
                <a:solidFill>
                  <a:schemeClr val="bg1"/>
                </a:solidFill>
                <a:latin typeface="+mn-lt"/>
              </a:rPr>
              <a:t>additive</a:t>
            </a:r>
            <a:r>
              <a:rPr spc="-80" dirty="0">
                <a:solidFill>
                  <a:schemeClr val="bg1"/>
                </a:solidFill>
                <a:latin typeface="+mn-lt"/>
              </a:rPr>
              <a:t> </a:t>
            </a:r>
            <a:r>
              <a:rPr spc="-13" dirty="0">
                <a:solidFill>
                  <a:schemeClr val="bg1"/>
                </a:solidFill>
                <a:latin typeface="+mn-lt"/>
              </a:rPr>
              <a:t>facts</a:t>
            </a:r>
          </a:p>
        </p:txBody>
      </p:sp>
      <p:sp>
        <p:nvSpPr>
          <p:cNvPr id="3" name="object 3"/>
          <p:cNvSpPr/>
          <p:nvPr/>
        </p:nvSpPr>
        <p:spPr>
          <a:xfrm>
            <a:off x="812800" y="2940303"/>
            <a:ext cx="7112000" cy="1581573"/>
          </a:xfrm>
          <a:custGeom>
            <a:avLst/>
            <a:gdLst/>
            <a:ahLst/>
            <a:cxnLst/>
            <a:rect l="l" t="t" r="r" b="b"/>
            <a:pathLst>
              <a:path w="5334000" h="1186179">
                <a:moveTo>
                  <a:pt x="5334000" y="0"/>
                </a:moveTo>
                <a:lnTo>
                  <a:pt x="0" y="1186180"/>
                </a:lnTo>
              </a:path>
            </a:pathLst>
          </a:custGeom>
          <a:ln w="76200">
            <a:solidFill>
              <a:srgbClr val="00C2FF"/>
            </a:solidFill>
          </a:ln>
        </p:spPr>
        <p:txBody>
          <a:bodyPr wrap="square" lIns="0" tIns="0" rIns="0" bIns="0" rtlCol="0"/>
          <a:lstStyle/>
          <a:p>
            <a:endParaRPr sz="2400"/>
          </a:p>
        </p:txBody>
      </p:sp>
      <p:graphicFrame>
        <p:nvGraphicFramePr>
          <p:cNvPr id="4" name="object 4"/>
          <p:cNvGraphicFramePr>
            <a:graphicFrameLocks noGrp="1"/>
          </p:cNvGraphicFramePr>
          <p:nvPr>
            <p:extLst>
              <p:ext uri="{D42A27DB-BD31-4B8C-83A1-F6EECF244321}">
                <p14:modId xmlns:p14="http://schemas.microsoft.com/office/powerpoint/2010/main" val="1164254894"/>
              </p:ext>
            </p:extLst>
          </p:nvPr>
        </p:nvGraphicFramePr>
        <p:xfrm>
          <a:off x="6087534" y="1494874"/>
          <a:ext cx="4268894" cy="1750060"/>
        </p:xfrm>
        <a:graphic>
          <a:graphicData uri="http://schemas.openxmlformats.org/drawingml/2006/table">
            <a:tbl>
              <a:tblPr firstRow="1" bandRow="1">
                <a:tableStyleId>{2D5ABB26-0587-4C30-8999-92F81FD0307C}</a:tableStyleId>
              </a:tblPr>
              <a:tblGrid>
                <a:gridCol w="1034627">
                  <a:extLst>
                    <a:ext uri="{9D8B030D-6E8A-4147-A177-3AD203B41FA5}">
                      <a16:colId xmlns:a16="http://schemas.microsoft.com/office/drawing/2014/main" val="20000"/>
                    </a:ext>
                  </a:extLst>
                </a:gridCol>
                <a:gridCol w="1149773">
                  <a:extLst>
                    <a:ext uri="{9D8B030D-6E8A-4147-A177-3AD203B41FA5}">
                      <a16:colId xmlns:a16="http://schemas.microsoft.com/office/drawing/2014/main" val="20001"/>
                    </a:ext>
                  </a:extLst>
                </a:gridCol>
                <a:gridCol w="1293707">
                  <a:extLst>
                    <a:ext uri="{9D8B030D-6E8A-4147-A177-3AD203B41FA5}">
                      <a16:colId xmlns:a16="http://schemas.microsoft.com/office/drawing/2014/main" val="20002"/>
                    </a:ext>
                  </a:extLst>
                </a:gridCol>
                <a:gridCol w="790787">
                  <a:extLst>
                    <a:ext uri="{9D8B030D-6E8A-4147-A177-3AD203B41FA5}">
                      <a16:colId xmlns:a16="http://schemas.microsoft.com/office/drawing/2014/main" val="20003"/>
                    </a:ext>
                  </a:extLst>
                </a:gridCol>
              </a:tblGrid>
              <a:tr h="226060">
                <a:tc>
                  <a:txBody>
                    <a:bodyPr/>
                    <a:lstStyle/>
                    <a:p>
                      <a:pPr algn="ctr">
                        <a:lnSpc>
                          <a:spcPct val="100000"/>
                        </a:lnSpc>
                        <a:spcBef>
                          <a:spcPts val="60"/>
                        </a:spcBef>
                      </a:pPr>
                      <a:r>
                        <a:rPr sz="1400" b="1" spc="-10" dirty="0">
                          <a:solidFill>
                            <a:schemeClr val="bg1"/>
                          </a:solidFill>
                          <a:latin typeface="Arial"/>
                          <a:cs typeface="Arial"/>
                        </a:rPr>
                        <a:t>balance_id</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635" algn="ctr">
                        <a:lnSpc>
                          <a:spcPct val="100000"/>
                        </a:lnSpc>
                        <a:spcBef>
                          <a:spcPts val="60"/>
                        </a:spcBef>
                      </a:pPr>
                      <a:r>
                        <a:rPr sz="1400" b="1" spc="-10" dirty="0">
                          <a:solidFill>
                            <a:schemeClr val="bg1"/>
                          </a:solidFill>
                          <a:latin typeface="Arial"/>
                          <a:cs typeface="Arial"/>
                        </a:rPr>
                        <a:t>portfolio_id</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algn="ctr">
                        <a:lnSpc>
                          <a:spcPct val="100000"/>
                        </a:lnSpc>
                        <a:spcBef>
                          <a:spcPts val="60"/>
                        </a:spcBef>
                      </a:pPr>
                      <a:r>
                        <a:rPr sz="1400" b="1" spc="-10" dirty="0">
                          <a:solidFill>
                            <a:schemeClr val="bg1"/>
                          </a:solidFill>
                          <a:latin typeface="Arial"/>
                          <a:cs typeface="Arial"/>
                        </a:rPr>
                        <a:t>date_id</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1905" algn="ctr">
                        <a:lnSpc>
                          <a:spcPct val="100000"/>
                        </a:lnSpc>
                        <a:spcBef>
                          <a:spcPts val="60"/>
                        </a:spcBef>
                      </a:pPr>
                      <a:r>
                        <a:rPr sz="1400" b="1" spc="-10" dirty="0">
                          <a:solidFill>
                            <a:schemeClr val="bg1"/>
                          </a:solidFill>
                          <a:latin typeface="Arial"/>
                          <a:cs typeface="Arial"/>
                        </a:rPr>
                        <a:t>balance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extLst>
                  <a:ext uri="{0D108BD9-81ED-4DB2-BD59-A6C34878D82A}">
                    <a16:rowId xmlns:a16="http://schemas.microsoft.com/office/drawing/2014/main" val="10000"/>
                  </a:ext>
                </a:extLst>
              </a:tr>
              <a:tr h="254000">
                <a:tc>
                  <a:txBody>
                    <a:bodyPr/>
                    <a:lstStyle/>
                    <a:p>
                      <a:pPr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50" dirty="0">
                          <a:latin typeface="Arial MT"/>
                          <a:cs typeface="Arial MT"/>
                        </a:rPr>
                        <a:t>1</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20220101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25" dirty="0">
                          <a:latin typeface="Arial MT"/>
                          <a:cs typeface="Arial MT"/>
                        </a:rPr>
                        <a:t>$50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20220102</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20" dirty="0">
                          <a:latin typeface="Arial MT"/>
                          <a:cs typeface="Arial MT"/>
                        </a:rPr>
                        <a:t>$100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ct val="10000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20220103</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20" dirty="0">
                          <a:latin typeface="Arial MT"/>
                          <a:cs typeface="Arial MT"/>
                        </a:rPr>
                        <a:t>$100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algn="ctr">
                        <a:lnSpc>
                          <a:spcPct val="100000"/>
                        </a:lnSpc>
                        <a:spcBef>
                          <a:spcPts val="225"/>
                        </a:spcBef>
                      </a:pPr>
                      <a:r>
                        <a:rPr sz="1400" spc="-50" dirty="0">
                          <a:latin typeface="Arial MT"/>
                          <a:cs typeface="Arial MT"/>
                        </a:rPr>
                        <a:t>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20220101</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20" dirty="0">
                          <a:latin typeface="Arial MT"/>
                          <a:cs typeface="Arial MT"/>
                        </a:rPr>
                        <a:t>$120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algn="ctr">
                        <a:lnSpc>
                          <a:spcPct val="100000"/>
                        </a:lnSpc>
                        <a:spcBef>
                          <a:spcPts val="225"/>
                        </a:spcBef>
                      </a:pPr>
                      <a:r>
                        <a:rPr sz="1400" spc="-50" dirty="0">
                          <a:latin typeface="Arial MT"/>
                          <a:cs typeface="Arial MT"/>
                        </a:rPr>
                        <a:t>5</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20220102</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20" dirty="0">
                          <a:latin typeface="Arial MT"/>
                          <a:cs typeface="Arial MT"/>
                        </a:rPr>
                        <a:t>$170</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r h="254000">
                <a:tc>
                  <a:txBody>
                    <a:bodyPr/>
                    <a:lstStyle/>
                    <a:p>
                      <a:pPr algn="ctr">
                        <a:lnSpc>
                          <a:spcPct val="100000"/>
                        </a:lnSpc>
                        <a:spcBef>
                          <a:spcPts val="225"/>
                        </a:spcBef>
                      </a:pPr>
                      <a:r>
                        <a:rPr sz="1400" spc="-50" dirty="0">
                          <a:latin typeface="Arial MT"/>
                          <a:cs typeface="Arial MT"/>
                        </a:rPr>
                        <a:t>6</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20220103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25" dirty="0">
                          <a:latin typeface="Arial MT"/>
                          <a:cs typeface="Arial MT"/>
                        </a:rPr>
                        <a:t>$60</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6"/>
                  </a:ext>
                </a:extLst>
              </a:tr>
            </a:tbl>
          </a:graphicData>
        </a:graphic>
      </p:graphicFrame>
      <p:graphicFrame>
        <p:nvGraphicFramePr>
          <p:cNvPr id="5" name="object 5"/>
          <p:cNvGraphicFramePr>
            <a:graphicFrameLocks noGrp="1"/>
          </p:cNvGraphicFramePr>
          <p:nvPr>
            <p:extLst>
              <p:ext uri="{D42A27DB-BD31-4B8C-83A1-F6EECF244321}">
                <p14:modId xmlns:p14="http://schemas.microsoft.com/office/powerpoint/2010/main" val="1938403859"/>
              </p:ext>
            </p:extLst>
          </p:nvPr>
        </p:nvGraphicFramePr>
        <p:xfrm>
          <a:off x="255727" y="4495630"/>
          <a:ext cx="2787225" cy="733213"/>
        </p:xfrm>
        <a:graphic>
          <a:graphicData uri="http://schemas.openxmlformats.org/drawingml/2006/table">
            <a:tbl>
              <a:tblPr firstRow="1" bandRow="1">
                <a:tableStyleId>{2D5ABB26-0587-4C30-8999-92F81FD0307C}</a:tableStyleId>
              </a:tblPr>
              <a:tblGrid>
                <a:gridCol w="1263225">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tblGrid>
              <a:tr h="225213">
                <a:tc>
                  <a:txBody>
                    <a:bodyPr/>
                    <a:lstStyle/>
                    <a:p>
                      <a:pPr algn="ctr">
                        <a:lnSpc>
                          <a:spcPct val="100000"/>
                        </a:lnSpc>
                        <a:spcBef>
                          <a:spcPts val="60"/>
                        </a:spcBef>
                      </a:pPr>
                      <a:r>
                        <a:rPr sz="1400" b="1" spc="-10" dirty="0">
                          <a:solidFill>
                            <a:schemeClr val="bg1"/>
                          </a:solidFill>
                          <a:latin typeface="Arial"/>
                          <a:cs typeface="Arial"/>
                        </a:rPr>
                        <a:t>Portfolio_id</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gn="ctr">
                        <a:lnSpc>
                          <a:spcPct val="100000"/>
                        </a:lnSpc>
                        <a:spcBef>
                          <a:spcPts val="60"/>
                        </a:spcBef>
                      </a:pPr>
                      <a:r>
                        <a:rPr sz="1400" b="1" spc="-20" dirty="0">
                          <a:solidFill>
                            <a:schemeClr val="bg1"/>
                          </a:solidFill>
                          <a:latin typeface="Arial"/>
                          <a:cs typeface="Arial"/>
                        </a:rPr>
                        <a:t>Type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dirty="0">
                          <a:latin typeface="Arial MT"/>
                          <a:cs typeface="Arial MT"/>
                        </a:rPr>
                        <a:t>USD</a:t>
                      </a:r>
                      <a:r>
                        <a:rPr sz="1400" spc="-25" dirty="0">
                          <a:latin typeface="Arial MT"/>
                          <a:cs typeface="Arial MT"/>
                        </a:rPr>
                        <a:t> </a:t>
                      </a:r>
                      <a:r>
                        <a:rPr sz="1400" spc="-20" dirty="0">
                          <a:latin typeface="Arial MT"/>
                          <a:cs typeface="Arial MT"/>
                        </a:rPr>
                        <a:t>Cash</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ct val="100000"/>
                        </a:lnSpc>
                        <a:spcBef>
                          <a:spcPts val="229"/>
                        </a:spcBef>
                      </a:pPr>
                      <a:r>
                        <a:rPr sz="1400" spc="-50" dirty="0">
                          <a:latin typeface="Arial MT"/>
                          <a:cs typeface="Arial MT"/>
                        </a:rPr>
                        <a:t>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10" dirty="0">
                          <a:latin typeface="Arial MT"/>
                          <a:cs typeface="Arial MT"/>
                        </a:rPr>
                        <a:t>Stocks</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bl>
          </a:graphicData>
        </a:graphic>
      </p:graphicFrame>
      <p:graphicFrame>
        <p:nvGraphicFramePr>
          <p:cNvPr id="6" name="object 6"/>
          <p:cNvGraphicFramePr>
            <a:graphicFrameLocks noGrp="1"/>
          </p:cNvGraphicFramePr>
          <p:nvPr>
            <p:extLst>
              <p:ext uri="{D42A27DB-BD31-4B8C-83A1-F6EECF244321}">
                <p14:modId xmlns:p14="http://schemas.microsoft.com/office/powerpoint/2010/main" val="425786215"/>
              </p:ext>
            </p:extLst>
          </p:nvPr>
        </p:nvGraphicFramePr>
        <p:xfrm>
          <a:off x="3657601" y="4504944"/>
          <a:ext cx="2787225" cy="987213"/>
        </p:xfrm>
        <a:graphic>
          <a:graphicData uri="http://schemas.openxmlformats.org/drawingml/2006/table">
            <a:tbl>
              <a:tblPr firstRow="1" bandRow="1">
                <a:tableStyleId>{2D5ABB26-0587-4C30-8999-92F81FD0307C}</a:tableStyleId>
              </a:tblPr>
              <a:tblGrid>
                <a:gridCol w="1263225">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tblGrid>
              <a:tr h="226060">
                <a:tc>
                  <a:txBody>
                    <a:bodyPr/>
                    <a:lstStyle/>
                    <a:p>
                      <a:pPr algn="ctr">
                        <a:lnSpc>
                          <a:spcPct val="100000"/>
                        </a:lnSpc>
                        <a:spcBef>
                          <a:spcPts val="65"/>
                        </a:spcBef>
                      </a:pPr>
                      <a:r>
                        <a:rPr sz="1400" b="1" spc="-10" dirty="0">
                          <a:solidFill>
                            <a:schemeClr val="bg1"/>
                          </a:solidFill>
                          <a:latin typeface="Arial"/>
                          <a:cs typeface="Arial"/>
                        </a:rPr>
                        <a:t>Date_id</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635" algn="ctr">
                        <a:lnSpc>
                          <a:spcPct val="100000"/>
                        </a:lnSpc>
                        <a:spcBef>
                          <a:spcPts val="65"/>
                        </a:spcBef>
                      </a:pPr>
                      <a:r>
                        <a:rPr sz="1400" b="1" spc="-10" dirty="0">
                          <a:solidFill>
                            <a:schemeClr val="bg1"/>
                          </a:solidFill>
                          <a:latin typeface="Arial"/>
                          <a:cs typeface="Arial"/>
                        </a:rPr>
                        <a:t>balance</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algn="ctr">
                        <a:lnSpc>
                          <a:spcPct val="100000"/>
                        </a:lnSpc>
                        <a:spcBef>
                          <a:spcPts val="229"/>
                        </a:spcBef>
                      </a:pPr>
                      <a:r>
                        <a:rPr sz="1400" spc="-10" dirty="0">
                          <a:latin typeface="Arial MT"/>
                          <a:cs typeface="Arial MT"/>
                        </a:rPr>
                        <a:t>20220101</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spc="-20" dirty="0">
                          <a:latin typeface="Arial MT"/>
                          <a:cs typeface="Arial MT"/>
                        </a:rPr>
                        <a:t>$170</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3153">
                <a:tc>
                  <a:txBody>
                    <a:bodyPr/>
                    <a:lstStyle/>
                    <a:p>
                      <a:pPr algn="ctr">
                        <a:lnSpc>
                          <a:spcPct val="100000"/>
                        </a:lnSpc>
                        <a:spcBef>
                          <a:spcPts val="229"/>
                        </a:spcBef>
                      </a:pPr>
                      <a:r>
                        <a:rPr sz="1400" spc="-10" dirty="0">
                          <a:latin typeface="Arial MT"/>
                          <a:cs typeface="Arial MT"/>
                        </a:rPr>
                        <a:t>20220102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9370" algn="ctr">
                        <a:lnSpc>
                          <a:spcPct val="100000"/>
                        </a:lnSpc>
                        <a:spcBef>
                          <a:spcPts val="229"/>
                        </a:spcBef>
                      </a:pPr>
                      <a:r>
                        <a:rPr sz="1400" spc="-20" dirty="0">
                          <a:latin typeface="Arial MT"/>
                          <a:cs typeface="Arial MT"/>
                        </a:rPr>
                        <a:t>$270</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ct val="100000"/>
                        </a:lnSpc>
                        <a:spcBef>
                          <a:spcPts val="229"/>
                        </a:spcBef>
                      </a:pPr>
                      <a:r>
                        <a:rPr sz="1400" spc="-10" dirty="0">
                          <a:latin typeface="Arial MT"/>
                          <a:cs typeface="Arial MT"/>
                        </a:rPr>
                        <a:t>20220103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spc="-20" dirty="0">
                          <a:latin typeface="Arial MT"/>
                          <a:cs typeface="Arial MT"/>
                        </a:rPr>
                        <a:t>$160</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sp>
        <p:nvSpPr>
          <p:cNvPr id="7" name="object 7"/>
          <p:cNvSpPr txBox="1"/>
          <p:nvPr/>
        </p:nvSpPr>
        <p:spPr>
          <a:xfrm>
            <a:off x="3943097" y="4184228"/>
            <a:ext cx="2156460" cy="269304"/>
          </a:xfrm>
          <a:prstGeom prst="rect">
            <a:avLst/>
          </a:prstGeom>
          <a:solidFill>
            <a:srgbClr val="C0C0C0"/>
          </a:solidFill>
        </p:spPr>
        <p:txBody>
          <a:bodyPr vert="horz" wrap="square" lIns="0" tIns="0" rIns="0" bIns="0" rtlCol="0">
            <a:spAutoFit/>
          </a:bodyPr>
          <a:lstStyle/>
          <a:p>
            <a:pPr>
              <a:lnSpc>
                <a:spcPts val="2067"/>
              </a:lnSpc>
            </a:pPr>
            <a:r>
              <a:rPr sz="1867" dirty="0">
                <a:latin typeface="Arial MT"/>
                <a:cs typeface="Arial MT"/>
              </a:rPr>
              <a:t>Added</a:t>
            </a:r>
            <a:r>
              <a:rPr sz="1867" spc="-47" dirty="0">
                <a:latin typeface="Arial MT"/>
                <a:cs typeface="Arial MT"/>
              </a:rPr>
              <a:t> </a:t>
            </a:r>
            <a:r>
              <a:rPr sz="1867" dirty="0">
                <a:latin typeface="Arial MT"/>
                <a:cs typeface="Arial MT"/>
              </a:rPr>
              <a:t>across</a:t>
            </a:r>
            <a:r>
              <a:rPr sz="1867" spc="-60" dirty="0">
                <a:latin typeface="Arial MT"/>
                <a:cs typeface="Arial MT"/>
              </a:rPr>
              <a:t> </a:t>
            </a:r>
            <a:r>
              <a:rPr sz="1867" spc="-13" dirty="0">
                <a:latin typeface="Arial MT"/>
                <a:cs typeface="Arial MT"/>
              </a:rPr>
              <a:t>Types</a:t>
            </a:r>
            <a:endParaRPr sz="1867">
              <a:latin typeface="Arial MT"/>
              <a:cs typeface="Arial MT"/>
            </a:endParaRPr>
          </a:p>
        </p:txBody>
      </p:sp>
      <p:graphicFrame>
        <p:nvGraphicFramePr>
          <p:cNvPr id="8" name="object 8"/>
          <p:cNvGraphicFramePr>
            <a:graphicFrameLocks noGrp="1"/>
          </p:cNvGraphicFramePr>
          <p:nvPr>
            <p:extLst>
              <p:ext uri="{D42A27DB-BD31-4B8C-83A1-F6EECF244321}">
                <p14:modId xmlns:p14="http://schemas.microsoft.com/office/powerpoint/2010/main" val="1556294131"/>
              </p:ext>
            </p:extLst>
          </p:nvPr>
        </p:nvGraphicFramePr>
        <p:xfrm>
          <a:off x="7071190" y="4495630"/>
          <a:ext cx="2787225" cy="733213"/>
        </p:xfrm>
        <a:graphic>
          <a:graphicData uri="http://schemas.openxmlformats.org/drawingml/2006/table">
            <a:tbl>
              <a:tblPr firstRow="1" bandRow="1">
                <a:tableStyleId>{2D5ABB26-0587-4C30-8999-92F81FD0307C}</a:tableStyleId>
              </a:tblPr>
              <a:tblGrid>
                <a:gridCol w="1263225">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tblGrid>
              <a:tr h="225213">
                <a:tc>
                  <a:txBody>
                    <a:bodyPr/>
                    <a:lstStyle/>
                    <a:p>
                      <a:pPr marL="635" algn="ctr">
                        <a:lnSpc>
                          <a:spcPct val="100000"/>
                        </a:lnSpc>
                        <a:spcBef>
                          <a:spcPts val="60"/>
                        </a:spcBef>
                      </a:pPr>
                      <a:r>
                        <a:rPr sz="1400" b="1" spc="-20" dirty="0">
                          <a:solidFill>
                            <a:schemeClr val="bg1"/>
                          </a:solidFill>
                          <a:latin typeface="Arial"/>
                          <a:cs typeface="Arial"/>
                        </a:rPr>
                        <a:t>Type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905" algn="ctr">
                        <a:lnSpc>
                          <a:spcPct val="100000"/>
                        </a:lnSpc>
                        <a:spcBef>
                          <a:spcPts val="60"/>
                        </a:spcBef>
                      </a:pPr>
                      <a:r>
                        <a:rPr sz="1400" b="1" spc="-10" dirty="0">
                          <a:solidFill>
                            <a:schemeClr val="bg1"/>
                          </a:solidFill>
                          <a:latin typeface="Arial"/>
                          <a:cs typeface="Arial"/>
                        </a:rPr>
                        <a:t>balance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algn="ctr">
                        <a:lnSpc>
                          <a:spcPct val="100000"/>
                        </a:lnSpc>
                        <a:spcBef>
                          <a:spcPts val="225"/>
                        </a:spcBef>
                      </a:pPr>
                      <a:r>
                        <a:rPr sz="1400" dirty="0">
                          <a:latin typeface="Arial MT"/>
                          <a:cs typeface="Arial MT"/>
                        </a:rPr>
                        <a:t>USD</a:t>
                      </a:r>
                      <a:r>
                        <a:rPr sz="1400" spc="-25" dirty="0">
                          <a:latin typeface="Arial MT"/>
                          <a:cs typeface="Arial MT"/>
                        </a:rPr>
                        <a:t> </a:t>
                      </a:r>
                      <a:r>
                        <a:rPr sz="1400" spc="-20" dirty="0">
                          <a:latin typeface="Arial MT"/>
                          <a:cs typeface="Arial MT"/>
                        </a:rPr>
                        <a:t>Cash</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10" dirty="0">
                          <a:latin typeface="Arial MT"/>
                          <a:cs typeface="Arial MT"/>
                        </a:rPr>
                        <a:t>$83.33</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ct val="100000"/>
                        </a:lnSpc>
                        <a:spcBef>
                          <a:spcPts val="229"/>
                        </a:spcBef>
                      </a:pPr>
                      <a:r>
                        <a:rPr sz="1400" spc="-10" dirty="0">
                          <a:latin typeface="Arial MT"/>
                          <a:cs typeface="Arial MT"/>
                        </a:rPr>
                        <a:t>Stocks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8735" algn="ctr">
                        <a:lnSpc>
                          <a:spcPct val="100000"/>
                        </a:lnSpc>
                        <a:spcBef>
                          <a:spcPts val="229"/>
                        </a:spcBef>
                      </a:pPr>
                      <a:r>
                        <a:rPr sz="1400" spc="-10" dirty="0">
                          <a:latin typeface="Arial MT"/>
                          <a:cs typeface="Arial MT"/>
                        </a:rPr>
                        <a:t>$116.67</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bl>
          </a:graphicData>
        </a:graphic>
      </p:graphicFrame>
      <p:sp>
        <p:nvSpPr>
          <p:cNvPr id="9" name="object 9"/>
          <p:cNvSpPr txBox="1"/>
          <p:nvPr/>
        </p:nvSpPr>
        <p:spPr>
          <a:xfrm>
            <a:off x="7330271" y="4175082"/>
            <a:ext cx="2228427" cy="269304"/>
          </a:xfrm>
          <a:prstGeom prst="rect">
            <a:avLst/>
          </a:prstGeom>
          <a:solidFill>
            <a:srgbClr val="C0C0C0"/>
          </a:solidFill>
        </p:spPr>
        <p:txBody>
          <a:bodyPr vert="horz" wrap="square" lIns="0" tIns="0" rIns="0" bIns="0" rtlCol="0">
            <a:spAutoFit/>
          </a:bodyPr>
          <a:lstStyle/>
          <a:p>
            <a:pPr marL="847">
              <a:lnSpc>
                <a:spcPts val="2060"/>
              </a:lnSpc>
            </a:pPr>
            <a:r>
              <a:rPr sz="1867" dirty="0">
                <a:latin typeface="Arial MT"/>
                <a:cs typeface="Arial MT"/>
              </a:rPr>
              <a:t>Average</a:t>
            </a:r>
            <a:r>
              <a:rPr sz="1867" spc="-60" dirty="0">
                <a:latin typeface="Arial MT"/>
                <a:cs typeface="Arial MT"/>
              </a:rPr>
              <a:t> </a:t>
            </a:r>
            <a:r>
              <a:rPr sz="1867" dirty="0">
                <a:latin typeface="Arial MT"/>
                <a:cs typeface="Arial MT"/>
              </a:rPr>
              <a:t>across</a:t>
            </a:r>
            <a:r>
              <a:rPr sz="1867" spc="-73" dirty="0">
                <a:latin typeface="Arial MT"/>
                <a:cs typeface="Arial MT"/>
              </a:rPr>
              <a:t> </a:t>
            </a:r>
            <a:r>
              <a:rPr sz="1867" spc="-27" dirty="0">
                <a:latin typeface="Arial MT"/>
                <a:cs typeface="Arial MT"/>
              </a:rPr>
              <a:t>Date</a:t>
            </a:r>
            <a:endParaRPr sz="1867">
              <a:latin typeface="Arial MT"/>
              <a:cs typeface="Arial MT"/>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96324" y="2494956"/>
            <a:ext cx="2998893"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Can</a:t>
            </a:r>
            <a:r>
              <a:rPr sz="2400" b="1" spc="-13" dirty="0">
                <a:solidFill>
                  <a:srgbClr val="D9D9D9"/>
                </a:solidFill>
                <a:latin typeface="Calibri"/>
                <a:cs typeface="Calibri"/>
              </a:rPr>
              <a:t> </a:t>
            </a:r>
            <a:r>
              <a:rPr sz="2400" b="1" dirty="0">
                <a:solidFill>
                  <a:srgbClr val="D9D9D9"/>
                </a:solidFill>
                <a:latin typeface="Calibri"/>
                <a:cs typeface="Calibri"/>
              </a:rPr>
              <a:t>be</a:t>
            </a:r>
            <a:r>
              <a:rPr sz="2400" b="1" spc="-27" dirty="0">
                <a:solidFill>
                  <a:srgbClr val="D9D9D9"/>
                </a:solidFill>
                <a:latin typeface="Calibri"/>
                <a:cs typeface="Calibri"/>
              </a:rPr>
              <a:t> </a:t>
            </a:r>
            <a:r>
              <a:rPr sz="2400" b="1" dirty="0">
                <a:solidFill>
                  <a:srgbClr val="D9D9D9"/>
                </a:solidFill>
                <a:latin typeface="Calibri"/>
                <a:cs typeface="Calibri"/>
              </a:rPr>
              <a:t>added</a:t>
            </a:r>
            <a:r>
              <a:rPr sz="2400" b="1" spc="-40" dirty="0">
                <a:solidFill>
                  <a:srgbClr val="D9D9D9"/>
                </a:solidFill>
                <a:latin typeface="Calibri"/>
                <a:cs typeface="Calibri"/>
              </a:rPr>
              <a:t> </a:t>
            </a:r>
            <a:r>
              <a:rPr sz="2400" b="1" spc="-13" dirty="0">
                <a:solidFill>
                  <a:srgbClr val="D9D9D9"/>
                </a:solidFill>
                <a:latin typeface="Calibri"/>
                <a:cs typeface="Calibri"/>
              </a:rPr>
              <a:t>across</a:t>
            </a:r>
            <a:endParaRPr sz="2400">
              <a:latin typeface="Calibri"/>
              <a:cs typeface="Calibri"/>
            </a:endParaRPr>
          </a:p>
        </p:txBody>
      </p:sp>
      <p:sp>
        <p:nvSpPr>
          <p:cNvPr id="3" name="object 3"/>
          <p:cNvSpPr txBox="1"/>
          <p:nvPr/>
        </p:nvSpPr>
        <p:spPr>
          <a:xfrm>
            <a:off x="995001" y="3072044"/>
            <a:ext cx="1816947" cy="359073"/>
          </a:xfrm>
          <a:prstGeom prst="rect">
            <a:avLst/>
          </a:prstGeom>
          <a:solidFill>
            <a:srgbClr val="25519E"/>
          </a:solidFill>
        </p:spPr>
        <p:txBody>
          <a:bodyPr vert="horz" wrap="square" lIns="0" tIns="0" rIns="0" bIns="0" rtlCol="0">
            <a:spAutoFit/>
          </a:bodyPr>
          <a:lstStyle/>
          <a:p>
            <a:pPr>
              <a:lnSpc>
                <a:spcPts val="2787"/>
              </a:lnSpc>
            </a:pPr>
            <a:r>
              <a:rPr sz="2400" b="1" dirty="0">
                <a:solidFill>
                  <a:srgbClr val="D9D9D9"/>
                </a:solidFill>
                <a:latin typeface="Calibri"/>
                <a:cs typeface="Calibri"/>
              </a:rPr>
              <a:t>all</a:t>
            </a:r>
            <a:r>
              <a:rPr sz="2400" b="1" spc="-20" dirty="0">
                <a:solidFill>
                  <a:srgbClr val="D9D9D9"/>
                </a:solidFill>
                <a:latin typeface="Calibri"/>
                <a:cs typeface="Calibri"/>
              </a:rPr>
              <a:t> </a:t>
            </a:r>
            <a:r>
              <a:rPr sz="2400" b="1" spc="-13" dirty="0">
                <a:solidFill>
                  <a:srgbClr val="D9D9D9"/>
                </a:solidFill>
                <a:latin typeface="Calibri"/>
                <a:cs typeface="Calibri"/>
              </a:rPr>
              <a:t>dimensions</a:t>
            </a:r>
            <a:endParaRPr sz="2400">
              <a:latin typeface="Calibri"/>
              <a:cs typeface="Calibri"/>
            </a:endParaRPr>
          </a:p>
        </p:txBody>
      </p:sp>
      <p:sp>
        <p:nvSpPr>
          <p:cNvPr id="4" name="object 4"/>
          <p:cNvSpPr txBox="1"/>
          <p:nvPr/>
        </p:nvSpPr>
        <p:spPr>
          <a:xfrm>
            <a:off x="5075937" y="3072045"/>
            <a:ext cx="2230119" cy="359073"/>
          </a:xfrm>
          <a:prstGeom prst="rect">
            <a:avLst/>
          </a:prstGeom>
          <a:solidFill>
            <a:srgbClr val="25519E"/>
          </a:solidFill>
        </p:spPr>
        <p:txBody>
          <a:bodyPr vert="horz" wrap="square" lIns="0" tIns="0" rIns="0" bIns="0" rtlCol="0">
            <a:spAutoFit/>
          </a:bodyPr>
          <a:lstStyle/>
          <a:p>
            <a:pPr marL="847">
              <a:lnSpc>
                <a:spcPts val="2787"/>
              </a:lnSpc>
            </a:pPr>
            <a:r>
              <a:rPr sz="2400" b="1" dirty="0">
                <a:solidFill>
                  <a:srgbClr val="D9D9D9"/>
                </a:solidFill>
                <a:latin typeface="Calibri"/>
                <a:cs typeface="Calibri"/>
              </a:rPr>
              <a:t>a</a:t>
            </a:r>
            <a:r>
              <a:rPr sz="2400" b="1" spc="-20" dirty="0">
                <a:solidFill>
                  <a:srgbClr val="D9D9D9"/>
                </a:solidFill>
                <a:latin typeface="Calibri"/>
                <a:cs typeface="Calibri"/>
              </a:rPr>
              <a:t> </a:t>
            </a:r>
            <a:r>
              <a:rPr sz="2400" b="1" dirty="0">
                <a:solidFill>
                  <a:srgbClr val="D9D9D9"/>
                </a:solidFill>
                <a:latin typeface="Calibri"/>
                <a:cs typeface="Calibri"/>
              </a:rPr>
              <a:t>few</a:t>
            </a:r>
            <a:r>
              <a:rPr sz="2400" b="1" spc="-7" dirty="0">
                <a:solidFill>
                  <a:srgbClr val="D9D9D9"/>
                </a:solidFill>
                <a:latin typeface="Calibri"/>
                <a:cs typeface="Calibri"/>
              </a:rPr>
              <a:t> </a:t>
            </a:r>
            <a:r>
              <a:rPr sz="2400" b="1" spc="-13" dirty="0">
                <a:solidFill>
                  <a:srgbClr val="D9D9D9"/>
                </a:solidFill>
                <a:latin typeface="Calibri"/>
                <a:cs typeface="Calibri"/>
              </a:rPr>
              <a:t>dimensions</a:t>
            </a:r>
            <a:endParaRPr sz="2400">
              <a:latin typeface="Calibri"/>
              <a:cs typeface="Calibri"/>
            </a:endParaRPr>
          </a:p>
        </p:txBody>
      </p:sp>
      <p:sp>
        <p:nvSpPr>
          <p:cNvPr id="5" name="object 5"/>
          <p:cNvSpPr txBox="1">
            <a:spLocks noGrp="1"/>
          </p:cNvSpPr>
          <p:nvPr>
            <p:ph type="title"/>
          </p:nvPr>
        </p:nvSpPr>
        <p:spPr>
          <a:xfrm>
            <a:off x="1922457" y="146099"/>
            <a:ext cx="7372942" cy="695062"/>
          </a:xfrm>
          <a:prstGeom prst="rect">
            <a:avLst/>
          </a:prstGeom>
        </p:spPr>
        <p:txBody>
          <a:bodyPr vert="horz" wrap="square" lIns="0" tIns="17780" rIns="0" bIns="0" rtlCol="0" anchor="ctr">
            <a:spAutoFit/>
          </a:bodyPr>
          <a:lstStyle/>
          <a:p>
            <a:pPr marL="2648307">
              <a:lnSpc>
                <a:spcPct val="100000"/>
              </a:lnSpc>
              <a:spcBef>
                <a:spcPts val="140"/>
              </a:spcBef>
            </a:pPr>
            <a:r>
              <a:rPr spc="-13" dirty="0">
                <a:solidFill>
                  <a:schemeClr val="bg1"/>
                </a:solidFill>
                <a:latin typeface="+mn-lt"/>
              </a:rPr>
              <a:t>Additivity</a:t>
            </a:r>
          </a:p>
        </p:txBody>
      </p:sp>
      <p:grpSp>
        <p:nvGrpSpPr>
          <p:cNvPr id="6" name="object 6"/>
          <p:cNvGrpSpPr/>
          <p:nvPr/>
        </p:nvGrpSpPr>
        <p:grpSpPr>
          <a:xfrm>
            <a:off x="4143586" y="2030308"/>
            <a:ext cx="534247" cy="4772348"/>
            <a:chOff x="3107689" y="1522730"/>
            <a:chExt cx="400685" cy="3633470"/>
          </a:xfrm>
        </p:grpSpPr>
        <p:sp>
          <p:nvSpPr>
            <p:cNvPr id="7" name="object 7"/>
            <p:cNvSpPr/>
            <p:nvPr/>
          </p:nvSpPr>
          <p:spPr>
            <a:xfrm>
              <a:off x="3120389" y="1535430"/>
              <a:ext cx="375285" cy="3608070"/>
            </a:xfrm>
            <a:custGeom>
              <a:avLst/>
              <a:gdLst/>
              <a:ahLst/>
              <a:cxnLst/>
              <a:rect l="l" t="t" r="r" b="b"/>
              <a:pathLst>
                <a:path w="375285" h="3608070">
                  <a:moveTo>
                    <a:pt x="75692" y="0"/>
                  </a:moveTo>
                  <a:lnTo>
                    <a:pt x="0" y="9398"/>
                  </a:lnTo>
                  <a:lnTo>
                    <a:pt x="154432" y="1871472"/>
                  </a:lnTo>
                  <a:lnTo>
                    <a:pt x="370259" y="3608068"/>
                  </a:lnTo>
                  <a:lnTo>
                    <a:pt x="375053" y="3608068"/>
                  </a:lnTo>
                  <a:lnTo>
                    <a:pt x="75692" y="0"/>
                  </a:lnTo>
                  <a:close/>
                </a:path>
              </a:pathLst>
            </a:custGeom>
            <a:solidFill>
              <a:srgbClr val="777777"/>
            </a:solidFill>
          </p:spPr>
          <p:txBody>
            <a:bodyPr wrap="square" lIns="0" tIns="0" rIns="0" bIns="0" rtlCol="0"/>
            <a:lstStyle/>
            <a:p>
              <a:endParaRPr sz="2400"/>
            </a:p>
          </p:txBody>
        </p:sp>
        <p:sp>
          <p:nvSpPr>
            <p:cNvPr id="8" name="object 8"/>
            <p:cNvSpPr/>
            <p:nvPr/>
          </p:nvSpPr>
          <p:spPr>
            <a:xfrm>
              <a:off x="3120389" y="1535430"/>
              <a:ext cx="375285" cy="3608070"/>
            </a:xfrm>
            <a:custGeom>
              <a:avLst/>
              <a:gdLst/>
              <a:ahLst/>
              <a:cxnLst/>
              <a:rect l="l" t="t" r="r" b="b"/>
              <a:pathLst>
                <a:path w="375285" h="3608070">
                  <a:moveTo>
                    <a:pt x="370259" y="3608068"/>
                  </a:moveTo>
                  <a:lnTo>
                    <a:pt x="154432" y="1871472"/>
                  </a:lnTo>
                  <a:lnTo>
                    <a:pt x="0" y="9398"/>
                  </a:lnTo>
                  <a:lnTo>
                    <a:pt x="75692" y="0"/>
                  </a:lnTo>
                  <a:lnTo>
                    <a:pt x="375053" y="3608068"/>
                  </a:lnTo>
                </a:path>
              </a:pathLst>
            </a:custGeom>
            <a:ln w="25400">
              <a:solidFill>
                <a:srgbClr val="252525"/>
              </a:solidFill>
            </a:ln>
          </p:spPr>
          <p:txBody>
            <a:bodyPr wrap="square" lIns="0" tIns="0" rIns="0" bIns="0" rtlCol="0"/>
            <a:lstStyle/>
            <a:p>
              <a:endParaRPr sz="2400"/>
            </a:p>
          </p:txBody>
        </p:sp>
      </p:grpSp>
      <p:sp>
        <p:nvSpPr>
          <p:cNvPr id="9" name="object 9"/>
          <p:cNvSpPr txBox="1"/>
          <p:nvPr/>
        </p:nvSpPr>
        <p:spPr>
          <a:xfrm>
            <a:off x="4724400" y="1601215"/>
            <a:ext cx="2743200" cy="538609"/>
          </a:xfrm>
          <a:prstGeom prst="rect">
            <a:avLst/>
          </a:prstGeom>
          <a:solidFill>
            <a:srgbClr val="404040">
              <a:alpha val="89019"/>
            </a:srgbClr>
          </a:solidFill>
        </p:spPr>
        <p:txBody>
          <a:bodyPr vert="horz" wrap="square" lIns="0" tIns="167640" rIns="0" bIns="0" rtlCol="0">
            <a:spAutoFit/>
          </a:bodyPr>
          <a:lstStyle/>
          <a:p>
            <a:pPr marL="499521">
              <a:spcBef>
                <a:spcPts val="1320"/>
              </a:spcBef>
            </a:pPr>
            <a:r>
              <a:rPr sz="2400" b="1" dirty="0">
                <a:solidFill>
                  <a:srgbClr val="99D3FF"/>
                </a:solidFill>
                <a:latin typeface="Calibri"/>
                <a:cs typeface="Calibri"/>
              </a:rPr>
              <a:t>Semi-</a:t>
            </a:r>
            <a:r>
              <a:rPr sz="2400" b="1" spc="-13" dirty="0">
                <a:solidFill>
                  <a:srgbClr val="99D3FF"/>
                </a:solidFill>
                <a:latin typeface="Calibri"/>
                <a:cs typeface="Calibri"/>
              </a:rPr>
              <a:t>additive</a:t>
            </a:r>
            <a:endParaRPr sz="2400">
              <a:latin typeface="Calibri"/>
              <a:cs typeface="Calibri"/>
            </a:endParaRPr>
          </a:p>
        </p:txBody>
      </p:sp>
      <p:sp>
        <p:nvSpPr>
          <p:cNvPr id="10" name="object 10"/>
          <p:cNvSpPr txBox="1"/>
          <p:nvPr/>
        </p:nvSpPr>
        <p:spPr>
          <a:xfrm>
            <a:off x="1225296" y="1580896"/>
            <a:ext cx="2462952" cy="540319"/>
          </a:xfrm>
          <a:prstGeom prst="rect">
            <a:avLst/>
          </a:prstGeom>
          <a:solidFill>
            <a:srgbClr val="99D3FF">
              <a:alpha val="89019"/>
            </a:srgbClr>
          </a:solidFill>
        </p:spPr>
        <p:txBody>
          <a:bodyPr vert="horz" wrap="square" lIns="0" tIns="169333" rIns="0" bIns="0" rtlCol="0">
            <a:spAutoFit/>
          </a:bodyPr>
          <a:lstStyle/>
          <a:p>
            <a:pPr marL="698483">
              <a:spcBef>
                <a:spcPts val="1333"/>
              </a:spcBef>
            </a:pPr>
            <a:r>
              <a:rPr sz="2400" b="1" spc="-13" dirty="0">
                <a:solidFill>
                  <a:srgbClr val="585858"/>
                </a:solidFill>
                <a:latin typeface="Calibri"/>
                <a:cs typeface="Calibri"/>
              </a:rPr>
              <a:t>Additive</a:t>
            </a:r>
            <a:endParaRPr sz="2400">
              <a:latin typeface="Calibri"/>
              <a:cs typeface="Calibri"/>
            </a:endParaRPr>
          </a:p>
        </p:txBody>
      </p:sp>
      <p:sp>
        <p:nvSpPr>
          <p:cNvPr id="11" name="object 11"/>
          <p:cNvSpPr txBox="1"/>
          <p:nvPr/>
        </p:nvSpPr>
        <p:spPr>
          <a:xfrm>
            <a:off x="8670543" y="1601215"/>
            <a:ext cx="2743200" cy="538609"/>
          </a:xfrm>
          <a:prstGeom prst="rect">
            <a:avLst/>
          </a:prstGeom>
          <a:solidFill>
            <a:srgbClr val="D9D9D9">
              <a:alpha val="89019"/>
            </a:srgbClr>
          </a:solidFill>
        </p:spPr>
        <p:txBody>
          <a:bodyPr vert="horz" wrap="square" lIns="0" tIns="167640" rIns="0" bIns="0" rtlCol="0">
            <a:spAutoFit/>
          </a:bodyPr>
          <a:lstStyle/>
          <a:p>
            <a:pPr marL="546932">
              <a:spcBef>
                <a:spcPts val="1320"/>
              </a:spcBef>
            </a:pPr>
            <a:r>
              <a:rPr sz="2400" b="1" dirty="0">
                <a:solidFill>
                  <a:srgbClr val="00607E"/>
                </a:solidFill>
                <a:latin typeface="Calibri"/>
                <a:cs typeface="Calibri"/>
              </a:rPr>
              <a:t>Non-</a:t>
            </a:r>
            <a:r>
              <a:rPr sz="2400" b="1" spc="-13" dirty="0">
                <a:solidFill>
                  <a:srgbClr val="00607E"/>
                </a:solidFill>
                <a:latin typeface="Calibri"/>
                <a:cs typeface="Calibri"/>
              </a:rPr>
              <a:t>additive</a:t>
            </a:r>
            <a:endParaRPr sz="2400">
              <a:latin typeface="Calibri"/>
              <a:cs typeface="Calibri"/>
            </a:endParaRPr>
          </a:p>
        </p:txBody>
      </p:sp>
      <p:grpSp>
        <p:nvGrpSpPr>
          <p:cNvPr id="12" name="object 12"/>
          <p:cNvGrpSpPr/>
          <p:nvPr/>
        </p:nvGrpSpPr>
        <p:grpSpPr>
          <a:xfrm>
            <a:off x="7826755" y="2008633"/>
            <a:ext cx="514773" cy="4810761"/>
            <a:chOff x="5870066" y="1506474"/>
            <a:chExt cx="386080" cy="3649979"/>
          </a:xfrm>
        </p:grpSpPr>
        <p:sp>
          <p:nvSpPr>
            <p:cNvPr id="13" name="object 13"/>
            <p:cNvSpPr/>
            <p:nvPr/>
          </p:nvSpPr>
          <p:spPr>
            <a:xfrm>
              <a:off x="5882766" y="1519174"/>
              <a:ext cx="360680" cy="3624579"/>
            </a:xfrm>
            <a:custGeom>
              <a:avLst/>
              <a:gdLst/>
              <a:ahLst/>
              <a:cxnLst/>
              <a:rect l="l" t="t" r="r" b="b"/>
              <a:pathLst>
                <a:path w="360679" h="3624579">
                  <a:moveTo>
                    <a:pt x="91186" y="0"/>
                  </a:moveTo>
                  <a:lnTo>
                    <a:pt x="0" y="11302"/>
                  </a:lnTo>
                  <a:lnTo>
                    <a:pt x="139192" y="1884933"/>
                  </a:lnTo>
                  <a:lnTo>
                    <a:pt x="355283" y="3624324"/>
                  </a:lnTo>
                  <a:lnTo>
                    <a:pt x="360464" y="3624324"/>
                  </a:lnTo>
                  <a:lnTo>
                    <a:pt x="91186" y="0"/>
                  </a:lnTo>
                  <a:close/>
                </a:path>
              </a:pathLst>
            </a:custGeom>
            <a:solidFill>
              <a:srgbClr val="777777"/>
            </a:solidFill>
          </p:spPr>
          <p:txBody>
            <a:bodyPr wrap="square" lIns="0" tIns="0" rIns="0" bIns="0" rtlCol="0"/>
            <a:lstStyle/>
            <a:p>
              <a:endParaRPr sz="2400"/>
            </a:p>
          </p:txBody>
        </p:sp>
        <p:sp>
          <p:nvSpPr>
            <p:cNvPr id="14" name="object 14"/>
            <p:cNvSpPr/>
            <p:nvPr/>
          </p:nvSpPr>
          <p:spPr>
            <a:xfrm>
              <a:off x="5882766" y="1519174"/>
              <a:ext cx="360680" cy="3624579"/>
            </a:xfrm>
            <a:custGeom>
              <a:avLst/>
              <a:gdLst/>
              <a:ahLst/>
              <a:cxnLst/>
              <a:rect l="l" t="t" r="r" b="b"/>
              <a:pathLst>
                <a:path w="360679" h="3624579">
                  <a:moveTo>
                    <a:pt x="355283" y="3624324"/>
                  </a:moveTo>
                  <a:lnTo>
                    <a:pt x="139192" y="1884933"/>
                  </a:lnTo>
                  <a:lnTo>
                    <a:pt x="0" y="11302"/>
                  </a:lnTo>
                  <a:lnTo>
                    <a:pt x="91186" y="0"/>
                  </a:lnTo>
                  <a:lnTo>
                    <a:pt x="360464" y="3624324"/>
                  </a:lnTo>
                </a:path>
              </a:pathLst>
            </a:custGeom>
            <a:ln w="25400">
              <a:solidFill>
                <a:srgbClr val="252525"/>
              </a:solidFill>
            </a:ln>
          </p:spPr>
          <p:txBody>
            <a:bodyPr wrap="square" lIns="0" tIns="0" rIns="0" bIns="0" rtlCol="0"/>
            <a:lstStyle/>
            <a:p>
              <a:endParaRPr sz="2400"/>
            </a:p>
          </p:txBody>
        </p:sp>
      </p:grpSp>
      <p:sp>
        <p:nvSpPr>
          <p:cNvPr id="15" name="object 15"/>
          <p:cNvSpPr txBox="1"/>
          <p:nvPr/>
        </p:nvSpPr>
        <p:spPr>
          <a:xfrm>
            <a:off x="4677833" y="2494956"/>
            <a:ext cx="3793067"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 pos="3535592" algn="l"/>
              </a:tabLst>
            </a:pPr>
            <a:r>
              <a:rPr sz="2400" b="1" dirty="0">
                <a:solidFill>
                  <a:srgbClr val="D9D9D9"/>
                </a:solidFill>
                <a:latin typeface="Calibri"/>
                <a:cs typeface="Calibri"/>
              </a:rPr>
              <a:t>Can</a:t>
            </a:r>
            <a:r>
              <a:rPr sz="2400" b="1" spc="-13" dirty="0">
                <a:solidFill>
                  <a:srgbClr val="D9D9D9"/>
                </a:solidFill>
                <a:latin typeface="Calibri"/>
                <a:cs typeface="Calibri"/>
              </a:rPr>
              <a:t> </a:t>
            </a:r>
            <a:r>
              <a:rPr sz="2400" b="1" dirty="0">
                <a:solidFill>
                  <a:srgbClr val="D9D9D9"/>
                </a:solidFill>
                <a:latin typeface="Calibri"/>
                <a:cs typeface="Calibri"/>
              </a:rPr>
              <a:t>be</a:t>
            </a:r>
            <a:r>
              <a:rPr sz="2400" b="1" spc="-27" dirty="0">
                <a:solidFill>
                  <a:srgbClr val="D9D9D9"/>
                </a:solidFill>
                <a:latin typeface="Calibri"/>
                <a:cs typeface="Calibri"/>
              </a:rPr>
              <a:t> </a:t>
            </a:r>
            <a:r>
              <a:rPr sz="2400" b="1" dirty="0">
                <a:solidFill>
                  <a:srgbClr val="D9D9D9"/>
                </a:solidFill>
                <a:latin typeface="Calibri"/>
                <a:cs typeface="Calibri"/>
              </a:rPr>
              <a:t>added</a:t>
            </a:r>
            <a:r>
              <a:rPr sz="2400" b="1" spc="-40" dirty="0">
                <a:solidFill>
                  <a:srgbClr val="D9D9D9"/>
                </a:solidFill>
                <a:latin typeface="Calibri"/>
                <a:cs typeface="Calibri"/>
              </a:rPr>
              <a:t> </a:t>
            </a:r>
            <a:r>
              <a:rPr sz="2400" b="1" spc="-13" dirty="0">
                <a:solidFill>
                  <a:srgbClr val="D9D9D9"/>
                </a:solidFill>
                <a:latin typeface="Calibri"/>
                <a:cs typeface="Calibri"/>
              </a:rPr>
              <a:t>across</a:t>
            </a:r>
            <a:r>
              <a:rPr sz="2400" b="1" dirty="0">
                <a:solidFill>
                  <a:srgbClr val="D9D9D9"/>
                </a:solidFill>
                <a:latin typeface="Calibri"/>
                <a:cs typeface="Calibri"/>
              </a:rPr>
              <a:t>	</a:t>
            </a:r>
            <a:r>
              <a:rPr sz="2400" spc="-67" dirty="0">
                <a:solidFill>
                  <a:srgbClr val="99D3FF"/>
                </a:solidFill>
                <a:latin typeface="Wingdings"/>
                <a:cs typeface="Wingdings"/>
              </a:rPr>
              <a:t></a:t>
            </a:r>
            <a:endParaRPr sz="2400">
              <a:latin typeface="Wingdings"/>
              <a:cs typeface="Wingdings"/>
            </a:endParaRPr>
          </a:p>
        </p:txBody>
      </p:sp>
      <p:sp>
        <p:nvSpPr>
          <p:cNvPr id="16" name="object 16"/>
          <p:cNvSpPr txBox="1"/>
          <p:nvPr/>
        </p:nvSpPr>
        <p:spPr>
          <a:xfrm>
            <a:off x="8594512" y="2523406"/>
            <a:ext cx="2175085" cy="359073"/>
          </a:xfrm>
          <a:prstGeom prst="rect">
            <a:avLst/>
          </a:prstGeom>
          <a:solidFill>
            <a:srgbClr val="25519E"/>
          </a:solidFill>
        </p:spPr>
        <p:txBody>
          <a:bodyPr vert="horz" wrap="square" lIns="0" tIns="0" rIns="0" bIns="0" rtlCol="0">
            <a:spAutoFit/>
          </a:bodyPr>
          <a:lstStyle/>
          <a:p>
            <a:pPr marL="847">
              <a:lnSpc>
                <a:spcPts val="2787"/>
              </a:lnSpc>
            </a:pPr>
            <a:r>
              <a:rPr sz="2400" b="1" dirty="0">
                <a:solidFill>
                  <a:srgbClr val="D9D9D9"/>
                </a:solidFill>
                <a:latin typeface="Calibri"/>
                <a:cs typeface="Calibri"/>
              </a:rPr>
              <a:t>Cannot</a:t>
            </a:r>
            <a:r>
              <a:rPr sz="2400" b="1" spc="-33" dirty="0">
                <a:solidFill>
                  <a:srgbClr val="D9D9D9"/>
                </a:solidFill>
                <a:latin typeface="Calibri"/>
                <a:cs typeface="Calibri"/>
              </a:rPr>
              <a:t> </a:t>
            </a:r>
            <a:r>
              <a:rPr sz="2400" b="1" dirty="0">
                <a:solidFill>
                  <a:srgbClr val="D9D9D9"/>
                </a:solidFill>
                <a:latin typeface="Calibri"/>
                <a:cs typeface="Calibri"/>
              </a:rPr>
              <a:t>be</a:t>
            </a:r>
            <a:r>
              <a:rPr sz="2400" b="1" spc="-13" dirty="0">
                <a:solidFill>
                  <a:srgbClr val="D9D9D9"/>
                </a:solidFill>
                <a:latin typeface="Calibri"/>
                <a:cs typeface="Calibri"/>
              </a:rPr>
              <a:t> added</a:t>
            </a:r>
            <a:endParaRPr sz="2400">
              <a:latin typeface="Calibri"/>
              <a:cs typeface="Calibri"/>
            </a:endParaRPr>
          </a:p>
        </p:txBody>
      </p:sp>
      <p:sp>
        <p:nvSpPr>
          <p:cNvPr id="17" name="object 17"/>
          <p:cNvSpPr txBox="1"/>
          <p:nvPr/>
        </p:nvSpPr>
        <p:spPr>
          <a:xfrm>
            <a:off x="8578765" y="3043191"/>
            <a:ext cx="2747433" cy="386430"/>
          </a:xfrm>
          <a:prstGeom prst="rect">
            <a:avLst/>
          </a:prstGeom>
        </p:spPr>
        <p:txBody>
          <a:bodyPr vert="horz" wrap="square" lIns="0" tIns="16933" rIns="0" bIns="0" rtlCol="0">
            <a:spAutoFit/>
          </a:bodyPr>
          <a:lstStyle/>
          <a:p>
            <a:pPr marL="16933">
              <a:spcBef>
                <a:spcPts val="133"/>
              </a:spcBef>
            </a:pPr>
            <a:r>
              <a:rPr sz="2400" b="1" dirty="0">
                <a:solidFill>
                  <a:srgbClr val="D9D9D9"/>
                </a:solidFill>
                <a:latin typeface="Calibri"/>
                <a:cs typeface="Calibri"/>
              </a:rPr>
              <a:t>across</a:t>
            </a:r>
            <a:r>
              <a:rPr sz="2400" b="1" spc="-33" dirty="0">
                <a:solidFill>
                  <a:srgbClr val="D9D9D9"/>
                </a:solidFill>
                <a:latin typeface="Calibri"/>
                <a:cs typeface="Calibri"/>
              </a:rPr>
              <a:t> </a:t>
            </a:r>
            <a:r>
              <a:rPr sz="2400" b="1" dirty="0">
                <a:solidFill>
                  <a:srgbClr val="D9D9D9"/>
                </a:solidFill>
                <a:latin typeface="Calibri"/>
                <a:cs typeface="Calibri"/>
              </a:rPr>
              <a:t>any</a:t>
            </a:r>
            <a:r>
              <a:rPr sz="2400" b="1" spc="-20" dirty="0">
                <a:solidFill>
                  <a:srgbClr val="D9D9D9"/>
                </a:solidFill>
                <a:latin typeface="Calibri"/>
                <a:cs typeface="Calibri"/>
              </a:rPr>
              <a:t> </a:t>
            </a:r>
            <a:r>
              <a:rPr sz="2400" b="1" spc="-13" dirty="0">
                <a:solidFill>
                  <a:srgbClr val="D9D9D9"/>
                </a:solidFill>
                <a:latin typeface="Calibri"/>
                <a:cs typeface="Calibri"/>
              </a:rPr>
              <a:t>dimension</a:t>
            </a:r>
            <a:endParaRPr sz="2400">
              <a:latin typeface="Calibri"/>
              <a:cs typeface="Calibri"/>
            </a:endParaRPr>
          </a:p>
        </p:txBody>
      </p:sp>
      <p:sp>
        <p:nvSpPr>
          <p:cNvPr id="18" name="object 18"/>
          <p:cNvSpPr txBox="1"/>
          <p:nvPr/>
        </p:nvSpPr>
        <p:spPr>
          <a:xfrm>
            <a:off x="546743" y="3696376"/>
            <a:ext cx="3197013"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Most</a:t>
            </a:r>
            <a:r>
              <a:rPr sz="2400" b="1" spc="-20" dirty="0">
                <a:solidFill>
                  <a:srgbClr val="D9D9D9"/>
                </a:solidFill>
                <a:latin typeface="Calibri"/>
                <a:cs typeface="Calibri"/>
              </a:rPr>
              <a:t> </a:t>
            </a:r>
            <a:r>
              <a:rPr sz="2400" b="1" dirty="0">
                <a:solidFill>
                  <a:srgbClr val="D9D9D9"/>
                </a:solidFill>
                <a:latin typeface="Calibri"/>
                <a:cs typeface="Calibri"/>
              </a:rPr>
              <a:t>flexible</a:t>
            </a:r>
            <a:r>
              <a:rPr sz="2400" b="1" spc="-40" dirty="0">
                <a:solidFill>
                  <a:srgbClr val="D9D9D9"/>
                </a:solidFill>
                <a:latin typeface="Calibri"/>
                <a:cs typeface="Calibri"/>
              </a:rPr>
              <a:t> </a:t>
            </a:r>
            <a:r>
              <a:rPr sz="2400" b="1" dirty="0">
                <a:solidFill>
                  <a:srgbClr val="D9D9D9"/>
                </a:solidFill>
                <a:latin typeface="Calibri"/>
                <a:cs typeface="Calibri"/>
              </a:rPr>
              <a:t>&amp;</a:t>
            </a:r>
            <a:r>
              <a:rPr sz="2400" b="1" spc="-13" dirty="0">
                <a:solidFill>
                  <a:srgbClr val="D9D9D9"/>
                </a:solidFill>
                <a:latin typeface="Calibri"/>
                <a:cs typeface="Calibri"/>
              </a:rPr>
              <a:t> useful</a:t>
            </a:r>
            <a:endParaRPr sz="2400">
              <a:latin typeface="Calibri"/>
              <a:cs typeface="Calibri"/>
            </a:endParaRPr>
          </a:p>
        </p:txBody>
      </p:sp>
      <p:sp>
        <p:nvSpPr>
          <p:cNvPr id="19" name="object 19"/>
          <p:cNvSpPr txBox="1"/>
          <p:nvPr/>
        </p:nvSpPr>
        <p:spPr>
          <a:xfrm>
            <a:off x="803589" y="4385027"/>
            <a:ext cx="2224193" cy="1119110"/>
          </a:xfrm>
          <a:prstGeom prst="rect">
            <a:avLst/>
          </a:prstGeom>
        </p:spPr>
        <p:txBody>
          <a:bodyPr vert="horz" wrap="square" lIns="0" tIns="198967" rIns="0" bIns="0" rtlCol="0">
            <a:spAutoFit/>
          </a:bodyPr>
          <a:lstStyle/>
          <a:p>
            <a:pPr marL="397923" indent="-380990">
              <a:spcBef>
                <a:spcPts val="1567"/>
              </a:spcBef>
              <a:buClr>
                <a:srgbClr val="99D3FF"/>
              </a:buClr>
              <a:buFont typeface="Wingdings"/>
              <a:buChar char=""/>
              <a:tabLst>
                <a:tab pos="397923" algn="l"/>
              </a:tabLst>
            </a:pPr>
            <a:r>
              <a:rPr sz="2400" b="1" dirty="0">
                <a:solidFill>
                  <a:srgbClr val="D9D9D9"/>
                </a:solidFill>
                <a:latin typeface="Calibri"/>
                <a:cs typeface="Calibri"/>
              </a:rPr>
              <a:t>Most</a:t>
            </a:r>
            <a:r>
              <a:rPr sz="2400" b="1" spc="-27" dirty="0">
                <a:solidFill>
                  <a:srgbClr val="D9D9D9"/>
                </a:solidFill>
                <a:latin typeface="Calibri"/>
                <a:cs typeface="Calibri"/>
              </a:rPr>
              <a:t> </a:t>
            </a:r>
            <a:r>
              <a:rPr sz="2400" b="1" dirty="0">
                <a:solidFill>
                  <a:srgbClr val="D9D9D9"/>
                </a:solidFill>
                <a:latin typeface="Calibri"/>
                <a:cs typeface="Calibri"/>
              </a:rPr>
              <a:t>facts</a:t>
            </a:r>
            <a:r>
              <a:rPr sz="2400" b="1" spc="-13" dirty="0">
                <a:solidFill>
                  <a:srgbClr val="D9D9D9"/>
                </a:solidFill>
                <a:latin typeface="Calibri"/>
                <a:cs typeface="Calibri"/>
              </a:rPr>
              <a:t> </a:t>
            </a:r>
            <a:r>
              <a:rPr sz="2400" b="1" spc="-33" dirty="0">
                <a:solidFill>
                  <a:srgbClr val="D9D9D9"/>
                </a:solidFill>
                <a:latin typeface="Calibri"/>
                <a:cs typeface="Calibri"/>
              </a:rPr>
              <a:t>are</a:t>
            </a:r>
            <a:endParaRPr sz="2400">
              <a:latin typeface="Calibri"/>
              <a:cs typeface="Calibri"/>
            </a:endParaRPr>
          </a:p>
          <a:p>
            <a:pPr marL="398770">
              <a:spcBef>
                <a:spcPts val="1440"/>
              </a:spcBef>
            </a:pPr>
            <a:r>
              <a:rPr sz="2400" b="1" dirty="0">
                <a:solidFill>
                  <a:srgbClr val="D9D9D9"/>
                </a:solidFill>
                <a:latin typeface="Calibri"/>
                <a:cs typeface="Calibri"/>
              </a:rPr>
              <a:t>fully</a:t>
            </a:r>
            <a:r>
              <a:rPr sz="2400" b="1" spc="-40" dirty="0">
                <a:solidFill>
                  <a:srgbClr val="D9D9D9"/>
                </a:solidFill>
                <a:latin typeface="Calibri"/>
                <a:cs typeface="Calibri"/>
              </a:rPr>
              <a:t> </a:t>
            </a:r>
            <a:r>
              <a:rPr sz="2400" b="1" spc="-13" dirty="0">
                <a:solidFill>
                  <a:srgbClr val="D9D9D9"/>
                </a:solidFill>
                <a:latin typeface="Calibri"/>
                <a:cs typeface="Calibri"/>
              </a:rPr>
              <a:t>additive</a:t>
            </a:r>
            <a:endParaRPr sz="2400">
              <a:latin typeface="Calibri"/>
              <a:cs typeface="Calibri"/>
            </a:endParaRPr>
          </a:p>
        </p:txBody>
      </p:sp>
      <p:sp>
        <p:nvSpPr>
          <p:cNvPr id="20" name="object 20"/>
          <p:cNvSpPr txBox="1"/>
          <p:nvPr/>
        </p:nvSpPr>
        <p:spPr>
          <a:xfrm>
            <a:off x="4677834" y="3545840"/>
            <a:ext cx="2495127" cy="1067835"/>
          </a:xfrm>
          <a:prstGeom prst="rect">
            <a:avLst/>
          </a:prstGeom>
        </p:spPr>
        <p:txBody>
          <a:bodyPr vert="horz" wrap="square" lIns="0" tIns="16933" rIns="0" bIns="0" rtlCol="0">
            <a:spAutoFit/>
          </a:bodyPr>
          <a:lstStyle/>
          <a:p>
            <a:pPr marL="397077" marR="6773" indent="-380990">
              <a:lnSpc>
                <a:spcPct val="150100"/>
              </a:lnSpc>
              <a:spcBef>
                <a:spcPts val="133"/>
              </a:spcBef>
              <a:buClr>
                <a:srgbClr val="99D3FF"/>
              </a:buClr>
              <a:buFont typeface="Wingdings"/>
              <a:buChar char=""/>
              <a:tabLst>
                <a:tab pos="398770" algn="l"/>
              </a:tabLst>
            </a:pPr>
            <a:r>
              <a:rPr sz="2400" b="1" dirty="0">
                <a:solidFill>
                  <a:srgbClr val="D9D9D9"/>
                </a:solidFill>
                <a:latin typeface="Calibri"/>
                <a:cs typeface="Calibri"/>
              </a:rPr>
              <a:t>Used</a:t>
            </a:r>
            <a:r>
              <a:rPr sz="2400" b="1" spc="-60" dirty="0">
                <a:solidFill>
                  <a:srgbClr val="D9D9D9"/>
                </a:solidFill>
                <a:latin typeface="Calibri"/>
                <a:cs typeface="Calibri"/>
              </a:rPr>
              <a:t> </a:t>
            </a:r>
            <a:r>
              <a:rPr sz="2400" b="1" dirty="0">
                <a:solidFill>
                  <a:srgbClr val="D9D9D9"/>
                </a:solidFill>
                <a:latin typeface="Calibri"/>
                <a:cs typeface="Calibri"/>
              </a:rPr>
              <a:t>carefully</a:t>
            </a:r>
            <a:r>
              <a:rPr sz="2400" b="1" spc="-40" dirty="0">
                <a:solidFill>
                  <a:srgbClr val="D9D9D9"/>
                </a:solidFill>
                <a:latin typeface="Calibri"/>
                <a:cs typeface="Calibri"/>
              </a:rPr>
              <a:t> </a:t>
            </a:r>
            <a:r>
              <a:rPr sz="2400" b="1" spc="-67" dirty="0">
                <a:solidFill>
                  <a:srgbClr val="D9D9D9"/>
                </a:solidFill>
                <a:latin typeface="Calibri"/>
                <a:cs typeface="Calibri"/>
              </a:rPr>
              <a:t>&amp; 	</a:t>
            </a:r>
            <a:r>
              <a:rPr sz="2400" b="1" dirty="0">
                <a:solidFill>
                  <a:srgbClr val="D9D9D9"/>
                </a:solidFill>
                <a:latin typeface="Calibri"/>
                <a:cs typeface="Calibri"/>
              </a:rPr>
              <a:t>less</a:t>
            </a:r>
            <a:r>
              <a:rPr sz="2400" b="1" spc="-33" dirty="0">
                <a:solidFill>
                  <a:srgbClr val="D9D9D9"/>
                </a:solidFill>
                <a:latin typeface="Calibri"/>
                <a:cs typeface="Calibri"/>
              </a:rPr>
              <a:t> </a:t>
            </a:r>
            <a:r>
              <a:rPr sz="2400" b="1" spc="-13" dirty="0">
                <a:solidFill>
                  <a:srgbClr val="D9D9D9"/>
                </a:solidFill>
                <a:latin typeface="Calibri"/>
                <a:cs typeface="Calibri"/>
              </a:rPr>
              <a:t>flexible</a:t>
            </a:r>
            <a:endParaRPr sz="2400">
              <a:latin typeface="Calibri"/>
              <a:cs typeface="Calibri"/>
            </a:endParaRPr>
          </a:p>
        </p:txBody>
      </p:sp>
      <p:sp>
        <p:nvSpPr>
          <p:cNvPr id="21" name="object 21"/>
          <p:cNvSpPr txBox="1"/>
          <p:nvPr/>
        </p:nvSpPr>
        <p:spPr>
          <a:xfrm>
            <a:off x="4677834" y="4973251"/>
            <a:ext cx="2871047"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Averaging</a:t>
            </a:r>
            <a:r>
              <a:rPr sz="2400" b="1" spc="-73" dirty="0">
                <a:solidFill>
                  <a:srgbClr val="D9D9D9"/>
                </a:solidFill>
                <a:latin typeface="Calibri"/>
                <a:cs typeface="Calibri"/>
              </a:rPr>
              <a:t> </a:t>
            </a:r>
            <a:r>
              <a:rPr sz="2400" b="1" dirty="0">
                <a:solidFill>
                  <a:srgbClr val="D9D9D9"/>
                </a:solidFill>
                <a:latin typeface="Calibri"/>
                <a:cs typeface="Calibri"/>
              </a:rPr>
              <a:t>might</a:t>
            </a:r>
            <a:r>
              <a:rPr sz="2400" b="1" spc="-40" dirty="0">
                <a:solidFill>
                  <a:srgbClr val="D9D9D9"/>
                </a:solidFill>
                <a:latin typeface="Calibri"/>
                <a:cs typeface="Calibri"/>
              </a:rPr>
              <a:t> </a:t>
            </a:r>
            <a:r>
              <a:rPr sz="2400" b="1" spc="-33" dirty="0">
                <a:solidFill>
                  <a:srgbClr val="D9D9D9"/>
                </a:solidFill>
                <a:latin typeface="Calibri"/>
                <a:cs typeface="Calibri"/>
              </a:rPr>
              <a:t>be</a:t>
            </a:r>
            <a:endParaRPr sz="2400">
              <a:latin typeface="Calibri"/>
              <a:cs typeface="Calibri"/>
            </a:endParaRPr>
          </a:p>
        </p:txBody>
      </p:sp>
      <p:sp>
        <p:nvSpPr>
          <p:cNvPr id="22" name="object 22"/>
          <p:cNvSpPr txBox="1"/>
          <p:nvPr/>
        </p:nvSpPr>
        <p:spPr>
          <a:xfrm>
            <a:off x="5075937" y="5549527"/>
            <a:ext cx="1770380" cy="359073"/>
          </a:xfrm>
          <a:prstGeom prst="rect">
            <a:avLst/>
          </a:prstGeom>
          <a:solidFill>
            <a:srgbClr val="25519E"/>
          </a:solidFill>
        </p:spPr>
        <p:txBody>
          <a:bodyPr vert="horz" wrap="square" lIns="0" tIns="0" rIns="0" bIns="0" rtlCol="0">
            <a:spAutoFit/>
          </a:bodyPr>
          <a:lstStyle/>
          <a:p>
            <a:pPr marL="847">
              <a:lnSpc>
                <a:spcPts val="2793"/>
              </a:lnSpc>
            </a:pPr>
            <a:r>
              <a:rPr sz="2400" b="1" dirty="0">
                <a:solidFill>
                  <a:srgbClr val="D9D9D9"/>
                </a:solidFill>
                <a:latin typeface="Calibri"/>
                <a:cs typeface="Calibri"/>
              </a:rPr>
              <a:t>an </a:t>
            </a:r>
            <a:r>
              <a:rPr sz="2400" b="1" spc="-13" dirty="0">
                <a:solidFill>
                  <a:srgbClr val="D9D9D9"/>
                </a:solidFill>
                <a:latin typeface="Calibri"/>
                <a:cs typeface="Calibri"/>
              </a:rPr>
              <a:t>alternative</a:t>
            </a:r>
            <a:endParaRPr sz="2400">
              <a:latin typeface="Calibri"/>
              <a:cs typeface="Calibri"/>
            </a:endParaRPr>
          </a:p>
        </p:txBody>
      </p:sp>
      <p:sp>
        <p:nvSpPr>
          <p:cNvPr id="23" name="object 23"/>
          <p:cNvSpPr txBox="1"/>
          <p:nvPr/>
        </p:nvSpPr>
        <p:spPr>
          <a:xfrm>
            <a:off x="4815161" y="6144090"/>
            <a:ext cx="273472" cy="386430"/>
          </a:xfrm>
          <a:prstGeom prst="rect">
            <a:avLst/>
          </a:prstGeom>
        </p:spPr>
        <p:txBody>
          <a:bodyPr vert="horz" wrap="square" lIns="0" tIns="16933" rIns="0" bIns="0" rtlCol="0">
            <a:spAutoFit/>
          </a:bodyPr>
          <a:lstStyle/>
          <a:p>
            <a:pPr marL="16933">
              <a:spcBef>
                <a:spcPts val="133"/>
              </a:spcBef>
            </a:pPr>
            <a:r>
              <a:rPr sz="2400" spc="-67" dirty="0">
                <a:solidFill>
                  <a:srgbClr val="99D3FF"/>
                </a:solidFill>
                <a:latin typeface="Wingdings"/>
                <a:cs typeface="Wingdings"/>
              </a:rPr>
              <a:t></a:t>
            </a:r>
            <a:endParaRPr sz="2400">
              <a:latin typeface="Wingdings"/>
              <a:cs typeface="Wingdings"/>
            </a:endParaRPr>
          </a:p>
        </p:txBody>
      </p:sp>
      <p:sp>
        <p:nvSpPr>
          <p:cNvPr id="24" name="object 24"/>
          <p:cNvSpPr txBox="1"/>
          <p:nvPr/>
        </p:nvSpPr>
        <p:spPr>
          <a:xfrm>
            <a:off x="5213435" y="6171354"/>
            <a:ext cx="2240280" cy="359073"/>
          </a:xfrm>
          <a:prstGeom prst="rect">
            <a:avLst/>
          </a:prstGeom>
          <a:solidFill>
            <a:srgbClr val="808080"/>
          </a:solidFill>
        </p:spPr>
        <p:txBody>
          <a:bodyPr vert="horz" wrap="square" lIns="0" tIns="0" rIns="0" bIns="0" rtlCol="0">
            <a:spAutoFit/>
          </a:bodyPr>
          <a:lstStyle/>
          <a:p>
            <a:pPr>
              <a:lnSpc>
                <a:spcPts val="2800"/>
              </a:lnSpc>
            </a:pPr>
            <a:r>
              <a:rPr sz="2400" b="1" dirty="0">
                <a:solidFill>
                  <a:srgbClr val="D9D9D9"/>
                </a:solidFill>
                <a:latin typeface="Calibri"/>
                <a:cs typeface="Calibri"/>
              </a:rPr>
              <a:t>Example:</a:t>
            </a:r>
            <a:r>
              <a:rPr sz="2400" b="1" spc="-40" dirty="0">
                <a:solidFill>
                  <a:srgbClr val="D9D9D9"/>
                </a:solidFill>
                <a:latin typeface="Calibri"/>
                <a:cs typeface="Calibri"/>
              </a:rPr>
              <a:t> </a:t>
            </a:r>
            <a:r>
              <a:rPr sz="2400" b="1" spc="-13" dirty="0">
                <a:solidFill>
                  <a:srgbClr val="D9D9D9"/>
                </a:solidFill>
                <a:latin typeface="Calibri"/>
                <a:cs typeface="Calibri"/>
              </a:rPr>
              <a:t>Balance</a:t>
            </a:r>
            <a:endParaRPr sz="2400">
              <a:latin typeface="Calibri"/>
              <a:cs typeface="Calibri"/>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77636" y="102240"/>
            <a:ext cx="7587265" cy="695062"/>
          </a:xfrm>
          <a:prstGeom prst="rect">
            <a:avLst/>
          </a:prstGeom>
        </p:spPr>
        <p:txBody>
          <a:bodyPr vert="horz" wrap="square" lIns="0" tIns="17780" rIns="0" bIns="0" rtlCol="0" anchor="ctr">
            <a:spAutoFit/>
          </a:bodyPr>
          <a:lstStyle/>
          <a:p>
            <a:pPr marL="1684825" algn="ctr">
              <a:lnSpc>
                <a:spcPct val="100000"/>
              </a:lnSpc>
              <a:spcBef>
                <a:spcPts val="140"/>
              </a:spcBef>
            </a:pPr>
            <a:r>
              <a:rPr spc="-13" dirty="0">
                <a:solidFill>
                  <a:schemeClr val="bg1"/>
                </a:solidFill>
                <a:latin typeface="+mn-lt"/>
              </a:rPr>
              <a:t>Non-</a:t>
            </a:r>
            <a:r>
              <a:rPr dirty="0">
                <a:solidFill>
                  <a:schemeClr val="bg1"/>
                </a:solidFill>
                <a:latin typeface="+mn-lt"/>
              </a:rPr>
              <a:t>additive</a:t>
            </a:r>
            <a:r>
              <a:rPr spc="-60" dirty="0">
                <a:solidFill>
                  <a:schemeClr val="bg1"/>
                </a:solidFill>
                <a:latin typeface="+mn-lt"/>
              </a:rPr>
              <a:t> </a:t>
            </a:r>
            <a:r>
              <a:rPr spc="-13" dirty="0">
                <a:solidFill>
                  <a:schemeClr val="bg1"/>
                </a:solidFill>
                <a:latin typeface="+mn-lt"/>
              </a:rPr>
              <a:t>facts</a:t>
            </a:r>
          </a:p>
        </p:txBody>
      </p:sp>
      <p:sp>
        <p:nvSpPr>
          <p:cNvPr id="3" name="object 3"/>
          <p:cNvSpPr/>
          <p:nvPr/>
        </p:nvSpPr>
        <p:spPr>
          <a:xfrm>
            <a:off x="812800" y="2940303"/>
            <a:ext cx="7112000" cy="1581573"/>
          </a:xfrm>
          <a:custGeom>
            <a:avLst/>
            <a:gdLst/>
            <a:ahLst/>
            <a:cxnLst/>
            <a:rect l="l" t="t" r="r" b="b"/>
            <a:pathLst>
              <a:path w="5334000" h="1186179">
                <a:moveTo>
                  <a:pt x="5334000" y="0"/>
                </a:moveTo>
                <a:lnTo>
                  <a:pt x="0" y="1186180"/>
                </a:lnTo>
              </a:path>
            </a:pathLst>
          </a:custGeom>
          <a:ln w="76200">
            <a:solidFill>
              <a:srgbClr val="00C2FF"/>
            </a:solidFill>
          </a:ln>
        </p:spPr>
        <p:txBody>
          <a:bodyPr wrap="square" lIns="0" tIns="0" rIns="0" bIns="0" rtlCol="0"/>
          <a:lstStyle/>
          <a:p>
            <a:endParaRPr sz="2400"/>
          </a:p>
        </p:txBody>
      </p:sp>
      <p:graphicFrame>
        <p:nvGraphicFramePr>
          <p:cNvPr id="4" name="object 4"/>
          <p:cNvGraphicFramePr>
            <a:graphicFrameLocks noGrp="1"/>
          </p:cNvGraphicFramePr>
          <p:nvPr>
            <p:extLst>
              <p:ext uri="{D42A27DB-BD31-4B8C-83A1-F6EECF244321}">
                <p14:modId xmlns:p14="http://schemas.microsoft.com/office/powerpoint/2010/main" val="1952207053"/>
              </p:ext>
            </p:extLst>
          </p:nvPr>
        </p:nvGraphicFramePr>
        <p:xfrm>
          <a:off x="6290733" y="1471336"/>
          <a:ext cx="4672127" cy="1519597"/>
        </p:xfrm>
        <a:graphic>
          <a:graphicData uri="http://schemas.openxmlformats.org/drawingml/2006/table">
            <a:tbl>
              <a:tblPr firstRow="1" bandRow="1">
                <a:tableStyleId>{2D5ABB26-0587-4C30-8999-92F81FD0307C}</a:tableStyleId>
              </a:tblPr>
              <a:tblGrid>
                <a:gridCol w="955662">
                  <a:extLst>
                    <a:ext uri="{9D8B030D-6E8A-4147-A177-3AD203B41FA5}">
                      <a16:colId xmlns:a16="http://schemas.microsoft.com/office/drawing/2014/main" val="20000"/>
                    </a:ext>
                  </a:extLst>
                </a:gridCol>
                <a:gridCol w="1061847">
                  <a:extLst>
                    <a:ext uri="{9D8B030D-6E8A-4147-A177-3AD203B41FA5}">
                      <a16:colId xmlns:a16="http://schemas.microsoft.com/office/drawing/2014/main" val="20001"/>
                    </a:ext>
                  </a:extLst>
                </a:gridCol>
                <a:gridCol w="1194578">
                  <a:extLst>
                    <a:ext uri="{9D8B030D-6E8A-4147-A177-3AD203B41FA5}">
                      <a16:colId xmlns:a16="http://schemas.microsoft.com/office/drawing/2014/main" val="20002"/>
                    </a:ext>
                  </a:extLst>
                </a:gridCol>
                <a:gridCol w="730020">
                  <a:extLst>
                    <a:ext uri="{9D8B030D-6E8A-4147-A177-3AD203B41FA5}">
                      <a16:colId xmlns:a16="http://schemas.microsoft.com/office/drawing/2014/main" val="20003"/>
                    </a:ext>
                  </a:extLst>
                </a:gridCol>
                <a:gridCol w="730020">
                  <a:extLst>
                    <a:ext uri="{9D8B030D-6E8A-4147-A177-3AD203B41FA5}">
                      <a16:colId xmlns:a16="http://schemas.microsoft.com/office/drawing/2014/main" val="20004"/>
                    </a:ext>
                  </a:extLst>
                </a:gridCol>
              </a:tblGrid>
              <a:tr h="229617">
                <a:tc>
                  <a:txBody>
                    <a:bodyPr/>
                    <a:lstStyle/>
                    <a:p>
                      <a:pPr algn="ctr">
                        <a:lnSpc>
                          <a:spcPct val="100000"/>
                        </a:lnSpc>
                        <a:spcBef>
                          <a:spcPts val="60"/>
                        </a:spcBef>
                      </a:pPr>
                      <a:r>
                        <a:rPr sz="1400" b="1" spc="-10" dirty="0">
                          <a:solidFill>
                            <a:schemeClr val="bg1"/>
                          </a:solidFill>
                          <a:latin typeface="Arial"/>
                          <a:cs typeface="Arial"/>
                        </a:rPr>
                        <a:t>sales_id</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3175" algn="ctr">
                        <a:lnSpc>
                          <a:spcPct val="100000"/>
                        </a:lnSpc>
                        <a:spcBef>
                          <a:spcPts val="60"/>
                        </a:spcBef>
                      </a:pPr>
                      <a:r>
                        <a:rPr sz="1400" b="1" spc="-10" dirty="0">
                          <a:solidFill>
                            <a:schemeClr val="bg1"/>
                          </a:solidFill>
                          <a:latin typeface="Arial"/>
                          <a:cs typeface="Arial"/>
                        </a:rPr>
                        <a:t>product_id</a:t>
                      </a:r>
                      <a:endParaRPr sz="140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1270" algn="ctr">
                        <a:lnSpc>
                          <a:spcPct val="100000"/>
                        </a:lnSpc>
                        <a:spcBef>
                          <a:spcPts val="60"/>
                        </a:spcBef>
                      </a:pPr>
                      <a:r>
                        <a:rPr sz="1400" b="1" spc="-10" dirty="0">
                          <a:solidFill>
                            <a:schemeClr val="bg1"/>
                          </a:solidFill>
                          <a:latin typeface="Arial"/>
                          <a:cs typeface="Arial"/>
                        </a:rPr>
                        <a:t>date_id</a:t>
                      </a:r>
                      <a:endParaRPr sz="140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1270" algn="ctr">
                        <a:lnSpc>
                          <a:spcPct val="100000"/>
                        </a:lnSpc>
                        <a:spcBef>
                          <a:spcPts val="60"/>
                        </a:spcBef>
                      </a:pPr>
                      <a:r>
                        <a:rPr sz="1400" b="1" spc="-10" dirty="0">
                          <a:solidFill>
                            <a:schemeClr val="bg1"/>
                          </a:solidFill>
                          <a:latin typeface="Arial"/>
                          <a:cs typeface="Arial"/>
                        </a:rPr>
                        <a:t>units</a:t>
                      </a:r>
                      <a:endParaRPr sz="140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1905" algn="ctr">
                        <a:lnSpc>
                          <a:spcPct val="100000"/>
                        </a:lnSpc>
                        <a:spcBef>
                          <a:spcPts val="60"/>
                        </a:spcBef>
                      </a:pPr>
                      <a:r>
                        <a:rPr sz="1400" b="1" spc="-10" dirty="0">
                          <a:solidFill>
                            <a:schemeClr val="bg1"/>
                          </a:solidFill>
                          <a:latin typeface="Arial"/>
                          <a:cs typeface="Arial"/>
                        </a:rPr>
                        <a:t>price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extLst>
                  <a:ext uri="{0D108BD9-81ED-4DB2-BD59-A6C34878D82A}">
                    <a16:rowId xmlns:a16="http://schemas.microsoft.com/office/drawing/2014/main" val="10000"/>
                  </a:ext>
                </a:extLst>
              </a:tr>
              <a:tr h="257996">
                <a:tc>
                  <a:txBody>
                    <a:bodyPr/>
                    <a:lstStyle/>
                    <a:p>
                      <a:pPr algn="ctr">
                        <a:lnSpc>
                          <a:spcPct val="100000"/>
                        </a:lnSpc>
                        <a:spcBef>
                          <a:spcPts val="225"/>
                        </a:spcBef>
                      </a:pPr>
                      <a:r>
                        <a:rPr sz="1400" spc="-50" dirty="0">
                          <a:latin typeface="Arial MT"/>
                          <a:cs typeface="Arial MT"/>
                        </a:rPr>
                        <a:t>1</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10" dirty="0">
                          <a:latin typeface="Arial MT"/>
                          <a:cs typeface="Arial MT"/>
                        </a:rPr>
                        <a:t>20220101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20" dirty="0">
                          <a:latin typeface="Arial MT"/>
                          <a:cs typeface="Arial MT"/>
                        </a:rPr>
                        <a:t>2.99</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7996">
                <a:tc>
                  <a:txBody>
                    <a:bodyPr/>
                    <a:lstStyle/>
                    <a:p>
                      <a:pPr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50" dirty="0">
                          <a:latin typeface="Arial MT"/>
                          <a:cs typeface="Arial MT"/>
                        </a:rPr>
                        <a:t>5</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10" dirty="0">
                          <a:latin typeface="Arial MT"/>
                          <a:cs typeface="Arial MT"/>
                        </a:rPr>
                        <a:t>20220102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20" dirty="0">
                          <a:latin typeface="Arial MT"/>
                          <a:cs typeface="Arial MT"/>
                        </a:rPr>
                        <a:t>1.99</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7996">
                <a:tc>
                  <a:txBody>
                    <a:bodyPr/>
                    <a:lstStyle/>
                    <a:p>
                      <a:pPr algn="ctr">
                        <a:lnSpc>
                          <a:spcPct val="10000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50" dirty="0">
                          <a:latin typeface="Arial MT"/>
                          <a:cs typeface="Arial MT"/>
                        </a:rPr>
                        <a:t>2</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10" dirty="0">
                          <a:latin typeface="Arial MT"/>
                          <a:cs typeface="Arial MT"/>
                        </a:rPr>
                        <a:t>20220102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20" dirty="0">
                          <a:latin typeface="Arial MT"/>
                          <a:cs typeface="Arial MT"/>
                        </a:rPr>
                        <a:t>3.49</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7996">
                <a:tc>
                  <a:txBody>
                    <a:bodyPr/>
                    <a:lstStyle/>
                    <a:p>
                      <a:pPr algn="ctr">
                        <a:lnSpc>
                          <a:spcPct val="100000"/>
                        </a:lnSpc>
                        <a:spcBef>
                          <a:spcPts val="225"/>
                        </a:spcBef>
                      </a:pPr>
                      <a:r>
                        <a:rPr sz="1400" spc="-50" dirty="0">
                          <a:latin typeface="Arial MT"/>
                          <a:cs typeface="Arial MT"/>
                        </a:rPr>
                        <a:t>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10" dirty="0">
                          <a:latin typeface="Arial MT"/>
                          <a:cs typeface="Arial MT"/>
                        </a:rPr>
                        <a:t>20220103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20" dirty="0">
                          <a:latin typeface="Arial MT"/>
                          <a:cs typeface="Arial MT"/>
                        </a:rPr>
                        <a:t>2.29</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7996">
                <a:tc>
                  <a:txBody>
                    <a:bodyPr/>
                    <a:lstStyle/>
                    <a:p>
                      <a:pPr algn="ctr">
                        <a:lnSpc>
                          <a:spcPct val="100000"/>
                        </a:lnSpc>
                        <a:spcBef>
                          <a:spcPts val="225"/>
                        </a:spcBef>
                      </a:pPr>
                      <a:r>
                        <a:rPr sz="1400" spc="-50" dirty="0">
                          <a:latin typeface="Arial MT"/>
                          <a:cs typeface="Arial MT"/>
                        </a:rPr>
                        <a:t>5</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10" dirty="0">
                          <a:latin typeface="Arial MT"/>
                          <a:cs typeface="Arial MT"/>
                        </a:rPr>
                        <a:t>20220104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50" dirty="0">
                          <a:latin typeface="Arial MT"/>
                          <a:cs typeface="Arial MT"/>
                        </a:rPr>
                        <a:t>5</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20" dirty="0">
                          <a:latin typeface="Arial MT"/>
                          <a:cs typeface="Arial MT"/>
                        </a:rPr>
                        <a:t>1.49</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graphicFrame>
        <p:nvGraphicFramePr>
          <p:cNvPr id="5" name="object 5"/>
          <p:cNvGraphicFramePr>
            <a:graphicFrameLocks noGrp="1"/>
          </p:cNvGraphicFramePr>
          <p:nvPr>
            <p:extLst>
              <p:ext uri="{D42A27DB-BD31-4B8C-83A1-F6EECF244321}">
                <p14:modId xmlns:p14="http://schemas.microsoft.com/office/powerpoint/2010/main" val="1356601294"/>
              </p:ext>
            </p:extLst>
          </p:nvPr>
        </p:nvGraphicFramePr>
        <p:xfrm>
          <a:off x="255727" y="4495630"/>
          <a:ext cx="5936825" cy="1495213"/>
        </p:xfrm>
        <a:graphic>
          <a:graphicData uri="http://schemas.openxmlformats.org/drawingml/2006/table">
            <a:tbl>
              <a:tblPr firstRow="1" bandRow="1">
                <a:tableStyleId>{2D5ABB26-0587-4C30-8999-92F81FD0307C}</a:tableStyleId>
              </a:tblPr>
              <a:tblGrid>
                <a:gridCol w="1263225">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665393">
                  <a:extLst>
                    <a:ext uri="{9D8B030D-6E8A-4147-A177-3AD203B41FA5}">
                      <a16:colId xmlns:a16="http://schemas.microsoft.com/office/drawing/2014/main" val="20002"/>
                    </a:ext>
                  </a:extLst>
                </a:gridCol>
                <a:gridCol w="1484207">
                  <a:extLst>
                    <a:ext uri="{9D8B030D-6E8A-4147-A177-3AD203B41FA5}">
                      <a16:colId xmlns:a16="http://schemas.microsoft.com/office/drawing/2014/main" val="20003"/>
                    </a:ext>
                  </a:extLst>
                </a:gridCol>
              </a:tblGrid>
              <a:tr h="225213">
                <a:tc>
                  <a:txBody>
                    <a:bodyPr/>
                    <a:lstStyle/>
                    <a:p>
                      <a:pPr algn="ctr">
                        <a:lnSpc>
                          <a:spcPts val="1170"/>
                        </a:lnSpc>
                        <a:spcBef>
                          <a:spcPts val="60"/>
                        </a:spcBef>
                      </a:pPr>
                      <a:r>
                        <a:rPr sz="1400" b="1" spc="-10" dirty="0">
                          <a:solidFill>
                            <a:schemeClr val="bg1"/>
                          </a:solidFill>
                          <a:latin typeface="Arial"/>
                          <a:cs typeface="Arial"/>
                        </a:rPr>
                        <a:t>product_id</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635" algn="ctr">
                        <a:lnSpc>
                          <a:spcPts val="1170"/>
                        </a:lnSpc>
                        <a:spcBef>
                          <a:spcPts val="60"/>
                        </a:spcBef>
                      </a:pPr>
                      <a:r>
                        <a:rPr sz="1400" b="1" spc="-20" dirty="0">
                          <a:solidFill>
                            <a:schemeClr val="bg1"/>
                          </a:solidFill>
                          <a:latin typeface="Arial"/>
                          <a:cs typeface="Arial"/>
                        </a:rPr>
                        <a:t>name</a:t>
                      </a:r>
                      <a:endParaRPr sz="140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905" algn="ctr">
                        <a:lnSpc>
                          <a:spcPts val="1170"/>
                        </a:lnSpc>
                        <a:spcBef>
                          <a:spcPts val="60"/>
                        </a:spcBef>
                      </a:pPr>
                      <a:r>
                        <a:rPr sz="1400" b="1" spc="-10" dirty="0">
                          <a:solidFill>
                            <a:schemeClr val="bg1"/>
                          </a:solidFill>
                          <a:latin typeface="Arial"/>
                          <a:cs typeface="Arial"/>
                        </a:rPr>
                        <a:t>category</a:t>
                      </a:r>
                      <a:endParaRPr sz="140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4445" algn="ctr">
                        <a:lnSpc>
                          <a:spcPts val="1170"/>
                        </a:lnSpc>
                        <a:spcBef>
                          <a:spcPts val="60"/>
                        </a:spcBef>
                      </a:pPr>
                      <a:r>
                        <a:rPr sz="1400" b="1" spc="-10" dirty="0">
                          <a:solidFill>
                            <a:schemeClr val="bg1"/>
                          </a:solidFill>
                          <a:latin typeface="Arial"/>
                          <a:cs typeface="Arial"/>
                        </a:rPr>
                        <a:t>sub_category</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algn="ctr">
                        <a:lnSpc>
                          <a:spcPts val="117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10" dirty="0">
                          <a:latin typeface="Arial MT"/>
                          <a:cs typeface="Arial MT"/>
                        </a:rPr>
                        <a:t>Chili</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10" dirty="0">
                          <a:latin typeface="Arial MT"/>
                          <a:cs typeface="Arial MT"/>
                        </a:rPr>
                        <a:t>Herbs</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10" dirty="0">
                          <a:latin typeface="Arial MT"/>
                          <a:cs typeface="Arial MT"/>
                        </a:rPr>
                        <a:t>Spices</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ts val="1170"/>
                        </a:lnSpc>
                        <a:spcBef>
                          <a:spcPts val="229"/>
                        </a:spcBef>
                      </a:pPr>
                      <a:r>
                        <a:rPr sz="1400" spc="-50" dirty="0">
                          <a:latin typeface="Arial MT"/>
                          <a:cs typeface="Arial MT"/>
                        </a:rPr>
                        <a:t>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9"/>
                        </a:spcBef>
                      </a:pPr>
                      <a:r>
                        <a:rPr sz="1400" spc="-10" dirty="0">
                          <a:latin typeface="Arial MT"/>
                          <a:cs typeface="Arial MT"/>
                        </a:rPr>
                        <a:t>Garlic</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dirty="0">
                          <a:latin typeface="Arial MT"/>
                          <a:cs typeface="Arial MT"/>
                        </a:rPr>
                        <a:t>Fruits</a:t>
                      </a:r>
                      <a:r>
                        <a:rPr sz="1400" spc="-30" dirty="0">
                          <a:latin typeface="Arial MT"/>
                          <a:cs typeface="Arial MT"/>
                        </a:rPr>
                        <a:t> </a:t>
                      </a:r>
                      <a:r>
                        <a:rPr sz="1400" dirty="0">
                          <a:latin typeface="Arial MT"/>
                          <a:cs typeface="Arial MT"/>
                        </a:rPr>
                        <a:t>&amp;</a:t>
                      </a:r>
                      <a:r>
                        <a:rPr sz="1400" spc="-25" dirty="0">
                          <a:latin typeface="Arial MT"/>
                          <a:cs typeface="Arial MT"/>
                        </a:rPr>
                        <a:t> </a:t>
                      </a:r>
                      <a:r>
                        <a:rPr sz="1400" spc="-10" dirty="0">
                          <a:latin typeface="Arial MT"/>
                          <a:cs typeface="Arial MT"/>
                        </a:rPr>
                        <a:t>Vegetables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Vegetable</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ts val="117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Banana</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dirty="0">
                          <a:latin typeface="Arial MT"/>
                          <a:cs typeface="Arial MT"/>
                        </a:rPr>
                        <a:t>Fruits</a:t>
                      </a:r>
                      <a:r>
                        <a:rPr sz="1400" spc="-30" dirty="0">
                          <a:latin typeface="Arial MT"/>
                          <a:cs typeface="Arial MT"/>
                        </a:rPr>
                        <a:t> </a:t>
                      </a:r>
                      <a:r>
                        <a:rPr sz="1400" dirty="0">
                          <a:latin typeface="Arial MT"/>
                          <a:cs typeface="Arial MT"/>
                        </a:rPr>
                        <a:t>&amp;</a:t>
                      </a:r>
                      <a:r>
                        <a:rPr sz="1400" spc="-25" dirty="0">
                          <a:latin typeface="Arial MT"/>
                          <a:cs typeface="Arial MT"/>
                        </a:rPr>
                        <a:t> </a:t>
                      </a:r>
                      <a:r>
                        <a:rPr sz="1400" spc="-10" dirty="0">
                          <a:latin typeface="Arial MT"/>
                          <a:cs typeface="Arial MT"/>
                        </a:rPr>
                        <a:t>Vegetables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10" dirty="0">
                          <a:latin typeface="Arial MT"/>
                          <a:cs typeface="Arial MT"/>
                        </a:rPr>
                        <a:t>Fruits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algn="ctr">
                        <a:lnSpc>
                          <a:spcPts val="1170"/>
                        </a:lnSpc>
                        <a:spcBef>
                          <a:spcPts val="229"/>
                        </a:spcBef>
                      </a:pPr>
                      <a:r>
                        <a:rPr sz="1400" spc="-50" dirty="0">
                          <a:latin typeface="Arial MT"/>
                          <a:cs typeface="Arial MT"/>
                        </a:rPr>
                        <a:t>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Chocolate</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dirty="0">
                          <a:latin typeface="Arial MT"/>
                          <a:cs typeface="Arial MT"/>
                        </a:rPr>
                        <a:t>Sweets</a:t>
                      </a:r>
                      <a:r>
                        <a:rPr sz="1400" spc="-30" dirty="0">
                          <a:latin typeface="Arial MT"/>
                          <a:cs typeface="Arial MT"/>
                        </a:rPr>
                        <a:t> </a:t>
                      </a:r>
                      <a:r>
                        <a:rPr sz="1400" dirty="0">
                          <a:latin typeface="Arial MT"/>
                          <a:cs typeface="Arial MT"/>
                        </a:rPr>
                        <a:t>&amp;</a:t>
                      </a:r>
                      <a:r>
                        <a:rPr sz="1400" spc="-10" dirty="0">
                          <a:latin typeface="Arial MT"/>
                          <a:cs typeface="Arial MT"/>
                        </a:rPr>
                        <a:t> Snacks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10" dirty="0">
                          <a:latin typeface="Arial MT"/>
                          <a:cs typeface="Arial MT"/>
                        </a:rPr>
                        <a:t>Sweets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algn="ctr">
                        <a:lnSpc>
                          <a:spcPts val="1170"/>
                        </a:lnSpc>
                        <a:spcBef>
                          <a:spcPts val="229"/>
                        </a:spcBef>
                      </a:pPr>
                      <a:r>
                        <a:rPr sz="1400" spc="-50" dirty="0">
                          <a:latin typeface="Arial MT"/>
                          <a:cs typeface="Arial MT"/>
                        </a:rPr>
                        <a:t>5</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Chips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dirty="0">
                          <a:latin typeface="Arial MT"/>
                          <a:cs typeface="Arial MT"/>
                        </a:rPr>
                        <a:t>Sweets</a:t>
                      </a:r>
                      <a:r>
                        <a:rPr sz="1400" spc="-30" dirty="0">
                          <a:latin typeface="Arial MT"/>
                          <a:cs typeface="Arial MT"/>
                        </a:rPr>
                        <a:t> </a:t>
                      </a:r>
                      <a:r>
                        <a:rPr sz="1400" dirty="0">
                          <a:latin typeface="Arial MT"/>
                          <a:cs typeface="Arial MT"/>
                        </a:rPr>
                        <a:t>&amp;</a:t>
                      </a:r>
                      <a:r>
                        <a:rPr sz="1400" spc="-10" dirty="0">
                          <a:latin typeface="Arial MT"/>
                          <a:cs typeface="Arial MT"/>
                        </a:rPr>
                        <a:t> Snacks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10" dirty="0">
                          <a:latin typeface="Arial MT"/>
                          <a:cs typeface="Arial MT"/>
                        </a:rPr>
                        <a:t>Snacks</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graphicFrame>
        <p:nvGraphicFramePr>
          <p:cNvPr id="6" name="object 6"/>
          <p:cNvGraphicFramePr>
            <a:graphicFrameLocks noGrp="1"/>
          </p:cNvGraphicFramePr>
          <p:nvPr>
            <p:extLst>
              <p:ext uri="{D42A27DB-BD31-4B8C-83A1-F6EECF244321}">
                <p14:modId xmlns:p14="http://schemas.microsoft.com/office/powerpoint/2010/main" val="1729298560"/>
              </p:ext>
            </p:extLst>
          </p:nvPr>
        </p:nvGraphicFramePr>
        <p:xfrm>
          <a:off x="7611534" y="4131734"/>
          <a:ext cx="2531533" cy="987213"/>
        </p:xfrm>
        <a:graphic>
          <a:graphicData uri="http://schemas.openxmlformats.org/drawingml/2006/table">
            <a:tbl>
              <a:tblPr firstRow="1" bandRow="1">
                <a:tableStyleId>{2D5ABB26-0587-4C30-8999-92F81FD0307C}</a:tableStyleId>
              </a:tblPr>
              <a:tblGrid>
                <a:gridCol w="1609513">
                  <a:extLst>
                    <a:ext uri="{9D8B030D-6E8A-4147-A177-3AD203B41FA5}">
                      <a16:colId xmlns:a16="http://schemas.microsoft.com/office/drawing/2014/main" val="20000"/>
                    </a:ext>
                  </a:extLst>
                </a:gridCol>
                <a:gridCol w="922020">
                  <a:extLst>
                    <a:ext uri="{9D8B030D-6E8A-4147-A177-3AD203B41FA5}">
                      <a16:colId xmlns:a16="http://schemas.microsoft.com/office/drawing/2014/main" val="20001"/>
                    </a:ext>
                  </a:extLst>
                </a:gridCol>
              </a:tblGrid>
              <a:tr h="225213">
                <a:tc>
                  <a:txBody>
                    <a:bodyPr/>
                    <a:lstStyle/>
                    <a:p>
                      <a:pPr marL="4445" algn="ctr">
                        <a:lnSpc>
                          <a:spcPts val="1170"/>
                        </a:lnSpc>
                        <a:spcBef>
                          <a:spcPts val="65"/>
                        </a:spcBef>
                      </a:pPr>
                      <a:r>
                        <a:rPr sz="1400" b="1" spc="-10" dirty="0">
                          <a:solidFill>
                            <a:schemeClr val="bg1"/>
                          </a:solidFill>
                          <a:latin typeface="Arial"/>
                          <a:cs typeface="Arial"/>
                        </a:rPr>
                        <a:t>category</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635" algn="ctr">
                        <a:lnSpc>
                          <a:spcPts val="1170"/>
                        </a:lnSpc>
                        <a:spcBef>
                          <a:spcPts val="65"/>
                        </a:spcBef>
                      </a:pPr>
                      <a:r>
                        <a:rPr sz="1400" b="1" spc="-10" dirty="0">
                          <a:solidFill>
                            <a:schemeClr val="bg1"/>
                          </a:solidFill>
                          <a:latin typeface="Arial"/>
                          <a:cs typeface="Arial"/>
                        </a:rPr>
                        <a:t>price</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marL="1270" algn="ctr">
                        <a:lnSpc>
                          <a:spcPts val="1170"/>
                        </a:lnSpc>
                        <a:spcBef>
                          <a:spcPts val="229"/>
                        </a:spcBef>
                      </a:pPr>
                      <a:r>
                        <a:rPr sz="1400" spc="-10" dirty="0">
                          <a:latin typeface="Arial MT"/>
                          <a:cs typeface="Arial MT"/>
                        </a:rPr>
                        <a:t>Herbs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25" dirty="0">
                          <a:latin typeface="Arial MT"/>
                          <a:cs typeface="Arial MT"/>
                        </a:rPr>
                        <a:t>$0</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ts val="1170"/>
                        </a:lnSpc>
                        <a:spcBef>
                          <a:spcPts val="229"/>
                        </a:spcBef>
                      </a:pPr>
                      <a:r>
                        <a:rPr sz="1400" dirty="0">
                          <a:latin typeface="Arial MT"/>
                          <a:cs typeface="Arial MT"/>
                        </a:rPr>
                        <a:t>Fruits</a:t>
                      </a:r>
                      <a:r>
                        <a:rPr sz="1400" spc="-30" dirty="0">
                          <a:latin typeface="Arial MT"/>
                          <a:cs typeface="Arial MT"/>
                        </a:rPr>
                        <a:t> </a:t>
                      </a:r>
                      <a:r>
                        <a:rPr sz="1400" dirty="0">
                          <a:latin typeface="Arial MT"/>
                          <a:cs typeface="Arial MT"/>
                        </a:rPr>
                        <a:t>&amp;</a:t>
                      </a:r>
                      <a:r>
                        <a:rPr sz="1400" spc="-25" dirty="0">
                          <a:latin typeface="Arial MT"/>
                          <a:cs typeface="Arial MT"/>
                        </a:rPr>
                        <a:t> </a:t>
                      </a:r>
                      <a:r>
                        <a:rPr sz="1400" spc="-10" dirty="0">
                          <a:latin typeface="Arial MT"/>
                          <a:cs typeface="Arial MT"/>
                        </a:rPr>
                        <a:t>Vegetables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0"/>
                        </a:lnSpc>
                        <a:spcBef>
                          <a:spcPts val="229"/>
                        </a:spcBef>
                      </a:pPr>
                      <a:r>
                        <a:rPr sz="1400" spc="-10" dirty="0">
                          <a:latin typeface="Arial MT"/>
                          <a:cs typeface="Arial MT"/>
                        </a:rPr>
                        <a:t>$10.26</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ts val="1170"/>
                        </a:lnSpc>
                        <a:spcBef>
                          <a:spcPts val="229"/>
                        </a:spcBef>
                      </a:pPr>
                      <a:r>
                        <a:rPr sz="1400" dirty="0">
                          <a:latin typeface="Arial MT"/>
                          <a:cs typeface="Arial MT"/>
                        </a:rPr>
                        <a:t>Sweets</a:t>
                      </a:r>
                      <a:r>
                        <a:rPr sz="1400" spc="-30" dirty="0">
                          <a:latin typeface="Arial MT"/>
                          <a:cs typeface="Arial MT"/>
                        </a:rPr>
                        <a:t> </a:t>
                      </a:r>
                      <a:r>
                        <a:rPr sz="1400" dirty="0">
                          <a:latin typeface="Arial MT"/>
                          <a:cs typeface="Arial MT"/>
                        </a:rPr>
                        <a:t>&amp;</a:t>
                      </a:r>
                      <a:r>
                        <a:rPr sz="1400" spc="-10" dirty="0">
                          <a:latin typeface="Arial MT"/>
                          <a:cs typeface="Arial MT"/>
                        </a:rPr>
                        <a:t> Snacks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9"/>
                        </a:spcBef>
                      </a:pPr>
                      <a:r>
                        <a:rPr sz="1400" spc="-10" dirty="0">
                          <a:latin typeface="Arial MT"/>
                          <a:cs typeface="Arial MT"/>
                        </a:rPr>
                        <a:t>$1.99</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grpSp>
        <p:nvGrpSpPr>
          <p:cNvPr id="7" name="object 7"/>
          <p:cNvGrpSpPr/>
          <p:nvPr/>
        </p:nvGrpSpPr>
        <p:grpSpPr>
          <a:xfrm>
            <a:off x="7594600" y="5098796"/>
            <a:ext cx="2548467" cy="1127759"/>
            <a:chOff x="5709539" y="3196717"/>
            <a:chExt cx="1911350" cy="845819"/>
          </a:xfrm>
        </p:grpSpPr>
        <p:sp>
          <p:nvSpPr>
            <p:cNvPr id="8" name="object 8"/>
            <p:cNvSpPr/>
            <p:nvPr/>
          </p:nvSpPr>
          <p:spPr>
            <a:xfrm>
              <a:off x="5722493" y="3209671"/>
              <a:ext cx="1885950" cy="819785"/>
            </a:xfrm>
            <a:custGeom>
              <a:avLst/>
              <a:gdLst/>
              <a:ahLst/>
              <a:cxnLst/>
              <a:rect l="l" t="t" r="r" b="b"/>
              <a:pathLst>
                <a:path w="1885950" h="819785">
                  <a:moveTo>
                    <a:pt x="1807210" y="0"/>
                  </a:moveTo>
                  <a:lnTo>
                    <a:pt x="942721" y="273939"/>
                  </a:lnTo>
                  <a:lnTo>
                    <a:pt x="78232" y="0"/>
                  </a:lnTo>
                  <a:lnTo>
                    <a:pt x="0" y="247015"/>
                  </a:lnTo>
                  <a:lnTo>
                    <a:pt x="513715" y="409829"/>
                  </a:lnTo>
                  <a:lnTo>
                    <a:pt x="0" y="572643"/>
                  </a:lnTo>
                  <a:lnTo>
                    <a:pt x="78232" y="819645"/>
                  </a:lnTo>
                  <a:lnTo>
                    <a:pt x="942721" y="545719"/>
                  </a:lnTo>
                  <a:lnTo>
                    <a:pt x="1807210" y="819645"/>
                  </a:lnTo>
                  <a:lnTo>
                    <a:pt x="1885441" y="572643"/>
                  </a:lnTo>
                  <a:lnTo>
                    <a:pt x="1371727" y="409829"/>
                  </a:lnTo>
                  <a:lnTo>
                    <a:pt x="1885441" y="247015"/>
                  </a:lnTo>
                  <a:lnTo>
                    <a:pt x="1807210" y="0"/>
                  </a:lnTo>
                  <a:close/>
                </a:path>
              </a:pathLst>
            </a:custGeom>
            <a:solidFill>
              <a:srgbClr val="C00000">
                <a:alpha val="74900"/>
              </a:srgbClr>
            </a:solidFill>
          </p:spPr>
          <p:txBody>
            <a:bodyPr wrap="square" lIns="0" tIns="0" rIns="0" bIns="0" rtlCol="0"/>
            <a:lstStyle/>
            <a:p>
              <a:endParaRPr sz="2400"/>
            </a:p>
          </p:txBody>
        </p:sp>
        <p:sp>
          <p:nvSpPr>
            <p:cNvPr id="9" name="object 9"/>
            <p:cNvSpPr/>
            <p:nvPr/>
          </p:nvSpPr>
          <p:spPr>
            <a:xfrm>
              <a:off x="5722493" y="3209671"/>
              <a:ext cx="1885950" cy="819785"/>
            </a:xfrm>
            <a:custGeom>
              <a:avLst/>
              <a:gdLst/>
              <a:ahLst/>
              <a:cxnLst/>
              <a:rect l="l" t="t" r="r" b="b"/>
              <a:pathLst>
                <a:path w="1885950" h="819785">
                  <a:moveTo>
                    <a:pt x="0" y="247015"/>
                  </a:moveTo>
                  <a:lnTo>
                    <a:pt x="78232" y="0"/>
                  </a:lnTo>
                  <a:lnTo>
                    <a:pt x="942721" y="273939"/>
                  </a:lnTo>
                  <a:lnTo>
                    <a:pt x="1807210" y="0"/>
                  </a:lnTo>
                  <a:lnTo>
                    <a:pt x="1885441" y="247015"/>
                  </a:lnTo>
                  <a:lnTo>
                    <a:pt x="1371727" y="409829"/>
                  </a:lnTo>
                  <a:lnTo>
                    <a:pt x="1885441" y="572643"/>
                  </a:lnTo>
                  <a:lnTo>
                    <a:pt x="1807210" y="819645"/>
                  </a:lnTo>
                  <a:lnTo>
                    <a:pt x="942721" y="545719"/>
                  </a:lnTo>
                  <a:lnTo>
                    <a:pt x="78232" y="819645"/>
                  </a:lnTo>
                  <a:lnTo>
                    <a:pt x="0" y="572643"/>
                  </a:lnTo>
                  <a:lnTo>
                    <a:pt x="513715" y="409829"/>
                  </a:lnTo>
                  <a:lnTo>
                    <a:pt x="0" y="247015"/>
                  </a:lnTo>
                  <a:close/>
                </a:path>
              </a:pathLst>
            </a:custGeom>
            <a:ln w="25908">
              <a:solidFill>
                <a:srgbClr val="008FBB"/>
              </a:solidFill>
            </a:ln>
          </p:spPr>
          <p:txBody>
            <a:bodyPr wrap="square" lIns="0" tIns="0" rIns="0" bIns="0" rtlCol="0"/>
            <a:lstStyle/>
            <a:p>
              <a:endParaRPr sz="2400"/>
            </a:p>
          </p:txBody>
        </p:sp>
      </p:grpSp>
      <p:grpSp>
        <p:nvGrpSpPr>
          <p:cNvPr id="10" name="object 10"/>
          <p:cNvGrpSpPr/>
          <p:nvPr/>
        </p:nvGrpSpPr>
        <p:grpSpPr>
          <a:xfrm>
            <a:off x="904240" y="1359407"/>
            <a:ext cx="2385907" cy="1654387"/>
            <a:chOff x="678180" y="1019555"/>
            <a:chExt cx="1789430" cy="1240790"/>
          </a:xfrm>
        </p:grpSpPr>
        <p:pic>
          <p:nvPicPr>
            <p:cNvPr id="11" name="object 11"/>
            <p:cNvPicPr/>
            <p:nvPr/>
          </p:nvPicPr>
          <p:blipFill>
            <a:blip r:embed="rId3" cstate="print"/>
            <a:stretch>
              <a:fillRect/>
            </a:stretch>
          </p:blipFill>
          <p:spPr>
            <a:xfrm>
              <a:off x="682752" y="1019555"/>
              <a:ext cx="1784604" cy="1240536"/>
            </a:xfrm>
            <a:prstGeom prst="rect">
              <a:avLst/>
            </a:prstGeom>
          </p:spPr>
        </p:pic>
        <p:pic>
          <p:nvPicPr>
            <p:cNvPr id="12" name="object 12"/>
            <p:cNvPicPr/>
            <p:nvPr/>
          </p:nvPicPr>
          <p:blipFill>
            <a:blip r:embed="rId4" cstate="print"/>
            <a:stretch>
              <a:fillRect/>
            </a:stretch>
          </p:blipFill>
          <p:spPr>
            <a:xfrm>
              <a:off x="678180" y="1136916"/>
              <a:ext cx="1517903" cy="1094219"/>
            </a:xfrm>
            <a:prstGeom prst="rect">
              <a:avLst/>
            </a:prstGeom>
          </p:spPr>
        </p:pic>
      </p:grpSp>
      <p:sp>
        <p:nvSpPr>
          <p:cNvPr id="13" name="object 13"/>
          <p:cNvSpPr txBox="1"/>
          <p:nvPr/>
        </p:nvSpPr>
        <p:spPr>
          <a:xfrm>
            <a:off x="973327" y="1391920"/>
            <a:ext cx="2259752" cy="1352700"/>
          </a:xfrm>
          <a:prstGeom prst="rect">
            <a:avLst/>
          </a:prstGeom>
          <a:solidFill>
            <a:srgbClr val="D9D9D9"/>
          </a:solidFill>
          <a:ln w="9144">
            <a:solidFill>
              <a:srgbClr val="373737"/>
            </a:solidFill>
          </a:ln>
        </p:spPr>
        <p:txBody>
          <a:bodyPr vert="horz" wrap="square" lIns="0" tIns="206587" rIns="0" bIns="0" rtlCol="0">
            <a:spAutoFit/>
          </a:bodyPr>
          <a:lstStyle/>
          <a:p>
            <a:pPr marL="578259" indent="-456342">
              <a:spcBef>
                <a:spcPts val="1627"/>
              </a:spcBef>
              <a:buClr>
                <a:srgbClr val="FFFFFF"/>
              </a:buClr>
              <a:buFont typeface="Courier New"/>
              <a:buChar char="o"/>
              <a:tabLst>
                <a:tab pos="578259" algn="l"/>
              </a:tabLst>
            </a:pPr>
            <a:r>
              <a:rPr sz="1867" i="1" spc="-13" dirty="0">
                <a:solidFill>
                  <a:srgbClr val="3B3B3B"/>
                </a:solidFill>
                <a:latin typeface="Calibri"/>
                <a:cs typeface="Calibri"/>
              </a:rPr>
              <a:t>Price</a:t>
            </a:r>
            <a:endParaRPr sz="1867">
              <a:latin typeface="Calibri"/>
              <a:cs typeface="Calibri"/>
            </a:endParaRPr>
          </a:p>
          <a:p>
            <a:pPr marL="578259" indent="-456342">
              <a:spcBef>
                <a:spcPts val="1120"/>
              </a:spcBef>
              <a:buClr>
                <a:srgbClr val="FFFFFF"/>
              </a:buClr>
              <a:buFont typeface="Courier New"/>
              <a:buChar char="o"/>
              <a:tabLst>
                <a:tab pos="578259" algn="l"/>
              </a:tabLst>
            </a:pPr>
            <a:r>
              <a:rPr sz="1867" i="1" spc="-13" dirty="0">
                <a:solidFill>
                  <a:srgbClr val="3B3B3B"/>
                </a:solidFill>
                <a:latin typeface="Calibri"/>
                <a:cs typeface="Calibri"/>
              </a:rPr>
              <a:t>Percentages</a:t>
            </a:r>
            <a:endParaRPr sz="1867">
              <a:latin typeface="Calibri"/>
              <a:cs typeface="Calibri"/>
            </a:endParaRPr>
          </a:p>
          <a:p>
            <a:pPr marL="578259" indent="-456342">
              <a:spcBef>
                <a:spcPts val="1120"/>
              </a:spcBef>
              <a:buClr>
                <a:srgbClr val="FFFFFF"/>
              </a:buClr>
              <a:buFont typeface="Courier New"/>
              <a:buChar char="o"/>
              <a:tabLst>
                <a:tab pos="578259" algn="l"/>
              </a:tabLst>
            </a:pPr>
            <a:r>
              <a:rPr sz="1867" i="1" spc="-13" dirty="0">
                <a:solidFill>
                  <a:srgbClr val="3B3B3B"/>
                </a:solidFill>
                <a:latin typeface="Calibri"/>
                <a:cs typeface="Calibri"/>
              </a:rPr>
              <a:t>Ratios</a:t>
            </a:r>
            <a:endParaRPr sz="1867">
              <a:latin typeface="Calibri"/>
              <a:cs typeface="Calibri"/>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96324" y="2494956"/>
            <a:ext cx="2998893"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Can</a:t>
            </a:r>
            <a:r>
              <a:rPr sz="2400" b="1" spc="-13" dirty="0">
                <a:solidFill>
                  <a:srgbClr val="D9D9D9"/>
                </a:solidFill>
                <a:latin typeface="Calibri"/>
                <a:cs typeface="Calibri"/>
              </a:rPr>
              <a:t> </a:t>
            </a:r>
            <a:r>
              <a:rPr sz="2400" b="1" dirty="0">
                <a:solidFill>
                  <a:srgbClr val="D9D9D9"/>
                </a:solidFill>
                <a:latin typeface="Calibri"/>
                <a:cs typeface="Calibri"/>
              </a:rPr>
              <a:t>be</a:t>
            </a:r>
            <a:r>
              <a:rPr sz="2400" b="1" spc="-27" dirty="0">
                <a:solidFill>
                  <a:srgbClr val="D9D9D9"/>
                </a:solidFill>
                <a:latin typeface="Calibri"/>
                <a:cs typeface="Calibri"/>
              </a:rPr>
              <a:t> </a:t>
            </a:r>
            <a:r>
              <a:rPr sz="2400" b="1" dirty="0">
                <a:solidFill>
                  <a:srgbClr val="D9D9D9"/>
                </a:solidFill>
                <a:latin typeface="Calibri"/>
                <a:cs typeface="Calibri"/>
              </a:rPr>
              <a:t>added</a:t>
            </a:r>
            <a:r>
              <a:rPr sz="2400" b="1" spc="-40" dirty="0">
                <a:solidFill>
                  <a:srgbClr val="D9D9D9"/>
                </a:solidFill>
                <a:latin typeface="Calibri"/>
                <a:cs typeface="Calibri"/>
              </a:rPr>
              <a:t> </a:t>
            </a:r>
            <a:r>
              <a:rPr sz="2400" b="1" spc="-13" dirty="0">
                <a:solidFill>
                  <a:srgbClr val="D9D9D9"/>
                </a:solidFill>
                <a:latin typeface="Calibri"/>
                <a:cs typeface="Calibri"/>
              </a:rPr>
              <a:t>across</a:t>
            </a:r>
            <a:endParaRPr sz="2400">
              <a:latin typeface="Calibri"/>
              <a:cs typeface="Calibri"/>
            </a:endParaRPr>
          </a:p>
        </p:txBody>
      </p:sp>
      <p:sp>
        <p:nvSpPr>
          <p:cNvPr id="3" name="object 3"/>
          <p:cNvSpPr txBox="1"/>
          <p:nvPr/>
        </p:nvSpPr>
        <p:spPr>
          <a:xfrm>
            <a:off x="995001" y="3072044"/>
            <a:ext cx="1816947" cy="359073"/>
          </a:xfrm>
          <a:prstGeom prst="rect">
            <a:avLst/>
          </a:prstGeom>
          <a:solidFill>
            <a:srgbClr val="25519E"/>
          </a:solidFill>
        </p:spPr>
        <p:txBody>
          <a:bodyPr vert="horz" wrap="square" lIns="0" tIns="0" rIns="0" bIns="0" rtlCol="0">
            <a:spAutoFit/>
          </a:bodyPr>
          <a:lstStyle/>
          <a:p>
            <a:pPr>
              <a:lnSpc>
                <a:spcPts val="2787"/>
              </a:lnSpc>
            </a:pPr>
            <a:r>
              <a:rPr sz="2400" b="1" dirty="0">
                <a:solidFill>
                  <a:srgbClr val="D9D9D9"/>
                </a:solidFill>
                <a:latin typeface="Calibri"/>
                <a:cs typeface="Calibri"/>
              </a:rPr>
              <a:t>all</a:t>
            </a:r>
            <a:r>
              <a:rPr sz="2400" b="1" spc="-20" dirty="0">
                <a:solidFill>
                  <a:srgbClr val="D9D9D9"/>
                </a:solidFill>
                <a:latin typeface="Calibri"/>
                <a:cs typeface="Calibri"/>
              </a:rPr>
              <a:t> </a:t>
            </a:r>
            <a:r>
              <a:rPr sz="2400" b="1" spc="-13" dirty="0">
                <a:solidFill>
                  <a:srgbClr val="D9D9D9"/>
                </a:solidFill>
                <a:latin typeface="Calibri"/>
                <a:cs typeface="Calibri"/>
              </a:rPr>
              <a:t>dimensions</a:t>
            </a:r>
            <a:endParaRPr sz="2400">
              <a:latin typeface="Calibri"/>
              <a:cs typeface="Calibri"/>
            </a:endParaRPr>
          </a:p>
        </p:txBody>
      </p:sp>
      <p:sp>
        <p:nvSpPr>
          <p:cNvPr id="4" name="object 4"/>
          <p:cNvSpPr txBox="1"/>
          <p:nvPr/>
        </p:nvSpPr>
        <p:spPr>
          <a:xfrm>
            <a:off x="5075937" y="3072045"/>
            <a:ext cx="2230119" cy="359073"/>
          </a:xfrm>
          <a:prstGeom prst="rect">
            <a:avLst/>
          </a:prstGeom>
          <a:solidFill>
            <a:srgbClr val="25519E"/>
          </a:solidFill>
        </p:spPr>
        <p:txBody>
          <a:bodyPr vert="horz" wrap="square" lIns="0" tIns="0" rIns="0" bIns="0" rtlCol="0">
            <a:spAutoFit/>
          </a:bodyPr>
          <a:lstStyle/>
          <a:p>
            <a:pPr marL="847">
              <a:lnSpc>
                <a:spcPts val="2787"/>
              </a:lnSpc>
            </a:pPr>
            <a:r>
              <a:rPr sz="2400" b="1" dirty="0">
                <a:solidFill>
                  <a:srgbClr val="D9D9D9"/>
                </a:solidFill>
                <a:latin typeface="Calibri"/>
                <a:cs typeface="Calibri"/>
              </a:rPr>
              <a:t>a</a:t>
            </a:r>
            <a:r>
              <a:rPr sz="2400" b="1" spc="-20" dirty="0">
                <a:solidFill>
                  <a:srgbClr val="D9D9D9"/>
                </a:solidFill>
                <a:latin typeface="Calibri"/>
                <a:cs typeface="Calibri"/>
              </a:rPr>
              <a:t> </a:t>
            </a:r>
            <a:r>
              <a:rPr sz="2400" b="1" dirty="0">
                <a:solidFill>
                  <a:srgbClr val="D9D9D9"/>
                </a:solidFill>
                <a:latin typeface="Calibri"/>
                <a:cs typeface="Calibri"/>
              </a:rPr>
              <a:t>few</a:t>
            </a:r>
            <a:r>
              <a:rPr sz="2400" b="1" spc="-7" dirty="0">
                <a:solidFill>
                  <a:srgbClr val="D9D9D9"/>
                </a:solidFill>
                <a:latin typeface="Calibri"/>
                <a:cs typeface="Calibri"/>
              </a:rPr>
              <a:t> </a:t>
            </a:r>
            <a:r>
              <a:rPr sz="2400" b="1" spc="-13" dirty="0">
                <a:solidFill>
                  <a:srgbClr val="D9D9D9"/>
                </a:solidFill>
                <a:latin typeface="Calibri"/>
                <a:cs typeface="Calibri"/>
              </a:rPr>
              <a:t>dimensions</a:t>
            </a:r>
            <a:endParaRPr sz="2400">
              <a:latin typeface="Calibri"/>
              <a:cs typeface="Calibri"/>
            </a:endParaRPr>
          </a:p>
        </p:txBody>
      </p:sp>
      <p:sp>
        <p:nvSpPr>
          <p:cNvPr id="5" name="object 5"/>
          <p:cNvSpPr txBox="1">
            <a:spLocks noGrp="1"/>
          </p:cNvSpPr>
          <p:nvPr>
            <p:ph type="title"/>
          </p:nvPr>
        </p:nvSpPr>
        <p:spPr>
          <a:xfrm>
            <a:off x="2145249" y="168531"/>
            <a:ext cx="7291154" cy="674608"/>
          </a:xfrm>
          <a:prstGeom prst="rect">
            <a:avLst/>
          </a:prstGeom>
        </p:spPr>
        <p:txBody>
          <a:bodyPr vert="horz" wrap="square" lIns="0" tIns="17780" rIns="0" bIns="0" rtlCol="0" anchor="ctr">
            <a:spAutoFit/>
          </a:bodyPr>
          <a:lstStyle/>
          <a:p>
            <a:pPr marL="2648307">
              <a:lnSpc>
                <a:spcPct val="100000"/>
              </a:lnSpc>
              <a:spcBef>
                <a:spcPts val="140"/>
              </a:spcBef>
            </a:pPr>
            <a:r>
              <a:rPr spc="-13" dirty="0"/>
              <a:t>Additivity</a:t>
            </a:r>
          </a:p>
        </p:txBody>
      </p:sp>
      <p:grpSp>
        <p:nvGrpSpPr>
          <p:cNvPr id="6" name="object 6"/>
          <p:cNvGrpSpPr/>
          <p:nvPr/>
        </p:nvGrpSpPr>
        <p:grpSpPr>
          <a:xfrm>
            <a:off x="4143586" y="2030307"/>
            <a:ext cx="534247" cy="4844627"/>
            <a:chOff x="3107689" y="1522730"/>
            <a:chExt cx="400685" cy="3633470"/>
          </a:xfrm>
        </p:grpSpPr>
        <p:sp>
          <p:nvSpPr>
            <p:cNvPr id="7" name="object 7"/>
            <p:cNvSpPr/>
            <p:nvPr/>
          </p:nvSpPr>
          <p:spPr>
            <a:xfrm>
              <a:off x="3120389" y="1535430"/>
              <a:ext cx="375285" cy="3608070"/>
            </a:xfrm>
            <a:custGeom>
              <a:avLst/>
              <a:gdLst/>
              <a:ahLst/>
              <a:cxnLst/>
              <a:rect l="l" t="t" r="r" b="b"/>
              <a:pathLst>
                <a:path w="375285" h="3608070">
                  <a:moveTo>
                    <a:pt x="75692" y="0"/>
                  </a:moveTo>
                  <a:lnTo>
                    <a:pt x="0" y="9398"/>
                  </a:lnTo>
                  <a:lnTo>
                    <a:pt x="154432" y="1871472"/>
                  </a:lnTo>
                  <a:lnTo>
                    <a:pt x="370259" y="3608068"/>
                  </a:lnTo>
                  <a:lnTo>
                    <a:pt x="375053" y="3608068"/>
                  </a:lnTo>
                  <a:lnTo>
                    <a:pt x="75692" y="0"/>
                  </a:lnTo>
                  <a:close/>
                </a:path>
              </a:pathLst>
            </a:custGeom>
            <a:solidFill>
              <a:srgbClr val="777777"/>
            </a:solidFill>
          </p:spPr>
          <p:txBody>
            <a:bodyPr wrap="square" lIns="0" tIns="0" rIns="0" bIns="0" rtlCol="0"/>
            <a:lstStyle/>
            <a:p>
              <a:endParaRPr sz="2400"/>
            </a:p>
          </p:txBody>
        </p:sp>
        <p:sp>
          <p:nvSpPr>
            <p:cNvPr id="8" name="object 8"/>
            <p:cNvSpPr/>
            <p:nvPr/>
          </p:nvSpPr>
          <p:spPr>
            <a:xfrm>
              <a:off x="3120389" y="1535430"/>
              <a:ext cx="375285" cy="3608070"/>
            </a:xfrm>
            <a:custGeom>
              <a:avLst/>
              <a:gdLst/>
              <a:ahLst/>
              <a:cxnLst/>
              <a:rect l="l" t="t" r="r" b="b"/>
              <a:pathLst>
                <a:path w="375285" h="3608070">
                  <a:moveTo>
                    <a:pt x="370259" y="3608068"/>
                  </a:moveTo>
                  <a:lnTo>
                    <a:pt x="154432" y="1871472"/>
                  </a:lnTo>
                  <a:lnTo>
                    <a:pt x="0" y="9398"/>
                  </a:lnTo>
                  <a:lnTo>
                    <a:pt x="75692" y="0"/>
                  </a:lnTo>
                  <a:lnTo>
                    <a:pt x="375053" y="3608068"/>
                  </a:lnTo>
                </a:path>
              </a:pathLst>
            </a:custGeom>
            <a:ln w="25400">
              <a:solidFill>
                <a:srgbClr val="252525"/>
              </a:solidFill>
            </a:ln>
          </p:spPr>
          <p:txBody>
            <a:bodyPr wrap="square" lIns="0" tIns="0" rIns="0" bIns="0" rtlCol="0"/>
            <a:lstStyle/>
            <a:p>
              <a:endParaRPr sz="2400"/>
            </a:p>
          </p:txBody>
        </p:sp>
      </p:grpSp>
      <p:sp>
        <p:nvSpPr>
          <p:cNvPr id="9" name="object 9"/>
          <p:cNvSpPr txBox="1"/>
          <p:nvPr/>
        </p:nvSpPr>
        <p:spPr>
          <a:xfrm>
            <a:off x="4724400" y="1601215"/>
            <a:ext cx="2743200" cy="538609"/>
          </a:xfrm>
          <a:prstGeom prst="rect">
            <a:avLst/>
          </a:prstGeom>
          <a:solidFill>
            <a:srgbClr val="404040">
              <a:alpha val="89019"/>
            </a:srgbClr>
          </a:solidFill>
        </p:spPr>
        <p:txBody>
          <a:bodyPr vert="horz" wrap="square" lIns="0" tIns="167640" rIns="0" bIns="0" rtlCol="0">
            <a:spAutoFit/>
          </a:bodyPr>
          <a:lstStyle/>
          <a:p>
            <a:pPr marL="499521">
              <a:spcBef>
                <a:spcPts val="1320"/>
              </a:spcBef>
            </a:pPr>
            <a:r>
              <a:rPr sz="2400" b="1" dirty="0">
                <a:solidFill>
                  <a:srgbClr val="99D3FF"/>
                </a:solidFill>
                <a:latin typeface="Calibri"/>
                <a:cs typeface="Calibri"/>
              </a:rPr>
              <a:t>Semi-</a:t>
            </a:r>
            <a:r>
              <a:rPr sz="2400" b="1" spc="-13" dirty="0">
                <a:solidFill>
                  <a:srgbClr val="99D3FF"/>
                </a:solidFill>
                <a:latin typeface="Calibri"/>
                <a:cs typeface="Calibri"/>
              </a:rPr>
              <a:t>additive</a:t>
            </a:r>
            <a:endParaRPr sz="2400">
              <a:latin typeface="Calibri"/>
              <a:cs typeface="Calibri"/>
            </a:endParaRPr>
          </a:p>
        </p:txBody>
      </p:sp>
      <p:sp>
        <p:nvSpPr>
          <p:cNvPr id="10" name="object 10"/>
          <p:cNvSpPr txBox="1"/>
          <p:nvPr/>
        </p:nvSpPr>
        <p:spPr>
          <a:xfrm>
            <a:off x="1225296" y="1580896"/>
            <a:ext cx="2462952" cy="540319"/>
          </a:xfrm>
          <a:prstGeom prst="rect">
            <a:avLst/>
          </a:prstGeom>
          <a:solidFill>
            <a:srgbClr val="99D3FF">
              <a:alpha val="89019"/>
            </a:srgbClr>
          </a:solidFill>
        </p:spPr>
        <p:txBody>
          <a:bodyPr vert="horz" wrap="square" lIns="0" tIns="169333" rIns="0" bIns="0" rtlCol="0">
            <a:spAutoFit/>
          </a:bodyPr>
          <a:lstStyle/>
          <a:p>
            <a:pPr marL="698483">
              <a:spcBef>
                <a:spcPts val="1333"/>
              </a:spcBef>
            </a:pPr>
            <a:r>
              <a:rPr sz="2400" b="1" spc="-13" dirty="0">
                <a:solidFill>
                  <a:srgbClr val="585858"/>
                </a:solidFill>
                <a:latin typeface="Calibri"/>
                <a:cs typeface="Calibri"/>
              </a:rPr>
              <a:t>Additive</a:t>
            </a:r>
            <a:endParaRPr sz="2400">
              <a:latin typeface="Calibri"/>
              <a:cs typeface="Calibri"/>
            </a:endParaRPr>
          </a:p>
        </p:txBody>
      </p:sp>
      <p:sp>
        <p:nvSpPr>
          <p:cNvPr id="11" name="object 11"/>
          <p:cNvSpPr txBox="1"/>
          <p:nvPr/>
        </p:nvSpPr>
        <p:spPr>
          <a:xfrm>
            <a:off x="8670543" y="1601215"/>
            <a:ext cx="2743200" cy="538609"/>
          </a:xfrm>
          <a:prstGeom prst="rect">
            <a:avLst/>
          </a:prstGeom>
          <a:solidFill>
            <a:srgbClr val="D9D9D9">
              <a:alpha val="89019"/>
            </a:srgbClr>
          </a:solidFill>
        </p:spPr>
        <p:txBody>
          <a:bodyPr vert="horz" wrap="square" lIns="0" tIns="167640" rIns="0" bIns="0" rtlCol="0">
            <a:spAutoFit/>
          </a:bodyPr>
          <a:lstStyle/>
          <a:p>
            <a:pPr marL="546932">
              <a:spcBef>
                <a:spcPts val="1320"/>
              </a:spcBef>
            </a:pPr>
            <a:r>
              <a:rPr sz="2400" b="1" dirty="0">
                <a:solidFill>
                  <a:srgbClr val="00607E"/>
                </a:solidFill>
                <a:latin typeface="Calibri"/>
                <a:cs typeface="Calibri"/>
              </a:rPr>
              <a:t>Non-</a:t>
            </a:r>
            <a:r>
              <a:rPr sz="2400" b="1" spc="-13" dirty="0">
                <a:solidFill>
                  <a:srgbClr val="00607E"/>
                </a:solidFill>
                <a:latin typeface="Calibri"/>
                <a:cs typeface="Calibri"/>
              </a:rPr>
              <a:t>additive</a:t>
            </a:r>
            <a:endParaRPr sz="2400">
              <a:latin typeface="Calibri"/>
              <a:cs typeface="Calibri"/>
            </a:endParaRPr>
          </a:p>
        </p:txBody>
      </p:sp>
      <p:grpSp>
        <p:nvGrpSpPr>
          <p:cNvPr id="12" name="object 12"/>
          <p:cNvGrpSpPr/>
          <p:nvPr/>
        </p:nvGrpSpPr>
        <p:grpSpPr>
          <a:xfrm>
            <a:off x="7826755" y="2008633"/>
            <a:ext cx="514773" cy="4866639"/>
            <a:chOff x="5870066" y="1506474"/>
            <a:chExt cx="386080" cy="3649979"/>
          </a:xfrm>
        </p:grpSpPr>
        <p:sp>
          <p:nvSpPr>
            <p:cNvPr id="13" name="object 13"/>
            <p:cNvSpPr/>
            <p:nvPr/>
          </p:nvSpPr>
          <p:spPr>
            <a:xfrm>
              <a:off x="5882766" y="1519174"/>
              <a:ext cx="360680" cy="3624579"/>
            </a:xfrm>
            <a:custGeom>
              <a:avLst/>
              <a:gdLst/>
              <a:ahLst/>
              <a:cxnLst/>
              <a:rect l="l" t="t" r="r" b="b"/>
              <a:pathLst>
                <a:path w="360679" h="3624579">
                  <a:moveTo>
                    <a:pt x="91186" y="0"/>
                  </a:moveTo>
                  <a:lnTo>
                    <a:pt x="0" y="11302"/>
                  </a:lnTo>
                  <a:lnTo>
                    <a:pt x="139192" y="1884933"/>
                  </a:lnTo>
                  <a:lnTo>
                    <a:pt x="355283" y="3624324"/>
                  </a:lnTo>
                  <a:lnTo>
                    <a:pt x="360464" y="3624324"/>
                  </a:lnTo>
                  <a:lnTo>
                    <a:pt x="91186" y="0"/>
                  </a:lnTo>
                  <a:close/>
                </a:path>
              </a:pathLst>
            </a:custGeom>
            <a:solidFill>
              <a:srgbClr val="777777"/>
            </a:solidFill>
          </p:spPr>
          <p:txBody>
            <a:bodyPr wrap="square" lIns="0" tIns="0" rIns="0" bIns="0" rtlCol="0"/>
            <a:lstStyle/>
            <a:p>
              <a:endParaRPr sz="2400"/>
            </a:p>
          </p:txBody>
        </p:sp>
        <p:sp>
          <p:nvSpPr>
            <p:cNvPr id="14" name="object 14"/>
            <p:cNvSpPr/>
            <p:nvPr/>
          </p:nvSpPr>
          <p:spPr>
            <a:xfrm>
              <a:off x="5882766" y="1519174"/>
              <a:ext cx="360680" cy="3624579"/>
            </a:xfrm>
            <a:custGeom>
              <a:avLst/>
              <a:gdLst/>
              <a:ahLst/>
              <a:cxnLst/>
              <a:rect l="l" t="t" r="r" b="b"/>
              <a:pathLst>
                <a:path w="360679" h="3624579">
                  <a:moveTo>
                    <a:pt x="355283" y="3624324"/>
                  </a:moveTo>
                  <a:lnTo>
                    <a:pt x="139192" y="1884933"/>
                  </a:lnTo>
                  <a:lnTo>
                    <a:pt x="0" y="11302"/>
                  </a:lnTo>
                  <a:lnTo>
                    <a:pt x="91186" y="0"/>
                  </a:lnTo>
                  <a:lnTo>
                    <a:pt x="360464" y="3624324"/>
                  </a:lnTo>
                </a:path>
              </a:pathLst>
            </a:custGeom>
            <a:ln w="25400">
              <a:solidFill>
                <a:srgbClr val="252525"/>
              </a:solidFill>
            </a:ln>
          </p:spPr>
          <p:txBody>
            <a:bodyPr wrap="square" lIns="0" tIns="0" rIns="0" bIns="0" rtlCol="0"/>
            <a:lstStyle/>
            <a:p>
              <a:endParaRPr sz="2400"/>
            </a:p>
          </p:txBody>
        </p:sp>
      </p:grpSp>
      <p:sp>
        <p:nvSpPr>
          <p:cNvPr id="15" name="object 15"/>
          <p:cNvSpPr txBox="1"/>
          <p:nvPr/>
        </p:nvSpPr>
        <p:spPr>
          <a:xfrm>
            <a:off x="4677833" y="2494956"/>
            <a:ext cx="3793067"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 pos="3535592" algn="l"/>
              </a:tabLst>
            </a:pPr>
            <a:r>
              <a:rPr sz="2400" b="1" dirty="0">
                <a:solidFill>
                  <a:srgbClr val="D9D9D9"/>
                </a:solidFill>
                <a:latin typeface="Calibri"/>
                <a:cs typeface="Calibri"/>
              </a:rPr>
              <a:t>Can</a:t>
            </a:r>
            <a:r>
              <a:rPr sz="2400" b="1" spc="-13" dirty="0">
                <a:solidFill>
                  <a:srgbClr val="D9D9D9"/>
                </a:solidFill>
                <a:latin typeface="Calibri"/>
                <a:cs typeface="Calibri"/>
              </a:rPr>
              <a:t> </a:t>
            </a:r>
            <a:r>
              <a:rPr sz="2400" b="1" dirty="0">
                <a:solidFill>
                  <a:srgbClr val="D9D9D9"/>
                </a:solidFill>
                <a:latin typeface="Calibri"/>
                <a:cs typeface="Calibri"/>
              </a:rPr>
              <a:t>be</a:t>
            </a:r>
            <a:r>
              <a:rPr sz="2400" b="1" spc="-27" dirty="0">
                <a:solidFill>
                  <a:srgbClr val="D9D9D9"/>
                </a:solidFill>
                <a:latin typeface="Calibri"/>
                <a:cs typeface="Calibri"/>
              </a:rPr>
              <a:t> </a:t>
            </a:r>
            <a:r>
              <a:rPr sz="2400" b="1" dirty="0">
                <a:solidFill>
                  <a:srgbClr val="D9D9D9"/>
                </a:solidFill>
                <a:latin typeface="Calibri"/>
                <a:cs typeface="Calibri"/>
              </a:rPr>
              <a:t>added</a:t>
            </a:r>
            <a:r>
              <a:rPr sz="2400" b="1" spc="-40" dirty="0">
                <a:solidFill>
                  <a:srgbClr val="D9D9D9"/>
                </a:solidFill>
                <a:latin typeface="Calibri"/>
                <a:cs typeface="Calibri"/>
              </a:rPr>
              <a:t> </a:t>
            </a:r>
            <a:r>
              <a:rPr sz="2400" b="1" spc="-13" dirty="0">
                <a:solidFill>
                  <a:srgbClr val="D9D9D9"/>
                </a:solidFill>
                <a:latin typeface="Calibri"/>
                <a:cs typeface="Calibri"/>
              </a:rPr>
              <a:t>across</a:t>
            </a:r>
            <a:r>
              <a:rPr sz="2400" b="1" dirty="0">
                <a:solidFill>
                  <a:srgbClr val="D9D9D9"/>
                </a:solidFill>
                <a:latin typeface="Calibri"/>
                <a:cs typeface="Calibri"/>
              </a:rPr>
              <a:t>	</a:t>
            </a:r>
            <a:r>
              <a:rPr sz="2400" spc="-67" dirty="0">
                <a:solidFill>
                  <a:srgbClr val="99D3FF"/>
                </a:solidFill>
                <a:latin typeface="Wingdings"/>
                <a:cs typeface="Wingdings"/>
              </a:rPr>
              <a:t></a:t>
            </a:r>
            <a:endParaRPr sz="2400">
              <a:latin typeface="Wingdings"/>
              <a:cs typeface="Wingdings"/>
            </a:endParaRPr>
          </a:p>
        </p:txBody>
      </p:sp>
      <p:sp>
        <p:nvSpPr>
          <p:cNvPr id="16" name="object 16"/>
          <p:cNvSpPr txBox="1"/>
          <p:nvPr/>
        </p:nvSpPr>
        <p:spPr>
          <a:xfrm>
            <a:off x="8594512" y="2523406"/>
            <a:ext cx="2175085" cy="359073"/>
          </a:xfrm>
          <a:prstGeom prst="rect">
            <a:avLst/>
          </a:prstGeom>
          <a:solidFill>
            <a:srgbClr val="25519E"/>
          </a:solidFill>
        </p:spPr>
        <p:txBody>
          <a:bodyPr vert="horz" wrap="square" lIns="0" tIns="0" rIns="0" bIns="0" rtlCol="0">
            <a:spAutoFit/>
          </a:bodyPr>
          <a:lstStyle/>
          <a:p>
            <a:pPr marL="847">
              <a:lnSpc>
                <a:spcPts val="2787"/>
              </a:lnSpc>
            </a:pPr>
            <a:r>
              <a:rPr sz="2400" b="1" dirty="0">
                <a:solidFill>
                  <a:srgbClr val="D9D9D9"/>
                </a:solidFill>
                <a:latin typeface="Calibri"/>
                <a:cs typeface="Calibri"/>
              </a:rPr>
              <a:t>Cannot</a:t>
            </a:r>
            <a:r>
              <a:rPr sz="2400" b="1" spc="-33" dirty="0">
                <a:solidFill>
                  <a:srgbClr val="D9D9D9"/>
                </a:solidFill>
                <a:latin typeface="Calibri"/>
                <a:cs typeface="Calibri"/>
              </a:rPr>
              <a:t> </a:t>
            </a:r>
            <a:r>
              <a:rPr sz="2400" b="1" dirty="0">
                <a:solidFill>
                  <a:srgbClr val="D9D9D9"/>
                </a:solidFill>
                <a:latin typeface="Calibri"/>
                <a:cs typeface="Calibri"/>
              </a:rPr>
              <a:t>be</a:t>
            </a:r>
            <a:r>
              <a:rPr sz="2400" b="1" spc="-13" dirty="0">
                <a:solidFill>
                  <a:srgbClr val="D9D9D9"/>
                </a:solidFill>
                <a:latin typeface="Calibri"/>
                <a:cs typeface="Calibri"/>
              </a:rPr>
              <a:t> added</a:t>
            </a:r>
            <a:endParaRPr sz="2400">
              <a:latin typeface="Calibri"/>
              <a:cs typeface="Calibri"/>
            </a:endParaRPr>
          </a:p>
        </p:txBody>
      </p:sp>
      <p:sp>
        <p:nvSpPr>
          <p:cNvPr id="17" name="object 17"/>
          <p:cNvSpPr txBox="1"/>
          <p:nvPr/>
        </p:nvSpPr>
        <p:spPr>
          <a:xfrm>
            <a:off x="546743" y="3696376"/>
            <a:ext cx="3197013" cy="1802202"/>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Most</a:t>
            </a:r>
            <a:r>
              <a:rPr sz="2400" b="1" spc="-20" dirty="0">
                <a:solidFill>
                  <a:srgbClr val="D9D9D9"/>
                </a:solidFill>
                <a:latin typeface="Calibri"/>
                <a:cs typeface="Calibri"/>
              </a:rPr>
              <a:t> </a:t>
            </a:r>
            <a:r>
              <a:rPr sz="2400" b="1" dirty="0">
                <a:solidFill>
                  <a:srgbClr val="D9D9D9"/>
                </a:solidFill>
                <a:latin typeface="Calibri"/>
                <a:cs typeface="Calibri"/>
              </a:rPr>
              <a:t>flexible</a:t>
            </a:r>
            <a:r>
              <a:rPr sz="2400" b="1" spc="-40" dirty="0">
                <a:solidFill>
                  <a:srgbClr val="D9D9D9"/>
                </a:solidFill>
                <a:latin typeface="Calibri"/>
                <a:cs typeface="Calibri"/>
              </a:rPr>
              <a:t> </a:t>
            </a:r>
            <a:r>
              <a:rPr sz="2400" b="1" dirty="0">
                <a:solidFill>
                  <a:srgbClr val="D9D9D9"/>
                </a:solidFill>
                <a:latin typeface="Calibri"/>
                <a:cs typeface="Calibri"/>
              </a:rPr>
              <a:t>&amp;</a:t>
            </a:r>
            <a:r>
              <a:rPr sz="2400" b="1" spc="-13" dirty="0">
                <a:solidFill>
                  <a:srgbClr val="D9D9D9"/>
                </a:solidFill>
                <a:latin typeface="Calibri"/>
                <a:cs typeface="Calibri"/>
              </a:rPr>
              <a:t> useful</a:t>
            </a:r>
            <a:endParaRPr sz="2400">
              <a:latin typeface="Calibri"/>
              <a:cs typeface="Calibri"/>
            </a:endParaRPr>
          </a:p>
          <a:p>
            <a:pPr>
              <a:spcBef>
                <a:spcPts val="1047"/>
              </a:spcBef>
              <a:buClr>
                <a:srgbClr val="99D3FF"/>
              </a:buClr>
              <a:buFont typeface="Wingdings"/>
              <a:buChar char=""/>
            </a:pPr>
            <a:endParaRPr sz="2400">
              <a:latin typeface="Calibri"/>
              <a:cs typeface="Calibri"/>
            </a:endParaRPr>
          </a:p>
          <a:p>
            <a:pPr marL="654457" lvl="1" indent="-380990">
              <a:buClr>
                <a:srgbClr val="99D3FF"/>
              </a:buClr>
              <a:buFont typeface="Wingdings"/>
              <a:buChar char=""/>
              <a:tabLst>
                <a:tab pos="654457" algn="l"/>
              </a:tabLst>
            </a:pPr>
            <a:r>
              <a:rPr sz="2400" b="1" dirty="0">
                <a:solidFill>
                  <a:srgbClr val="D9D9D9"/>
                </a:solidFill>
                <a:latin typeface="Calibri"/>
                <a:cs typeface="Calibri"/>
              </a:rPr>
              <a:t>Most</a:t>
            </a:r>
            <a:r>
              <a:rPr sz="2400" b="1" spc="-27" dirty="0">
                <a:solidFill>
                  <a:srgbClr val="D9D9D9"/>
                </a:solidFill>
                <a:latin typeface="Calibri"/>
                <a:cs typeface="Calibri"/>
              </a:rPr>
              <a:t> </a:t>
            </a:r>
            <a:r>
              <a:rPr sz="2400" b="1" dirty="0">
                <a:solidFill>
                  <a:srgbClr val="D9D9D9"/>
                </a:solidFill>
                <a:latin typeface="Calibri"/>
                <a:cs typeface="Calibri"/>
              </a:rPr>
              <a:t>facts</a:t>
            </a:r>
            <a:r>
              <a:rPr sz="2400" b="1" spc="-13" dirty="0">
                <a:solidFill>
                  <a:srgbClr val="D9D9D9"/>
                </a:solidFill>
                <a:latin typeface="Calibri"/>
                <a:cs typeface="Calibri"/>
              </a:rPr>
              <a:t> </a:t>
            </a:r>
            <a:r>
              <a:rPr sz="2400" b="1" spc="-33" dirty="0">
                <a:solidFill>
                  <a:srgbClr val="D9D9D9"/>
                </a:solidFill>
                <a:latin typeface="Calibri"/>
                <a:cs typeface="Calibri"/>
              </a:rPr>
              <a:t>are</a:t>
            </a:r>
            <a:endParaRPr sz="2400">
              <a:latin typeface="Calibri"/>
              <a:cs typeface="Calibri"/>
            </a:endParaRPr>
          </a:p>
          <a:p>
            <a:pPr marL="655304">
              <a:spcBef>
                <a:spcPts val="1440"/>
              </a:spcBef>
            </a:pPr>
            <a:r>
              <a:rPr sz="2400" b="1" dirty="0">
                <a:solidFill>
                  <a:srgbClr val="D9D9D9"/>
                </a:solidFill>
                <a:latin typeface="Calibri"/>
                <a:cs typeface="Calibri"/>
              </a:rPr>
              <a:t>fully</a:t>
            </a:r>
            <a:r>
              <a:rPr sz="2400" b="1" spc="-40" dirty="0">
                <a:solidFill>
                  <a:srgbClr val="D9D9D9"/>
                </a:solidFill>
                <a:latin typeface="Calibri"/>
                <a:cs typeface="Calibri"/>
              </a:rPr>
              <a:t> </a:t>
            </a:r>
            <a:r>
              <a:rPr sz="2400" b="1" spc="-13" dirty="0">
                <a:solidFill>
                  <a:srgbClr val="D9D9D9"/>
                </a:solidFill>
                <a:latin typeface="Calibri"/>
                <a:cs typeface="Calibri"/>
              </a:rPr>
              <a:t>additive</a:t>
            </a:r>
            <a:endParaRPr sz="2400">
              <a:latin typeface="Calibri"/>
              <a:cs typeface="Calibri"/>
            </a:endParaRPr>
          </a:p>
        </p:txBody>
      </p:sp>
      <p:sp>
        <p:nvSpPr>
          <p:cNvPr id="18" name="object 18"/>
          <p:cNvSpPr txBox="1"/>
          <p:nvPr/>
        </p:nvSpPr>
        <p:spPr>
          <a:xfrm>
            <a:off x="4677834" y="3545840"/>
            <a:ext cx="2495127" cy="1067835"/>
          </a:xfrm>
          <a:prstGeom prst="rect">
            <a:avLst/>
          </a:prstGeom>
        </p:spPr>
        <p:txBody>
          <a:bodyPr vert="horz" wrap="square" lIns="0" tIns="16933" rIns="0" bIns="0" rtlCol="0">
            <a:spAutoFit/>
          </a:bodyPr>
          <a:lstStyle/>
          <a:p>
            <a:pPr marL="397077" marR="6773" indent="-380990">
              <a:lnSpc>
                <a:spcPct val="150100"/>
              </a:lnSpc>
              <a:spcBef>
                <a:spcPts val="133"/>
              </a:spcBef>
              <a:buClr>
                <a:srgbClr val="99D3FF"/>
              </a:buClr>
              <a:buFont typeface="Wingdings"/>
              <a:buChar char=""/>
              <a:tabLst>
                <a:tab pos="398770" algn="l"/>
              </a:tabLst>
            </a:pPr>
            <a:r>
              <a:rPr sz="2400" b="1" dirty="0">
                <a:solidFill>
                  <a:srgbClr val="D9D9D9"/>
                </a:solidFill>
                <a:latin typeface="Calibri"/>
                <a:cs typeface="Calibri"/>
              </a:rPr>
              <a:t>Used</a:t>
            </a:r>
            <a:r>
              <a:rPr sz="2400" b="1" spc="-60" dirty="0">
                <a:solidFill>
                  <a:srgbClr val="D9D9D9"/>
                </a:solidFill>
                <a:latin typeface="Calibri"/>
                <a:cs typeface="Calibri"/>
              </a:rPr>
              <a:t> </a:t>
            </a:r>
            <a:r>
              <a:rPr sz="2400" b="1" dirty="0">
                <a:solidFill>
                  <a:srgbClr val="D9D9D9"/>
                </a:solidFill>
                <a:latin typeface="Calibri"/>
                <a:cs typeface="Calibri"/>
              </a:rPr>
              <a:t>carefully</a:t>
            </a:r>
            <a:r>
              <a:rPr sz="2400" b="1" spc="-40" dirty="0">
                <a:solidFill>
                  <a:srgbClr val="D9D9D9"/>
                </a:solidFill>
                <a:latin typeface="Calibri"/>
                <a:cs typeface="Calibri"/>
              </a:rPr>
              <a:t> </a:t>
            </a:r>
            <a:r>
              <a:rPr sz="2400" b="1" spc="-67" dirty="0">
                <a:solidFill>
                  <a:srgbClr val="D9D9D9"/>
                </a:solidFill>
                <a:latin typeface="Calibri"/>
                <a:cs typeface="Calibri"/>
              </a:rPr>
              <a:t>&amp; 	</a:t>
            </a:r>
            <a:r>
              <a:rPr sz="2400" b="1" dirty="0">
                <a:solidFill>
                  <a:srgbClr val="D9D9D9"/>
                </a:solidFill>
                <a:latin typeface="Calibri"/>
                <a:cs typeface="Calibri"/>
              </a:rPr>
              <a:t>less</a:t>
            </a:r>
            <a:r>
              <a:rPr sz="2400" b="1" spc="-33" dirty="0">
                <a:solidFill>
                  <a:srgbClr val="D9D9D9"/>
                </a:solidFill>
                <a:latin typeface="Calibri"/>
                <a:cs typeface="Calibri"/>
              </a:rPr>
              <a:t> </a:t>
            </a:r>
            <a:r>
              <a:rPr sz="2400" b="1" spc="-13" dirty="0">
                <a:solidFill>
                  <a:srgbClr val="D9D9D9"/>
                </a:solidFill>
                <a:latin typeface="Calibri"/>
                <a:cs typeface="Calibri"/>
              </a:rPr>
              <a:t>flexible</a:t>
            </a:r>
            <a:endParaRPr sz="2400">
              <a:latin typeface="Calibri"/>
              <a:cs typeface="Calibri"/>
            </a:endParaRPr>
          </a:p>
        </p:txBody>
      </p:sp>
      <p:sp>
        <p:nvSpPr>
          <p:cNvPr id="19" name="object 19"/>
          <p:cNvSpPr txBox="1"/>
          <p:nvPr/>
        </p:nvSpPr>
        <p:spPr>
          <a:xfrm>
            <a:off x="8284971" y="3043191"/>
            <a:ext cx="3305387" cy="2299775"/>
          </a:xfrm>
          <a:prstGeom prst="rect">
            <a:avLst/>
          </a:prstGeom>
        </p:spPr>
        <p:txBody>
          <a:bodyPr vert="horz" wrap="square" lIns="0" tIns="16933" rIns="0" bIns="0" rtlCol="0">
            <a:spAutoFit/>
          </a:bodyPr>
          <a:lstStyle/>
          <a:p>
            <a:pPr marL="310719">
              <a:spcBef>
                <a:spcPts val="133"/>
              </a:spcBef>
            </a:pPr>
            <a:r>
              <a:rPr sz="2400" b="1" dirty="0">
                <a:solidFill>
                  <a:srgbClr val="D9D9D9"/>
                </a:solidFill>
                <a:latin typeface="Calibri"/>
                <a:cs typeface="Calibri"/>
              </a:rPr>
              <a:t>across</a:t>
            </a:r>
            <a:r>
              <a:rPr sz="2400" b="1" spc="-33" dirty="0">
                <a:solidFill>
                  <a:srgbClr val="D9D9D9"/>
                </a:solidFill>
                <a:latin typeface="Calibri"/>
                <a:cs typeface="Calibri"/>
              </a:rPr>
              <a:t> </a:t>
            </a:r>
            <a:r>
              <a:rPr sz="2400" b="1" dirty="0">
                <a:solidFill>
                  <a:srgbClr val="D9D9D9"/>
                </a:solidFill>
                <a:latin typeface="Calibri"/>
                <a:cs typeface="Calibri"/>
              </a:rPr>
              <a:t>any</a:t>
            </a:r>
            <a:r>
              <a:rPr sz="2400" b="1" spc="-20" dirty="0">
                <a:solidFill>
                  <a:srgbClr val="D9D9D9"/>
                </a:solidFill>
                <a:latin typeface="Calibri"/>
                <a:cs typeface="Calibri"/>
              </a:rPr>
              <a:t> </a:t>
            </a:r>
            <a:r>
              <a:rPr sz="2400" b="1" spc="-13" dirty="0">
                <a:solidFill>
                  <a:srgbClr val="D9D9D9"/>
                </a:solidFill>
                <a:latin typeface="Calibri"/>
                <a:cs typeface="Calibri"/>
              </a:rPr>
              <a:t>dimension</a:t>
            </a:r>
            <a:endParaRPr sz="2400">
              <a:latin typeface="Calibri"/>
              <a:cs typeface="Calibri"/>
            </a:endParaRPr>
          </a:p>
          <a:p>
            <a:pPr marL="397077" marR="663770" indent="-380990">
              <a:lnSpc>
                <a:spcPct val="150000"/>
              </a:lnSpc>
              <a:spcBef>
                <a:spcPts val="1287"/>
              </a:spcBef>
              <a:buClr>
                <a:srgbClr val="99D3FF"/>
              </a:buClr>
              <a:buFont typeface="Wingdings"/>
              <a:buChar char=""/>
              <a:tabLst>
                <a:tab pos="398770" algn="l"/>
              </a:tabLst>
            </a:pPr>
            <a:r>
              <a:rPr sz="2400" b="1" dirty="0">
                <a:solidFill>
                  <a:srgbClr val="D9D9D9"/>
                </a:solidFill>
                <a:latin typeface="Calibri"/>
                <a:cs typeface="Calibri"/>
              </a:rPr>
              <a:t>Limited</a:t>
            </a:r>
            <a:r>
              <a:rPr sz="2400" b="1" spc="-73" dirty="0">
                <a:solidFill>
                  <a:srgbClr val="D9D9D9"/>
                </a:solidFill>
                <a:latin typeface="Calibri"/>
                <a:cs typeface="Calibri"/>
              </a:rPr>
              <a:t> </a:t>
            </a:r>
            <a:r>
              <a:rPr sz="2400" b="1" spc="-13" dirty="0">
                <a:solidFill>
                  <a:srgbClr val="D9D9D9"/>
                </a:solidFill>
                <a:latin typeface="Calibri"/>
                <a:cs typeface="Calibri"/>
              </a:rPr>
              <a:t>analytical 	value</a:t>
            </a:r>
            <a:endParaRPr sz="2400">
              <a:latin typeface="Calibri"/>
              <a:cs typeface="Calibri"/>
            </a:endParaRPr>
          </a:p>
          <a:p>
            <a:pPr marL="439409" indent="-380990">
              <a:spcBef>
                <a:spcPts val="2113"/>
              </a:spcBef>
              <a:buClr>
                <a:srgbClr val="99D3FF"/>
              </a:buClr>
              <a:buFont typeface="Wingdings"/>
              <a:buChar char=""/>
              <a:tabLst>
                <a:tab pos="439409" algn="l"/>
              </a:tabLst>
            </a:pPr>
            <a:r>
              <a:rPr sz="2400" b="1" dirty="0">
                <a:solidFill>
                  <a:srgbClr val="D9D9D9"/>
                </a:solidFill>
                <a:latin typeface="Calibri"/>
                <a:cs typeface="Calibri"/>
              </a:rPr>
              <a:t>Store</a:t>
            </a:r>
            <a:r>
              <a:rPr sz="2400" b="1" spc="-53" dirty="0">
                <a:solidFill>
                  <a:srgbClr val="D9D9D9"/>
                </a:solidFill>
                <a:latin typeface="Calibri"/>
                <a:cs typeface="Calibri"/>
              </a:rPr>
              <a:t> </a:t>
            </a:r>
            <a:r>
              <a:rPr sz="2400" b="1" dirty="0">
                <a:solidFill>
                  <a:srgbClr val="D9D9D9"/>
                </a:solidFill>
                <a:latin typeface="Calibri"/>
                <a:cs typeface="Calibri"/>
              </a:rPr>
              <a:t>underlying</a:t>
            </a:r>
            <a:r>
              <a:rPr sz="2400" b="1" spc="-67" dirty="0">
                <a:solidFill>
                  <a:srgbClr val="D9D9D9"/>
                </a:solidFill>
                <a:latin typeface="Calibri"/>
                <a:cs typeface="Calibri"/>
              </a:rPr>
              <a:t> </a:t>
            </a:r>
            <a:r>
              <a:rPr sz="2400" b="1" spc="-13" dirty="0">
                <a:solidFill>
                  <a:srgbClr val="D9D9D9"/>
                </a:solidFill>
                <a:latin typeface="Calibri"/>
                <a:cs typeface="Calibri"/>
              </a:rPr>
              <a:t>value</a:t>
            </a:r>
            <a:endParaRPr sz="2400">
              <a:latin typeface="Calibri"/>
              <a:cs typeface="Calibri"/>
            </a:endParaRPr>
          </a:p>
        </p:txBody>
      </p:sp>
      <p:sp>
        <p:nvSpPr>
          <p:cNvPr id="20" name="object 20"/>
          <p:cNvSpPr txBox="1"/>
          <p:nvPr/>
        </p:nvSpPr>
        <p:spPr>
          <a:xfrm>
            <a:off x="8369469" y="5610894"/>
            <a:ext cx="273472" cy="386430"/>
          </a:xfrm>
          <a:prstGeom prst="rect">
            <a:avLst/>
          </a:prstGeom>
        </p:spPr>
        <p:txBody>
          <a:bodyPr vert="horz" wrap="square" lIns="0" tIns="16933" rIns="0" bIns="0" rtlCol="0">
            <a:spAutoFit/>
          </a:bodyPr>
          <a:lstStyle/>
          <a:p>
            <a:pPr marL="16933">
              <a:spcBef>
                <a:spcPts val="133"/>
              </a:spcBef>
            </a:pPr>
            <a:r>
              <a:rPr sz="2400" spc="-67" dirty="0">
                <a:solidFill>
                  <a:srgbClr val="99D3FF"/>
                </a:solidFill>
                <a:latin typeface="Wingdings"/>
                <a:cs typeface="Wingdings"/>
              </a:rPr>
              <a:t></a:t>
            </a:r>
            <a:endParaRPr sz="2400">
              <a:latin typeface="Wingdings"/>
              <a:cs typeface="Wingdings"/>
            </a:endParaRPr>
          </a:p>
        </p:txBody>
      </p:sp>
      <p:sp>
        <p:nvSpPr>
          <p:cNvPr id="21" name="object 21"/>
          <p:cNvSpPr txBox="1"/>
          <p:nvPr/>
        </p:nvSpPr>
        <p:spPr>
          <a:xfrm>
            <a:off x="8767063" y="5638445"/>
            <a:ext cx="1977813" cy="359073"/>
          </a:xfrm>
          <a:prstGeom prst="rect">
            <a:avLst/>
          </a:prstGeom>
          <a:solidFill>
            <a:srgbClr val="808080"/>
          </a:solidFill>
        </p:spPr>
        <p:txBody>
          <a:bodyPr vert="horz" wrap="square" lIns="0" tIns="0" rIns="0" bIns="0" rtlCol="0">
            <a:spAutoFit/>
          </a:bodyPr>
          <a:lstStyle/>
          <a:p>
            <a:pPr marL="847">
              <a:lnSpc>
                <a:spcPts val="2793"/>
              </a:lnSpc>
            </a:pPr>
            <a:r>
              <a:rPr sz="2400" b="1" dirty="0">
                <a:solidFill>
                  <a:srgbClr val="D9D9D9"/>
                </a:solidFill>
                <a:latin typeface="Calibri"/>
                <a:cs typeface="Calibri"/>
              </a:rPr>
              <a:t>Ratio,</a:t>
            </a:r>
            <a:r>
              <a:rPr sz="2400" b="1" spc="-33" dirty="0">
                <a:solidFill>
                  <a:srgbClr val="D9D9D9"/>
                </a:solidFill>
                <a:latin typeface="Calibri"/>
                <a:cs typeface="Calibri"/>
              </a:rPr>
              <a:t> </a:t>
            </a:r>
            <a:r>
              <a:rPr sz="2400" b="1" dirty="0">
                <a:solidFill>
                  <a:srgbClr val="D9D9D9"/>
                </a:solidFill>
                <a:latin typeface="Calibri"/>
                <a:cs typeface="Calibri"/>
              </a:rPr>
              <a:t>price</a:t>
            </a:r>
            <a:r>
              <a:rPr sz="2400" b="1" spc="-40" dirty="0">
                <a:solidFill>
                  <a:srgbClr val="D9D9D9"/>
                </a:solidFill>
                <a:latin typeface="Calibri"/>
                <a:cs typeface="Calibri"/>
              </a:rPr>
              <a:t> </a:t>
            </a:r>
            <a:r>
              <a:rPr sz="2400" b="1" spc="-27" dirty="0">
                <a:solidFill>
                  <a:srgbClr val="D9D9D9"/>
                </a:solidFill>
                <a:latin typeface="Calibri"/>
                <a:cs typeface="Calibri"/>
              </a:rPr>
              <a:t>etc.</a:t>
            </a:r>
            <a:endParaRPr sz="2400">
              <a:latin typeface="Calibri"/>
              <a:cs typeface="Calibri"/>
            </a:endParaRPr>
          </a:p>
        </p:txBody>
      </p:sp>
      <p:sp>
        <p:nvSpPr>
          <p:cNvPr id="22" name="object 22"/>
          <p:cNvSpPr txBox="1"/>
          <p:nvPr/>
        </p:nvSpPr>
        <p:spPr>
          <a:xfrm>
            <a:off x="4677834" y="4973251"/>
            <a:ext cx="2871047"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Averaging</a:t>
            </a:r>
            <a:r>
              <a:rPr sz="2400" b="1" spc="-73" dirty="0">
                <a:solidFill>
                  <a:srgbClr val="D9D9D9"/>
                </a:solidFill>
                <a:latin typeface="Calibri"/>
                <a:cs typeface="Calibri"/>
              </a:rPr>
              <a:t> </a:t>
            </a:r>
            <a:r>
              <a:rPr sz="2400" b="1" dirty="0">
                <a:solidFill>
                  <a:srgbClr val="D9D9D9"/>
                </a:solidFill>
                <a:latin typeface="Calibri"/>
                <a:cs typeface="Calibri"/>
              </a:rPr>
              <a:t>might</a:t>
            </a:r>
            <a:r>
              <a:rPr sz="2400" b="1" spc="-40" dirty="0">
                <a:solidFill>
                  <a:srgbClr val="D9D9D9"/>
                </a:solidFill>
                <a:latin typeface="Calibri"/>
                <a:cs typeface="Calibri"/>
              </a:rPr>
              <a:t> </a:t>
            </a:r>
            <a:r>
              <a:rPr sz="2400" b="1" spc="-33" dirty="0">
                <a:solidFill>
                  <a:srgbClr val="D9D9D9"/>
                </a:solidFill>
                <a:latin typeface="Calibri"/>
                <a:cs typeface="Calibri"/>
              </a:rPr>
              <a:t>be</a:t>
            </a:r>
            <a:endParaRPr sz="2400">
              <a:latin typeface="Calibri"/>
              <a:cs typeface="Calibri"/>
            </a:endParaRPr>
          </a:p>
        </p:txBody>
      </p:sp>
      <p:sp>
        <p:nvSpPr>
          <p:cNvPr id="23" name="object 23"/>
          <p:cNvSpPr txBox="1"/>
          <p:nvPr/>
        </p:nvSpPr>
        <p:spPr>
          <a:xfrm>
            <a:off x="5075937" y="5549527"/>
            <a:ext cx="1770380" cy="359073"/>
          </a:xfrm>
          <a:prstGeom prst="rect">
            <a:avLst/>
          </a:prstGeom>
          <a:solidFill>
            <a:srgbClr val="25519E"/>
          </a:solidFill>
        </p:spPr>
        <p:txBody>
          <a:bodyPr vert="horz" wrap="square" lIns="0" tIns="0" rIns="0" bIns="0" rtlCol="0">
            <a:spAutoFit/>
          </a:bodyPr>
          <a:lstStyle/>
          <a:p>
            <a:pPr marL="847">
              <a:lnSpc>
                <a:spcPts val="2793"/>
              </a:lnSpc>
            </a:pPr>
            <a:r>
              <a:rPr sz="2400" b="1" dirty="0">
                <a:solidFill>
                  <a:srgbClr val="D9D9D9"/>
                </a:solidFill>
                <a:latin typeface="Calibri"/>
                <a:cs typeface="Calibri"/>
              </a:rPr>
              <a:t>an </a:t>
            </a:r>
            <a:r>
              <a:rPr sz="2400" b="1" spc="-13" dirty="0">
                <a:solidFill>
                  <a:srgbClr val="D9D9D9"/>
                </a:solidFill>
                <a:latin typeface="Calibri"/>
                <a:cs typeface="Calibri"/>
              </a:rPr>
              <a:t>alternative</a:t>
            </a:r>
            <a:endParaRPr sz="2400">
              <a:latin typeface="Calibri"/>
              <a:cs typeface="Calibri"/>
            </a:endParaRPr>
          </a:p>
        </p:txBody>
      </p:sp>
      <p:sp>
        <p:nvSpPr>
          <p:cNvPr id="24" name="object 24"/>
          <p:cNvSpPr txBox="1"/>
          <p:nvPr/>
        </p:nvSpPr>
        <p:spPr>
          <a:xfrm>
            <a:off x="4815161" y="6144090"/>
            <a:ext cx="273472" cy="386430"/>
          </a:xfrm>
          <a:prstGeom prst="rect">
            <a:avLst/>
          </a:prstGeom>
        </p:spPr>
        <p:txBody>
          <a:bodyPr vert="horz" wrap="square" lIns="0" tIns="16933" rIns="0" bIns="0" rtlCol="0">
            <a:spAutoFit/>
          </a:bodyPr>
          <a:lstStyle/>
          <a:p>
            <a:pPr marL="16933">
              <a:spcBef>
                <a:spcPts val="133"/>
              </a:spcBef>
            </a:pPr>
            <a:r>
              <a:rPr sz="2400" spc="-67" dirty="0">
                <a:solidFill>
                  <a:srgbClr val="99D3FF"/>
                </a:solidFill>
                <a:latin typeface="Wingdings"/>
                <a:cs typeface="Wingdings"/>
              </a:rPr>
              <a:t></a:t>
            </a:r>
            <a:endParaRPr sz="2400">
              <a:latin typeface="Wingdings"/>
              <a:cs typeface="Wingdings"/>
            </a:endParaRPr>
          </a:p>
        </p:txBody>
      </p:sp>
      <p:sp>
        <p:nvSpPr>
          <p:cNvPr id="25" name="object 25"/>
          <p:cNvSpPr txBox="1"/>
          <p:nvPr/>
        </p:nvSpPr>
        <p:spPr>
          <a:xfrm>
            <a:off x="5213435" y="6171354"/>
            <a:ext cx="2240280" cy="359073"/>
          </a:xfrm>
          <a:prstGeom prst="rect">
            <a:avLst/>
          </a:prstGeom>
          <a:solidFill>
            <a:srgbClr val="808080"/>
          </a:solidFill>
        </p:spPr>
        <p:txBody>
          <a:bodyPr vert="horz" wrap="square" lIns="0" tIns="0" rIns="0" bIns="0" rtlCol="0">
            <a:spAutoFit/>
          </a:bodyPr>
          <a:lstStyle/>
          <a:p>
            <a:pPr>
              <a:lnSpc>
                <a:spcPts val="2800"/>
              </a:lnSpc>
            </a:pPr>
            <a:r>
              <a:rPr sz="2400" b="1" dirty="0">
                <a:solidFill>
                  <a:srgbClr val="D9D9D9"/>
                </a:solidFill>
                <a:latin typeface="Calibri"/>
                <a:cs typeface="Calibri"/>
              </a:rPr>
              <a:t>Example:</a:t>
            </a:r>
            <a:r>
              <a:rPr sz="2400" b="1" spc="-40" dirty="0">
                <a:solidFill>
                  <a:srgbClr val="D9D9D9"/>
                </a:solidFill>
                <a:latin typeface="Calibri"/>
                <a:cs typeface="Calibri"/>
              </a:rPr>
              <a:t> </a:t>
            </a:r>
            <a:r>
              <a:rPr sz="2400" b="1" spc="-13" dirty="0">
                <a:solidFill>
                  <a:srgbClr val="D9D9D9"/>
                </a:solidFill>
                <a:latin typeface="Calibri"/>
                <a:cs typeface="Calibri"/>
              </a:rPr>
              <a:t>Balance</a:t>
            </a:r>
            <a:endParaRPr sz="2400">
              <a:latin typeface="Calibri"/>
              <a:cs typeface="Calibri"/>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57807" y="2279903"/>
            <a:ext cx="9930384" cy="1702816"/>
          </a:xfrm>
          <a:prstGeom prst="rect">
            <a:avLst/>
          </a:prstGeom>
        </p:spPr>
      </p:pic>
      <p:sp>
        <p:nvSpPr>
          <p:cNvPr id="3" name="object 3"/>
          <p:cNvSpPr txBox="1">
            <a:spLocks noGrp="1"/>
          </p:cNvSpPr>
          <p:nvPr>
            <p:ph type="title"/>
          </p:nvPr>
        </p:nvSpPr>
        <p:spPr>
          <a:xfrm>
            <a:off x="1320800" y="2579973"/>
            <a:ext cx="9811173" cy="1048150"/>
          </a:xfrm>
          <a:prstGeom prst="rect">
            <a:avLst/>
          </a:prstGeom>
          <a:noFill/>
          <a:ln w="9144">
            <a:noFill/>
          </a:ln>
        </p:spPr>
        <p:txBody>
          <a:bodyPr vert="horz" wrap="square" lIns="0" tIns="306493" rIns="0" bIns="0" rtlCol="0" anchor="ctr">
            <a:spAutoFit/>
          </a:bodyPr>
          <a:lstStyle/>
          <a:p>
            <a:pPr marL="1693" algn="ctr">
              <a:lnSpc>
                <a:spcPct val="100000"/>
              </a:lnSpc>
              <a:spcBef>
                <a:spcPts val="2413"/>
              </a:spcBef>
            </a:pPr>
            <a:r>
              <a:rPr sz="4800" spc="-13" dirty="0">
                <a:solidFill>
                  <a:schemeClr val="bg1"/>
                </a:solidFill>
                <a:latin typeface="+mn-lt"/>
              </a:rPr>
              <a:t>Year-to-</a:t>
            </a:r>
            <a:r>
              <a:rPr sz="4800" dirty="0">
                <a:solidFill>
                  <a:schemeClr val="bg1"/>
                </a:solidFill>
                <a:latin typeface="+mn-lt"/>
              </a:rPr>
              <a:t>Date</a:t>
            </a:r>
            <a:r>
              <a:rPr sz="4800" spc="33" dirty="0">
                <a:solidFill>
                  <a:schemeClr val="bg1"/>
                </a:solidFill>
                <a:latin typeface="+mn-lt"/>
              </a:rPr>
              <a:t> </a:t>
            </a:r>
            <a:r>
              <a:rPr sz="4800" spc="-13" dirty="0">
                <a:solidFill>
                  <a:schemeClr val="bg1"/>
                </a:solidFill>
                <a:latin typeface="+mn-lt"/>
              </a:rPr>
              <a:t>facts</a:t>
            </a:r>
            <a:endParaRPr sz="4800">
              <a:solidFill>
                <a:schemeClr val="bg1"/>
              </a:solidFill>
              <a:latin typeface="+mn-lt"/>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8781" y="323075"/>
            <a:ext cx="8554720" cy="695062"/>
          </a:xfrm>
          <a:prstGeom prst="rect">
            <a:avLst/>
          </a:prstGeom>
        </p:spPr>
        <p:txBody>
          <a:bodyPr vert="horz" wrap="square" lIns="0" tIns="17780" rIns="0" bIns="0" rtlCol="0" anchor="ctr">
            <a:spAutoFit/>
          </a:bodyPr>
          <a:lstStyle/>
          <a:p>
            <a:pPr marL="1705144" algn="ctr">
              <a:lnSpc>
                <a:spcPct val="100000"/>
              </a:lnSpc>
              <a:spcBef>
                <a:spcPts val="140"/>
              </a:spcBef>
            </a:pPr>
            <a:r>
              <a:rPr spc="-13" dirty="0">
                <a:solidFill>
                  <a:schemeClr val="bg1"/>
                </a:solidFill>
                <a:latin typeface="+mn-lt"/>
              </a:rPr>
              <a:t>Year-to-</a:t>
            </a:r>
            <a:r>
              <a:rPr dirty="0">
                <a:solidFill>
                  <a:schemeClr val="bg1"/>
                </a:solidFill>
                <a:latin typeface="+mn-lt"/>
              </a:rPr>
              <a:t>Date</a:t>
            </a:r>
            <a:r>
              <a:rPr spc="-33" dirty="0">
                <a:solidFill>
                  <a:schemeClr val="bg1"/>
                </a:solidFill>
                <a:latin typeface="+mn-lt"/>
              </a:rPr>
              <a:t> </a:t>
            </a:r>
            <a:r>
              <a:rPr spc="-13" dirty="0">
                <a:solidFill>
                  <a:schemeClr val="bg1"/>
                </a:solidFill>
                <a:latin typeface="+mn-lt"/>
              </a:rPr>
              <a:t>facts</a:t>
            </a:r>
          </a:p>
        </p:txBody>
      </p:sp>
      <p:sp>
        <p:nvSpPr>
          <p:cNvPr id="3" name="object 3"/>
          <p:cNvSpPr txBox="1"/>
          <p:nvPr/>
        </p:nvSpPr>
        <p:spPr>
          <a:xfrm>
            <a:off x="3296072" y="1854201"/>
            <a:ext cx="7630160" cy="3828398"/>
          </a:xfrm>
          <a:prstGeom prst="rect">
            <a:avLst/>
          </a:prstGeom>
        </p:spPr>
        <p:txBody>
          <a:bodyPr vert="horz" wrap="square" lIns="0" tIns="16933" rIns="0" bIns="0" rtlCol="0">
            <a:spAutoFit/>
          </a:bodyPr>
          <a:lstStyle/>
          <a:p>
            <a:pPr marL="458035" indent="-380990">
              <a:spcBef>
                <a:spcPts val="133"/>
              </a:spcBef>
              <a:buClr>
                <a:srgbClr val="99D3FF"/>
              </a:buClr>
              <a:buFont typeface="Wingdings"/>
              <a:buChar char=""/>
              <a:tabLst>
                <a:tab pos="458035" algn="l"/>
              </a:tabLst>
            </a:pPr>
            <a:r>
              <a:rPr sz="2400" b="1" dirty="0">
                <a:solidFill>
                  <a:srgbClr val="D9D9D9"/>
                </a:solidFill>
                <a:latin typeface="Calibri"/>
                <a:cs typeface="Calibri"/>
              </a:rPr>
              <a:t>Often</a:t>
            </a:r>
            <a:r>
              <a:rPr sz="2400" b="1" spc="-33" dirty="0">
                <a:solidFill>
                  <a:srgbClr val="D9D9D9"/>
                </a:solidFill>
                <a:latin typeface="Calibri"/>
                <a:cs typeface="Calibri"/>
              </a:rPr>
              <a:t> </a:t>
            </a:r>
            <a:r>
              <a:rPr sz="2400" b="1" dirty="0">
                <a:solidFill>
                  <a:srgbClr val="D9D9D9"/>
                </a:solidFill>
                <a:latin typeface="Calibri"/>
                <a:cs typeface="Calibri"/>
              </a:rPr>
              <a:t>requested</a:t>
            </a:r>
            <a:r>
              <a:rPr sz="2400" b="1" spc="-87" dirty="0">
                <a:solidFill>
                  <a:srgbClr val="D9D9D9"/>
                </a:solidFill>
                <a:latin typeface="Calibri"/>
                <a:cs typeface="Calibri"/>
              </a:rPr>
              <a:t> </a:t>
            </a:r>
            <a:r>
              <a:rPr sz="2400" b="1" dirty="0">
                <a:solidFill>
                  <a:srgbClr val="D9D9D9"/>
                </a:solidFill>
                <a:latin typeface="Calibri"/>
                <a:cs typeface="Calibri"/>
              </a:rPr>
              <a:t>by</a:t>
            </a:r>
            <a:r>
              <a:rPr sz="2400" b="1" spc="-27" dirty="0">
                <a:solidFill>
                  <a:srgbClr val="D9D9D9"/>
                </a:solidFill>
                <a:latin typeface="Calibri"/>
                <a:cs typeface="Calibri"/>
              </a:rPr>
              <a:t> </a:t>
            </a:r>
            <a:r>
              <a:rPr sz="2400" b="1" dirty="0">
                <a:solidFill>
                  <a:srgbClr val="D9D9D9"/>
                </a:solidFill>
                <a:latin typeface="Calibri"/>
                <a:cs typeface="Calibri"/>
              </a:rPr>
              <a:t>business</a:t>
            </a:r>
            <a:r>
              <a:rPr sz="2400" b="1" spc="-73" dirty="0">
                <a:solidFill>
                  <a:srgbClr val="D9D9D9"/>
                </a:solidFill>
                <a:latin typeface="Calibri"/>
                <a:cs typeface="Calibri"/>
              </a:rPr>
              <a:t> </a:t>
            </a:r>
            <a:r>
              <a:rPr sz="2400" b="1" spc="-27" dirty="0">
                <a:solidFill>
                  <a:srgbClr val="D9D9D9"/>
                </a:solidFill>
                <a:latin typeface="Calibri"/>
                <a:cs typeface="Calibri"/>
              </a:rPr>
              <a:t>users</a:t>
            </a:r>
            <a:endParaRPr sz="2400" dirty="0">
              <a:latin typeface="Calibri"/>
              <a:cs typeface="Calibri"/>
            </a:endParaRPr>
          </a:p>
          <a:p>
            <a:pPr>
              <a:spcBef>
                <a:spcPts val="940"/>
              </a:spcBef>
              <a:buClr>
                <a:srgbClr val="99D3FF"/>
              </a:buClr>
              <a:buFont typeface="Wingdings"/>
              <a:buChar char=""/>
            </a:pPr>
            <a:endParaRPr sz="2400" dirty="0">
              <a:latin typeface="Calibri"/>
              <a:cs typeface="Calibri"/>
            </a:endParaRPr>
          </a:p>
          <a:p>
            <a:pPr marL="425016" indent="-380990">
              <a:buClr>
                <a:srgbClr val="99D3FF"/>
              </a:buClr>
              <a:buFont typeface="Wingdings"/>
              <a:buChar char=""/>
              <a:tabLst>
                <a:tab pos="425016" algn="l"/>
              </a:tabLst>
            </a:pPr>
            <a:r>
              <a:rPr sz="2400" b="1" dirty="0">
                <a:solidFill>
                  <a:srgbClr val="D9D9D9"/>
                </a:solidFill>
                <a:latin typeface="Calibri"/>
                <a:cs typeface="Calibri"/>
              </a:rPr>
              <a:t>Tempted to</a:t>
            </a:r>
            <a:r>
              <a:rPr sz="2400" b="1" spc="-40" dirty="0">
                <a:solidFill>
                  <a:srgbClr val="D9D9D9"/>
                </a:solidFill>
                <a:latin typeface="Calibri"/>
                <a:cs typeface="Calibri"/>
              </a:rPr>
              <a:t> </a:t>
            </a:r>
            <a:r>
              <a:rPr sz="2400" b="1" dirty="0">
                <a:solidFill>
                  <a:srgbClr val="D9D9D9"/>
                </a:solidFill>
                <a:latin typeface="Calibri"/>
                <a:cs typeface="Calibri"/>
              </a:rPr>
              <a:t>store them</a:t>
            </a:r>
            <a:r>
              <a:rPr sz="2400" b="1" spc="-33" dirty="0">
                <a:solidFill>
                  <a:srgbClr val="D9D9D9"/>
                </a:solidFill>
                <a:latin typeface="Calibri"/>
                <a:cs typeface="Calibri"/>
              </a:rPr>
              <a:t> </a:t>
            </a:r>
            <a:r>
              <a:rPr sz="2400" b="1" dirty="0">
                <a:solidFill>
                  <a:srgbClr val="D9D9D9"/>
                </a:solidFill>
                <a:latin typeface="Calibri"/>
                <a:cs typeface="Calibri"/>
              </a:rPr>
              <a:t>in </a:t>
            </a:r>
            <a:r>
              <a:rPr sz="2400" b="1" spc="-13" dirty="0">
                <a:solidFill>
                  <a:srgbClr val="D9D9D9"/>
                </a:solidFill>
                <a:latin typeface="Calibri"/>
                <a:cs typeface="Calibri"/>
              </a:rPr>
              <a:t>columns</a:t>
            </a:r>
            <a:endParaRPr sz="2400" dirty="0">
              <a:latin typeface="Calibri"/>
              <a:cs typeface="Calibri"/>
            </a:endParaRPr>
          </a:p>
          <a:p>
            <a:pPr>
              <a:spcBef>
                <a:spcPts val="1007"/>
              </a:spcBef>
              <a:buClr>
                <a:srgbClr val="99D3FF"/>
              </a:buClr>
              <a:buFont typeface="Wingdings"/>
              <a:buChar char=""/>
            </a:pPr>
            <a:endParaRPr sz="2400" dirty="0">
              <a:latin typeface="Calibri"/>
              <a:cs typeface="Calibri"/>
            </a:endParaRPr>
          </a:p>
          <a:p>
            <a:pPr marL="397923" indent="-380990">
              <a:buClr>
                <a:srgbClr val="99D3FF"/>
              </a:buClr>
              <a:buFont typeface="Wingdings"/>
              <a:buChar char=""/>
              <a:tabLst>
                <a:tab pos="397923" algn="l"/>
              </a:tabLst>
            </a:pPr>
            <a:r>
              <a:rPr sz="2400" b="1" dirty="0">
                <a:solidFill>
                  <a:srgbClr val="D9D9D9"/>
                </a:solidFill>
                <a:latin typeface="Calibri"/>
                <a:cs typeface="Calibri"/>
              </a:rPr>
              <a:t>Month-to-Date,</a:t>
            </a:r>
            <a:r>
              <a:rPr sz="2400" b="1" spc="27" dirty="0">
                <a:solidFill>
                  <a:srgbClr val="D9D9D9"/>
                </a:solidFill>
                <a:latin typeface="Calibri"/>
                <a:cs typeface="Calibri"/>
              </a:rPr>
              <a:t> </a:t>
            </a:r>
            <a:r>
              <a:rPr sz="2400" b="1" spc="-13" dirty="0">
                <a:solidFill>
                  <a:srgbClr val="D9D9D9"/>
                </a:solidFill>
                <a:latin typeface="Calibri"/>
                <a:cs typeface="Calibri"/>
              </a:rPr>
              <a:t>Quarter-to-</a:t>
            </a:r>
            <a:r>
              <a:rPr sz="2400" b="1" dirty="0">
                <a:solidFill>
                  <a:srgbClr val="D9D9D9"/>
                </a:solidFill>
                <a:latin typeface="Calibri"/>
                <a:cs typeface="Calibri"/>
              </a:rPr>
              <a:t>Date,</a:t>
            </a:r>
            <a:r>
              <a:rPr sz="2400" b="1" spc="-13" dirty="0">
                <a:solidFill>
                  <a:srgbClr val="D9D9D9"/>
                </a:solidFill>
                <a:latin typeface="Calibri"/>
                <a:cs typeface="Calibri"/>
              </a:rPr>
              <a:t> Fiscal-Year-</a:t>
            </a:r>
            <a:r>
              <a:rPr sz="2400" b="1" dirty="0">
                <a:solidFill>
                  <a:srgbClr val="D9D9D9"/>
                </a:solidFill>
                <a:latin typeface="Calibri"/>
                <a:cs typeface="Calibri"/>
              </a:rPr>
              <a:t>to-Date</a:t>
            </a:r>
            <a:r>
              <a:rPr sz="2400" b="1" spc="33" dirty="0">
                <a:solidFill>
                  <a:srgbClr val="D9D9D9"/>
                </a:solidFill>
                <a:latin typeface="Calibri"/>
                <a:cs typeface="Calibri"/>
              </a:rPr>
              <a:t> </a:t>
            </a:r>
            <a:r>
              <a:rPr sz="2400" b="1" spc="-27" dirty="0">
                <a:solidFill>
                  <a:srgbClr val="D9D9D9"/>
                </a:solidFill>
                <a:latin typeface="Calibri"/>
                <a:cs typeface="Calibri"/>
              </a:rPr>
              <a:t>etc.</a:t>
            </a:r>
            <a:endParaRPr sz="2400" dirty="0">
              <a:latin typeface="Calibri"/>
              <a:cs typeface="Calibri"/>
            </a:endParaRPr>
          </a:p>
          <a:p>
            <a:pPr>
              <a:spcBef>
                <a:spcPts val="980"/>
              </a:spcBef>
              <a:buClr>
                <a:srgbClr val="99D3FF"/>
              </a:buClr>
              <a:buFont typeface="Wingdings"/>
              <a:buChar char=""/>
            </a:pPr>
            <a:endParaRPr sz="2400" dirty="0">
              <a:latin typeface="Calibri"/>
              <a:cs typeface="Calibri"/>
            </a:endParaRPr>
          </a:p>
          <a:p>
            <a:pPr marL="425016" indent="-380990">
              <a:buClr>
                <a:srgbClr val="99D3FF"/>
              </a:buClr>
              <a:buFont typeface="Wingdings"/>
              <a:buChar char=""/>
              <a:tabLst>
                <a:tab pos="425016" algn="l"/>
              </a:tabLst>
            </a:pPr>
            <a:r>
              <a:rPr sz="2400" b="1" dirty="0">
                <a:solidFill>
                  <a:srgbClr val="D9D9D9"/>
                </a:solidFill>
                <a:latin typeface="Calibri"/>
                <a:cs typeface="Calibri"/>
              </a:rPr>
              <a:t>Better</a:t>
            </a:r>
            <a:r>
              <a:rPr sz="2400" b="1" spc="-20" dirty="0">
                <a:solidFill>
                  <a:srgbClr val="D9D9D9"/>
                </a:solidFill>
                <a:latin typeface="Calibri"/>
                <a:cs typeface="Calibri"/>
              </a:rPr>
              <a:t> </a:t>
            </a:r>
            <a:r>
              <a:rPr sz="2400" b="1" dirty="0">
                <a:solidFill>
                  <a:srgbClr val="D9D9D9"/>
                </a:solidFill>
                <a:latin typeface="Calibri"/>
                <a:cs typeface="Calibri"/>
              </a:rPr>
              <a:t>store</a:t>
            </a:r>
            <a:r>
              <a:rPr sz="2400" b="1" spc="-27" dirty="0">
                <a:solidFill>
                  <a:srgbClr val="D9D9D9"/>
                </a:solidFill>
                <a:latin typeface="Calibri"/>
                <a:cs typeface="Calibri"/>
              </a:rPr>
              <a:t> </a:t>
            </a:r>
            <a:r>
              <a:rPr sz="2400" b="1" dirty="0">
                <a:solidFill>
                  <a:srgbClr val="D9D9D9"/>
                </a:solidFill>
                <a:latin typeface="Calibri"/>
                <a:cs typeface="Calibri"/>
              </a:rPr>
              <a:t>the</a:t>
            </a:r>
            <a:r>
              <a:rPr sz="2400" b="1" spc="-7" dirty="0">
                <a:solidFill>
                  <a:srgbClr val="D9D9D9"/>
                </a:solidFill>
                <a:latin typeface="Calibri"/>
                <a:cs typeface="Calibri"/>
              </a:rPr>
              <a:t> </a:t>
            </a:r>
            <a:r>
              <a:rPr sz="2400" b="1" dirty="0">
                <a:solidFill>
                  <a:srgbClr val="D9D9D9"/>
                </a:solidFill>
                <a:latin typeface="Calibri"/>
                <a:cs typeface="Calibri"/>
              </a:rPr>
              <a:t>underlying</a:t>
            </a:r>
            <a:r>
              <a:rPr sz="2400" b="1" spc="-20" dirty="0">
                <a:solidFill>
                  <a:srgbClr val="D9D9D9"/>
                </a:solidFill>
                <a:latin typeface="Calibri"/>
                <a:cs typeface="Calibri"/>
              </a:rPr>
              <a:t> </a:t>
            </a:r>
            <a:r>
              <a:rPr sz="2400" b="1" dirty="0">
                <a:solidFill>
                  <a:srgbClr val="D9D9D9"/>
                </a:solidFill>
                <a:latin typeface="Calibri"/>
                <a:cs typeface="Calibri"/>
              </a:rPr>
              <a:t>values</a:t>
            </a:r>
            <a:r>
              <a:rPr sz="2400" b="1" spc="-47" dirty="0">
                <a:solidFill>
                  <a:srgbClr val="D9D9D9"/>
                </a:solidFill>
                <a:latin typeface="Calibri"/>
                <a:cs typeface="Calibri"/>
              </a:rPr>
              <a:t> </a:t>
            </a:r>
            <a:r>
              <a:rPr sz="2400" b="1" dirty="0">
                <a:solidFill>
                  <a:srgbClr val="D9D9D9"/>
                </a:solidFill>
                <a:latin typeface="Calibri"/>
                <a:cs typeface="Calibri"/>
              </a:rPr>
              <a:t>in</a:t>
            </a:r>
            <a:r>
              <a:rPr sz="2400" b="1" spc="-7" dirty="0">
                <a:solidFill>
                  <a:srgbClr val="D9D9D9"/>
                </a:solidFill>
                <a:latin typeface="Calibri"/>
                <a:cs typeface="Calibri"/>
              </a:rPr>
              <a:t> </a:t>
            </a:r>
            <a:r>
              <a:rPr sz="2400" b="1" dirty="0">
                <a:solidFill>
                  <a:srgbClr val="D9D9D9"/>
                </a:solidFill>
                <a:latin typeface="Calibri"/>
                <a:cs typeface="Calibri"/>
              </a:rPr>
              <a:t>defined</a:t>
            </a:r>
            <a:r>
              <a:rPr sz="2400" b="1" spc="-53" dirty="0">
                <a:solidFill>
                  <a:srgbClr val="D9D9D9"/>
                </a:solidFill>
                <a:latin typeface="Calibri"/>
                <a:cs typeface="Calibri"/>
              </a:rPr>
              <a:t> </a:t>
            </a:r>
            <a:r>
              <a:rPr sz="2400" b="1" dirty="0">
                <a:solidFill>
                  <a:srgbClr val="D9D9D9"/>
                </a:solidFill>
                <a:latin typeface="Calibri"/>
                <a:cs typeface="Calibri"/>
              </a:rPr>
              <a:t>grain</a:t>
            </a:r>
            <a:r>
              <a:rPr sz="2400" b="1" spc="-7" dirty="0">
                <a:solidFill>
                  <a:srgbClr val="D9D9D9"/>
                </a:solidFill>
                <a:latin typeface="Calibri"/>
                <a:cs typeface="Calibri"/>
              </a:rPr>
              <a:t> </a:t>
            </a:r>
            <a:r>
              <a:rPr sz="2400" b="1" spc="-33" dirty="0">
                <a:solidFill>
                  <a:srgbClr val="D9D9D9"/>
                </a:solidFill>
                <a:latin typeface="Calibri"/>
                <a:cs typeface="Calibri"/>
              </a:rPr>
              <a:t>(!)</a:t>
            </a:r>
            <a:endParaRPr sz="2400" dirty="0">
              <a:latin typeface="Calibri"/>
              <a:cs typeface="Calibri"/>
            </a:endParaRPr>
          </a:p>
          <a:p>
            <a:pPr>
              <a:spcBef>
                <a:spcPts val="947"/>
              </a:spcBef>
              <a:buClr>
                <a:srgbClr val="99D3FF"/>
              </a:buClr>
              <a:buFont typeface="Wingdings"/>
              <a:buChar char=""/>
            </a:pPr>
            <a:endParaRPr sz="2400" dirty="0">
              <a:latin typeface="Calibri"/>
              <a:cs typeface="Calibri"/>
            </a:endParaRPr>
          </a:p>
          <a:p>
            <a:pPr marL="397923" indent="-380990">
              <a:buClr>
                <a:srgbClr val="99D3FF"/>
              </a:buClr>
              <a:buFont typeface="Wingdings"/>
              <a:buChar char=""/>
              <a:tabLst>
                <a:tab pos="397923" algn="l"/>
              </a:tabLst>
            </a:pPr>
            <a:r>
              <a:rPr sz="2400" b="1" dirty="0">
                <a:solidFill>
                  <a:srgbClr val="D9D9D9"/>
                </a:solidFill>
                <a:latin typeface="Calibri"/>
                <a:cs typeface="Calibri"/>
              </a:rPr>
              <a:t>Instead</a:t>
            </a:r>
            <a:r>
              <a:rPr sz="2400" b="1" spc="-20" dirty="0">
                <a:solidFill>
                  <a:srgbClr val="D9D9D9"/>
                </a:solidFill>
                <a:latin typeface="Calibri"/>
                <a:cs typeface="Calibri"/>
              </a:rPr>
              <a:t> </a:t>
            </a:r>
            <a:r>
              <a:rPr sz="2400" b="1" dirty="0">
                <a:solidFill>
                  <a:srgbClr val="D9D9D9"/>
                </a:solidFill>
                <a:latin typeface="Calibri"/>
                <a:cs typeface="Calibri"/>
              </a:rPr>
              <a:t>calculate</a:t>
            </a:r>
            <a:r>
              <a:rPr sz="2400" b="1" spc="-67" dirty="0">
                <a:solidFill>
                  <a:srgbClr val="D9D9D9"/>
                </a:solidFill>
                <a:latin typeface="Calibri"/>
                <a:cs typeface="Calibri"/>
              </a:rPr>
              <a:t> </a:t>
            </a:r>
            <a:r>
              <a:rPr sz="2400" b="1" dirty="0">
                <a:solidFill>
                  <a:srgbClr val="D9D9D9"/>
                </a:solidFill>
                <a:latin typeface="Calibri"/>
                <a:cs typeface="Calibri"/>
              </a:rPr>
              <a:t>all</a:t>
            </a:r>
            <a:r>
              <a:rPr sz="2400" b="1" spc="-7" dirty="0">
                <a:solidFill>
                  <a:srgbClr val="D9D9D9"/>
                </a:solidFill>
                <a:latin typeface="Calibri"/>
                <a:cs typeface="Calibri"/>
              </a:rPr>
              <a:t> </a:t>
            </a:r>
            <a:r>
              <a:rPr sz="2400" b="1" dirty="0">
                <a:solidFill>
                  <a:srgbClr val="D9D9D9"/>
                </a:solidFill>
                <a:latin typeface="Calibri"/>
                <a:cs typeface="Calibri"/>
              </a:rPr>
              <a:t>the</a:t>
            </a:r>
            <a:r>
              <a:rPr sz="2400" b="1" spc="-33" dirty="0">
                <a:solidFill>
                  <a:srgbClr val="D9D9D9"/>
                </a:solidFill>
                <a:latin typeface="Calibri"/>
                <a:cs typeface="Calibri"/>
              </a:rPr>
              <a:t> </a:t>
            </a:r>
            <a:r>
              <a:rPr sz="2400" b="1" dirty="0">
                <a:solidFill>
                  <a:srgbClr val="D9D9D9"/>
                </a:solidFill>
                <a:latin typeface="Calibri"/>
                <a:cs typeface="Calibri"/>
              </a:rPr>
              <a:t>to-Date</a:t>
            </a:r>
            <a:r>
              <a:rPr sz="2400" b="1" spc="-13" dirty="0">
                <a:solidFill>
                  <a:srgbClr val="D9D9D9"/>
                </a:solidFill>
                <a:latin typeface="Calibri"/>
                <a:cs typeface="Calibri"/>
              </a:rPr>
              <a:t> </a:t>
            </a:r>
            <a:r>
              <a:rPr sz="2400" b="1" dirty="0">
                <a:solidFill>
                  <a:srgbClr val="D9D9D9"/>
                </a:solidFill>
                <a:latin typeface="Calibri"/>
                <a:cs typeface="Calibri"/>
              </a:rPr>
              <a:t>variations</a:t>
            </a:r>
            <a:r>
              <a:rPr sz="2400" b="1" spc="-27" dirty="0">
                <a:solidFill>
                  <a:srgbClr val="D9D9D9"/>
                </a:solidFill>
                <a:latin typeface="Calibri"/>
                <a:cs typeface="Calibri"/>
              </a:rPr>
              <a:t> </a:t>
            </a:r>
            <a:r>
              <a:rPr sz="2400" b="1" dirty="0">
                <a:solidFill>
                  <a:srgbClr val="D9D9D9"/>
                </a:solidFill>
                <a:latin typeface="Calibri"/>
                <a:cs typeface="Calibri"/>
              </a:rPr>
              <a:t>in</a:t>
            </a:r>
            <a:r>
              <a:rPr sz="2400" b="1" spc="-7" dirty="0">
                <a:solidFill>
                  <a:srgbClr val="D9D9D9"/>
                </a:solidFill>
                <a:latin typeface="Calibri"/>
                <a:cs typeface="Calibri"/>
              </a:rPr>
              <a:t> </a:t>
            </a:r>
            <a:r>
              <a:rPr sz="2400" b="1" dirty="0">
                <a:solidFill>
                  <a:srgbClr val="D9D9D9"/>
                </a:solidFill>
                <a:latin typeface="Calibri"/>
                <a:cs typeface="Calibri"/>
              </a:rPr>
              <a:t>BI</a:t>
            </a:r>
            <a:r>
              <a:rPr sz="2400" b="1" spc="-47" dirty="0">
                <a:solidFill>
                  <a:srgbClr val="D9D9D9"/>
                </a:solidFill>
                <a:latin typeface="Calibri"/>
                <a:cs typeface="Calibri"/>
              </a:rPr>
              <a:t> </a:t>
            </a:r>
            <a:r>
              <a:rPr sz="2400" b="1" spc="-27" dirty="0">
                <a:solidFill>
                  <a:srgbClr val="D9D9D9"/>
                </a:solidFill>
                <a:latin typeface="Calibri"/>
                <a:cs typeface="Calibri"/>
              </a:rPr>
              <a:t>tool</a:t>
            </a:r>
            <a:endParaRPr sz="2400" dirty="0">
              <a:latin typeface="Calibri"/>
              <a:cs typeface="Calibri"/>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57807" y="2279903"/>
            <a:ext cx="9930384" cy="1702816"/>
          </a:xfrm>
          <a:prstGeom prst="rect">
            <a:avLst/>
          </a:prstGeom>
        </p:spPr>
      </p:pic>
      <p:sp>
        <p:nvSpPr>
          <p:cNvPr id="3" name="object 3"/>
          <p:cNvSpPr txBox="1">
            <a:spLocks noGrp="1"/>
          </p:cNvSpPr>
          <p:nvPr>
            <p:ph type="title"/>
          </p:nvPr>
        </p:nvSpPr>
        <p:spPr>
          <a:xfrm>
            <a:off x="1320800" y="2579973"/>
            <a:ext cx="9811173" cy="1048150"/>
          </a:xfrm>
          <a:prstGeom prst="rect">
            <a:avLst/>
          </a:prstGeom>
          <a:noFill/>
          <a:ln w="9144">
            <a:noFill/>
          </a:ln>
        </p:spPr>
        <p:txBody>
          <a:bodyPr vert="horz" wrap="square" lIns="0" tIns="306493" rIns="0" bIns="0" rtlCol="0" anchor="ctr">
            <a:spAutoFit/>
          </a:bodyPr>
          <a:lstStyle/>
          <a:p>
            <a:pPr marL="4233" algn="ctr">
              <a:lnSpc>
                <a:spcPct val="100000"/>
              </a:lnSpc>
              <a:spcBef>
                <a:spcPts val="2413"/>
              </a:spcBef>
            </a:pPr>
            <a:r>
              <a:rPr sz="4800" dirty="0">
                <a:solidFill>
                  <a:schemeClr val="bg1"/>
                </a:solidFill>
                <a:latin typeface="+mn-lt"/>
              </a:rPr>
              <a:t>Transactional</a:t>
            </a:r>
            <a:r>
              <a:rPr sz="4800" spc="-80" dirty="0">
                <a:solidFill>
                  <a:schemeClr val="bg1"/>
                </a:solidFill>
                <a:latin typeface="+mn-lt"/>
              </a:rPr>
              <a:t> </a:t>
            </a:r>
            <a:r>
              <a:rPr sz="4800" dirty="0">
                <a:solidFill>
                  <a:schemeClr val="bg1"/>
                </a:solidFill>
                <a:latin typeface="+mn-lt"/>
              </a:rPr>
              <a:t>fact</a:t>
            </a:r>
            <a:r>
              <a:rPr sz="4800" spc="-53" dirty="0">
                <a:solidFill>
                  <a:schemeClr val="bg1"/>
                </a:solidFill>
                <a:latin typeface="+mn-lt"/>
              </a:rPr>
              <a:t> </a:t>
            </a:r>
            <a:r>
              <a:rPr sz="4800" spc="-13" dirty="0">
                <a:solidFill>
                  <a:schemeClr val="bg1"/>
                </a:solidFill>
                <a:latin typeface="+mn-lt"/>
              </a:rPr>
              <a:t>table</a:t>
            </a:r>
            <a:endParaRPr sz="4800" dirty="0">
              <a:solidFill>
                <a:schemeClr val="bg1"/>
              </a:solidFill>
              <a:latin typeface="+mn-lt"/>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12364" y="324457"/>
            <a:ext cx="7293201" cy="695062"/>
          </a:xfrm>
          <a:prstGeom prst="rect">
            <a:avLst/>
          </a:prstGeom>
        </p:spPr>
        <p:txBody>
          <a:bodyPr vert="horz" wrap="square" lIns="0" tIns="17780" rIns="0" bIns="0" rtlCol="0" anchor="ctr">
            <a:spAutoFit/>
          </a:bodyPr>
          <a:lstStyle/>
          <a:p>
            <a:pPr marL="1120112">
              <a:lnSpc>
                <a:spcPct val="100000"/>
              </a:lnSpc>
              <a:spcBef>
                <a:spcPts val="140"/>
              </a:spcBef>
            </a:pPr>
            <a:r>
              <a:rPr dirty="0">
                <a:solidFill>
                  <a:schemeClr val="bg1"/>
                </a:solidFill>
                <a:latin typeface="+mn-lt"/>
              </a:rPr>
              <a:t>Transactional</a:t>
            </a:r>
            <a:r>
              <a:rPr spc="-107" dirty="0">
                <a:solidFill>
                  <a:schemeClr val="bg1"/>
                </a:solidFill>
                <a:latin typeface="+mn-lt"/>
              </a:rPr>
              <a:t> </a:t>
            </a:r>
            <a:r>
              <a:rPr dirty="0">
                <a:solidFill>
                  <a:schemeClr val="bg1"/>
                </a:solidFill>
                <a:latin typeface="+mn-lt"/>
              </a:rPr>
              <a:t>fact</a:t>
            </a:r>
            <a:r>
              <a:rPr spc="-120" dirty="0">
                <a:solidFill>
                  <a:schemeClr val="bg1"/>
                </a:solidFill>
                <a:latin typeface="+mn-lt"/>
              </a:rPr>
              <a:t> </a:t>
            </a:r>
            <a:r>
              <a:rPr spc="-13" dirty="0">
                <a:solidFill>
                  <a:schemeClr val="bg1"/>
                </a:solidFill>
                <a:latin typeface="+mn-lt"/>
              </a:rPr>
              <a:t>table</a:t>
            </a:r>
          </a:p>
        </p:txBody>
      </p:sp>
      <p:sp>
        <p:nvSpPr>
          <p:cNvPr id="3" name="object 3"/>
          <p:cNvSpPr txBox="1"/>
          <p:nvPr/>
        </p:nvSpPr>
        <p:spPr>
          <a:xfrm>
            <a:off x="3323335" y="1854200"/>
            <a:ext cx="6271260" cy="1240510"/>
          </a:xfrm>
          <a:prstGeom prst="rect">
            <a:avLst/>
          </a:prstGeom>
        </p:spPr>
        <p:txBody>
          <a:bodyPr vert="horz" wrap="square" lIns="0" tIns="16933" rIns="0" bIns="0" rtlCol="0">
            <a:spAutoFit/>
          </a:bodyPr>
          <a:lstStyle/>
          <a:p>
            <a:pPr marL="430943" indent="-380990">
              <a:spcBef>
                <a:spcPts val="133"/>
              </a:spcBef>
              <a:buClr>
                <a:srgbClr val="99D3FF"/>
              </a:buClr>
              <a:buFont typeface="Wingdings"/>
              <a:buChar char=""/>
              <a:tabLst>
                <a:tab pos="430943" algn="l"/>
              </a:tabLst>
            </a:pPr>
            <a:r>
              <a:rPr sz="2400" b="1" dirty="0">
                <a:solidFill>
                  <a:srgbClr val="D9D9D9"/>
                </a:solidFill>
                <a:latin typeface="Calibri"/>
                <a:cs typeface="Calibri"/>
              </a:rPr>
              <a:t>1</a:t>
            </a:r>
            <a:r>
              <a:rPr sz="2400" b="1" spc="-20" dirty="0">
                <a:solidFill>
                  <a:srgbClr val="D9D9D9"/>
                </a:solidFill>
                <a:latin typeface="Calibri"/>
                <a:cs typeface="Calibri"/>
              </a:rPr>
              <a:t> </a:t>
            </a:r>
            <a:r>
              <a:rPr sz="2400" b="1" dirty="0">
                <a:solidFill>
                  <a:srgbClr val="D9D9D9"/>
                </a:solidFill>
                <a:latin typeface="Calibri"/>
                <a:cs typeface="Calibri"/>
              </a:rPr>
              <a:t>row</a:t>
            </a:r>
            <a:r>
              <a:rPr sz="2400" b="1" spc="-20" dirty="0">
                <a:solidFill>
                  <a:srgbClr val="D9D9D9"/>
                </a:solidFill>
                <a:latin typeface="Calibri"/>
                <a:cs typeface="Calibri"/>
              </a:rPr>
              <a:t> </a:t>
            </a:r>
            <a:r>
              <a:rPr sz="2400" b="1" dirty="0">
                <a:solidFill>
                  <a:srgbClr val="D9D9D9"/>
                </a:solidFill>
                <a:latin typeface="Calibri"/>
                <a:cs typeface="Calibri"/>
              </a:rPr>
              <a:t>=</a:t>
            </a:r>
            <a:r>
              <a:rPr sz="2400" b="1" spc="-27" dirty="0">
                <a:solidFill>
                  <a:srgbClr val="D9D9D9"/>
                </a:solidFill>
                <a:latin typeface="Calibri"/>
                <a:cs typeface="Calibri"/>
              </a:rPr>
              <a:t> </a:t>
            </a:r>
            <a:r>
              <a:rPr sz="2400" b="1" dirty="0">
                <a:solidFill>
                  <a:srgbClr val="D9D9D9"/>
                </a:solidFill>
                <a:latin typeface="Calibri"/>
                <a:cs typeface="Calibri"/>
              </a:rPr>
              <a:t>measurement</a:t>
            </a:r>
            <a:r>
              <a:rPr sz="2400" b="1" spc="-73" dirty="0">
                <a:solidFill>
                  <a:srgbClr val="D9D9D9"/>
                </a:solidFill>
                <a:latin typeface="Calibri"/>
                <a:cs typeface="Calibri"/>
              </a:rPr>
              <a:t> </a:t>
            </a:r>
            <a:r>
              <a:rPr sz="2400" b="1" dirty="0">
                <a:solidFill>
                  <a:srgbClr val="D9D9D9"/>
                </a:solidFill>
                <a:latin typeface="Calibri"/>
                <a:cs typeface="Calibri"/>
              </a:rPr>
              <a:t>of</a:t>
            </a:r>
            <a:r>
              <a:rPr sz="2400" b="1" spc="-13" dirty="0">
                <a:solidFill>
                  <a:srgbClr val="D9D9D9"/>
                </a:solidFill>
                <a:latin typeface="Calibri"/>
                <a:cs typeface="Calibri"/>
              </a:rPr>
              <a:t> </a:t>
            </a:r>
            <a:r>
              <a:rPr sz="2400" b="1" dirty="0">
                <a:solidFill>
                  <a:srgbClr val="D9D9D9"/>
                </a:solidFill>
                <a:latin typeface="Calibri"/>
                <a:cs typeface="Calibri"/>
              </a:rPr>
              <a:t>1</a:t>
            </a:r>
            <a:r>
              <a:rPr sz="2400" b="1" spc="-20" dirty="0">
                <a:solidFill>
                  <a:srgbClr val="D9D9D9"/>
                </a:solidFill>
                <a:latin typeface="Calibri"/>
                <a:cs typeface="Calibri"/>
              </a:rPr>
              <a:t> </a:t>
            </a:r>
            <a:r>
              <a:rPr sz="2400" b="1" dirty="0">
                <a:solidFill>
                  <a:srgbClr val="D9D9D9"/>
                </a:solidFill>
                <a:latin typeface="Calibri"/>
                <a:cs typeface="Calibri"/>
              </a:rPr>
              <a:t>event</a:t>
            </a:r>
            <a:r>
              <a:rPr sz="2400" b="1" spc="-67" dirty="0">
                <a:solidFill>
                  <a:srgbClr val="D9D9D9"/>
                </a:solidFill>
                <a:latin typeface="Calibri"/>
                <a:cs typeface="Calibri"/>
              </a:rPr>
              <a:t> </a:t>
            </a:r>
            <a:r>
              <a:rPr sz="2400" b="1" dirty="0">
                <a:solidFill>
                  <a:srgbClr val="D9D9D9"/>
                </a:solidFill>
                <a:latin typeface="Calibri"/>
                <a:cs typeface="Calibri"/>
              </a:rPr>
              <a:t>/</a:t>
            </a:r>
            <a:r>
              <a:rPr sz="2400" b="1" spc="-13" dirty="0">
                <a:solidFill>
                  <a:srgbClr val="D9D9D9"/>
                </a:solidFill>
                <a:latin typeface="Calibri"/>
                <a:cs typeface="Calibri"/>
              </a:rPr>
              <a:t> transaction</a:t>
            </a:r>
            <a:endParaRPr sz="2400">
              <a:latin typeface="Calibri"/>
              <a:cs typeface="Calibri"/>
            </a:endParaRPr>
          </a:p>
          <a:p>
            <a:pPr>
              <a:spcBef>
                <a:spcPts val="940"/>
              </a:spcBef>
              <a:buClr>
                <a:srgbClr val="99D3FF"/>
              </a:buClr>
              <a:buFont typeface="Wingdings"/>
              <a:buChar char=""/>
            </a:pPr>
            <a:endParaRPr sz="2400">
              <a:latin typeface="Calibri"/>
              <a:cs typeface="Calibri"/>
            </a:endParaRPr>
          </a:p>
          <a:p>
            <a:pPr marL="397923" indent="-380990">
              <a:buClr>
                <a:srgbClr val="99D3FF"/>
              </a:buClr>
              <a:buFont typeface="Wingdings"/>
              <a:buChar char=""/>
              <a:tabLst>
                <a:tab pos="397923" algn="l"/>
              </a:tabLst>
            </a:pPr>
            <a:r>
              <a:rPr sz="2400" b="1" dirty="0">
                <a:solidFill>
                  <a:srgbClr val="D9D9D9"/>
                </a:solidFill>
                <a:latin typeface="Calibri"/>
                <a:cs typeface="Calibri"/>
              </a:rPr>
              <a:t>Taken</a:t>
            </a:r>
            <a:r>
              <a:rPr sz="2400" b="1" spc="-33" dirty="0">
                <a:solidFill>
                  <a:srgbClr val="D9D9D9"/>
                </a:solidFill>
                <a:latin typeface="Calibri"/>
                <a:cs typeface="Calibri"/>
              </a:rPr>
              <a:t> </a:t>
            </a:r>
            <a:r>
              <a:rPr sz="2400" b="1" dirty="0">
                <a:solidFill>
                  <a:srgbClr val="D9D9D9"/>
                </a:solidFill>
                <a:latin typeface="Calibri"/>
                <a:cs typeface="Calibri"/>
              </a:rPr>
              <a:t>place</a:t>
            </a:r>
            <a:r>
              <a:rPr sz="2400" b="1" spc="-27" dirty="0">
                <a:solidFill>
                  <a:srgbClr val="D9D9D9"/>
                </a:solidFill>
                <a:latin typeface="Calibri"/>
                <a:cs typeface="Calibri"/>
              </a:rPr>
              <a:t> </a:t>
            </a:r>
            <a:r>
              <a:rPr sz="2400" b="1" dirty="0">
                <a:solidFill>
                  <a:srgbClr val="D9D9D9"/>
                </a:solidFill>
                <a:latin typeface="Calibri"/>
                <a:cs typeface="Calibri"/>
              </a:rPr>
              <a:t>at</a:t>
            </a:r>
            <a:r>
              <a:rPr sz="2400" b="1" spc="-7" dirty="0">
                <a:solidFill>
                  <a:srgbClr val="D9D9D9"/>
                </a:solidFill>
                <a:latin typeface="Calibri"/>
                <a:cs typeface="Calibri"/>
              </a:rPr>
              <a:t> </a:t>
            </a:r>
            <a:r>
              <a:rPr sz="2400" b="1" dirty="0">
                <a:solidFill>
                  <a:srgbClr val="D9D9D9"/>
                </a:solidFill>
                <a:latin typeface="Calibri"/>
                <a:cs typeface="Calibri"/>
              </a:rPr>
              <a:t>a</a:t>
            </a:r>
            <a:r>
              <a:rPr sz="2400" b="1" spc="13" dirty="0">
                <a:solidFill>
                  <a:srgbClr val="D9D9D9"/>
                </a:solidFill>
                <a:latin typeface="Calibri"/>
                <a:cs typeface="Calibri"/>
              </a:rPr>
              <a:t> </a:t>
            </a:r>
            <a:r>
              <a:rPr sz="2400" b="1" dirty="0">
                <a:solidFill>
                  <a:srgbClr val="D9D9D9"/>
                </a:solidFill>
                <a:latin typeface="Calibri"/>
                <a:cs typeface="Calibri"/>
              </a:rPr>
              <a:t>specific</a:t>
            </a:r>
            <a:r>
              <a:rPr sz="2400" b="1" spc="-53" dirty="0">
                <a:solidFill>
                  <a:srgbClr val="D9D9D9"/>
                </a:solidFill>
                <a:latin typeface="Calibri"/>
                <a:cs typeface="Calibri"/>
              </a:rPr>
              <a:t> </a:t>
            </a:r>
            <a:r>
              <a:rPr sz="2400" b="1" spc="-27" dirty="0">
                <a:solidFill>
                  <a:srgbClr val="D9D9D9"/>
                </a:solidFill>
                <a:latin typeface="Calibri"/>
                <a:cs typeface="Calibri"/>
              </a:rPr>
              <a:t>time</a:t>
            </a:r>
            <a:endParaRPr sz="2400">
              <a:latin typeface="Calibri"/>
              <a:cs typeface="Calibri"/>
            </a:endParaRPr>
          </a:p>
        </p:txBody>
      </p:sp>
      <p:graphicFrame>
        <p:nvGraphicFramePr>
          <p:cNvPr id="4" name="object 4"/>
          <p:cNvGraphicFramePr>
            <a:graphicFrameLocks noGrp="1"/>
          </p:cNvGraphicFramePr>
          <p:nvPr>
            <p:extLst>
              <p:ext uri="{D42A27DB-BD31-4B8C-83A1-F6EECF244321}">
                <p14:modId xmlns:p14="http://schemas.microsoft.com/office/powerpoint/2010/main" val="1651871735"/>
              </p:ext>
            </p:extLst>
          </p:nvPr>
        </p:nvGraphicFramePr>
        <p:xfrm>
          <a:off x="6867653" y="4399619"/>
          <a:ext cx="4720166" cy="1495213"/>
        </p:xfrm>
        <a:graphic>
          <a:graphicData uri="http://schemas.openxmlformats.org/drawingml/2006/table">
            <a:tbl>
              <a:tblPr firstRow="1" bandRow="1">
                <a:tableStyleId>{2D5ABB26-0587-4C30-8999-92F81FD0307C}</a:tableStyleId>
              </a:tblPr>
              <a:tblGrid>
                <a:gridCol w="757767">
                  <a:extLst>
                    <a:ext uri="{9D8B030D-6E8A-4147-A177-3AD203B41FA5}">
                      <a16:colId xmlns:a16="http://schemas.microsoft.com/office/drawing/2014/main" val="20000"/>
                    </a:ext>
                  </a:extLst>
                </a:gridCol>
                <a:gridCol w="799253">
                  <a:extLst>
                    <a:ext uri="{9D8B030D-6E8A-4147-A177-3AD203B41FA5}">
                      <a16:colId xmlns:a16="http://schemas.microsoft.com/office/drawing/2014/main" val="20001"/>
                    </a:ext>
                  </a:extLst>
                </a:gridCol>
                <a:gridCol w="1015999">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927947">
                  <a:extLst>
                    <a:ext uri="{9D8B030D-6E8A-4147-A177-3AD203B41FA5}">
                      <a16:colId xmlns:a16="http://schemas.microsoft.com/office/drawing/2014/main" val="20004"/>
                    </a:ext>
                  </a:extLst>
                </a:gridCol>
              </a:tblGrid>
              <a:tr h="225213">
                <a:tc>
                  <a:txBody>
                    <a:bodyPr/>
                    <a:lstStyle/>
                    <a:p>
                      <a:pPr marL="635" algn="ctr">
                        <a:lnSpc>
                          <a:spcPct val="100000"/>
                        </a:lnSpc>
                        <a:spcBef>
                          <a:spcPts val="65"/>
                        </a:spcBef>
                      </a:pPr>
                      <a:r>
                        <a:rPr sz="1400" b="1" spc="-10" dirty="0">
                          <a:latin typeface="+mn-lt"/>
                          <a:cs typeface="Arial"/>
                        </a:rPr>
                        <a:t>call_id</a:t>
                      </a:r>
                      <a:endParaRPr sz="1400" dirty="0">
                        <a:latin typeface="+mn-lt"/>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1905" algn="ctr">
                        <a:lnSpc>
                          <a:spcPct val="100000"/>
                        </a:lnSpc>
                        <a:spcBef>
                          <a:spcPts val="65"/>
                        </a:spcBef>
                      </a:pPr>
                      <a:r>
                        <a:rPr sz="1400" b="1" spc="-10" dirty="0">
                          <a:latin typeface="+mn-lt"/>
                          <a:cs typeface="Arial"/>
                        </a:rPr>
                        <a:t>emp_id</a:t>
                      </a:r>
                      <a:endParaRPr sz="1400">
                        <a:latin typeface="+mn-lt"/>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1905" algn="ctr">
                        <a:lnSpc>
                          <a:spcPct val="100000"/>
                        </a:lnSpc>
                        <a:spcBef>
                          <a:spcPts val="65"/>
                        </a:spcBef>
                      </a:pPr>
                      <a:r>
                        <a:rPr sz="1400" b="1" spc="-10" dirty="0">
                          <a:latin typeface="+mn-lt"/>
                          <a:cs typeface="Arial"/>
                        </a:rPr>
                        <a:t>date_id</a:t>
                      </a:r>
                      <a:endParaRPr sz="1400">
                        <a:latin typeface="+mn-lt"/>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635" algn="ctr">
                        <a:lnSpc>
                          <a:spcPct val="100000"/>
                        </a:lnSpc>
                        <a:spcBef>
                          <a:spcPts val="65"/>
                        </a:spcBef>
                      </a:pPr>
                      <a:r>
                        <a:rPr sz="1400" b="1" spc="-10" dirty="0">
                          <a:latin typeface="+mn-lt"/>
                          <a:cs typeface="Arial"/>
                        </a:rPr>
                        <a:t>customer_id</a:t>
                      </a:r>
                      <a:endParaRPr sz="1400">
                        <a:latin typeface="+mn-lt"/>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1905" algn="ctr">
                        <a:lnSpc>
                          <a:spcPct val="100000"/>
                        </a:lnSpc>
                        <a:spcBef>
                          <a:spcPts val="65"/>
                        </a:spcBef>
                      </a:pPr>
                      <a:r>
                        <a:rPr sz="1400" b="1" spc="-10" dirty="0">
                          <a:latin typeface="+mn-lt"/>
                          <a:cs typeface="Arial"/>
                        </a:rPr>
                        <a:t>duration</a:t>
                      </a:r>
                      <a:endParaRPr sz="1400">
                        <a:latin typeface="+mn-lt"/>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extLst>
                  <a:ext uri="{0D108BD9-81ED-4DB2-BD59-A6C34878D82A}">
                    <a16:rowId xmlns:a16="http://schemas.microsoft.com/office/drawing/2014/main" val="10000"/>
                  </a:ext>
                </a:extLst>
              </a:tr>
              <a:tr h="254000">
                <a:tc>
                  <a:txBody>
                    <a:bodyPr/>
                    <a:lstStyle/>
                    <a:p>
                      <a:pPr marL="635" algn="ctr">
                        <a:lnSpc>
                          <a:spcPct val="100000"/>
                        </a:lnSpc>
                        <a:spcBef>
                          <a:spcPts val="225"/>
                        </a:spcBef>
                      </a:pPr>
                      <a:r>
                        <a:rPr sz="1400" spc="-50" dirty="0">
                          <a:latin typeface="+mn-lt"/>
                          <a:cs typeface="Arial MT"/>
                        </a:rPr>
                        <a:t>1</a:t>
                      </a:r>
                      <a:endParaRPr sz="1400">
                        <a:latin typeface="+mn-l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50" dirty="0">
                          <a:latin typeface="+mn-lt"/>
                          <a:cs typeface="Arial MT"/>
                        </a:rPr>
                        <a:t>3</a:t>
                      </a:r>
                      <a:endParaRPr sz="1400" dirty="0">
                        <a:latin typeface="+mn-l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mn-lt"/>
                          <a:cs typeface="Arial MT"/>
                        </a:rPr>
                        <a:t>20220101</a:t>
                      </a:r>
                      <a:endParaRPr sz="1400" dirty="0">
                        <a:latin typeface="+mn-l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50" dirty="0">
                          <a:latin typeface="+mn-lt"/>
                          <a:cs typeface="Arial MT"/>
                        </a:rPr>
                        <a:t>1</a:t>
                      </a:r>
                      <a:endParaRPr sz="1400">
                        <a:latin typeface="+mn-l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5"/>
                        </a:spcBef>
                      </a:pPr>
                      <a:r>
                        <a:rPr sz="1400" spc="-25" dirty="0">
                          <a:latin typeface="+mn-lt"/>
                          <a:cs typeface="Arial MT"/>
                        </a:rPr>
                        <a:t>43</a:t>
                      </a:r>
                      <a:endParaRPr sz="1400">
                        <a:latin typeface="+mn-l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marL="635" algn="ctr">
                        <a:lnSpc>
                          <a:spcPct val="100000"/>
                        </a:lnSpc>
                        <a:spcBef>
                          <a:spcPts val="225"/>
                        </a:spcBef>
                      </a:pPr>
                      <a:r>
                        <a:rPr sz="1400" spc="-50" dirty="0">
                          <a:latin typeface="+mn-lt"/>
                          <a:cs typeface="Arial MT"/>
                        </a:rPr>
                        <a:t>2</a:t>
                      </a:r>
                      <a:endParaRPr sz="1400">
                        <a:latin typeface="+mn-l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50" dirty="0">
                          <a:latin typeface="+mn-lt"/>
                          <a:cs typeface="Arial MT"/>
                        </a:rPr>
                        <a:t>5</a:t>
                      </a:r>
                      <a:endParaRPr sz="1400">
                        <a:latin typeface="+mn-l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mn-lt"/>
                          <a:cs typeface="Arial MT"/>
                        </a:rPr>
                        <a:t>20220102</a:t>
                      </a:r>
                      <a:endParaRPr sz="1400" dirty="0">
                        <a:latin typeface="+mn-l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50" dirty="0">
                          <a:latin typeface="+mn-lt"/>
                          <a:cs typeface="Arial MT"/>
                        </a:rPr>
                        <a:t>1</a:t>
                      </a:r>
                      <a:endParaRPr sz="1400" dirty="0">
                        <a:latin typeface="+mn-l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5"/>
                        </a:spcBef>
                      </a:pPr>
                      <a:r>
                        <a:rPr sz="1400" spc="-25" dirty="0">
                          <a:latin typeface="+mn-lt"/>
                          <a:cs typeface="Arial MT"/>
                        </a:rPr>
                        <a:t>12</a:t>
                      </a:r>
                      <a:endParaRPr sz="1400">
                        <a:latin typeface="+mn-l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marL="635" algn="ctr">
                        <a:lnSpc>
                          <a:spcPct val="100000"/>
                        </a:lnSpc>
                        <a:spcBef>
                          <a:spcPts val="229"/>
                        </a:spcBef>
                      </a:pPr>
                      <a:r>
                        <a:rPr sz="1400" spc="-50" dirty="0">
                          <a:latin typeface="+mn-lt"/>
                          <a:cs typeface="Arial MT"/>
                        </a:rPr>
                        <a:t>3</a:t>
                      </a:r>
                      <a:endParaRPr sz="1400">
                        <a:latin typeface="+mn-l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50" dirty="0">
                          <a:latin typeface="+mn-lt"/>
                          <a:cs typeface="Arial MT"/>
                        </a:rPr>
                        <a:t>2</a:t>
                      </a:r>
                      <a:endParaRPr sz="1400">
                        <a:latin typeface="+mn-l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10" dirty="0">
                          <a:latin typeface="+mn-lt"/>
                          <a:cs typeface="Arial MT"/>
                        </a:rPr>
                        <a:t>20220102</a:t>
                      </a:r>
                      <a:endParaRPr sz="1400">
                        <a:latin typeface="+mn-l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spc="-50" dirty="0">
                          <a:latin typeface="+mn-lt"/>
                          <a:cs typeface="Arial MT"/>
                        </a:rPr>
                        <a:t>2</a:t>
                      </a:r>
                      <a:endParaRPr sz="1400" dirty="0">
                        <a:latin typeface="+mn-l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spc="-25" dirty="0">
                          <a:latin typeface="+mn-lt"/>
                          <a:cs typeface="Arial MT"/>
                        </a:rPr>
                        <a:t>134</a:t>
                      </a:r>
                      <a:endParaRPr sz="1400">
                        <a:latin typeface="+mn-l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marL="635" algn="ctr">
                        <a:lnSpc>
                          <a:spcPct val="100000"/>
                        </a:lnSpc>
                        <a:spcBef>
                          <a:spcPts val="229"/>
                        </a:spcBef>
                      </a:pPr>
                      <a:r>
                        <a:rPr sz="1400" spc="-50" dirty="0">
                          <a:latin typeface="+mn-lt"/>
                          <a:cs typeface="Arial MT"/>
                        </a:rPr>
                        <a:t>4</a:t>
                      </a:r>
                      <a:endParaRPr sz="1400">
                        <a:latin typeface="+mn-l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50" dirty="0">
                          <a:latin typeface="+mn-lt"/>
                          <a:cs typeface="Arial MT"/>
                        </a:rPr>
                        <a:t>3</a:t>
                      </a:r>
                      <a:endParaRPr sz="1400">
                        <a:latin typeface="+mn-l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10" dirty="0">
                          <a:latin typeface="+mn-lt"/>
                          <a:cs typeface="Arial MT"/>
                        </a:rPr>
                        <a:t>20220103</a:t>
                      </a:r>
                      <a:endParaRPr sz="1400">
                        <a:latin typeface="+mn-l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spc="-50" dirty="0">
                          <a:latin typeface="+mn-lt"/>
                          <a:cs typeface="Arial MT"/>
                        </a:rPr>
                        <a:t>1</a:t>
                      </a:r>
                      <a:endParaRPr sz="1400">
                        <a:latin typeface="+mn-l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9"/>
                        </a:spcBef>
                      </a:pPr>
                      <a:r>
                        <a:rPr sz="1400" spc="-25" dirty="0">
                          <a:latin typeface="+mn-lt"/>
                          <a:cs typeface="Arial MT"/>
                        </a:rPr>
                        <a:t>62</a:t>
                      </a:r>
                      <a:endParaRPr sz="1400" dirty="0">
                        <a:latin typeface="+mn-l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marL="635" algn="ctr">
                        <a:lnSpc>
                          <a:spcPct val="100000"/>
                        </a:lnSpc>
                        <a:spcBef>
                          <a:spcPts val="229"/>
                        </a:spcBef>
                      </a:pPr>
                      <a:r>
                        <a:rPr sz="1400" spc="-50" dirty="0">
                          <a:latin typeface="+mn-lt"/>
                          <a:cs typeface="Arial MT"/>
                        </a:rPr>
                        <a:t>5</a:t>
                      </a:r>
                      <a:endParaRPr sz="1400">
                        <a:latin typeface="+mn-l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50" dirty="0">
                          <a:latin typeface="+mn-lt"/>
                          <a:cs typeface="Arial MT"/>
                        </a:rPr>
                        <a:t>3</a:t>
                      </a:r>
                      <a:endParaRPr sz="1400">
                        <a:latin typeface="+mn-l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10" dirty="0">
                          <a:latin typeface="+mn-lt"/>
                          <a:cs typeface="Arial MT"/>
                        </a:rPr>
                        <a:t>20220104</a:t>
                      </a:r>
                      <a:endParaRPr sz="1400">
                        <a:latin typeface="+mn-l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spc="-50" dirty="0">
                          <a:latin typeface="+mn-lt"/>
                          <a:cs typeface="Arial MT"/>
                        </a:rPr>
                        <a:t>5</a:t>
                      </a:r>
                      <a:endParaRPr sz="1400">
                        <a:latin typeface="+mn-l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9"/>
                        </a:spcBef>
                      </a:pPr>
                      <a:r>
                        <a:rPr sz="1400" spc="-25" dirty="0">
                          <a:latin typeface="+mn-lt"/>
                          <a:cs typeface="Arial MT"/>
                        </a:rPr>
                        <a:t>22</a:t>
                      </a:r>
                      <a:endParaRPr sz="1400" dirty="0">
                        <a:latin typeface="+mn-l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graphicFrame>
        <p:nvGraphicFramePr>
          <p:cNvPr id="5" name="object 5"/>
          <p:cNvGraphicFramePr>
            <a:graphicFrameLocks noGrp="1"/>
          </p:cNvGraphicFramePr>
          <p:nvPr>
            <p:extLst>
              <p:ext uri="{D42A27DB-BD31-4B8C-83A1-F6EECF244321}">
                <p14:modId xmlns:p14="http://schemas.microsoft.com/office/powerpoint/2010/main" val="3447480133"/>
              </p:ext>
            </p:extLst>
          </p:nvPr>
        </p:nvGraphicFramePr>
        <p:xfrm>
          <a:off x="2257722" y="4399787"/>
          <a:ext cx="3771900" cy="2167466"/>
        </p:xfrm>
        <a:graphic>
          <a:graphicData uri="http://schemas.openxmlformats.org/drawingml/2006/table">
            <a:tbl>
              <a:tblPr firstRow="1" bandRow="1">
                <a:tableStyleId>{2D5ABB26-0587-4C30-8999-92F81FD0307C}</a:tableStyleId>
              </a:tblPr>
              <a:tblGrid>
                <a:gridCol w="9144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698500">
                  <a:extLst>
                    <a:ext uri="{9D8B030D-6E8A-4147-A177-3AD203B41FA5}">
                      <a16:colId xmlns:a16="http://schemas.microsoft.com/office/drawing/2014/main" val="20003"/>
                    </a:ext>
                  </a:extLst>
                </a:gridCol>
              </a:tblGrid>
              <a:tr h="225213">
                <a:tc>
                  <a:txBody>
                    <a:bodyPr/>
                    <a:lstStyle/>
                    <a:p>
                      <a:pPr algn="ctr">
                        <a:lnSpc>
                          <a:spcPct val="100000"/>
                        </a:lnSpc>
                        <a:spcBef>
                          <a:spcPts val="60"/>
                        </a:spcBef>
                      </a:pPr>
                      <a:r>
                        <a:rPr sz="1400" b="1" spc="-10" dirty="0">
                          <a:latin typeface="+mn-lt"/>
                          <a:cs typeface="Arial"/>
                        </a:rPr>
                        <a:t>sales_id</a:t>
                      </a:r>
                      <a:endParaRPr sz="1400" dirty="0">
                        <a:latin typeface="+mn-lt"/>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2540" algn="ctr">
                        <a:lnSpc>
                          <a:spcPct val="100000"/>
                        </a:lnSpc>
                        <a:spcBef>
                          <a:spcPts val="60"/>
                        </a:spcBef>
                      </a:pPr>
                      <a:r>
                        <a:rPr sz="1400" b="1" spc="-10" dirty="0">
                          <a:latin typeface="+mn-lt"/>
                          <a:cs typeface="Arial"/>
                        </a:rPr>
                        <a:t>product_id</a:t>
                      </a:r>
                      <a:endParaRPr sz="1400" dirty="0">
                        <a:latin typeface="+mn-lt"/>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1270" algn="ctr">
                        <a:lnSpc>
                          <a:spcPct val="100000"/>
                        </a:lnSpc>
                        <a:spcBef>
                          <a:spcPts val="60"/>
                        </a:spcBef>
                      </a:pPr>
                      <a:r>
                        <a:rPr sz="1400" b="1" spc="-10" dirty="0">
                          <a:latin typeface="+mn-lt"/>
                          <a:cs typeface="Arial"/>
                        </a:rPr>
                        <a:t>date_id</a:t>
                      </a:r>
                      <a:endParaRPr sz="1400">
                        <a:latin typeface="+mn-lt"/>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635" algn="ctr">
                        <a:lnSpc>
                          <a:spcPct val="100000"/>
                        </a:lnSpc>
                        <a:spcBef>
                          <a:spcPts val="60"/>
                        </a:spcBef>
                      </a:pPr>
                      <a:r>
                        <a:rPr sz="1400" b="1" spc="-10" dirty="0">
                          <a:latin typeface="+mn-lt"/>
                          <a:cs typeface="Arial"/>
                        </a:rPr>
                        <a:t>units</a:t>
                      </a:r>
                      <a:endParaRPr sz="1400">
                        <a:latin typeface="+mn-lt"/>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extLst>
                  <a:ext uri="{0D108BD9-81ED-4DB2-BD59-A6C34878D82A}">
                    <a16:rowId xmlns:a16="http://schemas.microsoft.com/office/drawing/2014/main" val="10000"/>
                  </a:ext>
                </a:extLst>
              </a:tr>
              <a:tr h="254000">
                <a:tc>
                  <a:txBody>
                    <a:bodyPr/>
                    <a:lstStyle/>
                    <a:p>
                      <a:pPr algn="ctr">
                        <a:lnSpc>
                          <a:spcPct val="100000"/>
                        </a:lnSpc>
                        <a:spcBef>
                          <a:spcPts val="225"/>
                        </a:spcBef>
                      </a:pPr>
                      <a:r>
                        <a:rPr sz="1400" spc="-50" dirty="0">
                          <a:latin typeface="+mn-lt"/>
                          <a:cs typeface="Arial MT"/>
                        </a:rPr>
                        <a:t>1</a:t>
                      </a:r>
                      <a:endParaRPr sz="1400">
                        <a:latin typeface="+mn-l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50" dirty="0">
                          <a:latin typeface="+mn-lt"/>
                          <a:cs typeface="Arial MT"/>
                        </a:rPr>
                        <a:t>3</a:t>
                      </a:r>
                      <a:endParaRPr sz="1400" dirty="0">
                        <a:latin typeface="+mn-l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mn-lt"/>
                          <a:cs typeface="Arial MT"/>
                        </a:rPr>
                        <a:t>20220101</a:t>
                      </a:r>
                      <a:endParaRPr sz="1400">
                        <a:latin typeface="+mn-l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50" dirty="0">
                          <a:latin typeface="+mn-lt"/>
                          <a:cs typeface="Arial MT"/>
                        </a:rPr>
                        <a:t>1</a:t>
                      </a:r>
                      <a:endParaRPr sz="1400">
                        <a:latin typeface="+mn-l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ct val="100000"/>
                        </a:lnSpc>
                        <a:spcBef>
                          <a:spcPts val="225"/>
                        </a:spcBef>
                      </a:pPr>
                      <a:r>
                        <a:rPr sz="1400" spc="-50" dirty="0">
                          <a:latin typeface="+mn-lt"/>
                          <a:cs typeface="Arial MT"/>
                        </a:rPr>
                        <a:t>2</a:t>
                      </a:r>
                      <a:endParaRPr sz="1400">
                        <a:latin typeface="+mn-l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50" dirty="0">
                          <a:latin typeface="+mn-lt"/>
                          <a:cs typeface="Arial MT"/>
                        </a:rPr>
                        <a:t>5</a:t>
                      </a:r>
                      <a:endParaRPr sz="1400" dirty="0">
                        <a:latin typeface="+mn-l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mn-lt"/>
                          <a:cs typeface="Arial MT"/>
                        </a:rPr>
                        <a:t>20220102</a:t>
                      </a:r>
                      <a:endParaRPr sz="1400" dirty="0">
                        <a:latin typeface="+mn-l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50" dirty="0">
                          <a:latin typeface="+mn-lt"/>
                          <a:cs typeface="Arial MT"/>
                        </a:rPr>
                        <a:t>1</a:t>
                      </a:r>
                      <a:endParaRPr sz="1400">
                        <a:latin typeface="+mn-l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3153">
                <a:tc>
                  <a:txBody>
                    <a:bodyPr/>
                    <a:lstStyle/>
                    <a:p>
                      <a:pPr algn="ctr">
                        <a:lnSpc>
                          <a:spcPct val="100000"/>
                        </a:lnSpc>
                        <a:spcBef>
                          <a:spcPts val="229"/>
                        </a:spcBef>
                      </a:pPr>
                      <a:r>
                        <a:rPr sz="1400" spc="-50" dirty="0">
                          <a:latin typeface="+mn-lt"/>
                          <a:cs typeface="Arial MT"/>
                        </a:rPr>
                        <a:t>3</a:t>
                      </a:r>
                      <a:endParaRPr sz="1400">
                        <a:latin typeface="+mn-l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50" dirty="0">
                          <a:latin typeface="+mn-lt"/>
                          <a:cs typeface="Arial MT"/>
                        </a:rPr>
                        <a:t>2</a:t>
                      </a:r>
                      <a:endParaRPr sz="1400">
                        <a:latin typeface="+mn-l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spc="-10" dirty="0">
                          <a:latin typeface="+mn-lt"/>
                          <a:cs typeface="Arial MT"/>
                        </a:rPr>
                        <a:t>20220102</a:t>
                      </a:r>
                      <a:endParaRPr sz="1400" dirty="0">
                        <a:latin typeface="+mn-l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50" dirty="0">
                          <a:latin typeface="+mn-lt"/>
                          <a:cs typeface="Arial MT"/>
                        </a:rPr>
                        <a:t>2</a:t>
                      </a:r>
                      <a:endParaRPr sz="1400" dirty="0">
                        <a:latin typeface="+mn-l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algn="ctr">
                        <a:lnSpc>
                          <a:spcPct val="100000"/>
                        </a:lnSpc>
                        <a:spcBef>
                          <a:spcPts val="229"/>
                        </a:spcBef>
                      </a:pPr>
                      <a:r>
                        <a:rPr sz="1400" spc="-50" dirty="0">
                          <a:latin typeface="+mn-lt"/>
                          <a:cs typeface="Arial MT"/>
                        </a:rPr>
                        <a:t>4</a:t>
                      </a:r>
                      <a:endParaRPr sz="1400">
                        <a:latin typeface="+mn-l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50" dirty="0">
                          <a:latin typeface="+mn-lt"/>
                          <a:cs typeface="Arial MT"/>
                        </a:rPr>
                        <a:t>3</a:t>
                      </a:r>
                      <a:endParaRPr sz="1400">
                        <a:latin typeface="+mn-l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spc="-10" dirty="0">
                          <a:latin typeface="+mn-lt"/>
                          <a:cs typeface="Arial MT"/>
                        </a:rPr>
                        <a:t>20220103</a:t>
                      </a:r>
                      <a:endParaRPr sz="1400">
                        <a:latin typeface="+mn-l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50" dirty="0">
                          <a:latin typeface="+mn-lt"/>
                          <a:cs typeface="Arial MT"/>
                        </a:rPr>
                        <a:t>1</a:t>
                      </a:r>
                      <a:endParaRPr sz="1400" dirty="0">
                        <a:latin typeface="+mn-l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algn="ctr">
                        <a:lnSpc>
                          <a:spcPct val="100000"/>
                        </a:lnSpc>
                        <a:spcBef>
                          <a:spcPts val="229"/>
                        </a:spcBef>
                      </a:pPr>
                      <a:r>
                        <a:rPr sz="1400" spc="-50" dirty="0">
                          <a:latin typeface="+mn-lt"/>
                          <a:cs typeface="Arial MT"/>
                        </a:rPr>
                        <a:t>5</a:t>
                      </a:r>
                      <a:endParaRPr sz="1400">
                        <a:latin typeface="+mn-l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50" dirty="0">
                          <a:latin typeface="+mn-lt"/>
                          <a:cs typeface="Arial MT"/>
                        </a:rPr>
                        <a:t>3</a:t>
                      </a:r>
                      <a:endParaRPr sz="1400">
                        <a:latin typeface="+mn-l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spc="-10" dirty="0">
                          <a:latin typeface="+mn-lt"/>
                          <a:cs typeface="Arial MT"/>
                        </a:rPr>
                        <a:t>20220104</a:t>
                      </a:r>
                      <a:endParaRPr sz="1400">
                        <a:latin typeface="+mn-l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50" dirty="0">
                          <a:latin typeface="+mn-lt"/>
                          <a:cs typeface="Arial MT"/>
                        </a:rPr>
                        <a:t>5</a:t>
                      </a:r>
                      <a:endParaRPr sz="1400" dirty="0">
                        <a:latin typeface="+mn-l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r h="673100">
                <a:tc>
                  <a:txBody>
                    <a:bodyPr/>
                    <a:lstStyle/>
                    <a:p>
                      <a:pPr>
                        <a:lnSpc>
                          <a:spcPct val="100000"/>
                        </a:lnSpc>
                      </a:pPr>
                      <a:endParaRPr sz="1900">
                        <a:latin typeface="Times New Roman"/>
                        <a:cs typeface="Times New Roman"/>
                      </a:endParaRPr>
                    </a:p>
                  </a:txBody>
                  <a:tcPr marL="0" marR="0" marT="0" marB="0">
                    <a:lnT w="12700">
                      <a:solidFill>
                        <a:srgbClr val="000000"/>
                      </a:solidFill>
                      <a:prstDash val="solid"/>
                    </a:lnT>
                  </a:tcPr>
                </a:tc>
                <a:tc gridSpan="3">
                  <a:txBody>
                    <a:bodyPr/>
                    <a:lstStyle/>
                    <a:p>
                      <a:pPr marL="207645">
                        <a:lnSpc>
                          <a:spcPct val="100000"/>
                        </a:lnSpc>
                        <a:spcBef>
                          <a:spcPts val="1330"/>
                        </a:spcBef>
                      </a:pPr>
                      <a:r>
                        <a:rPr sz="2400" b="1" dirty="0">
                          <a:solidFill>
                            <a:srgbClr val="D9D9D9"/>
                          </a:solidFill>
                          <a:latin typeface="Calibri"/>
                          <a:cs typeface="Calibri"/>
                        </a:rPr>
                        <a:t>Sales</a:t>
                      </a:r>
                      <a:r>
                        <a:rPr sz="2400" b="1" spc="-40" dirty="0">
                          <a:solidFill>
                            <a:srgbClr val="D9D9D9"/>
                          </a:solidFill>
                          <a:latin typeface="Calibri"/>
                          <a:cs typeface="Calibri"/>
                        </a:rPr>
                        <a:t> </a:t>
                      </a:r>
                      <a:r>
                        <a:rPr sz="2400" b="1" spc="-10" dirty="0">
                          <a:solidFill>
                            <a:srgbClr val="D9D9D9"/>
                          </a:solidFill>
                          <a:latin typeface="Calibri"/>
                          <a:cs typeface="Calibri"/>
                        </a:rPr>
                        <a:t>transactions</a:t>
                      </a:r>
                      <a:endParaRPr sz="2400" dirty="0">
                        <a:latin typeface="Calibri"/>
                        <a:cs typeface="Calibri"/>
                      </a:endParaRPr>
                    </a:p>
                  </a:txBody>
                  <a:tcPr marL="0" marR="0" marT="225213" marB="0">
                    <a:lnT w="12700">
                      <a:solidFill>
                        <a:srgbClr val="000000"/>
                      </a:solidFill>
                      <a:prstDash val="solid"/>
                    </a:lnT>
                    <a:no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6"/>
                  </a:ext>
                </a:extLst>
              </a:tr>
            </a:tbl>
          </a:graphicData>
        </a:graphic>
      </p:graphicFrame>
      <p:sp>
        <p:nvSpPr>
          <p:cNvPr id="6" name="object 6"/>
          <p:cNvSpPr txBox="1"/>
          <p:nvPr/>
        </p:nvSpPr>
        <p:spPr>
          <a:xfrm>
            <a:off x="7891611" y="5913468"/>
            <a:ext cx="2804160" cy="541174"/>
          </a:xfrm>
          <a:prstGeom prst="rect">
            <a:avLst/>
          </a:prstGeom>
          <a:noFill/>
        </p:spPr>
        <p:txBody>
          <a:bodyPr vert="horz" wrap="square" lIns="0" tIns="170180" rIns="0" bIns="0" rtlCol="0">
            <a:spAutoFit/>
          </a:bodyPr>
          <a:lstStyle/>
          <a:p>
            <a:pPr marL="2540" algn="ctr">
              <a:spcBef>
                <a:spcPts val="1340"/>
              </a:spcBef>
            </a:pPr>
            <a:r>
              <a:rPr sz="2400" b="1" spc="-13" dirty="0">
                <a:solidFill>
                  <a:srgbClr val="D9D9D9"/>
                </a:solidFill>
                <a:latin typeface="Calibri"/>
                <a:cs typeface="Calibri"/>
              </a:rPr>
              <a:t>Calls</a:t>
            </a:r>
            <a:endParaRPr sz="2400">
              <a:latin typeface="Calibri"/>
              <a:cs typeface="Calibri"/>
            </a:endParaRPr>
          </a:p>
        </p:txBody>
      </p:sp>
      <p:sp>
        <p:nvSpPr>
          <p:cNvPr id="7" name="object 7"/>
          <p:cNvSpPr txBox="1"/>
          <p:nvPr/>
        </p:nvSpPr>
        <p:spPr>
          <a:xfrm>
            <a:off x="9945624" y="4075177"/>
            <a:ext cx="274320" cy="304421"/>
          </a:xfrm>
          <a:prstGeom prst="rect">
            <a:avLst/>
          </a:prstGeom>
        </p:spPr>
        <p:txBody>
          <a:bodyPr vert="horz" wrap="square" lIns="0" tIns="16933" rIns="0" bIns="0" rtlCol="0">
            <a:spAutoFit/>
          </a:bodyPr>
          <a:lstStyle/>
          <a:p>
            <a:pPr marL="16933">
              <a:spcBef>
                <a:spcPts val="133"/>
              </a:spcBef>
            </a:pPr>
            <a:r>
              <a:rPr sz="1867" b="1" spc="-33" dirty="0">
                <a:solidFill>
                  <a:srgbClr val="D9D9D9"/>
                </a:solidFill>
                <a:latin typeface="Calibri"/>
                <a:cs typeface="Calibri"/>
              </a:rPr>
              <a:t>FK</a:t>
            </a:r>
            <a:endParaRPr sz="1867">
              <a:latin typeface="Calibri"/>
              <a:cs typeface="Calibri"/>
            </a:endParaRPr>
          </a:p>
        </p:txBody>
      </p:sp>
      <p:sp>
        <p:nvSpPr>
          <p:cNvPr id="8" name="object 8"/>
          <p:cNvSpPr txBox="1"/>
          <p:nvPr/>
        </p:nvSpPr>
        <p:spPr>
          <a:xfrm>
            <a:off x="3296073" y="3408002"/>
            <a:ext cx="5712460" cy="972981"/>
          </a:xfrm>
          <a:prstGeom prst="rect">
            <a:avLst/>
          </a:prstGeom>
        </p:spPr>
        <p:txBody>
          <a:bodyPr vert="horz" wrap="square" lIns="0" tIns="186267" rIns="0" bIns="0" rtlCol="0">
            <a:spAutoFit/>
          </a:bodyPr>
          <a:lstStyle/>
          <a:p>
            <a:pPr marL="397923" indent="-380990">
              <a:spcBef>
                <a:spcPts val="1467"/>
              </a:spcBef>
              <a:buClr>
                <a:srgbClr val="99D3FF"/>
              </a:buClr>
              <a:buFont typeface="Wingdings"/>
              <a:buChar char=""/>
              <a:tabLst>
                <a:tab pos="397923" algn="l"/>
              </a:tabLst>
            </a:pPr>
            <a:r>
              <a:rPr sz="2400" b="1" dirty="0">
                <a:solidFill>
                  <a:srgbClr val="D9D9D9"/>
                </a:solidFill>
                <a:latin typeface="Calibri"/>
                <a:cs typeface="Calibri"/>
              </a:rPr>
              <a:t>One</a:t>
            </a:r>
            <a:r>
              <a:rPr sz="2400" b="1" spc="-27" dirty="0">
                <a:solidFill>
                  <a:srgbClr val="D9D9D9"/>
                </a:solidFill>
                <a:latin typeface="Calibri"/>
                <a:cs typeface="Calibri"/>
              </a:rPr>
              <a:t> </a:t>
            </a:r>
            <a:r>
              <a:rPr sz="2400" b="1" dirty="0">
                <a:solidFill>
                  <a:srgbClr val="D9D9D9"/>
                </a:solidFill>
                <a:latin typeface="Calibri"/>
                <a:cs typeface="Calibri"/>
              </a:rPr>
              <a:t>transaction</a:t>
            </a:r>
            <a:r>
              <a:rPr sz="2400" b="1" spc="-60" dirty="0">
                <a:solidFill>
                  <a:srgbClr val="D9D9D9"/>
                </a:solidFill>
                <a:latin typeface="Calibri"/>
                <a:cs typeface="Calibri"/>
              </a:rPr>
              <a:t> </a:t>
            </a:r>
            <a:r>
              <a:rPr sz="2400" b="1" dirty="0">
                <a:solidFill>
                  <a:srgbClr val="D9D9D9"/>
                </a:solidFill>
                <a:latin typeface="Calibri"/>
                <a:cs typeface="Calibri"/>
              </a:rPr>
              <a:t>defines</a:t>
            </a:r>
            <a:r>
              <a:rPr sz="2400" b="1" spc="-27" dirty="0">
                <a:solidFill>
                  <a:srgbClr val="D9D9D9"/>
                </a:solidFill>
                <a:latin typeface="Calibri"/>
                <a:cs typeface="Calibri"/>
              </a:rPr>
              <a:t> </a:t>
            </a:r>
            <a:r>
              <a:rPr sz="2400" b="1" dirty="0">
                <a:solidFill>
                  <a:srgbClr val="D9D9D9"/>
                </a:solidFill>
                <a:latin typeface="Calibri"/>
                <a:cs typeface="Calibri"/>
              </a:rPr>
              <a:t>the</a:t>
            </a:r>
            <a:r>
              <a:rPr sz="2400" b="1" spc="-67" dirty="0">
                <a:solidFill>
                  <a:srgbClr val="D9D9D9"/>
                </a:solidFill>
                <a:latin typeface="Calibri"/>
                <a:cs typeface="Calibri"/>
              </a:rPr>
              <a:t> </a:t>
            </a:r>
            <a:r>
              <a:rPr sz="2400" b="1" dirty="0">
                <a:solidFill>
                  <a:srgbClr val="D9D9D9"/>
                </a:solidFill>
                <a:latin typeface="Calibri"/>
                <a:cs typeface="Calibri"/>
              </a:rPr>
              <a:t>lowest</a:t>
            </a:r>
            <a:r>
              <a:rPr sz="2400" b="1" spc="-47" dirty="0">
                <a:solidFill>
                  <a:srgbClr val="D9D9D9"/>
                </a:solidFill>
                <a:latin typeface="Calibri"/>
                <a:cs typeface="Calibri"/>
              </a:rPr>
              <a:t> </a:t>
            </a:r>
            <a:r>
              <a:rPr sz="2400" b="1" spc="-13" dirty="0">
                <a:solidFill>
                  <a:srgbClr val="D9D9D9"/>
                </a:solidFill>
                <a:latin typeface="Calibri"/>
                <a:cs typeface="Calibri"/>
              </a:rPr>
              <a:t>grain</a:t>
            </a:r>
            <a:endParaRPr sz="2400">
              <a:latin typeface="Calibri"/>
              <a:cs typeface="Calibri"/>
            </a:endParaRPr>
          </a:p>
          <a:p>
            <a:pPr marL="280240">
              <a:spcBef>
                <a:spcPts val="1047"/>
              </a:spcBef>
              <a:tabLst>
                <a:tab pos="1329233" algn="l"/>
                <a:tab pos="1954058" algn="l"/>
                <a:tab pos="4615911" algn="l"/>
                <a:tab pos="5454090" algn="l"/>
              </a:tabLst>
            </a:pPr>
            <a:r>
              <a:rPr sz="2800" b="1" spc="-49" baseline="5952" dirty="0">
                <a:solidFill>
                  <a:srgbClr val="D9D9D9"/>
                </a:solidFill>
                <a:latin typeface="Calibri"/>
                <a:cs typeface="Calibri"/>
              </a:rPr>
              <a:t>FK</a:t>
            </a:r>
            <a:r>
              <a:rPr sz="2800" b="1" baseline="5952" dirty="0">
                <a:solidFill>
                  <a:srgbClr val="D9D9D9"/>
                </a:solidFill>
                <a:latin typeface="Calibri"/>
                <a:cs typeface="Calibri"/>
              </a:rPr>
              <a:t>	</a:t>
            </a:r>
            <a:r>
              <a:rPr sz="1867" b="1" spc="-33" dirty="0">
                <a:solidFill>
                  <a:srgbClr val="D9D9D9"/>
                </a:solidFill>
                <a:latin typeface="Calibri"/>
                <a:cs typeface="Calibri"/>
              </a:rPr>
              <a:t>FK</a:t>
            </a:r>
            <a:r>
              <a:rPr sz="1867" b="1" dirty="0">
                <a:solidFill>
                  <a:srgbClr val="D9D9D9"/>
                </a:solidFill>
                <a:latin typeface="Calibri"/>
                <a:cs typeface="Calibri"/>
              </a:rPr>
              <a:t>	</a:t>
            </a:r>
            <a:r>
              <a:rPr sz="1867" b="1" spc="-13" dirty="0">
                <a:solidFill>
                  <a:srgbClr val="66DBFF"/>
                </a:solidFill>
                <a:latin typeface="Calibri"/>
                <a:cs typeface="Calibri"/>
              </a:rPr>
              <a:t>Measure</a:t>
            </a:r>
            <a:r>
              <a:rPr sz="1867" b="1" dirty="0">
                <a:solidFill>
                  <a:srgbClr val="66DBFF"/>
                </a:solidFill>
                <a:latin typeface="Calibri"/>
                <a:cs typeface="Calibri"/>
              </a:rPr>
              <a:t>	</a:t>
            </a:r>
            <a:r>
              <a:rPr sz="2800" b="1" spc="-49" baseline="5952" dirty="0">
                <a:solidFill>
                  <a:srgbClr val="D9D9D9"/>
                </a:solidFill>
                <a:latin typeface="Calibri"/>
                <a:cs typeface="Calibri"/>
              </a:rPr>
              <a:t>FK</a:t>
            </a:r>
            <a:r>
              <a:rPr sz="2800" b="1" baseline="5952" dirty="0">
                <a:solidFill>
                  <a:srgbClr val="D9D9D9"/>
                </a:solidFill>
                <a:latin typeface="Calibri"/>
                <a:cs typeface="Calibri"/>
              </a:rPr>
              <a:t>	</a:t>
            </a:r>
            <a:r>
              <a:rPr sz="1867" b="1" spc="-33" dirty="0">
                <a:solidFill>
                  <a:srgbClr val="D9D9D9"/>
                </a:solidFill>
                <a:latin typeface="Calibri"/>
                <a:cs typeface="Calibri"/>
              </a:rPr>
              <a:t>FK</a:t>
            </a:r>
            <a:endParaRPr sz="1867">
              <a:latin typeface="Calibri"/>
              <a:cs typeface="Calibri"/>
            </a:endParaRPr>
          </a:p>
        </p:txBody>
      </p:sp>
      <p:sp>
        <p:nvSpPr>
          <p:cNvPr id="9" name="object 9"/>
          <p:cNvSpPr txBox="1"/>
          <p:nvPr/>
        </p:nvSpPr>
        <p:spPr>
          <a:xfrm>
            <a:off x="10695771" y="4051978"/>
            <a:ext cx="907627" cy="304421"/>
          </a:xfrm>
          <a:prstGeom prst="rect">
            <a:avLst/>
          </a:prstGeom>
        </p:spPr>
        <p:txBody>
          <a:bodyPr vert="horz" wrap="square" lIns="0" tIns="16933" rIns="0" bIns="0" rtlCol="0">
            <a:spAutoFit/>
          </a:bodyPr>
          <a:lstStyle/>
          <a:p>
            <a:pPr marL="16933">
              <a:spcBef>
                <a:spcPts val="133"/>
              </a:spcBef>
            </a:pPr>
            <a:r>
              <a:rPr sz="1867" b="1" spc="-13" dirty="0">
                <a:solidFill>
                  <a:srgbClr val="66DBFF"/>
                </a:solidFill>
                <a:latin typeface="Calibri"/>
                <a:cs typeface="Calibri"/>
              </a:rPr>
              <a:t>Measure</a:t>
            </a:r>
            <a:endParaRPr sz="1867">
              <a:latin typeface="Calibri"/>
              <a:cs typeface="Calibri"/>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10242" y="173709"/>
            <a:ext cx="8038759" cy="695062"/>
          </a:xfrm>
          <a:prstGeom prst="rect">
            <a:avLst/>
          </a:prstGeom>
        </p:spPr>
        <p:txBody>
          <a:bodyPr vert="horz" wrap="square" lIns="0" tIns="17780" rIns="0" bIns="0" rtlCol="0" anchor="ctr">
            <a:spAutoFit/>
          </a:bodyPr>
          <a:lstStyle/>
          <a:p>
            <a:pPr marL="2085288">
              <a:lnSpc>
                <a:spcPct val="100000"/>
              </a:lnSpc>
              <a:spcBef>
                <a:spcPts val="140"/>
              </a:spcBef>
            </a:pPr>
            <a:r>
              <a:rPr spc="-13" dirty="0">
                <a:solidFill>
                  <a:schemeClr val="bg1"/>
                </a:solidFill>
                <a:latin typeface="+mn-lt"/>
              </a:rPr>
              <a:t>Characteristics</a:t>
            </a:r>
          </a:p>
        </p:txBody>
      </p:sp>
      <p:graphicFrame>
        <p:nvGraphicFramePr>
          <p:cNvPr id="3" name="object 3"/>
          <p:cNvGraphicFramePr>
            <a:graphicFrameLocks noGrp="1"/>
          </p:cNvGraphicFramePr>
          <p:nvPr>
            <p:extLst>
              <p:ext uri="{D42A27DB-BD31-4B8C-83A1-F6EECF244321}">
                <p14:modId xmlns:p14="http://schemas.microsoft.com/office/powerpoint/2010/main" val="2062496737"/>
              </p:ext>
            </p:extLst>
          </p:nvPr>
        </p:nvGraphicFramePr>
        <p:xfrm>
          <a:off x="6867653" y="4399619"/>
          <a:ext cx="4720166" cy="1495213"/>
        </p:xfrm>
        <a:graphic>
          <a:graphicData uri="http://schemas.openxmlformats.org/drawingml/2006/table">
            <a:tbl>
              <a:tblPr firstRow="1" bandRow="1">
                <a:tableStyleId>{2D5ABB26-0587-4C30-8999-92F81FD0307C}</a:tableStyleId>
              </a:tblPr>
              <a:tblGrid>
                <a:gridCol w="757767">
                  <a:extLst>
                    <a:ext uri="{9D8B030D-6E8A-4147-A177-3AD203B41FA5}">
                      <a16:colId xmlns:a16="http://schemas.microsoft.com/office/drawing/2014/main" val="20000"/>
                    </a:ext>
                  </a:extLst>
                </a:gridCol>
                <a:gridCol w="799253">
                  <a:extLst>
                    <a:ext uri="{9D8B030D-6E8A-4147-A177-3AD203B41FA5}">
                      <a16:colId xmlns:a16="http://schemas.microsoft.com/office/drawing/2014/main" val="20001"/>
                    </a:ext>
                  </a:extLst>
                </a:gridCol>
                <a:gridCol w="1015999">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927947">
                  <a:extLst>
                    <a:ext uri="{9D8B030D-6E8A-4147-A177-3AD203B41FA5}">
                      <a16:colId xmlns:a16="http://schemas.microsoft.com/office/drawing/2014/main" val="20004"/>
                    </a:ext>
                  </a:extLst>
                </a:gridCol>
              </a:tblGrid>
              <a:tr h="225213">
                <a:tc>
                  <a:txBody>
                    <a:bodyPr/>
                    <a:lstStyle/>
                    <a:p>
                      <a:pPr marL="635" algn="ctr">
                        <a:lnSpc>
                          <a:spcPct val="100000"/>
                        </a:lnSpc>
                        <a:spcBef>
                          <a:spcPts val="65"/>
                        </a:spcBef>
                      </a:pPr>
                      <a:r>
                        <a:rPr sz="1400" b="1" spc="-10" dirty="0">
                          <a:solidFill>
                            <a:schemeClr val="bg1"/>
                          </a:solidFill>
                          <a:latin typeface="Arial"/>
                          <a:cs typeface="Arial"/>
                        </a:rPr>
                        <a:t>call_id</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1905" algn="ctr">
                        <a:lnSpc>
                          <a:spcPct val="100000"/>
                        </a:lnSpc>
                        <a:spcBef>
                          <a:spcPts val="65"/>
                        </a:spcBef>
                      </a:pPr>
                      <a:r>
                        <a:rPr sz="1400" b="1" spc="-10" dirty="0">
                          <a:solidFill>
                            <a:schemeClr val="bg1"/>
                          </a:solidFill>
                          <a:latin typeface="Arial"/>
                          <a:cs typeface="Arial"/>
                        </a:rPr>
                        <a:t>emp_id</a:t>
                      </a:r>
                      <a:endParaRPr sz="140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1905" algn="ctr">
                        <a:lnSpc>
                          <a:spcPct val="100000"/>
                        </a:lnSpc>
                        <a:spcBef>
                          <a:spcPts val="65"/>
                        </a:spcBef>
                      </a:pPr>
                      <a:r>
                        <a:rPr sz="1400" b="1" spc="-10" dirty="0">
                          <a:solidFill>
                            <a:schemeClr val="bg1"/>
                          </a:solidFill>
                          <a:latin typeface="Arial"/>
                          <a:cs typeface="Arial"/>
                        </a:rPr>
                        <a:t>date_id</a:t>
                      </a:r>
                      <a:endParaRPr sz="140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635" algn="ctr">
                        <a:lnSpc>
                          <a:spcPct val="100000"/>
                        </a:lnSpc>
                        <a:spcBef>
                          <a:spcPts val="65"/>
                        </a:spcBef>
                      </a:pPr>
                      <a:r>
                        <a:rPr sz="1400" b="1" spc="-10" dirty="0">
                          <a:solidFill>
                            <a:schemeClr val="bg1"/>
                          </a:solidFill>
                          <a:latin typeface="Arial"/>
                          <a:cs typeface="Arial"/>
                        </a:rPr>
                        <a:t>customer_id</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1905" algn="ctr">
                        <a:lnSpc>
                          <a:spcPct val="100000"/>
                        </a:lnSpc>
                        <a:spcBef>
                          <a:spcPts val="65"/>
                        </a:spcBef>
                      </a:pPr>
                      <a:r>
                        <a:rPr sz="1400" b="1" spc="-10" dirty="0">
                          <a:solidFill>
                            <a:schemeClr val="bg1"/>
                          </a:solidFill>
                          <a:latin typeface="Arial"/>
                          <a:cs typeface="Arial"/>
                        </a:rPr>
                        <a:t>duration</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extLst>
                  <a:ext uri="{0D108BD9-81ED-4DB2-BD59-A6C34878D82A}">
                    <a16:rowId xmlns:a16="http://schemas.microsoft.com/office/drawing/2014/main" val="10000"/>
                  </a:ext>
                </a:extLst>
              </a:tr>
              <a:tr h="254000">
                <a:tc>
                  <a:txBody>
                    <a:bodyPr/>
                    <a:lstStyle/>
                    <a:p>
                      <a:pPr marL="635"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50" dirty="0">
                          <a:latin typeface="Arial MT"/>
                          <a:cs typeface="Arial MT"/>
                        </a:rPr>
                        <a:t>3</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20220101</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5"/>
                        </a:spcBef>
                      </a:pPr>
                      <a:r>
                        <a:rPr sz="1400" spc="-25" dirty="0">
                          <a:latin typeface="Arial MT"/>
                          <a:cs typeface="Arial MT"/>
                        </a:rPr>
                        <a:t>43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marL="635"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50" dirty="0">
                          <a:latin typeface="Arial MT"/>
                          <a:cs typeface="Arial MT"/>
                        </a:rPr>
                        <a:t>5</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20220102</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50" dirty="0">
                          <a:latin typeface="Arial MT"/>
                          <a:cs typeface="Arial MT"/>
                        </a:rPr>
                        <a:t>1</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5"/>
                        </a:spcBef>
                      </a:pPr>
                      <a:r>
                        <a:rPr sz="1400" spc="-25" dirty="0">
                          <a:latin typeface="Arial MT"/>
                          <a:cs typeface="Arial MT"/>
                        </a:rPr>
                        <a:t>12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marL="635" algn="ctr">
                        <a:lnSpc>
                          <a:spcPct val="10000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50" dirty="0">
                          <a:latin typeface="Arial MT"/>
                          <a:cs typeface="Arial MT"/>
                        </a:rPr>
                        <a:t>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10" dirty="0">
                          <a:latin typeface="Arial MT"/>
                          <a:cs typeface="Arial MT"/>
                        </a:rPr>
                        <a:t>20220102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spc="-50" dirty="0">
                          <a:latin typeface="Arial MT"/>
                          <a:cs typeface="Arial MT"/>
                        </a:rPr>
                        <a:t>2</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spc="-25" dirty="0">
                          <a:latin typeface="Arial MT"/>
                          <a:cs typeface="Arial MT"/>
                        </a:rPr>
                        <a:t>134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marL="635" algn="ctr">
                        <a:lnSpc>
                          <a:spcPct val="100000"/>
                        </a:lnSpc>
                        <a:spcBef>
                          <a:spcPts val="229"/>
                        </a:spcBef>
                      </a:pPr>
                      <a:r>
                        <a:rPr sz="1400" spc="-50" dirty="0">
                          <a:latin typeface="Arial MT"/>
                          <a:cs typeface="Arial MT"/>
                        </a:rPr>
                        <a:t>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10" dirty="0">
                          <a:latin typeface="Arial MT"/>
                          <a:cs typeface="Arial MT"/>
                        </a:rPr>
                        <a:t>20220103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spc="-50" dirty="0">
                          <a:latin typeface="Arial MT"/>
                          <a:cs typeface="Arial MT"/>
                        </a:rPr>
                        <a:t>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9"/>
                        </a:spcBef>
                      </a:pPr>
                      <a:r>
                        <a:rPr sz="1400" spc="-25" dirty="0">
                          <a:latin typeface="Arial MT"/>
                          <a:cs typeface="Arial MT"/>
                        </a:rPr>
                        <a:t>62</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marL="635" algn="ctr">
                        <a:lnSpc>
                          <a:spcPct val="100000"/>
                        </a:lnSpc>
                        <a:spcBef>
                          <a:spcPts val="229"/>
                        </a:spcBef>
                      </a:pPr>
                      <a:r>
                        <a:rPr sz="1400" spc="-50" dirty="0">
                          <a:latin typeface="Arial MT"/>
                          <a:cs typeface="Arial MT"/>
                        </a:rPr>
                        <a:t>5</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10" dirty="0">
                          <a:latin typeface="Arial MT"/>
                          <a:cs typeface="Arial MT"/>
                        </a:rPr>
                        <a:t>20220104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spc="-50" dirty="0">
                          <a:latin typeface="Arial MT"/>
                          <a:cs typeface="Arial MT"/>
                        </a:rPr>
                        <a:t>5</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9"/>
                        </a:spcBef>
                      </a:pPr>
                      <a:r>
                        <a:rPr sz="1400" spc="-25" dirty="0">
                          <a:latin typeface="Arial MT"/>
                          <a:cs typeface="Arial MT"/>
                        </a:rPr>
                        <a:t>22</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graphicFrame>
        <p:nvGraphicFramePr>
          <p:cNvPr id="4" name="object 4"/>
          <p:cNvGraphicFramePr>
            <a:graphicFrameLocks noGrp="1"/>
          </p:cNvGraphicFramePr>
          <p:nvPr>
            <p:extLst>
              <p:ext uri="{D42A27DB-BD31-4B8C-83A1-F6EECF244321}">
                <p14:modId xmlns:p14="http://schemas.microsoft.com/office/powerpoint/2010/main" val="4142678719"/>
              </p:ext>
            </p:extLst>
          </p:nvPr>
        </p:nvGraphicFramePr>
        <p:xfrm>
          <a:off x="2257722" y="4399787"/>
          <a:ext cx="3771900" cy="2167466"/>
        </p:xfrm>
        <a:graphic>
          <a:graphicData uri="http://schemas.openxmlformats.org/drawingml/2006/table">
            <a:tbl>
              <a:tblPr firstRow="1" bandRow="1">
                <a:tableStyleId>{2D5ABB26-0587-4C30-8999-92F81FD0307C}</a:tableStyleId>
              </a:tblPr>
              <a:tblGrid>
                <a:gridCol w="9144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698500">
                  <a:extLst>
                    <a:ext uri="{9D8B030D-6E8A-4147-A177-3AD203B41FA5}">
                      <a16:colId xmlns:a16="http://schemas.microsoft.com/office/drawing/2014/main" val="20003"/>
                    </a:ext>
                  </a:extLst>
                </a:gridCol>
              </a:tblGrid>
              <a:tr h="225213">
                <a:tc>
                  <a:txBody>
                    <a:bodyPr/>
                    <a:lstStyle/>
                    <a:p>
                      <a:pPr algn="ctr">
                        <a:lnSpc>
                          <a:spcPct val="100000"/>
                        </a:lnSpc>
                        <a:spcBef>
                          <a:spcPts val="60"/>
                        </a:spcBef>
                      </a:pPr>
                      <a:r>
                        <a:rPr sz="1400" b="1" spc="-10" dirty="0">
                          <a:solidFill>
                            <a:schemeClr val="bg1"/>
                          </a:solidFill>
                          <a:latin typeface="+mn-lt"/>
                          <a:cs typeface="Arial"/>
                        </a:rPr>
                        <a:t>sales_id</a:t>
                      </a:r>
                      <a:endParaRPr sz="1400" dirty="0">
                        <a:solidFill>
                          <a:schemeClr val="bg1"/>
                        </a:solidFill>
                        <a:latin typeface="+mn-lt"/>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2540" algn="ctr">
                        <a:lnSpc>
                          <a:spcPct val="100000"/>
                        </a:lnSpc>
                        <a:spcBef>
                          <a:spcPts val="60"/>
                        </a:spcBef>
                      </a:pPr>
                      <a:r>
                        <a:rPr sz="1400" b="1" spc="-10" dirty="0">
                          <a:solidFill>
                            <a:schemeClr val="bg1"/>
                          </a:solidFill>
                          <a:latin typeface="+mn-lt"/>
                          <a:cs typeface="Arial"/>
                        </a:rPr>
                        <a:t>product_id</a:t>
                      </a:r>
                      <a:endParaRPr sz="1400" dirty="0">
                        <a:solidFill>
                          <a:schemeClr val="bg1"/>
                        </a:solidFill>
                        <a:latin typeface="+mn-lt"/>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1270" algn="ctr">
                        <a:lnSpc>
                          <a:spcPct val="100000"/>
                        </a:lnSpc>
                        <a:spcBef>
                          <a:spcPts val="60"/>
                        </a:spcBef>
                      </a:pPr>
                      <a:r>
                        <a:rPr sz="1400" b="1" spc="-10" dirty="0">
                          <a:solidFill>
                            <a:schemeClr val="bg1"/>
                          </a:solidFill>
                          <a:latin typeface="+mn-lt"/>
                          <a:cs typeface="Arial"/>
                        </a:rPr>
                        <a:t>date_id</a:t>
                      </a:r>
                      <a:endParaRPr sz="1400">
                        <a:solidFill>
                          <a:schemeClr val="bg1"/>
                        </a:solidFill>
                        <a:latin typeface="+mn-lt"/>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635" algn="ctr">
                        <a:lnSpc>
                          <a:spcPct val="100000"/>
                        </a:lnSpc>
                        <a:spcBef>
                          <a:spcPts val="60"/>
                        </a:spcBef>
                      </a:pPr>
                      <a:r>
                        <a:rPr sz="1400" b="1" spc="-10" dirty="0">
                          <a:solidFill>
                            <a:schemeClr val="bg1"/>
                          </a:solidFill>
                          <a:latin typeface="+mn-lt"/>
                          <a:cs typeface="Arial"/>
                        </a:rPr>
                        <a:t>units</a:t>
                      </a:r>
                      <a:endParaRPr sz="1400" dirty="0">
                        <a:solidFill>
                          <a:schemeClr val="bg1"/>
                        </a:solidFill>
                        <a:latin typeface="+mn-lt"/>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extLst>
                  <a:ext uri="{0D108BD9-81ED-4DB2-BD59-A6C34878D82A}">
                    <a16:rowId xmlns:a16="http://schemas.microsoft.com/office/drawing/2014/main" val="10000"/>
                  </a:ext>
                </a:extLst>
              </a:tr>
              <a:tr h="254000">
                <a:tc>
                  <a:txBody>
                    <a:bodyPr/>
                    <a:lstStyle/>
                    <a:p>
                      <a:pPr algn="ctr">
                        <a:lnSpc>
                          <a:spcPct val="100000"/>
                        </a:lnSpc>
                        <a:spcBef>
                          <a:spcPts val="225"/>
                        </a:spcBef>
                      </a:pPr>
                      <a:r>
                        <a:rPr sz="1400" spc="-50" dirty="0">
                          <a:latin typeface="+mn-lt"/>
                          <a:cs typeface="Arial MT"/>
                        </a:rPr>
                        <a:t>1</a:t>
                      </a:r>
                      <a:endParaRPr sz="1400" dirty="0">
                        <a:latin typeface="+mn-l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50" dirty="0">
                          <a:latin typeface="+mn-lt"/>
                          <a:cs typeface="Arial MT"/>
                        </a:rPr>
                        <a:t>3</a:t>
                      </a:r>
                      <a:endParaRPr sz="1400" dirty="0">
                        <a:latin typeface="+mn-l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mn-lt"/>
                          <a:cs typeface="Arial MT"/>
                        </a:rPr>
                        <a:t>20220101</a:t>
                      </a:r>
                      <a:endParaRPr sz="1400" dirty="0">
                        <a:latin typeface="+mn-l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50" dirty="0">
                          <a:latin typeface="+mn-lt"/>
                          <a:cs typeface="Arial MT"/>
                        </a:rPr>
                        <a:t>1</a:t>
                      </a:r>
                      <a:endParaRPr sz="1400" dirty="0">
                        <a:latin typeface="+mn-l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ct val="100000"/>
                        </a:lnSpc>
                        <a:spcBef>
                          <a:spcPts val="225"/>
                        </a:spcBef>
                      </a:pPr>
                      <a:r>
                        <a:rPr sz="1400" spc="-50" dirty="0">
                          <a:latin typeface="+mn-lt"/>
                          <a:cs typeface="Arial MT"/>
                        </a:rPr>
                        <a:t>2</a:t>
                      </a:r>
                      <a:endParaRPr sz="1400">
                        <a:latin typeface="+mn-l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50" dirty="0">
                          <a:latin typeface="+mn-lt"/>
                          <a:cs typeface="Arial MT"/>
                        </a:rPr>
                        <a:t>5</a:t>
                      </a:r>
                      <a:endParaRPr sz="1400" dirty="0">
                        <a:latin typeface="+mn-l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mn-lt"/>
                          <a:cs typeface="Arial MT"/>
                        </a:rPr>
                        <a:t>20220102</a:t>
                      </a:r>
                      <a:endParaRPr sz="1400" dirty="0">
                        <a:latin typeface="+mn-l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50" dirty="0">
                          <a:latin typeface="+mn-lt"/>
                          <a:cs typeface="Arial MT"/>
                        </a:rPr>
                        <a:t>1</a:t>
                      </a:r>
                      <a:endParaRPr sz="1400">
                        <a:latin typeface="+mn-l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3153">
                <a:tc>
                  <a:txBody>
                    <a:bodyPr/>
                    <a:lstStyle/>
                    <a:p>
                      <a:pPr algn="ctr">
                        <a:lnSpc>
                          <a:spcPct val="100000"/>
                        </a:lnSpc>
                        <a:spcBef>
                          <a:spcPts val="229"/>
                        </a:spcBef>
                      </a:pPr>
                      <a:r>
                        <a:rPr sz="1400" spc="-50" dirty="0">
                          <a:latin typeface="+mn-lt"/>
                          <a:cs typeface="Arial MT"/>
                        </a:rPr>
                        <a:t>3</a:t>
                      </a:r>
                      <a:endParaRPr sz="1400">
                        <a:latin typeface="+mn-l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50" dirty="0">
                          <a:latin typeface="+mn-lt"/>
                          <a:cs typeface="Arial MT"/>
                        </a:rPr>
                        <a:t>2</a:t>
                      </a:r>
                      <a:endParaRPr sz="1400">
                        <a:latin typeface="+mn-l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spc="-10" dirty="0">
                          <a:latin typeface="+mn-lt"/>
                          <a:cs typeface="Arial MT"/>
                        </a:rPr>
                        <a:t>20220102</a:t>
                      </a:r>
                      <a:endParaRPr sz="1400" dirty="0">
                        <a:latin typeface="+mn-l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50" dirty="0">
                          <a:latin typeface="+mn-lt"/>
                          <a:cs typeface="Arial MT"/>
                        </a:rPr>
                        <a:t>2</a:t>
                      </a:r>
                      <a:endParaRPr sz="1400">
                        <a:latin typeface="+mn-l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algn="ctr">
                        <a:lnSpc>
                          <a:spcPct val="100000"/>
                        </a:lnSpc>
                        <a:spcBef>
                          <a:spcPts val="229"/>
                        </a:spcBef>
                      </a:pPr>
                      <a:r>
                        <a:rPr sz="1400" spc="-50" dirty="0">
                          <a:latin typeface="+mn-lt"/>
                          <a:cs typeface="Arial MT"/>
                        </a:rPr>
                        <a:t>4</a:t>
                      </a:r>
                      <a:endParaRPr sz="1400">
                        <a:latin typeface="+mn-l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50" dirty="0">
                          <a:latin typeface="+mn-lt"/>
                          <a:cs typeface="Arial MT"/>
                        </a:rPr>
                        <a:t>3</a:t>
                      </a:r>
                      <a:endParaRPr sz="1400">
                        <a:latin typeface="+mn-l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spc="-10" dirty="0">
                          <a:latin typeface="+mn-lt"/>
                          <a:cs typeface="Arial MT"/>
                        </a:rPr>
                        <a:t>20220103</a:t>
                      </a:r>
                      <a:endParaRPr sz="1400" dirty="0">
                        <a:latin typeface="+mn-l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50" dirty="0">
                          <a:latin typeface="+mn-lt"/>
                          <a:cs typeface="Arial MT"/>
                        </a:rPr>
                        <a:t>1</a:t>
                      </a:r>
                      <a:endParaRPr sz="1400" dirty="0">
                        <a:latin typeface="+mn-l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algn="ctr">
                        <a:lnSpc>
                          <a:spcPct val="100000"/>
                        </a:lnSpc>
                        <a:spcBef>
                          <a:spcPts val="229"/>
                        </a:spcBef>
                      </a:pPr>
                      <a:r>
                        <a:rPr sz="1400" spc="-50" dirty="0">
                          <a:latin typeface="+mn-lt"/>
                          <a:cs typeface="Arial MT"/>
                        </a:rPr>
                        <a:t>5</a:t>
                      </a:r>
                      <a:endParaRPr sz="1400">
                        <a:latin typeface="+mn-l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50" dirty="0">
                          <a:latin typeface="+mn-lt"/>
                          <a:cs typeface="Arial MT"/>
                        </a:rPr>
                        <a:t>3</a:t>
                      </a:r>
                      <a:endParaRPr sz="1400">
                        <a:latin typeface="+mn-l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spc="-10" dirty="0">
                          <a:latin typeface="+mn-lt"/>
                          <a:cs typeface="Arial MT"/>
                        </a:rPr>
                        <a:t>20220104</a:t>
                      </a:r>
                      <a:endParaRPr sz="1400">
                        <a:latin typeface="+mn-l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50" dirty="0">
                          <a:latin typeface="+mn-lt"/>
                          <a:cs typeface="Arial MT"/>
                        </a:rPr>
                        <a:t>5</a:t>
                      </a:r>
                      <a:endParaRPr sz="1400" dirty="0">
                        <a:latin typeface="+mn-l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r h="673100">
                <a:tc>
                  <a:txBody>
                    <a:bodyPr/>
                    <a:lstStyle/>
                    <a:p>
                      <a:pPr>
                        <a:lnSpc>
                          <a:spcPct val="100000"/>
                        </a:lnSpc>
                      </a:pPr>
                      <a:endParaRPr sz="1900">
                        <a:latin typeface="Times New Roman"/>
                        <a:cs typeface="Times New Roman"/>
                      </a:endParaRPr>
                    </a:p>
                  </a:txBody>
                  <a:tcPr marL="0" marR="0" marT="0" marB="0">
                    <a:lnT w="12700">
                      <a:solidFill>
                        <a:srgbClr val="000000"/>
                      </a:solidFill>
                      <a:prstDash val="solid"/>
                    </a:lnT>
                  </a:tcPr>
                </a:tc>
                <a:tc gridSpan="3">
                  <a:txBody>
                    <a:bodyPr/>
                    <a:lstStyle/>
                    <a:p>
                      <a:pPr marL="207645" marR="0" lvl="0" indent="0" algn="l" defTabSz="914400" rtl="0" eaLnBrk="1" fontAlgn="auto" latinLnBrk="0" hangingPunct="1">
                        <a:lnSpc>
                          <a:spcPct val="100000"/>
                        </a:lnSpc>
                        <a:spcBef>
                          <a:spcPts val="1330"/>
                        </a:spcBef>
                        <a:spcAft>
                          <a:spcPts val="0"/>
                        </a:spcAft>
                        <a:buClrTx/>
                        <a:buSzTx/>
                        <a:buFontTx/>
                        <a:buNone/>
                        <a:tabLst/>
                        <a:defRPr/>
                      </a:pPr>
                      <a:r>
                        <a:rPr lang="en-IN" sz="2400" b="1" dirty="0">
                          <a:solidFill>
                            <a:srgbClr val="D9D9D9"/>
                          </a:solidFill>
                          <a:latin typeface="+mn-lt"/>
                          <a:cs typeface="Calibri"/>
                        </a:rPr>
                        <a:t>Sales</a:t>
                      </a:r>
                      <a:r>
                        <a:rPr lang="en-IN" sz="2400" b="1" spc="-40" dirty="0">
                          <a:solidFill>
                            <a:srgbClr val="D9D9D9"/>
                          </a:solidFill>
                          <a:latin typeface="+mn-lt"/>
                          <a:cs typeface="Calibri"/>
                        </a:rPr>
                        <a:t> </a:t>
                      </a:r>
                      <a:r>
                        <a:rPr lang="en-IN" sz="2400" b="1" spc="-10" dirty="0">
                          <a:solidFill>
                            <a:srgbClr val="D9D9D9"/>
                          </a:solidFill>
                          <a:latin typeface="+mn-lt"/>
                          <a:cs typeface="Calibri"/>
                        </a:rPr>
                        <a:t>transactions</a:t>
                      </a:r>
                      <a:endParaRPr lang="en-IN" sz="2400" dirty="0">
                        <a:latin typeface="+mn-lt"/>
                        <a:cs typeface="Calibri"/>
                      </a:endParaRPr>
                    </a:p>
                  </a:txBody>
                  <a:tcPr marL="0" marR="0" marT="225213" marB="0">
                    <a:lnT w="12700">
                      <a:solidFill>
                        <a:srgbClr val="000000"/>
                      </a:solidFill>
                      <a:prstDash val="solid"/>
                    </a:lnT>
                    <a:no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6"/>
                  </a:ext>
                </a:extLst>
              </a:tr>
            </a:tbl>
          </a:graphicData>
        </a:graphic>
      </p:graphicFrame>
      <p:sp>
        <p:nvSpPr>
          <p:cNvPr id="5" name="object 5"/>
          <p:cNvSpPr txBox="1"/>
          <p:nvPr/>
        </p:nvSpPr>
        <p:spPr>
          <a:xfrm>
            <a:off x="7833360" y="5992369"/>
            <a:ext cx="2804160" cy="541174"/>
          </a:xfrm>
          <a:prstGeom prst="rect">
            <a:avLst/>
          </a:prstGeom>
          <a:noFill/>
        </p:spPr>
        <p:txBody>
          <a:bodyPr vert="horz" wrap="square" lIns="0" tIns="170180" rIns="0" bIns="0" rtlCol="0">
            <a:spAutoFit/>
          </a:bodyPr>
          <a:lstStyle/>
          <a:p>
            <a:pPr marL="2540" algn="ctr">
              <a:spcBef>
                <a:spcPts val="1340"/>
              </a:spcBef>
            </a:pPr>
            <a:r>
              <a:rPr sz="2400" b="1" spc="-13" dirty="0">
                <a:solidFill>
                  <a:srgbClr val="D9D9D9"/>
                </a:solidFill>
                <a:latin typeface="Calibri"/>
                <a:cs typeface="Calibri"/>
              </a:rPr>
              <a:t>Calls</a:t>
            </a:r>
            <a:endParaRPr sz="2400">
              <a:latin typeface="Calibri"/>
              <a:cs typeface="Calibri"/>
            </a:endParaRPr>
          </a:p>
        </p:txBody>
      </p:sp>
      <p:sp>
        <p:nvSpPr>
          <p:cNvPr id="6" name="object 6"/>
          <p:cNvSpPr txBox="1"/>
          <p:nvPr/>
        </p:nvSpPr>
        <p:spPr>
          <a:xfrm>
            <a:off x="3559726" y="4051978"/>
            <a:ext cx="275167" cy="304421"/>
          </a:xfrm>
          <a:prstGeom prst="rect">
            <a:avLst/>
          </a:prstGeom>
        </p:spPr>
        <p:txBody>
          <a:bodyPr vert="horz" wrap="square" lIns="0" tIns="16933" rIns="0" bIns="0" rtlCol="0">
            <a:spAutoFit/>
          </a:bodyPr>
          <a:lstStyle/>
          <a:p>
            <a:pPr marL="16933">
              <a:spcBef>
                <a:spcPts val="133"/>
              </a:spcBef>
            </a:pPr>
            <a:r>
              <a:rPr sz="1867" b="1" spc="-33" dirty="0">
                <a:solidFill>
                  <a:srgbClr val="D9D9D9"/>
                </a:solidFill>
                <a:latin typeface="Calibri"/>
                <a:cs typeface="Calibri"/>
              </a:rPr>
              <a:t>FK</a:t>
            </a:r>
            <a:endParaRPr sz="1867">
              <a:latin typeface="Calibri"/>
              <a:cs typeface="Calibri"/>
            </a:endParaRPr>
          </a:p>
        </p:txBody>
      </p:sp>
      <p:sp>
        <p:nvSpPr>
          <p:cNvPr id="7" name="object 7"/>
          <p:cNvSpPr txBox="1"/>
          <p:nvPr/>
        </p:nvSpPr>
        <p:spPr>
          <a:xfrm>
            <a:off x="7896012" y="4051978"/>
            <a:ext cx="274320" cy="304421"/>
          </a:xfrm>
          <a:prstGeom prst="rect">
            <a:avLst/>
          </a:prstGeom>
        </p:spPr>
        <p:txBody>
          <a:bodyPr vert="horz" wrap="square" lIns="0" tIns="16933" rIns="0" bIns="0" rtlCol="0">
            <a:spAutoFit/>
          </a:bodyPr>
          <a:lstStyle/>
          <a:p>
            <a:pPr marL="16933">
              <a:spcBef>
                <a:spcPts val="133"/>
              </a:spcBef>
            </a:pPr>
            <a:r>
              <a:rPr sz="1867" b="1" spc="-33" dirty="0">
                <a:solidFill>
                  <a:srgbClr val="D9D9D9"/>
                </a:solidFill>
                <a:latin typeface="Calibri"/>
                <a:cs typeface="Calibri"/>
              </a:rPr>
              <a:t>FK</a:t>
            </a:r>
            <a:endParaRPr sz="1867">
              <a:latin typeface="Calibri"/>
              <a:cs typeface="Calibri"/>
            </a:endParaRPr>
          </a:p>
        </p:txBody>
      </p:sp>
      <p:sp>
        <p:nvSpPr>
          <p:cNvPr id="8" name="object 8"/>
          <p:cNvSpPr txBox="1"/>
          <p:nvPr/>
        </p:nvSpPr>
        <p:spPr>
          <a:xfrm>
            <a:off x="8734043" y="4075177"/>
            <a:ext cx="274320" cy="304421"/>
          </a:xfrm>
          <a:prstGeom prst="rect">
            <a:avLst/>
          </a:prstGeom>
        </p:spPr>
        <p:txBody>
          <a:bodyPr vert="horz" wrap="square" lIns="0" tIns="16933" rIns="0" bIns="0" rtlCol="0">
            <a:spAutoFit/>
          </a:bodyPr>
          <a:lstStyle/>
          <a:p>
            <a:pPr marL="16933">
              <a:spcBef>
                <a:spcPts val="133"/>
              </a:spcBef>
            </a:pPr>
            <a:r>
              <a:rPr sz="1867" b="1" spc="-33" dirty="0">
                <a:solidFill>
                  <a:srgbClr val="D9D9D9"/>
                </a:solidFill>
                <a:latin typeface="Calibri"/>
                <a:cs typeface="Calibri"/>
              </a:rPr>
              <a:t>FK</a:t>
            </a:r>
            <a:endParaRPr sz="1867">
              <a:latin typeface="Calibri"/>
              <a:cs typeface="Calibri"/>
            </a:endParaRPr>
          </a:p>
        </p:txBody>
      </p:sp>
      <p:sp>
        <p:nvSpPr>
          <p:cNvPr id="9" name="object 9"/>
          <p:cNvSpPr txBox="1"/>
          <p:nvPr/>
        </p:nvSpPr>
        <p:spPr>
          <a:xfrm>
            <a:off x="9945624" y="4075177"/>
            <a:ext cx="274320" cy="304421"/>
          </a:xfrm>
          <a:prstGeom prst="rect">
            <a:avLst/>
          </a:prstGeom>
        </p:spPr>
        <p:txBody>
          <a:bodyPr vert="horz" wrap="square" lIns="0" tIns="16933" rIns="0" bIns="0" rtlCol="0">
            <a:spAutoFit/>
          </a:bodyPr>
          <a:lstStyle/>
          <a:p>
            <a:pPr marL="16933">
              <a:spcBef>
                <a:spcPts val="133"/>
              </a:spcBef>
            </a:pPr>
            <a:r>
              <a:rPr sz="1867" b="1" spc="-33" dirty="0">
                <a:solidFill>
                  <a:srgbClr val="D9D9D9"/>
                </a:solidFill>
                <a:latin typeface="Calibri"/>
                <a:cs typeface="Calibri"/>
              </a:rPr>
              <a:t>FK</a:t>
            </a:r>
            <a:endParaRPr sz="1867">
              <a:latin typeface="Calibri"/>
              <a:cs typeface="Calibri"/>
            </a:endParaRPr>
          </a:p>
        </p:txBody>
      </p:sp>
      <p:sp>
        <p:nvSpPr>
          <p:cNvPr id="10" name="object 10"/>
          <p:cNvSpPr txBox="1"/>
          <p:nvPr/>
        </p:nvSpPr>
        <p:spPr>
          <a:xfrm>
            <a:off x="4609084" y="4075177"/>
            <a:ext cx="1532467" cy="304421"/>
          </a:xfrm>
          <a:prstGeom prst="rect">
            <a:avLst/>
          </a:prstGeom>
        </p:spPr>
        <p:txBody>
          <a:bodyPr vert="horz" wrap="square" lIns="0" tIns="16933" rIns="0" bIns="0" rtlCol="0">
            <a:spAutoFit/>
          </a:bodyPr>
          <a:lstStyle/>
          <a:p>
            <a:pPr marL="16933">
              <a:spcBef>
                <a:spcPts val="133"/>
              </a:spcBef>
              <a:tabLst>
                <a:tab pos="641757" algn="l"/>
              </a:tabLst>
            </a:pPr>
            <a:r>
              <a:rPr sz="1867" b="1" spc="-33" dirty="0">
                <a:solidFill>
                  <a:srgbClr val="D9D9D9"/>
                </a:solidFill>
                <a:latin typeface="Calibri"/>
                <a:cs typeface="Calibri"/>
              </a:rPr>
              <a:t>FK</a:t>
            </a:r>
            <a:r>
              <a:rPr sz="1867" b="1" dirty="0">
                <a:solidFill>
                  <a:srgbClr val="D9D9D9"/>
                </a:solidFill>
                <a:latin typeface="Calibri"/>
                <a:cs typeface="Calibri"/>
              </a:rPr>
              <a:t>	</a:t>
            </a:r>
            <a:r>
              <a:rPr sz="1867" b="1" spc="-13" dirty="0">
                <a:solidFill>
                  <a:srgbClr val="66DBFF"/>
                </a:solidFill>
                <a:latin typeface="Calibri"/>
                <a:cs typeface="Calibri"/>
              </a:rPr>
              <a:t>Measure</a:t>
            </a:r>
            <a:endParaRPr sz="1867">
              <a:latin typeface="Calibri"/>
              <a:cs typeface="Calibri"/>
            </a:endParaRPr>
          </a:p>
        </p:txBody>
      </p:sp>
      <p:sp>
        <p:nvSpPr>
          <p:cNvPr id="11" name="object 11"/>
          <p:cNvSpPr txBox="1"/>
          <p:nvPr/>
        </p:nvSpPr>
        <p:spPr>
          <a:xfrm>
            <a:off x="10695771" y="4051978"/>
            <a:ext cx="907627" cy="304421"/>
          </a:xfrm>
          <a:prstGeom prst="rect">
            <a:avLst/>
          </a:prstGeom>
        </p:spPr>
        <p:txBody>
          <a:bodyPr vert="horz" wrap="square" lIns="0" tIns="16933" rIns="0" bIns="0" rtlCol="0">
            <a:spAutoFit/>
          </a:bodyPr>
          <a:lstStyle/>
          <a:p>
            <a:pPr marL="16933">
              <a:spcBef>
                <a:spcPts val="133"/>
              </a:spcBef>
            </a:pPr>
            <a:r>
              <a:rPr sz="1867" b="1" spc="-13" dirty="0">
                <a:solidFill>
                  <a:srgbClr val="66DBFF"/>
                </a:solidFill>
                <a:latin typeface="Calibri"/>
                <a:cs typeface="Calibri"/>
              </a:rPr>
              <a:t>Measure</a:t>
            </a:r>
            <a:endParaRPr sz="1867">
              <a:latin typeface="Calibri"/>
              <a:cs typeface="Calibri"/>
            </a:endParaRPr>
          </a:p>
        </p:txBody>
      </p:sp>
      <p:sp>
        <p:nvSpPr>
          <p:cNvPr id="12" name="object 12"/>
          <p:cNvSpPr txBox="1"/>
          <p:nvPr/>
        </p:nvSpPr>
        <p:spPr>
          <a:xfrm>
            <a:off x="3763433" y="1290828"/>
            <a:ext cx="5936827" cy="2592162"/>
          </a:xfrm>
          <a:prstGeom prst="rect">
            <a:avLst/>
          </a:prstGeom>
        </p:spPr>
        <p:txBody>
          <a:bodyPr vert="horz" wrap="square" lIns="0" tIns="16933" rIns="0" bIns="0" rtlCol="0">
            <a:spAutoFit/>
          </a:bodyPr>
          <a:lstStyle/>
          <a:p>
            <a:pPr marL="430943" indent="-380990">
              <a:spcBef>
                <a:spcPts val="133"/>
              </a:spcBef>
              <a:buClr>
                <a:srgbClr val="99D3FF"/>
              </a:buClr>
              <a:buFont typeface="Wingdings"/>
              <a:buChar char=""/>
              <a:tabLst>
                <a:tab pos="430943" algn="l"/>
              </a:tabLst>
            </a:pPr>
            <a:r>
              <a:rPr sz="2400" b="1" dirty="0">
                <a:solidFill>
                  <a:srgbClr val="D9D9D9"/>
                </a:solidFill>
                <a:latin typeface="Calibri"/>
                <a:cs typeface="Calibri"/>
              </a:rPr>
              <a:t>Most</a:t>
            </a:r>
            <a:r>
              <a:rPr sz="2400" b="1" spc="-13" dirty="0">
                <a:solidFill>
                  <a:srgbClr val="D9D9D9"/>
                </a:solidFill>
                <a:latin typeface="Calibri"/>
                <a:cs typeface="Calibri"/>
              </a:rPr>
              <a:t> </a:t>
            </a:r>
            <a:r>
              <a:rPr sz="2400" b="1" dirty="0">
                <a:solidFill>
                  <a:srgbClr val="D9D9D9"/>
                </a:solidFill>
                <a:latin typeface="Calibri"/>
                <a:cs typeface="Calibri"/>
              </a:rPr>
              <a:t>common</a:t>
            </a:r>
            <a:r>
              <a:rPr sz="2400" b="1" spc="-20" dirty="0">
                <a:solidFill>
                  <a:srgbClr val="D9D9D9"/>
                </a:solidFill>
                <a:latin typeface="Calibri"/>
                <a:cs typeface="Calibri"/>
              </a:rPr>
              <a:t> </a:t>
            </a:r>
            <a:r>
              <a:rPr sz="2400" b="1" dirty="0">
                <a:solidFill>
                  <a:srgbClr val="D9D9D9"/>
                </a:solidFill>
                <a:latin typeface="Calibri"/>
                <a:cs typeface="Calibri"/>
              </a:rPr>
              <a:t>and</a:t>
            </a:r>
            <a:r>
              <a:rPr sz="2400" b="1" spc="-27" dirty="0">
                <a:solidFill>
                  <a:srgbClr val="D9D9D9"/>
                </a:solidFill>
                <a:latin typeface="Calibri"/>
                <a:cs typeface="Calibri"/>
              </a:rPr>
              <a:t> </a:t>
            </a:r>
            <a:r>
              <a:rPr sz="2400" b="1" dirty="0">
                <a:solidFill>
                  <a:srgbClr val="D9D9D9"/>
                </a:solidFill>
                <a:latin typeface="Calibri"/>
                <a:cs typeface="Calibri"/>
              </a:rPr>
              <a:t>very</a:t>
            </a:r>
            <a:r>
              <a:rPr sz="2400" b="1" spc="-20" dirty="0">
                <a:solidFill>
                  <a:srgbClr val="D9D9D9"/>
                </a:solidFill>
                <a:latin typeface="Calibri"/>
                <a:cs typeface="Calibri"/>
              </a:rPr>
              <a:t> </a:t>
            </a:r>
            <a:r>
              <a:rPr sz="2400" b="1" spc="-13" dirty="0">
                <a:solidFill>
                  <a:srgbClr val="D9D9D9"/>
                </a:solidFill>
                <a:latin typeface="Calibri"/>
                <a:cs typeface="Calibri"/>
              </a:rPr>
              <a:t>flexible</a:t>
            </a:r>
            <a:endParaRPr sz="2400">
              <a:latin typeface="Calibri"/>
              <a:cs typeface="Calibri"/>
            </a:endParaRPr>
          </a:p>
          <a:p>
            <a:pPr marL="397923" indent="-380990">
              <a:spcBef>
                <a:spcPts val="2747"/>
              </a:spcBef>
              <a:buClr>
                <a:srgbClr val="99D3FF"/>
              </a:buClr>
              <a:buFont typeface="Wingdings"/>
              <a:buChar char=""/>
              <a:tabLst>
                <a:tab pos="397923" algn="l"/>
              </a:tabLst>
            </a:pPr>
            <a:r>
              <a:rPr sz="2400" b="1" dirty="0">
                <a:solidFill>
                  <a:srgbClr val="D9D9D9"/>
                </a:solidFill>
                <a:latin typeface="Calibri"/>
                <a:cs typeface="Calibri"/>
              </a:rPr>
              <a:t>Typically</a:t>
            </a:r>
            <a:r>
              <a:rPr sz="2400" b="1" spc="-73" dirty="0">
                <a:solidFill>
                  <a:srgbClr val="D9D9D9"/>
                </a:solidFill>
                <a:latin typeface="Calibri"/>
                <a:cs typeface="Calibri"/>
              </a:rPr>
              <a:t> </a:t>
            </a:r>
            <a:r>
              <a:rPr sz="2400" b="1" spc="-13" dirty="0">
                <a:solidFill>
                  <a:srgbClr val="D9D9D9"/>
                </a:solidFill>
                <a:latin typeface="Calibri"/>
                <a:cs typeface="Calibri"/>
              </a:rPr>
              <a:t>additive</a:t>
            </a:r>
            <a:endParaRPr sz="2400">
              <a:latin typeface="Calibri"/>
              <a:cs typeface="Calibri"/>
            </a:endParaRPr>
          </a:p>
          <a:p>
            <a:pPr>
              <a:spcBef>
                <a:spcPts val="27"/>
              </a:spcBef>
              <a:buClr>
                <a:srgbClr val="99D3FF"/>
              </a:buClr>
              <a:buFont typeface="Wingdings"/>
              <a:buChar char=""/>
            </a:pPr>
            <a:endParaRPr sz="2400">
              <a:latin typeface="Calibri"/>
              <a:cs typeface="Calibri"/>
            </a:endParaRPr>
          </a:p>
          <a:p>
            <a:pPr marL="397923" indent="-380990">
              <a:buClr>
                <a:srgbClr val="99D3FF"/>
              </a:buClr>
              <a:buFont typeface="Wingdings"/>
              <a:buChar char=""/>
              <a:tabLst>
                <a:tab pos="397923" algn="l"/>
              </a:tabLst>
            </a:pPr>
            <a:r>
              <a:rPr sz="2400" b="1" dirty="0">
                <a:solidFill>
                  <a:srgbClr val="D9D9D9"/>
                </a:solidFill>
                <a:latin typeface="Calibri"/>
                <a:cs typeface="Calibri"/>
              </a:rPr>
              <a:t>Tend</a:t>
            </a:r>
            <a:r>
              <a:rPr sz="2400" b="1" spc="-40" dirty="0">
                <a:solidFill>
                  <a:srgbClr val="D9D9D9"/>
                </a:solidFill>
                <a:latin typeface="Calibri"/>
                <a:cs typeface="Calibri"/>
              </a:rPr>
              <a:t> </a:t>
            </a:r>
            <a:r>
              <a:rPr sz="2400" b="1" dirty="0">
                <a:solidFill>
                  <a:srgbClr val="D9D9D9"/>
                </a:solidFill>
                <a:latin typeface="Calibri"/>
                <a:cs typeface="Calibri"/>
              </a:rPr>
              <a:t>to</a:t>
            </a:r>
            <a:r>
              <a:rPr sz="2400" b="1" spc="-27" dirty="0">
                <a:solidFill>
                  <a:srgbClr val="D9D9D9"/>
                </a:solidFill>
                <a:latin typeface="Calibri"/>
                <a:cs typeface="Calibri"/>
              </a:rPr>
              <a:t> </a:t>
            </a:r>
            <a:r>
              <a:rPr sz="2400" b="1" dirty="0">
                <a:solidFill>
                  <a:srgbClr val="D9D9D9"/>
                </a:solidFill>
                <a:latin typeface="Calibri"/>
                <a:cs typeface="Calibri"/>
              </a:rPr>
              <a:t>have</a:t>
            </a:r>
            <a:r>
              <a:rPr sz="2400" b="1" spc="-20" dirty="0">
                <a:solidFill>
                  <a:srgbClr val="D9D9D9"/>
                </a:solidFill>
                <a:latin typeface="Calibri"/>
                <a:cs typeface="Calibri"/>
              </a:rPr>
              <a:t> </a:t>
            </a:r>
            <a:r>
              <a:rPr sz="2400" b="1" dirty="0">
                <a:solidFill>
                  <a:srgbClr val="D9D9D9"/>
                </a:solidFill>
                <a:latin typeface="Calibri"/>
                <a:cs typeface="Calibri"/>
              </a:rPr>
              <a:t>a</a:t>
            </a:r>
            <a:r>
              <a:rPr sz="2400" b="1" spc="-13" dirty="0">
                <a:solidFill>
                  <a:srgbClr val="D9D9D9"/>
                </a:solidFill>
                <a:latin typeface="Calibri"/>
                <a:cs typeface="Calibri"/>
              </a:rPr>
              <a:t> </a:t>
            </a:r>
            <a:r>
              <a:rPr sz="2400" b="1" dirty="0">
                <a:solidFill>
                  <a:srgbClr val="D9D9D9"/>
                </a:solidFill>
                <a:latin typeface="Calibri"/>
                <a:cs typeface="Calibri"/>
              </a:rPr>
              <a:t>lot</a:t>
            </a:r>
            <a:r>
              <a:rPr sz="2400" b="1" spc="-20" dirty="0">
                <a:solidFill>
                  <a:srgbClr val="D9D9D9"/>
                </a:solidFill>
                <a:latin typeface="Calibri"/>
                <a:cs typeface="Calibri"/>
              </a:rPr>
              <a:t> </a:t>
            </a:r>
            <a:r>
              <a:rPr sz="2400" b="1" dirty="0">
                <a:solidFill>
                  <a:srgbClr val="D9D9D9"/>
                </a:solidFill>
                <a:latin typeface="Calibri"/>
                <a:cs typeface="Calibri"/>
              </a:rPr>
              <a:t>of</a:t>
            </a:r>
            <a:r>
              <a:rPr sz="2400" b="1" spc="-7" dirty="0">
                <a:solidFill>
                  <a:srgbClr val="D9D9D9"/>
                </a:solidFill>
                <a:latin typeface="Calibri"/>
                <a:cs typeface="Calibri"/>
              </a:rPr>
              <a:t> </a:t>
            </a:r>
            <a:r>
              <a:rPr sz="2400" b="1" dirty="0">
                <a:solidFill>
                  <a:srgbClr val="D9D9D9"/>
                </a:solidFill>
                <a:latin typeface="Calibri"/>
                <a:cs typeface="Calibri"/>
              </a:rPr>
              <a:t>dimensions</a:t>
            </a:r>
            <a:r>
              <a:rPr sz="2400" b="1" spc="-33" dirty="0">
                <a:solidFill>
                  <a:srgbClr val="D9D9D9"/>
                </a:solidFill>
                <a:latin typeface="Calibri"/>
                <a:cs typeface="Calibri"/>
              </a:rPr>
              <a:t> </a:t>
            </a:r>
            <a:r>
              <a:rPr sz="2400" b="1" spc="-13" dirty="0">
                <a:solidFill>
                  <a:srgbClr val="D9D9D9"/>
                </a:solidFill>
                <a:latin typeface="Calibri"/>
                <a:cs typeface="Calibri"/>
              </a:rPr>
              <a:t>associated</a:t>
            </a:r>
            <a:endParaRPr sz="2400">
              <a:latin typeface="Calibri"/>
              <a:cs typeface="Calibri"/>
            </a:endParaRPr>
          </a:p>
          <a:p>
            <a:pPr>
              <a:spcBef>
                <a:spcPts val="127"/>
              </a:spcBef>
              <a:buClr>
                <a:srgbClr val="99D3FF"/>
              </a:buClr>
              <a:buFont typeface="Wingdings"/>
              <a:buChar char=""/>
            </a:pPr>
            <a:endParaRPr sz="2400">
              <a:latin typeface="Calibri"/>
              <a:cs typeface="Calibri"/>
            </a:endParaRPr>
          </a:p>
          <a:p>
            <a:pPr marL="397923" indent="-380990">
              <a:buClr>
                <a:srgbClr val="99D3FF"/>
              </a:buClr>
              <a:buFont typeface="Wingdings"/>
              <a:buChar char=""/>
              <a:tabLst>
                <a:tab pos="397923" algn="l"/>
              </a:tabLst>
            </a:pPr>
            <a:r>
              <a:rPr sz="2400" b="1" dirty="0">
                <a:solidFill>
                  <a:srgbClr val="D9D9D9"/>
                </a:solidFill>
                <a:latin typeface="Calibri"/>
                <a:cs typeface="Calibri"/>
              </a:rPr>
              <a:t>Can be</a:t>
            </a:r>
            <a:r>
              <a:rPr sz="2400" b="1" spc="-27" dirty="0">
                <a:solidFill>
                  <a:srgbClr val="D9D9D9"/>
                </a:solidFill>
                <a:latin typeface="Calibri"/>
                <a:cs typeface="Calibri"/>
              </a:rPr>
              <a:t> </a:t>
            </a:r>
            <a:r>
              <a:rPr sz="2400" b="1" dirty="0">
                <a:solidFill>
                  <a:srgbClr val="D9D9D9"/>
                </a:solidFill>
                <a:latin typeface="Calibri"/>
                <a:cs typeface="Calibri"/>
              </a:rPr>
              <a:t>enormous</a:t>
            </a:r>
            <a:r>
              <a:rPr sz="2400" b="1" spc="-47" dirty="0">
                <a:solidFill>
                  <a:srgbClr val="D9D9D9"/>
                </a:solidFill>
                <a:latin typeface="Calibri"/>
                <a:cs typeface="Calibri"/>
              </a:rPr>
              <a:t> </a:t>
            </a:r>
            <a:r>
              <a:rPr sz="2400" b="1" dirty="0">
                <a:solidFill>
                  <a:srgbClr val="D9D9D9"/>
                </a:solidFill>
                <a:latin typeface="Calibri"/>
                <a:cs typeface="Calibri"/>
              </a:rPr>
              <a:t>in</a:t>
            </a:r>
            <a:r>
              <a:rPr sz="2400" b="1" spc="-7" dirty="0">
                <a:solidFill>
                  <a:srgbClr val="D9D9D9"/>
                </a:solidFill>
                <a:latin typeface="Calibri"/>
                <a:cs typeface="Calibri"/>
              </a:rPr>
              <a:t> </a:t>
            </a:r>
            <a:r>
              <a:rPr sz="2400" b="1" spc="-27" dirty="0">
                <a:solidFill>
                  <a:srgbClr val="D9D9D9"/>
                </a:solidFill>
                <a:latin typeface="Calibri"/>
                <a:cs typeface="Calibri"/>
              </a:rPr>
              <a:t>size</a:t>
            </a:r>
            <a:endParaRPr sz="2400">
              <a:latin typeface="Calibri"/>
              <a:cs typeface="Calibri"/>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57807" y="2279903"/>
            <a:ext cx="9930384" cy="1702816"/>
          </a:xfrm>
          <a:prstGeom prst="rect">
            <a:avLst/>
          </a:prstGeom>
        </p:spPr>
      </p:pic>
      <p:sp>
        <p:nvSpPr>
          <p:cNvPr id="3" name="object 3"/>
          <p:cNvSpPr txBox="1">
            <a:spLocks noGrp="1"/>
          </p:cNvSpPr>
          <p:nvPr>
            <p:ph type="title"/>
          </p:nvPr>
        </p:nvSpPr>
        <p:spPr>
          <a:xfrm>
            <a:off x="1320800" y="2579973"/>
            <a:ext cx="9811173" cy="1048150"/>
          </a:xfrm>
          <a:prstGeom prst="rect">
            <a:avLst/>
          </a:prstGeom>
          <a:noFill/>
          <a:ln w="9144">
            <a:noFill/>
          </a:ln>
        </p:spPr>
        <p:txBody>
          <a:bodyPr vert="horz" wrap="square" lIns="0" tIns="306493" rIns="0" bIns="0" rtlCol="0" anchor="ctr">
            <a:spAutoFit/>
          </a:bodyPr>
          <a:lstStyle/>
          <a:p>
            <a:pPr marL="847" algn="ctr">
              <a:lnSpc>
                <a:spcPct val="100000"/>
              </a:lnSpc>
              <a:spcBef>
                <a:spcPts val="2413"/>
              </a:spcBef>
            </a:pPr>
            <a:r>
              <a:rPr sz="4800" dirty="0">
                <a:solidFill>
                  <a:schemeClr val="bg1"/>
                </a:solidFill>
                <a:latin typeface="+mn-lt"/>
              </a:rPr>
              <a:t>Periodic</a:t>
            </a:r>
            <a:r>
              <a:rPr sz="4800" spc="-53" dirty="0">
                <a:solidFill>
                  <a:schemeClr val="bg1"/>
                </a:solidFill>
                <a:latin typeface="+mn-lt"/>
              </a:rPr>
              <a:t> </a:t>
            </a:r>
            <a:r>
              <a:rPr sz="4800" dirty="0">
                <a:solidFill>
                  <a:schemeClr val="bg1"/>
                </a:solidFill>
                <a:latin typeface="+mn-lt"/>
              </a:rPr>
              <a:t>snapshot</a:t>
            </a:r>
            <a:r>
              <a:rPr sz="4800" spc="-40" dirty="0">
                <a:solidFill>
                  <a:schemeClr val="bg1"/>
                </a:solidFill>
                <a:latin typeface="+mn-lt"/>
              </a:rPr>
              <a:t> </a:t>
            </a:r>
            <a:r>
              <a:rPr sz="4800" dirty="0">
                <a:solidFill>
                  <a:schemeClr val="bg1"/>
                </a:solidFill>
                <a:latin typeface="+mn-lt"/>
              </a:rPr>
              <a:t>fact</a:t>
            </a:r>
            <a:r>
              <a:rPr sz="4800" spc="-27" dirty="0">
                <a:solidFill>
                  <a:schemeClr val="bg1"/>
                </a:solidFill>
                <a:latin typeface="+mn-lt"/>
              </a:rPr>
              <a:t> </a:t>
            </a:r>
            <a:r>
              <a:rPr sz="4800" spc="-13" dirty="0">
                <a:solidFill>
                  <a:schemeClr val="bg1"/>
                </a:solidFill>
                <a:latin typeface="+mn-lt"/>
              </a:rPr>
              <a:t>table</a:t>
            </a:r>
            <a:endParaRPr sz="4800" dirty="0">
              <a:solidFill>
                <a:schemeClr val="bg1"/>
              </a:solidFill>
              <a:latin typeface="+mn-lt"/>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59475" y="237915"/>
            <a:ext cx="8291067" cy="695062"/>
          </a:xfrm>
          <a:prstGeom prst="rect">
            <a:avLst/>
          </a:prstGeom>
        </p:spPr>
        <p:txBody>
          <a:bodyPr vert="horz" wrap="square" lIns="0" tIns="17780" rIns="0" bIns="0" rtlCol="0" anchor="ctr">
            <a:spAutoFit/>
          </a:bodyPr>
          <a:lstStyle/>
          <a:p>
            <a:pPr marL="642604">
              <a:lnSpc>
                <a:spcPct val="100000"/>
              </a:lnSpc>
              <a:spcBef>
                <a:spcPts val="140"/>
              </a:spcBef>
            </a:pPr>
            <a:r>
              <a:rPr dirty="0">
                <a:solidFill>
                  <a:schemeClr val="bg1"/>
                </a:solidFill>
                <a:latin typeface="+mn-lt"/>
              </a:rPr>
              <a:t>Periodic</a:t>
            </a:r>
            <a:r>
              <a:rPr spc="-67" dirty="0">
                <a:solidFill>
                  <a:schemeClr val="bg1"/>
                </a:solidFill>
                <a:latin typeface="+mn-lt"/>
              </a:rPr>
              <a:t> </a:t>
            </a:r>
            <a:r>
              <a:rPr dirty="0">
                <a:solidFill>
                  <a:schemeClr val="bg1"/>
                </a:solidFill>
                <a:latin typeface="+mn-lt"/>
              </a:rPr>
              <a:t>snapshot</a:t>
            </a:r>
            <a:r>
              <a:rPr spc="-47" dirty="0">
                <a:solidFill>
                  <a:schemeClr val="bg1"/>
                </a:solidFill>
                <a:latin typeface="+mn-lt"/>
              </a:rPr>
              <a:t> </a:t>
            </a:r>
            <a:r>
              <a:rPr dirty="0">
                <a:solidFill>
                  <a:schemeClr val="bg1"/>
                </a:solidFill>
                <a:latin typeface="+mn-lt"/>
              </a:rPr>
              <a:t>fact</a:t>
            </a:r>
            <a:r>
              <a:rPr spc="-80" dirty="0">
                <a:solidFill>
                  <a:schemeClr val="bg1"/>
                </a:solidFill>
                <a:latin typeface="+mn-lt"/>
              </a:rPr>
              <a:t> </a:t>
            </a:r>
            <a:r>
              <a:rPr spc="-13" dirty="0">
                <a:solidFill>
                  <a:schemeClr val="bg1"/>
                </a:solidFill>
                <a:latin typeface="+mn-lt"/>
              </a:rPr>
              <a:t>table</a:t>
            </a:r>
          </a:p>
        </p:txBody>
      </p:sp>
      <p:sp>
        <p:nvSpPr>
          <p:cNvPr id="3" name="object 3"/>
          <p:cNvSpPr txBox="1"/>
          <p:nvPr/>
        </p:nvSpPr>
        <p:spPr>
          <a:xfrm>
            <a:off x="2875789" y="1854200"/>
            <a:ext cx="7974753" cy="1240510"/>
          </a:xfrm>
          <a:prstGeom prst="rect">
            <a:avLst/>
          </a:prstGeom>
        </p:spPr>
        <p:txBody>
          <a:bodyPr vert="horz" wrap="square" lIns="0" tIns="16933" rIns="0" bIns="0" rtlCol="0">
            <a:spAutoFit/>
          </a:bodyPr>
          <a:lstStyle/>
          <a:p>
            <a:pPr marL="430943" indent="-380990">
              <a:spcBef>
                <a:spcPts val="133"/>
              </a:spcBef>
              <a:buClr>
                <a:srgbClr val="99D3FF"/>
              </a:buClr>
              <a:buFont typeface="Wingdings"/>
              <a:buChar char=""/>
              <a:tabLst>
                <a:tab pos="430943" algn="l"/>
              </a:tabLst>
            </a:pPr>
            <a:r>
              <a:rPr sz="2400" b="1" dirty="0">
                <a:solidFill>
                  <a:srgbClr val="D9D9D9"/>
                </a:solidFill>
                <a:latin typeface="Calibri"/>
                <a:cs typeface="Calibri"/>
              </a:rPr>
              <a:t>1</a:t>
            </a:r>
            <a:r>
              <a:rPr sz="2400" b="1" spc="-13" dirty="0">
                <a:solidFill>
                  <a:srgbClr val="D9D9D9"/>
                </a:solidFill>
                <a:latin typeface="Calibri"/>
                <a:cs typeface="Calibri"/>
              </a:rPr>
              <a:t> </a:t>
            </a:r>
            <a:r>
              <a:rPr sz="2400" b="1" dirty="0">
                <a:solidFill>
                  <a:srgbClr val="D9D9D9"/>
                </a:solidFill>
                <a:latin typeface="Calibri"/>
                <a:cs typeface="Calibri"/>
              </a:rPr>
              <a:t>row</a:t>
            </a:r>
            <a:r>
              <a:rPr sz="2400" b="1" spc="-7" dirty="0">
                <a:solidFill>
                  <a:srgbClr val="D9D9D9"/>
                </a:solidFill>
                <a:latin typeface="Calibri"/>
                <a:cs typeface="Calibri"/>
              </a:rPr>
              <a:t> </a:t>
            </a:r>
            <a:r>
              <a:rPr sz="2400" b="1" dirty="0">
                <a:solidFill>
                  <a:srgbClr val="D9D9D9"/>
                </a:solidFill>
                <a:latin typeface="Calibri"/>
                <a:cs typeface="Calibri"/>
              </a:rPr>
              <a:t>=</a:t>
            </a:r>
            <a:r>
              <a:rPr sz="2400" b="1" spc="-20" dirty="0">
                <a:solidFill>
                  <a:srgbClr val="D9D9D9"/>
                </a:solidFill>
                <a:latin typeface="Calibri"/>
                <a:cs typeface="Calibri"/>
              </a:rPr>
              <a:t> </a:t>
            </a:r>
            <a:r>
              <a:rPr sz="2400" b="1" dirty="0">
                <a:solidFill>
                  <a:srgbClr val="D9D9D9"/>
                </a:solidFill>
                <a:latin typeface="Calibri"/>
                <a:cs typeface="Calibri"/>
              </a:rPr>
              <a:t>summarizes</a:t>
            </a:r>
            <a:r>
              <a:rPr sz="2400" b="1" spc="-53" dirty="0">
                <a:solidFill>
                  <a:srgbClr val="D9D9D9"/>
                </a:solidFill>
                <a:latin typeface="Calibri"/>
                <a:cs typeface="Calibri"/>
              </a:rPr>
              <a:t> </a:t>
            </a:r>
            <a:r>
              <a:rPr sz="2400" b="1" dirty="0">
                <a:solidFill>
                  <a:srgbClr val="D9D9D9"/>
                </a:solidFill>
                <a:latin typeface="Calibri"/>
                <a:cs typeface="Calibri"/>
              </a:rPr>
              <a:t>measure</a:t>
            </a:r>
            <a:r>
              <a:rPr sz="2400" b="1" spc="-53" dirty="0">
                <a:solidFill>
                  <a:srgbClr val="D9D9D9"/>
                </a:solidFill>
                <a:latin typeface="Calibri"/>
                <a:cs typeface="Calibri"/>
              </a:rPr>
              <a:t> </a:t>
            </a:r>
            <a:r>
              <a:rPr sz="2400" b="1" dirty="0">
                <a:solidFill>
                  <a:srgbClr val="D9D9D9"/>
                </a:solidFill>
                <a:latin typeface="Calibri"/>
                <a:cs typeface="Calibri"/>
              </a:rPr>
              <a:t>of</a:t>
            </a:r>
            <a:r>
              <a:rPr sz="2400" b="1" spc="-20" dirty="0">
                <a:solidFill>
                  <a:srgbClr val="D9D9D9"/>
                </a:solidFill>
                <a:latin typeface="Calibri"/>
                <a:cs typeface="Calibri"/>
              </a:rPr>
              <a:t> </a:t>
            </a:r>
            <a:r>
              <a:rPr sz="2400" b="1" dirty="0">
                <a:solidFill>
                  <a:srgbClr val="D9D9D9"/>
                </a:solidFill>
                <a:latin typeface="Calibri"/>
                <a:cs typeface="Calibri"/>
              </a:rPr>
              <a:t>many</a:t>
            </a:r>
            <a:r>
              <a:rPr sz="2400" b="1" spc="-7" dirty="0">
                <a:solidFill>
                  <a:srgbClr val="D9D9D9"/>
                </a:solidFill>
                <a:latin typeface="Calibri"/>
                <a:cs typeface="Calibri"/>
              </a:rPr>
              <a:t> </a:t>
            </a:r>
            <a:r>
              <a:rPr sz="2400" b="1" dirty="0">
                <a:solidFill>
                  <a:srgbClr val="D9D9D9"/>
                </a:solidFill>
                <a:latin typeface="Calibri"/>
                <a:cs typeface="Calibri"/>
              </a:rPr>
              <a:t>events</a:t>
            </a:r>
            <a:r>
              <a:rPr sz="2400" b="1" spc="-27" dirty="0">
                <a:solidFill>
                  <a:srgbClr val="D9D9D9"/>
                </a:solidFill>
                <a:latin typeface="Calibri"/>
                <a:cs typeface="Calibri"/>
              </a:rPr>
              <a:t> </a:t>
            </a:r>
            <a:r>
              <a:rPr sz="2400" b="1" dirty="0">
                <a:solidFill>
                  <a:srgbClr val="D9D9D9"/>
                </a:solidFill>
                <a:latin typeface="Calibri"/>
                <a:cs typeface="Calibri"/>
              </a:rPr>
              <a:t>/</a:t>
            </a:r>
            <a:r>
              <a:rPr sz="2400" b="1" spc="-53" dirty="0">
                <a:solidFill>
                  <a:srgbClr val="D9D9D9"/>
                </a:solidFill>
                <a:latin typeface="Calibri"/>
                <a:cs typeface="Calibri"/>
              </a:rPr>
              <a:t> </a:t>
            </a:r>
            <a:r>
              <a:rPr sz="2400" b="1" spc="-13" dirty="0">
                <a:solidFill>
                  <a:srgbClr val="D9D9D9"/>
                </a:solidFill>
                <a:latin typeface="Calibri"/>
                <a:cs typeface="Calibri"/>
              </a:rPr>
              <a:t>transactions</a:t>
            </a:r>
            <a:endParaRPr sz="2400" dirty="0">
              <a:latin typeface="Calibri"/>
              <a:cs typeface="Calibri"/>
            </a:endParaRPr>
          </a:p>
          <a:p>
            <a:pPr>
              <a:spcBef>
                <a:spcPts val="940"/>
              </a:spcBef>
              <a:buClr>
                <a:srgbClr val="99D3FF"/>
              </a:buClr>
              <a:buFont typeface="Wingdings"/>
              <a:buChar char=""/>
            </a:pPr>
            <a:endParaRPr sz="2400" dirty="0">
              <a:latin typeface="Calibri"/>
              <a:cs typeface="Calibri"/>
            </a:endParaRPr>
          </a:p>
          <a:p>
            <a:pPr marL="397923" indent="-380990">
              <a:buClr>
                <a:srgbClr val="99D3FF"/>
              </a:buClr>
              <a:buFont typeface="Wingdings"/>
              <a:buChar char=""/>
              <a:tabLst>
                <a:tab pos="397923" algn="l"/>
              </a:tabLst>
            </a:pPr>
            <a:r>
              <a:rPr sz="2400" b="1" dirty="0">
                <a:solidFill>
                  <a:srgbClr val="D9D9D9"/>
                </a:solidFill>
                <a:latin typeface="Calibri"/>
                <a:cs typeface="Calibri"/>
              </a:rPr>
              <a:t>Summarized</a:t>
            </a:r>
            <a:r>
              <a:rPr sz="2400" b="1" spc="-73" dirty="0">
                <a:solidFill>
                  <a:srgbClr val="D9D9D9"/>
                </a:solidFill>
                <a:latin typeface="Calibri"/>
                <a:cs typeface="Calibri"/>
              </a:rPr>
              <a:t> </a:t>
            </a:r>
            <a:r>
              <a:rPr sz="2400" b="1" dirty="0">
                <a:solidFill>
                  <a:srgbClr val="D9D9D9"/>
                </a:solidFill>
                <a:latin typeface="Calibri"/>
                <a:cs typeface="Calibri"/>
              </a:rPr>
              <a:t>of</a:t>
            </a:r>
            <a:r>
              <a:rPr sz="2400" b="1" spc="-7" dirty="0">
                <a:solidFill>
                  <a:srgbClr val="D9D9D9"/>
                </a:solidFill>
                <a:latin typeface="Calibri"/>
                <a:cs typeface="Calibri"/>
              </a:rPr>
              <a:t> </a:t>
            </a:r>
            <a:r>
              <a:rPr sz="2400" b="1" dirty="0">
                <a:solidFill>
                  <a:srgbClr val="D9D9D9"/>
                </a:solidFill>
                <a:latin typeface="Calibri"/>
                <a:cs typeface="Calibri"/>
              </a:rPr>
              <a:t>standard</a:t>
            </a:r>
            <a:r>
              <a:rPr sz="2400" b="1" spc="-53" dirty="0">
                <a:solidFill>
                  <a:srgbClr val="D9D9D9"/>
                </a:solidFill>
                <a:latin typeface="Calibri"/>
                <a:cs typeface="Calibri"/>
              </a:rPr>
              <a:t> </a:t>
            </a:r>
            <a:r>
              <a:rPr sz="2400" b="1" dirty="0">
                <a:solidFill>
                  <a:srgbClr val="D9D9D9"/>
                </a:solidFill>
                <a:latin typeface="Calibri"/>
                <a:cs typeface="Calibri"/>
              </a:rPr>
              <a:t>period</a:t>
            </a:r>
            <a:r>
              <a:rPr sz="2400" b="1" spc="-53" dirty="0">
                <a:solidFill>
                  <a:srgbClr val="D9D9D9"/>
                </a:solidFill>
                <a:latin typeface="Calibri"/>
                <a:cs typeface="Calibri"/>
              </a:rPr>
              <a:t> </a:t>
            </a:r>
            <a:r>
              <a:rPr sz="2400" b="1" dirty="0">
                <a:solidFill>
                  <a:srgbClr val="D9D9D9"/>
                </a:solidFill>
                <a:latin typeface="Calibri"/>
                <a:cs typeface="Calibri"/>
              </a:rPr>
              <a:t>(e.g.</a:t>
            </a:r>
            <a:r>
              <a:rPr sz="2400" b="1" spc="-47" dirty="0">
                <a:solidFill>
                  <a:srgbClr val="D9D9D9"/>
                </a:solidFill>
                <a:latin typeface="Calibri"/>
                <a:cs typeface="Calibri"/>
              </a:rPr>
              <a:t> </a:t>
            </a:r>
            <a:r>
              <a:rPr sz="2400" b="1" dirty="0">
                <a:solidFill>
                  <a:srgbClr val="D9D9D9"/>
                </a:solidFill>
                <a:latin typeface="Calibri"/>
                <a:cs typeface="Calibri"/>
              </a:rPr>
              <a:t>1 day,</a:t>
            </a:r>
            <a:r>
              <a:rPr sz="2400" b="1" spc="-47" dirty="0">
                <a:solidFill>
                  <a:srgbClr val="D9D9D9"/>
                </a:solidFill>
                <a:latin typeface="Calibri"/>
                <a:cs typeface="Calibri"/>
              </a:rPr>
              <a:t> </a:t>
            </a:r>
            <a:r>
              <a:rPr sz="2400" b="1" dirty="0">
                <a:solidFill>
                  <a:srgbClr val="D9D9D9"/>
                </a:solidFill>
                <a:latin typeface="Calibri"/>
                <a:cs typeface="Calibri"/>
              </a:rPr>
              <a:t>1 week</a:t>
            </a:r>
            <a:r>
              <a:rPr sz="2400" b="1" spc="-40" dirty="0">
                <a:solidFill>
                  <a:srgbClr val="D9D9D9"/>
                </a:solidFill>
                <a:latin typeface="Calibri"/>
                <a:cs typeface="Calibri"/>
              </a:rPr>
              <a:t> </a:t>
            </a:r>
            <a:r>
              <a:rPr sz="2400" b="1" spc="-13" dirty="0">
                <a:solidFill>
                  <a:srgbClr val="D9D9D9"/>
                </a:solidFill>
                <a:latin typeface="Calibri"/>
                <a:cs typeface="Calibri"/>
              </a:rPr>
              <a:t>etc.)</a:t>
            </a:r>
            <a:endParaRPr sz="2400" dirty="0">
              <a:latin typeface="Calibri"/>
              <a:cs typeface="Calibri"/>
            </a:endParaRPr>
          </a:p>
        </p:txBody>
      </p:sp>
      <p:graphicFrame>
        <p:nvGraphicFramePr>
          <p:cNvPr id="4" name="object 4"/>
          <p:cNvGraphicFramePr>
            <a:graphicFrameLocks noGrp="1"/>
          </p:cNvGraphicFramePr>
          <p:nvPr/>
        </p:nvGraphicFramePr>
        <p:xfrm>
          <a:off x="6867653" y="4399619"/>
          <a:ext cx="4209626" cy="1495213"/>
        </p:xfrm>
        <a:graphic>
          <a:graphicData uri="http://schemas.openxmlformats.org/drawingml/2006/table">
            <a:tbl>
              <a:tblPr firstRow="1" bandRow="1">
                <a:tableStyleId>{2D5ABB26-0587-4C30-8999-92F81FD0307C}</a:tableStyleId>
              </a:tblPr>
              <a:tblGrid>
                <a:gridCol w="911013">
                  <a:extLst>
                    <a:ext uri="{9D8B030D-6E8A-4147-A177-3AD203B41FA5}">
                      <a16:colId xmlns:a16="http://schemas.microsoft.com/office/drawing/2014/main" val="20000"/>
                    </a:ext>
                  </a:extLst>
                </a:gridCol>
                <a:gridCol w="960967">
                  <a:extLst>
                    <a:ext uri="{9D8B030D-6E8A-4147-A177-3AD203B41FA5}">
                      <a16:colId xmlns:a16="http://schemas.microsoft.com/office/drawing/2014/main" val="20001"/>
                    </a:ext>
                  </a:extLst>
                </a:gridCol>
                <a:gridCol w="1221739">
                  <a:extLst>
                    <a:ext uri="{9D8B030D-6E8A-4147-A177-3AD203B41FA5}">
                      <a16:colId xmlns:a16="http://schemas.microsoft.com/office/drawing/2014/main" val="20002"/>
                    </a:ext>
                  </a:extLst>
                </a:gridCol>
                <a:gridCol w="1115907">
                  <a:extLst>
                    <a:ext uri="{9D8B030D-6E8A-4147-A177-3AD203B41FA5}">
                      <a16:colId xmlns:a16="http://schemas.microsoft.com/office/drawing/2014/main" val="20003"/>
                    </a:ext>
                  </a:extLst>
                </a:gridCol>
              </a:tblGrid>
              <a:tr h="225213">
                <a:tc>
                  <a:txBody>
                    <a:bodyPr/>
                    <a:lstStyle/>
                    <a:p>
                      <a:pPr algn="ctr">
                        <a:lnSpc>
                          <a:spcPts val="1170"/>
                        </a:lnSpc>
                        <a:spcBef>
                          <a:spcPts val="65"/>
                        </a:spcBef>
                      </a:pPr>
                      <a:r>
                        <a:rPr sz="1400" b="1" spc="-10" dirty="0">
                          <a:latin typeface="Arial"/>
                          <a:cs typeface="Arial"/>
                        </a:rPr>
                        <a:t>day_id</a:t>
                      </a:r>
                      <a:endParaRPr sz="1400">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algn="ctr">
                        <a:lnSpc>
                          <a:spcPts val="1170"/>
                        </a:lnSpc>
                        <a:spcBef>
                          <a:spcPts val="65"/>
                        </a:spcBef>
                      </a:pPr>
                      <a:r>
                        <a:rPr sz="1400" b="1" dirty="0">
                          <a:latin typeface="Arial"/>
                          <a:cs typeface="Arial"/>
                        </a:rPr>
                        <a:t>no.</a:t>
                      </a:r>
                      <a:r>
                        <a:rPr sz="1400" b="1" spc="-20" dirty="0">
                          <a:latin typeface="Arial"/>
                          <a:cs typeface="Arial"/>
                        </a:rPr>
                        <a:t> </a:t>
                      </a:r>
                      <a:r>
                        <a:rPr sz="1400" b="1" spc="-10" dirty="0">
                          <a:latin typeface="Arial"/>
                          <a:cs typeface="Arial"/>
                        </a:rPr>
                        <a:t>calls</a:t>
                      </a:r>
                      <a:endParaRPr sz="1400">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635" algn="ctr">
                        <a:lnSpc>
                          <a:spcPts val="1170"/>
                        </a:lnSpc>
                        <a:spcBef>
                          <a:spcPts val="65"/>
                        </a:spcBef>
                      </a:pPr>
                      <a:r>
                        <a:rPr sz="1400" b="1" dirty="0">
                          <a:latin typeface="Arial"/>
                          <a:cs typeface="Arial"/>
                        </a:rPr>
                        <a:t>missed</a:t>
                      </a:r>
                      <a:r>
                        <a:rPr sz="1400" b="1" spc="-35" dirty="0">
                          <a:latin typeface="Arial"/>
                          <a:cs typeface="Arial"/>
                        </a:rPr>
                        <a:t> </a:t>
                      </a:r>
                      <a:r>
                        <a:rPr sz="1400" b="1" spc="-10" dirty="0">
                          <a:latin typeface="Arial"/>
                          <a:cs typeface="Arial"/>
                        </a:rPr>
                        <a:t>calles</a:t>
                      </a:r>
                      <a:endParaRPr sz="1400">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635" algn="ctr">
                        <a:lnSpc>
                          <a:spcPts val="1170"/>
                        </a:lnSpc>
                        <a:spcBef>
                          <a:spcPts val="65"/>
                        </a:spcBef>
                      </a:pPr>
                      <a:r>
                        <a:rPr sz="1400" b="1" spc="-10" dirty="0">
                          <a:latin typeface="Arial"/>
                          <a:cs typeface="Arial"/>
                        </a:rPr>
                        <a:t>duration</a:t>
                      </a:r>
                      <a:endParaRPr sz="1400">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extLst>
                  <a:ext uri="{0D108BD9-81ED-4DB2-BD59-A6C34878D82A}">
                    <a16:rowId xmlns:a16="http://schemas.microsoft.com/office/drawing/2014/main" val="10000"/>
                  </a:ext>
                </a:extLst>
              </a:tr>
              <a:tr h="254000">
                <a:tc>
                  <a:txBody>
                    <a:bodyPr/>
                    <a:lstStyle/>
                    <a:p>
                      <a:pPr marL="635" algn="ctr">
                        <a:lnSpc>
                          <a:spcPts val="117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5"/>
                        </a:spcBef>
                      </a:pPr>
                      <a:r>
                        <a:rPr sz="1400" spc="-25" dirty="0">
                          <a:latin typeface="Arial MT"/>
                          <a:cs typeface="Arial MT"/>
                        </a:rPr>
                        <a:t>31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25" dirty="0">
                          <a:latin typeface="Arial MT"/>
                          <a:cs typeface="Arial MT"/>
                        </a:rPr>
                        <a:t>432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marL="635" algn="ctr">
                        <a:lnSpc>
                          <a:spcPts val="117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5"/>
                        </a:spcBef>
                      </a:pPr>
                      <a:r>
                        <a:rPr sz="1400" spc="-25" dirty="0">
                          <a:latin typeface="Arial MT"/>
                          <a:cs typeface="Arial MT"/>
                        </a:rPr>
                        <a:t>25</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ts val="1170"/>
                        </a:lnSpc>
                        <a:spcBef>
                          <a:spcPts val="225"/>
                        </a:spcBef>
                      </a:pPr>
                      <a:r>
                        <a:rPr sz="1400" spc="-50" dirty="0">
                          <a:latin typeface="Arial MT"/>
                          <a:cs typeface="Arial MT"/>
                        </a:rPr>
                        <a:t>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25" dirty="0">
                          <a:latin typeface="Arial MT"/>
                          <a:cs typeface="Arial MT"/>
                        </a:rPr>
                        <a:t>142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marL="635" algn="ctr">
                        <a:lnSpc>
                          <a:spcPts val="117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25" dirty="0">
                          <a:latin typeface="Arial MT"/>
                          <a:cs typeface="Arial MT"/>
                        </a:rPr>
                        <a:t>52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0"/>
                        </a:lnSpc>
                        <a:spcBef>
                          <a:spcPts val="229"/>
                        </a:spcBef>
                      </a:pPr>
                      <a:r>
                        <a:rPr sz="1400" spc="-50" dirty="0">
                          <a:latin typeface="Arial MT"/>
                          <a:cs typeface="Arial MT"/>
                        </a:rPr>
                        <a:t>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25" dirty="0">
                          <a:latin typeface="Arial MT"/>
                          <a:cs typeface="Arial MT"/>
                        </a:rPr>
                        <a:t>134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marL="635" algn="ctr">
                        <a:lnSpc>
                          <a:spcPts val="1170"/>
                        </a:lnSpc>
                        <a:spcBef>
                          <a:spcPts val="229"/>
                        </a:spcBef>
                      </a:pPr>
                      <a:r>
                        <a:rPr sz="1400" spc="-50" dirty="0">
                          <a:latin typeface="Arial MT"/>
                          <a:cs typeface="Arial MT"/>
                        </a:rPr>
                        <a:t>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25" dirty="0">
                          <a:latin typeface="Arial MT"/>
                          <a:cs typeface="Arial MT"/>
                        </a:rPr>
                        <a:t>23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0"/>
                        </a:lnSpc>
                        <a:spcBef>
                          <a:spcPts val="229"/>
                        </a:spcBef>
                      </a:pPr>
                      <a:r>
                        <a:rPr sz="1400" spc="-50" dirty="0">
                          <a:latin typeface="Arial MT"/>
                          <a:cs typeface="Arial MT"/>
                        </a:rPr>
                        <a:t>6</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25" dirty="0">
                          <a:latin typeface="Arial MT"/>
                          <a:cs typeface="Arial MT"/>
                        </a:rPr>
                        <a:t>562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marL="635" algn="ctr">
                        <a:lnSpc>
                          <a:spcPts val="1170"/>
                        </a:lnSpc>
                        <a:spcBef>
                          <a:spcPts val="229"/>
                        </a:spcBef>
                      </a:pPr>
                      <a:r>
                        <a:rPr sz="1400" spc="-50" dirty="0">
                          <a:latin typeface="Arial MT"/>
                          <a:cs typeface="Arial MT"/>
                        </a:rPr>
                        <a:t>5</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25" dirty="0">
                          <a:latin typeface="Arial MT"/>
                          <a:cs typeface="Arial MT"/>
                        </a:rPr>
                        <a:t>53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0"/>
                        </a:lnSpc>
                        <a:spcBef>
                          <a:spcPts val="229"/>
                        </a:spcBef>
                      </a:pPr>
                      <a:r>
                        <a:rPr sz="1400" spc="-50" dirty="0">
                          <a:latin typeface="Arial MT"/>
                          <a:cs typeface="Arial MT"/>
                        </a:rPr>
                        <a:t>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25" dirty="0">
                          <a:latin typeface="Arial MT"/>
                          <a:cs typeface="Arial MT"/>
                        </a:rPr>
                        <a:t>122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graphicFrame>
        <p:nvGraphicFramePr>
          <p:cNvPr id="5" name="object 5"/>
          <p:cNvGraphicFramePr>
            <a:graphicFrameLocks noGrp="1"/>
          </p:cNvGraphicFramePr>
          <p:nvPr>
            <p:extLst>
              <p:ext uri="{D42A27DB-BD31-4B8C-83A1-F6EECF244321}">
                <p14:modId xmlns:p14="http://schemas.microsoft.com/office/powerpoint/2010/main" val="32749731"/>
              </p:ext>
            </p:extLst>
          </p:nvPr>
        </p:nvGraphicFramePr>
        <p:xfrm>
          <a:off x="2257722" y="4399787"/>
          <a:ext cx="3771900" cy="2167466"/>
        </p:xfrm>
        <a:graphic>
          <a:graphicData uri="http://schemas.openxmlformats.org/drawingml/2006/table">
            <a:tbl>
              <a:tblPr firstRow="1" bandRow="1">
                <a:tableStyleId>{2D5ABB26-0587-4C30-8999-92F81FD0307C}</a:tableStyleId>
              </a:tblPr>
              <a:tblGrid>
                <a:gridCol w="9144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698500">
                  <a:extLst>
                    <a:ext uri="{9D8B030D-6E8A-4147-A177-3AD203B41FA5}">
                      <a16:colId xmlns:a16="http://schemas.microsoft.com/office/drawing/2014/main" val="20003"/>
                    </a:ext>
                  </a:extLst>
                </a:gridCol>
              </a:tblGrid>
              <a:tr h="225213">
                <a:tc>
                  <a:txBody>
                    <a:bodyPr/>
                    <a:lstStyle/>
                    <a:p>
                      <a:pPr algn="ctr">
                        <a:lnSpc>
                          <a:spcPts val="1170"/>
                        </a:lnSpc>
                        <a:spcBef>
                          <a:spcPts val="60"/>
                        </a:spcBef>
                      </a:pPr>
                      <a:r>
                        <a:rPr sz="1400" b="1" spc="-10" dirty="0">
                          <a:latin typeface="Arial"/>
                          <a:cs typeface="Arial"/>
                        </a:rPr>
                        <a:t>week_id</a:t>
                      </a:r>
                      <a:endParaRPr sz="1400">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algn="ctr">
                        <a:lnSpc>
                          <a:spcPts val="1170"/>
                        </a:lnSpc>
                        <a:spcBef>
                          <a:spcPts val="60"/>
                        </a:spcBef>
                      </a:pPr>
                      <a:r>
                        <a:rPr sz="1400" b="1" spc="-10" dirty="0">
                          <a:latin typeface="Arial"/>
                          <a:cs typeface="Arial"/>
                        </a:rPr>
                        <a:t>revenue</a:t>
                      </a:r>
                      <a:endParaRPr sz="1400">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1270" algn="ctr">
                        <a:lnSpc>
                          <a:spcPts val="1170"/>
                        </a:lnSpc>
                        <a:spcBef>
                          <a:spcPts val="60"/>
                        </a:spcBef>
                      </a:pPr>
                      <a:r>
                        <a:rPr sz="1400" b="1" spc="-10" dirty="0">
                          <a:latin typeface="Arial"/>
                          <a:cs typeface="Arial"/>
                        </a:rPr>
                        <a:t>sales</a:t>
                      </a:r>
                      <a:endParaRPr sz="1400">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algn="ctr">
                        <a:lnSpc>
                          <a:spcPts val="1170"/>
                        </a:lnSpc>
                        <a:spcBef>
                          <a:spcPts val="60"/>
                        </a:spcBef>
                      </a:pPr>
                      <a:r>
                        <a:rPr sz="1400" b="1" spc="-20" dirty="0">
                          <a:latin typeface="Arial"/>
                          <a:cs typeface="Arial"/>
                        </a:rPr>
                        <a:t>cost</a:t>
                      </a:r>
                      <a:endParaRPr sz="1400">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extLst>
                  <a:ext uri="{0D108BD9-81ED-4DB2-BD59-A6C34878D82A}">
                    <a16:rowId xmlns:a16="http://schemas.microsoft.com/office/drawing/2014/main" val="10000"/>
                  </a:ext>
                </a:extLst>
              </a:tr>
              <a:tr h="254000">
                <a:tc>
                  <a:txBody>
                    <a:bodyPr/>
                    <a:lstStyle/>
                    <a:p>
                      <a:pPr algn="ctr">
                        <a:lnSpc>
                          <a:spcPts val="117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25" dirty="0">
                          <a:latin typeface="Arial MT"/>
                          <a:cs typeface="Arial MT"/>
                        </a:rPr>
                        <a:t>323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25" dirty="0">
                          <a:latin typeface="Arial MT"/>
                          <a:cs typeface="Arial MT"/>
                        </a:rPr>
                        <a:t>123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5"/>
                        </a:spcBef>
                      </a:pPr>
                      <a:r>
                        <a:rPr sz="1400" spc="-25" dirty="0">
                          <a:latin typeface="Arial MT"/>
                          <a:cs typeface="Arial MT"/>
                        </a:rPr>
                        <a:t>12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ts val="117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25" dirty="0">
                          <a:latin typeface="Arial MT"/>
                          <a:cs typeface="Arial MT"/>
                        </a:rPr>
                        <a:t>541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25" dirty="0">
                          <a:latin typeface="Arial MT"/>
                          <a:cs typeface="Arial MT"/>
                        </a:rPr>
                        <a:t>322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5"/>
                        </a:spcBef>
                      </a:pPr>
                      <a:r>
                        <a:rPr sz="1400" spc="-25" dirty="0">
                          <a:latin typeface="Arial MT"/>
                          <a:cs typeface="Arial MT"/>
                        </a:rPr>
                        <a:t>31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3153">
                <a:tc>
                  <a:txBody>
                    <a:bodyPr/>
                    <a:lstStyle/>
                    <a:p>
                      <a:pPr algn="ctr">
                        <a:lnSpc>
                          <a:spcPts val="117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25" dirty="0">
                          <a:latin typeface="Arial MT"/>
                          <a:cs typeface="Arial MT"/>
                        </a:rPr>
                        <a:t>242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25" dirty="0">
                          <a:latin typeface="Arial MT"/>
                          <a:cs typeface="Arial MT"/>
                        </a:rPr>
                        <a:t>108</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9"/>
                        </a:spcBef>
                      </a:pPr>
                      <a:r>
                        <a:rPr sz="1400" spc="-25" dirty="0">
                          <a:latin typeface="Arial MT"/>
                          <a:cs typeface="Arial MT"/>
                        </a:rPr>
                        <a:t>12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algn="ctr">
                        <a:lnSpc>
                          <a:spcPts val="1170"/>
                        </a:lnSpc>
                        <a:spcBef>
                          <a:spcPts val="229"/>
                        </a:spcBef>
                      </a:pPr>
                      <a:r>
                        <a:rPr sz="1400" spc="-50" dirty="0">
                          <a:latin typeface="Arial MT"/>
                          <a:cs typeface="Arial MT"/>
                        </a:rPr>
                        <a:t>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25" dirty="0">
                          <a:latin typeface="Arial MT"/>
                          <a:cs typeface="Arial MT"/>
                        </a:rPr>
                        <a:t>352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25" dirty="0">
                          <a:latin typeface="Arial MT"/>
                          <a:cs typeface="Arial MT"/>
                        </a:rPr>
                        <a:t>212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9"/>
                        </a:spcBef>
                      </a:pPr>
                      <a:r>
                        <a:rPr sz="1400" spc="-25" dirty="0">
                          <a:latin typeface="Arial MT"/>
                          <a:cs typeface="Arial MT"/>
                        </a:rPr>
                        <a:t>51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algn="ctr">
                        <a:lnSpc>
                          <a:spcPts val="1170"/>
                        </a:lnSpc>
                        <a:spcBef>
                          <a:spcPts val="229"/>
                        </a:spcBef>
                      </a:pPr>
                      <a:r>
                        <a:rPr sz="1400" spc="-50" dirty="0">
                          <a:latin typeface="Arial MT"/>
                          <a:cs typeface="Arial MT"/>
                        </a:rPr>
                        <a:t>5</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25" dirty="0">
                          <a:latin typeface="Arial MT"/>
                          <a:cs typeface="Arial MT"/>
                        </a:rPr>
                        <a:t>312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25" dirty="0">
                          <a:latin typeface="Arial MT"/>
                          <a:cs typeface="Arial MT"/>
                        </a:rPr>
                        <a:t>198</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9"/>
                        </a:spcBef>
                      </a:pPr>
                      <a:r>
                        <a:rPr sz="1400" spc="-25" dirty="0">
                          <a:latin typeface="Arial MT"/>
                          <a:cs typeface="Arial MT"/>
                        </a:rPr>
                        <a:t>25</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r h="673100">
                <a:tc>
                  <a:txBody>
                    <a:bodyPr/>
                    <a:lstStyle/>
                    <a:p>
                      <a:pPr>
                        <a:lnSpc>
                          <a:spcPct val="100000"/>
                        </a:lnSpc>
                      </a:pPr>
                      <a:endParaRPr sz="2000">
                        <a:latin typeface="Times New Roman"/>
                        <a:cs typeface="Times New Roman"/>
                      </a:endParaRPr>
                    </a:p>
                  </a:txBody>
                  <a:tcPr marL="0" marR="0" marT="0" marB="0">
                    <a:lnT w="12700">
                      <a:solidFill>
                        <a:srgbClr val="000000"/>
                      </a:solidFill>
                      <a:prstDash val="solid"/>
                    </a:lnT>
                  </a:tcPr>
                </a:tc>
                <a:tc gridSpan="3">
                  <a:txBody>
                    <a:bodyPr/>
                    <a:lstStyle/>
                    <a:p>
                      <a:pPr marL="207645">
                        <a:lnSpc>
                          <a:spcPct val="100000"/>
                        </a:lnSpc>
                        <a:spcBef>
                          <a:spcPts val="1330"/>
                        </a:spcBef>
                      </a:pPr>
                      <a:r>
                        <a:rPr sz="2400" b="1" dirty="0">
                          <a:solidFill>
                            <a:srgbClr val="D9D9D9"/>
                          </a:solidFill>
                          <a:latin typeface="Calibri"/>
                          <a:cs typeface="Calibri"/>
                        </a:rPr>
                        <a:t>Sales</a:t>
                      </a:r>
                      <a:r>
                        <a:rPr sz="2400" b="1" spc="-40" dirty="0">
                          <a:solidFill>
                            <a:srgbClr val="D9D9D9"/>
                          </a:solidFill>
                          <a:latin typeface="Calibri"/>
                          <a:cs typeface="Calibri"/>
                        </a:rPr>
                        <a:t> </a:t>
                      </a:r>
                      <a:r>
                        <a:rPr sz="2400" b="1" spc="-10" dirty="0">
                          <a:solidFill>
                            <a:srgbClr val="D9D9D9"/>
                          </a:solidFill>
                          <a:latin typeface="Calibri"/>
                          <a:cs typeface="Calibri"/>
                        </a:rPr>
                        <a:t>transactions</a:t>
                      </a:r>
                      <a:endParaRPr sz="2400" dirty="0">
                        <a:latin typeface="Calibri"/>
                        <a:cs typeface="Calibri"/>
                      </a:endParaRPr>
                    </a:p>
                  </a:txBody>
                  <a:tcPr marL="0" marR="0" marT="225213" marB="0">
                    <a:lnT w="12700">
                      <a:solidFill>
                        <a:srgbClr val="000000"/>
                      </a:solidFill>
                      <a:prstDash val="solid"/>
                    </a:lnT>
                    <a:no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6"/>
                  </a:ext>
                </a:extLst>
              </a:tr>
            </a:tbl>
          </a:graphicData>
        </a:graphic>
      </p:graphicFrame>
      <p:sp>
        <p:nvSpPr>
          <p:cNvPr id="6" name="object 6"/>
          <p:cNvSpPr txBox="1"/>
          <p:nvPr/>
        </p:nvSpPr>
        <p:spPr>
          <a:xfrm>
            <a:off x="7833360" y="5992369"/>
            <a:ext cx="2804160" cy="541174"/>
          </a:xfrm>
          <a:prstGeom prst="rect">
            <a:avLst/>
          </a:prstGeom>
          <a:noFill/>
        </p:spPr>
        <p:txBody>
          <a:bodyPr vert="horz" wrap="square" lIns="0" tIns="170180" rIns="0" bIns="0" rtlCol="0">
            <a:spAutoFit/>
          </a:bodyPr>
          <a:lstStyle/>
          <a:p>
            <a:pPr marL="2540" algn="ctr">
              <a:spcBef>
                <a:spcPts val="1340"/>
              </a:spcBef>
            </a:pPr>
            <a:r>
              <a:rPr sz="2400" b="1" spc="-13" dirty="0">
                <a:solidFill>
                  <a:srgbClr val="D9D9D9"/>
                </a:solidFill>
                <a:latin typeface="Calibri"/>
                <a:cs typeface="Calibri"/>
              </a:rPr>
              <a:t>Calls</a:t>
            </a:r>
            <a:endParaRPr sz="2400">
              <a:latin typeface="Calibri"/>
              <a:cs typeface="Calibri"/>
            </a:endParaRPr>
          </a:p>
        </p:txBody>
      </p:sp>
      <p:sp>
        <p:nvSpPr>
          <p:cNvPr id="7" name="object 7"/>
          <p:cNvSpPr txBox="1"/>
          <p:nvPr/>
        </p:nvSpPr>
        <p:spPr>
          <a:xfrm>
            <a:off x="10058060" y="4046221"/>
            <a:ext cx="907627" cy="304421"/>
          </a:xfrm>
          <a:prstGeom prst="rect">
            <a:avLst/>
          </a:prstGeom>
        </p:spPr>
        <p:txBody>
          <a:bodyPr vert="horz" wrap="square" lIns="0" tIns="16933" rIns="0" bIns="0" rtlCol="0">
            <a:spAutoFit/>
          </a:bodyPr>
          <a:lstStyle/>
          <a:p>
            <a:pPr marL="16933">
              <a:spcBef>
                <a:spcPts val="133"/>
              </a:spcBef>
            </a:pPr>
            <a:r>
              <a:rPr sz="1867" b="1" spc="-13" dirty="0">
                <a:solidFill>
                  <a:srgbClr val="66DBFF"/>
                </a:solidFill>
                <a:latin typeface="Calibri"/>
                <a:cs typeface="Calibri"/>
              </a:rPr>
              <a:t>Measure</a:t>
            </a:r>
            <a:endParaRPr sz="1867">
              <a:latin typeface="Calibri"/>
              <a:cs typeface="Calibri"/>
            </a:endParaRPr>
          </a:p>
        </p:txBody>
      </p:sp>
      <p:sp>
        <p:nvSpPr>
          <p:cNvPr id="8" name="object 8"/>
          <p:cNvSpPr txBox="1"/>
          <p:nvPr/>
        </p:nvSpPr>
        <p:spPr>
          <a:xfrm>
            <a:off x="2848526" y="3444474"/>
            <a:ext cx="4400127" cy="910570"/>
          </a:xfrm>
          <a:prstGeom prst="rect">
            <a:avLst/>
          </a:prstGeom>
        </p:spPr>
        <p:txBody>
          <a:bodyPr vert="horz" wrap="square" lIns="0" tIns="149860" rIns="0" bIns="0" rtlCol="0">
            <a:spAutoFit/>
          </a:bodyPr>
          <a:lstStyle/>
          <a:p>
            <a:pPr marL="397923" indent="-380990">
              <a:spcBef>
                <a:spcPts val="1180"/>
              </a:spcBef>
              <a:buClr>
                <a:srgbClr val="99D3FF"/>
              </a:buClr>
              <a:buFont typeface="Wingdings"/>
              <a:buChar char=""/>
              <a:tabLst>
                <a:tab pos="397923" algn="l"/>
              </a:tabLst>
            </a:pPr>
            <a:r>
              <a:rPr sz="2400" b="1" dirty="0">
                <a:solidFill>
                  <a:srgbClr val="D9D9D9"/>
                </a:solidFill>
                <a:latin typeface="Calibri"/>
                <a:cs typeface="Calibri"/>
              </a:rPr>
              <a:t>Lowest</a:t>
            </a:r>
            <a:r>
              <a:rPr sz="2400" b="1" spc="-60" dirty="0">
                <a:solidFill>
                  <a:srgbClr val="D9D9D9"/>
                </a:solidFill>
                <a:latin typeface="Calibri"/>
                <a:cs typeface="Calibri"/>
              </a:rPr>
              <a:t> </a:t>
            </a:r>
            <a:r>
              <a:rPr sz="2400" b="1" dirty="0">
                <a:solidFill>
                  <a:srgbClr val="D9D9D9"/>
                </a:solidFill>
                <a:latin typeface="Calibri"/>
                <a:cs typeface="Calibri"/>
              </a:rPr>
              <a:t>period</a:t>
            </a:r>
            <a:r>
              <a:rPr sz="2400" b="1" spc="-27" dirty="0">
                <a:solidFill>
                  <a:srgbClr val="D9D9D9"/>
                </a:solidFill>
                <a:latin typeface="Calibri"/>
                <a:cs typeface="Calibri"/>
              </a:rPr>
              <a:t> </a:t>
            </a:r>
            <a:r>
              <a:rPr sz="2400" b="1" dirty="0">
                <a:solidFill>
                  <a:srgbClr val="D9D9D9"/>
                </a:solidFill>
                <a:latin typeface="Calibri"/>
                <a:cs typeface="Calibri"/>
              </a:rPr>
              <a:t>defines</a:t>
            </a:r>
            <a:r>
              <a:rPr sz="2400" b="1" spc="-67" dirty="0">
                <a:solidFill>
                  <a:srgbClr val="D9D9D9"/>
                </a:solidFill>
                <a:latin typeface="Calibri"/>
                <a:cs typeface="Calibri"/>
              </a:rPr>
              <a:t> </a:t>
            </a:r>
            <a:r>
              <a:rPr sz="2400" b="1" dirty="0">
                <a:solidFill>
                  <a:srgbClr val="D9D9D9"/>
                </a:solidFill>
                <a:latin typeface="Calibri"/>
                <a:cs typeface="Calibri"/>
              </a:rPr>
              <a:t>the</a:t>
            </a:r>
            <a:r>
              <a:rPr sz="2400" b="1" spc="-33" dirty="0">
                <a:solidFill>
                  <a:srgbClr val="D9D9D9"/>
                </a:solidFill>
                <a:latin typeface="Calibri"/>
                <a:cs typeface="Calibri"/>
              </a:rPr>
              <a:t> </a:t>
            </a:r>
            <a:r>
              <a:rPr sz="2400" b="1" spc="-27" dirty="0">
                <a:solidFill>
                  <a:srgbClr val="D9D9D9"/>
                </a:solidFill>
                <a:latin typeface="Calibri"/>
                <a:cs typeface="Calibri"/>
              </a:rPr>
              <a:t>grain</a:t>
            </a:r>
            <a:endParaRPr sz="2400" dirty="0">
              <a:latin typeface="Calibri"/>
              <a:cs typeface="Calibri"/>
            </a:endParaRPr>
          </a:p>
          <a:p>
            <a:pPr marL="367444">
              <a:spcBef>
                <a:spcPts val="820"/>
              </a:spcBef>
              <a:tabLst>
                <a:tab pos="1458770" algn="l"/>
              </a:tabLst>
            </a:pPr>
            <a:r>
              <a:rPr sz="2800" b="1" spc="-20" baseline="1984" dirty="0">
                <a:solidFill>
                  <a:srgbClr val="66DBFF"/>
                </a:solidFill>
                <a:latin typeface="Calibri"/>
                <a:cs typeface="Calibri"/>
              </a:rPr>
              <a:t>Measure</a:t>
            </a:r>
            <a:r>
              <a:rPr sz="2800" b="1" baseline="1984" dirty="0">
                <a:solidFill>
                  <a:srgbClr val="66DBFF"/>
                </a:solidFill>
                <a:latin typeface="Calibri"/>
                <a:cs typeface="Calibri"/>
              </a:rPr>
              <a:t>	</a:t>
            </a:r>
            <a:r>
              <a:rPr sz="1867" b="1" dirty="0">
                <a:solidFill>
                  <a:srgbClr val="66DBFF"/>
                </a:solidFill>
                <a:latin typeface="Calibri"/>
                <a:cs typeface="Calibri"/>
              </a:rPr>
              <a:t>Measure</a:t>
            </a:r>
            <a:r>
              <a:rPr sz="1867" b="1" spc="513" dirty="0">
                <a:solidFill>
                  <a:srgbClr val="66DBFF"/>
                </a:solidFill>
                <a:latin typeface="Calibri"/>
                <a:cs typeface="Calibri"/>
              </a:rPr>
              <a:t> </a:t>
            </a:r>
            <a:r>
              <a:rPr sz="1867" b="1" spc="-13" dirty="0">
                <a:solidFill>
                  <a:srgbClr val="66DBFF"/>
                </a:solidFill>
                <a:latin typeface="Calibri"/>
                <a:cs typeface="Calibri"/>
              </a:rPr>
              <a:t>Measure</a:t>
            </a:r>
            <a:endParaRPr sz="1867" dirty="0">
              <a:latin typeface="Calibri"/>
              <a:cs typeface="Calibri"/>
            </a:endParaRPr>
          </a:p>
        </p:txBody>
      </p:sp>
      <p:sp>
        <p:nvSpPr>
          <p:cNvPr id="9" name="object 9"/>
          <p:cNvSpPr txBox="1"/>
          <p:nvPr/>
        </p:nvSpPr>
        <p:spPr>
          <a:xfrm>
            <a:off x="7798478" y="4049437"/>
            <a:ext cx="2018453" cy="304421"/>
          </a:xfrm>
          <a:prstGeom prst="rect">
            <a:avLst/>
          </a:prstGeom>
        </p:spPr>
        <p:txBody>
          <a:bodyPr vert="horz" wrap="square" lIns="0" tIns="16933" rIns="0" bIns="0" rtlCol="0">
            <a:spAutoFit/>
          </a:bodyPr>
          <a:lstStyle/>
          <a:p>
            <a:pPr marL="16933">
              <a:spcBef>
                <a:spcPts val="133"/>
              </a:spcBef>
              <a:tabLst>
                <a:tab pos="1127730" algn="l"/>
              </a:tabLst>
            </a:pPr>
            <a:r>
              <a:rPr sz="1867" b="1" spc="-13" dirty="0">
                <a:solidFill>
                  <a:srgbClr val="66DBFF"/>
                </a:solidFill>
                <a:latin typeface="Calibri"/>
                <a:cs typeface="Calibri"/>
              </a:rPr>
              <a:t>Measure</a:t>
            </a:r>
            <a:r>
              <a:rPr sz="1867" b="1" dirty="0">
                <a:solidFill>
                  <a:srgbClr val="66DBFF"/>
                </a:solidFill>
                <a:latin typeface="Calibri"/>
                <a:cs typeface="Calibri"/>
              </a:rPr>
              <a:t>	</a:t>
            </a:r>
            <a:r>
              <a:rPr sz="1867" b="1" spc="-13" dirty="0">
                <a:solidFill>
                  <a:srgbClr val="66DBFF"/>
                </a:solidFill>
                <a:latin typeface="Calibri"/>
                <a:cs typeface="Calibri"/>
              </a:rPr>
              <a:t>Measure</a:t>
            </a:r>
            <a:endParaRPr sz="1867">
              <a:latin typeface="Calibri"/>
              <a:cs typeface="Calibri"/>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34160" y="136799"/>
            <a:ext cx="9982878" cy="695062"/>
          </a:xfrm>
          <a:prstGeom prst="rect">
            <a:avLst/>
          </a:prstGeom>
        </p:spPr>
        <p:txBody>
          <a:bodyPr vert="horz" wrap="square" lIns="0" tIns="17780" rIns="0" bIns="0" rtlCol="0" anchor="ctr">
            <a:spAutoFit/>
          </a:bodyPr>
          <a:lstStyle/>
          <a:p>
            <a:pPr marL="2085288">
              <a:lnSpc>
                <a:spcPct val="100000"/>
              </a:lnSpc>
              <a:spcBef>
                <a:spcPts val="140"/>
              </a:spcBef>
            </a:pPr>
            <a:r>
              <a:rPr spc="-13" dirty="0">
                <a:solidFill>
                  <a:schemeClr val="bg1"/>
                </a:solidFill>
                <a:latin typeface="+mn-lt"/>
              </a:rPr>
              <a:t>Characteristics</a:t>
            </a:r>
          </a:p>
        </p:txBody>
      </p:sp>
      <p:sp>
        <p:nvSpPr>
          <p:cNvPr id="3" name="object 3"/>
          <p:cNvSpPr txBox="1"/>
          <p:nvPr/>
        </p:nvSpPr>
        <p:spPr>
          <a:xfrm>
            <a:off x="3051726" y="1290828"/>
            <a:ext cx="7961207" cy="1840674"/>
          </a:xfrm>
          <a:prstGeom prst="rect">
            <a:avLst/>
          </a:prstGeom>
        </p:spPr>
        <p:txBody>
          <a:bodyPr vert="horz" wrap="square" lIns="0" tIns="16933" rIns="0" bIns="0" rtlCol="0">
            <a:spAutoFit/>
          </a:bodyPr>
          <a:lstStyle/>
          <a:p>
            <a:pPr marL="430943" indent="-380990">
              <a:spcBef>
                <a:spcPts val="133"/>
              </a:spcBef>
              <a:buClr>
                <a:srgbClr val="99D3FF"/>
              </a:buClr>
              <a:buFont typeface="Wingdings"/>
              <a:buChar char=""/>
              <a:tabLst>
                <a:tab pos="430943" algn="l"/>
              </a:tabLst>
            </a:pPr>
            <a:r>
              <a:rPr sz="2400" b="1" dirty="0">
                <a:solidFill>
                  <a:srgbClr val="D9D9D9"/>
                </a:solidFill>
                <a:latin typeface="Calibri"/>
                <a:cs typeface="Calibri"/>
              </a:rPr>
              <a:t>Tend</a:t>
            </a:r>
            <a:r>
              <a:rPr sz="2400" b="1" spc="-33" dirty="0">
                <a:solidFill>
                  <a:srgbClr val="D9D9D9"/>
                </a:solidFill>
                <a:latin typeface="Calibri"/>
                <a:cs typeface="Calibri"/>
              </a:rPr>
              <a:t> </a:t>
            </a:r>
            <a:r>
              <a:rPr sz="2400" b="1" dirty="0">
                <a:solidFill>
                  <a:srgbClr val="D9D9D9"/>
                </a:solidFill>
                <a:latin typeface="Calibri"/>
                <a:cs typeface="Calibri"/>
              </a:rPr>
              <a:t>to</a:t>
            </a:r>
            <a:r>
              <a:rPr sz="2400" b="1" spc="-13" dirty="0">
                <a:solidFill>
                  <a:srgbClr val="D9D9D9"/>
                </a:solidFill>
                <a:latin typeface="Calibri"/>
                <a:cs typeface="Calibri"/>
              </a:rPr>
              <a:t> </a:t>
            </a:r>
            <a:r>
              <a:rPr sz="2400" b="1" dirty="0">
                <a:solidFill>
                  <a:srgbClr val="D9D9D9"/>
                </a:solidFill>
                <a:latin typeface="Calibri"/>
                <a:cs typeface="Calibri"/>
              </a:rPr>
              <a:t>be</a:t>
            </a:r>
            <a:r>
              <a:rPr sz="2400" b="1" spc="-13" dirty="0">
                <a:solidFill>
                  <a:srgbClr val="D9D9D9"/>
                </a:solidFill>
                <a:latin typeface="Calibri"/>
                <a:cs typeface="Calibri"/>
              </a:rPr>
              <a:t> </a:t>
            </a:r>
            <a:r>
              <a:rPr sz="2400" b="1" dirty="0">
                <a:solidFill>
                  <a:srgbClr val="D9D9D9"/>
                </a:solidFill>
                <a:latin typeface="Calibri"/>
                <a:cs typeface="Calibri"/>
              </a:rPr>
              <a:t>not</a:t>
            </a:r>
            <a:r>
              <a:rPr sz="2400" b="1" spc="-20" dirty="0">
                <a:solidFill>
                  <a:srgbClr val="D9D9D9"/>
                </a:solidFill>
                <a:latin typeface="Calibri"/>
                <a:cs typeface="Calibri"/>
              </a:rPr>
              <a:t> </a:t>
            </a:r>
            <a:r>
              <a:rPr sz="2400" b="1" dirty="0">
                <a:solidFill>
                  <a:srgbClr val="D9D9D9"/>
                </a:solidFill>
                <a:latin typeface="Calibri"/>
                <a:cs typeface="Calibri"/>
              </a:rPr>
              <a:t>as enormous</a:t>
            </a:r>
            <a:r>
              <a:rPr sz="2400" b="1" spc="-47" dirty="0">
                <a:solidFill>
                  <a:srgbClr val="D9D9D9"/>
                </a:solidFill>
                <a:latin typeface="Calibri"/>
                <a:cs typeface="Calibri"/>
              </a:rPr>
              <a:t> </a:t>
            </a:r>
            <a:r>
              <a:rPr sz="2400" b="1" dirty="0">
                <a:solidFill>
                  <a:srgbClr val="D9D9D9"/>
                </a:solidFill>
                <a:latin typeface="Calibri"/>
                <a:cs typeface="Calibri"/>
              </a:rPr>
              <a:t>in</a:t>
            </a:r>
            <a:r>
              <a:rPr sz="2400" b="1" spc="-7" dirty="0">
                <a:solidFill>
                  <a:srgbClr val="D9D9D9"/>
                </a:solidFill>
                <a:latin typeface="Calibri"/>
                <a:cs typeface="Calibri"/>
              </a:rPr>
              <a:t> </a:t>
            </a:r>
            <a:r>
              <a:rPr sz="2400" b="1" spc="-27" dirty="0">
                <a:solidFill>
                  <a:srgbClr val="D9D9D9"/>
                </a:solidFill>
                <a:latin typeface="Calibri"/>
                <a:cs typeface="Calibri"/>
              </a:rPr>
              <a:t>size</a:t>
            </a:r>
            <a:endParaRPr sz="2400">
              <a:latin typeface="Calibri"/>
              <a:cs typeface="Calibri"/>
            </a:endParaRPr>
          </a:p>
          <a:p>
            <a:pPr marL="397923" indent="-380990">
              <a:spcBef>
                <a:spcPts val="2747"/>
              </a:spcBef>
              <a:buClr>
                <a:srgbClr val="99D3FF"/>
              </a:buClr>
              <a:buFont typeface="Wingdings"/>
              <a:buChar char=""/>
              <a:tabLst>
                <a:tab pos="397923" algn="l"/>
              </a:tabLst>
            </a:pPr>
            <a:r>
              <a:rPr sz="2400" b="1" dirty="0">
                <a:solidFill>
                  <a:srgbClr val="D9D9D9"/>
                </a:solidFill>
                <a:latin typeface="Calibri"/>
                <a:cs typeface="Calibri"/>
              </a:rPr>
              <a:t>Typically</a:t>
            </a:r>
            <a:r>
              <a:rPr sz="2400" b="1" spc="-73" dirty="0">
                <a:solidFill>
                  <a:srgbClr val="D9D9D9"/>
                </a:solidFill>
                <a:latin typeface="Calibri"/>
                <a:cs typeface="Calibri"/>
              </a:rPr>
              <a:t> </a:t>
            </a:r>
            <a:r>
              <a:rPr sz="2400" b="1" spc="-13" dirty="0">
                <a:solidFill>
                  <a:srgbClr val="D9D9D9"/>
                </a:solidFill>
                <a:latin typeface="Calibri"/>
                <a:cs typeface="Calibri"/>
              </a:rPr>
              <a:t>additive</a:t>
            </a:r>
            <a:endParaRPr sz="2400">
              <a:latin typeface="Calibri"/>
              <a:cs typeface="Calibri"/>
            </a:endParaRPr>
          </a:p>
          <a:p>
            <a:pPr>
              <a:spcBef>
                <a:spcPts val="27"/>
              </a:spcBef>
              <a:buClr>
                <a:srgbClr val="99D3FF"/>
              </a:buClr>
              <a:buFont typeface="Wingdings"/>
              <a:buChar char=""/>
            </a:pPr>
            <a:endParaRPr sz="2400">
              <a:latin typeface="Calibri"/>
              <a:cs typeface="Calibri"/>
            </a:endParaRPr>
          </a:p>
          <a:p>
            <a:pPr marL="397923" indent="-380990">
              <a:buClr>
                <a:srgbClr val="99D3FF"/>
              </a:buClr>
              <a:buFont typeface="Wingdings"/>
              <a:buChar char=""/>
              <a:tabLst>
                <a:tab pos="397923" algn="l"/>
              </a:tabLst>
            </a:pPr>
            <a:r>
              <a:rPr sz="2400" b="1" dirty="0">
                <a:solidFill>
                  <a:srgbClr val="D9D9D9"/>
                </a:solidFill>
                <a:latin typeface="Calibri"/>
                <a:cs typeface="Calibri"/>
              </a:rPr>
              <a:t>Tend</a:t>
            </a:r>
            <a:r>
              <a:rPr sz="2400" b="1" spc="-40" dirty="0">
                <a:solidFill>
                  <a:srgbClr val="D9D9D9"/>
                </a:solidFill>
                <a:latin typeface="Calibri"/>
                <a:cs typeface="Calibri"/>
              </a:rPr>
              <a:t> </a:t>
            </a:r>
            <a:r>
              <a:rPr sz="2400" b="1" dirty="0">
                <a:solidFill>
                  <a:srgbClr val="D9D9D9"/>
                </a:solidFill>
                <a:latin typeface="Calibri"/>
                <a:cs typeface="Calibri"/>
              </a:rPr>
              <a:t>to</a:t>
            </a:r>
            <a:r>
              <a:rPr sz="2400" b="1" spc="-27" dirty="0">
                <a:solidFill>
                  <a:srgbClr val="D9D9D9"/>
                </a:solidFill>
                <a:latin typeface="Calibri"/>
                <a:cs typeface="Calibri"/>
              </a:rPr>
              <a:t> </a:t>
            </a:r>
            <a:r>
              <a:rPr sz="2400" b="1" dirty="0">
                <a:solidFill>
                  <a:srgbClr val="D9D9D9"/>
                </a:solidFill>
                <a:latin typeface="Calibri"/>
                <a:cs typeface="Calibri"/>
              </a:rPr>
              <a:t>have</a:t>
            </a:r>
            <a:r>
              <a:rPr sz="2400" b="1" spc="-27" dirty="0">
                <a:solidFill>
                  <a:srgbClr val="D9D9D9"/>
                </a:solidFill>
                <a:latin typeface="Calibri"/>
                <a:cs typeface="Calibri"/>
              </a:rPr>
              <a:t> </a:t>
            </a:r>
            <a:r>
              <a:rPr sz="2400" b="1" dirty="0">
                <a:solidFill>
                  <a:srgbClr val="D9D9D9"/>
                </a:solidFill>
                <a:latin typeface="Calibri"/>
                <a:cs typeface="Calibri"/>
              </a:rPr>
              <a:t>a</a:t>
            </a:r>
            <a:r>
              <a:rPr sz="2400" b="1" spc="-13" dirty="0">
                <a:solidFill>
                  <a:srgbClr val="D9D9D9"/>
                </a:solidFill>
                <a:latin typeface="Calibri"/>
                <a:cs typeface="Calibri"/>
              </a:rPr>
              <a:t> </a:t>
            </a:r>
            <a:r>
              <a:rPr sz="2400" b="1" dirty="0">
                <a:solidFill>
                  <a:srgbClr val="D9D9D9"/>
                </a:solidFill>
                <a:latin typeface="Calibri"/>
                <a:cs typeface="Calibri"/>
              </a:rPr>
              <a:t>lot</a:t>
            </a:r>
            <a:r>
              <a:rPr sz="2400" b="1" spc="-27" dirty="0">
                <a:solidFill>
                  <a:srgbClr val="D9D9D9"/>
                </a:solidFill>
                <a:latin typeface="Calibri"/>
                <a:cs typeface="Calibri"/>
              </a:rPr>
              <a:t> </a:t>
            </a:r>
            <a:r>
              <a:rPr sz="2400" b="1" dirty="0">
                <a:solidFill>
                  <a:srgbClr val="D9D9D9"/>
                </a:solidFill>
                <a:latin typeface="Calibri"/>
                <a:cs typeface="Calibri"/>
              </a:rPr>
              <a:t>of facts</a:t>
            </a:r>
            <a:r>
              <a:rPr sz="2400" b="1" spc="-13" dirty="0">
                <a:solidFill>
                  <a:srgbClr val="D9D9D9"/>
                </a:solidFill>
                <a:latin typeface="Calibri"/>
                <a:cs typeface="Calibri"/>
              </a:rPr>
              <a:t> </a:t>
            </a:r>
            <a:r>
              <a:rPr sz="2400" b="1" dirty="0">
                <a:solidFill>
                  <a:srgbClr val="D9D9D9"/>
                </a:solidFill>
                <a:latin typeface="Calibri"/>
                <a:cs typeface="Calibri"/>
              </a:rPr>
              <a:t>and</a:t>
            </a:r>
            <a:r>
              <a:rPr sz="2400" b="1" spc="-20" dirty="0">
                <a:solidFill>
                  <a:srgbClr val="D9D9D9"/>
                </a:solidFill>
                <a:latin typeface="Calibri"/>
                <a:cs typeface="Calibri"/>
              </a:rPr>
              <a:t> </a:t>
            </a:r>
            <a:r>
              <a:rPr sz="2400" b="1" dirty="0">
                <a:solidFill>
                  <a:srgbClr val="D9D9D9"/>
                </a:solidFill>
                <a:latin typeface="Calibri"/>
                <a:cs typeface="Calibri"/>
              </a:rPr>
              <a:t>fewer</a:t>
            </a:r>
            <a:r>
              <a:rPr sz="2400" b="1" spc="-40" dirty="0">
                <a:solidFill>
                  <a:srgbClr val="D9D9D9"/>
                </a:solidFill>
                <a:latin typeface="Calibri"/>
                <a:cs typeface="Calibri"/>
              </a:rPr>
              <a:t> </a:t>
            </a:r>
            <a:r>
              <a:rPr sz="2400" b="1" dirty="0">
                <a:solidFill>
                  <a:srgbClr val="D9D9D9"/>
                </a:solidFill>
                <a:latin typeface="Calibri"/>
                <a:cs typeface="Calibri"/>
              </a:rPr>
              <a:t>dimensions</a:t>
            </a:r>
            <a:r>
              <a:rPr sz="2400" b="1" spc="-67" dirty="0">
                <a:solidFill>
                  <a:srgbClr val="D9D9D9"/>
                </a:solidFill>
                <a:latin typeface="Calibri"/>
                <a:cs typeface="Calibri"/>
              </a:rPr>
              <a:t> </a:t>
            </a:r>
            <a:r>
              <a:rPr sz="2400" b="1" spc="-13" dirty="0">
                <a:solidFill>
                  <a:srgbClr val="D9D9D9"/>
                </a:solidFill>
                <a:latin typeface="Calibri"/>
                <a:cs typeface="Calibri"/>
              </a:rPr>
              <a:t>associated</a:t>
            </a:r>
            <a:endParaRPr sz="2400">
              <a:latin typeface="Calibri"/>
              <a:cs typeface="Calibri"/>
            </a:endParaRPr>
          </a:p>
        </p:txBody>
      </p:sp>
      <p:graphicFrame>
        <p:nvGraphicFramePr>
          <p:cNvPr id="4" name="object 4"/>
          <p:cNvGraphicFramePr>
            <a:graphicFrameLocks noGrp="1"/>
          </p:cNvGraphicFramePr>
          <p:nvPr/>
        </p:nvGraphicFramePr>
        <p:xfrm>
          <a:off x="6867653" y="4399619"/>
          <a:ext cx="4209626" cy="1495213"/>
        </p:xfrm>
        <a:graphic>
          <a:graphicData uri="http://schemas.openxmlformats.org/drawingml/2006/table">
            <a:tbl>
              <a:tblPr firstRow="1" bandRow="1">
                <a:tableStyleId>{2D5ABB26-0587-4C30-8999-92F81FD0307C}</a:tableStyleId>
              </a:tblPr>
              <a:tblGrid>
                <a:gridCol w="911013">
                  <a:extLst>
                    <a:ext uri="{9D8B030D-6E8A-4147-A177-3AD203B41FA5}">
                      <a16:colId xmlns:a16="http://schemas.microsoft.com/office/drawing/2014/main" val="20000"/>
                    </a:ext>
                  </a:extLst>
                </a:gridCol>
                <a:gridCol w="960967">
                  <a:extLst>
                    <a:ext uri="{9D8B030D-6E8A-4147-A177-3AD203B41FA5}">
                      <a16:colId xmlns:a16="http://schemas.microsoft.com/office/drawing/2014/main" val="20001"/>
                    </a:ext>
                  </a:extLst>
                </a:gridCol>
                <a:gridCol w="1221739">
                  <a:extLst>
                    <a:ext uri="{9D8B030D-6E8A-4147-A177-3AD203B41FA5}">
                      <a16:colId xmlns:a16="http://schemas.microsoft.com/office/drawing/2014/main" val="20002"/>
                    </a:ext>
                  </a:extLst>
                </a:gridCol>
                <a:gridCol w="1115907">
                  <a:extLst>
                    <a:ext uri="{9D8B030D-6E8A-4147-A177-3AD203B41FA5}">
                      <a16:colId xmlns:a16="http://schemas.microsoft.com/office/drawing/2014/main" val="20003"/>
                    </a:ext>
                  </a:extLst>
                </a:gridCol>
              </a:tblGrid>
              <a:tr h="225213">
                <a:tc>
                  <a:txBody>
                    <a:bodyPr/>
                    <a:lstStyle/>
                    <a:p>
                      <a:pPr algn="ctr">
                        <a:lnSpc>
                          <a:spcPts val="1170"/>
                        </a:lnSpc>
                        <a:spcBef>
                          <a:spcPts val="65"/>
                        </a:spcBef>
                      </a:pPr>
                      <a:r>
                        <a:rPr sz="1400" b="1" spc="-10" dirty="0">
                          <a:latin typeface="Arial"/>
                          <a:cs typeface="Arial"/>
                        </a:rPr>
                        <a:t>day_id</a:t>
                      </a:r>
                      <a:endParaRPr sz="1400">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algn="ctr">
                        <a:lnSpc>
                          <a:spcPts val="1170"/>
                        </a:lnSpc>
                        <a:spcBef>
                          <a:spcPts val="65"/>
                        </a:spcBef>
                      </a:pPr>
                      <a:r>
                        <a:rPr sz="1400" b="1" dirty="0">
                          <a:latin typeface="Arial"/>
                          <a:cs typeface="Arial"/>
                        </a:rPr>
                        <a:t>no.</a:t>
                      </a:r>
                      <a:r>
                        <a:rPr sz="1400" b="1" spc="-20" dirty="0">
                          <a:latin typeface="Arial"/>
                          <a:cs typeface="Arial"/>
                        </a:rPr>
                        <a:t> </a:t>
                      </a:r>
                      <a:r>
                        <a:rPr sz="1400" b="1" spc="-10" dirty="0">
                          <a:latin typeface="Arial"/>
                          <a:cs typeface="Arial"/>
                        </a:rPr>
                        <a:t>calls</a:t>
                      </a:r>
                      <a:endParaRPr sz="1400">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635" algn="ctr">
                        <a:lnSpc>
                          <a:spcPts val="1170"/>
                        </a:lnSpc>
                        <a:spcBef>
                          <a:spcPts val="65"/>
                        </a:spcBef>
                      </a:pPr>
                      <a:r>
                        <a:rPr sz="1400" b="1" dirty="0">
                          <a:latin typeface="Arial"/>
                          <a:cs typeface="Arial"/>
                        </a:rPr>
                        <a:t>missed</a:t>
                      </a:r>
                      <a:r>
                        <a:rPr sz="1400" b="1" spc="-35" dirty="0">
                          <a:latin typeface="Arial"/>
                          <a:cs typeface="Arial"/>
                        </a:rPr>
                        <a:t> </a:t>
                      </a:r>
                      <a:r>
                        <a:rPr sz="1400" b="1" spc="-10" dirty="0">
                          <a:latin typeface="Arial"/>
                          <a:cs typeface="Arial"/>
                        </a:rPr>
                        <a:t>calles</a:t>
                      </a:r>
                      <a:endParaRPr sz="1400">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635" algn="ctr">
                        <a:lnSpc>
                          <a:spcPts val="1170"/>
                        </a:lnSpc>
                        <a:spcBef>
                          <a:spcPts val="65"/>
                        </a:spcBef>
                      </a:pPr>
                      <a:r>
                        <a:rPr sz="1400" b="1" spc="-10" dirty="0">
                          <a:latin typeface="Arial"/>
                          <a:cs typeface="Arial"/>
                        </a:rPr>
                        <a:t>duration</a:t>
                      </a:r>
                      <a:endParaRPr sz="1400">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extLst>
                  <a:ext uri="{0D108BD9-81ED-4DB2-BD59-A6C34878D82A}">
                    <a16:rowId xmlns:a16="http://schemas.microsoft.com/office/drawing/2014/main" val="10000"/>
                  </a:ext>
                </a:extLst>
              </a:tr>
              <a:tr h="254000">
                <a:tc>
                  <a:txBody>
                    <a:bodyPr/>
                    <a:lstStyle/>
                    <a:p>
                      <a:pPr marL="635" algn="ctr">
                        <a:lnSpc>
                          <a:spcPts val="117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5"/>
                        </a:spcBef>
                      </a:pPr>
                      <a:r>
                        <a:rPr sz="1400" spc="-25" dirty="0">
                          <a:latin typeface="Arial MT"/>
                          <a:cs typeface="Arial MT"/>
                        </a:rPr>
                        <a:t>31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25" dirty="0">
                          <a:latin typeface="Arial MT"/>
                          <a:cs typeface="Arial MT"/>
                        </a:rPr>
                        <a:t>432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marL="635" algn="ctr">
                        <a:lnSpc>
                          <a:spcPts val="117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5"/>
                        </a:spcBef>
                      </a:pPr>
                      <a:r>
                        <a:rPr sz="1400" spc="-25" dirty="0">
                          <a:latin typeface="Arial MT"/>
                          <a:cs typeface="Arial MT"/>
                        </a:rPr>
                        <a:t>25</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ts val="1170"/>
                        </a:lnSpc>
                        <a:spcBef>
                          <a:spcPts val="225"/>
                        </a:spcBef>
                      </a:pPr>
                      <a:r>
                        <a:rPr sz="1400" spc="-50" dirty="0">
                          <a:latin typeface="Arial MT"/>
                          <a:cs typeface="Arial MT"/>
                        </a:rPr>
                        <a:t>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25" dirty="0">
                          <a:latin typeface="Arial MT"/>
                          <a:cs typeface="Arial MT"/>
                        </a:rPr>
                        <a:t>142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marL="635" algn="ctr">
                        <a:lnSpc>
                          <a:spcPts val="117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25" dirty="0">
                          <a:latin typeface="Arial MT"/>
                          <a:cs typeface="Arial MT"/>
                        </a:rPr>
                        <a:t>52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0"/>
                        </a:lnSpc>
                        <a:spcBef>
                          <a:spcPts val="229"/>
                        </a:spcBef>
                      </a:pPr>
                      <a:r>
                        <a:rPr sz="1400" spc="-50" dirty="0">
                          <a:latin typeface="Arial MT"/>
                          <a:cs typeface="Arial MT"/>
                        </a:rPr>
                        <a:t>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25" dirty="0">
                          <a:latin typeface="Arial MT"/>
                          <a:cs typeface="Arial MT"/>
                        </a:rPr>
                        <a:t>134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marL="635" algn="ctr">
                        <a:lnSpc>
                          <a:spcPts val="1170"/>
                        </a:lnSpc>
                        <a:spcBef>
                          <a:spcPts val="229"/>
                        </a:spcBef>
                      </a:pPr>
                      <a:r>
                        <a:rPr sz="1400" spc="-50" dirty="0">
                          <a:latin typeface="Arial MT"/>
                          <a:cs typeface="Arial MT"/>
                        </a:rPr>
                        <a:t>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25" dirty="0">
                          <a:latin typeface="Arial MT"/>
                          <a:cs typeface="Arial MT"/>
                        </a:rPr>
                        <a:t>23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0"/>
                        </a:lnSpc>
                        <a:spcBef>
                          <a:spcPts val="229"/>
                        </a:spcBef>
                      </a:pPr>
                      <a:r>
                        <a:rPr sz="1400" spc="-50" dirty="0">
                          <a:latin typeface="Arial MT"/>
                          <a:cs typeface="Arial MT"/>
                        </a:rPr>
                        <a:t>6</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25" dirty="0">
                          <a:latin typeface="Arial MT"/>
                          <a:cs typeface="Arial MT"/>
                        </a:rPr>
                        <a:t>562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marL="635" algn="ctr">
                        <a:lnSpc>
                          <a:spcPts val="1170"/>
                        </a:lnSpc>
                        <a:spcBef>
                          <a:spcPts val="229"/>
                        </a:spcBef>
                      </a:pPr>
                      <a:r>
                        <a:rPr sz="1400" spc="-50" dirty="0">
                          <a:latin typeface="Arial MT"/>
                          <a:cs typeface="Arial MT"/>
                        </a:rPr>
                        <a:t>5</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25" dirty="0">
                          <a:latin typeface="Arial MT"/>
                          <a:cs typeface="Arial MT"/>
                        </a:rPr>
                        <a:t>53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0"/>
                        </a:lnSpc>
                        <a:spcBef>
                          <a:spcPts val="229"/>
                        </a:spcBef>
                      </a:pPr>
                      <a:r>
                        <a:rPr sz="1400" spc="-50" dirty="0">
                          <a:latin typeface="Arial MT"/>
                          <a:cs typeface="Arial MT"/>
                        </a:rPr>
                        <a:t>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25" dirty="0">
                          <a:latin typeface="Arial MT"/>
                          <a:cs typeface="Arial MT"/>
                        </a:rPr>
                        <a:t>122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graphicFrame>
        <p:nvGraphicFramePr>
          <p:cNvPr id="5" name="object 5"/>
          <p:cNvGraphicFramePr>
            <a:graphicFrameLocks noGrp="1"/>
          </p:cNvGraphicFramePr>
          <p:nvPr>
            <p:extLst>
              <p:ext uri="{D42A27DB-BD31-4B8C-83A1-F6EECF244321}">
                <p14:modId xmlns:p14="http://schemas.microsoft.com/office/powerpoint/2010/main" val="2960284046"/>
              </p:ext>
            </p:extLst>
          </p:nvPr>
        </p:nvGraphicFramePr>
        <p:xfrm>
          <a:off x="2257722" y="4399787"/>
          <a:ext cx="3771900" cy="2167466"/>
        </p:xfrm>
        <a:graphic>
          <a:graphicData uri="http://schemas.openxmlformats.org/drawingml/2006/table">
            <a:tbl>
              <a:tblPr firstRow="1" bandRow="1">
                <a:tableStyleId>{2D5ABB26-0587-4C30-8999-92F81FD0307C}</a:tableStyleId>
              </a:tblPr>
              <a:tblGrid>
                <a:gridCol w="9144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698500">
                  <a:extLst>
                    <a:ext uri="{9D8B030D-6E8A-4147-A177-3AD203B41FA5}">
                      <a16:colId xmlns:a16="http://schemas.microsoft.com/office/drawing/2014/main" val="20003"/>
                    </a:ext>
                  </a:extLst>
                </a:gridCol>
              </a:tblGrid>
              <a:tr h="225213">
                <a:tc>
                  <a:txBody>
                    <a:bodyPr/>
                    <a:lstStyle/>
                    <a:p>
                      <a:pPr algn="ctr">
                        <a:lnSpc>
                          <a:spcPts val="1170"/>
                        </a:lnSpc>
                        <a:spcBef>
                          <a:spcPts val="60"/>
                        </a:spcBef>
                      </a:pPr>
                      <a:r>
                        <a:rPr sz="1400" b="1" spc="-10" dirty="0">
                          <a:latin typeface="Arial"/>
                          <a:cs typeface="Arial"/>
                        </a:rPr>
                        <a:t>week_id</a:t>
                      </a:r>
                      <a:endParaRPr sz="1400">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algn="ctr">
                        <a:lnSpc>
                          <a:spcPts val="1170"/>
                        </a:lnSpc>
                        <a:spcBef>
                          <a:spcPts val="60"/>
                        </a:spcBef>
                      </a:pPr>
                      <a:r>
                        <a:rPr sz="1400" b="1" spc="-10" dirty="0">
                          <a:latin typeface="Arial"/>
                          <a:cs typeface="Arial"/>
                        </a:rPr>
                        <a:t>revenue</a:t>
                      </a:r>
                      <a:endParaRPr sz="1400">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1270" algn="ctr">
                        <a:lnSpc>
                          <a:spcPts val="1170"/>
                        </a:lnSpc>
                        <a:spcBef>
                          <a:spcPts val="60"/>
                        </a:spcBef>
                      </a:pPr>
                      <a:r>
                        <a:rPr sz="1400" b="1" spc="-10" dirty="0">
                          <a:latin typeface="Arial"/>
                          <a:cs typeface="Arial"/>
                        </a:rPr>
                        <a:t>sales</a:t>
                      </a:r>
                      <a:endParaRPr sz="1400">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algn="ctr">
                        <a:lnSpc>
                          <a:spcPts val="1170"/>
                        </a:lnSpc>
                        <a:spcBef>
                          <a:spcPts val="60"/>
                        </a:spcBef>
                      </a:pPr>
                      <a:r>
                        <a:rPr sz="1400" b="1" spc="-20" dirty="0">
                          <a:latin typeface="Arial"/>
                          <a:cs typeface="Arial"/>
                        </a:rPr>
                        <a:t>cost</a:t>
                      </a:r>
                      <a:endParaRPr sz="1400">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extLst>
                  <a:ext uri="{0D108BD9-81ED-4DB2-BD59-A6C34878D82A}">
                    <a16:rowId xmlns:a16="http://schemas.microsoft.com/office/drawing/2014/main" val="10000"/>
                  </a:ext>
                </a:extLst>
              </a:tr>
              <a:tr h="254000">
                <a:tc>
                  <a:txBody>
                    <a:bodyPr/>
                    <a:lstStyle/>
                    <a:p>
                      <a:pPr algn="ctr">
                        <a:lnSpc>
                          <a:spcPts val="117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25" dirty="0">
                          <a:latin typeface="Arial MT"/>
                          <a:cs typeface="Arial MT"/>
                        </a:rPr>
                        <a:t>323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25" dirty="0">
                          <a:latin typeface="Arial MT"/>
                          <a:cs typeface="Arial MT"/>
                        </a:rPr>
                        <a:t>123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5"/>
                        </a:spcBef>
                      </a:pPr>
                      <a:r>
                        <a:rPr sz="1400" spc="-25" dirty="0">
                          <a:latin typeface="Arial MT"/>
                          <a:cs typeface="Arial MT"/>
                        </a:rPr>
                        <a:t>12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ts val="117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25" dirty="0">
                          <a:latin typeface="Arial MT"/>
                          <a:cs typeface="Arial MT"/>
                        </a:rPr>
                        <a:t>541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25" dirty="0">
                          <a:latin typeface="Arial MT"/>
                          <a:cs typeface="Arial MT"/>
                        </a:rPr>
                        <a:t>322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5"/>
                        </a:spcBef>
                      </a:pPr>
                      <a:r>
                        <a:rPr sz="1400" spc="-25" dirty="0">
                          <a:latin typeface="Arial MT"/>
                          <a:cs typeface="Arial MT"/>
                        </a:rPr>
                        <a:t>31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3153">
                <a:tc>
                  <a:txBody>
                    <a:bodyPr/>
                    <a:lstStyle/>
                    <a:p>
                      <a:pPr algn="ctr">
                        <a:lnSpc>
                          <a:spcPts val="117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25" dirty="0">
                          <a:latin typeface="Arial MT"/>
                          <a:cs typeface="Arial MT"/>
                        </a:rPr>
                        <a:t>242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25" dirty="0">
                          <a:latin typeface="Arial MT"/>
                          <a:cs typeface="Arial MT"/>
                        </a:rPr>
                        <a:t>108</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9"/>
                        </a:spcBef>
                      </a:pPr>
                      <a:r>
                        <a:rPr sz="1400" spc="-25" dirty="0">
                          <a:latin typeface="Arial MT"/>
                          <a:cs typeface="Arial MT"/>
                        </a:rPr>
                        <a:t>12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algn="ctr">
                        <a:lnSpc>
                          <a:spcPts val="1170"/>
                        </a:lnSpc>
                        <a:spcBef>
                          <a:spcPts val="229"/>
                        </a:spcBef>
                      </a:pPr>
                      <a:r>
                        <a:rPr sz="1400" spc="-50" dirty="0">
                          <a:latin typeface="Arial MT"/>
                          <a:cs typeface="Arial MT"/>
                        </a:rPr>
                        <a:t>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25" dirty="0">
                          <a:latin typeface="Arial MT"/>
                          <a:cs typeface="Arial MT"/>
                        </a:rPr>
                        <a:t>352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25" dirty="0">
                          <a:latin typeface="Arial MT"/>
                          <a:cs typeface="Arial MT"/>
                        </a:rPr>
                        <a:t>212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9"/>
                        </a:spcBef>
                      </a:pPr>
                      <a:r>
                        <a:rPr sz="1400" spc="-25" dirty="0">
                          <a:latin typeface="Arial MT"/>
                          <a:cs typeface="Arial MT"/>
                        </a:rPr>
                        <a:t>51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algn="ctr">
                        <a:lnSpc>
                          <a:spcPts val="1170"/>
                        </a:lnSpc>
                        <a:spcBef>
                          <a:spcPts val="229"/>
                        </a:spcBef>
                      </a:pPr>
                      <a:r>
                        <a:rPr sz="1400" spc="-50" dirty="0">
                          <a:latin typeface="Arial MT"/>
                          <a:cs typeface="Arial MT"/>
                        </a:rPr>
                        <a:t>5</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25" dirty="0">
                          <a:latin typeface="Arial MT"/>
                          <a:cs typeface="Arial MT"/>
                        </a:rPr>
                        <a:t>312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25" dirty="0">
                          <a:latin typeface="Arial MT"/>
                          <a:cs typeface="Arial MT"/>
                        </a:rPr>
                        <a:t>198</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9"/>
                        </a:spcBef>
                      </a:pPr>
                      <a:r>
                        <a:rPr sz="1400" spc="-25" dirty="0">
                          <a:latin typeface="Arial MT"/>
                          <a:cs typeface="Arial MT"/>
                        </a:rPr>
                        <a:t>25</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r h="673100">
                <a:tc>
                  <a:txBody>
                    <a:bodyPr/>
                    <a:lstStyle/>
                    <a:p>
                      <a:pPr>
                        <a:lnSpc>
                          <a:spcPct val="100000"/>
                        </a:lnSpc>
                      </a:pPr>
                      <a:endParaRPr sz="2000">
                        <a:latin typeface="Times New Roman"/>
                        <a:cs typeface="Times New Roman"/>
                      </a:endParaRPr>
                    </a:p>
                  </a:txBody>
                  <a:tcPr marL="0" marR="0" marT="0" marB="0">
                    <a:lnT w="12700">
                      <a:solidFill>
                        <a:srgbClr val="000000"/>
                      </a:solidFill>
                      <a:prstDash val="solid"/>
                    </a:lnT>
                  </a:tcPr>
                </a:tc>
                <a:tc gridSpan="3">
                  <a:txBody>
                    <a:bodyPr/>
                    <a:lstStyle/>
                    <a:p>
                      <a:pPr marL="207645">
                        <a:lnSpc>
                          <a:spcPct val="100000"/>
                        </a:lnSpc>
                        <a:spcBef>
                          <a:spcPts val="1330"/>
                        </a:spcBef>
                      </a:pPr>
                      <a:r>
                        <a:rPr sz="2400" b="1" dirty="0">
                          <a:solidFill>
                            <a:srgbClr val="D9D9D9"/>
                          </a:solidFill>
                          <a:latin typeface="Calibri"/>
                          <a:cs typeface="Calibri"/>
                        </a:rPr>
                        <a:t>Sales</a:t>
                      </a:r>
                      <a:r>
                        <a:rPr sz="2400" b="1" spc="-40" dirty="0">
                          <a:solidFill>
                            <a:srgbClr val="D9D9D9"/>
                          </a:solidFill>
                          <a:latin typeface="Calibri"/>
                          <a:cs typeface="Calibri"/>
                        </a:rPr>
                        <a:t> </a:t>
                      </a:r>
                      <a:r>
                        <a:rPr sz="2400" b="1" spc="-10" dirty="0">
                          <a:solidFill>
                            <a:srgbClr val="D9D9D9"/>
                          </a:solidFill>
                          <a:latin typeface="Calibri"/>
                          <a:cs typeface="Calibri"/>
                        </a:rPr>
                        <a:t>transactions</a:t>
                      </a:r>
                      <a:endParaRPr sz="2400" dirty="0">
                        <a:latin typeface="Calibri"/>
                        <a:cs typeface="Calibri"/>
                      </a:endParaRPr>
                    </a:p>
                  </a:txBody>
                  <a:tcPr marL="0" marR="0" marT="225213" marB="0">
                    <a:lnT w="12700">
                      <a:solidFill>
                        <a:srgbClr val="000000"/>
                      </a:solidFill>
                      <a:prstDash val="solid"/>
                    </a:lnT>
                    <a:no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6"/>
                  </a:ext>
                </a:extLst>
              </a:tr>
            </a:tbl>
          </a:graphicData>
        </a:graphic>
      </p:graphicFrame>
      <p:sp>
        <p:nvSpPr>
          <p:cNvPr id="6" name="object 6"/>
          <p:cNvSpPr txBox="1"/>
          <p:nvPr/>
        </p:nvSpPr>
        <p:spPr>
          <a:xfrm>
            <a:off x="7833360" y="5992369"/>
            <a:ext cx="2804160" cy="541174"/>
          </a:xfrm>
          <a:prstGeom prst="rect">
            <a:avLst/>
          </a:prstGeom>
          <a:noFill/>
        </p:spPr>
        <p:txBody>
          <a:bodyPr vert="horz" wrap="square" lIns="0" tIns="170180" rIns="0" bIns="0" rtlCol="0">
            <a:spAutoFit/>
          </a:bodyPr>
          <a:lstStyle/>
          <a:p>
            <a:pPr marL="2540" algn="ctr">
              <a:spcBef>
                <a:spcPts val="1340"/>
              </a:spcBef>
            </a:pPr>
            <a:r>
              <a:rPr sz="2400" b="1" spc="-13" dirty="0">
                <a:solidFill>
                  <a:srgbClr val="D9D9D9"/>
                </a:solidFill>
                <a:latin typeface="Calibri"/>
                <a:cs typeface="Calibri"/>
              </a:rPr>
              <a:t>Calls</a:t>
            </a:r>
            <a:endParaRPr sz="2400">
              <a:latin typeface="Calibri"/>
              <a:cs typeface="Calibri"/>
            </a:endParaRPr>
          </a:p>
        </p:txBody>
      </p:sp>
      <p:sp>
        <p:nvSpPr>
          <p:cNvPr id="7" name="object 7"/>
          <p:cNvSpPr txBox="1"/>
          <p:nvPr/>
        </p:nvSpPr>
        <p:spPr>
          <a:xfrm>
            <a:off x="10058060" y="4046221"/>
            <a:ext cx="907627" cy="304421"/>
          </a:xfrm>
          <a:prstGeom prst="rect">
            <a:avLst/>
          </a:prstGeom>
        </p:spPr>
        <p:txBody>
          <a:bodyPr vert="horz" wrap="square" lIns="0" tIns="16933" rIns="0" bIns="0" rtlCol="0">
            <a:spAutoFit/>
          </a:bodyPr>
          <a:lstStyle/>
          <a:p>
            <a:pPr marL="16933">
              <a:spcBef>
                <a:spcPts val="133"/>
              </a:spcBef>
            </a:pPr>
            <a:r>
              <a:rPr sz="1867" b="1" spc="-13" dirty="0">
                <a:solidFill>
                  <a:srgbClr val="66DBFF"/>
                </a:solidFill>
                <a:latin typeface="Calibri"/>
                <a:cs typeface="Calibri"/>
              </a:rPr>
              <a:t>Measure</a:t>
            </a:r>
            <a:endParaRPr sz="1867">
              <a:latin typeface="Calibri"/>
              <a:cs typeface="Calibri"/>
            </a:endParaRPr>
          </a:p>
        </p:txBody>
      </p:sp>
      <p:sp>
        <p:nvSpPr>
          <p:cNvPr id="8" name="object 8"/>
          <p:cNvSpPr txBox="1"/>
          <p:nvPr/>
        </p:nvSpPr>
        <p:spPr>
          <a:xfrm>
            <a:off x="3077801" y="3482510"/>
            <a:ext cx="3114040" cy="878937"/>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No</a:t>
            </a:r>
            <a:r>
              <a:rPr sz="2400" b="1" spc="-7" dirty="0">
                <a:solidFill>
                  <a:srgbClr val="D9D9D9"/>
                </a:solidFill>
                <a:latin typeface="Calibri"/>
                <a:cs typeface="Calibri"/>
              </a:rPr>
              <a:t> </a:t>
            </a:r>
            <a:r>
              <a:rPr sz="2400" b="1" dirty="0">
                <a:solidFill>
                  <a:srgbClr val="D9D9D9"/>
                </a:solidFill>
                <a:latin typeface="Calibri"/>
                <a:cs typeface="Calibri"/>
              </a:rPr>
              <a:t>events</a:t>
            </a:r>
            <a:r>
              <a:rPr sz="2400" b="1" spc="-60" dirty="0">
                <a:solidFill>
                  <a:srgbClr val="D9D9D9"/>
                </a:solidFill>
                <a:latin typeface="Calibri"/>
                <a:cs typeface="Calibri"/>
              </a:rPr>
              <a:t> </a:t>
            </a:r>
            <a:r>
              <a:rPr sz="2400" b="1" dirty="0">
                <a:solidFill>
                  <a:srgbClr val="D9D9D9"/>
                </a:solidFill>
                <a:latin typeface="Calibri"/>
                <a:cs typeface="Calibri"/>
              </a:rPr>
              <a:t>=</a:t>
            </a:r>
            <a:r>
              <a:rPr sz="2400" b="1" spc="7" dirty="0">
                <a:solidFill>
                  <a:srgbClr val="D9D9D9"/>
                </a:solidFill>
                <a:latin typeface="Calibri"/>
                <a:cs typeface="Calibri"/>
              </a:rPr>
              <a:t> </a:t>
            </a:r>
            <a:r>
              <a:rPr sz="2400" b="1" dirty="0">
                <a:solidFill>
                  <a:srgbClr val="D9D9D9"/>
                </a:solidFill>
                <a:latin typeface="Calibri"/>
                <a:cs typeface="Calibri"/>
              </a:rPr>
              <a:t>null</a:t>
            </a:r>
            <a:r>
              <a:rPr sz="2400" b="1" spc="-27" dirty="0">
                <a:solidFill>
                  <a:srgbClr val="D9D9D9"/>
                </a:solidFill>
                <a:latin typeface="Calibri"/>
                <a:cs typeface="Calibri"/>
              </a:rPr>
              <a:t> </a:t>
            </a:r>
            <a:r>
              <a:rPr sz="2400" b="1" dirty="0">
                <a:solidFill>
                  <a:srgbClr val="D9D9D9"/>
                </a:solidFill>
                <a:latin typeface="Calibri"/>
                <a:cs typeface="Calibri"/>
              </a:rPr>
              <a:t>or</a:t>
            </a:r>
            <a:r>
              <a:rPr sz="2400" b="1" spc="-27" dirty="0">
                <a:solidFill>
                  <a:srgbClr val="D9D9D9"/>
                </a:solidFill>
                <a:latin typeface="Calibri"/>
                <a:cs typeface="Calibri"/>
              </a:rPr>
              <a:t> </a:t>
            </a:r>
            <a:r>
              <a:rPr sz="2400" b="1" spc="-67" dirty="0">
                <a:solidFill>
                  <a:srgbClr val="D9D9D9"/>
                </a:solidFill>
                <a:latin typeface="Calibri"/>
                <a:cs typeface="Calibri"/>
              </a:rPr>
              <a:t>0</a:t>
            </a:r>
            <a:endParaRPr sz="2400">
              <a:latin typeface="Calibri"/>
              <a:cs typeface="Calibri"/>
            </a:endParaRPr>
          </a:p>
          <a:p>
            <a:pPr marL="138003">
              <a:spcBef>
                <a:spcPts val="1567"/>
              </a:spcBef>
              <a:tabLst>
                <a:tab pos="1229328" algn="l"/>
              </a:tabLst>
            </a:pPr>
            <a:r>
              <a:rPr sz="2800" b="1" spc="-20" baseline="1984" dirty="0">
                <a:solidFill>
                  <a:srgbClr val="66DBFF"/>
                </a:solidFill>
                <a:latin typeface="Calibri"/>
                <a:cs typeface="Calibri"/>
              </a:rPr>
              <a:t>Measure</a:t>
            </a:r>
            <a:r>
              <a:rPr sz="2800" b="1" baseline="1984" dirty="0">
                <a:solidFill>
                  <a:srgbClr val="66DBFF"/>
                </a:solidFill>
                <a:latin typeface="Calibri"/>
                <a:cs typeface="Calibri"/>
              </a:rPr>
              <a:t>	</a:t>
            </a:r>
            <a:r>
              <a:rPr sz="1867" b="1" dirty="0">
                <a:solidFill>
                  <a:srgbClr val="66DBFF"/>
                </a:solidFill>
                <a:latin typeface="Calibri"/>
                <a:cs typeface="Calibri"/>
              </a:rPr>
              <a:t>Measure</a:t>
            </a:r>
            <a:r>
              <a:rPr sz="1867" b="1" spc="513" dirty="0">
                <a:solidFill>
                  <a:srgbClr val="66DBFF"/>
                </a:solidFill>
                <a:latin typeface="Calibri"/>
                <a:cs typeface="Calibri"/>
              </a:rPr>
              <a:t> </a:t>
            </a:r>
            <a:r>
              <a:rPr sz="1867" b="1" spc="-13" dirty="0">
                <a:solidFill>
                  <a:srgbClr val="66DBFF"/>
                </a:solidFill>
                <a:latin typeface="Calibri"/>
                <a:cs typeface="Calibri"/>
              </a:rPr>
              <a:t>Measure</a:t>
            </a:r>
            <a:endParaRPr sz="1867">
              <a:latin typeface="Calibri"/>
              <a:cs typeface="Calibri"/>
            </a:endParaRPr>
          </a:p>
        </p:txBody>
      </p:sp>
      <p:sp>
        <p:nvSpPr>
          <p:cNvPr id="9" name="object 9"/>
          <p:cNvSpPr txBox="1"/>
          <p:nvPr/>
        </p:nvSpPr>
        <p:spPr>
          <a:xfrm>
            <a:off x="7798478" y="4049437"/>
            <a:ext cx="2018453" cy="304421"/>
          </a:xfrm>
          <a:prstGeom prst="rect">
            <a:avLst/>
          </a:prstGeom>
        </p:spPr>
        <p:txBody>
          <a:bodyPr vert="horz" wrap="square" lIns="0" tIns="16933" rIns="0" bIns="0" rtlCol="0">
            <a:spAutoFit/>
          </a:bodyPr>
          <a:lstStyle/>
          <a:p>
            <a:pPr marL="16933">
              <a:spcBef>
                <a:spcPts val="133"/>
              </a:spcBef>
              <a:tabLst>
                <a:tab pos="1127730" algn="l"/>
              </a:tabLst>
            </a:pPr>
            <a:r>
              <a:rPr sz="1867" b="1" spc="-13" dirty="0">
                <a:solidFill>
                  <a:srgbClr val="66DBFF"/>
                </a:solidFill>
                <a:latin typeface="Calibri"/>
                <a:cs typeface="Calibri"/>
              </a:rPr>
              <a:t>Measure</a:t>
            </a:r>
            <a:r>
              <a:rPr sz="1867" b="1" dirty="0">
                <a:solidFill>
                  <a:srgbClr val="66DBFF"/>
                </a:solidFill>
                <a:latin typeface="Calibri"/>
                <a:cs typeface="Calibri"/>
              </a:rPr>
              <a:t>	</a:t>
            </a:r>
            <a:r>
              <a:rPr sz="1867" b="1" spc="-13" dirty="0">
                <a:solidFill>
                  <a:srgbClr val="66DBFF"/>
                </a:solidFill>
                <a:latin typeface="Calibri"/>
                <a:cs typeface="Calibri"/>
              </a:rPr>
              <a:t>Measure</a:t>
            </a:r>
            <a:endParaRPr sz="1867">
              <a:latin typeface="Calibri"/>
              <a:cs typeface="Calibri"/>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57807" y="2279903"/>
            <a:ext cx="9930384" cy="1702816"/>
          </a:xfrm>
          <a:prstGeom prst="rect">
            <a:avLst/>
          </a:prstGeom>
        </p:spPr>
      </p:pic>
      <p:sp>
        <p:nvSpPr>
          <p:cNvPr id="3" name="object 3"/>
          <p:cNvSpPr txBox="1">
            <a:spLocks noGrp="1"/>
          </p:cNvSpPr>
          <p:nvPr>
            <p:ph type="title"/>
          </p:nvPr>
        </p:nvSpPr>
        <p:spPr>
          <a:xfrm>
            <a:off x="1320800" y="2579973"/>
            <a:ext cx="9811173" cy="1048150"/>
          </a:xfrm>
          <a:prstGeom prst="rect">
            <a:avLst/>
          </a:prstGeom>
          <a:noFill/>
          <a:ln w="9144">
            <a:noFill/>
          </a:ln>
        </p:spPr>
        <p:txBody>
          <a:bodyPr vert="horz" wrap="square" lIns="0" tIns="306493" rIns="0" bIns="0" rtlCol="0" anchor="ctr">
            <a:spAutoFit/>
          </a:bodyPr>
          <a:lstStyle/>
          <a:p>
            <a:pPr marL="766214">
              <a:lnSpc>
                <a:spcPct val="100000"/>
              </a:lnSpc>
              <a:spcBef>
                <a:spcPts val="2413"/>
              </a:spcBef>
            </a:pPr>
            <a:r>
              <a:rPr sz="4800" dirty="0">
                <a:solidFill>
                  <a:schemeClr val="bg1"/>
                </a:solidFill>
                <a:latin typeface="+mn-lt"/>
              </a:rPr>
              <a:t>Accumulation</a:t>
            </a:r>
            <a:r>
              <a:rPr sz="4800" spc="-113" dirty="0">
                <a:solidFill>
                  <a:schemeClr val="bg1"/>
                </a:solidFill>
                <a:latin typeface="+mn-lt"/>
              </a:rPr>
              <a:t> </a:t>
            </a:r>
            <a:r>
              <a:rPr sz="4800" dirty="0">
                <a:solidFill>
                  <a:schemeClr val="bg1"/>
                </a:solidFill>
                <a:latin typeface="+mn-lt"/>
              </a:rPr>
              <a:t>snapshot</a:t>
            </a:r>
            <a:r>
              <a:rPr sz="4800" spc="-80" dirty="0">
                <a:solidFill>
                  <a:schemeClr val="bg1"/>
                </a:solidFill>
                <a:latin typeface="+mn-lt"/>
              </a:rPr>
              <a:t> </a:t>
            </a:r>
            <a:r>
              <a:rPr sz="4800" dirty="0">
                <a:solidFill>
                  <a:schemeClr val="bg1"/>
                </a:solidFill>
                <a:latin typeface="+mn-lt"/>
              </a:rPr>
              <a:t>fact</a:t>
            </a:r>
            <a:r>
              <a:rPr sz="4800" spc="-80" dirty="0">
                <a:solidFill>
                  <a:schemeClr val="bg1"/>
                </a:solidFill>
                <a:latin typeface="+mn-lt"/>
              </a:rPr>
              <a:t> </a:t>
            </a:r>
            <a:r>
              <a:rPr sz="4800" spc="-13" dirty="0">
                <a:solidFill>
                  <a:schemeClr val="bg1"/>
                </a:solidFill>
                <a:latin typeface="+mn-lt"/>
              </a:rPr>
              <a:t>table</a:t>
            </a:r>
            <a:endParaRPr sz="4800" dirty="0">
              <a:solidFill>
                <a:schemeClr val="bg1"/>
              </a:solidFill>
              <a:latin typeface="+mn-lt"/>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7280" y="199329"/>
            <a:ext cx="8280400"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Accumulation</a:t>
            </a:r>
            <a:r>
              <a:rPr spc="-93" dirty="0">
                <a:solidFill>
                  <a:schemeClr val="bg1"/>
                </a:solidFill>
                <a:latin typeface="+mn-lt"/>
              </a:rPr>
              <a:t> </a:t>
            </a:r>
            <a:r>
              <a:rPr dirty="0">
                <a:solidFill>
                  <a:schemeClr val="bg1"/>
                </a:solidFill>
                <a:latin typeface="+mn-lt"/>
              </a:rPr>
              <a:t>snapshot</a:t>
            </a:r>
            <a:r>
              <a:rPr spc="-93" dirty="0">
                <a:solidFill>
                  <a:schemeClr val="bg1"/>
                </a:solidFill>
                <a:latin typeface="+mn-lt"/>
              </a:rPr>
              <a:t> </a:t>
            </a:r>
            <a:r>
              <a:rPr dirty="0">
                <a:solidFill>
                  <a:schemeClr val="bg1"/>
                </a:solidFill>
                <a:latin typeface="+mn-lt"/>
              </a:rPr>
              <a:t>fact</a:t>
            </a:r>
            <a:r>
              <a:rPr spc="-127" dirty="0">
                <a:solidFill>
                  <a:schemeClr val="bg1"/>
                </a:solidFill>
                <a:latin typeface="+mn-lt"/>
              </a:rPr>
              <a:t> </a:t>
            </a:r>
            <a:r>
              <a:rPr spc="-13" dirty="0">
                <a:solidFill>
                  <a:schemeClr val="bg1"/>
                </a:solidFill>
                <a:latin typeface="+mn-lt"/>
              </a:rPr>
              <a:t>table</a:t>
            </a:r>
          </a:p>
        </p:txBody>
      </p:sp>
      <p:graphicFrame>
        <p:nvGraphicFramePr>
          <p:cNvPr id="3" name="object 3"/>
          <p:cNvGraphicFramePr>
            <a:graphicFrameLocks noGrp="1"/>
          </p:cNvGraphicFramePr>
          <p:nvPr/>
        </p:nvGraphicFramePr>
        <p:xfrm>
          <a:off x="1820334" y="4399787"/>
          <a:ext cx="9767988" cy="1706879"/>
        </p:xfrm>
        <a:graphic>
          <a:graphicData uri="http://schemas.openxmlformats.org/drawingml/2006/table">
            <a:tbl>
              <a:tblPr firstRow="1" bandRow="1">
                <a:tableStyleId>{2D5ABB26-0587-4C30-8999-92F81FD0307C}</a:tableStyleId>
              </a:tblPr>
              <a:tblGrid>
                <a:gridCol w="818727">
                  <a:extLst>
                    <a:ext uri="{9D8B030D-6E8A-4147-A177-3AD203B41FA5}">
                      <a16:colId xmlns:a16="http://schemas.microsoft.com/office/drawing/2014/main" val="20000"/>
                    </a:ext>
                  </a:extLst>
                </a:gridCol>
                <a:gridCol w="1170092">
                  <a:extLst>
                    <a:ext uri="{9D8B030D-6E8A-4147-A177-3AD203B41FA5}">
                      <a16:colId xmlns:a16="http://schemas.microsoft.com/office/drawing/2014/main" val="20001"/>
                    </a:ext>
                  </a:extLst>
                </a:gridCol>
                <a:gridCol w="957580">
                  <a:extLst>
                    <a:ext uri="{9D8B030D-6E8A-4147-A177-3AD203B41FA5}">
                      <a16:colId xmlns:a16="http://schemas.microsoft.com/office/drawing/2014/main" val="20002"/>
                    </a:ext>
                  </a:extLst>
                </a:gridCol>
                <a:gridCol w="1170092">
                  <a:extLst>
                    <a:ext uri="{9D8B030D-6E8A-4147-A177-3AD203B41FA5}">
                      <a16:colId xmlns:a16="http://schemas.microsoft.com/office/drawing/2014/main" val="20003"/>
                    </a:ext>
                  </a:extLst>
                </a:gridCol>
                <a:gridCol w="1370753">
                  <a:extLst>
                    <a:ext uri="{9D8B030D-6E8A-4147-A177-3AD203B41FA5}">
                      <a16:colId xmlns:a16="http://schemas.microsoft.com/office/drawing/2014/main" val="20004"/>
                    </a:ext>
                  </a:extLst>
                </a:gridCol>
                <a:gridCol w="1219200">
                  <a:extLst>
                    <a:ext uri="{9D8B030D-6E8A-4147-A177-3AD203B41FA5}">
                      <a16:colId xmlns:a16="http://schemas.microsoft.com/office/drawing/2014/main" val="20005"/>
                    </a:ext>
                  </a:extLst>
                </a:gridCol>
                <a:gridCol w="1117600">
                  <a:extLst>
                    <a:ext uri="{9D8B030D-6E8A-4147-A177-3AD203B41FA5}">
                      <a16:colId xmlns:a16="http://schemas.microsoft.com/office/drawing/2014/main" val="20006"/>
                    </a:ext>
                  </a:extLst>
                </a:gridCol>
                <a:gridCol w="1015999">
                  <a:extLst>
                    <a:ext uri="{9D8B030D-6E8A-4147-A177-3AD203B41FA5}">
                      <a16:colId xmlns:a16="http://schemas.microsoft.com/office/drawing/2014/main" val="20007"/>
                    </a:ext>
                  </a:extLst>
                </a:gridCol>
                <a:gridCol w="927945">
                  <a:extLst>
                    <a:ext uri="{9D8B030D-6E8A-4147-A177-3AD203B41FA5}">
                      <a16:colId xmlns:a16="http://schemas.microsoft.com/office/drawing/2014/main" val="20008"/>
                    </a:ext>
                  </a:extLst>
                </a:gridCol>
              </a:tblGrid>
              <a:tr h="438573">
                <a:tc>
                  <a:txBody>
                    <a:bodyPr/>
                    <a:lstStyle/>
                    <a:p>
                      <a:pPr>
                        <a:lnSpc>
                          <a:spcPct val="100000"/>
                        </a:lnSpc>
                        <a:spcBef>
                          <a:spcPts val="114"/>
                        </a:spcBef>
                      </a:pPr>
                      <a:endParaRPr sz="1400">
                        <a:latin typeface="Times New Roman"/>
                        <a:cs typeface="Times New Roman"/>
                      </a:endParaRPr>
                    </a:p>
                    <a:p>
                      <a:pPr marL="635" algn="ctr">
                        <a:lnSpc>
                          <a:spcPts val="1170"/>
                        </a:lnSpc>
                      </a:pPr>
                      <a:r>
                        <a:rPr sz="1400" b="1" spc="-10" dirty="0">
                          <a:latin typeface="Arial"/>
                          <a:cs typeface="Arial"/>
                        </a:rPr>
                        <a:t>order_id</a:t>
                      </a:r>
                      <a:endParaRPr sz="1400">
                        <a:latin typeface="Arial"/>
                        <a:cs typeface="Arial"/>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348615" marR="85090" indent="-254635">
                        <a:lnSpc>
                          <a:spcPct val="100000"/>
                        </a:lnSpc>
                      </a:pPr>
                      <a:r>
                        <a:rPr sz="1400" b="1" dirty="0">
                          <a:latin typeface="Arial"/>
                          <a:cs typeface="Arial"/>
                        </a:rPr>
                        <a:t>Order</a:t>
                      </a:r>
                      <a:r>
                        <a:rPr sz="1400" b="1" spc="-40" dirty="0">
                          <a:latin typeface="Arial"/>
                          <a:cs typeface="Arial"/>
                        </a:rPr>
                        <a:t> </a:t>
                      </a:r>
                      <a:r>
                        <a:rPr sz="1400" b="1" spc="-20" dirty="0">
                          <a:latin typeface="Arial"/>
                          <a:cs typeface="Arial"/>
                        </a:rPr>
                        <a:t>Date </a:t>
                      </a:r>
                      <a:r>
                        <a:rPr sz="1400" b="1" spc="-25" dirty="0">
                          <a:latin typeface="Arial"/>
                          <a:cs typeface="Arial"/>
                        </a:rPr>
                        <a:t>FK</a:t>
                      </a:r>
                      <a:endParaRPr sz="14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algn="ctr">
                        <a:lnSpc>
                          <a:spcPct val="100000"/>
                        </a:lnSpc>
                        <a:spcBef>
                          <a:spcPts val="60"/>
                        </a:spcBef>
                      </a:pPr>
                      <a:r>
                        <a:rPr sz="1400" b="1" spc="-25" dirty="0">
                          <a:latin typeface="Arial"/>
                          <a:cs typeface="Arial"/>
                        </a:rPr>
                        <a:t>No.</a:t>
                      </a:r>
                      <a:endParaRPr sz="1400">
                        <a:latin typeface="Arial"/>
                        <a:cs typeface="Arial"/>
                      </a:endParaRPr>
                    </a:p>
                    <a:p>
                      <a:pPr algn="ctr">
                        <a:lnSpc>
                          <a:spcPts val="1170"/>
                        </a:lnSpc>
                      </a:pPr>
                      <a:r>
                        <a:rPr sz="1400" b="1" spc="-10" dirty="0">
                          <a:latin typeface="Arial"/>
                          <a:cs typeface="Arial"/>
                        </a:rPr>
                        <a:t>Products</a:t>
                      </a:r>
                      <a:endParaRPr sz="1400">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a:lnSpc>
                          <a:spcPct val="100000"/>
                        </a:lnSpc>
                        <a:spcBef>
                          <a:spcPts val="114"/>
                        </a:spcBef>
                      </a:pPr>
                      <a:endParaRPr sz="1400">
                        <a:latin typeface="Times New Roman"/>
                        <a:cs typeface="Times New Roman"/>
                      </a:endParaRPr>
                    </a:p>
                    <a:p>
                      <a:pPr marL="2540" algn="ctr">
                        <a:lnSpc>
                          <a:spcPts val="1170"/>
                        </a:lnSpc>
                      </a:pPr>
                      <a:r>
                        <a:rPr sz="1400" b="1" spc="-10" dirty="0">
                          <a:latin typeface="Arial"/>
                          <a:cs typeface="Arial"/>
                        </a:rPr>
                        <a:t>Product_FK</a:t>
                      </a:r>
                      <a:endParaRPr sz="1400">
                        <a:latin typeface="Arial"/>
                        <a:cs typeface="Arial"/>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252729" marR="151765" indent="-91440">
                        <a:lnSpc>
                          <a:spcPct val="100000"/>
                        </a:lnSpc>
                      </a:pPr>
                      <a:r>
                        <a:rPr sz="1400" b="1" spc="-10" dirty="0">
                          <a:latin typeface="Arial"/>
                          <a:cs typeface="Arial"/>
                        </a:rPr>
                        <a:t>Production </a:t>
                      </a:r>
                      <a:r>
                        <a:rPr sz="1400" b="1" dirty="0">
                          <a:latin typeface="Arial"/>
                          <a:cs typeface="Arial"/>
                        </a:rPr>
                        <a:t>Start</a:t>
                      </a:r>
                      <a:r>
                        <a:rPr sz="1400" b="1" spc="-35" dirty="0">
                          <a:latin typeface="Arial"/>
                          <a:cs typeface="Arial"/>
                        </a:rPr>
                        <a:t> </a:t>
                      </a:r>
                      <a:r>
                        <a:rPr sz="1400" b="1" spc="-25" dirty="0">
                          <a:latin typeface="Arial"/>
                          <a:cs typeface="Arial"/>
                        </a:rPr>
                        <a:t>FK</a:t>
                      </a:r>
                      <a:endParaRPr sz="14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223520" marR="95250" indent="-119380">
                        <a:lnSpc>
                          <a:spcPct val="100000"/>
                        </a:lnSpc>
                      </a:pPr>
                      <a:r>
                        <a:rPr sz="1400" b="1" spc="-10" dirty="0">
                          <a:latin typeface="Arial"/>
                          <a:cs typeface="Arial"/>
                        </a:rPr>
                        <a:t>Production </a:t>
                      </a:r>
                      <a:r>
                        <a:rPr sz="1400" b="1" dirty="0">
                          <a:latin typeface="Arial"/>
                          <a:cs typeface="Arial"/>
                        </a:rPr>
                        <a:t>End</a:t>
                      </a:r>
                      <a:r>
                        <a:rPr sz="1400" b="1" spc="-15" dirty="0">
                          <a:latin typeface="Arial"/>
                          <a:cs typeface="Arial"/>
                        </a:rPr>
                        <a:t> </a:t>
                      </a:r>
                      <a:r>
                        <a:rPr sz="1400" b="1" spc="-25" dirty="0">
                          <a:latin typeface="Arial"/>
                          <a:cs typeface="Arial"/>
                        </a:rPr>
                        <a:t>FK</a:t>
                      </a:r>
                      <a:endParaRPr sz="14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165735" marR="75565" indent="-81280">
                        <a:lnSpc>
                          <a:spcPct val="100000"/>
                        </a:lnSpc>
                      </a:pPr>
                      <a:r>
                        <a:rPr sz="1400" b="1" spc="-10" dirty="0">
                          <a:latin typeface="Arial"/>
                          <a:cs typeface="Arial"/>
                        </a:rPr>
                        <a:t>Inspection </a:t>
                      </a:r>
                      <a:r>
                        <a:rPr sz="1400" b="1" dirty="0">
                          <a:latin typeface="Arial"/>
                          <a:cs typeface="Arial"/>
                        </a:rPr>
                        <a:t>Date</a:t>
                      </a:r>
                      <a:r>
                        <a:rPr sz="1400" b="1" spc="-30" dirty="0">
                          <a:latin typeface="Arial"/>
                          <a:cs typeface="Arial"/>
                        </a:rPr>
                        <a:t> </a:t>
                      </a:r>
                      <a:r>
                        <a:rPr sz="1400" b="1" spc="-25" dirty="0">
                          <a:latin typeface="Arial"/>
                          <a:cs typeface="Arial"/>
                        </a:rPr>
                        <a:t>FK</a:t>
                      </a:r>
                      <a:endParaRPr sz="14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127635" marR="85725" indent="-32384">
                        <a:lnSpc>
                          <a:spcPct val="100000"/>
                        </a:lnSpc>
                      </a:pPr>
                      <a:r>
                        <a:rPr sz="1400" b="1" spc="-10" dirty="0">
                          <a:latin typeface="Arial"/>
                          <a:cs typeface="Arial"/>
                        </a:rPr>
                        <a:t>Shipping </a:t>
                      </a:r>
                      <a:r>
                        <a:rPr sz="1400" b="1" dirty="0">
                          <a:latin typeface="Arial"/>
                          <a:cs typeface="Arial"/>
                        </a:rPr>
                        <a:t>Date</a:t>
                      </a:r>
                      <a:r>
                        <a:rPr sz="1400" b="1" spc="-30" dirty="0">
                          <a:latin typeface="Arial"/>
                          <a:cs typeface="Arial"/>
                        </a:rPr>
                        <a:t> </a:t>
                      </a:r>
                      <a:r>
                        <a:rPr sz="1400" b="1" spc="-25" dirty="0">
                          <a:latin typeface="Arial"/>
                          <a:cs typeface="Arial"/>
                        </a:rPr>
                        <a:t>FK</a:t>
                      </a:r>
                      <a:endParaRPr sz="14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61594" marR="37465" indent="-15240">
                        <a:lnSpc>
                          <a:spcPct val="100000"/>
                        </a:lnSpc>
                      </a:pPr>
                      <a:r>
                        <a:rPr sz="1400" b="1" spc="-10" dirty="0">
                          <a:latin typeface="Arial"/>
                          <a:cs typeface="Arial"/>
                        </a:rPr>
                        <a:t>Damaged products</a:t>
                      </a:r>
                      <a:endParaRPr sz="14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extLst>
                  <a:ext uri="{0D108BD9-81ED-4DB2-BD59-A6C34878D82A}">
                    <a16:rowId xmlns:a16="http://schemas.microsoft.com/office/drawing/2014/main" val="10000"/>
                  </a:ext>
                </a:extLst>
              </a:tr>
              <a:tr h="254000">
                <a:tc>
                  <a:txBody>
                    <a:bodyPr/>
                    <a:lstStyle/>
                    <a:p>
                      <a:pPr algn="ctr">
                        <a:lnSpc>
                          <a:spcPts val="117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10" dirty="0">
                          <a:latin typeface="Arial MT"/>
                          <a:cs typeface="Arial MT"/>
                        </a:rPr>
                        <a:t>20220102</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25" dirty="0">
                          <a:latin typeface="Arial MT"/>
                          <a:cs typeface="Arial MT"/>
                        </a:rPr>
                        <a:t>100</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5"/>
                        </a:spcBef>
                      </a:pPr>
                      <a:r>
                        <a:rPr sz="1400" spc="-25" dirty="0">
                          <a:latin typeface="Arial MT"/>
                          <a:cs typeface="Arial MT"/>
                        </a:rPr>
                        <a:t>32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10" dirty="0">
                          <a:latin typeface="Arial MT"/>
                          <a:cs typeface="Arial MT"/>
                        </a:rPr>
                        <a:t>20220103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0"/>
                        </a:lnSpc>
                        <a:spcBef>
                          <a:spcPts val="225"/>
                        </a:spcBef>
                      </a:pPr>
                      <a:r>
                        <a:rPr sz="1400" spc="-10" dirty="0">
                          <a:latin typeface="Arial MT"/>
                          <a:cs typeface="Arial MT"/>
                        </a:rPr>
                        <a:t>20220110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0"/>
                        </a:lnSpc>
                        <a:spcBef>
                          <a:spcPts val="225"/>
                        </a:spcBef>
                      </a:pPr>
                      <a:r>
                        <a:rPr sz="1400" spc="-10" dirty="0">
                          <a:latin typeface="Arial MT"/>
                          <a:cs typeface="Arial MT"/>
                        </a:rPr>
                        <a:t>20220112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0"/>
                        </a:lnSpc>
                        <a:spcBef>
                          <a:spcPts val="225"/>
                        </a:spcBef>
                      </a:pPr>
                      <a:r>
                        <a:rPr sz="1400" spc="-10" dirty="0">
                          <a:latin typeface="Arial MT"/>
                          <a:cs typeface="Arial MT"/>
                        </a:rPr>
                        <a:t>20220113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3153">
                <a:tc>
                  <a:txBody>
                    <a:bodyPr/>
                    <a:lstStyle/>
                    <a:p>
                      <a:pPr algn="ctr">
                        <a:lnSpc>
                          <a:spcPts val="1170"/>
                        </a:lnSpc>
                        <a:spcBef>
                          <a:spcPts val="229"/>
                        </a:spcBef>
                      </a:pPr>
                      <a:r>
                        <a:rPr sz="1400" spc="-50" dirty="0">
                          <a:latin typeface="Arial MT"/>
                          <a:cs typeface="Arial MT"/>
                        </a:rPr>
                        <a:t>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20220103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25" dirty="0">
                          <a:latin typeface="Arial MT"/>
                          <a:cs typeface="Arial MT"/>
                        </a:rPr>
                        <a:t>100</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9"/>
                        </a:spcBef>
                      </a:pPr>
                      <a:r>
                        <a:rPr sz="1400" spc="-25" dirty="0">
                          <a:latin typeface="Arial MT"/>
                          <a:cs typeface="Arial MT"/>
                        </a:rPr>
                        <a:t>32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20220104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0"/>
                        </a:lnSpc>
                        <a:spcBef>
                          <a:spcPts val="229"/>
                        </a:spcBef>
                      </a:pPr>
                      <a:r>
                        <a:rPr sz="1400" spc="-10" dirty="0">
                          <a:latin typeface="Arial MT"/>
                          <a:cs typeface="Arial MT"/>
                        </a:rPr>
                        <a:t>20220112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0"/>
                        </a:lnSpc>
                        <a:spcBef>
                          <a:spcPts val="229"/>
                        </a:spcBef>
                      </a:pPr>
                      <a:r>
                        <a:rPr sz="1400" spc="-10" dirty="0">
                          <a:latin typeface="Arial MT"/>
                          <a:cs typeface="Arial MT"/>
                        </a:rPr>
                        <a:t>20220113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0"/>
                        </a:lnSpc>
                        <a:spcBef>
                          <a:spcPts val="229"/>
                        </a:spcBef>
                      </a:pPr>
                      <a:r>
                        <a:rPr sz="1400" spc="-10" dirty="0">
                          <a:latin typeface="Arial MT"/>
                          <a:cs typeface="Arial MT"/>
                        </a:rPr>
                        <a:t>20220113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50" dirty="0">
                          <a:latin typeface="Arial MT"/>
                          <a:cs typeface="Arial MT"/>
                        </a:rPr>
                        <a:t>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ts val="117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20220103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25" dirty="0">
                          <a:latin typeface="Arial MT"/>
                          <a:cs typeface="Arial MT"/>
                        </a:rPr>
                        <a:t>100</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9"/>
                        </a:spcBef>
                      </a:pPr>
                      <a:r>
                        <a:rPr sz="1400" spc="-25" dirty="0">
                          <a:latin typeface="Arial MT"/>
                          <a:cs typeface="Arial MT"/>
                        </a:rPr>
                        <a:t>32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20220103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0"/>
                        </a:lnSpc>
                        <a:spcBef>
                          <a:spcPts val="229"/>
                        </a:spcBef>
                      </a:pPr>
                      <a:r>
                        <a:rPr sz="1400" spc="-10" dirty="0">
                          <a:latin typeface="Arial MT"/>
                          <a:cs typeface="Arial MT"/>
                        </a:rPr>
                        <a:t>20220112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0"/>
                        </a:lnSpc>
                        <a:spcBef>
                          <a:spcPts val="229"/>
                        </a:spcBef>
                      </a:pPr>
                      <a:r>
                        <a:rPr sz="1400" spc="-10" dirty="0">
                          <a:latin typeface="Arial MT"/>
                          <a:cs typeface="Arial MT"/>
                        </a:rPr>
                        <a:t>20220113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0"/>
                        </a:lnSpc>
                        <a:spcBef>
                          <a:spcPts val="229"/>
                        </a:spcBef>
                      </a:pPr>
                      <a:r>
                        <a:rPr sz="1400" spc="-10" dirty="0">
                          <a:latin typeface="Arial MT"/>
                          <a:cs typeface="Arial MT"/>
                        </a:rPr>
                        <a:t>20220114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50" dirty="0">
                          <a:latin typeface="Arial MT"/>
                          <a:cs typeface="Arial MT"/>
                        </a:rPr>
                        <a:t>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3153">
                <a:tc>
                  <a:txBody>
                    <a:bodyPr/>
                    <a:lstStyle/>
                    <a:p>
                      <a:pPr algn="ctr">
                        <a:lnSpc>
                          <a:spcPts val="1170"/>
                        </a:lnSpc>
                        <a:spcBef>
                          <a:spcPts val="229"/>
                        </a:spcBef>
                      </a:pPr>
                      <a:r>
                        <a:rPr sz="1400" spc="-50" dirty="0">
                          <a:latin typeface="Arial MT"/>
                          <a:cs typeface="Arial MT"/>
                        </a:rPr>
                        <a:t>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20220104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25" dirty="0">
                          <a:latin typeface="Arial MT"/>
                          <a:cs typeface="Arial MT"/>
                        </a:rPr>
                        <a:t>100</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9"/>
                        </a:spcBef>
                      </a:pPr>
                      <a:r>
                        <a:rPr sz="1400" spc="-25" dirty="0">
                          <a:latin typeface="Arial MT"/>
                          <a:cs typeface="Arial MT"/>
                        </a:rPr>
                        <a:t>32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20220106</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0"/>
                        </a:lnSpc>
                        <a:spcBef>
                          <a:spcPts val="229"/>
                        </a:spcBef>
                      </a:pPr>
                      <a:r>
                        <a:rPr sz="1400" spc="-10" dirty="0">
                          <a:latin typeface="Arial MT"/>
                          <a:cs typeface="Arial MT"/>
                        </a:rPr>
                        <a:t>20220110</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0"/>
                        </a:lnSpc>
                        <a:spcBef>
                          <a:spcPts val="229"/>
                        </a:spcBef>
                      </a:pPr>
                      <a:r>
                        <a:rPr sz="1400" spc="-10" dirty="0">
                          <a:latin typeface="Arial MT"/>
                          <a:cs typeface="Arial MT"/>
                        </a:rPr>
                        <a:t>20220112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0"/>
                        </a:lnSpc>
                        <a:spcBef>
                          <a:spcPts val="229"/>
                        </a:spcBef>
                      </a:pPr>
                      <a:r>
                        <a:rPr sz="1400" spc="-10" dirty="0">
                          <a:latin typeface="Arial MT"/>
                          <a:cs typeface="Arial MT"/>
                        </a:rPr>
                        <a:t>20220113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50" dirty="0">
                          <a:latin typeface="Arial MT"/>
                          <a:cs typeface="Arial MT"/>
                        </a:rPr>
                        <a:t>0</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algn="ctr">
                        <a:lnSpc>
                          <a:spcPts val="1170"/>
                        </a:lnSpc>
                        <a:spcBef>
                          <a:spcPts val="229"/>
                        </a:spcBef>
                      </a:pPr>
                      <a:r>
                        <a:rPr sz="1400" spc="-50" dirty="0">
                          <a:latin typeface="Arial MT"/>
                          <a:cs typeface="Arial MT"/>
                        </a:rPr>
                        <a:t>5</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20220104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25" dirty="0">
                          <a:latin typeface="Arial MT"/>
                          <a:cs typeface="Arial MT"/>
                        </a:rPr>
                        <a:t>100</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9"/>
                        </a:spcBef>
                      </a:pPr>
                      <a:r>
                        <a:rPr sz="1400" spc="-25" dirty="0">
                          <a:latin typeface="Arial MT"/>
                          <a:cs typeface="Arial MT"/>
                        </a:rPr>
                        <a:t>32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20220108</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0"/>
                        </a:lnSpc>
                        <a:spcBef>
                          <a:spcPts val="229"/>
                        </a:spcBef>
                      </a:pPr>
                      <a:r>
                        <a:rPr sz="1400" spc="-10" dirty="0">
                          <a:latin typeface="Arial MT"/>
                          <a:cs typeface="Arial MT"/>
                        </a:rPr>
                        <a:t>20220117</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0"/>
                        </a:lnSpc>
                        <a:spcBef>
                          <a:spcPts val="229"/>
                        </a:spcBef>
                      </a:pPr>
                      <a:r>
                        <a:rPr sz="1400" spc="-10" dirty="0">
                          <a:latin typeface="Arial MT"/>
                          <a:cs typeface="Arial MT"/>
                        </a:rPr>
                        <a:t>20220119</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0"/>
                        </a:lnSpc>
                        <a:spcBef>
                          <a:spcPts val="229"/>
                        </a:spcBef>
                      </a:pPr>
                      <a:r>
                        <a:rPr sz="1400" spc="-10" dirty="0">
                          <a:latin typeface="Arial MT"/>
                          <a:cs typeface="Arial MT"/>
                        </a:rPr>
                        <a:t>20220120</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50" dirty="0">
                          <a:latin typeface="Arial MT"/>
                          <a:cs typeface="Arial MT"/>
                        </a:rPr>
                        <a:t>6</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sp>
        <p:nvSpPr>
          <p:cNvPr id="4" name="object 4"/>
          <p:cNvSpPr txBox="1"/>
          <p:nvPr/>
        </p:nvSpPr>
        <p:spPr>
          <a:xfrm>
            <a:off x="5302248" y="6086241"/>
            <a:ext cx="2804160" cy="540319"/>
          </a:xfrm>
          <a:prstGeom prst="rect">
            <a:avLst/>
          </a:prstGeom>
          <a:noFill/>
        </p:spPr>
        <p:txBody>
          <a:bodyPr vert="horz" wrap="square" lIns="0" tIns="169333" rIns="0" bIns="0" rtlCol="0">
            <a:spAutoFit/>
          </a:bodyPr>
          <a:lstStyle/>
          <a:p>
            <a:pPr marL="299713">
              <a:spcBef>
                <a:spcPts val="1333"/>
              </a:spcBef>
            </a:pPr>
            <a:r>
              <a:rPr sz="2400" b="1" dirty="0">
                <a:solidFill>
                  <a:srgbClr val="D9D9D9"/>
                </a:solidFill>
                <a:latin typeface="Calibri"/>
                <a:cs typeface="Calibri"/>
              </a:rPr>
              <a:t>Order</a:t>
            </a:r>
            <a:r>
              <a:rPr sz="2400" b="1" spc="-47" dirty="0">
                <a:solidFill>
                  <a:srgbClr val="D9D9D9"/>
                </a:solidFill>
                <a:latin typeface="Calibri"/>
                <a:cs typeface="Calibri"/>
              </a:rPr>
              <a:t> </a:t>
            </a:r>
            <a:r>
              <a:rPr sz="2400" b="1" spc="-13" dirty="0">
                <a:solidFill>
                  <a:srgbClr val="D9D9D9"/>
                </a:solidFill>
                <a:latin typeface="Calibri"/>
                <a:cs typeface="Calibri"/>
              </a:rPr>
              <a:t>production</a:t>
            </a:r>
            <a:endParaRPr sz="2400" dirty="0">
              <a:latin typeface="Calibri"/>
              <a:cs typeface="Calibri"/>
            </a:endParaRPr>
          </a:p>
        </p:txBody>
      </p:sp>
      <p:sp>
        <p:nvSpPr>
          <p:cNvPr id="5" name="object 5"/>
          <p:cNvSpPr txBox="1"/>
          <p:nvPr/>
        </p:nvSpPr>
        <p:spPr>
          <a:xfrm>
            <a:off x="2599226" y="1903596"/>
            <a:ext cx="8800253" cy="2484505"/>
          </a:xfrm>
          <a:prstGeom prst="rect">
            <a:avLst/>
          </a:prstGeom>
        </p:spPr>
        <p:txBody>
          <a:bodyPr vert="horz" wrap="square" lIns="0" tIns="16933" rIns="0" bIns="0" rtlCol="0">
            <a:spAutoFit/>
          </a:bodyPr>
          <a:lstStyle/>
          <a:p>
            <a:pPr marL="536773" indent="-380990">
              <a:spcBef>
                <a:spcPts val="133"/>
              </a:spcBef>
              <a:buClr>
                <a:srgbClr val="99D3FF"/>
              </a:buClr>
              <a:buFont typeface="Wingdings"/>
              <a:buChar char=""/>
              <a:tabLst>
                <a:tab pos="536773" algn="l"/>
              </a:tabLst>
            </a:pPr>
            <a:r>
              <a:rPr sz="2400" b="1" dirty="0">
                <a:solidFill>
                  <a:srgbClr val="D9D9D9"/>
                </a:solidFill>
                <a:latin typeface="Calibri"/>
                <a:cs typeface="Calibri"/>
              </a:rPr>
              <a:t>1</a:t>
            </a:r>
            <a:r>
              <a:rPr sz="2400" b="1" spc="-13" dirty="0">
                <a:solidFill>
                  <a:srgbClr val="D9D9D9"/>
                </a:solidFill>
                <a:latin typeface="Calibri"/>
                <a:cs typeface="Calibri"/>
              </a:rPr>
              <a:t> </a:t>
            </a:r>
            <a:r>
              <a:rPr sz="2400" b="1" dirty="0">
                <a:solidFill>
                  <a:srgbClr val="D9D9D9"/>
                </a:solidFill>
                <a:latin typeface="Calibri"/>
                <a:cs typeface="Calibri"/>
              </a:rPr>
              <a:t>row</a:t>
            </a:r>
            <a:r>
              <a:rPr sz="2400" b="1" spc="-7" dirty="0">
                <a:solidFill>
                  <a:srgbClr val="D9D9D9"/>
                </a:solidFill>
                <a:latin typeface="Calibri"/>
                <a:cs typeface="Calibri"/>
              </a:rPr>
              <a:t> </a:t>
            </a:r>
            <a:r>
              <a:rPr sz="2400" b="1" dirty="0">
                <a:solidFill>
                  <a:srgbClr val="D9D9D9"/>
                </a:solidFill>
                <a:latin typeface="Calibri"/>
                <a:cs typeface="Calibri"/>
              </a:rPr>
              <a:t>=</a:t>
            </a:r>
            <a:r>
              <a:rPr sz="2400" b="1" spc="-20" dirty="0">
                <a:solidFill>
                  <a:srgbClr val="D9D9D9"/>
                </a:solidFill>
                <a:latin typeface="Calibri"/>
                <a:cs typeface="Calibri"/>
              </a:rPr>
              <a:t> </a:t>
            </a:r>
            <a:r>
              <a:rPr sz="2400" b="1" dirty="0">
                <a:solidFill>
                  <a:srgbClr val="D9D9D9"/>
                </a:solidFill>
                <a:latin typeface="Calibri"/>
                <a:cs typeface="Calibri"/>
              </a:rPr>
              <a:t>summarizes</a:t>
            </a:r>
            <a:r>
              <a:rPr sz="2400" b="1" spc="-53" dirty="0">
                <a:solidFill>
                  <a:srgbClr val="D9D9D9"/>
                </a:solidFill>
                <a:latin typeface="Calibri"/>
                <a:cs typeface="Calibri"/>
              </a:rPr>
              <a:t> </a:t>
            </a:r>
            <a:r>
              <a:rPr sz="2400" b="1" dirty="0">
                <a:solidFill>
                  <a:srgbClr val="D9D9D9"/>
                </a:solidFill>
                <a:latin typeface="Calibri"/>
                <a:cs typeface="Calibri"/>
              </a:rPr>
              <a:t>measure</a:t>
            </a:r>
            <a:r>
              <a:rPr sz="2400" b="1" spc="-53" dirty="0">
                <a:solidFill>
                  <a:srgbClr val="D9D9D9"/>
                </a:solidFill>
                <a:latin typeface="Calibri"/>
                <a:cs typeface="Calibri"/>
              </a:rPr>
              <a:t> </a:t>
            </a:r>
            <a:r>
              <a:rPr sz="2400" b="1" dirty="0">
                <a:solidFill>
                  <a:srgbClr val="D9D9D9"/>
                </a:solidFill>
                <a:latin typeface="Calibri"/>
                <a:cs typeface="Calibri"/>
              </a:rPr>
              <a:t>of</a:t>
            </a:r>
            <a:r>
              <a:rPr sz="2400" b="1" spc="-20" dirty="0">
                <a:solidFill>
                  <a:srgbClr val="D9D9D9"/>
                </a:solidFill>
                <a:latin typeface="Calibri"/>
                <a:cs typeface="Calibri"/>
              </a:rPr>
              <a:t> </a:t>
            </a:r>
            <a:r>
              <a:rPr sz="2400" b="1" dirty="0">
                <a:solidFill>
                  <a:srgbClr val="D9D9D9"/>
                </a:solidFill>
                <a:latin typeface="Calibri"/>
                <a:cs typeface="Calibri"/>
              </a:rPr>
              <a:t>many</a:t>
            </a:r>
            <a:r>
              <a:rPr sz="2400" b="1" spc="-7" dirty="0">
                <a:solidFill>
                  <a:srgbClr val="D9D9D9"/>
                </a:solidFill>
                <a:latin typeface="Calibri"/>
                <a:cs typeface="Calibri"/>
              </a:rPr>
              <a:t> </a:t>
            </a:r>
            <a:r>
              <a:rPr sz="2400" b="1" dirty="0">
                <a:solidFill>
                  <a:srgbClr val="D9D9D9"/>
                </a:solidFill>
                <a:latin typeface="Calibri"/>
                <a:cs typeface="Calibri"/>
              </a:rPr>
              <a:t>events</a:t>
            </a:r>
            <a:r>
              <a:rPr sz="2400" b="1" spc="-27" dirty="0">
                <a:solidFill>
                  <a:srgbClr val="D9D9D9"/>
                </a:solidFill>
                <a:latin typeface="Calibri"/>
                <a:cs typeface="Calibri"/>
              </a:rPr>
              <a:t> </a:t>
            </a:r>
            <a:r>
              <a:rPr sz="2400" b="1" dirty="0">
                <a:solidFill>
                  <a:srgbClr val="D9D9D9"/>
                </a:solidFill>
                <a:latin typeface="Calibri"/>
                <a:cs typeface="Calibri"/>
              </a:rPr>
              <a:t>/</a:t>
            </a:r>
            <a:r>
              <a:rPr sz="2400" b="1" spc="-53" dirty="0">
                <a:solidFill>
                  <a:srgbClr val="D9D9D9"/>
                </a:solidFill>
                <a:latin typeface="Calibri"/>
                <a:cs typeface="Calibri"/>
              </a:rPr>
              <a:t> </a:t>
            </a:r>
            <a:r>
              <a:rPr sz="2400" b="1" spc="-13" dirty="0">
                <a:solidFill>
                  <a:srgbClr val="D9D9D9"/>
                </a:solidFill>
                <a:latin typeface="Calibri"/>
                <a:cs typeface="Calibri"/>
              </a:rPr>
              <a:t>transactions</a:t>
            </a:r>
            <a:endParaRPr sz="2400" dirty="0">
              <a:latin typeface="Calibri"/>
              <a:cs typeface="Calibri"/>
            </a:endParaRPr>
          </a:p>
          <a:p>
            <a:pPr>
              <a:spcBef>
                <a:spcPts val="940"/>
              </a:spcBef>
              <a:buClr>
                <a:srgbClr val="99D3FF"/>
              </a:buClr>
              <a:buFont typeface="Wingdings"/>
              <a:buChar char=""/>
            </a:pPr>
            <a:endParaRPr sz="2400" dirty="0">
              <a:latin typeface="Calibri"/>
              <a:cs typeface="Calibri"/>
            </a:endParaRPr>
          </a:p>
          <a:p>
            <a:pPr marL="503754" indent="-380990">
              <a:buClr>
                <a:srgbClr val="99D3FF"/>
              </a:buClr>
              <a:buFont typeface="Wingdings"/>
              <a:buChar char=""/>
              <a:tabLst>
                <a:tab pos="503754" algn="l"/>
              </a:tabLst>
            </a:pPr>
            <a:r>
              <a:rPr sz="2400" b="1" dirty="0">
                <a:solidFill>
                  <a:srgbClr val="D9D9D9"/>
                </a:solidFill>
                <a:latin typeface="Calibri"/>
                <a:cs typeface="Calibri"/>
              </a:rPr>
              <a:t>Summarized</a:t>
            </a:r>
            <a:r>
              <a:rPr sz="2400" b="1" spc="-80" dirty="0">
                <a:solidFill>
                  <a:srgbClr val="D9D9D9"/>
                </a:solidFill>
                <a:latin typeface="Calibri"/>
                <a:cs typeface="Calibri"/>
              </a:rPr>
              <a:t> </a:t>
            </a:r>
            <a:r>
              <a:rPr sz="2400" b="1" dirty="0">
                <a:solidFill>
                  <a:srgbClr val="D9D9D9"/>
                </a:solidFill>
                <a:latin typeface="Calibri"/>
                <a:cs typeface="Calibri"/>
              </a:rPr>
              <a:t>of</a:t>
            </a:r>
            <a:r>
              <a:rPr sz="2400" b="1" spc="-13" dirty="0">
                <a:solidFill>
                  <a:srgbClr val="D9D9D9"/>
                </a:solidFill>
                <a:latin typeface="Calibri"/>
                <a:cs typeface="Calibri"/>
              </a:rPr>
              <a:t> </a:t>
            </a:r>
            <a:r>
              <a:rPr sz="2400" b="1" dirty="0">
                <a:solidFill>
                  <a:srgbClr val="D9D9D9"/>
                </a:solidFill>
                <a:latin typeface="Calibri"/>
                <a:cs typeface="Calibri"/>
              </a:rPr>
              <a:t>lifespan</a:t>
            </a:r>
            <a:r>
              <a:rPr sz="2400" b="1" spc="-33" dirty="0">
                <a:solidFill>
                  <a:srgbClr val="D9D9D9"/>
                </a:solidFill>
                <a:latin typeface="Calibri"/>
                <a:cs typeface="Calibri"/>
              </a:rPr>
              <a:t> </a:t>
            </a:r>
            <a:r>
              <a:rPr sz="2400" b="1" dirty="0">
                <a:solidFill>
                  <a:srgbClr val="D9D9D9"/>
                </a:solidFill>
                <a:latin typeface="Calibri"/>
                <a:cs typeface="Calibri"/>
              </a:rPr>
              <a:t>of</a:t>
            </a:r>
            <a:r>
              <a:rPr sz="2400" b="1" spc="-53" dirty="0">
                <a:solidFill>
                  <a:srgbClr val="D9D9D9"/>
                </a:solidFill>
                <a:latin typeface="Calibri"/>
                <a:cs typeface="Calibri"/>
              </a:rPr>
              <a:t> </a:t>
            </a:r>
            <a:r>
              <a:rPr sz="2400" b="1" dirty="0">
                <a:solidFill>
                  <a:srgbClr val="D9D9D9"/>
                </a:solidFill>
                <a:latin typeface="Calibri"/>
                <a:cs typeface="Calibri"/>
              </a:rPr>
              <a:t>1</a:t>
            </a:r>
            <a:r>
              <a:rPr sz="2400" b="1" spc="-7" dirty="0">
                <a:solidFill>
                  <a:srgbClr val="D9D9D9"/>
                </a:solidFill>
                <a:latin typeface="Calibri"/>
                <a:cs typeface="Calibri"/>
              </a:rPr>
              <a:t> </a:t>
            </a:r>
            <a:r>
              <a:rPr sz="2400" b="1" dirty="0">
                <a:solidFill>
                  <a:srgbClr val="D9D9D9"/>
                </a:solidFill>
                <a:latin typeface="Calibri"/>
                <a:cs typeface="Calibri"/>
              </a:rPr>
              <a:t>process</a:t>
            </a:r>
            <a:r>
              <a:rPr sz="2400" b="1" spc="-40" dirty="0">
                <a:solidFill>
                  <a:srgbClr val="D9D9D9"/>
                </a:solidFill>
                <a:latin typeface="Calibri"/>
                <a:cs typeface="Calibri"/>
              </a:rPr>
              <a:t> </a:t>
            </a:r>
            <a:r>
              <a:rPr sz="2400" b="1" dirty="0">
                <a:solidFill>
                  <a:srgbClr val="D9D9D9"/>
                </a:solidFill>
                <a:latin typeface="Calibri"/>
                <a:cs typeface="Calibri"/>
              </a:rPr>
              <a:t>(e.g.</a:t>
            </a:r>
            <a:r>
              <a:rPr sz="2400" b="1" spc="-73" dirty="0">
                <a:solidFill>
                  <a:srgbClr val="D9D9D9"/>
                </a:solidFill>
                <a:latin typeface="Calibri"/>
                <a:cs typeface="Calibri"/>
              </a:rPr>
              <a:t> </a:t>
            </a:r>
            <a:r>
              <a:rPr sz="2400" b="1" dirty="0">
                <a:solidFill>
                  <a:srgbClr val="D9D9D9"/>
                </a:solidFill>
                <a:latin typeface="Calibri"/>
                <a:cs typeface="Calibri"/>
              </a:rPr>
              <a:t>order</a:t>
            </a:r>
            <a:r>
              <a:rPr sz="2400" b="1" spc="-60" dirty="0">
                <a:solidFill>
                  <a:srgbClr val="D9D9D9"/>
                </a:solidFill>
                <a:latin typeface="Calibri"/>
                <a:cs typeface="Calibri"/>
              </a:rPr>
              <a:t> </a:t>
            </a:r>
            <a:r>
              <a:rPr sz="2400" b="1" spc="-13" dirty="0">
                <a:solidFill>
                  <a:srgbClr val="D9D9D9"/>
                </a:solidFill>
                <a:latin typeface="Calibri"/>
                <a:cs typeface="Calibri"/>
              </a:rPr>
              <a:t>fulfillment)</a:t>
            </a:r>
            <a:endParaRPr sz="2400" dirty="0">
              <a:latin typeface="Calibri"/>
              <a:cs typeface="Calibri"/>
            </a:endParaRPr>
          </a:p>
          <a:p>
            <a:pPr>
              <a:spcBef>
                <a:spcPts val="300"/>
              </a:spcBef>
              <a:buClr>
                <a:srgbClr val="99D3FF"/>
              </a:buClr>
              <a:buFont typeface="Wingdings"/>
              <a:buChar char=""/>
            </a:pPr>
            <a:endParaRPr sz="2400" dirty="0">
              <a:latin typeface="Calibri"/>
              <a:cs typeface="Calibri"/>
            </a:endParaRPr>
          </a:p>
          <a:p>
            <a:pPr marL="503754" indent="-380990">
              <a:buClr>
                <a:srgbClr val="99D3FF"/>
              </a:buClr>
              <a:buFont typeface="Wingdings"/>
              <a:buChar char=""/>
              <a:tabLst>
                <a:tab pos="503754" algn="l"/>
              </a:tabLst>
            </a:pPr>
            <a:r>
              <a:rPr sz="2400" b="1" dirty="0">
                <a:solidFill>
                  <a:srgbClr val="D9D9D9"/>
                </a:solidFill>
                <a:latin typeface="Calibri"/>
                <a:cs typeface="Calibri"/>
              </a:rPr>
              <a:t>Definite</a:t>
            </a:r>
            <a:r>
              <a:rPr sz="2400" b="1" spc="-60" dirty="0">
                <a:solidFill>
                  <a:srgbClr val="D9D9D9"/>
                </a:solidFill>
                <a:latin typeface="Calibri"/>
                <a:cs typeface="Calibri"/>
              </a:rPr>
              <a:t> </a:t>
            </a:r>
            <a:r>
              <a:rPr sz="2400" b="1" dirty="0">
                <a:solidFill>
                  <a:srgbClr val="D9D9D9"/>
                </a:solidFill>
                <a:latin typeface="Calibri"/>
                <a:cs typeface="Calibri"/>
              </a:rPr>
              <a:t>beginning</a:t>
            </a:r>
            <a:r>
              <a:rPr sz="2400" b="1" spc="-73" dirty="0">
                <a:solidFill>
                  <a:srgbClr val="D9D9D9"/>
                </a:solidFill>
                <a:latin typeface="Calibri"/>
                <a:cs typeface="Calibri"/>
              </a:rPr>
              <a:t> </a:t>
            </a:r>
            <a:r>
              <a:rPr sz="2400" b="1" dirty="0">
                <a:solidFill>
                  <a:srgbClr val="D9D9D9"/>
                </a:solidFill>
                <a:latin typeface="Calibri"/>
                <a:cs typeface="Calibri"/>
              </a:rPr>
              <a:t>&amp;</a:t>
            </a:r>
            <a:r>
              <a:rPr sz="2400" b="1" spc="-20" dirty="0">
                <a:solidFill>
                  <a:srgbClr val="D9D9D9"/>
                </a:solidFill>
                <a:latin typeface="Calibri"/>
                <a:cs typeface="Calibri"/>
              </a:rPr>
              <a:t> </a:t>
            </a:r>
            <a:r>
              <a:rPr sz="2400" b="1" dirty="0">
                <a:solidFill>
                  <a:srgbClr val="D9D9D9"/>
                </a:solidFill>
                <a:latin typeface="Calibri"/>
                <a:cs typeface="Calibri"/>
              </a:rPr>
              <a:t>definite</a:t>
            </a:r>
            <a:r>
              <a:rPr sz="2400" b="1" spc="-67" dirty="0">
                <a:solidFill>
                  <a:srgbClr val="D9D9D9"/>
                </a:solidFill>
                <a:latin typeface="Calibri"/>
                <a:cs typeface="Calibri"/>
              </a:rPr>
              <a:t> </a:t>
            </a:r>
            <a:r>
              <a:rPr sz="2400" b="1" dirty="0">
                <a:solidFill>
                  <a:srgbClr val="D9D9D9"/>
                </a:solidFill>
                <a:latin typeface="Calibri"/>
                <a:cs typeface="Calibri"/>
              </a:rPr>
              <a:t>ending</a:t>
            </a:r>
            <a:r>
              <a:rPr sz="2400" b="1" spc="-60" dirty="0">
                <a:solidFill>
                  <a:srgbClr val="D9D9D9"/>
                </a:solidFill>
                <a:latin typeface="Calibri"/>
                <a:cs typeface="Calibri"/>
              </a:rPr>
              <a:t> </a:t>
            </a:r>
            <a:r>
              <a:rPr sz="2400" b="1" dirty="0">
                <a:solidFill>
                  <a:srgbClr val="D9D9D9"/>
                </a:solidFill>
                <a:latin typeface="Calibri"/>
                <a:cs typeface="Calibri"/>
              </a:rPr>
              <a:t>(&amp;</a:t>
            </a:r>
            <a:r>
              <a:rPr sz="2400" b="1" spc="-33" dirty="0">
                <a:solidFill>
                  <a:srgbClr val="D9D9D9"/>
                </a:solidFill>
                <a:latin typeface="Calibri"/>
                <a:cs typeface="Calibri"/>
              </a:rPr>
              <a:t> </a:t>
            </a:r>
            <a:r>
              <a:rPr sz="2400" b="1" dirty="0">
                <a:solidFill>
                  <a:srgbClr val="D9D9D9"/>
                </a:solidFill>
                <a:latin typeface="Calibri"/>
                <a:cs typeface="Calibri"/>
              </a:rPr>
              <a:t>steps</a:t>
            </a:r>
            <a:r>
              <a:rPr sz="2400" b="1" spc="-47" dirty="0">
                <a:solidFill>
                  <a:srgbClr val="D9D9D9"/>
                </a:solidFill>
                <a:latin typeface="Calibri"/>
                <a:cs typeface="Calibri"/>
              </a:rPr>
              <a:t> </a:t>
            </a:r>
            <a:r>
              <a:rPr sz="2400" b="1" dirty="0">
                <a:solidFill>
                  <a:srgbClr val="D9D9D9"/>
                </a:solidFill>
                <a:latin typeface="Calibri"/>
                <a:cs typeface="Calibri"/>
              </a:rPr>
              <a:t>in</a:t>
            </a:r>
            <a:r>
              <a:rPr sz="2400" b="1" spc="-27" dirty="0">
                <a:solidFill>
                  <a:srgbClr val="D9D9D9"/>
                </a:solidFill>
                <a:latin typeface="Calibri"/>
                <a:cs typeface="Calibri"/>
              </a:rPr>
              <a:t> </a:t>
            </a:r>
            <a:r>
              <a:rPr sz="2400" b="1" spc="-13" dirty="0">
                <a:solidFill>
                  <a:srgbClr val="D9D9D9"/>
                </a:solidFill>
                <a:latin typeface="Calibri"/>
                <a:cs typeface="Calibri"/>
              </a:rPr>
              <a:t>between)</a:t>
            </a:r>
            <a:endParaRPr sz="2400" dirty="0">
              <a:latin typeface="Calibri"/>
              <a:cs typeface="Calibri"/>
            </a:endParaRPr>
          </a:p>
          <a:p>
            <a:pPr marL="16933">
              <a:spcBef>
                <a:spcPts val="1387"/>
              </a:spcBef>
              <a:tabLst>
                <a:tab pos="1114185" algn="l"/>
                <a:tab pos="2229218" algn="l"/>
                <a:tab pos="3555064" algn="l"/>
                <a:tab pos="4686183" algn="l"/>
                <a:tab pos="5934138" algn="l"/>
                <a:tab pos="7016151" algn="l"/>
              </a:tabLst>
            </a:pPr>
            <a:r>
              <a:rPr sz="1867" b="1" dirty="0">
                <a:solidFill>
                  <a:srgbClr val="66DBFF"/>
                </a:solidFill>
                <a:latin typeface="Calibri"/>
                <a:cs typeface="Calibri"/>
              </a:rPr>
              <a:t>Date</a:t>
            </a:r>
            <a:r>
              <a:rPr sz="1867" b="1" spc="-47" dirty="0">
                <a:solidFill>
                  <a:srgbClr val="66DBFF"/>
                </a:solidFill>
                <a:latin typeface="Calibri"/>
                <a:cs typeface="Calibri"/>
              </a:rPr>
              <a:t> </a:t>
            </a:r>
            <a:r>
              <a:rPr sz="1867" b="1" spc="-33" dirty="0">
                <a:solidFill>
                  <a:srgbClr val="66DBFF"/>
                </a:solidFill>
                <a:latin typeface="Calibri"/>
                <a:cs typeface="Calibri"/>
              </a:rPr>
              <a:t>FK</a:t>
            </a:r>
            <a:r>
              <a:rPr sz="1867" b="1" dirty="0">
                <a:solidFill>
                  <a:srgbClr val="66DBFF"/>
                </a:solidFill>
                <a:latin typeface="Calibri"/>
                <a:cs typeface="Calibri"/>
              </a:rPr>
              <a:t>	</a:t>
            </a:r>
            <a:r>
              <a:rPr sz="1867" b="1" spc="-13" dirty="0">
                <a:solidFill>
                  <a:srgbClr val="FFFFFF"/>
                </a:solidFill>
                <a:latin typeface="Calibri"/>
                <a:cs typeface="Calibri"/>
              </a:rPr>
              <a:t>Measure</a:t>
            </a:r>
            <a:r>
              <a:rPr sz="1867" b="1" dirty="0">
                <a:solidFill>
                  <a:srgbClr val="FFFFFF"/>
                </a:solidFill>
                <a:latin typeface="Calibri"/>
                <a:cs typeface="Calibri"/>
              </a:rPr>
              <a:t>	</a:t>
            </a:r>
            <a:r>
              <a:rPr lang="en-IN" sz="1867" b="1" dirty="0">
                <a:solidFill>
                  <a:srgbClr val="66DBFF"/>
                </a:solidFill>
                <a:latin typeface="Calibri"/>
                <a:cs typeface="Calibri"/>
              </a:rPr>
              <a:t>Product</a:t>
            </a:r>
            <a:r>
              <a:rPr sz="1867" b="1" spc="-47" dirty="0">
                <a:solidFill>
                  <a:srgbClr val="66DBFF"/>
                </a:solidFill>
                <a:latin typeface="Calibri"/>
                <a:cs typeface="Calibri"/>
              </a:rPr>
              <a:t> </a:t>
            </a:r>
            <a:r>
              <a:rPr sz="1867" b="1" spc="-33" dirty="0">
                <a:solidFill>
                  <a:srgbClr val="66DBFF"/>
                </a:solidFill>
                <a:latin typeface="Calibri"/>
                <a:cs typeface="Calibri"/>
              </a:rPr>
              <a:t>FK</a:t>
            </a:r>
            <a:r>
              <a:rPr sz="1867" b="1" dirty="0">
                <a:solidFill>
                  <a:srgbClr val="66DBFF"/>
                </a:solidFill>
                <a:latin typeface="Calibri"/>
                <a:cs typeface="Calibri"/>
              </a:rPr>
              <a:t>	Date</a:t>
            </a:r>
            <a:r>
              <a:rPr sz="1867" b="1" spc="-47" dirty="0">
                <a:solidFill>
                  <a:srgbClr val="66DBFF"/>
                </a:solidFill>
                <a:latin typeface="Calibri"/>
                <a:cs typeface="Calibri"/>
              </a:rPr>
              <a:t> </a:t>
            </a:r>
            <a:r>
              <a:rPr sz="1867" b="1" spc="-33" dirty="0">
                <a:solidFill>
                  <a:srgbClr val="66DBFF"/>
                </a:solidFill>
                <a:latin typeface="Calibri"/>
                <a:cs typeface="Calibri"/>
              </a:rPr>
              <a:t>FK</a:t>
            </a:r>
            <a:r>
              <a:rPr sz="1867" b="1" dirty="0">
                <a:solidFill>
                  <a:srgbClr val="66DBFF"/>
                </a:solidFill>
                <a:latin typeface="Calibri"/>
                <a:cs typeface="Calibri"/>
              </a:rPr>
              <a:t>	Date</a:t>
            </a:r>
            <a:r>
              <a:rPr sz="1867" b="1" spc="-47" dirty="0">
                <a:solidFill>
                  <a:srgbClr val="66DBFF"/>
                </a:solidFill>
                <a:latin typeface="Calibri"/>
                <a:cs typeface="Calibri"/>
              </a:rPr>
              <a:t> </a:t>
            </a:r>
            <a:r>
              <a:rPr sz="1867" b="1" spc="-33" dirty="0">
                <a:solidFill>
                  <a:srgbClr val="66DBFF"/>
                </a:solidFill>
                <a:latin typeface="Calibri"/>
                <a:cs typeface="Calibri"/>
              </a:rPr>
              <a:t>FK</a:t>
            </a:r>
            <a:r>
              <a:rPr sz="1867" b="1" dirty="0">
                <a:solidFill>
                  <a:srgbClr val="66DBFF"/>
                </a:solidFill>
                <a:latin typeface="Calibri"/>
                <a:cs typeface="Calibri"/>
              </a:rPr>
              <a:t>	Date</a:t>
            </a:r>
            <a:r>
              <a:rPr sz="1867" b="1" spc="-47" dirty="0">
                <a:solidFill>
                  <a:srgbClr val="66DBFF"/>
                </a:solidFill>
                <a:latin typeface="Calibri"/>
                <a:cs typeface="Calibri"/>
              </a:rPr>
              <a:t> </a:t>
            </a:r>
            <a:r>
              <a:rPr sz="1867" b="1" spc="-33" dirty="0">
                <a:solidFill>
                  <a:srgbClr val="66DBFF"/>
                </a:solidFill>
                <a:latin typeface="Calibri"/>
                <a:cs typeface="Calibri"/>
              </a:rPr>
              <a:t>FK</a:t>
            </a:r>
            <a:r>
              <a:rPr sz="1867" b="1" dirty="0">
                <a:solidFill>
                  <a:srgbClr val="66DBFF"/>
                </a:solidFill>
                <a:latin typeface="Calibri"/>
                <a:cs typeface="Calibri"/>
              </a:rPr>
              <a:t>	Date</a:t>
            </a:r>
            <a:r>
              <a:rPr sz="1867" b="1" spc="-47" dirty="0">
                <a:solidFill>
                  <a:srgbClr val="66DBFF"/>
                </a:solidFill>
                <a:latin typeface="Calibri"/>
                <a:cs typeface="Calibri"/>
              </a:rPr>
              <a:t> </a:t>
            </a:r>
            <a:r>
              <a:rPr sz="1867" b="1" dirty="0">
                <a:solidFill>
                  <a:srgbClr val="66DBFF"/>
                </a:solidFill>
                <a:latin typeface="Calibri"/>
                <a:cs typeface="Calibri"/>
              </a:rPr>
              <a:t>FK</a:t>
            </a:r>
            <a:r>
              <a:rPr sz="1867" b="1" spc="607" dirty="0">
                <a:solidFill>
                  <a:srgbClr val="66DBFF"/>
                </a:solidFill>
                <a:latin typeface="Calibri"/>
                <a:cs typeface="Calibri"/>
              </a:rPr>
              <a:t> </a:t>
            </a:r>
            <a:r>
              <a:rPr sz="1867" b="1" spc="-13" dirty="0">
                <a:solidFill>
                  <a:srgbClr val="FFFFFF"/>
                </a:solidFill>
                <a:latin typeface="Calibri"/>
                <a:cs typeface="Calibri"/>
              </a:rPr>
              <a:t>Measure</a:t>
            </a:r>
            <a:endParaRPr sz="1867" dirty="0">
              <a:latin typeface="Calibri"/>
              <a:cs typeface="Calibri"/>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55633" y="56272"/>
            <a:ext cx="8432800" cy="695062"/>
          </a:xfrm>
          <a:prstGeom prst="rect">
            <a:avLst/>
          </a:prstGeom>
        </p:spPr>
        <p:txBody>
          <a:bodyPr vert="horz" wrap="square" lIns="0" tIns="17780" rIns="0" bIns="0" rtlCol="0" anchor="ctr">
            <a:spAutoFit/>
          </a:bodyPr>
          <a:lstStyle/>
          <a:p>
            <a:pPr marL="2085288">
              <a:lnSpc>
                <a:spcPct val="100000"/>
              </a:lnSpc>
              <a:spcBef>
                <a:spcPts val="140"/>
              </a:spcBef>
            </a:pPr>
            <a:r>
              <a:rPr spc="-13" dirty="0">
                <a:solidFill>
                  <a:schemeClr val="bg1"/>
                </a:solidFill>
                <a:latin typeface="+mn-lt"/>
              </a:rPr>
              <a:t>Characteristics</a:t>
            </a:r>
          </a:p>
        </p:txBody>
      </p:sp>
      <p:graphicFrame>
        <p:nvGraphicFramePr>
          <p:cNvPr id="3" name="object 3"/>
          <p:cNvGraphicFramePr>
            <a:graphicFrameLocks noGrp="1"/>
          </p:cNvGraphicFramePr>
          <p:nvPr/>
        </p:nvGraphicFramePr>
        <p:xfrm>
          <a:off x="1820334" y="4399787"/>
          <a:ext cx="9767988" cy="1706879"/>
        </p:xfrm>
        <a:graphic>
          <a:graphicData uri="http://schemas.openxmlformats.org/drawingml/2006/table">
            <a:tbl>
              <a:tblPr firstRow="1" bandRow="1">
                <a:tableStyleId>{2D5ABB26-0587-4C30-8999-92F81FD0307C}</a:tableStyleId>
              </a:tblPr>
              <a:tblGrid>
                <a:gridCol w="818727">
                  <a:extLst>
                    <a:ext uri="{9D8B030D-6E8A-4147-A177-3AD203B41FA5}">
                      <a16:colId xmlns:a16="http://schemas.microsoft.com/office/drawing/2014/main" val="20000"/>
                    </a:ext>
                  </a:extLst>
                </a:gridCol>
                <a:gridCol w="1170092">
                  <a:extLst>
                    <a:ext uri="{9D8B030D-6E8A-4147-A177-3AD203B41FA5}">
                      <a16:colId xmlns:a16="http://schemas.microsoft.com/office/drawing/2014/main" val="20001"/>
                    </a:ext>
                  </a:extLst>
                </a:gridCol>
                <a:gridCol w="957580">
                  <a:extLst>
                    <a:ext uri="{9D8B030D-6E8A-4147-A177-3AD203B41FA5}">
                      <a16:colId xmlns:a16="http://schemas.microsoft.com/office/drawing/2014/main" val="20002"/>
                    </a:ext>
                  </a:extLst>
                </a:gridCol>
                <a:gridCol w="1170092">
                  <a:extLst>
                    <a:ext uri="{9D8B030D-6E8A-4147-A177-3AD203B41FA5}">
                      <a16:colId xmlns:a16="http://schemas.microsoft.com/office/drawing/2014/main" val="20003"/>
                    </a:ext>
                  </a:extLst>
                </a:gridCol>
                <a:gridCol w="1370753">
                  <a:extLst>
                    <a:ext uri="{9D8B030D-6E8A-4147-A177-3AD203B41FA5}">
                      <a16:colId xmlns:a16="http://schemas.microsoft.com/office/drawing/2014/main" val="20004"/>
                    </a:ext>
                  </a:extLst>
                </a:gridCol>
                <a:gridCol w="1219200">
                  <a:extLst>
                    <a:ext uri="{9D8B030D-6E8A-4147-A177-3AD203B41FA5}">
                      <a16:colId xmlns:a16="http://schemas.microsoft.com/office/drawing/2014/main" val="20005"/>
                    </a:ext>
                  </a:extLst>
                </a:gridCol>
                <a:gridCol w="1117600">
                  <a:extLst>
                    <a:ext uri="{9D8B030D-6E8A-4147-A177-3AD203B41FA5}">
                      <a16:colId xmlns:a16="http://schemas.microsoft.com/office/drawing/2014/main" val="20006"/>
                    </a:ext>
                  </a:extLst>
                </a:gridCol>
                <a:gridCol w="1015999">
                  <a:extLst>
                    <a:ext uri="{9D8B030D-6E8A-4147-A177-3AD203B41FA5}">
                      <a16:colId xmlns:a16="http://schemas.microsoft.com/office/drawing/2014/main" val="20007"/>
                    </a:ext>
                  </a:extLst>
                </a:gridCol>
                <a:gridCol w="927945">
                  <a:extLst>
                    <a:ext uri="{9D8B030D-6E8A-4147-A177-3AD203B41FA5}">
                      <a16:colId xmlns:a16="http://schemas.microsoft.com/office/drawing/2014/main" val="20008"/>
                    </a:ext>
                  </a:extLst>
                </a:gridCol>
              </a:tblGrid>
              <a:tr h="438573">
                <a:tc>
                  <a:txBody>
                    <a:bodyPr/>
                    <a:lstStyle/>
                    <a:p>
                      <a:pPr>
                        <a:lnSpc>
                          <a:spcPct val="100000"/>
                        </a:lnSpc>
                        <a:spcBef>
                          <a:spcPts val="114"/>
                        </a:spcBef>
                      </a:pPr>
                      <a:endParaRPr sz="1400">
                        <a:latin typeface="Times New Roman"/>
                        <a:cs typeface="Times New Roman"/>
                      </a:endParaRPr>
                    </a:p>
                    <a:p>
                      <a:pPr marL="635" algn="ctr">
                        <a:lnSpc>
                          <a:spcPts val="1170"/>
                        </a:lnSpc>
                      </a:pPr>
                      <a:r>
                        <a:rPr sz="1400" b="1" spc="-10" dirty="0">
                          <a:latin typeface="Arial"/>
                          <a:cs typeface="Arial"/>
                        </a:rPr>
                        <a:t>order_id</a:t>
                      </a:r>
                      <a:endParaRPr sz="1400">
                        <a:latin typeface="Arial"/>
                        <a:cs typeface="Arial"/>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348615" marR="85090" indent="-254635">
                        <a:lnSpc>
                          <a:spcPct val="100000"/>
                        </a:lnSpc>
                      </a:pPr>
                      <a:r>
                        <a:rPr sz="1400" b="1" dirty="0">
                          <a:latin typeface="Arial"/>
                          <a:cs typeface="Arial"/>
                        </a:rPr>
                        <a:t>Order</a:t>
                      </a:r>
                      <a:r>
                        <a:rPr sz="1400" b="1" spc="-40" dirty="0">
                          <a:latin typeface="Arial"/>
                          <a:cs typeface="Arial"/>
                        </a:rPr>
                        <a:t> </a:t>
                      </a:r>
                      <a:r>
                        <a:rPr sz="1400" b="1" spc="-20" dirty="0">
                          <a:latin typeface="Arial"/>
                          <a:cs typeface="Arial"/>
                        </a:rPr>
                        <a:t>Date </a:t>
                      </a:r>
                      <a:r>
                        <a:rPr sz="1400" b="1" spc="-25" dirty="0">
                          <a:latin typeface="Arial"/>
                          <a:cs typeface="Arial"/>
                        </a:rPr>
                        <a:t>FK</a:t>
                      </a:r>
                      <a:endParaRPr sz="14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algn="ctr">
                        <a:lnSpc>
                          <a:spcPct val="100000"/>
                        </a:lnSpc>
                        <a:spcBef>
                          <a:spcPts val="60"/>
                        </a:spcBef>
                      </a:pPr>
                      <a:r>
                        <a:rPr sz="1400" b="1" spc="-25" dirty="0">
                          <a:latin typeface="Arial"/>
                          <a:cs typeface="Arial"/>
                        </a:rPr>
                        <a:t>No.</a:t>
                      </a:r>
                      <a:endParaRPr sz="1400">
                        <a:latin typeface="Arial"/>
                        <a:cs typeface="Arial"/>
                      </a:endParaRPr>
                    </a:p>
                    <a:p>
                      <a:pPr algn="ctr">
                        <a:lnSpc>
                          <a:spcPts val="1170"/>
                        </a:lnSpc>
                      </a:pPr>
                      <a:r>
                        <a:rPr sz="1400" b="1" spc="-10" dirty="0">
                          <a:latin typeface="Arial"/>
                          <a:cs typeface="Arial"/>
                        </a:rPr>
                        <a:t>Products</a:t>
                      </a:r>
                      <a:endParaRPr sz="1400">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a:lnSpc>
                          <a:spcPct val="100000"/>
                        </a:lnSpc>
                        <a:spcBef>
                          <a:spcPts val="114"/>
                        </a:spcBef>
                      </a:pPr>
                      <a:endParaRPr sz="1400">
                        <a:latin typeface="Times New Roman"/>
                        <a:cs typeface="Times New Roman"/>
                      </a:endParaRPr>
                    </a:p>
                    <a:p>
                      <a:pPr marL="2540" algn="ctr">
                        <a:lnSpc>
                          <a:spcPts val="1170"/>
                        </a:lnSpc>
                      </a:pPr>
                      <a:r>
                        <a:rPr sz="1400" b="1" spc="-10" dirty="0">
                          <a:latin typeface="Arial"/>
                          <a:cs typeface="Arial"/>
                        </a:rPr>
                        <a:t>Product_FK</a:t>
                      </a:r>
                      <a:endParaRPr sz="1400">
                        <a:latin typeface="Arial"/>
                        <a:cs typeface="Arial"/>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252729" marR="151765" indent="-91440">
                        <a:lnSpc>
                          <a:spcPct val="100000"/>
                        </a:lnSpc>
                      </a:pPr>
                      <a:r>
                        <a:rPr sz="1400" b="1" spc="-10" dirty="0">
                          <a:latin typeface="Arial"/>
                          <a:cs typeface="Arial"/>
                        </a:rPr>
                        <a:t>Production </a:t>
                      </a:r>
                      <a:r>
                        <a:rPr sz="1400" b="1" dirty="0">
                          <a:latin typeface="Arial"/>
                          <a:cs typeface="Arial"/>
                        </a:rPr>
                        <a:t>Start</a:t>
                      </a:r>
                      <a:r>
                        <a:rPr sz="1400" b="1" spc="-35" dirty="0">
                          <a:latin typeface="Arial"/>
                          <a:cs typeface="Arial"/>
                        </a:rPr>
                        <a:t> </a:t>
                      </a:r>
                      <a:r>
                        <a:rPr sz="1400" b="1" spc="-25" dirty="0">
                          <a:latin typeface="Arial"/>
                          <a:cs typeface="Arial"/>
                        </a:rPr>
                        <a:t>FK</a:t>
                      </a:r>
                      <a:endParaRPr sz="14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223520" marR="95250" indent="-119380">
                        <a:lnSpc>
                          <a:spcPct val="100000"/>
                        </a:lnSpc>
                      </a:pPr>
                      <a:r>
                        <a:rPr sz="1400" b="1" spc="-10" dirty="0">
                          <a:latin typeface="Arial"/>
                          <a:cs typeface="Arial"/>
                        </a:rPr>
                        <a:t>Production </a:t>
                      </a:r>
                      <a:r>
                        <a:rPr sz="1400" b="1" dirty="0">
                          <a:latin typeface="Arial"/>
                          <a:cs typeface="Arial"/>
                        </a:rPr>
                        <a:t>End</a:t>
                      </a:r>
                      <a:r>
                        <a:rPr sz="1400" b="1" spc="-15" dirty="0">
                          <a:latin typeface="Arial"/>
                          <a:cs typeface="Arial"/>
                        </a:rPr>
                        <a:t> </a:t>
                      </a:r>
                      <a:r>
                        <a:rPr sz="1400" b="1" spc="-25" dirty="0">
                          <a:latin typeface="Arial"/>
                          <a:cs typeface="Arial"/>
                        </a:rPr>
                        <a:t>FK</a:t>
                      </a:r>
                      <a:endParaRPr sz="14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165735" marR="75565" indent="-81280">
                        <a:lnSpc>
                          <a:spcPct val="100000"/>
                        </a:lnSpc>
                      </a:pPr>
                      <a:r>
                        <a:rPr sz="1400" b="1" spc="-10" dirty="0">
                          <a:latin typeface="Arial"/>
                          <a:cs typeface="Arial"/>
                        </a:rPr>
                        <a:t>Inspection </a:t>
                      </a:r>
                      <a:r>
                        <a:rPr sz="1400" b="1" dirty="0">
                          <a:latin typeface="Arial"/>
                          <a:cs typeface="Arial"/>
                        </a:rPr>
                        <a:t>Date</a:t>
                      </a:r>
                      <a:r>
                        <a:rPr sz="1400" b="1" spc="-30" dirty="0">
                          <a:latin typeface="Arial"/>
                          <a:cs typeface="Arial"/>
                        </a:rPr>
                        <a:t> </a:t>
                      </a:r>
                      <a:r>
                        <a:rPr sz="1400" b="1" spc="-25" dirty="0">
                          <a:latin typeface="Arial"/>
                          <a:cs typeface="Arial"/>
                        </a:rPr>
                        <a:t>FK</a:t>
                      </a:r>
                      <a:endParaRPr sz="14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127635" marR="85725" indent="-32384">
                        <a:lnSpc>
                          <a:spcPct val="100000"/>
                        </a:lnSpc>
                      </a:pPr>
                      <a:r>
                        <a:rPr sz="1400" b="1" spc="-10" dirty="0">
                          <a:latin typeface="Arial"/>
                          <a:cs typeface="Arial"/>
                        </a:rPr>
                        <a:t>Shipping </a:t>
                      </a:r>
                      <a:r>
                        <a:rPr sz="1400" b="1" dirty="0">
                          <a:latin typeface="Arial"/>
                          <a:cs typeface="Arial"/>
                        </a:rPr>
                        <a:t>Date</a:t>
                      </a:r>
                      <a:r>
                        <a:rPr sz="1400" b="1" spc="-30" dirty="0">
                          <a:latin typeface="Arial"/>
                          <a:cs typeface="Arial"/>
                        </a:rPr>
                        <a:t> </a:t>
                      </a:r>
                      <a:r>
                        <a:rPr sz="1400" b="1" spc="-25" dirty="0">
                          <a:latin typeface="Arial"/>
                          <a:cs typeface="Arial"/>
                        </a:rPr>
                        <a:t>FK</a:t>
                      </a:r>
                      <a:endParaRPr sz="14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61594" marR="37465" indent="-15240">
                        <a:lnSpc>
                          <a:spcPct val="100000"/>
                        </a:lnSpc>
                      </a:pPr>
                      <a:r>
                        <a:rPr sz="1400" b="1" spc="-10" dirty="0">
                          <a:latin typeface="Arial"/>
                          <a:cs typeface="Arial"/>
                        </a:rPr>
                        <a:t>Damaged products</a:t>
                      </a:r>
                      <a:endParaRPr sz="14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extLst>
                  <a:ext uri="{0D108BD9-81ED-4DB2-BD59-A6C34878D82A}">
                    <a16:rowId xmlns:a16="http://schemas.microsoft.com/office/drawing/2014/main" val="10000"/>
                  </a:ext>
                </a:extLst>
              </a:tr>
              <a:tr h="254000">
                <a:tc>
                  <a:txBody>
                    <a:bodyPr/>
                    <a:lstStyle/>
                    <a:p>
                      <a:pPr algn="ctr">
                        <a:lnSpc>
                          <a:spcPts val="117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10" dirty="0">
                          <a:latin typeface="Arial MT"/>
                          <a:cs typeface="Arial MT"/>
                        </a:rPr>
                        <a:t>20220102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25" dirty="0">
                          <a:latin typeface="Arial MT"/>
                          <a:cs typeface="Arial MT"/>
                        </a:rPr>
                        <a:t>100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5"/>
                        </a:spcBef>
                      </a:pPr>
                      <a:r>
                        <a:rPr sz="1400" spc="-25" dirty="0">
                          <a:latin typeface="Arial MT"/>
                          <a:cs typeface="Arial MT"/>
                        </a:rPr>
                        <a:t>32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10" dirty="0">
                          <a:latin typeface="Arial MT"/>
                          <a:cs typeface="Arial MT"/>
                        </a:rPr>
                        <a:t>20220103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0"/>
                        </a:lnSpc>
                        <a:spcBef>
                          <a:spcPts val="225"/>
                        </a:spcBef>
                      </a:pPr>
                      <a:r>
                        <a:rPr sz="1400" spc="-10" dirty="0">
                          <a:latin typeface="Arial MT"/>
                          <a:cs typeface="Arial MT"/>
                        </a:rPr>
                        <a:t>20220110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0"/>
                        </a:lnSpc>
                        <a:spcBef>
                          <a:spcPts val="225"/>
                        </a:spcBef>
                      </a:pPr>
                      <a:r>
                        <a:rPr sz="1400" spc="-10" dirty="0">
                          <a:latin typeface="Arial MT"/>
                          <a:cs typeface="Arial MT"/>
                        </a:rPr>
                        <a:t>20220112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0"/>
                        </a:lnSpc>
                        <a:spcBef>
                          <a:spcPts val="225"/>
                        </a:spcBef>
                      </a:pPr>
                      <a:r>
                        <a:rPr sz="1400" spc="-10" dirty="0">
                          <a:latin typeface="Arial MT"/>
                          <a:cs typeface="Arial MT"/>
                        </a:rPr>
                        <a:t>20220113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3153">
                <a:tc>
                  <a:txBody>
                    <a:bodyPr/>
                    <a:lstStyle/>
                    <a:p>
                      <a:pPr algn="ctr">
                        <a:lnSpc>
                          <a:spcPts val="1170"/>
                        </a:lnSpc>
                        <a:spcBef>
                          <a:spcPts val="229"/>
                        </a:spcBef>
                      </a:pPr>
                      <a:r>
                        <a:rPr sz="1400" spc="-50" dirty="0">
                          <a:latin typeface="Arial MT"/>
                          <a:cs typeface="Arial MT"/>
                        </a:rPr>
                        <a:t>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20220103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25" dirty="0">
                          <a:latin typeface="Arial MT"/>
                          <a:cs typeface="Arial MT"/>
                        </a:rPr>
                        <a:t>100</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9"/>
                        </a:spcBef>
                      </a:pPr>
                      <a:r>
                        <a:rPr sz="1400" spc="-25" dirty="0">
                          <a:latin typeface="Arial MT"/>
                          <a:cs typeface="Arial MT"/>
                        </a:rPr>
                        <a:t>32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20220104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0"/>
                        </a:lnSpc>
                        <a:spcBef>
                          <a:spcPts val="229"/>
                        </a:spcBef>
                      </a:pPr>
                      <a:r>
                        <a:rPr sz="1400" spc="-10" dirty="0">
                          <a:latin typeface="Arial MT"/>
                          <a:cs typeface="Arial MT"/>
                        </a:rPr>
                        <a:t>20220112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0"/>
                        </a:lnSpc>
                        <a:spcBef>
                          <a:spcPts val="229"/>
                        </a:spcBef>
                      </a:pPr>
                      <a:r>
                        <a:rPr sz="1400" spc="-10" dirty="0">
                          <a:latin typeface="Arial MT"/>
                          <a:cs typeface="Arial MT"/>
                        </a:rPr>
                        <a:t>20220113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0"/>
                        </a:lnSpc>
                        <a:spcBef>
                          <a:spcPts val="229"/>
                        </a:spcBef>
                      </a:pPr>
                      <a:r>
                        <a:rPr sz="1400" spc="-10" dirty="0">
                          <a:latin typeface="Arial MT"/>
                          <a:cs typeface="Arial MT"/>
                        </a:rPr>
                        <a:t>20220113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50" dirty="0">
                          <a:latin typeface="Arial MT"/>
                          <a:cs typeface="Arial MT"/>
                        </a:rPr>
                        <a:t>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ts val="117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20220103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25" dirty="0">
                          <a:latin typeface="Arial MT"/>
                          <a:cs typeface="Arial MT"/>
                        </a:rPr>
                        <a:t>100</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9"/>
                        </a:spcBef>
                      </a:pPr>
                      <a:r>
                        <a:rPr sz="1400" spc="-25" dirty="0">
                          <a:latin typeface="Arial MT"/>
                          <a:cs typeface="Arial MT"/>
                        </a:rPr>
                        <a:t>32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20220103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0"/>
                        </a:lnSpc>
                        <a:spcBef>
                          <a:spcPts val="229"/>
                        </a:spcBef>
                      </a:pPr>
                      <a:r>
                        <a:rPr sz="1400" spc="-10" dirty="0">
                          <a:latin typeface="Arial MT"/>
                          <a:cs typeface="Arial MT"/>
                        </a:rPr>
                        <a:t>20220112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0"/>
                        </a:lnSpc>
                        <a:spcBef>
                          <a:spcPts val="229"/>
                        </a:spcBef>
                      </a:pPr>
                      <a:r>
                        <a:rPr sz="1400" spc="-10" dirty="0">
                          <a:latin typeface="Arial MT"/>
                          <a:cs typeface="Arial MT"/>
                        </a:rPr>
                        <a:t>20220113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0"/>
                        </a:lnSpc>
                        <a:spcBef>
                          <a:spcPts val="229"/>
                        </a:spcBef>
                      </a:pPr>
                      <a:r>
                        <a:rPr sz="1400" spc="-10" dirty="0">
                          <a:latin typeface="Arial MT"/>
                          <a:cs typeface="Arial MT"/>
                        </a:rPr>
                        <a:t>20220114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50" dirty="0">
                          <a:latin typeface="Arial MT"/>
                          <a:cs typeface="Arial MT"/>
                        </a:rPr>
                        <a:t>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3153">
                <a:tc>
                  <a:txBody>
                    <a:bodyPr/>
                    <a:lstStyle/>
                    <a:p>
                      <a:pPr algn="ctr">
                        <a:lnSpc>
                          <a:spcPts val="1170"/>
                        </a:lnSpc>
                        <a:spcBef>
                          <a:spcPts val="229"/>
                        </a:spcBef>
                      </a:pPr>
                      <a:r>
                        <a:rPr sz="1400" spc="-50" dirty="0">
                          <a:latin typeface="Arial MT"/>
                          <a:cs typeface="Arial MT"/>
                        </a:rPr>
                        <a:t>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20220104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25" dirty="0">
                          <a:latin typeface="Arial MT"/>
                          <a:cs typeface="Arial MT"/>
                        </a:rPr>
                        <a:t>100</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9"/>
                        </a:spcBef>
                      </a:pPr>
                      <a:r>
                        <a:rPr sz="1400" spc="-25" dirty="0">
                          <a:latin typeface="Arial MT"/>
                          <a:cs typeface="Arial MT"/>
                        </a:rPr>
                        <a:t>32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20220106</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0"/>
                        </a:lnSpc>
                        <a:spcBef>
                          <a:spcPts val="229"/>
                        </a:spcBef>
                      </a:pPr>
                      <a:r>
                        <a:rPr sz="1400" spc="-10" dirty="0">
                          <a:latin typeface="Arial MT"/>
                          <a:cs typeface="Arial MT"/>
                        </a:rPr>
                        <a:t>20220110</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0"/>
                        </a:lnSpc>
                        <a:spcBef>
                          <a:spcPts val="229"/>
                        </a:spcBef>
                      </a:pPr>
                      <a:r>
                        <a:rPr sz="1400" spc="-10" dirty="0">
                          <a:latin typeface="Arial MT"/>
                          <a:cs typeface="Arial MT"/>
                        </a:rPr>
                        <a:t>20220112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0"/>
                        </a:lnSpc>
                        <a:spcBef>
                          <a:spcPts val="229"/>
                        </a:spcBef>
                      </a:pPr>
                      <a:r>
                        <a:rPr sz="1400" spc="-10" dirty="0">
                          <a:latin typeface="Arial MT"/>
                          <a:cs typeface="Arial MT"/>
                        </a:rPr>
                        <a:t>20220113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50" dirty="0">
                          <a:latin typeface="Arial MT"/>
                          <a:cs typeface="Arial MT"/>
                        </a:rPr>
                        <a:t>0</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algn="ctr">
                        <a:lnSpc>
                          <a:spcPts val="1170"/>
                        </a:lnSpc>
                        <a:spcBef>
                          <a:spcPts val="229"/>
                        </a:spcBef>
                      </a:pPr>
                      <a:r>
                        <a:rPr sz="1400" spc="-50" dirty="0">
                          <a:latin typeface="Arial MT"/>
                          <a:cs typeface="Arial MT"/>
                        </a:rPr>
                        <a:t>5</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20220104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25" dirty="0">
                          <a:latin typeface="Arial MT"/>
                          <a:cs typeface="Arial MT"/>
                        </a:rPr>
                        <a:t>100</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9"/>
                        </a:spcBef>
                      </a:pPr>
                      <a:r>
                        <a:rPr sz="1400" spc="-25" dirty="0">
                          <a:latin typeface="Arial MT"/>
                          <a:cs typeface="Arial MT"/>
                        </a:rPr>
                        <a:t>32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20220108</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0"/>
                        </a:lnSpc>
                        <a:spcBef>
                          <a:spcPts val="229"/>
                        </a:spcBef>
                      </a:pPr>
                      <a:r>
                        <a:rPr sz="1400" spc="-10" dirty="0">
                          <a:latin typeface="Arial MT"/>
                          <a:cs typeface="Arial MT"/>
                        </a:rPr>
                        <a:t>20220117</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0"/>
                        </a:lnSpc>
                        <a:spcBef>
                          <a:spcPts val="229"/>
                        </a:spcBef>
                      </a:pPr>
                      <a:r>
                        <a:rPr sz="1400" spc="-10" dirty="0">
                          <a:latin typeface="Arial MT"/>
                          <a:cs typeface="Arial MT"/>
                        </a:rPr>
                        <a:t>20220119</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0"/>
                        </a:lnSpc>
                        <a:spcBef>
                          <a:spcPts val="229"/>
                        </a:spcBef>
                      </a:pPr>
                      <a:r>
                        <a:rPr sz="1400" spc="-10" dirty="0">
                          <a:latin typeface="Arial MT"/>
                          <a:cs typeface="Arial MT"/>
                        </a:rPr>
                        <a:t>20220120</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50" dirty="0">
                          <a:latin typeface="Arial MT"/>
                          <a:cs typeface="Arial MT"/>
                        </a:rPr>
                        <a:t>6</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sp>
        <p:nvSpPr>
          <p:cNvPr id="4" name="object 4"/>
          <p:cNvSpPr txBox="1"/>
          <p:nvPr/>
        </p:nvSpPr>
        <p:spPr>
          <a:xfrm>
            <a:off x="3291839" y="6118352"/>
            <a:ext cx="2804160" cy="540319"/>
          </a:xfrm>
          <a:prstGeom prst="rect">
            <a:avLst/>
          </a:prstGeom>
          <a:noFill/>
        </p:spPr>
        <p:txBody>
          <a:bodyPr vert="horz" wrap="square" lIns="0" tIns="169333" rIns="0" bIns="0" rtlCol="0">
            <a:spAutoFit/>
          </a:bodyPr>
          <a:lstStyle/>
          <a:p>
            <a:pPr marL="299713">
              <a:spcBef>
                <a:spcPts val="1333"/>
              </a:spcBef>
            </a:pPr>
            <a:r>
              <a:rPr sz="2400" b="1" dirty="0">
                <a:solidFill>
                  <a:srgbClr val="D9D9D9"/>
                </a:solidFill>
                <a:latin typeface="Calibri"/>
                <a:cs typeface="Calibri"/>
              </a:rPr>
              <a:t>Order</a:t>
            </a:r>
            <a:r>
              <a:rPr sz="2400" b="1" spc="-47" dirty="0">
                <a:solidFill>
                  <a:srgbClr val="D9D9D9"/>
                </a:solidFill>
                <a:latin typeface="Calibri"/>
                <a:cs typeface="Calibri"/>
              </a:rPr>
              <a:t> </a:t>
            </a:r>
            <a:r>
              <a:rPr sz="2400" b="1" spc="-13" dirty="0">
                <a:solidFill>
                  <a:srgbClr val="D9D9D9"/>
                </a:solidFill>
                <a:latin typeface="Calibri"/>
                <a:cs typeface="Calibri"/>
              </a:rPr>
              <a:t>production</a:t>
            </a:r>
            <a:endParaRPr sz="2400">
              <a:latin typeface="Calibri"/>
              <a:cs typeface="Calibri"/>
            </a:endParaRPr>
          </a:p>
        </p:txBody>
      </p:sp>
      <p:sp>
        <p:nvSpPr>
          <p:cNvPr id="5" name="object 5"/>
          <p:cNvSpPr txBox="1"/>
          <p:nvPr/>
        </p:nvSpPr>
        <p:spPr>
          <a:xfrm>
            <a:off x="2589286" y="1351025"/>
            <a:ext cx="8800253" cy="3048762"/>
          </a:xfrm>
          <a:prstGeom prst="rect">
            <a:avLst/>
          </a:prstGeom>
        </p:spPr>
        <p:txBody>
          <a:bodyPr vert="horz" wrap="square" lIns="0" tIns="16933" rIns="0" bIns="0" rtlCol="0">
            <a:spAutoFit/>
          </a:bodyPr>
          <a:lstStyle/>
          <a:p>
            <a:pPr marL="712876" indent="-380990">
              <a:spcBef>
                <a:spcPts val="133"/>
              </a:spcBef>
              <a:buClr>
                <a:srgbClr val="99D3FF"/>
              </a:buClr>
              <a:buFont typeface="Wingdings"/>
              <a:buChar char=""/>
              <a:tabLst>
                <a:tab pos="712876" algn="l"/>
              </a:tabLst>
            </a:pPr>
            <a:r>
              <a:rPr sz="2400" b="1" dirty="0">
                <a:solidFill>
                  <a:srgbClr val="D9D9D9"/>
                </a:solidFill>
                <a:latin typeface="Calibri"/>
                <a:cs typeface="Calibri"/>
              </a:rPr>
              <a:t>Least</a:t>
            </a:r>
            <a:r>
              <a:rPr sz="2400" b="1" spc="-47" dirty="0">
                <a:solidFill>
                  <a:srgbClr val="D9D9D9"/>
                </a:solidFill>
                <a:latin typeface="Calibri"/>
                <a:cs typeface="Calibri"/>
              </a:rPr>
              <a:t> </a:t>
            </a:r>
            <a:r>
              <a:rPr sz="2400" b="1" spc="-13" dirty="0">
                <a:solidFill>
                  <a:srgbClr val="D9D9D9"/>
                </a:solidFill>
                <a:latin typeface="Calibri"/>
                <a:cs typeface="Calibri"/>
              </a:rPr>
              <a:t>common</a:t>
            </a:r>
            <a:endParaRPr sz="2400" dirty="0">
              <a:latin typeface="Calibri"/>
              <a:cs typeface="Calibri"/>
            </a:endParaRPr>
          </a:p>
          <a:p>
            <a:pPr marL="679856" indent="-380990">
              <a:spcBef>
                <a:spcPts val="2747"/>
              </a:spcBef>
              <a:buClr>
                <a:srgbClr val="99D3FF"/>
              </a:buClr>
              <a:buFont typeface="Wingdings"/>
              <a:buChar char=""/>
              <a:tabLst>
                <a:tab pos="679856" algn="l"/>
              </a:tabLst>
            </a:pPr>
            <a:r>
              <a:rPr sz="2400" b="1" dirty="0">
                <a:solidFill>
                  <a:srgbClr val="D9D9D9"/>
                </a:solidFill>
                <a:latin typeface="Calibri"/>
                <a:cs typeface="Calibri"/>
              </a:rPr>
              <a:t>Workflow</a:t>
            </a:r>
            <a:r>
              <a:rPr sz="2400" b="1" spc="-60" dirty="0">
                <a:solidFill>
                  <a:srgbClr val="D9D9D9"/>
                </a:solidFill>
                <a:latin typeface="Calibri"/>
                <a:cs typeface="Calibri"/>
              </a:rPr>
              <a:t> </a:t>
            </a:r>
            <a:r>
              <a:rPr sz="2400" b="1" dirty="0">
                <a:solidFill>
                  <a:srgbClr val="D9D9D9"/>
                </a:solidFill>
                <a:latin typeface="Calibri"/>
                <a:cs typeface="Calibri"/>
              </a:rPr>
              <a:t>or</a:t>
            </a:r>
            <a:r>
              <a:rPr sz="2400" b="1" spc="-53" dirty="0">
                <a:solidFill>
                  <a:srgbClr val="D9D9D9"/>
                </a:solidFill>
                <a:latin typeface="Calibri"/>
                <a:cs typeface="Calibri"/>
              </a:rPr>
              <a:t> </a:t>
            </a:r>
            <a:r>
              <a:rPr sz="2400" b="1" dirty="0">
                <a:solidFill>
                  <a:srgbClr val="D9D9D9"/>
                </a:solidFill>
                <a:latin typeface="Calibri"/>
                <a:cs typeface="Calibri"/>
              </a:rPr>
              <a:t>process</a:t>
            </a:r>
            <a:r>
              <a:rPr sz="2400" b="1" spc="-87" dirty="0">
                <a:solidFill>
                  <a:srgbClr val="D9D9D9"/>
                </a:solidFill>
                <a:latin typeface="Calibri"/>
                <a:cs typeface="Calibri"/>
              </a:rPr>
              <a:t> </a:t>
            </a:r>
            <a:r>
              <a:rPr sz="2400" b="1" spc="-13" dirty="0">
                <a:solidFill>
                  <a:srgbClr val="D9D9D9"/>
                </a:solidFill>
                <a:latin typeface="Calibri"/>
                <a:cs typeface="Calibri"/>
              </a:rPr>
              <a:t>analysis</a:t>
            </a:r>
            <a:endParaRPr sz="2400" dirty="0">
              <a:latin typeface="Calibri"/>
              <a:cs typeface="Calibri"/>
            </a:endParaRPr>
          </a:p>
          <a:p>
            <a:pPr>
              <a:spcBef>
                <a:spcPts val="27"/>
              </a:spcBef>
              <a:buClr>
                <a:srgbClr val="99D3FF"/>
              </a:buClr>
              <a:buFont typeface="Wingdings"/>
              <a:buChar char=""/>
            </a:pPr>
            <a:endParaRPr sz="2400" dirty="0">
              <a:latin typeface="Calibri"/>
              <a:cs typeface="Calibri"/>
            </a:endParaRPr>
          </a:p>
          <a:p>
            <a:pPr marL="679856" indent="-380990">
              <a:buClr>
                <a:srgbClr val="99D3FF"/>
              </a:buClr>
              <a:buFont typeface="Wingdings"/>
              <a:buChar char=""/>
              <a:tabLst>
                <a:tab pos="679856" algn="l"/>
              </a:tabLst>
            </a:pPr>
            <a:r>
              <a:rPr sz="2400" b="1" dirty="0">
                <a:solidFill>
                  <a:srgbClr val="D9D9D9"/>
                </a:solidFill>
                <a:latin typeface="Calibri"/>
                <a:cs typeface="Calibri"/>
              </a:rPr>
              <a:t>Multiple</a:t>
            </a:r>
            <a:r>
              <a:rPr sz="2400" b="1" spc="-80" dirty="0">
                <a:solidFill>
                  <a:srgbClr val="D9D9D9"/>
                </a:solidFill>
                <a:latin typeface="Calibri"/>
                <a:cs typeface="Calibri"/>
              </a:rPr>
              <a:t> </a:t>
            </a:r>
            <a:r>
              <a:rPr sz="2400" b="1" dirty="0">
                <a:solidFill>
                  <a:srgbClr val="D9D9D9"/>
                </a:solidFill>
                <a:latin typeface="Calibri"/>
                <a:cs typeface="Calibri"/>
              </a:rPr>
              <a:t>Date/Time</a:t>
            </a:r>
            <a:r>
              <a:rPr sz="2400" b="1" spc="-27" dirty="0">
                <a:solidFill>
                  <a:srgbClr val="D9D9D9"/>
                </a:solidFill>
                <a:latin typeface="Calibri"/>
                <a:cs typeface="Calibri"/>
              </a:rPr>
              <a:t> </a:t>
            </a:r>
            <a:r>
              <a:rPr sz="2400" b="1" dirty="0">
                <a:solidFill>
                  <a:srgbClr val="D9D9D9"/>
                </a:solidFill>
                <a:latin typeface="Calibri"/>
                <a:cs typeface="Calibri"/>
              </a:rPr>
              <a:t>foreign</a:t>
            </a:r>
            <a:r>
              <a:rPr sz="2400" b="1" spc="-47" dirty="0">
                <a:solidFill>
                  <a:srgbClr val="D9D9D9"/>
                </a:solidFill>
                <a:latin typeface="Calibri"/>
                <a:cs typeface="Calibri"/>
              </a:rPr>
              <a:t> </a:t>
            </a:r>
            <a:r>
              <a:rPr sz="2400" b="1" dirty="0">
                <a:solidFill>
                  <a:srgbClr val="D9D9D9"/>
                </a:solidFill>
                <a:latin typeface="Calibri"/>
                <a:cs typeface="Calibri"/>
              </a:rPr>
              <a:t>keys</a:t>
            </a:r>
            <a:r>
              <a:rPr sz="2400" b="1" spc="-47" dirty="0">
                <a:solidFill>
                  <a:srgbClr val="D9D9D9"/>
                </a:solidFill>
                <a:latin typeface="Calibri"/>
                <a:cs typeface="Calibri"/>
              </a:rPr>
              <a:t> </a:t>
            </a:r>
            <a:r>
              <a:rPr sz="2400" b="1" dirty="0">
                <a:solidFill>
                  <a:srgbClr val="D9D9D9"/>
                </a:solidFill>
                <a:latin typeface="Calibri"/>
                <a:cs typeface="Calibri"/>
              </a:rPr>
              <a:t>(for</a:t>
            </a:r>
            <a:r>
              <a:rPr sz="2400" b="1" spc="-13" dirty="0">
                <a:solidFill>
                  <a:srgbClr val="D9D9D9"/>
                </a:solidFill>
                <a:latin typeface="Calibri"/>
                <a:cs typeface="Calibri"/>
              </a:rPr>
              <a:t> </a:t>
            </a:r>
            <a:r>
              <a:rPr sz="2400" b="1" dirty="0">
                <a:solidFill>
                  <a:srgbClr val="D9D9D9"/>
                </a:solidFill>
                <a:latin typeface="Calibri"/>
                <a:cs typeface="Calibri"/>
              </a:rPr>
              <a:t>each</a:t>
            </a:r>
            <a:r>
              <a:rPr sz="2400" b="1" spc="-40" dirty="0">
                <a:solidFill>
                  <a:srgbClr val="D9D9D9"/>
                </a:solidFill>
                <a:latin typeface="Calibri"/>
                <a:cs typeface="Calibri"/>
              </a:rPr>
              <a:t> </a:t>
            </a:r>
            <a:r>
              <a:rPr sz="2400" b="1" dirty="0">
                <a:solidFill>
                  <a:srgbClr val="D9D9D9"/>
                </a:solidFill>
                <a:latin typeface="Calibri"/>
                <a:cs typeface="Calibri"/>
              </a:rPr>
              <a:t>process</a:t>
            </a:r>
            <a:r>
              <a:rPr sz="2400" b="1" spc="-67" dirty="0">
                <a:solidFill>
                  <a:srgbClr val="D9D9D9"/>
                </a:solidFill>
                <a:latin typeface="Calibri"/>
                <a:cs typeface="Calibri"/>
              </a:rPr>
              <a:t> </a:t>
            </a:r>
            <a:r>
              <a:rPr sz="2400" b="1" spc="-13" dirty="0">
                <a:solidFill>
                  <a:srgbClr val="D9D9D9"/>
                </a:solidFill>
                <a:latin typeface="Calibri"/>
                <a:cs typeface="Calibri"/>
              </a:rPr>
              <a:t>step)</a:t>
            </a:r>
            <a:endParaRPr sz="2400" dirty="0">
              <a:latin typeface="Calibri"/>
              <a:cs typeface="Calibri"/>
            </a:endParaRPr>
          </a:p>
          <a:p>
            <a:pPr marL="705256" indent="-380990">
              <a:spcBef>
                <a:spcPts val="2913"/>
              </a:spcBef>
              <a:buClr>
                <a:srgbClr val="99D3FF"/>
              </a:buClr>
              <a:buFont typeface="Wingdings"/>
              <a:buChar char=""/>
              <a:tabLst>
                <a:tab pos="705256" algn="l"/>
              </a:tabLst>
            </a:pPr>
            <a:r>
              <a:rPr sz="2400" b="1" dirty="0">
                <a:solidFill>
                  <a:srgbClr val="D9D9D9"/>
                </a:solidFill>
                <a:latin typeface="Calibri"/>
                <a:cs typeface="Calibri"/>
              </a:rPr>
              <a:t>Date/Time</a:t>
            </a:r>
            <a:r>
              <a:rPr sz="2400" b="1" spc="-60" dirty="0">
                <a:solidFill>
                  <a:srgbClr val="D9D9D9"/>
                </a:solidFill>
                <a:latin typeface="Calibri"/>
                <a:cs typeface="Calibri"/>
              </a:rPr>
              <a:t> </a:t>
            </a:r>
            <a:r>
              <a:rPr sz="2400" b="1" dirty="0">
                <a:solidFill>
                  <a:srgbClr val="D9D9D9"/>
                </a:solidFill>
                <a:latin typeface="Calibri"/>
                <a:cs typeface="Calibri"/>
              </a:rPr>
              <a:t>keys</a:t>
            </a:r>
            <a:r>
              <a:rPr sz="2400" b="1" spc="-47" dirty="0">
                <a:solidFill>
                  <a:srgbClr val="D9D9D9"/>
                </a:solidFill>
                <a:latin typeface="Calibri"/>
                <a:cs typeface="Calibri"/>
              </a:rPr>
              <a:t> </a:t>
            </a:r>
            <a:r>
              <a:rPr sz="2400" b="1" dirty="0">
                <a:solidFill>
                  <a:srgbClr val="D9D9D9"/>
                </a:solidFill>
                <a:latin typeface="Calibri"/>
                <a:cs typeface="Calibri"/>
              </a:rPr>
              <a:t>associated</a:t>
            </a:r>
            <a:r>
              <a:rPr sz="2400" b="1" spc="-73" dirty="0">
                <a:solidFill>
                  <a:srgbClr val="D9D9D9"/>
                </a:solidFill>
                <a:latin typeface="Calibri"/>
                <a:cs typeface="Calibri"/>
              </a:rPr>
              <a:t> </a:t>
            </a:r>
            <a:r>
              <a:rPr sz="2400" b="1" dirty="0">
                <a:solidFill>
                  <a:srgbClr val="D9D9D9"/>
                </a:solidFill>
                <a:latin typeface="Calibri"/>
                <a:cs typeface="Calibri"/>
              </a:rPr>
              <a:t>with</a:t>
            </a:r>
            <a:r>
              <a:rPr sz="2400" b="1" spc="-33" dirty="0">
                <a:solidFill>
                  <a:srgbClr val="D9D9D9"/>
                </a:solidFill>
                <a:latin typeface="Calibri"/>
                <a:cs typeface="Calibri"/>
              </a:rPr>
              <a:t> </a:t>
            </a:r>
            <a:r>
              <a:rPr sz="2400" b="1" dirty="0">
                <a:solidFill>
                  <a:srgbClr val="D9D9D9"/>
                </a:solidFill>
                <a:latin typeface="Calibri"/>
                <a:cs typeface="Calibri"/>
              </a:rPr>
              <a:t>role-playing</a:t>
            </a:r>
            <a:r>
              <a:rPr sz="2400" b="1" spc="-60" dirty="0">
                <a:solidFill>
                  <a:srgbClr val="D9D9D9"/>
                </a:solidFill>
                <a:latin typeface="Calibri"/>
                <a:cs typeface="Calibri"/>
              </a:rPr>
              <a:t> </a:t>
            </a:r>
            <a:r>
              <a:rPr sz="2400" b="1" spc="-13" dirty="0">
                <a:solidFill>
                  <a:srgbClr val="D9D9D9"/>
                </a:solidFill>
                <a:latin typeface="Calibri"/>
                <a:cs typeface="Calibri"/>
              </a:rPr>
              <a:t>dimension</a:t>
            </a:r>
            <a:endParaRPr sz="2400" dirty="0">
              <a:latin typeface="Calibri"/>
              <a:cs typeface="Calibri"/>
            </a:endParaRPr>
          </a:p>
          <a:p>
            <a:pPr marL="16933">
              <a:spcBef>
                <a:spcPts val="1427"/>
              </a:spcBef>
              <a:tabLst>
                <a:tab pos="1114185" algn="l"/>
                <a:tab pos="2229218" algn="l"/>
                <a:tab pos="3555064" algn="l"/>
                <a:tab pos="4686183" algn="l"/>
                <a:tab pos="5934138" algn="l"/>
                <a:tab pos="7016151" algn="l"/>
              </a:tabLst>
            </a:pPr>
            <a:r>
              <a:rPr sz="1867" b="1" dirty="0">
                <a:solidFill>
                  <a:srgbClr val="66DBFF"/>
                </a:solidFill>
                <a:latin typeface="Calibri"/>
                <a:cs typeface="Calibri"/>
              </a:rPr>
              <a:t>Date</a:t>
            </a:r>
            <a:r>
              <a:rPr sz="1867" b="1" spc="-47" dirty="0">
                <a:solidFill>
                  <a:srgbClr val="66DBFF"/>
                </a:solidFill>
                <a:latin typeface="Calibri"/>
                <a:cs typeface="Calibri"/>
              </a:rPr>
              <a:t> </a:t>
            </a:r>
            <a:r>
              <a:rPr sz="1867" b="1" spc="-33" dirty="0">
                <a:solidFill>
                  <a:srgbClr val="66DBFF"/>
                </a:solidFill>
                <a:latin typeface="Calibri"/>
                <a:cs typeface="Calibri"/>
              </a:rPr>
              <a:t>FK</a:t>
            </a:r>
            <a:r>
              <a:rPr sz="1867" b="1" dirty="0">
                <a:solidFill>
                  <a:srgbClr val="66DBFF"/>
                </a:solidFill>
                <a:latin typeface="Calibri"/>
                <a:cs typeface="Calibri"/>
              </a:rPr>
              <a:t>	</a:t>
            </a:r>
            <a:r>
              <a:rPr sz="1867" b="1" spc="-13" dirty="0">
                <a:solidFill>
                  <a:srgbClr val="FFFFFF"/>
                </a:solidFill>
                <a:latin typeface="Calibri"/>
                <a:cs typeface="Calibri"/>
              </a:rPr>
              <a:t>Measure</a:t>
            </a:r>
            <a:r>
              <a:rPr sz="1867" b="1" dirty="0">
                <a:solidFill>
                  <a:srgbClr val="FFFFFF"/>
                </a:solidFill>
                <a:latin typeface="Calibri"/>
                <a:cs typeface="Calibri"/>
              </a:rPr>
              <a:t>	</a:t>
            </a:r>
            <a:r>
              <a:rPr lang="en-IN" sz="1867" b="1" dirty="0">
                <a:solidFill>
                  <a:srgbClr val="66DBFF"/>
                </a:solidFill>
                <a:latin typeface="Calibri"/>
                <a:cs typeface="Calibri"/>
              </a:rPr>
              <a:t>Product</a:t>
            </a:r>
            <a:r>
              <a:rPr sz="1867" b="1" spc="-47" dirty="0">
                <a:solidFill>
                  <a:srgbClr val="66DBFF"/>
                </a:solidFill>
                <a:latin typeface="Calibri"/>
                <a:cs typeface="Calibri"/>
              </a:rPr>
              <a:t> </a:t>
            </a:r>
            <a:r>
              <a:rPr sz="1867" b="1" spc="-33" dirty="0">
                <a:solidFill>
                  <a:srgbClr val="66DBFF"/>
                </a:solidFill>
                <a:latin typeface="Calibri"/>
                <a:cs typeface="Calibri"/>
              </a:rPr>
              <a:t>FK</a:t>
            </a:r>
            <a:r>
              <a:rPr sz="1867" b="1" dirty="0">
                <a:solidFill>
                  <a:srgbClr val="66DBFF"/>
                </a:solidFill>
                <a:latin typeface="Calibri"/>
                <a:cs typeface="Calibri"/>
              </a:rPr>
              <a:t>	Date</a:t>
            </a:r>
            <a:r>
              <a:rPr sz="1867" b="1" spc="-47" dirty="0">
                <a:solidFill>
                  <a:srgbClr val="66DBFF"/>
                </a:solidFill>
                <a:latin typeface="Calibri"/>
                <a:cs typeface="Calibri"/>
              </a:rPr>
              <a:t> </a:t>
            </a:r>
            <a:r>
              <a:rPr sz="1867" b="1" spc="-33" dirty="0">
                <a:solidFill>
                  <a:srgbClr val="66DBFF"/>
                </a:solidFill>
                <a:latin typeface="Calibri"/>
                <a:cs typeface="Calibri"/>
              </a:rPr>
              <a:t>FK</a:t>
            </a:r>
            <a:r>
              <a:rPr sz="1867" b="1" dirty="0">
                <a:solidFill>
                  <a:srgbClr val="66DBFF"/>
                </a:solidFill>
                <a:latin typeface="Calibri"/>
                <a:cs typeface="Calibri"/>
              </a:rPr>
              <a:t>	Date</a:t>
            </a:r>
            <a:r>
              <a:rPr sz="1867" b="1" spc="-47" dirty="0">
                <a:solidFill>
                  <a:srgbClr val="66DBFF"/>
                </a:solidFill>
                <a:latin typeface="Calibri"/>
                <a:cs typeface="Calibri"/>
              </a:rPr>
              <a:t> </a:t>
            </a:r>
            <a:r>
              <a:rPr sz="1867" b="1" spc="-33" dirty="0">
                <a:solidFill>
                  <a:srgbClr val="66DBFF"/>
                </a:solidFill>
                <a:latin typeface="Calibri"/>
                <a:cs typeface="Calibri"/>
              </a:rPr>
              <a:t>FK</a:t>
            </a:r>
            <a:r>
              <a:rPr sz="1867" b="1" dirty="0">
                <a:solidFill>
                  <a:srgbClr val="66DBFF"/>
                </a:solidFill>
                <a:latin typeface="Calibri"/>
                <a:cs typeface="Calibri"/>
              </a:rPr>
              <a:t>	Date</a:t>
            </a:r>
            <a:r>
              <a:rPr sz="1867" b="1" spc="-47" dirty="0">
                <a:solidFill>
                  <a:srgbClr val="66DBFF"/>
                </a:solidFill>
                <a:latin typeface="Calibri"/>
                <a:cs typeface="Calibri"/>
              </a:rPr>
              <a:t> </a:t>
            </a:r>
            <a:r>
              <a:rPr sz="1867" b="1" spc="-33" dirty="0">
                <a:solidFill>
                  <a:srgbClr val="66DBFF"/>
                </a:solidFill>
                <a:latin typeface="Calibri"/>
                <a:cs typeface="Calibri"/>
              </a:rPr>
              <a:t>FK</a:t>
            </a:r>
            <a:r>
              <a:rPr sz="1867" b="1" dirty="0">
                <a:solidFill>
                  <a:srgbClr val="66DBFF"/>
                </a:solidFill>
                <a:latin typeface="Calibri"/>
                <a:cs typeface="Calibri"/>
              </a:rPr>
              <a:t>	Date</a:t>
            </a:r>
            <a:r>
              <a:rPr sz="1867" b="1" spc="-47" dirty="0">
                <a:solidFill>
                  <a:srgbClr val="66DBFF"/>
                </a:solidFill>
                <a:latin typeface="Calibri"/>
                <a:cs typeface="Calibri"/>
              </a:rPr>
              <a:t> </a:t>
            </a:r>
            <a:r>
              <a:rPr sz="1867" b="1" dirty="0">
                <a:solidFill>
                  <a:srgbClr val="66DBFF"/>
                </a:solidFill>
                <a:latin typeface="Calibri"/>
                <a:cs typeface="Calibri"/>
              </a:rPr>
              <a:t>FK</a:t>
            </a:r>
            <a:r>
              <a:rPr sz="1867" b="1" spc="607" dirty="0">
                <a:solidFill>
                  <a:srgbClr val="66DBFF"/>
                </a:solidFill>
                <a:latin typeface="Calibri"/>
                <a:cs typeface="Calibri"/>
              </a:rPr>
              <a:t> </a:t>
            </a:r>
            <a:r>
              <a:rPr sz="1867" b="1" spc="-13" dirty="0">
                <a:solidFill>
                  <a:srgbClr val="FFFFFF"/>
                </a:solidFill>
                <a:latin typeface="Calibri"/>
                <a:cs typeface="Calibri"/>
              </a:rPr>
              <a:t>Measure</a:t>
            </a:r>
            <a:endParaRPr sz="1867" dirty="0">
              <a:latin typeface="Calibri"/>
              <a:cs typeface="Calibri"/>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57807" y="2279903"/>
            <a:ext cx="9930384" cy="1702816"/>
          </a:xfrm>
          <a:prstGeom prst="rect">
            <a:avLst/>
          </a:prstGeom>
        </p:spPr>
      </p:pic>
      <p:sp>
        <p:nvSpPr>
          <p:cNvPr id="3" name="object 3"/>
          <p:cNvSpPr txBox="1">
            <a:spLocks noGrp="1"/>
          </p:cNvSpPr>
          <p:nvPr>
            <p:ph type="title"/>
          </p:nvPr>
        </p:nvSpPr>
        <p:spPr>
          <a:xfrm>
            <a:off x="1320800" y="2579973"/>
            <a:ext cx="9811173" cy="1048150"/>
          </a:xfrm>
          <a:prstGeom prst="rect">
            <a:avLst/>
          </a:prstGeom>
          <a:noFill/>
          <a:ln w="9144">
            <a:noFill/>
          </a:ln>
        </p:spPr>
        <p:txBody>
          <a:bodyPr vert="horz" wrap="square" lIns="0" tIns="306493" rIns="0" bIns="0" rtlCol="0" anchor="ctr">
            <a:spAutoFit/>
          </a:bodyPr>
          <a:lstStyle/>
          <a:p>
            <a:pPr algn="ctr">
              <a:lnSpc>
                <a:spcPct val="100000"/>
              </a:lnSpc>
              <a:spcBef>
                <a:spcPts val="2413"/>
              </a:spcBef>
            </a:pPr>
            <a:r>
              <a:rPr sz="4800" dirty="0">
                <a:solidFill>
                  <a:schemeClr val="bg1"/>
                </a:solidFill>
                <a:latin typeface="+mn-lt"/>
              </a:rPr>
              <a:t>Types</a:t>
            </a:r>
            <a:r>
              <a:rPr sz="4800" spc="-47" dirty="0">
                <a:solidFill>
                  <a:schemeClr val="bg1"/>
                </a:solidFill>
                <a:latin typeface="+mn-lt"/>
              </a:rPr>
              <a:t> </a:t>
            </a:r>
            <a:r>
              <a:rPr sz="4800" dirty="0">
                <a:solidFill>
                  <a:schemeClr val="bg1"/>
                </a:solidFill>
                <a:latin typeface="+mn-lt"/>
              </a:rPr>
              <a:t>of</a:t>
            </a:r>
            <a:r>
              <a:rPr sz="4800" spc="-33" dirty="0">
                <a:solidFill>
                  <a:schemeClr val="bg1"/>
                </a:solidFill>
                <a:latin typeface="+mn-lt"/>
              </a:rPr>
              <a:t> </a:t>
            </a:r>
            <a:r>
              <a:rPr sz="4800" dirty="0">
                <a:solidFill>
                  <a:schemeClr val="bg1"/>
                </a:solidFill>
                <a:latin typeface="+mn-lt"/>
              </a:rPr>
              <a:t>fact</a:t>
            </a:r>
            <a:r>
              <a:rPr sz="4800" spc="-33" dirty="0">
                <a:solidFill>
                  <a:schemeClr val="bg1"/>
                </a:solidFill>
                <a:latin typeface="+mn-lt"/>
              </a:rPr>
              <a:t> </a:t>
            </a:r>
            <a:r>
              <a:rPr sz="4800" spc="-13" dirty="0">
                <a:solidFill>
                  <a:schemeClr val="bg1"/>
                </a:solidFill>
                <a:latin typeface="+mn-lt"/>
              </a:rPr>
              <a:t>tables</a:t>
            </a:r>
            <a:endParaRPr sz="4800" dirty="0">
              <a:solidFill>
                <a:schemeClr val="bg1"/>
              </a:solidFill>
              <a:latin typeface="+mn-lt"/>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47496" y="552730"/>
            <a:ext cx="5285955"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Types</a:t>
            </a:r>
            <a:r>
              <a:rPr spc="-27" dirty="0">
                <a:solidFill>
                  <a:schemeClr val="bg1"/>
                </a:solidFill>
                <a:latin typeface="+mn-lt"/>
              </a:rPr>
              <a:t> </a:t>
            </a:r>
            <a:r>
              <a:rPr dirty="0">
                <a:solidFill>
                  <a:schemeClr val="bg1"/>
                </a:solidFill>
                <a:latin typeface="+mn-lt"/>
              </a:rPr>
              <a:t>of</a:t>
            </a:r>
            <a:r>
              <a:rPr spc="-13" dirty="0">
                <a:solidFill>
                  <a:schemeClr val="bg1"/>
                </a:solidFill>
                <a:latin typeface="+mn-lt"/>
              </a:rPr>
              <a:t> </a:t>
            </a:r>
            <a:r>
              <a:rPr dirty="0">
                <a:solidFill>
                  <a:schemeClr val="bg1"/>
                </a:solidFill>
                <a:latin typeface="+mn-lt"/>
              </a:rPr>
              <a:t>fact</a:t>
            </a:r>
            <a:r>
              <a:rPr spc="-27" dirty="0">
                <a:solidFill>
                  <a:schemeClr val="bg1"/>
                </a:solidFill>
                <a:latin typeface="+mn-lt"/>
              </a:rPr>
              <a:t> </a:t>
            </a:r>
            <a:r>
              <a:rPr spc="-13" dirty="0">
                <a:solidFill>
                  <a:schemeClr val="bg1"/>
                </a:solidFill>
                <a:latin typeface="+mn-lt"/>
              </a:rPr>
              <a:t>tables</a:t>
            </a:r>
          </a:p>
        </p:txBody>
      </p:sp>
      <p:pic>
        <p:nvPicPr>
          <p:cNvPr id="3" name="object 3"/>
          <p:cNvPicPr/>
          <p:nvPr/>
        </p:nvPicPr>
        <p:blipFill>
          <a:blip r:embed="rId2" cstate="print"/>
          <a:stretch>
            <a:fillRect/>
          </a:stretch>
        </p:blipFill>
        <p:spPr>
          <a:xfrm>
            <a:off x="924559" y="1662177"/>
            <a:ext cx="10196576" cy="3588511"/>
          </a:xfrm>
          <a:prstGeom prst="rect">
            <a:avLst/>
          </a:prstGeom>
        </p:spPr>
      </p:pic>
      <p:grpSp>
        <p:nvGrpSpPr>
          <p:cNvPr id="4" name="object 4"/>
          <p:cNvGrpSpPr/>
          <p:nvPr/>
        </p:nvGrpSpPr>
        <p:grpSpPr>
          <a:xfrm>
            <a:off x="988670" y="1698414"/>
            <a:ext cx="10059245" cy="3461173"/>
            <a:chOff x="741502" y="1273810"/>
            <a:chExt cx="7544434" cy="2595880"/>
          </a:xfrm>
        </p:grpSpPr>
        <p:pic>
          <p:nvPicPr>
            <p:cNvPr id="5" name="object 5"/>
            <p:cNvPicPr/>
            <p:nvPr/>
          </p:nvPicPr>
          <p:blipFill>
            <a:blip r:embed="rId3" cstate="print"/>
            <a:stretch>
              <a:fillRect/>
            </a:stretch>
          </p:blipFill>
          <p:spPr>
            <a:xfrm>
              <a:off x="741502" y="1273810"/>
              <a:ext cx="7543800" cy="2595372"/>
            </a:xfrm>
            <a:prstGeom prst="rect">
              <a:avLst/>
            </a:prstGeom>
          </p:spPr>
        </p:pic>
        <p:sp>
          <p:nvSpPr>
            <p:cNvPr id="6" name="object 6"/>
            <p:cNvSpPr/>
            <p:nvPr/>
          </p:nvSpPr>
          <p:spPr>
            <a:xfrm>
              <a:off x="741502" y="1273809"/>
              <a:ext cx="7544434" cy="370840"/>
            </a:xfrm>
            <a:custGeom>
              <a:avLst/>
              <a:gdLst/>
              <a:ahLst/>
              <a:cxnLst/>
              <a:rect l="l" t="t" r="r" b="b"/>
              <a:pathLst>
                <a:path w="7544434" h="370839">
                  <a:moveTo>
                    <a:pt x="3657523" y="0"/>
                  </a:moveTo>
                  <a:lnTo>
                    <a:pt x="1616583" y="0"/>
                  </a:lnTo>
                  <a:lnTo>
                    <a:pt x="0" y="0"/>
                  </a:lnTo>
                  <a:lnTo>
                    <a:pt x="0" y="370840"/>
                  </a:lnTo>
                  <a:lnTo>
                    <a:pt x="1616506" y="370840"/>
                  </a:lnTo>
                  <a:lnTo>
                    <a:pt x="3657523" y="370840"/>
                  </a:lnTo>
                  <a:lnTo>
                    <a:pt x="3657523" y="0"/>
                  </a:lnTo>
                  <a:close/>
                </a:path>
                <a:path w="7544434" h="370839">
                  <a:moveTo>
                    <a:pt x="7543851" y="0"/>
                  </a:moveTo>
                  <a:lnTo>
                    <a:pt x="5638851" y="0"/>
                  </a:lnTo>
                  <a:lnTo>
                    <a:pt x="3657650" y="0"/>
                  </a:lnTo>
                  <a:lnTo>
                    <a:pt x="3657650" y="370840"/>
                  </a:lnTo>
                  <a:lnTo>
                    <a:pt x="5638851" y="370840"/>
                  </a:lnTo>
                  <a:lnTo>
                    <a:pt x="7543851" y="370840"/>
                  </a:lnTo>
                  <a:lnTo>
                    <a:pt x="7543851" y="0"/>
                  </a:lnTo>
                  <a:close/>
                </a:path>
              </a:pathLst>
            </a:custGeom>
            <a:solidFill>
              <a:srgbClr val="383838"/>
            </a:solidFill>
          </p:spPr>
          <p:txBody>
            <a:bodyPr wrap="square" lIns="0" tIns="0" rIns="0" bIns="0" rtlCol="0"/>
            <a:lstStyle/>
            <a:p>
              <a:endParaRPr sz="2400"/>
            </a:p>
          </p:txBody>
        </p:sp>
        <p:pic>
          <p:nvPicPr>
            <p:cNvPr id="7" name="object 7"/>
            <p:cNvPicPr/>
            <p:nvPr/>
          </p:nvPicPr>
          <p:blipFill>
            <a:blip r:embed="rId4" cstate="print"/>
            <a:stretch>
              <a:fillRect/>
            </a:stretch>
          </p:blipFill>
          <p:spPr>
            <a:xfrm>
              <a:off x="807720" y="1331988"/>
              <a:ext cx="494550" cy="305549"/>
            </a:xfrm>
            <a:prstGeom prst="rect">
              <a:avLst/>
            </a:prstGeom>
          </p:spPr>
        </p:pic>
        <p:pic>
          <p:nvPicPr>
            <p:cNvPr id="8" name="object 8"/>
            <p:cNvPicPr/>
            <p:nvPr/>
          </p:nvPicPr>
          <p:blipFill>
            <a:blip r:embed="rId5" cstate="print"/>
            <a:stretch>
              <a:fillRect/>
            </a:stretch>
          </p:blipFill>
          <p:spPr>
            <a:xfrm>
              <a:off x="2424683" y="1331988"/>
              <a:ext cx="1055370" cy="305549"/>
            </a:xfrm>
            <a:prstGeom prst="rect">
              <a:avLst/>
            </a:prstGeom>
          </p:spPr>
        </p:pic>
        <p:pic>
          <p:nvPicPr>
            <p:cNvPr id="9" name="object 9"/>
            <p:cNvPicPr/>
            <p:nvPr/>
          </p:nvPicPr>
          <p:blipFill>
            <a:blip r:embed="rId6" cstate="print"/>
            <a:stretch>
              <a:fillRect/>
            </a:stretch>
          </p:blipFill>
          <p:spPr>
            <a:xfrm>
              <a:off x="4465319" y="1331988"/>
              <a:ext cx="1355598" cy="305549"/>
            </a:xfrm>
            <a:prstGeom prst="rect">
              <a:avLst/>
            </a:prstGeom>
          </p:spPr>
        </p:pic>
        <p:pic>
          <p:nvPicPr>
            <p:cNvPr id="10" name="object 10"/>
            <p:cNvPicPr/>
            <p:nvPr/>
          </p:nvPicPr>
          <p:blipFill>
            <a:blip r:embed="rId7" cstate="print"/>
            <a:stretch>
              <a:fillRect/>
            </a:stretch>
          </p:blipFill>
          <p:spPr>
            <a:xfrm>
              <a:off x="6446519" y="1331988"/>
              <a:ext cx="1712214" cy="305549"/>
            </a:xfrm>
            <a:prstGeom prst="rect">
              <a:avLst/>
            </a:prstGeom>
          </p:spPr>
        </p:pic>
      </p:grpSp>
      <p:graphicFrame>
        <p:nvGraphicFramePr>
          <p:cNvPr id="11" name="object 11"/>
          <p:cNvGraphicFramePr>
            <a:graphicFrameLocks noGrp="1"/>
          </p:cNvGraphicFramePr>
          <p:nvPr/>
        </p:nvGraphicFramePr>
        <p:xfrm>
          <a:off x="982320" y="1692064"/>
          <a:ext cx="10060940" cy="3458633"/>
        </p:xfrm>
        <a:graphic>
          <a:graphicData uri="http://schemas.openxmlformats.org/drawingml/2006/table">
            <a:tbl>
              <a:tblPr firstRow="1" bandRow="1">
                <a:tableStyleId>{2D5ABB26-0587-4C30-8999-92F81FD0307C}</a:tableStyleId>
              </a:tblPr>
              <a:tblGrid>
                <a:gridCol w="2155613">
                  <a:extLst>
                    <a:ext uri="{9D8B030D-6E8A-4147-A177-3AD203B41FA5}">
                      <a16:colId xmlns:a16="http://schemas.microsoft.com/office/drawing/2014/main" val="20000"/>
                    </a:ext>
                  </a:extLst>
                </a:gridCol>
                <a:gridCol w="2722033">
                  <a:extLst>
                    <a:ext uri="{9D8B030D-6E8A-4147-A177-3AD203B41FA5}">
                      <a16:colId xmlns:a16="http://schemas.microsoft.com/office/drawing/2014/main" val="20001"/>
                    </a:ext>
                  </a:extLst>
                </a:gridCol>
                <a:gridCol w="2642447">
                  <a:extLst>
                    <a:ext uri="{9D8B030D-6E8A-4147-A177-3AD203B41FA5}">
                      <a16:colId xmlns:a16="http://schemas.microsoft.com/office/drawing/2014/main" val="20002"/>
                    </a:ext>
                  </a:extLst>
                </a:gridCol>
                <a:gridCol w="2540847">
                  <a:extLst>
                    <a:ext uri="{9D8B030D-6E8A-4147-A177-3AD203B41FA5}">
                      <a16:colId xmlns:a16="http://schemas.microsoft.com/office/drawing/2014/main" val="20003"/>
                    </a:ext>
                  </a:extLst>
                </a:gridCol>
              </a:tblGrid>
              <a:tr h="494453">
                <a:tc>
                  <a:txBody>
                    <a:bodyPr/>
                    <a:lstStyle/>
                    <a:p>
                      <a:pPr marL="152400">
                        <a:lnSpc>
                          <a:spcPct val="100000"/>
                        </a:lnSpc>
                        <a:spcBef>
                          <a:spcPts val="775"/>
                        </a:spcBef>
                      </a:pPr>
                      <a:r>
                        <a:rPr sz="1400" b="1" spc="-20" dirty="0">
                          <a:solidFill>
                            <a:srgbClr val="FFFFFF"/>
                          </a:solidFill>
                          <a:latin typeface="Arial"/>
                          <a:cs typeface="Arial"/>
                        </a:rPr>
                        <a:t>Type</a:t>
                      </a:r>
                      <a:endParaRPr sz="1400">
                        <a:latin typeface="Arial"/>
                        <a:cs typeface="Arial"/>
                      </a:endParaRPr>
                    </a:p>
                  </a:txBody>
                  <a:tcPr marL="0" marR="0" marT="131233" marB="0">
                    <a:lnL w="9525">
                      <a:solidFill>
                        <a:srgbClr val="373737"/>
                      </a:solidFill>
                      <a:prstDash val="solid"/>
                    </a:lnL>
                    <a:lnB w="28575">
                      <a:solidFill>
                        <a:srgbClr val="FFFFFF"/>
                      </a:solidFill>
                      <a:prstDash val="solid"/>
                    </a:lnB>
                  </a:tcPr>
                </a:tc>
                <a:tc>
                  <a:txBody>
                    <a:bodyPr/>
                    <a:lstStyle/>
                    <a:p>
                      <a:pPr marL="152400">
                        <a:lnSpc>
                          <a:spcPct val="100000"/>
                        </a:lnSpc>
                        <a:spcBef>
                          <a:spcPts val="775"/>
                        </a:spcBef>
                      </a:pPr>
                      <a:r>
                        <a:rPr sz="1400" b="1" spc="-10" dirty="0">
                          <a:solidFill>
                            <a:srgbClr val="FFFFFF"/>
                          </a:solidFill>
                          <a:latin typeface="Arial"/>
                          <a:cs typeface="Arial"/>
                        </a:rPr>
                        <a:t>Transactional</a:t>
                      </a:r>
                      <a:endParaRPr sz="1400">
                        <a:latin typeface="Arial"/>
                        <a:cs typeface="Arial"/>
                      </a:endParaRPr>
                    </a:p>
                  </a:txBody>
                  <a:tcPr marL="0" marR="0" marT="131233" marB="0">
                    <a:lnB w="28575">
                      <a:solidFill>
                        <a:srgbClr val="FFFFFF"/>
                      </a:solidFill>
                      <a:prstDash val="solid"/>
                    </a:lnB>
                  </a:tcPr>
                </a:tc>
                <a:tc>
                  <a:txBody>
                    <a:bodyPr/>
                    <a:lstStyle/>
                    <a:p>
                      <a:pPr marL="153035">
                        <a:lnSpc>
                          <a:spcPct val="100000"/>
                        </a:lnSpc>
                        <a:spcBef>
                          <a:spcPts val="775"/>
                        </a:spcBef>
                      </a:pPr>
                      <a:r>
                        <a:rPr sz="1400" b="1" dirty="0">
                          <a:solidFill>
                            <a:srgbClr val="FFFFFF"/>
                          </a:solidFill>
                          <a:latin typeface="Arial"/>
                          <a:cs typeface="Arial"/>
                        </a:rPr>
                        <a:t>Periodic</a:t>
                      </a:r>
                      <a:r>
                        <a:rPr sz="1400" b="1" spc="-40" dirty="0">
                          <a:solidFill>
                            <a:srgbClr val="FFFFFF"/>
                          </a:solidFill>
                          <a:latin typeface="Arial"/>
                          <a:cs typeface="Arial"/>
                        </a:rPr>
                        <a:t> </a:t>
                      </a:r>
                      <a:r>
                        <a:rPr sz="1400" b="1" spc="-10" dirty="0">
                          <a:solidFill>
                            <a:srgbClr val="FFFFFF"/>
                          </a:solidFill>
                          <a:latin typeface="Arial"/>
                          <a:cs typeface="Arial"/>
                        </a:rPr>
                        <a:t>Snapshot</a:t>
                      </a:r>
                      <a:endParaRPr sz="1400">
                        <a:latin typeface="Arial"/>
                        <a:cs typeface="Arial"/>
                      </a:endParaRPr>
                    </a:p>
                  </a:txBody>
                  <a:tcPr marL="0" marR="0" marT="131233" marB="0">
                    <a:lnB w="28575">
                      <a:solidFill>
                        <a:srgbClr val="FFFFFF"/>
                      </a:solidFill>
                      <a:prstDash val="solid"/>
                    </a:lnB>
                  </a:tcPr>
                </a:tc>
                <a:tc>
                  <a:txBody>
                    <a:bodyPr/>
                    <a:lstStyle/>
                    <a:p>
                      <a:pPr marL="153035">
                        <a:lnSpc>
                          <a:spcPct val="100000"/>
                        </a:lnSpc>
                        <a:spcBef>
                          <a:spcPts val="775"/>
                        </a:spcBef>
                      </a:pPr>
                      <a:r>
                        <a:rPr sz="1400" b="1" dirty="0">
                          <a:solidFill>
                            <a:srgbClr val="FFFFFF"/>
                          </a:solidFill>
                          <a:latin typeface="Arial"/>
                          <a:cs typeface="Arial"/>
                        </a:rPr>
                        <a:t>Accumulating</a:t>
                      </a:r>
                      <a:r>
                        <a:rPr sz="1400" b="1" spc="-65" dirty="0">
                          <a:solidFill>
                            <a:srgbClr val="FFFFFF"/>
                          </a:solidFill>
                          <a:latin typeface="Arial"/>
                          <a:cs typeface="Arial"/>
                        </a:rPr>
                        <a:t> </a:t>
                      </a:r>
                      <a:r>
                        <a:rPr sz="1400" b="1" spc="-10" dirty="0">
                          <a:solidFill>
                            <a:srgbClr val="FFFFFF"/>
                          </a:solidFill>
                          <a:latin typeface="Arial"/>
                          <a:cs typeface="Arial"/>
                        </a:rPr>
                        <a:t>Snapshot</a:t>
                      </a:r>
                      <a:endParaRPr sz="1400">
                        <a:latin typeface="Arial"/>
                        <a:cs typeface="Arial"/>
                      </a:endParaRPr>
                    </a:p>
                  </a:txBody>
                  <a:tcPr marL="0" marR="0" marT="131233" marB="0">
                    <a:lnR w="9525">
                      <a:solidFill>
                        <a:srgbClr val="373737"/>
                      </a:solidFill>
                      <a:prstDash val="solid"/>
                    </a:lnR>
                    <a:lnB w="28575">
                      <a:solidFill>
                        <a:srgbClr val="FFFFFF"/>
                      </a:solidFill>
                      <a:prstDash val="solid"/>
                    </a:lnB>
                  </a:tcPr>
                </a:tc>
                <a:extLst>
                  <a:ext uri="{0D108BD9-81ED-4DB2-BD59-A6C34878D82A}">
                    <a16:rowId xmlns:a16="http://schemas.microsoft.com/office/drawing/2014/main" val="10000"/>
                  </a:ext>
                </a:extLst>
              </a:tr>
              <a:tr h="493607">
                <a:tc>
                  <a:txBody>
                    <a:bodyPr/>
                    <a:lstStyle/>
                    <a:p>
                      <a:pPr marL="152400">
                        <a:lnSpc>
                          <a:spcPct val="100000"/>
                        </a:lnSpc>
                        <a:spcBef>
                          <a:spcPts val="765"/>
                        </a:spcBef>
                      </a:pPr>
                      <a:r>
                        <a:rPr sz="1300" b="1" spc="-10" dirty="0">
                          <a:latin typeface="Arial"/>
                          <a:cs typeface="Arial"/>
                        </a:rPr>
                        <a:t>Grain</a:t>
                      </a:r>
                      <a:endParaRPr sz="1300">
                        <a:latin typeface="Arial"/>
                        <a:cs typeface="Arial"/>
                      </a:endParaRPr>
                    </a:p>
                  </a:txBody>
                  <a:tcPr marL="0" marR="0" marT="129540" marB="0">
                    <a:lnL w="9525">
                      <a:solidFill>
                        <a:srgbClr val="373737"/>
                      </a:solidFill>
                      <a:prstDash val="solid"/>
                    </a:lnL>
                    <a:lnR w="9525">
                      <a:solidFill>
                        <a:srgbClr val="373737"/>
                      </a:solidFill>
                      <a:prstDash val="solid"/>
                    </a:lnR>
                    <a:lnT w="28575">
                      <a:solidFill>
                        <a:srgbClr val="FFFFFF"/>
                      </a:solidFill>
                      <a:prstDash val="solid"/>
                    </a:lnT>
                    <a:lnB w="9525">
                      <a:solidFill>
                        <a:srgbClr val="373737"/>
                      </a:solidFill>
                      <a:prstDash val="solid"/>
                    </a:lnB>
                    <a:solidFill>
                      <a:srgbClr val="383838">
                        <a:alpha val="39999"/>
                      </a:srgbClr>
                    </a:solidFill>
                  </a:tcPr>
                </a:tc>
                <a:tc>
                  <a:txBody>
                    <a:bodyPr/>
                    <a:lstStyle/>
                    <a:p>
                      <a:pPr>
                        <a:lnSpc>
                          <a:spcPct val="100000"/>
                        </a:lnSpc>
                      </a:pPr>
                      <a:endParaRPr sz="1700">
                        <a:latin typeface="Times New Roman"/>
                        <a:cs typeface="Times New Roman"/>
                      </a:endParaRPr>
                    </a:p>
                  </a:txBody>
                  <a:tcPr marL="0" marR="0" marT="0" marB="0">
                    <a:lnL w="9525">
                      <a:solidFill>
                        <a:srgbClr val="373737"/>
                      </a:solidFill>
                      <a:prstDash val="solid"/>
                    </a:lnL>
                    <a:lnR w="9525">
                      <a:solidFill>
                        <a:srgbClr val="373737"/>
                      </a:solidFill>
                      <a:prstDash val="solid"/>
                    </a:lnR>
                    <a:lnT w="28575">
                      <a:solidFill>
                        <a:srgbClr val="FFFFFF"/>
                      </a:solidFill>
                      <a:prstDash val="solid"/>
                    </a:lnT>
                    <a:lnB w="9525">
                      <a:solidFill>
                        <a:srgbClr val="373737"/>
                      </a:solidFill>
                      <a:prstDash val="solid"/>
                    </a:lnB>
                    <a:solidFill>
                      <a:srgbClr val="383838">
                        <a:alpha val="39999"/>
                      </a:srgbClr>
                    </a:solidFill>
                  </a:tcPr>
                </a:tc>
                <a:tc>
                  <a:txBody>
                    <a:bodyPr/>
                    <a:lstStyle/>
                    <a:p>
                      <a:pPr>
                        <a:lnSpc>
                          <a:spcPct val="100000"/>
                        </a:lnSpc>
                      </a:pPr>
                      <a:endParaRPr sz="1700">
                        <a:latin typeface="Times New Roman"/>
                        <a:cs typeface="Times New Roman"/>
                      </a:endParaRPr>
                    </a:p>
                  </a:txBody>
                  <a:tcPr marL="0" marR="0" marT="0" marB="0">
                    <a:lnL w="9525">
                      <a:solidFill>
                        <a:srgbClr val="373737"/>
                      </a:solidFill>
                      <a:prstDash val="solid"/>
                    </a:lnL>
                    <a:lnR w="9525">
                      <a:solidFill>
                        <a:srgbClr val="373737"/>
                      </a:solidFill>
                      <a:prstDash val="solid"/>
                    </a:lnR>
                    <a:lnT w="28575">
                      <a:solidFill>
                        <a:srgbClr val="FFFFFF"/>
                      </a:solidFill>
                      <a:prstDash val="solid"/>
                    </a:lnT>
                    <a:lnB w="9525">
                      <a:solidFill>
                        <a:srgbClr val="373737"/>
                      </a:solidFill>
                      <a:prstDash val="solid"/>
                    </a:lnB>
                    <a:solidFill>
                      <a:srgbClr val="383838">
                        <a:alpha val="39999"/>
                      </a:srgbClr>
                    </a:solidFill>
                  </a:tcPr>
                </a:tc>
                <a:tc>
                  <a:txBody>
                    <a:bodyPr/>
                    <a:lstStyle/>
                    <a:p>
                      <a:pPr>
                        <a:lnSpc>
                          <a:spcPct val="100000"/>
                        </a:lnSpc>
                      </a:pPr>
                      <a:endParaRPr sz="1700">
                        <a:latin typeface="Times New Roman"/>
                        <a:cs typeface="Times New Roman"/>
                      </a:endParaRPr>
                    </a:p>
                  </a:txBody>
                  <a:tcPr marL="0" marR="0" marT="0" marB="0">
                    <a:lnL w="9525">
                      <a:solidFill>
                        <a:srgbClr val="373737"/>
                      </a:solidFill>
                      <a:prstDash val="solid"/>
                    </a:lnL>
                    <a:lnR w="9525">
                      <a:solidFill>
                        <a:srgbClr val="373737"/>
                      </a:solidFill>
                      <a:prstDash val="solid"/>
                    </a:lnR>
                    <a:lnT w="28575">
                      <a:solidFill>
                        <a:srgbClr val="FFFFFF"/>
                      </a:solidFill>
                      <a:prstDash val="solid"/>
                    </a:lnT>
                    <a:lnB w="9525">
                      <a:solidFill>
                        <a:srgbClr val="373737"/>
                      </a:solidFill>
                      <a:prstDash val="solid"/>
                    </a:lnB>
                    <a:solidFill>
                      <a:srgbClr val="383838">
                        <a:alpha val="39999"/>
                      </a:srgbClr>
                    </a:solidFill>
                  </a:tcPr>
                </a:tc>
                <a:extLst>
                  <a:ext uri="{0D108BD9-81ED-4DB2-BD59-A6C34878D82A}">
                    <a16:rowId xmlns:a16="http://schemas.microsoft.com/office/drawing/2014/main" val="10001"/>
                  </a:ext>
                </a:extLst>
              </a:tr>
              <a:tr h="494453">
                <a:tc>
                  <a:txBody>
                    <a:bodyPr/>
                    <a:lstStyle/>
                    <a:p>
                      <a:pPr marL="152400">
                        <a:lnSpc>
                          <a:spcPct val="100000"/>
                        </a:lnSpc>
                        <a:spcBef>
                          <a:spcPts val="765"/>
                        </a:spcBef>
                      </a:pPr>
                      <a:r>
                        <a:rPr sz="1300" b="1" dirty="0">
                          <a:latin typeface="Arial"/>
                          <a:cs typeface="Arial"/>
                        </a:rPr>
                        <a:t>Date</a:t>
                      </a:r>
                      <a:r>
                        <a:rPr sz="1300" b="1" spc="-25" dirty="0">
                          <a:latin typeface="Arial"/>
                          <a:cs typeface="Arial"/>
                        </a:rPr>
                        <a:t> </a:t>
                      </a:r>
                      <a:r>
                        <a:rPr sz="1300" b="1" spc="-10" dirty="0">
                          <a:latin typeface="Arial"/>
                          <a:cs typeface="Arial"/>
                        </a:rPr>
                        <a:t>Dimensions</a:t>
                      </a:r>
                      <a:endParaRPr sz="1300">
                        <a:latin typeface="Arial"/>
                        <a:cs typeface="Arial"/>
                      </a:endParaRPr>
                    </a:p>
                  </a:txBody>
                  <a:tcPr marL="0" marR="0" marT="129540" marB="0">
                    <a:lnL w="9525">
                      <a:solidFill>
                        <a:srgbClr val="373737"/>
                      </a:solidFill>
                      <a:prstDash val="solid"/>
                    </a:lnL>
                    <a:lnR w="9525">
                      <a:solidFill>
                        <a:srgbClr val="373737"/>
                      </a:solidFill>
                      <a:prstDash val="solid"/>
                    </a:lnR>
                    <a:lnT w="9525">
                      <a:solidFill>
                        <a:srgbClr val="373737"/>
                      </a:solidFill>
                      <a:prstDash val="solid"/>
                    </a:lnT>
                    <a:lnB w="9525">
                      <a:solidFill>
                        <a:srgbClr val="373737"/>
                      </a:solidFill>
                      <a:prstDash val="solid"/>
                    </a:lnB>
                  </a:tcPr>
                </a:tc>
                <a:tc>
                  <a:txBody>
                    <a:bodyPr/>
                    <a:lstStyle/>
                    <a:p>
                      <a:pPr>
                        <a:lnSpc>
                          <a:spcPct val="100000"/>
                        </a:lnSpc>
                      </a:pPr>
                      <a:endParaRPr sz="1700">
                        <a:latin typeface="Times New Roman"/>
                        <a:cs typeface="Times New Roman"/>
                      </a:endParaRPr>
                    </a:p>
                  </a:txBody>
                  <a:tcPr marL="0" marR="0" marT="0" marB="0">
                    <a:lnL w="9525">
                      <a:solidFill>
                        <a:srgbClr val="373737"/>
                      </a:solidFill>
                      <a:prstDash val="solid"/>
                    </a:lnL>
                    <a:lnR w="9525">
                      <a:solidFill>
                        <a:srgbClr val="373737"/>
                      </a:solidFill>
                      <a:prstDash val="solid"/>
                    </a:lnR>
                    <a:lnT w="9525">
                      <a:solidFill>
                        <a:srgbClr val="373737"/>
                      </a:solidFill>
                      <a:prstDash val="solid"/>
                    </a:lnT>
                    <a:lnB w="9525">
                      <a:solidFill>
                        <a:srgbClr val="373737"/>
                      </a:solidFill>
                      <a:prstDash val="solid"/>
                    </a:lnB>
                  </a:tcPr>
                </a:tc>
                <a:tc>
                  <a:txBody>
                    <a:bodyPr/>
                    <a:lstStyle/>
                    <a:p>
                      <a:pPr>
                        <a:lnSpc>
                          <a:spcPct val="100000"/>
                        </a:lnSpc>
                      </a:pPr>
                      <a:endParaRPr sz="1700">
                        <a:latin typeface="Times New Roman"/>
                        <a:cs typeface="Times New Roman"/>
                      </a:endParaRPr>
                    </a:p>
                  </a:txBody>
                  <a:tcPr marL="0" marR="0" marT="0" marB="0">
                    <a:lnL w="9525">
                      <a:solidFill>
                        <a:srgbClr val="373737"/>
                      </a:solidFill>
                      <a:prstDash val="solid"/>
                    </a:lnL>
                    <a:lnR w="9525">
                      <a:solidFill>
                        <a:srgbClr val="373737"/>
                      </a:solidFill>
                      <a:prstDash val="solid"/>
                    </a:lnR>
                    <a:lnT w="9525">
                      <a:solidFill>
                        <a:srgbClr val="373737"/>
                      </a:solidFill>
                      <a:prstDash val="solid"/>
                    </a:lnT>
                    <a:lnB w="9525">
                      <a:solidFill>
                        <a:srgbClr val="373737"/>
                      </a:solidFill>
                      <a:prstDash val="solid"/>
                    </a:lnB>
                  </a:tcPr>
                </a:tc>
                <a:tc>
                  <a:txBody>
                    <a:bodyPr/>
                    <a:lstStyle/>
                    <a:p>
                      <a:pPr>
                        <a:lnSpc>
                          <a:spcPct val="100000"/>
                        </a:lnSpc>
                      </a:pPr>
                      <a:endParaRPr sz="1700">
                        <a:latin typeface="Times New Roman"/>
                        <a:cs typeface="Times New Roman"/>
                      </a:endParaRPr>
                    </a:p>
                  </a:txBody>
                  <a:tcPr marL="0" marR="0" marT="0" marB="0">
                    <a:lnL w="9525">
                      <a:solidFill>
                        <a:srgbClr val="373737"/>
                      </a:solidFill>
                      <a:prstDash val="solid"/>
                    </a:lnL>
                    <a:lnR w="9525">
                      <a:solidFill>
                        <a:srgbClr val="373737"/>
                      </a:solidFill>
                      <a:prstDash val="solid"/>
                    </a:lnR>
                    <a:lnT w="9525">
                      <a:solidFill>
                        <a:srgbClr val="373737"/>
                      </a:solidFill>
                      <a:prstDash val="solid"/>
                    </a:lnT>
                    <a:lnB w="9525">
                      <a:solidFill>
                        <a:srgbClr val="373737"/>
                      </a:solidFill>
                      <a:prstDash val="solid"/>
                    </a:lnB>
                  </a:tcPr>
                </a:tc>
                <a:extLst>
                  <a:ext uri="{0D108BD9-81ED-4DB2-BD59-A6C34878D82A}">
                    <a16:rowId xmlns:a16="http://schemas.microsoft.com/office/drawing/2014/main" val="10002"/>
                  </a:ext>
                </a:extLst>
              </a:tr>
              <a:tr h="493607">
                <a:tc>
                  <a:txBody>
                    <a:bodyPr/>
                    <a:lstStyle/>
                    <a:p>
                      <a:pPr marL="152400">
                        <a:lnSpc>
                          <a:spcPct val="100000"/>
                        </a:lnSpc>
                        <a:spcBef>
                          <a:spcPts val="765"/>
                        </a:spcBef>
                      </a:pPr>
                      <a:r>
                        <a:rPr sz="1300" b="1" dirty="0">
                          <a:latin typeface="Arial"/>
                          <a:cs typeface="Arial"/>
                        </a:rPr>
                        <a:t>No.</a:t>
                      </a:r>
                      <a:r>
                        <a:rPr sz="1300" b="1" spc="-20" dirty="0">
                          <a:latin typeface="Arial"/>
                          <a:cs typeface="Arial"/>
                        </a:rPr>
                        <a:t> </a:t>
                      </a:r>
                      <a:r>
                        <a:rPr sz="1300" b="1" dirty="0">
                          <a:latin typeface="Arial"/>
                          <a:cs typeface="Arial"/>
                        </a:rPr>
                        <a:t>Of</a:t>
                      </a:r>
                      <a:r>
                        <a:rPr sz="1300" b="1" spc="-15" dirty="0">
                          <a:latin typeface="Arial"/>
                          <a:cs typeface="Arial"/>
                        </a:rPr>
                        <a:t> </a:t>
                      </a:r>
                      <a:r>
                        <a:rPr sz="1300" b="1" spc="-10" dirty="0">
                          <a:latin typeface="Arial"/>
                          <a:cs typeface="Arial"/>
                        </a:rPr>
                        <a:t>dimensions</a:t>
                      </a:r>
                      <a:endParaRPr sz="1300">
                        <a:latin typeface="Arial"/>
                        <a:cs typeface="Arial"/>
                      </a:endParaRPr>
                    </a:p>
                  </a:txBody>
                  <a:tcPr marL="0" marR="0" marT="129540" marB="0">
                    <a:lnL w="9525">
                      <a:solidFill>
                        <a:srgbClr val="373737"/>
                      </a:solidFill>
                      <a:prstDash val="solid"/>
                    </a:lnL>
                    <a:lnR w="9525">
                      <a:solidFill>
                        <a:srgbClr val="373737"/>
                      </a:solidFill>
                      <a:prstDash val="solid"/>
                    </a:lnR>
                    <a:lnT w="9525">
                      <a:solidFill>
                        <a:srgbClr val="373737"/>
                      </a:solidFill>
                      <a:prstDash val="solid"/>
                    </a:lnT>
                    <a:lnB w="9525">
                      <a:solidFill>
                        <a:srgbClr val="373737"/>
                      </a:solidFill>
                      <a:prstDash val="solid"/>
                    </a:lnB>
                    <a:solidFill>
                      <a:srgbClr val="383838">
                        <a:alpha val="39999"/>
                      </a:srgbClr>
                    </a:solidFill>
                  </a:tcPr>
                </a:tc>
                <a:tc>
                  <a:txBody>
                    <a:bodyPr/>
                    <a:lstStyle/>
                    <a:p>
                      <a:pPr>
                        <a:lnSpc>
                          <a:spcPct val="100000"/>
                        </a:lnSpc>
                      </a:pPr>
                      <a:endParaRPr sz="1700">
                        <a:latin typeface="Times New Roman"/>
                        <a:cs typeface="Times New Roman"/>
                      </a:endParaRPr>
                    </a:p>
                  </a:txBody>
                  <a:tcPr marL="0" marR="0" marT="0" marB="0">
                    <a:lnL w="9525">
                      <a:solidFill>
                        <a:srgbClr val="373737"/>
                      </a:solidFill>
                      <a:prstDash val="solid"/>
                    </a:lnL>
                    <a:lnR w="9525">
                      <a:solidFill>
                        <a:srgbClr val="373737"/>
                      </a:solidFill>
                      <a:prstDash val="solid"/>
                    </a:lnR>
                    <a:lnT w="9525">
                      <a:solidFill>
                        <a:srgbClr val="373737"/>
                      </a:solidFill>
                      <a:prstDash val="solid"/>
                    </a:lnT>
                    <a:lnB w="9525">
                      <a:solidFill>
                        <a:srgbClr val="373737"/>
                      </a:solidFill>
                      <a:prstDash val="solid"/>
                    </a:lnB>
                    <a:solidFill>
                      <a:srgbClr val="383838">
                        <a:alpha val="39999"/>
                      </a:srgbClr>
                    </a:solidFill>
                  </a:tcPr>
                </a:tc>
                <a:tc>
                  <a:txBody>
                    <a:bodyPr/>
                    <a:lstStyle/>
                    <a:p>
                      <a:pPr>
                        <a:lnSpc>
                          <a:spcPct val="100000"/>
                        </a:lnSpc>
                      </a:pPr>
                      <a:endParaRPr sz="1700">
                        <a:latin typeface="Times New Roman"/>
                        <a:cs typeface="Times New Roman"/>
                      </a:endParaRPr>
                    </a:p>
                  </a:txBody>
                  <a:tcPr marL="0" marR="0" marT="0" marB="0">
                    <a:lnL w="9525">
                      <a:solidFill>
                        <a:srgbClr val="373737"/>
                      </a:solidFill>
                      <a:prstDash val="solid"/>
                    </a:lnL>
                    <a:lnR w="9525">
                      <a:solidFill>
                        <a:srgbClr val="373737"/>
                      </a:solidFill>
                      <a:prstDash val="solid"/>
                    </a:lnR>
                    <a:lnT w="9525">
                      <a:solidFill>
                        <a:srgbClr val="373737"/>
                      </a:solidFill>
                      <a:prstDash val="solid"/>
                    </a:lnT>
                    <a:lnB w="9525">
                      <a:solidFill>
                        <a:srgbClr val="373737"/>
                      </a:solidFill>
                      <a:prstDash val="solid"/>
                    </a:lnB>
                    <a:solidFill>
                      <a:srgbClr val="383838">
                        <a:alpha val="39999"/>
                      </a:srgbClr>
                    </a:solidFill>
                  </a:tcPr>
                </a:tc>
                <a:tc>
                  <a:txBody>
                    <a:bodyPr/>
                    <a:lstStyle/>
                    <a:p>
                      <a:pPr>
                        <a:lnSpc>
                          <a:spcPct val="100000"/>
                        </a:lnSpc>
                      </a:pPr>
                      <a:endParaRPr sz="1700">
                        <a:latin typeface="Times New Roman"/>
                        <a:cs typeface="Times New Roman"/>
                      </a:endParaRPr>
                    </a:p>
                  </a:txBody>
                  <a:tcPr marL="0" marR="0" marT="0" marB="0">
                    <a:lnL w="9525">
                      <a:solidFill>
                        <a:srgbClr val="373737"/>
                      </a:solidFill>
                      <a:prstDash val="solid"/>
                    </a:lnL>
                    <a:lnR w="9525">
                      <a:solidFill>
                        <a:srgbClr val="373737"/>
                      </a:solidFill>
                      <a:prstDash val="solid"/>
                    </a:lnR>
                    <a:lnT w="9525">
                      <a:solidFill>
                        <a:srgbClr val="373737"/>
                      </a:solidFill>
                      <a:prstDash val="solid"/>
                    </a:lnT>
                    <a:lnB w="9525">
                      <a:solidFill>
                        <a:srgbClr val="373737"/>
                      </a:solidFill>
                      <a:prstDash val="solid"/>
                    </a:lnB>
                    <a:solidFill>
                      <a:srgbClr val="383838">
                        <a:alpha val="39999"/>
                      </a:srgbClr>
                    </a:solidFill>
                  </a:tcPr>
                </a:tc>
                <a:extLst>
                  <a:ext uri="{0D108BD9-81ED-4DB2-BD59-A6C34878D82A}">
                    <a16:rowId xmlns:a16="http://schemas.microsoft.com/office/drawing/2014/main" val="10003"/>
                  </a:ext>
                </a:extLst>
              </a:tr>
              <a:tr h="494453">
                <a:tc>
                  <a:txBody>
                    <a:bodyPr/>
                    <a:lstStyle/>
                    <a:p>
                      <a:pPr marL="152400">
                        <a:lnSpc>
                          <a:spcPct val="100000"/>
                        </a:lnSpc>
                        <a:spcBef>
                          <a:spcPts val="765"/>
                        </a:spcBef>
                      </a:pPr>
                      <a:r>
                        <a:rPr sz="1300" b="1" spc="-10" dirty="0">
                          <a:latin typeface="Arial"/>
                          <a:cs typeface="Arial"/>
                        </a:rPr>
                        <a:t>Facts</a:t>
                      </a:r>
                      <a:endParaRPr sz="1300">
                        <a:latin typeface="Arial"/>
                        <a:cs typeface="Arial"/>
                      </a:endParaRPr>
                    </a:p>
                  </a:txBody>
                  <a:tcPr marL="0" marR="0" marT="129540" marB="0">
                    <a:lnL w="9525">
                      <a:solidFill>
                        <a:srgbClr val="373737"/>
                      </a:solidFill>
                      <a:prstDash val="solid"/>
                    </a:lnL>
                    <a:lnR w="9525">
                      <a:solidFill>
                        <a:srgbClr val="373737"/>
                      </a:solidFill>
                      <a:prstDash val="solid"/>
                    </a:lnR>
                    <a:lnT w="9525">
                      <a:solidFill>
                        <a:srgbClr val="373737"/>
                      </a:solidFill>
                      <a:prstDash val="solid"/>
                    </a:lnT>
                    <a:lnB w="9525">
                      <a:solidFill>
                        <a:srgbClr val="373737"/>
                      </a:solidFill>
                      <a:prstDash val="solid"/>
                    </a:lnB>
                  </a:tcPr>
                </a:tc>
                <a:tc>
                  <a:txBody>
                    <a:bodyPr/>
                    <a:lstStyle/>
                    <a:p>
                      <a:pPr>
                        <a:lnSpc>
                          <a:spcPct val="100000"/>
                        </a:lnSpc>
                      </a:pPr>
                      <a:endParaRPr sz="1700">
                        <a:latin typeface="Times New Roman"/>
                        <a:cs typeface="Times New Roman"/>
                      </a:endParaRPr>
                    </a:p>
                  </a:txBody>
                  <a:tcPr marL="0" marR="0" marT="0" marB="0">
                    <a:lnL w="9525">
                      <a:solidFill>
                        <a:srgbClr val="373737"/>
                      </a:solidFill>
                      <a:prstDash val="solid"/>
                    </a:lnL>
                    <a:lnR w="9525">
                      <a:solidFill>
                        <a:srgbClr val="373737"/>
                      </a:solidFill>
                      <a:prstDash val="solid"/>
                    </a:lnR>
                    <a:lnT w="9525">
                      <a:solidFill>
                        <a:srgbClr val="373737"/>
                      </a:solidFill>
                      <a:prstDash val="solid"/>
                    </a:lnT>
                    <a:lnB w="9525">
                      <a:solidFill>
                        <a:srgbClr val="373737"/>
                      </a:solidFill>
                      <a:prstDash val="solid"/>
                    </a:lnB>
                  </a:tcPr>
                </a:tc>
                <a:tc>
                  <a:txBody>
                    <a:bodyPr/>
                    <a:lstStyle/>
                    <a:p>
                      <a:pPr>
                        <a:lnSpc>
                          <a:spcPct val="100000"/>
                        </a:lnSpc>
                      </a:pPr>
                      <a:endParaRPr sz="1700">
                        <a:latin typeface="Times New Roman"/>
                        <a:cs typeface="Times New Roman"/>
                      </a:endParaRPr>
                    </a:p>
                  </a:txBody>
                  <a:tcPr marL="0" marR="0" marT="0" marB="0">
                    <a:lnL w="9525">
                      <a:solidFill>
                        <a:srgbClr val="373737"/>
                      </a:solidFill>
                      <a:prstDash val="solid"/>
                    </a:lnL>
                    <a:lnR w="9525">
                      <a:solidFill>
                        <a:srgbClr val="373737"/>
                      </a:solidFill>
                      <a:prstDash val="solid"/>
                    </a:lnR>
                    <a:lnT w="9525">
                      <a:solidFill>
                        <a:srgbClr val="373737"/>
                      </a:solidFill>
                      <a:prstDash val="solid"/>
                    </a:lnT>
                    <a:lnB w="9525">
                      <a:solidFill>
                        <a:srgbClr val="373737"/>
                      </a:solidFill>
                      <a:prstDash val="solid"/>
                    </a:lnB>
                  </a:tcPr>
                </a:tc>
                <a:tc>
                  <a:txBody>
                    <a:bodyPr/>
                    <a:lstStyle/>
                    <a:p>
                      <a:pPr>
                        <a:lnSpc>
                          <a:spcPct val="100000"/>
                        </a:lnSpc>
                      </a:pPr>
                      <a:endParaRPr sz="1700">
                        <a:latin typeface="Times New Roman"/>
                        <a:cs typeface="Times New Roman"/>
                      </a:endParaRPr>
                    </a:p>
                  </a:txBody>
                  <a:tcPr marL="0" marR="0" marT="0" marB="0">
                    <a:lnL w="9525">
                      <a:solidFill>
                        <a:srgbClr val="373737"/>
                      </a:solidFill>
                      <a:prstDash val="solid"/>
                    </a:lnL>
                    <a:lnR w="9525">
                      <a:solidFill>
                        <a:srgbClr val="373737"/>
                      </a:solidFill>
                      <a:prstDash val="solid"/>
                    </a:lnR>
                    <a:lnT w="9525">
                      <a:solidFill>
                        <a:srgbClr val="373737"/>
                      </a:solidFill>
                      <a:prstDash val="solid"/>
                    </a:lnT>
                    <a:lnB w="9525">
                      <a:solidFill>
                        <a:srgbClr val="373737"/>
                      </a:solidFill>
                      <a:prstDash val="solid"/>
                    </a:lnB>
                  </a:tcPr>
                </a:tc>
                <a:extLst>
                  <a:ext uri="{0D108BD9-81ED-4DB2-BD59-A6C34878D82A}">
                    <a16:rowId xmlns:a16="http://schemas.microsoft.com/office/drawing/2014/main" val="10004"/>
                  </a:ext>
                </a:extLst>
              </a:tr>
              <a:tr h="493607">
                <a:tc>
                  <a:txBody>
                    <a:bodyPr/>
                    <a:lstStyle/>
                    <a:p>
                      <a:pPr marL="152400">
                        <a:lnSpc>
                          <a:spcPct val="100000"/>
                        </a:lnSpc>
                        <a:spcBef>
                          <a:spcPts val="765"/>
                        </a:spcBef>
                      </a:pPr>
                      <a:r>
                        <a:rPr sz="1300" b="1" spc="-20" dirty="0">
                          <a:latin typeface="Arial"/>
                          <a:cs typeface="Arial"/>
                        </a:rPr>
                        <a:t>Size</a:t>
                      </a:r>
                      <a:endParaRPr sz="1300">
                        <a:latin typeface="Arial"/>
                        <a:cs typeface="Arial"/>
                      </a:endParaRPr>
                    </a:p>
                  </a:txBody>
                  <a:tcPr marL="0" marR="0" marT="129540" marB="0">
                    <a:lnL w="9525">
                      <a:solidFill>
                        <a:srgbClr val="373737"/>
                      </a:solidFill>
                      <a:prstDash val="solid"/>
                    </a:lnL>
                    <a:lnR w="9525">
                      <a:solidFill>
                        <a:srgbClr val="373737"/>
                      </a:solidFill>
                      <a:prstDash val="solid"/>
                    </a:lnR>
                    <a:lnT w="9525">
                      <a:solidFill>
                        <a:srgbClr val="373737"/>
                      </a:solidFill>
                      <a:prstDash val="solid"/>
                    </a:lnT>
                    <a:lnB w="9525">
                      <a:solidFill>
                        <a:srgbClr val="373737"/>
                      </a:solidFill>
                      <a:prstDash val="solid"/>
                    </a:lnB>
                    <a:solidFill>
                      <a:srgbClr val="383838">
                        <a:alpha val="39999"/>
                      </a:srgbClr>
                    </a:solidFill>
                  </a:tcPr>
                </a:tc>
                <a:tc>
                  <a:txBody>
                    <a:bodyPr/>
                    <a:lstStyle/>
                    <a:p>
                      <a:pPr>
                        <a:lnSpc>
                          <a:spcPct val="100000"/>
                        </a:lnSpc>
                      </a:pPr>
                      <a:endParaRPr sz="1700">
                        <a:latin typeface="Times New Roman"/>
                        <a:cs typeface="Times New Roman"/>
                      </a:endParaRPr>
                    </a:p>
                  </a:txBody>
                  <a:tcPr marL="0" marR="0" marT="0" marB="0">
                    <a:lnL w="9525">
                      <a:solidFill>
                        <a:srgbClr val="373737"/>
                      </a:solidFill>
                      <a:prstDash val="solid"/>
                    </a:lnL>
                    <a:lnR w="9525">
                      <a:solidFill>
                        <a:srgbClr val="373737"/>
                      </a:solidFill>
                      <a:prstDash val="solid"/>
                    </a:lnR>
                    <a:lnT w="9525">
                      <a:solidFill>
                        <a:srgbClr val="373737"/>
                      </a:solidFill>
                      <a:prstDash val="solid"/>
                    </a:lnT>
                    <a:lnB w="9525">
                      <a:solidFill>
                        <a:srgbClr val="373737"/>
                      </a:solidFill>
                      <a:prstDash val="solid"/>
                    </a:lnB>
                    <a:solidFill>
                      <a:srgbClr val="383838">
                        <a:alpha val="39999"/>
                      </a:srgbClr>
                    </a:solidFill>
                  </a:tcPr>
                </a:tc>
                <a:tc>
                  <a:txBody>
                    <a:bodyPr/>
                    <a:lstStyle/>
                    <a:p>
                      <a:pPr>
                        <a:lnSpc>
                          <a:spcPct val="100000"/>
                        </a:lnSpc>
                      </a:pPr>
                      <a:endParaRPr sz="1700">
                        <a:latin typeface="Times New Roman"/>
                        <a:cs typeface="Times New Roman"/>
                      </a:endParaRPr>
                    </a:p>
                  </a:txBody>
                  <a:tcPr marL="0" marR="0" marT="0" marB="0">
                    <a:lnL w="9525">
                      <a:solidFill>
                        <a:srgbClr val="373737"/>
                      </a:solidFill>
                      <a:prstDash val="solid"/>
                    </a:lnL>
                    <a:lnR w="9525">
                      <a:solidFill>
                        <a:srgbClr val="373737"/>
                      </a:solidFill>
                      <a:prstDash val="solid"/>
                    </a:lnR>
                    <a:lnT w="9525">
                      <a:solidFill>
                        <a:srgbClr val="373737"/>
                      </a:solidFill>
                      <a:prstDash val="solid"/>
                    </a:lnT>
                    <a:lnB w="9525">
                      <a:solidFill>
                        <a:srgbClr val="373737"/>
                      </a:solidFill>
                      <a:prstDash val="solid"/>
                    </a:lnB>
                    <a:solidFill>
                      <a:srgbClr val="383838">
                        <a:alpha val="39999"/>
                      </a:srgbClr>
                    </a:solidFill>
                  </a:tcPr>
                </a:tc>
                <a:tc>
                  <a:txBody>
                    <a:bodyPr/>
                    <a:lstStyle/>
                    <a:p>
                      <a:pPr>
                        <a:lnSpc>
                          <a:spcPct val="100000"/>
                        </a:lnSpc>
                      </a:pPr>
                      <a:endParaRPr sz="1700">
                        <a:latin typeface="Times New Roman"/>
                        <a:cs typeface="Times New Roman"/>
                      </a:endParaRPr>
                    </a:p>
                  </a:txBody>
                  <a:tcPr marL="0" marR="0" marT="0" marB="0">
                    <a:lnL w="9525">
                      <a:solidFill>
                        <a:srgbClr val="373737"/>
                      </a:solidFill>
                      <a:prstDash val="solid"/>
                    </a:lnL>
                    <a:lnR w="9525">
                      <a:solidFill>
                        <a:srgbClr val="373737"/>
                      </a:solidFill>
                      <a:prstDash val="solid"/>
                    </a:lnR>
                    <a:lnT w="9525">
                      <a:solidFill>
                        <a:srgbClr val="373737"/>
                      </a:solidFill>
                      <a:prstDash val="solid"/>
                    </a:lnT>
                    <a:lnB w="9525">
                      <a:solidFill>
                        <a:srgbClr val="373737"/>
                      </a:solidFill>
                      <a:prstDash val="solid"/>
                    </a:lnB>
                    <a:solidFill>
                      <a:srgbClr val="383838">
                        <a:alpha val="39999"/>
                      </a:srgbClr>
                    </a:solidFill>
                  </a:tcPr>
                </a:tc>
                <a:extLst>
                  <a:ext uri="{0D108BD9-81ED-4DB2-BD59-A6C34878D82A}">
                    <a16:rowId xmlns:a16="http://schemas.microsoft.com/office/drawing/2014/main" val="10005"/>
                  </a:ext>
                </a:extLst>
              </a:tr>
              <a:tr h="494453">
                <a:tc>
                  <a:txBody>
                    <a:bodyPr/>
                    <a:lstStyle/>
                    <a:p>
                      <a:pPr marL="152400">
                        <a:lnSpc>
                          <a:spcPct val="100000"/>
                        </a:lnSpc>
                        <a:spcBef>
                          <a:spcPts val="765"/>
                        </a:spcBef>
                      </a:pPr>
                      <a:r>
                        <a:rPr sz="1300" b="1" spc="-10" dirty="0">
                          <a:latin typeface="Arial"/>
                          <a:cs typeface="Arial"/>
                        </a:rPr>
                        <a:t>Performance</a:t>
                      </a:r>
                      <a:endParaRPr sz="1300">
                        <a:latin typeface="Arial"/>
                        <a:cs typeface="Arial"/>
                      </a:endParaRPr>
                    </a:p>
                  </a:txBody>
                  <a:tcPr marL="0" marR="0" marT="129540" marB="0">
                    <a:lnL w="9525">
                      <a:solidFill>
                        <a:srgbClr val="373737"/>
                      </a:solidFill>
                      <a:prstDash val="solid"/>
                    </a:lnL>
                    <a:lnR w="9525">
                      <a:solidFill>
                        <a:srgbClr val="373737"/>
                      </a:solidFill>
                      <a:prstDash val="solid"/>
                    </a:lnR>
                    <a:lnT w="9525">
                      <a:solidFill>
                        <a:srgbClr val="373737"/>
                      </a:solidFill>
                      <a:prstDash val="solid"/>
                    </a:lnT>
                    <a:lnB w="9525">
                      <a:solidFill>
                        <a:srgbClr val="373737"/>
                      </a:solidFill>
                      <a:prstDash val="solid"/>
                    </a:lnB>
                  </a:tcPr>
                </a:tc>
                <a:tc>
                  <a:txBody>
                    <a:bodyPr/>
                    <a:lstStyle/>
                    <a:p>
                      <a:pPr>
                        <a:lnSpc>
                          <a:spcPct val="100000"/>
                        </a:lnSpc>
                      </a:pPr>
                      <a:endParaRPr sz="1700">
                        <a:latin typeface="Times New Roman"/>
                        <a:cs typeface="Times New Roman"/>
                      </a:endParaRPr>
                    </a:p>
                  </a:txBody>
                  <a:tcPr marL="0" marR="0" marT="0" marB="0">
                    <a:lnL w="9525">
                      <a:solidFill>
                        <a:srgbClr val="373737"/>
                      </a:solidFill>
                      <a:prstDash val="solid"/>
                    </a:lnL>
                    <a:lnR w="9525">
                      <a:solidFill>
                        <a:srgbClr val="373737"/>
                      </a:solidFill>
                      <a:prstDash val="solid"/>
                    </a:lnR>
                    <a:lnT w="9525">
                      <a:solidFill>
                        <a:srgbClr val="373737"/>
                      </a:solidFill>
                      <a:prstDash val="solid"/>
                    </a:lnT>
                    <a:lnB w="9525">
                      <a:solidFill>
                        <a:srgbClr val="373737"/>
                      </a:solidFill>
                      <a:prstDash val="solid"/>
                    </a:lnB>
                  </a:tcPr>
                </a:tc>
                <a:tc>
                  <a:txBody>
                    <a:bodyPr/>
                    <a:lstStyle/>
                    <a:p>
                      <a:pPr>
                        <a:lnSpc>
                          <a:spcPct val="100000"/>
                        </a:lnSpc>
                      </a:pPr>
                      <a:endParaRPr sz="1700">
                        <a:latin typeface="Times New Roman"/>
                        <a:cs typeface="Times New Roman"/>
                      </a:endParaRPr>
                    </a:p>
                  </a:txBody>
                  <a:tcPr marL="0" marR="0" marT="0" marB="0">
                    <a:lnL w="9525">
                      <a:solidFill>
                        <a:srgbClr val="373737"/>
                      </a:solidFill>
                      <a:prstDash val="solid"/>
                    </a:lnL>
                    <a:lnR w="9525">
                      <a:solidFill>
                        <a:srgbClr val="373737"/>
                      </a:solidFill>
                      <a:prstDash val="solid"/>
                    </a:lnR>
                    <a:lnT w="9525">
                      <a:solidFill>
                        <a:srgbClr val="373737"/>
                      </a:solidFill>
                      <a:prstDash val="solid"/>
                    </a:lnT>
                    <a:lnB w="9525">
                      <a:solidFill>
                        <a:srgbClr val="373737"/>
                      </a:solidFill>
                      <a:prstDash val="solid"/>
                    </a:lnB>
                  </a:tcPr>
                </a:tc>
                <a:tc>
                  <a:txBody>
                    <a:bodyPr/>
                    <a:lstStyle/>
                    <a:p>
                      <a:pPr>
                        <a:lnSpc>
                          <a:spcPct val="100000"/>
                        </a:lnSpc>
                      </a:pPr>
                      <a:endParaRPr sz="1700">
                        <a:latin typeface="Times New Roman"/>
                        <a:cs typeface="Times New Roman"/>
                      </a:endParaRPr>
                    </a:p>
                  </a:txBody>
                  <a:tcPr marL="0" marR="0" marT="0" marB="0">
                    <a:lnL w="9525">
                      <a:solidFill>
                        <a:srgbClr val="373737"/>
                      </a:solidFill>
                      <a:prstDash val="solid"/>
                    </a:lnL>
                    <a:lnR w="9525">
                      <a:solidFill>
                        <a:srgbClr val="373737"/>
                      </a:solidFill>
                      <a:prstDash val="solid"/>
                    </a:lnR>
                    <a:lnT w="9525">
                      <a:solidFill>
                        <a:srgbClr val="373737"/>
                      </a:solidFill>
                      <a:prstDash val="solid"/>
                    </a:lnT>
                    <a:lnB w="9525">
                      <a:solidFill>
                        <a:srgbClr val="373737"/>
                      </a:solidFill>
                      <a:prstDash val="soli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47496" y="552730"/>
            <a:ext cx="5266077"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Types</a:t>
            </a:r>
            <a:r>
              <a:rPr spc="-27" dirty="0">
                <a:solidFill>
                  <a:schemeClr val="bg1"/>
                </a:solidFill>
                <a:latin typeface="+mn-lt"/>
              </a:rPr>
              <a:t> </a:t>
            </a:r>
            <a:r>
              <a:rPr dirty="0">
                <a:solidFill>
                  <a:schemeClr val="bg1"/>
                </a:solidFill>
                <a:latin typeface="+mn-lt"/>
              </a:rPr>
              <a:t>of</a:t>
            </a:r>
            <a:r>
              <a:rPr spc="-13" dirty="0">
                <a:solidFill>
                  <a:schemeClr val="bg1"/>
                </a:solidFill>
                <a:latin typeface="+mn-lt"/>
              </a:rPr>
              <a:t> </a:t>
            </a:r>
            <a:r>
              <a:rPr dirty="0">
                <a:solidFill>
                  <a:schemeClr val="bg1"/>
                </a:solidFill>
                <a:latin typeface="+mn-lt"/>
              </a:rPr>
              <a:t>fact</a:t>
            </a:r>
            <a:r>
              <a:rPr spc="-27" dirty="0">
                <a:solidFill>
                  <a:schemeClr val="bg1"/>
                </a:solidFill>
                <a:latin typeface="+mn-lt"/>
              </a:rPr>
              <a:t> </a:t>
            </a:r>
            <a:r>
              <a:rPr spc="-13" dirty="0">
                <a:solidFill>
                  <a:schemeClr val="bg1"/>
                </a:solidFill>
                <a:latin typeface="+mn-lt"/>
              </a:rPr>
              <a:t>tables</a:t>
            </a:r>
          </a:p>
        </p:txBody>
      </p:sp>
      <p:pic>
        <p:nvPicPr>
          <p:cNvPr id="3" name="object 3"/>
          <p:cNvPicPr/>
          <p:nvPr/>
        </p:nvPicPr>
        <p:blipFill>
          <a:blip r:embed="rId2" cstate="print"/>
          <a:stretch>
            <a:fillRect/>
          </a:stretch>
        </p:blipFill>
        <p:spPr>
          <a:xfrm>
            <a:off x="924559" y="1662177"/>
            <a:ext cx="10196576" cy="3588511"/>
          </a:xfrm>
          <a:prstGeom prst="rect">
            <a:avLst/>
          </a:prstGeom>
        </p:spPr>
      </p:pic>
      <p:grpSp>
        <p:nvGrpSpPr>
          <p:cNvPr id="4" name="object 4"/>
          <p:cNvGrpSpPr/>
          <p:nvPr/>
        </p:nvGrpSpPr>
        <p:grpSpPr>
          <a:xfrm>
            <a:off x="988670" y="1698414"/>
            <a:ext cx="10059245" cy="3461173"/>
            <a:chOff x="741502" y="1273810"/>
            <a:chExt cx="7544434" cy="2595880"/>
          </a:xfrm>
        </p:grpSpPr>
        <p:pic>
          <p:nvPicPr>
            <p:cNvPr id="5" name="object 5"/>
            <p:cNvPicPr/>
            <p:nvPr/>
          </p:nvPicPr>
          <p:blipFill>
            <a:blip r:embed="rId3" cstate="print"/>
            <a:stretch>
              <a:fillRect/>
            </a:stretch>
          </p:blipFill>
          <p:spPr>
            <a:xfrm>
              <a:off x="741502" y="1273810"/>
              <a:ext cx="7543800" cy="2595372"/>
            </a:xfrm>
            <a:prstGeom prst="rect">
              <a:avLst/>
            </a:prstGeom>
          </p:spPr>
        </p:pic>
        <p:sp>
          <p:nvSpPr>
            <p:cNvPr id="6" name="object 6"/>
            <p:cNvSpPr/>
            <p:nvPr/>
          </p:nvSpPr>
          <p:spPr>
            <a:xfrm>
              <a:off x="741502" y="1273809"/>
              <a:ext cx="7544434" cy="370840"/>
            </a:xfrm>
            <a:custGeom>
              <a:avLst/>
              <a:gdLst/>
              <a:ahLst/>
              <a:cxnLst/>
              <a:rect l="l" t="t" r="r" b="b"/>
              <a:pathLst>
                <a:path w="7544434" h="370839">
                  <a:moveTo>
                    <a:pt x="3657523" y="0"/>
                  </a:moveTo>
                  <a:lnTo>
                    <a:pt x="1616583" y="0"/>
                  </a:lnTo>
                  <a:lnTo>
                    <a:pt x="0" y="0"/>
                  </a:lnTo>
                  <a:lnTo>
                    <a:pt x="0" y="370840"/>
                  </a:lnTo>
                  <a:lnTo>
                    <a:pt x="1616506" y="370840"/>
                  </a:lnTo>
                  <a:lnTo>
                    <a:pt x="3657523" y="370840"/>
                  </a:lnTo>
                  <a:lnTo>
                    <a:pt x="3657523" y="0"/>
                  </a:lnTo>
                  <a:close/>
                </a:path>
                <a:path w="7544434" h="370839">
                  <a:moveTo>
                    <a:pt x="7543851" y="0"/>
                  </a:moveTo>
                  <a:lnTo>
                    <a:pt x="5638851" y="0"/>
                  </a:lnTo>
                  <a:lnTo>
                    <a:pt x="3657650" y="0"/>
                  </a:lnTo>
                  <a:lnTo>
                    <a:pt x="3657650" y="370840"/>
                  </a:lnTo>
                  <a:lnTo>
                    <a:pt x="5638851" y="370840"/>
                  </a:lnTo>
                  <a:lnTo>
                    <a:pt x="7543851" y="370840"/>
                  </a:lnTo>
                  <a:lnTo>
                    <a:pt x="7543851" y="0"/>
                  </a:lnTo>
                  <a:close/>
                </a:path>
              </a:pathLst>
            </a:custGeom>
            <a:solidFill>
              <a:srgbClr val="383838"/>
            </a:solidFill>
          </p:spPr>
          <p:txBody>
            <a:bodyPr wrap="square" lIns="0" tIns="0" rIns="0" bIns="0" rtlCol="0"/>
            <a:lstStyle/>
            <a:p>
              <a:endParaRPr sz="2400"/>
            </a:p>
          </p:txBody>
        </p:sp>
        <p:pic>
          <p:nvPicPr>
            <p:cNvPr id="7" name="object 7"/>
            <p:cNvPicPr/>
            <p:nvPr/>
          </p:nvPicPr>
          <p:blipFill>
            <a:blip r:embed="rId4" cstate="print"/>
            <a:stretch>
              <a:fillRect/>
            </a:stretch>
          </p:blipFill>
          <p:spPr>
            <a:xfrm>
              <a:off x="807720" y="1331988"/>
              <a:ext cx="494550" cy="305549"/>
            </a:xfrm>
            <a:prstGeom prst="rect">
              <a:avLst/>
            </a:prstGeom>
          </p:spPr>
        </p:pic>
        <p:pic>
          <p:nvPicPr>
            <p:cNvPr id="8" name="object 8"/>
            <p:cNvPicPr/>
            <p:nvPr/>
          </p:nvPicPr>
          <p:blipFill>
            <a:blip r:embed="rId5" cstate="print"/>
            <a:stretch>
              <a:fillRect/>
            </a:stretch>
          </p:blipFill>
          <p:spPr>
            <a:xfrm>
              <a:off x="2424683" y="1331988"/>
              <a:ext cx="1055370" cy="305549"/>
            </a:xfrm>
            <a:prstGeom prst="rect">
              <a:avLst/>
            </a:prstGeom>
          </p:spPr>
        </p:pic>
        <p:pic>
          <p:nvPicPr>
            <p:cNvPr id="9" name="object 9"/>
            <p:cNvPicPr/>
            <p:nvPr/>
          </p:nvPicPr>
          <p:blipFill>
            <a:blip r:embed="rId6" cstate="print"/>
            <a:stretch>
              <a:fillRect/>
            </a:stretch>
          </p:blipFill>
          <p:spPr>
            <a:xfrm>
              <a:off x="4465319" y="1331988"/>
              <a:ext cx="1355598" cy="305549"/>
            </a:xfrm>
            <a:prstGeom prst="rect">
              <a:avLst/>
            </a:prstGeom>
          </p:spPr>
        </p:pic>
        <p:pic>
          <p:nvPicPr>
            <p:cNvPr id="10" name="object 10"/>
            <p:cNvPicPr/>
            <p:nvPr/>
          </p:nvPicPr>
          <p:blipFill>
            <a:blip r:embed="rId7" cstate="print"/>
            <a:stretch>
              <a:fillRect/>
            </a:stretch>
          </p:blipFill>
          <p:spPr>
            <a:xfrm>
              <a:off x="6446519" y="1331988"/>
              <a:ext cx="1712214" cy="305549"/>
            </a:xfrm>
            <a:prstGeom prst="rect">
              <a:avLst/>
            </a:prstGeom>
          </p:spPr>
        </p:pic>
      </p:grpSp>
      <p:graphicFrame>
        <p:nvGraphicFramePr>
          <p:cNvPr id="11" name="object 11"/>
          <p:cNvGraphicFramePr>
            <a:graphicFrameLocks noGrp="1"/>
          </p:cNvGraphicFramePr>
          <p:nvPr/>
        </p:nvGraphicFramePr>
        <p:xfrm>
          <a:off x="982320" y="1692064"/>
          <a:ext cx="10060940" cy="3458633"/>
        </p:xfrm>
        <a:graphic>
          <a:graphicData uri="http://schemas.openxmlformats.org/drawingml/2006/table">
            <a:tbl>
              <a:tblPr firstRow="1" bandRow="1">
                <a:tableStyleId>{2D5ABB26-0587-4C30-8999-92F81FD0307C}</a:tableStyleId>
              </a:tblPr>
              <a:tblGrid>
                <a:gridCol w="2155613">
                  <a:extLst>
                    <a:ext uri="{9D8B030D-6E8A-4147-A177-3AD203B41FA5}">
                      <a16:colId xmlns:a16="http://schemas.microsoft.com/office/drawing/2014/main" val="20000"/>
                    </a:ext>
                  </a:extLst>
                </a:gridCol>
                <a:gridCol w="2722033">
                  <a:extLst>
                    <a:ext uri="{9D8B030D-6E8A-4147-A177-3AD203B41FA5}">
                      <a16:colId xmlns:a16="http://schemas.microsoft.com/office/drawing/2014/main" val="20001"/>
                    </a:ext>
                  </a:extLst>
                </a:gridCol>
                <a:gridCol w="2642447">
                  <a:extLst>
                    <a:ext uri="{9D8B030D-6E8A-4147-A177-3AD203B41FA5}">
                      <a16:colId xmlns:a16="http://schemas.microsoft.com/office/drawing/2014/main" val="20002"/>
                    </a:ext>
                  </a:extLst>
                </a:gridCol>
                <a:gridCol w="2540847">
                  <a:extLst>
                    <a:ext uri="{9D8B030D-6E8A-4147-A177-3AD203B41FA5}">
                      <a16:colId xmlns:a16="http://schemas.microsoft.com/office/drawing/2014/main" val="20003"/>
                    </a:ext>
                  </a:extLst>
                </a:gridCol>
              </a:tblGrid>
              <a:tr h="494453">
                <a:tc>
                  <a:txBody>
                    <a:bodyPr/>
                    <a:lstStyle/>
                    <a:p>
                      <a:pPr marL="152400">
                        <a:lnSpc>
                          <a:spcPct val="100000"/>
                        </a:lnSpc>
                        <a:spcBef>
                          <a:spcPts val="775"/>
                        </a:spcBef>
                      </a:pPr>
                      <a:r>
                        <a:rPr sz="1400" b="1" spc="-20" dirty="0">
                          <a:solidFill>
                            <a:srgbClr val="FFFFFF"/>
                          </a:solidFill>
                          <a:latin typeface="Arial"/>
                          <a:cs typeface="Arial"/>
                        </a:rPr>
                        <a:t>Type</a:t>
                      </a:r>
                      <a:endParaRPr sz="1400">
                        <a:latin typeface="Arial"/>
                        <a:cs typeface="Arial"/>
                      </a:endParaRPr>
                    </a:p>
                  </a:txBody>
                  <a:tcPr marL="0" marR="0" marT="131233" marB="0">
                    <a:lnL w="9525">
                      <a:solidFill>
                        <a:srgbClr val="373737"/>
                      </a:solidFill>
                      <a:prstDash val="solid"/>
                    </a:lnL>
                    <a:lnB w="28575">
                      <a:solidFill>
                        <a:srgbClr val="FFFFFF"/>
                      </a:solidFill>
                      <a:prstDash val="solid"/>
                    </a:lnB>
                  </a:tcPr>
                </a:tc>
                <a:tc>
                  <a:txBody>
                    <a:bodyPr/>
                    <a:lstStyle/>
                    <a:p>
                      <a:pPr marL="152400">
                        <a:lnSpc>
                          <a:spcPct val="100000"/>
                        </a:lnSpc>
                        <a:spcBef>
                          <a:spcPts val="775"/>
                        </a:spcBef>
                      </a:pPr>
                      <a:r>
                        <a:rPr sz="1400" b="1" spc="-10" dirty="0">
                          <a:solidFill>
                            <a:srgbClr val="FFFFFF"/>
                          </a:solidFill>
                          <a:latin typeface="Arial"/>
                          <a:cs typeface="Arial"/>
                        </a:rPr>
                        <a:t>Transactional</a:t>
                      </a:r>
                      <a:endParaRPr sz="1400">
                        <a:latin typeface="Arial"/>
                        <a:cs typeface="Arial"/>
                      </a:endParaRPr>
                    </a:p>
                  </a:txBody>
                  <a:tcPr marL="0" marR="0" marT="131233" marB="0">
                    <a:lnB w="28575">
                      <a:solidFill>
                        <a:srgbClr val="FFFFFF"/>
                      </a:solidFill>
                      <a:prstDash val="solid"/>
                    </a:lnB>
                  </a:tcPr>
                </a:tc>
                <a:tc>
                  <a:txBody>
                    <a:bodyPr/>
                    <a:lstStyle/>
                    <a:p>
                      <a:pPr marL="153035">
                        <a:lnSpc>
                          <a:spcPct val="100000"/>
                        </a:lnSpc>
                        <a:spcBef>
                          <a:spcPts val="775"/>
                        </a:spcBef>
                      </a:pPr>
                      <a:r>
                        <a:rPr sz="1400" b="1" dirty="0">
                          <a:solidFill>
                            <a:srgbClr val="FFFFFF"/>
                          </a:solidFill>
                          <a:latin typeface="Arial"/>
                          <a:cs typeface="Arial"/>
                        </a:rPr>
                        <a:t>Periodic</a:t>
                      </a:r>
                      <a:r>
                        <a:rPr sz="1400" b="1" spc="-40" dirty="0">
                          <a:solidFill>
                            <a:srgbClr val="FFFFFF"/>
                          </a:solidFill>
                          <a:latin typeface="Arial"/>
                          <a:cs typeface="Arial"/>
                        </a:rPr>
                        <a:t> </a:t>
                      </a:r>
                      <a:r>
                        <a:rPr sz="1400" b="1" spc="-10" dirty="0">
                          <a:solidFill>
                            <a:srgbClr val="FFFFFF"/>
                          </a:solidFill>
                          <a:latin typeface="Arial"/>
                          <a:cs typeface="Arial"/>
                        </a:rPr>
                        <a:t>Snapshot</a:t>
                      </a:r>
                      <a:endParaRPr sz="1400">
                        <a:latin typeface="Arial"/>
                        <a:cs typeface="Arial"/>
                      </a:endParaRPr>
                    </a:p>
                  </a:txBody>
                  <a:tcPr marL="0" marR="0" marT="131233" marB="0">
                    <a:lnB w="28575">
                      <a:solidFill>
                        <a:srgbClr val="FFFFFF"/>
                      </a:solidFill>
                      <a:prstDash val="solid"/>
                    </a:lnB>
                  </a:tcPr>
                </a:tc>
                <a:tc>
                  <a:txBody>
                    <a:bodyPr/>
                    <a:lstStyle/>
                    <a:p>
                      <a:pPr marL="153035">
                        <a:lnSpc>
                          <a:spcPct val="100000"/>
                        </a:lnSpc>
                        <a:spcBef>
                          <a:spcPts val="775"/>
                        </a:spcBef>
                      </a:pPr>
                      <a:r>
                        <a:rPr sz="1400" b="1" dirty="0">
                          <a:solidFill>
                            <a:srgbClr val="FFFFFF"/>
                          </a:solidFill>
                          <a:latin typeface="Arial"/>
                          <a:cs typeface="Arial"/>
                        </a:rPr>
                        <a:t>Accumulating</a:t>
                      </a:r>
                      <a:r>
                        <a:rPr sz="1400" b="1" spc="-65" dirty="0">
                          <a:solidFill>
                            <a:srgbClr val="FFFFFF"/>
                          </a:solidFill>
                          <a:latin typeface="Arial"/>
                          <a:cs typeface="Arial"/>
                        </a:rPr>
                        <a:t> </a:t>
                      </a:r>
                      <a:r>
                        <a:rPr sz="1400" b="1" spc="-10" dirty="0">
                          <a:solidFill>
                            <a:srgbClr val="FFFFFF"/>
                          </a:solidFill>
                          <a:latin typeface="Arial"/>
                          <a:cs typeface="Arial"/>
                        </a:rPr>
                        <a:t>Snapshot</a:t>
                      </a:r>
                      <a:endParaRPr sz="1400">
                        <a:latin typeface="Arial"/>
                        <a:cs typeface="Arial"/>
                      </a:endParaRPr>
                    </a:p>
                  </a:txBody>
                  <a:tcPr marL="0" marR="0" marT="131233" marB="0">
                    <a:lnR w="9525">
                      <a:solidFill>
                        <a:srgbClr val="373737"/>
                      </a:solidFill>
                      <a:prstDash val="solid"/>
                    </a:lnR>
                    <a:lnB w="28575">
                      <a:solidFill>
                        <a:srgbClr val="FFFFFF"/>
                      </a:solidFill>
                      <a:prstDash val="solid"/>
                    </a:lnB>
                  </a:tcPr>
                </a:tc>
                <a:extLst>
                  <a:ext uri="{0D108BD9-81ED-4DB2-BD59-A6C34878D82A}">
                    <a16:rowId xmlns:a16="http://schemas.microsoft.com/office/drawing/2014/main" val="10000"/>
                  </a:ext>
                </a:extLst>
              </a:tr>
              <a:tr h="493607">
                <a:tc>
                  <a:txBody>
                    <a:bodyPr/>
                    <a:lstStyle/>
                    <a:p>
                      <a:pPr marL="152400">
                        <a:lnSpc>
                          <a:spcPct val="100000"/>
                        </a:lnSpc>
                        <a:spcBef>
                          <a:spcPts val="765"/>
                        </a:spcBef>
                      </a:pPr>
                      <a:r>
                        <a:rPr sz="1300" b="1" spc="-10" dirty="0">
                          <a:latin typeface="Arial"/>
                          <a:cs typeface="Arial"/>
                        </a:rPr>
                        <a:t>Grain</a:t>
                      </a:r>
                      <a:endParaRPr sz="1300">
                        <a:latin typeface="Arial"/>
                        <a:cs typeface="Arial"/>
                      </a:endParaRPr>
                    </a:p>
                  </a:txBody>
                  <a:tcPr marL="0" marR="0" marT="129540" marB="0">
                    <a:lnL w="9525">
                      <a:solidFill>
                        <a:srgbClr val="373737"/>
                      </a:solidFill>
                      <a:prstDash val="solid"/>
                    </a:lnL>
                    <a:lnR w="9525">
                      <a:solidFill>
                        <a:srgbClr val="373737"/>
                      </a:solidFill>
                      <a:prstDash val="solid"/>
                    </a:lnR>
                    <a:lnT w="28575">
                      <a:solidFill>
                        <a:srgbClr val="FFFFFF"/>
                      </a:solidFill>
                      <a:prstDash val="solid"/>
                    </a:lnT>
                    <a:lnB w="9525">
                      <a:solidFill>
                        <a:srgbClr val="373737"/>
                      </a:solidFill>
                      <a:prstDash val="solid"/>
                    </a:lnB>
                    <a:solidFill>
                      <a:srgbClr val="383838">
                        <a:alpha val="39999"/>
                      </a:srgbClr>
                    </a:solidFill>
                  </a:tcPr>
                </a:tc>
                <a:tc>
                  <a:txBody>
                    <a:bodyPr/>
                    <a:lstStyle/>
                    <a:p>
                      <a:pPr marL="152400">
                        <a:lnSpc>
                          <a:spcPct val="100000"/>
                        </a:lnSpc>
                        <a:spcBef>
                          <a:spcPts val="919"/>
                        </a:spcBef>
                      </a:pPr>
                      <a:r>
                        <a:rPr sz="1200" b="1" spc="-204" dirty="0">
                          <a:latin typeface="Arial"/>
                          <a:cs typeface="Arial"/>
                        </a:rPr>
                        <a:t>1</a:t>
                      </a:r>
                      <a:r>
                        <a:rPr sz="1200" b="1" spc="-10" dirty="0">
                          <a:latin typeface="Arial"/>
                          <a:cs typeface="Arial"/>
                        </a:rPr>
                        <a:t> </a:t>
                      </a:r>
                      <a:r>
                        <a:rPr sz="1200" b="1" dirty="0">
                          <a:latin typeface="Arial"/>
                          <a:cs typeface="Arial"/>
                        </a:rPr>
                        <a:t>row</a:t>
                      </a:r>
                      <a:r>
                        <a:rPr sz="1200" b="1" spc="-45" dirty="0">
                          <a:latin typeface="Arial"/>
                          <a:cs typeface="Arial"/>
                        </a:rPr>
                        <a:t> </a:t>
                      </a:r>
                      <a:r>
                        <a:rPr sz="1200" b="1" spc="-125" dirty="0">
                          <a:latin typeface="Arial"/>
                          <a:cs typeface="Arial"/>
                        </a:rPr>
                        <a:t>=</a:t>
                      </a:r>
                      <a:r>
                        <a:rPr sz="1200" b="1" spc="-20" dirty="0">
                          <a:latin typeface="Arial"/>
                          <a:cs typeface="Arial"/>
                        </a:rPr>
                        <a:t> </a:t>
                      </a:r>
                      <a:r>
                        <a:rPr sz="1200" b="1" spc="-204" dirty="0">
                          <a:latin typeface="Arial"/>
                          <a:cs typeface="Arial"/>
                        </a:rPr>
                        <a:t>1</a:t>
                      </a:r>
                      <a:r>
                        <a:rPr sz="1200" b="1" spc="-15" dirty="0">
                          <a:latin typeface="Arial"/>
                          <a:cs typeface="Arial"/>
                        </a:rPr>
                        <a:t> </a:t>
                      </a:r>
                      <a:r>
                        <a:rPr sz="1200" b="1" spc="-10" dirty="0">
                          <a:latin typeface="Arial"/>
                          <a:cs typeface="Arial"/>
                        </a:rPr>
                        <a:t>transaction</a:t>
                      </a:r>
                      <a:endParaRPr sz="1200">
                        <a:latin typeface="Arial"/>
                        <a:cs typeface="Arial"/>
                      </a:endParaRPr>
                    </a:p>
                  </a:txBody>
                  <a:tcPr marL="0" marR="0" marT="155785" marB="0">
                    <a:lnL w="9525">
                      <a:solidFill>
                        <a:srgbClr val="373737"/>
                      </a:solidFill>
                      <a:prstDash val="solid"/>
                    </a:lnL>
                    <a:lnR w="9525">
                      <a:solidFill>
                        <a:srgbClr val="373737"/>
                      </a:solidFill>
                      <a:prstDash val="solid"/>
                    </a:lnR>
                    <a:lnT w="28575">
                      <a:solidFill>
                        <a:srgbClr val="FFFFFF"/>
                      </a:solidFill>
                      <a:prstDash val="solid"/>
                    </a:lnT>
                    <a:lnB w="9525">
                      <a:solidFill>
                        <a:srgbClr val="373737"/>
                      </a:solidFill>
                      <a:prstDash val="solid"/>
                    </a:lnB>
                    <a:solidFill>
                      <a:srgbClr val="383838">
                        <a:alpha val="39999"/>
                      </a:srgbClr>
                    </a:solidFill>
                  </a:tcPr>
                </a:tc>
                <a:tc>
                  <a:txBody>
                    <a:bodyPr/>
                    <a:lstStyle/>
                    <a:p>
                      <a:pPr marL="153035" marR="351790">
                        <a:lnSpc>
                          <a:spcPct val="100000"/>
                        </a:lnSpc>
                        <a:spcBef>
                          <a:spcPts val="380"/>
                        </a:spcBef>
                      </a:pPr>
                      <a:r>
                        <a:rPr sz="1200" b="1" spc="-204" dirty="0">
                          <a:latin typeface="Arial"/>
                          <a:cs typeface="Arial"/>
                        </a:rPr>
                        <a:t>1</a:t>
                      </a:r>
                      <a:r>
                        <a:rPr sz="1200" b="1" spc="-10" dirty="0">
                          <a:latin typeface="Arial"/>
                          <a:cs typeface="Arial"/>
                        </a:rPr>
                        <a:t> </a:t>
                      </a:r>
                      <a:r>
                        <a:rPr sz="1200" b="1" dirty="0">
                          <a:latin typeface="Arial"/>
                          <a:cs typeface="Arial"/>
                        </a:rPr>
                        <a:t>row</a:t>
                      </a:r>
                      <a:r>
                        <a:rPr sz="1200" b="1" spc="-45" dirty="0">
                          <a:latin typeface="Arial"/>
                          <a:cs typeface="Arial"/>
                        </a:rPr>
                        <a:t> </a:t>
                      </a:r>
                      <a:r>
                        <a:rPr sz="1200" b="1" spc="-125" dirty="0">
                          <a:latin typeface="Arial"/>
                          <a:cs typeface="Arial"/>
                        </a:rPr>
                        <a:t>=</a:t>
                      </a:r>
                      <a:r>
                        <a:rPr sz="1200" b="1" spc="-20" dirty="0">
                          <a:latin typeface="Arial"/>
                          <a:cs typeface="Arial"/>
                        </a:rPr>
                        <a:t> </a:t>
                      </a:r>
                      <a:r>
                        <a:rPr sz="1200" b="1" spc="-204" dirty="0">
                          <a:latin typeface="Arial"/>
                          <a:cs typeface="Arial"/>
                        </a:rPr>
                        <a:t>1</a:t>
                      </a:r>
                      <a:r>
                        <a:rPr sz="1200" b="1" spc="-15" dirty="0">
                          <a:latin typeface="Arial"/>
                          <a:cs typeface="Arial"/>
                        </a:rPr>
                        <a:t> </a:t>
                      </a:r>
                      <a:r>
                        <a:rPr sz="1200" b="1" spc="-40" dirty="0">
                          <a:latin typeface="Arial"/>
                          <a:cs typeface="Arial"/>
                        </a:rPr>
                        <a:t>defined</a:t>
                      </a:r>
                      <a:r>
                        <a:rPr sz="1200" b="1" spc="-15" dirty="0">
                          <a:latin typeface="Arial"/>
                          <a:cs typeface="Arial"/>
                        </a:rPr>
                        <a:t> </a:t>
                      </a:r>
                      <a:r>
                        <a:rPr sz="1200" b="1" spc="-30" dirty="0">
                          <a:latin typeface="Arial"/>
                          <a:cs typeface="Arial"/>
                        </a:rPr>
                        <a:t>period</a:t>
                      </a:r>
                      <a:r>
                        <a:rPr sz="1200" b="1" spc="-15" dirty="0">
                          <a:latin typeface="Arial"/>
                          <a:cs typeface="Arial"/>
                        </a:rPr>
                        <a:t> </a:t>
                      </a:r>
                      <a:r>
                        <a:rPr sz="1200" b="1" spc="-25" dirty="0">
                          <a:latin typeface="Arial"/>
                          <a:cs typeface="Arial"/>
                        </a:rPr>
                        <a:t>(plus </a:t>
                      </a:r>
                      <a:r>
                        <a:rPr sz="1200" b="1" spc="-20" dirty="0">
                          <a:latin typeface="Arial"/>
                          <a:cs typeface="Arial"/>
                        </a:rPr>
                        <a:t>other</a:t>
                      </a:r>
                      <a:r>
                        <a:rPr sz="1200" b="1" spc="-35" dirty="0">
                          <a:latin typeface="Arial"/>
                          <a:cs typeface="Arial"/>
                        </a:rPr>
                        <a:t> </a:t>
                      </a:r>
                      <a:r>
                        <a:rPr sz="1200" b="1" spc="-10" dirty="0">
                          <a:latin typeface="Arial"/>
                          <a:cs typeface="Arial"/>
                        </a:rPr>
                        <a:t>dimensions)</a:t>
                      </a:r>
                      <a:endParaRPr sz="1200">
                        <a:latin typeface="Arial"/>
                        <a:cs typeface="Arial"/>
                      </a:endParaRPr>
                    </a:p>
                  </a:txBody>
                  <a:tcPr marL="0" marR="0" marT="64347" marB="0">
                    <a:lnL w="9525">
                      <a:solidFill>
                        <a:srgbClr val="373737"/>
                      </a:solidFill>
                      <a:prstDash val="solid"/>
                    </a:lnL>
                    <a:lnR w="9525">
                      <a:solidFill>
                        <a:srgbClr val="373737"/>
                      </a:solidFill>
                      <a:prstDash val="solid"/>
                    </a:lnR>
                    <a:lnT w="28575">
                      <a:solidFill>
                        <a:srgbClr val="FFFFFF"/>
                      </a:solidFill>
                      <a:prstDash val="solid"/>
                    </a:lnT>
                    <a:lnB w="9525">
                      <a:solidFill>
                        <a:srgbClr val="373737"/>
                      </a:solidFill>
                      <a:prstDash val="solid"/>
                    </a:lnB>
                    <a:solidFill>
                      <a:srgbClr val="383838">
                        <a:alpha val="39999"/>
                      </a:srgbClr>
                    </a:solidFill>
                  </a:tcPr>
                </a:tc>
                <a:tc>
                  <a:txBody>
                    <a:bodyPr/>
                    <a:lstStyle/>
                    <a:p>
                      <a:pPr marL="153035">
                        <a:lnSpc>
                          <a:spcPct val="100000"/>
                        </a:lnSpc>
                        <a:spcBef>
                          <a:spcPts val="380"/>
                        </a:spcBef>
                      </a:pPr>
                      <a:r>
                        <a:rPr sz="1200" b="1" spc="-204" dirty="0">
                          <a:latin typeface="Arial"/>
                          <a:cs typeface="Arial"/>
                        </a:rPr>
                        <a:t>1</a:t>
                      </a:r>
                      <a:r>
                        <a:rPr sz="1200" b="1" spc="-10" dirty="0">
                          <a:latin typeface="Arial"/>
                          <a:cs typeface="Arial"/>
                        </a:rPr>
                        <a:t> </a:t>
                      </a:r>
                      <a:r>
                        <a:rPr sz="1200" b="1" dirty="0">
                          <a:latin typeface="Arial"/>
                          <a:cs typeface="Arial"/>
                        </a:rPr>
                        <a:t>row</a:t>
                      </a:r>
                      <a:r>
                        <a:rPr sz="1200" b="1" spc="-40" dirty="0">
                          <a:latin typeface="Arial"/>
                          <a:cs typeface="Arial"/>
                        </a:rPr>
                        <a:t> </a:t>
                      </a:r>
                      <a:r>
                        <a:rPr sz="1200" b="1" spc="-125" dirty="0">
                          <a:latin typeface="Arial"/>
                          <a:cs typeface="Arial"/>
                        </a:rPr>
                        <a:t>=</a:t>
                      </a:r>
                      <a:r>
                        <a:rPr sz="1200" b="1" spc="-20" dirty="0">
                          <a:latin typeface="Arial"/>
                          <a:cs typeface="Arial"/>
                        </a:rPr>
                        <a:t> lifetime</a:t>
                      </a:r>
                      <a:r>
                        <a:rPr sz="1200" b="1" spc="-15" dirty="0">
                          <a:latin typeface="Arial"/>
                          <a:cs typeface="Arial"/>
                        </a:rPr>
                        <a:t> </a:t>
                      </a:r>
                      <a:r>
                        <a:rPr sz="1200" b="1" spc="-35" dirty="0">
                          <a:latin typeface="Arial"/>
                          <a:cs typeface="Arial"/>
                        </a:rPr>
                        <a:t>of</a:t>
                      </a:r>
                      <a:r>
                        <a:rPr sz="1200" b="1" spc="-30" dirty="0">
                          <a:latin typeface="Arial"/>
                          <a:cs typeface="Arial"/>
                        </a:rPr>
                        <a:t> </a:t>
                      </a:r>
                      <a:r>
                        <a:rPr sz="1200" b="1" spc="-10" dirty="0">
                          <a:latin typeface="Arial"/>
                          <a:cs typeface="Arial"/>
                        </a:rPr>
                        <a:t>process</a:t>
                      </a:r>
                      <a:endParaRPr sz="1200">
                        <a:latin typeface="Arial"/>
                        <a:cs typeface="Arial"/>
                      </a:endParaRPr>
                    </a:p>
                    <a:p>
                      <a:pPr marL="153035">
                        <a:lnSpc>
                          <a:spcPct val="100000"/>
                        </a:lnSpc>
                      </a:pPr>
                      <a:r>
                        <a:rPr sz="1200" b="1" spc="-10" dirty="0">
                          <a:latin typeface="Arial"/>
                          <a:cs typeface="Arial"/>
                        </a:rPr>
                        <a:t>/event</a:t>
                      </a:r>
                      <a:endParaRPr sz="1200">
                        <a:latin typeface="Arial"/>
                        <a:cs typeface="Arial"/>
                      </a:endParaRPr>
                    </a:p>
                  </a:txBody>
                  <a:tcPr marL="0" marR="0" marT="64347" marB="0">
                    <a:lnL w="9525">
                      <a:solidFill>
                        <a:srgbClr val="373737"/>
                      </a:solidFill>
                      <a:prstDash val="solid"/>
                    </a:lnL>
                    <a:lnR w="9525">
                      <a:solidFill>
                        <a:srgbClr val="373737"/>
                      </a:solidFill>
                      <a:prstDash val="solid"/>
                    </a:lnR>
                    <a:lnT w="28575">
                      <a:solidFill>
                        <a:srgbClr val="FFFFFF"/>
                      </a:solidFill>
                      <a:prstDash val="solid"/>
                    </a:lnT>
                    <a:lnB w="9525">
                      <a:solidFill>
                        <a:srgbClr val="373737"/>
                      </a:solidFill>
                      <a:prstDash val="solid"/>
                    </a:lnB>
                    <a:solidFill>
                      <a:srgbClr val="383838">
                        <a:alpha val="39999"/>
                      </a:srgbClr>
                    </a:solidFill>
                  </a:tcPr>
                </a:tc>
                <a:extLst>
                  <a:ext uri="{0D108BD9-81ED-4DB2-BD59-A6C34878D82A}">
                    <a16:rowId xmlns:a16="http://schemas.microsoft.com/office/drawing/2014/main" val="10001"/>
                  </a:ext>
                </a:extLst>
              </a:tr>
              <a:tr h="494453">
                <a:tc>
                  <a:txBody>
                    <a:bodyPr/>
                    <a:lstStyle/>
                    <a:p>
                      <a:pPr marL="152400">
                        <a:lnSpc>
                          <a:spcPct val="100000"/>
                        </a:lnSpc>
                        <a:spcBef>
                          <a:spcPts val="765"/>
                        </a:spcBef>
                      </a:pPr>
                      <a:r>
                        <a:rPr sz="1300" b="1" dirty="0">
                          <a:latin typeface="Arial"/>
                          <a:cs typeface="Arial"/>
                        </a:rPr>
                        <a:t>Date</a:t>
                      </a:r>
                      <a:r>
                        <a:rPr sz="1300" b="1" spc="-25" dirty="0">
                          <a:latin typeface="Arial"/>
                          <a:cs typeface="Arial"/>
                        </a:rPr>
                        <a:t> </a:t>
                      </a:r>
                      <a:r>
                        <a:rPr sz="1300" b="1" spc="-10" dirty="0">
                          <a:latin typeface="Arial"/>
                          <a:cs typeface="Arial"/>
                        </a:rPr>
                        <a:t>Dimensions</a:t>
                      </a:r>
                      <a:endParaRPr sz="1300">
                        <a:latin typeface="Arial"/>
                        <a:cs typeface="Arial"/>
                      </a:endParaRPr>
                    </a:p>
                  </a:txBody>
                  <a:tcPr marL="0" marR="0" marT="129540" marB="0">
                    <a:lnL w="9525">
                      <a:solidFill>
                        <a:srgbClr val="373737"/>
                      </a:solidFill>
                      <a:prstDash val="solid"/>
                    </a:lnL>
                    <a:lnR w="9525">
                      <a:solidFill>
                        <a:srgbClr val="373737"/>
                      </a:solidFill>
                      <a:prstDash val="solid"/>
                    </a:lnR>
                    <a:lnT w="9525">
                      <a:solidFill>
                        <a:srgbClr val="373737"/>
                      </a:solidFill>
                      <a:prstDash val="solid"/>
                    </a:lnT>
                    <a:lnB w="9525">
                      <a:solidFill>
                        <a:srgbClr val="373737"/>
                      </a:solidFill>
                      <a:prstDash val="solid"/>
                    </a:lnB>
                  </a:tcPr>
                </a:tc>
                <a:tc>
                  <a:txBody>
                    <a:bodyPr/>
                    <a:lstStyle/>
                    <a:p>
                      <a:pPr marL="152400">
                        <a:lnSpc>
                          <a:spcPct val="100000"/>
                        </a:lnSpc>
                        <a:spcBef>
                          <a:spcPts val="925"/>
                        </a:spcBef>
                      </a:pPr>
                      <a:r>
                        <a:rPr sz="1200" b="1" spc="-204" dirty="0">
                          <a:latin typeface="Arial"/>
                          <a:cs typeface="Arial"/>
                        </a:rPr>
                        <a:t>1</a:t>
                      </a:r>
                      <a:r>
                        <a:rPr sz="1200" b="1" spc="15" dirty="0">
                          <a:latin typeface="Arial"/>
                          <a:cs typeface="Arial"/>
                        </a:rPr>
                        <a:t> </a:t>
                      </a:r>
                      <a:r>
                        <a:rPr sz="1200" b="1" spc="-45" dirty="0">
                          <a:latin typeface="Arial"/>
                          <a:cs typeface="Arial"/>
                        </a:rPr>
                        <a:t>Transaction</a:t>
                      </a:r>
                      <a:r>
                        <a:rPr sz="1200" b="1" spc="-10" dirty="0">
                          <a:latin typeface="Arial"/>
                          <a:cs typeface="Arial"/>
                        </a:rPr>
                        <a:t> </a:t>
                      </a:r>
                      <a:r>
                        <a:rPr sz="1200" b="1" spc="-20" dirty="0">
                          <a:latin typeface="Arial"/>
                          <a:cs typeface="Arial"/>
                        </a:rPr>
                        <a:t>date</a:t>
                      </a:r>
                      <a:endParaRPr sz="1200">
                        <a:latin typeface="Arial"/>
                        <a:cs typeface="Arial"/>
                      </a:endParaRPr>
                    </a:p>
                  </a:txBody>
                  <a:tcPr marL="0" marR="0" marT="156633" marB="0">
                    <a:lnL w="9525">
                      <a:solidFill>
                        <a:srgbClr val="373737"/>
                      </a:solidFill>
                      <a:prstDash val="solid"/>
                    </a:lnL>
                    <a:lnR w="9525">
                      <a:solidFill>
                        <a:srgbClr val="373737"/>
                      </a:solidFill>
                      <a:prstDash val="solid"/>
                    </a:lnR>
                    <a:lnT w="9525">
                      <a:solidFill>
                        <a:srgbClr val="373737"/>
                      </a:solidFill>
                      <a:prstDash val="solid"/>
                    </a:lnT>
                    <a:lnB w="9525">
                      <a:solidFill>
                        <a:srgbClr val="373737"/>
                      </a:solidFill>
                      <a:prstDash val="solid"/>
                    </a:lnB>
                  </a:tcPr>
                </a:tc>
                <a:tc>
                  <a:txBody>
                    <a:bodyPr/>
                    <a:lstStyle/>
                    <a:p>
                      <a:pPr marL="153035">
                        <a:lnSpc>
                          <a:spcPct val="100000"/>
                        </a:lnSpc>
                        <a:spcBef>
                          <a:spcPts val="925"/>
                        </a:spcBef>
                      </a:pPr>
                      <a:r>
                        <a:rPr sz="1200" b="1" spc="-50" dirty="0">
                          <a:latin typeface="Arial"/>
                          <a:cs typeface="Arial"/>
                        </a:rPr>
                        <a:t>Snapshot</a:t>
                      </a:r>
                      <a:r>
                        <a:rPr sz="1200" b="1" spc="-45" dirty="0">
                          <a:latin typeface="Arial"/>
                          <a:cs typeface="Arial"/>
                        </a:rPr>
                        <a:t> </a:t>
                      </a:r>
                      <a:r>
                        <a:rPr sz="1200" b="1" spc="-30" dirty="0">
                          <a:latin typeface="Arial"/>
                          <a:cs typeface="Arial"/>
                        </a:rPr>
                        <a:t>date</a:t>
                      </a:r>
                      <a:r>
                        <a:rPr sz="1200" b="1" spc="10" dirty="0">
                          <a:latin typeface="Arial"/>
                          <a:cs typeface="Arial"/>
                        </a:rPr>
                        <a:t> </a:t>
                      </a:r>
                      <a:r>
                        <a:rPr sz="1200" b="1" spc="-45" dirty="0">
                          <a:latin typeface="Arial"/>
                          <a:cs typeface="Arial"/>
                        </a:rPr>
                        <a:t>(end</a:t>
                      </a:r>
                      <a:r>
                        <a:rPr sz="1200" b="1" dirty="0">
                          <a:latin typeface="Arial"/>
                          <a:cs typeface="Arial"/>
                        </a:rPr>
                        <a:t> </a:t>
                      </a:r>
                      <a:r>
                        <a:rPr sz="1200" b="1" spc="-35" dirty="0">
                          <a:latin typeface="Arial"/>
                          <a:cs typeface="Arial"/>
                        </a:rPr>
                        <a:t>of</a:t>
                      </a:r>
                      <a:r>
                        <a:rPr sz="1200" b="1" spc="-10" dirty="0">
                          <a:latin typeface="Arial"/>
                          <a:cs typeface="Arial"/>
                        </a:rPr>
                        <a:t> period)</a:t>
                      </a:r>
                      <a:endParaRPr sz="1200">
                        <a:latin typeface="Arial"/>
                        <a:cs typeface="Arial"/>
                      </a:endParaRPr>
                    </a:p>
                  </a:txBody>
                  <a:tcPr marL="0" marR="0" marT="156633" marB="0">
                    <a:lnL w="9525">
                      <a:solidFill>
                        <a:srgbClr val="373737"/>
                      </a:solidFill>
                      <a:prstDash val="solid"/>
                    </a:lnL>
                    <a:lnR w="9525">
                      <a:solidFill>
                        <a:srgbClr val="373737"/>
                      </a:solidFill>
                      <a:prstDash val="solid"/>
                    </a:lnR>
                    <a:lnT w="9525">
                      <a:solidFill>
                        <a:srgbClr val="373737"/>
                      </a:solidFill>
                      <a:prstDash val="solid"/>
                    </a:lnT>
                    <a:lnB w="9525">
                      <a:solidFill>
                        <a:srgbClr val="373737"/>
                      </a:solidFill>
                      <a:prstDash val="solid"/>
                    </a:lnB>
                  </a:tcPr>
                </a:tc>
                <a:tc>
                  <a:txBody>
                    <a:bodyPr/>
                    <a:lstStyle/>
                    <a:p>
                      <a:pPr marL="153035">
                        <a:lnSpc>
                          <a:spcPct val="100000"/>
                        </a:lnSpc>
                        <a:spcBef>
                          <a:spcPts val="925"/>
                        </a:spcBef>
                      </a:pPr>
                      <a:r>
                        <a:rPr sz="1200" b="1" spc="-30" dirty="0">
                          <a:latin typeface="Arial"/>
                          <a:cs typeface="Arial"/>
                        </a:rPr>
                        <a:t>Multiple</a:t>
                      </a:r>
                      <a:r>
                        <a:rPr sz="1200" b="1" spc="10" dirty="0">
                          <a:latin typeface="Arial"/>
                          <a:cs typeface="Arial"/>
                        </a:rPr>
                        <a:t> </a:t>
                      </a:r>
                      <a:r>
                        <a:rPr sz="1200" b="1" spc="-50" dirty="0">
                          <a:latin typeface="Arial"/>
                          <a:cs typeface="Arial"/>
                        </a:rPr>
                        <a:t>snapshot</a:t>
                      </a:r>
                      <a:r>
                        <a:rPr sz="1200" b="1" spc="-15" dirty="0">
                          <a:latin typeface="Arial"/>
                          <a:cs typeface="Arial"/>
                        </a:rPr>
                        <a:t> </a:t>
                      </a:r>
                      <a:r>
                        <a:rPr sz="1200" b="1" spc="-10" dirty="0">
                          <a:latin typeface="Arial"/>
                          <a:cs typeface="Arial"/>
                        </a:rPr>
                        <a:t>dates</a:t>
                      </a:r>
                      <a:endParaRPr sz="1200">
                        <a:latin typeface="Arial"/>
                        <a:cs typeface="Arial"/>
                      </a:endParaRPr>
                    </a:p>
                  </a:txBody>
                  <a:tcPr marL="0" marR="0" marT="156633" marB="0">
                    <a:lnL w="9525">
                      <a:solidFill>
                        <a:srgbClr val="373737"/>
                      </a:solidFill>
                      <a:prstDash val="solid"/>
                    </a:lnL>
                    <a:lnR w="9525">
                      <a:solidFill>
                        <a:srgbClr val="373737"/>
                      </a:solidFill>
                      <a:prstDash val="solid"/>
                    </a:lnR>
                    <a:lnT w="9525">
                      <a:solidFill>
                        <a:srgbClr val="373737"/>
                      </a:solidFill>
                      <a:prstDash val="solid"/>
                    </a:lnT>
                    <a:lnB w="9525">
                      <a:solidFill>
                        <a:srgbClr val="373737"/>
                      </a:solidFill>
                      <a:prstDash val="solid"/>
                    </a:lnB>
                  </a:tcPr>
                </a:tc>
                <a:extLst>
                  <a:ext uri="{0D108BD9-81ED-4DB2-BD59-A6C34878D82A}">
                    <a16:rowId xmlns:a16="http://schemas.microsoft.com/office/drawing/2014/main" val="10002"/>
                  </a:ext>
                </a:extLst>
              </a:tr>
              <a:tr h="493607">
                <a:tc>
                  <a:txBody>
                    <a:bodyPr/>
                    <a:lstStyle/>
                    <a:p>
                      <a:pPr marL="152400">
                        <a:lnSpc>
                          <a:spcPct val="100000"/>
                        </a:lnSpc>
                        <a:spcBef>
                          <a:spcPts val="765"/>
                        </a:spcBef>
                      </a:pPr>
                      <a:r>
                        <a:rPr sz="1300" b="1" dirty="0">
                          <a:latin typeface="Arial"/>
                          <a:cs typeface="Arial"/>
                        </a:rPr>
                        <a:t>No.</a:t>
                      </a:r>
                      <a:r>
                        <a:rPr sz="1300" b="1" spc="-20" dirty="0">
                          <a:latin typeface="Arial"/>
                          <a:cs typeface="Arial"/>
                        </a:rPr>
                        <a:t> </a:t>
                      </a:r>
                      <a:r>
                        <a:rPr sz="1300" b="1" dirty="0">
                          <a:latin typeface="Arial"/>
                          <a:cs typeface="Arial"/>
                        </a:rPr>
                        <a:t>Of</a:t>
                      </a:r>
                      <a:r>
                        <a:rPr sz="1300" b="1" spc="-15" dirty="0">
                          <a:latin typeface="Arial"/>
                          <a:cs typeface="Arial"/>
                        </a:rPr>
                        <a:t> </a:t>
                      </a:r>
                      <a:r>
                        <a:rPr sz="1300" b="1" spc="-10" dirty="0">
                          <a:latin typeface="Arial"/>
                          <a:cs typeface="Arial"/>
                        </a:rPr>
                        <a:t>dimensions</a:t>
                      </a:r>
                      <a:endParaRPr sz="1300">
                        <a:latin typeface="Arial"/>
                        <a:cs typeface="Arial"/>
                      </a:endParaRPr>
                    </a:p>
                  </a:txBody>
                  <a:tcPr marL="0" marR="0" marT="129540" marB="0">
                    <a:lnL w="9525">
                      <a:solidFill>
                        <a:srgbClr val="373737"/>
                      </a:solidFill>
                      <a:prstDash val="solid"/>
                    </a:lnL>
                    <a:lnR w="9525">
                      <a:solidFill>
                        <a:srgbClr val="373737"/>
                      </a:solidFill>
                      <a:prstDash val="solid"/>
                    </a:lnR>
                    <a:lnT w="9525">
                      <a:solidFill>
                        <a:srgbClr val="373737"/>
                      </a:solidFill>
                      <a:prstDash val="solid"/>
                    </a:lnT>
                    <a:lnB w="9525">
                      <a:solidFill>
                        <a:srgbClr val="373737"/>
                      </a:solidFill>
                      <a:prstDash val="solid"/>
                    </a:lnB>
                    <a:solidFill>
                      <a:srgbClr val="383838">
                        <a:alpha val="39999"/>
                      </a:srgbClr>
                    </a:solidFill>
                  </a:tcPr>
                </a:tc>
                <a:tc>
                  <a:txBody>
                    <a:bodyPr/>
                    <a:lstStyle/>
                    <a:p>
                      <a:pPr marL="152400">
                        <a:lnSpc>
                          <a:spcPct val="100000"/>
                        </a:lnSpc>
                        <a:spcBef>
                          <a:spcPts val="925"/>
                        </a:spcBef>
                      </a:pPr>
                      <a:r>
                        <a:rPr sz="1200" b="1" spc="-20" dirty="0">
                          <a:latin typeface="Arial"/>
                          <a:cs typeface="Arial"/>
                        </a:rPr>
                        <a:t>High</a:t>
                      </a:r>
                      <a:endParaRPr sz="1200">
                        <a:latin typeface="Arial"/>
                        <a:cs typeface="Arial"/>
                      </a:endParaRPr>
                    </a:p>
                  </a:txBody>
                  <a:tcPr marL="0" marR="0" marT="156633" marB="0">
                    <a:lnL w="9525">
                      <a:solidFill>
                        <a:srgbClr val="373737"/>
                      </a:solidFill>
                      <a:prstDash val="solid"/>
                    </a:lnL>
                    <a:lnR w="9525">
                      <a:solidFill>
                        <a:srgbClr val="373737"/>
                      </a:solidFill>
                      <a:prstDash val="solid"/>
                    </a:lnR>
                    <a:lnT w="9525">
                      <a:solidFill>
                        <a:srgbClr val="373737"/>
                      </a:solidFill>
                      <a:prstDash val="solid"/>
                    </a:lnT>
                    <a:lnB w="9525">
                      <a:solidFill>
                        <a:srgbClr val="373737"/>
                      </a:solidFill>
                      <a:prstDash val="solid"/>
                    </a:lnB>
                    <a:solidFill>
                      <a:srgbClr val="383838">
                        <a:alpha val="39999"/>
                      </a:srgbClr>
                    </a:solidFill>
                  </a:tcPr>
                </a:tc>
                <a:tc>
                  <a:txBody>
                    <a:bodyPr/>
                    <a:lstStyle/>
                    <a:p>
                      <a:pPr marL="153035">
                        <a:lnSpc>
                          <a:spcPct val="100000"/>
                        </a:lnSpc>
                        <a:spcBef>
                          <a:spcPts val="925"/>
                        </a:spcBef>
                      </a:pPr>
                      <a:r>
                        <a:rPr sz="1200" b="1" spc="-10" dirty="0">
                          <a:latin typeface="Arial"/>
                          <a:cs typeface="Arial"/>
                        </a:rPr>
                        <a:t>Lower</a:t>
                      </a:r>
                      <a:endParaRPr sz="1200">
                        <a:latin typeface="Arial"/>
                        <a:cs typeface="Arial"/>
                      </a:endParaRPr>
                    </a:p>
                  </a:txBody>
                  <a:tcPr marL="0" marR="0" marT="156633" marB="0">
                    <a:lnL w="9525">
                      <a:solidFill>
                        <a:srgbClr val="373737"/>
                      </a:solidFill>
                      <a:prstDash val="solid"/>
                    </a:lnL>
                    <a:lnR w="9525">
                      <a:solidFill>
                        <a:srgbClr val="373737"/>
                      </a:solidFill>
                      <a:prstDash val="solid"/>
                    </a:lnR>
                    <a:lnT w="9525">
                      <a:solidFill>
                        <a:srgbClr val="373737"/>
                      </a:solidFill>
                      <a:prstDash val="solid"/>
                    </a:lnT>
                    <a:lnB w="9525">
                      <a:solidFill>
                        <a:srgbClr val="373737"/>
                      </a:solidFill>
                      <a:prstDash val="solid"/>
                    </a:lnB>
                    <a:solidFill>
                      <a:srgbClr val="383838">
                        <a:alpha val="39999"/>
                      </a:srgbClr>
                    </a:solidFill>
                  </a:tcPr>
                </a:tc>
                <a:tc>
                  <a:txBody>
                    <a:bodyPr/>
                    <a:lstStyle/>
                    <a:p>
                      <a:pPr marL="153035">
                        <a:lnSpc>
                          <a:spcPct val="100000"/>
                        </a:lnSpc>
                        <a:spcBef>
                          <a:spcPts val="925"/>
                        </a:spcBef>
                      </a:pPr>
                      <a:r>
                        <a:rPr sz="1200" b="1" spc="-30" dirty="0">
                          <a:latin typeface="Arial"/>
                          <a:cs typeface="Arial"/>
                        </a:rPr>
                        <a:t>Very </a:t>
                      </a:r>
                      <a:r>
                        <a:rPr sz="1200" b="1" spc="-20" dirty="0">
                          <a:latin typeface="Arial"/>
                          <a:cs typeface="Arial"/>
                        </a:rPr>
                        <a:t>high</a:t>
                      </a:r>
                      <a:endParaRPr sz="1200">
                        <a:latin typeface="Arial"/>
                        <a:cs typeface="Arial"/>
                      </a:endParaRPr>
                    </a:p>
                  </a:txBody>
                  <a:tcPr marL="0" marR="0" marT="156633" marB="0">
                    <a:lnL w="9525">
                      <a:solidFill>
                        <a:srgbClr val="373737"/>
                      </a:solidFill>
                      <a:prstDash val="solid"/>
                    </a:lnL>
                    <a:lnR w="9525">
                      <a:solidFill>
                        <a:srgbClr val="373737"/>
                      </a:solidFill>
                      <a:prstDash val="solid"/>
                    </a:lnR>
                    <a:lnT w="9525">
                      <a:solidFill>
                        <a:srgbClr val="373737"/>
                      </a:solidFill>
                      <a:prstDash val="solid"/>
                    </a:lnT>
                    <a:lnB w="9525">
                      <a:solidFill>
                        <a:srgbClr val="373737"/>
                      </a:solidFill>
                      <a:prstDash val="solid"/>
                    </a:lnB>
                    <a:solidFill>
                      <a:srgbClr val="383838">
                        <a:alpha val="39999"/>
                      </a:srgbClr>
                    </a:solidFill>
                  </a:tcPr>
                </a:tc>
                <a:extLst>
                  <a:ext uri="{0D108BD9-81ED-4DB2-BD59-A6C34878D82A}">
                    <a16:rowId xmlns:a16="http://schemas.microsoft.com/office/drawing/2014/main" val="10003"/>
                  </a:ext>
                </a:extLst>
              </a:tr>
              <a:tr h="494453">
                <a:tc>
                  <a:txBody>
                    <a:bodyPr/>
                    <a:lstStyle/>
                    <a:p>
                      <a:pPr marL="152400">
                        <a:lnSpc>
                          <a:spcPct val="100000"/>
                        </a:lnSpc>
                        <a:spcBef>
                          <a:spcPts val="765"/>
                        </a:spcBef>
                      </a:pPr>
                      <a:r>
                        <a:rPr sz="1300" b="1" spc="-10" dirty="0">
                          <a:latin typeface="Arial"/>
                          <a:cs typeface="Arial"/>
                        </a:rPr>
                        <a:t>Facts</a:t>
                      </a:r>
                      <a:endParaRPr sz="1300">
                        <a:latin typeface="Arial"/>
                        <a:cs typeface="Arial"/>
                      </a:endParaRPr>
                    </a:p>
                  </a:txBody>
                  <a:tcPr marL="0" marR="0" marT="129540" marB="0">
                    <a:lnL w="9525">
                      <a:solidFill>
                        <a:srgbClr val="373737"/>
                      </a:solidFill>
                      <a:prstDash val="solid"/>
                    </a:lnL>
                    <a:lnR w="9525">
                      <a:solidFill>
                        <a:srgbClr val="373737"/>
                      </a:solidFill>
                      <a:prstDash val="solid"/>
                    </a:lnR>
                    <a:lnT w="9525">
                      <a:solidFill>
                        <a:srgbClr val="373737"/>
                      </a:solidFill>
                      <a:prstDash val="solid"/>
                    </a:lnT>
                    <a:lnB w="9525">
                      <a:solidFill>
                        <a:srgbClr val="373737"/>
                      </a:solidFill>
                      <a:prstDash val="solid"/>
                    </a:lnB>
                  </a:tcPr>
                </a:tc>
                <a:tc>
                  <a:txBody>
                    <a:bodyPr/>
                    <a:lstStyle/>
                    <a:p>
                      <a:pPr marL="152400">
                        <a:lnSpc>
                          <a:spcPct val="100000"/>
                        </a:lnSpc>
                        <a:spcBef>
                          <a:spcPts val="925"/>
                        </a:spcBef>
                      </a:pPr>
                      <a:r>
                        <a:rPr sz="1200" b="1" spc="-30" dirty="0">
                          <a:latin typeface="Arial"/>
                          <a:cs typeface="Arial"/>
                        </a:rPr>
                        <a:t>Measures</a:t>
                      </a:r>
                      <a:r>
                        <a:rPr sz="1200" b="1" spc="-15" dirty="0">
                          <a:latin typeface="Arial"/>
                          <a:cs typeface="Arial"/>
                        </a:rPr>
                        <a:t> </a:t>
                      </a:r>
                      <a:r>
                        <a:rPr sz="1200" b="1" spc="-35" dirty="0">
                          <a:latin typeface="Arial"/>
                          <a:cs typeface="Arial"/>
                        </a:rPr>
                        <a:t>of</a:t>
                      </a:r>
                      <a:r>
                        <a:rPr sz="1200" b="1" spc="-15" dirty="0">
                          <a:latin typeface="Arial"/>
                          <a:cs typeface="Arial"/>
                        </a:rPr>
                        <a:t> </a:t>
                      </a:r>
                      <a:r>
                        <a:rPr sz="1200" b="1" spc="-10" dirty="0">
                          <a:latin typeface="Arial"/>
                          <a:cs typeface="Arial"/>
                        </a:rPr>
                        <a:t>transactions</a:t>
                      </a:r>
                      <a:endParaRPr sz="1200">
                        <a:latin typeface="Arial"/>
                        <a:cs typeface="Arial"/>
                      </a:endParaRPr>
                    </a:p>
                  </a:txBody>
                  <a:tcPr marL="0" marR="0" marT="156633" marB="0">
                    <a:lnL w="9525">
                      <a:solidFill>
                        <a:srgbClr val="373737"/>
                      </a:solidFill>
                      <a:prstDash val="solid"/>
                    </a:lnL>
                    <a:lnR w="9525">
                      <a:solidFill>
                        <a:srgbClr val="373737"/>
                      </a:solidFill>
                      <a:prstDash val="solid"/>
                    </a:lnR>
                    <a:lnT w="9525">
                      <a:solidFill>
                        <a:srgbClr val="373737"/>
                      </a:solidFill>
                      <a:prstDash val="solid"/>
                    </a:lnT>
                    <a:lnB w="9525">
                      <a:solidFill>
                        <a:srgbClr val="373737"/>
                      </a:solidFill>
                      <a:prstDash val="solid"/>
                    </a:lnB>
                  </a:tcPr>
                </a:tc>
                <a:tc>
                  <a:txBody>
                    <a:bodyPr/>
                    <a:lstStyle/>
                    <a:p>
                      <a:pPr marL="153035" marR="574040">
                        <a:lnSpc>
                          <a:spcPct val="100000"/>
                        </a:lnSpc>
                        <a:spcBef>
                          <a:spcPts val="385"/>
                        </a:spcBef>
                      </a:pPr>
                      <a:r>
                        <a:rPr sz="1200" b="1" spc="-40" dirty="0">
                          <a:latin typeface="Arial"/>
                          <a:cs typeface="Arial"/>
                        </a:rPr>
                        <a:t>Cumulative</a:t>
                      </a:r>
                      <a:r>
                        <a:rPr sz="1200" b="1" spc="15" dirty="0">
                          <a:latin typeface="Arial"/>
                          <a:cs typeface="Arial"/>
                        </a:rPr>
                        <a:t> </a:t>
                      </a:r>
                      <a:r>
                        <a:rPr sz="1200" b="1" spc="-30" dirty="0">
                          <a:latin typeface="Arial"/>
                          <a:cs typeface="Arial"/>
                        </a:rPr>
                        <a:t>measures</a:t>
                      </a:r>
                      <a:r>
                        <a:rPr sz="1200" b="1" spc="15" dirty="0">
                          <a:latin typeface="Arial"/>
                          <a:cs typeface="Arial"/>
                        </a:rPr>
                        <a:t> </a:t>
                      </a:r>
                      <a:r>
                        <a:rPr sz="1200" b="1" spc="-25" dirty="0">
                          <a:latin typeface="Arial"/>
                          <a:cs typeface="Arial"/>
                        </a:rPr>
                        <a:t>of </a:t>
                      </a:r>
                      <a:r>
                        <a:rPr sz="1200" b="1" spc="-35" dirty="0">
                          <a:latin typeface="Arial"/>
                          <a:cs typeface="Arial"/>
                        </a:rPr>
                        <a:t>transactions</a:t>
                      </a:r>
                      <a:r>
                        <a:rPr sz="1200" b="1" spc="-40" dirty="0">
                          <a:latin typeface="Arial"/>
                          <a:cs typeface="Arial"/>
                        </a:rPr>
                        <a:t> </a:t>
                      </a:r>
                      <a:r>
                        <a:rPr sz="1200" b="1" spc="-20" dirty="0">
                          <a:latin typeface="Arial"/>
                          <a:cs typeface="Arial"/>
                        </a:rPr>
                        <a:t>in</a:t>
                      </a:r>
                      <a:r>
                        <a:rPr sz="1200" b="1" dirty="0">
                          <a:latin typeface="Arial"/>
                          <a:cs typeface="Arial"/>
                        </a:rPr>
                        <a:t> </a:t>
                      </a:r>
                      <a:r>
                        <a:rPr sz="1200" b="1" spc="-10" dirty="0">
                          <a:latin typeface="Arial"/>
                          <a:cs typeface="Arial"/>
                        </a:rPr>
                        <a:t>period</a:t>
                      </a:r>
                      <a:endParaRPr sz="1200">
                        <a:latin typeface="Arial"/>
                        <a:cs typeface="Arial"/>
                      </a:endParaRPr>
                    </a:p>
                  </a:txBody>
                  <a:tcPr marL="0" marR="0" marT="65193" marB="0">
                    <a:lnL w="9525">
                      <a:solidFill>
                        <a:srgbClr val="373737"/>
                      </a:solidFill>
                      <a:prstDash val="solid"/>
                    </a:lnL>
                    <a:lnR w="9525">
                      <a:solidFill>
                        <a:srgbClr val="373737"/>
                      </a:solidFill>
                      <a:prstDash val="solid"/>
                    </a:lnR>
                    <a:lnT w="9525">
                      <a:solidFill>
                        <a:srgbClr val="373737"/>
                      </a:solidFill>
                      <a:prstDash val="solid"/>
                    </a:lnT>
                    <a:lnB w="9525">
                      <a:solidFill>
                        <a:srgbClr val="373737"/>
                      </a:solidFill>
                      <a:prstDash val="solid"/>
                    </a:lnB>
                  </a:tcPr>
                </a:tc>
                <a:tc>
                  <a:txBody>
                    <a:bodyPr/>
                    <a:lstStyle/>
                    <a:p>
                      <a:pPr marL="153035" marR="549275">
                        <a:lnSpc>
                          <a:spcPct val="100000"/>
                        </a:lnSpc>
                        <a:spcBef>
                          <a:spcPts val="385"/>
                        </a:spcBef>
                      </a:pPr>
                      <a:r>
                        <a:rPr sz="1200" b="1" spc="-30" dirty="0">
                          <a:latin typeface="Arial"/>
                          <a:cs typeface="Arial"/>
                        </a:rPr>
                        <a:t>Measures</a:t>
                      </a:r>
                      <a:r>
                        <a:rPr sz="1200" b="1" spc="-15" dirty="0">
                          <a:latin typeface="Arial"/>
                          <a:cs typeface="Arial"/>
                        </a:rPr>
                        <a:t> </a:t>
                      </a:r>
                      <a:r>
                        <a:rPr sz="1200" b="1" spc="-35" dirty="0">
                          <a:latin typeface="Arial"/>
                          <a:cs typeface="Arial"/>
                        </a:rPr>
                        <a:t>of</a:t>
                      </a:r>
                      <a:r>
                        <a:rPr sz="1200" b="1" spc="-15" dirty="0">
                          <a:latin typeface="Arial"/>
                          <a:cs typeface="Arial"/>
                        </a:rPr>
                        <a:t> </a:t>
                      </a:r>
                      <a:r>
                        <a:rPr sz="1200" b="1" spc="-35" dirty="0">
                          <a:latin typeface="Arial"/>
                          <a:cs typeface="Arial"/>
                        </a:rPr>
                        <a:t>process</a:t>
                      </a:r>
                      <a:r>
                        <a:rPr sz="1200" b="1" spc="-10" dirty="0">
                          <a:latin typeface="Arial"/>
                          <a:cs typeface="Arial"/>
                        </a:rPr>
                        <a:t> </a:t>
                      </a:r>
                      <a:r>
                        <a:rPr sz="1200" b="1" spc="-25" dirty="0">
                          <a:latin typeface="Arial"/>
                          <a:cs typeface="Arial"/>
                        </a:rPr>
                        <a:t>in </a:t>
                      </a:r>
                      <a:r>
                        <a:rPr sz="1200" b="1" spc="-10" dirty="0">
                          <a:latin typeface="Arial"/>
                          <a:cs typeface="Arial"/>
                        </a:rPr>
                        <a:t>lifespan</a:t>
                      </a:r>
                      <a:endParaRPr sz="1200">
                        <a:latin typeface="Arial"/>
                        <a:cs typeface="Arial"/>
                      </a:endParaRPr>
                    </a:p>
                  </a:txBody>
                  <a:tcPr marL="0" marR="0" marT="65193" marB="0">
                    <a:lnL w="9525">
                      <a:solidFill>
                        <a:srgbClr val="373737"/>
                      </a:solidFill>
                      <a:prstDash val="solid"/>
                    </a:lnL>
                    <a:lnR w="9525">
                      <a:solidFill>
                        <a:srgbClr val="373737"/>
                      </a:solidFill>
                      <a:prstDash val="solid"/>
                    </a:lnR>
                    <a:lnT w="9525">
                      <a:solidFill>
                        <a:srgbClr val="373737"/>
                      </a:solidFill>
                      <a:prstDash val="solid"/>
                    </a:lnT>
                    <a:lnB w="9525">
                      <a:solidFill>
                        <a:srgbClr val="373737"/>
                      </a:solidFill>
                      <a:prstDash val="solid"/>
                    </a:lnB>
                  </a:tcPr>
                </a:tc>
                <a:extLst>
                  <a:ext uri="{0D108BD9-81ED-4DB2-BD59-A6C34878D82A}">
                    <a16:rowId xmlns:a16="http://schemas.microsoft.com/office/drawing/2014/main" val="10004"/>
                  </a:ext>
                </a:extLst>
              </a:tr>
              <a:tr h="493607">
                <a:tc>
                  <a:txBody>
                    <a:bodyPr/>
                    <a:lstStyle/>
                    <a:p>
                      <a:pPr marL="152400">
                        <a:lnSpc>
                          <a:spcPct val="100000"/>
                        </a:lnSpc>
                        <a:spcBef>
                          <a:spcPts val="765"/>
                        </a:spcBef>
                      </a:pPr>
                      <a:r>
                        <a:rPr sz="1300" b="1" spc="-20" dirty="0">
                          <a:latin typeface="Arial"/>
                          <a:cs typeface="Arial"/>
                        </a:rPr>
                        <a:t>Size</a:t>
                      </a:r>
                      <a:endParaRPr sz="1300">
                        <a:latin typeface="Arial"/>
                        <a:cs typeface="Arial"/>
                      </a:endParaRPr>
                    </a:p>
                  </a:txBody>
                  <a:tcPr marL="0" marR="0" marT="129540" marB="0">
                    <a:lnL w="9525">
                      <a:solidFill>
                        <a:srgbClr val="373737"/>
                      </a:solidFill>
                      <a:prstDash val="solid"/>
                    </a:lnL>
                    <a:lnR w="9525">
                      <a:solidFill>
                        <a:srgbClr val="373737"/>
                      </a:solidFill>
                      <a:prstDash val="solid"/>
                    </a:lnR>
                    <a:lnT w="9525">
                      <a:solidFill>
                        <a:srgbClr val="373737"/>
                      </a:solidFill>
                      <a:prstDash val="solid"/>
                    </a:lnT>
                    <a:lnB w="9525">
                      <a:solidFill>
                        <a:srgbClr val="373737"/>
                      </a:solidFill>
                      <a:prstDash val="solid"/>
                    </a:lnB>
                    <a:solidFill>
                      <a:srgbClr val="383838">
                        <a:alpha val="39999"/>
                      </a:srgbClr>
                    </a:solidFill>
                  </a:tcPr>
                </a:tc>
                <a:tc>
                  <a:txBody>
                    <a:bodyPr/>
                    <a:lstStyle/>
                    <a:p>
                      <a:pPr marL="152400">
                        <a:lnSpc>
                          <a:spcPct val="100000"/>
                        </a:lnSpc>
                        <a:spcBef>
                          <a:spcPts val="925"/>
                        </a:spcBef>
                      </a:pPr>
                      <a:r>
                        <a:rPr sz="1200" b="1" spc="-30" dirty="0">
                          <a:latin typeface="Arial"/>
                          <a:cs typeface="Arial"/>
                        </a:rPr>
                        <a:t>Largest</a:t>
                      </a:r>
                      <a:r>
                        <a:rPr sz="1200" b="1" spc="-20" dirty="0">
                          <a:latin typeface="Arial"/>
                          <a:cs typeface="Arial"/>
                        </a:rPr>
                        <a:t> </a:t>
                      </a:r>
                      <a:r>
                        <a:rPr sz="1200" b="1" spc="-30" dirty="0">
                          <a:latin typeface="Arial"/>
                          <a:cs typeface="Arial"/>
                        </a:rPr>
                        <a:t>(most</a:t>
                      </a:r>
                      <a:r>
                        <a:rPr sz="1200" b="1" spc="-10" dirty="0">
                          <a:latin typeface="Arial"/>
                          <a:cs typeface="Arial"/>
                        </a:rPr>
                        <a:t> </a:t>
                      </a:r>
                      <a:r>
                        <a:rPr sz="1200" b="1" spc="-30" dirty="0">
                          <a:latin typeface="Arial"/>
                          <a:cs typeface="Arial"/>
                        </a:rPr>
                        <a:t>detailed</a:t>
                      </a:r>
                      <a:r>
                        <a:rPr sz="1200" b="1" spc="-5" dirty="0">
                          <a:latin typeface="Arial"/>
                          <a:cs typeface="Arial"/>
                        </a:rPr>
                        <a:t> </a:t>
                      </a:r>
                      <a:r>
                        <a:rPr sz="1200" b="1" spc="-10" dirty="0">
                          <a:latin typeface="Arial"/>
                          <a:cs typeface="Arial"/>
                        </a:rPr>
                        <a:t>grain)</a:t>
                      </a:r>
                      <a:endParaRPr sz="1200">
                        <a:latin typeface="Arial"/>
                        <a:cs typeface="Arial"/>
                      </a:endParaRPr>
                    </a:p>
                  </a:txBody>
                  <a:tcPr marL="0" marR="0" marT="156633" marB="0">
                    <a:lnL w="9525">
                      <a:solidFill>
                        <a:srgbClr val="373737"/>
                      </a:solidFill>
                      <a:prstDash val="solid"/>
                    </a:lnL>
                    <a:lnR w="9525">
                      <a:solidFill>
                        <a:srgbClr val="373737"/>
                      </a:solidFill>
                      <a:prstDash val="solid"/>
                    </a:lnR>
                    <a:lnT w="9525">
                      <a:solidFill>
                        <a:srgbClr val="373737"/>
                      </a:solidFill>
                      <a:prstDash val="solid"/>
                    </a:lnT>
                    <a:lnB w="9525">
                      <a:solidFill>
                        <a:srgbClr val="373737"/>
                      </a:solidFill>
                      <a:prstDash val="solid"/>
                    </a:lnB>
                    <a:solidFill>
                      <a:srgbClr val="383838">
                        <a:alpha val="39999"/>
                      </a:srgbClr>
                    </a:solidFill>
                  </a:tcPr>
                </a:tc>
                <a:tc>
                  <a:txBody>
                    <a:bodyPr/>
                    <a:lstStyle/>
                    <a:p>
                      <a:pPr marL="153035">
                        <a:lnSpc>
                          <a:spcPct val="100000"/>
                        </a:lnSpc>
                        <a:spcBef>
                          <a:spcPts val="925"/>
                        </a:spcBef>
                      </a:pPr>
                      <a:r>
                        <a:rPr sz="1200" b="1" spc="-40" dirty="0">
                          <a:latin typeface="Arial"/>
                          <a:cs typeface="Arial"/>
                        </a:rPr>
                        <a:t>Middle</a:t>
                      </a:r>
                      <a:r>
                        <a:rPr sz="1200" b="1" spc="5" dirty="0">
                          <a:latin typeface="Arial"/>
                          <a:cs typeface="Arial"/>
                        </a:rPr>
                        <a:t> </a:t>
                      </a:r>
                      <a:r>
                        <a:rPr sz="1200" b="1" spc="-20" dirty="0">
                          <a:latin typeface="Arial"/>
                          <a:cs typeface="Arial"/>
                        </a:rPr>
                        <a:t>(less</a:t>
                      </a:r>
                      <a:r>
                        <a:rPr sz="1200" b="1" spc="-30" dirty="0">
                          <a:latin typeface="Arial"/>
                          <a:cs typeface="Arial"/>
                        </a:rPr>
                        <a:t> detailed</a:t>
                      </a:r>
                      <a:r>
                        <a:rPr sz="1200" b="1" spc="-10" dirty="0">
                          <a:latin typeface="Arial"/>
                          <a:cs typeface="Arial"/>
                        </a:rPr>
                        <a:t> grain)</a:t>
                      </a:r>
                      <a:endParaRPr sz="1200">
                        <a:latin typeface="Arial"/>
                        <a:cs typeface="Arial"/>
                      </a:endParaRPr>
                    </a:p>
                  </a:txBody>
                  <a:tcPr marL="0" marR="0" marT="156633" marB="0">
                    <a:lnL w="9525">
                      <a:solidFill>
                        <a:srgbClr val="373737"/>
                      </a:solidFill>
                      <a:prstDash val="solid"/>
                    </a:lnL>
                    <a:lnR w="9525">
                      <a:solidFill>
                        <a:srgbClr val="373737"/>
                      </a:solidFill>
                      <a:prstDash val="solid"/>
                    </a:lnR>
                    <a:lnT w="9525">
                      <a:solidFill>
                        <a:srgbClr val="373737"/>
                      </a:solidFill>
                      <a:prstDash val="solid"/>
                    </a:lnT>
                    <a:lnB w="9525">
                      <a:solidFill>
                        <a:srgbClr val="373737"/>
                      </a:solidFill>
                      <a:prstDash val="solid"/>
                    </a:lnB>
                    <a:solidFill>
                      <a:srgbClr val="383838">
                        <a:alpha val="39999"/>
                      </a:srgbClr>
                    </a:solidFill>
                  </a:tcPr>
                </a:tc>
                <a:tc>
                  <a:txBody>
                    <a:bodyPr/>
                    <a:lstStyle/>
                    <a:p>
                      <a:pPr marL="153035">
                        <a:lnSpc>
                          <a:spcPct val="100000"/>
                        </a:lnSpc>
                        <a:spcBef>
                          <a:spcPts val="925"/>
                        </a:spcBef>
                      </a:pPr>
                      <a:r>
                        <a:rPr sz="1200" b="1" spc="-30" dirty="0">
                          <a:latin typeface="Arial"/>
                          <a:cs typeface="Arial"/>
                        </a:rPr>
                        <a:t>Lowest</a:t>
                      </a:r>
                      <a:r>
                        <a:rPr sz="1200" b="1" spc="5" dirty="0">
                          <a:latin typeface="Arial"/>
                          <a:cs typeface="Arial"/>
                        </a:rPr>
                        <a:t> </a:t>
                      </a:r>
                      <a:r>
                        <a:rPr sz="1200" b="1" spc="-40" dirty="0">
                          <a:latin typeface="Arial"/>
                          <a:cs typeface="Arial"/>
                        </a:rPr>
                        <a:t>(highest</a:t>
                      </a:r>
                      <a:r>
                        <a:rPr sz="1200" b="1" spc="-15" dirty="0">
                          <a:latin typeface="Arial"/>
                          <a:cs typeface="Arial"/>
                        </a:rPr>
                        <a:t> </a:t>
                      </a:r>
                      <a:r>
                        <a:rPr sz="1200" b="1" spc="-10" dirty="0">
                          <a:latin typeface="Arial"/>
                          <a:cs typeface="Arial"/>
                        </a:rPr>
                        <a:t>aggregation)</a:t>
                      </a:r>
                      <a:endParaRPr sz="1200">
                        <a:latin typeface="Arial"/>
                        <a:cs typeface="Arial"/>
                      </a:endParaRPr>
                    </a:p>
                  </a:txBody>
                  <a:tcPr marL="0" marR="0" marT="156633" marB="0">
                    <a:lnL w="9525">
                      <a:solidFill>
                        <a:srgbClr val="373737"/>
                      </a:solidFill>
                      <a:prstDash val="solid"/>
                    </a:lnL>
                    <a:lnR w="9525">
                      <a:solidFill>
                        <a:srgbClr val="373737"/>
                      </a:solidFill>
                      <a:prstDash val="solid"/>
                    </a:lnR>
                    <a:lnT w="9525">
                      <a:solidFill>
                        <a:srgbClr val="373737"/>
                      </a:solidFill>
                      <a:prstDash val="solid"/>
                    </a:lnT>
                    <a:lnB w="9525">
                      <a:solidFill>
                        <a:srgbClr val="373737"/>
                      </a:solidFill>
                      <a:prstDash val="solid"/>
                    </a:lnB>
                    <a:solidFill>
                      <a:srgbClr val="383838">
                        <a:alpha val="39999"/>
                      </a:srgbClr>
                    </a:solidFill>
                  </a:tcPr>
                </a:tc>
                <a:extLst>
                  <a:ext uri="{0D108BD9-81ED-4DB2-BD59-A6C34878D82A}">
                    <a16:rowId xmlns:a16="http://schemas.microsoft.com/office/drawing/2014/main" val="10005"/>
                  </a:ext>
                </a:extLst>
              </a:tr>
              <a:tr h="494453">
                <a:tc>
                  <a:txBody>
                    <a:bodyPr/>
                    <a:lstStyle/>
                    <a:p>
                      <a:pPr marL="152400">
                        <a:lnSpc>
                          <a:spcPct val="100000"/>
                        </a:lnSpc>
                        <a:spcBef>
                          <a:spcPts val="765"/>
                        </a:spcBef>
                      </a:pPr>
                      <a:r>
                        <a:rPr sz="1300" b="1" spc="-10" dirty="0">
                          <a:latin typeface="Arial"/>
                          <a:cs typeface="Arial"/>
                        </a:rPr>
                        <a:t>Performance</a:t>
                      </a:r>
                      <a:endParaRPr sz="1300">
                        <a:latin typeface="Arial"/>
                        <a:cs typeface="Arial"/>
                      </a:endParaRPr>
                    </a:p>
                  </a:txBody>
                  <a:tcPr marL="0" marR="0" marT="129540" marB="0">
                    <a:lnL w="9525">
                      <a:solidFill>
                        <a:srgbClr val="373737"/>
                      </a:solidFill>
                      <a:prstDash val="solid"/>
                    </a:lnL>
                    <a:lnR w="9525">
                      <a:solidFill>
                        <a:srgbClr val="373737"/>
                      </a:solidFill>
                      <a:prstDash val="solid"/>
                    </a:lnR>
                    <a:lnT w="9525">
                      <a:solidFill>
                        <a:srgbClr val="373737"/>
                      </a:solidFill>
                      <a:prstDash val="solid"/>
                    </a:lnT>
                    <a:lnB w="9525">
                      <a:solidFill>
                        <a:srgbClr val="373737"/>
                      </a:solidFill>
                      <a:prstDash val="solid"/>
                    </a:lnB>
                  </a:tcPr>
                </a:tc>
                <a:tc>
                  <a:txBody>
                    <a:bodyPr/>
                    <a:lstStyle/>
                    <a:p>
                      <a:pPr marL="152400" marR="772795">
                        <a:lnSpc>
                          <a:spcPct val="100000"/>
                        </a:lnSpc>
                        <a:spcBef>
                          <a:spcPts val="385"/>
                        </a:spcBef>
                      </a:pPr>
                      <a:r>
                        <a:rPr sz="1200" b="1" spc="-65" dirty="0">
                          <a:latin typeface="Arial"/>
                          <a:cs typeface="Arial"/>
                        </a:rPr>
                        <a:t>Can</a:t>
                      </a:r>
                      <a:r>
                        <a:rPr sz="1200" b="1" dirty="0">
                          <a:latin typeface="Arial"/>
                          <a:cs typeface="Arial"/>
                        </a:rPr>
                        <a:t> </a:t>
                      </a:r>
                      <a:r>
                        <a:rPr sz="1200" b="1" spc="-45" dirty="0">
                          <a:latin typeface="Arial"/>
                          <a:cs typeface="Arial"/>
                        </a:rPr>
                        <a:t>be</a:t>
                      </a:r>
                      <a:r>
                        <a:rPr sz="1200" b="1" spc="5" dirty="0">
                          <a:latin typeface="Arial"/>
                          <a:cs typeface="Arial"/>
                        </a:rPr>
                        <a:t> </a:t>
                      </a:r>
                      <a:r>
                        <a:rPr sz="1200" b="1" spc="-40" dirty="0">
                          <a:latin typeface="Arial"/>
                          <a:cs typeface="Arial"/>
                        </a:rPr>
                        <a:t>improved</a:t>
                      </a:r>
                      <a:r>
                        <a:rPr sz="1200" b="1" spc="-5" dirty="0">
                          <a:latin typeface="Arial"/>
                          <a:cs typeface="Arial"/>
                        </a:rPr>
                        <a:t> </a:t>
                      </a:r>
                      <a:r>
                        <a:rPr sz="1200" b="1" spc="-20" dirty="0">
                          <a:latin typeface="Arial"/>
                          <a:cs typeface="Arial"/>
                        </a:rPr>
                        <a:t>with </a:t>
                      </a:r>
                      <a:r>
                        <a:rPr sz="1200" b="1" spc="-10" dirty="0">
                          <a:latin typeface="Arial"/>
                          <a:cs typeface="Arial"/>
                        </a:rPr>
                        <a:t>aggregation</a:t>
                      </a:r>
                      <a:endParaRPr sz="1200">
                        <a:latin typeface="Arial"/>
                        <a:cs typeface="Arial"/>
                      </a:endParaRPr>
                    </a:p>
                  </a:txBody>
                  <a:tcPr marL="0" marR="0" marT="65193" marB="0">
                    <a:lnL w="9525">
                      <a:solidFill>
                        <a:srgbClr val="373737"/>
                      </a:solidFill>
                      <a:prstDash val="solid"/>
                    </a:lnL>
                    <a:lnR w="9525">
                      <a:solidFill>
                        <a:srgbClr val="373737"/>
                      </a:solidFill>
                      <a:prstDash val="solid"/>
                    </a:lnR>
                    <a:lnT w="9525">
                      <a:solidFill>
                        <a:srgbClr val="373737"/>
                      </a:solidFill>
                      <a:prstDash val="solid"/>
                    </a:lnT>
                    <a:lnB w="9525">
                      <a:solidFill>
                        <a:srgbClr val="373737"/>
                      </a:solidFill>
                      <a:prstDash val="solid"/>
                    </a:lnB>
                  </a:tcPr>
                </a:tc>
                <a:tc>
                  <a:txBody>
                    <a:bodyPr/>
                    <a:lstStyle/>
                    <a:p>
                      <a:pPr marL="153035">
                        <a:lnSpc>
                          <a:spcPct val="100000"/>
                        </a:lnSpc>
                        <a:spcBef>
                          <a:spcPts val="925"/>
                        </a:spcBef>
                      </a:pPr>
                      <a:r>
                        <a:rPr sz="1200" b="1" spc="-20" dirty="0">
                          <a:latin typeface="Arial"/>
                          <a:cs typeface="Arial"/>
                        </a:rPr>
                        <a:t>Better</a:t>
                      </a:r>
                      <a:r>
                        <a:rPr sz="1200" b="1" spc="-30" dirty="0">
                          <a:latin typeface="Arial"/>
                          <a:cs typeface="Arial"/>
                        </a:rPr>
                        <a:t> </a:t>
                      </a:r>
                      <a:r>
                        <a:rPr sz="1200" b="1" spc="-10" dirty="0">
                          <a:latin typeface="Arial"/>
                          <a:cs typeface="Arial"/>
                        </a:rPr>
                        <a:t>(less</a:t>
                      </a:r>
                      <a:r>
                        <a:rPr sz="1200" b="1" spc="-35" dirty="0">
                          <a:latin typeface="Arial"/>
                          <a:cs typeface="Arial"/>
                        </a:rPr>
                        <a:t> </a:t>
                      </a:r>
                      <a:r>
                        <a:rPr sz="1200" b="1" spc="-10" dirty="0">
                          <a:latin typeface="Arial"/>
                          <a:cs typeface="Arial"/>
                        </a:rPr>
                        <a:t>detailed)</a:t>
                      </a:r>
                      <a:endParaRPr sz="1200">
                        <a:latin typeface="Arial"/>
                        <a:cs typeface="Arial"/>
                      </a:endParaRPr>
                    </a:p>
                  </a:txBody>
                  <a:tcPr marL="0" marR="0" marT="156633" marB="0">
                    <a:lnL w="9525">
                      <a:solidFill>
                        <a:srgbClr val="373737"/>
                      </a:solidFill>
                      <a:prstDash val="solid"/>
                    </a:lnL>
                    <a:lnR w="9525">
                      <a:solidFill>
                        <a:srgbClr val="373737"/>
                      </a:solidFill>
                      <a:prstDash val="solid"/>
                    </a:lnR>
                    <a:lnT w="9525">
                      <a:solidFill>
                        <a:srgbClr val="373737"/>
                      </a:solidFill>
                      <a:prstDash val="solid"/>
                    </a:lnT>
                    <a:lnB w="9525">
                      <a:solidFill>
                        <a:srgbClr val="373737"/>
                      </a:solidFill>
                      <a:prstDash val="solid"/>
                    </a:lnB>
                  </a:tcPr>
                </a:tc>
                <a:tc>
                  <a:txBody>
                    <a:bodyPr/>
                    <a:lstStyle/>
                    <a:p>
                      <a:pPr marL="153035">
                        <a:lnSpc>
                          <a:spcPct val="100000"/>
                        </a:lnSpc>
                        <a:spcBef>
                          <a:spcPts val="925"/>
                        </a:spcBef>
                      </a:pPr>
                      <a:r>
                        <a:rPr sz="1200" b="1" spc="-85" dirty="0">
                          <a:latin typeface="Arial"/>
                          <a:cs typeface="Arial"/>
                        </a:rPr>
                        <a:t>Good</a:t>
                      </a:r>
                      <a:r>
                        <a:rPr sz="1200" b="1" spc="15" dirty="0">
                          <a:latin typeface="Arial"/>
                          <a:cs typeface="Arial"/>
                        </a:rPr>
                        <a:t> </a:t>
                      </a:r>
                      <a:r>
                        <a:rPr sz="1200" b="1" spc="-10" dirty="0">
                          <a:latin typeface="Arial"/>
                          <a:cs typeface="Arial"/>
                        </a:rPr>
                        <a:t>performance</a:t>
                      </a:r>
                      <a:endParaRPr sz="1200">
                        <a:latin typeface="Arial"/>
                        <a:cs typeface="Arial"/>
                      </a:endParaRPr>
                    </a:p>
                  </a:txBody>
                  <a:tcPr marL="0" marR="0" marT="156633" marB="0">
                    <a:lnL w="9525">
                      <a:solidFill>
                        <a:srgbClr val="373737"/>
                      </a:solidFill>
                      <a:prstDash val="solid"/>
                    </a:lnL>
                    <a:lnR w="9525">
                      <a:solidFill>
                        <a:srgbClr val="373737"/>
                      </a:solidFill>
                      <a:prstDash val="solid"/>
                    </a:lnR>
                    <a:lnT w="9525">
                      <a:solidFill>
                        <a:srgbClr val="373737"/>
                      </a:solidFill>
                      <a:prstDash val="solid"/>
                    </a:lnT>
                    <a:lnB w="9525">
                      <a:solidFill>
                        <a:srgbClr val="373737"/>
                      </a:solidFill>
                      <a:prstDash val="soli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57807" y="2279903"/>
            <a:ext cx="9930384" cy="1702816"/>
          </a:xfrm>
          <a:prstGeom prst="rect">
            <a:avLst/>
          </a:prstGeom>
        </p:spPr>
      </p:pic>
      <p:sp>
        <p:nvSpPr>
          <p:cNvPr id="3" name="object 3"/>
          <p:cNvSpPr txBox="1">
            <a:spLocks noGrp="1"/>
          </p:cNvSpPr>
          <p:nvPr>
            <p:ph type="title"/>
          </p:nvPr>
        </p:nvSpPr>
        <p:spPr>
          <a:xfrm>
            <a:off x="1320800" y="2579973"/>
            <a:ext cx="9811173" cy="1048150"/>
          </a:xfrm>
          <a:prstGeom prst="rect">
            <a:avLst/>
          </a:prstGeom>
          <a:noFill/>
          <a:ln w="9144">
            <a:noFill/>
          </a:ln>
        </p:spPr>
        <p:txBody>
          <a:bodyPr vert="horz" wrap="square" lIns="0" tIns="306493" rIns="0" bIns="0" rtlCol="0" anchor="ctr">
            <a:spAutoFit/>
          </a:bodyPr>
          <a:lstStyle/>
          <a:p>
            <a:pPr marL="2540" algn="ctr">
              <a:lnSpc>
                <a:spcPct val="100000"/>
              </a:lnSpc>
              <a:spcBef>
                <a:spcPts val="2413"/>
              </a:spcBef>
            </a:pPr>
            <a:r>
              <a:rPr sz="4800" dirty="0">
                <a:solidFill>
                  <a:schemeClr val="bg1"/>
                </a:solidFill>
                <a:latin typeface="+mn-lt"/>
              </a:rPr>
              <a:t>Steps</a:t>
            </a:r>
            <a:r>
              <a:rPr sz="4800" spc="-53" dirty="0">
                <a:solidFill>
                  <a:schemeClr val="bg1"/>
                </a:solidFill>
                <a:latin typeface="+mn-lt"/>
              </a:rPr>
              <a:t> </a:t>
            </a:r>
            <a:r>
              <a:rPr sz="4800" dirty="0">
                <a:solidFill>
                  <a:schemeClr val="bg1"/>
                </a:solidFill>
                <a:latin typeface="+mn-lt"/>
              </a:rPr>
              <a:t>to</a:t>
            </a:r>
            <a:r>
              <a:rPr sz="4800" spc="-27" dirty="0">
                <a:solidFill>
                  <a:schemeClr val="bg1"/>
                </a:solidFill>
                <a:latin typeface="+mn-lt"/>
              </a:rPr>
              <a:t> </a:t>
            </a:r>
            <a:r>
              <a:rPr sz="4800" dirty="0">
                <a:solidFill>
                  <a:schemeClr val="bg1"/>
                </a:solidFill>
                <a:latin typeface="+mn-lt"/>
              </a:rPr>
              <a:t>create</a:t>
            </a:r>
            <a:r>
              <a:rPr sz="4800" spc="-33" dirty="0">
                <a:solidFill>
                  <a:schemeClr val="bg1"/>
                </a:solidFill>
                <a:latin typeface="+mn-lt"/>
              </a:rPr>
              <a:t> </a:t>
            </a:r>
            <a:r>
              <a:rPr sz="4800" dirty="0">
                <a:solidFill>
                  <a:schemeClr val="bg1"/>
                </a:solidFill>
                <a:latin typeface="+mn-lt"/>
              </a:rPr>
              <a:t>a</a:t>
            </a:r>
            <a:r>
              <a:rPr sz="4800" spc="-40" dirty="0">
                <a:solidFill>
                  <a:schemeClr val="bg1"/>
                </a:solidFill>
                <a:latin typeface="+mn-lt"/>
              </a:rPr>
              <a:t> </a:t>
            </a:r>
            <a:r>
              <a:rPr sz="4800" dirty="0">
                <a:solidFill>
                  <a:schemeClr val="bg1"/>
                </a:solidFill>
                <a:latin typeface="+mn-lt"/>
              </a:rPr>
              <a:t>fact</a:t>
            </a:r>
            <a:r>
              <a:rPr sz="4800" spc="-33" dirty="0">
                <a:solidFill>
                  <a:schemeClr val="bg1"/>
                </a:solidFill>
                <a:latin typeface="+mn-lt"/>
              </a:rPr>
              <a:t> </a:t>
            </a:r>
            <a:r>
              <a:rPr sz="4800" spc="-13" dirty="0">
                <a:solidFill>
                  <a:schemeClr val="bg1"/>
                </a:solidFill>
                <a:latin typeface="+mn-lt"/>
              </a:rPr>
              <a:t>table</a:t>
            </a:r>
            <a:endParaRPr sz="4800" dirty="0">
              <a:solidFill>
                <a:schemeClr val="bg1"/>
              </a:solidFill>
              <a:latin typeface="+mn-lt"/>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97978" y="373350"/>
            <a:ext cx="7370641" cy="695062"/>
          </a:xfrm>
          <a:prstGeom prst="rect">
            <a:avLst/>
          </a:prstGeom>
        </p:spPr>
        <p:txBody>
          <a:bodyPr vert="horz" wrap="square" lIns="0" tIns="17780" rIns="0" bIns="0" rtlCol="0" anchor="ctr">
            <a:spAutoFit/>
          </a:bodyPr>
          <a:lstStyle/>
          <a:p>
            <a:pPr marL="756054">
              <a:lnSpc>
                <a:spcPct val="100000"/>
              </a:lnSpc>
              <a:spcBef>
                <a:spcPts val="140"/>
              </a:spcBef>
            </a:pPr>
            <a:r>
              <a:rPr dirty="0">
                <a:solidFill>
                  <a:schemeClr val="bg1"/>
                </a:solidFill>
                <a:latin typeface="+mn-lt"/>
              </a:rPr>
              <a:t>Steps</a:t>
            </a:r>
            <a:r>
              <a:rPr spc="-13" dirty="0">
                <a:solidFill>
                  <a:schemeClr val="bg1"/>
                </a:solidFill>
                <a:latin typeface="+mn-lt"/>
              </a:rPr>
              <a:t> </a:t>
            </a:r>
            <a:r>
              <a:rPr dirty="0">
                <a:solidFill>
                  <a:schemeClr val="bg1"/>
                </a:solidFill>
                <a:latin typeface="+mn-lt"/>
              </a:rPr>
              <a:t>to</a:t>
            </a:r>
            <a:r>
              <a:rPr spc="-20" dirty="0">
                <a:solidFill>
                  <a:schemeClr val="bg1"/>
                </a:solidFill>
                <a:latin typeface="+mn-lt"/>
              </a:rPr>
              <a:t> </a:t>
            </a:r>
            <a:r>
              <a:rPr dirty="0">
                <a:solidFill>
                  <a:schemeClr val="bg1"/>
                </a:solidFill>
                <a:latin typeface="+mn-lt"/>
              </a:rPr>
              <a:t>create</a:t>
            </a:r>
            <a:r>
              <a:rPr spc="-27" dirty="0">
                <a:solidFill>
                  <a:schemeClr val="bg1"/>
                </a:solidFill>
                <a:latin typeface="+mn-lt"/>
              </a:rPr>
              <a:t> </a:t>
            </a:r>
            <a:r>
              <a:rPr dirty="0">
                <a:solidFill>
                  <a:schemeClr val="bg1"/>
                </a:solidFill>
                <a:latin typeface="+mn-lt"/>
              </a:rPr>
              <a:t>a</a:t>
            </a:r>
            <a:r>
              <a:rPr spc="-13" dirty="0">
                <a:solidFill>
                  <a:schemeClr val="bg1"/>
                </a:solidFill>
                <a:latin typeface="+mn-lt"/>
              </a:rPr>
              <a:t> </a:t>
            </a:r>
            <a:r>
              <a:rPr dirty="0">
                <a:solidFill>
                  <a:schemeClr val="bg1"/>
                </a:solidFill>
                <a:latin typeface="+mn-lt"/>
              </a:rPr>
              <a:t>fact</a:t>
            </a:r>
            <a:r>
              <a:rPr spc="-33" dirty="0">
                <a:solidFill>
                  <a:schemeClr val="bg1"/>
                </a:solidFill>
                <a:latin typeface="+mn-lt"/>
              </a:rPr>
              <a:t> </a:t>
            </a:r>
            <a:r>
              <a:rPr spc="-13" dirty="0">
                <a:solidFill>
                  <a:schemeClr val="bg1"/>
                </a:solidFill>
                <a:latin typeface="+mn-lt"/>
              </a:rPr>
              <a:t>table</a:t>
            </a:r>
          </a:p>
        </p:txBody>
      </p:sp>
      <p:grpSp>
        <p:nvGrpSpPr>
          <p:cNvPr id="3" name="object 3"/>
          <p:cNvGrpSpPr/>
          <p:nvPr/>
        </p:nvGrpSpPr>
        <p:grpSpPr>
          <a:xfrm>
            <a:off x="936751" y="2107184"/>
            <a:ext cx="10293096" cy="3281069"/>
            <a:chOff x="702563" y="1580388"/>
            <a:chExt cx="7719822" cy="2460802"/>
          </a:xfrm>
        </p:grpSpPr>
        <p:pic>
          <p:nvPicPr>
            <p:cNvPr id="4" name="object 4"/>
            <p:cNvPicPr/>
            <p:nvPr/>
          </p:nvPicPr>
          <p:blipFill>
            <a:blip r:embed="rId2" cstate="print"/>
            <a:stretch>
              <a:fillRect/>
            </a:stretch>
          </p:blipFill>
          <p:spPr>
            <a:xfrm>
              <a:off x="702563" y="1580388"/>
              <a:ext cx="7719822" cy="1881251"/>
            </a:xfrm>
            <a:prstGeom prst="rect">
              <a:avLst/>
            </a:prstGeom>
          </p:spPr>
        </p:pic>
        <p:sp>
          <p:nvSpPr>
            <p:cNvPr id="6" name="object 6"/>
            <p:cNvSpPr/>
            <p:nvPr/>
          </p:nvSpPr>
          <p:spPr>
            <a:xfrm>
              <a:off x="1029461" y="1735074"/>
              <a:ext cx="7086600" cy="1249680"/>
            </a:xfrm>
            <a:custGeom>
              <a:avLst/>
              <a:gdLst/>
              <a:ahLst/>
              <a:cxnLst/>
              <a:rect l="l" t="t" r="r" b="b"/>
              <a:pathLst>
                <a:path w="7086600" h="1249680">
                  <a:moveTo>
                    <a:pt x="0" y="624839"/>
                  </a:moveTo>
                  <a:lnTo>
                    <a:pt x="312419" y="0"/>
                  </a:lnTo>
                  <a:lnTo>
                    <a:pt x="6774180" y="0"/>
                  </a:lnTo>
                  <a:lnTo>
                    <a:pt x="7086600" y="624839"/>
                  </a:lnTo>
                  <a:lnTo>
                    <a:pt x="6774180" y="1249680"/>
                  </a:lnTo>
                  <a:lnTo>
                    <a:pt x="312419" y="1249680"/>
                  </a:lnTo>
                  <a:lnTo>
                    <a:pt x="0" y="624839"/>
                  </a:lnTo>
                  <a:close/>
                </a:path>
              </a:pathLst>
            </a:custGeom>
            <a:ln w="19812">
              <a:solidFill>
                <a:srgbClr val="FFFFFF"/>
              </a:solidFill>
            </a:ln>
          </p:spPr>
          <p:txBody>
            <a:bodyPr wrap="square" lIns="0" tIns="0" rIns="0" bIns="0" rtlCol="0"/>
            <a:lstStyle/>
            <a:p>
              <a:endParaRPr sz="2400"/>
            </a:p>
          </p:txBody>
        </p:sp>
        <p:pic>
          <p:nvPicPr>
            <p:cNvPr id="7" name="object 7"/>
            <p:cNvPicPr/>
            <p:nvPr/>
          </p:nvPicPr>
          <p:blipFill>
            <a:blip r:embed="rId3" cstate="print"/>
            <a:stretch>
              <a:fillRect/>
            </a:stretch>
          </p:blipFill>
          <p:spPr>
            <a:xfrm>
              <a:off x="1171955" y="1929384"/>
              <a:ext cx="6889242" cy="677418"/>
            </a:xfrm>
            <a:prstGeom prst="rect">
              <a:avLst/>
            </a:prstGeom>
          </p:spPr>
        </p:pic>
        <p:pic>
          <p:nvPicPr>
            <p:cNvPr id="8" name="object 8"/>
            <p:cNvPicPr/>
            <p:nvPr/>
          </p:nvPicPr>
          <p:blipFill>
            <a:blip r:embed="rId4" cstate="print"/>
            <a:stretch>
              <a:fillRect/>
            </a:stretch>
          </p:blipFill>
          <p:spPr>
            <a:xfrm>
              <a:off x="3653028" y="2295144"/>
              <a:ext cx="1858518" cy="677418"/>
            </a:xfrm>
            <a:prstGeom prst="rect">
              <a:avLst/>
            </a:prstGeom>
          </p:spPr>
        </p:pic>
        <p:pic>
          <p:nvPicPr>
            <p:cNvPr id="9" name="object 9"/>
            <p:cNvPicPr/>
            <p:nvPr/>
          </p:nvPicPr>
          <p:blipFill>
            <a:blip r:embed="rId5" cstate="print"/>
            <a:stretch>
              <a:fillRect/>
            </a:stretch>
          </p:blipFill>
          <p:spPr>
            <a:xfrm>
              <a:off x="2874263" y="2723438"/>
              <a:ext cx="3147822" cy="1317752"/>
            </a:xfrm>
            <a:prstGeom prst="rect">
              <a:avLst/>
            </a:prstGeom>
          </p:spPr>
        </p:pic>
        <p:pic>
          <p:nvPicPr>
            <p:cNvPr id="10" name="object 10"/>
            <p:cNvPicPr/>
            <p:nvPr/>
          </p:nvPicPr>
          <p:blipFill>
            <a:blip r:embed="rId6" cstate="print"/>
            <a:stretch>
              <a:fillRect/>
            </a:stretch>
          </p:blipFill>
          <p:spPr>
            <a:xfrm>
              <a:off x="3201162" y="2878074"/>
              <a:ext cx="2514600" cy="685800"/>
            </a:xfrm>
            <a:prstGeom prst="rect">
              <a:avLst/>
            </a:prstGeom>
          </p:spPr>
        </p:pic>
        <p:sp>
          <p:nvSpPr>
            <p:cNvPr id="11" name="object 11"/>
            <p:cNvSpPr/>
            <p:nvPr/>
          </p:nvSpPr>
          <p:spPr>
            <a:xfrm>
              <a:off x="3201162" y="2878074"/>
              <a:ext cx="2514600" cy="685800"/>
            </a:xfrm>
            <a:custGeom>
              <a:avLst/>
              <a:gdLst/>
              <a:ahLst/>
              <a:cxnLst/>
              <a:rect l="l" t="t" r="r" b="b"/>
              <a:pathLst>
                <a:path w="2514600" h="685800">
                  <a:moveTo>
                    <a:pt x="0" y="342900"/>
                  </a:moveTo>
                  <a:lnTo>
                    <a:pt x="171450" y="0"/>
                  </a:lnTo>
                  <a:lnTo>
                    <a:pt x="2343150" y="0"/>
                  </a:lnTo>
                  <a:lnTo>
                    <a:pt x="2514600" y="342900"/>
                  </a:lnTo>
                  <a:lnTo>
                    <a:pt x="2343150" y="685800"/>
                  </a:lnTo>
                  <a:lnTo>
                    <a:pt x="171450" y="685800"/>
                  </a:lnTo>
                  <a:lnTo>
                    <a:pt x="0" y="342900"/>
                  </a:lnTo>
                  <a:close/>
                </a:path>
              </a:pathLst>
            </a:custGeom>
            <a:ln w="19812">
              <a:solidFill>
                <a:srgbClr val="00C3FF"/>
              </a:solidFill>
            </a:ln>
          </p:spPr>
          <p:txBody>
            <a:bodyPr wrap="square" lIns="0" tIns="0" rIns="0" bIns="0" rtlCol="0"/>
            <a:lstStyle/>
            <a:p>
              <a:endParaRPr sz="2400"/>
            </a:p>
          </p:txBody>
        </p:sp>
      </p:grpSp>
      <p:sp>
        <p:nvSpPr>
          <p:cNvPr id="12" name="object 12"/>
          <p:cNvSpPr txBox="1"/>
          <p:nvPr/>
        </p:nvSpPr>
        <p:spPr>
          <a:xfrm>
            <a:off x="1800859" y="2661581"/>
            <a:ext cx="8587740" cy="1853499"/>
          </a:xfrm>
          <a:prstGeom prst="rect">
            <a:avLst/>
          </a:prstGeom>
        </p:spPr>
        <p:txBody>
          <a:bodyPr vert="horz" wrap="square" lIns="0" tIns="16933" rIns="0" bIns="0" rtlCol="0">
            <a:spAutoFit/>
          </a:bodyPr>
          <a:lstStyle/>
          <a:p>
            <a:pPr marL="3324777" marR="6773" indent="-3308691">
              <a:spcBef>
                <a:spcPts val="133"/>
              </a:spcBef>
            </a:pPr>
            <a:r>
              <a:rPr sz="3200" b="1" dirty="0">
                <a:solidFill>
                  <a:srgbClr val="66BEFF"/>
                </a:solidFill>
                <a:latin typeface="Calibri"/>
                <a:cs typeface="Calibri"/>
              </a:rPr>
              <a:t>What</a:t>
            </a:r>
            <a:r>
              <a:rPr sz="3200" b="1" spc="-60" dirty="0">
                <a:solidFill>
                  <a:srgbClr val="66BEFF"/>
                </a:solidFill>
                <a:latin typeface="Calibri"/>
                <a:cs typeface="Calibri"/>
              </a:rPr>
              <a:t> </a:t>
            </a:r>
            <a:r>
              <a:rPr sz="3200" b="1" dirty="0">
                <a:solidFill>
                  <a:srgbClr val="66BEFF"/>
                </a:solidFill>
                <a:latin typeface="Calibri"/>
                <a:cs typeface="Calibri"/>
              </a:rPr>
              <a:t>are</a:t>
            </a:r>
            <a:r>
              <a:rPr sz="3200" b="1" spc="-60" dirty="0">
                <a:solidFill>
                  <a:srgbClr val="66BEFF"/>
                </a:solidFill>
                <a:latin typeface="Calibri"/>
                <a:cs typeface="Calibri"/>
              </a:rPr>
              <a:t> </a:t>
            </a:r>
            <a:r>
              <a:rPr sz="3200" b="1" dirty="0">
                <a:solidFill>
                  <a:srgbClr val="66BEFF"/>
                </a:solidFill>
                <a:latin typeface="Calibri"/>
                <a:cs typeface="Calibri"/>
              </a:rPr>
              <a:t>the</a:t>
            </a:r>
            <a:r>
              <a:rPr sz="3200" b="1" spc="-53" dirty="0">
                <a:solidFill>
                  <a:srgbClr val="66BEFF"/>
                </a:solidFill>
                <a:latin typeface="Calibri"/>
                <a:cs typeface="Calibri"/>
              </a:rPr>
              <a:t> </a:t>
            </a:r>
            <a:r>
              <a:rPr sz="3200" b="1" dirty="0">
                <a:solidFill>
                  <a:srgbClr val="66BEFF"/>
                </a:solidFill>
                <a:latin typeface="Calibri"/>
                <a:cs typeface="Calibri"/>
              </a:rPr>
              <a:t>key</a:t>
            </a:r>
            <a:r>
              <a:rPr sz="3200" b="1" spc="-73" dirty="0">
                <a:solidFill>
                  <a:srgbClr val="66BEFF"/>
                </a:solidFill>
                <a:latin typeface="Calibri"/>
                <a:cs typeface="Calibri"/>
              </a:rPr>
              <a:t> </a:t>
            </a:r>
            <a:r>
              <a:rPr sz="3200" b="1" dirty="0">
                <a:solidFill>
                  <a:srgbClr val="66BEFF"/>
                </a:solidFill>
                <a:latin typeface="Calibri"/>
                <a:cs typeface="Calibri"/>
              </a:rPr>
              <a:t>decisions</a:t>
            </a:r>
            <a:r>
              <a:rPr sz="3200" b="1" spc="-73" dirty="0">
                <a:solidFill>
                  <a:srgbClr val="66BEFF"/>
                </a:solidFill>
                <a:latin typeface="Calibri"/>
                <a:cs typeface="Calibri"/>
              </a:rPr>
              <a:t> </a:t>
            </a:r>
            <a:r>
              <a:rPr sz="3200" b="1" dirty="0">
                <a:solidFill>
                  <a:srgbClr val="66BEFF"/>
                </a:solidFill>
                <a:latin typeface="Calibri"/>
                <a:cs typeface="Calibri"/>
              </a:rPr>
              <a:t>we</a:t>
            </a:r>
            <a:r>
              <a:rPr sz="3200" b="1" spc="-67" dirty="0">
                <a:solidFill>
                  <a:srgbClr val="66BEFF"/>
                </a:solidFill>
                <a:latin typeface="Calibri"/>
                <a:cs typeface="Calibri"/>
              </a:rPr>
              <a:t> </a:t>
            </a:r>
            <a:r>
              <a:rPr sz="3200" b="1" dirty="0">
                <a:solidFill>
                  <a:srgbClr val="66BEFF"/>
                </a:solidFill>
                <a:latin typeface="Calibri"/>
                <a:cs typeface="Calibri"/>
              </a:rPr>
              <a:t>need</a:t>
            </a:r>
            <a:r>
              <a:rPr sz="3200" b="1" spc="-60" dirty="0">
                <a:solidFill>
                  <a:srgbClr val="66BEFF"/>
                </a:solidFill>
                <a:latin typeface="Calibri"/>
                <a:cs typeface="Calibri"/>
              </a:rPr>
              <a:t> </a:t>
            </a:r>
            <a:r>
              <a:rPr sz="3200" b="1" dirty="0">
                <a:solidFill>
                  <a:srgbClr val="66BEFF"/>
                </a:solidFill>
                <a:latin typeface="Calibri"/>
                <a:cs typeface="Calibri"/>
              </a:rPr>
              <a:t>to</a:t>
            </a:r>
            <a:r>
              <a:rPr sz="3200" b="1" spc="-60" dirty="0">
                <a:solidFill>
                  <a:srgbClr val="66BEFF"/>
                </a:solidFill>
                <a:latin typeface="Calibri"/>
                <a:cs typeface="Calibri"/>
              </a:rPr>
              <a:t> </a:t>
            </a:r>
            <a:r>
              <a:rPr sz="3200" b="1" dirty="0">
                <a:solidFill>
                  <a:srgbClr val="66BEFF"/>
                </a:solidFill>
                <a:latin typeface="Calibri"/>
                <a:cs typeface="Calibri"/>
              </a:rPr>
              <a:t>take</a:t>
            </a:r>
            <a:r>
              <a:rPr sz="3200" b="1" spc="-73" dirty="0">
                <a:solidFill>
                  <a:srgbClr val="66BEFF"/>
                </a:solidFill>
                <a:latin typeface="Calibri"/>
                <a:cs typeface="Calibri"/>
              </a:rPr>
              <a:t> </a:t>
            </a:r>
            <a:r>
              <a:rPr sz="3200" b="1" spc="-13" dirty="0">
                <a:solidFill>
                  <a:srgbClr val="66BEFF"/>
                </a:solidFill>
                <a:latin typeface="Calibri"/>
                <a:cs typeface="Calibri"/>
              </a:rPr>
              <a:t>during </a:t>
            </a:r>
            <a:r>
              <a:rPr sz="3200" b="1" dirty="0">
                <a:solidFill>
                  <a:srgbClr val="66BEFF"/>
                </a:solidFill>
                <a:latin typeface="Calibri"/>
                <a:cs typeface="Calibri"/>
              </a:rPr>
              <a:t>the</a:t>
            </a:r>
            <a:r>
              <a:rPr sz="3200" b="1" spc="-47" dirty="0">
                <a:solidFill>
                  <a:srgbClr val="66BEFF"/>
                </a:solidFill>
                <a:latin typeface="Calibri"/>
                <a:cs typeface="Calibri"/>
              </a:rPr>
              <a:t> </a:t>
            </a:r>
            <a:r>
              <a:rPr sz="3200" b="1" spc="-13" dirty="0">
                <a:solidFill>
                  <a:srgbClr val="66BEFF"/>
                </a:solidFill>
                <a:latin typeface="Calibri"/>
                <a:cs typeface="Calibri"/>
              </a:rPr>
              <a:t>desi</a:t>
            </a:r>
            <a:r>
              <a:rPr lang="en-IN" sz="3200" b="1" spc="-13" dirty="0">
                <a:solidFill>
                  <a:srgbClr val="66BEFF"/>
                </a:solidFill>
                <a:latin typeface="Calibri"/>
                <a:cs typeface="Calibri"/>
              </a:rPr>
              <a:t>g</a:t>
            </a:r>
            <a:r>
              <a:rPr sz="3200" b="1" spc="-13" dirty="0">
                <a:solidFill>
                  <a:srgbClr val="66BEFF"/>
                </a:solidFill>
                <a:latin typeface="Calibri"/>
                <a:cs typeface="Calibri"/>
              </a:rPr>
              <a:t>n?</a:t>
            </a:r>
            <a:endParaRPr sz="3200" dirty="0">
              <a:latin typeface="Calibri"/>
              <a:cs typeface="Calibri"/>
            </a:endParaRPr>
          </a:p>
          <a:p>
            <a:pPr marR="284473" algn="ctr">
              <a:spcBef>
                <a:spcPts val="2773"/>
              </a:spcBef>
            </a:pPr>
            <a:r>
              <a:rPr sz="3200" b="1" dirty="0">
                <a:solidFill>
                  <a:srgbClr val="CCEAFF"/>
                </a:solidFill>
                <a:latin typeface="Calibri"/>
                <a:cs typeface="Calibri"/>
              </a:rPr>
              <a:t>4</a:t>
            </a:r>
            <a:r>
              <a:rPr sz="3200" b="1" spc="-40" dirty="0">
                <a:solidFill>
                  <a:srgbClr val="CCEAFF"/>
                </a:solidFill>
                <a:latin typeface="Calibri"/>
                <a:cs typeface="Calibri"/>
              </a:rPr>
              <a:t> </a:t>
            </a:r>
            <a:r>
              <a:rPr sz="3200" b="1" dirty="0">
                <a:solidFill>
                  <a:srgbClr val="CCEAFF"/>
                </a:solidFill>
                <a:latin typeface="Calibri"/>
                <a:cs typeface="Calibri"/>
              </a:rPr>
              <a:t>key</a:t>
            </a:r>
            <a:r>
              <a:rPr sz="3200" b="1" spc="-33" dirty="0">
                <a:solidFill>
                  <a:srgbClr val="CCEAFF"/>
                </a:solidFill>
                <a:latin typeface="Calibri"/>
                <a:cs typeface="Calibri"/>
              </a:rPr>
              <a:t> </a:t>
            </a:r>
            <a:r>
              <a:rPr sz="3200" b="1" spc="-13" dirty="0">
                <a:solidFill>
                  <a:srgbClr val="CCEAFF"/>
                </a:solidFill>
                <a:latin typeface="Calibri"/>
                <a:cs typeface="Calibri"/>
              </a:rPr>
              <a:t>decisions</a:t>
            </a:r>
            <a:endParaRPr sz="3200" dirty="0">
              <a:latin typeface="Calibri"/>
              <a:cs typeface="Calibri"/>
            </a:endParaRPr>
          </a:p>
        </p:txBody>
      </p:sp>
      <p:grpSp>
        <p:nvGrpSpPr>
          <p:cNvPr id="13" name="object 13"/>
          <p:cNvGrpSpPr/>
          <p:nvPr/>
        </p:nvGrpSpPr>
        <p:grpSpPr>
          <a:xfrm>
            <a:off x="2816353" y="4478476"/>
            <a:ext cx="4595705" cy="2197947"/>
            <a:chOff x="2112264" y="3358857"/>
            <a:chExt cx="3446779" cy="1648460"/>
          </a:xfrm>
        </p:grpSpPr>
        <p:pic>
          <p:nvPicPr>
            <p:cNvPr id="14" name="object 14"/>
            <p:cNvPicPr/>
            <p:nvPr/>
          </p:nvPicPr>
          <p:blipFill>
            <a:blip r:embed="rId7" cstate="print"/>
            <a:stretch>
              <a:fillRect/>
            </a:stretch>
          </p:blipFill>
          <p:spPr>
            <a:xfrm>
              <a:off x="2112264" y="3358857"/>
              <a:ext cx="3446399" cy="1648460"/>
            </a:xfrm>
            <a:prstGeom prst="rect">
              <a:avLst/>
            </a:prstGeom>
          </p:spPr>
        </p:pic>
        <p:sp>
          <p:nvSpPr>
            <p:cNvPr id="15" name="object 15"/>
            <p:cNvSpPr/>
            <p:nvPr/>
          </p:nvSpPr>
          <p:spPr>
            <a:xfrm>
              <a:off x="2439162" y="3513581"/>
              <a:ext cx="2813685" cy="1016635"/>
            </a:xfrm>
            <a:custGeom>
              <a:avLst/>
              <a:gdLst/>
              <a:ahLst/>
              <a:cxnLst/>
              <a:rect l="l" t="t" r="r" b="b"/>
              <a:pathLst>
                <a:path w="2813685" h="1016635">
                  <a:moveTo>
                    <a:pt x="2559177" y="0"/>
                  </a:moveTo>
                  <a:lnTo>
                    <a:pt x="254126" y="0"/>
                  </a:lnTo>
                  <a:lnTo>
                    <a:pt x="0" y="508254"/>
                  </a:lnTo>
                  <a:lnTo>
                    <a:pt x="254126" y="1016508"/>
                  </a:lnTo>
                  <a:lnTo>
                    <a:pt x="2559177" y="1016508"/>
                  </a:lnTo>
                  <a:lnTo>
                    <a:pt x="2813304" y="508254"/>
                  </a:lnTo>
                  <a:lnTo>
                    <a:pt x="2559177" y="0"/>
                  </a:lnTo>
                  <a:close/>
                </a:path>
              </a:pathLst>
            </a:custGeom>
            <a:solidFill>
              <a:srgbClr val="B3B3B3"/>
            </a:solidFill>
          </p:spPr>
          <p:txBody>
            <a:bodyPr wrap="square" lIns="0" tIns="0" rIns="0" bIns="0" rtlCol="0"/>
            <a:lstStyle/>
            <a:p>
              <a:endParaRPr sz="2400"/>
            </a:p>
          </p:txBody>
        </p:sp>
        <p:sp>
          <p:nvSpPr>
            <p:cNvPr id="16" name="object 16"/>
            <p:cNvSpPr/>
            <p:nvPr/>
          </p:nvSpPr>
          <p:spPr>
            <a:xfrm>
              <a:off x="2439162" y="3513581"/>
              <a:ext cx="2813685" cy="1016635"/>
            </a:xfrm>
            <a:custGeom>
              <a:avLst/>
              <a:gdLst/>
              <a:ahLst/>
              <a:cxnLst/>
              <a:rect l="l" t="t" r="r" b="b"/>
              <a:pathLst>
                <a:path w="2813685" h="1016635">
                  <a:moveTo>
                    <a:pt x="0" y="508254"/>
                  </a:moveTo>
                  <a:lnTo>
                    <a:pt x="254126" y="0"/>
                  </a:lnTo>
                  <a:lnTo>
                    <a:pt x="2559177" y="0"/>
                  </a:lnTo>
                  <a:lnTo>
                    <a:pt x="2813304" y="508254"/>
                  </a:lnTo>
                  <a:lnTo>
                    <a:pt x="2559177" y="1016508"/>
                  </a:lnTo>
                  <a:lnTo>
                    <a:pt x="254126" y="1016508"/>
                  </a:lnTo>
                  <a:lnTo>
                    <a:pt x="0" y="508254"/>
                  </a:lnTo>
                  <a:close/>
                </a:path>
              </a:pathLst>
            </a:custGeom>
            <a:ln w="19812">
              <a:solidFill>
                <a:srgbClr val="00C3FF"/>
              </a:solidFill>
            </a:ln>
          </p:spPr>
          <p:txBody>
            <a:bodyPr wrap="square" lIns="0" tIns="0" rIns="0" bIns="0" rtlCol="0"/>
            <a:lstStyle/>
            <a:p>
              <a:endParaRPr sz="2400"/>
            </a:p>
          </p:txBody>
        </p:sp>
      </p:grpSp>
      <p:sp>
        <p:nvSpPr>
          <p:cNvPr id="17" name="object 17"/>
          <p:cNvSpPr txBox="1"/>
          <p:nvPr/>
        </p:nvSpPr>
        <p:spPr>
          <a:xfrm>
            <a:off x="3693836" y="4849705"/>
            <a:ext cx="2897293" cy="1001983"/>
          </a:xfrm>
          <a:prstGeom prst="rect">
            <a:avLst/>
          </a:prstGeom>
        </p:spPr>
        <p:txBody>
          <a:bodyPr vert="horz" wrap="square" lIns="0" tIns="16933" rIns="0" bIns="0" rtlCol="0">
            <a:spAutoFit/>
          </a:bodyPr>
          <a:lstStyle/>
          <a:p>
            <a:pPr marL="175256" marR="6773" indent="-159169">
              <a:spcBef>
                <a:spcPts val="133"/>
              </a:spcBef>
            </a:pPr>
            <a:r>
              <a:rPr sz="3200" b="1" dirty="0">
                <a:solidFill>
                  <a:srgbClr val="00607E"/>
                </a:solidFill>
                <a:latin typeface="Calibri"/>
                <a:cs typeface="Calibri"/>
              </a:rPr>
              <a:t>Considdering</a:t>
            </a:r>
            <a:r>
              <a:rPr sz="3200" b="1" spc="-120" dirty="0">
                <a:solidFill>
                  <a:srgbClr val="00607E"/>
                </a:solidFill>
                <a:latin typeface="Calibri"/>
                <a:cs typeface="Calibri"/>
              </a:rPr>
              <a:t> </a:t>
            </a:r>
            <a:r>
              <a:rPr sz="3200" b="1" spc="-33" dirty="0">
                <a:solidFill>
                  <a:srgbClr val="00607E"/>
                </a:solidFill>
                <a:latin typeface="Calibri"/>
                <a:cs typeface="Calibri"/>
              </a:rPr>
              <a:t>the </a:t>
            </a:r>
            <a:r>
              <a:rPr sz="3200" b="1" dirty="0">
                <a:solidFill>
                  <a:srgbClr val="00607E"/>
                </a:solidFill>
                <a:latin typeface="Calibri"/>
                <a:cs typeface="Calibri"/>
              </a:rPr>
              <a:t>business</a:t>
            </a:r>
            <a:r>
              <a:rPr sz="3200" b="1" spc="-80" dirty="0">
                <a:solidFill>
                  <a:srgbClr val="00607E"/>
                </a:solidFill>
                <a:latin typeface="Calibri"/>
                <a:cs typeface="Calibri"/>
              </a:rPr>
              <a:t> </a:t>
            </a:r>
            <a:r>
              <a:rPr sz="3200" b="1" spc="-13" dirty="0">
                <a:solidFill>
                  <a:srgbClr val="00607E"/>
                </a:solidFill>
                <a:latin typeface="Calibri"/>
                <a:cs typeface="Calibri"/>
              </a:rPr>
              <a:t>needs</a:t>
            </a:r>
            <a:endParaRPr sz="3200">
              <a:latin typeface="Calibri"/>
              <a:cs typeface="Calibri"/>
            </a:endParaRPr>
          </a:p>
        </p:txBody>
      </p:sp>
      <p:grpSp>
        <p:nvGrpSpPr>
          <p:cNvPr id="18" name="object 18"/>
          <p:cNvGrpSpPr/>
          <p:nvPr/>
        </p:nvGrpSpPr>
        <p:grpSpPr>
          <a:xfrm>
            <a:off x="7083553" y="4880863"/>
            <a:ext cx="4595705" cy="1679787"/>
            <a:chOff x="5312664" y="3660647"/>
            <a:chExt cx="3446779" cy="1259840"/>
          </a:xfrm>
        </p:grpSpPr>
        <p:pic>
          <p:nvPicPr>
            <p:cNvPr id="19" name="object 19"/>
            <p:cNvPicPr/>
            <p:nvPr/>
          </p:nvPicPr>
          <p:blipFill>
            <a:blip r:embed="rId8" cstate="print"/>
            <a:stretch>
              <a:fillRect/>
            </a:stretch>
          </p:blipFill>
          <p:spPr>
            <a:xfrm>
              <a:off x="5312664" y="3660647"/>
              <a:ext cx="3446399" cy="1259509"/>
            </a:xfrm>
            <a:prstGeom prst="rect">
              <a:avLst/>
            </a:prstGeom>
          </p:spPr>
        </p:pic>
        <p:sp>
          <p:nvSpPr>
            <p:cNvPr id="20" name="object 20"/>
            <p:cNvSpPr/>
            <p:nvPr/>
          </p:nvSpPr>
          <p:spPr>
            <a:xfrm>
              <a:off x="5639562" y="3815333"/>
              <a:ext cx="2813685" cy="628015"/>
            </a:xfrm>
            <a:custGeom>
              <a:avLst/>
              <a:gdLst/>
              <a:ahLst/>
              <a:cxnLst/>
              <a:rect l="l" t="t" r="r" b="b"/>
              <a:pathLst>
                <a:path w="2813684" h="628014">
                  <a:moveTo>
                    <a:pt x="2656332" y="0"/>
                  </a:moveTo>
                  <a:lnTo>
                    <a:pt x="156972" y="0"/>
                  </a:lnTo>
                  <a:lnTo>
                    <a:pt x="0" y="313943"/>
                  </a:lnTo>
                  <a:lnTo>
                    <a:pt x="156972" y="627887"/>
                  </a:lnTo>
                  <a:lnTo>
                    <a:pt x="2656332" y="627887"/>
                  </a:lnTo>
                  <a:lnTo>
                    <a:pt x="2813304" y="313943"/>
                  </a:lnTo>
                  <a:lnTo>
                    <a:pt x="2656332" y="0"/>
                  </a:lnTo>
                  <a:close/>
                </a:path>
              </a:pathLst>
            </a:custGeom>
            <a:solidFill>
              <a:srgbClr val="005D7E"/>
            </a:solidFill>
          </p:spPr>
          <p:txBody>
            <a:bodyPr wrap="square" lIns="0" tIns="0" rIns="0" bIns="0" rtlCol="0"/>
            <a:lstStyle/>
            <a:p>
              <a:endParaRPr sz="2400"/>
            </a:p>
          </p:txBody>
        </p:sp>
        <p:sp>
          <p:nvSpPr>
            <p:cNvPr id="21" name="object 21"/>
            <p:cNvSpPr/>
            <p:nvPr/>
          </p:nvSpPr>
          <p:spPr>
            <a:xfrm>
              <a:off x="5639562" y="3815333"/>
              <a:ext cx="2813685" cy="628015"/>
            </a:xfrm>
            <a:custGeom>
              <a:avLst/>
              <a:gdLst/>
              <a:ahLst/>
              <a:cxnLst/>
              <a:rect l="l" t="t" r="r" b="b"/>
              <a:pathLst>
                <a:path w="2813684" h="628014">
                  <a:moveTo>
                    <a:pt x="0" y="313943"/>
                  </a:moveTo>
                  <a:lnTo>
                    <a:pt x="156972" y="0"/>
                  </a:lnTo>
                  <a:lnTo>
                    <a:pt x="2656332" y="0"/>
                  </a:lnTo>
                  <a:lnTo>
                    <a:pt x="2813304" y="313943"/>
                  </a:lnTo>
                  <a:lnTo>
                    <a:pt x="2656332" y="627887"/>
                  </a:lnTo>
                  <a:lnTo>
                    <a:pt x="156972" y="627887"/>
                  </a:lnTo>
                  <a:lnTo>
                    <a:pt x="0" y="313943"/>
                  </a:lnTo>
                  <a:close/>
                </a:path>
              </a:pathLst>
            </a:custGeom>
            <a:ln w="19812">
              <a:solidFill>
                <a:srgbClr val="00C3FF"/>
              </a:solidFill>
            </a:ln>
          </p:spPr>
          <p:txBody>
            <a:bodyPr wrap="square" lIns="0" tIns="0" rIns="0" bIns="0" rtlCol="0"/>
            <a:lstStyle/>
            <a:p>
              <a:endParaRPr sz="2400"/>
            </a:p>
          </p:txBody>
        </p:sp>
      </p:grpSp>
      <p:sp>
        <p:nvSpPr>
          <p:cNvPr id="22" name="object 22"/>
          <p:cNvSpPr txBox="1"/>
          <p:nvPr/>
        </p:nvSpPr>
        <p:spPr>
          <a:xfrm>
            <a:off x="7904649" y="5217905"/>
            <a:ext cx="3009900" cy="509541"/>
          </a:xfrm>
          <a:prstGeom prst="rect">
            <a:avLst/>
          </a:prstGeom>
        </p:spPr>
        <p:txBody>
          <a:bodyPr vert="horz" wrap="square" lIns="0" tIns="16933" rIns="0" bIns="0" rtlCol="0">
            <a:spAutoFit/>
          </a:bodyPr>
          <a:lstStyle/>
          <a:p>
            <a:pPr marL="16933">
              <a:spcBef>
                <a:spcPts val="133"/>
              </a:spcBef>
            </a:pPr>
            <a:r>
              <a:rPr sz="3200" b="1" dirty="0">
                <a:solidFill>
                  <a:srgbClr val="CCEAFF"/>
                </a:solidFill>
                <a:latin typeface="Calibri"/>
                <a:cs typeface="Calibri"/>
              </a:rPr>
              <a:t>Tables</a:t>
            </a:r>
            <a:r>
              <a:rPr sz="3200" b="1" spc="-27" dirty="0">
                <a:solidFill>
                  <a:srgbClr val="CCEAFF"/>
                </a:solidFill>
                <a:latin typeface="Calibri"/>
                <a:cs typeface="Calibri"/>
              </a:rPr>
              <a:t> </a:t>
            </a:r>
            <a:r>
              <a:rPr sz="3200" b="1" dirty="0">
                <a:solidFill>
                  <a:srgbClr val="CCEAFF"/>
                </a:solidFill>
                <a:latin typeface="Calibri"/>
                <a:cs typeface="Calibri"/>
              </a:rPr>
              <a:t>&amp;</a:t>
            </a:r>
            <a:r>
              <a:rPr sz="3200" b="1" spc="-20" dirty="0">
                <a:solidFill>
                  <a:srgbClr val="CCEAFF"/>
                </a:solidFill>
                <a:latin typeface="Calibri"/>
                <a:cs typeface="Calibri"/>
              </a:rPr>
              <a:t> </a:t>
            </a:r>
            <a:r>
              <a:rPr sz="3200" b="1" spc="-13" dirty="0">
                <a:solidFill>
                  <a:srgbClr val="CCEAFF"/>
                </a:solidFill>
                <a:latin typeface="Calibri"/>
                <a:cs typeface="Calibri"/>
              </a:rPr>
              <a:t>columns</a:t>
            </a:r>
            <a:endParaRPr sz="3200">
              <a:latin typeface="Calibri"/>
              <a:cs typeface="Calibri"/>
            </a:endParaRPr>
          </a:p>
        </p:txBody>
      </p:sp>
      <p:grpSp>
        <p:nvGrpSpPr>
          <p:cNvPr id="23" name="object 23"/>
          <p:cNvGrpSpPr/>
          <p:nvPr/>
        </p:nvGrpSpPr>
        <p:grpSpPr>
          <a:xfrm>
            <a:off x="6904736" y="4759961"/>
            <a:ext cx="717973" cy="671407"/>
            <a:chOff x="5178552" y="3569970"/>
            <a:chExt cx="538480" cy="503555"/>
          </a:xfrm>
        </p:grpSpPr>
        <p:sp>
          <p:nvSpPr>
            <p:cNvPr id="24" name="object 24"/>
            <p:cNvSpPr/>
            <p:nvPr/>
          </p:nvSpPr>
          <p:spPr>
            <a:xfrm>
              <a:off x="5191252" y="3582670"/>
              <a:ext cx="513080" cy="478155"/>
            </a:xfrm>
            <a:custGeom>
              <a:avLst/>
              <a:gdLst/>
              <a:ahLst/>
              <a:cxnLst/>
              <a:rect l="l" t="t" r="r" b="b"/>
              <a:pathLst>
                <a:path w="513079" h="478154">
                  <a:moveTo>
                    <a:pt x="141224" y="0"/>
                  </a:moveTo>
                  <a:lnTo>
                    <a:pt x="0" y="226694"/>
                  </a:lnTo>
                  <a:lnTo>
                    <a:pt x="221234" y="364502"/>
                  </a:lnTo>
                  <a:lnTo>
                    <a:pt x="150622" y="477862"/>
                  </a:lnTo>
                  <a:lnTo>
                    <a:pt x="513080" y="388950"/>
                  </a:lnTo>
                  <a:lnTo>
                    <a:pt x="433070" y="24383"/>
                  </a:lnTo>
                  <a:lnTo>
                    <a:pt x="362458" y="137794"/>
                  </a:lnTo>
                  <a:lnTo>
                    <a:pt x="141224" y="0"/>
                  </a:lnTo>
                  <a:close/>
                </a:path>
              </a:pathLst>
            </a:custGeom>
            <a:solidFill>
              <a:srgbClr val="00C3FF"/>
            </a:solidFill>
          </p:spPr>
          <p:txBody>
            <a:bodyPr wrap="square" lIns="0" tIns="0" rIns="0" bIns="0" rtlCol="0"/>
            <a:lstStyle/>
            <a:p>
              <a:endParaRPr sz="2400"/>
            </a:p>
          </p:txBody>
        </p:sp>
        <p:sp>
          <p:nvSpPr>
            <p:cNvPr id="25" name="object 25"/>
            <p:cNvSpPr/>
            <p:nvPr/>
          </p:nvSpPr>
          <p:spPr>
            <a:xfrm>
              <a:off x="5191252" y="3582670"/>
              <a:ext cx="513080" cy="478155"/>
            </a:xfrm>
            <a:custGeom>
              <a:avLst/>
              <a:gdLst/>
              <a:ahLst/>
              <a:cxnLst/>
              <a:rect l="l" t="t" r="r" b="b"/>
              <a:pathLst>
                <a:path w="513079" h="478154">
                  <a:moveTo>
                    <a:pt x="141224" y="0"/>
                  </a:moveTo>
                  <a:lnTo>
                    <a:pt x="362458" y="137794"/>
                  </a:lnTo>
                  <a:lnTo>
                    <a:pt x="433070" y="24383"/>
                  </a:lnTo>
                  <a:lnTo>
                    <a:pt x="513080" y="388950"/>
                  </a:lnTo>
                  <a:lnTo>
                    <a:pt x="150622" y="477862"/>
                  </a:lnTo>
                  <a:lnTo>
                    <a:pt x="221234" y="364502"/>
                  </a:lnTo>
                  <a:lnTo>
                    <a:pt x="0" y="226694"/>
                  </a:lnTo>
                  <a:lnTo>
                    <a:pt x="141224" y="0"/>
                  </a:lnTo>
                  <a:close/>
                </a:path>
              </a:pathLst>
            </a:custGeom>
            <a:ln w="25400">
              <a:solidFill>
                <a:srgbClr val="008FBB"/>
              </a:solidFill>
            </a:ln>
          </p:spPr>
          <p:txBody>
            <a:bodyPr wrap="square" lIns="0" tIns="0" rIns="0" bIns="0" rtlCol="0"/>
            <a:lstStyle/>
            <a:p>
              <a:endParaRPr sz="2400"/>
            </a:p>
          </p:txBody>
        </p:sp>
      </p:gr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57585" y="303634"/>
            <a:ext cx="8719312" cy="695062"/>
          </a:xfrm>
          <a:prstGeom prst="rect">
            <a:avLst/>
          </a:prstGeom>
        </p:spPr>
        <p:txBody>
          <a:bodyPr vert="horz" wrap="square" lIns="0" tIns="17780" rIns="0" bIns="0" rtlCol="0" anchor="ctr">
            <a:spAutoFit/>
          </a:bodyPr>
          <a:lstStyle/>
          <a:p>
            <a:pPr marL="756054">
              <a:lnSpc>
                <a:spcPct val="100000"/>
              </a:lnSpc>
              <a:spcBef>
                <a:spcPts val="140"/>
              </a:spcBef>
            </a:pPr>
            <a:r>
              <a:rPr dirty="0">
                <a:solidFill>
                  <a:schemeClr val="bg1"/>
                </a:solidFill>
                <a:latin typeface="+mn-lt"/>
              </a:rPr>
              <a:t>Steps</a:t>
            </a:r>
            <a:r>
              <a:rPr spc="-13" dirty="0">
                <a:solidFill>
                  <a:schemeClr val="bg1"/>
                </a:solidFill>
                <a:latin typeface="+mn-lt"/>
              </a:rPr>
              <a:t> </a:t>
            </a:r>
            <a:r>
              <a:rPr dirty="0">
                <a:solidFill>
                  <a:schemeClr val="bg1"/>
                </a:solidFill>
                <a:latin typeface="+mn-lt"/>
              </a:rPr>
              <a:t>to</a:t>
            </a:r>
            <a:r>
              <a:rPr spc="-20" dirty="0">
                <a:solidFill>
                  <a:schemeClr val="bg1"/>
                </a:solidFill>
                <a:latin typeface="+mn-lt"/>
              </a:rPr>
              <a:t> </a:t>
            </a:r>
            <a:r>
              <a:rPr dirty="0">
                <a:solidFill>
                  <a:schemeClr val="bg1"/>
                </a:solidFill>
                <a:latin typeface="+mn-lt"/>
              </a:rPr>
              <a:t>create</a:t>
            </a:r>
            <a:r>
              <a:rPr spc="-27" dirty="0">
                <a:solidFill>
                  <a:schemeClr val="bg1"/>
                </a:solidFill>
                <a:latin typeface="+mn-lt"/>
              </a:rPr>
              <a:t> </a:t>
            </a:r>
            <a:r>
              <a:rPr dirty="0">
                <a:solidFill>
                  <a:schemeClr val="bg1"/>
                </a:solidFill>
                <a:latin typeface="+mn-lt"/>
              </a:rPr>
              <a:t>a</a:t>
            </a:r>
            <a:r>
              <a:rPr spc="-13" dirty="0">
                <a:solidFill>
                  <a:schemeClr val="bg1"/>
                </a:solidFill>
                <a:latin typeface="+mn-lt"/>
              </a:rPr>
              <a:t> </a:t>
            </a:r>
            <a:r>
              <a:rPr dirty="0">
                <a:solidFill>
                  <a:schemeClr val="bg1"/>
                </a:solidFill>
                <a:latin typeface="+mn-lt"/>
              </a:rPr>
              <a:t>fact</a:t>
            </a:r>
            <a:r>
              <a:rPr spc="-33" dirty="0">
                <a:solidFill>
                  <a:schemeClr val="bg1"/>
                </a:solidFill>
                <a:latin typeface="+mn-lt"/>
              </a:rPr>
              <a:t> </a:t>
            </a:r>
            <a:r>
              <a:rPr spc="-13" dirty="0">
                <a:solidFill>
                  <a:schemeClr val="bg1"/>
                </a:solidFill>
                <a:latin typeface="+mn-lt"/>
              </a:rPr>
              <a:t>table</a:t>
            </a:r>
          </a:p>
        </p:txBody>
      </p:sp>
      <p:graphicFrame>
        <p:nvGraphicFramePr>
          <p:cNvPr id="3" name="object 3"/>
          <p:cNvGraphicFramePr>
            <a:graphicFrameLocks noGrp="1"/>
          </p:cNvGraphicFramePr>
          <p:nvPr/>
        </p:nvGraphicFramePr>
        <p:xfrm>
          <a:off x="5681134" y="1811019"/>
          <a:ext cx="3251200" cy="1496060"/>
        </p:xfrm>
        <a:graphic>
          <a:graphicData uri="http://schemas.openxmlformats.org/drawingml/2006/table">
            <a:tbl>
              <a:tblPr firstRow="1" bandRow="1">
                <a:tableStyleId>{2D5ABB26-0587-4C30-8999-92F81FD0307C}</a:tableStyleId>
              </a:tblPr>
              <a:tblGrid>
                <a:gridCol w="914400">
                  <a:extLst>
                    <a:ext uri="{9D8B030D-6E8A-4147-A177-3AD203B41FA5}">
                      <a16:colId xmlns:a16="http://schemas.microsoft.com/office/drawing/2014/main" val="20000"/>
                    </a:ext>
                  </a:extLst>
                </a:gridCol>
                <a:gridCol w="11176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tblGrid>
              <a:tr h="226060">
                <a:tc>
                  <a:txBody>
                    <a:bodyPr/>
                    <a:lstStyle/>
                    <a:p>
                      <a:pPr marL="635" algn="ctr">
                        <a:lnSpc>
                          <a:spcPts val="1175"/>
                        </a:lnSpc>
                        <a:spcBef>
                          <a:spcPts val="60"/>
                        </a:spcBef>
                      </a:pPr>
                      <a:r>
                        <a:rPr sz="1400" b="1" spc="-10" dirty="0">
                          <a:latin typeface="Arial"/>
                          <a:cs typeface="Arial"/>
                        </a:rPr>
                        <a:t>sales_id</a:t>
                      </a:r>
                      <a:endParaRPr sz="1400">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635" algn="ctr">
                        <a:lnSpc>
                          <a:spcPts val="1175"/>
                        </a:lnSpc>
                        <a:spcBef>
                          <a:spcPts val="60"/>
                        </a:spcBef>
                      </a:pPr>
                      <a:r>
                        <a:rPr sz="1400" b="1" spc="-20" dirty="0">
                          <a:latin typeface="Arial"/>
                          <a:cs typeface="Arial"/>
                        </a:rPr>
                        <a:t>date</a:t>
                      </a:r>
                      <a:endParaRPr sz="1400">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algn="ctr">
                        <a:lnSpc>
                          <a:spcPts val="1175"/>
                        </a:lnSpc>
                        <a:spcBef>
                          <a:spcPts val="60"/>
                        </a:spcBef>
                      </a:pPr>
                      <a:r>
                        <a:rPr sz="1400" b="1" dirty="0">
                          <a:latin typeface="Arial"/>
                          <a:cs typeface="Arial"/>
                        </a:rPr>
                        <a:t>Sales</a:t>
                      </a:r>
                      <a:r>
                        <a:rPr sz="1400" b="1" spc="-40" dirty="0">
                          <a:latin typeface="Arial"/>
                          <a:cs typeface="Arial"/>
                        </a:rPr>
                        <a:t> </a:t>
                      </a:r>
                      <a:r>
                        <a:rPr sz="1400" b="1" spc="-10" dirty="0">
                          <a:latin typeface="Arial"/>
                          <a:cs typeface="Arial"/>
                        </a:rPr>
                        <a:t>amount</a:t>
                      </a:r>
                      <a:endParaRPr sz="1400">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extLst>
                  <a:ext uri="{0D108BD9-81ED-4DB2-BD59-A6C34878D82A}">
                    <a16:rowId xmlns:a16="http://schemas.microsoft.com/office/drawing/2014/main" val="10000"/>
                  </a:ext>
                </a:extLst>
              </a:tr>
              <a:tr h="254000">
                <a:tc>
                  <a:txBody>
                    <a:bodyPr/>
                    <a:lstStyle/>
                    <a:p>
                      <a:pPr marL="635" algn="ctr">
                        <a:lnSpc>
                          <a:spcPts val="1175"/>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5"/>
                        </a:lnSpc>
                        <a:spcBef>
                          <a:spcPts val="225"/>
                        </a:spcBef>
                      </a:pPr>
                      <a:r>
                        <a:rPr sz="1400" spc="-10" dirty="0">
                          <a:latin typeface="Arial MT"/>
                          <a:cs typeface="Arial MT"/>
                        </a:rPr>
                        <a:t>2022-01-</a:t>
                      </a:r>
                      <a:r>
                        <a:rPr sz="1400" spc="-25" dirty="0">
                          <a:latin typeface="Arial MT"/>
                          <a:cs typeface="Arial MT"/>
                        </a:rPr>
                        <a:t>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5"/>
                        </a:lnSpc>
                        <a:spcBef>
                          <a:spcPts val="225"/>
                        </a:spcBef>
                      </a:pPr>
                      <a:r>
                        <a:rPr sz="1400" spc="-25" dirty="0">
                          <a:latin typeface="Arial MT"/>
                          <a:cs typeface="Arial MT"/>
                        </a:rPr>
                        <a:t>$41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marL="635" algn="ctr">
                        <a:lnSpc>
                          <a:spcPts val="1175"/>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5"/>
                        </a:lnSpc>
                        <a:spcBef>
                          <a:spcPts val="225"/>
                        </a:spcBef>
                      </a:pPr>
                      <a:r>
                        <a:rPr sz="1400" spc="-10" dirty="0">
                          <a:latin typeface="Arial MT"/>
                          <a:cs typeface="Arial MT"/>
                        </a:rPr>
                        <a:t>2022-01-</a:t>
                      </a:r>
                      <a:r>
                        <a:rPr sz="1400" spc="-25" dirty="0">
                          <a:latin typeface="Arial MT"/>
                          <a:cs typeface="Arial MT"/>
                        </a:rPr>
                        <a:t>02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5"/>
                        </a:lnSpc>
                        <a:spcBef>
                          <a:spcPts val="225"/>
                        </a:spcBef>
                      </a:pPr>
                      <a:r>
                        <a:rPr sz="1400" spc="-25" dirty="0">
                          <a:latin typeface="Arial MT"/>
                          <a:cs typeface="Arial MT"/>
                        </a:rPr>
                        <a:t>$15</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marL="635" algn="ctr">
                        <a:lnSpc>
                          <a:spcPts val="1175"/>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5"/>
                        </a:lnSpc>
                        <a:spcBef>
                          <a:spcPts val="225"/>
                        </a:spcBef>
                      </a:pPr>
                      <a:r>
                        <a:rPr sz="1400" spc="-10" dirty="0">
                          <a:latin typeface="Arial MT"/>
                          <a:cs typeface="Arial MT"/>
                        </a:rPr>
                        <a:t>2022-01-</a:t>
                      </a:r>
                      <a:r>
                        <a:rPr sz="1400" spc="-25" dirty="0">
                          <a:latin typeface="Arial MT"/>
                          <a:cs typeface="Arial MT"/>
                        </a:rPr>
                        <a:t>02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5"/>
                        </a:lnSpc>
                        <a:spcBef>
                          <a:spcPts val="225"/>
                        </a:spcBef>
                      </a:pPr>
                      <a:r>
                        <a:rPr sz="1400" spc="-25" dirty="0">
                          <a:latin typeface="Arial MT"/>
                          <a:cs typeface="Arial MT"/>
                        </a:rPr>
                        <a:t>$24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marL="635" algn="ctr">
                        <a:lnSpc>
                          <a:spcPts val="1175"/>
                        </a:lnSpc>
                        <a:spcBef>
                          <a:spcPts val="225"/>
                        </a:spcBef>
                      </a:pPr>
                      <a:r>
                        <a:rPr sz="1400" spc="-50" dirty="0">
                          <a:latin typeface="Arial MT"/>
                          <a:cs typeface="Arial MT"/>
                        </a:rPr>
                        <a:t>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5"/>
                        </a:lnSpc>
                        <a:spcBef>
                          <a:spcPts val="225"/>
                        </a:spcBef>
                      </a:pPr>
                      <a:r>
                        <a:rPr sz="1400" spc="-10" dirty="0">
                          <a:latin typeface="Arial MT"/>
                          <a:cs typeface="Arial MT"/>
                        </a:rPr>
                        <a:t>2022-01-</a:t>
                      </a:r>
                      <a:r>
                        <a:rPr sz="1400" spc="-25" dirty="0">
                          <a:latin typeface="Arial MT"/>
                          <a:cs typeface="Arial MT"/>
                        </a:rPr>
                        <a:t>03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5"/>
                        </a:lnSpc>
                        <a:spcBef>
                          <a:spcPts val="225"/>
                        </a:spcBef>
                      </a:pPr>
                      <a:r>
                        <a:rPr sz="1400" spc="-25" dirty="0">
                          <a:latin typeface="Arial MT"/>
                          <a:cs typeface="Arial MT"/>
                        </a:rPr>
                        <a:t>$13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marL="635" algn="ctr">
                        <a:lnSpc>
                          <a:spcPts val="1170"/>
                        </a:lnSpc>
                        <a:spcBef>
                          <a:spcPts val="225"/>
                        </a:spcBef>
                      </a:pPr>
                      <a:r>
                        <a:rPr sz="1400" spc="-50" dirty="0">
                          <a:latin typeface="Arial MT"/>
                          <a:cs typeface="Arial MT"/>
                        </a:rPr>
                        <a:t>5</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0"/>
                        </a:lnSpc>
                        <a:spcBef>
                          <a:spcPts val="225"/>
                        </a:spcBef>
                      </a:pPr>
                      <a:r>
                        <a:rPr sz="1400" spc="-10" dirty="0">
                          <a:latin typeface="Arial MT"/>
                          <a:cs typeface="Arial MT"/>
                        </a:rPr>
                        <a:t>2022-01-</a:t>
                      </a:r>
                      <a:r>
                        <a:rPr sz="1400" spc="-25" dirty="0">
                          <a:latin typeface="Arial MT"/>
                          <a:cs typeface="Arial MT"/>
                        </a:rPr>
                        <a:t>04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25" dirty="0">
                          <a:latin typeface="Arial MT"/>
                          <a:cs typeface="Arial MT"/>
                        </a:rPr>
                        <a:t>$52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sp>
        <p:nvSpPr>
          <p:cNvPr id="4" name="object 4"/>
          <p:cNvSpPr txBox="1"/>
          <p:nvPr/>
        </p:nvSpPr>
        <p:spPr>
          <a:xfrm>
            <a:off x="3065609" y="1212286"/>
            <a:ext cx="7660303" cy="2891825"/>
          </a:xfrm>
          <a:prstGeom prst="rect">
            <a:avLst/>
          </a:prstGeom>
        </p:spPr>
        <p:txBody>
          <a:bodyPr vert="horz" wrap="square" lIns="0" tIns="84667" rIns="0" bIns="0" rtlCol="0">
            <a:spAutoFit/>
          </a:bodyPr>
          <a:lstStyle/>
          <a:p>
            <a:pPr marL="336964" indent="-319185">
              <a:spcBef>
                <a:spcPts val="667"/>
              </a:spcBef>
              <a:buAutoNum type="arabicParenR"/>
              <a:tabLst>
                <a:tab pos="336964" algn="l"/>
              </a:tabLst>
            </a:pPr>
            <a:r>
              <a:rPr sz="2400" b="1" dirty="0">
                <a:solidFill>
                  <a:srgbClr val="D9D9D9"/>
                </a:solidFill>
                <a:latin typeface="Calibri"/>
                <a:cs typeface="Calibri"/>
              </a:rPr>
              <a:t>Identify</a:t>
            </a:r>
            <a:r>
              <a:rPr sz="2400" b="1" spc="-73" dirty="0">
                <a:solidFill>
                  <a:srgbClr val="D9D9D9"/>
                </a:solidFill>
                <a:latin typeface="Calibri"/>
                <a:cs typeface="Calibri"/>
              </a:rPr>
              <a:t> </a:t>
            </a:r>
            <a:r>
              <a:rPr sz="2400" b="1" dirty="0">
                <a:solidFill>
                  <a:srgbClr val="D9D9D9"/>
                </a:solidFill>
                <a:latin typeface="Calibri"/>
                <a:cs typeface="Calibri"/>
              </a:rPr>
              <a:t>business</a:t>
            </a:r>
            <a:r>
              <a:rPr sz="2400" b="1" spc="-33" dirty="0">
                <a:solidFill>
                  <a:srgbClr val="D9D9D9"/>
                </a:solidFill>
                <a:latin typeface="Calibri"/>
                <a:cs typeface="Calibri"/>
              </a:rPr>
              <a:t> </a:t>
            </a:r>
            <a:r>
              <a:rPr sz="2400" b="1" dirty="0">
                <a:solidFill>
                  <a:srgbClr val="D9D9D9"/>
                </a:solidFill>
                <a:latin typeface="Calibri"/>
                <a:cs typeface="Calibri"/>
              </a:rPr>
              <a:t>process</a:t>
            </a:r>
            <a:r>
              <a:rPr sz="2400" b="1" spc="-40" dirty="0">
                <a:solidFill>
                  <a:srgbClr val="D9D9D9"/>
                </a:solidFill>
                <a:latin typeface="Calibri"/>
                <a:cs typeface="Calibri"/>
              </a:rPr>
              <a:t> </a:t>
            </a:r>
            <a:r>
              <a:rPr sz="2400" b="1" dirty="0">
                <a:solidFill>
                  <a:srgbClr val="D9D9D9"/>
                </a:solidFill>
                <a:latin typeface="Calibri"/>
                <a:cs typeface="Calibri"/>
              </a:rPr>
              <a:t>for</a:t>
            </a:r>
            <a:r>
              <a:rPr sz="2400" b="1" spc="-53" dirty="0">
                <a:solidFill>
                  <a:srgbClr val="D9D9D9"/>
                </a:solidFill>
                <a:latin typeface="Calibri"/>
                <a:cs typeface="Calibri"/>
              </a:rPr>
              <a:t> </a:t>
            </a:r>
            <a:r>
              <a:rPr sz="2400" b="1" spc="-13" dirty="0">
                <a:solidFill>
                  <a:srgbClr val="D9D9D9"/>
                </a:solidFill>
                <a:latin typeface="Calibri"/>
                <a:cs typeface="Calibri"/>
              </a:rPr>
              <a:t>analysis</a:t>
            </a:r>
            <a:endParaRPr sz="2400" dirty="0">
              <a:latin typeface="Calibri"/>
              <a:cs typeface="Calibri"/>
            </a:endParaRPr>
          </a:p>
          <a:p>
            <a:pPr marL="288706">
              <a:spcBef>
                <a:spcPts val="473"/>
              </a:spcBef>
            </a:pPr>
            <a:r>
              <a:rPr sz="2133" b="1" i="1" spc="-13" dirty="0">
                <a:solidFill>
                  <a:srgbClr val="99D3FF"/>
                </a:solidFill>
                <a:latin typeface="Calibri"/>
                <a:cs typeface="Calibri"/>
              </a:rPr>
              <a:t>Example:</a:t>
            </a:r>
            <a:endParaRPr sz="2133" dirty="0">
              <a:latin typeface="Calibri"/>
              <a:cs typeface="Calibri"/>
            </a:endParaRPr>
          </a:p>
          <a:p>
            <a:pPr marL="288706"/>
            <a:r>
              <a:rPr sz="2133" b="1" i="1" spc="-13" dirty="0">
                <a:solidFill>
                  <a:srgbClr val="99D3FF"/>
                </a:solidFill>
                <a:latin typeface="Calibri"/>
                <a:cs typeface="Calibri"/>
              </a:rPr>
              <a:t>Sales,</a:t>
            </a:r>
            <a:endParaRPr sz="2133" dirty="0">
              <a:latin typeface="Calibri"/>
              <a:cs typeface="Calibri"/>
            </a:endParaRPr>
          </a:p>
          <a:p>
            <a:pPr marL="288706"/>
            <a:r>
              <a:rPr sz="2133" b="1" i="1" dirty="0">
                <a:solidFill>
                  <a:srgbClr val="99D3FF"/>
                </a:solidFill>
                <a:latin typeface="Calibri"/>
                <a:cs typeface="Calibri"/>
              </a:rPr>
              <a:t>Order</a:t>
            </a:r>
            <a:r>
              <a:rPr sz="2133" b="1" i="1" spc="-53" dirty="0">
                <a:solidFill>
                  <a:srgbClr val="99D3FF"/>
                </a:solidFill>
                <a:latin typeface="Calibri"/>
                <a:cs typeface="Calibri"/>
              </a:rPr>
              <a:t> </a:t>
            </a:r>
            <a:r>
              <a:rPr sz="2133" b="1" i="1" spc="-13" dirty="0">
                <a:solidFill>
                  <a:srgbClr val="99D3FF"/>
                </a:solidFill>
                <a:latin typeface="Calibri"/>
                <a:cs typeface="Calibri"/>
              </a:rPr>
              <a:t>processing</a:t>
            </a:r>
            <a:endParaRPr sz="2133" dirty="0">
              <a:latin typeface="Calibri"/>
              <a:cs typeface="Calibri"/>
            </a:endParaRPr>
          </a:p>
          <a:p>
            <a:pPr>
              <a:spcBef>
                <a:spcPts val="1780"/>
              </a:spcBef>
            </a:pPr>
            <a:endParaRPr sz="2133" dirty="0">
              <a:latin typeface="Calibri"/>
              <a:cs typeface="Calibri"/>
            </a:endParaRPr>
          </a:p>
          <a:p>
            <a:pPr marL="336118" indent="-319185">
              <a:buAutoNum type="arabicParenR" startAt="2"/>
              <a:tabLst>
                <a:tab pos="336118" algn="l"/>
              </a:tabLst>
            </a:pPr>
            <a:r>
              <a:rPr sz="2400" b="1" dirty="0">
                <a:solidFill>
                  <a:srgbClr val="D9D9D9"/>
                </a:solidFill>
                <a:latin typeface="Calibri"/>
                <a:cs typeface="Calibri"/>
              </a:rPr>
              <a:t>Declare</a:t>
            </a:r>
            <a:r>
              <a:rPr sz="2400" b="1" spc="-67" dirty="0">
                <a:solidFill>
                  <a:srgbClr val="D9D9D9"/>
                </a:solidFill>
                <a:latin typeface="Calibri"/>
                <a:cs typeface="Calibri"/>
              </a:rPr>
              <a:t> </a:t>
            </a:r>
            <a:r>
              <a:rPr sz="2400" b="1" dirty="0">
                <a:solidFill>
                  <a:srgbClr val="D9D9D9"/>
                </a:solidFill>
                <a:latin typeface="Calibri"/>
                <a:cs typeface="Calibri"/>
              </a:rPr>
              <a:t>the</a:t>
            </a:r>
            <a:r>
              <a:rPr sz="2400" b="1" spc="-33" dirty="0">
                <a:solidFill>
                  <a:srgbClr val="D9D9D9"/>
                </a:solidFill>
                <a:latin typeface="Calibri"/>
                <a:cs typeface="Calibri"/>
              </a:rPr>
              <a:t> </a:t>
            </a:r>
            <a:r>
              <a:rPr sz="2400" b="1" spc="-13" dirty="0">
                <a:solidFill>
                  <a:srgbClr val="D9D9D9"/>
                </a:solidFill>
                <a:latin typeface="Calibri"/>
                <a:cs typeface="Calibri"/>
              </a:rPr>
              <a:t>grain</a:t>
            </a:r>
            <a:endParaRPr sz="2400" dirty="0">
              <a:latin typeface="Calibri"/>
              <a:cs typeface="Calibri"/>
            </a:endParaRPr>
          </a:p>
          <a:p>
            <a:pPr marL="341197">
              <a:spcBef>
                <a:spcPts val="940"/>
              </a:spcBef>
            </a:pPr>
            <a:r>
              <a:rPr sz="2133" b="1" i="1" dirty="0">
                <a:solidFill>
                  <a:srgbClr val="99D3FF"/>
                </a:solidFill>
                <a:latin typeface="Calibri"/>
                <a:cs typeface="Calibri"/>
              </a:rPr>
              <a:t>Example:</a:t>
            </a:r>
            <a:r>
              <a:rPr sz="2133" b="1" i="1" spc="-47" dirty="0">
                <a:solidFill>
                  <a:srgbClr val="99D3FF"/>
                </a:solidFill>
                <a:latin typeface="Calibri"/>
                <a:cs typeface="Calibri"/>
              </a:rPr>
              <a:t> </a:t>
            </a:r>
            <a:r>
              <a:rPr sz="2133" b="1" i="1" dirty="0">
                <a:solidFill>
                  <a:srgbClr val="99D3FF"/>
                </a:solidFill>
                <a:latin typeface="Calibri"/>
                <a:cs typeface="Calibri"/>
              </a:rPr>
              <a:t>Transaction,</a:t>
            </a:r>
            <a:r>
              <a:rPr sz="2133" b="1" i="1" spc="-13" dirty="0">
                <a:solidFill>
                  <a:srgbClr val="99D3FF"/>
                </a:solidFill>
                <a:latin typeface="Calibri"/>
                <a:cs typeface="Calibri"/>
              </a:rPr>
              <a:t> </a:t>
            </a:r>
            <a:r>
              <a:rPr sz="2133" b="1" i="1" dirty="0">
                <a:solidFill>
                  <a:srgbClr val="99D3FF"/>
                </a:solidFill>
                <a:latin typeface="Calibri"/>
                <a:cs typeface="Calibri"/>
              </a:rPr>
              <a:t>Order,</a:t>
            </a:r>
            <a:r>
              <a:rPr sz="2133" b="1" i="1" spc="-47" dirty="0">
                <a:solidFill>
                  <a:srgbClr val="99D3FF"/>
                </a:solidFill>
                <a:latin typeface="Calibri"/>
                <a:cs typeface="Calibri"/>
              </a:rPr>
              <a:t> </a:t>
            </a:r>
            <a:r>
              <a:rPr sz="2133" b="1" i="1" dirty="0">
                <a:solidFill>
                  <a:srgbClr val="99D3FF"/>
                </a:solidFill>
                <a:latin typeface="Calibri"/>
                <a:cs typeface="Calibri"/>
              </a:rPr>
              <a:t>Order</a:t>
            </a:r>
            <a:r>
              <a:rPr sz="2133" b="1" i="1" spc="-33" dirty="0">
                <a:solidFill>
                  <a:srgbClr val="99D3FF"/>
                </a:solidFill>
                <a:latin typeface="Calibri"/>
                <a:cs typeface="Calibri"/>
              </a:rPr>
              <a:t> </a:t>
            </a:r>
            <a:r>
              <a:rPr sz="2133" b="1" i="1" dirty="0">
                <a:solidFill>
                  <a:srgbClr val="99D3FF"/>
                </a:solidFill>
                <a:latin typeface="Calibri"/>
                <a:cs typeface="Calibri"/>
              </a:rPr>
              <a:t>lines,</a:t>
            </a:r>
            <a:r>
              <a:rPr sz="2133" b="1" i="1" spc="-60" dirty="0">
                <a:solidFill>
                  <a:srgbClr val="99D3FF"/>
                </a:solidFill>
                <a:latin typeface="Calibri"/>
                <a:cs typeface="Calibri"/>
              </a:rPr>
              <a:t> </a:t>
            </a:r>
            <a:r>
              <a:rPr sz="2133" b="1" i="1" dirty="0">
                <a:solidFill>
                  <a:srgbClr val="99D3FF"/>
                </a:solidFill>
                <a:latin typeface="Calibri"/>
                <a:cs typeface="Calibri"/>
              </a:rPr>
              <a:t>Daily,</a:t>
            </a:r>
            <a:r>
              <a:rPr sz="2133" b="1" i="1" spc="-67" dirty="0">
                <a:solidFill>
                  <a:srgbClr val="99D3FF"/>
                </a:solidFill>
                <a:latin typeface="Calibri"/>
                <a:cs typeface="Calibri"/>
              </a:rPr>
              <a:t> </a:t>
            </a:r>
            <a:r>
              <a:rPr sz="2133" b="1" i="1" dirty="0">
                <a:solidFill>
                  <a:srgbClr val="99D3FF"/>
                </a:solidFill>
                <a:latin typeface="Calibri"/>
                <a:cs typeface="Calibri"/>
              </a:rPr>
              <a:t>Daily</a:t>
            </a:r>
            <a:r>
              <a:rPr sz="2133" b="1" i="1" spc="-67" dirty="0">
                <a:solidFill>
                  <a:srgbClr val="99D3FF"/>
                </a:solidFill>
                <a:latin typeface="Calibri"/>
                <a:cs typeface="Calibri"/>
              </a:rPr>
              <a:t> </a:t>
            </a:r>
            <a:r>
              <a:rPr sz="2133" b="1" i="1" dirty="0">
                <a:solidFill>
                  <a:srgbClr val="99D3FF"/>
                </a:solidFill>
                <a:latin typeface="Calibri"/>
                <a:cs typeface="Calibri"/>
              </a:rPr>
              <a:t>+</a:t>
            </a:r>
            <a:r>
              <a:rPr sz="2133" b="1" i="1" spc="-60" dirty="0">
                <a:solidFill>
                  <a:srgbClr val="99D3FF"/>
                </a:solidFill>
                <a:latin typeface="Calibri"/>
                <a:cs typeface="Calibri"/>
              </a:rPr>
              <a:t> </a:t>
            </a:r>
            <a:r>
              <a:rPr sz="2133" b="1" i="1" spc="-13" dirty="0">
                <a:solidFill>
                  <a:srgbClr val="99D3FF"/>
                </a:solidFill>
                <a:latin typeface="Calibri"/>
                <a:cs typeface="Calibri"/>
              </a:rPr>
              <a:t>location</a:t>
            </a:r>
            <a:endParaRPr sz="2133" dirty="0">
              <a:latin typeface="Calibri"/>
              <a:cs typeface="Calibri"/>
            </a:endParaRPr>
          </a:p>
        </p:txBody>
      </p:sp>
      <p:sp>
        <p:nvSpPr>
          <p:cNvPr id="5" name="object 5"/>
          <p:cNvSpPr txBox="1"/>
          <p:nvPr/>
        </p:nvSpPr>
        <p:spPr>
          <a:xfrm>
            <a:off x="3100494" y="4094315"/>
            <a:ext cx="5041900" cy="1025131"/>
          </a:xfrm>
          <a:prstGeom prst="rect">
            <a:avLst/>
          </a:prstGeom>
        </p:spPr>
        <p:txBody>
          <a:bodyPr vert="horz" wrap="square" lIns="0" tIns="212513" rIns="0" bIns="0" rtlCol="0">
            <a:spAutoFit/>
          </a:bodyPr>
          <a:lstStyle/>
          <a:p>
            <a:pPr marL="16933">
              <a:spcBef>
                <a:spcPts val="1673"/>
              </a:spcBef>
            </a:pPr>
            <a:r>
              <a:rPr sz="2400" b="1" dirty="0">
                <a:solidFill>
                  <a:srgbClr val="D9D9D9"/>
                </a:solidFill>
                <a:latin typeface="Calibri"/>
                <a:cs typeface="Calibri"/>
              </a:rPr>
              <a:t>3)</a:t>
            </a:r>
            <a:r>
              <a:rPr sz="2400" b="1" spc="-20" dirty="0">
                <a:solidFill>
                  <a:srgbClr val="D9D9D9"/>
                </a:solidFill>
                <a:latin typeface="Calibri"/>
                <a:cs typeface="Calibri"/>
              </a:rPr>
              <a:t> </a:t>
            </a:r>
            <a:r>
              <a:rPr sz="2400" b="1" dirty="0">
                <a:solidFill>
                  <a:srgbClr val="D9D9D9"/>
                </a:solidFill>
                <a:latin typeface="Calibri"/>
                <a:cs typeface="Calibri"/>
              </a:rPr>
              <a:t>Identify</a:t>
            </a:r>
            <a:r>
              <a:rPr sz="2400" b="1" spc="-53" dirty="0">
                <a:solidFill>
                  <a:srgbClr val="D9D9D9"/>
                </a:solidFill>
                <a:latin typeface="Calibri"/>
                <a:cs typeface="Calibri"/>
              </a:rPr>
              <a:t> </a:t>
            </a:r>
            <a:r>
              <a:rPr sz="2400" b="1" dirty="0">
                <a:solidFill>
                  <a:srgbClr val="D9D9D9"/>
                </a:solidFill>
                <a:latin typeface="Calibri"/>
                <a:cs typeface="Calibri"/>
              </a:rPr>
              <a:t>dimensions</a:t>
            </a:r>
            <a:r>
              <a:rPr sz="2400" b="1" spc="-40" dirty="0">
                <a:solidFill>
                  <a:srgbClr val="D9D9D9"/>
                </a:solidFill>
                <a:latin typeface="Calibri"/>
                <a:cs typeface="Calibri"/>
              </a:rPr>
              <a:t> </a:t>
            </a:r>
            <a:r>
              <a:rPr sz="2400" b="1" dirty="0">
                <a:solidFill>
                  <a:srgbClr val="D9D9D9"/>
                </a:solidFill>
                <a:latin typeface="Calibri"/>
                <a:cs typeface="Calibri"/>
              </a:rPr>
              <a:t>that</a:t>
            </a:r>
            <a:r>
              <a:rPr sz="2400" b="1" spc="-67" dirty="0">
                <a:solidFill>
                  <a:srgbClr val="D9D9D9"/>
                </a:solidFill>
                <a:latin typeface="Calibri"/>
                <a:cs typeface="Calibri"/>
              </a:rPr>
              <a:t> </a:t>
            </a:r>
            <a:r>
              <a:rPr sz="2400" b="1" dirty="0">
                <a:solidFill>
                  <a:srgbClr val="D9D9D9"/>
                </a:solidFill>
                <a:latin typeface="Calibri"/>
                <a:cs typeface="Calibri"/>
              </a:rPr>
              <a:t>are</a:t>
            </a:r>
            <a:r>
              <a:rPr sz="2400" b="1" spc="-20" dirty="0">
                <a:solidFill>
                  <a:srgbClr val="D9D9D9"/>
                </a:solidFill>
                <a:latin typeface="Calibri"/>
                <a:cs typeface="Calibri"/>
              </a:rPr>
              <a:t> </a:t>
            </a:r>
            <a:r>
              <a:rPr sz="2400" b="1" spc="-13" dirty="0">
                <a:solidFill>
                  <a:srgbClr val="D9D9D9"/>
                </a:solidFill>
                <a:latin typeface="Calibri"/>
                <a:cs typeface="Calibri"/>
              </a:rPr>
              <a:t>relevant</a:t>
            </a:r>
            <a:endParaRPr sz="2400">
              <a:latin typeface="Calibri"/>
              <a:cs typeface="Calibri"/>
            </a:endParaRPr>
          </a:p>
          <a:p>
            <a:pPr marL="272620">
              <a:spcBef>
                <a:spcPts val="1213"/>
              </a:spcBef>
            </a:pPr>
            <a:r>
              <a:rPr sz="1867" i="1" dirty="0">
                <a:solidFill>
                  <a:srgbClr val="99D3FF"/>
                </a:solidFill>
                <a:latin typeface="Segoe UI Light"/>
                <a:cs typeface="Segoe UI Light"/>
              </a:rPr>
              <a:t>What,</a:t>
            </a:r>
            <a:r>
              <a:rPr sz="1867" i="1" spc="-27" dirty="0">
                <a:solidFill>
                  <a:srgbClr val="99D3FF"/>
                </a:solidFill>
                <a:latin typeface="Segoe UI Light"/>
                <a:cs typeface="Segoe UI Light"/>
              </a:rPr>
              <a:t> </a:t>
            </a:r>
            <a:r>
              <a:rPr sz="1867" i="1" dirty="0">
                <a:solidFill>
                  <a:srgbClr val="99D3FF"/>
                </a:solidFill>
                <a:latin typeface="Segoe UI Light"/>
                <a:cs typeface="Segoe UI Light"/>
              </a:rPr>
              <a:t>when,</a:t>
            </a:r>
            <a:r>
              <a:rPr sz="1867" i="1" spc="-47" dirty="0">
                <a:solidFill>
                  <a:srgbClr val="99D3FF"/>
                </a:solidFill>
                <a:latin typeface="Segoe UI Light"/>
                <a:cs typeface="Segoe UI Light"/>
              </a:rPr>
              <a:t> </a:t>
            </a:r>
            <a:r>
              <a:rPr sz="1867" i="1" dirty="0">
                <a:solidFill>
                  <a:srgbClr val="99D3FF"/>
                </a:solidFill>
                <a:latin typeface="Segoe UI Light"/>
                <a:cs typeface="Segoe UI Light"/>
              </a:rPr>
              <a:t>where,</a:t>
            </a:r>
            <a:r>
              <a:rPr sz="1867" i="1" spc="-47" dirty="0">
                <a:solidFill>
                  <a:srgbClr val="99D3FF"/>
                </a:solidFill>
                <a:latin typeface="Segoe UI Light"/>
                <a:cs typeface="Segoe UI Light"/>
              </a:rPr>
              <a:t> </a:t>
            </a:r>
            <a:r>
              <a:rPr sz="1867" i="1" dirty="0">
                <a:solidFill>
                  <a:srgbClr val="99D3FF"/>
                </a:solidFill>
                <a:latin typeface="Segoe UI Light"/>
                <a:cs typeface="Segoe UI Light"/>
              </a:rPr>
              <a:t>how</a:t>
            </a:r>
            <a:r>
              <a:rPr sz="1867" i="1" spc="-33" dirty="0">
                <a:solidFill>
                  <a:srgbClr val="99D3FF"/>
                </a:solidFill>
                <a:latin typeface="Segoe UI Light"/>
                <a:cs typeface="Segoe UI Light"/>
              </a:rPr>
              <a:t> </a:t>
            </a:r>
            <a:r>
              <a:rPr sz="1867" i="1" dirty="0">
                <a:solidFill>
                  <a:srgbClr val="99D3FF"/>
                </a:solidFill>
                <a:latin typeface="Segoe UI Light"/>
                <a:cs typeface="Segoe UI Light"/>
              </a:rPr>
              <a:t>and</a:t>
            </a:r>
            <a:r>
              <a:rPr sz="1867" i="1" spc="-33" dirty="0">
                <a:solidFill>
                  <a:srgbClr val="99D3FF"/>
                </a:solidFill>
                <a:latin typeface="Segoe UI Light"/>
                <a:cs typeface="Segoe UI Light"/>
              </a:rPr>
              <a:t> why</a:t>
            </a:r>
            <a:endParaRPr sz="1867">
              <a:latin typeface="Segoe UI Light"/>
              <a:cs typeface="Segoe UI Light"/>
            </a:endParaRPr>
          </a:p>
        </p:txBody>
      </p:sp>
      <p:sp>
        <p:nvSpPr>
          <p:cNvPr id="6" name="object 6"/>
          <p:cNvSpPr txBox="1"/>
          <p:nvPr/>
        </p:nvSpPr>
        <p:spPr>
          <a:xfrm>
            <a:off x="3356526" y="5247979"/>
            <a:ext cx="5482167" cy="344475"/>
          </a:xfrm>
          <a:prstGeom prst="rect">
            <a:avLst/>
          </a:prstGeom>
        </p:spPr>
        <p:txBody>
          <a:bodyPr vert="horz" wrap="square" lIns="0" tIns="16087" rIns="0" bIns="0" rtlCol="0">
            <a:spAutoFit/>
          </a:bodyPr>
          <a:lstStyle/>
          <a:p>
            <a:pPr marL="16933">
              <a:spcBef>
                <a:spcPts val="127"/>
              </a:spcBef>
            </a:pPr>
            <a:r>
              <a:rPr sz="2133" b="1" i="1" dirty="0">
                <a:solidFill>
                  <a:srgbClr val="99D3FF"/>
                </a:solidFill>
                <a:latin typeface="Calibri"/>
                <a:cs typeface="Calibri"/>
              </a:rPr>
              <a:t>Example:</a:t>
            </a:r>
            <a:r>
              <a:rPr sz="2133" b="1" i="1" spc="-60" dirty="0">
                <a:solidFill>
                  <a:srgbClr val="99D3FF"/>
                </a:solidFill>
                <a:latin typeface="Calibri"/>
                <a:cs typeface="Calibri"/>
              </a:rPr>
              <a:t> </a:t>
            </a:r>
            <a:r>
              <a:rPr sz="2133" b="1" i="1" dirty="0">
                <a:solidFill>
                  <a:srgbClr val="99D3FF"/>
                </a:solidFill>
                <a:latin typeface="Calibri"/>
                <a:cs typeface="Calibri"/>
              </a:rPr>
              <a:t>Time,</a:t>
            </a:r>
            <a:r>
              <a:rPr sz="2133" b="1" i="1" spc="-93" dirty="0">
                <a:solidFill>
                  <a:srgbClr val="99D3FF"/>
                </a:solidFill>
                <a:latin typeface="Calibri"/>
                <a:cs typeface="Calibri"/>
              </a:rPr>
              <a:t> </a:t>
            </a:r>
            <a:r>
              <a:rPr sz="2133" b="1" i="1" dirty="0">
                <a:solidFill>
                  <a:srgbClr val="99D3FF"/>
                </a:solidFill>
                <a:latin typeface="Calibri"/>
                <a:cs typeface="Calibri"/>
              </a:rPr>
              <a:t>locations,</a:t>
            </a:r>
            <a:r>
              <a:rPr sz="2133" b="1" i="1" spc="-53" dirty="0">
                <a:solidFill>
                  <a:srgbClr val="99D3FF"/>
                </a:solidFill>
                <a:latin typeface="Calibri"/>
                <a:cs typeface="Calibri"/>
              </a:rPr>
              <a:t> </a:t>
            </a:r>
            <a:r>
              <a:rPr sz="2133" b="1" i="1" dirty="0">
                <a:solidFill>
                  <a:srgbClr val="99D3FF"/>
                </a:solidFill>
                <a:latin typeface="Calibri"/>
                <a:cs typeface="Calibri"/>
              </a:rPr>
              <a:t>products,</a:t>
            </a:r>
            <a:r>
              <a:rPr sz="2133" b="1" i="1" spc="-40" dirty="0">
                <a:solidFill>
                  <a:srgbClr val="99D3FF"/>
                </a:solidFill>
                <a:latin typeface="Calibri"/>
                <a:cs typeface="Calibri"/>
              </a:rPr>
              <a:t> </a:t>
            </a:r>
            <a:r>
              <a:rPr sz="2133" b="1" i="1" spc="-13" dirty="0">
                <a:solidFill>
                  <a:srgbClr val="99D3FF"/>
                </a:solidFill>
                <a:latin typeface="Calibri"/>
                <a:cs typeface="Calibri"/>
              </a:rPr>
              <a:t>customers,…</a:t>
            </a:r>
            <a:endParaRPr sz="2133">
              <a:latin typeface="Calibri"/>
              <a:cs typeface="Calibri"/>
            </a:endParaRPr>
          </a:p>
        </p:txBody>
      </p:sp>
      <p:grpSp>
        <p:nvGrpSpPr>
          <p:cNvPr id="7" name="object 7"/>
          <p:cNvGrpSpPr/>
          <p:nvPr/>
        </p:nvGrpSpPr>
        <p:grpSpPr>
          <a:xfrm>
            <a:off x="8251952" y="4190244"/>
            <a:ext cx="4092448" cy="1616489"/>
            <a:chOff x="6074664" y="3182111"/>
            <a:chExt cx="3069336" cy="1212367"/>
          </a:xfrm>
        </p:grpSpPr>
        <p:pic>
          <p:nvPicPr>
            <p:cNvPr id="8" name="object 8"/>
            <p:cNvPicPr/>
            <p:nvPr/>
          </p:nvPicPr>
          <p:blipFill>
            <a:blip r:embed="rId2" cstate="print"/>
            <a:stretch>
              <a:fillRect/>
            </a:stretch>
          </p:blipFill>
          <p:spPr>
            <a:xfrm>
              <a:off x="6074664" y="3182111"/>
              <a:ext cx="3069336" cy="1212367"/>
            </a:xfrm>
            <a:prstGeom prst="rect">
              <a:avLst/>
            </a:prstGeom>
          </p:spPr>
        </p:pic>
        <p:sp>
          <p:nvSpPr>
            <p:cNvPr id="10" name="object 10"/>
            <p:cNvSpPr/>
            <p:nvPr/>
          </p:nvSpPr>
          <p:spPr>
            <a:xfrm>
              <a:off x="6401562" y="3336797"/>
              <a:ext cx="2514600" cy="581025"/>
            </a:xfrm>
            <a:custGeom>
              <a:avLst/>
              <a:gdLst/>
              <a:ahLst/>
              <a:cxnLst/>
              <a:rect l="l" t="t" r="r" b="b"/>
              <a:pathLst>
                <a:path w="2514600" h="581025">
                  <a:moveTo>
                    <a:pt x="0" y="290321"/>
                  </a:moveTo>
                  <a:lnTo>
                    <a:pt x="145161" y="0"/>
                  </a:lnTo>
                  <a:lnTo>
                    <a:pt x="2369439" y="0"/>
                  </a:lnTo>
                  <a:lnTo>
                    <a:pt x="2514599" y="290321"/>
                  </a:lnTo>
                  <a:lnTo>
                    <a:pt x="2369439" y="580643"/>
                  </a:lnTo>
                  <a:lnTo>
                    <a:pt x="145161" y="580643"/>
                  </a:lnTo>
                  <a:lnTo>
                    <a:pt x="0" y="290321"/>
                  </a:lnTo>
                  <a:close/>
                </a:path>
              </a:pathLst>
            </a:custGeom>
            <a:ln w="19812">
              <a:solidFill>
                <a:srgbClr val="00C3FF"/>
              </a:solidFill>
            </a:ln>
          </p:spPr>
          <p:txBody>
            <a:bodyPr wrap="square" lIns="0" tIns="0" rIns="0" bIns="0" rtlCol="0"/>
            <a:lstStyle/>
            <a:p>
              <a:endParaRPr sz="2400"/>
            </a:p>
          </p:txBody>
        </p:sp>
      </p:grpSp>
      <p:sp>
        <p:nvSpPr>
          <p:cNvPr id="11" name="object 11"/>
          <p:cNvSpPr txBox="1"/>
          <p:nvPr/>
        </p:nvSpPr>
        <p:spPr>
          <a:xfrm>
            <a:off x="8797036" y="4595368"/>
            <a:ext cx="2832947" cy="427532"/>
          </a:xfrm>
          <a:prstGeom prst="rect">
            <a:avLst/>
          </a:prstGeom>
        </p:spPr>
        <p:txBody>
          <a:bodyPr vert="horz" wrap="square" lIns="0" tIns="16933" rIns="0" bIns="0" rtlCol="0">
            <a:spAutoFit/>
          </a:bodyPr>
          <a:lstStyle/>
          <a:p>
            <a:pPr marL="16933">
              <a:spcBef>
                <a:spcPts val="133"/>
              </a:spcBef>
            </a:pPr>
            <a:r>
              <a:rPr sz="2667" b="1" dirty="0">
                <a:solidFill>
                  <a:srgbClr val="CCEAFF"/>
                </a:solidFill>
                <a:latin typeface="Calibri"/>
                <a:cs typeface="Calibri"/>
              </a:rPr>
              <a:t>Filtering</a:t>
            </a:r>
            <a:r>
              <a:rPr sz="2667" b="1" spc="-87" dirty="0">
                <a:solidFill>
                  <a:srgbClr val="CCEAFF"/>
                </a:solidFill>
                <a:latin typeface="Calibri"/>
                <a:cs typeface="Calibri"/>
              </a:rPr>
              <a:t> </a:t>
            </a:r>
            <a:r>
              <a:rPr sz="2667" b="1" dirty="0">
                <a:solidFill>
                  <a:srgbClr val="CCEAFF"/>
                </a:solidFill>
                <a:latin typeface="Calibri"/>
                <a:cs typeface="Calibri"/>
              </a:rPr>
              <a:t>&amp;</a:t>
            </a:r>
            <a:r>
              <a:rPr sz="2667" b="1" spc="-33" dirty="0">
                <a:solidFill>
                  <a:srgbClr val="CCEAFF"/>
                </a:solidFill>
                <a:latin typeface="Calibri"/>
                <a:cs typeface="Calibri"/>
              </a:rPr>
              <a:t> </a:t>
            </a:r>
            <a:r>
              <a:rPr sz="2667" b="1" spc="-13" dirty="0">
                <a:solidFill>
                  <a:srgbClr val="CCEAFF"/>
                </a:solidFill>
                <a:latin typeface="Calibri"/>
                <a:cs typeface="Calibri"/>
              </a:rPr>
              <a:t>grouping</a:t>
            </a:r>
            <a:endParaRPr sz="2667">
              <a:latin typeface="Calibri"/>
              <a:cs typeface="Calibri"/>
            </a:endParaRPr>
          </a:p>
        </p:txBody>
      </p:sp>
      <p:grpSp>
        <p:nvGrpSpPr>
          <p:cNvPr id="12" name="object 12"/>
          <p:cNvGrpSpPr/>
          <p:nvPr/>
        </p:nvGrpSpPr>
        <p:grpSpPr>
          <a:xfrm>
            <a:off x="8404352" y="4913377"/>
            <a:ext cx="3787987" cy="1490980"/>
            <a:chOff x="6303264" y="3685032"/>
            <a:chExt cx="2840990" cy="1118235"/>
          </a:xfrm>
        </p:grpSpPr>
        <p:pic>
          <p:nvPicPr>
            <p:cNvPr id="13" name="object 13"/>
            <p:cNvPicPr/>
            <p:nvPr/>
          </p:nvPicPr>
          <p:blipFill>
            <a:blip r:embed="rId3" cstate="print"/>
            <a:stretch>
              <a:fillRect/>
            </a:stretch>
          </p:blipFill>
          <p:spPr>
            <a:xfrm>
              <a:off x="6303264" y="3685032"/>
              <a:ext cx="2840736" cy="1118095"/>
            </a:xfrm>
            <a:prstGeom prst="rect">
              <a:avLst/>
            </a:prstGeom>
          </p:spPr>
        </p:pic>
        <p:sp>
          <p:nvSpPr>
            <p:cNvPr id="14" name="object 14"/>
            <p:cNvSpPr/>
            <p:nvPr/>
          </p:nvSpPr>
          <p:spPr>
            <a:xfrm>
              <a:off x="6630162" y="3839718"/>
              <a:ext cx="2430780" cy="486409"/>
            </a:xfrm>
            <a:custGeom>
              <a:avLst/>
              <a:gdLst/>
              <a:ahLst/>
              <a:cxnLst/>
              <a:rect l="l" t="t" r="r" b="b"/>
              <a:pathLst>
                <a:path w="2430779" h="486410">
                  <a:moveTo>
                    <a:pt x="2309241" y="0"/>
                  </a:moveTo>
                  <a:lnTo>
                    <a:pt x="121539" y="0"/>
                  </a:lnTo>
                  <a:lnTo>
                    <a:pt x="0" y="243077"/>
                  </a:lnTo>
                  <a:lnTo>
                    <a:pt x="121539" y="486155"/>
                  </a:lnTo>
                  <a:lnTo>
                    <a:pt x="2309241" y="486155"/>
                  </a:lnTo>
                  <a:lnTo>
                    <a:pt x="2430780" y="243077"/>
                  </a:lnTo>
                  <a:lnTo>
                    <a:pt x="2309241" y="0"/>
                  </a:lnTo>
                  <a:close/>
                </a:path>
              </a:pathLst>
            </a:custGeom>
            <a:solidFill>
              <a:srgbClr val="B3B3B3"/>
            </a:solidFill>
          </p:spPr>
          <p:txBody>
            <a:bodyPr wrap="square" lIns="0" tIns="0" rIns="0" bIns="0" rtlCol="0"/>
            <a:lstStyle/>
            <a:p>
              <a:endParaRPr sz="2400"/>
            </a:p>
          </p:txBody>
        </p:sp>
        <p:sp>
          <p:nvSpPr>
            <p:cNvPr id="15" name="object 15"/>
            <p:cNvSpPr/>
            <p:nvPr/>
          </p:nvSpPr>
          <p:spPr>
            <a:xfrm>
              <a:off x="6630162" y="3839718"/>
              <a:ext cx="2430780" cy="486409"/>
            </a:xfrm>
            <a:custGeom>
              <a:avLst/>
              <a:gdLst/>
              <a:ahLst/>
              <a:cxnLst/>
              <a:rect l="l" t="t" r="r" b="b"/>
              <a:pathLst>
                <a:path w="2430779" h="486410">
                  <a:moveTo>
                    <a:pt x="0" y="243077"/>
                  </a:moveTo>
                  <a:lnTo>
                    <a:pt x="121539" y="0"/>
                  </a:lnTo>
                  <a:lnTo>
                    <a:pt x="2309241" y="0"/>
                  </a:lnTo>
                  <a:lnTo>
                    <a:pt x="2430780" y="243077"/>
                  </a:lnTo>
                  <a:lnTo>
                    <a:pt x="2309241" y="486155"/>
                  </a:lnTo>
                  <a:lnTo>
                    <a:pt x="121539" y="486155"/>
                  </a:lnTo>
                  <a:lnTo>
                    <a:pt x="0" y="243077"/>
                  </a:lnTo>
                  <a:close/>
                </a:path>
              </a:pathLst>
            </a:custGeom>
            <a:ln w="19812">
              <a:solidFill>
                <a:srgbClr val="00C3FF"/>
              </a:solidFill>
            </a:ln>
          </p:spPr>
          <p:txBody>
            <a:bodyPr wrap="square" lIns="0" tIns="0" rIns="0" bIns="0" rtlCol="0"/>
            <a:lstStyle/>
            <a:p>
              <a:endParaRPr sz="2400"/>
            </a:p>
          </p:txBody>
        </p:sp>
      </p:grpSp>
      <p:sp>
        <p:nvSpPr>
          <p:cNvPr id="16" name="object 16"/>
          <p:cNvSpPr txBox="1"/>
          <p:nvPr/>
        </p:nvSpPr>
        <p:spPr>
          <a:xfrm>
            <a:off x="9190396" y="5257325"/>
            <a:ext cx="2570480" cy="386430"/>
          </a:xfrm>
          <a:prstGeom prst="rect">
            <a:avLst/>
          </a:prstGeom>
        </p:spPr>
        <p:txBody>
          <a:bodyPr vert="horz" wrap="square" lIns="0" tIns="16933" rIns="0" bIns="0" rtlCol="0">
            <a:spAutoFit/>
          </a:bodyPr>
          <a:lstStyle/>
          <a:p>
            <a:pPr marL="16933">
              <a:spcBef>
                <a:spcPts val="133"/>
              </a:spcBef>
            </a:pPr>
            <a:r>
              <a:rPr sz="2400" b="1" dirty="0">
                <a:solidFill>
                  <a:srgbClr val="00607E"/>
                </a:solidFill>
                <a:latin typeface="Trebuchet MS"/>
                <a:cs typeface="Trebuchet MS"/>
              </a:rPr>
              <a:t>"Soul"</a:t>
            </a:r>
            <a:r>
              <a:rPr sz="2400" b="1" spc="-40" dirty="0">
                <a:solidFill>
                  <a:srgbClr val="00607E"/>
                </a:solidFill>
                <a:latin typeface="Trebuchet MS"/>
                <a:cs typeface="Trebuchet MS"/>
              </a:rPr>
              <a:t> </a:t>
            </a:r>
            <a:r>
              <a:rPr sz="2400" b="1" dirty="0">
                <a:solidFill>
                  <a:srgbClr val="00607E"/>
                </a:solidFill>
                <a:latin typeface="Trebuchet MS"/>
                <a:cs typeface="Trebuchet MS"/>
              </a:rPr>
              <a:t>for</a:t>
            </a:r>
            <a:r>
              <a:rPr sz="2400" b="1" spc="-20" dirty="0">
                <a:solidFill>
                  <a:srgbClr val="00607E"/>
                </a:solidFill>
                <a:latin typeface="Trebuchet MS"/>
                <a:cs typeface="Trebuchet MS"/>
              </a:rPr>
              <a:t> </a:t>
            </a:r>
            <a:r>
              <a:rPr sz="2400" b="1" spc="-13" dirty="0">
                <a:solidFill>
                  <a:srgbClr val="00607E"/>
                </a:solidFill>
                <a:latin typeface="Trebuchet MS"/>
                <a:cs typeface="Trebuchet MS"/>
              </a:rPr>
              <a:t>analysis</a:t>
            </a:r>
            <a:endParaRPr sz="2400">
              <a:latin typeface="Trebuchet MS"/>
              <a:cs typeface="Trebuchet MS"/>
            </a:endParaRPr>
          </a:p>
        </p:txBody>
      </p:sp>
      <p:sp>
        <p:nvSpPr>
          <p:cNvPr id="17" name="object 17"/>
          <p:cNvSpPr txBox="1"/>
          <p:nvPr/>
        </p:nvSpPr>
        <p:spPr>
          <a:xfrm>
            <a:off x="3065609" y="5732407"/>
            <a:ext cx="4285827" cy="791669"/>
          </a:xfrm>
          <a:prstGeom prst="rect">
            <a:avLst/>
          </a:prstGeom>
        </p:spPr>
        <p:txBody>
          <a:bodyPr vert="horz" wrap="square" lIns="0" tIns="110913" rIns="0" bIns="0" rtlCol="0">
            <a:spAutoFit/>
          </a:bodyPr>
          <a:lstStyle/>
          <a:p>
            <a:pPr marL="16933">
              <a:spcBef>
                <a:spcPts val="873"/>
              </a:spcBef>
            </a:pPr>
            <a:r>
              <a:rPr sz="2400" b="1" dirty="0">
                <a:solidFill>
                  <a:srgbClr val="D9D9D9"/>
                </a:solidFill>
                <a:latin typeface="Calibri"/>
                <a:cs typeface="Calibri"/>
              </a:rPr>
              <a:t>4)</a:t>
            </a:r>
            <a:r>
              <a:rPr sz="2400" b="1" spc="-13" dirty="0">
                <a:solidFill>
                  <a:srgbClr val="D9D9D9"/>
                </a:solidFill>
                <a:latin typeface="Calibri"/>
                <a:cs typeface="Calibri"/>
              </a:rPr>
              <a:t> </a:t>
            </a:r>
            <a:r>
              <a:rPr sz="2400" b="1" dirty="0">
                <a:solidFill>
                  <a:srgbClr val="D9D9D9"/>
                </a:solidFill>
                <a:latin typeface="Calibri"/>
                <a:cs typeface="Calibri"/>
              </a:rPr>
              <a:t>Identify</a:t>
            </a:r>
            <a:r>
              <a:rPr sz="2400" b="1" spc="-53" dirty="0">
                <a:solidFill>
                  <a:srgbClr val="D9D9D9"/>
                </a:solidFill>
                <a:latin typeface="Calibri"/>
                <a:cs typeface="Calibri"/>
              </a:rPr>
              <a:t> </a:t>
            </a:r>
            <a:r>
              <a:rPr sz="2400" b="1" dirty="0">
                <a:solidFill>
                  <a:srgbClr val="D9D9D9"/>
                </a:solidFill>
                <a:latin typeface="Calibri"/>
                <a:cs typeface="Calibri"/>
              </a:rPr>
              <a:t>facts</a:t>
            </a:r>
            <a:r>
              <a:rPr sz="2400" b="1" spc="-13" dirty="0">
                <a:solidFill>
                  <a:srgbClr val="D9D9D9"/>
                </a:solidFill>
                <a:latin typeface="Calibri"/>
                <a:cs typeface="Calibri"/>
              </a:rPr>
              <a:t> </a:t>
            </a:r>
            <a:r>
              <a:rPr sz="2400" b="1" dirty="0">
                <a:solidFill>
                  <a:srgbClr val="D9D9D9"/>
                </a:solidFill>
                <a:latin typeface="Calibri"/>
                <a:cs typeface="Calibri"/>
              </a:rPr>
              <a:t>for</a:t>
            </a:r>
            <a:r>
              <a:rPr sz="2400" b="1" spc="-7" dirty="0">
                <a:solidFill>
                  <a:srgbClr val="D9D9D9"/>
                </a:solidFill>
                <a:latin typeface="Calibri"/>
                <a:cs typeface="Calibri"/>
              </a:rPr>
              <a:t> </a:t>
            </a:r>
            <a:r>
              <a:rPr sz="2400" b="1" spc="-13" dirty="0">
                <a:solidFill>
                  <a:srgbClr val="D9D9D9"/>
                </a:solidFill>
                <a:latin typeface="Calibri"/>
                <a:cs typeface="Calibri"/>
              </a:rPr>
              <a:t>measurement</a:t>
            </a:r>
            <a:endParaRPr sz="2400">
              <a:latin typeface="Calibri"/>
              <a:cs typeface="Calibri"/>
            </a:endParaRPr>
          </a:p>
          <a:p>
            <a:pPr marL="354744">
              <a:spcBef>
                <a:spcPts val="493"/>
              </a:spcBef>
            </a:pPr>
            <a:r>
              <a:rPr sz="1600" i="1" dirty="0">
                <a:solidFill>
                  <a:srgbClr val="99D3FF"/>
                </a:solidFill>
                <a:latin typeface="Segoe UI Light"/>
                <a:cs typeface="Segoe UI Light"/>
              </a:rPr>
              <a:t>Defined</a:t>
            </a:r>
            <a:r>
              <a:rPr sz="1600" i="1" spc="-47" dirty="0">
                <a:solidFill>
                  <a:srgbClr val="99D3FF"/>
                </a:solidFill>
                <a:latin typeface="Segoe UI Light"/>
                <a:cs typeface="Segoe UI Light"/>
              </a:rPr>
              <a:t> </a:t>
            </a:r>
            <a:r>
              <a:rPr sz="1600" i="1" dirty="0">
                <a:solidFill>
                  <a:srgbClr val="99D3FF"/>
                </a:solidFill>
                <a:latin typeface="Segoe UI Light"/>
                <a:cs typeface="Segoe UI Light"/>
              </a:rPr>
              <a:t>by</a:t>
            </a:r>
            <a:r>
              <a:rPr sz="1600" i="1" spc="-20" dirty="0">
                <a:solidFill>
                  <a:srgbClr val="99D3FF"/>
                </a:solidFill>
                <a:latin typeface="Segoe UI Light"/>
                <a:cs typeface="Segoe UI Light"/>
              </a:rPr>
              <a:t> </a:t>
            </a:r>
            <a:r>
              <a:rPr sz="1600" i="1" dirty="0">
                <a:solidFill>
                  <a:srgbClr val="99D3FF"/>
                </a:solidFill>
                <a:latin typeface="Segoe UI Light"/>
                <a:cs typeface="Segoe UI Light"/>
              </a:rPr>
              <a:t>the</a:t>
            </a:r>
            <a:r>
              <a:rPr sz="1600" i="1" spc="-40" dirty="0">
                <a:solidFill>
                  <a:srgbClr val="99D3FF"/>
                </a:solidFill>
                <a:latin typeface="Segoe UI Light"/>
                <a:cs typeface="Segoe UI Light"/>
              </a:rPr>
              <a:t> </a:t>
            </a:r>
            <a:r>
              <a:rPr sz="1600" i="1" dirty="0">
                <a:solidFill>
                  <a:srgbClr val="99D3FF"/>
                </a:solidFill>
                <a:latin typeface="Segoe UI Light"/>
                <a:cs typeface="Segoe UI Light"/>
              </a:rPr>
              <a:t>grain</a:t>
            </a:r>
            <a:r>
              <a:rPr sz="1600" i="1" spc="-40" dirty="0">
                <a:solidFill>
                  <a:srgbClr val="99D3FF"/>
                </a:solidFill>
                <a:latin typeface="Segoe UI Light"/>
                <a:cs typeface="Segoe UI Light"/>
              </a:rPr>
              <a:t> </a:t>
            </a:r>
            <a:r>
              <a:rPr sz="1600" i="1" dirty="0">
                <a:solidFill>
                  <a:srgbClr val="99D3FF"/>
                </a:solidFill>
                <a:latin typeface="Segoe UI Light"/>
                <a:cs typeface="Segoe UI Light"/>
              </a:rPr>
              <a:t>&amp; not</a:t>
            </a:r>
            <a:r>
              <a:rPr sz="1600" i="1" spc="-40" dirty="0">
                <a:solidFill>
                  <a:srgbClr val="99D3FF"/>
                </a:solidFill>
                <a:latin typeface="Segoe UI Light"/>
                <a:cs typeface="Segoe UI Light"/>
              </a:rPr>
              <a:t> </a:t>
            </a:r>
            <a:r>
              <a:rPr sz="1600" i="1" dirty="0">
                <a:solidFill>
                  <a:srgbClr val="99D3FF"/>
                </a:solidFill>
                <a:latin typeface="Segoe UI Light"/>
                <a:cs typeface="Segoe UI Light"/>
              </a:rPr>
              <a:t>by</a:t>
            </a:r>
            <a:r>
              <a:rPr sz="1600" i="1" spc="-20" dirty="0">
                <a:solidFill>
                  <a:srgbClr val="99D3FF"/>
                </a:solidFill>
                <a:latin typeface="Segoe UI Light"/>
                <a:cs typeface="Segoe UI Light"/>
              </a:rPr>
              <a:t> </a:t>
            </a:r>
            <a:r>
              <a:rPr sz="1600" i="1" dirty="0">
                <a:solidFill>
                  <a:srgbClr val="99D3FF"/>
                </a:solidFill>
                <a:latin typeface="Segoe UI Light"/>
                <a:cs typeface="Segoe UI Light"/>
              </a:rPr>
              <a:t>specific</a:t>
            </a:r>
            <a:r>
              <a:rPr sz="1600" i="1" spc="-60" dirty="0">
                <a:solidFill>
                  <a:srgbClr val="99D3FF"/>
                </a:solidFill>
                <a:latin typeface="Segoe UI Light"/>
                <a:cs typeface="Segoe UI Light"/>
              </a:rPr>
              <a:t> </a:t>
            </a:r>
            <a:r>
              <a:rPr sz="1600" i="1" dirty="0">
                <a:solidFill>
                  <a:srgbClr val="99D3FF"/>
                </a:solidFill>
                <a:latin typeface="Segoe UI Light"/>
                <a:cs typeface="Segoe UI Light"/>
              </a:rPr>
              <a:t>use-</a:t>
            </a:r>
            <a:r>
              <a:rPr sz="1600" i="1" spc="-27" dirty="0">
                <a:solidFill>
                  <a:srgbClr val="99D3FF"/>
                </a:solidFill>
                <a:latin typeface="Segoe UI Light"/>
                <a:cs typeface="Segoe UI Light"/>
              </a:rPr>
              <a:t>case</a:t>
            </a:r>
            <a:endParaRPr sz="1600">
              <a:latin typeface="Segoe UI Light"/>
              <a:cs typeface="Segoe UI Light"/>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extLst>
              <p:ext uri="{D42A27DB-BD31-4B8C-83A1-F6EECF244321}">
                <p14:modId xmlns:p14="http://schemas.microsoft.com/office/powerpoint/2010/main" val="2323867213"/>
              </p:ext>
            </p:extLst>
          </p:nvPr>
        </p:nvGraphicFramePr>
        <p:xfrm>
          <a:off x="7507394" y="1705306"/>
          <a:ext cx="3853032" cy="1644181"/>
        </p:xfrm>
        <a:graphic>
          <a:graphicData uri="http://schemas.openxmlformats.org/drawingml/2006/table">
            <a:tbl>
              <a:tblPr firstRow="1" bandRow="1">
                <a:tableStyleId>{2D5ABB26-0587-4C30-8999-92F81FD0307C}</a:tableStyleId>
              </a:tblPr>
              <a:tblGrid>
                <a:gridCol w="1083665">
                  <a:extLst>
                    <a:ext uri="{9D8B030D-6E8A-4147-A177-3AD203B41FA5}">
                      <a16:colId xmlns:a16="http://schemas.microsoft.com/office/drawing/2014/main" val="20000"/>
                    </a:ext>
                  </a:extLst>
                </a:gridCol>
                <a:gridCol w="1324480">
                  <a:extLst>
                    <a:ext uri="{9D8B030D-6E8A-4147-A177-3AD203B41FA5}">
                      <a16:colId xmlns:a16="http://schemas.microsoft.com/office/drawing/2014/main" val="20001"/>
                    </a:ext>
                  </a:extLst>
                </a:gridCol>
                <a:gridCol w="1444887">
                  <a:extLst>
                    <a:ext uri="{9D8B030D-6E8A-4147-A177-3AD203B41FA5}">
                      <a16:colId xmlns:a16="http://schemas.microsoft.com/office/drawing/2014/main" val="20002"/>
                    </a:ext>
                  </a:extLst>
                </a:gridCol>
              </a:tblGrid>
              <a:tr h="248582">
                <a:tc>
                  <a:txBody>
                    <a:bodyPr/>
                    <a:lstStyle/>
                    <a:p>
                      <a:pPr marL="635" algn="ctr">
                        <a:lnSpc>
                          <a:spcPct val="100000"/>
                        </a:lnSpc>
                        <a:spcBef>
                          <a:spcPts val="55"/>
                        </a:spcBef>
                      </a:pPr>
                      <a:r>
                        <a:rPr sz="1400" b="1" spc="-10" dirty="0">
                          <a:latin typeface="Arial"/>
                          <a:cs typeface="Arial"/>
                        </a:rPr>
                        <a:t>sales_id</a:t>
                      </a:r>
                      <a:endParaRPr sz="1400">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635" algn="ctr">
                        <a:lnSpc>
                          <a:spcPct val="100000"/>
                        </a:lnSpc>
                        <a:spcBef>
                          <a:spcPts val="55"/>
                        </a:spcBef>
                      </a:pPr>
                      <a:r>
                        <a:rPr sz="1400" b="1" spc="-20" dirty="0">
                          <a:latin typeface="Arial"/>
                          <a:cs typeface="Arial"/>
                        </a:rPr>
                        <a:t>date</a:t>
                      </a:r>
                      <a:endParaRPr sz="1400">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algn="ctr">
                        <a:lnSpc>
                          <a:spcPct val="100000"/>
                        </a:lnSpc>
                        <a:spcBef>
                          <a:spcPts val="55"/>
                        </a:spcBef>
                      </a:pPr>
                      <a:r>
                        <a:rPr sz="1400" b="1" dirty="0">
                          <a:latin typeface="Arial"/>
                          <a:cs typeface="Arial"/>
                        </a:rPr>
                        <a:t>Sales</a:t>
                      </a:r>
                      <a:r>
                        <a:rPr sz="1400" b="1" spc="-40" dirty="0">
                          <a:latin typeface="Arial"/>
                          <a:cs typeface="Arial"/>
                        </a:rPr>
                        <a:t> </a:t>
                      </a:r>
                      <a:r>
                        <a:rPr sz="1400" b="1" spc="-10" dirty="0">
                          <a:latin typeface="Arial"/>
                          <a:cs typeface="Arial"/>
                        </a:rPr>
                        <a:t>amount</a:t>
                      </a:r>
                      <a:endParaRPr sz="1400">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extLst>
                  <a:ext uri="{0D108BD9-81ED-4DB2-BD59-A6C34878D82A}">
                    <a16:rowId xmlns:a16="http://schemas.microsoft.com/office/drawing/2014/main" val="10000"/>
                  </a:ext>
                </a:extLst>
              </a:tr>
              <a:tr h="279306">
                <a:tc>
                  <a:txBody>
                    <a:bodyPr/>
                    <a:lstStyle/>
                    <a:p>
                      <a:pPr marL="635" algn="ctr">
                        <a:lnSpc>
                          <a:spcPct val="100000"/>
                        </a:lnSpc>
                        <a:spcBef>
                          <a:spcPts val="220"/>
                        </a:spcBef>
                      </a:pPr>
                      <a:r>
                        <a:rPr sz="1400" spc="-50" dirty="0">
                          <a:latin typeface="Arial MT"/>
                          <a:cs typeface="Arial MT"/>
                        </a:rPr>
                        <a:t>1</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0"/>
                        </a:spcBef>
                      </a:pPr>
                      <a:r>
                        <a:rPr sz="1400" spc="-10" dirty="0">
                          <a:latin typeface="Arial MT"/>
                          <a:cs typeface="Arial MT"/>
                        </a:rPr>
                        <a:t>2022-01-</a:t>
                      </a:r>
                      <a:r>
                        <a:rPr sz="1400" spc="-25" dirty="0">
                          <a:latin typeface="Arial MT"/>
                          <a:cs typeface="Arial MT"/>
                        </a:rPr>
                        <a:t>01</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0"/>
                        </a:spcBef>
                      </a:pPr>
                      <a:r>
                        <a:rPr sz="1400" spc="-25" dirty="0">
                          <a:latin typeface="Arial MT"/>
                          <a:cs typeface="Arial MT"/>
                        </a:rPr>
                        <a:t>$41</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79306">
                <a:tc>
                  <a:txBody>
                    <a:bodyPr/>
                    <a:lstStyle/>
                    <a:p>
                      <a:pPr marL="635" algn="ctr">
                        <a:lnSpc>
                          <a:spcPct val="100000"/>
                        </a:lnSpc>
                        <a:spcBef>
                          <a:spcPts val="220"/>
                        </a:spcBef>
                      </a:pPr>
                      <a:r>
                        <a:rPr sz="1400" spc="-50" dirty="0">
                          <a:latin typeface="Arial MT"/>
                          <a:cs typeface="Arial MT"/>
                        </a:rPr>
                        <a:t>2</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0"/>
                        </a:spcBef>
                      </a:pPr>
                      <a:r>
                        <a:rPr sz="1400" spc="-10" dirty="0">
                          <a:latin typeface="Arial MT"/>
                          <a:cs typeface="Arial MT"/>
                        </a:rPr>
                        <a:t>2022-01-</a:t>
                      </a:r>
                      <a:r>
                        <a:rPr sz="1400" spc="-25" dirty="0">
                          <a:latin typeface="Arial MT"/>
                          <a:cs typeface="Arial MT"/>
                        </a:rPr>
                        <a:t>02</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0"/>
                        </a:spcBef>
                      </a:pPr>
                      <a:r>
                        <a:rPr sz="1400" spc="-25" dirty="0">
                          <a:latin typeface="Arial MT"/>
                          <a:cs typeface="Arial MT"/>
                        </a:rPr>
                        <a:t>$15</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78375">
                <a:tc>
                  <a:txBody>
                    <a:bodyPr/>
                    <a:lstStyle/>
                    <a:p>
                      <a:pPr marL="635" algn="ctr">
                        <a:lnSpc>
                          <a:spcPct val="10000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a:t>
                      </a:r>
                      <a:r>
                        <a:rPr sz="1400" spc="-25" dirty="0">
                          <a:latin typeface="Arial MT"/>
                          <a:cs typeface="Arial MT"/>
                        </a:rPr>
                        <a:t>02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25" dirty="0">
                          <a:latin typeface="Arial MT"/>
                          <a:cs typeface="Arial MT"/>
                        </a:rPr>
                        <a:t>$24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79306">
                <a:tc>
                  <a:txBody>
                    <a:bodyPr/>
                    <a:lstStyle/>
                    <a:p>
                      <a:pPr marL="635" algn="ctr">
                        <a:lnSpc>
                          <a:spcPct val="100000"/>
                        </a:lnSpc>
                        <a:spcBef>
                          <a:spcPts val="225"/>
                        </a:spcBef>
                      </a:pPr>
                      <a:r>
                        <a:rPr sz="1400" spc="-50" dirty="0">
                          <a:latin typeface="Arial MT"/>
                          <a:cs typeface="Arial MT"/>
                        </a:rPr>
                        <a:t>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a:t>
                      </a:r>
                      <a:r>
                        <a:rPr sz="1400" spc="-25" dirty="0">
                          <a:latin typeface="Arial MT"/>
                          <a:cs typeface="Arial MT"/>
                        </a:rPr>
                        <a:t>03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25" dirty="0">
                          <a:latin typeface="Arial MT"/>
                          <a:cs typeface="Arial MT"/>
                        </a:rPr>
                        <a:t>$13</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79306">
                <a:tc>
                  <a:txBody>
                    <a:bodyPr/>
                    <a:lstStyle/>
                    <a:p>
                      <a:pPr marL="635" algn="ctr">
                        <a:lnSpc>
                          <a:spcPct val="100000"/>
                        </a:lnSpc>
                        <a:spcBef>
                          <a:spcPts val="225"/>
                        </a:spcBef>
                      </a:pPr>
                      <a:r>
                        <a:rPr sz="1400" spc="-50" dirty="0">
                          <a:latin typeface="Arial MT"/>
                          <a:cs typeface="Arial MT"/>
                        </a:rPr>
                        <a:t>5</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a:t>
                      </a:r>
                      <a:r>
                        <a:rPr sz="1400" spc="-25" dirty="0">
                          <a:latin typeface="Arial MT"/>
                          <a:cs typeface="Arial MT"/>
                        </a:rPr>
                        <a:t>04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25" dirty="0">
                          <a:latin typeface="Arial MT"/>
                          <a:cs typeface="Arial MT"/>
                        </a:rPr>
                        <a:t>$52</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sp>
        <p:nvSpPr>
          <p:cNvPr id="4" name="object 4"/>
          <p:cNvSpPr txBox="1"/>
          <p:nvPr/>
        </p:nvSpPr>
        <p:spPr>
          <a:xfrm>
            <a:off x="2922104" y="1290828"/>
            <a:ext cx="5254833" cy="2784215"/>
          </a:xfrm>
          <a:prstGeom prst="rect">
            <a:avLst/>
          </a:prstGeom>
        </p:spPr>
        <p:txBody>
          <a:bodyPr vert="horz" wrap="square" lIns="0" tIns="16933" rIns="0" bIns="0" rtlCol="0">
            <a:spAutoFit/>
          </a:bodyPr>
          <a:lstStyle/>
          <a:p>
            <a:pPr marL="336118" indent="-319185">
              <a:spcBef>
                <a:spcPts val="133"/>
              </a:spcBef>
              <a:buAutoNum type="arabicParenR"/>
              <a:tabLst>
                <a:tab pos="336118" algn="l"/>
              </a:tabLst>
            </a:pPr>
            <a:r>
              <a:rPr sz="2400" b="1" dirty="0">
                <a:solidFill>
                  <a:srgbClr val="D9D9D9"/>
                </a:solidFill>
                <a:latin typeface="Calibri"/>
                <a:cs typeface="Calibri"/>
              </a:rPr>
              <a:t>Identify</a:t>
            </a:r>
            <a:r>
              <a:rPr sz="2400" b="1" spc="-73" dirty="0">
                <a:solidFill>
                  <a:srgbClr val="D9D9D9"/>
                </a:solidFill>
                <a:latin typeface="Calibri"/>
                <a:cs typeface="Calibri"/>
              </a:rPr>
              <a:t> </a:t>
            </a:r>
            <a:r>
              <a:rPr sz="2400" b="1" dirty="0">
                <a:solidFill>
                  <a:srgbClr val="D9D9D9"/>
                </a:solidFill>
                <a:latin typeface="Calibri"/>
                <a:cs typeface="Calibri"/>
              </a:rPr>
              <a:t>business</a:t>
            </a:r>
            <a:r>
              <a:rPr sz="2400" b="1" spc="-33" dirty="0">
                <a:solidFill>
                  <a:srgbClr val="D9D9D9"/>
                </a:solidFill>
                <a:latin typeface="Calibri"/>
                <a:cs typeface="Calibri"/>
              </a:rPr>
              <a:t> </a:t>
            </a:r>
            <a:r>
              <a:rPr sz="2400" b="1" dirty="0">
                <a:solidFill>
                  <a:srgbClr val="D9D9D9"/>
                </a:solidFill>
                <a:latin typeface="Calibri"/>
                <a:cs typeface="Calibri"/>
              </a:rPr>
              <a:t>process</a:t>
            </a:r>
            <a:r>
              <a:rPr sz="2400" b="1" spc="-40" dirty="0">
                <a:solidFill>
                  <a:srgbClr val="D9D9D9"/>
                </a:solidFill>
                <a:latin typeface="Calibri"/>
                <a:cs typeface="Calibri"/>
              </a:rPr>
              <a:t> </a:t>
            </a:r>
            <a:r>
              <a:rPr sz="2400" b="1" dirty="0">
                <a:solidFill>
                  <a:srgbClr val="D9D9D9"/>
                </a:solidFill>
                <a:latin typeface="Calibri"/>
                <a:cs typeface="Calibri"/>
              </a:rPr>
              <a:t>for</a:t>
            </a:r>
            <a:r>
              <a:rPr sz="2400" b="1" spc="-53" dirty="0">
                <a:solidFill>
                  <a:srgbClr val="D9D9D9"/>
                </a:solidFill>
                <a:latin typeface="Calibri"/>
                <a:cs typeface="Calibri"/>
              </a:rPr>
              <a:t> </a:t>
            </a:r>
            <a:r>
              <a:rPr sz="2400" b="1" spc="-13" dirty="0">
                <a:solidFill>
                  <a:srgbClr val="D9D9D9"/>
                </a:solidFill>
                <a:latin typeface="Calibri"/>
                <a:cs typeface="Calibri"/>
              </a:rPr>
              <a:t>analysis</a:t>
            </a:r>
            <a:endParaRPr sz="2400">
              <a:latin typeface="Calibri"/>
              <a:cs typeface="Calibri"/>
            </a:endParaRPr>
          </a:p>
          <a:p>
            <a:pPr>
              <a:spcBef>
                <a:spcPts val="2233"/>
              </a:spcBef>
              <a:buClr>
                <a:srgbClr val="D9D9D9"/>
              </a:buClr>
              <a:buFont typeface="Calibri"/>
              <a:buAutoNum type="arabicParenR"/>
            </a:pPr>
            <a:endParaRPr sz="2400">
              <a:latin typeface="Calibri"/>
              <a:cs typeface="Calibri"/>
            </a:endParaRPr>
          </a:p>
          <a:p>
            <a:pPr marL="347125" indent="-319185">
              <a:buAutoNum type="arabicParenR"/>
              <a:tabLst>
                <a:tab pos="347125" algn="l"/>
              </a:tabLst>
            </a:pPr>
            <a:r>
              <a:rPr sz="2400" b="1" dirty="0">
                <a:solidFill>
                  <a:srgbClr val="D9D9D9"/>
                </a:solidFill>
                <a:latin typeface="Calibri"/>
                <a:cs typeface="Calibri"/>
              </a:rPr>
              <a:t>Declare</a:t>
            </a:r>
            <a:r>
              <a:rPr sz="2400" b="1" spc="-67" dirty="0">
                <a:solidFill>
                  <a:srgbClr val="D9D9D9"/>
                </a:solidFill>
                <a:latin typeface="Calibri"/>
                <a:cs typeface="Calibri"/>
              </a:rPr>
              <a:t> </a:t>
            </a:r>
            <a:r>
              <a:rPr sz="2400" b="1" dirty="0">
                <a:solidFill>
                  <a:srgbClr val="D9D9D9"/>
                </a:solidFill>
                <a:latin typeface="Calibri"/>
                <a:cs typeface="Calibri"/>
              </a:rPr>
              <a:t>the</a:t>
            </a:r>
            <a:r>
              <a:rPr sz="2400" b="1" spc="-33" dirty="0">
                <a:solidFill>
                  <a:srgbClr val="D9D9D9"/>
                </a:solidFill>
                <a:latin typeface="Calibri"/>
                <a:cs typeface="Calibri"/>
              </a:rPr>
              <a:t> </a:t>
            </a:r>
            <a:r>
              <a:rPr sz="2400" b="1" spc="-13" dirty="0">
                <a:solidFill>
                  <a:srgbClr val="D9D9D9"/>
                </a:solidFill>
                <a:latin typeface="Calibri"/>
                <a:cs typeface="Calibri"/>
              </a:rPr>
              <a:t>grain</a:t>
            </a:r>
            <a:endParaRPr sz="2400">
              <a:latin typeface="Calibri"/>
              <a:cs typeface="Calibri"/>
            </a:endParaRPr>
          </a:p>
          <a:p>
            <a:pPr marL="332730">
              <a:spcBef>
                <a:spcPts val="740"/>
              </a:spcBef>
            </a:pPr>
            <a:r>
              <a:rPr sz="2133" b="1" i="1" dirty="0">
                <a:solidFill>
                  <a:srgbClr val="99D3FF"/>
                </a:solidFill>
                <a:latin typeface="Calibri"/>
                <a:cs typeface="Calibri"/>
              </a:rPr>
              <a:t>Example:</a:t>
            </a:r>
            <a:r>
              <a:rPr sz="2133" b="1" i="1" spc="-67" dirty="0">
                <a:solidFill>
                  <a:srgbClr val="99D3FF"/>
                </a:solidFill>
                <a:latin typeface="Calibri"/>
                <a:cs typeface="Calibri"/>
              </a:rPr>
              <a:t> </a:t>
            </a:r>
            <a:r>
              <a:rPr sz="2133" b="1" i="1" spc="-13" dirty="0">
                <a:solidFill>
                  <a:srgbClr val="99D3FF"/>
                </a:solidFill>
                <a:latin typeface="Calibri"/>
                <a:cs typeface="Calibri"/>
              </a:rPr>
              <a:t>Transaction</a:t>
            </a:r>
            <a:endParaRPr sz="2133">
              <a:latin typeface="Calibri"/>
              <a:cs typeface="Calibri"/>
            </a:endParaRPr>
          </a:p>
          <a:p>
            <a:pPr marL="384377" indent="-319185">
              <a:spcBef>
                <a:spcPts val="1313"/>
              </a:spcBef>
              <a:buAutoNum type="arabicParenR" startAt="3"/>
              <a:tabLst>
                <a:tab pos="384377" algn="l"/>
              </a:tabLst>
            </a:pPr>
            <a:r>
              <a:rPr sz="2400" b="1" dirty="0">
                <a:solidFill>
                  <a:srgbClr val="D9D9D9"/>
                </a:solidFill>
                <a:latin typeface="Calibri"/>
                <a:cs typeface="Calibri"/>
              </a:rPr>
              <a:t>Identify</a:t>
            </a:r>
            <a:r>
              <a:rPr sz="2400" b="1" spc="-73" dirty="0">
                <a:solidFill>
                  <a:srgbClr val="D9D9D9"/>
                </a:solidFill>
                <a:latin typeface="Calibri"/>
                <a:cs typeface="Calibri"/>
              </a:rPr>
              <a:t> </a:t>
            </a:r>
            <a:r>
              <a:rPr sz="2400" b="1" dirty="0">
                <a:solidFill>
                  <a:srgbClr val="D9D9D9"/>
                </a:solidFill>
                <a:latin typeface="Calibri"/>
                <a:cs typeface="Calibri"/>
              </a:rPr>
              <a:t>dimensions</a:t>
            </a:r>
            <a:r>
              <a:rPr sz="2400" b="1" spc="-40" dirty="0">
                <a:solidFill>
                  <a:srgbClr val="D9D9D9"/>
                </a:solidFill>
                <a:latin typeface="Calibri"/>
                <a:cs typeface="Calibri"/>
              </a:rPr>
              <a:t> </a:t>
            </a:r>
            <a:r>
              <a:rPr sz="2400" b="1" dirty="0">
                <a:solidFill>
                  <a:srgbClr val="D9D9D9"/>
                </a:solidFill>
                <a:latin typeface="Calibri"/>
                <a:cs typeface="Calibri"/>
              </a:rPr>
              <a:t>that</a:t>
            </a:r>
            <a:r>
              <a:rPr sz="2400" b="1" spc="-73" dirty="0">
                <a:solidFill>
                  <a:srgbClr val="D9D9D9"/>
                </a:solidFill>
                <a:latin typeface="Calibri"/>
                <a:cs typeface="Calibri"/>
              </a:rPr>
              <a:t> </a:t>
            </a:r>
            <a:r>
              <a:rPr sz="2400" b="1" dirty="0">
                <a:solidFill>
                  <a:srgbClr val="D9D9D9"/>
                </a:solidFill>
                <a:latin typeface="Calibri"/>
                <a:cs typeface="Calibri"/>
              </a:rPr>
              <a:t>are</a:t>
            </a:r>
            <a:r>
              <a:rPr sz="2400" b="1" spc="-20" dirty="0">
                <a:solidFill>
                  <a:srgbClr val="D9D9D9"/>
                </a:solidFill>
                <a:latin typeface="Calibri"/>
                <a:cs typeface="Calibri"/>
              </a:rPr>
              <a:t> </a:t>
            </a:r>
            <a:r>
              <a:rPr sz="2400" b="1" spc="-13" dirty="0">
                <a:solidFill>
                  <a:srgbClr val="D9D9D9"/>
                </a:solidFill>
                <a:latin typeface="Calibri"/>
                <a:cs typeface="Calibri"/>
              </a:rPr>
              <a:t>relevant</a:t>
            </a:r>
            <a:endParaRPr sz="2400">
              <a:latin typeface="Calibri"/>
              <a:cs typeface="Calibri"/>
            </a:endParaRPr>
          </a:p>
          <a:p>
            <a:pPr marL="217588">
              <a:spcBef>
                <a:spcPts val="907"/>
              </a:spcBef>
            </a:pPr>
            <a:r>
              <a:rPr sz="2133" b="1" i="1" dirty="0">
                <a:solidFill>
                  <a:srgbClr val="99D3FF"/>
                </a:solidFill>
                <a:latin typeface="Calibri"/>
                <a:cs typeface="Calibri"/>
              </a:rPr>
              <a:t>Example:</a:t>
            </a:r>
            <a:r>
              <a:rPr sz="2133" b="1" i="1" spc="-53" dirty="0">
                <a:solidFill>
                  <a:srgbClr val="99D3FF"/>
                </a:solidFill>
                <a:latin typeface="Calibri"/>
                <a:cs typeface="Calibri"/>
              </a:rPr>
              <a:t> </a:t>
            </a:r>
            <a:r>
              <a:rPr sz="2133" b="1" i="1" dirty="0">
                <a:solidFill>
                  <a:srgbClr val="99D3FF"/>
                </a:solidFill>
                <a:latin typeface="Calibri"/>
                <a:cs typeface="Calibri"/>
              </a:rPr>
              <a:t>Time,</a:t>
            </a:r>
            <a:r>
              <a:rPr sz="2133" b="1" i="1" spc="-73" dirty="0">
                <a:solidFill>
                  <a:srgbClr val="99D3FF"/>
                </a:solidFill>
                <a:latin typeface="Calibri"/>
                <a:cs typeface="Calibri"/>
              </a:rPr>
              <a:t> </a:t>
            </a:r>
            <a:r>
              <a:rPr sz="2133" b="1" i="1" dirty="0">
                <a:solidFill>
                  <a:srgbClr val="99D3FF"/>
                </a:solidFill>
                <a:latin typeface="Calibri"/>
                <a:cs typeface="Calibri"/>
              </a:rPr>
              <a:t>locations,</a:t>
            </a:r>
            <a:r>
              <a:rPr sz="2133" b="1" i="1" spc="-47" dirty="0">
                <a:solidFill>
                  <a:srgbClr val="99D3FF"/>
                </a:solidFill>
                <a:latin typeface="Calibri"/>
                <a:cs typeface="Calibri"/>
              </a:rPr>
              <a:t> </a:t>
            </a:r>
            <a:r>
              <a:rPr sz="2133" b="1" i="1" spc="-13" dirty="0">
                <a:solidFill>
                  <a:srgbClr val="99D3FF"/>
                </a:solidFill>
                <a:latin typeface="Calibri"/>
                <a:cs typeface="Calibri"/>
              </a:rPr>
              <a:t>products</a:t>
            </a:r>
            <a:endParaRPr sz="2133">
              <a:latin typeface="Calibri"/>
              <a:cs typeface="Calibri"/>
            </a:endParaRPr>
          </a:p>
        </p:txBody>
      </p:sp>
      <p:graphicFrame>
        <p:nvGraphicFramePr>
          <p:cNvPr id="5" name="object 5"/>
          <p:cNvGraphicFramePr>
            <a:graphicFrameLocks noGrp="1"/>
          </p:cNvGraphicFramePr>
          <p:nvPr>
            <p:extLst>
              <p:ext uri="{D42A27DB-BD31-4B8C-83A1-F6EECF244321}">
                <p14:modId xmlns:p14="http://schemas.microsoft.com/office/powerpoint/2010/main" val="2597084743"/>
              </p:ext>
            </p:extLst>
          </p:nvPr>
        </p:nvGraphicFramePr>
        <p:xfrm>
          <a:off x="7507394" y="3662510"/>
          <a:ext cx="4489137" cy="1904662"/>
        </p:xfrm>
        <a:graphic>
          <a:graphicData uri="http://schemas.openxmlformats.org/drawingml/2006/table">
            <a:tbl>
              <a:tblPr firstRow="1" bandRow="1">
                <a:tableStyleId>{2D5ABB26-0587-4C30-8999-92F81FD0307C}</a:tableStyleId>
              </a:tblPr>
              <a:tblGrid>
                <a:gridCol w="941960">
                  <a:extLst>
                    <a:ext uri="{9D8B030D-6E8A-4147-A177-3AD203B41FA5}">
                      <a16:colId xmlns:a16="http://schemas.microsoft.com/office/drawing/2014/main" val="20000"/>
                    </a:ext>
                  </a:extLst>
                </a:gridCol>
                <a:gridCol w="1046622">
                  <a:extLst>
                    <a:ext uri="{9D8B030D-6E8A-4147-A177-3AD203B41FA5}">
                      <a16:colId xmlns:a16="http://schemas.microsoft.com/office/drawing/2014/main" val="20001"/>
                    </a:ext>
                  </a:extLst>
                </a:gridCol>
                <a:gridCol w="941960">
                  <a:extLst>
                    <a:ext uri="{9D8B030D-6E8A-4147-A177-3AD203B41FA5}">
                      <a16:colId xmlns:a16="http://schemas.microsoft.com/office/drawing/2014/main" val="20002"/>
                    </a:ext>
                  </a:extLst>
                </a:gridCol>
                <a:gridCol w="867824">
                  <a:extLst>
                    <a:ext uri="{9D8B030D-6E8A-4147-A177-3AD203B41FA5}">
                      <a16:colId xmlns:a16="http://schemas.microsoft.com/office/drawing/2014/main" val="20003"/>
                    </a:ext>
                  </a:extLst>
                </a:gridCol>
                <a:gridCol w="690771">
                  <a:extLst>
                    <a:ext uri="{9D8B030D-6E8A-4147-A177-3AD203B41FA5}">
                      <a16:colId xmlns:a16="http://schemas.microsoft.com/office/drawing/2014/main" val="20004"/>
                    </a:ext>
                  </a:extLst>
                </a:gridCol>
              </a:tblGrid>
              <a:tr h="495437">
                <a:tc>
                  <a:txBody>
                    <a:bodyPr/>
                    <a:lstStyle/>
                    <a:p>
                      <a:pPr>
                        <a:lnSpc>
                          <a:spcPct val="100000"/>
                        </a:lnSpc>
                        <a:spcBef>
                          <a:spcPts val="114"/>
                        </a:spcBef>
                      </a:pPr>
                      <a:endParaRPr sz="1400" dirty="0">
                        <a:latin typeface="Times New Roman"/>
                        <a:cs typeface="Times New Roman"/>
                      </a:endParaRPr>
                    </a:p>
                    <a:p>
                      <a:pPr marL="635" algn="ctr">
                        <a:lnSpc>
                          <a:spcPct val="100000"/>
                        </a:lnSpc>
                      </a:pPr>
                      <a:r>
                        <a:rPr sz="1400" b="1" spc="-10" dirty="0">
                          <a:latin typeface="Arial"/>
                          <a:cs typeface="Arial"/>
                        </a:rPr>
                        <a:t>sales_id</a:t>
                      </a:r>
                      <a:endParaRPr sz="1400" dirty="0">
                        <a:latin typeface="Arial"/>
                        <a:cs typeface="Arial"/>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a:lnSpc>
                          <a:spcPct val="100000"/>
                        </a:lnSpc>
                        <a:spcBef>
                          <a:spcPts val="114"/>
                        </a:spcBef>
                      </a:pPr>
                      <a:endParaRPr sz="1400" dirty="0">
                        <a:latin typeface="Times New Roman"/>
                        <a:cs typeface="Times New Roman"/>
                      </a:endParaRPr>
                    </a:p>
                    <a:p>
                      <a:pPr marL="1270" algn="ctr">
                        <a:lnSpc>
                          <a:spcPct val="100000"/>
                        </a:lnSpc>
                      </a:pPr>
                      <a:r>
                        <a:rPr sz="1400" b="1" spc="-20" dirty="0">
                          <a:latin typeface="Arial"/>
                          <a:cs typeface="Arial"/>
                        </a:rPr>
                        <a:t>date</a:t>
                      </a:r>
                      <a:endParaRPr sz="1400" dirty="0">
                        <a:latin typeface="Arial"/>
                        <a:cs typeface="Arial"/>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101600" marR="90805" indent="66675">
                        <a:lnSpc>
                          <a:spcPct val="100000"/>
                        </a:lnSpc>
                      </a:pPr>
                      <a:r>
                        <a:rPr sz="1400" b="1" spc="-10" dirty="0">
                          <a:latin typeface="Arial"/>
                          <a:cs typeface="Arial"/>
                        </a:rPr>
                        <a:t>Sales amount</a:t>
                      </a:r>
                      <a:endParaRPr sz="14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a:lnSpc>
                          <a:spcPct val="100000"/>
                        </a:lnSpc>
                        <a:spcBef>
                          <a:spcPts val="114"/>
                        </a:spcBef>
                      </a:pPr>
                      <a:endParaRPr sz="1400">
                        <a:latin typeface="Times New Roman"/>
                        <a:cs typeface="Times New Roman"/>
                      </a:endParaRPr>
                    </a:p>
                    <a:p>
                      <a:pPr marL="1905" algn="ctr">
                        <a:lnSpc>
                          <a:spcPct val="100000"/>
                        </a:lnSpc>
                      </a:pPr>
                      <a:r>
                        <a:rPr sz="1400" b="1" spc="-10" dirty="0">
                          <a:latin typeface="Arial"/>
                          <a:cs typeface="Arial"/>
                        </a:rPr>
                        <a:t>prod_id</a:t>
                      </a:r>
                      <a:endParaRPr sz="1400">
                        <a:latin typeface="Arial"/>
                        <a:cs typeface="Arial"/>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a:lnSpc>
                          <a:spcPct val="100000"/>
                        </a:lnSpc>
                        <a:spcBef>
                          <a:spcPts val="114"/>
                        </a:spcBef>
                      </a:pPr>
                      <a:endParaRPr sz="1400">
                        <a:latin typeface="Times New Roman"/>
                        <a:cs typeface="Times New Roman"/>
                      </a:endParaRPr>
                    </a:p>
                    <a:p>
                      <a:pPr marL="1270" algn="ctr">
                        <a:lnSpc>
                          <a:spcPct val="100000"/>
                        </a:lnSpc>
                      </a:pPr>
                      <a:r>
                        <a:rPr sz="1400" b="1" spc="-10" dirty="0">
                          <a:latin typeface="Arial"/>
                          <a:cs typeface="Arial"/>
                        </a:rPr>
                        <a:t>loc_id</a:t>
                      </a:r>
                      <a:endParaRPr sz="1400">
                        <a:latin typeface="Arial"/>
                        <a:cs typeface="Arial"/>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extLst>
                  <a:ext uri="{0D108BD9-81ED-4DB2-BD59-A6C34878D82A}">
                    <a16:rowId xmlns:a16="http://schemas.microsoft.com/office/drawing/2014/main" val="10000"/>
                  </a:ext>
                </a:extLst>
              </a:tr>
              <a:tr h="282033">
                <a:tc>
                  <a:txBody>
                    <a:bodyPr/>
                    <a:lstStyle/>
                    <a:p>
                      <a:pPr marL="635"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20220101</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25" dirty="0">
                          <a:latin typeface="Arial MT"/>
                          <a:cs typeface="Arial MT"/>
                        </a:rPr>
                        <a:t>$41</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82033">
                <a:tc>
                  <a:txBody>
                    <a:bodyPr/>
                    <a:lstStyle/>
                    <a:p>
                      <a:pPr marL="635"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20220102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25" dirty="0">
                          <a:latin typeface="Arial MT"/>
                          <a:cs typeface="Arial MT"/>
                        </a:rPr>
                        <a:t>$15</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50" dirty="0">
                          <a:latin typeface="Arial MT"/>
                          <a:cs typeface="Arial MT"/>
                        </a:rPr>
                        <a:t>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5"/>
                        </a:spcBef>
                      </a:pPr>
                      <a:r>
                        <a:rPr sz="1400" spc="-50" dirty="0">
                          <a:latin typeface="Arial MT"/>
                          <a:cs typeface="Arial MT"/>
                        </a:rPr>
                        <a:t>5</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81093">
                <a:tc>
                  <a:txBody>
                    <a:bodyPr/>
                    <a:lstStyle/>
                    <a:p>
                      <a:pPr marL="635" algn="ctr">
                        <a:lnSpc>
                          <a:spcPct val="10000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20220102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25" dirty="0">
                          <a:latin typeface="Arial MT"/>
                          <a:cs typeface="Arial MT"/>
                        </a:rPr>
                        <a:t>$24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50" dirty="0">
                          <a:latin typeface="Arial MT"/>
                          <a:cs typeface="Arial MT"/>
                        </a:rPr>
                        <a:t>6</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5"/>
                        </a:spcBef>
                      </a:pPr>
                      <a:r>
                        <a:rPr sz="1400" spc="-50" dirty="0">
                          <a:latin typeface="Arial MT"/>
                          <a:cs typeface="Arial MT"/>
                        </a:rPr>
                        <a:t>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82033">
                <a:tc>
                  <a:txBody>
                    <a:bodyPr/>
                    <a:lstStyle/>
                    <a:p>
                      <a:pPr marL="635" algn="ctr">
                        <a:lnSpc>
                          <a:spcPct val="100000"/>
                        </a:lnSpc>
                        <a:spcBef>
                          <a:spcPts val="225"/>
                        </a:spcBef>
                      </a:pPr>
                      <a:r>
                        <a:rPr sz="1400" spc="-50" dirty="0">
                          <a:latin typeface="Arial MT"/>
                          <a:cs typeface="Arial MT"/>
                        </a:rPr>
                        <a:t>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20220103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25" dirty="0">
                          <a:latin typeface="Arial MT"/>
                          <a:cs typeface="Arial MT"/>
                        </a:rPr>
                        <a:t>$13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50" dirty="0">
                          <a:latin typeface="Arial MT"/>
                          <a:cs typeface="Arial MT"/>
                        </a:rPr>
                        <a:t>1</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5"/>
                        </a:spcBef>
                      </a:pPr>
                      <a:r>
                        <a:rPr sz="1400" spc="-50" dirty="0">
                          <a:latin typeface="Arial MT"/>
                          <a:cs typeface="Arial MT"/>
                        </a:rPr>
                        <a:t>3</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82033">
                <a:tc>
                  <a:txBody>
                    <a:bodyPr/>
                    <a:lstStyle/>
                    <a:p>
                      <a:pPr marL="635" algn="ctr">
                        <a:lnSpc>
                          <a:spcPct val="100000"/>
                        </a:lnSpc>
                        <a:spcBef>
                          <a:spcPts val="229"/>
                        </a:spcBef>
                      </a:pPr>
                      <a:r>
                        <a:rPr sz="1400" spc="-50" dirty="0">
                          <a:latin typeface="Arial MT"/>
                          <a:cs typeface="Arial MT"/>
                        </a:rPr>
                        <a:t>5</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10" dirty="0">
                          <a:latin typeface="Arial MT"/>
                          <a:cs typeface="Arial MT"/>
                        </a:rPr>
                        <a:t>20220104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spc="-25" dirty="0">
                          <a:latin typeface="Arial MT"/>
                          <a:cs typeface="Arial MT"/>
                        </a:rPr>
                        <a:t>$52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spc="-25" dirty="0">
                          <a:latin typeface="Arial MT"/>
                          <a:cs typeface="Arial MT"/>
                        </a:rPr>
                        <a:t>23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9"/>
                        </a:spcBef>
                      </a:pPr>
                      <a:r>
                        <a:rPr sz="1400" spc="-50" dirty="0">
                          <a:latin typeface="Arial MT"/>
                          <a:cs typeface="Arial MT"/>
                        </a:rPr>
                        <a:t>4</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sp>
        <p:nvSpPr>
          <p:cNvPr id="6" name="object 6"/>
          <p:cNvSpPr txBox="1"/>
          <p:nvPr/>
        </p:nvSpPr>
        <p:spPr>
          <a:xfrm>
            <a:off x="2922104" y="5049078"/>
            <a:ext cx="4909393" cy="953879"/>
          </a:xfrm>
          <a:prstGeom prst="rect">
            <a:avLst/>
          </a:prstGeom>
        </p:spPr>
        <p:txBody>
          <a:bodyPr vert="horz" wrap="square" lIns="0" tIns="129540" rIns="0" bIns="0" rtlCol="0">
            <a:spAutoFit/>
          </a:bodyPr>
          <a:lstStyle/>
          <a:p>
            <a:pPr marL="16933">
              <a:spcBef>
                <a:spcPts val="1020"/>
              </a:spcBef>
            </a:pPr>
            <a:r>
              <a:rPr sz="2400" b="1" dirty="0">
                <a:solidFill>
                  <a:srgbClr val="D9D9D9"/>
                </a:solidFill>
                <a:latin typeface="Calibri"/>
                <a:cs typeface="Calibri"/>
              </a:rPr>
              <a:t>4)</a:t>
            </a:r>
            <a:r>
              <a:rPr sz="2400" b="1" spc="-13" dirty="0">
                <a:solidFill>
                  <a:srgbClr val="D9D9D9"/>
                </a:solidFill>
                <a:latin typeface="Calibri"/>
                <a:cs typeface="Calibri"/>
              </a:rPr>
              <a:t> </a:t>
            </a:r>
            <a:r>
              <a:rPr sz="2400" b="1" dirty="0">
                <a:solidFill>
                  <a:srgbClr val="D9D9D9"/>
                </a:solidFill>
                <a:latin typeface="Calibri"/>
                <a:cs typeface="Calibri"/>
              </a:rPr>
              <a:t>Identify</a:t>
            </a:r>
            <a:r>
              <a:rPr sz="2400" b="1" spc="-53" dirty="0">
                <a:solidFill>
                  <a:srgbClr val="D9D9D9"/>
                </a:solidFill>
                <a:latin typeface="Calibri"/>
                <a:cs typeface="Calibri"/>
              </a:rPr>
              <a:t> </a:t>
            </a:r>
            <a:r>
              <a:rPr sz="2400" b="1" dirty="0">
                <a:solidFill>
                  <a:srgbClr val="D9D9D9"/>
                </a:solidFill>
                <a:latin typeface="Calibri"/>
                <a:cs typeface="Calibri"/>
              </a:rPr>
              <a:t>facts</a:t>
            </a:r>
            <a:r>
              <a:rPr sz="2400" b="1" spc="-13" dirty="0">
                <a:solidFill>
                  <a:srgbClr val="D9D9D9"/>
                </a:solidFill>
                <a:latin typeface="Calibri"/>
                <a:cs typeface="Calibri"/>
              </a:rPr>
              <a:t> </a:t>
            </a:r>
            <a:r>
              <a:rPr sz="2400" b="1" dirty="0">
                <a:solidFill>
                  <a:srgbClr val="D9D9D9"/>
                </a:solidFill>
                <a:latin typeface="Calibri"/>
                <a:cs typeface="Calibri"/>
              </a:rPr>
              <a:t>for</a:t>
            </a:r>
            <a:r>
              <a:rPr sz="2400" b="1" spc="-7" dirty="0">
                <a:solidFill>
                  <a:srgbClr val="D9D9D9"/>
                </a:solidFill>
                <a:latin typeface="Calibri"/>
                <a:cs typeface="Calibri"/>
              </a:rPr>
              <a:t> </a:t>
            </a:r>
            <a:r>
              <a:rPr sz="2400" b="1" spc="-13" dirty="0">
                <a:solidFill>
                  <a:srgbClr val="D9D9D9"/>
                </a:solidFill>
                <a:latin typeface="Calibri"/>
                <a:cs typeface="Calibri"/>
              </a:rPr>
              <a:t>measurement</a:t>
            </a:r>
            <a:endParaRPr sz="2400" dirty="0">
              <a:latin typeface="Calibri"/>
              <a:cs typeface="Calibri"/>
            </a:endParaRPr>
          </a:p>
          <a:p>
            <a:pPr marL="243834">
              <a:spcBef>
                <a:spcPts val="780"/>
              </a:spcBef>
            </a:pPr>
            <a:r>
              <a:rPr sz="2133" b="1" i="1" dirty="0">
                <a:solidFill>
                  <a:srgbClr val="99D3FF"/>
                </a:solidFill>
                <a:latin typeface="Calibri"/>
                <a:cs typeface="Calibri"/>
              </a:rPr>
              <a:t>Example:</a:t>
            </a:r>
            <a:r>
              <a:rPr sz="2133" b="1" i="1" spc="-40" dirty="0">
                <a:solidFill>
                  <a:srgbClr val="99D3FF"/>
                </a:solidFill>
                <a:latin typeface="Calibri"/>
                <a:cs typeface="Calibri"/>
              </a:rPr>
              <a:t> </a:t>
            </a:r>
            <a:r>
              <a:rPr sz="2133" b="1" i="1" dirty="0">
                <a:solidFill>
                  <a:srgbClr val="99D3FF"/>
                </a:solidFill>
                <a:latin typeface="Calibri"/>
                <a:cs typeface="Calibri"/>
              </a:rPr>
              <a:t>Sales</a:t>
            </a:r>
            <a:r>
              <a:rPr sz="2133" b="1" i="1" spc="-60" dirty="0">
                <a:solidFill>
                  <a:srgbClr val="99D3FF"/>
                </a:solidFill>
                <a:latin typeface="Calibri"/>
                <a:cs typeface="Calibri"/>
              </a:rPr>
              <a:t> </a:t>
            </a:r>
            <a:r>
              <a:rPr sz="2133" b="1" i="1" dirty="0">
                <a:solidFill>
                  <a:srgbClr val="99D3FF"/>
                </a:solidFill>
                <a:latin typeface="Calibri"/>
                <a:cs typeface="Calibri"/>
              </a:rPr>
              <a:t>amount</a:t>
            </a:r>
            <a:r>
              <a:rPr sz="2133" b="1" i="1" spc="-7" dirty="0">
                <a:solidFill>
                  <a:srgbClr val="99D3FF"/>
                </a:solidFill>
                <a:latin typeface="Calibri"/>
                <a:cs typeface="Calibri"/>
              </a:rPr>
              <a:t> </a:t>
            </a:r>
            <a:r>
              <a:rPr sz="2133" b="1" i="1" dirty="0">
                <a:solidFill>
                  <a:srgbClr val="99D3FF"/>
                </a:solidFill>
                <a:latin typeface="Calibri"/>
                <a:cs typeface="Calibri"/>
              </a:rPr>
              <a:t>&amp;</a:t>
            </a:r>
            <a:r>
              <a:rPr sz="2133" b="1" i="1" spc="-60" dirty="0">
                <a:solidFill>
                  <a:srgbClr val="99D3FF"/>
                </a:solidFill>
                <a:latin typeface="Calibri"/>
                <a:cs typeface="Calibri"/>
              </a:rPr>
              <a:t> </a:t>
            </a:r>
            <a:r>
              <a:rPr sz="2133" b="1" i="1" dirty="0">
                <a:solidFill>
                  <a:srgbClr val="99D3FF"/>
                </a:solidFill>
                <a:latin typeface="Calibri"/>
                <a:cs typeface="Calibri"/>
              </a:rPr>
              <a:t>order</a:t>
            </a:r>
            <a:r>
              <a:rPr sz="2133" b="1" i="1" spc="-40" dirty="0">
                <a:solidFill>
                  <a:srgbClr val="99D3FF"/>
                </a:solidFill>
                <a:latin typeface="Calibri"/>
                <a:cs typeface="Calibri"/>
              </a:rPr>
              <a:t> </a:t>
            </a:r>
            <a:r>
              <a:rPr sz="2133" b="1" i="1" spc="-13" dirty="0">
                <a:solidFill>
                  <a:srgbClr val="99D3FF"/>
                </a:solidFill>
                <a:latin typeface="Calibri"/>
                <a:cs typeface="Calibri"/>
              </a:rPr>
              <a:t>quantity</a:t>
            </a:r>
            <a:endParaRPr sz="2133" dirty="0">
              <a:latin typeface="Calibri"/>
              <a:cs typeface="Calibri"/>
            </a:endParaRPr>
          </a:p>
        </p:txBody>
      </p:sp>
      <p:sp>
        <p:nvSpPr>
          <p:cNvPr id="9" name="object 2">
            <a:extLst>
              <a:ext uri="{FF2B5EF4-FFF2-40B4-BE49-F238E27FC236}">
                <a16:creationId xmlns:a16="http://schemas.microsoft.com/office/drawing/2014/main" id="{92C8E05B-54EF-BBA5-A925-8A16DE124667}"/>
              </a:ext>
            </a:extLst>
          </p:cNvPr>
          <p:cNvSpPr txBox="1">
            <a:spLocks noGrp="1"/>
          </p:cNvSpPr>
          <p:nvPr>
            <p:ph type="title"/>
          </p:nvPr>
        </p:nvSpPr>
        <p:spPr>
          <a:xfrm>
            <a:off x="2439078" y="177345"/>
            <a:ext cx="8719312" cy="695062"/>
          </a:xfrm>
          <a:prstGeom prst="rect">
            <a:avLst/>
          </a:prstGeom>
        </p:spPr>
        <p:txBody>
          <a:bodyPr vert="horz" wrap="square" lIns="0" tIns="17780" rIns="0" bIns="0" rtlCol="0" anchor="ctr">
            <a:spAutoFit/>
          </a:bodyPr>
          <a:lstStyle/>
          <a:p>
            <a:pPr marL="756054">
              <a:lnSpc>
                <a:spcPct val="100000"/>
              </a:lnSpc>
              <a:spcBef>
                <a:spcPts val="140"/>
              </a:spcBef>
            </a:pPr>
            <a:r>
              <a:rPr dirty="0">
                <a:solidFill>
                  <a:schemeClr val="bg1"/>
                </a:solidFill>
                <a:latin typeface="+mn-lt"/>
              </a:rPr>
              <a:t>Steps</a:t>
            </a:r>
            <a:r>
              <a:rPr spc="-13" dirty="0">
                <a:solidFill>
                  <a:schemeClr val="bg1"/>
                </a:solidFill>
                <a:latin typeface="+mn-lt"/>
              </a:rPr>
              <a:t> </a:t>
            </a:r>
            <a:r>
              <a:rPr dirty="0">
                <a:solidFill>
                  <a:schemeClr val="bg1"/>
                </a:solidFill>
                <a:latin typeface="+mn-lt"/>
              </a:rPr>
              <a:t>to</a:t>
            </a:r>
            <a:r>
              <a:rPr spc="-20" dirty="0">
                <a:solidFill>
                  <a:schemeClr val="bg1"/>
                </a:solidFill>
                <a:latin typeface="+mn-lt"/>
              </a:rPr>
              <a:t> </a:t>
            </a:r>
            <a:r>
              <a:rPr dirty="0">
                <a:solidFill>
                  <a:schemeClr val="bg1"/>
                </a:solidFill>
                <a:latin typeface="+mn-lt"/>
              </a:rPr>
              <a:t>create</a:t>
            </a:r>
            <a:r>
              <a:rPr spc="-27" dirty="0">
                <a:solidFill>
                  <a:schemeClr val="bg1"/>
                </a:solidFill>
                <a:latin typeface="+mn-lt"/>
              </a:rPr>
              <a:t> </a:t>
            </a:r>
            <a:r>
              <a:rPr dirty="0">
                <a:solidFill>
                  <a:schemeClr val="bg1"/>
                </a:solidFill>
                <a:latin typeface="+mn-lt"/>
              </a:rPr>
              <a:t>a</a:t>
            </a:r>
            <a:r>
              <a:rPr spc="-13" dirty="0">
                <a:solidFill>
                  <a:schemeClr val="bg1"/>
                </a:solidFill>
                <a:latin typeface="+mn-lt"/>
              </a:rPr>
              <a:t> </a:t>
            </a:r>
            <a:r>
              <a:rPr dirty="0">
                <a:solidFill>
                  <a:schemeClr val="bg1"/>
                </a:solidFill>
                <a:latin typeface="+mn-lt"/>
              </a:rPr>
              <a:t>fact</a:t>
            </a:r>
            <a:r>
              <a:rPr spc="-33" dirty="0">
                <a:solidFill>
                  <a:schemeClr val="bg1"/>
                </a:solidFill>
                <a:latin typeface="+mn-lt"/>
              </a:rPr>
              <a:t> </a:t>
            </a:r>
            <a:r>
              <a:rPr spc="-13" dirty="0">
                <a:solidFill>
                  <a:schemeClr val="bg1"/>
                </a:solidFill>
                <a:latin typeface="+mn-lt"/>
              </a:rPr>
              <a:t>table</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57807" y="2279903"/>
            <a:ext cx="9930384" cy="1702816"/>
          </a:xfrm>
          <a:prstGeom prst="rect">
            <a:avLst/>
          </a:prstGeom>
          <a:noFill/>
        </p:spPr>
      </p:pic>
      <p:sp>
        <p:nvSpPr>
          <p:cNvPr id="3" name="object 3"/>
          <p:cNvSpPr txBox="1">
            <a:spLocks noGrp="1"/>
          </p:cNvSpPr>
          <p:nvPr>
            <p:ph type="title"/>
          </p:nvPr>
        </p:nvSpPr>
        <p:spPr>
          <a:xfrm>
            <a:off x="1320800" y="2579973"/>
            <a:ext cx="9811173" cy="1048150"/>
          </a:xfrm>
          <a:prstGeom prst="rect">
            <a:avLst/>
          </a:prstGeom>
          <a:noFill/>
          <a:ln w="9144">
            <a:noFill/>
          </a:ln>
        </p:spPr>
        <p:txBody>
          <a:bodyPr vert="horz" wrap="square" lIns="0" tIns="306493" rIns="0" bIns="0" rtlCol="0" anchor="ctr">
            <a:spAutoFit/>
          </a:bodyPr>
          <a:lstStyle/>
          <a:p>
            <a:pPr algn="ctr">
              <a:lnSpc>
                <a:spcPct val="100000"/>
              </a:lnSpc>
              <a:spcBef>
                <a:spcPts val="2413"/>
              </a:spcBef>
            </a:pPr>
            <a:r>
              <a:rPr sz="4800" dirty="0">
                <a:solidFill>
                  <a:schemeClr val="bg1"/>
                </a:solidFill>
                <a:latin typeface="+mn-lt"/>
              </a:rPr>
              <a:t>Factless</a:t>
            </a:r>
            <a:r>
              <a:rPr sz="4800" spc="-33" dirty="0">
                <a:solidFill>
                  <a:schemeClr val="bg1"/>
                </a:solidFill>
                <a:latin typeface="+mn-lt"/>
              </a:rPr>
              <a:t> </a:t>
            </a:r>
            <a:r>
              <a:rPr sz="4800" dirty="0">
                <a:solidFill>
                  <a:schemeClr val="bg1"/>
                </a:solidFill>
                <a:latin typeface="+mn-lt"/>
              </a:rPr>
              <a:t>fact</a:t>
            </a:r>
            <a:r>
              <a:rPr sz="4800" spc="-40" dirty="0">
                <a:solidFill>
                  <a:schemeClr val="bg1"/>
                </a:solidFill>
                <a:latin typeface="+mn-lt"/>
              </a:rPr>
              <a:t> </a:t>
            </a:r>
            <a:r>
              <a:rPr sz="4800" spc="-13" dirty="0">
                <a:solidFill>
                  <a:schemeClr val="bg1"/>
                </a:solidFill>
                <a:latin typeface="+mn-lt"/>
              </a:rPr>
              <a:t>table</a:t>
            </a:r>
            <a:endParaRPr sz="4800" dirty="0">
              <a:solidFill>
                <a:schemeClr val="bg1"/>
              </a:solidFill>
              <a:latin typeface="+mn-lt"/>
            </a:endParaRPr>
          </a:p>
        </p:txBody>
      </p:sp>
      <p:grpSp>
        <p:nvGrpSpPr>
          <p:cNvPr id="4" name="object 4"/>
          <p:cNvGrpSpPr/>
          <p:nvPr/>
        </p:nvGrpSpPr>
        <p:grpSpPr>
          <a:xfrm>
            <a:off x="1495551" y="4246880"/>
            <a:ext cx="4197773" cy="1617133"/>
            <a:chOff x="1121663" y="3185160"/>
            <a:chExt cx="3148330" cy="1212850"/>
          </a:xfrm>
        </p:grpSpPr>
        <p:pic>
          <p:nvPicPr>
            <p:cNvPr id="5" name="object 5"/>
            <p:cNvPicPr/>
            <p:nvPr/>
          </p:nvPicPr>
          <p:blipFill>
            <a:blip r:embed="rId3" cstate="print"/>
            <a:stretch>
              <a:fillRect/>
            </a:stretch>
          </p:blipFill>
          <p:spPr>
            <a:xfrm>
              <a:off x="1121663" y="3185160"/>
              <a:ext cx="3147822" cy="1212367"/>
            </a:xfrm>
            <a:prstGeom prst="rect">
              <a:avLst/>
            </a:prstGeom>
          </p:spPr>
        </p:pic>
        <p:pic>
          <p:nvPicPr>
            <p:cNvPr id="6" name="object 6"/>
            <p:cNvPicPr/>
            <p:nvPr/>
          </p:nvPicPr>
          <p:blipFill>
            <a:blip r:embed="rId4" cstate="print"/>
            <a:stretch>
              <a:fillRect/>
            </a:stretch>
          </p:blipFill>
          <p:spPr>
            <a:xfrm>
              <a:off x="1448561" y="3339846"/>
              <a:ext cx="2514600" cy="580644"/>
            </a:xfrm>
            <a:prstGeom prst="rect">
              <a:avLst/>
            </a:prstGeom>
          </p:spPr>
        </p:pic>
        <p:sp>
          <p:nvSpPr>
            <p:cNvPr id="7" name="object 7"/>
            <p:cNvSpPr/>
            <p:nvPr/>
          </p:nvSpPr>
          <p:spPr>
            <a:xfrm>
              <a:off x="1448561" y="3339846"/>
              <a:ext cx="2514600" cy="581025"/>
            </a:xfrm>
            <a:custGeom>
              <a:avLst/>
              <a:gdLst/>
              <a:ahLst/>
              <a:cxnLst/>
              <a:rect l="l" t="t" r="r" b="b"/>
              <a:pathLst>
                <a:path w="2514600" h="581025">
                  <a:moveTo>
                    <a:pt x="0" y="290321"/>
                  </a:moveTo>
                  <a:lnTo>
                    <a:pt x="145160" y="0"/>
                  </a:lnTo>
                  <a:lnTo>
                    <a:pt x="2369439" y="0"/>
                  </a:lnTo>
                  <a:lnTo>
                    <a:pt x="2514600" y="290321"/>
                  </a:lnTo>
                  <a:lnTo>
                    <a:pt x="2369439" y="580643"/>
                  </a:lnTo>
                  <a:lnTo>
                    <a:pt x="145160" y="580643"/>
                  </a:lnTo>
                  <a:lnTo>
                    <a:pt x="0" y="290321"/>
                  </a:lnTo>
                  <a:close/>
                </a:path>
              </a:pathLst>
            </a:custGeom>
            <a:ln w="19811">
              <a:solidFill>
                <a:srgbClr val="00C3FF"/>
              </a:solidFill>
            </a:ln>
          </p:spPr>
          <p:txBody>
            <a:bodyPr wrap="square" lIns="0" tIns="0" rIns="0" bIns="0" rtlCol="0"/>
            <a:lstStyle/>
            <a:p>
              <a:endParaRPr sz="2400"/>
            </a:p>
          </p:txBody>
        </p:sp>
      </p:grpSp>
      <p:sp>
        <p:nvSpPr>
          <p:cNvPr id="8" name="object 8"/>
          <p:cNvSpPr txBox="1"/>
          <p:nvPr/>
        </p:nvSpPr>
        <p:spPr>
          <a:xfrm>
            <a:off x="2879005" y="4599026"/>
            <a:ext cx="1463040" cy="428387"/>
          </a:xfrm>
          <a:prstGeom prst="rect">
            <a:avLst/>
          </a:prstGeom>
        </p:spPr>
        <p:txBody>
          <a:bodyPr vert="horz" wrap="square" lIns="0" tIns="17780" rIns="0" bIns="0" rtlCol="0">
            <a:spAutoFit/>
          </a:bodyPr>
          <a:lstStyle/>
          <a:p>
            <a:pPr marL="16933">
              <a:spcBef>
                <a:spcPts val="140"/>
              </a:spcBef>
            </a:pPr>
            <a:r>
              <a:rPr sz="2667" b="1" dirty="0">
                <a:solidFill>
                  <a:srgbClr val="CCEAFF"/>
                </a:solidFill>
                <a:latin typeface="Calibri"/>
                <a:cs typeface="Calibri"/>
              </a:rPr>
              <a:t>Fact</a:t>
            </a:r>
            <a:r>
              <a:rPr sz="2667" b="1" spc="-33" dirty="0">
                <a:solidFill>
                  <a:srgbClr val="CCEAFF"/>
                </a:solidFill>
                <a:latin typeface="Calibri"/>
                <a:cs typeface="Calibri"/>
              </a:rPr>
              <a:t> </a:t>
            </a:r>
            <a:r>
              <a:rPr sz="2667" b="1" spc="-13" dirty="0">
                <a:solidFill>
                  <a:srgbClr val="CCEAFF"/>
                </a:solidFill>
                <a:latin typeface="Calibri"/>
                <a:cs typeface="Calibri"/>
              </a:rPr>
              <a:t>Table</a:t>
            </a:r>
            <a:endParaRPr sz="2667">
              <a:latin typeface="Calibri"/>
              <a:cs typeface="Calibri"/>
            </a:endParaRPr>
          </a:p>
        </p:txBody>
      </p:sp>
      <p:grpSp>
        <p:nvGrpSpPr>
          <p:cNvPr id="9" name="object 9"/>
          <p:cNvGrpSpPr/>
          <p:nvPr/>
        </p:nvGrpSpPr>
        <p:grpSpPr>
          <a:xfrm>
            <a:off x="6118352" y="3935985"/>
            <a:ext cx="4087707" cy="1489287"/>
            <a:chOff x="4588764" y="2951988"/>
            <a:chExt cx="3065780" cy="1116965"/>
          </a:xfrm>
        </p:grpSpPr>
        <p:pic>
          <p:nvPicPr>
            <p:cNvPr id="10" name="object 10"/>
            <p:cNvPicPr/>
            <p:nvPr/>
          </p:nvPicPr>
          <p:blipFill>
            <a:blip r:embed="rId5" cstate="print"/>
            <a:stretch>
              <a:fillRect/>
            </a:stretch>
          </p:blipFill>
          <p:spPr>
            <a:xfrm>
              <a:off x="4588764" y="2951988"/>
              <a:ext cx="3065526" cy="1116596"/>
            </a:xfrm>
            <a:prstGeom prst="rect">
              <a:avLst/>
            </a:prstGeom>
          </p:spPr>
        </p:pic>
        <p:sp>
          <p:nvSpPr>
            <p:cNvPr id="11" name="object 11"/>
            <p:cNvSpPr/>
            <p:nvPr/>
          </p:nvSpPr>
          <p:spPr>
            <a:xfrm>
              <a:off x="4915662" y="3106674"/>
              <a:ext cx="2432685" cy="485140"/>
            </a:xfrm>
            <a:custGeom>
              <a:avLst/>
              <a:gdLst/>
              <a:ahLst/>
              <a:cxnLst/>
              <a:rect l="l" t="t" r="r" b="b"/>
              <a:pathLst>
                <a:path w="2432684" h="485139">
                  <a:moveTo>
                    <a:pt x="2311145" y="0"/>
                  </a:moveTo>
                  <a:lnTo>
                    <a:pt x="121158" y="0"/>
                  </a:lnTo>
                  <a:lnTo>
                    <a:pt x="0" y="242315"/>
                  </a:lnTo>
                  <a:lnTo>
                    <a:pt x="121158" y="484631"/>
                  </a:lnTo>
                  <a:lnTo>
                    <a:pt x="2311145" y="484631"/>
                  </a:lnTo>
                  <a:lnTo>
                    <a:pt x="2432304" y="242315"/>
                  </a:lnTo>
                  <a:lnTo>
                    <a:pt x="2311145" y="0"/>
                  </a:lnTo>
                  <a:close/>
                </a:path>
              </a:pathLst>
            </a:custGeom>
            <a:solidFill>
              <a:srgbClr val="B3B3B3"/>
            </a:solidFill>
          </p:spPr>
          <p:txBody>
            <a:bodyPr wrap="square" lIns="0" tIns="0" rIns="0" bIns="0" rtlCol="0"/>
            <a:lstStyle/>
            <a:p>
              <a:endParaRPr sz="2400"/>
            </a:p>
          </p:txBody>
        </p:sp>
        <p:sp>
          <p:nvSpPr>
            <p:cNvPr id="12" name="object 12"/>
            <p:cNvSpPr/>
            <p:nvPr/>
          </p:nvSpPr>
          <p:spPr>
            <a:xfrm>
              <a:off x="4915662" y="3106674"/>
              <a:ext cx="2432685" cy="485140"/>
            </a:xfrm>
            <a:custGeom>
              <a:avLst/>
              <a:gdLst/>
              <a:ahLst/>
              <a:cxnLst/>
              <a:rect l="l" t="t" r="r" b="b"/>
              <a:pathLst>
                <a:path w="2432684" h="485139">
                  <a:moveTo>
                    <a:pt x="0" y="242315"/>
                  </a:moveTo>
                  <a:lnTo>
                    <a:pt x="121158" y="0"/>
                  </a:lnTo>
                  <a:lnTo>
                    <a:pt x="2311145" y="0"/>
                  </a:lnTo>
                  <a:lnTo>
                    <a:pt x="2432304" y="242315"/>
                  </a:lnTo>
                  <a:lnTo>
                    <a:pt x="2311145" y="484631"/>
                  </a:lnTo>
                  <a:lnTo>
                    <a:pt x="121158" y="484631"/>
                  </a:lnTo>
                  <a:lnTo>
                    <a:pt x="0" y="242315"/>
                  </a:lnTo>
                  <a:close/>
                </a:path>
              </a:pathLst>
            </a:custGeom>
            <a:ln w="19812">
              <a:solidFill>
                <a:srgbClr val="00C3FF"/>
              </a:solidFill>
            </a:ln>
          </p:spPr>
          <p:txBody>
            <a:bodyPr wrap="square" lIns="0" tIns="0" rIns="0" bIns="0" rtlCol="0"/>
            <a:lstStyle/>
            <a:p>
              <a:endParaRPr sz="2400"/>
            </a:p>
          </p:txBody>
        </p:sp>
      </p:grpSp>
      <p:sp>
        <p:nvSpPr>
          <p:cNvPr id="13" name="object 13"/>
          <p:cNvSpPr txBox="1"/>
          <p:nvPr/>
        </p:nvSpPr>
        <p:spPr>
          <a:xfrm>
            <a:off x="7862315" y="4279560"/>
            <a:ext cx="651933" cy="386430"/>
          </a:xfrm>
          <a:prstGeom prst="rect">
            <a:avLst/>
          </a:prstGeom>
        </p:spPr>
        <p:txBody>
          <a:bodyPr vert="horz" wrap="square" lIns="0" tIns="16933" rIns="0" bIns="0" rtlCol="0">
            <a:spAutoFit/>
          </a:bodyPr>
          <a:lstStyle/>
          <a:p>
            <a:pPr marL="16933">
              <a:spcBef>
                <a:spcPts val="133"/>
              </a:spcBef>
            </a:pPr>
            <a:r>
              <a:rPr sz="2400" b="1" spc="-27" dirty="0">
                <a:solidFill>
                  <a:srgbClr val="00607E"/>
                </a:solidFill>
                <a:latin typeface="Trebuchet MS"/>
                <a:cs typeface="Trebuchet MS"/>
              </a:rPr>
              <a:t>Fact</a:t>
            </a:r>
            <a:endParaRPr sz="2400">
              <a:latin typeface="Trebuchet MS"/>
              <a:cs typeface="Trebuchet MS"/>
            </a:endParaRPr>
          </a:p>
        </p:txBody>
      </p:sp>
      <p:grpSp>
        <p:nvGrpSpPr>
          <p:cNvPr id="14" name="object 14"/>
          <p:cNvGrpSpPr/>
          <p:nvPr/>
        </p:nvGrpSpPr>
        <p:grpSpPr>
          <a:xfrm>
            <a:off x="6152895" y="4750815"/>
            <a:ext cx="4086013" cy="1490980"/>
            <a:chOff x="4614671" y="3563111"/>
            <a:chExt cx="3064510" cy="1118235"/>
          </a:xfrm>
        </p:grpSpPr>
        <p:pic>
          <p:nvPicPr>
            <p:cNvPr id="15" name="object 15"/>
            <p:cNvPicPr/>
            <p:nvPr/>
          </p:nvPicPr>
          <p:blipFill>
            <a:blip r:embed="rId6" cstate="print"/>
            <a:stretch>
              <a:fillRect/>
            </a:stretch>
          </p:blipFill>
          <p:spPr>
            <a:xfrm>
              <a:off x="4614671" y="3563111"/>
              <a:ext cx="3064002" cy="1118095"/>
            </a:xfrm>
            <a:prstGeom prst="rect">
              <a:avLst/>
            </a:prstGeom>
          </p:spPr>
        </p:pic>
        <p:sp>
          <p:nvSpPr>
            <p:cNvPr id="16" name="object 16"/>
            <p:cNvSpPr/>
            <p:nvPr/>
          </p:nvSpPr>
          <p:spPr>
            <a:xfrm>
              <a:off x="4941569" y="3717797"/>
              <a:ext cx="2430780" cy="486409"/>
            </a:xfrm>
            <a:custGeom>
              <a:avLst/>
              <a:gdLst/>
              <a:ahLst/>
              <a:cxnLst/>
              <a:rect l="l" t="t" r="r" b="b"/>
              <a:pathLst>
                <a:path w="2430779" h="486410">
                  <a:moveTo>
                    <a:pt x="2309240" y="0"/>
                  </a:moveTo>
                  <a:lnTo>
                    <a:pt x="121538" y="0"/>
                  </a:lnTo>
                  <a:lnTo>
                    <a:pt x="0" y="243077"/>
                  </a:lnTo>
                  <a:lnTo>
                    <a:pt x="121538" y="486155"/>
                  </a:lnTo>
                  <a:lnTo>
                    <a:pt x="2309240" y="486155"/>
                  </a:lnTo>
                  <a:lnTo>
                    <a:pt x="2430779" y="243077"/>
                  </a:lnTo>
                  <a:lnTo>
                    <a:pt x="2309240" y="0"/>
                  </a:lnTo>
                  <a:close/>
                </a:path>
              </a:pathLst>
            </a:custGeom>
            <a:solidFill>
              <a:srgbClr val="B3B3B3"/>
            </a:solidFill>
          </p:spPr>
          <p:txBody>
            <a:bodyPr wrap="square" lIns="0" tIns="0" rIns="0" bIns="0" rtlCol="0"/>
            <a:lstStyle/>
            <a:p>
              <a:endParaRPr sz="2400"/>
            </a:p>
          </p:txBody>
        </p:sp>
        <p:sp>
          <p:nvSpPr>
            <p:cNvPr id="17" name="object 17"/>
            <p:cNvSpPr/>
            <p:nvPr/>
          </p:nvSpPr>
          <p:spPr>
            <a:xfrm>
              <a:off x="4941569" y="3717797"/>
              <a:ext cx="2430780" cy="486409"/>
            </a:xfrm>
            <a:custGeom>
              <a:avLst/>
              <a:gdLst/>
              <a:ahLst/>
              <a:cxnLst/>
              <a:rect l="l" t="t" r="r" b="b"/>
              <a:pathLst>
                <a:path w="2430779" h="486410">
                  <a:moveTo>
                    <a:pt x="0" y="243077"/>
                  </a:moveTo>
                  <a:lnTo>
                    <a:pt x="121538" y="0"/>
                  </a:lnTo>
                  <a:lnTo>
                    <a:pt x="2309240" y="0"/>
                  </a:lnTo>
                  <a:lnTo>
                    <a:pt x="2430779" y="243077"/>
                  </a:lnTo>
                  <a:lnTo>
                    <a:pt x="2309240" y="486155"/>
                  </a:lnTo>
                  <a:lnTo>
                    <a:pt x="121538" y="486155"/>
                  </a:lnTo>
                  <a:lnTo>
                    <a:pt x="0" y="243077"/>
                  </a:lnTo>
                  <a:close/>
                </a:path>
              </a:pathLst>
            </a:custGeom>
            <a:ln w="19812">
              <a:solidFill>
                <a:srgbClr val="00C3FF"/>
              </a:solidFill>
            </a:ln>
          </p:spPr>
          <p:txBody>
            <a:bodyPr wrap="square" lIns="0" tIns="0" rIns="0" bIns="0" rtlCol="0"/>
            <a:lstStyle/>
            <a:p>
              <a:endParaRPr sz="2400"/>
            </a:p>
          </p:txBody>
        </p:sp>
      </p:grpSp>
      <p:sp>
        <p:nvSpPr>
          <p:cNvPr id="18" name="object 18"/>
          <p:cNvSpPr txBox="1"/>
          <p:nvPr/>
        </p:nvSpPr>
        <p:spPr>
          <a:xfrm>
            <a:off x="7895336" y="5096391"/>
            <a:ext cx="651933" cy="386430"/>
          </a:xfrm>
          <a:prstGeom prst="rect">
            <a:avLst/>
          </a:prstGeom>
        </p:spPr>
        <p:txBody>
          <a:bodyPr vert="horz" wrap="square" lIns="0" tIns="16933" rIns="0" bIns="0" rtlCol="0">
            <a:spAutoFit/>
          </a:bodyPr>
          <a:lstStyle/>
          <a:p>
            <a:pPr marL="16933">
              <a:spcBef>
                <a:spcPts val="133"/>
              </a:spcBef>
            </a:pPr>
            <a:r>
              <a:rPr sz="2400" b="1" spc="-27" dirty="0">
                <a:solidFill>
                  <a:srgbClr val="00607E"/>
                </a:solidFill>
                <a:latin typeface="Trebuchet MS"/>
                <a:cs typeface="Trebuchet MS"/>
              </a:rPr>
              <a:t>Fact</a:t>
            </a:r>
            <a:endParaRPr sz="2400">
              <a:latin typeface="Trebuchet MS"/>
              <a:cs typeface="Trebuchet MS"/>
            </a:endParaRPr>
          </a:p>
        </p:txBody>
      </p:sp>
      <p:grpSp>
        <p:nvGrpSpPr>
          <p:cNvPr id="19" name="object 19"/>
          <p:cNvGrpSpPr/>
          <p:nvPr/>
        </p:nvGrpSpPr>
        <p:grpSpPr>
          <a:xfrm>
            <a:off x="5491479" y="4435855"/>
            <a:ext cx="931333" cy="809413"/>
            <a:chOff x="4118609" y="3326891"/>
            <a:chExt cx="698500" cy="607060"/>
          </a:xfrm>
        </p:grpSpPr>
        <p:sp>
          <p:nvSpPr>
            <p:cNvPr id="20" name="object 20"/>
            <p:cNvSpPr/>
            <p:nvPr/>
          </p:nvSpPr>
          <p:spPr>
            <a:xfrm>
              <a:off x="4131563" y="3339845"/>
              <a:ext cx="672465" cy="581025"/>
            </a:xfrm>
            <a:custGeom>
              <a:avLst/>
              <a:gdLst/>
              <a:ahLst/>
              <a:cxnLst/>
              <a:rect l="l" t="t" r="r" b="b"/>
              <a:pathLst>
                <a:path w="672464" h="581025">
                  <a:moveTo>
                    <a:pt x="369062" y="0"/>
                  </a:moveTo>
                  <a:lnTo>
                    <a:pt x="325500" y="119633"/>
                  </a:lnTo>
                  <a:lnTo>
                    <a:pt x="0" y="119633"/>
                  </a:lnTo>
                  <a:lnTo>
                    <a:pt x="0" y="256158"/>
                  </a:lnTo>
                  <a:lnTo>
                    <a:pt x="275844" y="256158"/>
                  </a:lnTo>
                  <a:lnTo>
                    <a:pt x="250951" y="324484"/>
                  </a:lnTo>
                  <a:lnTo>
                    <a:pt x="0" y="324484"/>
                  </a:lnTo>
                  <a:lnTo>
                    <a:pt x="0" y="461009"/>
                  </a:lnTo>
                  <a:lnTo>
                    <a:pt x="201295" y="461009"/>
                  </a:lnTo>
                  <a:lnTo>
                    <a:pt x="174751" y="533933"/>
                  </a:lnTo>
                  <a:lnTo>
                    <a:pt x="303022" y="580643"/>
                  </a:lnTo>
                  <a:lnTo>
                    <a:pt x="346583" y="461009"/>
                  </a:lnTo>
                  <a:lnTo>
                    <a:pt x="672084" y="461009"/>
                  </a:lnTo>
                  <a:lnTo>
                    <a:pt x="672084" y="324484"/>
                  </a:lnTo>
                  <a:lnTo>
                    <a:pt x="396239" y="324484"/>
                  </a:lnTo>
                  <a:lnTo>
                    <a:pt x="421132" y="256158"/>
                  </a:lnTo>
                  <a:lnTo>
                    <a:pt x="672084" y="256158"/>
                  </a:lnTo>
                  <a:lnTo>
                    <a:pt x="672084" y="119633"/>
                  </a:lnTo>
                  <a:lnTo>
                    <a:pt x="470788" y="119633"/>
                  </a:lnTo>
                  <a:lnTo>
                    <a:pt x="497332" y="46735"/>
                  </a:lnTo>
                  <a:lnTo>
                    <a:pt x="369062" y="0"/>
                  </a:lnTo>
                  <a:close/>
                </a:path>
              </a:pathLst>
            </a:custGeom>
            <a:solidFill>
              <a:srgbClr val="00C3FF"/>
            </a:solidFill>
          </p:spPr>
          <p:txBody>
            <a:bodyPr wrap="square" lIns="0" tIns="0" rIns="0" bIns="0" rtlCol="0"/>
            <a:lstStyle/>
            <a:p>
              <a:endParaRPr sz="2400"/>
            </a:p>
          </p:txBody>
        </p:sp>
        <p:sp>
          <p:nvSpPr>
            <p:cNvPr id="21" name="object 21"/>
            <p:cNvSpPr/>
            <p:nvPr/>
          </p:nvSpPr>
          <p:spPr>
            <a:xfrm>
              <a:off x="4131563" y="3339845"/>
              <a:ext cx="672465" cy="581025"/>
            </a:xfrm>
            <a:custGeom>
              <a:avLst/>
              <a:gdLst/>
              <a:ahLst/>
              <a:cxnLst/>
              <a:rect l="l" t="t" r="r" b="b"/>
              <a:pathLst>
                <a:path w="672464" h="581025">
                  <a:moveTo>
                    <a:pt x="0" y="119633"/>
                  </a:moveTo>
                  <a:lnTo>
                    <a:pt x="325500" y="119633"/>
                  </a:lnTo>
                  <a:lnTo>
                    <a:pt x="369062" y="0"/>
                  </a:lnTo>
                  <a:lnTo>
                    <a:pt x="497332" y="46735"/>
                  </a:lnTo>
                  <a:lnTo>
                    <a:pt x="470788" y="119633"/>
                  </a:lnTo>
                  <a:lnTo>
                    <a:pt x="672084" y="119633"/>
                  </a:lnTo>
                  <a:lnTo>
                    <a:pt x="672084" y="256158"/>
                  </a:lnTo>
                  <a:lnTo>
                    <a:pt x="421132" y="256158"/>
                  </a:lnTo>
                  <a:lnTo>
                    <a:pt x="396239" y="324484"/>
                  </a:lnTo>
                  <a:lnTo>
                    <a:pt x="672084" y="324484"/>
                  </a:lnTo>
                  <a:lnTo>
                    <a:pt x="672084" y="461009"/>
                  </a:lnTo>
                  <a:lnTo>
                    <a:pt x="346583" y="461009"/>
                  </a:lnTo>
                  <a:lnTo>
                    <a:pt x="303022" y="580643"/>
                  </a:lnTo>
                  <a:lnTo>
                    <a:pt x="174751" y="533933"/>
                  </a:lnTo>
                  <a:lnTo>
                    <a:pt x="201295" y="461009"/>
                  </a:lnTo>
                  <a:lnTo>
                    <a:pt x="0" y="461009"/>
                  </a:lnTo>
                  <a:lnTo>
                    <a:pt x="0" y="324484"/>
                  </a:lnTo>
                  <a:lnTo>
                    <a:pt x="250951" y="324484"/>
                  </a:lnTo>
                  <a:lnTo>
                    <a:pt x="275844" y="256158"/>
                  </a:lnTo>
                  <a:lnTo>
                    <a:pt x="0" y="256158"/>
                  </a:lnTo>
                  <a:lnTo>
                    <a:pt x="0" y="119633"/>
                  </a:lnTo>
                  <a:close/>
                </a:path>
              </a:pathLst>
            </a:custGeom>
            <a:ln w="25908">
              <a:solidFill>
                <a:srgbClr val="008FBB"/>
              </a:solidFill>
            </a:ln>
          </p:spPr>
          <p:txBody>
            <a:bodyPr wrap="square" lIns="0" tIns="0" rIns="0" bIns="0" rtlCol="0"/>
            <a:lstStyle/>
            <a:p>
              <a:endParaRPr sz="2400"/>
            </a:p>
          </p:txBody>
        </p:sp>
      </p:gr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90015" y="333513"/>
            <a:ext cx="9357360" cy="695062"/>
          </a:xfrm>
          <a:prstGeom prst="rect">
            <a:avLst/>
          </a:prstGeom>
        </p:spPr>
        <p:txBody>
          <a:bodyPr vert="horz" wrap="square" lIns="0" tIns="17780" rIns="0" bIns="0" rtlCol="0" anchor="ctr">
            <a:spAutoFit/>
          </a:bodyPr>
          <a:lstStyle/>
          <a:p>
            <a:pPr marL="1732237" algn="ctr">
              <a:lnSpc>
                <a:spcPct val="100000"/>
              </a:lnSpc>
              <a:spcBef>
                <a:spcPts val="140"/>
              </a:spcBef>
            </a:pPr>
            <a:r>
              <a:rPr dirty="0">
                <a:solidFill>
                  <a:schemeClr val="bg1"/>
                </a:solidFill>
                <a:latin typeface="+mn-lt"/>
              </a:rPr>
              <a:t>Factless</a:t>
            </a:r>
            <a:r>
              <a:rPr spc="-47" dirty="0">
                <a:solidFill>
                  <a:schemeClr val="bg1"/>
                </a:solidFill>
                <a:latin typeface="+mn-lt"/>
              </a:rPr>
              <a:t> </a:t>
            </a:r>
            <a:r>
              <a:rPr dirty="0">
                <a:solidFill>
                  <a:schemeClr val="bg1"/>
                </a:solidFill>
                <a:latin typeface="+mn-lt"/>
              </a:rPr>
              <a:t>fact</a:t>
            </a:r>
            <a:r>
              <a:rPr spc="-20" dirty="0">
                <a:solidFill>
                  <a:schemeClr val="bg1"/>
                </a:solidFill>
                <a:latin typeface="+mn-lt"/>
              </a:rPr>
              <a:t> </a:t>
            </a:r>
            <a:r>
              <a:rPr spc="-13" dirty="0">
                <a:solidFill>
                  <a:schemeClr val="bg1"/>
                </a:solidFill>
                <a:latin typeface="+mn-lt"/>
              </a:rPr>
              <a:t>table</a:t>
            </a:r>
          </a:p>
        </p:txBody>
      </p:sp>
      <p:graphicFrame>
        <p:nvGraphicFramePr>
          <p:cNvPr id="3" name="object 3"/>
          <p:cNvGraphicFramePr>
            <a:graphicFrameLocks noGrp="1"/>
          </p:cNvGraphicFramePr>
          <p:nvPr>
            <p:extLst>
              <p:ext uri="{D42A27DB-BD31-4B8C-83A1-F6EECF244321}">
                <p14:modId xmlns:p14="http://schemas.microsoft.com/office/powerpoint/2010/main" val="2697365958"/>
              </p:ext>
            </p:extLst>
          </p:nvPr>
        </p:nvGraphicFramePr>
        <p:xfrm>
          <a:off x="1718734" y="4109890"/>
          <a:ext cx="6775027" cy="1715345"/>
        </p:xfrm>
        <a:graphic>
          <a:graphicData uri="http://schemas.openxmlformats.org/drawingml/2006/table">
            <a:tbl>
              <a:tblPr firstRow="1" bandRow="1">
                <a:tableStyleId>{2D5ABB26-0587-4C30-8999-92F81FD0307C}</a:tableStyleId>
              </a:tblPr>
              <a:tblGrid>
                <a:gridCol w="9144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45633">
                  <a:extLst>
                    <a:ext uri="{9D8B030D-6E8A-4147-A177-3AD203B41FA5}">
                      <a16:colId xmlns:a16="http://schemas.microsoft.com/office/drawing/2014/main" val="20002"/>
                    </a:ext>
                  </a:extLst>
                </a:gridCol>
                <a:gridCol w="1181947">
                  <a:extLst>
                    <a:ext uri="{9D8B030D-6E8A-4147-A177-3AD203B41FA5}">
                      <a16:colId xmlns:a16="http://schemas.microsoft.com/office/drawing/2014/main" val="20003"/>
                    </a:ext>
                  </a:extLst>
                </a:gridCol>
                <a:gridCol w="1385147">
                  <a:extLst>
                    <a:ext uri="{9D8B030D-6E8A-4147-A177-3AD203B41FA5}">
                      <a16:colId xmlns:a16="http://schemas.microsoft.com/office/drawing/2014/main" val="20004"/>
                    </a:ext>
                  </a:extLst>
                </a:gridCol>
                <a:gridCol w="1231900">
                  <a:extLst>
                    <a:ext uri="{9D8B030D-6E8A-4147-A177-3AD203B41FA5}">
                      <a16:colId xmlns:a16="http://schemas.microsoft.com/office/drawing/2014/main" val="20005"/>
                    </a:ext>
                  </a:extLst>
                </a:gridCol>
              </a:tblGrid>
              <a:tr h="438573">
                <a:tc>
                  <a:txBody>
                    <a:bodyPr/>
                    <a:lstStyle/>
                    <a:p>
                      <a:pPr>
                        <a:lnSpc>
                          <a:spcPct val="100000"/>
                        </a:lnSpc>
                        <a:spcBef>
                          <a:spcPts val="114"/>
                        </a:spcBef>
                      </a:pPr>
                      <a:endParaRPr sz="1400" dirty="0">
                        <a:solidFill>
                          <a:schemeClr val="bg1"/>
                        </a:solidFill>
                        <a:latin typeface="Times New Roman"/>
                        <a:cs typeface="Times New Roman"/>
                      </a:endParaRPr>
                    </a:p>
                    <a:p>
                      <a:pPr marL="635" algn="ctr">
                        <a:lnSpc>
                          <a:spcPct val="100000"/>
                        </a:lnSpc>
                      </a:pPr>
                      <a:r>
                        <a:rPr sz="1400" b="1" spc="-10" dirty="0">
                          <a:solidFill>
                            <a:schemeClr val="bg1"/>
                          </a:solidFill>
                          <a:latin typeface="Arial"/>
                          <a:cs typeface="Arial"/>
                        </a:rPr>
                        <a:t>reg_id</a:t>
                      </a:r>
                      <a:endParaRPr sz="1400" dirty="0">
                        <a:solidFill>
                          <a:schemeClr val="bg1"/>
                        </a:solidFill>
                        <a:latin typeface="Arial"/>
                        <a:cs typeface="Arial"/>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291465" marR="37465" indent="-245745">
                        <a:lnSpc>
                          <a:spcPct val="100000"/>
                        </a:lnSpc>
                      </a:pPr>
                      <a:r>
                        <a:rPr sz="1400" b="1" dirty="0">
                          <a:solidFill>
                            <a:schemeClr val="bg1"/>
                          </a:solidFill>
                          <a:latin typeface="Arial"/>
                          <a:cs typeface="Arial"/>
                        </a:rPr>
                        <a:t>Entry</a:t>
                      </a:r>
                      <a:r>
                        <a:rPr sz="1400" b="1" spc="-30" dirty="0">
                          <a:solidFill>
                            <a:schemeClr val="bg1"/>
                          </a:solidFill>
                          <a:latin typeface="Arial"/>
                          <a:cs typeface="Arial"/>
                        </a:rPr>
                        <a:t> </a:t>
                      </a:r>
                      <a:r>
                        <a:rPr sz="1400" b="1" spc="-20" dirty="0">
                          <a:solidFill>
                            <a:schemeClr val="bg1"/>
                          </a:solidFill>
                          <a:latin typeface="Arial"/>
                          <a:cs typeface="Arial"/>
                        </a:rPr>
                        <a:t>Date </a:t>
                      </a:r>
                      <a:r>
                        <a:rPr sz="1400" b="1" spc="-25" dirty="0">
                          <a:solidFill>
                            <a:schemeClr val="bg1"/>
                          </a:solidFill>
                          <a:latin typeface="Arial"/>
                          <a:cs typeface="Arial"/>
                        </a:rPr>
                        <a:t>FK</a:t>
                      </a:r>
                      <a:endParaRPr sz="1400" dirty="0">
                        <a:solidFill>
                          <a:schemeClr val="bg1"/>
                        </a:solidFill>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a:lnSpc>
                          <a:spcPct val="100000"/>
                        </a:lnSpc>
                        <a:spcBef>
                          <a:spcPts val="114"/>
                        </a:spcBef>
                      </a:pPr>
                      <a:endParaRPr sz="1400" dirty="0">
                        <a:solidFill>
                          <a:schemeClr val="bg1"/>
                        </a:solidFill>
                        <a:latin typeface="Times New Roman"/>
                        <a:cs typeface="Times New Roman"/>
                      </a:endParaRPr>
                    </a:p>
                    <a:p>
                      <a:pPr algn="ctr">
                        <a:lnSpc>
                          <a:spcPct val="100000"/>
                        </a:lnSpc>
                      </a:pPr>
                      <a:r>
                        <a:rPr sz="1400" b="1" spc="-10" dirty="0">
                          <a:solidFill>
                            <a:schemeClr val="bg1"/>
                          </a:solidFill>
                          <a:latin typeface="Arial"/>
                          <a:cs typeface="Arial"/>
                        </a:rPr>
                        <a:t>dep_id</a:t>
                      </a:r>
                      <a:endParaRPr sz="1400" dirty="0">
                        <a:solidFill>
                          <a:schemeClr val="bg1"/>
                        </a:solidFill>
                        <a:latin typeface="Arial"/>
                        <a:cs typeface="Arial"/>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a:lnSpc>
                          <a:spcPct val="100000"/>
                        </a:lnSpc>
                        <a:spcBef>
                          <a:spcPts val="114"/>
                        </a:spcBef>
                      </a:pPr>
                      <a:endParaRPr sz="1400" dirty="0">
                        <a:solidFill>
                          <a:schemeClr val="bg1"/>
                        </a:solidFill>
                        <a:latin typeface="Times New Roman"/>
                        <a:cs typeface="Times New Roman"/>
                      </a:endParaRPr>
                    </a:p>
                    <a:p>
                      <a:pPr algn="ctr">
                        <a:lnSpc>
                          <a:spcPct val="100000"/>
                        </a:lnSpc>
                      </a:pPr>
                      <a:r>
                        <a:rPr sz="1400" b="1" spc="-10" dirty="0">
                          <a:solidFill>
                            <a:schemeClr val="bg1"/>
                          </a:solidFill>
                          <a:latin typeface="Arial"/>
                          <a:cs typeface="Arial"/>
                        </a:rPr>
                        <a:t>region_id</a:t>
                      </a:r>
                      <a:endParaRPr sz="1400" dirty="0">
                        <a:solidFill>
                          <a:schemeClr val="bg1"/>
                        </a:solidFill>
                        <a:latin typeface="Arial"/>
                        <a:cs typeface="Arial"/>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a:lnSpc>
                          <a:spcPct val="100000"/>
                        </a:lnSpc>
                        <a:spcBef>
                          <a:spcPts val="114"/>
                        </a:spcBef>
                      </a:pPr>
                      <a:endParaRPr sz="1400" dirty="0">
                        <a:solidFill>
                          <a:schemeClr val="bg1"/>
                        </a:solidFill>
                        <a:latin typeface="Times New Roman"/>
                        <a:cs typeface="Times New Roman"/>
                      </a:endParaRPr>
                    </a:p>
                    <a:p>
                      <a:pPr algn="ctr">
                        <a:lnSpc>
                          <a:spcPct val="100000"/>
                        </a:lnSpc>
                      </a:pPr>
                      <a:r>
                        <a:rPr sz="1400" b="1" spc="-10" dirty="0">
                          <a:solidFill>
                            <a:schemeClr val="bg1"/>
                          </a:solidFill>
                          <a:latin typeface="Arial"/>
                          <a:cs typeface="Arial"/>
                        </a:rPr>
                        <a:t>manager_id</a:t>
                      </a:r>
                      <a:endParaRPr sz="1400" dirty="0">
                        <a:solidFill>
                          <a:schemeClr val="bg1"/>
                        </a:solidFill>
                        <a:latin typeface="Arial"/>
                        <a:cs typeface="Arial"/>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a:lnSpc>
                          <a:spcPct val="100000"/>
                        </a:lnSpc>
                        <a:spcBef>
                          <a:spcPts val="114"/>
                        </a:spcBef>
                      </a:pPr>
                      <a:endParaRPr sz="1400" dirty="0">
                        <a:solidFill>
                          <a:schemeClr val="bg1"/>
                        </a:solidFill>
                        <a:latin typeface="Times New Roman"/>
                        <a:cs typeface="Times New Roman"/>
                      </a:endParaRPr>
                    </a:p>
                    <a:p>
                      <a:pPr marL="1270" algn="ctr">
                        <a:lnSpc>
                          <a:spcPct val="100000"/>
                        </a:lnSpc>
                      </a:pPr>
                      <a:r>
                        <a:rPr sz="1400" b="1" spc="-10" dirty="0">
                          <a:solidFill>
                            <a:schemeClr val="bg1"/>
                          </a:solidFill>
                          <a:latin typeface="Arial"/>
                          <a:cs typeface="Arial"/>
                        </a:rPr>
                        <a:t>Pos_id</a:t>
                      </a:r>
                      <a:endParaRPr sz="1400" dirty="0">
                        <a:solidFill>
                          <a:schemeClr val="bg1"/>
                        </a:solidFill>
                        <a:latin typeface="Arial"/>
                        <a:cs typeface="Arial"/>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extLst>
                  <a:ext uri="{0D108BD9-81ED-4DB2-BD59-A6C34878D82A}">
                    <a16:rowId xmlns:a16="http://schemas.microsoft.com/office/drawing/2014/main" val="10000"/>
                  </a:ext>
                </a:extLst>
              </a:tr>
              <a:tr h="254000">
                <a:tc>
                  <a:txBody>
                    <a:bodyPr/>
                    <a:lstStyle/>
                    <a:p>
                      <a:pPr algn="ctr">
                        <a:lnSpc>
                          <a:spcPts val="117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5"/>
                        </a:spcBef>
                      </a:pPr>
                      <a:r>
                        <a:rPr sz="1400" spc="-10" dirty="0">
                          <a:latin typeface="Arial MT"/>
                          <a:cs typeface="Arial MT"/>
                        </a:rPr>
                        <a:t>20220102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5"/>
                        </a:spcBef>
                      </a:pPr>
                      <a:r>
                        <a:rPr sz="1400" spc="-25" dirty="0">
                          <a:latin typeface="Arial MT"/>
                          <a:cs typeface="Arial MT"/>
                        </a:rPr>
                        <a:t>10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ts val="117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5"/>
                        </a:spcBef>
                      </a:pPr>
                      <a:r>
                        <a:rPr sz="1400" spc="-10" dirty="0">
                          <a:latin typeface="Arial MT"/>
                          <a:cs typeface="Arial MT"/>
                        </a:rPr>
                        <a:t>20220103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5"/>
                        </a:spcBef>
                      </a:pPr>
                      <a:r>
                        <a:rPr sz="1400" spc="-50" dirty="0">
                          <a:latin typeface="Arial MT"/>
                          <a:cs typeface="Arial MT"/>
                        </a:rPr>
                        <a:t>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ts val="1170"/>
                        </a:lnSpc>
                        <a:spcBef>
                          <a:spcPts val="225"/>
                        </a:spcBef>
                      </a:pPr>
                      <a:r>
                        <a:rPr sz="1400" spc="-25" dirty="0">
                          <a:latin typeface="Arial MT"/>
                          <a:cs typeface="Arial MT"/>
                        </a:rPr>
                        <a:t>112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3153">
                <a:tc>
                  <a:txBody>
                    <a:bodyPr/>
                    <a:lstStyle/>
                    <a:p>
                      <a:pPr algn="ctr">
                        <a:lnSpc>
                          <a:spcPts val="117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10" dirty="0">
                          <a:latin typeface="Arial MT"/>
                          <a:cs typeface="Arial MT"/>
                        </a:rPr>
                        <a:t>20220103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50" dirty="0">
                          <a:latin typeface="Arial MT"/>
                          <a:cs typeface="Arial MT"/>
                        </a:rPr>
                        <a:t>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50" dirty="0">
                          <a:latin typeface="Arial MT"/>
                          <a:cs typeface="Arial MT"/>
                        </a:rPr>
                        <a:t>6</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ts val="1170"/>
                        </a:lnSpc>
                        <a:spcBef>
                          <a:spcPts val="229"/>
                        </a:spcBef>
                      </a:pPr>
                      <a:r>
                        <a:rPr sz="1400" spc="-25" dirty="0">
                          <a:latin typeface="Arial MT"/>
                          <a:cs typeface="Arial MT"/>
                        </a:rPr>
                        <a:t>202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algn="ctr">
                        <a:lnSpc>
                          <a:spcPts val="1170"/>
                        </a:lnSpc>
                        <a:spcBef>
                          <a:spcPts val="229"/>
                        </a:spcBef>
                      </a:pPr>
                      <a:r>
                        <a:rPr sz="1400" spc="-50" dirty="0">
                          <a:latin typeface="Arial MT"/>
                          <a:cs typeface="Arial MT"/>
                        </a:rPr>
                        <a:t>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10" dirty="0">
                          <a:latin typeface="Arial MT"/>
                          <a:cs typeface="Arial MT"/>
                        </a:rPr>
                        <a:t>20220104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50" dirty="0">
                          <a:latin typeface="Arial MT"/>
                          <a:cs typeface="Arial MT"/>
                        </a:rPr>
                        <a:t>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50" dirty="0">
                          <a:latin typeface="Arial MT"/>
                          <a:cs typeface="Arial MT"/>
                        </a:rPr>
                        <a:t>8</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50" dirty="0">
                          <a:latin typeface="Arial MT"/>
                          <a:cs typeface="Arial MT"/>
                        </a:rPr>
                        <a:t>6</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ts val="1170"/>
                        </a:lnSpc>
                        <a:spcBef>
                          <a:spcPts val="229"/>
                        </a:spcBef>
                      </a:pPr>
                      <a:r>
                        <a:rPr sz="1400" spc="-25" dirty="0">
                          <a:latin typeface="Arial MT"/>
                          <a:cs typeface="Arial MT"/>
                        </a:rPr>
                        <a:t>110</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algn="ctr">
                        <a:lnSpc>
                          <a:spcPts val="1170"/>
                        </a:lnSpc>
                        <a:spcBef>
                          <a:spcPts val="229"/>
                        </a:spcBef>
                      </a:pPr>
                      <a:r>
                        <a:rPr sz="1400" spc="-50" dirty="0">
                          <a:latin typeface="Arial MT"/>
                          <a:cs typeface="Arial MT"/>
                        </a:rPr>
                        <a:t>5</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10" dirty="0">
                          <a:latin typeface="Arial MT"/>
                          <a:cs typeface="Arial MT"/>
                        </a:rPr>
                        <a:t>20220104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50" dirty="0">
                          <a:latin typeface="Arial MT"/>
                          <a:cs typeface="Arial MT"/>
                        </a:rPr>
                        <a:t>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50" dirty="0">
                          <a:latin typeface="Arial MT"/>
                          <a:cs typeface="Arial MT"/>
                        </a:rPr>
                        <a:t>8</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9"/>
                        </a:spcBef>
                      </a:pPr>
                      <a:r>
                        <a:rPr sz="1400" spc="-25" dirty="0">
                          <a:latin typeface="Arial MT"/>
                          <a:cs typeface="Arial MT"/>
                        </a:rPr>
                        <a:t>17</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sp>
        <p:nvSpPr>
          <p:cNvPr id="4" name="object 4"/>
          <p:cNvSpPr txBox="1"/>
          <p:nvPr/>
        </p:nvSpPr>
        <p:spPr>
          <a:xfrm>
            <a:off x="3682492" y="5722884"/>
            <a:ext cx="3210560" cy="540319"/>
          </a:xfrm>
          <a:prstGeom prst="rect">
            <a:avLst/>
          </a:prstGeom>
          <a:noFill/>
        </p:spPr>
        <p:txBody>
          <a:bodyPr vert="horz" wrap="square" lIns="0" tIns="169333" rIns="0" bIns="0" rtlCol="0">
            <a:spAutoFit/>
          </a:bodyPr>
          <a:lstStyle/>
          <a:p>
            <a:pPr marL="209968">
              <a:spcBef>
                <a:spcPts val="1333"/>
              </a:spcBef>
            </a:pPr>
            <a:r>
              <a:rPr sz="2400" b="1" dirty="0">
                <a:solidFill>
                  <a:srgbClr val="D9D9D9"/>
                </a:solidFill>
                <a:latin typeface="Calibri"/>
                <a:cs typeface="Calibri"/>
              </a:rPr>
              <a:t>Employee</a:t>
            </a:r>
            <a:r>
              <a:rPr sz="2400" b="1" spc="-27" dirty="0">
                <a:solidFill>
                  <a:srgbClr val="D9D9D9"/>
                </a:solidFill>
                <a:latin typeface="Calibri"/>
                <a:cs typeface="Calibri"/>
              </a:rPr>
              <a:t> </a:t>
            </a:r>
            <a:r>
              <a:rPr sz="2400" b="1" spc="-13" dirty="0">
                <a:solidFill>
                  <a:srgbClr val="D9D9D9"/>
                </a:solidFill>
                <a:latin typeface="Calibri"/>
                <a:cs typeface="Calibri"/>
              </a:rPr>
              <a:t>registration</a:t>
            </a:r>
            <a:endParaRPr sz="2400" dirty="0">
              <a:latin typeface="Calibri"/>
              <a:cs typeface="Calibri"/>
            </a:endParaRPr>
          </a:p>
        </p:txBody>
      </p:sp>
      <p:grpSp>
        <p:nvGrpSpPr>
          <p:cNvPr id="5" name="object 5"/>
          <p:cNvGrpSpPr/>
          <p:nvPr/>
        </p:nvGrpSpPr>
        <p:grpSpPr>
          <a:xfrm>
            <a:off x="8067039" y="3942081"/>
            <a:ext cx="4124960" cy="2202180"/>
            <a:chOff x="6050279" y="2956560"/>
            <a:chExt cx="3093720" cy="1651635"/>
          </a:xfrm>
        </p:grpSpPr>
        <p:pic>
          <p:nvPicPr>
            <p:cNvPr id="6" name="object 6"/>
            <p:cNvPicPr/>
            <p:nvPr/>
          </p:nvPicPr>
          <p:blipFill>
            <a:blip r:embed="rId2" cstate="print"/>
            <a:stretch>
              <a:fillRect/>
            </a:stretch>
          </p:blipFill>
          <p:spPr>
            <a:xfrm>
              <a:off x="6050279" y="2956560"/>
              <a:ext cx="3093720" cy="1212367"/>
            </a:xfrm>
            <a:prstGeom prst="rect">
              <a:avLst/>
            </a:prstGeom>
          </p:spPr>
        </p:pic>
        <p:pic>
          <p:nvPicPr>
            <p:cNvPr id="7" name="object 7"/>
            <p:cNvPicPr/>
            <p:nvPr/>
          </p:nvPicPr>
          <p:blipFill>
            <a:blip r:embed="rId3" cstate="print"/>
            <a:stretch>
              <a:fillRect/>
            </a:stretch>
          </p:blipFill>
          <p:spPr>
            <a:xfrm>
              <a:off x="6227063" y="3489960"/>
              <a:ext cx="2916936" cy="1118095"/>
            </a:xfrm>
            <a:prstGeom prst="rect">
              <a:avLst/>
            </a:prstGeom>
          </p:spPr>
        </p:pic>
      </p:grpSp>
      <p:grpSp>
        <p:nvGrpSpPr>
          <p:cNvPr id="8" name="object 8"/>
          <p:cNvGrpSpPr/>
          <p:nvPr/>
        </p:nvGrpSpPr>
        <p:grpSpPr>
          <a:xfrm>
            <a:off x="8502902" y="4148326"/>
            <a:ext cx="3476752" cy="1359745"/>
            <a:chOff x="6377177" y="3111245"/>
            <a:chExt cx="2607564" cy="1019809"/>
          </a:xfrm>
        </p:grpSpPr>
        <p:sp>
          <p:nvSpPr>
            <p:cNvPr id="10" name="object 10"/>
            <p:cNvSpPr/>
            <p:nvPr/>
          </p:nvSpPr>
          <p:spPr>
            <a:xfrm>
              <a:off x="6377177" y="3111245"/>
              <a:ext cx="2514600" cy="581025"/>
            </a:xfrm>
            <a:custGeom>
              <a:avLst/>
              <a:gdLst/>
              <a:ahLst/>
              <a:cxnLst/>
              <a:rect l="l" t="t" r="r" b="b"/>
              <a:pathLst>
                <a:path w="2514600" h="581025">
                  <a:moveTo>
                    <a:pt x="0" y="290322"/>
                  </a:moveTo>
                  <a:lnTo>
                    <a:pt x="145161" y="0"/>
                  </a:lnTo>
                  <a:lnTo>
                    <a:pt x="2369439" y="0"/>
                  </a:lnTo>
                  <a:lnTo>
                    <a:pt x="2514600" y="290322"/>
                  </a:lnTo>
                  <a:lnTo>
                    <a:pt x="2369439" y="580644"/>
                  </a:lnTo>
                  <a:lnTo>
                    <a:pt x="145161" y="580644"/>
                  </a:lnTo>
                  <a:lnTo>
                    <a:pt x="0" y="290322"/>
                  </a:lnTo>
                  <a:close/>
                </a:path>
              </a:pathLst>
            </a:custGeom>
            <a:ln w="19811">
              <a:solidFill>
                <a:srgbClr val="00C3FF"/>
              </a:solidFill>
            </a:ln>
          </p:spPr>
          <p:txBody>
            <a:bodyPr wrap="square" lIns="0" tIns="0" rIns="0" bIns="0" rtlCol="0"/>
            <a:lstStyle/>
            <a:p>
              <a:endParaRPr sz="2400"/>
            </a:p>
          </p:txBody>
        </p:sp>
        <p:sp>
          <p:nvSpPr>
            <p:cNvPr id="11" name="object 11"/>
            <p:cNvSpPr/>
            <p:nvPr/>
          </p:nvSpPr>
          <p:spPr>
            <a:xfrm>
              <a:off x="6553961" y="3644645"/>
              <a:ext cx="2430780" cy="486409"/>
            </a:xfrm>
            <a:custGeom>
              <a:avLst/>
              <a:gdLst/>
              <a:ahLst/>
              <a:cxnLst/>
              <a:rect l="l" t="t" r="r" b="b"/>
              <a:pathLst>
                <a:path w="2430779" h="486410">
                  <a:moveTo>
                    <a:pt x="2309241" y="0"/>
                  </a:moveTo>
                  <a:lnTo>
                    <a:pt x="121539" y="0"/>
                  </a:lnTo>
                  <a:lnTo>
                    <a:pt x="0" y="243077"/>
                  </a:lnTo>
                  <a:lnTo>
                    <a:pt x="121539" y="486155"/>
                  </a:lnTo>
                  <a:lnTo>
                    <a:pt x="2309241" y="486155"/>
                  </a:lnTo>
                  <a:lnTo>
                    <a:pt x="2430780" y="243077"/>
                  </a:lnTo>
                  <a:lnTo>
                    <a:pt x="2309241" y="0"/>
                  </a:lnTo>
                  <a:close/>
                </a:path>
              </a:pathLst>
            </a:custGeom>
            <a:solidFill>
              <a:srgbClr val="B3B3B3"/>
            </a:solidFill>
          </p:spPr>
          <p:txBody>
            <a:bodyPr wrap="square" lIns="0" tIns="0" rIns="0" bIns="0" rtlCol="0"/>
            <a:lstStyle/>
            <a:p>
              <a:endParaRPr sz="2400"/>
            </a:p>
          </p:txBody>
        </p:sp>
        <p:sp>
          <p:nvSpPr>
            <p:cNvPr id="12" name="object 12"/>
            <p:cNvSpPr/>
            <p:nvPr/>
          </p:nvSpPr>
          <p:spPr>
            <a:xfrm>
              <a:off x="6553961" y="3644645"/>
              <a:ext cx="2430780" cy="486409"/>
            </a:xfrm>
            <a:custGeom>
              <a:avLst/>
              <a:gdLst/>
              <a:ahLst/>
              <a:cxnLst/>
              <a:rect l="l" t="t" r="r" b="b"/>
              <a:pathLst>
                <a:path w="2430779" h="486410">
                  <a:moveTo>
                    <a:pt x="0" y="243077"/>
                  </a:moveTo>
                  <a:lnTo>
                    <a:pt x="121539" y="0"/>
                  </a:lnTo>
                  <a:lnTo>
                    <a:pt x="2309241" y="0"/>
                  </a:lnTo>
                  <a:lnTo>
                    <a:pt x="2430780" y="243077"/>
                  </a:lnTo>
                  <a:lnTo>
                    <a:pt x="2309241" y="486155"/>
                  </a:lnTo>
                  <a:lnTo>
                    <a:pt x="121539" y="486155"/>
                  </a:lnTo>
                  <a:lnTo>
                    <a:pt x="0" y="243077"/>
                  </a:lnTo>
                  <a:close/>
                </a:path>
              </a:pathLst>
            </a:custGeom>
            <a:ln w="19812">
              <a:solidFill>
                <a:srgbClr val="00C3FF"/>
              </a:solidFill>
            </a:ln>
          </p:spPr>
          <p:txBody>
            <a:bodyPr wrap="square" lIns="0" tIns="0" rIns="0" bIns="0" rtlCol="0"/>
            <a:lstStyle/>
            <a:p>
              <a:endParaRPr sz="2400"/>
            </a:p>
          </p:txBody>
        </p:sp>
      </p:grpSp>
      <p:sp>
        <p:nvSpPr>
          <p:cNvPr id="13" name="object 13"/>
          <p:cNvSpPr txBox="1"/>
          <p:nvPr/>
        </p:nvSpPr>
        <p:spPr>
          <a:xfrm>
            <a:off x="2875788" y="1854200"/>
            <a:ext cx="8371840" cy="3525816"/>
          </a:xfrm>
          <a:prstGeom prst="rect">
            <a:avLst/>
          </a:prstGeom>
        </p:spPr>
        <p:txBody>
          <a:bodyPr vert="horz" wrap="square" lIns="0" tIns="16933" rIns="0" bIns="0" rtlCol="0">
            <a:spAutoFit/>
          </a:bodyPr>
          <a:lstStyle/>
          <a:p>
            <a:pPr marL="430943" indent="-380990">
              <a:spcBef>
                <a:spcPts val="133"/>
              </a:spcBef>
              <a:buClr>
                <a:srgbClr val="99D3FF"/>
              </a:buClr>
              <a:buFont typeface="Wingdings"/>
              <a:buChar char=""/>
              <a:tabLst>
                <a:tab pos="430943" algn="l"/>
              </a:tabLst>
            </a:pPr>
            <a:r>
              <a:rPr sz="2400" b="1" dirty="0">
                <a:solidFill>
                  <a:srgbClr val="D9D9D9"/>
                </a:solidFill>
                <a:latin typeface="Calibri"/>
                <a:cs typeface="Calibri"/>
              </a:rPr>
              <a:t>Facts</a:t>
            </a:r>
            <a:r>
              <a:rPr sz="2400" b="1" spc="-33" dirty="0">
                <a:solidFill>
                  <a:srgbClr val="D9D9D9"/>
                </a:solidFill>
                <a:latin typeface="Calibri"/>
                <a:cs typeface="Calibri"/>
              </a:rPr>
              <a:t> </a:t>
            </a:r>
            <a:r>
              <a:rPr sz="2400" b="1" dirty="0">
                <a:solidFill>
                  <a:srgbClr val="D9D9D9"/>
                </a:solidFill>
                <a:latin typeface="Calibri"/>
                <a:cs typeface="Calibri"/>
              </a:rPr>
              <a:t>are</a:t>
            </a:r>
            <a:r>
              <a:rPr sz="2400" b="1" spc="-13" dirty="0">
                <a:solidFill>
                  <a:srgbClr val="D9D9D9"/>
                </a:solidFill>
                <a:latin typeface="Calibri"/>
                <a:cs typeface="Calibri"/>
              </a:rPr>
              <a:t> </a:t>
            </a:r>
            <a:r>
              <a:rPr sz="2400" b="1" dirty="0">
                <a:solidFill>
                  <a:srgbClr val="D9D9D9"/>
                </a:solidFill>
                <a:latin typeface="Calibri"/>
                <a:cs typeface="Calibri"/>
              </a:rPr>
              <a:t>usually</a:t>
            </a:r>
            <a:r>
              <a:rPr sz="2400" b="1" spc="-47" dirty="0">
                <a:solidFill>
                  <a:srgbClr val="D9D9D9"/>
                </a:solidFill>
                <a:latin typeface="Calibri"/>
                <a:cs typeface="Calibri"/>
              </a:rPr>
              <a:t> </a:t>
            </a:r>
            <a:r>
              <a:rPr sz="2400" b="1" spc="-13" dirty="0">
                <a:solidFill>
                  <a:srgbClr val="D9D9D9"/>
                </a:solidFill>
                <a:latin typeface="Calibri"/>
                <a:cs typeface="Calibri"/>
              </a:rPr>
              <a:t>numeric</a:t>
            </a:r>
            <a:endParaRPr sz="2400" dirty="0">
              <a:latin typeface="Calibri"/>
              <a:cs typeface="Calibri"/>
            </a:endParaRPr>
          </a:p>
          <a:p>
            <a:pPr>
              <a:spcBef>
                <a:spcPts val="940"/>
              </a:spcBef>
              <a:buClr>
                <a:srgbClr val="99D3FF"/>
              </a:buClr>
              <a:buFont typeface="Wingdings"/>
              <a:buChar char=""/>
            </a:pPr>
            <a:endParaRPr sz="2400" dirty="0">
              <a:latin typeface="Calibri"/>
              <a:cs typeface="Calibri"/>
            </a:endParaRPr>
          </a:p>
          <a:p>
            <a:pPr marL="397923" indent="-380990">
              <a:buClr>
                <a:srgbClr val="99D3FF"/>
              </a:buClr>
              <a:buFont typeface="Wingdings"/>
              <a:buChar char=""/>
              <a:tabLst>
                <a:tab pos="397923" algn="l"/>
              </a:tabLst>
            </a:pPr>
            <a:r>
              <a:rPr sz="2400" b="1" dirty="0">
                <a:solidFill>
                  <a:srgbClr val="D9D9D9"/>
                </a:solidFill>
                <a:latin typeface="Calibri"/>
                <a:cs typeface="Calibri"/>
              </a:rPr>
              <a:t>Sometimes</a:t>
            </a:r>
            <a:r>
              <a:rPr sz="2400" b="1" spc="-73" dirty="0">
                <a:solidFill>
                  <a:srgbClr val="D9D9D9"/>
                </a:solidFill>
                <a:latin typeface="Calibri"/>
                <a:cs typeface="Calibri"/>
              </a:rPr>
              <a:t> </a:t>
            </a:r>
            <a:r>
              <a:rPr sz="2400" b="1" dirty="0">
                <a:solidFill>
                  <a:srgbClr val="D9D9D9"/>
                </a:solidFill>
                <a:latin typeface="Calibri"/>
                <a:cs typeface="Calibri"/>
              </a:rPr>
              <a:t>only</a:t>
            </a:r>
            <a:r>
              <a:rPr sz="2400" b="1" spc="-47" dirty="0">
                <a:solidFill>
                  <a:srgbClr val="D9D9D9"/>
                </a:solidFill>
                <a:latin typeface="Calibri"/>
                <a:cs typeface="Calibri"/>
              </a:rPr>
              <a:t> </a:t>
            </a:r>
            <a:r>
              <a:rPr sz="2400" b="1" dirty="0">
                <a:solidFill>
                  <a:srgbClr val="D9D9D9"/>
                </a:solidFill>
                <a:latin typeface="Calibri"/>
                <a:cs typeface="Calibri"/>
              </a:rPr>
              <a:t>dimensionals</a:t>
            </a:r>
            <a:r>
              <a:rPr sz="2400" b="1" spc="-73" dirty="0">
                <a:solidFill>
                  <a:srgbClr val="D9D9D9"/>
                </a:solidFill>
                <a:latin typeface="Calibri"/>
                <a:cs typeface="Calibri"/>
              </a:rPr>
              <a:t> </a:t>
            </a:r>
            <a:r>
              <a:rPr sz="2400" b="1" dirty="0">
                <a:solidFill>
                  <a:srgbClr val="D9D9D9"/>
                </a:solidFill>
                <a:latin typeface="Calibri"/>
                <a:cs typeface="Calibri"/>
              </a:rPr>
              <a:t>aspects</a:t>
            </a:r>
            <a:r>
              <a:rPr sz="2400" b="1" spc="-60" dirty="0">
                <a:solidFill>
                  <a:srgbClr val="D9D9D9"/>
                </a:solidFill>
                <a:latin typeface="Calibri"/>
                <a:cs typeface="Calibri"/>
              </a:rPr>
              <a:t> </a:t>
            </a:r>
            <a:r>
              <a:rPr sz="2400" b="1" dirty="0">
                <a:solidFill>
                  <a:srgbClr val="D9D9D9"/>
                </a:solidFill>
                <a:latin typeface="Calibri"/>
                <a:cs typeface="Calibri"/>
              </a:rPr>
              <a:t>of</a:t>
            </a:r>
            <a:r>
              <a:rPr sz="2400" b="1" spc="-7" dirty="0">
                <a:solidFill>
                  <a:srgbClr val="D9D9D9"/>
                </a:solidFill>
                <a:latin typeface="Calibri"/>
                <a:cs typeface="Calibri"/>
              </a:rPr>
              <a:t> </a:t>
            </a:r>
            <a:r>
              <a:rPr sz="2400" b="1" dirty="0">
                <a:solidFill>
                  <a:srgbClr val="D9D9D9"/>
                </a:solidFill>
                <a:latin typeface="Calibri"/>
                <a:cs typeface="Calibri"/>
              </a:rPr>
              <a:t>an</a:t>
            </a:r>
            <a:r>
              <a:rPr sz="2400" b="1" spc="-27" dirty="0">
                <a:solidFill>
                  <a:srgbClr val="D9D9D9"/>
                </a:solidFill>
                <a:latin typeface="Calibri"/>
                <a:cs typeface="Calibri"/>
              </a:rPr>
              <a:t> </a:t>
            </a:r>
            <a:r>
              <a:rPr sz="2400" b="1" dirty="0">
                <a:solidFill>
                  <a:srgbClr val="D9D9D9"/>
                </a:solidFill>
                <a:latin typeface="Calibri"/>
                <a:cs typeface="Calibri"/>
              </a:rPr>
              <a:t>event</a:t>
            </a:r>
            <a:r>
              <a:rPr sz="2400" b="1" spc="-53" dirty="0">
                <a:solidFill>
                  <a:srgbClr val="D9D9D9"/>
                </a:solidFill>
                <a:latin typeface="Calibri"/>
                <a:cs typeface="Calibri"/>
              </a:rPr>
              <a:t> </a:t>
            </a:r>
            <a:r>
              <a:rPr sz="2400" b="1" dirty="0">
                <a:solidFill>
                  <a:srgbClr val="D9D9D9"/>
                </a:solidFill>
                <a:latin typeface="Calibri"/>
                <a:cs typeface="Calibri"/>
              </a:rPr>
              <a:t>are</a:t>
            </a:r>
            <a:r>
              <a:rPr sz="2400" b="1" spc="-27" dirty="0">
                <a:solidFill>
                  <a:srgbClr val="D9D9D9"/>
                </a:solidFill>
                <a:latin typeface="Calibri"/>
                <a:cs typeface="Calibri"/>
              </a:rPr>
              <a:t> </a:t>
            </a:r>
            <a:r>
              <a:rPr sz="2400" b="1" spc="-13" dirty="0">
                <a:solidFill>
                  <a:srgbClr val="D9D9D9"/>
                </a:solidFill>
                <a:latin typeface="Calibri"/>
                <a:cs typeface="Calibri"/>
              </a:rPr>
              <a:t>recorded</a:t>
            </a:r>
            <a:endParaRPr sz="2400" dirty="0">
              <a:latin typeface="Calibri"/>
              <a:cs typeface="Calibri"/>
            </a:endParaRPr>
          </a:p>
          <a:p>
            <a:pPr>
              <a:spcBef>
                <a:spcPts val="300"/>
              </a:spcBef>
              <a:buClr>
                <a:srgbClr val="99D3FF"/>
              </a:buClr>
              <a:buFont typeface="Wingdings"/>
              <a:buChar char=""/>
            </a:pPr>
            <a:endParaRPr sz="2400" dirty="0">
              <a:latin typeface="Calibri"/>
              <a:cs typeface="Calibri"/>
            </a:endParaRPr>
          </a:p>
          <a:p>
            <a:pPr marL="397923" indent="-380990">
              <a:buClr>
                <a:srgbClr val="99D3FF"/>
              </a:buClr>
              <a:buFont typeface="Wingdings"/>
              <a:buChar char=""/>
              <a:tabLst>
                <a:tab pos="397923" algn="l"/>
              </a:tabLst>
            </a:pPr>
            <a:r>
              <a:rPr sz="2400" b="1" dirty="0">
                <a:solidFill>
                  <a:srgbClr val="D9D9D9"/>
                </a:solidFill>
                <a:latin typeface="Calibri"/>
                <a:cs typeface="Calibri"/>
              </a:rPr>
              <a:t>Example</a:t>
            </a:r>
            <a:r>
              <a:rPr sz="2400" b="1" spc="-40" dirty="0">
                <a:solidFill>
                  <a:srgbClr val="D9D9D9"/>
                </a:solidFill>
                <a:latin typeface="Calibri"/>
                <a:cs typeface="Calibri"/>
              </a:rPr>
              <a:t> </a:t>
            </a:r>
            <a:r>
              <a:rPr sz="2400" b="1" dirty="0">
                <a:solidFill>
                  <a:srgbClr val="D9D9D9"/>
                </a:solidFill>
                <a:latin typeface="Calibri"/>
                <a:cs typeface="Calibri"/>
              </a:rPr>
              <a:t>new</a:t>
            </a:r>
            <a:r>
              <a:rPr sz="2400" b="1" spc="-40" dirty="0">
                <a:solidFill>
                  <a:srgbClr val="D9D9D9"/>
                </a:solidFill>
                <a:latin typeface="Calibri"/>
                <a:cs typeface="Calibri"/>
              </a:rPr>
              <a:t> </a:t>
            </a:r>
            <a:r>
              <a:rPr sz="2400" b="1" dirty="0">
                <a:solidFill>
                  <a:srgbClr val="D9D9D9"/>
                </a:solidFill>
                <a:latin typeface="Calibri"/>
                <a:cs typeface="Calibri"/>
              </a:rPr>
              <a:t>employee</a:t>
            </a:r>
            <a:r>
              <a:rPr sz="2400" b="1" spc="-20" dirty="0">
                <a:solidFill>
                  <a:srgbClr val="D9D9D9"/>
                </a:solidFill>
                <a:latin typeface="Calibri"/>
                <a:cs typeface="Calibri"/>
              </a:rPr>
              <a:t> </a:t>
            </a:r>
            <a:r>
              <a:rPr sz="2400" b="1" dirty="0">
                <a:solidFill>
                  <a:srgbClr val="D9D9D9"/>
                </a:solidFill>
                <a:latin typeface="Calibri"/>
                <a:cs typeface="Calibri"/>
              </a:rPr>
              <a:t>is</a:t>
            </a:r>
            <a:r>
              <a:rPr sz="2400" b="1" spc="-20" dirty="0">
                <a:solidFill>
                  <a:srgbClr val="D9D9D9"/>
                </a:solidFill>
                <a:latin typeface="Calibri"/>
                <a:cs typeface="Calibri"/>
              </a:rPr>
              <a:t> </a:t>
            </a:r>
            <a:r>
              <a:rPr sz="2400" b="1" spc="-13" dirty="0">
                <a:solidFill>
                  <a:srgbClr val="D9D9D9"/>
                </a:solidFill>
                <a:latin typeface="Calibri"/>
                <a:cs typeface="Calibri"/>
              </a:rPr>
              <a:t>registered</a:t>
            </a:r>
            <a:endParaRPr sz="2400" dirty="0">
              <a:latin typeface="Calibri"/>
              <a:cs typeface="Calibri"/>
            </a:endParaRPr>
          </a:p>
          <a:p>
            <a:pPr>
              <a:spcBef>
                <a:spcPts val="545"/>
              </a:spcBef>
            </a:pPr>
            <a:endParaRPr sz="2400" dirty="0">
              <a:latin typeface="Calibri"/>
              <a:cs typeface="Calibri"/>
            </a:endParaRPr>
          </a:p>
          <a:p>
            <a:pPr marL="6840896"/>
            <a:r>
              <a:rPr sz="2667" b="1" spc="-13" dirty="0">
                <a:solidFill>
                  <a:srgbClr val="CCEAFF"/>
                </a:solidFill>
                <a:latin typeface="Calibri"/>
                <a:cs typeface="Calibri"/>
              </a:rPr>
              <a:t>Events</a:t>
            </a:r>
            <a:endParaRPr sz="2667" dirty="0">
              <a:latin typeface="Calibri"/>
              <a:cs typeface="Calibri"/>
            </a:endParaRPr>
          </a:p>
          <a:p>
            <a:pPr marL="6729985">
              <a:spcBef>
                <a:spcPts val="2333"/>
              </a:spcBef>
            </a:pPr>
            <a:r>
              <a:rPr sz="2400" b="1" dirty="0">
                <a:solidFill>
                  <a:srgbClr val="00607E"/>
                </a:solidFill>
                <a:latin typeface="Trebuchet MS"/>
                <a:cs typeface="Trebuchet MS"/>
              </a:rPr>
              <a:t>No</a:t>
            </a:r>
            <a:r>
              <a:rPr sz="2400" b="1" spc="-20" dirty="0">
                <a:solidFill>
                  <a:srgbClr val="00607E"/>
                </a:solidFill>
                <a:latin typeface="Trebuchet MS"/>
                <a:cs typeface="Trebuchet MS"/>
              </a:rPr>
              <a:t> </a:t>
            </a:r>
            <a:r>
              <a:rPr sz="2400" b="1" spc="-13" dirty="0">
                <a:solidFill>
                  <a:srgbClr val="00607E"/>
                </a:solidFill>
                <a:latin typeface="Trebuchet MS"/>
                <a:cs typeface="Trebuchet MS"/>
              </a:rPr>
              <a:t>metrics</a:t>
            </a:r>
            <a:endParaRPr sz="2400" dirty="0">
              <a:latin typeface="Trebuchet MS"/>
              <a:cs typeface="Trebuchet MS"/>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95608" y="345322"/>
            <a:ext cx="7600784" cy="695062"/>
          </a:xfrm>
          <a:prstGeom prst="rect">
            <a:avLst/>
          </a:prstGeom>
        </p:spPr>
        <p:txBody>
          <a:bodyPr vert="horz" wrap="square" lIns="0" tIns="17780" rIns="0" bIns="0" rtlCol="0" anchor="ctr">
            <a:spAutoFit/>
          </a:bodyPr>
          <a:lstStyle/>
          <a:p>
            <a:pPr marL="1732237">
              <a:lnSpc>
                <a:spcPct val="100000"/>
              </a:lnSpc>
              <a:spcBef>
                <a:spcPts val="140"/>
              </a:spcBef>
            </a:pPr>
            <a:r>
              <a:rPr dirty="0">
                <a:solidFill>
                  <a:schemeClr val="bg1"/>
                </a:solidFill>
                <a:latin typeface="+mn-lt"/>
              </a:rPr>
              <a:t>Factless</a:t>
            </a:r>
            <a:r>
              <a:rPr spc="-47" dirty="0">
                <a:solidFill>
                  <a:schemeClr val="bg1"/>
                </a:solidFill>
                <a:latin typeface="+mn-lt"/>
              </a:rPr>
              <a:t> </a:t>
            </a:r>
            <a:r>
              <a:rPr dirty="0">
                <a:solidFill>
                  <a:schemeClr val="bg1"/>
                </a:solidFill>
                <a:latin typeface="+mn-lt"/>
              </a:rPr>
              <a:t>fact</a:t>
            </a:r>
            <a:r>
              <a:rPr spc="-20" dirty="0">
                <a:solidFill>
                  <a:schemeClr val="bg1"/>
                </a:solidFill>
                <a:latin typeface="+mn-lt"/>
              </a:rPr>
              <a:t> </a:t>
            </a:r>
            <a:r>
              <a:rPr spc="-13" dirty="0">
                <a:solidFill>
                  <a:schemeClr val="bg1"/>
                </a:solidFill>
                <a:latin typeface="+mn-lt"/>
              </a:rPr>
              <a:t>table</a:t>
            </a:r>
          </a:p>
        </p:txBody>
      </p:sp>
      <p:graphicFrame>
        <p:nvGraphicFramePr>
          <p:cNvPr id="3" name="object 3"/>
          <p:cNvGraphicFramePr>
            <a:graphicFrameLocks noGrp="1"/>
          </p:cNvGraphicFramePr>
          <p:nvPr>
            <p:extLst>
              <p:ext uri="{D42A27DB-BD31-4B8C-83A1-F6EECF244321}">
                <p14:modId xmlns:p14="http://schemas.microsoft.com/office/powerpoint/2010/main" val="2714171801"/>
              </p:ext>
            </p:extLst>
          </p:nvPr>
        </p:nvGraphicFramePr>
        <p:xfrm>
          <a:off x="1718734" y="4109890"/>
          <a:ext cx="6775027" cy="1707726"/>
        </p:xfrm>
        <a:graphic>
          <a:graphicData uri="http://schemas.openxmlformats.org/drawingml/2006/table">
            <a:tbl>
              <a:tblPr firstRow="1" bandRow="1">
                <a:tableStyleId>{2D5ABB26-0587-4C30-8999-92F81FD0307C}</a:tableStyleId>
              </a:tblPr>
              <a:tblGrid>
                <a:gridCol w="9144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45633">
                  <a:extLst>
                    <a:ext uri="{9D8B030D-6E8A-4147-A177-3AD203B41FA5}">
                      <a16:colId xmlns:a16="http://schemas.microsoft.com/office/drawing/2014/main" val="20002"/>
                    </a:ext>
                  </a:extLst>
                </a:gridCol>
                <a:gridCol w="1181947">
                  <a:extLst>
                    <a:ext uri="{9D8B030D-6E8A-4147-A177-3AD203B41FA5}">
                      <a16:colId xmlns:a16="http://schemas.microsoft.com/office/drawing/2014/main" val="20003"/>
                    </a:ext>
                  </a:extLst>
                </a:gridCol>
                <a:gridCol w="1385147">
                  <a:extLst>
                    <a:ext uri="{9D8B030D-6E8A-4147-A177-3AD203B41FA5}">
                      <a16:colId xmlns:a16="http://schemas.microsoft.com/office/drawing/2014/main" val="20004"/>
                    </a:ext>
                  </a:extLst>
                </a:gridCol>
                <a:gridCol w="1231900">
                  <a:extLst>
                    <a:ext uri="{9D8B030D-6E8A-4147-A177-3AD203B41FA5}">
                      <a16:colId xmlns:a16="http://schemas.microsoft.com/office/drawing/2014/main" val="20005"/>
                    </a:ext>
                  </a:extLst>
                </a:gridCol>
              </a:tblGrid>
              <a:tr h="438573">
                <a:tc>
                  <a:txBody>
                    <a:bodyPr/>
                    <a:lstStyle/>
                    <a:p>
                      <a:pPr>
                        <a:lnSpc>
                          <a:spcPct val="100000"/>
                        </a:lnSpc>
                        <a:spcBef>
                          <a:spcPts val="114"/>
                        </a:spcBef>
                      </a:pPr>
                      <a:endParaRPr sz="1400" dirty="0">
                        <a:solidFill>
                          <a:schemeClr val="bg1"/>
                        </a:solidFill>
                        <a:latin typeface="Times New Roman"/>
                        <a:cs typeface="Times New Roman"/>
                      </a:endParaRPr>
                    </a:p>
                    <a:p>
                      <a:pPr marL="635" algn="ctr">
                        <a:lnSpc>
                          <a:spcPts val="1170"/>
                        </a:lnSpc>
                      </a:pPr>
                      <a:r>
                        <a:rPr sz="1400" b="1" spc="-10" dirty="0">
                          <a:solidFill>
                            <a:schemeClr val="bg1"/>
                          </a:solidFill>
                          <a:latin typeface="Arial"/>
                          <a:cs typeface="Arial"/>
                        </a:rPr>
                        <a:t>reg_id</a:t>
                      </a:r>
                      <a:endParaRPr sz="1400" dirty="0">
                        <a:solidFill>
                          <a:schemeClr val="bg1"/>
                        </a:solidFill>
                        <a:latin typeface="Arial"/>
                        <a:cs typeface="Arial"/>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291465" marR="37465" indent="-245745">
                        <a:lnSpc>
                          <a:spcPct val="100000"/>
                        </a:lnSpc>
                      </a:pPr>
                      <a:r>
                        <a:rPr sz="1400" b="1" dirty="0">
                          <a:solidFill>
                            <a:schemeClr val="bg1"/>
                          </a:solidFill>
                          <a:latin typeface="Arial"/>
                          <a:cs typeface="Arial"/>
                        </a:rPr>
                        <a:t>Entry</a:t>
                      </a:r>
                      <a:r>
                        <a:rPr sz="1400" b="1" spc="-30" dirty="0">
                          <a:solidFill>
                            <a:schemeClr val="bg1"/>
                          </a:solidFill>
                          <a:latin typeface="Arial"/>
                          <a:cs typeface="Arial"/>
                        </a:rPr>
                        <a:t> </a:t>
                      </a:r>
                      <a:r>
                        <a:rPr sz="1400" b="1" spc="-20" dirty="0">
                          <a:solidFill>
                            <a:schemeClr val="bg1"/>
                          </a:solidFill>
                          <a:latin typeface="Arial"/>
                          <a:cs typeface="Arial"/>
                        </a:rPr>
                        <a:t>Date </a:t>
                      </a:r>
                      <a:r>
                        <a:rPr sz="1400" b="1" spc="-25" dirty="0">
                          <a:solidFill>
                            <a:schemeClr val="bg1"/>
                          </a:solidFill>
                          <a:latin typeface="Arial"/>
                          <a:cs typeface="Arial"/>
                        </a:rPr>
                        <a:t>FK</a:t>
                      </a:r>
                      <a:endParaRPr sz="1400" dirty="0">
                        <a:solidFill>
                          <a:schemeClr val="bg1"/>
                        </a:solidFill>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a:lnSpc>
                          <a:spcPct val="100000"/>
                        </a:lnSpc>
                        <a:spcBef>
                          <a:spcPts val="114"/>
                        </a:spcBef>
                      </a:pPr>
                      <a:endParaRPr sz="1400" dirty="0">
                        <a:solidFill>
                          <a:schemeClr val="bg1"/>
                        </a:solidFill>
                        <a:latin typeface="Times New Roman"/>
                        <a:cs typeface="Times New Roman"/>
                      </a:endParaRPr>
                    </a:p>
                    <a:p>
                      <a:pPr algn="ctr">
                        <a:lnSpc>
                          <a:spcPts val="1170"/>
                        </a:lnSpc>
                      </a:pPr>
                      <a:r>
                        <a:rPr sz="1400" b="1" spc="-10" dirty="0">
                          <a:solidFill>
                            <a:schemeClr val="bg1"/>
                          </a:solidFill>
                          <a:latin typeface="Arial"/>
                          <a:cs typeface="Arial"/>
                        </a:rPr>
                        <a:t>dep_id</a:t>
                      </a:r>
                      <a:endParaRPr sz="1400" dirty="0">
                        <a:solidFill>
                          <a:schemeClr val="bg1"/>
                        </a:solidFill>
                        <a:latin typeface="Arial"/>
                        <a:cs typeface="Arial"/>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a:lnSpc>
                          <a:spcPct val="100000"/>
                        </a:lnSpc>
                        <a:spcBef>
                          <a:spcPts val="114"/>
                        </a:spcBef>
                      </a:pPr>
                      <a:endParaRPr sz="1400" dirty="0">
                        <a:solidFill>
                          <a:schemeClr val="bg1"/>
                        </a:solidFill>
                        <a:latin typeface="Times New Roman"/>
                        <a:cs typeface="Times New Roman"/>
                      </a:endParaRPr>
                    </a:p>
                    <a:p>
                      <a:pPr algn="ctr">
                        <a:lnSpc>
                          <a:spcPts val="1170"/>
                        </a:lnSpc>
                      </a:pPr>
                      <a:r>
                        <a:rPr sz="1400" b="1" spc="-10" dirty="0">
                          <a:solidFill>
                            <a:schemeClr val="bg1"/>
                          </a:solidFill>
                          <a:latin typeface="Arial"/>
                          <a:cs typeface="Arial"/>
                        </a:rPr>
                        <a:t>region_id</a:t>
                      </a:r>
                      <a:endParaRPr sz="1400" dirty="0">
                        <a:solidFill>
                          <a:schemeClr val="bg1"/>
                        </a:solidFill>
                        <a:latin typeface="Arial"/>
                        <a:cs typeface="Arial"/>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a:lnSpc>
                          <a:spcPct val="100000"/>
                        </a:lnSpc>
                        <a:spcBef>
                          <a:spcPts val="114"/>
                        </a:spcBef>
                      </a:pPr>
                      <a:endParaRPr sz="1400" dirty="0">
                        <a:solidFill>
                          <a:schemeClr val="bg1"/>
                        </a:solidFill>
                        <a:latin typeface="Times New Roman"/>
                        <a:cs typeface="Times New Roman"/>
                      </a:endParaRPr>
                    </a:p>
                    <a:p>
                      <a:pPr algn="ctr">
                        <a:lnSpc>
                          <a:spcPts val="1170"/>
                        </a:lnSpc>
                      </a:pPr>
                      <a:r>
                        <a:rPr sz="1400" b="1" spc="-10" dirty="0">
                          <a:solidFill>
                            <a:schemeClr val="bg1"/>
                          </a:solidFill>
                          <a:latin typeface="Arial"/>
                          <a:cs typeface="Arial"/>
                        </a:rPr>
                        <a:t>manager_id</a:t>
                      </a:r>
                      <a:endParaRPr sz="1400" dirty="0">
                        <a:solidFill>
                          <a:schemeClr val="bg1"/>
                        </a:solidFill>
                        <a:latin typeface="Arial"/>
                        <a:cs typeface="Arial"/>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a:lnSpc>
                          <a:spcPct val="100000"/>
                        </a:lnSpc>
                        <a:spcBef>
                          <a:spcPts val="114"/>
                        </a:spcBef>
                      </a:pPr>
                      <a:endParaRPr sz="1400" dirty="0">
                        <a:solidFill>
                          <a:schemeClr val="bg1"/>
                        </a:solidFill>
                        <a:latin typeface="Times New Roman"/>
                        <a:cs typeface="Times New Roman"/>
                      </a:endParaRPr>
                    </a:p>
                    <a:p>
                      <a:pPr marL="1270" algn="ctr">
                        <a:lnSpc>
                          <a:spcPts val="1170"/>
                        </a:lnSpc>
                      </a:pPr>
                      <a:r>
                        <a:rPr sz="1400" b="1" spc="-10" dirty="0">
                          <a:solidFill>
                            <a:schemeClr val="bg1"/>
                          </a:solidFill>
                          <a:latin typeface="Arial"/>
                          <a:cs typeface="Arial"/>
                        </a:rPr>
                        <a:t>Pos_id</a:t>
                      </a:r>
                      <a:endParaRPr sz="1400" dirty="0">
                        <a:solidFill>
                          <a:schemeClr val="bg1"/>
                        </a:solidFill>
                        <a:latin typeface="Arial"/>
                        <a:cs typeface="Arial"/>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extLst>
                  <a:ext uri="{0D108BD9-81ED-4DB2-BD59-A6C34878D82A}">
                    <a16:rowId xmlns:a16="http://schemas.microsoft.com/office/drawing/2014/main" val="10000"/>
                  </a:ext>
                </a:extLst>
              </a:tr>
              <a:tr h="254000">
                <a:tc>
                  <a:txBody>
                    <a:bodyPr/>
                    <a:lstStyle/>
                    <a:p>
                      <a:pPr algn="ctr">
                        <a:lnSpc>
                          <a:spcPts val="117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5"/>
                        </a:spcBef>
                      </a:pPr>
                      <a:r>
                        <a:rPr sz="1400" spc="-10" dirty="0">
                          <a:latin typeface="Arial MT"/>
                          <a:cs typeface="Arial MT"/>
                        </a:rPr>
                        <a:t>20220102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5"/>
                        </a:spcBef>
                      </a:pPr>
                      <a:r>
                        <a:rPr sz="1400" spc="-25" dirty="0">
                          <a:latin typeface="Arial MT"/>
                          <a:cs typeface="Arial MT"/>
                        </a:rPr>
                        <a:t>10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ts val="117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5"/>
                        </a:spcBef>
                      </a:pPr>
                      <a:r>
                        <a:rPr sz="1400" spc="-10" dirty="0">
                          <a:latin typeface="Arial MT"/>
                          <a:cs typeface="Arial MT"/>
                        </a:rPr>
                        <a:t>20220103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5"/>
                        </a:spcBef>
                      </a:pPr>
                      <a:r>
                        <a:rPr sz="1400" spc="-50" dirty="0">
                          <a:latin typeface="Arial MT"/>
                          <a:cs typeface="Arial MT"/>
                        </a:rPr>
                        <a:t>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ts val="1170"/>
                        </a:lnSpc>
                        <a:spcBef>
                          <a:spcPts val="225"/>
                        </a:spcBef>
                      </a:pPr>
                      <a:r>
                        <a:rPr sz="1400" spc="-25" dirty="0">
                          <a:latin typeface="Arial MT"/>
                          <a:cs typeface="Arial MT"/>
                        </a:rPr>
                        <a:t>112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3153">
                <a:tc>
                  <a:txBody>
                    <a:bodyPr/>
                    <a:lstStyle/>
                    <a:p>
                      <a:pPr algn="ctr">
                        <a:lnSpc>
                          <a:spcPts val="117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10" dirty="0">
                          <a:latin typeface="Arial MT"/>
                          <a:cs typeface="Arial MT"/>
                        </a:rPr>
                        <a:t>20220103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50" dirty="0">
                          <a:latin typeface="Arial MT"/>
                          <a:cs typeface="Arial MT"/>
                        </a:rPr>
                        <a:t>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50" dirty="0">
                          <a:latin typeface="Arial MT"/>
                          <a:cs typeface="Arial MT"/>
                        </a:rPr>
                        <a:t>6</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ts val="1170"/>
                        </a:lnSpc>
                        <a:spcBef>
                          <a:spcPts val="229"/>
                        </a:spcBef>
                      </a:pPr>
                      <a:r>
                        <a:rPr sz="1400" spc="-25" dirty="0">
                          <a:latin typeface="Arial MT"/>
                          <a:cs typeface="Arial MT"/>
                        </a:rPr>
                        <a:t>202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algn="ctr">
                        <a:lnSpc>
                          <a:spcPts val="1170"/>
                        </a:lnSpc>
                        <a:spcBef>
                          <a:spcPts val="229"/>
                        </a:spcBef>
                      </a:pPr>
                      <a:r>
                        <a:rPr sz="1400" spc="-50" dirty="0">
                          <a:latin typeface="Arial MT"/>
                          <a:cs typeface="Arial MT"/>
                        </a:rPr>
                        <a:t>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10" dirty="0">
                          <a:latin typeface="Arial MT"/>
                          <a:cs typeface="Arial MT"/>
                        </a:rPr>
                        <a:t>20220104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50" dirty="0">
                          <a:latin typeface="Arial MT"/>
                          <a:cs typeface="Arial MT"/>
                        </a:rPr>
                        <a:t>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50" dirty="0">
                          <a:latin typeface="Arial MT"/>
                          <a:cs typeface="Arial MT"/>
                        </a:rPr>
                        <a:t>8</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50" dirty="0">
                          <a:latin typeface="Arial MT"/>
                          <a:cs typeface="Arial MT"/>
                        </a:rPr>
                        <a:t>6</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ts val="1170"/>
                        </a:lnSpc>
                        <a:spcBef>
                          <a:spcPts val="229"/>
                        </a:spcBef>
                      </a:pPr>
                      <a:r>
                        <a:rPr sz="1400" spc="-25" dirty="0">
                          <a:latin typeface="Arial MT"/>
                          <a:cs typeface="Arial MT"/>
                        </a:rPr>
                        <a:t>110</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algn="ctr">
                        <a:lnSpc>
                          <a:spcPts val="1170"/>
                        </a:lnSpc>
                        <a:spcBef>
                          <a:spcPts val="229"/>
                        </a:spcBef>
                      </a:pPr>
                      <a:r>
                        <a:rPr sz="1400" spc="-50" dirty="0">
                          <a:latin typeface="Arial MT"/>
                          <a:cs typeface="Arial MT"/>
                        </a:rPr>
                        <a:t>5</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10" dirty="0">
                          <a:latin typeface="Arial MT"/>
                          <a:cs typeface="Arial MT"/>
                        </a:rPr>
                        <a:t>20220104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50" dirty="0">
                          <a:latin typeface="Arial MT"/>
                          <a:cs typeface="Arial MT"/>
                        </a:rPr>
                        <a:t>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50" dirty="0">
                          <a:latin typeface="Arial MT"/>
                          <a:cs typeface="Arial MT"/>
                        </a:rPr>
                        <a:t>8</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9"/>
                        </a:spcBef>
                      </a:pPr>
                      <a:r>
                        <a:rPr sz="1400" spc="-25" dirty="0">
                          <a:latin typeface="Arial MT"/>
                          <a:cs typeface="Arial MT"/>
                        </a:rPr>
                        <a:t>17</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sp>
        <p:nvSpPr>
          <p:cNvPr id="4" name="object 4"/>
          <p:cNvSpPr txBox="1"/>
          <p:nvPr/>
        </p:nvSpPr>
        <p:spPr>
          <a:xfrm>
            <a:off x="3682492" y="5817616"/>
            <a:ext cx="3210560" cy="540319"/>
          </a:xfrm>
          <a:prstGeom prst="rect">
            <a:avLst/>
          </a:prstGeom>
          <a:noFill/>
        </p:spPr>
        <p:txBody>
          <a:bodyPr vert="horz" wrap="square" lIns="0" tIns="169333" rIns="0" bIns="0" rtlCol="0">
            <a:spAutoFit/>
          </a:bodyPr>
          <a:lstStyle/>
          <a:p>
            <a:pPr marL="209968">
              <a:spcBef>
                <a:spcPts val="1333"/>
              </a:spcBef>
            </a:pPr>
            <a:r>
              <a:rPr sz="2400" b="1" dirty="0">
                <a:solidFill>
                  <a:srgbClr val="D9D9D9"/>
                </a:solidFill>
                <a:latin typeface="Calibri"/>
                <a:cs typeface="Calibri"/>
              </a:rPr>
              <a:t>Employee</a:t>
            </a:r>
            <a:r>
              <a:rPr sz="2400" b="1" spc="-27" dirty="0">
                <a:solidFill>
                  <a:srgbClr val="D9D9D9"/>
                </a:solidFill>
                <a:latin typeface="Calibri"/>
                <a:cs typeface="Calibri"/>
              </a:rPr>
              <a:t> </a:t>
            </a:r>
            <a:r>
              <a:rPr sz="2400" b="1" spc="-13" dirty="0">
                <a:solidFill>
                  <a:srgbClr val="D9D9D9"/>
                </a:solidFill>
                <a:latin typeface="Calibri"/>
                <a:cs typeface="Calibri"/>
              </a:rPr>
              <a:t>registration</a:t>
            </a:r>
            <a:endParaRPr sz="2400" dirty="0">
              <a:latin typeface="Calibri"/>
              <a:cs typeface="Calibri"/>
            </a:endParaRPr>
          </a:p>
        </p:txBody>
      </p:sp>
      <p:grpSp>
        <p:nvGrpSpPr>
          <p:cNvPr id="5" name="object 5"/>
          <p:cNvGrpSpPr/>
          <p:nvPr/>
        </p:nvGrpSpPr>
        <p:grpSpPr>
          <a:xfrm>
            <a:off x="8067039" y="3942081"/>
            <a:ext cx="4124960" cy="2202180"/>
            <a:chOff x="6050279" y="2956560"/>
            <a:chExt cx="3093720" cy="1651635"/>
          </a:xfrm>
        </p:grpSpPr>
        <p:pic>
          <p:nvPicPr>
            <p:cNvPr id="6" name="object 6"/>
            <p:cNvPicPr/>
            <p:nvPr/>
          </p:nvPicPr>
          <p:blipFill>
            <a:blip r:embed="rId2" cstate="print"/>
            <a:stretch>
              <a:fillRect/>
            </a:stretch>
          </p:blipFill>
          <p:spPr>
            <a:xfrm>
              <a:off x="6050279" y="2956560"/>
              <a:ext cx="3093720" cy="1212367"/>
            </a:xfrm>
            <a:prstGeom prst="rect">
              <a:avLst/>
            </a:prstGeom>
          </p:spPr>
        </p:pic>
        <p:pic>
          <p:nvPicPr>
            <p:cNvPr id="7" name="object 7"/>
            <p:cNvPicPr/>
            <p:nvPr/>
          </p:nvPicPr>
          <p:blipFill>
            <a:blip r:embed="rId3" cstate="print"/>
            <a:stretch>
              <a:fillRect/>
            </a:stretch>
          </p:blipFill>
          <p:spPr>
            <a:xfrm>
              <a:off x="6227063" y="3489960"/>
              <a:ext cx="2916936" cy="1118095"/>
            </a:xfrm>
            <a:prstGeom prst="rect">
              <a:avLst/>
            </a:prstGeom>
          </p:spPr>
        </p:pic>
      </p:grpSp>
      <p:grpSp>
        <p:nvGrpSpPr>
          <p:cNvPr id="8" name="object 8"/>
          <p:cNvGrpSpPr/>
          <p:nvPr/>
        </p:nvGrpSpPr>
        <p:grpSpPr>
          <a:xfrm>
            <a:off x="8502902" y="4148326"/>
            <a:ext cx="3476752" cy="1359745"/>
            <a:chOff x="6377177" y="3111245"/>
            <a:chExt cx="2607564" cy="1019809"/>
          </a:xfrm>
        </p:grpSpPr>
        <p:sp>
          <p:nvSpPr>
            <p:cNvPr id="10" name="object 10"/>
            <p:cNvSpPr/>
            <p:nvPr/>
          </p:nvSpPr>
          <p:spPr>
            <a:xfrm>
              <a:off x="6377177" y="3111245"/>
              <a:ext cx="2514600" cy="581025"/>
            </a:xfrm>
            <a:custGeom>
              <a:avLst/>
              <a:gdLst/>
              <a:ahLst/>
              <a:cxnLst/>
              <a:rect l="l" t="t" r="r" b="b"/>
              <a:pathLst>
                <a:path w="2514600" h="581025">
                  <a:moveTo>
                    <a:pt x="0" y="290322"/>
                  </a:moveTo>
                  <a:lnTo>
                    <a:pt x="145161" y="0"/>
                  </a:lnTo>
                  <a:lnTo>
                    <a:pt x="2369439" y="0"/>
                  </a:lnTo>
                  <a:lnTo>
                    <a:pt x="2514600" y="290322"/>
                  </a:lnTo>
                  <a:lnTo>
                    <a:pt x="2369439" y="580644"/>
                  </a:lnTo>
                  <a:lnTo>
                    <a:pt x="145161" y="580644"/>
                  </a:lnTo>
                  <a:lnTo>
                    <a:pt x="0" y="290322"/>
                  </a:lnTo>
                  <a:close/>
                </a:path>
              </a:pathLst>
            </a:custGeom>
            <a:ln w="19811">
              <a:solidFill>
                <a:srgbClr val="00C3FF"/>
              </a:solidFill>
            </a:ln>
          </p:spPr>
          <p:txBody>
            <a:bodyPr wrap="square" lIns="0" tIns="0" rIns="0" bIns="0" rtlCol="0"/>
            <a:lstStyle/>
            <a:p>
              <a:endParaRPr sz="2400"/>
            </a:p>
          </p:txBody>
        </p:sp>
        <p:sp>
          <p:nvSpPr>
            <p:cNvPr id="11" name="object 11"/>
            <p:cNvSpPr/>
            <p:nvPr/>
          </p:nvSpPr>
          <p:spPr>
            <a:xfrm>
              <a:off x="6553961" y="3644645"/>
              <a:ext cx="2430780" cy="486409"/>
            </a:xfrm>
            <a:custGeom>
              <a:avLst/>
              <a:gdLst/>
              <a:ahLst/>
              <a:cxnLst/>
              <a:rect l="l" t="t" r="r" b="b"/>
              <a:pathLst>
                <a:path w="2430779" h="486410">
                  <a:moveTo>
                    <a:pt x="2309241" y="0"/>
                  </a:moveTo>
                  <a:lnTo>
                    <a:pt x="121539" y="0"/>
                  </a:lnTo>
                  <a:lnTo>
                    <a:pt x="0" y="243077"/>
                  </a:lnTo>
                  <a:lnTo>
                    <a:pt x="121539" y="486155"/>
                  </a:lnTo>
                  <a:lnTo>
                    <a:pt x="2309241" y="486155"/>
                  </a:lnTo>
                  <a:lnTo>
                    <a:pt x="2430780" y="243077"/>
                  </a:lnTo>
                  <a:lnTo>
                    <a:pt x="2309241" y="0"/>
                  </a:lnTo>
                  <a:close/>
                </a:path>
              </a:pathLst>
            </a:custGeom>
            <a:solidFill>
              <a:srgbClr val="B3B3B3"/>
            </a:solidFill>
          </p:spPr>
          <p:txBody>
            <a:bodyPr wrap="square" lIns="0" tIns="0" rIns="0" bIns="0" rtlCol="0"/>
            <a:lstStyle/>
            <a:p>
              <a:endParaRPr sz="2400"/>
            </a:p>
          </p:txBody>
        </p:sp>
        <p:sp>
          <p:nvSpPr>
            <p:cNvPr id="12" name="object 12"/>
            <p:cNvSpPr/>
            <p:nvPr/>
          </p:nvSpPr>
          <p:spPr>
            <a:xfrm>
              <a:off x="6553961" y="3644645"/>
              <a:ext cx="2430780" cy="486409"/>
            </a:xfrm>
            <a:custGeom>
              <a:avLst/>
              <a:gdLst/>
              <a:ahLst/>
              <a:cxnLst/>
              <a:rect l="l" t="t" r="r" b="b"/>
              <a:pathLst>
                <a:path w="2430779" h="486410">
                  <a:moveTo>
                    <a:pt x="0" y="243077"/>
                  </a:moveTo>
                  <a:lnTo>
                    <a:pt x="121539" y="0"/>
                  </a:lnTo>
                  <a:lnTo>
                    <a:pt x="2309241" y="0"/>
                  </a:lnTo>
                  <a:lnTo>
                    <a:pt x="2430780" y="243077"/>
                  </a:lnTo>
                  <a:lnTo>
                    <a:pt x="2309241" y="486155"/>
                  </a:lnTo>
                  <a:lnTo>
                    <a:pt x="121539" y="486155"/>
                  </a:lnTo>
                  <a:lnTo>
                    <a:pt x="0" y="243077"/>
                  </a:lnTo>
                  <a:close/>
                </a:path>
              </a:pathLst>
            </a:custGeom>
            <a:ln w="19812">
              <a:solidFill>
                <a:srgbClr val="00C3FF"/>
              </a:solidFill>
            </a:ln>
          </p:spPr>
          <p:txBody>
            <a:bodyPr wrap="square" lIns="0" tIns="0" rIns="0" bIns="0" rtlCol="0"/>
            <a:lstStyle/>
            <a:p>
              <a:endParaRPr sz="2400"/>
            </a:p>
          </p:txBody>
        </p:sp>
      </p:grpSp>
      <p:sp>
        <p:nvSpPr>
          <p:cNvPr id="13" name="object 13"/>
          <p:cNvSpPr txBox="1"/>
          <p:nvPr/>
        </p:nvSpPr>
        <p:spPr>
          <a:xfrm>
            <a:off x="2875789" y="1854200"/>
            <a:ext cx="8440420" cy="3525816"/>
          </a:xfrm>
          <a:prstGeom prst="rect">
            <a:avLst/>
          </a:prstGeom>
        </p:spPr>
        <p:txBody>
          <a:bodyPr vert="horz" wrap="square" lIns="0" tIns="16933" rIns="0" bIns="0" rtlCol="0">
            <a:spAutoFit/>
          </a:bodyPr>
          <a:lstStyle/>
          <a:p>
            <a:pPr marL="430943" indent="-380990">
              <a:spcBef>
                <a:spcPts val="133"/>
              </a:spcBef>
              <a:buClr>
                <a:srgbClr val="99D3FF"/>
              </a:buClr>
              <a:buFont typeface="Wingdings"/>
              <a:buChar char=""/>
              <a:tabLst>
                <a:tab pos="430943" algn="l"/>
              </a:tabLst>
            </a:pPr>
            <a:r>
              <a:rPr sz="2400" b="1" dirty="0">
                <a:solidFill>
                  <a:srgbClr val="D9D9D9"/>
                </a:solidFill>
                <a:latin typeface="Calibri"/>
                <a:cs typeface="Calibri"/>
              </a:rPr>
              <a:t>How</a:t>
            </a:r>
            <a:r>
              <a:rPr sz="2400" b="1" spc="-47" dirty="0">
                <a:solidFill>
                  <a:srgbClr val="D9D9D9"/>
                </a:solidFill>
                <a:latin typeface="Calibri"/>
                <a:cs typeface="Calibri"/>
              </a:rPr>
              <a:t> </a:t>
            </a:r>
            <a:r>
              <a:rPr sz="2400" b="1" dirty="0">
                <a:solidFill>
                  <a:srgbClr val="D9D9D9"/>
                </a:solidFill>
                <a:latin typeface="Calibri"/>
                <a:cs typeface="Calibri"/>
              </a:rPr>
              <a:t>many</a:t>
            </a:r>
            <a:r>
              <a:rPr sz="2400" b="1" spc="-27" dirty="0">
                <a:solidFill>
                  <a:srgbClr val="D9D9D9"/>
                </a:solidFill>
                <a:latin typeface="Calibri"/>
                <a:cs typeface="Calibri"/>
              </a:rPr>
              <a:t> </a:t>
            </a:r>
            <a:r>
              <a:rPr sz="2400" b="1" dirty="0">
                <a:solidFill>
                  <a:srgbClr val="D9D9D9"/>
                </a:solidFill>
                <a:latin typeface="Calibri"/>
                <a:cs typeface="Calibri"/>
              </a:rPr>
              <a:t>employees</a:t>
            </a:r>
            <a:r>
              <a:rPr sz="2400" b="1" spc="-73" dirty="0">
                <a:solidFill>
                  <a:srgbClr val="D9D9D9"/>
                </a:solidFill>
                <a:latin typeface="Calibri"/>
                <a:cs typeface="Calibri"/>
              </a:rPr>
              <a:t> </a:t>
            </a:r>
            <a:r>
              <a:rPr sz="2400" b="1" dirty="0">
                <a:solidFill>
                  <a:srgbClr val="D9D9D9"/>
                </a:solidFill>
                <a:latin typeface="Calibri"/>
                <a:cs typeface="Calibri"/>
              </a:rPr>
              <a:t>have</a:t>
            </a:r>
            <a:r>
              <a:rPr sz="2400" b="1" spc="-27" dirty="0">
                <a:solidFill>
                  <a:srgbClr val="D9D9D9"/>
                </a:solidFill>
                <a:latin typeface="Calibri"/>
                <a:cs typeface="Calibri"/>
              </a:rPr>
              <a:t> </a:t>
            </a:r>
            <a:r>
              <a:rPr sz="2400" b="1" dirty="0">
                <a:solidFill>
                  <a:srgbClr val="D9D9D9"/>
                </a:solidFill>
                <a:latin typeface="Calibri"/>
                <a:cs typeface="Calibri"/>
              </a:rPr>
              <a:t>been</a:t>
            </a:r>
            <a:r>
              <a:rPr sz="2400" b="1" spc="-27" dirty="0">
                <a:solidFill>
                  <a:srgbClr val="D9D9D9"/>
                </a:solidFill>
                <a:latin typeface="Calibri"/>
                <a:cs typeface="Calibri"/>
              </a:rPr>
              <a:t> </a:t>
            </a:r>
            <a:r>
              <a:rPr sz="2400" b="1" dirty="0">
                <a:solidFill>
                  <a:srgbClr val="D9D9D9"/>
                </a:solidFill>
                <a:latin typeface="Calibri"/>
                <a:cs typeface="Calibri"/>
              </a:rPr>
              <a:t>registered</a:t>
            </a:r>
            <a:r>
              <a:rPr sz="2400" b="1" spc="-67" dirty="0">
                <a:solidFill>
                  <a:srgbClr val="D9D9D9"/>
                </a:solidFill>
                <a:latin typeface="Calibri"/>
                <a:cs typeface="Calibri"/>
              </a:rPr>
              <a:t> </a:t>
            </a:r>
            <a:r>
              <a:rPr sz="2400" b="1" dirty="0">
                <a:solidFill>
                  <a:srgbClr val="D9D9D9"/>
                </a:solidFill>
                <a:latin typeface="Calibri"/>
                <a:cs typeface="Calibri"/>
              </a:rPr>
              <a:t>last</a:t>
            </a:r>
            <a:r>
              <a:rPr sz="2400" b="1" spc="-27" dirty="0">
                <a:solidFill>
                  <a:srgbClr val="D9D9D9"/>
                </a:solidFill>
                <a:latin typeface="Calibri"/>
                <a:cs typeface="Calibri"/>
              </a:rPr>
              <a:t> </a:t>
            </a:r>
            <a:r>
              <a:rPr sz="2400" b="1" spc="-13" dirty="0">
                <a:solidFill>
                  <a:srgbClr val="D9D9D9"/>
                </a:solidFill>
                <a:latin typeface="Calibri"/>
                <a:cs typeface="Calibri"/>
              </a:rPr>
              <a:t>month?</a:t>
            </a:r>
            <a:endParaRPr sz="2400" dirty="0">
              <a:latin typeface="Calibri"/>
              <a:cs typeface="Calibri"/>
            </a:endParaRPr>
          </a:p>
          <a:p>
            <a:pPr>
              <a:spcBef>
                <a:spcPts val="940"/>
              </a:spcBef>
              <a:buClr>
                <a:srgbClr val="99D3FF"/>
              </a:buClr>
              <a:buFont typeface="Wingdings"/>
              <a:buChar char=""/>
            </a:pPr>
            <a:endParaRPr sz="2400" dirty="0">
              <a:latin typeface="Calibri"/>
              <a:cs typeface="Calibri"/>
            </a:endParaRPr>
          </a:p>
          <a:p>
            <a:pPr marL="397923" indent="-380990">
              <a:buClr>
                <a:srgbClr val="99D3FF"/>
              </a:buClr>
              <a:buFont typeface="Wingdings"/>
              <a:buChar char=""/>
              <a:tabLst>
                <a:tab pos="397923" algn="l"/>
              </a:tabLst>
            </a:pPr>
            <a:r>
              <a:rPr sz="2400" b="1" dirty="0">
                <a:solidFill>
                  <a:srgbClr val="D9D9D9"/>
                </a:solidFill>
                <a:latin typeface="Calibri"/>
                <a:cs typeface="Calibri"/>
              </a:rPr>
              <a:t>How</a:t>
            </a:r>
            <a:r>
              <a:rPr sz="2400" b="1" spc="-40" dirty="0">
                <a:solidFill>
                  <a:srgbClr val="D9D9D9"/>
                </a:solidFill>
                <a:latin typeface="Calibri"/>
                <a:cs typeface="Calibri"/>
              </a:rPr>
              <a:t> </a:t>
            </a:r>
            <a:r>
              <a:rPr sz="2400" b="1" dirty="0">
                <a:solidFill>
                  <a:srgbClr val="D9D9D9"/>
                </a:solidFill>
                <a:latin typeface="Calibri"/>
                <a:cs typeface="Calibri"/>
              </a:rPr>
              <a:t>many</a:t>
            </a:r>
            <a:r>
              <a:rPr sz="2400" b="1" spc="-27" dirty="0">
                <a:solidFill>
                  <a:srgbClr val="D9D9D9"/>
                </a:solidFill>
                <a:latin typeface="Calibri"/>
                <a:cs typeface="Calibri"/>
              </a:rPr>
              <a:t> </a:t>
            </a:r>
            <a:r>
              <a:rPr sz="2400" b="1" dirty="0">
                <a:solidFill>
                  <a:srgbClr val="D9D9D9"/>
                </a:solidFill>
                <a:latin typeface="Calibri"/>
                <a:cs typeface="Calibri"/>
              </a:rPr>
              <a:t>employees</a:t>
            </a:r>
            <a:r>
              <a:rPr sz="2400" b="1" spc="-67" dirty="0">
                <a:solidFill>
                  <a:srgbClr val="D9D9D9"/>
                </a:solidFill>
                <a:latin typeface="Calibri"/>
                <a:cs typeface="Calibri"/>
              </a:rPr>
              <a:t> </a:t>
            </a:r>
            <a:r>
              <a:rPr sz="2400" b="1" dirty="0">
                <a:solidFill>
                  <a:srgbClr val="D9D9D9"/>
                </a:solidFill>
                <a:latin typeface="Calibri"/>
                <a:cs typeface="Calibri"/>
              </a:rPr>
              <a:t>have</a:t>
            </a:r>
            <a:r>
              <a:rPr sz="2400" b="1" spc="-27" dirty="0">
                <a:solidFill>
                  <a:srgbClr val="D9D9D9"/>
                </a:solidFill>
                <a:latin typeface="Calibri"/>
                <a:cs typeface="Calibri"/>
              </a:rPr>
              <a:t> </a:t>
            </a:r>
            <a:r>
              <a:rPr sz="2400" b="1" dirty="0">
                <a:solidFill>
                  <a:srgbClr val="D9D9D9"/>
                </a:solidFill>
                <a:latin typeface="Calibri"/>
                <a:cs typeface="Calibri"/>
              </a:rPr>
              <a:t>been</a:t>
            </a:r>
            <a:r>
              <a:rPr sz="2400" b="1" spc="-27" dirty="0">
                <a:solidFill>
                  <a:srgbClr val="D9D9D9"/>
                </a:solidFill>
                <a:latin typeface="Calibri"/>
                <a:cs typeface="Calibri"/>
              </a:rPr>
              <a:t> </a:t>
            </a:r>
            <a:r>
              <a:rPr sz="2400" b="1" dirty="0">
                <a:solidFill>
                  <a:srgbClr val="D9D9D9"/>
                </a:solidFill>
                <a:latin typeface="Calibri"/>
                <a:cs typeface="Calibri"/>
              </a:rPr>
              <a:t>registered</a:t>
            </a:r>
            <a:r>
              <a:rPr sz="2400" b="1" spc="-60" dirty="0">
                <a:solidFill>
                  <a:srgbClr val="D9D9D9"/>
                </a:solidFill>
                <a:latin typeface="Calibri"/>
                <a:cs typeface="Calibri"/>
              </a:rPr>
              <a:t> </a:t>
            </a:r>
            <a:r>
              <a:rPr sz="2400" b="1" dirty="0">
                <a:solidFill>
                  <a:srgbClr val="D9D9D9"/>
                </a:solidFill>
                <a:latin typeface="Calibri"/>
                <a:cs typeface="Calibri"/>
              </a:rPr>
              <a:t>in</a:t>
            </a:r>
            <a:r>
              <a:rPr sz="2400" b="1" spc="-20" dirty="0">
                <a:solidFill>
                  <a:srgbClr val="D9D9D9"/>
                </a:solidFill>
                <a:latin typeface="Calibri"/>
                <a:cs typeface="Calibri"/>
              </a:rPr>
              <a:t> </a:t>
            </a:r>
            <a:r>
              <a:rPr sz="2400" b="1" dirty="0">
                <a:solidFill>
                  <a:srgbClr val="D9D9D9"/>
                </a:solidFill>
                <a:latin typeface="Calibri"/>
                <a:cs typeface="Calibri"/>
              </a:rPr>
              <a:t>a certain</a:t>
            </a:r>
            <a:r>
              <a:rPr sz="2400" b="1" spc="-53" dirty="0">
                <a:solidFill>
                  <a:srgbClr val="D9D9D9"/>
                </a:solidFill>
                <a:latin typeface="Calibri"/>
                <a:cs typeface="Calibri"/>
              </a:rPr>
              <a:t> </a:t>
            </a:r>
            <a:r>
              <a:rPr sz="2400" b="1" spc="-13" dirty="0">
                <a:solidFill>
                  <a:srgbClr val="D9D9D9"/>
                </a:solidFill>
                <a:latin typeface="Calibri"/>
                <a:cs typeface="Calibri"/>
              </a:rPr>
              <a:t>region?</a:t>
            </a:r>
            <a:endParaRPr sz="2400" dirty="0">
              <a:latin typeface="Calibri"/>
              <a:cs typeface="Calibri"/>
            </a:endParaRPr>
          </a:p>
          <a:p>
            <a:pPr>
              <a:spcBef>
                <a:spcPts val="300"/>
              </a:spcBef>
              <a:buClr>
                <a:srgbClr val="99D3FF"/>
              </a:buClr>
              <a:buFont typeface="Wingdings"/>
              <a:buChar char=""/>
            </a:pPr>
            <a:endParaRPr sz="2400" dirty="0">
              <a:latin typeface="Calibri"/>
              <a:cs typeface="Calibri"/>
            </a:endParaRPr>
          </a:p>
          <a:p>
            <a:pPr marL="397923" indent="-380990">
              <a:buClr>
                <a:srgbClr val="99D3FF"/>
              </a:buClr>
              <a:buFont typeface="Wingdings"/>
              <a:buChar char=""/>
              <a:tabLst>
                <a:tab pos="397923" algn="l"/>
              </a:tabLst>
            </a:pPr>
            <a:r>
              <a:rPr sz="2400" b="1" dirty="0">
                <a:solidFill>
                  <a:srgbClr val="D9D9D9"/>
                </a:solidFill>
                <a:latin typeface="Calibri"/>
                <a:cs typeface="Calibri"/>
              </a:rPr>
              <a:t>Example</a:t>
            </a:r>
            <a:r>
              <a:rPr sz="2400" b="1" spc="-40" dirty="0">
                <a:solidFill>
                  <a:srgbClr val="D9D9D9"/>
                </a:solidFill>
                <a:latin typeface="Calibri"/>
                <a:cs typeface="Calibri"/>
              </a:rPr>
              <a:t> </a:t>
            </a:r>
            <a:r>
              <a:rPr sz="2400" b="1" dirty="0">
                <a:solidFill>
                  <a:srgbClr val="D9D9D9"/>
                </a:solidFill>
                <a:latin typeface="Calibri"/>
                <a:cs typeface="Calibri"/>
              </a:rPr>
              <a:t>new</a:t>
            </a:r>
            <a:r>
              <a:rPr sz="2400" b="1" spc="-40" dirty="0">
                <a:solidFill>
                  <a:srgbClr val="D9D9D9"/>
                </a:solidFill>
                <a:latin typeface="Calibri"/>
                <a:cs typeface="Calibri"/>
              </a:rPr>
              <a:t> </a:t>
            </a:r>
            <a:r>
              <a:rPr sz="2400" b="1" dirty="0">
                <a:solidFill>
                  <a:srgbClr val="D9D9D9"/>
                </a:solidFill>
                <a:latin typeface="Calibri"/>
                <a:cs typeface="Calibri"/>
              </a:rPr>
              <a:t>employee</a:t>
            </a:r>
            <a:r>
              <a:rPr sz="2400" b="1" spc="-20" dirty="0">
                <a:solidFill>
                  <a:srgbClr val="D9D9D9"/>
                </a:solidFill>
                <a:latin typeface="Calibri"/>
                <a:cs typeface="Calibri"/>
              </a:rPr>
              <a:t> </a:t>
            </a:r>
            <a:r>
              <a:rPr sz="2400" b="1" dirty="0">
                <a:solidFill>
                  <a:srgbClr val="D9D9D9"/>
                </a:solidFill>
                <a:latin typeface="Calibri"/>
                <a:cs typeface="Calibri"/>
              </a:rPr>
              <a:t>is</a:t>
            </a:r>
            <a:r>
              <a:rPr sz="2400" b="1" spc="-20" dirty="0">
                <a:solidFill>
                  <a:srgbClr val="D9D9D9"/>
                </a:solidFill>
                <a:latin typeface="Calibri"/>
                <a:cs typeface="Calibri"/>
              </a:rPr>
              <a:t> </a:t>
            </a:r>
            <a:r>
              <a:rPr sz="2400" b="1" spc="-13" dirty="0">
                <a:solidFill>
                  <a:srgbClr val="D9D9D9"/>
                </a:solidFill>
                <a:latin typeface="Calibri"/>
                <a:cs typeface="Calibri"/>
              </a:rPr>
              <a:t>registered</a:t>
            </a:r>
            <a:endParaRPr sz="2400" dirty="0">
              <a:latin typeface="Calibri"/>
              <a:cs typeface="Calibri"/>
            </a:endParaRPr>
          </a:p>
          <a:p>
            <a:pPr>
              <a:spcBef>
                <a:spcPts val="545"/>
              </a:spcBef>
            </a:pPr>
            <a:endParaRPr sz="2400" dirty="0">
              <a:latin typeface="Calibri"/>
              <a:cs typeface="Calibri"/>
            </a:endParaRPr>
          </a:p>
          <a:p>
            <a:pPr marL="6840896"/>
            <a:r>
              <a:rPr sz="2667" b="1" spc="-13" dirty="0">
                <a:solidFill>
                  <a:srgbClr val="CCEAFF"/>
                </a:solidFill>
                <a:latin typeface="Calibri"/>
                <a:cs typeface="Calibri"/>
              </a:rPr>
              <a:t>Events</a:t>
            </a:r>
            <a:endParaRPr sz="2667" dirty="0">
              <a:latin typeface="Calibri"/>
              <a:cs typeface="Calibri"/>
            </a:endParaRPr>
          </a:p>
          <a:p>
            <a:pPr marL="6729985">
              <a:spcBef>
                <a:spcPts val="2333"/>
              </a:spcBef>
            </a:pPr>
            <a:r>
              <a:rPr sz="2400" b="1" dirty="0">
                <a:solidFill>
                  <a:srgbClr val="00607E"/>
                </a:solidFill>
                <a:latin typeface="Trebuchet MS"/>
                <a:cs typeface="Trebuchet MS"/>
              </a:rPr>
              <a:t>No</a:t>
            </a:r>
            <a:r>
              <a:rPr sz="2400" b="1" spc="-20" dirty="0">
                <a:solidFill>
                  <a:srgbClr val="00607E"/>
                </a:solidFill>
                <a:latin typeface="Trebuchet MS"/>
                <a:cs typeface="Trebuchet MS"/>
              </a:rPr>
              <a:t> </a:t>
            </a:r>
            <a:r>
              <a:rPr sz="2400" b="1" spc="-13" dirty="0">
                <a:solidFill>
                  <a:srgbClr val="00607E"/>
                </a:solidFill>
                <a:latin typeface="Trebuchet MS"/>
                <a:cs typeface="Trebuchet MS"/>
              </a:rPr>
              <a:t>metrics</a:t>
            </a:r>
            <a:endParaRPr sz="2400" dirty="0">
              <a:latin typeface="Trebuchet MS"/>
              <a:cs typeface="Trebuchet MS"/>
            </a:endParaRP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74485" y="433436"/>
            <a:ext cx="7643030" cy="695062"/>
          </a:xfrm>
          <a:prstGeom prst="rect">
            <a:avLst/>
          </a:prstGeom>
        </p:spPr>
        <p:txBody>
          <a:bodyPr vert="horz" wrap="square" lIns="0" tIns="17780" rIns="0" bIns="0" rtlCol="0" anchor="ctr">
            <a:spAutoFit/>
          </a:bodyPr>
          <a:lstStyle/>
          <a:p>
            <a:pPr marL="1732237">
              <a:lnSpc>
                <a:spcPct val="100000"/>
              </a:lnSpc>
              <a:spcBef>
                <a:spcPts val="140"/>
              </a:spcBef>
            </a:pPr>
            <a:r>
              <a:rPr dirty="0">
                <a:solidFill>
                  <a:schemeClr val="bg1"/>
                </a:solidFill>
                <a:latin typeface="+mn-lt"/>
              </a:rPr>
              <a:t>Factless</a:t>
            </a:r>
            <a:r>
              <a:rPr spc="-47" dirty="0">
                <a:solidFill>
                  <a:schemeClr val="bg1"/>
                </a:solidFill>
                <a:latin typeface="+mn-lt"/>
              </a:rPr>
              <a:t> </a:t>
            </a:r>
            <a:r>
              <a:rPr dirty="0">
                <a:solidFill>
                  <a:schemeClr val="bg1"/>
                </a:solidFill>
                <a:latin typeface="+mn-lt"/>
              </a:rPr>
              <a:t>fact</a:t>
            </a:r>
            <a:r>
              <a:rPr spc="-20" dirty="0">
                <a:solidFill>
                  <a:schemeClr val="bg1"/>
                </a:solidFill>
                <a:latin typeface="+mn-lt"/>
              </a:rPr>
              <a:t> </a:t>
            </a:r>
            <a:r>
              <a:rPr spc="-13" dirty="0">
                <a:solidFill>
                  <a:schemeClr val="bg1"/>
                </a:solidFill>
                <a:latin typeface="+mn-lt"/>
              </a:rPr>
              <a:t>table</a:t>
            </a:r>
          </a:p>
        </p:txBody>
      </p:sp>
      <p:graphicFrame>
        <p:nvGraphicFramePr>
          <p:cNvPr id="3" name="object 3"/>
          <p:cNvGraphicFramePr>
            <a:graphicFrameLocks noGrp="1"/>
          </p:cNvGraphicFramePr>
          <p:nvPr>
            <p:extLst>
              <p:ext uri="{D42A27DB-BD31-4B8C-83A1-F6EECF244321}">
                <p14:modId xmlns:p14="http://schemas.microsoft.com/office/powerpoint/2010/main" val="3569711249"/>
              </p:ext>
            </p:extLst>
          </p:nvPr>
        </p:nvGraphicFramePr>
        <p:xfrm>
          <a:off x="1412193" y="2496398"/>
          <a:ext cx="5850465" cy="1865204"/>
        </p:xfrm>
        <a:graphic>
          <a:graphicData uri="http://schemas.openxmlformats.org/drawingml/2006/table">
            <a:tbl>
              <a:tblPr firstRow="1" bandRow="1">
                <a:tableStyleId>{2D5ABB26-0587-4C30-8999-92F81FD0307C}</a:tableStyleId>
              </a:tblPr>
              <a:tblGrid>
                <a:gridCol w="965099">
                  <a:extLst>
                    <a:ext uri="{9D8B030D-6E8A-4147-A177-3AD203B41FA5}">
                      <a16:colId xmlns:a16="http://schemas.microsoft.com/office/drawing/2014/main" val="20000"/>
                    </a:ext>
                  </a:extLst>
                </a:gridCol>
                <a:gridCol w="1072332">
                  <a:extLst>
                    <a:ext uri="{9D8B030D-6E8A-4147-A177-3AD203B41FA5}">
                      <a16:colId xmlns:a16="http://schemas.microsoft.com/office/drawing/2014/main" val="20001"/>
                    </a:ext>
                  </a:extLst>
                </a:gridCol>
                <a:gridCol w="1103608">
                  <a:extLst>
                    <a:ext uri="{9D8B030D-6E8A-4147-A177-3AD203B41FA5}">
                      <a16:colId xmlns:a16="http://schemas.microsoft.com/office/drawing/2014/main" val="20002"/>
                    </a:ext>
                  </a:extLst>
                </a:gridCol>
                <a:gridCol w="1247480">
                  <a:extLst>
                    <a:ext uri="{9D8B030D-6E8A-4147-A177-3AD203B41FA5}">
                      <a16:colId xmlns:a16="http://schemas.microsoft.com/office/drawing/2014/main" val="20003"/>
                    </a:ext>
                  </a:extLst>
                </a:gridCol>
                <a:gridCol w="1461946">
                  <a:extLst>
                    <a:ext uri="{9D8B030D-6E8A-4147-A177-3AD203B41FA5}">
                      <a16:colId xmlns:a16="http://schemas.microsoft.com/office/drawing/2014/main" val="20004"/>
                    </a:ext>
                  </a:extLst>
                </a:gridCol>
              </a:tblGrid>
              <a:tr h="479254">
                <a:tc>
                  <a:txBody>
                    <a:bodyPr/>
                    <a:lstStyle/>
                    <a:p>
                      <a:pPr>
                        <a:lnSpc>
                          <a:spcPct val="100000"/>
                        </a:lnSpc>
                        <a:spcBef>
                          <a:spcPts val="114"/>
                        </a:spcBef>
                      </a:pPr>
                      <a:endParaRPr sz="1400" dirty="0">
                        <a:solidFill>
                          <a:schemeClr val="bg1"/>
                        </a:solidFill>
                        <a:latin typeface="Times New Roman"/>
                        <a:cs typeface="Times New Roman"/>
                      </a:endParaRPr>
                    </a:p>
                    <a:p>
                      <a:pPr algn="ctr">
                        <a:lnSpc>
                          <a:spcPts val="1170"/>
                        </a:lnSpc>
                      </a:pPr>
                      <a:r>
                        <a:rPr sz="1400" b="1" spc="-10" dirty="0">
                          <a:solidFill>
                            <a:schemeClr val="bg1"/>
                          </a:solidFill>
                          <a:latin typeface="Arial"/>
                          <a:cs typeface="Arial"/>
                        </a:rPr>
                        <a:t>promo_id</a:t>
                      </a:r>
                      <a:endParaRPr sz="1400" dirty="0">
                        <a:solidFill>
                          <a:schemeClr val="bg1"/>
                        </a:solidFill>
                        <a:latin typeface="Arial"/>
                        <a:cs typeface="Arial"/>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168275">
                        <a:lnSpc>
                          <a:spcPct val="100000"/>
                        </a:lnSpc>
                        <a:spcBef>
                          <a:spcPts val="60"/>
                        </a:spcBef>
                      </a:pPr>
                      <a:r>
                        <a:rPr sz="1400" b="1" spc="-10" dirty="0">
                          <a:solidFill>
                            <a:schemeClr val="bg1"/>
                          </a:solidFill>
                          <a:latin typeface="Arial"/>
                          <a:cs typeface="Arial"/>
                        </a:rPr>
                        <a:t>Promo</a:t>
                      </a:r>
                      <a:endParaRPr sz="1400">
                        <a:solidFill>
                          <a:schemeClr val="bg1"/>
                        </a:solidFill>
                        <a:latin typeface="Arial"/>
                        <a:cs typeface="Arial"/>
                      </a:endParaRPr>
                    </a:p>
                    <a:p>
                      <a:pPr marL="146685">
                        <a:lnSpc>
                          <a:spcPts val="1170"/>
                        </a:lnSpc>
                      </a:pPr>
                      <a:r>
                        <a:rPr sz="1400" b="1" spc="-10" dirty="0">
                          <a:solidFill>
                            <a:schemeClr val="bg1"/>
                          </a:solidFill>
                          <a:latin typeface="Arial"/>
                          <a:cs typeface="Arial"/>
                        </a:rPr>
                        <a:t>date_id</a:t>
                      </a:r>
                      <a:endParaRPr sz="140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a:lnSpc>
                          <a:spcPct val="100000"/>
                        </a:lnSpc>
                        <a:spcBef>
                          <a:spcPts val="114"/>
                        </a:spcBef>
                      </a:pPr>
                      <a:endParaRPr sz="1400" dirty="0">
                        <a:solidFill>
                          <a:schemeClr val="bg1"/>
                        </a:solidFill>
                        <a:latin typeface="Times New Roman"/>
                        <a:cs typeface="Times New Roman"/>
                      </a:endParaRPr>
                    </a:p>
                    <a:p>
                      <a:pPr algn="ctr">
                        <a:lnSpc>
                          <a:spcPts val="1170"/>
                        </a:lnSpc>
                      </a:pPr>
                      <a:r>
                        <a:rPr sz="1400" b="1" spc="-10" dirty="0">
                          <a:solidFill>
                            <a:schemeClr val="bg1"/>
                          </a:solidFill>
                          <a:latin typeface="Arial"/>
                          <a:cs typeface="Arial"/>
                        </a:rPr>
                        <a:t>prod_id</a:t>
                      </a:r>
                      <a:endParaRPr sz="1400" dirty="0">
                        <a:solidFill>
                          <a:schemeClr val="bg1"/>
                        </a:solidFill>
                        <a:latin typeface="Arial"/>
                        <a:cs typeface="Arial"/>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a:lnSpc>
                          <a:spcPct val="100000"/>
                        </a:lnSpc>
                        <a:spcBef>
                          <a:spcPts val="114"/>
                        </a:spcBef>
                      </a:pPr>
                      <a:endParaRPr sz="1400" dirty="0">
                        <a:solidFill>
                          <a:schemeClr val="bg1"/>
                        </a:solidFill>
                        <a:latin typeface="Times New Roman"/>
                        <a:cs typeface="Times New Roman"/>
                      </a:endParaRPr>
                    </a:p>
                    <a:p>
                      <a:pPr marL="2540" algn="ctr">
                        <a:lnSpc>
                          <a:spcPts val="1170"/>
                        </a:lnSpc>
                      </a:pPr>
                      <a:r>
                        <a:rPr sz="1400" b="1" spc="-10" dirty="0">
                          <a:solidFill>
                            <a:schemeClr val="bg1"/>
                          </a:solidFill>
                          <a:latin typeface="Arial"/>
                          <a:cs typeface="Arial"/>
                        </a:rPr>
                        <a:t>channel_id</a:t>
                      </a:r>
                      <a:endParaRPr sz="1400" dirty="0">
                        <a:solidFill>
                          <a:schemeClr val="bg1"/>
                        </a:solidFill>
                        <a:latin typeface="Arial"/>
                        <a:cs typeface="Arial"/>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a:lnSpc>
                          <a:spcPct val="100000"/>
                        </a:lnSpc>
                        <a:spcBef>
                          <a:spcPts val="114"/>
                        </a:spcBef>
                      </a:pPr>
                      <a:endParaRPr sz="1400" dirty="0">
                        <a:solidFill>
                          <a:schemeClr val="bg1"/>
                        </a:solidFill>
                        <a:latin typeface="Times New Roman"/>
                        <a:cs typeface="Times New Roman"/>
                      </a:endParaRPr>
                    </a:p>
                    <a:p>
                      <a:pPr marL="3175" algn="ctr">
                        <a:lnSpc>
                          <a:spcPts val="1170"/>
                        </a:lnSpc>
                      </a:pPr>
                      <a:r>
                        <a:rPr sz="1400" b="1" spc="-10" dirty="0">
                          <a:solidFill>
                            <a:schemeClr val="bg1"/>
                          </a:solidFill>
                          <a:latin typeface="Arial"/>
                          <a:cs typeface="Arial"/>
                        </a:rPr>
                        <a:t>campaign_id</a:t>
                      </a:r>
                      <a:endParaRPr sz="1400" dirty="0">
                        <a:solidFill>
                          <a:schemeClr val="bg1"/>
                        </a:solidFill>
                        <a:latin typeface="Arial"/>
                        <a:cs typeface="Arial"/>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extLst>
                  <a:ext uri="{0D108BD9-81ED-4DB2-BD59-A6C34878D82A}">
                    <a16:rowId xmlns:a16="http://schemas.microsoft.com/office/drawing/2014/main" val="10000"/>
                  </a:ext>
                </a:extLst>
              </a:tr>
              <a:tr h="277560">
                <a:tc>
                  <a:txBody>
                    <a:bodyPr/>
                    <a:lstStyle/>
                    <a:p>
                      <a:pPr algn="ctr">
                        <a:lnSpc>
                          <a:spcPts val="1170"/>
                        </a:lnSpc>
                        <a:spcBef>
                          <a:spcPts val="229"/>
                        </a:spcBef>
                      </a:pPr>
                      <a:r>
                        <a:rPr sz="1400" spc="-50" dirty="0">
                          <a:latin typeface="Arial MT"/>
                          <a:cs typeface="Arial MT"/>
                        </a:rPr>
                        <a:t>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10" dirty="0">
                          <a:latin typeface="Arial MT"/>
                          <a:cs typeface="Arial MT"/>
                        </a:rPr>
                        <a:t>20220102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50" dirty="0">
                          <a:latin typeface="Arial MT"/>
                          <a:cs typeface="Arial MT"/>
                        </a:rPr>
                        <a:t>5</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ts val="1170"/>
                        </a:lnSpc>
                        <a:spcBef>
                          <a:spcPts val="229"/>
                        </a:spcBef>
                      </a:pPr>
                      <a:r>
                        <a:rPr sz="1400" spc="-50" dirty="0">
                          <a:latin typeface="Arial MT"/>
                          <a:cs typeface="Arial MT"/>
                        </a:rPr>
                        <a:t>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ts val="1170"/>
                        </a:lnSpc>
                        <a:spcBef>
                          <a:spcPts val="229"/>
                        </a:spcBef>
                      </a:pPr>
                      <a:r>
                        <a:rPr sz="1400" spc="-50" dirty="0">
                          <a:latin typeface="Arial MT"/>
                          <a:cs typeface="Arial MT"/>
                        </a:rPr>
                        <a:t>3</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77560">
                <a:tc>
                  <a:txBody>
                    <a:bodyPr/>
                    <a:lstStyle/>
                    <a:p>
                      <a:pPr algn="ctr">
                        <a:lnSpc>
                          <a:spcPts val="1170"/>
                        </a:lnSpc>
                        <a:spcBef>
                          <a:spcPts val="229"/>
                        </a:spcBef>
                      </a:pPr>
                      <a:r>
                        <a:rPr sz="1400" spc="-50" dirty="0">
                          <a:latin typeface="Arial MT"/>
                          <a:cs typeface="Arial MT"/>
                        </a:rPr>
                        <a:t>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10" dirty="0">
                          <a:latin typeface="Arial MT"/>
                          <a:cs typeface="Arial MT"/>
                        </a:rPr>
                        <a:t>20220103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ts val="117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ts val="1170"/>
                        </a:lnSpc>
                        <a:spcBef>
                          <a:spcPts val="229"/>
                        </a:spcBef>
                      </a:pPr>
                      <a:r>
                        <a:rPr sz="1400" spc="-50" dirty="0">
                          <a:latin typeface="Arial MT"/>
                          <a:cs typeface="Arial MT"/>
                        </a:rPr>
                        <a:t>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76635">
                <a:tc>
                  <a:txBody>
                    <a:bodyPr/>
                    <a:lstStyle/>
                    <a:p>
                      <a:pPr algn="ctr">
                        <a:lnSpc>
                          <a:spcPts val="117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10" dirty="0">
                          <a:latin typeface="Arial MT"/>
                          <a:cs typeface="Arial MT"/>
                        </a:rPr>
                        <a:t>20220103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50" dirty="0">
                          <a:latin typeface="Arial MT"/>
                          <a:cs typeface="Arial MT"/>
                        </a:rPr>
                        <a:t>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ts val="1170"/>
                        </a:lnSpc>
                        <a:spcBef>
                          <a:spcPts val="229"/>
                        </a:spcBef>
                      </a:pPr>
                      <a:r>
                        <a:rPr sz="1400" spc="-50" dirty="0">
                          <a:latin typeface="Arial MT"/>
                          <a:cs typeface="Arial MT"/>
                        </a:rPr>
                        <a:t>6</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ts val="117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77560">
                <a:tc>
                  <a:txBody>
                    <a:bodyPr/>
                    <a:lstStyle/>
                    <a:p>
                      <a:pPr algn="ctr">
                        <a:lnSpc>
                          <a:spcPts val="1170"/>
                        </a:lnSpc>
                        <a:spcBef>
                          <a:spcPts val="229"/>
                        </a:spcBef>
                      </a:pPr>
                      <a:r>
                        <a:rPr sz="1400" spc="-50" dirty="0">
                          <a:latin typeface="Arial MT"/>
                          <a:cs typeface="Arial MT"/>
                        </a:rPr>
                        <a:t>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10" dirty="0">
                          <a:latin typeface="Arial MT"/>
                          <a:cs typeface="Arial MT"/>
                        </a:rPr>
                        <a:t>20220104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50" dirty="0">
                          <a:latin typeface="Arial MT"/>
                          <a:cs typeface="Arial MT"/>
                        </a:rPr>
                        <a:t>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ts val="1170"/>
                        </a:lnSpc>
                        <a:spcBef>
                          <a:spcPts val="229"/>
                        </a:spcBef>
                      </a:pPr>
                      <a:r>
                        <a:rPr sz="1400" spc="-50" dirty="0">
                          <a:latin typeface="Arial MT"/>
                          <a:cs typeface="Arial MT"/>
                        </a:rPr>
                        <a:t>8</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ts val="1170"/>
                        </a:lnSpc>
                        <a:spcBef>
                          <a:spcPts val="229"/>
                        </a:spcBef>
                      </a:pPr>
                      <a:r>
                        <a:rPr sz="1400" spc="-50" dirty="0">
                          <a:latin typeface="Arial MT"/>
                          <a:cs typeface="Arial MT"/>
                        </a:rPr>
                        <a:t>6</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76635">
                <a:tc>
                  <a:txBody>
                    <a:bodyPr/>
                    <a:lstStyle/>
                    <a:p>
                      <a:pPr algn="ctr">
                        <a:lnSpc>
                          <a:spcPts val="1170"/>
                        </a:lnSpc>
                        <a:spcBef>
                          <a:spcPts val="229"/>
                        </a:spcBef>
                      </a:pPr>
                      <a:r>
                        <a:rPr sz="1400" spc="-50" dirty="0">
                          <a:latin typeface="Arial MT"/>
                          <a:cs typeface="Arial MT"/>
                        </a:rPr>
                        <a:t>5</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9"/>
                        </a:spcBef>
                      </a:pPr>
                      <a:r>
                        <a:rPr sz="1400" spc="-10" dirty="0">
                          <a:latin typeface="Arial MT"/>
                          <a:cs typeface="Arial MT"/>
                        </a:rPr>
                        <a:t>20220104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ts val="1170"/>
                        </a:lnSpc>
                        <a:spcBef>
                          <a:spcPts val="229"/>
                        </a:spcBef>
                      </a:pPr>
                      <a:r>
                        <a:rPr sz="1400" spc="-50" dirty="0">
                          <a:latin typeface="Arial MT"/>
                          <a:cs typeface="Arial MT"/>
                        </a:rPr>
                        <a:t>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ts val="1170"/>
                        </a:lnSpc>
                        <a:spcBef>
                          <a:spcPts val="229"/>
                        </a:spcBef>
                      </a:pPr>
                      <a:r>
                        <a:rPr sz="1400" spc="-50" dirty="0">
                          <a:latin typeface="Arial MT"/>
                          <a:cs typeface="Arial MT"/>
                        </a:rPr>
                        <a:t>8</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sp>
        <p:nvSpPr>
          <p:cNvPr id="4" name="object 4"/>
          <p:cNvSpPr txBox="1"/>
          <p:nvPr/>
        </p:nvSpPr>
        <p:spPr>
          <a:xfrm>
            <a:off x="2630503" y="4337894"/>
            <a:ext cx="3210560" cy="540319"/>
          </a:xfrm>
          <a:prstGeom prst="rect">
            <a:avLst/>
          </a:prstGeom>
          <a:noFill/>
        </p:spPr>
        <p:txBody>
          <a:bodyPr vert="horz" wrap="square" lIns="0" tIns="169333" rIns="0" bIns="0" rtlCol="0">
            <a:spAutoFit/>
          </a:bodyPr>
          <a:lstStyle/>
          <a:p>
            <a:pPr marL="209968">
              <a:spcBef>
                <a:spcPts val="1333"/>
              </a:spcBef>
            </a:pPr>
            <a:r>
              <a:rPr sz="2400" b="1" dirty="0">
                <a:solidFill>
                  <a:srgbClr val="D9D9D9"/>
                </a:solidFill>
                <a:latin typeface="Calibri"/>
                <a:cs typeface="Calibri"/>
              </a:rPr>
              <a:t>Employee</a:t>
            </a:r>
            <a:r>
              <a:rPr sz="2400" b="1" spc="-27" dirty="0">
                <a:solidFill>
                  <a:srgbClr val="D9D9D9"/>
                </a:solidFill>
                <a:latin typeface="Calibri"/>
                <a:cs typeface="Calibri"/>
              </a:rPr>
              <a:t> </a:t>
            </a:r>
            <a:r>
              <a:rPr sz="2400" b="1" spc="-13" dirty="0">
                <a:solidFill>
                  <a:srgbClr val="D9D9D9"/>
                </a:solidFill>
                <a:latin typeface="Calibri"/>
                <a:cs typeface="Calibri"/>
              </a:rPr>
              <a:t>registration</a:t>
            </a:r>
            <a:endParaRPr sz="2400" dirty="0">
              <a:latin typeface="Calibri"/>
              <a:cs typeface="Calibri"/>
            </a:endParaRPr>
          </a:p>
        </p:txBody>
      </p:sp>
      <p:grpSp>
        <p:nvGrpSpPr>
          <p:cNvPr id="5" name="object 5"/>
          <p:cNvGrpSpPr/>
          <p:nvPr/>
        </p:nvGrpSpPr>
        <p:grpSpPr>
          <a:xfrm>
            <a:off x="7570083" y="2395729"/>
            <a:ext cx="4124960" cy="2201993"/>
            <a:chOff x="6050279" y="2956560"/>
            <a:chExt cx="3093720" cy="1651495"/>
          </a:xfrm>
        </p:grpSpPr>
        <p:pic>
          <p:nvPicPr>
            <p:cNvPr id="6" name="object 6"/>
            <p:cNvPicPr/>
            <p:nvPr/>
          </p:nvPicPr>
          <p:blipFill>
            <a:blip r:embed="rId2" cstate="print"/>
            <a:stretch>
              <a:fillRect/>
            </a:stretch>
          </p:blipFill>
          <p:spPr>
            <a:xfrm>
              <a:off x="6050279" y="2956560"/>
              <a:ext cx="3093720" cy="1212367"/>
            </a:xfrm>
            <a:prstGeom prst="rect">
              <a:avLst/>
            </a:prstGeom>
          </p:spPr>
        </p:pic>
        <p:sp>
          <p:nvSpPr>
            <p:cNvPr id="8" name="object 8"/>
            <p:cNvSpPr/>
            <p:nvPr/>
          </p:nvSpPr>
          <p:spPr>
            <a:xfrm>
              <a:off x="6377177" y="3111246"/>
              <a:ext cx="2514600" cy="581025"/>
            </a:xfrm>
            <a:custGeom>
              <a:avLst/>
              <a:gdLst/>
              <a:ahLst/>
              <a:cxnLst/>
              <a:rect l="l" t="t" r="r" b="b"/>
              <a:pathLst>
                <a:path w="2514600" h="581025">
                  <a:moveTo>
                    <a:pt x="0" y="290322"/>
                  </a:moveTo>
                  <a:lnTo>
                    <a:pt x="145161" y="0"/>
                  </a:lnTo>
                  <a:lnTo>
                    <a:pt x="2369439" y="0"/>
                  </a:lnTo>
                  <a:lnTo>
                    <a:pt x="2514600" y="290322"/>
                  </a:lnTo>
                  <a:lnTo>
                    <a:pt x="2369439" y="580644"/>
                  </a:lnTo>
                  <a:lnTo>
                    <a:pt x="145161" y="580644"/>
                  </a:lnTo>
                  <a:lnTo>
                    <a:pt x="0" y="290322"/>
                  </a:lnTo>
                  <a:close/>
                </a:path>
              </a:pathLst>
            </a:custGeom>
            <a:ln w="19811">
              <a:solidFill>
                <a:srgbClr val="00C3FF"/>
              </a:solidFill>
            </a:ln>
          </p:spPr>
          <p:txBody>
            <a:bodyPr wrap="square" lIns="0" tIns="0" rIns="0" bIns="0" rtlCol="0"/>
            <a:lstStyle/>
            <a:p>
              <a:endParaRPr sz="2400"/>
            </a:p>
          </p:txBody>
        </p:sp>
        <p:pic>
          <p:nvPicPr>
            <p:cNvPr id="9" name="object 9"/>
            <p:cNvPicPr/>
            <p:nvPr/>
          </p:nvPicPr>
          <p:blipFill>
            <a:blip r:embed="rId3" cstate="print"/>
            <a:stretch>
              <a:fillRect/>
            </a:stretch>
          </p:blipFill>
          <p:spPr>
            <a:xfrm>
              <a:off x="6227063" y="3489960"/>
              <a:ext cx="2916936" cy="1118095"/>
            </a:xfrm>
            <a:prstGeom prst="rect">
              <a:avLst/>
            </a:prstGeom>
          </p:spPr>
        </p:pic>
        <p:sp>
          <p:nvSpPr>
            <p:cNvPr id="10" name="object 10"/>
            <p:cNvSpPr/>
            <p:nvPr/>
          </p:nvSpPr>
          <p:spPr>
            <a:xfrm>
              <a:off x="6553961" y="3644646"/>
              <a:ext cx="2430780" cy="486409"/>
            </a:xfrm>
            <a:custGeom>
              <a:avLst/>
              <a:gdLst/>
              <a:ahLst/>
              <a:cxnLst/>
              <a:rect l="l" t="t" r="r" b="b"/>
              <a:pathLst>
                <a:path w="2430779" h="486410">
                  <a:moveTo>
                    <a:pt x="2309241" y="0"/>
                  </a:moveTo>
                  <a:lnTo>
                    <a:pt x="121539" y="0"/>
                  </a:lnTo>
                  <a:lnTo>
                    <a:pt x="0" y="243077"/>
                  </a:lnTo>
                  <a:lnTo>
                    <a:pt x="121539" y="486155"/>
                  </a:lnTo>
                  <a:lnTo>
                    <a:pt x="2309241" y="486155"/>
                  </a:lnTo>
                  <a:lnTo>
                    <a:pt x="2430780" y="243077"/>
                  </a:lnTo>
                  <a:lnTo>
                    <a:pt x="2309241" y="0"/>
                  </a:lnTo>
                  <a:close/>
                </a:path>
              </a:pathLst>
            </a:custGeom>
            <a:solidFill>
              <a:srgbClr val="B3B3B3"/>
            </a:solidFill>
          </p:spPr>
          <p:txBody>
            <a:bodyPr wrap="square" lIns="0" tIns="0" rIns="0" bIns="0" rtlCol="0"/>
            <a:lstStyle/>
            <a:p>
              <a:endParaRPr sz="2400"/>
            </a:p>
          </p:txBody>
        </p:sp>
        <p:sp>
          <p:nvSpPr>
            <p:cNvPr id="11" name="object 11"/>
            <p:cNvSpPr/>
            <p:nvPr/>
          </p:nvSpPr>
          <p:spPr>
            <a:xfrm>
              <a:off x="6553961" y="3644646"/>
              <a:ext cx="2430780" cy="486409"/>
            </a:xfrm>
            <a:custGeom>
              <a:avLst/>
              <a:gdLst/>
              <a:ahLst/>
              <a:cxnLst/>
              <a:rect l="l" t="t" r="r" b="b"/>
              <a:pathLst>
                <a:path w="2430779" h="486410">
                  <a:moveTo>
                    <a:pt x="0" y="243077"/>
                  </a:moveTo>
                  <a:lnTo>
                    <a:pt x="121539" y="0"/>
                  </a:lnTo>
                  <a:lnTo>
                    <a:pt x="2309241" y="0"/>
                  </a:lnTo>
                  <a:lnTo>
                    <a:pt x="2430780" y="243077"/>
                  </a:lnTo>
                  <a:lnTo>
                    <a:pt x="2309241" y="486155"/>
                  </a:lnTo>
                  <a:lnTo>
                    <a:pt x="121539" y="486155"/>
                  </a:lnTo>
                  <a:lnTo>
                    <a:pt x="0" y="243077"/>
                  </a:lnTo>
                  <a:close/>
                </a:path>
              </a:pathLst>
            </a:custGeom>
            <a:ln w="19812">
              <a:solidFill>
                <a:srgbClr val="00C3FF"/>
              </a:solidFill>
            </a:ln>
          </p:spPr>
          <p:txBody>
            <a:bodyPr wrap="square" lIns="0" tIns="0" rIns="0" bIns="0" rtlCol="0"/>
            <a:lstStyle/>
            <a:p>
              <a:endParaRPr sz="2400"/>
            </a:p>
          </p:txBody>
        </p:sp>
      </p:grpSp>
      <p:sp>
        <p:nvSpPr>
          <p:cNvPr id="12" name="object 12"/>
          <p:cNvSpPr txBox="1"/>
          <p:nvPr/>
        </p:nvSpPr>
        <p:spPr>
          <a:xfrm>
            <a:off x="9092221" y="2747773"/>
            <a:ext cx="1565487" cy="1091816"/>
          </a:xfrm>
          <a:prstGeom prst="rect">
            <a:avLst/>
          </a:prstGeom>
        </p:spPr>
        <p:txBody>
          <a:bodyPr vert="horz" wrap="square" lIns="0" tIns="16933" rIns="0" bIns="0" rtlCol="0">
            <a:spAutoFit/>
          </a:bodyPr>
          <a:lstStyle/>
          <a:p>
            <a:pPr marL="127843">
              <a:spcBef>
                <a:spcPts val="133"/>
              </a:spcBef>
            </a:pPr>
            <a:r>
              <a:rPr sz="2667" b="1" spc="-13" dirty="0">
                <a:solidFill>
                  <a:srgbClr val="CCEAFF"/>
                </a:solidFill>
                <a:latin typeface="Calibri"/>
                <a:cs typeface="Calibri"/>
              </a:rPr>
              <a:t>Events</a:t>
            </a:r>
            <a:endParaRPr sz="2667">
              <a:latin typeface="Calibri"/>
              <a:cs typeface="Calibri"/>
            </a:endParaRPr>
          </a:p>
          <a:p>
            <a:pPr marL="16933">
              <a:spcBef>
                <a:spcPts val="2340"/>
              </a:spcBef>
            </a:pPr>
            <a:r>
              <a:rPr sz="2400" b="1" dirty="0">
                <a:solidFill>
                  <a:srgbClr val="00607E"/>
                </a:solidFill>
                <a:latin typeface="Trebuchet MS"/>
                <a:cs typeface="Trebuchet MS"/>
              </a:rPr>
              <a:t>No</a:t>
            </a:r>
            <a:r>
              <a:rPr sz="2400" b="1" spc="-20" dirty="0">
                <a:solidFill>
                  <a:srgbClr val="00607E"/>
                </a:solidFill>
                <a:latin typeface="Trebuchet MS"/>
                <a:cs typeface="Trebuchet MS"/>
              </a:rPr>
              <a:t> </a:t>
            </a:r>
            <a:r>
              <a:rPr sz="2400" b="1" spc="-13" dirty="0">
                <a:solidFill>
                  <a:srgbClr val="00607E"/>
                </a:solidFill>
                <a:latin typeface="Trebuchet MS"/>
                <a:cs typeface="Trebuchet MS"/>
              </a:rPr>
              <a:t>metrics</a:t>
            </a:r>
            <a:endParaRPr sz="2400">
              <a:latin typeface="Trebuchet MS"/>
              <a:cs typeface="Trebuchet MS"/>
            </a:endParaRPr>
          </a:p>
        </p:txBody>
      </p:sp>
      <p:grpSp>
        <p:nvGrpSpPr>
          <p:cNvPr id="13" name="object 13"/>
          <p:cNvGrpSpPr/>
          <p:nvPr/>
        </p:nvGrpSpPr>
        <p:grpSpPr>
          <a:xfrm>
            <a:off x="7285605" y="3718872"/>
            <a:ext cx="4197094" cy="1560577"/>
            <a:chOff x="5768340" y="3973066"/>
            <a:chExt cx="3147821" cy="1170433"/>
          </a:xfrm>
        </p:grpSpPr>
        <p:pic>
          <p:nvPicPr>
            <p:cNvPr id="14" name="object 14"/>
            <p:cNvPicPr/>
            <p:nvPr/>
          </p:nvPicPr>
          <p:blipFill>
            <a:blip r:embed="rId4" cstate="print"/>
            <a:stretch>
              <a:fillRect/>
            </a:stretch>
          </p:blipFill>
          <p:spPr>
            <a:xfrm>
              <a:off x="5768340" y="3973066"/>
              <a:ext cx="3147821" cy="1170433"/>
            </a:xfrm>
            <a:prstGeom prst="rect">
              <a:avLst/>
            </a:prstGeom>
          </p:spPr>
        </p:pic>
        <p:sp>
          <p:nvSpPr>
            <p:cNvPr id="16" name="object 16"/>
            <p:cNvSpPr/>
            <p:nvPr/>
          </p:nvSpPr>
          <p:spPr>
            <a:xfrm>
              <a:off x="6095238" y="4127754"/>
              <a:ext cx="2514600" cy="581025"/>
            </a:xfrm>
            <a:custGeom>
              <a:avLst/>
              <a:gdLst/>
              <a:ahLst/>
              <a:cxnLst/>
              <a:rect l="l" t="t" r="r" b="b"/>
              <a:pathLst>
                <a:path w="2514600" h="581025">
                  <a:moveTo>
                    <a:pt x="0" y="290322"/>
                  </a:moveTo>
                  <a:lnTo>
                    <a:pt x="145161" y="0"/>
                  </a:lnTo>
                  <a:lnTo>
                    <a:pt x="2369439" y="0"/>
                  </a:lnTo>
                  <a:lnTo>
                    <a:pt x="2514600" y="290322"/>
                  </a:lnTo>
                  <a:lnTo>
                    <a:pt x="2369439" y="580644"/>
                  </a:lnTo>
                  <a:lnTo>
                    <a:pt x="145161" y="580644"/>
                  </a:lnTo>
                  <a:lnTo>
                    <a:pt x="0" y="290322"/>
                  </a:lnTo>
                  <a:close/>
                </a:path>
              </a:pathLst>
            </a:custGeom>
            <a:ln w="19811">
              <a:solidFill>
                <a:srgbClr val="00C3FF"/>
              </a:solidFill>
            </a:ln>
          </p:spPr>
          <p:txBody>
            <a:bodyPr wrap="square" lIns="0" tIns="0" rIns="0" bIns="0" rtlCol="0"/>
            <a:lstStyle/>
            <a:p>
              <a:endParaRPr sz="2400"/>
            </a:p>
          </p:txBody>
        </p:sp>
      </p:grpSp>
      <p:sp>
        <p:nvSpPr>
          <p:cNvPr id="17" name="object 17"/>
          <p:cNvSpPr txBox="1"/>
          <p:nvPr/>
        </p:nvSpPr>
        <p:spPr>
          <a:xfrm>
            <a:off x="7860322" y="4103150"/>
            <a:ext cx="2896447" cy="427532"/>
          </a:xfrm>
          <a:prstGeom prst="rect">
            <a:avLst/>
          </a:prstGeom>
        </p:spPr>
        <p:txBody>
          <a:bodyPr vert="horz" wrap="square" lIns="0" tIns="16933" rIns="0" bIns="0" rtlCol="0">
            <a:spAutoFit/>
          </a:bodyPr>
          <a:lstStyle/>
          <a:p>
            <a:pPr marL="16933">
              <a:spcBef>
                <a:spcPts val="133"/>
              </a:spcBef>
            </a:pPr>
            <a:r>
              <a:rPr sz="2667" b="1" dirty="0">
                <a:solidFill>
                  <a:srgbClr val="CCEAFF"/>
                </a:solidFill>
                <a:latin typeface="Calibri"/>
                <a:cs typeface="Calibri"/>
              </a:rPr>
              <a:t>Occurence</a:t>
            </a:r>
            <a:r>
              <a:rPr sz="2667" b="1" spc="-73" dirty="0">
                <a:solidFill>
                  <a:srgbClr val="CCEAFF"/>
                </a:solidFill>
                <a:latin typeface="Calibri"/>
                <a:cs typeface="Calibri"/>
              </a:rPr>
              <a:t> </a:t>
            </a:r>
            <a:r>
              <a:rPr sz="2667" b="1" dirty="0">
                <a:solidFill>
                  <a:srgbClr val="CCEAFF"/>
                </a:solidFill>
                <a:latin typeface="Calibri"/>
                <a:cs typeface="Calibri"/>
              </a:rPr>
              <a:t>of</a:t>
            </a:r>
            <a:r>
              <a:rPr sz="2667" b="1" spc="-60" dirty="0">
                <a:solidFill>
                  <a:srgbClr val="CCEAFF"/>
                </a:solidFill>
                <a:latin typeface="Calibri"/>
                <a:cs typeface="Calibri"/>
              </a:rPr>
              <a:t> </a:t>
            </a:r>
            <a:r>
              <a:rPr sz="2667" b="1" spc="-13" dirty="0">
                <a:solidFill>
                  <a:srgbClr val="CCEAFF"/>
                </a:solidFill>
                <a:latin typeface="Calibri"/>
                <a:cs typeface="Calibri"/>
              </a:rPr>
              <a:t>events</a:t>
            </a:r>
            <a:endParaRPr sz="2667" dirty="0">
              <a:latin typeface="Calibri"/>
              <a:cs typeface="Calibri"/>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57807" y="2279903"/>
            <a:ext cx="9930384" cy="1702816"/>
          </a:xfrm>
          <a:prstGeom prst="rect">
            <a:avLst/>
          </a:prstGeom>
        </p:spPr>
      </p:pic>
      <p:sp>
        <p:nvSpPr>
          <p:cNvPr id="3" name="object 3"/>
          <p:cNvSpPr txBox="1">
            <a:spLocks noGrp="1"/>
          </p:cNvSpPr>
          <p:nvPr>
            <p:ph type="title"/>
          </p:nvPr>
        </p:nvSpPr>
        <p:spPr>
          <a:xfrm>
            <a:off x="1320800" y="2579973"/>
            <a:ext cx="9811173" cy="1048150"/>
          </a:xfrm>
          <a:prstGeom prst="rect">
            <a:avLst/>
          </a:prstGeom>
          <a:noFill/>
          <a:ln w="9144">
            <a:noFill/>
          </a:ln>
        </p:spPr>
        <p:txBody>
          <a:bodyPr vert="horz" wrap="square" lIns="0" tIns="306493" rIns="0" bIns="0" rtlCol="0" anchor="ctr">
            <a:spAutoFit/>
          </a:bodyPr>
          <a:lstStyle/>
          <a:p>
            <a:pPr algn="ctr">
              <a:lnSpc>
                <a:spcPct val="100000"/>
              </a:lnSpc>
              <a:spcBef>
                <a:spcPts val="2413"/>
              </a:spcBef>
            </a:pPr>
            <a:r>
              <a:rPr sz="4800" dirty="0">
                <a:solidFill>
                  <a:schemeClr val="bg1"/>
                </a:solidFill>
                <a:latin typeface="+mn-lt"/>
              </a:rPr>
              <a:t>Natural</a:t>
            </a:r>
            <a:r>
              <a:rPr sz="4800" spc="-60" dirty="0">
                <a:solidFill>
                  <a:schemeClr val="bg1"/>
                </a:solidFill>
                <a:latin typeface="+mn-lt"/>
              </a:rPr>
              <a:t> </a:t>
            </a:r>
            <a:r>
              <a:rPr sz="4800" dirty="0">
                <a:solidFill>
                  <a:schemeClr val="bg1"/>
                </a:solidFill>
                <a:latin typeface="+mn-lt"/>
              </a:rPr>
              <a:t>vs.</a:t>
            </a:r>
            <a:r>
              <a:rPr sz="4800" spc="-20" dirty="0">
                <a:solidFill>
                  <a:schemeClr val="bg1"/>
                </a:solidFill>
                <a:latin typeface="+mn-lt"/>
              </a:rPr>
              <a:t> </a:t>
            </a:r>
            <a:r>
              <a:rPr sz="4800" dirty="0">
                <a:solidFill>
                  <a:schemeClr val="bg1"/>
                </a:solidFill>
                <a:latin typeface="+mn-lt"/>
              </a:rPr>
              <a:t>Surrogate</a:t>
            </a:r>
            <a:r>
              <a:rPr sz="4800" spc="-53" dirty="0">
                <a:solidFill>
                  <a:schemeClr val="bg1"/>
                </a:solidFill>
                <a:latin typeface="+mn-lt"/>
              </a:rPr>
              <a:t> </a:t>
            </a:r>
            <a:r>
              <a:rPr sz="4800" spc="-33" dirty="0">
                <a:solidFill>
                  <a:schemeClr val="bg1"/>
                </a:solidFill>
                <a:latin typeface="+mn-lt"/>
              </a:rPr>
              <a:t>key</a:t>
            </a:r>
            <a:endParaRPr sz="4800" dirty="0">
              <a:solidFill>
                <a:schemeClr val="bg1"/>
              </a:solidFill>
              <a:latin typeface="+mn-lt"/>
            </a:endParaRP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45360" y="192864"/>
            <a:ext cx="8879840" cy="695062"/>
          </a:xfrm>
          <a:prstGeom prst="rect">
            <a:avLst/>
          </a:prstGeom>
        </p:spPr>
        <p:txBody>
          <a:bodyPr vert="horz" wrap="square" lIns="0" tIns="17780" rIns="0" bIns="0" rtlCol="0" anchor="ctr">
            <a:spAutoFit/>
          </a:bodyPr>
          <a:lstStyle/>
          <a:p>
            <a:pPr marL="931310">
              <a:lnSpc>
                <a:spcPct val="100000"/>
              </a:lnSpc>
              <a:spcBef>
                <a:spcPts val="140"/>
              </a:spcBef>
            </a:pPr>
            <a:r>
              <a:rPr dirty="0">
                <a:solidFill>
                  <a:schemeClr val="bg1"/>
                </a:solidFill>
                <a:latin typeface="+mn-lt"/>
              </a:rPr>
              <a:t>Natural</a:t>
            </a:r>
            <a:r>
              <a:rPr spc="-80" dirty="0">
                <a:solidFill>
                  <a:schemeClr val="bg1"/>
                </a:solidFill>
                <a:latin typeface="+mn-lt"/>
              </a:rPr>
              <a:t> </a:t>
            </a:r>
            <a:r>
              <a:rPr dirty="0">
                <a:solidFill>
                  <a:schemeClr val="bg1"/>
                </a:solidFill>
                <a:latin typeface="+mn-lt"/>
              </a:rPr>
              <a:t>vs.</a:t>
            </a:r>
            <a:r>
              <a:rPr spc="-93" dirty="0">
                <a:solidFill>
                  <a:schemeClr val="bg1"/>
                </a:solidFill>
                <a:latin typeface="+mn-lt"/>
              </a:rPr>
              <a:t> </a:t>
            </a:r>
            <a:r>
              <a:rPr dirty="0">
                <a:solidFill>
                  <a:schemeClr val="bg1"/>
                </a:solidFill>
                <a:latin typeface="+mn-lt"/>
              </a:rPr>
              <a:t>Surrogate</a:t>
            </a:r>
            <a:r>
              <a:rPr spc="-93" dirty="0">
                <a:solidFill>
                  <a:schemeClr val="bg1"/>
                </a:solidFill>
                <a:latin typeface="+mn-lt"/>
              </a:rPr>
              <a:t> </a:t>
            </a:r>
            <a:r>
              <a:rPr spc="-33" dirty="0">
                <a:solidFill>
                  <a:schemeClr val="bg1"/>
                </a:solidFill>
                <a:latin typeface="+mn-lt"/>
              </a:rPr>
              <a:t>key</a:t>
            </a:r>
          </a:p>
        </p:txBody>
      </p:sp>
      <p:sp>
        <p:nvSpPr>
          <p:cNvPr id="3" name="object 3"/>
          <p:cNvSpPr txBox="1"/>
          <p:nvPr/>
        </p:nvSpPr>
        <p:spPr>
          <a:xfrm>
            <a:off x="3023705" y="4816490"/>
            <a:ext cx="1889760" cy="541174"/>
          </a:xfrm>
          <a:prstGeom prst="rect">
            <a:avLst/>
          </a:prstGeom>
          <a:noFill/>
        </p:spPr>
        <p:txBody>
          <a:bodyPr vert="horz" wrap="square" lIns="0" tIns="170180" rIns="0" bIns="0" rtlCol="0">
            <a:spAutoFit/>
          </a:bodyPr>
          <a:lstStyle/>
          <a:p>
            <a:pPr marL="385224">
              <a:spcBef>
                <a:spcPts val="1340"/>
              </a:spcBef>
            </a:pPr>
            <a:r>
              <a:rPr sz="2400" b="1" spc="-13" dirty="0">
                <a:solidFill>
                  <a:srgbClr val="D9D9D9"/>
                </a:solidFill>
                <a:latin typeface="Calibri"/>
                <a:cs typeface="Calibri"/>
              </a:rPr>
              <a:t>Products</a:t>
            </a:r>
            <a:endParaRPr sz="2400">
              <a:latin typeface="Calibri"/>
              <a:cs typeface="Calibri"/>
            </a:endParaRPr>
          </a:p>
        </p:txBody>
      </p:sp>
      <p:graphicFrame>
        <p:nvGraphicFramePr>
          <p:cNvPr id="4" name="object 4"/>
          <p:cNvGraphicFramePr>
            <a:graphicFrameLocks noGrp="1"/>
          </p:cNvGraphicFramePr>
          <p:nvPr>
            <p:extLst>
              <p:ext uri="{D42A27DB-BD31-4B8C-83A1-F6EECF244321}">
                <p14:modId xmlns:p14="http://schemas.microsoft.com/office/powerpoint/2010/main" val="2036213121"/>
              </p:ext>
            </p:extLst>
          </p:nvPr>
        </p:nvGraphicFramePr>
        <p:xfrm>
          <a:off x="1617133" y="3058160"/>
          <a:ext cx="4823424" cy="1836569"/>
        </p:xfrm>
        <a:graphic>
          <a:graphicData uri="http://schemas.openxmlformats.org/drawingml/2006/table">
            <a:tbl>
              <a:tblPr firstRow="1" bandRow="1">
                <a:tableStyleId>{2D5ABB26-0587-4C30-8999-92F81FD0307C}</a:tableStyleId>
              </a:tblPr>
              <a:tblGrid>
                <a:gridCol w="1368424">
                  <a:extLst>
                    <a:ext uri="{9D8B030D-6E8A-4147-A177-3AD203B41FA5}">
                      <a16:colId xmlns:a16="http://schemas.microsoft.com/office/drawing/2014/main" val="20000"/>
                    </a:ext>
                  </a:extLst>
                </a:gridCol>
                <a:gridCol w="1650916">
                  <a:extLst>
                    <a:ext uri="{9D8B030D-6E8A-4147-A177-3AD203B41FA5}">
                      <a16:colId xmlns:a16="http://schemas.microsoft.com/office/drawing/2014/main" val="20001"/>
                    </a:ext>
                  </a:extLst>
                </a:gridCol>
                <a:gridCol w="1804084">
                  <a:extLst>
                    <a:ext uri="{9D8B030D-6E8A-4147-A177-3AD203B41FA5}">
                      <a16:colId xmlns:a16="http://schemas.microsoft.com/office/drawing/2014/main" val="20002"/>
                    </a:ext>
                  </a:extLst>
                </a:gridCol>
              </a:tblGrid>
              <a:tr h="276629">
                <a:tc>
                  <a:txBody>
                    <a:bodyPr/>
                    <a:lstStyle/>
                    <a:p>
                      <a:pPr marL="635" algn="ctr">
                        <a:lnSpc>
                          <a:spcPct val="100000"/>
                        </a:lnSpc>
                        <a:spcBef>
                          <a:spcPts val="60"/>
                        </a:spcBef>
                      </a:pPr>
                      <a:r>
                        <a:rPr sz="1400" b="1" spc="-10" dirty="0">
                          <a:solidFill>
                            <a:schemeClr val="bg1"/>
                          </a:solidFill>
                          <a:latin typeface="Arial"/>
                          <a:cs typeface="Arial"/>
                        </a:rPr>
                        <a:t>product_id</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270" algn="ctr">
                        <a:lnSpc>
                          <a:spcPct val="100000"/>
                        </a:lnSpc>
                        <a:spcBef>
                          <a:spcPts val="60"/>
                        </a:spcBef>
                      </a:pPr>
                      <a:r>
                        <a:rPr sz="1400" b="1" spc="-20" dirty="0">
                          <a:solidFill>
                            <a:schemeClr val="bg1"/>
                          </a:solidFill>
                          <a:latin typeface="Arial"/>
                          <a:cs typeface="Arial"/>
                        </a:rPr>
                        <a:t>name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3175" algn="ctr">
                        <a:lnSpc>
                          <a:spcPct val="100000"/>
                        </a:lnSpc>
                        <a:spcBef>
                          <a:spcPts val="60"/>
                        </a:spcBef>
                      </a:pPr>
                      <a:r>
                        <a:rPr sz="1400" b="1" spc="-10" dirty="0">
                          <a:solidFill>
                            <a:schemeClr val="bg1"/>
                          </a:solidFill>
                          <a:latin typeface="Arial"/>
                          <a:cs typeface="Arial"/>
                        </a:rPr>
                        <a:t>category</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311988">
                <a:tc>
                  <a:txBody>
                    <a:bodyPr/>
                    <a:lstStyle/>
                    <a:p>
                      <a:pPr algn="ctr">
                        <a:lnSpc>
                          <a:spcPct val="100000"/>
                        </a:lnSpc>
                        <a:spcBef>
                          <a:spcPts val="225"/>
                        </a:spcBef>
                      </a:pPr>
                      <a:r>
                        <a:rPr sz="1400" spc="-20" dirty="0">
                          <a:latin typeface="Arial MT"/>
                          <a:cs typeface="Arial MT"/>
                        </a:rPr>
                        <a:t>PX30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Chili</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Herbs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311988">
                <a:tc>
                  <a:txBody>
                    <a:bodyPr/>
                    <a:lstStyle/>
                    <a:p>
                      <a:pPr algn="ctr">
                        <a:lnSpc>
                          <a:spcPct val="100000"/>
                        </a:lnSpc>
                        <a:spcBef>
                          <a:spcPts val="225"/>
                        </a:spcBef>
                      </a:pPr>
                      <a:r>
                        <a:rPr sz="1400" spc="-20" dirty="0">
                          <a:latin typeface="Arial MT"/>
                          <a:cs typeface="Arial MT"/>
                        </a:rPr>
                        <a:t>PT32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10" dirty="0">
                          <a:latin typeface="Arial MT"/>
                          <a:cs typeface="Arial MT"/>
                        </a:rPr>
                        <a:t>Garlic</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dirty="0">
                          <a:latin typeface="Arial MT"/>
                          <a:cs typeface="Arial MT"/>
                        </a:rPr>
                        <a:t>Fruits</a:t>
                      </a:r>
                      <a:r>
                        <a:rPr sz="1400" spc="-35" dirty="0">
                          <a:latin typeface="Arial MT"/>
                          <a:cs typeface="Arial MT"/>
                        </a:rPr>
                        <a:t> </a:t>
                      </a:r>
                      <a:r>
                        <a:rPr sz="1400" dirty="0">
                          <a:latin typeface="Arial MT"/>
                          <a:cs typeface="Arial MT"/>
                        </a:rPr>
                        <a:t>&amp;</a:t>
                      </a:r>
                      <a:r>
                        <a:rPr sz="1400" spc="-25" dirty="0">
                          <a:latin typeface="Arial MT"/>
                          <a:cs typeface="Arial MT"/>
                        </a:rPr>
                        <a:t> </a:t>
                      </a:r>
                      <a:r>
                        <a:rPr sz="1400" spc="-10" dirty="0">
                          <a:latin typeface="Arial MT"/>
                          <a:cs typeface="Arial MT"/>
                        </a:rPr>
                        <a:t>Vegetables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311988">
                <a:tc>
                  <a:txBody>
                    <a:bodyPr/>
                    <a:lstStyle/>
                    <a:p>
                      <a:pPr algn="ctr">
                        <a:lnSpc>
                          <a:spcPct val="100000"/>
                        </a:lnSpc>
                        <a:spcBef>
                          <a:spcPts val="229"/>
                        </a:spcBef>
                      </a:pPr>
                      <a:r>
                        <a:rPr sz="1400" spc="-20" dirty="0">
                          <a:latin typeface="Arial MT"/>
                          <a:cs typeface="Arial MT"/>
                        </a:rPr>
                        <a:t>AX42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0"/>
                        </a:spcBef>
                      </a:pPr>
                      <a:r>
                        <a:rPr sz="1400" spc="-10" dirty="0">
                          <a:latin typeface="Arial MT"/>
                          <a:cs typeface="Arial MT"/>
                        </a:rPr>
                        <a:t>Banana</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dirty="0">
                          <a:latin typeface="Arial MT"/>
                          <a:cs typeface="Arial MT"/>
                        </a:rPr>
                        <a:t>Fruits</a:t>
                      </a:r>
                      <a:r>
                        <a:rPr sz="1400" spc="-30" dirty="0">
                          <a:latin typeface="Arial MT"/>
                          <a:cs typeface="Arial MT"/>
                        </a:rPr>
                        <a:t> </a:t>
                      </a:r>
                      <a:r>
                        <a:rPr sz="1400" dirty="0">
                          <a:latin typeface="Arial MT"/>
                          <a:cs typeface="Arial MT"/>
                        </a:rPr>
                        <a:t>&amp;</a:t>
                      </a:r>
                      <a:r>
                        <a:rPr sz="1400" spc="-25" dirty="0">
                          <a:latin typeface="Arial MT"/>
                          <a:cs typeface="Arial MT"/>
                        </a:rPr>
                        <a:t> </a:t>
                      </a:r>
                      <a:r>
                        <a:rPr sz="1400" spc="-10" dirty="0">
                          <a:latin typeface="Arial MT"/>
                          <a:cs typeface="Arial MT"/>
                        </a:rPr>
                        <a:t>Vegetables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311988">
                <a:tc>
                  <a:txBody>
                    <a:bodyPr/>
                    <a:lstStyle/>
                    <a:p>
                      <a:pPr algn="ctr">
                        <a:lnSpc>
                          <a:spcPct val="100000"/>
                        </a:lnSpc>
                        <a:spcBef>
                          <a:spcPts val="229"/>
                        </a:spcBef>
                      </a:pPr>
                      <a:r>
                        <a:rPr sz="1400" spc="-20" dirty="0">
                          <a:latin typeface="Arial MT"/>
                          <a:cs typeface="Arial MT"/>
                        </a:rPr>
                        <a:t>DA24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10" dirty="0">
                          <a:latin typeface="Arial MT"/>
                          <a:cs typeface="Arial MT"/>
                        </a:rPr>
                        <a:t>Chocolate</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dirty="0">
                          <a:latin typeface="Arial MT"/>
                          <a:cs typeface="Arial MT"/>
                        </a:rPr>
                        <a:t>Sweets</a:t>
                      </a:r>
                      <a:r>
                        <a:rPr sz="1400" spc="-30" dirty="0">
                          <a:latin typeface="Arial MT"/>
                          <a:cs typeface="Arial MT"/>
                        </a:rPr>
                        <a:t> </a:t>
                      </a:r>
                      <a:r>
                        <a:rPr sz="1400" dirty="0">
                          <a:latin typeface="Arial MT"/>
                          <a:cs typeface="Arial MT"/>
                        </a:rPr>
                        <a:t>&amp;</a:t>
                      </a:r>
                      <a:r>
                        <a:rPr sz="1400" spc="-10" dirty="0">
                          <a:latin typeface="Arial MT"/>
                          <a:cs typeface="Arial MT"/>
                        </a:rPr>
                        <a:t> Snacks</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311988">
                <a:tc>
                  <a:txBody>
                    <a:bodyPr/>
                    <a:lstStyle/>
                    <a:p>
                      <a:pPr algn="ctr">
                        <a:lnSpc>
                          <a:spcPct val="100000"/>
                        </a:lnSpc>
                        <a:spcBef>
                          <a:spcPts val="229"/>
                        </a:spcBef>
                      </a:pPr>
                      <a:r>
                        <a:rPr sz="1400" spc="-20" dirty="0">
                          <a:latin typeface="Arial MT"/>
                          <a:cs typeface="Arial MT"/>
                        </a:rPr>
                        <a:t>PO20</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spc="-10" dirty="0">
                          <a:latin typeface="Arial MT"/>
                          <a:cs typeface="Arial MT"/>
                        </a:rPr>
                        <a:t>Chips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dirty="0">
                          <a:latin typeface="Arial MT"/>
                          <a:cs typeface="Arial MT"/>
                        </a:rPr>
                        <a:t>Sweets</a:t>
                      </a:r>
                      <a:r>
                        <a:rPr sz="1400" spc="-30" dirty="0">
                          <a:latin typeface="Arial MT"/>
                          <a:cs typeface="Arial MT"/>
                        </a:rPr>
                        <a:t> </a:t>
                      </a:r>
                      <a:r>
                        <a:rPr sz="1400" dirty="0">
                          <a:latin typeface="Arial MT"/>
                          <a:cs typeface="Arial MT"/>
                        </a:rPr>
                        <a:t>&amp;</a:t>
                      </a:r>
                      <a:r>
                        <a:rPr sz="1400" spc="-10" dirty="0">
                          <a:latin typeface="Arial MT"/>
                          <a:cs typeface="Arial MT"/>
                        </a:rPr>
                        <a:t> Snacks</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graphicFrame>
        <p:nvGraphicFramePr>
          <p:cNvPr id="5" name="object 5"/>
          <p:cNvGraphicFramePr>
            <a:graphicFrameLocks noGrp="1"/>
          </p:cNvGraphicFramePr>
          <p:nvPr>
            <p:extLst>
              <p:ext uri="{D42A27DB-BD31-4B8C-83A1-F6EECF244321}">
                <p14:modId xmlns:p14="http://schemas.microsoft.com/office/powerpoint/2010/main" val="2162243284"/>
              </p:ext>
            </p:extLst>
          </p:nvPr>
        </p:nvGraphicFramePr>
        <p:xfrm>
          <a:off x="7467290" y="3083065"/>
          <a:ext cx="3913014" cy="1836569"/>
        </p:xfrm>
        <a:graphic>
          <a:graphicData uri="http://schemas.openxmlformats.org/drawingml/2006/table">
            <a:tbl>
              <a:tblPr firstRow="1" bandRow="1">
                <a:tableStyleId>{2D5ABB26-0587-4C30-8999-92F81FD0307C}</a:tableStyleId>
              </a:tblPr>
              <a:tblGrid>
                <a:gridCol w="1100382">
                  <a:extLst>
                    <a:ext uri="{9D8B030D-6E8A-4147-A177-3AD203B41FA5}">
                      <a16:colId xmlns:a16="http://schemas.microsoft.com/office/drawing/2014/main" val="20000"/>
                    </a:ext>
                  </a:extLst>
                </a:gridCol>
                <a:gridCol w="1345129">
                  <a:extLst>
                    <a:ext uri="{9D8B030D-6E8A-4147-A177-3AD203B41FA5}">
                      <a16:colId xmlns:a16="http://schemas.microsoft.com/office/drawing/2014/main" val="20001"/>
                    </a:ext>
                  </a:extLst>
                </a:gridCol>
                <a:gridCol w="1467503">
                  <a:extLst>
                    <a:ext uri="{9D8B030D-6E8A-4147-A177-3AD203B41FA5}">
                      <a16:colId xmlns:a16="http://schemas.microsoft.com/office/drawing/2014/main" val="20002"/>
                    </a:ext>
                  </a:extLst>
                </a:gridCol>
              </a:tblGrid>
              <a:tr h="276629">
                <a:tc>
                  <a:txBody>
                    <a:bodyPr/>
                    <a:lstStyle/>
                    <a:p>
                      <a:pPr marL="1905" algn="ctr">
                        <a:lnSpc>
                          <a:spcPct val="100000"/>
                        </a:lnSpc>
                        <a:spcBef>
                          <a:spcPts val="60"/>
                        </a:spcBef>
                      </a:pPr>
                      <a:r>
                        <a:rPr sz="1400" b="1" spc="-10" dirty="0">
                          <a:solidFill>
                            <a:schemeClr val="bg1"/>
                          </a:solidFill>
                          <a:latin typeface="Arial"/>
                          <a:cs typeface="Arial"/>
                        </a:rPr>
                        <a:t>sales_id</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1270" algn="ctr">
                        <a:lnSpc>
                          <a:spcPct val="100000"/>
                        </a:lnSpc>
                        <a:spcBef>
                          <a:spcPts val="60"/>
                        </a:spcBef>
                      </a:pPr>
                      <a:r>
                        <a:rPr sz="1400" b="1" spc="-20" dirty="0">
                          <a:solidFill>
                            <a:schemeClr val="bg1"/>
                          </a:solidFill>
                          <a:latin typeface="Arial"/>
                          <a:cs typeface="Arial"/>
                        </a:rPr>
                        <a:t>date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1270" algn="ctr">
                        <a:lnSpc>
                          <a:spcPct val="100000"/>
                        </a:lnSpc>
                        <a:spcBef>
                          <a:spcPts val="60"/>
                        </a:spcBef>
                      </a:pPr>
                      <a:r>
                        <a:rPr sz="1400" b="1" dirty="0">
                          <a:solidFill>
                            <a:schemeClr val="bg1"/>
                          </a:solidFill>
                          <a:latin typeface="Arial"/>
                          <a:cs typeface="Arial"/>
                        </a:rPr>
                        <a:t>Sales</a:t>
                      </a:r>
                      <a:r>
                        <a:rPr sz="1400" b="1" spc="-40" dirty="0">
                          <a:solidFill>
                            <a:schemeClr val="bg1"/>
                          </a:solidFill>
                          <a:latin typeface="Arial"/>
                          <a:cs typeface="Arial"/>
                        </a:rPr>
                        <a:t> </a:t>
                      </a:r>
                      <a:r>
                        <a:rPr sz="1400" b="1" spc="-10" dirty="0">
                          <a:solidFill>
                            <a:schemeClr val="bg1"/>
                          </a:solidFill>
                          <a:latin typeface="Arial"/>
                          <a:cs typeface="Arial"/>
                        </a:rPr>
                        <a:t>amount</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extLst>
                  <a:ext uri="{0D108BD9-81ED-4DB2-BD59-A6C34878D82A}">
                    <a16:rowId xmlns:a16="http://schemas.microsoft.com/office/drawing/2014/main" val="10000"/>
                  </a:ext>
                </a:extLst>
              </a:tr>
              <a:tr h="311988">
                <a:tc>
                  <a:txBody>
                    <a:bodyPr/>
                    <a:lstStyle/>
                    <a:p>
                      <a:pPr marL="1270" algn="ctr">
                        <a:lnSpc>
                          <a:spcPct val="100000"/>
                        </a:lnSpc>
                        <a:spcBef>
                          <a:spcPts val="225"/>
                        </a:spcBef>
                      </a:pPr>
                      <a:r>
                        <a:rPr sz="1400" spc="-10" dirty="0">
                          <a:latin typeface="Arial MT"/>
                          <a:cs typeface="Arial MT"/>
                        </a:rPr>
                        <a:t>GXF-</a:t>
                      </a:r>
                      <a:r>
                        <a:rPr sz="1400" spc="-25" dirty="0">
                          <a:latin typeface="Arial MT"/>
                          <a:cs typeface="Arial MT"/>
                        </a:rPr>
                        <a:t>EFS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2022-01-</a:t>
                      </a:r>
                      <a:r>
                        <a:rPr sz="1400" spc="-25" dirty="0">
                          <a:latin typeface="Arial MT"/>
                          <a:cs typeface="Arial MT"/>
                        </a:rPr>
                        <a:t>01</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25" dirty="0">
                          <a:latin typeface="Arial MT"/>
                          <a:cs typeface="Arial MT"/>
                        </a:rPr>
                        <a:t>$41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311988">
                <a:tc>
                  <a:txBody>
                    <a:bodyPr/>
                    <a:lstStyle/>
                    <a:p>
                      <a:pPr marL="2540" algn="ctr">
                        <a:lnSpc>
                          <a:spcPct val="100000"/>
                        </a:lnSpc>
                        <a:spcBef>
                          <a:spcPts val="225"/>
                        </a:spcBef>
                      </a:pPr>
                      <a:r>
                        <a:rPr sz="1400" spc="-10" dirty="0">
                          <a:latin typeface="Arial MT"/>
                          <a:cs typeface="Arial MT"/>
                        </a:rPr>
                        <a:t>DOS-</a:t>
                      </a:r>
                      <a:r>
                        <a:rPr sz="1400" spc="-25" dirty="0">
                          <a:latin typeface="Arial MT"/>
                          <a:cs typeface="Arial MT"/>
                        </a:rPr>
                        <a:t>FWA</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2022-01-</a:t>
                      </a:r>
                      <a:r>
                        <a:rPr sz="1400" spc="-25" dirty="0">
                          <a:latin typeface="Arial MT"/>
                          <a:cs typeface="Arial MT"/>
                        </a:rPr>
                        <a:t>02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25" dirty="0">
                          <a:latin typeface="Arial MT"/>
                          <a:cs typeface="Arial MT"/>
                        </a:rPr>
                        <a:t>$15</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311988">
                <a:tc>
                  <a:txBody>
                    <a:bodyPr/>
                    <a:lstStyle/>
                    <a:p>
                      <a:pPr marL="2540" algn="ctr">
                        <a:lnSpc>
                          <a:spcPct val="100000"/>
                        </a:lnSpc>
                        <a:spcBef>
                          <a:spcPts val="225"/>
                        </a:spcBef>
                      </a:pPr>
                      <a:r>
                        <a:rPr sz="1400" spc="-10" dirty="0">
                          <a:latin typeface="Arial MT"/>
                          <a:cs typeface="Arial MT"/>
                        </a:rPr>
                        <a:t>DSF-</a:t>
                      </a:r>
                      <a:r>
                        <a:rPr sz="1400" spc="-25" dirty="0">
                          <a:latin typeface="Arial MT"/>
                          <a:cs typeface="Arial MT"/>
                        </a:rPr>
                        <a:t>GWS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2022-01-</a:t>
                      </a:r>
                      <a:r>
                        <a:rPr sz="1400" spc="-25" dirty="0">
                          <a:latin typeface="Arial MT"/>
                          <a:cs typeface="Arial MT"/>
                        </a:rPr>
                        <a:t>02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25" dirty="0">
                          <a:latin typeface="Arial MT"/>
                          <a:cs typeface="Arial MT"/>
                        </a:rPr>
                        <a:t>$24</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311988">
                <a:tc>
                  <a:txBody>
                    <a:bodyPr/>
                    <a:lstStyle/>
                    <a:p>
                      <a:pPr marL="635" algn="ctr">
                        <a:lnSpc>
                          <a:spcPct val="100000"/>
                        </a:lnSpc>
                        <a:spcBef>
                          <a:spcPts val="225"/>
                        </a:spcBef>
                      </a:pPr>
                      <a:r>
                        <a:rPr sz="1400" spc="-10" dirty="0">
                          <a:latin typeface="Arial MT"/>
                          <a:cs typeface="Arial MT"/>
                        </a:rPr>
                        <a:t>PTG-</a:t>
                      </a:r>
                      <a:r>
                        <a:rPr sz="1400" spc="-25" dirty="0">
                          <a:latin typeface="Arial MT"/>
                          <a:cs typeface="Arial MT"/>
                        </a:rPr>
                        <a:t>DWD</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2022-01-</a:t>
                      </a:r>
                      <a:r>
                        <a:rPr sz="1400" spc="-25" dirty="0">
                          <a:latin typeface="Arial MT"/>
                          <a:cs typeface="Arial MT"/>
                        </a:rPr>
                        <a:t>03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25" dirty="0">
                          <a:latin typeface="Arial MT"/>
                          <a:cs typeface="Arial MT"/>
                        </a:rPr>
                        <a:t>$13</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311988">
                <a:tc>
                  <a:txBody>
                    <a:bodyPr/>
                    <a:lstStyle/>
                    <a:p>
                      <a:pPr algn="ctr">
                        <a:lnSpc>
                          <a:spcPct val="100000"/>
                        </a:lnSpc>
                        <a:spcBef>
                          <a:spcPts val="225"/>
                        </a:spcBef>
                      </a:pPr>
                      <a:r>
                        <a:rPr sz="1400" dirty="0">
                          <a:latin typeface="Arial MT"/>
                          <a:cs typeface="Arial MT"/>
                        </a:rPr>
                        <a:t>ERW-</a:t>
                      </a:r>
                      <a:r>
                        <a:rPr sz="1400" spc="-25" dirty="0">
                          <a:latin typeface="Arial MT"/>
                          <a:cs typeface="Arial MT"/>
                        </a:rPr>
                        <a:t>DWD</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2022-01-</a:t>
                      </a:r>
                      <a:r>
                        <a:rPr sz="1400" spc="-25" dirty="0">
                          <a:latin typeface="Arial MT"/>
                          <a:cs typeface="Arial MT"/>
                        </a:rPr>
                        <a:t>04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25" dirty="0">
                          <a:latin typeface="Arial MT"/>
                          <a:cs typeface="Arial MT"/>
                        </a:rPr>
                        <a:t>$52</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grpSp>
        <p:nvGrpSpPr>
          <p:cNvPr id="6" name="object 6"/>
          <p:cNvGrpSpPr/>
          <p:nvPr/>
        </p:nvGrpSpPr>
        <p:grpSpPr>
          <a:xfrm>
            <a:off x="2472267" y="1595137"/>
            <a:ext cx="5253567" cy="1523153"/>
            <a:chOff x="1854200" y="1196352"/>
            <a:chExt cx="3940175" cy="1142365"/>
          </a:xfrm>
        </p:grpSpPr>
        <p:sp>
          <p:nvSpPr>
            <p:cNvPr id="7" name="object 7"/>
            <p:cNvSpPr/>
            <p:nvPr/>
          </p:nvSpPr>
          <p:spPr>
            <a:xfrm>
              <a:off x="1866900" y="1649983"/>
              <a:ext cx="2062480" cy="676275"/>
            </a:xfrm>
            <a:custGeom>
              <a:avLst/>
              <a:gdLst/>
              <a:ahLst/>
              <a:cxnLst/>
              <a:rect l="l" t="t" r="r" b="b"/>
              <a:pathLst>
                <a:path w="2062479" h="676275">
                  <a:moveTo>
                    <a:pt x="2034159" y="0"/>
                  </a:moveTo>
                  <a:lnTo>
                    <a:pt x="90043" y="519938"/>
                  </a:lnTo>
                  <a:lnTo>
                    <a:pt x="76200" y="467867"/>
                  </a:lnTo>
                  <a:lnTo>
                    <a:pt x="0" y="599820"/>
                  </a:lnTo>
                  <a:lnTo>
                    <a:pt x="131825" y="676020"/>
                  </a:lnTo>
                  <a:lnTo>
                    <a:pt x="117982" y="623951"/>
                  </a:lnTo>
                  <a:lnTo>
                    <a:pt x="2061972" y="104139"/>
                  </a:lnTo>
                  <a:lnTo>
                    <a:pt x="2034159" y="0"/>
                  </a:lnTo>
                  <a:close/>
                </a:path>
              </a:pathLst>
            </a:custGeom>
            <a:solidFill>
              <a:srgbClr val="00C3FF"/>
            </a:solidFill>
          </p:spPr>
          <p:txBody>
            <a:bodyPr wrap="square" lIns="0" tIns="0" rIns="0" bIns="0" rtlCol="0"/>
            <a:lstStyle/>
            <a:p>
              <a:endParaRPr sz="2400"/>
            </a:p>
          </p:txBody>
        </p:sp>
        <p:sp>
          <p:nvSpPr>
            <p:cNvPr id="8" name="object 8"/>
            <p:cNvSpPr/>
            <p:nvPr/>
          </p:nvSpPr>
          <p:spPr>
            <a:xfrm>
              <a:off x="1866900" y="1649983"/>
              <a:ext cx="2062480" cy="676275"/>
            </a:xfrm>
            <a:custGeom>
              <a:avLst/>
              <a:gdLst/>
              <a:ahLst/>
              <a:cxnLst/>
              <a:rect l="l" t="t" r="r" b="b"/>
              <a:pathLst>
                <a:path w="2062479" h="676275">
                  <a:moveTo>
                    <a:pt x="76200" y="467867"/>
                  </a:moveTo>
                  <a:lnTo>
                    <a:pt x="90043" y="519938"/>
                  </a:lnTo>
                  <a:lnTo>
                    <a:pt x="2034159" y="0"/>
                  </a:lnTo>
                  <a:lnTo>
                    <a:pt x="2061972" y="104139"/>
                  </a:lnTo>
                  <a:lnTo>
                    <a:pt x="117982" y="623951"/>
                  </a:lnTo>
                  <a:lnTo>
                    <a:pt x="131825" y="676020"/>
                  </a:lnTo>
                  <a:lnTo>
                    <a:pt x="0" y="599820"/>
                  </a:lnTo>
                  <a:lnTo>
                    <a:pt x="76200" y="467867"/>
                  </a:lnTo>
                  <a:close/>
                </a:path>
              </a:pathLst>
            </a:custGeom>
            <a:ln w="25400">
              <a:solidFill>
                <a:srgbClr val="008FBB"/>
              </a:solidFill>
            </a:ln>
          </p:spPr>
          <p:txBody>
            <a:bodyPr wrap="square" lIns="0" tIns="0" rIns="0" bIns="0" rtlCol="0"/>
            <a:lstStyle/>
            <a:p>
              <a:endParaRPr sz="2400"/>
            </a:p>
          </p:txBody>
        </p:sp>
        <p:sp>
          <p:nvSpPr>
            <p:cNvPr id="9" name="object 9"/>
            <p:cNvSpPr/>
            <p:nvPr/>
          </p:nvSpPr>
          <p:spPr>
            <a:xfrm>
              <a:off x="4447413" y="1432686"/>
              <a:ext cx="1334135" cy="871855"/>
            </a:xfrm>
            <a:custGeom>
              <a:avLst/>
              <a:gdLst/>
              <a:ahLst/>
              <a:cxnLst/>
              <a:rect l="l" t="t" r="r" b="b"/>
              <a:pathLst>
                <a:path w="1334135" h="871855">
                  <a:moveTo>
                    <a:pt x="55752" y="0"/>
                  </a:moveTo>
                  <a:lnTo>
                    <a:pt x="0" y="92201"/>
                  </a:lnTo>
                  <a:lnTo>
                    <a:pt x="1213865" y="825500"/>
                  </a:lnTo>
                  <a:lnTo>
                    <a:pt x="1186052" y="871601"/>
                  </a:lnTo>
                  <a:lnTo>
                    <a:pt x="1334008" y="835151"/>
                  </a:lnTo>
                  <a:lnTo>
                    <a:pt x="1297432" y="687196"/>
                  </a:lnTo>
                  <a:lnTo>
                    <a:pt x="1269619" y="733298"/>
                  </a:lnTo>
                  <a:lnTo>
                    <a:pt x="55752" y="0"/>
                  </a:lnTo>
                  <a:close/>
                </a:path>
              </a:pathLst>
            </a:custGeom>
            <a:solidFill>
              <a:srgbClr val="00C3FF"/>
            </a:solidFill>
          </p:spPr>
          <p:txBody>
            <a:bodyPr wrap="square" lIns="0" tIns="0" rIns="0" bIns="0" rtlCol="0"/>
            <a:lstStyle/>
            <a:p>
              <a:endParaRPr sz="2400"/>
            </a:p>
          </p:txBody>
        </p:sp>
        <p:sp>
          <p:nvSpPr>
            <p:cNvPr id="10" name="object 10"/>
            <p:cNvSpPr/>
            <p:nvPr/>
          </p:nvSpPr>
          <p:spPr>
            <a:xfrm>
              <a:off x="4447413" y="1432686"/>
              <a:ext cx="1334135" cy="871855"/>
            </a:xfrm>
            <a:custGeom>
              <a:avLst/>
              <a:gdLst/>
              <a:ahLst/>
              <a:cxnLst/>
              <a:rect l="l" t="t" r="r" b="b"/>
              <a:pathLst>
                <a:path w="1334135" h="871855">
                  <a:moveTo>
                    <a:pt x="1186052" y="871601"/>
                  </a:moveTo>
                  <a:lnTo>
                    <a:pt x="1213865" y="825500"/>
                  </a:lnTo>
                  <a:lnTo>
                    <a:pt x="0" y="92201"/>
                  </a:lnTo>
                  <a:lnTo>
                    <a:pt x="55752" y="0"/>
                  </a:lnTo>
                  <a:lnTo>
                    <a:pt x="1269619" y="733298"/>
                  </a:lnTo>
                  <a:lnTo>
                    <a:pt x="1297432" y="687196"/>
                  </a:lnTo>
                  <a:lnTo>
                    <a:pt x="1334008" y="835151"/>
                  </a:lnTo>
                  <a:lnTo>
                    <a:pt x="1186052" y="871601"/>
                  </a:lnTo>
                  <a:close/>
                </a:path>
              </a:pathLst>
            </a:custGeom>
            <a:ln w="25399">
              <a:solidFill>
                <a:srgbClr val="008FBB"/>
              </a:solidFill>
            </a:ln>
          </p:spPr>
          <p:txBody>
            <a:bodyPr wrap="square" lIns="0" tIns="0" rIns="0" bIns="0" rtlCol="0"/>
            <a:lstStyle/>
            <a:p>
              <a:endParaRPr sz="2400"/>
            </a:p>
          </p:txBody>
        </p:sp>
        <p:pic>
          <p:nvPicPr>
            <p:cNvPr id="11" name="object 11"/>
            <p:cNvPicPr/>
            <p:nvPr/>
          </p:nvPicPr>
          <p:blipFill>
            <a:blip r:embed="rId2" cstate="print"/>
            <a:stretch>
              <a:fillRect/>
            </a:stretch>
          </p:blipFill>
          <p:spPr>
            <a:xfrm>
              <a:off x="2721863" y="1196352"/>
              <a:ext cx="3064002" cy="1118095"/>
            </a:xfrm>
            <a:prstGeom prst="rect">
              <a:avLst/>
            </a:prstGeom>
          </p:spPr>
        </p:pic>
        <p:sp>
          <p:nvSpPr>
            <p:cNvPr id="12" name="object 12"/>
            <p:cNvSpPr/>
            <p:nvPr/>
          </p:nvSpPr>
          <p:spPr>
            <a:xfrm>
              <a:off x="3048761" y="1351025"/>
              <a:ext cx="2430780" cy="486409"/>
            </a:xfrm>
            <a:custGeom>
              <a:avLst/>
              <a:gdLst/>
              <a:ahLst/>
              <a:cxnLst/>
              <a:rect l="l" t="t" r="r" b="b"/>
              <a:pathLst>
                <a:path w="2430779" h="486410">
                  <a:moveTo>
                    <a:pt x="2309241" y="0"/>
                  </a:moveTo>
                  <a:lnTo>
                    <a:pt x="121538" y="0"/>
                  </a:lnTo>
                  <a:lnTo>
                    <a:pt x="0" y="243077"/>
                  </a:lnTo>
                  <a:lnTo>
                    <a:pt x="121538" y="486156"/>
                  </a:lnTo>
                  <a:lnTo>
                    <a:pt x="2309241" y="486156"/>
                  </a:lnTo>
                  <a:lnTo>
                    <a:pt x="2430779" y="243077"/>
                  </a:lnTo>
                  <a:lnTo>
                    <a:pt x="2309241" y="0"/>
                  </a:lnTo>
                  <a:close/>
                </a:path>
              </a:pathLst>
            </a:custGeom>
            <a:solidFill>
              <a:srgbClr val="B3B3B3"/>
            </a:solidFill>
          </p:spPr>
          <p:txBody>
            <a:bodyPr wrap="square" lIns="0" tIns="0" rIns="0" bIns="0" rtlCol="0"/>
            <a:lstStyle/>
            <a:p>
              <a:endParaRPr sz="2400"/>
            </a:p>
          </p:txBody>
        </p:sp>
        <p:sp>
          <p:nvSpPr>
            <p:cNvPr id="13" name="object 13"/>
            <p:cNvSpPr/>
            <p:nvPr/>
          </p:nvSpPr>
          <p:spPr>
            <a:xfrm>
              <a:off x="3048761" y="1351025"/>
              <a:ext cx="2430780" cy="486409"/>
            </a:xfrm>
            <a:custGeom>
              <a:avLst/>
              <a:gdLst/>
              <a:ahLst/>
              <a:cxnLst/>
              <a:rect l="l" t="t" r="r" b="b"/>
              <a:pathLst>
                <a:path w="2430779" h="486410">
                  <a:moveTo>
                    <a:pt x="0" y="243077"/>
                  </a:moveTo>
                  <a:lnTo>
                    <a:pt x="121538" y="0"/>
                  </a:lnTo>
                  <a:lnTo>
                    <a:pt x="2309241" y="0"/>
                  </a:lnTo>
                  <a:lnTo>
                    <a:pt x="2430779" y="243077"/>
                  </a:lnTo>
                  <a:lnTo>
                    <a:pt x="2309241" y="486156"/>
                  </a:lnTo>
                  <a:lnTo>
                    <a:pt x="121538" y="486156"/>
                  </a:lnTo>
                  <a:lnTo>
                    <a:pt x="0" y="243077"/>
                  </a:lnTo>
                  <a:close/>
                </a:path>
              </a:pathLst>
            </a:custGeom>
            <a:ln w="19812">
              <a:solidFill>
                <a:srgbClr val="00C3FF"/>
              </a:solidFill>
            </a:ln>
          </p:spPr>
          <p:txBody>
            <a:bodyPr wrap="square" lIns="0" tIns="0" rIns="0" bIns="0" rtlCol="0"/>
            <a:lstStyle/>
            <a:p>
              <a:endParaRPr sz="2400"/>
            </a:p>
          </p:txBody>
        </p:sp>
      </p:grpSp>
      <p:sp>
        <p:nvSpPr>
          <p:cNvPr id="14" name="object 14"/>
          <p:cNvSpPr txBox="1"/>
          <p:nvPr/>
        </p:nvSpPr>
        <p:spPr>
          <a:xfrm>
            <a:off x="4792811" y="1939881"/>
            <a:ext cx="1809327" cy="386430"/>
          </a:xfrm>
          <a:prstGeom prst="rect">
            <a:avLst/>
          </a:prstGeom>
        </p:spPr>
        <p:txBody>
          <a:bodyPr vert="horz" wrap="square" lIns="0" tIns="16933" rIns="0" bIns="0" rtlCol="0">
            <a:spAutoFit/>
          </a:bodyPr>
          <a:lstStyle/>
          <a:p>
            <a:pPr marL="16933">
              <a:spcBef>
                <a:spcPts val="133"/>
              </a:spcBef>
            </a:pPr>
            <a:r>
              <a:rPr sz="2400" b="1" dirty="0">
                <a:solidFill>
                  <a:srgbClr val="00607E"/>
                </a:solidFill>
                <a:latin typeface="Trebuchet MS"/>
                <a:cs typeface="Trebuchet MS"/>
              </a:rPr>
              <a:t>Natural</a:t>
            </a:r>
            <a:r>
              <a:rPr sz="2400" b="1" spc="-100" dirty="0">
                <a:solidFill>
                  <a:srgbClr val="00607E"/>
                </a:solidFill>
                <a:latin typeface="Trebuchet MS"/>
                <a:cs typeface="Trebuchet MS"/>
              </a:rPr>
              <a:t> </a:t>
            </a:r>
            <a:r>
              <a:rPr sz="2400" b="1" spc="-27" dirty="0">
                <a:solidFill>
                  <a:srgbClr val="00607E"/>
                </a:solidFill>
                <a:latin typeface="Trebuchet MS"/>
                <a:cs typeface="Trebuchet MS"/>
              </a:rPr>
              <a:t>keys</a:t>
            </a:r>
            <a:endParaRPr sz="2400">
              <a:latin typeface="Trebuchet MS"/>
              <a:cs typeface="Trebuchet MS"/>
            </a:endParaRPr>
          </a:p>
        </p:txBody>
      </p:sp>
      <p:sp>
        <p:nvSpPr>
          <p:cNvPr id="15" name="object 15"/>
          <p:cNvSpPr txBox="1"/>
          <p:nvPr/>
        </p:nvSpPr>
        <p:spPr>
          <a:xfrm>
            <a:off x="8319891" y="4816490"/>
            <a:ext cx="1889760" cy="539462"/>
          </a:xfrm>
          <a:prstGeom prst="rect">
            <a:avLst/>
          </a:prstGeom>
          <a:noFill/>
        </p:spPr>
        <p:txBody>
          <a:bodyPr vert="horz" wrap="square" lIns="0" tIns="168485" rIns="0" bIns="0" rtlCol="0">
            <a:spAutoFit/>
          </a:bodyPr>
          <a:lstStyle/>
          <a:p>
            <a:pPr marL="620591">
              <a:spcBef>
                <a:spcPts val="1325"/>
              </a:spcBef>
            </a:pPr>
            <a:r>
              <a:rPr sz="2400" b="1" spc="-13" dirty="0">
                <a:solidFill>
                  <a:srgbClr val="D9D9D9"/>
                </a:solidFill>
                <a:latin typeface="Calibri"/>
                <a:cs typeface="Calibri"/>
              </a:rPr>
              <a:t>Sales</a:t>
            </a:r>
            <a:endParaRPr sz="2400" dirty="0">
              <a:latin typeface="Calibri"/>
              <a:cs typeface="Calibri"/>
            </a:endParaRP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44471" y="292321"/>
            <a:ext cx="8331200" cy="695062"/>
          </a:xfrm>
          <a:prstGeom prst="rect">
            <a:avLst/>
          </a:prstGeom>
        </p:spPr>
        <p:txBody>
          <a:bodyPr vert="horz" wrap="square" lIns="0" tIns="17780" rIns="0" bIns="0" rtlCol="0" anchor="ctr">
            <a:spAutoFit/>
          </a:bodyPr>
          <a:lstStyle/>
          <a:p>
            <a:pPr marL="931310" algn="ctr">
              <a:lnSpc>
                <a:spcPct val="100000"/>
              </a:lnSpc>
              <a:spcBef>
                <a:spcPts val="140"/>
              </a:spcBef>
            </a:pPr>
            <a:r>
              <a:rPr dirty="0">
                <a:solidFill>
                  <a:schemeClr val="bg1"/>
                </a:solidFill>
                <a:latin typeface="+mn-lt"/>
              </a:rPr>
              <a:t>Natural</a:t>
            </a:r>
            <a:r>
              <a:rPr spc="-80" dirty="0">
                <a:solidFill>
                  <a:schemeClr val="bg1"/>
                </a:solidFill>
                <a:latin typeface="+mn-lt"/>
              </a:rPr>
              <a:t> </a:t>
            </a:r>
            <a:r>
              <a:rPr dirty="0">
                <a:solidFill>
                  <a:schemeClr val="bg1"/>
                </a:solidFill>
                <a:latin typeface="+mn-lt"/>
              </a:rPr>
              <a:t>vs.</a:t>
            </a:r>
            <a:r>
              <a:rPr spc="-93" dirty="0">
                <a:solidFill>
                  <a:schemeClr val="bg1"/>
                </a:solidFill>
                <a:latin typeface="+mn-lt"/>
              </a:rPr>
              <a:t> </a:t>
            </a:r>
            <a:r>
              <a:rPr dirty="0">
                <a:solidFill>
                  <a:schemeClr val="bg1"/>
                </a:solidFill>
                <a:latin typeface="+mn-lt"/>
              </a:rPr>
              <a:t>Surrogate</a:t>
            </a:r>
            <a:r>
              <a:rPr spc="-93" dirty="0">
                <a:solidFill>
                  <a:schemeClr val="bg1"/>
                </a:solidFill>
                <a:latin typeface="+mn-lt"/>
              </a:rPr>
              <a:t> </a:t>
            </a:r>
            <a:r>
              <a:rPr spc="-33" dirty="0">
                <a:solidFill>
                  <a:schemeClr val="bg1"/>
                </a:solidFill>
                <a:latin typeface="+mn-lt"/>
              </a:rPr>
              <a:t>key</a:t>
            </a:r>
          </a:p>
        </p:txBody>
      </p:sp>
      <p:grpSp>
        <p:nvGrpSpPr>
          <p:cNvPr id="3" name="object 3"/>
          <p:cNvGrpSpPr/>
          <p:nvPr/>
        </p:nvGrpSpPr>
        <p:grpSpPr>
          <a:xfrm>
            <a:off x="1103376" y="1357393"/>
            <a:ext cx="4086013" cy="1490980"/>
            <a:chOff x="827532" y="1018044"/>
            <a:chExt cx="3064510" cy="1118235"/>
          </a:xfrm>
        </p:grpSpPr>
        <p:pic>
          <p:nvPicPr>
            <p:cNvPr id="4" name="object 4"/>
            <p:cNvPicPr/>
            <p:nvPr/>
          </p:nvPicPr>
          <p:blipFill>
            <a:blip r:embed="rId2" cstate="print"/>
            <a:stretch>
              <a:fillRect/>
            </a:stretch>
          </p:blipFill>
          <p:spPr>
            <a:xfrm>
              <a:off x="827532" y="1018044"/>
              <a:ext cx="3064001" cy="1118095"/>
            </a:xfrm>
            <a:prstGeom prst="rect">
              <a:avLst/>
            </a:prstGeom>
          </p:spPr>
        </p:pic>
        <p:sp>
          <p:nvSpPr>
            <p:cNvPr id="5" name="object 5"/>
            <p:cNvSpPr/>
            <p:nvPr/>
          </p:nvSpPr>
          <p:spPr>
            <a:xfrm>
              <a:off x="1154430" y="1172718"/>
              <a:ext cx="2430780" cy="486409"/>
            </a:xfrm>
            <a:custGeom>
              <a:avLst/>
              <a:gdLst/>
              <a:ahLst/>
              <a:cxnLst/>
              <a:rect l="l" t="t" r="r" b="b"/>
              <a:pathLst>
                <a:path w="2430779" h="486410">
                  <a:moveTo>
                    <a:pt x="2309241" y="0"/>
                  </a:moveTo>
                  <a:lnTo>
                    <a:pt x="121538" y="0"/>
                  </a:lnTo>
                  <a:lnTo>
                    <a:pt x="0" y="243078"/>
                  </a:lnTo>
                  <a:lnTo>
                    <a:pt x="121538" y="486156"/>
                  </a:lnTo>
                  <a:lnTo>
                    <a:pt x="2309241" y="486156"/>
                  </a:lnTo>
                  <a:lnTo>
                    <a:pt x="2430780" y="243078"/>
                  </a:lnTo>
                  <a:lnTo>
                    <a:pt x="2309241" y="0"/>
                  </a:lnTo>
                  <a:close/>
                </a:path>
              </a:pathLst>
            </a:custGeom>
            <a:solidFill>
              <a:srgbClr val="B3B3B3"/>
            </a:solidFill>
          </p:spPr>
          <p:txBody>
            <a:bodyPr wrap="square" lIns="0" tIns="0" rIns="0" bIns="0" rtlCol="0"/>
            <a:lstStyle/>
            <a:p>
              <a:endParaRPr sz="2400"/>
            </a:p>
          </p:txBody>
        </p:sp>
        <p:sp>
          <p:nvSpPr>
            <p:cNvPr id="6" name="object 6"/>
            <p:cNvSpPr/>
            <p:nvPr/>
          </p:nvSpPr>
          <p:spPr>
            <a:xfrm>
              <a:off x="1154430" y="1172718"/>
              <a:ext cx="2430780" cy="486409"/>
            </a:xfrm>
            <a:custGeom>
              <a:avLst/>
              <a:gdLst/>
              <a:ahLst/>
              <a:cxnLst/>
              <a:rect l="l" t="t" r="r" b="b"/>
              <a:pathLst>
                <a:path w="2430779" h="486410">
                  <a:moveTo>
                    <a:pt x="0" y="243078"/>
                  </a:moveTo>
                  <a:lnTo>
                    <a:pt x="121538" y="0"/>
                  </a:lnTo>
                  <a:lnTo>
                    <a:pt x="2309241" y="0"/>
                  </a:lnTo>
                  <a:lnTo>
                    <a:pt x="2430780" y="243078"/>
                  </a:lnTo>
                  <a:lnTo>
                    <a:pt x="2309241" y="486156"/>
                  </a:lnTo>
                  <a:lnTo>
                    <a:pt x="121538" y="486156"/>
                  </a:lnTo>
                  <a:lnTo>
                    <a:pt x="0" y="243078"/>
                  </a:lnTo>
                  <a:close/>
                </a:path>
              </a:pathLst>
            </a:custGeom>
            <a:ln w="19812">
              <a:solidFill>
                <a:srgbClr val="00C3FF"/>
              </a:solidFill>
            </a:ln>
          </p:spPr>
          <p:txBody>
            <a:bodyPr wrap="square" lIns="0" tIns="0" rIns="0" bIns="0" rtlCol="0"/>
            <a:lstStyle/>
            <a:p>
              <a:endParaRPr sz="2400"/>
            </a:p>
          </p:txBody>
        </p:sp>
      </p:grpSp>
      <p:sp>
        <p:nvSpPr>
          <p:cNvPr id="7" name="object 7"/>
          <p:cNvSpPr txBox="1"/>
          <p:nvPr/>
        </p:nvSpPr>
        <p:spPr>
          <a:xfrm>
            <a:off x="2106844" y="1700953"/>
            <a:ext cx="4328160" cy="1102011"/>
          </a:xfrm>
          <a:prstGeom prst="rect">
            <a:avLst/>
          </a:prstGeom>
        </p:spPr>
        <p:txBody>
          <a:bodyPr vert="horz" wrap="square" lIns="0" tIns="16933" rIns="0" bIns="0" rtlCol="0">
            <a:spAutoFit/>
          </a:bodyPr>
          <a:lstStyle/>
          <a:p>
            <a:pPr marL="176949">
              <a:spcBef>
                <a:spcPts val="133"/>
              </a:spcBef>
            </a:pPr>
            <a:r>
              <a:rPr sz="2400" b="1" dirty="0">
                <a:solidFill>
                  <a:srgbClr val="00607E"/>
                </a:solidFill>
                <a:latin typeface="Trebuchet MS"/>
                <a:cs typeface="Trebuchet MS"/>
              </a:rPr>
              <a:t>Natural</a:t>
            </a:r>
            <a:r>
              <a:rPr sz="2400" b="1" spc="-100" dirty="0">
                <a:solidFill>
                  <a:srgbClr val="00607E"/>
                </a:solidFill>
                <a:latin typeface="Trebuchet MS"/>
                <a:cs typeface="Trebuchet MS"/>
              </a:rPr>
              <a:t> </a:t>
            </a:r>
            <a:r>
              <a:rPr sz="2400" b="1" spc="-27" dirty="0">
                <a:solidFill>
                  <a:srgbClr val="00607E"/>
                </a:solidFill>
                <a:latin typeface="Trebuchet MS"/>
                <a:cs typeface="Trebuchet MS"/>
              </a:rPr>
              <a:t>keys</a:t>
            </a:r>
            <a:endParaRPr sz="2400">
              <a:latin typeface="Trebuchet MS"/>
              <a:cs typeface="Trebuchet MS"/>
            </a:endParaRPr>
          </a:p>
          <a:p>
            <a:pPr marL="397923" indent="-380990">
              <a:spcBef>
                <a:spcPts val="2652"/>
              </a:spcBef>
              <a:buClr>
                <a:srgbClr val="99D3FF"/>
              </a:buClr>
              <a:buFont typeface="Wingdings"/>
              <a:buChar char=""/>
              <a:tabLst>
                <a:tab pos="397923" algn="l"/>
              </a:tabLst>
            </a:pPr>
            <a:r>
              <a:rPr sz="2400" b="1" dirty="0">
                <a:solidFill>
                  <a:srgbClr val="D9D9D9"/>
                </a:solidFill>
                <a:latin typeface="Calibri"/>
                <a:cs typeface="Calibri"/>
              </a:rPr>
              <a:t>Come</a:t>
            </a:r>
            <a:r>
              <a:rPr sz="2400" b="1" spc="-33" dirty="0">
                <a:solidFill>
                  <a:srgbClr val="D9D9D9"/>
                </a:solidFill>
                <a:latin typeface="Calibri"/>
                <a:cs typeface="Calibri"/>
              </a:rPr>
              <a:t> </a:t>
            </a:r>
            <a:r>
              <a:rPr sz="2400" b="1" dirty="0">
                <a:solidFill>
                  <a:srgbClr val="D9D9D9"/>
                </a:solidFill>
                <a:latin typeface="Calibri"/>
                <a:cs typeface="Calibri"/>
              </a:rPr>
              <a:t>out</a:t>
            </a:r>
            <a:r>
              <a:rPr sz="2400" b="1" spc="-47" dirty="0">
                <a:solidFill>
                  <a:srgbClr val="D9D9D9"/>
                </a:solidFill>
                <a:latin typeface="Calibri"/>
                <a:cs typeface="Calibri"/>
              </a:rPr>
              <a:t> </a:t>
            </a:r>
            <a:r>
              <a:rPr sz="2400" b="1" dirty="0">
                <a:solidFill>
                  <a:srgbClr val="D9D9D9"/>
                </a:solidFill>
                <a:latin typeface="Calibri"/>
                <a:cs typeface="Calibri"/>
              </a:rPr>
              <a:t>of</a:t>
            </a:r>
            <a:r>
              <a:rPr sz="2400" b="1" spc="-7" dirty="0">
                <a:solidFill>
                  <a:srgbClr val="D9D9D9"/>
                </a:solidFill>
                <a:latin typeface="Calibri"/>
                <a:cs typeface="Calibri"/>
              </a:rPr>
              <a:t> </a:t>
            </a:r>
            <a:r>
              <a:rPr sz="2400" b="1" dirty="0">
                <a:solidFill>
                  <a:srgbClr val="D9D9D9"/>
                </a:solidFill>
                <a:latin typeface="Calibri"/>
                <a:cs typeface="Calibri"/>
              </a:rPr>
              <a:t>the</a:t>
            </a:r>
            <a:r>
              <a:rPr sz="2400" b="1" spc="-27" dirty="0">
                <a:solidFill>
                  <a:srgbClr val="D9D9D9"/>
                </a:solidFill>
                <a:latin typeface="Calibri"/>
                <a:cs typeface="Calibri"/>
              </a:rPr>
              <a:t> </a:t>
            </a:r>
            <a:r>
              <a:rPr sz="2400" b="1" dirty="0">
                <a:solidFill>
                  <a:srgbClr val="D9D9D9"/>
                </a:solidFill>
                <a:latin typeface="Calibri"/>
                <a:cs typeface="Calibri"/>
              </a:rPr>
              <a:t>source</a:t>
            </a:r>
            <a:r>
              <a:rPr sz="2400" b="1" spc="-73" dirty="0">
                <a:solidFill>
                  <a:srgbClr val="D9D9D9"/>
                </a:solidFill>
                <a:latin typeface="Calibri"/>
                <a:cs typeface="Calibri"/>
              </a:rPr>
              <a:t> </a:t>
            </a:r>
            <a:r>
              <a:rPr sz="2400" b="1" spc="-13" dirty="0">
                <a:solidFill>
                  <a:srgbClr val="D9D9D9"/>
                </a:solidFill>
                <a:latin typeface="Calibri"/>
                <a:cs typeface="Calibri"/>
              </a:rPr>
              <a:t>system</a:t>
            </a:r>
            <a:endParaRPr sz="2400">
              <a:latin typeface="Calibri"/>
              <a:cs typeface="Calibri"/>
            </a:endParaRPr>
          </a:p>
        </p:txBody>
      </p:sp>
      <p:graphicFrame>
        <p:nvGraphicFramePr>
          <p:cNvPr id="8" name="object 8"/>
          <p:cNvGraphicFramePr>
            <a:graphicFrameLocks noGrp="1"/>
          </p:cNvGraphicFramePr>
          <p:nvPr>
            <p:extLst>
              <p:ext uri="{D42A27DB-BD31-4B8C-83A1-F6EECF244321}">
                <p14:modId xmlns:p14="http://schemas.microsoft.com/office/powerpoint/2010/main" val="4125177800"/>
              </p:ext>
            </p:extLst>
          </p:nvPr>
        </p:nvGraphicFramePr>
        <p:xfrm>
          <a:off x="3750734" y="2925740"/>
          <a:ext cx="5792042" cy="1241213"/>
        </p:xfrm>
        <a:graphic>
          <a:graphicData uri="http://schemas.openxmlformats.org/drawingml/2006/table">
            <a:tbl>
              <a:tblPr firstRow="1" bandRow="1">
                <a:tableStyleId>{2D5ABB26-0587-4C30-8999-92F81FD0307C}</a:tableStyleId>
              </a:tblPr>
              <a:tblGrid>
                <a:gridCol w="1280159">
                  <a:extLst>
                    <a:ext uri="{9D8B030D-6E8A-4147-A177-3AD203B41FA5}">
                      <a16:colId xmlns:a16="http://schemas.microsoft.com/office/drawing/2014/main" val="20000"/>
                    </a:ext>
                  </a:extLst>
                </a:gridCol>
                <a:gridCol w="1280159">
                  <a:extLst>
                    <a:ext uri="{9D8B030D-6E8A-4147-A177-3AD203B41FA5}">
                      <a16:colId xmlns:a16="http://schemas.microsoft.com/office/drawing/2014/main" val="20001"/>
                    </a:ext>
                  </a:extLst>
                </a:gridCol>
                <a:gridCol w="1544319">
                  <a:extLst>
                    <a:ext uri="{9D8B030D-6E8A-4147-A177-3AD203B41FA5}">
                      <a16:colId xmlns:a16="http://schemas.microsoft.com/office/drawing/2014/main" val="20002"/>
                    </a:ext>
                  </a:extLst>
                </a:gridCol>
                <a:gridCol w="1687405">
                  <a:extLst>
                    <a:ext uri="{9D8B030D-6E8A-4147-A177-3AD203B41FA5}">
                      <a16:colId xmlns:a16="http://schemas.microsoft.com/office/drawing/2014/main" val="20003"/>
                    </a:ext>
                  </a:extLst>
                </a:gridCol>
              </a:tblGrid>
              <a:tr h="225213">
                <a:tc>
                  <a:txBody>
                    <a:bodyPr/>
                    <a:lstStyle/>
                    <a:p>
                      <a:pPr algn="ctr">
                        <a:lnSpc>
                          <a:spcPct val="100000"/>
                        </a:lnSpc>
                        <a:spcBef>
                          <a:spcPts val="0"/>
                        </a:spcBef>
                      </a:pPr>
                      <a:r>
                        <a:rPr sz="1400" b="1" spc="-10" dirty="0">
                          <a:solidFill>
                            <a:schemeClr val="bg1"/>
                          </a:solidFill>
                          <a:latin typeface="Arial"/>
                          <a:cs typeface="Arial"/>
                        </a:rPr>
                        <a:t>Product_PK</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635" algn="ctr">
                        <a:lnSpc>
                          <a:spcPct val="100000"/>
                        </a:lnSpc>
                        <a:spcBef>
                          <a:spcPts val="0"/>
                        </a:spcBef>
                      </a:pPr>
                      <a:r>
                        <a:rPr sz="1400" b="1" spc="-10" dirty="0">
                          <a:solidFill>
                            <a:schemeClr val="bg1"/>
                          </a:solidFill>
                          <a:latin typeface="Arial"/>
                          <a:cs typeface="Arial"/>
                        </a:rPr>
                        <a:t>product_id</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gn="ctr">
                        <a:lnSpc>
                          <a:spcPct val="100000"/>
                        </a:lnSpc>
                        <a:spcBef>
                          <a:spcPts val="0"/>
                        </a:spcBef>
                      </a:pPr>
                      <a:r>
                        <a:rPr sz="1400" b="1" spc="-20" dirty="0">
                          <a:solidFill>
                            <a:schemeClr val="bg1"/>
                          </a:solidFill>
                          <a:latin typeface="Arial"/>
                          <a:cs typeface="Arial"/>
                        </a:rPr>
                        <a:t>name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4445" algn="ctr">
                        <a:lnSpc>
                          <a:spcPct val="100000"/>
                        </a:lnSpc>
                        <a:spcBef>
                          <a:spcPts val="0"/>
                        </a:spcBef>
                      </a:pPr>
                      <a:r>
                        <a:rPr sz="1400" b="1" spc="-10" dirty="0">
                          <a:solidFill>
                            <a:schemeClr val="bg1"/>
                          </a:solidFill>
                          <a:latin typeface="Arial"/>
                          <a:cs typeface="Arial"/>
                        </a:rPr>
                        <a:t>category</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marL="1270" algn="ctr">
                        <a:lnSpc>
                          <a:spcPts val="1175"/>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5"/>
                        </a:lnSpc>
                        <a:spcBef>
                          <a:spcPts val="225"/>
                        </a:spcBef>
                      </a:pPr>
                      <a:r>
                        <a:rPr sz="1400" spc="-20" dirty="0">
                          <a:latin typeface="Arial MT"/>
                          <a:cs typeface="Arial MT"/>
                        </a:rPr>
                        <a:t>PX30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5"/>
                        </a:lnSpc>
                        <a:spcBef>
                          <a:spcPts val="225"/>
                        </a:spcBef>
                      </a:pPr>
                      <a:r>
                        <a:rPr sz="1400" spc="-10" dirty="0">
                          <a:latin typeface="Arial MT"/>
                          <a:cs typeface="Arial MT"/>
                        </a:rPr>
                        <a:t>Chili</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5"/>
                        </a:lnSpc>
                        <a:spcBef>
                          <a:spcPts val="225"/>
                        </a:spcBef>
                      </a:pPr>
                      <a:r>
                        <a:rPr sz="1400" spc="-10" dirty="0">
                          <a:latin typeface="Arial MT"/>
                          <a:cs typeface="Arial MT"/>
                        </a:rPr>
                        <a:t>Herbs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marL="1270" algn="ctr">
                        <a:lnSpc>
                          <a:spcPts val="117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5"/>
                        </a:spcBef>
                      </a:pPr>
                      <a:r>
                        <a:rPr sz="1400" spc="-20" dirty="0">
                          <a:latin typeface="Arial MT"/>
                          <a:cs typeface="Arial MT"/>
                        </a:rPr>
                        <a:t>PT32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10" dirty="0">
                          <a:latin typeface="Arial MT"/>
                          <a:cs typeface="Arial MT"/>
                        </a:rPr>
                        <a:t>Garlic</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5"/>
                        </a:spcBef>
                      </a:pPr>
                      <a:r>
                        <a:rPr sz="1400" dirty="0">
                          <a:latin typeface="Arial MT"/>
                          <a:cs typeface="Arial MT"/>
                        </a:rPr>
                        <a:t>Fruits</a:t>
                      </a:r>
                      <a:r>
                        <a:rPr sz="1400" spc="-30" dirty="0">
                          <a:latin typeface="Arial MT"/>
                          <a:cs typeface="Arial MT"/>
                        </a:rPr>
                        <a:t> </a:t>
                      </a:r>
                      <a:r>
                        <a:rPr sz="1400" dirty="0">
                          <a:latin typeface="Arial MT"/>
                          <a:cs typeface="Arial MT"/>
                        </a:rPr>
                        <a:t>&amp;</a:t>
                      </a:r>
                      <a:r>
                        <a:rPr sz="1400" spc="-25" dirty="0">
                          <a:latin typeface="Arial MT"/>
                          <a:cs typeface="Arial MT"/>
                        </a:rPr>
                        <a:t> </a:t>
                      </a:r>
                      <a:r>
                        <a:rPr sz="1400" spc="-10" dirty="0">
                          <a:latin typeface="Arial MT"/>
                          <a:cs typeface="Arial MT"/>
                        </a:rPr>
                        <a:t>Vegetables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marL="1270" algn="ctr">
                        <a:lnSpc>
                          <a:spcPts val="117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5"/>
                        </a:spcBef>
                      </a:pPr>
                      <a:r>
                        <a:rPr sz="1400" spc="-20" dirty="0">
                          <a:latin typeface="Arial MT"/>
                          <a:cs typeface="Arial MT"/>
                        </a:rPr>
                        <a:t>AX42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10" dirty="0">
                          <a:latin typeface="Arial MT"/>
                          <a:cs typeface="Arial MT"/>
                        </a:rPr>
                        <a:t>Banana</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5"/>
                        </a:spcBef>
                      </a:pPr>
                      <a:r>
                        <a:rPr sz="1400" dirty="0">
                          <a:latin typeface="Arial MT"/>
                          <a:cs typeface="Arial MT"/>
                        </a:rPr>
                        <a:t>Fruits</a:t>
                      </a:r>
                      <a:r>
                        <a:rPr sz="1400" spc="-30" dirty="0">
                          <a:latin typeface="Arial MT"/>
                          <a:cs typeface="Arial MT"/>
                        </a:rPr>
                        <a:t> </a:t>
                      </a:r>
                      <a:r>
                        <a:rPr sz="1400" dirty="0">
                          <a:latin typeface="Arial MT"/>
                          <a:cs typeface="Arial MT"/>
                        </a:rPr>
                        <a:t>&amp;</a:t>
                      </a:r>
                      <a:r>
                        <a:rPr sz="1400" spc="-25" dirty="0">
                          <a:latin typeface="Arial MT"/>
                          <a:cs typeface="Arial MT"/>
                        </a:rPr>
                        <a:t> </a:t>
                      </a:r>
                      <a:r>
                        <a:rPr sz="1400" spc="-10" dirty="0">
                          <a:latin typeface="Arial MT"/>
                          <a:cs typeface="Arial MT"/>
                        </a:rPr>
                        <a:t>Vegetables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marL="1270" algn="ctr">
                        <a:lnSpc>
                          <a:spcPts val="1170"/>
                        </a:lnSpc>
                        <a:spcBef>
                          <a:spcPts val="225"/>
                        </a:spcBef>
                      </a:pPr>
                      <a:r>
                        <a:rPr sz="1400" spc="-50" dirty="0">
                          <a:latin typeface="Arial MT"/>
                          <a:cs typeface="Arial MT"/>
                        </a:rPr>
                        <a:t>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5"/>
                        </a:spcBef>
                      </a:pPr>
                      <a:r>
                        <a:rPr sz="1400" spc="-20" dirty="0">
                          <a:latin typeface="Arial MT"/>
                          <a:cs typeface="Arial MT"/>
                        </a:rPr>
                        <a:t>DA24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5"/>
                        </a:spcBef>
                      </a:pPr>
                      <a:r>
                        <a:rPr sz="1400" spc="-10" dirty="0">
                          <a:latin typeface="Arial MT"/>
                          <a:cs typeface="Arial MT"/>
                        </a:rPr>
                        <a:t>Chocolate</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5"/>
                        </a:spcBef>
                      </a:pPr>
                      <a:r>
                        <a:rPr sz="1400" dirty="0">
                          <a:latin typeface="Arial MT"/>
                          <a:cs typeface="Arial MT"/>
                        </a:rPr>
                        <a:t>Sweets</a:t>
                      </a:r>
                      <a:r>
                        <a:rPr sz="1400" spc="-30" dirty="0">
                          <a:latin typeface="Arial MT"/>
                          <a:cs typeface="Arial MT"/>
                        </a:rPr>
                        <a:t> </a:t>
                      </a:r>
                      <a:r>
                        <a:rPr sz="1400" dirty="0">
                          <a:latin typeface="Arial MT"/>
                          <a:cs typeface="Arial MT"/>
                        </a:rPr>
                        <a:t>&amp;</a:t>
                      </a:r>
                      <a:r>
                        <a:rPr sz="1400" spc="-10" dirty="0">
                          <a:latin typeface="Arial MT"/>
                          <a:cs typeface="Arial MT"/>
                        </a:rPr>
                        <a:t> Snacks</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bl>
          </a:graphicData>
        </a:graphic>
      </p:graphicFrame>
      <p:grpSp>
        <p:nvGrpSpPr>
          <p:cNvPr id="9" name="object 9"/>
          <p:cNvGrpSpPr/>
          <p:nvPr/>
        </p:nvGrpSpPr>
        <p:grpSpPr>
          <a:xfrm>
            <a:off x="682751" y="4275327"/>
            <a:ext cx="4197096" cy="1616489"/>
            <a:chOff x="512063" y="3206495"/>
            <a:chExt cx="3147822" cy="1212367"/>
          </a:xfrm>
        </p:grpSpPr>
        <p:pic>
          <p:nvPicPr>
            <p:cNvPr id="10" name="object 10"/>
            <p:cNvPicPr/>
            <p:nvPr/>
          </p:nvPicPr>
          <p:blipFill>
            <a:blip r:embed="rId3" cstate="print"/>
            <a:stretch>
              <a:fillRect/>
            </a:stretch>
          </p:blipFill>
          <p:spPr>
            <a:xfrm>
              <a:off x="512063" y="3206495"/>
              <a:ext cx="3147822" cy="1212367"/>
            </a:xfrm>
            <a:prstGeom prst="rect">
              <a:avLst/>
            </a:prstGeom>
          </p:spPr>
        </p:pic>
        <p:sp>
          <p:nvSpPr>
            <p:cNvPr id="12" name="object 12"/>
            <p:cNvSpPr/>
            <p:nvPr/>
          </p:nvSpPr>
          <p:spPr>
            <a:xfrm>
              <a:off x="838961" y="3361181"/>
              <a:ext cx="2514600" cy="581025"/>
            </a:xfrm>
            <a:custGeom>
              <a:avLst/>
              <a:gdLst/>
              <a:ahLst/>
              <a:cxnLst/>
              <a:rect l="l" t="t" r="r" b="b"/>
              <a:pathLst>
                <a:path w="2514600" h="581025">
                  <a:moveTo>
                    <a:pt x="0" y="290322"/>
                  </a:moveTo>
                  <a:lnTo>
                    <a:pt x="145160" y="0"/>
                  </a:lnTo>
                  <a:lnTo>
                    <a:pt x="2369439" y="0"/>
                  </a:lnTo>
                  <a:lnTo>
                    <a:pt x="2514600" y="290322"/>
                  </a:lnTo>
                  <a:lnTo>
                    <a:pt x="2369439" y="580644"/>
                  </a:lnTo>
                  <a:lnTo>
                    <a:pt x="145160" y="580644"/>
                  </a:lnTo>
                  <a:lnTo>
                    <a:pt x="0" y="290322"/>
                  </a:lnTo>
                  <a:close/>
                </a:path>
              </a:pathLst>
            </a:custGeom>
            <a:ln w="19811">
              <a:solidFill>
                <a:srgbClr val="00C3FF"/>
              </a:solidFill>
            </a:ln>
          </p:spPr>
          <p:txBody>
            <a:bodyPr wrap="square" lIns="0" tIns="0" rIns="0" bIns="0" rtlCol="0"/>
            <a:lstStyle/>
            <a:p>
              <a:endParaRPr sz="2400"/>
            </a:p>
          </p:txBody>
        </p:sp>
      </p:grpSp>
      <p:sp>
        <p:nvSpPr>
          <p:cNvPr id="13" name="object 13"/>
          <p:cNvSpPr txBox="1"/>
          <p:nvPr/>
        </p:nvSpPr>
        <p:spPr>
          <a:xfrm>
            <a:off x="1803738" y="4626966"/>
            <a:ext cx="1987973" cy="428387"/>
          </a:xfrm>
          <a:prstGeom prst="rect">
            <a:avLst/>
          </a:prstGeom>
        </p:spPr>
        <p:txBody>
          <a:bodyPr vert="horz" wrap="square" lIns="0" tIns="17780" rIns="0" bIns="0" rtlCol="0">
            <a:spAutoFit/>
          </a:bodyPr>
          <a:lstStyle/>
          <a:p>
            <a:pPr marL="16933">
              <a:spcBef>
                <a:spcPts val="140"/>
              </a:spcBef>
            </a:pPr>
            <a:r>
              <a:rPr sz="2667" b="1" dirty="0">
                <a:solidFill>
                  <a:srgbClr val="CCEAFF"/>
                </a:solidFill>
                <a:latin typeface="Calibri"/>
                <a:cs typeface="Calibri"/>
              </a:rPr>
              <a:t>Surrogate</a:t>
            </a:r>
            <a:r>
              <a:rPr sz="2667" b="1" spc="-53" dirty="0">
                <a:solidFill>
                  <a:srgbClr val="CCEAFF"/>
                </a:solidFill>
                <a:latin typeface="Calibri"/>
                <a:cs typeface="Calibri"/>
              </a:rPr>
              <a:t> </a:t>
            </a:r>
            <a:r>
              <a:rPr sz="2667" b="1" spc="-33" dirty="0">
                <a:solidFill>
                  <a:srgbClr val="CCEAFF"/>
                </a:solidFill>
                <a:latin typeface="Calibri"/>
                <a:cs typeface="Calibri"/>
              </a:rPr>
              <a:t>key</a:t>
            </a:r>
            <a:endParaRPr sz="2667">
              <a:latin typeface="Calibri"/>
              <a:cs typeface="Calibri"/>
            </a:endParaRPr>
          </a:p>
        </p:txBody>
      </p:sp>
      <p:sp>
        <p:nvSpPr>
          <p:cNvPr id="14" name="object 14"/>
          <p:cNvSpPr txBox="1"/>
          <p:nvPr/>
        </p:nvSpPr>
        <p:spPr>
          <a:xfrm>
            <a:off x="4902878" y="4362027"/>
            <a:ext cx="2552700" cy="999419"/>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Integer</a:t>
            </a:r>
            <a:r>
              <a:rPr sz="2400" b="1" spc="-73" dirty="0">
                <a:solidFill>
                  <a:srgbClr val="D9D9D9"/>
                </a:solidFill>
                <a:latin typeface="Calibri"/>
                <a:cs typeface="Calibri"/>
              </a:rPr>
              <a:t> </a:t>
            </a:r>
            <a:r>
              <a:rPr sz="2400" b="1" spc="-13" dirty="0">
                <a:solidFill>
                  <a:srgbClr val="D9D9D9"/>
                </a:solidFill>
                <a:latin typeface="Calibri"/>
                <a:cs typeface="Calibri"/>
              </a:rPr>
              <a:t>number</a:t>
            </a:r>
            <a:endParaRPr sz="2400">
              <a:latin typeface="Calibri"/>
              <a:cs typeface="Calibri"/>
            </a:endParaRPr>
          </a:p>
          <a:p>
            <a:pPr marL="420783" indent="-380990">
              <a:spcBef>
                <a:spcPts val="1913"/>
              </a:spcBef>
              <a:buClr>
                <a:srgbClr val="99D3FF"/>
              </a:buClr>
              <a:buFont typeface="Wingdings"/>
              <a:buChar char=""/>
              <a:tabLst>
                <a:tab pos="420783" algn="l"/>
              </a:tabLst>
            </a:pPr>
            <a:r>
              <a:rPr sz="2400" b="1" dirty="0">
                <a:solidFill>
                  <a:srgbClr val="D9D9D9"/>
                </a:solidFill>
                <a:latin typeface="Calibri"/>
                <a:cs typeface="Calibri"/>
              </a:rPr>
              <a:t>_PK</a:t>
            </a:r>
            <a:r>
              <a:rPr sz="2400" b="1" spc="-20" dirty="0">
                <a:solidFill>
                  <a:srgbClr val="D9D9D9"/>
                </a:solidFill>
                <a:latin typeface="Calibri"/>
                <a:cs typeface="Calibri"/>
              </a:rPr>
              <a:t> </a:t>
            </a:r>
            <a:r>
              <a:rPr sz="2400" b="1" dirty="0">
                <a:solidFill>
                  <a:srgbClr val="D9D9D9"/>
                </a:solidFill>
                <a:latin typeface="Calibri"/>
                <a:cs typeface="Calibri"/>
              </a:rPr>
              <a:t>or</a:t>
            </a:r>
            <a:r>
              <a:rPr sz="2400" b="1" spc="-33" dirty="0">
                <a:solidFill>
                  <a:srgbClr val="D9D9D9"/>
                </a:solidFill>
                <a:latin typeface="Calibri"/>
                <a:cs typeface="Calibri"/>
              </a:rPr>
              <a:t> </a:t>
            </a:r>
            <a:r>
              <a:rPr sz="2400" b="1" dirty="0">
                <a:solidFill>
                  <a:srgbClr val="D9D9D9"/>
                </a:solidFill>
                <a:latin typeface="Calibri"/>
                <a:cs typeface="Calibri"/>
              </a:rPr>
              <a:t>_FK</a:t>
            </a:r>
            <a:r>
              <a:rPr sz="2400" b="1" spc="-33" dirty="0">
                <a:solidFill>
                  <a:srgbClr val="D9D9D9"/>
                </a:solidFill>
                <a:latin typeface="Calibri"/>
                <a:cs typeface="Calibri"/>
              </a:rPr>
              <a:t> </a:t>
            </a:r>
            <a:r>
              <a:rPr sz="2400" b="1" spc="-13" dirty="0">
                <a:solidFill>
                  <a:srgbClr val="D9D9D9"/>
                </a:solidFill>
                <a:latin typeface="Calibri"/>
                <a:cs typeface="Calibri"/>
              </a:rPr>
              <a:t>suffix</a:t>
            </a:r>
            <a:endParaRPr sz="2400">
              <a:latin typeface="Calibri"/>
              <a:cs typeface="Calibri"/>
            </a:endParaRPr>
          </a:p>
        </p:txBody>
      </p:sp>
      <p:sp>
        <p:nvSpPr>
          <p:cNvPr id="15" name="object 15"/>
          <p:cNvSpPr txBox="1"/>
          <p:nvPr/>
        </p:nvSpPr>
        <p:spPr>
          <a:xfrm>
            <a:off x="1744471" y="5344295"/>
            <a:ext cx="7942580" cy="683948"/>
          </a:xfrm>
          <a:prstGeom prst="rect">
            <a:avLst/>
          </a:prstGeom>
        </p:spPr>
        <p:txBody>
          <a:bodyPr vert="horz" wrap="square" lIns="0" tIns="16933" rIns="0" bIns="0" rtlCol="0">
            <a:spAutoFit/>
          </a:bodyPr>
          <a:lstStyle/>
          <a:p>
            <a:pPr marL="16933">
              <a:lnSpc>
                <a:spcPts val="2619"/>
              </a:lnSpc>
              <a:spcBef>
                <a:spcPts val="133"/>
              </a:spcBef>
            </a:pPr>
            <a:r>
              <a:rPr sz="2400" spc="-13" dirty="0">
                <a:solidFill>
                  <a:srgbClr val="D9D9D9"/>
                </a:solidFill>
                <a:latin typeface="Segoe UI Emoji"/>
                <a:cs typeface="Segoe UI Emoji"/>
              </a:rPr>
              <a:t>Artificial</a:t>
            </a:r>
            <a:r>
              <a:rPr sz="2400" spc="-133" dirty="0">
                <a:solidFill>
                  <a:srgbClr val="D9D9D9"/>
                </a:solidFill>
                <a:latin typeface="Segoe UI Emoji"/>
                <a:cs typeface="Segoe UI Emoji"/>
              </a:rPr>
              <a:t> </a:t>
            </a:r>
            <a:r>
              <a:rPr sz="2400" spc="-27" dirty="0">
                <a:solidFill>
                  <a:srgbClr val="D9D9D9"/>
                </a:solidFill>
                <a:latin typeface="Segoe UI Emoji"/>
                <a:cs typeface="Segoe UI Emoji"/>
              </a:rPr>
              <a:t>keys</a:t>
            </a:r>
            <a:endParaRPr sz="2400">
              <a:latin typeface="Segoe UI Emoji"/>
              <a:cs typeface="Segoe UI Emoji"/>
            </a:endParaRPr>
          </a:p>
          <a:p>
            <a:pPr marL="3563531" indent="-380990">
              <a:lnSpc>
                <a:spcPts val="2619"/>
              </a:lnSpc>
              <a:buClr>
                <a:srgbClr val="99D3FF"/>
              </a:buClr>
              <a:buFont typeface="Wingdings"/>
              <a:buChar char=""/>
              <a:tabLst>
                <a:tab pos="3563531" algn="l"/>
              </a:tabLst>
            </a:pPr>
            <a:r>
              <a:rPr sz="2400" b="1" dirty="0">
                <a:solidFill>
                  <a:srgbClr val="D9D9D9"/>
                </a:solidFill>
                <a:latin typeface="Calibri"/>
                <a:cs typeface="Calibri"/>
              </a:rPr>
              <a:t>Created</a:t>
            </a:r>
            <a:r>
              <a:rPr sz="2400" b="1" spc="-40" dirty="0">
                <a:solidFill>
                  <a:srgbClr val="D9D9D9"/>
                </a:solidFill>
                <a:latin typeface="Calibri"/>
                <a:cs typeface="Calibri"/>
              </a:rPr>
              <a:t> </a:t>
            </a:r>
            <a:r>
              <a:rPr sz="2400" b="1" dirty="0">
                <a:solidFill>
                  <a:srgbClr val="D9D9D9"/>
                </a:solidFill>
                <a:latin typeface="Calibri"/>
                <a:cs typeface="Calibri"/>
              </a:rPr>
              <a:t>by</a:t>
            </a:r>
            <a:r>
              <a:rPr sz="2400" b="1" spc="-40" dirty="0">
                <a:solidFill>
                  <a:srgbClr val="D9D9D9"/>
                </a:solidFill>
                <a:latin typeface="Calibri"/>
                <a:cs typeface="Calibri"/>
              </a:rPr>
              <a:t> </a:t>
            </a:r>
            <a:r>
              <a:rPr sz="2400" b="1" dirty="0">
                <a:solidFill>
                  <a:srgbClr val="D9D9D9"/>
                </a:solidFill>
                <a:latin typeface="Calibri"/>
                <a:cs typeface="Calibri"/>
              </a:rPr>
              <a:t>the</a:t>
            </a:r>
            <a:r>
              <a:rPr sz="2400" b="1" spc="-27" dirty="0">
                <a:solidFill>
                  <a:srgbClr val="D9D9D9"/>
                </a:solidFill>
                <a:latin typeface="Calibri"/>
                <a:cs typeface="Calibri"/>
              </a:rPr>
              <a:t> </a:t>
            </a:r>
            <a:r>
              <a:rPr sz="2400" b="1" dirty="0">
                <a:solidFill>
                  <a:srgbClr val="D9D9D9"/>
                </a:solidFill>
                <a:latin typeface="Calibri"/>
                <a:cs typeface="Calibri"/>
              </a:rPr>
              <a:t>database</a:t>
            </a:r>
            <a:r>
              <a:rPr sz="2400" b="1" spc="-60" dirty="0">
                <a:solidFill>
                  <a:srgbClr val="D9D9D9"/>
                </a:solidFill>
                <a:latin typeface="Calibri"/>
                <a:cs typeface="Calibri"/>
              </a:rPr>
              <a:t> </a:t>
            </a:r>
            <a:r>
              <a:rPr sz="2400" b="1" dirty="0">
                <a:solidFill>
                  <a:srgbClr val="D9D9D9"/>
                </a:solidFill>
                <a:latin typeface="Calibri"/>
                <a:cs typeface="Calibri"/>
              </a:rPr>
              <a:t>/</a:t>
            </a:r>
            <a:r>
              <a:rPr sz="2400" b="1" spc="-13" dirty="0">
                <a:solidFill>
                  <a:srgbClr val="D9D9D9"/>
                </a:solidFill>
                <a:latin typeface="Calibri"/>
                <a:cs typeface="Calibri"/>
              </a:rPr>
              <a:t> </a:t>
            </a:r>
            <a:r>
              <a:rPr sz="2400" b="1" dirty="0">
                <a:solidFill>
                  <a:srgbClr val="D9D9D9"/>
                </a:solidFill>
                <a:latin typeface="Calibri"/>
                <a:cs typeface="Calibri"/>
              </a:rPr>
              <a:t>ETL</a:t>
            </a:r>
            <a:r>
              <a:rPr sz="2400" b="1" spc="-13" dirty="0">
                <a:solidFill>
                  <a:srgbClr val="D9D9D9"/>
                </a:solidFill>
                <a:latin typeface="Calibri"/>
                <a:cs typeface="Calibri"/>
              </a:rPr>
              <a:t> </a:t>
            </a:r>
            <a:r>
              <a:rPr sz="2400" b="1" spc="-27" dirty="0">
                <a:solidFill>
                  <a:srgbClr val="D9D9D9"/>
                </a:solidFill>
                <a:latin typeface="Calibri"/>
                <a:cs typeface="Calibri"/>
              </a:rPr>
              <a:t>tool</a:t>
            </a:r>
            <a:endParaRPr sz="2400">
              <a:latin typeface="Calibri"/>
              <a:cs typeface="Calibri"/>
            </a:endParaRP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54959" y="175091"/>
            <a:ext cx="8061959" cy="695062"/>
          </a:xfrm>
          <a:prstGeom prst="rect">
            <a:avLst/>
          </a:prstGeom>
        </p:spPr>
        <p:txBody>
          <a:bodyPr vert="horz" wrap="square" lIns="0" tIns="17780" rIns="0" bIns="0" rtlCol="0" anchor="ctr">
            <a:spAutoFit/>
          </a:bodyPr>
          <a:lstStyle/>
          <a:p>
            <a:pPr marL="2802397">
              <a:lnSpc>
                <a:spcPct val="100000"/>
              </a:lnSpc>
              <a:spcBef>
                <a:spcPts val="140"/>
              </a:spcBef>
            </a:pPr>
            <a:r>
              <a:rPr spc="-13" dirty="0">
                <a:solidFill>
                  <a:schemeClr val="bg1"/>
                </a:solidFill>
                <a:latin typeface="+mn-lt"/>
              </a:rPr>
              <a:t>Benefits</a:t>
            </a:r>
          </a:p>
        </p:txBody>
      </p:sp>
      <p:grpSp>
        <p:nvGrpSpPr>
          <p:cNvPr id="3" name="object 3"/>
          <p:cNvGrpSpPr/>
          <p:nvPr/>
        </p:nvGrpSpPr>
        <p:grpSpPr>
          <a:xfrm>
            <a:off x="4344415" y="973294"/>
            <a:ext cx="4197096" cy="1616489"/>
            <a:chOff x="3258311" y="729970"/>
            <a:chExt cx="3147822" cy="1212367"/>
          </a:xfrm>
        </p:grpSpPr>
        <p:pic>
          <p:nvPicPr>
            <p:cNvPr id="4" name="object 4"/>
            <p:cNvPicPr/>
            <p:nvPr/>
          </p:nvPicPr>
          <p:blipFill>
            <a:blip r:embed="rId2" cstate="print"/>
            <a:stretch>
              <a:fillRect/>
            </a:stretch>
          </p:blipFill>
          <p:spPr>
            <a:xfrm>
              <a:off x="3258311" y="729970"/>
              <a:ext cx="3147822" cy="1212367"/>
            </a:xfrm>
            <a:prstGeom prst="rect">
              <a:avLst/>
            </a:prstGeom>
          </p:spPr>
        </p:pic>
        <p:sp>
          <p:nvSpPr>
            <p:cNvPr id="6" name="object 6"/>
            <p:cNvSpPr/>
            <p:nvPr/>
          </p:nvSpPr>
          <p:spPr>
            <a:xfrm>
              <a:off x="3585209" y="884682"/>
              <a:ext cx="2514600" cy="581025"/>
            </a:xfrm>
            <a:custGeom>
              <a:avLst/>
              <a:gdLst/>
              <a:ahLst/>
              <a:cxnLst/>
              <a:rect l="l" t="t" r="r" b="b"/>
              <a:pathLst>
                <a:path w="2514600" h="581025">
                  <a:moveTo>
                    <a:pt x="0" y="290321"/>
                  </a:moveTo>
                  <a:lnTo>
                    <a:pt x="145161" y="0"/>
                  </a:lnTo>
                  <a:lnTo>
                    <a:pt x="2369439" y="0"/>
                  </a:lnTo>
                  <a:lnTo>
                    <a:pt x="2514600" y="290321"/>
                  </a:lnTo>
                  <a:lnTo>
                    <a:pt x="2369439" y="580643"/>
                  </a:lnTo>
                  <a:lnTo>
                    <a:pt x="145161" y="580643"/>
                  </a:lnTo>
                  <a:lnTo>
                    <a:pt x="0" y="290321"/>
                  </a:lnTo>
                  <a:close/>
                </a:path>
              </a:pathLst>
            </a:custGeom>
            <a:ln w="19812">
              <a:solidFill>
                <a:srgbClr val="00C3FF"/>
              </a:solidFill>
            </a:ln>
          </p:spPr>
          <p:txBody>
            <a:bodyPr wrap="square" lIns="0" tIns="0" rIns="0" bIns="0" rtlCol="0"/>
            <a:lstStyle/>
            <a:p>
              <a:endParaRPr sz="2400"/>
            </a:p>
          </p:txBody>
        </p:sp>
      </p:grpSp>
      <p:sp>
        <p:nvSpPr>
          <p:cNvPr id="7" name="object 7"/>
          <p:cNvSpPr txBox="1"/>
          <p:nvPr/>
        </p:nvSpPr>
        <p:spPr>
          <a:xfrm>
            <a:off x="3144011" y="1324186"/>
            <a:ext cx="7894320" cy="4134593"/>
          </a:xfrm>
          <a:prstGeom prst="rect">
            <a:avLst/>
          </a:prstGeom>
        </p:spPr>
        <p:txBody>
          <a:bodyPr vert="horz" wrap="square" lIns="0" tIns="17780" rIns="0" bIns="0" rtlCol="0">
            <a:spAutoFit/>
          </a:bodyPr>
          <a:lstStyle/>
          <a:p>
            <a:pPr marL="2339282">
              <a:spcBef>
                <a:spcPts val="140"/>
              </a:spcBef>
            </a:pPr>
            <a:r>
              <a:rPr sz="2667" b="1" dirty="0">
                <a:solidFill>
                  <a:srgbClr val="CCEAFF"/>
                </a:solidFill>
                <a:latin typeface="Calibri"/>
                <a:cs typeface="Calibri"/>
              </a:rPr>
              <a:t>Surrogate</a:t>
            </a:r>
            <a:r>
              <a:rPr sz="2667" b="1" spc="-27" dirty="0">
                <a:solidFill>
                  <a:srgbClr val="CCEAFF"/>
                </a:solidFill>
                <a:latin typeface="Calibri"/>
                <a:cs typeface="Calibri"/>
              </a:rPr>
              <a:t> </a:t>
            </a:r>
            <a:r>
              <a:rPr sz="2667" b="1" spc="-33" dirty="0">
                <a:solidFill>
                  <a:srgbClr val="CCEAFF"/>
                </a:solidFill>
                <a:latin typeface="Calibri"/>
                <a:cs typeface="Calibri"/>
              </a:rPr>
              <a:t>key</a:t>
            </a:r>
            <a:endParaRPr sz="2667" dirty="0">
              <a:latin typeface="Calibri"/>
              <a:cs typeface="Calibri"/>
            </a:endParaRPr>
          </a:p>
          <a:p>
            <a:pPr>
              <a:spcBef>
                <a:spcPts val="1593"/>
              </a:spcBef>
            </a:pPr>
            <a:endParaRPr sz="2667" dirty="0">
              <a:latin typeface="Calibri"/>
              <a:cs typeface="Calibri"/>
            </a:endParaRPr>
          </a:p>
          <a:p>
            <a:pPr marL="407236" indent="-380990">
              <a:buClr>
                <a:srgbClr val="99D3FF"/>
              </a:buClr>
              <a:buFont typeface="Wingdings"/>
              <a:buChar char=""/>
              <a:tabLst>
                <a:tab pos="407236" algn="l"/>
              </a:tabLst>
            </a:pPr>
            <a:r>
              <a:rPr sz="2400" b="1" dirty="0">
                <a:solidFill>
                  <a:srgbClr val="D9D9D9"/>
                </a:solidFill>
                <a:latin typeface="Calibri"/>
                <a:cs typeface="Calibri"/>
              </a:rPr>
              <a:t>Improve</a:t>
            </a:r>
            <a:r>
              <a:rPr sz="2400" b="1" spc="-47" dirty="0">
                <a:solidFill>
                  <a:srgbClr val="D9D9D9"/>
                </a:solidFill>
                <a:latin typeface="Calibri"/>
                <a:cs typeface="Calibri"/>
              </a:rPr>
              <a:t> </a:t>
            </a:r>
            <a:r>
              <a:rPr sz="2400" b="1" dirty="0">
                <a:solidFill>
                  <a:srgbClr val="D9D9D9"/>
                </a:solidFill>
                <a:latin typeface="Calibri"/>
                <a:cs typeface="Calibri"/>
              </a:rPr>
              <a:t>performance</a:t>
            </a:r>
            <a:r>
              <a:rPr sz="2400" b="1" spc="-20" dirty="0">
                <a:solidFill>
                  <a:srgbClr val="D9D9D9"/>
                </a:solidFill>
                <a:latin typeface="Calibri"/>
                <a:cs typeface="Calibri"/>
              </a:rPr>
              <a:t> </a:t>
            </a:r>
            <a:r>
              <a:rPr sz="2400" b="1" dirty="0">
                <a:solidFill>
                  <a:srgbClr val="D9D9D9"/>
                </a:solidFill>
                <a:latin typeface="Calibri"/>
                <a:cs typeface="Calibri"/>
              </a:rPr>
              <a:t>(less</a:t>
            </a:r>
            <a:r>
              <a:rPr sz="2400" b="1" spc="-60" dirty="0">
                <a:solidFill>
                  <a:srgbClr val="D9D9D9"/>
                </a:solidFill>
                <a:latin typeface="Calibri"/>
                <a:cs typeface="Calibri"/>
              </a:rPr>
              <a:t> </a:t>
            </a:r>
            <a:r>
              <a:rPr sz="2400" b="1" dirty="0">
                <a:solidFill>
                  <a:srgbClr val="D9D9D9"/>
                </a:solidFill>
                <a:latin typeface="Calibri"/>
                <a:cs typeface="Calibri"/>
              </a:rPr>
              <a:t>storage/better</a:t>
            </a:r>
            <a:r>
              <a:rPr sz="2400" b="1" spc="-60" dirty="0">
                <a:solidFill>
                  <a:srgbClr val="D9D9D9"/>
                </a:solidFill>
                <a:latin typeface="Calibri"/>
                <a:cs typeface="Calibri"/>
              </a:rPr>
              <a:t> </a:t>
            </a:r>
            <a:r>
              <a:rPr sz="2400" b="1" spc="-13" dirty="0">
                <a:solidFill>
                  <a:srgbClr val="D9D9D9"/>
                </a:solidFill>
                <a:latin typeface="Calibri"/>
                <a:cs typeface="Calibri"/>
              </a:rPr>
              <a:t>joins)</a:t>
            </a:r>
            <a:endParaRPr sz="2400" dirty="0">
              <a:latin typeface="Calibri"/>
              <a:cs typeface="Calibri"/>
            </a:endParaRPr>
          </a:p>
          <a:p>
            <a:pPr marL="407236" indent="-380990">
              <a:spcBef>
                <a:spcPts val="2840"/>
              </a:spcBef>
              <a:buClr>
                <a:srgbClr val="99D3FF"/>
              </a:buClr>
              <a:buFont typeface="Wingdings"/>
              <a:buChar char=""/>
              <a:tabLst>
                <a:tab pos="407236" algn="l"/>
              </a:tabLst>
            </a:pPr>
            <a:r>
              <a:rPr sz="2400" b="1" dirty="0">
                <a:solidFill>
                  <a:srgbClr val="D9D9D9"/>
                </a:solidFill>
                <a:latin typeface="Calibri"/>
                <a:cs typeface="Calibri"/>
              </a:rPr>
              <a:t>Handle</a:t>
            </a:r>
            <a:r>
              <a:rPr sz="2400" b="1" spc="-47" dirty="0">
                <a:solidFill>
                  <a:srgbClr val="D9D9D9"/>
                </a:solidFill>
                <a:latin typeface="Calibri"/>
                <a:cs typeface="Calibri"/>
              </a:rPr>
              <a:t> </a:t>
            </a:r>
            <a:r>
              <a:rPr sz="2400" b="1" dirty="0">
                <a:solidFill>
                  <a:srgbClr val="D9D9D9"/>
                </a:solidFill>
                <a:latin typeface="Calibri"/>
                <a:cs typeface="Calibri"/>
              </a:rPr>
              <a:t>dummy</a:t>
            </a:r>
            <a:r>
              <a:rPr sz="2400" b="1" spc="-33" dirty="0">
                <a:solidFill>
                  <a:srgbClr val="D9D9D9"/>
                </a:solidFill>
                <a:latin typeface="Calibri"/>
                <a:cs typeface="Calibri"/>
              </a:rPr>
              <a:t> </a:t>
            </a:r>
            <a:r>
              <a:rPr sz="2400" b="1" dirty="0">
                <a:solidFill>
                  <a:srgbClr val="D9D9D9"/>
                </a:solidFill>
                <a:latin typeface="Calibri"/>
                <a:cs typeface="Calibri"/>
              </a:rPr>
              <a:t>values</a:t>
            </a:r>
            <a:r>
              <a:rPr sz="2400" b="1" spc="-27" dirty="0">
                <a:solidFill>
                  <a:srgbClr val="D9D9D9"/>
                </a:solidFill>
                <a:latin typeface="Calibri"/>
                <a:cs typeface="Calibri"/>
              </a:rPr>
              <a:t> </a:t>
            </a:r>
            <a:r>
              <a:rPr sz="2400" b="1" dirty="0">
                <a:solidFill>
                  <a:srgbClr val="D9D9D9"/>
                </a:solidFill>
                <a:latin typeface="Calibri"/>
                <a:cs typeface="Calibri"/>
              </a:rPr>
              <a:t>(nulls</a:t>
            </a:r>
            <a:r>
              <a:rPr sz="2400" b="1" spc="-13" dirty="0">
                <a:solidFill>
                  <a:srgbClr val="D9D9D9"/>
                </a:solidFill>
                <a:latin typeface="Calibri"/>
                <a:cs typeface="Calibri"/>
              </a:rPr>
              <a:t> </a:t>
            </a:r>
            <a:r>
              <a:rPr sz="2400" b="1" dirty="0">
                <a:solidFill>
                  <a:srgbClr val="D9D9D9"/>
                </a:solidFill>
                <a:latin typeface="Calibri"/>
                <a:cs typeface="Calibri"/>
              </a:rPr>
              <a:t>/</a:t>
            </a:r>
            <a:r>
              <a:rPr sz="2400" b="1" spc="-20" dirty="0">
                <a:solidFill>
                  <a:srgbClr val="D9D9D9"/>
                </a:solidFill>
                <a:latin typeface="Calibri"/>
                <a:cs typeface="Calibri"/>
              </a:rPr>
              <a:t> </a:t>
            </a:r>
            <a:r>
              <a:rPr sz="2400" b="1" dirty="0">
                <a:solidFill>
                  <a:srgbClr val="D9D9D9"/>
                </a:solidFill>
                <a:latin typeface="Calibri"/>
                <a:cs typeface="Calibri"/>
              </a:rPr>
              <a:t>missing</a:t>
            </a:r>
            <a:r>
              <a:rPr sz="2400" b="1" spc="-53" dirty="0">
                <a:solidFill>
                  <a:srgbClr val="D9D9D9"/>
                </a:solidFill>
                <a:latin typeface="Calibri"/>
                <a:cs typeface="Calibri"/>
              </a:rPr>
              <a:t> </a:t>
            </a:r>
            <a:r>
              <a:rPr sz="2400" b="1" dirty="0">
                <a:solidFill>
                  <a:srgbClr val="D9D9D9"/>
                </a:solidFill>
                <a:latin typeface="Calibri"/>
                <a:cs typeface="Calibri"/>
              </a:rPr>
              <a:t>values)</a:t>
            </a:r>
            <a:r>
              <a:rPr sz="2400" b="1" spc="-27" dirty="0">
                <a:solidFill>
                  <a:srgbClr val="D9D9D9"/>
                </a:solidFill>
                <a:latin typeface="Calibri"/>
                <a:cs typeface="Calibri"/>
              </a:rPr>
              <a:t> </a:t>
            </a:r>
            <a:r>
              <a:rPr sz="2400" b="1" dirty="0">
                <a:solidFill>
                  <a:srgbClr val="D9D9D9"/>
                </a:solidFill>
                <a:latin typeface="Calibri"/>
                <a:cs typeface="Calibri"/>
              </a:rPr>
              <a:t>e.g.</a:t>
            </a:r>
            <a:r>
              <a:rPr sz="2400" b="1" spc="-27" dirty="0">
                <a:solidFill>
                  <a:srgbClr val="D9D9D9"/>
                </a:solidFill>
                <a:latin typeface="Calibri"/>
                <a:cs typeface="Calibri"/>
              </a:rPr>
              <a:t> </a:t>
            </a:r>
            <a:r>
              <a:rPr sz="2400" b="1" dirty="0">
                <a:solidFill>
                  <a:srgbClr val="D9D9D9"/>
                </a:solidFill>
                <a:latin typeface="Calibri"/>
                <a:cs typeface="Calibri"/>
              </a:rPr>
              <a:t>999</a:t>
            </a:r>
            <a:r>
              <a:rPr sz="2400" b="1" spc="7" dirty="0">
                <a:solidFill>
                  <a:srgbClr val="D9D9D9"/>
                </a:solidFill>
                <a:latin typeface="Calibri"/>
                <a:cs typeface="Calibri"/>
              </a:rPr>
              <a:t> </a:t>
            </a:r>
            <a:r>
              <a:rPr sz="2400" b="1" dirty="0">
                <a:solidFill>
                  <a:srgbClr val="D9D9D9"/>
                </a:solidFill>
                <a:latin typeface="Calibri"/>
                <a:cs typeface="Calibri"/>
              </a:rPr>
              <a:t>or</a:t>
            </a:r>
            <a:r>
              <a:rPr sz="2400" b="1" spc="-67" dirty="0">
                <a:solidFill>
                  <a:srgbClr val="D9D9D9"/>
                </a:solidFill>
                <a:latin typeface="Calibri"/>
                <a:cs typeface="Calibri"/>
              </a:rPr>
              <a:t> </a:t>
            </a:r>
            <a:r>
              <a:rPr sz="2400" b="1" dirty="0">
                <a:solidFill>
                  <a:srgbClr val="D9D9D9"/>
                </a:solidFill>
                <a:latin typeface="Calibri"/>
                <a:cs typeface="Calibri"/>
              </a:rPr>
              <a:t>-</a:t>
            </a:r>
            <a:r>
              <a:rPr sz="2400" b="1" spc="-67" dirty="0">
                <a:solidFill>
                  <a:srgbClr val="D9D9D9"/>
                </a:solidFill>
                <a:latin typeface="Calibri"/>
                <a:cs typeface="Calibri"/>
              </a:rPr>
              <a:t>1</a:t>
            </a:r>
            <a:endParaRPr sz="2400" dirty="0">
              <a:latin typeface="Calibri"/>
              <a:cs typeface="Calibri"/>
            </a:endParaRPr>
          </a:p>
          <a:p>
            <a:pPr marL="407236" indent="-380990">
              <a:spcBef>
                <a:spcPts val="2352"/>
              </a:spcBef>
              <a:buClr>
                <a:srgbClr val="99D3FF"/>
              </a:buClr>
              <a:buFont typeface="Wingdings"/>
              <a:buChar char=""/>
              <a:tabLst>
                <a:tab pos="407236" algn="l"/>
              </a:tabLst>
            </a:pPr>
            <a:r>
              <a:rPr sz="2400" b="1" dirty="0">
                <a:solidFill>
                  <a:srgbClr val="D9D9D9"/>
                </a:solidFill>
                <a:latin typeface="Calibri"/>
                <a:cs typeface="Calibri"/>
              </a:rPr>
              <a:t>Integrate</a:t>
            </a:r>
            <a:r>
              <a:rPr sz="2400" b="1" spc="-33" dirty="0">
                <a:solidFill>
                  <a:srgbClr val="D9D9D9"/>
                </a:solidFill>
                <a:latin typeface="Calibri"/>
                <a:cs typeface="Calibri"/>
              </a:rPr>
              <a:t> </a:t>
            </a:r>
            <a:r>
              <a:rPr sz="2400" b="1" dirty="0">
                <a:solidFill>
                  <a:srgbClr val="D9D9D9"/>
                </a:solidFill>
                <a:latin typeface="Calibri"/>
                <a:cs typeface="Calibri"/>
              </a:rPr>
              <a:t>multiple</a:t>
            </a:r>
            <a:r>
              <a:rPr sz="2400" b="1" spc="-53" dirty="0">
                <a:solidFill>
                  <a:srgbClr val="D9D9D9"/>
                </a:solidFill>
                <a:latin typeface="Calibri"/>
                <a:cs typeface="Calibri"/>
              </a:rPr>
              <a:t> </a:t>
            </a:r>
            <a:r>
              <a:rPr sz="2400" b="1" dirty="0">
                <a:solidFill>
                  <a:srgbClr val="D9D9D9"/>
                </a:solidFill>
                <a:latin typeface="Calibri"/>
                <a:cs typeface="Calibri"/>
              </a:rPr>
              <a:t>source</a:t>
            </a:r>
            <a:r>
              <a:rPr sz="2400" b="1" spc="-40" dirty="0">
                <a:solidFill>
                  <a:srgbClr val="D9D9D9"/>
                </a:solidFill>
                <a:latin typeface="Calibri"/>
                <a:cs typeface="Calibri"/>
              </a:rPr>
              <a:t> </a:t>
            </a:r>
            <a:r>
              <a:rPr sz="2400" b="1" spc="-13" dirty="0">
                <a:solidFill>
                  <a:srgbClr val="D9D9D9"/>
                </a:solidFill>
                <a:latin typeface="Calibri"/>
                <a:cs typeface="Calibri"/>
              </a:rPr>
              <a:t>systems</a:t>
            </a:r>
            <a:endParaRPr sz="2400" dirty="0">
              <a:latin typeface="Calibri"/>
              <a:cs typeface="Calibri"/>
            </a:endParaRPr>
          </a:p>
          <a:p>
            <a:pPr marL="397923" indent="-380990">
              <a:spcBef>
                <a:spcPts val="2285"/>
              </a:spcBef>
              <a:buClr>
                <a:srgbClr val="99D3FF"/>
              </a:buClr>
              <a:buFont typeface="Wingdings"/>
              <a:buChar char=""/>
              <a:tabLst>
                <a:tab pos="397923" algn="l"/>
              </a:tabLst>
            </a:pPr>
            <a:r>
              <a:rPr sz="2400" b="1" dirty="0">
                <a:solidFill>
                  <a:srgbClr val="D9D9D9"/>
                </a:solidFill>
                <a:latin typeface="Calibri"/>
                <a:cs typeface="Calibri"/>
              </a:rPr>
              <a:t>Easier</a:t>
            </a:r>
            <a:r>
              <a:rPr sz="2400" b="1" spc="-73" dirty="0">
                <a:solidFill>
                  <a:srgbClr val="D9D9D9"/>
                </a:solidFill>
                <a:latin typeface="Calibri"/>
                <a:cs typeface="Calibri"/>
              </a:rPr>
              <a:t> </a:t>
            </a:r>
            <a:r>
              <a:rPr sz="2400" b="1" dirty="0">
                <a:solidFill>
                  <a:srgbClr val="D9D9D9"/>
                </a:solidFill>
                <a:latin typeface="Calibri"/>
                <a:cs typeface="Calibri"/>
              </a:rPr>
              <a:t>administrate</a:t>
            </a:r>
            <a:r>
              <a:rPr sz="2400" b="1" spc="-87" dirty="0">
                <a:solidFill>
                  <a:srgbClr val="D9D9D9"/>
                </a:solidFill>
                <a:latin typeface="Calibri"/>
                <a:cs typeface="Calibri"/>
              </a:rPr>
              <a:t> </a:t>
            </a:r>
            <a:r>
              <a:rPr sz="2400" b="1" dirty="0">
                <a:solidFill>
                  <a:srgbClr val="D9D9D9"/>
                </a:solidFill>
                <a:latin typeface="Calibri"/>
                <a:cs typeface="Calibri"/>
              </a:rPr>
              <a:t>/</a:t>
            </a:r>
            <a:r>
              <a:rPr sz="2400" b="1" spc="-20" dirty="0">
                <a:solidFill>
                  <a:srgbClr val="D9D9D9"/>
                </a:solidFill>
                <a:latin typeface="Calibri"/>
                <a:cs typeface="Calibri"/>
              </a:rPr>
              <a:t> </a:t>
            </a:r>
            <a:r>
              <a:rPr sz="2400" b="1" spc="-13" dirty="0">
                <a:solidFill>
                  <a:srgbClr val="D9D9D9"/>
                </a:solidFill>
                <a:latin typeface="Calibri"/>
                <a:cs typeface="Calibri"/>
              </a:rPr>
              <a:t>update</a:t>
            </a:r>
            <a:endParaRPr sz="2400" dirty="0">
              <a:latin typeface="Calibri"/>
              <a:cs typeface="Calibri"/>
            </a:endParaRPr>
          </a:p>
          <a:p>
            <a:pPr marL="397923" indent="-380990">
              <a:spcBef>
                <a:spcPts val="2193"/>
              </a:spcBef>
              <a:buClr>
                <a:srgbClr val="99D3FF"/>
              </a:buClr>
              <a:buFont typeface="Wingdings"/>
              <a:buChar char=""/>
              <a:tabLst>
                <a:tab pos="397923" algn="l"/>
              </a:tabLst>
            </a:pPr>
            <a:r>
              <a:rPr sz="2400" b="1" dirty="0">
                <a:solidFill>
                  <a:srgbClr val="D9D9D9"/>
                </a:solidFill>
                <a:latin typeface="Calibri"/>
                <a:cs typeface="Calibri"/>
              </a:rPr>
              <a:t>Sometimes</a:t>
            </a:r>
            <a:r>
              <a:rPr sz="2400" b="1" spc="-60" dirty="0">
                <a:solidFill>
                  <a:srgbClr val="D9D9D9"/>
                </a:solidFill>
                <a:latin typeface="Calibri"/>
                <a:cs typeface="Calibri"/>
              </a:rPr>
              <a:t> </a:t>
            </a:r>
            <a:r>
              <a:rPr sz="2400" b="1" dirty="0">
                <a:solidFill>
                  <a:srgbClr val="D9D9D9"/>
                </a:solidFill>
                <a:latin typeface="Calibri"/>
                <a:cs typeface="Calibri"/>
              </a:rPr>
              <a:t>there</a:t>
            </a:r>
            <a:r>
              <a:rPr sz="2400" b="1" spc="-40" dirty="0">
                <a:solidFill>
                  <a:srgbClr val="D9D9D9"/>
                </a:solidFill>
                <a:latin typeface="Calibri"/>
                <a:cs typeface="Calibri"/>
              </a:rPr>
              <a:t> </a:t>
            </a:r>
            <a:r>
              <a:rPr sz="2400" b="1" dirty="0">
                <a:solidFill>
                  <a:srgbClr val="D9D9D9"/>
                </a:solidFill>
                <a:latin typeface="Calibri"/>
                <a:cs typeface="Calibri"/>
              </a:rPr>
              <a:t>are</a:t>
            </a:r>
            <a:r>
              <a:rPr sz="2400" b="1" spc="-20" dirty="0">
                <a:solidFill>
                  <a:srgbClr val="D9D9D9"/>
                </a:solidFill>
                <a:latin typeface="Calibri"/>
                <a:cs typeface="Calibri"/>
              </a:rPr>
              <a:t> </a:t>
            </a:r>
            <a:r>
              <a:rPr sz="2400" b="1" dirty="0">
                <a:solidFill>
                  <a:srgbClr val="D9D9D9"/>
                </a:solidFill>
                <a:latin typeface="Calibri"/>
                <a:cs typeface="Calibri"/>
              </a:rPr>
              <a:t>even</a:t>
            </a:r>
            <a:r>
              <a:rPr sz="2400" b="1" spc="-33" dirty="0">
                <a:solidFill>
                  <a:srgbClr val="D9D9D9"/>
                </a:solidFill>
                <a:latin typeface="Calibri"/>
                <a:cs typeface="Calibri"/>
              </a:rPr>
              <a:t> </a:t>
            </a:r>
            <a:r>
              <a:rPr sz="2400" b="1" dirty="0">
                <a:solidFill>
                  <a:srgbClr val="D9D9D9"/>
                </a:solidFill>
                <a:latin typeface="Calibri"/>
                <a:cs typeface="Calibri"/>
              </a:rPr>
              <a:t>no</a:t>
            </a:r>
            <a:r>
              <a:rPr sz="2400" b="1" spc="-20" dirty="0">
                <a:solidFill>
                  <a:srgbClr val="D9D9D9"/>
                </a:solidFill>
                <a:latin typeface="Calibri"/>
                <a:cs typeface="Calibri"/>
              </a:rPr>
              <a:t> </a:t>
            </a:r>
            <a:r>
              <a:rPr sz="2400" b="1" dirty="0">
                <a:solidFill>
                  <a:srgbClr val="D9D9D9"/>
                </a:solidFill>
                <a:latin typeface="Calibri"/>
                <a:cs typeface="Calibri"/>
              </a:rPr>
              <a:t>natural</a:t>
            </a:r>
            <a:r>
              <a:rPr sz="2400" b="1" spc="-40" dirty="0">
                <a:solidFill>
                  <a:srgbClr val="D9D9D9"/>
                </a:solidFill>
                <a:latin typeface="Calibri"/>
                <a:cs typeface="Calibri"/>
              </a:rPr>
              <a:t> </a:t>
            </a:r>
            <a:r>
              <a:rPr sz="2400" b="1" dirty="0">
                <a:solidFill>
                  <a:srgbClr val="D9D9D9"/>
                </a:solidFill>
                <a:latin typeface="Calibri"/>
                <a:cs typeface="Calibri"/>
              </a:rPr>
              <a:t>keys</a:t>
            </a:r>
            <a:r>
              <a:rPr sz="2400" b="1" spc="-40" dirty="0">
                <a:solidFill>
                  <a:srgbClr val="D9D9D9"/>
                </a:solidFill>
                <a:latin typeface="Calibri"/>
                <a:cs typeface="Calibri"/>
              </a:rPr>
              <a:t> </a:t>
            </a:r>
            <a:r>
              <a:rPr sz="2400" b="1" spc="-13" dirty="0">
                <a:solidFill>
                  <a:srgbClr val="D9D9D9"/>
                </a:solidFill>
                <a:latin typeface="Calibri"/>
                <a:cs typeface="Calibri"/>
              </a:rPr>
              <a:t>available</a:t>
            </a:r>
            <a:endParaRPr sz="2400" dirty="0">
              <a:latin typeface="Calibri"/>
              <a:cs typeface="Calibri"/>
            </a:endParaRP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40776" y="106147"/>
            <a:ext cx="8524240" cy="695062"/>
          </a:xfrm>
          <a:prstGeom prst="rect">
            <a:avLst/>
          </a:prstGeom>
        </p:spPr>
        <p:txBody>
          <a:bodyPr vert="horz" wrap="square" lIns="0" tIns="17780" rIns="0" bIns="0" rtlCol="0" anchor="ctr">
            <a:spAutoFit/>
          </a:bodyPr>
          <a:lstStyle/>
          <a:p>
            <a:pPr marL="1721230">
              <a:lnSpc>
                <a:spcPct val="100000"/>
              </a:lnSpc>
              <a:spcBef>
                <a:spcPts val="140"/>
              </a:spcBef>
            </a:pPr>
            <a:r>
              <a:rPr dirty="0">
                <a:solidFill>
                  <a:schemeClr val="bg1"/>
                </a:solidFill>
                <a:latin typeface="+mn-lt"/>
              </a:rPr>
              <a:t>Practical</a:t>
            </a:r>
            <a:r>
              <a:rPr spc="-13" dirty="0">
                <a:solidFill>
                  <a:schemeClr val="bg1"/>
                </a:solidFill>
                <a:latin typeface="+mn-lt"/>
              </a:rPr>
              <a:t> guidlines</a:t>
            </a:r>
          </a:p>
        </p:txBody>
      </p:sp>
      <p:grpSp>
        <p:nvGrpSpPr>
          <p:cNvPr id="3" name="object 3"/>
          <p:cNvGrpSpPr/>
          <p:nvPr/>
        </p:nvGrpSpPr>
        <p:grpSpPr>
          <a:xfrm>
            <a:off x="3997452" y="983233"/>
            <a:ext cx="4197096" cy="1616489"/>
            <a:chOff x="3258311" y="729970"/>
            <a:chExt cx="3147822" cy="1212367"/>
          </a:xfrm>
        </p:grpSpPr>
        <p:pic>
          <p:nvPicPr>
            <p:cNvPr id="4" name="object 4"/>
            <p:cNvPicPr/>
            <p:nvPr/>
          </p:nvPicPr>
          <p:blipFill>
            <a:blip r:embed="rId2" cstate="print"/>
            <a:stretch>
              <a:fillRect/>
            </a:stretch>
          </p:blipFill>
          <p:spPr>
            <a:xfrm>
              <a:off x="3258311" y="729970"/>
              <a:ext cx="3147822" cy="1212367"/>
            </a:xfrm>
            <a:prstGeom prst="rect">
              <a:avLst/>
            </a:prstGeom>
          </p:spPr>
        </p:pic>
        <p:sp>
          <p:nvSpPr>
            <p:cNvPr id="6" name="object 6"/>
            <p:cNvSpPr/>
            <p:nvPr/>
          </p:nvSpPr>
          <p:spPr>
            <a:xfrm>
              <a:off x="3585209" y="884682"/>
              <a:ext cx="2514600" cy="581025"/>
            </a:xfrm>
            <a:custGeom>
              <a:avLst/>
              <a:gdLst/>
              <a:ahLst/>
              <a:cxnLst/>
              <a:rect l="l" t="t" r="r" b="b"/>
              <a:pathLst>
                <a:path w="2514600" h="581025">
                  <a:moveTo>
                    <a:pt x="0" y="290321"/>
                  </a:moveTo>
                  <a:lnTo>
                    <a:pt x="145161" y="0"/>
                  </a:lnTo>
                  <a:lnTo>
                    <a:pt x="2369439" y="0"/>
                  </a:lnTo>
                  <a:lnTo>
                    <a:pt x="2514600" y="290321"/>
                  </a:lnTo>
                  <a:lnTo>
                    <a:pt x="2369439" y="580643"/>
                  </a:lnTo>
                  <a:lnTo>
                    <a:pt x="145161" y="580643"/>
                  </a:lnTo>
                  <a:lnTo>
                    <a:pt x="0" y="290321"/>
                  </a:lnTo>
                  <a:close/>
                </a:path>
              </a:pathLst>
            </a:custGeom>
            <a:ln w="19812">
              <a:solidFill>
                <a:srgbClr val="00C3FF"/>
              </a:solidFill>
            </a:ln>
          </p:spPr>
          <p:txBody>
            <a:bodyPr wrap="square" lIns="0" tIns="0" rIns="0" bIns="0" rtlCol="0"/>
            <a:lstStyle/>
            <a:p>
              <a:endParaRPr sz="2400"/>
            </a:p>
          </p:txBody>
        </p:sp>
      </p:grpSp>
      <p:sp>
        <p:nvSpPr>
          <p:cNvPr id="7" name="object 7"/>
          <p:cNvSpPr txBox="1"/>
          <p:nvPr/>
        </p:nvSpPr>
        <p:spPr>
          <a:xfrm>
            <a:off x="2340776" y="1324186"/>
            <a:ext cx="8072717" cy="2818849"/>
          </a:xfrm>
          <a:prstGeom prst="rect">
            <a:avLst/>
          </a:prstGeom>
        </p:spPr>
        <p:txBody>
          <a:bodyPr vert="horz" wrap="square" lIns="0" tIns="17780" rIns="0" bIns="0" rtlCol="0">
            <a:spAutoFit/>
          </a:bodyPr>
          <a:lstStyle/>
          <a:p>
            <a:pPr marR="634137" algn="ctr">
              <a:spcBef>
                <a:spcPts val="140"/>
              </a:spcBef>
            </a:pPr>
            <a:r>
              <a:rPr sz="2667" b="1" dirty="0">
                <a:solidFill>
                  <a:srgbClr val="CCEAFF"/>
                </a:solidFill>
                <a:latin typeface="Calibri"/>
                <a:cs typeface="Calibri"/>
              </a:rPr>
              <a:t>Surrogate</a:t>
            </a:r>
            <a:r>
              <a:rPr sz="2667" b="1" spc="-27" dirty="0">
                <a:solidFill>
                  <a:srgbClr val="CCEAFF"/>
                </a:solidFill>
                <a:latin typeface="Calibri"/>
                <a:cs typeface="Calibri"/>
              </a:rPr>
              <a:t> </a:t>
            </a:r>
            <a:r>
              <a:rPr sz="2667" b="1" spc="-33" dirty="0">
                <a:solidFill>
                  <a:srgbClr val="CCEAFF"/>
                </a:solidFill>
                <a:latin typeface="Calibri"/>
                <a:cs typeface="Calibri"/>
              </a:rPr>
              <a:t>key</a:t>
            </a:r>
            <a:endParaRPr sz="2667" dirty="0">
              <a:latin typeface="Calibri"/>
              <a:cs typeface="Calibri"/>
            </a:endParaRPr>
          </a:p>
          <a:p>
            <a:pPr>
              <a:spcBef>
                <a:spcPts val="1593"/>
              </a:spcBef>
            </a:pPr>
            <a:endParaRPr sz="2667" dirty="0">
              <a:latin typeface="Calibri"/>
              <a:cs typeface="Calibri"/>
            </a:endParaRPr>
          </a:p>
          <a:p>
            <a:pPr marL="397923" indent="-380990">
              <a:buClr>
                <a:srgbClr val="99D3FF"/>
              </a:buClr>
              <a:buFont typeface="Wingdings"/>
              <a:buChar char=""/>
              <a:tabLst>
                <a:tab pos="397923" algn="l"/>
              </a:tabLst>
            </a:pPr>
            <a:r>
              <a:rPr sz="2400" b="1" dirty="0">
                <a:solidFill>
                  <a:srgbClr val="D9D9D9"/>
                </a:solidFill>
                <a:latin typeface="Calibri"/>
                <a:cs typeface="Calibri"/>
              </a:rPr>
              <a:t>Always</a:t>
            </a:r>
            <a:r>
              <a:rPr sz="2400" b="1" spc="-33" dirty="0">
                <a:solidFill>
                  <a:srgbClr val="D9D9D9"/>
                </a:solidFill>
                <a:latin typeface="Calibri"/>
                <a:cs typeface="Calibri"/>
              </a:rPr>
              <a:t> </a:t>
            </a:r>
            <a:r>
              <a:rPr sz="2400" b="1" dirty="0">
                <a:solidFill>
                  <a:srgbClr val="D9D9D9"/>
                </a:solidFill>
                <a:latin typeface="Calibri"/>
                <a:cs typeface="Calibri"/>
              </a:rPr>
              <a:t>use</a:t>
            </a:r>
            <a:r>
              <a:rPr sz="2400" b="1" spc="-27" dirty="0">
                <a:solidFill>
                  <a:srgbClr val="D9D9D9"/>
                </a:solidFill>
                <a:latin typeface="Calibri"/>
                <a:cs typeface="Calibri"/>
              </a:rPr>
              <a:t> </a:t>
            </a:r>
            <a:r>
              <a:rPr sz="2400" b="1" dirty="0">
                <a:solidFill>
                  <a:srgbClr val="D9D9D9"/>
                </a:solidFill>
                <a:latin typeface="Calibri"/>
                <a:cs typeface="Calibri"/>
              </a:rPr>
              <a:t>surrogate</a:t>
            </a:r>
            <a:r>
              <a:rPr sz="2400" b="1" spc="-33" dirty="0">
                <a:solidFill>
                  <a:srgbClr val="D9D9D9"/>
                </a:solidFill>
                <a:latin typeface="Calibri"/>
                <a:cs typeface="Calibri"/>
              </a:rPr>
              <a:t> </a:t>
            </a:r>
            <a:r>
              <a:rPr sz="2400" b="1" dirty="0">
                <a:solidFill>
                  <a:srgbClr val="D9D9D9"/>
                </a:solidFill>
                <a:latin typeface="Calibri"/>
                <a:cs typeface="Calibri"/>
              </a:rPr>
              <a:t>keys</a:t>
            </a:r>
            <a:r>
              <a:rPr sz="2400" b="1" spc="-20" dirty="0">
                <a:solidFill>
                  <a:srgbClr val="D9D9D9"/>
                </a:solidFill>
                <a:latin typeface="Calibri"/>
                <a:cs typeface="Calibri"/>
              </a:rPr>
              <a:t> </a:t>
            </a:r>
            <a:r>
              <a:rPr sz="2400" b="1" dirty="0">
                <a:solidFill>
                  <a:srgbClr val="D9D9D9"/>
                </a:solidFill>
                <a:latin typeface="Calibri"/>
                <a:cs typeface="Calibri"/>
              </a:rPr>
              <a:t>in</a:t>
            </a:r>
            <a:r>
              <a:rPr sz="2400" b="1" spc="-7" dirty="0">
                <a:solidFill>
                  <a:srgbClr val="D9D9D9"/>
                </a:solidFill>
                <a:latin typeface="Calibri"/>
                <a:cs typeface="Calibri"/>
              </a:rPr>
              <a:t> </a:t>
            </a:r>
            <a:r>
              <a:rPr sz="2400" b="1" dirty="0">
                <a:solidFill>
                  <a:srgbClr val="D9D9D9"/>
                </a:solidFill>
                <a:latin typeface="Calibri"/>
                <a:cs typeface="Calibri"/>
              </a:rPr>
              <a:t>tables</a:t>
            </a:r>
            <a:r>
              <a:rPr sz="2400" b="1" spc="-53" dirty="0">
                <a:solidFill>
                  <a:srgbClr val="D9D9D9"/>
                </a:solidFill>
                <a:latin typeface="Calibri"/>
                <a:cs typeface="Calibri"/>
              </a:rPr>
              <a:t> </a:t>
            </a:r>
            <a:r>
              <a:rPr sz="2400" b="1" dirty="0">
                <a:solidFill>
                  <a:srgbClr val="D9D9D9"/>
                </a:solidFill>
                <a:latin typeface="Calibri"/>
                <a:cs typeface="Calibri"/>
              </a:rPr>
              <a:t>as</a:t>
            </a:r>
            <a:r>
              <a:rPr sz="2400" b="1" spc="-7" dirty="0">
                <a:solidFill>
                  <a:srgbClr val="D9D9D9"/>
                </a:solidFill>
                <a:latin typeface="Calibri"/>
                <a:cs typeface="Calibri"/>
              </a:rPr>
              <a:t> </a:t>
            </a:r>
            <a:r>
              <a:rPr sz="2400" b="1" dirty="0">
                <a:solidFill>
                  <a:srgbClr val="D9D9D9"/>
                </a:solidFill>
                <a:latin typeface="Calibri"/>
                <a:cs typeface="Calibri"/>
              </a:rPr>
              <a:t>main</a:t>
            </a:r>
            <a:r>
              <a:rPr sz="2400" b="1" spc="-7" dirty="0">
                <a:solidFill>
                  <a:srgbClr val="D9D9D9"/>
                </a:solidFill>
                <a:latin typeface="Calibri"/>
                <a:cs typeface="Calibri"/>
              </a:rPr>
              <a:t> </a:t>
            </a:r>
            <a:r>
              <a:rPr sz="2400" b="1" dirty="0">
                <a:solidFill>
                  <a:srgbClr val="D9D9D9"/>
                </a:solidFill>
                <a:latin typeface="Calibri"/>
                <a:cs typeface="Calibri"/>
              </a:rPr>
              <a:t>PK</a:t>
            </a:r>
            <a:r>
              <a:rPr sz="2400" b="1" spc="13" dirty="0">
                <a:solidFill>
                  <a:srgbClr val="D9D9D9"/>
                </a:solidFill>
                <a:latin typeface="Calibri"/>
                <a:cs typeface="Calibri"/>
              </a:rPr>
              <a:t> </a:t>
            </a:r>
            <a:r>
              <a:rPr sz="2400" b="1" dirty="0">
                <a:solidFill>
                  <a:srgbClr val="D9D9D9"/>
                </a:solidFill>
                <a:latin typeface="Calibri"/>
                <a:cs typeface="Calibri"/>
              </a:rPr>
              <a:t>and</a:t>
            </a:r>
            <a:r>
              <a:rPr sz="2400" b="1" spc="-7" dirty="0">
                <a:solidFill>
                  <a:srgbClr val="D9D9D9"/>
                </a:solidFill>
                <a:latin typeface="Calibri"/>
                <a:cs typeface="Calibri"/>
              </a:rPr>
              <a:t> </a:t>
            </a:r>
            <a:r>
              <a:rPr sz="2400" b="1" spc="-33" dirty="0">
                <a:solidFill>
                  <a:srgbClr val="D9D9D9"/>
                </a:solidFill>
                <a:latin typeface="Calibri"/>
                <a:cs typeface="Calibri"/>
              </a:rPr>
              <a:t>FK</a:t>
            </a:r>
            <a:endParaRPr sz="2400" dirty="0">
              <a:latin typeface="Calibri"/>
              <a:cs typeface="Calibri"/>
            </a:endParaRPr>
          </a:p>
          <a:p>
            <a:pPr marL="397923" indent="-380990">
              <a:spcBef>
                <a:spcPts val="2840"/>
              </a:spcBef>
              <a:buClr>
                <a:srgbClr val="99D3FF"/>
              </a:buClr>
              <a:buFont typeface="Wingdings"/>
              <a:buChar char=""/>
              <a:tabLst>
                <a:tab pos="397923" algn="l"/>
              </a:tabLst>
            </a:pPr>
            <a:r>
              <a:rPr sz="2400" b="1" dirty="0">
                <a:solidFill>
                  <a:srgbClr val="D9D9D9"/>
                </a:solidFill>
                <a:latin typeface="Calibri"/>
                <a:cs typeface="Calibri"/>
              </a:rPr>
              <a:t>Both</a:t>
            </a:r>
            <a:r>
              <a:rPr sz="2400" b="1" spc="-20" dirty="0">
                <a:solidFill>
                  <a:srgbClr val="D9D9D9"/>
                </a:solidFill>
                <a:latin typeface="Calibri"/>
                <a:cs typeface="Calibri"/>
              </a:rPr>
              <a:t> </a:t>
            </a:r>
            <a:r>
              <a:rPr sz="2400" b="1" dirty="0">
                <a:solidFill>
                  <a:srgbClr val="D9D9D9"/>
                </a:solidFill>
                <a:latin typeface="Calibri"/>
                <a:cs typeface="Calibri"/>
              </a:rPr>
              <a:t>for Facts</a:t>
            </a:r>
            <a:r>
              <a:rPr sz="2400" b="1" spc="-27" dirty="0">
                <a:solidFill>
                  <a:srgbClr val="D9D9D9"/>
                </a:solidFill>
                <a:latin typeface="Calibri"/>
                <a:cs typeface="Calibri"/>
              </a:rPr>
              <a:t> </a:t>
            </a:r>
            <a:r>
              <a:rPr sz="2400" b="1" dirty="0">
                <a:solidFill>
                  <a:srgbClr val="D9D9D9"/>
                </a:solidFill>
                <a:latin typeface="Calibri"/>
                <a:cs typeface="Calibri"/>
              </a:rPr>
              <a:t>&amp;</a:t>
            </a:r>
            <a:r>
              <a:rPr sz="2400" b="1" spc="-7" dirty="0">
                <a:solidFill>
                  <a:srgbClr val="D9D9D9"/>
                </a:solidFill>
                <a:latin typeface="Calibri"/>
                <a:cs typeface="Calibri"/>
              </a:rPr>
              <a:t> </a:t>
            </a:r>
            <a:r>
              <a:rPr sz="2400" b="1" dirty="0">
                <a:solidFill>
                  <a:srgbClr val="D9D9D9"/>
                </a:solidFill>
                <a:latin typeface="Calibri"/>
                <a:cs typeface="Calibri"/>
              </a:rPr>
              <a:t>Dimensions</a:t>
            </a:r>
            <a:r>
              <a:rPr sz="2400" b="1" spc="-27" dirty="0">
                <a:solidFill>
                  <a:srgbClr val="D9D9D9"/>
                </a:solidFill>
                <a:latin typeface="Calibri"/>
                <a:cs typeface="Calibri"/>
              </a:rPr>
              <a:t> </a:t>
            </a:r>
            <a:r>
              <a:rPr sz="2400" b="1" dirty="0">
                <a:solidFill>
                  <a:srgbClr val="D9D9D9"/>
                </a:solidFill>
                <a:latin typeface="Calibri"/>
                <a:cs typeface="Calibri"/>
              </a:rPr>
              <a:t>(except</a:t>
            </a:r>
            <a:r>
              <a:rPr sz="2400" b="1" spc="-47" dirty="0">
                <a:solidFill>
                  <a:srgbClr val="D9D9D9"/>
                </a:solidFill>
                <a:latin typeface="Calibri"/>
                <a:cs typeface="Calibri"/>
              </a:rPr>
              <a:t> </a:t>
            </a:r>
            <a:r>
              <a:rPr sz="2400" b="1" dirty="0">
                <a:solidFill>
                  <a:srgbClr val="D9D9D9"/>
                </a:solidFill>
                <a:latin typeface="Calibri"/>
                <a:cs typeface="Calibri"/>
              </a:rPr>
              <a:t>date</a:t>
            </a:r>
            <a:r>
              <a:rPr sz="2400" b="1" spc="-27" dirty="0">
                <a:solidFill>
                  <a:srgbClr val="D9D9D9"/>
                </a:solidFill>
                <a:latin typeface="Calibri"/>
                <a:cs typeface="Calibri"/>
              </a:rPr>
              <a:t> </a:t>
            </a:r>
            <a:r>
              <a:rPr sz="2400" b="1" spc="-13" dirty="0">
                <a:solidFill>
                  <a:srgbClr val="D9D9D9"/>
                </a:solidFill>
                <a:latin typeface="Calibri"/>
                <a:cs typeface="Calibri"/>
              </a:rPr>
              <a:t>dimension)</a:t>
            </a:r>
            <a:endParaRPr sz="2400" dirty="0">
              <a:latin typeface="Calibri"/>
              <a:cs typeface="Calibri"/>
            </a:endParaRPr>
          </a:p>
          <a:p>
            <a:pPr marL="397923" indent="-380990">
              <a:spcBef>
                <a:spcPts val="2352"/>
              </a:spcBef>
              <a:buClr>
                <a:srgbClr val="99D3FF"/>
              </a:buClr>
              <a:buFont typeface="Wingdings"/>
              <a:buChar char=""/>
              <a:tabLst>
                <a:tab pos="397923" algn="l"/>
              </a:tabLst>
            </a:pPr>
            <a:r>
              <a:rPr sz="2400" b="1" dirty="0">
                <a:solidFill>
                  <a:srgbClr val="D9D9D9"/>
                </a:solidFill>
                <a:latin typeface="Calibri"/>
                <a:cs typeface="Calibri"/>
              </a:rPr>
              <a:t>Optionally</a:t>
            </a:r>
            <a:r>
              <a:rPr sz="2400" b="1" spc="-40" dirty="0">
                <a:solidFill>
                  <a:srgbClr val="D9D9D9"/>
                </a:solidFill>
                <a:latin typeface="Calibri"/>
                <a:cs typeface="Calibri"/>
              </a:rPr>
              <a:t> </a:t>
            </a:r>
            <a:r>
              <a:rPr sz="2400" b="1" dirty="0">
                <a:solidFill>
                  <a:srgbClr val="D9D9D9"/>
                </a:solidFill>
                <a:latin typeface="Calibri"/>
                <a:cs typeface="Calibri"/>
              </a:rPr>
              <a:t>keep</a:t>
            </a:r>
            <a:r>
              <a:rPr sz="2400" b="1" spc="-20" dirty="0">
                <a:solidFill>
                  <a:srgbClr val="D9D9D9"/>
                </a:solidFill>
                <a:latin typeface="Calibri"/>
                <a:cs typeface="Calibri"/>
              </a:rPr>
              <a:t> </a:t>
            </a:r>
            <a:r>
              <a:rPr sz="2400" b="1" dirty="0">
                <a:solidFill>
                  <a:srgbClr val="D9D9D9"/>
                </a:solidFill>
                <a:latin typeface="Calibri"/>
                <a:cs typeface="Calibri"/>
              </a:rPr>
              <a:t>the</a:t>
            </a:r>
            <a:r>
              <a:rPr sz="2400" b="1" spc="-20" dirty="0">
                <a:solidFill>
                  <a:srgbClr val="D9D9D9"/>
                </a:solidFill>
                <a:latin typeface="Calibri"/>
                <a:cs typeface="Calibri"/>
              </a:rPr>
              <a:t> </a:t>
            </a:r>
            <a:r>
              <a:rPr sz="2400" b="1" dirty="0">
                <a:solidFill>
                  <a:srgbClr val="D9D9D9"/>
                </a:solidFill>
                <a:latin typeface="Calibri"/>
                <a:cs typeface="Calibri"/>
              </a:rPr>
              <a:t>natural </a:t>
            </a:r>
            <a:r>
              <a:rPr sz="2400" b="1" spc="-27" dirty="0">
                <a:solidFill>
                  <a:srgbClr val="D9D9D9"/>
                </a:solidFill>
                <a:latin typeface="Calibri"/>
                <a:cs typeface="Calibri"/>
              </a:rPr>
              <a:t>keys</a:t>
            </a:r>
            <a:endParaRPr sz="2400" dirty="0">
              <a:latin typeface="Calibri"/>
              <a:cs typeface="Calibri"/>
            </a:endParaRP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57807" y="2279903"/>
            <a:ext cx="9930384" cy="1702816"/>
          </a:xfrm>
          <a:prstGeom prst="rect">
            <a:avLst/>
          </a:prstGeom>
        </p:spPr>
      </p:pic>
      <p:sp>
        <p:nvSpPr>
          <p:cNvPr id="3" name="object 3"/>
          <p:cNvSpPr txBox="1">
            <a:spLocks noGrp="1"/>
          </p:cNvSpPr>
          <p:nvPr>
            <p:ph type="title"/>
          </p:nvPr>
        </p:nvSpPr>
        <p:spPr>
          <a:xfrm>
            <a:off x="1320800" y="2579973"/>
            <a:ext cx="9811173" cy="1048150"/>
          </a:xfrm>
          <a:prstGeom prst="rect">
            <a:avLst/>
          </a:prstGeom>
          <a:noFill/>
          <a:ln w="9144">
            <a:noFill/>
          </a:ln>
        </p:spPr>
        <p:txBody>
          <a:bodyPr vert="horz" wrap="square" lIns="0" tIns="306493" rIns="0" bIns="0" rtlCol="0" anchor="ctr">
            <a:spAutoFit/>
          </a:bodyPr>
          <a:lstStyle/>
          <a:p>
            <a:pPr marL="2540" algn="ctr">
              <a:lnSpc>
                <a:spcPct val="100000"/>
              </a:lnSpc>
              <a:spcBef>
                <a:spcPts val="2413"/>
              </a:spcBef>
            </a:pPr>
            <a:r>
              <a:rPr sz="4800" dirty="0">
                <a:solidFill>
                  <a:schemeClr val="bg1"/>
                </a:solidFill>
                <a:latin typeface="+mn-lt"/>
              </a:rPr>
              <a:t>Case</a:t>
            </a:r>
            <a:r>
              <a:rPr sz="4800" spc="-47" dirty="0">
                <a:solidFill>
                  <a:schemeClr val="bg1"/>
                </a:solidFill>
                <a:latin typeface="+mn-lt"/>
              </a:rPr>
              <a:t> </a:t>
            </a:r>
            <a:r>
              <a:rPr sz="4800" dirty="0">
                <a:solidFill>
                  <a:schemeClr val="bg1"/>
                </a:solidFill>
                <a:latin typeface="+mn-lt"/>
              </a:rPr>
              <a:t>study:</a:t>
            </a:r>
            <a:r>
              <a:rPr sz="4800" spc="-73" dirty="0">
                <a:solidFill>
                  <a:schemeClr val="bg1"/>
                </a:solidFill>
                <a:latin typeface="+mn-lt"/>
              </a:rPr>
              <a:t> </a:t>
            </a:r>
            <a:r>
              <a:rPr sz="4800" spc="-27" dirty="0">
                <a:solidFill>
                  <a:schemeClr val="bg1"/>
                </a:solidFill>
                <a:latin typeface="+mn-lt"/>
              </a:rPr>
              <a:t>E-</a:t>
            </a:r>
            <a:r>
              <a:rPr sz="4800" spc="-13" dirty="0">
                <a:solidFill>
                  <a:schemeClr val="bg1"/>
                </a:solidFill>
                <a:latin typeface="+mn-lt"/>
              </a:rPr>
              <a:t>Commerce</a:t>
            </a:r>
            <a:endParaRPr sz="4800" dirty="0">
              <a:solidFill>
                <a:schemeClr val="bg1"/>
              </a:solidFill>
              <a:latin typeface="+mn-lt"/>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52751" y="101135"/>
            <a:ext cx="6870191" cy="695062"/>
          </a:xfrm>
          <a:prstGeom prst="rect">
            <a:avLst/>
          </a:prstGeom>
        </p:spPr>
        <p:txBody>
          <a:bodyPr vert="horz" wrap="square" lIns="0" tIns="17780" rIns="0" bIns="0" rtlCol="0" anchor="ctr">
            <a:spAutoFit/>
          </a:bodyPr>
          <a:lstStyle/>
          <a:p>
            <a:pPr marL="969409">
              <a:lnSpc>
                <a:spcPct val="100000"/>
              </a:lnSpc>
              <a:spcBef>
                <a:spcPts val="140"/>
              </a:spcBef>
            </a:pPr>
            <a:r>
              <a:rPr dirty="0">
                <a:solidFill>
                  <a:schemeClr val="bg1"/>
                </a:solidFill>
                <a:latin typeface="+mn-lt"/>
              </a:rPr>
              <a:t>Case</a:t>
            </a:r>
            <a:r>
              <a:rPr spc="-67" dirty="0">
                <a:solidFill>
                  <a:schemeClr val="bg1"/>
                </a:solidFill>
                <a:latin typeface="+mn-lt"/>
              </a:rPr>
              <a:t> </a:t>
            </a:r>
            <a:r>
              <a:rPr dirty="0">
                <a:solidFill>
                  <a:schemeClr val="bg1"/>
                </a:solidFill>
                <a:latin typeface="+mn-lt"/>
              </a:rPr>
              <a:t>study:</a:t>
            </a:r>
            <a:r>
              <a:rPr spc="-40" dirty="0">
                <a:solidFill>
                  <a:schemeClr val="bg1"/>
                </a:solidFill>
                <a:latin typeface="+mn-lt"/>
              </a:rPr>
              <a:t> </a:t>
            </a:r>
            <a:r>
              <a:rPr spc="-13" dirty="0">
                <a:solidFill>
                  <a:schemeClr val="bg1"/>
                </a:solidFill>
                <a:latin typeface="+mn-lt"/>
              </a:rPr>
              <a:t>E-Commerce</a:t>
            </a:r>
          </a:p>
        </p:txBody>
      </p:sp>
      <p:grpSp>
        <p:nvGrpSpPr>
          <p:cNvPr id="3" name="object 3"/>
          <p:cNvGrpSpPr/>
          <p:nvPr/>
        </p:nvGrpSpPr>
        <p:grpSpPr>
          <a:xfrm>
            <a:off x="1190751" y="1330926"/>
            <a:ext cx="4197096" cy="1616489"/>
            <a:chOff x="893063" y="998194"/>
            <a:chExt cx="3147822" cy="1212367"/>
          </a:xfrm>
        </p:grpSpPr>
        <p:pic>
          <p:nvPicPr>
            <p:cNvPr id="4" name="object 4"/>
            <p:cNvPicPr/>
            <p:nvPr/>
          </p:nvPicPr>
          <p:blipFill>
            <a:blip r:embed="rId2" cstate="print"/>
            <a:stretch>
              <a:fillRect/>
            </a:stretch>
          </p:blipFill>
          <p:spPr>
            <a:xfrm>
              <a:off x="893063" y="998194"/>
              <a:ext cx="3147822" cy="1212367"/>
            </a:xfrm>
            <a:prstGeom prst="rect">
              <a:avLst/>
            </a:prstGeom>
          </p:spPr>
        </p:pic>
        <p:sp>
          <p:nvSpPr>
            <p:cNvPr id="6" name="object 6"/>
            <p:cNvSpPr/>
            <p:nvPr/>
          </p:nvSpPr>
          <p:spPr>
            <a:xfrm>
              <a:off x="1219961" y="1152905"/>
              <a:ext cx="2514600" cy="581025"/>
            </a:xfrm>
            <a:custGeom>
              <a:avLst/>
              <a:gdLst/>
              <a:ahLst/>
              <a:cxnLst/>
              <a:rect l="l" t="t" r="r" b="b"/>
              <a:pathLst>
                <a:path w="2514600" h="581025">
                  <a:moveTo>
                    <a:pt x="0" y="290322"/>
                  </a:moveTo>
                  <a:lnTo>
                    <a:pt x="145160" y="0"/>
                  </a:lnTo>
                  <a:lnTo>
                    <a:pt x="2369439" y="0"/>
                  </a:lnTo>
                  <a:lnTo>
                    <a:pt x="2514600" y="290322"/>
                  </a:lnTo>
                  <a:lnTo>
                    <a:pt x="2369439" y="580644"/>
                  </a:lnTo>
                  <a:lnTo>
                    <a:pt x="145160" y="580644"/>
                  </a:lnTo>
                  <a:lnTo>
                    <a:pt x="0" y="290322"/>
                  </a:lnTo>
                  <a:close/>
                </a:path>
              </a:pathLst>
            </a:custGeom>
            <a:ln w="19812">
              <a:solidFill>
                <a:srgbClr val="00C3FF"/>
              </a:solidFill>
            </a:ln>
          </p:spPr>
          <p:txBody>
            <a:bodyPr wrap="square" lIns="0" tIns="0" rIns="0" bIns="0" rtlCol="0"/>
            <a:lstStyle/>
            <a:p>
              <a:endParaRPr sz="2400"/>
            </a:p>
          </p:txBody>
        </p:sp>
      </p:grpSp>
      <p:pic>
        <p:nvPicPr>
          <p:cNvPr id="7" name="object 7"/>
          <p:cNvPicPr/>
          <p:nvPr/>
        </p:nvPicPr>
        <p:blipFill>
          <a:blip r:embed="rId3" cstate="print"/>
          <a:stretch>
            <a:fillRect/>
          </a:stretch>
        </p:blipFill>
        <p:spPr>
          <a:xfrm>
            <a:off x="6194366" y="4162549"/>
            <a:ext cx="593972" cy="594532"/>
          </a:xfrm>
          <a:prstGeom prst="rect">
            <a:avLst/>
          </a:prstGeom>
        </p:spPr>
      </p:pic>
      <p:pic>
        <p:nvPicPr>
          <p:cNvPr id="8" name="object 8"/>
          <p:cNvPicPr/>
          <p:nvPr/>
        </p:nvPicPr>
        <p:blipFill>
          <a:blip r:embed="rId4" cstate="print"/>
          <a:stretch>
            <a:fillRect/>
          </a:stretch>
        </p:blipFill>
        <p:spPr>
          <a:xfrm>
            <a:off x="9599390" y="4633499"/>
            <a:ext cx="609015" cy="833120"/>
          </a:xfrm>
          <a:prstGeom prst="rect">
            <a:avLst/>
          </a:prstGeom>
        </p:spPr>
      </p:pic>
      <p:pic>
        <p:nvPicPr>
          <p:cNvPr id="9" name="object 9"/>
          <p:cNvPicPr/>
          <p:nvPr/>
        </p:nvPicPr>
        <p:blipFill>
          <a:blip r:embed="rId5" cstate="print"/>
          <a:stretch>
            <a:fillRect/>
          </a:stretch>
        </p:blipFill>
        <p:spPr>
          <a:xfrm>
            <a:off x="8215368" y="1402395"/>
            <a:ext cx="1048987" cy="850053"/>
          </a:xfrm>
          <a:prstGeom prst="rect">
            <a:avLst/>
          </a:prstGeom>
        </p:spPr>
      </p:pic>
      <p:pic>
        <p:nvPicPr>
          <p:cNvPr id="10" name="object 10"/>
          <p:cNvPicPr/>
          <p:nvPr/>
        </p:nvPicPr>
        <p:blipFill>
          <a:blip r:embed="rId6" cstate="print"/>
          <a:stretch>
            <a:fillRect/>
          </a:stretch>
        </p:blipFill>
        <p:spPr>
          <a:xfrm>
            <a:off x="6731748" y="1569021"/>
            <a:ext cx="1171393" cy="720188"/>
          </a:xfrm>
          <a:prstGeom prst="rect">
            <a:avLst/>
          </a:prstGeom>
        </p:spPr>
      </p:pic>
      <p:sp>
        <p:nvSpPr>
          <p:cNvPr id="11" name="object 11"/>
          <p:cNvSpPr txBox="1"/>
          <p:nvPr/>
        </p:nvSpPr>
        <p:spPr>
          <a:xfrm>
            <a:off x="1748536" y="1682665"/>
            <a:ext cx="8693573" cy="3621569"/>
          </a:xfrm>
          <a:prstGeom prst="rect">
            <a:avLst/>
          </a:prstGeom>
        </p:spPr>
        <p:txBody>
          <a:bodyPr vert="horz" wrap="square" lIns="0" tIns="17780" rIns="0" bIns="0" rtlCol="0">
            <a:spAutoFit/>
          </a:bodyPr>
          <a:lstStyle/>
          <a:p>
            <a:pPr marL="677316">
              <a:spcBef>
                <a:spcPts val="140"/>
              </a:spcBef>
            </a:pPr>
            <a:r>
              <a:rPr sz="2667" b="1" dirty="0">
                <a:solidFill>
                  <a:srgbClr val="CCEAFF"/>
                </a:solidFill>
                <a:latin typeface="Calibri"/>
                <a:cs typeface="Calibri"/>
              </a:rPr>
              <a:t>Corporate</a:t>
            </a:r>
            <a:r>
              <a:rPr sz="2667" b="1" spc="-33" dirty="0">
                <a:solidFill>
                  <a:srgbClr val="CCEAFF"/>
                </a:solidFill>
                <a:latin typeface="Calibri"/>
                <a:cs typeface="Calibri"/>
              </a:rPr>
              <a:t> IT</a:t>
            </a:r>
            <a:endParaRPr sz="2667" dirty="0">
              <a:latin typeface="Calibri"/>
              <a:cs typeface="Calibri"/>
            </a:endParaRPr>
          </a:p>
          <a:p>
            <a:pPr marL="16933">
              <a:spcBef>
                <a:spcPts val="2433"/>
              </a:spcBef>
            </a:pPr>
            <a:r>
              <a:rPr sz="2400" b="1" spc="-27" dirty="0">
                <a:solidFill>
                  <a:srgbClr val="66DBFF"/>
                </a:solidFill>
                <a:latin typeface="Trebuchet MS"/>
                <a:cs typeface="Trebuchet MS"/>
              </a:rPr>
              <a:t>E-</a:t>
            </a:r>
            <a:r>
              <a:rPr sz="2400" b="1" dirty="0">
                <a:solidFill>
                  <a:srgbClr val="66DBFF"/>
                </a:solidFill>
                <a:latin typeface="Trebuchet MS"/>
                <a:cs typeface="Trebuchet MS"/>
              </a:rPr>
              <a:t>Commerce</a:t>
            </a:r>
            <a:r>
              <a:rPr sz="2400" b="1" spc="-67" dirty="0">
                <a:solidFill>
                  <a:srgbClr val="66DBFF"/>
                </a:solidFill>
                <a:latin typeface="Trebuchet MS"/>
                <a:cs typeface="Trebuchet MS"/>
              </a:rPr>
              <a:t> </a:t>
            </a:r>
            <a:r>
              <a:rPr sz="2400" b="1" spc="-13" dirty="0">
                <a:solidFill>
                  <a:srgbClr val="66DBFF"/>
                </a:solidFill>
                <a:latin typeface="Trebuchet MS"/>
                <a:cs typeface="Trebuchet MS"/>
              </a:rPr>
              <a:t>company</a:t>
            </a:r>
            <a:endParaRPr sz="2400" dirty="0">
              <a:latin typeface="Trebuchet MS"/>
              <a:cs typeface="Trebuchet MS"/>
            </a:endParaRPr>
          </a:p>
          <a:p>
            <a:pPr marL="684936" indent="-380990">
              <a:spcBef>
                <a:spcPts val="1967"/>
              </a:spcBef>
              <a:buClr>
                <a:srgbClr val="99D3FF"/>
              </a:buClr>
              <a:buFont typeface="Wingdings"/>
              <a:buChar char=""/>
              <a:tabLst>
                <a:tab pos="684936" algn="l"/>
              </a:tabLst>
            </a:pPr>
            <a:r>
              <a:rPr sz="2400" b="1" dirty="0">
                <a:solidFill>
                  <a:srgbClr val="D9D9D9"/>
                </a:solidFill>
                <a:latin typeface="Calibri"/>
                <a:cs typeface="Calibri"/>
              </a:rPr>
              <a:t>3</a:t>
            </a:r>
            <a:r>
              <a:rPr sz="2400" b="1" spc="-13" dirty="0">
                <a:solidFill>
                  <a:srgbClr val="D9D9D9"/>
                </a:solidFill>
                <a:latin typeface="Calibri"/>
                <a:cs typeface="Calibri"/>
              </a:rPr>
              <a:t> websites</a:t>
            </a:r>
            <a:endParaRPr sz="2400" dirty="0">
              <a:latin typeface="Calibri"/>
              <a:cs typeface="Calibri"/>
            </a:endParaRPr>
          </a:p>
          <a:p>
            <a:pPr marL="684936" indent="-380990">
              <a:spcBef>
                <a:spcPts val="2213"/>
              </a:spcBef>
              <a:buClr>
                <a:srgbClr val="99D3FF"/>
              </a:buClr>
              <a:buFont typeface="Wingdings"/>
              <a:buChar char=""/>
              <a:tabLst>
                <a:tab pos="684936" algn="l"/>
              </a:tabLst>
            </a:pPr>
            <a:r>
              <a:rPr sz="2400" b="1" dirty="0">
                <a:solidFill>
                  <a:srgbClr val="D9D9D9"/>
                </a:solidFill>
                <a:latin typeface="Calibri"/>
                <a:cs typeface="Calibri"/>
              </a:rPr>
              <a:t>Each</a:t>
            </a:r>
            <a:r>
              <a:rPr sz="2400" b="1" spc="-33" dirty="0">
                <a:solidFill>
                  <a:srgbClr val="D9D9D9"/>
                </a:solidFill>
                <a:latin typeface="Calibri"/>
                <a:cs typeface="Calibri"/>
              </a:rPr>
              <a:t> </a:t>
            </a:r>
            <a:r>
              <a:rPr sz="2400" b="1" dirty="0">
                <a:solidFill>
                  <a:srgbClr val="D9D9D9"/>
                </a:solidFill>
                <a:latin typeface="Calibri"/>
                <a:cs typeface="Calibri"/>
              </a:rPr>
              <a:t>website</a:t>
            </a:r>
            <a:r>
              <a:rPr sz="2400" b="1" spc="-60" dirty="0">
                <a:solidFill>
                  <a:srgbClr val="D9D9D9"/>
                </a:solidFill>
                <a:latin typeface="Calibri"/>
                <a:cs typeface="Calibri"/>
              </a:rPr>
              <a:t> </a:t>
            </a:r>
            <a:r>
              <a:rPr sz="2400" b="1" dirty="0">
                <a:solidFill>
                  <a:srgbClr val="D9D9D9"/>
                </a:solidFill>
                <a:latin typeface="Calibri"/>
                <a:cs typeface="Calibri"/>
              </a:rPr>
              <a:t>operated</a:t>
            </a:r>
            <a:r>
              <a:rPr sz="2400" b="1" spc="-67" dirty="0">
                <a:solidFill>
                  <a:srgbClr val="D9D9D9"/>
                </a:solidFill>
                <a:latin typeface="Calibri"/>
                <a:cs typeface="Calibri"/>
              </a:rPr>
              <a:t> </a:t>
            </a:r>
            <a:r>
              <a:rPr sz="2400" b="1" dirty="0">
                <a:solidFill>
                  <a:srgbClr val="D9D9D9"/>
                </a:solidFill>
                <a:latin typeface="Calibri"/>
                <a:cs typeface="Calibri"/>
              </a:rPr>
              <a:t>independently</a:t>
            </a:r>
            <a:r>
              <a:rPr sz="2400" b="1" spc="-53" dirty="0">
                <a:solidFill>
                  <a:srgbClr val="D9D9D9"/>
                </a:solidFill>
                <a:latin typeface="Calibri"/>
                <a:cs typeface="Calibri"/>
              </a:rPr>
              <a:t> </a:t>
            </a:r>
            <a:r>
              <a:rPr sz="2400" b="1" dirty="0">
                <a:solidFill>
                  <a:srgbClr val="D9D9D9"/>
                </a:solidFill>
                <a:latin typeface="Calibri"/>
                <a:cs typeface="Calibri"/>
              </a:rPr>
              <a:t>by</a:t>
            </a:r>
            <a:r>
              <a:rPr sz="2400" b="1" spc="-33" dirty="0">
                <a:solidFill>
                  <a:srgbClr val="D9D9D9"/>
                </a:solidFill>
                <a:latin typeface="Calibri"/>
                <a:cs typeface="Calibri"/>
              </a:rPr>
              <a:t> </a:t>
            </a:r>
            <a:r>
              <a:rPr sz="2400" b="1" dirty="0">
                <a:solidFill>
                  <a:srgbClr val="D9D9D9"/>
                </a:solidFill>
                <a:latin typeface="Calibri"/>
                <a:cs typeface="Calibri"/>
              </a:rPr>
              <a:t>multiple</a:t>
            </a:r>
            <a:r>
              <a:rPr sz="2400" b="1" spc="-73" dirty="0">
                <a:solidFill>
                  <a:srgbClr val="D9D9D9"/>
                </a:solidFill>
                <a:latin typeface="Calibri"/>
                <a:cs typeface="Calibri"/>
              </a:rPr>
              <a:t> </a:t>
            </a:r>
            <a:r>
              <a:rPr sz="2400" b="1" spc="-13" dirty="0">
                <a:solidFill>
                  <a:srgbClr val="D9D9D9"/>
                </a:solidFill>
                <a:latin typeface="Calibri"/>
                <a:cs typeface="Calibri"/>
              </a:rPr>
              <a:t>departments</a:t>
            </a:r>
            <a:endParaRPr sz="2400" dirty="0">
              <a:latin typeface="Calibri"/>
              <a:cs typeface="Calibri"/>
            </a:endParaRPr>
          </a:p>
          <a:p>
            <a:pPr marL="685783" indent="-381837">
              <a:spcBef>
                <a:spcPts val="1840"/>
              </a:spcBef>
              <a:buClr>
                <a:srgbClr val="99D3FF"/>
              </a:buClr>
              <a:buFont typeface="Wingdings"/>
              <a:buChar char=""/>
              <a:tabLst>
                <a:tab pos="685783" algn="l"/>
              </a:tabLst>
            </a:pPr>
            <a:r>
              <a:rPr sz="2400" b="1" dirty="0">
                <a:solidFill>
                  <a:srgbClr val="D9D9D9"/>
                </a:solidFill>
                <a:latin typeface="Calibri"/>
                <a:cs typeface="Calibri"/>
              </a:rPr>
              <a:t>~</a:t>
            </a:r>
            <a:r>
              <a:rPr sz="2400" b="1" spc="-13" dirty="0">
                <a:solidFill>
                  <a:srgbClr val="D9D9D9"/>
                </a:solidFill>
                <a:latin typeface="Calibri"/>
                <a:cs typeface="Calibri"/>
              </a:rPr>
              <a:t> </a:t>
            </a:r>
            <a:r>
              <a:rPr sz="2400" b="1" dirty="0">
                <a:solidFill>
                  <a:srgbClr val="D9D9D9"/>
                </a:solidFill>
                <a:latin typeface="Calibri"/>
                <a:cs typeface="Calibri"/>
              </a:rPr>
              <a:t>1000</a:t>
            </a:r>
            <a:r>
              <a:rPr sz="2400" b="1" spc="-7" dirty="0">
                <a:solidFill>
                  <a:srgbClr val="D9D9D9"/>
                </a:solidFill>
                <a:latin typeface="Calibri"/>
                <a:cs typeface="Calibri"/>
              </a:rPr>
              <a:t> </a:t>
            </a:r>
            <a:r>
              <a:rPr sz="2400" b="1" dirty="0">
                <a:solidFill>
                  <a:srgbClr val="D9D9D9"/>
                </a:solidFill>
                <a:latin typeface="Calibri"/>
                <a:cs typeface="Calibri"/>
              </a:rPr>
              <a:t>individual</a:t>
            </a:r>
            <a:r>
              <a:rPr sz="2400" b="1" spc="-27" dirty="0">
                <a:solidFill>
                  <a:srgbClr val="D9D9D9"/>
                </a:solidFill>
                <a:latin typeface="Calibri"/>
                <a:cs typeface="Calibri"/>
              </a:rPr>
              <a:t> </a:t>
            </a:r>
            <a:r>
              <a:rPr sz="2400" b="1" spc="-13" dirty="0">
                <a:solidFill>
                  <a:srgbClr val="D9D9D9"/>
                </a:solidFill>
                <a:latin typeface="Calibri"/>
                <a:cs typeface="Calibri"/>
              </a:rPr>
              <a:t>products</a:t>
            </a:r>
            <a:endParaRPr sz="2400" dirty="0">
              <a:latin typeface="Calibri"/>
              <a:cs typeface="Calibri"/>
            </a:endParaRPr>
          </a:p>
          <a:p>
            <a:pPr marL="684936" indent="-380990">
              <a:spcBef>
                <a:spcPts val="2073"/>
              </a:spcBef>
              <a:buClr>
                <a:srgbClr val="99D3FF"/>
              </a:buClr>
              <a:buFont typeface="Wingdings"/>
              <a:buChar char=""/>
              <a:tabLst>
                <a:tab pos="684936" algn="l"/>
              </a:tabLst>
            </a:pPr>
            <a:r>
              <a:rPr sz="2400" b="1" dirty="0">
                <a:solidFill>
                  <a:srgbClr val="D9D9D9"/>
                </a:solidFill>
                <a:latin typeface="Calibri"/>
                <a:cs typeface="Calibri"/>
              </a:rPr>
              <a:t>Groceries,</a:t>
            </a:r>
            <a:r>
              <a:rPr sz="2400" b="1" spc="-47" dirty="0">
                <a:solidFill>
                  <a:srgbClr val="D9D9D9"/>
                </a:solidFill>
                <a:latin typeface="Calibri"/>
                <a:cs typeface="Calibri"/>
              </a:rPr>
              <a:t> </a:t>
            </a:r>
            <a:r>
              <a:rPr sz="2400" b="1" dirty="0">
                <a:solidFill>
                  <a:srgbClr val="D9D9D9"/>
                </a:solidFill>
                <a:latin typeface="Calibri"/>
                <a:cs typeface="Calibri"/>
              </a:rPr>
              <a:t>kitchen</a:t>
            </a:r>
            <a:r>
              <a:rPr sz="2400" b="1" spc="-93" dirty="0">
                <a:solidFill>
                  <a:srgbClr val="D9D9D9"/>
                </a:solidFill>
                <a:latin typeface="Calibri"/>
                <a:cs typeface="Calibri"/>
              </a:rPr>
              <a:t> </a:t>
            </a:r>
            <a:r>
              <a:rPr sz="2400" b="1" dirty="0">
                <a:solidFill>
                  <a:srgbClr val="D9D9D9"/>
                </a:solidFill>
                <a:latin typeface="Calibri"/>
                <a:cs typeface="Calibri"/>
              </a:rPr>
              <a:t>products,</a:t>
            </a:r>
            <a:r>
              <a:rPr sz="2400" b="1" spc="-73" dirty="0">
                <a:solidFill>
                  <a:srgbClr val="D9D9D9"/>
                </a:solidFill>
                <a:latin typeface="Calibri"/>
                <a:cs typeface="Calibri"/>
              </a:rPr>
              <a:t> </a:t>
            </a:r>
            <a:r>
              <a:rPr sz="2400" b="1" dirty="0">
                <a:solidFill>
                  <a:srgbClr val="D9D9D9"/>
                </a:solidFill>
                <a:latin typeface="Calibri"/>
                <a:cs typeface="Calibri"/>
              </a:rPr>
              <a:t>household</a:t>
            </a:r>
            <a:r>
              <a:rPr sz="2400" b="1" spc="-47" dirty="0">
                <a:solidFill>
                  <a:srgbClr val="D9D9D9"/>
                </a:solidFill>
                <a:latin typeface="Calibri"/>
                <a:cs typeface="Calibri"/>
              </a:rPr>
              <a:t> </a:t>
            </a:r>
            <a:r>
              <a:rPr sz="2400" b="1" dirty="0">
                <a:solidFill>
                  <a:srgbClr val="D9D9D9"/>
                </a:solidFill>
                <a:latin typeface="Calibri"/>
                <a:cs typeface="Calibri"/>
              </a:rPr>
              <a:t>products</a:t>
            </a:r>
            <a:r>
              <a:rPr sz="2400" b="1" spc="-47" dirty="0">
                <a:solidFill>
                  <a:srgbClr val="D9D9D9"/>
                </a:solidFill>
                <a:latin typeface="Calibri"/>
                <a:cs typeface="Calibri"/>
              </a:rPr>
              <a:t> </a:t>
            </a:r>
            <a:r>
              <a:rPr sz="2400" b="1" spc="-27" dirty="0">
                <a:solidFill>
                  <a:srgbClr val="D9D9D9"/>
                </a:solidFill>
                <a:latin typeface="Calibri"/>
                <a:cs typeface="Calibri"/>
              </a:rPr>
              <a:t>etc.</a:t>
            </a:r>
            <a:endParaRPr sz="2400" dirty="0">
              <a:latin typeface="Calibri"/>
              <a:cs typeface="Calibri"/>
            </a:endParaRPr>
          </a:p>
        </p:txBody>
      </p:sp>
      <p:pic>
        <p:nvPicPr>
          <p:cNvPr id="12" name="object 12"/>
          <p:cNvPicPr/>
          <p:nvPr/>
        </p:nvPicPr>
        <p:blipFill>
          <a:blip r:embed="rId7" cstate="print"/>
          <a:stretch>
            <a:fillRect/>
          </a:stretch>
        </p:blipFill>
        <p:spPr>
          <a:xfrm>
            <a:off x="10660614" y="3412214"/>
            <a:ext cx="808220" cy="734905"/>
          </a:xfrm>
          <a:prstGeom prst="rect">
            <a:avLst/>
          </a:prstGeom>
        </p:spPr>
      </p:pic>
      <p:grpSp>
        <p:nvGrpSpPr>
          <p:cNvPr id="13" name="object 13"/>
          <p:cNvGrpSpPr/>
          <p:nvPr/>
        </p:nvGrpSpPr>
        <p:grpSpPr>
          <a:xfrm>
            <a:off x="4104856" y="3010252"/>
            <a:ext cx="738293" cy="455507"/>
            <a:chOff x="3078642" y="2257689"/>
            <a:chExt cx="553720" cy="341630"/>
          </a:xfrm>
        </p:grpSpPr>
        <p:sp>
          <p:nvSpPr>
            <p:cNvPr id="14" name="object 14"/>
            <p:cNvSpPr/>
            <p:nvPr/>
          </p:nvSpPr>
          <p:spPr>
            <a:xfrm>
              <a:off x="3153500" y="2261418"/>
              <a:ext cx="403860" cy="274320"/>
            </a:xfrm>
            <a:custGeom>
              <a:avLst/>
              <a:gdLst/>
              <a:ahLst/>
              <a:cxnLst/>
              <a:rect l="l" t="t" r="r" b="b"/>
              <a:pathLst>
                <a:path w="403860" h="274319">
                  <a:moveTo>
                    <a:pt x="379531" y="0"/>
                  </a:moveTo>
                  <a:lnTo>
                    <a:pt x="23720" y="0"/>
                  </a:lnTo>
                  <a:lnTo>
                    <a:pt x="14510" y="1878"/>
                  </a:lnTo>
                  <a:lnTo>
                    <a:pt x="6967" y="6992"/>
                  </a:lnTo>
                  <a:lnTo>
                    <a:pt x="1871" y="14561"/>
                  </a:lnTo>
                  <a:lnTo>
                    <a:pt x="0" y="23804"/>
                  </a:lnTo>
                  <a:lnTo>
                    <a:pt x="0" y="273746"/>
                  </a:lnTo>
                  <a:lnTo>
                    <a:pt x="403252" y="273746"/>
                  </a:lnTo>
                  <a:lnTo>
                    <a:pt x="403252" y="238040"/>
                  </a:lnTo>
                  <a:lnTo>
                    <a:pt x="35581" y="238040"/>
                  </a:lnTo>
                  <a:lnTo>
                    <a:pt x="35581" y="35706"/>
                  </a:lnTo>
                  <a:lnTo>
                    <a:pt x="403252" y="35706"/>
                  </a:lnTo>
                  <a:lnTo>
                    <a:pt x="403252" y="23804"/>
                  </a:lnTo>
                  <a:lnTo>
                    <a:pt x="401380" y="14561"/>
                  </a:lnTo>
                  <a:lnTo>
                    <a:pt x="396284" y="6992"/>
                  </a:lnTo>
                  <a:lnTo>
                    <a:pt x="388741" y="1878"/>
                  </a:lnTo>
                  <a:lnTo>
                    <a:pt x="379531" y="0"/>
                  </a:lnTo>
                  <a:close/>
                </a:path>
                <a:path w="403860" h="274319">
                  <a:moveTo>
                    <a:pt x="403252" y="35706"/>
                  </a:moveTo>
                  <a:lnTo>
                    <a:pt x="367671" y="35706"/>
                  </a:lnTo>
                  <a:lnTo>
                    <a:pt x="367671" y="238040"/>
                  </a:lnTo>
                  <a:lnTo>
                    <a:pt x="403252" y="238040"/>
                  </a:lnTo>
                  <a:lnTo>
                    <a:pt x="403252" y="35706"/>
                  </a:lnTo>
                  <a:close/>
                </a:path>
              </a:pathLst>
            </a:custGeom>
            <a:solidFill>
              <a:srgbClr val="FFFFFF"/>
            </a:solidFill>
          </p:spPr>
          <p:txBody>
            <a:bodyPr wrap="square" lIns="0" tIns="0" rIns="0" bIns="0" rtlCol="0"/>
            <a:lstStyle/>
            <a:p>
              <a:endParaRPr sz="2400"/>
            </a:p>
          </p:txBody>
        </p:sp>
        <p:sp>
          <p:nvSpPr>
            <p:cNvPr id="15" name="object 15"/>
            <p:cNvSpPr/>
            <p:nvPr/>
          </p:nvSpPr>
          <p:spPr>
            <a:xfrm>
              <a:off x="3149804" y="2257689"/>
              <a:ext cx="411480" cy="281940"/>
            </a:xfrm>
            <a:custGeom>
              <a:avLst/>
              <a:gdLst/>
              <a:ahLst/>
              <a:cxnLst/>
              <a:rect l="l" t="t" r="r" b="b"/>
              <a:pathLst>
                <a:path w="411479" h="281939">
                  <a:moveTo>
                    <a:pt x="383875" y="0"/>
                  </a:moveTo>
                  <a:lnTo>
                    <a:pt x="27283" y="0"/>
                  </a:lnTo>
                  <a:lnTo>
                    <a:pt x="16821" y="2097"/>
                  </a:lnTo>
                  <a:lnTo>
                    <a:pt x="8158" y="8182"/>
                  </a:lnTo>
                  <a:lnTo>
                    <a:pt x="2090" y="16876"/>
                  </a:lnTo>
                  <a:lnTo>
                    <a:pt x="0" y="27379"/>
                  </a:lnTo>
                  <a:lnTo>
                    <a:pt x="0" y="281680"/>
                  </a:lnTo>
                  <a:lnTo>
                    <a:pt x="411159" y="281680"/>
                  </a:lnTo>
                  <a:lnTo>
                    <a:pt x="411159" y="277713"/>
                  </a:lnTo>
                  <a:lnTo>
                    <a:pt x="7907" y="277713"/>
                  </a:lnTo>
                  <a:lnTo>
                    <a:pt x="3953" y="273746"/>
                  </a:lnTo>
                  <a:lnTo>
                    <a:pt x="7907" y="273746"/>
                  </a:lnTo>
                  <a:lnTo>
                    <a:pt x="7906" y="27771"/>
                  </a:lnTo>
                  <a:lnTo>
                    <a:pt x="8061" y="27379"/>
                  </a:lnTo>
                  <a:lnTo>
                    <a:pt x="9382" y="20749"/>
                  </a:lnTo>
                  <a:lnTo>
                    <a:pt x="9043" y="20749"/>
                  </a:lnTo>
                  <a:lnTo>
                    <a:pt x="9681" y="19251"/>
                  </a:lnTo>
                  <a:lnTo>
                    <a:pt x="10088" y="19251"/>
                  </a:lnTo>
                  <a:lnTo>
                    <a:pt x="13554" y="14282"/>
                  </a:lnTo>
                  <a:lnTo>
                    <a:pt x="13263" y="14282"/>
                  </a:lnTo>
                  <a:lnTo>
                    <a:pt x="14232" y="13310"/>
                  </a:lnTo>
                  <a:lnTo>
                    <a:pt x="14647" y="13310"/>
                  </a:lnTo>
                  <a:lnTo>
                    <a:pt x="19765" y="9715"/>
                  </a:lnTo>
                  <a:lnTo>
                    <a:pt x="19184" y="9715"/>
                  </a:lnTo>
                  <a:lnTo>
                    <a:pt x="20676" y="9075"/>
                  </a:lnTo>
                  <a:lnTo>
                    <a:pt x="22371" y="9075"/>
                  </a:lnTo>
                  <a:lnTo>
                    <a:pt x="28054" y="7934"/>
                  </a:lnTo>
                  <a:lnTo>
                    <a:pt x="402647" y="7934"/>
                  </a:lnTo>
                  <a:lnTo>
                    <a:pt x="394337" y="2097"/>
                  </a:lnTo>
                  <a:lnTo>
                    <a:pt x="383875" y="0"/>
                  </a:lnTo>
                  <a:close/>
                </a:path>
                <a:path w="411479" h="281939">
                  <a:moveTo>
                    <a:pt x="7907" y="273746"/>
                  </a:moveTo>
                  <a:lnTo>
                    <a:pt x="3953" y="273746"/>
                  </a:lnTo>
                  <a:lnTo>
                    <a:pt x="7907" y="277713"/>
                  </a:lnTo>
                  <a:lnTo>
                    <a:pt x="7907" y="273746"/>
                  </a:lnTo>
                  <a:close/>
                </a:path>
                <a:path w="411479" h="281939">
                  <a:moveTo>
                    <a:pt x="403252" y="273746"/>
                  </a:moveTo>
                  <a:lnTo>
                    <a:pt x="7907" y="273746"/>
                  </a:lnTo>
                  <a:lnTo>
                    <a:pt x="7907" y="277713"/>
                  </a:lnTo>
                  <a:lnTo>
                    <a:pt x="403252" y="277713"/>
                  </a:lnTo>
                  <a:lnTo>
                    <a:pt x="403252" y="273746"/>
                  </a:lnTo>
                  <a:close/>
                </a:path>
                <a:path w="411479" h="281939">
                  <a:moveTo>
                    <a:pt x="401641" y="20068"/>
                  </a:moveTo>
                  <a:lnTo>
                    <a:pt x="403098" y="27379"/>
                  </a:lnTo>
                  <a:lnTo>
                    <a:pt x="403252" y="27771"/>
                  </a:lnTo>
                  <a:lnTo>
                    <a:pt x="403252" y="277713"/>
                  </a:lnTo>
                  <a:lnTo>
                    <a:pt x="407205" y="273746"/>
                  </a:lnTo>
                  <a:lnTo>
                    <a:pt x="411159" y="273746"/>
                  </a:lnTo>
                  <a:lnTo>
                    <a:pt x="411159" y="27379"/>
                  </a:lnTo>
                  <a:lnTo>
                    <a:pt x="409839" y="20749"/>
                  </a:lnTo>
                  <a:lnTo>
                    <a:pt x="402115" y="20749"/>
                  </a:lnTo>
                  <a:lnTo>
                    <a:pt x="401641" y="20068"/>
                  </a:lnTo>
                  <a:close/>
                </a:path>
                <a:path w="411479" h="281939">
                  <a:moveTo>
                    <a:pt x="411159" y="273746"/>
                  </a:moveTo>
                  <a:lnTo>
                    <a:pt x="407205" y="273746"/>
                  </a:lnTo>
                  <a:lnTo>
                    <a:pt x="403252" y="277713"/>
                  </a:lnTo>
                  <a:lnTo>
                    <a:pt x="411159" y="277713"/>
                  </a:lnTo>
                  <a:lnTo>
                    <a:pt x="411159" y="273746"/>
                  </a:lnTo>
                  <a:close/>
                </a:path>
                <a:path w="411479" h="281939">
                  <a:moveTo>
                    <a:pt x="375578" y="35706"/>
                  </a:moveTo>
                  <a:lnTo>
                    <a:pt x="35581" y="35706"/>
                  </a:lnTo>
                  <a:lnTo>
                    <a:pt x="35581" y="245974"/>
                  </a:lnTo>
                  <a:lnTo>
                    <a:pt x="375578" y="245974"/>
                  </a:lnTo>
                  <a:lnTo>
                    <a:pt x="375578" y="242007"/>
                  </a:lnTo>
                  <a:lnTo>
                    <a:pt x="43488" y="242007"/>
                  </a:lnTo>
                  <a:lnTo>
                    <a:pt x="39534" y="238040"/>
                  </a:lnTo>
                  <a:lnTo>
                    <a:pt x="43488" y="238040"/>
                  </a:lnTo>
                  <a:lnTo>
                    <a:pt x="43488" y="43640"/>
                  </a:lnTo>
                  <a:lnTo>
                    <a:pt x="39534" y="43640"/>
                  </a:lnTo>
                  <a:lnTo>
                    <a:pt x="43487" y="39673"/>
                  </a:lnTo>
                  <a:lnTo>
                    <a:pt x="375578" y="39673"/>
                  </a:lnTo>
                  <a:lnTo>
                    <a:pt x="375578" y="35706"/>
                  </a:lnTo>
                  <a:close/>
                </a:path>
                <a:path w="411479" h="281939">
                  <a:moveTo>
                    <a:pt x="43488" y="238040"/>
                  </a:moveTo>
                  <a:lnTo>
                    <a:pt x="39534" y="238040"/>
                  </a:lnTo>
                  <a:lnTo>
                    <a:pt x="43488" y="242007"/>
                  </a:lnTo>
                  <a:lnTo>
                    <a:pt x="43488" y="238040"/>
                  </a:lnTo>
                  <a:close/>
                </a:path>
                <a:path w="411479" h="281939">
                  <a:moveTo>
                    <a:pt x="367671" y="238040"/>
                  </a:moveTo>
                  <a:lnTo>
                    <a:pt x="43488" y="238040"/>
                  </a:lnTo>
                  <a:lnTo>
                    <a:pt x="43488" y="242007"/>
                  </a:lnTo>
                  <a:lnTo>
                    <a:pt x="367671" y="242007"/>
                  </a:lnTo>
                  <a:lnTo>
                    <a:pt x="367671" y="238040"/>
                  </a:lnTo>
                  <a:close/>
                </a:path>
                <a:path w="411479" h="281939">
                  <a:moveTo>
                    <a:pt x="367671" y="39673"/>
                  </a:moveTo>
                  <a:lnTo>
                    <a:pt x="367671" y="242007"/>
                  </a:lnTo>
                  <a:lnTo>
                    <a:pt x="371624" y="238040"/>
                  </a:lnTo>
                  <a:lnTo>
                    <a:pt x="375578" y="238040"/>
                  </a:lnTo>
                  <a:lnTo>
                    <a:pt x="375578" y="43640"/>
                  </a:lnTo>
                  <a:lnTo>
                    <a:pt x="371624" y="43640"/>
                  </a:lnTo>
                  <a:lnTo>
                    <a:pt x="367671" y="39673"/>
                  </a:lnTo>
                  <a:close/>
                </a:path>
                <a:path w="411479" h="281939">
                  <a:moveTo>
                    <a:pt x="375578" y="238040"/>
                  </a:moveTo>
                  <a:lnTo>
                    <a:pt x="371624" y="238040"/>
                  </a:lnTo>
                  <a:lnTo>
                    <a:pt x="367671" y="242007"/>
                  </a:lnTo>
                  <a:lnTo>
                    <a:pt x="375578" y="242007"/>
                  </a:lnTo>
                  <a:lnTo>
                    <a:pt x="375578" y="238040"/>
                  </a:lnTo>
                  <a:close/>
                </a:path>
                <a:path w="411479" h="281939">
                  <a:moveTo>
                    <a:pt x="43487" y="39673"/>
                  </a:moveTo>
                  <a:lnTo>
                    <a:pt x="39534" y="43640"/>
                  </a:lnTo>
                  <a:lnTo>
                    <a:pt x="43488" y="43640"/>
                  </a:lnTo>
                  <a:lnTo>
                    <a:pt x="43487" y="39673"/>
                  </a:lnTo>
                  <a:close/>
                </a:path>
                <a:path w="411479" h="281939">
                  <a:moveTo>
                    <a:pt x="367671" y="39673"/>
                  </a:moveTo>
                  <a:lnTo>
                    <a:pt x="43487" y="39673"/>
                  </a:lnTo>
                  <a:lnTo>
                    <a:pt x="43488" y="43640"/>
                  </a:lnTo>
                  <a:lnTo>
                    <a:pt x="367671" y="43640"/>
                  </a:lnTo>
                  <a:lnTo>
                    <a:pt x="367671" y="39673"/>
                  </a:lnTo>
                  <a:close/>
                </a:path>
                <a:path w="411479" h="281939">
                  <a:moveTo>
                    <a:pt x="375578" y="39673"/>
                  </a:moveTo>
                  <a:lnTo>
                    <a:pt x="367671" y="39673"/>
                  </a:lnTo>
                  <a:lnTo>
                    <a:pt x="371624" y="43640"/>
                  </a:lnTo>
                  <a:lnTo>
                    <a:pt x="375578" y="43640"/>
                  </a:lnTo>
                  <a:lnTo>
                    <a:pt x="375578" y="39673"/>
                  </a:lnTo>
                  <a:close/>
                </a:path>
                <a:path w="411479" h="281939">
                  <a:moveTo>
                    <a:pt x="9681" y="19251"/>
                  </a:moveTo>
                  <a:lnTo>
                    <a:pt x="9043" y="20749"/>
                  </a:lnTo>
                  <a:lnTo>
                    <a:pt x="9518" y="20068"/>
                  </a:lnTo>
                  <a:lnTo>
                    <a:pt x="9681" y="19251"/>
                  </a:lnTo>
                  <a:close/>
                </a:path>
                <a:path w="411479" h="281939">
                  <a:moveTo>
                    <a:pt x="9518" y="20068"/>
                  </a:moveTo>
                  <a:lnTo>
                    <a:pt x="9043" y="20749"/>
                  </a:lnTo>
                  <a:lnTo>
                    <a:pt x="9382" y="20749"/>
                  </a:lnTo>
                  <a:lnTo>
                    <a:pt x="9518" y="20068"/>
                  </a:lnTo>
                  <a:close/>
                </a:path>
                <a:path w="411479" h="281939">
                  <a:moveTo>
                    <a:pt x="401478" y="19251"/>
                  </a:moveTo>
                  <a:lnTo>
                    <a:pt x="401641" y="20068"/>
                  </a:lnTo>
                  <a:lnTo>
                    <a:pt x="402115" y="20749"/>
                  </a:lnTo>
                  <a:lnTo>
                    <a:pt x="401478" y="19251"/>
                  </a:lnTo>
                  <a:close/>
                </a:path>
                <a:path w="411479" h="281939">
                  <a:moveTo>
                    <a:pt x="409541" y="19251"/>
                  </a:moveTo>
                  <a:lnTo>
                    <a:pt x="401478" y="19251"/>
                  </a:lnTo>
                  <a:lnTo>
                    <a:pt x="402115" y="20749"/>
                  </a:lnTo>
                  <a:lnTo>
                    <a:pt x="409839" y="20749"/>
                  </a:lnTo>
                  <a:lnTo>
                    <a:pt x="409541" y="19251"/>
                  </a:lnTo>
                  <a:close/>
                </a:path>
                <a:path w="411479" h="281939">
                  <a:moveTo>
                    <a:pt x="10088" y="19251"/>
                  </a:moveTo>
                  <a:lnTo>
                    <a:pt x="9681" y="19251"/>
                  </a:lnTo>
                  <a:lnTo>
                    <a:pt x="9518" y="20068"/>
                  </a:lnTo>
                  <a:lnTo>
                    <a:pt x="10088" y="19251"/>
                  </a:lnTo>
                  <a:close/>
                </a:path>
                <a:path w="411479" h="281939">
                  <a:moveTo>
                    <a:pt x="397325" y="13882"/>
                  </a:moveTo>
                  <a:lnTo>
                    <a:pt x="401641" y="20068"/>
                  </a:lnTo>
                  <a:lnTo>
                    <a:pt x="401478" y="19251"/>
                  </a:lnTo>
                  <a:lnTo>
                    <a:pt x="409541" y="19251"/>
                  </a:lnTo>
                  <a:lnTo>
                    <a:pt x="409068" y="16876"/>
                  </a:lnTo>
                  <a:lnTo>
                    <a:pt x="407258" y="14282"/>
                  </a:lnTo>
                  <a:lnTo>
                    <a:pt x="397895" y="14282"/>
                  </a:lnTo>
                  <a:lnTo>
                    <a:pt x="397325" y="13882"/>
                  </a:lnTo>
                  <a:close/>
                </a:path>
                <a:path w="411479" h="281939">
                  <a:moveTo>
                    <a:pt x="14232" y="13310"/>
                  </a:moveTo>
                  <a:lnTo>
                    <a:pt x="13263" y="14282"/>
                  </a:lnTo>
                  <a:lnTo>
                    <a:pt x="13833" y="13882"/>
                  </a:lnTo>
                  <a:lnTo>
                    <a:pt x="14232" y="13310"/>
                  </a:lnTo>
                  <a:close/>
                </a:path>
                <a:path w="411479" h="281939">
                  <a:moveTo>
                    <a:pt x="13833" y="13882"/>
                  </a:moveTo>
                  <a:lnTo>
                    <a:pt x="13263" y="14282"/>
                  </a:lnTo>
                  <a:lnTo>
                    <a:pt x="13554" y="14282"/>
                  </a:lnTo>
                  <a:lnTo>
                    <a:pt x="13833" y="13882"/>
                  </a:lnTo>
                  <a:close/>
                </a:path>
                <a:path w="411479" h="281939">
                  <a:moveTo>
                    <a:pt x="396926" y="13310"/>
                  </a:moveTo>
                  <a:lnTo>
                    <a:pt x="397325" y="13882"/>
                  </a:lnTo>
                  <a:lnTo>
                    <a:pt x="397895" y="14282"/>
                  </a:lnTo>
                  <a:lnTo>
                    <a:pt x="396926" y="13310"/>
                  </a:lnTo>
                  <a:close/>
                </a:path>
                <a:path w="411479" h="281939">
                  <a:moveTo>
                    <a:pt x="406579" y="13310"/>
                  </a:moveTo>
                  <a:lnTo>
                    <a:pt x="396926" y="13310"/>
                  </a:lnTo>
                  <a:lnTo>
                    <a:pt x="397895" y="14282"/>
                  </a:lnTo>
                  <a:lnTo>
                    <a:pt x="407258" y="14282"/>
                  </a:lnTo>
                  <a:lnTo>
                    <a:pt x="406579" y="13310"/>
                  </a:lnTo>
                  <a:close/>
                </a:path>
                <a:path w="411479" h="281939">
                  <a:moveTo>
                    <a:pt x="14647" y="13310"/>
                  </a:moveTo>
                  <a:lnTo>
                    <a:pt x="14232" y="13310"/>
                  </a:lnTo>
                  <a:lnTo>
                    <a:pt x="13833" y="13882"/>
                  </a:lnTo>
                  <a:lnTo>
                    <a:pt x="14647" y="13310"/>
                  </a:lnTo>
                  <a:close/>
                </a:path>
                <a:path w="411479" h="281939">
                  <a:moveTo>
                    <a:pt x="391160" y="9551"/>
                  </a:moveTo>
                  <a:lnTo>
                    <a:pt x="397325" y="13882"/>
                  </a:lnTo>
                  <a:lnTo>
                    <a:pt x="396926" y="13310"/>
                  </a:lnTo>
                  <a:lnTo>
                    <a:pt x="406579" y="13310"/>
                  </a:lnTo>
                  <a:lnTo>
                    <a:pt x="404069" y="9715"/>
                  </a:lnTo>
                  <a:lnTo>
                    <a:pt x="391975" y="9715"/>
                  </a:lnTo>
                  <a:lnTo>
                    <a:pt x="391160" y="9551"/>
                  </a:lnTo>
                  <a:close/>
                </a:path>
                <a:path w="411479" h="281939">
                  <a:moveTo>
                    <a:pt x="20676" y="9075"/>
                  </a:moveTo>
                  <a:lnTo>
                    <a:pt x="19184" y="9715"/>
                  </a:lnTo>
                  <a:lnTo>
                    <a:pt x="19998" y="9551"/>
                  </a:lnTo>
                  <a:lnTo>
                    <a:pt x="20676" y="9075"/>
                  </a:lnTo>
                  <a:close/>
                </a:path>
                <a:path w="411479" h="281939">
                  <a:moveTo>
                    <a:pt x="19998" y="9551"/>
                  </a:moveTo>
                  <a:lnTo>
                    <a:pt x="19184" y="9715"/>
                  </a:lnTo>
                  <a:lnTo>
                    <a:pt x="19765" y="9715"/>
                  </a:lnTo>
                  <a:lnTo>
                    <a:pt x="19998" y="9551"/>
                  </a:lnTo>
                  <a:close/>
                </a:path>
                <a:path w="411479" h="281939">
                  <a:moveTo>
                    <a:pt x="390482" y="9075"/>
                  </a:moveTo>
                  <a:lnTo>
                    <a:pt x="391160" y="9551"/>
                  </a:lnTo>
                  <a:lnTo>
                    <a:pt x="391975" y="9715"/>
                  </a:lnTo>
                  <a:lnTo>
                    <a:pt x="390482" y="9075"/>
                  </a:lnTo>
                  <a:close/>
                </a:path>
                <a:path w="411479" h="281939">
                  <a:moveTo>
                    <a:pt x="403623" y="9075"/>
                  </a:moveTo>
                  <a:lnTo>
                    <a:pt x="390482" y="9075"/>
                  </a:lnTo>
                  <a:lnTo>
                    <a:pt x="391975" y="9715"/>
                  </a:lnTo>
                  <a:lnTo>
                    <a:pt x="404069" y="9715"/>
                  </a:lnTo>
                  <a:lnTo>
                    <a:pt x="403623" y="9075"/>
                  </a:lnTo>
                  <a:close/>
                </a:path>
                <a:path w="411479" h="281939">
                  <a:moveTo>
                    <a:pt x="22371" y="9075"/>
                  </a:moveTo>
                  <a:lnTo>
                    <a:pt x="20676" y="9075"/>
                  </a:lnTo>
                  <a:lnTo>
                    <a:pt x="19998" y="9551"/>
                  </a:lnTo>
                  <a:lnTo>
                    <a:pt x="22371" y="9075"/>
                  </a:lnTo>
                  <a:close/>
                </a:path>
                <a:path w="411479" h="281939">
                  <a:moveTo>
                    <a:pt x="402647" y="7934"/>
                  </a:moveTo>
                  <a:lnTo>
                    <a:pt x="383104" y="7934"/>
                  </a:lnTo>
                  <a:lnTo>
                    <a:pt x="391160" y="9551"/>
                  </a:lnTo>
                  <a:lnTo>
                    <a:pt x="390482" y="9075"/>
                  </a:lnTo>
                  <a:lnTo>
                    <a:pt x="403623" y="9075"/>
                  </a:lnTo>
                  <a:lnTo>
                    <a:pt x="403000" y="8182"/>
                  </a:lnTo>
                  <a:lnTo>
                    <a:pt x="402647" y="7934"/>
                  </a:lnTo>
                  <a:close/>
                </a:path>
              </a:pathLst>
            </a:custGeom>
            <a:solidFill>
              <a:srgbClr val="383838"/>
            </a:solidFill>
          </p:spPr>
          <p:txBody>
            <a:bodyPr wrap="square" lIns="0" tIns="0" rIns="0" bIns="0" rtlCol="0"/>
            <a:lstStyle/>
            <a:p>
              <a:endParaRPr sz="2400"/>
            </a:p>
          </p:txBody>
        </p:sp>
        <p:sp>
          <p:nvSpPr>
            <p:cNvPr id="16" name="object 16"/>
            <p:cNvSpPr/>
            <p:nvPr/>
          </p:nvSpPr>
          <p:spPr>
            <a:xfrm>
              <a:off x="3082340" y="2558968"/>
              <a:ext cx="546100" cy="36195"/>
            </a:xfrm>
            <a:custGeom>
              <a:avLst/>
              <a:gdLst/>
              <a:ahLst/>
              <a:cxnLst/>
              <a:rect l="l" t="t" r="r" b="b"/>
              <a:pathLst>
                <a:path w="546100" h="36194">
                  <a:moveTo>
                    <a:pt x="545585" y="0"/>
                  </a:moveTo>
                  <a:lnTo>
                    <a:pt x="308367" y="0"/>
                  </a:lnTo>
                  <a:lnTo>
                    <a:pt x="308367" y="9521"/>
                  </a:lnTo>
                  <a:lnTo>
                    <a:pt x="305995" y="11902"/>
                  </a:lnTo>
                  <a:lnTo>
                    <a:pt x="239577" y="11902"/>
                  </a:lnTo>
                  <a:lnTo>
                    <a:pt x="237205" y="9521"/>
                  </a:lnTo>
                  <a:lnTo>
                    <a:pt x="237205" y="0"/>
                  </a:lnTo>
                  <a:lnTo>
                    <a:pt x="0" y="0"/>
                  </a:lnTo>
                  <a:lnTo>
                    <a:pt x="23720" y="35706"/>
                  </a:lnTo>
                  <a:lnTo>
                    <a:pt x="521864" y="35706"/>
                  </a:lnTo>
                  <a:lnTo>
                    <a:pt x="531074" y="33827"/>
                  </a:lnTo>
                  <a:lnTo>
                    <a:pt x="538617" y="28713"/>
                  </a:lnTo>
                  <a:lnTo>
                    <a:pt x="543713" y="21144"/>
                  </a:lnTo>
                  <a:lnTo>
                    <a:pt x="545585" y="11902"/>
                  </a:lnTo>
                  <a:lnTo>
                    <a:pt x="545585" y="0"/>
                  </a:lnTo>
                  <a:close/>
                </a:path>
              </a:pathLst>
            </a:custGeom>
            <a:solidFill>
              <a:srgbClr val="FFFFFF"/>
            </a:solidFill>
          </p:spPr>
          <p:txBody>
            <a:bodyPr wrap="square" lIns="0" tIns="0" rIns="0" bIns="0" rtlCol="0"/>
            <a:lstStyle/>
            <a:p>
              <a:endParaRPr sz="2400"/>
            </a:p>
          </p:txBody>
        </p:sp>
        <p:sp>
          <p:nvSpPr>
            <p:cNvPr id="17" name="object 17"/>
            <p:cNvSpPr/>
            <p:nvPr/>
          </p:nvSpPr>
          <p:spPr>
            <a:xfrm>
              <a:off x="3078642" y="2555239"/>
              <a:ext cx="553720" cy="43815"/>
            </a:xfrm>
            <a:custGeom>
              <a:avLst/>
              <a:gdLst/>
              <a:ahLst/>
              <a:cxnLst/>
              <a:rect l="l" t="t" r="r" b="b"/>
              <a:pathLst>
                <a:path w="553720" h="43814">
                  <a:moveTo>
                    <a:pt x="245114" y="0"/>
                  </a:moveTo>
                  <a:lnTo>
                    <a:pt x="0" y="0"/>
                  </a:lnTo>
                  <a:lnTo>
                    <a:pt x="0" y="16261"/>
                  </a:lnTo>
                  <a:lnTo>
                    <a:pt x="2092" y="26759"/>
                  </a:lnTo>
                  <a:lnTo>
                    <a:pt x="8156" y="35453"/>
                  </a:lnTo>
                  <a:lnTo>
                    <a:pt x="16819" y="41538"/>
                  </a:lnTo>
                  <a:lnTo>
                    <a:pt x="27282" y="43640"/>
                  </a:lnTo>
                  <a:lnTo>
                    <a:pt x="526204" y="43640"/>
                  </a:lnTo>
                  <a:lnTo>
                    <a:pt x="536681" y="41538"/>
                  </a:lnTo>
                  <a:lnTo>
                    <a:pt x="544864" y="35780"/>
                  </a:lnTo>
                  <a:lnTo>
                    <a:pt x="28449" y="35780"/>
                  </a:lnTo>
                  <a:lnTo>
                    <a:pt x="22371" y="34560"/>
                  </a:lnTo>
                  <a:lnTo>
                    <a:pt x="20675" y="34560"/>
                  </a:lnTo>
                  <a:lnTo>
                    <a:pt x="19183" y="33920"/>
                  </a:lnTo>
                  <a:lnTo>
                    <a:pt x="19764" y="33920"/>
                  </a:lnTo>
                  <a:lnTo>
                    <a:pt x="14653" y="30330"/>
                  </a:lnTo>
                  <a:lnTo>
                    <a:pt x="14234" y="30330"/>
                  </a:lnTo>
                  <a:lnTo>
                    <a:pt x="13262" y="29353"/>
                  </a:lnTo>
                  <a:lnTo>
                    <a:pt x="13552" y="29353"/>
                  </a:lnTo>
                  <a:lnTo>
                    <a:pt x="10090" y="24389"/>
                  </a:lnTo>
                  <a:lnTo>
                    <a:pt x="9683" y="24389"/>
                  </a:lnTo>
                  <a:lnTo>
                    <a:pt x="9045" y="22891"/>
                  </a:lnTo>
                  <a:lnTo>
                    <a:pt x="9385" y="22891"/>
                  </a:lnTo>
                  <a:lnTo>
                    <a:pt x="8063" y="16261"/>
                  </a:lnTo>
                  <a:lnTo>
                    <a:pt x="7985" y="15869"/>
                  </a:lnTo>
                  <a:lnTo>
                    <a:pt x="7906" y="7934"/>
                  </a:lnTo>
                  <a:lnTo>
                    <a:pt x="3953" y="7934"/>
                  </a:lnTo>
                  <a:lnTo>
                    <a:pt x="7906" y="3967"/>
                  </a:lnTo>
                  <a:lnTo>
                    <a:pt x="245114" y="3967"/>
                  </a:lnTo>
                  <a:lnTo>
                    <a:pt x="245114" y="0"/>
                  </a:lnTo>
                  <a:close/>
                </a:path>
                <a:path w="553720" h="43814">
                  <a:moveTo>
                    <a:pt x="533504" y="34084"/>
                  </a:moveTo>
                  <a:lnTo>
                    <a:pt x="525018" y="35780"/>
                  </a:lnTo>
                  <a:lnTo>
                    <a:pt x="544864" y="35780"/>
                  </a:lnTo>
                  <a:lnTo>
                    <a:pt x="545329" y="35453"/>
                  </a:lnTo>
                  <a:lnTo>
                    <a:pt x="545953" y="34560"/>
                  </a:lnTo>
                  <a:lnTo>
                    <a:pt x="532826" y="34560"/>
                  </a:lnTo>
                  <a:lnTo>
                    <a:pt x="533504" y="34084"/>
                  </a:lnTo>
                  <a:close/>
                </a:path>
                <a:path w="553720" h="43814">
                  <a:moveTo>
                    <a:pt x="19183" y="33920"/>
                  </a:moveTo>
                  <a:lnTo>
                    <a:pt x="20675" y="34560"/>
                  </a:lnTo>
                  <a:lnTo>
                    <a:pt x="19997" y="34084"/>
                  </a:lnTo>
                  <a:lnTo>
                    <a:pt x="19183" y="33920"/>
                  </a:lnTo>
                  <a:close/>
                </a:path>
                <a:path w="553720" h="43814">
                  <a:moveTo>
                    <a:pt x="19997" y="34084"/>
                  </a:moveTo>
                  <a:lnTo>
                    <a:pt x="20675" y="34560"/>
                  </a:lnTo>
                  <a:lnTo>
                    <a:pt x="22371" y="34560"/>
                  </a:lnTo>
                  <a:lnTo>
                    <a:pt x="19997" y="34084"/>
                  </a:lnTo>
                  <a:close/>
                </a:path>
                <a:path w="553720" h="43814">
                  <a:moveTo>
                    <a:pt x="534309" y="33920"/>
                  </a:moveTo>
                  <a:lnTo>
                    <a:pt x="533504" y="34084"/>
                  </a:lnTo>
                  <a:lnTo>
                    <a:pt x="532826" y="34560"/>
                  </a:lnTo>
                  <a:lnTo>
                    <a:pt x="534309" y="33920"/>
                  </a:lnTo>
                  <a:close/>
                </a:path>
                <a:path w="553720" h="43814">
                  <a:moveTo>
                    <a:pt x="546400" y="33920"/>
                  </a:moveTo>
                  <a:lnTo>
                    <a:pt x="534309" y="33920"/>
                  </a:lnTo>
                  <a:lnTo>
                    <a:pt x="532826" y="34560"/>
                  </a:lnTo>
                  <a:lnTo>
                    <a:pt x="545953" y="34560"/>
                  </a:lnTo>
                  <a:lnTo>
                    <a:pt x="546286" y="34084"/>
                  </a:lnTo>
                  <a:lnTo>
                    <a:pt x="546400" y="33920"/>
                  </a:lnTo>
                  <a:close/>
                </a:path>
                <a:path w="553720" h="43814">
                  <a:moveTo>
                    <a:pt x="19764" y="33920"/>
                  </a:moveTo>
                  <a:lnTo>
                    <a:pt x="19183" y="33920"/>
                  </a:lnTo>
                  <a:lnTo>
                    <a:pt x="19997" y="34084"/>
                  </a:lnTo>
                  <a:lnTo>
                    <a:pt x="19764" y="33920"/>
                  </a:lnTo>
                  <a:close/>
                </a:path>
                <a:path w="553720" h="43814">
                  <a:moveTo>
                    <a:pt x="539637" y="29776"/>
                  </a:moveTo>
                  <a:lnTo>
                    <a:pt x="533504" y="34084"/>
                  </a:lnTo>
                  <a:lnTo>
                    <a:pt x="534309" y="33920"/>
                  </a:lnTo>
                  <a:lnTo>
                    <a:pt x="546400" y="33920"/>
                  </a:lnTo>
                  <a:lnTo>
                    <a:pt x="548911" y="30330"/>
                  </a:lnTo>
                  <a:lnTo>
                    <a:pt x="539251" y="30330"/>
                  </a:lnTo>
                  <a:lnTo>
                    <a:pt x="539637" y="29776"/>
                  </a:lnTo>
                  <a:close/>
                </a:path>
                <a:path w="553720" h="43814">
                  <a:moveTo>
                    <a:pt x="13262" y="29353"/>
                  </a:moveTo>
                  <a:lnTo>
                    <a:pt x="14234" y="30330"/>
                  </a:lnTo>
                  <a:lnTo>
                    <a:pt x="13847" y="29776"/>
                  </a:lnTo>
                  <a:lnTo>
                    <a:pt x="13262" y="29353"/>
                  </a:lnTo>
                  <a:close/>
                </a:path>
                <a:path w="553720" h="43814">
                  <a:moveTo>
                    <a:pt x="13864" y="29776"/>
                  </a:moveTo>
                  <a:lnTo>
                    <a:pt x="14234" y="30330"/>
                  </a:lnTo>
                  <a:lnTo>
                    <a:pt x="14653" y="30330"/>
                  </a:lnTo>
                  <a:lnTo>
                    <a:pt x="13864" y="29776"/>
                  </a:lnTo>
                  <a:close/>
                </a:path>
                <a:path w="553720" h="43814">
                  <a:moveTo>
                    <a:pt x="540239" y="29353"/>
                  </a:moveTo>
                  <a:lnTo>
                    <a:pt x="539637" y="29776"/>
                  </a:lnTo>
                  <a:lnTo>
                    <a:pt x="539251" y="30330"/>
                  </a:lnTo>
                  <a:lnTo>
                    <a:pt x="540239" y="29353"/>
                  </a:lnTo>
                  <a:close/>
                </a:path>
                <a:path w="553720" h="43814">
                  <a:moveTo>
                    <a:pt x="549594" y="29353"/>
                  </a:moveTo>
                  <a:lnTo>
                    <a:pt x="540239" y="29353"/>
                  </a:lnTo>
                  <a:lnTo>
                    <a:pt x="539251" y="30330"/>
                  </a:lnTo>
                  <a:lnTo>
                    <a:pt x="548911" y="30330"/>
                  </a:lnTo>
                  <a:lnTo>
                    <a:pt x="549594" y="29353"/>
                  </a:lnTo>
                  <a:close/>
                </a:path>
                <a:path w="553720" h="43814">
                  <a:moveTo>
                    <a:pt x="13552" y="29353"/>
                  </a:moveTo>
                  <a:lnTo>
                    <a:pt x="13262" y="29353"/>
                  </a:lnTo>
                  <a:lnTo>
                    <a:pt x="13864" y="29776"/>
                  </a:lnTo>
                  <a:lnTo>
                    <a:pt x="13552" y="29353"/>
                  </a:lnTo>
                  <a:close/>
                </a:path>
                <a:path w="553720" h="43814">
                  <a:moveTo>
                    <a:pt x="543961" y="23577"/>
                  </a:moveTo>
                  <a:lnTo>
                    <a:pt x="539637" y="29776"/>
                  </a:lnTo>
                  <a:lnTo>
                    <a:pt x="540239" y="29353"/>
                  </a:lnTo>
                  <a:lnTo>
                    <a:pt x="549594" y="29353"/>
                  </a:lnTo>
                  <a:lnTo>
                    <a:pt x="551407" y="26759"/>
                  </a:lnTo>
                  <a:lnTo>
                    <a:pt x="551876" y="24389"/>
                  </a:lnTo>
                  <a:lnTo>
                    <a:pt x="543797" y="24389"/>
                  </a:lnTo>
                  <a:lnTo>
                    <a:pt x="543961" y="23577"/>
                  </a:lnTo>
                  <a:close/>
                </a:path>
                <a:path w="553720" h="43814">
                  <a:moveTo>
                    <a:pt x="9045" y="22891"/>
                  </a:moveTo>
                  <a:lnTo>
                    <a:pt x="9683" y="24389"/>
                  </a:lnTo>
                  <a:lnTo>
                    <a:pt x="9521" y="23577"/>
                  </a:lnTo>
                  <a:lnTo>
                    <a:pt x="9045" y="22891"/>
                  </a:lnTo>
                  <a:close/>
                </a:path>
                <a:path w="553720" h="43814">
                  <a:moveTo>
                    <a:pt x="9524" y="23577"/>
                  </a:moveTo>
                  <a:lnTo>
                    <a:pt x="9683" y="24389"/>
                  </a:lnTo>
                  <a:lnTo>
                    <a:pt x="10090" y="24389"/>
                  </a:lnTo>
                  <a:lnTo>
                    <a:pt x="9524" y="23577"/>
                  </a:lnTo>
                  <a:close/>
                </a:path>
                <a:path w="553720" h="43814">
                  <a:moveTo>
                    <a:pt x="544440" y="22891"/>
                  </a:moveTo>
                  <a:lnTo>
                    <a:pt x="543961" y="23577"/>
                  </a:lnTo>
                  <a:lnTo>
                    <a:pt x="543797" y="24389"/>
                  </a:lnTo>
                  <a:lnTo>
                    <a:pt x="544440" y="22891"/>
                  </a:lnTo>
                  <a:close/>
                </a:path>
                <a:path w="553720" h="43814">
                  <a:moveTo>
                    <a:pt x="552172" y="22891"/>
                  </a:moveTo>
                  <a:lnTo>
                    <a:pt x="544440" y="22891"/>
                  </a:lnTo>
                  <a:lnTo>
                    <a:pt x="543797" y="24389"/>
                  </a:lnTo>
                  <a:lnTo>
                    <a:pt x="551876" y="24389"/>
                  </a:lnTo>
                  <a:lnTo>
                    <a:pt x="552172" y="22891"/>
                  </a:lnTo>
                  <a:close/>
                </a:path>
                <a:path w="553720" h="43814">
                  <a:moveTo>
                    <a:pt x="9385" y="22891"/>
                  </a:moveTo>
                  <a:lnTo>
                    <a:pt x="9045" y="22891"/>
                  </a:lnTo>
                  <a:lnTo>
                    <a:pt x="9524" y="23577"/>
                  </a:lnTo>
                  <a:lnTo>
                    <a:pt x="9385" y="22891"/>
                  </a:lnTo>
                  <a:close/>
                </a:path>
                <a:path w="553720" h="43814">
                  <a:moveTo>
                    <a:pt x="545576" y="3967"/>
                  </a:moveTo>
                  <a:lnTo>
                    <a:pt x="545518" y="15869"/>
                  </a:lnTo>
                  <a:lnTo>
                    <a:pt x="543961" y="23577"/>
                  </a:lnTo>
                  <a:lnTo>
                    <a:pt x="544440" y="22891"/>
                  </a:lnTo>
                  <a:lnTo>
                    <a:pt x="552172" y="22891"/>
                  </a:lnTo>
                  <a:lnTo>
                    <a:pt x="553483" y="16261"/>
                  </a:lnTo>
                  <a:lnTo>
                    <a:pt x="553483" y="7934"/>
                  </a:lnTo>
                  <a:lnTo>
                    <a:pt x="549530" y="7934"/>
                  </a:lnTo>
                  <a:lnTo>
                    <a:pt x="545576" y="3967"/>
                  </a:lnTo>
                  <a:close/>
                </a:path>
                <a:path w="553720" h="43814">
                  <a:moveTo>
                    <a:pt x="237207" y="3967"/>
                  </a:moveTo>
                  <a:lnTo>
                    <a:pt x="237264" y="10776"/>
                  </a:lnTo>
                  <a:lnTo>
                    <a:pt x="239531" y="17004"/>
                  </a:lnTo>
                  <a:lnTo>
                    <a:pt x="246300" y="19836"/>
                  </a:lnTo>
                  <a:lnTo>
                    <a:pt x="307247" y="19836"/>
                  </a:lnTo>
                  <a:lnTo>
                    <a:pt x="313454" y="17004"/>
                  </a:lnTo>
                  <a:lnTo>
                    <a:pt x="315427" y="12650"/>
                  </a:lnTo>
                  <a:lnTo>
                    <a:pt x="246359" y="12650"/>
                  </a:lnTo>
                  <a:lnTo>
                    <a:pt x="244217" y="10399"/>
                  </a:lnTo>
                  <a:lnTo>
                    <a:pt x="245543" y="10399"/>
                  </a:lnTo>
                  <a:lnTo>
                    <a:pt x="245369" y="9918"/>
                  </a:lnTo>
                  <a:lnTo>
                    <a:pt x="245114" y="9918"/>
                  </a:lnTo>
                  <a:lnTo>
                    <a:pt x="245114" y="9214"/>
                  </a:lnTo>
                  <a:lnTo>
                    <a:pt x="244964" y="9062"/>
                  </a:lnTo>
                  <a:lnTo>
                    <a:pt x="244876" y="8559"/>
                  </a:lnTo>
                  <a:lnTo>
                    <a:pt x="245114" y="8559"/>
                  </a:lnTo>
                  <a:lnTo>
                    <a:pt x="245114" y="7934"/>
                  </a:lnTo>
                  <a:lnTo>
                    <a:pt x="241160" y="7934"/>
                  </a:lnTo>
                  <a:lnTo>
                    <a:pt x="237207" y="3967"/>
                  </a:lnTo>
                  <a:close/>
                </a:path>
                <a:path w="553720" h="43814">
                  <a:moveTo>
                    <a:pt x="244295" y="10399"/>
                  </a:moveTo>
                  <a:lnTo>
                    <a:pt x="244424" y="10617"/>
                  </a:lnTo>
                  <a:lnTo>
                    <a:pt x="246359" y="12650"/>
                  </a:lnTo>
                  <a:lnTo>
                    <a:pt x="245766" y="11014"/>
                  </a:lnTo>
                  <a:lnTo>
                    <a:pt x="244295" y="10399"/>
                  </a:lnTo>
                  <a:close/>
                </a:path>
                <a:path w="553720" h="43814">
                  <a:moveTo>
                    <a:pt x="245767" y="11014"/>
                  </a:moveTo>
                  <a:lnTo>
                    <a:pt x="246257" y="12368"/>
                  </a:lnTo>
                  <a:lnTo>
                    <a:pt x="246359" y="12650"/>
                  </a:lnTo>
                  <a:lnTo>
                    <a:pt x="315427" y="12650"/>
                  </a:lnTo>
                  <a:lnTo>
                    <a:pt x="315555" y="12368"/>
                  </a:lnTo>
                  <a:lnTo>
                    <a:pt x="249436" y="12368"/>
                  </a:lnTo>
                  <a:lnTo>
                    <a:pt x="247090" y="11902"/>
                  </a:lnTo>
                  <a:lnTo>
                    <a:pt x="247889" y="11902"/>
                  </a:lnTo>
                  <a:lnTo>
                    <a:pt x="245767" y="11014"/>
                  </a:lnTo>
                  <a:close/>
                </a:path>
                <a:path w="553720" h="43814">
                  <a:moveTo>
                    <a:pt x="247889" y="11902"/>
                  </a:moveTo>
                  <a:lnTo>
                    <a:pt x="247090" y="11902"/>
                  </a:lnTo>
                  <a:lnTo>
                    <a:pt x="249436" y="12368"/>
                  </a:lnTo>
                  <a:lnTo>
                    <a:pt x="249004" y="12368"/>
                  </a:lnTo>
                  <a:lnTo>
                    <a:pt x="247889" y="11902"/>
                  </a:lnTo>
                  <a:close/>
                </a:path>
                <a:path w="553720" h="43814">
                  <a:moveTo>
                    <a:pt x="305539" y="11902"/>
                  </a:moveTo>
                  <a:lnTo>
                    <a:pt x="247889" y="11902"/>
                  </a:lnTo>
                  <a:lnTo>
                    <a:pt x="249004" y="12368"/>
                  </a:lnTo>
                  <a:lnTo>
                    <a:pt x="304517" y="12368"/>
                  </a:lnTo>
                  <a:lnTo>
                    <a:pt x="305539" y="11902"/>
                  </a:lnTo>
                  <a:close/>
                </a:path>
                <a:path w="553720" h="43814">
                  <a:moveTo>
                    <a:pt x="307485" y="11014"/>
                  </a:moveTo>
                  <a:lnTo>
                    <a:pt x="304517" y="12368"/>
                  </a:lnTo>
                  <a:lnTo>
                    <a:pt x="304257" y="12368"/>
                  </a:lnTo>
                  <a:lnTo>
                    <a:pt x="306392" y="11902"/>
                  </a:lnTo>
                  <a:lnTo>
                    <a:pt x="307083" y="11902"/>
                  </a:lnTo>
                  <a:lnTo>
                    <a:pt x="307485" y="11014"/>
                  </a:lnTo>
                  <a:close/>
                </a:path>
                <a:path w="553720" h="43814">
                  <a:moveTo>
                    <a:pt x="307083" y="11902"/>
                  </a:moveTo>
                  <a:lnTo>
                    <a:pt x="306392" y="11902"/>
                  </a:lnTo>
                  <a:lnTo>
                    <a:pt x="304257" y="12368"/>
                  </a:lnTo>
                  <a:lnTo>
                    <a:pt x="306872" y="12368"/>
                  </a:lnTo>
                  <a:lnTo>
                    <a:pt x="307083" y="11902"/>
                  </a:lnTo>
                  <a:close/>
                </a:path>
                <a:path w="553720" h="43814">
                  <a:moveTo>
                    <a:pt x="308833" y="10399"/>
                  </a:moveTo>
                  <a:lnTo>
                    <a:pt x="307485" y="11014"/>
                  </a:lnTo>
                  <a:lnTo>
                    <a:pt x="306872" y="12368"/>
                  </a:lnTo>
                  <a:lnTo>
                    <a:pt x="308833" y="10399"/>
                  </a:lnTo>
                  <a:close/>
                </a:path>
                <a:path w="553720" h="43814">
                  <a:moveTo>
                    <a:pt x="316276" y="10399"/>
                  </a:moveTo>
                  <a:lnTo>
                    <a:pt x="308833" y="10399"/>
                  </a:lnTo>
                  <a:lnTo>
                    <a:pt x="306872" y="12368"/>
                  </a:lnTo>
                  <a:lnTo>
                    <a:pt x="315555" y="12368"/>
                  </a:lnTo>
                  <a:lnTo>
                    <a:pt x="316168" y="11014"/>
                  </a:lnTo>
                  <a:lnTo>
                    <a:pt x="316276" y="10399"/>
                  </a:lnTo>
                  <a:close/>
                </a:path>
                <a:path w="553720" h="43814">
                  <a:moveTo>
                    <a:pt x="245543" y="10399"/>
                  </a:moveTo>
                  <a:lnTo>
                    <a:pt x="244295" y="10399"/>
                  </a:lnTo>
                  <a:lnTo>
                    <a:pt x="245767" y="11014"/>
                  </a:lnTo>
                  <a:lnTo>
                    <a:pt x="245680" y="10776"/>
                  </a:lnTo>
                  <a:lnTo>
                    <a:pt x="245622" y="10617"/>
                  </a:lnTo>
                  <a:lnTo>
                    <a:pt x="245543" y="10399"/>
                  </a:lnTo>
                  <a:close/>
                </a:path>
                <a:path w="553720" h="43814">
                  <a:moveTo>
                    <a:pt x="316276" y="8276"/>
                  </a:moveTo>
                  <a:lnTo>
                    <a:pt x="308725" y="8276"/>
                  </a:lnTo>
                  <a:lnTo>
                    <a:pt x="308369" y="9918"/>
                  </a:lnTo>
                  <a:lnTo>
                    <a:pt x="307981" y="9918"/>
                  </a:lnTo>
                  <a:lnTo>
                    <a:pt x="307763" y="10399"/>
                  </a:lnTo>
                  <a:lnTo>
                    <a:pt x="307664" y="10617"/>
                  </a:lnTo>
                  <a:lnTo>
                    <a:pt x="307593" y="10776"/>
                  </a:lnTo>
                  <a:lnTo>
                    <a:pt x="307485" y="11014"/>
                  </a:lnTo>
                  <a:lnTo>
                    <a:pt x="308833" y="10399"/>
                  </a:lnTo>
                  <a:lnTo>
                    <a:pt x="316276" y="10399"/>
                  </a:lnTo>
                  <a:lnTo>
                    <a:pt x="316276" y="9918"/>
                  </a:lnTo>
                  <a:lnTo>
                    <a:pt x="308369" y="9918"/>
                  </a:lnTo>
                  <a:lnTo>
                    <a:pt x="308369" y="9214"/>
                  </a:lnTo>
                  <a:lnTo>
                    <a:pt x="316276" y="9214"/>
                  </a:lnTo>
                  <a:lnTo>
                    <a:pt x="316276" y="8276"/>
                  </a:lnTo>
                  <a:close/>
                </a:path>
                <a:path w="553720" h="43814">
                  <a:moveTo>
                    <a:pt x="245114" y="9214"/>
                  </a:moveTo>
                  <a:lnTo>
                    <a:pt x="245114" y="9918"/>
                  </a:lnTo>
                  <a:lnTo>
                    <a:pt x="245369" y="9918"/>
                  </a:lnTo>
                  <a:lnTo>
                    <a:pt x="245114" y="9214"/>
                  </a:lnTo>
                  <a:close/>
                </a:path>
                <a:path w="553720" h="43814">
                  <a:moveTo>
                    <a:pt x="308663" y="8559"/>
                  </a:moveTo>
                  <a:lnTo>
                    <a:pt x="308369" y="9062"/>
                  </a:lnTo>
                  <a:lnTo>
                    <a:pt x="308369" y="9918"/>
                  </a:lnTo>
                  <a:lnTo>
                    <a:pt x="308522" y="9214"/>
                  </a:lnTo>
                  <a:lnTo>
                    <a:pt x="308554" y="9062"/>
                  </a:lnTo>
                  <a:lnTo>
                    <a:pt x="308663" y="8559"/>
                  </a:lnTo>
                  <a:close/>
                </a:path>
                <a:path w="553720" h="43814">
                  <a:moveTo>
                    <a:pt x="244876" y="8559"/>
                  </a:moveTo>
                  <a:lnTo>
                    <a:pt x="244991" y="9214"/>
                  </a:lnTo>
                  <a:lnTo>
                    <a:pt x="245114" y="9062"/>
                  </a:lnTo>
                  <a:lnTo>
                    <a:pt x="244876" y="8559"/>
                  </a:lnTo>
                  <a:close/>
                </a:path>
                <a:path w="553720" h="43814">
                  <a:moveTo>
                    <a:pt x="245114" y="8559"/>
                  </a:moveTo>
                  <a:lnTo>
                    <a:pt x="244876" y="8559"/>
                  </a:lnTo>
                  <a:lnTo>
                    <a:pt x="245059" y="9062"/>
                  </a:lnTo>
                  <a:lnTo>
                    <a:pt x="245114" y="8559"/>
                  </a:lnTo>
                  <a:close/>
                </a:path>
                <a:path w="553720" h="43814">
                  <a:moveTo>
                    <a:pt x="553483" y="0"/>
                  </a:moveTo>
                  <a:lnTo>
                    <a:pt x="308369" y="0"/>
                  </a:lnTo>
                  <a:lnTo>
                    <a:pt x="308369" y="9062"/>
                  </a:lnTo>
                  <a:lnTo>
                    <a:pt x="308725" y="8276"/>
                  </a:lnTo>
                  <a:lnTo>
                    <a:pt x="316276" y="8276"/>
                  </a:lnTo>
                  <a:lnTo>
                    <a:pt x="316276" y="7934"/>
                  </a:lnTo>
                  <a:lnTo>
                    <a:pt x="312322" y="7934"/>
                  </a:lnTo>
                  <a:lnTo>
                    <a:pt x="316276" y="3967"/>
                  </a:lnTo>
                  <a:lnTo>
                    <a:pt x="553483" y="3967"/>
                  </a:lnTo>
                  <a:lnTo>
                    <a:pt x="553483" y="0"/>
                  </a:lnTo>
                  <a:close/>
                </a:path>
                <a:path w="553720" h="43814">
                  <a:moveTo>
                    <a:pt x="7906" y="3967"/>
                  </a:moveTo>
                  <a:lnTo>
                    <a:pt x="3953" y="7934"/>
                  </a:lnTo>
                  <a:lnTo>
                    <a:pt x="7906" y="7934"/>
                  </a:lnTo>
                  <a:lnTo>
                    <a:pt x="7906" y="3967"/>
                  </a:lnTo>
                  <a:close/>
                </a:path>
                <a:path w="553720" h="43814">
                  <a:moveTo>
                    <a:pt x="237207" y="3967"/>
                  </a:moveTo>
                  <a:lnTo>
                    <a:pt x="7906" y="3967"/>
                  </a:lnTo>
                  <a:lnTo>
                    <a:pt x="7906" y="7934"/>
                  </a:lnTo>
                  <a:lnTo>
                    <a:pt x="237207" y="7934"/>
                  </a:lnTo>
                  <a:lnTo>
                    <a:pt x="237207" y="3967"/>
                  </a:lnTo>
                  <a:close/>
                </a:path>
                <a:path w="553720" h="43814">
                  <a:moveTo>
                    <a:pt x="245114" y="3967"/>
                  </a:moveTo>
                  <a:lnTo>
                    <a:pt x="237207" y="3967"/>
                  </a:lnTo>
                  <a:lnTo>
                    <a:pt x="241160" y="7934"/>
                  </a:lnTo>
                  <a:lnTo>
                    <a:pt x="245114" y="7934"/>
                  </a:lnTo>
                  <a:lnTo>
                    <a:pt x="245114" y="3967"/>
                  </a:lnTo>
                  <a:close/>
                </a:path>
                <a:path w="553720" h="43814">
                  <a:moveTo>
                    <a:pt x="316276" y="3967"/>
                  </a:moveTo>
                  <a:lnTo>
                    <a:pt x="312322" y="7934"/>
                  </a:lnTo>
                  <a:lnTo>
                    <a:pt x="316276" y="7934"/>
                  </a:lnTo>
                  <a:lnTo>
                    <a:pt x="316276" y="3967"/>
                  </a:lnTo>
                  <a:close/>
                </a:path>
                <a:path w="553720" h="43814">
                  <a:moveTo>
                    <a:pt x="545576" y="3967"/>
                  </a:moveTo>
                  <a:lnTo>
                    <a:pt x="316276" y="3967"/>
                  </a:lnTo>
                  <a:lnTo>
                    <a:pt x="316276" y="7934"/>
                  </a:lnTo>
                  <a:lnTo>
                    <a:pt x="545576" y="7934"/>
                  </a:lnTo>
                  <a:lnTo>
                    <a:pt x="545576" y="3967"/>
                  </a:lnTo>
                  <a:close/>
                </a:path>
                <a:path w="553720" h="43814">
                  <a:moveTo>
                    <a:pt x="553483" y="3967"/>
                  </a:moveTo>
                  <a:lnTo>
                    <a:pt x="545576" y="3967"/>
                  </a:lnTo>
                  <a:lnTo>
                    <a:pt x="549530" y="7934"/>
                  </a:lnTo>
                  <a:lnTo>
                    <a:pt x="553483" y="7934"/>
                  </a:lnTo>
                  <a:lnTo>
                    <a:pt x="553483" y="3967"/>
                  </a:lnTo>
                  <a:close/>
                </a:path>
              </a:pathLst>
            </a:custGeom>
            <a:solidFill>
              <a:srgbClr val="383838"/>
            </a:solidFill>
          </p:spPr>
          <p:txBody>
            <a:bodyPr wrap="square" lIns="0" tIns="0" rIns="0" bIns="0" rtlCol="0"/>
            <a:lstStyle/>
            <a:p>
              <a:endParaRPr sz="2400"/>
            </a:p>
          </p:txBody>
        </p:sp>
      </p:gr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1190751" y="1330926"/>
            <a:ext cx="4197096" cy="1616489"/>
            <a:chOff x="893063" y="998194"/>
            <a:chExt cx="3147822" cy="1212367"/>
          </a:xfrm>
        </p:grpSpPr>
        <p:pic>
          <p:nvPicPr>
            <p:cNvPr id="4" name="object 4"/>
            <p:cNvPicPr/>
            <p:nvPr/>
          </p:nvPicPr>
          <p:blipFill>
            <a:blip r:embed="rId2" cstate="print"/>
            <a:stretch>
              <a:fillRect/>
            </a:stretch>
          </p:blipFill>
          <p:spPr>
            <a:xfrm>
              <a:off x="893063" y="998194"/>
              <a:ext cx="3147822" cy="1212367"/>
            </a:xfrm>
            <a:prstGeom prst="rect">
              <a:avLst/>
            </a:prstGeom>
          </p:spPr>
        </p:pic>
        <p:sp>
          <p:nvSpPr>
            <p:cNvPr id="6" name="object 6"/>
            <p:cNvSpPr/>
            <p:nvPr/>
          </p:nvSpPr>
          <p:spPr>
            <a:xfrm>
              <a:off x="1219961" y="1152905"/>
              <a:ext cx="2514600" cy="581025"/>
            </a:xfrm>
            <a:custGeom>
              <a:avLst/>
              <a:gdLst/>
              <a:ahLst/>
              <a:cxnLst/>
              <a:rect l="l" t="t" r="r" b="b"/>
              <a:pathLst>
                <a:path w="2514600" h="581025">
                  <a:moveTo>
                    <a:pt x="0" y="290322"/>
                  </a:moveTo>
                  <a:lnTo>
                    <a:pt x="145160" y="0"/>
                  </a:lnTo>
                  <a:lnTo>
                    <a:pt x="2369439" y="0"/>
                  </a:lnTo>
                  <a:lnTo>
                    <a:pt x="2514600" y="290322"/>
                  </a:lnTo>
                  <a:lnTo>
                    <a:pt x="2369439" y="580644"/>
                  </a:lnTo>
                  <a:lnTo>
                    <a:pt x="145160" y="580644"/>
                  </a:lnTo>
                  <a:lnTo>
                    <a:pt x="0" y="290322"/>
                  </a:lnTo>
                  <a:close/>
                </a:path>
              </a:pathLst>
            </a:custGeom>
            <a:ln w="19812">
              <a:solidFill>
                <a:srgbClr val="00C3FF"/>
              </a:solidFill>
            </a:ln>
          </p:spPr>
          <p:txBody>
            <a:bodyPr wrap="square" lIns="0" tIns="0" rIns="0" bIns="0" rtlCol="0"/>
            <a:lstStyle/>
            <a:p>
              <a:endParaRPr sz="2400"/>
            </a:p>
          </p:txBody>
        </p:sp>
      </p:grpSp>
      <p:sp>
        <p:nvSpPr>
          <p:cNvPr id="7" name="object 7"/>
          <p:cNvSpPr txBox="1"/>
          <p:nvPr/>
        </p:nvSpPr>
        <p:spPr>
          <a:xfrm>
            <a:off x="2232829" y="1682666"/>
            <a:ext cx="2147147" cy="428387"/>
          </a:xfrm>
          <a:prstGeom prst="rect">
            <a:avLst/>
          </a:prstGeom>
        </p:spPr>
        <p:txBody>
          <a:bodyPr vert="horz" wrap="square" lIns="0" tIns="17780" rIns="0" bIns="0" rtlCol="0">
            <a:spAutoFit/>
          </a:bodyPr>
          <a:lstStyle/>
          <a:p>
            <a:pPr marL="16933">
              <a:spcBef>
                <a:spcPts val="140"/>
              </a:spcBef>
            </a:pPr>
            <a:r>
              <a:rPr sz="2667" b="1" dirty="0">
                <a:solidFill>
                  <a:srgbClr val="CCEAFF"/>
                </a:solidFill>
                <a:latin typeface="Calibri"/>
                <a:cs typeface="Calibri"/>
              </a:rPr>
              <a:t>Data</a:t>
            </a:r>
            <a:r>
              <a:rPr sz="2667" b="1" spc="-13" dirty="0">
                <a:solidFill>
                  <a:srgbClr val="CCEAFF"/>
                </a:solidFill>
                <a:latin typeface="Calibri"/>
                <a:cs typeface="Calibri"/>
              </a:rPr>
              <a:t> collection</a:t>
            </a:r>
            <a:endParaRPr sz="2667">
              <a:latin typeface="Calibri"/>
              <a:cs typeface="Calibri"/>
            </a:endParaRPr>
          </a:p>
        </p:txBody>
      </p:sp>
      <p:pic>
        <p:nvPicPr>
          <p:cNvPr id="8" name="object 8"/>
          <p:cNvPicPr/>
          <p:nvPr/>
        </p:nvPicPr>
        <p:blipFill>
          <a:blip r:embed="rId3" cstate="print"/>
          <a:stretch>
            <a:fillRect/>
          </a:stretch>
        </p:blipFill>
        <p:spPr>
          <a:xfrm>
            <a:off x="7525270" y="1246260"/>
            <a:ext cx="716804" cy="580813"/>
          </a:xfrm>
          <a:prstGeom prst="rect">
            <a:avLst/>
          </a:prstGeom>
        </p:spPr>
      </p:pic>
      <p:pic>
        <p:nvPicPr>
          <p:cNvPr id="9" name="object 9"/>
          <p:cNvPicPr/>
          <p:nvPr/>
        </p:nvPicPr>
        <p:blipFill>
          <a:blip r:embed="rId4" cstate="print"/>
          <a:stretch>
            <a:fillRect/>
          </a:stretch>
        </p:blipFill>
        <p:spPr>
          <a:xfrm>
            <a:off x="6327285" y="1312212"/>
            <a:ext cx="894160" cy="549741"/>
          </a:xfrm>
          <a:prstGeom prst="rect">
            <a:avLst/>
          </a:prstGeom>
        </p:spPr>
      </p:pic>
      <p:grpSp>
        <p:nvGrpSpPr>
          <p:cNvPr id="10" name="object 10"/>
          <p:cNvGrpSpPr/>
          <p:nvPr/>
        </p:nvGrpSpPr>
        <p:grpSpPr>
          <a:xfrm>
            <a:off x="5728424" y="2607499"/>
            <a:ext cx="738293" cy="453813"/>
            <a:chOff x="4296318" y="1955624"/>
            <a:chExt cx="553720" cy="340360"/>
          </a:xfrm>
        </p:grpSpPr>
        <p:sp>
          <p:nvSpPr>
            <p:cNvPr id="11" name="object 11"/>
            <p:cNvSpPr/>
            <p:nvPr/>
          </p:nvSpPr>
          <p:spPr>
            <a:xfrm>
              <a:off x="4371176" y="1959344"/>
              <a:ext cx="403860" cy="273050"/>
            </a:xfrm>
            <a:custGeom>
              <a:avLst/>
              <a:gdLst/>
              <a:ahLst/>
              <a:cxnLst/>
              <a:rect l="l" t="t" r="r" b="b"/>
              <a:pathLst>
                <a:path w="403860" h="273050">
                  <a:moveTo>
                    <a:pt x="379531" y="0"/>
                  </a:moveTo>
                  <a:lnTo>
                    <a:pt x="23720" y="0"/>
                  </a:lnTo>
                  <a:lnTo>
                    <a:pt x="14510" y="1873"/>
                  </a:lnTo>
                  <a:lnTo>
                    <a:pt x="6967" y="6973"/>
                  </a:lnTo>
                  <a:lnTo>
                    <a:pt x="1871" y="14522"/>
                  </a:lnTo>
                  <a:lnTo>
                    <a:pt x="0" y="23741"/>
                  </a:lnTo>
                  <a:lnTo>
                    <a:pt x="0" y="273022"/>
                  </a:lnTo>
                  <a:lnTo>
                    <a:pt x="403252" y="273022"/>
                  </a:lnTo>
                  <a:lnTo>
                    <a:pt x="403252" y="237410"/>
                  </a:lnTo>
                  <a:lnTo>
                    <a:pt x="35581" y="237410"/>
                  </a:lnTo>
                  <a:lnTo>
                    <a:pt x="35581" y="35611"/>
                  </a:lnTo>
                  <a:lnTo>
                    <a:pt x="403252" y="35611"/>
                  </a:lnTo>
                  <a:lnTo>
                    <a:pt x="403252" y="23741"/>
                  </a:lnTo>
                  <a:lnTo>
                    <a:pt x="401380" y="14522"/>
                  </a:lnTo>
                  <a:lnTo>
                    <a:pt x="396284" y="6973"/>
                  </a:lnTo>
                  <a:lnTo>
                    <a:pt x="388741" y="1873"/>
                  </a:lnTo>
                  <a:lnTo>
                    <a:pt x="379531" y="0"/>
                  </a:lnTo>
                  <a:close/>
                </a:path>
                <a:path w="403860" h="273050">
                  <a:moveTo>
                    <a:pt x="403252" y="35611"/>
                  </a:moveTo>
                  <a:lnTo>
                    <a:pt x="367671" y="35611"/>
                  </a:lnTo>
                  <a:lnTo>
                    <a:pt x="367671" y="237410"/>
                  </a:lnTo>
                  <a:lnTo>
                    <a:pt x="403252" y="237410"/>
                  </a:lnTo>
                  <a:lnTo>
                    <a:pt x="403252" y="35611"/>
                  </a:lnTo>
                  <a:close/>
                </a:path>
              </a:pathLst>
            </a:custGeom>
            <a:solidFill>
              <a:srgbClr val="FFFFFF"/>
            </a:solidFill>
          </p:spPr>
          <p:txBody>
            <a:bodyPr wrap="square" lIns="0" tIns="0" rIns="0" bIns="0" rtlCol="0"/>
            <a:lstStyle/>
            <a:p>
              <a:endParaRPr sz="2400"/>
            </a:p>
          </p:txBody>
        </p:sp>
        <p:sp>
          <p:nvSpPr>
            <p:cNvPr id="12" name="object 12"/>
            <p:cNvSpPr/>
            <p:nvPr/>
          </p:nvSpPr>
          <p:spPr>
            <a:xfrm>
              <a:off x="4367480" y="1955624"/>
              <a:ext cx="411480" cy="281305"/>
            </a:xfrm>
            <a:custGeom>
              <a:avLst/>
              <a:gdLst/>
              <a:ahLst/>
              <a:cxnLst/>
              <a:rect l="l" t="t" r="r" b="b"/>
              <a:pathLst>
                <a:path w="411479" h="281305">
                  <a:moveTo>
                    <a:pt x="383875" y="0"/>
                  </a:moveTo>
                  <a:lnTo>
                    <a:pt x="27283" y="0"/>
                  </a:lnTo>
                  <a:lnTo>
                    <a:pt x="16821" y="2092"/>
                  </a:lnTo>
                  <a:lnTo>
                    <a:pt x="8158" y="8160"/>
                  </a:lnTo>
                  <a:lnTo>
                    <a:pt x="2090" y="16831"/>
                  </a:lnTo>
                  <a:lnTo>
                    <a:pt x="0" y="27307"/>
                  </a:lnTo>
                  <a:lnTo>
                    <a:pt x="0" y="280936"/>
                  </a:lnTo>
                  <a:lnTo>
                    <a:pt x="411159" y="280936"/>
                  </a:lnTo>
                  <a:lnTo>
                    <a:pt x="411159" y="276979"/>
                  </a:lnTo>
                  <a:lnTo>
                    <a:pt x="7907" y="276979"/>
                  </a:lnTo>
                  <a:lnTo>
                    <a:pt x="3953" y="273022"/>
                  </a:lnTo>
                  <a:lnTo>
                    <a:pt x="7907" y="273022"/>
                  </a:lnTo>
                  <a:lnTo>
                    <a:pt x="7906" y="27697"/>
                  </a:lnTo>
                  <a:lnTo>
                    <a:pt x="8061" y="27307"/>
                  </a:lnTo>
                  <a:lnTo>
                    <a:pt x="9382" y="20694"/>
                  </a:lnTo>
                  <a:lnTo>
                    <a:pt x="9043" y="20694"/>
                  </a:lnTo>
                  <a:lnTo>
                    <a:pt x="9681" y="19200"/>
                  </a:lnTo>
                  <a:lnTo>
                    <a:pt x="10088" y="19200"/>
                  </a:lnTo>
                  <a:lnTo>
                    <a:pt x="13554" y="14244"/>
                  </a:lnTo>
                  <a:lnTo>
                    <a:pt x="13263" y="14244"/>
                  </a:lnTo>
                  <a:lnTo>
                    <a:pt x="14232" y="13275"/>
                  </a:lnTo>
                  <a:lnTo>
                    <a:pt x="14647" y="13275"/>
                  </a:lnTo>
                  <a:lnTo>
                    <a:pt x="19765" y="9689"/>
                  </a:lnTo>
                  <a:lnTo>
                    <a:pt x="19184" y="9689"/>
                  </a:lnTo>
                  <a:lnTo>
                    <a:pt x="20676" y="9051"/>
                  </a:lnTo>
                  <a:lnTo>
                    <a:pt x="22371" y="9051"/>
                  </a:lnTo>
                  <a:lnTo>
                    <a:pt x="28054" y="7913"/>
                  </a:lnTo>
                  <a:lnTo>
                    <a:pt x="402647" y="7913"/>
                  </a:lnTo>
                  <a:lnTo>
                    <a:pt x="394337" y="2092"/>
                  </a:lnTo>
                  <a:lnTo>
                    <a:pt x="383875" y="0"/>
                  </a:lnTo>
                  <a:close/>
                </a:path>
                <a:path w="411479" h="281305">
                  <a:moveTo>
                    <a:pt x="7907" y="273022"/>
                  </a:moveTo>
                  <a:lnTo>
                    <a:pt x="3953" y="273022"/>
                  </a:lnTo>
                  <a:lnTo>
                    <a:pt x="7907" y="276979"/>
                  </a:lnTo>
                  <a:lnTo>
                    <a:pt x="7907" y="273022"/>
                  </a:lnTo>
                  <a:close/>
                </a:path>
                <a:path w="411479" h="281305">
                  <a:moveTo>
                    <a:pt x="403252" y="273022"/>
                  </a:moveTo>
                  <a:lnTo>
                    <a:pt x="7907" y="273022"/>
                  </a:lnTo>
                  <a:lnTo>
                    <a:pt x="7907" y="276979"/>
                  </a:lnTo>
                  <a:lnTo>
                    <a:pt x="403252" y="276979"/>
                  </a:lnTo>
                  <a:lnTo>
                    <a:pt x="403252" y="273022"/>
                  </a:lnTo>
                  <a:close/>
                </a:path>
                <a:path w="411479" h="281305">
                  <a:moveTo>
                    <a:pt x="401641" y="20015"/>
                  </a:moveTo>
                  <a:lnTo>
                    <a:pt x="403098" y="27307"/>
                  </a:lnTo>
                  <a:lnTo>
                    <a:pt x="403252" y="27697"/>
                  </a:lnTo>
                  <a:lnTo>
                    <a:pt x="403252" y="276979"/>
                  </a:lnTo>
                  <a:lnTo>
                    <a:pt x="407205" y="273022"/>
                  </a:lnTo>
                  <a:lnTo>
                    <a:pt x="411159" y="273022"/>
                  </a:lnTo>
                  <a:lnTo>
                    <a:pt x="411159" y="27307"/>
                  </a:lnTo>
                  <a:lnTo>
                    <a:pt x="409839" y="20694"/>
                  </a:lnTo>
                  <a:lnTo>
                    <a:pt x="402115" y="20694"/>
                  </a:lnTo>
                  <a:lnTo>
                    <a:pt x="401641" y="20015"/>
                  </a:lnTo>
                  <a:close/>
                </a:path>
                <a:path w="411479" h="281305">
                  <a:moveTo>
                    <a:pt x="411159" y="273022"/>
                  </a:moveTo>
                  <a:lnTo>
                    <a:pt x="407205" y="273022"/>
                  </a:lnTo>
                  <a:lnTo>
                    <a:pt x="403252" y="276979"/>
                  </a:lnTo>
                  <a:lnTo>
                    <a:pt x="411159" y="276979"/>
                  </a:lnTo>
                  <a:lnTo>
                    <a:pt x="411159" y="273022"/>
                  </a:lnTo>
                  <a:close/>
                </a:path>
                <a:path w="411479" h="281305">
                  <a:moveTo>
                    <a:pt x="375578" y="35611"/>
                  </a:moveTo>
                  <a:lnTo>
                    <a:pt x="35581" y="35611"/>
                  </a:lnTo>
                  <a:lnTo>
                    <a:pt x="35581" y="245324"/>
                  </a:lnTo>
                  <a:lnTo>
                    <a:pt x="375578" y="245324"/>
                  </a:lnTo>
                  <a:lnTo>
                    <a:pt x="375578" y="241367"/>
                  </a:lnTo>
                  <a:lnTo>
                    <a:pt x="43488" y="241367"/>
                  </a:lnTo>
                  <a:lnTo>
                    <a:pt x="39534" y="237410"/>
                  </a:lnTo>
                  <a:lnTo>
                    <a:pt x="43488" y="237410"/>
                  </a:lnTo>
                  <a:lnTo>
                    <a:pt x="43488" y="43525"/>
                  </a:lnTo>
                  <a:lnTo>
                    <a:pt x="39534" y="43525"/>
                  </a:lnTo>
                  <a:lnTo>
                    <a:pt x="43487" y="39568"/>
                  </a:lnTo>
                  <a:lnTo>
                    <a:pt x="375578" y="39568"/>
                  </a:lnTo>
                  <a:lnTo>
                    <a:pt x="375578" y="35611"/>
                  </a:lnTo>
                  <a:close/>
                </a:path>
                <a:path w="411479" h="281305">
                  <a:moveTo>
                    <a:pt x="43488" y="237410"/>
                  </a:moveTo>
                  <a:lnTo>
                    <a:pt x="39534" y="237410"/>
                  </a:lnTo>
                  <a:lnTo>
                    <a:pt x="43488" y="241367"/>
                  </a:lnTo>
                  <a:lnTo>
                    <a:pt x="43488" y="237410"/>
                  </a:lnTo>
                  <a:close/>
                </a:path>
                <a:path w="411479" h="281305">
                  <a:moveTo>
                    <a:pt x="367671" y="237410"/>
                  </a:moveTo>
                  <a:lnTo>
                    <a:pt x="43488" y="237410"/>
                  </a:lnTo>
                  <a:lnTo>
                    <a:pt x="43488" y="241367"/>
                  </a:lnTo>
                  <a:lnTo>
                    <a:pt x="367671" y="241367"/>
                  </a:lnTo>
                  <a:lnTo>
                    <a:pt x="367671" y="237410"/>
                  </a:lnTo>
                  <a:close/>
                </a:path>
                <a:path w="411479" h="281305">
                  <a:moveTo>
                    <a:pt x="367671" y="39568"/>
                  </a:moveTo>
                  <a:lnTo>
                    <a:pt x="367671" y="241367"/>
                  </a:lnTo>
                  <a:lnTo>
                    <a:pt x="371624" y="237410"/>
                  </a:lnTo>
                  <a:lnTo>
                    <a:pt x="375578" y="237410"/>
                  </a:lnTo>
                  <a:lnTo>
                    <a:pt x="375578" y="43525"/>
                  </a:lnTo>
                  <a:lnTo>
                    <a:pt x="371624" y="43525"/>
                  </a:lnTo>
                  <a:lnTo>
                    <a:pt x="367671" y="39568"/>
                  </a:lnTo>
                  <a:close/>
                </a:path>
                <a:path w="411479" h="281305">
                  <a:moveTo>
                    <a:pt x="375578" y="237410"/>
                  </a:moveTo>
                  <a:lnTo>
                    <a:pt x="371624" y="237410"/>
                  </a:lnTo>
                  <a:lnTo>
                    <a:pt x="367671" y="241367"/>
                  </a:lnTo>
                  <a:lnTo>
                    <a:pt x="375578" y="241367"/>
                  </a:lnTo>
                  <a:lnTo>
                    <a:pt x="375578" y="237410"/>
                  </a:lnTo>
                  <a:close/>
                </a:path>
                <a:path w="411479" h="281305">
                  <a:moveTo>
                    <a:pt x="43487" y="39568"/>
                  </a:moveTo>
                  <a:lnTo>
                    <a:pt x="39534" y="43525"/>
                  </a:lnTo>
                  <a:lnTo>
                    <a:pt x="43488" y="43525"/>
                  </a:lnTo>
                  <a:lnTo>
                    <a:pt x="43487" y="39568"/>
                  </a:lnTo>
                  <a:close/>
                </a:path>
                <a:path w="411479" h="281305">
                  <a:moveTo>
                    <a:pt x="367671" y="39568"/>
                  </a:moveTo>
                  <a:lnTo>
                    <a:pt x="43487" y="39568"/>
                  </a:lnTo>
                  <a:lnTo>
                    <a:pt x="43488" y="43525"/>
                  </a:lnTo>
                  <a:lnTo>
                    <a:pt x="367671" y="43525"/>
                  </a:lnTo>
                  <a:lnTo>
                    <a:pt x="367671" y="39568"/>
                  </a:lnTo>
                  <a:close/>
                </a:path>
                <a:path w="411479" h="281305">
                  <a:moveTo>
                    <a:pt x="375578" y="39568"/>
                  </a:moveTo>
                  <a:lnTo>
                    <a:pt x="367671" y="39568"/>
                  </a:lnTo>
                  <a:lnTo>
                    <a:pt x="371624" y="43525"/>
                  </a:lnTo>
                  <a:lnTo>
                    <a:pt x="375578" y="43525"/>
                  </a:lnTo>
                  <a:lnTo>
                    <a:pt x="375578" y="39568"/>
                  </a:lnTo>
                  <a:close/>
                </a:path>
                <a:path w="411479" h="281305">
                  <a:moveTo>
                    <a:pt x="9681" y="19200"/>
                  </a:moveTo>
                  <a:lnTo>
                    <a:pt x="9043" y="20694"/>
                  </a:lnTo>
                  <a:lnTo>
                    <a:pt x="9518" y="20015"/>
                  </a:lnTo>
                  <a:lnTo>
                    <a:pt x="9681" y="19200"/>
                  </a:lnTo>
                  <a:close/>
                </a:path>
                <a:path w="411479" h="281305">
                  <a:moveTo>
                    <a:pt x="9518" y="20015"/>
                  </a:moveTo>
                  <a:lnTo>
                    <a:pt x="9043" y="20694"/>
                  </a:lnTo>
                  <a:lnTo>
                    <a:pt x="9382" y="20694"/>
                  </a:lnTo>
                  <a:lnTo>
                    <a:pt x="9518" y="20015"/>
                  </a:lnTo>
                  <a:close/>
                </a:path>
                <a:path w="411479" h="281305">
                  <a:moveTo>
                    <a:pt x="401478" y="19200"/>
                  </a:moveTo>
                  <a:lnTo>
                    <a:pt x="401641" y="20015"/>
                  </a:lnTo>
                  <a:lnTo>
                    <a:pt x="402115" y="20694"/>
                  </a:lnTo>
                  <a:lnTo>
                    <a:pt x="401478" y="19200"/>
                  </a:lnTo>
                  <a:close/>
                </a:path>
                <a:path w="411479" h="281305">
                  <a:moveTo>
                    <a:pt x="409541" y="19200"/>
                  </a:moveTo>
                  <a:lnTo>
                    <a:pt x="401478" y="19200"/>
                  </a:lnTo>
                  <a:lnTo>
                    <a:pt x="402115" y="20694"/>
                  </a:lnTo>
                  <a:lnTo>
                    <a:pt x="409839" y="20694"/>
                  </a:lnTo>
                  <a:lnTo>
                    <a:pt x="409541" y="19200"/>
                  </a:lnTo>
                  <a:close/>
                </a:path>
                <a:path w="411479" h="281305">
                  <a:moveTo>
                    <a:pt x="10088" y="19200"/>
                  </a:moveTo>
                  <a:lnTo>
                    <a:pt x="9681" y="19200"/>
                  </a:lnTo>
                  <a:lnTo>
                    <a:pt x="9518" y="20015"/>
                  </a:lnTo>
                  <a:lnTo>
                    <a:pt x="10088" y="19200"/>
                  </a:lnTo>
                  <a:close/>
                </a:path>
                <a:path w="411479" h="281305">
                  <a:moveTo>
                    <a:pt x="397325" y="13845"/>
                  </a:moveTo>
                  <a:lnTo>
                    <a:pt x="401641" y="20015"/>
                  </a:lnTo>
                  <a:lnTo>
                    <a:pt x="401478" y="19200"/>
                  </a:lnTo>
                  <a:lnTo>
                    <a:pt x="409541" y="19200"/>
                  </a:lnTo>
                  <a:lnTo>
                    <a:pt x="409068" y="16831"/>
                  </a:lnTo>
                  <a:lnTo>
                    <a:pt x="407258" y="14244"/>
                  </a:lnTo>
                  <a:lnTo>
                    <a:pt x="397895" y="14244"/>
                  </a:lnTo>
                  <a:lnTo>
                    <a:pt x="397325" y="13845"/>
                  </a:lnTo>
                  <a:close/>
                </a:path>
                <a:path w="411479" h="281305">
                  <a:moveTo>
                    <a:pt x="14232" y="13275"/>
                  </a:moveTo>
                  <a:lnTo>
                    <a:pt x="13263" y="14244"/>
                  </a:lnTo>
                  <a:lnTo>
                    <a:pt x="13833" y="13845"/>
                  </a:lnTo>
                  <a:lnTo>
                    <a:pt x="14232" y="13275"/>
                  </a:lnTo>
                  <a:close/>
                </a:path>
                <a:path w="411479" h="281305">
                  <a:moveTo>
                    <a:pt x="13833" y="13845"/>
                  </a:moveTo>
                  <a:lnTo>
                    <a:pt x="13263" y="14244"/>
                  </a:lnTo>
                  <a:lnTo>
                    <a:pt x="13554" y="14244"/>
                  </a:lnTo>
                  <a:lnTo>
                    <a:pt x="13833" y="13845"/>
                  </a:lnTo>
                  <a:close/>
                </a:path>
                <a:path w="411479" h="281305">
                  <a:moveTo>
                    <a:pt x="396926" y="13275"/>
                  </a:moveTo>
                  <a:lnTo>
                    <a:pt x="397325" y="13845"/>
                  </a:lnTo>
                  <a:lnTo>
                    <a:pt x="397895" y="14244"/>
                  </a:lnTo>
                  <a:lnTo>
                    <a:pt x="396926" y="13275"/>
                  </a:lnTo>
                  <a:close/>
                </a:path>
                <a:path w="411479" h="281305">
                  <a:moveTo>
                    <a:pt x="406579" y="13275"/>
                  </a:moveTo>
                  <a:lnTo>
                    <a:pt x="396926" y="13275"/>
                  </a:lnTo>
                  <a:lnTo>
                    <a:pt x="397895" y="14244"/>
                  </a:lnTo>
                  <a:lnTo>
                    <a:pt x="407258" y="14244"/>
                  </a:lnTo>
                  <a:lnTo>
                    <a:pt x="406579" y="13275"/>
                  </a:lnTo>
                  <a:close/>
                </a:path>
                <a:path w="411479" h="281305">
                  <a:moveTo>
                    <a:pt x="14647" y="13275"/>
                  </a:moveTo>
                  <a:lnTo>
                    <a:pt x="14232" y="13275"/>
                  </a:lnTo>
                  <a:lnTo>
                    <a:pt x="13833" y="13845"/>
                  </a:lnTo>
                  <a:lnTo>
                    <a:pt x="14647" y="13275"/>
                  </a:lnTo>
                  <a:close/>
                </a:path>
                <a:path w="411479" h="281305">
                  <a:moveTo>
                    <a:pt x="391160" y="9526"/>
                  </a:moveTo>
                  <a:lnTo>
                    <a:pt x="397325" y="13845"/>
                  </a:lnTo>
                  <a:lnTo>
                    <a:pt x="396926" y="13275"/>
                  </a:lnTo>
                  <a:lnTo>
                    <a:pt x="406579" y="13275"/>
                  </a:lnTo>
                  <a:lnTo>
                    <a:pt x="404069" y="9689"/>
                  </a:lnTo>
                  <a:lnTo>
                    <a:pt x="391975" y="9689"/>
                  </a:lnTo>
                  <a:lnTo>
                    <a:pt x="391160" y="9526"/>
                  </a:lnTo>
                  <a:close/>
                </a:path>
                <a:path w="411479" h="281305">
                  <a:moveTo>
                    <a:pt x="20676" y="9051"/>
                  </a:moveTo>
                  <a:lnTo>
                    <a:pt x="19184" y="9689"/>
                  </a:lnTo>
                  <a:lnTo>
                    <a:pt x="19998" y="9526"/>
                  </a:lnTo>
                  <a:lnTo>
                    <a:pt x="20676" y="9051"/>
                  </a:lnTo>
                  <a:close/>
                </a:path>
                <a:path w="411479" h="281305">
                  <a:moveTo>
                    <a:pt x="19998" y="9526"/>
                  </a:moveTo>
                  <a:lnTo>
                    <a:pt x="19184" y="9689"/>
                  </a:lnTo>
                  <a:lnTo>
                    <a:pt x="19765" y="9689"/>
                  </a:lnTo>
                  <a:lnTo>
                    <a:pt x="19998" y="9526"/>
                  </a:lnTo>
                  <a:close/>
                </a:path>
                <a:path w="411479" h="281305">
                  <a:moveTo>
                    <a:pt x="390482" y="9051"/>
                  </a:moveTo>
                  <a:lnTo>
                    <a:pt x="391160" y="9526"/>
                  </a:lnTo>
                  <a:lnTo>
                    <a:pt x="391975" y="9689"/>
                  </a:lnTo>
                  <a:lnTo>
                    <a:pt x="390482" y="9051"/>
                  </a:lnTo>
                  <a:close/>
                </a:path>
                <a:path w="411479" h="281305">
                  <a:moveTo>
                    <a:pt x="403623" y="9051"/>
                  </a:moveTo>
                  <a:lnTo>
                    <a:pt x="390482" y="9051"/>
                  </a:lnTo>
                  <a:lnTo>
                    <a:pt x="391975" y="9689"/>
                  </a:lnTo>
                  <a:lnTo>
                    <a:pt x="404069" y="9689"/>
                  </a:lnTo>
                  <a:lnTo>
                    <a:pt x="403623" y="9051"/>
                  </a:lnTo>
                  <a:close/>
                </a:path>
                <a:path w="411479" h="281305">
                  <a:moveTo>
                    <a:pt x="22371" y="9051"/>
                  </a:moveTo>
                  <a:lnTo>
                    <a:pt x="20676" y="9051"/>
                  </a:lnTo>
                  <a:lnTo>
                    <a:pt x="19998" y="9526"/>
                  </a:lnTo>
                  <a:lnTo>
                    <a:pt x="22371" y="9051"/>
                  </a:lnTo>
                  <a:close/>
                </a:path>
                <a:path w="411479" h="281305">
                  <a:moveTo>
                    <a:pt x="402647" y="7913"/>
                  </a:moveTo>
                  <a:lnTo>
                    <a:pt x="383104" y="7913"/>
                  </a:lnTo>
                  <a:lnTo>
                    <a:pt x="391160" y="9526"/>
                  </a:lnTo>
                  <a:lnTo>
                    <a:pt x="390482" y="9051"/>
                  </a:lnTo>
                  <a:lnTo>
                    <a:pt x="403623" y="9051"/>
                  </a:lnTo>
                  <a:lnTo>
                    <a:pt x="403000" y="8160"/>
                  </a:lnTo>
                  <a:lnTo>
                    <a:pt x="402647" y="7913"/>
                  </a:lnTo>
                  <a:close/>
                </a:path>
              </a:pathLst>
            </a:custGeom>
            <a:solidFill>
              <a:srgbClr val="383838"/>
            </a:solidFill>
          </p:spPr>
          <p:txBody>
            <a:bodyPr wrap="square" lIns="0" tIns="0" rIns="0" bIns="0" rtlCol="0"/>
            <a:lstStyle/>
            <a:p>
              <a:endParaRPr sz="2400"/>
            </a:p>
          </p:txBody>
        </p:sp>
        <p:sp>
          <p:nvSpPr>
            <p:cNvPr id="13" name="object 13"/>
            <p:cNvSpPr/>
            <p:nvPr/>
          </p:nvSpPr>
          <p:spPr>
            <a:xfrm>
              <a:off x="4300016" y="2256107"/>
              <a:ext cx="546100" cy="36195"/>
            </a:xfrm>
            <a:custGeom>
              <a:avLst/>
              <a:gdLst/>
              <a:ahLst/>
              <a:cxnLst/>
              <a:rect l="l" t="t" r="r" b="b"/>
              <a:pathLst>
                <a:path w="546100" h="36194">
                  <a:moveTo>
                    <a:pt x="545585" y="0"/>
                  </a:moveTo>
                  <a:lnTo>
                    <a:pt x="308367" y="0"/>
                  </a:lnTo>
                  <a:lnTo>
                    <a:pt x="308367" y="9496"/>
                  </a:lnTo>
                  <a:lnTo>
                    <a:pt x="305995" y="11870"/>
                  </a:lnTo>
                  <a:lnTo>
                    <a:pt x="239577" y="11870"/>
                  </a:lnTo>
                  <a:lnTo>
                    <a:pt x="237205" y="9496"/>
                  </a:lnTo>
                  <a:lnTo>
                    <a:pt x="237205" y="0"/>
                  </a:lnTo>
                  <a:lnTo>
                    <a:pt x="0" y="0"/>
                  </a:lnTo>
                  <a:lnTo>
                    <a:pt x="23720" y="35611"/>
                  </a:lnTo>
                  <a:lnTo>
                    <a:pt x="521864" y="35611"/>
                  </a:lnTo>
                  <a:lnTo>
                    <a:pt x="531074" y="33738"/>
                  </a:lnTo>
                  <a:lnTo>
                    <a:pt x="538617" y="28637"/>
                  </a:lnTo>
                  <a:lnTo>
                    <a:pt x="543713" y="21088"/>
                  </a:lnTo>
                  <a:lnTo>
                    <a:pt x="545585" y="11870"/>
                  </a:lnTo>
                  <a:lnTo>
                    <a:pt x="545585" y="0"/>
                  </a:lnTo>
                  <a:close/>
                </a:path>
              </a:pathLst>
            </a:custGeom>
            <a:solidFill>
              <a:srgbClr val="FFFFFF"/>
            </a:solidFill>
          </p:spPr>
          <p:txBody>
            <a:bodyPr wrap="square" lIns="0" tIns="0" rIns="0" bIns="0" rtlCol="0"/>
            <a:lstStyle/>
            <a:p>
              <a:endParaRPr sz="2400"/>
            </a:p>
          </p:txBody>
        </p:sp>
        <p:sp>
          <p:nvSpPr>
            <p:cNvPr id="14" name="object 14"/>
            <p:cNvSpPr/>
            <p:nvPr/>
          </p:nvSpPr>
          <p:spPr>
            <a:xfrm>
              <a:off x="4296318" y="2252388"/>
              <a:ext cx="553720" cy="43815"/>
            </a:xfrm>
            <a:custGeom>
              <a:avLst/>
              <a:gdLst/>
              <a:ahLst/>
              <a:cxnLst/>
              <a:rect l="l" t="t" r="r" b="b"/>
              <a:pathLst>
                <a:path w="553720" h="43814">
                  <a:moveTo>
                    <a:pt x="245114" y="0"/>
                  </a:moveTo>
                  <a:lnTo>
                    <a:pt x="0" y="0"/>
                  </a:lnTo>
                  <a:lnTo>
                    <a:pt x="0" y="16218"/>
                  </a:lnTo>
                  <a:lnTo>
                    <a:pt x="2092" y="26688"/>
                  </a:lnTo>
                  <a:lnTo>
                    <a:pt x="8156" y="35359"/>
                  </a:lnTo>
                  <a:lnTo>
                    <a:pt x="16819" y="41428"/>
                  </a:lnTo>
                  <a:lnTo>
                    <a:pt x="27282" y="43525"/>
                  </a:lnTo>
                  <a:lnTo>
                    <a:pt x="526204" y="43525"/>
                  </a:lnTo>
                  <a:lnTo>
                    <a:pt x="536681" y="41428"/>
                  </a:lnTo>
                  <a:lnTo>
                    <a:pt x="544864" y="35685"/>
                  </a:lnTo>
                  <a:lnTo>
                    <a:pt x="28449" y="35685"/>
                  </a:lnTo>
                  <a:lnTo>
                    <a:pt x="22371" y="34469"/>
                  </a:lnTo>
                  <a:lnTo>
                    <a:pt x="20675" y="34469"/>
                  </a:lnTo>
                  <a:lnTo>
                    <a:pt x="19183" y="33831"/>
                  </a:lnTo>
                  <a:lnTo>
                    <a:pt x="19764" y="33831"/>
                  </a:lnTo>
                  <a:lnTo>
                    <a:pt x="14653" y="30250"/>
                  </a:lnTo>
                  <a:lnTo>
                    <a:pt x="14234" y="30250"/>
                  </a:lnTo>
                  <a:lnTo>
                    <a:pt x="13262" y="29275"/>
                  </a:lnTo>
                  <a:lnTo>
                    <a:pt x="13552" y="29275"/>
                  </a:lnTo>
                  <a:lnTo>
                    <a:pt x="10090" y="24324"/>
                  </a:lnTo>
                  <a:lnTo>
                    <a:pt x="9683" y="24324"/>
                  </a:lnTo>
                  <a:lnTo>
                    <a:pt x="9045" y="22831"/>
                  </a:lnTo>
                  <a:lnTo>
                    <a:pt x="9385" y="22831"/>
                  </a:lnTo>
                  <a:lnTo>
                    <a:pt x="8063" y="16218"/>
                  </a:lnTo>
                  <a:lnTo>
                    <a:pt x="7985" y="15827"/>
                  </a:lnTo>
                  <a:lnTo>
                    <a:pt x="7906" y="7913"/>
                  </a:lnTo>
                  <a:lnTo>
                    <a:pt x="3953" y="7913"/>
                  </a:lnTo>
                  <a:lnTo>
                    <a:pt x="7906" y="3956"/>
                  </a:lnTo>
                  <a:lnTo>
                    <a:pt x="245114" y="3956"/>
                  </a:lnTo>
                  <a:lnTo>
                    <a:pt x="245114" y="0"/>
                  </a:lnTo>
                  <a:close/>
                </a:path>
                <a:path w="553720" h="43814">
                  <a:moveTo>
                    <a:pt x="533504" y="33993"/>
                  </a:moveTo>
                  <a:lnTo>
                    <a:pt x="525018" y="35685"/>
                  </a:lnTo>
                  <a:lnTo>
                    <a:pt x="544864" y="35685"/>
                  </a:lnTo>
                  <a:lnTo>
                    <a:pt x="545329" y="35359"/>
                  </a:lnTo>
                  <a:lnTo>
                    <a:pt x="545953" y="34469"/>
                  </a:lnTo>
                  <a:lnTo>
                    <a:pt x="532826" y="34469"/>
                  </a:lnTo>
                  <a:lnTo>
                    <a:pt x="533504" y="33993"/>
                  </a:lnTo>
                  <a:close/>
                </a:path>
                <a:path w="553720" h="43814">
                  <a:moveTo>
                    <a:pt x="19183" y="33831"/>
                  </a:moveTo>
                  <a:lnTo>
                    <a:pt x="20675" y="34469"/>
                  </a:lnTo>
                  <a:lnTo>
                    <a:pt x="19997" y="33993"/>
                  </a:lnTo>
                  <a:lnTo>
                    <a:pt x="19183" y="33831"/>
                  </a:lnTo>
                  <a:close/>
                </a:path>
                <a:path w="553720" h="43814">
                  <a:moveTo>
                    <a:pt x="19997" y="33993"/>
                  </a:moveTo>
                  <a:lnTo>
                    <a:pt x="20675" y="34469"/>
                  </a:lnTo>
                  <a:lnTo>
                    <a:pt x="22371" y="34469"/>
                  </a:lnTo>
                  <a:lnTo>
                    <a:pt x="19997" y="33993"/>
                  </a:lnTo>
                  <a:close/>
                </a:path>
                <a:path w="553720" h="43814">
                  <a:moveTo>
                    <a:pt x="534309" y="33831"/>
                  </a:moveTo>
                  <a:lnTo>
                    <a:pt x="533504" y="33993"/>
                  </a:lnTo>
                  <a:lnTo>
                    <a:pt x="532826" y="34469"/>
                  </a:lnTo>
                  <a:lnTo>
                    <a:pt x="534309" y="33831"/>
                  </a:lnTo>
                  <a:close/>
                </a:path>
                <a:path w="553720" h="43814">
                  <a:moveTo>
                    <a:pt x="546400" y="33831"/>
                  </a:moveTo>
                  <a:lnTo>
                    <a:pt x="534309" y="33831"/>
                  </a:lnTo>
                  <a:lnTo>
                    <a:pt x="532826" y="34469"/>
                  </a:lnTo>
                  <a:lnTo>
                    <a:pt x="545953" y="34469"/>
                  </a:lnTo>
                  <a:lnTo>
                    <a:pt x="546286" y="33993"/>
                  </a:lnTo>
                  <a:lnTo>
                    <a:pt x="546400" y="33831"/>
                  </a:lnTo>
                  <a:close/>
                </a:path>
                <a:path w="553720" h="43814">
                  <a:moveTo>
                    <a:pt x="19764" y="33831"/>
                  </a:moveTo>
                  <a:lnTo>
                    <a:pt x="19183" y="33831"/>
                  </a:lnTo>
                  <a:lnTo>
                    <a:pt x="19997" y="33993"/>
                  </a:lnTo>
                  <a:lnTo>
                    <a:pt x="19764" y="33831"/>
                  </a:lnTo>
                  <a:close/>
                </a:path>
                <a:path w="553720" h="43814">
                  <a:moveTo>
                    <a:pt x="539637" y="29697"/>
                  </a:moveTo>
                  <a:lnTo>
                    <a:pt x="533504" y="33993"/>
                  </a:lnTo>
                  <a:lnTo>
                    <a:pt x="534309" y="33831"/>
                  </a:lnTo>
                  <a:lnTo>
                    <a:pt x="546400" y="33831"/>
                  </a:lnTo>
                  <a:lnTo>
                    <a:pt x="548911" y="30250"/>
                  </a:lnTo>
                  <a:lnTo>
                    <a:pt x="539251" y="30250"/>
                  </a:lnTo>
                  <a:lnTo>
                    <a:pt x="539637" y="29697"/>
                  </a:lnTo>
                  <a:close/>
                </a:path>
                <a:path w="553720" h="43814">
                  <a:moveTo>
                    <a:pt x="13262" y="29275"/>
                  </a:moveTo>
                  <a:lnTo>
                    <a:pt x="14234" y="30250"/>
                  </a:lnTo>
                  <a:lnTo>
                    <a:pt x="13847" y="29697"/>
                  </a:lnTo>
                  <a:lnTo>
                    <a:pt x="13262" y="29275"/>
                  </a:lnTo>
                  <a:close/>
                </a:path>
                <a:path w="553720" h="43814">
                  <a:moveTo>
                    <a:pt x="13864" y="29697"/>
                  </a:moveTo>
                  <a:lnTo>
                    <a:pt x="14234" y="30250"/>
                  </a:lnTo>
                  <a:lnTo>
                    <a:pt x="14653" y="30250"/>
                  </a:lnTo>
                  <a:lnTo>
                    <a:pt x="13864" y="29697"/>
                  </a:lnTo>
                  <a:close/>
                </a:path>
                <a:path w="553720" h="43814">
                  <a:moveTo>
                    <a:pt x="540239" y="29275"/>
                  </a:moveTo>
                  <a:lnTo>
                    <a:pt x="539637" y="29697"/>
                  </a:lnTo>
                  <a:lnTo>
                    <a:pt x="539251" y="30250"/>
                  </a:lnTo>
                  <a:lnTo>
                    <a:pt x="540239" y="29275"/>
                  </a:lnTo>
                  <a:close/>
                </a:path>
                <a:path w="553720" h="43814">
                  <a:moveTo>
                    <a:pt x="549594" y="29275"/>
                  </a:moveTo>
                  <a:lnTo>
                    <a:pt x="540239" y="29275"/>
                  </a:lnTo>
                  <a:lnTo>
                    <a:pt x="539251" y="30250"/>
                  </a:lnTo>
                  <a:lnTo>
                    <a:pt x="548911" y="30250"/>
                  </a:lnTo>
                  <a:lnTo>
                    <a:pt x="549594" y="29275"/>
                  </a:lnTo>
                  <a:close/>
                </a:path>
                <a:path w="553720" h="43814">
                  <a:moveTo>
                    <a:pt x="13552" y="29275"/>
                  </a:moveTo>
                  <a:lnTo>
                    <a:pt x="13262" y="29275"/>
                  </a:lnTo>
                  <a:lnTo>
                    <a:pt x="13864" y="29697"/>
                  </a:lnTo>
                  <a:lnTo>
                    <a:pt x="13552" y="29275"/>
                  </a:lnTo>
                  <a:close/>
                </a:path>
                <a:path w="553720" h="43814">
                  <a:moveTo>
                    <a:pt x="543961" y="23515"/>
                  </a:moveTo>
                  <a:lnTo>
                    <a:pt x="539637" y="29697"/>
                  </a:lnTo>
                  <a:lnTo>
                    <a:pt x="540239" y="29275"/>
                  </a:lnTo>
                  <a:lnTo>
                    <a:pt x="549594" y="29275"/>
                  </a:lnTo>
                  <a:lnTo>
                    <a:pt x="551407" y="26688"/>
                  </a:lnTo>
                  <a:lnTo>
                    <a:pt x="551876" y="24324"/>
                  </a:lnTo>
                  <a:lnTo>
                    <a:pt x="543797" y="24324"/>
                  </a:lnTo>
                  <a:lnTo>
                    <a:pt x="543961" y="23515"/>
                  </a:lnTo>
                  <a:close/>
                </a:path>
                <a:path w="553720" h="43814">
                  <a:moveTo>
                    <a:pt x="9045" y="22831"/>
                  </a:moveTo>
                  <a:lnTo>
                    <a:pt x="9683" y="24324"/>
                  </a:lnTo>
                  <a:lnTo>
                    <a:pt x="9521" y="23515"/>
                  </a:lnTo>
                  <a:lnTo>
                    <a:pt x="9045" y="22831"/>
                  </a:lnTo>
                  <a:close/>
                </a:path>
                <a:path w="553720" h="43814">
                  <a:moveTo>
                    <a:pt x="9524" y="23515"/>
                  </a:moveTo>
                  <a:lnTo>
                    <a:pt x="9683" y="24324"/>
                  </a:lnTo>
                  <a:lnTo>
                    <a:pt x="10090" y="24324"/>
                  </a:lnTo>
                  <a:lnTo>
                    <a:pt x="9524" y="23515"/>
                  </a:lnTo>
                  <a:close/>
                </a:path>
                <a:path w="553720" h="43814">
                  <a:moveTo>
                    <a:pt x="544440" y="22831"/>
                  </a:moveTo>
                  <a:lnTo>
                    <a:pt x="543961" y="23515"/>
                  </a:lnTo>
                  <a:lnTo>
                    <a:pt x="543797" y="24324"/>
                  </a:lnTo>
                  <a:lnTo>
                    <a:pt x="544440" y="22831"/>
                  </a:lnTo>
                  <a:close/>
                </a:path>
                <a:path w="553720" h="43814">
                  <a:moveTo>
                    <a:pt x="552172" y="22831"/>
                  </a:moveTo>
                  <a:lnTo>
                    <a:pt x="544440" y="22831"/>
                  </a:lnTo>
                  <a:lnTo>
                    <a:pt x="543797" y="24324"/>
                  </a:lnTo>
                  <a:lnTo>
                    <a:pt x="551876" y="24324"/>
                  </a:lnTo>
                  <a:lnTo>
                    <a:pt x="552172" y="22831"/>
                  </a:lnTo>
                  <a:close/>
                </a:path>
                <a:path w="553720" h="43814">
                  <a:moveTo>
                    <a:pt x="9385" y="22831"/>
                  </a:moveTo>
                  <a:lnTo>
                    <a:pt x="9045" y="22831"/>
                  </a:lnTo>
                  <a:lnTo>
                    <a:pt x="9524" y="23515"/>
                  </a:lnTo>
                  <a:lnTo>
                    <a:pt x="9385" y="22831"/>
                  </a:lnTo>
                  <a:close/>
                </a:path>
                <a:path w="553720" h="43814">
                  <a:moveTo>
                    <a:pt x="545576" y="3956"/>
                  </a:moveTo>
                  <a:lnTo>
                    <a:pt x="545518" y="15827"/>
                  </a:lnTo>
                  <a:lnTo>
                    <a:pt x="543961" y="23515"/>
                  </a:lnTo>
                  <a:lnTo>
                    <a:pt x="544440" y="22831"/>
                  </a:lnTo>
                  <a:lnTo>
                    <a:pt x="552172" y="22831"/>
                  </a:lnTo>
                  <a:lnTo>
                    <a:pt x="553483" y="16218"/>
                  </a:lnTo>
                  <a:lnTo>
                    <a:pt x="553483" y="7913"/>
                  </a:lnTo>
                  <a:lnTo>
                    <a:pt x="549530" y="7913"/>
                  </a:lnTo>
                  <a:lnTo>
                    <a:pt x="545576" y="3956"/>
                  </a:lnTo>
                  <a:close/>
                </a:path>
                <a:path w="553720" h="43814">
                  <a:moveTo>
                    <a:pt x="237207" y="3956"/>
                  </a:moveTo>
                  <a:lnTo>
                    <a:pt x="237264" y="10747"/>
                  </a:lnTo>
                  <a:lnTo>
                    <a:pt x="239531" y="16960"/>
                  </a:lnTo>
                  <a:lnTo>
                    <a:pt x="246300" y="19784"/>
                  </a:lnTo>
                  <a:lnTo>
                    <a:pt x="307247" y="19784"/>
                  </a:lnTo>
                  <a:lnTo>
                    <a:pt x="313454" y="16960"/>
                  </a:lnTo>
                  <a:lnTo>
                    <a:pt x="315427" y="12617"/>
                  </a:lnTo>
                  <a:lnTo>
                    <a:pt x="246359" y="12617"/>
                  </a:lnTo>
                  <a:lnTo>
                    <a:pt x="244217" y="10371"/>
                  </a:lnTo>
                  <a:lnTo>
                    <a:pt x="245543" y="10371"/>
                  </a:lnTo>
                  <a:lnTo>
                    <a:pt x="245369" y="9892"/>
                  </a:lnTo>
                  <a:lnTo>
                    <a:pt x="245114" y="9892"/>
                  </a:lnTo>
                  <a:lnTo>
                    <a:pt x="245114" y="9189"/>
                  </a:lnTo>
                  <a:lnTo>
                    <a:pt x="244964" y="9038"/>
                  </a:lnTo>
                  <a:lnTo>
                    <a:pt x="244876" y="8536"/>
                  </a:lnTo>
                  <a:lnTo>
                    <a:pt x="245114" y="8536"/>
                  </a:lnTo>
                  <a:lnTo>
                    <a:pt x="245114" y="7913"/>
                  </a:lnTo>
                  <a:lnTo>
                    <a:pt x="241160" y="7913"/>
                  </a:lnTo>
                  <a:lnTo>
                    <a:pt x="237207" y="3956"/>
                  </a:lnTo>
                  <a:close/>
                </a:path>
                <a:path w="553720" h="43814">
                  <a:moveTo>
                    <a:pt x="244295" y="10371"/>
                  </a:moveTo>
                  <a:lnTo>
                    <a:pt x="244424" y="10589"/>
                  </a:lnTo>
                  <a:lnTo>
                    <a:pt x="246359" y="12617"/>
                  </a:lnTo>
                  <a:lnTo>
                    <a:pt x="245766" y="10985"/>
                  </a:lnTo>
                  <a:lnTo>
                    <a:pt x="244295" y="10371"/>
                  </a:lnTo>
                  <a:close/>
                </a:path>
                <a:path w="553720" h="43814">
                  <a:moveTo>
                    <a:pt x="245767" y="10985"/>
                  </a:moveTo>
                  <a:lnTo>
                    <a:pt x="246257" y="12335"/>
                  </a:lnTo>
                  <a:lnTo>
                    <a:pt x="246359" y="12617"/>
                  </a:lnTo>
                  <a:lnTo>
                    <a:pt x="315427" y="12617"/>
                  </a:lnTo>
                  <a:lnTo>
                    <a:pt x="315555" y="12335"/>
                  </a:lnTo>
                  <a:lnTo>
                    <a:pt x="249436" y="12335"/>
                  </a:lnTo>
                  <a:lnTo>
                    <a:pt x="247090" y="11870"/>
                  </a:lnTo>
                  <a:lnTo>
                    <a:pt x="247889" y="11870"/>
                  </a:lnTo>
                  <a:lnTo>
                    <a:pt x="245767" y="10985"/>
                  </a:lnTo>
                  <a:close/>
                </a:path>
                <a:path w="553720" h="43814">
                  <a:moveTo>
                    <a:pt x="247889" y="11870"/>
                  </a:moveTo>
                  <a:lnTo>
                    <a:pt x="247090" y="11870"/>
                  </a:lnTo>
                  <a:lnTo>
                    <a:pt x="249436" y="12335"/>
                  </a:lnTo>
                  <a:lnTo>
                    <a:pt x="249004" y="12335"/>
                  </a:lnTo>
                  <a:lnTo>
                    <a:pt x="247889" y="11870"/>
                  </a:lnTo>
                  <a:close/>
                </a:path>
                <a:path w="553720" h="43814">
                  <a:moveTo>
                    <a:pt x="305539" y="11870"/>
                  </a:moveTo>
                  <a:lnTo>
                    <a:pt x="247889" y="11870"/>
                  </a:lnTo>
                  <a:lnTo>
                    <a:pt x="249004" y="12335"/>
                  </a:lnTo>
                  <a:lnTo>
                    <a:pt x="304517" y="12335"/>
                  </a:lnTo>
                  <a:lnTo>
                    <a:pt x="305539" y="11870"/>
                  </a:lnTo>
                  <a:close/>
                </a:path>
                <a:path w="553720" h="43814">
                  <a:moveTo>
                    <a:pt x="307485" y="10985"/>
                  </a:moveTo>
                  <a:lnTo>
                    <a:pt x="304517" y="12335"/>
                  </a:lnTo>
                  <a:lnTo>
                    <a:pt x="304257" y="12335"/>
                  </a:lnTo>
                  <a:lnTo>
                    <a:pt x="306392" y="11870"/>
                  </a:lnTo>
                  <a:lnTo>
                    <a:pt x="307083" y="11870"/>
                  </a:lnTo>
                  <a:lnTo>
                    <a:pt x="307485" y="10985"/>
                  </a:lnTo>
                  <a:close/>
                </a:path>
                <a:path w="553720" h="43814">
                  <a:moveTo>
                    <a:pt x="307083" y="11870"/>
                  </a:moveTo>
                  <a:lnTo>
                    <a:pt x="306392" y="11870"/>
                  </a:lnTo>
                  <a:lnTo>
                    <a:pt x="304257" y="12335"/>
                  </a:lnTo>
                  <a:lnTo>
                    <a:pt x="306872" y="12335"/>
                  </a:lnTo>
                  <a:lnTo>
                    <a:pt x="307083" y="11870"/>
                  </a:lnTo>
                  <a:close/>
                </a:path>
                <a:path w="553720" h="43814">
                  <a:moveTo>
                    <a:pt x="308833" y="10371"/>
                  </a:moveTo>
                  <a:lnTo>
                    <a:pt x="307485" y="10985"/>
                  </a:lnTo>
                  <a:lnTo>
                    <a:pt x="306872" y="12335"/>
                  </a:lnTo>
                  <a:lnTo>
                    <a:pt x="308833" y="10371"/>
                  </a:lnTo>
                  <a:close/>
                </a:path>
                <a:path w="553720" h="43814">
                  <a:moveTo>
                    <a:pt x="316276" y="10371"/>
                  </a:moveTo>
                  <a:lnTo>
                    <a:pt x="308833" y="10371"/>
                  </a:lnTo>
                  <a:lnTo>
                    <a:pt x="306872" y="12335"/>
                  </a:lnTo>
                  <a:lnTo>
                    <a:pt x="315555" y="12335"/>
                  </a:lnTo>
                  <a:lnTo>
                    <a:pt x="316168" y="10985"/>
                  </a:lnTo>
                  <a:lnTo>
                    <a:pt x="316276" y="10371"/>
                  </a:lnTo>
                  <a:close/>
                </a:path>
                <a:path w="553720" h="43814">
                  <a:moveTo>
                    <a:pt x="245543" y="10371"/>
                  </a:moveTo>
                  <a:lnTo>
                    <a:pt x="244295" y="10371"/>
                  </a:lnTo>
                  <a:lnTo>
                    <a:pt x="245767" y="10985"/>
                  </a:lnTo>
                  <a:lnTo>
                    <a:pt x="245680" y="10747"/>
                  </a:lnTo>
                  <a:lnTo>
                    <a:pt x="245622" y="10589"/>
                  </a:lnTo>
                  <a:lnTo>
                    <a:pt x="245543" y="10371"/>
                  </a:lnTo>
                  <a:close/>
                </a:path>
                <a:path w="553720" h="43814">
                  <a:moveTo>
                    <a:pt x="316276" y="8254"/>
                  </a:moveTo>
                  <a:lnTo>
                    <a:pt x="308725" y="8254"/>
                  </a:lnTo>
                  <a:lnTo>
                    <a:pt x="308369" y="9892"/>
                  </a:lnTo>
                  <a:lnTo>
                    <a:pt x="307981" y="9892"/>
                  </a:lnTo>
                  <a:lnTo>
                    <a:pt x="307763" y="10371"/>
                  </a:lnTo>
                  <a:lnTo>
                    <a:pt x="307664" y="10589"/>
                  </a:lnTo>
                  <a:lnTo>
                    <a:pt x="307593" y="10747"/>
                  </a:lnTo>
                  <a:lnTo>
                    <a:pt x="307485" y="10985"/>
                  </a:lnTo>
                  <a:lnTo>
                    <a:pt x="308833" y="10371"/>
                  </a:lnTo>
                  <a:lnTo>
                    <a:pt x="316276" y="10371"/>
                  </a:lnTo>
                  <a:lnTo>
                    <a:pt x="316276" y="9892"/>
                  </a:lnTo>
                  <a:lnTo>
                    <a:pt x="308369" y="9892"/>
                  </a:lnTo>
                  <a:lnTo>
                    <a:pt x="308369" y="9189"/>
                  </a:lnTo>
                  <a:lnTo>
                    <a:pt x="316276" y="9189"/>
                  </a:lnTo>
                  <a:lnTo>
                    <a:pt x="316276" y="8254"/>
                  </a:lnTo>
                  <a:close/>
                </a:path>
                <a:path w="553720" h="43814">
                  <a:moveTo>
                    <a:pt x="245114" y="9189"/>
                  </a:moveTo>
                  <a:lnTo>
                    <a:pt x="245114" y="9892"/>
                  </a:lnTo>
                  <a:lnTo>
                    <a:pt x="245369" y="9892"/>
                  </a:lnTo>
                  <a:lnTo>
                    <a:pt x="245114" y="9189"/>
                  </a:lnTo>
                  <a:close/>
                </a:path>
                <a:path w="553720" h="43814">
                  <a:moveTo>
                    <a:pt x="308663" y="8536"/>
                  </a:moveTo>
                  <a:lnTo>
                    <a:pt x="308369" y="9038"/>
                  </a:lnTo>
                  <a:lnTo>
                    <a:pt x="308369" y="9892"/>
                  </a:lnTo>
                  <a:lnTo>
                    <a:pt x="308522" y="9189"/>
                  </a:lnTo>
                  <a:lnTo>
                    <a:pt x="308554" y="9038"/>
                  </a:lnTo>
                  <a:lnTo>
                    <a:pt x="308663" y="8536"/>
                  </a:lnTo>
                  <a:close/>
                </a:path>
                <a:path w="553720" h="43814">
                  <a:moveTo>
                    <a:pt x="244876" y="8536"/>
                  </a:moveTo>
                  <a:lnTo>
                    <a:pt x="244991" y="9189"/>
                  </a:lnTo>
                  <a:lnTo>
                    <a:pt x="245114" y="9038"/>
                  </a:lnTo>
                  <a:lnTo>
                    <a:pt x="244876" y="8536"/>
                  </a:lnTo>
                  <a:close/>
                </a:path>
                <a:path w="553720" h="43814">
                  <a:moveTo>
                    <a:pt x="245114" y="8536"/>
                  </a:moveTo>
                  <a:lnTo>
                    <a:pt x="244876" y="8536"/>
                  </a:lnTo>
                  <a:lnTo>
                    <a:pt x="245059" y="9038"/>
                  </a:lnTo>
                  <a:lnTo>
                    <a:pt x="245114" y="8536"/>
                  </a:lnTo>
                  <a:close/>
                </a:path>
                <a:path w="553720" h="43814">
                  <a:moveTo>
                    <a:pt x="553483" y="0"/>
                  </a:moveTo>
                  <a:lnTo>
                    <a:pt x="308369" y="0"/>
                  </a:lnTo>
                  <a:lnTo>
                    <a:pt x="308369" y="9038"/>
                  </a:lnTo>
                  <a:lnTo>
                    <a:pt x="308725" y="8254"/>
                  </a:lnTo>
                  <a:lnTo>
                    <a:pt x="316276" y="8254"/>
                  </a:lnTo>
                  <a:lnTo>
                    <a:pt x="316276" y="7913"/>
                  </a:lnTo>
                  <a:lnTo>
                    <a:pt x="312322" y="7913"/>
                  </a:lnTo>
                  <a:lnTo>
                    <a:pt x="316276" y="3956"/>
                  </a:lnTo>
                  <a:lnTo>
                    <a:pt x="553483" y="3956"/>
                  </a:lnTo>
                  <a:lnTo>
                    <a:pt x="553483" y="0"/>
                  </a:lnTo>
                  <a:close/>
                </a:path>
                <a:path w="553720" h="43814">
                  <a:moveTo>
                    <a:pt x="7906" y="3956"/>
                  </a:moveTo>
                  <a:lnTo>
                    <a:pt x="3953" y="7913"/>
                  </a:lnTo>
                  <a:lnTo>
                    <a:pt x="7906" y="7913"/>
                  </a:lnTo>
                  <a:lnTo>
                    <a:pt x="7906" y="3956"/>
                  </a:lnTo>
                  <a:close/>
                </a:path>
                <a:path w="553720" h="43814">
                  <a:moveTo>
                    <a:pt x="237207" y="3956"/>
                  </a:moveTo>
                  <a:lnTo>
                    <a:pt x="7906" y="3956"/>
                  </a:lnTo>
                  <a:lnTo>
                    <a:pt x="7906" y="7913"/>
                  </a:lnTo>
                  <a:lnTo>
                    <a:pt x="237207" y="7913"/>
                  </a:lnTo>
                  <a:lnTo>
                    <a:pt x="237207" y="3956"/>
                  </a:lnTo>
                  <a:close/>
                </a:path>
                <a:path w="553720" h="43814">
                  <a:moveTo>
                    <a:pt x="245114" y="3956"/>
                  </a:moveTo>
                  <a:lnTo>
                    <a:pt x="237207" y="3956"/>
                  </a:lnTo>
                  <a:lnTo>
                    <a:pt x="241160" y="7913"/>
                  </a:lnTo>
                  <a:lnTo>
                    <a:pt x="245114" y="7913"/>
                  </a:lnTo>
                  <a:lnTo>
                    <a:pt x="245114" y="3956"/>
                  </a:lnTo>
                  <a:close/>
                </a:path>
                <a:path w="553720" h="43814">
                  <a:moveTo>
                    <a:pt x="316276" y="3956"/>
                  </a:moveTo>
                  <a:lnTo>
                    <a:pt x="312322" y="7913"/>
                  </a:lnTo>
                  <a:lnTo>
                    <a:pt x="316276" y="7913"/>
                  </a:lnTo>
                  <a:lnTo>
                    <a:pt x="316276" y="3956"/>
                  </a:lnTo>
                  <a:close/>
                </a:path>
                <a:path w="553720" h="43814">
                  <a:moveTo>
                    <a:pt x="545576" y="3956"/>
                  </a:moveTo>
                  <a:lnTo>
                    <a:pt x="316276" y="3956"/>
                  </a:lnTo>
                  <a:lnTo>
                    <a:pt x="316276" y="7913"/>
                  </a:lnTo>
                  <a:lnTo>
                    <a:pt x="545576" y="7913"/>
                  </a:lnTo>
                  <a:lnTo>
                    <a:pt x="545576" y="3956"/>
                  </a:lnTo>
                  <a:close/>
                </a:path>
                <a:path w="553720" h="43814">
                  <a:moveTo>
                    <a:pt x="553483" y="3956"/>
                  </a:moveTo>
                  <a:lnTo>
                    <a:pt x="545576" y="3956"/>
                  </a:lnTo>
                  <a:lnTo>
                    <a:pt x="549530" y="7913"/>
                  </a:lnTo>
                  <a:lnTo>
                    <a:pt x="553483" y="7913"/>
                  </a:lnTo>
                  <a:lnTo>
                    <a:pt x="553483" y="3956"/>
                  </a:lnTo>
                  <a:close/>
                </a:path>
              </a:pathLst>
            </a:custGeom>
            <a:solidFill>
              <a:srgbClr val="383838"/>
            </a:solidFill>
          </p:spPr>
          <p:txBody>
            <a:bodyPr wrap="square" lIns="0" tIns="0" rIns="0" bIns="0" rtlCol="0"/>
            <a:lstStyle/>
            <a:p>
              <a:endParaRPr sz="2400"/>
            </a:p>
          </p:txBody>
        </p:sp>
      </p:grpSp>
      <p:pic>
        <p:nvPicPr>
          <p:cNvPr id="15" name="object 15"/>
          <p:cNvPicPr/>
          <p:nvPr/>
        </p:nvPicPr>
        <p:blipFill>
          <a:blip r:embed="rId5" cstate="print"/>
          <a:stretch>
            <a:fillRect/>
          </a:stretch>
        </p:blipFill>
        <p:spPr>
          <a:xfrm>
            <a:off x="5777861" y="3224904"/>
            <a:ext cx="596171" cy="482600"/>
          </a:xfrm>
          <a:prstGeom prst="rect">
            <a:avLst/>
          </a:prstGeom>
        </p:spPr>
      </p:pic>
      <p:sp>
        <p:nvSpPr>
          <p:cNvPr id="16" name="object 16"/>
          <p:cNvSpPr txBox="1"/>
          <p:nvPr/>
        </p:nvSpPr>
        <p:spPr>
          <a:xfrm>
            <a:off x="2035726" y="3014809"/>
            <a:ext cx="3443393" cy="1330278"/>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Shopping</a:t>
            </a:r>
            <a:r>
              <a:rPr sz="2400" b="1" spc="-40" dirty="0">
                <a:solidFill>
                  <a:srgbClr val="D9D9D9"/>
                </a:solidFill>
                <a:latin typeface="Calibri"/>
                <a:cs typeface="Calibri"/>
              </a:rPr>
              <a:t> </a:t>
            </a:r>
            <a:r>
              <a:rPr sz="2400" b="1" dirty="0">
                <a:solidFill>
                  <a:srgbClr val="D9D9D9"/>
                </a:solidFill>
                <a:latin typeface="Calibri"/>
                <a:cs typeface="Calibri"/>
              </a:rPr>
              <a:t>cart</a:t>
            </a:r>
            <a:r>
              <a:rPr sz="2400" b="1" spc="-7" dirty="0">
                <a:solidFill>
                  <a:srgbClr val="D9D9D9"/>
                </a:solidFill>
                <a:latin typeface="Calibri"/>
                <a:cs typeface="Calibri"/>
              </a:rPr>
              <a:t> </a:t>
            </a:r>
            <a:r>
              <a:rPr sz="2400" b="1" dirty="0">
                <a:solidFill>
                  <a:srgbClr val="D9D9D9"/>
                </a:solidFill>
                <a:latin typeface="Calibri"/>
                <a:cs typeface="Calibri"/>
              </a:rPr>
              <a:t>check</a:t>
            </a:r>
            <a:r>
              <a:rPr sz="2400" b="1" spc="-53" dirty="0">
                <a:solidFill>
                  <a:srgbClr val="D9D9D9"/>
                </a:solidFill>
                <a:latin typeface="Calibri"/>
                <a:cs typeface="Calibri"/>
              </a:rPr>
              <a:t> </a:t>
            </a:r>
            <a:r>
              <a:rPr sz="2400" b="1" spc="-33" dirty="0">
                <a:solidFill>
                  <a:srgbClr val="D9D9D9"/>
                </a:solidFill>
                <a:latin typeface="Calibri"/>
                <a:cs typeface="Calibri"/>
              </a:rPr>
              <a:t>out</a:t>
            </a:r>
            <a:endParaRPr sz="2400">
              <a:latin typeface="Calibri"/>
              <a:cs typeface="Calibri"/>
            </a:endParaRPr>
          </a:p>
          <a:p>
            <a:pPr>
              <a:spcBef>
                <a:spcPts val="1580"/>
              </a:spcBef>
              <a:buClr>
                <a:srgbClr val="99D3FF"/>
              </a:buClr>
              <a:buFont typeface="Wingdings"/>
              <a:buChar char=""/>
            </a:pPr>
            <a:endParaRPr sz="2400">
              <a:latin typeface="Calibri"/>
              <a:cs typeface="Calibri"/>
            </a:endParaRPr>
          </a:p>
          <a:p>
            <a:pPr marL="398770" indent="-381837">
              <a:buClr>
                <a:srgbClr val="99D3FF"/>
              </a:buClr>
              <a:buFont typeface="Wingdings"/>
              <a:buChar char=""/>
              <a:tabLst>
                <a:tab pos="398770" algn="l"/>
              </a:tabLst>
            </a:pPr>
            <a:r>
              <a:rPr sz="2400" b="1" dirty="0">
                <a:solidFill>
                  <a:srgbClr val="D9D9D9"/>
                </a:solidFill>
                <a:latin typeface="Calibri"/>
                <a:cs typeface="Calibri"/>
              </a:rPr>
              <a:t>Warehouse</a:t>
            </a:r>
            <a:r>
              <a:rPr sz="2400" b="1" spc="-93" dirty="0">
                <a:solidFill>
                  <a:srgbClr val="D9D9D9"/>
                </a:solidFill>
                <a:latin typeface="Calibri"/>
                <a:cs typeface="Calibri"/>
              </a:rPr>
              <a:t> </a:t>
            </a:r>
            <a:r>
              <a:rPr sz="2400" b="1" spc="-27" dirty="0">
                <a:solidFill>
                  <a:srgbClr val="D9D9D9"/>
                </a:solidFill>
                <a:latin typeface="Calibri"/>
                <a:cs typeface="Calibri"/>
              </a:rPr>
              <a:t>data</a:t>
            </a:r>
            <a:endParaRPr sz="2400">
              <a:latin typeface="Calibri"/>
              <a:cs typeface="Calibri"/>
            </a:endParaRPr>
          </a:p>
        </p:txBody>
      </p:sp>
      <p:pic>
        <p:nvPicPr>
          <p:cNvPr id="17" name="object 17"/>
          <p:cNvPicPr/>
          <p:nvPr/>
        </p:nvPicPr>
        <p:blipFill>
          <a:blip r:embed="rId6" cstate="print"/>
          <a:stretch>
            <a:fillRect/>
          </a:stretch>
        </p:blipFill>
        <p:spPr>
          <a:xfrm>
            <a:off x="609600" y="5407152"/>
            <a:ext cx="11283696" cy="829056"/>
          </a:xfrm>
          <a:prstGeom prst="rect">
            <a:avLst/>
          </a:prstGeom>
        </p:spPr>
      </p:pic>
      <p:pic>
        <p:nvPicPr>
          <p:cNvPr id="18" name="object 18"/>
          <p:cNvPicPr/>
          <p:nvPr/>
        </p:nvPicPr>
        <p:blipFill>
          <a:blip r:embed="rId7" cstate="print"/>
          <a:stretch>
            <a:fillRect/>
          </a:stretch>
        </p:blipFill>
        <p:spPr>
          <a:xfrm>
            <a:off x="9215120" y="1312213"/>
            <a:ext cx="2264576" cy="3871420"/>
          </a:xfrm>
          <a:prstGeom prst="rect">
            <a:avLst/>
          </a:prstGeom>
        </p:spPr>
      </p:pic>
      <p:sp>
        <p:nvSpPr>
          <p:cNvPr id="21" name="object 2">
            <a:extLst>
              <a:ext uri="{FF2B5EF4-FFF2-40B4-BE49-F238E27FC236}">
                <a16:creationId xmlns:a16="http://schemas.microsoft.com/office/drawing/2014/main" id="{2F23395E-2D29-DA24-EA18-9F5A3D711B57}"/>
              </a:ext>
            </a:extLst>
          </p:cNvPr>
          <p:cNvSpPr txBox="1">
            <a:spLocks noGrp="1"/>
          </p:cNvSpPr>
          <p:nvPr>
            <p:ph type="title"/>
          </p:nvPr>
        </p:nvSpPr>
        <p:spPr>
          <a:xfrm>
            <a:off x="1952751" y="101135"/>
            <a:ext cx="6870191" cy="695062"/>
          </a:xfrm>
          <a:prstGeom prst="rect">
            <a:avLst/>
          </a:prstGeom>
        </p:spPr>
        <p:txBody>
          <a:bodyPr vert="horz" wrap="square" lIns="0" tIns="17780" rIns="0" bIns="0" rtlCol="0" anchor="ctr">
            <a:spAutoFit/>
          </a:bodyPr>
          <a:lstStyle/>
          <a:p>
            <a:pPr marL="969409">
              <a:lnSpc>
                <a:spcPct val="100000"/>
              </a:lnSpc>
              <a:spcBef>
                <a:spcPts val="140"/>
              </a:spcBef>
            </a:pPr>
            <a:r>
              <a:rPr dirty="0">
                <a:solidFill>
                  <a:schemeClr val="bg1"/>
                </a:solidFill>
                <a:latin typeface="+mn-lt"/>
              </a:rPr>
              <a:t>Case</a:t>
            </a:r>
            <a:r>
              <a:rPr spc="-67" dirty="0">
                <a:solidFill>
                  <a:schemeClr val="bg1"/>
                </a:solidFill>
                <a:latin typeface="+mn-lt"/>
              </a:rPr>
              <a:t> </a:t>
            </a:r>
            <a:r>
              <a:rPr dirty="0">
                <a:solidFill>
                  <a:schemeClr val="bg1"/>
                </a:solidFill>
                <a:latin typeface="+mn-lt"/>
              </a:rPr>
              <a:t>study:</a:t>
            </a:r>
            <a:r>
              <a:rPr spc="-40" dirty="0">
                <a:solidFill>
                  <a:schemeClr val="bg1"/>
                </a:solidFill>
                <a:latin typeface="+mn-lt"/>
              </a:rPr>
              <a:t> </a:t>
            </a:r>
            <a:r>
              <a:rPr spc="-13" dirty="0">
                <a:solidFill>
                  <a:schemeClr val="bg1"/>
                </a:solidFill>
                <a:latin typeface="+mn-lt"/>
              </a:rPr>
              <a:t>E-Commerce</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84211" y="120827"/>
            <a:ext cx="7741920" cy="695062"/>
          </a:xfrm>
          <a:prstGeom prst="rect">
            <a:avLst/>
          </a:prstGeom>
        </p:spPr>
        <p:txBody>
          <a:bodyPr vert="horz" wrap="square" lIns="0" tIns="17780" rIns="0" bIns="0" rtlCol="0" anchor="ctr">
            <a:spAutoFit/>
          </a:bodyPr>
          <a:lstStyle/>
          <a:p>
            <a:pPr marL="969409">
              <a:lnSpc>
                <a:spcPct val="100000"/>
              </a:lnSpc>
              <a:spcBef>
                <a:spcPts val="140"/>
              </a:spcBef>
            </a:pPr>
            <a:r>
              <a:rPr dirty="0">
                <a:solidFill>
                  <a:schemeClr val="bg1"/>
                </a:solidFill>
                <a:latin typeface="+mn-lt"/>
              </a:rPr>
              <a:t>Case</a:t>
            </a:r>
            <a:r>
              <a:rPr spc="-67" dirty="0">
                <a:solidFill>
                  <a:schemeClr val="bg1"/>
                </a:solidFill>
                <a:latin typeface="+mn-lt"/>
              </a:rPr>
              <a:t> </a:t>
            </a:r>
            <a:r>
              <a:rPr dirty="0">
                <a:solidFill>
                  <a:schemeClr val="bg1"/>
                </a:solidFill>
                <a:latin typeface="+mn-lt"/>
              </a:rPr>
              <a:t>study:</a:t>
            </a:r>
            <a:r>
              <a:rPr spc="-40" dirty="0">
                <a:solidFill>
                  <a:schemeClr val="bg1"/>
                </a:solidFill>
                <a:latin typeface="+mn-lt"/>
              </a:rPr>
              <a:t> </a:t>
            </a:r>
            <a:r>
              <a:rPr spc="-13" dirty="0">
                <a:solidFill>
                  <a:schemeClr val="bg1"/>
                </a:solidFill>
                <a:latin typeface="+mn-lt"/>
              </a:rPr>
              <a:t>E-Commerce</a:t>
            </a:r>
          </a:p>
        </p:txBody>
      </p:sp>
      <p:grpSp>
        <p:nvGrpSpPr>
          <p:cNvPr id="3" name="object 3"/>
          <p:cNvGrpSpPr/>
          <p:nvPr/>
        </p:nvGrpSpPr>
        <p:grpSpPr>
          <a:xfrm>
            <a:off x="1190751" y="1330926"/>
            <a:ext cx="4197096" cy="1616489"/>
            <a:chOff x="893063" y="998194"/>
            <a:chExt cx="3147822" cy="1212367"/>
          </a:xfrm>
        </p:grpSpPr>
        <p:pic>
          <p:nvPicPr>
            <p:cNvPr id="4" name="object 4"/>
            <p:cNvPicPr/>
            <p:nvPr/>
          </p:nvPicPr>
          <p:blipFill>
            <a:blip r:embed="rId2" cstate="print"/>
            <a:stretch>
              <a:fillRect/>
            </a:stretch>
          </p:blipFill>
          <p:spPr>
            <a:xfrm>
              <a:off x="893063" y="998194"/>
              <a:ext cx="3147822" cy="1212367"/>
            </a:xfrm>
            <a:prstGeom prst="rect">
              <a:avLst/>
            </a:prstGeom>
          </p:spPr>
        </p:pic>
        <p:sp>
          <p:nvSpPr>
            <p:cNvPr id="6" name="object 6"/>
            <p:cNvSpPr/>
            <p:nvPr/>
          </p:nvSpPr>
          <p:spPr>
            <a:xfrm>
              <a:off x="1219961" y="1152905"/>
              <a:ext cx="2514600" cy="581025"/>
            </a:xfrm>
            <a:custGeom>
              <a:avLst/>
              <a:gdLst/>
              <a:ahLst/>
              <a:cxnLst/>
              <a:rect l="l" t="t" r="r" b="b"/>
              <a:pathLst>
                <a:path w="2514600" h="581025">
                  <a:moveTo>
                    <a:pt x="0" y="290322"/>
                  </a:moveTo>
                  <a:lnTo>
                    <a:pt x="145160" y="0"/>
                  </a:lnTo>
                  <a:lnTo>
                    <a:pt x="2369439" y="0"/>
                  </a:lnTo>
                  <a:lnTo>
                    <a:pt x="2514600" y="290322"/>
                  </a:lnTo>
                  <a:lnTo>
                    <a:pt x="2369439" y="580644"/>
                  </a:lnTo>
                  <a:lnTo>
                    <a:pt x="145160" y="580644"/>
                  </a:lnTo>
                  <a:lnTo>
                    <a:pt x="0" y="290322"/>
                  </a:lnTo>
                  <a:close/>
                </a:path>
              </a:pathLst>
            </a:custGeom>
            <a:ln w="19812">
              <a:solidFill>
                <a:srgbClr val="00C3FF"/>
              </a:solidFill>
            </a:ln>
          </p:spPr>
          <p:txBody>
            <a:bodyPr wrap="square" lIns="0" tIns="0" rIns="0" bIns="0" rtlCol="0"/>
            <a:lstStyle/>
            <a:p>
              <a:endParaRPr sz="2400"/>
            </a:p>
          </p:txBody>
        </p:sp>
      </p:grpSp>
      <p:sp>
        <p:nvSpPr>
          <p:cNvPr id="7" name="object 7"/>
          <p:cNvSpPr txBox="1"/>
          <p:nvPr/>
        </p:nvSpPr>
        <p:spPr>
          <a:xfrm>
            <a:off x="2895260" y="1682666"/>
            <a:ext cx="817880" cy="428387"/>
          </a:xfrm>
          <a:prstGeom prst="rect">
            <a:avLst/>
          </a:prstGeom>
        </p:spPr>
        <p:txBody>
          <a:bodyPr vert="horz" wrap="square" lIns="0" tIns="17780" rIns="0" bIns="0" rtlCol="0">
            <a:spAutoFit/>
          </a:bodyPr>
          <a:lstStyle/>
          <a:p>
            <a:pPr marL="16933">
              <a:spcBef>
                <a:spcPts val="140"/>
              </a:spcBef>
            </a:pPr>
            <a:r>
              <a:rPr sz="2667" b="1" spc="-13" dirty="0">
                <a:solidFill>
                  <a:srgbClr val="CCEAFF"/>
                </a:solidFill>
                <a:latin typeface="Calibri"/>
                <a:cs typeface="Calibri"/>
              </a:rPr>
              <a:t>Goals</a:t>
            </a:r>
            <a:endParaRPr sz="2667">
              <a:latin typeface="Calibri"/>
              <a:cs typeface="Calibri"/>
            </a:endParaRPr>
          </a:p>
        </p:txBody>
      </p:sp>
      <p:pic>
        <p:nvPicPr>
          <p:cNvPr id="8" name="object 8"/>
          <p:cNvPicPr/>
          <p:nvPr/>
        </p:nvPicPr>
        <p:blipFill>
          <a:blip r:embed="rId3" cstate="print"/>
          <a:stretch>
            <a:fillRect/>
          </a:stretch>
        </p:blipFill>
        <p:spPr>
          <a:xfrm>
            <a:off x="7525270" y="1246260"/>
            <a:ext cx="716804" cy="580813"/>
          </a:xfrm>
          <a:prstGeom prst="rect">
            <a:avLst/>
          </a:prstGeom>
        </p:spPr>
      </p:pic>
      <p:pic>
        <p:nvPicPr>
          <p:cNvPr id="9" name="object 9"/>
          <p:cNvPicPr/>
          <p:nvPr/>
        </p:nvPicPr>
        <p:blipFill>
          <a:blip r:embed="rId4" cstate="print"/>
          <a:stretch>
            <a:fillRect/>
          </a:stretch>
        </p:blipFill>
        <p:spPr>
          <a:xfrm>
            <a:off x="6327285" y="1312212"/>
            <a:ext cx="894160" cy="549741"/>
          </a:xfrm>
          <a:prstGeom prst="rect">
            <a:avLst/>
          </a:prstGeom>
        </p:spPr>
      </p:pic>
      <p:grpSp>
        <p:nvGrpSpPr>
          <p:cNvPr id="10" name="object 10"/>
          <p:cNvGrpSpPr/>
          <p:nvPr/>
        </p:nvGrpSpPr>
        <p:grpSpPr>
          <a:xfrm>
            <a:off x="5728424" y="2607499"/>
            <a:ext cx="738293" cy="453813"/>
            <a:chOff x="4296318" y="1955624"/>
            <a:chExt cx="553720" cy="340360"/>
          </a:xfrm>
        </p:grpSpPr>
        <p:sp>
          <p:nvSpPr>
            <p:cNvPr id="11" name="object 11"/>
            <p:cNvSpPr/>
            <p:nvPr/>
          </p:nvSpPr>
          <p:spPr>
            <a:xfrm>
              <a:off x="4371176" y="1959344"/>
              <a:ext cx="403860" cy="273050"/>
            </a:xfrm>
            <a:custGeom>
              <a:avLst/>
              <a:gdLst/>
              <a:ahLst/>
              <a:cxnLst/>
              <a:rect l="l" t="t" r="r" b="b"/>
              <a:pathLst>
                <a:path w="403860" h="273050">
                  <a:moveTo>
                    <a:pt x="379531" y="0"/>
                  </a:moveTo>
                  <a:lnTo>
                    <a:pt x="23720" y="0"/>
                  </a:lnTo>
                  <a:lnTo>
                    <a:pt x="14510" y="1873"/>
                  </a:lnTo>
                  <a:lnTo>
                    <a:pt x="6967" y="6973"/>
                  </a:lnTo>
                  <a:lnTo>
                    <a:pt x="1871" y="14522"/>
                  </a:lnTo>
                  <a:lnTo>
                    <a:pt x="0" y="23741"/>
                  </a:lnTo>
                  <a:lnTo>
                    <a:pt x="0" y="273022"/>
                  </a:lnTo>
                  <a:lnTo>
                    <a:pt x="403252" y="273022"/>
                  </a:lnTo>
                  <a:lnTo>
                    <a:pt x="403252" y="237410"/>
                  </a:lnTo>
                  <a:lnTo>
                    <a:pt x="35581" y="237410"/>
                  </a:lnTo>
                  <a:lnTo>
                    <a:pt x="35581" y="35611"/>
                  </a:lnTo>
                  <a:lnTo>
                    <a:pt x="403252" y="35611"/>
                  </a:lnTo>
                  <a:lnTo>
                    <a:pt x="403252" y="23741"/>
                  </a:lnTo>
                  <a:lnTo>
                    <a:pt x="401380" y="14522"/>
                  </a:lnTo>
                  <a:lnTo>
                    <a:pt x="396284" y="6973"/>
                  </a:lnTo>
                  <a:lnTo>
                    <a:pt x="388741" y="1873"/>
                  </a:lnTo>
                  <a:lnTo>
                    <a:pt x="379531" y="0"/>
                  </a:lnTo>
                  <a:close/>
                </a:path>
                <a:path w="403860" h="273050">
                  <a:moveTo>
                    <a:pt x="403252" y="35611"/>
                  </a:moveTo>
                  <a:lnTo>
                    <a:pt x="367671" y="35611"/>
                  </a:lnTo>
                  <a:lnTo>
                    <a:pt x="367671" y="237410"/>
                  </a:lnTo>
                  <a:lnTo>
                    <a:pt x="403252" y="237410"/>
                  </a:lnTo>
                  <a:lnTo>
                    <a:pt x="403252" y="35611"/>
                  </a:lnTo>
                  <a:close/>
                </a:path>
              </a:pathLst>
            </a:custGeom>
            <a:solidFill>
              <a:srgbClr val="FFFFFF"/>
            </a:solidFill>
          </p:spPr>
          <p:txBody>
            <a:bodyPr wrap="square" lIns="0" tIns="0" rIns="0" bIns="0" rtlCol="0"/>
            <a:lstStyle/>
            <a:p>
              <a:endParaRPr sz="2400"/>
            </a:p>
          </p:txBody>
        </p:sp>
        <p:sp>
          <p:nvSpPr>
            <p:cNvPr id="12" name="object 12"/>
            <p:cNvSpPr/>
            <p:nvPr/>
          </p:nvSpPr>
          <p:spPr>
            <a:xfrm>
              <a:off x="4367480" y="1955624"/>
              <a:ext cx="411480" cy="281305"/>
            </a:xfrm>
            <a:custGeom>
              <a:avLst/>
              <a:gdLst/>
              <a:ahLst/>
              <a:cxnLst/>
              <a:rect l="l" t="t" r="r" b="b"/>
              <a:pathLst>
                <a:path w="411479" h="281305">
                  <a:moveTo>
                    <a:pt x="383875" y="0"/>
                  </a:moveTo>
                  <a:lnTo>
                    <a:pt x="27283" y="0"/>
                  </a:lnTo>
                  <a:lnTo>
                    <a:pt x="16821" y="2092"/>
                  </a:lnTo>
                  <a:lnTo>
                    <a:pt x="8158" y="8160"/>
                  </a:lnTo>
                  <a:lnTo>
                    <a:pt x="2090" y="16831"/>
                  </a:lnTo>
                  <a:lnTo>
                    <a:pt x="0" y="27307"/>
                  </a:lnTo>
                  <a:lnTo>
                    <a:pt x="0" y="280936"/>
                  </a:lnTo>
                  <a:lnTo>
                    <a:pt x="411159" y="280936"/>
                  </a:lnTo>
                  <a:lnTo>
                    <a:pt x="411159" y="276979"/>
                  </a:lnTo>
                  <a:lnTo>
                    <a:pt x="7907" y="276979"/>
                  </a:lnTo>
                  <a:lnTo>
                    <a:pt x="3953" y="273022"/>
                  </a:lnTo>
                  <a:lnTo>
                    <a:pt x="7907" y="273022"/>
                  </a:lnTo>
                  <a:lnTo>
                    <a:pt x="7906" y="27697"/>
                  </a:lnTo>
                  <a:lnTo>
                    <a:pt x="8061" y="27307"/>
                  </a:lnTo>
                  <a:lnTo>
                    <a:pt x="9382" y="20694"/>
                  </a:lnTo>
                  <a:lnTo>
                    <a:pt x="9043" y="20694"/>
                  </a:lnTo>
                  <a:lnTo>
                    <a:pt x="9681" y="19200"/>
                  </a:lnTo>
                  <a:lnTo>
                    <a:pt x="10088" y="19200"/>
                  </a:lnTo>
                  <a:lnTo>
                    <a:pt x="13554" y="14244"/>
                  </a:lnTo>
                  <a:lnTo>
                    <a:pt x="13263" y="14244"/>
                  </a:lnTo>
                  <a:lnTo>
                    <a:pt x="14232" y="13275"/>
                  </a:lnTo>
                  <a:lnTo>
                    <a:pt x="14647" y="13275"/>
                  </a:lnTo>
                  <a:lnTo>
                    <a:pt x="19765" y="9689"/>
                  </a:lnTo>
                  <a:lnTo>
                    <a:pt x="19184" y="9689"/>
                  </a:lnTo>
                  <a:lnTo>
                    <a:pt x="20676" y="9051"/>
                  </a:lnTo>
                  <a:lnTo>
                    <a:pt x="22371" y="9051"/>
                  </a:lnTo>
                  <a:lnTo>
                    <a:pt x="28054" y="7913"/>
                  </a:lnTo>
                  <a:lnTo>
                    <a:pt x="402647" y="7913"/>
                  </a:lnTo>
                  <a:lnTo>
                    <a:pt x="394337" y="2092"/>
                  </a:lnTo>
                  <a:lnTo>
                    <a:pt x="383875" y="0"/>
                  </a:lnTo>
                  <a:close/>
                </a:path>
                <a:path w="411479" h="281305">
                  <a:moveTo>
                    <a:pt x="7907" y="273022"/>
                  </a:moveTo>
                  <a:lnTo>
                    <a:pt x="3953" y="273022"/>
                  </a:lnTo>
                  <a:lnTo>
                    <a:pt x="7907" y="276979"/>
                  </a:lnTo>
                  <a:lnTo>
                    <a:pt x="7907" y="273022"/>
                  </a:lnTo>
                  <a:close/>
                </a:path>
                <a:path w="411479" h="281305">
                  <a:moveTo>
                    <a:pt x="403252" y="273022"/>
                  </a:moveTo>
                  <a:lnTo>
                    <a:pt x="7907" y="273022"/>
                  </a:lnTo>
                  <a:lnTo>
                    <a:pt x="7907" y="276979"/>
                  </a:lnTo>
                  <a:lnTo>
                    <a:pt x="403252" y="276979"/>
                  </a:lnTo>
                  <a:lnTo>
                    <a:pt x="403252" y="273022"/>
                  </a:lnTo>
                  <a:close/>
                </a:path>
                <a:path w="411479" h="281305">
                  <a:moveTo>
                    <a:pt x="401641" y="20015"/>
                  </a:moveTo>
                  <a:lnTo>
                    <a:pt x="403098" y="27307"/>
                  </a:lnTo>
                  <a:lnTo>
                    <a:pt x="403252" y="27697"/>
                  </a:lnTo>
                  <a:lnTo>
                    <a:pt x="403252" y="276979"/>
                  </a:lnTo>
                  <a:lnTo>
                    <a:pt x="407205" y="273022"/>
                  </a:lnTo>
                  <a:lnTo>
                    <a:pt x="411159" y="273022"/>
                  </a:lnTo>
                  <a:lnTo>
                    <a:pt x="411159" y="27307"/>
                  </a:lnTo>
                  <a:lnTo>
                    <a:pt x="409839" y="20694"/>
                  </a:lnTo>
                  <a:lnTo>
                    <a:pt x="402115" y="20694"/>
                  </a:lnTo>
                  <a:lnTo>
                    <a:pt x="401641" y="20015"/>
                  </a:lnTo>
                  <a:close/>
                </a:path>
                <a:path w="411479" h="281305">
                  <a:moveTo>
                    <a:pt x="411159" y="273022"/>
                  </a:moveTo>
                  <a:lnTo>
                    <a:pt x="407205" y="273022"/>
                  </a:lnTo>
                  <a:lnTo>
                    <a:pt x="403252" y="276979"/>
                  </a:lnTo>
                  <a:lnTo>
                    <a:pt x="411159" y="276979"/>
                  </a:lnTo>
                  <a:lnTo>
                    <a:pt x="411159" y="273022"/>
                  </a:lnTo>
                  <a:close/>
                </a:path>
                <a:path w="411479" h="281305">
                  <a:moveTo>
                    <a:pt x="375578" y="35611"/>
                  </a:moveTo>
                  <a:lnTo>
                    <a:pt x="35581" y="35611"/>
                  </a:lnTo>
                  <a:lnTo>
                    <a:pt x="35581" y="245324"/>
                  </a:lnTo>
                  <a:lnTo>
                    <a:pt x="375578" y="245324"/>
                  </a:lnTo>
                  <a:lnTo>
                    <a:pt x="375578" y="241367"/>
                  </a:lnTo>
                  <a:lnTo>
                    <a:pt x="43488" y="241367"/>
                  </a:lnTo>
                  <a:lnTo>
                    <a:pt x="39534" y="237410"/>
                  </a:lnTo>
                  <a:lnTo>
                    <a:pt x="43488" y="237410"/>
                  </a:lnTo>
                  <a:lnTo>
                    <a:pt x="43488" y="43525"/>
                  </a:lnTo>
                  <a:lnTo>
                    <a:pt x="39534" y="43525"/>
                  </a:lnTo>
                  <a:lnTo>
                    <a:pt x="43487" y="39568"/>
                  </a:lnTo>
                  <a:lnTo>
                    <a:pt x="375578" y="39568"/>
                  </a:lnTo>
                  <a:lnTo>
                    <a:pt x="375578" y="35611"/>
                  </a:lnTo>
                  <a:close/>
                </a:path>
                <a:path w="411479" h="281305">
                  <a:moveTo>
                    <a:pt x="43488" y="237410"/>
                  </a:moveTo>
                  <a:lnTo>
                    <a:pt x="39534" y="237410"/>
                  </a:lnTo>
                  <a:lnTo>
                    <a:pt x="43488" y="241367"/>
                  </a:lnTo>
                  <a:lnTo>
                    <a:pt x="43488" y="237410"/>
                  </a:lnTo>
                  <a:close/>
                </a:path>
                <a:path w="411479" h="281305">
                  <a:moveTo>
                    <a:pt x="367671" y="237410"/>
                  </a:moveTo>
                  <a:lnTo>
                    <a:pt x="43488" y="237410"/>
                  </a:lnTo>
                  <a:lnTo>
                    <a:pt x="43488" y="241367"/>
                  </a:lnTo>
                  <a:lnTo>
                    <a:pt x="367671" y="241367"/>
                  </a:lnTo>
                  <a:lnTo>
                    <a:pt x="367671" y="237410"/>
                  </a:lnTo>
                  <a:close/>
                </a:path>
                <a:path w="411479" h="281305">
                  <a:moveTo>
                    <a:pt x="367671" y="39568"/>
                  </a:moveTo>
                  <a:lnTo>
                    <a:pt x="367671" y="241367"/>
                  </a:lnTo>
                  <a:lnTo>
                    <a:pt x="371624" y="237410"/>
                  </a:lnTo>
                  <a:lnTo>
                    <a:pt x="375578" y="237410"/>
                  </a:lnTo>
                  <a:lnTo>
                    <a:pt x="375578" y="43525"/>
                  </a:lnTo>
                  <a:lnTo>
                    <a:pt x="371624" y="43525"/>
                  </a:lnTo>
                  <a:lnTo>
                    <a:pt x="367671" y="39568"/>
                  </a:lnTo>
                  <a:close/>
                </a:path>
                <a:path w="411479" h="281305">
                  <a:moveTo>
                    <a:pt x="375578" y="237410"/>
                  </a:moveTo>
                  <a:lnTo>
                    <a:pt x="371624" y="237410"/>
                  </a:lnTo>
                  <a:lnTo>
                    <a:pt x="367671" y="241367"/>
                  </a:lnTo>
                  <a:lnTo>
                    <a:pt x="375578" y="241367"/>
                  </a:lnTo>
                  <a:lnTo>
                    <a:pt x="375578" y="237410"/>
                  </a:lnTo>
                  <a:close/>
                </a:path>
                <a:path w="411479" h="281305">
                  <a:moveTo>
                    <a:pt x="43487" y="39568"/>
                  </a:moveTo>
                  <a:lnTo>
                    <a:pt x="39534" y="43525"/>
                  </a:lnTo>
                  <a:lnTo>
                    <a:pt x="43488" y="43525"/>
                  </a:lnTo>
                  <a:lnTo>
                    <a:pt x="43487" y="39568"/>
                  </a:lnTo>
                  <a:close/>
                </a:path>
                <a:path w="411479" h="281305">
                  <a:moveTo>
                    <a:pt x="367671" y="39568"/>
                  </a:moveTo>
                  <a:lnTo>
                    <a:pt x="43487" y="39568"/>
                  </a:lnTo>
                  <a:lnTo>
                    <a:pt x="43488" y="43525"/>
                  </a:lnTo>
                  <a:lnTo>
                    <a:pt x="367671" y="43525"/>
                  </a:lnTo>
                  <a:lnTo>
                    <a:pt x="367671" y="39568"/>
                  </a:lnTo>
                  <a:close/>
                </a:path>
                <a:path w="411479" h="281305">
                  <a:moveTo>
                    <a:pt x="375578" y="39568"/>
                  </a:moveTo>
                  <a:lnTo>
                    <a:pt x="367671" y="39568"/>
                  </a:lnTo>
                  <a:lnTo>
                    <a:pt x="371624" y="43525"/>
                  </a:lnTo>
                  <a:lnTo>
                    <a:pt x="375578" y="43525"/>
                  </a:lnTo>
                  <a:lnTo>
                    <a:pt x="375578" y="39568"/>
                  </a:lnTo>
                  <a:close/>
                </a:path>
                <a:path w="411479" h="281305">
                  <a:moveTo>
                    <a:pt x="9681" y="19200"/>
                  </a:moveTo>
                  <a:lnTo>
                    <a:pt x="9043" y="20694"/>
                  </a:lnTo>
                  <a:lnTo>
                    <a:pt x="9518" y="20015"/>
                  </a:lnTo>
                  <a:lnTo>
                    <a:pt x="9681" y="19200"/>
                  </a:lnTo>
                  <a:close/>
                </a:path>
                <a:path w="411479" h="281305">
                  <a:moveTo>
                    <a:pt x="9518" y="20015"/>
                  </a:moveTo>
                  <a:lnTo>
                    <a:pt x="9043" y="20694"/>
                  </a:lnTo>
                  <a:lnTo>
                    <a:pt x="9382" y="20694"/>
                  </a:lnTo>
                  <a:lnTo>
                    <a:pt x="9518" y="20015"/>
                  </a:lnTo>
                  <a:close/>
                </a:path>
                <a:path w="411479" h="281305">
                  <a:moveTo>
                    <a:pt x="401478" y="19200"/>
                  </a:moveTo>
                  <a:lnTo>
                    <a:pt x="401641" y="20015"/>
                  </a:lnTo>
                  <a:lnTo>
                    <a:pt x="402115" y="20694"/>
                  </a:lnTo>
                  <a:lnTo>
                    <a:pt x="401478" y="19200"/>
                  </a:lnTo>
                  <a:close/>
                </a:path>
                <a:path w="411479" h="281305">
                  <a:moveTo>
                    <a:pt x="409541" y="19200"/>
                  </a:moveTo>
                  <a:lnTo>
                    <a:pt x="401478" y="19200"/>
                  </a:lnTo>
                  <a:lnTo>
                    <a:pt x="402115" y="20694"/>
                  </a:lnTo>
                  <a:lnTo>
                    <a:pt x="409839" y="20694"/>
                  </a:lnTo>
                  <a:lnTo>
                    <a:pt x="409541" y="19200"/>
                  </a:lnTo>
                  <a:close/>
                </a:path>
                <a:path w="411479" h="281305">
                  <a:moveTo>
                    <a:pt x="10088" y="19200"/>
                  </a:moveTo>
                  <a:lnTo>
                    <a:pt x="9681" y="19200"/>
                  </a:lnTo>
                  <a:lnTo>
                    <a:pt x="9518" y="20015"/>
                  </a:lnTo>
                  <a:lnTo>
                    <a:pt x="10088" y="19200"/>
                  </a:lnTo>
                  <a:close/>
                </a:path>
                <a:path w="411479" h="281305">
                  <a:moveTo>
                    <a:pt x="397325" y="13845"/>
                  </a:moveTo>
                  <a:lnTo>
                    <a:pt x="401641" y="20015"/>
                  </a:lnTo>
                  <a:lnTo>
                    <a:pt x="401478" y="19200"/>
                  </a:lnTo>
                  <a:lnTo>
                    <a:pt x="409541" y="19200"/>
                  </a:lnTo>
                  <a:lnTo>
                    <a:pt x="409068" y="16831"/>
                  </a:lnTo>
                  <a:lnTo>
                    <a:pt x="407258" y="14244"/>
                  </a:lnTo>
                  <a:lnTo>
                    <a:pt x="397895" y="14244"/>
                  </a:lnTo>
                  <a:lnTo>
                    <a:pt x="397325" y="13845"/>
                  </a:lnTo>
                  <a:close/>
                </a:path>
                <a:path w="411479" h="281305">
                  <a:moveTo>
                    <a:pt x="14232" y="13275"/>
                  </a:moveTo>
                  <a:lnTo>
                    <a:pt x="13263" y="14244"/>
                  </a:lnTo>
                  <a:lnTo>
                    <a:pt x="13833" y="13845"/>
                  </a:lnTo>
                  <a:lnTo>
                    <a:pt x="14232" y="13275"/>
                  </a:lnTo>
                  <a:close/>
                </a:path>
                <a:path w="411479" h="281305">
                  <a:moveTo>
                    <a:pt x="13833" y="13845"/>
                  </a:moveTo>
                  <a:lnTo>
                    <a:pt x="13263" y="14244"/>
                  </a:lnTo>
                  <a:lnTo>
                    <a:pt x="13554" y="14244"/>
                  </a:lnTo>
                  <a:lnTo>
                    <a:pt x="13833" y="13845"/>
                  </a:lnTo>
                  <a:close/>
                </a:path>
                <a:path w="411479" h="281305">
                  <a:moveTo>
                    <a:pt x="396926" y="13275"/>
                  </a:moveTo>
                  <a:lnTo>
                    <a:pt x="397325" y="13845"/>
                  </a:lnTo>
                  <a:lnTo>
                    <a:pt x="397895" y="14244"/>
                  </a:lnTo>
                  <a:lnTo>
                    <a:pt x="396926" y="13275"/>
                  </a:lnTo>
                  <a:close/>
                </a:path>
                <a:path w="411479" h="281305">
                  <a:moveTo>
                    <a:pt x="406579" y="13275"/>
                  </a:moveTo>
                  <a:lnTo>
                    <a:pt x="396926" y="13275"/>
                  </a:lnTo>
                  <a:lnTo>
                    <a:pt x="397895" y="14244"/>
                  </a:lnTo>
                  <a:lnTo>
                    <a:pt x="407258" y="14244"/>
                  </a:lnTo>
                  <a:lnTo>
                    <a:pt x="406579" y="13275"/>
                  </a:lnTo>
                  <a:close/>
                </a:path>
                <a:path w="411479" h="281305">
                  <a:moveTo>
                    <a:pt x="14647" y="13275"/>
                  </a:moveTo>
                  <a:lnTo>
                    <a:pt x="14232" y="13275"/>
                  </a:lnTo>
                  <a:lnTo>
                    <a:pt x="13833" y="13845"/>
                  </a:lnTo>
                  <a:lnTo>
                    <a:pt x="14647" y="13275"/>
                  </a:lnTo>
                  <a:close/>
                </a:path>
                <a:path w="411479" h="281305">
                  <a:moveTo>
                    <a:pt x="391160" y="9526"/>
                  </a:moveTo>
                  <a:lnTo>
                    <a:pt x="397325" y="13845"/>
                  </a:lnTo>
                  <a:lnTo>
                    <a:pt x="396926" y="13275"/>
                  </a:lnTo>
                  <a:lnTo>
                    <a:pt x="406579" y="13275"/>
                  </a:lnTo>
                  <a:lnTo>
                    <a:pt x="404069" y="9689"/>
                  </a:lnTo>
                  <a:lnTo>
                    <a:pt x="391975" y="9689"/>
                  </a:lnTo>
                  <a:lnTo>
                    <a:pt x="391160" y="9526"/>
                  </a:lnTo>
                  <a:close/>
                </a:path>
                <a:path w="411479" h="281305">
                  <a:moveTo>
                    <a:pt x="20676" y="9051"/>
                  </a:moveTo>
                  <a:lnTo>
                    <a:pt x="19184" y="9689"/>
                  </a:lnTo>
                  <a:lnTo>
                    <a:pt x="19998" y="9526"/>
                  </a:lnTo>
                  <a:lnTo>
                    <a:pt x="20676" y="9051"/>
                  </a:lnTo>
                  <a:close/>
                </a:path>
                <a:path w="411479" h="281305">
                  <a:moveTo>
                    <a:pt x="19998" y="9526"/>
                  </a:moveTo>
                  <a:lnTo>
                    <a:pt x="19184" y="9689"/>
                  </a:lnTo>
                  <a:lnTo>
                    <a:pt x="19765" y="9689"/>
                  </a:lnTo>
                  <a:lnTo>
                    <a:pt x="19998" y="9526"/>
                  </a:lnTo>
                  <a:close/>
                </a:path>
                <a:path w="411479" h="281305">
                  <a:moveTo>
                    <a:pt x="390482" y="9051"/>
                  </a:moveTo>
                  <a:lnTo>
                    <a:pt x="391160" y="9526"/>
                  </a:lnTo>
                  <a:lnTo>
                    <a:pt x="391975" y="9689"/>
                  </a:lnTo>
                  <a:lnTo>
                    <a:pt x="390482" y="9051"/>
                  </a:lnTo>
                  <a:close/>
                </a:path>
                <a:path w="411479" h="281305">
                  <a:moveTo>
                    <a:pt x="403623" y="9051"/>
                  </a:moveTo>
                  <a:lnTo>
                    <a:pt x="390482" y="9051"/>
                  </a:lnTo>
                  <a:lnTo>
                    <a:pt x="391975" y="9689"/>
                  </a:lnTo>
                  <a:lnTo>
                    <a:pt x="404069" y="9689"/>
                  </a:lnTo>
                  <a:lnTo>
                    <a:pt x="403623" y="9051"/>
                  </a:lnTo>
                  <a:close/>
                </a:path>
                <a:path w="411479" h="281305">
                  <a:moveTo>
                    <a:pt x="22371" y="9051"/>
                  </a:moveTo>
                  <a:lnTo>
                    <a:pt x="20676" y="9051"/>
                  </a:lnTo>
                  <a:lnTo>
                    <a:pt x="19998" y="9526"/>
                  </a:lnTo>
                  <a:lnTo>
                    <a:pt x="22371" y="9051"/>
                  </a:lnTo>
                  <a:close/>
                </a:path>
                <a:path w="411479" h="281305">
                  <a:moveTo>
                    <a:pt x="402647" y="7913"/>
                  </a:moveTo>
                  <a:lnTo>
                    <a:pt x="383104" y="7913"/>
                  </a:lnTo>
                  <a:lnTo>
                    <a:pt x="391160" y="9526"/>
                  </a:lnTo>
                  <a:lnTo>
                    <a:pt x="390482" y="9051"/>
                  </a:lnTo>
                  <a:lnTo>
                    <a:pt x="403623" y="9051"/>
                  </a:lnTo>
                  <a:lnTo>
                    <a:pt x="403000" y="8160"/>
                  </a:lnTo>
                  <a:lnTo>
                    <a:pt x="402647" y="7913"/>
                  </a:lnTo>
                  <a:close/>
                </a:path>
              </a:pathLst>
            </a:custGeom>
            <a:solidFill>
              <a:srgbClr val="383838"/>
            </a:solidFill>
          </p:spPr>
          <p:txBody>
            <a:bodyPr wrap="square" lIns="0" tIns="0" rIns="0" bIns="0" rtlCol="0"/>
            <a:lstStyle/>
            <a:p>
              <a:endParaRPr sz="2400"/>
            </a:p>
          </p:txBody>
        </p:sp>
        <p:sp>
          <p:nvSpPr>
            <p:cNvPr id="13" name="object 13"/>
            <p:cNvSpPr/>
            <p:nvPr/>
          </p:nvSpPr>
          <p:spPr>
            <a:xfrm>
              <a:off x="4300016" y="2256107"/>
              <a:ext cx="546100" cy="36195"/>
            </a:xfrm>
            <a:custGeom>
              <a:avLst/>
              <a:gdLst/>
              <a:ahLst/>
              <a:cxnLst/>
              <a:rect l="l" t="t" r="r" b="b"/>
              <a:pathLst>
                <a:path w="546100" h="36194">
                  <a:moveTo>
                    <a:pt x="545585" y="0"/>
                  </a:moveTo>
                  <a:lnTo>
                    <a:pt x="308367" y="0"/>
                  </a:lnTo>
                  <a:lnTo>
                    <a:pt x="308367" y="9496"/>
                  </a:lnTo>
                  <a:lnTo>
                    <a:pt x="305995" y="11870"/>
                  </a:lnTo>
                  <a:lnTo>
                    <a:pt x="239577" y="11870"/>
                  </a:lnTo>
                  <a:lnTo>
                    <a:pt x="237205" y="9496"/>
                  </a:lnTo>
                  <a:lnTo>
                    <a:pt x="237205" y="0"/>
                  </a:lnTo>
                  <a:lnTo>
                    <a:pt x="0" y="0"/>
                  </a:lnTo>
                  <a:lnTo>
                    <a:pt x="23720" y="35611"/>
                  </a:lnTo>
                  <a:lnTo>
                    <a:pt x="521864" y="35611"/>
                  </a:lnTo>
                  <a:lnTo>
                    <a:pt x="531074" y="33738"/>
                  </a:lnTo>
                  <a:lnTo>
                    <a:pt x="538617" y="28637"/>
                  </a:lnTo>
                  <a:lnTo>
                    <a:pt x="543713" y="21088"/>
                  </a:lnTo>
                  <a:lnTo>
                    <a:pt x="545585" y="11870"/>
                  </a:lnTo>
                  <a:lnTo>
                    <a:pt x="545585" y="0"/>
                  </a:lnTo>
                  <a:close/>
                </a:path>
              </a:pathLst>
            </a:custGeom>
            <a:solidFill>
              <a:srgbClr val="FFFFFF"/>
            </a:solidFill>
          </p:spPr>
          <p:txBody>
            <a:bodyPr wrap="square" lIns="0" tIns="0" rIns="0" bIns="0" rtlCol="0"/>
            <a:lstStyle/>
            <a:p>
              <a:endParaRPr sz="2400"/>
            </a:p>
          </p:txBody>
        </p:sp>
        <p:sp>
          <p:nvSpPr>
            <p:cNvPr id="14" name="object 14"/>
            <p:cNvSpPr/>
            <p:nvPr/>
          </p:nvSpPr>
          <p:spPr>
            <a:xfrm>
              <a:off x="4296318" y="2252388"/>
              <a:ext cx="553720" cy="43815"/>
            </a:xfrm>
            <a:custGeom>
              <a:avLst/>
              <a:gdLst/>
              <a:ahLst/>
              <a:cxnLst/>
              <a:rect l="l" t="t" r="r" b="b"/>
              <a:pathLst>
                <a:path w="553720" h="43814">
                  <a:moveTo>
                    <a:pt x="245114" y="0"/>
                  </a:moveTo>
                  <a:lnTo>
                    <a:pt x="0" y="0"/>
                  </a:lnTo>
                  <a:lnTo>
                    <a:pt x="0" y="16218"/>
                  </a:lnTo>
                  <a:lnTo>
                    <a:pt x="2092" y="26688"/>
                  </a:lnTo>
                  <a:lnTo>
                    <a:pt x="8156" y="35359"/>
                  </a:lnTo>
                  <a:lnTo>
                    <a:pt x="16819" y="41428"/>
                  </a:lnTo>
                  <a:lnTo>
                    <a:pt x="27282" y="43525"/>
                  </a:lnTo>
                  <a:lnTo>
                    <a:pt x="526204" y="43525"/>
                  </a:lnTo>
                  <a:lnTo>
                    <a:pt x="536681" y="41428"/>
                  </a:lnTo>
                  <a:lnTo>
                    <a:pt x="544864" y="35685"/>
                  </a:lnTo>
                  <a:lnTo>
                    <a:pt x="28449" y="35685"/>
                  </a:lnTo>
                  <a:lnTo>
                    <a:pt x="22371" y="34469"/>
                  </a:lnTo>
                  <a:lnTo>
                    <a:pt x="20675" y="34469"/>
                  </a:lnTo>
                  <a:lnTo>
                    <a:pt x="19183" y="33831"/>
                  </a:lnTo>
                  <a:lnTo>
                    <a:pt x="19764" y="33831"/>
                  </a:lnTo>
                  <a:lnTo>
                    <a:pt x="14653" y="30250"/>
                  </a:lnTo>
                  <a:lnTo>
                    <a:pt x="14234" y="30250"/>
                  </a:lnTo>
                  <a:lnTo>
                    <a:pt x="13262" y="29275"/>
                  </a:lnTo>
                  <a:lnTo>
                    <a:pt x="13552" y="29275"/>
                  </a:lnTo>
                  <a:lnTo>
                    <a:pt x="10090" y="24324"/>
                  </a:lnTo>
                  <a:lnTo>
                    <a:pt x="9683" y="24324"/>
                  </a:lnTo>
                  <a:lnTo>
                    <a:pt x="9045" y="22831"/>
                  </a:lnTo>
                  <a:lnTo>
                    <a:pt x="9385" y="22831"/>
                  </a:lnTo>
                  <a:lnTo>
                    <a:pt x="8063" y="16218"/>
                  </a:lnTo>
                  <a:lnTo>
                    <a:pt x="7985" y="15827"/>
                  </a:lnTo>
                  <a:lnTo>
                    <a:pt x="7906" y="7913"/>
                  </a:lnTo>
                  <a:lnTo>
                    <a:pt x="3953" y="7913"/>
                  </a:lnTo>
                  <a:lnTo>
                    <a:pt x="7906" y="3956"/>
                  </a:lnTo>
                  <a:lnTo>
                    <a:pt x="245114" y="3956"/>
                  </a:lnTo>
                  <a:lnTo>
                    <a:pt x="245114" y="0"/>
                  </a:lnTo>
                  <a:close/>
                </a:path>
                <a:path w="553720" h="43814">
                  <a:moveTo>
                    <a:pt x="533504" y="33993"/>
                  </a:moveTo>
                  <a:lnTo>
                    <a:pt x="525018" y="35685"/>
                  </a:lnTo>
                  <a:lnTo>
                    <a:pt x="544864" y="35685"/>
                  </a:lnTo>
                  <a:lnTo>
                    <a:pt x="545329" y="35359"/>
                  </a:lnTo>
                  <a:lnTo>
                    <a:pt x="545953" y="34469"/>
                  </a:lnTo>
                  <a:lnTo>
                    <a:pt x="532826" y="34469"/>
                  </a:lnTo>
                  <a:lnTo>
                    <a:pt x="533504" y="33993"/>
                  </a:lnTo>
                  <a:close/>
                </a:path>
                <a:path w="553720" h="43814">
                  <a:moveTo>
                    <a:pt x="19183" y="33831"/>
                  </a:moveTo>
                  <a:lnTo>
                    <a:pt x="20675" y="34469"/>
                  </a:lnTo>
                  <a:lnTo>
                    <a:pt x="19997" y="33993"/>
                  </a:lnTo>
                  <a:lnTo>
                    <a:pt x="19183" y="33831"/>
                  </a:lnTo>
                  <a:close/>
                </a:path>
                <a:path w="553720" h="43814">
                  <a:moveTo>
                    <a:pt x="19997" y="33993"/>
                  </a:moveTo>
                  <a:lnTo>
                    <a:pt x="20675" y="34469"/>
                  </a:lnTo>
                  <a:lnTo>
                    <a:pt x="22371" y="34469"/>
                  </a:lnTo>
                  <a:lnTo>
                    <a:pt x="19997" y="33993"/>
                  </a:lnTo>
                  <a:close/>
                </a:path>
                <a:path w="553720" h="43814">
                  <a:moveTo>
                    <a:pt x="534309" y="33831"/>
                  </a:moveTo>
                  <a:lnTo>
                    <a:pt x="533504" y="33993"/>
                  </a:lnTo>
                  <a:lnTo>
                    <a:pt x="532826" y="34469"/>
                  </a:lnTo>
                  <a:lnTo>
                    <a:pt x="534309" y="33831"/>
                  </a:lnTo>
                  <a:close/>
                </a:path>
                <a:path w="553720" h="43814">
                  <a:moveTo>
                    <a:pt x="546400" y="33831"/>
                  </a:moveTo>
                  <a:lnTo>
                    <a:pt x="534309" y="33831"/>
                  </a:lnTo>
                  <a:lnTo>
                    <a:pt x="532826" y="34469"/>
                  </a:lnTo>
                  <a:lnTo>
                    <a:pt x="545953" y="34469"/>
                  </a:lnTo>
                  <a:lnTo>
                    <a:pt x="546286" y="33993"/>
                  </a:lnTo>
                  <a:lnTo>
                    <a:pt x="546400" y="33831"/>
                  </a:lnTo>
                  <a:close/>
                </a:path>
                <a:path w="553720" h="43814">
                  <a:moveTo>
                    <a:pt x="19764" y="33831"/>
                  </a:moveTo>
                  <a:lnTo>
                    <a:pt x="19183" y="33831"/>
                  </a:lnTo>
                  <a:lnTo>
                    <a:pt x="19997" y="33993"/>
                  </a:lnTo>
                  <a:lnTo>
                    <a:pt x="19764" y="33831"/>
                  </a:lnTo>
                  <a:close/>
                </a:path>
                <a:path w="553720" h="43814">
                  <a:moveTo>
                    <a:pt x="539637" y="29697"/>
                  </a:moveTo>
                  <a:lnTo>
                    <a:pt x="533504" y="33993"/>
                  </a:lnTo>
                  <a:lnTo>
                    <a:pt x="534309" y="33831"/>
                  </a:lnTo>
                  <a:lnTo>
                    <a:pt x="546400" y="33831"/>
                  </a:lnTo>
                  <a:lnTo>
                    <a:pt x="548911" y="30250"/>
                  </a:lnTo>
                  <a:lnTo>
                    <a:pt x="539251" y="30250"/>
                  </a:lnTo>
                  <a:lnTo>
                    <a:pt x="539637" y="29697"/>
                  </a:lnTo>
                  <a:close/>
                </a:path>
                <a:path w="553720" h="43814">
                  <a:moveTo>
                    <a:pt x="13262" y="29275"/>
                  </a:moveTo>
                  <a:lnTo>
                    <a:pt x="14234" y="30250"/>
                  </a:lnTo>
                  <a:lnTo>
                    <a:pt x="13847" y="29697"/>
                  </a:lnTo>
                  <a:lnTo>
                    <a:pt x="13262" y="29275"/>
                  </a:lnTo>
                  <a:close/>
                </a:path>
                <a:path w="553720" h="43814">
                  <a:moveTo>
                    <a:pt x="13864" y="29697"/>
                  </a:moveTo>
                  <a:lnTo>
                    <a:pt x="14234" y="30250"/>
                  </a:lnTo>
                  <a:lnTo>
                    <a:pt x="14653" y="30250"/>
                  </a:lnTo>
                  <a:lnTo>
                    <a:pt x="13864" y="29697"/>
                  </a:lnTo>
                  <a:close/>
                </a:path>
                <a:path w="553720" h="43814">
                  <a:moveTo>
                    <a:pt x="540239" y="29275"/>
                  </a:moveTo>
                  <a:lnTo>
                    <a:pt x="539637" y="29697"/>
                  </a:lnTo>
                  <a:lnTo>
                    <a:pt x="539251" y="30250"/>
                  </a:lnTo>
                  <a:lnTo>
                    <a:pt x="540239" y="29275"/>
                  </a:lnTo>
                  <a:close/>
                </a:path>
                <a:path w="553720" h="43814">
                  <a:moveTo>
                    <a:pt x="549594" y="29275"/>
                  </a:moveTo>
                  <a:lnTo>
                    <a:pt x="540239" y="29275"/>
                  </a:lnTo>
                  <a:lnTo>
                    <a:pt x="539251" y="30250"/>
                  </a:lnTo>
                  <a:lnTo>
                    <a:pt x="548911" y="30250"/>
                  </a:lnTo>
                  <a:lnTo>
                    <a:pt x="549594" y="29275"/>
                  </a:lnTo>
                  <a:close/>
                </a:path>
                <a:path w="553720" h="43814">
                  <a:moveTo>
                    <a:pt x="13552" y="29275"/>
                  </a:moveTo>
                  <a:lnTo>
                    <a:pt x="13262" y="29275"/>
                  </a:lnTo>
                  <a:lnTo>
                    <a:pt x="13864" y="29697"/>
                  </a:lnTo>
                  <a:lnTo>
                    <a:pt x="13552" y="29275"/>
                  </a:lnTo>
                  <a:close/>
                </a:path>
                <a:path w="553720" h="43814">
                  <a:moveTo>
                    <a:pt x="543961" y="23515"/>
                  </a:moveTo>
                  <a:lnTo>
                    <a:pt x="539637" y="29697"/>
                  </a:lnTo>
                  <a:lnTo>
                    <a:pt x="540239" y="29275"/>
                  </a:lnTo>
                  <a:lnTo>
                    <a:pt x="549594" y="29275"/>
                  </a:lnTo>
                  <a:lnTo>
                    <a:pt x="551407" y="26688"/>
                  </a:lnTo>
                  <a:lnTo>
                    <a:pt x="551876" y="24324"/>
                  </a:lnTo>
                  <a:lnTo>
                    <a:pt x="543797" y="24324"/>
                  </a:lnTo>
                  <a:lnTo>
                    <a:pt x="543961" y="23515"/>
                  </a:lnTo>
                  <a:close/>
                </a:path>
                <a:path w="553720" h="43814">
                  <a:moveTo>
                    <a:pt x="9045" y="22831"/>
                  </a:moveTo>
                  <a:lnTo>
                    <a:pt x="9683" y="24324"/>
                  </a:lnTo>
                  <a:lnTo>
                    <a:pt x="9521" y="23515"/>
                  </a:lnTo>
                  <a:lnTo>
                    <a:pt x="9045" y="22831"/>
                  </a:lnTo>
                  <a:close/>
                </a:path>
                <a:path w="553720" h="43814">
                  <a:moveTo>
                    <a:pt x="9524" y="23515"/>
                  </a:moveTo>
                  <a:lnTo>
                    <a:pt x="9683" y="24324"/>
                  </a:lnTo>
                  <a:lnTo>
                    <a:pt x="10090" y="24324"/>
                  </a:lnTo>
                  <a:lnTo>
                    <a:pt x="9524" y="23515"/>
                  </a:lnTo>
                  <a:close/>
                </a:path>
                <a:path w="553720" h="43814">
                  <a:moveTo>
                    <a:pt x="544440" y="22831"/>
                  </a:moveTo>
                  <a:lnTo>
                    <a:pt x="543961" y="23515"/>
                  </a:lnTo>
                  <a:lnTo>
                    <a:pt x="543797" y="24324"/>
                  </a:lnTo>
                  <a:lnTo>
                    <a:pt x="544440" y="22831"/>
                  </a:lnTo>
                  <a:close/>
                </a:path>
                <a:path w="553720" h="43814">
                  <a:moveTo>
                    <a:pt x="552172" y="22831"/>
                  </a:moveTo>
                  <a:lnTo>
                    <a:pt x="544440" y="22831"/>
                  </a:lnTo>
                  <a:lnTo>
                    <a:pt x="543797" y="24324"/>
                  </a:lnTo>
                  <a:lnTo>
                    <a:pt x="551876" y="24324"/>
                  </a:lnTo>
                  <a:lnTo>
                    <a:pt x="552172" y="22831"/>
                  </a:lnTo>
                  <a:close/>
                </a:path>
                <a:path w="553720" h="43814">
                  <a:moveTo>
                    <a:pt x="9385" y="22831"/>
                  </a:moveTo>
                  <a:lnTo>
                    <a:pt x="9045" y="22831"/>
                  </a:lnTo>
                  <a:lnTo>
                    <a:pt x="9524" y="23515"/>
                  </a:lnTo>
                  <a:lnTo>
                    <a:pt x="9385" y="22831"/>
                  </a:lnTo>
                  <a:close/>
                </a:path>
                <a:path w="553720" h="43814">
                  <a:moveTo>
                    <a:pt x="545576" y="3956"/>
                  </a:moveTo>
                  <a:lnTo>
                    <a:pt x="545518" y="15827"/>
                  </a:lnTo>
                  <a:lnTo>
                    <a:pt x="543961" y="23515"/>
                  </a:lnTo>
                  <a:lnTo>
                    <a:pt x="544440" y="22831"/>
                  </a:lnTo>
                  <a:lnTo>
                    <a:pt x="552172" y="22831"/>
                  </a:lnTo>
                  <a:lnTo>
                    <a:pt x="553483" y="16218"/>
                  </a:lnTo>
                  <a:lnTo>
                    <a:pt x="553483" y="7913"/>
                  </a:lnTo>
                  <a:lnTo>
                    <a:pt x="549530" y="7913"/>
                  </a:lnTo>
                  <a:lnTo>
                    <a:pt x="545576" y="3956"/>
                  </a:lnTo>
                  <a:close/>
                </a:path>
                <a:path w="553720" h="43814">
                  <a:moveTo>
                    <a:pt x="237207" y="3956"/>
                  </a:moveTo>
                  <a:lnTo>
                    <a:pt x="237264" y="10747"/>
                  </a:lnTo>
                  <a:lnTo>
                    <a:pt x="239531" y="16960"/>
                  </a:lnTo>
                  <a:lnTo>
                    <a:pt x="246300" y="19784"/>
                  </a:lnTo>
                  <a:lnTo>
                    <a:pt x="307247" y="19784"/>
                  </a:lnTo>
                  <a:lnTo>
                    <a:pt x="313454" y="16960"/>
                  </a:lnTo>
                  <a:lnTo>
                    <a:pt x="315427" y="12617"/>
                  </a:lnTo>
                  <a:lnTo>
                    <a:pt x="246359" y="12617"/>
                  </a:lnTo>
                  <a:lnTo>
                    <a:pt x="244217" y="10371"/>
                  </a:lnTo>
                  <a:lnTo>
                    <a:pt x="245543" y="10371"/>
                  </a:lnTo>
                  <a:lnTo>
                    <a:pt x="245369" y="9892"/>
                  </a:lnTo>
                  <a:lnTo>
                    <a:pt x="245114" y="9892"/>
                  </a:lnTo>
                  <a:lnTo>
                    <a:pt x="245114" y="9189"/>
                  </a:lnTo>
                  <a:lnTo>
                    <a:pt x="244964" y="9038"/>
                  </a:lnTo>
                  <a:lnTo>
                    <a:pt x="244876" y="8536"/>
                  </a:lnTo>
                  <a:lnTo>
                    <a:pt x="245114" y="8536"/>
                  </a:lnTo>
                  <a:lnTo>
                    <a:pt x="245114" y="7913"/>
                  </a:lnTo>
                  <a:lnTo>
                    <a:pt x="241160" y="7913"/>
                  </a:lnTo>
                  <a:lnTo>
                    <a:pt x="237207" y="3956"/>
                  </a:lnTo>
                  <a:close/>
                </a:path>
                <a:path w="553720" h="43814">
                  <a:moveTo>
                    <a:pt x="244295" y="10371"/>
                  </a:moveTo>
                  <a:lnTo>
                    <a:pt x="244424" y="10589"/>
                  </a:lnTo>
                  <a:lnTo>
                    <a:pt x="246359" y="12617"/>
                  </a:lnTo>
                  <a:lnTo>
                    <a:pt x="245766" y="10985"/>
                  </a:lnTo>
                  <a:lnTo>
                    <a:pt x="244295" y="10371"/>
                  </a:lnTo>
                  <a:close/>
                </a:path>
                <a:path w="553720" h="43814">
                  <a:moveTo>
                    <a:pt x="245767" y="10985"/>
                  </a:moveTo>
                  <a:lnTo>
                    <a:pt x="246257" y="12335"/>
                  </a:lnTo>
                  <a:lnTo>
                    <a:pt x="246359" y="12617"/>
                  </a:lnTo>
                  <a:lnTo>
                    <a:pt x="315427" y="12617"/>
                  </a:lnTo>
                  <a:lnTo>
                    <a:pt x="315555" y="12335"/>
                  </a:lnTo>
                  <a:lnTo>
                    <a:pt x="249436" y="12335"/>
                  </a:lnTo>
                  <a:lnTo>
                    <a:pt x="247090" y="11870"/>
                  </a:lnTo>
                  <a:lnTo>
                    <a:pt x="247889" y="11870"/>
                  </a:lnTo>
                  <a:lnTo>
                    <a:pt x="245767" y="10985"/>
                  </a:lnTo>
                  <a:close/>
                </a:path>
                <a:path w="553720" h="43814">
                  <a:moveTo>
                    <a:pt x="247889" y="11870"/>
                  </a:moveTo>
                  <a:lnTo>
                    <a:pt x="247090" y="11870"/>
                  </a:lnTo>
                  <a:lnTo>
                    <a:pt x="249436" y="12335"/>
                  </a:lnTo>
                  <a:lnTo>
                    <a:pt x="249004" y="12335"/>
                  </a:lnTo>
                  <a:lnTo>
                    <a:pt x="247889" y="11870"/>
                  </a:lnTo>
                  <a:close/>
                </a:path>
                <a:path w="553720" h="43814">
                  <a:moveTo>
                    <a:pt x="305539" y="11870"/>
                  </a:moveTo>
                  <a:lnTo>
                    <a:pt x="247889" y="11870"/>
                  </a:lnTo>
                  <a:lnTo>
                    <a:pt x="249004" y="12335"/>
                  </a:lnTo>
                  <a:lnTo>
                    <a:pt x="304517" y="12335"/>
                  </a:lnTo>
                  <a:lnTo>
                    <a:pt x="305539" y="11870"/>
                  </a:lnTo>
                  <a:close/>
                </a:path>
                <a:path w="553720" h="43814">
                  <a:moveTo>
                    <a:pt x="307485" y="10985"/>
                  </a:moveTo>
                  <a:lnTo>
                    <a:pt x="304517" y="12335"/>
                  </a:lnTo>
                  <a:lnTo>
                    <a:pt x="304257" y="12335"/>
                  </a:lnTo>
                  <a:lnTo>
                    <a:pt x="306392" y="11870"/>
                  </a:lnTo>
                  <a:lnTo>
                    <a:pt x="307083" y="11870"/>
                  </a:lnTo>
                  <a:lnTo>
                    <a:pt x="307485" y="10985"/>
                  </a:lnTo>
                  <a:close/>
                </a:path>
                <a:path w="553720" h="43814">
                  <a:moveTo>
                    <a:pt x="307083" y="11870"/>
                  </a:moveTo>
                  <a:lnTo>
                    <a:pt x="306392" y="11870"/>
                  </a:lnTo>
                  <a:lnTo>
                    <a:pt x="304257" y="12335"/>
                  </a:lnTo>
                  <a:lnTo>
                    <a:pt x="306872" y="12335"/>
                  </a:lnTo>
                  <a:lnTo>
                    <a:pt x="307083" y="11870"/>
                  </a:lnTo>
                  <a:close/>
                </a:path>
                <a:path w="553720" h="43814">
                  <a:moveTo>
                    <a:pt x="308833" y="10371"/>
                  </a:moveTo>
                  <a:lnTo>
                    <a:pt x="307485" y="10985"/>
                  </a:lnTo>
                  <a:lnTo>
                    <a:pt x="306872" y="12335"/>
                  </a:lnTo>
                  <a:lnTo>
                    <a:pt x="308833" y="10371"/>
                  </a:lnTo>
                  <a:close/>
                </a:path>
                <a:path w="553720" h="43814">
                  <a:moveTo>
                    <a:pt x="316276" y="10371"/>
                  </a:moveTo>
                  <a:lnTo>
                    <a:pt x="308833" y="10371"/>
                  </a:lnTo>
                  <a:lnTo>
                    <a:pt x="306872" y="12335"/>
                  </a:lnTo>
                  <a:lnTo>
                    <a:pt x="315555" y="12335"/>
                  </a:lnTo>
                  <a:lnTo>
                    <a:pt x="316168" y="10985"/>
                  </a:lnTo>
                  <a:lnTo>
                    <a:pt x="316276" y="10371"/>
                  </a:lnTo>
                  <a:close/>
                </a:path>
                <a:path w="553720" h="43814">
                  <a:moveTo>
                    <a:pt x="245543" y="10371"/>
                  </a:moveTo>
                  <a:lnTo>
                    <a:pt x="244295" y="10371"/>
                  </a:lnTo>
                  <a:lnTo>
                    <a:pt x="245767" y="10985"/>
                  </a:lnTo>
                  <a:lnTo>
                    <a:pt x="245680" y="10747"/>
                  </a:lnTo>
                  <a:lnTo>
                    <a:pt x="245622" y="10589"/>
                  </a:lnTo>
                  <a:lnTo>
                    <a:pt x="245543" y="10371"/>
                  </a:lnTo>
                  <a:close/>
                </a:path>
                <a:path w="553720" h="43814">
                  <a:moveTo>
                    <a:pt x="316276" y="8254"/>
                  </a:moveTo>
                  <a:lnTo>
                    <a:pt x="308725" y="8254"/>
                  </a:lnTo>
                  <a:lnTo>
                    <a:pt x="308369" y="9892"/>
                  </a:lnTo>
                  <a:lnTo>
                    <a:pt x="307981" y="9892"/>
                  </a:lnTo>
                  <a:lnTo>
                    <a:pt x="307763" y="10371"/>
                  </a:lnTo>
                  <a:lnTo>
                    <a:pt x="307664" y="10589"/>
                  </a:lnTo>
                  <a:lnTo>
                    <a:pt x="307593" y="10747"/>
                  </a:lnTo>
                  <a:lnTo>
                    <a:pt x="307485" y="10985"/>
                  </a:lnTo>
                  <a:lnTo>
                    <a:pt x="308833" y="10371"/>
                  </a:lnTo>
                  <a:lnTo>
                    <a:pt x="316276" y="10371"/>
                  </a:lnTo>
                  <a:lnTo>
                    <a:pt x="316276" y="9892"/>
                  </a:lnTo>
                  <a:lnTo>
                    <a:pt x="308369" y="9892"/>
                  </a:lnTo>
                  <a:lnTo>
                    <a:pt x="308369" y="9189"/>
                  </a:lnTo>
                  <a:lnTo>
                    <a:pt x="316276" y="9189"/>
                  </a:lnTo>
                  <a:lnTo>
                    <a:pt x="316276" y="8254"/>
                  </a:lnTo>
                  <a:close/>
                </a:path>
                <a:path w="553720" h="43814">
                  <a:moveTo>
                    <a:pt x="245114" y="9189"/>
                  </a:moveTo>
                  <a:lnTo>
                    <a:pt x="245114" y="9892"/>
                  </a:lnTo>
                  <a:lnTo>
                    <a:pt x="245369" y="9892"/>
                  </a:lnTo>
                  <a:lnTo>
                    <a:pt x="245114" y="9189"/>
                  </a:lnTo>
                  <a:close/>
                </a:path>
                <a:path w="553720" h="43814">
                  <a:moveTo>
                    <a:pt x="308663" y="8536"/>
                  </a:moveTo>
                  <a:lnTo>
                    <a:pt x="308369" y="9038"/>
                  </a:lnTo>
                  <a:lnTo>
                    <a:pt x="308369" y="9892"/>
                  </a:lnTo>
                  <a:lnTo>
                    <a:pt x="308522" y="9189"/>
                  </a:lnTo>
                  <a:lnTo>
                    <a:pt x="308554" y="9038"/>
                  </a:lnTo>
                  <a:lnTo>
                    <a:pt x="308663" y="8536"/>
                  </a:lnTo>
                  <a:close/>
                </a:path>
                <a:path w="553720" h="43814">
                  <a:moveTo>
                    <a:pt x="244876" y="8536"/>
                  </a:moveTo>
                  <a:lnTo>
                    <a:pt x="244991" y="9189"/>
                  </a:lnTo>
                  <a:lnTo>
                    <a:pt x="245114" y="9038"/>
                  </a:lnTo>
                  <a:lnTo>
                    <a:pt x="244876" y="8536"/>
                  </a:lnTo>
                  <a:close/>
                </a:path>
                <a:path w="553720" h="43814">
                  <a:moveTo>
                    <a:pt x="245114" y="8536"/>
                  </a:moveTo>
                  <a:lnTo>
                    <a:pt x="244876" y="8536"/>
                  </a:lnTo>
                  <a:lnTo>
                    <a:pt x="245059" y="9038"/>
                  </a:lnTo>
                  <a:lnTo>
                    <a:pt x="245114" y="8536"/>
                  </a:lnTo>
                  <a:close/>
                </a:path>
                <a:path w="553720" h="43814">
                  <a:moveTo>
                    <a:pt x="553483" y="0"/>
                  </a:moveTo>
                  <a:lnTo>
                    <a:pt x="308369" y="0"/>
                  </a:lnTo>
                  <a:lnTo>
                    <a:pt x="308369" y="9038"/>
                  </a:lnTo>
                  <a:lnTo>
                    <a:pt x="308725" y="8254"/>
                  </a:lnTo>
                  <a:lnTo>
                    <a:pt x="316276" y="8254"/>
                  </a:lnTo>
                  <a:lnTo>
                    <a:pt x="316276" y="7913"/>
                  </a:lnTo>
                  <a:lnTo>
                    <a:pt x="312322" y="7913"/>
                  </a:lnTo>
                  <a:lnTo>
                    <a:pt x="316276" y="3956"/>
                  </a:lnTo>
                  <a:lnTo>
                    <a:pt x="553483" y="3956"/>
                  </a:lnTo>
                  <a:lnTo>
                    <a:pt x="553483" y="0"/>
                  </a:lnTo>
                  <a:close/>
                </a:path>
                <a:path w="553720" h="43814">
                  <a:moveTo>
                    <a:pt x="7906" y="3956"/>
                  </a:moveTo>
                  <a:lnTo>
                    <a:pt x="3953" y="7913"/>
                  </a:lnTo>
                  <a:lnTo>
                    <a:pt x="7906" y="7913"/>
                  </a:lnTo>
                  <a:lnTo>
                    <a:pt x="7906" y="3956"/>
                  </a:lnTo>
                  <a:close/>
                </a:path>
                <a:path w="553720" h="43814">
                  <a:moveTo>
                    <a:pt x="237207" y="3956"/>
                  </a:moveTo>
                  <a:lnTo>
                    <a:pt x="7906" y="3956"/>
                  </a:lnTo>
                  <a:lnTo>
                    <a:pt x="7906" y="7913"/>
                  </a:lnTo>
                  <a:lnTo>
                    <a:pt x="237207" y="7913"/>
                  </a:lnTo>
                  <a:lnTo>
                    <a:pt x="237207" y="3956"/>
                  </a:lnTo>
                  <a:close/>
                </a:path>
                <a:path w="553720" h="43814">
                  <a:moveTo>
                    <a:pt x="245114" y="3956"/>
                  </a:moveTo>
                  <a:lnTo>
                    <a:pt x="237207" y="3956"/>
                  </a:lnTo>
                  <a:lnTo>
                    <a:pt x="241160" y="7913"/>
                  </a:lnTo>
                  <a:lnTo>
                    <a:pt x="245114" y="7913"/>
                  </a:lnTo>
                  <a:lnTo>
                    <a:pt x="245114" y="3956"/>
                  </a:lnTo>
                  <a:close/>
                </a:path>
                <a:path w="553720" h="43814">
                  <a:moveTo>
                    <a:pt x="316276" y="3956"/>
                  </a:moveTo>
                  <a:lnTo>
                    <a:pt x="312322" y="7913"/>
                  </a:lnTo>
                  <a:lnTo>
                    <a:pt x="316276" y="7913"/>
                  </a:lnTo>
                  <a:lnTo>
                    <a:pt x="316276" y="3956"/>
                  </a:lnTo>
                  <a:close/>
                </a:path>
                <a:path w="553720" h="43814">
                  <a:moveTo>
                    <a:pt x="545576" y="3956"/>
                  </a:moveTo>
                  <a:lnTo>
                    <a:pt x="316276" y="3956"/>
                  </a:lnTo>
                  <a:lnTo>
                    <a:pt x="316276" y="7913"/>
                  </a:lnTo>
                  <a:lnTo>
                    <a:pt x="545576" y="7913"/>
                  </a:lnTo>
                  <a:lnTo>
                    <a:pt x="545576" y="3956"/>
                  </a:lnTo>
                  <a:close/>
                </a:path>
                <a:path w="553720" h="43814">
                  <a:moveTo>
                    <a:pt x="553483" y="3956"/>
                  </a:moveTo>
                  <a:lnTo>
                    <a:pt x="545576" y="3956"/>
                  </a:lnTo>
                  <a:lnTo>
                    <a:pt x="549530" y="7913"/>
                  </a:lnTo>
                  <a:lnTo>
                    <a:pt x="553483" y="7913"/>
                  </a:lnTo>
                  <a:lnTo>
                    <a:pt x="553483" y="3956"/>
                  </a:lnTo>
                  <a:close/>
                </a:path>
              </a:pathLst>
            </a:custGeom>
            <a:solidFill>
              <a:srgbClr val="383838"/>
            </a:solidFill>
          </p:spPr>
          <p:txBody>
            <a:bodyPr wrap="square" lIns="0" tIns="0" rIns="0" bIns="0" rtlCol="0"/>
            <a:lstStyle/>
            <a:p>
              <a:endParaRPr sz="2400"/>
            </a:p>
          </p:txBody>
        </p:sp>
      </p:grpSp>
      <p:pic>
        <p:nvPicPr>
          <p:cNvPr id="15" name="object 15"/>
          <p:cNvPicPr/>
          <p:nvPr/>
        </p:nvPicPr>
        <p:blipFill>
          <a:blip r:embed="rId5" cstate="print"/>
          <a:stretch>
            <a:fillRect/>
          </a:stretch>
        </p:blipFill>
        <p:spPr>
          <a:xfrm>
            <a:off x="5777861" y="3224904"/>
            <a:ext cx="596171" cy="482600"/>
          </a:xfrm>
          <a:prstGeom prst="rect">
            <a:avLst/>
          </a:prstGeom>
        </p:spPr>
      </p:pic>
      <p:pic>
        <p:nvPicPr>
          <p:cNvPr id="16" name="object 16"/>
          <p:cNvPicPr/>
          <p:nvPr/>
        </p:nvPicPr>
        <p:blipFill>
          <a:blip r:embed="rId6" cstate="print"/>
          <a:stretch>
            <a:fillRect/>
          </a:stretch>
        </p:blipFill>
        <p:spPr>
          <a:xfrm>
            <a:off x="9215120" y="1312213"/>
            <a:ext cx="2284454" cy="3871420"/>
          </a:xfrm>
          <a:prstGeom prst="rect">
            <a:avLst/>
          </a:prstGeom>
        </p:spPr>
      </p:pic>
      <p:grpSp>
        <p:nvGrpSpPr>
          <p:cNvPr id="17" name="object 17"/>
          <p:cNvGrpSpPr/>
          <p:nvPr/>
        </p:nvGrpSpPr>
        <p:grpSpPr>
          <a:xfrm>
            <a:off x="609600" y="4411455"/>
            <a:ext cx="11284373" cy="1825413"/>
            <a:chOff x="457200" y="3308591"/>
            <a:chExt cx="8463280" cy="1369060"/>
          </a:xfrm>
        </p:grpSpPr>
        <p:pic>
          <p:nvPicPr>
            <p:cNvPr id="18" name="object 18"/>
            <p:cNvPicPr/>
            <p:nvPr/>
          </p:nvPicPr>
          <p:blipFill>
            <a:blip r:embed="rId7" cstate="print"/>
            <a:stretch>
              <a:fillRect/>
            </a:stretch>
          </p:blipFill>
          <p:spPr>
            <a:xfrm>
              <a:off x="457200" y="4055364"/>
              <a:ext cx="8462772" cy="621792"/>
            </a:xfrm>
            <a:prstGeom prst="rect">
              <a:avLst/>
            </a:prstGeom>
          </p:spPr>
        </p:pic>
        <p:pic>
          <p:nvPicPr>
            <p:cNvPr id="19" name="object 19"/>
            <p:cNvPicPr/>
            <p:nvPr/>
          </p:nvPicPr>
          <p:blipFill>
            <a:blip r:embed="rId8" cstate="print"/>
            <a:stretch>
              <a:fillRect/>
            </a:stretch>
          </p:blipFill>
          <p:spPr>
            <a:xfrm>
              <a:off x="1664208" y="3319259"/>
              <a:ext cx="381762" cy="371106"/>
            </a:xfrm>
            <a:prstGeom prst="rect">
              <a:avLst/>
            </a:prstGeom>
          </p:spPr>
        </p:pic>
        <p:pic>
          <p:nvPicPr>
            <p:cNvPr id="20" name="object 20"/>
            <p:cNvPicPr/>
            <p:nvPr/>
          </p:nvPicPr>
          <p:blipFill>
            <a:blip r:embed="rId9" cstate="print"/>
            <a:stretch>
              <a:fillRect/>
            </a:stretch>
          </p:blipFill>
          <p:spPr>
            <a:xfrm>
              <a:off x="1943100" y="3308591"/>
              <a:ext cx="4386834" cy="398538"/>
            </a:xfrm>
            <a:prstGeom prst="rect">
              <a:avLst/>
            </a:prstGeom>
          </p:spPr>
        </p:pic>
        <p:pic>
          <p:nvPicPr>
            <p:cNvPr id="21" name="object 21"/>
            <p:cNvPicPr/>
            <p:nvPr/>
          </p:nvPicPr>
          <p:blipFill>
            <a:blip r:embed="rId10" cstate="print"/>
            <a:stretch>
              <a:fillRect/>
            </a:stretch>
          </p:blipFill>
          <p:spPr>
            <a:xfrm>
              <a:off x="1943100" y="3628644"/>
              <a:ext cx="947165" cy="398538"/>
            </a:xfrm>
            <a:prstGeom prst="rect">
              <a:avLst/>
            </a:prstGeom>
          </p:spPr>
        </p:pic>
      </p:grpSp>
      <p:sp>
        <p:nvSpPr>
          <p:cNvPr id="22" name="object 22"/>
          <p:cNvSpPr txBox="1"/>
          <p:nvPr/>
        </p:nvSpPr>
        <p:spPr>
          <a:xfrm>
            <a:off x="2035726" y="3014809"/>
            <a:ext cx="6201833" cy="2187051"/>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Logistics</a:t>
            </a:r>
            <a:r>
              <a:rPr sz="2400" b="1" spc="-53" dirty="0">
                <a:solidFill>
                  <a:srgbClr val="D9D9D9"/>
                </a:solidFill>
                <a:latin typeface="Calibri"/>
                <a:cs typeface="Calibri"/>
              </a:rPr>
              <a:t> </a:t>
            </a:r>
            <a:r>
              <a:rPr sz="2400" b="1" dirty="0">
                <a:solidFill>
                  <a:srgbClr val="D9D9D9"/>
                </a:solidFill>
                <a:latin typeface="Calibri"/>
                <a:cs typeface="Calibri"/>
              </a:rPr>
              <a:t>in</a:t>
            </a:r>
            <a:r>
              <a:rPr sz="2400" b="1" spc="-20" dirty="0">
                <a:solidFill>
                  <a:srgbClr val="D9D9D9"/>
                </a:solidFill>
                <a:latin typeface="Calibri"/>
                <a:cs typeface="Calibri"/>
              </a:rPr>
              <a:t> </a:t>
            </a:r>
            <a:r>
              <a:rPr sz="2400" b="1" spc="-13" dirty="0">
                <a:solidFill>
                  <a:srgbClr val="D9D9D9"/>
                </a:solidFill>
                <a:latin typeface="Calibri"/>
                <a:cs typeface="Calibri"/>
              </a:rPr>
              <a:t>warehouse</a:t>
            </a:r>
            <a:endParaRPr sz="2400">
              <a:latin typeface="Calibri"/>
              <a:cs typeface="Calibri"/>
            </a:endParaRPr>
          </a:p>
          <a:p>
            <a:pPr>
              <a:spcBef>
                <a:spcPts val="1580"/>
              </a:spcBef>
              <a:buClr>
                <a:srgbClr val="99D3FF"/>
              </a:buClr>
              <a:buFont typeface="Wingdings"/>
              <a:buChar char=""/>
            </a:pPr>
            <a:endParaRPr sz="2400">
              <a:latin typeface="Calibri"/>
              <a:cs typeface="Calibri"/>
            </a:endParaRPr>
          </a:p>
          <a:p>
            <a:pPr marL="398770" indent="-381837">
              <a:buClr>
                <a:srgbClr val="99D3FF"/>
              </a:buClr>
              <a:buFont typeface="Wingdings"/>
              <a:buChar char=""/>
              <a:tabLst>
                <a:tab pos="398770" algn="l"/>
              </a:tabLst>
            </a:pPr>
            <a:r>
              <a:rPr sz="2400" b="1" dirty="0">
                <a:solidFill>
                  <a:srgbClr val="D9D9D9"/>
                </a:solidFill>
                <a:latin typeface="Calibri"/>
                <a:cs typeface="Calibri"/>
              </a:rPr>
              <a:t>Maximizing</a:t>
            </a:r>
            <a:r>
              <a:rPr sz="2400" b="1" spc="-60" dirty="0">
                <a:solidFill>
                  <a:srgbClr val="D9D9D9"/>
                </a:solidFill>
                <a:latin typeface="Calibri"/>
                <a:cs typeface="Calibri"/>
              </a:rPr>
              <a:t> </a:t>
            </a:r>
            <a:r>
              <a:rPr sz="2400" b="1" spc="-13" dirty="0">
                <a:solidFill>
                  <a:srgbClr val="D9D9D9"/>
                </a:solidFill>
                <a:latin typeface="Calibri"/>
                <a:cs typeface="Calibri"/>
              </a:rPr>
              <a:t>profits</a:t>
            </a:r>
            <a:endParaRPr sz="2400">
              <a:latin typeface="Calibri"/>
              <a:cs typeface="Calibri"/>
            </a:endParaRPr>
          </a:p>
          <a:p>
            <a:pPr marL="703562" lvl="1" indent="-381837">
              <a:spcBef>
                <a:spcPts val="1092"/>
              </a:spcBef>
              <a:buFont typeface="Wingdings"/>
              <a:buChar char=""/>
              <a:tabLst>
                <a:tab pos="703562" algn="l"/>
              </a:tabLst>
            </a:pPr>
            <a:r>
              <a:rPr sz="1867" b="1" dirty="0">
                <a:solidFill>
                  <a:srgbClr val="99D3FF"/>
                </a:solidFill>
                <a:latin typeface="Calibri"/>
                <a:cs typeface="Calibri"/>
              </a:rPr>
              <a:t>Profit</a:t>
            </a:r>
            <a:r>
              <a:rPr sz="1867" b="1" spc="-40" dirty="0">
                <a:solidFill>
                  <a:srgbClr val="99D3FF"/>
                </a:solidFill>
                <a:latin typeface="Calibri"/>
                <a:cs typeface="Calibri"/>
              </a:rPr>
              <a:t> </a:t>
            </a:r>
            <a:r>
              <a:rPr sz="1867" b="1" dirty="0">
                <a:solidFill>
                  <a:srgbClr val="99D3FF"/>
                </a:solidFill>
                <a:latin typeface="Calibri"/>
                <a:cs typeface="Calibri"/>
              </a:rPr>
              <a:t>margine,</a:t>
            </a:r>
            <a:r>
              <a:rPr sz="1867" b="1" spc="-53" dirty="0">
                <a:solidFill>
                  <a:srgbClr val="99D3FF"/>
                </a:solidFill>
                <a:latin typeface="Calibri"/>
                <a:cs typeface="Calibri"/>
              </a:rPr>
              <a:t> </a:t>
            </a:r>
            <a:r>
              <a:rPr sz="1867" b="1" dirty="0">
                <a:solidFill>
                  <a:srgbClr val="99D3FF"/>
                </a:solidFill>
                <a:latin typeface="Calibri"/>
                <a:cs typeface="Calibri"/>
              </a:rPr>
              <a:t>sales</a:t>
            </a:r>
            <a:r>
              <a:rPr sz="1867" b="1" spc="-33" dirty="0">
                <a:solidFill>
                  <a:srgbClr val="99D3FF"/>
                </a:solidFill>
                <a:latin typeface="Calibri"/>
                <a:cs typeface="Calibri"/>
              </a:rPr>
              <a:t> </a:t>
            </a:r>
            <a:r>
              <a:rPr sz="1867" b="1" dirty="0">
                <a:solidFill>
                  <a:srgbClr val="99D3FF"/>
                </a:solidFill>
                <a:latin typeface="Calibri"/>
                <a:cs typeface="Calibri"/>
              </a:rPr>
              <a:t>volume,</a:t>
            </a:r>
            <a:r>
              <a:rPr sz="1867" b="1" spc="-40" dirty="0">
                <a:solidFill>
                  <a:srgbClr val="99D3FF"/>
                </a:solidFill>
                <a:latin typeface="Calibri"/>
                <a:cs typeface="Calibri"/>
              </a:rPr>
              <a:t> </a:t>
            </a:r>
            <a:r>
              <a:rPr sz="1867" b="1" dirty="0">
                <a:solidFill>
                  <a:srgbClr val="99D3FF"/>
                </a:solidFill>
                <a:latin typeface="Calibri"/>
                <a:cs typeface="Calibri"/>
              </a:rPr>
              <a:t>product</a:t>
            </a:r>
            <a:r>
              <a:rPr sz="1867" b="1" spc="-67" dirty="0">
                <a:solidFill>
                  <a:srgbClr val="99D3FF"/>
                </a:solidFill>
                <a:latin typeface="Calibri"/>
                <a:cs typeface="Calibri"/>
              </a:rPr>
              <a:t> </a:t>
            </a:r>
            <a:r>
              <a:rPr sz="1867" b="1" dirty="0">
                <a:solidFill>
                  <a:srgbClr val="99D3FF"/>
                </a:solidFill>
                <a:latin typeface="Calibri"/>
                <a:cs typeface="Calibri"/>
              </a:rPr>
              <a:t>cost,</a:t>
            </a:r>
            <a:r>
              <a:rPr sz="1867" b="1" spc="-40" dirty="0">
                <a:solidFill>
                  <a:srgbClr val="99D3FF"/>
                </a:solidFill>
                <a:latin typeface="Calibri"/>
                <a:cs typeface="Calibri"/>
              </a:rPr>
              <a:t> </a:t>
            </a:r>
            <a:r>
              <a:rPr sz="1867" b="1" spc="-13" dirty="0">
                <a:solidFill>
                  <a:srgbClr val="99D3FF"/>
                </a:solidFill>
                <a:latin typeface="Calibri"/>
                <a:cs typeface="Calibri"/>
              </a:rPr>
              <a:t>promotions,</a:t>
            </a:r>
            <a:endParaRPr sz="1867">
              <a:latin typeface="Calibri"/>
              <a:cs typeface="Calibri"/>
            </a:endParaRPr>
          </a:p>
          <a:p>
            <a:pPr marL="703562">
              <a:spcBef>
                <a:spcPts val="1120"/>
              </a:spcBef>
            </a:pPr>
            <a:r>
              <a:rPr sz="1867" b="1" spc="-13" dirty="0">
                <a:solidFill>
                  <a:srgbClr val="99D3FF"/>
                </a:solidFill>
                <a:latin typeface="Calibri"/>
                <a:cs typeface="Calibri"/>
              </a:rPr>
              <a:t>discounts</a:t>
            </a:r>
            <a:endParaRPr sz="1867">
              <a:latin typeface="Calibri"/>
              <a:cs typeface="Calibri"/>
            </a:endParaRP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37326" y="65852"/>
            <a:ext cx="7020560" cy="695062"/>
          </a:xfrm>
          <a:prstGeom prst="rect">
            <a:avLst/>
          </a:prstGeom>
        </p:spPr>
        <p:txBody>
          <a:bodyPr vert="horz" wrap="square" lIns="0" tIns="17780" rIns="0" bIns="0" rtlCol="0" anchor="ctr">
            <a:spAutoFit/>
          </a:bodyPr>
          <a:lstStyle/>
          <a:p>
            <a:pPr marL="969409">
              <a:lnSpc>
                <a:spcPct val="100000"/>
              </a:lnSpc>
              <a:spcBef>
                <a:spcPts val="140"/>
              </a:spcBef>
            </a:pPr>
            <a:r>
              <a:rPr dirty="0">
                <a:solidFill>
                  <a:schemeClr val="bg1"/>
                </a:solidFill>
                <a:latin typeface="+mn-lt"/>
              </a:rPr>
              <a:t>Case</a:t>
            </a:r>
            <a:r>
              <a:rPr spc="-67" dirty="0">
                <a:solidFill>
                  <a:schemeClr val="bg1"/>
                </a:solidFill>
                <a:latin typeface="+mn-lt"/>
              </a:rPr>
              <a:t> </a:t>
            </a:r>
            <a:r>
              <a:rPr dirty="0">
                <a:solidFill>
                  <a:schemeClr val="bg1"/>
                </a:solidFill>
                <a:latin typeface="+mn-lt"/>
              </a:rPr>
              <a:t>study:</a:t>
            </a:r>
            <a:r>
              <a:rPr spc="-40" dirty="0">
                <a:solidFill>
                  <a:schemeClr val="bg1"/>
                </a:solidFill>
                <a:latin typeface="+mn-lt"/>
              </a:rPr>
              <a:t> </a:t>
            </a:r>
            <a:r>
              <a:rPr spc="-13" dirty="0">
                <a:solidFill>
                  <a:schemeClr val="bg1"/>
                </a:solidFill>
                <a:latin typeface="+mn-lt"/>
              </a:rPr>
              <a:t>E-Commerce</a:t>
            </a:r>
          </a:p>
        </p:txBody>
      </p:sp>
      <p:sp>
        <p:nvSpPr>
          <p:cNvPr id="3" name="object 3"/>
          <p:cNvSpPr txBox="1"/>
          <p:nvPr/>
        </p:nvSpPr>
        <p:spPr>
          <a:xfrm>
            <a:off x="2137326" y="2635164"/>
            <a:ext cx="4411980"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Business</a:t>
            </a:r>
            <a:r>
              <a:rPr sz="2400" b="1" spc="-47" dirty="0">
                <a:solidFill>
                  <a:srgbClr val="D9D9D9"/>
                </a:solidFill>
                <a:latin typeface="Calibri"/>
                <a:cs typeface="Calibri"/>
              </a:rPr>
              <a:t> </a:t>
            </a:r>
            <a:r>
              <a:rPr sz="2400" b="1" dirty="0">
                <a:solidFill>
                  <a:srgbClr val="D9D9D9"/>
                </a:solidFill>
                <a:latin typeface="Calibri"/>
                <a:cs typeface="Calibri"/>
              </a:rPr>
              <a:t>process</a:t>
            </a:r>
            <a:r>
              <a:rPr sz="2400" b="1" spc="-67" dirty="0">
                <a:solidFill>
                  <a:srgbClr val="D9D9D9"/>
                </a:solidFill>
                <a:latin typeface="Calibri"/>
                <a:cs typeface="Calibri"/>
              </a:rPr>
              <a:t> </a:t>
            </a:r>
            <a:r>
              <a:rPr sz="2400" b="1" dirty="0">
                <a:solidFill>
                  <a:srgbClr val="D9D9D9"/>
                </a:solidFill>
                <a:latin typeface="Calibri"/>
                <a:cs typeface="Calibri"/>
              </a:rPr>
              <a:t>for</a:t>
            </a:r>
            <a:r>
              <a:rPr sz="2400" b="1" spc="-13" dirty="0">
                <a:solidFill>
                  <a:srgbClr val="D9D9D9"/>
                </a:solidFill>
                <a:latin typeface="Calibri"/>
                <a:cs typeface="Calibri"/>
              </a:rPr>
              <a:t> </a:t>
            </a:r>
            <a:r>
              <a:rPr sz="2400" b="1" dirty="0">
                <a:solidFill>
                  <a:srgbClr val="D9D9D9"/>
                </a:solidFill>
                <a:latin typeface="Calibri"/>
                <a:cs typeface="Calibri"/>
              </a:rPr>
              <a:t>first</a:t>
            </a:r>
            <a:r>
              <a:rPr sz="2400" b="1" spc="-20" dirty="0">
                <a:solidFill>
                  <a:srgbClr val="D9D9D9"/>
                </a:solidFill>
                <a:latin typeface="Calibri"/>
                <a:cs typeface="Calibri"/>
              </a:rPr>
              <a:t> </a:t>
            </a:r>
            <a:r>
              <a:rPr sz="2400" b="1" spc="-27" dirty="0">
                <a:solidFill>
                  <a:srgbClr val="D9D9D9"/>
                </a:solidFill>
                <a:latin typeface="Calibri"/>
                <a:cs typeface="Calibri"/>
              </a:rPr>
              <a:t>DWH?</a:t>
            </a:r>
            <a:endParaRPr sz="2400">
              <a:latin typeface="Calibri"/>
              <a:cs typeface="Calibri"/>
            </a:endParaRPr>
          </a:p>
        </p:txBody>
      </p:sp>
      <p:grpSp>
        <p:nvGrpSpPr>
          <p:cNvPr id="4" name="object 4"/>
          <p:cNvGrpSpPr/>
          <p:nvPr/>
        </p:nvGrpSpPr>
        <p:grpSpPr>
          <a:xfrm>
            <a:off x="2003551" y="1101310"/>
            <a:ext cx="4197096" cy="1616489"/>
            <a:chOff x="1502663" y="825982"/>
            <a:chExt cx="3147822" cy="1212367"/>
          </a:xfrm>
        </p:grpSpPr>
        <p:pic>
          <p:nvPicPr>
            <p:cNvPr id="5" name="object 5"/>
            <p:cNvPicPr/>
            <p:nvPr/>
          </p:nvPicPr>
          <p:blipFill>
            <a:blip r:embed="rId2" cstate="print"/>
            <a:stretch>
              <a:fillRect/>
            </a:stretch>
          </p:blipFill>
          <p:spPr>
            <a:xfrm>
              <a:off x="1502663" y="825982"/>
              <a:ext cx="3147822" cy="1212367"/>
            </a:xfrm>
            <a:prstGeom prst="rect">
              <a:avLst/>
            </a:prstGeom>
          </p:spPr>
        </p:pic>
        <p:sp>
          <p:nvSpPr>
            <p:cNvPr id="7" name="object 7"/>
            <p:cNvSpPr/>
            <p:nvPr/>
          </p:nvSpPr>
          <p:spPr>
            <a:xfrm>
              <a:off x="1829561" y="980694"/>
              <a:ext cx="2514600" cy="581025"/>
            </a:xfrm>
            <a:custGeom>
              <a:avLst/>
              <a:gdLst/>
              <a:ahLst/>
              <a:cxnLst/>
              <a:rect l="l" t="t" r="r" b="b"/>
              <a:pathLst>
                <a:path w="2514600" h="581025">
                  <a:moveTo>
                    <a:pt x="0" y="290321"/>
                  </a:moveTo>
                  <a:lnTo>
                    <a:pt x="145161" y="0"/>
                  </a:lnTo>
                  <a:lnTo>
                    <a:pt x="2369439" y="0"/>
                  </a:lnTo>
                  <a:lnTo>
                    <a:pt x="2514600" y="290321"/>
                  </a:lnTo>
                  <a:lnTo>
                    <a:pt x="2369439" y="580643"/>
                  </a:lnTo>
                  <a:lnTo>
                    <a:pt x="145161" y="580643"/>
                  </a:lnTo>
                  <a:lnTo>
                    <a:pt x="0" y="290321"/>
                  </a:lnTo>
                  <a:close/>
                </a:path>
              </a:pathLst>
            </a:custGeom>
            <a:ln w="19812">
              <a:solidFill>
                <a:srgbClr val="00C3FF"/>
              </a:solidFill>
            </a:ln>
          </p:spPr>
          <p:txBody>
            <a:bodyPr wrap="square" lIns="0" tIns="0" rIns="0" bIns="0" rtlCol="0"/>
            <a:lstStyle/>
            <a:p>
              <a:endParaRPr sz="2400"/>
            </a:p>
          </p:txBody>
        </p:sp>
      </p:grpSp>
      <p:sp>
        <p:nvSpPr>
          <p:cNvPr id="8" name="object 8"/>
          <p:cNvSpPr txBox="1"/>
          <p:nvPr/>
        </p:nvSpPr>
        <p:spPr>
          <a:xfrm>
            <a:off x="3661325" y="1452202"/>
            <a:ext cx="914400" cy="428387"/>
          </a:xfrm>
          <a:prstGeom prst="rect">
            <a:avLst/>
          </a:prstGeom>
        </p:spPr>
        <p:txBody>
          <a:bodyPr vert="horz" wrap="square" lIns="0" tIns="17780" rIns="0" bIns="0" rtlCol="0">
            <a:spAutoFit/>
          </a:bodyPr>
          <a:lstStyle/>
          <a:p>
            <a:pPr marL="16933">
              <a:spcBef>
                <a:spcPts val="140"/>
              </a:spcBef>
            </a:pPr>
            <a:r>
              <a:rPr sz="2667" b="1" dirty="0">
                <a:solidFill>
                  <a:srgbClr val="CCEAFF"/>
                </a:solidFill>
                <a:latin typeface="Calibri"/>
                <a:cs typeface="Calibri"/>
              </a:rPr>
              <a:t>Step </a:t>
            </a:r>
            <a:r>
              <a:rPr sz="2667" b="1" spc="-67" dirty="0">
                <a:solidFill>
                  <a:srgbClr val="CCEAFF"/>
                </a:solidFill>
                <a:latin typeface="Calibri"/>
                <a:cs typeface="Calibri"/>
              </a:rPr>
              <a:t>1</a:t>
            </a:r>
            <a:endParaRPr sz="2667">
              <a:latin typeface="Calibri"/>
              <a:cs typeface="Calibri"/>
            </a:endParaRPr>
          </a:p>
        </p:txBody>
      </p:sp>
      <p:grpSp>
        <p:nvGrpSpPr>
          <p:cNvPr id="9" name="object 9"/>
          <p:cNvGrpSpPr/>
          <p:nvPr/>
        </p:nvGrpSpPr>
        <p:grpSpPr>
          <a:xfrm>
            <a:off x="2422144" y="3141455"/>
            <a:ext cx="3524673" cy="958427"/>
            <a:chOff x="1816607" y="2356091"/>
            <a:chExt cx="2643505" cy="718820"/>
          </a:xfrm>
        </p:grpSpPr>
        <p:pic>
          <p:nvPicPr>
            <p:cNvPr id="10" name="object 10"/>
            <p:cNvPicPr/>
            <p:nvPr/>
          </p:nvPicPr>
          <p:blipFill>
            <a:blip r:embed="rId3" cstate="print"/>
            <a:stretch>
              <a:fillRect/>
            </a:stretch>
          </p:blipFill>
          <p:spPr>
            <a:xfrm>
              <a:off x="1816607" y="2366759"/>
              <a:ext cx="381762" cy="371106"/>
            </a:xfrm>
            <a:prstGeom prst="rect">
              <a:avLst/>
            </a:prstGeom>
          </p:spPr>
        </p:pic>
        <p:pic>
          <p:nvPicPr>
            <p:cNvPr id="11" name="object 11"/>
            <p:cNvPicPr/>
            <p:nvPr/>
          </p:nvPicPr>
          <p:blipFill>
            <a:blip r:embed="rId4" cstate="print"/>
            <a:stretch>
              <a:fillRect/>
            </a:stretch>
          </p:blipFill>
          <p:spPr>
            <a:xfrm>
              <a:off x="2095499" y="2356091"/>
              <a:ext cx="2088642" cy="398538"/>
            </a:xfrm>
            <a:prstGeom prst="rect">
              <a:avLst/>
            </a:prstGeom>
          </p:spPr>
        </p:pic>
        <p:pic>
          <p:nvPicPr>
            <p:cNvPr id="12" name="object 12"/>
            <p:cNvPicPr/>
            <p:nvPr/>
          </p:nvPicPr>
          <p:blipFill>
            <a:blip r:embed="rId3" cstate="print"/>
            <a:stretch>
              <a:fillRect/>
            </a:stretch>
          </p:blipFill>
          <p:spPr>
            <a:xfrm>
              <a:off x="1816607" y="2686799"/>
              <a:ext cx="381762" cy="371106"/>
            </a:xfrm>
            <a:prstGeom prst="rect">
              <a:avLst/>
            </a:prstGeom>
          </p:spPr>
        </p:pic>
        <p:pic>
          <p:nvPicPr>
            <p:cNvPr id="13" name="object 13"/>
            <p:cNvPicPr/>
            <p:nvPr/>
          </p:nvPicPr>
          <p:blipFill>
            <a:blip r:embed="rId5" cstate="print"/>
            <a:stretch>
              <a:fillRect/>
            </a:stretch>
          </p:blipFill>
          <p:spPr>
            <a:xfrm>
              <a:off x="2095499" y="2676131"/>
              <a:ext cx="2364486" cy="398538"/>
            </a:xfrm>
            <a:prstGeom prst="rect">
              <a:avLst/>
            </a:prstGeom>
          </p:spPr>
        </p:pic>
      </p:grpSp>
      <p:sp>
        <p:nvSpPr>
          <p:cNvPr id="14" name="object 14"/>
          <p:cNvSpPr txBox="1"/>
          <p:nvPr/>
        </p:nvSpPr>
        <p:spPr>
          <a:xfrm>
            <a:off x="2543726" y="3046950"/>
            <a:ext cx="3248660" cy="876436"/>
          </a:xfrm>
          <a:prstGeom prst="rect">
            <a:avLst/>
          </a:prstGeom>
        </p:spPr>
        <p:txBody>
          <a:bodyPr vert="horz" wrap="square" lIns="0" tIns="159173" rIns="0" bIns="0" rtlCol="0">
            <a:spAutoFit/>
          </a:bodyPr>
          <a:lstStyle/>
          <a:p>
            <a:pPr marL="398770" indent="-381837">
              <a:spcBef>
                <a:spcPts val="1253"/>
              </a:spcBef>
              <a:buFont typeface="Wingdings"/>
              <a:buChar char=""/>
              <a:tabLst>
                <a:tab pos="398770" algn="l"/>
              </a:tabLst>
            </a:pPr>
            <a:r>
              <a:rPr sz="1867" b="1" dirty="0">
                <a:solidFill>
                  <a:srgbClr val="99D3FF"/>
                </a:solidFill>
                <a:latin typeface="Calibri"/>
                <a:cs typeface="Calibri"/>
              </a:rPr>
              <a:t>Most</a:t>
            </a:r>
            <a:r>
              <a:rPr sz="1867" b="1" spc="-40" dirty="0">
                <a:solidFill>
                  <a:srgbClr val="99D3FF"/>
                </a:solidFill>
                <a:latin typeface="Calibri"/>
                <a:cs typeface="Calibri"/>
              </a:rPr>
              <a:t> </a:t>
            </a:r>
            <a:r>
              <a:rPr sz="1867" b="1" dirty="0">
                <a:solidFill>
                  <a:srgbClr val="99D3FF"/>
                </a:solidFill>
                <a:latin typeface="Calibri"/>
                <a:cs typeface="Calibri"/>
              </a:rPr>
              <a:t>critical</a:t>
            </a:r>
            <a:r>
              <a:rPr sz="1867" b="1" spc="-33" dirty="0">
                <a:solidFill>
                  <a:srgbClr val="99D3FF"/>
                </a:solidFill>
                <a:latin typeface="Calibri"/>
                <a:cs typeface="Calibri"/>
              </a:rPr>
              <a:t> </a:t>
            </a:r>
            <a:r>
              <a:rPr sz="1867" b="1" dirty="0">
                <a:solidFill>
                  <a:srgbClr val="99D3FF"/>
                </a:solidFill>
                <a:latin typeface="Calibri"/>
                <a:cs typeface="Calibri"/>
              </a:rPr>
              <a:t>for</a:t>
            </a:r>
            <a:r>
              <a:rPr sz="1867" b="1" spc="-33" dirty="0">
                <a:solidFill>
                  <a:srgbClr val="99D3FF"/>
                </a:solidFill>
                <a:latin typeface="Calibri"/>
                <a:cs typeface="Calibri"/>
              </a:rPr>
              <a:t> </a:t>
            </a:r>
            <a:r>
              <a:rPr sz="1867" b="1" spc="-13" dirty="0">
                <a:solidFill>
                  <a:srgbClr val="99D3FF"/>
                </a:solidFill>
                <a:latin typeface="Calibri"/>
                <a:cs typeface="Calibri"/>
              </a:rPr>
              <a:t>business</a:t>
            </a:r>
            <a:endParaRPr sz="1867">
              <a:latin typeface="Calibri"/>
              <a:cs typeface="Calibri"/>
            </a:endParaRPr>
          </a:p>
          <a:p>
            <a:pPr marL="398770" indent="-381837">
              <a:spcBef>
                <a:spcPts val="1120"/>
              </a:spcBef>
              <a:buFont typeface="Wingdings"/>
              <a:buChar char=""/>
              <a:tabLst>
                <a:tab pos="398770" algn="l"/>
              </a:tabLst>
            </a:pPr>
            <a:r>
              <a:rPr sz="1867" b="1" dirty="0">
                <a:solidFill>
                  <a:srgbClr val="99D3FF"/>
                </a:solidFill>
                <a:latin typeface="Calibri"/>
                <a:cs typeface="Calibri"/>
              </a:rPr>
              <a:t>Data</a:t>
            </a:r>
            <a:r>
              <a:rPr sz="1867" b="1" spc="-60" dirty="0">
                <a:solidFill>
                  <a:srgbClr val="99D3FF"/>
                </a:solidFill>
                <a:latin typeface="Calibri"/>
                <a:cs typeface="Calibri"/>
              </a:rPr>
              <a:t> </a:t>
            </a:r>
            <a:r>
              <a:rPr sz="1867" b="1" dirty="0">
                <a:solidFill>
                  <a:srgbClr val="99D3FF"/>
                </a:solidFill>
                <a:latin typeface="Calibri"/>
                <a:cs typeface="Calibri"/>
              </a:rPr>
              <a:t>availabilty,</a:t>
            </a:r>
            <a:r>
              <a:rPr sz="1867" b="1" spc="-47" dirty="0">
                <a:solidFill>
                  <a:srgbClr val="99D3FF"/>
                </a:solidFill>
                <a:latin typeface="Calibri"/>
                <a:cs typeface="Calibri"/>
              </a:rPr>
              <a:t> </a:t>
            </a:r>
            <a:r>
              <a:rPr sz="1867" b="1" dirty="0">
                <a:solidFill>
                  <a:srgbClr val="99D3FF"/>
                </a:solidFill>
                <a:latin typeface="Calibri"/>
                <a:cs typeface="Calibri"/>
              </a:rPr>
              <a:t>data</a:t>
            </a:r>
            <a:r>
              <a:rPr sz="1867" b="1" spc="-73" dirty="0">
                <a:solidFill>
                  <a:srgbClr val="99D3FF"/>
                </a:solidFill>
                <a:latin typeface="Calibri"/>
                <a:cs typeface="Calibri"/>
              </a:rPr>
              <a:t> </a:t>
            </a:r>
            <a:r>
              <a:rPr sz="1867" b="1" spc="-13" dirty="0">
                <a:solidFill>
                  <a:srgbClr val="99D3FF"/>
                </a:solidFill>
                <a:latin typeface="Calibri"/>
                <a:cs typeface="Calibri"/>
              </a:rPr>
              <a:t>quality</a:t>
            </a:r>
            <a:endParaRPr sz="1867">
              <a:latin typeface="Calibri"/>
              <a:cs typeface="Calibri"/>
            </a:endParaRPr>
          </a:p>
        </p:txBody>
      </p:sp>
      <p:sp>
        <p:nvSpPr>
          <p:cNvPr id="15" name="object 15"/>
          <p:cNvSpPr txBox="1"/>
          <p:nvPr/>
        </p:nvSpPr>
        <p:spPr>
          <a:xfrm>
            <a:off x="6147307" y="1455420"/>
            <a:ext cx="3596640" cy="386430"/>
          </a:xfrm>
          <a:prstGeom prst="rect">
            <a:avLst/>
          </a:prstGeom>
        </p:spPr>
        <p:txBody>
          <a:bodyPr vert="horz" wrap="square" lIns="0" tIns="16933" rIns="0" bIns="0" rtlCol="0">
            <a:spAutoFit/>
          </a:bodyPr>
          <a:lstStyle/>
          <a:p>
            <a:pPr marL="16933">
              <a:spcBef>
                <a:spcPts val="133"/>
              </a:spcBef>
            </a:pPr>
            <a:r>
              <a:rPr sz="2400" b="1" dirty="0">
                <a:solidFill>
                  <a:srgbClr val="66DBFF"/>
                </a:solidFill>
                <a:latin typeface="Trebuchet MS"/>
                <a:cs typeface="Trebuchet MS"/>
              </a:rPr>
              <a:t>Identify</a:t>
            </a:r>
            <a:r>
              <a:rPr sz="2400" b="1" spc="-87" dirty="0">
                <a:solidFill>
                  <a:srgbClr val="66DBFF"/>
                </a:solidFill>
                <a:latin typeface="Trebuchet MS"/>
                <a:cs typeface="Trebuchet MS"/>
              </a:rPr>
              <a:t> </a:t>
            </a:r>
            <a:r>
              <a:rPr sz="2400" b="1" dirty="0">
                <a:solidFill>
                  <a:srgbClr val="66DBFF"/>
                </a:solidFill>
                <a:latin typeface="Trebuchet MS"/>
                <a:cs typeface="Trebuchet MS"/>
              </a:rPr>
              <a:t>Business</a:t>
            </a:r>
            <a:r>
              <a:rPr sz="2400" b="1" spc="-127" dirty="0">
                <a:solidFill>
                  <a:srgbClr val="66DBFF"/>
                </a:solidFill>
                <a:latin typeface="Trebuchet MS"/>
                <a:cs typeface="Trebuchet MS"/>
              </a:rPr>
              <a:t> </a:t>
            </a:r>
            <a:r>
              <a:rPr sz="2400" b="1" spc="-13" dirty="0">
                <a:solidFill>
                  <a:srgbClr val="66DBFF"/>
                </a:solidFill>
                <a:latin typeface="Trebuchet MS"/>
                <a:cs typeface="Trebuchet MS"/>
              </a:rPr>
              <a:t>process</a:t>
            </a:r>
            <a:endParaRPr sz="2400">
              <a:latin typeface="Trebuchet MS"/>
              <a:cs typeface="Trebuchet MS"/>
            </a:endParaRPr>
          </a:p>
        </p:txBody>
      </p:sp>
      <p:grpSp>
        <p:nvGrpSpPr>
          <p:cNvPr id="16" name="object 16"/>
          <p:cNvGrpSpPr/>
          <p:nvPr/>
        </p:nvGrpSpPr>
        <p:grpSpPr>
          <a:xfrm>
            <a:off x="6522719" y="2552124"/>
            <a:ext cx="4197094" cy="1614490"/>
            <a:chOff x="4892040" y="1914093"/>
            <a:chExt cx="3147821" cy="1210868"/>
          </a:xfrm>
        </p:grpSpPr>
        <p:pic>
          <p:nvPicPr>
            <p:cNvPr id="17" name="object 17"/>
            <p:cNvPicPr/>
            <p:nvPr/>
          </p:nvPicPr>
          <p:blipFill>
            <a:blip r:embed="rId6" cstate="print"/>
            <a:stretch>
              <a:fillRect/>
            </a:stretch>
          </p:blipFill>
          <p:spPr>
            <a:xfrm>
              <a:off x="4892040" y="1914093"/>
              <a:ext cx="3147821" cy="1210868"/>
            </a:xfrm>
            <a:prstGeom prst="rect">
              <a:avLst/>
            </a:prstGeom>
          </p:spPr>
        </p:pic>
        <p:sp>
          <p:nvSpPr>
            <p:cNvPr id="19" name="object 19"/>
            <p:cNvSpPr/>
            <p:nvPr/>
          </p:nvSpPr>
          <p:spPr>
            <a:xfrm>
              <a:off x="5218938" y="2068830"/>
              <a:ext cx="2514600" cy="579120"/>
            </a:xfrm>
            <a:custGeom>
              <a:avLst/>
              <a:gdLst/>
              <a:ahLst/>
              <a:cxnLst/>
              <a:rect l="l" t="t" r="r" b="b"/>
              <a:pathLst>
                <a:path w="2514600" h="579119">
                  <a:moveTo>
                    <a:pt x="0" y="289559"/>
                  </a:moveTo>
                  <a:lnTo>
                    <a:pt x="144779" y="0"/>
                  </a:lnTo>
                  <a:lnTo>
                    <a:pt x="2369819" y="0"/>
                  </a:lnTo>
                  <a:lnTo>
                    <a:pt x="2514600" y="289559"/>
                  </a:lnTo>
                  <a:lnTo>
                    <a:pt x="2369819" y="579119"/>
                  </a:lnTo>
                  <a:lnTo>
                    <a:pt x="144779" y="579119"/>
                  </a:lnTo>
                  <a:lnTo>
                    <a:pt x="0" y="289559"/>
                  </a:lnTo>
                  <a:close/>
                </a:path>
              </a:pathLst>
            </a:custGeom>
            <a:ln w="19812">
              <a:solidFill>
                <a:srgbClr val="00C3FF"/>
              </a:solidFill>
            </a:ln>
          </p:spPr>
          <p:txBody>
            <a:bodyPr wrap="square" lIns="0" tIns="0" rIns="0" bIns="0" rtlCol="0"/>
            <a:lstStyle/>
            <a:p>
              <a:endParaRPr sz="2400"/>
            </a:p>
          </p:txBody>
        </p:sp>
      </p:grpSp>
      <p:sp>
        <p:nvSpPr>
          <p:cNvPr id="20" name="object 20"/>
          <p:cNvSpPr txBox="1"/>
          <p:nvPr/>
        </p:nvSpPr>
        <p:spPr>
          <a:xfrm>
            <a:off x="7356855" y="2902306"/>
            <a:ext cx="2563707" cy="428387"/>
          </a:xfrm>
          <a:prstGeom prst="rect">
            <a:avLst/>
          </a:prstGeom>
        </p:spPr>
        <p:txBody>
          <a:bodyPr vert="horz" wrap="square" lIns="0" tIns="17780" rIns="0" bIns="0" rtlCol="0">
            <a:spAutoFit/>
          </a:bodyPr>
          <a:lstStyle/>
          <a:p>
            <a:pPr marL="16933">
              <a:spcBef>
                <a:spcPts val="140"/>
              </a:spcBef>
            </a:pPr>
            <a:r>
              <a:rPr sz="2667" b="1" dirty="0">
                <a:solidFill>
                  <a:srgbClr val="FFFFFF"/>
                </a:solidFill>
                <a:latin typeface="Calibri"/>
                <a:cs typeface="Calibri"/>
              </a:rPr>
              <a:t>Sales</a:t>
            </a:r>
            <a:r>
              <a:rPr sz="2667" b="1" spc="-13" dirty="0">
                <a:solidFill>
                  <a:srgbClr val="FFFFFF"/>
                </a:solidFill>
                <a:latin typeface="Calibri"/>
                <a:cs typeface="Calibri"/>
              </a:rPr>
              <a:t> transactions</a:t>
            </a:r>
            <a:endParaRPr sz="2667">
              <a:latin typeface="Calibri"/>
              <a:cs typeface="Calibri"/>
            </a:endParaRPr>
          </a:p>
        </p:txBody>
      </p:sp>
      <p:grpSp>
        <p:nvGrpSpPr>
          <p:cNvPr id="21" name="object 21"/>
          <p:cNvGrpSpPr/>
          <p:nvPr/>
        </p:nvGrpSpPr>
        <p:grpSpPr>
          <a:xfrm>
            <a:off x="6941312" y="3742928"/>
            <a:ext cx="3691467" cy="2238585"/>
            <a:chOff x="5205984" y="2807195"/>
            <a:chExt cx="2768600" cy="1678939"/>
          </a:xfrm>
        </p:grpSpPr>
        <p:pic>
          <p:nvPicPr>
            <p:cNvPr id="22" name="object 22"/>
            <p:cNvPicPr/>
            <p:nvPr/>
          </p:nvPicPr>
          <p:blipFill>
            <a:blip r:embed="rId7" cstate="print"/>
            <a:stretch>
              <a:fillRect/>
            </a:stretch>
          </p:blipFill>
          <p:spPr>
            <a:xfrm>
              <a:off x="5205984" y="2816352"/>
              <a:ext cx="381762" cy="372618"/>
            </a:xfrm>
            <a:prstGeom prst="rect">
              <a:avLst/>
            </a:prstGeom>
          </p:spPr>
        </p:pic>
        <p:pic>
          <p:nvPicPr>
            <p:cNvPr id="23" name="object 23"/>
            <p:cNvPicPr/>
            <p:nvPr/>
          </p:nvPicPr>
          <p:blipFill>
            <a:blip r:embed="rId8" cstate="print"/>
            <a:stretch>
              <a:fillRect/>
            </a:stretch>
          </p:blipFill>
          <p:spPr>
            <a:xfrm>
              <a:off x="5484876" y="2807195"/>
              <a:ext cx="1788414" cy="398538"/>
            </a:xfrm>
            <a:prstGeom prst="rect">
              <a:avLst/>
            </a:prstGeom>
          </p:spPr>
        </p:pic>
        <p:pic>
          <p:nvPicPr>
            <p:cNvPr id="24" name="object 24"/>
            <p:cNvPicPr/>
            <p:nvPr/>
          </p:nvPicPr>
          <p:blipFill>
            <a:blip r:embed="rId7" cstate="print"/>
            <a:stretch>
              <a:fillRect/>
            </a:stretch>
          </p:blipFill>
          <p:spPr>
            <a:xfrm>
              <a:off x="5205984" y="3136392"/>
              <a:ext cx="381762" cy="372618"/>
            </a:xfrm>
            <a:prstGeom prst="rect">
              <a:avLst/>
            </a:prstGeom>
          </p:spPr>
        </p:pic>
        <p:pic>
          <p:nvPicPr>
            <p:cNvPr id="25" name="object 25"/>
            <p:cNvPicPr/>
            <p:nvPr/>
          </p:nvPicPr>
          <p:blipFill>
            <a:blip r:embed="rId9" cstate="print"/>
            <a:stretch>
              <a:fillRect/>
            </a:stretch>
          </p:blipFill>
          <p:spPr>
            <a:xfrm>
              <a:off x="5484876" y="3127235"/>
              <a:ext cx="1661922" cy="398538"/>
            </a:xfrm>
            <a:prstGeom prst="rect">
              <a:avLst/>
            </a:prstGeom>
          </p:spPr>
        </p:pic>
        <p:pic>
          <p:nvPicPr>
            <p:cNvPr id="26" name="object 26"/>
            <p:cNvPicPr/>
            <p:nvPr/>
          </p:nvPicPr>
          <p:blipFill>
            <a:blip r:embed="rId7" cstate="print"/>
            <a:stretch>
              <a:fillRect/>
            </a:stretch>
          </p:blipFill>
          <p:spPr>
            <a:xfrm>
              <a:off x="5205984" y="3456431"/>
              <a:ext cx="381762" cy="372618"/>
            </a:xfrm>
            <a:prstGeom prst="rect">
              <a:avLst/>
            </a:prstGeom>
          </p:spPr>
        </p:pic>
        <p:pic>
          <p:nvPicPr>
            <p:cNvPr id="27" name="object 27"/>
            <p:cNvPicPr/>
            <p:nvPr/>
          </p:nvPicPr>
          <p:blipFill>
            <a:blip r:embed="rId10" cstate="print"/>
            <a:stretch>
              <a:fillRect/>
            </a:stretch>
          </p:blipFill>
          <p:spPr>
            <a:xfrm>
              <a:off x="5484876" y="3447275"/>
              <a:ext cx="1817370" cy="398538"/>
            </a:xfrm>
            <a:prstGeom prst="rect">
              <a:avLst/>
            </a:prstGeom>
          </p:spPr>
        </p:pic>
        <p:pic>
          <p:nvPicPr>
            <p:cNvPr id="28" name="object 28"/>
            <p:cNvPicPr/>
            <p:nvPr/>
          </p:nvPicPr>
          <p:blipFill>
            <a:blip r:embed="rId7" cstate="print"/>
            <a:stretch>
              <a:fillRect/>
            </a:stretch>
          </p:blipFill>
          <p:spPr>
            <a:xfrm>
              <a:off x="5205984" y="3776472"/>
              <a:ext cx="381762" cy="372618"/>
            </a:xfrm>
            <a:prstGeom prst="rect">
              <a:avLst/>
            </a:prstGeom>
          </p:spPr>
        </p:pic>
        <p:pic>
          <p:nvPicPr>
            <p:cNvPr id="29" name="object 29"/>
            <p:cNvPicPr/>
            <p:nvPr/>
          </p:nvPicPr>
          <p:blipFill>
            <a:blip r:embed="rId11" cstate="print"/>
            <a:stretch>
              <a:fillRect/>
            </a:stretch>
          </p:blipFill>
          <p:spPr>
            <a:xfrm>
              <a:off x="5484876" y="3767327"/>
              <a:ext cx="2489454" cy="398538"/>
            </a:xfrm>
            <a:prstGeom prst="rect">
              <a:avLst/>
            </a:prstGeom>
          </p:spPr>
        </p:pic>
        <p:pic>
          <p:nvPicPr>
            <p:cNvPr id="30" name="object 30"/>
            <p:cNvPicPr/>
            <p:nvPr/>
          </p:nvPicPr>
          <p:blipFill>
            <a:blip r:embed="rId7" cstate="print"/>
            <a:stretch>
              <a:fillRect/>
            </a:stretch>
          </p:blipFill>
          <p:spPr>
            <a:xfrm>
              <a:off x="5205984" y="4096512"/>
              <a:ext cx="381762" cy="372617"/>
            </a:xfrm>
            <a:prstGeom prst="rect">
              <a:avLst/>
            </a:prstGeom>
          </p:spPr>
        </p:pic>
        <p:pic>
          <p:nvPicPr>
            <p:cNvPr id="31" name="object 31"/>
            <p:cNvPicPr/>
            <p:nvPr/>
          </p:nvPicPr>
          <p:blipFill>
            <a:blip r:embed="rId12" cstate="print"/>
            <a:stretch>
              <a:fillRect/>
            </a:stretch>
          </p:blipFill>
          <p:spPr>
            <a:xfrm>
              <a:off x="5484876" y="4087368"/>
              <a:ext cx="1367790" cy="398538"/>
            </a:xfrm>
            <a:prstGeom prst="rect">
              <a:avLst/>
            </a:prstGeom>
          </p:spPr>
        </p:pic>
      </p:grpSp>
      <p:sp>
        <p:nvSpPr>
          <p:cNvPr id="32" name="object 32"/>
          <p:cNvSpPr txBox="1"/>
          <p:nvPr/>
        </p:nvSpPr>
        <p:spPr>
          <a:xfrm>
            <a:off x="7064247" y="3645483"/>
            <a:ext cx="3415453" cy="2162451"/>
          </a:xfrm>
          <a:prstGeom prst="rect">
            <a:avLst/>
          </a:prstGeom>
        </p:spPr>
        <p:txBody>
          <a:bodyPr vert="horz" wrap="square" lIns="0" tIns="160020" rIns="0" bIns="0" rtlCol="0">
            <a:spAutoFit/>
          </a:bodyPr>
          <a:lstStyle/>
          <a:p>
            <a:pPr marL="398770" indent="-381837">
              <a:spcBef>
                <a:spcPts val="1260"/>
              </a:spcBef>
              <a:buClr>
                <a:srgbClr val="99D3FF"/>
              </a:buClr>
              <a:buFont typeface="Wingdings"/>
              <a:buChar char=""/>
              <a:tabLst>
                <a:tab pos="398770" algn="l"/>
              </a:tabLst>
            </a:pPr>
            <a:r>
              <a:rPr sz="1867" b="1" dirty="0">
                <a:solidFill>
                  <a:srgbClr val="B3B3B3"/>
                </a:solidFill>
                <a:latin typeface="Calibri"/>
                <a:cs typeface="Calibri"/>
              </a:rPr>
              <a:t>Which</a:t>
            </a:r>
            <a:r>
              <a:rPr sz="1867" b="1" spc="-33" dirty="0">
                <a:solidFill>
                  <a:srgbClr val="B3B3B3"/>
                </a:solidFill>
                <a:latin typeface="Calibri"/>
                <a:cs typeface="Calibri"/>
              </a:rPr>
              <a:t> </a:t>
            </a:r>
            <a:r>
              <a:rPr sz="1867" b="1" dirty="0">
                <a:solidFill>
                  <a:srgbClr val="B3B3B3"/>
                </a:solidFill>
                <a:latin typeface="Calibri"/>
                <a:cs typeface="Calibri"/>
              </a:rPr>
              <a:t>products</a:t>
            </a:r>
            <a:r>
              <a:rPr sz="1867" b="1" spc="-47" dirty="0">
                <a:solidFill>
                  <a:srgbClr val="B3B3B3"/>
                </a:solidFill>
                <a:latin typeface="Calibri"/>
                <a:cs typeface="Calibri"/>
              </a:rPr>
              <a:t> </a:t>
            </a:r>
            <a:r>
              <a:rPr sz="1867" b="1" spc="-27" dirty="0">
                <a:solidFill>
                  <a:srgbClr val="B3B3B3"/>
                </a:solidFill>
                <a:latin typeface="Calibri"/>
                <a:cs typeface="Calibri"/>
              </a:rPr>
              <a:t>sold</a:t>
            </a:r>
            <a:endParaRPr sz="1867">
              <a:latin typeface="Calibri"/>
              <a:cs typeface="Calibri"/>
            </a:endParaRPr>
          </a:p>
          <a:p>
            <a:pPr marL="398770" indent="-381837">
              <a:spcBef>
                <a:spcPts val="1120"/>
              </a:spcBef>
              <a:buClr>
                <a:srgbClr val="99D3FF"/>
              </a:buClr>
              <a:buFont typeface="Wingdings"/>
              <a:buChar char=""/>
              <a:tabLst>
                <a:tab pos="398770" algn="l"/>
              </a:tabLst>
            </a:pPr>
            <a:r>
              <a:rPr sz="1867" b="1" dirty="0">
                <a:solidFill>
                  <a:srgbClr val="B3B3B3"/>
                </a:solidFill>
                <a:latin typeface="Calibri"/>
                <a:cs typeface="Calibri"/>
              </a:rPr>
              <a:t>What</a:t>
            </a:r>
            <a:r>
              <a:rPr sz="1867" b="1" spc="-33" dirty="0">
                <a:solidFill>
                  <a:srgbClr val="B3B3B3"/>
                </a:solidFill>
                <a:latin typeface="Calibri"/>
                <a:cs typeface="Calibri"/>
              </a:rPr>
              <a:t> </a:t>
            </a:r>
            <a:r>
              <a:rPr sz="1867" b="1" dirty="0">
                <a:solidFill>
                  <a:srgbClr val="B3B3B3"/>
                </a:solidFill>
                <a:latin typeface="Calibri"/>
                <a:cs typeface="Calibri"/>
              </a:rPr>
              <a:t>is</a:t>
            </a:r>
            <a:r>
              <a:rPr sz="1867" b="1" spc="-13" dirty="0">
                <a:solidFill>
                  <a:srgbClr val="B3B3B3"/>
                </a:solidFill>
                <a:latin typeface="Calibri"/>
                <a:cs typeface="Calibri"/>
              </a:rPr>
              <a:t> </a:t>
            </a:r>
            <a:r>
              <a:rPr sz="1867" b="1" dirty="0">
                <a:solidFill>
                  <a:srgbClr val="B3B3B3"/>
                </a:solidFill>
                <a:latin typeface="Calibri"/>
                <a:cs typeface="Calibri"/>
              </a:rPr>
              <a:t>sales</a:t>
            </a:r>
            <a:r>
              <a:rPr sz="1867" b="1" spc="-40" dirty="0">
                <a:solidFill>
                  <a:srgbClr val="B3B3B3"/>
                </a:solidFill>
                <a:latin typeface="Calibri"/>
                <a:cs typeface="Calibri"/>
              </a:rPr>
              <a:t> </a:t>
            </a:r>
            <a:r>
              <a:rPr sz="1867" b="1" spc="-13" dirty="0">
                <a:solidFill>
                  <a:srgbClr val="B3B3B3"/>
                </a:solidFill>
                <a:latin typeface="Calibri"/>
                <a:cs typeface="Calibri"/>
              </a:rPr>
              <a:t>profit</a:t>
            </a:r>
            <a:endParaRPr sz="1867">
              <a:latin typeface="Calibri"/>
              <a:cs typeface="Calibri"/>
            </a:endParaRPr>
          </a:p>
          <a:p>
            <a:pPr marL="398770" indent="-381837">
              <a:spcBef>
                <a:spcPts val="1120"/>
              </a:spcBef>
              <a:buClr>
                <a:srgbClr val="99D3FF"/>
              </a:buClr>
              <a:buFont typeface="Wingdings"/>
              <a:buChar char=""/>
              <a:tabLst>
                <a:tab pos="398770" algn="l"/>
              </a:tabLst>
            </a:pPr>
            <a:r>
              <a:rPr sz="1867" b="1" dirty="0">
                <a:solidFill>
                  <a:srgbClr val="B3B3B3"/>
                </a:solidFill>
                <a:latin typeface="Calibri"/>
                <a:cs typeface="Calibri"/>
              </a:rPr>
              <a:t>Sales</a:t>
            </a:r>
            <a:r>
              <a:rPr sz="1867" b="1" spc="-27" dirty="0">
                <a:solidFill>
                  <a:srgbClr val="B3B3B3"/>
                </a:solidFill>
                <a:latin typeface="Calibri"/>
                <a:cs typeface="Calibri"/>
              </a:rPr>
              <a:t> </a:t>
            </a:r>
            <a:r>
              <a:rPr sz="1867" b="1" dirty="0">
                <a:solidFill>
                  <a:srgbClr val="B3B3B3"/>
                </a:solidFill>
                <a:latin typeface="Calibri"/>
                <a:cs typeface="Calibri"/>
              </a:rPr>
              <a:t>of</a:t>
            </a:r>
            <a:r>
              <a:rPr sz="1867" b="1" spc="-27" dirty="0">
                <a:solidFill>
                  <a:srgbClr val="B3B3B3"/>
                </a:solidFill>
                <a:latin typeface="Calibri"/>
                <a:cs typeface="Calibri"/>
              </a:rPr>
              <a:t> </a:t>
            </a:r>
            <a:r>
              <a:rPr sz="1867" b="1" dirty="0">
                <a:solidFill>
                  <a:srgbClr val="B3B3B3"/>
                </a:solidFill>
                <a:latin typeface="Calibri"/>
                <a:cs typeface="Calibri"/>
              </a:rPr>
              <a:t>each</a:t>
            </a:r>
            <a:r>
              <a:rPr sz="1867" b="1" spc="-40" dirty="0">
                <a:solidFill>
                  <a:srgbClr val="B3B3B3"/>
                </a:solidFill>
                <a:latin typeface="Calibri"/>
                <a:cs typeface="Calibri"/>
              </a:rPr>
              <a:t> </a:t>
            </a:r>
            <a:r>
              <a:rPr sz="1867" b="1" spc="-13" dirty="0">
                <a:solidFill>
                  <a:srgbClr val="B3B3B3"/>
                </a:solidFill>
                <a:latin typeface="Calibri"/>
                <a:cs typeface="Calibri"/>
              </a:rPr>
              <a:t>website</a:t>
            </a:r>
            <a:endParaRPr sz="1867">
              <a:latin typeface="Calibri"/>
              <a:cs typeface="Calibri"/>
            </a:endParaRPr>
          </a:p>
          <a:p>
            <a:pPr marL="398770" indent="-381837">
              <a:spcBef>
                <a:spcPts val="1120"/>
              </a:spcBef>
              <a:buClr>
                <a:srgbClr val="99D3FF"/>
              </a:buClr>
              <a:buFont typeface="Wingdings"/>
              <a:buChar char=""/>
              <a:tabLst>
                <a:tab pos="398770" algn="l"/>
              </a:tabLst>
            </a:pPr>
            <a:r>
              <a:rPr sz="1867" b="1" spc="-13" dirty="0">
                <a:solidFill>
                  <a:srgbClr val="B3B3B3"/>
                </a:solidFill>
                <a:latin typeface="Calibri"/>
                <a:cs typeface="Calibri"/>
              </a:rPr>
              <a:t>Performance</a:t>
            </a:r>
            <a:r>
              <a:rPr sz="1867" b="1" spc="-47" dirty="0">
                <a:solidFill>
                  <a:srgbClr val="B3B3B3"/>
                </a:solidFill>
                <a:latin typeface="Calibri"/>
                <a:cs typeface="Calibri"/>
              </a:rPr>
              <a:t> </a:t>
            </a:r>
            <a:r>
              <a:rPr sz="1867" b="1" dirty="0">
                <a:solidFill>
                  <a:srgbClr val="B3B3B3"/>
                </a:solidFill>
                <a:latin typeface="Calibri"/>
                <a:cs typeface="Calibri"/>
              </a:rPr>
              <a:t>on</a:t>
            </a:r>
            <a:r>
              <a:rPr sz="1867" b="1" spc="7" dirty="0">
                <a:solidFill>
                  <a:srgbClr val="B3B3B3"/>
                </a:solidFill>
                <a:latin typeface="Calibri"/>
                <a:cs typeface="Calibri"/>
              </a:rPr>
              <a:t> </a:t>
            </a:r>
            <a:r>
              <a:rPr sz="1867" b="1" dirty="0">
                <a:solidFill>
                  <a:srgbClr val="B3B3B3"/>
                </a:solidFill>
                <a:latin typeface="Calibri"/>
                <a:cs typeface="Calibri"/>
              </a:rPr>
              <a:t>different</a:t>
            </a:r>
            <a:r>
              <a:rPr sz="1867" b="1" spc="-40" dirty="0">
                <a:solidFill>
                  <a:srgbClr val="B3B3B3"/>
                </a:solidFill>
                <a:latin typeface="Calibri"/>
                <a:cs typeface="Calibri"/>
              </a:rPr>
              <a:t> </a:t>
            </a:r>
            <a:r>
              <a:rPr sz="1867" b="1" spc="-27" dirty="0">
                <a:solidFill>
                  <a:srgbClr val="B3B3B3"/>
                </a:solidFill>
                <a:latin typeface="Calibri"/>
                <a:cs typeface="Calibri"/>
              </a:rPr>
              <a:t>days</a:t>
            </a:r>
            <a:endParaRPr sz="1867">
              <a:latin typeface="Calibri"/>
              <a:cs typeface="Calibri"/>
            </a:endParaRPr>
          </a:p>
          <a:p>
            <a:pPr marL="398770" indent="-381837">
              <a:spcBef>
                <a:spcPts val="1127"/>
              </a:spcBef>
              <a:buClr>
                <a:srgbClr val="99D3FF"/>
              </a:buClr>
              <a:buFont typeface="Wingdings"/>
              <a:buChar char=""/>
              <a:tabLst>
                <a:tab pos="398770" algn="l"/>
              </a:tabLst>
            </a:pPr>
            <a:r>
              <a:rPr sz="1867" b="1" dirty="0">
                <a:solidFill>
                  <a:srgbClr val="B3B3B3"/>
                </a:solidFill>
                <a:latin typeface="Calibri"/>
                <a:cs typeface="Calibri"/>
              </a:rPr>
              <a:t>Sales</a:t>
            </a:r>
            <a:r>
              <a:rPr sz="1867" b="1" spc="-33" dirty="0">
                <a:solidFill>
                  <a:srgbClr val="B3B3B3"/>
                </a:solidFill>
                <a:latin typeface="Calibri"/>
                <a:cs typeface="Calibri"/>
              </a:rPr>
              <a:t> </a:t>
            </a:r>
            <a:r>
              <a:rPr sz="1867" b="1" dirty="0">
                <a:solidFill>
                  <a:srgbClr val="B3B3B3"/>
                </a:solidFill>
                <a:latin typeface="Calibri"/>
                <a:cs typeface="Calibri"/>
              </a:rPr>
              <a:t>over</a:t>
            </a:r>
            <a:r>
              <a:rPr sz="1867" b="1" spc="-27" dirty="0">
                <a:solidFill>
                  <a:srgbClr val="B3B3B3"/>
                </a:solidFill>
                <a:latin typeface="Calibri"/>
                <a:cs typeface="Calibri"/>
              </a:rPr>
              <a:t> time</a:t>
            </a:r>
            <a:endParaRPr sz="1867">
              <a:latin typeface="Calibri"/>
              <a:cs typeface="Calibri"/>
            </a:endParaRP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03551" y="119711"/>
            <a:ext cx="8058425" cy="695062"/>
          </a:xfrm>
          <a:prstGeom prst="rect">
            <a:avLst/>
          </a:prstGeom>
        </p:spPr>
        <p:txBody>
          <a:bodyPr vert="horz" wrap="square" lIns="0" tIns="17780" rIns="0" bIns="0" rtlCol="0" anchor="ctr">
            <a:spAutoFit/>
          </a:bodyPr>
          <a:lstStyle/>
          <a:p>
            <a:pPr marL="969409">
              <a:lnSpc>
                <a:spcPct val="100000"/>
              </a:lnSpc>
              <a:spcBef>
                <a:spcPts val="140"/>
              </a:spcBef>
            </a:pPr>
            <a:r>
              <a:rPr dirty="0">
                <a:solidFill>
                  <a:schemeClr val="bg1"/>
                </a:solidFill>
                <a:latin typeface="+mn-lt"/>
              </a:rPr>
              <a:t>Case</a:t>
            </a:r>
            <a:r>
              <a:rPr spc="-67" dirty="0">
                <a:solidFill>
                  <a:schemeClr val="bg1"/>
                </a:solidFill>
                <a:latin typeface="+mn-lt"/>
              </a:rPr>
              <a:t> </a:t>
            </a:r>
            <a:r>
              <a:rPr dirty="0">
                <a:solidFill>
                  <a:schemeClr val="bg1"/>
                </a:solidFill>
                <a:latin typeface="+mn-lt"/>
              </a:rPr>
              <a:t>study:</a:t>
            </a:r>
            <a:r>
              <a:rPr spc="-40" dirty="0">
                <a:solidFill>
                  <a:schemeClr val="bg1"/>
                </a:solidFill>
                <a:latin typeface="+mn-lt"/>
              </a:rPr>
              <a:t> </a:t>
            </a:r>
            <a:r>
              <a:rPr spc="-13" dirty="0">
                <a:solidFill>
                  <a:schemeClr val="bg1"/>
                </a:solidFill>
                <a:latin typeface="+mn-lt"/>
              </a:rPr>
              <a:t>E-Commerce</a:t>
            </a:r>
          </a:p>
        </p:txBody>
      </p:sp>
      <p:grpSp>
        <p:nvGrpSpPr>
          <p:cNvPr id="3" name="object 3"/>
          <p:cNvGrpSpPr/>
          <p:nvPr/>
        </p:nvGrpSpPr>
        <p:grpSpPr>
          <a:xfrm>
            <a:off x="2003551" y="1101310"/>
            <a:ext cx="4197096" cy="1616489"/>
            <a:chOff x="1502663" y="825982"/>
            <a:chExt cx="3147822" cy="1212367"/>
          </a:xfrm>
        </p:grpSpPr>
        <p:pic>
          <p:nvPicPr>
            <p:cNvPr id="4" name="object 4"/>
            <p:cNvPicPr/>
            <p:nvPr/>
          </p:nvPicPr>
          <p:blipFill>
            <a:blip r:embed="rId2" cstate="print"/>
            <a:stretch>
              <a:fillRect/>
            </a:stretch>
          </p:blipFill>
          <p:spPr>
            <a:xfrm>
              <a:off x="1502663" y="825982"/>
              <a:ext cx="3147822" cy="1212367"/>
            </a:xfrm>
            <a:prstGeom prst="rect">
              <a:avLst/>
            </a:prstGeom>
          </p:spPr>
        </p:pic>
        <p:sp>
          <p:nvSpPr>
            <p:cNvPr id="6" name="object 6"/>
            <p:cNvSpPr/>
            <p:nvPr/>
          </p:nvSpPr>
          <p:spPr>
            <a:xfrm>
              <a:off x="1829561" y="980694"/>
              <a:ext cx="2514600" cy="581025"/>
            </a:xfrm>
            <a:custGeom>
              <a:avLst/>
              <a:gdLst/>
              <a:ahLst/>
              <a:cxnLst/>
              <a:rect l="l" t="t" r="r" b="b"/>
              <a:pathLst>
                <a:path w="2514600" h="581025">
                  <a:moveTo>
                    <a:pt x="0" y="290321"/>
                  </a:moveTo>
                  <a:lnTo>
                    <a:pt x="145161" y="0"/>
                  </a:lnTo>
                  <a:lnTo>
                    <a:pt x="2369439" y="0"/>
                  </a:lnTo>
                  <a:lnTo>
                    <a:pt x="2514600" y="290321"/>
                  </a:lnTo>
                  <a:lnTo>
                    <a:pt x="2369439" y="580643"/>
                  </a:lnTo>
                  <a:lnTo>
                    <a:pt x="145161" y="580643"/>
                  </a:lnTo>
                  <a:lnTo>
                    <a:pt x="0" y="290321"/>
                  </a:lnTo>
                  <a:close/>
                </a:path>
              </a:pathLst>
            </a:custGeom>
            <a:ln w="19812">
              <a:solidFill>
                <a:srgbClr val="00C3FF"/>
              </a:solidFill>
            </a:ln>
          </p:spPr>
          <p:txBody>
            <a:bodyPr wrap="square" lIns="0" tIns="0" rIns="0" bIns="0" rtlCol="0"/>
            <a:lstStyle/>
            <a:p>
              <a:endParaRPr sz="2400"/>
            </a:p>
          </p:txBody>
        </p:sp>
      </p:grpSp>
      <p:sp>
        <p:nvSpPr>
          <p:cNvPr id="7" name="object 7"/>
          <p:cNvSpPr txBox="1"/>
          <p:nvPr/>
        </p:nvSpPr>
        <p:spPr>
          <a:xfrm>
            <a:off x="3661325" y="1452202"/>
            <a:ext cx="914400" cy="428387"/>
          </a:xfrm>
          <a:prstGeom prst="rect">
            <a:avLst/>
          </a:prstGeom>
        </p:spPr>
        <p:txBody>
          <a:bodyPr vert="horz" wrap="square" lIns="0" tIns="17780" rIns="0" bIns="0" rtlCol="0">
            <a:spAutoFit/>
          </a:bodyPr>
          <a:lstStyle/>
          <a:p>
            <a:pPr marL="16933">
              <a:spcBef>
                <a:spcPts val="140"/>
              </a:spcBef>
            </a:pPr>
            <a:r>
              <a:rPr sz="2667" b="1" dirty="0">
                <a:solidFill>
                  <a:srgbClr val="CCEAFF"/>
                </a:solidFill>
                <a:latin typeface="Calibri"/>
                <a:cs typeface="Calibri"/>
              </a:rPr>
              <a:t>Step </a:t>
            </a:r>
            <a:r>
              <a:rPr sz="2667" b="1" spc="-67" dirty="0">
                <a:solidFill>
                  <a:srgbClr val="CCEAFF"/>
                </a:solidFill>
                <a:latin typeface="Calibri"/>
                <a:cs typeface="Calibri"/>
              </a:rPr>
              <a:t>2</a:t>
            </a:r>
            <a:endParaRPr sz="2667">
              <a:latin typeface="Calibri"/>
              <a:cs typeface="Calibri"/>
            </a:endParaRPr>
          </a:p>
        </p:txBody>
      </p:sp>
      <p:grpSp>
        <p:nvGrpSpPr>
          <p:cNvPr id="8" name="object 8"/>
          <p:cNvGrpSpPr/>
          <p:nvPr/>
        </p:nvGrpSpPr>
        <p:grpSpPr>
          <a:xfrm>
            <a:off x="2320543" y="3125199"/>
            <a:ext cx="4573693" cy="958427"/>
            <a:chOff x="1740407" y="2343899"/>
            <a:chExt cx="3430270" cy="718820"/>
          </a:xfrm>
        </p:grpSpPr>
        <p:pic>
          <p:nvPicPr>
            <p:cNvPr id="9" name="object 9"/>
            <p:cNvPicPr/>
            <p:nvPr/>
          </p:nvPicPr>
          <p:blipFill>
            <a:blip r:embed="rId3" cstate="print"/>
            <a:stretch>
              <a:fillRect/>
            </a:stretch>
          </p:blipFill>
          <p:spPr>
            <a:xfrm>
              <a:off x="1740407" y="2353056"/>
              <a:ext cx="381762" cy="372618"/>
            </a:xfrm>
            <a:prstGeom prst="rect">
              <a:avLst/>
            </a:prstGeom>
          </p:spPr>
        </p:pic>
        <p:pic>
          <p:nvPicPr>
            <p:cNvPr id="10" name="object 10"/>
            <p:cNvPicPr/>
            <p:nvPr/>
          </p:nvPicPr>
          <p:blipFill>
            <a:blip r:embed="rId4" cstate="print"/>
            <a:stretch>
              <a:fillRect/>
            </a:stretch>
          </p:blipFill>
          <p:spPr>
            <a:xfrm>
              <a:off x="2019299" y="2343899"/>
              <a:ext cx="3150870" cy="398538"/>
            </a:xfrm>
            <a:prstGeom prst="rect">
              <a:avLst/>
            </a:prstGeom>
          </p:spPr>
        </p:pic>
        <p:pic>
          <p:nvPicPr>
            <p:cNvPr id="11" name="object 11"/>
            <p:cNvPicPr/>
            <p:nvPr/>
          </p:nvPicPr>
          <p:blipFill>
            <a:blip r:embed="rId3" cstate="print"/>
            <a:stretch>
              <a:fillRect/>
            </a:stretch>
          </p:blipFill>
          <p:spPr>
            <a:xfrm>
              <a:off x="1740407" y="2673096"/>
              <a:ext cx="381762" cy="372618"/>
            </a:xfrm>
            <a:prstGeom prst="rect">
              <a:avLst/>
            </a:prstGeom>
          </p:spPr>
        </p:pic>
        <p:pic>
          <p:nvPicPr>
            <p:cNvPr id="12" name="object 12"/>
            <p:cNvPicPr/>
            <p:nvPr/>
          </p:nvPicPr>
          <p:blipFill>
            <a:blip r:embed="rId5" cstate="print"/>
            <a:stretch>
              <a:fillRect/>
            </a:stretch>
          </p:blipFill>
          <p:spPr>
            <a:xfrm>
              <a:off x="2019299" y="2663939"/>
              <a:ext cx="1937766" cy="398538"/>
            </a:xfrm>
            <a:prstGeom prst="rect">
              <a:avLst/>
            </a:prstGeom>
          </p:spPr>
        </p:pic>
      </p:grpSp>
      <p:sp>
        <p:nvSpPr>
          <p:cNvPr id="13" name="object 13"/>
          <p:cNvSpPr txBox="1"/>
          <p:nvPr/>
        </p:nvSpPr>
        <p:spPr>
          <a:xfrm>
            <a:off x="2137325" y="2635164"/>
            <a:ext cx="4600787" cy="1268851"/>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What</a:t>
            </a:r>
            <a:r>
              <a:rPr sz="2400" b="1" spc="-27" dirty="0">
                <a:solidFill>
                  <a:srgbClr val="D9D9D9"/>
                </a:solidFill>
                <a:latin typeface="Calibri"/>
                <a:cs typeface="Calibri"/>
              </a:rPr>
              <a:t> </a:t>
            </a:r>
            <a:r>
              <a:rPr sz="2400" b="1" dirty="0">
                <a:solidFill>
                  <a:srgbClr val="D9D9D9"/>
                </a:solidFill>
                <a:latin typeface="Calibri"/>
                <a:cs typeface="Calibri"/>
              </a:rPr>
              <a:t>level</a:t>
            </a:r>
            <a:r>
              <a:rPr sz="2400" b="1" spc="-67" dirty="0">
                <a:solidFill>
                  <a:srgbClr val="D9D9D9"/>
                </a:solidFill>
                <a:latin typeface="Calibri"/>
                <a:cs typeface="Calibri"/>
              </a:rPr>
              <a:t> </a:t>
            </a:r>
            <a:r>
              <a:rPr sz="2400" b="1" dirty="0">
                <a:solidFill>
                  <a:srgbClr val="D9D9D9"/>
                </a:solidFill>
                <a:latin typeface="Calibri"/>
                <a:cs typeface="Calibri"/>
              </a:rPr>
              <a:t>of</a:t>
            </a:r>
            <a:r>
              <a:rPr sz="2400" b="1" spc="-13" dirty="0">
                <a:solidFill>
                  <a:srgbClr val="D9D9D9"/>
                </a:solidFill>
                <a:latin typeface="Calibri"/>
                <a:cs typeface="Calibri"/>
              </a:rPr>
              <a:t> detail?</a:t>
            </a:r>
            <a:endParaRPr sz="2400">
              <a:latin typeface="Calibri"/>
              <a:cs typeface="Calibri"/>
            </a:endParaRPr>
          </a:p>
          <a:p>
            <a:pPr marL="703562" lvl="1" indent="-381837">
              <a:spcBef>
                <a:spcPts val="1340"/>
              </a:spcBef>
              <a:buFont typeface="Wingdings"/>
              <a:buChar char=""/>
              <a:tabLst>
                <a:tab pos="703562" algn="l"/>
              </a:tabLst>
            </a:pPr>
            <a:r>
              <a:rPr sz="1867" b="1" dirty="0">
                <a:solidFill>
                  <a:srgbClr val="99D3FF"/>
                </a:solidFill>
                <a:latin typeface="Calibri"/>
                <a:cs typeface="Calibri"/>
              </a:rPr>
              <a:t>Most</a:t>
            </a:r>
            <a:r>
              <a:rPr sz="1867" b="1" spc="-40" dirty="0">
                <a:solidFill>
                  <a:srgbClr val="99D3FF"/>
                </a:solidFill>
                <a:latin typeface="Calibri"/>
                <a:cs typeface="Calibri"/>
              </a:rPr>
              <a:t> </a:t>
            </a:r>
            <a:r>
              <a:rPr sz="1867" b="1" dirty="0">
                <a:solidFill>
                  <a:srgbClr val="99D3FF"/>
                </a:solidFill>
                <a:latin typeface="Calibri"/>
                <a:cs typeface="Calibri"/>
              </a:rPr>
              <a:t>analytical</a:t>
            </a:r>
            <a:r>
              <a:rPr sz="1867" b="1" spc="-53" dirty="0">
                <a:solidFill>
                  <a:srgbClr val="99D3FF"/>
                </a:solidFill>
                <a:latin typeface="Calibri"/>
                <a:cs typeface="Calibri"/>
              </a:rPr>
              <a:t> </a:t>
            </a:r>
            <a:r>
              <a:rPr sz="1867" b="1" dirty="0">
                <a:solidFill>
                  <a:srgbClr val="99D3FF"/>
                </a:solidFill>
                <a:latin typeface="Calibri"/>
                <a:cs typeface="Calibri"/>
              </a:rPr>
              <a:t>value</a:t>
            </a:r>
            <a:r>
              <a:rPr sz="1867" b="1" spc="-53" dirty="0">
                <a:solidFill>
                  <a:srgbClr val="99D3FF"/>
                </a:solidFill>
                <a:latin typeface="Calibri"/>
                <a:cs typeface="Calibri"/>
              </a:rPr>
              <a:t> </a:t>
            </a:r>
            <a:r>
              <a:rPr sz="1867" b="1" dirty="0">
                <a:solidFill>
                  <a:srgbClr val="99D3FF"/>
                </a:solidFill>
                <a:latin typeface="Calibri"/>
                <a:cs typeface="Calibri"/>
              </a:rPr>
              <a:t>with</a:t>
            </a:r>
            <a:r>
              <a:rPr sz="1867" b="1" spc="-33" dirty="0">
                <a:solidFill>
                  <a:srgbClr val="99D3FF"/>
                </a:solidFill>
                <a:latin typeface="Calibri"/>
                <a:cs typeface="Calibri"/>
              </a:rPr>
              <a:t> </a:t>
            </a:r>
            <a:r>
              <a:rPr sz="1867" b="1" dirty="0">
                <a:solidFill>
                  <a:srgbClr val="99D3FF"/>
                </a:solidFill>
                <a:latin typeface="Calibri"/>
                <a:cs typeface="Calibri"/>
              </a:rPr>
              <a:t>atomic</a:t>
            </a:r>
            <a:r>
              <a:rPr sz="1867" b="1" spc="-33" dirty="0">
                <a:solidFill>
                  <a:srgbClr val="99D3FF"/>
                </a:solidFill>
                <a:latin typeface="Calibri"/>
                <a:cs typeface="Calibri"/>
              </a:rPr>
              <a:t> </a:t>
            </a:r>
            <a:r>
              <a:rPr sz="1867" b="1" spc="-27" dirty="0">
                <a:solidFill>
                  <a:srgbClr val="99D3FF"/>
                </a:solidFill>
                <a:latin typeface="Calibri"/>
                <a:cs typeface="Calibri"/>
              </a:rPr>
              <a:t>grain</a:t>
            </a:r>
            <a:endParaRPr sz="1867">
              <a:latin typeface="Calibri"/>
              <a:cs typeface="Calibri"/>
            </a:endParaRPr>
          </a:p>
          <a:p>
            <a:pPr marL="703562" lvl="1" indent="-381837">
              <a:spcBef>
                <a:spcPts val="1120"/>
              </a:spcBef>
              <a:buFont typeface="Wingdings"/>
              <a:buChar char=""/>
              <a:tabLst>
                <a:tab pos="703562" algn="l"/>
              </a:tabLst>
            </a:pPr>
            <a:r>
              <a:rPr sz="1867" b="1" dirty="0">
                <a:solidFill>
                  <a:srgbClr val="99D3FF"/>
                </a:solidFill>
                <a:latin typeface="Calibri"/>
                <a:cs typeface="Calibri"/>
              </a:rPr>
              <a:t>Highest</a:t>
            </a:r>
            <a:r>
              <a:rPr sz="1867" b="1" spc="-53" dirty="0">
                <a:solidFill>
                  <a:srgbClr val="99D3FF"/>
                </a:solidFill>
                <a:latin typeface="Calibri"/>
                <a:cs typeface="Calibri"/>
              </a:rPr>
              <a:t> </a:t>
            </a:r>
            <a:r>
              <a:rPr sz="1867" b="1" spc="-13" dirty="0">
                <a:solidFill>
                  <a:srgbClr val="99D3FF"/>
                </a:solidFill>
                <a:latin typeface="Calibri"/>
                <a:cs typeface="Calibri"/>
              </a:rPr>
              <a:t>dimensionality</a:t>
            </a:r>
            <a:endParaRPr sz="1867">
              <a:latin typeface="Calibri"/>
              <a:cs typeface="Calibri"/>
            </a:endParaRPr>
          </a:p>
        </p:txBody>
      </p:sp>
      <p:sp>
        <p:nvSpPr>
          <p:cNvPr id="14" name="object 14"/>
          <p:cNvSpPr txBox="1"/>
          <p:nvPr/>
        </p:nvSpPr>
        <p:spPr>
          <a:xfrm>
            <a:off x="6697979" y="1455420"/>
            <a:ext cx="2495127" cy="386430"/>
          </a:xfrm>
          <a:prstGeom prst="rect">
            <a:avLst/>
          </a:prstGeom>
        </p:spPr>
        <p:txBody>
          <a:bodyPr vert="horz" wrap="square" lIns="0" tIns="16933" rIns="0" bIns="0" rtlCol="0">
            <a:spAutoFit/>
          </a:bodyPr>
          <a:lstStyle/>
          <a:p>
            <a:pPr marL="16933">
              <a:spcBef>
                <a:spcPts val="133"/>
              </a:spcBef>
            </a:pPr>
            <a:r>
              <a:rPr sz="2400" b="1" dirty="0">
                <a:solidFill>
                  <a:srgbClr val="66DBFF"/>
                </a:solidFill>
                <a:latin typeface="Trebuchet MS"/>
                <a:cs typeface="Trebuchet MS"/>
              </a:rPr>
              <a:t>Declare</a:t>
            </a:r>
            <a:r>
              <a:rPr sz="2400" b="1" spc="-40" dirty="0">
                <a:solidFill>
                  <a:srgbClr val="66DBFF"/>
                </a:solidFill>
                <a:latin typeface="Trebuchet MS"/>
                <a:cs typeface="Trebuchet MS"/>
              </a:rPr>
              <a:t> </a:t>
            </a:r>
            <a:r>
              <a:rPr sz="2400" b="1" dirty="0">
                <a:solidFill>
                  <a:srgbClr val="66DBFF"/>
                </a:solidFill>
                <a:latin typeface="Trebuchet MS"/>
                <a:cs typeface="Trebuchet MS"/>
              </a:rPr>
              <a:t>the</a:t>
            </a:r>
            <a:r>
              <a:rPr sz="2400" b="1" spc="-53" dirty="0">
                <a:solidFill>
                  <a:srgbClr val="66DBFF"/>
                </a:solidFill>
                <a:latin typeface="Trebuchet MS"/>
                <a:cs typeface="Trebuchet MS"/>
              </a:rPr>
              <a:t> </a:t>
            </a:r>
            <a:r>
              <a:rPr sz="2400" b="1" spc="-27" dirty="0">
                <a:solidFill>
                  <a:srgbClr val="66DBFF"/>
                </a:solidFill>
                <a:latin typeface="Trebuchet MS"/>
                <a:cs typeface="Trebuchet MS"/>
              </a:rPr>
              <a:t>grain</a:t>
            </a:r>
            <a:endParaRPr sz="2400">
              <a:latin typeface="Trebuchet MS"/>
              <a:cs typeface="Trebuchet MS"/>
            </a:endParaRPr>
          </a:p>
        </p:txBody>
      </p:sp>
      <p:pic>
        <p:nvPicPr>
          <p:cNvPr id="15" name="object 15"/>
          <p:cNvPicPr/>
          <p:nvPr/>
        </p:nvPicPr>
        <p:blipFill>
          <a:blip r:embed="rId6" cstate="print"/>
          <a:stretch>
            <a:fillRect/>
          </a:stretch>
        </p:blipFill>
        <p:spPr>
          <a:xfrm>
            <a:off x="480390" y="5682193"/>
            <a:ext cx="6728969" cy="742653"/>
          </a:xfrm>
          <a:prstGeom prst="rect">
            <a:avLst/>
          </a:prstGeom>
        </p:spPr>
      </p:pic>
      <p:grpSp>
        <p:nvGrpSpPr>
          <p:cNvPr id="16" name="object 16"/>
          <p:cNvGrpSpPr/>
          <p:nvPr/>
        </p:nvGrpSpPr>
        <p:grpSpPr>
          <a:xfrm>
            <a:off x="-89452" y="2552124"/>
            <a:ext cx="12180867" cy="2998283"/>
            <a:chOff x="305561" y="1914093"/>
            <a:chExt cx="8763000" cy="1955089"/>
          </a:xfrm>
        </p:grpSpPr>
        <p:pic>
          <p:nvPicPr>
            <p:cNvPr id="17" name="object 17"/>
            <p:cNvPicPr/>
            <p:nvPr/>
          </p:nvPicPr>
          <p:blipFill>
            <a:blip r:embed="rId7" cstate="print"/>
            <a:stretch>
              <a:fillRect/>
            </a:stretch>
          </p:blipFill>
          <p:spPr>
            <a:xfrm>
              <a:off x="457199" y="3130296"/>
              <a:ext cx="8462772" cy="621792"/>
            </a:xfrm>
            <a:prstGeom prst="rect">
              <a:avLst/>
            </a:prstGeom>
          </p:spPr>
        </p:pic>
        <p:sp>
          <p:nvSpPr>
            <p:cNvPr id="18" name="object 18"/>
            <p:cNvSpPr/>
            <p:nvPr/>
          </p:nvSpPr>
          <p:spPr>
            <a:xfrm>
              <a:off x="305561" y="2987802"/>
              <a:ext cx="8763000" cy="881380"/>
            </a:xfrm>
            <a:custGeom>
              <a:avLst/>
              <a:gdLst/>
              <a:ahLst/>
              <a:cxnLst/>
              <a:rect l="l" t="t" r="r" b="b"/>
              <a:pathLst>
                <a:path w="8763000" h="881379">
                  <a:moveTo>
                    <a:pt x="0" y="880872"/>
                  </a:moveTo>
                  <a:lnTo>
                    <a:pt x="8763000" y="880872"/>
                  </a:lnTo>
                  <a:lnTo>
                    <a:pt x="8763000" y="0"/>
                  </a:lnTo>
                  <a:lnTo>
                    <a:pt x="0" y="0"/>
                  </a:lnTo>
                  <a:lnTo>
                    <a:pt x="0" y="880872"/>
                  </a:lnTo>
                  <a:close/>
                </a:path>
              </a:pathLst>
            </a:custGeom>
            <a:ln w="38100">
              <a:solidFill>
                <a:srgbClr val="66BEFF"/>
              </a:solidFill>
            </a:ln>
          </p:spPr>
          <p:txBody>
            <a:bodyPr wrap="square" lIns="0" tIns="0" rIns="0" bIns="0" rtlCol="0"/>
            <a:lstStyle/>
            <a:p>
              <a:endParaRPr sz="2400"/>
            </a:p>
          </p:txBody>
        </p:sp>
        <p:pic>
          <p:nvPicPr>
            <p:cNvPr id="19" name="object 19"/>
            <p:cNvPicPr/>
            <p:nvPr/>
          </p:nvPicPr>
          <p:blipFill>
            <a:blip r:embed="rId8" cstate="print"/>
            <a:stretch>
              <a:fillRect/>
            </a:stretch>
          </p:blipFill>
          <p:spPr>
            <a:xfrm>
              <a:off x="4892040" y="1914093"/>
              <a:ext cx="3147821" cy="1210868"/>
            </a:xfrm>
            <a:prstGeom prst="rect">
              <a:avLst/>
            </a:prstGeom>
          </p:spPr>
        </p:pic>
        <p:sp>
          <p:nvSpPr>
            <p:cNvPr id="21" name="object 21"/>
            <p:cNvSpPr/>
            <p:nvPr/>
          </p:nvSpPr>
          <p:spPr>
            <a:xfrm>
              <a:off x="5218938" y="2068830"/>
              <a:ext cx="2514600" cy="579120"/>
            </a:xfrm>
            <a:custGeom>
              <a:avLst/>
              <a:gdLst/>
              <a:ahLst/>
              <a:cxnLst/>
              <a:rect l="l" t="t" r="r" b="b"/>
              <a:pathLst>
                <a:path w="2514600" h="579119">
                  <a:moveTo>
                    <a:pt x="0" y="289559"/>
                  </a:moveTo>
                  <a:lnTo>
                    <a:pt x="144779" y="0"/>
                  </a:lnTo>
                  <a:lnTo>
                    <a:pt x="2369819" y="0"/>
                  </a:lnTo>
                  <a:lnTo>
                    <a:pt x="2514600" y="289559"/>
                  </a:lnTo>
                  <a:lnTo>
                    <a:pt x="2369819" y="579119"/>
                  </a:lnTo>
                  <a:lnTo>
                    <a:pt x="144779" y="579119"/>
                  </a:lnTo>
                  <a:lnTo>
                    <a:pt x="0" y="289559"/>
                  </a:lnTo>
                  <a:close/>
                </a:path>
              </a:pathLst>
            </a:custGeom>
            <a:ln w="19812">
              <a:solidFill>
                <a:srgbClr val="00C3FF"/>
              </a:solidFill>
            </a:ln>
          </p:spPr>
          <p:txBody>
            <a:bodyPr wrap="square" lIns="0" tIns="0" rIns="0" bIns="0" rtlCol="0"/>
            <a:lstStyle/>
            <a:p>
              <a:endParaRPr sz="2400"/>
            </a:p>
          </p:txBody>
        </p:sp>
      </p:grpSp>
      <p:sp>
        <p:nvSpPr>
          <p:cNvPr id="22" name="object 22"/>
          <p:cNvSpPr txBox="1"/>
          <p:nvPr/>
        </p:nvSpPr>
        <p:spPr>
          <a:xfrm>
            <a:off x="7338569" y="2902306"/>
            <a:ext cx="2596727" cy="428387"/>
          </a:xfrm>
          <a:prstGeom prst="rect">
            <a:avLst/>
          </a:prstGeom>
        </p:spPr>
        <p:txBody>
          <a:bodyPr vert="horz" wrap="square" lIns="0" tIns="17780" rIns="0" bIns="0" rtlCol="0">
            <a:spAutoFit/>
          </a:bodyPr>
          <a:lstStyle/>
          <a:p>
            <a:pPr marL="16933">
              <a:spcBef>
                <a:spcPts val="140"/>
              </a:spcBef>
            </a:pPr>
            <a:r>
              <a:rPr sz="2667" b="1" dirty="0">
                <a:solidFill>
                  <a:srgbClr val="FFFFFF"/>
                </a:solidFill>
                <a:latin typeface="Calibri"/>
                <a:cs typeface="Calibri"/>
              </a:rPr>
              <a:t>Order</a:t>
            </a:r>
            <a:r>
              <a:rPr sz="2667" b="1" spc="-53" dirty="0">
                <a:solidFill>
                  <a:srgbClr val="FFFFFF"/>
                </a:solidFill>
                <a:latin typeface="Calibri"/>
                <a:cs typeface="Calibri"/>
              </a:rPr>
              <a:t> </a:t>
            </a:r>
            <a:r>
              <a:rPr sz="2667" b="1" dirty="0">
                <a:solidFill>
                  <a:srgbClr val="FFFFFF"/>
                </a:solidFill>
                <a:latin typeface="Calibri"/>
                <a:cs typeface="Calibri"/>
              </a:rPr>
              <a:t>+</a:t>
            </a:r>
            <a:r>
              <a:rPr sz="2667" b="1" spc="-20" dirty="0">
                <a:solidFill>
                  <a:srgbClr val="FFFFFF"/>
                </a:solidFill>
                <a:latin typeface="Calibri"/>
                <a:cs typeface="Calibri"/>
              </a:rPr>
              <a:t> </a:t>
            </a:r>
            <a:r>
              <a:rPr sz="2667" b="1" dirty="0">
                <a:solidFill>
                  <a:srgbClr val="FFFFFF"/>
                </a:solidFill>
                <a:latin typeface="Calibri"/>
                <a:cs typeface="Calibri"/>
              </a:rPr>
              <a:t>Order</a:t>
            </a:r>
            <a:r>
              <a:rPr sz="2667" b="1" spc="-47" dirty="0">
                <a:solidFill>
                  <a:srgbClr val="FFFFFF"/>
                </a:solidFill>
                <a:latin typeface="Calibri"/>
                <a:cs typeface="Calibri"/>
              </a:rPr>
              <a:t> </a:t>
            </a:r>
            <a:r>
              <a:rPr sz="2667" b="1" spc="-27" dirty="0">
                <a:solidFill>
                  <a:srgbClr val="FFFFFF"/>
                </a:solidFill>
                <a:latin typeface="Calibri"/>
                <a:cs typeface="Calibri"/>
              </a:rPr>
              <a:t>line</a:t>
            </a:r>
            <a:endParaRPr sz="2667">
              <a:latin typeface="Calibri"/>
              <a:cs typeface="Calibri"/>
            </a:endParaRP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15745" y="144798"/>
            <a:ext cx="9163812" cy="695062"/>
          </a:xfrm>
          <a:prstGeom prst="rect">
            <a:avLst/>
          </a:prstGeom>
        </p:spPr>
        <p:txBody>
          <a:bodyPr vert="horz" wrap="square" lIns="0" tIns="17780" rIns="0" bIns="0" rtlCol="0" anchor="ctr">
            <a:spAutoFit/>
          </a:bodyPr>
          <a:lstStyle/>
          <a:p>
            <a:pPr marL="969409">
              <a:lnSpc>
                <a:spcPct val="100000"/>
              </a:lnSpc>
              <a:spcBef>
                <a:spcPts val="140"/>
              </a:spcBef>
            </a:pPr>
            <a:r>
              <a:rPr dirty="0">
                <a:solidFill>
                  <a:schemeClr val="bg1"/>
                </a:solidFill>
                <a:latin typeface="+mn-lt"/>
              </a:rPr>
              <a:t>Case</a:t>
            </a:r>
            <a:r>
              <a:rPr spc="-67" dirty="0">
                <a:solidFill>
                  <a:schemeClr val="bg1"/>
                </a:solidFill>
                <a:latin typeface="+mn-lt"/>
              </a:rPr>
              <a:t> </a:t>
            </a:r>
            <a:r>
              <a:rPr dirty="0">
                <a:solidFill>
                  <a:schemeClr val="bg1"/>
                </a:solidFill>
                <a:latin typeface="+mn-lt"/>
              </a:rPr>
              <a:t>study:</a:t>
            </a:r>
            <a:r>
              <a:rPr spc="-40" dirty="0">
                <a:solidFill>
                  <a:schemeClr val="bg1"/>
                </a:solidFill>
                <a:latin typeface="+mn-lt"/>
              </a:rPr>
              <a:t> </a:t>
            </a:r>
            <a:r>
              <a:rPr spc="-13" dirty="0">
                <a:solidFill>
                  <a:schemeClr val="bg1"/>
                </a:solidFill>
                <a:latin typeface="+mn-lt"/>
              </a:rPr>
              <a:t>E-Commerce</a:t>
            </a:r>
          </a:p>
        </p:txBody>
      </p:sp>
      <p:grpSp>
        <p:nvGrpSpPr>
          <p:cNvPr id="3" name="object 3"/>
          <p:cNvGrpSpPr/>
          <p:nvPr/>
        </p:nvGrpSpPr>
        <p:grpSpPr>
          <a:xfrm>
            <a:off x="2003551" y="1101310"/>
            <a:ext cx="4197096" cy="1616489"/>
            <a:chOff x="1502663" y="825982"/>
            <a:chExt cx="3147822" cy="1212367"/>
          </a:xfrm>
        </p:grpSpPr>
        <p:pic>
          <p:nvPicPr>
            <p:cNvPr id="4" name="object 4"/>
            <p:cNvPicPr/>
            <p:nvPr/>
          </p:nvPicPr>
          <p:blipFill>
            <a:blip r:embed="rId2" cstate="print"/>
            <a:stretch>
              <a:fillRect/>
            </a:stretch>
          </p:blipFill>
          <p:spPr>
            <a:xfrm>
              <a:off x="1502663" y="825982"/>
              <a:ext cx="3147822" cy="1212367"/>
            </a:xfrm>
            <a:prstGeom prst="rect">
              <a:avLst/>
            </a:prstGeom>
          </p:spPr>
        </p:pic>
        <p:sp>
          <p:nvSpPr>
            <p:cNvPr id="6" name="object 6"/>
            <p:cNvSpPr/>
            <p:nvPr/>
          </p:nvSpPr>
          <p:spPr>
            <a:xfrm>
              <a:off x="1829561" y="980694"/>
              <a:ext cx="2514600" cy="581025"/>
            </a:xfrm>
            <a:custGeom>
              <a:avLst/>
              <a:gdLst/>
              <a:ahLst/>
              <a:cxnLst/>
              <a:rect l="l" t="t" r="r" b="b"/>
              <a:pathLst>
                <a:path w="2514600" h="581025">
                  <a:moveTo>
                    <a:pt x="0" y="290321"/>
                  </a:moveTo>
                  <a:lnTo>
                    <a:pt x="145161" y="0"/>
                  </a:lnTo>
                  <a:lnTo>
                    <a:pt x="2369439" y="0"/>
                  </a:lnTo>
                  <a:lnTo>
                    <a:pt x="2514600" y="290321"/>
                  </a:lnTo>
                  <a:lnTo>
                    <a:pt x="2369439" y="580643"/>
                  </a:lnTo>
                  <a:lnTo>
                    <a:pt x="145161" y="580643"/>
                  </a:lnTo>
                  <a:lnTo>
                    <a:pt x="0" y="290321"/>
                  </a:lnTo>
                  <a:close/>
                </a:path>
              </a:pathLst>
            </a:custGeom>
            <a:ln w="19812">
              <a:solidFill>
                <a:srgbClr val="00C3FF"/>
              </a:solidFill>
            </a:ln>
          </p:spPr>
          <p:txBody>
            <a:bodyPr wrap="square" lIns="0" tIns="0" rIns="0" bIns="0" rtlCol="0"/>
            <a:lstStyle/>
            <a:p>
              <a:endParaRPr sz="2400"/>
            </a:p>
          </p:txBody>
        </p:sp>
      </p:grpSp>
      <p:sp>
        <p:nvSpPr>
          <p:cNvPr id="7" name="object 7"/>
          <p:cNvSpPr txBox="1"/>
          <p:nvPr/>
        </p:nvSpPr>
        <p:spPr>
          <a:xfrm>
            <a:off x="3661325" y="1452202"/>
            <a:ext cx="914400" cy="428387"/>
          </a:xfrm>
          <a:prstGeom prst="rect">
            <a:avLst/>
          </a:prstGeom>
        </p:spPr>
        <p:txBody>
          <a:bodyPr vert="horz" wrap="square" lIns="0" tIns="17780" rIns="0" bIns="0" rtlCol="0">
            <a:spAutoFit/>
          </a:bodyPr>
          <a:lstStyle/>
          <a:p>
            <a:pPr marL="16933">
              <a:spcBef>
                <a:spcPts val="140"/>
              </a:spcBef>
            </a:pPr>
            <a:r>
              <a:rPr sz="2667" b="1" dirty="0">
                <a:solidFill>
                  <a:srgbClr val="CCEAFF"/>
                </a:solidFill>
                <a:latin typeface="Calibri"/>
                <a:cs typeface="Calibri"/>
              </a:rPr>
              <a:t>Step </a:t>
            </a:r>
            <a:r>
              <a:rPr sz="2667" b="1" spc="-67" dirty="0">
                <a:solidFill>
                  <a:srgbClr val="CCEAFF"/>
                </a:solidFill>
                <a:latin typeface="Calibri"/>
                <a:cs typeface="Calibri"/>
              </a:rPr>
              <a:t>3</a:t>
            </a:r>
            <a:endParaRPr sz="2667">
              <a:latin typeface="Calibri"/>
              <a:cs typeface="Calibri"/>
            </a:endParaRPr>
          </a:p>
        </p:txBody>
      </p:sp>
      <p:grpSp>
        <p:nvGrpSpPr>
          <p:cNvPr id="8" name="object 8"/>
          <p:cNvGrpSpPr/>
          <p:nvPr/>
        </p:nvGrpSpPr>
        <p:grpSpPr>
          <a:xfrm>
            <a:off x="2015745" y="3013439"/>
            <a:ext cx="4296833" cy="531707"/>
            <a:chOff x="1511808" y="2260079"/>
            <a:chExt cx="3222625" cy="398780"/>
          </a:xfrm>
        </p:grpSpPr>
        <p:pic>
          <p:nvPicPr>
            <p:cNvPr id="9" name="object 9"/>
            <p:cNvPicPr/>
            <p:nvPr/>
          </p:nvPicPr>
          <p:blipFill>
            <a:blip r:embed="rId3" cstate="print"/>
            <a:stretch>
              <a:fillRect/>
            </a:stretch>
          </p:blipFill>
          <p:spPr>
            <a:xfrm>
              <a:off x="1511808" y="2270747"/>
              <a:ext cx="381761" cy="371106"/>
            </a:xfrm>
            <a:prstGeom prst="rect">
              <a:avLst/>
            </a:prstGeom>
          </p:spPr>
        </p:pic>
        <p:pic>
          <p:nvPicPr>
            <p:cNvPr id="10" name="object 10"/>
            <p:cNvPicPr/>
            <p:nvPr/>
          </p:nvPicPr>
          <p:blipFill>
            <a:blip r:embed="rId4" cstate="print"/>
            <a:stretch>
              <a:fillRect/>
            </a:stretch>
          </p:blipFill>
          <p:spPr>
            <a:xfrm>
              <a:off x="1790700" y="2260079"/>
              <a:ext cx="2943605" cy="398538"/>
            </a:xfrm>
            <a:prstGeom prst="rect">
              <a:avLst/>
            </a:prstGeom>
          </p:spPr>
        </p:pic>
      </p:grpSp>
      <p:sp>
        <p:nvSpPr>
          <p:cNvPr id="11" name="object 11"/>
          <p:cNvSpPr txBox="1"/>
          <p:nvPr/>
        </p:nvSpPr>
        <p:spPr>
          <a:xfrm>
            <a:off x="2137326" y="2463394"/>
            <a:ext cx="4460239" cy="904585"/>
          </a:xfrm>
          <a:prstGeom prst="rect">
            <a:avLst/>
          </a:prstGeom>
        </p:spPr>
        <p:txBody>
          <a:bodyPr vert="horz" wrap="square" lIns="0" tIns="16933" rIns="0" bIns="0" rtlCol="0">
            <a:spAutoFit/>
          </a:bodyPr>
          <a:lstStyle/>
          <a:p>
            <a:pPr marL="398770" indent="-381837">
              <a:spcBef>
                <a:spcPts val="133"/>
              </a:spcBef>
              <a:buClr>
                <a:srgbClr val="99D3FF"/>
              </a:buClr>
              <a:buFont typeface="Wingdings"/>
              <a:buChar char=""/>
              <a:tabLst>
                <a:tab pos="398770" algn="l"/>
              </a:tabLst>
            </a:pPr>
            <a:r>
              <a:rPr sz="2400" b="1" dirty="0">
                <a:solidFill>
                  <a:srgbClr val="D9D9D9"/>
                </a:solidFill>
                <a:latin typeface="Calibri"/>
                <a:cs typeface="Calibri"/>
              </a:rPr>
              <a:t>Descriptive</a:t>
            </a:r>
            <a:r>
              <a:rPr sz="2400" b="1" spc="-80" dirty="0">
                <a:solidFill>
                  <a:srgbClr val="D9D9D9"/>
                </a:solidFill>
                <a:latin typeface="Calibri"/>
                <a:cs typeface="Calibri"/>
              </a:rPr>
              <a:t> </a:t>
            </a:r>
            <a:r>
              <a:rPr sz="2400" b="1" dirty="0">
                <a:solidFill>
                  <a:srgbClr val="D9D9D9"/>
                </a:solidFill>
                <a:latin typeface="Calibri"/>
                <a:cs typeface="Calibri"/>
              </a:rPr>
              <a:t>aspects</a:t>
            </a:r>
            <a:r>
              <a:rPr sz="2400" b="1" spc="-67" dirty="0">
                <a:solidFill>
                  <a:srgbClr val="D9D9D9"/>
                </a:solidFill>
                <a:latin typeface="Calibri"/>
                <a:cs typeface="Calibri"/>
              </a:rPr>
              <a:t> </a:t>
            </a:r>
            <a:r>
              <a:rPr sz="2400" b="1" dirty="0">
                <a:solidFill>
                  <a:srgbClr val="D9D9D9"/>
                </a:solidFill>
                <a:latin typeface="Calibri"/>
                <a:cs typeface="Calibri"/>
              </a:rPr>
              <a:t>of</a:t>
            </a:r>
            <a:r>
              <a:rPr sz="2400" b="1" spc="-13" dirty="0">
                <a:solidFill>
                  <a:srgbClr val="D9D9D9"/>
                </a:solidFill>
                <a:latin typeface="Calibri"/>
                <a:cs typeface="Calibri"/>
              </a:rPr>
              <a:t> measures</a:t>
            </a:r>
            <a:endParaRPr sz="2400">
              <a:latin typeface="Calibri"/>
              <a:cs typeface="Calibri"/>
            </a:endParaRPr>
          </a:p>
          <a:p>
            <a:pPr marL="398770" indent="-381837">
              <a:spcBef>
                <a:spcPts val="1820"/>
              </a:spcBef>
              <a:buFont typeface="Wingdings"/>
              <a:buChar char=""/>
              <a:tabLst>
                <a:tab pos="398770" algn="l"/>
              </a:tabLst>
            </a:pPr>
            <a:r>
              <a:rPr sz="1867" b="1" dirty="0">
                <a:solidFill>
                  <a:srgbClr val="99D3FF"/>
                </a:solidFill>
                <a:latin typeface="Calibri"/>
                <a:cs typeface="Calibri"/>
              </a:rPr>
              <a:t>Naturally</a:t>
            </a:r>
            <a:r>
              <a:rPr sz="1867" b="1" spc="-60" dirty="0">
                <a:solidFill>
                  <a:srgbClr val="99D3FF"/>
                </a:solidFill>
                <a:latin typeface="Calibri"/>
                <a:cs typeface="Calibri"/>
              </a:rPr>
              <a:t> </a:t>
            </a:r>
            <a:r>
              <a:rPr sz="1867" b="1" dirty="0">
                <a:solidFill>
                  <a:srgbClr val="99D3FF"/>
                </a:solidFill>
                <a:latin typeface="Calibri"/>
                <a:cs typeface="Calibri"/>
              </a:rPr>
              <a:t>derived</a:t>
            </a:r>
            <a:r>
              <a:rPr sz="1867" b="1" spc="-47" dirty="0">
                <a:solidFill>
                  <a:srgbClr val="99D3FF"/>
                </a:solidFill>
                <a:latin typeface="Calibri"/>
                <a:cs typeface="Calibri"/>
              </a:rPr>
              <a:t> </a:t>
            </a:r>
            <a:r>
              <a:rPr sz="1867" b="1" dirty="0">
                <a:solidFill>
                  <a:srgbClr val="99D3FF"/>
                </a:solidFill>
                <a:latin typeface="Calibri"/>
                <a:cs typeface="Calibri"/>
              </a:rPr>
              <a:t>after</a:t>
            </a:r>
            <a:r>
              <a:rPr sz="1867" b="1" spc="-60" dirty="0">
                <a:solidFill>
                  <a:srgbClr val="99D3FF"/>
                </a:solidFill>
                <a:latin typeface="Calibri"/>
                <a:cs typeface="Calibri"/>
              </a:rPr>
              <a:t> </a:t>
            </a:r>
            <a:r>
              <a:rPr sz="1867" b="1" dirty="0">
                <a:solidFill>
                  <a:srgbClr val="99D3FF"/>
                </a:solidFill>
                <a:latin typeface="Calibri"/>
                <a:cs typeface="Calibri"/>
              </a:rPr>
              <a:t>grain</a:t>
            </a:r>
            <a:r>
              <a:rPr sz="1867" b="1" spc="-33" dirty="0">
                <a:solidFill>
                  <a:srgbClr val="99D3FF"/>
                </a:solidFill>
                <a:latin typeface="Calibri"/>
                <a:cs typeface="Calibri"/>
              </a:rPr>
              <a:t> </a:t>
            </a:r>
            <a:r>
              <a:rPr sz="1867" b="1" spc="-13" dirty="0">
                <a:solidFill>
                  <a:srgbClr val="99D3FF"/>
                </a:solidFill>
                <a:latin typeface="Calibri"/>
                <a:cs typeface="Calibri"/>
              </a:rPr>
              <a:t>defined</a:t>
            </a:r>
            <a:endParaRPr sz="1867">
              <a:latin typeface="Calibri"/>
              <a:cs typeface="Calibri"/>
            </a:endParaRPr>
          </a:p>
        </p:txBody>
      </p:sp>
      <p:sp>
        <p:nvSpPr>
          <p:cNvPr id="12" name="object 12"/>
          <p:cNvSpPr txBox="1"/>
          <p:nvPr/>
        </p:nvSpPr>
        <p:spPr>
          <a:xfrm>
            <a:off x="6533387" y="1455420"/>
            <a:ext cx="2824480" cy="386430"/>
          </a:xfrm>
          <a:prstGeom prst="rect">
            <a:avLst/>
          </a:prstGeom>
        </p:spPr>
        <p:txBody>
          <a:bodyPr vert="horz" wrap="square" lIns="0" tIns="16933" rIns="0" bIns="0" rtlCol="0">
            <a:spAutoFit/>
          </a:bodyPr>
          <a:lstStyle/>
          <a:p>
            <a:pPr marL="16933">
              <a:spcBef>
                <a:spcPts val="133"/>
              </a:spcBef>
            </a:pPr>
            <a:r>
              <a:rPr sz="2400" b="1" dirty="0">
                <a:solidFill>
                  <a:srgbClr val="66DBFF"/>
                </a:solidFill>
                <a:latin typeface="Trebuchet MS"/>
                <a:cs typeface="Trebuchet MS"/>
              </a:rPr>
              <a:t>Identify</a:t>
            </a:r>
            <a:r>
              <a:rPr sz="2400" b="1" spc="-87" dirty="0">
                <a:solidFill>
                  <a:srgbClr val="66DBFF"/>
                </a:solidFill>
                <a:latin typeface="Trebuchet MS"/>
                <a:cs typeface="Trebuchet MS"/>
              </a:rPr>
              <a:t> </a:t>
            </a:r>
            <a:r>
              <a:rPr sz="2400" b="1" spc="-13" dirty="0">
                <a:solidFill>
                  <a:srgbClr val="66DBFF"/>
                </a:solidFill>
                <a:latin typeface="Trebuchet MS"/>
                <a:cs typeface="Trebuchet MS"/>
              </a:rPr>
              <a:t>dimensions</a:t>
            </a:r>
            <a:endParaRPr sz="2400">
              <a:latin typeface="Trebuchet MS"/>
              <a:cs typeface="Trebuchet MS"/>
            </a:endParaRPr>
          </a:p>
        </p:txBody>
      </p:sp>
      <p:grpSp>
        <p:nvGrpSpPr>
          <p:cNvPr id="13" name="object 13"/>
          <p:cNvGrpSpPr/>
          <p:nvPr/>
        </p:nvGrpSpPr>
        <p:grpSpPr>
          <a:xfrm>
            <a:off x="6522719" y="2379438"/>
            <a:ext cx="4197094" cy="1616489"/>
            <a:chOff x="4892040" y="1784578"/>
            <a:chExt cx="3147821" cy="1212367"/>
          </a:xfrm>
        </p:grpSpPr>
        <p:pic>
          <p:nvPicPr>
            <p:cNvPr id="14" name="object 14"/>
            <p:cNvPicPr/>
            <p:nvPr/>
          </p:nvPicPr>
          <p:blipFill>
            <a:blip r:embed="rId2" cstate="print"/>
            <a:stretch>
              <a:fillRect/>
            </a:stretch>
          </p:blipFill>
          <p:spPr>
            <a:xfrm>
              <a:off x="4892040" y="1784578"/>
              <a:ext cx="3147821" cy="1212367"/>
            </a:xfrm>
            <a:prstGeom prst="rect">
              <a:avLst/>
            </a:prstGeom>
          </p:spPr>
        </p:pic>
        <p:sp>
          <p:nvSpPr>
            <p:cNvPr id="16" name="object 16"/>
            <p:cNvSpPr/>
            <p:nvPr/>
          </p:nvSpPr>
          <p:spPr>
            <a:xfrm>
              <a:off x="5218938" y="1939290"/>
              <a:ext cx="2514600" cy="581025"/>
            </a:xfrm>
            <a:custGeom>
              <a:avLst/>
              <a:gdLst/>
              <a:ahLst/>
              <a:cxnLst/>
              <a:rect l="l" t="t" r="r" b="b"/>
              <a:pathLst>
                <a:path w="2514600" h="581025">
                  <a:moveTo>
                    <a:pt x="0" y="290322"/>
                  </a:moveTo>
                  <a:lnTo>
                    <a:pt x="145161" y="0"/>
                  </a:lnTo>
                  <a:lnTo>
                    <a:pt x="2369439" y="0"/>
                  </a:lnTo>
                  <a:lnTo>
                    <a:pt x="2514600" y="290322"/>
                  </a:lnTo>
                  <a:lnTo>
                    <a:pt x="2369439" y="580644"/>
                  </a:lnTo>
                  <a:lnTo>
                    <a:pt x="145161" y="580644"/>
                  </a:lnTo>
                  <a:lnTo>
                    <a:pt x="0" y="290322"/>
                  </a:lnTo>
                  <a:close/>
                </a:path>
              </a:pathLst>
            </a:custGeom>
            <a:ln w="19812">
              <a:solidFill>
                <a:srgbClr val="00C3FF"/>
              </a:solidFill>
            </a:ln>
          </p:spPr>
          <p:txBody>
            <a:bodyPr wrap="square" lIns="0" tIns="0" rIns="0" bIns="0" rtlCol="0"/>
            <a:lstStyle/>
            <a:p>
              <a:endParaRPr sz="2400"/>
            </a:p>
          </p:txBody>
        </p:sp>
      </p:grpSp>
      <p:sp>
        <p:nvSpPr>
          <p:cNvPr id="17" name="object 17"/>
          <p:cNvSpPr txBox="1"/>
          <p:nvPr/>
        </p:nvSpPr>
        <p:spPr>
          <a:xfrm>
            <a:off x="7797801" y="2731516"/>
            <a:ext cx="1680633" cy="427532"/>
          </a:xfrm>
          <a:prstGeom prst="rect">
            <a:avLst/>
          </a:prstGeom>
        </p:spPr>
        <p:txBody>
          <a:bodyPr vert="horz" wrap="square" lIns="0" tIns="16933" rIns="0" bIns="0" rtlCol="0">
            <a:spAutoFit/>
          </a:bodyPr>
          <a:lstStyle/>
          <a:p>
            <a:pPr marL="16933">
              <a:spcBef>
                <a:spcPts val="133"/>
              </a:spcBef>
            </a:pPr>
            <a:r>
              <a:rPr sz="2667" b="1" spc="-13" dirty="0">
                <a:solidFill>
                  <a:srgbClr val="FFFFFF"/>
                </a:solidFill>
                <a:latin typeface="Calibri"/>
                <a:cs typeface="Calibri"/>
              </a:rPr>
              <a:t>Dimensions</a:t>
            </a:r>
            <a:endParaRPr sz="2667">
              <a:latin typeface="Calibri"/>
              <a:cs typeface="Calibri"/>
            </a:endParaRPr>
          </a:p>
        </p:txBody>
      </p:sp>
      <p:sp>
        <p:nvSpPr>
          <p:cNvPr id="29" name="object 29"/>
          <p:cNvSpPr txBox="1"/>
          <p:nvPr/>
        </p:nvSpPr>
        <p:spPr>
          <a:xfrm>
            <a:off x="7643538" y="4756541"/>
            <a:ext cx="1834896" cy="1453710"/>
          </a:xfrm>
          <a:prstGeom prst="rect">
            <a:avLst/>
          </a:prstGeom>
        </p:spPr>
        <p:txBody>
          <a:bodyPr vert="horz" wrap="square" lIns="0" tIns="16933" rIns="0" bIns="0" rtlCol="0">
            <a:spAutoFit/>
          </a:bodyPr>
          <a:lstStyle/>
          <a:p>
            <a:pPr marL="398770" indent="-381837">
              <a:spcBef>
                <a:spcPts val="133"/>
              </a:spcBef>
              <a:buClr>
                <a:srgbClr val="99D3FF"/>
              </a:buClr>
              <a:buFont typeface="Wingdings"/>
              <a:buChar char=""/>
              <a:tabLst>
                <a:tab pos="398770" algn="l"/>
              </a:tabLst>
            </a:pPr>
            <a:r>
              <a:rPr sz="1867" b="1" spc="-13" dirty="0">
                <a:solidFill>
                  <a:srgbClr val="B3B3B3"/>
                </a:solidFill>
                <a:latin typeface="Calibri"/>
                <a:cs typeface="Calibri"/>
              </a:rPr>
              <a:t>Customer</a:t>
            </a:r>
            <a:endParaRPr sz="1867" dirty="0">
              <a:latin typeface="Calibri"/>
              <a:cs typeface="Calibri"/>
            </a:endParaRPr>
          </a:p>
          <a:p>
            <a:pPr marL="398770" indent="-381837">
              <a:buClr>
                <a:srgbClr val="99D3FF"/>
              </a:buClr>
              <a:buFont typeface="Wingdings"/>
              <a:buChar char=""/>
              <a:tabLst>
                <a:tab pos="398770" algn="l"/>
              </a:tabLst>
            </a:pPr>
            <a:r>
              <a:rPr sz="1867" b="1" spc="-13" dirty="0">
                <a:solidFill>
                  <a:srgbClr val="B3B3B3"/>
                </a:solidFill>
                <a:latin typeface="Calibri"/>
                <a:cs typeface="Calibri"/>
              </a:rPr>
              <a:t>Products</a:t>
            </a:r>
            <a:endParaRPr sz="1867" dirty="0">
              <a:latin typeface="Calibri"/>
              <a:cs typeface="Calibri"/>
            </a:endParaRPr>
          </a:p>
          <a:p>
            <a:pPr marL="398770" indent="-381837">
              <a:buClr>
                <a:srgbClr val="99D3FF"/>
              </a:buClr>
              <a:buFont typeface="Wingdings"/>
              <a:buChar char=""/>
              <a:tabLst>
                <a:tab pos="398770" algn="l"/>
              </a:tabLst>
            </a:pPr>
            <a:r>
              <a:rPr sz="1867" b="1" spc="-13" dirty="0">
                <a:solidFill>
                  <a:srgbClr val="B3B3B3"/>
                </a:solidFill>
                <a:latin typeface="Calibri"/>
                <a:cs typeface="Calibri"/>
              </a:rPr>
              <a:t>Promotions</a:t>
            </a:r>
            <a:endParaRPr sz="1867" dirty="0">
              <a:latin typeface="Calibri"/>
              <a:cs typeface="Calibri"/>
            </a:endParaRPr>
          </a:p>
          <a:p>
            <a:pPr marL="398770" indent="-381837">
              <a:spcBef>
                <a:spcPts val="7"/>
              </a:spcBef>
              <a:buClr>
                <a:srgbClr val="99D3FF"/>
              </a:buClr>
              <a:buFont typeface="Wingdings"/>
              <a:buChar char=""/>
              <a:tabLst>
                <a:tab pos="398770" algn="l"/>
              </a:tabLst>
            </a:pPr>
            <a:r>
              <a:rPr sz="1867" b="1" spc="-13" dirty="0">
                <a:solidFill>
                  <a:srgbClr val="B3B3B3"/>
                </a:solidFill>
                <a:latin typeface="Calibri"/>
                <a:cs typeface="Calibri"/>
              </a:rPr>
              <a:t>Time/date</a:t>
            </a:r>
            <a:endParaRPr sz="1867" dirty="0">
              <a:latin typeface="Calibri"/>
              <a:cs typeface="Calibri"/>
            </a:endParaRPr>
          </a:p>
          <a:p>
            <a:pPr marL="398770" indent="-381837">
              <a:buClr>
                <a:srgbClr val="99D3FF"/>
              </a:buClr>
              <a:buFont typeface="Wingdings"/>
              <a:buChar char=""/>
              <a:tabLst>
                <a:tab pos="398770" algn="l"/>
              </a:tabLst>
            </a:pPr>
            <a:r>
              <a:rPr sz="1867" b="1" spc="-13" dirty="0">
                <a:solidFill>
                  <a:srgbClr val="B3B3B3"/>
                </a:solidFill>
                <a:latin typeface="Calibri"/>
                <a:cs typeface="Calibri"/>
              </a:rPr>
              <a:t>Website</a:t>
            </a:r>
            <a:endParaRPr sz="1867" dirty="0">
              <a:latin typeface="Calibri"/>
              <a:cs typeface="Calibri"/>
            </a:endParaRPr>
          </a:p>
        </p:txBody>
      </p:sp>
      <p:pic>
        <p:nvPicPr>
          <p:cNvPr id="30" name="object 30"/>
          <p:cNvPicPr/>
          <p:nvPr/>
        </p:nvPicPr>
        <p:blipFill>
          <a:blip r:embed="rId5" cstate="print"/>
          <a:stretch>
            <a:fillRect/>
          </a:stretch>
        </p:blipFill>
        <p:spPr>
          <a:xfrm>
            <a:off x="327991" y="3547871"/>
            <a:ext cx="11666905" cy="1208669"/>
          </a:xfrm>
          <a:prstGeom prst="rect">
            <a:avLst/>
          </a:prstGeom>
        </p:spPr>
      </p:pic>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41145" y="137454"/>
            <a:ext cx="7872987" cy="695062"/>
          </a:xfrm>
          <a:prstGeom prst="rect">
            <a:avLst/>
          </a:prstGeom>
        </p:spPr>
        <p:txBody>
          <a:bodyPr vert="horz" wrap="square" lIns="0" tIns="17780" rIns="0" bIns="0" rtlCol="0" anchor="ctr">
            <a:spAutoFit/>
          </a:bodyPr>
          <a:lstStyle/>
          <a:p>
            <a:pPr marL="969409">
              <a:lnSpc>
                <a:spcPct val="100000"/>
              </a:lnSpc>
              <a:spcBef>
                <a:spcPts val="140"/>
              </a:spcBef>
            </a:pPr>
            <a:r>
              <a:rPr dirty="0">
                <a:solidFill>
                  <a:schemeClr val="bg1"/>
                </a:solidFill>
                <a:latin typeface="+mn-lt"/>
              </a:rPr>
              <a:t>Case</a:t>
            </a:r>
            <a:r>
              <a:rPr spc="-67" dirty="0">
                <a:solidFill>
                  <a:schemeClr val="bg1"/>
                </a:solidFill>
                <a:latin typeface="+mn-lt"/>
              </a:rPr>
              <a:t> </a:t>
            </a:r>
            <a:r>
              <a:rPr dirty="0">
                <a:solidFill>
                  <a:schemeClr val="bg1"/>
                </a:solidFill>
                <a:latin typeface="+mn-lt"/>
              </a:rPr>
              <a:t>study:</a:t>
            </a:r>
            <a:r>
              <a:rPr spc="-40" dirty="0">
                <a:solidFill>
                  <a:schemeClr val="bg1"/>
                </a:solidFill>
                <a:latin typeface="+mn-lt"/>
              </a:rPr>
              <a:t> </a:t>
            </a:r>
            <a:r>
              <a:rPr spc="-13" dirty="0">
                <a:solidFill>
                  <a:schemeClr val="bg1"/>
                </a:solidFill>
                <a:latin typeface="+mn-lt"/>
              </a:rPr>
              <a:t>E-Commerce</a:t>
            </a:r>
          </a:p>
        </p:txBody>
      </p:sp>
      <p:grpSp>
        <p:nvGrpSpPr>
          <p:cNvPr id="3" name="object 3"/>
          <p:cNvGrpSpPr/>
          <p:nvPr/>
        </p:nvGrpSpPr>
        <p:grpSpPr>
          <a:xfrm>
            <a:off x="2003551" y="1101310"/>
            <a:ext cx="4197096" cy="1616489"/>
            <a:chOff x="1502663" y="825982"/>
            <a:chExt cx="3147822" cy="1212367"/>
          </a:xfrm>
        </p:grpSpPr>
        <p:pic>
          <p:nvPicPr>
            <p:cNvPr id="4" name="object 4"/>
            <p:cNvPicPr/>
            <p:nvPr/>
          </p:nvPicPr>
          <p:blipFill>
            <a:blip r:embed="rId2" cstate="print"/>
            <a:stretch>
              <a:fillRect/>
            </a:stretch>
          </p:blipFill>
          <p:spPr>
            <a:xfrm>
              <a:off x="1502663" y="825982"/>
              <a:ext cx="3147822" cy="1212367"/>
            </a:xfrm>
            <a:prstGeom prst="rect">
              <a:avLst/>
            </a:prstGeom>
          </p:spPr>
        </p:pic>
        <p:sp>
          <p:nvSpPr>
            <p:cNvPr id="6" name="object 6"/>
            <p:cNvSpPr/>
            <p:nvPr/>
          </p:nvSpPr>
          <p:spPr>
            <a:xfrm>
              <a:off x="1829561" y="980694"/>
              <a:ext cx="2514600" cy="581025"/>
            </a:xfrm>
            <a:custGeom>
              <a:avLst/>
              <a:gdLst/>
              <a:ahLst/>
              <a:cxnLst/>
              <a:rect l="l" t="t" r="r" b="b"/>
              <a:pathLst>
                <a:path w="2514600" h="581025">
                  <a:moveTo>
                    <a:pt x="0" y="290321"/>
                  </a:moveTo>
                  <a:lnTo>
                    <a:pt x="145161" y="0"/>
                  </a:lnTo>
                  <a:lnTo>
                    <a:pt x="2369439" y="0"/>
                  </a:lnTo>
                  <a:lnTo>
                    <a:pt x="2514600" y="290321"/>
                  </a:lnTo>
                  <a:lnTo>
                    <a:pt x="2369439" y="580643"/>
                  </a:lnTo>
                  <a:lnTo>
                    <a:pt x="145161" y="580643"/>
                  </a:lnTo>
                  <a:lnTo>
                    <a:pt x="0" y="290321"/>
                  </a:lnTo>
                  <a:close/>
                </a:path>
              </a:pathLst>
            </a:custGeom>
            <a:ln w="19812">
              <a:solidFill>
                <a:srgbClr val="00C3FF"/>
              </a:solidFill>
            </a:ln>
          </p:spPr>
          <p:txBody>
            <a:bodyPr wrap="square" lIns="0" tIns="0" rIns="0" bIns="0" rtlCol="0"/>
            <a:lstStyle/>
            <a:p>
              <a:endParaRPr sz="2400"/>
            </a:p>
          </p:txBody>
        </p:sp>
      </p:grpSp>
      <p:sp>
        <p:nvSpPr>
          <p:cNvPr id="7" name="object 7"/>
          <p:cNvSpPr txBox="1"/>
          <p:nvPr/>
        </p:nvSpPr>
        <p:spPr>
          <a:xfrm>
            <a:off x="3661325" y="1452202"/>
            <a:ext cx="914400" cy="428387"/>
          </a:xfrm>
          <a:prstGeom prst="rect">
            <a:avLst/>
          </a:prstGeom>
        </p:spPr>
        <p:txBody>
          <a:bodyPr vert="horz" wrap="square" lIns="0" tIns="17780" rIns="0" bIns="0" rtlCol="0">
            <a:spAutoFit/>
          </a:bodyPr>
          <a:lstStyle/>
          <a:p>
            <a:pPr marL="16933">
              <a:spcBef>
                <a:spcPts val="140"/>
              </a:spcBef>
            </a:pPr>
            <a:r>
              <a:rPr sz="2667" b="1" dirty="0">
                <a:solidFill>
                  <a:srgbClr val="CCEAFF"/>
                </a:solidFill>
                <a:latin typeface="Calibri"/>
                <a:cs typeface="Calibri"/>
              </a:rPr>
              <a:t>Step </a:t>
            </a:r>
            <a:r>
              <a:rPr sz="2667" b="1" spc="-67" dirty="0">
                <a:solidFill>
                  <a:srgbClr val="CCEAFF"/>
                </a:solidFill>
                <a:latin typeface="Calibri"/>
                <a:cs typeface="Calibri"/>
              </a:rPr>
              <a:t>3</a:t>
            </a:r>
            <a:endParaRPr sz="2667">
              <a:latin typeface="Calibri"/>
              <a:cs typeface="Calibri"/>
            </a:endParaRPr>
          </a:p>
        </p:txBody>
      </p:sp>
      <p:grpSp>
        <p:nvGrpSpPr>
          <p:cNvPr id="8" name="object 8"/>
          <p:cNvGrpSpPr/>
          <p:nvPr/>
        </p:nvGrpSpPr>
        <p:grpSpPr>
          <a:xfrm>
            <a:off x="2015745" y="3013439"/>
            <a:ext cx="4296833" cy="531707"/>
            <a:chOff x="1511808" y="2260079"/>
            <a:chExt cx="3222625" cy="398780"/>
          </a:xfrm>
        </p:grpSpPr>
        <p:pic>
          <p:nvPicPr>
            <p:cNvPr id="9" name="object 9"/>
            <p:cNvPicPr/>
            <p:nvPr/>
          </p:nvPicPr>
          <p:blipFill>
            <a:blip r:embed="rId3" cstate="print"/>
            <a:stretch>
              <a:fillRect/>
            </a:stretch>
          </p:blipFill>
          <p:spPr>
            <a:xfrm>
              <a:off x="1511808" y="2270747"/>
              <a:ext cx="381761" cy="371106"/>
            </a:xfrm>
            <a:prstGeom prst="rect">
              <a:avLst/>
            </a:prstGeom>
          </p:spPr>
        </p:pic>
        <p:pic>
          <p:nvPicPr>
            <p:cNvPr id="10" name="object 10"/>
            <p:cNvPicPr/>
            <p:nvPr/>
          </p:nvPicPr>
          <p:blipFill>
            <a:blip r:embed="rId4" cstate="print"/>
            <a:stretch>
              <a:fillRect/>
            </a:stretch>
          </p:blipFill>
          <p:spPr>
            <a:xfrm>
              <a:off x="1790700" y="2260079"/>
              <a:ext cx="2943605" cy="398538"/>
            </a:xfrm>
            <a:prstGeom prst="rect">
              <a:avLst/>
            </a:prstGeom>
          </p:spPr>
        </p:pic>
      </p:grpSp>
      <p:sp>
        <p:nvSpPr>
          <p:cNvPr id="11" name="object 11"/>
          <p:cNvSpPr txBox="1"/>
          <p:nvPr/>
        </p:nvSpPr>
        <p:spPr>
          <a:xfrm>
            <a:off x="2137326" y="2463394"/>
            <a:ext cx="4460239" cy="904585"/>
          </a:xfrm>
          <a:prstGeom prst="rect">
            <a:avLst/>
          </a:prstGeom>
        </p:spPr>
        <p:txBody>
          <a:bodyPr vert="horz" wrap="square" lIns="0" tIns="16933" rIns="0" bIns="0" rtlCol="0">
            <a:spAutoFit/>
          </a:bodyPr>
          <a:lstStyle/>
          <a:p>
            <a:pPr marL="398770" indent="-381837">
              <a:spcBef>
                <a:spcPts val="133"/>
              </a:spcBef>
              <a:buClr>
                <a:srgbClr val="99D3FF"/>
              </a:buClr>
              <a:buFont typeface="Wingdings"/>
              <a:buChar char=""/>
              <a:tabLst>
                <a:tab pos="398770" algn="l"/>
              </a:tabLst>
            </a:pPr>
            <a:r>
              <a:rPr sz="2400" b="1" dirty="0">
                <a:solidFill>
                  <a:srgbClr val="D9D9D9"/>
                </a:solidFill>
                <a:latin typeface="Calibri"/>
                <a:cs typeface="Calibri"/>
              </a:rPr>
              <a:t>Descriptive</a:t>
            </a:r>
            <a:r>
              <a:rPr sz="2400" b="1" spc="-80" dirty="0">
                <a:solidFill>
                  <a:srgbClr val="D9D9D9"/>
                </a:solidFill>
                <a:latin typeface="Calibri"/>
                <a:cs typeface="Calibri"/>
              </a:rPr>
              <a:t> </a:t>
            </a:r>
            <a:r>
              <a:rPr sz="2400" b="1" dirty="0">
                <a:solidFill>
                  <a:srgbClr val="D9D9D9"/>
                </a:solidFill>
                <a:latin typeface="Calibri"/>
                <a:cs typeface="Calibri"/>
              </a:rPr>
              <a:t>aspects</a:t>
            </a:r>
            <a:r>
              <a:rPr sz="2400" b="1" spc="-67" dirty="0">
                <a:solidFill>
                  <a:srgbClr val="D9D9D9"/>
                </a:solidFill>
                <a:latin typeface="Calibri"/>
                <a:cs typeface="Calibri"/>
              </a:rPr>
              <a:t> </a:t>
            </a:r>
            <a:r>
              <a:rPr sz="2400" b="1" dirty="0">
                <a:solidFill>
                  <a:srgbClr val="D9D9D9"/>
                </a:solidFill>
                <a:latin typeface="Calibri"/>
                <a:cs typeface="Calibri"/>
              </a:rPr>
              <a:t>of</a:t>
            </a:r>
            <a:r>
              <a:rPr sz="2400" b="1" spc="-13" dirty="0">
                <a:solidFill>
                  <a:srgbClr val="D9D9D9"/>
                </a:solidFill>
                <a:latin typeface="Calibri"/>
                <a:cs typeface="Calibri"/>
              </a:rPr>
              <a:t> measures</a:t>
            </a:r>
            <a:endParaRPr sz="2400">
              <a:latin typeface="Calibri"/>
              <a:cs typeface="Calibri"/>
            </a:endParaRPr>
          </a:p>
          <a:p>
            <a:pPr marL="398770" indent="-381837">
              <a:spcBef>
                <a:spcPts val="1820"/>
              </a:spcBef>
              <a:buFont typeface="Wingdings"/>
              <a:buChar char=""/>
              <a:tabLst>
                <a:tab pos="398770" algn="l"/>
              </a:tabLst>
            </a:pPr>
            <a:r>
              <a:rPr sz="1867" b="1" dirty="0">
                <a:solidFill>
                  <a:srgbClr val="99D3FF"/>
                </a:solidFill>
                <a:latin typeface="Calibri"/>
                <a:cs typeface="Calibri"/>
              </a:rPr>
              <a:t>Naturally</a:t>
            </a:r>
            <a:r>
              <a:rPr sz="1867" b="1" spc="-60" dirty="0">
                <a:solidFill>
                  <a:srgbClr val="99D3FF"/>
                </a:solidFill>
                <a:latin typeface="Calibri"/>
                <a:cs typeface="Calibri"/>
              </a:rPr>
              <a:t> </a:t>
            </a:r>
            <a:r>
              <a:rPr sz="1867" b="1" dirty="0">
                <a:solidFill>
                  <a:srgbClr val="99D3FF"/>
                </a:solidFill>
                <a:latin typeface="Calibri"/>
                <a:cs typeface="Calibri"/>
              </a:rPr>
              <a:t>derived</a:t>
            </a:r>
            <a:r>
              <a:rPr sz="1867" b="1" spc="-47" dirty="0">
                <a:solidFill>
                  <a:srgbClr val="99D3FF"/>
                </a:solidFill>
                <a:latin typeface="Calibri"/>
                <a:cs typeface="Calibri"/>
              </a:rPr>
              <a:t> </a:t>
            </a:r>
            <a:r>
              <a:rPr sz="1867" b="1" dirty="0">
                <a:solidFill>
                  <a:srgbClr val="99D3FF"/>
                </a:solidFill>
                <a:latin typeface="Calibri"/>
                <a:cs typeface="Calibri"/>
              </a:rPr>
              <a:t>after</a:t>
            </a:r>
            <a:r>
              <a:rPr sz="1867" b="1" spc="-60" dirty="0">
                <a:solidFill>
                  <a:srgbClr val="99D3FF"/>
                </a:solidFill>
                <a:latin typeface="Calibri"/>
                <a:cs typeface="Calibri"/>
              </a:rPr>
              <a:t> </a:t>
            </a:r>
            <a:r>
              <a:rPr sz="1867" b="1" dirty="0">
                <a:solidFill>
                  <a:srgbClr val="99D3FF"/>
                </a:solidFill>
                <a:latin typeface="Calibri"/>
                <a:cs typeface="Calibri"/>
              </a:rPr>
              <a:t>grain</a:t>
            </a:r>
            <a:r>
              <a:rPr sz="1867" b="1" spc="-33" dirty="0">
                <a:solidFill>
                  <a:srgbClr val="99D3FF"/>
                </a:solidFill>
                <a:latin typeface="Calibri"/>
                <a:cs typeface="Calibri"/>
              </a:rPr>
              <a:t> </a:t>
            </a:r>
            <a:r>
              <a:rPr sz="1867" b="1" spc="-13" dirty="0">
                <a:solidFill>
                  <a:srgbClr val="99D3FF"/>
                </a:solidFill>
                <a:latin typeface="Calibri"/>
                <a:cs typeface="Calibri"/>
              </a:rPr>
              <a:t>defined</a:t>
            </a:r>
            <a:endParaRPr sz="1867">
              <a:latin typeface="Calibri"/>
              <a:cs typeface="Calibri"/>
            </a:endParaRPr>
          </a:p>
        </p:txBody>
      </p:sp>
      <p:sp>
        <p:nvSpPr>
          <p:cNvPr id="12" name="object 12"/>
          <p:cNvSpPr txBox="1"/>
          <p:nvPr/>
        </p:nvSpPr>
        <p:spPr>
          <a:xfrm>
            <a:off x="6533387" y="1455420"/>
            <a:ext cx="2824480" cy="386430"/>
          </a:xfrm>
          <a:prstGeom prst="rect">
            <a:avLst/>
          </a:prstGeom>
        </p:spPr>
        <p:txBody>
          <a:bodyPr vert="horz" wrap="square" lIns="0" tIns="16933" rIns="0" bIns="0" rtlCol="0">
            <a:spAutoFit/>
          </a:bodyPr>
          <a:lstStyle/>
          <a:p>
            <a:pPr marL="16933">
              <a:spcBef>
                <a:spcPts val="133"/>
              </a:spcBef>
            </a:pPr>
            <a:r>
              <a:rPr sz="2400" b="1" dirty="0">
                <a:solidFill>
                  <a:srgbClr val="66DBFF"/>
                </a:solidFill>
                <a:latin typeface="Trebuchet MS"/>
                <a:cs typeface="Trebuchet MS"/>
              </a:rPr>
              <a:t>Identify</a:t>
            </a:r>
            <a:r>
              <a:rPr sz="2400" b="1" spc="-87" dirty="0">
                <a:solidFill>
                  <a:srgbClr val="66DBFF"/>
                </a:solidFill>
                <a:latin typeface="Trebuchet MS"/>
                <a:cs typeface="Trebuchet MS"/>
              </a:rPr>
              <a:t> </a:t>
            </a:r>
            <a:r>
              <a:rPr sz="2400" b="1" spc="-13" dirty="0">
                <a:solidFill>
                  <a:srgbClr val="66DBFF"/>
                </a:solidFill>
                <a:latin typeface="Trebuchet MS"/>
                <a:cs typeface="Trebuchet MS"/>
              </a:rPr>
              <a:t>dimensions</a:t>
            </a:r>
            <a:endParaRPr sz="2400">
              <a:latin typeface="Trebuchet MS"/>
              <a:cs typeface="Trebuchet MS"/>
            </a:endParaRPr>
          </a:p>
        </p:txBody>
      </p:sp>
      <p:grpSp>
        <p:nvGrpSpPr>
          <p:cNvPr id="13" name="object 13"/>
          <p:cNvGrpSpPr/>
          <p:nvPr/>
        </p:nvGrpSpPr>
        <p:grpSpPr>
          <a:xfrm>
            <a:off x="6522719" y="2379438"/>
            <a:ext cx="4197094" cy="1616489"/>
            <a:chOff x="4892040" y="1784578"/>
            <a:chExt cx="3147821" cy="1212367"/>
          </a:xfrm>
        </p:grpSpPr>
        <p:pic>
          <p:nvPicPr>
            <p:cNvPr id="14" name="object 14"/>
            <p:cNvPicPr/>
            <p:nvPr/>
          </p:nvPicPr>
          <p:blipFill>
            <a:blip r:embed="rId2" cstate="print"/>
            <a:stretch>
              <a:fillRect/>
            </a:stretch>
          </p:blipFill>
          <p:spPr>
            <a:xfrm>
              <a:off x="4892040" y="1784578"/>
              <a:ext cx="3147821" cy="1212367"/>
            </a:xfrm>
            <a:prstGeom prst="rect">
              <a:avLst/>
            </a:prstGeom>
          </p:spPr>
        </p:pic>
        <p:sp>
          <p:nvSpPr>
            <p:cNvPr id="16" name="object 16"/>
            <p:cNvSpPr/>
            <p:nvPr/>
          </p:nvSpPr>
          <p:spPr>
            <a:xfrm>
              <a:off x="5218938" y="1939290"/>
              <a:ext cx="2514600" cy="581025"/>
            </a:xfrm>
            <a:custGeom>
              <a:avLst/>
              <a:gdLst/>
              <a:ahLst/>
              <a:cxnLst/>
              <a:rect l="l" t="t" r="r" b="b"/>
              <a:pathLst>
                <a:path w="2514600" h="581025">
                  <a:moveTo>
                    <a:pt x="0" y="290322"/>
                  </a:moveTo>
                  <a:lnTo>
                    <a:pt x="145161" y="0"/>
                  </a:lnTo>
                  <a:lnTo>
                    <a:pt x="2369439" y="0"/>
                  </a:lnTo>
                  <a:lnTo>
                    <a:pt x="2514600" y="290322"/>
                  </a:lnTo>
                  <a:lnTo>
                    <a:pt x="2369439" y="580644"/>
                  </a:lnTo>
                  <a:lnTo>
                    <a:pt x="145161" y="580644"/>
                  </a:lnTo>
                  <a:lnTo>
                    <a:pt x="0" y="290322"/>
                  </a:lnTo>
                  <a:close/>
                </a:path>
              </a:pathLst>
            </a:custGeom>
            <a:ln w="19812">
              <a:solidFill>
                <a:srgbClr val="00C3FF"/>
              </a:solidFill>
            </a:ln>
          </p:spPr>
          <p:txBody>
            <a:bodyPr wrap="square" lIns="0" tIns="0" rIns="0" bIns="0" rtlCol="0"/>
            <a:lstStyle/>
            <a:p>
              <a:endParaRPr sz="2400"/>
            </a:p>
          </p:txBody>
        </p:sp>
      </p:grpSp>
      <p:sp>
        <p:nvSpPr>
          <p:cNvPr id="17" name="object 17"/>
          <p:cNvSpPr txBox="1"/>
          <p:nvPr/>
        </p:nvSpPr>
        <p:spPr>
          <a:xfrm>
            <a:off x="7797801" y="2731516"/>
            <a:ext cx="1680633" cy="427532"/>
          </a:xfrm>
          <a:prstGeom prst="rect">
            <a:avLst/>
          </a:prstGeom>
        </p:spPr>
        <p:txBody>
          <a:bodyPr vert="horz" wrap="square" lIns="0" tIns="16933" rIns="0" bIns="0" rtlCol="0">
            <a:spAutoFit/>
          </a:bodyPr>
          <a:lstStyle/>
          <a:p>
            <a:pPr marL="16933">
              <a:spcBef>
                <a:spcPts val="133"/>
              </a:spcBef>
            </a:pPr>
            <a:r>
              <a:rPr sz="2667" b="1" spc="-13" dirty="0">
                <a:solidFill>
                  <a:srgbClr val="FFFFFF"/>
                </a:solidFill>
                <a:latin typeface="Calibri"/>
                <a:cs typeface="Calibri"/>
              </a:rPr>
              <a:t>Dimensions</a:t>
            </a:r>
            <a:endParaRPr sz="2667" dirty="0">
              <a:latin typeface="Calibri"/>
              <a:cs typeface="Calibri"/>
            </a:endParaRPr>
          </a:p>
        </p:txBody>
      </p:sp>
      <p:sp>
        <p:nvSpPr>
          <p:cNvPr id="29" name="object 29"/>
          <p:cNvSpPr txBox="1"/>
          <p:nvPr/>
        </p:nvSpPr>
        <p:spPr>
          <a:xfrm>
            <a:off x="8621266" y="4921663"/>
            <a:ext cx="2005418" cy="1453710"/>
          </a:xfrm>
          <a:prstGeom prst="rect">
            <a:avLst/>
          </a:prstGeom>
        </p:spPr>
        <p:txBody>
          <a:bodyPr vert="horz" wrap="square" lIns="0" tIns="16933" rIns="0" bIns="0" rtlCol="0">
            <a:spAutoFit/>
          </a:bodyPr>
          <a:lstStyle/>
          <a:p>
            <a:pPr marL="398770" indent="-381837">
              <a:spcBef>
                <a:spcPts val="133"/>
              </a:spcBef>
              <a:buClr>
                <a:srgbClr val="99D3FF"/>
              </a:buClr>
              <a:buFont typeface="Wingdings"/>
              <a:buChar char=""/>
              <a:tabLst>
                <a:tab pos="398770" algn="l"/>
              </a:tabLst>
            </a:pPr>
            <a:r>
              <a:rPr sz="1867" b="1" spc="-13" dirty="0">
                <a:solidFill>
                  <a:srgbClr val="B3B3B3"/>
                </a:solidFill>
                <a:latin typeface="Calibri"/>
                <a:cs typeface="Calibri"/>
              </a:rPr>
              <a:t>Customer</a:t>
            </a:r>
            <a:endParaRPr sz="1867" dirty="0">
              <a:latin typeface="Calibri"/>
              <a:cs typeface="Calibri"/>
            </a:endParaRPr>
          </a:p>
          <a:p>
            <a:pPr marL="398770" indent="-381837">
              <a:buClr>
                <a:srgbClr val="99D3FF"/>
              </a:buClr>
              <a:buFont typeface="Wingdings"/>
              <a:buChar char=""/>
              <a:tabLst>
                <a:tab pos="398770" algn="l"/>
              </a:tabLst>
            </a:pPr>
            <a:r>
              <a:rPr sz="1867" b="1" spc="-13" dirty="0">
                <a:solidFill>
                  <a:srgbClr val="B3B3B3"/>
                </a:solidFill>
                <a:latin typeface="Calibri"/>
                <a:cs typeface="Calibri"/>
              </a:rPr>
              <a:t>Products</a:t>
            </a:r>
            <a:endParaRPr sz="1867" dirty="0">
              <a:latin typeface="Calibri"/>
              <a:cs typeface="Calibri"/>
            </a:endParaRPr>
          </a:p>
          <a:p>
            <a:pPr marL="398770" indent="-381837">
              <a:buClr>
                <a:srgbClr val="99D3FF"/>
              </a:buClr>
              <a:buFont typeface="Wingdings"/>
              <a:buChar char=""/>
              <a:tabLst>
                <a:tab pos="398770" algn="l"/>
              </a:tabLst>
            </a:pPr>
            <a:r>
              <a:rPr sz="1867" b="1" spc="-13" dirty="0">
                <a:solidFill>
                  <a:srgbClr val="B3B3B3"/>
                </a:solidFill>
                <a:latin typeface="Calibri"/>
                <a:cs typeface="Calibri"/>
              </a:rPr>
              <a:t>Promotions</a:t>
            </a:r>
            <a:endParaRPr sz="1867" dirty="0">
              <a:latin typeface="Calibri"/>
              <a:cs typeface="Calibri"/>
            </a:endParaRPr>
          </a:p>
          <a:p>
            <a:pPr marL="398770" indent="-381837">
              <a:spcBef>
                <a:spcPts val="7"/>
              </a:spcBef>
              <a:buClr>
                <a:srgbClr val="99D3FF"/>
              </a:buClr>
              <a:buFont typeface="Wingdings"/>
              <a:buChar char=""/>
              <a:tabLst>
                <a:tab pos="398770" algn="l"/>
              </a:tabLst>
            </a:pPr>
            <a:r>
              <a:rPr sz="1867" b="1" spc="-13" dirty="0">
                <a:solidFill>
                  <a:srgbClr val="B3B3B3"/>
                </a:solidFill>
                <a:latin typeface="Calibri"/>
                <a:cs typeface="Calibri"/>
              </a:rPr>
              <a:t>Time/date</a:t>
            </a:r>
            <a:endParaRPr sz="1867" dirty="0">
              <a:latin typeface="Calibri"/>
              <a:cs typeface="Calibri"/>
            </a:endParaRPr>
          </a:p>
          <a:p>
            <a:pPr marL="398770" indent="-381837">
              <a:buClr>
                <a:srgbClr val="99D3FF"/>
              </a:buClr>
              <a:buFont typeface="Wingdings"/>
              <a:buChar char=""/>
              <a:tabLst>
                <a:tab pos="398770" algn="l"/>
              </a:tabLst>
            </a:pPr>
            <a:r>
              <a:rPr sz="1867" b="1" spc="-13" dirty="0">
                <a:solidFill>
                  <a:srgbClr val="B3B3B3"/>
                </a:solidFill>
                <a:latin typeface="Calibri"/>
                <a:cs typeface="Calibri"/>
              </a:rPr>
              <a:t>Website</a:t>
            </a:r>
            <a:endParaRPr sz="1867" dirty="0">
              <a:latin typeface="Calibri"/>
              <a:cs typeface="Calibri"/>
            </a:endParaRPr>
          </a:p>
        </p:txBody>
      </p:sp>
      <p:pic>
        <p:nvPicPr>
          <p:cNvPr id="30" name="object 30"/>
          <p:cNvPicPr/>
          <p:nvPr/>
        </p:nvPicPr>
        <p:blipFill>
          <a:blip r:embed="rId5" cstate="print"/>
          <a:stretch>
            <a:fillRect/>
          </a:stretch>
        </p:blipFill>
        <p:spPr>
          <a:xfrm>
            <a:off x="477078" y="3545839"/>
            <a:ext cx="11229274" cy="1274639"/>
          </a:xfrm>
          <a:prstGeom prst="rect">
            <a:avLst/>
          </a:prstGeom>
        </p:spPr>
      </p:pic>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39491" y="169801"/>
            <a:ext cx="8397241" cy="695062"/>
          </a:xfrm>
          <a:prstGeom prst="rect">
            <a:avLst/>
          </a:prstGeom>
        </p:spPr>
        <p:txBody>
          <a:bodyPr vert="horz" wrap="square" lIns="0" tIns="17780" rIns="0" bIns="0" rtlCol="0" anchor="ctr">
            <a:spAutoFit/>
          </a:bodyPr>
          <a:lstStyle/>
          <a:p>
            <a:pPr marL="969409">
              <a:lnSpc>
                <a:spcPct val="100000"/>
              </a:lnSpc>
              <a:spcBef>
                <a:spcPts val="140"/>
              </a:spcBef>
            </a:pPr>
            <a:r>
              <a:rPr dirty="0">
                <a:solidFill>
                  <a:schemeClr val="bg1"/>
                </a:solidFill>
                <a:latin typeface="+mn-lt"/>
              </a:rPr>
              <a:t>Case</a:t>
            </a:r>
            <a:r>
              <a:rPr spc="-67" dirty="0">
                <a:solidFill>
                  <a:schemeClr val="bg1"/>
                </a:solidFill>
                <a:latin typeface="+mn-lt"/>
              </a:rPr>
              <a:t> </a:t>
            </a:r>
            <a:r>
              <a:rPr dirty="0">
                <a:solidFill>
                  <a:schemeClr val="bg1"/>
                </a:solidFill>
                <a:latin typeface="+mn-lt"/>
              </a:rPr>
              <a:t>study:</a:t>
            </a:r>
            <a:r>
              <a:rPr spc="-40" dirty="0">
                <a:solidFill>
                  <a:schemeClr val="bg1"/>
                </a:solidFill>
                <a:latin typeface="+mn-lt"/>
              </a:rPr>
              <a:t> </a:t>
            </a:r>
            <a:r>
              <a:rPr spc="-13" dirty="0">
                <a:solidFill>
                  <a:schemeClr val="bg1"/>
                </a:solidFill>
                <a:latin typeface="+mn-lt"/>
              </a:rPr>
              <a:t>E-Commerce</a:t>
            </a:r>
          </a:p>
        </p:txBody>
      </p:sp>
      <p:grpSp>
        <p:nvGrpSpPr>
          <p:cNvPr id="3" name="object 3"/>
          <p:cNvGrpSpPr/>
          <p:nvPr/>
        </p:nvGrpSpPr>
        <p:grpSpPr>
          <a:xfrm>
            <a:off x="2003551" y="1101310"/>
            <a:ext cx="4197096" cy="1616489"/>
            <a:chOff x="1502663" y="825982"/>
            <a:chExt cx="3147822" cy="1212367"/>
          </a:xfrm>
        </p:grpSpPr>
        <p:pic>
          <p:nvPicPr>
            <p:cNvPr id="4" name="object 4"/>
            <p:cNvPicPr/>
            <p:nvPr/>
          </p:nvPicPr>
          <p:blipFill>
            <a:blip r:embed="rId2" cstate="print"/>
            <a:stretch>
              <a:fillRect/>
            </a:stretch>
          </p:blipFill>
          <p:spPr>
            <a:xfrm>
              <a:off x="1502663" y="825982"/>
              <a:ext cx="3147822" cy="1212367"/>
            </a:xfrm>
            <a:prstGeom prst="rect">
              <a:avLst/>
            </a:prstGeom>
          </p:spPr>
        </p:pic>
        <p:sp>
          <p:nvSpPr>
            <p:cNvPr id="6" name="object 6"/>
            <p:cNvSpPr/>
            <p:nvPr/>
          </p:nvSpPr>
          <p:spPr>
            <a:xfrm>
              <a:off x="1829561" y="980694"/>
              <a:ext cx="2514600" cy="581025"/>
            </a:xfrm>
            <a:custGeom>
              <a:avLst/>
              <a:gdLst/>
              <a:ahLst/>
              <a:cxnLst/>
              <a:rect l="l" t="t" r="r" b="b"/>
              <a:pathLst>
                <a:path w="2514600" h="581025">
                  <a:moveTo>
                    <a:pt x="0" y="290321"/>
                  </a:moveTo>
                  <a:lnTo>
                    <a:pt x="145161" y="0"/>
                  </a:lnTo>
                  <a:lnTo>
                    <a:pt x="2369439" y="0"/>
                  </a:lnTo>
                  <a:lnTo>
                    <a:pt x="2514600" y="290321"/>
                  </a:lnTo>
                  <a:lnTo>
                    <a:pt x="2369439" y="580643"/>
                  </a:lnTo>
                  <a:lnTo>
                    <a:pt x="145161" y="580643"/>
                  </a:lnTo>
                  <a:lnTo>
                    <a:pt x="0" y="290321"/>
                  </a:lnTo>
                  <a:close/>
                </a:path>
              </a:pathLst>
            </a:custGeom>
            <a:ln w="19812">
              <a:solidFill>
                <a:srgbClr val="00C3FF"/>
              </a:solidFill>
            </a:ln>
          </p:spPr>
          <p:txBody>
            <a:bodyPr wrap="square" lIns="0" tIns="0" rIns="0" bIns="0" rtlCol="0"/>
            <a:lstStyle/>
            <a:p>
              <a:endParaRPr sz="2400"/>
            </a:p>
          </p:txBody>
        </p:sp>
      </p:grpSp>
      <p:sp>
        <p:nvSpPr>
          <p:cNvPr id="7" name="object 7"/>
          <p:cNvSpPr txBox="1"/>
          <p:nvPr/>
        </p:nvSpPr>
        <p:spPr>
          <a:xfrm>
            <a:off x="3661325" y="1452202"/>
            <a:ext cx="914400" cy="428387"/>
          </a:xfrm>
          <a:prstGeom prst="rect">
            <a:avLst/>
          </a:prstGeom>
        </p:spPr>
        <p:txBody>
          <a:bodyPr vert="horz" wrap="square" lIns="0" tIns="17780" rIns="0" bIns="0" rtlCol="0">
            <a:spAutoFit/>
          </a:bodyPr>
          <a:lstStyle/>
          <a:p>
            <a:pPr marL="16933">
              <a:spcBef>
                <a:spcPts val="140"/>
              </a:spcBef>
            </a:pPr>
            <a:r>
              <a:rPr sz="2667" b="1" dirty="0">
                <a:solidFill>
                  <a:srgbClr val="CCEAFF"/>
                </a:solidFill>
                <a:latin typeface="Calibri"/>
                <a:cs typeface="Calibri"/>
              </a:rPr>
              <a:t>Step </a:t>
            </a:r>
            <a:r>
              <a:rPr sz="2667" b="1" spc="-67" dirty="0">
                <a:solidFill>
                  <a:srgbClr val="CCEAFF"/>
                </a:solidFill>
                <a:latin typeface="Calibri"/>
                <a:cs typeface="Calibri"/>
              </a:rPr>
              <a:t>4</a:t>
            </a:r>
            <a:endParaRPr sz="2667">
              <a:latin typeface="Calibri"/>
              <a:cs typeface="Calibri"/>
            </a:endParaRPr>
          </a:p>
        </p:txBody>
      </p:sp>
      <p:grpSp>
        <p:nvGrpSpPr>
          <p:cNvPr id="8" name="object 8"/>
          <p:cNvGrpSpPr/>
          <p:nvPr/>
        </p:nvGrpSpPr>
        <p:grpSpPr>
          <a:xfrm>
            <a:off x="2015744" y="3013439"/>
            <a:ext cx="3406987" cy="531707"/>
            <a:chOff x="1511808" y="2260079"/>
            <a:chExt cx="2555240" cy="398780"/>
          </a:xfrm>
        </p:grpSpPr>
        <p:pic>
          <p:nvPicPr>
            <p:cNvPr id="9" name="object 9"/>
            <p:cNvPicPr/>
            <p:nvPr/>
          </p:nvPicPr>
          <p:blipFill>
            <a:blip r:embed="rId3" cstate="print"/>
            <a:stretch>
              <a:fillRect/>
            </a:stretch>
          </p:blipFill>
          <p:spPr>
            <a:xfrm>
              <a:off x="1511808" y="2270747"/>
              <a:ext cx="381761" cy="371106"/>
            </a:xfrm>
            <a:prstGeom prst="rect">
              <a:avLst/>
            </a:prstGeom>
          </p:spPr>
        </p:pic>
        <p:pic>
          <p:nvPicPr>
            <p:cNvPr id="10" name="object 10"/>
            <p:cNvPicPr/>
            <p:nvPr/>
          </p:nvPicPr>
          <p:blipFill>
            <a:blip r:embed="rId4" cstate="print"/>
            <a:stretch>
              <a:fillRect/>
            </a:stretch>
          </p:blipFill>
          <p:spPr>
            <a:xfrm>
              <a:off x="1790700" y="2260079"/>
              <a:ext cx="2276094" cy="398538"/>
            </a:xfrm>
            <a:prstGeom prst="rect">
              <a:avLst/>
            </a:prstGeom>
          </p:spPr>
        </p:pic>
      </p:grpSp>
      <p:sp>
        <p:nvSpPr>
          <p:cNvPr id="11" name="object 11"/>
          <p:cNvSpPr txBox="1"/>
          <p:nvPr/>
        </p:nvSpPr>
        <p:spPr>
          <a:xfrm>
            <a:off x="2137325" y="2463394"/>
            <a:ext cx="4470400" cy="904585"/>
          </a:xfrm>
          <a:prstGeom prst="rect">
            <a:avLst/>
          </a:prstGeom>
        </p:spPr>
        <p:txBody>
          <a:bodyPr vert="horz" wrap="square" lIns="0" tIns="16933" rIns="0" bIns="0" rtlCol="0">
            <a:spAutoFit/>
          </a:bodyPr>
          <a:lstStyle/>
          <a:p>
            <a:pPr marL="398770" indent="-381837">
              <a:spcBef>
                <a:spcPts val="133"/>
              </a:spcBef>
              <a:buClr>
                <a:srgbClr val="99D3FF"/>
              </a:buClr>
              <a:buFont typeface="Wingdings"/>
              <a:buChar char=""/>
              <a:tabLst>
                <a:tab pos="398770" algn="l"/>
              </a:tabLst>
            </a:pPr>
            <a:r>
              <a:rPr sz="2400" b="1" dirty="0">
                <a:solidFill>
                  <a:srgbClr val="D9D9D9"/>
                </a:solidFill>
                <a:latin typeface="Calibri"/>
                <a:cs typeface="Calibri"/>
              </a:rPr>
              <a:t>What</a:t>
            </a:r>
            <a:r>
              <a:rPr sz="2400" b="1" spc="-13" dirty="0">
                <a:solidFill>
                  <a:srgbClr val="D9D9D9"/>
                </a:solidFill>
                <a:latin typeface="Calibri"/>
                <a:cs typeface="Calibri"/>
              </a:rPr>
              <a:t> </a:t>
            </a:r>
            <a:r>
              <a:rPr sz="2400" b="1" dirty="0">
                <a:solidFill>
                  <a:srgbClr val="D9D9D9"/>
                </a:solidFill>
                <a:latin typeface="Calibri"/>
                <a:cs typeface="Calibri"/>
              </a:rPr>
              <a:t>facts</a:t>
            </a:r>
            <a:r>
              <a:rPr sz="2400" b="1" spc="-13" dirty="0">
                <a:solidFill>
                  <a:srgbClr val="D9D9D9"/>
                </a:solidFill>
                <a:latin typeface="Calibri"/>
                <a:cs typeface="Calibri"/>
              </a:rPr>
              <a:t> </a:t>
            </a:r>
            <a:r>
              <a:rPr sz="2400" b="1" dirty="0">
                <a:solidFill>
                  <a:srgbClr val="D9D9D9"/>
                </a:solidFill>
                <a:latin typeface="Calibri"/>
                <a:cs typeface="Calibri"/>
              </a:rPr>
              <a:t>are</a:t>
            </a:r>
            <a:r>
              <a:rPr sz="2400" b="1" spc="-13" dirty="0">
                <a:solidFill>
                  <a:srgbClr val="D9D9D9"/>
                </a:solidFill>
                <a:latin typeface="Calibri"/>
                <a:cs typeface="Calibri"/>
              </a:rPr>
              <a:t> </a:t>
            </a:r>
            <a:r>
              <a:rPr sz="2400" b="1" dirty="0">
                <a:solidFill>
                  <a:srgbClr val="D9D9D9"/>
                </a:solidFill>
                <a:latin typeface="Calibri"/>
                <a:cs typeface="Calibri"/>
              </a:rPr>
              <a:t>in</a:t>
            </a:r>
            <a:r>
              <a:rPr sz="2400" b="1" spc="-27" dirty="0">
                <a:solidFill>
                  <a:srgbClr val="D9D9D9"/>
                </a:solidFill>
                <a:latin typeface="Calibri"/>
                <a:cs typeface="Calibri"/>
              </a:rPr>
              <a:t> </a:t>
            </a:r>
            <a:r>
              <a:rPr sz="2400" b="1" dirty="0">
                <a:solidFill>
                  <a:srgbClr val="D9D9D9"/>
                </a:solidFill>
                <a:latin typeface="Calibri"/>
                <a:cs typeface="Calibri"/>
              </a:rPr>
              <a:t>the</a:t>
            </a:r>
            <a:r>
              <a:rPr sz="2400" b="1" spc="-40" dirty="0">
                <a:solidFill>
                  <a:srgbClr val="D9D9D9"/>
                </a:solidFill>
                <a:latin typeface="Calibri"/>
                <a:cs typeface="Calibri"/>
              </a:rPr>
              <a:t> </a:t>
            </a:r>
            <a:r>
              <a:rPr sz="2400" b="1" dirty="0">
                <a:solidFill>
                  <a:srgbClr val="D9D9D9"/>
                </a:solidFill>
                <a:latin typeface="Calibri"/>
                <a:cs typeface="Calibri"/>
              </a:rPr>
              <a:t>fact </a:t>
            </a:r>
            <a:r>
              <a:rPr sz="2400" b="1" spc="-13" dirty="0">
                <a:solidFill>
                  <a:srgbClr val="D9D9D9"/>
                </a:solidFill>
                <a:latin typeface="Calibri"/>
                <a:cs typeface="Calibri"/>
              </a:rPr>
              <a:t>table?</a:t>
            </a:r>
            <a:endParaRPr sz="2400">
              <a:latin typeface="Calibri"/>
              <a:cs typeface="Calibri"/>
            </a:endParaRPr>
          </a:p>
          <a:p>
            <a:pPr marL="398770" indent="-381837">
              <a:spcBef>
                <a:spcPts val="1820"/>
              </a:spcBef>
              <a:buFont typeface="Wingdings"/>
              <a:buChar char=""/>
              <a:tabLst>
                <a:tab pos="398770" algn="l"/>
              </a:tabLst>
            </a:pPr>
            <a:r>
              <a:rPr sz="1867" b="1" dirty="0">
                <a:solidFill>
                  <a:srgbClr val="99D3FF"/>
                </a:solidFill>
                <a:latin typeface="Calibri"/>
                <a:cs typeface="Calibri"/>
              </a:rPr>
              <a:t>Must</a:t>
            </a:r>
            <a:r>
              <a:rPr sz="1867" b="1" spc="-20" dirty="0">
                <a:solidFill>
                  <a:srgbClr val="99D3FF"/>
                </a:solidFill>
                <a:latin typeface="Calibri"/>
                <a:cs typeface="Calibri"/>
              </a:rPr>
              <a:t> </a:t>
            </a:r>
            <a:r>
              <a:rPr sz="1867" b="1" dirty="0">
                <a:solidFill>
                  <a:srgbClr val="99D3FF"/>
                </a:solidFill>
                <a:latin typeface="Calibri"/>
                <a:cs typeface="Calibri"/>
              </a:rPr>
              <a:t>comply</a:t>
            </a:r>
            <a:r>
              <a:rPr sz="1867" b="1" spc="-33" dirty="0">
                <a:solidFill>
                  <a:srgbClr val="99D3FF"/>
                </a:solidFill>
                <a:latin typeface="Calibri"/>
                <a:cs typeface="Calibri"/>
              </a:rPr>
              <a:t> </a:t>
            </a:r>
            <a:r>
              <a:rPr sz="1867" b="1" dirty="0">
                <a:solidFill>
                  <a:srgbClr val="99D3FF"/>
                </a:solidFill>
                <a:latin typeface="Calibri"/>
                <a:cs typeface="Calibri"/>
              </a:rPr>
              <a:t>with</a:t>
            </a:r>
            <a:r>
              <a:rPr sz="1867" b="1" spc="-27" dirty="0">
                <a:solidFill>
                  <a:srgbClr val="99D3FF"/>
                </a:solidFill>
                <a:latin typeface="Calibri"/>
                <a:cs typeface="Calibri"/>
              </a:rPr>
              <a:t> </a:t>
            </a:r>
            <a:r>
              <a:rPr sz="1867" b="1" dirty="0">
                <a:solidFill>
                  <a:srgbClr val="99D3FF"/>
                </a:solidFill>
                <a:latin typeface="Calibri"/>
                <a:cs typeface="Calibri"/>
              </a:rPr>
              <a:t>the</a:t>
            </a:r>
            <a:r>
              <a:rPr sz="1867" b="1" spc="-20" dirty="0">
                <a:solidFill>
                  <a:srgbClr val="99D3FF"/>
                </a:solidFill>
                <a:latin typeface="Calibri"/>
                <a:cs typeface="Calibri"/>
              </a:rPr>
              <a:t> </a:t>
            </a:r>
            <a:r>
              <a:rPr sz="1867" b="1" spc="-27" dirty="0">
                <a:solidFill>
                  <a:srgbClr val="99D3FF"/>
                </a:solidFill>
                <a:latin typeface="Calibri"/>
                <a:cs typeface="Calibri"/>
              </a:rPr>
              <a:t>grain</a:t>
            </a:r>
            <a:endParaRPr sz="1867">
              <a:latin typeface="Calibri"/>
              <a:cs typeface="Calibri"/>
            </a:endParaRPr>
          </a:p>
        </p:txBody>
      </p:sp>
      <p:sp>
        <p:nvSpPr>
          <p:cNvPr id="12" name="object 12"/>
          <p:cNvSpPr txBox="1"/>
          <p:nvPr/>
        </p:nvSpPr>
        <p:spPr>
          <a:xfrm>
            <a:off x="6150187" y="1489625"/>
            <a:ext cx="4467013" cy="386430"/>
          </a:xfrm>
          <a:prstGeom prst="rect">
            <a:avLst/>
          </a:prstGeom>
        </p:spPr>
        <p:txBody>
          <a:bodyPr vert="horz" wrap="square" lIns="0" tIns="16933" rIns="0" bIns="0" rtlCol="0">
            <a:spAutoFit/>
          </a:bodyPr>
          <a:lstStyle/>
          <a:p>
            <a:pPr marL="16933">
              <a:spcBef>
                <a:spcPts val="133"/>
              </a:spcBef>
            </a:pPr>
            <a:r>
              <a:rPr sz="2400" b="1" dirty="0">
                <a:solidFill>
                  <a:srgbClr val="66DBFF"/>
                </a:solidFill>
                <a:latin typeface="Trebuchet MS"/>
                <a:cs typeface="Trebuchet MS"/>
              </a:rPr>
              <a:t>Identify</a:t>
            </a:r>
            <a:r>
              <a:rPr sz="2400" b="1" spc="-47" dirty="0">
                <a:solidFill>
                  <a:srgbClr val="66DBFF"/>
                </a:solidFill>
                <a:latin typeface="Trebuchet MS"/>
                <a:cs typeface="Trebuchet MS"/>
              </a:rPr>
              <a:t> </a:t>
            </a:r>
            <a:r>
              <a:rPr sz="2400" b="1" dirty="0">
                <a:solidFill>
                  <a:srgbClr val="66DBFF"/>
                </a:solidFill>
                <a:latin typeface="Trebuchet MS"/>
                <a:cs typeface="Trebuchet MS"/>
              </a:rPr>
              <a:t>facts</a:t>
            </a:r>
            <a:r>
              <a:rPr sz="2400" b="1" spc="-53" dirty="0">
                <a:solidFill>
                  <a:srgbClr val="66DBFF"/>
                </a:solidFill>
                <a:latin typeface="Trebuchet MS"/>
                <a:cs typeface="Trebuchet MS"/>
              </a:rPr>
              <a:t> </a:t>
            </a:r>
            <a:r>
              <a:rPr sz="2400" b="1" dirty="0">
                <a:solidFill>
                  <a:srgbClr val="66DBFF"/>
                </a:solidFill>
                <a:latin typeface="Trebuchet MS"/>
                <a:cs typeface="Trebuchet MS"/>
              </a:rPr>
              <a:t>for</a:t>
            </a:r>
            <a:r>
              <a:rPr sz="2400" b="1" spc="-53" dirty="0">
                <a:solidFill>
                  <a:srgbClr val="66DBFF"/>
                </a:solidFill>
                <a:latin typeface="Trebuchet MS"/>
                <a:cs typeface="Trebuchet MS"/>
              </a:rPr>
              <a:t> </a:t>
            </a:r>
            <a:r>
              <a:rPr sz="2400" b="1" spc="-13" dirty="0">
                <a:solidFill>
                  <a:srgbClr val="66DBFF"/>
                </a:solidFill>
                <a:latin typeface="Trebuchet MS"/>
                <a:cs typeface="Trebuchet MS"/>
              </a:rPr>
              <a:t>measurement</a:t>
            </a:r>
            <a:endParaRPr sz="2400">
              <a:latin typeface="Trebuchet MS"/>
              <a:cs typeface="Trebuchet MS"/>
            </a:endParaRPr>
          </a:p>
        </p:txBody>
      </p:sp>
      <p:grpSp>
        <p:nvGrpSpPr>
          <p:cNvPr id="13" name="object 13"/>
          <p:cNvGrpSpPr/>
          <p:nvPr/>
        </p:nvGrpSpPr>
        <p:grpSpPr>
          <a:xfrm>
            <a:off x="6522719" y="2379438"/>
            <a:ext cx="4197094" cy="1616489"/>
            <a:chOff x="4892040" y="1784578"/>
            <a:chExt cx="3147821" cy="1212367"/>
          </a:xfrm>
        </p:grpSpPr>
        <p:pic>
          <p:nvPicPr>
            <p:cNvPr id="14" name="object 14"/>
            <p:cNvPicPr/>
            <p:nvPr/>
          </p:nvPicPr>
          <p:blipFill>
            <a:blip r:embed="rId2" cstate="print"/>
            <a:stretch>
              <a:fillRect/>
            </a:stretch>
          </p:blipFill>
          <p:spPr>
            <a:xfrm>
              <a:off x="4892040" y="1784578"/>
              <a:ext cx="3147821" cy="1212367"/>
            </a:xfrm>
            <a:prstGeom prst="rect">
              <a:avLst/>
            </a:prstGeom>
          </p:spPr>
        </p:pic>
        <p:sp>
          <p:nvSpPr>
            <p:cNvPr id="16" name="object 16"/>
            <p:cNvSpPr/>
            <p:nvPr/>
          </p:nvSpPr>
          <p:spPr>
            <a:xfrm>
              <a:off x="5218938" y="1939290"/>
              <a:ext cx="2514600" cy="581025"/>
            </a:xfrm>
            <a:custGeom>
              <a:avLst/>
              <a:gdLst/>
              <a:ahLst/>
              <a:cxnLst/>
              <a:rect l="l" t="t" r="r" b="b"/>
              <a:pathLst>
                <a:path w="2514600" h="581025">
                  <a:moveTo>
                    <a:pt x="0" y="290322"/>
                  </a:moveTo>
                  <a:lnTo>
                    <a:pt x="145161" y="0"/>
                  </a:lnTo>
                  <a:lnTo>
                    <a:pt x="2369439" y="0"/>
                  </a:lnTo>
                  <a:lnTo>
                    <a:pt x="2514600" y="290322"/>
                  </a:lnTo>
                  <a:lnTo>
                    <a:pt x="2369439" y="580644"/>
                  </a:lnTo>
                  <a:lnTo>
                    <a:pt x="145161" y="580644"/>
                  </a:lnTo>
                  <a:lnTo>
                    <a:pt x="0" y="290322"/>
                  </a:lnTo>
                  <a:close/>
                </a:path>
              </a:pathLst>
            </a:custGeom>
            <a:ln w="19812">
              <a:solidFill>
                <a:srgbClr val="00C3FF"/>
              </a:solidFill>
            </a:ln>
          </p:spPr>
          <p:txBody>
            <a:bodyPr wrap="square" lIns="0" tIns="0" rIns="0" bIns="0" rtlCol="0"/>
            <a:lstStyle/>
            <a:p>
              <a:endParaRPr sz="2400"/>
            </a:p>
          </p:txBody>
        </p:sp>
      </p:grpSp>
      <p:sp>
        <p:nvSpPr>
          <p:cNvPr id="17" name="object 17"/>
          <p:cNvSpPr txBox="1"/>
          <p:nvPr/>
        </p:nvSpPr>
        <p:spPr>
          <a:xfrm>
            <a:off x="8261095" y="2731516"/>
            <a:ext cx="752687" cy="427532"/>
          </a:xfrm>
          <a:prstGeom prst="rect">
            <a:avLst/>
          </a:prstGeom>
        </p:spPr>
        <p:txBody>
          <a:bodyPr vert="horz" wrap="square" lIns="0" tIns="16933" rIns="0" bIns="0" rtlCol="0">
            <a:spAutoFit/>
          </a:bodyPr>
          <a:lstStyle/>
          <a:p>
            <a:pPr marL="16933">
              <a:spcBef>
                <a:spcPts val="133"/>
              </a:spcBef>
            </a:pPr>
            <a:r>
              <a:rPr sz="2667" b="1" spc="-13" dirty="0">
                <a:solidFill>
                  <a:srgbClr val="FFFFFF"/>
                </a:solidFill>
                <a:latin typeface="Calibri"/>
                <a:cs typeface="Calibri"/>
              </a:rPr>
              <a:t>Facts</a:t>
            </a:r>
            <a:endParaRPr sz="2667" dirty="0">
              <a:latin typeface="Calibri"/>
              <a:cs typeface="Calibri"/>
            </a:endParaRPr>
          </a:p>
        </p:txBody>
      </p:sp>
      <p:sp>
        <p:nvSpPr>
          <p:cNvPr id="27" name="object 27"/>
          <p:cNvSpPr txBox="1"/>
          <p:nvPr/>
        </p:nvSpPr>
        <p:spPr>
          <a:xfrm>
            <a:off x="7753712" y="5269022"/>
            <a:ext cx="3978149" cy="1166387"/>
          </a:xfrm>
          <a:prstGeom prst="rect">
            <a:avLst/>
          </a:prstGeom>
        </p:spPr>
        <p:txBody>
          <a:bodyPr vert="horz" wrap="square" lIns="0" tIns="16933" rIns="0" bIns="0" rtlCol="0">
            <a:spAutoFit/>
          </a:bodyPr>
          <a:lstStyle/>
          <a:p>
            <a:pPr marL="398770" indent="-381837">
              <a:spcBef>
                <a:spcPts val="133"/>
              </a:spcBef>
              <a:buClr>
                <a:srgbClr val="99D3FF"/>
              </a:buClr>
              <a:buFont typeface="Wingdings"/>
              <a:buChar char=""/>
              <a:tabLst>
                <a:tab pos="398770" algn="l"/>
              </a:tabLst>
            </a:pPr>
            <a:r>
              <a:rPr sz="1867" b="1" spc="-13" dirty="0">
                <a:solidFill>
                  <a:srgbClr val="B3B3B3"/>
                </a:solidFill>
                <a:latin typeface="Calibri"/>
                <a:cs typeface="Calibri"/>
              </a:rPr>
              <a:t>Additive</a:t>
            </a:r>
            <a:endParaRPr sz="1867" dirty="0">
              <a:latin typeface="Calibri"/>
              <a:cs typeface="Calibri"/>
            </a:endParaRPr>
          </a:p>
          <a:p>
            <a:pPr marL="398770" indent="-381837">
              <a:spcBef>
                <a:spcPts val="7"/>
              </a:spcBef>
              <a:buClr>
                <a:srgbClr val="99D3FF"/>
              </a:buClr>
              <a:buFont typeface="Wingdings"/>
              <a:buChar char=""/>
              <a:tabLst>
                <a:tab pos="398770" algn="l"/>
              </a:tabLst>
            </a:pPr>
            <a:r>
              <a:rPr sz="1867" b="1" dirty="0">
                <a:solidFill>
                  <a:srgbClr val="B3B3B3"/>
                </a:solidFill>
                <a:latin typeface="Calibri"/>
                <a:cs typeface="Calibri"/>
              </a:rPr>
              <a:t>Discount</a:t>
            </a:r>
            <a:r>
              <a:rPr sz="1867" b="1" spc="-73" dirty="0">
                <a:solidFill>
                  <a:srgbClr val="B3B3B3"/>
                </a:solidFill>
                <a:latin typeface="Calibri"/>
                <a:cs typeface="Calibri"/>
              </a:rPr>
              <a:t> </a:t>
            </a:r>
            <a:r>
              <a:rPr sz="1867" b="1" dirty="0">
                <a:solidFill>
                  <a:srgbClr val="B3B3B3"/>
                </a:solidFill>
                <a:latin typeface="Calibri"/>
                <a:cs typeface="Calibri"/>
              </a:rPr>
              <a:t>absolut</a:t>
            </a:r>
            <a:r>
              <a:rPr sz="1867" b="1" spc="-73" dirty="0">
                <a:solidFill>
                  <a:srgbClr val="B3B3B3"/>
                </a:solidFill>
                <a:latin typeface="Calibri"/>
                <a:cs typeface="Calibri"/>
              </a:rPr>
              <a:t> </a:t>
            </a:r>
            <a:r>
              <a:rPr sz="1867" b="1" spc="-13" dirty="0">
                <a:solidFill>
                  <a:srgbClr val="B3B3B3"/>
                </a:solidFill>
                <a:latin typeface="Calibri"/>
                <a:cs typeface="Calibri"/>
              </a:rPr>
              <a:t>(yes?)</a:t>
            </a:r>
            <a:endParaRPr sz="1867" dirty="0">
              <a:latin typeface="Calibri"/>
              <a:cs typeface="Calibri"/>
            </a:endParaRPr>
          </a:p>
          <a:p>
            <a:pPr marL="398770" indent="-381837">
              <a:buClr>
                <a:srgbClr val="99D3FF"/>
              </a:buClr>
              <a:buFont typeface="Wingdings"/>
              <a:buChar char=""/>
              <a:tabLst>
                <a:tab pos="398770" algn="l"/>
              </a:tabLst>
            </a:pPr>
            <a:r>
              <a:rPr sz="1867" b="1" dirty="0">
                <a:solidFill>
                  <a:srgbClr val="B3B3B3"/>
                </a:solidFill>
                <a:latin typeface="Calibri"/>
                <a:cs typeface="Calibri"/>
              </a:rPr>
              <a:t>Discount</a:t>
            </a:r>
            <a:r>
              <a:rPr sz="1867" b="1" spc="-87" dirty="0">
                <a:solidFill>
                  <a:srgbClr val="B3B3B3"/>
                </a:solidFill>
                <a:latin typeface="Calibri"/>
                <a:cs typeface="Calibri"/>
              </a:rPr>
              <a:t> </a:t>
            </a:r>
            <a:r>
              <a:rPr sz="1867" b="1" dirty="0">
                <a:solidFill>
                  <a:srgbClr val="B3B3B3"/>
                </a:solidFill>
                <a:latin typeface="Calibri"/>
                <a:cs typeface="Calibri"/>
              </a:rPr>
              <a:t>percentage</a:t>
            </a:r>
            <a:r>
              <a:rPr sz="1867" b="1" spc="-93" dirty="0">
                <a:solidFill>
                  <a:srgbClr val="B3B3B3"/>
                </a:solidFill>
                <a:latin typeface="Calibri"/>
                <a:cs typeface="Calibri"/>
              </a:rPr>
              <a:t> </a:t>
            </a:r>
            <a:r>
              <a:rPr sz="1867" b="1" spc="-27" dirty="0">
                <a:solidFill>
                  <a:srgbClr val="B3B3B3"/>
                </a:solidFill>
                <a:latin typeface="Calibri"/>
                <a:cs typeface="Calibri"/>
              </a:rPr>
              <a:t>(no?)</a:t>
            </a:r>
            <a:endParaRPr sz="1867" dirty="0">
              <a:latin typeface="Calibri"/>
              <a:cs typeface="Calibri"/>
            </a:endParaRPr>
          </a:p>
          <a:p>
            <a:pPr marL="398770" indent="-381837">
              <a:buClr>
                <a:srgbClr val="99D3FF"/>
              </a:buClr>
              <a:buFont typeface="Wingdings"/>
              <a:buChar char=""/>
              <a:tabLst>
                <a:tab pos="398770" algn="l"/>
              </a:tabLst>
            </a:pPr>
            <a:r>
              <a:rPr sz="1867" b="1" spc="-13" dirty="0">
                <a:solidFill>
                  <a:srgbClr val="B3B3B3"/>
                </a:solidFill>
                <a:latin typeface="Calibri"/>
                <a:cs typeface="Calibri"/>
              </a:rPr>
              <a:t>Profit</a:t>
            </a:r>
            <a:endParaRPr sz="1867" dirty="0">
              <a:latin typeface="Calibri"/>
              <a:cs typeface="Calibri"/>
            </a:endParaRPr>
          </a:p>
        </p:txBody>
      </p:sp>
      <p:pic>
        <p:nvPicPr>
          <p:cNvPr id="28" name="object 28"/>
          <p:cNvPicPr/>
          <p:nvPr/>
        </p:nvPicPr>
        <p:blipFill>
          <a:blip r:embed="rId5" cstate="print"/>
          <a:stretch>
            <a:fillRect/>
          </a:stretch>
        </p:blipFill>
        <p:spPr>
          <a:xfrm>
            <a:off x="685800" y="3558031"/>
            <a:ext cx="10736072" cy="1441352"/>
          </a:xfrm>
          <a:prstGeom prst="rect">
            <a:avLst/>
          </a:prstGeom>
        </p:spPr>
      </p:pic>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 56">
            <a:extLst>
              <a:ext uri="{FF2B5EF4-FFF2-40B4-BE49-F238E27FC236}">
                <a16:creationId xmlns:a16="http://schemas.microsoft.com/office/drawing/2014/main" id="{39FD9157-D116-2E7D-A283-D1049966801F}"/>
              </a:ext>
            </a:extLst>
          </p:cNvPr>
          <p:cNvGrpSpPr/>
          <p:nvPr/>
        </p:nvGrpSpPr>
        <p:grpSpPr>
          <a:xfrm>
            <a:off x="10505441" y="3251183"/>
            <a:ext cx="367859" cy="723408"/>
            <a:chOff x="10505441" y="3251183"/>
            <a:chExt cx="367859" cy="723408"/>
          </a:xfrm>
        </p:grpSpPr>
        <p:pic>
          <p:nvPicPr>
            <p:cNvPr id="3" name="object 3"/>
            <p:cNvPicPr/>
            <p:nvPr/>
          </p:nvPicPr>
          <p:blipFill>
            <a:blip r:embed="rId2" cstate="print"/>
            <a:stretch>
              <a:fillRect/>
            </a:stretch>
          </p:blipFill>
          <p:spPr>
            <a:xfrm>
              <a:off x="10505441" y="3251183"/>
              <a:ext cx="367859" cy="723408"/>
            </a:xfrm>
            <a:prstGeom prst="rect">
              <a:avLst/>
            </a:prstGeom>
          </p:spPr>
        </p:pic>
        <p:sp>
          <p:nvSpPr>
            <p:cNvPr id="4" name="object 4"/>
            <p:cNvSpPr/>
            <p:nvPr/>
          </p:nvSpPr>
          <p:spPr>
            <a:xfrm>
              <a:off x="10579609" y="3286759"/>
              <a:ext cx="227753" cy="593512"/>
            </a:xfrm>
            <a:custGeom>
              <a:avLst/>
              <a:gdLst/>
              <a:ahLst/>
              <a:cxnLst/>
              <a:rect l="l" t="t" r="r" b="b"/>
              <a:pathLst>
                <a:path w="170815" h="445135">
                  <a:moveTo>
                    <a:pt x="170561" y="0"/>
                  </a:moveTo>
                  <a:lnTo>
                    <a:pt x="0" y="444627"/>
                  </a:lnTo>
                </a:path>
              </a:pathLst>
            </a:custGeom>
            <a:ln w="25908">
              <a:solidFill>
                <a:srgbClr val="00C3FF"/>
              </a:solidFill>
            </a:ln>
          </p:spPr>
          <p:txBody>
            <a:bodyPr wrap="square" lIns="0" tIns="0" rIns="0" bIns="0" rtlCol="0"/>
            <a:lstStyle/>
            <a:p>
              <a:endParaRPr sz="2400"/>
            </a:p>
          </p:txBody>
        </p:sp>
      </p:grpSp>
      <p:grpSp>
        <p:nvGrpSpPr>
          <p:cNvPr id="56" name="Group 55">
            <a:extLst>
              <a:ext uri="{FF2B5EF4-FFF2-40B4-BE49-F238E27FC236}">
                <a16:creationId xmlns:a16="http://schemas.microsoft.com/office/drawing/2014/main" id="{AEA93B88-F68D-58DB-B2C3-88FD0C8D9292}"/>
              </a:ext>
            </a:extLst>
          </p:cNvPr>
          <p:cNvGrpSpPr/>
          <p:nvPr/>
        </p:nvGrpSpPr>
        <p:grpSpPr>
          <a:xfrm>
            <a:off x="4427729" y="3220703"/>
            <a:ext cx="997695" cy="711216"/>
            <a:chOff x="4427729" y="3220703"/>
            <a:chExt cx="997695" cy="711216"/>
          </a:xfrm>
        </p:grpSpPr>
        <p:pic>
          <p:nvPicPr>
            <p:cNvPr id="6" name="object 6"/>
            <p:cNvPicPr/>
            <p:nvPr/>
          </p:nvPicPr>
          <p:blipFill>
            <a:blip r:embed="rId3" cstate="print"/>
            <a:stretch>
              <a:fillRect/>
            </a:stretch>
          </p:blipFill>
          <p:spPr>
            <a:xfrm>
              <a:off x="4427729" y="3220703"/>
              <a:ext cx="997695" cy="711216"/>
            </a:xfrm>
            <a:prstGeom prst="rect">
              <a:avLst/>
            </a:prstGeom>
          </p:spPr>
        </p:pic>
        <p:sp>
          <p:nvSpPr>
            <p:cNvPr id="7" name="object 7"/>
            <p:cNvSpPr/>
            <p:nvPr/>
          </p:nvSpPr>
          <p:spPr>
            <a:xfrm>
              <a:off x="4493769" y="3264408"/>
              <a:ext cx="864447" cy="574040"/>
            </a:xfrm>
            <a:custGeom>
              <a:avLst/>
              <a:gdLst/>
              <a:ahLst/>
              <a:cxnLst/>
              <a:rect l="l" t="t" r="r" b="b"/>
              <a:pathLst>
                <a:path w="648335" h="430530">
                  <a:moveTo>
                    <a:pt x="0" y="0"/>
                  </a:moveTo>
                  <a:lnTo>
                    <a:pt x="648335" y="430021"/>
                  </a:lnTo>
                </a:path>
              </a:pathLst>
            </a:custGeom>
            <a:ln w="25908">
              <a:solidFill>
                <a:srgbClr val="00C3FF"/>
              </a:solidFill>
            </a:ln>
          </p:spPr>
          <p:txBody>
            <a:bodyPr wrap="square" lIns="0" tIns="0" rIns="0" bIns="0" rtlCol="0"/>
            <a:lstStyle/>
            <a:p>
              <a:endParaRPr sz="2400"/>
            </a:p>
          </p:txBody>
        </p:sp>
      </p:grpSp>
      <p:grpSp>
        <p:nvGrpSpPr>
          <p:cNvPr id="55" name="Group 54">
            <a:extLst>
              <a:ext uri="{FF2B5EF4-FFF2-40B4-BE49-F238E27FC236}">
                <a16:creationId xmlns:a16="http://schemas.microsoft.com/office/drawing/2014/main" id="{E9EDB0DE-4A15-0D0B-3723-936DB648DAAE}"/>
              </a:ext>
            </a:extLst>
          </p:cNvPr>
          <p:cNvGrpSpPr/>
          <p:nvPr/>
        </p:nvGrpSpPr>
        <p:grpSpPr>
          <a:xfrm>
            <a:off x="2982977" y="3271503"/>
            <a:ext cx="997695" cy="711216"/>
            <a:chOff x="2982977" y="3271503"/>
            <a:chExt cx="997695" cy="711216"/>
          </a:xfrm>
        </p:grpSpPr>
        <p:pic>
          <p:nvPicPr>
            <p:cNvPr id="9" name="object 9"/>
            <p:cNvPicPr/>
            <p:nvPr/>
          </p:nvPicPr>
          <p:blipFill>
            <a:blip r:embed="rId3" cstate="print"/>
            <a:stretch>
              <a:fillRect/>
            </a:stretch>
          </p:blipFill>
          <p:spPr>
            <a:xfrm>
              <a:off x="2982977" y="3271503"/>
              <a:ext cx="997695" cy="711216"/>
            </a:xfrm>
            <a:prstGeom prst="rect">
              <a:avLst/>
            </a:prstGeom>
          </p:spPr>
        </p:pic>
        <p:sp>
          <p:nvSpPr>
            <p:cNvPr id="10" name="object 10"/>
            <p:cNvSpPr/>
            <p:nvPr/>
          </p:nvSpPr>
          <p:spPr>
            <a:xfrm>
              <a:off x="3049017" y="3315208"/>
              <a:ext cx="864447" cy="574040"/>
            </a:xfrm>
            <a:custGeom>
              <a:avLst/>
              <a:gdLst/>
              <a:ahLst/>
              <a:cxnLst/>
              <a:rect l="l" t="t" r="r" b="b"/>
              <a:pathLst>
                <a:path w="648335" h="430530">
                  <a:moveTo>
                    <a:pt x="0" y="0"/>
                  </a:moveTo>
                  <a:lnTo>
                    <a:pt x="648335" y="430021"/>
                  </a:lnTo>
                </a:path>
              </a:pathLst>
            </a:custGeom>
            <a:ln w="25908">
              <a:solidFill>
                <a:srgbClr val="00C3FF"/>
              </a:solidFill>
            </a:ln>
          </p:spPr>
          <p:txBody>
            <a:bodyPr wrap="square" lIns="0" tIns="0" rIns="0" bIns="0" rtlCol="0"/>
            <a:lstStyle/>
            <a:p>
              <a:endParaRPr sz="2400"/>
            </a:p>
          </p:txBody>
        </p:sp>
      </p:grpSp>
      <p:grpSp>
        <p:nvGrpSpPr>
          <p:cNvPr id="11" name="object 11"/>
          <p:cNvGrpSpPr/>
          <p:nvPr/>
        </p:nvGrpSpPr>
        <p:grpSpPr>
          <a:xfrm>
            <a:off x="1806448" y="1101310"/>
            <a:ext cx="4394200" cy="2828577"/>
            <a:chOff x="1354836" y="825982"/>
            <a:chExt cx="3295650" cy="2121433"/>
          </a:xfrm>
        </p:grpSpPr>
        <p:pic>
          <p:nvPicPr>
            <p:cNvPr id="12" name="object 12"/>
            <p:cNvPicPr/>
            <p:nvPr/>
          </p:nvPicPr>
          <p:blipFill>
            <a:blip r:embed="rId4" cstate="print"/>
            <a:stretch>
              <a:fillRect/>
            </a:stretch>
          </p:blipFill>
          <p:spPr>
            <a:xfrm>
              <a:off x="1354836" y="2478011"/>
              <a:ext cx="295681" cy="469404"/>
            </a:xfrm>
            <a:prstGeom prst="rect">
              <a:avLst/>
            </a:prstGeom>
          </p:spPr>
        </p:pic>
        <p:sp>
          <p:nvSpPr>
            <p:cNvPr id="13" name="object 13"/>
            <p:cNvSpPr/>
            <p:nvPr/>
          </p:nvSpPr>
          <p:spPr>
            <a:xfrm>
              <a:off x="1410462" y="2506218"/>
              <a:ext cx="191135" cy="370840"/>
            </a:xfrm>
            <a:custGeom>
              <a:avLst/>
              <a:gdLst/>
              <a:ahLst/>
              <a:cxnLst/>
              <a:rect l="l" t="t" r="r" b="b"/>
              <a:pathLst>
                <a:path w="191134" h="370839">
                  <a:moveTo>
                    <a:pt x="191134" y="0"/>
                  </a:moveTo>
                  <a:lnTo>
                    <a:pt x="0" y="370839"/>
                  </a:lnTo>
                </a:path>
              </a:pathLst>
            </a:custGeom>
            <a:ln w="25908">
              <a:solidFill>
                <a:srgbClr val="00C3FF"/>
              </a:solidFill>
            </a:ln>
          </p:spPr>
          <p:txBody>
            <a:bodyPr wrap="square" lIns="0" tIns="0" rIns="0" bIns="0" rtlCol="0"/>
            <a:lstStyle/>
            <a:p>
              <a:endParaRPr sz="2400"/>
            </a:p>
          </p:txBody>
        </p:sp>
        <p:pic>
          <p:nvPicPr>
            <p:cNvPr id="14" name="object 14"/>
            <p:cNvPicPr/>
            <p:nvPr/>
          </p:nvPicPr>
          <p:blipFill>
            <a:blip r:embed="rId5" cstate="print"/>
            <a:stretch>
              <a:fillRect/>
            </a:stretch>
          </p:blipFill>
          <p:spPr>
            <a:xfrm>
              <a:off x="1502664" y="825982"/>
              <a:ext cx="3147822" cy="1212367"/>
            </a:xfrm>
            <a:prstGeom prst="rect">
              <a:avLst/>
            </a:prstGeom>
          </p:spPr>
        </p:pic>
        <p:sp>
          <p:nvSpPr>
            <p:cNvPr id="16" name="object 16"/>
            <p:cNvSpPr/>
            <p:nvPr/>
          </p:nvSpPr>
          <p:spPr>
            <a:xfrm>
              <a:off x="1829562" y="980694"/>
              <a:ext cx="2514600" cy="581025"/>
            </a:xfrm>
            <a:custGeom>
              <a:avLst/>
              <a:gdLst/>
              <a:ahLst/>
              <a:cxnLst/>
              <a:rect l="l" t="t" r="r" b="b"/>
              <a:pathLst>
                <a:path w="2514600" h="581025">
                  <a:moveTo>
                    <a:pt x="0" y="290321"/>
                  </a:moveTo>
                  <a:lnTo>
                    <a:pt x="145161" y="0"/>
                  </a:lnTo>
                  <a:lnTo>
                    <a:pt x="2369439" y="0"/>
                  </a:lnTo>
                  <a:lnTo>
                    <a:pt x="2514600" y="290321"/>
                  </a:lnTo>
                  <a:lnTo>
                    <a:pt x="2369439" y="580643"/>
                  </a:lnTo>
                  <a:lnTo>
                    <a:pt x="145161" y="580643"/>
                  </a:lnTo>
                  <a:lnTo>
                    <a:pt x="0" y="290321"/>
                  </a:lnTo>
                  <a:close/>
                </a:path>
              </a:pathLst>
            </a:custGeom>
            <a:ln w="19812">
              <a:solidFill>
                <a:srgbClr val="00C3FF"/>
              </a:solidFill>
            </a:ln>
          </p:spPr>
          <p:txBody>
            <a:bodyPr wrap="square" lIns="0" tIns="0" rIns="0" bIns="0" rtlCol="0"/>
            <a:lstStyle/>
            <a:p>
              <a:endParaRPr sz="2400"/>
            </a:p>
          </p:txBody>
        </p:sp>
      </p:grpSp>
      <p:sp>
        <p:nvSpPr>
          <p:cNvPr id="17" name="object 17"/>
          <p:cNvSpPr txBox="1">
            <a:spLocks noGrp="1"/>
          </p:cNvSpPr>
          <p:nvPr>
            <p:ph type="title"/>
          </p:nvPr>
        </p:nvSpPr>
        <p:spPr>
          <a:xfrm>
            <a:off x="2351869" y="100620"/>
            <a:ext cx="8372856" cy="695062"/>
          </a:xfrm>
          <a:prstGeom prst="rect">
            <a:avLst/>
          </a:prstGeom>
        </p:spPr>
        <p:txBody>
          <a:bodyPr vert="horz" wrap="square" lIns="0" tIns="17780" rIns="0" bIns="0" rtlCol="0" anchor="ctr">
            <a:spAutoFit/>
          </a:bodyPr>
          <a:lstStyle/>
          <a:p>
            <a:pPr marL="969409">
              <a:lnSpc>
                <a:spcPct val="100000"/>
              </a:lnSpc>
              <a:spcBef>
                <a:spcPts val="140"/>
              </a:spcBef>
            </a:pPr>
            <a:r>
              <a:rPr dirty="0">
                <a:solidFill>
                  <a:schemeClr val="bg1"/>
                </a:solidFill>
                <a:latin typeface="+mn-lt"/>
              </a:rPr>
              <a:t>Case</a:t>
            </a:r>
            <a:r>
              <a:rPr spc="-67" dirty="0">
                <a:solidFill>
                  <a:schemeClr val="bg1"/>
                </a:solidFill>
                <a:latin typeface="+mn-lt"/>
              </a:rPr>
              <a:t> </a:t>
            </a:r>
            <a:r>
              <a:rPr dirty="0">
                <a:solidFill>
                  <a:schemeClr val="bg1"/>
                </a:solidFill>
                <a:latin typeface="+mn-lt"/>
              </a:rPr>
              <a:t>study:</a:t>
            </a:r>
            <a:r>
              <a:rPr spc="-40" dirty="0">
                <a:solidFill>
                  <a:schemeClr val="bg1"/>
                </a:solidFill>
                <a:latin typeface="+mn-lt"/>
              </a:rPr>
              <a:t> </a:t>
            </a:r>
            <a:r>
              <a:rPr spc="-13" dirty="0">
                <a:solidFill>
                  <a:schemeClr val="bg1"/>
                </a:solidFill>
                <a:latin typeface="+mn-lt"/>
              </a:rPr>
              <a:t>E-Commerce</a:t>
            </a:r>
          </a:p>
        </p:txBody>
      </p:sp>
      <p:sp>
        <p:nvSpPr>
          <p:cNvPr id="18" name="object 18"/>
          <p:cNvSpPr txBox="1"/>
          <p:nvPr/>
        </p:nvSpPr>
        <p:spPr>
          <a:xfrm>
            <a:off x="3659294" y="1452202"/>
            <a:ext cx="916093" cy="428387"/>
          </a:xfrm>
          <a:prstGeom prst="rect">
            <a:avLst/>
          </a:prstGeom>
        </p:spPr>
        <p:txBody>
          <a:bodyPr vert="horz" wrap="square" lIns="0" tIns="17780" rIns="0" bIns="0" rtlCol="0">
            <a:spAutoFit/>
          </a:bodyPr>
          <a:lstStyle/>
          <a:p>
            <a:pPr marL="16933">
              <a:spcBef>
                <a:spcPts val="140"/>
              </a:spcBef>
            </a:pPr>
            <a:r>
              <a:rPr sz="2667" b="1" spc="-13" dirty="0">
                <a:solidFill>
                  <a:srgbClr val="CCEAFF"/>
                </a:solidFill>
                <a:latin typeface="Calibri"/>
                <a:cs typeface="Calibri"/>
              </a:rPr>
              <a:t>Result</a:t>
            </a:r>
            <a:endParaRPr sz="2667">
              <a:latin typeface="Calibri"/>
              <a:cs typeface="Calibri"/>
            </a:endParaRPr>
          </a:p>
        </p:txBody>
      </p:sp>
      <p:grpSp>
        <p:nvGrpSpPr>
          <p:cNvPr id="54" name="Group 53">
            <a:extLst>
              <a:ext uri="{FF2B5EF4-FFF2-40B4-BE49-F238E27FC236}">
                <a16:creationId xmlns:a16="http://schemas.microsoft.com/office/drawing/2014/main" id="{6906CB3D-7D2F-D648-CF48-F8EF19E14B9D}"/>
              </a:ext>
            </a:extLst>
          </p:cNvPr>
          <p:cNvGrpSpPr/>
          <p:nvPr/>
        </p:nvGrpSpPr>
        <p:grpSpPr>
          <a:xfrm>
            <a:off x="581152" y="3631167"/>
            <a:ext cx="2569293" cy="1488795"/>
            <a:chOff x="581152" y="3631167"/>
            <a:chExt cx="2569293" cy="1488795"/>
          </a:xfrm>
        </p:grpSpPr>
        <p:pic>
          <p:nvPicPr>
            <p:cNvPr id="20" name="object 20"/>
            <p:cNvPicPr/>
            <p:nvPr/>
          </p:nvPicPr>
          <p:blipFill>
            <a:blip r:embed="rId6" cstate="print"/>
            <a:stretch>
              <a:fillRect/>
            </a:stretch>
          </p:blipFill>
          <p:spPr>
            <a:xfrm>
              <a:off x="581152" y="3631167"/>
              <a:ext cx="2569293" cy="1488795"/>
            </a:xfrm>
            <a:prstGeom prst="rect">
              <a:avLst/>
            </a:prstGeom>
          </p:spPr>
        </p:pic>
        <p:sp>
          <p:nvSpPr>
            <p:cNvPr id="22" name="object 22"/>
            <p:cNvSpPr/>
            <p:nvPr/>
          </p:nvSpPr>
          <p:spPr>
            <a:xfrm>
              <a:off x="1017016" y="3837431"/>
              <a:ext cx="1725506" cy="646853"/>
            </a:xfrm>
            <a:custGeom>
              <a:avLst/>
              <a:gdLst/>
              <a:ahLst/>
              <a:cxnLst/>
              <a:rect l="l" t="t" r="r" b="b"/>
              <a:pathLst>
                <a:path w="1294130" h="485139">
                  <a:moveTo>
                    <a:pt x="0" y="242315"/>
                  </a:moveTo>
                  <a:lnTo>
                    <a:pt x="121157" y="0"/>
                  </a:lnTo>
                  <a:lnTo>
                    <a:pt x="1172718" y="0"/>
                  </a:lnTo>
                  <a:lnTo>
                    <a:pt x="1293876" y="242315"/>
                  </a:lnTo>
                  <a:lnTo>
                    <a:pt x="1172718" y="484631"/>
                  </a:lnTo>
                  <a:lnTo>
                    <a:pt x="121157" y="484631"/>
                  </a:lnTo>
                  <a:lnTo>
                    <a:pt x="0" y="242315"/>
                  </a:lnTo>
                  <a:close/>
                </a:path>
              </a:pathLst>
            </a:custGeom>
            <a:ln w="19812">
              <a:solidFill>
                <a:srgbClr val="00C3FF"/>
              </a:solidFill>
            </a:ln>
          </p:spPr>
          <p:txBody>
            <a:bodyPr wrap="square" lIns="0" tIns="0" rIns="0" bIns="0" rtlCol="0"/>
            <a:lstStyle/>
            <a:p>
              <a:endParaRPr sz="2400"/>
            </a:p>
          </p:txBody>
        </p:sp>
      </p:grpSp>
      <p:sp>
        <p:nvSpPr>
          <p:cNvPr id="23" name="object 23"/>
          <p:cNvSpPr txBox="1"/>
          <p:nvPr/>
        </p:nvSpPr>
        <p:spPr>
          <a:xfrm>
            <a:off x="1336378" y="3973913"/>
            <a:ext cx="1083733" cy="386430"/>
          </a:xfrm>
          <a:prstGeom prst="rect">
            <a:avLst/>
          </a:prstGeom>
        </p:spPr>
        <p:txBody>
          <a:bodyPr vert="horz" wrap="square" lIns="0" tIns="16933" rIns="0" bIns="0" rtlCol="0">
            <a:spAutoFit/>
          </a:bodyPr>
          <a:lstStyle/>
          <a:p>
            <a:pPr marL="16933">
              <a:spcBef>
                <a:spcPts val="133"/>
              </a:spcBef>
            </a:pPr>
            <a:r>
              <a:rPr sz="2400" b="1" spc="-13" dirty="0">
                <a:solidFill>
                  <a:srgbClr val="FFFFFF"/>
                </a:solidFill>
                <a:latin typeface="Calibri"/>
                <a:cs typeface="Calibri"/>
              </a:rPr>
              <a:t>Website</a:t>
            </a:r>
            <a:endParaRPr sz="2400">
              <a:latin typeface="Calibri"/>
              <a:cs typeface="Calibri"/>
            </a:endParaRPr>
          </a:p>
        </p:txBody>
      </p:sp>
      <p:grpSp>
        <p:nvGrpSpPr>
          <p:cNvPr id="53" name="Group 52">
            <a:extLst>
              <a:ext uri="{FF2B5EF4-FFF2-40B4-BE49-F238E27FC236}">
                <a16:creationId xmlns:a16="http://schemas.microsoft.com/office/drawing/2014/main" id="{45583763-CD4C-4CAB-51D0-8E981E5B8A73}"/>
              </a:ext>
            </a:extLst>
          </p:cNvPr>
          <p:cNvGrpSpPr/>
          <p:nvPr/>
        </p:nvGrpSpPr>
        <p:grpSpPr>
          <a:xfrm>
            <a:off x="2613153" y="3629168"/>
            <a:ext cx="2569293" cy="1490793"/>
            <a:chOff x="2613153" y="3629168"/>
            <a:chExt cx="2569293" cy="1490793"/>
          </a:xfrm>
        </p:grpSpPr>
        <p:pic>
          <p:nvPicPr>
            <p:cNvPr id="25" name="object 25"/>
            <p:cNvPicPr/>
            <p:nvPr/>
          </p:nvPicPr>
          <p:blipFill>
            <a:blip r:embed="rId7" cstate="print"/>
            <a:stretch>
              <a:fillRect/>
            </a:stretch>
          </p:blipFill>
          <p:spPr>
            <a:xfrm>
              <a:off x="2613153" y="3629168"/>
              <a:ext cx="2569293" cy="1490793"/>
            </a:xfrm>
            <a:prstGeom prst="rect">
              <a:avLst/>
            </a:prstGeom>
          </p:spPr>
        </p:pic>
        <p:sp>
          <p:nvSpPr>
            <p:cNvPr id="27" name="object 27"/>
            <p:cNvSpPr/>
            <p:nvPr/>
          </p:nvSpPr>
          <p:spPr>
            <a:xfrm>
              <a:off x="3049017" y="3835399"/>
              <a:ext cx="1725506" cy="648545"/>
            </a:xfrm>
            <a:custGeom>
              <a:avLst/>
              <a:gdLst/>
              <a:ahLst/>
              <a:cxnLst/>
              <a:rect l="l" t="t" r="r" b="b"/>
              <a:pathLst>
                <a:path w="1294129" h="486410">
                  <a:moveTo>
                    <a:pt x="0" y="243077"/>
                  </a:moveTo>
                  <a:lnTo>
                    <a:pt x="121538" y="0"/>
                  </a:lnTo>
                  <a:lnTo>
                    <a:pt x="1172337" y="0"/>
                  </a:lnTo>
                  <a:lnTo>
                    <a:pt x="1293876" y="243077"/>
                  </a:lnTo>
                  <a:lnTo>
                    <a:pt x="1172337" y="486156"/>
                  </a:lnTo>
                  <a:lnTo>
                    <a:pt x="121538" y="486156"/>
                  </a:lnTo>
                  <a:lnTo>
                    <a:pt x="0" y="243077"/>
                  </a:lnTo>
                  <a:close/>
                </a:path>
              </a:pathLst>
            </a:custGeom>
            <a:ln w="19812">
              <a:solidFill>
                <a:srgbClr val="00C3FF"/>
              </a:solidFill>
            </a:ln>
          </p:spPr>
          <p:txBody>
            <a:bodyPr wrap="square" lIns="0" tIns="0" rIns="0" bIns="0" rtlCol="0"/>
            <a:lstStyle/>
            <a:p>
              <a:endParaRPr sz="2400"/>
            </a:p>
          </p:txBody>
        </p:sp>
      </p:grpSp>
      <p:sp>
        <p:nvSpPr>
          <p:cNvPr id="28" name="object 28"/>
          <p:cNvSpPr txBox="1"/>
          <p:nvPr/>
        </p:nvSpPr>
        <p:spPr>
          <a:xfrm>
            <a:off x="3281002" y="3973913"/>
            <a:ext cx="1264073" cy="386430"/>
          </a:xfrm>
          <a:prstGeom prst="rect">
            <a:avLst/>
          </a:prstGeom>
        </p:spPr>
        <p:txBody>
          <a:bodyPr vert="horz" wrap="square" lIns="0" tIns="16933" rIns="0" bIns="0" rtlCol="0">
            <a:spAutoFit/>
          </a:bodyPr>
          <a:lstStyle/>
          <a:p>
            <a:pPr marL="16933">
              <a:spcBef>
                <a:spcPts val="133"/>
              </a:spcBef>
            </a:pPr>
            <a:r>
              <a:rPr sz="2400" b="1" spc="-13" dirty="0">
                <a:solidFill>
                  <a:srgbClr val="FFFFFF"/>
                </a:solidFill>
                <a:latin typeface="Calibri"/>
                <a:cs typeface="Calibri"/>
              </a:rPr>
              <a:t>Customer</a:t>
            </a:r>
            <a:endParaRPr sz="2400" dirty="0">
              <a:latin typeface="Calibri"/>
              <a:cs typeface="Calibri"/>
            </a:endParaRPr>
          </a:p>
        </p:txBody>
      </p:sp>
      <p:grpSp>
        <p:nvGrpSpPr>
          <p:cNvPr id="52" name="Group 51">
            <a:extLst>
              <a:ext uri="{FF2B5EF4-FFF2-40B4-BE49-F238E27FC236}">
                <a16:creationId xmlns:a16="http://schemas.microsoft.com/office/drawing/2014/main" id="{888CA814-12DD-6895-1BCB-44B2AF6F0391}"/>
              </a:ext>
            </a:extLst>
          </p:cNvPr>
          <p:cNvGrpSpPr/>
          <p:nvPr/>
        </p:nvGrpSpPr>
        <p:grpSpPr>
          <a:xfrm>
            <a:off x="4663439" y="3616976"/>
            <a:ext cx="2569294" cy="1490793"/>
            <a:chOff x="4663439" y="3616976"/>
            <a:chExt cx="2569294" cy="1490793"/>
          </a:xfrm>
        </p:grpSpPr>
        <p:pic>
          <p:nvPicPr>
            <p:cNvPr id="30" name="object 30"/>
            <p:cNvPicPr/>
            <p:nvPr/>
          </p:nvPicPr>
          <p:blipFill>
            <a:blip r:embed="rId7" cstate="print"/>
            <a:stretch>
              <a:fillRect/>
            </a:stretch>
          </p:blipFill>
          <p:spPr>
            <a:xfrm>
              <a:off x="4663439" y="3616976"/>
              <a:ext cx="2569294" cy="1490793"/>
            </a:xfrm>
            <a:prstGeom prst="rect">
              <a:avLst/>
            </a:prstGeom>
          </p:spPr>
        </p:pic>
        <p:sp>
          <p:nvSpPr>
            <p:cNvPr id="32" name="object 32"/>
            <p:cNvSpPr/>
            <p:nvPr/>
          </p:nvSpPr>
          <p:spPr>
            <a:xfrm>
              <a:off x="5099303" y="3823207"/>
              <a:ext cx="1725506" cy="648545"/>
            </a:xfrm>
            <a:custGeom>
              <a:avLst/>
              <a:gdLst/>
              <a:ahLst/>
              <a:cxnLst/>
              <a:rect l="l" t="t" r="r" b="b"/>
              <a:pathLst>
                <a:path w="1294129" h="486410">
                  <a:moveTo>
                    <a:pt x="0" y="243077"/>
                  </a:moveTo>
                  <a:lnTo>
                    <a:pt x="121538" y="0"/>
                  </a:lnTo>
                  <a:lnTo>
                    <a:pt x="1172337" y="0"/>
                  </a:lnTo>
                  <a:lnTo>
                    <a:pt x="1293876" y="243077"/>
                  </a:lnTo>
                  <a:lnTo>
                    <a:pt x="1172337" y="486156"/>
                  </a:lnTo>
                  <a:lnTo>
                    <a:pt x="121538" y="486156"/>
                  </a:lnTo>
                  <a:lnTo>
                    <a:pt x="0" y="243077"/>
                  </a:lnTo>
                  <a:close/>
                </a:path>
              </a:pathLst>
            </a:custGeom>
            <a:ln w="19812">
              <a:solidFill>
                <a:srgbClr val="00C3FF"/>
              </a:solidFill>
            </a:ln>
          </p:spPr>
          <p:txBody>
            <a:bodyPr wrap="square" lIns="0" tIns="0" rIns="0" bIns="0" rtlCol="0"/>
            <a:lstStyle/>
            <a:p>
              <a:endParaRPr sz="2400"/>
            </a:p>
          </p:txBody>
        </p:sp>
      </p:grpSp>
      <p:sp>
        <p:nvSpPr>
          <p:cNvPr id="33" name="object 33"/>
          <p:cNvSpPr txBox="1"/>
          <p:nvPr/>
        </p:nvSpPr>
        <p:spPr>
          <a:xfrm>
            <a:off x="5387002" y="3961384"/>
            <a:ext cx="1153159" cy="386430"/>
          </a:xfrm>
          <a:prstGeom prst="rect">
            <a:avLst/>
          </a:prstGeom>
        </p:spPr>
        <p:txBody>
          <a:bodyPr vert="horz" wrap="square" lIns="0" tIns="16933" rIns="0" bIns="0" rtlCol="0">
            <a:spAutoFit/>
          </a:bodyPr>
          <a:lstStyle/>
          <a:p>
            <a:pPr marL="16933">
              <a:spcBef>
                <a:spcPts val="133"/>
              </a:spcBef>
            </a:pPr>
            <a:r>
              <a:rPr sz="2400" b="1" spc="-13" dirty="0">
                <a:solidFill>
                  <a:srgbClr val="FFFFFF"/>
                </a:solidFill>
                <a:latin typeface="Calibri"/>
                <a:cs typeface="Calibri"/>
              </a:rPr>
              <a:t>Products</a:t>
            </a:r>
            <a:endParaRPr sz="2400" dirty="0">
              <a:latin typeface="Calibri"/>
              <a:cs typeface="Calibri"/>
            </a:endParaRPr>
          </a:p>
        </p:txBody>
      </p:sp>
      <p:grpSp>
        <p:nvGrpSpPr>
          <p:cNvPr id="51" name="Group 50">
            <a:extLst>
              <a:ext uri="{FF2B5EF4-FFF2-40B4-BE49-F238E27FC236}">
                <a16:creationId xmlns:a16="http://schemas.microsoft.com/office/drawing/2014/main" id="{48B07C2C-B07B-EA32-ECD3-E0A8F59DFF3A}"/>
              </a:ext>
            </a:extLst>
          </p:cNvPr>
          <p:cNvGrpSpPr/>
          <p:nvPr/>
        </p:nvGrpSpPr>
        <p:grpSpPr>
          <a:xfrm>
            <a:off x="938786" y="2511553"/>
            <a:ext cx="10910654" cy="3163689"/>
            <a:chOff x="1117602" y="2511554"/>
            <a:chExt cx="10731837" cy="2596218"/>
          </a:xfrm>
        </p:grpSpPr>
        <p:pic>
          <p:nvPicPr>
            <p:cNvPr id="35" name="object 35"/>
            <p:cNvPicPr/>
            <p:nvPr/>
          </p:nvPicPr>
          <p:blipFill>
            <a:blip r:embed="rId8" cstate="print"/>
            <a:stretch>
              <a:fillRect/>
            </a:stretch>
          </p:blipFill>
          <p:spPr>
            <a:xfrm>
              <a:off x="1117602" y="2511554"/>
              <a:ext cx="10324590" cy="829056"/>
            </a:xfrm>
            <a:prstGeom prst="rect">
              <a:avLst/>
            </a:prstGeom>
          </p:spPr>
        </p:pic>
        <p:pic>
          <p:nvPicPr>
            <p:cNvPr id="36" name="object 36"/>
            <p:cNvPicPr/>
            <p:nvPr/>
          </p:nvPicPr>
          <p:blipFill>
            <a:blip r:embed="rId7" cstate="print"/>
            <a:stretch>
              <a:fillRect/>
            </a:stretch>
          </p:blipFill>
          <p:spPr>
            <a:xfrm>
              <a:off x="9280144" y="3616978"/>
              <a:ext cx="2569295" cy="1490794"/>
            </a:xfrm>
            <a:prstGeom prst="rect">
              <a:avLst/>
            </a:prstGeom>
          </p:spPr>
        </p:pic>
        <p:sp>
          <p:nvSpPr>
            <p:cNvPr id="38" name="object 38"/>
            <p:cNvSpPr/>
            <p:nvPr/>
          </p:nvSpPr>
          <p:spPr>
            <a:xfrm>
              <a:off x="9716009" y="3823207"/>
              <a:ext cx="1725507" cy="648545"/>
            </a:xfrm>
            <a:custGeom>
              <a:avLst/>
              <a:gdLst/>
              <a:ahLst/>
              <a:cxnLst/>
              <a:rect l="l" t="t" r="r" b="b"/>
              <a:pathLst>
                <a:path w="1294129" h="486410">
                  <a:moveTo>
                    <a:pt x="0" y="243077"/>
                  </a:moveTo>
                  <a:lnTo>
                    <a:pt x="121539" y="0"/>
                  </a:lnTo>
                  <a:lnTo>
                    <a:pt x="1172337" y="0"/>
                  </a:lnTo>
                  <a:lnTo>
                    <a:pt x="1293876" y="243077"/>
                  </a:lnTo>
                  <a:lnTo>
                    <a:pt x="1172337" y="486156"/>
                  </a:lnTo>
                  <a:lnTo>
                    <a:pt x="121539" y="486156"/>
                  </a:lnTo>
                  <a:lnTo>
                    <a:pt x="0" y="243077"/>
                  </a:lnTo>
                  <a:close/>
                </a:path>
              </a:pathLst>
            </a:custGeom>
            <a:ln w="19812">
              <a:solidFill>
                <a:srgbClr val="00C3FF"/>
              </a:solidFill>
            </a:ln>
          </p:spPr>
          <p:txBody>
            <a:bodyPr wrap="square" lIns="0" tIns="0" rIns="0" bIns="0" rtlCol="0"/>
            <a:lstStyle/>
            <a:p>
              <a:endParaRPr sz="2400"/>
            </a:p>
          </p:txBody>
        </p:sp>
      </p:grpSp>
      <p:sp>
        <p:nvSpPr>
          <p:cNvPr id="39" name="object 39"/>
          <p:cNvSpPr txBox="1"/>
          <p:nvPr/>
        </p:nvSpPr>
        <p:spPr>
          <a:xfrm>
            <a:off x="9904475" y="3961384"/>
            <a:ext cx="1348740" cy="386430"/>
          </a:xfrm>
          <a:prstGeom prst="rect">
            <a:avLst/>
          </a:prstGeom>
        </p:spPr>
        <p:txBody>
          <a:bodyPr vert="horz" wrap="square" lIns="0" tIns="16933" rIns="0" bIns="0" rtlCol="0">
            <a:spAutoFit/>
          </a:bodyPr>
          <a:lstStyle/>
          <a:p>
            <a:pPr marL="16933">
              <a:spcBef>
                <a:spcPts val="133"/>
              </a:spcBef>
            </a:pPr>
            <a:r>
              <a:rPr sz="2400" b="1" spc="-13" dirty="0">
                <a:solidFill>
                  <a:srgbClr val="FFFFFF"/>
                </a:solidFill>
                <a:latin typeface="Calibri"/>
                <a:cs typeface="Calibri"/>
              </a:rPr>
              <a:t>Date/time</a:t>
            </a:r>
            <a:endParaRPr sz="2400" dirty="0">
              <a:latin typeface="Calibri"/>
              <a:cs typeface="Calibri"/>
            </a:endParaRPr>
          </a:p>
        </p:txBody>
      </p:sp>
      <p:sp>
        <p:nvSpPr>
          <p:cNvPr id="40" name="object 40"/>
          <p:cNvSpPr txBox="1"/>
          <p:nvPr/>
        </p:nvSpPr>
        <p:spPr>
          <a:xfrm>
            <a:off x="10028090" y="2145893"/>
            <a:ext cx="443653" cy="305276"/>
          </a:xfrm>
          <a:prstGeom prst="rect">
            <a:avLst/>
          </a:prstGeom>
        </p:spPr>
        <p:txBody>
          <a:bodyPr vert="horz" wrap="square" lIns="0" tIns="17780" rIns="0" bIns="0" rtlCol="0">
            <a:spAutoFit/>
          </a:bodyPr>
          <a:lstStyle/>
          <a:p>
            <a:pPr marL="16933">
              <a:spcBef>
                <a:spcPts val="140"/>
              </a:spcBef>
            </a:pPr>
            <a:r>
              <a:rPr sz="1867" b="1" spc="-27" dirty="0">
                <a:solidFill>
                  <a:srgbClr val="FFFFFF"/>
                </a:solidFill>
                <a:latin typeface="Calibri"/>
                <a:cs typeface="Calibri"/>
              </a:rPr>
              <a:t>Fact</a:t>
            </a:r>
            <a:endParaRPr sz="1867">
              <a:latin typeface="Calibri"/>
              <a:cs typeface="Calibri"/>
            </a:endParaRPr>
          </a:p>
        </p:txBody>
      </p:sp>
      <p:sp>
        <p:nvSpPr>
          <p:cNvPr id="41" name="object 41"/>
          <p:cNvSpPr txBox="1"/>
          <p:nvPr/>
        </p:nvSpPr>
        <p:spPr>
          <a:xfrm>
            <a:off x="8234171" y="2145893"/>
            <a:ext cx="444500" cy="305276"/>
          </a:xfrm>
          <a:prstGeom prst="rect">
            <a:avLst/>
          </a:prstGeom>
        </p:spPr>
        <p:txBody>
          <a:bodyPr vert="horz" wrap="square" lIns="0" tIns="17780" rIns="0" bIns="0" rtlCol="0">
            <a:spAutoFit/>
          </a:bodyPr>
          <a:lstStyle/>
          <a:p>
            <a:pPr marL="16933">
              <a:spcBef>
                <a:spcPts val="140"/>
              </a:spcBef>
            </a:pPr>
            <a:r>
              <a:rPr sz="1867" b="1" spc="-27" dirty="0">
                <a:solidFill>
                  <a:srgbClr val="FFFFFF"/>
                </a:solidFill>
                <a:latin typeface="Calibri"/>
                <a:cs typeface="Calibri"/>
              </a:rPr>
              <a:t>Fact</a:t>
            </a:r>
            <a:endParaRPr sz="1867">
              <a:latin typeface="Calibri"/>
              <a:cs typeface="Calibri"/>
            </a:endParaRPr>
          </a:p>
        </p:txBody>
      </p:sp>
      <p:sp>
        <p:nvSpPr>
          <p:cNvPr id="42" name="object 42"/>
          <p:cNvSpPr txBox="1"/>
          <p:nvPr/>
        </p:nvSpPr>
        <p:spPr>
          <a:xfrm>
            <a:off x="7577836" y="2145893"/>
            <a:ext cx="443653" cy="305276"/>
          </a:xfrm>
          <a:prstGeom prst="rect">
            <a:avLst/>
          </a:prstGeom>
        </p:spPr>
        <p:txBody>
          <a:bodyPr vert="horz" wrap="square" lIns="0" tIns="17780" rIns="0" bIns="0" rtlCol="0">
            <a:spAutoFit/>
          </a:bodyPr>
          <a:lstStyle/>
          <a:p>
            <a:pPr marL="16933">
              <a:spcBef>
                <a:spcPts val="140"/>
              </a:spcBef>
            </a:pPr>
            <a:r>
              <a:rPr sz="1867" b="1" spc="-27" dirty="0">
                <a:solidFill>
                  <a:srgbClr val="FFFFFF"/>
                </a:solidFill>
                <a:latin typeface="Calibri"/>
                <a:cs typeface="Calibri"/>
              </a:rPr>
              <a:t>Fact</a:t>
            </a:r>
            <a:endParaRPr sz="1867">
              <a:latin typeface="Calibri"/>
              <a:cs typeface="Calibri"/>
            </a:endParaRPr>
          </a:p>
        </p:txBody>
      </p:sp>
      <p:sp>
        <p:nvSpPr>
          <p:cNvPr id="43" name="object 43"/>
          <p:cNvSpPr txBox="1"/>
          <p:nvPr/>
        </p:nvSpPr>
        <p:spPr>
          <a:xfrm>
            <a:off x="4874090" y="2122356"/>
            <a:ext cx="443653" cy="305276"/>
          </a:xfrm>
          <a:prstGeom prst="rect">
            <a:avLst/>
          </a:prstGeom>
        </p:spPr>
        <p:txBody>
          <a:bodyPr vert="horz" wrap="square" lIns="0" tIns="17780" rIns="0" bIns="0" rtlCol="0">
            <a:spAutoFit/>
          </a:bodyPr>
          <a:lstStyle/>
          <a:p>
            <a:pPr marL="16933">
              <a:spcBef>
                <a:spcPts val="140"/>
              </a:spcBef>
            </a:pPr>
            <a:r>
              <a:rPr sz="1867" b="1" spc="-27" dirty="0">
                <a:solidFill>
                  <a:srgbClr val="FFFFFF"/>
                </a:solidFill>
                <a:latin typeface="Calibri"/>
                <a:cs typeface="Calibri"/>
              </a:rPr>
              <a:t>Fact</a:t>
            </a:r>
            <a:endParaRPr sz="1867" dirty="0">
              <a:latin typeface="Calibri"/>
              <a:cs typeface="Calibri"/>
            </a:endParaRPr>
          </a:p>
        </p:txBody>
      </p:sp>
      <p:sp>
        <p:nvSpPr>
          <p:cNvPr id="44" name="object 44"/>
          <p:cNvSpPr txBox="1"/>
          <p:nvPr/>
        </p:nvSpPr>
        <p:spPr>
          <a:xfrm>
            <a:off x="6316471" y="2145893"/>
            <a:ext cx="443653" cy="305276"/>
          </a:xfrm>
          <a:prstGeom prst="rect">
            <a:avLst/>
          </a:prstGeom>
        </p:spPr>
        <p:txBody>
          <a:bodyPr vert="horz" wrap="square" lIns="0" tIns="17780" rIns="0" bIns="0" rtlCol="0">
            <a:spAutoFit/>
          </a:bodyPr>
          <a:lstStyle/>
          <a:p>
            <a:pPr marL="16933">
              <a:spcBef>
                <a:spcPts val="140"/>
              </a:spcBef>
            </a:pPr>
            <a:r>
              <a:rPr sz="1867" b="1" spc="-27" dirty="0">
                <a:solidFill>
                  <a:srgbClr val="FFFFFF"/>
                </a:solidFill>
                <a:latin typeface="Calibri"/>
                <a:cs typeface="Calibri"/>
              </a:rPr>
              <a:t>Fact</a:t>
            </a:r>
            <a:endParaRPr sz="1867">
              <a:latin typeface="Calibri"/>
              <a:cs typeface="Calibri"/>
            </a:endParaRPr>
          </a:p>
        </p:txBody>
      </p:sp>
      <p:sp>
        <p:nvSpPr>
          <p:cNvPr id="45" name="object 45"/>
          <p:cNvSpPr txBox="1"/>
          <p:nvPr/>
        </p:nvSpPr>
        <p:spPr>
          <a:xfrm>
            <a:off x="9129944" y="2130891"/>
            <a:ext cx="443653" cy="305276"/>
          </a:xfrm>
          <a:prstGeom prst="rect">
            <a:avLst/>
          </a:prstGeom>
        </p:spPr>
        <p:txBody>
          <a:bodyPr vert="horz" wrap="square" lIns="0" tIns="17780" rIns="0" bIns="0" rtlCol="0">
            <a:spAutoFit/>
          </a:bodyPr>
          <a:lstStyle/>
          <a:p>
            <a:pPr marL="16933">
              <a:spcBef>
                <a:spcPts val="140"/>
              </a:spcBef>
            </a:pPr>
            <a:r>
              <a:rPr sz="1867" b="1" spc="-27" dirty="0">
                <a:solidFill>
                  <a:srgbClr val="FFFFFF"/>
                </a:solidFill>
                <a:latin typeface="Calibri"/>
                <a:cs typeface="Calibri"/>
              </a:rPr>
              <a:t>Fact</a:t>
            </a:r>
            <a:endParaRPr sz="1867">
              <a:latin typeface="Calibri"/>
              <a:cs typeface="Calibri"/>
            </a:endParaRPr>
          </a:p>
        </p:txBody>
      </p:sp>
      <p:sp>
        <p:nvSpPr>
          <p:cNvPr id="46" name="object 46"/>
          <p:cNvSpPr/>
          <p:nvPr/>
        </p:nvSpPr>
        <p:spPr>
          <a:xfrm>
            <a:off x="4583927" y="2500376"/>
            <a:ext cx="1366521" cy="992160"/>
          </a:xfrm>
          <a:custGeom>
            <a:avLst/>
            <a:gdLst/>
            <a:ahLst/>
            <a:cxnLst/>
            <a:rect l="l" t="t" r="r" b="b"/>
            <a:pathLst>
              <a:path w="944879" h="631189">
                <a:moveTo>
                  <a:pt x="0" y="626363"/>
                </a:moveTo>
                <a:lnTo>
                  <a:pt x="441960" y="626363"/>
                </a:lnTo>
                <a:lnTo>
                  <a:pt x="441960" y="4571"/>
                </a:lnTo>
                <a:lnTo>
                  <a:pt x="0" y="4571"/>
                </a:lnTo>
                <a:lnTo>
                  <a:pt x="0" y="626363"/>
                </a:lnTo>
                <a:close/>
              </a:path>
              <a:path w="944879" h="631189">
                <a:moveTo>
                  <a:pt x="454151" y="630935"/>
                </a:moveTo>
                <a:lnTo>
                  <a:pt x="944879" y="630935"/>
                </a:lnTo>
                <a:lnTo>
                  <a:pt x="944879" y="0"/>
                </a:lnTo>
                <a:lnTo>
                  <a:pt x="454151" y="0"/>
                </a:lnTo>
                <a:lnTo>
                  <a:pt x="454151" y="630935"/>
                </a:lnTo>
                <a:close/>
              </a:path>
            </a:pathLst>
          </a:custGeom>
          <a:ln w="25908">
            <a:solidFill>
              <a:srgbClr val="008FBB"/>
            </a:solidFill>
          </a:ln>
        </p:spPr>
        <p:txBody>
          <a:bodyPr wrap="square" lIns="0" tIns="0" rIns="0" bIns="0" rtlCol="0"/>
          <a:lstStyle/>
          <a:p>
            <a:endParaRPr sz="2400"/>
          </a:p>
        </p:txBody>
      </p:sp>
      <p:sp>
        <p:nvSpPr>
          <p:cNvPr id="47" name="object 47"/>
          <p:cNvSpPr txBox="1"/>
          <p:nvPr/>
        </p:nvSpPr>
        <p:spPr>
          <a:xfrm>
            <a:off x="5485722" y="2125133"/>
            <a:ext cx="443653" cy="305276"/>
          </a:xfrm>
          <a:prstGeom prst="rect">
            <a:avLst/>
          </a:prstGeom>
        </p:spPr>
        <p:txBody>
          <a:bodyPr vert="horz" wrap="square" lIns="0" tIns="17780" rIns="0" bIns="0" rtlCol="0">
            <a:spAutoFit/>
          </a:bodyPr>
          <a:lstStyle/>
          <a:p>
            <a:pPr marL="16933">
              <a:spcBef>
                <a:spcPts val="140"/>
              </a:spcBef>
            </a:pPr>
            <a:r>
              <a:rPr sz="1867" b="1" spc="-27" dirty="0">
                <a:solidFill>
                  <a:srgbClr val="FFFFFF"/>
                </a:solidFill>
                <a:latin typeface="Calibri"/>
                <a:cs typeface="Calibri"/>
              </a:rPr>
              <a:t>Fact</a:t>
            </a:r>
            <a:endParaRPr sz="1867" dirty="0">
              <a:latin typeface="Calibri"/>
              <a:cs typeface="Calibri"/>
            </a:endParaRPr>
          </a:p>
        </p:txBody>
      </p:sp>
      <p:sp>
        <p:nvSpPr>
          <p:cNvPr id="48" name="object 48"/>
          <p:cNvSpPr/>
          <p:nvPr/>
        </p:nvSpPr>
        <p:spPr>
          <a:xfrm>
            <a:off x="5959183" y="2506472"/>
            <a:ext cx="865626" cy="986064"/>
          </a:xfrm>
          <a:custGeom>
            <a:avLst/>
            <a:gdLst/>
            <a:ahLst/>
            <a:cxnLst/>
            <a:rect l="l" t="t" r="r" b="b"/>
            <a:pathLst>
              <a:path w="669289" h="631189">
                <a:moveTo>
                  <a:pt x="0" y="630936"/>
                </a:moveTo>
                <a:lnTo>
                  <a:pt x="669036" y="630936"/>
                </a:lnTo>
                <a:lnTo>
                  <a:pt x="669036" y="0"/>
                </a:lnTo>
                <a:lnTo>
                  <a:pt x="0" y="0"/>
                </a:lnTo>
                <a:lnTo>
                  <a:pt x="0" y="630936"/>
                </a:lnTo>
                <a:close/>
              </a:path>
            </a:pathLst>
          </a:custGeom>
          <a:ln w="25908">
            <a:solidFill>
              <a:srgbClr val="008FBB"/>
            </a:solidFill>
          </a:ln>
        </p:spPr>
        <p:txBody>
          <a:bodyPr wrap="square" lIns="0" tIns="0" rIns="0" bIns="0" rtlCol="0"/>
          <a:lstStyle/>
          <a:p>
            <a:endParaRPr sz="2400"/>
          </a:p>
        </p:txBody>
      </p:sp>
      <p:graphicFrame>
        <p:nvGraphicFramePr>
          <p:cNvPr id="49" name="object 49"/>
          <p:cNvGraphicFramePr>
            <a:graphicFrameLocks noGrp="1"/>
          </p:cNvGraphicFramePr>
          <p:nvPr>
            <p:extLst>
              <p:ext uri="{D42A27DB-BD31-4B8C-83A1-F6EECF244321}">
                <p14:modId xmlns:p14="http://schemas.microsoft.com/office/powerpoint/2010/main" val="497624982"/>
              </p:ext>
            </p:extLst>
          </p:nvPr>
        </p:nvGraphicFramePr>
        <p:xfrm>
          <a:off x="7459215" y="2493265"/>
          <a:ext cx="2959702" cy="986064"/>
        </p:xfrm>
        <a:graphic>
          <a:graphicData uri="http://schemas.openxmlformats.org/drawingml/2006/table">
            <a:tbl>
              <a:tblPr firstRow="1" bandRow="1">
                <a:tableStyleId>{2D5ABB26-0587-4C30-8999-92F81FD0307C}</a:tableStyleId>
              </a:tblPr>
              <a:tblGrid>
                <a:gridCol w="646497">
                  <a:extLst>
                    <a:ext uri="{9D8B030D-6E8A-4147-A177-3AD203B41FA5}">
                      <a16:colId xmlns:a16="http://schemas.microsoft.com/office/drawing/2014/main" val="20000"/>
                    </a:ext>
                  </a:extLst>
                </a:gridCol>
                <a:gridCol w="748267">
                  <a:extLst>
                    <a:ext uri="{9D8B030D-6E8A-4147-A177-3AD203B41FA5}">
                      <a16:colId xmlns:a16="http://schemas.microsoft.com/office/drawing/2014/main" val="20001"/>
                    </a:ext>
                  </a:extLst>
                </a:gridCol>
                <a:gridCol w="1122818">
                  <a:extLst>
                    <a:ext uri="{9D8B030D-6E8A-4147-A177-3AD203B41FA5}">
                      <a16:colId xmlns:a16="http://schemas.microsoft.com/office/drawing/2014/main" val="20002"/>
                    </a:ext>
                  </a:extLst>
                </a:gridCol>
                <a:gridCol w="442120">
                  <a:extLst>
                    <a:ext uri="{9D8B030D-6E8A-4147-A177-3AD203B41FA5}">
                      <a16:colId xmlns:a16="http://schemas.microsoft.com/office/drawing/2014/main" val="20003"/>
                    </a:ext>
                  </a:extLst>
                </a:gridCol>
              </a:tblGrid>
              <a:tr h="986064">
                <a:tc>
                  <a:txBody>
                    <a:bodyPr/>
                    <a:lstStyle/>
                    <a:p>
                      <a:pPr>
                        <a:lnSpc>
                          <a:spcPct val="100000"/>
                        </a:lnSpc>
                      </a:pPr>
                      <a:endParaRPr sz="2700">
                        <a:latin typeface="Times New Roman"/>
                        <a:cs typeface="Times New Roman"/>
                      </a:endParaRPr>
                    </a:p>
                  </a:txBody>
                  <a:tcPr marL="0" marR="0" marT="0" marB="0">
                    <a:lnL w="28575">
                      <a:solidFill>
                        <a:srgbClr val="008FBB"/>
                      </a:solidFill>
                      <a:prstDash val="solid"/>
                    </a:lnL>
                    <a:lnR w="28575">
                      <a:solidFill>
                        <a:srgbClr val="008FBB"/>
                      </a:solidFill>
                      <a:prstDash val="solid"/>
                    </a:lnR>
                    <a:lnT w="28575">
                      <a:solidFill>
                        <a:srgbClr val="008FBB"/>
                      </a:solidFill>
                      <a:prstDash val="solid"/>
                    </a:lnT>
                    <a:lnB w="28575">
                      <a:solidFill>
                        <a:srgbClr val="008FBB"/>
                      </a:solidFill>
                      <a:prstDash val="solid"/>
                    </a:lnB>
                  </a:tcPr>
                </a:tc>
                <a:tc>
                  <a:txBody>
                    <a:bodyPr/>
                    <a:lstStyle/>
                    <a:p>
                      <a:pPr>
                        <a:lnSpc>
                          <a:spcPct val="100000"/>
                        </a:lnSpc>
                      </a:pPr>
                      <a:endParaRPr sz="2700">
                        <a:latin typeface="Times New Roman"/>
                        <a:cs typeface="Times New Roman"/>
                      </a:endParaRPr>
                    </a:p>
                  </a:txBody>
                  <a:tcPr marL="0" marR="0" marT="0" marB="0">
                    <a:lnL w="28575">
                      <a:solidFill>
                        <a:srgbClr val="008FBB"/>
                      </a:solidFill>
                      <a:prstDash val="solid"/>
                    </a:lnL>
                    <a:lnR w="38100">
                      <a:solidFill>
                        <a:srgbClr val="008FBB"/>
                      </a:solidFill>
                      <a:prstDash val="solid"/>
                    </a:lnR>
                    <a:lnT w="28575">
                      <a:solidFill>
                        <a:srgbClr val="008FBB"/>
                      </a:solidFill>
                      <a:prstDash val="solid"/>
                    </a:lnT>
                    <a:lnB w="28575">
                      <a:solidFill>
                        <a:srgbClr val="008FBB"/>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8FBB"/>
                      </a:solidFill>
                      <a:prstDash val="solid"/>
                    </a:lnL>
                    <a:lnR w="28575">
                      <a:solidFill>
                        <a:srgbClr val="008FBB"/>
                      </a:solidFill>
                      <a:prstDash val="solid"/>
                    </a:lnR>
                    <a:lnT w="28575">
                      <a:solidFill>
                        <a:srgbClr val="008FBB"/>
                      </a:solidFill>
                      <a:prstDash val="solid"/>
                    </a:lnT>
                    <a:lnB w="28575">
                      <a:solidFill>
                        <a:srgbClr val="008FBB"/>
                      </a:solidFill>
                      <a:prstDash val="solid"/>
                    </a:lnB>
                  </a:tcPr>
                </a:tc>
                <a:tc>
                  <a:txBody>
                    <a:bodyPr/>
                    <a:lstStyle/>
                    <a:p>
                      <a:pPr>
                        <a:lnSpc>
                          <a:spcPct val="100000"/>
                        </a:lnSpc>
                      </a:pPr>
                      <a:endParaRPr sz="2700" dirty="0">
                        <a:latin typeface="Times New Roman"/>
                        <a:cs typeface="Times New Roman"/>
                      </a:endParaRPr>
                    </a:p>
                  </a:txBody>
                  <a:tcPr marL="0" marR="0" marT="0" marB="0">
                    <a:lnL w="28575">
                      <a:solidFill>
                        <a:srgbClr val="008FBB"/>
                      </a:solidFill>
                      <a:prstDash val="solid"/>
                    </a:lnL>
                    <a:lnR w="28575">
                      <a:solidFill>
                        <a:srgbClr val="008FBB"/>
                      </a:solidFill>
                      <a:prstDash val="solid"/>
                    </a:lnR>
                    <a:lnT w="28575">
                      <a:solidFill>
                        <a:srgbClr val="008FBB"/>
                      </a:solidFill>
                      <a:prstDash val="solid"/>
                    </a:lnT>
                    <a:lnB w="28575">
                      <a:solidFill>
                        <a:srgbClr val="008FBB"/>
                      </a:solidFill>
                      <a:prstDash val="solid"/>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57807" y="2279903"/>
            <a:ext cx="9930384" cy="1702816"/>
          </a:xfrm>
          <a:prstGeom prst="rect">
            <a:avLst/>
          </a:prstGeom>
        </p:spPr>
      </p:pic>
      <p:sp>
        <p:nvSpPr>
          <p:cNvPr id="3" name="object 3"/>
          <p:cNvSpPr txBox="1">
            <a:spLocks noGrp="1"/>
          </p:cNvSpPr>
          <p:nvPr>
            <p:ph type="title"/>
          </p:nvPr>
        </p:nvSpPr>
        <p:spPr>
          <a:xfrm>
            <a:off x="1320800" y="2579973"/>
            <a:ext cx="9811173" cy="1048150"/>
          </a:xfrm>
          <a:prstGeom prst="rect">
            <a:avLst/>
          </a:prstGeom>
          <a:noFill/>
          <a:ln w="9144">
            <a:noFill/>
          </a:ln>
        </p:spPr>
        <p:txBody>
          <a:bodyPr vert="horz" wrap="square" lIns="0" tIns="306493" rIns="0" bIns="0" rtlCol="0" anchor="ctr">
            <a:spAutoFit/>
          </a:bodyPr>
          <a:lstStyle/>
          <a:p>
            <a:pPr algn="ctr">
              <a:lnSpc>
                <a:spcPct val="100000"/>
              </a:lnSpc>
              <a:spcBef>
                <a:spcPts val="2413"/>
              </a:spcBef>
            </a:pPr>
            <a:r>
              <a:rPr sz="4800" dirty="0">
                <a:solidFill>
                  <a:schemeClr val="bg1"/>
                </a:solidFill>
                <a:latin typeface="+mn-lt"/>
              </a:rPr>
              <a:t>Dimension</a:t>
            </a:r>
            <a:r>
              <a:rPr sz="4800" spc="-160" dirty="0">
                <a:solidFill>
                  <a:schemeClr val="bg1"/>
                </a:solidFill>
                <a:latin typeface="+mn-lt"/>
              </a:rPr>
              <a:t> </a:t>
            </a:r>
            <a:r>
              <a:rPr sz="4800" spc="-13" dirty="0">
                <a:solidFill>
                  <a:schemeClr val="bg1"/>
                </a:solidFill>
                <a:latin typeface="+mn-lt"/>
              </a:rPr>
              <a:t>tables</a:t>
            </a:r>
            <a:endParaRPr sz="4800" dirty="0">
              <a:solidFill>
                <a:schemeClr val="bg1"/>
              </a:solidFill>
              <a:latin typeface="+mn-lt"/>
            </a:endParaRP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25371" y="386807"/>
            <a:ext cx="7206318" cy="695062"/>
          </a:xfrm>
          <a:prstGeom prst="rect">
            <a:avLst/>
          </a:prstGeom>
        </p:spPr>
        <p:txBody>
          <a:bodyPr vert="horz" wrap="square" lIns="0" tIns="17780" rIns="0" bIns="0" rtlCol="0" anchor="ctr">
            <a:spAutoFit/>
          </a:bodyPr>
          <a:lstStyle/>
          <a:p>
            <a:pPr marL="1690751">
              <a:lnSpc>
                <a:spcPct val="100000"/>
              </a:lnSpc>
              <a:spcBef>
                <a:spcPts val="140"/>
              </a:spcBef>
            </a:pPr>
            <a:r>
              <a:rPr dirty="0">
                <a:solidFill>
                  <a:schemeClr val="bg1"/>
                </a:solidFill>
                <a:latin typeface="+mn-lt"/>
              </a:rPr>
              <a:t>Dimensions</a:t>
            </a:r>
            <a:r>
              <a:rPr spc="-147" dirty="0">
                <a:solidFill>
                  <a:schemeClr val="bg1"/>
                </a:solidFill>
                <a:latin typeface="+mn-lt"/>
              </a:rPr>
              <a:t> </a:t>
            </a:r>
            <a:r>
              <a:rPr spc="-13" dirty="0">
                <a:solidFill>
                  <a:schemeClr val="bg1"/>
                </a:solidFill>
                <a:latin typeface="+mn-lt"/>
              </a:rPr>
              <a:t>tables</a:t>
            </a:r>
          </a:p>
        </p:txBody>
      </p:sp>
      <p:sp>
        <p:nvSpPr>
          <p:cNvPr id="3" name="object 3"/>
          <p:cNvSpPr txBox="1"/>
          <p:nvPr/>
        </p:nvSpPr>
        <p:spPr>
          <a:xfrm>
            <a:off x="3242057" y="1807396"/>
            <a:ext cx="4229100" cy="386430"/>
          </a:xfrm>
          <a:prstGeom prst="rect">
            <a:avLst/>
          </a:prstGeom>
        </p:spPr>
        <p:txBody>
          <a:bodyPr vert="horz" wrap="square" lIns="0" tIns="16933" rIns="0" bIns="0" rtlCol="0">
            <a:spAutoFit/>
          </a:bodyPr>
          <a:lstStyle/>
          <a:p>
            <a:pPr marL="398770" indent="-381837">
              <a:spcBef>
                <a:spcPts val="133"/>
              </a:spcBef>
              <a:buClr>
                <a:srgbClr val="99D3FF"/>
              </a:buClr>
              <a:buFont typeface="Wingdings"/>
              <a:buChar char=""/>
              <a:tabLst>
                <a:tab pos="398770" algn="l"/>
              </a:tabLst>
            </a:pPr>
            <a:r>
              <a:rPr sz="2400" b="1" dirty="0">
                <a:solidFill>
                  <a:srgbClr val="D9D9D9"/>
                </a:solidFill>
                <a:latin typeface="Calibri"/>
                <a:cs typeface="Calibri"/>
              </a:rPr>
              <a:t>Always</a:t>
            </a:r>
            <a:r>
              <a:rPr sz="2400" b="1" spc="-40" dirty="0">
                <a:solidFill>
                  <a:srgbClr val="D9D9D9"/>
                </a:solidFill>
                <a:latin typeface="Calibri"/>
                <a:cs typeface="Calibri"/>
              </a:rPr>
              <a:t> </a:t>
            </a:r>
            <a:r>
              <a:rPr sz="2400" b="1" dirty="0">
                <a:solidFill>
                  <a:srgbClr val="D9D9D9"/>
                </a:solidFill>
                <a:latin typeface="Calibri"/>
                <a:cs typeface="Calibri"/>
              </a:rPr>
              <a:t>has</a:t>
            </a:r>
            <a:r>
              <a:rPr sz="2400" b="1" spc="-13" dirty="0">
                <a:solidFill>
                  <a:srgbClr val="D9D9D9"/>
                </a:solidFill>
                <a:latin typeface="Calibri"/>
                <a:cs typeface="Calibri"/>
              </a:rPr>
              <a:t> </a:t>
            </a:r>
            <a:r>
              <a:rPr sz="2400" b="1" dirty="0">
                <a:solidFill>
                  <a:srgbClr val="D9D9D9"/>
                </a:solidFill>
                <a:latin typeface="Calibri"/>
                <a:cs typeface="Calibri"/>
              </a:rPr>
              <a:t>a</a:t>
            </a:r>
            <a:r>
              <a:rPr sz="2400" b="1" spc="-7" dirty="0">
                <a:solidFill>
                  <a:srgbClr val="D9D9D9"/>
                </a:solidFill>
                <a:latin typeface="Calibri"/>
                <a:cs typeface="Calibri"/>
              </a:rPr>
              <a:t> </a:t>
            </a:r>
            <a:r>
              <a:rPr sz="2400" b="1" dirty="0">
                <a:solidFill>
                  <a:srgbClr val="D9D9D9"/>
                </a:solidFill>
                <a:latin typeface="Calibri"/>
                <a:cs typeface="Calibri"/>
              </a:rPr>
              <a:t>Primary</a:t>
            </a:r>
            <a:r>
              <a:rPr sz="2400" b="1" spc="-7" dirty="0">
                <a:solidFill>
                  <a:srgbClr val="D9D9D9"/>
                </a:solidFill>
                <a:latin typeface="Calibri"/>
                <a:cs typeface="Calibri"/>
              </a:rPr>
              <a:t> </a:t>
            </a:r>
            <a:r>
              <a:rPr sz="2400" b="1" dirty="0">
                <a:solidFill>
                  <a:srgbClr val="D9D9D9"/>
                </a:solidFill>
                <a:latin typeface="Calibri"/>
                <a:cs typeface="Calibri"/>
              </a:rPr>
              <a:t>Key </a:t>
            </a:r>
            <a:r>
              <a:rPr sz="2400" b="1" spc="-27" dirty="0">
                <a:solidFill>
                  <a:srgbClr val="D9D9D9"/>
                </a:solidFill>
                <a:latin typeface="Calibri"/>
                <a:cs typeface="Calibri"/>
              </a:rPr>
              <a:t>(PK)</a:t>
            </a:r>
            <a:endParaRPr sz="2400">
              <a:latin typeface="Calibri"/>
              <a:cs typeface="Calibri"/>
            </a:endParaRPr>
          </a:p>
        </p:txBody>
      </p:sp>
      <p:graphicFrame>
        <p:nvGraphicFramePr>
          <p:cNvPr id="4" name="object 4"/>
          <p:cNvGraphicFramePr>
            <a:graphicFrameLocks noGrp="1"/>
          </p:cNvGraphicFramePr>
          <p:nvPr>
            <p:extLst>
              <p:ext uri="{D42A27DB-BD31-4B8C-83A1-F6EECF244321}">
                <p14:modId xmlns:p14="http://schemas.microsoft.com/office/powerpoint/2010/main" val="1269207624"/>
              </p:ext>
            </p:extLst>
          </p:nvPr>
        </p:nvGraphicFramePr>
        <p:xfrm>
          <a:off x="3242734" y="2430948"/>
          <a:ext cx="5672667" cy="1077309"/>
        </p:xfrm>
        <a:graphic>
          <a:graphicData uri="http://schemas.openxmlformats.org/drawingml/2006/table">
            <a:tbl>
              <a:tblPr firstRow="1" bandRow="1">
                <a:tableStyleId>{2D5ABB26-0587-4C30-8999-92F81FD0307C}</a:tableStyleId>
              </a:tblPr>
              <a:tblGrid>
                <a:gridCol w="1418167">
                  <a:extLst>
                    <a:ext uri="{9D8B030D-6E8A-4147-A177-3AD203B41FA5}">
                      <a16:colId xmlns:a16="http://schemas.microsoft.com/office/drawing/2014/main" val="20000"/>
                    </a:ext>
                  </a:extLst>
                </a:gridCol>
                <a:gridCol w="2509064">
                  <a:extLst>
                    <a:ext uri="{9D8B030D-6E8A-4147-A177-3AD203B41FA5}">
                      <a16:colId xmlns:a16="http://schemas.microsoft.com/office/drawing/2014/main" val="20001"/>
                    </a:ext>
                  </a:extLst>
                </a:gridCol>
                <a:gridCol w="1745436">
                  <a:extLst>
                    <a:ext uri="{9D8B030D-6E8A-4147-A177-3AD203B41FA5}">
                      <a16:colId xmlns:a16="http://schemas.microsoft.com/office/drawing/2014/main" val="20002"/>
                    </a:ext>
                  </a:extLst>
                </a:gridCol>
              </a:tblGrid>
              <a:tr h="245766">
                <a:tc>
                  <a:txBody>
                    <a:bodyPr/>
                    <a:lstStyle/>
                    <a:p>
                      <a:pPr marL="635" algn="ctr">
                        <a:lnSpc>
                          <a:spcPct val="100000"/>
                        </a:lnSpc>
                        <a:spcBef>
                          <a:spcPts val="60"/>
                        </a:spcBef>
                      </a:pPr>
                      <a:r>
                        <a:rPr sz="1400" b="1" spc="-10" dirty="0">
                          <a:solidFill>
                            <a:schemeClr val="bg1"/>
                          </a:solidFill>
                          <a:latin typeface="Arial"/>
                          <a:cs typeface="Arial"/>
                        </a:rPr>
                        <a:t>Product_ID</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2540" algn="ctr">
                        <a:lnSpc>
                          <a:spcPct val="100000"/>
                        </a:lnSpc>
                        <a:spcBef>
                          <a:spcPts val="60"/>
                        </a:spcBef>
                      </a:pPr>
                      <a:r>
                        <a:rPr sz="1400" b="1" spc="-20" dirty="0">
                          <a:solidFill>
                            <a:schemeClr val="bg1"/>
                          </a:solidFill>
                          <a:latin typeface="Arial"/>
                          <a:cs typeface="Arial"/>
                        </a:rPr>
                        <a:t>Name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5080" algn="ctr">
                        <a:lnSpc>
                          <a:spcPct val="100000"/>
                        </a:lnSpc>
                        <a:spcBef>
                          <a:spcPts val="60"/>
                        </a:spcBef>
                      </a:pPr>
                      <a:r>
                        <a:rPr sz="1400" b="1" spc="-10" dirty="0">
                          <a:solidFill>
                            <a:schemeClr val="bg1"/>
                          </a:solidFill>
                          <a:latin typeface="Arial"/>
                          <a:cs typeface="Arial"/>
                        </a:rPr>
                        <a:t>Category</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77181">
                <a:tc>
                  <a:txBody>
                    <a:bodyPr/>
                    <a:lstStyle/>
                    <a:p>
                      <a:pPr marL="635" algn="ctr">
                        <a:lnSpc>
                          <a:spcPct val="100000"/>
                        </a:lnSpc>
                        <a:spcBef>
                          <a:spcPts val="225"/>
                        </a:spcBef>
                      </a:pPr>
                      <a:r>
                        <a:rPr sz="1400" spc="-20" dirty="0">
                          <a:latin typeface="Arial MT"/>
                          <a:cs typeface="Arial MT"/>
                        </a:rPr>
                        <a:t>P001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dirty="0">
                          <a:latin typeface="Arial MT"/>
                          <a:cs typeface="Arial MT"/>
                        </a:rPr>
                        <a:t>Sunglases</a:t>
                      </a:r>
                      <a:r>
                        <a:rPr sz="1400" spc="-55" dirty="0">
                          <a:latin typeface="Arial MT"/>
                          <a:cs typeface="Arial MT"/>
                        </a:rPr>
                        <a:t> </a:t>
                      </a:r>
                      <a:r>
                        <a:rPr sz="1400" dirty="0">
                          <a:latin typeface="Arial MT"/>
                          <a:cs typeface="Arial MT"/>
                        </a:rPr>
                        <a:t>TR-</a:t>
                      </a:r>
                      <a:r>
                        <a:rPr sz="1400" spc="-50" dirty="0">
                          <a:latin typeface="Arial MT"/>
                          <a:cs typeface="Arial MT"/>
                        </a:rPr>
                        <a:t>7</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10" dirty="0">
                          <a:latin typeface="Arial MT"/>
                          <a:cs typeface="Arial MT"/>
                        </a:rPr>
                        <a:t>Assecoirs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77181">
                <a:tc>
                  <a:txBody>
                    <a:bodyPr/>
                    <a:lstStyle/>
                    <a:p>
                      <a:pPr marL="635" algn="ctr">
                        <a:lnSpc>
                          <a:spcPct val="100000"/>
                        </a:lnSpc>
                        <a:spcBef>
                          <a:spcPts val="225"/>
                        </a:spcBef>
                      </a:pPr>
                      <a:r>
                        <a:rPr sz="1400" spc="-20" dirty="0">
                          <a:latin typeface="Arial MT"/>
                          <a:cs typeface="Arial MT"/>
                        </a:rPr>
                        <a:t>P002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10" dirty="0">
                          <a:latin typeface="Arial MT"/>
                          <a:cs typeface="Arial MT"/>
                        </a:rPr>
                        <a:t>Chocolate </a:t>
                      </a:r>
                      <a:r>
                        <a:rPr sz="1400" dirty="0">
                          <a:latin typeface="Arial MT"/>
                          <a:cs typeface="Arial MT"/>
                        </a:rPr>
                        <a:t>bar 70%</a:t>
                      </a:r>
                      <a:r>
                        <a:rPr sz="1400" spc="5" dirty="0">
                          <a:latin typeface="Arial MT"/>
                          <a:cs typeface="Arial MT"/>
                        </a:rPr>
                        <a:t> </a:t>
                      </a:r>
                      <a:r>
                        <a:rPr sz="1400" spc="-10" dirty="0">
                          <a:latin typeface="Arial MT"/>
                          <a:cs typeface="Arial MT"/>
                        </a:rPr>
                        <a:t>cacao</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10" dirty="0">
                          <a:latin typeface="Arial MT"/>
                          <a:cs typeface="Arial MT"/>
                        </a:rPr>
                        <a:t>Sweets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77181">
                <a:tc>
                  <a:txBody>
                    <a:bodyPr/>
                    <a:lstStyle/>
                    <a:p>
                      <a:pPr marL="635" algn="ctr">
                        <a:lnSpc>
                          <a:spcPct val="100000"/>
                        </a:lnSpc>
                        <a:spcBef>
                          <a:spcPts val="225"/>
                        </a:spcBef>
                      </a:pPr>
                      <a:r>
                        <a:rPr sz="1400" spc="-20" dirty="0">
                          <a:latin typeface="Arial MT"/>
                          <a:cs typeface="Arial MT"/>
                        </a:rPr>
                        <a:t>P003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dirty="0">
                          <a:latin typeface="Arial MT"/>
                          <a:cs typeface="Arial MT"/>
                        </a:rPr>
                        <a:t>Oat</a:t>
                      </a:r>
                      <a:r>
                        <a:rPr sz="1400" spc="-25" dirty="0">
                          <a:latin typeface="Arial MT"/>
                          <a:cs typeface="Arial MT"/>
                        </a:rPr>
                        <a:t> </a:t>
                      </a:r>
                      <a:r>
                        <a:rPr sz="1400" dirty="0">
                          <a:latin typeface="Arial MT"/>
                          <a:cs typeface="Arial MT"/>
                        </a:rPr>
                        <a:t>meal</a:t>
                      </a:r>
                      <a:r>
                        <a:rPr sz="1400" spc="-35" dirty="0">
                          <a:latin typeface="Arial MT"/>
                          <a:cs typeface="Arial MT"/>
                        </a:rPr>
                        <a:t> </a:t>
                      </a:r>
                      <a:r>
                        <a:rPr sz="1400" spc="-10" dirty="0">
                          <a:latin typeface="Arial MT"/>
                          <a:cs typeface="Arial MT"/>
                        </a:rPr>
                        <a:t>biscuits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10" dirty="0">
                          <a:latin typeface="Arial MT"/>
                          <a:cs typeface="Arial MT"/>
                        </a:rPr>
                        <a:t>Sweets</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graphicFrame>
        <p:nvGraphicFramePr>
          <p:cNvPr id="5" name="object 5"/>
          <p:cNvGraphicFramePr>
            <a:graphicFrameLocks noGrp="1"/>
          </p:cNvGraphicFramePr>
          <p:nvPr>
            <p:extLst>
              <p:ext uri="{D42A27DB-BD31-4B8C-83A1-F6EECF244321}">
                <p14:modId xmlns:p14="http://schemas.microsoft.com/office/powerpoint/2010/main" val="3139960354"/>
              </p:ext>
            </p:extLst>
          </p:nvPr>
        </p:nvGraphicFramePr>
        <p:xfrm>
          <a:off x="3242733" y="3928534"/>
          <a:ext cx="5672667" cy="1160302"/>
        </p:xfrm>
        <a:graphic>
          <a:graphicData uri="http://schemas.openxmlformats.org/drawingml/2006/table">
            <a:tbl>
              <a:tblPr firstRow="1" bandRow="1">
                <a:tableStyleId>{2D5ABB26-0587-4C30-8999-92F81FD0307C}</a:tableStyleId>
              </a:tblPr>
              <a:tblGrid>
                <a:gridCol w="1418167">
                  <a:extLst>
                    <a:ext uri="{9D8B030D-6E8A-4147-A177-3AD203B41FA5}">
                      <a16:colId xmlns:a16="http://schemas.microsoft.com/office/drawing/2014/main" val="20000"/>
                    </a:ext>
                  </a:extLst>
                </a:gridCol>
                <a:gridCol w="2509064">
                  <a:extLst>
                    <a:ext uri="{9D8B030D-6E8A-4147-A177-3AD203B41FA5}">
                      <a16:colId xmlns:a16="http://schemas.microsoft.com/office/drawing/2014/main" val="20001"/>
                    </a:ext>
                  </a:extLst>
                </a:gridCol>
                <a:gridCol w="1745436">
                  <a:extLst>
                    <a:ext uri="{9D8B030D-6E8A-4147-A177-3AD203B41FA5}">
                      <a16:colId xmlns:a16="http://schemas.microsoft.com/office/drawing/2014/main" val="20002"/>
                    </a:ext>
                  </a:extLst>
                </a:gridCol>
              </a:tblGrid>
              <a:tr h="264700">
                <a:tc>
                  <a:txBody>
                    <a:bodyPr/>
                    <a:lstStyle/>
                    <a:p>
                      <a:pPr marL="1270" algn="ctr">
                        <a:lnSpc>
                          <a:spcPct val="100000"/>
                        </a:lnSpc>
                        <a:spcBef>
                          <a:spcPts val="60"/>
                        </a:spcBef>
                      </a:pPr>
                      <a:r>
                        <a:rPr sz="1400" b="1" spc="-10" dirty="0">
                          <a:solidFill>
                            <a:schemeClr val="bg1"/>
                          </a:solidFill>
                          <a:latin typeface="Arial"/>
                          <a:cs typeface="Arial"/>
                        </a:rPr>
                        <a:t>Product_PK</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2540" algn="ctr">
                        <a:lnSpc>
                          <a:spcPct val="100000"/>
                        </a:lnSpc>
                        <a:spcBef>
                          <a:spcPts val="60"/>
                        </a:spcBef>
                      </a:pPr>
                      <a:r>
                        <a:rPr sz="1400" b="1" spc="-20" dirty="0">
                          <a:solidFill>
                            <a:schemeClr val="bg1"/>
                          </a:solidFill>
                          <a:latin typeface="Arial"/>
                          <a:cs typeface="Arial"/>
                        </a:rPr>
                        <a:t>Name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5080" algn="ctr">
                        <a:lnSpc>
                          <a:spcPct val="100000"/>
                        </a:lnSpc>
                        <a:spcBef>
                          <a:spcPts val="60"/>
                        </a:spcBef>
                      </a:pPr>
                      <a:r>
                        <a:rPr sz="1400" b="1" spc="-10" dirty="0">
                          <a:solidFill>
                            <a:schemeClr val="bg1"/>
                          </a:solidFill>
                          <a:latin typeface="Arial"/>
                          <a:cs typeface="Arial"/>
                        </a:rPr>
                        <a:t>Category</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98534">
                <a:tc>
                  <a:txBody>
                    <a:bodyPr/>
                    <a:lstStyle/>
                    <a:p>
                      <a:pPr algn="ctr">
                        <a:lnSpc>
                          <a:spcPct val="100000"/>
                        </a:lnSpc>
                        <a:spcBef>
                          <a:spcPts val="229"/>
                        </a:spcBef>
                      </a:pPr>
                      <a:r>
                        <a:rPr sz="1400" spc="-50" dirty="0">
                          <a:latin typeface="Arial MT"/>
                          <a:cs typeface="Arial MT"/>
                        </a:rPr>
                        <a:t>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dirty="0">
                          <a:latin typeface="Arial MT"/>
                          <a:cs typeface="Arial MT"/>
                        </a:rPr>
                        <a:t>Sunglases</a:t>
                      </a:r>
                      <a:r>
                        <a:rPr sz="1400" spc="-55" dirty="0">
                          <a:latin typeface="Arial MT"/>
                          <a:cs typeface="Arial MT"/>
                        </a:rPr>
                        <a:t> </a:t>
                      </a:r>
                      <a:r>
                        <a:rPr sz="1400" dirty="0">
                          <a:latin typeface="Arial MT"/>
                          <a:cs typeface="Arial MT"/>
                        </a:rPr>
                        <a:t>TR-</a:t>
                      </a:r>
                      <a:r>
                        <a:rPr sz="1400" spc="-50" dirty="0">
                          <a:latin typeface="Arial MT"/>
                          <a:cs typeface="Arial MT"/>
                        </a:rPr>
                        <a:t>7</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10" dirty="0">
                          <a:latin typeface="Arial MT"/>
                          <a:cs typeface="Arial MT"/>
                        </a:rPr>
                        <a:t>Assecoirs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98534">
                <a:tc>
                  <a:txBody>
                    <a:bodyPr/>
                    <a:lstStyle/>
                    <a:p>
                      <a:pPr algn="ctr">
                        <a:lnSpc>
                          <a:spcPct val="100000"/>
                        </a:lnSpc>
                        <a:spcBef>
                          <a:spcPts val="229"/>
                        </a:spcBef>
                      </a:pPr>
                      <a:r>
                        <a:rPr sz="1400" spc="-50" dirty="0">
                          <a:latin typeface="Arial MT"/>
                          <a:cs typeface="Arial MT"/>
                        </a:rPr>
                        <a:t>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spc="-10" dirty="0">
                          <a:latin typeface="Arial MT"/>
                          <a:cs typeface="Arial MT"/>
                        </a:rPr>
                        <a:t>Chocolate </a:t>
                      </a:r>
                      <a:r>
                        <a:rPr sz="1400" dirty="0">
                          <a:latin typeface="Arial MT"/>
                          <a:cs typeface="Arial MT"/>
                        </a:rPr>
                        <a:t>bar 70%</a:t>
                      </a:r>
                      <a:r>
                        <a:rPr sz="1400" spc="5" dirty="0">
                          <a:latin typeface="Arial MT"/>
                          <a:cs typeface="Arial MT"/>
                        </a:rPr>
                        <a:t> </a:t>
                      </a:r>
                      <a:r>
                        <a:rPr sz="1400" spc="-10" dirty="0">
                          <a:latin typeface="Arial MT"/>
                          <a:cs typeface="Arial MT"/>
                        </a:rPr>
                        <a:t>cacao</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0"/>
                        </a:spcBef>
                      </a:pPr>
                      <a:r>
                        <a:rPr sz="1400" spc="-10" dirty="0">
                          <a:latin typeface="Arial MT"/>
                          <a:cs typeface="Arial MT"/>
                        </a:rPr>
                        <a:t>Sweets</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98534">
                <a:tc>
                  <a:txBody>
                    <a:bodyPr/>
                    <a:lstStyle/>
                    <a:p>
                      <a:pPr algn="ctr">
                        <a:lnSpc>
                          <a:spcPct val="10000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dirty="0">
                          <a:latin typeface="Arial MT"/>
                          <a:cs typeface="Arial MT"/>
                        </a:rPr>
                        <a:t>Oat</a:t>
                      </a:r>
                      <a:r>
                        <a:rPr sz="1400" spc="-25" dirty="0">
                          <a:latin typeface="Arial MT"/>
                          <a:cs typeface="Arial MT"/>
                        </a:rPr>
                        <a:t> </a:t>
                      </a:r>
                      <a:r>
                        <a:rPr sz="1400" dirty="0">
                          <a:latin typeface="Arial MT"/>
                          <a:cs typeface="Arial MT"/>
                        </a:rPr>
                        <a:t>meal</a:t>
                      </a:r>
                      <a:r>
                        <a:rPr sz="1400" spc="-35" dirty="0">
                          <a:latin typeface="Arial MT"/>
                          <a:cs typeface="Arial MT"/>
                        </a:rPr>
                        <a:t> </a:t>
                      </a:r>
                      <a:r>
                        <a:rPr sz="1400" spc="-10" dirty="0">
                          <a:latin typeface="Arial MT"/>
                          <a:cs typeface="Arial MT"/>
                        </a:rPr>
                        <a:t>biscuits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10" dirty="0">
                          <a:latin typeface="Arial MT"/>
                          <a:cs typeface="Arial MT"/>
                        </a:rPr>
                        <a:t>Sweets</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graphicFrame>
        <p:nvGraphicFramePr>
          <p:cNvPr id="6" name="object 6"/>
          <p:cNvGraphicFramePr>
            <a:graphicFrameLocks noGrp="1"/>
          </p:cNvGraphicFramePr>
          <p:nvPr>
            <p:extLst>
              <p:ext uri="{D42A27DB-BD31-4B8C-83A1-F6EECF244321}">
                <p14:modId xmlns:p14="http://schemas.microsoft.com/office/powerpoint/2010/main" val="1527731024"/>
              </p:ext>
            </p:extLst>
          </p:nvPr>
        </p:nvGraphicFramePr>
        <p:xfrm>
          <a:off x="3955774" y="5193894"/>
          <a:ext cx="3148606" cy="1160302"/>
        </p:xfrm>
        <a:graphic>
          <a:graphicData uri="http://schemas.openxmlformats.org/drawingml/2006/table">
            <a:tbl>
              <a:tblPr firstRow="1" bandRow="1">
                <a:tableStyleId>{2D5ABB26-0587-4C30-8999-92F81FD0307C}</a:tableStyleId>
              </a:tblPr>
              <a:tblGrid>
                <a:gridCol w="1377572">
                  <a:extLst>
                    <a:ext uri="{9D8B030D-6E8A-4147-A177-3AD203B41FA5}">
                      <a16:colId xmlns:a16="http://schemas.microsoft.com/office/drawing/2014/main" val="20000"/>
                    </a:ext>
                  </a:extLst>
                </a:gridCol>
                <a:gridCol w="1771034">
                  <a:extLst>
                    <a:ext uri="{9D8B030D-6E8A-4147-A177-3AD203B41FA5}">
                      <a16:colId xmlns:a16="http://schemas.microsoft.com/office/drawing/2014/main" val="20001"/>
                    </a:ext>
                  </a:extLst>
                </a:gridCol>
              </a:tblGrid>
              <a:tr h="264700">
                <a:tc>
                  <a:txBody>
                    <a:bodyPr/>
                    <a:lstStyle/>
                    <a:p>
                      <a:pPr algn="ctr">
                        <a:lnSpc>
                          <a:spcPct val="100000"/>
                        </a:lnSpc>
                        <a:spcBef>
                          <a:spcPts val="65"/>
                        </a:spcBef>
                      </a:pPr>
                      <a:r>
                        <a:rPr sz="1400" b="1" spc="-10" dirty="0">
                          <a:solidFill>
                            <a:schemeClr val="bg1"/>
                          </a:solidFill>
                          <a:latin typeface="Arial"/>
                          <a:cs typeface="Arial"/>
                        </a:rPr>
                        <a:t>Product_PK</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gn="ctr">
                        <a:lnSpc>
                          <a:spcPct val="100000"/>
                        </a:lnSpc>
                        <a:spcBef>
                          <a:spcPts val="65"/>
                        </a:spcBef>
                      </a:pPr>
                      <a:r>
                        <a:rPr sz="1400" b="1" spc="-10" dirty="0">
                          <a:solidFill>
                            <a:schemeClr val="bg1"/>
                          </a:solidFill>
                          <a:latin typeface="Arial"/>
                          <a:cs typeface="Arial"/>
                        </a:rPr>
                        <a:t>Product_ID</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98534">
                <a:tc>
                  <a:txBody>
                    <a:bodyPr/>
                    <a:lstStyle/>
                    <a:p>
                      <a:pPr algn="ctr">
                        <a:lnSpc>
                          <a:spcPct val="100000"/>
                        </a:lnSpc>
                        <a:spcBef>
                          <a:spcPts val="229"/>
                        </a:spcBef>
                      </a:pPr>
                      <a:r>
                        <a:rPr sz="1400" spc="-50" dirty="0">
                          <a:latin typeface="Arial MT"/>
                          <a:cs typeface="Arial MT"/>
                        </a:rPr>
                        <a:t>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20" dirty="0">
                          <a:latin typeface="Arial MT"/>
                          <a:cs typeface="Arial MT"/>
                        </a:rPr>
                        <a:t>P001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98534">
                <a:tc>
                  <a:txBody>
                    <a:bodyPr/>
                    <a:lstStyle/>
                    <a:p>
                      <a:pPr algn="ctr">
                        <a:lnSpc>
                          <a:spcPct val="100000"/>
                        </a:lnSpc>
                        <a:spcBef>
                          <a:spcPts val="229"/>
                        </a:spcBef>
                      </a:pPr>
                      <a:r>
                        <a:rPr sz="1400" spc="-50" dirty="0">
                          <a:latin typeface="Arial MT"/>
                          <a:cs typeface="Arial MT"/>
                        </a:rPr>
                        <a:t>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20" dirty="0">
                          <a:latin typeface="Arial MT"/>
                          <a:cs typeface="Arial MT"/>
                        </a:rPr>
                        <a:t>P002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98534">
                <a:tc>
                  <a:txBody>
                    <a:bodyPr/>
                    <a:lstStyle/>
                    <a:p>
                      <a:pPr algn="ctr">
                        <a:lnSpc>
                          <a:spcPct val="10000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20" dirty="0">
                          <a:latin typeface="Arial MT"/>
                          <a:cs typeface="Arial MT"/>
                        </a:rPr>
                        <a:t>P003</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pic>
        <p:nvPicPr>
          <p:cNvPr id="7" name="object 7"/>
          <p:cNvPicPr/>
          <p:nvPr/>
        </p:nvPicPr>
        <p:blipFill>
          <a:blip r:embed="rId2" cstate="print"/>
          <a:stretch>
            <a:fillRect/>
          </a:stretch>
        </p:blipFill>
        <p:spPr>
          <a:xfrm>
            <a:off x="7599172" y="1193519"/>
            <a:ext cx="4443498" cy="1082320"/>
          </a:xfrm>
          <a:prstGeom prst="rect">
            <a:avLst/>
          </a:prstGeom>
        </p:spPr>
      </p:pic>
      <p:sp>
        <p:nvSpPr>
          <p:cNvPr id="8" name="object 8"/>
          <p:cNvSpPr txBox="1"/>
          <p:nvPr/>
        </p:nvSpPr>
        <p:spPr>
          <a:xfrm>
            <a:off x="3242057" y="3525180"/>
            <a:ext cx="2686473"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Use</a:t>
            </a:r>
            <a:r>
              <a:rPr sz="2400" b="1" spc="-40" dirty="0">
                <a:solidFill>
                  <a:srgbClr val="D9D9D9"/>
                </a:solidFill>
                <a:latin typeface="Calibri"/>
                <a:cs typeface="Calibri"/>
              </a:rPr>
              <a:t> </a:t>
            </a:r>
            <a:r>
              <a:rPr sz="2400" b="1" dirty="0">
                <a:solidFill>
                  <a:srgbClr val="D9D9D9"/>
                </a:solidFill>
                <a:latin typeface="Calibri"/>
                <a:cs typeface="Calibri"/>
              </a:rPr>
              <a:t>surrogate</a:t>
            </a:r>
            <a:r>
              <a:rPr sz="2400" b="1" spc="-60" dirty="0">
                <a:solidFill>
                  <a:srgbClr val="D9D9D9"/>
                </a:solidFill>
                <a:latin typeface="Calibri"/>
                <a:cs typeface="Calibri"/>
              </a:rPr>
              <a:t> </a:t>
            </a:r>
            <a:r>
              <a:rPr sz="2400" b="1" spc="-33" dirty="0">
                <a:solidFill>
                  <a:srgbClr val="D9D9D9"/>
                </a:solidFill>
                <a:latin typeface="Calibri"/>
                <a:cs typeface="Calibri"/>
              </a:rPr>
              <a:t>key</a:t>
            </a:r>
            <a:endParaRPr sz="2400">
              <a:latin typeface="Calibri"/>
              <a:cs typeface="Calibri"/>
            </a:endParaRPr>
          </a:p>
        </p:txBody>
      </p:sp>
      <p:sp>
        <p:nvSpPr>
          <p:cNvPr id="9" name="object 9"/>
          <p:cNvSpPr txBox="1"/>
          <p:nvPr/>
        </p:nvSpPr>
        <p:spPr>
          <a:xfrm>
            <a:off x="7218171" y="5278051"/>
            <a:ext cx="2060787"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Lookup</a:t>
            </a:r>
            <a:r>
              <a:rPr sz="2400" b="1" spc="-47" dirty="0">
                <a:solidFill>
                  <a:srgbClr val="D9D9D9"/>
                </a:solidFill>
                <a:latin typeface="Calibri"/>
                <a:cs typeface="Calibri"/>
              </a:rPr>
              <a:t> </a:t>
            </a:r>
            <a:r>
              <a:rPr sz="2400" b="1" spc="-27" dirty="0">
                <a:solidFill>
                  <a:srgbClr val="D9D9D9"/>
                </a:solidFill>
                <a:latin typeface="Calibri"/>
                <a:cs typeface="Calibri"/>
              </a:rPr>
              <a:t>table</a:t>
            </a:r>
            <a:endParaRPr sz="2400">
              <a:latin typeface="Calibri"/>
              <a:cs typeface="Calibri"/>
            </a:endParaRP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23288" y="112752"/>
            <a:ext cx="9784080" cy="695062"/>
          </a:xfrm>
          <a:prstGeom prst="rect">
            <a:avLst/>
          </a:prstGeom>
        </p:spPr>
        <p:txBody>
          <a:bodyPr vert="horz" wrap="square" lIns="0" tIns="17780" rIns="0" bIns="0" rtlCol="0" anchor="ctr">
            <a:spAutoFit/>
          </a:bodyPr>
          <a:lstStyle/>
          <a:p>
            <a:pPr marL="1690751">
              <a:lnSpc>
                <a:spcPct val="100000"/>
              </a:lnSpc>
              <a:spcBef>
                <a:spcPts val="140"/>
              </a:spcBef>
            </a:pPr>
            <a:r>
              <a:rPr dirty="0">
                <a:solidFill>
                  <a:schemeClr val="bg1"/>
                </a:solidFill>
                <a:latin typeface="+mn-lt"/>
              </a:rPr>
              <a:t>Dimensions</a:t>
            </a:r>
            <a:r>
              <a:rPr spc="-147" dirty="0">
                <a:solidFill>
                  <a:schemeClr val="bg1"/>
                </a:solidFill>
                <a:latin typeface="+mn-lt"/>
              </a:rPr>
              <a:t> </a:t>
            </a:r>
            <a:r>
              <a:rPr spc="-13" dirty="0">
                <a:solidFill>
                  <a:schemeClr val="bg1"/>
                </a:solidFill>
                <a:latin typeface="+mn-lt"/>
              </a:rPr>
              <a:t>tables</a:t>
            </a:r>
          </a:p>
        </p:txBody>
      </p:sp>
      <p:graphicFrame>
        <p:nvGraphicFramePr>
          <p:cNvPr id="3" name="object 3"/>
          <p:cNvGraphicFramePr>
            <a:graphicFrameLocks noGrp="1"/>
          </p:cNvGraphicFramePr>
          <p:nvPr>
            <p:extLst>
              <p:ext uri="{D42A27DB-BD31-4B8C-83A1-F6EECF244321}">
                <p14:modId xmlns:p14="http://schemas.microsoft.com/office/powerpoint/2010/main" val="1933445328"/>
              </p:ext>
            </p:extLst>
          </p:nvPr>
        </p:nvGraphicFramePr>
        <p:xfrm>
          <a:off x="804334" y="2521880"/>
          <a:ext cx="5576588" cy="1219675"/>
        </p:xfrm>
        <a:graphic>
          <a:graphicData uri="http://schemas.openxmlformats.org/drawingml/2006/table">
            <a:tbl>
              <a:tblPr firstRow="1" bandRow="1">
                <a:tableStyleId>{2D5ABB26-0587-4C30-8999-92F81FD0307C}</a:tableStyleId>
              </a:tblPr>
              <a:tblGrid>
                <a:gridCol w="1394147">
                  <a:extLst>
                    <a:ext uri="{9D8B030D-6E8A-4147-A177-3AD203B41FA5}">
                      <a16:colId xmlns:a16="http://schemas.microsoft.com/office/drawing/2014/main" val="20000"/>
                    </a:ext>
                  </a:extLst>
                </a:gridCol>
                <a:gridCol w="2466568">
                  <a:extLst>
                    <a:ext uri="{9D8B030D-6E8A-4147-A177-3AD203B41FA5}">
                      <a16:colId xmlns:a16="http://schemas.microsoft.com/office/drawing/2014/main" val="20001"/>
                    </a:ext>
                  </a:extLst>
                </a:gridCol>
                <a:gridCol w="1715873">
                  <a:extLst>
                    <a:ext uri="{9D8B030D-6E8A-4147-A177-3AD203B41FA5}">
                      <a16:colId xmlns:a16="http://schemas.microsoft.com/office/drawing/2014/main" val="20002"/>
                    </a:ext>
                  </a:extLst>
                </a:gridCol>
              </a:tblGrid>
              <a:tr h="278245">
                <a:tc>
                  <a:txBody>
                    <a:bodyPr/>
                    <a:lstStyle/>
                    <a:p>
                      <a:pPr marL="635" algn="ctr">
                        <a:lnSpc>
                          <a:spcPct val="100000"/>
                        </a:lnSpc>
                        <a:spcBef>
                          <a:spcPts val="60"/>
                        </a:spcBef>
                      </a:pPr>
                      <a:r>
                        <a:rPr sz="1400" b="1" spc="-10" dirty="0">
                          <a:solidFill>
                            <a:schemeClr val="bg1"/>
                          </a:solidFill>
                          <a:latin typeface="Arial"/>
                          <a:cs typeface="Arial"/>
                        </a:rPr>
                        <a:t>Product_ID</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270" algn="ctr">
                        <a:lnSpc>
                          <a:spcPct val="100000"/>
                        </a:lnSpc>
                        <a:spcBef>
                          <a:spcPts val="60"/>
                        </a:spcBef>
                      </a:pPr>
                      <a:r>
                        <a:rPr sz="1400" b="1" spc="-20" dirty="0">
                          <a:solidFill>
                            <a:schemeClr val="bg1"/>
                          </a:solidFill>
                          <a:latin typeface="Arial"/>
                          <a:cs typeface="Arial"/>
                        </a:rPr>
                        <a:t>Name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4445" algn="ctr">
                        <a:lnSpc>
                          <a:spcPct val="100000"/>
                        </a:lnSpc>
                        <a:spcBef>
                          <a:spcPts val="60"/>
                        </a:spcBef>
                      </a:pPr>
                      <a:r>
                        <a:rPr sz="1400" b="1" spc="-10" dirty="0">
                          <a:solidFill>
                            <a:schemeClr val="bg1"/>
                          </a:solidFill>
                          <a:latin typeface="Arial"/>
                          <a:cs typeface="Arial"/>
                        </a:rPr>
                        <a:t>Category</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313810">
                <a:tc>
                  <a:txBody>
                    <a:bodyPr/>
                    <a:lstStyle/>
                    <a:p>
                      <a:pPr marL="635" algn="ctr">
                        <a:lnSpc>
                          <a:spcPct val="100000"/>
                        </a:lnSpc>
                        <a:spcBef>
                          <a:spcPts val="225"/>
                        </a:spcBef>
                      </a:pPr>
                      <a:r>
                        <a:rPr sz="1400" spc="-20" dirty="0">
                          <a:latin typeface="Arial MT"/>
                          <a:cs typeface="Arial MT"/>
                        </a:rPr>
                        <a:t>P001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dirty="0">
                          <a:latin typeface="Arial MT"/>
                          <a:cs typeface="Arial MT"/>
                        </a:rPr>
                        <a:t>Sunglases</a:t>
                      </a:r>
                      <a:r>
                        <a:rPr sz="1400" spc="-55" dirty="0">
                          <a:latin typeface="Arial MT"/>
                          <a:cs typeface="Arial MT"/>
                        </a:rPr>
                        <a:t> </a:t>
                      </a:r>
                      <a:r>
                        <a:rPr sz="1400" dirty="0">
                          <a:latin typeface="Arial MT"/>
                          <a:cs typeface="Arial MT"/>
                        </a:rPr>
                        <a:t>TR-</a:t>
                      </a:r>
                      <a:r>
                        <a:rPr sz="1400" spc="-50" dirty="0">
                          <a:latin typeface="Arial MT"/>
                          <a:cs typeface="Arial MT"/>
                        </a:rPr>
                        <a:t>7</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10" dirty="0">
                          <a:latin typeface="Arial MT"/>
                          <a:cs typeface="Arial MT"/>
                        </a:rPr>
                        <a:t>Assecoirs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313810">
                <a:tc>
                  <a:txBody>
                    <a:bodyPr/>
                    <a:lstStyle/>
                    <a:p>
                      <a:pPr marL="635" algn="ctr">
                        <a:lnSpc>
                          <a:spcPct val="100000"/>
                        </a:lnSpc>
                        <a:spcBef>
                          <a:spcPts val="225"/>
                        </a:spcBef>
                      </a:pPr>
                      <a:r>
                        <a:rPr sz="1400" spc="-20" dirty="0">
                          <a:latin typeface="Arial MT"/>
                          <a:cs typeface="Arial MT"/>
                        </a:rPr>
                        <a:t>P002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Chocolate </a:t>
                      </a:r>
                      <a:r>
                        <a:rPr sz="1400" dirty="0">
                          <a:latin typeface="Arial MT"/>
                          <a:cs typeface="Arial MT"/>
                        </a:rPr>
                        <a:t>bar 70%</a:t>
                      </a:r>
                      <a:r>
                        <a:rPr sz="1400" spc="5" dirty="0">
                          <a:latin typeface="Arial MT"/>
                          <a:cs typeface="Arial MT"/>
                        </a:rPr>
                        <a:t> </a:t>
                      </a:r>
                      <a:r>
                        <a:rPr sz="1400" spc="-10" dirty="0">
                          <a:latin typeface="Arial MT"/>
                          <a:cs typeface="Arial MT"/>
                        </a:rPr>
                        <a:t>cacao</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10" dirty="0">
                          <a:latin typeface="Arial MT"/>
                          <a:cs typeface="Arial MT"/>
                        </a:rPr>
                        <a:t>Sweets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313810">
                <a:tc>
                  <a:txBody>
                    <a:bodyPr/>
                    <a:lstStyle/>
                    <a:p>
                      <a:pPr marL="635" algn="ctr">
                        <a:lnSpc>
                          <a:spcPct val="100000"/>
                        </a:lnSpc>
                        <a:spcBef>
                          <a:spcPts val="225"/>
                        </a:spcBef>
                      </a:pPr>
                      <a:r>
                        <a:rPr sz="1400" spc="-20" dirty="0">
                          <a:latin typeface="Arial MT"/>
                          <a:cs typeface="Arial MT"/>
                        </a:rPr>
                        <a:t>P003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dirty="0">
                          <a:latin typeface="Arial MT"/>
                          <a:cs typeface="Arial MT"/>
                        </a:rPr>
                        <a:t>Oat</a:t>
                      </a:r>
                      <a:r>
                        <a:rPr sz="1400" spc="-20" dirty="0">
                          <a:latin typeface="Arial MT"/>
                          <a:cs typeface="Arial MT"/>
                        </a:rPr>
                        <a:t> </a:t>
                      </a:r>
                      <a:r>
                        <a:rPr sz="1400" dirty="0">
                          <a:latin typeface="Arial MT"/>
                          <a:cs typeface="Arial MT"/>
                        </a:rPr>
                        <a:t>meal</a:t>
                      </a:r>
                      <a:r>
                        <a:rPr sz="1400" spc="-30" dirty="0">
                          <a:latin typeface="Arial MT"/>
                          <a:cs typeface="Arial MT"/>
                        </a:rPr>
                        <a:t> </a:t>
                      </a:r>
                      <a:r>
                        <a:rPr sz="1400" spc="-10" dirty="0">
                          <a:latin typeface="Arial MT"/>
                          <a:cs typeface="Arial MT"/>
                        </a:rPr>
                        <a:t>biscuits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10" dirty="0">
                          <a:latin typeface="Arial MT"/>
                          <a:cs typeface="Arial MT"/>
                        </a:rPr>
                        <a:t>Sweets</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graphicFrame>
        <p:nvGraphicFramePr>
          <p:cNvPr id="4" name="object 4"/>
          <p:cNvGraphicFramePr>
            <a:graphicFrameLocks noGrp="1"/>
          </p:cNvGraphicFramePr>
          <p:nvPr>
            <p:extLst>
              <p:ext uri="{D42A27DB-BD31-4B8C-83A1-F6EECF244321}">
                <p14:modId xmlns:p14="http://schemas.microsoft.com/office/powerpoint/2010/main" val="2252130522"/>
              </p:ext>
            </p:extLst>
          </p:nvPr>
        </p:nvGraphicFramePr>
        <p:xfrm>
          <a:off x="804333" y="4019635"/>
          <a:ext cx="5576587" cy="1219675"/>
        </p:xfrm>
        <a:graphic>
          <a:graphicData uri="http://schemas.openxmlformats.org/drawingml/2006/table">
            <a:tbl>
              <a:tblPr firstRow="1" bandRow="1">
                <a:tableStyleId>{2D5ABB26-0587-4C30-8999-92F81FD0307C}</a:tableStyleId>
              </a:tblPr>
              <a:tblGrid>
                <a:gridCol w="1394147">
                  <a:extLst>
                    <a:ext uri="{9D8B030D-6E8A-4147-A177-3AD203B41FA5}">
                      <a16:colId xmlns:a16="http://schemas.microsoft.com/office/drawing/2014/main" val="20000"/>
                    </a:ext>
                  </a:extLst>
                </a:gridCol>
                <a:gridCol w="2466567">
                  <a:extLst>
                    <a:ext uri="{9D8B030D-6E8A-4147-A177-3AD203B41FA5}">
                      <a16:colId xmlns:a16="http://schemas.microsoft.com/office/drawing/2014/main" val="20001"/>
                    </a:ext>
                  </a:extLst>
                </a:gridCol>
                <a:gridCol w="1715873">
                  <a:extLst>
                    <a:ext uri="{9D8B030D-6E8A-4147-A177-3AD203B41FA5}">
                      <a16:colId xmlns:a16="http://schemas.microsoft.com/office/drawing/2014/main" val="20002"/>
                    </a:ext>
                  </a:extLst>
                </a:gridCol>
              </a:tblGrid>
              <a:tr h="278245">
                <a:tc>
                  <a:txBody>
                    <a:bodyPr/>
                    <a:lstStyle/>
                    <a:p>
                      <a:pPr algn="ctr">
                        <a:lnSpc>
                          <a:spcPct val="100000"/>
                        </a:lnSpc>
                        <a:spcBef>
                          <a:spcPts val="65"/>
                        </a:spcBef>
                      </a:pPr>
                      <a:r>
                        <a:rPr sz="1400" b="1" spc="-10" dirty="0">
                          <a:solidFill>
                            <a:schemeClr val="bg1"/>
                          </a:solidFill>
                          <a:latin typeface="Arial"/>
                          <a:cs typeface="Arial"/>
                        </a:rPr>
                        <a:t>Product_PK</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270" algn="ctr">
                        <a:lnSpc>
                          <a:spcPct val="100000"/>
                        </a:lnSpc>
                        <a:spcBef>
                          <a:spcPts val="65"/>
                        </a:spcBef>
                      </a:pPr>
                      <a:r>
                        <a:rPr sz="1400" b="1" spc="-20" dirty="0">
                          <a:solidFill>
                            <a:schemeClr val="bg1"/>
                          </a:solidFill>
                          <a:latin typeface="Arial"/>
                          <a:cs typeface="Arial"/>
                        </a:rPr>
                        <a:t>Name</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4445" algn="ctr">
                        <a:lnSpc>
                          <a:spcPct val="100000"/>
                        </a:lnSpc>
                        <a:spcBef>
                          <a:spcPts val="65"/>
                        </a:spcBef>
                      </a:pPr>
                      <a:r>
                        <a:rPr sz="1400" b="1" spc="-10" dirty="0">
                          <a:solidFill>
                            <a:schemeClr val="bg1"/>
                          </a:solidFill>
                          <a:latin typeface="Arial"/>
                          <a:cs typeface="Arial"/>
                        </a:rPr>
                        <a:t>Category</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313810">
                <a:tc>
                  <a:txBody>
                    <a:bodyPr/>
                    <a:lstStyle/>
                    <a:p>
                      <a:pPr algn="ctr">
                        <a:lnSpc>
                          <a:spcPct val="100000"/>
                        </a:lnSpc>
                        <a:spcBef>
                          <a:spcPts val="229"/>
                        </a:spcBef>
                      </a:pPr>
                      <a:r>
                        <a:rPr sz="1400" spc="-50" dirty="0">
                          <a:latin typeface="Arial MT"/>
                          <a:cs typeface="Arial MT"/>
                        </a:rPr>
                        <a:t>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dirty="0">
                          <a:latin typeface="Arial MT"/>
                          <a:cs typeface="Arial MT"/>
                        </a:rPr>
                        <a:t>Sunglases</a:t>
                      </a:r>
                      <a:r>
                        <a:rPr sz="1400" spc="-55" dirty="0">
                          <a:latin typeface="Arial MT"/>
                          <a:cs typeface="Arial MT"/>
                        </a:rPr>
                        <a:t> </a:t>
                      </a:r>
                      <a:r>
                        <a:rPr sz="1400" dirty="0">
                          <a:latin typeface="Arial MT"/>
                          <a:cs typeface="Arial MT"/>
                        </a:rPr>
                        <a:t>TR-</a:t>
                      </a:r>
                      <a:r>
                        <a:rPr sz="1400" spc="-50" dirty="0">
                          <a:latin typeface="Arial MT"/>
                          <a:cs typeface="Arial MT"/>
                        </a:rPr>
                        <a:t>7</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spc="-10" dirty="0">
                          <a:latin typeface="Arial MT"/>
                          <a:cs typeface="Arial MT"/>
                        </a:rPr>
                        <a:t>Assecoirs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313810">
                <a:tc>
                  <a:txBody>
                    <a:bodyPr/>
                    <a:lstStyle/>
                    <a:p>
                      <a:pPr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Chocolate </a:t>
                      </a:r>
                      <a:r>
                        <a:rPr sz="1400" dirty="0">
                          <a:latin typeface="Arial MT"/>
                          <a:cs typeface="Arial MT"/>
                        </a:rPr>
                        <a:t>bar 70%</a:t>
                      </a:r>
                      <a:r>
                        <a:rPr sz="1400" spc="5" dirty="0">
                          <a:latin typeface="Arial MT"/>
                          <a:cs typeface="Arial MT"/>
                        </a:rPr>
                        <a:t> </a:t>
                      </a:r>
                      <a:r>
                        <a:rPr sz="1400" spc="-10" dirty="0">
                          <a:latin typeface="Arial MT"/>
                          <a:cs typeface="Arial MT"/>
                        </a:rPr>
                        <a:t>cacao</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10" dirty="0">
                          <a:latin typeface="Arial MT"/>
                          <a:cs typeface="Arial MT"/>
                        </a:rPr>
                        <a:t>Sweets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313810">
                <a:tc>
                  <a:txBody>
                    <a:bodyPr/>
                    <a:lstStyle/>
                    <a:p>
                      <a:pPr algn="ctr">
                        <a:lnSpc>
                          <a:spcPct val="10000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dirty="0">
                          <a:latin typeface="Arial MT"/>
                          <a:cs typeface="Arial MT"/>
                        </a:rPr>
                        <a:t>Oat</a:t>
                      </a:r>
                      <a:r>
                        <a:rPr sz="1400" spc="-20" dirty="0">
                          <a:latin typeface="Arial MT"/>
                          <a:cs typeface="Arial MT"/>
                        </a:rPr>
                        <a:t> </a:t>
                      </a:r>
                      <a:r>
                        <a:rPr sz="1400" dirty="0">
                          <a:latin typeface="Arial MT"/>
                          <a:cs typeface="Arial MT"/>
                        </a:rPr>
                        <a:t>meal</a:t>
                      </a:r>
                      <a:r>
                        <a:rPr sz="1400" spc="-30" dirty="0">
                          <a:latin typeface="Arial MT"/>
                          <a:cs typeface="Arial MT"/>
                        </a:rPr>
                        <a:t> </a:t>
                      </a:r>
                      <a:r>
                        <a:rPr sz="1400" spc="-10" dirty="0">
                          <a:latin typeface="Arial MT"/>
                          <a:cs typeface="Arial MT"/>
                        </a:rPr>
                        <a:t>biscuits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10" dirty="0">
                          <a:latin typeface="Arial MT"/>
                          <a:cs typeface="Arial MT"/>
                        </a:rPr>
                        <a:t>Sweets</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graphicFrame>
        <p:nvGraphicFramePr>
          <p:cNvPr id="5" name="object 5"/>
          <p:cNvGraphicFramePr>
            <a:graphicFrameLocks noGrp="1"/>
          </p:cNvGraphicFramePr>
          <p:nvPr>
            <p:extLst>
              <p:ext uri="{D42A27DB-BD31-4B8C-83A1-F6EECF244321}">
                <p14:modId xmlns:p14="http://schemas.microsoft.com/office/powerpoint/2010/main" val="4196259950"/>
              </p:ext>
            </p:extLst>
          </p:nvPr>
        </p:nvGraphicFramePr>
        <p:xfrm>
          <a:off x="883846" y="5455621"/>
          <a:ext cx="3250831" cy="1219675"/>
        </p:xfrm>
        <a:graphic>
          <a:graphicData uri="http://schemas.openxmlformats.org/drawingml/2006/table">
            <a:tbl>
              <a:tblPr firstRow="1" bandRow="1">
                <a:tableStyleId>{2D5ABB26-0587-4C30-8999-92F81FD0307C}</a:tableStyleId>
              </a:tblPr>
              <a:tblGrid>
                <a:gridCol w="1422297">
                  <a:extLst>
                    <a:ext uri="{9D8B030D-6E8A-4147-A177-3AD203B41FA5}">
                      <a16:colId xmlns:a16="http://schemas.microsoft.com/office/drawing/2014/main" val="20000"/>
                    </a:ext>
                  </a:extLst>
                </a:gridCol>
                <a:gridCol w="1828534">
                  <a:extLst>
                    <a:ext uri="{9D8B030D-6E8A-4147-A177-3AD203B41FA5}">
                      <a16:colId xmlns:a16="http://schemas.microsoft.com/office/drawing/2014/main" val="20001"/>
                    </a:ext>
                  </a:extLst>
                </a:gridCol>
              </a:tblGrid>
              <a:tr h="278245">
                <a:tc>
                  <a:txBody>
                    <a:bodyPr/>
                    <a:lstStyle/>
                    <a:p>
                      <a:pPr algn="ctr">
                        <a:lnSpc>
                          <a:spcPct val="100000"/>
                        </a:lnSpc>
                        <a:spcBef>
                          <a:spcPts val="65"/>
                        </a:spcBef>
                      </a:pPr>
                      <a:r>
                        <a:rPr sz="1400" b="1" spc="-10" dirty="0">
                          <a:solidFill>
                            <a:schemeClr val="bg1"/>
                          </a:solidFill>
                          <a:latin typeface="Arial"/>
                          <a:cs typeface="Arial"/>
                        </a:rPr>
                        <a:t>Product_PK</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gn="ctr">
                        <a:lnSpc>
                          <a:spcPct val="100000"/>
                        </a:lnSpc>
                        <a:spcBef>
                          <a:spcPts val="65"/>
                        </a:spcBef>
                      </a:pPr>
                      <a:r>
                        <a:rPr sz="1400" b="1" spc="-10" dirty="0">
                          <a:solidFill>
                            <a:schemeClr val="bg1"/>
                          </a:solidFill>
                          <a:latin typeface="Arial"/>
                          <a:cs typeface="Arial"/>
                        </a:rPr>
                        <a:t>Product_ID</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313810">
                <a:tc>
                  <a:txBody>
                    <a:bodyPr/>
                    <a:lstStyle/>
                    <a:p>
                      <a:pPr algn="ctr">
                        <a:lnSpc>
                          <a:spcPct val="100000"/>
                        </a:lnSpc>
                        <a:spcBef>
                          <a:spcPts val="229"/>
                        </a:spcBef>
                      </a:pPr>
                      <a:r>
                        <a:rPr sz="1400" spc="-50" dirty="0">
                          <a:latin typeface="Arial MT"/>
                          <a:cs typeface="Arial MT"/>
                        </a:rPr>
                        <a:t>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20" dirty="0">
                          <a:latin typeface="Arial MT"/>
                          <a:cs typeface="Arial MT"/>
                        </a:rPr>
                        <a:t>P001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313810">
                <a:tc>
                  <a:txBody>
                    <a:bodyPr/>
                    <a:lstStyle/>
                    <a:p>
                      <a:pPr algn="ctr">
                        <a:lnSpc>
                          <a:spcPct val="100000"/>
                        </a:lnSpc>
                        <a:spcBef>
                          <a:spcPts val="229"/>
                        </a:spcBef>
                      </a:pPr>
                      <a:r>
                        <a:rPr sz="1400" spc="-50" dirty="0">
                          <a:latin typeface="Arial MT"/>
                          <a:cs typeface="Arial MT"/>
                        </a:rPr>
                        <a:t>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20" dirty="0">
                          <a:latin typeface="Arial MT"/>
                          <a:cs typeface="Arial MT"/>
                        </a:rPr>
                        <a:t>P002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313810">
                <a:tc>
                  <a:txBody>
                    <a:bodyPr/>
                    <a:lstStyle/>
                    <a:p>
                      <a:pPr algn="ctr">
                        <a:lnSpc>
                          <a:spcPct val="10000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20" dirty="0">
                          <a:latin typeface="Arial MT"/>
                          <a:cs typeface="Arial MT"/>
                        </a:rPr>
                        <a:t>P003</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pic>
        <p:nvPicPr>
          <p:cNvPr id="6" name="object 6"/>
          <p:cNvPicPr/>
          <p:nvPr/>
        </p:nvPicPr>
        <p:blipFill>
          <a:blip r:embed="rId2" cstate="print"/>
          <a:stretch>
            <a:fillRect/>
          </a:stretch>
        </p:blipFill>
        <p:spPr>
          <a:xfrm>
            <a:off x="6643623" y="807814"/>
            <a:ext cx="4927600" cy="1425354"/>
          </a:xfrm>
          <a:prstGeom prst="rect">
            <a:avLst/>
          </a:prstGeom>
        </p:spPr>
      </p:pic>
      <p:sp>
        <p:nvSpPr>
          <p:cNvPr id="7" name="object 7"/>
          <p:cNvSpPr txBox="1"/>
          <p:nvPr/>
        </p:nvSpPr>
        <p:spPr>
          <a:xfrm>
            <a:off x="6618223" y="2529839"/>
            <a:ext cx="4978400" cy="1906505"/>
          </a:xfrm>
          <a:prstGeom prst="rect">
            <a:avLst/>
          </a:prstGeom>
          <a:solidFill>
            <a:srgbClr val="EDEDED"/>
          </a:solidFill>
        </p:spPr>
        <p:txBody>
          <a:bodyPr vert="horz" wrap="square" lIns="0" tIns="181187" rIns="0" bIns="0" rtlCol="0">
            <a:spAutoFit/>
          </a:bodyPr>
          <a:lstStyle/>
          <a:p>
            <a:pPr>
              <a:spcBef>
                <a:spcPts val="1427"/>
              </a:spcBef>
            </a:pPr>
            <a:endParaRPr sz="1600">
              <a:latin typeface="Times New Roman"/>
              <a:cs typeface="Times New Roman"/>
            </a:endParaRPr>
          </a:p>
          <a:p>
            <a:pPr marL="491901"/>
            <a:r>
              <a:rPr sz="1600" spc="-13" dirty="0">
                <a:latin typeface="Courier New"/>
                <a:cs typeface="Courier New"/>
              </a:rPr>
              <a:t>SELECT</a:t>
            </a:r>
            <a:endParaRPr sz="1600">
              <a:latin typeface="Courier New"/>
              <a:cs typeface="Courier New"/>
            </a:endParaRPr>
          </a:p>
          <a:p>
            <a:pPr marL="1220016"/>
            <a:r>
              <a:rPr sz="1600" i="1" spc="-27" dirty="0">
                <a:solidFill>
                  <a:srgbClr val="009999"/>
                </a:solidFill>
                <a:latin typeface="Courier New"/>
                <a:cs typeface="Courier New"/>
              </a:rPr>
              <a:t>S.*,</a:t>
            </a:r>
            <a:endParaRPr sz="1600">
              <a:latin typeface="Courier New"/>
              <a:cs typeface="Courier New"/>
            </a:endParaRPr>
          </a:p>
          <a:p>
            <a:pPr marL="1220016"/>
            <a:r>
              <a:rPr sz="1600" i="1" spc="-13" dirty="0">
                <a:solidFill>
                  <a:srgbClr val="009999"/>
                </a:solidFill>
                <a:latin typeface="Courier New"/>
                <a:cs typeface="Courier New"/>
              </a:rPr>
              <a:t>P.Product_PK</a:t>
            </a:r>
            <a:endParaRPr sz="1600">
              <a:latin typeface="Courier New"/>
              <a:cs typeface="Courier New"/>
            </a:endParaRPr>
          </a:p>
          <a:p>
            <a:pPr marL="491901"/>
            <a:r>
              <a:rPr sz="1600" dirty="0">
                <a:latin typeface="Courier New"/>
                <a:cs typeface="Courier New"/>
              </a:rPr>
              <a:t>FROM</a:t>
            </a:r>
            <a:r>
              <a:rPr sz="1600" spc="-80" dirty="0">
                <a:latin typeface="Courier New"/>
                <a:cs typeface="Courier New"/>
              </a:rPr>
              <a:t> </a:t>
            </a:r>
            <a:r>
              <a:rPr sz="1600" dirty="0">
                <a:latin typeface="Courier New"/>
                <a:cs typeface="Courier New"/>
              </a:rPr>
              <a:t>Sales_Fact</a:t>
            </a:r>
            <a:r>
              <a:rPr sz="1600" spc="-53" dirty="0">
                <a:latin typeface="Courier New"/>
                <a:cs typeface="Courier New"/>
              </a:rPr>
              <a:t> </a:t>
            </a:r>
            <a:r>
              <a:rPr sz="1600" spc="-67" dirty="0">
                <a:latin typeface="Courier New"/>
                <a:cs typeface="Courier New"/>
              </a:rPr>
              <a:t>S</a:t>
            </a:r>
            <a:endParaRPr sz="1600">
              <a:latin typeface="Courier New"/>
              <a:cs typeface="Courier New"/>
            </a:endParaRPr>
          </a:p>
          <a:p>
            <a:pPr marL="491901"/>
            <a:r>
              <a:rPr sz="1600" dirty="0">
                <a:latin typeface="Courier New"/>
                <a:cs typeface="Courier New"/>
              </a:rPr>
              <a:t>LEFT</a:t>
            </a:r>
            <a:r>
              <a:rPr sz="1600" spc="-53" dirty="0">
                <a:latin typeface="Courier New"/>
                <a:cs typeface="Courier New"/>
              </a:rPr>
              <a:t> </a:t>
            </a:r>
            <a:r>
              <a:rPr sz="1600" dirty="0">
                <a:latin typeface="Courier New"/>
                <a:cs typeface="Courier New"/>
              </a:rPr>
              <a:t>JOIN</a:t>
            </a:r>
            <a:r>
              <a:rPr sz="1600" spc="-53" dirty="0">
                <a:latin typeface="Courier New"/>
                <a:cs typeface="Courier New"/>
              </a:rPr>
              <a:t> </a:t>
            </a:r>
            <a:r>
              <a:rPr sz="1600" dirty="0">
                <a:latin typeface="Courier New"/>
                <a:cs typeface="Courier New"/>
              </a:rPr>
              <a:t>Product_Dim</a:t>
            </a:r>
            <a:r>
              <a:rPr sz="1600" spc="-7" dirty="0">
                <a:latin typeface="Courier New"/>
                <a:cs typeface="Courier New"/>
              </a:rPr>
              <a:t> </a:t>
            </a:r>
            <a:r>
              <a:rPr sz="1600" dirty="0">
                <a:latin typeface="Courier New"/>
                <a:cs typeface="Courier New"/>
              </a:rPr>
              <a:t>as</a:t>
            </a:r>
            <a:r>
              <a:rPr sz="1600" spc="-67" dirty="0">
                <a:latin typeface="Courier New"/>
                <a:cs typeface="Courier New"/>
              </a:rPr>
              <a:t> P</a:t>
            </a:r>
            <a:endParaRPr sz="1600">
              <a:latin typeface="Courier New"/>
              <a:cs typeface="Courier New"/>
            </a:endParaRPr>
          </a:p>
          <a:p>
            <a:pPr marL="491901"/>
            <a:r>
              <a:rPr sz="1600" dirty="0">
                <a:latin typeface="Courier New"/>
                <a:cs typeface="Courier New"/>
              </a:rPr>
              <a:t>ON</a:t>
            </a:r>
            <a:r>
              <a:rPr sz="1600" spc="-67" dirty="0">
                <a:latin typeface="Courier New"/>
                <a:cs typeface="Courier New"/>
              </a:rPr>
              <a:t> </a:t>
            </a:r>
            <a:r>
              <a:rPr sz="1600" i="1" dirty="0">
                <a:solidFill>
                  <a:srgbClr val="009999"/>
                </a:solidFill>
                <a:latin typeface="Courier New"/>
                <a:cs typeface="Courier New"/>
              </a:rPr>
              <a:t>P.Product_ID =</a:t>
            </a:r>
            <a:r>
              <a:rPr sz="1600" i="1" spc="-60" dirty="0">
                <a:solidFill>
                  <a:srgbClr val="009999"/>
                </a:solidFill>
                <a:latin typeface="Courier New"/>
                <a:cs typeface="Courier New"/>
              </a:rPr>
              <a:t> </a:t>
            </a:r>
            <a:r>
              <a:rPr sz="1600" i="1" spc="-13" dirty="0">
                <a:solidFill>
                  <a:srgbClr val="009999"/>
                </a:solidFill>
                <a:latin typeface="Courier New"/>
                <a:cs typeface="Courier New"/>
              </a:rPr>
              <a:t>S.Order_line_ID</a:t>
            </a:r>
            <a:endParaRPr sz="1600">
              <a:latin typeface="Courier New"/>
              <a:cs typeface="Courier New"/>
            </a:endParaRPr>
          </a:p>
        </p:txBody>
      </p:sp>
      <p:pic>
        <p:nvPicPr>
          <p:cNvPr id="8" name="object 8"/>
          <p:cNvPicPr/>
          <p:nvPr/>
        </p:nvPicPr>
        <p:blipFill>
          <a:blip r:embed="rId3" cstate="print"/>
          <a:stretch>
            <a:fillRect/>
          </a:stretch>
        </p:blipFill>
        <p:spPr>
          <a:xfrm>
            <a:off x="5297557" y="5313678"/>
            <a:ext cx="6750170" cy="1431569"/>
          </a:xfrm>
          <a:prstGeom prst="rect">
            <a:avLst/>
          </a:prstGeom>
        </p:spPr>
      </p:pic>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27200" y="250850"/>
            <a:ext cx="9042400" cy="695062"/>
          </a:xfrm>
          <a:prstGeom prst="rect">
            <a:avLst/>
          </a:prstGeom>
        </p:spPr>
        <p:txBody>
          <a:bodyPr vert="horz" wrap="square" lIns="0" tIns="17780" rIns="0" bIns="0" rtlCol="0" anchor="ctr">
            <a:spAutoFit/>
          </a:bodyPr>
          <a:lstStyle/>
          <a:p>
            <a:pPr marL="1690751">
              <a:lnSpc>
                <a:spcPct val="100000"/>
              </a:lnSpc>
              <a:spcBef>
                <a:spcPts val="140"/>
              </a:spcBef>
            </a:pPr>
            <a:r>
              <a:rPr dirty="0">
                <a:solidFill>
                  <a:schemeClr val="bg1"/>
                </a:solidFill>
                <a:latin typeface="+mn-lt"/>
              </a:rPr>
              <a:t>Dimensions</a:t>
            </a:r>
            <a:r>
              <a:rPr spc="-147" dirty="0">
                <a:solidFill>
                  <a:schemeClr val="bg1"/>
                </a:solidFill>
                <a:latin typeface="+mn-lt"/>
              </a:rPr>
              <a:t> </a:t>
            </a:r>
            <a:r>
              <a:rPr spc="-13" dirty="0">
                <a:solidFill>
                  <a:schemeClr val="bg1"/>
                </a:solidFill>
                <a:latin typeface="+mn-lt"/>
              </a:rPr>
              <a:t>tables</a:t>
            </a:r>
          </a:p>
        </p:txBody>
      </p:sp>
      <p:sp>
        <p:nvSpPr>
          <p:cNvPr id="3" name="object 3"/>
          <p:cNvSpPr txBox="1"/>
          <p:nvPr/>
        </p:nvSpPr>
        <p:spPr>
          <a:xfrm>
            <a:off x="3242057" y="1807396"/>
            <a:ext cx="4229100" cy="386430"/>
          </a:xfrm>
          <a:prstGeom prst="rect">
            <a:avLst/>
          </a:prstGeom>
        </p:spPr>
        <p:txBody>
          <a:bodyPr vert="horz" wrap="square" lIns="0" tIns="16933" rIns="0" bIns="0" rtlCol="0">
            <a:spAutoFit/>
          </a:bodyPr>
          <a:lstStyle/>
          <a:p>
            <a:pPr marL="398770" indent="-381837">
              <a:spcBef>
                <a:spcPts val="133"/>
              </a:spcBef>
              <a:buClr>
                <a:srgbClr val="99D3FF"/>
              </a:buClr>
              <a:buFont typeface="Wingdings"/>
              <a:buChar char=""/>
              <a:tabLst>
                <a:tab pos="398770" algn="l"/>
              </a:tabLst>
            </a:pPr>
            <a:r>
              <a:rPr sz="2400" b="1" dirty="0">
                <a:solidFill>
                  <a:srgbClr val="D9D9D9"/>
                </a:solidFill>
                <a:latin typeface="Calibri"/>
                <a:cs typeface="Calibri"/>
              </a:rPr>
              <a:t>Always</a:t>
            </a:r>
            <a:r>
              <a:rPr sz="2400" b="1" spc="-40" dirty="0">
                <a:solidFill>
                  <a:srgbClr val="D9D9D9"/>
                </a:solidFill>
                <a:latin typeface="Calibri"/>
                <a:cs typeface="Calibri"/>
              </a:rPr>
              <a:t> </a:t>
            </a:r>
            <a:r>
              <a:rPr sz="2400" b="1" dirty="0">
                <a:solidFill>
                  <a:srgbClr val="D9D9D9"/>
                </a:solidFill>
                <a:latin typeface="Calibri"/>
                <a:cs typeface="Calibri"/>
              </a:rPr>
              <a:t>has</a:t>
            </a:r>
            <a:r>
              <a:rPr sz="2400" b="1" spc="-13" dirty="0">
                <a:solidFill>
                  <a:srgbClr val="D9D9D9"/>
                </a:solidFill>
                <a:latin typeface="Calibri"/>
                <a:cs typeface="Calibri"/>
              </a:rPr>
              <a:t> </a:t>
            </a:r>
            <a:r>
              <a:rPr sz="2400" b="1" dirty="0">
                <a:solidFill>
                  <a:srgbClr val="D9D9D9"/>
                </a:solidFill>
                <a:latin typeface="Calibri"/>
                <a:cs typeface="Calibri"/>
              </a:rPr>
              <a:t>a</a:t>
            </a:r>
            <a:r>
              <a:rPr sz="2400" b="1" spc="-7" dirty="0">
                <a:solidFill>
                  <a:srgbClr val="D9D9D9"/>
                </a:solidFill>
                <a:latin typeface="Calibri"/>
                <a:cs typeface="Calibri"/>
              </a:rPr>
              <a:t> </a:t>
            </a:r>
            <a:r>
              <a:rPr sz="2400" b="1" dirty="0">
                <a:solidFill>
                  <a:srgbClr val="D9D9D9"/>
                </a:solidFill>
                <a:latin typeface="Calibri"/>
                <a:cs typeface="Calibri"/>
              </a:rPr>
              <a:t>Primary</a:t>
            </a:r>
            <a:r>
              <a:rPr sz="2400" b="1" spc="-7" dirty="0">
                <a:solidFill>
                  <a:srgbClr val="D9D9D9"/>
                </a:solidFill>
                <a:latin typeface="Calibri"/>
                <a:cs typeface="Calibri"/>
              </a:rPr>
              <a:t> </a:t>
            </a:r>
            <a:r>
              <a:rPr sz="2400" b="1" dirty="0">
                <a:solidFill>
                  <a:srgbClr val="D9D9D9"/>
                </a:solidFill>
                <a:latin typeface="Calibri"/>
                <a:cs typeface="Calibri"/>
              </a:rPr>
              <a:t>Key </a:t>
            </a:r>
            <a:r>
              <a:rPr sz="2400" b="1" spc="-27" dirty="0">
                <a:solidFill>
                  <a:srgbClr val="D9D9D9"/>
                </a:solidFill>
                <a:latin typeface="Calibri"/>
                <a:cs typeface="Calibri"/>
              </a:rPr>
              <a:t>(PK)</a:t>
            </a:r>
            <a:endParaRPr sz="2400">
              <a:latin typeface="Calibri"/>
              <a:cs typeface="Calibri"/>
            </a:endParaRPr>
          </a:p>
        </p:txBody>
      </p:sp>
      <p:grpSp>
        <p:nvGrpSpPr>
          <p:cNvPr id="4" name="object 4"/>
          <p:cNvGrpSpPr/>
          <p:nvPr/>
        </p:nvGrpSpPr>
        <p:grpSpPr>
          <a:xfrm>
            <a:off x="4563533" y="2430949"/>
            <a:ext cx="2345267" cy="1004993"/>
            <a:chOff x="3422650" y="1823211"/>
            <a:chExt cx="1758950" cy="753745"/>
          </a:xfrm>
        </p:grpSpPr>
        <p:sp>
          <p:nvSpPr>
            <p:cNvPr id="5" name="object 5"/>
            <p:cNvSpPr/>
            <p:nvPr/>
          </p:nvSpPr>
          <p:spPr>
            <a:xfrm>
              <a:off x="3429000" y="2189606"/>
              <a:ext cx="1752600" cy="381000"/>
            </a:xfrm>
            <a:custGeom>
              <a:avLst/>
              <a:gdLst/>
              <a:ahLst/>
              <a:cxnLst/>
              <a:rect l="l" t="t" r="r" b="b"/>
              <a:pathLst>
                <a:path w="1752600" h="381000">
                  <a:moveTo>
                    <a:pt x="1752600" y="0"/>
                  </a:moveTo>
                  <a:lnTo>
                    <a:pt x="0" y="0"/>
                  </a:lnTo>
                  <a:lnTo>
                    <a:pt x="0" y="190500"/>
                  </a:lnTo>
                  <a:lnTo>
                    <a:pt x="0" y="381000"/>
                  </a:lnTo>
                  <a:lnTo>
                    <a:pt x="1752600" y="381000"/>
                  </a:lnTo>
                  <a:lnTo>
                    <a:pt x="1752600" y="190500"/>
                  </a:lnTo>
                  <a:lnTo>
                    <a:pt x="1752600" y="0"/>
                  </a:lnTo>
                  <a:close/>
                </a:path>
              </a:pathLst>
            </a:custGeom>
            <a:solidFill>
              <a:srgbClr val="E7E7E7"/>
            </a:solidFill>
          </p:spPr>
          <p:txBody>
            <a:bodyPr wrap="square" lIns="0" tIns="0" rIns="0" bIns="0" rtlCol="0"/>
            <a:lstStyle/>
            <a:p>
              <a:endParaRPr sz="2400"/>
            </a:p>
          </p:txBody>
        </p:sp>
        <p:sp>
          <p:nvSpPr>
            <p:cNvPr id="6" name="object 6"/>
            <p:cNvSpPr/>
            <p:nvPr/>
          </p:nvSpPr>
          <p:spPr>
            <a:xfrm>
              <a:off x="3429000" y="1823211"/>
              <a:ext cx="0" cy="753745"/>
            </a:xfrm>
            <a:custGeom>
              <a:avLst/>
              <a:gdLst/>
              <a:ahLst/>
              <a:cxnLst/>
              <a:rect l="l" t="t" r="r" b="b"/>
              <a:pathLst>
                <a:path h="753744">
                  <a:moveTo>
                    <a:pt x="0" y="0"/>
                  </a:moveTo>
                  <a:lnTo>
                    <a:pt x="0" y="753744"/>
                  </a:lnTo>
                </a:path>
              </a:pathLst>
            </a:custGeom>
            <a:ln w="12700">
              <a:solidFill>
                <a:srgbClr val="000000"/>
              </a:solidFill>
            </a:ln>
          </p:spPr>
          <p:txBody>
            <a:bodyPr wrap="square" lIns="0" tIns="0" rIns="0" bIns="0" rtlCol="0"/>
            <a:lstStyle/>
            <a:p>
              <a:endParaRPr sz="2400"/>
            </a:p>
          </p:txBody>
        </p:sp>
      </p:grpSp>
      <p:graphicFrame>
        <p:nvGraphicFramePr>
          <p:cNvPr id="7" name="object 7"/>
          <p:cNvGraphicFramePr>
            <a:graphicFrameLocks noGrp="1"/>
          </p:cNvGraphicFramePr>
          <p:nvPr>
            <p:extLst>
              <p:ext uri="{D42A27DB-BD31-4B8C-83A1-F6EECF244321}">
                <p14:modId xmlns:p14="http://schemas.microsoft.com/office/powerpoint/2010/main" val="2190043562"/>
              </p:ext>
            </p:extLst>
          </p:nvPr>
        </p:nvGraphicFramePr>
        <p:xfrm>
          <a:off x="3242734" y="2430948"/>
          <a:ext cx="5283200" cy="987213"/>
        </p:xfrm>
        <a:graphic>
          <a:graphicData uri="http://schemas.openxmlformats.org/drawingml/2006/table">
            <a:tbl>
              <a:tblPr firstRow="1" bandRow="1">
                <a:tableStyleId>{2D5ABB26-0587-4C30-8999-92F81FD0307C}</a:tableStyleId>
              </a:tblPr>
              <a:tblGrid>
                <a:gridCol w="1320800">
                  <a:extLst>
                    <a:ext uri="{9D8B030D-6E8A-4147-A177-3AD203B41FA5}">
                      <a16:colId xmlns:a16="http://schemas.microsoft.com/office/drawing/2014/main" val="20000"/>
                    </a:ext>
                  </a:extLst>
                </a:gridCol>
                <a:gridCol w="23368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tblGrid>
              <a:tr h="225213">
                <a:tc>
                  <a:txBody>
                    <a:bodyPr/>
                    <a:lstStyle/>
                    <a:p>
                      <a:pPr marL="1270" algn="ctr">
                        <a:lnSpc>
                          <a:spcPts val="1175"/>
                        </a:lnSpc>
                        <a:spcBef>
                          <a:spcPts val="60"/>
                        </a:spcBef>
                      </a:pPr>
                      <a:r>
                        <a:rPr sz="1400" b="1" spc="-10" dirty="0">
                          <a:solidFill>
                            <a:schemeClr val="bg1"/>
                          </a:solidFill>
                          <a:latin typeface="Arial"/>
                          <a:cs typeface="Arial"/>
                        </a:rPr>
                        <a:t>Product_PK</a:t>
                      </a:r>
                      <a:endParaRPr sz="1400" dirty="0">
                        <a:solidFill>
                          <a:schemeClr val="bg1"/>
                        </a:solidFill>
                        <a:latin typeface="Arial"/>
                        <a:cs typeface="Arial"/>
                      </a:endParaRPr>
                    </a:p>
                  </a:txBody>
                  <a:tcPr marL="0" marR="0" marT="10160" marB="0">
                    <a:lnL w="12700">
                      <a:solidFill>
                        <a:srgbClr val="000000"/>
                      </a:solidFill>
                      <a:prstDash val="solid"/>
                    </a:lnL>
                    <a:lnT w="12700">
                      <a:solidFill>
                        <a:srgbClr val="000000"/>
                      </a:solidFill>
                      <a:prstDash val="solid"/>
                    </a:lnT>
                    <a:lnB w="12700">
                      <a:solidFill>
                        <a:srgbClr val="000000"/>
                      </a:solidFill>
                      <a:prstDash val="solid"/>
                    </a:lnB>
                    <a:solidFill>
                      <a:srgbClr val="00497E"/>
                    </a:solidFill>
                  </a:tcPr>
                </a:tc>
                <a:tc>
                  <a:txBody>
                    <a:bodyPr/>
                    <a:lstStyle/>
                    <a:p>
                      <a:pPr marL="2540" algn="ctr">
                        <a:lnSpc>
                          <a:spcPts val="1175"/>
                        </a:lnSpc>
                        <a:spcBef>
                          <a:spcPts val="60"/>
                        </a:spcBef>
                      </a:pPr>
                      <a:r>
                        <a:rPr sz="1400" b="1" spc="-20" dirty="0">
                          <a:solidFill>
                            <a:schemeClr val="bg1"/>
                          </a:solidFill>
                          <a:latin typeface="Arial"/>
                          <a:cs typeface="Arial"/>
                        </a:rPr>
                        <a:t>Name</a:t>
                      </a:r>
                      <a:endParaRPr sz="1400" dirty="0">
                        <a:solidFill>
                          <a:schemeClr val="bg1"/>
                        </a:solidFill>
                        <a:latin typeface="Arial"/>
                        <a:cs typeface="Arial"/>
                      </a:endParaRPr>
                    </a:p>
                  </a:txBody>
                  <a:tcPr marL="0" marR="0" marT="10160" marB="0">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5080" algn="ctr">
                        <a:lnSpc>
                          <a:spcPts val="1175"/>
                        </a:lnSpc>
                        <a:spcBef>
                          <a:spcPts val="60"/>
                        </a:spcBef>
                      </a:pPr>
                      <a:r>
                        <a:rPr sz="1400" b="1" spc="-10" dirty="0">
                          <a:solidFill>
                            <a:schemeClr val="bg1"/>
                          </a:solidFill>
                          <a:latin typeface="Arial"/>
                          <a:cs typeface="Arial"/>
                        </a:rPr>
                        <a:t>Category</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algn="ctr">
                        <a:lnSpc>
                          <a:spcPts val="1175"/>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T w="12700">
                      <a:solidFill>
                        <a:srgbClr val="000000"/>
                      </a:solidFill>
                      <a:prstDash val="solid"/>
                    </a:lnT>
                    <a:lnB w="12700">
                      <a:solidFill>
                        <a:srgbClr val="000000"/>
                      </a:solidFill>
                      <a:prstDash val="solid"/>
                    </a:lnB>
                    <a:solidFill>
                      <a:srgbClr val="E7E7E7"/>
                    </a:solidFill>
                  </a:tcPr>
                </a:tc>
                <a:tc>
                  <a:txBody>
                    <a:bodyPr/>
                    <a:lstStyle/>
                    <a:p>
                      <a:pPr marL="1905" algn="ctr">
                        <a:lnSpc>
                          <a:spcPts val="1175"/>
                        </a:lnSpc>
                        <a:spcBef>
                          <a:spcPts val="225"/>
                        </a:spcBef>
                      </a:pPr>
                      <a:r>
                        <a:rPr sz="1400" dirty="0">
                          <a:latin typeface="Arial MT"/>
                          <a:cs typeface="Arial MT"/>
                        </a:rPr>
                        <a:t>Sunglases</a:t>
                      </a:r>
                      <a:r>
                        <a:rPr sz="1400" spc="-55" dirty="0">
                          <a:latin typeface="Arial MT"/>
                          <a:cs typeface="Arial MT"/>
                        </a:rPr>
                        <a:t> </a:t>
                      </a:r>
                      <a:r>
                        <a:rPr sz="1400" dirty="0">
                          <a:latin typeface="Arial MT"/>
                          <a:cs typeface="Arial MT"/>
                        </a:rPr>
                        <a:t>TR-</a:t>
                      </a:r>
                      <a:r>
                        <a:rPr sz="1400" spc="-50" dirty="0">
                          <a:latin typeface="Arial MT"/>
                          <a:cs typeface="Arial MT"/>
                        </a:rPr>
                        <a:t>7</a:t>
                      </a:r>
                      <a:endParaRPr sz="1400">
                        <a:latin typeface="Arial MT"/>
                        <a:cs typeface="Arial MT"/>
                      </a:endParaRPr>
                    </a:p>
                  </a:txBody>
                  <a:tcPr marL="0" marR="0" marT="38100" marB="0">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ts val="1175"/>
                        </a:lnSpc>
                        <a:spcBef>
                          <a:spcPts val="225"/>
                        </a:spcBef>
                      </a:pPr>
                      <a:r>
                        <a:rPr sz="1400" spc="-10" dirty="0">
                          <a:latin typeface="Arial MT"/>
                          <a:cs typeface="Arial MT"/>
                        </a:rPr>
                        <a:t>Assecoirs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ts val="1175"/>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5"/>
                        </a:lnSpc>
                        <a:spcBef>
                          <a:spcPts val="225"/>
                        </a:spcBef>
                      </a:pPr>
                      <a:r>
                        <a:rPr sz="1400" spc="-10" dirty="0">
                          <a:latin typeface="Arial MT"/>
                          <a:cs typeface="Arial MT"/>
                        </a:rPr>
                        <a:t>Chocolate </a:t>
                      </a:r>
                      <a:r>
                        <a:rPr sz="1400" dirty="0">
                          <a:latin typeface="Arial MT"/>
                          <a:cs typeface="Arial MT"/>
                        </a:rPr>
                        <a:t>bar 70%</a:t>
                      </a:r>
                      <a:r>
                        <a:rPr sz="1400" spc="5" dirty="0">
                          <a:latin typeface="Arial MT"/>
                          <a:cs typeface="Arial MT"/>
                        </a:rPr>
                        <a:t> </a:t>
                      </a:r>
                      <a:r>
                        <a:rPr sz="1400" spc="-10" dirty="0">
                          <a:latin typeface="Arial MT"/>
                          <a:cs typeface="Arial MT"/>
                        </a:rPr>
                        <a:t>cacao</a:t>
                      </a:r>
                      <a:endParaRPr sz="1400" dirty="0">
                        <a:latin typeface="Arial MT"/>
                        <a:cs typeface="Arial MT"/>
                      </a:endParaRPr>
                    </a:p>
                  </a:txBody>
                  <a:tcPr marL="0" marR="0" marT="3810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ts val="1175"/>
                        </a:lnSpc>
                        <a:spcBef>
                          <a:spcPts val="225"/>
                        </a:spcBef>
                      </a:pPr>
                      <a:r>
                        <a:rPr sz="1400" spc="-10" dirty="0">
                          <a:latin typeface="Arial MT"/>
                          <a:cs typeface="Arial MT"/>
                        </a:rPr>
                        <a:t>Sweets</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ts val="1175"/>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T w="12700">
                      <a:solidFill>
                        <a:srgbClr val="000000"/>
                      </a:solidFill>
                      <a:prstDash val="solid"/>
                    </a:lnT>
                    <a:lnB w="12700">
                      <a:solidFill>
                        <a:srgbClr val="000000"/>
                      </a:solidFill>
                      <a:prstDash val="solid"/>
                    </a:lnB>
                    <a:solidFill>
                      <a:srgbClr val="E7E7E7"/>
                    </a:solidFill>
                  </a:tcPr>
                </a:tc>
                <a:tc>
                  <a:txBody>
                    <a:bodyPr/>
                    <a:lstStyle/>
                    <a:p>
                      <a:pPr algn="ctr">
                        <a:lnSpc>
                          <a:spcPts val="1175"/>
                        </a:lnSpc>
                        <a:spcBef>
                          <a:spcPts val="225"/>
                        </a:spcBef>
                      </a:pPr>
                      <a:r>
                        <a:rPr sz="1400" dirty="0">
                          <a:latin typeface="Arial MT"/>
                          <a:cs typeface="Arial MT"/>
                        </a:rPr>
                        <a:t>Oat</a:t>
                      </a:r>
                      <a:r>
                        <a:rPr sz="1400" spc="-25" dirty="0">
                          <a:latin typeface="Arial MT"/>
                          <a:cs typeface="Arial MT"/>
                        </a:rPr>
                        <a:t> </a:t>
                      </a:r>
                      <a:r>
                        <a:rPr sz="1400" dirty="0">
                          <a:latin typeface="Arial MT"/>
                          <a:cs typeface="Arial MT"/>
                        </a:rPr>
                        <a:t>meal</a:t>
                      </a:r>
                      <a:r>
                        <a:rPr sz="1400" spc="-35" dirty="0">
                          <a:latin typeface="Arial MT"/>
                          <a:cs typeface="Arial MT"/>
                        </a:rPr>
                        <a:t> </a:t>
                      </a:r>
                      <a:r>
                        <a:rPr sz="1400" spc="-10" dirty="0">
                          <a:latin typeface="Arial MT"/>
                          <a:cs typeface="Arial MT"/>
                        </a:rPr>
                        <a:t>biscuits</a:t>
                      </a:r>
                      <a:endParaRPr sz="1400" dirty="0">
                        <a:latin typeface="Arial MT"/>
                        <a:cs typeface="Arial MT"/>
                      </a:endParaRPr>
                    </a:p>
                  </a:txBody>
                  <a:tcPr marL="0" marR="0" marT="3810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ts val="1175"/>
                        </a:lnSpc>
                        <a:spcBef>
                          <a:spcPts val="225"/>
                        </a:spcBef>
                      </a:pPr>
                      <a:r>
                        <a:rPr sz="1400" spc="-10" dirty="0">
                          <a:latin typeface="Arial MT"/>
                          <a:cs typeface="Arial MT"/>
                        </a:rPr>
                        <a:t>Sweets</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pic>
        <p:nvPicPr>
          <p:cNvPr id="8" name="object 8"/>
          <p:cNvPicPr/>
          <p:nvPr/>
        </p:nvPicPr>
        <p:blipFill>
          <a:blip r:embed="rId2" cstate="print"/>
          <a:stretch>
            <a:fillRect/>
          </a:stretch>
        </p:blipFill>
        <p:spPr>
          <a:xfrm>
            <a:off x="1727200" y="3610864"/>
            <a:ext cx="8111744" cy="989584"/>
          </a:xfrm>
          <a:prstGeom prst="rect">
            <a:avLst/>
          </a:prstGeom>
        </p:spPr>
      </p:pic>
      <p:sp>
        <p:nvSpPr>
          <p:cNvPr id="9" name="object 9"/>
          <p:cNvSpPr/>
          <p:nvPr/>
        </p:nvSpPr>
        <p:spPr>
          <a:xfrm>
            <a:off x="4064000" y="2715598"/>
            <a:ext cx="2743200" cy="1370753"/>
          </a:xfrm>
          <a:custGeom>
            <a:avLst/>
            <a:gdLst/>
            <a:ahLst/>
            <a:cxnLst/>
            <a:rect l="l" t="t" r="r" b="b"/>
            <a:pathLst>
              <a:path w="2057400" h="1028064">
                <a:moveTo>
                  <a:pt x="1887601" y="854075"/>
                </a:moveTo>
                <a:lnTo>
                  <a:pt x="1885042" y="908684"/>
                </a:lnTo>
                <a:lnTo>
                  <a:pt x="1884959" y="910463"/>
                </a:lnTo>
                <a:lnTo>
                  <a:pt x="1884912" y="911462"/>
                </a:lnTo>
                <a:lnTo>
                  <a:pt x="1914271" y="913257"/>
                </a:lnTo>
                <a:lnTo>
                  <a:pt x="1910902" y="967994"/>
                </a:lnTo>
                <a:lnTo>
                  <a:pt x="1910825" y="969250"/>
                </a:lnTo>
                <a:lnTo>
                  <a:pt x="1910714" y="971042"/>
                </a:lnTo>
                <a:lnTo>
                  <a:pt x="1882120" y="971042"/>
                </a:lnTo>
                <a:lnTo>
                  <a:pt x="1879473" y="1027557"/>
                </a:lnTo>
                <a:lnTo>
                  <a:pt x="2007202" y="971042"/>
                </a:lnTo>
                <a:lnTo>
                  <a:pt x="1910714" y="971042"/>
                </a:lnTo>
                <a:lnTo>
                  <a:pt x="1882204" y="969250"/>
                </a:lnTo>
                <a:lnTo>
                  <a:pt x="2011250" y="969250"/>
                </a:lnTo>
                <a:lnTo>
                  <a:pt x="2057146" y="948944"/>
                </a:lnTo>
                <a:lnTo>
                  <a:pt x="1887601" y="854075"/>
                </a:lnTo>
                <a:close/>
              </a:path>
              <a:path w="2057400" h="1028064">
                <a:moveTo>
                  <a:pt x="1884912" y="911462"/>
                </a:moveTo>
                <a:lnTo>
                  <a:pt x="1882263" y="967994"/>
                </a:lnTo>
                <a:lnTo>
                  <a:pt x="1882204" y="969250"/>
                </a:lnTo>
                <a:lnTo>
                  <a:pt x="1910714" y="971042"/>
                </a:lnTo>
                <a:lnTo>
                  <a:pt x="1914271" y="913257"/>
                </a:lnTo>
                <a:lnTo>
                  <a:pt x="1884912" y="911462"/>
                </a:lnTo>
                <a:close/>
              </a:path>
              <a:path w="2057400" h="1028064">
                <a:moveTo>
                  <a:pt x="174898" y="58351"/>
                </a:moveTo>
                <a:lnTo>
                  <a:pt x="172238" y="114300"/>
                </a:lnTo>
                <a:lnTo>
                  <a:pt x="172147" y="116196"/>
                </a:lnTo>
                <a:lnTo>
                  <a:pt x="189992" y="117348"/>
                </a:lnTo>
                <a:lnTo>
                  <a:pt x="235965" y="122555"/>
                </a:lnTo>
                <a:lnTo>
                  <a:pt x="282066" y="128777"/>
                </a:lnTo>
                <a:lnTo>
                  <a:pt x="327533" y="136144"/>
                </a:lnTo>
                <a:lnTo>
                  <a:pt x="372490" y="144525"/>
                </a:lnTo>
                <a:lnTo>
                  <a:pt x="416560" y="153669"/>
                </a:lnTo>
                <a:lnTo>
                  <a:pt x="459866" y="163956"/>
                </a:lnTo>
                <a:lnTo>
                  <a:pt x="502158" y="174878"/>
                </a:lnTo>
                <a:lnTo>
                  <a:pt x="543560" y="186689"/>
                </a:lnTo>
                <a:lnTo>
                  <a:pt x="583691" y="199389"/>
                </a:lnTo>
                <a:lnTo>
                  <a:pt x="622553" y="212725"/>
                </a:lnTo>
                <a:lnTo>
                  <a:pt x="660273" y="226821"/>
                </a:lnTo>
                <a:lnTo>
                  <a:pt x="696340" y="241426"/>
                </a:lnTo>
                <a:lnTo>
                  <a:pt x="763904" y="272542"/>
                </a:lnTo>
                <a:lnTo>
                  <a:pt x="824484" y="305688"/>
                </a:lnTo>
                <a:lnTo>
                  <a:pt x="877315" y="340359"/>
                </a:lnTo>
                <a:lnTo>
                  <a:pt x="921512" y="376046"/>
                </a:lnTo>
                <a:lnTo>
                  <a:pt x="955928" y="411861"/>
                </a:lnTo>
                <a:lnTo>
                  <a:pt x="980566" y="447420"/>
                </a:lnTo>
                <a:lnTo>
                  <a:pt x="997330" y="490474"/>
                </a:lnTo>
                <a:lnTo>
                  <a:pt x="999675" y="512825"/>
                </a:lnTo>
                <a:lnTo>
                  <a:pt x="1000044" y="522986"/>
                </a:lnTo>
                <a:lnTo>
                  <a:pt x="1006475" y="561720"/>
                </a:lnTo>
                <a:lnTo>
                  <a:pt x="1026287" y="608711"/>
                </a:lnTo>
                <a:lnTo>
                  <a:pt x="1048258" y="641984"/>
                </a:lnTo>
                <a:lnTo>
                  <a:pt x="1075944" y="674243"/>
                </a:lnTo>
                <a:lnTo>
                  <a:pt x="1120521" y="714756"/>
                </a:lnTo>
                <a:lnTo>
                  <a:pt x="1173734" y="753363"/>
                </a:lnTo>
                <a:lnTo>
                  <a:pt x="1234439" y="789686"/>
                </a:lnTo>
                <a:lnTo>
                  <a:pt x="1302130" y="823594"/>
                </a:lnTo>
                <a:lnTo>
                  <a:pt x="1338579" y="839596"/>
                </a:lnTo>
                <a:lnTo>
                  <a:pt x="1376045" y="854963"/>
                </a:lnTo>
                <a:lnTo>
                  <a:pt x="1415161" y="869569"/>
                </a:lnTo>
                <a:lnTo>
                  <a:pt x="1455547" y="883412"/>
                </a:lnTo>
                <a:lnTo>
                  <a:pt x="1497076" y="896365"/>
                </a:lnTo>
                <a:lnTo>
                  <a:pt x="1539875" y="908684"/>
                </a:lnTo>
                <a:lnTo>
                  <a:pt x="1583436" y="919988"/>
                </a:lnTo>
                <a:lnTo>
                  <a:pt x="1628139" y="930401"/>
                </a:lnTo>
                <a:lnTo>
                  <a:pt x="1673605" y="940053"/>
                </a:lnTo>
                <a:lnTo>
                  <a:pt x="1719961" y="948563"/>
                </a:lnTo>
                <a:lnTo>
                  <a:pt x="1766824" y="956056"/>
                </a:lnTo>
                <a:lnTo>
                  <a:pt x="1814195" y="962659"/>
                </a:lnTo>
                <a:lnTo>
                  <a:pt x="1862201" y="967994"/>
                </a:lnTo>
                <a:lnTo>
                  <a:pt x="1882204" y="969250"/>
                </a:lnTo>
                <a:lnTo>
                  <a:pt x="1884828" y="913257"/>
                </a:lnTo>
                <a:lnTo>
                  <a:pt x="1884912" y="911462"/>
                </a:lnTo>
                <a:lnTo>
                  <a:pt x="1822069" y="905256"/>
                </a:lnTo>
                <a:lnTo>
                  <a:pt x="1775967" y="898906"/>
                </a:lnTo>
                <a:lnTo>
                  <a:pt x="1730375" y="891539"/>
                </a:lnTo>
                <a:lnTo>
                  <a:pt x="1685544" y="883284"/>
                </a:lnTo>
                <a:lnTo>
                  <a:pt x="1641348" y="874013"/>
                </a:lnTo>
                <a:lnTo>
                  <a:pt x="1598040" y="863981"/>
                </a:lnTo>
                <a:lnTo>
                  <a:pt x="1555750" y="852932"/>
                </a:lnTo>
                <a:lnTo>
                  <a:pt x="1514475" y="841248"/>
                </a:lnTo>
                <a:lnTo>
                  <a:pt x="1474342" y="828548"/>
                </a:lnTo>
                <a:lnTo>
                  <a:pt x="1435480" y="815339"/>
                </a:lnTo>
                <a:lnTo>
                  <a:pt x="1398015" y="801369"/>
                </a:lnTo>
                <a:lnTo>
                  <a:pt x="1361821" y="786511"/>
                </a:lnTo>
                <a:lnTo>
                  <a:pt x="1294384" y="755650"/>
                </a:lnTo>
                <a:lnTo>
                  <a:pt x="1233932" y="722757"/>
                </a:lnTo>
                <a:lnTo>
                  <a:pt x="1181227" y="688213"/>
                </a:lnTo>
                <a:lnTo>
                  <a:pt x="1136903" y="652526"/>
                </a:lnTo>
                <a:lnTo>
                  <a:pt x="1102105" y="616712"/>
                </a:lnTo>
                <a:lnTo>
                  <a:pt x="1077340" y="581406"/>
                </a:lnTo>
                <a:lnTo>
                  <a:pt x="1060577" y="539369"/>
                </a:lnTo>
                <a:lnTo>
                  <a:pt x="1057736" y="514984"/>
                </a:lnTo>
                <a:lnTo>
                  <a:pt x="1057148" y="500506"/>
                </a:lnTo>
                <a:lnTo>
                  <a:pt x="1046479" y="452246"/>
                </a:lnTo>
                <a:lnTo>
                  <a:pt x="1023747" y="406653"/>
                </a:lnTo>
                <a:lnTo>
                  <a:pt x="999744" y="374014"/>
                </a:lnTo>
                <a:lnTo>
                  <a:pt x="970407" y="342519"/>
                </a:lnTo>
                <a:lnTo>
                  <a:pt x="935736" y="312165"/>
                </a:lnTo>
                <a:lnTo>
                  <a:pt x="882523" y="273684"/>
                </a:lnTo>
                <a:lnTo>
                  <a:pt x="821944" y="237489"/>
                </a:lnTo>
                <a:lnTo>
                  <a:pt x="754379" y="203707"/>
                </a:lnTo>
                <a:lnTo>
                  <a:pt x="718058" y="187832"/>
                </a:lnTo>
                <a:lnTo>
                  <a:pt x="680465" y="172593"/>
                </a:lnTo>
                <a:lnTo>
                  <a:pt x="641350" y="157987"/>
                </a:lnTo>
                <a:lnTo>
                  <a:pt x="601090" y="144144"/>
                </a:lnTo>
                <a:lnTo>
                  <a:pt x="559435" y="131063"/>
                </a:lnTo>
                <a:lnTo>
                  <a:pt x="516763" y="118871"/>
                </a:lnTo>
                <a:lnTo>
                  <a:pt x="473201" y="107568"/>
                </a:lnTo>
                <a:lnTo>
                  <a:pt x="428498" y="97027"/>
                </a:lnTo>
                <a:lnTo>
                  <a:pt x="383032" y="87630"/>
                </a:lnTo>
                <a:lnTo>
                  <a:pt x="336676" y="78993"/>
                </a:lnTo>
                <a:lnTo>
                  <a:pt x="289813" y="71500"/>
                </a:lnTo>
                <a:lnTo>
                  <a:pt x="242442" y="65024"/>
                </a:lnTo>
                <a:lnTo>
                  <a:pt x="193675" y="59562"/>
                </a:lnTo>
                <a:lnTo>
                  <a:pt x="174898" y="58351"/>
                </a:lnTo>
                <a:close/>
              </a:path>
              <a:path w="2057400" h="1028064">
                <a:moveTo>
                  <a:pt x="177673" y="0"/>
                </a:moveTo>
                <a:lnTo>
                  <a:pt x="0" y="78612"/>
                </a:lnTo>
                <a:lnTo>
                  <a:pt x="169418" y="173608"/>
                </a:lnTo>
                <a:lnTo>
                  <a:pt x="172020" y="118871"/>
                </a:lnTo>
                <a:lnTo>
                  <a:pt x="172093" y="117348"/>
                </a:lnTo>
                <a:lnTo>
                  <a:pt x="172147" y="116196"/>
                </a:lnTo>
                <a:lnTo>
                  <a:pt x="142748" y="114300"/>
                </a:lnTo>
                <a:lnTo>
                  <a:pt x="146236" y="59562"/>
                </a:lnTo>
                <a:lnTo>
                  <a:pt x="146313" y="58351"/>
                </a:lnTo>
                <a:lnTo>
                  <a:pt x="146431" y="56514"/>
                </a:lnTo>
                <a:lnTo>
                  <a:pt x="174985" y="56514"/>
                </a:lnTo>
                <a:lnTo>
                  <a:pt x="177673" y="0"/>
                </a:lnTo>
                <a:close/>
              </a:path>
              <a:path w="2057400" h="1028064">
                <a:moveTo>
                  <a:pt x="146431" y="56514"/>
                </a:moveTo>
                <a:lnTo>
                  <a:pt x="142748" y="114300"/>
                </a:lnTo>
                <a:lnTo>
                  <a:pt x="172147" y="116196"/>
                </a:lnTo>
                <a:lnTo>
                  <a:pt x="174840" y="59562"/>
                </a:lnTo>
                <a:lnTo>
                  <a:pt x="174898" y="58351"/>
                </a:lnTo>
                <a:lnTo>
                  <a:pt x="146431" y="56514"/>
                </a:lnTo>
                <a:close/>
              </a:path>
              <a:path w="2057400" h="1028064">
                <a:moveTo>
                  <a:pt x="174985" y="56514"/>
                </a:moveTo>
                <a:lnTo>
                  <a:pt x="146431" y="56514"/>
                </a:lnTo>
                <a:lnTo>
                  <a:pt x="174898" y="58351"/>
                </a:lnTo>
                <a:lnTo>
                  <a:pt x="174985" y="56514"/>
                </a:lnTo>
                <a:close/>
              </a:path>
            </a:pathLst>
          </a:custGeom>
          <a:solidFill>
            <a:srgbClr val="585858"/>
          </a:solidFill>
        </p:spPr>
        <p:txBody>
          <a:bodyPr wrap="square" lIns="0" tIns="0" rIns="0" bIns="0" rtlCol="0"/>
          <a:lstStyle/>
          <a:p>
            <a:endParaRPr sz="2400"/>
          </a:p>
        </p:txBody>
      </p:sp>
      <p:sp>
        <p:nvSpPr>
          <p:cNvPr id="10" name="object 10"/>
          <p:cNvSpPr txBox="1"/>
          <p:nvPr/>
        </p:nvSpPr>
        <p:spPr>
          <a:xfrm>
            <a:off x="3051725" y="4712377"/>
            <a:ext cx="8410787"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Relatively</a:t>
            </a:r>
            <a:r>
              <a:rPr sz="2400" b="1" spc="-40" dirty="0">
                <a:solidFill>
                  <a:srgbClr val="D9D9D9"/>
                </a:solidFill>
                <a:latin typeface="Calibri"/>
                <a:cs typeface="Calibri"/>
              </a:rPr>
              <a:t> </a:t>
            </a:r>
            <a:r>
              <a:rPr sz="2400" b="1" dirty="0">
                <a:solidFill>
                  <a:srgbClr val="D9D9D9"/>
                </a:solidFill>
                <a:latin typeface="Calibri"/>
                <a:cs typeface="Calibri"/>
              </a:rPr>
              <a:t>few</a:t>
            </a:r>
            <a:r>
              <a:rPr sz="2400" b="1" spc="-47" dirty="0">
                <a:solidFill>
                  <a:srgbClr val="D9D9D9"/>
                </a:solidFill>
                <a:latin typeface="Calibri"/>
                <a:cs typeface="Calibri"/>
              </a:rPr>
              <a:t> </a:t>
            </a:r>
            <a:r>
              <a:rPr sz="2400" b="1" dirty="0">
                <a:solidFill>
                  <a:srgbClr val="D9D9D9"/>
                </a:solidFill>
                <a:latin typeface="Calibri"/>
                <a:cs typeface="Calibri"/>
              </a:rPr>
              <a:t>rows</a:t>
            </a:r>
            <a:r>
              <a:rPr sz="2400" b="1" spc="-40" dirty="0">
                <a:solidFill>
                  <a:srgbClr val="D9D9D9"/>
                </a:solidFill>
                <a:latin typeface="Calibri"/>
                <a:cs typeface="Calibri"/>
              </a:rPr>
              <a:t> </a:t>
            </a:r>
            <a:r>
              <a:rPr sz="2400" b="1" dirty="0">
                <a:solidFill>
                  <a:srgbClr val="D9D9D9"/>
                </a:solidFill>
                <a:latin typeface="Calibri"/>
                <a:cs typeface="Calibri"/>
              </a:rPr>
              <a:t>/</a:t>
            </a:r>
            <a:r>
              <a:rPr sz="2400" b="1" spc="-13" dirty="0">
                <a:solidFill>
                  <a:srgbClr val="D9D9D9"/>
                </a:solidFill>
                <a:latin typeface="Calibri"/>
                <a:cs typeface="Calibri"/>
              </a:rPr>
              <a:t> </a:t>
            </a:r>
            <a:r>
              <a:rPr sz="2400" b="1" dirty="0">
                <a:solidFill>
                  <a:srgbClr val="D9D9D9"/>
                </a:solidFill>
                <a:latin typeface="Calibri"/>
                <a:cs typeface="Calibri"/>
              </a:rPr>
              <a:t>many</a:t>
            </a:r>
            <a:r>
              <a:rPr sz="2400" b="1" spc="-33" dirty="0">
                <a:solidFill>
                  <a:srgbClr val="D9D9D9"/>
                </a:solidFill>
                <a:latin typeface="Calibri"/>
                <a:cs typeface="Calibri"/>
              </a:rPr>
              <a:t> </a:t>
            </a:r>
            <a:r>
              <a:rPr sz="2400" b="1" dirty="0">
                <a:solidFill>
                  <a:srgbClr val="D9D9D9"/>
                </a:solidFill>
                <a:latin typeface="Calibri"/>
                <a:cs typeface="Calibri"/>
              </a:rPr>
              <a:t>columns</a:t>
            </a:r>
            <a:r>
              <a:rPr sz="2400" b="1" spc="-33" dirty="0">
                <a:solidFill>
                  <a:srgbClr val="D9D9D9"/>
                </a:solidFill>
                <a:latin typeface="Calibri"/>
                <a:cs typeface="Calibri"/>
              </a:rPr>
              <a:t> </a:t>
            </a:r>
            <a:r>
              <a:rPr sz="2400" b="1" dirty="0">
                <a:solidFill>
                  <a:srgbClr val="D9D9D9"/>
                </a:solidFill>
                <a:latin typeface="Calibri"/>
                <a:cs typeface="Calibri"/>
              </a:rPr>
              <a:t>with</a:t>
            </a:r>
            <a:r>
              <a:rPr sz="2400" b="1" spc="-67" dirty="0">
                <a:solidFill>
                  <a:srgbClr val="D9D9D9"/>
                </a:solidFill>
                <a:latin typeface="Calibri"/>
                <a:cs typeface="Calibri"/>
              </a:rPr>
              <a:t> </a:t>
            </a:r>
            <a:r>
              <a:rPr sz="2400" b="1" dirty="0">
                <a:solidFill>
                  <a:srgbClr val="D9D9D9"/>
                </a:solidFill>
                <a:latin typeface="Calibri"/>
                <a:cs typeface="Calibri"/>
              </a:rPr>
              <a:t>descriptive</a:t>
            </a:r>
            <a:r>
              <a:rPr sz="2400" b="1" spc="-27" dirty="0">
                <a:solidFill>
                  <a:srgbClr val="D9D9D9"/>
                </a:solidFill>
                <a:latin typeface="Calibri"/>
                <a:cs typeface="Calibri"/>
              </a:rPr>
              <a:t> </a:t>
            </a:r>
            <a:r>
              <a:rPr sz="2400" b="1" spc="-13" dirty="0">
                <a:solidFill>
                  <a:srgbClr val="D9D9D9"/>
                </a:solidFill>
                <a:latin typeface="Calibri"/>
                <a:cs typeface="Calibri"/>
              </a:rPr>
              <a:t>attributes</a:t>
            </a:r>
            <a:endParaRPr sz="2400" dirty="0">
              <a:latin typeface="Calibri"/>
              <a:cs typeface="Calibri"/>
            </a:endParaRP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84400" y="0"/>
            <a:ext cx="7237982" cy="695062"/>
          </a:xfrm>
          <a:prstGeom prst="rect">
            <a:avLst/>
          </a:prstGeom>
        </p:spPr>
        <p:txBody>
          <a:bodyPr vert="horz" wrap="square" lIns="0" tIns="17780" rIns="0" bIns="0" rtlCol="0" anchor="ctr">
            <a:spAutoFit/>
          </a:bodyPr>
          <a:lstStyle/>
          <a:p>
            <a:pPr marL="1690751">
              <a:lnSpc>
                <a:spcPct val="100000"/>
              </a:lnSpc>
              <a:spcBef>
                <a:spcPts val="140"/>
              </a:spcBef>
            </a:pPr>
            <a:r>
              <a:rPr dirty="0">
                <a:solidFill>
                  <a:schemeClr val="bg1"/>
                </a:solidFill>
                <a:latin typeface="+mn-lt"/>
              </a:rPr>
              <a:t>Dimensions</a:t>
            </a:r>
            <a:r>
              <a:rPr spc="-147" dirty="0">
                <a:solidFill>
                  <a:schemeClr val="bg1"/>
                </a:solidFill>
                <a:latin typeface="+mn-lt"/>
              </a:rPr>
              <a:t> </a:t>
            </a:r>
            <a:r>
              <a:rPr spc="-13" dirty="0">
                <a:solidFill>
                  <a:schemeClr val="bg1"/>
                </a:solidFill>
                <a:latin typeface="+mn-lt"/>
              </a:rPr>
              <a:t>tables</a:t>
            </a:r>
          </a:p>
        </p:txBody>
      </p:sp>
      <p:sp>
        <p:nvSpPr>
          <p:cNvPr id="3" name="object 3"/>
          <p:cNvSpPr txBox="1"/>
          <p:nvPr/>
        </p:nvSpPr>
        <p:spPr>
          <a:xfrm>
            <a:off x="3242057" y="1807396"/>
            <a:ext cx="4164753" cy="386430"/>
          </a:xfrm>
          <a:prstGeom prst="rect">
            <a:avLst/>
          </a:prstGeom>
        </p:spPr>
        <p:txBody>
          <a:bodyPr vert="horz" wrap="square" lIns="0" tIns="16933" rIns="0" bIns="0" rtlCol="0">
            <a:spAutoFit/>
          </a:bodyPr>
          <a:lstStyle/>
          <a:p>
            <a:pPr marL="398770" indent="-381837">
              <a:spcBef>
                <a:spcPts val="133"/>
              </a:spcBef>
              <a:buClr>
                <a:srgbClr val="99D3FF"/>
              </a:buClr>
              <a:buFont typeface="Wingdings"/>
              <a:buChar char=""/>
              <a:tabLst>
                <a:tab pos="398770" algn="l"/>
              </a:tabLst>
            </a:pPr>
            <a:r>
              <a:rPr sz="2400" b="1" dirty="0">
                <a:solidFill>
                  <a:srgbClr val="D9D9D9"/>
                </a:solidFill>
                <a:latin typeface="Calibri"/>
                <a:cs typeface="Calibri"/>
              </a:rPr>
              <a:t>Group</a:t>
            </a:r>
            <a:r>
              <a:rPr sz="2400" b="1" spc="-33" dirty="0">
                <a:solidFill>
                  <a:srgbClr val="D9D9D9"/>
                </a:solidFill>
                <a:latin typeface="Calibri"/>
                <a:cs typeface="Calibri"/>
              </a:rPr>
              <a:t> </a:t>
            </a:r>
            <a:r>
              <a:rPr sz="2400" b="1" dirty="0">
                <a:solidFill>
                  <a:srgbClr val="D9D9D9"/>
                </a:solidFill>
                <a:latin typeface="Calibri"/>
                <a:cs typeface="Calibri"/>
              </a:rPr>
              <a:t>&amp;</a:t>
            </a:r>
            <a:r>
              <a:rPr sz="2400" b="1" spc="-13" dirty="0">
                <a:solidFill>
                  <a:srgbClr val="D9D9D9"/>
                </a:solidFill>
                <a:latin typeface="Calibri"/>
                <a:cs typeface="Calibri"/>
              </a:rPr>
              <a:t> </a:t>
            </a:r>
            <a:r>
              <a:rPr sz="2400" b="1" dirty="0">
                <a:solidFill>
                  <a:srgbClr val="D9D9D9"/>
                </a:solidFill>
                <a:latin typeface="Calibri"/>
                <a:cs typeface="Calibri"/>
              </a:rPr>
              <a:t>Filter</a:t>
            </a:r>
            <a:r>
              <a:rPr sz="2400" b="1" spc="-47" dirty="0">
                <a:solidFill>
                  <a:srgbClr val="D9D9D9"/>
                </a:solidFill>
                <a:latin typeface="Calibri"/>
                <a:cs typeface="Calibri"/>
              </a:rPr>
              <a:t> </a:t>
            </a:r>
            <a:r>
              <a:rPr sz="2400" b="1" dirty="0">
                <a:solidFill>
                  <a:srgbClr val="D9D9D9"/>
                </a:solidFill>
                <a:latin typeface="Calibri"/>
                <a:cs typeface="Calibri"/>
              </a:rPr>
              <a:t>("slice</a:t>
            </a:r>
            <a:r>
              <a:rPr sz="2400" b="1" spc="-53" dirty="0">
                <a:solidFill>
                  <a:srgbClr val="D9D9D9"/>
                </a:solidFill>
                <a:latin typeface="Calibri"/>
                <a:cs typeface="Calibri"/>
              </a:rPr>
              <a:t> </a:t>
            </a:r>
            <a:r>
              <a:rPr sz="2400" b="1" dirty="0">
                <a:solidFill>
                  <a:srgbClr val="D9D9D9"/>
                </a:solidFill>
                <a:latin typeface="Calibri"/>
                <a:cs typeface="Calibri"/>
              </a:rPr>
              <a:t>&amp;</a:t>
            </a:r>
            <a:r>
              <a:rPr sz="2400" b="1" spc="-7" dirty="0">
                <a:solidFill>
                  <a:srgbClr val="D9D9D9"/>
                </a:solidFill>
                <a:latin typeface="Calibri"/>
                <a:cs typeface="Calibri"/>
              </a:rPr>
              <a:t> </a:t>
            </a:r>
            <a:r>
              <a:rPr sz="2400" b="1" spc="-13" dirty="0">
                <a:solidFill>
                  <a:srgbClr val="D9D9D9"/>
                </a:solidFill>
                <a:latin typeface="Calibri"/>
                <a:cs typeface="Calibri"/>
              </a:rPr>
              <a:t>dice")</a:t>
            </a:r>
            <a:endParaRPr sz="2400">
              <a:latin typeface="Calibri"/>
              <a:cs typeface="Calibri"/>
            </a:endParaRPr>
          </a:p>
        </p:txBody>
      </p:sp>
      <p:pic>
        <p:nvPicPr>
          <p:cNvPr id="4" name="object 4"/>
          <p:cNvPicPr/>
          <p:nvPr/>
        </p:nvPicPr>
        <p:blipFill>
          <a:blip r:embed="rId2" cstate="print"/>
          <a:stretch>
            <a:fillRect/>
          </a:stretch>
        </p:blipFill>
        <p:spPr>
          <a:xfrm>
            <a:off x="1320800" y="3379215"/>
            <a:ext cx="3125216" cy="1231392"/>
          </a:xfrm>
          <a:prstGeom prst="rect">
            <a:avLst/>
          </a:prstGeom>
        </p:spPr>
      </p:pic>
      <p:pic>
        <p:nvPicPr>
          <p:cNvPr id="5" name="object 5"/>
          <p:cNvPicPr/>
          <p:nvPr/>
        </p:nvPicPr>
        <p:blipFill>
          <a:blip r:embed="rId3" cstate="print"/>
          <a:stretch>
            <a:fillRect/>
          </a:stretch>
        </p:blipFill>
        <p:spPr>
          <a:xfrm>
            <a:off x="5262879" y="2515615"/>
            <a:ext cx="5779007" cy="3499104"/>
          </a:xfrm>
          <a:prstGeom prst="rect">
            <a:avLst/>
          </a:prstGeom>
        </p:spPr>
      </p:pic>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57807" y="2279903"/>
            <a:ext cx="9930384" cy="1702816"/>
          </a:xfrm>
          <a:prstGeom prst="rect">
            <a:avLst/>
          </a:prstGeom>
        </p:spPr>
      </p:pic>
      <p:sp>
        <p:nvSpPr>
          <p:cNvPr id="3" name="object 3"/>
          <p:cNvSpPr txBox="1">
            <a:spLocks noGrp="1"/>
          </p:cNvSpPr>
          <p:nvPr>
            <p:ph type="title"/>
          </p:nvPr>
        </p:nvSpPr>
        <p:spPr>
          <a:xfrm>
            <a:off x="1320800" y="2579973"/>
            <a:ext cx="9811173" cy="1048150"/>
          </a:xfrm>
          <a:prstGeom prst="rect">
            <a:avLst/>
          </a:prstGeom>
          <a:noFill/>
          <a:ln w="9144">
            <a:noFill/>
          </a:ln>
        </p:spPr>
        <p:txBody>
          <a:bodyPr vert="horz" wrap="square" lIns="0" tIns="306493" rIns="0" bIns="0" rtlCol="0" anchor="ctr">
            <a:spAutoFit/>
          </a:bodyPr>
          <a:lstStyle/>
          <a:p>
            <a:pPr algn="ctr">
              <a:lnSpc>
                <a:spcPct val="100000"/>
              </a:lnSpc>
              <a:spcBef>
                <a:spcPts val="2413"/>
              </a:spcBef>
            </a:pPr>
            <a:r>
              <a:rPr sz="4800" dirty="0">
                <a:solidFill>
                  <a:schemeClr val="bg1"/>
                </a:solidFill>
                <a:latin typeface="+mn-lt"/>
              </a:rPr>
              <a:t>Date</a:t>
            </a:r>
            <a:r>
              <a:rPr sz="4800" spc="-13" dirty="0">
                <a:solidFill>
                  <a:schemeClr val="bg1"/>
                </a:solidFill>
                <a:latin typeface="+mn-lt"/>
              </a:rPr>
              <a:t> Dimension</a:t>
            </a:r>
            <a:endParaRPr sz="4800" dirty="0">
              <a:solidFill>
                <a:schemeClr val="bg1"/>
              </a:solidFill>
              <a:latin typeface="+mn-lt"/>
            </a:endParaRP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96160" y="0"/>
            <a:ext cx="7843520" cy="695062"/>
          </a:xfrm>
          <a:prstGeom prst="rect">
            <a:avLst/>
          </a:prstGeom>
        </p:spPr>
        <p:txBody>
          <a:bodyPr vert="horz" wrap="square" lIns="0" tIns="17780" rIns="0" bIns="0" rtlCol="0" anchor="ctr">
            <a:spAutoFit/>
          </a:bodyPr>
          <a:lstStyle/>
          <a:p>
            <a:pPr marL="1943051">
              <a:lnSpc>
                <a:spcPct val="100000"/>
              </a:lnSpc>
              <a:spcBef>
                <a:spcPts val="140"/>
              </a:spcBef>
            </a:pPr>
            <a:r>
              <a:rPr dirty="0">
                <a:solidFill>
                  <a:schemeClr val="bg1"/>
                </a:solidFill>
                <a:latin typeface="+mn-lt"/>
              </a:rPr>
              <a:t>Date</a:t>
            </a:r>
            <a:r>
              <a:rPr spc="-87" dirty="0">
                <a:solidFill>
                  <a:schemeClr val="bg1"/>
                </a:solidFill>
                <a:latin typeface="+mn-lt"/>
              </a:rPr>
              <a:t> </a:t>
            </a:r>
            <a:r>
              <a:rPr spc="-13" dirty="0">
                <a:solidFill>
                  <a:schemeClr val="bg1"/>
                </a:solidFill>
                <a:latin typeface="+mn-lt"/>
              </a:rPr>
              <a:t>Dimension</a:t>
            </a:r>
          </a:p>
        </p:txBody>
      </p:sp>
      <p:sp>
        <p:nvSpPr>
          <p:cNvPr id="3" name="object 3"/>
          <p:cNvSpPr txBox="1"/>
          <p:nvPr/>
        </p:nvSpPr>
        <p:spPr>
          <a:xfrm>
            <a:off x="3195997" y="1346200"/>
            <a:ext cx="7548880" cy="4125659"/>
          </a:xfrm>
          <a:prstGeom prst="rect">
            <a:avLst/>
          </a:prstGeom>
        </p:spPr>
        <p:txBody>
          <a:bodyPr vert="horz" wrap="square" lIns="0" tIns="16933" rIns="0" bIns="0" rtlCol="0">
            <a:spAutoFit/>
          </a:bodyPr>
          <a:lstStyle/>
          <a:p>
            <a:pPr marL="443642" indent="-380990">
              <a:spcBef>
                <a:spcPts val="133"/>
              </a:spcBef>
              <a:buClr>
                <a:srgbClr val="99D3FF"/>
              </a:buClr>
              <a:buFont typeface="Wingdings"/>
              <a:buChar char=""/>
              <a:tabLst>
                <a:tab pos="443642" algn="l"/>
              </a:tabLst>
            </a:pPr>
            <a:r>
              <a:rPr sz="2400" b="1" dirty="0">
                <a:solidFill>
                  <a:srgbClr val="D9D9D9"/>
                </a:solidFill>
                <a:latin typeface="Calibri"/>
                <a:cs typeface="Calibri"/>
              </a:rPr>
              <a:t>One</a:t>
            </a:r>
            <a:r>
              <a:rPr sz="2400" b="1" spc="-20" dirty="0">
                <a:solidFill>
                  <a:srgbClr val="D9D9D9"/>
                </a:solidFill>
                <a:latin typeface="Calibri"/>
                <a:cs typeface="Calibri"/>
              </a:rPr>
              <a:t> </a:t>
            </a:r>
            <a:r>
              <a:rPr sz="2400" b="1" dirty="0">
                <a:solidFill>
                  <a:srgbClr val="D9D9D9"/>
                </a:solidFill>
                <a:latin typeface="Calibri"/>
                <a:cs typeface="Calibri"/>
              </a:rPr>
              <a:t>of</a:t>
            </a:r>
            <a:r>
              <a:rPr sz="2400" b="1" spc="-13" dirty="0">
                <a:solidFill>
                  <a:srgbClr val="D9D9D9"/>
                </a:solidFill>
                <a:latin typeface="Calibri"/>
                <a:cs typeface="Calibri"/>
              </a:rPr>
              <a:t> </a:t>
            </a:r>
            <a:r>
              <a:rPr sz="2400" b="1" dirty="0">
                <a:solidFill>
                  <a:srgbClr val="D9D9D9"/>
                </a:solidFill>
                <a:latin typeface="Calibri"/>
                <a:cs typeface="Calibri"/>
              </a:rPr>
              <a:t>the</a:t>
            </a:r>
            <a:r>
              <a:rPr sz="2400" b="1" spc="-13" dirty="0">
                <a:solidFill>
                  <a:srgbClr val="D9D9D9"/>
                </a:solidFill>
                <a:latin typeface="Calibri"/>
                <a:cs typeface="Calibri"/>
              </a:rPr>
              <a:t> </a:t>
            </a:r>
            <a:r>
              <a:rPr sz="2400" b="1" dirty="0">
                <a:solidFill>
                  <a:srgbClr val="D9D9D9"/>
                </a:solidFill>
                <a:latin typeface="Calibri"/>
                <a:cs typeface="Calibri"/>
              </a:rPr>
              <a:t>most</a:t>
            </a:r>
            <a:r>
              <a:rPr sz="2400" b="1" spc="-27" dirty="0">
                <a:solidFill>
                  <a:srgbClr val="D9D9D9"/>
                </a:solidFill>
                <a:latin typeface="Calibri"/>
                <a:cs typeface="Calibri"/>
              </a:rPr>
              <a:t> </a:t>
            </a:r>
            <a:r>
              <a:rPr sz="2400" b="1" dirty="0">
                <a:solidFill>
                  <a:srgbClr val="D9D9D9"/>
                </a:solidFill>
                <a:latin typeface="Calibri"/>
                <a:cs typeface="Calibri"/>
              </a:rPr>
              <a:t>common</a:t>
            </a:r>
            <a:r>
              <a:rPr sz="2400" b="1" spc="-33" dirty="0">
                <a:solidFill>
                  <a:srgbClr val="D9D9D9"/>
                </a:solidFill>
                <a:latin typeface="Calibri"/>
                <a:cs typeface="Calibri"/>
              </a:rPr>
              <a:t> </a:t>
            </a:r>
            <a:r>
              <a:rPr sz="2400" b="1" dirty="0">
                <a:solidFill>
                  <a:srgbClr val="D9D9D9"/>
                </a:solidFill>
                <a:latin typeface="Calibri"/>
                <a:cs typeface="Calibri"/>
              </a:rPr>
              <a:t>&amp;</a:t>
            </a:r>
            <a:r>
              <a:rPr sz="2400" b="1" spc="-7" dirty="0">
                <a:solidFill>
                  <a:srgbClr val="D9D9D9"/>
                </a:solidFill>
                <a:latin typeface="Calibri"/>
                <a:cs typeface="Calibri"/>
              </a:rPr>
              <a:t> </a:t>
            </a:r>
            <a:r>
              <a:rPr sz="2400" b="1" dirty="0">
                <a:solidFill>
                  <a:srgbClr val="D9D9D9"/>
                </a:solidFill>
                <a:latin typeface="Calibri"/>
                <a:cs typeface="Calibri"/>
              </a:rPr>
              <a:t>most</a:t>
            </a:r>
            <a:r>
              <a:rPr sz="2400" b="1" spc="-40" dirty="0">
                <a:solidFill>
                  <a:srgbClr val="D9D9D9"/>
                </a:solidFill>
                <a:latin typeface="Calibri"/>
                <a:cs typeface="Calibri"/>
              </a:rPr>
              <a:t> </a:t>
            </a:r>
            <a:r>
              <a:rPr sz="2400" b="1" dirty="0">
                <a:solidFill>
                  <a:srgbClr val="D9D9D9"/>
                </a:solidFill>
                <a:latin typeface="Calibri"/>
                <a:cs typeface="Calibri"/>
              </a:rPr>
              <a:t>important</a:t>
            </a:r>
            <a:r>
              <a:rPr sz="2400" b="1" spc="-33" dirty="0">
                <a:solidFill>
                  <a:srgbClr val="D9D9D9"/>
                </a:solidFill>
                <a:latin typeface="Calibri"/>
                <a:cs typeface="Calibri"/>
              </a:rPr>
              <a:t> </a:t>
            </a:r>
            <a:r>
              <a:rPr sz="2400" b="1" spc="-13" dirty="0">
                <a:solidFill>
                  <a:srgbClr val="D9D9D9"/>
                </a:solidFill>
                <a:latin typeface="Calibri"/>
                <a:cs typeface="Calibri"/>
              </a:rPr>
              <a:t>dimensions</a:t>
            </a:r>
            <a:endParaRPr sz="2400">
              <a:latin typeface="Calibri"/>
              <a:cs typeface="Calibri"/>
            </a:endParaRPr>
          </a:p>
          <a:p>
            <a:pPr>
              <a:spcBef>
                <a:spcPts val="152"/>
              </a:spcBef>
              <a:buClr>
                <a:srgbClr val="99D3FF"/>
              </a:buClr>
              <a:buFont typeface="Wingdings"/>
              <a:buChar char=""/>
            </a:pPr>
            <a:endParaRPr sz="2400">
              <a:latin typeface="Calibri"/>
              <a:cs typeface="Calibri"/>
            </a:endParaRPr>
          </a:p>
          <a:p>
            <a:pPr marL="426709" indent="-380990">
              <a:buClr>
                <a:srgbClr val="99D3FF"/>
              </a:buClr>
              <a:buFont typeface="Wingdings"/>
              <a:buChar char=""/>
              <a:tabLst>
                <a:tab pos="426709" algn="l"/>
              </a:tabLst>
            </a:pPr>
            <a:r>
              <a:rPr sz="2400" b="1" dirty="0">
                <a:solidFill>
                  <a:srgbClr val="D9D9D9"/>
                </a:solidFill>
                <a:latin typeface="Calibri"/>
                <a:cs typeface="Calibri"/>
              </a:rPr>
              <a:t>Contains</a:t>
            </a:r>
            <a:r>
              <a:rPr sz="2400" b="1" spc="-60" dirty="0">
                <a:solidFill>
                  <a:srgbClr val="D9D9D9"/>
                </a:solidFill>
                <a:latin typeface="Calibri"/>
                <a:cs typeface="Calibri"/>
              </a:rPr>
              <a:t> </a:t>
            </a:r>
            <a:r>
              <a:rPr sz="2400" b="1" dirty="0">
                <a:solidFill>
                  <a:srgbClr val="D9D9D9"/>
                </a:solidFill>
                <a:latin typeface="Calibri"/>
                <a:cs typeface="Calibri"/>
              </a:rPr>
              <a:t>date</a:t>
            </a:r>
            <a:r>
              <a:rPr sz="2400" b="1" spc="-27" dirty="0">
                <a:solidFill>
                  <a:srgbClr val="D9D9D9"/>
                </a:solidFill>
                <a:latin typeface="Calibri"/>
                <a:cs typeface="Calibri"/>
              </a:rPr>
              <a:t> </a:t>
            </a:r>
            <a:r>
              <a:rPr sz="2400" b="1" dirty="0">
                <a:solidFill>
                  <a:srgbClr val="D9D9D9"/>
                </a:solidFill>
                <a:latin typeface="Calibri"/>
                <a:cs typeface="Calibri"/>
              </a:rPr>
              <a:t>related</a:t>
            </a:r>
            <a:r>
              <a:rPr sz="2400" b="1" spc="-53" dirty="0">
                <a:solidFill>
                  <a:srgbClr val="D9D9D9"/>
                </a:solidFill>
                <a:latin typeface="Calibri"/>
                <a:cs typeface="Calibri"/>
              </a:rPr>
              <a:t> </a:t>
            </a:r>
            <a:r>
              <a:rPr sz="2400" b="1" spc="-13" dirty="0">
                <a:solidFill>
                  <a:srgbClr val="D9D9D9"/>
                </a:solidFill>
                <a:latin typeface="Calibri"/>
                <a:cs typeface="Calibri"/>
              </a:rPr>
              <a:t>features</a:t>
            </a:r>
            <a:endParaRPr sz="2400">
              <a:latin typeface="Calibri"/>
              <a:cs typeface="Calibri"/>
            </a:endParaRPr>
          </a:p>
          <a:p>
            <a:pPr marL="991422" lvl="1" indent="-380990">
              <a:spcBef>
                <a:spcPts val="1453"/>
              </a:spcBef>
              <a:buClr>
                <a:srgbClr val="99D3FF"/>
              </a:buClr>
              <a:buFont typeface="Wingdings"/>
              <a:buChar char=""/>
              <a:tabLst>
                <a:tab pos="991422" algn="l"/>
              </a:tabLst>
            </a:pPr>
            <a:r>
              <a:rPr sz="2133" dirty="0">
                <a:solidFill>
                  <a:srgbClr val="66DBFF"/>
                </a:solidFill>
                <a:latin typeface="Segoe UI Light"/>
                <a:cs typeface="Segoe UI Light"/>
              </a:rPr>
              <a:t>Year,</a:t>
            </a:r>
            <a:r>
              <a:rPr sz="2133" spc="-40" dirty="0">
                <a:solidFill>
                  <a:srgbClr val="66DBFF"/>
                </a:solidFill>
                <a:latin typeface="Segoe UI Light"/>
                <a:cs typeface="Segoe UI Light"/>
              </a:rPr>
              <a:t> </a:t>
            </a:r>
            <a:r>
              <a:rPr sz="2133" dirty="0">
                <a:solidFill>
                  <a:srgbClr val="66DBFF"/>
                </a:solidFill>
                <a:latin typeface="Segoe UI Light"/>
                <a:cs typeface="Segoe UI Light"/>
              </a:rPr>
              <a:t>Month</a:t>
            </a:r>
            <a:r>
              <a:rPr sz="2133" spc="-33" dirty="0">
                <a:solidFill>
                  <a:srgbClr val="66DBFF"/>
                </a:solidFill>
                <a:latin typeface="Segoe UI Light"/>
                <a:cs typeface="Segoe UI Light"/>
              </a:rPr>
              <a:t> </a:t>
            </a:r>
            <a:r>
              <a:rPr sz="2133" dirty="0">
                <a:solidFill>
                  <a:srgbClr val="66DBFF"/>
                </a:solidFill>
                <a:latin typeface="Segoe UI Light"/>
                <a:cs typeface="Segoe UI Light"/>
              </a:rPr>
              <a:t>(name</a:t>
            </a:r>
            <a:r>
              <a:rPr sz="2133" spc="-47" dirty="0">
                <a:solidFill>
                  <a:srgbClr val="66DBFF"/>
                </a:solidFill>
                <a:latin typeface="Segoe UI Light"/>
                <a:cs typeface="Segoe UI Light"/>
              </a:rPr>
              <a:t> </a:t>
            </a:r>
            <a:r>
              <a:rPr sz="2133" dirty="0">
                <a:solidFill>
                  <a:srgbClr val="66DBFF"/>
                </a:solidFill>
                <a:latin typeface="Segoe UI Light"/>
                <a:cs typeface="Segoe UI Light"/>
              </a:rPr>
              <a:t>&amp;</a:t>
            </a:r>
            <a:r>
              <a:rPr sz="2133" spc="7" dirty="0">
                <a:solidFill>
                  <a:srgbClr val="66DBFF"/>
                </a:solidFill>
                <a:latin typeface="Segoe UI Light"/>
                <a:cs typeface="Segoe UI Light"/>
              </a:rPr>
              <a:t> </a:t>
            </a:r>
            <a:r>
              <a:rPr sz="2133" dirty="0">
                <a:solidFill>
                  <a:srgbClr val="66DBFF"/>
                </a:solidFill>
                <a:latin typeface="Segoe UI Light"/>
                <a:cs typeface="Segoe UI Light"/>
              </a:rPr>
              <a:t>number),</a:t>
            </a:r>
            <a:r>
              <a:rPr sz="2133" spc="-53" dirty="0">
                <a:solidFill>
                  <a:srgbClr val="66DBFF"/>
                </a:solidFill>
                <a:latin typeface="Segoe UI Light"/>
                <a:cs typeface="Segoe UI Light"/>
              </a:rPr>
              <a:t> </a:t>
            </a:r>
            <a:r>
              <a:rPr sz="2133" dirty="0">
                <a:solidFill>
                  <a:srgbClr val="66DBFF"/>
                </a:solidFill>
                <a:latin typeface="Segoe UI Light"/>
                <a:cs typeface="Segoe UI Light"/>
              </a:rPr>
              <a:t>Day,</a:t>
            </a:r>
            <a:r>
              <a:rPr sz="2133" spc="-40" dirty="0">
                <a:solidFill>
                  <a:srgbClr val="66DBFF"/>
                </a:solidFill>
                <a:latin typeface="Segoe UI Light"/>
                <a:cs typeface="Segoe UI Light"/>
              </a:rPr>
              <a:t> </a:t>
            </a:r>
            <a:r>
              <a:rPr sz="2133" dirty="0">
                <a:solidFill>
                  <a:srgbClr val="66DBFF"/>
                </a:solidFill>
                <a:latin typeface="Segoe UI Light"/>
                <a:cs typeface="Segoe UI Light"/>
              </a:rPr>
              <a:t>Quarter,</a:t>
            </a:r>
            <a:r>
              <a:rPr sz="2133" spc="-33" dirty="0">
                <a:solidFill>
                  <a:srgbClr val="66DBFF"/>
                </a:solidFill>
                <a:latin typeface="Segoe UI Light"/>
                <a:cs typeface="Segoe UI Light"/>
              </a:rPr>
              <a:t> </a:t>
            </a:r>
            <a:r>
              <a:rPr sz="2133" spc="-13" dirty="0">
                <a:solidFill>
                  <a:srgbClr val="66DBFF"/>
                </a:solidFill>
                <a:latin typeface="Segoe UI Light"/>
                <a:cs typeface="Segoe UI Light"/>
              </a:rPr>
              <a:t>Week,</a:t>
            </a:r>
            <a:endParaRPr sz="2133">
              <a:latin typeface="Segoe UI Light"/>
              <a:cs typeface="Segoe UI Light"/>
            </a:endParaRPr>
          </a:p>
          <a:p>
            <a:pPr marL="992269">
              <a:spcBef>
                <a:spcPts val="1280"/>
              </a:spcBef>
            </a:pPr>
            <a:r>
              <a:rPr sz="2133" dirty="0">
                <a:solidFill>
                  <a:srgbClr val="66DBFF"/>
                </a:solidFill>
                <a:latin typeface="Segoe UI Light"/>
                <a:cs typeface="Segoe UI Light"/>
              </a:rPr>
              <a:t>Weekday</a:t>
            </a:r>
            <a:r>
              <a:rPr sz="2133" spc="-67" dirty="0">
                <a:solidFill>
                  <a:srgbClr val="66DBFF"/>
                </a:solidFill>
                <a:latin typeface="Segoe UI Light"/>
                <a:cs typeface="Segoe UI Light"/>
              </a:rPr>
              <a:t> </a:t>
            </a:r>
            <a:r>
              <a:rPr sz="2133" dirty="0">
                <a:solidFill>
                  <a:srgbClr val="66DBFF"/>
                </a:solidFill>
                <a:latin typeface="Segoe UI Light"/>
                <a:cs typeface="Segoe UI Light"/>
              </a:rPr>
              <a:t>(name</a:t>
            </a:r>
            <a:r>
              <a:rPr sz="2133" spc="-47" dirty="0">
                <a:solidFill>
                  <a:srgbClr val="66DBFF"/>
                </a:solidFill>
                <a:latin typeface="Segoe UI Light"/>
                <a:cs typeface="Segoe UI Light"/>
              </a:rPr>
              <a:t> </a:t>
            </a:r>
            <a:r>
              <a:rPr sz="2133" dirty="0">
                <a:solidFill>
                  <a:srgbClr val="66DBFF"/>
                </a:solidFill>
                <a:latin typeface="Segoe UI Light"/>
                <a:cs typeface="Segoe UI Light"/>
              </a:rPr>
              <a:t>&amp;</a:t>
            </a:r>
            <a:r>
              <a:rPr sz="2133" spc="-27" dirty="0">
                <a:solidFill>
                  <a:srgbClr val="66DBFF"/>
                </a:solidFill>
                <a:latin typeface="Segoe UI Light"/>
                <a:cs typeface="Segoe UI Light"/>
              </a:rPr>
              <a:t> </a:t>
            </a:r>
            <a:r>
              <a:rPr sz="2133" dirty="0">
                <a:solidFill>
                  <a:srgbClr val="66DBFF"/>
                </a:solidFill>
                <a:latin typeface="Segoe UI Light"/>
                <a:cs typeface="Segoe UI Light"/>
              </a:rPr>
              <a:t>number),</a:t>
            </a:r>
            <a:r>
              <a:rPr sz="2133" spc="-53" dirty="0">
                <a:solidFill>
                  <a:srgbClr val="66DBFF"/>
                </a:solidFill>
                <a:latin typeface="Segoe UI Light"/>
                <a:cs typeface="Segoe UI Light"/>
              </a:rPr>
              <a:t> </a:t>
            </a:r>
            <a:r>
              <a:rPr sz="2133" spc="-67" dirty="0">
                <a:solidFill>
                  <a:srgbClr val="66DBFF"/>
                </a:solidFill>
                <a:latin typeface="Segoe UI Light"/>
                <a:cs typeface="Segoe UI Light"/>
              </a:rPr>
              <a:t>…</a:t>
            </a:r>
            <a:endParaRPr sz="2133">
              <a:latin typeface="Segoe UI Light"/>
              <a:cs typeface="Segoe UI Light"/>
            </a:endParaRPr>
          </a:p>
          <a:p>
            <a:pPr>
              <a:spcBef>
                <a:spcPts val="233"/>
              </a:spcBef>
            </a:pPr>
            <a:endParaRPr sz="2133">
              <a:latin typeface="Segoe UI Light"/>
              <a:cs typeface="Segoe UI Light"/>
            </a:endParaRPr>
          </a:p>
          <a:p>
            <a:pPr marL="426709" indent="-380990">
              <a:buClr>
                <a:srgbClr val="99D3FF"/>
              </a:buClr>
              <a:buFont typeface="Wingdings"/>
              <a:buChar char=""/>
              <a:tabLst>
                <a:tab pos="426709" algn="l"/>
              </a:tabLst>
            </a:pPr>
            <a:r>
              <a:rPr sz="2400" b="1" dirty="0">
                <a:solidFill>
                  <a:srgbClr val="D9D9D9"/>
                </a:solidFill>
                <a:latin typeface="Calibri"/>
                <a:cs typeface="Calibri"/>
              </a:rPr>
              <a:t>Meaningful</a:t>
            </a:r>
            <a:r>
              <a:rPr sz="2400" b="1" spc="-53" dirty="0">
                <a:solidFill>
                  <a:srgbClr val="D9D9D9"/>
                </a:solidFill>
                <a:latin typeface="Calibri"/>
                <a:cs typeface="Calibri"/>
              </a:rPr>
              <a:t> </a:t>
            </a:r>
            <a:r>
              <a:rPr sz="2400" b="1" dirty="0">
                <a:solidFill>
                  <a:srgbClr val="D9D9D9"/>
                </a:solidFill>
                <a:latin typeface="Calibri"/>
                <a:cs typeface="Calibri"/>
              </a:rPr>
              <a:t>surrogate</a:t>
            </a:r>
            <a:r>
              <a:rPr sz="2400" b="1" spc="-87" dirty="0">
                <a:solidFill>
                  <a:srgbClr val="D9D9D9"/>
                </a:solidFill>
                <a:latin typeface="Calibri"/>
                <a:cs typeface="Calibri"/>
              </a:rPr>
              <a:t> </a:t>
            </a:r>
            <a:r>
              <a:rPr sz="2400" b="1" dirty="0">
                <a:solidFill>
                  <a:srgbClr val="D9D9D9"/>
                </a:solidFill>
                <a:latin typeface="Calibri"/>
                <a:cs typeface="Calibri"/>
              </a:rPr>
              <a:t>key</a:t>
            </a:r>
            <a:r>
              <a:rPr sz="2400" b="1" spc="-27" dirty="0">
                <a:solidFill>
                  <a:srgbClr val="D9D9D9"/>
                </a:solidFill>
                <a:latin typeface="Calibri"/>
                <a:cs typeface="Calibri"/>
              </a:rPr>
              <a:t> </a:t>
            </a:r>
            <a:r>
              <a:rPr sz="2133" spc="-13" dirty="0">
                <a:solidFill>
                  <a:srgbClr val="B3B3B3"/>
                </a:solidFill>
                <a:latin typeface="Courier New"/>
                <a:cs typeface="Courier New"/>
              </a:rPr>
              <a:t>YYYYMMDD</a:t>
            </a:r>
            <a:endParaRPr sz="2133">
              <a:latin typeface="Courier New"/>
              <a:cs typeface="Courier New"/>
            </a:endParaRPr>
          </a:p>
          <a:p>
            <a:pPr marL="770447">
              <a:spcBef>
                <a:spcPts val="1860"/>
              </a:spcBef>
            </a:pPr>
            <a:r>
              <a:rPr sz="2133" dirty="0">
                <a:solidFill>
                  <a:srgbClr val="F1F1F1"/>
                </a:solidFill>
                <a:latin typeface="Trebuchet MS"/>
                <a:cs typeface="Trebuchet MS"/>
              </a:rPr>
              <a:t>For</a:t>
            </a:r>
            <a:r>
              <a:rPr sz="2133" spc="-20" dirty="0">
                <a:solidFill>
                  <a:srgbClr val="F1F1F1"/>
                </a:solidFill>
                <a:latin typeface="Trebuchet MS"/>
                <a:cs typeface="Trebuchet MS"/>
              </a:rPr>
              <a:t> </a:t>
            </a:r>
            <a:r>
              <a:rPr sz="2133" dirty="0">
                <a:solidFill>
                  <a:srgbClr val="F1F1F1"/>
                </a:solidFill>
                <a:latin typeface="Trebuchet MS"/>
                <a:cs typeface="Trebuchet MS"/>
              </a:rPr>
              <a:t>example </a:t>
            </a:r>
            <a:r>
              <a:rPr sz="2133" spc="-13" dirty="0">
                <a:solidFill>
                  <a:srgbClr val="B3B3B3"/>
                </a:solidFill>
                <a:latin typeface="Courier New"/>
                <a:cs typeface="Courier New"/>
              </a:rPr>
              <a:t>2022-04-</a:t>
            </a:r>
            <a:r>
              <a:rPr sz="2133" dirty="0">
                <a:solidFill>
                  <a:srgbClr val="B3B3B3"/>
                </a:solidFill>
                <a:latin typeface="Courier New"/>
                <a:cs typeface="Courier New"/>
              </a:rPr>
              <a:t>02 </a:t>
            </a:r>
            <a:r>
              <a:rPr sz="2133" dirty="0">
                <a:solidFill>
                  <a:srgbClr val="B3B3B3"/>
                </a:solidFill>
                <a:latin typeface="Wingdings"/>
                <a:cs typeface="Wingdings"/>
              </a:rPr>
              <a:t></a:t>
            </a:r>
            <a:r>
              <a:rPr sz="2133" spc="87" dirty="0">
                <a:solidFill>
                  <a:srgbClr val="B3B3B3"/>
                </a:solidFill>
                <a:latin typeface="Times New Roman"/>
                <a:cs typeface="Times New Roman"/>
              </a:rPr>
              <a:t>  </a:t>
            </a:r>
            <a:r>
              <a:rPr sz="2133" spc="-13" dirty="0">
                <a:solidFill>
                  <a:srgbClr val="B3B3B3"/>
                </a:solidFill>
                <a:latin typeface="Courier New"/>
                <a:cs typeface="Courier New"/>
              </a:rPr>
              <a:t>20220402</a:t>
            </a:r>
            <a:endParaRPr sz="2133">
              <a:latin typeface="Courier New"/>
              <a:cs typeface="Courier New"/>
            </a:endParaRPr>
          </a:p>
          <a:p>
            <a:pPr marL="397923" indent="-380990">
              <a:spcBef>
                <a:spcPts val="2327"/>
              </a:spcBef>
              <a:buClr>
                <a:srgbClr val="99D3FF"/>
              </a:buClr>
              <a:buFont typeface="Wingdings"/>
              <a:buChar char=""/>
              <a:tabLst>
                <a:tab pos="397923" algn="l"/>
              </a:tabLst>
            </a:pPr>
            <a:r>
              <a:rPr sz="2400" b="1" dirty="0">
                <a:solidFill>
                  <a:srgbClr val="D9D9D9"/>
                </a:solidFill>
                <a:latin typeface="Calibri"/>
                <a:cs typeface="Calibri"/>
              </a:rPr>
              <a:t>Extra</a:t>
            </a:r>
            <a:r>
              <a:rPr sz="2400" b="1" spc="-33" dirty="0">
                <a:solidFill>
                  <a:srgbClr val="D9D9D9"/>
                </a:solidFill>
                <a:latin typeface="Calibri"/>
                <a:cs typeface="Calibri"/>
              </a:rPr>
              <a:t> </a:t>
            </a:r>
            <a:r>
              <a:rPr sz="2400" b="1" dirty="0">
                <a:solidFill>
                  <a:srgbClr val="D9D9D9"/>
                </a:solidFill>
                <a:latin typeface="Calibri"/>
                <a:cs typeface="Calibri"/>
              </a:rPr>
              <a:t>row</a:t>
            </a:r>
            <a:r>
              <a:rPr sz="2400" b="1" spc="-33" dirty="0">
                <a:solidFill>
                  <a:srgbClr val="D9D9D9"/>
                </a:solidFill>
                <a:latin typeface="Calibri"/>
                <a:cs typeface="Calibri"/>
              </a:rPr>
              <a:t> </a:t>
            </a:r>
            <a:r>
              <a:rPr sz="2400" b="1" dirty="0">
                <a:solidFill>
                  <a:srgbClr val="D9D9D9"/>
                </a:solidFill>
                <a:latin typeface="Calibri"/>
                <a:cs typeface="Calibri"/>
              </a:rPr>
              <a:t>for</a:t>
            </a:r>
            <a:r>
              <a:rPr sz="2400" b="1" spc="-20" dirty="0">
                <a:solidFill>
                  <a:srgbClr val="D9D9D9"/>
                </a:solidFill>
                <a:latin typeface="Calibri"/>
                <a:cs typeface="Calibri"/>
              </a:rPr>
              <a:t> </a:t>
            </a:r>
            <a:r>
              <a:rPr sz="1600" dirty="0">
                <a:solidFill>
                  <a:srgbClr val="B3B3B3"/>
                </a:solidFill>
                <a:latin typeface="Courier New"/>
                <a:cs typeface="Courier New"/>
              </a:rPr>
              <a:t>no</a:t>
            </a:r>
            <a:r>
              <a:rPr sz="1600" spc="-27" dirty="0">
                <a:solidFill>
                  <a:srgbClr val="B3B3B3"/>
                </a:solidFill>
                <a:latin typeface="Courier New"/>
                <a:cs typeface="Courier New"/>
              </a:rPr>
              <a:t> </a:t>
            </a:r>
            <a:r>
              <a:rPr sz="1600" dirty="0">
                <a:solidFill>
                  <a:srgbClr val="B3B3B3"/>
                </a:solidFill>
                <a:latin typeface="Courier New"/>
                <a:cs typeface="Courier New"/>
              </a:rPr>
              <a:t>date/null</a:t>
            </a:r>
            <a:r>
              <a:rPr sz="1600" spc="20" dirty="0">
                <a:solidFill>
                  <a:srgbClr val="B3B3B3"/>
                </a:solidFill>
                <a:latin typeface="Courier New"/>
                <a:cs typeface="Courier New"/>
              </a:rPr>
              <a:t> </a:t>
            </a:r>
            <a:r>
              <a:rPr sz="1600" dirty="0">
                <a:solidFill>
                  <a:srgbClr val="B3B3B3"/>
                </a:solidFill>
                <a:latin typeface="Courier New"/>
                <a:cs typeface="Courier New"/>
              </a:rPr>
              <a:t>(source)</a:t>
            </a:r>
            <a:r>
              <a:rPr sz="1600" spc="20" dirty="0">
                <a:solidFill>
                  <a:srgbClr val="B3B3B3"/>
                </a:solidFill>
                <a:latin typeface="Courier New"/>
                <a:cs typeface="Courier New"/>
              </a:rPr>
              <a:t> </a:t>
            </a:r>
            <a:r>
              <a:rPr sz="1600" dirty="0">
                <a:solidFill>
                  <a:srgbClr val="B3B3B3"/>
                </a:solidFill>
                <a:latin typeface="Wingdings"/>
                <a:cs typeface="Wingdings"/>
              </a:rPr>
              <a:t></a:t>
            </a:r>
            <a:r>
              <a:rPr sz="1600" spc="533" dirty="0">
                <a:solidFill>
                  <a:srgbClr val="B3B3B3"/>
                </a:solidFill>
                <a:latin typeface="Times New Roman"/>
                <a:cs typeface="Times New Roman"/>
              </a:rPr>
              <a:t> </a:t>
            </a:r>
            <a:r>
              <a:rPr sz="1600" spc="-27" dirty="0">
                <a:solidFill>
                  <a:srgbClr val="B3B3B3"/>
                </a:solidFill>
                <a:latin typeface="Courier New"/>
                <a:cs typeface="Courier New"/>
              </a:rPr>
              <a:t>1900-01-</a:t>
            </a:r>
            <a:r>
              <a:rPr sz="1600" dirty="0">
                <a:solidFill>
                  <a:srgbClr val="B3B3B3"/>
                </a:solidFill>
                <a:latin typeface="Courier New"/>
                <a:cs typeface="Courier New"/>
              </a:rPr>
              <a:t>01</a:t>
            </a:r>
            <a:r>
              <a:rPr sz="1600" spc="20" dirty="0">
                <a:solidFill>
                  <a:srgbClr val="B3B3B3"/>
                </a:solidFill>
                <a:latin typeface="Courier New"/>
                <a:cs typeface="Courier New"/>
              </a:rPr>
              <a:t> </a:t>
            </a:r>
            <a:r>
              <a:rPr sz="1600" spc="-13" dirty="0">
                <a:solidFill>
                  <a:srgbClr val="B3B3B3"/>
                </a:solidFill>
                <a:latin typeface="Courier New"/>
                <a:cs typeface="Courier New"/>
              </a:rPr>
              <a:t>(dim)</a:t>
            </a:r>
            <a:endParaRPr sz="1600">
              <a:latin typeface="Courier New"/>
              <a:cs typeface="Courier New"/>
            </a:endParaRP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254926" y="1547368"/>
            <a:ext cx="7545493" cy="1125094"/>
          </a:xfrm>
          <a:prstGeom prst="rect">
            <a:avLst/>
          </a:prstGeom>
        </p:spPr>
        <p:txBody>
          <a:bodyPr vert="horz" wrap="square" lIns="0" tIns="16933" rIns="0" bIns="0" rtlCol="0">
            <a:spAutoFit/>
          </a:bodyPr>
          <a:lstStyle/>
          <a:p>
            <a:pPr marL="448722" indent="-380990">
              <a:spcBef>
                <a:spcPts val="133"/>
              </a:spcBef>
              <a:buClr>
                <a:srgbClr val="99D3FF"/>
              </a:buClr>
              <a:buFont typeface="Wingdings"/>
              <a:buChar char=""/>
              <a:tabLst>
                <a:tab pos="448722" algn="l"/>
              </a:tabLst>
            </a:pPr>
            <a:r>
              <a:rPr sz="2400" b="1" dirty="0">
                <a:solidFill>
                  <a:srgbClr val="D9D9D9"/>
                </a:solidFill>
                <a:latin typeface="Calibri"/>
                <a:cs typeface="Calibri"/>
              </a:rPr>
              <a:t>Time</a:t>
            </a:r>
            <a:r>
              <a:rPr sz="2400" b="1" spc="-33" dirty="0">
                <a:solidFill>
                  <a:srgbClr val="D9D9D9"/>
                </a:solidFill>
                <a:latin typeface="Calibri"/>
                <a:cs typeface="Calibri"/>
              </a:rPr>
              <a:t> </a:t>
            </a:r>
            <a:r>
              <a:rPr sz="2400" b="1" dirty="0">
                <a:solidFill>
                  <a:srgbClr val="D9D9D9"/>
                </a:solidFill>
                <a:latin typeface="Calibri"/>
                <a:cs typeface="Calibri"/>
              </a:rPr>
              <a:t>is</a:t>
            </a:r>
            <a:r>
              <a:rPr sz="2400" b="1" spc="-20" dirty="0">
                <a:solidFill>
                  <a:srgbClr val="D9D9D9"/>
                </a:solidFill>
                <a:latin typeface="Calibri"/>
                <a:cs typeface="Calibri"/>
              </a:rPr>
              <a:t> </a:t>
            </a:r>
            <a:r>
              <a:rPr sz="2400" b="1" dirty="0">
                <a:solidFill>
                  <a:srgbClr val="D9D9D9"/>
                </a:solidFill>
                <a:latin typeface="Calibri"/>
                <a:cs typeface="Calibri"/>
              </a:rPr>
              <a:t>usually</a:t>
            </a:r>
            <a:r>
              <a:rPr sz="2400" b="1" spc="-20" dirty="0">
                <a:solidFill>
                  <a:srgbClr val="D9D9D9"/>
                </a:solidFill>
                <a:latin typeface="Calibri"/>
                <a:cs typeface="Calibri"/>
              </a:rPr>
              <a:t> </a:t>
            </a:r>
            <a:r>
              <a:rPr sz="2400" b="1" dirty="0">
                <a:solidFill>
                  <a:srgbClr val="D9D9D9"/>
                </a:solidFill>
                <a:latin typeface="Calibri"/>
                <a:cs typeface="Calibri"/>
              </a:rPr>
              <a:t>a</a:t>
            </a:r>
            <a:r>
              <a:rPr sz="2400" b="1" spc="-40" dirty="0">
                <a:solidFill>
                  <a:srgbClr val="D9D9D9"/>
                </a:solidFill>
                <a:latin typeface="Calibri"/>
                <a:cs typeface="Calibri"/>
              </a:rPr>
              <a:t> </a:t>
            </a:r>
            <a:r>
              <a:rPr sz="2400" b="1" dirty="0">
                <a:solidFill>
                  <a:srgbClr val="D9D9D9"/>
                </a:solidFill>
                <a:latin typeface="Calibri"/>
                <a:cs typeface="Calibri"/>
              </a:rPr>
              <a:t>separate</a:t>
            </a:r>
            <a:r>
              <a:rPr sz="2400" b="1" spc="-40" dirty="0">
                <a:solidFill>
                  <a:srgbClr val="D9D9D9"/>
                </a:solidFill>
                <a:latin typeface="Calibri"/>
                <a:cs typeface="Calibri"/>
              </a:rPr>
              <a:t> </a:t>
            </a:r>
            <a:r>
              <a:rPr sz="2400" b="1" spc="-13" dirty="0">
                <a:solidFill>
                  <a:srgbClr val="D9D9D9"/>
                </a:solidFill>
                <a:latin typeface="Calibri"/>
                <a:cs typeface="Calibri"/>
              </a:rPr>
              <a:t>dimension</a:t>
            </a:r>
            <a:endParaRPr sz="2400">
              <a:latin typeface="Calibri"/>
              <a:cs typeface="Calibri"/>
            </a:endParaRPr>
          </a:p>
          <a:p>
            <a:pPr>
              <a:spcBef>
                <a:spcPts val="13"/>
              </a:spcBef>
              <a:buClr>
                <a:srgbClr val="99D3FF"/>
              </a:buClr>
              <a:buFont typeface="Wingdings"/>
              <a:buChar char=""/>
            </a:pPr>
            <a:endParaRPr sz="2400">
              <a:latin typeface="Calibri"/>
              <a:cs typeface="Calibri"/>
            </a:endParaRPr>
          </a:p>
          <a:p>
            <a:pPr marL="397923" indent="-380990">
              <a:buClr>
                <a:srgbClr val="99D3FF"/>
              </a:buClr>
              <a:buFont typeface="Wingdings"/>
              <a:buChar char=""/>
              <a:tabLst>
                <a:tab pos="397923" algn="l"/>
              </a:tabLst>
            </a:pPr>
            <a:r>
              <a:rPr sz="2400" b="1" dirty="0">
                <a:solidFill>
                  <a:srgbClr val="D9D9D9"/>
                </a:solidFill>
                <a:latin typeface="Calibri"/>
                <a:cs typeface="Calibri"/>
              </a:rPr>
              <a:t>Can</a:t>
            </a:r>
            <a:r>
              <a:rPr sz="2400" b="1" spc="-13" dirty="0">
                <a:solidFill>
                  <a:srgbClr val="D9D9D9"/>
                </a:solidFill>
                <a:latin typeface="Calibri"/>
                <a:cs typeface="Calibri"/>
              </a:rPr>
              <a:t> </a:t>
            </a:r>
            <a:r>
              <a:rPr sz="2400" b="1" dirty="0">
                <a:solidFill>
                  <a:srgbClr val="D9D9D9"/>
                </a:solidFill>
                <a:latin typeface="Calibri"/>
                <a:cs typeface="Calibri"/>
              </a:rPr>
              <a:t>be</a:t>
            </a:r>
            <a:r>
              <a:rPr sz="2400" b="1" spc="-33" dirty="0">
                <a:solidFill>
                  <a:srgbClr val="D9D9D9"/>
                </a:solidFill>
                <a:latin typeface="Calibri"/>
                <a:cs typeface="Calibri"/>
              </a:rPr>
              <a:t> </a:t>
            </a:r>
            <a:r>
              <a:rPr sz="2400" b="1" dirty="0">
                <a:solidFill>
                  <a:srgbClr val="D9D9D9"/>
                </a:solidFill>
                <a:latin typeface="Calibri"/>
                <a:cs typeface="Calibri"/>
              </a:rPr>
              <a:t>populated</a:t>
            </a:r>
            <a:r>
              <a:rPr sz="2400" b="1" spc="-67" dirty="0">
                <a:solidFill>
                  <a:srgbClr val="D9D9D9"/>
                </a:solidFill>
                <a:latin typeface="Calibri"/>
                <a:cs typeface="Calibri"/>
              </a:rPr>
              <a:t> </a:t>
            </a:r>
            <a:r>
              <a:rPr sz="2400" b="1" dirty="0">
                <a:solidFill>
                  <a:srgbClr val="D9D9D9"/>
                </a:solidFill>
                <a:latin typeface="Calibri"/>
                <a:cs typeface="Calibri"/>
              </a:rPr>
              <a:t>in</a:t>
            </a:r>
            <a:r>
              <a:rPr sz="2400" b="1" spc="-20" dirty="0">
                <a:solidFill>
                  <a:srgbClr val="D9D9D9"/>
                </a:solidFill>
                <a:latin typeface="Calibri"/>
                <a:cs typeface="Calibri"/>
              </a:rPr>
              <a:t> </a:t>
            </a:r>
            <a:r>
              <a:rPr sz="2400" b="1" dirty="0">
                <a:solidFill>
                  <a:srgbClr val="D9D9D9"/>
                </a:solidFill>
                <a:latin typeface="Calibri"/>
                <a:cs typeface="Calibri"/>
              </a:rPr>
              <a:t>advance</a:t>
            </a:r>
            <a:r>
              <a:rPr sz="2400" b="1" spc="-47" dirty="0">
                <a:solidFill>
                  <a:srgbClr val="D9D9D9"/>
                </a:solidFill>
                <a:latin typeface="Calibri"/>
                <a:cs typeface="Calibri"/>
              </a:rPr>
              <a:t> </a:t>
            </a:r>
            <a:r>
              <a:rPr sz="2400" b="1" dirty="0">
                <a:solidFill>
                  <a:srgbClr val="D9D9D9"/>
                </a:solidFill>
                <a:latin typeface="Calibri"/>
                <a:cs typeface="Calibri"/>
              </a:rPr>
              <a:t>(e.g.</a:t>
            </a:r>
            <a:r>
              <a:rPr sz="2400" b="1" spc="-27" dirty="0">
                <a:solidFill>
                  <a:srgbClr val="D9D9D9"/>
                </a:solidFill>
                <a:latin typeface="Calibri"/>
                <a:cs typeface="Calibri"/>
              </a:rPr>
              <a:t> </a:t>
            </a:r>
            <a:r>
              <a:rPr sz="2400" b="1" dirty="0">
                <a:solidFill>
                  <a:srgbClr val="D9D9D9"/>
                </a:solidFill>
                <a:latin typeface="Calibri"/>
                <a:cs typeface="Calibri"/>
              </a:rPr>
              <a:t>for</a:t>
            </a:r>
            <a:r>
              <a:rPr sz="2400" b="1" spc="-20" dirty="0">
                <a:solidFill>
                  <a:srgbClr val="D9D9D9"/>
                </a:solidFill>
                <a:latin typeface="Calibri"/>
                <a:cs typeface="Calibri"/>
              </a:rPr>
              <a:t> </a:t>
            </a:r>
            <a:r>
              <a:rPr sz="2400" b="1" dirty="0">
                <a:solidFill>
                  <a:srgbClr val="D9D9D9"/>
                </a:solidFill>
                <a:latin typeface="Calibri"/>
                <a:cs typeface="Calibri"/>
              </a:rPr>
              <a:t>next</a:t>
            </a:r>
            <a:r>
              <a:rPr sz="2400" b="1" spc="-20" dirty="0">
                <a:solidFill>
                  <a:srgbClr val="D9D9D9"/>
                </a:solidFill>
                <a:latin typeface="Calibri"/>
                <a:cs typeface="Calibri"/>
              </a:rPr>
              <a:t> </a:t>
            </a:r>
            <a:r>
              <a:rPr sz="2400" b="1" dirty="0">
                <a:solidFill>
                  <a:srgbClr val="D9D9D9"/>
                </a:solidFill>
                <a:latin typeface="Calibri"/>
                <a:cs typeface="Calibri"/>
              </a:rPr>
              <a:t>5</a:t>
            </a:r>
            <a:r>
              <a:rPr sz="2400" b="1" spc="-7" dirty="0">
                <a:solidFill>
                  <a:srgbClr val="D9D9D9"/>
                </a:solidFill>
                <a:latin typeface="Calibri"/>
                <a:cs typeface="Calibri"/>
              </a:rPr>
              <a:t> </a:t>
            </a:r>
            <a:r>
              <a:rPr sz="2400" b="1" dirty="0">
                <a:solidFill>
                  <a:srgbClr val="D9D9D9"/>
                </a:solidFill>
                <a:latin typeface="Calibri"/>
                <a:cs typeface="Calibri"/>
              </a:rPr>
              <a:t>or</a:t>
            </a:r>
            <a:r>
              <a:rPr sz="2400" b="1" spc="-20" dirty="0">
                <a:solidFill>
                  <a:srgbClr val="D9D9D9"/>
                </a:solidFill>
                <a:latin typeface="Calibri"/>
                <a:cs typeface="Calibri"/>
              </a:rPr>
              <a:t> </a:t>
            </a:r>
            <a:r>
              <a:rPr sz="2400" b="1" dirty="0">
                <a:solidFill>
                  <a:srgbClr val="D9D9D9"/>
                </a:solidFill>
                <a:latin typeface="Calibri"/>
                <a:cs typeface="Calibri"/>
              </a:rPr>
              <a:t>10</a:t>
            </a:r>
            <a:r>
              <a:rPr sz="2400" b="1" spc="-7" dirty="0">
                <a:solidFill>
                  <a:srgbClr val="D9D9D9"/>
                </a:solidFill>
                <a:latin typeface="Calibri"/>
                <a:cs typeface="Calibri"/>
              </a:rPr>
              <a:t> </a:t>
            </a:r>
            <a:r>
              <a:rPr sz="2400" b="1" spc="-13" dirty="0">
                <a:solidFill>
                  <a:srgbClr val="D9D9D9"/>
                </a:solidFill>
                <a:latin typeface="Calibri"/>
                <a:cs typeface="Calibri"/>
              </a:rPr>
              <a:t>years)</a:t>
            </a:r>
            <a:endParaRPr sz="2400">
              <a:latin typeface="Calibri"/>
              <a:cs typeface="Calibri"/>
            </a:endParaRPr>
          </a:p>
        </p:txBody>
      </p:sp>
      <p:grpSp>
        <p:nvGrpSpPr>
          <p:cNvPr id="4" name="object 4"/>
          <p:cNvGrpSpPr/>
          <p:nvPr/>
        </p:nvGrpSpPr>
        <p:grpSpPr>
          <a:xfrm>
            <a:off x="479551" y="2749262"/>
            <a:ext cx="4197096" cy="1616489"/>
            <a:chOff x="359663" y="2061946"/>
            <a:chExt cx="3147822" cy="1212367"/>
          </a:xfrm>
        </p:grpSpPr>
        <p:pic>
          <p:nvPicPr>
            <p:cNvPr id="5" name="object 5"/>
            <p:cNvPicPr/>
            <p:nvPr/>
          </p:nvPicPr>
          <p:blipFill>
            <a:blip r:embed="rId2" cstate="print"/>
            <a:stretch>
              <a:fillRect/>
            </a:stretch>
          </p:blipFill>
          <p:spPr>
            <a:xfrm>
              <a:off x="359663" y="2061946"/>
              <a:ext cx="3147822" cy="1212367"/>
            </a:xfrm>
            <a:prstGeom prst="rect">
              <a:avLst/>
            </a:prstGeom>
          </p:spPr>
        </p:pic>
        <p:sp>
          <p:nvSpPr>
            <p:cNvPr id="7" name="object 7"/>
            <p:cNvSpPr/>
            <p:nvPr/>
          </p:nvSpPr>
          <p:spPr>
            <a:xfrm>
              <a:off x="686561" y="2216658"/>
              <a:ext cx="2514600" cy="581025"/>
            </a:xfrm>
            <a:custGeom>
              <a:avLst/>
              <a:gdLst/>
              <a:ahLst/>
              <a:cxnLst/>
              <a:rect l="l" t="t" r="r" b="b"/>
              <a:pathLst>
                <a:path w="2514600" h="581025">
                  <a:moveTo>
                    <a:pt x="0" y="290322"/>
                  </a:moveTo>
                  <a:lnTo>
                    <a:pt x="145160" y="0"/>
                  </a:lnTo>
                  <a:lnTo>
                    <a:pt x="2369439" y="0"/>
                  </a:lnTo>
                  <a:lnTo>
                    <a:pt x="2514600" y="290322"/>
                  </a:lnTo>
                  <a:lnTo>
                    <a:pt x="2369439" y="580644"/>
                  </a:lnTo>
                  <a:lnTo>
                    <a:pt x="145160" y="580644"/>
                  </a:lnTo>
                  <a:lnTo>
                    <a:pt x="0" y="290322"/>
                  </a:lnTo>
                  <a:close/>
                </a:path>
              </a:pathLst>
            </a:custGeom>
            <a:ln w="19811">
              <a:solidFill>
                <a:srgbClr val="00C3FF"/>
              </a:solidFill>
            </a:ln>
          </p:spPr>
          <p:txBody>
            <a:bodyPr wrap="square" lIns="0" tIns="0" rIns="0" bIns="0" rtlCol="0"/>
            <a:lstStyle/>
            <a:p>
              <a:endParaRPr sz="2400"/>
            </a:p>
          </p:txBody>
        </p:sp>
      </p:grpSp>
      <p:sp>
        <p:nvSpPr>
          <p:cNvPr id="8" name="object 8"/>
          <p:cNvSpPr txBox="1"/>
          <p:nvPr/>
        </p:nvSpPr>
        <p:spPr>
          <a:xfrm>
            <a:off x="1616795" y="3100493"/>
            <a:ext cx="1952413" cy="427532"/>
          </a:xfrm>
          <a:prstGeom prst="rect">
            <a:avLst/>
          </a:prstGeom>
        </p:spPr>
        <p:txBody>
          <a:bodyPr vert="horz" wrap="square" lIns="0" tIns="16933" rIns="0" bIns="0" rtlCol="0">
            <a:spAutoFit/>
          </a:bodyPr>
          <a:lstStyle/>
          <a:p>
            <a:pPr marL="16933">
              <a:spcBef>
                <a:spcPts val="133"/>
              </a:spcBef>
            </a:pPr>
            <a:r>
              <a:rPr sz="2667" b="1" dirty="0">
                <a:solidFill>
                  <a:srgbClr val="CCEAFF"/>
                </a:solidFill>
                <a:latin typeface="Calibri"/>
                <a:cs typeface="Calibri"/>
              </a:rPr>
              <a:t>Date</a:t>
            </a:r>
            <a:r>
              <a:rPr sz="2667" b="1" spc="-40" dirty="0">
                <a:solidFill>
                  <a:srgbClr val="CCEAFF"/>
                </a:solidFill>
                <a:latin typeface="Calibri"/>
                <a:cs typeface="Calibri"/>
              </a:rPr>
              <a:t> </a:t>
            </a:r>
            <a:r>
              <a:rPr sz="2667" b="1" spc="-13" dirty="0">
                <a:solidFill>
                  <a:srgbClr val="CCEAFF"/>
                </a:solidFill>
                <a:latin typeface="Calibri"/>
                <a:cs typeface="Calibri"/>
              </a:rPr>
              <a:t>features</a:t>
            </a:r>
            <a:endParaRPr sz="2667">
              <a:latin typeface="Calibri"/>
              <a:cs typeface="Calibri"/>
            </a:endParaRPr>
          </a:p>
        </p:txBody>
      </p:sp>
      <p:sp>
        <p:nvSpPr>
          <p:cNvPr id="9" name="object 9"/>
          <p:cNvSpPr txBox="1"/>
          <p:nvPr/>
        </p:nvSpPr>
        <p:spPr>
          <a:xfrm>
            <a:off x="4576234" y="2907791"/>
            <a:ext cx="6656493" cy="2296355"/>
          </a:xfrm>
          <a:prstGeom prst="rect">
            <a:avLst/>
          </a:prstGeom>
        </p:spPr>
        <p:txBody>
          <a:bodyPr vert="horz" wrap="square" lIns="0" tIns="102447" rIns="0" bIns="0" rtlCol="0">
            <a:spAutoFit/>
          </a:bodyPr>
          <a:lstStyle/>
          <a:p>
            <a:pPr marL="398770" indent="-381837">
              <a:spcBef>
                <a:spcPts val="807"/>
              </a:spcBef>
              <a:buClr>
                <a:srgbClr val="99D3FF"/>
              </a:buClr>
              <a:buFont typeface="Wingdings"/>
              <a:buChar char=""/>
              <a:tabLst>
                <a:tab pos="398770" algn="l"/>
              </a:tabLst>
            </a:pPr>
            <a:r>
              <a:rPr sz="2400" b="1" dirty="0">
                <a:solidFill>
                  <a:srgbClr val="D9D9D9"/>
                </a:solidFill>
                <a:latin typeface="Calibri"/>
                <a:cs typeface="Calibri"/>
              </a:rPr>
              <a:t>Numbers</a:t>
            </a:r>
            <a:r>
              <a:rPr sz="2400" b="1" spc="-60" dirty="0">
                <a:solidFill>
                  <a:srgbClr val="D9D9D9"/>
                </a:solidFill>
                <a:latin typeface="Calibri"/>
                <a:cs typeface="Calibri"/>
              </a:rPr>
              <a:t> </a:t>
            </a:r>
            <a:r>
              <a:rPr sz="2400" b="1" dirty="0">
                <a:solidFill>
                  <a:srgbClr val="D9D9D9"/>
                </a:solidFill>
                <a:latin typeface="Calibri"/>
                <a:cs typeface="Calibri"/>
              </a:rPr>
              <a:t>&amp; Text</a:t>
            </a:r>
            <a:r>
              <a:rPr sz="2400" b="1" spc="-20" dirty="0">
                <a:solidFill>
                  <a:srgbClr val="D9D9D9"/>
                </a:solidFill>
                <a:latin typeface="Calibri"/>
                <a:cs typeface="Calibri"/>
              </a:rPr>
              <a:t> </a:t>
            </a:r>
            <a:r>
              <a:rPr sz="2400" b="1" dirty="0">
                <a:solidFill>
                  <a:srgbClr val="D9D9D9"/>
                </a:solidFill>
                <a:latin typeface="Calibri"/>
                <a:cs typeface="Calibri"/>
              </a:rPr>
              <a:t>(e.g.</a:t>
            </a:r>
            <a:r>
              <a:rPr sz="2400" b="1" spc="-40" dirty="0">
                <a:solidFill>
                  <a:srgbClr val="D9D9D9"/>
                </a:solidFill>
                <a:latin typeface="Calibri"/>
                <a:cs typeface="Calibri"/>
              </a:rPr>
              <a:t> </a:t>
            </a:r>
            <a:r>
              <a:rPr sz="2400" b="1" dirty="0">
                <a:solidFill>
                  <a:srgbClr val="D9D9D9"/>
                </a:solidFill>
                <a:latin typeface="Calibri"/>
                <a:cs typeface="Calibri"/>
              </a:rPr>
              <a:t>January,</a:t>
            </a:r>
            <a:r>
              <a:rPr sz="2400" b="1" spc="-27" dirty="0">
                <a:solidFill>
                  <a:srgbClr val="D9D9D9"/>
                </a:solidFill>
                <a:latin typeface="Calibri"/>
                <a:cs typeface="Calibri"/>
              </a:rPr>
              <a:t> </a:t>
            </a:r>
            <a:r>
              <a:rPr sz="2400" b="1" spc="-33" dirty="0">
                <a:solidFill>
                  <a:srgbClr val="D9D9D9"/>
                </a:solidFill>
                <a:latin typeface="Calibri"/>
                <a:cs typeface="Calibri"/>
              </a:rPr>
              <a:t>1)</a:t>
            </a:r>
            <a:endParaRPr sz="2400">
              <a:latin typeface="Calibri"/>
              <a:cs typeface="Calibri"/>
            </a:endParaRPr>
          </a:p>
          <a:p>
            <a:pPr marL="398770" indent="-381837">
              <a:spcBef>
                <a:spcPts val="679"/>
              </a:spcBef>
              <a:buClr>
                <a:srgbClr val="99D3FF"/>
              </a:buClr>
              <a:buFont typeface="Wingdings"/>
              <a:buChar char=""/>
              <a:tabLst>
                <a:tab pos="398770" algn="l"/>
              </a:tabLst>
            </a:pPr>
            <a:r>
              <a:rPr sz="2400" b="1" dirty="0">
                <a:solidFill>
                  <a:srgbClr val="D9D9D9"/>
                </a:solidFill>
                <a:latin typeface="Calibri"/>
                <a:cs typeface="Calibri"/>
              </a:rPr>
              <a:t>Long</a:t>
            </a:r>
            <a:r>
              <a:rPr sz="2400" b="1" spc="-33" dirty="0">
                <a:solidFill>
                  <a:srgbClr val="D9D9D9"/>
                </a:solidFill>
                <a:latin typeface="Calibri"/>
                <a:cs typeface="Calibri"/>
              </a:rPr>
              <a:t> </a:t>
            </a:r>
            <a:r>
              <a:rPr sz="2400" b="1" dirty="0">
                <a:solidFill>
                  <a:srgbClr val="D9D9D9"/>
                </a:solidFill>
                <a:latin typeface="Calibri"/>
                <a:cs typeface="Calibri"/>
              </a:rPr>
              <a:t>&amp;</a:t>
            </a:r>
            <a:r>
              <a:rPr sz="2400" b="1" spc="-7" dirty="0">
                <a:solidFill>
                  <a:srgbClr val="D9D9D9"/>
                </a:solidFill>
                <a:latin typeface="Calibri"/>
                <a:cs typeface="Calibri"/>
              </a:rPr>
              <a:t> </a:t>
            </a:r>
            <a:r>
              <a:rPr sz="2400" b="1" dirty="0">
                <a:solidFill>
                  <a:srgbClr val="D9D9D9"/>
                </a:solidFill>
                <a:latin typeface="Calibri"/>
                <a:cs typeface="Calibri"/>
              </a:rPr>
              <a:t>Abreviated</a:t>
            </a:r>
            <a:r>
              <a:rPr sz="2400" b="1" spc="-20" dirty="0">
                <a:solidFill>
                  <a:srgbClr val="D9D9D9"/>
                </a:solidFill>
                <a:latin typeface="Calibri"/>
                <a:cs typeface="Calibri"/>
              </a:rPr>
              <a:t> </a:t>
            </a:r>
            <a:r>
              <a:rPr sz="2400" b="1" dirty="0">
                <a:solidFill>
                  <a:srgbClr val="D9D9D9"/>
                </a:solidFill>
                <a:latin typeface="Calibri"/>
                <a:cs typeface="Calibri"/>
              </a:rPr>
              <a:t>(Jan,</a:t>
            </a:r>
            <a:r>
              <a:rPr sz="2400" b="1" spc="-7" dirty="0">
                <a:solidFill>
                  <a:srgbClr val="D9D9D9"/>
                </a:solidFill>
                <a:latin typeface="Calibri"/>
                <a:cs typeface="Calibri"/>
              </a:rPr>
              <a:t> </a:t>
            </a:r>
            <a:r>
              <a:rPr sz="2400" b="1" dirty="0">
                <a:solidFill>
                  <a:srgbClr val="D9D9D9"/>
                </a:solidFill>
                <a:latin typeface="Calibri"/>
                <a:cs typeface="Calibri"/>
              </a:rPr>
              <a:t>January</a:t>
            </a:r>
            <a:r>
              <a:rPr sz="2400" b="1" spc="-47" dirty="0">
                <a:solidFill>
                  <a:srgbClr val="D9D9D9"/>
                </a:solidFill>
                <a:latin typeface="Calibri"/>
                <a:cs typeface="Calibri"/>
              </a:rPr>
              <a:t> </a:t>
            </a:r>
            <a:r>
              <a:rPr sz="2400" b="1" dirty="0">
                <a:solidFill>
                  <a:srgbClr val="D9D9D9"/>
                </a:solidFill>
                <a:latin typeface="Calibri"/>
                <a:cs typeface="Calibri"/>
              </a:rPr>
              <a:t>–</a:t>
            </a:r>
            <a:r>
              <a:rPr sz="2400" b="1" spc="13" dirty="0">
                <a:solidFill>
                  <a:srgbClr val="D9D9D9"/>
                </a:solidFill>
                <a:latin typeface="Calibri"/>
                <a:cs typeface="Calibri"/>
              </a:rPr>
              <a:t> </a:t>
            </a:r>
            <a:r>
              <a:rPr sz="2400" b="1" dirty="0">
                <a:solidFill>
                  <a:srgbClr val="D9D9D9"/>
                </a:solidFill>
                <a:latin typeface="Calibri"/>
                <a:cs typeface="Calibri"/>
              </a:rPr>
              <a:t>Mon,</a:t>
            </a:r>
            <a:r>
              <a:rPr sz="2400" b="1" spc="-33" dirty="0">
                <a:solidFill>
                  <a:srgbClr val="D9D9D9"/>
                </a:solidFill>
                <a:latin typeface="Calibri"/>
                <a:cs typeface="Calibri"/>
              </a:rPr>
              <a:t> </a:t>
            </a:r>
            <a:r>
              <a:rPr sz="2400" b="1" spc="-13" dirty="0">
                <a:solidFill>
                  <a:srgbClr val="D9D9D9"/>
                </a:solidFill>
                <a:latin typeface="Calibri"/>
                <a:cs typeface="Calibri"/>
              </a:rPr>
              <a:t>Monday)</a:t>
            </a:r>
            <a:endParaRPr sz="2400">
              <a:latin typeface="Calibri"/>
              <a:cs typeface="Calibri"/>
            </a:endParaRPr>
          </a:p>
          <a:p>
            <a:pPr marL="398770" indent="-381837">
              <a:spcBef>
                <a:spcPts val="667"/>
              </a:spcBef>
              <a:buClr>
                <a:srgbClr val="99D3FF"/>
              </a:buClr>
              <a:buFont typeface="Wingdings"/>
              <a:buChar char=""/>
              <a:tabLst>
                <a:tab pos="398770" algn="l"/>
              </a:tabLst>
            </a:pPr>
            <a:r>
              <a:rPr sz="2400" b="1" dirty="0">
                <a:solidFill>
                  <a:srgbClr val="D9D9D9"/>
                </a:solidFill>
                <a:latin typeface="Calibri"/>
                <a:cs typeface="Calibri"/>
              </a:rPr>
              <a:t>Combinations</a:t>
            </a:r>
            <a:r>
              <a:rPr sz="2400" b="1" spc="-40" dirty="0">
                <a:solidFill>
                  <a:srgbClr val="D9D9D9"/>
                </a:solidFill>
                <a:latin typeface="Calibri"/>
                <a:cs typeface="Calibri"/>
              </a:rPr>
              <a:t> </a:t>
            </a:r>
            <a:r>
              <a:rPr sz="2400" b="1" dirty="0">
                <a:solidFill>
                  <a:srgbClr val="D9D9D9"/>
                </a:solidFill>
                <a:latin typeface="Calibri"/>
                <a:cs typeface="Calibri"/>
              </a:rPr>
              <a:t>of</a:t>
            </a:r>
            <a:r>
              <a:rPr sz="2400" b="1" spc="-47" dirty="0">
                <a:solidFill>
                  <a:srgbClr val="D9D9D9"/>
                </a:solidFill>
                <a:latin typeface="Calibri"/>
                <a:cs typeface="Calibri"/>
              </a:rPr>
              <a:t> </a:t>
            </a:r>
            <a:r>
              <a:rPr sz="2400" b="1" dirty="0">
                <a:solidFill>
                  <a:srgbClr val="D9D9D9"/>
                </a:solidFill>
                <a:latin typeface="Calibri"/>
                <a:cs typeface="Calibri"/>
              </a:rPr>
              <a:t>attributes</a:t>
            </a:r>
            <a:r>
              <a:rPr sz="2400" b="1" spc="-60" dirty="0">
                <a:solidFill>
                  <a:srgbClr val="D9D9D9"/>
                </a:solidFill>
                <a:latin typeface="Calibri"/>
                <a:cs typeface="Calibri"/>
              </a:rPr>
              <a:t> </a:t>
            </a:r>
            <a:r>
              <a:rPr sz="2400" b="1" dirty="0">
                <a:solidFill>
                  <a:srgbClr val="D9D9D9"/>
                </a:solidFill>
                <a:latin typeface="Calibri"/>
                <a:cs typeface="Calibri"/>
              </a:rPr>
              <a:t>(Q1,</a:t>
            </a:r>
            <a:r>
              <a:rPr sz="2400" b="1" spc="-7" dirty="0">
                <a:solidFill>
                  <a:srgbClr val="D9D9D9"/>
                </a:solidFill>
                <a:latin typeface="Calibri"/>
                <a:cs typeface="Calibri"/>
              </a:rPr>
              <a:t> </a:t>
            </a:r>
            <a:r>
              <a:rPr sz="2400" b="1" spc="-13" dirty="0">
                <a:solidFill>
                  <a:srgbClr val="D9D9D9"/>
                </a:solidFill>
                <a:latin typeface="Calibri"/>
                <a:cs typeface="Calibri"/>
              </a:rPr>
              <a:t>2022-</a:t>
            </a:r>
            <a:r>
              <a:rPr sz="2400" b="1" spc="-33" dirty="0">
                <a:solidFill>
                  <a:srgbClr val="D9D9D9"/>
                </a:solidFill>
                <a:latin typeface="Calibri"/>
                <a:cs typeface="Calibri"/>
              </a:rPr>
              <a:t>Q1)</a:t>
            </a:r>
            <a:endParaRPr sz="2400">
              <a:latin typeface="Calibri"/>
              <a:cs typeface="Calibri"/>
            </a:endParaRPr>
          </a:p>
          <a:p>
            <a:pPr marL="398770" indent="-381837">
              <a:spcBef>
                <a:spcPts val="660"/>
              </a:spcBef>
              <a:buClr>
                <a:srgbClr val="99D3FF"/>
              </a:buClr>
              <a:buFont typeface="Wingdings"/>
              <a:buChar char=""/>
              <a:tabLst>
                <a:tab pos="398770" algn="l"/>
              </a:tabLst>
            </a:pPr>
            <a:r>
              <a:rPr sz="2400" b="1" dirty="0">
                <a:solidFill>
                  <a:srgbClr val="D9D9D9"/>
                </a:solidFill>
                <a:latin typeface="Calibri"/>
                <a:cs typeface="Calibri"/>
              </a:rPr>
              <a:t>Fiscal</a:t>
            </a:r>
            <a:r>
              <a:rPr sz="2400" b="1" spc="-40" dirty="0">
                <a:solidFill>
                  <a:srgbClr val="D9D9D9"/>
                </a:solidFill>
                <a:latin typeface="Calibri"/>
                <a:cs typeface="Calibri"/>
              </a:rPr>
              <a:t> </a:t>
            </a:r>
            <a:r>
              <a:rPr sz="2400" b="1" dirty="0">
                <a:solidFill>
                  <a:srgbClr val="D9D9D9"/>
                </a:solidFill>
                <a:latin typeface="Calibri"/>
                <a:cs typeface="Calibri"/>
              </a:rPr>
              <a:t>dates</a:t>
            </a:r>
            <a:r>
              <a:rPr sz="2400" b="1" spc="-33" dirty="0">
                <a:solidFill>
                  <a:srgbClr val="D9D9D9"/>
                </a:solidFill>
                <a:latin typeface="Calibri"/>
                <a:cs typeface="Calibri"/>
              </a:rPr>
              <a:t> </a:t>
            </a:r>
            <a:r>
              <a:rPr sz="2400" b="1" dirty="0">
                <a:solidFill>
                  <a:srgbClr val="D9D9D9"/>
                </a:solidFill>
                <a:latin typeface="Calibri"/>
                <a:cs typeface="Calibri"/>
              </a:rPr>
              <a:t>(Fiscal</a:t>
            </a:r>
            <a:r>
              <a:rPr sz="2400" b="1" spc="-33" dirty="0">
                <a:solidFill>
                  <a:srgbClr val="D9D9D9"/>
                </a:solidFill>
                <a:latin typeface="Calibri"/>
                <a:cs typeface="Calibri"/>
              </a:rPr>
              <a:t> </a:t>
            </a:r>
            <a:r>
              <a:rPr sz="2400" b="1" dirty="0">
                <a:solidFill>
                  <a:srgbClr val="D9D9D9"/>
                </a:solidFill>
                <a:latin typeface="Calibri"/>
                <a:cs typeface="Calibri"/>
              </a:rPr>
              <a:t>Year</a:t>
            </a:r>
            <a:r>
              <a:rPr sz="2400" b="1" spc="-27" dirty="0">
                <a:solidFill>
                  <a:srgbClr val="D9D9D9"/>
                </a:solidFill>
                <a:latin typeface="Calibri"/>
                <a:cs typeface="Calibri"/>
              </a:rPr>
              <a:t> </a:t>
            </a:r>
            <a:r>
              <a:rPr sz="2400" b="1" spc="-13" dirty="0">
                <a:solidFill>
                  <a:srgbClr val="D9D9D9"/>
                </a:solidFill>
                <a:latin typeface="Calibri"/>
                <a:cs typeface="Calibri"/>
              </a:rPr>
              <a:t>etc.)</a:t>
            </a:r>
            <a:endParaRPr sz="2400">
              <a:latin typeface="Calibri"/>
              <a:cs typeface="Calibri"/>
            </a:endParaRPr>
          </a:p>
          <a:p>
            <a:pPr marL="398770" indent="-381837">
              <a:spcBef>
                <a:spcPts val="573"/>
              </a:spcBef>
              <a:buClr>
                <a:srgbClr val="99D3FF"/>
              </a:buClr>
              <a:buFont typeface="Wingdings"/>
              <a:buChar char=""/>
              <a:tabLst>
                <a:tab pos="398770" algn="l"/>
              </a:tabLst>
            </a:pPr>
            <a:r>
              <a:rPr sz="2400" b="1" dirty="0">
                <a:solidFill>
                  <a:srgbClr val="D9D9D9"/>
                </a:solidFill>
                <a:latin typeface="Calibri"/>
                <a:cs typeface="Calibri"/>
              </a:rPr>
              <a:t>Flags</a:t>
            </a:r>
            <a:r>
              <a:rPr sz="2400" b="1" spc="-33" dirty="0">
                <a:solidFill>
                  <a:srgbClr val="D9D9D9"/>
                </a:solidFill>
                <a:latin typeface="Calibri"/>
                <a:cs typeface="Calibri"/>
              </a:rPr>
              <a:t> </a:t>
            </a:r>
            <a:r>
              <a:rPr sz="2400" b="1" dirty="0">
                <a:solidFill>
                  <a:srgbClr val="D9D9D9"/>
                </a:solidFill>
                <a:latin typeface="Calibri"/>
                <a:cs typeface="Calibri"/>
              </a:rPr>
              <a:t>(Weekend,</a:t>
            </a:r>
            <a:r>
              <a:rPr sz="2400" b="1" spc="-53" dirty="0">
                <a:solidFill>
                  <a:srgbClr val="D9D9D9"/>
                </a:solidFill>
                <a:latin typeface="Calibri"/>
                <a:cs typeface="Calibri"/>
              </a:rPr>
              <a:t> </a:t>
            </a:r>
            <a:r>
              <a:rPr sz="2400" b="1" dirty="0">
                <a:solidFill>
                  <a:srgbClr val="D9D9D9"/>
                </a:solidFill>
                <a:latin typeface="Calibri"/>
                <a:cs typeface="Calibri"/>
              </a:rPr>
              <a:t>company</a:t>
            </a:r>
            <a:r>
              <a:rPr sz="2400" b="1" spc="-53" dirty="0">
                <a:solidFill>
                  <a:srgbClr val="D9D9D9"/>
                </a:solidFill>
                <a:latin typeface="Calibri"/>
                <a:cs typeface="Calibri"/>
              </a:rPr>
              <a:t> </a:t>
            </a:r>
            <a:r>
              <a:rPr sz="2400" b="1" dirty="0">
                <a:solidFill>
                  <a:srgbClr val="D9D9D9"/>
                </a:solidFill>
                <a:latin typeface="Calibri"/>
                <a:cs typeface="Calibri"/>
              </a:rPr>
              <a:t>holidays</a:t>
            </a:r>
            <a:r>
              <a:rPr sz="2400" b="1" spc="-27" dirty="0">
                <a:solidFill>
                  <a:srgbClr val="D9D9D9"/>
                </a:solidFill>
                <a:latin typeface="Calibri"/>
                <a:cs typeface="Calibri"/>
              </a:rPr>
              <a:t> </a:t>
            </a:r>
            <a:r>
              <a:rPr sz="2400" b="1" spc="-13" dirty="0">
                <a:solidFill>
                  <a:srgbClr val="D9D9D9"/>
                </a:solidFill>
                <a:latin typeface="Calibri"/>
                <a:cs typeface="Calibri"/>
              </a:rPr>
              <a:t>etc.)</a:t>
            </a:r>
            <a:endParaRPr sz="2400">
              <a:latin typeface="Calibri"/>
              <a:cs typeface="Calibri"/>
            </a:endParaRPr>
          </a:p>
        </p:txBody>
      </p:sp>
      <p:graphicFrame>
        <p:nvGraphicFramePr>
          <p:cNvPr id="10" name="object 10"/>
          <p:cNvGraphicFramePr>
            <a:graphicFrameLocks noGrp="1"/>
          </p:cNvGraphicFramePr>
          <p:nvPr>
            <p:extLst>
              <p:ext uri="{D42A27DB-BD31-4B8C-83A1-F6EECF244321}">
                <p14:modId xmlns:p14="http://schemas.microsoft.com/office/powerpoint/2010/main" val="1792264753"/>
              </p:ext>
            </p:extLst>
          </p:nvPr>
        </p:nvGraphicFramePr>
        <p:xfrm>
          <a:off x="1293723" y="5452534"/>
          <a:ext cx="10106458" cy="1292413"/>
        </p:xfrm>
        <a:graphic>
          <a:graphicData uri="http://schemas.openxmlformats.org/drawingml/2006/table">
            <a:tbl>
              <a:tblPr firstRow="1" bandRow="1">
                <a:tableStyleId>{2D5ABB26-0587-4C30-8999-92F81FD0307C}</a:tableStyleId>
              </a:tblPr>
              <a:tblGrid>
                <a:gridCol w="995592">
                  <a:extLst>
                    <a:ext uri="{9D8B030D-6E8A-4147-A177-3AD203B41FA5}">
                      <a16:colId xmlns:a16="http://schemas.microsoft.com/office/drawing/2014/main" val="20000"/>
                    </a:ext>
                  </a:extLst>
                </a:gridCol>
                <a:gridCol w="1760880">
                  <a:extLst>
                    <a:ext uri="{9D8B030D-6E8A-4147-A177-3AD203B41FA5}">
                      <a16:colId xmlns:a16="http://schemas.microsoft.com/office/drawing/2014/main" val="20001"/>
                    </a:ext>
                  </a:extLst>
                </a:gridCol>
                <a:gridCol w="1224997">
                  <a:extLst>
                    <a:ext uri="{9D8B030D-6E8A-4147-A177-3AD203B41FA5}">
                      <a16:colId xmlns:a16="http://schemas.microsoft.com/office/drawing/2014/main" val="20002"/>
                    </a:ext>
                  </a:extLst>
                </a:gridCol>
                <a:gridCol w="1224997">
                  <a:extLst>
                    <a:ext uri="{9D8B030D-6E8A-4147-A177-3AD203B41FA5}">
                      <a16:colId xmlns:a16="http://schemas.microsoft.com/office/drawing/2014/main" val="20003"/>
                    </a:ext>
                  </a:extLst>
                </a:gridCol>
                <a:gridCol w="1224998">
                  <a:extLst>
                    <a:ext uri="{9D8B030D-6E8A-4147-A177-3AD203B41FA5}">
                      <a16:colId xmlns:a16="http://schemas.microsoft.com/office/drawing/2014/main" val="20004"/>
                    </a:ext>
                  </a:extLst>
                </a:gridCol>
                <a:gridCol w="1224998">
                  <a:extLst>
                    <a:ext uri="{9D8B030D-6E8A-4147-A177-3AD203B41FA5}">
                      <a16:colId xmlns:a16="http://schemas.microsoft.com/office/drawing/2014/main" val="20005"/>
                    </a:ext>
                  </a:extLst>
                </a:gridCol>
                <a:gridCol w="1224998">
                  <a:extLst>
                    <a:ext uri="{9D8B030D-6E8A-4147-A177-3AD203B41FA5}">
                      <a16:colId xmlns:a16="http://schemas.microsoft.com/office/drawing/2014/main" val="20006"/>
                    </a:ext>
                  </a:extLst>
                </a:gridCol>
                <a:gridCol w="1224998">
                  <a:extLst>
                    <a:ext uri="{9D8B030D-6E8A-4147-A177-3AD203B41FA5}">
                      <a16:colId xmlns:a16="http://schemas.microsoft.com/office/drawing/2014/main" val="20007"/>
                    </a:ext>
                  </a:extLst>
                </a:gridCol>
              </a:tblGrid>
              <a:tr h="294838">
                <a:tc>
                  <a:txBody>
                    <a:bodyPr/>
                    <a:lstStyle/>
                    <a:p>
                      <a:pPr algn="ctr">
                        <a:lnSpc>
                          <a:spcPct val="100000"/>
                        </a:lnSpc>
                        <a:spcBef>
                          <a:spcPts val="65"/>
                        </a:spcBef>
                      </a:pPr>
                      <a:r>
                        <a:rPr sz="1400" b="1" spc="-10" dirty="0">
                          <a:solidFill>
                            <a:schemeClr val="bg1"/>
                          </a:solidFill>
                          <a:latin typeface="Arial"/>
                          <a:cs typeface="Arial"/>
                        </a:rPr>
                        <a:t>Date_PK</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gn="ctr">
                        <a:lnSpc>
                          <a:spcPct val="100000"/>
                        </a:lnSpc>
                        <a:spcBef>
                          <a:spcPts val="65"/>
                        </a:spcBef>
                      </a:pPr>
                      <a:r>
                        <a:rPr sz="1400" b="1" spc="-20" dirty="0">
                          <a:solidFill>
                            <a:schemeClr val="bg1"/>
                          </a:solidFill>
                          <a:latin typeface="Arial"/>
                          <a:cs typeface="Arial"/>
                        </a:rPr>
                        <a:t>Date</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905" algn="ctr">
                        <a:lnSpc>
                          <a:spcPct val="100000"/>
                        </a:lnSpc>
                        <a:spcBef>
                          <a:spcPts val="65"/>
                        </a:spcBef>
                      </a:pPr>
                      <a:r>
                        <a:rPr sz="1400" b="1" spc="-10" dirty="0">
                          <a:solidFill>
                            <a:schemeClr val="bg1"/>
                          </a:solidFill>
                          <a:latin typeface="Arial"/>
                          <a:cs typeface="Arial"/>
                        </a:rPr>
                        <a:t>Month</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gn="ctr">
                        <a:lnSpc>
                          <a:spcPct val="100000"/>
                        </a:lnSpc>
                        <a:spcBef>
                          <a:spcPts val="65"/>
                        </a:spcBef>
                      </a:pPr>
                      <a:r>
                        <a:rPr sz="1400" b="1" dirty="0">
                          <a:solidFill>
                            <a:schemeClr val="bg1"/>
                          </a:solidFill>
                          <a:latin typeface="Arial"/>
                          <a:cs typeface="Arial"/>
                        </a:rPr>
                        <a:t>Short</a:t>
                      </a:r>
                      <a:r>
                        <a:rPr sz="1400" b="1" spc="-25" dirty="0">
                          <a:solidFill>
                            <a:schemeClr val="bg1"/>
                          </a:solidFill>
                          <a:latin typeface="Arial"/>
                          <a:cs typeface="Arial"/>
                        </a:rPr>
                        <a:t> </a:t>
                      </a:r>
                      <a:r>
                        <a:rPr sz="1400" b="1" spc="-10" dirty="0">
                          <a:solidFill>
                            <a:schemeClr val="bg1"/>
                          </a:solidFill>
                          <a:latin typeface="Arial"/>
                          <a:cs typeface="Arial"/>
                        </a:rPr>
                        <a:t>Month</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905" algn="ctr">
                        <a:lnSpc>
                          <a:spcPct val="100000"/>
                        </a:lnSpc>
                        <a:spcBef>
                          <a:spcPts val="65"/>
                        </a:spcBef>
                      </a:pPr>
                      <a:r>
                        <a:rPr sz="1400" b="1" spc="-10" dirty="0">
                          <a:solidFill>
                            <a:schemeClr val="bg1"/>
                          </a:solidFill>
                          <a:latin typeface="Arial"/>
                          <a:cs typeface="Arial"/>
                        </a:rPr>
                        <a:t>Year-Quarter</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905" algn="ctr">
                        <a:lnSpc>
                          <a:spcPct val="100000"/>
                        </a:lnSpc>
                        <a:spcBef>
                          <a:spcPts val="65"/>
                        </a:spcBef>
                      </a:pPr>
                      <a:r>
                        <a:rPr sz="1400" b="1" spc="-20" dirty="0">
                          <a:solidFill>
                            <a:schemeClr val="bg1"/>
                          </a:solidFill>
                          <a:latin typeface="Arial"/>
                          <a:cs typeface="Arial"/>
                        </a:rPr>
                        <a:t>Year</a:t>
                      </a:r>
                      <a:endParaRPr sz="140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5080" algn="ctr">
                        <a:lnSpc>
                          <a:spcPct val="100000"/>
                        </a:lnSpc>
                        <a:spcBef>
                          <a:spcPts val="65"/>
                        </a:spcBef>
                      </a:pPr>
                      <a:r>
                        <a:rPr sz="1400" b="1" spc="-10" dirty="0">
                          <a:solidFill>
                            <a:schemeClr val="bg1"/>
                          </a:solidFill>
                          <a:latin typeface="Arial"/>
                          <a:cs typeface="Arial"/>
                        </a:rPr>
                        <a:t>Weekday</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gn="ctr">
                        <a:lnSpc>
                          <a:spcPct val="100000"/>
                        </a:lnSpc>
                        <a:spcBef>
                          <a:spcPts val="65"/>
                        </a:spcBef>
                      </a:pPr>
                      <a:r>
                        <a:rPr sz="1400" b="1" spc="-10" dirty="0">
                          <a:solidFill>
                            <a:schemeClr val="bg1"/>
                          </a:solidFill>
                          <a:latin typeface="Arial"/>
                          <a:cs typeface="Arial"/>
                        </a:rPr>
                        <a:t>Is_Weekend</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332525">
                <a:tc>
                  <a:txBody>
                    <a:bodyPr/>
                    <a:lstStyle/>
                    <a:p>
                      <a:pPr algn="ctr">
                        <a:lnSpc>
                          <a:spcPct val="100000"/>
                        </a:lnSpc>
                        <a:spcBef>
                          <a:spcPts val="229"/>
                        </a:spcBef>
                      </a:pPr>
                      <a:r>
                        <a:rPr sz="1400" spc="-10" dirty="0">
                          <a:latin typeface="Arial MT"/>
                          <a:cs typeface="Arial MT"/>
                        </a:rPr>
                        <a:t>20220101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10" dirty="0">
                          <a:latin typeface="Arial MT"/>
                          <a:cs typeface="Arial MT"/>
                        </a:rPr>
                        <a:t>2022-01-</a:t>
                      </a:r>
                      <a:r>
                        <a:rPr sz="1400" spc="-25" dirty="0">
                          <a:latin typeface="Arial MT"/>
                          <a:cs typeface="Arial MT"/>
                        </a:rPr>
                        <a:t>01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10" dirty="0">
                          <a:latin typeface="Arial MT"/>
                          <a:cs typeface="Arial MT"/>
                        </a:rPr>
                        <a:t>January</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spc="-25" dirty="0">
                          <a:latin typeface="Arial MT"/>
                          <a:cs typeface="Arial MT"/>
                        </a:rPr>
                        <a:t>Jan</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spc="-10" dirty="0">
                          <a:latin typeface="Arial MT"/>
                          <a:cs typeface="Arial MT"/>
                        </a:rPr>
                        <a:t>2022-</a:t>
                      </a:r>
                      <a:r>
                        <a:rPr sz="1400" spc="-25" dirty="0">
                          <a:latin typeface="Arial MT"/>
                          <a:cs typeface="Arial MT"/>
                        </a:rPr>
                        <a:t>Q1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spc="-20" dirty="0">
                          <a:latin typeface="Arial MT"/>
                          <a:cs typeface="Arial MT"/>
                        </a:rPr>
                        <a:t>2022</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10" dirty="0">
                          <a:latin typeface="Arial MT"/>
                          <a:cs typeface="Arial MT"/>
                        </a:rPr>
                        <a:t>Saturday</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spc="-50" dirty="0">
                          <a:latin typeface="Arial MT"/>
                          <a:cs typeface="Arial MT"/>
                        </a:rPr>
                        <a:t>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332525">
                <a:tc>
                  <a:txBody>
                    <a:bodyPr/>
                    <a:lstStyle/>
                    <a:p>
                      <a:pPr algn="ctr">
                        <a:lnSpc>
                          <a:spcPct val="100000"/>
                        </a:lnSpc>
                        <a:spcBef>
                          <a:spcPts val="229"/>
                        </a:spcBef>
                      </a:pPr>
                      <a:r>
                        <a:rPr sz="1400" spc="-10" dirty="0">
                          <a:latin typeface="Arial MT"/>
                          <a:cs typeface="Arial MT"/>
                        </a:rPr>
                        <a:t>20220102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10" dirty="0">
                          <a:latin typeface="Arial MT"/>
                          <a:cs typeface="Arial MT"/>
                        </a:rPr>
                        <a:t>2022-01-</a:t>
                      </a:r>
                      <a:r>
                        <a:rPr sz="1400" spc="-25" dirty="0">
                          <a:latin typeface="Arial MT"/>
                          <a:cs typeface="Arial MT"/>
                        </a:rPr>
                        <a:t>02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10" dirty="0">
                          <a:latin typeface="Arial MT"/>
                          <a:cs typeface="Arial MT"/>
                        </a:rPr>
                        <a:t>January</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spc="-25" dirty="0">
                          <a:latin typeface="Arial MT"/>
                          <a:cs typeface="Arial MT"/>
                        </a:rPr>
                        <a:t>Jan</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spc="-10" dirty="0">
                          <a:latin typeface="Arial MT"/>
                          <a:cs typeface="Arial MT"/>
                        </a:rPr>
                        <a:t>2022-</a:t>
                      </a:r>
                      <a:r>
                        <a:rPr sz="1400" spc="-25" dirty="0">
                          <a:latin typeface="Arial MT"/>
                          <a:cs typeface="Arial MT"/>
                        </a:rPr>
                        <a:t>Q1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spc="-20" dirty="0">
                          <a:latin typeface="Arial MT"/>
                          <a:cs typeface="Arial MT"/>
                        </a:rPr>
                        <a:t>2022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810" algn="ctr">
                        <a:lnSpc>
                          <a:spcPct val="100000"/>
                        </a:lnSpc>
                        <a:spcBef>
                          <a:spcPts val="229"/>
                        </a:spcBef>
                      </a:pPr>
                      <a:r>
                        <a:rPr sz="1400" spc="-10" dirty="0">
                          <a:latin typeface="Arial MT"/>
                          <a:cs typeface="Arial MT"/>
                        </a:rPr>
                        <a:t>Sunday</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spc="-50" dirty="0">
                          <a:latin typeface="Arial MT"/>
                          <a:cs typeface="Arial MT"/>
                        </a:rPr>
                        <a:t>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332525">
                <a:tc>
                  <a:txBody>
                    <a:bodyPr/>
                    <a:lstStyle/>
                    <a:p>
                      <a:pPr algn="ctr">
                        <a:lnSpc>
                          <a:spcPct val="100000"/>
                        </a:lnSpc>
                        <a:spcBef>
                          <a:spcPts val="229"/>
                        </a:spcBef>
                      </a:pPr>
                      <a:r>
                        <a:rPr sz="1400" spc="-10" dirty="0">
                          <a:latin typeface="Arial MT"/>
                          <a:cs typeface="Arial MT"/>
                        </a:rPr>
                        <a:t>20220103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10" dirty="0">
                          <a:latin typeface="Arial MT"/>
                          <a:cs typeface="Arial MT"/>
                        </a:rPr>
                        <a:t>2022-01-</a:t>
                      </a:r>
                      <a:r>
                        <a:rPr sz="1400" spc="-25" dirty="0">
                          <a:latin typeface="Arial MT"/>
                          <a:cs typeface="Arial MT"/>
                        </a:rPr>
                        <a:t>03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10" dirty="0">
                          <a:latin typeface="Arial MT"/>
                          <a:cs typeface="Arial MT"/>
                        </a:rPr>
                        <a:t>January</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spc="-25" dirty="0">
                          <a:latin typeface="Arial MT"/>
                          <a:cs typeface="Arial MT"/>
                        </a:rPr>
                        <a:t>Jan</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spc="-10" dirty="0">
                          <a:latin typeface="Arial MT"/>
                          <a:cs typeface="Arial MT"/>
                        </a:rPr>
                        <a:t>2022-</a:t>
                      </a:r>
                      <a:r>
                        <a:rPr sz="1400" spc="-25" dirty="0">
                          <a:latin typeface="Arial MT"/>
                          <a:cs typeface="Arial MT"/>
                        </a:rPr>
                        <a:t>Q1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spc="-20" dirty="0">
                          <a:latin typeface="Arial MT"/>
                          <a:cs typeface="Arial MT"/>
                        </a:rPr>
                        <a:t>2022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10" dirty="0">
                          <a:latin typeface="Arial MT"/>
                          <a:cs typeface="Arial MT"/>
                        </a:rPr>
                        <a:t>Monday</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spc="-50" dirty="0">
                          <a:latin typeface="Arial MT"/>
                          <a:cs typeface="Arial MT"/>
                        </a:rPr>
                        <a:t>0</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sp>
        <p:nvSpPr>
          <p:cNvPr id="11" name="object 2">
            <a:extLst>
              <a:ext uri="{FF2B5EF4-FFF2-40B4-BE49-F238E27FC236}">
                <a16:creationId xmlns:a16="http://schemas.microsoft.com/office/drawing/2014/main" id="{986A8D10-14E6-FE55-4F4D-52A9E2E8E76D}"/>
              </a:ext>
            </a:extLst>
          </p:cNvPr>
          <p:cNvSpPr txBox="1">
            <a:spLocks/>
          </p:cNvSpPr>
          <p:nvPr/>
        </p:nvSpPr>
        <p:spPr>
          <a:xfrm>
            <a:off x="2296160" y="0"/>
            <a:ext cx="7843520" cy="695062"/>
          </a:xfrm>
          <a:prstGeom prst="rect">
            <a:avLst/>
          </a:prstGeom>
        </p:spPr>
        <p:txBody>
          <a:bodyPr vert="horz" wrap="square" lIns="0" tIns="1778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943051">
              <a:lnSpc>
                <a:spcPct val="100000"/>
              </a:lnSpc>
              <a:spcBef>
                <a:spcPts val="140"/>
              </a:spcBef>
            </a:pPr>
            <a:r>
              <a:rPr lang="en-IN">
                <a:solidFill>
                  <a:schemeClr val="bg1"/>
                </a:solidFill>
                <a:latin typeface="+mn-lt"/>
              </a:rPr>
              <a:t>Date</a:t>
            </a:r>
            <a:r>
              <a:rPr lang="en-IN" spc="-87">
                <a:solidFill>
                  <a:schemeClr val="bg1"/>
                </a:solidFill>
                <a:latin typeface="+mn-lt"/>
              </a:rPr>
              <a:t> </a:t>
            </a:r>
            <a:r>
              <a:rPr lang="en-IN" spc="-13">
                <a:solidFill>
                  <a:schemeClr val="bg1"/>
                </a:solidFill>
                <a:latin typeface="+mn-lt"/>
              </a:rPr>
              <a:t>Dimension</a:t>
            </a:r>
            <a:endParaRPr lang="en-IN" spc="-13" dirty="0">
              <a:solidFill>
                <a:schemeClr val="bg1"/>
              </a:solidFill>
              <a:latin typeface="+mn-lt"/>
            </a:endParaRP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306234" y="1547368"/>
            <a:ext cx="7545493" cy="13046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Time</a:t>
            </a:r>
            <a:r>
              <a:rPr sz="2400" b="1" spc="-33" dirty="0">
                <a:solidFill>
                  <a:srgbClr val="D9D9D9"/>
                </a:solidFill>
                <a:latin typeface="Calibri"/>
                <a:cs typeface="Calibri"/>
              </a:rPr>
              <a:t> </a:t>
            </a:r>
            <a:r>
              <a:rPr sz="2400" b="1" dirty="0">
                <a:solidFill>
                  <a:srgbClr val="D9D9D9"/>
                </a:solidFill>
                <a:latin typeface="Calibri"/>
                <a:cs typeface="Calibri"/>
              </a:rPr>
              <a:t>is</a:t>
            </a:r>
            <a:r>
              <a:rPr sz="2400" b="1" spc="-20" dirty="0">
                <a:solidFill>
                  <a:srgbClr val="D9D9D9"/>
                </a:solidFill>
                <a:latin typeface="Calibri"/>
                <a:cs typeface="Calibri"/>
              </a:rPr>
              <a:t> </a:t>
            </a:r>
            <a:r>
              <a:rPr sz="2400" b="1" dirty="0">
                <a:solidFill>
                  <a:srgbClr val="D9D9D9"/>
                </a:solidFill>
                <a:latin typeface="Calibri"/>
                <a:cs typeface="Calibri"/>
              </a:rPr>
              <a:t>usually</a:t>
            </a:r>
            <a:r>
              <a:rPr sz="2400" b="1" spc="-20" dirty="0">
                <a:solidFill>
                  <a:srgbClr val="D9D9D9"/>
                </a:solidFill>
                <a:latin typeface="Calibri"/>
                <a:cs typeface="Calibri"/>
              </a:rPr>
              <a:t> </a:t>
            </a:r>
            <a:r>
              <a:rPr sz="2400" b="1" dirty="0">
                <a:solidFill>
                  <a:srgbClr val="D9D9D9"/>
                </a:solidFill>
                <a:latin typeface="Calibri"/>
                <a:cs typeface="Calibri"/>
              </a:rPr>
              <a:t>a</a:t>
            </a:r>
            <a:r>
              <a:rPr sz="2400" b="1" spc="-40" dirty="0">
                <a:solidFill>
                  <a:srgbClr val="D9D9D9"/>
                </a:solidFill>
                <a:latin typeface="Calibri"/>
                <a:cs typeface="Calibri"/>
              </a:rPr>
              <a:t> </a:t>
            </a:r>
            <a:r>
              <a:rPr sz="2400" b="1" dirty="0">
                <a:solidFill>
                  <a:srgbClr val="D9D9D9"/>
                </a:solidFill>
                <a:latin typeface="Calibri"/>
                <a:cs typeface="Calibri"/>
              </a:rPr>
              <a:t>separate</a:t>
            </a:r>
            <a:r>
              <a:rPr sz="2400" b="1" spc="-40" dirty="0">
                <a:solidFill>
                  <a:srgbClr val="D9D9D9"/>
                </a:solidFill>
                <a:latin typeface="Calibri"/>
                <a:cs typeface="Calibri"/>
              </a:rPr>
              <a:t> </a:t>
            </a:r>
            <a:r>
              <a:rPr sz="2400" b="1" spc="-13" dirty="0">
                <a:solidFill>
                  <a:srgbClr val="D9D9D9"/>
                </a:solidFill>
                <a:latin typeface="Calibri"/>
                <a:cs typeface="Calibri"/>
              </a:rPr>
              <a:t>dimension</a:t>
            </a:r>
            <a:endParaRPr sz="2400">
              <a:latin typeface="Calibri"/>
              <a:cs typeface="Calibri"/>
            </a:endParaRPr>
          </a:p>
          <a:p>
            <a:pPr>
              <a:spcBef>
                <a:spcPts val="1387"/>
              </a:spcBef>
              <a:buClr>
                <a:srgbClr val="99D3FF"/>
              </a:buClr>
              <a:buFont typeface="Wingdings"/>
              <a:buChar char=""/>
            </a:pPr>
            <a:endParaRPr sz="2400">
              <a:latin typeface="Calibri"/>
              <a:cs typeface="Calibri"/>
            </a:endParaRPr>
          </a:p>
          <a:p>
            <a:pPr marL="398770" indent="-381837">
              <a:buClr>
                <a:srgbClr val="99D3FF"/>
              </a:buClr>
              <a:buFont typeface="Wingdings"/>
              <a:buChar char=""/>
              <a:tabLst>
                <a:tab pos="398770" algn="l"/>
              </a:tabLst>
            </a:pPr>
            <a:r>
              <a:rPr sz="2400" b="1" dirty="0">
                <a:solidFill>
                  <a:srgbClr val="D9D9D9"/>
                </a:solidFill>
                <a:latin typeface="Calibri"/>
                <a:cs typeface="Calibri"/>
              </a:rPr>
              <a:t>Can</a:t>
            </a:r>
            <a:r>
              <a:rPr sz="2400" b="1" spc="-13" dirty="0">
                <a:solidFill>
                  <a:srgbClr val="D9D9D9"/>
                </a:solidFill>
                <a:latin typeface="Calibri"/>
                <a:cs typeface="Calibri"/>
              </a:rPr>
              <a:t> </a:t>
            </a:r>
            <a:r>
              <a:rPr sz="2400" b="1" dirty="0">
                <a:solidFill>
                  <a:srgbClr val="D9D9D9"/>
                </a:solidFill>
                <a:latin typeface="Calibri"/>
                <a:cs typeface="Calibri"/>
              </a:rPr>
              <a:t>be</a:t>
            </a:r>
            <a:r>
              <a:rPr sz="2400" b="1" spc="-40" dirty="0">
                <a:solidFill>
                  <a:srgbClr val="D9D9D9"/>
                </a:solidFill>
                <a:latin typeface="Calibri"/>
                <a:cs typeface="Calibri"/>
              </a:rPr>
              <a:t> </a:t>
            </a:r>
            <a:r>
              <a:rPr sz="2400" b="1" dirty="0">
                <a:solidFill>
                  <a:srgbClr val="D9D9D9"/>
                </a:solidFill>
                <a:latin typeface="Calibri"/>
                <a:cs typeface="Calibri"/>
              </a:rPr>
              <a:t>populated</a:t>
            </a:r>
            <a:r>
              <a:rPr sz="2400" b="1" spc="-67" dirty="0">
                <a:solidFill>
                  <a:srgbClr val="D9D9D9"/>
                </a:solidFill>
                <a:latin typeface="Calibri"/>
                <a:cs typeface="Calibri"/>
              </a:rPr>
              <a:t> </a:t>
            </a:r>
            <a:r>
              <a:rPr sz="2400" b="1" dirty="0">
                <a:solidFill>
                  <a:srgbClr val="D9D9D9"/>
                </a:solidFill>
                <a:latin typeface="Calibri"/>
                <a:cs typeface="Calibri"/>
              </a:rPr>
              <a:t>in</a:t>
            </a:r>
            <a:r>
              <a:rPr sz="2400" b="1" spc="-27" dirty="0">
                <a:solidFill>
                  <a:srgbClr val="D9D9D9"/>
                </a:solidFill>
                <a:latin typeface="Calibri"/>
                <a:cs typeface="Calibri"/>
              </a:rPr>
              <a:t> </a:t>
            </a:r>
            <a:r>
              <a:rPr sz="2400" b="1" dirty="0">
                <a:solidFill>
                  <a:srgbClr val="D9D9D9"/>
                </a:solidFill>
                <a:latin typeface="Calibri"/>
                <a:cs typeface="Calibri"/>
              </a:rPr>
              <a:t>advance</a:t>
            </a:r>
            <a:r>
              <a:rPr sz="2400" b="1" spc="-53" dirty="0">
                <a:solidFill>
                  <a:srgbClr val="D9D9D9"/>
                </a:solidFill>
                <a:latin typeface="Calibri"/>
                <a:cs typeface="Calibri"/>
              </a:rPr>
              <a:t> </a:t>
            </a:r>
            <a:r>
              <a:rPr sz="2400" b="1" dirty="0">
                <a:solidFill>
                  <a:srgbClr val="D9D9D9"/>
                </a:solidFill>
                <a:latin typeface="Calibri"/>
                <a:cs typeface="Calibri"/>
              </a:rPr>
              <a:t>(e.g.</a:t>
            </a:r>
            <a:r>
              <a:rPr sz="2400" b="1" spc="-40" dirty="0">
                <a:solidFill>
                  <a:srgbClr val="D9D9D9"/>
                </a:solidFill>
                <a:latin typeface="Calibri"/>
                <a:cs typeface="Calibri"/>
              </a:rPr>
              <a:t> </a:t>
            </a:r>
            <a:r>
              <a:rPr sz="2400" b="1" dirty="0">
                <a:solidFill>
                  <a:srgbClr val="D9D9D9"/>
                </a:solidFill>
                <a:latin typeface="Calibri"/>
                <a:cs typeface="Calibri"/>
              </a:rPr>
              <a:t>for</a:t>
            </a:r>
            <a:r>
              <a:rPr sz="2400" b="1" spc="-13" dirty="0">
                <a:solidFill>
                  <a:srgbClr val="D9D9D9"/>
                </a:solidFill>
                <a:latin typeface="Calibri"/>
                <a:cs typeface="Calibri"/>
              </a:rPr>
              <a:t> </a:t>
            </a:r>
            <a:r>
              <a:rPr sz="2400" b="1" dirty="0">
                <a:solidFill>
                  <a:srgbClr val="D9D9D9"/>
                </a:solidFill>
                <a:latin typeface="Calibri"/>
                <a:cs typeface="Calibri"/>
              </a:rPr>
              <a:t>next</a:t>
            </a:r>
            <a:r>
              <a:rPr sz="2400" b="1" spc="-33" dirty="0">
                <a:solidFill>
                  <a:srgbClr val="D9D9D9"/>
                </a:solidFill>
                <a:latin typeface="Calibri"/>
                <a:cs typeface="Calibri"/>
              </a:rPr>
              <a:t> </a:t>
            </a:r>
            <a:r>
              <a:rPr sz="2400" b="1" dirty="0">
                <a:solidFill>
                  <a:srgbClr val="D9D9D9"/>
                </a:solidFill>
                <a:latin typeface="Calibri"/>
                <a:cs typeface="Calibri"/>
              </a:rPr>
              <a:t>5</a:t>
            </a:r>
            <a:r>
              <a:rPr sz="2400" b="1" spc="-7" dirty="0">
                <a:solidFill>
                  <a:srgbClr val="D9D9D9"/>
                </a:solidFill>
                <a:latin typeface="Calibri"/>
                <a:cs typeface="Calibri"/>
              </a:rPr>
              <a:t> </a:t>
            </a:r>
            <a:r>
              <a:rPr sz="2400" b="1" dirty="0">
                <a:solidFill>
                  <a:srgbClr val="D9D9D9"/>
                </a:solidFill>
                <a:latin typeface="Calibri"/>
                <a:cs typeface="Calibri"/>
              </a:rPr>
              <a:t>or</a:t>
            </a:r>
            <a:r>
              <a:rPr sz="2400" b="1" spc="-20" dirty="0">
                <a:solidFill>
                  <a:srgbClr val="D9D9D9"/>
                </a:solidFill>
                <a:latin typeface="Calibri"/>
                <a:cs typeface="Calibri"/>
              </a:rPr>
              <a:t> </a:t>
            </a:r>
            <a:r>
              <a:rPr sz="2400" b="1" dirty="0">
                <a:solidFill>
                  <a:srgbClr val="D9D9D9"/>
                </a:solidFill>
                <a:latin typeface="Calibri"/>
                <a:cs typeface="Calibri"/>
              </a:rPr>
              <a:t>10</a:t>
            </a:r>
            <a:r>
              <a:rPr sz="2400" b="1" spc="-20" dirty="0">
                <a:solidFill>
                  <a:srgbClr val="D9D9D9"/>
                </a:solidFill>
                <a:latin typeface="Calibri"/>
                <a:cs typeface="Calibri"/>
              </a:rPr>
              <a:t> </a:t>
            </a:r>
            <a:r>
              <a:rPr sz="2400" b="1" spc="-13" dirty="0">
                <a:solidFill>
                  <a:srgbClr val="D9D9D9"/>
                </a:solidFill>
                <a:latin typeface="Calibri"/>
                <a:cs typeface="Calibri"/>
              </a:rPr>
              <a:t>years)</a:t>
            </a:r>
            <a:endParaRPr sz="2400">
              <a:latin typeface="Calibri"/>
              <a:cs typeface="Calibri"/>
            </a:endParaRPr>
          </a:p>
        </p:txBody>
      </p:sp>
      <p:grpSp>
        <p:nvGrpSpPr>
          <p:cNvPr id="4" name="object 4"/>
          <p:cNvGrpSpPr/>
          <p:nvPr/>
        </p:nvGrpSpPr>
        <p:grpSpPr>
          <a:xfrm>
            <a:off x="581151" y="2923980"/>
            <a:ext cx="4197096" cy="1614490"/>
            <a:chOff x="435863" y="2192985"/>
            <a:chExt cx="3147822" cy="1210868"/>
          </a:xfrm>
        </p:grpSpPr>
        <p:pic>
          <p:nvPicPr>
            <p:cNvPr id="5" name="object 5"/>
            <p:cNvPicPr/>
            <p:nvPr/>
          </p:nvPicPr>
          <p:blipFill>
            <a:blip r:embed="rId2" cstate="print"/>
            <a:stretch>
              <a:fillRect/>
            </a:stretch>
          </p:blipFill>
          <p:spPr>
            <a:xfrm>
              <a:off x="435863" y="2192985"/>
              <a:ext cx="3147822" cy="1210868"/>
            </a:xfrm>
            <a:prstGeom prst="rect">
              <a:avLst/>
            </a:prstGeom>
          </p:spPr>
        </p:pic>
        <p:sp>
          <p:nvSpPr>
            <p:cNvPr id="7" name="object 7"/>
            <p:cNvSpPr/>
            <p:nvPr/>
          </p:nvSpPr>
          <p:spPr>
            <a:xfrm>
              <a:off x="762761" y="2347721"/>
              <a:ext cx="2514600" cy="579120"/>
            </a:xfrm>
            <a:custGeom>
              <a:avLst/>
              <a:gdLst/>
              <a:ahLst/>
              <a:cxnLst/>
              <a:rect l="l" t="t" r="r" b="b"/>
              <a:pathLst>
                <a:path w="2514600" h="579119">
                  <a:moveTo>
                    <a:pt x="0" y="289559"/>
                  </a:moveTo>
                  <a:lnTo>
                    <a:pt x="144779" y="0"/>
                  </a:lnTo>
                  <a:lnTo>
                    <a:pt x="2369820" y="0"/>
                  </a:lnTo>
                  <a:lnTo>
                    <a:pt x="2514600" y="289559"/>
                  </a:lnTo>
                  <a:lnTo>
                    <a:pt x="2369820" y="579119"/>
                  </a:lnTo>
                  <a:lnTo>
                    <a:pt x="144779" y="579119"/>
                  </a:lnTo>
                  <a:lnTo>
                    <a:pt x="0" y="289559"/>
                  </a:lnTo>
                  <a:close/>
                </a:path>
              </a:pathLst>
            </a:custGeom>
            <a:ln w="19812">
              <a:solidFill>
                <a:srgbClr val="00C3FF"/>
              </a:solidFill>
            </a:ln>
          </p:spPr>
          <p:txBody>
            <a:bodyPr wrap="square" lIns="0" tIns="0" rIns="0" bIns="0" rtlCol="0"/>
            <a:lstStyle/>
            <a:p>
              <a:endParaRPr sz="2400"/>
            </a:p>
          </p:txBody>
        </p:sp>
      </p:grpSp>
      <p:sp>
        <p:nvSpPr>
          <p:cNvPr id="8" name="object 8"/>
          <p:cNvSpPr txBox="1"/>
          <p:nvPr/>
        </p:nvSpPr>
        <p:spPr>
          <a:xfrm>
            <a:off x="1718395" y="3274907"/>
            <a:ext cx="1952413" cy="427532"/>
          </a:xfrm>
          <a:prstGeom prst="rect">
            <a:avLst/>
          </a:prstGeom>
        </p:spPr>
        <p:txBody>
          <a:bodyPr vert="horz" wrap="square" lIns="0" tIns="16933" rIns="0" bIns="0" rtlCol="0">
            <a:spAutoFit/>
          </a:bodyPr>
          <a:lstStyle/>
          <a:p>
            <a:pPr marL="16933">
              <a:spcBef>
                <a:spcPts val="133"/>
              </a:spcBef>
            </a:pPr>
            <a:r>
              <a:rPr sz="2667" b="1" dirty="0">
                <a:solidFill>
                  <a:srgbClr val="CCEAFF"/>
                </a:solidFill>
                <a:latin typeface="Calibri"/>
                <a:cs typeface="Calibri"/>
              </a:rPr>
              <a:t>Date</a:t>
            </a:r>
            <a:r>
              <a:rPr sz="2667" b="1" spc="-40" dirty="0">
                <a:solidFill>
                  <a:srgbClr val="CCEAFF"/>
                </a:solidFill>
                <a:latin typeface="Calibri"/>
                <a:cs typeface="Calibri"/>
              </a:rPr>
              <a:t> </a:t>
            </a:r>
            <a:r>
              <a:rPr sz="2667" b="1" spc="-13" dirty="0">
                <a:solidFill>
                  <a:srgbClr val="CCEAFF"/>
                </a:solidFill>
                <a:latin typeface="Calibri"/>
                <a:cs typeface="Calibri"/>
              </a:rPr>
              <a:t>features</a:t>
            </a:r>
            <a:endParaRPr sz="2667">
              <a:latin typeface="Calibri"/>
              <a:cs typeface="Calibri"/>
            </a:endParaRPr>
          </a:p>
        </p:txBody>
      </p:sp>
      <p:sp>
        <p:nvSpPr>
          <p:cNvPr id="9" name="object 9"/>
          <p:cNvSpPr txBox="1"/>
          <p:nvPr/>
        </p:nvSpPr>
        <p:spPr>
          <a:xfrm>
            <a:off x="4668012" y="3083559"/>
            <a:ext cx="6656493" cy="2766569"/>
          </a:xfrm>
          <a:prstGeom prst="rect">
            <a:avLst/>
          </a:prstGeom>
        </p:spPr>
        <p:txBody>
          <a:bodyPr vert="horz" wrap="square" lIns="0" tIns="199813" rIns="0" bIns="0" rtlCol="0">
            <a:spAutoFit/>
          </a:bodyPr>
          <a:lstStyle/>
          <a:p>
            <a:pPr marL="398770" indent="-381837">
              <a:spcBef>
                <a:spcPts val="1573"/>
              </a:spcBef>
              <a:buClr>
                <a:srgbClr val="99D3FF"/>
              </a:buClr>
              <a:buFont typeface="Wingdings"/>
              <a:buChar char=""/>
              <a:tabLst>
                <a:tab pos="398770" algn="l"/>
              </a:tabLst>
            </a:pPr>
            <a:r>
              <a:rPr sz="2400" b="1" dirty="0">
                <a:solidFill>
                  <a:srgbClr val="D9D9D9"/>
                </a:solidFill>
                <a:latin typeface="Calibri"/>
                <a:cs typeface="Calibri"/>
              </a:rPr>
              <a:t>Numbers</a:t>
            </a:r>
            <a:r>
              <a:rPr sz="2400" b="1" spc="-60" dirty="0">
                <a:solidFill>
                  <a:srgbClr val="D9D9D9"/>
                </a:solidFill>
                <a:latin typeface="Calibri"/>
                <a:cs typeface="Calibri"/>
              </a:rPr>
              <a:t> </a:t>
            </a:r>
            <a:r>
              <a:rPr sz="2400" b="1" dirty="0">
                <a:solidFill>
                  <a:srgbClr val="D9D9D9"/>
                </a:solidFill>
                <a:latin typeface="Calibri"/>
                <a:cs typeface="Calibri"/>
              </a:rPr>
              <a:t>&amp; Text</a:t>
            </a:r>
            <a:r>
              <a:rPr sz="2400" b="1" spc="-20" dirty="0">
                <a:solidFill>
                  <a:srgbClr val="D9D9D9"/>
                </a:solidFill>
                <a:latin typeface="Calibri"/>
                <a:cs typeface="Calibri"/>
              </a:rPr>
              <a:t> </a:t>
            </a:r>
            <a:r>
              <a:rPr sz="2400" b="1" dirty="0">
                <a:solidFill>
                  <a:srgbClr val="D9D9D9"/>
                </a:solidFill>
                <a:latin typeface="Calibri"/>
                <a:cs typeface="Calibri"/>
              </a:rPr>
              <a:t>(e.g.</a:t>
            </a:r>
            <a:r>
              <a:rPr sz="2400" b="1" spc="-40" dirty="0">
                <a:solidFill>
                  <a:srgbClr val="D9D9D9"/>
                </a:solidFill>
                <a:latin typeface="Calibri"/>
                <a:cs typeface="Calibri"/>
              </a:rPr>
              <a:t> </a:t>
            </a:r>
            <a:r>
              <a:rPr sz="2400" b="1" dirty="0">
                <a:solidFill>
                  <a:srgbClr val="D9D9D9"/>
                </a:solidFill>
                <a:latin typeface="Calibri"/>
                <a:cs typeface="Calibri"/>
              </a:rPr>
              <a:t>January,</a:t>
            </a:r>
            <a:r>
              <a:rPr sz="2400" b="1" spc="-27" dirty="0">
                <a:solidFill>
                  <a:srgbClr val="D9D9D9"/>
                </a:solidFill>
                <a:latin typeface="Calibri"/>
                <a:cs typeface="Calibri"/>
              </a:rPr>
              <a:t> </a:t>
            </a:r>
            <a:r>
              <a:rPr sz="2400" b="1" spc="-33" dirty="0">
                <a:solidFill>
                  <a:srgbClr val="D9D9D9"/>
                </a:solidFill>
                <a:latin typeface="Calibri"/>
                <a:cs typeface="Calibri"/>
              </a:rPr>
              <a:t>1)</a:t>
            </a:r>
            <a:endParaRPr sz="2400">
              <a:latin typeface="Calibri"/>
              <a:cs typeface="Calibri"/>
            </a:endParaRPr>
          </a:p>
          <a:p>
            <a:pPr marL="398770" indent="-381837">
              <a:spcBef>
                <a:spcPts val="1440"/>
              </a:spcBef>
              <a:buClr>
                <a:srgbClr val="99D3FF"/>
              </a:buClr>
              <a:buFont typeface="Wingdings"/>
              <a:buChar char=""/>
              <a:tabLst>
                <a:tab pos="398770" algn="l"/>
              </a:tabLst>
            </a:pPr>
            <a:r>
              <a:rPr sz="2400" b="1" dirty="0">
                <a:solidFill>
                  <a:srgbClr val="D9D9D9"/>
                </a:solidFill>
                <a:latin typeface="Calibri"/>
                <a:cs typeface="Calibri"/>
              </a:rPr>
              <a:t>Long</a:t>
            </a:r>
            <a:r>
              <a:rPr sz="2400" b="1" spc="-33" dirty="0">
                <a:solidFill>
                  <a:srgbClr val="D9D9D9"/>
                </a:solidFill>
                <a:latin typeface="Calibri"/>
                <a:cs typeface="Calibri"/>
              </a:rPr>
              <a:t> </a:t>
            </a:r>
            <a:r>
              <a:rPr sz="2400" b="1" dirty="0">
                <a:solidFill>
                  <a:srgbClr val="D9D9D9"/>
                </a:solidFill>
                <a:latin typeface="Calibri"/>
                <a:cs typeface="Calibri"/>
              </a:rPr>
              <a:t>&amp;</a:t>
            </a:r>
            <a:r>
              <a:rPr sz="2400" b="1" spc="-7" dirty="0">
                <a:solidFill>
                  <a:srgbClr val="D9D9D9"/>
                </a:solidFill>
                <a:latin typeface="Calibri"/>
                <a:cs typeface="Calibri"/>
              </a:rPr>
              <a:t> </a:t>
            </a:r>
            <a:r>
              <a:rPr sz="2400" b="1" dirty="0">
                <a:solidFill>
                  <a:srgbClr val="D9D9D9"/>
                </a:solidFill>
                <a:latin typeface="Calibri"/>
                <a:cs typeface="Calibri"/>
              </a:rPr>
              <a:t>Abreviated</a:t>
            </a:r>
            <a:r>
              <a:rPr sz="2400" b="1" spc="-20" dirty="0">
                <a:solidFill>
                  <a:srgbClr val="D9D9D9"/>
                </a:solidFill>
                <a:latin typeface="Calibri"/>
                <a:cs typeface="Calibri"/>
              </a:rPr>
              <a:t> </a:t>
            </a:r>
            <a:r>
              <a:rPr sz="2400" b="1" dirty="0">
                <a:solidFill>
                  <a:srgbClr val="D9D9D9"/>
                </a:solidFill>
                <a:latin typeface="Calibri"/>
                <a:cs typeface="Calibri"/>
              </a:rPr>
              <a:t>(Jan,</a:t>
            </a:r>
            <a:r>
              <a:rPr sz="2400" b="1" spc="-7" dirty="0">
                <a:solidFill>
                  <a:srgbClr val="D9D9D9"/>
                </a:solidFill>
                <a:latin typeface="Calibri"/>
                <a:cs typeface="Calibri"/>
              </a:rPr>
              <a:t> </a:t>
            </a:r>
            <a:r>
              <a:rPr sz="2400" b="1" dirty="0">
                <a:solidFill>
                  <a:srgbClr val="D9D9D9"/>
                </a:solidFill>
                <a:latin typeface="Calibri"/>
                <a:cs typeface="Calibri"/>
              </a:rPr>
              <a:t>January</a:t>
            </a:r>
            <a:r>
              <a:rPr sz="2400" b="1" spc="-47" dirty="0">
                <a:solidFill>
                  <a:srgbClr val="D9D9D9"/>
                </a:solidFill>
                <a:latin typeface="Calibri"/>
                <a:cs typeface="Calibri"/>
              </a:rPr>
              <a:t> </a:t>
            </a:r>
            <a:r>
              <a:rPr sz="2400" b="1" dirty="0">
                <a:solidFill>
                  <a:srgbClr val="D9D9D9"/>
                </a:solidFill>
                <a:latin typeface="Calibri"/>
                <a:cs typeface="Calibri"/>
              </a:rPr>
              <a:t>–</a:t>
            </a:r>
            <a:r>
              <a:rPr sz="2400" b="1" spc="13" dirty="0">
                <a:solidFill>
                  <a:srgbClr val="D9D9D9"/>
                </a:solidFill>
                <a:latin typeface="Calibri"/>
                <a:cs typeface="Calibri"/>
              </a:rPr>
              <a:t> </a:t>
            </a:r>
            <a:r>
              <a:rPr sz="2400" b="1" dirty="0">
                <a:solidFill>
                  <a:srgbClr val="D9D9D9"/>
                </a:solidFill>
                <a:latin typeface="Calibri"/>
                <a:cs typeface="Calibri"/>
              </a:rPr>
              <a:t>Mon,</a:t>
            </a:r>
            <a:r>
              <a:rPr sz="2400" b="1" spc="-33" dirty="0">
                <a:solidFill>
                  <a:srgbClr val="D9D9D9"/>
                </a:solidFill>
                <a:latin typeface="Calibri"/>
                <a:cs typeface="Calibri"/>
              </a:rPr>
              <a:t> </a:t>
            </a:r>
            <a:r>
              <a:rPr sz="2400" b="1" spc="-13" dirty="0">
                <a:solidFill>
                  <a:srgbClr val="D9D9D9"/>
                </a:solidFill>
                <a:latin typeface="Calibri"/>
                <a:cs typeface="Calibri"/>
              </a:rPr>
              <a:t>Monday)</a:t>
            </a:r>
            <a:endParaRPr sz="2400">
              <a:latin typeface="Calibri"/>
              <a:cs typeface="Calibri"/>
            </a:endParaRPr>
          </a:p>
          <a:p>
            <a:pPr marL="398770" indent="-381837">
              <a:spcBef>
                <a:spcPts val="1440"/>
              </a:spcBef>
              <a:buClr>
                <a:srgbClr val="99D3FF"/>
              </a:buClr>
              <a:buFont typeface="Wingdings"/>
              <a:buChar char=""/>
              <a:tabLst>
                <a:tab pos="398770" algn="l"/>
              </a:tabLst>
            </a:pPr>
            <a:r>
              <a:rPr sz="2400" b="1" dirty="0">
                <a:solidFill>
                  <a:srgbClr val="D9D9D9"/>
                </a:solidFill>
                <a:latin typeface="Calibri"/>
                <a:cs typeface="Calibri"/>
              </a:rPr>
              <a:t>Combinations</a:t>
            </a:r>
            <a:r>
              <a:rPr sz="2400" b="1" spc="-40" dirty="0">
                <a:solidFill>
                  <a:srgbClr val="D9D9D9"/>
                </a:solidFill>
                <a:latin typeface="Calibri"/>
                <a:cs typeface="Calibri"/>
              </a:rPr>
              <a:t> </a:t>
            </a:r>
            <a:r>
              <a:rPr sz="2400" b="1" dirty="0">
                <a:solidFill>
                  <a:srgbClr val="D9D9D9"/>
                </a:solidFill>
                <a:latin typeface="Calibri"/>
                <a:cs typeface="Calibri"/>
              </a:rPr>
              <a:t>of</a:t>
            </a:r>
            <a:r>
              <a:rPr sz="2400" b="1" spc="-47" dirty="0">
                <a:solidFill>
                  <a:srgbClr val="D9D9D9"/>
                </a:solidFill>
                <a:latin typeface="Calibri"/>
                <a:cs typeface="Calibri"/>
              </a:rPr>
              <a:t> </a:t>
            </a:r>
            <a:r>
              <a:rPr sz="2400" b="1" dirty="0">
                <a:solidFill>
                  <a:srgbClr val="D9D9D9"/>
                </a:solidFill>
                <a:latin typeface="Calibri"/>
                <a:cs typeface="Calibri"/>
              </a:rPr>
              <a:t>attributes</a:t>
            </a:r>
            <a:r>
              <a:rPr sz="2400" b="1" spc="-60" dirty="0">
                <a:solidFill>
                  <a:srgbClr val="D9D9D9"/>
                </a:solidFill>
                <a:latin typeface="Calibri"/>
                <a:cs typeface="Calibri"/>
              </a:rPr>
              <a:t> </a:t>
            </a:r>
            <a:r>
              <a:rPr sz="2400" b="1" dirty="0">
                <a:solidFill>
                  <a:srgbClr val="D9D9D9"/>
                </a:solidFill>
                <a:latin typeface="Calibri"/>
                <a:cs typeface="Calibri"/>
              </a:rPr>
              <a:t>(Q1,</a:t>
            </a:r>
            <a:r>
              <a:rPr sz="2400" b="1" spc="-7" dirty="0">
                <a:solidFill>
                  <a:srgbClr val="D9D9D9"/>
                </a:solidFill>
                <a:latin typeface="Calibri"/>
                <a:cs typeface="Calibri"/>
              </a:rPr>
              <a:t> </a:t>
            </a:r>
            <a:r>
              <a:rPr sz="2400" b="1" spc="-13" dirty="0">
                <a:solidFill>
                  <a:srgbClr val="D9D9D9"/>
                </a:solidFill>
                <a:latin typeface="Calibri"/>
                <a:cs typeface="Calibri"/>
              </a:rPr>
              <a:t>2022-</a:t>
            </a:r>
            <a:r>
              <a:rPr sz="2400" b="1" spc="-33" dirty="0">
                <a:solidFill>
                  <a:srgbClr val="D9D9D9"/>
                </a:solidFill>
                <a:latin typeface="Calibri"/>
                <a:cs typeface="Calibri"/>
              </a:rPr>
              <a:t>Q1)</a:t>
            </a:r>
            <a:endParaRPr sz="2400">
              <a:latin typeface="Calibri"/>
              <a:cs typeface="Calibri"/>
            </a:endParaRPr>
          </a:p>
          <a:p>
            <a:pPr marL="398770" indent="-381837">
              <a:spcBef>
                <a:spcPts val="1440"/>
              </a:spcBef>
              <a:buClr>
                <a:srgbClr val="99D3FF"/>
              </a:buClr>
              <a:buFont typeface="Wingdings"/>
              <a:buChar char=""/>
              <a:tabLst>
                <a:tab pos="398770" algn="l"/>
              </a:tabLst>
            </a:pPr>
            <a:r>
              <a:rPr sz="2400" b="1" dirty="0">
                <a:solidFill>
                  <a:srgbClr val="D9D9D9"/>
                </a:solidFill>
                <a:latin typeface="Calibri"/>
                <a:cs typeface="Calibri"/>
              </a:rPr>
              <a:t>Fiscal</a:t>
            </a:r>
            <a:r>
              <a:rPr sz="2400" b="1" spc="-40" dirty="0">
                <a:solidFill>
                  <a:srgbClr val="D9D9D9"/>
                </a:solidFill>
                <a:latin typeface="Calibri"/>
                <a:cs typeface="Calibri"/>
              </a:rPr>
              <a:t> </a:t>
            </a:r>
            <a:r>
              <a:rPr sz="2400" b="1" dirty="0">
                <a:solidFill>
                  <a:srgbClr val="D9D9D9"/>
                </a:solidFill>
                <a:latin typeface="Calibri"/>
                <a:cs typeface="Calibri"/>
              </a:rPr>
              <a:t>dates</a:t>
            </a:r>
            <a:r>
              <a:rPr sz="2400" b="1" spc="-33" dirty="0">
                <a:solidFill>
                  <a:srgbClr val="D9D9D9"/>
                </a:solidFill>
                <a:latin typeface="Calibri"/>
                <a:cs typeface="Calibri"/>
              </a:rPr>
              <a:t> </a:t>
            </a:r>
            <a:r>
              <a:rPr sz="2400" b="1" dirty="0">
                <a:solidFill>
                  <a:srgbClr val="D9D9D9"/>
                </a:solidFill>
                <a:latin typeface="Calibri"/>
                <a:cs typeface="Calibri"/>
              </a:rPr>
              <a:t>(Fiscal</a:t>
            </a:r>
            <a:r>
              <a:rPr sz="2400" b="1" spc="-33" dirty="0">
                <a:solidFill>
                  <a:srgbClr val="D9D9D9"/>
                </a:solidFill>
                <a:latin typeface="Calibri"/>
                <a:cs typeface="Calibri"/>
              </a:rPr>
              <a:t> </a:t>
            </a:r>
            <a:r>
              <a:rPr sz="2400" b="1" dirty="0">
                <a:solidFill>
                  <a:srgbClr val="D9D9D9"/>
                </a:solidFill>
                <a:latin typeface="Calibri"/>
                <a:cs typeface="Calibri"/>
              </a:rPr>
              <a:t>Year</a:t>
            </a:r>
            <a:r>
              <a:rPr sz="2400" b="1" spc="-27" dirty="0">
                <a:solidFill>
                  <a:srgbClr val="D9D9D9"/>
                </a:solidFill>
                <a:latin typeface="Calibri"/>
                <a:cs typeface="Calibri"/>
              </a:rPr>
              <a:t> </a:t>
            </a:r>
            <a:r>
              <a:rPr sz="2400" b="1" spc="-13" dirty="0">
                <a:solidFill>
                  <a:srgbClr val="D9D9D9"/>
                </a:solidFill>
                <a:latin typeface="Calibri"/>
                <a:cs typeface="Calibri"/>
              </a:rPr>
              <a:t>etc.)</a:t>
            </a:r>
            <a:endParaRPr sz="2400">
              <a:latin typeface="Calibri"/>
              <a:cs typeface="Calibri"/>
            </a:endParaRPr>
          </a:p>
          <a:p>
            <a:pPr marL="398770" indent="-381837">
              <a:spcBef>
                <a:spcPts val="1427"/>
              </a:spcBef>
              <a:buClr>
                <a:srgbClr val="99D3FF"/>
              </a:buClr>
              <a:buFont typeface="Wingdings"/>
              <a:buChar char=""/>
              <a:tabLst>
                <a:tab pos="398770" algn="l"/>
              </a:tabLst>
            </a:pPr>
            <a:r>
              <a:rPr sz="2400" b="1" dirty="0">
                <a:solidFill>
                  <a:srgbClr val="D9D9D9"/>
                </a:solidFill>
                <a:latin typeface="Calibri"/>
                <a:cs typeface="Calibri"/>
              </a:rPr>
              <a:t>Flags</a:t>
            </a:r>
            <a:r>
              <a:rPr sz="2400" b="1" spc="-33" dirty="0">
                <a:solidFill>
                  <a:srgbClr val="D9D9D9"/>
                </a:solidFill>
                <a:latin typeface="Calibri"/>
                <a:cs typeface="Calibri"/>
              </a:rPr>
              <a:t> </a:t>
            </a:r>
            <a:r>
              <a:rPr sz="2400" b="1" dirty="0">
                <a:solidFill>
                  <a:srgbClr val="D9D9D9"/>
                </a:solidFill>
                <a:latin typeface="Calibri"/>
                <a:cs typeface="Calibri"/>
              </a:rPr>
              <a:t>(Weekend,</a:t>
            </a:r>
            <a:r>
              <a:rPr sz="2400" b="1" spc="-67" dirty="0">
                <a:solidFill>
                  <a:srgbClr val="D9D9D9"/>
                </a:solidFill>
                <a:latin typeface="Calibri"/>
                <a:cs typeface="Calibri"/>
              </a:rPr>
              <a:t> </a:t>
            </a:r>
            <a:r>
              <a:rPr sz="2400" b="1" dirty="0">
                <a:solidFill>
                  <a:srgbClr val="D9D9D9"/>
                </a:solidFill>
                <a:latin typeface="Calibri"/>
                <a:cs typeface="Calibri"/>
              </a:rPr>
              <a:t>company</a:t>
            </a:r>
            <a:r>
              <a:rPr sz="2400" b="1" spc="-67" dirty="0">
                <a:solidFill>
                  <a:srgbClr val="D9D9D9"/>
                </a:solidFill>
                <a:latin typeface="Calibri"/>
                <a:cs typeface="Calibri"/>
              </a:rPr>
              <a:t> </a:t>
            </a:r>
            <a:r>
              <a:rPr sz="2400" b="1" dirty="0">
                <a:solidFill>
                  <a:srgbClr val="D9D9D9"/>
                </a:solidFill>
                <a:latin typeface="Calibri"/>
                <a:cs typeface="Calibri"/>
              </a:rPr>
              <a:t>holidays</a:t>
            </a:r>
            <a:r>
              <a:rPr sz="2400" b="1" spc="-40" dirty="0">
                <a:solidFill>
                  <a:srgbClr val="D9D9D9"/>
                </a:solidFill>
                <a:latin typeface="Calibri"/>
                <a:cs typeface="Calibri"/>
              </a:rPr>
              <a:t> </a:t>
            </a:r>
            <a:r>
              <a:rPr sz="2400" b="1" spc="-13" dirty="0">
                <a:solidFill>
                  <a:srgbClr val="D9D9D9"/>
                </a:solidFill>
                <a:latin typeface="Calibri"/>
                <a:cs typeface="Calibri"/>
              </a:rPr>
              <a:t>etc.)</a:t>
            </a:r>
            <a:endParaRPr sz="2400">
              <a:latin typeface="Calibri"/>
              <a:cs typeface="Calibri"/>
            </a:endParaRPr>
          </a:p>
        </p:txBody>
      </p:sp>
      <p:sp>
        <p:nvSpPr>
          <p:cNvPr id="12" name="object 2">
            <a:extLst>
              <a:ext uri="{FF2B5EF4-FFF2-40B4-BE49-F238E27FC236}">
                <a16:creationId xmlns:a16="http://schemas.microsoft.com/office/drawing/2014/main" id="{8E73117C-6EAA-44EA-A69A-1CCEB0A9E580}"/>
              </a:ext>
            </a:extLst>
          </p:cNvPr>
          <p:cNvSpPr txBox="1">
            <a:spLocks noGrp="1"/>
          </p:cNvSpPr>
          <p:nvPr>
            <p:ph type="title"/>
          </p:nvPr>
        </p:nvSpPr>
        <p:spPr>
          <a:xfrm>
            <a:off x="2296160" y="0"/>
            <a:ext cx="7843520" cy="695062"/>
          </a:xfrm>
          <a:prstGeom prst="rect">
            <a:avLst/>
          </a:prstGeom>
        </p:spPr>
        <p:txBody>
          <a:bodyPr vert="horz" wrap="square" lIns="0" tIns="17780" rIns="0" bIns="0" rtlCol="0" anchor="ctr">
            <a:spAutoFit/>
          </a:bodyPr>
          <a:lstStyle/>
          <a:p>
            <a:pPr marL="1943051">
              <a:lnSpc>
                <a:spcPct val="100000"/>
              </a:lnSpc>
              <a:spcBef>
                <a:spcPts val="140"/>
              </a:spcBef>
            </a:pPr>
            <a:r>
              <a:rPr dirty="0">
                <a:solidFill>
                  <a:schemeClr val="bg1"/>
                </a:solidFill>
                <a:latin typeface="+mn-lt"/>
              </a:rPr>
              <a:t>Date</a:t>
            </a:r>
            <a:r>
              <a:rPr spc="-87" dirty="0">
                <a:solidFill>
                  <a:schemeClr val="bg1"/>
                </a:solidFill>
                <a:latin typeface="+mn-lt"/>
              </a:rPr>
              <a:t> </a:t>
            </a:r>
            <a:r>
              <a:rPr spc="-13" dirty="0">
                <a:solidFill>
                  <a:schemeClr val="bg1"/>
                </a:solidFill>
                <a:latin typeface="+mn-lt"/>
              </a:rPr>
              <a:t>Dimension</a:t>
            </a: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57807" y="2279903"/>
            <a:ext cx="9930384" cy="1702816"/>
          </a:xfrm>
          <a:prstGeom prst="rect">
            <a:avLst/>
          </a:prstGeom>
        </p:spPr>
      </p:pic>
      <p:sp>
        <p:nvSpPr>
          <p:cNvPr id="3" name="object 3"/>
          <p:cNvSpPr txBox="1">
            <a:spLocks noGrp="1"/>
          </p:cNvSpPr>
          <p:nvPr>
            <p:ph type="title"/>
          </p:nvPr>
        </p:nvSpPr>
        <p:spPr>
          <a:xfrm>
            <a:off x="1320800" y="2579973"/>
            <a:ext cx="9811173" cy="1048150"/>
          </a:xfrm>
          <a:prstGeom prst="rect">
            <a:avLst/>
          </a:prstGeom>
          <a:noFill/>
          <a:ln w="9144">
            <a:noFill/>
          </a:ln>
        </p:spPr>
        <p:txBody>
          <a:bodyPr vert="horz" wrap="square" lIns="0" tIns="306493" rIns="0" bIns="0" rtlCol="0" anchor="ctr">
            <a:spAutoFit/>
          </a:bodyPr>
          <a:lstStyle/>
          <a:p>
            <a:pPr algn="ctr">
              <a:lnSpc>
                <a:spcPct val="100000"/>
              </a:lnSpc>
              <a:spcBef>
                <a:spcPts val="2413"/>
              </a:spcBef>
            </a:pPr>
            <a:r>
              <a:rPr sz="4800" dirty="0">
                <a:solidFill>
                  <a:schemeClr val="bg1"/>
                </a:solidFill>
                <a:latin typeface="+mn-lt"/>
              </a:rPr>
              <a:t>Nulls</a:t>
            </a:r>
            <a:r>
              <a:rPr sz="4800" spc="-40" dirty="0">
                <a:solidFill>
                  <a:schemeClr val="bg1"/>
                </a:solidFill>
                <a:latin typeface="+mn-lt"/>
              </a:rPr>
              <a:t> </a:t>
            </a:r>
            <a:r>
              <a:rPr sz="4800" dirty="0">
                <a:solidFill>
                  <a:schemeClr val="bg1"/>
                </a:solidFill>
                <a:latin typeface="+mn-lt"/>
              </a:rPr>
              <a:t>in</a:t>
            </a:r>
            <a:r>
              <a:rPr sz="4800" spc="-20" dirty="0">
                <a:solidFill>
                  <a:schemeClr val="bg1"/>
                </a:solidFill>
                <a:latin typeface="+mn-lt"/>
              </a:rPr>
              <a:t> </a:t>
            </a:r>
            <a:r>
              <a:rPr sz="4800" spc="-13" dirty="0">
                <a:solidFill>
                  <a:schemeClr val="bg1"/>
                </a:solidFill>
                <a:latin typeface="+mn-lt"/>
              </a:rPr>
              <a:t>dimensions</a:t>
            </a:r>
            <a:endParaRPr sz="4800" dirty="0">
              <a:solidFill>
                <a:schemeClr val="bg1"/>
              </a:solidFill>
              <a:latin typeface="+mn-lt"/>
            </a:endParaRP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91382" y="-8846"/>
            <a:ext cx="6254496" cy="695062"/>
          </a:xfrm>
          <a:prstGeom prst="rect">
            <a:avLst/>
          </a:prstGeom>
        </p:spPr>
        <p:txBody>
          <a:bodyPr vert="horz" wrap="square" lIns="0" tIns="17780" rIns="0" bIns="0" rtlCol="0" anchor="ctr">
            <a:spAutoFit/>
          </a:bodyPr>
          <a:lstStyle/>
          <a:p>
            <a:pPr marL="1568834">
              <a:lnSpc>
                <a:spcPct val="100000"/>
              </a:lnSpc>
              <a:spcBef>
                <a:spcPts val="140"/>
              </a:spcBef>
            </a:pPr>
            <a:r>
              <a:rPr dirty="0">
                <a:solidFill>
                  <a:schemeClr val="bg1"/>
                </a:solidFill>
                <a:latin typeface="+mn-lt"/>
              </a:rPr>
              <a:t>Nulls</a:t>
            </a:r>
            <a:r>
              <a:rPr spc="-27" dirty="0">
                <a:solidFill>
                  <a:schemeClr val="bg1"/>
                </a:solidFill>
                <a:latin typeface="+mn-lt"/>
              </a:rPr>
              <a:t> </a:t>
            </a:r>
            <a:r>
              <a:rPr dirty="0">
                <a:solidFill>
                  <a:schemeClr val="bg1"/>
                </a:solidFill>
                <a:latin typeface="+mn-lt"/>
              </a:rPr>
              <a:t>in</a:t>
            </a:r>
            <a:r>
              <a:rPr spc="-40" dirty="0">
                <a:solidFill>
                  <a:schemeClr val="bg1"/>
                </a:solidFill>
                <a:latin typeface="+mn-lt"/>
              </a:rPr>
              <a:t> </a:t>
            </a:r>
            <a:r>
              <a:rPr spc="-13" dirty="0">
                <a:solidFill>
                  <a:schemeClr val="bg1"/>
                </a:solidFill>
                <a:latin typeface="+mn-lt"/>
              </a:rPr>
              <a:t>dimensions</a:t>
            </a:r>
          </a:p>
        </p:txBody>
      </p:sp>
      <p:sp>
        <p:nvSpPr>
          <p:cNvPr id="3" name="object 3"/>
          <p:cNvSpPr txBox="1"/>
          <p:nvPr/>
        </p:nvSpPr>
        <p:spPr>
          <a:xfrm>
            <a:off x="3803564" y="1478619"/>
            <a:ext cx="4030133"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Nulls</a:t>
            </a:r>
            <a:r>
              <a:rPr sz="2400" b="1" spc="-27" dirty="0">
                <a:solidFill>
                  <a:srgbClr val="D9D9D9"/>
                </a:solidFill>
                <a:latin typeface="Calibri"/>
                <a:cs typeface="Calibri"/>
              </a:rPr>
              <a:t> </a:t>
            </a:r>
            <a:r>
              <a:rPr sz="2400" b="1" dirty="0">
                <a:solidFill>
                  <a:srgbClr val="D9D9D9"/>
                </a:solidFill>
                <a:latin typeface="Calibri"/>
                <a:cs typeface="Calibri"/>
              </a:rPr>
              <a:t>must</a:t>
            </a:r>
            <a:r>
              <a:rPr sz="2400" b="1" spc="-13" dirty="0">
                <a:solidFill>
                  <a:srgbClr val="D9D9D9"/>
                </a:solidFill>
                <a:latin typeface="Calibri"/>
                <a:cs typeface="Calibri"/>
              </a:rPr>
              <a:t> </a:t>
            </a:r>
            <a:r>
              <a:rPr sz="2400" b="1" dirty="0">
                <a:solidFill>
                  <a:srgbClr val="D9D9D9"/>
                </a:solidFill>
                <a:latin typeface="Calibri"/>
                <a:cs typeface="Calibri"/>
              </a:rPr>
              <a:t>be</a:t>
            </a:r>
            <a:r>
              <a:rPr sz="2400" b="1" spc="-20" dirty="0">
                <a:solidFill>
                  <a:srgbClr val="D9D9D9"/>
                </a:solidFill>
                <a:latin typeface="Calibri"/>
                <a:cs typeface="Calibri"/>
              </a:rPr>
              <a:t> </a:t>
            </a:r>
            <a:r>
              <a:rPr sz="2400" b="1" dirty="0">
                <a:solidFill>
                  <a:srgbClr val="D9D9D9"/>
                </a:solidFill>
                <a:latin typeface="Calibri"/>
                <a:cs typeface="Calibri"/>
              </a:rPr>
              <a:t>avoided</a:t>
            </a:r>
            <a:r>
              <a:rPr sz="2400" b="1" spc="-13" dirty="0">
                <a:solidFill>
                  <a:srgbClr val="D9D9D9"/>
                </a:solidFill>
                <a:latin typeface="Calibri"/>
                <a:cs typeface="Calibri"/>
              </a:rPr>
              <a:t> </a:t>
            </a:r>
            <a:r>
              <a:rPr sz="2400" b="1" dirty="0">
                <a:solidFill>
                  <a:srgbClr val="D9D9D9"/>
                </a:solidFill>
                <a:latin typeface="Calibri"/>
                <a:cs typeface="Calibri"/>
              </a:rPr>
              <a:t>in</a:t>
            </a:r>
            <a:r>
              <a:rPr sz="2400" b="1" spc="7" dirty="0">
                <a:solidFill>
                  <a:srgbClr val="D9D9D9"/>
                </a:solidFill>
                <a:latin typeface="Calibri"/>
                <a:cs typeface="Calibri"/>
              </a:rPr>
              <a:t> </a:t>
            </a:r>
            <a:r>
              <a:rPr sz="2400" b="1" spc="-33" dirty="0">
                <a:solidFill>
                  <a:srgbClr val="D9D9D9"/>
                </a:solidFill>
                <a:latin typeface="Calibri"/>
                <a:cs typeface="Calibri"/>
              </a:rPr>
              <a:t>FKs</a:t>
            </a:r>
            <a:endParaRPr sz="2400">
              <a:latin typeface="Calibri"/>
              <a:cs typeface="Calibri"/>
            </a:endParaRPr>
          </a:p>
        </p:txBody>
      </p:sp>
      <p:sp>
        <p:nvSpPr>
          <p:cNvPr id="4" name="object 4"/>
          <p:cNvSpPr txBox="1"/>
          <p:nvPr/>
        </p:nvSpPr>
        <p:spPr>
          <a:xfrm>
            <a:off x="3661834" y="2823836"/>
            <a:ext cx="4679527" cy="1004420"/>
          </a:xfrm>
          <a:prstGeom prst="rect">
            <a:avLst/>
          </a:prstGeom>
        </p:spPr>
        <p:txBody>
          <a:bodyPr vert="horz" wrap="square" lIns="0" tIns="179493" rIns="0" bIns="0" rtlCol="0">
            <a:spAutoFit/>
          </a:bodyPr>
          <a:lstStyle/>
          <a:p>
            <a:pPr marL="397923" indent="-380990">
              <a:spcBef>
                <a:spcPts val="1413"/>
              </a:spcBef>
              <a:buClr>
                <a:srgbClr val="99D3FF"/>
              </a:buClr>
              <a:buFont typeface="Wingdings"/>
              <a:buChar char=""/>
              <a:tabLst>
                <a:tab pos="397923" algn="l"/>
              </a:tabLst>
            </a:pPr>
            <a:r>
              <a:rPr sz="2133" dirty="0">
                <a:solidFill>
                  <a:srgbClr val="66DBFF"/>
                </a:solidFill>
                <a:latin typeface="Segoe UI Light"/>
                <a:cs typeface="Segoe UI Light"/>
              </a:rPr>
              <a:t>Nulls</a:t>
            </a:r>
            <a:r>
              <a:rPr sz="2133" spc="-53" dirty="0">
                <a:solidFill>
                  <a:srgbClr val="66DBFF"/>
                </a:solidFill>
                <a:latin typeface="Segoe UI Light"/>
                <a:cs typeface="Segoe UI Light"/>
              </a:rPr>
              <a:t> </a:t>
            </a:r>
            <a:r>
              <a:rPr sz="2133" dirty="0">
                <a:solidFill>
                  <a:srgbClr val="66DBFF"/>
                </a:solidFill>
                <a:latin typeface="Segoe UI Light"/>
                <a:cs typeface="Segoe UI Light"/>
              </a:rPr>
              <a:t>in</a:t>
            </a:r>
            <a:r>
              <a:rPr sz="2133" spc="-13" dirty="0">
                <a:solidFill>
                  <a:srgbClr val="66DBFF"/>
                </a:solidFill>
                <a:latin typeface="Segoe UI Light"/>
                <a:cs typeface="Segoe UI Light"/>
              </a:rPr>
              <a:t> </a:t>
            </a:r>
            <a:r>
              <a:rPr sz="2133" dirty="0">
                <a:solidFill>
                  <a:srgbClr val="66DBFF"/>
                </a:solidFill>
                <a:latin typeface="Segoe UI Light"/>
                <a:cs typeface="Segoe UI Light"/>
              </a:rPr>
              <a:t>FKs</a:t>
            </a:r>
            <a:r>
              <a:rPr sz="2133" spc="-20" dirty="0">
                <a:solidFill>
                  <a:srgbClr val="66DBFF"/>
                </a:solidFill>
                <a:latin typeface="Segoe UI Light"/>
                <a:cs typeface="Segoe UI Light"/>
              </a:rPr>
              <a:t> </a:t>
            </a:r>
            <a:r>
              <a:rPr sz="2133" dirty="0">
                <a:solidFill>
                  <a:srgbClr val="66DBFF"/>
                </a:solidFill>
                <a:latin typeface="Segoe UI Light"/>
                <a:cs typeface="Segoe UI Light"/>
              </a:rPr>
              <a:t>break</a:t>
            </a:r>
            <a:r>
              <a:rPr sz="2133" spc="-60" dirty="0">
                <a:solidFill>
                  <a:srgbClr val="66DBFF"/>
                </a:solidFill>
                <a:latin typeface="Segoe UI Light"/>
                <a:cs typeface="Segoe UI Light"/>
              </a:rPr>
              <a:t> </a:t>
            </a:r>
            <a:r>
              <a:rPr sz="2133" dirty="0">
                <a:solidFill>
                  <a:srgbClr val="66DBFF"/>
                </a:solidFill>
                <a:latin typeface="Segoe UI Light"/>
                <a:cs typeface="Segoe UI Light"/>
              </a:rPr>
              <a:t>referential</a:t>
            </a:r>
            <a:r>
              <a:rPr sz="2133" spc="-73" dirty="0">
                <a:solidFill>
                  <a:srgbClr val="66DBFF"/>
                </a:solidFill>
                <a:latin typeface="Segoe UI Light"/>
                <a:cs typeface="Segoe UI Light"/>
              </a:rPr>
              <a:t> </a:t>
            </a:r>
            <a:r>
              <a:rPr sz="2133" spc="-13" dirty="0">
                <a:solidFill>
                  <a:srgbClr val="66DBFF"/>
                </a:solidFill>
                <a:latin typeface="Segoe UI Light"/>
                <a:cs typeface="Segoe UI Light"/>
              </a:rPr>
              <a:t>integrity!</a:t>
            </a:r>
            <a:endParaRPr sz="2133">
              <a:latin typeface="Segoe UI Light"/>
              <a:cs typeface="Segoe UI Light"/>
            </a:endParaRPr>
          </a:p>
          <a:p>
            <a:pPr marL="397923" indent="-380990">
              <a:spcBef>
                <a:spcPts val="1280"/>
              </a:spcBef>
              <a:buClr>
                <a:srgbClr val="99D3FF"/>
              </a:buClr>
              <a:buFont typeface="Wingdings"/>
              <a:buChar char=""/>
              <a:tabLst>
                <a:tab pos="397923" algn="l"/>
              </a:tabLst>
            </a:pPr>
            <a:r>
              <a:rPr sz="2133" dirty="0">
                <a:solidFill>
                  <a:srgbClr val="66DBFF"/>
                </a:solidFill>
                <a:latin typeface="Segoe UI Light"/>
                <a:cs typeface="Segoe UI Light"/>
              </a:rPr>
              <a:t>They</a:t>
            </a:r>
            <a:r>
              <a:rPr sz="2133" spc="-27" dirty="0">
                <a:solidFill>
                  <a:srgbClr val="66DBFF"/>
                </a:solidFill>
                <a:latin typeface="Segoe UI Light"/>
                <a:cs typeface="Segoe UI Light"/>
              </a:rPr>
              <a:t> </a:t>
            </a:r>
            <a:r>
              <a:rPr sz="2133" dirty="0">
                <a:solidFill>
                  <a:srgbClr val="66DBFF"/>
                </a:solidFill>
                <a:latin typeface="Segoe UI Light"/>
                <a:cs typeface="Segoe UI Light"/>
              </a:rPr>
              <a:t>don't</a:t>
            </a:r>
            <a:r>
              <a:rPr sz="2133" spc="-40" dirty="0">
                <a:solidFill>
                  <a:srgbClr val="66DBFF"/>
                </a:solidFill>
                <a:latin typeface="Segoe UI Light"/>
                <a:cs typeface="Segoe UI Light"/>
              </a:rPr>
              <a:t> </a:t>
            </a:r>
            <a:r>
              <a:rPr sz="2133" dirty="0">
                <a:solidFill>
                  <a:srgbClr val="66DBFF"/>
                </a:solidFill>
                <a:latin typeface="Segoe UI Light"/>
                <a:cs typeface="Segoe UI Light"/>
              </a:rPr>
              <a:t>appear</a:t>
            </a:r>
            <a:r>
              <a:rPr sz="2133" spc="-67" dirty="0">
                <a:solidFill>
                  <a:srgbClr val="66DBFF"/>
                </a:solidFill>
                <a:latin typeface="Segoe UI Light"/>
                <a:cs typeface="Segoe UI Light"/>
              </a:rPr>
              <a:t> </a:t>
            </a:r>
            <a:r>
              <a:rPr sz="2133" dirty="0">
                <a:solidFill>
                  <a:srgbClr val="66DBFF"/>
                </a:solidFill>
                <a:latin typeface="Segoe UI Light"/>
                <a:cs typeface="Segoe UI Light"/>
              </a:rPr>
              <a:t>in</a:t>
            </a:r>
            <a:r>
              <a:rPr sz="2133" spc="-7" dirty="0">
                <a:solidFill>
                  <a:srgbClr val="66DBFF"/>
                </a:solidFill>
                <a:latin typeface="Segoe UI Light"/>
                <a:cs typeface="Segoe UI Light"/>
              </a:rPr>
              <a:t> </a:t>
            </a:r>
            <a:r>
              <a:rPr sz="2133" spc="-27" dirty="0">
                <a:solidFill>
                  <a:srgbClr val="66DBFF"/>
                </a:solidFill>
                <a:latin typeface="Segoe UI Light"/>
                <a:cs typeface="Segoe UI Light"/>
              </a:rPr>
              <a:t>Joins</a:t>
            </a:r>
            <a:endParaRPr sz="2133">
              <a:latin typeface="Segoe UI Light"/>
              <a:cs typeface="Segoe UI Light"/>
            </a:endParaRPr>
          </a:p>
        </p:txBody>
      </p:sp>
      <p:grpSp>
        <p:nvGrpSpPr>
          <p:cNvPr id="5" name="object 5"/>
          <p:cNvGrpSpPr/>
          <p:nvPr/>
        </p:nvGrpSpPr>
        <p:grpSpPr>
          <a:xfrm>
            <a:off x="0" y="930589"/>
            <a:ext cx="3863847" cy="1614490"/>
            <a:chOff x="0" y="697941"/>
            <a:chExt cx="2897885" cy="1210868"/>
          </a:xfrm>
        </p:grpSpPr>
        <p:pic>
          <p:nvPicPr>
            <p:cNvPr id="6" name="object 6"/>
            <p:cNvPicPr/>
            <p:nvPr/>
          </p:nvPicPr>
          <p:blipFill>
            <a:blip r:embed="rId2" cstate="print"/>
            <a:stretch>
              <a:fillRect/>
            </a:stretch>
          </p:blipFill>
          <p:spPr>
            <a:xfrm>
              <a:off x="0" y="697941"/>
              <a:ext cx="2897885" cy="1210868"/>
            </a:xfrm>
            <a:prstGeom prst="rect">
              <a:avLst/>
            </a:prstGeom>
          </p:spPr>
        </p:pic>
        <p:sp>
          <p:nvSpPr>
            <p:cNvPr id="8" name="object 8"/>
            <p:cNvSpPr/>
            <p:nvPr/>
          </p:nvSpPr>
          <p:spPr>
            <a:xfrm>
              <a:off x="76961" y="852678"/>
              <a:ext cx="2514600" cy="579120"/>
            </a:xfrm>
            <a:custGeom>
              <a:avLst/>
              <a:gdLst/>
              <a:ahLst/>
              <a:cxnLst/>
              <a:rect l="l" t="t" r="r" b="b"/>
              <a:pathLst>
                <a:path w="2514600" h="579119">
                  <a:moveTo>
                    <a:pt x="0" y="289560"/>
                  </a:moveTo>
                  <a:lnTo>
                    <a:pt x="144780" y="0"/>
                  </a:lnTo>
                  <a:lnTo>
                    <a:pt x="2369820" y="0"/>
                  </a:lnTo>
                  <a:lnTo>
                    <a:pt x="2514600" y="289560"/>
                  </a:lnTo>
                  <a:lnTo>
                    <a:pt x="2369820" y="579120"/>
                  </a:lnTo>
                  <a:lnTo>
                    <a:pt x="144780" y="579120"/>
                  </a:lnTo>
                  <a:lnTo>
                    <a:pt x="0" y="289560"/>
                  </a:lnTo>
                  <a:close/>
                </a:path>
              </a:pathLst>
            </a:custGeom>
            <a:ln w="19812">
              <a:solidFill>
                <a:srgbClr val="00C3FF"/>
              </a:solidFill>
            </a:ln>
          </p:spPr>
          <p:txBody>
            <a:bodyPr wrap="square" lIns="0" tIns="0" rIns="0" bIns="0" rtlCol="0"/>
            <a:lstStyle/>
            <a:p>
              <a:endParaRPr sz="2400"/>
            </a:p>
          </p:txBody>
        </p:sp>
      </p:grpSp>
      <p:sp>
        <p:nvSpPr>
          <p:cNvPr id="9" name="object 9"/>
          <p:cNvSpPr txBox="1"/>
          <p:nvPr/>
        </p:nvSpPr>
        <p:spPr>
          <a:xfrm>
            <a:off x="462618" y="1281177"/>
            <a:ext cx="2635673" cy="428387"/>
          </a:xfrm>
          <a:prstGeom prst="rect">
            <a:avLst/>
          </a:prstGeom>
        </p:spPr>
        <p:txBody>
          <a:bodyPr vert="horz" wrap="square" lIns="0" tIns="17780" rIns="0" bIns="0" rtlCol="0">
            <a:spAutoFit/>
          </a:bodyPr>
          <a:lstStyle/>
          <a:p>
            <a:pPr marL="16933">
              <a:spcBef>
                <a:spcPts val="140"/>
              </a:spcBef>
            </a:pPr>
            <a:r>
              <a:rPr sz="2667" b="1" dirty="0">
                <a:solidFill>
                  <a:srgbClr val="CCEAFF"/>
                </a:solidFill>
                <a:latin typeface="Calibri"/>
                <a:cs typeface="Calibri"/>
              </a:rPr>
              <a:t>What</a:t>
            </a:r>
            <a:r>
              <a:rPr sz="2667" b="1" spc="-33" dirty="0">
                <a:solidFill>
                  <a:srgbClr val="CCEAFF"/>
                </a:solidFill>
                <a:latin typeface="Calibri"/>
                <a:cs typeface="Calibri"/>
              </a:rPr>
              <a:t> </a:t>
            </a:r>
            <a:r>
              <a:rPr sz="2667" b="1" dirty="0">
                <a:solidFill>
                  <a:srgbClr val="CCEAFF"/>
                </a:solidFill>
                <a:latin typeface="Calibri"/>
                <a:cs typeface="Calibri"/>
              </a:rPr>
              <a:t>we've</a:t>
            </a:r>
            <a:r>
              <a:rPr sz="2667" b="1" spc="-20" dirty="0">
                <a:solidFill>
                  <a:srgbClr val="CCEAFF"/>
                </a:solidFill>
                <a:latin typeface="Calibri"/>
                <a:cs typeface="Calibri"/>
              </a:rPr>
              <a:t> </a:t>
            </a:r>
            <a:r>
              <a:rPr sz="2667" b="1" spc="-13" dirty="0">
                <a:solidFill>
                  <a:srgbClr val="CCEAFF"/>
                </a:solidFill>
                <a:latin typeface="Calibri"/>
                <a:cs typeface="Calibri"/>
              </a:rPr>
              <a:t>learnt</a:t>
            </a:r>
            <a:endParaRPr sz="2667">
              <a:latin typeface="Calibri"/>
              <a:cs typeface="Calibri"/>
            </a:endParaRPr>
          </a:p>
        </p:txBody>
      </p:sp>
      <p:pic>
        <p:nvPicPr>
          <p:cNvPr id="10" name="object 10"/>
          <p:cNvPicPr/>
          <p:nvPr/>
        </p:nvPicPr>
        <p:blipFill>
          <a:blip r:embed="rId3" cstate="print"/>
          <a:stretch>
            <a:fillRect/>
          </a:stretch>
        </p:blipFill>
        <p:spPr>
          <a:xfrm>
            <a:off x="347870" y="1988321"/>
            <a:ext cx="11588569" cy="1104788"/>
          </a:xfrm>
          <a:prstGeom prst="rect">
            <a:avLst/>
          </a:prstGeom>
        </p:spPr>
      </p:pic>
      <p:pic>
        <p:nvPicPr>
          <p:cNvPr id="11" name="object 11"/>
          <p:cNvPicPr/>
          <p:nvPr/>
        </p:nvPicPr>
        <p:blipFill>
          <a:blip r:embed="rId4" cstate="print"/>
          <a:stretch>
            <a:fillRect/>
          </a:stretch>
        </p:blipFill>
        <p:spPr>
          <a:xfrm>
            <a:off x="6299200" y="3978656"/>
            <a:ext cx="4157472" cy="2505456"/>
          </a:xfrm>
          <a:prstGeom prst="rect">
            <a:avLst/>
          </a:prstGeom>
        </p:spPr>
      </p:pic>
      <p:pic>
        <p:nvPicPr>
          <p:cNvPr id="12" name="object 12"/>
          <p:cNvPicPr/>
          <p:nvPr/>
        </p:nvPicPr>
        <p:blipFill>
          <a:blip r:embed="rId5" cstate="print"/>
          <a:stretch>
            <a:fillRect/>
          </a:stretch>
        </p:blipFill>
        <p:spPr>
          <a:xfrm>
            <a:off x="914400" y="3978656"/>
            <a:ext cx="4157472" cy="2499360"/>
          </a:xfrm>
          <a:prstGeom prst="rect">
            <a:avLst/>
          </a:prstGeom>
        </p:spPr>
      </p:pic>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350" y="66545"/>
            <a:ext cx="9814560" cy="695062"/>
          </a:xfrm>
          <a:prstGeom prst="rect">
            <a:avLst/>
          </a:prstGeom>
        </p:spPr>
        <p:txBody>
          <a:bodyPr vert="horz" wrap="square" lIns="0" tIns="17780" rIns="0" bIns="0" rtlCol="0" anchor="ctr">
            <a:spAutoFit/>
          </a:bodyPr>
          <a:lstStyle/>
          <a:p>
            <a:pPr marL="1568834" algn="ctr">
              <a:lnSpc>
                <a:spcPct val="100000"/>
              </a:lnSpc>
              <a:spcBef>
                <a:spcPts val="140"/>
              </a:spcBef>
            </a:pPr>
            <a:r>
              <a:rPr lang="en-IN" dirty="0">
                <a:solidFill>
                  <a:schemeClr val="bg1"/>
                </a:solidFill>
                <a:latin typeface="+mn-lt"/>
              </a:rPr>
              <a:t>Nulls</a:t>
            </a:r>
            <a:r>
              <a:rPr lang="en-IN" spc="-27" dirty="0">
                <a:solidFill>
                  <a:schemeClr val="bg1"/>
                </a:solidFill>
                <a:latin typeface="+mn-lt"/>
              </a:rPr>
              <a:t> </a:t>
            </a:r>
            <a:r>
              <a:rPr lang="en-IN" dirty="0">
                <a:solidFill>
                  <a:schemeClr val="bg1"/>
                </a:solidFill>
                <a:latin typeface="+mn-lt"/>
              </a:rPr>
              <a:t>in</a:t>
            </a:r>
            <a:r>
              <a:rPr lang="en-IN" spc="-40" dirty="0">
                <a:solidFill>
                  <a:schemeClr val="bg1"/>
                </a:solidFill>
                <a:latin typeface="+mn-lt"/>
              </a:rPr>
              <a:t> </a:t>
            </a:r>
            <a:r>
              <a:rPr lang="en-IN" spc="-13" dirty="0">
                <a:solidFill>
                  <a:schemeClr val="bg1"/>
                </a:solidFill>
                <a:latin typeface="+mn-lt"/>
              </a:rPr>
              <a:t>dimensions</a:t>
            </a:r>
            <a:endParaRPr spc="-13" dirty="0"/>
          </a:p>
        </p:txBody>
      </p:sp>
      <p:sp>
        <p:nvSpPr>
          <p:cNvPr id="3" name="object 3"/>
          <p:cNvSpPr txBox="1"/>
          <p:nvPr/>
        </p:nvSpPr>
        <p:spPr>
          <a:xfrm>
            <a:off x="3803564" y="1478619"/>
            <a:ext cx="4030133"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Nulls</a:t>
            </a:r>
            <a:r>
              <a:rPr sz="2400" b="1" spc="-27" dirty="0">
                <a:solidFill>
                  <a:srgbClr val="D9D9D9"/>
                </a:solidFill>
                <a:latin typeface="Calibri"/>
                <a:cs typeface="Calibri"/>
              </a:rPr>
              <a:t> </a:t>
            </a:r>
            <a:r>
              <a:rPr sz="2400" b="1" dirty="0">
                <a:solidFill>
                  <a:srgbClr val="D9D9D9"/>
                </a:solidFill>
                <a:latin typeface="Calibri"/>
                <a:cs typeface="Calibri"/>
              </a:rPr>
              <a:t>must</a:t>
            </a:r>
            <a:r>
              <a:rPr sz="2400" b="1" spc="-13" dirty="0">
                <a:solidFill>
                  <a:srgbClr val="D9D9D9"/>
                </a:solidFill>
                <a:latin typeface="Calibri"/>
                <a:cs typeface="Calibri"/>
              </a:rPr>
              <a:t> </a:t>
            </a:r>
            <a:r>
              <a:rPr sz="2400" b="1" dirty="0">
                <a:solidFill>
                  <a:srgbClr val="D9D9D9"/>
                </a:solidFill>
                <a:latin typeface="Calibri"/>
                <a:cs typeface="Calibri"/>
              </a:rPr>
              <a:t>be</a:t>
            </a:r>
            <a:r>
              <a:rPr sz="2400" b="1" spc="-20" dirty="0">
                <a:solidFill>
                  <a:srgbClr val="D9D9D9"/>
                </a:solidFill>
                <a:latin typeface="Calibri"/>
                <a:cs typeface="Calibri"/>
              </a:rPr>
              <a:t> </a:t>
            </a:r>
            <a:r>
              <a:rPr sz="2400" b="1" dirty="0">
                <a:solidFill>
                  <a:srgbClr val="D9D9D9"/>
                </a:solidFill>
                <a:latin typeface="Calibri"/>
                <a:cs typeface="Calibri"/>
              </a:rPr>
              <a:t>avoided</a:t>
            </a:r>
            <a:r>
              <a:rPr sz="2400" b="1" spc="-13" dirty="0">
                <a:solidFill>
                  <a:srgbClr val="D9D9D9"/>
                </a:solidFill>
                <a:latin typeface="Calibri"/>
                <a:cs typeface="Calibri"/>
              </a:rPr>
              <a:t> </a:t>
            </a:r>
            <a:r>
              <a:rPr sz="2400" b="1" dirty="0">
                <a:solidFill>
                  <a:srgbClr val="D9D9D9"/>
                </a:solidFill>
                <a:latin typeface="Calibri"/>
                <a:cs typeface="Calibri"/>
              </a:rPr>
              <a:t>in</a:t>
            </a:r>
            <a:r>
              <a:rPr sz="2400" b="1" spc="7" dirty="0">
                <a:solidFill>
                  <a:srgbClr val="D9D9D9"/>
                </a:solidFill>
                <a:latin typeface="Calibri"/>
                <a:cs typeface="Calibri"/>
              </a:rPr>
              <a:t> </a:t>
            </a:r>
            <a:r>
              <a:rPr sz="2400" b="1" spc="-33" dirty="0">
                <a:solidFill>
                  <a:srgbClr val="D9D9D9"/>
                </a:solidFill>
                <a:latin typeface="Calibri"/>
                <a:cs typeface="Calibri"/>
              </a:rPr>
              <a:t>FKs</a:t>
            </a:r>
            <a:endParaRPr sz="2400">
              <a:latin typeface="Calibri"/>
              <a:cs typeface="Calibri"/>
            </a:endParaRPr>
          </a:p>
        </p:txBody>
      </p:sp>
      <p:sp>
        <p:nvSpPr>
          <p:cNvPr id="4" name="object 4"/>
          <p:cNvSpPr txBox="1"/>
          <p:nvPr/>
        </p:nvSpPr>
        <p:spPr>
          <a:xfrm>
            <a:off x="3661834" y="2823836"/>
            <a:ext cx="4679527" cy="1004420"/>
          </a:xfrm>
          <a:prstGeom prst="rect">
            <a:avLst/>
          </a:prstGeom>
        </p:spPr>
        <p:txBody>
          <a:bodyPr vert="horz" wrap="square" lIns="0" tIns="179493" rIns="0" bIns="0" rtlCol="0">
            <a:spAutoFit/>
          </a:bodyPr>
          <a:lstStyle/>
          <a:p>
            <a:pPr marL="397923" indent="-380990">
              <a:spcBef>
                <a:spcPts val="1413"/>
              </a:spcBef>
              <a:buClr>
                <a:srgbClr val="99D3FF"/>
              </a:buClr>
              <a:buFont typeface="Wingdings"/>
              <a:buChar char=""/>
              <a:tabLst>
                <a:tab pos="397923" algn="l"/>
              </a:tabLst>
            </a:pPr>
            <a:r>
              <a:rPr sz="2133" dirty="0">
                <a:solidFill>
                  <a:srgbClr val="66DBFF"/>
                </a:solidFill>
                <a:latin typeface="Segoe UI Light"/>
                <a:cs typeface="Segoe UI Light"/>
              </a:rPr>
              <a:t>Nulls</a:t>
            </a:r>
            <a:r>
              <a:rPr sz="2133" spc="-53" dirty="0">
                <a:solidFill>
                  <a:srgbClr val="66DBFF"/>
                </a:solidFill>
                <a:latin typeface="Segoe UI Light"/>
                <a:cs typeface="Segoe UI Light"/>
              </a:rPr>
              <a:t> </a:t>
            </a:r>
            <a:r>
              <a:rPr sz="2133" dirty="0">
                <a:solidFill>
                  <a:srgbClr val="66DBFF"/>
                </a:solidFill>
                <a:latin typeface="Segoe UI Light"/>
                <a:cs typeface="Segoe UI Light"/>
              </a:rPr>
              <a:t>in</a:t>
            </a:r>
            <a:r>
              <a:rPr sz="2133" spc="-13" dirty="0">
                <a:solidFill>
                  <a:srgbClr val="66DBFF"/>
                </a:solidFill>
                <a:latin typeface="Segoe UI Light"/>
                <a:cs typeface="Segoe UI Light"/>
              </a:rPr>
              <a:t> </a:t>
            </a:r>
            <a:r>
              <a:rPr sz="2133" dirty="0">
                <a:solidFill>
                  <a:srgbClr val="66DBFF"/>
                </a:solidFill>
                <a:latin typeface="Segoe UI Light"/>
                <a:cs typeface="Segoe UI Light"/>
              </a:rPr>
              <a:t>FKs</a:t>
            </a:r>
            <a:r>
              <a:rPr sz="2133" spc="-20" dirty="0">
                <a:solidFill>
                  <a:srgbClr val="66DBFF"/>
                </a:solidFill>
                <a:latin typeface="Segoe UI Light"/>
                <a:cs typeface="Segoe UI Light"/>
              </a:rPr>
              <a:t> </a:t>
            </a:r>
            <a:r>
              <a:rPr sz="2133" dirty="0">
                <a:solidFill>
                  <a:srgbClr val="66DBFF"/>
                </a:solidFill>
                <a:latin typeface="Segoe UI Light"/>
                <a:cs typeface="Segoe UI Light"/>
              </a:rPr>
              <a:t>break</a:t>
            </a:r>
            <a:r>
              <a:rPr sz="2133" spc="-60" dirty="0">
                <a:solidFill>
                  <a:srgbClr val="66DBFF"/>
                </a:solidFill>
                <a:latin typeface="Segoe UI Light"/>
                <a:cs typeface="Segoe UI Light"/>
              </a:rPr>
              <a:t> </a:t>
            </a:r>
            <a:r>
              <a:rPr sz="2133" dirty="0">
                <a:solidFill>
                  <a:srgbClr val="66DBFF"/>
                </a:solidFill>
                <a:latin typeface="Segoe UI Light"/>
                <a:cs typeface="Segoe UI Light"/>
              </a:rPr>
              <a:t>referential</a:t>
            </a:r>
            <a:r>
              <a:rPr sz="2133" spc="-73" dirty="0">
                <a:solidFill>
                  <a:srgbClr val="66DBFF"/>
                </a:solidFill>
                <a:latin typeface="Segoe UI Light"/>
                <a:cs typeface="Segoe UI Light"/>
              </a:rPr>
              <a:t> </a:t>
            </a:r>
            <a:r>
              <a:rPr sz="2133" spc="-13" dirty="0">
                <a:solidFill>
                  <a:srgbClr val="66DBFF"/>
                </a:solidFill>
                <a:latin typeface="Segoe UI Light"/>
                <a:cs typeface="Segoe UI Light"/>
              </a:rPr>
              <a:t>integrity!</a:t>
            </a:r>
            <a:endParaRPr sz="2133">
              <a:latin typeface="Segoe UI Light"/>
              <a:cs typeface="Segoe UI Light"/>
            </a:endParaRPr>
          </a:p>
          <a:p>
            <a:pPr marL="397923" indent="-380990">
              <a:spcBef>
                <a:spcPts val="1280"/>
              </a:spcBef>
              <a:buClr>
                <a:srgbClr val="99D3FF"/>
              </a:buClr>
              <a:buFont typeface="Wingdings"/>
              <a:buChar char=""/>
              <a:tabLst>
                <a:tab pos="397923" algn="l"/>
              </a:tabLst>
            </a:pPr>
            <a:r>
              <a:rPr sz="2133" dirty="0">
                <a:solidFill>
                  <a:srgbClr val="66DBFF"/>
                </a:solidFill>
                <a:latin typeface="Segoe UI Light"/>
                <a:cs typeface="Segoe UI Light"/>
              </a:rPr>
              <a:t>They</a:t>
            </a:r>
            <a:r>
              <a:rPr sz="2133" spc="-27" dirty="0">
                <a:solidFill>
                  <a:srgbClr val="66DBFF"/>
                </a:solidFill>
                <a:latin typeface="Segoe UI Light"/>
                <a:cs typeface="Segoe UI Light"/>
              </a:rPr>
              <a:t> </a:t>
            </a:r>
            <a:r>
              <a:rPr sz="2133" dirty="0">
                <a:solidFill>
                  <a:srgbClr val="66DBFF"/>
                </a:solidFill>
                <a:latin typeface="Segoe UI Light"/>
                <a:cs typeface="Segoe UI Light"/>
              </a:rPr>
              <a:t>don't</a:t>
            </a:r>
            <a:r>
              <a:rPr sz="2133" spc="-40" dirty="0">
                <a:solidFill>
                  <a:srgbClr val="66DBFF"/>
                </a:solidFill>
                <a:latin typeface="Segoe UI Light"/>
                <a:cs typeface="Segoe UI Light"/>
              </a:rPr>
              <a:t> </a:t>
            </a:r>
            <a:r>
              <a:rPr sz="2133" dirty="0">
                <a:solidFill>
                  <a:srgbClr val="66DBFF"/>
                </a:solidFill>
                <a:latin typeface="Segoe UI Light"/>
                <a:cs typeface="Segoe UI Light"/>
              </a:rPr>
              <a:t>appear</a:t>
            </a:r>
            <a:r>
              <a:rPr sz="2133" spc="-67" dirty="0">
                <a:solidFill>
                  <a:srgbClr val="66DBFF"/>
                </a:solidFill>
                <a:latin typeface="Segoe UI Light"/>
                <a:cs typeface="Segoe UI Light"/>
              </a:rPr>
              <a:t> </a:t>
            </a:r>
            <a:r>
              <a:rPr sz="2133" dirty="0">
                <a:solidFill>
                  <a:srgbClr val="66DBFF"/>
                </a:solidFill>
                <a:latin typeface="Segoe UI Light"/>
                <a:cs typeface="Segoe UI Light"/>
              </a:rPr>
              <a:t>in</a:t>
            </a:r>
            <a:r>
              <a:rPr sz="2133" spc="-7" dirty="0">
                <a:solidFill>
                  <a:srgbClr val="66DBFF"/>
                </a:solidFill>
                <a:latin typeface="Segoe UI Light"/>
                <a:cs typeface="Segoe UI Light"/>
              </a:rPr>
              <a:t> </a:t>
            </a:r>
            <a:r>
              <a:rPr sz="2133" spc="-27" dirty="0">
                <a:solidFill>
                  <a:srgbClr val="66DBFF"/>
                </a:solidFill>
                <a:latin typeface="Segoe UI Light"/>
                <a:cs typeface="Segoe UI Light"/>
              </a:rPr>
              <a:t>Joins</a:t>
            </a:r>
            <a:endParaRPr sz="2133">
              <a:latin typeface="Segoe UI Light"/>
              <a:cs typeface="Segoe UI Light"/>
            </a:endParaRPr>
          </a:p>
        </p:txBody>
      </p:sp>
      <p:grpSp>
        <p:nvGrpSpPr>
          <p:cNvPr id="5" name="object 5"/>
          <p:cNvGrpSpPr/>
          <p:nvPr/>
        </p:nvGrpSpPr>
        <p:grpSpPr>
          <a:xfrm>
            <a:off x="0" y="930589"/>
            <a:ext cx="3863847" cy="1614490"/>
            <a:chOff x="0" y="697941"/>
            <a:chExt cx="2897885" cy="1210868"/>
          </a:xfrm>
        </p:grpSpPr>
        <p:pic>
          <p:nvPicPr>
            <p:cNvPr id="6" name="object 6"/>
            <p:cNvPicPr/>
            <p:nvPr/>
          </p:nvPicPr>
          <p:blipFill>
            <a:blip r:embed="rId2" cstate="print"/>
            <a:stretch>
              <a:fillRect/>
            </a:stretch>
          </p:blipFill>
          <p:spPr>
            <a:xfrm>
              <a:off x="0" y="697941"/>
              <a:ext cx="2897885" cy="1210868"/>
            </a:xfrm>
            <a:prstGeom prst="rect">
              <a:avLst/>
            </a:prstGeom>
          </p:spPr>
        </p:pic>
        <p:sp>
          <p:nvSpPr>
            <p:cNvPr id="8" name="object 8"/>
            <p:cNvSpPr/>
            <p:nvPr/>
          </p:nvSpPr>
          <p:spPr>
            <a:xfrm>
              <a:off x="76961" y="852678"/>
              <a:ext cx="2514600" cy="579120"/>
            </a:xfrm>
            <a:custGeom>
              <a:avLst/>
              <a:gdLst/>
              <a:ahLst/>
              <a:cxnLst/>
              <a:rect l="l" t="t" r="r" b="b"/>
              <a:pathLst>
                <a:path w="2514600" h="579119">
                  <a:moveTo>
                    <a:pt x="0" y="289560"/>
                  </a:moveTo>
                  <a:lnTo>
                    <a:pt x="144780" y="0"/>
                  </a:lnTo>
                  <a:lnTo>
                    <a:pt x="2369820" y="0"/>
                  </a:lnTo>
                  <a:lnTo>
                    <a:pt x="2514600" y="289560"/>
                  </a:lnTo>
                  <a:lnTo>
                    <a:pt x="2369820" y="579120"/>
                  </a:lnTo>
                  <a:lnTo>
                    <a:pt x="144780" y="579120"/>
                  </a:lnTo>
                  <a:lnTo>
                    <a:pt x="0" y="289560"/>
                  </a:lnTo>
                  <a:close/>
                </a:path>
              </a:pathLst>
            </a:custGeom>
            <a:ln w="19812">
              <a:solidFill>
                <a:srgbClr val="00C3FF"/>
              </a:solidFill>
            </a:ln>
          </p:spPr>
          <p:txBody>
            <a:bodyPr wrap="square" lIns="0" tIns="0" rIns="0" bIns="0" rtlCol="0"/>
            <a:lstStyle/>
            <a:p>
              <a:endParaRPr sz="2400"/>
            </a:p>
          </p:txBody>
        </p:sp>
      </p:grpSp>
      <p:sp>
        <p:nvSpPr>
          <p:cNvPr id="9" name="object 9"/>
          <p:cNvSpPr txBox="1"/>
          <p:nvPr/>
        </p:nvSpPr>
        <p:spPr>
          <a:xfrm>
            <a:off x="462618" y="1281177"/>
            <a:ext cx="2635673" cy="428387"/>
          </a:xfrm>
          <a:prstGeom prst="rect">
            <a:avLst/>
          </a:prstGeom>
        </p:spPr>
        <p:txBody>
          <a:bodyPr vert="horz" wrap="square" lIns="0" tIns="17780" rIns="0" bIns="0" rtlCol="0">
            <a:spAutoFit/>
          </a:bodyPr>
          <a:lstStyle/>
          <a:p>
            <a:pPr marL="16933">
              <a:spcBef>
                <a:spcPts val="140"/>
              </a:spcBef>
            </a:pPr>
            <a:r>
              <a:rPr sz="2667" b="1" dirty="0">
                <a:solidFill>
                  <a:srgbClr val="CCEAFF"/>
                </a:solidFill>
                <a:latin typeface="Calibri"/>
                <a:cs typeface="Calibri"/>
              </a:rPr>
              <a:t>What</a:t>
            </a:r>
            <a:r>
              <a:rPr sz="2667" b="1" spc="-33" dirty="0">
                <a:solidFill>
                  <a:srgbClr val="CCEAFF"/>
                </a:solidFill>
                <a:latin typeface="Calibri"/>
                <a:cs typeface="Calibri"/>
              </a:rPr>
              <a:t> </a:t>
            </a:r>
            <a:r>
              <a:rPr sz="2667" b="1" dirty="0">
                <a:solidFill>
                  <a:srgbClr val="CCEAFF"/>
                </a:solidFill>
                <a:latin typeface="Calibri"/>
                <a:cs typeface="Calibri"/>
              </a:rPr>
              <a:t>we've</a:t>
            </a:r>
            <a:r>
              <a:rPr sz="2667" b="1" spc="-20" dirty="0">
                <a:solidFill>
                  <a:srgbClr val="CCEAFF"/>
                </a:solidFill>
                <a:latin typeface="Calibri"/>
                <a:cs typeface="Calibri"/>
              </a:rPr>
              <a:t> </a:t>
            </a:r>
            <a:r>
              <a:rPr sz="2667" b="1" spc="-13" dirty="0">
                <a:solidFill>
                  <a:srgbClr val="CCEAFF"/>
                </a:solidFill>
                <a:latin typeface="Calibri"/>
                <a:cs typeface="Calibri"/>
              </a:rPr>
              <a:t>learnt</a:t>
            </a:r>
            <a:endParaRPr sz="2667">
              <a:latin typeface="Calibri"/>
              <a:cs typeface="Calibri"/>
            </a:endParaRPr>
          </a:p>
        </p:txBody>
      </p:sp>
      <p:pic>
        <p:nvPicPr>
          <p:cNvPr id="10" name="object 10"/>
          <p:cNvPicPr/>
          <p:nvPr/>
        </p:nvPicPr>
        <p:blipFill>
          <a:blip r:embed="rId3" cstate="print"/>
          <a:stretch>
            <a:fillRect/>
          </a:stretch>
        </p:blipFill>
        <p:spPr>
          <a:xfrm>
            <a:off x="1312670" y="2034031"/>
            <a:ext cx="10137207" cy="1004419"/>
          </a:xfrm>
          <a:prstGeom prst="rect">
            <a:avLst/>
          </a:prstGeom>
        </p:spPr>
      </p:pic>
      <p:pic>
        <p:nvPicPr>
          <p:cNvPr id="11" name="object 11"/>
          <p:cNvPicPr/>
          <p:nvPr/>
        </p:nvPicPr>
        <p:blipFill>
          <a:blip r:embed="rId4" cstate="print"/>
          <a:stretch>
            <a:fillRect/>
          </a:stretch>
        </p:blipFill>
        <p:spPr>
          <a:xfrm>
            <a:off x="6299200" y="3978656"/>
            <a:ext cx="4157472" cy="2505456"/>
          </a:xfrm>
          <a:prstGeom prst="rect">
            <a:avLst/>
          </a:prstGeom>
        </p:spPr>
      </p:pic>
      <p:pic>
        <p:nvPicPr>
          <p:cNvPr id="12" name="object 12"/>
          <p:cNvPicPr/>
          <p:nvPr/>
        </p:nvPicPr>
        <p:blipFill>
          <a:blip r:embed="rId5" cstate="print"/>
          <a:stretch>
            <a:fillRect/>
          </a:stretch>
        </p:blipFill>
        <p:spPr>
          <a:xfrm>
            <a:off x="914400" y="3978656"/>
            <a:ext cx="4157472" cy="2499360"/>
          </a:xfrm>
          <a:prstGeom prst="rect">
            <a:avLst/>
          </a:prstGeom>
        </p:spPr>
      </p:pic>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76669" y="118565"/>
            <a:ext cx="6988313" cy="695062"/>
          </a:xfrm>
          <a:prstGeom prst="rect">
            <a:avLst/>
          </a:prstGeom>
        </p:spPr>
        <p:txBody>
          <a:bodyPr vert="horz" wrap="square" lIns="0" tIns="17780" rIns="0" bIns="0" rtlCol="0" anchor="ctr">
            <a:spAutoFit/>
          </a:bodyPr>
          <a:lstStyle/>
          <a:p>
            <a:pPr marL="1568834">
              <a:lnSpc>
                <a:spcPct val="100000"/>
              </a:lnSpc>
              <a:spcBef>
                <a:spcPts val="140"/>
              </a:spcBef>
            </a:pPr>
            <a:r>
              <a:rPr dirty="0">
                <a:solidFill>
                  <a:schemeClr val="bg1"/>
                </a:solidFill>
                <a:latin typeface="+mn-lt"/>
              </a:rPr>
              <a:t>Nulls</a:t>
            </a:r>
            <a:r>
              <a:rPr spc="-27" dirty="0">
                <a:solidFill>
                  <a:schemeClr val="bg1"/>
                </a:solidFill>
                <a:latin typeface="+mn-lt"/>
              </a:rPr>
              <a:t> </a:t>
            </a:r>
            <a:r>
              <a:rPr dirty="0">
                <a:solidFill>
                  <a:schemeClr val="bg1"/>
                </a:solidFill>
                <a:latin typeface="+mn-lt"/>
              </a:rPr>
              <a:t>in</a:t>
            </a:r>
            <a:r>
              <a:rPr spc="-40" dirty="0">
                <a:solidFill>
                  <a:schemeClr val="bg1"/>
                </a:solidFill>
                <a:latin typeface="+mn-lt"/>
              </a:rPr>
              <a:t> </a:t>
            </a:r>
            <a:r>
              <a:rPr spc="-13" dirty="0">
                <a:solidFill>
                  <a:schemeClr val="bg1"/>
                </a:solidFill>
                <a:latin typeface="+mn-lt"/>
              </a:rPr>
              <a:t>dimensions</a:t>
            </a:r>
          </a:p>
        </p:txBody>
      </p:sp>
      <p:sp>
        <p:nvSpPr>
          <p:cNvPr id="3" name="object 3"/>
          <p:cNvSpPr txBox="1"/>
          <p:nvPr/>
        </p:nvSpPr>
        <p:spPr>
          <a:xfrm>
            <a:off x="3803564" y="1478619"/>
            <a:ext cx="4030133"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Nulls</a:t>
            </a:r>
            <a:r>
              <a:rPr sz="2400" b="1" spc="-27" dirty="0">
                <a:solidFill>
                  <a:srgbClr val="D9D9D9"/>
                </a:solidFill>
                <a:latin typeface="Calibri"/>
                <a:cs typeface="Calibri"/>
              </a:rPr>
              <a:t> </a:t>
            </a:r>
            <a:r>
              <a:rPr sz="2400" b="1" dirty="0">
                <a:solidFill>
                  <a:srgbClr val="D9D9D9"/>
                </a:solidFill>
                <a:latin typeface="Calibri"/>
                <a:cs typeface="Calibri"/>
              </a:rPr>
              <a:t>must</a:t>
            </a:r>
            <a:r>
              <a:rPr sz="2400" b="1" spc="-13" dirty="0">
                <a:solidFill>
                  <a:srgbClr val="D9D9D9"/>
                </a:solidFill>
                <a:latin typeface="Calibri"/>
                <a:cs typeface="Calibri"/>
              </a:rPr>
              <a:t> </a:t>
            </a:r>
            <a:r>
              <a:rPr sz="2400" b="1" dirty="0">
                <a:solidFill>
                  <a:srgbClr val="D9D9D9"/>
                </a:solidFill>
                <a:latin typeface="Calibri"/>
                <a:cs typeface="Calibri"/>
              </a:rPr>
              <a:t>be</a:t>
            </a:r>
            <a:r>
              <a:rPr sz="2400" b="1" spc="-20" dirty="0">
                <a:solidFill>
                  <a:srgbClr val="D9D9D9"/>
                </a:solidFill>
                <a:latin typeface="Calibri"/>
                <a:cs typeface="Calibri"/>
              </a:rPr>
              <a:t> </a:t>
            </a:r>
            <a:r>
              <a:rPr sz="2400" b="1" dirty="0">
                <a:solidFill>
                  <a:srgbClr val="D9D9D9"/>
                </a:solidFill>
                <a:latin typeface="Calibri"/>
                <a:cs typeface="Calibri"/>
              </a:rPr>
              <a:t>avoided</a:t>
            </a:r>
            <a:r>
              <a:rPr sz="2400" b="1" spc="-13" dirty="0">
                <a:solidFill>
                  <a:srgbClr val="D9D9D9"/>
                </a:solidFill>
                <a:latin typeface="Calibri"/>
                <a:cs typeface="Calibri"/>
              </a:rPr>
              <a:t> </a:t>
            </a:r>
            <a:r>
              <a:rPr sz="2400" b="1" dirty="0">
                <a:solidFill>
                  <a:srgbClr val="D9D9D9"/>
                </a:solidFill>
                <a:latin typeface="Calibri"/>
                <a:cs typeface="Calibri"/>
              </a:rPr>
              <a:t>in</a:t>
            </a:r>
            <a:r>
              <a:rPr sz="2400" b="1" spc="7" dirty="0">
                <a:solidFill>
                  <a:srgbClr val="D9D9D9"/>
                </a:solidFill>
                <a:latin typeface="Calibri"/>
                <a:cs typeface="Calibri"/>
              </a:rPr>
              <a:t> </a:t>
            </a:r>
            <a:r>
              <a:rPr sz="2400" b="1" spc="-33" dirty="0">
                <a:solidFill>
                  <a:srgbClr val="D9D9D9"/>
                </a:solidFill>
                <a:latin typeface="Calibri"/>
                <a:cs typeface="Calibri"/>
              </a:rPr>
              <a:t>FKs</a:t>
            </a:r>
            <a:endParaRPr sz="2400">
              <a:latin typeface="Calibri"/>
              <a:cs typeface="Calibri"/>
            </a:endParaRPr>
          </a:p>
        </p:txBody>
      </p:sp>
      <p:sp>
        <p:nvSpPr>
          <p:cNvPr id="4" name="object 4"/>
          <p:cNvSpPr txBox="1"/>
          <p:nvPr/>
        </p:nvSpPr>
        <p:spPr>
          <a:xfrm>
            <a:off x="3661834" y="2823836"/>
            <a:ext cx="4679527" cy="1004420"/>
          </a:xfrm>
          <a:prstGeom prst="rect">
            <a:avLst/>
          </a:prstGeom>
        </p:spPr>
        <p:txBody>
          <a:bodyPr vert="horz" wrap="square" lIns="0" tIns="179493" rIns="0" bIns="0" rtlCol="0">
            <a:spAutoFit/>
          </a:bodyPr>
          <a:lstStyle/>
          <a:p>
            <a:pPr marL="397923" indent="-380990">
              <a:spcBef>
                <a:spcPts val="1413"/>
              </a:spcBef>
              <a:buClr>
                <a:srgbClr val="99D3FF"/>
              </a:buClr>
              <a:buFont typeface="Wingdings"/>
              <a:buChar char=""/>
              <a:tabLst>
                <a:tab pos="397923" algn="l"/>
              </a:tabLst>
            </a:pPr>
            <a:r>
              <a:rPr sz="2133" dirty="0">
                <a:solidFill>
                  <a:srgbClr val="66DBFF"/>
                </a:solidFill>
                <a:latin typeface="Segoe UI Light"/>
                <a:cs typeface="Segoe UI Light"/>
              </a:rPr>
              <a:t>Nulls</a:t>
            </a:r>
            <a:r>
              <a:rPr sz="2133" spc="-53" dirty="0">
                <a:solidFill>
                  <a:srgbClr val="66DBFF"/>
                </a:solidFill>
                <a:latin typeface="Segoe UI Light"/>
                <a:cs typeface="Segoe UI Light"/>
              </a:rPr>
              <a:t> </a:t>
            </a:r>
            <a:r>
              <a:rPr sz="2133" dirty="0">
                <a:solidFill>
                  <a:srgbClr val="66DBFF"/>
                </a:solidFill>
                <a:latin typeface="Segoe UI Light"/>
                <a:cs typeface="Segoe UI Light"/>
              </a:rPr>
              <a:t>in</a:t>
            </a:r>
            <a:r>
              <a:rPr sz="2133" spc="-13" dirty="0">
                <a:solidFill>
                  <a:srgbClr val="66DBFF"/>
                </a:solidFill>
                <a:latin typeface="Segoe UI Light"/>
                <a:cs typeface="Segoe UI Light"/>
              </a:rPr>
              <a:t> </a:t>
            </a:r>
            <a:r>
              <a:rPr sz="2133" dirty="0">
                <a:solidFill>
                  <a:srgbClr val="66DBFF"/>
                </a:solidFill>
                <a:latin typeface="Segoe UI Light"/>
                <a:cs typeface="Segoe UI Light"/>
              </a:rPr>
              <a:t>FKs</a:t>
            </a:r>
            <a:r>
              <a:rPr sz="2133" spc="-20" dirty="0">
                <a:solidFill>
                  <a:srgbClr val="66DBFF"/>
                </a:solidFill>
                <a:latin typeface="Segoe UI Light"/>
                <a:cs typeface="Segoe UI Light"/>
              </a:rPr>
              <a:t> </a:t>
            </a:r>
            <a:r>
              <a:rPr sz="2133" dirty="0">
                <a:solidFill>
                  <a:srgbClr val="66DBFF"/>
                </a:solidFill>
                <a:latin typeface="Segoe UI Light"/>
                <a:cs typeface="Segoe UI Light"/>
              </a:rPr>
              <a:t>break</a:t>
            </a:r>
            <a:r>
              <a:rPr sz="2133" spc="-60" dirty="0">
                <a:solidFill>
                  <a:srgbClr val="66DBFF"/>
                </a:solidFill>
                <a:latin typeface="Segoe UI Light"/>
                <a:cs typeface="Segoe UI Light"/>
              </a:rPr>
              <a:t> </a:t>
            </a:r>
            <a:r>
              <a:rPr sz="2133" dirty="0">
                <a:solidFill>
                  <a:srgbClr val="66DBFF"/>
                </a:solidFill>
                <a:latin typeface="Segoe UI Light"/>
                <a:cs typeface="Segoe UI Light"/>
              </a:rPr>
              <a:t>referential</a:t>
            </a:r>
            <a:r>
              <a:rPr sz="2133" spc="-73" dirty="0">
                <a:solidFill>
                  <a:srgbClr val="66DBFF"/>
                </a:solidFill>
                <a:latin typeface="Segoe UI Light"/>
                <a:cs typeface="Segoe UI Light"/>
              </a:rPr>
              <a:t> </a:t>
            </a:r>
            <a:r>
              <a:rPr sz="2133" spc="-13" dirty="0">
                <a:solidFill>
                  <a:srgbClr val="66DBFF"/>
                </a:solidFill>
                <a:latin typeface="Segoe UI Light"/>
                <a:cs typeface="Segoe UI Light"/>
              </a:rPr>
              <a:t>integrity!</a:t>
            </a:r>
            <a:endParaRPr sz="2133">
              <a:latin typeface="Segoe UI Light"/>
              <a:cs typeface="Segoe UI Light"/>
            </a:endParaRPr>
          </a:p>
          <a:p>
            <a:pPr marL="397923" indent="-380990">
              <a:spcBef>
                <a:spcPts val="1280"/>
              </a:spcBef>
              <a:buClr>
                <a:srgbClr val="99D3FF"/>
              </a:buClr>
              <a:buFont typeface="Wingdings"/>
              <a:buChar char=""/>
              <a:tabLst>
                <a:tab pos="397923" algn="l"/>
              </a:tabLst>
            </a:pPr>
            <a:r>
              <a:rPr sz="2133" dirty="0">
                <a:solidFill>
                  <a:srgbClr val="66DBFF"/>
                </a:solidFill>
                <a:latin typeface="Segoe UI Light"/>
                <a:cs typeface="Segoe UI Light"/>
              </a:rPr>
              <a:t>They</a:t>
            </a:r>
            <a:r>
              <a:rPr sz="2133" spc="-27" dirty="0">
                <a:solidFill>
                  <a:srgbClr val="66DBFF"/>
                </a:solidFill>
                <a:latin typeface="Segoe UI Light"/>
                <a:cs typeface="Segoe UI Light"/>
              </a:rPr>
              <a:t> </a:t>
            </a:r>
            <a:r>
              <a:rPr sz="2133" dirty="0">
                <a:solidFill>
                  <a:srgbClr val="66DBFF"/>
                </a:solidFill>
                <a:latin typeface="Segoe UI Light"/>
                <a:cs typeface="Segoe UI Light"/>
              </a:rPr>
              <a:t>don't</a:t>
            </a:r>
            <a:r>
              <a:rPr sz="2133" spc="-40" dirty="0">
                <a:solidFill>
                  <a:srgbClr val="66DBFF"/>
                </a:solidFill>
                <a:latin typeface="Segoe UI Light"/>
                <a:cs typeface="Segoe UI Light"/>
              </a:rPr>
              <a:t> </a:t>
            </a:r>
            <a:r>
              <a:rPr sz="2133" dirty="0">
                <a:solidFill>
                  <a:srgbClr val="66DBFF"/>
                </a:solidFill>
                <a:latin typeface="Segoe UI Light"/>
                <a:cs typeface="Segoe UI Light"/>
              </a:rPr>
              <a:t>appear</a:t>
            </a:r>
            <a:r>
              <a:rPr sz="2133" spc="-67" dirty="0">
                <a:solidFill>
                  <a:srgbClr val="66DBFF"/>
                </a:solidFill>
                <a:latin typeface="Segoe UI Light"/>
                <a:cs typeface="Segoe UI Light"/>
              </a:rPr>
              <a:t> </a:t>
            </a:r>
            <a:r>
              <a:rPr sz="2133" dirty="0">
                <a:solidFill>
                  <a:srgbClr val="66DBFF"/>
                </a:solidFill>
                <a:latin typeface="Segoe UI Light"/>
                <a:cs typeface="Segoe UI Light"/>
              </a:rPr>
              <a:t>in</a:t>
            </a:r>
            <a:r>
              <a:rPr sz="2133" spc="-7" dirty="0">
                <a:solidFill>
                  <a:srgbClr val="66DBFF"/>
                </a:solidFill>
                <a:latin typeface="Segoe UI Light"/>
                <a:cs typeface="Segoe UI Light"/>
              </a:rPr>
              <a:t> </a:t>
            </a:r>
            <a:r>
              <a:rPr sz="2133" spc="-27" dirty="0">
                <a:solidFill>
                  <a:srgbClr val="66DBFF"/>
                </a:solidFill>
                <a:latin typeface="Segoe UI Light"/>
                <a:cs typeface="Segoe UI Light"/>
              </a:rPr>
              <a:t>Joins</a:t>
            </a:r>
            <a:endParaRPr sz="2133">
              <a:latin typeface="Segoe UI Light"/>
              <a:cs typeface="Segoe UI Light"/>
            </a:endParaRPr>
          </a:p>
        </p:txBody>
      </p:sp>
      <p:grpSp>
        <p:nvGrpSpPr>
          <p:cNvPr id="5" name="object 5"/>
          <p:cNvGrpSpPr/>
          <p:nvPr/>
        </p:nvGrpSpPr>
        <p:grpSpPr>
          <a:xfrm>
            <a:off x="0" y="930589"/>
            <a:ext cx="3863847" cy="1614490"/>
            <a:chOff x="0" y="697941"/>
            <a:chExt cx="2897885" cy="1210868"/>
          </a:xfrm>
        </p:grpSpPr>
        <p:pic>
          <p:nvPicPr>
            <p:cNvPr id="6" name="object 6"/>
            <p:cNvPicPr/>
            <p:nvPr/>
          </p:nvPicPr>
          <p:blipFill>
            <a:blip r:embed="rId2" cstate="print"/>
            <a:stretch>
              <a:fillRect/>
            </a:stretch>
          </p:blipFill>
          <p:spPr>
            <a:xfrm>
              <a:off x="0" y="697941"/>
              <a:ext cx="2897885" cy="1210868"/>
            </a:xfrm>
            <a:prstGeom prst="rect">
              <a:avLst/>
            </a:prstGeom>
          </p:spPr>
        </p:pic>
        <p:sp>
          <p:nvSpPr>
            <p:cNvPr id="8" name="object 8"/>
            <p:cNvSpPr/>
            <p:nvPr/>
          </p:nvSpPr>
          <p:spPr>
            <a:xfrm>
              <a:off x="76961" y="852678"/>
              <a:ext cx="2514600" cy="579120"/>
            </a:xfrm>
            <a:custGeom>
              <a:avLst/>
              <a:gdLst/>
              <a:ahLst/>
              <a:cxnLst/>
              <a:rect l="l" t="t" r="r" b="b"/>
              <a:pathLst>
                <a:path w="2514600" h="579119">
                  <a:moveTo>
                    <a:pt x="0" y="289560"/>
                  </a:moveTo>
                  <a:lnTo>
                    <a:pt x="144780" y="0"/>
                  </a:lnTo>
                  <a:lnTo>
                    <a:pt x="2369820" y="0"/>
                  </a:lnTo>
                  <a:lnTo>
                    <a:pt x="2514600" y="289560"/>
                  </a:lnTo>
                  <a:lnTo>
                    <a:pt x="2369820" y="579120"/>
                  </a:lnTo>
                  <a:lnTo>
                    <a:pt x="144780" y="579120"/>
                  </a:lnTo>
                  <a:lnTo>
                    <a:pt x="0" y="289560"/>
                  </a:lnTo>
                  <a:close/>
                </a:path>
              </a:pathLst>
            </a:custGeom>
            <a:ln w="19812">
              <a:solidFill>
                <a:srgbClr val="00C3FF"/>
              </a:solidFill>
            </a:ln>
          </p:spPr>
          <p:txBody>
            <a:bodyPr wrap="square" lIns="0" tIns="0" rIns="0" bIns="0" rtlCol="0"/>
            <a:lstStyle/>
            <a:p>
              <a:endParaRPr sz="2400"/>
            </a:p>
          </p:txBody>
        </p:sp>
      </p:grpSp>
      <p:sp>
        <p:nvSpPr>
          <p:cNvPr id="9" name="object 9"/>
          <p:cNvSpPr txBox="1"/>
          <p:nvPr/>
        </p:nvSpPr>
        <p:spPr>
          <a:xfrm>
            <a:off x="462618" y="1281177"/>
            <a:ext cx="2635673" cy="428387"/>
          </a:xfrm>
          <a:prstGeom prst="rect">
            <a:avLst/>
          </a:prstGeom>
        </p:spPr>
        <p:txBody>
          <a:bodyPr vert="horz" wrap="square" lIns="0" tIns="17780" rIns="0" bIns="0" rtlCol="0">
            <a:spAutoFit/>
          </a:bodyPr>
          <a:lstStyle/>
          <a:p>
            <a:pPr marL="16933">
              <a:spcBef>
                <a:spcPts val="140"/>
              </a:spcBef>
            </a:pPr>
            <a:r>
              <a:rPr sz="2667" b="1" dirty="0">
                <a:solidFill>
                  <a:srgbClr val="CCEAFF"/>
                </a:solidFill>
                <a:latin typeface="Calibri"/>
                <a:cs typeface="Calibri"/>
              </a:rPr>
              <a:t>What</a:t>
            </a:r>
            <a:r>
              <a:rPr sz="2667" b="1" spc="-33" dirty="0">
                <a:solidFill>
                  <a:srgbClr val="CCEAFF"/>
                </a:solidFill>
                <a:latin typeface="Calibri"/>
                <a:cs typeface="Calibri"/>
              </a:rPr>
              <a:t> </a:t>
            </a:r>
            <a:r>
              <a:rPr sz="2667" b="1" dirty="0">
                <a:solidFill>
                  <a:srgbClr val="CCEAFF"/>
                </a:solidFill>
                <a:latin typeface="Calibri"/>
                <a:cs typeface="Calibri"/>
              </a:rPr>
              <a:t>we've</a:t>
            </a:r>
            <a:r>
              <a:rPr sz="2667" b="1" spc="-20" dirty="0">
                <a:solidFill>
                  <a:srgbClr val="CCEAFF"/>
                </a:solidFill>
                <a:latin typeface="Calibri"/>
                <a:cs typeface="Calibri"/>
              </a:rPr>
              <a:t> </a:t>
            </a:r>
            <a:r>
              <a:rPr sz="2667" b="1" spc="-13" dirty="0">
                <a:solidFill>
                  <a:srgbClr val="CCEAFF"/>
                </a:solidFill>
                <a:latin typeface="Calibri"/>
                <a:cs typeface="Calibri"/>
              </a:rPr>
              <a:t>learnt</a:t>
            </a:r>
            <a:endParaRPr sz="2667">
              <a:latin typeface="Calibri"/>
              <a:cs typeface="Calibri"/>
            </a:endParaRPr>
          </a:p>
        </p:txBody>
      </p:sp>
      <p:pic>
        <p:nvPicPr>
          <p:cNvPr id="10" name="object 10"/>
          <p:cNvPicPr/>
          <p:nvPr/>
        </p:nvPicPr>
        <p:blipFill>
          <a:blip r:embed="rId3" cstate="print"/>
          <a:stretch>
            <a:fillRect/>
          </a:stretch>
        </p:blipFill>
        <p:spPr>
          <a:xfrm>
            <a:off x="1312670" y="2034031"/>
            <a:ext cx="9680007" cy="1059077"/>
          </a:xfrm>
          <a:prstGeom prst="rect">
            <a:avLst/>
          </a:prstGeom>
        </p:spPr>
      </p:pic>
      <p:grpSp>
        <p:nvGrpSpPr>
          <p:cNvPr id="11" name="object 11"/>
          <p:cNvGrpSpPr/>
          <p:nvPr/>
        </p:nvGrpSpPr>
        <p:grpSpPr>
          <a:xfrm>
            <a:off x="914400" y="3978656"/>
            <a:ext cx="9542779" cy="2506133"/>
            <a:chOff x="685800" y="2983992"/>
            <a:chExt cx="7157084" cy="1879600"/>
          </a:xfrm>
        </p:grpSpPr>
        <p:pic>
          <p:nvPicPr>
            <p:cNvPr id="12" name="object 12"/>
            <p:cNvPicPr/>
            <p:nvPr/>
          </p:nvPicPr>
          <p:blipFill>
            <a:blip r:embed="rId4" cstate="print"/>
            <a:stretch>
              <a:fillRect/>
            </a:stretch>
          </p:blipFill>
          <p:spPr>
            <a:xfrm>
              <a:off x="4724400" y="2983992"/>
              <a:ext cx="3118104" cy="1879092"/>
            </a:xfrm>
            <a:prstGeom prst="rect">
              <a:avLst/>
            </a:prstGeom>
          </p:spPr>
        </p:pic>
        <p:pic>
          <p:nvPicPr>
            <p:cNvPr id="13" name="object 13"/>
            <p:cNvPicPr/>
            <p:nvPr/>
          </p:nvPicPr>
          <p:blipFill>
            <a:blip r:embed="rId5" cstate="print"/>
            <a:stretch>
              <a:fillRect/>
            </a:stretch>
          </p:blipFill>
          <p:spPr>
            <a:xfrm>
              <a:off x="685800" y="2983992"/>
              <a:ext cx="3118104" cy="1874520"/>
            </a:xfrm>
            <a:prstGeom prst="rect">
              <a:avLst/>
            </a:prstGeom>
          </p:spPr>
        </p:pic>
        <p:pic>
          <p:nvPicPr>
            <p:cNvPr id="14" name="object 14"/>
            <p:cNvPicPr/>
            <p:nvPr/>
          </p:nvPicPr>
          <p:blipFill>
            <a:blip r:embed="rId6" cstate="print"/>
            <a:stretch>
              <a:fillRect/>
            </a:stretch>
          </p:blipFill>
          <p:spPr>
            <a:xfrm>
              <a:off x="3203448" y="3258312"/>
              <a:ext cx="2534412" cy="1123188"/>
            </a:xfrm>
            <a:prstGeom prst="rect">
              <a:avLst/>
            </a:prstGeom>
          </p:spPr>
        </p:pic>
      </p:gr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04788" y="110560"/>
            <a:ext cx="7193617" cy="695062"/>
          </a:xfrm>
          <a:prstGeom prst="rect">
            <a:avLst/>
          </a:prstGeom>
        </p:spPr>
        <p:txBody>
          <a:bodyPr vert="horz" wrap="square" lIns="0" tIns="17780" rIns="0" bIns="0" rtlCol="0" anchor="ctr">
            <a:spAutoFit/>
          </a:bodyPr>
          <a:lstStyle/>
          <a:p>
            <a:pPr marL="1568834">
              <a:lnSpc>
                <a:spcPct val="100000"/>
              </a:lnSpc>
              <a:spcBef>
                <a:spcPts val="140"/>
              </a:spcBef>
            </a:pPr>
            <a:r>
              <a:rPr dirty="0">
                <a:solidFill>
                  <a:schemeClr val="bg1"/>
                </a:solidFill>
                <a:latin typeface="+mn-lt"/>
              </a:rPr>
              <a:t>Nulls</a:t>
            </a:r>
            <a:r>
              <a:rPr spc="-27" dirty="0">
                <a:solidFill>
                  <a:schemeClr val="bg1"/>
                </a:solidFill>
                <a:latin typeface="+mn-lt"/>
              </a:rPr>
              <a:t> </a:t>
            </a:r>
            <a:r>
              <a:rPr dirty="0">
                <a:solidFill>
                  <a:schemeClr val="bg1"/>
                </a:solidFill>
                <a:latin typeface="+mn-lt"/>
              </a:rPr>
              <a:t>in</a:t>
            </a:r>
            <a:r>
              <a:rPr spc="-40" dirty="0">
                <a:solidFill>
                  <a:schemeClr val="bg1"/>
                </a:solidFill>
                <a:latin typeface="+mn-lt"/>
              </a:rPr>
              <a:t> </a:t>
            </a:r>
            <a:r>
              <a:rPr spc="-13" dirty="0">
                <a:solidFill>
                  <a:schemeClr val="bg1"/>
                </a:solidFill>
                <a:latin typeface="+mn-lt"/>
              </a:rPr>
              <a:t>dimensions</a:t>
            </a:r>
          </a:p>
        </p:txBody>
      </p:sp>
      <p:sp>
        <p:nvSpPr>
          <p:cNvPr id="3" name="object 3"/>
          <p:cNvSpPr txBox="1"/>
          <p:nvPr/>
        </p:nvSpPr>
        <p:spPr>
          <a:xfrm>
            <a:off x="3803564" y="1478619"/>
            <a:ext cx="4030133"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Nulls</a:t>
            </a:r>
            <a:r>
              <a:rPr sz="2400" b="1" spc="-27" dirty="0">
                <a:solidFill>
                  <a:srgbClr val="D9D9D9"/>
                </a:solidFill>
                <a:latin typeface="Calibri"/>
                <a:cs typeface="Calibri"/>
              </a:rPr>
              <a:t> </a:t>
            </a:r>
            <a:r>
              <a:rPr sz="2400" b="1" dirty="0">
                <a:solidFill>
                  <a:srgbClr val="D9D9D9"/>
                </a:solidFill>
                <a:latin typeface="Calibri"/>
                <a:cs typeface="Calibri"/>
              </a:rPr>
              <a:t>must</a:t>
            </a:r>
            <a:r>
              <a:rPr sz="2400" b="1" spc="-13" dirty="0">
                <a:solidFill>
                  <a:srgbClr val="D9D9D9"/>
                </a:solidFill>
                <a:latin typeface="Calibri"/>
                <a:cs typeface="Calibri"/>
              </a:rPr>
              <a:t> </a:t>
            </a:r>
            <a:r>
              <a:rPr sz="2400" b="1" dirty="0">
                <a:solidFill>
                  <a:srgbClr val="D9D9D9"/>
                </a:solidFill>
                <a:latin typeface="Calibri"/>
                <a:cs typeface="Calibri"/>
              </a:rPr>
              <a:t>be</a:t>
            </a:r>
            <a:r>
              <a:rPr sz="2400" b="1" spc="-20" dirty="0">
                <a:solidFill>
                  <a:srgbClr val="D9D9D9"/>
                </a:solidFill>
                <a:latin typeface="Calibri"/>
                <a:cs typeface="Calibri"/>
              </a:rPr>
              <a:t> </a:t>
            </a:r>
            <a:r>
              <a:rPr sz="2400" b="1" dirty="0">
                <a:solidFill>
                  <a:srgbClr val="D9D9D9"/>
                </a:solidFill>
                <a:latin typeface="Calibri"/>
                <a:cs typeface="Calibri"/>
              </a:rPr>
              <a:t>avoided</a:t>
            </a:r>
            <a:r>
              <a:rPr sz="2400" b="1" spc="-13" dirty="0">
                <a:solidFill>
                  <a:srgbClr val="D9D9D9"/>
                </a:solidFill>
                <a:latin typeface="Calibri"/>
                <a:cs typeface="Calibri"/>
              </a:rPr>
              <a:t> </a:t>
            </a:r>
            <a:r>
              <a:rPr sz="2400" b="1" dirty="0">
                <a:solidFill>
                  <a:srgbClr val="D9D9D9"/>
                </a:solidFill>
                <a:latin typeface="Calibri"/>
                <a:cs typeface="Calibri"/>
              </a:rPr>
              <a:t>in</a:t>
            </a:r>
            <a:r>
              <a:rPr sz="2400" b="1" spc="7" dirty="0">
                <a:solidFill>
                  <a:srgbClr val="D9D9D9"/>
                </a:solidFill>
                <a:latin typeface="Calibri"/>
                <a:cs typeface="Calibri"/>
              </a:rPr>
              <a:t> </a:t>
            </a:r>
            <a:r>
              <a:rPr sz="2400" b="1" spc="-33" dirty="0">
                <a:solidFill>
                  <a:srgbClr val="D9D9D9"/>
                </a:solidFill>
                <a:latin typeface="Calibri"/>
                <a:cs typeface="Calibri"/>
              </a:rPr>
              <a:t>FKs</a:t>
            </a:r>
            <a:endParaRPr sz="2400">
              <a:latin typeface="Calibri"/>
              <a:cs typeface="Calibri"/>
            </a:endParaRPr>
          </a:p>
        </p:txBody>
      </p:sp>
      <p:sp>
        <p:nvSpPr>
          <p:cNvPr id="4" name="object 4"/>
          <p:cNvSpPr txBox="1"/>
          <p:nvPr/>
        </p:nvSpPr>
        <p:spPr>
          <a:xfrm>
            <a:off x="3661834" y="2823836"/>
            <a:ext cx="4679527" cy="1004420"/>
          </a:xfrm>
          <a:prstGeom prst="rect">
            <a:avLst/>
          </a:prstGeom>
        </p:spPr>
        <p:txBody>
          <a:bodyPr vert="horz" wrap="square" lIns="0" tIns="179493" rIns="0" bIns="0" rtlCol="0">
            <a:spAutoFit/>
          </a:bodyPr>
          <a:lstStyle/>
          <a:p>
            <a:pPr marL="397923" indent="-380990">
              <a:spcBef>
                <a:spcPts val="1413"/>
              </a:spcBef>
              <a:buClr>
                <a:srgbClr val="99D3FF"/>
              </a:buClr>
              <a:buFont typeface="Wingdings"/>
              <a:buChar char=""/>
              <a:tabLst>
                <a:tab pos="397923" algn="l"/>
              </a:tabLst>
            </a:pPr>
            <a:r>
              <a:rPr sz="2133" dirty="0">
                <a:solidFill>
                  <a:srgbClr val="66DBFF"/>
                </a:solidFill>
                <a:latin typeface="Segoe UI Light"/>
                <a:cs typeface="Segoe UI Light"/>
              </a:rPr>
              <a:t>Nulls</a:t>
            </a:r>
            <a:r>
              <a:rPr sz="2133" spc="-53" dirty="0">
                <a:solidFill>
                  <a:srgbClr val="66DBFF"/>
                </a:solidFill>
                <a:latin typeface="Segoe UI Light"/>
                <a:cs typeface="Segoe UI Light"/>
              </a:rPr>
              <a:t> </a:t>
            </a:r>
            <a:r>
              <a:rPr sz="2133" dirty="0">
                <a:solidFill>
                  <a:srgbClr val="66DBFF"/>
                </a:solidFill>
                <a:latin typeface="Segoe UI Light"/>
                <a:cs typeface="Segoe UI Light"/>
              </a:rPr>
              <a:t>in</a:t>
            </a:r>
            <a:r>
              <a:rPr sz="2133" spc="-13" dirty="0">
                <a:solidFill>
                  <a:srgbClr val="66DBFF"/>
                </a:solidFill>
                <a:latin typeface="Segoe UI Light"/>
                <a:cs typeface="Segoe UI Light"/>
              </a:rPr>
              <a:t> </a:t>
            </a:r>
            <a:r>
              <a:rPr sz="2133" dirty="0">
                <a:solidFill>
                  <a:srgbClr val="66DBFF"/>
                </a:solidFill>
                <a:latin typeface="Segoe UI Light"/>
                <a:cs typeface="Segoe UI Light"/>
              </a:rPr>
              <a:t>FKs</a:t>
            </a:r>
            <a:r>
              <a:rPr sz="2133" spc="-20" dirty="0">
                <a:solidFill>
                  <a:srgbClr val="66DBFF"/>
                </a:solidFill>
                <a:latin typeface="Segoe UI Light"/>
                <a:cs typeface="Segoe UI Light"/>
              </a:rPr>
              <a:t> </a:t>
            </a:r>
            <a:r>
              <a:rPr sz="2133" dirty="0">
                <a:solidFill>
                  <a:srgbClr val="66DBFF"/>
                </a:solidFill>
                <a:latin typeface="Segoe UI Light"/>
                <a:cs typeface="Segoe UI Light"/>
              </a:rPr>
              <a:t>break</a:t>
            </a:r>
            <a:r>
              <a:rPr sz="2133" spc="-60" dirty="0">
                <a:solidFill>
                  <a:srgbClr val="66DBFF"/>
                </a:solidFill>
                <a:latin typeface="Segoe UI Light"/>
                <a:cs typeface="Segoe UI Light"/>
              </a:rPr>
              <a:t> </a:t>
            </a:r>
            <a:r>
              <a:rPr sz="2133" dirty="0">
                <a:solidFill>
                  <a:srgbClr val="66DBFF"/>
                </a:solidFill>
                <a:latin typeface="Segoe UI Light"/>
                <a:cs typeface="Segoe UI Light"/>
              </a:rPr>
              <a:t>referential</a:t>
            </a:r>
            <a:r>
              <a:rPr sz="2133" spc="-73" dirty="0">
                <a:solidFill>
                  <a:srgbClr val="66DBFF"/>
                </a:solidFill>
                <a:latin typeface="Segoe UI Light"/>
                <a:cs typeface="Segoe UI Light"/>
              </a:rPr>
              <a:t> </a:t>
            </a:r>
            <a:r>
              <a:rPr sz="2133" spc="-13" dirty="0">
                <a:solidFill>
                  <a:srgbClr val="66DBFF"/>
                </a:solidFill>
                <a:latin typeface="Segoe UI Light"/>
                <a:cs typeface="Segoe UI Light"/>
              </a:rPr>
              <a:t>integrity!</a:t>
            </a:r>
            <a:endParaRPr sz="2133">
              <a:latin typeface="Segoe UI Light"/>
              <a:cs typeface="Segoe UI Light"/>
            </a:endParaRPr>
          </a:p>
          <a:p>
            <a:pPr marL="397923" indent="-380990">
              <a:spcBef>
                <a:spcPts val="1280"/>
              </a:spcBef>
              <a:buClr>
                <a:srgbClr val="99D3FF"/>
              </a:buClr>
              <a:buFont typeface="Wingdings"/>
              <a:buChar char=""/>
              <a:tabLst>
                <a:tab pos="397923" algn="l"/>
              </a:tabLst>
            </a:pPr>
            <a:r>
              <a:rPr sz="2133" dirty="0">
                <a:solidFill>
                  <a:srgbClr val="66DBFF"/>
                </a:solidFill>
                <a:latin typeface="Segoe UI Light"/>
                <a:cs typeface="Segoe UI Light"/>
              </a:rPr>
              <a:t>They</a:t>
            </a:r>
            <a:r>
              <a:rPr sz="2133" spc="-27" dirty="0">
                <a:solidFill>
                  <a:srgbClr val="66DBFF"/>
                </a:solidFill>
                <a:latin typeface="Segoe UI Light"/>
                <a:cs typeface="Segoe UI Light"/>
              </a:rPr>
              <a:t> </a:t>
            </a:r>
            <a:r>
              <a:rPr sz="2133" dirty="0">
                <a:solidFill>
                  <a:srgbClr val="66DBFF"/>
                </a:solidFill>
                <a:latin typeface="Segoe UI Light"/>
                <a:cs typeface="Segoe UI Light"/>
              </a:rPr>
              <a:t>don't</a:t>
            </a:r>
            <a:r>
              <a:rPr sz="2133" spc="-40" dirty="0">
                <a:solidFill>
                  <a:srgbClr val="66DBFF"/>
                </a:solidFill>
                <a:latin typeface="Segoe UI Light"/>
                <a:cs typeface="Segoe UI Light"/>
              </a:rPr>
              <a:t> </a:t>
            </a:r>
            <a:r>
              <a:rPr sz="2133" dirty="0">
                <a:solidFill>
                  <a:srgbClr val="66DBFF"/>
                </a:solidFill>
                <a:latin typeface="Segoe UI Light"/>
                <a:cs typeface="Segoe UI Light"/>
              </a:rPr>
              <a:t>appear</a:t>
            </a:r>
            <a:r>
              <a:rPr sz="2133" spc="-67" dirty="0">
                <a:solidFill>
                  <a:srgbClr val="66DBFF"/>
                </a:solidFill>
                <a:latin typeface="Segoe UI Light"/>
                <a:cs typeface="Segoe UI Light"/>
              </a:rPr>
              <a:t> </a:t>
            </a:r>
            <a:r>
              <a:rPr sz="2133" dirty="0">
                <a:solidFill>
                  <a:srgbClr val="66DBFF"/>
                </a:solidFill>
                <a:latin typeface="Segoe UI Light"/>
                <a:cs typeface="Segoe UI Light"/>
              </a:rPr>
              <a:t>in</a:t>
            </a:r>
            <a:r>
              <a:rPr sz="2133" spc="-7" dirty="0">
                <a:solidFill>
                  <a:srgbClr val="66DBFF"/>
                </a:solidFill>
                <a:latin typeface="Segoe UI Light"/>
                <a:cs typeface="Segoe UI Light"/>
              </a:rPr>
              <a:t> </a:t>
            </a:r>
            <a:r>
              <a:rPr sz="2133" spc="-27" dirty="0">
                <a:solidFill>
                  <a:srgbClr val="66DBFF"/>
                </a:solidFill>
                <a:latin typeface="Segoe UI Light"/>
                <a:cs typeface="Segoe UI Light"/>
              </a:rPr>
              <a:t>Joins</a:t>
            </a:r>
            <a:endParaRPr sz="2133">
              <a:latin typeface="Segoe UI Light"/>
              <a:cs typeface="Segoe UI Light"/>
            </a:endParaRPr>
          </a:p>
        </p:txBody>
      </p:sp>
      <p:grpSp>
        <p:nvGrpSpPr>
          <p:cNvPr id="5" name="object 5"/>
          <p:cNvGrpSpPr/>
          <p:nvPr/>
        </p:nvGrpSpPr>
        <p:grpSpPr>
          <a:xfrm>
            <a:off x="0" y="930589"/>
            <a:ext cx="3863847" cy="1614490"/>
            <a:chOff x="0" y="697941"/>
            <a:chExt cx="2897885" cy="1210868"/>
          </a:xfrm>
        </p:grpSpPr>
        <p:pic>
          <p:nvPicPr>
            <p:cNvPr id="6" name="object 6"/>
            <p:cNvPicPr/>
            <p:nvPr/>
          </p:nvPicPr>
          <p:blipFill>
            <a:blip r:embed="rId2" cstate="print"/>
            <a:stretch>
              <a:fillRect/>
            </a:stretch>
          </p:blipFill>
          <p:spPr>
            <a:xfrm>
              <a:off x="0" y="697941"/>
              <a:ext cx="2897885" cy="1210868"/>
            </a:xfrm>
            <a:prstGeom prst="rect">
              <a:avLst/>
            </a:prstGeom>
          </p:spPr>
        </p:pic>
        <p:sp>
          <p:nvSpPr>
            <p:cNvPr id="8" name="object 8"/>
            <p:cNvSpPr/>
            <p:nvPr/>
          </p:nvSpPr>
          <p:spPr>
            <a:xfrm>
              <a:off x="76961" y="852678"/>
              <a:ext cx="2514600" cy="579120"/>
            </a:xfrm>
            <a:custGeom>
              <a:avLst/>
              <a:gdLst/>
              <a:ahLst/>
              <a:cxnLst/>
              <a:rect l="l" t="t" r="r" b="b"/>
              <a:pathLst>
                <a:path w="2514600" h="579119">
                  <a:moveTo>
                    <a:pt x="0" y="289560"/>
                  </a:moveTo>
                  <a:lnTo>
                    <a:pt x="144780" y="0"/>
                  </a:lnTo>
                  <a:lnTo>
                    <a:pt x="2369820" y="0"/>
                  </a:lnTo>
                  <a:lnTo>
                    <a:pt x="2514600" y="289560"/>
                  </a:lnTo>
                  <a:lnTo>
                    <a:pt x="2369820" y="579120"/>
                  </a:lnTo>
                  <a:lnTo>
                    <a:pt x="144780" y="579120"/>
                  </a:lnTo>
                  <a:lnTo>
                    <a:pt x="0" y="289560"/>
                  </a:lnTo>
                  <a:close/>
                </a:path>
              </a:pathLst>
            </a:custGeom>
            <a:ln w="19812">
              <a:solidFill>
                <a:srgbClr val="00C3FF"/>
              </a:solidFill>
            </a:ln>
          </p:spPr>
          <p:txBody>
            <a:bodyPr wrap="square" lIns="0" tIns="0" rIns="0" bIns="0" rtlCol="0"/>
            <a:lstStyle/>
            <a:p>
              <a:endParaRPr sz="2400"/>
            </a:p>
          </p:txBody>
        </p:sp>
      </p:grpSp>
      <p:sp>
        <p:nvSpPr>
          <p:cNvPr id="9" name="object 9"/>
          <p:cNvSpPr txBox="1"/>
          <p:nvPr/>
        </p:nvSpPr>
        <p:spPr>
          <a:xfrm>
            <a:off x="462618" y="1281177"/>
            <a:ext cx="2635673" cy="428387"/>
          </a:xfrm>
          <a:prstGeom prst="rect">
            <a:avLst/>
          </a:prstGeom>
        </p:spPr>
        <p:txBody>
          <a:bodyPr vert="horz" wrap="square" lIns="0" tIns="17780" rIns="0" bIns="0" rtlCol="0">
            <a:spAutoFit/>
          </a:bodyPr>
          <a:lstStyle/>
          <a:p>
            <a:pPr marL="16933">
              <a:spcBef>
                <a:spcPts val="140"/>
              </a:spcBef>
            </a:pPr>
            <a:r>
              <a:rPr sz="2667" b="1" dirty="0">
                <a:solidFill>
                  <a:srgbClr val="CCEAFF"/>
                </a:solidFill>
                <a:latin typeface="Calibri"/>
                <a:cs typeface="Calibri"/>
              </a:rPr>
              <a:t>What</a:t>
            </a:r>
            <a:r>
              <a:rPr sz="2667" b="1" spc="-33" dirty="0">
                <a:solidFill>
                  <a:srgbClr val="CCEAFF"/>
                </a:solidFill>
                <a:latin typeface="Calibri"/>
                <a:cs typeface="Calibri"/>
              </a:rPr>
              <a:t> </a:t>
            </a:r>
            <a:r>
              <a:rPr sz="2667" b="1" dirty="0">
                <a:solidFill>
                  <a:srgbClr val="CCEAFF"/>
                </a:solidFill>
                <a:latin typeface="Calibri"/>
                <a:cs typeface="Calibri"/>
              </a:rPr>
              <a:t>we've</a:t>
            </a:r>
            <a:r>
              <a:rPr sz="2667" b="1" spc="-20" dirty="0">
                <a:solidFill>
                  <a:srgbClr val="CCEAFF"/>
                </a:solidFill>
                <a:latin typeface="Calibri"/>
                <a:cs typeface="Calibri"/>
              </a:rPr>
              <a:t> </a:t>
            </a:r>
            <a:r>
              <a:rPr sz="2667" b="1" spc="-13" dirty="0">
                <a:solidFill>
                  <a:srgbClr val="CCEAFF"/>
                </a:solidFill>
                <a:latin typeface="Calibri"/>
                <a:cs typeface="Calibri"/>
              </a:rPr>
              <a:t>learnt</a:t>
            </a:r>
            <a:endParaRPr sz="2667">
              <a:latin typeface="Calibri"/>
              <a:cs typeface="Calibri"/>
            </a:endParaRPr>
          </a:p>
        </p:txBody>
      </p:sp>
      <p:pic>
        <p:nvPicPr>
          <p:cNvPr id="10" name="object 10"/>
          <p:cNvPicPr/>
          <p:nvPr/>
        </p:nvPicPr>
        <p:blipFill>
          <a:blip r:embed="rId3" cstate="print"/>
          <a:stretch>
            <a:fillRect/>
          </a:stretch>
        </p:blipFill>
        <p:spPr>
          <a:xfrm>
            <a:off x="1342488" y="1981791"/>
            <a:ext cx="9928486" cy="1004420"/>
          </a:xfrm>
          <a:prstGeom prst="rect">
            <a:avLst/>
          </a:prstGeom>
        </p:spPr>
      </p:pic>
      <p:pic>
        <p:nvPicPr>
          <p:cNvPr id="11" name="object 11"/>
          <p:cNvPicPr/>
          <p:nvPr/>
        </p:nvPicPr>
        <p:blipFill>
          <a:blip r:embed="rId4" cstate="print"/>
          <a:stretch>
            <a:fillRect/>
          </a:stretch>
        </p:blipFill>
        <p:spPr>
          <a:xfrm>
            <a:off x="1422400" y="4261103"/>
            <a:ext cx="3379216" cy="1497584"/>
          </a:xfrm>
          <a:prstGeom prst="rect">
            <a:avLst/>
          </a:prstGeom>
        </p:spPr>
      </p:pic>
      <p:pic>
        <p:nvPicPr>
          <p:cNvPr id="12" name="object 12"/>
          <p:cNvPicPr/>
          <p:nvPr/>
        </p:nvPicPr>
        <p:blipFill>
          <a:blip r:embed="rId5" cstate="print"/>
          <a:stretch>
            <a:fillRect/>
          </a:stretch>
        </p:blipFill>
        <p:spPr>
          <a:xfrm>
            <a:off x="6677153" y="4261103"/>
            <a:ext cx="3403599" cy="1497584"/>
          </a:xfrm>
          <a:prstGeom prst="rect">
            <a:avLst/>
          </a:prstGeom>
        </p:spPr>
      </p:pic>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66719" y="132369"/>
            <a:ext cx="6258560" cy="695062"/>
          </a:xfrm>
          <a:prstGeom prst="rect">
            <a:avLst/>
          </a:prstGeom>
        </p:spPr>
        <p:txBody>
          <a:bodyPr vert="horz" wrap="square" lIns="0" tIns="17780" rIns="0" bIns="0" rtlCol="0" anchor="ctr">
            <a:spAutoFit/>
          </a:bodyPr>
          <a:lstStyle/>
          <a:p>
            <a:pPr marL="1568834">
              <a:lnSpc>
                <a:spcPct val="100000"/>
              </a:lnSpc>
              <a:spcBef>
                <a:spcPts val="140"/>
              </a:spcBef>
            </a:pPr>
            <a:r>
              <a:rPr dirty="0">
                <a:solidFill>
                  <a:schemeClr val="bg1"/>
                </a:solidFill>
                <a:latin typeface="+mn-lt"/>
              </a:rPr>
              <a:t>Nulls</a:t>
            </a:r>
            <a:r>
              <a:rPr spc="-27" dirty="0">
                <a:solidFill>
                  <a:schemeClr val="bg1"/>
                </a:solidFill>
                <a:latin typeface="+mn-lt"/>
              </a:rPr>
              <a:t> </a:t>
            </a:r>
            <a:r>
              <a:rPr dirty="0">
                <a:solidFill>
                  <a:schemeClr val="bg1"/>
                </a:solidFill>
                <a:latin typeface="+mn-lt"/>
              </a:rPr>
              <a:t>in</a:t>
            </a:r>
            <a:r>
              <a:rPr spc="-40" dirty="0">
                <a:solidFill>
                  <a:schemeClr val="bg1"/>
                </a:solidFill>
                <a:latin typeface="+mn-lt"/>
              </a:rPr>
              <a:t> </a:t>
            </a:r>
            <a:r>
              <a:rPr spc="-13" dirty="0">
                <a:solidFill>
                  <a:schemeClr val="bg1"/>
                </a:solidFill>
                <a:latin typeface="+mn-lt"/>
              </a:rPr>
              <a:t>dimensions</a:t>
            </a:r>
          </a:p>
        </p:txBody>
      </p:sp>
      <p:sp>
        <p:nvSpPr>
          <p:cNvPr id="3" name="object 3"/>
          <p:cNvSpPr txBox="1"/>
          <p:nvPr/>
        </p:nvSpPr>
        <p:spPr>
          <a:xfrm>
            <a:off x="3803564" y="1478619"/>
            <a:ext cx="4030133"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Nulls</a:t>
            </a:r>
            <a:r>
              <a:rPr sz="2400" b="1" spc="-27" dirty="0">
                <a:solidFill>
                  <a:srgbClr val="D9D9D9"/>
                </a:solidFill>
                <a:latin typeface="Calibri"/>
                <a:cs typeface="Calibri"/>
              </a:rPr>
              <a:t> </a:t>
            </a:r>
            <a:r>
              <a:rPr sz="2400" b="1" dirty="0">
                <a:solidFill>
                  <a:srgbClr val="D9D9D9"/>
                </a:solidFill>
                <a:latin typeface="Calibri"/>
                <a:cs typeface="Calibri"/>
              </a:rPr>
              <a:t>must</a:t>
            </a:r>
            <a:r>
              <a:rPr sz="2400" b="1" spc="-13" dirty="0">
                <a:solidFill>
                  <a:srgbClr val="D9D9D9"/>
                </a:solidFill>
                <a:latin typeface="Calibri"/>
                <a:cs typeface="Calibri"/>
              </a:rPr>
              <a:t> </a:t>
            </a:r>
            <a:r>
              <a:rPr sz="2400" b="1" dirty="0">
                <a:solidFill>
                  <a:srgbClr val="D9D9D9"/>
                </a:solidFill>
                <a:latin typeface="Calibri"/>
                <a:cs typeface="Calibri"/>
              </a:rPr>
              <a:t>be</a:t>
            </a:r>
            <a:r>
              <a:rPr sz="2400" b="1" spc="-20" dirty="0">
                <a:solidFill>
                  <a:srgbClr val="D9D9D9"/>
                </a:solidFill>
                <a:latin typeface="Calibri"/>
                <a:cs typeface="Calibri"/>
              </a:rPr>
              <a:t> </a:t>
            </a:r>
            <a:r>
              <a:rPr sz="2400" b="1" dirty="0">
                <a:solidFill>
                  <a:srgbClr val="D9D9D9"/>
                </a:solidFill>
                <a:latin typeface="Calibri"/>
                <a:cs typeface="Calibri"/>
              </a:rPr>
              <a:t>avoided</a:t>
            </a:r>
            <a:r>
              <a:rPr sz="2400" b="1" spc="-13" dirty="0">
                <a:solidFill>
                  <a:srgbClr val="D9D9D9"/>
                </a:solidFill>
                <a:latin typeface="Calibri"/>
                <a:cs typeface="Calibri"/>
              </a:rPr>
              <a:t> </a:t>
            </a:r>
            <a:r>
              <a:rPr sz="2400" b="1" dirty="0">
                <a:solidFill>
                  <a:srgbClr val="D9D9D9"/>
                </a:solidFill>
                <a:latin typeface="Calibri"/>
                <a:cs typeface="Calibri"/>
              </a:rPr>
              <a:t>in</a:t>
            </a:r>
            <a:r>
              <a:rPr sz="2400" b="1" spc="7" dirty="0">
                <a:solidFill>
                  <a:srgbClr val="D9D9D9"/>
                </a:solidFill>
                <a:latin typeface="Calibri"/>
                <a:cs typeface="Calibri"/>
              </a:rPr>
              <a:t> </a:t>
            </a:r>
            <a:r>
              <a:rPr sz="2400" b="1" spc="-33" dirty="0">
                <a:solidFill>
                  <a:srgbClr val="D9D9D9"/>
                </a:solidFill>
                <a:latin typeface="Calibri"/>
                <a:cs typeface="Calibri"/>
              </a:rPr>
              <a:t>FKs</a:t>
            </a:r>
            <a:endParaRPr sz="2400">
              <a:latin typeface="Calibri"/>
              <a:cs typeface="Calibri"/>
            </a:endParaRPr>
          </a:p>
        </p:txBody>
      </p:sp>
      <p:grpSp>
        <p:nvGrpSpPr>
          <p:cNvPr id="4" name="object 4"/>
          <p:cNvGrpSpPr/>
          <p:nvPr/>
        </p:nvGrpSpPr>
        <p:grpSpPr>
          <a:xfrm>
            <a:off x="0" y="930589"/>
            <a:ext cx="3863847" cy="1614490"/>
            <a:chOff x="0" y="697941"/>
            <a:chExt cx="2897885" cy="1210868"/>
          </a:xfrm>
        </p:grpSpPr>
        <p:pic>
          <p:nvPicPr>
            <p:cNvPr id="5" name="object 5"/>
            <p:cNvPicPr/>
            <p:nvPr/>
          </p:nvPicPr>
          <p:blipFill>
            <a:blip r:embed="rId2" cstate="print"/>
            <a:stretch>
              <a:fillRect/>
            </a:stretch>
          </p:blipFill>
          <p:spPr>
            <a:xfrm>
              <a:off x="0" y="697941"/>
              <a:ext cx="2897885" cy="1210868"/>
            </a:xfrm>
            <a:prstGeom prst="rect">
              <a:avLst/>
            </a:prstGeom>
          </p:spPr>
        </p:pic>
        <p:sp>
          <p:nvSpPr>
            <p:cNvPr id="7" name="object 7"/>
            <p:cNvSpPr/>
            <p:nvPr/>
          </p:nvSpPr>
          <p:spPr>
            <a:xfrm>
              <a:off x="76961" y="852678"/>
              <a:ext cx="2514600" cy="579120"/>
            </a:xfrm>
            <a:custGeom>
              <a:avLst/>
              <a:gdLst/>
              <a:ahLst/>
              <a:cxnLst/>
              <a:rect l="l" t="t" r="r" b="b"/>
              <a:pathLst>
                <a:path w="2514600" h="579119">
                  <a:moveTo>
                    <a:pt x="0" y="289560"/>
                  </a:moveTo>
                  <a:lnTo>
                    <a:pt x="144780" y="0"/>
                  </a:lnTo>
                  <a:lnTo>
                    <a:pt x="2369820" y="0"/>
                  </a:lnTo>
                  <a:lnTo>
                    <a:pt x="2514600" y="289560"/>
                  </a:lnTo>
                  <a:lnTo>
                    <a:pt x="2369820" y="579120"/>
                  </a:lnTo>
                  <a:lnTo>
                    <a:pt x="144780" y="579120"/>
                  </a:lnTo>
                  <a:lnTo>
                    <a:pt x="0" y="289560"/>
                  </a:lnTo>
                  <a:close/>
                </a:path>
              </a:pathLst>
            </a:custGeom>
            <a:ln w="19812">
              <a:solidFill>
                <a:srgbClr val="00C3FF"/>
              </a:solidFill>
            </a:ln>
          </p:spPr>
          <p:txBody>
            <a:bodyPr wrap="square" lIns="0" tIns="0" rIns="0" bIns="0" rtlCol="0"/>
            <a:lstStyle/>
            <a:p>
              <a:endParaRPr sz="2400"/>
            </a:p>
          </p:txBody>
        </p:sp>
      </p:grpSp>
      <p:sp>
        <p:nvSpPr>
          <p:cNvPr id="8" name="object 8"/>
          <p:cNvSpPr txBox="1"/>
          <p:nvPr/>
        </p:nvSpPr>
        <p:spPr>
          <a:xfrm>
            <a:off x="462618" y="1281177"/>
            <a:ext cx="2635673" cy="428387"/>
          </a:xfrm>
          <a:prstGeom prst="rect">
            <a:avLst/>
          </a:prstGeom>
        </p:spPr>
        <p:txBody>
          <a:bodyPr vert="horz" wrap="square" lIns="0" tIns="17780" rIns="0" bIns="0" rtlCol="0">
            <a:spAutoFit/>
          </a:bodyPr>
          <a:lstStyle/>
          <a:p>
            <a:pPr marL="16933">
              <a:spcBef>
                <a:spcPts val="140"/>
              </a:spcBef>
            </a:pPr>
            <a:r>
              <a:rPr sz="2667" b="1" dirty="0">
                <a:solidFill>
                  <a:srgbClr val="CCEAFF"/>
                </a:solidFill>
                <a:latin typeface="Calibri"/>
                <a:cs typeface="Calibri"/>
              </a:rPr>
              <a:t>What</a:t>
            </a:r>
            <a:r>
              <a:rPr sz="2667" b="1" spc="-33" dirty="0">
                <a:solidFill>
                  <a:srgbClr val="CCEAFF"/>
                </a:solidFill>
                <a:latin typeface="Calibri"/>
                <a:cs typeface="Calibri"/>
              </a:rPr>
              <a:t> </a:t>
            </a:r>
            <a:r>
              <a:rPr sz="2667" b="1" dirty="0">
                <a:solidFill>
                  <a:srgbClr val="CCEAFF"/>
                </a:solidFill>
                <a:latin typeface="Calibri"/>
                <a:cs typeface="Calibri"/>
              </a:rPr>
              <a:t>we've</a:t>
            </a:r>
            <a:r>
              <a:rPr sz="2667" b="1" spc="-20" dirty="0">
                <a:solidFill>
                  <a:srgbClr val="CCEAFF"/>
                </a:solidFill>
                <a:latin typeface="Calibri"/>
                <a:cs typeface="Calibri"/>
              </a:rPr>
              <a:t> </a:t>
            </a:r>
            <a:r>
              <a:rPr sz="2667" b="1" spc="-13" dirty="0">
                <a:solidFill>
                  <a:srgbClr val="CCEAFF"/>
                </a:solidFill>
                <a:latin typeface="Calibri"/>
                <a:cs typeface="Calibri"/>
              </a:rPr>
              <a:t>learnt</a:t>
            </a:r>
            <a:endParaRPr sz="2667" dirty="0">
              <a:latin typeface="Calibri"/>
              <a:cs typeface="Calibri"/>
            </a:endParaRPr>
          </a:p>
        </p:txBody>
      </p:sp>
      <p:pic>
        <p:nvPicPr>
          <p:cNvPr id="9" name="object 9"/>
          <p:cNvPicPr/>
          <p:nvPr/>
        </p:nvPicPr>
        <p:blipFill>
          <a:blip r:embed="rId3" cstate="print"/>
          <a:stretch>
            <a:fillRect/>
          </a:stretch>
        </p:blipFill>
        <p:spPr>
          <a:xfrm>
            <a:off x="1312671" y="2034031"/>
            <a:ext cx="10087512" cy="1059077"/>
          </a:xfrm>
          <a:prstGeom prst="rect">
            <a:avLst/>
          </a:prstGeom>
        </p:spPr>
      </p:pic>
      <p:pic>
        <p:nvPicPr>
          <p:cNvPr id="10" name="object 10"/>
          <p:cNvPicPr/>
          <p:nvPr/>
        </p:nvPicPr>
        <p:blipFill>
          <a:blip r:embed="rId4" cstate="print"/>
          <a:stretch>
            <a:fillRect/>
          </a:stretch>
        </p:blipFill>
        <p:spPr>
          <a:xfrm>
            <a:off x="1422400" y="4261103"/>
            <a:ext cx="3379216" cy="1497584"/>
          </a:xfrm>
          <a:prstGeom prst="rect">
            <a:avLst/>
          </a:prstGeom>
        </p:spPr>
      </p:pic>
      <p:pic>
        <p:nvPicPr>
          <p:cNvPr id="11" name="object 11"/>
          <p:cNvPicPr/>
          <p:nvPr/>
        </p:nvPicPr>
        <p:blipFill>
          <a:blip r:embed="rId5" cstate="print"/>
          <a:stretch>
            <a:fillRect/>
          </a:stretch>
        </p:blipFill>
        <p:spPr>
          <a:xfrm>
            <a:off x="6677153" y="4261103"/>
            <a:ext cx="3403599" cy="1497584"/>
          </a:xfrm>
          <a:prstGeom prst="rect">
            <a:avLst/>
          </a:prstGeom>
        </p:spPr>
      </p:pic>
      <p:sp>
        <p:nvSpPr>
          <p:cNvPr id="12" name="object 12"/>
          <p:cNvSpPr txBox="1"/>
          <p:nvPr/>
        </p:nvSpPr>
        <p:spPr>
          <a:xfrm>
            <a:off x="3803564" y="3093211"/>
            <a:ext cx="3999653"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Nulls</a:t>
            </a:r>
            <a:r>
              <a:rPr sz="2400" b="1" spc="-33" dirty="0">
                <a:solidFill>
                  <a:srgbClr val="D9D9D9"/>
                </a:solidFill>
                <a:latin typeface="Calibri"/>
                <a:cs typeface="Calibri"/>
              </a:rPr>
              <a:t> </a:t>
            </a:r>
            <a:r>
              <a:rPr sz="2400" b="1" dirty="0">
                <a:solidFill>
                  <a:srgbClr val="D9D9D9"/>
                </a:solidFill>
                <a:latin typeface="Calibri"/>
                <a:cs typeface="Calibri"/>
              </a:rPr>
              <a:t>can</a:t>
            </a:r>
            <a:r>
              <a:rPr sz="2400" b="1" spc="-7" dirty="0">
                <a:solidFill>
                  <a:srgbClr val="D9D9D9"/>
                </a:solidFill>
                <a:latin typeface="Calibri"/>
                <a:cs typeface="Calibri"/>
              </a:rPr>
              <a:t> </a:t>
            </a:r>
            <a:r>
              <a:rPr sz="2400" b="1" dirty="0">
                <a:solidFill>
                  <a:srgbClr val="D9D9D9"/>
                </a:solidFill>
                <a:latin typeface="Calibri"/>
                <a:cs typeface="Calibri"/>
              </a:rPr>
              <a:t>be</a:t>
            </a:r>
            <a:r>
              <a:rPr sz="2400" b="1" spc="-33" dirty="0">
                <a:solidFill>
                  <a:srgbClr val="D9D9D9"/>
                </a:solidFill>
                <a:latin typeface="Calibri"/>
                <a:cs typeface="Calibri"/>
              </a:rPr>
              <a:t> </a:t>
            </a:r>
            <a:r>
              <a:rPr sz="2400" b="1" dirty="0">
                <a:solidFill>
                  <a:srgbClr val="D9D9D9"/>
                </a:solidFill>
                <a:latin typeface="Calibri"/>
                <a:cs typeface="Calibri"/>
              </a:rPr>
              <a:t>present</a:t>
            </a:r>
            <a:r>
              <a:rPr sz="2400" b="1" spc="-33" dirty="0">
                <a:solidFill>
                  <a:srgbClr val="D9D9D9"/>
                </a:solidFill>
                <a:latin typeface="Calibri"/>
                <a:cs typeface="Calibri"/>
              </a:rPr>
              <a:t> </a:t>
            </a:r>
            <a:r>
              <a:rPr sz="2400" b="1" dirty="0">
                <a:solidFill>
                  <a:srgbClr val="D9D9D9"/>
                </a:solidFill>
                <a:latin typeface="Calibri"/>
                <a:cs typeface="Calibri"/>
              </a:rPr>
              <a:t>in</a:t>
            </a:r>
            <a:r>
              <a:rPr sz="2400" b="1" spc="-13" dirty="0">
                <a:solidFill>
                  <a:srgbClr val="D9D9D9"/>
                </a:solidFill>
                <a:latin typeface="Calibri"/>
                <a:cs typeface="Calibri"/>
              </a:rPr>
              <a:t> Facts</a:t>
            </a:r>
            <a:endParaRPr sz="2400">
              <a:latin typeface="Calibri"/>
              <a:cs typeface="Calibri"/>
            </a:endParaRP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26057" y="-52956"/>
            <a:ext cx="7113015" cy="695062"/>
          </a:xfrm>
          <a:prstGeom prst="rect">
            <a:avLst/>
          </a:prstGeom>
        </p:spPr>
        <p:txBody>
          <a:bodyPr vert="horz" wrap="square" lIns="0" tIns="17780" rIns="0" bIns="0" rtlCol="0" anchor="ctr">
            <a:spAutoFit/>
          </a:bodyPr>
          <a:lstStyle/>
          <a:p>
            <a:pPr marL="1568834">
              <a:lnSpc>
                <a:spcPct val="100000"/>
              </a:lnSpc>
              <a:spcBef>
                <a:spcPts val="140"/>
              </a:spcBef>
            </a:pPr>
            <a:r>
              <a:rPr dirty="0">
                <a:solidFill>
                  <a:schemeClr val="bg1"/>
                </a:solidFill>
                <a:latin typeface="+mn-lt"/>
              </a:rPr>
              <a:t>Nulls</a:t>
            </a:r>
            <a:r>
              <a:rPr spc="-27" dirty="0">
                <a:solidFill>
                  <a:schemeClr val="bg1"/>
                </a:solidFill>
                <a:latin typeface="+mn-lt"/>
              </a:rPr>
              <a:t> </a:t>
            </a:r>
            <a:r>
              <a:rPr dirty="0">
                <a:solidFill>
                  <a:schemeClr val="bg1"/>
                </a:solidFill>
                <a:latin typeface="+mn-lt"/>
              </a:rPr>
              <a:t>in</a:t>
            </a:r>
            <a:r>
              <a:rPr spc="-40" dirty="0">
                <a:solidFill>
                  <a:schemeClr val="bg1"/>
                </a:solidFill>
                <a:latin typeface="+mn-lt"/>
              </a:rPr>
              <a:t> </a:t>
            </a:r>
            <a:r>
              <a:rPr spc="-13" dirty="0">
                <a:solidFill>
                  <a:schemeClr val="bg1"/>
                </a:solidFill>
                <a:latin typeface="+mn-lt"/>
              </a:rPr>
              <a:t>dimensions</a:t>
            </a:r>
          </a:p>
        </p:txBody>
      </p:sp>
      <p:grpSp>
        <p:nvGrpSpPr>
          <p:cNvPr id="3" name="object 3"/>
          <p:cNvGrpSpPr/>
          <p:nvPr/>
        </p:nvGrpSpPr>
        <p:grpSpPr>
          <a:xfrm>
            <a:off x="0" y="930589"/>
            <a:ext cx="3863847" cy="1614490"/>
            <a:chOff x="0" y="697941"/>
            <a:chExt cx="2897885" cy="1210868"/>
          </a:xfrm>
        </p:grpSpPr>
        <p:pic>
          <p:nvPicPr>
            <p:cNvPr id="4" name="object 4"/>
            <p:cNvPicPr/>
            <p:nvPr/>
          </p:nvPicPr>
          <p:blipFill>
            <a:blip r:embed="rId2" cstate="print"/>
            <a:stretch>
              <a:fillRect/>
            </a:stretch>
          </p:blipFill>
          <p:spPr>
            <a:xfrm>
              <a:off x="0" y="697941"/>
              <a:ext cx="2897885" cy="1210868"/>
            </a:xfrm>
            <a:prstGeom prst="rect">
              <a:avLst/>
            </a:prstGeom>
          </p:spPr>
        </p:pic>
        <p:sp>
          <p:nvSpPr>
            <p:cNvPr id="6" name="object 6"/>
            <p:cNvSpPr/>
            <p:nvPr/>
          </p:nvSpPr>
          <p:spPr>
            <a:xfrm>
              <a:off x="76961" y="852678"/>
              <a:ext cx="2514600" cy="579120"/>
            </a:xfrm>
            <a:custGeom>
              <a:avLst/>
              <a:gdLst/>
              <a:ahLst/>
              <a:cxnLst/>
              <a:rect l="l" t="t" r="r" b="b"/>
              <a:pathLst>
                <a:path w="2514600" h="579119">
                  <a:moveTo>
                    <a:pt x="0" y="289560"/>
                  </a:moveTo>
                  <a:lnTo>
                    <a:pt x="144780" y="0"/>
                  </a:lnTo>
                  <a:lnTo>
                    <a:pt x="2369820" y="0"/>
                  </a:lnTo>
                  <a:lnTo>
                    <a:pt x="2514600" y="289560"/>
                  </a:lnTo>
                  <a:lnTo>
                    <a:pt x="2369820" y="579120"/>
                  </a:lnTo>
                  <a:lnTo>
                    <a:pt x="144780" y="579120"/>
                  </a:lnTo>
                  <a:lnTo>
                    <a:pt x="0" y="289560"/>
                  </a:lnTo>
                  <a:close/>
                </a:path>
              </a:pathLst>
            </a:custGeom>
            <a:ln w="19812">
              <a:solidFill>
                <a:srgbClr val="00C3FF"/>
              </a:solidFill>
            </a:ln>
          </p:spPr>
          <p:txBody>
            <a:bodyPr wrap="square" lIns="0" tIns="0" rIns="0" bIns="0" rtlCol="0"/>
            <a:lstStyle/>
            <a:p>
              <a:endParaRPr sz="2400"/>
            </a:p>
          </p:txBody>
        </p:sp>
      </p:grpSp>
      <p:sp>
        <p:nvSpPr>
          <p:cNvPr id="7" name="object 7"/>
          <p:cNvSpPr txBox="1"/>
          <p:nvPr/>
        </p:nvSpPr>
        <p:spPr>
          <a:xfrm>
            <a:off x="940140" y="1281177"/>
            <a:ext cx="1680633" cy="428387"/>
          </a:xfrm>
          <a:prstGeom prst="rect">
            <a:avLst/>
          </a:prstGeom>
        </p:spPr>
        <p:txBody>
          <a:bodyPr vert="horz" wrap="square" lIns="0" tIns="17780" rIns="0" bIns="0" rtlCol="0">
            <a:spAutoFit/>
          </a:bodyPr>
          <a:lstStyle/>
          <a:p>
            <a:pPr marL="16933">
              <a:spcBef>
                <a:spcPts val="140"/>
              </a:spcBef>
            </a:pPr>
            <a:r>
              <a:rPr sz="2667" b="1" spc="-13" dirty="0">
                <a:solidFill>
                  <a:srgbClr val="CCEAFF"/>
                </a:solidFill>
                <a:latin typeface="Calibri"/>
                <a:cs typeface="Calibri"/>
              </a:rPr>
              <a:t>Dimensions</a:t>
            </a:r>
            <a:endParaRPr sz="2667">
              <a:latin typeface="Calibri"/>
              <a:cs typeface="Calibri"/>
            </a:endParaRPr>
          </a:p>
        </p:txBody>
      </p:sp>
      <p:pic>
        <p:nvPicPr>
          <p:cNvPr id="8" name="object 8"/>
          <p:cNvPicPr/>
          <p:nvPr/>
        </p:nvPicPr>
        <p:blipFill>
          <a:blip r:embed="rId3" cstate="print"/>
          <a:stretch>
            <a:fillRect/>
          </a:stretch>
        </p:blipFill>
        <p:spPr>
          <a:xfrm>
            <a:off x="3787647" y="1198880"/>
            <a:ext cx="3379216" cy="1497584"/>
          </a:xfrm>
          <a:prstGeom prst="rect">
            <a:avLst/>
          </a:prstGeom>
        </p:spPr>
      </p:pic>
      <p:pic>
        <p:nvPicPr>
          <p:cNvPr id="9" name="object 9"/>
          <p:cNvPicPr/>
          <p:nvPr/>
        </p:nvPicPr>
        <p:blipFill>
          <a:blip r:embed="rId4" cstate="print"/>
          <a:stretch>
            <a:fillRect/>
          </a:stretch>
        </p:blipFill>
        <p:spPr>
          <a:xfrm>
            <a:off x="7498079" y="1198880"/>
            <a:ext cx="3403599" cy="1499616"/>
          </a:xfrm>
          <a:prstGeom prst="rect">
            <a:avLst/>
          </a:prstGeom>
        </p:spPr>
      </p:pic>
      <p:sp>
        <p:nvSpPr>
          <p:cNvPr id="10" name="object 10"/>
          <p:cNvSpPr txBox="1"/>
          <p:nvPr/>
        </p:nvSpPr>
        <p:spPr>
          <a:xfrm>
            <a:off x="3458125" y="3049694"/>
            <a:ext cx="6145107" cy="1638055"/>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Replace</a:t>
            </a:r>
            <a:r>
              <a:rPr sz="2400" b="1" spc="-33" dirty="0">
                <a:solidFill>
                  <a:srgbClr val="D9D9D9"/>
                </a:solidFill>
                <a:latin typeface="Calibri"/>
                <a:cs typeface="Calibri"/>
              </a:rPr>
              <a:t> </a:t>
            </a:r>
            <a:r>
              <a:rPr sz="2400" b="1" dirty="0">
                <a:solidFill>
                  <a:srgbClr val="D9D9D9"/>
                </a:solidFill>
                <a:latin typeface="Calibri"/>
                <a:cs typeface="Calibri"/>
              </a:rPr>
              <a:t>nulls</a:t>
            </a:r>
            <a:r>
              <a:rPr sz="2400" b="1" spc="-73" dirty="0">
                <a:solidFill>
                  <a:srgbClr val="D9D9D9"/>
                </a:solidFill>
                <a:latin typeface="Calibri"/>
                <a:cs typeface="Calibri"/>
              </a:rPr>
              <a:t> </a:t>
            </a:r>
            <a:r>
              <a:rPr sz="2400" b="1" dirty="0">
                <a:solidFill>
                  <a:srgbClr val="D9D9D9"/>
                </a:solidFill>
                <a:latin typeface="Calibri"/>
                <a:cs typeface="Calibri"/>
              </a:rPr>
              <a:t>with</a:t>
            </a:r>
            <a:r>
              <a:rPr sz="2400" b="1" spc="-33" dirty="0">
                <a:solidFill>
                  <a:srgbClr val="D9D9D9"/>
                </a:solidFill>
                <a:latin typeface="Calibri"/>
                <a:cs typeface="Calibri"/>
              </a:rPr>
              <a:t> </a:t>
            </a:r>
            <a:r>
              <a:rPr sz="2400" b="1" dirty="0">
                <a:solidFill>
                  <a:srgbClr val="D9D9D9"/>
                </a:solidFill>
                <a:latin typeface="Calibri"/>
                <a:cs typeface="Calibri"/>
              </a:rPr>
              <a:t>descriptive</a:t>
            </a:r>
            <a:r>
              <a:rPr sz="2400" b="1" spc="-80" dirty="0">
                <a:solidFill>
                  <a:srgbClr val="D9D9D9"/>
                </a:solidFill>
                <a:latin typeface="Calibri"/>
                <a:cs typeface="Calibri"/>
              </a:rPr>
              <a:t> </a:t>
            </a:r>
            <a:r>
              <a:rPr sz="2400" b="1" spc="-13" dirty="0">
                <a:solidFill>
                  <a:srgbClr val="D9D9D9"/>
                </a:solidFill>
                <a:latin typeface="Calibri"/>
                <a:cs typeface="Calibri"/>
              </a:rPr>
              <a:t>values</a:t>
            </a:r>
            <a:endParaRPr sz="2400">
              <a:latin typeface="Calibri"/>
              <a:cs typeface="Calibri"/>
            </a:endParaRPr>
          </a:p>
          <a:p>
            <a:pPr marL="1007508" lvl="1" indent="-380990">
              <a:spcBef>
                <a:spcPts val="1980"/>
              </a:spcBef>
              <a:buClr>
                <a:srgbClr val="99D3FF"/>
              </a:buClr>
              <a:buFont typeface="Wingdings"/>
              <a:buChar char=""/>
              <a:tabLst>
                <a:tab pos="1007508" algn="l"/>
              </a:tabLst>
            </a:pPr>
            <a:r>
              <a:rPr sz="2400" b="1" dirty="0">
                <a:solidFill>
                  <a:srgbClr val="D9D9D9"/>
                </a:solidFill>
                <a:latin typeface="Calibri"/>
                <a:cs typeface="Calibri"/>
              </a:rPr>
              <a:t>More</a:t>
            </a:r>
            <a:r>
              <a:rPr sz="2400" b="1" spc="-47" dirty="0">
                <a:solidFill>
                  <a:srgbClr val="D9D9D9"/>
                </a:solidFill>
                <a:latin typeface="Calibri"/>
                <a:cs typeface="Calibri"/>
              </a:rPr>
              <a:t> </a:t>
            </a:r>
            <a:r>
              <a:rPr sz="2400" b="1" dirty="0">
                <a:solidFill>
                  <a:srgbClr val="D9D9D9"/>
                </a:solidFill>
                <a:latin typeface="Calibri"/>
                <a:cs typeface="Calibri"/>
              </a:rPr>
              <a:t>understable</a:t>
            </a:r>
            <a:r>
              <a:rPr sz="2400" b="1" spc="-80" dirty="0">
                <a:solidFill>
                  <a:srgbClr val="D9D9D9"/>
                </a:solidFill>
                <a:latin typeface="Calibri"/>
                <a:cs typeface="Calibri"/>
              </a:rPr>
              <a:t> </a:t>
            </a:r>
            <a:r>
              <a:rPr sz="2400" b="1" dirty="0">
                <a:solidFill>
                  <a:srgbClr val="D9D9D9"/>
                </a:solidFill>
                <a:latin typeface="Calibri"/>
                <a:cs typeface="Calibri"/>
              </a:rPr>
              <a:t>for</a:t>
            </a:r>
            <a:r>
              <a:rPr sz="2400" b="1" spc="-27" dirty="0">
                <a:solidFill>
                  <a:srgbClr val="D9D9D9"/>
                </a:solidFill>
                <a:latin typeface="Calibri"/>
                <a:cs typeface="Calibri"/>
              </a:rPr>
              <a:t> </a:t>
            </a:r>
            <a:r>
              <a:rPr sz="2400" b="1" dirty="0">
                <a:solidFill>
                  <a:srgbClr val="D9D9D9"/>
                </a:solidFill>
                <a:latin typeface="Calibri"/>
                <a:cs typeface="Calibri"/>
              </a:rPr>
              <a:t>business</a:t>
            </a:r>
            <a:r>
              <a:rPr sz="2400" b="1" spc="-80" dirty="0">
                <a:solidFill>
                  <a:srgbClr val="D9D9D9"/>
                </a:solidFill>
                <a:latin typeface="Calibri"/>
                <a:cs typeface="Calibri"/>
              </a:rPr>
              <a:t> </a:t>
            </a:r>
            <a:r>
              <a:rPr sz="2400" b="1" spc="-27" dirty="0">
                <a:solidFill>
                  <a:srgbClr val="D9D9D9"/>
                </a:solidFill>
                <a:latin typeface="Calibri"/>
                <a:cs typeface="Calibri"/>
              </a:rPr>
              <a:t>users</a:t>
            </a:r>
            <a:endParaRPr sz="2400">
              <a:latin typeface="Calibri"/>
              <a:cs typeface="Calibri"/>
            </a:endParaRPr>
          </a:p>
          <a:p>
            <a:pPr marL="1007508" lvl="1" indent="-380990">
              <a:spcBef>
                <a:spcPts val="2000"/>
              </a:spcBef>
              <a:buClr>
                <a:srgbClr val="99D3FF"/>
              </a:buClr>
              <a:buFont typeface="Wingdings"/>
              <a:buChar char=""/>
              <a:tabLst>
                <a:tab pos="1007508" algn="l"/>
              </a:tabLst>
            </a:pPr>
            <a:r>
              <a:rPr sz="2400" b="1" dirty="0">
                <a:solidFill>
                  <a:srgbClr val="D9D9D9"/>
                </a:solidFill>
                <a:latin typeface="Calibri"/>
                <a:cs typeface="Calibri"/>
              </a:rPr>
              <a:t>Values</a:t>
            </a:r>
            <a:r>
              <a:rPr sz="2400" b="1" spc="-53" dirty="0">
                <a:solidFill>
                  <a:srgbClr val="D9D9D9"/>
                </a:solidFill>
                <a:latin typeface="Calibri"/>
                <a:cs typeface="Calibri"/>
              </a:rPr>
              <a:t> </a:t>
            </a:r>
            <a:r>
              <a:rPr sz="2400" b="1" dirty="0">
                <a:solidFill>
                  <a:srgbClr val="D9D9D9"/>
                </a:solidFill>
                <a:latin typeface="Calibri"/>
                <a:cs typeface="Calibri"/>
              </a:rPr>
              <a:t>appear</a:t>
            </a:r>
            <a:r>
              <a:rPr sz="2400" b="1" spc="-47" dirty="0">
                <a:solidFill>
                  <a:srgbClr val="D9D9D9"/>
                </a:solidFill>
                <a:latin typeface="Calibri"/>
                <a:cs typeface="Calibri"/>
              </a:rPr>
              <a:t> </a:t>
            </a:r>
            <a:r>
              <a:rPr sz="2400" b="1" dirty="0">
                <a:solidFill>
                  <a:srgbClr val="D9D9D9"/>
                </a:solidFill>
                <a:latin typeface="Calibri"/>
                <a:cs typeface="Calibri"/>
              </a:rPr>
              <a:t>in</a:t>
            </a:r>
            <a:r>
              <a:rPr sz="2400" b="1" spc="-7" dirty="0">
                <a:solidFill>
                  <a:srgbClr val="D9D9D9"/>
                </a:solidFill>
                <a:latin typeface="Calibri"/>
                <a:cs typeface="Calibri"/>
              </a:rPr>
              <a:t> </a:t>
            </a:r>
            <a:r>
              <a:rPr sz="2400" b="1" dirty="0">
                <a:solidFill>
                  <a:srgbClr val="D9D9D9"/>
                </a:solidFill>
                <a:latin typeface="Calibri"/>
                <a:cs typeface="Calibri"/>
              </a:rPr>
              <a:t>aggregations</a:t>
            </a:r>
            <a:r>
              <a:rPr sz="2400" b="1" spc="-60" dirty="0">
                <a:solidFill>
                  <a:srgbClr val="D9D9D9"/>
                </a:solidFill>
                <a:latin typeface="Calibri"/>
                <a:cs typeface="Calibri"/>
              </a:rPr>
              <a:t> </a:t>
            </a:r>
            <a:r>
              <a:rPr sz="2400" b="1" dirty="0">
                <a:solidFill>
                  <a:srgbClr val="D9D9D9"/>
                </a:solidFill>
                <a:latin typeface="Calibri"/>
                <a:cs typeface="Calibri"/>
              </a:rPr>
              <a:t>in</a:t>
            </a:r>
            <a:r>
              <a:rPr sz="2400" b="1" spc="-13" dirty="0">
                <a:solidFill>
                  <a:srgbClr val="D9D9D9"/>
                </a:solidFill>
                <a:latin typeface="Calibri"/>
                <a:cs typeface="Calibri"/>
              </a:rPr>
              <a:t> </a:t>
            </a:r>
            <a:r>
              <a:rPr sz="2400" b="1" dirty="0">
                <a:solidFill>
                  <a:srgbClr val="D9D9D9"/>
                </a:solidFill>
                <a:latin typeface="Calibri"/>
                <a:cs typeface="Calibri"/>
              </a:rPr>
              <a:t>BI </a:t>
            </a:r>
            <a:r>
              <a:rPr sz="2400" b="1" spc="-13" dirty="0">
                <a:solidFill>
                  <a:srgbClr val="D9D9D9"/>
                </a:solidFill>
                <a:latin typeface="Calibri"/>
                <a:cs typeface="Calibri"/>
              </a:rPr>
              <a:t>tools</a:t>
            </a:r>
            <a:endParaRPr sz="2400">
              <a:latin typeface="Calibri"/>
              <a:cs typeface="Calibri"/>
            </a:endParaRPr>
          </a:p>
        </p:txBody>
      </p:sp>
      <p:pic>
        <p:nvPicPr>
          <p:cNvPr id="11" name="object 11"/>
          <p:cNvPicPr/>
          <p:nvPr/>
        </p:nvPicPr>
        <p:blipFill>
          <a:blip r:embed="rId5" cstate="print"/>
          <a:stretch>
            <a:fillRect/>
          </a:stretch>
        </p:blipFill>
        <p:spPr>
          <a:xfrm>
            <a:off x="6705601" y="4888992"/>
            <a:ext cx="2633471" cy="1589024"/>
          </a:xfrm>
          <a:prstGeom prst="rect">
            <a:avLst/>
          </a:prstGeom>
        </p:spPr>
      </p:pic>
      <p:pic>
        <p:nvPicPr>
          <p:cNvPr id="12" name="object 12"/>
          <p:cNvPicPr/>
          <p:nvPr/>
        </p:nvPicPr>
        <p:blipFill>
          <a:blip r:embed="rId6" cstate="print"/>
          <a:stretch>
            <a:fillRect/>
          </a:stretch>
        </p:blipFill>
        <p:spPr>
          <a:xfrm>
            <a:off x="2852927" y="4895087"/>
            <a:ext cx="2633472" cy="1582928"/>
          </a:xfrm>
          <a:prstGeom prst="rect">
            <a:avLst/>
          </a:prstGeom>
        </p:spPr>
      </p:pic>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57807" y="2279903"/>
            <a:ext cx="9930384" cy="1702816"/>
          </a:xfrm>
          <a:prstGeom prst="rect">
            <a:avLst/>
          </a:prstGeom>
        </p:spPr>
      </p:pic>
      <p:sp>
        <p:nvSpPr>
          <p:cNvPr id="3" name="object 3"/>
          <p:cNvSpPr txBox="1">
            <a:spLocks noGrp="1"/>
          </p:cNvSpPr>
          <p:nvPr>
            <p:ph type="title"/>
          </p:nvPr>
        </p:nvSpPr>
        <p:spPr>
          <a:xfrm>
            <a:off x="1320800" y="2579973"/>
            <a:ext cx="9811173" cy="1048150"/>
          </a:xfrm>
          <a:prstGeom prst="rect">
            <a:avLst/>
          </a:prstGeom>
          <a:noFill/>
          <a:ln w="9144">
            <a:noFill/>
          </a:ln>
        </p:spPr>
        <p:txBody>
          <a:bodyPr vert="horz" wrap="square" lIns="0" tIns="306493" rIns="0" bIns="0" rtlCol="0" anchor="ctr">
            <a:spAutoFit/>
          </a:bodyPr>
          <a:lstStyle/>
          <a:p>
            <a:pPr algn="ctr">
              <a:lnSpc>
                <a:spcPct val="100000"/>
              </a:lnSpc>
              <a:spcBef>
                <a:spcPts val="2413"/>
              </a:spcBef>
            </a:pPr>
            <a:r>
              <a:rPr sz="4800" dirty="0">
                <a:solidFill>
                  <a:schemeClr val="bg1"/>
                </a:solidFill>
                <a:latin typeface="+mn-lt"/>
              </a:rPr>
              <a:t>Hierarchies</a:t>
            </a:r>
            <a:r>
              <a:rPr sz="4800" spc="-100" dirty="0">
                <a:solidFill>
                  <a:schemeClr val="bg1"/>
                </a:solidFill>
                <a:latin typeface="+mn-lt"/>
              </a:rPr>
              <a:t> </a:t>
            </a:r>
            <a:r>
              <a:rPr sz="4800" dirty="0">
                <a:solidFill>
                  <a:schemeClr val="bg1"/>
                </a:solidFill>
                <a:latin typeface="+mn-lt"/>
              </a:rPr>
              <a:t>in</a:t>
            </a:r>
            <a:r>
              <a:rPr sz="4800" spc="-60" dirty="0">
                <a:solidFill>
                  <a:schemeClr val="bg1"/>
                </a:solidFill>
                <a:latin typeface="+mn-lt"/>
              </a:rPr>
              <a:t> </a:t>
            </a:r>
            <a:r>
              <a:rPr sz="4800" spc="-13" dirty="0">
                <a:solidFill>
                  <a:schemeClr val="bg1"/>
                </a:solidFill>
                <a:latin typeface="+mn-lt"/>
              </a:rPr>
              <a:t>dimensions</a:t>
            </a:r>
            <a:endParaRPr sz="4800" dirty="0">
              <a:solidFill>
                <a:schemeClr val="bg1"/>
              </a:solidFill>
              <a:latin typeface="+mn-lt"/>
            </a:endParaRP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54960" y="166440"/>
            <a:ext cx="7498080" cy="695062"/>
          </a:xfrm>
          <a:prstGeom prst="rect">
            <a:avLst/>
          </a:prstGeom>
        </p:spPr>
        <p:txBody>
          <a:bodyPr vert="horz" wrap="square" lIns="0" tIns="17780" rIns="0" bIns="0" rtlCol="0" anchor="ctr">
            <a:spAutoFit/>
          </a:bodyPr>
          <a:lstStyle/>
          <a:p>
            <a:pPr marL="872045">
              <a:lnSpc>
                <a:spcPct val="100000"/>
              </a:lnSpc>
              <a:spcBef>
                <a:spcPts val="140"/>
              </a:spcBef>
            </a:pPr>
            <a:r>
              <a:rPr dirty="0">
                <a:solidFill>
                  <a:schemeClr val="bg1"/>
                </a:solidFill>
                <a:latin typeface="+mn-lt"/>
              </a:rPr>
              <a:t>Hierarchies</a:t>
            </a:r>
            <a:r>
              <a:rPr spc="-67" dirty="0">
                <a:solidFill>
                  <a:schemeClr val="bg1"/>
                </a:solidFill>
                <a:latin typeface="+mn-lt"/>
              </a:rPr>
              <a:t> </a:t>
            </a:r>
            <a:r>
              <a:rPr dirty="0">
                <a:solidFill>
                  <a:schemeClr val="bg1"/>
                </a:solidFill>
                <a:latin typeface="+mn-lt"/>
              </a:rPr>
              <a:t>in</a:t>
            </a:r>
            <a:r>
              <a:rPr spc="-40" dirty="0">
                <a:solidFill>
                  <a:schemeClr val="bg1"/>
                </a:solidFill>
                <a:latin typeface="+mn-lt"/>
              </a:rPr>
              <a:t> </a:t>
            </a:r>
            <a:r>
              <a:rPr spc="-13" dirty="0">
                <a:solidFill>
                  <a:schemeClr val="bg1"/>
                </a:solidFill>
                <a:latin typeface="+mn-lt"/>
              </a:rPr>
              <a:t>dimensions</a:t>
            </a:r>
          </a:p>
        </p:txBody>
      </p:sp>
      <p:grpSp>
        <p:nvGrpSpPr>
          <p:cNvPr id="3" name="object 3"/>
          <p:cNvGrpSpPr/>
          <p:nvPr/>
        </p:nvGrpSpPr>
        <p:grpSpPr>
          <a:xfrm>
            <a:off x="174751" y="1497517"/>
            <a:ext cx="4197096" cy="1614490"/>
            <a:chOff x="131063" y="1123137"/>
            <a:chExt cx="3147822" cy="1210868"/>
          </a:xfrm>
        </p:grpSpPr>
        <p:pic>
          <p:nvPicPr>
            <p:cNvPr id="4" name="object 4"/>
            <p:cNvPicPr/>
            <p:nvPr/>
          </p:nvPicPr>
          <p:blipFill>
            <a:blip r:embed="rId2" cstate="print"/>
            <a:stretch>
              <a:fillRect/>
            </a:stretch>
          </p:blipFill>
          <p:spPr>
            <a:xfrm>
              <a:off x="131063" y="1123137"/>
              <a:ext cx="3147822" cy="1210868"/>
            </a:xfrm>
            <a:prstGeom prst="rect">
              <a:avLst/>
            </a:prstGeom>
          </p:spPr>
        </p:pic>
        <p:sp>
          <p:nvSpPr>
            <p:cNvPr id="6" name="object 6"/>
            <p:cNvSpPr/>
            <p:nvPr/>
          </p:nvSpPr>
          <p:spPr>
            <a:xfrm>
              <a:off x="457961" y="1277873"/>
              <a:ext cx="2514600" cy="579120"/>
            </a:xfrm>
            <a:custGeom>
              <a:avLst/>
              <a:gdLst/>
              <a:ahLst/>
              <a:cxnLst/>
              <a:rect l="l" t="t" r="r" b="b"/>
              <a:pathLst>
                <a:path w="2514600" h="579119">
                  <a:moveTo>
                    <a:pt x="0" y="289560"/>
                  </a:moveTo>
                  <a:lnTo>
                    <a:pt x="144779" y="0"/>
                  </a:lnTo>
                  <a:lnTo>
                    <a:pt x="2369820" y="0"/>
                  </a:lnTo>
                  <a:lnTo>
                    <a:pt x="2514600" y="289560"/>
                  </a:lnTo>
                  <a:lnTo>
                    <a:pt x="2369820" y="579120"/>
                  </a:lnTo>
                  <a:lnTo>
                    <a:pt x="144779" y="579120"/>
                  </a:lnTo>
                  <a:lnTo>
                    <a:pt x="0" y="289560"/>
                  </a:lnTo>
                  <a:close/>
                </a:path>
              </a:pathLst>
            </a:custGeom>
            <a:ln w="19812">
              <a:solidFill>
                <a:srgbClr val="00C3FF"/>
              </a:solidFill>
            </a:ln>
          </p:spPr>
          <p:txBody>
            <a:bodyPr wrap="square" lIns="0" tIns="0" rIns="0" bIns="0" rtlCol="0"/>
            <a:lstStyle/>
            <a:p>
              <a:endParaRPr sz="2400"/>
            </a:p>
          </p:txBody>
        </p:sp>
      </p:grpSp>
      <p:sp>
        <p:nvSpPr>
          <p:cNvPr id="7" name="object 7"/>
          <p:cNvSpPr txBox="1"/>
          <p:nvPr/>
        </p:nvSpPr>
        <p:spPr>
          <a:xfrm>
            <a:off x="1437978" y="1847190"/>
            <a:ext cx="1703493" cy="428387"/>
          </a:xfrm>
          <a:prstGeom prst="rect">
            <a:avLst/>
          </a:prstGeom>
        </p:spPr>
        <p:txBody>
          <a:bodyPr vert="horz" wrap="square" lIns="0" tIns="17780" rIns="0" bIns="0" rtlCol="0">
            <a:spAutoFit/>
          </a:bodyPr>
          <a:lstStyle/>
          <a:p>
            <a:pPr marL="16933">
              <a:spcBef>
                <a:spcPts val="140"/>
              </a:spcBef>
            </a:pPr>
            <a:r>
              <a:rPr sz="2667" b="1" dirty="0">
                <a:solidFill>
                  <a:srgbClr val="CCEAFF"/>
                </a:solidFill>
                <a:latin typeface="Calibri"/>
                <a:cs typeface="Calibri"/>
              </a:rPr>
              <a:t>Source</a:t>
            </a:r>
            <a:r>
              <a:rPr sz="2667" b="1" spc="-53" dirty="0">
                <a:solidFill>
                  <a:srgbClr val="CCEAFF"/>
                </a:solidFill>
                <a:latin typeface="Calibri"/>
                <a:cs typeface="Calibri"/>
              </a:rPr>
              <a:t> </a:t>
            </a:r>
            <a:r>
              <a:rPr sz="2667" b="1" spc="-27" dirty="0">
                <a:solidFill>
                  <a:srgbClr val="CCEAFF"/>
                </a:solidFill>
                <a:latin typeface="Calibri"/>
                <a:cs typeface="Calibri"/>
              </a:rPr>
              <a:t>data</a:t>
            </a:r>
            <a:endParaRPr sz="2667">
              <a:latin typeface="Calibri"/>
              <a:cs typeface="Calibri"/>
            </a:endParaRPr>
          </a:p>
        </p:txBody>
      </p:sp>
      <p:pic>
        <p:nvPicPr>
          <p:cNvPr id="8" name="object 8"/>
          <p:cNvPicPr/>
          <p:nvPr/>
        </p:nvPicPr>
        <p:blipFill>
          <a:blip r:embed="rId3" cstate="print"/>
          <a:stretch>
            <a:fillRect/>
          </a:stretch>
        </p:blipFill>
        <p:spPr>
          <a:xfrm>
            <a:off x="3860800" y="2639568"/>
            <a:ext cx="2659888" cy="1582928"/>
          </a:xfrm>
          <a:prstGeom prst="rect">
            <a:avLst/>
          </a:prstGeom>
        </p:spPr>
      </p:pic>
      <p:pic>
        <p:nvPicPr>
          <p:cNvPr id="9" name="object 9"/>
          <p:cNvPicPr/>
          <p:nvPr/>
        </p:nvPicPr>
        <p:blipFill>
          <a:blip r:embed="rId4" cstate="print"/>
          <a:stretch>
            <a:fillRect/>
          </a:stretch>
        </p:blipFill>
        <p:spPr>
          <a:xfrm>
            <a:off x="7315200" y="2794001"/>
            <a:ext cx="3403600" cy="1150111"/>
          </a:xfrm>
          <a:prstGeom prst="rect">
            <a:avLst/>
          </a:prstGeom>
        </p:spPr>
      </p:pic>
      <p:sp>
        <p:nvSpPr>
          <p:cNvPr id="10" name="object 10"/>
          <p:cNvSpPr txBox="1"/>
          <p:nvPr/>
        </p:nvSpPr>
        <p:spPr>
          <a:xfrm>
            <a:off x="4169834" y="1851320"/>
            <a:ext cx="2630593"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Often</a:t>
            </a:r>
            <a:r>
              <a:rPr sz="2400" b="1" spc="-53" dirty="0">
                <a:solidFill>
                  <a:srgbClr val="D9D9D9"/>
                </a:solidFill>
                <a:latin typeface="Calibri"/>
                <a:cs typeface="Calibri"/>
              </a:rPr>
              <a:t> </a:t>
            </a:r>
            <a:r>
              <a:rPr sz="2400" b="1" spc="-13" dirty="0">
                <a:solidFill>
                  <a:srgbClr val="D9D9D9"/>
                </a:solidFill>
                <a:latin typeface="Calibri"/>
                <a:cs typeface="Calibri"/>
              </a:rPr>
              <a:t>normalized</a:t>
            </a:r>
            <a:endParaRPr sz="2400">
              <a:latin typeface="Calibri"/>
              <a:cs typeface="Calibri"/>
            </a:endParaRP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59567" y="231430"/>
            <a:ext cx="8681720" cy="695062"/>
          </a:xfrm>
          <a:prstGeom prst="rect">
            <a:avLst/>
          </a:prstGeom>
        </p:spPr>
        <p:txBody>
          <a:bodyPr vert="horz" wrap="square" lIns="0" tIns="17780" rIns="0" bIns="0" rtlCol="0" anchor="ctr">
            <a:spAutoFit/>
          </a:bodyPr>
          <a:lstStyle/>
          <a:p>
            <a:pPr marL="872045">
              <a:lnSpc>
                <a:spcPct val="100000"/>
              </a:lnSpc>
              <a:spcBef>
                <a:spcPts val="140"/>
              </a:spcBef>
            </a:pPr>
            <a:r>
              <a:rPr dirty="0">
                <a:solidFill>
                  <a:schemeClr val="bg1"/>
                </a:solidFill>
                <a:latin typeface="+mn-lt"/>
              </a:rPr>
              <a:t>Hierarchies</a:t>
            </a:r>
            <a:r>
              <a:rPr spc="-67" dirty="0">
                <a:solidFill>
                  <a:schemeClr val="bg1"/>
                </a:solidFill>
                <a:latin typeface="+mn-lt"/>
              </a:rPr>
              <a:t> </a:t>
            </a:r>
            <a:r>
              <a:rPr dirty="0">
                <a:solidFill>
                  <a:schemeClr val="bg1"/>
                </a:solidFill>
                <a:latin typeface="+mn-lt"/>
              </a:rPr>
              <a:t>in</a:t>
            </a:r>
            <a:r>
              <a:rPr spc="-40" dirty="0">
                <a:solidFill>
                  <a:schemeClr val="bg1"/>
                </a:solidFill>
                <a:latin typeface="+mn-lt"/>
              </a:rPr>
              <a:t> </a:t>
            </a:r>
            <a:r>
              <a:rPr spc="-13" dirty="0">
                <a:solidFill>
                  <a:schemeClr val="bg1"/>
                </a:solidFill>
                <a:latin typeface="+mn-lt"/>
              </a:rPr>
              <a:t>dimensions</a:t>
            </a:r>
          </a:p>
        </p:txBody>
      </p:sp>
      <p:grpSp>
        <p:nvGrpSpPr>
          <p:cNvPr id="3" name="object 3"/>
          <p:cNvGrpSpPr/>
          <p:nvPr/>
        </p:nvGrpSpPr>
        <p:grpSpPr>
          <a:xfrm>
            <a:off x="174751" y="1497517"/>
            <a:ext cx="4197096" cy="1614490"/>
            <a:chOff x="131063" y="1123137"/>
            <a:chExt cx="3147822" cy="1210868"/>
          </a:xfrm>
        </p:grpSpPr>
        <p:pic>
          <p:nvPicPr>
            <p:cNvPr id="4" name="object 4"/>
            <p:cNvPicPr/>
            <p:nvPr/>
          </p:nvPicPr>
          <p:blipFill>
            <a:blip r:embed="rId2" cstate="print"/>
            <a:stretch>
              <a:fillRect/>
            </a:stretch>
          </p:blipFill>
          <p:spPr>
            <a:xfrm>
              <a:off x="131063" y="1123137"/>
              <a:ext cx="3147822" cy="1210868"/>
            </a:xfrm>
            <a:prstGeom prst="rect">
              <a:avLst/>
            </a:prstGeom>
          </p:spPr>
        </p:pic>
        <p:sp>
          <p:nvSpPr>
            <p:cNvPr id="6" name="object 6"/>
            <p:cNvSpPr/>
            <p:nvPr/>
          </p:nvSpPr>
          <p:spPr>
            <a:xfrm>
              <a:off x="457961" y="1277873"/>
              <a:ext cx="2514600" cy="579120"/>
            </a:xfrm>
            <a:custGeom>
              <a:avLst/>
              <a:gdLst/>
              <a:ahLst/>
              <a:cxnLst/>
              <a:rect l="l" t="t" r="r" b="b"/>
              <a:pathLst>
                <a:path w="2514600" h="579119">
                  <a:moveTo>
                    <a:pt x="0" y="289560"/>
                  </a:moveTo>
                  <a:lnTo>
                    <a:pt x="144779" y="0"/>
                  </a:lnTo>
                  <a:lnTo>
                    <a:pt x="2369820" y="0"/>
                  </a:lnTo>
                  <a:lnTo>
                    <a:pt x="2514600" y="289560"/>
                  </a:lnTo>
                  <a:lnTo>
                    <a:pt x="2369820" y="579120"/>
                  </a:lnTo>
                  <a:lnTo>
                    <a:pt x="144779" y="579120"/>
                  </a:lnTo>
                  <a:lnTo>
                    <a:pt x="0" y="289560"/>
                  </a:lnTo>
                  <a:close/>
                </a:path>
              </a:pathLst>
            </a:custGeom>
            <a:ln w="19812">
              <a:solidFill>
                <a:srgbClr val="00C3FF"/>
              </a:solidFill>
            </a:ln>
          </p:spPr>
          <p:txBody>
            <a:bodyPr wrap="square" lIns="0" tIns="0" rIns="0" bIns="0" rtlCol="0"/>
            <a:lstStyle/>
            <a:p>
              <a:endParaRPr sz="2400"/>
            </a:p>
          </p:txBody>
        </p:sp>
      </p:grpSp>
      <p:sp>
        <p:nvSpPr>
          <p:cNvPr id="7" name="object 7"/>
          <p:cNvSpPr txBox="1"/>
          <p:nvPr/>
        </p:nvSpPr>
        <p:spPr>
          <a:xfrm>
            <a:off x="1437978" y="1847190"/>
            <a:ext cx="1703493" cy="428387"/>
          </a:xfrm>
          <a:prstGeom prst="rect">
            <a:avLst/>
          </a:prstGeom>
        </p:spPr>
        <p:txBody>
          <a:bodyPr vert="horz" wrap="square" lIns="0" tIns="17780" rIns="0" bIns="0" rtlCol="0">
            <a:spAutoFit/>
          </a:bodyPr>
          <a:lstStyle/>
          <a:p>
            <a:pPr marL="16933">
              <a:spcBef>
                <a:spcPts val="140"/>
              </a:spcBef>
            </a:pPr>
            <a:r>
              <a:rPr sz="2667" b="1" dirty="0">
                <a:solidFill>
                  <a:srgbClr val="CCEAFF"/>
                </a:solidFill>
                <a:latin typeface="Calibri"/>
                <a:cs typeface="Calibri"/>
              </a:rPr>
              <a:t>Source</a:t>
            </a:r>
            <a:r>
              <a:rPr sz="2667" b="1" spc="-53" dirty="0">
                <a:solidFill>
                  <a:srgbClr val="CCEAFF"/>
                </a:solidFill>
                <a:latin typeface="Calibri"/>
                <a:cs typeface="Calibri"/>
              </a:rPr>
              <a:t> </a:t>
            </a:r>
            <a:r>
              <a:rPr sz="2667" b="1" spc="-27" dirty="0">
                <a:solidFill>
                  <a:srgbClr val="CCEAFF"/>
                </a:solidFill>
                <a:latin typeface="Calibri"/>
                <a:cs typeface="Calibri"/>
              </a:rPr>
              <a:t>data</a:t>
            </a:r>
            <a:endParaRPr sz="2667">
              <a:latin typeface="Calibri"/>
              <a:cs typeface="Calibri"/>
            </a:endParaRPr>
          </a:p>
        </p:txBody>
      </p:sp>
      <p:pic>
        <p:nvPicPr>
          <p:cNvPr id="8" name="object 8"/>
          <p:cNvPicPr/>
          <p:nvPr/>
        </p:nvPicPr>
        <p:blipFill>
          <a:blip r:embed="rId3" cstate="print"/>
          <a:stretch>
            <a:fillRect/>
          </a:stretch>
        </p:blipFill>
        <p:spPr>
          <a:xfrm>
            <a:off x="3860800" y="2639568"/>
            <a:ext cx="2659888" cy="1582928"/>
          </a:xfrm>
          <a:prstGeom prst="rect">
            <a:avLst/>
          </a:prstGeom>
        </p:spPr>
      </p:pic>
      <p:pic>
        <p:nvPicPr>
          <p:cNvPr id="9" name="object 9"/>
          <p:cNvPicPr/>
          <p:nvPr/>
        </p:nvPicPr>
        <p:blipFill>
          <a:blip r:embed="rId4" cstate="print"/>
          <a:stretch>
            <a:fillRect/>
          </a:stretch>
        </p:blipFill>
        <p:spPr>
          <a:xfrm>
            <a:off x="7315200" y="2794001"/>
            <a:ext cx="3403600" cy="1150111"/>
          </a:xfrm>
          <a:prstGeom prst="rect">
            <a:avLst/>
          </a:prstGeom>
        </p:spPr>
      </p:pic>
      <p:grpSp>
        <p:nvGrpSpPr>
          <p:cNvPr id="10" name="object 10"/>
          <p:cNvGrpSpPr/>
          <p:nvPr/>
        </p:nvGrpSpPr>
        <p:grpSpPr>
          <a:xfrm>
            <a:off x="1530626" y="4226561"/>
            <a:ext cx="10084795" cy="1582928"/>
            <a:chOff x="1828800" y="3169920"/>
            <a:chExt cx="6882765" cy="788035"/>
          </a:xfrm>
        </p:grpSpPr>
        <p:pic>
          <p:nvPicPr>
            <p:cNvPr id="11" name="object 11"/>
            <p:cNvPicPr/>
            <p:nvPr/>
          </p:nvPicPr>
          <p:blipFill>
            <a:blip r:embed="rId5" cstate="print"/>
            <a:stretch>
              <a:fillRect/>
            </a:stretch>
          </p:blipFill>
          <p:spPr>
            <a:xfrm>
              <a:off x="1828800" y="3336036"/>
              <a:ext cx="6868668" cy="467867"/>
            </a:xfrm>
            <a:prstGeom prst="rect">
              <a:avLst/>
            </a:prstGeom>
          </p:spPr>
        </p:pic>
        <p:sp>
          <p:nvSpPr>
            <p:cNvPr id="12" name="object 12"/>
            <p:cNvSpPr/>
            <p:nvPr/>
          </p:nvSpPr>
          <p:spPr>
            <a:xfrm>
              <a:off x="6144005" y="3182874"/>
              <a:ext cx="2554605" cy="762000"/>
            </a:xfrm>
            <a:custGeom>
              <a:avLst/>
              <a:gdLst/>
              <a:ahLst/>
              <a:cxnLst/>
              <a:rect l="l" t="t" r="r" b="b"/>
              <a:pathLst>
                <a:path w="2554604" h="762000">
                  <a:moveTo>
                    <a:pt x="0" y="762000"/>
                  </a:moveTo>
                  <a:lnTo>
                    <a:pt x="2554224" y="762000"/>
                  </a:lnTo>
                  <a:lnTo>
                    <a:pt x="2554224" y="0"/>
                  </a:lnTo>
                  <a:lnTo>
                    <a:pt x="0" y="0"/>
                  </a:lnTo>
                  <a:lnTo>
                    <a:pt x="0" y="762000"/>
                  </a:lnTo>
                  <a:close/>
                </a:path>
              </a:pathLst>
            </a:custGeom>
            <a:ln w="25908">
              <a:solidFill>
                <a:srgbClr val="008FBB"/>
              </a:solidFill>
            </a:ln>
          </p:spPr>
          <p:txBody>
            <a:bodyPr wrap="square" lIns="0" tIns="0" rIns="0" bIns="0" rtlCol="0"/>
            <a:lstStyle/>
            <a:p>
              <a:endParaRPr sz="2400"/>
            </a:p>
          </p:txBody>
        </p:sp>
      </p:grpSp>
      <p:sp>
        <p:nvSpPr>
          <p:cNvPr id="13" name="object 13"/>
          <p:cNvSpPr txBox="1"/>
          <p:nvPr/>
        </p:nvSpPr>
        <p:spPr>
          <a:xfrm>
            <a:off x="4169834" y="1851320"/>
            <a:ext cx="2630593"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Often</a:t>
            </a:r>
            <a:r>
              <a:rPr sz="2400" b="1" spc="-53" dirty="0">
                <a:solidFill>
                  <a:srgbClr val="D9D9D9"/>
                </a:solidFill>
                <a:latin typeface="Calibri"/>
                <a:cs typeface="Calibri"/>
              </a:rPr>
              <a:t> </a:t>
            </a:r>
            <a:r>
              <a:rPr sz="2400" b="1" spc="-13" dirty="0">
                <a:solidFill>
                  <a:srgbClr val="D9D9D9"/>
                </a:solidFill>
                <a:latin typeface="Calibri"/>
                <a:cs typeface="Calibri"/>
              </a:rPr>
              <a:t>normalized</a:t>
            </a:r>
            <a:endParaRPr sz="2400">
              <a:latin typeface="Calibri"/>
              <a:cs typeface="Calibri"/>
            </a:endParaRPr>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5880" y="165213"/>
            <a:ext cx="7887208" cy="695062"/>
          </a:xfrm>
          <a:prstGeom prst="rect">
            <a:avLst/>
          </a:prstGeom>
        </p:spPr>
        <p:txBody>
          <a:bodyPr vert="horz" wrap="square" lIns="0" tIns="17780" rIns="0" bIns="0" rtlCol="0" anchor="ctr">
            <a:spAutoFit/>
          </a:bodyPr>
          <a:lstStyle/>
          <a:p>
            <a:pPr marL="872045">
              <a:lnSpc>
                <a:spcPct val="100000"/>
              </a:lnSpc>
              <a:spcBef>
                <a:spcPts val="140"/>
              </a:spcBef>
            </a:pPr>
            <a:r>
              <a:rPr dirty="0">
                <a:solidFill>
                  <a:schemeClr val="bg1"/>
                </a:solidFill>
                <a:latin typeface="+mn-lt"/>
              </a:rPr>
              <a:t>Hierarchies</a:t>
            </a:r>
            <a:r>
              <a:rPr spc="-67" dirty="0">
                <a:solidFill>
                  <a:schemeClr val="bg1"/>
                </a:solidFill>
                <a:latin typeface="+mn-lt"/>
              </a:rPr>
              <a:t> </a:t>
            </a:r>
            <a:r>
              <a:rPr dirty="0">
                <a:solidFill>
                  <a:schemeClr val="bg1"/>
                </a:solidFill>
                <a:latin typeface="+mn-lt"/>
              </a:rPr>
              <a:t>in</a:t>
            </a:r>
            <a:r>
              <a:rPr spc="-40" dirty="0">
                <a:solidFill>
                  <a:schemeClr val="bg1"/>
                </a:solidFill>
                <a:latin typeface="+mn-lt"/>
              </a:rPr>
              <a:t> </a:t>
            </a:r>
            <a:r>
              <a:rPr spc="-13" dirty="0">
                <a:solidFill>
                  <a:schemeClr val="bg1"/>
                </a:solidFill>
                <a:latin typeface="+mn-lt"/>
              </a:rPr>
              <a:t>dimensions</a:t>
            </a:r>
          </a:p>
        </p:txBody>
      </p:sp>
      <p:grpSp>
        <p:nvGrpSpPr>
          <p:cNvPr id="3" name="object 3"/>
          <p:cNvGrpSpPr/>
          <p:nvPr/>
        </p:nvGrpSpPr>
        <p:grpSpPr>
          <a:xfrm>
            <a:off x="174751" y="1497517"/>
            <a:ext cx="4197096" cy="1614490"/>
            <a:chOff x="131063" y="1123137"/>
            <a:chExt cx="3147822" cy="1210868"/>
          </a:xfrm>
        </p:grpSpPr>
        <p:pic>
          <p:nvPicPr>
            <p:cNvPr id="4" name="object 4"/>
            <p:cNvPicPr/>
            <p:nvPr/>
          </p:nvPicPr>
          <p:blipFill>
            <a:blip r:embed="rId2" cstate="print"/>
            <a:stretch>
              <a:fillRect/>
            </a:stretch>
          </p:blipFill>
          <p:spPr>
            <a:xfrm>
              <a:off x="131063" y="1123137"/>
              <a:ext cx="3147822" cy="1210868"/>
            </a:xfrm>
            <a:prstGeom prst="rect">
              <a:avLst/>
            </a:prstGeom>
          </p:spPr>
        </p:pic>
        <p:sp>
          <p:nvSpPr>
            <p:cNvPr id="6" name="object 6"/>
            <p:cNvSpPr/>
            <p:nvPr/>
          </p:nvSpPr>
          <p:spPr>
            <a:xfrm>
              <a:off x="457961" y="1277873"/>
              <a:ext cx="2514600" cy="579120"/>
            </a:xfrm>
            <a:custGeom>
              <a:avLst/>
              <a:gdLst/>
              <a:ahLst/>
              <a:cxnLst/>
              <a:rect l="l" t="t" r="r" b="b"/>
              <a:pathLst>
                <a:path w="2514600" h="579119">
                  <a:moveTo>
                    <a:pt x="0" y="289560"/>
                  </a:moveTo>
                  <a:lnTo>
                    <a:pt x="144779" y="0"/>
                  </a:lnTo>
                  <a:lnTo>
                    <a:pt x="2369820" y="0"/>
                  </a:lnTo>
                  <a:lnTo>
                    <a:pt x="2514600" y="289560"/>
                  </a:lnTo>
                  <a:lnTo>
                    <a:pt x="2369820" y="579120"/>
                  </a:lnTo>
                  <a:lnTo>
                    <a:pt x="144779" y="579120"/>
                  </a:lnTo>
                  <a:lnTo>
                    <a:pt x="0" y="289560"/>
                  </a:lnTo>
                  <a:close/>
                </a:path>
              </a:pathLst>
            </a:custGeom>
            <a:ln w="19812">
              <a:solidFill>
                <a:srgbClr val="00C3FF"/>
              </a:solidFill>
            </a:ln>
          </p:spPr>
          <p:txBody>
            <a:bodyPr wrap="square" lIns="0" tIns="0" rIns="0" bIns="0" rtlCol="0"/>
            <a:lstStyle/>
            <a:p>
              <a:endParaRPr sz="2400"/>
            </a:p>
          </p:txBody>
        </p:sp>
      </p:grpSp>
      <p:sp>
        <p:nvSpPr>
          <p:cNvPr id="7" name="object 7"/>
          <p:cNvSpPr txBox="1"/>
          <p:nvPr/>
        </p:nvSpPr>
        <p:spPr>
          <a:xfrm>
            <a:off x="1437978" y="1847190"/>
            <a:ext cx="1703493" cy="428387"/>
          </a:xfrm>
          <a:prstGeom prst="rect">
            <a:avLst/>
          </a:prstGeom>
        </p:spPr>
        <p:txBody>
          <a:bodyPr vert="horz" wrap="square" lIns="0" tIns="17780" rIns="0" bIns="0" rtlCol="0">
            <a:spAutoFit/>
          </a:bodyPr>
          <a:lstStyle/>
          <a:p>
            <a:pPr marL="16933">
              <a:spcBef>
                <a:spcPts val="140"/>
              </a:spcBef>
            </a:pPr>
            <a:r>
              <a:rPr sz="2667" b="1" dirty="0">
                <a:solidFill>
                  <a:srgbClr val="CCEAFF"/>
                </a:solidFill>
                <a:latin typeface="Calibri"/>
                <a:cs typeface="Calibri"/>
              </a:rPr>
              <a:t>Source</a:t>
            </a:r>
            <a:r>
              <a:rPr sz="2667" b="1" spc="-53" dirty="0">
                <a:solidFill>
                  <a:srgbClr val="CCEAFF"/>
                </a:solidFill>
                <a:latin typeface="Calibri"/>
                <a:cs typeface="Calibri"/>
              </a:rPr>
              <a:t> </a:t>
            </a:r>
            <a:r>
              <a:rPr sz="2667" b="1" spc="-27" dirty="0">
                <a:solidFill>
                  <a:srgbClr val="CCEAFF"/>
                </a:solidFill>
                <a:latin typeface="Calibri"/>
                <a:cs typeface="Calibri"/>
              </a:rPr>
              <a:t>data</a:t>
            </a:r>
            <a:endParaRPr sz="2667">
              <a:latin typeface="Calibri"/>
              <a:cs typeface="Calibri"/>
            </a:endParaRPr>
          </a:p>
        </p:txBody>
      </p:sp>
      <p:pic>
        <p:nvPicPr>
          <p:cNvPr id="8" name="object 8"/>
          <p:cNvPicPr/>
          <p:nvPr/>
        </p:nvPicPr>
        <p:blipFill>
          <a:blip r:embed="rId3" cstate="print"/>
          <a:stretch>
            <a:fillRect/>
          </a:stretch>
        </p:blipFill>
        <p:spPr>
          <a:xfrm>
            <a:off x="3860799" y="2563006"/>
            <a:ext cx="2939627" cy="1659490"/>
          </a:xfrm>
          <a:prstGeom prst="rect">
            <a:avLst/>
          </a:prstGeom>
        </p:spPr>
      </p:pic>
      <p:pic>
        <p:nvPicPr>
          <p:cNvPr id="9" name="object 9"/>
          <p:cNvPicPr/>
          <p:nvPr/>
        </p:nvPicPr>
        <p:blipFill>
          <a:blip r:embed="rId4" cstate="print"/>
          <a:stretch>
            <a:fillRect/>
          </a:stretch>
        </p:blipFill>
        <p:spPr>
          <a:xfrm>
            <a:off x="7315199" y="2563007"/>
            <a:ext cx="4035287" cy="1381106"/>
          </a:xfrm>
          <a:prstGeom prst="rect">
            <a:avLst/>
          </a:prstGeom>
        </p:spPr>
      </p:pic>
      <p:grpSp>
        <p:nvGrpSpPr>
          <p:cNvPr id="10" name="object 10"/>
          <p:cNvGrpSpPr/>
          <p:nvPr/>
        </p:nvGrpSpPr>
        <p:grpSpPr>
          <a:xfrm>
            <a:off x="2206487" y="4226561"/>
            <a:ext cx="9408934" cy="1408808"/>
            <a:chOff x="1828800" y="3169920"/>
            <a:chExt cx="6882765" cy="788035"/>
          </a:xfrm>
        </p:grpSpPr>
        <p:pic>
          <p:nvPicPr>
            <p:cNvPr id="11" name="object 11"/>
            <p:cNvPicPr/>
            <p:nvPr/>
          </p:nvPicPr>
          <p:blipFill>
            <a:blip r:embed="rId5" cstate="print"/>
            <a:stretch>
              <a:fillRect/>
            </a:stretch>
          </p:blipFill>
          <p:spPr>
            <a:xfrm>
              <a:off x="1828800" y="3336036"/>
              <a:ext cx="6868668" cy="467867"/>
            </a:xfrm>
            <a:prstGeom prst="rect">
              <a:avLst/>
            </a:prstGeom>
          </p:spPr>
        </p:pic>
        <p:sp>
          <p:nvSpPr>
            <p:cNvPr id="12" name="object 12"/>
            <p:cNvSpPr/>
            <p:nvPr/>
          </p:nvSpPr>
          <p:spPr>
            <a:xfrm>
              <a:off x="6144005" y="3182874"/>
              <a:ext cx="2554605" cy="762000"/>
            </a:xfrm>
            <a:custGeom>
              <a:avLst/>
              <a:gdLst/>
              <a:ahLst/>
              <a:cxnLst/>
              <a:rect l="l" t="t" r="r" b="b"/>
              <a:pathLst>
                <a:path w="2554604" h="762000">
                  <a:moveTo>
                    <a:pt x="0" y="762000"/>
                  </a:moveTo>
                  <a:lnTo>
                    <a:pt x="2554224" y="762000"/>
                  </a:lnTo>
                  <a:lnTo>
                    <a:pt x="2554224" y="0"/>
                  </a:lnTo>
                  <a:lnTo>
                    <a:pt x="0" y="0"/>
                  </a:lnTo>
                  <a:lnTo>
                    <a:pt x="0" y="762000"/>
                  </a:lnTo>
                  <a:close/>
                </a:path>
              </a:pathLst>
            </a:custGeom>
            <a:ln w="25908">
              <a:solidFill>
                <a:srgbClr val="008FBB"/>
              </a:solidFill>
            </a:ln>
          </p:spPr>
          <p:txBody>
            <a:bodyPr wrap="square" lIns="0" tIns="0" rIns="0" bIns="0" rtlCol="0"/>
            <a:lstStyle/>
            <a:p>
              <a:endParaRPr sz="2400"/>
            </a:p>
          </p:txBody>
        </p:sp>
      </p:grpSp>
      <p:sp>
        <p:nvSpPr>
          <p:cNvPr id="13" name="object 13"/>
          <p:cNvSpPr txBox="1"/>
          <p:nvPr/>
        </p:nvSpPr>
        <p:spPr>
          <a:xfrm>
            <a:off x="3966634" y="5397127"/>
            <a:ext cx="5502487"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Snowflaked</a:t>
            </a:r>
            <a:r>
              <a:rPr sz="2400" b="1" spc="-53" dirty="0">
                <a:solidFill>
                  <a:srgbClr val="D9D9D9"/>
                </a:solidFill>
                <a:latin typeface="Calibri"/>
                <a:cs typeface="Calibri"/>
              </a:rPr>
              <a:t> </a:t>
            </a:r>
            <a:r>
              <a:rPr sz="2400" b="1" dirty="0">
                <a:solidFill>
                  <a:srgbClr val="D9D9D9"/>
                </a:solidFill>
                <a:latin typeface="Calibri"/>
                <a:cs typeface="Calibri"/>
              </a:rPr>
              <a:t>schema</a:t>
            </a:r>
            <a:r>
              <a:rPr sz="2400" b="1" spc="-33" dirty="0">
                <a:solidFill>
                  <a:srgbClr val="D9D9D9"/>
                </a:solidFill>
                <a:latin typeface="Calibri"/>
                <a:cs typeface="Calibri"/>
              </a:rPr>
              <a:t> </a:t>
            </a:r>
            <a:r>
              <a:rPr sz="2400" b="1" dirty="0">
                <a:solidFill>
                  <a:srgbClr val="D9D9D9"/>
                </a:solidFill>
                <a:latin typeface="Calibri"/>
                <a:cs typeface="Calibri"/>
              </a:rPr>
              <a:t>(should</a:t>
            </a:r>
            <a:r>
              <a:rPr sz="2400" b="1" spc="-7" dirty="0">
                <a:solidFill>
                  <a:srgbClr val="D9D9D9"/>
                </a:solidFill>
                <a:latin typeface="Calibri"/>
                <a:cs typeface="Calibri"/>
              </a:rPr>
              <a:t> </a:t>
            </a:r>
            <a:r>
              <a:rPr sz="2400" b="1" dirty="0">
                <a:solidFill>
                  <a:srgbClr val="D9D9D9"/>
                </a:solidFill>
                <a:latin typeface="Calibri"/>
                <a:cs typeface="Calibri"/>
              </a:rPr>
              <a:t>be</a:t>
            </a:r>
            <a:r>
              <a:rPr sz="2400" b="1" spc="-60" dirty="0">
                <a:solidFill>
                  <a:srgbClr val="D9D9D9"/>
                </a:solidFill>
                <a:latin typeface="Calibri"/>
                <a:cs typeface="Calibri"/>
              </a:rPr>
              <a:t> </a:t>
            </a:r>
            <a:r>
              <a:rPr sz="2400" b="1" spc="-13" dirty="0">
                <a:solidFill>
                  <a:srgbClr val="D9D9D9"/>
                </a:solidFill>
                <a:latin typeface="Calibri"/>
                <a:cs typeface="Calibri"/>
              </a:rPr>
              <a:t>avoided)</a:t>
            </a:r>
            <a:endParaRPr sz="2400">
              <a:latin typeface="Calibri"/>
              <a:cs typeface="Calibri"/>
            </a:endParaRPr>
          </a:p>
        </p:txBody>
      </p:sp>
      <p:sp>
        <p:nvSpPr>
          <p:cNvPr id="14" name="object 14"/>
          <p:cNvSpPr txBox="1"/>
          <p:nvPr/>
        </p:nvSpPr>
        <p:spPr>
          <a:xfrm>
            <a:off x="4169834" y="1851320"/>
            <a:ext cx="2630593"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Often</a:t>
            </a:r>
            <a:r>
              <a:rPr sz="2400" b="1" spc="-53" dirty="0">
                <a:solidFill>
                  <a:srgbClr val="D9D9D9"/>
                </a:solidFill>
                <a:latin typeface="Calibri"/>
                <a:cs typeface="Calibri"/>
              </a:rPr>
              <a:t> </a:t>
            </a:r>
            <a:r>
              <a:rPr sz="2400" b="1" spc="-13" dirty="0">
                <a:solidFill>
                  <a:srgbClr val="D9D9D9"/>
                </a:solidFill>
                <a:latin typeface="Calibri"/>
                <a:cs typeface="Calibri"/>
              </a:rPr>
              <a:t>normalized</a:t>
            </a:r>
            <a:endParaRPr sz="2400">
              <a:latin typeface="Calibri"/>
              <a:cs typeface="Calibri"/>
            </a:endParaRP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47975" y="233572"/>
            <a:ext cx="8053493" cy="695062"/>
          </a:xfrm>
          <a:prstGeom prst="rect">
            <a:avLst/>
          </a:prstGeom>
        </p:spPr>
        <p:txBody>
          <a:bodyPr vert="horz" wrap="square" lIns="0" tIns="17780" rIns="0" bIns="0" rtlCol="0" anchor="ctr">
            <a:spAutoFit/>
          </a:bodyPr>
          <a:lstStyle/>
          <a:p>
            <a:pPr marL="872045">
              <a:lnSpc>
                <a:spcPct val="100000"/>
              </a:lnSpc>
              <a:spcBef>
                <a:spcPts val="140"/>
              </a:spcBef>
            </a:pPr>
            <a:r>
              <a:rPr dirty="0">
                <a:solidFill>
                  <a:schemeClr val="bg1"/>
                </a:solidFill>
                <a:latin typeface="+mn-lt"/>
              </a:rPr>
              <a:t>Hierarchies</a:t>
            </a:r>
            <a:r>
              <a:rPr spc="-67" dirty="0">
                <a:solidFill>
                  <a:schemeClr val="bg1"/>
                </a:solidFill>
                <a:latin typeface="+mn-lt"/>
              </a:rPr>
              <a:t> </a:t>
            </a:r>
            <a:r>
              <a:rPr dirty="0">
                <a:solidFill>
                  <a:schemeClr val="bg1"/>
                </a:solidFill>
                <a:latin typeface="+mn-lt"/>
              </a:rPr>
              <a:t>in</a:t>
            </a:r>
            <a:r>
              <a:rPr spc="-40" dirty="0">
                <a:solidFill>
                  <a:schemeClr val="bg1"/>
                </a:solidFill>
                <a:latin typeface="+mn-lt"/>
              </a:rPr>
              <a:t> </a:t>
            </a:r>
            <a:r>
              <a:rPr spc="-13" dirty="0">
                <a:solidFill>
                  <a:schemeClr val="bg1"/>
                </a:solidFill>
                <a:latin typeface="+mn-lt"/>
              </a:rPr>
              <a:t>dimensions</a:t>
            </a:r>
          </a:p>
        </p:txBody>
      </p:sp>
      <p:sp>
        <p:nvSpPr>
          <p:cNvPr id="3" name="object 3"/>
          <p:cNvSpPr txBox="1"/>
          <p:nvPr/>
        </p:nvSpPr>
        <p:spPr>
          <a:xfrm>
            <a:off x="4169834" y="1851320"/>
            <a:ext cx="2630593"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Often</a:t>
            </a:r>
            <a:r>
              <a:rPr sz="2400" b="1" spc="-53" dirty="0">
                <a:solidFill>
                  <a:srgbClr val="D9D9D9"/>
                </a:solidFill>
                <a:latin typeface="Calibri"/>
                <a:cs typeface="Calibri"/>
              </a:rPr>
              <a:t> </a:t>
            </a:r>
            <a:r>
              <a:rPr sz="2400" b="1" spc="-13" dirty="0">
                <a:solidFill>
                  <a:srgbClr val="D9D9D9"/>
                </a:solidFill>
                <a:latin typeface="Calibri"/>
                <a:cs typeface="Calibri"/>
              </a:rPr>
              <a:t>normalized</a:t>
            </a:r>
            <a:endParaRPr sz="2400">
              <a:latin typeface="Calibri"/>
              <a:cs typeface="Calibri"/>
            </a:endParaRPr>
          </a:p>
        </p:txBody>
      </p:sp>
      <p:pic>
        <p:nvPicPr>
          <p:cNvPr id="4" name="object 4"/>
          <p:cNvPicPr/>
          <p:nvPr/>
        </p:nvPicPr>
        <p:blipFill>
          <a:blip r:embed="rId2" cstate="print"/>
          <a:stretch>
            <a:fillRect/>
          </a:stretch>
        </p:blipFill>
        <p:spPr>
          <a:xfrm>
            <a:off x="7315199" y="2794001"/>
            <a:ext cx="3687417" cy="1459947"/>
          </a:xfrm>
          <a:prstGeom prst="rect">
            <a:avLst/>
          </a:prstGeom>
        </p:spPr>
      </p:pic>
      <p:grpSp>
        <p:nvGrpSpPr>
          <p:cNvPr id="5" name="object 5"/>
          <p:cNvGrpSpPr/>
          <p:nvPr/>
        </p:nvGrpSpPr>
        <p:grpSpPr>
          <a:xfrm>
            <a:off x="174751" y="1497516"/>
            <a:ext cx="6514284" cy="2865762"/>
            <a:chOff x="131063" y="1123137"/>
            <a:chExt cx="4759452" cy="2043734"/>
          </a:xfrm>
        </p:grpSpPr>
        <p:pic>
          <p:nvPicPr>
            <p:cNvPr id="6" name="object 6"/>
            <p:cNvPicPr/>
            <p:nvPr/>
          </p:nvPicPr>
          <p:blipFill>
            <a:blip r:embed="rId3" cstate="print"/>
            <a:stretch>
              <a:fillRect/>
            </a:stretch>
          </p:blipFill>
          <p:spPr>
            <a:xfrm>
              <a:off x="2895599" y="1979675"/>
              <a:ext cx="1994916" cy="1187196"/>
            </a:xfrm>
            <a:prstGeom prst="rect">
              <a:avLst/>
            </a:prstGeom>
          </p:spPr>
        </p:pic>
        <p:pic>
          <p:nvPicPr>
            <p:cNvPr id="7" name="object 7"/>
            <p:cNvPicPr/>
            <p:nvPr/>
          </p:nvPicPr>
          <p:blipFill>
            <a:blip r:embed="rId4" cstate="print"/>
            <a:stretch>
              <a:fillRect/>
            </a:stretch>
          </p:blipFill>
          <p:spPr>
            <a:xfrm>
              <a:off x="131063" y="1123137"/>
              <a:ext cx="3147822" cy="1210868"/>
            </a:xfrm>
            <a:prstGeom prst="rect">
              <a:avLst/>
            </a:prstGeom>
          </p:spPr>
        </p:pic>
        <p:sp>
          <p:nvSpPr>
            <p:cNvPr id="9" name="object 9"/>
            <p:cNvSpPr/>
            <p:nvPr/>
          </p:nvSpPr>
          <p:spPr>
            <a:xfrm>
              <a:off x="457961" y="1277873"/>
              <a:ext cx="2514600" cy="579120"/>
            </a:xfrm>
            <a:custGeom>
              <a:avLst/>
              <a:gdLst/>
              <a:ahLst/>
              <a:cxnLst/>
              <a:rect l="l" t="t" r="r" b="b"/>
              <a:pathLst>
                <a:path w="2514600" h="579119">
                  <a:moveTo>
                    <a:pt x="0" y="289560"/>
                  </a:moveTo>
                  <a:lnTo>
                    <a:pt x="144779" y="0"/>
                  </a:lnTo>
                  <a:lnTo>
                    <a:pt x="2369820" y="0"/>
                  </a:lnTo>
                  <a:lnTo>
                    <a:pt x="2514600" y="289560"/>
                  </a:lnTo>
                  <a:lnTo>
                    <a:pt x="2369820" y="579120"/>
                  </a:lnTo>
                  <a:lnTo>
                    <a:pt x="144779" y="579120"/>
                  </a:lnTo>
                  <a:lnTo>
                    <a:pt x="0" y="289560"/>
                  </a:lnTo>
                  <a:close/>
                </a:path>
              </a:pathLst>
            </a:custGeom>
            <a:ln w="19812">
              <a:solidFill>
                <a:srgbClr val="00C3FF"/>
              </a:solidFill>
            </a:ln>
          </p:spPr>
          <p:txBody>
            <a:bodyPr wrap="square" lIns="0" tIns="0" rIns="0" bIns="0" rtlCol="0"/>
            <a:lstStyle/>
            <a:p>
              <a:endParaRPr sz="2400"/>
            </a:p>
          </p:txBody>
        </p:sp>
      </p:grpSp>
      <p:sp>
        <p:nvSpPr>
          <p:cNvPr id="10" name="object 10"/>
          <p:cNvSpPr txBox="1"/>
          <p:nvPr/>
        </p:nvSpPr>
        <p:spPr>
          <a:xfrm>
            <a:off x="3502490" y="4601803"/>
            <a:ext cx="6752167" cy="1702175"/>
          </a:xfrm>
          <a:prstGeom prst="rect">
            <a:avLst/>
          </a:prstGeom>
        </p:spPr>
        <p:txBody>
          <a:bodyPr vert="horz" wrap="square" lIns="0" tIns="16933" rIns="0" bIns="0" rtlCol="0">
            <a:spAutoFit/>
          </a:bodyPr>
          <a:lstStyle/>
          <a:p>
            <a:pPr marL="73657">
              <a:spcBef>
                <a:spcPts val="133"/>
              </a:spcBef>
            </a:pPr>
            <a:r>
              <a:rPr sz="2400" b="1" dirty="0">
                <a:solidFill>
                  <a:srgbClr val="D9D9D9"/>
                </a:solidFill>
                <a:latin typeface="Calibri"/>
                <a:cs typeface="Calibri"/>
              </a:rPr>
              <a:t>Some</a:t>
            </a:r>
            <a:r>
              <a:rPr sz="2400" b="1" spc="-20" dirty="0">
                <a:solidFill>
                  <a:srgbClr val="D9D9D9"/>
                </a:solidFill>
                <a:latin typeface="Calibri"/>
                <a:cs typeface="Calibri"/>
              </a:rPr>
              <a:t> </a:t>
            </a:r>
            <a:r>
              <a:rPr sz="2400" b="1" dirty="0">
                <a:solidFill>
                  <a:srgbClr val="D9D9D9"/>
                </a:solidFill>
                <a:latin typeface="Calibri"/>
                <a:cs typeface="Calibri"/>
              </a:rPr>
              <a:t>professionals have</a:t>
            </a:r>
            <a:r>
              <a:rPr sz="2400" b="1" spc="-53" dirty="0">
                <a:solidFill>
                  <a:srgbClr val="D9D9D9"/>
                </a:solidFill>
                <a:latin typeface="Calibri"/>
                <a:cs typeface="Calibri"/>
              </a:rPr>
              <a:t> </a:t>
            </a:r>
            <a:r>
              <a:rPr sz="2400" b="1" dirty="0">
                <a:solidFill>
                  <a:srgbClr val="D9D9D9"/>
                </a:solidFill>
                <a:latin typeface="Calibri"/>
                <a:cs typeface="Calibri"/>
              </a:rPr>
              <a:t>the</a:t>
            </a:r>
            <a:r>
              <a:rPr sz="2400" b="1" spc="-7" dirty="0">
                <a:solidFill>
                  <a:srgbClr val="D9D9D9"/>
                </a:solidFill>
                <a:latin typeface="Calibri"/>
                <a:cs typeface="Calibri"/>
              </a:rPr>
              <a:t> </a:t>
            </a:r>
            <a:r>
              <a:rPr sz="2400" b="1" dirty="0">
                <a:solidFill>
                  <a:srgbClr val="D9D9D9"/>
                </a:solidFill>
                <a:latin typeface="Calibri"/>
                <a:cs typeface="Calibri"/>
              </a:rPr>
              <a:t>habit</a:t>
            </a:r>
            <a:r>
              <a:rPr sz="2400" b="1" spc="-27" dirty="0">
                <a:solidFill>
                  <a:srgbClr val="D9D9D9"/>
                </a:solidFill>
                <a:latin typeface="Calibri"/>
                <a:cs typeface="Calibri"/>
              </a:rPr>
              <a:t> </a:t>
            </a:r>
            <a:r>
              <a:rPr sz="2400" b="1" dirty="0">
                <a:solidFill>
                  <a:srgbClr val="D9D9D9"/>
                </a:solidFill>
                <a:latin typeface="Calibri"/>
                <a:cs typeface="Calibri"/>
              </a:rPr>
              <a:t>to</a:t>
            </a:r>
            <a:r>
              <a:rPr sz="2400" b="1" spc="7" dirty="0">
                <a:solidFill>
                  <a:srgbClr val="D9D9D9"/>
                </a:solidFill>
                <a:latin typeface="Calibri"/>
                <a:cs typeface="Calibri"/>
              </a:rPr>
              <a:t> </a:t>
            </a:r>
            <a:r>
              <a:rPr sz="2400" b="1" dirty="0">
                <a:solidFill>
                  <a:srgbClr val="D9D9D9"/>
                </a:solidFill>
                <a:latin typeface="Calibri"/>
                <a:cs typeface="Calibri"/>
              </a:rPr>
              <a:t>normalize</a:t>
            </a:r>
            <a:r>
              <a:rPr sz="2400" b="1" spc="-7" dirty="0">
                <a:solidFill>
                  <a:srgbClr val="D9D9D9"/>
                </a:solidFill>
                <a:latin typeface="Calibri"/>
                <a:cs typeface="Calibri"/>
              </a:rPr>
              <a:t> </a:t>
            </a:r>
            <a:r>
              <a:rPr sz="2400" b="1" spc="-27" dirty="0">
                <a:solidFill>
                  <a:srgbClr val="D9D9D9"/>
                </a:solidFill>
                <a:latin typeface="Calibri"/>
                <a:cs typeface="Calibri"/>
              </a:rPr>
              <a:t>data</a:t>
            </a:r>
            <a:endParaRPr sz="2400">
              <a:latin typeface="Calibri"/>
              <a:cs typeface="Calibri"/>
            </a:endParaRPr>
          </a:p>
          <a:p>
            <a:pPr marL="16933">
              <a:spcBef>
                <a:spcPts val="2500"/>
              </a:spcBef>
            </a:pPr>
            <a:r>
              <a:rPr sz="2400" dirty="0">
                <a:solidFill>
                  <a:srgbClr val="D9D9D9"/>
                </a:solidFill>
                <a:latin typeface="Cambria Math"/>
                <a:cs typeface="Cambria Math"/>
              </a:rPr>
              <a:t>⇒</a:t>
            </a:r>
            <a:r>
              <a:rPr sz="2400" spc="-40" dirty="0">
                <a:solidFill>
                  <a:srgbClr val="D9D9D9"/>
                </a:solidFill>
                <a:latin typeface="Cambria Math"/>
                <a:cs typeface="Cambria Math"/>
              </a:rPr>
              <a:t> </a:t>
            </a:r>
            <a:r>
              <a:rPr sz="2400" b="1" dirty="0">
                <a:solidFill>
                  <a:srgbClr val="D9D9D9"/>
                </a:solidFill>
                <a:latin typeface="Calibri"/>
                <a:cs typeface="Calibri"/>
              </a:rPr>
              <a:t>Bad</a:t>
            </a:r>
            <a:r>
              <a:rPr sz="2400" b="1" spc="-7" dirty="0">
                <a:solidFill>
                  <a:srgbClr val="D9D9D9"/>
                </a:solidFill>
                <a:latin typeface="Calibri"/>
                <a:cs typeface="Calibri"/>
              </a:rPr>
              <a:t> </a:t>
            </a:r>
            <a:r>
              <a:rPr sz="2400" b="1" dirty="0">
                <a:solidFill>
                  <a:srgbClr val="D9D9D9"/>
                </a:solidFill>
                <a:latin typeface="Calibri"/>
                <a:cs typeface="Calibri"/>
              </a:rPr>
              <a:t>for usability</a:t>
            </a:r>
            <a:r>
              <a:rPr sz="2400" b="1" spc="-60" dirty="0">
                <a:solidFill>
                  <a:srgbClr val="D9D9D9"/>
                </a:solidFill>
                <a:latin typeface="Calibri"/>
                <a:cs typeface="Calibri"/>
              </a:rPr>
              <a:t> </a:t>
            </a:r>
            <a:r>
              <a:rPr sz="2400" b="1" dirty="0">
                <a:solidFill>
                  <a:srgbClr val="D9D9D9"/>
                </a:solidFill>
                <a:latin typeface="Calibri"/>
                <a:cs typeface="Calibri"/>
              </a:rPr>
              <a:t>&amp;</a:t>
            </a:r>
            <a:r>
              <a:rPr sz="2400" b="1" spc="-7" dirty="0">
                <a:solidFill>
                  <a:srgbClr val="D9D9D9"/>
                </a:solidFill>
                <a:latin typeface="Calibri"/>
                <a:cs typeface="Calibri"/>
              </a:rPr>
              <a:t> </a:t>
            </a:r>
            <a:r>
              <a:rPr sz="2400" b="1" spc="-13" dirty="0">
                <a:solidFill>
                  <a:srgbClr val="D9D9D9"/>
                </a:solidFill>
                <a:latin typeface="Calibri"/>
                <a:cs typeface="Calibri"/>
              </a:rPr>
              <a:t>performance!</a:t>
            </a:r>
            <a:endParaRPr sz="2400">
              <a:latin typeface="Calibri"/>
              <a:cs typeface="Calibri"/>
            </a:endParaRPr>
          </a:p>
          <a:p>
            <a:pPr marL="18626">
              <a:spcBef>
                <a:spcPts val="2007"/>
              </a:spcBef>
            </a:pPr>
            <a:r>
              <a:rPr sz="2400" dirty="0">
                <a:solidFill>
                  <a:srgbClr val="D9D9D9"/>
                </a:solidFill>
                <a:latin typeface="Cambria Math"/>
                <a:cs typeface="Cambria Math"/>
              </a:rPr>
              <a:t>⇒</a:t>
            </a:r>
            <a:r>
              <a:rPr sz="2400" spc="-40" dirty="0">
                <a:solidFill>
                  <a:srgbClr val="D9D9D9"/>
                </a:solidFill>
                <a:latin typeface="Cambria Math"/>
                <a:cs typeface="Cambria Math"/>
              </a:rPr>
              <a:t> </a:t>
            </a:r>
            <a:r>
              <a:rPr sz="2400" b="1" dirty="0">
                <a:solidFill>
                  <a:srgbClr val="D9D9D9"/>
                </a:solidFill>
                <a:latin typeface="Calibri"/>
                <a:cs typeface="Calibri"/>
              </a:rPr>
              <a:t>We should</a:t>
            </a:r>
            <a:r>
              <a:rPr sz="2400" b="1" spc="-60" dirty="0">
                <a:solidFill>
                  <a:srgbClr val="D9D9D9"/>
                </a:solidFill>
                <a:latin typeface="Calibri"/>
                <a:cs typeface="Calibri"/>
              </a:rPr>
              <a:t> </a:t>
            </a:r>
            <a:r>
              <a:rPr sz="2400" b="1" dirty="0">
                <a:solidFill>
                  <a:srgbClr val="D9D9D9"/>
                </a:solidFill>
                <a:latin typeface="Calibri"/>
                <a:cs typeface="Calibri"/>
              </a:rPr>
              <a:t>not</a:t>
            </a:r>
            <a:r>
              <a:rPr sz="2400" b="1" spc="-13" dirty="0">
                <a:solidFill>
                  <a:srgbClr val="D9D9D9"/>
                </a:solidFill>
                <a:latin typeface="Calibri"/>
                <a:cs typeface="Calibri"/>
              </a:rPr>
              <a:t> </a:t>
            </a:r>
            <a:r>
              <a:rPr sz="2400" b="1" dirty="0">
                <a:solidFill>
                  <a:srgbClr val="D9D9D9"/>
                </a:solidFill>
                <a:latin typeface="Calibri"/>
                <a:cs typeface="Calibri"/>
              </a:rPr>
              <a:t>do</a:t>
            </a:r>
            <a:r>
              <a:rPr sz="2400" b="1" spc="-20" dirty="0">
                <a:solidFill>
                  <a:srgbClr val="D9D9D9"/>
                </a:solidFill>
                <a:latin typeface="Calibri"/>
                <a:cs typeface="Calibri"/>
              </a:rPr>
              <a:t> </a:t>
            </a:r>
            <a:r>
              <a:rPr sz="2400" b="1" spc="-13" dirty="0">
                <a:solidFill>
                  <a:srgbClr val="D9D9D9"/>
                </a:solidFill>
                <a:latin typeface="Calibri"/>
                <a:cs typeface="Calibri"/>
              </a:rPr>
              <a:t>that!</a:t>
            </a:r>
            <a:endParaRPr sz="2400">
              <a:latin typeface="Calibri"/>
              <a:cs typeface="Calibri"/>
            </a:endParaRPr>
          </a:p>
        </p:txBody>
      </p:sp>
      <p:sp>
        <p:nvSpPr>
          <p:cNvPr id="11" name="object 11"/>
          <p:cNvSpPr txBox="1"/>
          <p:nvPr/>
        </p:nvSpPr>
        <p:spPr>
          <a:xfrm>
            <a:off x="1437978" y="1847190"/>
            <a:ext cx="1703493" cy="428387"/>
          </a:xfrm>
          <a:prstGeom prst="rect">
            <a:avLst/>
          </a:prstGeom>
        </p:spPr>
        <p:txBody>
          <a:bodyPr vert="horz" wrap="square" lIns="0" tIns="17780" rIns="0" bIns="0" rtlCol="0">
            <a:spAutoFit/>
          </a:bodyPr>
          <a:lstStyle/>
          <a:p>
            <a:pPr marL="16933">
              <a:spcBef>
                <a:spcPts val="140"/>
              </a:spcBef>
            </a:pPr>
            <a:r>
              <a:rPr sz="2667" b="1" dirty="0">
                <a:solidFill>
                  <a:srgbClr val="CCEAFF"/>
                </a:solidFill>
                <a:latin typeface="Calibri"/>
                <a:cs typeface="Calibri"/>
              </a:rPr>
              <a:t>Source</a:t>
            </a:r>
            <a:r>
              <a:rPr sz="2667" b="1" spc="-53" dirty="0">
                <a:solidFill>
                  <a:srgbClr val="CCEAFF"/>
                </a:solidFill>
                <a:latin typeface="Calibri"/>
                <a:cs typeface="Calibri"/>
              </a:rPr>
              <a:t> </a:t>
            </a:r>
            <a:r>
              <a:rPr sz="2667" b="1" spc="-27" dirty="0">
                <a:solidFill>
                  <a:srgbClr val="CCEAFF"/>
                </a:solidFill>
                <a:latin typeface="Calibri"/>
                <a:cs typeface="Calibri"/>
              </a:rPr>
              <a:t>data</a:t>
            </a:r>
            <a:endParaRPr sz="2667">
              <a:latin typeface="Calibri"/>
              <a:cs typeface="Calibri"/>
            </a:endParaRPr>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41600" y="363552"/>
            <a:ext cx="8509000" cy="695062"/>
          </a:xfrm>
          <a:prstGeom prst="rect">
            <a:avLst/>
          </a:prstGeom>
        </p:spPr>
        <p:txBody>
          <a:bodyPr vert="horz" wrap="square" lIns="0" tIns="17780" rIns="0" bIns="0" rtlCol="0" anchor="ctr">
            <a:spAutoFit/>
          </a:bodyPr>
          <a:lstStyle/>
          <a:p>
            <a:pPr marL="872045">
              <a:lnSpc>
                <a:spcPct val="100000"/>
              </a:lnSpc>
              <a:spcBef>
                <a:spcPts val="140"/>
              </a:spcBef>
            </a:pPr>
            <a:r>
              <a:rPr dirty="0">
                <a:solidFill>
                  <a:schemeClr val="bg1"/>
                </a:solidFill>
                <a:latin typeface="+mn-lt"/>
              </a:rPr>
              <a:t>Hierarchies</a:t>
            </a:r>
            <a:r>
              <a:rPr spc="-67" dirty="0">
                <a:solidFill>
                  <a:schemeClr val="bg1"/>
                </a:solidFill>
                <a:latin typeface="+mn-lt"/>
              </a:rPr>
              <a:t> </a:t>
            </a:r>
            <a:r>
              <a:rPr dirty="0">
                <a:solidFill>
                  <a:schemeClr val="bg1"/>
                </a:solidFill>
                <a:latin typeface="+mn-lt"/>
              </a:rPr>
              <a:t>in</a:t>
            </a:r>
            <a:r>
              <a:rPr spc="-40" dirty="0">
                <a:solidFill>
                  <a:schemeClr val="bg1"/>
                </a:solidFill>
                <a:latin typeface="+mn-lt"/>
              </a:rPr>
              <a:t> </a:t>
            </a:r>
            <a:r>
              <a:rPr spc="-13" dirty="0">
                <a:solidFill>
                  <a:schemeClr val="bg1"/>
                </a:solidFill>
                <a:latin typeface="+mn-lt"/>
              </a:rPr>
              <a:t>dimensions</a:t>
            </a:r>
          </a:p>
        </p:txBody>
      </p:sp>
      <p:sp>
        <p:nvSpPr>
          <p:cNvPr id="3" name="object 3"/>
          <p:cNvSpPr txBox="1"/>
          <p:nvPr/>
        </p:nvSpPr>
        <p:spPr>
          <a:xfrm>
            <a:off x="4169834" y="1851320"/>
            <a:ext cx="3453553"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Denormalize</a:t>
            </a:r>
            <a:r>
              <a:rPr sz="2400" b="1" spc="-40" dirty="0">
                <a:solidFill>
                  <a:srgbClr val="D9D9D9"/>
                </a:solidFill>
                <a:latin typeface="Calibri"/>
                <a:cs typeface="Calibri"/>
              </a:rPr>
              <a:t> </a:t>
            </a:r>
            <a:r>
              <a:rPr sz="2400" b="1" dirty="0">
                <a:solidFill>
                  <a:srgbClr val="D9D9D9"/>
                </a:solidFill>
                <a:latin typeface="Calibri"/>
                <a:cs typeface="Calibri"/>
              </a:rPr>
              <a:t>/</a:t>
            </a:r>
            <a:r>
              <a:rPr sz="2400" b="1" spc="-53" dirty="0">
                <a:solidFill>
                  <a:srgbClr val="D9D9D9"/>
                </a:solidFill>
                <a:latin typeface="Calibri"/>
                <a:cs typeface="Calibri"/>
              </a:rPr>
              <a:t> </a:t>
            </a:r>
            <a:r>
              <a:rPr sz="2400" b="1" spc="-13" dirty="0">
                <a:solidFill>
                  <a:srgbClr val="D9D9D9"/>
                </a:solidFill>
                <a:latin typeface="Calibri"/>
                <a:cs typeface="Calibri"/>
              </a:rPr>
              <a:t>flattened</a:t>
            </a:r>
            <a:endParaRPr sz="2400">
              <a:latin typeface="Calibri"/>
              <a:cs typeface="Calibri"/>
            </a:endParaRPr>
          </a:p>
        </p:txBody>
      </p:sp>
      <p:grpSp>
        <p:nvGrpSpPr>
          <p:cNvPr id="4" name="object 4"/>
          <p:cNvGrpSpPr/>
          <p:nvPr/>
        </p:nvGrpSpPr>
        <p:grpSpPr>
          <a:xfrm>
            <a:off x="174751" y="1497517"/>
            <a:ext cx="4197096" cy="1614490"/>
            <a:chOff x="131063" y="1123137"/>
            <a:chExt cx="3147822" cy="1210868"/>
          </a:xfrm>
        </p:grpSpPr>
        <p:pic>
          <p:nvPicPr>
            <p:cNvPr id="5" name="object 5"/>
            <p:cNvPicPr/>
            <p:nvPr/>
          </p:nvPicPr>
          <p:blipFill>
            <a:blip r:embed="rId2" cstate="print"/>
            <a:stretch>
              <a:fillRect/>
            </a:stretch>
          </p:blipFill>
          <p:spPr>
            <a:xfrm>
              <a:off x="131063" y="1123137"/>
              <a:ext cx="3147822" cy="1210868"/>
            </a:xfrm>
            <a:prstGeom prst="rect">
              <a:avLst/>
            </a:prstGeom>
          </p:spPr>
        </p:pic>
        <p:sp>
          <p:nvSpPr>
            <p:cNvPr id="7" name="object 7"/>
            <p:cNvSpPr/>
            <p:nvPr/>
          </p:nvSpPr>
          <p:spPr>
            <a:xfrm>
              <a:off x="457961" y="1277873"/>
              <a:ext cx="2514600" cy="579120"/>
            </a:xfrm>
            <a:custGeom>
              <a:avLst/>
              <a:gdLst/>
              <a:ahLst/>
              <a:cxnLst/>
              <a:rect l="l" t="t" r="r" b="b"/>
              <a:pathLst>
                <a:path w="2514600" h="579119">
                  <a:moveTo>
                    <a:pt x="0" y="289560"/>
                  </a:moveTo>
                  <a:lnTo>
                    <a:pt x="144779" y="0"/>
                  </a:lnTo>
                  <a:lnTo>
                    <a:pt x="2369820" y="0"/>
                  </a:lnTo>
                  <a:lnTo>
                    <a:pt x="2514600" y="289560"/>
                  </a:lnTo>
                  <a:lnTo>
                    <a:pt x="2369820" y="579120"/>
                  </a:lnTo>
                  <a:lnTo>
                    <a:pt x="144779" y="579120"/>
                  </a:lnTo>
                  <a:lnTo>
                    <a:pt x="0" y="289560"/>
                  </a:lnTo>
                  <a:close/>
                </a:path>
              </a:pathLst>
            </a:custGeom>
            <a:ln w="19812">
              <a:solidFill>
                <a:srgbClr val="00C3FF"/>
              </a:solidFill>
            </a:ln>
          </p:spPr>
          <p:txBody>
            <a:bodyPr wrap="square" lIns="0" tIns="0" rIns="0" bIns="0" rtlCol="0"/>
            <a:lstStyle/>
            <a:p>
              <a:endParaRPr sz="2400"/>
            </a:p>
          </p:txBody>
        </p:sp>
      </p:grpSp>
      <p:sp>
        <p:nvSpPr>
          <p:cNvPr id="8" name="object 8"/>
          <p:cNvSpPr txBox="1"/>
          <p:nvPr/>
        </p:nvSpPr>
        <p:spPr>
          <a:xfrm>
            <a:off x="903563" y="1847190"/>
            <a:ext cx="2771140" cy="428387"/>
          </a:xfrm>
          <a:prstGeom prst="rect">
            <a:avLst/>
          </a:prstGeom>
        </p:spPr>
        <p:txBody>
          <a:bodyPr vert="horz" wrap="square" lIns="0" tIns="17780" rIns="0" bIns="0" rtlCol="0">
            <a:spAutoFit/>
          </a:bodyPr>
          <a:lstStyle/>
          <a:p>
            <a:pPr marL="16933">
              <a:spcBef>
                <a:spcPts val="140"/>
              </a:spcBef>
            </a:pPr>
            <a:r>
              <a:rPr sz="2667" b="1" dirty="0">
                <a:solidFill>
                  <a:srgbClr val="CCEAFF"/>
                </a:solidFill>
                <a:latin typeface="Calibri"/>
                <a:cs typeface="Calibri"/>
              </a:rPr>
              <a:t>What</a:t>
            </a:r>
            <a:r>
              <a:rPr sz="2667" b="1" spc="-27" dirty="0">
                <a:solidFill>
                  <a:srgbClr val="CCEAFF"/>
                </a:solidFill>
                <a:latin typeface="Calibri"/>
                <a:cs typeface="Calibri"/>
              </a:rPr>
              <a:t> </a:t>
            </a:r>
            <a:r>
              <a:rPr sz="2667" b="1" dirty="0">
                <a:solidFill>
                  <a:srgbClr val="CCEAFF"/>
                </a:solidFill>
                <a:latin typeface="Calibri"/>
                <a:cs typeface="Calibri"/>
              </a:rPr>
              <a:t>we</a:t>
            </a:r>
            <a:r>
              <a:rPr sz="2667" b="1" spc="-7" dirty="0">
                <a:solidFill>
                  <a:srgbClr val="CCEAFF"/>
                </a:solidFill>
                <a:latin typeface="Calibri"/>
                <a:cs typeface="Calibri"/>
              </a:rPr>
              <a:t> </a:t>
            </a:r>
            <a:r>
              <a:rPr sz="2667" b="1" dirty="0">
                <a:solidFill>
                  <a:srgbClr val="CCEAFF"/>
                </a:solidFill>
                <a:latin typeface="Calibri"/>
                <a:cs typeface="Calibri"/>
              </a:rPr>
              <a:t>should</a:t>
            </a:r>
            <a:r>
              <a:rPr sz="2667" b="1" spc="-47" dirty="0">
                <a:solidFill>
                  <a:srgbClr val="CCEAFF"/>
                </a:solidFill>
                <a:latin typeface="Calibri"/>
                <a:cs typeface="Calibri"/>
              </a:rPr>
              <a:t> </a:t>
            </a:r>
            <a:r>
              <a:rPr sz="2667" b="1" spc="-33" dirty="0">
                <a:solidFill>
                  <a:srgbClr val="CCEAFF"/>
                </a:solidFill>
                <a:latin typeface="Calibri"/>
                <a:cs typeface="Calibri"/>
              </a:rPr>
              <a:t>do</a:t>
            </a:r>
            <a:endParaRPr sz="2667">
              <a:latin typeface="Calibri"/>
              <a:cs typeface="Calibri"/>
            </a:endParaRPr>
          </a:p>
        </p:txBody>
      </p:sp>
      <p:pic>
        <p:nvPicPr>
          <p:cNvPr id="9" name="object 9"/>
          <p:cNvPicPr/>
          <p:nvPr/>
        </p:nvPicPr>
        <p:blipFill>
          <a:blip r:embed="rId3" cstate="print"/>
          <a:stretch>
            <a:fillRect/>
          </a:stretch>
        </p:blipFill>
        <p:spPr>
          <a:xfrm>
            <a:off x="3860800" y="2639568"/>
            <a:ext cx="2659888" cy="1582928"/>
          </a:xfrm>
          <a:prstGeom prst="rect">
            <a:avLst/>
          </a:prstGeom>
        </p:spPr>
      </p:pic>
      <p:pic>
        <p:nvPicPr>
          <p:cNvPr id="10" name="object 10"/>
          <p:cNvPicPr/>
          <p:nvPr/>
        </p:nvPicPr>
        <p:blipFill>
          <a:blip r:embed="rId4" cstate="print"/>
          <a:stretch>
            <a:fillRect/>
          </a:stretch>
        </p:blipFill>
        <p:spPr>
          <a:xfrm>
            <a:off x="7315200" y="2794001"/>
            <a:ext cx="3403600" cy="1150111"/>
          </a:xfrm>
          <a:prstGeom prst="rect">
            <a:avLst/>
          </a:prstGeom>
        </p:spPr>
      </p:pic>
      <p:pic>
        <p:nvPicPr>
          <p:cNvPr id="11" name="object 11"/>
          <p:cNvPicPr/>
          <p:nvPr/>
        </p:nvPicPr>
        <p:blipFill>
          <a:blip r:embed="rId5" cstate="print"/>
          <a:stretch>
            <a:fillRect/>
          </a:stretch>
        </p:blipFill>
        <p:spPr>
          <a:xfrm>
            <a:off x="4939792" y="4539487"/>
            <a:ext cx="4078224" cy="1778000"/>
          </a:xfrm>
          <a:prstGeom prst="rect">
            <a:avLst/>
          </a:prstGeom>
        </p:spPr>
      </p:pic>
      <p:sp>
        <p:nvSpPr>
          <p:cNvPr id="12" name="object 12"/>
          <p:cNvSpPr txBox="1"/>
          <p:nvPr/>
        </p:nvSpPr>
        <p:spPr>
          <a:xfrm>
            <a:off x="3357033" y="4810286"/>
            <a:ext cx="912707" cy="1371315"/>
          </a:xfrm>
          <a:prstGeom prst="rect">
            <a:avLst/>
          </a:prstGeom>
        </p:spPr>
        <p:txBody>
          <a:bodyPr vert="horz" wrap="square" lIns="0" tIns="16933" rIns="0" bIns="0" rtlCol="0">
            <a:spAutoFit/>
          </a:bodyPr>
          <a:lstStyle/>
          <a:p>
            <a:pPr marL="16933">
              <a:spcBef>
                <a:spcPts val="133"/>
              </a:spcBef>
            </a:pPr>
            <a:r>
              <a:rPr sz="8800" spc="-67" dirty="0">
                <a:solidFill>
                  <a:srgbClr val="99D3FF"/>
                </a:solidFill>
                <a:latin typeface="Wingdings"/>
                <a:cs typeface="Wingdings"/>
              </a:rPr>
              <a:t></a:t>
            </a:r>
            <a:endParaRPr sz="8800">
              <a:latin typeface="Wingdings"/>
              <a:cs typeface="Wingdings"/>
            </a:endParaRPr>
          </a:p>
        </p:txBody>
      </p:sp>
      <p:sp>
        <p:nvSpPr>
          <p:cNvPr id="13" name="object 13"/>
          <p:cNvSpPr txBox="1"/>
          <p:nvPr/>
        </p:nvSpPr>
        <p:spPr>
          <a:xfrm>
            <a:off x="9123849" y="4921639"/>
            <a:ext cx="2346113" cy="344475"/>
          </a:xfrm>
          <a:prstGeom prst="rect">
            <a:avLst/>
          </a:prstGeom>
        </p:spPr>
        <p:txBody>
          <a:bodyPr vert="horz" wrap="square" lIns="0" tIns="16087" rIns="0" bIns="0" rtlCol="0">
            <a:spAutoFit/>
          </a:bodyPr>
          <a:lstStyle/>
          <a:p>
            <a:pPr marL="16933">
              <a:spcBef>
                <a:spcPts val="127"/>
              </a:spcBef>
            </a:pPr>
            <a:r>
              <a:rPr sz="2133" b="1" dirty="0">
                <a:solidFill>
                  <a:srgbClr val="66DBFF"/>
                </a:solidFill>
                <a:latin typeface="Calibri"/>
                <a:cs typeface="Calibri"/>
              </a:rPr>
              <a:t>Flattened</a:t>
            </a:r>
            <a:r>
              <a:rPr sz="2133" b="1" spc="-67" dirty="0">
                <a:solidFill>
                  <a:srgbClr val="66DBFF"/>
                </a:solidFill>
                <a:latin typeface="Calibri"/>
                <a:cs typeface="Calibri"/>
              </a:rPr>
              <a:t> </a:t>
            </a:r>
            <a:r>
              <a:rPr sz="2133" b="1" spc="-13" dirty="0">
                <a:solidFill>
                  <a:srgbClr val="66DBFF"/>
                </a:solidFill>
                <a:latin typeface="Calibri"/>
                <a:cs typeface="Calibri"/>
              </a:rPr>
              <a:t>dimension</a:t>
            </a:r>
            <a:endParaRPr sz="2133">
              <a:latin typeface="Calibri"/>
              <a:cs typeface="Calibri"/>
            </a:endParaRP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10492" y="142013"/>
            <a:ext cx="9225280" cy="695062"/>
          </a:xfrm>
          <a:prstGeom prst="rect">
            <a:avLst/>
          </a:prstGeom>
        </p:spPr>
        <p:txBody>
          <a:bodyPr vert="horz" wrap="square" lIns="0" tIns="17780" rIns="0" bIns="0" rtlCol="0" anchor="ctr">
            <a:spAutoFit/>
          </a:bodyPr>
          <a:lstStyle/>
          <a:p>
            <a:pPr marL="872045" algn="ctr">
              <a:lnSpc>
                <a:spcPct val="100000"/>
              </a:lnSpc>
              <a:spcBef>
                <a:spcPts val="140"/>
              </a:spcBef>
            </a:pPr>
            <a:r>
              <a:rPr dirty="0">
                <a:solidFill>
                  <a:schemeClr val="bg1"/>
                </a:solidFill>
                <a:latin typeface="+mn-lt"/>
              </a:rPr>
              <a:t>Hierarchies</a:t>
            </a:r>
            <a:r>
              <a:rPr spc="-67" dirty="0">
                <a:solidFill>
                  <a:schemeClr val="bg1"/>
                </a:solidFill>
                <a:latin typeface="+mn-lt"/>
              </a:rPr>
              <a:t> </a:t>
            </a:r>
            <a:r>
              <a:rPr dirty="0">
                <a:solidFill>
                  <a:schemeClr val="bg1"/>
                </a:solidFill>
                <a:latin typeface="+mn-lt"/>
              </a:rPr>
              <a:t>in</a:t>
            </a:r>
            <a:r>
              <a:rPr spc="-40" dirty="0">
                <a:solidFill>
                  <a:schemeClr val="bg1"/>
                </a:solidFill>
                <a:latin typeface="+mn-lt"/>
              </a:rPr>
              <a:t> </a:t>
            </a:r>
            <a:r>
              <a:rPr spc="-13" dirty="0">
                <a:solidFill>
                  <a:schemeClr val="bg1"/>
                </a:solidFill>
                <a:latin typeface="+mn-lt"/>
              </a:rPr>
              <a:t>dimensions</a:t>
            </a:r>
          </a:p>
        </p:txBody>
      </p:sp>
      <p:sp>
        <p:nvSpPr>
          <p:cNvPr id="3" name="object 3"/>
          <p:cNvSpPr txBox="1"/>
          <p:nvPr/>
        </p:nvSpPr>
        <p:spPr>
          <a:xfrm>
            <a:off x="4169834" y="1851320"/>
            <a:ext cx="4671060"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Considder</a:t>
            </a:r>
            <a:r>
              <a:rPr sz="2400" b="1" spc="-67" dirty="0">
                <a:solidFill>
                  <a:srgbClr val="D9D9D9"/>
                </a:solidFill>
                <a:latin typeface="Calibri"/>
                <a:cs typeface="Calibri"/>
              </a:rPr>
              <a:t> </a:t>
            </a:r>
            <a:r>
              <a:rPr sz="2400" b="1" dirty="0">
                <a:solidFill>
                  <a:srgbClr val="D9D9D9"/>
                </a:solidFill>
                <a:latin typeface="Calibri"/>
                <a:cs typeface="Calibri"/>
              </a:rPr>
              <a:t>combinations</a:t>
            </a:r>
            <a:r>
              <a:rPr sz="2400" b="1" spc="-80" dirty="0">
                <a:solidFill>
                  <a:srgbClr val="D9D9D9"/>
                </a:solidFill>
                <a:latin typeface="Calibri"/>
                <a:cs typeface="Calibri"/>
              </a:rPr>
              <a:t> </a:t>
            </a:r>
            <a:r>
              <a:rPr sz="2400" b="1" dirty="0">
                <a:solidFill>
                  <a:srgbClr val="D9D9D9"/>
                </a:solidFill>
                <a:latin typeface="Calibri"/>
                <a:cs typeface="Calibri"/>
              </a:rPr>
              <a:t>if</a:t>
            </a:r>
            <a:r>
              <a:rPr sz="2400" b="1" spc="-13" dirty="0">
                <a:solidFill>
                  <a:srgbClr val="D9D9D9"/>
                </a:solidFill>
                <a:latin typeface="Calibri"/>
                <a:cs typeface="Calibri"/>
              </a:rPr>
              <a:t> helpful</a:t>
            </a:r>
            <a:endParaRPr sz="2400">
              <a:latin typeface="Calibri"/>
              <a:cs typeface="Calibri"/>
            </a:endParaRPr>
          </a:p>
        </p:txBody>
      </p:sp>
      <p:grpSp>
        <p:nvGrpSpPr>
          <p:cNvPr id="4" name="object 4"/>
          <p:cNvGrpSpPr/>
          <p:nvPr/>
        </p:nvGrpSpPr>
        <p:grpSpPr>
          <a:xfrm>
            <a:off x="174751" y="1497517"/>
            <a:ext cx="4197096" cy="1614490"/>
            <a:chOff x="131063" y="1123137"/>
            <a:chExt cx="3147822" cy="1210868"/>
          </a:xfrm>
        </p:grpSpPr>
        <p:pic>
          <p:nvPicPr>
            <p:cNvPr id="5" name="object 5"/>
            <p:cNvPicPr/>
            <p:nvPr/>
          </p:nvPicPr>
          <p:blipFill>
            <a:blip r:embed="rId2" cstate="print"/>
            <a:stretch>
              <a:fillRect/>
            </a:stretch>
          </p:blipFill>
          <p:spPr>
            <a:xfrm>
              <a:off x="131063" y="1123137"/>
              <a:ext cx="3147822" cy="1210868"/>
            </a:xfrm>
            <a:prstGeom prst="rect">
              <a:avLst/>
            </a:prstGeom>
          </p:spPr>
        </p:pic>
        <p:sp>
          <p:nvSpPr>
            <p:cNvPr id="7" name="object 7"/>
            <p:cNvSpPr/>
            <p:nvPr/>
          </p:nvSpPr>
          <p:spPr>
            <a:xfrm>
              <a:off x="457961" y="1277873"/>
              <a:ext cx="2514600" cy="579120"/>
            </a:xfrm>
            <a:custGeom>
              <a:avLst/>
              <a:gdLst/>
              <a:ahLst/>
              <a:cxnLst/>
              <a:rect l="l" t="t" r="r" b="b"/>
              <a:pathLst>
                <a:path w="2514600" h="579119">
                  <a:moveTo>
                    <a:pt x="0" y="289560"/>
                  </a:moveTo>
                  <a:lnTo>
                    <a:pt x="144779" y="0"/>
                  </a:lnTo>
                  <a:lnTo>
                    <a:pt x="2369820" y="0"/>
                  </a:lnTo>
                  <a:lnTo>
                    <a:pt x="2514600" y="289560"/>
                  </a:lnTo>
                  <a:lnTo>
                    <a:pt x="2369820" y="579120"/>
                  </a:lnTo>
                  <a:lnTo>
                    <a:pt x="144779" y="579120"/>
                  </a:lnTo>
                  <a:lnTo>
                    <a:pt x="0" y="289560"/>
                  </a:lnTo>
                  <a:close/>
                </a:path>
              </a:pathLst>
            </a:custGeom>
            <a:ln w="19812">
              <a:solidFill>
                <a:srgbClr val="00C3FF"/>
              </a:solidFill>
            </a:ln>
          </p:spPr>
          <p:txBody>
            <a:bodyPr wrap="square" lIns="0" tIns="0" rIns="0" bIns="0" rtlCol="0"/>
            <a:lstStyle/>
            <a:p>
              <a:endParaRPr sz="2400"/>
            </a:p>
          </p:txBody>
        </p:sp>
      </p:grpSp>
      <p:sp>
        <p:nvSpPr>
          <p:cNvPr id="8" name="object 8"/>
          <p:cNvSpPr txBox="1"/>
          <p:nvPr/>
        </p:nvSpPr>
        <p:spPr>
          <a:xfrm>
            <a:off x="903563" y="1847190"/>
            <a:ext cx="2771140" cy="428387"/>
          </a:xfrm>
          <a:prstGeom prst="rect">
            <a:avLst/>
          </a:prstGeom>
        </p:spPr>
        <p:txBody>
          <a:bodyPr vert="horz" wrap="square" lIns="0" tIns="17780" rIns="0" bIns="0" rtlCol="0">
            <a:spAutoFit/>
          </a:bodyPr>
          <a:lstStyle/>
          <a:p>
            <a:pPr marL="16933">
              <a:spcBef>
                <a:spcPts val="140"/>
              </a:spcBef>
            </a:pPr>
            <a:r>
              <a:rPr sz="2667" b="1" dirty="0">
                <a:solidFill>
                  <a:srgbClr val="CCEAFF"/>
                </a:solidFill>
                <a:latin typeface="Calibri"/>
                <a:cs typeface="Calibri"/>
              </a:rPr>
              <a:t>What</a:t>
            </a:r>
            <a:r>
              <a:rPr sz="2667" b="1" spc="-27" dirty="0">
                <a:solidFill>
                  <a:srgbClr val="CCEAFF"/>
                </a:solidFill>
                <a:latin typeface="Calibri"/>
                <a:cs typeface="Calibri"/>
              </a:rPr>
              <a:t> </a:t>
            </a:r>
            <a:r>
              <a:rPr sz="2667" b="1" dirty="0">
                <a:solidFill>
                  <a:srgbClr val="CCEAFF"/>
                </a:solidFill>
                <a:latin typeface="Calibri"/>
                <a:cs typeface="Calibri"/>
              </a:rPr>
              <a:t>we</a:t>
            </a:r>
            <a:r>
              <a:rPr sz="2667" b="1" spc="-7" dirty="0">
                <a:solidFill>
                  <a:srgbClr val="CCEAFF"/>
                </a:solidFill>
                <a:latin typeface="Calibri"/>
                <a:cs typeface="Calibri"/>
              </a:rPr>
              <a:t> </a:t>
            </a:r>
            <a:r>
              <a:rPr sz="2667" b="1" dirty="0">
                <a:solidFill>
                  <a:srgbClr val="CCEAFF"/>
                </a:solidFill>
                <a:latin typeface="Calibri"/>
                <a:cs typeface="Calibri"/>
              </a:rPr>
              <a:t>should</a:t>
            </a:r>
            <a:r>
              <a:rPr sz="2667" b="1" spc="-47" dirty="0">
                <a:solidFill>
                  <a:srgbClr val="CCEAFF"/>
                </a:solidFill>
                <a:latin typeface="Calibri"/>
                <a:cs typeface="Calibri"/>
              </a:rPr>
              <a:t> </a:t>
            </a:r>
            <a:r>
              <a:rPr sz="2667" b="1" spc="-33" dirty="0">
                <a:solidFill>
                  <a:srgbClr val="CCEAFF"/>
                </a:solidFill>
                <a:latin typeface="Calibri"/>
                <a:cs typeface="Calibri"/>
              </a:rPr>
              <a:t>do</a:t>
            </a:r>
            <a:endParaRPr sz="2667">
              <a:latin typeface="Calibri"/>
              <a:cs typeface="Calibri"/>
            </a:endParaRPr>
          </a:p>
        </p:txBody>
      </p:sp>
      <p:graphicFrame>
        <p:nvGraphicFramePr>
          <p:cNvPr id="9" name="object 9"/>
          <p:cNvGraphicFramePr>
            <a:graphicFrameLocks noGrp="1"/>
          </p:cNvGraphicFramePr>
          <p:nvPr>
            <p:extLst>
              <p:ext uri="{D42A27DB-BD31-4B8C-83A1-F6EECF244321}">
                <p14:modId xmlns:p14="http://schemas.microsoft.com/office/powerpoint/2010/main" val="3599941235"/>
              </p:ext>
            </p:extLst>
          </p:nvPr>
        </p:nvGraphicFramePr>
        <p:xfrm>
          <a:off x="4417906" y="2517478"/>
          <a:ext cx="4422987" cy="1209696"/>
        </p:xfrm>
        <a:graphic>
          <a:graphicData uri="http://schemas.openxmlformats.org/drawingml/2006/table">
            <a:tbl>
              <a:tblPr firstRow="1" bandRow="1">
                <a:tableStyleId>{2D5ABB26-0587-4C30-8999-92F81FD0307C}</a:tableStyleId>
              </a:tblPr>
              <a:tblGrid>
                <a:gridCol w="1474329">
                  <a:extLst>
                    <a:ext uri="{9D8B030D-6E8A-4147-A177-3AD203B41FA5}">
                      <a16:colId xmlns:a16="http://schemas.microsoft.com/office/drawing/2014/main" val="20000"/>
                    </a:ext>
                  </a:extLst>
                </a:gridCol>
                <a:gridCol w="1474329">
                  <a:extLst>
                    <a:ext uri="{9D8B030D-6E8A-4147-A177-3AD203B41FA5}">
                      <a16:colId xmlns:a16="http://schemas.microsoft.com/office/drawing/2014/main" val="20001"/>
                    </a:ext>
                  </a:extLst>
                </a:gridCol>
                <a:gridCol w="1474329">
                  <a:extLst>
                    <a:ext uri="{9D8B030D-6E8A-4147-A177-3AD203B41FA5}">
                      <a16:colId xmlns:a16="http://schemas.microsoft.com/office/drawing/2014/main" val="20002"/>
                    </a:ext>
                  </a:extLst>
                </a:gridCol>
              </a:tblGrid>
              <a:tr h="276768">
                <a:tc>
                  <a:txBody>
                    <a:bodyPr/>
                    <a:lstStyle/>
                    <a:p>
                      <a:pPr marL="1270" algn="ctr">
                        <a:lnSpc>
                          <a:spcPts val="1170"/>
                        </a:lnSpc>
                        <a:spcBef>
                          <a:spcPts val="60"/>
                        </a:spcBef>
                      </a:pPr>
                      <a:r>
                        <a:rPr sz="1400" b="1" spc="-10" dirty="0">
                          <a:latin typeface="Arial"/>
                          <a:cs typeface="Arial"/>
                        </a:rPr>
                        <a:t>Year-Month</a:t>
                      </a:r>
                      <a:endParaRPr sz="1400">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905" algn="ctr">
                        <a:lnSpc>
                          <a:spcPts val="1170"/>
                        </a:lnSpc>
                        <a:spcBef>
                          <a:spcPts val="60"/>
                        </a:spcBef>
                      </a:pPr>
                      <a:r>
                        <a:rPr sz="1400" b="1" spc="-10" dirty="0">
                          <a:latin typeface="Arial"/>
                          <a:cs typeface="Arial"/>
                        </a:rPr>
                        <a:t>Year-Month</a:t>
                      </a:r>
                      <a:endParaRPr sz="1400">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270" algn="ctr">
                        <a:lnSpc>
                          <a:spcPts val="1170"/>
                        </a:lnSpc>
                        <a:spcBef>
                          <a:spcPts val="60"/>
                        </a:spcBef>
                      </a:pPr>
                      <a:r>
                        <a:rPr sz="1400" b="1" spc="-10" dirty="0">
                          <a:latin typeface="Arial"/>
                          <a:cs typeface="Arial"/>
                        </a:rPr>
                        <a:t>Year-Quarter</a:t>
                      </a:r>
                      <a:endParaRPr sz="1400">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310976">
                <a:tc>
                  <a:txBody>
                    <a:bodyPr/>
                    <a:lstStyle/>
                    <a:p>
                      <a:pPr marL="635" algn="ctr">
                        <a:lnSpc>
                          <a:spcPts val="1170"/>
                        </a:lnSpc>
                        <a:spcBef>
                          <a:spcPts val="225"/>
                        </a:spcBef>
                      </a:pPr>
                      <a:r>
                        <a:rPr sz="1400" spc="-10" dirty="0">
                          <a:latin typeface="Arial MT"/>
                          <a:cs typeface="Arial MT"/>
                        </a:rPr>
                        <a:t>01-01-</a:t>
                      </a:r>
                      <a:r>
                        <a:rPr sz="1400" spc="-20" dirty="0">
                          <a:latin typeface="Arial MT"/>
                          <a:cs typeface="Arial MT"/>
                        </a:rPr>
                        <a:t>2022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10" dirty="0">
                          <a:latin typeface="Arial MT"/>
                          <a:cs typeface="Arial MT"/>
                        </a:rPr>
                        <a:t>Jan-</a:t>
                      </a:r>
                      <a:r>
                        <a:rPr sz="1400" spc="-20" dirty="0">
                          <a:latin typeface="Arial MT"/>
                          <a:cs typeface="Arial MT"/>
                        </a:rPr>
                        <a:t>2022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5"/>
                        </a:spcBef>
                      </a:pPr>
                      <a:r>
                        <a:rPr sz="1400" spc="-10" dirty="0">
                          <a:latin typeface="Arial MT"/>
                          <a:cs typeface="Arial MT"/>
                        </a:rPr>
                        <a:t>2022-</a:t>
                      </a:r>
                      <a:r>
                        <a:rPr sz="1400" spc="-25" dirty="0">
                          <a:latin typeface="Arial MT"/>
                          <a:cs typeface="Arial MT"/>
                        </a:rPr>
                        <a:t>Q1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310976">
                <a:tc>
                  <a:txBody>
                    <a:bodyPr/>
                    <a:lstStyle/>
                    <a:p>
                      <a:pPr marL="635" algn="ctr">
                        <a:lnSpc>
                          <a:spcPts val="1170"/>
                        </a:lnSpc>
                        <a:spcBef>
                          <a:spcPts val="225"/>
                        </a:spcBef>
                      </a:pPr>
                      <a:r>
                        <a:rPr sz="1400" spc="-10" dirty="0">
                          <a:latin typeface="Arial MT"/>
                          <a:cs typeface="Arial MT"/>
                        </a:rPr>
                        <a:t>02-01-</a:t>
                      </a:r>
                      <a:r>
                        <a:rPr sz="1400" spc="-20" dirty="0">
                          <a:latin typeface="Arial MT"/>
                          <a:cs typeface="Arial MT"/>
                        </a:rPr>
                        <a:t>2022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10" dirty="0">
                          <a:latin typeface="Arial MT"/>
                          <a:cs typeface="Arial MT"/>
                        </a:rPr>
                        <a:t>Jan-</a:t>
                      </a:r>
                      <a:r>
                        <a:rPr sz="1400" spc="-20" dirty="0">
                          <a:latin typeface="Arial MT"/>
                          <a:cs typeface="Arial MT"/>
                        </a:rPr>
                        <a:t>2022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5"/>
                        </a:spcBef>
                      </a:pPr>
                      <a:r>
                        <a:rPr sz="1400" spc="-10" dirty="0">
                          <a:latin typeface="Arial MT"/>
                          <a:cs typeface="Arial MT"/>
                        </a:rPr>
                        <a:t>2022-</a:t>
                      </a:r>
                      <a:r>
                        <a:rPr sz="1400" spc="-25" dirty="0">
                          <a:latin typeface="Arial MT"/>
                          <a:cs typeface="Arial MT"/>
                        </a:rPr>
                        <a:t>Q1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310976">
                <a:tc>
                  <a:txBody>
                    <a:bodyPr/>
                    <a:lstStyle/>
                    <a:p>
                      <a:pPr marL="635" algn="ctr">
                        <a:lnSpc>
                          <a:spcPts val="1170"/>
                        </a:lnSpc>
                        <a:spcBef>
                          <a:spcPts val="225"/>
                        </a:spcBef>
                      </a:pPr>
                      <a:r>
                        <a:rPr sz="1400" spc="-10" dirty="0">
                          <a:latin typeface="Arial MT"/>
                          <a:cs typeface="Arial MT"/>
                        </a:rPr>
                        <a:t>03-01-</a:t>
                      </a:r>
                      <a:r>
                        <a:rPr sz="1400" spc="-20" dirty="0">
                          <a:latin typeface="Arial MT"/>
                          <a:cs typeface="Arial MT"/>
                        </a:rPr>
                        <a:t>2022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10" dirty="0">
                          <a:latin typeface="Arial MT"/>
                          <a:cs typeface="Arial MT"/>
                        </a:rPr>
                        <a:t>Jan-</a:t>
                      </a:r>
                      <a:r>
                        <a:rPr sz="1400" spc="-20" dirty="0">
                          <a:latin typeface="Arial MT"/>
                          <a:cs typeface="Arial MT"/>
                        </a:rPr>
                        <a:t>2022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5"/>
                        </a:spcBef>
                      </a:pPr>
                      <a:r>
                        <a:rPr sz="1400" spc="-10" dirty="0">
                          <a:latin typeface="Arial MT"/>
                          <a:cs typeface="Arial MT"/>
                        </a:rPr>
                        <a:t>2022-</a:t>
                      </a:r>
                      <a:r>
                        <a:rPr sz="1400" spc="-25" dirty="0">
                          <a:latin typeface="Arial MT"/>
                          <a:cs typeface="Arial MT"/>
                        </a:rPr>
                        <a:t>Q1</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graphicFrame>
        <p:nvGraphicFramePr>
          <p:cNvPr id="10" name="object 10"/>
          <p:cNvGraphicFramePr>
            <a:graphicFrameLocks noGrp="1"/>
          </p:cNvGraphicFramePr>
          <p:nvPr>
            <p:extLst>
              <p:ext uri="{D42A27DB-BD31-4B8C-83A1-F6EECF244321}">
                <p14:modId xmlns:p14="http://schemas.microsoft.com/office/powerpoint/2010/main" val="3708088589"/>
              </p:ext>
            </p:extLst>
          </p:nvPr>
        </p:nvGraphicFramePr>
        <p:xfrm>
          <a:off x="3445934" y="3942927"/>
          <a:ext cx="6821188" cy="1417556"/>
        </p:xfrm>
        <a:graphic>
          <a:graphicData uri="http://schemas.openxmlformats.org/drawingml/2006/table">
            <a:tbl>
              <a:tblPr firstRow="1" bandRow="1">
                <a:tableStyleId>{2D5ABB26-0587-4C30-8999-92F81FD0307C}</a:tableStyleId>
              </a:tblPr>
              <a:tblGrid>
                <a:gridCol w="1705297">
                  <a:extLst>
                    <a:ext uri="{9D8B030D-6E8A-4147-A177-3AD203B41FA5}">
                      <a16:colId xmlns:a16="http://schemas.microsoft.com/office/drawing/2014/main" val="20000"/>
                    </a:ext>
                  </a:extLst>
                </a:gridCol>
                <a:gridCol w="1705297">
                  <a:extLst>
                    <a:ext uri="{9D8B030D-6E8A-4147-A177-3AD203B41FA5}">
                      <a16:colId xmlns:a16="http://schemas.microsoft.com/office/drawing/2014/main" val="20001"/>
                    </a:ext>
                  </a:extLst>
                </a:gridCol>
                <a:gridCol w="1397784">
                  <a:extLst>
                    <a:ext uri="{9D8B030D-6E8A-4147-A177-3AD203B41FA5}">
                      <a16:colId xmlns:a16="http://schemas.microsoft.com/office/drawing/2014/main" val="20002"/>
                    </a:ext>
                  </a:extLst>
                </a:gridCol>
                <a:gridCol w="2012810">
                  <a:extLst>
                    <a:ext uri="{9D8B030D-6E8A-4147-A177-3AD203B41FA5}">
                      <a16:colId xmlns:a16="http://schemas.microsoft.com/office/drawing/2014/main" val="20003"/>
                    </a:ext>
                  </a:extLst>
                </a:gridCol>
              </a:tblGrid>
              <a:tr h="323387">
                <a:tc>
                  <a:txBody>
                    <a:bodyPr/>
                    <a:lstStyle/>
                    <a:p>
                      <a:pPr algn="ctr">
                        <a:lnSpc>
                          <a:spcPts val="1170"/>
                        </a:lnSpc>
                        <a:spcBef>
                          <a:spcPts val="65"/>
                        </a:spcBef>
                      </a:pPr>
                      <a:r>
                        <a:rPr sz="1400" b="1" spc="-10" dirty="0">
                          <a:latin typeface="Arial"/>
                          <a:cs typeface="Arial"/>
                        </a:rPr>
                        <a:t>Location_PK</a:t>
                      </a:r>
                      <a:endParaRPr sz="1400">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3810" algn="ctr">
                        <a:lnSpc>
                          <a:spcPts val="1170"/>
                        </a:lnSpc>
                        <a:spcBef>
                          <a:spcPts val="65"/>
                        </a:spcBef>
                      </a:pPr>
                      <a:r>
                        <a:rPr sz="1400" b="1" spc="-20" dirty="0">
                          <a:latin typeface="Arial"/>
                          <a:cs typeface="Arial"/>
                        </a:rPr>
                        <a:t>City</a:t>
                      </a:r>
                      <a:endParaRPr sz="1400">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2540" algn="ctr">
                        <a:lnSpc>
                          <a:spcPts val="1170"/>
                        </a:lnSpc>
                        <a:spcBef>
                          <a:spcPts val="65"/>
                        </a:spcBef>
                      </a:pPr>
                      <a:r>
                        <a:rPr sz="1400" b="1" spc="-10" dirty="0">
                          <a:latin typeface="Arial"/>
                          <a:cs typeface="Arial"/>
                        </a:rPr>
                        <a:t>State</a:t>
                      </a:r>
                      <a:endParaRPr sz="1400">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2540" algn="ctr">
                        <a:lnSpc>
                          <a:spcPts val="1170"/>
                        </a:lnSpc>
                        <a:spcBef>
                          <a:spcPts val="65"/>
                        </a:spcBef>
                      </a:pPr>
                      <a:r>
                        <a:rPr sz="1400" b="1" spc="-20" dirty="0">
                          <a:latin typeface="Arial"/>
                          <a:cs typeface="Arial"/>
                        </a:rPr>
                        <a:t>City-</a:t>
                      </a:r>
                      <a:r>
                        <a:rPr sz="1400" b="1" spc="-10" dirty="0">
                          <a:latin typeface="Arial"/>
                          <a:cs typeface="Arial"/>
                        </a:rPr>
                        <a:t>State</a:t>
                      </a:r>
                      <a:endParaRPr sz="1400">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364723">
                <a:tc>
                  <a:txBody>
                    <a:bodyPr/>
                    <a:lstStyle/>
                    <a:p>
                      <a:pPr algn="ctr">
                        <a:lnSpc>
                          <a:spcPts val="1170"/>
                        </a:lnSpc>
                        <a:spcBef>
                          <a:spcPts val="229"/>
                        </a:spcBef>
                      </a:pPr>
                      <a:r>
                        <a:rPr sz="1400" spc="-50" dirty="0">
                          <a:latin typeface="Arial MT"/>
                          <a:cs typeface="Arial MT"/>
                        </a:rPr>
                        <a:t>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Nashville</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Tennessee</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ts val="1170"/>
                        </a:lnSpc>
                        <a:spcBef>
                          <a:spcPts val="229"/>
                        </a:spcBef>
                      </a:pPr>
                      <a:r>
                        <a:rPr sz="1400" dirty="0">
                          <a:latin typeface="Arial MT"/>
                          <a:cs typeface="Arial MT"/>
                        </a:rPr>
                        <a:t>Nashville,</a:t>
                      </a:r>
                      <a:r>
                        <a:rPr sz="1400" spc="-65" dirty="0">
                          <a:latin typeface="Arial MT"/>
                          <a:cs typeface="Arial MT"/>
                        </a:rPr>
                        <a:t> </a:t>
                      </a:r>
                      <a:r>
                        <a:rPr sz="1400" spc="-10" dirty="0">
                          <a:latin typeface="Arial MT"/>
                          <a:cs typeface="Arial MT"/>
                        </a:rPr>
                        <a:t>Tennessee</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364723">
                <a:tc>
                  <a:txBody>
                    <a:bodyPr/>
                    <a:lstStyle/>
                    <a:p>
                      <a:pPr algn="ctr">
                        <a:lnSpc>
                          <a:spcPts val="1170"/>
                        </a:lnSpc>
                        <a:spcBef>
                          <a:spcPts val="229"/>
                        </a:spcBef>
                      </a:pPr>
                      <a:r>
                        <a:rPr sz="1400" spc="-50" dirty="0">
                          <a:latin typeface="Arial MT"/>
                          <a:cs typeface="Arial MT"/>
                        </a:rPr>
                        <a:t>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Nashville</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ts val="1170"/>
                        </a:lnSpc>
                        <a:spcBef>
                          <a:spcPts val="229"/>
                        </a:spcBef>
                      </a:pPr>
                      <a:r>
                        <a:rPr sz="1400" spc="-10" dirty="0">
                          <a:latin typeface="Arial MT"/>
                          <a:cs typeface="Arial MT"/>
                        </a:rPr>
                        <a:t>Indiana</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ts val="1170"/>
                        </a:lnSpc>
                        <a:spcBef>
                          <a:spcPts val="229"/>
                        </a:spcBef>
                      </a:pPr>
                      <a:r>
                        <a:rPr sz="1400" dirty="0">
                          <a:latin typeface="Arial MT"/>
                          <a:cs typeface="Arial MT"/>
                        </a:rPr>
                        <a:t>Nashville,</a:t>
                      </a:r>
                      <a:r>
                        <a:rPr sz="1400" spc="-65" dirty="0">
                          <a:latin typeface="Arial MT"/>
                          <a:cs typeface="Arial MT"/>
                        </a:rPr>
                        <a:t> </a:t>
                      </a:r>
                      <a:r>
                        <a:rPr sz="1400" spc="-10" dirty="0">
                          <a:latin typeface="Arial MT"/>
                          <a:cs typeface="Arial MT"/>
                        </a:rPr>
                        <a:t>Indiana</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364723">
                <a:tc>
                  <a:txBody>
                    <a:bodyPr/>
                    <a:lstStyle/>
                    <a:p>
                      <a:pPr algn="ctr">
                        <a:lnSpc>
                          <a:spcPts val="117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ts val="1170"/>
                        </a:lnSpc>
                        <a:spcBef>
                          <a:spcPts val="225"/>
                        </a:spcBef>
                      </a:pPr>
                      <a:r>
                        <a:rPr sz="1400" dirty="0">
                          <a:latin typeface="Arial MT"/>
                          <a:cs typeface="Arial MT"/>
                        </a:rPr>
                        <a:t>Kansas</a:t>
                      </a:r>
                      <a:r>
                        <a:rPr sz="1400" spc="-30" dirty="0">
                          <a:latin typeface="Arial MT"/>
                          <a:cs typeface="Arial MT"/>
                        </a:rPr>
                        <a:t> </a:t>
                      </a:r>
                      <a:r>
                        <a:rPr sz="1400" spc="-20" dirty="0">
                          <a:latin typeface="Arial MT"/>
                          <a:cs typeface="Arial MT"/>
                        </a:rPr>
                        <a:t>City</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5"/>
                        </a:spcBef>
                      </a:pPr>
                      <a:r>
                        <a:rPr sz="1400" spc="-10" dirty="0">
                          <a:latin typeface="Arial MT"/>
                          <a:cs typeface="Arial MT"/>
                        </a:rPr>
                        <a:t>Kansas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5080" algn="ctr">
                        <a:lnSpc>
                          <a:spcPts val="1170"/>
                        </a:lnSpc>
                        <a:spcBef>
                          <a:spcPts val="225"/>
                        </a:spcBef>
                      </a:pPr>
                      <a:r>
                        <a:rPr sz="1400" dirty="0">
                          <a:latin typeface="Arial MT"/>
                          <a:cs typeface="Arial MT"/>
                        </a:rPr>
                        <a:t>Kansas</a:t>
                      </a:r>
                      <a:r>
                        <a:rPr sz="1400" spc="-25" dirty="0">
                          <a:latin typeface="Arial MT"/>
                          <a:cs typeface="Arial MT"/>
                        </a:rPr>
                        <a:t> </a:t>
                      </a:r>
                      <a:r>
                        <a:rPr sz="1400" dirty="0">
                          <a:latin typeface="Arial MT"/>
                          <a:cs typeface="Arial MT"/>
                        </a:rPr>
                        <a:t>City,</a:t>
                      </a:r>
                      <a:r>
                        <a:rPr sz="1400" spc="-25" dirty="0">
                          <a:latin typeface="Arial MT"/>
                          <a:cs typeface="Arial MT"/>
                        </a:rPr>
                        <a:t> </a:t>
                      </a:r>
                      <a:r>
                        <a:rPr sz="1400" spc="-10" dirty="0">
                          <a:latin typeface="Arial MT"/>
                          <a:cs typeface="Arial MT"/>
                        </a:rPr>
                        <a:t>Kansas</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57807" y="2279903"/>
            <a:ext cx="9930384" cy="1702816"/>
          </a:xfrm>
          <a:prstGeom prst="rect">
            <a:avLst/>
          </a:prstGeom>
        </p:spPr>
      </p:pic>
      <p:sp>
        <p:nvSpPr>
          <p:cNvPr id="3" name="object 3"/>
          <p:cNvSpPr txBox="1">
            <a:spLocks noGrp="1"/>
          </p:cNvSpPr>
          <p:nvPr>
            <p:ph type="title"/>
          </p:nvPr>
        </p:nvSpPr>
        <p:spPr>
          <a:xfrm>
            <a:off x="1320800" y="2579973"/>
            <a:ext cx="9811173" cy="1048150"/>
          </a:xfrm>
          <a:prstGeom prst="rect">
            <a:avLst/>
          </a:prstGeom>
          <a:noFill/>
          <a:ln w="9144">
            <a:noFill/>
          </a:ln>
        </p:spPr>
        <p:txBody>
          <a:bodyPr vert="horz" wrap="square" lIns="0" tIns="306493" rIns="0" bIns="0" rtlCol="0" anchor="ctr">
            <a:spAutoFit/>
          </a:bodyPr>
          <a:lstStyle/>
          <a:p>
            <a:pPr algn="ctr">
              <a:lnSpc>
                <a:spcPct val="100000"/>
              </a:lnSpc>
              <a:spcBef>
                <a:spcPts val="2413"/>
              </a:spcBef>
            </a:pPr>
            <a:r>
              <a:rPr sz="4800" dirty="0">
                <a:solidFill>
                  <a:schemeClr val="bg1"/>
                </a:solidFill>
              </a:rPr>
              <a:t>Conformed</a:t>
            </a:r>
            <a:r>
              <a:rPr sz="4800" spc="-152" dirty="0">
                <a:solidFill>
                  <a:schemeClr val="bg1"/>
                </a:solidFill>
              </a:rPr>
              <a:t> </a:t>
            </a:r>
            <a:r>
              <a:rPr sz="4800" spc="-13" dirty="0">
                <a:solidFill>
                  <a:schemeClr val="bg1"/>
                </a:solidFill>
              </a:rPr>
              <a:t>dimensions</a:t>
            </a:r>
            <a:endParaRPr sz="4800" dirty="0">
              <a:solidFill>
                <a:schemeClr val="bg1"/>
              </a:solidFill>
            </a:endParaRPr>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320800" y="548400"/>
            <a:ext cx="9811173" cy="1047296"/>
          </a:xfrm>
          <a:prstGeom prst="rect">
            <a:avLst/>
          </a:prstGeom>
          <a:noFill/>
          <a:ln w="9144">
            <a:noFill/>
          </a:ln>
        </p:spPr>
        <p:txBody>
          <a:bodyPr vert="horz" wrap="square" lIns="0" tIns="305647" rIns="0" bIns="0" rtlCol="0" anchor="ctr">
            <a:spAutoFit/>
          </a:bodyPr>
          <a:lstStyle/>
          <a:p>
            <a:pPr algn="ctr">
              <a:lnSpc>
                <a:spcPct val="100000"/>
              </a:lnSpc>
              <a:spcBef>
                <a:spcPts val="2407"/>
              </a:spcBef>
            </a:pPr>
            <a:r>
              <a:rPr sz="4800" dirty="0">
                <a:solidFill>
                  <a:schemeClr val="bg1"/>
                </a:solidFill>
                <a:latin typeface="+mn-lt"/>
              </a:rPr>
              <a:t>Conformed</a:t>
            </a:r>
            <a:r>
              <a:rPr sz="4800" spc="-33" dirty="0">
                <a:solidFill>
                  <a:schemeClr val="bg1"/>
                </a:solidFill>
                <a:latin typeface="+mn-lt"/>
              </a:rPr>
              <a:t> </a:t>
            </a:r>
            <a:r>
              <a:rPr sz="4800" spc="-13" dirty="0">
                <a:solidFill>
                  <a:schemeClr val="bg1"/>
                </a:solidFill>
                <a:latin typeface="+mn-lt"/>
              </a:rPr>
              <a:t>dimensions</a:t>
            </a:r>
            <a:endParaRPr sz="4800" dirty="0">
              <a:solidFill>
                <a:schemeClr val="bg1"/>
              </a:solidFill>
              <a:latin typeface="+mn-lt"/>
            </a:endParaRPr>
          </a:p>
        </p:txBody>
      </p:sp>
      <p:sp>
        <p:nvSpPr>
          <p:cNvPr id="4" name="object 4"/>
          <p:cNvSpPr txBox="1"/>
          <p:nvPr/>
        </p:nvSpPr>
        <p:spPr>
          <a:xfrm>
            <a:off x="2641601" y="2922016"/>
            <a:ext cx="7837593" cy="1081299"/>
          </a:xfrm>
          <a:prstGeom prst="rect">
            <a:avLst/>
          </a:prstGeom>
          <a:solidFill>
            <a:srgbClr val="D9D9D9"/>
          </a:solidFill>
        </p:spPr>
        <p:txBody>
          <a:bodyPr vert="horz" wrap="square" lIns="0" tIns="34712" rIns="0" bIns="0" rtlCol="0">
            <a:spAutoFit/>
          </a:bodyPr>
          <a:lstStyle/>
          <a:p>
            <a:pPr marL="2217363" marR="486821" indent="-1727157">
              <a:lnSpc>
                <a:spcPts val="4320"/>
              </a:lnSpc>
              <a:spcBef>
                <a:spcPts val="272"/>
              </a:spcBef>
            </a:pPr>
            <a:r>
              <a:rPr sz="2400" b="1" dirty="0">
                <a:solidFill>
                  <a:srgbClr val="0092BE"/>
                </a:solidFill>
                <a:latin typeface="Calibri"/>
                <a:cs typeface="Calibri"/>
              </a:rPr>
              <a:t>Conformed</a:t>
            </a:r>
            <a:r>
              <a:rPr sz="2400" b="1" spc="-67" dirty="0">
                <a:solidFill>
                  <a:srgbClr val="0092BE"/>
                </a:solidFill>
                <a:latin typeface="Calibri"/>
                <a:cs typeface="Calibri"/>
              </a:rPr>
              <a:t> </a:t>
            </a:r>
            <a:r>
              <a:rPr sz="2400" b="1" dirty="0">
                <a:solidFill>
                  <a:srgbClr val="0092BE"/>
                </a:solidFill>
                <a:latin typeface="Calibri"/>
                <a:cs typeface="Calibri"/>
              </a:rPr>
              <a:t>dimension</a:t>
            </a:r>
            <a:r>
              <a:rPr sz="2400" b="1" spc="-27" dirty="0">
                <a:solidFill>
                  <a:srgbClr val="0092BE"/>
                </a:solidFill>
                <a:latin typeface="Calibri"/>
                <a:cs typeface="Calibri"/>
              </a:rPr>
              <a:t> </a:t>
            </a:r>
            <a:r>
              <a:rPr sz="2400" b="1" dirty="0">
                <a:solidFill>
                  <a:srgbClr val="0092BE"/>
                </a:solidFill>
                <a:latin typeface="Calibri"/>
                <a:cs typeface="Calibri"/>
              </a:rPr>
              <a:t>is</a:t>
            </a:r>
            <a:r>
              <a:rPr sz="2400" b="1" spc="-60" dirty="0">
                <a:solidFill>
                  <a:srgbClr val="0092BE"/>
                </a:solidFill>
                <a:latin typeface="Calibri"/>
                <a:cs typeface="Calibri"/>
              </a:rPr>
              <a:t> </a:t>
            </a:r>
            <a:r>
              <a:rPr sz="2400" b="1" dirty="0">
                <a:solidFill>
                  <a:srgbClr val="0092BE"/>
                </a:solidFill>
                <a:latin typeface="Calibri"/>
                <a:cs typeface="Calibri"/>
              </a:rPr>
              <a:t>a</a:t>
            </a:r>
            <a:r>
              <a:rPr sz="2400" b="1" spc="-20" dirty="0">
                <a:solidFill>
                  <a:srgbClr val="0092BE"/>
                </a:solidFill>
                <a:latin typeface="Calibri"/>
                <a:cs typeface="Calibri"/>
              </a:rPr>
              <a:t> </a:t>
            </a:r>
            <a:r>
              <a:rPr sz="2400" b="1" dirty="0">
                <a:solidFill>
                  <a:srgbClr val="0092BE"/>
                </a:solidFill>
                <a:latin typeface="Calibri"/>
                <a:cs typeface="Calibri"/>
              </a:rPr>
              <a:t>dimension</a:t>
            </a:r>
            <a:r>
              <a:rPr sz="2400" b="1" spc="-27" dirty="0">
                <a:solidFill>
                  <a:srgbClr val="0092BE"/>
                </a:solidFill>
                <a:latin typeface="Calibri"/>
                <a:cs typeface="Calibri"/>
              </a:rPr>
              <a:t> </a:t>
            </a:r>
            <a:r>
              <a:rPr sz="2400" b="1" dirty="0">
                <a:solidFill>
                  <a:srgbClr val="0092BE"/>
                </a:solidFill>
                <a:latin typeface="Calibri"/>
                <a:cs typeface="Calibri"/>
              </a:rPr>
              <a:t>that</a:t>
            </a:r>
            <a:r>
              <a:rPr sz="2400" b="1" spc="-73" dirty="0">
                <a:solidFill>
                  <a:srgbClr val="0092BE"/>
                </a:solidFill>
                <a:latin typeface="Calibri"/>
                <a:cs typeface="Calibri"/>
              </a:rPr>
              <a:t> </a:t>
            </a:r>
            <a:r>
              <a:rPr sz="2400" b="1" dirty="0">
                <a:solidFill>
                  <a:srgbClr val="0092BE"/>
                </a:solidFill>
                <a:latin typeface="Calibri"/>
                <a:cs typeface="Calibri"/>
              </a:rPr>
              <a:t>is</a:t>
            </a:r>
            <a:r>
              <a:rPr sz="2400" b="1" spc="-13" dirty="0">
                <a:solidFill>
                  <a:srgbClr val="0092BE"/>
                </a:solidFill>
                <a:latin typeface="Calibri"/>
                <a:cs typeface="Calibri"/>
              </a:rPr>
              <a:t> </a:t>
            </a:r>
            <a:r>
              <a:rPr sz="2400" b="1" dirty="0">
                <a:solidFill>
                  <a:srgbClr val="0092BE"/>
                </a:solidFill>
                <a:latin typeface="Calibri"/>
                <a:cs typeface="Calibri"/>
              </a:rPr>
              <a:t>shared</a:t>
            </a:r>
            <a:r>
              <a:rPr sz="2400" b="1" spc="-13" dirty="0">
                <a:solidFill>
                  <a:srgbClr val="0092BE"/>
                </a:solidFill>
                <a:latin typeface="Calibri"/>
                <a:cs typeface="Calibri"/>
              </a:rPr>
              <a:t> </a:t>
            </a:r>
            <a:r>
              <a:rPr sz="2400" b="1" spc="-33" dirty="0">
                <a:solidFill>
                  <a:srgbClr val="0092BE"/>
                </a:solidFill>
                <a:latin typeface="Calibri"/>
                <a:cs typeface="Calibri"/>
              </a:rPr>
              <a:t>by </a:t>
            </a:r>
            <a:r>
              <a:rPr sz="2400" b="1" dirty="0">
                <a:solidFill>
                  <a:srgbClr val="0092BE"/>
                </a:solidFill>
                <a:latin typeface="Calibri"/>
                <a:cs typeface="Calibri"/>
              </a:rPr>
              <a:t>multiple</a:t>
            </a:r>
            <a:r>
              <a:rPr sz="2400" b="1" spc="-73" dirty="0">
                <a:solidFill>
                  <a:srgbClr val="0092BE"/>
                </a:solidFill>
                <a:latin typeface="Calibri"/>
                <a:cs typeface="Calibri"/>
              </a:rPr>
              <a:t> </a:t>
            </a:r>
            <a:r>
              <a:rPr sz="2400" b="1" dirty="0">
                <a:solidFill>
                  <a:srgbClr val="0092BE"/>
                </a:solidFill>
                <a:latin typeface="Calibri"/>
                <a:cs typeface="Calibri"/>
              </a:rPr>
              <a:t>fact</a:t>
            </a:r>
            <a:r>
              <a:rPr sz="2400" b="1" spc="-7" dirty="0">
                <a:solidFill>
                  <a:srgbClr val="0092BE"/>
                </a:solidFill>
                <a:latin typeface="Calibri"/>
                <a:cs typeface="Calibri"/>
              </a:rPr>
              <a:t> </a:t>
            </a:r>
            <a:r>
              <a:rPr sz="2400" b="1" dirty="0">
                <a:solidFill>
                  <a:srgbClr val="0092BE"/>
                </a:solidFill>
                <a:latin typeface="Calibri"/>
                <a:cs typeface="Calibri"/>
              </a:rPr>
              <a:t>tables</a:t>
            </a:r>
            <a:r>
              <a:rPr sz="2400" b="1" spc="-60" dirty="0">
                <a:solidFill>
                  <a:srgbClr val="0092BE"/>
                </a:solidFill>
                <a:latin typeface="Calibri"/>
                <a:cs typeface="Calibri"/>
              </a:rPr>
              <a:t> </a:t>
            </a:r>
            <a:r>
              <a:rPr sz="2400" b="1" dirty="0">
                <a:solidFill>
                  <a:srgbClr val="0092BE"/>
                </a:solidFill>
                <a:latin typeface="Calibri"/>
                <a:cs typeface="Calibri"/>
              </a:rPr>
              <a:t>/</a:t>
            </a:r>
            <a:r>
              <a:rPr sz="2400" b="1" spc="-7" dirty="0">
                <a:solidFill>
                  <a:srgbClr val="0092BE"/>
                </a:solidFill>
                <a:latin typeface="Calibri"/>
                <a:cs typeface="Calibri"/>
              </a:rPr>
              <a:t> </a:t>
            </a:r>
            <a:r>
              <a:rPr sz="2400" b="1" spc="-13" dirty="0">
                <a:solidFill>
                  <a:srgbClr val="0092BE"/>
                </a:solidFill>
                <a:latin typeface="Calibri"/>
                <a:cs typeface="Calibri"/>
              </a:rPr>
              <a:t>stars.</a:t>
            </a:r>
            <a:endParaRPr sz="2400">
              <a:latin typeface="Calibri"/>
              <a:cs typeface="Calibri"/>
            </a:endParaRPr>
          </a:p>
        </p:txBody>
      </p:sp>
      <p:sp>
        <p:nvSpPr>
          <p:cNvPr id="5" name="object 5"/>
          <p:cNvSpPr txBox="1"/>
          <p:nvPr/>
        </p:nvSpPr>
        <p:spPr>
          <a:xfrm>
            <a:off x="2641601" y="4242815"/>
            <a:ext cx="7837593" cy="539462"/>
          </a:xfrm>
          <a:prstGeom prst="rect">
            <a:avLst/>
          </a:prstGeom>
          <a:solidFill>
            <a:srgbClr val="CCEAFF"/>
          </a:solidFill>
        </p:spPr>
        <p:txBody>
          <a:bodyPr vert="horz" wrap="square" lIns="0" tIns="168485" rIns="0" bIns="0" rtlCol="0">
            <a:spAutoFit/>
          </a:bodyPr>
          <a:lstStyle/>
          <a:p>
            <a:pPr marL="745895">
              <a:spcBef>
                <a:spcPts val="1325"/>
              </a:spcBef>
            </a:pPr>
            <a:r>
              <a:rPr sz="2400" b="1" dirty="0">
                <a:solidFill>
                  <a:srgbClr val="585858"/>
                </a:solidFill>
                <a:latin typeface="Calibri"/>
                <a:cs typeface="Calibri"/>
              </a:rPr>
              <a:t>Used</a:t>
            </a:r>
            <a:r>
              <a:rPr sz="2400" b="1" spc="-40" dirty="0">
                <a:solidFill>
                  <a:srgbClr val="585858"/>
                </a:solidFill>
                <a:latin typeface="Calibri"/>
                <a:cs typeface="Calibri"/>
              </a:rPr>
              <a:t> </a:t>
            </a:r>
            <a:r>
              <a:rPr sz="2400" b="1" dirty="0">
                <a:solidFill>
                  <a:srgbClr val="585858"/>
                </a:solidFill>
                <a:latin typeface="Calibri"/>
                <a:cs typeface="Calibri"/>
              </a:rPr>
              <a:t>to</a:t>
            </a:r>
            <a:r>
              <a:rPr sz="2400" b="1" spc="-13" dirty="0">
                <a:solidFill>
                  <a:srgbClr val="585858"/>
                </a:solidFill>
                <a:latin typeface="Calibri"/>
                <a:cs typeface="Calibri"/>
              </a:rPr>
              <a:t> </a:t>
            </a:r>
            <a:r>
              <a:rPr sz="2400" b="1" dirty="0">
                <a:solidFill>
                  <a:srgbClr val="585858"/>
                </a:solidFill>
                <a:latin typeface="Calibri"/>
                <a:cs typeface="Calibri"/>
              </a:rPr>
              <a:t>compare</a:t>
            </a:r>
            <a:r>
              <a:rPr sz="2400" b="1" spc="-27" dirty="0">
                <a:solidFill>
                  <a:srgbClr val="585858"/>
                </a:solidFill>
                <a:latin typeface="Calibri"/>
                <a:cs typeface="Calibri"/>
              </a:rPr>
              <a:t> </a:t>
            </a:r>
            <a:r>
              <a:rPr sz="2400" b="1" dirty="0">
                <a:solidFill>
                  <a:srgbClr val="585858"/>
                </a:solidFill>
                <a:latin typeface="Calibri"/>
                <a:cs typeface="Calibri"/>
              </a:rPr>
              <a:t>facts</a:t>
            </a:r>
            <a:r>
              <a:rPr sz="2400" b="1" spc="-47" dirty="0">
                <a:solidFill>
                  <a:srgbClr val="585858"/>
                </a:solidFill>
                <a:latin typeface="Calibri"/>
                <a:cs typeface="Calibri"/>
              </a:rPr>
              <a:t> </a:t>
            </a:r>
            <a:r>
              <a:rPr sz="2400" b="1" dirty="0">
                <a:solidFill>
                  <a:srgbClr val="585858"/>
                </a:solidFill>
                <a:latin typeface="Calibri"/>
                <a:cs typeface="Calibri"/>
              </a:rPr>
              <a:t>across</a:t>
            </a:r>
            <a:r>
              <a:rPr sz="2400" b="1" spc="-40" dirty="0">
                <a:solidFill>
                  <a:srgbClr val="585858"/>
                </a:solidFill>
                <a:latin typeface="Calibri"/>
                <a:cs typeface="Calibri"/>
              </a:rPr>
              <a:t> </a:t>
            </a:r>
            <a:r>
              <a:rPr sz="2400" b="1" dirty="0">
                <a:solidFill>
                  <a:srgbClr val="585858"/>
                </a:solidFill>
                <a:latin typeface="Calibri"/>
                <a:cs typeface="Calibri"/>
              </a:rPr>
              <a:t>different</a:t>
            </a:r>
            <a:r>
              <a:rPr sz="2400" b="1" spc="-47" dirty="0">
                <a:solidFill>
                  <a:srgbClr val="585858"/>
                </a:solidFill>
                <a:latin typeface="Calibri"/>
                <a:cs typeface="Calibri"/>
              </a:rPr>
              <a:t> </a:t>
            </a:r>
            <a:r>
              <a:rPr sz="2400" b="1" dirty="0">
                <a:solidFill>
                  <a:srgbClr val="585858"/>
                </a:solidFill>
                <a:latin typeface="Calibri"/>
                <a:cs typeface="Calibri"/>
              </a:rPr>
              <a:t>fact </a:t>
            </a:r>
            <a:r>
              <a:rPr sz="2400" b="1" spc="-13" dirty="0">
                <a:solidFill>
                  <a:srgbClr val="585858"/>
                </a:solidFill>
                <a:latin typeface="Calibri"/>
                <a:cs typeface="Calibri"/>
              </a:rPr>
              <a:t>tables.</a:t>
            </a:r>
            <a:endParaRPr sz="2400">
              <a:latin typeface="Calibri"/>
              <a:cs typeface="Calibri"/>
            </a:endParaRP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06320" y="428820"/>
            <a:ext cx="8585200" cy="695062"/>
          </a:xfrm>
          <a:prstGeom prst="rect">
            <a:avLst/>
          </a:prstGeom>
        </p:spPr>
        <p:txBody>
          <a:bodyPr vert="horz" wrap="square" lIns="0" tIns="17780" rIns="0" bIns="0" rtlCol="0" anchor="ctr">
            <a:spAutoFit/>
          </a:bodyPr>
          <a:lstStyle/>
          <a:p>
            <a:pPr marL="1246261">
              <a:lnSpc>
                <a:spcPct val="100000"/>
              </a:lnSpc>
              <a:spcBef>
                <a:spcPts val="140"/>
              </a:spcBef>
            </a:pPr>
            <a:r>
              <a:rPr dirty="0">
                <a:solidFill>
                  <a:schemeClr val="bg1"/>
                </a:solidFill>
                <a:latin typeface="+mn-lt"/>
              </a:rPr>
              <a:t>Conformed</a:t>
            </a:r>
            <a:r>
              <a:rPr spc="-60" dirty="0">
                <a:solidFill>
                  <a:schemeClr val="bg1"/>
                </a:solidFill>
                <a:latin typeface="+mn-lt"/>
              </a:rPr>
              <a:t> </a:t>
            </a:r>
            <a:r>
              <a:rPr spc="-13" dirty="0">
                <a:solidFill>
                  <a:schemeClr val="bg1"/>
                </a:solidFill>
                <a:latin typeface="+mn-lt"/>
              </a:rPr>
              <a:t>dimension</a:t>
            </a:r>
          </a:p>
        </p:txBody>
      </p:sp>
      <p:sp>
        <p:nvSpPr>
          <p:cNvPr id="3" name="object 3"/>
          <p:cNvSpPr txBox="1"/>
          <p:nvPr/>
        </p:nvSpPr>
        <p:spPr>
          <a:xfrm>
            <a:off x="5185663" y="1906015"/>
            <a:ext cx="2201333" cy="538609"/>
          </a:xfrm>
          <a:prstGeom prst="rect">
            <a:avLst/>
          </a:prstGeom>
          <a:solidFill>
            <a:srgbClr val="383838">
              <a:alpha val="89019"/>
            </a:srgbClr>
          </a:solidFill>
        </p:spPr>
        <p:txBody>
          <a:bodyPr vert="horz" wrap="square" lIns="0" tIns="167640" rIns="0" bIns="0" rtlCol="0">
            <a:spAutoFit/>
          </a:bodyPr>
          <a:lstStyle/>
          <a:p>
            <a:pPr marL="502907" indent="-380990">
              <a:spcBef>
                <a:spcPts val="1320"/>
              </a:spcBef>
              <a:buClr>
                <a:srgbClr val="99D3FF"/>
              </a:buClr>
              <a:buFont typeface="Wingdings"/>
              <a:buChar char=""/>
              <a:tabLst>
                <a:tab pos="502907" algn="l"/>
              </a:tabLst>
            </a:pPr>
            <a:r>
              <a:rPr sz="2400" b="1" spc="-13" dirty="0">
                <a:solidFill>
                  <a:srgbClr val="D9D9D9"/>
                </a:solidFill>
                <a:latin typeface="Calibri"/>
                <a:cs typeface="Calibri"/>
              </a:rPr>
              <a:t>Dimension</a:t>
            </a:r>
            <a:endParaRPr sz="2400">
              <a:latin typeface="Calibri"/>
              <a:cs typeface="Calibri"/>
            </a:endParaRPr>
          </a:p>
        </p:txBody>
      </p:sp>
      <p:sp>
        <p:nvSpPr>
          <p:cNvPr id="4" name="object 4"/>
          <p:cNvSpPr txBox="1"/>
          <p:nvPr/>
        </p:nvSpPr>
        <p:spPr>
          <a:xfrm>
            <a:off x="7823200" y="4084319"/>
            <a:ext cx="2438400" cy="541174"/>
          </a:xfrm>
          <a:prstGeom prst="rect">
            <a:avLst/>
          </a:prstGeom>
          <a:solidFill>
            <a:srgbClr val="383838">
              <a:alpha val="89019"/>
            </a:srgbClr>
          </a:solidFill>
        </p:spPr>
        <p:txBody>
          <a:bodyPr vert="horz" wrap="square" lIns="0" tIns="170180" rIns="0" bIns="0" rtlCol="0">
            <a:spAutoFit/>
          </a:bodyPr>
          <a:lstStyle/>
          <a:p>
            <a:pPr marL="503754" indent="-380990">
              <a:spcBef>
                <a:spcPts val="1340"/>
              </a:spcBef>
              <a:buClr>
                <a:srgbClr val="99D3FF"/>
              </a:buClr>
              <a:buFont typeface="Wingdings"/>
              <a:buChar char=""/>
              <a:tabLst>
                <a:tab pos="503754" algn="l"/>
              </a:tabLst>
            </a:pPr>
            <a:r>
              <a:rPr sz="2400" b="1" spc="-13" dirty="0">
                <a:solidFill>
                  <a:srgbClr val="D9D9D9"/>
                </a:solidFill>
                <a:latin typeface="Calibri"/>
                <a:cs typeface="Calibri"/>
              </a:rPr>
              <a:t>Dimension</a:t>
            </a:r>
            <a:endParaRPr sz="2400">
              <a:latin typeface="Calibri"/>
              <a:cs typeface="Calibri"/>
            </a:endParaRPr>
          </a:p>
        </p:txBody>
      </p:sp>
      <p:sp>
        <p:nvSpPr>
          <p:cNvPr id="5" name="object 5"/>
          <p:cNvSpPr txBox="1"/>
          <p:nvPr/>
        </p:nvSpPr>
        <p:spPr>
          <a:xfrm>
            <a:off x="1771903" y="4049776"/>
            <a:ext cx="2438400" cy="539462"/>
          </a:xfrm>
          <a:prstGeom prst="rect">
            <a:avLst/>
          </a:prstGeom>
          <a:solidFill>
            <a:srgbClr val="383838">
              <a:alpha val="89019"/>
            </a:srgbClr>
          </a:solidFill>
        </p:spPr>
        <p:txBody>
          <a:bodyPr vert="horz" wrap="square" lIns="0" tIns="168485" rIns="0" bIns="0" rtlCol="0">
            <a:spAutoFit/>
          </a:bodyPr>
          <a:lstStyle/>
          <a:p>
            <a:pPr marL="503754" indent="-380990">
              <a:spcBef>
                <a:spcPts val="1325"/>
              </a:spcBef>
              <a:buClr>
                <a:srgbClr val="99D3FF"/>
              </a:buClr>
              <a:buFont typeface="Wingdings"/>
              <a:buChar char=""/>
              <a:tabLst>
                <a:tab pos="503754" algn="l"/>
              </a:tabLst>
            </a:pPr>
            <a:r>
              <a:rPr sz="2400" b="1" spc="-13" dirty="0">
                <a:solidFill>
                  <a:srgbClr val="D9D9D9"/>
                </a:solidFill>
                <a:latin typeface="Calibri"/>
                <a:cs typeface="Calibri"/>
              </a:rPr>
              <a:t>Dimension</a:t>
            </a:r>
            <a:endParaRPr sz="2400">
              <a:latin typeface="Calibri"/>
              <a:cs typeface="Calibri"/>
            </a:endParaRPr>
          </a:p>
        </p:txBody>
      </p:sp>
      <p:sp>
        <p:nvSpPr>
          <p:cNvPr id="6" name="object 6"/>
          <p:cNvSpPr/>
          <p:nvPr/>
        </p:nvSpPr>
        <p:spPr>
          <a:xfrm>
            <a:off x="6284976" y="2521711"/>
            <a:ext cx="0" cy="453813"/>
          </a:xfrm>
          <a:custGeom>
            <a:avLst/>
            <a:gdLst/>
            <a:ahLst/>
            <a:cxnLst/>
            <a:rect l="l" t="t" r="r" b="b"/>
            <a:pathLst>
              <a:path h="340360">
                <a:moveTo>
                  <a:pt x="0" y="340105"/>
                </a:moveTo>
                <a:lnTo>
                  <a:pt x="0" y="0"/>
                </a:lnTo>
              </a:path>
            </a:pathLst>
          </a:custGeom>
          <a:ln w="9144">
            <a:solidFill>
              <a:srgbClr val="00C2FF"/>
            </a:solidFill>
          </a:ln>
        </p:spPr>
        <p:txBody>
          <a:bodyPr wrap="square" lIns="0" tIns="0" rIns="0" bIns="0" rtlCol="0"/>
          <a:lstStyle/>
          <a:p>
            <a:endParaRPr sz="2400"/>
          </a:p>
        </p:txBody>
      </p:sp>
      <p:sp>
        <p:nvSpPr>
          <p:cNvPr id="7" name="object 7"/>
          <p:cNvSpPr/>
          <p:nvPr/>
        </p:nvSpPr>
        <p:spPr>
          <a:xfrm>
            <a:off x="7231887" y="3574288"/>
            <a:ext cx="1810173" cy="511387"/>
          </a:xfrm>
          <a:custGeom>
            <a:avLst/>
            <a:gdLst/>
            <a:ahLst/>
            <a:cxnLst/>
            <a:rect l="l" t="t" r="r" b="b"/>
            <a:pathLst>
              <a:path w="1357629" h="383539">
                <a:moveTo>
                  <a:pt x="0" y="0"/>
                </a:moveTo>
                <a:lnTo>
                  <a:pt x="1357630" y="383285"/>
                </a:lnTo>
              </a:path>
            </a:pathLst>
          </a:custGeom>
          <a:ln w="9143">
            <a:solidFill>
              <a:srgbClr val="00C2FF"/>
            </a:solidFill>
          </a:ln>
        </p:spPr>
        <p:txBody>
          <a:bodyPr wrap="square" lIns="0" tIns="0" rIns="0" bIns="0" rtlCol="0"/>
          <a:lstStyle/>
          <a:p>
            <a:endParaRPr sz="2400"/>
          </a:p>
        </p:txBody>
      </p:sp>
      <p:sp>
        <p:nvSpPr>
          <p:cNvPr id="8" name="object 8"/>
          <p:cNvSpPr/>
          <p:nvPr/>
        </p:nvSpPr>
        <p:spPr>
          <a:xfrm>
            <a:off x="2991103" y="3574288"/>
            <a:ext cx="2347807" cy="475827"/>
          </a:xfrm>
          <a:custGeom>
            <a:avLst/>
            <a:gdLst/>
            <a:ahLst/>
            <a:cxnLst/>
            <a:rect l="l" t="t" r="r" b="b"/>
            <a:pathLst>
              <a:path w="1760854" h="356869">
                <a:moveTo>
                  <a:pt x="1760474" y="0"/>
                </a:moveTo>
                <a:lnTo>
                  <a:pt x="0" y="356615"/>
                </a:lnTo>
              </a:path>
            </a:pathLst>
          </a:custGeom>
          <a:ln w="9144">
            <a:solidFill>
              <a:srgbClr val="00C2FF"/>
            </a:solidFill>
          </a:ln>
        </p:spPr>
        <p:txBody>
          <a:bodyPr wrap="square" lIns="0" tIns="0" rIns="0" bIns="0" rtlCol="0"/>
          <a:lstStyle/>
          <a:p>
            <a:endParaRPr sz="2400"/>
          </a:p>
        </p:txBody>
      </p:sp>
      <p:sp>
        <p:nvSpPr>
          <p:cNvPr id="9" name="object 9"/>
          <p:cNvSpPr txBox="1"/>
          <p:nvPr/>
        </p:nvSpPr>
        <p:spPr>
          <a:xfrm>
            <a:off x="5338064" y="2974847"/>
            <a:ext cx="1893993" cy="541174"/>
          </a:xfrm>
          <a:prstGeom prst="rect">
            <a:avLst/>
          </a:prstGeom>
          <a:solidFill>
            <a:srgbClr val="F1F1F1">
              <a:alpha val="89019"/>
            </a:srgbClr>
          </a:solidFill>
        </p:spPr>
        <p:txBody>
          <a:bodyPr vert="horz" wrap="square" lIns="0" tIns="170180" rIns="0" bIns="0" rtlCol="0">
            <a:spAutoFit/>
          </a:bodyPr>
          <a:lstStyle/>
          <a:p>
            <a:pPr marL="328497">
              <a:spcBef>
                <a:spcPts val="1340"/>
              </a:spcBef>
            </a:pPr>
            <a:r>
              <a:rPr sz="2400" b="1" dirty="0">
                <a:solidFill>
                  <a:srgbClr val="0092BE"/>
                </a:solidFill>
                <a:latin typeface="Calibri"/>
                <a:cs typeface="Calibri"/>
              </a:rPr>
              <a:t>Sales</a:t>
            </a:r>
            <a:r>
              <a:rPr sz="2400" b="1" spc="-67" dirty="0">
                <a:solidFill>
                  <a:srgbClr val="0092BE"/>
                </a:solidFill>
                <a:latin typeface="Calibri"/>
                <a:cs typeface="Calibri"/>
              </a:rPr>
              <a:t> </a:t>
            </a:r>
            <a:r>
              <a:rPr sz="2400" b="1" spc="-27" dirty="0">
                <a:solidFill>
                  <a:srgbClr val="0092BE"/>
                </a:solidFill>
                <a:latin typeface="Calibri"/>
                <a:cs typeface="Calibri"/>
              </a:rPr>
              <a:t>Fact</a:t>
            </a:r>
            <a:endParaRPr sz="2400">
              <a:latin typeface="Calibri"/>
              <a:cs typeface="Calibri"/>
            </a:endParaRP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945120" y="3836415"/>
            <a:ext cx="894080" cy="943187"/>
          </a:xfrm>
          <a:custGeom>
            <a:avLst/>
            <a:gdLst/>
            <a:ahLst/>
            <a:cxnLst/>
            <a:rect l="l" t="t" r="r" b="b"/>
            <a:pathLst>
              <a:path w="670559" h="707389">
                <a:moveTo>
                  <a:pt x="670179" y="0"/>
                </a:moveTo>
                <a:lnTo>
                  <a:pt x="0" y="707009"/>
                </a:lnTo>
              </a:path>
            </a:pathLst>
          </a:custGeom>
          <a:ln w="9144">
            <a:solidFill>
              <a:srgbClr val="00C2FF"/>
            </a:solidFill>
          </a:ln>
        </p:spPr>
        <p:txBody>
          <a:bodyPr wrap="square" lIns="0" tIns="0" rIns="0" bIns="0" rtlCol="0"/>
          <a:lstStyle/>
          <a:p>
            <a:endParaRPr sz="2400"/>
          </a:p>
        </p:txBody>
      </p:sp>
      <p:sp>
        <p:nvSpPr>
          <p:cNvPr id="4" name="object 4"/>
          <p:cNvSpPr txBox="1"/>
          <p:nvPr/>
        </p:nvSpPr>
        <p:spPr>
          <a:xfrm>
            <a:off x="4427728" y="2198623"/>
            <a:ext cx="2203027" cy="541174"/>
          </a:xfrm>
          <a:prstGeom prst="rect">
            <a:avLst/>
          </a:prstGeom>
          <a:solidFill>
            <a:srgbClr val="383838">
              <a:alpha val="89019"/>
            </a:srgbClr>
          </a:solidFill>
        </p:spPr>
        <p:txBody>
          <a:bodyPr vert="horz" wrap="square" lIns="0" tIns="170180" rIns="0" bIns="0" rtlCol="0">
            <a:spAutoFit/>
          </a:bodyPr>
          <a:lstStyle/>
          <a:p>
            <a:pPr marL="503754" indent="-380990">
              <a:spcBef>
                <a:spcPts val="1340"/>
              </a:spcBef>
              <a:buClr>
                <a:srgbClr val="99D3FF"/>
              </a:buClr>
              <a:buFont typeface="Wingdings"/>
              <a:buChar char=""/>
              <a:tabLst>
                <a:tab pos="503754" algn="l"/>
              </a:tabLst>
            </a:pPr>
            <a:r>
              <a:rPr sz="2400" b="1" spc="-13" dirty="0">
                <a:solidFill>
                  <a:srgbClr val="D9D9D9"/>
                </a:solidFill>
                <a:latin typeface="Calibri"/>
                <a:cs typeface="Calibri"/>
              </a:rPr>
              <a:t>Dimension</a:t>
            </a:r>
            <a:endParaRPr sz="2400">
              <a:latin typeface="Calibri"/>
              <a:cs typeface="Calibri"/>
            </a:endParaRPr>
          </a:p>
        </p:txBody>
      </p:sp>
      <p:sp>
        <p:nvSpPr>
          <p:cNvPr id="5" name="object 5"/>
          <p:cNvSpPr txBox="1"/>
          <p:nvPr/>
        </p:nvSpPr>
        <p:spPr>
          <a:xfrm>
            <a:off x="6725920" y="4777231"/>
            <a:ext cx="2438400" cy="542029"/>
          </a:xfrm>
          <a:prstGeom prst="rect">
            <a:avLst/>
          </a:prstGeom>
          <a:solidFill>
            <a:srgbClr val="383838">
              <a:alpha val="89019"/>
            </a:srgbClr>
          </a:solidFill>
        </p:spPr>
        <p:txBody>
          <a:bodyPr vert="horz" wrap="square" lIns="0" tIns="171027" rIns="0" bIns="0" rtlCol="0">
            <a:spAutoFit/>
          </a:bodyPr>
          <a:lstStyle/>
          <a:p>
            <a:pPr marL="504601" indent="-380990">
              <a:spcBef>
                <a:spcPts val="1347"/>
              </a:spcBef>
              <a:buClr>
                <a:srgbClr val="99D3FF"/>
              </a:buClr>
              <a:buFont typeface="Wingdings"/>
              <a:buChar char=""/>
              <a:tabLst>
                <a:tab pos="504601" algn="l"/>
              </a:tabLst>
            </a:pPr>
            <a:r>
              <a:rPr sz="2400" b="1" spc="-13" dirty="0">
                <a:solidFill>
                  <a:srgbClr val="D9D9D9"/>
                </a:solidFill>
                <a:latin typeface="Calibri"/>
                <a:cs typeface="Calibri"/>
              </a:rPr>
              <a:t>Dimension</a:t>
            </a:r>
            <a:endParaRPr sz="2400">
              <a:latin typeface="Calibri"/>
              <a:cs typeface="Calibri"/>
            </a:endParaRPr>
          </a:p>
        </p:txBody>
      </p:sp>
      <p:sp>
        <p:nvSpPr>
          <p:cNvPr id="6" name="object 6"/>
          <p:cNvSpPr txBox="1"/>
          <p:nvPr/>
        </p:nvSpPr>
        <p:spPr>
          <a:xfrm>
            <a:off x="1219200" y="4781295"/>
            <a:ext cx="2438400" cy="540319"/>
          </a:xfrm>
          <a:prstGeom prst="rect">
            <a:avLst/>
          </a:prstGeom>
          <a:solidFill>
            <a:srgbClr val="383838">
              <a:alpha val="89019"/>
            </a:srgbClr>
          </a:solidFill>
        </p:spPr>
        <p:txBody>
          <a:bodyPr vert="horz" wrap="square" lIns="0" tIns="169333" rIns="0" bIns="0" rtlCol="0">
            <a:spAutoFit/>
          </a:bodyPr>
          <a:lstStyle/>
          <a:p>
            <a:pPr marL="502907" indent="-380990">
              <a:spcBef>
                <a:spcPts val="1333"/>
              </a:spcBef>
              <a:buClr>
                <a:srgbClr val="99D3FF"/>
              </a:buClr>
              <a:buFont typeface="Wingdings"/>
              <a:buChar char=""/>
              <a:tabLst>
                <a:tab pos="502907" algn="l"/>
              </a:tabLst>
            </a:pPr>
            <a:r>
              <a:rPr sz="2400" b="1" spc="-13" dirty="0">
                <a:solidFill>
                  <a:srgbClr val="D9D9D9"/>
                </a:solidFill>
                <a:latin typeface="Calibri"/>
                <a:cs typeface="Calibri"/>
              </a:rPr>
              <a:t>Dimension</a:t>
            </a:r>
            <a:endParaRPr sz="2400">
              <a:latin typeface="Calibri"/>
              <a:cs typeface="Calibri"/>
            </a:endParaRPr>
          </a:p>
        </p:txBody>
      </p:sp>
      <p:sp>
        <p:nvSpPr>
          <p:cNvPr id="7" name="object 7"/>
          <p:cNvSpPr/>
          <p:nvPr/>
        </p:nvSpPr>
        <p:spPr>
          <a:xfrm>
            <a:off x="5529071" y="2816352"/>
            <a:ext cx="0" cy="453813"/>
          </a:xfrm>
          <a:custGeom>
            <a:avLst/>
            <a:gdLst/>
            <a:ahLst/>
            <a:cxnLst/>
            <a:rect l="l" t="t" r="r" b="b"/>
            <a:pathLst>
              <a:path h="340360">
                <a:moveTo>
                  <a:pt x="0" y="340106"/>
                </a:moveTo>
                <a:lnTo>
                  <a:pt x="0" y="0"/>
                </a:lnTo>
              </a:path>
            </a:pathLst>
          </a:custGeom>
          <a:ln w="9144">
            <a:solidFill>
              <a:srgbClr val="00C2FF"/>
            </a:solidFill>
          </a:ln>
        </p:spPr>
        <p:txBody>
          <a:bodyPr wrap="square" lIns="0" tIns="0" rIns="0" bIns="0" rtlCol="0"/>
          <a:lstStyle/>
          <a:p>
            <a:endParaRPr sz="2400"/>
          </a:p>
        </p:txBody>
      </p:sp>
      <p:sp>
        <p:nvSpPr>
          <p:cNvPr id="8" name="object 8"/>
          <p:cNvSpPr/>
          <p:nvPr/>
        </p:nvSpPr>
        <p:spPr>
          <a:xfrm>
            <a:off x="6445505" y="3887215"/>
            <a:ext cx="1499447" cy="890693"/>
          </a:xfrm>
          <a:custGeom>
            <a:avLst/>
            <a:gdLst/>
            <a:ahLst/>
            <a:cxnLst/>
            <a:rect l="l" t="t" r="r" b="b"/>
            <a:pathLst>
              <a:path w="1124585" h="668020">
                <a:moveTo>
                  <a:pt x="0" y="0"/>
                </a:moveTo>
                <a:lnTo>
                  <a:pt x="1124458" y="667766"/>
                </a:lnTo>
              </a:path>
            </a:pathLst>
          </a:custGeom>
          <a:ln w="9143">
            <a:solidFill>
              <a:srgbClr val="00C2FF"/>
            </a:solidFill>
          </a:ln>
        </p:spPr>
        <p:txBody>
          <a:bodyPr wrap="square" lIns="0" tIns="0" rIns="0" bIns="0" rtlCol="0"/>
          <a:lstStyle/>
          <a:p>
            <a:endParaRPr sz="2400"/>
          </a:p>
        </p:txBody>
      </p:sp>
      <p:sp>
        <p:nvSpPr>
          <p:cNvPr id="9" name="object 9"/>
          <p:cNvSpPr/>
          <p:nvPr/>
        </p:nvSpPr>
        <p:spPr>
          <a:xfrm>
            <a:off x="2438401" y="3887216"/>
            <a:ext cx="2144607" cy="893233"/>
          </a:xfrm>
          <a:custGeom>
            <a:avLst/>
            <a:gdLst/>
            <a:ahLst/>
            <a:cxnLst/>
            <a:rect l="l" t="t" r="r" b="b"/>
            <a:pathLst>
              <a:path w="1608454" h="669925">
                <a:moveTo>
                  <a:pt x="1608074" y="0"/>
                </a:moveTo>
                <a:lnTo>
                  <a:pt x="0" y="669797"/>
                </a:lnTo>
              </a:path>
            </a:pathLst>
          </a:custGeom>
          <a:ln w="9143">
            <a:solidFill>
              <a:srgbClr val="00C2FF"/>
            </a:solidFill>
          </a:ln>
        </p:spPr>
        <p:txBody>
          <a:bodyPr wrap="square" lIns="0" tIns="0" rIns="0" bIns="0" rtlCol="0"/>
          <a:lstStyle/>
          <a:p>
            <a:endParaRPr sz="2400"/>
          </a:p>
        </p:txBody>
      </p:sp>
      <p:sp>
        <p:nvSpPr>
          <p:cNvPr id="10" name="object 10"/>
          <p:cNvSpPr txBox="1"/>
          <p:nvPr/>
        </p:nvSpPr>
        <p:spPr>
          <a:xfrm>
            <a:off x="4582161" y="3269489"/>
            <a:ext cx="1893993" cy="541174"/>
          </a:xfrm>
          <a:prstGeom prst="rect">
            <a:avLst/>
          </a:prstGeom>
          <a:solidFill>
            <a:srgbClr val="F1F1F1">
              <a:alpha val="89019"/>
            </a:srgbClr>
          </a:solidFill>
        </p:spPr>
        <p:txBody>
          <a:bodyPr vert="horz" wrap="square" lIns="0" tIns="170180" rIns="0" bIns="0" rtlCol="0">
            <a:spAutoFit/>
          </a:bodyPr>
          <a:lstStyle/>
          <a:p>
            <a:pPr marL="328497">
              <a:spcBef>
                <a:spcPts val="1340"/>
              </a:spcBef>
            </a:pPr>
            <a:r>
              <a:rPr sz="2400" b="1" dirty="0">
                <a:solidFill>
                  <a:srgbClr val="0092BE"/>
                </a:solidFill>
                <a:latin typeface="Calibri"/>
                <a:cs typeface="Calibri"/>
              </a:rPr>
              <a:t>Sales</a:t>
            </a:r>
            <a:r>
              <a:rPr sz="2400" b="1" spc="-67" dirty="0">
                <a:solidFill>
                  <a:srgbClr val="0092BE"/>
                </a:solidFill>
                <a:latin typeface="Calibri"/>
                <a:cs typeface="Calibri"/>
              </a:rPr>
              <a:t> </a:t>
            </a:r>
            <a:r>
              <a:rPr sz="2400" b="1" spc="-27" dirty="0">
                <a:solidFill>
                  <a:srgbClr val="0092BE"/>
                </a:solidFill>
                <a:latin typeface="Calibri"/>
                <a:cs typeface="Calibri"/>
              </a:rPr>
              <a:t>Fact</a:t>
            </a:r>
            <a:endParaRPr sz="2400">
              <a:latin typeface="Calibri"/>
              <a:cs typeface="Calibri"/>
            </a:endParaRPr>
          </a:p>
        </p:txBody>
      </p:sp>
      <p:sp>
        <p:nvSpPr>
          <p:cNvPr id="11" name="object 11"/>
          <p:cNvSpPr txBox="1"/>
          <p:nvPr/>
        </p:nvSpPr>
        <p:spPr>
          <a:xfrm>
            <a:off x="8806689" y="3269489"/>
            <a:ext cx="1893993" cy="541174"/>
          </a:xfrm>
          <a:prstGeom prst="rect">
            <a:avLst/>
          </a:prstGeom>
          <a:solidFill>
            <a:srgbClr val="F1F1F1">
              <a:alpha val="89019"/>
            </a:srgbClr>
          </a:solidFill>
        </p:spPr>
        <p:txBody>
          <a:bodyPr vert="horz" wrap="square" lIns="0" tIns="170180" rIns="0" bIns="0" rtlCol="0">
            <a:spAutoFit/>
          </a:bodyPr>
          <a:lstStyle/>
          <a:p>
            <a:pPr marL="375064">
              <a:spcBef>
                <a:spcPts val="1340"/>
              </a:spcBef>
            </a:pPr>
            <a:r>
              <a:rPr sz="2400" b="1" dirty="0">
                <a:solidFill>
                  <a:srgbClr val="0092BE"/>
                </a:solidFill>
                <a:latin typeface="Calibri"/>
                <a:cs typeface="Calibri"/>
              </a:rPr>
              <a:t>Cost</a:t>
            </a:r>
            <a:r>
              <a:rPr sz="2400" b="1" spc="-20" dirty="0">
                <a:solidFill>
                  <a:srgbClr val="0092BE"/>
                </a:solidFill>
                <a:latin typeface="Calibri"/>
                <a:cs typeface="Calibri"/>
              </a:rPr>
              <a:t> </a:t>
            </a:r>
            <a:r>
              <a:rPr sz="2400" b="1" spc="-27" dirty="0">
                <a:solidFill>
                  <a:srgbClr val="0092BE"/>
                </a:solidFill>
                <a:latin typeface="Calibri"/>
                <a:cs typeface="Calibri"/>
              </a:rPr>
              <a:t>Fact</a:t>
            </a:r>
            <a:endParaRPr sz="2400">
              <a:latin typeface="Calibri"/>
              <a:cs typeface="Calibri"/>
            </a:endParaRPr>
          </a:p>
        </p:txBody>
      </p:sp>
      <p:sp>
        <p:nvSpPr>
          <p:cNvPr id="12" name="object 12"/>
          <p:cNvSpPr txBox="1"/>
          <p:nvPr/>
        </p:nvSpPr>
        <p:spPr>
          <a:xfrm>
            <a:off x="9329080" y="4776894"/>
            <a:ext cx="2226733" cy="586507"/>
          </a:xfrm>
          <a:prstGeom prst="rect">
            <a:avLst/>
          </a:prstGeom>
        </p:spPr>
        <p:txBody>
          <a:bodyPr vert="horz" wrap="square" lIns="0" tIns="15240" rIns="0" bIns="0" rtlCol="0">
            <a:spAutoFit/>
          </a:bodyPr>
          <a:lstStyle/>
          <a:p>
            <a:pPr marL="211661" marR="6773" indent="-195575">
              <a:lnSpc>
                <a:spcPct val="100699"/>
              </a:lnSpc>
              <a:spcBef>
                <a:spcPts val="120"/>
              </a:spcBef>
            </a:pPr>
            <a:r>
              <a:rPr sz="1867" b="1" spc="-13" dirty="0">
                <a:solidFill>
                  <a:srgbClr val="D9D9D9"/>
                </a:solidFill>
                <a:latin typeface="Calibri"/>
                <a:cs typeface="Calibri"/>
              </a:rPr>
              <a:t>Conformed</a:t>
            </a:r>
            <a:r>
              <a:rPr sz="1867" b="1" spc="13" dirty="0">
                <a:solidFill>
                  <a:srgbClr val="D9D9D9"/>
                </a:solidFill>
                <a:latin typeface="Calibri"/>
                <a:cs typeface="Calibri"/>
              </a:rPr>
              <a:t> </a:t>
            </a:r>
            <a:r>
              <a:rPr sz="1867" b="1" spc="-13" dirty="0">
                <a:solidFill>
                  <a:srgbClr val="D9D9D9"/>
                </a:solidFill>
                <a:latin typeface="Calibri"/>
                <a:cs typeface="Calibri"/>
              </a:rPr>
              <a:t>dimension </a:t>
            </a:r>
            <a:r>
              <a:rPr sz="1867" b="1" dirty="0">
                <a:solidFill>
                  <a:srgbClr val="D9D9D9"/>
                </a:solidFill>
                <a:latin typeface="Calibri"/>
                <a:cs typeface="Calibri"/>
              </a:rPr>
              <a:t>(shared</a:t>
            </a:r>
            <a:r>
              <a:rPr sz="1867" b="1" spc="-47" dirty="0">
                <a:solidFill>
                  <a:srgbClr val="D9D9D9"/>
                </a:solidFill>
                <a:latin typeface="Calibri"/>
                <a:cs typeface="Calibri"/>
              </a:rPr>
              <a:t> </a:t>
            </a:r>
            <a:r>
              <a:rPr sz="1867" b="1" spc="-13" dirty="0">
                <a:solidFill>
                  <a:srgbClr val="D9D9D9"/>
                </a:solidFill>
                <a:latin typeface="Calibri"/>
                <a:cs typeface="Calibri"/>
              </a:rPr>
              <a:t>attributes)</a:t>
            </a:r>
            <a:endParaRPr sz="1867">
              <a:latin typeface="Calibri"/>
              <a:cs typeface="Calibri"/>
            </a:endParaRPr>
          </a:p>
        </p:txBody>
      </p:sp>
      <p:sp>
        <p:nvSpPr>
          <p:cNvPr id="13" name="object 2">
            <a:extLst>
              <a:ext uri="{FF2B5EF4-FFF2-40B4-BE49-F238E27FC236}">
                <a16:creationId xmlns:a16="http://schemas.microsoft.com/office/drawing/2014/main" id="{E160B43D-2631-F4CE-75DE-D32F5F041236}"/>
              </a:ext>
            </a:extLst>
          </p:cNvPr>
          <p:cNvSpPr txBox="1">
            <a:spLocks/>
          </p:cNvSpPr>
          <p:nvPr/>
        </p:nvSpPr>
        <p:spPr>
          <a:xfrm>
            <a:off x="664178" y="182260"/>
            <a:ext cx="9340765" cy="695062"/>
          </a:xfrm>
          <a:prstGeom prst="rect">
            <a:avLst/>
          </a:prstGeom>
        </p:spPr>
        <p:txBody>
          <a:bodyPr vert="horz" wrap="square" lIns="0" tIns="1778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46261" algn="ctr">
              <a:lnSpc>
                <a:spcPct val="100000"/>
              </a:lnSpc>
              <a:spcBef>
                <a:spcPts val="140"/>
              </a:spcBef>
            </a:pPr>
            <a:r>
              <a:rPr lang="en-IN" dirty="0">
                <a:solidFill>
                  <a:schemeClr val="bg1"/>
                </a:solidFill>
                <a:latin typeface="+mn-lt"/>
              </a:rPr>
              <a:t>Conformed</a:t>
            </a:r>
            <a:r>
              <a:rPr lang="en-IN" spc="-60" dirty="0">
                <a:solidFill>
                  <a:schemeClr val="bg1"/>
                </a:solidFill>
                <a:latin typeface="+mn-lt"/>
              </a:rPr>
              <a:t> </a:t>
            </a:r>
            <a:r>
              <a:rPr lang="en-IN" spc="-13" dirty="0">
                <a:solidFill>
                  <a:schemeClr val="bg1"/>
                </a:solidFill>
                <a:latin typeface="+mn-lt"/>
              </a:rPr>
              <a:t>dimension</a:t>
            </a:r>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336544" y="2820415"/>
            <a:ext cx="1391073" cy="508000"/>
          </a:xfrm>
          <a:custGeom>
            <a:avLst/>
            <a:gdLst/>
            <a:ahLst/>
            <a:cxnLst/>
            <a:rect l="l" t="t" r="r" b="b"/>
            <a:pathLst>
              <a:path w="1043304" h="381000">
                <a:moveTo>
                  <a:pt x="1042796" y="381000"/>
                </a:moveTo>
                <a:lnTo>
                  <a:pt x="0" y="0"/>
                </a:lnTo>
              </a:path>
            </a:pathLst>
          </a:custGeom>
          <a:ln w="9144">
            <a:solidFill>
              <a:srgbClr val="00C2FF"/>
            </a:solidFill>
          </a:ln>
        </p:spPr>
        <p:txBody>
          <a:bodyPr wrap="square" lIns="0" tIns="0" rIns="0" bIns="0" rtlCol="0"/>
          <a:lstStyle/>
          <a:p>
            <a:endParaRPr sz="2400"/>
          </a:p>
        </p:txBody>
      </p:sp>
      <p:sp>
        <p:nvSpPr>
          <p:cNvPr id="3" name="object 3"/>
          <p:cNvSpPr/>
          <p:nvPr/>
        </p:nvSpPr>
        <p:spPr>
          <a:xfrm>
            <a:off x="7945120" y="3836415"/>
            <a:ext cx="894080" cy="943187"/>
          </a:xfrm>
          <a:custGeom>
            <a:avLst/>
            <a:gdLst/>
            <a:ahLst/>
            <a:cxnLst/>
            <a:rect l="l" t="t" r="r" b="b"/>
            <a:pathLst>
              <a:path w="670559" h="707389">
                <a:moveTo>
                  <a:pt x="670179" y="0"/>
                </a:moveTo>
                <a:lnTo>
                  <a:pt x="0" y="707009"/>
                </a:lnTo>
              </a:path>
            </a:pathLst>
          </a:custGeom>
          <a:ln w="9144">
            <a:solidFill>
              <a:srgbClr val="00C2FF"/>
            </a:solidFill>
          </a:ln>
        </p:spPr>
        <p:txBody>
          <a:bodyPr wrap="square" lIns="0" tIns="0" rIns="0" bIns="0" rtlCol="0"/>
          <a:lstStyle/>
          <a:p>
            <a:endParaRPr sz="2400"/>
          </a:p>
        </p:txBody>
      </p:sp>
      <p:sp>
        <p:nvSpPr>
          <p:cNvPr id="5" name="object 5"/>
          <p:cNvSpPr txBox="1"/>
          <p:nvPr/>
        </p:nvSpPr>
        <p:spPr>
          <a:xfrm>
            <a:off x="6620255" y="1806448"/>
            <a:ext cx="2203027" cy="540319"/>
          </a:xfrm>
          <a:prstGeom prst="rect">
            <a:avLst/>
          </a:prstGeom>
          <a:solidFill>
            <a:srgbClr val="383838">
              <a:alpha val="89019"/>
            </a:srgbClr>
          </a:solidFill>
        </p:spPr>
        <p:txBody>
          <a:bodyPr vert="horz" wrap="square" lIns="0" tIns="169333" rIns="0" bIns="0" rtlCol="0">
            <a:spAutoFit/>
          </a:bodyPr>
          <a:lstStyle/>
          <a:p>
            <a:pPr marL="505447" indent="-381837">
              <a:spcBef>
                <a:spcPts val="1333"/>
              </a:spcBef>
              <a:buClr>
                <a:srgbClr val="99D3FF"/>
              </a:buClr>
              <a:buFont typeface="Wingdings"/>
              <a:buChar char=""/>
              <a:tabLst>
                <a:tab pos="505447" algn="l"/>
              </a:tabLst>
            </a:pPr>
            <a:r>
              <a:rPr sz="2400" b="1" spc="-13" dirty="0">
                <a:solidFill>
                  <a:srgbClr val="D9D9D9"/>
                </a:solidFill>
                <a:latin typeface="Calibri"/>
                <a:cs typeface="Calibri"/>
              </a:rPr>
              <a:t>Region</a:t>
            </a:r>
            <a:endParaRPr sz="2400">
              <a:latin typeface="Calibri"/>
              <a:cs typeface="Calibri"/>
            </a:endParaRPr>
          </a:p>
        </p:txBody>
      </p:sp>
      <p:sp>
        <p:nvSpPr>
          <p:cNvPr id="6" name="object 6"/>
          <p:cNvSpPr txBox="1"/>
          <p:nvPr/>
        </p:nvSpPr>
        <p:spPr>
          <a:xfrm>
            <a:off x="6725920" y="4777231"/>
            <a:ext cx="2438400" cy="542029"/>
          </a:xfrm>
          <a:prstGeom prst="rect">
            <a:avLst/>
          </a:prstGeom>
          <a:solidFill>
            <a:srgbClr val="383838">
              <a:alpha val="89019"/>
            </a:srgbClr>
          </a:solidFill>
        </p:spPr>
        <p:txBody>
          <a:bodyPr vert="horz" wrap="square" lIns="0" tIns="171027" rIns="0" bIns="0" rtlCol="0">
            <a:spAutoFit/>
          </a:bodyPr>
          <a:lstStyle/>
          <a:p>
            <a:pPr marL="504601" indent="-380990">
              <a:spcBef>
                <a:spcPts val="1347"/>
              </a:spcBef>
              <a:buClr>
                <a:srgbClr val="99D3FF"/>
              </a:buClr>
              <a:buFont typeface="Wingdings"/>
              <a:buChar char=""/>
              <a:tabLst>
                <a:tab pos="504601" algn="l"/>
              </a:tabLst>
            </a:pPr>
            <a:r>
              <a:rPr sz="2400" b="1" spc="-13" dirty="0">
                <a:solidFill>
                  <a:srgbClr val="D9D9D9"/>
                </a:solidFill>
                <a:latin typeface="Calibri"/>
                <a:cs typeface="Calibri"/>
              </a:rPr>
              <a:t>Time/Date</a:t>
            </a:r>
            <a:endParaRPr sz="2400">
              <a:latin typeface="Calibri"/>
              <a:cs typeface="Calibri"/>
            </a:endParaRPr>
          </a:p>
        </p:txBody>
      </p:sp>
      <p:sp>
        <p:nvSpPr>
          <p:cNvPr id="7" name="object 7"/>
          <p:cNvSpPr txBox="1"/>
          <p:nvPr/>
        </p:nvSpPr>
        <p:spPr>
          <a:xfrm>
            <a:off x="1219200" y="4781295"/>
            <a:ext cx="2438400" cy="540319"/>
          </a:xfrm>
          <a:prstGeom prst="rect">
            <a:avLst/>
          </a:prstGeom>
          <a:solidFill>
            <a:srgbClr val="383838">
              <a:alpha val="89019"/>
            </a:srgbClr>
          </a:solidFill>
        </p:spPr>
        <p:txBody>
          <a:bodyPr vert="horz" wrap="square" lIns="0" tIns="169333" rIns="0" bIns="0" rtlCol="0">
            <a:spAutoFit/>
          </a:bodyPr>
          <a:lstStyle/>
          <a:p>
            <a:pPr marL="502907" indent="-380990">
              <a:spcBef>
                <a:spcPts val="1333"/>
              </a:spcBef>
              <a:buClr>
                <a:srgbClr val="99D3FF"/>
              </a:buClr>
              <a:buFont typeface="Wingdings"/>
              <a:buChar char=""/>
              <a:tabLst>
                <a:tab pos="502907" algn="l"/>
              </a:tabLst>
            </a:pPr>
            <a:r>
              <a:rPr sz="2400" b="1" spc="-13" dirty="0">
                <a:solidFill>
                  <a:srgbClr val="D9D9D9"/>
                </a:solidFill>
                <a:latin typeface="Calibri"/>
                <a:cs typeface="Calibri"/>
              </a:rPr>
              <a:t>Dimension</a:t>
            </a:r>
            <a:endParaRPr sz="2400">
              <a:latin typeface="Calibri"/>
              <a:cs typeface="Calibri"/>
            </a:endParaRPr>
          </a:p>
        </p:txBody>
      </p:sp>
      <p:grpSp>
        <p:nvGrpSpPr>
          <p:cNvPr id="8" name="object 8"/>
          <p:cNvGrpSpPr/>
          <p:nvPr/>
        </p:nvGrpSpPr>
        <p:grpSpPr>
          <a:xfrm>
            <a:off x="2432050" y="2417826"/>
            <a:ext cx="5519420" cy="2368973"/>
            <a:chOff x="1824037" y="1813369"/>
            <a:chExt cx="4139565" cy="1776730"/>
          </a:xfrm>
        </p:grpSpPr>
        <p:sp>
          <p:nvSpPr>
            <p:cNvPr id="9" name="object 9"/>
            <p:cNvSpPr/>
            <p:nvPr/>
          </p:nvSpPr>
          <p:spPr>
            <a:xfrm>
              <a:off x="1828800" y="1818132"/>
              <a:ext cx="4130040" cy="1767205"/>
            </a:xfrm>
            <a:custGeom>
              <a:avLst/>
              <a:gdLst/>
              <a:ahLst/>
              <a:cxnLst/>
              <a:rect l="l" t="t" r="r" b="b"/>
              <a:pathLst>
                <a:path w="4130040" h="1767204">
                  <a:moveTo>
                    <a:pt x="3005328" y="634618"/>
                  </a:moveTo>
                  <a:lnTo>
                    <a:pt x="3961891" y="0"/>
                  </a:lnTo>
                </a:path>
                <a:path w="4130040" h="1767204">
                  <a:moveTo>
                    <a:pt x="3005328" y="1097279"/>
                  </a:moveTo>
                  <a:lnTo>
                    <a:pt x="4129786" y="1765045"/>
                  </a:lnTo>
                </a:path>
                <a:path w="4130040" h="1767204">
                  <a:moveTo>
                    <a:pt x="1608074" y="1097279"/>
                  </a:moveTo>
                  <a:lnTo>
                    <a:pt x="0" y="1767077"/>
                  </a:lnTo>
                </a:path>
              </a:pathLst>
            </a:custGeom>
            <a:ln w="9144">
              <a:solidFill>
                <a:srgbClr val="00C2FF"/>
              </a:solidFill>
            </a:ln>
          </p:spPr>
          <p:txBody>
            <a:bodyPr wrap="square" lIns="0" tIns="0" rIns="0" bIns="0" rtlCol="0"/>
            <a:lstStyle/>
            <a:p>
              <a:endParaRPr sz="2400"/>
            </a:p>
          </p:txBody>
        </p:sp>
        <p:sp>
          <p:nvSpPr>
            <p:cNvPr id="10" name="object 10"/>
            <p:cNvSpPr/>
            <p:nvPr/>
          </p:nvSpPr>
          <p:spPr>
            <a:xfrm>
              <a:off x="3436619" y="2452116"/>
              <a:ext cx="1420495" cy="463550"/>
            </a:xfrm>
            <a:custGeom>
              <a:avLst/>
              <a:gdLst/>
              <a:ahLst/>
              <a:cxnLst/>
              <a:rect l="l" t="t" r="r" b="b"/>
              <a:pathLst>
                <a:path w="1420495" h="463550">
                  <a:moveTo>
                    <a:pt x="1420368" y="0"/>
                  </a:moveTo>
                  <a:lnTo>
                    <a:pt x="0" y="0"/>
                  </a:lnTo>
                  <a:lnTo>
                    <a:pt x="0" y="463295"/>
                  </a:lnTo>
                  <a:lnTo>
                    <a:pt x="1420368" y="463295"/>
                  </a:lnTo>
                  <a:lnTo>
                    <a:pt x="1420368" y="0"/>
                  </a:lnTo>
                  <a:close/>
                </a:path>
              </a:pathLst>
            </a:custGeom>
            <a:solidFill>
              <a:srgbClr val="F1F1F1">
                <a:alpha val="89019"/>
              </a:srgbClr>
            </a:solidFill>
          </p:spPr>
          <p:txBody>
            <a:bodyPr wrap="square" lIns="0" tIns="0" rIns="0" bIns="0" rtlCol="0"/>
            <a:lstStyle/>
            <a:p>
              <a:endParaRPr sz="2400"/>
            </a:p>
          </p:txBody>
        </p:sp>
      </p:grpSp>
      <p:sp>
        <p:nvSpPr>
          <p:cNvPr id="11" name="object 11"/>
          <p:cNvSpPr txBox="1"/>
          <p:nvPr/>
        </p:nvSpPr>
        <p:spPr>
          <a:xfrm>
            <a:off x="4894071" y="3423243"/>
            <a:ext cx="1268307" cy="386430"/>
          </a:xfrm>
          <a:prstGeom prst="rect">
            <a:avLst/>
          </a:prstGeom>
        </p:spPr>
        <p:txBody>
          <a:bodyPr vert="horz" wrap="square" lIns="0" tIns="16933" rIns="0" bIns="0" rtlCol="0">
            <a:spAutoFit/>
          </a:bodyPr>
          <a:lstStyle/>
          <a:p>
            <a:pPr marL="16933">
              <a:spcBef>
                <a:spcPts val="133"/>
              </a:spcBef>
            </a:pPr>
            <a:r>
              <a:rPr sz="2400" b="1" dirty="0">
                <a:solidFill>
                  <a:srgbClr val="0092BE"/>
                </a:solidFill>
                <a:latin typeface="Calibri"/>
                <a:cs typeface="Calibri"/>
              </a:rPr>
              <a:t>Sales</a:t>
            </a:r>
            <a:r>
              <a:rPr sz="2400" b="1" spc="-67" dirty="0">
                <a:solidFill>
                  <a:srgbClr val="0092BE"/>
                </a:solidFill>
                <a:latin typeface="Calibri"/>
                <a:cs typeface="Calibri"/>
              </a:rPr>
              <a:t> </a:t>
            </a:r>
            <a:r>
              <a:rPr sz="2400" b="1" spc="-27" dirty="0">
                <a:solidFill>
                  <a:srgbClr val="0092BE"/>
                </a:solidFill>
                <a:latin typeface="Calibri"/>
                <a:cs typeface="Calibri"/>
              </a:rPr>
              <a:t>Fact</a:t>
            </a:r>
            <a:endParaRPr sz="2400">
              <a:latin typeface="Calibri"/>
              <a:cs typeface="Calibri"/>
            </a:endParaRPr>
          </a:p>
        </p:txBody>
      </p:sp>
      <p:sp>
        <p:nvSpPr>
          <p:cNvPr id="12" name="object 12"/>
          <p:cNvSpPr/>
          <p:nvPr/>
        </p:nvSpPr>
        <p:spPr>
          <a:xfrm>
            <a:off x="8806689" y="3269488"/>
            <a:ext cx="1893993" cy="618067"/>
          </a:xfrm>
          <a:custGeom>
            <a:avLst/>
            <a:gdLst/>
            <a:ahLst/>
            <a:cxnLst/>
            <a:rect l="l" t="t" r="r" b="b"/>
            <a:pathLst>
              <a:path w="1420495" h="463550">
                <a:moveTo>
                  <a:pt x="1420368" y="0"/>
                </a:moveTo>
                <a:lnTo>
                  <a:pt x="0" y="0"/>
                </a:lnTo>
                <a:lnTo>
                  <a:pt x="0" y="463295"/>
                </a:lnTo>
                <a:lnTo>
                  <a:pt x="1420368" y="463295"/>
                </a:lnTo>
                <a:lnTo>
                  <a:pt x="1420368" y="0"/>
                </a:lnTo>
                <a:close/>
              </a:path>
            </a:pathLst>
          </a:custGeom>
          <a:solidFill>
            <a:srgbClr val="F1F1F1">
              <a:alpha val="89019"/>
            </a:srgbClr>
          </a:solidFill>
        </p:spPr>
        <p:txBody>
          <a:bodyPr wrap="square" lIns="0" tIns="0" rIns="0" bIns="0" rtlCol="0"/>
          <a:lstStyle/>
          <a:p>
            <a:endParaRPr sz="2400"/>
          </a:p>
        </p:txBody>
      </p:sp>
      <p:sp>
        <p:nvSpPr>
          <p:cNvPr id="13" name="object 13"/>
          <p:cNvSpPr txBox="1"/>
          <p:nvPr/>
        </p:nvSpPr>
        <p:spPr>
          <a:xfrm>
            <a:off x="9165675" y="3423243"/>
            <a:ext cx="1178559" cy="386430"/>
          </a:xfrm>
          <a:prstGeom prst="rect">
            <a:avLst/>
          </a:prstGeom>
        </p:spPr>
        <p:txBody>
          <a:bodyPr vert="horz" wrap="square" lIns="0" tIns="16933" rIns="0" bIns="0" rtlCol="0">
            <a:spAutoFit/>
          </a:bodyPr>
          <a:lstStyle/>
          <a:p>
            <a:pPr marL="16933">
              <a:spcBef>
                <a:spcPts val="133"/>
              </a:spcBef>
            </a:pPr>
            <a:r>
              <a:rPr sz="2400" b="1" dirty="0">
                <a:solidFill>
                  <a:srgbClr val="0092BE"/>
                </a:solidFill>
                <a:latin typeface="Calibri"/>
                <a:cs typeface="Calibri"/>
              </a:rPr>
              <a:t>Cost</a:t>
            </a:r>
            <a:r>
              <a:rPr sz="2400" b="1" spc="-20" dirty="0">
                <a:solidFill>
                  <a:srgbClr val="0092BE"/>
                </a:solidFill>
                <a:latin typeface="Calibri"/>
                <a:cs typeface="Calibri"/>
              </a:rPr>
              <a:t> </a:t>
            </a:r>
            <a:r>
              <a:rPr sz="2400" b="1" spc="-27" dirty="0">
                <a:solidFill>
                  <a:srgbClr val="0092BE"/>
                </a:solidFill>
                <a:latin typeface="Calibri"/>
                <a:cs typeface="Calibri"/>
              </a:rPr>
              <a:t>Fact</a:t>
            </a:r>
            <a:endParaRPr sz="2400">
              <a:latin typeface="Calibri"/>
              <a:cs typeface="Calibri"/>
            </a:endParaRPr>
          </a:p>
        </p:txBody>
      </p:sp>
      <p:grpSp>
        <p:nvGrpSpPr>
          <p:cNvPr id="14" name="object 14"/>
          <p:cNvGrpSpPr/>
          <p:nvPr/>
        </p:nvGrpSpPr>
        <p:grpSpPr>
          <a:xfrm>
            <a:off x="6419087" y="2418081"/>
            <a:ext cx="2593340" cy="1396153"/>
            <a:chOff x="4814315" y="1813560"/>
            <a:chExt cx="1945005" cy="1047115"/>
          </a:xfrm>
        </p:grpSpPr>
        <p:sp>
          <p:nvSpPr>
            <p:cNvPr id="15" name="object 15"/>
            <p:cNvSpPr/>
            <p:nvPr/>
          </p:nvSpPr>
          <p:spPr>
            <a:xfrm>
              <a:off x="5791199" y="1818132"/>
              <a:ext cx="838200" cy="635000"/>
            </a:xfrm>
            <a:custGeom>
              <a:avLst/>
              <a:gdLst/>
              <a:ahLst/>
              <a:cxnLst/>
              <a:rect l="l" t="t" r="r" b="b"/>
              <a:pathLst>
                <a:path w="838200" h="635000">
                  <a:moveTo>
                    <a:pt x="838073" y="634618"/>
                  </a:moveTo>
                  <a:lnTo>
                    <a:pt x="0" y="0"/>
                  </a:lnTo>
                </a:path>
              </a:pathLst>
            </a:custGeom>
            <a:ln w="9144">
              <a:solidFill>
                <a:srgbClr val="00C2FF"/>
              </a:solidFill>
            </a:ln>
          </p:spPr>
          <p:txBody>
            <a:bodyPr wrap="square" lIns="0" tIns="0" rIns="0" bIns="0" rtlCol="0"/>
            <a:lstStyle/>
            <a:p>
              <a:endParaRPr sz="2400"/>
            </a:p>
          </p:txBody>
        </p:sp>
        <p:pic>
          <p:nvPicPr>
            <p:cNvPr id="16" name="object 16"/>
            <p:cNvPicPr/>
            <p:nvPr/>
          </p:nvPicPr>
          <p:blipFill>
            <a:blip r:embed="rId2" cstate="print"/>
            <a:stretch>
              <a:fillRect/>
            </a:stretch>
          </p:blipFill>
          <p:spPr>
            <a:xfrm>
              <a:off x="4814315" y="2549715"/>
              <a:ext cx="1944624" cy="310959"/>
            </a:xfrm>
            <a:prstGeom prst="rect">
              <a:avLst/>
            </a:prstGeom>
          </p:spPr>
        </p:pic>
        <p:sp>
          <p:nvSpPr>
            <p:cNvPr id="17" name="object 17"/>
            <p:cNvSpPr/>
            <p:nvPr/>
          </p:nvSpPr>
          <p:spPr>
            <a:xfrm>
              <a:off x="4857749" y="2627376"/>
              <a:ext cx="1748789" cy="114300"/>
            </a:xfrm>
            <a:custGeom>
              <a:avLst/>
              <a:gdLst/>
              <a:ahLst/>
              <a:cxnLst/>
              <a:rect l="l" t="t" r="r" b="b"/>
              <a:pathLst>
                <a:path w="1748790" h="114300">
                  <a:moveTo>
                    <a:pt x="1633982" y="0"/>
                  </a:moveTo>
                  <a:lnTo>
                    <a:pt x="1633982" y="114300"/>
                  </a:lnTo>
                  <a:lnTo>
                    <a:pt x="1710181" y="76200"/>
                  </a:lnTo>
                  <a:lnTo>
                    <a:pt x="1653031" y="76200"/>
                  </a:lnTo>
                  <a:lnTo>
                    <a:pt x="1653031" y="38100"/>
                  </a:lnTo>
                  <a:lnTo>
                    <a:pt x="1710181" y="38100"/>
                  </a:lnTo>
                  <a:lnTo>
                    <a:pt x="1633982" y="0"/>
                  </a:lnTo>
                  <a:close/>
                </a:path>
                <a:path w="1748790" h="114300">
                  <a:moveTo>
                    <a:pt x="1633982" y="38100"/>
                  </a:moveTo>
                  <a:lnTo>
                    <a:pt x="0" y="38100"/>
                  </a:lnTo>
                  <a:lnTo>
                    <a:pt x="0" y="76200"/>
                  </a:lnTo>
                  <a:lnTo>
                    <a:pt x="1633982" y="76200"/>
                  </a:lnTo>
                  <a:lnTo>
                    <a:pt x="1633982" y="38100"/>
                  </a:lnTo>
                  <a:close/>
                </a:path>
                <a:path w="1748790" h="114300">
                  <a:moveTo>
                    <a:pt x="1710181" y="38100"/>
                  </a:moveTo>
                  <a:lnTo>
                    <a:pt x="1653031" y="38100"/>
                  </a:lnTo>
                  <a:lnTo>
                    <a:pt x="1653031" y="76200"/>
                  </a:lnTo>
                  <a:lnTo>
                    <a:pt x="1710181" y="76200"/>
                  </a:lnTo>
                  <a:lnTo>
                    <a:pt x="1748281" y="57150"/>
                  </a:lnTo>
                  <a:lnTo>
                    <a:pt x="1710181" y="38100"/>
                  </a:lnTo>
                  <a:close/>
                </a:path>
              </a:pathLst>
            </a:custGeom>
            <a:solidFill>
              <a:srgbClr val="00C3FF"/>
            </a:solidFill>
          </p:spPr>
          <p:txBody>
            <a:bodyPr wrap="square" lIns="0" tIns="0" rIns="0" bIns="0" rtlCol="0"/>
            <a:lstStyle/>
            <a:p>
              <a:endParaRPr sz="2400"/>
            </a:p>
          </p:txBody>
        </p:sp>
      </p:grpSp>
      <p:sp>
        <p:nvSpPr>
          <p:cNvPr id="18" name="object 18"/>
          <p:cNvSpPr txBox="1"/>
          <p:nvPr/>
        </p:nvSpPr>
        <p:spPr>
          <a:xfrm>
            <a:off x="1072896" y="2202688"/>
            <a:ext cx="2438400" cy="539462"/>
          </a:xfrm>
          <a:prstGeom prst="rect">
            <a:avLst/>
          </a:prstGeom>
          <a:solidFill>
            <a:srgbClr val="383838">
              <a:alpha val="89019"/>
            </a:srgbClr>
          </a:solidFill>
        </p:spPr>
        <p:txBody>
          <a:bodyPr vert="horz" wrap="square" lIns="0" tIns="168485" rIns="0" bIns="0" rtlCol="0">
            <a:spAutoFit/>
          </a:bodyPr>
          <a:lstStyle/>
          <a:p>
            <a:pPr marL="502061" indent="-380990">
              <a:spcBef>
                <a:spcPts val="1325"/>
              </a:spcBef>
              <a:buClr>
                <a:srgbClr val="99D3FF"/>
              </a:buClr>
              <a:buFont typeface="Wingdings"/>
              <a:buChar char=""/>
              <a:tabLst>
                <a:tab pos="502061" algn="l"/>
              </a:tabLst>
            </a:pPr>
            <a:r>
              <a:rPr sz="2400" b="1" spc="-13" dirty="0">
                <a:solidFill>
                  <a:srgbClr val="D9D9D9"/>
                </a:solidFill>
                <a:latin typeface="Calibri"/>
                <a:cs typeface="Calibri"/>
              </a:rPr>
              <a:t>Dimension</a:t>
            </a:r>
            <a:endParaRPr sz="2400">
              <a:latin typeface="Calibri"/>
              <a:cs typeface="Calibri"/>
            </a:endParaRPr>
          </a:p>
        </p:txBody>
      </p:sp>
      <p:sp>
        <p:nvSpPr>
          <p:cNvPr id="19" name="object 19"/>
          <p:cNvSpPr txBox="1"/>
          <p:nvPr/>
        </p:nvSpPr>
        <p:spPr>
          <a:xfrm>
            <a:off x="7020729" y="3218011"/>
            <a:ext cx="1119292" cy="304421"/>
          </a:xfrm>
          <a:prstGeom prst="rect">
            <a:avLst/>
          </a:prstGeom>
        </p:spPr>
        <p:txBody>
          <a:bodyPr vert="horz" wrap="square" lIns="0" tIns="16933" rIns="0" bIns="0" rtlCol="0">
            <a:spAutoFit/>
          </a:bodyPr>
          <a:lstStyle/>
          <a:p>
            <a:pPr marL="16933">
              <a:spcBef>
                <a:spcPts val="133"/>
              </a:spcBef>
            </a:pPr>
            <a:r>
              <a:rPr sz="1867" b="1" dirty="0">
                <a:solidFill>
                  <a:srgbClr val="D9D9D9"/>
                </a:solidFill>
                <a:latin typeface="Calibri"/>
                <a:cs typeface="Calibri"/>
              </a:rPr>
              <a:t>Drill</a:t>
            </a:r>
            <a:r>
              <a:rPr sz="1867" b="1" spc="-47" dirty="0">
                <a:solidFill>
                  <a:srgbClr val="D9D9D9"/>
                </a:solidFill>
                <a:latin typeface="Calibri"/>
                <a:cs typeface="Calibri"/>
              </a:rPr>
              <a:t> </a:t>
            </a:r>
            <a:r>
              <a:rPr sz="1867" b="1" spc="-13" dirty="0">
                <a:solidFill>
                  <a:srgbClr val="D9D9D9"/>
                </a:solidFill>
                <a:latin typeface="Calibri"/>
                <a:cs typeface="Calibri"/>
              </a:rPr>
              <a:t>across</a:t>
            </a:r>
            <a:endParaRPr sz="1867">
              <a:latin typeface="Calibri"/>
              <a:cs typeface="Calibri"/>
            </a:endParaRPr>
          </a:p>
        </p:txBody>
      </p:sp>
      <p:sp>
        <p:nvSpPr>
          <p:cNvPr id="20" name="object 20"/>
          <p:cNvSpPr txBox="1"/>
          <p:nvPr/>
        </p:nvSpPr>
        <p:spPr>
          <a:xfrm>
            <a:off x="9329080" y="4776894"/>
            <a:ext cx="2226733" cy="586507"/>
          </a:xfrm>
          <a:prstGeom prst="rect">
            <a:avLst/>
          </a:prstGeom>
        </p:spPr>
        <p:txBody>
          <a:bodyPr vert="horz" wrap="square" lIns="0" tIns="15240" rIns="0" bIns="0" rtlCol="0">
            <a:spAutoFit/>
          </a:bodyPr>
          <a:lstStyle/>
          <a:p>
            <a:pPr marL="211661" marR="6773" indent="-195575">
              <a:lnSpc>
                <a:spcPct val="100699"/>
              </a:lnSpc>
              <a:spcBef>
                <a:spcPts val="120"/>
              </a:spcBef>
            </a:pPr>
            <a:r>
              <a:rPr sz="1867" b="1" spc="-13" dirty="0">
                <a:solidFill>
                  <a:srgbClr val="D9D9D9"/>
                </a:solidFill>
                <a:latin typeface="Calibri"/>
                <a:cs typeface="Calibri"/>
              </a:rPr>
              <a:t>Conformed</a:t>
            </a:r>
            <a:r>
              <a:rPr sz="1867" b="1" spc="13" dirty="0">
                <a:solidFill>
                  <a:srgbClr val="D9D9D9"/>
                </a:solidFill>
                <a:latin typeface="Calibri"/>
                <a:cs typeface="Calibri"/>
              </a:rPr>
              <a:t> </a:t>
            </a:r>
            <a:r>
              <a:rPr sz="1867" b="1" spc="-13" dirty="0">
                <a:solidFill>
                  <a:srgbClr val="D9D9D9"/>
                </a:solidFill>
                <a:latin typeface="Calibri"/>
                <a:cs typeface="Calibri"/>
              </a:rPr>
              <a:t>dimension </a:t>
            </a:r>
            <a:r>
              <a:rPr sz="1867" b="1" dirty="0">
                <a:solidFill>
                  <a:srgbClr val="D9D9D9"/>
                </a:solidFill>
                <a:latin typeface="Calibri"/>
                <a:cs typeface="Calibri"/>
              </a:rPr>
              <a:t>(shared</a:t>
            </a:r>
            <a:r>
              <a:rPr sz="1867" b="1" spc="-47" dirty="0">
                <a:solidFill>
                  <a:srgbClr val="D9D9D9"/>
                </a:solidFill>
                <a:latin typeface="Calibri"/>
                <a:cs typeface="Calibri"/>
              </a:rPr>
              <a:t> </a:t>
            </a:r>
            <a:r>
              <a:rPr sz="1867" b="1" spc="-13" dirty="0">
                <a:solidFill>
                  <a:srgbClr val="D9D9D9"/>
                </a:solidFill>
                <a:latin typeface="Calibri"/>
                <a:cs typeface="Calibri"/>
              </a:rPr>
              <a:t>attributes)</a:t>
            </a:r>
            <a:endParaRPr sz="1867">
              <a:latin typeface="Calibri"/>
              <a:cs typeface="Calibri"/>
            </a:endParaRPr>
          </a:p>
        </p:txBody>
      </p:sp>
      <p:sp>
        <p:nvSpPr>
          <p:cNvPr id="23" name="object 2">
            <a:extLst>
              <a:ext uri="{FF2B5EF4-FFF2-40B4-BE49-F238E27FC236}">
                <a16:creationId xmlns:a16="http://schemas.microsoft.com/office/drawing/2014/main" id="{790EF1AF-12B6-05AF-136E-0D66DE634316}"/>
              </a:ext>
            </a:extLst>
          </p:cNvPr>
          <p:cNvSpPr txBox="1">
            <a:spLocks/>
          </p:cNvSpPr>
          <p:nvPr/>
        </p:nvSpPr>
        <p:spPr>
          <a:xfrm>
            <a:off x="664178" y="182260"/>
            <a:ext cx="9340765" cy="695062"/>
          </a:xfrm>
          <a:prstGeom prst="rect">
            <a:avLst/>
          </a:prstGeom>
        </p:spPr>
        <p:txBody>
          <a:bodyPr vert="horz" wrap="square" lIns="0" tIns="1778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46261" algn="ctr">
              <a:lnSpc>
                <a:spcPct val="100000"/>
              </a:lnSpc>
              <a:spcBef>
                <a:spcPts val="140"/>
              </a:spcBef>
            </a:pPr>
            <a:r>
              <a:rPr lang="en-IN" dirty="0">
                <a:solidFill>
                  <a:schemeClr val="bg1"/>
                </a:solidFill>
                <a:latin typeface="+mn-lt"/>
              </a:rPr>
              <a:t>Conformed</a:t>
            </a:r>
            <a:r>
              <a:rPr lang="en-IN" spc="-60" dirty="0">
                <a:solidFill>
                  <a:schemeClr val="bg1"/>
                </a:solidFill>
                <a:latin typeface="+mn-lt"/>
              </a:rPr>
              <a:t> </a:t>
            </a:r>
            <a:r>
              <a:rPr lang="en-IN" spc="-13" dirty="0">
                <a:solidFill>
                  <a:schemeClr val="bg1"/>
                </a:solidFill>
                <a:latin typeface="+mn-lt"/>
              </a:rPr>
              <a:t>dimension</a:t>
            </a:r>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254247" y="1877228"/>
            <a:ext cx="3060700"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Conformed</a:t>
            </a:r>
            <a:r>
              <a:rPr sz="2400" b="1" spc="-87" dirty="0">
                <a:solidFill>
                  <a:srgbClr val="D9D9D9"/>
                </a:solidFill>
                <a:latin typeface="Calibri"/>
                <a:cs typeface="Calibri"/>
              </a:rPr>
              <a:t> </a:t>
            </a:r>
            <a:r>
              <a:rPr sz="2400" b="1" dirty="0">
                <a:solidFill>
                  <a:srgbClr val="D9D9D9"/>
                </a:solidFill>
                <a:latin typeface="Calibri"/>
                <a:cs typeface="Calibri"/>
              </a:rPr>
              <a:t>Date</a:t>
            </a:r>
            <a:r>
              <a:rPr sz="2400" b="1" spc="-40" dirty="0">
                <a:solidFill>
                  <a:srgbClr val="D9D9D9"/>
                </a:solidFill>
                <a:latin typeface="Calibri"/>
                <a:cs typeface="Calibri"/>
              </a:rPr>
              <a:t> </a:t>
            </a:r>
            <a:r>
              <a:rPr sz="2400" b="1" spc="-33" dirty="0">
                <a:solidFill>
                  <a:srgbClr val="D9D9D9"/>
                </a:solidFill>
                <a:latin typeface="Calibri"/>
                <a:cs typeface="Calibri"/>
              </a:rPr>
              <a:t>dim</a:t>
            </a:r>
            <a:endParaRPr sz="2400">
              <a:latin typeface="Calibri"/>
              <a:cs typeface="Calibri"/>
            </a:endParaRPr>
          </a:p>
        </p:txBody>
      </p:sp>
      <p:graphicFrame>
        <p:nvGraphicFramePr>
          <p:cNvPr id="4" name="object 4"/>
          <p:cNvGraphicFramePr>
            <a:graphicFrameLocks noGrp="1"/>
          </p:cNvGraphicFramePr>
          <p:nvPr>
            <p:extLst>
              <p:ext uri="{D42A27DB-BD31-4B8C-83A1-F6EECF244321}">
                <p14:modId xmlns:p14="http://schemas.microsoft.com/office/powerpoint/2010/main" val="2882589764"/>
              </p:ext>
            </p:extLst>
          </p:nvPr>
        </p:nvGraphicFramePr>
        <p:xfrm>
          <a:off x="3242734" y="2430948"/>
          <a:ext cx="5283200" cy="987213"/>
        </p:xfrm>
        <a:graphic>
          <a:graphicData uri="http://schemas.openxmlformats.org/drawingml/2006/table">
            <a:tbl>
              <a:tblPr firstRow="1" bandRow="1">
                <a:tableStyleId>{2D5ABB26-0587-4C30-8999-92F81FD0307C}</a:tableStyleId>
              </a:tblPr>
              <a:tblGrid>
                <a:gridCol w="1320800">
                  <a:extLst>
                    <a:ext uri="{9D8B030D-6E8A-4147-A177-3AD203B41FA5}">
                      <a16:colId xmlns:a16="http://schemas.microsoft.com/office/drawing/2014/main" val="20000"/>
                    </a:ext>
                  </a:extLst>
                </a:gridCol>
                <a:gridCol w="23368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tblGrid>
              <a:tr h="225213">
                <a:tc>
                  <a:txBody>
                    <a:bodyPr/>
                    <a:lstStyle/>
                    <a:p>
                      <a:pPr marL="2540" algn="ctr">
                        <a:lnSpc>
                          <a:spcPct val="100000"/>
                        </a:lnSpc>
                        <a:spcBef>
                          <a:spcPts val="60"/>
                        </a:spcBef>
                      </a:pPr>
                      <a:r>
                        <a:rPr sz="1400" b="1" spc="-10" dirty="0">
                          <a:solidFill>
                            <a:schemeClr val="bg1"/>
                          </a:solidFill>
                          <a:latin typeface="Arial"/>
                          <a:cs typeface="Arial"/>
                        </a:rPr>
                        <a:t>Month</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2540" algn="ctr">
                        <a:lnSpc>
                          <a:spcPct val="100000"/>
                        </a:lnSpc>
                        <a:spcBef>
                          <a:spcPts val="60"/>
                        </a:spcBef>
                      </a:pPr>
                      <a:r>
                        <a:rPr sz="1400" b="1" spc="-20" dirty="0">
                          <a:solidFill>
                            <a:schemeClr val="bg1"/>
                          </a:solidFill>
                          <a:latin typeface="Arial"/>
                          <a:cs typeface="Arial"/>
                        </a:rPr>
                        <a:t>Cost</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2540" algn="ctr">
                        <a:lnSpc>
                          <a:spcPct val="100000"/>
                        </a:lnSpc>
                        <a:spcBef>
                          <a:spcPts val="60"/>
                        </a:spcBef>
                      </a:pPr>
                      <a:r>
                        <a:rPr sz="1400" b="1" spc="-10" dirty="0">
                          <a:solidFill>
                            <a:schemeClr val="bg1"/>
                          </a:solidFill>
                          <a:latin typeface="Arial"/>
                          <a:cs typeface="Arial"/>
                        </a:rPr>
                        <a:t>Sales</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marL="2540" algn="ctr">
                        <a:lnSpc>
                          <a:spcPct val="100000"/>
                        </a:lnSpc>
                        <a:spcBef>
                          <a:spcPts val="225"/>
                        </a:spcBef>
                      </a:pPr>
                      <a:r>
                        <a:rPr sz="1400" spc="-10" dirty="0">
                          <a:latin typeface="Arial MT"/>
                          <a:cs typeface="Arial MT"/>
                        </a:rPr>
                        <a:t>January</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$50,300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$67,300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marL="1270" algn="ctr">
                        <a:lnSpc>
                          <a:spcPct val="100000"/>
                        </a:lnSpc>
                        <a:spcBef>
                          <a:spcPts val="225"/>
                        </a:spcBef>
                      </a:pPr>
                      <a:r>
                        <a:rPr sz="1400" spc="-10" dirty="0">
                          <a:latin typeface="Arial MT"/>
                          <a:cs typeface="Arial MT"/>
                        </a:rPr>
                        <a:t>February</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$55,300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$71,400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marL="1905" algn="ctr">
                        <a:lnSpc>
                          <a:spcPct val="100000"/>
                        </a:lnSpc>
                        <a:spcBef>
                          <a:spcPts val="225"/>
                        </a:spcBef>
                      </a:pPr>
                      <a:r>
                        <a:rPr sz="1400" spc="-10" dirty="0">
                          <a:latin typeface="Arial MT"/>
                          <a:cs typeface="Arial MT"/>
                        </a:rPr>
                        <a:t>March</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$65,100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$79,400</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graphicFrame>
        <p:nvGraphicFramePr>
          <p:cNvPr id="5" name="object 5"/>
          <p:cNvGraphicFramePr>
            <a:graphicFrameLocks noGrp="1"/>
          </p:cNvGraphicFramePr>
          <p:nvPr>
            <p:extLst>
              <p:ext uri="{D42A27DB-BD31-4B8C-83A1-F6EECF244321}">
                <p14:modId xmlns:p14="http://schemas.microsoft.com/office/powerpoint/2010/main" val="2343469548"/>
              </p:ext>
            </p:extLst>
          </p:nvPr>
        </p:nvGraphicFramePr>
        <p:xfrm>
          <a:off x="3242734" y="3983735"/>
          <a:ext cx="5283200" cy="987213"/>
        </p:xfrm>
        <a:graphic>
          <a:graphicData uri="http://schemas.openxmlformats.org/drawingml/2006/table">
            <a:tbl>
              <a:tblPr firstRow="1" bandRow="1">
                <a:tableStyleId>{2D5ABB26-0587-4C30-8999-92F81FD0307C}</a:tableStyleId>
              </a:tblPr>
              <a:tblGrid>
                <a:gridCol w="1320800">
                  <a:extLst>
                    <a:ext uri="{9D8B030D-6E8A-4147-A177-3AD203B41FA5}">
                      <a16:colId xmlns:a16="http://schemas.microsoft.com/office/drawing/2014/main" val="20000"/>
                    </a:ext>
                  </a:extLst>
                </a:gridCol>
                <a:gridCol w="23368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tblGrid>
              <a:tr h="226060">
                <a:tc>
                  <a:txBody>
                    <a:bodyPr/>
                    <a:lstStyle/>
                    <a:p>
                      <a:pPr marL="3810" algn="ctr">
                        <a:lnSpc>
                          <a:spcPct val="100000"/>
                        </a:lnSpc>
                        <a:spcBef>
                          <a:spcPts val="60"/>
                        </a:spcBef>
                      </a:pPr>
                      <a:r>
                        <a:rPr sz="1400" b="1" spc="-10" dirty="0">
                          <a:solidFill>
                            <a:schemeClr val="bg1"/>
                          </a:solidFill>
                          <a:latin typeface="Arial"/>
                          <a:cs typeface="Arial"/>
                        </a:rPr>
                        <a:t>Country</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2540" algn="ctr">
                        <a:lnSpc>
                          <a:spcPct val="100000"/>
                        </a:lnSpc>
                        <a:spcBef>
                          <a:spcPts val="60"/>
                        </a:spcBef>
                      </a:pPr>
                      <a:r>
                        <a:rPr sz="1400" b="1" spc="-20" dirty="0">
                          <a:solidFill>
                            <a:schemeClr val="bg1"/>
                          </a:solidFill>
                          <a:latin typeface="Arial"/>
                          <a:cs typeface="Arial"/>
                        </a:rPr>
                        <a:t>Cost</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905" algn="ctr">
                        <a:lnSpc>
                          <a:spcPct val="100000"/>
                        </a:lnSpc>
                        <a:spcBef>
                          <a:spcPts val="60"/>
                        </a:spcBef>
                      </a:pPr>
                      <a:r>
                        <a:rPr sz="1400" b="1" spc="-10" dirty="0">
                          <a:solidFill>
                            <a:schemeClr val="bg1"/>
                          </a:solidFill>
                          <a:latin typeface="Arial"/>
                          <a:cs typeface="Arial"/>
                        </a:rPr>
                        <a:t>Sales</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marL="1270" algn="ctr">
                        <a:lnSpc>
                          <a:spcPct val="100000"/>
                        </a:lnSpc>
                        <a:spcBef>
                          <a:spcPts val="225"/>
                        </a:spcBef>
                      </a:pPr>
                      <a:r>
                        <a:rPr sz="1400" spc="-10" dirty="0">
                          <a:latin typeface="Arial MT"/>
                          <a:cs typeface="Arial MT"/>
                        </a:rPr>
                        <a:t>Spain</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$57,200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$69,800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3153">
                <a:tc>
                  <a:txBody>
                    <a:bodyPr/>
                    <a:lstStyle/>
                    <a:p>
                      <a:pPr marL="635" algn="ctr">
                        <a:lnSpc>
                          <a:spcPct val="100000"/>
                        </a:lnSpc>
                        <a:spcBef>
                          <a:spcPts val="225"/>
                        </a:spcBef>
                      </a:pPr>
                      <a:r>
                        <a:rPr sz="1400" spc="-10" dirty="0">
                          <a:latin typeface="Arial MT"/>
                          <a:cs typeface="Arial MT"/>
                        </a:rPr>
                        <a:t>Belgium</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$15,300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$21,900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marL="635" algn="ctr">
                        <a:lnSpc>
                          <a:spcPct val="100000"/>
                        </a:lnSpc>
                        <a:spcBef>
                          <a:spcPts val="229"/>
                        </a:spcBef>
                      </a:pPr>
                      <a:r>
                        <a:rPr sz="1400" spc="-25" dirty="0">
                          <a:latin typeface="Arial MT"/>
                          <a:cs typeface="Arial MT"/>
                        </a:rPr>
                        <a:t>wd</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10" dirty="0">
                          <a:latin typeface="Arial MT"/>
                          <a:cs typeface="Arial MT"/>
                        </a:rPr>
                        <a:t>$35,100</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10" dirty="0">
                          <a:latin typeface="Arial MT"/>
                          <a:cs typeface="Arial MT"/>
                        </a:rPr>
                        <a:t>$29,400</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sp>
        <p:nvSpPr>
          <p:cNvPr id="6" name="object 6"/>
          <p:cNvSpPr txBox="1"/>
          <p:nvPr/>
        </p:nvSpPr>
        <p:spPr>
          <a:xfrm>
            <a:off x="3242056" y="3525180"/>
            <a:ext cx="3327400"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Conformed</a:t>
            </a:r>
            <a:r>
              <a:rPr sz="2400" b="1" spc="-80" dirty="0">
                <a:solidFill>
                  <a:srgbClr val="D9D9D9"/>
                </a:solidFill>
                <a:latin typeface="Calibri"/>
                <a:cs typeface="Calibri"/>
              </a:rPr>
              <a:t> </a:t>
            </a:r>
            <a:r>
              <a:rPr sz="2400" b="1" dirty="0">
                <a:solidFill>
                  <a:srgbClr val="D9D9D9"/>
                </a:solidFill>
                <a:latin typeface="Calibri"/>
                <a:cs typeface="Calibri"/>
              </a:rPr>
              <a:t>Region</a:t>
            </a:r>
            <a:r>
              <a:rPr sz="2400" b="1" spc="-53" dirty="0">
                <a:solidFill>
                  <a:srgbClr val="D9D9D9"/>
                </a:solidFill>
                <a:latin typeface="Calibri"/>
                <a:cs typeface="Calibri"/>
              </a:rPr>
              <a:t> </a:t>
            </a:r>
            <a:r>
              <a:rPr sz="2400" b="1" spc="-33" dirty="0">
                <a:solidFill>
                  <a:srgbClr val="D9D9D9"/>
                </a:solidFill>
                <a:latin typeface="Calibri"/>
                <a:cs typeface="Calibri"/>
              </a:rPr>
              <a:t>dim</a:t>
            </a:r>
            <a:endParaRPr sz="2400">
              <a:latin typeface="Calibri"/>
              <a:cs typeface="Calibri"/>
            </a:endParaRPr>
          </a:p>
        </p:txBody>
      </p:sp>
      <p:sp>
        <p:nvSpPr>
          <p:cNvPr id="9" name="object 2">
            <a:extLst>
              <a:ext uri="{FF2B5EF4-FFF2-40B4-BE49-F238E27FC236}">
                <a16:creationId xmlns:a16="http://schemas.microsoft.com/office/drawing/2014/main" id="{CF057C74-1475-D8B5-965A-69DE347E3317}"/>
              </a:ext>
            </a:extLst>
          </p:cNvPr>
          <p:cNvSpPr txBox="1">
            <a:spLocks/>
          </p:cNvSpPr>
          <p:nvPr/>
        </p:nvSpPr>
        <p:spPr>
          <a:xfrm>
            <a:off x="793387" y="410860"/>
            <a:ext cx="9340765" cy="695062"/>
          </a:xfrm>
          <a:prstGeom prst="rect">
            <a:avLst/>
          </a:prstGeom>
        </p:spPr>
        <p:txBody>
          <a:bodyPr vert="horz" wrap="square" lIns="0" tIns="1778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46261" algn="ctr">
              <a:lnSpc>
                <a:spcPct val="100000"/>
              </a:lnSpc>
              <a:spcBef>
                <a:spcPts val="140"/>
              </a:spcBef>
            </a:pPr>
            <a:r>
              <a:rPr lang="en-IN" dirty="0">
                <a:solidFill>
                  <a:schemeClr val="bg1"/>
                </a:solidFill>
                <a:latin typeface="+mn-lt"/>
              </a:rPr>
              <a:t>Conformed</a:t>
            </a:r>
            <a:r>
              <a:rPr lang="en-IN" spc="-60" dirty="0">
                <a:solidFill>
                  <a:schemeClr val="bg1"/>
                </a:solidFill>
                <a:latin typeface="+mn-lt"/>
              </a:rPr>
              <a:t> </a:t>
            </a:r>
            <a:r>
              <a:rPr lang="en-IN" spc="-13" dirty="0">
                <a:solidFill>
                  <a:schemeClr val="bg1"/>
                </a:solidFill>
                <a:latin typeface="+mn-lt"/>
              </a:rPr>
              <a:t>dimension</a:t>
            </a:r>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254247" y="1877228"/>
            <a:ext cx="1606127"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Sales</a:t>
            </a:r>
            <a:r>
              <a:rPr sz="2400" b="1" spc="-67" dirty="0">
                <a:solidFill>
                  <a:srgbClr val="D9D9D9"/>
                </a:solidFill>
                <a:latin typeface="Calibri"/>
                <a:cs typeface="Calibri"/>
              </a:rPr>
              <a:t> </a:t>
            </a:r>
            <a:r>
              <a:rPr sz="2400" b="1" spc="-27" dirty="0">
                <a:solidFill>
                  <a:srgbClr val="D9D9D9"/>
                </a:solidFill>
                <a:latin typeface="Calibri"/>
                <a:cs typeface="Calibri"/>
              </a:rPr>
              <a:t>fact</a:t>
            </a:r>
            <a:endParaRPr sz="2400">
              <a:latin typeface="Calibri"/>
              <a:cs typeface="Calibri"/>
            </a:endParaRPr>
          </a:p>
        </p:txBody>
      </p:sp>
      <p:graphicFrame>
        <p:nvGraphicFramePr>
          <p:cNvPr id="4" name="object 4"/>
          <p:cNvGraphicFramePr>
            <a:graphicFrameLocks noGrp="1"/>
          </p:cNvGraphicFramePr>
          <p:nvPr>
            <p:extLst>
              <p:ext uri="{D42A27DB-BD31-4B8C-83A1-F6EECF244321}">
                <p14:modId xmlns:p14="http://schemas.microsoft.com/office/powerpoint/2010/main" val="2510345872"/>
              </p:ext>
            </p:extLst>
          </p:nvPr>
        </p:nvGraphicFramePr>
        <p:xfrm>
          <a:off x="3242734" y="2430948"/>
          <a:ext cx="5283200" cy="987213"/>
        </p:xfrm>
        <a:graphic>
          <a:graphicData uri="http://schemas.openxmlformats.org/drawingml/2006/table">
            <a:tbl>
              <a:tblPr firstRow="1" bandRow="1">
                <a:tableStyleId>{2D5ABB26-0587-4C30-8999-92F81FD0307C}</a:tableStyleId>
              </a:tblPr>
              <a:tblGrid>
                <a:gridCol w="1320800">
                  <a:extLst>
                    <a:ext uri="{9D8B030D-6E8A-4147-A177-3AD203B41FA5}">
                      <a16:colId xmlns:a16="http://schemas.microsoft.com/office/drawing/2014/main" val="20000"/>
                    </a:ext>
                  </a:extLst>
                </a:gridCol>
                <a:gridCol w="23368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tblGrid>
              <a:tr h="225213">
                <a:tc>
                  <a:txBody>
                    <a:bodyPr/>
                    <a:lstStyle/>
                    <a:p>
                      <a:pPr marL="1270" algn="ctr">
                        <a:lnSpc>
                          <a:spcPct val="100000"/>
                        </a:lnSpc>
                        <a:spcBef>
                          <a:spcPts val="60"/>
                        </a:spcBef>
                      </a:pPr>
                      <a:r>
                        <a:rPr sz="1400" b="1" spc="-10" dirty="0">
                          <a:solidFill>
                            <a:schemeClr val="bg1"/>
                          </a:solidFill>
                          <a:latin typeface="Arial"/>
                          <a:cs typeface="Arial"/>
                        </a:rPr>
                        <a:t>Sales_PK</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2540" algn="ctr">
                        <a:lnSpc>
                          <a:spcPct val="100000"/>
                        </a:lnSpc>
                        <a:spcBef>
                          <a:spcPts val="60"/>
                        </a:spcBef>
                      </a:pPr>
                      <a:r>
                        <a:rPr sz="1400" b="1" spc="-10" dirty="0">
                          <a:solidFill>
                            <a:schemeClr val="bg1"/>
                          </a:solidFill>
                          <a:latin typeface="Arial"/>
                          <a:cs typeface="Arial"/>
                        </a:rPr>
                        <a:t>Sales</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905" algn="ctr">
                        <a:lnSpc>
                          <a:spcPct val="100000"/>
                        </a:lnSpc>
                        <a:spcBef>
                          <a:spcPts val="60"/>
                        </a:spcBef>
                      </a:pPr>
                      <a:r>
                        <a:rPr sz="1400" b="1" spc="-10" dirty="0">
                          <a:solidFill>
                            <a:schemeClr val="bg1"/>
                          </a:solidFill>
                          <a:latin typeface="Arial"/>
                          <a:cs typeface="Arial"/>
                        </a:rPr>
                        <a:t>Date_FK</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$9,400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20220101</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$7,300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ct val="10000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$5,100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20220102</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graphicFrame>
        <p:nvGraphicFramePr>
          <p:cNvPr id="5" name="object 5"/>
          <p:cNvGraphicFramePr>
            <a:graphicFrameLocks noGrp="1"/>
          </p:cNvGraphicFramePr>
          <p:nvPr>
            <p:extLst>
              <p:ext uri="{D42A27DB-BD31-4B8C-83A1-F6EECF244321}">
                <p14:modId xmlns:p14="http://schemas.microsoft.com/office/powerpoint/2010/main" val="2203524316"/>
              </p:ext>
            </p:extLst>
          </p:nvPr>
        </p:nvGraphicFramePr>
        <p:xfrm>
          <a:off x="3242734" y="3983735"/>
          <a:ext cx="5283200" cy="987213"/>
        </p:xfrm>
        <a:graphic>
          <a:graphicData uri="http://schemas.openxmlformats.org/drawingml/2006/table">
            <a:tbl>
              <a:tblPr firstRow="1" bandRow="1">
                <a:tableStyleId>{2D5ABB26-0587-4C30-8999-92F81FD0307C}</a:tableStyleId>
              </a:tblPr>
              <a:tblGrid>
                <a:gridCol w="1320800">
                  <a:extLst>
                    <a:ext uri="{9D8B030D-6E8A-4147-A177-3AD203B41FA5}">
                      <a16:colId xmlns:a16="http://schemas.microsoft.com/office/drawing/2014/main" val="20000"/>
                    </a:ext>
                  </a:extLst>
                </a:gridCol>
                <a:gridCol w="23368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tblGrid>
              <a:tr h="226060">
                <a:tc>
                  <a:txBody>
                    <a:bodyPr/>
                    <a:lstStyle/>
                    <a:p>
                      <a:pPr algn="ctr">
                        <a:lnSpc>
                          <a:spcPct val="100000"/>
                        </a:lnSpc>
                        <a:spcBef>
                          <a:spcPts val="60"/>
                        </a:spcBef>
                      </a:pPr>
                      <a:r>
                        <a:rPr sz="1400" b="1" spc="-10" dirty="0">
                          <a:solidFill>
                            <a:schemeClr val="bg1"/>
                          </a:solidFill>
                          <a:latin typeface="Arial"/>
                          <a:cs typeface="Arial"/>
                        </a:rPr>
                        <a:t>Cost_PK</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2540" algn="ctr">
                        <a:lnSpc>
                          <a:spcPct val="100000"/>
                        </a:lnSpc>
                        <a:spcBef>
                          <a:spcPts val="60"/>
                        </a:spcBef>
                      </a:pPr>
                      <a:r>
                        <a:rPr sz="1400" b="1" spc="-20" dirty="0">
                          <a:solidFill>
                            <a:schemeClr val="bg1"/>
                          </a:solidFill>
                          <a:latin typeface="Arial"/>
                          <a:cs typeface="Arial"/>
                        </a:rPr>
                        <a:t>Cost</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270" algn="ctr">
                        <a:lnSpc>
                          <a:spcPct val="100000"/>
                        </a:lnSpc>
                        <a:spcBef>
                          <a:spcPts val="60"/>
                        </a:spcBef>
                      </a:pPr>
                      <a:r>
                        <a:rPr sz="1400" b="1" spc="-10" dirty="0">
                          <a:solidFill>
                            <a:schemeClr val="bg1"/>
                          </a:solidFill>
                          <a:latin typeface="Arial"/>
                          <a:cs typeface="Arial"/>
                        </a:rPr>
                        <a:t>Date_FK</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$7,200</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20220101</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3153">
                <a:tc>
                  <a:txBody>
                    <a:bodyPr/>
                    <a:lstStyle/>
                    <a:p>
                      <a:pPr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10" dirty="0">
                          <a:latin typeface="Arial MT"/>
                          <a:cs typeface="Arial MT"/>
                        </a:rPr>
                        <a:t>$1,900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ct val="10000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spc="-10" dirty="0">
                          <a:latin typeface="Arial MT"/>
                          <a:cs typeface="Arial MT"/>
                        </a:rPr>
                        <a:t>$2,800</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10" dirty="0">
                          <a:latin typeface="Arial MT"/>
                          <a:cs typeface="Arial MT"/>
                        </a:rPr>
                        <a:t>20220101</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sp>
        <p:nvSpPr>
          <p:cNvPr id="6" name="object 6"/>
          <p:cNvSpPr txBox="1"/>
          <p:nvPr/>
        </p:nvSpPr>
        <p:spPr>
          <a:xfrm>
            <a:off x="3242056" y="3525180"/>
            <a:ext cx="1515533"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Cost</a:t>
            </a:r>
            <a:r>
              <a:rPr sz="2400" b="1" spc="-33" dirty="0">
                <a:solidFill>
                  <a:srgbClr val="D9D9D9"/>
                </a:solidFill>
                <a:latin typeface="Calibri"/>
                <a:cs typeface="Calibri"/>
              </a:rPr>
              <a:t> </a:t>
            </a:r>
            <a:r>
              <a:rPr sz="2400" b="1" spc="-27" dirty="0">
                <a:solidFill>
                  <a:srgbClr val="D9D9D9"/>
                </a:solidFill>
                <a:latin typeface="Calibri"/>
                <a:cs typeface="Calibri"/>
              </a:rPr>
              <a:t>fact</a:t>
            </a:r>
            <a:endParaRPr sz="2400">
              <a:latin typeface="Calibri"/>
              <a:cs typeface="Calibri"/>
            </a:endParaRPr>
          </a:p>
        </p:txBody>
      </p:sp>
      <p:sp>
        <p:nvSpPr>
          <p:cNvPr id="9" name="object 2">
            <a:extLst>
              <a:ext uri="{FF2B5EF4-FFF2-40B4-BE49-F238E27FC236}">
                <a16:creationId xmlns:a16="http://schemas.microsoft.com/office/drawing/2014/main" id="{530C6460-875F-7609-104F-C53DF051DC4A}"/>
              </a:ext>
            </a:extLst>
          </p:cNvPr>
          <p:cNvSpPr txBox="1">
            <a:spLocks/>
          </p:cNvSpPr>
          <p:nvPr/>
        </p:nvSpPr>
        <p:spPr>
          <a:xfrm>
            <a:off x="713874" y="460555"/>
            <a:ext cx="9340765" cy="695062"/>
          </a:xfrm>
          <a:prstGeom prst="rect">
            <a:avLst/>
          </a:prstGeom>
        </p:spPr>
        <p:txBody>
          <a:bodyPr vert="horz" wrap="square" lIns="0" tIns="1778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46261" algn="ctr">
              <a:lnSpc>
                <a:spcPct val="100000"/>
              </a:lnSpc>
              <a:spcBef>
                <a:spcPts val="140"/>
              </a:spcBef>
            </a:pPr>
            <a:r>
              <a:rPr lang="en-IN" dirty="0">
                <a:solidFill>
                  <a:schemeClr val="bg1"/>
                </a:solidFill>
                <a:latin typeface="+mn-lt"/>
              </a:rPr>
              <a:t>Conformed</a:t>
            </a:r>
            <a:r>
              <a:rPr lang="en-IN" spc="-60" dirty="0">
                <a:solidFill>
                  <a:schemeClr val="bg1"/>
                </a:solidFill>
                <a:latin typeface="+mn-lt"/>
              </a:rPr>
              <a:t> </a:t>
            </a:r>
            <a:r>
              <a:rPr lang="en-IN" spc="-13" dirty="0">
                <a:solidFill>
                  <a:schemeClr val="bg1"/>
                </a:solidFill>
                <a:latin typeface="+mn-lt"/>
              </a:rPr>
              <a:t>dimension</a:t>
            </a:r>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254247" y="1877228"/>
            <a:ext cx="1606127"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Sales</a:t>
            </a:r>
            <a:r>
              <a:rPr sz="2400" b="1" spc="-67" dirty="0">
                <a:solidFill>
                  <a:srgbClr val="D9D9D9"/>
                </a:solidFill>
                <a:latin typeface="Calibri"/>
                <a:cs typeface="Calibri"/>
              </a:rPr>
              <a:t> </a:t>
            </a:r>
            <a:r>
              <a:rPr sz="2400" b="1" spc="-27" dirty="0">
                <a:solidFill>
                  <a:srgbClr val="D9D9D9"/>
                </a:solidFill>
                <a:latin typeface="Calibri"/>
                <a:cs typeface="Calibri"/>
              </a:rPr>
              <a:t>fact</a:t>
            </a:r>
            <a:endParaRPr sz="2400">
              <a:latin typeface="Calibri"/>
              <a:cs typeface="Calibri"/>
            </a:endParaRPr>
          </a:p>
        </p:txBody>
      </p:sp>
      <p:graphicFrame>
        <p:nvGraphicFramePr>
          <p:cNvPr id="4" name="object 4"/>
          <p:cNvGraphicFramePr>
            <a:graphicFrameLocks noGrp="1"/>
          </p:cNvGraphicFramePr>
          <p:nvPr>
            <p:extLst>
              <p:ext uri="{D42A27DB-BD31-4B8C-83A1-F6EECF244321}">
                <p14:modId xmlns:p14="http://schemas.microsoft.com/office/powerpoint/2010/main" val="588903174"/>
              </p:ext>
            </p:extLst>
          </p:nvPr>
        </p:nvGraphicFramePr>
        <p:xfrm>
          <a:off x="3242734" y="2430948"/>
          <a:ext cx="5283200" cy="987213"/>
        </p:xfrm>
        <a:graphic>
          <a:graphicData uri="http://schemas.openxmlformats.org/drawingml/2006/table">
            <a:tbl>
              <a:tblPr firstRow="1" bandRow="1">
                <a:tableStyleId>{2D5ABB26-0587-4C30-8999-92F81FD0307C}</a:tableStyleId>
              </a:tblPr>
              <a:tblGrid>
                <a:gridCol w="1320800">
                  <a:extLst>
                    <a:ext uri="{9D8B030D-6E8A-4147-A177-3AD203B41FA5}">
                      <a16:colId xmlns:a16="http://schemas.microsoft.com/office/drawing/2014/main" val="20000"/>
                    </a:ext>
                  </a:extLst>
                </a:gridCol>
                <a:gridCol w="23368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tblGrid>
              <a:tr h="225213">
                <a:tc>
                  <a:txBody>
                    <a:bodyPr/>
                    <a:lstStyle/>
                    <a:p>
                      <a:pPr marL="1270" algn="ctr">
                        <a:lnSpc>
                          <a:spcPct val="100000"/>
                        </a:lnSpc>
                        <a:spcBef>
                          <a:spcPts val="60"/>
                        </a:spcBef>
                      </a:pPr>
                      <a:r>
                        <a:rPr sz="1400" b="1" spc="-10" dirty="0">
                          <a:solidFill>
                            <a:schemeClr val="bg1"/>
                          </a:solidFill>
                          <a:latin typeface="Arial"/>
                          <a:cs typeface="Arial"/>
                        </a:rPr>
                        <a:t>Sales_PK</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2540" algn="ctr">
                        <a:lnSpc>
                          <a:spcPct val="100000"/>
                        </a:lnSpc>
                        <a:spcBef>
                          <a:spcPts val="60"/>
                        </a:spcBef>
                      </a:pPr>
                      <a:r>
                        <a:rPr sz="1400" b="1" spc="-10" dirty="0">
                          <a:solidFill>
                            <a:schemeClr val="bg1"/>
                          </a:solidFill>
                          <a:latin typeface="Arial"/>
                          <a:cs typeface="Arial"/>
                        </a:rPr>
                        <a:t>Sales</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905" algn="ctr">
                        <a:lnSpc>
                          <a:spcPct val="100000"/>
                        </a:lnSpc>
                        <a:spcBef>
                          <a:spcPts val="60"/>
                        </a:spcBef>
                      </a:pPr>
                      <a:r>
                        <a:rPr sz="1400" b="1" spc="-10" dirty="0">
                          <a:solidFill>
                            <a:schemeClr val="bg1"/>
                          </a:solidFill>
                          <a:latin typeface="Arial"/>
                          <a:cs typeface="Arial"/>
                        </a:rPr>
                        <a:t>Date_FK</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$9,400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$7,300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ct val="10000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$5,100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20220102</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graphicFrame>
        <p:nvGraphicFramePr>
          <p:cNvPr id="5" name="object 5"/>
          <p:cNvGraphicFramePr>
            <a:graphicFrameLocks noGrp="1"/>
          </p:cNvGraphicFramePr>
          <p:nvPr>
            <p:extLst>
              <p:ext uri="{D42A27DB-BD31-4B8C-83A1-F6EECF244321}">
                <p14:modId xmlns:p14="http://schemas.microsoft.com/office/powerpoint/2010/main" val="685797294"/>
              </p:ext>
            </p:extLst>
          </p:nvPr>
        </p:nvGraphicFramePr>
        <p:xfrm>
          <a:off x="3242734" y="3983735"/>
          <a:ext cx="5283200" cy="987213"/>
        </p:xfrm>
        <a:graphic>
          <a:graphicData uri="http://schemas.openxmlformats.org/drawingml/2006/table">
            <a:tbl>
              <a:tblPr firstRow="1" bandRow="1">
                <a:tableStyleId>{2D5ABB26-0587-4C30-8999-92F81FD0307C}</a:tableStyleId>
              </a:tblPr>
              <a:tblGrid>
                <a:gridCol w="1320800">
                  <a:extLst>
                    <a:ext uri="{9D8B030D-6E8A-4147-A177-3AD203B41FA5}">
                      <a16:colId xmlns:a16="http://schemas.microsoft.com/office/drawing/2014/main" val="20000"/>
                    </a:ext>
                  </a:extLst>
                </a:gridCol>
                <a:gridCol w="23368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tblGrid>
              <a:tr h="226060">
                <a:tc>
                  <a:txBody>
                    <a:bodyPr/>
                    <a:lstStyle/>
                    <a:p>
                      <a:pPr algn="ctr">
                        <a:lnSpc>
                          <a:spcPct val="100000"/>
                        </a:lnSpc>
                        <a:spcBef>
                          <a:spcPts val="60"/>
                        </a:spcBef>
                      </a:pPr>
                      <a:r>
                        <a:rPr sz="1400" b="1" spc="-10" dirty="0">
                          <a:solidFill>
                            <a:schemeClr val="bg1"/>
                          </a:solidFill>
                          <a:latin typeface="Arial"/>
                          <a:cs typeface="Arial"/>
                        </a:rPr>
                        <a:t>Cost_PK</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2540" algn="ctr">
                        <a:lnSpc>
                          <a:spcPct val="100000"/>
                        </a:lnSpc>
                        <a:spcBef>
                          <a:spcPts val="60"/>
                        </a:spcBef>
                      </a:pPr>
                      <a:r>
                        <a:rPr sz="1400" b="1" spc="-20" dirty="0">
                          <a:solidFill>
                            <a:schemeClr val="bg1"/>
                          </a:solidFill>
                          <a:latin typeface="Arial"/>
                          <a:cs typeface="Arial"/>
                        </a:rPr>
                        <a:t>Cost</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270" algn="ctr">
                        <a:lnSpc>
                          <a:spcPct val="100000"/>
                        </a:lnSpc>
                        <a:spcBef>
                          <a:spcPts val="60"/>
                        </a:spcBef>
                      </a:pPr>
                      <a:r>
                        <a:rPr sz="1400" b="1" spc="-10" dirty="0">
                          <a:solidFill>
                            <a:schemeClr val="bg1"/>
                          </a:solidFill>
                          <a:latin typeface="Arial"/>
                          <a:cs typeface="Arial"/>
                        </a:rPr>
                        <a:t>Date_FK</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$7,200</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3153">
                <a:tc>
                  <a:txBody>
                    <a:bodyPr/>
                    <a:lstStyle/>
                    <a:p>
                      <a:pPr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10" dirty="0">
                          <a:latin typeface="Arial MT"/>
                          <a:cs typeface="Arial MT"/>
                        </a:rPr>
                        <a:t>$1,900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20220102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ct val="10000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spc="-10" dirty="0">
                          <a:latin typeface="Arial MT"/>
                          <a:cs typeface="Arial MT"/>
                        </a:rPr>
                        <a:t>$2,800</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10" dirty="0">
                          <a:latin typeface="Arial MT"/>
                          <a:cs typeface="Arial MT"/>
                        </a:rPr>
                        <a:t>20220103</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sp>
        <p:nvSpPr>
          <p:cNvPr id="6" name="object 6"/>
          <p:cNvSpPr txBox="1"/>
          <p:nvPr/>
        </p:nvSpPr>
        <p:spPr>
          <a:xfrm>
            <a:off x="3242056" y="3525180"/>
            <a:ext cx="1515533"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Cost</a:t>
            </a:r>
            <a:r>
              <a:rPr sz="2400" b="1" spc="-33" dirty="0">
                <a:solidFill>
                  <a:srgbClr val="D9D9D9"/>
                </a:solidFill>
                <a:latin typeface="Calibri"/>
                <a:cs typeface="Calibri"/>
              </a:rPr>
              <a:t> </a:t>
            </a:r>
            <a:r>
              <a:rPr sz="2400" b="1" spc="-27" dirty="0">
                <a:solidFill>
                  <a:srgbClr val="D9D9D9"/>
                </a:solidFill>
                <a:latin typeface="Calibri"/>
                <a:cs typeface="Calibri"/>
              </a:rPr>
              <a:t>fact</a:t>
            </a:r>
            <a:endParaRPr sz="2400">
              <a:latin typeface="Calibri"/>
              <a:cs typeface="Calibri"/>
            </a:endParaRPr>
          </a:p>
        </p:txBody>
      </p:sp>
      <p:sp>
        <p:nvSpPr>
          <p:cNvPr id="7" name="object 7"/>
          <p:cNvSpPr txBox="1"/>
          <p:nvPr/>
        </p:nvSpPr>
        <p:spPr>
          <a:xfrm>
            <a:off x="3851657" y="5172795"/>
            <a:ext cx="4098713" cy="386430"/>
          </a:xfrm>
          <a:prstGeom prst="rect">
            <a:avLst/>
          </a:prstGeom>
        </p:spPr>
        <p:txBody>
          <a:bodyPr vert="horz" wrap="square" lIns="0" tIns="16933" rIns="0" bIns="0" rtlCol="0">
            <a:spAutoFit/>
          </a:bodyPr>
          <a:lstStyle/>
          <a:p>
            <a:pPr marL="16933">
              <a:spcBef>
                <a:spcPts val="133"/>
              </a:spcBef>
            </a:pPr>
            <a:r>
              <a:rPr sz="2400" b="1" dirty="0">
                <a:solidFill>
                  <a:srgbClr val="D9D9D9"/>
                </a:solidFill>
                <a:latin typeface="Calibri"/>
                <a:cs typeface="Calibri"/>
              </a:rPr>
              <a:t>Same</a:t>
            </a:r>
            <a:r>
              <a:rPr sz="2400" b="1" spc="-27" dirty="0">
                <a:solidFill>
                  <a:srgbClr val="D9D9D9"/>
                </a:solidFill>
                <a:latin typeface="Calibri"/>
                <a:cs typeface="Calibri"/>
              </a:rPr>
              <a:t> </a:t>
            </a:r>
            <a:r>
              <a:rPr sz="2400" b="1" dirty="0">
                <a:solidFill>
                  <a:srgbClr val="D9D9D9"/>
                </a:solidFill>
                <a:latin typeface="Calibri"/>
                <a:cs typeface="Calibri"/>
              </a:rPr>
              <a:t>granularity</a:t>
            </a:r>
            <a:r>
              <a:rPr sz="2400" b="1" spc="-47" dirty="0">
                <a:solidFill>
                  <a:srgbClr val="D9D9D9"/>
                </a:solidFill>
                <a:latin typeface="Calibri"/>
                <a:cs typeface="Calibri"/>
              </a:rPr>
              <a:t> </a:t>
            </a:r>
            <a:r>
              <a:rPr sz="2400" b="1" u="heavy" dirty="0">
                <a:solidFill>
                  <a:srgbClr val="D9D9D9"/>
                </a:solidFill>
                <a:uFill>
                  <a:solidFill>
                    <a:srgbClr val="D9D9D9"/>
                  </a:solidFill>
                </a:uFill>
                <a:latin typeface="Calibri"/>
                <a:cs typeface="Calibri"/>
              </a:rPr>
              <a:t>not</a:t>
            </a:r>
            <a:r>
              <a:rPr sz="2400" b="1" u="heavy" spc="-27" dirty="0">
                <a:solidFill>
                  <a:srgbClr val="D9D9D9"/>
                </a:solidFill>
                <a:uFill>
                  <a:solidFill>
                    <a:srgbClr val="D9D9D9"/>
                  </a:solidFill>
                </a:uFill>
                <a:latin typeface="Calibri"/>
                <a:cs typeface="Calibri"/>
              </a:rPr>
              <a:t> </a:t>
            </a:r>
            <a:r>
              <a:rPr sz="2400" b="1" u="heavy" spc="-13" dirty="0">
                <a:solidFill>
                  <a:srgbClr val="D9D9D9"/>
                </a:solidFill>
                <a:uFill>
                  <a:solidFill>
                    <a:srgbClr val="D9D9D9"/>
                  </a:solidFill>
                </a:uFill>
                <a:latin typeface="Calibri"/>
                <a:cs typeface="Calibri"/>
              </a:rPr>
              <a:t>necessary</a:t>
            </a:r>
            <a:r>
              <a:rPr sz="2400" b="1" spc="-13" dirty="0">
                <a:solidFill>
                  <a:srgbClr val="D9D9D9"/>
                </a:solidFill>
                <a:latin typeface="Calibri"/>
                <a:cs typeface="Calibri"/>
              </a:rPr>
              <a:t>!</a:t>
            </a:r>
            <a:endParaRPr sz="2400">
              <a:latin typeface="Calibri"/>
              <a:cs typeface="Calibri"/>
            </a:endParaRPr>
          </a:p>
        </p:txBody>
      </p:sp>
      <p:sp>
        <p:nvSpPr>
          <p:cNvPr id="10" name="object 2">
            <a:extLst>
              <a:ext uri="{FF2B5EF4-FFF2-40B4-BE49-F238E27FC236}">
                <a16:creationId xmlns:a16="http://schemas.microsoft.com/office/drawing/2014/main" id="{D4558DDB-91B3-845F-24E1-DC3F7FF2C133}"/>
              </a:ext>
            </a:extLst>
          </p:cNvPr>
          <p:cNvSpPr txBox="1">
            <a:spLocks/>
          </p:cNvSpPr>
          <p:nvPr/>
        </p:nvSpPr>
        <p:spPr>
          <a:xfrm>
            <a:off x="664178" y="182260"/>
            <a:ext cx="9340765" cy="695062"/>
          </a:xfrm>
          <a:prstGeom prst="rect">
            <a:avLst/>
          </a:prstGeom>
        </p:spPr>
        <p:txBody>
          <a:bodyPr vert="horz" wrap="square" lIns="0" tIns="1778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46261" algn="ctr">
              <a:lnSpc>
                <a:spcPct val="100000"/>
              </a:lnSpc>
              <a:spcBef>
                <a:spcPts val="140"/>
              </a:spcBef>
            </a:pPr>
            <a:r>
              <a:rPr lang="en-IN" dirty="0">
                <a:solidFill>
                  <a:schemeClr val="bg1"/>
                </a:solidFill>
                <a:latin typeface="+mn-lt"/>
              </a:rPr>
              <a:t>Conformed</a:t>
            </a:r>
            <a:r>
              <a:rPr lang="en-IN" spc="-60" dirty="0">
                <a:solidFill>
                  <a:schemeClr val="bg1"/>
                </a:solidFill>
                <a:latin typeface="+mn-lt"/>
              </a:rPr>
              <a:t> </a:t>
            </a:r>
            <a:r>
              <a:rPr lang="en-IN" spc="-13" dirty="0">
                <a:solidFill>
                  <a:schemeClr val="bg1"/>
                </a:solidFill>
                <a:latin typeface="+mn-lt"/>
              </a:rPr>
              <a:t>dimension</a:t>
            </a:r>
          </a:p>
        </p:txBody>
      </p:sp>
      <p:sp>
        <p:nvSpPr>
          <p:cNvPr id="11" name="Title 8">
            <a:extLst>
              <a:ext uri="{FF2B5EF4-FFF2-40B4-BE49-F238E27FC236}">
                <a16:creationId xmlns:a16="http://schemas.microsoft.com/office/drawing/2014/main" id="{564314F4-480E-2AC8-53DD-7B0952FEC68C}"/>
              </a:ext>
            </a:extLst>
          </p:cNvPr>
          <p:cNvSpPr txBox="1">
            <a:spLocks/>
          </p:cNvSpPr>
          <p:nvPr/>
        </p:nvSpPr>
        <p:spPr>
          <a:xfrm>
            <a:off x="102704" y="42417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254247" y="1877228"/>
            <a:ext cx="1606127"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Sales</a:t>
            </a:r>
            <a:r>
              <a:rPr sz="2400" b="1" spc="-67" dirty="0">
                <a:solidFill>
                  <a:srgbClr val="D9D9D9"/>
                </a:solidFill>
                <a:latin typeface="Calibri"/>
                <a:cs typeface="Calibri"/>
              </a:rPr>
              <a:t> </a:t>
            </a:r>
            <a:r>
              <a:rPr sz="2400" b="1" spc="-27" dirty="0">
                <a:solidFill>
                  <a:srgbClr val="D9D9D9"/>
                </a:solidFill>
                <a:latin typeface="Calibri"/>
                <a:cs typeface="Calibri"/>
              </a:rPr>
              <a:t>fact</a:t>
            </a:r>
            <a:endParaRPr sz="2400">
              <a:latin typeface="Calibri"/>
              <a:cs typeface="Calibri"/>
            </a:endParaRPr>
          </a:p>
        </p:txBody>
      </p:sp>
      <p:graphicFrame>
        <p:nvGraphicFramePr>
          <p:cNvPr id="4" name="object 4"/>
          <p:cNvGraphicFramePr>
            <a:graphicFrameLocks noGrp="1"/>
          </p:cNvGraphicFramePr>
          <p:nvPr>
            <p:extLst>
              <p:ext uri="{D42A27DB-BD31-4B8C-83A1-F6EECF244321}">
                <p14:modId xmlns:p14="http://schemas.microsoft.com/office/powerpoint/2010/main" val="85630463"/>
              </p:ext>
            </p:extLst>
          </p:nvPr>
        </p:nvGraphicFramePr>
        <p:xfrm>
          <a:off x="3242734" y="2430948"/>
          <a:ext cx="5283200" cy="987213"/>
        </p:xfrm>
        <a:graphic>
          <a:graphicData uri="http://schemas.openxmlformats.org/drawingml/2006/table">
            <a:tbl>
              <a:tblPr firstRow="1" bandRow="1">
                <a:tableStyleId>{2D5ABB26-0587-4C30-8999-92F81FD0307C}</a:tableStyleId>
              </a:tblPr>
              <a:tblGrid>
                <a:gridCol w="1320800">
                  <a:extLst>
                    <a:ext uri="{9D8B030D-6E8A-4147-A177-3AD203B41FA5}">
                      <a16:colId xmlns:a16="http://schemas.microsoft.com/office/drawing/2014/main" val="20000"/>
                    </a:ext>
                  </a:extLst>
                </a:gridCol>
                <a:gridCol w="23368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tblGrid>
              <a:tr h="225213">
                <a:tc>
                  <a:txBody>
                    <a:bodyPr/>
                    <a:lstStyle/>
                    <a:p>
                      <a:pPr marL="1270" algn="ctr">
                        <a:lnSpc>
                          <a:spcPct val="100000"/>
                        </a:lnSpc>
                        <a:spcBef>
                          <a:spcPts val="60"/>
                        </a:spcBef>
                      </a:pPr>
                      <a:r>
                        <a:rPr sz="1400" b="1" spc="-10" dirty="0">
                          <a:solidFill>
                            <a:schemeClr val="bg1"/>
                          </a:solidFill>
                          <a:latin typeface="Arial"/>
                          <a:cs typeface="Arial"/>
                        </a:rPr>
                        <a:t>Sales_PK</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2540" algn="ctr">
                        <a:lnSpc>
                          <a:spcPct val="100000"/>
                        </a:lnSpc>
                        <a:spcBef>
                          <a:spcPts val="60"/>
                        </a:spcBef>
                      </a:pPr>
                      <a:r>
                        <a:rPr sz="1400" b="1" spc="-10" dirty="0">
                          <a:solidFill>
                            <a:schemeClr val="bg1"/>
                          </a:solidFill>
                          <a:latin typeface="Arial"/>
                          <a:cs typeface="Arial"/>
                        </a:rPr>
                        <a:t>Sales</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905" algn="ctr">
                        <a:lnSpc>
                          <a:spcPct val="100000"/>
                        </a:lnSpc>
                        <a:spcBef>
                          <a:spcPts val="60"/>
                        </a:spcBef>
                      </a:pPr>
                      <a:r>
                        <a:rPr sz="1400" b="1" spc="-10" dirty="0">
                          <a:solidFill>
                            <a:schemeClr val="bg1"/>
                          </a:solidFill>
                          <a:latin typeface="Arial"/>
                          <a:cs typeface="Arial"/>
                        </a:rPr>
                        <a:t>Date_FK</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$9,400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$7,300</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ct val="10000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$5,100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20220102</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graphicFrame>
        <p:nvGraphicFramePr>
          <p:cNvPr id="5" name="object 5"/>
          <p:cNvGraphicFramePr>
            <a:graphicFrameLocks noGrp="1"/>
          </p:cNvGraphicFramePr>
          <p:nvPr>
            <p:extLst>
              <p:ext uri="{D42A27DB-BD31-4B8C-83A1-F6EECF244321}">
                <p14:modId xmlns:p14="http://schemas.microsoft.com/office/powerpoint/2010/main" val="3875093745"/>
              </p:ext>
            </p:extLst>
          </p:nvPr>
        </p:nvGraphicFramePr>
        <p:xfrm>
          <a:off x="3242734" y="3983735"/>
          <a:ext cx="5283200" cy="987213"/>
        </p:xfrm>
        <a:graphic>
          <a:graphicData uri="http://schemas.openxmlformats.org/drawingml/2006/table">
            <a:tbl>
              <a:tblPr firstRow="1" bandRow="1">
                <a:tableStyleId>{2D5ABB26-0587-4C30-8999-92F81FD0307C}</a:tableStyleId>
              </a:tblPr>
              <a:tblGrid>
                <a:gridCol w="1320800">
                  <a:extLst>
                    <a:ext uri="{9D8B030D-6E8A-4147-A177-3AD203B41FA5}">
                      <a16:colId xmlns:a16="http://schemas.microsoft.com/office/drawing/2014/main" val="20000"/>
                    </a:ext>
                  </a:extLst>
                </a:gridCol>
                <a:gridCol w="23368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tblGrid>
              <a:tr h="226060">
                <a:tc>
                  <a:txBody>
                    <a:bodyPr/>
                    <a:lstStyle/>
                    <a:p>
                      <a:pPr algn="ctr">
                        <a:lnSpc>
                          <a:spcPct val="100000"/>
                        </a:lnSpc>
                        <a:spcBef>
                          <a:spcPts val="60"/>
                        </a:spcBef>
                      </a:pPr>
                      <a:r>
                        <a:rPr sz="1400" b="1" spc="-10" dirty="0">
                          <a:solidFill>
                            <a:schemeClr val="bg1"/>
                          </a:solidFill>
                          <a:latin typeface="Arial"/>
                          <a:cs typeface="Arial"/>
                        </a:rPr>
                        <a:t>Cost_PK</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2540" algn="ctr">
                        <a:lnSpc>
                          <a:spcPct val="100000"/>
                        </a:lnSpc>
                        <a:spcBef>
                          <a:spcPts val="60"/>
                        </a:spcBef>
                      </a:pPr>
                      <a:r>
                        <a:rPr sz="1400" b="1" spc="-20" dirty="0">
                          <a:solidFill>
                            <a:schemeClr val="bg1"/>
                          </a:solidFill>
                          <a:latin typeface="Arial"/>
                          <a:cs typeface="Arial"/>
                        </a:rPr>
                        <a:t>Cost</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gn="ctr">
                        <a:lnSpc>
                          <a:spcPct val="100000"/>
                        </a:lnSpc>
                        <a:spcBef>
                          <a:spcPts val="60"/>
                        </a:spcBef>
                      </a:pPr>
                      <a:r>
                        <a:rPr sz="1400" b="1" spc="-10" dirty="0">
                          <a:solidFill>
                            <a:schemeClr val="bg1"/>
                          </a:solidFill>
                          <a:latin typeface="Arial"/>
                          <a:cs typeface="Arial"/>
                        </a:rPr>
                        <a:t>DateMonth_FK</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$7,200</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3153">
                <a:tc>
                  <a:txBody>
                    <a:bodyPr/>
                    <a:lstStyle/>
                    <a:p>
                      <a:pPr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10" dirty="0">
                          <a:latin typeface="Arial MT"/>
                          <a:cs typeface="Arial MT"/>
                        </a:rPr>
                        <a:t>$1,900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20220201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ct val="10000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spc="-10" dirty="0">
                          <a:latin typeface="Arial MT"/>
                          <a:cs typeface="Arial MT"/>
                        </a:rPr>
                        <a:t>$2,800</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10" dirty="0">
                          <a:latin typeface="Arial MT"/>
                          <a:cs typeface="Arial MT"/>
                        </a:rPr>
                        <a:t>20220301</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sp>
        <p:nvSpPr>
          <p:cNvPr id="6" name="object 6"/>
          <p:cNvSpPr txBox="1"/>
          <p:nvPr/>
        </p:nvSpPr>
        <p:spPr>
          <a:xfrm>
            <a:off x="3242056" y="3525180"/>
            <a:ext cx="1515533"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Cost</a:t>
            </a:r>
            <a:r>
              <a:rPr sz="2400" b="1" spc="-33" dirty="0">
                <a:solidFill>
                  <a:srgbClr val="D9D9D9"/>
                </a:solidFill>
                <a:latin typeface="Calibri"/>
                <a:cs typeface="Calibri"/>
              </a:rPr>
              <a:t> </a:t>
            </a:r>
            <a:r>
              <a:rPr sz="2400" b="1" spc="-27" dirty="0">
                <a:solidFill>
                  <a:srgbClr val="D9D9D9"/>
                </a:solidFill>
                <a:latin typeface="Calibri"/>
                <a:cs typeface="Calibri"/>
              </a:rPr>
              <a:t>fact</a:t>
            </a:r>
            <a:endParaRPr sz="2400">
              <a:latin typeface="Calibri"/>
              <a:cs typeface="Calibri"/>
            </a:endParaRPr>
          </a:p>
        </p:txBody>
      </p:sp>
      <p:sp>
        <p:nvSpPr>
          <p:cNvPr id="7" name="object 7"/>
          <p:cNvSpPr txBox="1"/>
          <p:nvPr/>
        </p:nvSpPr>
        <p:spPr>
          <a:xfrm>
            <a:off x="4474633" y="5172795"/>
            <a:ext cx="2758440" cy="386430"/>
          </a:xfrm>
          <a:prstGeom prst="rect">
            <a:avLst/>
          </a:prstGeom>
        </p:spPr>
        <p:txBody>
          <a:bodyPr vert="horz" wrap="square" lIns="0" tIns="16933" rIns="0" bIns="0" rtlCol="0">
            <a:spAutoFit/>
          </a:bodyPr>
          <a:lstStyle/>
          <a:p>
            <a:pPr marL="16933">
              <a:spcBef>
                <a:spcPts val="133"/>
              </a:spcBef>
            </a:pPr>
            <a:r>
              <a:rPr sz="2400" b="1" dirty="0">
                <a:solidFill>
                  <a:srgbClr val="D9D9D9"/>
                </a:solidFill>
                <a:latin typeface="Calibri"/>
                <a:cs typeface="Calibri"/>
              </a:rPr>
              <a:t>Different</a:t>
            </a:r>
            <a:r>
              <a:rPr sz="2400" b="1" spc="-67" dirty="0">
                <a:solidFill>
                  <a:srgbClr val="D9D9D9"/>
                </a:solidFill>
                <a:latin typeface="Calibri"/>
                <a:cs typeface="Calibri"/>
              </a:rPr>
              <a:t> </a:t>
            </a:r>
            <a:r>
              <a:rPr sz="2400" b="1" dirty="0">
                <a:solidFill>
                  <a:srgbClr val="D9D9D9"/>
                </a:solidFill>
                <a:latin typeface="Calibri"/>
                <a:cs typeface="Calibri"/>
              </a:rPr>
              <a:t>FK</a:t>
            </a:r>
            <a:r>
              <a:rPr sz="2400" b="1" spc="-47" dirty="0">
                <a:solidFill>
                  <a:srgbClr val="D9D9D9"/>
                </a:solidFill>
                <a:latin typeface="Calibri"/>
                <a:cs typeface="Calibri"/>
              </a:rPr>
              <a:t> </a:t>
            </a:r>
            <a:r>
              <a:rPr sz="2400" b="1" spc="-13" dirty="0">
                <a:solidFill>
                  <a:srgbClr val="D9D9D9"/>
                </a:solidFill>
                <a:latin typeface="Calibri"/>
                <a:cs typeface="Calibri"/>
              </a:rPr>
              <a:t>possible!</a:t>
            </a:r>
            <a:endParaRPr sz="2400">
              <a:latin typeface="Calibri"/>
              <a:cs typeface="Calibri"/>
            </a:endParaRPr>
          </a:p>
        </p:txBody>
      </p:sp>
      <p:sp>
        <p:nvSpPr>
          <p:cNvPr id="10" name="object 2">
            <a:extLst>
              <a:ext uri="{FF2B5EF4-FFF2-40B4-BE49-F238E27FC236}">
                <a16:creationId xmlns:a16="http://schemas.microsoft.com/office/drawing/2014/main" id="{630B7BC3-64F1-5C26-6EF1-7EDFDFC8B135}"/>
              </a:ext>
            </a:extLst>
          </p:cNvPr>
          <p:cNvSpPr txBox="1">
            <a:spLocks/>
          </p:cNvSpPr>
          <p:nvPr/>
        </p:nvSpPr>
        <p:spPr>
          <a:xfrm>
            <a:off x="664178" y="182260"/>
            <a:ext cx="9340765" cy="695062"/>
          </a:xfrm>
          <a:prstGeom prst="rect">
            <a:avLst/>
          </a:prstGeom>
        </p:spPr>
        <p:txBody>
          <a:bodyPr vert="horz" wrap="square" lIns="0" tIns="1778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46261" algn="ctr">
              <a:lnSpc>
                <a:spcPct val="100000"/>
              </a:lnSpc>
              <a:spcBef>
                <a:spcPts val="140"/>
              </a:spcBef>
            </a:pPr>
            <a:r>
              <a:rPr lang="en-IN" dirty="0">
                <a:solidFill>
                  <a:schemeClr val="bg1"/>
                </a:solidFill>
                <a:latin typeface="+mn-lt"/>
              </a:rPr>
              <a:t>Conformed</a:t>
            </a:r>
            <a:r>
              <a:rPr lang="en-IN" spc="-60" dirty="0">
                <a:solidFill>
                  <a:schemeClr val="bg1"/>
                </a:solidFill>
                <a:latin typeface="+mn-lt"/>
              </a:rPr>
              <a:t> </a:t>
            </a:r>
            <a:r>
              <a:rPr lang="en-IN" spc="-13" dirty="0">
                <a:solidFill>
                  <a:schemeClr val="bg1"/>
                </a:solidFill>
                <a:latin typeface="+mn-lt"/>
              </a:rPr>
              <a:t>dimension</a:t>
            </a:r>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254247" y="1877228"/>
            <a:ext cx="3060700"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Conformed</a:t>
            </a:r>
            <a:r>
              <a:rPr sz="2400" b="1" spc="-87" dirty="0">
                <a:solidFill>
                  <a:srgbClr val="D9D9D9"/>
                </a:solidFill>
                <a:latin typeface="Calibri"/>
                <a:cs typeface="Calibri"/>
              </a:rPr>
              <a:t> </a:t>
            </a:r>
            <a:r>
              <a:rPr sz="2400" b="1" dirty="0">
                <a:solidFill>
                  <a:srgbClr val="D9D9D9"/>
                </a:solidFill>
                <a:latin typeface="Calibri"/>
                <a:cs typeface="Calibri"/>
              </a:rPr>
              <a:t>Date</a:t>
            </a:r>
            <a:r>
              <a:rPr sz="2400" b="1" spc="-40" dirty="0">
                <a:solidFill>
                  <a:srgbClr val="D9D9D9"/>
                </a:solidFill>
                <a:latin typeface="Calibri"/>
                <a:cs typeface="Calibri"/>
              </a:rPr>
              <a:t> </a:t>
            </a:r>
            <a:r>
              <a:rPr sz="2400" b="1" spc="-33" dirty="0">
                <a:solidFill>
                  <a:srgbClr val="D9D9D9"/>
                </a:solidFill>
                <a:latin typeface="Calibri"/>
                <a:cs typeface="Calibri"/>
              </a:rPr>
              <a:t>dim</a:t>
            </a:r>
            <a:endParaRPr sz="2400">
              <a:latin typeface="Calibri"/>
              <a:cs typeface="Calibri"/>
            </a:endParaRPr>
          </a:p>
        </p:txBody>
      </p:sp>
      <p:graphicFrame>
        <p:nvGraphicFramePr>
          <p:cNvPr id="4" name="object 4"/>
          <p:cNvGraphicFramePr>
            <a:graphicFrameLocks noGrp="1"/>
          </p:cNvGraphicFramePr>
          <p:nvPr>
            <p:extLst>
              <p:ext uri="{D42A27DB-BD31-4B8C-83A1-F6EECF244321}">
                <p14:modId xmlns:p14="http://schemas.microsoft.com/office/powerpoint/2010/main" val="3404556406"/>
              </p:ext>
            </p:extLst>
          </p:nvPr>
        </p:nvGraphicFramePr>
        <p:xfrm>
          <a:off x="3242734" y="2430948"/>
          <a:ext cx="5603092" cy="1196836"/>
        </p:xfrm>
        <a:graphic>
          <a:graphicData uri="http://schemas.openxmlformats.org/drawingml/2006/table">
            <a:tbl>
              <a:tblPr firstRow="1" bandRow="1">
                <a:tableStyleId>{2D5ABB26-0587-4C30-8999-92F81FD0307C}</a:tableStyleId>
              </a:tblPr>
              <a:tblGrid>
                <a:gridCol w="1400773">
                  <a:extLst>
                    <a:ext uri="{9D8B030D-6E8A-4147-A177-3AD203B41FA5}">
                      <a16:colId xmlns:a16="http://schemas.microsoft.com/office/drawing/2014/main" val="20000"/>
                    </a:ext>
                  </a:extLst>
                </a:gridCol>
                <a:gridCol w="2478291">
                  <a:extLst>
                    <a:ext uri="{9D8B030D-6E8A-4147-A177-3AD203B41FA5}">
                      <a16:colId xmlns:a16="http://schemas.microsoft.com/office/drawing/2014/main" val="20001"/>
                    </a:ext>
                  </a:extLst>
                </a:gridCol>
                <a:gridCol w="1724028">
                  <a:extLst>
                    <a:ext uri="{9D8B030D-6E8A-4147-A177-3AD203B41FA5}">
                      <a16:colId xmlns:a16="http://schemas.microsoft.com/office/drawing/2014/main" val="20002"/>
                    </a:ext>
                  </a:extLst>
                </a:gridCol>
              </a:tblGrid>
              <a:tr h="273034">
                <a:tc>
                  <a:txBody>
                    <a:bodyPr/>
                    <a:lstStyle/>
                    <a:p>
                      <a:pPr marL="2540" algn="ctr">
                        <a:lnSpc>
                          <a:spcPct val="100000"/>
                        </a:lnSpc>
                        <a:spcBef>
                          <a:spcPts val="60"/>
                        </a:spcBef>
                      </a:pPr>
                      <a:r>
                        <a:rPr sz="1400" b="1" spc="-10" dirty="0">
                          <a:solidFill>
                            <a:schemeClr val="bg1"/>
                          </a:solidFill>
                          <a:latin typeface="Arial"/>
                          <a:cs typeface="Arial"/>
                        </a:rPr>
                        <a:t>Month</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2540" algn="ctr">
                        <a:lnSpc>
                          <a:spcPct val="100000"/>
                        </a:lnSpc>
                        <a:spcBef>
                          <a:spcPts val="60"/>
                        </a:spcBef>
                      </a:pPr>
                      <a:r>
                        <a:rPr sz="1400" b="1" spc="-20" dirty="0">
                          <a:solidFill>
                            <a:schemeClr val="bg1"/>
                          </a:solidFill>
                          <a:latin typeface="Arial"/>
                          <a:cs typeface="Arial"/>
                        </a:rPr>
                        <a:t>Cost</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2540" algn="ctr">
                        <a:lnSpc>
                          <a:spcPct val="100000"/>
                        </a:lnSpc>
                        <a:spcBef>
                          <a:spcPts val="60"/>
                        </a:spcBef>
                      </a:pPr>
                      <a:r>
                        <a:rPr sz="1400" b="1" spc="-10" dirty="0">
                          <a:solidFill>
                            <a:schemeClr val="bg1"/>
                          </a:solidFill>
                          <a:latin typeface="Arial"/>
                          <a:cs typeface="Arial"/>
                        </a:rPr>
                        <a:t>Sales</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307934">
                <a:tc>
                  <a:txBody>
                    <a:bodyPr/>
                    <a:lstStyle/>
                    <a:p>
                      <a:pPr marL="2540" algn="ctr">
                        <a:lnSpc>
                          <a:spcPct val="100000"/>
                        </a:lnSpc>
                        <a:spcBef>
                          <a:spcPts val="225"/>
                        </a:spcBef>
                      </a:pPr>
                      <a:r>
                        <a:rPr sz="1400" spc="-10" dirty="0">
                          <a:latin typeface="Arial MT"/>
                          <a:cs typeface="Arial MT"/>
                        </a:rPr>
                        <a:t>January</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$50,300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$67,300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307934">
                <a:tc>
                  <a:txBody>
                    <a:bodyPr/>
                    <a:lstStyle/>
                    <a:p>
                      <a:pPr marL="1270" algn="ctr">
                        <a:lnSpc>
                          <a:spcPct val="100000"/>
                        </a:lnSpc>
                        <a:spcBef>
                          <a:spcPts val="225"/>
                        </a:spcBef>
                      </a:pPr>
                      <a:r>
                        <a:rPr sz="1400" spc="-10" dirty="0">
                          <a:latin typeface="Arial MT"/>
                          <a:cs typeface="Arial MT"/>
                        </a:rPr>
                        <a:t>February</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$55,300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$71,400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307934">
                <a:tc>
                  <a:txBody>
                    <a:bodyPr/>
                    <a:lstStyle/>
                    <a:p>
                      <a:pPr marL="1905" algn="ctr">
                        <a:lnSpc>
                          <a:spcPct val="100000"/>
                        </a:lnSpc>
                        <a:spcBef>
                          <a:spcPts val="225"/>
                        </a:spcBef>
                      </a:pPr>
                      <a:r>
                        <a:rPr sz="1400" spc="-10" dirty="0">
                          <a:latin typeface="Arial MT"/>
                          <a:cs typeface="Arial MT"/>
                        </a:rPr>
                        <a:t>March</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$65,100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$79,400</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pic>
        <p:nvPicPr>
          <p:cNvPr id="5" name="object 5"/>
          <p:cNvPicPr/>
          <p:nvPr/>
        </p:nvPicPr>
        <p:blipFill>
          <a:blip r:embed="rId2" cstate="print"/>
          <a:stretch>
            <a:fillRect/>
          </a:stretch>
        </p:blipFill>
        <p:spPr>
          <a:xfrm>
            <a:off x="2745230" y="3785614"/>
            <a:ext cx="7242049" cy="2706625"/>
          </a:xfrm>
          <a:prstGeom prst="rect">
            <a:avLst/>
          </a:prstGeom>
        </p:spPr>
      </p:pic>
      <p:sp>
        <p:nvSpPr>
          <p:cNvPr id="9" name="object 2">
            <a:extLst>
              <a:ext uri="{FF2B5EF4-FFF2-40B4-BE49-F238E27FC236}">
                <a16:creationId xmlns:a16="http://schemas.microsoft.com/office/drawing/2014/main" id="{3C27AC97-CE57-E186-2456-1D78BC3430DC}"/>
              </a:ext>
            </a:extLst>
          </p:cNvPr>
          <p:cNvSpPr txBox="1">
            <a:spLocks/>
          </p:cNvSpPr>
          <p:nvPr/>
        </p:nvSpPr>
        <p:spPr>
          <a:xfrm>
            <a:off x="664178" y="182260"/>
            <a:ext cx="9340765" cy="695062"/>
          </a:xfrm>
          <a:prstGeom prst="rect">
            <a:avLst/>
          </a:prstGeom>
        </p:spPr>
        <p:txBody>
          <a:bodyPr vert="horz" wrap="square" lIns="0" tIns="1778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46261" algn="ctr">
              <a:lnSpc>
                <a:spcPct val="100000"/>
              </a:lnSpc>
              <a:spcBef>
                <a:spcPts val="140"/>
              </a:spcBef>
            </a:pPr>
            <a:r>
              <a:rPr lang="en-IN" dirty="0">
                <a:solidFill>
                  <a:schemeClr val="bg1"/>
                </a:solidFill>
                <a:latin typeface="+mn-lt"/>
              </a:rPr>
              <a:t>Conformed</a:t>
            </a:r>
            <a:r>
              <a:rPr lang="en-IN" spc="-60" dirty="0">
                <a:solidFill>
                  <a:schemeClr val="bg1"/>
                </a:solidFill>
                <a:latin typeface="+mn-lt"/>
              </a:rPr>
              <a:t> </a:t>
            </a:r>
            <a:r>
              <a:rPr lang="en-IN" spc="-13" dirty="0">
                <a:solidFill>
                  <a:schemeClr val="bg1"/>
                </a:solidFill>
                <a:latin typeface="+mn-lt"/>
              </a:rPr>
              <a:t>dimension</a:t>
            </a:r>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20800" y="2180512"/>
            <a:ext cx="9930384" cy="1702816"/>
          </a:xfrm>
          <a:prstGeom prst="rect">
            <a:avLst/>
          </a:prstGeom>
        </p:spPr>
      </p:pic>
      <p:sp>
        <p:nvSpPr>
          <p:cNvPr id="3" name="object 3"/>
          <p:cNvSpPr txBox="1">
            <a:spLocks noGrp="1"/>
          </p:cNvSpPr>
          <p:nvPr>
            <p:ph type="title"/>
          </p:nvPr>
        </p:nvSpPr>
        <p:spPr>
          <a:xfrm>
            <a:off x="1320800" y="2579973"/>
            <a:ext cx="9811173" cy="1048150"/>
          </a:xfrm>
          <a:prstGeom prst="rect">
            <a:avLst/>
          </a:prstGeom>
          <a:noFill/>
          <a:ln w="9144">
            <a:solidFill>
              <a:srgbClr val="373737"/>
            </a:solidFill>
          </a:ln>
        </p:spPr>
        <p:txBody>
          <a:bodyPr vert="horz" wrap="square" lIns="0" tIns="306493" rIns="0" bIns="0" rtlCol="0" anchor="ctr">
            <a:spAutoFit/>
          </a:bodyPr>
          <a:lstStyle/>
          <a:p>
            <a:pPr algn="ctr">
              <a:lnSpc>
                <a:spcPct val="100000"/>
              </a:lnSpc>
              <a:spcBef>
                <a:spcPts val="2413"/>
              </a:spcBef>
            </a:pPr>
            <a:r>
              <a:rPr sz="4800" dirty="0">
                <a:solidFill>
                  <a:schemeClr val="bg1"/>
                </a:solidFill>
                <a:latin typeface="+mn-lt"/>
              </a:rPr>
              <a:t>Degenerate</a:t>
            </a:r>
            <a:r>
              <a:rPr sz="4800" spc="-47" dirty="0">
                <a:solidFill>
                  <a:schemeClr val="bg1"/>
                </a:solidFill>
                <a:latin typeface="+mn-lt"/>
              </a:rPr>
              <a:t> </a:t>
            </a:r>
            <a:r>
              <a:rPr sz="4800" spc="-13" dirty="0">
                <a:solidFill>
                  <a:schemeClr val="bg1"/>
                </a:solidFill>
                <a:latin typeface="+mn-lt"/>
              </a:rPr>
              <a:t>dimension</a:t>
            </a:r>
            <a:endParaRPr sz="4800" dirty="0">
              <a:solidFill>
                <a:schemeClr val="bg1"/>
              </a:solidFill>
              <a:latin typeface="+mn-lt"/>
            </a:endParaRPr>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00194" y="384065"/>
            <a:ext cx="6458144"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Degenerate</a:t>
            </a:r>
            <a:r>
              <a:rPr spc="-33" dirty="0">
                <a:solidFill>
                  <a:schemeClr val="bg1"/>
                </a:solidFill>
                <a:latin typeface="+mn-lt"/>
              </a:rPr>
              <a:t> </a:t>
            </a:r>
            <a:r>
              <a:rPr spc="-13" dirty="0">
                <a:solidFill>
                  <a:schemeClr val="bg1"/>
                </a:solidFill>
                <a:latin typeface="+mn-lt"/>
              </a:rPr>
              <a:t>dimension</a:t>
            </a:r>
          </a:p>
        </p:txBody>
      </p:sp>
      <p:sp>
        <p:nvSpPr>
          <p:cNvPr id="3" name="object 3"/>
          <p:cNvSpPr txBox="1"/>
          <p:nvPr/>
        </p:nvSpPr>
        <p:spPr>
          <a:xfrm>
            <a:off x="2848526" y="1877228"/>
            <a:ext cx="3380740"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Transactional</a:t>
            </a:r>
            <a:r>
              <a:rPr sz="2400" b="1" spc="-47" dirty="0">
                <a:solidFill>
                  <a:srgbClr val="D9D9D9"/>
                </a:solidFill>
                <a:latin typeface="Calibri"/>
                <a:cs typeface="Calibri"/>
              </a:rPr>
              <a:t> </a:t>
            </a:r>
            <a:r>
              <a:rPr sz="2400" b="1" dirty="0">
                <a:solidFill>
                  <a:srgbClr val="D9D9D9"/>
                </a:solidFill>
                <a:latin typeface="Calibri"/>
                <a:cs typeface="Calibri"/>
              </a:rPr>
              <a:t>Sales</a:t>
            </a:r>
            <a:r>
              <a:rPr sz="2400" b="1" spc="-33" dirty="0">
                <a:solidFill>
                  <a:srgbClr val="D9D9D9"/>
                </a:solidFill>
                <a:latin typeface="Calibri"/>
                <a:cs typeface="Calibri"/>
              </a:rPr>
              <a:t> </a:t>
            </a:r>
            <a:r>
              <a:rPr sz="2400" b="1" spc="-27" dirty="0">
                <a:solidFill>
                  <a:srgbClr val="D9D9D9"/>
                </a:solidFill>
                <a:latin typeface="Calibri"/>
                <a:cs typeface="Calibri"/>
              </a:rPr>
              <a:t>fact</a:t>
            </a:r>
            <a:endParaRPr sz="2400">
              <a:latin typeface="Calibri"/>
              <a:cs typeface="Calibri"/>
            </a:endParaRPr>
          </a:p>
        </p:txBody>
      </p:sp>
      <p:graphicFrame>
        <p:nvGraphicFramePr>
          <p:cNvPr id="4" name="object 4"/>
          <p:cNvGraphicFramePr>
            <a:graphicFrameLocks noGrp="1"/>
          </p:cNvGraphicFramePr>
          <p:nvPr>
            <p:extLst>
              <p:ext uri="{D42A27DB-BD31-4B8C-83A1-F6EECF244321}">
                <p14:modId xmlns:p14="http://schemas.microsoft.com/office/powerpoint/2010/main" val="869213545"/>
              </p:ext>
            </p:extLst>
          </p:nvPr>
        </p:nvGraphicFramePr>
        <p:xfrm>
          <a:off x="1612626" y="2506134"/>
          <a:ext cx="5586987" cy="1300552"/>
        </p:xfrm>
        <a:graphic>
          <a:graphicData uri="http://schemas.openxmlformats.org/drawingml/2006/table">
            <a:tbl>
              <a:tblPr firstRow="1" bandRow="1">
                <a:tableStyleId>{2D5ABB26-0587-4C30-8999-92F81FD0307C}</a:tableStyleId>
              </a:tblPr>
              <a:tblGrid>
                <a:gridCol w="1611631">
                  <a:extLst>
                    <a:ext uri="{9D8B030D-6E8A-4147-A177-3AD203B41FA5}">
                      <a16:colId xmlns:a16="http://schemas.microsoft.com/office/drawing/2014/main" val="20000"/>
                    </a:ext>
                  </a:extLst>
                </a:gridCol>
                <a:gridCol w="2256283">
                  <a:extLst>
                    <a:ext uri="{9D8B030D-6E8A-4147-A177-3AD203B41FA5}">
                      <a16:colId xmlns:a16="http://schemas.microsoft.com/office/drawing/2014/main" val="20001"/>
                    </a:ext>
                  </a:extLst>
                </a:gridCol>
                <a:gridCol w="1719073">
                  <a:extLst>
                    <a:ext uri="{9D8B030D-6E8A-4147-A177-3AD203B41FA5}">
                      <a16:colId xmlns:a16="http://schemas.microsoft.com/office/drawing/2014/main" val="20002"/>
                    </a:ext>
                  </a:extLst>
                </a:gridCol>
              </a:tblGrid>
              <a:tr h="296695">
                <a:tc>
                  <a:txBody>
                    <a:bodyPr/>
                    <a:lstStyle/>
                    <a:p>
                      <a:pPr marL="635" algn="ctr">
                        <a:lnSpc>
                          <a:spcPct val="100000"/>
                        </a:lnSpc>
                        <a:spcBef>
                          <a:spcPts val="60"/>
                        </a:spcBef>
                      </a:pPr>
                      <a:r>
                        <a:rPr sz="1400" b="1" spc="-10" dirty="0">
                          <a:solidFill>
                            <a:schemeClr val="bg1"/>
                          </a:solidFill>
                          <a:latin typeface="Arial"/>
                          <a:cs typeface="Arial"/>
                        </a:rPr>
                        <a:t>Transaction_PK</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905" algn="ctr">
                        <a:lnSpc>
                          <a:spcPct val="100000"/>
                        </a:lnSpc>
                        <a:spcBef>
                          <a:spcPts val="60"/>
                        </a:spcBef>
                      </a:pPr>
                      <a:r>
                        <a:rPr sz="1400" b="1" spc="-10" dirty="0">
                          <a:solidFill>
                            <a:schemeClr val="bg1"/>
                          </a:solidFill>
                          <a:latin typeface="Arial"/>
                          <a:cs typeface="Arial"/>
                        </a:rPr>
                        <a:t>Amount</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635" algn="ctr">
                        <a:lnSpc>
                          <a:spcPct val="100000"/>
                        </a:lnSpc>
                        <a:spcBef>
                          <a:spcPts val="60"/>
                        </a:spcBef>
                      </a:pPr>
                      <a:r>
                        <a:rPr sz="1400" b="1" spc="-10" dirty="0">
                          <a:solidFill>
                            <a:schemeClr val="bg1"/>
                          </a:solidFill>
                          <a:latin typeface="Arial"/>
                          <a:cs typeface="Arial"/>
                        </a:rPr>
                        <a:t>Payment_FK</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334619">
                <a:tc>
                  <a:txBody>
                    <a:bodyPr/>
                    <a:lstStyle/>
                    <a:p>
                      <a:pPr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20" dirty="0">
                          <a:latin typeface="Arial MT"/>
                          <a:cs typeface="Arial MT"/>
                        </a:rPr>
                        <a:t>$530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234-</a:t>
                      </a:r>
                      <a:r>
                        <a:rPr sz="1400" spc="-25" dirty="0">
                          <a:latin typeface="Arial MT"/>
                          <a:cs typeface="Arial MT"/>
                        </a:rPr>
                        <a:t>032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334619">
                <a:tc>
                  <a:txBody>
                    <a:bodyPr/>
                    <a:lstStyle/>
                    <a:p>
                      <a:pPr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20" dirty="0">
                          <a:latin typeface="Arial MT"/>
                          <a:cs typeface="Arial MT"/>
                        </a:rPr>
                        <a:t>$553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234-</a:t>
                      </a:r>
                      <a:r>
                        <a:rPr sz="1400" spc="-25" dirty="0">
                          <a:latin typeface="Arial MT"/>
                          <a:cs typeface="Arial MT"/>
                        </a:rPr>
                        <a:t>032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334619">
                <a:tc>
                  <a:txBody>
                    <a:bodyPr/>
                    <a:lstStyle/>
                    <a:p>
                      <a:pPr algn="ctr">
                        <a:lnSpc>
                          <a:spcPct val="10000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20" dirty="0">
                          <a:latin typeface="Arial MT"/>
                          <a:cs typeface="Arial MT"/>
                        </a:rPr>
                        <a:t>$654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234-</a:t>
                      </a:r>
                      <a:r>
                        <a:rPr sz="1400" spc="-25" dirty="0">
                          <a:latin typeface="Arial MT"/>
                          <a:cs typeface="Arial MT"/>
                        </a:rPr>
                        <a:t>033</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graphicFrame>
        <p:nvGraphicFramePr>
          <p:cNvPr id="5" name="object 5"/>
          <p:cNvGraphicFramePr>
            <a:graphicFrameLocks noGrp="1"/>
          </p:cNvGraphicFramePr>
          <p:nvPr>
            <p:extLst>
              <p:ext uri="{D42A27DB-BD31-4B8C-83A1-F6EECF244321}">
                <p14:modId xmlns:p14="http://schemas.microsoft.com/office/powerpoint/2010/main" val="2555138121"/>
              </p:ext>
            </p:extLst>
          </p:nvPr>
        </p:nvGraphicFramePr>
        <p:xfrm>
          <a:off x="7891670" y="2506134"/>
          <a:ext cx="3070970" cy="1300552"/>
        </p:xfrm>
        <a:graphic>
          <a:graphicData uri="http://schemas.openxmlformats.org/drawingml/2006/table">
            <a:tbl>
              <a:tblPr firstRow="1" bandRow="1">
                <a:tableStyleId>{2D5ABB26-0587-4C30-8999-92F81FD0307C}</a:tableStyleId>
              </a:tblPr>
              <a:tblGrid>
                <a:gridCol w="1535485">
                  <a:extLst>
                    <a:ext uri="{9D8B030D-6E8A-4147-A177-3AD203B41FA5}">
                      <a16:colId xmlns:a16="http://schemas.microsoft.com/office/drawing/2014/main" val="20000"/>
                    </a:ext>
                  </a:extLst>
                </a:gridCol>
                <a:gridCol w="1535485">
                  <a:extLst>
                    <a:ext uri="{9D8B030D-6E8A-4147-A177-3AD203B41FA5}">
                      <a16:colId xmlns:a16="http://schemas.microsoft.com/office/drawing/2014/main" val="20001"/>
                    </a:ext>
                  </a:extLst>
                </a:gridCol>
              </a:tblGrid>
              <a:tr h="296695">
                <a:tc>
                  <a:txBody>
                    <a:bodyPr/>
                    <a:lstStyle/>
                    <a:p>
                      <a:pPr algn="ctr">
                        <a:lnSpc>
                          <a:spcPct val="100000"/>
                        </a:lnSpc>
                        <a:spcBef>
                          <a:spcPts val="60"/>
                        </a:spcBef>
                      </a:pPr>
                      <a:r>
                        <a:rPr sz="1400" b="1" spc="-10" dirty="0">
                          <a:solidFill>
                            <a:schemeClr val="bg1"/>
                          </a:solidFill>
                          <a:latin typeface="Arial"/>
                          <a:cs typeface="Arial"/>
                        </a:rPr>
                        <a:t>Payment_PK</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gn="ctr">
                        <a:lnSpc>
                          <a:spcPct val="100000"/>
                        </a:lnSpc>
                        <a:spcBef>
                          <a:spcPts val="60"/>
                        </a:spcBef>
                      </a:pPr>
                      <a:r>
                        <a:rPr sz="1400" b="1" spc="-10" dirty="0">
                          <a:solidFill>
                            <a:schemeClr val="bg1"/>
                          </a:solidFill>
                          <a:latin typeface="Arial"/>
                          <a:cs typeface="Arial"/>
                        </a:rPr>
                        <a:t>Header</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334619">
                <a:tc>
                  <a:txBody>
                    <a:bodyPr/>
                    <a:lstStyle/>
                    <a:p>
                      <a:pPr algn="ctr">
                        <a:lnSpc>
                          <a:spcPct val="100000"/>
                        </a:lnSpc>
                        <a:spcBef>
                          <a:spcPts val="225"/>
                        </a:spcBef>
                      </a:pPr>
                      <a:r>
                        <a:rPr sz="1400" spc="-10" dirty="0">
                          <a:latin typeface="Arial MT"/>
                          <a:cs typeface="Arial MT"/>
                        </a:rPr>
                        <a:t>234-</a:t>
                      </a:r>
                      <a:r>
                        <a:rPr sz="1400" spc="-25" dirty="0">
                          <a:latin typeface="Arial MT"/>
                          <a:cs typeface="Arial MT"/>
                        </a:rPr>
                        <a:t>032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dirty="0">
                          <a:latin typeface="Arial MT"/>
                          <a:cs typeface="Arial MT"/>
                        </a:rPr>
                        <a:t>Type</a:t>
                      </a:r>
                      <a:r>
                        <a:rPr sz="1400" spc="-35" dirty="0">
                          <a:latin typeface="Arial MT"/>
                          <a:cs typeface="Arial MT"/>
                        </a:rPr>
                        <a:t> </a:t>
                      </a:r>
                      <a:r>
                        <a:rPr sz="1400" spc="-50" dirty="0">
                          <a:latin typeface="Arial MT"/>
                          <a:cs typeface="Arial MT"/>
                        </a:rPr>
                        <a:t>A</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334619">
                <a:tc>
                  <a:txBody>
                    <a:bodyPr/>
                    <a:lstStyle/>
                    <a:p>
                      <a:pPr algn="ctr">
                        <a:lnSpc>
                          <a:spcPct val="100000"/>
                        </a:lnSpc>
                        <a:spcBef>
                          <a:spcPts val="225"/>
                        </a:spcBef>
                      </a:pPr>
                      <a:r>
                        <a:rPr sz="1400" spc="-10" dirty="0">
                          <a:latin typeface="Arial MT"/>
                          <a:cs typeface="Arial MT"/>
                        </a:rPr>
                        <a:t>234-</a:t>
                      </a:r>
                      <a:r>
                        <a:rPr sz="1400" spc="-25" dirty="0">
                          <a:latin typeface="Arial MT"/>
                          <a:cs typeface="Arial MT"/>
                        </a:rPr>
                        <a:t>033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dirty="0">
                          <a:latin typeface="Arial MT"/>
                          <a:cs typeface="Arial MT"/>
                        </a:rPr>
                        <a:t>Type</a:t>
                      </a:r>
                      <a:r>
                        <a:rPr sz="1400" spc="-35" dirty="0">
                          <a:latin typeface="Arial MT"/>
                          <a:cs typeface="Arial MT"/>
                        </a:rPr>
                        <a:t> </a:t>
                      </a:r>
                      <a:r>
                        <a:rPr sz="1400" spc="-50" dirty="0">
                          <a:latin typeface="Arial MT"/>
                          <a:cs typeface="Arial MT"/>
                        </a:rPr>
                        <a:t>A</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334619">
                <a:tc>
                  <a:txBody>
                    <a:bodyPr/>
                    <a:lstStyle/>
                    <a:p>
                      <a:pPr algn="ctr">
                        <a:lnSpc>
                          <a:spcPct val="100000"/>
                        </a:lnSpc>
                        <a:spcBef>
                          <a:spcPts val="225"/>
                        </a:spcBef>
                      </a:pPr>
                      <a:r>
                        <a:rPr sz="1400" spc="-10" dirty="0">
                          <a:latin typeface="Arial MT"/>
                          <a:cs typeface="Arial MT"/>
                        </a:rPr>
                        <a:t>234-</a:t>
                      </a:r>
                      <a:r>
                        <a:rPr sz="1400" spc="-25" dirty="0">
                          <a:latin typeface="Arial MT"/>
                          <a:cs typeface="Arial MT"/>
                        </a:rPr>
                        <a:t>034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dirty="0">
                          <a:latin typeface="Arial MT"/>
                          <a:cs typeface="Arial MT"/>
                        </a:rPr>
                        <a:t>Type</a:t>
                      </a:r>
                      <a:r>
                        <a:rPr sz="1400" spc="-35" dirty="0">
                          <a:latin typeface="Arial MT"/>
                          <a:cs typeface="Arial MT"/>
                        </a:rPr>
                        <a:t> </a:t>
                      </a:r>
                      <a:r>
                        <a:rPr sz="1400" spc="-50" dirty="0">
                          <a:latin typeface="Arial MT"/>
                          <a:cs typeface="Arial MT"/>
                        </a:rPr>
                        <a:t>B</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43055" y="503334"/>
            <a:ext cx="6766257"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Degenerate</a:t>
            </a:r>
            <a:r>
              <a:rPr spc="-33" dirty="0">
                <a:solidFill>
                  <a:schemeClr val="bg1"/>
                </a:solidFill>
                <a:latin typeface="+mn-lt"/>
              </a:rPr>
              <a:t> </a:t>
            </a:r>
            <a:r>
              <a:rPr spc="-13" dirty="0">
                <a:solidFill>
                  <a:schemeClr val="bg1"/>
                </a:solidFill>
                <a:latin typeface="+mn-lt"/>
              </a:rPr>
              <a:t>dimension</a:t>
            </a:r>
          </a:p>
        </p:txBody>
      </p:sp>
      <p:sp>
        <p:nvSpPr>
          <p:cNvPr id="3" name="object 3"/>
          <p:cNvSpPr txBox="1"/>
          <p:nvPr/>
        </p:nvSpPr>
        <p:spPr>
          <a:xfrm>
            <a:off x="2848526" y="1877228"/>
            <a:ext cx="3380740"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Transactional</a:t>
            </a:r>
            <a:r>
              <a:rPr sz="2400" b="1" spc="-47" dirty="0">
                <a:solidFill>
                  <a:srgbClr val="D9D9D9"/>
                </a:solidFill>
                <a:latin typeface="Calibri"/>
                <a:cs typeface="Calibri"/>
              </a:rPr>
              <a:t> </a:t>
            </a:r>
            <a:r>
              <a:rPr sz="2400" b="1" dirty="0">
                <a:solidFill>
                  <a:srgbClr val="D9D9D9"/>
                </a:solidFill>
                <a:latin typeface="Calibri"/>
                <a:cs typeface="Calibri"/>
              </a:rPr>
              <a:t>Sales</a:t>
            </a:r>
            <a:r>
              <a:rPr sz="2400" b="1" spc="-33" dirty="0">
                <a:solidFill>
                  <a:srgbClr val="D9D9D9"/>
                </a:solidFill>
                <a:latin typeface="Calibri"/>
                <a:cs typeface="Calibri"/>
              </a:rPr>
              <a:t> </a:t>
            </a:r>
            <a:r>
              <a:rPr sz="2400" b="1" spc="-27" dirty="0">
                <a:solidFill>
                  <a:srgbClr val="D9D9D9"/>
                </a:solidFill>
                <a:latin typeface="Calibri"/>
                <a:cs typeface="Calibri"/>
              </a:rPr>
              <a:t>fact</a:t>
            </a:r>
            <a:endParaRPr sz="2400">
              <a:latin typeface="Calibri"/>
              <a:cs typeface="Calibri"/>
            </a:endParaRPr>
          </a:p>
        </p:txBody>
      </p:sp>
      <p:graphicFrame>
        <p:nvGraphicFramePr>
          <p:cNvPr id="4" name="object 4"/>
          <p:cNvGraphicFramePr>
            <a:graphicFrameLocks noGrp="1"/>
          </p:cNvGraphicFramePr>
          <p:nvPr>
            <p:extLst>
              <p:ext uri="{D42A27DB-BD31-4B8C-83A1-F6EECF244321}">
                <p14:modId xmlns:p14="http://schemas.microsoft.com/office/powerpoint/2010/main" val="3164504368"/>
              </p:ext>
            </p:extLst>
          </p:nvPr>
        </p:nvGraphicFramePr>
        <p:xfrm>
          <a:off x="2735748" y="2506134"/>
          <a:ext cx="5586987" cy="1119111"/>
        </p:xfrm>
        <a:graphic>
          <a:graphicData uri="http://schemas.openxmlformats.org/drawingml/2006/table">
            <a:tbl>
              <a:tblPr firstRow="1" bandRow="1">
                <a:tableStyleId>{2D5ABB26-0587-4C30-8999-92F81FD0307C}</a:tableStyleId>
              </a:tblPr>
              <a:tblGrid>
                <a:gridCol w="1611631">
                  <a:extLst>
                    <a:ext uri="{9D8B030D-6E8A-4147-A177-3AD203B41FA5}">
                      <a16:colId xmlns:a16="http://schemas.microsoft.com/office/drawing/2014/main" val="20000"/>
                    </a:ext>
                  </a:extLst>
                </a:gridCol>
                <a:gridCol w="2256283">
                  <a:extLst>
                    <a:ext uri="{9D8B030D-6E8A-4147-A177-3AD203B41FA5}">
                      <a16:colId xmlns:a16="http://schemas.microsoft.com/office/drawing/2014/main" val="20001"/>
                    </a:ext>
                  </a:extLst>
                </a:gridCol>
                <a:gridCol w="1719073">
                  <a:extLst>
                    <a:ext uri="{9D8B030D-6E8A-4147-A177-3AD203B41FA5}">
                      <a16:colId xmlns:a16="http://schemas.microsoft.com/office/drawing/2014/main" val="20002"/>
                    </a:ext>
                  </a:extLst>
                </a:gridCol>
              </a:tblGrid>
              <a:tr h="255303">
                <a:tc>
                  <a:txBody>
                    <a:bodyPr/>
                    <a:lstStyle/>
                    <a:p>
                      <a:pPr marL="635" algn="ctr">
                        <a:lnSpc>
                          <a:spcPct val="100000"/>
                        </a:lnSpc>
                        <a:spcBef>
                          <a:spcPts val="60"/>
                        </a:spcBef>
                      </a:pPr>
                      <a:r>
                        <a:rPr sz="1400" b="1" spc="-10" dirty="0">
                          <a:solidFill>
                            <a:schemeClr val="bg1"/>
                          </a:solidFill>
                          <a:latin typeface="Arial"/>
                          <a:cs typeface="Arial"/>
                        </a:rPr>
                        <a:t>Transaction_PK</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905" algn="ctr">
                        <a:lnSpc>
                          <a:spcPct val="100000"/>
                        </a:lnSpc>
                        <a:spcBef>
                          <a:spcPts val="60"/>
                        </a:spcBef>
                      </a:pPr>
                      <a:r>
                        <a:rPr sz="1400" b="1" spc="-10" dirty="0">
                          <a:solidFill>
                            <a:schemeClr val="bg1"/>
                          </a:solidFill>
                          <a:latin typeface="Arial"/>
                          <a:cs typeface="Arial"/>
                        </a:rPr>
                        <a:t>Amount</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635" algn="ctr">
                        <a:lnSpc>
                          <a:spcPct val="100000"/>
                        </a:lnSpc>
                        <a:spcBef>
                          <a:spcPts val="60"/>
                        </a:spcBef>
                      </a:pPr>
                      <a:r>
                        <a:rPr sz="1400" b="1" spc="-10" dirty="0">
                          <a:solidFill>
                            <a:schemeClr val="bg1"/>
                          </a:solidFill>
                          <a:latin typeface="Arial"/>
                          <a:cs typeface="Arial"/>
                        </a:rPr>
                        <a:t>Payment_FK</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87936">
                <a:tc>
                  <a:txBody>
                    <a:bodyPr/>
                    <a:lstStyle/>
                    <a:p>
                      <a:pPr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20" dirty="0">
                          <a:latin typeface="Arial MT"/>
                          <a:cs typeface="Arial MT"/>
                        </a:rPr>
                        <a:t>$530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234-</a:t>
                      </a:r>
                      <a:r>
                        <a:rPr sz="1400" spc="-25" dirty="0">
                          <a:latin typeface="Arial MT"/>
                          <a:cs typeface="Arial MT"/>
                        </a:rPr>
                        <a:t>032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87936">
                <a:tc>
                  <a:txBody>
                    <a:bodyPr/>
                    <a:lstStyle/>
                    <a:p>
                      <a:pPr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20" dirty="0">
                          <a:latin typeface="Arial MT"/>
                          <a:cs typeface="Arial MT"/>
                        </a:rPr>
                        <a:t>$553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234-</a:t>
                      </a:r>
                      <a:r>
                        <a:rPr sz="1400" spc="-25" dirty="0">
                          <a:latin typeface="Arial MT"/>
                          <a:cs typeface="Arial MT"/>
                        </a:rPr>
                        <a:t>032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87936">
                <a:tc>
                  <a:txBody>
                    <a:bodyPr/>
                    <a:lstStyle/>
                    <a:p>
                      <a:pPr algn="ctr">
                        <a:lnSpc>
                          <a:spcPct val="10000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20" dirty="0">
                          <a:latin typeface="Arial MT"/>
                          <a:cs typeface="Arial MT"/>
                        </a:rPr>
                        <a:t>$654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234-</a:t>
                      </a:r>
                      <a:r>
                        <a:rPr sz="1400" spc="-25" dirty="0">
                          <a:latin typeface="Arial MT"/>
                          <a:cs typeface="Arial MT"/>
                        </a:rPr>
                        <a:t>033</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graphicFrame>
        <p:nvGraphicFramePr>
          <p:cNvPr id="5" name="object 5"/>
          <p:cNvGraphicFramePr>
            <a:graphicFrameLocks noGrp="1"/>
          </p:cNvGraphicFramePr>
          <p:nvPr>
            <p:extLst>
              <p:ext uri="{D42A27DB-BD31-4B8C-83A1-F6EECF244321}">
                <p14:modId xmlns:p14="http://schemas.microsoft.com/office/powerpoint/2010/main" val="4233951668"/>
              </p:ext>
            </p:extLst>
          </p:nvPr>
        </p:nvGraphicFramePr>
        <p:xfrm>
          <a:off x="8819692" y="2506134"/>
          <a:ext cx="2908484" cy="1119111"/>
        </p:xfrm>
        <a:graphic>
          <a:graphicData uri="http://schemas.openxmlformats.org/drawingml/2006/table">
            <a:tbl>
              <a:tblPr firstRow="1" bandRow="1">
                <a:tableStyleId>{2D5ABB26-0587-4C30-8999-92F81FD0307C}</a:tableStyleId>
              </a:tblPr>
              <a:tblGrid>
                <a:gridCol w="1454242">
                  <a:extLst>
                    <a:ext uri="{9D8B030D-6E8A-4147-A177-3AD203B41FA5}">
                      <a16:colId xmlns:a16="http://schemas.microsoft.com/office/drawing/2014/main" val="20000"/>
                    </a:ext>
                  </a:extLst>
                </a:gridCol>
                <a:gridCol w="1454242">
                  <a:extLst>
                    <a:ext uri="{9D8B030D-6E8A-4147-A177-3AD203B41FA5}">
                      <a16:colId xmlns:a16="http://schemas.microsoft.com/office/drawing/2014/main" val="20001"/>
                    </a:ext>
                  </a:extLst>
                </a:gridCol>
              </a:tblGrid>
              <a:tr h="255303">
                <a:tc>
                  <a:txBody>
                    <a:bodyPr/>
                    <a:lstStyle/>
                    <a:p>
                      <a:pPr algn="ctr">
                        <a:lnSpc>
                          <a:spcPct val="100000"/>
                        </a:lnSpc>
                        <a:spcBef>
                          <a:spcPts val="60"/>
                        </a:spcBef>
                      </a:pPr>
                      <a:r>
                        <a:rPr sz="1400" b="1" spc="-10" dirty="0">
                          <a:solidFill>
                            <a:schemeClr val="bg1"/>
                          </a:solidFill>
                          <a:latin typeface="Arial"/>
                          <a:cs typeface="Arial"/>
                        </a:rPr>
                        <a:t>Payment_PK</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gn="ctr">
                        <a:lnSpc>
                          <a:spcPct val="100000"/>
                        </a:lnSpc>
                        <a:spcBef>
                          <a:spcPts val="60"/>
                        </a:spcBef>
                      </a:pPr>
                      <a:r>
                        <a:rPr sz="1400" b="1" spc="-10" dirty="0">
                          <a:solidFill>
                            <a:schemeClr val="bg1"/>
                          </a:solidFill>
                          <a:latin typeface="Arial"/>
                          <a:cs typeface="Arial"/>
                        </a:rPr>
                        <a:t>Header</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87936">
                <a:tc>
                  <a:txBody>
                    <a:bodyPr/>
                    <a:lstStyle/>
                    <a:p>
                      <a:pPr algn="ctr">
                        <a:lnSpc>
                          <a:spcPct val="100000"/>
                        </a:lnSpc>
                        <a:spcBef>
                          <a:spcPts val="225"/>
                        </a:spcBef>
                      </a:pPr>
                      <a:r>
                        <a:rPr sz="1400" spc="-10" dirty="0">
                          <a:latin typeface="Arial MT"/>
                          <a:cs typeface="Arial MT"/>
                        </a:rPr>
                        <a:t>234-</a:t>
                      </a:r>
                      <a:r>
                        <a:rPr sz="1400" spc="-25" dirty="0">
                          <a:latin typeface="Arial MT"/>
                          <a:cs typeface="Arial MT"/>
                        </a:rPr>
                        <a:t>032</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dirty="0">
                          <a:latin typeface="Arial MT"/>
                          <a:cs typeface="Arial MT"/>
                        </a:rPr>
                        <a:t>Type</a:t>
                      </a:r>
                      <a:r>
                        <a:rPr sz="1400" spc="-35" dirty="0">
                          <a:latin typeface="Arial MT"/>
                          <a:cs typeface="Arial MT"/>
                        </a:rPr>
                        <a:t> </a:t>
                      </a:r>
                      <a:r>
                        <a:rPr sz="1400" spc="-50" dirty="0">
                          <a:latin typeface="Arial MT"/>
                          <a:cs typeface="Arial MT"/>
                        </a:rPr>
                        <a:t>A</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87936">
                <a:tc>
                  <a:txBody>
                    <a:bodyPr/>
                    <a:lstStyle/>
                    <a:p>
                      <a:pPr algn="ctr">
                        <a:lnSpc>
                          <a:spcPct val="100000"/>
                        </a:lnSpc>
                        <a:spcBef>
                          <a:spcPts val="225"/>
                        </a:spcBef>
                      </a:pPr>
                      <a:r>
                        <a:rPr sz="1400" spc="-10" dirty="0">
                          <a:latin typeface="Arial MT"/>
                          <a:cs typeface="Arial MT"/>
                        </a:rPr>
                        <a:t>234-</a:t>
                      </a:r>
                      <a:r>
                        <a:rPr sz="1400" spc="-25" dirty="0">
                          <a:latin typeface="Arial MT"/>
                          <a:cs typeface="Arial MT"/>
                        </a:rPr>
                        <a:t>033</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dirty="0">
                          <a:latin typeface="Arial MT"/>
                          <a:cs typeface="Arial MT"/>
                        </a:rPr>
                        <a:t>Type</a:t>
                      </a:r>
                      <a:r>
                        <a:rPr sz="1400" spc="-35" dirty="0">
                          <a:latin typeface="Arial MT"/>
                          <a:cs typeface="Arial MT"/>
                        </a:rPr>
                        <a:t> </a:t>
                      </a:r>
                      <a:r>
                        <a:rPr sz="1400" spc="-50" dirty="0">
                          <a:latin typeface="Arial MT"/>
                          <a:cs typeface="Arial MT"/>
                        </a:rPr>
                        <a:t>A</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87936">
                <a:tc>
                  <a:txBody>
                    <a:bodyPr/>
                    <a:lstStyle/>
                    <a:p>
                      <a:pPr algn="ctr">
                        <a:lnSpc>
                          <a:spcPct val="100000"/>
                        </a:lnSpc>
                        <a:spcBef>
                          <a:spcPts val="225"/>
                        </a:spcBef>
                      </a:pPr>
                      <a:r>
                        <a:rPr sz="1400" spc="-10" dirty="0">
                          <a:latin typeface="Arial MT"/>
                          <a:cs typeface="Arial MT"/>
                        </a:rPr>
                        <a:t>234-</a:t>
                      </a:r>
                      <a:r>
                        <a:rPr sz="1400" spc="-25" dirty="0">
                          <a:latin typeface="Arial MT"/>
                          <a:cs typeface="Arial MT"/>
                        </a:rPr>
                        <a:t>034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dirty="0">
                          <a:latin typeface="Arial MT"/>
                          <a:cs typeface="Arial MT"/>
                        </a:rPr>
                        <a:t>Type</a:t>
                      </a:r>
                      <a:r>
                        <a:rPr sz="1400" spc="-35" dirty="0">
                          <a:latin typeface="Arial MT"/>
                          <a:cs typeface="Arial MT"/>
                        </a:rPr>
                        <a:t> </a:t>
                      </a:r>
                      <a:r>
                        <a:rPr sz="1400" spc="-50" dirty="0">
                          <a:latin typeface="Arial MT"/>
                          <a:cs typeface="Arial MT"/>
                        </a:rPr>
                        <a:t>B</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sp>
        <p:nvSpPr>
          <p:cNvPr id="6" name="object 6"/>
          <p:cNvSpPr txBox="1"/>
          <p:nvPr/>
        </p:nvSpPr>
        <p:spPr>
          <a:xfrm>
            <a:off x="2746926" y="3643008"/>
            <a:ext cx="8365022" cy="1119110"/>
          </a:xfrm>
          <a:prstGeom prst="rect">
            <a:avLst/>
          </a:prstGeom>
        </p:spPr>
        <p:txBody>
          <a:bodyPr vert="horz" wrap="square" lIns="0" tIns="198967" rIns="0" bIns="0" rtlCol="0">
            <a:spAutoFit/>
          </a:bodyPr>
          <a:lstStyle/>
          <a:p>
            <a:pPr marL="397923" indent="-380990">
              <a:spcBef>
                <a:spcPts val="1567"/>
              </a:spcBef>
              <a:buClr>
                <a:srgbClr val="99D3FF"/>
              </a:buClr>
              <a:buFont typeface="Wingdings"/>
              <a:buChar char=""/>
              <a:tabLst>
                <a:tab pos="397923" algn="l"/>
              </a:tabLst>
            </a:pPr>
            <a:r>
              <a:rPr sz="2400" b="1" dirty="0">
                <a:solidFill>
                  <a:srgbClr val="D9D9D9"/>
                </a:solidFill>
                <a:latin typeface="Calibri"/>
                <a:cs typeface="Calibri"/>
              </a:rPr>
              <a:t>All</a:t>
            </a:r>
            <a:r>
              <a:rPr sz="2400" b="1" spc="-27" dirty="0">
                <a:solidFill>
                  <a:srgbClr val="D9D9D9"/>
                </a:solidFill>
                <a:latin typeface="Calibri"/>
                <a:cs typeface="Calibri"/>
              </a:rPr>
              <a:t> </a:t>
            </a:r>
            <a:r>
              <a:rPr sz="2400" b="1" dirty="0">
                <a:solidFill>
                  <a:srgbClr val="D9D9D9"/>
                </a:solidFill>
                <a:latin typeface="Calibri"/>
                <a:cs typeface="Calibri"/>
              </a:rPr>
              <a:t>relevant</a:t>
            </a:r>
            <a:r>
              <a:rPr sz="2400" b="1" spc="-47" dirty="0">
                <a:solidFill>
                  <a:srgbClr val="D9D9D9"/>
                </a:solidFill>
                <a:latin typeface="Calibri"/>
                <a:cs typeface="Calibri"/>
              </a:rPr>
              <a:t> </a:t>
            </a:r>
            <a:r>
              <a:rPr sz="2400" b="1" dirty="0">
                <a:solidFill>
                  <a:srgbClr val="D9D9D9"/>
                </a:solidFill>
                <a:latin typeface="Calibri"/>
                <a:cs typeface="Calibri"/>
              </a:rPr>
              <a:t>information</a:t>
            </a:r>
            <a:r>
              <a:rPr sz="2400" b="1" spc="-47" dirty="0">
                <a:solidFill>
                  <a:srgbClr val="D9D9D9"/>
                </a:solidFill>
                <a:latin typeface="Calibri"/>
                <a:cs typeface="Calibri"/>
              </a:rPr>
              <a:t> </a:t>
            </a:r>
            <a:r>
              <a:rPr sz="2400" b="1" dirty="0">
                <a:solidFill>
                  <a:srgbClr val="D9D9D9"/>
                </a:solidFill>
                <a:latin typeface="Calibri"/>
                <a:cs typeface="Calibri"/>
              </a:rPr>
              <a:t>have</a:t>
            </a:r>
            <a:r>
              <a:rPr sz="2400" b="1" spc="-47" dirty="0">
                <a:solidFill>
                  <a:srgbClr val="D9D9D9"/>
                </a:solidFill>
                <a:latin typeface="Calibri"/>
                <a:cs typeface="Calibri"/>
              </a:rPr>
              <a:t> </a:t>
            </a:r>
            <a:r>
              <a:rPr sz="2400" b="1" spc="-13" dirty="0">
                <a:solidFill>
                  <a:srgbClr val="D9D9D9"/>
                </a:solidFill>
                <a:latin typeface="Calibri"/>
                <a:cs typeface="Calibri"/>
              </a:rPr>
              <a:t>already</a:t>
            </a:r>
            <a:endParaRPr sz="2400" dirty="0">
              <a:latin typeface="Calibri"/>
              <a:cs typeface="Calibri"/>
            </a:endParaRPr>
          </a:p>
          <a:p>
            <a:pPr marL="398770">
              <a:spcBef>
                <a:spcPts val="1440"/>
              </a:spcBef>
            </a:pPr>
            <a:r>
              <a:rPr sz="2400" b="1" dirty="0">
                <a:solidFill>
                  <a:srgbClr val="D9D9D9"/>
                </a:solidFill>
                <a:latin typeface="Calibri"/>
                <a:cs typeface="Calibri"/>
              </a:rPr>
              <a:t>been</a:t>
            </a:r>
            <a:r>
              <a:rPr sz="2400" b="1" spc="-27" dirty="0">
                <a:solidFill>
                  <a:srgbClr val="D9D9D9"/>
                </a:solidFill>
                <a:latin typeface="Calibri"/>
                <a:cs typeface="Calibri"/>
              </a:rPr>
              <a:t> </a:t>
            </a:r>
            <a:r>
              <a:rPr sz="2400" b="1" dirty="0">
                <a:solidFill>
                  <a:srgbClr val="D9D9D9"/>
                </a:solidFill>
                <a:latin typeface="Calibri"/>
                <a:cs typeface="Calibri"/>
              </a:rPr>
              <a:t>extracted</a:t>
            </a:r>
            <a:r>
              <a:rPr sz="2400" b="1" spc="-33" dirty="0">
                <a:solidFill>
                  <a:srgbClr val="D9D9D9"/>
                </a:solidFill>
                <a:latin typeface="Calibri"/>
                <a:cs typeface="Calibri"/>
              </a:rPr>
              <a:t> </a:t>
            </a:r>
            <a:r>
              <a:rPr sz="2400" b="1" dirty="0">
                <a:solidFill>
                  <a:srgbClr val="D9D9D9"/>
                </a:solidFill>
                <a:latin typeface="Calibri"/>
                <a:cs typeface="Calibri"/>
              </a:rPr>
              <a:t>(to</a:t>
            </a:r>
            <a:r>
              <a:rPr sz="2400" b="1" spc="-67" dirty="0">
                <a:solidFill>
                  <a:srgbClr val="D9D9D9"/>
                </a:solidFill>
                <a:latin typeface="Calibri"/>
                <a:cs typeface="Calibri"/>
              </a:rPr>
              <a:t> </a:t>
            </a:r>
            <a:r>
              <a:rPr sz="2400" b="1" dirty="0">
                <a:solidFill>
                  <a:srgbClr val="D9D9D9"/>
                </a:solidFill>
                <a:latin typeface="Calibri"/>
                <a:cs typeface="Calibri"/>
              </a:rPr>
              <a:t>other</a:t>
            </a:r>
            <a:r>
              <a:rPr sz="2400" b="1" spc="-60" dirty="0">
                <a:solidFill>
                  <a:srgbClr val="D9D9D9"/>
                </a:solidFill>
                <a:latin typeface="Calibri"/>
                <a:cs typeface="Calibri"/>
              </a:rPr>
              <a:t> </a:t>
            </a:r>
            <a:r>
              <a:rPr sz="2400" b="1" spc="-13" dirty="0">
                <a:solidFill>
                  <a:srgbClr val="D9D9D9"/>
                </a:solidFill>
                <a:latin typeface="Calibri"/>
                <a:cs typeface="Calibri"/>
              </a:rPr>
              <a:t>dimensions)</a:t>
            </a:r>
            <a:endParaRPr sz="2400" dirty="0">
              <a:latin typeface="Calibri"/>
              <a:cs typeface="Calibri"/>
            </a:endParaRPr>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44272" y="423820"/>
            <a:ext cx="7392423"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Degenerate</a:t>
            </a:r>
            <a:r>
              <a:rPr spc="-33" dirty="0">
                <a:solidFill>
                  <a:schemeClr val="bg1"/>
                </a:solidFill>
                <a:latin typeface="+mn-lt"/>
              </a:rPr>
              <a:t> </a:t>
            </a:r>
            <a:r>
              <a:rPr spc="-13" dirty="0">
                <a:solidFill>
                  <a:schemeClr val="bg1"/>
                </a:solidFill>
                <a:latin typeface="+mn-lt"/>
              </a:rPr>
              <a:t>dimension</a:t>
            </a:r>
          </a:p>
        </p:txBody>
      </p:sp>
      <p:sp>
        <p:nvSpPr>
          <p:cNvPr id="3" name="object 3"/>
          <p:cNvSpPr txBox="1"/>
          <p:nvPr/>
        </p:nvSpPr>
        <p:spPr>
          <a:xfrm>
            <a:off x="2848526" y="1877228"/>
            <a:ext cx="3380740"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Transactional</a:t>
            </a:r>
            <a:r>
              <a:rPr sz="2400" b="1" spc="-47" dirty="0">
                <a:solidFill>
                  <a:srgbClr val="D9D9D9"/>
                </a:solidFill>
                <a:latin typeface="Calibri"/>
                <a:cs typeface="Calibri"/>
              </a:rPr>
              <a:t> </a:t>
            </a:r>
            <a:r>
              <a:rPr sz="2400" b="1" dirty="0">
                <a:solidFill>
                  <a:srgbClr val="D9D9D9"/>
                </a:solidFill>
                <a:latin typeface="Calibri"/>
                <a:cs typeface="Calibri"/>
              </a:rPr>
              <a:t>Sales</a:t>
            </a:r>
            <a:r>
              <a:rPr sz="2400" b="1" spc="-33" dirty="0">
                <a:solidFill>
                  <a:srgbClr val="D9D9D9"/>
                </a:solidFill>
                <a:latin typeface="Calibri"/>
                <a:cs typeface="Calibri"/>
              </a:rPr>
              <a:t> </a:t>
            </a:r>
            <a:r>
              <a:rPr sz="2400" b="1" spc="-27" dirty="0">
                <a:solidFill>
                  <a:srgbClr val="D9D9D9"/>
                </a:solidFill>
                <a:latin typeface="Calibri"/>
                <a:cs typeface="Calibri"/>
              </a:rPr>
              <a:t>fact</a:t>
            </a:r>
            <a:endParaRPr sz="2400">
              <a:latin typeface="Calibri"/>
              <a:cs typeface="Calibri"/>
            </a:endParaRPr>
          </a:p>
        </p:txBody>
      </p:sp>
      <p:graphicFrame>
        <p:nvGraphicFramePr>
          <p:cNvPr id="4" name="object 4"/>
          <p:cNvGraphicFramePr>
            <a:graphicFrameLocks noGrp="1"/>
          </p:cNvGraphicFramePr>
          <p:nvPr>
            <p:extLst>
              <p:ext uri="{D42A27DB-BD31-4B8C-83A1-F6EECF244321}">
                <p14:modId xmlns:p14="http://schemas.microsoft.com/office/powerpoint/2010/main" val="3533401238"/>
              </p:ext>
            </p:extLst>
          </p:nvPr>
        </p:nvGraphicFramePr>
        <p:xfrm>
          <a:off x="2735749" y="2506134"/>
          <a:ext cx="7600945" cy="1211101"/>
        </p:xfrm>
        <a:graphic>
          <a:graphicData uri="http://schemas.openxmlformats.org/drawingml/2006/table">
            <a:tbl>
              <a:tblPr firstRow="1" bandRow="1">
                <a:tableStyleId>{2D5ABB26-0587-4C30-8999-92F81FD0307C}</a:tableStyleId>
              </a:tblPr>
              <a:tblGrid>
                <a:gridCol w="1676885">
                  <a:extLst>
                    <a:ext uri="{9D8B030D-6E8A-4147-A177-3AD203B41FA5}">
                      <a16:colId xmlns:a16="http://schemas.microsoft.com/office/drawing/2014/main" val="20000"/>
                    </a:ext>
                  </a:extLst>
                </a:gridCol>
                <a:gridCol w="2347639">
                  <a:extLst>
                    <a:ext uri="{9D8B030D-6E8A-4147-A177-3AD203B41FA5}">
                      <a16:colId xmlns:a16="http://schemas.microsoft.com/office/drawing/2014/main" val="20001"/>
                    </a:ext>
                  </a:extLst>
                </a:gridCol>
                <a:gridCol w="1788677">
                  <a:extLst>
                    <a:ext uri="{9D8B030D-6E8A-4147-A177-3AD203B41FA5}">
                      <a16:colId xmlns:a16="http://schemas.microsoft.com/office/drawing/2014/main" val="20002"/>
                    </a:ext>
                  </a:extLst>
                </a:gridCol>
                <a:gridCol w="334444">
                  <a:extLst>
                    <a:ext uri="{9D8B030D-6E8A-4147-A177-3AD203B41FA5}">
                      <a16:colId xmlns:a16="http://schemas.microsoft.com/office/drawing/2014/main" val="20003"/>
                    </a:ext>
                  </a:extLst>
                </a:gridCol>
                <a:gridCol w="1453300">
                  <a:extLst>
                    <a:ext uri="{9D8B030D-6E8A-4147-A177-3AD203B41FA5}">
                      <a16:colId xmlns:a16="http://schemas.microsoft.com/office/drawing/2014/main" val="20004"/>
                    </a:ext>
                  </a:extLst>
                </a:gridCol>
              </a:tblGrid>
              <a:tr h="276289">
                <a:tc>
                  <a:txBody>
                    <a:bodyPr/>
                    <a:lstStyle/>
                    <a:p>
                      <a:pPr marL="635" algn="ctr">
                        <a:lnSpc>
                          <a:spcPct val="100000"/>
                        </a:lnSpc>
                        <a:spcBef>
                          <a:spcPts val="60"/>
                        </a:spcBef>
                      </a:pPr>
                      <a:r>
                        <a:rPr sz="1400" b="1" spc="-10" dirty="0">
                          <a:solidFill>
                            <a:schemeClr val="bg1"/>
                          </a:solidFill>
                          <a:latin typeface="Arial"/>
                          <a:cs typeface="Arial"/>
                        </a:rPr>
                        <a:t>Transaction_PK</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905" algn="ctr">
                        <a:lnSpc>
                          <a:spcPct val="100000"/>
                        </a:lnSpc>
                        <a:spcBef>
                          <a:spcPts val="60"/>
                        </a:spcBef>
                      </a:pPr>
                      <a:r>
                        <a:rPr sz="1400" b="1" spc="-10" dirty="0">
                          <a:solidFill>
                            <a:schemeClr val="bg1"/>
                          </a:solidFill>
                          <a:latin typeface="Arial"/>
                          <a:cs typeface="Arial"/>
                        </a:rPr>
                        <a:t>Amount</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635" algn="ctr">
                        <a:lnSpc>
                          <a:spcPct val="100000"/>
                        </a:lnSpc>
                        <a:spcBef>
                          <a:spcPts val="60"/>
                        </a:spcBef>
                      </a:pPr>
                      <a:r>
                        <a:rPr sz="1400" b="1" spc="-10" dirty="0">
                          <a:solidFill>
                            <a:schemeClr val="bg1"/>
                          </a:solidFill>
                          <a:latin typeface="Arial"/>
                          <a:cs typeface="Arial"/>
                        </a:rPr>
                        <a:t>Payment_FK</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rowSpan="4">
                  <a:txBody>
                    <a:bodyPr/>
                    <a:lstStyle/>
                    <a:p>
                      <a:pPr>
                        <a:lnSpc>
                          <a:spcPct val="100000"/>
                        </a:lnSpc>
                      </a:pPr>
                      <a:endParaRPr sz="2100" dirty="0">
                        <a:solidFill>
                          <a:schemeClr val="bg1"/>
                        </a:solidFill>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algn="ctr">
                        <a:lnSpc>
                          <a:spcPct val="100000"/>
                        </a:lnSpc>
                        <a:spcBef>
                          <a:spcPts val="60"/>
                        </a:spcBef>
                      </a:pPr>
                      <a:r>
                        <a:rPr sz="1400" b="1" spc="-10" dirty="0">
                          <a:solidFill>
                            <a:schemeClr val="bg1"/>
                          </a:solidFill>
                          <a:latin typeface="Arial"/>
                          <a:cs typeface="Arial"/>
                        </a:rPr>
                        <a:t>Payment_PK</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311604">
                <a:tc>
                  <a:txBody>
                    <a:bodyPr/>
                    <a:lstStyle/>
                    <a:p>
                      <a:pPr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20" dirty="0">
                          <a:latin typeface="Arial MT"/>
                          <a:cs typeface="Arial MT"/>
                        </a:rPr>
                        <a:t>$530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234-</a:t>
                      </a:r>
                      <a:r>
                        <a:rPr sz="1400" spc="-25" dirty="0">
                          <a:latin typeface="Arial MT"/>
                          <a:cs typeface="Arial MT"/>
                        </a:rPr>
                        <a:t>032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vMerge="1">
                  <a:txBody>
                    <a:bodyPr/>
                    <a:lstStyle/>
                    <a:p>
                      <a:endParaRPr/>
                    </a:p>
                  </a:txBody>
                  <a:tcPr marL="0" marR="0" marT="0" marB="0">
                    <a:lnL w="12700">
                      <a:solidFill>
                        <a:srgbClr val="000000"/>
                      </a:solidFill>
                      <a:prstDash val="solid"/>
                    </a:lnL>
                    <a:lnR w="12700">
                      <a:solidFill>
                        <a:srgbClr val="000000"/>
                      </a:solidFill>
                      <a:prstDash val="solid"/>
                    </a:lnR>
                  </a:tcPr>
                </a:tc>
                <a:tc>
                  <a:txBody>
                    <a:bodyPr/>
                    <a:lstStyle/>
                    <a:p>
                      <a:pPr algn="ctr">
                        <a:lnSpc>
                          <a:spcPct val="100000"/>
                        </a:lnSpc>
                        <a:spcBef>
                          <a:spcPts val="225"/>
                        </a:spcBef>
                      </a:pPr>
                      <a:r>
                        <a:rPr sz="1400" spc="-10" dirty="0">
                          <a:latin typeface="Arial MT"/>
                          <a:cs typeface="Arial MT"/>
                        </a:rPr>
                        <a:t>234-</a:t>
                      </a:r>
                      <a:r>
                        <a:rPr sz="1400" spc="-25" dirty="0">
                          <a:latin typeface="Arial MT"/>
                          <a:cs typeface="Arial MT"/>
                        </a:rPr>
                        <a:t>032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311604">
                <a:tc>
                  <a:txBody>
                    <a:bodyPr/>
                    <a:lstStyle/>
                    <a:p>
                      <a:pPr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20" dirty="0">
                          <a:latin typeface="Arial MT"/>
                          <a:cs typeface="Arial MT"/>
                        </a:rPr>
                        <a:t>$553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234-</a:t>
                      </a:r>
                      <a:r>
                        <a:rPr sz="1400" spc="-25" dirty="0">
                          <a:latin typeface="Arial MT"/>
                          <a:cs typeface="Arial MT"/>
                        </a:rPr>
                        <a:t>032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vMerge="1">
                  <a:txBody>
                    <a:bodyPr/>
                    <a:lstStyle/>
                    <a:p>
                      <a:endParaRPr/>
                    </a:p>
                  </a:txBody>
                  <a:tcPr marL="0" marR="0" marT="0" marB="0">
                    <a:lnL w="12700">
                      <a:solidFill>
                        <a:srgbClr val="000000"/>
                      </a:solidFill>
                      <a:prstDash val="solid"/>
                    </a:lnL>
                    <a:lnR w="12700">
                      <a:solidFill>
                        <a:srgbClr val="000000"/>
                      </a:solidFill>
                      <a:prstDash val="solid"/>
                    </a:lnR>
                  </a:tcPr>
                </a:tc>
                <a:tc>
                  <a:txBody>
                    <a:bodyPr/>
                    <a:lstStyle/>
                    <a:p>
                      <a:pPr algn="ctr">
                        <a:lnSpc>
                          <a:spcPct val="100000"/>
                        </a:lnSpc>
                        <a:spcBef>
                          <a:spcPts val="225"/>
                        </a:spcBef>
                      </a:pPr>
                      <a:r>
                        <a:rPr sz="1400" spc="-10" dirty="0">
                          <a:latin typeface="Arial MT"/>
                          <a:cs typeface="Arial MT"/>
                        </a:rPr>
                        <a:t>234-</a:t>
                      </a:r>
                      <a:r>
                        <a:rPr sz="1400" spc="-25" dirty="0">
                          <a:latin typeface="Arial MT"/>
                          <a:cs typeface="Arial MT"/>
                        </a:rPr>
                        <a:t>033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311604">
                <a:tc>
                  <a:txBody>
                    <a:bodyPr/>
                    <a:lstStyle/>
                    <a:p>
                      <a:pPr algn="ctr">
                        <a:lnSpc>
                          <a:spcPct val="10000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20" dirty="0">
                          <a:latin typeface="Arial MT"/>
                          <a:cs typeface="Arial MT"/>
                        </a:rPr>
                        <a:t>$654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234-</a:t>
                      </a:r>
                      <a:r>
                        <a:rPr sz="1400" spc="-25" dirty="0">
                          <a:latin typeface="Arial MT"/>
                          <a:cs typeface="Arial MT"/>
                        </a:rPr>
                        <a:t>033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vMerge="1">
                  <a:txBody>
                    <a:bodyPr/>
                    <a:lstStyle/>
                    <a:p>
                      <a:endParaRPr/>
                    </a:p>
                  </a:txBody>
                  <a:tcPr marL="0" marR="0" marT="0" marB="0">
                    <a:lnL w="12700">
                      <a:solidFill>
                        <a:srgbClr val="000000"/>
                      </a:solidFill>
                      <a:prstDash val="solid"/>
                    </a:lnL>
                    <a:lnR w="12700">
                      <a:solidFill>
                        <a:srgbClr val="000000"/>
                      </a:solidFill>
                      <a:prstDash val="solid"/>
                    </a:lnR>
                  </a:tcPr>
                </a:tc>
                <a:tc>
                  <a:txBody>
                    <a:bodyPr/>
                    <a:lstStyle/>
                    <a:p>
                      <a:pPr algn="ctr">
                        <a:lnSpc>
                          <a:spcPct val="100000"/>
                        </a:lnSpc>
                        <a:spcBef>
                          <a:spcPts val="225"/>
                        </a:spcBef>
                      </a:pPr>
                      <a:r>
                        <a:rPr sz="1400" spc="-10" dirty="0">
                          <a:latin typeface="Arial MT"/>
                          <a:cs typeface="Arial MT"/>
                        </a:rPr>
                        <a:t>234-</a:t>
                      </a:r>
                      <a:r>
                        <a:rPr sz="1400" spc="-25" dirty="0">
                          <a:latin typeface="Arial MT"/>
                          <a:cs typeface="Arial MT"/>
                        </a:rPr>
                        <a:t>034</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sp>
        <p:nvSpPr>
          <p:cNvPr id="5" name="object 5"/>
          <p:cNvSpPr txBox="1"/>
          <p:nvPr/>
        </p:nvSpPr>
        <p:spPr>
          <a:xfrm>
            <a:off x="2746926" y="3643008"/>
            <a:ext cx="5141805" cy="1744922"/>
          </a:xfrm>
          <a:prstGeom prst="rect">
            <a:avLst/>
          </a:prstGeom>
        </p:spPr>
        <p:txBody>
          <a:bodyPr vert="horz" wrap="square" lIns="0" tIns="198967" rIns="0" bIns="0" rtlCol="0">
            <a:spAutoFit/>
          </a:bodyPr>
          <a:lstStyle/>
          <a:p>
            <a:pPr marL="397923" indent="-380990">
              <a:spcBef>
                <a:spcPts val="1567"/>
              </a:spcBef>
              <a:buClr>
                <a:srgbClr val="99D3FF"/>
              </a:buClr>
              <a:buFont typeface="Wingdings"/>
              <a:buChar char=""/>
              <a:tabLst>
                <a:tab pos="397923" algn="l"/>
              </a:tabLst>
            </a:pPr>
            <a:r>
              <a:rPr sz="2400" b="1" dirty="0">
                <a:solidFill>
                  <a:srgbClr val="D9D9D9"/>
                </a:solidFill>
                <a:latin typeface="Calibri"/>
                <a:cs typeface="Calibri"/>
              </a:rPr>
              <a:t>All</a:t>
            </a:r>
            <a:r>
              <a:rPr sz="2400" b="1" spc="-27" dirty="0">
                <a:solidFill>
                  <a:srgbClr val="D9D9D9"/>
                </a:solidFill>
                <a:latin typeface="Calibri"/>
                <a:cs typeface="Calibri"/>
              </a:rPr>
              <a:t> </a:t>
            </a:r>
            <a:r>
              <a:rPr sz="2400" b="1" dirty="0">
                <a:solidFill>
                  <a:srgbClr val="D9D9D9"/>
                </a:solidFill>
                <a:latin typeface="Calibri"/>
                <a:cs typeface="Calibri"/>
              </a:rPr>
              <a:t>relevant</a:t>
            </a:r>
            <a:r>
              <a:rPr sz="2400" b="1" spc="-47" dirty="0">
                <a:solidFill>
                  <a:srgbClr val="D9D9D9"/>
                </a:solidFill>
                <a:latin typeface="Calibri"/>
                <a:cs typeface="Calibri"/>
              </a:rPr>
              <a:t> </a:t>
            </a:r>
            <a:r>
              <a:rPr sz="2400" b="1" dirty="0">
                <a:solidFill>
                  <a:srgbClr val="D9D9D9"/>
                </a:solidFill>
                <a:latin typeface="Calibri"/>
                <a:cs typeface="Calibri"/>
              </a:rPr>
              <a:t>information</a:t>
            </a:r>
            <a:r>
              <a:rPr sz="2400" b="1" spc="-47" dirty="0">
                <a:solidFill>
                  <a:srgbClr val="D9D9D9"/>
                </a:solidFill>
                <a:latin typeface="Calibri"/>
                <a:cs typeface="Calibri"/>
              </a:rPr>
              <a:t> </a:t>
            </a:r>
            <a:r>
              <a:rPr sz="2400" b="1" dirty="0">
                <a:solidFill>
                  <a:srgbClr val="D9D9D9"/>
                </a:solidFill>
                <a:latin typeface="Calibri"/>
                <a:cs typeface="Calibri"/>
              </a:rPr>
              <a:t>have</a:t>
            </a:r>
            <a:r>
              <a:rPr sz="2400" b="1" spc="-47" dirty="0">
                <a:solidFill>
                  <a:srgbClr val="D9D9D9"/>
                </a:solidFill>
                <a:latin typeface="Calibri"/>
                <a:cs typeface="Calibri"/>
              </a:rPr>
              <a:t> </a:t>
            </a:r>
            <a:r>
              <a:rPr sz="2400" b="1" spc="-13" dirty="0">
                <a:solidFill>
                  <a:srgbClr val="D9D9D9"/>
                </a:solidFill>
                <a:latin typeface="Calibri"/>
                <a:cs typeface="Calibri"/>
              </a:rPr>
              <a:t>already</a:t>
            </a:r>
            <a:endParaRPr sz="2400">
              <a:latin typeface="Calibri"/>
              <a:cs typeface="Calibri"/>
            </a:endParaRPr>
          </a:p>
          <a:p>
            <a:pPr marL="398770">
              <a:spcBef>
                <a:spcPts val="1440"/>
              </a:spcBef>
            </a:pPr>
            <a:r>
              <a:rPr sz="2400" b="1" dirty="0">
                <a:solidFill>
                  <a:srgbClr val="D9D9D9"/>
                </a:solidFill>
                <a:latin typeface="Calibri"/>
                <a:cs typeface="Calibri"/>
              </a:rPr>
              <a:t>been</a:t>
            </a:r>
            <a:r>
              <a:rPr sz="2400" b="1" spc="-27" dirty="0">
                <a:solidFill>
                  <a:srgbClr val="D9D9D9"/>
                </a:solidFill>
                <a:latin typeface="Calibri"/>
                <a:cs typeface="Calibri"/>
              </a:rPr>
              <a:t> </a:t>
            </a:r>
            <a:r>
              <a:rPr sz="2400" b="1" dirty="0">
                <a:solidFill>
                  <a:srgbClr val="D9D9D9"/>
                </a:solidFill>
                <a:latin typeface="Calibri"/>
                <a:cs typeface="Calibri"/>
              </a:rPr>
              <a:t>extracted</a:t>
            </a:r>
            <a:r>
              <a:rPr sz="2400" b="1" spc="-33" dirty="0">
                <a:solidFill>
                  <a:srgbClr val="D9D9D9"/>
                </a:solidFill>
                <a:latin typeface="Calibri"/>
                <a:cs typeface="Calibri"/>
              </a:rPr>
              <a:t> </a:t>
            </a:r>
            <a:r>
              <a:rPr sz="2400" b="1" dirty="0">
                <a:solidFill>
                  <a:srgbClr val="D9D9D9"/>
                </a:solidFill>
                <a:latin typeface="Calibri"/>
                <a:cs typeface="Calibri"/>
              </a:rPr>
              <a:t>(to</a:t>
            </a:r>
            <a:r>
              <a:rPr sz="2400" b="1" spc="-67" dirty="0">
                <a:solidFill>
                  <a:srgbClr val="D9D9D9"/>
                </a:solidFill>
                <a:latin typeface="Calibri"/>
                <a:cs typeface="Calibri"/>
              </a:rPr>
              <a:t> </a:t>
            </a:r>
            <a:r>
              <a:rPr sz="2400" b="1" dirty="0">
                <a:solidFill>
                  <a:srgbClr val="D9D9D9"/>
                </a:solidFill>
                <a:latin typeface="Calibri"/>
                <a:cs typeface="Calibri"/>
              </a:rPr>
              <a:t>other</a:t>
            </a:r>
            <a:r>
              <a:rPr sz="2400" b="1" spc="-60" dirty="0">
                <a:solidFill>
                  <a:srgbClr val="D9D9D9"/>
                </a:solidFill>
                <a:latin typeface="Calibri"/>
                <a:cs typeface="Calibri"/>
              </a:rPr>
              <a:t> </a:t>
            </a:r>
            <a:r>
              <a:rPr sz="2400" b="1" spc="-13" dirty="0">
                <a:solidFill>
                  <a:srgbClr val="D9D9D9"/>
                </a:solidFill>
                <a:latin typeface="Calibri"/>
                <a:cs typeface="Calibri"/>
              </a:rPr>
              <a:t>dimensions)</a:t>
            </a:r>
            <a:endParaRPr sz="2400">
              <a:latin typeface="Calibri"/>
              <a:cs typeface="Calibri"/>
            </a:endParaRPr>
          </a:p>
          <a:p>
            <a:pPr marL="406390" indent="-380990">
              <a:spcBef>
                <a:spcPts val="2047"/>
              </a:spcBef>
              <a:buClr>
                <a:srgbClr val="99D3FF"/>
              </a:buClr>
              <a:buFont typeface="Wingdings"/>
              <a:buChar char=""/>
              <a:tabLst>
                <a:tab pos="406390" algn="l"/>
              </a:tabLst>
            </a:pPr>
            <a:r>
              <a:rPr sz="2400" b="1" dirty="0">
                <a:solidFill>
                  <a:srgbClr val="D9D9D9"/>
                </a:solidFill>
                <a:latin typeface="Calibri"/>
                <a:cs typeface="Calibri"/>
              </a:rPr>
              <a:t>Attribute</a:t>
            </a:r>
            <a:r>
              <a:rPr sz="2400" b="1" spc="-47" dirty="0">
                <a:solidFill>
                  <a:srgbClr val="D9D9D9"/>
                </a:solidFill>
                <a:latin typeface="Calibri"/>
                <a:cs typeface="Calibri"/>
              </a:rPr>
              <a:t> </a:t>
            </a:r>
            <a:r>
              <a:rPr sz="2400" b="1" dirty="0">
                <a:solidFill>
                  <a:srgbClr val="D9D9D9"/>
                </a:solidFill>
                <a:latin typeface="Calibri"/>
                <a:cs typeface="Calibri"/>
              </a:rPr>
              <a:t>can</a:t>
            </a:r>
            <a:r>
              <a:rPr sz="2400" b="1" spc="-7" dirty="0">
                <a:solidFill>
                  <a:srgbClr val="D9D9D9"/>
                </a:solidFill>
                <a:latin typeface="Calibri"/>
                <a:cs typeface="Calibri"/>
              </a:rPr>
              <a:t> </a:t>
            </a:r>
            <a:r>
              <a:rPr sz="2400" b="1" dirty="0">
                <a:solidFill>
                  <a:srgbClr val="D9D9D9"/>
                </a:solidFill>
                <a:latin typeface="Calibri"/>
                <a:cs typeface="Calibri"/>
              </a:rPr>
              <a:t>be</a:t>
            </a:r>
            <a:r>
              <a:rPr sz="2400" b="1" spc="-13" dirty="0">
                <a:solidFill>
                  <a:srgbClr val="D9D9D9"/>
                </a:solidFill>
                <a:latin typeface="Calibri"/>
                <a:cs typeface="Calibri"/>
              </a:rPr>
              <a:t> </a:t>
            </a:r>
            <a:r>
              <a:rPr sz="2400" b="1" dirty="0">
                <a:solidFill>
                  <a:srgbClr val="D9D9D9"/>
                </a:solidFill>
                <a:latin typeface="Calibri"/>
                <a:cs typeface="Calibri"/>
              </a:rPr>
              <a:t>still</a:t>
            </a:r>
            <a:r>
              <a:rPr sz="2400" b="1" spc="-27" dirty="0">
                <a:solidFill>
                  <a:srgbClr val="D9D9D9"/>
                </a:solidFill>
                <a:latin typeface="Calibri"/>
                <a:cs typeface="Calibri"/>
              </a:rPr>
              <a:t> </a:t>
            </a:r>
            <a:r>
              <a:rPr sz="2400" b="1" spc="-13" dirty="0">
                <a:solidFill>
                  <a:srgbClr val="D9D9D9"/>
                </a:solidFill>
                <a:latin typeface="Calibri"/>
                <a:cs typeface="Calibri"/>
              </a:rPr>
              <a:t>useful</a:t>
            </a:r>
            <a:endParaRPr sz="2400">
              <a:latin typeface="Calibri"/>
              <a:cs typeface="Calibri"/>
            </a:endParaRPr>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84676" y="364186"/>
            <a:ext cx="6289179"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Degenerate</a:t>
            </a:r>
            <a:r>
              <a:rPr spc="-33" dirty="0">
                <a:solidFill>
                  <a:schemeClr val="bg1"/>
                </a:solidFill>
                <a:latin typeface="+mn-lt"/>
              </a:rPr>
              <a:t> </a:t>
            </a:r>
            <a:r>
              <a:rPr spc="-13" dirty="0">
                <a:solidFill>
                  <a:schemeClr val="bg1"/>
                </a:solidFill>
                <a:latin typeface="+mn-lt"/>
              </a:rPr>
              <a:t>dimension</a:t>
            </a:r>
          </a:p>
        </p:txBody>
      </p:sp>
      <p:sp>
        <p:nvSpPr>
          <p:cNvPr id="3" name="object 3"/>
          <p:cNvSpPr txBox="1"/>
          <p:nvPr/>
        </p:nvSpPr>
        <p:spPr>
          <a:xfrm>
            <a:off x="2848526" y="1877228"/>
            <a:ext cx="3380740"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Transactional</a:t>
            </a:r>
            <a:r>
              <a:rPr sz="2400" b="1" spc="-47" dirty="0">
                <a:solidFill>
                  <a:srgbClr val="D9D9D9"/>
                </a:solidFill>
                <a:latin typeface="Calibri"/>
                <a:cs typeface="Calibri"/>
              </a:rPr>
              <a:t> </a:t>
            </a:r>
            <a:r>
              <a:rPr sz="2400" b="1" dirty="0">
                <a:solidFill>
                  <a:srgbClr val="D9D9D9"/>
                </a:solidFill>
                <a:latin typeface="Calibri"/>
                <a:cs typeface="Calibri"/>
              </a:rPr>
              <a:t>Sales</a:t>
            </a:r>
            <a:r>
              <a:rPr sz="2400" b="1" spc="-33" dirty="0">
                <a:solidFill>
                  <a:srgbClr val="D9D9D9"/>
                </a:solidFill>
                <a:latin typeface="Calibri"/>
                <a:cs typeface="Calibri"/>
              </a:rPr>
              <a:t> </a:t>
            </a:r>
            <a:r>
              <a:rPr sz="2400" b="1" spc="-27" dirty="0">
                <a:solidFill>
                  <a:srgbClr val="D9D9D9"/>
                </a:solidFill>
                <a:latin typeface="Calibri"/>
                <a:cs typeface="Calibri"/>
              </a:rPr>
              <a:t>fact</a:t>
            </a:r>
            <a:endParaRPr sz="2400">
              <a:latin typeface="Calibri"/>
              <a:cs typeface="Calibri"/>
            </a:endParaRPr>
          </a:p>
        </p:txBody>
      </p:sp>
      <p:graphicFrame>
        <p:nvGraphicFramePr>
          <p:cNvPr id="4" name="object 4"/>
          <p:cNvGraphicFramePr>
            <a:graphicFrameLocks noGrp="1"/>
          </p:cNvGraphicFramePr>
          <p:nvPr>
            <p:extLst>
              <p:ext uri="{D42A27DB-BD31-4B8C-83A1-F6EECF244321}">
                <p14:modId xmlns:p14="http://schemas.microsoft.com/office/powerpoint/2010/main" val="2641214870"/>
              </p:ext>
            </p:extLst>
          </p:nvPr>
        </p:nvGraphicFramePr>
        <p:xfrm>
          <a:off x="2735747" y="2524538"/>
          <a:ext cx="6080262" cy="1292087"/>
        </p:xfrm>
        <a:graphic>
          <a:graphicData uri="http://schemas.openxmlformats.org/drawingml/2006/table">
            <a:tbl>
              <a:tblPr firstRow="1" bandRow="1">
                <a:tableStyleId>{2D5ABB26-0587-4C30-8999-92F81FD0307C}</a:tableStyleId>
              </a:tblPr>
              <a:tblGrid>
                <a:gridCol w="1753922">
                  <a:extLst>
                    <a:ext uri="{9D8B030D-6E8A-4147-A177-3AD203B41FA5}">
                      <a16:colId xmlns:a16="http://schemas.microsoft.com/office/drawing/2014/main" val="20000"/>
                    </a:ext>
                  </a:extLst>
                </a:gridCol>
                <a:gridCol w="2455490">
                  <a:extLst>
                    <a:ext uri="{9D8B030D-6E8A-4147-A177-3AD203B41FA5}">
                      <a16:colId xmlns:a16="http://schemas.microsoft.com/office/drawing/2014/main" val="20001"/>
                    </a:ext>
                  </a:extLst>
                </a:gridCol>
                <a:gridCol w="1870850">
                  <a:extLst>
                    <a:ext uri="{9D8B030D-6E8A-4147-A177-3AD203B41FA5}">
                      <a16:colId xmlns:a16="http://schemas.microsoft.com/office/drawing/2014/main" val="20002"/>
                    </a:ext>
                  </a:extLst>
                </a:gridCol>
              </a:tblGrid>
              <a:tr h="279374">
                <a:tc>
                  <a:txBody>
                    <a:bodyPr/>
                    <a:lstStyle/>
                    <a:p>
                      <a:pPr marL="635" algn="ctr">
                        <a:lnSpc>
                          <a:spcPct val="100000"/>
                        </a:lnSpc>
                        <a:spcBef>
                          <a:spcPts val="60"/>
                        </a:spcBef>
                      </a:pPr>
                      <a:r>
                        <a:rPr sz="1400" b="1" spc="-10" dirty="0">
                          <a:solidFill>
                            <a:schemeClr val="bg1"/>
                          </a:solidFill>
                          <a:latin typeface="Arial"/>
                          <a:cs typeface="Arial"/>
                        </a:rPr>
                        <a:t>Transaction_PK</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905" algn="ctr">
                        <a:lnSpc>
                          <a:spcPct val="100000"/>
                        </a:lnSpc>
                        <a:spcBef>
                          <a:spcPts val="60"/>
                        </a:spcBef>
                      </a:pPr>
                      <a:r>
                        <a:rPr sz="1400" b="1" spc="-10" dirty="0">
                          <a:solidFill>
                            <a:schemeClr val="bg1"/>
                          </a:solidFill>
                          <a:latin typeface="Arial"/>
                          <a:cs typeface="Arial"/>
                        </a:rPr>
                        <a:t>Amount</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635" algn="ctr">
                        <a:lnSpc>
                          <a:spcPct val="100000"/>
                        </a:lnSpc>
                        <a:spcBef>
                          <a:spcPts val="60"/>
                        </a:spcBef>
                      </a:pPr>
                      <a:r>
                        <a:rPr sz="1400" b="1" spc="-10" dirty="0">
                          <a:solidFill>
                            <a:schemeClr val="bg1"/>
                          </a:solidFill>
                          <a:latin typeface="Arial"/>
                          <a:cs typeface="Arial"/>
                        </a:rPr>
                        <a:t>Payment_DD</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337571">
                <a:tc>
                  <a:txBody>
                    <a:bodyPr/>
                    <a:lstStyle/>
                    <a:p>
                      <a:pPr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20" dirty="0">
                          <a:latin typeface="Arial MT"/>
                          <a:cs typeface="Arial MT"/>
                        </a:rPr>
                        <a:t>$530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234-</a:t>
                      </a:r>
                      <a:r>
                        <a:rPr sz="1400" spc="-25" dirty="0">
                          <a:latin typeface="Arial MT"/>
                          <a:cs typeface="Arial MT"/>
                        </a:rPr>
                        <a:t>032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337571">
                <a:tc>
                  <a:txBody>
                    <a:bodyPr/>
                    <a:lstStyle/>
                    <a:p>
                      <a:pPr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20" dirty="0">
                          <a:latin typeface="Arial MT"/>
                          <a:cs typeface="Arial MT"/>
                        </a:rPr>
                        <a:t>$553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234-</a:t>
                      </a:r>
                      <a:r>
                        <a:rPr sz="1400" spc="-25" dirty="0">
                          <a:latin typeface="Arial MT"/>
                          <a:cs typeface="Arial MT"/>
                        </a:rPr>
                        <a:t>032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337571">
                <a:tc>
                  <a:txBody>
                    <a:bodyPr/>
                    <a:lstStyle/>
                    <a:p>
                      <a:pPr algn="ctr">
                        <a:lnSpc>
                          <a:spcPct val="10000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20" dirty="0">
                          <a:latin typeface="Arial MT"/>
                          <a:cs typeface="Arial MT"/>
                        </a:rPr>
                        <a:t>$654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234-</a:t>
                      </a:r>
                      <a:r>
                        <a:rPr sz="1400" spc="-25" dirty="0">
                          <a:latin typeface="Arial MT"/>
                          <a:cs typeface="Arial MT"/>
                        </a:rPr>
                        <a:t>033</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sp>
        <p:nvSpPr>
          <p:cNvPr id="5" name="object 5"/>
          <p:cNvSpPr txBox="1"/>
          <p:nvPr/>
        </p:nvSpPr>
        <p:spPr>
          <a:xfrm>
            <a:off x="2726605" y="3643009"/>
            <a:ext cx="5327227" cy="2370735"/>
          </a:xfrm>
          <a:prstGeom prst="rect">
            <a:avLst/>
          </a:prstGeom>
        </p:spPr>
        <p:txBody>
          <a:bodyPr vert="horz" wrap="square" lIns="0" tIns="198967" rIns="0" bIns="0" rtlCol="0">
            <a:spAutoFit/>
          </a:bodyPr>
          <a:lstStyle/>
          <a:p>
            <a:pPr marL="417396" indent="-380990">
              <a:spcBef>
                <a:spcPts val="1567"/>
              </a:spcBef>
              <a:buClr>
                <a:srgbClr val="99D3FF"/>
              </a:buClr>
              <a:buFont typeface="Wingdings"/>
              <a:buChar char=""/>
              <a:tabLst>
                <a:tab pos="417396" algn="l"/>
              </a:tabLst>
            </a:pPr>
            <a:r>
              <a:rPr sz="2400" b="1" dirty="0">
                <a:solidFill>
                  <a:srgbClr val="D9D9D9"/>
                </a:solidFill>
                <a:latin typeface="Calibri"/>
                <a:cs typeface="Calibri"/>
              </a:rPr>
              <a:t>All</a:t>
            </a:r>
            <a:r>
              <a:rPr sz="2400" b="1" spc="-27" dirty="0">
                <a:solidFill>
                  <a:srgbClr val="D9D9D9"/>
                </a:solidFill>
                <a:latin typeface="Calibri"/>
                <a:cs typeface="Calibri"/>
              </a:rPr>
              <a:t> </a:t>
            </a:r>
            <a:r>
              <a:rPr sz="2400" b="1" dirty="0">
                <a:solidFill>
                  <a:srgbClr val="D9D9D9"/>
                </a:solidFill>
                <a:latin typeface="Calibri"/>
                <a:cs typeface="Calibri"/>
              </a:rPr>
              <a:t>relevant</a:t>
            </a:r>
            <a:r>
              <a:rPr sz="2400" b="1" spc="-47" dirty="0">
                <a:solidFill>
                  <a:srgbClr val="D9D9D9"/>
                </a:solidFill>
                <a:latin typeface="Calibri"/>
                <a:cs typeface="Calibri"/>
              </a:rPr>
              <a:t> </a:t>
            </a:r>
            <a:r>
              <a:rPr sz="2400" b="1" dirty="0">
                <a:solidFill>
                  <a:srgbClr val="D9D9D9"/>
                </a:solidFill>
                <a:latin typeface="Calibri"/>
                <a:cs typeface="Calibri"/>
              </a:rPr>
              <a:t>information</a:t>
            </a:r>
            <a:r>
              <a:rPr sz="2400" b="1" spc="-47" dirty="0">
                <a:solidFill>
                  <a:srgbClr val="D9D9D9"/>
                </a:solidFill>
                <a:latin typeface="Calibri"/>
                <a:cs typeface="Calibri"/>
              </a:rPr>
              <a:t> </a:t>
            </a:r>
            <a:r>
              <a:rPr sz="2400" b="1" dirty="0">
                <a:solidFill>
                  <a:srgbClr val="D9D9D9"/>
                </a:solidFill>
                <a:latin typeface="Calibri"/>
                <a:cs typeface="Calibri"/>
              </a:rPr>
              <a:t>have</a:t>
            </a:r>
            <a:r>
              <a:rPr sz="2400" b="1" spc="-47" dirty="0">
                <a:solidFill>
                  <a:srgbClr val="D9D9D9"/>
                </a:solidFill>
                <a:latin typeface="Calibri"/>
                <a:cs typeface="Calibri"/>
              </a:rPr>
              <a:t> </a:t>
            </a:r>
            <a:r>
              <a:rPr sz="2400" b="1" spc="-13" dirty="0">
                <a:solidFill>
                  <a:srgbClr val="D9D9D9"/>
                </a:solidFill>
                <a:latin typeface="Calibri"/>
                <a:cs typeface="Calibri"/>
              </a:rPr>
              <a:t>already</a:t>
            </a:r>
            <a:endParaRPr sz="2400">
              <a:latin typeface="Calibri"/>
              <a:cs typeface="Calibri"/>
            </a:endParaRPr>
          </a:p>
          <a:p>
            <a:pPr marL="419090">
              <a:spcBef>
                <a:spcPts val="1440"/>
              </a:spcBef>
            </a:pPr>
            <a:r>
              <a:rPr sz="2400" b="1" dirty="0">
                <a:solidFill>
                  <a:srgbClr val="D9D9D9"/>
                </a:solidFill>
                <a:latin typeface="Calibri"/>
                <a:cs typeface="Calibri"/>
              </a:rPr>
              <a:t>been</a:t>
            </a:r>
            <a:r>
              <a:rPr sz="2400" b="1" spc="-27" dirty="0">
                <a:solidFill>
                  <a:srgbClr val="D9D9D9"/>
                </a:solidFill>
                <a:latin typeface="Calibri"/>
                <a:cs typeface="Calibri"/>
              </a:rPr>
              <a:t> </a:t>
            </a:r>
            <a:r>
              <a:rPr sz="2400" b="1" dirty="0">
                <a:solidFill>
                  <a:srgbClr val="D9D9D9"/>
                </a:solidFill>
                <a:latin typeface="Calibri"/>
                <a:cs typeface="Calibri"/>
              </a:rPr>
              <a:t>extracted</a:t>
            </a:r>
            <a:r>
              <a:rPr sz="2400" b="1" spc="-33" dirty="0">
                <a:solidFill>
                  <a:srgbClr val="D9D9D9"/>
                </a:solidFill>
                <a:latin typeface="Calibri"/>
                <a:cs typeface="Calibri"/>
              </a:rPr>
              <a:t> </a:t>
            </a:r>
            <a:r>
              <a:rPr sz="2400" b="1" dirty="0">
                <a:solidFill>
                  <a:srgbClr val="D9D9D9"/>
                </a:solidFill>
                <a:latin typeface="Calibri"/>
                <a:cs typeface="Calibri"/>
              </a:rPr>
              <a:t>(to</a:t>
            </a:r>
            <a:r>
              <a:rPr sz="2400" b="1" spc="-67" dirty="0">
                <a:solidFill>
                  <a:srgbClr val="D9D9D9"/>
                </a:solidFill>
                <a:latin typeface="Calibri"/>
                <a:cs typeface="Calibri"/>
              </a:rPr>
              <a:t> </a:t>
            </a:r>
            <a:r>
              <a:rPr sz="2400" b="1" dirty="0">
                <a:solidFill>
                  <a:srgbClr val="D9D9D9"/>
                </a:solidFill>
                <a:latin typeface="Calibri"/>
                <a:cs typeface="Calibri"/>
              </a:rPr>
              <a:t>other</a:t>
            </a:r>
            <a:r>
              <a:rPr sz="2400" b="1" spc="-60" dirty="0">
                <a:solidFill>
                  <a:srgbClr val="D9D9D9"/>
                </a:solidFill>
                <a:latin typeface="Calibri"/>
                <a:cs typeface="Calibri"/>
              </a:rPr>
              <a:t> </a:t>
            </a:r>
            <a:r>
              <a:rPr sz="2400" b="1" spc="-13" dirty="0">
                <a:solidFill>
                  <a:srgbClr val="D9D9D9"/>
                </a:solidFill>
                <a:latin typeface="Calibri"/>
                <a:cs typeface="Calibri"/>
              </a:rPr>
              <a:t>dimensions)</a:t>
            </a:r>
            <a:endParaRPr sz="2400">
              <a:latin typeface="Calibri"/>
              <a:cs typeface="Calibri"/>
            </a:endParaRPr>
          </a:p>
          <a:p>
            <a:pPr marL="417396" indent="-380990">
              <a:spcBef>
                <a:spcPts val="2033"/>
              </a:spcBef>
              <a:buClr>
                <a:srgbClr val="99D3FF"/>
              </a:buClr>
              <a:buFont typeface="Wingdings"/>
              <a:buChar char=""/>
              <a:tabLst>
                <a:tab pos="417396" algn="l"/>
              </a:tabLst>
            </a:pPr>
            <a:r>
              <a:rPr sz="2400" b="1" dirty="0">
                <a:solidFill>
                  <a:srgbClr val="D9D9D9"/>
                </a:solidFill>
                <a:latin typeface="Calibri"/>
                <a:cs typeface="Calibri"/>
              </a:rPr>
              <a:t>Attribute</a:t>
            </a:r>
            <a:r>
              <a:rPr sz="2400" b="1" spc="-47" dirty="0">
                <a:solidFill>
                  <a:srgbClr val="D9D9D9"/>
                </a:solidFill>
                <a:latin typeface="Calibri"/>
                <a:cs typeface="Calibri"/>
              </a:rPr>
              <a:t> </a:t>
            </a:r>
            <a:r>
              <a:rPr sz="2400" b="1" dirty="0">
                <a:solidFill>
                  <a:srgbClr val="D9D9D9"/>
                </a:solidFill>
                <a:latin typeface="Calibri"/>
                <a:cs typeface="Calibri"/>
              </a:rPr>
              <a:t>can</a:t>
            </a:r>
            <a:r>
              <a:rPr sz="2400" b="1" spc="-7" dirty="0">
                <a:solidFill>
                  <a:srgbClr val="D9D9D9"/>
                </a:solidFill>
                <a:latin typeface="Calibri"/>
                <a:cs typeface="Calibri"/>
              </a:rPr>
              <a:t> </a:t>
            </a:r>
            <a:r>
              <a:rPr sz="2400" b="1" dirty="0">
                <a:solidFill>
                  <a:srgbClr val="D9D9D9"/>
                </a:solidFill>
                <a:latin typeface="Calibri"/>
                <a:cs typeface="Calibri"/>
              </a:rPr>
              <a:t>be</a:t>
            </a:r>
            <a:r>
              <a:rPr sz="2400" b="1" spc="-13" dirty="0">
                <a:solidFill>
                  <a:srgbClr val="D9D9D9"/>
                </a:solidFill>
                <a:latin typeface="Calibri"/>
                <a:cs typeface="Calibri"/>
              </a:rPr>
              <a:t> </a:t>
            </a:r>
            <a:r>
              <a:rPr sz="2400" b="1" dirty="0">
                <a:solidFill>
                  <a:srgbClr val="D9D9D9"/>
                </a:solidFill>
                <a:latin typeface="Calibri"/>
                <a:cs typeface="Calibri"/>
              </a:rPr>
              <a:t>still</a:t>
            </a:r>
            <a:r>
              <a:rPr sz="2400" b="1" spc="-27" dirty="0">
                <a:solidFill>
                  <a:srgbClr val="D9D9D9"/>
                </a:solidFill>
                <a:latin typeface="Calibri"/>
                <a:cs typeface="Calibri"/>
              </a:rPr>
              <a:t> </a:t>
            </a:r>
            <a:r>
              <a:rPr sz="2400" b="1" spc="-13" dirty="0">
                <a:solidFill>
                  <a:srgbClr val="D9D9D9"/>
                </a:solidFill>
                <a:latin typeface="Calibri"/>
                <a:cs typeface="Calibri"/>
              </a:rPr>
              <a:t>useful</a:t>
            </a:r>
            <a:endParaRPr sz="2400">
              <a:latin typeface="Calibri"/>
              <a:cs typeface="Calibri"/>
            </a:endParaRPr>
          </a:p>
          <a:p>
            <a:pPr marL="397923" indent="-380990">
              <a:spcBef>
                <a:spcPts val="1987"/>
              </a:spcBef>
              <a:buClr>
                <a:srgbClr val="99D3FF"/>
              </a:buClr>
              <a:buFont typeface="Wingdings"/>
              <a:buChar char=""/>
              <a:tabLst>
                <a:tab pos="397923" algn="l"/>
              </a:tabLst>
            </a:pPr>
            <a:r>
              <a:rPr sz="2400" b="1" dirty="0">
                <a:solidFill>
                  <a:srgbClr val="D9D9D9"/>
                </a:solidFill>
                <a:latin typeface="Calibri"/>
                <a:cs typeface="Calibri"/>
              </a:rPr>
              <a:t>Indicate</a:t>
            </a:r>
            <a:r>
              <a:rPr sz="2400" b="1" spc="-60" dirty="0">
                <a:solidFill>
                  <a:srgbClr val="D9D9D9"/>
                </a:solidFill>
                <a:latin typeface="Calibri"/>
                <a:cs typeface="Calibri"/>
              </a:rPr>
              <a:t> </a:t>
            </a:r>
            <a:r>
              <a:rPr sz="2400" b="1" dirty="0">
                <a:solidFill>
                  <a:srgbClr val="D9D9D9"/>
                </a:solidFill>
                <a:latin typeface="Calibri"/>
                <a:cs typeface="Calibri"/>
              </a:rPr>
              <a:t>that</a:t>
            </a:r>
            <a:r>
              <a:rPr sz="2400" b="1" spc="-13" dirty="0">
                <a:solidFill>
                  <a:srgbClr val="D9D9D9"/>
                </a:solidFill>
                <a:latin typeface="Calibri"/>
                <a:cs typeface="Calibri"/>
              </a:rPr>
              <a:t> </a:t>
            </a:r>
            <a:r>
              <a:rPr sz="2400" b="1" dirty="0">
                <a:solidFill>
                  <a:srgbClr val="D9D9D9"/>
                </a:solidFill>
                <a:latin typeface="Calibri"/>
                <a:cs typeface="Calibri"/>
              </a:rPr>
              <a:t>it</a:t>
            </a:r>
            <a:r>
              <a:rPr sz="2400" b="1" spc="-7" dirty="0">
                <a:solidFill>
                  <a:srgbClr val="D9D9D9"/>
                </a:solidFill>
                <a:latin typeface="Calibri"/>
                <a:cs typeface="Calibri"/>
              </a:rPr>
              <a:t> </a:t>
            </a:r>
            <a:r>
              <a:rPr sz="2400" b="1" dirty="0">
                <a:solidFill>
                  <a:srgbClr val="D9D9D9"/>
                </a:solidFill>
                <a:latin typeface="Calibri"/>
                <a:cs typeface="Calibri"/>
              </a:rPr>
              <a:t>is</a:t>
            </a:r>
            <a:r>
              <a:rPr sz="2400" b="1" spc="-20" dirty="0">
                <a:solidFill>
                  <a:srgbClr val="D9D9D9"/>
                </a:solidFill>
                <a:latin typeface="Calibri"/>
                <a:cs typeface="Calibri"/>
              </a:rPr>
              <a:t> </a:t>
            </a:r>
            <a:r>
              <a:rPr sz="2400" b="1" dirty="0">
                <a:solidFill>
                  <a:srgbClr val="D9D9D9"/>
                </a:solidFill>
                <a:latin typeface="Calibri"/>
                <a:cs typeface="Calibri"/>
              </a:rPr>
              <a:t>a</a:t>
            </a:r>
            <a:r>
              <a:rPr sz="2400" b="1" spc="7" dirty="0">
                <a:solidFill>
                  <a:srgbClr val="D9D9D9"/>
                </a:solidFill>
                <a:latin typeface="Calibri"/>
                <a:cs typeface="Calibri"/>
              </a:rPr>
              <a:t> </a:t>
            </a:r>
            <a:r>
              <a:rPr sz="2400" b="1" dirty="0">
                <a:solidFill>
                  <a:srgbClr val="D9D9D9"/>
                </a:solidFill>
                <a:latin typeface="Calibri"/>
                <a:cs typeface="Calibri"/>
              </a:rPr>
              <a:t>deg.</a:t>
            </a:r>
            <a:r>
              <a:rPr sz="2400" b="1" spc="-47" dirty="0">
                <a:solidFill>
                  <a:srgbClr val="D9D9D9"/>
                </a:solidFill>
                <a:latin typeface="Calibri"/>
                <a:cs typeface="Calibri"/>
              </a:rPr>
              <a:t> </a:t>
            </a:r>
            <a:r>
              <a:rPr sz="2400" b="1" dirty="0">
                <a:solidFill>
                  <a:srgbClr val="D9D9D9"/>
                </a:solidFill>
                <a:latin typeface="Calibri"/>
                <a:cs typeface="Calibri"/>
              </a:rPr>
              <a:t>dim.</a:t>
            </a:r>
            <a:r>
              <a:rPr sz="2400" b="1" spc="-40" dirty="0">
                <a:solidFill>
                  <a:srgbClr val="D9D9D9"/>
                </a:solidFill>
                <a:latin typeface="Calibri"/>
                <a:cs typeface="Calibri"/>
              </a:rPr>
              <a:t> </a:t>
            </a:r>
            <a:r>
              <a:rPr sz="2400" b="1" dirty="0">
                <a:solidFill>
                  <a:srgbClr val="D9D9D9"/>
                </a:solidFill>
                <a:latin typeface="Calibri"/>
                <a:cs typeface="Calibri"/>
              </a:rPr>
              <a:t>(e.g.</a:t>
            </a:r>
            <a:r>
              <a:rPr sz="2400" b="1" spc="-47" dirty="0">
                <a:solidFill>
                  <a:srgbClr val="D9D9D9"/>
                </a:solidFill>
                <a:latin typeface="Calibri"/>
                <a:cs typeface="Calibri"/>
              </a:rPr>
              <a:t> </a:t>
            </a:r>
            <a:r>
              <a:rPr sz="2400" b="1" spc="-27" dirty="0">
                <a:solidFill>
                  <a:srgbClr val="D9D9D9"/>
                </a:solidFill>
                <a:latin typeface="Calibri"/>
                <a:cs typeface="Calibri"/>
              </a:rPr>
              <a:t>_DD)</a:t>
            </a:r>
            <a:endParaRPr sz="2400">
              <a:latin typeface="Calibri"/>
              <a:cs typeface="Calibri"/>
            </a:endParaRPr>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21888" y="485420"/>
            <a:ext cx="5676052"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Degenerate</a:t>
            </a:r>
            <a:r>
              <a:rPr spc="-33" dirty="0">
                <a:solidFill>
                  <a:schemeClr val="bg1"/>
                </a:solidFill>
                <a:latin typeface="+mn-lt"/>
              </a:rPr>
              <a:t> </a:t>
            </a:r>
            <a:r>
              <a:rPr spc="-13" dirty="0">
                <a:solidFill>
                  <a:schemeClr val="bg1"/>
                </a:solidFill>
                <a:latin typeface="+mn-lt"/>
              </a:rPr>
              <a:t>dimension</a:t>
            </a:r>
          </a:p>
        </p:txBody>
      </p:sp>
      <p:sp>
        <p:nvSpPr>
          <p:cNvPr id="3" name="object 3"/>
          <p:cNvSpPr txBox="1"/>
          <p:nvPr/>
        </p:nvSpPr>
        <p:spPr>
          <a:xfrm>
            <a:off x="2848526" y="1693841"/>
            <a:ext cx="5676053" cy="1067835"/>
          </a:xfrm>
          <a:prstGeom prst="rect">
            <a:avLst/>
          </a:prstGeom>
        </p:spPr>
        <p:txBody>
          <a:bodyPr vert="horz" wrap="square" lIns="0" tIns="16933" rIns="0" bIns="0" rtlCol="0">
            <a:spAutoFit/>
          </a:bodyPr>
          <a:lstStyle/>
          <a:p>
            <a:pPr marL="397077" marR="6773" indent="-380990">
              <a:lnSpc>
                <a:spcPct val="150100"/>
              </a:lnSpc>
              <a:spcBef>
                <a:spcPts val="133"/>
              </a:spcBef>
              <a:buClr>
                <a:srgbClr val="99D3FF"/>
              </a:buClr>
              <a:buFont typeface="Wingdings"/>
              <a:buChar char=""/>
              <a:tabLst>
                <a:tab pos="398770" algn="l"/>
              </a:tabLst>
            </a:pPr>
            <a:r>
              <a:rPr sz="2400" b="1" dirty="0">
                <a:solidFill>
                  <a:srgbClr val="D9D9D9"/>
                </a:solidFill>
                <a:latin typeface="Calibri"/>
                <a:cs typeface="Calibri"/>
              </a:rPr>
              <a:t>Degenarate</a:t>
            </a:r>
            <a:r>
              <a:rPr sz="2400" b="1" spc="-87" dirty="0">
                <a:solidFill>
                  <a:srgbClr val="D9D9D9"/>
                </a:solidFill>
                <a:latin typeface="Calibri"/>
                <a:cs typeface="Calibri"/>
              </a:rPr>
              <a:t> </a:t>
            </a:r>
            <a:r>
              <a:rPr sz="2400" b="1" dirty="0">
                <a:solidFill>
                  <a:srgbClr val="D9D9D9"/>
                </a:solidFill>
                <a:latin typeface="Calibri"/>
                <a:cs typeface="Calibri"/>
              </a:rPr>
              <a:t>dimension</a:t>
            </a:r>
            <a:r>
              <a:rPr sz="2400" b="1" spc="-33" dirty="0">
                <a:solidFill>
                  <a:srgbClr val="D9D9D9"/>
                </a:solidFill>
                <a:latin typeface="Calibri"/>
                <a:cs typeface="Calibri"/>
              </a:rPr>
              <a:t> </a:t>
            </a:r>
            <a:r>
              <a:rPr sz="2400" b="1" dirty="0">
                <a:solidFill>
                  <a:srgbClr val="D9D9D9"/>
                </a:solidFill>
                <a:latin typeface="Calibri"/>
                <a:cs typeface="Calibri"/>
              </a:rPr>
              <a:t>the</a:t>
            </a:r>
            <a:r>
              <a:rPr sz="2400" b="1" spc="-80" dirty="0">
                <a:solidFill>
                  <a:srgbClr val="D9D9D9"/>
                </a:solidFill>
                <a:latin typeface="Calibri"/>
                <a:cs typeface="Calibri"/>
              </a:rPr>
              <a:t> </a:t>
            </a:r>
            <a:r>
              <a:rPr sz="2400" b="1" dirty="0">
                <a:solidFill>
                  <a:srgbClr val="D9D9D9"/>
                </a:solidFill>
                <a:latin typeface="Calibri"/>
                <a:cs typeface="Calibri"/>
              </a:rPr>
              <a:t>dimension</a:t>
            </a:r>
            <a:r>
              <a:rPr sz="2400" b="1" spc="-40" dirty="0">
                <a:solidFill>
                  <a:srgbClr val="D9D9D9"/>
                </a:solidFill>
                <a:latin typeface="Calibri"/>
                <a:cs typeface="Calibri"/>
              </a:rPr>
              <a:t> </a:t>
            </a:r>
            <a:r>
              <a:rPr sz="2400" b="1" spc="-33" dirty="0">
                <a:solidFill>
                  <a:srgbClr val="D9D9D9"/>
                </a:solidFill>
                <a:latin typeface="Calibri"/>
                <a:cs typeface="Calibri"/>
              </a:rPr>
              <a:t>key 	</a:t>
            </a:r>
            <a:r>
              <a:rPr sz="2400" b="1" dirty="0">
                <a:solidFill>
                  <a:srgbClr val="D9D9D9"/>
                </a:solidFill>
                <a:latin typeface="Calibri"/>
                <a:cs typeface="Calibri"/>
              </a:rPr>
              <a:t>without</a:t>
            </a:r>
            <a:r>
              <a:rPr sz="2400" b="1" spc="-60" dirty="0">
                <a:solidFill>
                  <a:srgbClr val="D9D9D9"/>
                </a:solidFill>
                <a:latin typeface="Calibri"/>
                <a:cs typeface="Calibri"/>
              </a:rPr>
              <a:t> </a:t>
            </a:r>
            <a:r>
              <a:rPr sz="2400" b="1" dirty="0">
                <a:solidFill>
                  <a:srgbClr val="D9D9D9"/>
                </a:solidFill>
                <a:latin typeface="Calibri"/>
                <a:cs typeface="Calibri"/>
              </a:rPr>
              <a:t>an</a:t>
            </a:r>
            <a:r>
              <a:rPr sz="2400" b="1" spc="-7" dirty="0">
                <a:solidFill>
                  <a:srgbClr val="D9D9D9"/>
                </a:solidFill>
                <a:latin typeface="Calibri"/>
                <a:cs typeface="Calibri"/>
              </a:rPr>
              <a:t> </a:t>
            </a:r>
            <a:r>
              <a:rPr sz="2400" b="1" dirty="0">
                <a:solidFill>
                  <a:srgbClr val="D9D9D9"/>
                </a:solidFill>
                <a:latin typeface="Calibri"/>
                <a:cs typeface="Calibri"/>
              </a:rPr>
              <a:t>associated</a:t>
            </a:r>
            <a:r>
              <a:rPr sz="2400" b="1" spc="-67" dirty="0">
                <a:solidFill>
                  <a:srgbClr val="D9D9D9"/>
                </a:solidFill>
                <a:latin typeface="Calibri"/>
                <a:cs typeface="Calibri"/>
              </a:rPr>
              <a:t> </a:t>
            </a:r>
            <a:r>
              <a:rPr sz="2400" b="1" spc="-13" dirty="0">
                <a:solidFill>
                  <a:srgbClr val="D9D9D9"/>
                </a:solidFill>
                <a:latin typeface="Calibri"/>
                <a:cs typeface="Calibri"/>
              </a:rPr>
              <a:t>dimension</a:t>
            </a:r>
            <a:endParaRPr sz="2400">
              <a:latin typeface="Calibri"/>
              <a:cs typeface="Calibri"/>
            </a:endParaRPr>
          </a:p>
        </p:txBody>
      </p:sp>
      <p:graphicFrame>
        <p:nvGraphicFramePr>
          <p:cNvPr id="4" name="object 4"/>
          <p:cNvGraphicFramePr>
            <a:graphicFrameLocks noGrp="1"/>
          </p:cNvGraphicFramePr>
          <p:nvPr>
            <p:extLst>
              <p:ext uri="{D42A27DB-BD31-4B8C-83A1-F6EECF244321}">
                <p14:modId xmlns:p14="http://schemas.microsoft.com/office/powerpoint/2010/main" val="752160523"/>
              </p:ext>
            </p:extLst>
          </p:nvPr>
        </p:nvGraphicFramePr>
        <p:xfrm>
          <a:off x="3141134" y="2832583"/>
          <a:ext cx="6052562" cy="1163368"/>
        </p:xfrm>
        <a:graphic>
          <a:graphicData uri="http://schemas.openxmlformats.org/drawingml/2006/table">
            <a:tbl>
              <a:tblPr firstRow="1" bandRow="1">
                <a:tableStyleId>{2D5ABB26-0587-4C30-8999-92F81FD0307C}</a:tableStyleId>
              </a:tblPr>
              <a:tblGrid>
                <a:gridCol w="1745931">
                  <a:extLst>
                    <a:ext uri="{9D8B030D-6E8A-4147-A177-3AD203B41FA5}">
                      <a16:colId xmlns:a16="http://schemas.microsoft.com/office/drawing/2014/main" val="20000"/>
                    </a:ext>
                  </a:extLst>
                </a:gridCol>
                <a:gridCol w="2444304">
                  <a:extLst>
                    <a:ext uri="{9D8B030D-6E8A-4147-A177-3AD203B41FA5}">
                      <a16:colId xmlns:a16="http://schemas.microsoft.com/office/drawing/2014/main" val="20001"/>
                    </a:ext>
                  </a:extLst>
                </a:gridCol>
                <a:gridCol w="1862327">
                  <a:extLst>
                    <a:ext uri="{9D8B030D-6E8A-4147-A177-3AD203B41FA5}">
                      <a16:colId xmlns:a16="http://schemas.microsoft.com/office/drawing/2014/main" val="20002"/>
                    </a:ext>
                  </a:extLst>
                </a:gridCol>
              </a:tblGrid>
              <a:tr h="266170">
                <a:tc>
                  <a:txBody>
                    <a:bodyPr/>
                    <a:lstStyle/>
                    <a:p>
                      <a:pPr marL="635" algn="ctr">
                        <a:lnSpc>
                          <a:spcPct val="100000"/>
                        </a:lnSpc>
                        <a:spcBef>
                          <a:spcPts val="60"/>
                        </a:spcBef>
                      </a:pPr>
                      <a:r>
                        <a:rPr sz="1400" b="1" spc="-10" dirty="0">
                          <a:solidFill>
                            <a:schemeClr val="bg1"/>
                          </a:solidFill>
                          <a:latin typeface="Arial"/>
                          <a:cs typeface="Arial"/>
                        </a:rPr>
                        <a:t>Transaction_PK</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2540" algn="ctr">
                        <a:lnSpc>
                          <a:spcPct val="100000"/>
                        </a:lnSpc>
                        <a:spcBef>
                          <a:spcPts val="60"/>
                        </a:spcBef>
                      </a:pPr>
                      <a:r>
                        <a:rPr sz="1400" b="1" spc="-10" dirty="0">
                          <a:solidFill>
                            <a:schemeClr val="bg1"/>
                          </a:solidFill>
                          <a:latin typeface="Arial"/>
                          <a:cs typeface="Arial"/>
                        </a:rPr>
                        <a:t>Amount</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270" algn="ctr">
                        <a:lnSpc>
                          <a:spcPct val="100000"/>
                        </a:lnSpc>
                        <a:spcBef>
                          <a:spcPts val="60"/>
                        </a:spcBef>
                      </a:pPr>
                      <a:r>
                        <a:rPr sz="1400" b="1" spc="-10" dirty="0">
                          <a:solidFill>
                            <a:schemeClr val="bg1"/>
                          </a:solidFill>
                          <a:latin typeface="Arial"/>
                          <a:cs typeface="Arial"/>
                        </a:rPr>
                        <a:t>Payment_DD</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99066">
                <a:tc>
                  <a:txBody>
                    <a:bodyPr/>
                    <a:lstStyle/>
                    <a:p>
                      <a:pPr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20" dirty="0">
                          <a:latin typeface="Arial MT"/>
                          <a:cs typeface="Arial MT"/>
                        </a:rPr>
                        <a:t>$530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234-</a:t>
                      </a:r>
                      <a:r>
                        <a:rPr sz="1400" spc="-25" dirty="0">
                          <a:latin typeface="Arial MT"/>
                          <a:cs typeface="Arial MT"/>
                        </a:rPr>
                        <a:t>032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99066">
                <a:tc>
                  <a:txBody>
                    <a:bodyPr/>
                    <a:lstStyle/>
                    <a:p>
                      <a:pPr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20" dirty="0">
                          <a:latin typeface="Arial MT"/>
                          <a:cs typeface="Arial MT"/>
                        </a:rPr>
                        <a:t>$553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234-</a:t>
                      </a:r>
                      <a:r>
                        <a:rPr sz="1400" spc="-25" dirty="0">
                          <a:latin typeface="Arial MT"/>
                          <a:cs typeface="Arial MT"/>
                        </a:rPr>
                        <a:t>032</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99066">
                <a:tc>
                  <a:txBody>
                    <a:bodyPr/>
                    <a:lstStyle/>
                    <a:p>
                      <a:pPr algn="ctr">
                        <a:lnSpc>
                          <a:spcPct val="10000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20" dirty="0">
                          <a:latin typeface="Arial MT"/>
                          <a:cs typeface="Arial MT"/>
                        </a:rPr>
                        <a:t>$654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234-</a:t>
                      </a:r>
                      <a:r>
                        <a:rPr sz="1400" spc="-25" dirty="0">
                          <a:latin typeface="Arial MT"/>
                          <a:cs typeface="Arial MT"/>
                        </a:rPr>
                        <a:t>033</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sp>
        <p:nvSpPr>
          <p:cNvPr id="5" name="object 5"/>
          <p:cNvSpPr txBox="1"/>
          <p:nvPr/>
        </p:nvSpPr>
        <p:spPr>
          <a:xfrm>
            <a:off x="2836672" y="4080256"/>
            <a:ext cx="5791200" cy="540319"/>
          </a:xfrm>
          <a:prstGeom prst="rect">
            <a:avLst/>
          </a:prstGeom>
          <a:solidFill>
            <a:srgbClr val="7E7E7E"/>
          </a:solidFill>
        </p:spPr>
        <p:txBody>
          <a:bodyPr vert="horz" wrap="square" lIns="0" tIns="169333" rIns="0" bIns="0" rtlCol="0">
            <a:spAutoFit/>
          </a:bodyPr>
          <a:lstStyle/>
          <a:p>
            <a:pPr marL="502907">
              <a:spcBef>
                <a:spcPts val="1333"/>
              </a:spcBef>
            </a:pPr>
            <a:r>
              <a:rPr sz="2400" b="1" dirty="0">
                <a:solidFill>
                  <a:srgbClr val="FFFFFF"/>
                </a:solidFill>
                <a:latin typeface="Calibri"/>
                <a:cs typeface="Calibri"/>
              </a:rPr>
              <a:t>Occuring</a:t>
            </a:r>
            <a:r>
              <a:rPr sz="2400" b="1" spc="-53" dirty="0">
                <a:solidFill>
                  <a:srgbClr val="FFFFFF"/>
                </a:solidFill>
                <a:latin typeface="Calibri"/>
                <a:cs typeface="Calibri"/>
              </a:rPr>
              <a:t> </a:t>
            </a:r>
            <a:r>
              <a:rPr sz="2400" b="1" dirty="0">
                <a:solidFill>
                  <a:srgbClr val="FFFFFF"/>
                </a:solidFill>
                <a:latin typeface="Calibri"/>
                <a:cs typeface="Calibri"/>
              </a:rPr>
              <a:t>mostly</a:t>
            </a:r>
            <a:r>
              <a:rPr sz="2400" b="1" spc="-40" dirty="0">
                <a:solidFill>
                  <a:srgbClr val="FFFFFF"/>
                </a:solidFill>
                <a:latin typeface="Calibri"/>
                <a:cs typeface="Calibri"/>
              </a:rPr>
              <a:t> </a:t>
            </a:r>
            <a:r>
              <a:rPr sz="2400" b="1" dirty="0">
                <a:solidFill>
                  <a:srgbClr val="FFFFFF"/>
                </a:solidFill>
                <a:latin typeface="Calibri"/>
                <a:cs typeface="Calibri"/>
              </a:rPr>
              <a:t>in Transactional</a:t>
            </a:r>
            <a:r>
              <a:rPr sz="2400" b="1" spc="-60" dirty="0">
                <a:solidFill>
                  <a:srgbClr val="FFFFFF"/>
                </a:solidFill>
                <a:latin typeface="Calibri"/>
                <a:cs typeface="Calibri"/>
              </a:rPr>
              <a:t> </a:t>
            </a:r>
            <a:r>
              <a:rPr sz="2400" b="1" spc="-13" dirty="0">
                <a:solidFill>
                  <a:srgbClr val="FFFFFF"/>
                </a:solidFill>
                <a:latin typeface="Calibri"/>
                <a:cs typeface="Calibri"/>
              </a:rPr>
              <a:t>facts</a:t>
            </a:r>
            <a:endParaRPr sz="2400">
              <a:latin typeface="Calibri"/>
              <a:cs typeface="Calibri"/>
            </a:endParaRPr>
          </a:p>
        </p:txBody>
      </p:sp>
      <p:grpSp>
        <p:nvGrpSpPr>
          <p:cNvPr id="6" name="object 6"/>
          <p:cNvGrpSpPr/>
          <p:nvPr/>
        </p:nvGrpSpPr>
        <p:grpSpPr>
          <a:xfrm>
            <a:off x="2844800" y="4852416"/>
            <a:ext cx="5791200" cy="1172633"/>
            <a:chOff x="2133600" y="3639311"/>
            <a:chExt cx="4343400" cy="879475"/>
          </a:xfrm>
        </p:grpSpPr>
        <p:sp>
          <p:nvSpPr>
            <p:cNvPr id="7" name="object 7"/>
            <p:cNvSpPr/>
            <p:nvPr/>
          </p:nvSpPr>
          <p:spPr>
            <a:xfrm>
              <a:off x="2133600" y="3639311"/>
              <a:ext cx="4343400" cy="879475"/>
            </a:xfrm>
            <a:custGeom>
              <a:avLst/>
              <a:gdLst/>
              <a:ahLst/>
              <a:cxnLst/>
              <a:rect l="l" t="t" r="r" b="b"/>
              <a:pathLst>
                <a:path w="4343400" h="879475">
                  <a:moveTo>
                    <a:pt x="4343400" y="0"/>
                  </a:moveTo>
                  <a:lnTo>
                    <a:pt x="0" y="0"/>
                  </a:lnTo>
                  <a:lnTo>
                    <a:pt x="0" y="879347"/>
                  </a:lnTo>
                  <a:lnTo>
                    <a:pt x="4343400" y="879347"/>
                  </a:lnTo>
                  <a:lnTo>
                    <a:pt x="4343400" y="0"/>
                  </a:lnTo>
                  <a:close/>
                </a:path>
              </a:pathLst>
            </a:custGeom>
            <a:solidFill>
              <a:srgbClr val="7E7E7E"/>
            </a:solidFill>
          </p:spPr>
          <p:txBody>
            <a:bodyPr wrap="square" lIns="0" tIns="0" rIns="0" bIns="0" rtlCol="0"/>
            <a:lstStyle/>
            <a:p>
              <a:endParaRPr sz="2400"/>
            </a:p>
          </p:txBody>
        </p:sp>
        <p:pic>
          <p:nvPicPr>
            <p:cNvPr id="8" name="object 8"/>
            <p:cNvPicPr/>
            <p:nvPr/>
          </p:nvPicPr>
          <p:blipFill>
            <a:blip r:embed="rId2" cstate="print"/>
            <a:stretch>
              <a:fillRect/>
            </a:stretch>
          </p:blipFill>
          <p:spPr>
            <a:xfrm>
              <a:off x="2566416" y="3703319"/>
              <a:ext cx="3545585" cy="511289"/>
            </a:xfrm>
            <a:prstGeom prst="rect">
              <a:avLst/>
            </a:prstGeom>
          </p:spPr>
        </p:pic>
      </p:grpSp>
      <p:sp>
        <p:nvSpPr>
          <p:cNvPr id="9" name="object 9"/>
          <p:cNvSpPr txBox="1"/>
          <p:nvPr/>
        </p:nvSpPr>
        <p:spPr>
          <a:xfrm>
            <a:off x="2844800" y="4852415"/>
            <a:ext cx="5791200" cy="1088330"/>
          </a:xfrm>
          <a:prstGeom prst="rect">
            <a:avLst/>
          </a:prstGeom>
        </p:spPr>
        <p:txBody>
          <a:bodyPr vert="horz" wrap="square" lIns="0" tIns="168485" rIns="0" bIns="0" rtlCol="0">
            <a:spAutoFit/>
          </a:bodyPr>
          <a:lstStyle/>
          <a:p>
            <a:pPr algn="ctr">
              <a:spcBef>
                <a:spcPts val="1325"/>
              </a:spcBef>
            </a:pPr>
            <a:r>
              <a:rPr sz="2400" b="1" i="1" dirty="0">
                <a:solidFill>
                  <a:srgbClr val="FFFFFF"/>
                </a:solidFill>
                <a:latin typeface="Calibri"/>
                <a:cs typeface="Calibri"/>
              </a:rPr>
              <a:t>Invoice</a:t>
            </a:r>
            <a:r>
              <a:rPr sz="2400" b="1" i="1" spc="-33" dirty="0">
                <a:solidFill>
                  <a:srgbClr val="FFFFFF"/>
                </a:solidFill>
                <a:latin typeface="Calibri"/>
                <a:cs typeface="Calibri"/>
              </a:rPr>
              <a:t> </a:t>
            </a:r>
            <a:r>
              <a:rPr sz="2400" b="1" i="1" dirty="0">
                <a:solidFill>
                  <a:srgbClr val="FFFFFF"/>
                </a:solidFill>
                <a:latin typeface="Calibri"/>
                <a:cs typeface="Calibri"/>
              </a:rPr>
              <a:t>no.,</a:t>
            </a:r>
            <a:r>
              <a:rPr sz="2400" b="1" i="1" spc="-27" dirty="0">
                <a:solidFill>
                  <a:srgbClr val="FFFFFF"/>
                </a:solidFill>
                <a:latin typeface="Calibri"/>
                <a:cs typeface="Calibri"/>
              </a:rPr>
              <a:t> </a:t>
            </a:r>
            <a:r>
              <a:rPr sz="2400" b="1" i="1" dirty="0">
                <a:solidFill>
                  <a:srgbClr val="FFFFFF"/>
                </a:solidFill>
                <a:latin typeface="Calibri"/>
                <a:cs typeface="Calibri"/>
              </a:rPr>
              <a:t>billing</a:t>
            </a:r>
            <a:r>
              <a:rPr sz="2400" b="1" i="1" spc="-47" dirty="0">
                <a:solidFill>
                  <a:srgbClr val="FFFFFF"/>
                </a:solidFill>
                <a:latin typeface="Calibri"/>
                <a:cs typeface="Calibri"/>
              </a:rPr>
              <a:t> </a:t>
            </a:r>
            <a:r>
              <a:rPr sz="2400" b="1" i="1" dirty="0">
                <a:solidFill>
                  <a:srgbClr val="FFFFFF"/>
                </a:solidFill>
                <a:latin typeface="Calibri"/>
                <a:cs typeface="Calibri"/>
              </a:rPr>
              <a:t>no.</a:t>
            </a:r>
            <a:r>
              <a:rPr sz="2400" b="1" i="1" spc="-33" dirty="0">
                <a:solidFill>
                  <a:srgbClr val="FFFFFF"/>
                </a:solidFill>
                <a:latin typeface="Calibri"/>
                <a:cs typeface="Calibri"/>
              </a:rPr>
              <a:t> </a:t>
            </a:r>
            <a:r>
              <a:rPr sz="2400" b="1" i="1" dirty="0">
                <a:solidFill>
                  <a:srgbClr val="FFFFFF"/>
                </a:solidFill>
                <a:latin typeface="Calibri"/>
                <a:cs typeface="Calibri"/>
              </a:rPr>
              <a:t>or</a:t>
            </a:r>
            <a:r>
              <a:rPr sz="2400" b="1" i="1" spc="-13" dirty="0">
                <a:solidFill>
                  <a:srgbClr val="FFFFFF"/>
                </a:solidFill>
                <a:latin typeface="Calibri"/>
                <a:cs typeface="Calibri"/>
              </a:rPr>
              <a:t> order_id</a:t>
            </a:r>
            <a:endParaRPr sz="2400">
              <a:latin typeface="Calibri"/>
              <a:cs typeface="Calibri"/>
            </a:endParaRPr>
          </a:p>
          <a:p>
            <a:pPr algn="ctr">
              <a:spcBef>
                <a:spcPts val="1440"/>
              </a:spcBef>
            </a:pPr>
            <a:r>
              <a:rPr sz="2400" b="1" dirty="0">
                <a:solidFill>
                  <a:srgbClr val="FFFFFF"/>
                </a:solidFill>
                <a:latin typeface="Calibri"/>
                <a:cs typeface="Calibri"/>
              </a:rPr>
              <a:t>typically</a:t>
            </a:r>
            <a:r>
              <a:rPr sz="2400" b="1" spc="-87" dirty="0">
                <a:solidFill>
                  <a:srgbClr val="FFFFFF"/>
                </a:solidFill>
                <a:latin typeface="Calibri"/>
                <a:cs typeface="Calibri"/>
              </a:rPr>
              <a:t> </a:t>
            </a:r>
            <a:r>
              <a:rPr sz="2400" b="1" dirty="0">
                <a:solidFill>
                  <a:srgbClr val="FFFFFF"/>
                </a:solidFill>
                <a:latin typeface="Calibri"/>
                <a:cs typeface="Calibri"/>
              </a:rPr>
              <a:t>are</a:t>
            </a:r>
            <a:r>
              <a:rPr sz="2400" b="1" spc="-27" dirty="0">
                <a:solidFill>
                  <a:srgbClr val="FFFFFF"/>
                </a:solidFill>
                <a:latin typeface="Calibri"/>
                <a:cs typeface="Calibri"/>
              </a:rPr>
              <a:t> </a:t>
            </a:r>
            <a:r>
              <a:rPr sz="2400" b="1" dirty="0">
                <a:solidFill>
                  <a:srgbClr val="FFFFFF"/>
                </a:solidFill>
                <a:latin typeface="Calibri"/>
                <a:cs typeface="Calibri"/>
              </a:rPr>
              <a:t>degenerate</a:t>
            </a:r>
            <a:r>
              <a:rPr sz="2400" b="1" spc="-80" dirty="0">
                <a:solidFill>
                  <a:srgbClr val="FFFFFF"/>
                </a:solidFill>
                <a:latin typeface="Calibri"/>
                <a:cs typeface="Calibri"/>
              </a:rPr>
              <a:t> </a:t>
            </a:r>
            <a:r>
              <a:rPr sz="2400" b="1" spc="-13" dirty="0">
                <a:solidFill>
                  <a:srgbClr val="FFFFFF"/>
                </a:solidFill>
                <a:latin typeface="Calibri"/>
                <a:cs typeface="Calibri"/>
              </a:rPr>
              <a:t>dimensions</a:t>
            </a:r>
            <a:endParaRPr sz="2400">
              <a:latin typeface="Calibri"/>
              <a:cs typeface="Calibri"/>
            </a:endParaRP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59407" y="2279903"/>
            <a:ext cx="9930384" cy="1702816"/>
          </a:xfrm>
          <a:prstGeom prst="rect">
            <a:avLst/>
          </a:prstGeom>
        </p:spPr>
      </p:pic>
      <p:sp>
        <p:nvSpPr>
          <p:cNvPr id="3" name="object 3"/>
          <p:cNvSpPr txBox="1">
            <a:spLocks noGrp="1"/>
          </p:cNvSpPr>
          <p:nvPr>
            <p:ph type="title"/>
          </p:nvPr>
        </p:nvSpPr>
        <p:spPr>
          <a:xfrm>
            <a:off x="1422400" y="2579973"/>
            <a:ext cx="9811173" cy="1048150"/>
          </a:xfrm>
          <a:prstGeom prst="rect">
            <a:avLst/>
          </a:prstGeom>
          <a:noFill/>
          <a:ln w="9144">
            <a:noFill/>
          </a:ln>
        </p:spPr>
        <p:txBody>
          <a:bodyPr vert="horz" wrap="square" lIns="0" tIns="306493" rIns="0" bIns="0" rtlCol="0" anchor="ctr">
            <a:spAutoFit/>
          </a:bodyPr>
          <a:lstStyle/>
          <a:p>
            <a:pPr algn="ctr">
              <a:lnSpc>
                <a:spcPct val="100000"/>
              </a:lnSpc>
              <a:spcBef>
                <a:spcPts val="2413"/>
              </a:spcBef>
            </a:pPr>
            <a:r>
              <a:rPr sz="4800" dirty="0">
                <a:solidFill>
                  <a:schemeClr val="bg1"/>
                </a:solidFill>
                <a:latin typeface="+mn-lt"/>
              </a:rPr>
              <a:t>Junk</a:t>
            </a:r>
            <a:r>
              <a:rPr sz="4800" spc="-53" dirty="0">
                <a:solidFill>
                  <a:schemeClr val="bg1"/>
                </a:solidFill>
                <a:latin typeface="+mn-lt"/>
              </a:rPr>
              <a:t> </a:t>
            </a:r>
            <a:r>
              <a:rPr sz="4800" spc="-13" dirty="0">
                <a:solidFill>
                  <a:schemeClr val="bg1"/>
                </a:solidFill>
                <a:latin typeface="+mn-lt"/>
              </a:rPr>
              <a:t>dimensions</a:t>
            </a:r>
            <a:endParaRPr sz="4800" dirty="0">
              <a:solidFill>
                <a:schemeClr val="bg1"/>
              </a:solidFill>
              <a:latin typeface="+mn-lt"/>
            </a:endParaRPr>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57807" y="247904"/>
            <a:ext cx="9930384" cy="1702816"/>
          </a:xfrm>
          <a:prstGeom prst="rect">
            <a:avLst/>
          </a:prstGeom>
        </p:spPr>
      </p:pic>
      <p:sp>
        <p:nvSpPr>
          <p:cNvPr id="3" name="object 3"/>
          <p:cNvSpPr txBox="1">
            <a:spLocks noGrp="1"/>
          </p:cNvSpPr>
          <p:nvPr>
            <p:ph type="title"/>
          </p:nvPr>
        </p:nvSpPr>
        <p:spPr>
          <a:xfrm>
            <a:off x="1320800" y="548400"/>
            <a:ext cx="9811173" cy="1047296"/>
          </a:xfrm>
          <a:prstGeom prst="rect">
            <a:avLst/>
          </a:prstGeom>
          <a:noFill/>
          <a:ln w="9144">
            <a:noFill/>
          </a:ln>
        </p:spPr>
        <p:txBody>
          <a:bodyPr vert="horz" wrap="square" lIns="0" tIns="305647" rIns="0" bIns="0" rtlCol="0" anchor="ctr">
            <a:spAutoFit/>
          </a:bodyPr>
          <a:lstStyle/>
          <a:p>
            <a:pPr algn="ctr">
              <a:lnSpc>
                <a:spcPct val="100000"/>
              </a:lnSpc>
              <a:spcBef>
                <a:spcPts val="2407"/>
              </a:spcBef>
            </a:pPr>
            <a:r>
              <a:rPr sz="4800" dirty="0">
                <a:solidFill>
                  <a:schemeClr val="bg1"/>
                </a:solidFill>
                <a:latin typeface="+mn-lt"/>
              </a:rPr>
              <a:t>Junk</a:t>
            </a:r>
            <a:r>
              <a:rPr sz="4800" spc="-33" dirty="0">
                <a:solidFill>
                  <a:schemeClr val="bg1"/>
                </a:solidFill>
                <a:latin typeface="+mn-lt"/>
              </a:rPr>
              <a:t> </a:t>
            </a:r>
            <a:r>
              <a:rPr sz="4800" spc="-13" dirty="0">
                <a:solidFill>
                  <a:schemeClr val="bg1"/>
                </a:solidFill>
                <a:latin typeface="+mn-lt"/>
              </a:rPr>
              <a:t>dimensions</a:t>
            </a:r>
            <a:endParaRPr sz="4800" dirty="0">
              <a:solidFill>
                <a:schemeClr val="bg1"/>
              </a:solidFill>
              <a:latin typeface="+mn-lt"/>
            </a:endParaRPr>
          </a:p>
        </p:txBody>
      </p:sp>
      <p:graphicFrame>
        <p:nvGraphicFramePr>
          <p:cNvPr id="4" name="object 4"/>
          <p:cNvGraphicFramePr>
            <a:graphicFrameLocks noGrp="1"/>
          </p:cNvGraphicFramePr>
          <p:nvPr>
            <p:extLst>
              <p:ext uri="{D42A27DB-BD31-4B8C-83A1-F6EECF244321}">
                <p14:modId xmlns:p14="http://schemas.microsoft.com/office/powerpoint/2010/main" val="2214386953"/>
              </p:ext>
            </p:extLst>
          </p:nvPr>
        </p:nvGraphicFramePr>
        <p:xfrm>
          <a:off x="2305879" y="2284549"/>
          <a:ext cx="8256457" cy="1385161"/>
        </p:xfrm>
        <a:graphic>
          <a:graphicData uri="http://schemas.openxmlformats.org/drawingml/2006/table">
            <a:tbl>
              <a:tblPr firstRow="1" bandRow="1">
                <a:tableStyleId>{2D5ABB26-0587-4C30-8999-92F81FD0307C}</a:tableStyleId>
              </a:tblPr>
              <a:tblGrid>
                <a:gridCol w="1521294">
                  <a:extLst>
                    <a:ext uri="{9D8B030D-6E8A-4147-A177-3AD203B41FA5}">
                      <a16:colId xmlns:a16="http://schemas.microsoft.com/office/drawing/2014/main" val="20000"/>
                    </a:ext>
                  </a:extLst>
                </a:gridCol>
                <a:gridCol w="1045191">
                  <a:extLst>
                    <a:ext uri="{9D8B030D-6E8A-4147-A177-3AD203B41FA5}">
                      <a16:colId xmlns:a16="http://schemas.microsoft.com/office/drawing/2014/main" val="20001"/>
                    </a:ext>
                  </a:extLst>
                </a:gridCol>
                <a:gridCol w="1778872">
                  <a:extLst>
                    <a:ext uri="{9D8B030D-6E8A-4147-A177-3AD203B41FA5}">
                      <a16:colId xmlns:a16="http://schemas.microsoft.com/office/drawing/2014/main" val="20002"/>
                    </a:ext>
                  </a:extLst>
                </a:gridCol>
                <a:gridCol w="2237305">
                  <a:extLst>
                    <a:ext uri="{9D8B030D-6E8A-4147-A177-3AD203B41FA5}">
                      <a16:colId xmlns:a16="http://schemas.microsoft.com/office/drawing/2014/main" val="20003"/>
                    </a:ext>
                  </a:extLst>
                </a:gridCol>
                <a:gridCol w="1673795">
                  <a:extLst>
                    <a:ext uri="{9D8B030D-6E8A-4147-A177-3AD203B41FA5}">
                      <a16:colId xmlns:a16="http://schemas.microsoft.com/office/drawing/2014/main" val="20004"/>
                    </a:ext>
                  </a:extLst>
                </a:gridCol>
              </a:tblGrid>
              <a:tr h="315997">
                <a:tc>
                  <a:txBody>
                    <a:bodyPr/>
                    <a:lstStyle/>
                    <a:p>
                      <a:pPr marL="1270" algn="ctr">
                        <a:lnSpc>
                          <a:spcPct val="100000"/>
                        </a:lnSpc>
                        <a:spcBef>
                          <a:spcPts val="60"/>
                        </a:spcBef>
                      </a:pPr>
                      <a:r>
                        <a:rPr sz="1600" b="1" spc="-10" dirty="0">
                          <a:solidFill>
                            <a:schemeClr val="bg1"/>
                          </a:solidFill>
                          <a:latin typeface="Arial"/>
                          <a:cs typeface="Arial"/>
                        </a:rPr>
                        <a:t>Transaction_PK</a:t>
                      </a:r>
                      <a:endParaRPr sz="16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gn="ctr">
                        <a:lnSpc>
                          <a:spcPct val="100000"/>
                        </a:lnSpc>
                        <a:spcBef>
                          <a:spcPts val="60"/>
                        </a:spcBef>
                      </a:pPr>
                      <a:r>
                        <a:rPr sz="1600" b="1" spc="-10" dirty="0">
                          <a:solidFill>
                            <a:schemeClr val="bg1"/>
                          </a:solidFill>
                          <a:latin typeface="Arial"/>
                          <a:cs typeface="Arial"/>
                        </a:rPr>
                        <a:t>Amount</a:t>
                      </a:r>
                      <a:endParaRPr sz="16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gn="ctr">
                        <a:lnSpc>
                          <a:spcPct val="100000"/>
                        </a:lnSpc>
                        <a:spcBef>
                          <a:spcPts val="60"/>
                        </a:spcBef>
                      </a:pPr>
                      <a:r>
                        <a:rPr sz="1600" b="1" spc="-10" dirty="0">
                          <a:solidFill>
                            <a:schemeClr val="bg1"/>
                          </a:solidFill>
                          <a:latin typeface="Arial"/>
                          <a:cs typeface="Arial"/>
                        </a:rPr>
                        <a:t>Payment_Type</a:t>
                      </a:r>
                      <a:endParaRPr sz="16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3175" algn="ctr">
                        <a:lnSpc>
                          <a:spcPct val="100000"/>
                        </a:lnSpc>
                        <a:spcBef>
                          <a:spcPts val="60"/>
                        </a:spcBef>
                      </a:pPr>
                      <a:r>
                        <a:rPr sz="1600" b="1" dirty="0">
                          <a:solidFill>
                            <a:schemeClr val="bg1"/>
                          </a:solidFill>
                          <a:latin typeface="Arial"/>
                          <a:cs typeface="Arial"/>
                        </a:rPr>
                        <a:t>Incoming</a:t>
                      </a:r>
                      <a:r>
                        <a:rPr sz="1600" b="1" spc="-55" dirty="0">
                          <a:solidFill>
                            <a:schemeClr val="bg1"/>
                          </a:solidFill>
                          <a:latin typeface="Arial"/>
                          <a:cs typeface="Arial"/>
                        </a:rPr>
                        <a:t> </a:t>
                      </a:r>
                      <a:r>
                        <a:rPr sz="1600" b="1" dirty="0">
                          <a:solidFill>
                            <a:schemeClr val="bg1"/>
                          </a:solidFill>
                          <a:latin typeface="Arial"/>
                          <a:cs typeface="Arial"/>
                        </a:rPr>
                        <a:t>/</a:t>
                      </a:r>
                      <a:r>
                        <a:rPr sz="1600" b="1" spc="-10" dirty="0">
                          <a:solidFill>
                            <a:schemeClr val="bg1"/>
                          </a:solidFill>
                          <a:latin typeface="Arial"/>
                          <a:cs typeface="Arial"/>
                        </a:rPr>
                        <a:t> Outbound</a:t>
                      </a:r>
                      <a:endParaRPr sz="16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gn="ctr">
                        <a:lnSpc>
                          <a:spcPct val="100000"/>
                        </a:lnSpc>
                        <a:spcBef>
                          <a:spcPts val="60"/>
                        </a:spcBef>
                      </a:pPr>
                      <a:r>
                        <a:rPr sz="1600" b="1" spc="-10" dirty="0">
                          <a:solidFill>
                            <a:schemeClr val="bg1"/>
                          </a:solidFill>
                          <a:latin typeface="Arial"/>
                          <a:cs typeface="Arial"/>
                        </a:rPr>
                        <a:t>Is_Bonus</a:t>
                      </a:r>
                      <a:endParaRPr sz="16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356388">
                <a:tc>
                  <a:txBody>
                    <a:bodyPr/>
                    <a:lstStyle/>
                    <a:p>
                      <a:pPr marL="635" algn="ctr">
                        <a:lnSpc>
                          <a:spcPts val="1175"/>
                        </a:lnSpc>
                        <a:spcBef>
                          <a:spcPts val="225"/>
                        </a:spcBef>
                      </a:pPr>
                      <a:r>
                        <a:rPr sz="1600" spc="-50" dirty="0">
                          <a:latin typeface="Arial MT"/>
                          <a:cs typeface="Arial MT"/>
                        </a:rPr>
                        <a:t>1</a:t>
                      </a:r>
                      <a:endParaRPr sz="16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5"/>
                        </a:lnSpc>
                        <a:spcBef>
                          <a:spcPts val="225"/>
                        </a:spcBef>
                      </a:pPr>
                      <a:r>
                        <a:rPr sz="1600" spc="-20" dirty="0">
                          <a:latin typeface="Arial MT"/>
                          <a:cs typeface="Arial MT"/>
                        </a:rPr>
                        <a:t>$530</a:t>
                      </a:r>
                      <a:endParaRPr sz="16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5"/>
                        </a:lnSpc>
                        <a:spcBef>
                          <a:spcPts val="225"/>
                        </a:spcBef>
                      </a:pPr>
                      <a:r>
                        <a:rPr sz="1600" spc="-10" dirty="0">
                          <a:latin typeface="Arial MT"/>
                          <a:cs typeface="Arial MT"/>
                        </a:rPr>
                        <a:t>Wired</a:t>
                      </a:r>
                      <a:endParaRPr sz="16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5"/>
                        </a:lnSpc>
                        <a:spcBef>
                          <a:spcPts val="225"/>
                        </a:spcBef>
                      </a:pPr>
                      <a:r>
                        <a:rPr sz="1600" spc="-10" dirty="0">
                          <a:latin typeface="Arial MT"/>
                          <a:cs typeface="Arial MT"/>
                        </a:rPr>
                        <a:t>Incoming</a:t>
                      </a:r>
                      <a:endParaRPr sz="16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5"/>
                        </a:lnSpc>
                        <a:spcBef>
                          <a:spcPts val="225"/>
                        </a:spcBef>
                      </a:pPr>
                      <a:r>
                        <a:rPr sz="1600" spc="-25" dirty="0">
                          <a:latin typeface="Arial MT"/>
                          <a:cs typeface="Arial MT"/>
                        </a:rPr>
                        <a:t>Yes</a:t>
                      </a:r>
                      <a:endParaRPr sz="16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356388">
                <a:tc>
                  <a:txBody>
                    <a:bodyPr/>
                    <a:lstStyle/>
                    <a:p>
                      <a:pPr marL="635" algn="ctr">
                        <a:lnSpc>
                          <a:spcPts val="1175"/>
                        </a:lnSpc>
                        <a:spcBef>
                          <a:spcPts val="225"/>
                        </a:spcBef>
                      </a:pPr>
                      <a:r>
                        <a:rPr sz="1600" spc="-50" dirty="0">
                          <a:latin typeface="Arial MT"/>
                          <a:cs typeface="Arial MT"/>
                        </a:rPr>
                        <a:t>2</a:t>
                      </a:r>
                      <a:endParaRPr sz="16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5"/>
                        </a:lnSpc>
                        <a:spcBef>
                          <a:spcPts val="225"/>
                        </a:spcBef>
                      </a:pPr>
                      <a:r>
                        <a:rPr sz="1600" spc="-20" dirty="0">
                          <a:latin typeface="Arial MT"/>
                          <a:cs typeface="Arial MT"/>
                        </a:rPr>
                        <a:t>$553</a:t>
                      </a:r>
                      <a:endParaRPr sz="16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5"/>
                        </a:lnSpc>
                        <a:spcBef>
                          <a:spcPts val="225"/>
                        </a:spcBef>
                      </a:pPr>
                      <a:r>
                        <a:rPr sz="1600" dirty="0">
                          <a:latin typeface="Arial MT"/>
                          <a:cs typeface="Arial MT"/>
                        </a:rPr>
                        <a:t>Credit</a:t>
                      </a:r>
                      <a:r>
                        <a:rPr sz="1600" spc="-55" dirty="0">
                          <a:latin typeface="Arial MT"/>
                          <a:cs typeface="Arial MT"/>
                        </a:rPr>
                        <a:t> </a:t>
                      </a:r>
                      <a:r>
                        <a:rPr sz="1600" spc="-20" dirty="0">
                          <a:latin typeface="Arial MT"/>
                          <a:cs typeface="Arial MT"/>
                        </a:rPr>
                        <a:t>Card</a:t>
                      </a:r>
                      <a:endParaRPr sz="16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ts val="1175"/>
                        </a:lnSpc>
                        <a:spcBef>
                          <a:spcPts val="225"/>
                        </a:spcBef>
                      </a:pPr>
                      <a:r>
                        <a:rPr sz="1600" spc="-10" dirty="0">
                          <a:latin typeface="Arial MT"/>
                          <a:cs typeface="Arial MT"/>
                        </a:rPr>
                        <a:t>Outbound</a:t>
                      </a:r>
                      <a:endParaRPr sz="16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5"/>
                        </a:lnSpc>
                        <a:spcBef>
                          <a:spcPts val="225"/>
                        </a:spcBef>
                      </a:pPr>
                      <a:r>
                        <a:rPr sz="1600" spc="-25" dirty="0">
                          <a:latin typeface="Arial MT"/>
                          <a:cs typeface="Arial MT"/>
                        </a:rPr>
                        <a:t>No</a:t>
                      </a:r>
                      <a:endParaRPr sz="16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356388">
                <a:tc>
                  <a:txBody>
                    <a:bodyPr/>
                    <a:lstStyle/>
                    <a:p>
                      <a:pPr marL="635" algn="ctr">
                        <a:lnSpc>
                          <a:spcPts val="1175"/>
                        </a:lnSpc>
                        <a:spcBef>
                          <a:spcPts val="225"/>
                        </a:spcBef>
                      </a:pPr>
                      <a:r>
                        <a:rPr sz="1600" spc="-50" dirty="0">
                          <a:latin typeface="Arial MT"/>
                          <a:cs typeface="Arial MT"/>
                        </a:rPr>
                        <a:t>3</a:t>
                      </a:r>
                      <a:endParaRPr sz="16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5"/>
                        </a:lnSpc>
                        <a:spcBef>
                          <a:spcPts val="225"/>
                        </a:spcBef>
                      </a:pPr>
                      <a:r>
                        <a:rPr sz="1600" spc="-20" dirty="0">
                          <a:latin typeface="Arial MT"/>
                          <a:cs typeface="Arial MT"/>
                        </a:rPr>
                        <a:t>$654</a:t>
                      </a:r>
                      <a:endParaRPr sz="16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5"/>
                        </a:lnSpc>
                        <a:spcBef>
                          <a:spcPts val="225"/>
                        </a:spcBef>
                      </a:pPr>
                      <a:r>
                        <a:rPr sz="1600" spc="-20" dirty="0">
                          <a:latin typeface="Arial MT"/>
                          <a:cs typeface="Arial MT"/>
                        </a:rPr>
                        <a:t>Cash</a:t>
                      </a:r>
                      <a:endParaRPr sz="16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5"/>
                        </a:lnSpc>
                        <a:spcBef>
                          <a:spcPts val="225"/>
                        </a:spcBef>
                      </a:pPr>
                      <a:r>
                        <a:rPr sz="1600" spc="-10" dirty="0">
                          <a:latin typeface="Arial MT"/>
                          <a:cs typeface="Arial MT"/>
                        </a:rPr>
                        <a:t>Incoming</a:t>
                      </a:r>
                      <a:endParaRPr sz="16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5"/>
                        </a:lnSpc>
                        <a:spcBef>
                          <a:spcPts val="225"/>
                        </a:spcBef>
                      </a:pPr>
                      <a:r>
                        <a:rPr sz="1600" spc="-25" dirty="0">
                          <a:latin typeface="Arial MT"/>
                          <a:cs typeface="Arial MT"/>
                        </a:rPr>
                        <a:t>No</a:t>
                      </a:r>
                      <a:endParaRPr sz="16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sp>
        <p:nvSpPr>
          <p:cNvPr id="5" name="object 5"/>
          <p:cNvSpPr txBox="1"/>
          <p:nvPr/>
        </p:nvSpPr>
        <p:spPr>
          <a:xfrm>
            <a:off x="1603790" y="3975946"/>
            <a:ext cx="4849705" cy="344475"/>
          </a:xfrm>
          <a:prstGeom prst="rect">
            <a:avLst/>
          </a:prstGeom>
        </p:spPr>
        <p:txBody>
          <a:bodyPr vert="horz" wrap="square" lIns="0" tIns="16087" rIns="0" bIns="0" rtlCol="0">
            <a:spAutoFit/>
          </a:bodyPr>
          <a:lstStyle/>
          <a:p>
            <a:pPr marL="16933">
              <a:spcBef>
                <a:spcPts val="127"/>
              </a:spcBef>
              <a:tabLst>
                <a:tab pos="473275" algn="l"/>
              </a:tabLst>
            </a:pPr>
            <a:r>
              <a:rPr sz="2133" b="1" spc="-33" dirty="0">
                <a:solidFill>
                  <a:srgbClr val="99D3FF"/>
                </a:solidFill>
                <a:latin typeface="Calibri"/>
                <a:cs typeface="Calibri"/>
              </a:rPr>
              <a:t>1.</a:t>
            </a:r>
            <a:r>
              <a:rPr sz="2133" b="1" dirty="0">
                <a:solidFill>
                  <a:srgbClr val="99D3FF"/>
                </a:solidFill>
                <a:latin typeface="Calibri"/>
                <a:cs typeface="Calibri"/>
              </a:rPr>
              <a:t>	</a:t>
            </a:r>
            <a:r>
              <a:rPr sz="2133" b="1" dirty="0">
                <a:solidFill>
                  <a:srgbClr val="D9D9D9"/>
                </a:solidFill>
                <a:latin typeface="Calibri"/>
                <a:cs typeface="Calibri"/>
              </a:rPr>
              <a:t>Eliminate</a:t>
            </a:r>
            <a:r>
              <a:rPr sz="2133" b="1" spc="-73" dirty="0">
                <a:solidFill>
                  <a:srgbClr val="D9D9D9"/>
                </a:solidFill>
                <a:latin typeface="Calibri"/>
                <a:cs typeface="Calibri"/>
              </a:rPr>
              <a:t> </a:t>
            </a:r>
            <a:r>
              <a:rPr sz="2133" b="1" dirty="0">
                <a:solidFill>
                  <a:srgbClr val="D9D9D9"/>
                </a:solidFill>
                <a:latin typeface="Calibri"/>
                <a:cs typeface="Calibri"/>
              </a:rPr>
              <a:t>them</a:t>
            </a:r>
            <a:r>
              <a:rPr sz="2133" b="1" spc="-27" dirty="0">
                <a:solidFill>
                  <a:srgbClr val="D9D9D9"/>
                </a:solidFill>
                <a:latin typeface="Calibri"/>
                <a:cs typeface="Calibri"/>
              </a:rPr>
              <a:t> </a:t>
            </a:r>
            <a:r>
              <a:rPr sz="2133" b="1" dirty="0">
                <a:solidFill>
                  <a:srgbClr val="D9D9D9"/>
                </a:solidFill>
                <a:latin typeface="Calibri"/>
                <a:cs typeface="Calibri"/>
              </a:rPr>
              <a:t>if</a:t>
            </a:r>
            <a:r>
              <a:rPr sz="2133" b="1" spc="-40" dirty="0">
                <a:solidFill>
                  <a:srgbClr val="D9D9D9"/>
                </a:solidFill>
                <a:latin typeface="Calibri"/>
                <a:cs typeface="Calibri"/>
              </a:rPr>
              <a:t> </a:t>
            </a:r>
            <a:r>
              <a:rPr sz="2133" b="1" dirty="0">
                <a:solidFill>
                  <a:srgbClr val="D9D9D9"/>
                </a:solidFill>
                <a:latin typeface="Calibri"/>
                <a:cs typeface="Calibri"/>
              </a:rPr>
              <a:t>they</a:t>
            </a:r>
            <a:r>
              <a:rPr sz="2133" b="1" spc="-27" dirty="0">
                <a:solidFill>
                  <a:srgbClr val="D9D9D9"/>
                </a:solidFill>
                <a:latin typeface="Calibri"/>
                <a:cs typeface="Calibri"/>
              </a:rPr>
              <a:t> </a:t>
            </a:r>
            <a:r>
              <a:rPr sz="2133" b="1" dirty="0">
                <a:solidFill>
                  <a:srgbClr val="D9D9D9"/>
                </a:solidFill>
                <a:latin typeface="Calibri"/>
                <a:cs typeface="Calibri"/>
              </a:rPr>
              <a:t>are</a:t>
            </a:r>
            <a:r>
              <a:rPr sz="2133" b="1" spc="-27" dirty="0">
                <a:solidFill>
                  <a:srgbClr val="D9D9D9"/>
                </a:solidFill>
                <a:latin typeface="Calibri"/>
                <a:cs typeface="Calibri"/>
              </a:rPr>
              <a:t> </a:t>
            </a:r>
            <a:r>
              <a:rPr sz="2133" b="1" dirty="0">
                <a:solidFill>
                  <a:srgbClr val="D9D9D9"/>
                </a:solidFill>
                <a:latin typeface="Calibri"/>
                <a:cs typeface="Calibri"/>
              </a:rPr>
              <a:t>not</a:t>
            </a:r>
            <a:r>
              <a:rPr sz="2133" b="1" spc="-40" dirty="0">
                <a:solidFill>
                  <a:srgbClr val="D9D9D9"/>
                </a:solidFill>
                <a:latin typeface="Calibri"/>
                <a:cs typeface="Calibri"/>
              </a:rPr>
              <a:t> </a:t>
            </a:r>
            <a:r>
              <a:rPr sz="2133" b="1" spc="-13" dirty="0">
                <a:solidFill>
                  <a:srgbClr val="D9D9D9"/>
                </a:solidFill>
                <a:latin typeface="Calibri"/>
                <a:cs typeface="Calibri"/>
              </a:rPr>
              <a:t>relevant</a:t>
            </a:r>
            <a:endParaRPr sz="2133">
              <a:latin typeface="Calibri"/>
              <a:cs typeface="Calibri"/>
            </a:endParaRPr>
          </a:p>
        </p:txBody>
      </p:sp>
      <p:sp>
        <p:nvSpPr>
          <p:cNvPr id="6" name="object 6"/>
          <p:cNvSpPr txBox="1"/>
          <p:nvPr/>
        </p:nvSpPr>
        <p:spPr>
          <a:xfrm>
            <a:off x="7294204" y="3953189"/>
            <a:ext cx="2986193" cy="344475"/>
          </a:xfrm>
          <a:prstGeom prst="rect">
            <a:avLst/>
          </a:prstGeom>
        </p:spPr>
        <p:txBody>
          <a:bodyPr vert="horz" wrap="square" lIns="0" tIns="16087" rIns="0" bIns="0" rtlCol="0">
            <a:spAutoFit/>
          </a:bodyPr>
          <a:lstStyle/>
          <a:p>
            <a:pPr marL="16933">
              <a:spcBef>
                <a:spcPts val="127"/>
              </a:spcBef>
            </a:pPr>
            <a:r>
              <a:rPr sz="2133" b="1" dirty="0">
                <a:solidFill>
                  <a:srgbClr val="A6A6A6"/>
                </a:solidFill>
                <a:latin typeface="Calibri"/>
                <a:cs typeface="Calibri"/>
              </a:rPr>
              <a:t>What</a:t>
            </a:r>
            <a:r>
              <a:rPr sz="2133" b="1" spc="-33" dirty="0">
                <a:solidFill>
                  <a:srgbClr val="A6A6A6"/>
                </a:solidFill>
                <a:latin typeface="Calibri"/>
                <a:cs typeface="Calibri"/>
              </a:rPr>
              <a:t> </a:t>
            </a:r>
            <a:r>
              <a:rPr sz="2133" b="1" dirty="0">
                <a:solidFill>
                  <a:srgbClr val="A6A6A6"/>
                </a:solidFill>
                <a:latin typeface="Calibri"/>
                <a:cs typeface="Calibri"/>
              </a:rPr>
              <a:t>if</a:t>
            </a:r>
            <a:r>
              <a:rPr sz="2133" b="1" spc="-20" dirty="0">
                <a:solidFill>
                  <a:srgbClr val="A6A6A6"/>
                </a:solidFill>
                <a:latin typeface="Calibri"/>
                <a:cs typeface="Calibri"/>
              </a:rPr>
              <a:t> </a:t>
            </a:r>
            <a:r>
              <a:rPr sz="2133" b="1" dirty="0">
                <a:solidFill>
                  <a:srgbClr val="A6A6A6"/>
                </a:solidFill>
                <a:latin typeface="Calibri"/>
                <a:cs typeface="Calibri"/>
              </a:rPr>
              <a:t>they</a:t>
            </a:r>
            <a:r>
              <a:rPr sz="2133" b="1" spc="-20" dirty="0">
                <a:solidFill>
                  <a:srgbClr val="A6A6A6"/>
                </a:solidFill>
                <a:latin typeface="Calibri"/>
                <a:cs typeface="Calibri"/>
              </a:rPr>
              <a:t> </a:t>
            </a:r>
            <a:r>
              <a:rPr sz="2133" b="1" dirty="0">
                <a:solidFill>
                  <a:srgbClr val="A6A6A6"/>
                </a:solidFill>
                <a:latin typeface="Calibri"/>
                <a:cs typeface="Calibri"/>
              </a:rPr>
              <a:t>are</a:t>
            </a:r>
            <a:r>
              <a:rPr sz="2133" b="1" spc="-27" dirty="0">
                <a:solidFill>
                  <a:srgbClr val="A6A6A6"/>
                </a:solidFill>
                <a:latin typeface="Calibri"/>
                <a:cs typeface="Calibri"/>
              </a:rPr>
              <a:t> </a:t>
            </a:r>
            <a:r>
              <a:rPr sz="2133" b="1" spc="-13" dirty="0">
                <a:solidFill>
                  <a:srgbClr val="A6A6A6"/>
                </a:solidFill>
                <a:latin typeface="Calibri"/>
                <a:cs typeface="Calibri"/>
              </a:rPr>
              <a:t>relevant?</a:t>
            </a:r>
            <a:endParaRPr sz="2133">
              <a:latin typeface="Calibri"/>
              <a:cs typeface="Calibri"/>
            </a:endParaRPr>
          </a:p>
        </p:txBody>
      </p:sp>
      <p:sp>
        <p:nvSpPr>
          <p:cNvPr id="7" name="object 7"/>
          <p:cNvSpPr txBox="1"/>
          <p:nvPr/>
        </p:nvSpPr>
        <p:spPr>
          <a:xfrm>
            <a:off x="1603790" y="4493769"/>
            <a:ext cx="4284980" cy="344475"/>
          </a:xfrm>
          <a:prstGeom prst="rect">
            <a:avLst/>
          </a:prstGeom>
        </p:spPr>
        <p:txBody>
          <a:bodyPr vert="horz" wrap="square" lIns="0" tIns="16087" rIns="0" bIns="0" rtlCol="0">
            <a:spAutoFit/>
          </a:bodyPr>
          <a:lstStyle/>
          <a:p>
            <a:pPr marL="16933">
              <a:spcBef>
                <a:spcPts val="127"/>
              </a:spcBef>
              <a:tabLst>
                <a:tab pos="473275" algn="l"/>
              </a:tabLst>
            </a:pPr>
            <a:r>
              <a:rPr sz="2133" b="1" spc="-33" dirty="0">
                <a:solidFill>
                  <a:srgbClr val="99D3FF"/>
                </a:solidFill>
                <a:latin typeface="Calibri"/>
                <a:cs typeface="Calibri"/>
              </a:rPr>
              <a:t>2.</a:t>
            </a:r>
            <a:r>
              <a:rPr sz="2133" b="1" dirty="0">
                <a:solidFill>
                  <a:srgbClr val="99D3FF"/>
                </a:solidFill>
                <a:latin typeface="Calibri"/>
                <a:cs typeface="Calibri"/>
              </a:rPr>
              <a:t>	</a:t>
            </a:r>
            <a:r>
              <a:rPr sz="2133" b="1" dirty="0">
                <a:solidFill>
                  <a:srgbClr val="D9D9D9"/>
                </a:solidFill>
                <a:latin typeface="Calibri"/>
                <a:cs typeface="Calibri"/>
              </a:rPr>
              <a:t>Leave</a:t>
            </a:r>
            <a:r>
              <a:rPr sz="2133" b="1" spc="-47" dirty="0">
                <a:solidFill>
                  <a:srgbClr val="D9D9D9"/>
                </a:solidFill>
                <a:latin typeface="Calibri"/>
                <a:cs typeface="Calibri"/>
              </a:rPr>
              <a:t> </a:t>
            </a:r>
            <a:r>
              <a:rPr sz="2133" b="1" dirty="0">
                <a:solidFill>
                  <a:srgbClr val="D9D9D9"/>
                </a:solidFill>
                <a:latin typeface="Calibri"/>
                <a:cs typeface="Calibri"/>
              </a:rPr>
              <a:t>them</a:t>
            </a:r>
            <a:r>
              <a:rPr sz="2133" b="1" spc="-33" dirty="0">
                <a:solidFill>
                  <a:srgbClr val="D9D9D9"/>
                </a:solidFill>
                <a:latin typeface="Calibri"/>
                <a:cs typeface="Calibri"/>
              </a:rPr>
              <a:t> </a:t>
            </a:r>
            <a:r>
              <a:rPr sz="2133" b="1" dirty="0">
                <a:solidFill>
                  <a:srgbClr val="D9D9D9"/>
                </a:solidFill>
                <a:latin typeface="Calibri"/>
                <a:cs typeface="Calibri"/>
              </a:rPr>
              <a:t>as</a:t>
            </a:r>
            <a:r>
              <a:rPr sz="2133" b="1" spc="-40" dirty="0">
                <a:solidFill>
                  <a:srgbClr val="D9D9D9"/>
                </a:solidFill>
                <a:latin typeface="Calibri"/>
                <a:cs typeface="Calibri"/>
              </a:rPr>
              <a:t> </a:t>
            </a:r>
            <a:r>
              <a:rPr sz="2133" b="1" dirty="0">
                <a:solidFill>
                  <a:srgbClr val="D9D9D9"/>
                </a:solidFill>
                <a:latin typeface="Calibri"/>
                <a:cs typeface="Calibri"/>
              </a:rPr>
              <a:t>they</a:t>
            </a:r>
            <a:r>
              <a:rPr sz="2133" b="1" spc="-20" dirty="0">
                <a:solidFill>
                  <a:srgbClr val="D9D9D9"/>
                </a:solidFill>
                <a:latin typeface="Calibri"/>
                <a:cs typeface="Calibri"/>
              </a:rPr>
              <a:t> </a:t>
            </a:r>
            <a:r>
              <a:rPr sz="2133" b="1" dirty="0">
                <a:solidFill>
                  <a:srgbClr val="D9D9D9"/>
                </a:solidFill>
                <a:latin typeface="Calibri"/>
                <a:cs typeface="Calibri"/>
              </a:rPr>
              <a:t>are</a:t>
            </a:r>
            <a:r>
              <a:rPr sz="2133" b="1" spc="-40" dirty="0">
                <a:solidFill>
                  <a:srgbClr val="D9D9D9"/>
                </a:solidFill>
                <a:latin typeface="Calibri"/>
                <a:cs typeface="Calibri"/>
              </a:rPr>
              <a:t> </a:t>
            </a:r>
            <a:r>
              <a:rPr sz="2133" b="1" dirty="0">
                <a:solidFill>
                  <a:srgbClr val="D9D9D9"/>
                </a:solidFill>
                <a:latin typeface="Calibri"/>
                <a:cs typeface="Calibri"/>
              </a:rPr>
              <a:t>in</a:t>
            </a:r>
            <a:r>
              <a:rPr sz="2133" b="1" spc="-33" dirty="0">
                <a:solidFill>
                  <a:srgbClr val="D9D9D9"/>
                </a:solidFill>
                <a:latin typeface="Calibri"/>
                <a:cs typeface="Calibri"/>
              </a:rPr>
              <a:t> </a:t>
            </a:r>
            <a:r>
              <a:rPr sz="2133" b="1" dirty="0">
                <a:solidFill>
                  <a:srgbClr val="D9D9D9"/>
                </a:solidFill>
                <a:latin typeface="Calibri"/>
                <a:cs typeface="Calibri"/>
              </a:rPr>
              <a:t>the</a:t>
            </a:r>
            <a:r>
              <a:rPr sz="2133" b="1" spc="-40" dirty="0">
                <a:solidFill>
                  <a:srgbClr val="D9D9D9"/>
                </a:solidFill>
                <a:latin typeface="Calibri"/>
                <a:cs typeface="Calibri"/>
              </a:rPr>
              <a:t> </a:t>
            </a:r>
            <a:r>
              <a:rPr sz="2133" b="1" spc="-27" dirty="0">
                <a:solidFill>
                  <a:srgbClr val="D9D9D9"/>
                </a:solidFill>
                <a:latin typeface="Calibri"/>
                <a:cs typeface="Calibri"/>
              </a:rPr>
              <a:t>fact</a:t>
            </a:r>
            <a:endParaRPr sz="2133">
              <a:latin typeface="Calibri"/>
              <a:cs typeface="Calibri"/>
            </a:endParaRPr>
          </a:p>
        </p:txBody>
      </p:sp>
      <p:sp>
        <p:nvSpPr>
          <p:cNvPr id="8" name="object 8"/>
          <p:cNvSpPr txBox="1"/>
          <p:nvPr/>
        </p:nvSpPr>
        <p:spPr>
          <a:xfrm>
            <a:off x="7294203" y="4493769"/>
            <a:ext cx="3268133" cy="344475"/>
          </a:xfrm>
          <a:prstGeom prst="rect">
            <a:avLst/>
          </a:prstGeom>
        </p:spPr>
        <p:txBody>
          <a:bodyPr vert="horz" wrap="square" lIns="0" tIns="16087" rIns="0" bIns="0" rtlCol="0">
            <a:spAutoFit/>
          </a:bodyPr>
          <a:lstStyle/>
          <a:p>
            <a:pPr marL="16933">
              <a:spcBef>
                <a:spcPts val="127"/>
              </a:spcBef>
            </a:pPr>
            <a:r>
              <a:rPr sz="2133" b="1" dirty="0">
                <a:solidFill>
                  <a:srgbClr val="A6A6A6"/>
                </a:solidFill>
                <a:latin typeface="Calibri"/>
                <a:cs typeface="Calibri"/>
              </a:rPr>
              <a:t>Long text</a:t>
            </a:r>
            <a:r>
              <a:rPr sz="2133" b="1" spc="-27" dirty="0">
                <a:solidFill>
                  <a:srgbClr val="A6A6A6"/>
                </a:solidFill>
                <a:latin typeface="Calibri"/>
                <a:cs typeface="Calibri"/>
              </a:rPr>
              <a:t> </a:t>
            </a:r>
            <a:r>
              <a:rPr sz="2133" b="1" dirty="0">
                <a:solidFill>
                  <a:srgbClr val="A6A6A6"/>
                </a:solidFill>
                <a:latin typeface="Calibri"/>
                <a:cs typeface="Calibri"/>
              </a:rPr>
              <a:t>values?</a:t>
            </a:r>
            <a:r>
              <a:rPr sz="2133" b="1" spc="-20" dirty="0">
                <a:solidFill>
                  <a:srgbClr val="A6A6A6"/>
                </a:solidFill>
                <a:latin typeface="Calibri"/>
                <a:cs typeface="Calibri"/>
              </a:rPr>
              <a:t> </a:t>
            </a:r>
            <a:r>
              <a:rPr sz="2133" b="1" dirty="0">
                <a:solidFill>
                  <a:srgbClr val="A6A6A6"/>
                </a:solidFill>
                <a:latin typeface="Calibri"/>
                <a:cs typeface="Calibri"/>
              </a:rPr>
              <a:t>Table</a:t>
            </a:r>
            <a:r>
              <a:rPr sz="2133" b="1" spc="-33" dirty="0">
                <a:solidFill>
                  <a:srgbClr val="A6A6A6"/>
                </a:solidFill>
                <a:latin typeface="Calibri"/>
                <a:cs typeface="Calibri"/>
              </a:rPr>
              <a:t> </a:t>
            </a:r>
            <a:r>
              <a:rPr sz="2133" b="1" spc="-27" dirty="0">
                <a:solidFill>
                  <a:srgbClr val="A6A6A6"/>
                </a:solidFill>
                <a:latin typeface="Calibri"/>
                <a:cs typeface="Calibri"/>
              </a:rPr>
              <a:t>size?</a:t>
            </a:r>
            <a:endParaRPr sz="2133">
              <a:latin typeface="Calibri"/>
              <a:cs typeface="Calibri"/>
            </a:endParaRPr>
          </a:p>
        </p:txBody>
      </p:sp>
      <p:sp>
        <p:nvSpPr>
          <p:cNvPr id="9" name="object 9"/>
          <p:cNvSpPr txBox="1"/>
          <p:nvPr/>
        </p:nvSpPr>
        <p:spPr>
          <a:xfrm>
            <a:off x="1612325" y="5011047"/>
            <a:ext cx="8122073" cy="344475"/>
          </a:xfrm>
          <a:prstGeom prst="rect">
            <a:avLst/>
          </a:prstGeom>
        </p:spPr>
        <p:txBody>
          <a:bodyPr vert="horz" wrap="square" lIns="0" tIns="16087" rIns="0" bIns="0" rtlCol="0">
            <a:spAutoFit/>
          </a:bodyPr>
          <a:lstStyle/>
          <a:p>
            <a:pPr marL="16933">
              <a:spcBef>
                <a:spcPts val="127"/>
              </a:spcBef>
              <a:tabLst>
                <a:tab pos="473275" algn="l"/>
                <a:tab pos="5723324" algn="l"/>
              </a:tabLst>
            </a:pPr>
            <a:r>
              <a:rPr sz="2133" b="1" spc="-33" dirty="0">
                <a:solidFill>
                  <a:srgbClr val="99D3FF"/>
                </a:solidFill>
                <a:latin typeface="Calibri"/>
                <a:cs typeface="Calibri"/>
              </a:rPr>
              <a:t>3.</a:t>
            </a:r>
            <a:r>
              <a:rPr sz="2133" b="1" dirty="0">
                <a:solidFill>
                  <a:srgbClr val="99D3FF"/>
                </a:solidFill>
                <a:latin typeface="Calibri"/>
                <a:cs typeface="Calibri"/>
              </a:rPr>
              <a:t>	</a:t>
            </a:r>
            <a:r>
              <a:rPr sz="2133" b="1" dirty="0">
                <a:solidFill>
                  <a:srgbClr val="D9D9D9"/>
                </a:solidFill>
                <a:latin typeface="Calibri"/>
                <a:cs typeface="Calibri"/>
              </a:rPr>
              <a:t>One</a:t>
            </a:r>
            <a:r>
              <a:rPr sz="2133" b="1" spc="-33" dirty="0">
                <a:solidFill>
                  <a:srgbClr val="D9D9D9"/>
                </a:solidFill>
                <a:latin typeface="Calibri"/>
                <a:cs typeface="Calibri"/>
              </a:rPr>
              <a:t> </a:t>
            </a:r>
            <a:r>
              <a:rPr sz="2133" b="1" dirty="0">
                <a:solidFill>
                  <a:srgbClr val="D9D9D9"/>
                </a:solidFill>
                <a:latin typeface="Calibri"/>
                <a:cs typeface="Calibri"/>
              </a:rPr>
              <a:t>Flag</a:t>
            </a:r>
            <a:r>
              <a:rPr sz="2133" b="1" spc="-40" dirty="0">
                <a:solidFill>
                  <a:srgbClr val="D9D9D9"/>
                </a:solidFill>
                <a:latin typeface="Calibri"/>
                <a:cs typeface="Calibri"/>
              </a:rPr>
              <a:t> </a:t>
            </a:r>
            <a:r>
              <a:rPr sz="2133" b="1" dirty="0">
                <a:solidFill>
                  <a:srgbClr val="D9D9D9"/>
                </a:solidFill>
                <a:latin typeface="Calibri"/>
                <a:cs typeface="Calibri"/>
              </a:rPr>
              <a:t>=&gt;</a:t>
            </a:r>
            <a:r>
              <a:rPr sz="2133" b="1" spc="-20" dirty="0">
                <a:solidFill>
                  <a:srgbClr val="D9D9D9"/>
                </a:solidFill>
                <a:latin typeface="Calibri"/>
                <a:cs typeface="Calibri"/>
              </a:rPr>
              <a:t> </a:t>
            </a:r>
            <a:r>
              <a:rPr sz="2133" b="1" dirty="0">
                <a:solidFill>
                  <a:srgbClr val="D9D9D9"/>
                </a:solidFill>
                <a:latin typeface="Calibri"/>
                <a:cs typeface="Calibri"/>
              </a:rPr>
              <a:t>One</a:t>
            </a:r>
            <a:r>
              <a:rPr sz="2133" b="1" spc="-33" dirty="0">
                <a:solidFill>
                  <a:srgbClr val="D9D9D9"/>
                </a:solidFill>
                <a:latin typeface="Calibri"/>
                <a:cs typeface="Calibri"/>
              </a:rPr>
              <a:t> </a:t>
            </a:r>
            <a:r>
              <a:rPr sz="2133" b="1" spc="-13" dirty="0">
                <a:solidFill>
                  <a:srgbClr val="D9D9D9"/>
                </a:solidFill>
                <a:latin typeface="Calibri"/>
                <a:cs typeface="Calibri"/>
              </a:rPr>
              <a:t>dimension</a:t>
            </a:r>
            <a:r>
              <a:rPr sz="2133" b="1" dirty="0">
                <a:solidFill>
                  <a:srgbClr val="D9D9D9"/>
                </a:solidFill>
                <a:latin typeface="Calibri"/>
                <a:cs typeface="Calibri"/>
              </a:rPr>
              <a:t>	</a:t>
            </a:r>
            <a:r>
              <a:rPr sz="2133" b="1" dirty="0">
                <a:solidFill>
                  <a:srgbClr val="A6A6A6"/>
                </a:solidFill>
                <a:latin typeface="Calibri"/>
                <a:cs typeface="Calibri"/>
              </a:rPr>
              <a:t>Very</a:t>
            </a:r>
            <a:r>
              <a:rPr sz="2133" b="1" spc="-40" dirty="0">
                <a:solidFill>
                  <a:srgbClr val="A6A6A6"/>
                </a:solidFill>
                <a:latin typeface="Calibri"/>
                <a:cs typeface="Calibri"/>
              </a:rPr>
              <a:t> </a:t>
            </a:r>
            <a:r>
              <a:rPr sz="2133" b="1" dirty="0">
                <a:solidFill>
                  <a:srgbClr val="A6A6A6"/>
                </a:solidFill>
                <a:latin typeface="Calibri"/>
                <a:cs typeface="Calibri"/>
              </a:rPr>
              <a:t>wide</a:t>
            </a:r>
            <a:r>
              <a:rPr sz="2133" b="1" spc="-47" dirty="0">
                <a:solidFill>
                  <a:srgbClr val="A6A6A6"/>
                </a:solidFill>
                <a:latin typeface="Calibri"/>
                <a:cs typeface="Calibri"/>
              </a:rPr>
              <a:t> </a:t>
            </a:r>
            <a:r>
              <a:rPr sz="2133" b="1" dirty="0">
                <a:solidFill>
                  <a:srgbClr val="A6A6A6"/>
                </a:solidFill>
                <a:latin typeface="Calibri"/>
                <a:cs typeface="Calibri"/>
              </a:rPr>
              <a:t>fact</a:t>
            </a:r>
            <a:r>
              <a:rPr sz="2133" b="1" spc="-33" dirty="0">
                <a:solidFill>
                  <a:srgbClr val="A6A6A6"/>
                </a:solidFill>
                <a:latin typeface="Calibri"/>
                <a:cs typeface="Calibri"/>
              </a:rPr>
              <a:t> </a:t>
            </a:r>
            <a:r>
              <a:rPr sz="2133" b="1" spc="-13" dirty="0">
                <a:solidFill>
                  <a:srgbClr val="A6A6A6"/>
                </a:solidFill>
                <a:latin typeface="Calibri"/>
                <a:cs typeface="Calibri"/>
              </a:rPr>
              <a:t>table?</a:t>
            </a:r>
            <a:endParaRPr sz="2133">
              <a:latin typeface="Calibri"/>
              <a:cs typeface="Calibri"/>
            </a:endParaRPr>
          </a:p>
        </p:txBody>
      </p:sp>
      <p:grpSp>
        <p:nvGrpSpPr>
          <p:cNvPr id="10" name="object 10"/>
          <p:cNvGrpSpPr/>
          <p:nvPr/>
        </p:nvGrpSpPr>
        <p:grpSpPr>
          <a:xfrm>
            <a:off x="3539743" y="5618479"/>
            <a:ext cx="4013200" cy="748453"/>
            <a:chOff x="2654807" y="4213859"/>
            <a:chExt cx="3009900" cy="561340"/>
          </a:xfrm>
        </p:grpSpPr>
        <p:pic>
          <p:nvPicPr>
            <p:cNvPr id="11" name="object 11"/>
            <p:cNvPicPr/>
            <p:nvPr/>
          </p:nvPicPr>
          <p:blipFill>
            <a:blip r:embed="rId3" cstate="print"/>
            <a:stretch>
              <a:fillRect/>
            </a:stretch>
          </p:blipFill>
          <p:spPr>
            <a:xfrm>
              <a:off x="2682239" y="4216907"/>
              <a:ext cx="2979419" cy="489204"/>
            </a:xfrm>
            <a:prstGeom prst="rect">
              <a:avLst/>
            </a:prstGeom>
          </p:spPr>
        </p:pic>
        <p:pic>
          <p:nvPicPr>
            <p:cNvPr id="12" name="object 12"/>
            <p:cNvPicPr/>
            <p:nvPr/>
          </p:nvPicPr>
          <p:blipFill>
            <a:blip r:embed="rId4" cstate="print"/>
            <a:stretch>
              <a:fillRect/>
            </a:stretch>
          </p:blipFill>
          <p:spPr>
            <a:xfrm>
              <a:off x="2654807" y="4213859"/>
              <a:ext cx="3009899" cy="560844"/>
            </a:xfrm>
            <a:prstGeom prst="rect">
              <a:avLst/>
            </a:prstGeom>
          </p:spPr>
        </p:pic>
      </p:grpSp>
      <p:sp>
        <p:nvSpPr>
          <p:cNvPr id="13" name="object 13"/>
          <p:cNvSpPr txBox="1"/>
          <p:nvPr/>
        </p:nvSpPr>
        <p:spPr>
          <a:xfrm>
            <a:off x="3658616" y="5678423"/>
            <a:ext cx="3814233" cy="415498"/>
          </a:xfrm>
          <a:prstGeom prst="rect">
            <a:avLst/>
          </a:prstGeom>
          <a:solidFill>
            <a:srgbClr val="383838"/>
          </a:solidFill>
          <a:ln w="38100">
            <a:solidFill>
              <a:srgbClr val="FFFFFF"/>
            </a:solidFill>
          </a:ln>
        </p:spPr>
        <p:txBody>
          <a:bodyPr vert="horz" wrap="square" lIns="0" tIns="45720" rIns="0" bIns="0" rtlCol="0">
            <a:spAutoFit/>
          </a:bodyPr>
          <a:lstStyle/>
          <a:p>
            <a:pPr marL="121070">
              <a:spcBef>
                <a:spcPts val="360"/>
              </a:spcBef>
            </a:pPr>
            <a:r>
              <a:rPr sz="2400" b="1" dirty="0">
                <a:solidFill>
                  <a:srgbClr val="D9D9D9"/>
                </a:solidFill>
                <a:latin typeface="Calibri"/>
                <a:cs typeface="Calibri"/>
              </a:rPr>
              <a:t>Alternative:</a:t>
            </a:r>
            <a:r>
              <a:rPr sz="2400" b="1" spc="-60" dirty="0">
                <a:solidFill>
                  <a:srgbClr val="D9D9D9"/>
                </a:solidFill>
                <a:latin typeface="Calibri"/>
                <a:cs typeface="Calibri"/>
              </a:rPr>
              <a:t> </a:t>
            </a:r>
            <a:r>
              <a:rPr sz="2400" b="1" dirty="0">
                <a:solidFill>
                  <a:srgbClr val="D9D9D9"/>
                </a:solidFill>
                <a:latin typeface="Calibri"/>
                <a:cs typeface="Calibri"/>
              </a:rPr>
              <a:t>Junk</a:t>
            </a:r>
            <a:r>
              <a:rPr sz="2400" b="1" spc="-40" dirty="0">
                <a:solidFill>
                  <a:srgbClr val="D9D9D9"/>
                </a:solidFill>
                <a:latin typeface="Calibri"/>
                <a:cs typeface="Calibri"/>
              </a:rPr>
              <a:t> </a:t>
            </a:r>
            <a:r>
              <a:rPr sz="2400" b="1" spc="-13" dirty="0">
                <a:solidFill>
                  <a:srgbClr val="D9D9D9"/>
                </a:solidFill>
                <a:latin typeface="Calibri"/>
                <a:cs typeface="Calibri"/>
              </a:rPr>
              <a:t>dimension</a:t>
            </a:r>
            <a:endParaRPr sz="2400">
              <a:latin typeface="Calibri"/>
              <a:cs typeface="Calibri"/>
            </a:endParaRPr>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57807" y="247904"/>
            <a:ext cx="9930384" cy="1702816"/>
          </a:xfrm>
          <a:prstGeom prst="rect">
            <a:avLst/>
          </a:prstGeom>
        </p:spPr>
      </p:pic>
      <p:sp>
        <p:nvSpPr>
          <p:cNvPr id="3" name="object 3"/>
          <p:cNvSpPr txBox="1">
            <a:spLocks noGrp="1"/>
          </p:cNvSpPr>
          <p:nvPr>
            <p:ph type="title"/>
          </p:nvPr>
        </p:nvSpPr>
        <p:spPr>
          <a:xfrm>
            <a:off x="1320800" y="548400"/>
            <a:ext cx="9811173" cy="1047296"/>
          </a:xfrm>
          <a:prstGeom prst="rect">
            <a:avLst/>
          </a:prstGeom>
          <a:noFill/>
          <a:ln w="9144">
            <a:noFill/>
          </a:ln>
        </p:spPr>
        <p:txBody>
          <a:bodyPr vert="horz" wrap="square" lIns="0" tIns="305647" rIns="0" bIns="0" rtlCol="0" anchor="ctr">
            <a:spAutoFit/>
          </a:bodyPr>
          <a:lstStyle/>
          <a:p>
            <a:pPr algn="ctr">
              <a:lnSpc>
                <a:spcPct val="100000"/>
              </a:lnSpc>
              <a:spcBef>
                <a:spcPts val="2407"/>
              </a:spcBef>
            </a:pPr>
            <a:r>
              <a:rPr lang="en-IN" sz="4800" dirty="0">
                <a:solidFill>
                  <a:schemeClr val="bg1"/>
                </a:solidFill>
                <a:latin typeface="+mn-lt"/>
              </a:rPr>
              <a:t>Junk</a:t>
            </a:r>
            <a:r>
              <a:rPr lang="en-IN" sz="4800" spc="-33" dirty="0">
                <a:solidFill>
                  <a:schemeClr val="bg1"/>
                </a:solidFill>
                <a:latin typeface="+mn-lt"/>
              </a:rPr>
              <a:t> </a:t>
            </a:r>
            <a:r>
              <a:rPr lang="en-IN" sz="4800" spc="-13" dirty="0">
                <a:solidFill>
                  <a:schemeClr val="bg1"/>
                </a:solidFill>
                <a:latin typeface="+mn-lt"/>
              </a:rPr>
              <a:t>dimensions</a:t>
            </a:r>
            <a:endParaRPr sz="4800" dirty="0"/>
          </a:p>
        </p:txBody>
      </p:sp>
      <p:grpSp>
        <p:nvGrpSpPr>
          <p:cNvPr id="4" name="object 4"/>
          <p:cNvGrpSpPr/>
          <p:nvPr/>
        </p:nvGrpSpPr>
        <p:grpSpPr>
          <a:xfrm>
            <a:off x="2503423" y="2422143"/>
            <a:ext cx="6728460" cy="2162387"/>
            <a:chOff x="1877567" y="1816607"/>
            <a:chExt cx="5046345" cy="1621790"/>
          </a:xfrm>
        </p:grpSpPr>
        <p:pic>
          <p:nvPicPr>
            <p:cNvPr id="5" name="object 5"/>
            <p:cNvPicPr/>
            <p:nvPr/>
          </p:nvPicPr>
          <p:blipFill>
            <a:blip r:embed="rId3" cstate="print"/>
            <a:stretch>
              <a:fillRect/>
            </a:stretch>
          </p:blipFill>
          <p:spPr>
            <a:xfrm>
              <a:off x="1920239" y="1816607"/>
              <a:ext cx="5003292" cy="1546859"/>
            </a:xfrm>
            <a:prstGeom prst="rect">
              <a:avLst/>
            </a:prstGeom>
          </p:spPr>
        </p:pic>
        <p:pic>
          <p:nvPicPr>
            <p:cNvPr id="6" name="object 6"/>
            <p:cNvPicPr/>
            <p:nvPr/>
          </p:nvPicPr>
          <p:blipFill>
            <a:blip r:embed="rId4" cstate="print"/>
            <a:stretch>
              <a:fillRect/>
            </a:stretch>
          </p:blipFill>
          <p:spPr>
            <a:xfrm>
              <a:off x="1877567" y="1909571"/>
              <a:ext cx="4751832" cy="1528571"/>
            </a:xfrm>
            <a:prstGeom prst="rect">
              <a:avLst/>
            </a:prstGeom>
          </p:spPr>
        </p:pic>
      </p:grpSp>
      <p:sp>
        <p:nvSpPr>
          <p:cNvPr id="7" name="object 7"/>
          <p:cNvSpPr txBox="1"/>
          <p:nvPr/>
        </p:nvSpPr>
        <p:spPr>
          <a:xfrm>
            <a:off x="2718815" y="2517543"/>
            <a:ext cx="6512560" cy="1822914"/>
          </a:xfrm>
          <a:prstGeom prst="rect">
            <a:avLst/>
          </a:prstGeom>
          <a:solidFill>
            <a:srgbClr val="383838"/>
          </a:solidFill>
          <a:ln w="38100">
            <a:solidFill>
              <a:srgbClr val="FFFFFF"/>
            </a:solidFill>
          </a:ln>
        </p:spPr>
        <p:txBody>
          <a:bodyPr vert="horz" wrap="square" lIns="0" tIns="179493" rIns="0" bIns="0" rtlCol="0">
            <a:spAutoFit/>
          </a:bodyPr>
          <a:lstStyle/>
          <a:p>
            <a:pPr marL="121070">
              <a:spcBef>
                <a:spcPts val="1413"/>
              </a:spcBef>
            </a:pPr>
            <a:r>
              <a:rPr sz="2667" b="1" u="sng" dirty="0">
                <a:solidFill>
                  <a:srgbClr val="D9D9D9"/>
                </a:solidFill>
                <a:uFill>
                  <a:solidFill>
                    <a:srgbClr val="D9D9D9"/>
                  </a:solidFill>
                </a:uFill>
                <a:latin typeface="Calibri"/>
                <a:cs typeface="Calibri"/>
              </a:rPr>
              <a:t>What</a:t>
            </a:r>
            <a:r>
              <a:rPr sz="2667" b="1" u="sng" spc="-27" dirty="0">
                <a:solidFill>
                  <a:srgbClr val="D9D9D9"/>
                </a:solidFill>
                <a:uFill>
                  <a:solidFill>
                    <a:srgbClr val="D9D9D9"/>
                  </a:solidFill>
                </a:uFill>
                <a:latin typeface="Calibri"/>
                <a:cs typeface="Calibri"/>
              </a:rPr>
              <a:t> </a:t>
            </a:r>
            <a:r>
              <a:rPr sz="2667" b="1" u="sng" dirty="0">
                <a:solidFill>
                  <a:srgbClr val="D9D9D9"/>
                </a:solidFill>
                <a:uFill>
                  <a:solidFill>
                    <a:srgbClr val="D9D9D9"/>
                  </a:solidFill>
                </a:uFill>
                <a:latin typeface="Calibri"/>
                <a:cs typeface="Calibri"/>
              </a:rPr>
              <a:t>is</a:t>
            </a:r>
            <a:r>
              <a:rPr sz="2667" b="1" u="sng" spc="-27" dirty="0">
                <a:solidFill>
                  <a:srgbClr val="D9D9D9"/>
                </a:solidFill>
                <a:uFill>
                  <a:solidFill>
                    <a:srgbClr val="D9D9D9"/>
                  </a:solidFill>
                </a:uFill>
                <a:latin typeface="Calibri"/>
                <a:cs typeface="Calibri"/>
              </a:rPr>
              <a:t> </a:t>
            </a:r>
            <a:r>
              <a:rPr sz="2667" b="1" u="sng" dirty="0">
                <a:solidFill>
                  <a:srgbClr val="D9D9D9"/>
                </a:solidFill>
                <a:uFill>
                  <a:solidFill>
                    <a:srgbClr val="D9D9D9"/>
                  </a:solidFill>
                </a:uFill>
                <a:latin typeface="Calibri"/>
                <a:cs typeface="Calibri"/>
              </a:rPr>
              <a:t>a junk</a:t>
            </a:r>
            <a:r>
              <a:rPr sz="2667" b="1" u="sng" spc="-20" dirty="0">
                <a:solidFill>
                  <a:srgbClr val="D9D9D9"/>
                </a:solidFill>
                <a:uFill>
                  <a:solidFill>
                    <a:srgbClr val="D9D9D9"/>
                  </a:solidFill>
                </a:uFill>
                <a:latin typeface="Calibri"/>
                <a:cs typeface="Calibri"/>
              </a:rPr>
              <a:t> </a:t>
            </a:r>
            <a:r>
              <a:rPr sz="2667" b="1" u="sng" spc="-13" dirty="0">
                <a:solidFill>
                  <a:srgbClr val="D9D9D9"/>
                </a:solidFill>
                <a:uFill>
                  <a:solidFill>
                    <a:srgbClr val="D9D9D9"/>
                  </a:solidFill>
                </a:uFill>
                <a:latin typeface="Calibri"/>
                <a:cs typeface="Calibri"/>
              </a:rPr>
              <a:t>dimension?</a:t>
            </a:r>
            <a:endParaRPr sz="2667" dirty="0">
              <a:latin typeface="Calibri"/>
              <a:cs typeface="Calibri"/>
            </a:endParaRPr>
          </a:p>
          <a:p>
            <a:pPr marL="121070">
              <a:spcBef>
                <a:spcPts val="1600"/>
              </a:spcBef>
            </a:pPr>
            <a:r>
              <a:rPr sz="2667" b="1" dirty="0">
                <a:solidFill>
                  <a:srgbClr val="D9D9D9"/>
                </a:solidFill>
                <a:latin typeface="Calibri"/>
                <a:cs typeface="Calibri"/>
              </a:rPr>
              <a:t>Dimension</a:t>
            </a:r>
            <a:r>
              <a:rPr sz="2667" b="1" spc="-60" dirty="0">
                <a:solidFill>
                  <a:srgbClr val="D9D9D9"/>
                </a:solidFill>
                <a:latin typeface="Calibri"/>
                <a:cs typeface="Calibri"/>
              </a:rPr>
              <a:t> </a:t>
            </a:r>
            <a:r>
              <a:rPr sz="2667" b="1" dirty="0">
                <a:solidFill>
                  <a:srgbClr val="D9D9D9"/>
                </a:solidFill>
                <a:latin typeface="Calibri"/>
                <a:cs typeface="Calibri"/>
              </a:rPr>
              <a:t>with</a:t>
            </a:r>
            <a:r>
              <a:rPr sz="2667" b="1" spc="-47" dirty="0">
                <a:solidFill>
                  <a:srgbClr val="D9D9D9"/>
                </a:solidFill>
                <a:latin typeface="Calibri"/>
                <a:cs typeface="Calibri"/>
              </a:rPr>
              <a:t> </a:t>
            </a:r>
            <a:r>
              <a:rPr sz="2667" b="1" dirty="0">
                <a:solidFill>
                  <a:srgbClr val="D9D9D9"/>
                </a:solidFill>
                <a:latin typeface="Calibri"/>
                <a:cs typeface="Calibri"/>
              </a:rPr>
              <a:t>various</a:t>
            </a:r>
            <a:r>
              <a:rPr sz="2667" b="1" spc="-20" dirty="0">
                <a:solidFill>
                  <a:srgbClr val="D9D9D9"/>
                </a:solidFill>
                <a:latin typeface="Calibri"/>
                <a:cs typeface="Calibri"/>
              </a:rPr>
              <a:t> </a:t>
            </a:r>
            <a:r>
              <a:rPr sz="2667" b="1" dirty="0">
                <a:solidFill>
                  <a:srgbClr val="D9D9D9"/>
                </a:solidFill>
                <a:latin typeface="Calibri"/>
                <a:cs typeface="Calibri"/>
              </a:rPr>
              <a:t>flags</a:t>
            </a:r>
            <a:r>
              <a:rPr sz="2667" b="1" spc="-13" dirty="0">
                <a:solidFill>
                  <a:srgbClr val="D9D9D9"/>
                </a:solidFill>
                <a:latin typeface="Calibri"/>
                <a:cs typeface="Calibri"/>
              </a:rPr>
              <a:t> </a:t>
            </a:r>
            <a:r>
              <a:rPr sz="2667" b="1" dirty="0">
                <a:solidFill>
                  <a:srgbClr val="D9D9D9"/>
                </a:solidFill>
                <a:latin typeface="Calibri"/>
                <a:cs typeface="Calibri"/>
              </a:rPr>
              <a:t>/</a:t>
            </a:r>
            <a:r>
              <a:rPr sz="2667" b="1" spc="-20" dirty="0">
                <a:solidFill>
                  <a:srgbClr val="D9D9D9"/>
                </a:solidFill>
                <a:latin typeface="Calibri"/>
                <a:cs typeface="Calibri"/>
              </a:rPr>
              <a:t> </a:t>
            </a:r>
            <a:r>
              <a:rPr sz="2667" b="1" spc="-13" dirty="0">
                <a:solidFill>
                  <a:srgbClr val="D9D9D9"/>
                </a:solidFill>
                <a:latin typeface="Calibri"/>
                <a:cs typeface="Calibri"/>
              </a:rPr>
              <a:t>indicators</a:t>
            </a:r>
            <a:endParaRPr sz="2667" dirty="0">
              <a:latin typeface="Calibri"/>
              <a:cs typeface="Calibri"/>
            </a:endParaRPr>
          </a:p>
          <a:p>
            <a:pPr marL="121070">
              <a:spcBef>
                <a:spcPts val="1600"/>
              </a:spcBef>
            </a:pPr>
            <a:r>
              <a:rPr sz="2667" b="1" dirty="0">
                <a:solidFill>
                  <a:srgbClr val="D9D9D9"/>
                </a:solidFill>
                <a:latin typeface="Calibri"/>
                <a:cs typeface="Calibri"/>
              </a:rPr>
              <a:t>with</a:t>
            </a:r>
            <a:r>
              <a:rPr sz="2667" b="1" spc="-40" dirty="0">
                <a:solidFill>
                  <a:srgbClr val="D9D9D9"/>
                </a:solidFill>
                <a:latin typeface="Calibri"/>
                <a:cs typeface="Calibri"/>
              </a:rPr>
              <a:t> </a:t>
            </a:r>
            <a:r>
              <a:rPr sz="2667" b="1" dirty="0">
                <a:solidFill>
                  <a:srgbClr val="D9D9D9"/>
                </a:solidFill>
                <a:latin typeface="Calibri"/>
                <a:cs typeface="Calibri"/>
              </a:rPr>
              <a:t>low</a:t>
            </a:r>
            <a:r>
              <a:rPr sz="2667" b="1" spc="-40" dirty="0">
                <a:solidFill>
                  <a:srgbClr val="D9D9D9"/>
                </a:solidFill>
                <a:latin typeface="Calibri"/>
                <a:cs typeface="Calibri"/>
              </a:rPr>
              <a:t> </a:t>
            </a:r>
            <a:r>
              <a:rPr sz="2667" b="1" spc="-13" dirty="0">
                <a:solidFill>
                  <a:srgbClr val="D9D9D9"/>
                </a:solidFill>
                <a:latin typeface="Calibri"/>
                <a:cs typeface="Calibri"/>
              </a:rPr>
              <a:t>cardinality</a:t>
            </a:r>
            <a:endParaRPr sz="2667" dirty="0">
              <a:latin typeface="Calibri"/>
              <a:cs typeface="Calibri"/>
            </a:endParaRPr>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57807" y="247904"/>
            <a:ext cx="9930384" cy="1702816"/>
          </a:xfrm>
          <a:prstGeom prst="rect">
            <a:avLst/>
          </a:prstGeom>
        </p:spPr>
      </p:pic>
      <p:sp>
        <p:nvSpPr>
          <p:cNvPr id="3" name="object 3"/>
          <p:cNvSpPr txBox="1">
            <a:spLocks noGrp="1"/>
          </p:cNvSpPr>
          <p:nvPr>
            <p:ph type="title"/>
          </p:nvPr>
        </p:nvSpPr>
        <p:spPr>
          <a:xfrm>
            <a:off x="1320800" y="548400"/>
            <a:ext cx="9811173" cy="1047296"/>
          </a:xfrm>
          <a:prstGeom prst="rect">
            <a:avLst/>
          </a:prstGeom>
          <a:noFill/>
          <a:ln w="9144">
            <a:noFill/>
          </a:ln>
        </p:spPr>
        <p:txBody>
          <a:bodyPr vert="horz" wrap="square" lIns="0" tIns="305647" rIns="0" bIns="0" rtlCol="0" anchor="ctr">
            <a:spAutoFit/>
          </a:bodyPr>
          <a:lstStyle/>
          <a:p>
            <a:pPr algn="ctr">
              <a:lnSpc>
                <a:spcPct val="100000"/>
              </a:lnSpc>
              <a:spcBef>
                <a:spcPts val="2407"/>
              </a:spcBef>
            </a:pPr>
            <a:r>
              <a:rPr lang="en-IN" sz="4800" dirty="0">
                <a:solidFill>
                  <a:schemeClr val="bg1"/>
                </a:solidFill>
                <a:latin typeface="+mn-lt"/>
              </a:rPr>
              <a:t>Junk</a:t>
            </a:r>
            <a:r>
              <a:rPr lang="en-IN" sz="4800" spc="-33" dirty="0">
                <a:solidFill>
                  <a:schemeClr val="bg1"/>
                </a:solidFill>
                <a:latin typeface="+mn-lt"/>
              </a:rPr>
              <a:t> </a:t>
            </a:r>
            <a:r>
              <a:rPr lang="en-IN" sz="4800" spc="-13" dirty="0">
                <a:solidFill>
                  <a:schemeClr val="bg1"/>
                </a:solidFill>
                <a:latin typeface="+mn-lt"/>
              </a:rPr>
              <a:t>dimensions</a:t>
            </a:r>
            <a:endParaRPr sz="4800" dirty="0"/>
          </a:p>
        </p:txBody>
      </p:sp>
      <p:grpSp>
        <p:nvGrpSpPr>
          <p:cNvPr id="4" name="object 4"/>
          <p:cNvGrpSpPr/>
          <p:nvPr/>
        </p:nvGrpSpPr>
        <p:grpSpPr>
          <a:xfrm>
            <a:off x="2503424" y="2422143"/>
            <a:ext cx="6780953" cy="2162387"/>
            <a:chOff x="1877567" y="1816607"/>
            <a:chExt cx="5085715" cy="1621790"/>
          </a:xfrm>
        </p:grpSpPr>
        <p:pic>
          <p:nvPicPr>
            <p:cNvPr id="5" name="object 5"/>
            <p:cNvPicPr/>
            <p:nvPr/>
          </p:nvPicPr>
          <p:blipFill>
            <a:blip r:embed="rId3" cstate="print"/>
            <a:stretch>
              <a:fillRect/>
            </a:stretch>
          </p:blipFill>
          <p:spPr>
            <a:xfrm>
              <a:off x="1920239" y="1816607"/>
              <a:ext cx="5003292" cy="1546859"/>
            </a:xfrm>
            <a:prstGeom prst="rect">
              <a:avLst/>
            </a:prstGeom>
          </p:spPr>
        </p:pic>
        <p:pic>
          <p:nvPicPr>
            <p:cNvPr id="6" name="object 6"/>
            <p:cNvPicPr/>
            <p:nvPr/>
          </p:nvPicPr>
          <p:blipFill>
            <a:blip r:embed="rId4" cstate="print"/>
            <a:stretch>
              <a:fillRect/>
            </a:stretch>
          </p:blipFill>
          <p:spPr>
            <a:xfrm>
              <a:off x="1877567" y="1909571"/>
              <a:ext cx="5085587" cy="1528571"/>
            </a:xfrm>
            <a:prstGeom prst="rect">
              <a:avLst/>
            </a:prstGeom>
          </p:spPr>
        </p:pic>
      </p:grpSp>
      <p:sp>
        <p:nvSpPr>
          <p:cNvPr id="7" name="object 7"/>
          <p:cNvSpPr txBox="1"/>
          <p:nvPr/>
        </p:nvSpPr>
        <p:spPr>
          <a:xfrm>
            <a:off x="2642615" y="2478023"/>
            <a:ext cx="6512560" cy="1822914"/>
          </a:xfrm>
          <a:prstGeom prst="rect">
            <a:avLst/>
          </a:prstGeom>
          <a:solidFill>
            <a:srgbClr val="383838"/>
          </a:solidFill>
          <a:ln w="38100">
            <a:solidFill>
              <a:srgbClr val="FFFFFF"/>
            </a:solidFill>
          </a:ln>
        </p:spPr>
        <p:txBody>
          <a:bodyPr vert="horz" wrap="square" lIns="0" tIns="179493" rIns="0" bIns="0" rtlCol="0">
            <a:spAutoFit/>
          </a:bodyPr>
          <a:lstStyle/>
          <a:p>
            <a:pPr marL="121070">
              <a:spcBef>
                <a:spcPts val="1413"/>
              </a:spcBef>
            </a:pPr>
            <a:r>
              <a:rPr sz="2667" b="1" u="sng" dirty="0">
                <a:solidFill>
                  <a:srgbClr val="D9D9D9"/>
                </a:solidFill>
                <a:uFill>
                  <a:solidFill>
                    <a:srgbClr val="D9D9D9"/>
                  </a:solidFill>
                </a:uFill>
                <a:latin typeface="Calibri"/>
                <a:cs typeface="Calibri"/>
              </a:rPr>
              <a:t>What</a:t>
            </a:r>
            <a:r>
              <a:rPr sz="2667" b="1" u="sng" spc="-27" dirty="0">
                <a:solidFill>
                  <a:srgbClr val="D9D9D9"/>
                </a:solidFill>
                <a:uFill>
                  <a:solidFill>
                    <a:srgbClr val="D9D9D9"/>
                  </a:solidFill>
                </a:uFill>
                <a:latin typeface="Calibri"/>
                <a:cs typeface="Calibri"/>
              </a:rPr>
              <a:t> </a:t>
            </a:r>
            <a:r>
              <a:rPr sz="2667" b="1" u="sng" dirty="0">
                <a:solidFill>
                  <a:srgbClr val="D9D9D9"/>
                </a:solidFill>
                <a:uFill>
                  <a:solidFill>
                    <a:srgbClr val="D9D9D9"/>
                  </a:solidFill>
                </a:uFill>
                <a:latin typeface="Calibri"/>
                <a:cs typeface="Calibri"/>
              </a:rPr>
              <a:t>is</a:t>
            </a:r>
            <a:r>
              <a:rPr sz="2667" b="1" u="sng" spc="-27" dirty="0">
                <a:solidFill>
                  <a:srgbClr val="D9D9D9"/>
                </a:solidFill>
                <a:uFill>
                  <a:solidFill>
                    <a:srgbClr val="D9D9D9"/>
                  </a:solidFill>
                </a:uFill>
                <a:latin typeface="Calibri"/>
                <a:cs typeface="Calibri"/>
              </a:rPr>
              <a:t> </a:t>
            </a:r>
            <a:r>
              <a:rPr sz="2667" b="1" u="sng" dirty="0">
                <a:solidFill>
                  <a:srgbClr val="D9D9D9"/>
                </a:solidFill>
                <a:uFill>
                  <a:solidFill>
                    <a:srgbClr val="D9D9D9"/>
                  </a:solidFill>
                </a:uFill>
                <a:latin typeface="Calibri"/>
                <a:cs typeface="Calibri"/>
              </a:rPr>
              <a:t>a junk</a:t>
            </a:r>
            <a:r>
              <a:rPr sz="2667" b="1" u="sng" spc="-20" dirty="0">
                <a:solidFill>
                  <a:srgbClr val="D9D9D9"/>
                </a:solidFill>
                <a:uFill>
                  <a:solidFill>
                    <a:srgbClr val="D9D9D9"/>
                  </a:solidFill>
                </a:uFill>
                <a:latin typeface="Calibri"/>
                <a:cs typeface="Calibri"/>
              </a:rPr>
              <a:t> </a:t>
            </a:r>
            <a:r>
              <a:rPr sz="2667" b="1" u="sng" spc="-13" dirty="0">
                <a:solidFill>
                  <a:srgbClr val="D9D9D9"/>
                </a:solidFill>
                <a:uFill>
                  <a:solidFill>
                    <a:srgbClr val="D9D9D9"/>
                  </a:solidFill>
                </a:uFill>
                <a:latin typeface="Calibri"/>
                <a:cs typeface="Calibri"/>
              </a:rPr>
              <a:t>dimension?</a:t>
            </a:r>
            <a:endParaRPr sz="2667">
              <a:latin typeface="Calibri"/>
              <a:cs typeface="Calibri"/>
            </a:endParaRPr>
          </a:p>
          <a:p>
            <a:pPr marL="121070">
              <a:spcBef>
                <a:spcPts val="1600"/>
              </a:spcBef>
            </a:pPr>
            <a:r>
              <a:rPr sz="2667" b="1" dirty="0">
                <a:solidFill>
                  <a:srgbClr val="D9D9D9"/>
                </a:solidFill>
                <a:latin typeface="Calibri"/>
                <a:cs typeface="Calibri"/>
              </a:rPr>
              <a:t>Like</a:t>
            </a:r>
            <a:r>
              <a:rPr sz="2667" b="1" spc="-40" dirty="0">
                <a:solidFill>
                  <a:srgbClr val="D9D9D9"/>
                </a:solidFill>
                <a:latin typeface="Calibri"/>
                <a:cs typeface="Calibri"/>
              </a:rPr>
              <a:t> </a:t>
            </a:r>
            <a:r>
              <a:rPr sz="2667" b="1" dirty="0">
                <a:solidFill>
                  <a:srgbClr val="D9D9D9"/>
                </a:solidFill>
                <a:latin typeface="Calibri"/>
                <a:cs typeface="Calibri"/>
              </a:rPr>
              <a:t>a</a:t>
            </a:r>
            <a:r>
              <a:rPr sz="2667" b="1" spc="-40" dirty="0">
                <a:solidFill>
                  <a:srgbClr val="D9D9D9"/>
                </a:solidFill>
                <a:latin typeface="Calibri"/>
                <a:cs typeface="Calibri"/>
              </a:rPr>
              <a:t> </a:t>
            </a:r>
            <a:r>
              <a:rPr sz="2667" b="1" dirty="0">
                <a:solidFill>
                  <a:srgbClr val="D9D9D9"/>
                </a:solidFill>
                <a:latin typeface="Calibri"/>
                <a:cs typeface="Calibri"/>
              </a:rPr>
              <a:t>box</a:t>
            </a:r>
            <a:r>
              <a:rPr sz="2667" b="1" spc="-33" dirty="0">
                <a:solidFill>
                  <a:srgbClr val="D9D9D9"/>
                </a:solidFill>
                <a:latin typeface="Calibri"/>
                <a:cs typeface="Calibri"/>
              </a:rPr>
              <a:t> </a:t>
            </a:r>
            <a:r>
              <a:rPr sz="2667" b="1" dirty="0">
                <a:solidFill>
                  <a:srgbClr val="D9D9D9"/>
                </a:solidFill>
                <a:latin typeface="Calibri"/>
                <a:cs typeface="Calibri"/>
              </a:rPr>
              <a:t>were</a:t>
            </a:r>
            <a:r>
              <a:rPr sz="2667" b="1" spc="-20" dirty="0">
                <a:solidFill>
                  <a:srgbClr val="D9D9D9"/>
                </a:solidFill>
                <a:latin typeface="Calibri"/>
                <a:cs typeface="Calibri"/>
              </a:rPr>
              <a:t> </a:t>
            </a:r>
            <a:r>
              <a:rPr sz="2667" b="1" dirty="0">
                <a:solidFill>
                  <a:srgbClr val="D9D9D9"/>
                </a:solidFill>
                <a:latin typeface="Calibri"/>
                <a:cs typeface="Calibri"/>
              </a:rPr>
              <a:t>we</a:t>
            </a:r>
            <a:r>
              <a:rPr sz="2667" b="1" spc="-33" dirty="0">
                <a:solidFill>
                  <a:srgbClr val="D9D9D9"/>
                </a:solidFill>
                <a:latin typeface="Calibri"/>
                <a:cs typeface="Calibri"/>
              </a:rPr>
              <a:t> </a:t>
            </a:r>
            <a:r>
              <a:rPr sz="2667" b="1" dirty="0">
                <a:solidFill>
                  <a:srgbClr val="D9D9D9"/>
                </a:solidFill>
                <a:latin typeface="Calibri"/>
                <a:cs typeface="Calibri"/>
              </a:rPr>
              <a:t>store</a:t>
            </a:r>
            <a:r>
              <a:rPr sz="2667" b="1" spc="-60" dirty="0">
                <a:solidFill>
                  <a:srgbClr val="D9D9D9"/>
                </a:solidFill>
                <a:latin typeface="Calibri"/>
                <a:cs typeface="Calibri"/>
              </a:rPr>
              <a:t> </a:t>
            </a:r>
            <a:r>
              <a:rPr sz="2667" b="1" dirty="0">
                <a:solidFill>
                  <a:srgbClr val="D9D9D9"/>
                </a:solidFill>
                <a:latin typeface="Calibri"/>
                <a:cs typeface="Calibri"/>
              </a:rPr>
              <a:t>items</a:t>
            </a:r>
            <a:r>
              <a:rPr sz="2667" b="1" spc="-53" dirty="0">
                <a:solidFill>
                  <a:srgbClr val="D9D9D9"/>
                </a:solidFill>
                <a:latin typeface="Calibri"/>
                <a:cs typeface="Calibri"/>
              </a:rPr>
              <a:t> </a:t>
            </a:r>
            <a:r>
              <a:rPr sz="2667" b="1" dirty="0">
                <a:solidFill>
                  <a:srgbClr val="D9D9D9"/>
                </a:solidFill>
                <a:latin typeface="Calibri"/>
                <a:cs typeface="Calibri"/>
              </a:rPr>
              <a:t>we</a:t>
            </a:r>
            <a:r>
              <a:rPr sz="2667" b="1" spc="-33" dirty="0">
                <a:solidFill>
                  <a:srgbClr val="D9D9D9"/>
                </a:solidFill>
                <a:latin typeface="Calibri"/>
                <a:cs typeface="Calibri"/>
              </a:rPr>
              <a:t> </a:t>
            </a:r>
            <a:r>
              <a:rPr sz="2667" b="1" dirty="0">
                <a:solidFill>
                  <a:srgbClr val="D9D9D9"/>
                </a:solidFill>
                <a:latin typeface="Calibri"/>
                <a:cs typeface="Calibri"/>
              </a:rPr>
              <a:t>need</a:t>
            </a:r>
            <a:r>
              <a:rPr sz="2667" b="1" spc="-33" dirty="0">
                <a:solidFill>
                  <a:srgbClr val="D9D9D9"/>
                </a:solidFill>
                <a:latin typeface="Calibri"/>
                <a:cs typeface="Calibri"/>
              </a:rPr>
              <a:t> but</a:t>
            </a:r>
            <a:endParaRPr sz="2667">
              <a:latin typeface="Calibri"/>
              <a:cs typeface="Calibri"/>
            </a:endParaRPr>
          </a:p>
          <a:p>
            <a:pPr marL="121070">
              <a:spcBef>
                <a:spcPts val="1600"/>
              </a:spcBef>
            </a:pPr>
            <a:r>
              <a:rPr sz="2667" b="1" dirty="0">
                <a:solidFill>
                  <a:srgbClr val="D9D9D9"/>
                </a:solidFill>
                <a:latin typeface="Calibri"/>
                <a:cs typeface="Calibri"/>
              </a:rPr>
              <a:t>have</a:t>
            </a:r>
            <a:r>
              <a:rPr sz="2667" b="1" spc="-40" dirty="0">
                <a:solidFill>
                  <a:srgbClr val="D9D9D9"/>
                </a:solidFill>
                <a:latin typeface="Calibri"/>
                <a:cs typeface="Calibri"/>
              </a:rPr>
              <a:t> </a:t>
            </a:r>
            <a:r>
              <a:rPr sz="2667" b="1" dirty="0">
                <a:solidFill>
                  <a:srgbClr val="D9D9D9"/>
                </a:solidFill>
                <a:latin typeface="Calibri"/>
                <a:cs typeface="Calibri"/>
              </a:rPr>
              <a:t>no</a:t>
            </a:r>
            <a:r>
              <a:rPr sz="2667" b="1" spc="-27" dirty="0">
                <a:solidFill>
                  <a:srgbClr val="D9D9D9"/>
                </a:solidFill>
                <a:latin typeface="Calibri"/>
                <a:cs typeface="Calibri"/>
              </a:rPr>
              <a:t> </a:t>
            </a:r>
            <a:r>
              <a:rPr sz="2667" b="1" dirty="0">
                <a:solidFill>
                  <a:srgbClr val="D9D9D9"/>
                </a:solidFill>
                <a:latin typeface="Calibri"/>
                <a:cs typeface="Calibri"/>
              </a:rPr>
              <a:t>separate</a:t>
            </a:r>
            <a:r>
              <a:rPr sz="2667" b="1" spc="-40" dirty="0">
                <a:solidFill>
                  <a:srgbClr val="D9D9D9"/>
                </a:solidFill>
                <a:latin typeface="Calibri"/>
                <a:cs typeface="Calibri"/>
              </a:rPr>
              <a:t> </a:t>
            </a:r>
            <a:r>
              <a:rPr sz="2667" b="1" dirty="0">
                <a:solidFill>
                  <a:srgbClr val="D9D9D9"/>
                </a:solidFill>
                <a:latin typeface="Calibri"/>
                <a:cs typeface="Calibri"/>
              </a:rPr>
              <a:t>storing</a:t>
            </a:r>
            <a:r>
              <a:rPr sz="2667" b="1" spc="-53" dirty="0">
                <a:solidFill>
                  <a:srgbClr val="D9D9D9"/>
                </a:solidFill>
                <a:latin typeface="Calibri"/>
                <a:cs typeface="Calibri"/>
              </a:rPr>
              <a:t> </a:t>
            </a:r>
            <a:r>
              <a:rPr sz="2667" b="1" spc="-13" dirty="0">
                <a:solidFill>
                  <a:srgbClr val="D9D9D9"/>
                </a:solidFill>
                <a:latin typeface="Calibri"/>
                <a:cs typeface="Calibri"/>
              </a:rPr>
              <a:t>location.</a:t>
            </a:r>
            <a:endParaRPr sz="2667">
              <a:latin typeface="Calibri"/>
              <a:cs typeface="Calibri"/>
            </a:endParaRPr>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57807" y="247904"/>
            <a:ext cx="9930384" cy="1702816"/>
          </a:xfrm>
          <a:prstGeom prst="rect">
            <a:avLst/>
          </a:prstGeom>
        </p:spPr>
      </p:pic>
      <p:sp>
        <p:nvSpPr>
          <p:cNvPr id="3" name="object 3"/>
          <p:cNvSpPr txBox="1">
            <a:spLocks noGrp="1"/>
          </p:cNvSpPr>
          <p:nvPr>
            <p:ph type="title"/>
          </p:nvPr>
        </p:nvSpPr>
        <p:spPr>
          <a:xfrm>
            <a:off x="1320800" y="548400"/>
            <a:ext cx="9811173" cy="1047296"/>
          </a:xfrm>
          <a:prstGeom prst="rect">
            <a:avLst/>
          </a:prstGeom>
          <a:noFill/>
          <a:ln w="9144">
            <a:noFill/>
          </a:ln>
        </p:spPr>
        <p:txBody>
          <a:bodyPr vert="horz" wrap="square" lIns="0" tIns="305647" rIns="0" bIns="0" rtlCol="0" anchor="ctr">
            <a:spAutoFit/>
          </a:bodyPr>
          <a:lstStyle/>
          <a:p>
            <a:pPr algn="ctr">
              <a:lnSpc>
                <a:spcPct val="100000"/>
              </a:lnSpc>
              <a:spcBef>
                <a:spcPts val="2407"/>
              </a:spcBef>
            </a:pPr>
            <a:r>
              <a:rPr lang="en-IN" sz="4800" dirty="0">
                <a:solidFill>
                  <a:schemeClr val="bg1"/>
                </a:solidFill>
                <a:latin typeface="+mn-lt"/>
              </a:rPr>
              <a:t>Junk</a:t>
            </a:r>
            <a:r>
              <a:rPr lang="en-IN" sz="4800" spc="-33" dirty="0">
                <a:solidFill>
                  <a:schemeClr val="bg1"/>
                </a:solidFill>
                <a:latin typeface="+mn-lt"/>
              </a:rPr>
              <a:t> </a:t>
            </a:r>
            <a:r>
              <a:rPr lang="en-IN" sz="4800" spc="-13" dirty="0">
                <a:solidFill>
                  <a:schemeClr val="bg1"/>
                </a:solidFill>
                <a:latin typeface="+mn-lt"/>
              </a:rPr>
              <a:t>dimensions</a:t>
            </a:r>
            <a:endParaRPr sz="4800" dirty="0"/>
          </a:p>
        </p:txBody>
      </p:sp>
      <p:grpSp>
        <p:nvGrpSpPr>
          <p:cNvPr id="4" name="object 4"/>
          <p:cNvGrpSpPr/>
          <p:nvPr/>
        </p:nvGrpSpPr>
        <p:grpSpPr>
          <a:xfrm>
            <a:off x="2391664" y="2359153"/>
            <a:ext cx="7608147" cy="2771985"/>
            <a:chOff x="1793748" y="1769364"/>
            <a:chExt cx="5706110" cy="2078989"/>
          </a:xfrm>
        </p:grpSpPr>
        <p:pic>
          <p:nvPicPr>
            <p:cNvPr id="5" name="object 5"/>
            <p:cNvPicPr/>
            <p:nvPr/>
          </p:nvPicPr>
          <p:blipFill>
            <a:blip r:embed="rId3" cstate="print"/>
            <a:stretch>
              <a:fillRect/>
            </a:stretch>
          </p:blipFill>
          <p:spPr>
            <a:xfrm>
              <a:off x="1836420" y="1769364"/>
              <a:ext cx="5663183" cy="2007108"/>
            </a:xfrm>
            <a:prstGeom prst="rect">
              <a:avLst/>
            </a:prstGeom>
          </p:spPr>
        </p:pic>
        <p:pic>
          <p:nvPicPr>
            <p:cNvPr id="6" name="object 6"/>
            <p:cNvPicPr/>
            <p:nvPr/>
          </p:nvPicPr>
          <p:blipFill>
            <a:blip r:embed="rId4" cstate="print"/>
            <a:stretch>
              <a:fillRect/>
            </a:stretch>
          </p:blipFill>
          <p:spPr>
            <a:xfrm>
              <a:off x="1793748" y="1862328"/>
              <a:ext cx="5695188" cy="1985772"/>
            </a:xfrm>
            <a:prstGeom prst="rect">
              <a:avLst/>
            </a:prstGeom>
          </p:spPr>
        </p:pic>
      </p:grpSp>
      <p:sp>
        <p:nvSpPr>
          <p:cNvPr id="7" name="object 7"/>
          <p:cNvSpPr txBox="1"/>
          <p:nvPr/>
        </p:nvSpPr>
        <p:spPr>
          <a:xfrm>
            <a:off x="2530856" y="2415031"/>
            <a:ext cx="7393093" cy="2373407"/>
          </a:xfrm>
          <a:prstGeom prst="rect">
            <a:avLst/>
          </a:prstGeom>
          <a:solidFill>
            <a:srgbClr val="383838"/>
          </a:solidFill>
          <a:ln w="38100">
            <a:solidFill>
              <a:srgbClr val="FFFFFF"/>
            </a:solidFill>
          </a:ln>
        </p:spPr>
        <p:txBody>
          <a:bodyPr vert="horz" wrap="square" lIns="0" tIns="177800" rIns="0" bIns="0" rtlCol="0">
            <a:spAutoFit/>
          </a:bodyPr>
          <a:lstStyle/>
          <a:p>
            <a:pPr marL="121917">
              <a:spcBef>
                <a:spcPts val="1400"/>
              </a:spcBef>
            </a:pPr>
            <a:r>
              <a:rPr sz="2667" b="1" u="sng" spc="-13" dirty="0">
                <a:solidFill>
                  <a:srgbClr val="D9D9D9"/>
                </a:solidFill>
                <a:uFill>
                  <a:solidFill>
                    <a:srgbClr val="D9D9D9"/>
                  </a:solidFill>
                </a:uFill>
                <a:latin typeface="Calibri"/>
                <a:cs typeface="Calibri"/>
              </a:rPr>
              <a:t>Note</a:t>
            </a:r>
            <a:r>
              <a:rPr sz="2667" b="1" spc="-13" dirty="0">
                <a:solidFill>
                  <a:srgbClr val="D9D9D9"/>
                </a:solidFill>
                <a:latin typeface="Calibri"/>
                <a:cs typeface="Calibri"/>
              </a:rPr>
              <a:t>:</a:t>
            </a:r>
            <a:endParaRPr sz="2667">
              <a:latin typeface="Calibri"/>
              <a:cs typeface="Calibri"/>
            </a:endParaRPr>
          </a:p>
          <a:p>
            <a:pPr marL="121917" marR="180335">
              <a:lnSpc>
                <a:spcPct val="150000"/>
              </a:lnSpc>
              <a:spcBef>
                <a:spcPts val="7"/>
              </a:spcBef>
            </a:pPr>
            <a:r>
              <a:rPr sz="2667" b="1" dirty="0">
                <a:solidFill>
                  <a:srgbClr val="D9D9D9"/>
                </a:solidFill>
                <a:latin typeface="Calibri"/>
                <a:cs typeface="Calibri"/>
              </a:rPr>
              <a:t>We</a:t>
            </a:r>
            <a:r>
              <a:rPr sz="2667" b="1" spc="-27" dirty="0">
                <a:solidFill>
                  <a:srgbClr val="D9D9D9"/>
                </a:solidFill>
                <a:latin typeface="Calibri"/>
                <a:cs typeface="Calibri"/>
              </a:rPr>
              <a:t> </a:t>
            </a:r>
            <a:r>
              <a:rPr sz="2667" b="1" dirty="0">
                <a:solidFill>
                  <a:srgbClr val="D9D9D9"/>
                </a:solidFill>
                <a:latin typeface="Calibri"/>
                <a:cs typeface="Calibri"/>
              </a:rPr>
              <a:t>call</a:t>
            </a:r>
            <a:r>
              <a:rPr sz="2667" b="1" spc="-33" dirty="0">
                <a:solidFill>
                  <a:srgbClr val="D9D9D9"/>
                </a:solidFill>
                <a:latin typeface="Calibri"/>
                <a:cs typeface="Calibri"/>
              </a:rPr>
              <a:t> </a:t>
            </a:r>
            <a:r>
              <a:rPr sz="2667" b="1" dirty="0">
                <a:solidFill>
                  <a:srgbClr val="D9D9D9"/>
                </a:solidFill>
                <a:latin typeface="Calibri"/>
                <a:cs typeface="Calibri"/>
              </a:rPr>
              <a:t>it</a:t>
            </a:r>
            <a:r>
              <a:rPr sz="2667" b="1" spc="-40" dirty="0">
                <a:solidFill>
                  <a:srgbClr val="D9D9D9"/>
                </a:solidFill>
                <a:latin typeface="Calibri"/>
                <a:cs typeface="Calibri"/>
              </a:rPr>
              <a:t> </a:t>
            </a:r>
            <a:r>
              <a:rPr sz="2667" b="1" dirty="0">
                <a:solidFill>
                  <a:srgbClr val="D9D9D9"/>
                </a:solidFill>
                <a:latin typeface="Calibri"/>
                <a:cs typeface="Calibri"/>
              </a:rPr>
              <a:t>"</a:t>
            </a:r>
            <a:r>
              <a:rPr sz="2667" b="1" i="1" dirty="0">
                <a:solidFill>
                  <a:srgbClr val="D9D9D9"/>
                </a:solidFill>
                <a:latin typeface="Calibri"/>
                <a:cs typeface="Calibri"/>
              </a:rPr>
              <a:t>junk</a:t>
            </a:r>
            <a:r>
              <a:rPr sz="2667" b="1" i="1" spc="-27" dirty="0">
                <a:solidFill>
                  <a:srgbClr val="D9D9D9"/>
                </a:solidFill>
                <a:latin typeface="Calibri"/>
                <a:cs typeface="Calibri"/>
              </a:rPr>
              <a:t> </a:t>
            </a:r>
            <a:r>
              <a:rPr sz="2667" b="1" i="1" dirty="0">
                <a:solidFill>
                  <a:srgbClr val="D9D9D9"/>
                </a:solidFill>
                <a:latin typeface="Calibri"/>
                <a:cs typeface="Calibri"/>
              </a:rPr>
              <a:t>dimension</a:t>
            </a:r>
            <a:r>
              <a:rPr sz="2667" b="1" dirty="0">
                <a:solidFill>
                  <a:srgbClr val="D9D9D9"/>
                </a:solidFill>
                <a:latin typeface="Calibri"/>
                <a:cs typeface="Calibri"/>
              </a:rPr>
              <a:t>"</a:t>
            </a:r>
            <a:r>
              <a:rPr sz="2667" b="1" spc="-73" dirty="0">
                <a:solidFill>
                  <a:srgbClr val="D9D9D9"/>
                </a:solidFill>
                <a:latin typeface="Calibri"/>
                <a:cs typeface="Calibri"/>
              </a:rPr>
              <a:t> </a:t>
            </a:r>
            <a:r>
              <a:rPr sz="2667" b="1" dirty="0">
                <a:solidFill>
                  <a:srgbClr val="D9D9D9"/>
                </a:solidFill>
                <a:latin typeface="Calibri"/>
                <a:cs typeface="Calibri"/>
              </a:rPr>
              <a:t>usually</a:t>
            </a:r>
            <a:r>
              <a:rPr sz="2667" b="1" spc="-33" dirty="0">
                <a:solidFill>
                  <a:srgbClr val="D9D9D9"/>
                </a:solidFill>
                <a:latin typeface="Calibri"/>
                <a:cs typeface="Calibri"/>
              </a:rPr>
              <a:t> </a:t>
            </a:r>
            <a:r>
              <a:rPr sz="2667" b="1" dirty="0">
                <a:solidFill>
                  <a:srgbClr val="D9D9D9"/>
                </a:solidFill>
                <a:latin typeface="Calibri"/>
                <a:cs typeface="Calibri"/>
              </a:rPr>
              <a:t>only</a:t>
            </a:r>
            <a:r>
              <a:rPr sz="2667" b="1" spc="-40" dirty="0">
                <a:solidFill>
                  <a:srgbClr val="D9D9D9"/>
                </a:solidFill>
                <a:latin typeface="Calibri"/>
                <a:cs typeface="Calibri"/>
              </a:rPr>
              <a:t> </a:t>
            </a:r>
            <a:r>
              <a:rPr sz="2667" b="1" spc="-13" dirty="0">
                <a:solidFill>
                  <a:srgbClr val="D9D9D9"/>
                </a:solidFill>
                <a:latin typeface="Calibri"/>
                <a:cs typeface="Calibri"/>
              </a:rPr>
              <a:t>internally. </a:t>
            </a:r>
            <a:r>
              <a:rPr sz="2667" b="1" dirty="0">
                <a:solidFill>
                  <a:srgbClr val="D9D9D9"/>
                </a:solidFill>
                <a:latin typeface="Calibri"/>
                <a:cs typeface="Calibri"/>
              </a:rPr>
              <a:t>Talking</a:t>
            </a:r>
            <a:r>
              <a:rPr sz="2667" b="1" spc="-60" dirty="0">
                <a:solidFill>
                  <a:srgbClr val="D9D9D9"/>
                </a:solidFill>
                <a:latin typeface="Calibri"/>
                <a:cs typeface="Calibri"/>
              </a:rPr>
              <a:t> </a:t>
            </a:r>
            <a:r>
              <a:rPr sz="2667" b="1" dirty="0">
                <a:solidFill>
                  <a:srgbClr val="D9D9D9"/>
                </a:solidFill>
                <a:latin typeface="Calibri"/>
                <a:cs typeface="Calibri"/>
              </a:rPr>
              <a:t>to</a:t>
            </a:r>
            <a:r>
              <a:rPr sz="2667" b="1" spc="-27" dirty="0">
                <a:solidFill>
                  <a:srgbClr val="D9D9D9"/>
                </a:solidFill>
                <a:latin typeface="Calibri"/>
                <a:cs typeface="Calibri"/>
              </a:rPr>
              <a:t> </a:t>
            </a:r>
            <a:r>
              <a:rPr sz="2667" b="1" dirty="0">
                <a:solidFill>
                  <a:srgbClr val="D9D9D9"/>
                </a:solidFill>
                <a:latin typeface="Calibri"/>
                <a:cs typeface="Calibri"/>
              </a:rPr>
              <a:t>business</a:t>
            </a:r>
            <a:r>
              <a:rPr sz="2667" b="1" spc="-60" dirty="0">
                <a:solidFill>
                  <a:srgbClr val="D9D9D9"/>
                </a:solidFill>
                <a:latin typeface="Calibri"/>
                <a:cs typeface="Calibri"/>
              </a:rPr>
              <a:t> </a:t>
            </a:r>
            <a:r>
              <a:rPr sz="2667" b="1" dirty="0">
                <a:solidFill>
                  <a:srgbClr val="D9D9D9"/>
                </a:solidFill>
                <a:latin typeface="Calibri"/>
                <a:cs typeface="Calibri"/>
              </a:rPr>
              <a:t>users</a:t>
            </a:r>
            <a:r>
              <a:rPr sz="2667" b="1" spc="-40" dirty="0">
                <a:solidFill>
                  <a:srgbClr val="D9D9D9"/>
                </a:solidFill>
                <a:latin typeface="Calibri"/>
                <a:cs typeface="Calibri"/>
              </a:rPr>
              <a:t> </a:t>
            </a:r>
            <a:r>
              <a:rPr sz="2667" b="1" dirty="0">
                <a:solidFill>
                  <a:srgbClr val="D9D9D9"/>
                </a:solidFill>
                <a:latin typeface="Calibri"/>
                <a:cs typeface="Calibri"/>
              </a:rPr>
              <a:t>we</a:t>
            </a:r>
            <a:r>
              <a:rPr sz="2667" b="1" spc="-27" dirty="0">
                <a:solidFill>
                  <a:srgbClr val="D9D9D9"/>
                </a:solidFill>
                <a:latin typeface="Calibri"/>
                <a:cs typeface="Calibri"/>
              </a:rPr>
              <a:t> </a:t>
            </a:r>
            <a:r>
              <a:rPr sz="2667" b="1" dirty="0">
                <a:solidFill>
                  <a:srgbClr val="D9D9D9"/>
                </a:solidFill>
                <a:latin typeface="Calibri"/>
                <a:cs typeface="Calibri"/>
              </a:rPr>
              <a:t>can</a:t>
            </a:r>
            <a:r>
              <a:rPr sz="2667" b="1" spc="-33" dirty="0">
                <a:solidFill>
                  <a:srgbClr val="D9D9D9"/>
                </a:solidFill>
                <a:latin typeface="Calibri"/>
                <a:cs typeface="Calibri"/>
              </a:rPr>
              <a:t> </a:t>
            </a:r>
            <a:r>
              <a:rPr sz="2667" b="1" dirty="0">
                <a:solidFill>
                  <a:srgbClr val="D9D9D9"/>
                </a:solidFill>
                <a:latin typeface="Calibri"/>
                <a:cs typeface="Calibri"/>
              </a:rPr>
              <a:t>refer</a:t>
            </a:r>
            <a:r>
              <a:rPr sz="2667" b="1" spc="-20" dirty="0">
                <a:solidFill>
                  <a:srgbClr val="D9D9D9"/>
                </a:solidFill>
                <a:latin typeface="Calibri"/>
                <a:cs typeface="Calibri"/>
              </a:rPr>
              <a:t> </a:t>
            </a:r>
            <a:r>
              <a:rPr sz="2667" b="1" dirty="0">
                <a:solidFill>
                  <a:srgbClr val="D9D9D9"/>
                </a:solidFill>
                <a:latin typeface="Calibri"/>
                <a:cs typeface="Calibri"/>
              </a:rPr>
              <a:t>to</a:t>
            </a:r>
            <a:r>
              <a:rPr sz="2667" b="1" spc="-27" dirty="0">
                <a:solidFill>
                  <a:srgbClr val="D9D9D9"/>
                </a:solidFill>
                <a:latin typeface="Calibri"/>
                <a:cs typeface="Calibri"/>
              </a:rPr>
              <a:t> </a:t>
            </a:r>
            <a:r>
              <a:rPr sz="2667" b="1" spc="-33" dirty="0">
                <a:solidFill>
                  <a:srgbClr val="D9D9D9"/>
                </a:solidFill>
                <a:latin typeface="Calibri"/>
                <a:cs typeface="Calibri"/>
              </a:rPr>
              <a:t>as </a:t>
            </a:r>
            <a:r>
              <a:rPr sz="2667" b="1" dirty="0">
                <a:solidFill>
                  <a:srgbClr val="D9D9D9"/>
                </a:solidFill>
                <a:latin typeface="Calibri"/>
                <a:cs typeface="Calibri"/>
              </a:rPr>
              <a:t>"</a:t>
            </a:r>
            <a:r>
              <a:rPr sz="2667" b="1" i="1" dirty="0">
                <a:solidFill>
                  <a:srgbClr val="D9D9D9"/>
                </a:solidFill>
                <a:latin typeface="Calibri"/>
                <a:cs typeface="Calibri"/>
              </a:rPr>
              <a:t>transactional</a:t>
            </a:r>
            <a:r>
              <a:rPr sz="2667" b="1" i="1" spc="-133" dirty="0">
                <a:solidFill>
                  <a:srgbClr val="D9D9D9"/>
                </a:solidFill>
                <a:latin typeface="Calibri"/>
                <a:cs typeface="Calibri"/>
              </a:rPr>
              <a:t> </a:t>
            </a:r>
            <a:r>
              <a:rPr sz="2667" b="1" i="1" dirty="0">
                <a:solidFill>
                  <a:srgbClr val="D9D9D9"/>
                </a:solidFill>
                <a:latin typeface="Calibri"/>
                <a:cs typeface="Calibri"/>
              </a:rPr>
              <a:t>indicator</a:t>
            </a:r>
            <a:r>
              <a:rPr sz="2667" b="1" i="1" spc="-120" dirty="0">
                <a:solidFill>
                  <a:srgbClr val="D9D9D9"/>
                </a:solidFill>
                <a:latin typeface="Calibri"/>
                <a:cs typeface="Calibri"/>
              </a:rPr>
              <a:t> </a:t>
            </a:r>
            <a:r>
              <a:rPr sz="2667" b="1" i="1" spc="-13" dirty="0">
                <a:solidFill>
                  <a:srgbClr val="D9D9D9"/>
                </a:solidFill>
                <a:latin typeface="Calibri"/>
                <a:cs typeface="Calibri"/>
              </a:rPr>
              <a:t>dimension</a:t>
            </a:r>
            <a:r>
              <a:rPr sz="2667" b="1" spc="-13" dirty="0">
                <a:solidFill>
                  <a:srgbClr val="D9D9D9"/>
                </a:solidFill>
                <a:latin typeface="Calibri"/>
                <a:cs typeface="Calibri"/>
              </a:rPr>
              <a:t>".</a:t>
            </a:r>
            <a:endParaRPr sz="2667">
              <a:latin typeface="Calibri"/>
              <a:cs typeface="Calibri"/>
            </a:endParaRPr>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57807" y="247904"/>
            <a:ext cx="9930384" cy="1702816"/>
          </a:xfrm>
          <a:prstGeom prst="rect">
            <a:avLst/>
          </a:prstGeom>
        </p:spPr>
      </p:pic>
      <p:sp>
        <p:nvSpPr>
          <p:cNvPr id="3" name="object 3"/>
          <p:cNvSpPr txBox="1">
            <a:spLocks noGrp="1"/>
          </p:cNvSpPr>
          <p:nvPr>
            <p:ph type="title"/>
          </p:nvPr>
        </p:nvSpPr>
        <p:spPr>
          <a:xfrm>
            <a:off x="1320800" y="548400"/>
            <a:ext cx="9811173" cy="1047296"/>
          </a:xfrm>
          <a:prstGeom prst="rect">
            <a:avLst/>
          </a:prstGeom>
          <a:noFill/>
          <a:ln w="9144">
            <a:noFill/>
          </a:ln>
        </p:spPr>
        <p:txBody>
          <a:bodyPr vert="horz" wrap="square" lIns="0" tIns="305647" rIns="0" bIns="0" rtlCol="0" anchor="ctr">
            <a:spAutoFit/>
          </a:bodyPr>
          <a:lstStyle/>
          <a:p>
            <a:pPr algn="ctr">
              <a:lnSpc>
                <a:spcPct val="100000"/>
              </a:lnSpc>
              <a:spcBef>
                <a:spcPts val="2407"/>
              </a:spcBef>
            </a:pPr>
            <a:r>
              <a:rPr lang="en-IN" sz="4800" dirty="0">
                <a:solidFill>
                  <a:schemeClr val="bg1"/>
                </a:solidFill>
                <a:latin typeface="+mn-lt"/>
              </a:rPr>
              <a:t>Junk</a:t>
            </a:r>
            <a:r>
              <a:rPr lang="en-IN" sz="4800" spc="-33" dirty="0">
                <a:solidFill>
                  <a:schemeClr val="bg1"/>
                </a:solidFill>
                <a:latin typeface="+mn-lt"/>
              </a:rPr>
              <a:t> </a:t>
            </a:r>
            <a:r>
              <a:rPr lang="en-IN" sz="4800" spc="-13" dirty="0">
                <a:solidFill>
                  <a:schemeClr val="bg1"/>
                </a:solidFill>
                <a:latin typeface="+mn-lt"/>
              </a:rPr>
              <a:t>dimensions</a:t>
            </a:r>
            <a:endParaRPr sz="4800" dirty="0"/>
          </a:p>
        </p:txBody>
      </p:sp>
      <p:graphicFrame>
        <p:nvGraphicFramePr>
          <p:cNvPr id="4" name="object 4"/>
          <p:cNvGraphicFramePr>
            <a:graphicFrameLocks noGrp="1"/>
          </p:cNvGraphicFramePr>
          <p:nvPr>
            <p:extLst>
              <p:ext uri="{D42A27DB-BD31-4B8C-83A1-F6EECF244321}">
                <p14:modId xmlns:p14="http://schemas.microsoft.com/office/powerpoint/2010/main" val="1590611735"/>
              </p:ext>
            </p:extLst>
          </p:nvPr>
        </p:nvGraphicFramePr>
        <p:xfrm>
          <a:off x="2478598" y="2223750"/>
          <a:ext cx="7907793" cy="1205250"/>
        </p:xfrm>
        <a:graphic>
          <a:graphicData uri="http://schemas.openxmlformats.org/drawingml/2006/table">
            <a:tbl>
              <a:tblPr firstRow="1" bandRow="1">
                <a:tableStyleId>{2D5ABB26-0587-4C30-8999-92F81FD0307C}</a:tableStyleId>
              </a:tblPr>
              <a:tblGrid>
                <a:gridCol w="1457051">
                  <a:extLst>
                    <a:ext uri="{9D8B030D-6E8A-4147-A177-3AD203B41FA5}">
                      <a16:colId xmlns:a16="http://schemas.microsoft.com/office/drawing/2014/main" val="20000"/>
                    </a:ext>
                  </a:extLst>
                </a:gridCol>
                <a:gridCol w="1001054">
                  <a:extLst>
                    <a:ext uri="{9D8B030D-6E8A-4147-A177-3AD203B41FA5}">
                      <a16:colId xmlns:a16="http://schemas.microsoft.com/office/drawing/2014/main" val="20001"/>
                    </a:ext>
                  </a:extLst>
                </a:gridCol>
                <a:gridCol w="1703751">
                  <a:extLst>
                    <a:ext uri="{9D8B030D-6E8A-4147-A177-3AD203B41FA5}">
                      <a16:colId xmlns:a16="http://schemas.microsoft.com/office/drawing/2014/main" val="20002"/>
                    </a:ext>
                  </a:extLst>
                </a:gridCol>
                <a:gridCol w="2142825">
                  <a:extLst>
                    <a:ext uri="{9D8B030D-6E8A-4147-A177-3AD203B41FA5}">
                      <a16:colId xmlns:a16="http://schemas.microsoft.com/office/drawing/2014/main" val="20003"/>
                    </a:ext>
                  </a:extLst>
                </a:gridCol>
                <a:gridCol w="1603112">
                  <a:extLst>
                    <a:ext uri="{9D8B030D-6E8A-4147-A177-3AD203B41FA5}">
                      <a16:colId xmlns:a16="http://schemas.microsoft.com/office/drawing/2014/main" val="20004"/>
                    </a:ext>
                  </a:extLst>
                </a:gridCol>
              </a:tblGrid>
              <a:tr h="275751">
                <a:tc>
                  <a:txBody>
                    <a:bodyPr/>
                    <a:lstStyle/>
                    <a:p>
                      <a:pPr marL="1270" algn="ctr">
                        <a:lnSpc>
                          <a:spcPct val="100000"/>
                        </a:lnSpc>
                        <a:spcBef>
                          <a:spcPts val="60"/>
                        </a:spcBef>
                      </a:pPr>
                      <a:r>
                        <a:rPr sz="1400" b="1" spc="-10" dirty="0">
                          <a:solidFill>
                            <a:schemeClr val="bg1"/>
                          </a:solidFill>
                          <a:latin typeface="Arial"/>
                          <a:cs typeface="Arial"/>
                        </a:rPr>
                        <a:t>Transaction_PK</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gn="ctr">
                        <a:lnSpc>
                          <a:spcPct val="100000"/>
                        </a:lnSpc>
                        <a:spcBef>
                          <a:spcPts val="60"/>
                        </a:spcBef>
                      </a:pPr>
                      <a:r>
                        <a:rPr sz="1400" b="1" spc="-10" dirty="0">
                          <a:solidFill>
                            <a:schemeClr val="bg1"/>
                          </a:solidFill>
                          <a:latin typeface="Arial"/>
                          <a:cs typeface="Arial"/>
                        </a:rPr>
                        <a:t>Amount</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gn="ctr">
                        <a:lnSpc>
                          <a:spcPct val="100000"/>
                        </a:lnSpc>
                        <a:spcBef>
                          <a:spcPts val="60"/>
                        </a:spcBef>
                      </a:pPr>
                      <a:r>
                        <a:rPr sz="1400" b="1" spc="-10" dirty="0">
                          <a:solidFill>
                            <a:schemeClr val="bg1"/>
                          </a:solidFill>
                          <a:latin typeface="Arial"/>
                          <a:cs typeface="Arial"/>
                        </a:rPr>
                        <a:t>Payment_Type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3175" algn="ctr">
                        <a:lnSpc>
                          <a:spcPct val="100000"/>
                        </a:lnSpc>
                        <a:spcBef>
                          <a:spcPts val="60"/>
                        </a:spcBef>
                      </a:pPr>
                      <a:r>
                        <a:rPr sz="1400" b="1" dirty="0">
                          <a:solidFill>
                            <a:schemeClr val="bg1"/>
                          </a:solidFill>
                          <a:latin typeface="Arial"/>
                          <a:cs typeface="Arial"/>
                        </a:rPr>
                        <a:t>Incoming</a:t>
                      </a:r>
                      <a:r>
                        <a:rPr sz="1400" b="1" spc="-55" dirty="0">
                          <a:solidFill>
                            <a:schemeClr val="bg1"/>
                          </a:solidFill>
                          <a:latin typeface="Arial"/>
                          <a:cs typeface="Arial"/>
                        </a:rPr>
                        <a:t> </a:t>
                      </a:r>
                      <a:r>
                        <a:rPr sz="1400" b="1" dirty="0">
                          <a:solidFill>
                            <a:schemeClr val="bg1"/>
                          </a:solidFill>
                          <a:latin typeface="Arial"/>
                          <a:cs typeface="Arial"/>
                        </a:rPr>
                        <a:t>/</a:t>
                      </a:r>
                      <a:r>
                        <a:rPr sz="1400" b="1" spc="-10" dirty="0">
                          <a:solidFill>
                            <a:schemeClr val="bg1"/>
                          </a:solidFill>
                          <a:latin typeface="Arial"/>
                          <a:cs typeface="Arial"/>
                        </a:rPr>
                        <a:t> Outbound</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gn="ctr">
                        <a:lnSpc>
                          <a:spcPct val="100000"/>
                        </a:lnSpc>
                        <a:spcBef>
                          <a:spcPts val="60"/>
                        </a:spcBef>
                      </a:pPr>
                      <a:r>
                        <a:rPr sz="1400" b="1" spc="-10" dirty="0">
                          <a:solidFill>
                            <a:schemeClr val="bg1"/>
                          </a:solidFill>
                          <a:latin typeface="Arial"/>
                          <a:cs typeface="Arial"/>
                        </a:rPr>
                        <a:t>Is_Bonus</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309833">
                <a:tc>
                  <a:txBody>
                    <a:bodyPr/>
                    <a:lstStyle/>
                    <a:p>
                      <a:pPr marL="635"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20" dirty="0">
                          <a:latin typeface="Arial MT"/>
                          <a:cs typeface="Arial MT"/>
                        </a:rPr>
                        <a:t>$530</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Wired</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10" dirty="0">
                          <a:latin typeface="Arial MT"/>
                          <a:cs typeface="Arial MT"/>
                        </a:rPr>
                        <a:t>Incoming</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25" dirty="0">
                          <a:latin typeface="Arial MT"/>
                          <a:cs typeface="Arial MT"/>
                        </a:rPr>
                        <a:t>Yes</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309833">
                <a:tc>
                  <a:txBody>
                    <a:bodyPr/>
                    <a:lstStyle/>
                    <a:p>
                      <a:pPr marL="635"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20" dirty="0">
                          <a:latin typeface="Arial MT"/>
                          <a:cs typeface="Arial MT"/>
                        </a:rPr>
                        <a:t>$553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dirty="0">
                          <a:latin typeface="Arial MT"/>
                          <a:cs typeface="Arial MT"/>
                        </a:rPr>
                        <a:t>Credit</a:t>
                      </a:r>
                      <a:r>
                        <a:rPr sz="1400" spc="-55" dirty="0">
                          <a:latin typeface="Arial MT"/>
                          <a:cs typeface="Arial MT"/>
                        </a:rPr>
                        <a:t> </a:t>
                      </a:r>
                      <a:r>
                        <a:rPr sz="1400" spc="-20" dirty="0">
                          <a:latin typeface="Arial MT"/>
                          <a:cs typeface="Arial MT"/>
                        </a:rPr>
                        <a:t>Card</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10" dirty="0">
                          <a:latin typeface="Arial MT"/>
                          <a:cs typeface="Arial MT"/>
                        </a:rPr>
                        <a:t>Outbound</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25" dirty="0">
                          <a:latin typeface="Arial MT"/>
                          <a:cs typeface="Arial MT"/>
                        </a:rPr>
                        <a:t>No</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309833">
                <a:tc>
                  <a:txBody>
                    <a:bodyPr/>
                    <a:lstStyle/>
                    <a:p>
                      <a:pPr marL="635" algn="ctr">
                        <a:lnSpc>
                          <a:spcPct val="10000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20" dirty="0">
                          <a:latin typeface="Arial MT"/>
                          <a:cs typeface="Arial MT"/>
                        </a:rPr>
                        <a:t>$654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20" dirty="0">
                          <a:latin typeface="Arial MT"/>
                          <a:cs typeface="Arial MT"/>
                        </a:rPr>
                        <a:t>Cash</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10" dirty="0">
                          <a:latin typeface="Arial MT"/>
                          <a:cs typeface="Arial MT"/>
                        </a:rPr>
                        <a:t>Incoming</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25" dirty="0">
                          <a:latin typeface="Arial MT"/>
                          <a:cs typeface="Arial MT"/>
                        </a:rPr>
                        <a:t>No</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graphicFrame>
        <p:nvGraphicFramePr>
          <p:cNvPr id="5" name="object 5"/>
          <p:cNvGraphicFramePr>
            <a:graphicFrameLocks noGrp="1"/>
          </p:cNvGraphicFramePr>
          <p:nvPr>
            <p:extLst>
              <p:ext uri="{D42A27DB-BD31-4B8C-83A1-F6EECF244321}">
                <p14:modId xmlns:p14="http://schemas.microsoft.com/office/powerpoint/2010/main" val="2451962797"/>
              </p:ext>
            </p:extLst>
          </p:nvPr>
        </p:nvGraphicFramePr>
        <p:xfrm>
          <a:off x="3407832" y="3702030"/>
          <a:ext cx="5613031" cy="1101139"/>
        </p:xfrm>
        <a:graphic>
          <a:graphicData uri="http://schemas.openxmlformats.org/drawingml/2006/table">
            <a:tbl>
              <a:tblPr firstRow="1" bandRow="1">
                <a:tableStyleId>{2D5ABB26-0587-4C30-8999-92F81FD0307C}</a:tableStyleId>
              </a:tblPr>
              <a:tblGrid>
                <a:gridCol w="1964244">
                  <a:extLst>
                    <a:ext uri="{9D8B030D-6E8A-4147-A177-3AD203B41FA5}">
                      <a16:colId xmlns:a16="http://schemas.microsoft.com/office/drawing/2014/main" val="20000"/>
                    </a:ext>
                  </a:extLst>
                </a:gridCol>
                <a:gridCol w="1350359">
                  <a:extLst>
                    <a:ext uri="{9D8B030D-6E8A-4147-A177-3AD203B41FA5}">
                      <a16:colId xmlns:a16="http://schemas.microsoft.com/office/drawing/2014/main" val="20001"/>
                    </a:ext>
                  </a:extLst>
                </a:gridCol>
                <a:gridCol w="2298428">
                  <a:extLst>
                    <a:ext uri="{9D8B030D-6E8A-4147-A177-3AD203B41FA5}">
                      <a16:colId xmlns:a16="http://schemas.microsoft.com/office/drawing/2014/main" val="20002"/>
                    </a:ext>
                  </a:extLst>
                </a:gridCol>
              </a:tblGrid>
              <a:tr h="251203">
                <a:tc>
                  <a:txBody>
                    <a:bodyPr/>
                    <a:lstStyle/>
                    <a:p>
                      <a:pPr algn="ctr">
                        <a:lnSpc>
                          <a:spcPct val="100000"/>
                        </a:lnSpc>
                        <a:spcBef>
                          <a:spcPts val="65"/>
                        </a:spcBef>
                      </a:pPr>
                      <a:r>
                        <a:rPr sz="1400" b="1" spc="-10" dirty="0">
                          <a:solidFill>
                            <a:schemeClr val="bg1"/>
                          </a:solidFill>
                          <a:latin typeface="Arial"/>
                          <a:cs typeface="Arial"/>
                        </a:rPr>
                        <a:t>Transaction_PK</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270" algn="ctr">
                        <a:lnSpc>
                          <a:spcPct val="100000"/>
                        </a:lnSpc>
                        <a:spcBef>
                          <a:spcPts val="65"/>
                        </a:spcBef>
                      </a:pPr>
                      <a:r>
                        <a:rPr sz="1400" b="1" spc="-10" dirty="0">
                          <a:solidFill>
                            <a:schemeClr val="bg1"/>
                          </a:solidFill>
                          <a:latin typeface="Arial"/>
                          <a:cs typeface="Arial"/>
                        </a:rPr>
                        <a:t>Amount</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270" algn="ctr">
                        <a:lnSpc>
                          <a:spcPct val="100000"/>
                        </a:lnSpc>
                        <a:spcBef>
                          <a:spcPts val="65"/>
                        </a:spcBef>
                      </a:pPr>
                      <a:r>
                        <a:rPr sz="1400" b="1" spc="-10" dirty="0">
                          <a:solidFill>
                            <a:schemeClr val="bg1"/>
                          </a:solidFill>
                          <a:latin typeface="Arial"/>
                          <a:cs typeface="Arial"/>
                        </a:rPr>
                        <a:t>Transactional_Flag_FK</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83312">
                <a:tc>
                  <a:txBody>
                    <a:bodyPr/>
                    <a:lstStyle/>
                    <a:p>
                      <a:pPr marL="1270" algn="ctr">
                        <a:lnSpc>
                          <a:spcPct val="100000"/>
                        </a:lnSpc>
                        <a:spcBef>
                          <a:spcPts val="229"/>
                        </a:spcBef>
                      </a:pPr>
                      <a:r>
                        <a:rPr sz="1400" spc="-50" dirty="0">
                          <a:latin typeface="Arial MT"/>
                          <a:cs typeface="Arial MT"/>
                        </a:rPr>
                        <a:t>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spc="-20" dirty="0">
                          <a:latin typeface="Arial MT"/>
                          <a:cs typeface="Arial MT"/>
                        </a:rPr>
                        <a:t>$530</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spc="-50" dirty="0">
                          <a:latin typeface="Arial MT"/>
                          <a:cs typeface="Arial MT"/>
                        </a:rPr>
                        <a:t>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83312">
                <a:tc>
                  <a:txBody>
                    <a:bodyPr/>
                    <a:lstStyle/>
                    <a:p>
                      <a:pPr marL="1270" algn="ctr">
                        <a:lnSpc>
                          <a:spcPct val="100000"/>
                        </a:lnSpc>
                        <a:spcBef>
                          <a:spcPts val="229"/>
                        </a:spcBef>
                      </a:pPr>
                      <a:r>
                        <a:rPr sz="1400" spc="-50" dirty="0">
                          <a:latin typeface="Arial MT"/>
                          <a:cs typeface="Arial MT"/>
                        </a:rPr>
                        <a:t>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spc="-20" dirty="0">
                          <a:latin typeface="Arial MT"/>
                          <a:cs typeface="Arial MT"/>
                        </a:rPr>
                        <a:t>$553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spc="-50" dirty="0">
                          <a:latin typeface="Arial MT"/>
                          <a:cs typeface="Arial MT"/>
                        </a:rPr>
                        <a:t>7</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83312">
                <a:tc>
                  <a:txBody>
                    <a:bodyPr/>
                    <a:lstStyle/>
                    <a:p>
                      <a:pPr marL="1270" algn="ctr">
                        <a:lnSpc>
                          <a:spcPct val="10000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20" dirty="0">
                          <a:latin typeface="Arial MT"/>
                          <a:cs typeface="Arial MT"/>
                        </a:rPr>
                        <a:t>$654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25" dirty="0">
                          <a:latin typeface="Arial MT"/>
                          <a:cs typeface="Arial MT"/>
                        </a:rPr>
                        <a:t>12</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graphicFrame>
        <p:nvGraphicFramePr>
          <p:cNvPr id="6" name="object 6"/>
          <p:cNvGraphicFramePr>
            <a:graphicFrameLocks noGrp="1"/>
          </p:cNvGraphicFramePr>
          <p:nvPr>
            <p:extLst>
              <p:ext uri="{D42A27DB-BD31-4B8C-83A1-F6EECF244321}">
                <p14:modId xmlns:p14="http://schemas.microsoft.com/office/powerpoint/2010/main" val="519062257"/>
              </p:ext>
            </p:extLst>
          </p:nvPr>
        </p:nvGraphicFramePr>
        <p:xfrm>
          <a:off x="3344333" y="5037836"/>
          <a:ext cx="5740031" cy="1572261"/>
        </p:xfrm>
        <a:graphic>
          <a:graphicData uri="http://schemas.openxmlformats.org/drawingml/2006/table">
            <a:tbl>
              <a:tblPr firstRow="1" bandRow="1">
                <a:tableStyleId>{2D5ABB26-0587-4C30-8999-92F81FD0307C}</a:tableStyleId>
              </a:tblPr>
              <a:tblGrid>
                <a:gridCol w="1367476">
                  <a:extLst>
                    <a:ext uri="{9D8B030D-6E8A-4147-A177-3AD203B41FA5}">
                      <a16:colId xmlns:a16="http://schemas.microsoft.com/office/drawing/2014/main" val="20000"/>
                    </a:ext>
                  </a:extLst>
                </a:gridCol>
                <a:gridCol w="1367476">
                  <a:extLst>
                    <a:ext uri="{9D8B030D-6E8A-4147-A177-3AD203B41FA5}">
                      <a16:colId xmlns:a16="http://schemas.microsoft.com/office/drawing/2014/main" val="20001"/>
                    </a:ext>
                  </a:extLst>
                </a:gridCol>
                <a:gridCol w="1719086">
                  <a:extLst>
                    <a:ext uri="{9D8B030D-6E8A-4147-A177-3AD203B41FA5}">
                      <a16:colId xmlns:a16="http://schemas.microsoft.com/office/drawing/2014/main" val="20002"/>
                    </a:ext>
                  </a:extLst>
                </a:gridCol>
                <a:gridCol w="1285993">
                  <a:extLst>
                    <a:ext uri="{9D8B030D-6E8A-4147-A177-3AD203B41FA5}">
                      <a16:colId xmlns:a16="http://schemas.microsoft.com/office/drawing/2014/main" val="20003"/>
                    </a:ext>
                  </a:extLst>
                </a:gridCol>
              </a:tblGrid>
              <a:tr h="474057">
                <a:tc>
                  <a:txBody>
                    <a:bodyPr/>
                    <a:lstStyle/>
                    <a:p>
                      <a:pPr>
                        <a:lnSpc>
                          <a:spcPct val="100000"/>
                        </a:lnSpc>
                        <a:spcBef>
                          <a:spcPts val="114"/>
                        </a:spcBef>
                      </a:pPr>
                      <a:endParaRPr sz="1400" dirty="0">
                        <a:solidFill>
                          <a:schemeClr val="bg1"/>
                        </a:solidFill>
                        <a:latin typeface="Times New Roman"/>
                        <a:cs typeface="Times New Roman"/>
                      </a:endParaRPr>
                    </a:p>
                    <a:p>
                      <a:pPr algn="ctr">
                        <a:lnSpc>
                          <a:spcPct val="100000"/>
                        </a:lnSpc>
                      </a:pPr>
                      <a:r>
                        <a:rPr sz="1400" b="1" spc="-10" dirty="0">
                          <a:solidFill>
                            <a:schemeClr val="bg1"/>
                          </a:solidFill>
                          <a:latin typeface="Arial"/>
                          <a:cs typeface="Arial"/>
                        </a:rPr>
                        <a:t>Flag_PK</a:t>
                      </a:r>
                      <a:endParaRPr sz="1400" dirty="0">
                        <a:solidFill>
                          <a:schemeClr val="bg1"/>
                        </a:solidFill>
                        <a:latin typeface="Arial"/>
                        <a:cs typeface="Arial"/>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nSpc>
                          <a:spcPct val="100000"/>
                        </a:lnSpc>
                        <a:spcBef>
                          <a:spcPts val="114"/>
                        </a:spcBef>
                      </a:pPr>
                      <a:endParaRPr sz="1400" dirty="0">
                        <a:solidFill>
                          <a:schemeClr val="bg1"/>
                        </a:solidFill>
                        <a:latin typeface="Times New Roman"/>
                        <a:cs typeface="Times New Roman"/>
                      </a:endParaRPr>
                    </a:p>
                    <a:p>
                      <a:pPr algn="ctr">
                        <a:lnSpc>
                          <a:spcPct val="100000"/>
                        </a:lnSpc>
                      </a:pPr>
                      <a:r>
                        <a:rPr sz="1400" b="1" spc="-10" dirty="0">
                          <a:solidFill>
                            <a:schemeClr val="bg1"/>
                          </a:solidFill>
                          <a:latin typeface="Arial"/>
                          <a:cs typeface="Arial"/>
                        </a:rPr>
                        <a:t>Payment_Type</a:t>
                      </a:r>
                      <a:endParaRPr sz="1400" dirty="0">
                        <a:solidFill>
                          <a:schemeClr val="bg1"/>
                        </a:solidFill>
                        <a:latin typeface="Arial"/>
                        <a:cs typeface="Arial"/>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296545" marR="276225" indent="-12700">
                        <a:lnSpc>
                          <a:spcPct val="100000"/>
                        </a:lnSpc>
                      </a:pPr>
                      <a:r>
                        <a:rPr sz="1400" b="1" dirty="0">
                          <a:solidFill>
                            <a:schemeClr val="bg1"/>
                          </a:solidFill>
                          <a:latin typeface="Arial"/>
                          <a:cs typeface="Arial"/>
                        </a:rPr>
                        <a:t>Incoming</a:t>
                      </a:r>
                      <a:r>
                        <a:rPr sz="1400" b="1" spc="-60" dirty="0">
                          <a:solidFill>
                            <a:schemeClr val="bg1"/>
                          </a:solidFill>
                          <a:latin typeface="Arial"/>
                          <a:cs typeface="Arial"/>
                        </a:rPr>
                        <a:t> </a:t>
                      </a:r>
                      <a:r>
                        <a:rPr sz="1400" b="1" spc="-50" dirty="0">
                          <a:solidFill>
                            <a:schemeClr val="bg1"/>
                          </a:solidFill>
                          <a:latin typeface="Arial"/>
                          <a:cs typeface="Arial"/>
                        </a:rPr>
                        <a:t>/ </a:t>
                      </a:r>
                      <a:r>
                        <a:rPr sz="1400" b="1" spc="-10" dirty="0">
                          <a:solidFill>
                            <a:schemeClr val="bg1"/>
                          </a:solidFill>
                          <a:latin typeface="Arial"/>
                          <a:cs typeface="Arial"/>
                        </a:rPr>
                        <a:t>Outbound</a:t>
                      </a:r>
                      <a:endParaRPr sz="1400" dirty="0">
                        <a:solidFill>
                          <a:schemeClr val="bg1"/>
                        </a:solidFill>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nSpc>
                          <a:spcPct val="100000"/>
                        </a:lnSpc>
                        <a:spcBef>
                          <a:spcPts val="114"/>
                        </a:spcBef>
                      </a:pPr>
                      <a:endParaRPr sz="1400" dirty="0">
                        <a:solidFill>
                          <a:schemeClr val="bg1"/>
                        </a:solidFill>
                        <a:latin typeface="Times New Roman"/>
                        <a:cs typeface="Times New Roman"/>
                      </a:endParaRPr>
                    </a:p>
                    <a:p>
                      <a:pPr algn="ctr">
                        <a:lnSpc>
                          <a:spcPct val="100000"/>
                        </a:lnSpc>
                      </a:pPr>
                      <a:r>
                        <a:rPr sz="1400" b="1" spc="-10" dirty="0">
                          <a:solidFill>
                            <a:schemeClr val="bg1"/>
                          </a:solidFill>
                          <a:latin typeface="Arial"/>
                          <a:cs typeface="Arial"/>
                        </a:rPr>
                        <a:t>Is_Bonus</a:t>
                      </a:r>
                      <a:endParaRPr sz="1400" dirty="0">
                        <a:solidFill>
                          <a:schemeClr val="bg1"/>
                        </a:solidFill>
                        <a:latin typeface="Arial"/>
                        <a:cs typeface="Arial"/>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74551">
                <a:tc>
                  <a:txBody>
                    <a:bodyPr/>
                    <a:lstStyle/>
                    <a:p>
                      <a:pPr algn="ctr">
                        <a:lnSpc>
                          <a:spcPct val="100000"/>
                        </a:lnSpc>
                        <a:spcBef>
                          <a:spcPts val="229"/>
                        </a:spcBef>
                      </a:pPr>
                      <a:r>
                        <a:rPr sz="1400" spc="-50" dirty="0">
                          <a:latin typeface="Arial MT"/>
                          <a:cs typeface="Arial MT"/>
                        </a:rPr>
                        <a:t>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10" dirty="0">
                          <a:latin typeface="Arial MT"/>
                          <a:cs typeface="Arial MT"/>
                        </a:rPr>
                        <a:t>Wired</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10" dirty="0">
                          <a:latin typeface="Arial MT"/>
                          <a:cs typeface="Arial MT"/>
                        </a:rPr>
                        <a:t>Incoming</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spc="-25" dirty="0">
                          <a:latin typeface="Arial MT"/>
                          <a:cs typeface="Arial MT"/>
                        </a:rPr>
                        <a:t>Yes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74551">
                <a:tc>
                  <a:txBody>
                    <a:bodyPr/>
                    <a:lstStyle/>
                    <a:p>
                      <a:pPr algn="ctr">
                        <a:lnSpc>
                          <a:spcPct val="100000"/>
                        </a:lnSpc>
                        <a:spcBef>
                          <a:spcPts val="229"/>
                        </a:spcBef>
                      </a:pPr>
                      <a:r>
                        <a:rPr sz="1400" spc="-50" dirty="0">
                          <a:latin typeface="Arial MT"/>
                          <a:cs typeface="Arial MT"/>
                        </a:rPr>
                        <a:t>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10" dirty="0">
                          <a:latin typeface="Arial MT"/>
                          <a:cs typeface="Arial MT"/>
                        </a:rPr>
                        <a:t>Wired</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10" dirty="0">
                          <a:latin typeface="Arial MT"/>
                          <a:cs typeface="Arial MT"/>
                        </a:rPr>
                        <a:t>Incoming</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spc="-25" dirty="0">
                          <a:latin typeface="Arial MT"/>
                          <a:cs typeface="Arial MT"/>
                        </a:rPr>
                        <a:t>No</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74551">
                <a:tc>
                  <a:txBody>
                    <a:bodyPr/>
                    <a:lstStyle/>
                    <a:p>
                      <a:pPr algn="ctr">
                        <a:lnSpc>
                          <a:spcPct val="10000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10" dirty="0">
                          <a:latin typeface="Arial MT"/>
                          <a:cs typeface="Arial MT"/>
                        </a:rPr>
                        <a:t>Wired</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10" dirty="0">
                          <a:latin typeface="Arial MT"/>
                          <a:cs typeface="Arial MT"/>
                        </a:rPr>
                        <a:t>Outbound</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spc="-25" dirty="0">
                          <a:latin typeface="Arial MT"/>
                          <a:cs typeface="Arial MT"/>
                        </a:rPr>
                        <a:t>Yes</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74551">
                <a:tc>
                  <a:txBody>
                    <a:bodyPr/>
                    <a:lstStyle/>
                    <a:p>
                      <a:pPr algn="ctr">
                        <a:lnSpc>
                          <a:spcPct val="100000"/>
                        </a:lnSpc>
                        <a:spcBef>
                          <a:spcPts val="229"/>
                        </a:spcBef>
                      </a:pPr>
                      <a:r>
                        <a:rPr sz="1400" spc="-50" dirty="0">
                          <a:latin typeface="Arial MT"/>
                          <a:cs typeface="Arial MT"/>
                        </a:rPr>
                        <a:t>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spc="-10" dirty="0">
                          <a:latin typeface="Arial MT"/>
                          <a:cs typeface="Arial MT"/>
                        </a:rPr>
                        <a:t>Wired</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10" dirty="0">
                          <a:latin typeface="Arial MT"/>
                          <a:cs typeface="Arial MT"/>
                        </a:rPr>
                        <a:t>Outbound</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spc="-25" dirty="0">
                          <a:latin typeface="Arial MT"/>
                          <a:cs typeface="Arial MT"/>
                        </a:rPr>
                        <a:t>No</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57807" y="247904"/>
            <a:ext cx="9930384" cy="1702816"/>
          </a:xfrm>
          <a:prstGeom prst="rect">
            <a:avLst/>
          </a:prstGeom>
        </p:spPr>
      </p:pic>
      <p:sp>
        <p:nvSpPr>
          <p:cNvPr id="3" name="object 3"/>
          <p:cNvSpPr txBox="1">
            <a:spLocks noGrp="1"/>
          </p:cNvSpPr>
          <p:nvPr>
            <p:ph type="title"/>
          </p:nvPr>
        </p:nvSpPr>
        <p:spPr>
          <a:xfrm>
            <a:off x="1320800" y="548400"/>
            <a:ext cx="9811173" cy="1047296"/>
          </a:xfrm>
          <a:prstGeom prst="rect">
            <a:avLst/>
          </a:prstGeom>
          <a:noFill/>
          <a:ln w="9144">
            <a:noFill/>
          </a:ln>
        </p:spPr>
        <p:txBody>
          <a:bodyPr vert="horz" wrap="square" lIns="0" tIns="305647" rIns="0" bIns="0" rtlCol="0" anchor="ctr">
            <a:spAutoFit/>
          </a:bodyPr>
          <a:lstStyle/>
          <a:p>
            <a:pPr algn="ctr">
              <a:lnSpc>
                <a:spcPct val="100000"/>
              </a:lnSpc>
              <a:spcBef>
                <a:spcPts val="2407"/>
              </a:spcBef>
            </a:pPr>
            <a:r>
              <a:rPr lang="en-IN" sz="4800" dirty="0">
                <a:solidFill>
                  <a:schemeClr val="bg1"/>
                </a:solidFill>
                <a:latin typeface="+mn-lt"/>
              </a:rPr>
              <a:t>Junk</a:t>
            </a:r>
            <a:r>
              <a:rPr lang="en-IN" sz="4800" spc="-33" dirty="0">
                <a:solidFill>
                  <a:schemeClr val="bg1"/>
                </a:solidFill>
                <a:latin typeface="+mn-lt"/>
              </a:rPr>
              <a:t> </a:t>
            </a:r>
            <a:r>
              <a:rPr lang="en-IN" sz="4800" spc="-13" dirty="0">
                <a:solidFill>
                  <a:schemeClr val="bg1"/>
                </a:solidFill>
                <a:latin typeface="+mn-lt"/>
              </a:rPr>
              <a:t>dimensions</a:t>
            </a:r>
            <a:endParaRPr sz="4800" dirty="0"/>
          </a:p>
        </p:txBody>
      </p:sp>
      <p:graphicFrame>
        <p:nvGraphicFramePr>
          <p:cNvPr id="4" name="object 4"/>
          <p:cNvGraphicFramePr>
            <a:graphicFrameLocks noGrp="1"/>
          </p:cNvGraphicFramePr>
          <p:nvPr>
            <p:extLst>
              <p:ext uri="{D42A27DB-BD31-4B8C-83A1-F6EECF244321}">
                <p14:modId xmlns:p14="http://schemas.microsoft.com/office/powerpoint/2010/main" val="2418483464"/>
              </p:ext>
            </p:extLst>
          </p:nvPr>
        </p:nvGraphicFramePr>
        <p:xfrm>
          <a:off x="2067563" y="3254513"/>
          <a:ext cx="4028438" cy="1033007"/>
        </p:xfrm>
        <a:graphic>
          <a:graphicData uri="http://schemas.openxmlformats.org/drawingml/2006/table">
            <a:tbl>
              <a:tblPr firstRow="1" bandRow="1">
                <a:tableStyleId>{2D5ABB26-0587-4C30-8999-92F81FD0307C}</a:tableStyleId>
              </a:tblPr>
              <a:tblGrid>
                <a:gridCol w="1784409">
                  <a:extLst>
                    <a:ext uri="{9D8B030D-6E8A-4147-A177-3AD203B41FA5}">
                      <a16:colId xmlns:a16="http://schemas.microsoft.com/office/drawing/2014/main" val="20000"/>
                    </a:ext>
                  </a:extLst>
                </a:gridCol>
                <a:gridCol w="2244029">
                  <a:extLst>
                    <a:ext uri="{9D8B030D-6E8A-4147-A177-3AD203B41FA5}">
                      <a16:colId xmlns:a16="http://schemas.microsoft.com/office/drawing/2014/main" val="20001"/>
                    </a:ext>
                  </a:extLst>
                </a:gridCol>
              </a:tblGrid>
              <a:tr h="234290">
                <a:tc>
                  <a:txBody>
                    <a:bodyPr/>
                    <a:lstStyle/>
                    <a:p>
                      <a:pPr algn="ctr">
                        <a:lnSpc>
                          <a:spcPct val="100000"/>
                        </a:lnSpc>
                        <a:spcBef>
                          <a:spcPts val="60"/>
                        </a:spcBef>
                      </a:pPr>
                      <a:r>
                        <a:rPr sz="1400" b="1" spc="-10" dirty="0">
                          <a:solidFill>
                            <a:schemeClr val="bg1"/>
                          </a:solidFill>
                          <a:latin typeface="Arial"/>
                          <a:cs typeface="Arial"/>
                        </a:rPr>
                        <a:t>Payment_Type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905" algn="ctr">
                        <a:lnSpc>
                          <a:spcPct val="100000"/>
                        </a:lnSpc>
                        <a:spcBef>
                          <a:spcPts val="60"/>
                        </a:spcBef>
                      </a:pPr>
                      <a:r>
                        <a:rPr sz="1400" b="1" spc="-10" dirty="0">
                          <a:solidFill>
                            <a:schemeClr val="bg1"/>
                          </a:solidFill>
                          <a:latin typeface="Arial"/>
                          <a:cs typeface="Arial"/>
                        </a:rPr>
                        <a:t>Amount</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66239">
                <a:tc>
                  <a:txBody>
                    <a:bodyPr/>
                    <a:lstStyle/>
                    <a:p>
                      <a:pPr algn="ctr">
                        <a:lnSpc>
                          <a:spcPct val="100000"/>
                        </a:lnSpc>
                        <a:spcBef>
                          <a:spcPts val="225"/>
                        </a:spcBef>
                      </a:pPr>
                      <a:r>
                        <a:rPr sz="1400" spc="-10" dirty="0">
                          <a:latin typeface="Arial MT"/>
                          <a:cs typeface="Arial MT"/>
                        </a:rPr>
                        <a:t>Wired</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$5350</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66239">
                <a:tc>
                  <a:txBody>
                    <a:bodyPr/>
                    <a:lstStyle/>
                    <a:p>
                      <a:pPr algn="ctr">
                        <a:lnSpc>
                          <a:spcPct val="100000"/>
                        </a:lnSpc>
                        <a:spcBef>
                          <a:spcPts val="225"/>
                        </a:spcBef>
                      </a:pPr>
                      <a:r>
                        <a:rPr sz="1400" dirty="0">
                          <a:latin typeface="Arial MT"/>
                          <a:cs typeface="Arial MT"/>
                        </a:rPr>
                        <a:t>Credit</a:t>
                      </a:r>
                      <a:r>
                        <a:rPr sz="1400" spc="-55" dirty="0">
                          <a:latin typeface="Arial MT"/>
                          <a:cs typeface="Arial MT"/>
                        </a:rPr>
                        <a:t> </a:t>
                      </a:r>
                      <a:r>
                        <a:rPr sz="1400" spc="-20" dirty="0">
                          <a:latin typeface="Arial MT"/>
                          <a:cs typeface="Arial MT"/>
                        </a:rPr>
                        <a:t>Card</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$6553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66239">
                <a:tc>
                  <a:txBody>
                    <a:bodyPr/>
                    <a:lstStyle/>
                    <a:p>
                      <a:pPr algn="ctr">
                        <a:lnSpc>
                          <a:spcPct val="100000"/>
                        </a:lnSpc>
                        <a:spcBef>
                          <a:spcPts val="225"/>
                        </a:spcBef>
                      </a:pPr>
                      <a:r>
                        <a:rPr sz="1400" spc="-20" dirty="0">
                          <a:latin typeface="Arial MT"/>
                          <a:cs typeface="Arial MT"/>
                        </a:rPr>
                        <a:t>Cash</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$6754</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graphicFrame>
        <p:nvGraphicFramePr>
          <p:cNvPr id="5" name="object 5"/>
          <p:cNvGraphicFramePr>
            <a:graphicFrameLocks noGrp="1"/>
          </p:cNvGraphicFramePr>
          <p:nvPr>
            <p:extLst>
              <p:ext uri="{D42A27DB-BD31-4B8C-83A1-F6EECF244321}">
                <p14:modId xmlns:p14="http://schemas.microsoft.com/office/powerpoint/2010/main" val="959690185"/>
              </p:ext>
            </p:extLst>
          </p:nvPr>
        </p:nvGraphicFramePr>
        <p:xfrm>
          <a:off x="7103534" y="3302000"/>
          <a:ext cx="4028439" cy="985519"/>
        </p:xfrm>
        <a:graphic>
          <a:graphicData uri="http://schemas.openxmlformats.org/drawingml/2006/table">
            <a:tbl>
              <a:tblPr firstRow="1" bandRow="1">
                <a:tableStyleId>{2D5ABB26-0587-4C30-8999-92F81FD0307C}</a:tableStyleId>
              </a:tblPr>
              <a:tblGrid>
                <a:gridCol w="1784409">
                  <a:extLst>
                    <a:ext uri="{9D8B030D-6E8A-4147-A177-3AD203B41FA5}">
                      <a16:colId xmlns:a16="http://schemas.microsoft.com/office/drawing/2014/main" val="20000"/>
                    </a:ext>
                  </a:extLst>
                </a:gridCol>
                <a:gridCol w="2244030">
                  <a:extLst>
                    <a:ext uri="{9D8B030D-6E8A-4147-A177-3AD203B41FA5}">
                      <a16:colId xmlns:a16="http://schemas.microsoft.com/office/drawing/2014/main" val="20001"/>
                    </a:ext>
                  </a:extLst>
                </a:gridCol>
              </a:tblGrid>
              <a:tr h="302711">
                <a:tc>
                  <a:txBody>
                    <a:bodyPr/>
                    <a:lstStyle/>
                    <a:p>
                      <a:pPr algn="ctr">
                        <a:lnSpc>
                          <a:spcPct val="100000"/>
                        </a:lnSpc>
                        <a:spcBef>
                          <a:spcPts val="60"/>
                        </a:spcBef>
                      </a:pPr>
                      <a:r>
                        <a:rPr sz="1400" b="1" spc="-10" dirty="0">
                          <a:solidFill>
                            <a:schemeClr val="bg1"/>
                          </a:solidFill>
                          <a:latin typeface="Arial"/>
                          <a:cs typeface="Arial"/>
                        </a:rPr>
                        <a:t>Is_Bonus</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2540" algn="ctr">
                        <a:lnSpc>
                          <a:spcPct val="100000"/>
                        </a:lnSpc>
                        <a:spcBef>
                          <a:spcPts val="60"/>
                        </a:spcBef>
                      </a:pPr>
                      <a:r>
                        <a:rPr sz="1400" b="1" spc="-10" dirty="0">
                          <a:solidFill>
                            <a:schemeClr val="bg1"/>
                          </a:solidFill>
                          <a:latin typeface="Arial"/>
                          <a:cs typeface="Arial"/>
                        </a:rPr>
                        <a:t>Amount</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341404">
                <a:tc>
                  <a:txBody>
                    <a:bodyPr/>
                    <a:lstStyle/>
                    <a:p>
                      <a:pPr algn="ctr">
                        <a:lnSpc>
                          <a:spcPct val="100000"/>
                        </a:lnSpc>
                        <a:spcBef>
                          <a:spcPts val="225"/>
                        </a:spcBef>
                      </a:pPr>
                      <a:r>
                        <a:rPr sz="1400" spc="-25" dirty="0">
                          <a:latin typeface="Arial MT"/>
                          <a:cs typeface="Arial MT"/>
                        </a:rPr>
                        <a:t>Yes</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$9350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341404">
                <a:tc>
                  <a:txBody>
                    <a:bodyPr/>
                    <a:lstStyle/>
                    <a:p>
                      <a:pPr algn="ctr">
                        <a:lnSpc>
                          <a:spcPct val="100000"/>
                        </a:lnSpc>
                        <a:spcBef>
                          <a:spcPts val="225"/>
                        </a:spcBef>
                      </a:pPr>
                      <a:r>
                        <a:rPr sz="1400" spc="-25" dirty="0">
                          <a:latin typeface="Arial MT"/>
                          <a:cs typeface="Arial MT"/>
                        </a:rPr>
                        <a:t>No</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$11857</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57807" y="247904"/>
            <a:ext cx="9930384" cy="1702816"/>
          </a:xfrm>
          <a:prstGeom prst="rect">
            <a:avLst/>
          </a:prstGeom>
        </p:spPr>
      </p:pic>
      <p:sp>
        <p:nvSpPr>
          <p:cNvPr id="3" name="object 3"/>
          <p:cNvSpPr txBox="1">
            <a:spLocks noGrp="1"/>
          </p:cNvSpPr>
          <p:nvPr>
            <p:ph type="title"/>
          </p:nvPr>
        </p:nvSpPr>
        <p:spPr>
          <a:xfrm>
            <a:off x="1320800" y="548400"/>
            <a:ext cx="9811173" cy="1047296"/>
          </a:xfrm>
          <a:prstGeom prst="rect">
            <a:avLst/>
          </a:prstGeom>
          <a:noFill/>
          <a:ln w="9144">
            <a:noFill/>
          </a:ln>
        </p:spPr>
        <p:txBody>
          <a:bodyPr vert="horz" wrap="square" lIns="0" tIns="305647" rIns="0" bIns="0" rtlCol="0" anchor="ctr">
            <a:spAutoFit/>
          </a:bodyPr>
          <a:lstStyle/>
          <a:p>
            <a:pPr algn="ctr">
              <a:lnSpc>
                <a:spcPct val="100000"/>
              </a:lnSpc>
              <a:spcBef>
                <a:spcPts val="2407"/>
              </a:spcBef>
            </a:pPr>
            <a:r>
              <a:rPr lang="en-IN" sz="4800" dirty="0">
                <a:solidFill>
                  <a:schemeClr val="bg1"/>
                </a:solidFill>
                <a:latin typeface="+mn-lt"/>
              </a:rPr>
              <a:t>Junk</a:t>
            </a:r>
            <a:r>
              <a:rPr lang="en-IN" sz="4800" spc="-33" dirty="0">
                <a:solidFill>
                  <a:schemeClr val="bg1"/>
                </a:solidFill>
                <a:latin typeface="+mn-lt"/>
              </a:rPr>
              <a:t> </a:t>
            </a:r>
            <a:r>
              <a:rPr lang="en-IN" sz="4800" spc="-13" dirty="0">
                <a:solidFill>
                  <a:schemeClr val="bg1"/>
                </a:solidFill>
                <a:latin typeface="+mn-lt"/>
              </a:rPr>
              <a:t>dimensions</a:t>
            </a:r>
            <a:endParaRPr sz="4800" dirty="0"/>
          </a:p>
        </p:txBody>
      </p:sp>
      <p:graphicFrame>
        <p:nvGraphicFramePr>
          <p:cNvPr id="4" name="object 4"/>
          <p:cNvGraphicFramePr>
            <a:graphicFrameLocks noGrp="1"/>
          </p:cNvGraphicFramePr>
          <p:nvPr>
            <p:extLst>
              <p:ext uri="{D42A27DB-BD31-4B8C-83A1-F6EECF244321}">
                <p14:modId xmlns:p14="http://schemas.microsoft.com/office/powerpoint/2010/main" val="1345138871"/>
              </p:ext>
            </p:extLst>
          </p:nvPr>
        </p:nvGraphicFramePr>
        <p:xfrm>
          <a:off x="2328334" y="3274568"/>
          <a:ext cx="7517552" cy="987213"/>
        </p:xfrm>
        <a:graphic>
          <a:graphicData uri="http://schemas.openxmlformats.org/drawingml/2006/table">
            <a:tbl>
              <a:tblPr firstRow="1" bandRow="1">
                <a:tableStyleId>{2D5ABB26-0587-4C30-8999-92F81FD0307C}</a:tableStyleId>
              </a:tblPr>
              <a:tblGrid>
                <a:gridCol w="1385147">
                  <a:extLst>
                    <a:ext uri="{9D8B030D-6E8A-4147-A177-3AD203B41FA5}">
                      <a16:colId xmlns:a16="http://schemas.microsoft.com/office/drawing/2014/main" val="20000"/>
                    </a:ext>
                  </a:extLst>
                </a:gridCol>
                <a:gridCol w="951653">
                  <a:extLst>
                    <a:ext uri="{9D8B030D-6E8A-4147-A177-3AD203B41FA5}">
                      <a16:colId xmlns:a16="http://schemas.microsoft.com/office/drawing/2014/main" val="20001"/>
                    </a:ext>
                  </a:extLst>
                </a:gridCol>
                <a:gridCol w="1619673">
                  <a:extLst>
                    <a:ext uri="{9D8B030D-6E8A-4147-A177-3AD203B41FA5}">
                      <a16:colId xmlns:a16="http://schemas.microsoft.com/office/drawing/2014/main" val="20002"/>
                    </a:ext>
                  </a:extLst>
                </a:gridCol>
                <a:gridCol w="2037079">
                  <a:extLst>
                    <a:ext uri="{9D8B030D-6E8A-4147-A177-3AD203B41FA5}">
                      <a16:colId xmlns:a16="http://schemas.microsoft.com/office/drawing/2014/main" val="20003"/>
                    </a:ext>
                  </a:extLst>
                </a:gridCol>
                <a:gridCol w="1524000">
                  <a:extLst>
                    <a:ext uri="{9D8B030D-6E8A-4147-A177-3AD203B41FA5}">
                      <a16:colId xmlns:a16="http://schemas.microsoft.com/office/drawing/2014/main" val="20004"/>
                    </a:ext>
                  </a:extLst>
                </a:gridCol>
              </a:tblGrid>
              <a:tr h="225213">
                <a:tc>
                  <a:txBody>
                    <a:bodyPr/>
                    <a:lstStyle/>
                    <a:p>
                      <a:pPr marL="1270" algn="ctr">
                        <a:lnSpc>
                          <a:spcPct val="100000"/>
                        </a:lnSpc>
                        <a:spcBef>
                          <a:spcPts val="60"/>
                        </a:spcBef>
                      </a:pPr>
                      <a:r>
                        <a:rPr sz="1400" b="1" spc="-10" dirty="0">
                          <a:solidFill>
                            <a:schemeClr val="bg1"/>
                          </a:solidFill>
                          <a:latin typeface="Arial"/>
                          <a:cs typeface="Arial"/>
                        </a:rPr>
                        <a:t>Transaction_PK</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gn="ctr">
                        <a:lnSpc>
                          <a:spcPct val="100000"/>
                        </a:lnSpc>
                        <a:spcBef>
                          <a:spcPts val="60"/>
                        </a:spcBef>
                      </a:pPr>
                      <a:r>
                        <a:rPr sz="1400" b="1" spc="-10" dirty="0">
                          <a:solidFill>
                            <a:schemeClr val="bg1"/>
                          </a:solidFill>
                          <a:latin typeface="Arial"/>
                          <a:cs typeface="Arial"/>
                        </a:rPr>
                        <a:t>Amount</a:t>
                      </a:r>
                      <a:endParaRPr sz="140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gn="ctr">
                        <a:lnSpc>
                          <a:spcPct val="100000"/>
                        </a:lnSpc>
                        <a:spcBef>
                          <a:spcPts val="60"/>
                        </a:spcBef>
                      </a:pPr>
                      <a:r>
                        <a:rPr sz="1400" b="1" spc="-10" dirty="0">
                          <a:solidFill>
                            <a:schemeClr val="bg1"/>
                          </a:solidFill>
                          <a:latin typeface="Arial"/>
                          <a:cs typeface="Arial"/>
                        </a:rPr>
                        <a:t>Payment_Type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3175" algn="ctr">
                        <a:lnSpc>
                          <a:spcPct val="100000"/>
                        </a:lnSpc>
                        <a:spcBef>
                          <a:spcPts val="60"/>
                        </a:spcBef>
                      </a:pPr>
                      <a:r>
                        <a:rPr sz="1400" b="1" dirty="0">
                          <a:solidFill>
                            <a:schemeClr val="bg1"/>
                          </a:solidFill>
                          <a:latin typeface="Arial"/>
                          <a:cs typeface="Arial"/>
                        </a:rPr>
                        <a:t>Incoming</a:t>
                      </a:r>
                      <a:r>
                        <a:rPr sz="1400" b="1" spc="-55" dirty="0">
                          <a:solidFill>
                            <a:schemeClr val="bg1"/>
                          </a:solidFill>
                          <a:latin typeface="Arial"/>
                          <a:cs typeface="Arial"/>
                        </a:rPr>
                        <a:t> </a:t>
                      </a:r>
                      <a:r>
                        <a:rPr sz="1400" b="1" dirty="0">
                          <a:solidFill>
                            <a:schemeClr val="bg1"/>
                          </a:solidFill>
                          <a:latin typeface="Arial"/>
                          <a:cs typeface="Arial"/>
                        </a:rPr>
                        <a:t>/</a:t>
                      </a:r>
                      <a:r>
                        <a:rPr sz="1400" b="1" spc="-10" dirty="0">
                          <a:solidFill>
                            <a:schemeClr val="bg1"/>
                          </a:solidFill>
                          <a:latin typeface="Arial"/>
                          <a:cs typeface="Arial"/>
                        </a:rPr>
                        <a:t> Outbound</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gn="ctr">
                        <a:lnSpc>
                          <a:spcPct val="100000"/>
                        </a:lnSpc>
                        <a:spcBef>
                          <a:spcPts val="60"/>
                        </a:spcBef>
                      </a:pPr>
                      <a:r>
                        <a:rPr sz="1400" b="1" spc="-10" dirty="0">
                          <a:solidFill>
                            <a:schemeClr val="bg1"/>
                          </a:solidFill>
                          <a:latin typeface="Arial"/>
                          <a:cs typeface="Arial"/>
                        </a:rPr>
                        <a:t>Is_Bonus</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marL="635"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20" dirty="0">
                          <a:latin typeface="Arial MT"/>
                          <a:cs typeface="Arial MT"/>
                        </a:rPr>
                        <a:t>$530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Wired</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10" dirty="0">
                          <a:latin typeface="Arial MT"/>
                          <a:cs typeface="Arial MT"/>
                        </a:rPr>
                        <a:t>Incoming</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25" dirty="0">
                          <a:latin typeface="Arial MT"/>
                          <a:cs typeface="Arial MT"/>
                        </a:rPr>
                        <a:t>Yes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marL="635"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20" dirty="0">
                          <a:latin typeface="Arial MT"/>
                          <a:cs typeface="Arial MT"/>
                        </a:rPr>
                        <a:t>$553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dirty="0">
                          <a:latin typeface="Arial MT"/>
                          <a:cs typeface="Arial MT"/>
                        </a:rPr>
                        <a:t>Credit</a:t>
                      </a:r>
                      <a:r>
                        <a:rPr sz="1400" spc="-55" dirty="0">
                          <a:latin typeface="Arial MT"/>
                          <a:cs typeface="Arial MT"/>
                        </a:rPr>
                        <a:t> </a:t>
                      </a:r>
                      <a:r>
                        <a:rPr sz="1400" spc="-20" dirty="0">
                          <a:latin typeface="Arial MT"/>
                          <a:cs typeface="Arial MT"/>
                        </a:rPr>
                        <a:t>Card</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10" dirty="0">
                          <a:latin typeface="Arial MT"/>
                          <a:cs typeface="Arial MT"/>
                        </a:rPr>
                        <a:t>Outbound</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25" dirty="0">
                          <a:latin typeface="Arial MT"/>
                          <a:cs typeface="Arial MT"/>
                        </a:rPr>
                        <a:t>No</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marL="635" algn="ctr">
                        <a:lnSpc>
                          <a:spcPct val="10000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20" dirty="0">
                          <a:latin typeface="Arial MT"/>
                          <a:cs typeface="Arial MT"/>
                        </a:rPr>
                        <a:t>$654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20" dirty="0">
                          <a:latin typeface="Arial MT"/>
                          <a:cs typeface="Arial MT"/>
                        </a:rPr>
                        <a:t>Cash</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spc="-10" dirty="0">
                          <a:latin typeface="Arial MT"/>
                          <a:cs typeface="Arial MT"/>
                        </a:rPr>
                        <a:t>Incoming</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spc="-25" dirty="0">
                          <a:latin typeface="Arial MT"/>
                          <a:cs typeface="Arial MT"/>
                        </a:rPr>
                        <a:t>No</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sp>
        <p:nvSpPr>
          <p:cNvPr id="5" name="object 5"/>
          <p:cNvSpPr txBox="1"/>
          <p:nvPr/>
        </p:nvSpPr>
        <p:spPr>
          <a:xfrm>
            <a:off x="3958506" y="1891809"/>
            <a:ext cx="6704753" cy="1325085"/>
          </a:xfrm>
          <a:prstGeom prst="rect">
            <a:avLst/>
          </a:prstGeom>
        </p:spPr>
        <p:txBody>
          <a:bodyPr vert="horz" wrap="square" lIns="0" tIns="128693" rIns="0" bIns="0" rtlCol="0">
            <a:spAutoFit/>
          </a:bodyPr>
          <a:lstStyle/>
          <a:p>
            <a:pPr marL="16933">
              <a:spcBef>
                <a:spcPts val="1013"/>
              </a:spcBef>
            </a:pPr>
            <a:r>
              <a:rPr sz="3200" dirty="0">
                <a:solidFill>
                  <a:srgbClr val="99E3FF"/>
                </a:solidFill>
                <a:latin typeface="Trebuchet MS"/>
                <a:cs typeface="Trebuchet MS"/>
              </a:rPr>
              <a:t>Number</a:t>
            </a:r>
            <a:r>
              <a:rPr sz="3200" spc="-53" dirty="0">
                <a:solidFill>
                  <a:srgbClr val="99E3FF"/>
                </a:solidFill>
                <a:latin typeface="Trebuchet MS"/>
                <a:cs typeface="Trebuchet MS"/>
              </a:rPr>
              <a:t> </a:t>
            </a:r>
            <a:r>
              <a:rPr sz="3200" dirty="0">
                <a:solidFill>
                  <a:srgbClr val="99E3FF"/>
                </a:solidFill>
                <a:latin typeface="Trebuchet MS"/>
                <a:cs typeface="Trebuchet MS"/>
              </a:rPr>
              <a:t>of</a:t>
            </a:r>
            <a:r>
              <a:rPr sz="3200" spc="-53" dirty="0">
                <a:solidFill>
                  <a:srgbClr val="99E3FF"/>
                </a:solidFill>
                <a:latin typeface="Trebuchet MS"/>
                <a:cs typeface="Trebuchet MS"/>
              </a:rPr>
              <a:t> </a:t>
            </a:r>
            <a:r>
              <a:rPr sz="3200" spc="-13" dirty="0">
                <a:solidFill>
                  <a:srgbClr val="99E3FF"/>
                </a:solidFill>
                <a:latin typeface="Trebuchet MS"/>
                <a:cs typeface="Trebuchet MS"/>
              </a:rPr>
              <a:t>combinations</a:t>
            </a:r>
            <a:endParaRPr sz="3200">
              <a:latin typeface="Trebuchet MS"/>
              <a:cs typeface="Trebuchet MS"/>
            </a:endParaRPr>
          </a:p>
          <a:p>
            <a:pPr marL="1345320">
              <a:spcBef>
                <a:spcPts val="1027"/>
              </a:spcBef>
              <a:tabLst>
                <a:tab pos="2283403" algn="l"/>
                <a:tab pos="3275671" algn="l"/>
                <a:tab pos="4140096" algn="l"/>
                <a:tab pos="4995208" algn="l"/>
                <a:tab pos="5752110" algn="l"/>
              </a:tabLst>
            </a:pPr>
            <a:r>
              <a:rPr sz="3733" spc="-67" dirty="0">
                <a:solidFill>
                  <a:srgbClr val="FFFFFF"/>
                </a:solidFill>
                <a:latin typeface="Arial MT"/>
                <a:cs typeface="Arial MT"/>
              </a:rPr>
              <a:t>3</a:t>
            </a:r>
            <a:r>
              <a:rPr sz="3733" dirty="0">
                <a:solidFill>
                  <a:srgbClr val="FFFFFF"/>
                </a:solidFill>
                <a:latin typeface="Arial MT"/>
                <a:cs typeface="Arial MT"/>
              </a:rPr>
              <a:t>	</a:t>
            </a:r>
            <a:r>
              <a:rPr sz="3733" spc="-67" dirty="0">
                <a:solidFill>
                  <a:srgbClr val="FFFFFF"/>
                </a:solidFill>
                <a:latin typeface="Arial MT"/>
                <a:cs typeface="Arial MT"/>
              </a:rPr>
              <a:t>x</a:t>
            </a:r>
            <a:r>
              <a:rPr sz="3733" dirty="0">
                <a:solidFill>
                  <a:srgbClr val="FFFFFF"/>
                </a:solidFill>
                <a:latin typeface="Arial MT"/>
                <a:cs typeface="Arial MT"/>
              </a:rPr>
              <a:t>	</a:t>
            </a:r>
            <a:r>
              <a:rPr sz="3733" spc="-67" dirty="0">
                <a:solidFill>
                  <a:srgbClr val="FFFFFF"/>
                </a:solidFill>
                <a:latin typeface="Arial MT"/>
                <a:cs typeface="Arial MT"/>
              </a:rPr>
              <a:t>2</a:t>
            </a:r>
            <a:r>
              <a:rPr sz="3733" dirty="0">
                <a:solidFill>
                  <a:srgbClr val="FFFFFF"/>
                </a:solidFill>
                <a:latin typeface="Arial MT"/>
                <a:cs typeface="Arial MT"/>
              </a:rPr>
              <a:t>	</a:t>
            </a:r>
            <a:r>
              <a:rPr sz="3733" spc="-67" dirty="0">
                <a:solidFill>
                  <a:srgbClr val="FFFFFF"/>
                </a:solidFill>
                <a:latin typeface="Arial MT"/>
                <a:cs typeface="Arial MT"/>
              </a:rPr>
              <a:t>x</a:t>
            </a:r>
            <a:r>
              <a:rPr sz="3733" dirty="0">
                <a:solidFill>
                  <a:srgbClr val="FFFFFF"/>
                </a:solidFill>
                <a:latin typeface="Arial MT"/>
                <a:cs typeface="Arial MT"/>
              </a:rPr>
              <a:t>	</a:t>
            </a:r>
            <a:r>
              <a:rPr sz="3733" spc="-67" dirty="0">
                <a:solidFill>
                  <a:srgbClr val="FFFFFF"/>
                </a:solidFill>
                <a:latin typeface="Arial MT"/>
                <a:cs typeface="Arial MT"/>
              </a:rPr>
              <a:t>2</a:t>
            </a:r>
            <a:r>
              <a:rPr sz="3733" dirty="0">
                <a:solidFill>
                  <a:srgbClr val="FFFFFF"/>
                </a:solidFill>
                <a:latin typeface="Arial MT"/>
                <a:cs typeface="Arial MT"/>
              </a:rPr>
              <a:t>	=</a:t>
            </a:r>
            <a:r>
              <a:rPr sz="3733" spc="-27" dirty="0">
                <a:solidFill>
                  <a:srgbClr val="FFFFFF"/>
                </a:solidFill>
                <a:latin typeface="Arial MT"/>
                <a:cs typeface="Arial MT"/>
              </a:rPr>
              <a:t> </a:t>
            </a:r>
            <a:r>
              <a:rPr sz="3733" spc="-33" dirty="0">
                <a:solidFill>
                  <a:srgbClr val="FFFFFF"/>
                </a:solidFill>
                <a:latin typeface="Arial MT"/>
                <a:cs typeface="Arial MT"/>
              </a:rPr>
              <a:t>12</a:t>
            </a:r>
            <a:endParaRPr sz="3733">
              <a:latin typeface="Arial MT"/>
              <a:cs typeface="Arial MT"/>
            </a:endParaRPr>
          </a:p>
        </p:txBody>
      </p:sp>
      <p:graphicFrame>
        <p:nvGraphicFramePr>
          <p:cNvPr id="6" name="object 6"/>
          <p:cNvGraphicFramePr>
            <a:graphicFrameLocks noGrp="1"/>
          </p:cNvGraphicFramePr>
          <p:nvPr>
            <p:extLst>
              <p:ext uri="{D42A27DB-BD31-4B8C-83A1-F6EECF244321}">
                <p14:modId xmlns:p14="http://schemas.microsoft.com/office/powerpoint/2010/main" val="3872052142"/>
              </p:ext>
            </p:extLst>
          </p:nvPr>
        </p:nvGraphicFramePr>
        <p:xfrm>
          <a:off x="2934547" y="4691887"/>
          <a:ext cx="6566747" cy="1496060"/>
        </p:xfrm>
        <a:graphic>
          <a:graphicData uri="http://schemas.openxmlformats.org/drawingml/2006/table">
            <a:tbl>
              <a:tblPr firstRow="1" bandRow="1">
                <a:tableStyleId>{2D5ABB26-0587-4C30-8999-92F81FD0307C}</a:tableStyleId>
              </a:tblPr>
              <a:tblGrid>
                <a:gridCol w="1385147">
                  <a:extLst>
                    <a:ext uri="{9D8B030D-6E8A-4147-A177-3AD203B41FA5}">
                      <a16:colId xmlns:a16="http://schemas.microsoft.com/office/drawing/2014/main" val="20000"/>
                    </a:ext>
                  </a:extLst>
                </a:gridCol>
                <a:gridCol w="1620520">
                  <a:extLst>
                    <a:ext uri="{9D8B030D-6E8A-4147-A177-3AD203B41FA5}">
                      <a16:colId xmlns:a16="http://schemas.microsoft.com/office/drawing/2014/main" val="20001"/>
                    </a:ext>
                  </a:extLst>
                </a:gridCol>
                <a:gridCol w="203708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226060">
                <a:tc>
                  <a:txBody>
                    <a:bodyPr/>
                    <a:lstStyle/>
                    <a:p>
                      <a:pPr algn="ctr">
                        <a:lnSpc>
                          <a:spcPct val="100000"/>
                        </a:lnSpc>
                        <a:spcBef>
                          <a:spcPts val="65"/>
                        </a:spcBef>
                      </a:pPr>
                      <a:r>
                        <a:rPr sz="1400" b="1" spc="-10" dirty="0">
                          <a:solidFill>
                            <a:schemeClr val="bg1"/>
                          </a:solidFill>
                          <a:latin typeface="Arial"/>
                          <a:cs typeface="Arial"/>
                        </a:rPr>
                        <a:t>Flag_PK</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gn="ctr">
                        <a:lnSpc>
                          <a:spcPct val="100000"/>
                        </a:lnSpc>
                        <a:spcBef>
                          <a:spcPts val="65"/>
                        </a:spcBef>
                      </a:pPr>
                      <a:r>
                        <a:rPr sz="1400" b="1" spc="-10" dirty="0">
                          <a:solidFill>
                            <a:schemeClr val="bg1"/>
                          </a:solidFill>
                          <a:latin typeface="Arial"/>
                          <a:cs typeface="Arial"/>
                        </a:rPr>
                        <a:t>Payment_Type</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3810" algn="ctr">
                        <a:lnSpc>
                          <a:spcPct val="100000"/>
                        </a:lnSpc>
                        <a:spcBef>
                          <a:spcPts val="65"/>
                        </a:spcBef>
                      </a:pPr>
                      <a:r>
                        <a:rPr sz="1400" b="1" dirty="0">
                          <a:solidFill>
                            <a:schemeClr val="bg1"/>
                          </a:solidFill>
                          <a:latin typeface="Arial"/>
                          <a:cs typeface="Arial"/>
                        </a:rPr>
                        <a:t>Incoming</a:t>
                      </a:r>
                      <a:r>
                        <a:rPr sz="1400" b="1" spc="-50" dirty="0">
                          <a:solidFill>
                            <a:schemeClr val="bg1"/>
                          </a:solidFill>
                          <a:latin typeface="Arial"/>
                          <a:cs typeface="Arial"/>
                        </a:rPr>
                        <a:t> </a:t>
                      </a:r>
                      <a:r>
                        <a:rPr sz="1400" b="1" dirty="0">
                          <a:solidFill>
                            <a:schemeClr val="bg1"/>
                          </a:solidFill>
                          <a:latin typeface="Arial"/>
                          <a:cs typeface="Arial"/>
                        </a:rPr>
                        <a:t>/</a:t>
                      </a:r>
                      <a:r>
                        <a:rPr sz="1400" b="1" spc="-15" dirty="0">
                          <a:solidFill>
                            <a:schemeClr val="bg1"/>
                          </a:solidFill>
                          <a:latin typeface="Arial"/>
                          <a:cs typeface="Arial"/>
                        </a:rPr>
                        <a:t> </a:t>
                      </a:r>
                      <a:r>
                        <a:rPr sz="1400" b="1" spc="-10" dirty="0">
                          <a:solidFill>
                            <a:schemeClr val="bg1"/>
                          </a:solidFill>
                          <a:latin typeface="Arial"/>
                          <a:cs typeface="Arial"/>
                        </a:rPr>
                        <a:t>Outbound</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gn="ctr">
                        <a:lnSpc>
                          <a:spcPct val="100000"/>
                        </a:lnSpc>
                        <a:spcBef>
                          <a:spcPts val="65"/>
                        </a:spcBef>
                      </a:pPr>
                      <a:r>
                        <a:rPr sz="1400" b="1" spc="-10" dirty="0">
                          <a:solidFill>
                            <a:schemeClr val="bg1"/>
                          </a:solidFill>
                          <a:latin typeface="Arial"/>
                          <a:cs typeface="Arial"/>
                        </a:rPr>
                        <a:t>Is_Bonus</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marL="635" algn="ctr">
                        <a:lnSpc>
                          <a:spcPct val="100000"/>
                        </a:lnSpc>
                        <a:spcBef>
                          <a:spcPts val="229"/>
                        </a:spcBef>
                      </a:pPr>
                      <a:r>
                        <a:rPr sz="1400" spc="-50" dirty="0">
                          <a:latin typeface="Arial MT"/>
                          <a:cs typeface="Arial MT"/>
                        </a:rPr>
                        <a:t>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10" dirty="0">
                          <a:latin typeface="Arial MT"/>
                          <a:cs typeface="Arial MT"/>
                        </a:rPr>
                        <a:t>Wired</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10" dirty="0">
                          <a:latin typeface="Arial MT"/>
                          <a:cs typeface="Arial MT"/>
                        </a:rPr>
                        <a:t>Incoming</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25" dirty="0">
                          <a:latin typeface="Arial MT"/>
                          <a:cs typeface="Arial MT"/>
                        </a:rPr>
                        <a:t>Yes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marL="635" algn="ctr">
                        <a:lnSpc>
                          <a:spcPct val="100000"/>
                        </a:lnSpc>
                        <a:spcBef>
                          <a:spcPts val="229"/>
                        </a:spcBef>
                      </a:pPr>
                      <a:r>
                        <a:rPr sz="1400" spc="-50" dirty="0">
                          <a:latin typeface="Arial MT"/>
                          <a:cs typeface="Arial MT"/>
                        </a:rPr>
                        <a:t>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dirty="0">
                          <a:latin typeface="Arial MT"/>
                          <a:cs typeface="Arial MT"/>
                        </a:rPr>
                        <a:t>Credit</a:t>
                      </a:r>
                      <a:r>
                        <a:rPr sz="1400" spc="-55" dirty="0">
                          <a:latin typeface="Arial MT"/>
                          <a:cs typeface="Arial MT"/>
                        </a:rPr>
                        <a:t> </a:t>
                      </a:r>
                      <a:r>
                        <a:rPr sz="1400" spc="-20" dirty="0">
                          <a:latin typeface="Arial MT"/>
                          <a:cs typeface="Arial MT"/>
                        </a:rPr>
                        <a:t>Card</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10" dirty="0">
                          <a:latin typeface="Arial MT"/>
                          <a:cs typeface="Arial MT"/>
                        </a:rPr>
                        <a:t>Outbound</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25" dirty="0">
                          <a:latin typeface="Arial MT"/>
                          <a:cs typeface="Arial MT"/>
                        </a:rPr>
                        <a:t>No</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marL="635" algn="ctr">
                        <a:lnSpc>
                          <a:spcPct val="10000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20" dirty="0">
                          <a:latin typeface="Arial MT"/>
                          <a:cs typeface="Arial MT"/>
                        </a:rPr>
                        <a:t>Cash</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10" dirty="0">
                          <a:latin typeface="Arial MT"/>
                          <a:cs typeface="Arial MT"/>
                        </a:rPr>
                        <a:t>Incoming</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25" dirty="0">
                          <a:latin typeface="Arial MT"/>
                          <a:cs typeface="Arial MT"/>
                        </a:rPr>
                        <a:t>No</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algn="ctr">
                        <a:lnSpc>
                          <a:spcPct val="100000"/>
                        </a:lnSpc>
                        <a:spcBef>
                          <a:spcPts val="229"/>
                        </a:spcBef>
                      </a:pPr>
                      <a:r>
                        <a:rPr sz="1400" spc="-50" dirty="0">
                          <a:latin typeface="Arial MT"/>
                          <a:cs typeface="Arial MT"/>
                        </a:rPr>
                        <a:t>…</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algn="ctr">
                        <a:lnSpc>
                          <a:spcPct val="100000"/>
                        </a:lnSpc>
                        <a:spcBef>
                          <a:spcPts val="229"/>
                        </a:spcBef>
                      </a:pPr>
                      <a:r>
                        <a:rPr sz="1400" spc="-25" dirty="0">
                          <a:latin typeface="Arial MT"/>
                          <a:cs typeface="Arial MT"/>
                        </a:rPr>
                        <a:t>12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20" dirty="0">
                          <a:latin typeface="Arial MT"/>
                          <a:cs typeface="Arial MT"/>
                        </a:rPr>
                        <a:t>Cash</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10" dirty="0">
                          <a:latin typeface="Arial MT"/>
                          <a:cs typeface="Arial MT"/>
                        </a:rPr>
                        <a:t>Outbound</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25" dirty="0">
                          <a:latin typeface="Arial MT"/>
                          <a:cs typeface="Arial MT"/>
                        </a:rPr>
                        <a:t>No</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355344" y="2513584"/>
            <a:ext cx="9933093" cy="1705187"/>
            <a:chOff x="1016508" y="1885188"/>
            <a:chExt cx="7449820" cy="1278890"/>
          </a:xfrm>
        </p:grpSpPr>
        <p:pic>
          <p:nvPicPr>
            <p:cNvPr id="3" name="object 3"/>
            <p:cNvPicPr/>
            <p:nvPr/>
          </p:nvPicPr>
          <p:blipFill>
            <a:blip r:embed="rId2" cstate="print"/>
            <a:stretch>
              <a:fillRect/>
            </a:stretch>
          </p:blipFill>
          <p:spPr>
            <a:xfrm>
              <a:off x="1016508" y="1885188"/>
              <a:ext cx="7449311" cy="1278636"/>
            </a:xfrm>
            <a:prstGeom prst="rect">
              <a:avLst/>
            </a:prstGeom>
          </p:spPr>
        </p:pic>
        <p:sp>
          <p:nvSpPr>
            <p:cNvPr id="4" name="object 4"/>
            <p:cNvSpPr/>
            <p:nvPr/>
          </p:nvSpPr>
          <p:spPr>
            <a:xfrm>
              <a:off x="1063752" y="1909572"/>
              <a:ext cx="7359650" cy="1188720"/>
            </a:xfrm>
            <a:custGeom>
              <a:avLst/>
              <a:gdLst/>
              <a:ahLst/>
              <a:cxnLst/>
              <a:rect l="l" t="t" r="r" b="b"/>
              <a:pathLst>
                <a:path w="7359650" h="1188720">
                  <a:moveTo>
                    <a:pt x="7359396" y="0"/>
                  </a:moveTo>
                  <a:lnTo>
                    <a:pt x="0" y="0"/>
                  </a:lnTo>
                  <a:lnTo>
                    <a:pt x="0" y="1188720"/>
                  </a:lnTo>
                  <a:lnTo>
                    <a:pt x="7359396" y="1188720"/>
                  </a:lnTo>
                  <a:lnTo>
                    <a:pt x="7359396" y="0"/>
                  </a:lnTo>
                  <a:close/>
                </a:path>
              </a:pathLst>
            </a:custGeom>
            <a:solidFill>
              <a:srgbClr val="7E7E7E"/>
            </a:solidFill>
          </p:spPr>
          <p:txBody>
            <a:bodyPr wrap="square" lIns="0" tIns="0" rIns="0" bIns="0" rtlCol="0"/>
            <a:lstStyle/>
            <a:p>
              <a:endParaRPr sz="2400"/>
            </a:p>
          </p:txBody>
        </p:sp>
        <p:sp>
          <p:nvSpPr>
            <p:cNvPr id="5" name="object 5"/>
            <p:cNvSpPr/>
            <p:nvPr/>
          </p:nvSpPr>
          <p:spPr>
            <a:xfrm>
              <a:off x="1063752" y="1909572"/>
              <a:ext cx="7359650" cy="1188720"/>
            </a:xfrm>
            <a:custGeom>
              <a:avLst/>
              <a:gdLst/>
              <a:ahLst/>
              <a:cxnLst/>
              <a:rect l="l" t="t" r="r" b="b"/>
              <a:pathLst>
                <a:path w="7359650" h="1188720">
                  <a:moveTo>
                    <a:pt x="0" y="1188720"/>
                  </a:moveTo>
                  <a:lnTo>
                    <a:pt x="7359396" y="1188720"/>
                  </a:lnTo>
                  <a:lnTo>
                    <a:pt x="7359396" y="0"/>
                  </a:lnTo>
                  <a:lnTo>
                    <a:pt x="0" y="0"/>
                  </a:lnTo>
                  <a:lnTo>
                    <a:pt x="0" y="1188720"/>
                  </a:lnTo>
                  <a:close/>
                </a:path>
              </a:pathLst>
            </a:custGeom>
            <a:ln w="9144">
              <a:solidFill>
                <a:srgbClr val="373737"/>
              </a:solidFill>
            </a:ln>
          </p:spPr>
          <p:txBody>
            <a:bodyPr wrap="square" lIns="0" tIns="0" rIns="0" bIns="0" rtlCol="0"/>
            <a:lstStyle/>
            <a:p>
              <a:endParaRPr sz="2400"/>
            </a:p>
          </p:txBody>
        </p:sp>
      </p:grpSp>
      <p:pic>
        <p:nvPicPr>
          <p:cNvPr id="6" name="object 6"/>
          <p:cNvPicPr/>
          <p:nvPr/>
        </p:nvPicPr>
        <p:blipFill>
          <a:blip r:embed="rId3" cstate="print"/>
          <a:stretch>
            <a:fillRect/>
          </a:stretch>
        </p:blipFill>
        <p:spPr>
          <a:xfrm>
            <a:off x="1257807" y="247904"/>
            <a:ext cx="9930384" cy="1702816"/>
          </a:xfrm>
          <a:prstGeom prst="rect">
            <a:avLst/>
          </a:prstGeom>
        </p:spPr>
      </p:pic>
      <p:sp>
        <p:nvSpPr>
          <p:cNvPr id="7" name="object 7"/>
          <p:cNvSpPr txBox="1">
            <a:spLocks noGrp="1"/>
          </p:cNvSpPr>
          <p:nvPr>
            <p:ph type="title"/>
          </p:nvPr>
        </p:nvSpPr>
        <p:spPr>
          <a:xfrm>
            <a:off x="1320800" y="548400"/>
            <a:ext cx="9811173" cy="1047296"/>
          </a:xfrm>
          <a:prstGeom prst="rect">
            <a:avLst/>
          </a:prstGeom>
          <a:noFill/>
          <a:ln w="9144">
            <a:noFill/>
          </a:ln>
        </p:spPr>
        <p:txBody>
          <a:bodyPr vert="horz" wrap="square" lIns="0" tIns="305647" rIns="0" bIns="0" rtlCol="0" anchor="ctr">
            <a:spAutoFit/>
          </a:bodyPr>
          <a:lstStyle/>
          <a:p>
            <a:pPr algn="ctr">
              <a:lnSpc>
                <a:spcPct val="100000"/>
              </a:lnSpc>
              <a:spcBef>
                <a:spcPts val="2407"/>
              </a:spcBef>
            </a:pPr>
            <a:r>
              <a:rPr lang="en-IN" sz="4800" dirty="0">
                <a:solidFill>
                  <a:schemeClr val="bg1"/>
                </a:solidFill>
                <a:latin typeface="+mn-lt"/>
              </a:rPr>
              <a:t>Junk</a:t>
            </a:r>
            <a:r>
              <a:rPr lang="en-IN" sz="4800" spc="-33" dirty="0">
                <a:solidFill>
                  <a:schemeClr val="bg1"/>
                </a:solidFill>
                <a:latin typeface="+mn-lt"/>
              </a:rPr>
              <a:t> </a:t>
            </a:r>
            <a:r>
              <a:rPr lang="en-IN" sz="4800" spc="-13" dirty="0">
                <a:solidFill>
                  <a:schemeClr val="bg1"/>
                </a:solidFill>
                <a:latin typeface="+mn-lt"/>
              </a:rPr>
              <a:t>dimensions</a:t>
            </a:r>
            <a:endParaRPr sz="4800" dirty="0"/>
          </a:p>
        </p:txBody>
      </p:sp>
      <p:sp>
        <p:nvSpPr>
          <p:cNvPr id="8" name="object 8"/>
          <p:cNvSpPr txBox="1"/>
          <p:nvPr/>
        </p:nvSpPr>
        <p:spPr>
          <a:xfrm>
            <a:off x="4527805" y="1932195"/>
            <a:ext cx="3363807" cy="509541"/>
          </a:xfrm>
          <a:prstGeom prst="rect">
            <a:avLst/>
          </a:prstGeom>
        </p:spPr>
        <p:txBody>
          <a:bodyPr vert="horz" wrap="square" lIns="0" tIns="16933" rIns="0" bIns="0" rtlCol="0">
            <a:spAutoFit/>
          </a:bodyPr>
          <a:lstStyle/>
          <a:p>
            <a:pPr marL="16933">
              <a:spcBef>
                <a:spcPts val="133"/>
              </a:spcBef>
            </a:pPr>
            <a:r>
              <a:rPr sz="3200" dirty="0">
                <a:solidFill>
                  <a:srgbClr val="F1F1F1"/>
                </a:solidFill>
                <a:latin typeface="Bahnschrift"/>
                <a:cs typeface="Bahnschrift"/>
              </a:rPr>
              <a:t>Many</a:t>
            </a:r>
            <a:r>
              <a:rPr sz="3200" spc="313" dirty="0">
                <a:solidFill>
                  <a:srgbClr val="F1F1F1"/>
                </a:solidFill>
                <a:latin typeface="Bahnschrift"/>
                <a:cs typeface="Bahnschrift"/>
              </a:rPr>
              <a:t> </a:t>
            </a:r>
            <a:r>
              <a:rPr sz="3200" spc="-13" dirty="0">
                <a:solidFill>
                  <a:srgbClr val="F1F1F1"/>
                </a:solidFill>
                <a:latin typeface="Bahnschrift"/>
                <a:cs typeface="Bahnschrift"/>
              </a:rPr>
              <a:t>dimensions?</a:t>
            </a:r>
            <a:endParaRPr sz="3200">
              <a:latin typeface="Bahnschrift"/>
              <a:cs typeface="Bahnschrift"/>
            </a:endParaRPr>
          </a:p>
        </p:txBody>
      </p:sp>
      <p:sp>
        <p:nvSpPr>
          <p:cNvPr id="9" name="object 9"/>
          <p:cNvSpPr txBox="1"/>
          <p:nvPr/>
        </p:nvSpPr>
        <p:spPr>
          <a:xfrm>
            <a:off x="1747859" y="3063578"/>
            <a:ext cx="3628813" cy="509541"/>
          </a:xfrm>
          <a:prstGeom prst="rect">
            <a:avLst/>
          </a:prstGeom>
        </p:spPr>
        <p:txBody>
          <a:bodyPr vert="horz" wrap="square" lIns="0" tIns="16933" rIns="0" bIns="0" rtlCol="0">
            <a:spAutoFit/>
          </a:bodyPr>
          <a:lstStyle/>
          <a:p>
            <a:pPr>
              <a:spcBef>
                <a:spcPts val="133"/>
              </a:spcBef>
            </a:pPr>
            <a:r>
              <a:rPr sz="3200" dirty="0">
                <a:solidFill>
                  <a:srgbClr val="99E7FF"/>
                </a:solidFill>
                <a:latin typeface="Trebuchet MS"/>
                <a:cs typeface="Trebuchet MS"/>
              </a:rPr>
              <a:t>Many</a:t>
            </a:r>
            <a:r>
              <a:rPr sz="3200" spc="-80" dirty="0">
                <a:solidFill>
                  <a:srgbClr val="99E7FF"/>
                </a:solidFill>
                <a:latin typeface="Trebuchet MS"/>
                <a:cs typeface="Trebuchet MS"/>
              </a:rPr>
              <a:t> </a:t>
            </a:r>
            <a:r>
              <a:rPr sz="3200" spc="-13" dirty="0">
                <a:solidFill>
                  <a:srgbClr val="99E7FF"/>
                </a:solidFill>
                <a:latin typeface="Trebuchet MS"/>
                <a:cs typeface="Trebuchet MS"/>
              </a:rPr>
              <a:t>combinations!</a:t>
            </a:r>
            <a:endParaRPr sz="3200">
              <a:latin typeface="Trebuchet MS"/>
              <a:cs typeface="Trebuchet MS"/>
            </a:endParaRPr>
          </a:p>
        </p:txBody>
      </p:sp>
      <p:sp>
        <p:nvSpPr>
          <p:cNvPr id="10" name="object 10"/>
          <p:cNvSpPr txBox="1"/>
          <p:nvPr/>
        </p:nvSpPr>
        <p:spPr>
          <a:xfrm>
            <a:off x="6022001" y="2889165"/>
            <a:ext cx="4602480" cy="427532"/>
          </a:xfrm>
          <a:prstGeom prst="rect">
            <a:avLst/>
          </a:prstGeom>
        </p:spPr>
        <p:txBody>
          <a:bodyPr vert="horz" wrap="square" lIns="0" tIns="16933" rIns="0" bIns="0" rtlCol="0">
            <a:spAutoFit/>
          </a:bodyPr>
          <a:lstStyle/>
          <a:p>
            <a:pPr>
              <a:spcBef>
                <a:spcPts val="133"/>
              </a:spcBef>
            </a:pPr>
            <a:r>
              <a:rPr sz="2667" dirty="0">
                <a:solidFill>
                  <a:srgbClr val="F1F1F1"/>
                </a:solidFill>
                <a:latin typeface="Segoe UI Light"/>
                <a:cs typeface="Segoe UI Light"/>
              </a:rPr>
              <a:t>9</a:t>
            </a:r>
            <a:r>
              <a:rPr sz="2667" spc="-40" dirty="0">
                <a:solidFill>
                  <a:srgbClr val="F1F1F1"/>
                </a:solidFill>
                <a:latin typeface="Segoe UI Light"/>
                <a:cs typeface="Segoe UI Light"/>
              </a:rPr>
              <a:t> </a:t>
            </a:r>
            <a:r>
              <a:rPr sz="2667" dirty="0">
                <a:solidFill>
                  <a:srgbClr val="F1F1F1"/>
                </a:solidFill>
                <a:latin typeface="Segoe UI Light"/>
                <a:cs typeface="Segoe UI Light"/>
              </a:rPr>
              <a:t>indicators</a:t>
            </a:r>
            <a:r>
              <a:rPr sz="2667" spc="-20" dirty="0">
                <a:solidFill>
                  <a:srgbClr val="F1F1F1"/>
                </a:solidFill>
                <a:latin typeface="Segoe UI Light"/>
                <a:cs typeface="Segoe UI Light"/>
              </a:rPr>
              <a:t> </a:t>
            </a:r>
            <a:r>
              <a:rPr sz="2667" dirty="0">
                <a:solidFill>
                  <a:srgbClr val="F1F1F1"/>
                </a:solidFill>
                <a:latin typeface="Segoe UI Light"/>
                <a:cs typeface="Segoe UI Light"/>
              </a:rPr>
              <a:t>with</a:t>
            </a:r>
            <a:r>
              <a:rPr sz="2667" spc="-33" dirty="0">
                <a:solidFill>
                  <a:srgbClr val="F1F1F1"/>
                </a:solidFill>
                <a:latin typeface="Segoe UI Light"/>
                <a:cs typeface="Segoe UI Light"/>
              </a:rPr>
              <a:t> </a:t>
            </a:r>
            <a:r>
              <a:rPr sz="2667" dirty="0">
                <a:solidFill>
                  <a:srgbClr val="F1F1F1"/>
                </a:solidFill>
                <a:latin typeface="Segoe UI Light"/>
                <a:cs typeface="Segoe UI Light"/>
              </a:rPr>
              <a:t>4</a:t>
            </a:r>
            <a:r>
              <a:rPr sz="2667" spc="-27" dirty="0">
                <a:solidFill>
                  <a:srgbClr val="F1F1F1"/>
                </a:solidFill>
                <a:latin typeface="Segoe UI Light"/>
                <a:cs typeface="Segoe UI Light"/>
              </a:rPr>
              <a:t> </a:t>
            </a:r>
            <a:r>
              <a:rPr sz="2667" spc="-13" dirty="0">
                <a:solidFill>
                  <a:srgbClr val="F1F1F1"/>
                </a:solidFill>
                <a:latin typeface="Segoe UI Light"/>
                <a:cs typeface="Segoe UI Light"/>
              </a:rPr>
              <a:t>combinations</a:t>
            </a:r>
            <a:endParaRPr sz="2667">
              <a:latin typeface="Segoe UI Light"/>
              <a:cs typeface="Segoe UI Light"/>
            </a:endParaRPr>
          </a:p>
        </p:txBody>
      </p:sp>
      <p:sp>
        <p:nvSpPr>
          <p:cNvPr id="11" name="object 11"/>
          <p:cNvSpPr txBox="1"/>
          <p:nvPr/>
        </p:nvSpPr>
        <p:spPr>
          <a:xfrm>
            <a:off x="5898895" y="3446273"/>
            <a:ext cx="2247900" cy="463438"/>
          </a:xfrm>
          <a:prstGeom prst="rect">
            <a:avLst/>
          </a:prstGeom>
          <a:solidFill>
            <a:srgbClr val="005D7E"/>
          </a:solidFill>
        </p:spPr>
        <p:txBody>
          <a:bodyPr vert="horz" wrap="square" lIns="0" tIns="52492" rIns="0" bIns="0" rtlCol="0">
            <a:spAutoFit/>
          </a:bodyPr>
          <a:lstStyle/>
          <a:p>
            <a:pPr marL="122764">
              <a:spcBef>
                <a:spcPts val="412"/>
              </a:spcBef>
            </a:pPr>
            <a:r>
              <a:rPr sz="2667" dirty="0">
                <a:solidFill>
                  <a:srgbClr val="F1F1F1"/>
                </a:solidFill>
                <a:latin typeface="Segoe UI Light"/>
                <a:cs typeface="Segoe UI Light"/>
              </a:rPr>
              <a:t>4^9</a:t>
            </a:r>
            <a:r>
              <a:rPr sz="2667" spc="-27" dirty="0">
                <a:solidFill>
                  <a:srgbClr val="F1F1F1"/>
                </a:solidFill>
                <a:latin typeface="Segoe UI Light"/>
                <a:cs typeface="Segoe UI Light"/>
              </a:rPr>
              <a:t> </a:t>
            </a:r>
            <a:r>
              <a:rPr sz="2667" dirty="0">
                <a:solidFill>
                  <a:srgbClr val="F1F1F1"/>
                </a:solidFill>
                <a:latin typeface="Segoe UI Light"/>
                <a:cs typeface="Segoe UI Light"/>
              </a:rPr>
              <a:t>=</a:t>
            </a:r>
            <a:r>
              <a:rPr sz="2667" spc="7" dirty="0">
                <a:solidFill>
                  <a:srgbClr val="F1F1F1"/>
                </a:solidFill>
                <a:latin typeface="Segoe UI Light"/>
                <a:cs typeface="Segoe UI Light"/>
              </a:rPr>
              <a:t> </a:t>
            </a:r>
            <a:r>
              <a:rPr sz="2667" spc="-13" dirty="0">
                <a:solidFill>
                  <a:srgbClr val="F1F1F1"/>
                </a:solidFill>
                <a:latin typeface="Segoe UI Light"/>
                <a:cs typeface="Segoe UI Light"/>
              </a:rPr>
              <a:t>262144</a:t>
            </a:r>
            <a:endParaRPr sz="2667">
              <a:latin typeface="Segoe UI Light"/>
              <a:cs typeface="Segoe UI Light"/>
            </a:endParaRPr>
          </a:p>
        </p:txBody>
      </p:sp>
      <p:sp>
        <p:nvSpPr>
          <p:cNvPr id="12" name="object 12"/>
          <p:cNvSpPr txBox="1"/>
          <p:nvPr/>
        </p:nvSpPr>
        <p:spPr>
          <a:xfrm>
            <a:off x="1629392" y="4313191"/>
            <a:ext cx="9433560" cy="509541"/>
          </a:xfrm>
          <a:prstGeom prst="rect">
            <a:avLst/>
          </a:prstGeom>
        </p:spPr>
        <p:txBody>
          <a:bodyPr vert="horz" wrap="square" lIns="0" tIns="16933" rIns="0" bIns="0" rtlCol="0">
            <a:spAutoFit/>
          </a:bodyPr>
          <a:lstStyle/>
          <a:p>
            <a:pPr marL="16933">
              <a:spcBef>
                <a:spcPts val="133"/>
              </a:spcBef>
            </a:pPr>
            <a:r>
              <a:rPr sz="3200" dirty="0">
                <a:solidFill>
                  <a:srgbClr val="F1F1F1"/>
                </a:solidFill>
                <a:latin typeface="Trebuchet MS"/>
                <a:cs typeface="Trebuchet MS"/>
              </a:rPr>
              <a:t>1.</a:t>
            </a:r>
            <a:r>
              <a:rPr sz="3200" spc="-73" dirty="0">
                <a:solidFill>
                  <a:srgbClr val="F1F1F1"/>
                </a:solidFill>
                <a:latin typeface="Trebuchet MS"/>
                <a:cs typeface="Trebuchet MS"/>
              </a:rPr>
              <a:t> </a:t>
            </a:r>
            <a:r>
              <a:rPr sz="3200" dirty="0">
                <a:solidFill>
                  <a:srgbClr val="F1F1F1"/>
                </a:solidFill>
                <a:latin typeface="Trebuchet MS"/>
                <a:cs typeface="Trebuchet MS"/>
              </a:rPr>
              <a:t>Extract</a:t>
            </a:r>
            <a:r>
              <a:rPr sz="3200" spc="-87" dirty="0">
                <a:solidFill>
                  <a:srgbClr val="F1F1F1"/>
                </a:solidFill>
                <a:latin typeface="Trebuchet MS"/>
                <a:cs typeface="Trebuchet MS"/>
              </a:rPr>
              <a:t> </a:t>
            </a:r>
            <a:r>
              <a:rPr sz="3200" dirty="0">
                <a:solidFill>
                  <a:srgbClr val="F1F1F1"/>
                </a:solidFill>
                <a:latin typeface="Trebuchet MS"/>
                <a:cs typeface="Trebuchet MS"/>
              </a:rPr>
              <a:t>only</a:t>
            </a:r>
            <a:r>
              <a:rPr sz="3200" spc="-73" dirty="0">
                <a:solidFill>
                  <a:srgbClr val="F1F1F1"/>
                </a:solidFill>
                <a:latin typeface="Trebuchet MS"/>
                <a:cs typeface="Trebuchet MS"/>
              </a:rPr>
              <a:t> </a:t>
            </a:r>
            <a:r>
              <a:rPr sz="3200" dirty="0">
                <a:solidFill>
                  <a:srgbClr val="F1F1F1"/>
                </a:solidFill>
                <a:latin typeface="Trebuchet MS"/>
                <a:cs typeface="Trebuchet MS"/>
              </a:rPr>
              <a:t>available</a:t>
            </a:r>
            <a:r>
              <a:rPr sz="3200" spc="-47" dirty="0">
                <a:solidFill>
                  <a:srgbClr val="F1F1F1"/>
                </a:solidFill>
                <a:latin typeface="Trebuchet MS"/>
                <a:cs typeface="Trebuchet MS"/>
              </a:rPr>
              <a:t> </a:t>
            </a:r>
            <a:r>
              <a:rPr sz="3200" dirty="0">
                <a:solidFill>
                  <a:srgbClr val="F1F1F1"/>
                </a:solidFill>
                <a:latin typeface="Trebuchet MS"/>
                <a:cs typeface="Trebuchet MS"/>
              </a:rPr>
              <a:t>combinations</a:t>
            </a:r>
            <a:r>
              <a:rPr sz="3200" spc="-53" dirty="0">
                <a:solidFill>
                  <a:srgbClr val="F1F1F1"/>
                </a:solidFill>
                <a:latin typeface="Trebuchet MS"/>
                <a:cs typeface="Trebuchet MS"/>
              </a:rPr>
              <a:t> </a:t>
            </a:r>
            <a:r>
              <a:rPr sz="3200" dirty="0">
                <a:solidFill>
                  <a:srgbClr val="F1F1F1"/>
                </a:solidFill>
                <a:latin typeface="Trebuchet MS"/>
                <a:cs typeface="Trebuchet MS"/>
              </a:rPr>
              <a:t>of</a:t>
            </a:r>
            <a:r>
              <a:rPr sz="3200" spc="-80" dirty="0">
                <a:solidFill>
                  <a:srgbClr val="F1F1F1"/>
                </a:solidFill>
                <a:latin typeface="Trebuchet MS"/>
                <a:cs typeface="Trebuchet MS"/>
              </a:rPr>
              <a:t> </a:t>
            </a:r>
            <a:r>
              <a:rPr sz="3200" dirty="0">
                <a:solidFill>
                  <a:srgbClr val="F1F1F1"/>
                </a:solidFill>
                <a:latin typeface="Trebuchet MS"/>
                <a:cs typeface="Trebuchet MS"/>
              </a:rPr>
              <a:t>fact</a:t>
            </a:r>
            <a:r>
              <a:rPr sz="3200" spc="-87" dirty="0">
                <a:solidFill>
                  <a:srgbClr val="F1F1F1"/>
                </a:solidFill>
                <a:latin typeface="Trebuchet MS"/>
                <a:cs typeface="Trebuchet MS"/>
              </a:rPr>
              <a:t> </a:t>
            </a:r>
            <a:r>
              <a:rPr sz="3200" spc="-13" dirty="0">
                <a:solidFill>
                  <a:srgbClr val="F1F1F1"/>
                </a:solidFill>
                <a:latin typeface="Trebuchet MS"/>
                <a:cs typeface="Trebuchet MS"/>
              </a:rPr>
              <a:t>table</a:t>
            </a:r>
            <a:endParaRPr sz="3200">
              <a:latin typeface="Trebuchet MS"/>
              <a:cs typeface="Trebuchet MS"/>
            </a:endParaRPr>
          </a:p>
        </p:txBody>
      </p:sp>
      <p:sp>
        <p:nvSpPr>
          <p:cNvPr id="13" name="object 13"/>
          <p:cNvSpPr txBox="1"/>
          <p:nvPr/>
        </p:nvSpPr>
        <p:spPr>
          <a:xfrm>
            <a:off x="1629392" y="5222782"/>
            <a:ext cx="5884333" cy="509541"/>
          </a:xfrm>
          <a:prstGeom prst="rect">
            <a:avLst/>
          </a:prstGeom>
        </p:spPr>
        <p:txBody>
          <a:bodyPr vert="horz" wrap="square" lIns="0" tIns="16933" rIns="0" bIns="0" rtlCol="0">
            <a:spAutoFit/>
          </a:bodyPr>
          <a:lstStyle/>
          <a:p>
            <a:pPr marL="16933">
              <a:spcBef>
                <a:spcPts val="133"/>
              </a:spcBef>
            </a:pPr>
            <a:r>
              <a:rPr sz="3200" dirty="0">
                <a:solidFill>
                  <a:srgbClr val="F1F1F1"/>
                </a:solidFill>
                <a:latin typeface="Trebuchet MS"/>
                <a:cs typeface="Trebuchet MS"/>
              </a:rPr>
              <a:t>2.</a:t>
            </a:r>
            <a:r>
              <a:rPr sz="3200" spc="-27" dirty="0">
                <a:solidFill>
                  <a:srgbClr val="F1F1F1"/>
                </a:solidFill>
                <a:latin typeface="Trebuchet MS"/>
                <a:cs typeface="Trebuchet MS"/>
              </a:rPr>
              <a:t> </a:t>
            </a:r>
            <a:r>
              <a:rPr sz="3200" dirty="0">
                <a:solidFill>
                  <a:srgbClr val="F1F1F1"/>
                </a:solidFill>
                <a:latin typeface="Trebuchet MS"/>
                <a:cs typeface="Trebuchet MS"/>
              </a:rPr>
              <a:t>Two</a:t>
            </a:r>
            <a:r>
              <a:rPr sz="3200" spc="-47" dirty="0">
                <a:solidFill>
                  <a:srgbClr val="F1F1F1"/>
                </a:solidFill>
                <a:latin typeface="Trebuchet MS"/>
                <a:cs typeface="Trebuchet MS"/>
              </a:rPr>
              <a:t> </a:t>
            </a:r>
            <a:r>
              <a:rPr sz="3200" dirty="0">
                <a:solidFill>
                  <a:srgbClr val="F1F1F1"/>
                </a:solidFill>
                <a:latin typeface="Trebuchet MS"/>
                <a:cs typeface="Trebuchet MS"/>
              </a:rPr>
              <a:t>or</a:t>
            </a:r>
            <a:r>
              <a:rPr sz="3200" spc="-33" dirty="0">
                <a:solidFill>
                  <a:srgbClr val="F1F1F1"/>
                </a:solidFill>
                <a:latin typeface="Trebuchet MS"/>
                <a:cs typeface="Trebuchet MS"/>
              </a:rPr>
              <a:t> </a:t>
            </a:r>
            <a:r>
              <a:rPr sz="3200" dirty="0">
                <a:solidFill>
                  <a:srgbClr val="F1F1F1"/>
                </a:solidFill>
                <a:latin typeface="Trebuchet MS"/>
                <a:cs typeface="Trebuchet MS"/>
              </a:rPr>
              <a:t>more</a:t>
            </a:r>
            <a:r>
              <a:rPr sz="3200" spc="-27" dirty="0">
                <a:solidFill>
                  <a:srgbClr val="F1F1F1"/>
                </a:solidFill>
                <a:latin typeface="Trebuchet MS"/>
                <a:cs typeface="Trebuchet MS"/>
              </a:rPr>
              <a:t> </a:t>
            </a:r>
            <a:r>
              <a:rPr sz="3200" dirty="0">
                <a:solidFill>
                  <a:srgbClr val="F1F1F1"/>
                </a:solidFill>
                <a:latin typeface="Trebuchet MS"/>
                <a:cs typeface="Trebuchet MS"/>
              </a:rPr>
              <a:t>junk</a:t>
            </a:r>
            <a:r>
              <a:rPr sz="3200" spc="-40" dirty="0">
                <a:solidFill>
                  <a:srgbClr val="F1F1F1"/>
                </a:solidFill>
                <a:latin typeface="Trebuchet MS"/>
                <a:cs typeface="Trebuchet MS"/>
              </a:rPr>
              <a:t> </a:t>
            </a:r>
            <a:r>
              <a:rPr sz="3200" spc="-13" dirty="0">
                <a:solidFill>
                  <a:srgbClr val="F1F1F1"/>
                </a:solidFill>
                <a:latin typeface="Trebuchet MS"/>
                <a:cs typeface="Trebuchet MS"/>
              </a:rPr>
              <a:t>dimensions</a:t>
            </a:r>
            <a:endParaRPr sz="3200">
              <a:latin typeface="Trebuchet MS"/>
              <a:cs typeface="Trebuchet MS"/>
            </a:endParaRPr>
          </a:p>
        </p:txBody>
      </p:sp>
      <p:sp>
        <p:nvSpPr>
          <p:cNvPr id="14" name="object 14"/>
          <p:cNvSpPr txBox="1"/>
          <p:nvPr/>
        </p:nvSpPr>
        <p:spPr>
          <a:xfrm>
            <a:off x="7902447" y="5230369"/>
            <a:ext cx="1888067" cy="464294"/>
          </a:xfrm>
          <a:prstGeom prst="rect">
            <a:avLst/>
          </a:prstGeom>
          <a:solidFill>
            <a:srgbClr val="005D7E"/>
          </a:solidFill>
        </p:spPr>
        <p:txBody>
          <a:bodyPr vert="horz" wrap="square" lIns="0" tIns="53340" rIns="0" bIns="0" rtlCol="0">
            <a:spAutoFit/>
          </a:bodyPr>
          <a:lstStyle/>
          <a:p>
            <a:pPr marL="123610">
              <a:spcBef>
                <a:spcPts val="420"/>
              </a:spcBef>
            </a:pPr>
            <a:r>
              <a:rPr sz="2667" dirty="0">
                <a:solidFill>
                  <a:srgbClr val="F1F1F1"/>
                </a:solidFill>
                <a:latin typeface="Segoe UI Light"/>
                <a:cs typeface="Segoe UI Light"/>
              </a:rPr>
              <a:t>4^5</a:t>
            </a:r>
            <a:r>
              <a:rPr sz="2667" spc="-33" dirty="0">
                <a:solidFill>
                  <a:srgbClr val="F1F1F1"/>
                </a:solidFill>
                <a:latin typeface="Segoe UI Light"/>
                <a:cs typeface="Segoe UI Light"/>
              </a:rPr>
              <a:t> </a:t>
            </a:r>
            <a:r>
              <a:rPr sz="2667" dirty="0">
                <a:solidFill>
                  <a:srgbClr val="F1F1F1"/>
                </a:solidFill>
                <a:latin typeface="Segoe UI Light"/>
                <a:cs typeface="Segoe UI Light"/>
              </a:rPr>
              <a:t>= </a:t>
            </a:r>
            <a:r>
              <a:rPr sz="2667" spc="-27" dirty="0">
                <a:solidFill>
                  <a:srgbClr val="F1F1F1"/>
                </a:solidFill>
                <a:latin typeface="Segoe UI Light"/>
                <a:cs typeface="Segoe UI Light"/>
              </a:rPr>
              <a:t>1024</a:t>
            </a:r>
            <a:endParaRPr sz="2667">
              <a:latin typeface="Segoe UI Light"/>
              <a:cs typeface="Segoe UI Light"/>
            </a:endParaRPr>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57807" y="2178303"/>
            <a:ext cx="9930384" cy="1702816"/>
          </a:xfrm>
          <a:prstGeom prst="rect">
            <a:avLst/>
          </a:prstGeom>
        </p:spPr>
      </p:pic>
      <p:sp>
        <p:nvSpPr>
          <p:cNvPr id="3" name="object 3"/>
          <p:cNvSpPr txBox="1">
            <a:spLocks noGrp="1"/>
          </p:cNvSpPr>
          <p:nvPr>
            <p:ph type="title"/>
          </p:nvPr>
        </p:nvSpPr>
        <p:spPr>
          <a:xfrm>
            <a:off x="1320800" y="2478373"/>
            <a:ext cx="9811173" cy="1048150"/>
          </a:xfrm>
          <a:prstGeom prst="rect">
            <a:avLst/>
          </a:prstGeom>
          <a:noFill/>
          <a:ln w="9144">
            <a:noFill/>
          </a:ln>
        </p:spPr>
        <p:txBody>
          <a:bodyPr vert="horz" wrap="square" lIns="0" tIns="306493" rIns="0" bIns="0" rtlCol="0" anchor="ctr">
            <a:spAutoFit/>
          </a:bodyPr>
          <a:lstStyle/>
          <a:p>
            <a:pPr algn="ctr">
              <a:lnSpc>
                <a:spcPct val="100000"/>
              </a:lnSpc>
              <a:spcBef>
                <a:spcPts val="2413"/>
              </a:spcBef>
            </a:pPr>
            <a:r>
              <a:rPr sz="4800" spc="-13" dirty="0">
                <a:solidFill>
                  <a:schemeClr val="bg1"/>
                </a:solidFill>
                <a:latin typeface="+mn-lt"/>
              </a:rPr>
              <a:t>Role-</a:t>
            </a:r>
            <a:r>
              <a:rPr sz="4800" dirty="0">
                <a:solidFill>
                  <a:schemeClr val="bg1"/>
                </a:solidFill>
                <a:latin typeface="+mn-lt"/>
              </a:rPr>
              <a:t>playing</a:t>
            </a:r>
            <a:r>
              <a:rPr sz="4800" spc="-53" dirty="0">
                <a:solidFill>
                  <a:schemeClr val="bg1"/>
                </a:solidFill>
                <a:latin typeface="+mn-lt"/>
              </a:rPr>
              <a:t> </a:t>
            </a:r>
            <a:r>
              <a:rPr sz="4800" spc="-13" dirty="0">
                <a:solidFill>
                  <a:schemeClr val="bg1"/>
                </a:solidFill>
                <a:latin typeface="+mn-lt"/>
              </a:rPr>
              <a:t>dimension</a:t>
            </a:r>
            <a:endParaRPr sz="4800" dirty="0">
              <a:solidFill>
                <a:schemeClr val="bg1"/>
              </a:solidFill>
              <a:latin typeface="+mn-lt"/>
            </a:endParaRPr>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57807" y="247904"/>
            <a:ext cx="9930384" cy="1702816"/>
          </a:xfrm>
          <a:prstGeom prst="rect">
            <a:avLst/>
          </a:prstGeom>
        </p:spPr>
      </p:pic>
      <p:sp>
        <p:nvSpPr>
          <p:cNvPr id="3" name="object 3"/>
          <p:cNvSpPr txBox="1">
            <a:spLocks noGrp="1"/>
          </p:cNvSpPr>
          <p:nvPr>
            <p:ph type="title"/>
          </p:nvPr>
        </p:nvSpPr>
        <p:spPr>
          <a:xfrm>
            <a:off x="1320800" y="536858"/>
            <a:ext cx="9811173" cy="1070379"/>
          </a:xfrm>
          <a:prstGeom prst="rect">
            <a:avLst/>
          </a:prstGeom>
          <a:noFill/>
          <a:ln w="9144">
            <a:noFill/>
          </a:ln>
        </p:spPr>
        <p:txBody>
          <a:bodyPr vert="horz" wrap="square" lIns="0" tIns="328507" rIns="0" bIns="0" rtlCol="0" anchor="ctr">
            <a:spAutoFit/>
          </a:bodyPr>
          <a:lstStyle/>
          <a:p>
            <a:pPr algn="ctr">
              <a:lnSpc>
                <a:spcPct val="100000"/>
              </a:lnSpc>
              <a:spcBef>
                <a:spcPts val="2587"/>
              </a:spcBef>
            </a:pPr>
            <a:r>
              <a:rPr sz="4800" spc="-13" dirty="0">
                <a:solidFill>
                  <a:schemeClr val="bg1"/>
                </a:solidFill>
                <a:latin typeface="Arial MT"/>
                <a:cs typeface="Arial MT"/>
              </a:rPr>
              <a:t>Role-</a:t>
            </a:r>
            <a:r>
              <a:rPr sz="4800" dirty="0">
                <a:solidFill>
                  <a:schemeClr val="bg1"/>
                </a:solidFill>
                <a:latin typeface="Arial MT"/>
                <a:cs typeface="Arial MT"/>
              </a:rPr>
              <a:t>playing</a:t>
            </a:r>
            <a:r>
              <a:rPr sz="4800" spc="-53" dirty="0">
                <a:solidFill>
                  <a:schemeClr val="bg1"/>
                </a:solidFill>
                <a:latin typeface="Arial MT"/>
                <a:cs typeface="Arial MT"/>
              </a:rPr>
              <a:t> </a:t>
            </a:r>
            <a:r>
              <a:rPr sz="4800" spc="-13" dirty="0">
                <a:solidFill>
                  <a:schemeClr val="bg1"/>
                </a:solidFill>
                <a:latin typeface="Arial MT"/>
                <a:cs typeface="Arial MT"/>
              </a:rPr>
              <a:t>dimension</a:t>
            </a:r>
            <a:endParaRPr sz="4800" dirty="0">
              <a:solidFill>
                <a:schemeClr val="bg1"/>
              </a:solidFill>
              <a:latin typeface="Arial MT"/>
              <a:cs typeface="Arial MT"/>
            </a:endParaRPr>
          </a:p>
        </p:txBody>
      </p:sp>
      <p:grpSp>
        <p:nvGrpSpPr>
          <p:cNvPr id="4" name="object 4"/>
          <p:cNvGrpSpPr/>
          <p:nvPr/>
        </p:nvGrpSpPr>
        <p:grpSpPr>
          <a:xfrm>
            <a:off x="2503423" y="2422143"/>
            <a:ext cx="6775027" cy="2162387"/>
            <a:chOff x="1877567" y="1816607"/>
            <a:chExt cx="5081270" cy="1621790"/>
          </a:xfrm>
        </p:grpSpPr>
        <p:pic>
          <p:nvPicPr>
            <p:cNvPr id="5" name="object 5"/>
            <p:cNvPicPr/>
            <p:nvPr/>
          </p:nvPicPr>
          <p:blipFill>
            <a:blip r:embed="rId3" cstate="print"/>
            <a:stretch>
              <a:fillRect/>
            </a:stretch>
          </p:blipFill>
          <p:spPr>
            <a:xfrm>
              <a:off x="1920239" y="1816607"/>
              <a:ext cx="5003292" cy="1546859"/>
            </a:xfrm>
            <a:prstGeom prst="rect">
              <a:avLst/>
            </a:prstGeom>
          </p:spPr>
        </p:pic>
        <p:pic>
          <p:nvPicPr>
            <p:cNvPr id="6" name="object 6"/>
            <p:cNvPicPr/>
            <p:nvPr/>
          </p:nvPicPr>
          <p:blipFill>
            <a:blip r:embed="rId4" cstate="print"/>
            <a:stretch>
              <a:fillRect/>
            </a:stretch>
          </p:blipFill>
          <p:spPr>
            <a:xfrm>
              <a:off x="1877567" y="1909571"/>
              <a:ext cx="5081015" cy="1528571"/>
            </a:xfrm>
            <a:prstGeom prst="rect">
              <a:avLst/>
            </a:prstGeom>
          </p:spPr>
        </p:pic>
      </p:grpSp>
      <p:sp>
        <p:nvSpPr>
          <p:cNvPr id="7" name="object 7"/>
          <p:cNvSpPr txBox="1"/>
          <p:nvPr/>
        </p:nvSpPr>
        <p:spPr>
          <a:xfrm>
            <a:off x="2642615" y="2478023"/>
            <a:ext cx="6512560" cy="1813830"/>
          </a:xfrm>
          <a:prstGeom prst="rect">
            <a:avLst/>
          </a:prstGeom>
          <a:solidFill>
            <a:srgbClr val="383838"/>
          </a:solidFill>
          <a:ln w="38100">
            <a:solidFill>
              <a:srgbClr val="FFFFFF"/>
            </a:solidFill>
          </a:ln>
        </p:spPr>
        <p:txBody>
          <a:bodyPr vert="horz" wrap="square" lIns="0" tIns="30480" rIns="0" bIns="0" rtlCol="0">
            <a:spAutoFit/>
          </a:bodyPr>
          <a:lstStyle/>
          <a:p>
            <a:pPr marL="121070" marR="194728">
              <a:lnSpc>
                <a:spcPts val="4800"/>
              </a:lnSpc>
              <a:spcBef>
                <a:spcPts val="240"/>
              </a:spcBef>
            </a:pPr>
            <a:r>
              <a:rPr sz="2667" b="1" u="sng" dirty="0">
                <a:solidFill>
                  <a:srgbClr val="D9D9D9"/>
                </a:solidFill>
                <a:uFill>
                  <a:solidFill>
                    <a:srgbClr val="D9D9D9"/>
                  </a:solidFill>
                </a:uFill>
                <a:latin typeface="Calibri"/>
                <a:cs typeface="Calibri"/>
              </a:rPr>
              <a:t>What</a:t>
            </a:r>
            <a:r>
              <a:rPr sz="2667" b="1" u="sng" spc="-27" dirty="0">
                <a:solidFill>
                  <a:srgbClr val="D9D9D9"/>
                </a:solidFill>
                <a:uFill>
                  <a:solidFill>
                    <a:srgbClr val="D9D9D9"/>
                  </a:solidFill>
                </a:uFill>
                <a:latin typeface="Calibri"/>
                <a:cs typeface="Calibri"/>
              </a:rPr>
              <a:t> </a:t>
            </a:r>
            <a:r>
              <a:rPr sz="2667" b="1" u="sng" dirty="0">
                <a:solidFill>
                  <a:srgbClr val="D9D9D9"/>
                </a:solidFill>
                <a:uFill>
                  <a:solidFill>
                    <a:srgbClr val="D9D9D9"/>
                  </a:solidFill>
                </a:uFill>
                <a:latin typeface="Calibri"/>
                <a:cs typeface="Calibri"/>
              </a:rPr>
              <a:t>is</a:t>
            </a:r>
            <a:r>
              <a:rPr sz="2667" b="1" u="sng" spc="-27" dirty="0">
                <a:solidFill>
                  <a:srgbClr val="D9D9D9"/>
                </a:solidFill>
                <a:uFill>
                  <a:solidFill>
                    <a:srgbClr val="D9D9D9"/>
                  </a:solidFill>
                </a:uFill>
                <a:latin typeface="Calibri"/>
                <a:cs typeface="Calibri"/>
              </a:rPr>
              <a:t> </a:t>
            </a:r>
            <a:r>
              <a:rPr sz="2667" b="1" u="sng" dirty="0">
                <a:solidFill>
                  <a:srgbClr val="D9D9D9"/>
                </a:solidFill>
                <a:uFill>
                  <a:solidFill>
                    <a:srgbClr val="D9D9D9"/>
                  </a:solidFill>
                </a:uFill>
                <a:latin typeface="Calibri"/>
                <a:cs typeface="Calibri"/>
              </a:rPr>
              <a:t>a</a:t>
            </a:r>
            <a:r>
              <a:rPr sz="2667" b="1" u="sng" spc="-7" dirty="0">
                <a:solidFill>
                  <a:srgbClr val="D9D9D9"/>
                </a:solidFill>
                <a:uFill>
                  <a:solidFill>
                    <a:srgbClr val="D9D9D9"/>
                  </a:solidFill>
                </a:uFill>
                <a:latin typeface="Calibri"/>
                <a:cs typeface="Calibri"/>
              </a:rPr>
              <a:t> </a:t>
            </a:r>
            <a:r>
              <a:rPr sz="2667" b="1" u="sng" spc="-13" dirty="0">
                <a:solidFill>
                  <a:srgbClr val="D9D9D9"/>
                </a:solidFill>
                <a:uFill>
                  <a:solidFill>
                    <a:srgbClr val="D9D9D9"/>
                  </a:solidFill>
                </a:uFill>
                <a:latin typeface="Calibri"/>
                <a:cs typeface="Calibri"/>
              </a:rPr>
              <a:t>role-</a:t>
            </a:r>
            <a:r>
              <a:rPr sz="2667" b="1" u="sng" dirty="0">
                <a:solidFill>
                  <a:srgbClr val="D9D9D9"/>
                </a:solidFill>
                <a:uFill>
                  <a:solidFill>
                    <a:srgbClr val="D9D9D9"/>
                  </a:solidFill>
                </a:uFill>
                <a:latin typeface="Calibri"/>
                <a:cs typeface="Calibri"/>
              </a:rPr>
              <a:t>playing</a:t>
            </a:r>
            <a:r>
              <a:rPr sz="2667" b="1" u="sng" spc="-20" dirty="0">
                <a:solidFill>
                  <a:srgbClr val="D9D9D9"/>
                </a:solidFill>
                <a:uFill>
                  <a:solidFill>
                    <a:srgbClr val="D9D9D9"/>
                  </a:solidFill>
                </a:uFill>
                <a:latin typeface="Calibri"/>
                <a:cs typeface="Calibri"/>
              </a:rPr>
              <a:t> </a:t>
            </a:r>
            <a:r>
              <a:rPr sz="2667" b="1" u="sng" spc="-13" dirty="0">
                <a:solidFill>
                  <a:srgbClr val="D9D9D9"/>
                </a:solidFill>
                <a:uFill>
                  <a:solidFill>
                    <a:srgbClr val="D9D9D9"/>
                  </a:solidFill>
                </a:uFill>
                <a:latin typeface="Calibri"/>
                <a:cs typeface="Calibri"/>
              </a:rPr>
              <a:t>dimension?</a:t>
            </a:r>
            <a:r>
              <a:rPr sz="2667" b="1" spc="-13" dirty="0">
                <a:solidFill>
                  <a:srgbClr val="D9D9D9"/>
                </a:solidFill>
                <a:latin typeface="Calibri"/>
                <a:cs typeface="Calibri"/>
              </a:rPr>
              <a:t> </a:t>
            </a:r>
            <a:r>
              <a:rPr sz="2667" b="1" dirty="0">
                <a:solidFill>
                  <a:srgbClr val="D9D9D9"/>
                </a:solidFill>
                <a:latin typeface="Calibri"/>
                <a:cs typeface="Calibri"/>
              </a:rPr>
              <a:t>Dimension</a:t>
            </a:r>
            <a:r>
              <a:rPr sz="2667" b="1" spc="-73" dirty="0">
                <a:solidFill>
                  <a:srgbClr val="D9D9D9"/>
                </a:solidFill>
                <a:latin typeface="Calibri"/>
                <a:cs typeface="Calibri"/>
              </a:rPr>
              <a:t> </a:t>
            </a:r>
            <a:r>
              <a:rPr sz="2667" b="1" dirty="0">
                <a:solidFill>
                  <a:srgbClr val="D9D9D9"/>
                </a:solidFill>
                <a:latin typeface="Calibri"/>
                <a:cs typeface="Calibri"/>
              </a:rPr>
              <a:t>that</a:t>
            </a:r>
            <a:r>
              <a:rPr sz="2667" b="1" spc="-67" dirty="0">
                <a:solidFill>
                  <a:srgbClr val="D9D9D9"/>
                </a:solidFill>
                <a:latin typeface="Calibri"/>
                <a:cs typeface="Calibri"/>
              </a:rPr>
              <a:t> </a:t>
            </a:r>
            <a:r>
              <a:rPr sz="2667" b="1" dirty="0">
                <a:solidFill>
                  <a:srgbClr val="D9D9D9"/>
                </a:solidFill>
                <a:latin typeface="Calibri"/>
                <a:cs typeface="Calibri"/>
              </a:rPr>
              <a:t>is</a:t>
            </a:r>
            <a:r>
              <a:rPr sz="2667" b="1" spc="-33" dirty="0">
                <a:solidFill>
                  <a:srgbClr val="D9D9D9"/>
                </a:solidFill>
                <a:latin typeface="Calibri"/>
                <a:cs typeface="Calibri"/>
              </a:rPr>
              <a:t> </a:t>
            </a:r>
            <a:r>
              <a:rPr sz="2667" b="1" dirty="0">
                <a:solidFill>
                  <a:srgbClr val="D9D9D9"/>
                </a:solidFill>
                <a:latin typeface="Calibri"/>
                <a:cs typeface="Calibri"/>
              </a:rPr>
              <a:t>referenced</a:t>
            </a:r>
            <a:r>
              <a:rPr sz="2667" b="1" spc="-7" dirty="0">
                <a:solidFill>
                  <a:srgbClr val="D9D9D9"/>
                </a:solidFill>
                <a:latin typeface="Calibri"/>
                <a:cs typeface="Calibri"/>
              </a:rPr>
              <a:t> </a:t>
            </a:r>
            <a:r>
              <a:rPr sz="2667" b="1" dirty="0">
                <a:solidFill>
                  <a:srgbClr val="D9D9D9"/>
                </a:solidFill>
                <a:latin typeface="Calibri"/>
                <a:cs typeface="Calibri"/>
              </a:rPr>
              <a:t>multiple</a:t>
            </a:r>
            <a:r>
              <a:rPr sz="2667" b="1" spc="-93" dirty="0">
                <a:solidFill>
                  <a:srgbClr val="D9D9D9"/>
                </a:solidFill>
                <a:latin typeface="Calibri"/>
                <a:cs typeface="Calibri"/>
              </a:rPr>
              <a:t> </a:t>
            </a:r>
            <a:r>
              <a:rPr sz="2667" b="1" spc="-13" dirty="0">
                <a:solidFill>
                  <a:srgbClr val="D9D9D9"/>
                </a:solidFill>
                <a:latin typeface="Calibri"/>
                <a:cs typeface="Calibri"/>
              </a:rPr>
              <a:t>times </a:t>
            </a:r>
            <a:r>
              <a:rPr sz="2667" b="1" dirty="0">
                <a:solidFill>
                  <a:srgbClr val="D9D9D9"/>
                </a:solidFill>
                <a:latin typeface="Calibri"/>
                <a:cs typeface="Calibri"/>
              </a:rPr>
              <a:t>by</a:t>
            </a:r>
            <a:r>
              <a:rPr sz="2667" b="1" spc="-13" dirty="0">
                <a:solidFill>
                  <a:srgbClr val="D9D9D9"/>
                </a:solidFill>
                <a:latin typeface="Calibri"/>
                <a:cs typeface="Calibri"/>
              </a:rPr>
              <a:t> </a:t>
            </a:r>
            <a:r>
              <a:rPr sz="2667" b="1" dirty="0">
                <a:solidFill>
                  <a:srgbClr val="D9D9D9"/>
                </a:solidFill>
                <a:latin typeface="Calibri"/>
                <a:cs typeface="Calibri"/>
              </a:rPr>
              <a:t>a</a:t>
            </a:r>
            <a:r>
              <a:rPr sz="2667" b="1" spc="-13" dirty="0">
                <a:solidFill>
                  <a:srgbClr val="D9D9D9"/>
                </a:solidFill>
                <a:latin typeface="Calibri"/>
                <a:cs typeface="Calibri"/>
              </a:rPr>
              <a:t> </a:t>
            </a:r>
            <a:r>
              <a:rPr sz="2667" b="1" spc="-27" dirty="0">
                <a:solidFill>
                  <a:srgbClr val="D9D9D9"/>
                </a:solidFill>
                <a:latin typeface="Calibri"/>
                <a:cs typeface="Calibri"/>
              </a:rPr>
              <a:t>fact</a:t>
            </a:r>
            <a:endParaRPr sz="2667" dirty="0">
              <a:latin typeface="Calibri"/>
              <a:cs typeface="Calibri"/>
            </a:endParaRPr>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553200" y="4460239"/>
            <a:ext cx="863600" cy="336909"/>
          </a:xfrm>
          <a:prstGeom prst="rect">
            <a:avLst/>
          </a:prstGeom>
          <a:solidFill>
            <a:srgbClr val="0092BE"/>
          </a:solidFill>
        </p:spPr>
        <p:txBody>
          <a:bodyPr vert="horz" wrap="square" lIns="0" tIns="49107" rIns="0" bIns="0" rtlCol="0">
            <a:spAutoFit/>
          </a:bodyPr>
          <a:lstStyle/>
          <a:p>
            <a:pPr marL="122764">
              <a:spcBef>
                <a:spcPts val="387"/>
              </a:spcBef>
            </a:pPr>
            <a:r>
              <a:rPr sz="1867" b="1" dirty="0">
                <a:solidFill>
                  <a:srgbClr val="FFFFFF"/>
                </a:solidFill>
                <a:latin typeface="Calibri"/>
                <a:cs typeface="Calibri"/>
              </a:rPr>
              <a:t>Role</a:t>
            </a:r>
            <a:r>
              <a:rPr sz="1867" b="1" spc="-27" dirty="0">
                <a:solidFill>
                  <a:srgbClr val="FFFFFF"/>
                </a:solidFill>
                <a:latin typeface="Calibri"/>
                <a:cs typeface="Calibri"/>
              </a:rPr>
              <a:t> </a:t>
            </a:r>
            <a:r>
              <a:rPr sz="1867" b="1" spc="-67" dirty="0">
                <a:solidFill>
                  <a:srgbClr val="FFFFFF"/>
                </a:solidFill>
                <a:latin typeface="Calibri"/>
                <a:cs typeface="Calibri"/>
              </a:rPr>
              <a:t>2</a:t>
            </a:r>
            <a:endParaRPr sz="1867">
              <a:latin typeface="Calibri"/>
              <a:cs typeface="Calibri"/>
            </a:endParaRPr>
          </a:p>
        </p:txBody>
      </p:sp>
      <p:pic>
        <p:nvPicPr>
          <p:cNvPr id="3" name="object 3"/>
          <p:cNvPicPr/>
          <p:nvPr/>
        </p:nvPicPr>
        <p:blipFill>
          <a:blip r:embed="rId2" cstate="print"/>
          <a:stretch>
            <a:fillRect/>
          </a:stretch>
        </p:blipFill>
        <p:spPr>
          <a:xfrm>
            <a:off x="1257807" y="247904"/>
            <a:ext cx="9930384" cy="1702816"/>
          </a:xfrm>
          <a:prstGeom prst="rect">
            <a:avLst/>
          </a:prstGeom>
        </p:spPr>
      </p:pic>
      <p:sp>
        <p:nvSpPr>
          <p:cNvPr id="4" name="object 4"/>
          <p:cNvSpPr txBox="1">
            <a:spLocks noGrp="1"/>
          </p:cNvSpPr>
          <p:nvPr>
            <p:ph type="title"/>
          </p:nvPr>
        </p:nvSpPr>
        <p:spPr>
          <a:xfrm>
            <a:off x="1320800" y="536858"/>
            <a:ext cx="9811173" cy="1070379"/>
          </a:xfrm>
          <a:prstGeom prst="rect">
            <a:avLst/>
          </a:prstGeom>
          <a:solidFill>
            <a:srgbClr val="404040"/>
          </a:solidFill>
          <a:ln w="9144">
            <a:solidFill>
              <a:srgbClr val="373737"/>
            </a:solidFill>
          </a:ln>
        </p:spPr>
        <p:txBody>
          <a:bodyPr vert="horz" wrap="square" lIns="0" tIns="328507" rIns="0" bIns="0" rtlCol="0" anchor="ctr">
            <a:spAutoFit/>
          </a:bodyPr>
          <a:lstStyle/>
          <a:p>
            <a:pPr algn="ctr">
              <a:lnSpc>
                <a:spcPct val="100000"/>
              </a:lnSpc>
              <a:spcBef>
                <a:spcPts val="2587"/>
              </a:spcBef>
            </a:pPr>
            <a:r>
              <a:rPr sz="4800" spc="-13" dirty="0">
                <a:solidFill>
                  <a:schemeClr val="bg1"/>
                </a:solidFill>
                <a:latin typeface="+mn-lt"/>
                <a:cs typeface="Arial MT"/>
              </a:rPr>
              <a:t>Role-</a:t>
            </a:r>
            <a:r>
              <a:rPr sz="4800" dirty="0">
                <a:solidFill>
                  <a:schemeClr val="bg1"/>
                </a:solidFill>
                <a:latin typeface="+mn-lt"/>
                <a:cs typeface="Arial MT"/>
              </a:rPr>
              <a:t>playing</a:t>
            </a:r>
            <a:r>
              <a:rPr sz="4800" spc="-53" dirty="0">
                <a:solidFill>
                  <a:schemeClr val="bg1"/>
                </a:solidFill>
                <a:latin typeface="+mn-lt"/>
                <a:cs typeface="Arial MT"/>
              </a:rPr>
              <a:t> </a:t>
            </a:r>
            <a:r>
              <a:rPr sz="4800" spc="-13" dirty="0">
                <a:solidFill>
                  <a:schemeClr val="bg1"/>
                </a:solidFill>
                <a:latin typeface="+mn-lt"/>
                <a:cs typeface="Arial MT"/>
              </a:rPr>
              <a:t>dimension</a:t>
            </a:r>
            <a:endParaRPr sz="4800" dirty="0">
              <a:solidFill>
                <a:schemeClr val="bg1"/>
              </a:solidFill>
              <a:latin typeface="+mn-lt"/>
              <a:cs typeface="Arial MT"/>
            </a:endParaRPr>
          </a:p>
        </p:txBody>
      </p:sp>
      <p:graphicFrame>
        <p:nvGraphicFramePr>
          <p:cNvPr id="5" name="object 5"/>
          <p:cNvGraphicFramePr>
            <a:graphicFrameLocks noGrp="1"/>
          </p:cNvGraphicFramePr>
          <p:nvPr>
            <p:extLst>
              <p:ext uri="{D42A27DB-BD31-4B8C-83A1-F6EECF244321}">
                <p14:modId xmlns:p14="http://schemas.microsoft.com/office/powerpoint/2010/main" val="34780267"/>
              </p:ext>
            </p:extLst>
          </p:nvPr>
        </p:nvGraphicFramePr>
        <p:xfrm>
          <a:off x="3339760" y="2510027"/>
          <a:ext cx="5487244" cy="1715347"/>
        </p:xfrm>
        <a:graphic>
          <a:graphicData uri="http://schemas.openxmlformats.org/drawingml/2006/table">
            <a:tbl>
              <a:tblPr firstRow="1" bandRow="1">
                <a:tableStyleId>{2D5ABB26-0587-4C30-8999-92F81FD0307C}</a:tableStyleId>
              </a:tblPr>
              <a:tblGrid>
                <a:gridCol w="818727">
                  <a:extLst>
                    <a:ext uri="{9D8B030D-6E8A-4147-A177-3AD203B41FA5}">
                      <a16:colId xmlns:a16="http://schemas.microsoft.com/office/drawing/2014/main" val="20000"/>
                    </a:ext>
                  </a:extLst>
                </a:gridCol>
                <a:gridCol w="1170092">
                  <a:extLst>
                    <a:ext uri="{9D8B030D-6E8A-4147-A177-3AD203B41FA5}">
                      <a16:colId xmlns:a16="http://schemas.microsoft.com/office/drawing/2014/main" val="20001"/>
                    </a:ext>
                  </a:extLst>
                </a:gridCol>
                <a:gridCol w="957580">
                  <a:extLst>
                    <a:ext uri="{9D8B030D-6E8A-4147-A177-3AD203B41FA5}">
                      <a16:colId xmlns:a16="http://schemas.microsoft.com/office/drawing/2014/main" val="20002"/>
                    </a:ext>
                  </a:extLst>
                </a:gridCol>
                <a:gridCol w="1170092">
                  <a:extLst>
                    <a:ext uri="{9D8B030D-6E8A-4147-A177-3AD203B41FA5}">
                      <a16:colId xmlns:a16="http://schemas.microsoft.com/office/drawing/2014/main" val="20003"/>
                    </a:ext>
                  </a:extLst>
                </a:gridCol>
                <a:gridCol w="1370753">
                  <a:extLst>
                    <a:ext uri="{9D8B030D-6E8A-4147-A177-3AD203B41FA5}">
                      <a16:colId xmlns:a16="http://schemas.microsoft.com/office/drawing/2014/main" val="20004"/>
                    </a:ext>
                  </a:extLst>
                </a:gridCol>
              </a:tblGrid>
              <a:tr h="438573">
                <a:tc>
                  <a:txBody>
                    <a:bodyPr/>
                    <a:lstStyle/>
                    <a:p>
                      <a:pPr>
                        <a:lnSpc>
                          <a:spcPct val="100000"/>
                        </a:lnSpc>
                        <a:spcBef>
                          <a:spcPts val="110"/>
                        </a:spcBef>
                      </a:pPr>
                      <a:endParaRPr sz="1400" dirty="0">
                        <a:solidFill>
                          <a:schemeClr val="bg1"/>
                        </a:solidFill>
                        <a:latin typeface="Times New Roman"/>
                        <a:cs typeface="Times New Roman"/>
                      </a:endParaRPr>
                    </a:p>
                    <a:p>
                      <a:pPr marL="635" algn="ctr">
                        <a:lnSpc>
                          <a:spcPct val="100000"/>
                        </a:lnSpc>
                      </a:pPr>
                      <a:r>
                        <a:rPr sz="1400" b="1" spc="-10" dirty="0">
                          <a:solidFill>
                            <a:schemeClr val="bg1"/>
                          </a:solidFill>
                          <a:latin typeface="Arial"/>
                          <a:cs typeface="Arial"/>
                        </a:rPr>
                        <a:t>order_id</a:t>
                      </a:r>
                      <a:endParaRPr sz="1400" dirty="0">
                        <a:solidFill>
                          <a:schemeClr val="bg1"/>
                        </a:solidFill>
                        <a:latin typeface="Arial"/>
                        <a:cs typeface="Arial"/>
                      </a:endParaRPr>
                    </a:p>
                  </a:txBody>
                  <a:tcPr marL="0" marR="0" marT="1862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1905" algn="ctr">
                        <a:lnSpc>
                          <a:spcPct val="100000"/>
                        </a:lnSpc>
                        <a:spcBef>
                          <a:spcPts val="60"/>
                        </a:spcBef>
                      </a:pPr>
                      <a:r>
                        <a:rPr sz="1400" b="1" dirty="0">
                          <a:solidFill>
                            <a:schemeClr val="bg1"/>
                          </a:solidFill>
                          <a:latin typeface="Arial"/>
                          <a:cs typeface="Arial"/>
                        </a:rPr>
                        <a:t>Order</a:t>
                      </a:r>
                      <a:r>
                        <a:rPr sz="1400" b="1" spc="-40" dirty="0">
                          <a:solidFill>
                            <a:schemeClr val="bg1"/>
                          </a:solidFill>
                          <a:latin typeface="Arial"/>
                          <a:cs typeface="Arial"/>
                        </a:rPr>
                        <a:t> </a:t>
                      </a:r>
                      <a:r>
                        <a:rPr sz="1400" b="1" spc="-20" dirty="0">
                          <a:solidFill>
                            <a:schemeClr val="bg1"/>
                          </a:solidFill>
                          <a:latin typeface="Arial"/>
                          <a:cs typeface="Arial"/>
                        </a:rPr>
                        <a:t>Date</a:t>
                      </a:r>
                      <a:endParaRPr sz="1400" dirty="0">
                        <a:solidFill>
                          <a:schemeClr val="bg1"/>
                        </a:solidFill>
                        <a:latin typeface="Arial"/>
                        <a:cs typeface="Arial"/>
                      </a:endParaRPr>
                    </a:p>
                    <a:p>
                      <a:pPr algn="ctr">
                        <a:lnSpc>
                          <a:spcPct val="100000"/>
                        </a:lnSpc>
                      </a:pPr>
                      <a:r>
                        <a:rPr sz="1400" b="1" spc="-25" dirty="0">
                          <a:solidFill>
                            <a:schemeClr val="bg1"/>
                          </a:solidFill>
                          <a:latin typeface="Arial"/>
                          <a:cs typeface="Arial"/>
                        </a:rPr>
                        <a:t>FK</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635" algn="ctr">
                        <a:lnSpc>
                          <a:spcPct val="100000"/>
                        </a:lnSpc>
                        <a:spcBef>
                          <a:spcPts val="60"/>
                        </a:spcBef>
                      </a:pPr>
                      <a:r>
                        <a:rPr sz="1400" b="1" spc="-25" dirty="0">
                          <a:solidFill>
                            <a:schemeClr val="bg1"/>
                          </a:solidFill>
                          <a:latin typeface="Arial"/>
                          <a:cs typeface="Arial"/>
                        </a:rPr>
                        <a:t>No.</a:t>
                      </a:r>
                      <a:endParaRPr sz="1400" dirty="0">
                        <a:solidFill>
                          <a:schemeClr val="bg1"/>
                        </a:solidFill>
                        <a:latin typeface="Arial"/>
                        <a:cs typeface="Arial"/>
                      </a:endParaRPr>
                    </a:p>
                    <a:p>
                      <a:pPr marL="635" algn="ctr">
                        <a:lnSpc>
                          <a:spcPct val="100000"/>
                        </a:lnSpc>
                      </a:pPr>
                      <a:r>
                        <a:rPr sz="1400" b="1" spc="-10" dirty="0">
                          <a:solidFill>
                            <a:schemeClr val="bg1"/>
                          </a:solidFill>
                          <a:latin typeface="Arial"/>
                          <a:cs typeface="Arial"/>
                        </a:rPr>
                        <a:t>Products</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a:lnSpc>
                          <a:spcPct val="100000"/>
                        </a:lnSpc>
                        <a:spcBef>
                          <a:spcPts val="110"/>
                        </a:spcBef>
                      </a:pPr>
                      <a:endParaRPr sz="1400" dirty="0">
                        <a:solidFill>
                          <a:schemeClr val="bg1"/>
                        </a:solidFill>
                        <a:latin typeface="Times New Roman"/>
                        <a:cs typeface="Times New Roman"/>
                      </a:endParaRPr>
                    </a:p>
                    <a:p>
                      <a:pPr marL="1905" algn="ctr">
                        <a:lnSpc>
                          <a:spcPct val="100000"/>
                        </a:lnSpc>
                      </a:pPr>
                      <a:r>
                        <a:rPr sz="1400" b="1" spc="-10" dirty="0">
                          <a:solidFill>
                            <a:schemeClr val="bg1"/>
                          </a:solidFill>
                          <a:latin typeface="Arial"/>
                          <a:cs typeface="Arial"/>
                        </a:rPr>
                        <a:t>Product_FK</a:t>
                      </a:r>
                      <a:endParaRPr sz="1400" dirty="0">
                        <a:solidFill>
                          <a:schemeClr val="bg1"/>
                        </a:solidFill>
                        <a:latin typeface="Arial"/>
                        <a:cs typeface="Arial"/>
                      </a:endParaRPr>
                    </a:p>
                  </a:txBody>
                  <a:tcPr marL="0" marR="0" marT="1862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1905" algn="ctr">
                        <a:lnSpc>
                          <a:spcPct val="100000"/>
                        </a:lnSpc>
                        <a:spcBef>
                          <a:spcPts val="60"/>
                        </a:spcBef>
                      </a:pPr>
                      <a:r>
                        <a:rPr sz="1400" b="1" spc="-10" dirty="0">
                          <a:solidFill>
                            <a:schemeClr val="bg1"/>
                          </a:solidFill>
                          <a:latin typeface="Arial"/>
                          <a:cs typeface="Arial"/>
                        </a:rPr>
                        <a:t>Production</a:t>
                      </a:r>
                      <a:endParaRPr sz="1400" dirty="0">
                        <a:solidFill>
                          <a:schemeClr val="bg1"/>
                        </a:solidFill>
                        <a:latin typeface="Arial"/>
                        <a:cs typeface="Arial"/>
                      </a:endParaRPr>
                    </a:p>
                    <a:p>
                      <a:pPr algn="ctr">
                        <a:lnSpc>
                          <a:spcPct val="100000"/>
                        </a:lnSpc>
                      </a:pPr>
                      <a:r>
                        <a:rPr sz="1400" b="1" dirty="0">
                          <a:solidFill>
                            <a:schemeClr val="bg1"/>
                          </a:solidFill>
                          <a:latin typeface="Arial"/>
                          <a:cs typeface="Arial"/>
                        </a:rPr>
                        <a:t>Start</a:t>
                      </a:r>
                      <a:r>
                        <a:rPr sz="1400" b="1" spc="-45" dirty="0">
                          <a:solidFill>
                            <a:schemeClr val="bg1"/>
                          </a:solidFill>
                          <a:latin typeface="Arial"/>
                          <a:cs typeface="Arial"/>
                        </a:rPr>
                        <a:t> </a:t>
                      </a:r>
                      <a:r>
                        <a:rPr sz="1400" b="1" spc="-35" dirty="0">
                          <a:solidFill>
                            <a:schemeClr val="bg1"/>
                          </a:solidFill>
                          <a:latin typeface="Arial"/>
                          <a:cs typeface="Arial"/>
                        </a:rPr>
                        <a:t>FK</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extLst>
                  <a:ext uri="{0D108BD9-81ED-4DB2-BD59-A6C34878D82A}">
                    <a16:rowId xmlns:a16="http://schemas.microsoft.com/office/drawing/2014/main" val="10000"/>
                  </a:ext>
                </a:extLst>
              </a:tr>
              <a:tr h="254000">
                <a:tc>
                  <a:txBody>
                    <a:bodyPr/>
                    <a:lstStyle/>
                    <a:p>
                      <a:pPr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20220102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25" dirty="0">
                          <a:latin typeface="Arial MT"/>
                          <a:cs typeface="Arial MT"/>
                        </a:rPr>
                        <a:t>100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25" dirty="0">
                          <a:latin typeface="Arial MT"/>
                          <a:cs typeface="Arial MT"/>
                        </a:rPr>
                        <a:t>32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20220103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20220103</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25" dirty="0">
                          <a:latin typeface="Arial MT"/>
                          <a:cs typeface="Arial MT"/>
                        </a:rPr>
                        <a:t>100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25" dirty="0">
                          <a:latin typeface="Arial MT"/>
                          <a:cs typeface="Arial MT"/>
                        </a:rPr>
                        <a:t>32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20220104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ct val="10000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20220103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25" dirty="0">
                          <a:latin typeface="Arial MT"/>
                          <a:cs typeface="Arial MT"/>
                        </a:rPr>
                        <a:t>100</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25" dirty="0">
                          <a:latin typeface="Arial MT"/>
                          <a:cs typeface="Arial MT"/>
                        </a:rPr>
                        <a:t>32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20220103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algn="ctr">
                        <a:lnSpc>
                          <a:spcPct val="100000"/>
                        </a:lnSpc>
                        <a:spcBef>
                          <a:spcPts val="225"/>
                        </a:spcBef>
                      </a:pPr>
                      <a:r>
                        <a:rPr sz="1400" spc="-50" dirty="0">
                          <a:latin typeface="Arial MT"/>
                          <a:cs typeface="Arial MT"/>
                        </a:rPr>
                        <a:t>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20220104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25" dirty="0">
                          <a:latin typeface="Arial MT"/>
                          <a:cs typeface="Arial MT"/>
                        </a:rPr>
                        <a:t>100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25" dirty="0">
                          <a:latin typeface="Arial MT"/>
                          <a:cs typeface="Arial MT"/>
                        </a:rPr>
                        <a:t>32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20220106</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algn="ctr">
                        <a:lnSpc>
                          <a:spcPct val="100000"/>
                        </a:lnSpc>
                        <a:spcBef>
                          <a:spcPts val="225"/>
                        </a:spcBef>
                      </a:pPr>
                      <a:r>
                        <a:rPr sz="1400" spc="-50" dirty="0">
                          <a:latin typeface="Arial MT"/>
                          <a:cs typeface="Arial MT"/>
                        </a:rPr>
                        <a:t>5</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20220104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25" dirty="0">
                          <a:latin typeface="Arial MT"/>
                          <a:cs typeface="Arial MT"/>
                        </a:rPr>
                        <a:t>100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25" dirty="0">
                          <a:latin typeface="Arial MT"/>
                          <a:cs typeface="Arial MT"/>
                        </a:rPr>
                        <a:t>32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20220108</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sp>
        <p:nvSpPr>
          <p:cNvPr id="6" name="object 6"/>
          <p:cNvSpPr txBox="1"/>
          <p:nvPr/>
        </p:nvSpPr>
        <p:spPr>
          <a:xfrm>
            <a:off x="4289213" y="2138679"/>
            <a:ext cx="4331547" cy="305276"/>
          </a:xfrm>
          <a:prstGeom prst="rect">
            <a:avLst/>
          </a:prstGeom>
        </p:spPr>
        <p:txBody>
          <a:bodyPr vert="horz" wrap="square" lIns="0" tIns="17780" rIns="0" bIns="0" rtlCol="0">
            <a:spAutoFit/>
          </a:bodyPr>
          <a:lstStyle/>
          <a:p>
            <a:pPr marL="16933">
              <a:spcBef>
                <a:spcPts val="140"/>
              </a:spcBef>
              <a:tabLst>
                <a:tab pos="1114185" algn="l"/>
                <a:tab pos="3555064" algn="l"/>
              </a:tabLst>
            </a:pPr>
            <a:r>
              <a:rPr sz="1867" b="1" dirty="0">
                <a:solidFill>
                  <a:srgbClr val="66DBFF"/>
                </a:solidFill>
                <a:latin typeface="Calibri"/>
                <a:cs typeface="Calibri"/>
              </a:rPr>
              <a:t>Date</a:t>
            </a:r>
            <a:r>
              <a:rPr sz="1867" b="1" spc="-47" dirty="0">
                <a:solidFill>
                  <a:srgbClr val="66DBFF"/>
                </a:solidFill>
                <a:latin typeface="Calibri"/>
                <a:cs typeface="Calibri"/>
              </a:rPr>
              <a:t> </a:t>
            </a:r>
            <a:r>
              <a:rPr sz="1867" b="1" spc="-33" dirty="0">
                <a:solidFill>
                  <a:srgbClr val="66DBFF"/>
                </a:solidFill>
                <a:latin typeface="Calibri"/>
                <a:cs typeface="Calibri"/>
              </a:rPr>
              <a:t>FK</a:t>
            </a:r>
            <a:r>
              <a:rPr sz="1867" b="1" dirty="0">
                <a:solidFill>
                  <a:srgbClr val="66DBFF"/>
                </a:solidFill>
                <a:latin typeface="Calibri"/>
                <a:cs typeface="Calibri"/>
              </a:rPr>
              <a:t>	</a:t>
            </a:r>
            <a:r>
              <a:rPr sz="1867" b="1" spc="-13" dirty="0">
                <a:solidFill>
                  <a:srgbClr val="FFFFFF"/>
                </a:solidFill>
                <a:latin typeface="Calibri"/>
                <a:cs typeface="Calibri"/>
              </a:rPr>
              <a:t>Measure</a:t>
            </a:r>
            <a:r>
              <a:rPr sz="1867" b="1" dirty="0">
                <a:solidFill>
                  <a:srgbClr val="FFFFFF"/>
                </a:solidFill>
                <a:latin typeface="Calibri"/>
                <a:cs typeface="Calibri"/>
              </a:rPr>
              <a:t>	</a:t>
            </a:r>
            <a:r>
              <a:rPr sz="1867" b="1" dirty="0">
                <a:solidFill>
                  <a:srgbClr val="66DBFF"/>
                </a:solidFill>
                <a:latin typeface="Calibri"/>
                <a:cs typeface="Calibri"/>
              </a:rPr>
              <a:t>Date</a:t>
            </a:r>
            <a:r>
              <a:rPr sz="1867" b="1" spc="-47" dirty="0">
                <a:solidFill>
                  <a:srgbClr val="66DBFF"/>
                </a:solidFill>
                <a:latin typeface="Calibri"/>
                <a:cs typeface="Calibri"/>
              </a:rPr>
              <a:t> </a:t>
            </a:r>
            <a:r>
              <a:rPr sz="1867" b="1" spc="-33" dirty="0">
                <a:solidFill>
                  <a:srgbClr val="66DBFF"/>
                </a:solidFill>
                <a:latin typeface="Calibri"/>
                <a:cs typeface="Calibri"/>
              </a:rPr>
              <a:t>FK</a:t>
            </a:r>
            <a:endParaRPr sz="1867">
              <a:latin typeface="Calibri"/>
              <a:cs typeface="Calibri"/>
            </a:endParaRPr>
          </a:p>
        </p:txBody>
      </p:sp>
      <p:graphicFrame>
        <p:nvGraphicFramePr>
          <p:cNvPr id="7" name="object 7"/>
          <p:cNvGraphicFramePr>
            <a:graphicFrameLocks noGrp="1"/>
          </p:cNvGraphicFramePr>
          <p:nvPr>
            <p:extLst>
              <p:ext uri="{D42A27DB-BD31-4B8C-83A1-F6EECF244321}">
                <p14:modId xmlns:p14="http://schemas.microsoft.com/office/powerpoint/2010/main" val="3297350459"/>
              </p:ext>
            </p:extLst>
          </p:nvPr>
        </p:nvGraphicFramePr>
        <p:xfrm>
          <a:off x="1413934" y="4907281"/>
          <a:ext cx="9774255" cy="1101344"/>
        </p:xfrm>
        <a:graphic>
          <a:graphicData uri="http://schemas.openxmlformats.org/drawingml/2006/table">
            <a:tbl>
              <a:tblPr firstRow="1" bandRow="1">
                <a:tableStyleId>{2D5ABB26-0587-4C30-8999-92F81FD0307C}</a:tableStyleId>
              </a:tblPr>
              <a:tblGrid>
                <a:gridCol w="962866">
                  <a:extLst>
                    <a:ext uri="{9D8B030D-6E8A-4147-A177-3AD203B41FA5}">
                      <a16:colId xmlns:a16="http://schemas.microsoft.com/office/drawing/2014/main" val="20000"/>
                    </a:ext>
                  </a:extLst>
                </a:gridCol>
                <a:gridCol w="1702999">
                  <a:extLst>
                    <a:ext uri="{9D8B030D-6E8A-4147-A177-3AD203B41FA5}">
                      <a16:colId xmlns:a16="http://schemas.microsoft.com/office/drawing/2014/main" val="20001"/>
                    </a:ext>
                  </a:extLst>
                </a:gridCol>
                <a:gridCol w="1184731">
                  <a:extLst>
                    <a:ext uri="{9D8B030D-6E8A-4147-A177-3AD203B41FA5}">
                      <a16:colId xmlns:a16="http://schemas.microsoft.com/office/drawing/2014/main" val="20002"/>
                    </a:ext>
                  </a:extLst>
                </a:gridCol>
                <a:gridCol w="1184731">
                  <a:extLst>
                    <a:ext uri="{9D8B030D-6E8A-4147-A177-3AD203B41FA5}">
                      <a16:colId xmlns:a16="http://schemas.microsoft.com/office/drawing/2014/main" val="20003"/>
                    </a:ext>
                  </a:extLst>
                </a:gridCol>
                <a:gridCol w="1184732">
                  <a:extLst>
                    <a:ext uri="{9D8B030D-6E8A-4147-A177-3AD203B41FA5}">
                      <a16:colId xmlns:a16="http://schemas.microsoft.com/office/drawing/2014/main" val="20004"/>
                    </a:ext>
                  </a:extLst>
                </a:gridCol>
                <a:gridCol w="1184732">
                  <a:extLst>
                    <a:ext uri="{9D8B030D-6E8A-4147-A177-3AD203B41FA5}">
                      <a16:colId xmlns:a16="http://schemas.microsoft.com/office/drawing/2014/main" val="20005"/>
                    </a:ext>
                  </a:extLst>
                </a:gridCol>
                <a:gridCol w="1184732">
                  <a:extLst>
                    <a:ext uri="{9D8B030D-6E8A-4147-A177-3AD203B41FA5}">
                      <a16:colId xmlns:a16="http://schemas.microsoft.com/office/drawing/2014/main" val="20006"/>
                    </a:ext>
                  </a:extLst>
                </a:gridCol>
                <a:gridCol w="1184732">
                  <a:extLst>
                    <a:ext uri="{9D8B030D-6E8A-4147-A177-3AD203B41FA5}">
                      <a16:colId xmlns:a16="http://schemas.microsoft.com/office/drawing/2014/main" val="20007"/>
                    </a:ext>
                  </a:extLst>
                </a:gridCol>
              </a:tblGrid>
              <a:tr h="252194">
                <a:tc>
                  <a:txBody>
                    <a:bodyPr/>
                    <a:lstStyle/>
                    <a:p>
                      <a:pPr algn="ctr">
                        <a:lnSpc>
                          <a:spcPct val="100000"/>
                        </a:lnSpc>
                        <a:spcBef>
                          <a:spcPts val="65"/>
                        </a:spcBef>
                      </a:pPr>
                      <a:r>
                        <a:rPr sz="1400" b="1" spc="-10" dirty="0">
                          <a:solidFill>
                            <a:schemeClr val="bg1"/>
                          </a:solidFill>
                          <a:latin typeface="Arial"/>
                          <a:cs typeface="Arial"/>
                        </a:rPr>
                        <a:t>Date_PK</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gn="ctr">
                        <a:lnSpc>
                          <a:spcPct val="100000"/>
                        </a:lnSpc>
                        <a:spcBef>
                          <a:spcPts val="65"/>
                        </a:spcBef>
                      </a:pPr>
                      <a:r>
                        <a:rPr sz="1400" b="1" spc="-20" dirty="0">
                          <a:solidFill>
                            <a:schemeClr val="bg1"/>
                          </a:solidFill>
                          <a:latin typeface="Arial"/>
                          <a:cs typeface="Arial"/>
                        </a:rPr>
                        <a:t>Date</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905" algn="ctr">
                        <a:lnSpc>
                          <a:spcPct val="100000"/>
                        </a:lnSpc>
                        <a:spcBef>
                          <a:spcPts val="65"/>
                        </a:spcBef>
                      </a:pPr>
                      <a:r>
                        <a:rPr sz="1400" b="1" spc="-10" dirty="0">
                          <a:solidFill>
                            <a:schemeClr val="bg1"/>
                          </a:solidFill>
                          <a:latin typeface="Arial"/>
                          <a:cs typeface="Arial"/>
                        </a:rPr>
                        <a:t>Month</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gn="ctr">
                        <a:lnSpc>
                          <a:spcPct val="100000"/>
                        </a:lnSpc>
                        <a:spcBef>
                          <a:spcPts val="65"/>
                        </a:spcBef>
                      </a:pPr>
                      <a:r>
                        <a:rPr sz="1400" b="1" dirty="0">
                          <a:solidFill>
                            <a:schemeClr val="bg1"/>
                          </a:solidFill>
                          <a:latin typeface="Arial"/>
                          <a:cs typeface="Arial"/>
                        </a:rPr>
                        <a:t>Short</a:t>
                      </a:r>
                      <a:r>
                        <a:rPr sz="1400" b="1" spc="-35" dirty="0">
                          <a:solidFill>
                            <a:schemeClr val="bg1"/>
                          </a:solidFill>
                          <a:latin typeface="Arial"/>
                          <a:cs typeface="Arial"/>
                        </a:rPr>
                        <a:t> </a:t>
                      </a:r>
                      <a:r>
                        <a:rPr sz="1400" b="1" spc="-10" dirty="0">
                          <a:solidFill>
                            <a:schemeClr val="bg1"/>
                          </a:solidFill>
                          <a:latin typeface="Arial"/>
                          <a:cs typeface="Arial"/>
                        </a:rPr>
                        <a:t>Month</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270" algn="ctr">
                        <a:lnSpc>
                          <a:spcPct val="100000"/>
                        </a:lnSpc>
                        <a:spcBef>
                          <a:spcPts val="65"/>
                        </a:spcBef>
                      </a:pPr>
                      <a:r>
                        <a:rPr sz="1400" b="1" spc="-10" dirty="0">
                          <a:solidFill>
                            <a:schemeClr val="bg1"/>
                          </a:solidFill>
                          <a:latin typeface="Arial"/>
                          <a:cs typeface="Arial"/>
                        </a:rPr>
                        <a:t>Year-Quarter</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2540" algn="ctr">
                        <a:lnSpc>
                          <a:spcPct val="100000"/>
                        </a:lnSpc>
                        <a:spcBef>
                          <a:spcPts val="65"/>
                        </a:spcBef>
                      </a:pPr>
                      <a:r>
                        <a:rPr sz="1400" b="1" spc="-20" dirty="0">
                          <a:solidFill>
                            <a:schemeClr val="bg1"/>
                          </a:solidFill>
                          <a:latin typeface="Arial"/>
                          <a:cs typeface="Arial"/>
                        </a:rPr>
                        <a:t>Year</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4445" algn="ctr">
                        <a:lnSpc>
                          <a:spcPct val="100000"/>
                        </a:lnSpc>
                        <a:spcBef>
                          <a:spcPts val="65"/>
                        </a:spcBef>
                      </a:pPr>
                      <a:r>
                        <a:rPr sz="1400" b="1" spc="-10" dirty="0">
                          <a:solidFill>
                            <a:schemeClr val="bg1"/>
                          </a:solidFill>
                          <a:latin typeface="Arial"/>
                          <a:cs typeface="Arial"/>
                        </a:rPr>
                        <a:t>Weekday</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gn="ctr">
                        <a:lnSpc>
                          <a:spcPct val="100000"/>
                        </a:lnSpc>
                        <a:spcBef>
                          <a:spcPts val="65"/>
                        </a:spcBef>
                      </a:pPr>
                      <a:r>
                        <a:rPr sz="1400" b="1" spc="-10" dirty="0">
                          <a:solidFill>
                            <a:schemeClr val="bg1"/>
                          </a:solidFill>
                          <a:latin typeface="Arial"/>
                          <a:cs typeface="Arial"/>
                        </a:rPr>
                        <a:t>Is_Weekend</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83365">
                <a:tc>
                  <a:txBody>
                    <a:bodyPr/>
                    <a:lstStyle/>
                    <a:p>
                      <a:pPr algn="ctr">
                        <a:lnSpc>
                          <a:spcPct val="100000"/>
                        </a:lnSpc>
                        <a:spcBef>
                          <a:spcPts val="229"/>
                        </a:spcBef>
                      </a:pPr>
                      <a:r>
                        <a:rPr sz="1400" spc="-10" dirty="0">
                          <a:latin typeface="Arial MT"/>
                          <a:cs typeface="Arial MT"/>
                        </a:rPr>
                        <a:t>20220101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10" dirty="0">
                          <a:latin typeface="Arial MT"/>
                          <a:cs typeface="Arial MT"/>
                        </a:rPr>
                        <a:t>2022-01-</a:t>
                      </a:r>
                      <a:r>
                        <a:rPr sz="1400" spc="-25" dirty="0">
                          <a:latin typeface="Arial MT"/>
                          <a:cs typeface="Arial MT"/>
                        </a:rPr>
                        <a:t>01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10" dirty="0">
                          <a:latin typeface="Arial MT"/>
                          <a:cs typeface="Arial MT"/>
                        </a:rPr>
                        <a:t>January</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spc="-25" dirty="0">
                          <a:latin typeface="Arial MT"/>
                          <a:cs typeface="Arial MT"/>
                        </a:rPr>
                        <a:t>Jan</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10" dirty="0">
                          <a:latin typeface="Arial MT"/>
                          <a:cs typeface="Arial MT"/>
                        </a:rPr>
                        <a:t>2022-</a:t>
                      </a:r>
                      <a:r>
                        <a:rPr sz="1400" spc="-25" dirty="0">
                          <a:latin typeface="Arial MT"/>
                          <a:cs typeface="Arial MT"/>
                        </a:rPr>
                        <a:t>Q1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spc="-20" dirty="0">
                          <a:latin typeface="Arial MT"/>
                          <a:cs typeface="Arial MT"/>
                        </a:rPr>
                        <a:t>2022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spc="-10" dirty="0">
                          <a:latin typeface="Arial MT"/>
                          <a:cs typeface="Arial MT"/>
                        </a:rPr>
                        <a:t>Saturday</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50" dirty="0">
                          <a:latin typeface="Arial MT"/>
                          <a:cs typeface="Arial MT"/>
                        </a:rPr>
                        <a:t>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83365">
                <a:tc>
                  <a:txBody>
                    <a:bodyPr/>
                    <a:lstStyle/>
                    <a:p>
                      <a:pPr algn="ctr">
                        <a:lnSpc>
                          <a:spcPct val="100000"/>
                        </a:lnSpc>
                        <a:spcBef>
                          <a:spcPts val="229"/>
                        </a:spcBef>
                      </a:pPr>
                      <a:r>
                        <a:rPr sz="1400" spc="-10" dirty="0">
                          <a:latin typeface="Arial MT"/>
                          <a:cs typeface="Arial MT"/>
                        </a:rPr>
                        <a:t>20220102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10" dirty="0">
                          <a:latin typeface="Arial MT"/>
                          <a:cs typeface="Arial MT"/>
                        </a:rPr>
                        <a:t>2022-01-</a:t>
                      </a:r>
                      <a:r>
                        <a:rPr sz="1400" spc="-25" dirty="0">
                          <a:latin typeface="Arial MT"/>
                          <a:cs typeface="Arial MT"/>
                        </a:rPr>
                        <a:t>02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10" dirty="0">
                          <a:latin typeface="Arial MT"/>
                          <a:cs typeface="Arial MT"/>
                        </a:rPr>
                        <a:t>January</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spc="-25" dirty="0">
                          <a:latin typeface="Arial MT"/>
                          <a:cs typeface="Arial MT"/>
                        </a:rPr>
                        <a:t>Jan</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10" dirty="0">
                          <a:latin typeface="Arial MT"/>
                          <a:cs typeface="Arial MT"/>
                        </a:rPr>
                        <a:t>2022-</a:t>
                      </a:r>
                      <a:r>
                        <a:rPr sz="1400" spc="-25" dirty="0">
                          <a:latin typeface="Arial MT"/>
                          <a:cs typeface="Arial MT"/>
                        </a:rPr>
                        <a:t>Q1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spc="-20" dirty="0">
                          <a:latin typeface="Arial MT"/>
                          <a:cs typeface="Arial MT"/>
                        </a:rPr>
                        <a:t>2022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10" dirty="0">
                          <a:latin typeface="Arial MT"/>
                          <a:cs typeface="Arial MT"/>
                        </a:rPr>
                        <a:t>Sunday</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50" dirty="0">
                          <a:latin typeface="Arial MT"/>
                          <a:cs typeface="Arial MT"/>
                        </a:rPr>
                        <a:t>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82420">
                <a:tc>
                  <a:txBody>
                    <a:bodyPr/>
                    <a:lstStyle/>
                    <a:p>
                      <a:pPr algn="ctr">
                        <a:lnSpc>
                          <a:spcPct val="100000"/>
                        </a:lnSpc>
                        <a:spcBef>
                          <a:spcPts val="229"/>
                        </a:spcBef>
                      </a:pPr>
                      <a:r>
                        <a:rPr sz="1400" spc="-10" dirty="0">
                          <a:latin typeface="Arial MT"/>
                          <a:cs typeface="Arial MT"/>
                        </a:rPr>
                        <a:t>20220103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10" dirty="0">
                          <a:latin typeface="Arial MT"/>
                          <a:cs typeface="Arial MT"/>
                        </a:rPr>
                        <a:t>2022-01-</a:t>
                      </a:r>
                      <a:r>
                        <a:rPr sz="1400" spc="-25" dirty="0">
                          <a:latin typeface="Arial MT"/>
                          <a:cs typeface="Arial MT"/>
                        </a:rPr>
                        <a:t>03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10" dirty="0">
                          <a:latin typeface="Arial MT"/>
                          <a:cs typeface="Arial MT"/>
                        </a:rPr>
                        <a:t>January</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spc="-25" dirty="0">
                          <a:latin typeface="Arial MT"/>
                          <a:cs typeface="Arial MT"/>
                        </a:rPr>
                        <a:t>Jan</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10" dirty="0">
                          <a:latin typeface="Arial MT"/>
                          <a:cs typeface="Arial MT"/>
                        </a:rPr>
                        <a:t>2022-</a:t>
                      </a:r>
                      <a:r>
                        <a:rPr sz="1400" spc="-25" dirty="0">
                          <a:latin typeface="Arial MT"/>
                          <a:cs typeface="Arial MT"/>
                        </a:rPr>
                        <a:t>Q1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spc="-20" dirty="0">
                          <a:latin typeface="Arial MT"/>
                          <a:cs typeface="Arial MT"/>
                        </a:rPr>
                        <a:t>2022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10" dirty="0">
                          <a:latin typeface="Arial MT"/>
                          <a:cs typeface="Arial MT"/>
                        </a:rPr>
                        <a:t>Monday</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50" dirty="0">
                          <a:latin typeface="Arial MT"/>
                          <a:cs typeface="Arial MT"/>
                        </a:rPr>
                        <a:t>0</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sp>
        <p:nvSpPr>
          <p:cNvPr id="8" name="object 8"/>
          <p:cNvSpPr/>
          <p:nvPr/>
        </p:nvSpPr>
        <p:spPr>
          <a:xfrm>
            <a:off x="1930400" y="4220125"/>
            <a:ext cx="6297507" cy="813647"/>
          </a:xfrm>
          <a:custGeom>
            <a:avLst/>
            <a:gdLst/>
            <a:ahLst/>
            <a:cxnLst/>
            <a:rect l="l" t="t" r="r" b="b"/>
            <a:pathLst>
              <a:path w="4723130" h="610235">
                <a:moveTo>
                  <a:pt x="2135251" y="12446"/>
                </a:moveTo>
                <a:lnTo>
                  <a:pt x="2131949" y="254"/>
                </a:lnTo>
                <a:lnTo>
                  <a:pt x="71869" y="555523"/>
                </a:lnTo>
                <a:lnTo>
                  <a:pt x="63627" y="524891"/>
                </a:lnTo>
                <a:lnTo>
                  <a:pt x="0" y="581533"/>
                </a:lnTo>
                <a:lnTo>
                  <a:pt x="83439" y="598424"/>
                </a:lnTo>
                <a:lnTo>
                  <a:pt x="76073" y="571119"/>
                </a:lnTo>
                <a:lnTo>
                  <a:pt x="75184" y="567829"/>
                </a:lnTo>
                <a:lnTo>
                  <a:pt x="2135251" y="12446"/>
                </a:lnTo>
                <a:close/>
              </a:path>
              <a:path w="4723130" h="610235">
                <a:moveTo>
                  <a:pt x="4722749" y="12700"/>
                </a:moveTo>
                <a:lnTo>
                  <a:pt x="4721098" y="0"/>
                </a:lnTo>
                <a:lnTo>
                  <a:pt x="263728" y="565594"/>
                </a:lnTo>
                <a:lnTo>
                  <a:pt x="259715" y="534162"/>
                </a:lnTo>
                <a:lnTo>
                  <a:pt x="188976" y="581533"/>
                </a:lnTo>
                <a:lnTo>
                  <a:pt x="269367" y="609727"/>
                </a:lnTo>
                <a:lnTo>
                  <a:pt x="265531" y="579755"/>
                </a:lnTo>
                <a:lnTo>
                  <a:pt x="265328" y="578167"/>
                </a:lnTo>
                <a:lnTo>
                  <a:pt x="4722749" y="12700"/>
                </a:lnTo>
                <a:close/>
              </a:path>
            </a:pathLst>
          </a:custGeom>
          <a:solidFill>
            <a:srgbClr val="00C2FF"/>
          </a:solidFill>
        </p:spPr>
        <p:txBody>
          <a:bodyPr wrap="square" lIns="0" tIns="0" rIns="0" bIns="0" rtlCol="0"/>
          <a:lstStyle/>
          <a:p>
            <a:endParaRPr sz="2400"/>
          </a:p>
        </p:txBody>
      </p:sp>
      <p:sp>
        <p:nvSpPr>
          <p:cNvPr id="9" name="object 9"/>
          <p:cNvSpPr txBox="1"/>
          <p:nvPr/>
        </p:nvSpPr>
        <p:spPr>
          <a:xfrm>
            <a:off x="2206752" y="4228592"/>
            <a:ext cx="863600" cy="335199"/>
          </a:xfrm>
          <a:prstGeom prst="rect">
            <a:avLst/>
          </a:prstGeom>
          <a:solidFill>
            <a:srgbClr val="0092BE"/>
          </a:solidFill>
        </p:spPr>
        <p:txBody>
          <a:bodyPr vert="horz" wrap="square" lIns="0" tIns="47413" rIns="0" bIns="0" rtlCol="0">
            <a:spAutoFit/>
          </a:bodyPr>
          <a:lstStyle/>
          <a:p>
            <a:pPr marL="122764">
              <a:spcBef>
                <a:spcPts val="373"/>
              </a:spcBef>
            </a:pPr>
            <a:r>
              <a:rPr sz="1867" b="1" dirty="0">
                <a:solidFill>
                  <a:srgbClr val="FFFFFF"/>
                </a:solidFill>
                <a:latin typeface="Calibri"/>
                <a:cs typeface="Calibri"/>
              </a:rPr>
              <a:t>Role</a:t>
            </a:r>
            <a:r>
              <a:rPr sz="1867" b="1" spc="-40" dirty="0">
                <a:solidFill>
                  <a:srgbClr val="FFFFFF"/>
                </a:solidFill>
                <a:latin typeface="Calibri"/>
                <a:cs typeface="Calibri"/>
              </a:rPr>
              <a:t> </a:t>
            </a:r>
            <a:r>
              <a:rPr sz="1867" b="1" spc="-67" dirty="0">
                <a:solidFill>
                  <a:srgbClr val="FFFFFF"/>
                </a:solidFill>
                <a:latin typeface="Calibri"/>
                <a:cs typeface="Calibri"/>
              </a:rPr>
              <a:t>1</a:t>
            </a:r>
            <a:endParaRPr sz="1867">
              <a:latin typeface="Calibri"/>
              <a:cs typeface="Calibri"/>
            </a:endParaRPr>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57807" y="247904"/>
            <a:ext cx="9930384" cy="1702816"/>
          </a:xfrm>
          <a:prstGeom prst="rect">
            <a:avLst/>
          </a:prstGeom>
        </p:spPr>
      </p:pic>
      <p:sp>
        <p:nvSpPr>
          <p:cNvPr id="3" name="object 3"/>
          <p:cNvSpPr txBox="1">
            <a:spLocks noGrp="1"/>
          </p:cNvSpPr>
          <p:nvPr>
            <p:ph type="title"/>
          </p:nvPr>
        </p:nvSpPr>
        <p:spPr>
          <a:xfrm>
            <a:off x="1320800" y="536858"/>
            <a:ext cx="9811173" cy="1070379"/>
          </a:xfrm>
          <a:prstGeom prst="rect">
            <a:avLst/>
          </a:prstGeom>
          <a:noFill/>
          <a:ln w="9144">
            <a:noFill/>
          </a:ln>
        </p:spPr>
        <p:txBody>
          <a:bodyPr vert="horz" wrap="square" lIns="0" tIns="328507" rIns="0" bIns="0" rtlCol="0" anchor="ctr">
            <a:spAutoFit/>
          </a:bodyPr>
          <a:lstStyle/>
          <a:p>
            <a:pPr algn="ctr">
              <a:lnSpc>
                <a:spcPct val="100000"/>
              </a:lnSpc>
              <a:spcBef>
                <a:spcPts val="2587"/>
              </a:spcBef>
            </a:pPr>
            <a:r>
              <a:rPr sz="4800" spc="-13" dirty="0">
                <a:solidFill>
                  <a:schemeClr val="bg1"/>
                </a:solidFill>
                <a:latin typeface="Arial MT"/>
                <a:cs typeface="Arial MT"/>
              </a:rPr>
              <a:t>Role-</a:t>
            </a:r>
            <a:r>
              <a:rPr sz="4800" dirty="0">
                <a:solidFill>
                  <a:schemeClr val="bg1"/>
                </a:solidFill>
                <a:latin typeface="Arial MT"/>
                <a:cs typeface="Arial MT"/>
              </a:rPr>
              <a:t>playing</a:t>
            </a:r>
            <a:r>
              <a:rPr sz="4800" spc="-53" dirty="0">
                <a:solidFill>
                  <a:schemeClr val="bg1"/>
                </a:solidFill>
                <a:latin typeface="Arial MT"/>
                <a:cs typeface="Arial MT"/>
              </a:rPr>
              <a:t> </a:t>
            </a:r>
            <a:r>
              <a:rPr sz="4800" spc="-13" dirty="0">
                <a:solidFill>
                  <a:schemeClr val="bg1"/>
                </a:solidFill>
                <a:latin typeface="Arial MT"/>
                <a:cs typeface="Arial MT"/>
              </a:rPr>
              <a:t>dimension</a:t>
            </a:r>
            <a:endParaRPr sz="4800" dirty="0">
              <a:solidFill>
                <a:schemeClr val="bg1"/>
              </a:solidFill>
              <a:latin typeface="Arial MT"/>
              <a:cs typeface="Arial MT"/>
            </a:endParaRPr>
          </a:p>
        </p:txBody>
      </p:sp>
      <p:graphicFrame>
        <p:nvGraphicFramePr>
          <p:cNvPr id="4" name="object 4"/>
          <p:cNvGraphicFramePr>
            <a:graphicFrameLocks noGrp="1"/>
          </p:cNvGraphicFramePr>
          <p:nvPr>
            <p:extLst>
              <p:ext uri="{D42A27DB-BD31-4B8C-83A1-F6EECF244321}">
                <p14:modId xmlns:p14="http://schemas.microsoft.com/office/powerpoint/2010/main" val="174378264"/>
              </p:ext>
            </p:extLst>
          </p:nvPr>
        </p:nvGraphicFramePr>
        <p:xfrm>
          <a:off x="2328334" y="2510027"/>
          <a:ext cx="3138593" cy="1200573"/>
        </p:xfrm>
        <a:graphic>
          <a:graphicData uri="http://schemas.openxmlformats.org/drawingml/2006/table">
            <a:tbl>
              <a:tblPr firstRow="1" bandRow="1">
                <a:tableStyleId>{2D5ABB26-0587-4C30-8999-92F81FD0307C}</a:tableStyleId>
              </a:tblPr>
              <a:tblGrid>
                <a:gridCol w="1412240">
                  <a:extLst>
                    <a:ext uri="{9D8B030D-6E8A-4147-A177-3AD203B41FA5}">
                      <a16:colId xmlns:a16="http://schemas.microsoft.com/office/drawing/2014/main" val="20000"/>
                    </a:ext>
                  </a:extLst>
                </a:gridCol>
                <a:gridCol w="1726353">
                  <a:extLst>
                    <a:ext uri="{9D8B030D-6E8A-4147-A177-3AD203B41FA5}">
                      <a16:colId xmlns:a16="http://schemas.microsoft.com/office/drawing/2014/main" val="20001"/>
                    </a:ext>
                  </a:extLst>
                </a:gridCol>
              </a:tblGrid>
              <a:tr h="438573">
                <a:tc>
                  <a:txBody>
                    <a:bodyPr/>
                    <a:lstStyle/>
                    <a:p>
                      <a:pPr>
                        <a:lnSpc>
                          <a:spcPct val="100000"/>
                        </a:lnSpc>
                        <a:spcBef>
                          <a:spcPts val="110"/>
                        </a:spcBef>
                      </a:pPr>
                      <a:endParaRPr sz="1400" dirty="0">
                        <a:solidFill>
                          <a:schemeClr val="bg1"/>
                        </a:solidFill>
                        <a:latin typeface="Times New Roman"/>
                        <a:cs typeface="Times New Roman"/>
                      </a:endParaRPr>
                    </a:p>
                    <a:p>
                      <a:pPr marL="1270" algn="ctr">
                        <a:lnSpc>
                          <a:spcPts val="1175"/>
                        </a:lnSpc>
                      </a:pPr>
                      <a:r>
                        <a:rPr sz="1400" b="1" spc="-10" dirty="0">
                          <a:solidFill>
                            <a:schemeClr val="bg1"/>
                          </a:solidFill>
                          <a:latin typeface="Arial"/>
                          <a:cs typeface="Arial"/>
                        </a:rPr>
                        <a:t>Month</a:t>
                      </a:r>
                      <a:endParaRPr sz="1400" dirty="0">
                        <a:solidFill>
                          <a:schemeClr val="bg1"/>
                        </a:solidFill>
                        <a:latin typeface="Arial"/>
                        <a:cs typeface="Arial"/>
                      </a:endParaRPr>
                    </a:p>
                  </a:txBody>
                  <a:tcPr marL="0" marR="0" marT="1862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algn="ctr">
                        <a:lnSpc>
                          <a:spcPct val="100000"/>
                        </a:lnSpc>
                        <a:spcBef>
                          <a:spcPts val="60"/>
                        </a:spcBef>
                      </a:pPr>
                      <a:r>
                        <a:rPr sz="1400" b="1" spc="-10" dirty="0">
                          <a:solidFill>
                            <a:schemeClr val="bg1"/>
                          </a:solidFill>
                          <a:latin typeface="Arial"/>
                          <a:cs typeface="Arial"/>
                        </a:rPr>
                        <a:t>Products</a:t>
                      </a:r>
                      <a:endParaRPr sz="1400" dirty="0">
                        <a:solidFill>
                          <a:schemeClr val="bg1"/>
                        </a:solidFill>
                        <a:latin typeface="Arial"/>
                        <a:cs typeface="Arial"/>
                      </a:endParaRPr>
                    </a:p>
                    <a:p>
                      <a:pPr marL="635" algn="ctr">
                        <a:lnSpc>
                          <a:spcPts val="1175"/>
                        </a:lnSpc>
                      </a:pPr>
                      <a:r>
                        <a:rPr sz="1400" b="1" dirty="0">
                          <a:solidFill>
                            <a:schemeClr val="bg1"/>
                          </a:solidFill>
                          <a:latin typeface="Arial"/>
                          <a:cs typeface="Arial"/>
                        </a:rPr>
                        <a:t>(Orders</a:t>
                      </a:r>
                      <a:r>
                        <a:rPr sz="1400" b="1" spc="-45" dirty="0">
                          <a:solidFill>
                            <a:schemeClr val="bg1"/>
                          </a:solidFill>
                          <a:latin typeface="Arial"/>
                          <a:cs typeface="Arial"/>
                        </a:rPr>
                        <a:t> </a:t>
                      </a:r>
                      <a:r>
                        <a:rPr sz="1400" b="1" spc="-10" dirty="0">
                          <a:solidFill>
                            <a:schemeClr val="bg1"/>
                          </a:solidFill>
                          <a:latin typeface="Arial"/>
                          <a:cs typeface="Arial"/>
                        </a:rPr>
                        <a:t>received)</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extLst>
                  <a:ext uri="{0D108BD9-81ED-4DB2-BD59-A6C34878D82A}">
                    <a16:rowId xmlns:a16="http://schemas.microsoft.com/office/drawing/2014/main" val="10000"/>
                  </a:ext>
                </a:extLst>
              </a:tr>
              <a:tr h="254000">
                <a:tc>
                  <a:txBody>
                    <a:bodyPr/>
                    <a:lstStyle/>
                    <a:p>
                      <a:pPr marL="1270" algn="ctr">
                        <a:lnSpc>
                          <a:spcPts val="1170"/>
                        </a:lnSpc>
                        <a:spcBef>
                          <a:spcPts val="225"/>
                        </a:spcBef>
                      </a:pPr>
                      <a:r>
                        <a:rPr sz="1400" spc="-10" dirty="0">
                          <a:latin typeface="Arial MT"/>
                          <a:cs typeface="Arial MT"/>
                        </a:rPr>
                        <a:t>January</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20" dirty="0">
                          <a:latin typeface="Arial MT"/>
                          <a:cs typeface="Arial MT"/>
                        </a:rPr>
                        <a:t>2500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ts val="1170"/>
                        </a:lnSpc>
                        <a:spcBef>
                          <a:spcPts val="225"/>
                        </a:spcBef>
                      </a:pPr>
                      <a:r>
                        <a:rPr sz="1400" spc="-10" dirty="0">
                          <a:latin typeface="Arial MT"/>
                          <a:cs typeface="Arial MT"/>
                        </a:rPr>
                        <a:t>February</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20" dirty="0">
                          <a:latin typeface="Arial MT"/>
                          <a:cs typeface="Arial MT"/>
                        </a:rPr>
                        <a:t>2700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ts val="1170"/>
                        </a:lnSpc>
                        <a:spcBef>
                          <a:spcPts val="225"/>
                        </a:spcBef>
                      </a:pPr>
                      <a:r>
                        <a:rPr sz="1400" spc="-50" dirty="0">
                          <a:latin typeface="Arial MT"/>
                          <a:cs typeface="Arial MT"/>
                        </a:rPr>
                        <a:t>…</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5"/>
                        </a:spcBef>
                      </a:pPr>
                      <a:r>
                        <a:rPr sz="1400" spc="-50" dirty="0">
                          <a:latin typeface="Arial MT"/>
                          <a:cs typeface="Arial MT"/>
                        </a:rPr>
                        <a:t>…</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sp>
        <p:nvSpPr>
          <p:cNvPr id="5" name="object 5"/>
          <p:cNvSpPr/>
          <p:nvPr/>
        </p:nvSpPr>
        <p:spPr>
          <a:xfrm>
            <a:off x="3898731" y="3715511"/>
            <a:ext cx="571500" cy="772160"/>
          </a:xfrm>
          <a:custGeom>
            <a:avLst/>
            <a:gdLst/>
            <a:ahLst/>
            <a:cxnLst/>
            <a:rect l="l" t="t" r="r" b="b"/>
            <a:pathLst>
              <a:path w="428625" h="579120">
                <a:moveTo>
                  <a:pt x="378001" y="521332"/>
                </a:moveTo>
                <a:lnTo>
                  <a:pt x="352425" y="540131"/>
                </a:lnTo>
                <a:lnTo>
                  <a:pt x="428243" y="578993"/>
                </a:lnTo>
                <a:lnTo>
                  <a:pt x="420074" y="531622"/>
                </a:lnTo>
                <a:lnTo>
                  <a:pt x="385572" y="531622"/>
                </a:lnTo>
                <a:lnTo>
                  <a:pt x="378001" y="521332"/>
                </a:lnTo>
                <a:close/>
              </a:path>
              <a:path w="428625" h="579120">
                <a:moveTo>
                  <a:pt x="388233" y="513811"/>
                </a:moveTo>
                <a:lnTo>
                  <a:pt x="378001" y="521332"/>
                </a:lnTo>
                <a:lnTo>
                  <a:pt x="385572" y="531622"/>
                </a:lnTo>
                <a:lnTo>
                  <a:pt x="395731" y="524002"/>
                </a:lnTo>
                <a:lnTo>
                  <a:pt x="388233" y="513811"/>
                </a:lnTo>
                <a:close/>
              </a:path>
              <a:path w="428625" h="579120">
                <a:moveTo>
                  <a:pt x="413765" y="495046"/>
                </a:moveTo>
                <a:lnTo>
                  <a:pt x="388233" y="513811"/>
                </a:lnTo>
                <a:lnTo>
                  <a:pt x="395731" y="524002"/>
                </a:lnTo>
                <a:lnTo>
                  <a:pt x="385572" y="531622"/>
                </a:lnTo>
                <a:lnTo>
                  <a:pt x="420074" y="531622"/>
                </a:lnTo>
                <a:lnTo>
                  <a:pt x="413765" y="495046"/>
                </a:lnTo>
                <a:close/>
              </a:path>
              <a:path w="428625" h="579120">
                <a:moveTo>
                  <a:pt x="10159" y="0"/>
                </a:moveTo>
                <a:lnTo>
                  <a:pt x="0" y="7620"/>
                </a:lnTo>
                <a:lnTo>
                  <a:pt x="378001" y="521332"/>
                </a:lnTo>
                <a:lnTo>
                  <a:pt x="388233" y="513811"/>
                </a:lnTo>
                <a:lnTo>
                  <a:pt x="10159" y="0"/>
                </a:lnTo>
                <a:close/>
              </a:path>
            </a:pathLst>
          </a:custGeom>
          <a:solidFill>
            <a:srgbClr val="00C2FF"/>
          </a:solidFill>
        </p:spPr>
        <p:txBody>
          <a:bodyPr wrap="square" lIns="0" tIns="0" rIns="0" bIns="0" rtlCol="0"/>
          <a:lstStyle/>
          <a:p>
            <a:endParaRPr sz="2400"/>
          </a:p>
        </p:txBody>
      </p:sp>
      <p:sp>
        <p:nvSpPr>
          <p:cNvPr id="6" name="object 6"/>
          <p:cNvSpPr/>
          <p:nvPr/>
        </p:nvSpPr>
        <p:spPr>
          <a:xfrm>
            <a:off x="7823201" y="3716698"/>
            <a:ext cx="414020" cy="771313"/>
          </a:xfrm>
          <a:custGeom>
            <a:avLst/>
            <a:gdLst/>
            <a:ahLst/>
            <a:cxnLst/>
            <a:rect l="l" t="t" r="r" b="b"/>
            <a:pathLst>
              <a:path w="310514" h="578485">
                <a:moveTo>
                  <a:pt x="2032" y="492887"/>
                </a:moveTo>
                <a:lnTo>
                  <a:pt x="0" y="578103"/>
                </a:lnTo>
                <a:lnTo>
                  <a:pt x="69341" y="528574"/>
                </a:lnTo>
                <a:lnTo>
                  <a:pt x="62395" y="524890"/>
                </a:lnTo>
                <a:lnTo>
                  <a:pt x="35305" y="524890"/>
                </a:lnTo>
                <a:lnTo>
                  <a:pt x="24129" y="518921"/>
                </a:lnTo>
                <a:lnTo>
                  <a:pt x="30055" y="507744"/>
                </a:lnTo>
                <a:lnTo>
                  <a:pt x="2032" y="492887"/>
                </a:lnTo>
                <a:close/>
              </a:path>
              <a:path w="310514" h="578485">
                <a:moveTo>
                  <a:pt x="30055" y="507744"/>
                </a:moveTo>
                <a:lnTo>
                  <a:pt x="24129" y="518921"/>
                </a:lnTo>
                <a:lnTo>
                  <a:pt x="35305" y="524890"/>
                </a:lnTo>
                <a:lnTo>
                  <a:pt x="41248" y="513678"/>
                </a:lnTo>
                <a:lnTo>
                  <a:pt x="30055" y="507744"/>
                </a:lnTo>
                <a:close/>
              </a:path>
              <a:path w="310514" h="578485">
                <a:moveTo>
                  <a:pt x="41248" y="513678"/>
                </a:moveTo>
                <a:lnTo>
                  <a:pt x="35305" y="524890"/>
                </a:lnTo>
                <a:lnTo>
                  <a:pt x="62395" y="524890"/>
                </a:lnTo>
                <a:lnTo>
                  <a:pt x="41248" y="513678"/>
                </a:lnTo>
                <a:close/>
              </a:path>
              <a:path w="310514" h="578485">
                <a:moveTo>
                  <a:pt x="299212" y="0"/>
                </a:moveTo>
                <a:lnTo>
                  <a:pt x="30055" y="507744"/>
                </a:lnTo>
                <a:lnTo>
                  <a:pt x="41248" y="513678"/>
                </a:lnTo>
                <a:lnTo>
                  <a:pt x="310388" y="5841"/>
                </a:lnTo>
                <a:lnTo>
                  <a:pt x="299212" y="0"/>
                </a:lnTo>
                <a:close/>
              </a:path>
            </a:pathLst>
          </a:custGeom>
          <a:solidFill>
            <a:srgbClr val="00C2FF"/>
          </a:solidFill>
        </p:spPr>
        <p:txBody>
          <a:bodyPr wrap="square" lIns="0" tIns="0" rIns="0" bIns="0" rtlCol="0"/>
          <a:lstStyle/>
          <a:p>
            <a:endParaRPr sz="2400"/>
          </a:p>
        </p:txBody>
      </p:sp>
      <p:graphicFrame>
        <p:nvGraphicFramePr>
          <p:cNvPr id="7" name="object 7"/>
          <p:cNvGraphicFramePr>
            <a:graphicFrameLocks noGrp="1"/>
          </p:cNvGraphicFramePr>
          <p:nvPr>
            <p:extLst>
              <p:ext uri="{D42A27DB-BD31-4B8C-83A1-F6EECF244321}">
                <p14:modId xmlns:p14="http://schemas.microsoft.com/office/powerpoint/2010/main" val="430847042"/>
              </p:ext>
            </p:extLst>
          </p:nvPr>
        </p:nvGraphicFramePr>
        <p:xfrm>
          <a:off x="6595534" y="2510027"/>
          <a:ext cx="3251200" cy="1200573"/>
        </p:xfrm>
        <a:graphic>
          <a:graphicData uri="http://schemas.openxmlformats.org/drawingml/2006/table">
            <a:tbl>
              <a:tblPr firstRow="1" bandRow="1">
                <a:tableStyleId>{2D5ABB26-0587-4C30-8999-92F81FD0307C}</a:tableStyleId>
              </a:tblPr>
              <a:tblGrid>
                <a:gridCol w="1463040">
                  <a:extLst>
                    <a:ext uri="{9D8B030D-6E8A-4147-A177-3AD203B41FA5}">
                      <a16:colId xmlns:a16="http://schemas.microsoft.com/office/drawing/2014/main" val="20000"/>
                    </a:ext>
                  </a:extLst>
                </a:gridCol>
                <a:gridCol w="1788160">
                  <a:extLst>
                    <a:ext uri="{9D8B030D-6E8A-4147-A177-3AD203B41FA5}">
                      <a16:colId xmlns:a16="http://schemas.microsoft.com/office/drawing/2014/main" val="20001"/>
                    </a:ext>
                  </a:extLst>
                </a:gridCol>
              </a:tblGrid>
              <a:tr h="438573">
                <a:tc>
                  <a:txBody>
                    <a:bodyPr/>
                    <a:lstStyle/>
                    <a:p>
                      <a:pPr>
                        <a:lnSpc>
                          <a:spcPct val="100000"/>
                        </a:lnSpc>
                        <a:spcBef>
                          <a:spcPts val="110"/>
                        </a:spcBef>
                      </a:pPr>
                      <a:endParaRPr sz="1400" dirty="0">
                        <a:solidFill>
                          <a:schemeClr val="bg1"/>
                        </a:solidFill>
                        <a:latin typeface="Times New Roman"/>
                        <a:cs typeface="Times New Roman"/>
                      </a:endParaRPr>
                    </a:p>
                    <a:p>
                      <a:pPr marL="635" algn="ctr">
                        <a:lnSpc>
                          <a:spcPts val="1175"/>
                        </a:lnSpc>
                      </a:pPr>
                      <a:r>
                        <a:rPr sz="1400" b="1" spc="-10" dirty="0">
                          <a:solidFill>
                            <a:schemeClr val="bg1"/>
                          </a:solidFill>
                          <a:latin typeface="Arial"/>
                          <a:cs typeface="Arial"/>
                        </a:rPr>
                        <a:t>Month</a:t>
                      </a:r>
                      <a:endParaRPr sz="1400" dirty="0">
                        <a:solidFill>
                          <a:schemeClr val="bg1"/>
                        </a:solidFill>
                        <a:latin typeface="Arial"/>
                        <a:cs typeface="Arial"/>
                      </a:endParaRPr>
                    </a:p>
                  </a:txBody>
                  <a:tcPr marL="0" marR="0" marT="1862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635" algn="ctr">
                        <a:lnSpc>
                          <a:spcPct val="100000"/>
                        </a:lnSpc>
                        <a:spcBef>
                          <a:spcPts val="60"/>
                        </a:spcBef>
                      </a:pPr>
                      <a:r>
                        <a:rPr sz="1400" b="1" spc="-10" dirty="0">
                          <a:solidFill>
                            <a:schemeClr val="bg1"/>
                          </a:solidFill>
                          <a:latin typeface="Arial"/>
                          <a:cs typeface="Arial"/>
                        </a:rPr>
                        <a:t>Products</a:t>
                      </a:r>
                      <a:endParaRPr sz="1400" dirty="0">
                        <a:solidFill>
                          <a:schemeClr val="bg1"/>
                        </a:solidFill>
                        <a:latin typeface="Arial"/>
                        <a:cs typeface="Arial"/>
                      </a:endParaRPr>
                    </a:p>
                    <a:p>
                      <a:pPr marL="1270" algn="ctr">
                        <a:lnSpc>
                          <a:spcPts val="1175"/>
                        </a:lnSpc>
                      </a:pPr>
                      <a:r>
                        <a:rPr sz="1400" b="1" dirty="0">
                          <a:solidFill>
                            <a:schemeClr val="bg1"/>
                          </a:solidFill>
                          <a:latin typeface="Arial"/>
                          <a:cs typeface="Arial"/>
                        </a:rPr>
                        <a:t>(Production</a:t>
                      </a:r>
                      <a:r>
                        <a:rPr sz="1400" b="1" spc="-15" dirty="0">
                          <a:solidFill>
                            <a:schemeClr val="bg1"/>
                          </a:solidFill>
                          <a:latin typeface="Arial"/>
                          <a:cs typeface="Arial"/>
                        </a:rPr>
                        <a:t> </a:t>
                      </a:r>
                      <a:r>
                        <a:rPr sz="1400" b="1" spc="-10" dirty="0">
                          <a:solidFill>
                            <a:schemeClr val="bg1"/>
                          </a:solidFill>
                          <a:latin typeface="Arial"/>
                          <a:cs typeface="Arial"/>
                        </a:rPr>
                        <a:t>started)</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extLst>
                  <a:ext uri="{0D108BD9-81ED-4DB2-BD59-A6C34878D82A}">
                    <a16:rowId xmlns:a16="http://schemas.microsoft.com/office/drawing/2014/main" val="10000"/>
                  </a:ext>
                </a:extLst>
              </a:tr>
              <a:tr h="254000">
                <a:tc>
                  <a:txBody>
                    <a:bodyPr/>
                    <a:lstStyle/>
                    <a:p>
                      <a:pPr marL="1270" algn="ctr">
                        <a:lnSpc>
                          <a:spcPts val="1170"/>
                        </a:lnSpc>
                        <a:spcBef>
                          <a:spcPts val="225"/>
                        </a:spcBef>
                      </a:pPr>
                      <a:r>
                        <a:rPr sz="1400" spc="-10" dirty="0">
                          <a:latin typeface="Arial MT"/>
                          <a:cs typeface="Arial MT"/>
                        </a:rPr>
                        <a:t>January</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5"/>
                        </a:spcBef>
                      </a:pPr>
                      <a:r>
                        <a:rPr sz="1400" spc="-20" dirty="0">
                          <a:latin typeface="Arial MT"/>
                          <a:cs typeface="Arial MT"/>
                        </a:rPr>
                        <a:t>2650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marL="2540" algn="ctr">
                        <a:lnSpc>
                          <a:spcPts val="1170"/>
                        </a:lnSpc>
                        <a:spcBef>
                          <a:spcPts val="225"/>
                        </a:spcBef>
                      </a:pPr>
                      <a:r>
                        <a:rPr sz="1400" spc="-10" dirty="0">
                          <a:latin typeface="Arial MT"/>
                          <a:cs typeface="Arial MT"/>
                        </a:rPr>
                        <a:t>February</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5"/>
                        </a:spcBef>
                      </a:pPr>
                      <a:r>
                        <a:rPr sz="1400" spc="-20" dirty="0">
                          <a:latin typeface="Arial MT"/>
                          <a:cs typeface="Arial MT"/>
                        </a:rPr>
                        <a:t>2450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ts val="1170"/>
                        </a:lnSpc>
                        <a:spcBef>
                          <a:spcPts val="225"/>
                        </a:spcBef>
                      </a:pPr>
                      <a:r>
                        <a:rPr sz="1400" spc="-50" dirty="0">
                          <a:latin typeface="Arial MT"/>
                          <a:cs typeface="Arial MT"/>
                        </a:rPr>
                        <a:t>…</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0"/>
                        </a:lnSpc>
                        <a:spcBef>
                          <a:spcPts val="225"/>
                        </a:spcBef>
                      </a:pPr>
                      <a:r>
                        <a:rPr sz="1400" spc="-50" dirty="0">
                          <a:latin typeface="Arial MT"/>
                          <a:cs typeface="Arial MT"/>
                        </a:rPr>
                        <a:t>…</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graphicFrame>
        <p:nvGraphicFramePr>
          <p:cNvPr id="8" name="object 8"/>
          <p:cNvGraphicFramePr>
            <a:graphicFrameLocks noGrp="1"/>
          </p:cNvGraphicFramePr>
          <p:nvPr>
            <p:extLst>
              <p:ext uri="{D42A27DB-BD31-4B8C-83A1-F6EECF244321}">
                <p14:modId xmlns:p14="http://schemas.microsoft.com/office/powerpoint/2010/main" val="3427561491"/>
              </p:ext>
            </p:extLst>
          </p:nvPr>
        </p:nvGraphicFramePr>
        <p:xfrm>
          <a:off x="3039534" y="4478359"/>
          <a:ext cx="5487244" cy="1708573"/>
        </p:xfrm>
        <a:graphic>
          <a:graphicData uri="http://schemas.openxmlformats.org/drawingml/2006/table">
            <a:tbl>
              <a:tblPr firstRow="1" bandRow="1">
                <a:tableStyleId>{2D5ABB26-0587-4C30-8999-92F81FD0307C}</a:tableStyleId>
              </a:tblPr>
              <a:tblGrid>
                <a:gridCol w="818727">
                  <a:extLst>
                    <a:ext uri="{9D8B030D-6E8A-4147-A177-3AD203B41FA5}">
                      <a16:colId xmlns:a16="http://schemas.microsoft.com/office/drawing/2014/main" val="20000"/>
                    </a:ext>
                  </a:extLst>
                </a:gridCol>
                <a:gridCol w="1170092">
                  <a:extLst>
                    <a:ext uri="{9D8B030D-6E8A-4147-A177-3AD203B41FA5}">
                      <a16:colId xmlns:a16="http://schemas.microsoft.com/office/drawing/2014/main" val="20001"/>
                    </a:ext>
                  </a:extLst>
                </a:gridCol>
                <a:gridCol w="957580">
                  <a:extLst>
                    <a:ext uri="{9D8B030D-6E8A-4147-A177-3AD203B41FA5}">
                      <a16:colId xmlns:a16="http://schemas.microsoft.com/office/drawing/2014/main" val="20002"/>
                    </a:ext>
                  </a:extLst>
                </a:gridCol>
                <a:gridCol w="1170092">
                  <a:extLst>
                    <a:ext uri="{9D8B030D-6E8A-4147-A177-3AD203B41FA5}">
                      <a16:colId xmlns:a16="http://schemas.microsoft.com/office/drawing/2014/main" val="20003"/>
                    </a:ext>
                  </a:extLst>
                </a:gridCol>
                <a:gridCol w="1370753">
                  <a:extLst>
                    <a:ext uri="{9D8B030D-6E8A-4147-A177-3AD203B41FA5}">
                      <a16:colId xmlns:a16="http://schemas.microsoft.com/office/drawing/2014/main" val="20004"/>
                    </a:ext>
                  </a:extLst>
                </a:gridCol>
              </a:tblGrid>
              <a:tr h="439420">
                <a:tc>
                  <a:txBody>
                    <a:bodyPr/>
                    <a:lstStyle/>
                    <a:p>
                      <a:pPr>
                        <a:lnSpc>
                          <a:spcPct val="100000"/>
                        </a:lnSpc>
                        <a:spcBef>
                          <a:spcPts val="114"/>
                        </a:spcBef>
                      </a:pPr>
                      <a:endParaRPr sz="1400" dirty="0">
                        <a:solidFill>
                          <a:schemeClr val="bg1"/>
                        </a:solidFill>
                        <a:latin typeface="Times New Roman"/>
                        <a:cs typeface="Times New Roman"/>
                      </a:endParaRPr>
                    </a:p>
                    <a:p>
                      <a:pPr marL="635" algn="ctr">
                        <a:lnSpc>
                          <a:spcPts val="1170"/>
                        </a:lnSpc>
                      </a:pPr>
                      <a:r>
                        <a:rPr sz="1400" b="1" spc="-10" dirty="0">
                          <a:solidFill>
                            <a:schemeClr val="bg1"/>
                          </a:solidFill>
                          <a:latin typeface="Arial"/>
                          <a:cs typeface="Arial"/>
                        </a:rPr>
                        <a:t>order_id</a:t>
                      </a:r>
                      <a:endParaRPr sz="1400" dirty="0">
                        <a:solidFill>
                          <a:schemeClr val="bg1"/>
                        </a:solidFill>
                        <a:latin typeface="Arial"/>
                        <a:cs typeface="Arial"/>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348615" marR="84455" indent="-254635">
                        <a:lnSpc>
                          <a:spcPct val="100000"/>
                        </a:lnSpc>
                      </a:pPr>
                      <a:r>
                        <a:rPr sz="1400" b="1" dirty="0">
                          <a:solidFill>
                            <a:schemeClr val="bg1"/>
                          </a:solidFill>
                          <a:latin typeface="Arial"/>
                          <a:cs typeface="Arial"/>
                        </a:rPr>
                        <a:t>Order</a:t>
                      </a:r>
                      <a:r>
                        <a:rPr sz="1400" b="1" spc="-40" dirty="0">
                          <a:solidFill>
                            <a:schemeClr val="bg1"/>
                          </a:solidFill>
                          <a:latin typeface="Arial"/>
                          <a:cs typeface="Arial"/>
                        </a:rPr>
                        <a:t> </a:t>
                      </a:r>
                      <a:r>
                        <a:rPr sz="1400" b="1" spc="-20" dirty="0">
                          <a:solidFill>
                            <a:schemeClr val="bg1"/>
                          </a:solidFill>
                          <a:latin typeface="Arial"/>
                          <a:cs typeface="Arial"/>
                        </a:rPr>
                        <a:t>Date </a:t>
                      </a:r>
                      <a:r>
                        <a:rPr sz="1400" b="1" spc="-25" dirty="0">
                          <a:solidFill>
                            <a:schemeClr val="bg1"/>
                          </a:solidFill>
                          <a:latin typeface="Arial"/>
                          <a:cs typeface="Arial"/>
                        </a:rPr>
                        <a:t>FK</a:t>
                      </a:r>
                      <a:endParaRPr sz="1400" dirty="0">
                        <a:solidFill>
                          <a:schemeClr val="bg1"/>
                        </a:solidFill>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635" algn="ctr">
                        <a:lnSpc>
                          <a:spcPct val="100000"/>
                        </a:lnSpc>
                        <a:spcBef>
                          <a:spcPts val="65"/>
                        </a:spcBef>
                      </a:pPr>
                      <a:r>
                        <a:rPr sz="1400" b="1" spc="-25" dirty="0">
                          <a:solidFill>
                            <a:schemeClr val="bg1"/>
                          </a:solidFill>
                          <a:latin typeface="Arial"/>
                          <a:cs typeface="Arial"/>
                        </a:rPr>
                        <a:t>No.</a:t>
                      </a:r>
                      <a:endParaRPr sz="1400" dirty="0">
                        <a:solidFill>
                          <a:schemeClr val="bg1"/>
                        </a:solidFill>
                        <a:latin typeface="Arial"/>
                        <a:cs typeface="Arial"/>
                      </a:endParaRPr>
                    </a:p>
                    <a:p>
                      <a:pPr marL="635" algn="ctr">
                        <a:lnSpc>
                          <a:spcPts val="1170"/>
                        </a:lnSpc>
                      </a:pPr>
                      <a:r>
                        <a:rPr sz="1400" b="1" spc="-10" dirty="0">
                          <a:solidFill>
                            <a:schemeClr val="bg1"/>
                          </a:solidFill>
                          <a:latin typeface="Arial"/>
                          <a:cs typeface="Arial"/>
                        </a:rPr>
                        <a:t>Products</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a:lnSpc>
                          <a:spcPct val="100000"/>
                        </a:lnSpc>
                        <a:spcBef>
                          <a:spcPts val="114"/>
                        </a:spcBef>
                      </a:pPr>
                      <a:endParaRPr sz="1400" dirty="0">
                        <a:solidFill>
                          <a:schemeClr val="bg1"/>
                        </a:solidFill>
                        <a:latin typeface="Times New Roman"/>
                        <a:cs typeface="Times New Roman"/>
                      </a:endParaRPr>
                    </a:p>
                    <a:p>
                      <a:pPr marL="1270" algn="ctr">
                        <a:lnSpc>
                          <a:spcPts val="1170"/>
                        </a:lnSpc>
                      </a:pPr>
                      <a:r>
                        <a:rPr sz="1400" b="1" spc="-10" dirty="0">
                          <a:solidFill>
                            <a:schemeClr val="bg1"/>
                          </a:solidFill>
                          <a:latin typeface="Arial"/>
                          <a:cs typeface="Arial"/>
                        </a:rPr>
                        <a:t>Product_FK</a:t>
                      </a:r>
                      <a:endParaRPr sz="1400" dirty="0">
                        <a:solidFill>
                          <a:schemeClr val="bg1"/>
                        </a:solidFill>
                        <a:latin typeface="Arial"/>
                        <a:cs typeface="Arial"/>
                      </a:endParaRPr>
                    </a:p>
                  </a:txBody>
                  <a:tcPr marL="0" marR="0" marT="1947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tc>
                  <a:txBody>
                    <a:bodyPr/>
                    <a:lstStyle/>
                    <a:p>
                      <a:pPr marL="252729" marR="151765" indent="-91440">
                        <a:lnSpc>
                          <a:spcPct val="100000"/>
                        </a:lnSpc>
                      </a:pPr>
                      <a:r>
                        <a:rPr sz="1400" b="1" spc="-10" dirty="0">
                          <a:solidFill>
                            <a:schemeClr val="bg1"/>
                          </a:solidFill>
                          <a:latin typeface="Arial"/>
                          <a:cs typeface="Arial"/>
                        </a:rPr>
                        <a:t>Production </a:t>
                      </a:r>
                      <a:r>
                        <a:rPr sz="1400" b="1" dirty="0">
                          <a:solidFill>
                            <a:schemeClr val="bg1"/>
                          </a:solidFill>
                          <a:latin typeface="Arial"/>
                          <a:cs typeface="Arial"/>
                        </a:rPr>
                        <a:t>Start</a:t>
                      </a:r>
                      <a:r>
                        <a:rPr sz="1400" b="1" spc="-35" dirty="0">
                          <a:solidFill>
                            <a:schemeClr val="bg1"/>
                          </a:solidFill>
                          <a:latin typeface="Arial"/>
                          <a:cs typeface="Arial"/>
                        </a:rPr>
                        <a:t> </a:t>
                      </a:r>
                      <a:r>
                        <a:rPr sz="1400" b="1" spc="-25" dirty="0">
                          <a:solidFill>
                            <a:schemeClr val="bg1"/>
                          </a:solidFill>
                          <a:latin typeface="Arial"/>
                          <a:cs typeface="Arial"/>
                        </a:rPr>
                        <a:t>FK</a:t>
                      </a:r>
                      <a:endParaRPr sz="1400" dirty="0">
                        <a:solidFill>
                          <a:schemeClr val="bg1"/>
                        </a:solidFill>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92BE"/>
                    </a:solidFill>
                  </a:tcPr>
                </a:tc>
                <a:extLst>
                  <a:ext uri="{0D108BD9-81ED-4DB2-BD59-A6C34878D82A}">
                    <a16:rowId xmlns:a16="http://schemas.microsoft.com/office/drawing/2014/main" val="10000"/>
                  </a:ext>
                </a:extLst>
              </a:tr>
              <a:tr h="254000">
                <a:tc>
                  <a:txBody>
                    <a:bodyPr/>
                    <a:lstStyle/>
                    <a:p>
                      <a:pPr algn="ctr">
                        <a:lnSpc>
                          <a:spcPts val="1170"/>
                        </a:lnSpc>
                        <a:spcBef>
                          <a:spcPts val="229"/>
                        </a:spcBef>
                      </a:pPr>
                      <a:r>
                        <a:rPr sz="1400" spc="-50" dirty="0">
                          <a:latin typeface="Arial MT"/>
                          <a:cs typeface="Arial MT"/>
                        </a:rPr>
                        <a:t>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20220102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25" dirty="0">
                          <a:latin typeface="Arial MT"/>
                          <a:cs typeface="Arial MT"/>
                        </a:rPr>
                        <a:t>100</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9"/>
                        </a:spcBef>
                      </a:pPr>
                      <a:r>
                        <a:rPr sz="1400" spc="-25" dirty="0">
                          <a:latin typeface="Arial MT"/>
                          <a:cs typeface="Arial MT"/>
                        </a:rPr>
                        <a:t>32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20220103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ts val="1170"/>
                        </a:lnSpc>
                        <a:spcBef>
                          <a:spcPts val="229"/>
                        </a:spcBef>
                      </a:pPr>
                      <a:r>
                        <a:rPr sz="1400" spc="-50" dirty="0">
                          <a:latin typeface="Arial MT"/>
                          <a:cs typeface="Arial MT"/>
                        </a:rPr>
                        <a:t>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20220103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25" dirty="0">
                          <a:latin typeface="Arial MT"/>
                          <a:cs typeface="Arial MT"/>
                        </a:rPr>
                        <a:t>100</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9"/>
                        </a:spcBef>
                      </a:pPr>
                      <a:r>
                        <a:rPr sz="1400" spc="-25" dirty="0">
                          <a:latin typeface="Arial MT"/>
                          <a:cs typeface="Arial MT"/>
                        </a:rPr>
                        <a:t>32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20220104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ts val="117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20220103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25" dirty="0">
                          <a:latin typeface="Arial MT"/>
                          <a:cs typeface="Arial MT"/>
                        </a:rPr>
                        <a:t>100</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9"/>
                        </a:spcBef>
                      </a:pPr>
                      <a:r>
                        <a:rPr sz="1400" spc="-25" dirty="0">
                          <a:latin typeface="Arial MT"/>
                          <a:cs typeface="Arial MT"/>
                        </a:rPr>
                        <a:t>32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20220103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3153">
                <a:tc>
                  <a:txBody>
                    <a:bodyPr/>
                    <a:lstStyle/>
                    <a:p>
                      <a:pPr algn="ctr">
                        <a:lnSpc>
                          <a:spcPts val="1170"/>
                        </a:lnSpc>
                        <a:spcBef>
                          <a:spcPts val="229"/>
                        </a:spcBef>
                      </a:pPr>
                      <a:r>
                        <a:rPr sz="1400" spc="-50" dirty="0">
                          <a:latin typeface="Arial MT"/>
                          <a:cs typeface="Arial MT"/>
                        </a:rPr>
                        <a:t>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20220104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25" dirty="0">
                          <a:latin typeface="Arial MT"/>
                          <a:cs typeface="Arial MT"/>
                        </a:rPr>
                        <a:t>100</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9"/>
                        </a:spcBef>
                      </a:pPr>
                      <a:r>
                        <a:rPr sz="1400" spc="-25" dirty="0">
                          <a:latin typeface="Arial MT"/>
                          <a:cs typeface="Arial MT"/>
                        </a:rPr>
                        <a:t>32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20220106</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algn="ctr">
                        <a:lnSpc>
                          <a:spcPts val="1170"/>
                        </a:lnSpc>
                        <a:spcBef>
                          <a:spcPts val="229"/>
                        </a:spcBef>
                      </a:pPr>
                      <a:r>
                        <a:rPr sz="1400" spc="-50" dirty="0">
                          <a:latin typeface="Arial MT"/>
                          <a:cs typeface="Arial MT"/>
                        </a:rPr>
                        <a:t>5</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20220104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25" dirty="0">
                          <a:latin typeface="Arial MT"/>
                          <a:cs typeface="Arial MT"/>
                        </a:rPr>
                        <a:t>100</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ts val="1170"/>
                        </a:lnSpc>
                        <a:spcBef>
                          <a:spcPts val="229"/>
                        </a:spcBef>
                      </a:pPr>
                      <a:r>
                        <a:rPr sz="1400" spc="-25" dirty="0">
                          <a:latin typeface="Arial MT"/>
                          <a:cs typeface="Arial MT"/>
                        </a:rPr>
                        <a:t>32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0"/>
                        </a:lnSpc>
                        <a:spcBef>
                          <a:spcPts val="229"/>
                        </a:spcBef>
                      </a:pPr>
                      <a:r>
                        <a:rPr sz="1400" spc="-10" dirty="0">
                          <a:latin typeface="Arial MT"/>
                          <a:cs typeface="Arial MT"/>
                        </a:rPr>
                        <a:t>20220108</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645325" y="2159000"/>
            <a:ext cx="7262707"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BI</a:t>
            </a:r>
            <a:r>
              <a:rPr sz="2400" b="1" spc="-27" dirty="0">
                <a:solidFill>
                  <a:srgbClr val="D9D9D9"/>
                </a:solidFill>
                <a:latin typeface="Calibri"/>
                <a:cs typeface="Calibri"/>
              </a:rPr>
              <a:t> </a:t>
            </a:r>
            <a:r>
              <a:rPr sz="2400" b="1" dirty="0">
                <a:solidFill>
                  <a:srgbClr val="D9D9D9"/>
                </a:solidFill>
                <a:latin typeface="Calibri"/>
                <a:cs typeface="Calibri"/>
              </a:rPr>
              <a:t>tools</a:t>
            </a:r>
            <a:r>
              <a:rPr sz="2400" b="1" spc="-33" dirty="0">
                <a:solidFill>
                  <a:srgbClr val="D9D9D9"/>
                </a:solidFill>
                <a:latin typeface="Calibri"/>
                <a:cs typeface="Calibri"/>
              </a:rPr>
              <a:t> </a:t>
            </a:r>
            <a:r>
              <a:rPr sz="2400" b="1" dirty="0">
                <a:solidFill>
                  <a:srgbClr val="D9D9D9"/>
                </a:solidFill>
                <a:latin typeface="Calibri"/>
                <a:cs typeface="Calibri"/>
              </a:rPr>
              <a:t>for example</a:t>
            </a:r>
            <a:r>
              <a:rPr sz="2400" b="1" spc="-67" dirty="0">
                <a:solidFill>
                  <a:srgbClr val="D9D9D9"/>
                </a:solidFill>
                <a:latin typeface="Calibri"/>
                <a:cs typeface="Calibri"/>
              </a:rPr>
              <a:t> </a:t>
            </a:r>
            <a:r>
              <a:rPr sz="2400" b="1" dirty="0">
                <a:solidFill>
                  <a:srgbClr val="D9D9D9"/>
                </a:solidFill>
                <a:latin typeface="Calibri"/>
                <a:cs typeface="Calibri"/>
              </a:rPr>
              <a:t>via</a:t>
            </a:r>
            <a:r>
              <a:rPr sz="2400" b="1" spc="-13" dirty="0">
                <a:solidFill>
                  <a:srgbClr val="D9D9D9"/>
                </a:solidFill>
                <a:latin typeface="Calibri"/>
                <a:cs typeface="Calibri"/>
              </a:rPr>
              <a:t> </a:t>
            </a:r>
            <a:r>
              <a:rPr sz="2400" b="1" dirty="0">
                <a:solidFill>
                  <a:srgbClr val="D9D9D9"/>
                </a:solidFill>
                <a:latin typeface="Calibri"/>
                <a:cs typeface="Calibri"/>
              </a:rPr>
              <a:t>active</a:t>
            </a:r>
            <a:r>
              <a:rPr sz="2400" b="1" spc="-33" dirty="0">
                <a:solidFill>
                  <a:srgbClr val="D9D9D9"/>
                </a:solidFill>
                <a:latin typeface="Calibri"/>
                <a:cs typeface="Calibri"/>
              </a:rPr>
              <a:t> </a:t>
            </a:r>
            <a:r>
              <a:rPr sz="2400" b="1" dirty="0">
                <a:solidFill>
                  <a:srgbClr val="D9D9D9"/>
                </a:solidFill>
                <a:latin typeface="Calibri"/>
                <a:cs typeface="Calibri"/>
              </a:rPr>
              <a:t>&amp;</a:t>
            </a:r>
            <a:r>
              <a:rPr sz="2400" b="1" spc="-7" dirty="0">
                <a:solidFill>
                  <a:srgbClr val="D9D9D9"/>
                </a:solidFill>
                <a:latin typeface="Calibri"/>
                <a:cs typeface="Calibri"/>
              </a:rPr>
              <a:t> </a:t>
            </a:r>
            <a:r>
              <a:rPr sz="2400" b="1" dirty="0">
                <a:solidFill>
                  <a:srgbClr val="D9D9D9"/>
                </a:solidFill>
                <a:latin typeface="Calibri"/>
                <a:cs typeface="Calibri"/>
              </a:rPr>
              <a:t>inactive</a:t>
            </a:r>
            <a:r>
              <a:rPr sz="2400" b="1" spc="-13" dirty="0">
                <a:solidFill>
                  <a:srgbClr val="D9D9D9"/>
                </a:solidFill>
                <a:latin typeface="Calibri"/>
                <a:cs typeface="Calibri"/>
              </a:rPr>
              <a:t> relationships</a:t>
            </a:r>
            <a:endParaRPr sz="2400">
              <a:latin typeface="Calibri"/>
              <a:cs typeface="Calibri"/>
            </a:endParaRPr>
          </a:p>
        </p:txBody>
      </p:sp>
      <p:pic>
        <p:nvPicPr>
          <p:cNvPr id="3" name="object 3"/>
          <p:cNvPicPr/>
          <p:nvPr/>
        </p:nvPicPr>
        <p:blipFill>
          <a:blip r:embed="rId2" cstate="print"/>
          <a:stretch>
            <a:fillRect/>
          </a:stretch>
        </p:blipFill>
        <p:spPr>
          <a:xfrm>
            <a:off x="1257807" y="247904"/>
            <a:ext cx="9930384" cy="1702816"/>
          </a:xfrm>
          <a:prstGeom prst="rect">
            <a:avLst/>
          </a:prstGeom>
        </p:spPr>
      </p:pic>
      <p:sp>
        <p:nvSpPr>
          <p:cNvPr id="4" name="object 4"/>
          <p:cNvSpPr txBox="1">
            <a:spLocks noGrp="1"/>
          </p:cNvSpPr>
          <p:nvPr>
            <p:ph type="title"/>
          </p:nvPr>
        </p:nvSpPr>
        <p:spPr>
          <a:xfrm>
            <a:off x="1320800" y="536858"/>
            <a:ext cx="9811173" cy="1070379"/>
          </a:xfrm>
          <a:prstGeom prst="rect">
            <a:avLst/>
          </a:prstGeom>
          <a:noFill/>
          <a:ln w="9144">
            <a:noFill/>
          </a:ln>
        </p:spPr>
        <p:txBody>
          <a:bodyPr vert="horz" wrap="square" lIns="0" tIns="328507" rIns="0" bIns="0" rtlCol="0" anchor="ctr">
            <a:spAutoFit/>
          </a:bodyPr>
          <a:lstStyle/>
          <a:p>
            <a:pPr algn="ctr">
              <a:lnSpc>
                <a:spcPct val="100000"/>
              </a:lnSpc>
              <a:spcBef>
                <a:spcPts val="2587"/>
              </a:spcBef>
            </a:pPr>
            <a:r>
              <a:rPr sz="4800" spc="-13" dirty="0">
                <a:solidFill>
                  <a:schemeClr val="bg1"/>
                </a:solidFill>
                <a:latin typeface="+mn-lt"/>
                <a:cs typeface="Arial MT"/>
              </a:rPr>
              <a:t>Role-</a:t>
            </a:r>
            <a:r>
              <a:rPr sz="4800" dirty="0">
                <a:solidFill>
                  <a:schemeClr val="bg1"/>
                </a:solidFill>
                <a:latin typeface="+mn-lt"/>
                <a:cs typeface="Arial MT"/>
              </a:rPr>
              <a:t>playing</a:t>
            </a:r>
            <a:r>
              <a:rPr sz="4800" spc="-53" dirty="0">
                <a:solidFill>
                  <a:schemeClr val="bg1"/>
                </a:solidFill>
                <a:latin typeface="+mn-lt"/>
                <a:cs typeface="Arial MT"/>
              </a:rPr>
              <a:t> </a:t>
            </a:r>
            <a:r>
              <a:rPr sz="4800" spc="-13" dirty="0">
                <a:solidFill>
                  <a:schemeClr val="bg1"/>
                </a:solidFill>
                <a:latin typeface="+mn-lt"/>
                <a:cs typeface="Arial MT"/>
              </a:rPr>
              <a:t>dimension</a:t>
            </a:r>
            <a:endParaRPr sz="4800" dirty="0">
              <a:solidFill>
                <a:schemeClr val="bg1"/>
              </a:solidFill>
              <a:latin typeface="+mn-lt"/>
              <a:cs typeface="Arial MT"/>
            </a:endParaRPr>
          </a:p>
        </p:txBody>
      </p:sp>
      <p:pic>
        <p:nvPicPr>
          <p:cNvPr id="5" name="object 5"/>
          <p:cNvPicPr/>
          <p:nvPr/>
        </p:nvPicPr>
        <p:blipFill>
          <a:blip r:embed="rId3" cstate="print"/>
          <a:stretch>
            <a:fillRect/>
          </a:stretch>
        </p:blipFill>
        <p:spPr>
          <a:xfrm>
            <a:off x="3556000" y="2663952"/>
            <a:ext cx="5486400" cy="3990848"/>
          </a:xfrm>
          <a:prstGeom prst="rect">
            <a:avLst/>
          </a:prstGeom>
        </p:spPr>
      </p:pic>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57807" y="247904"/>
            <a:ext cx="9930384" cy="1702816"/>
          </a:xfrm>
          <a:prstGeom prst="rect">
            <a:avLst/>
          </a:prstGeom>
        </p:spPr>
      </p:pic>
      <p:sp>
        <p:nvSpPr>
          <p:cNvPr id="3" name="object 3"/>
          <p:cNvSpPr txBox="1">
            <a:spLocks noGrp="1"/>
          </p:cNvSpPr>
          <p:nvPr>
            <p:ph type="title"/>
          </p:nvPr>
        </p:nvSpPr>
        <p:spPr>
          <a:xfrm>
            <a:off x="1320800" y="536858"/>
            <a:ext cx="9811173" cy="1070379"/>
          </a:xfrm>
          <a:prstGeom prst="rect">
            <a:avLst/>
          </a:prstGeom>
          <a:noFill/>
          <a:ln w="9144">
            <a:noFill/>
          </a:ln>
        </p:spPr>
        <p:txBody>
          <a:bodyPr vert="horz" wrap="square" lIns="0" tIns="328507" rIns="0" bIns="0" rtlCol="0" anchor="ctr">
            <a:spAutoFit/>
          </a:bodyPr>
          <a:lstStyle/>
          <a:p>
            <a:pPr algn="ctr">
              <a:lnSpc>
                <a:spcPct val="100000"/>
              </a:lnSpc>
              <a:spcBef>
                <a:spcPts val="2587"/>
              </a:spcBef>
            </a:pPr>
            <a:r>
              <a:rPr sz="4800" spc="-13" dirty="0">
                <a:solidFill>
                  <a:schemeClr val="bg1"/>
                </a:solidFill>
                <a:latin typeface="Arial MT"/>
                <a:cs typeface="Arial MT"/>
              </a:rPr>
              <a:t>Role-</a:t>
            </a:r>
            <a:r>
              <a:rPr sz="4800" dirty="0">
                <a:solidFill>
                  <a:schemeClr val="bg1"/>
                </a:solidFill>
                <a:latin typeface="Arial MT"/>
                <a:cs typeface="Arial MT"/>
              </a:rPr>
              <a:t>playing</a:t>
            </a:r>
            <a:r>
              <a:rPr sz="4800" spc="-53" dirty="0">
                <a:solidFill>
                  <a:schemeClr val="bg1"/>
                </a:solidFill>
                <a:latin typeface="Arial MT"/>
                <a:cs typeface="Arial MT"/>
              </a:rPr>
              <a:t> </a:t>
            </a:r>
            <a:r>
              <a:rPr sz="4800" spc="-13" dirty="0">
                <a:solidFill>
                  <a:schemeClr val="bg1"/>
                </a:solidFill>
                <a:latin typeface="Arial MT"/>
                <a:cs typeface="Arial MT"/>
              </a:rPr>
              <a:t>dimension</a:t>
            </a:r>
            <a:endParaRPr sz="4800" dirty="0">
              <a:solidFill>
                <a:schemeClr val="bg1"/>
              </a:solidFill>
              <a:latin typeface="Arial MT"/>
              <a:cs typeface="Arial MT"/>
            </a:endParaRPr>
          </a:p>
        </p:txBody>
      </p:sp>
      <p:sp>
        <p:nvSpPr>
          <p:cNvPr id="4" name="object 4"/>
          <p:cNvSpPr txBox="1"/>
          <p:nvPr/>
        </p:nvSpPr>
        <p:spPr>
          <a:xfrm>
            <a:off x="2645325" y="1976769"/>
            <a:ext cx="7691371" cy="2432290"/>
          </a:xfrm>
          <a:prstGeom prst="rect">
            <a:avLst/>
          </a:prstGeom>
        </p:spPr>
        <p:txBody>
          <a:bodyPr vert="horz" wrap="square" lIns="0" tIns="198967" rIns="0" bIns="0" rtlCol="0">
            <a:spAutoFit/>
          </a:bodyPr>
          <a:lstStyle/>
          <a:p>
            <a:pPr marL="397923" indent="-380990">
              <a:spcBef>
                <a:spcPts val="1567"/>
              </a:spcBef>
              <a:buClr>
                <a:srgbClr val="99D3FF"/>
              </a:buClr>
              <a:buFont typeface="Wingdings"/>
              <a:buChar char=""/>
              <a:tabLst>
                <a:tab pos="397923" algn="l"/>
              </a:tabLst>
            </a:pPr>
            <a:r>
              <a:rPr sz="2400" b="1" dirty="0">
                <a:solidFill>
                  <a:srgbClr val="D9D9D9"/>
                </a:solidFill>
                <a:latin typeface="Calibri"/>
                <a:cs typeface="Calibri"/>
              </a:rPr>
              <a:t>For</a:t>
            </a:r>
            <a:r>
              <a:rPr sz="2400" b="1" spc="-47" dirty="0">
                <a:solidFill>
                  <a:srgbClr val="D9D9D9"/>
                </a:solidFill>
                <a:latin typeface="Calibri"/>
                <a:cs typeface="Calibri"/>
              </a:rPr>
              <a:t> </a:t>
            </a:r>
            <a:r>
              <a:rPr sz="2400" b="1" dirty="0">
                <a:solidFill>
                  <a:srgbClr val="D9D9D9"/>
                </a:solidFill>
                <a:latin typeface="Calibri"/>
                <a:cs typeface="Calibri"/>
              </a:rPr>
              <a:t>analysis</a:t>
            </a:r>
            <a:r>
              <a:rPr sz="2400" b="1" spc="-60" dirty="0">
                <a:solidFill>
                  <a:srgbClr val="D9D9D9"/>
                </a:solidFill>
                <a:latin typeface="Calibri"/>
                <a:cs typeface="Calibri"/>
              </a:rPr>
              <a:t> </a:t>
            </a:r>
            <a:r>
              <a:rPr sz="2400" b="1" dirty="0">
                <a:solidFill>
                  <a:srgbClr val="D9D9D9"/>
                </a:solidFill>
                <a:latin typeface="Calibri"/>
                <a:cs typeface="Calibri"/>
              </a:rPr>
              <a:t>in</a:t>
            </a:r>
            <a:r>
              <a:rPr sz="2400" b="1" spc="-27" dirty="0">
                <a:solidFill>
                  <a:srgbClr val="D9D9D9"/>
                </a:solidFill>
                <a:latin typeface="Calibri"/>
                <a:cs typeface="Calibri"/>
              </a:rPr>
              <a:t> </a:t>
            </a:r>
            <a:r>
              <a:rPr sz="2400" b="1" dirty="0">
                <a:solidFill>
                  <a:srgbClr val="D9D9D9"/>
                </a:solidFill>
                <a:latin typeface="Calibri"/>
                <a:cs typeface="Calibri"/>
              </a:rPr>
              <a:t>SQL</a:t>
            </a:r>
            <a:r>
              <a:rPr sz="2400" b="1" spc="-7" dirty="0">
                <a:solidFill>
                  <a:srgbClr val="D9D9D9"/>
                </a:solidFill>
                <a:latin typeface="Calibri"/>
                <a:cs typeface="Calibri"/>
              </a:rPr>
              <a:t> </a:t>
            </a:r>
            <a:r>
              <a:rPr sz="2400" b="1" dirty="0">
                <a:solidFill>
                  <a:srgbClr val="D9D9D9"/>
                </a:solidFill>
                <a:latin typeface="Calibri"/>
                <a:cs typeface="Calibri"/>
              </a:rPr>
              <a:t>you</a:t>
            </a:r>
            <a:r>
              <a:rPr sz="2400" b="1" spc="-20" dirty="0">
                <a:solidFill>
                  <a:srgbClr val="D9D9D9"/>
                </a:solidFill>
                <a:latin typeface="Calibri"/>
                <a:cs typeface="Calibri"/>
              </a:rPr>
              <a:t> </a:t>
            </a:r>
            <a:r>
              <a:rPr sz="2400" b="1" dirty="0">
                <a:solidFill>
                  <a:srgbClr val="D9D9D9"/>
                </a:solidFill>
                <a:latin typeface="Calibri"/>
                <a:cs typeface="Calibri"/>
              </a:rPr>
              <a:t>can</a:t>
            </a:r>
            <a:r>
              <a:rPr sz="2400" b="1" spc="-27" dirty="0">
                <a:solidFill>
                  <a:srgbClr val="D9D9D9"/>
                </a:solidFill>
                <a:latin typeface="Calibri"/>
                <a:cs typeface="Calibri"/>
              </a:rPr>
              <a:t> </a:t>
            </a:r>
            <a:r>
              <a:rPr sz="2400" b="1" dirty="0">
                <a:solidFill>
                  <a:srgbClr val="D9D9D9"/>
                </a:solidFill>
                <a:latin typeface="Calibri"/>
                <a:cs typeface="Calibri"/>
              </a:rPr>
              <a:t>create</a:t>
            </a:r>
            <a:r>
              <a:rPr sz="2400" b="1" spc="-13" dirty="0">
                <a:solidFill>
                  <a:srgbClr val="D9D9D9"/>
                </a:solidFill>
                <a:latin typeface="Calibri"/>
                <a:cs typeface="Calibri"/>
              </a:rPr>
              <a:t> </a:t>
            </a:r>
            <a:r>
              <a:rPr sz="2400" b="1" i="1" dirty="0">
                <a:solidFill>
                  <a:srgbClr val="D9D9D9"/>
                </a:solidFill>
                <a:latin typeface="Calibri"/>
                <a:cs typeface="Calibri"/>
              </a:rPr>
              <a:t>additional</a:t>
            </a:r>
            <a:r>
              <a:rPr sz="2400" b="1" i="1" spc="-20" dirty="0">
                <a:solidFill>
                  <a:srgbClr val="D9D9D9"/>
                </a:solidFill>
                <a:latin typeface="Calibri"/>
                <a:cs typeface="Calibri"/>
              </a:rPr>
              <a:t> </a:t>
            </a:r>
            <a:r>
              <a:rPr sz="2400" b="1" i="1" dirty="0">
                <a:solidFill>
                  <a:srgbClr val="D9D9D9"/>
                </a:solidFill>
                <a:latin typeface="Calibri"/>
                <a:cs typeface="Calibri"/>
              </a:rPr>
              <a:t>view</a:t>
            </a:r>
            <a:r>
              <a:rPr sz="2400" b="1" i="1" spc="-13" dirty="0">
                <a:solidFill>
                  <a:srgbClr val="D9D9D9"/>
                </a:solidFill>
                <a:latin typeface="Calibri"/>
                <a:cs typeface="Calibri"/>
              </a:rPr>
              <a:t> </a:t>
            </a:r>
            <a:r>
              <a:rPr sz="2400" b="1" i="1" spc="-33" dirty="0">
                <a:solidFill>
                  <a:srgbClr val="D9D9D9"/>
                </a:solidFill>
                <a:latin typeface="Calibri"/>
                <a:cs typeface="Calibri"/>
              </a:rPr>
              <a:t>for</a:t>
            </a:r>
            <a:endParaRPr sz="2400" dirty="0">
              <a:latin typeface="Calibri"/>
              <a:cs typeface="Calibri"/>
            </a:endParaRPr>
          </a:p>
          <a:p>
            <a:pPr marL="398770">
              <a:spcBef>
                <a:spcPts val="1440"/>
              </a:spcBef>
            </a:pPr>
            <a:r>
              <a:rPr sz="2400" b="1" i="1" dirty="0">
                <a:solidFill>
                  <a:srgbClr val="D9D9D9"/>
                </a:solidFill>
                <a:latin typeface="Calibri"/>
                <a:cs typeface="Calibri"/>
              </a:rPr>
              <a:t>each</a:t>
            </a:r>
            <a:r>
              <a:rPr sz="2400" b="1" i="1" spc="-27" dirty="0">
                <a:solidFill>
                  <a:srgbClr val="D9D9D9"/>
                </a:solidFill>
                <a:latin typeface="Calibri"/>
                <a:cs typeface="Calibri"/>
              </a:rPr>
              <a:t> role</a:t>
            </a:r>
            <a:endParaRPr sz="2400" dirty="0">
              <a:latin typeface="Calibri"/>
              <a:cs typeface="Calibri"/>
            </a:endParaRPr>
          </a:p>
          <a:p>
            <a:pPr>
              <a:spcBef>
                <a:spcPts val="240"/>
              </a:spcBef>
            </a:pPr>
            <a:endParaRPr sz="2400" dirty="0">
              <a:latin typeface="Calibri"/>
              <a:cs typeface="Calibri"/>
            </a:endParaRPr>
          </a:p>
          <a:p>
            <a:pPr marL="398770" indent="-381837">
              <a:buClr>
                <a:srgbClr val="99D3FF"/>
              </a:buClr>
              <a:buFont typeface="Wingdings"/>
              <a:buChar char=""/>
              <a:tabLst>
                <a:tab pos="398770" algn="l"/>
              </a:tabLst>
            </a:pPr>
            <a:r>
              <a:rPr sz="2400" b="1" dirty="0">
                <a:solidFill>
                  <a:srgbClr val="D9D9D9"/>
                </a:solidFill>
                <a:latin typeface="Calibri"/>
                <a:cs typeface="Calibri"/>
              </a:rPr>
              <a:t>No</a:t>
            </a:r>
            <a:r>
              <a:rPr sz="2400" b="1" spc="-7" dirty="0">
                <a:solidFill>
                  <a:srgbClr val="D9D9D9"/>
                </a:solidFill>
                <a:latin typeface="Calibri"/>
                <a:cs typeface="Calibri"/>
              </a:rPr>
              <a:t> </a:t>
            </a:r>
            <a:r>
              <a:rPr sz="2400" b="1" dirty="0">
                <a:solidFill>
                  <a:srgbClr val="D9D9D9"/>
                </a:solidFill>
                <a:latin typeface="Calibri"/>
                <a:cs typeface="Calibri"/>
              </a:rPr>
              <a:t>duplicated</a:t>
            </a:r>
            <a:r>
              <a:rPr sz="2400" b="1" spc="-67" dirty="0">
                <a:solidFill>
                  <a:srgbClr val="D9D9D9"/>
                </a:solidFill>
                <a:latin typeface="Calibri"/>
                <a:cs typeface="Calibri"/>
              </a:rPr>
              <a:t> </a:t>
            </a:r>
            <a:r>
              <a:rPr sz="2400" b="1" dirty="0">
                <a:solidFill>
                  <a:srgbClr val="D9D9D9"/>
                </a:solidFill>
                <a:latin typeface="Calibri"/>
                <a:cs typeface="Calibri"/>
              </a:rPr>
              <a:t>data</a:t>
            </a:r>
            <a:r>
              <a:rPr sz="2400" b="1" spc="-7" dirty="0">
                <a:solidFill>
                  <a:srgbClr val="D9D9D9"/>
                </a:solidFill>
                <a:latin typeface="Calibri"/>
                <a:cs typeface="Calibri"/>
              </a:rPr>
              <a:t> </a:t>
            </a:r>
            <a:r>
              <a:rPr sz="2400" b="1" dirty="0">
                <a:solidFill>
                  <a:srgbClr val="D9D9D9"/>
                </a:solidFill>
                <a:latin typeface="Calibri"/>
                <a:cs typeface="Calibri"/>
              </a:rPr>
              <a:t>but</a:t>
            </a:r>
            <a:r>
              <a:rPr sz="2400" b="1" spc="-27" dirty="0">
                <a:solidFill>
                  <a:srgbClr val="D9D9D9"/>
                </a:solidFill>
                <a:latin typeface="Calibri"/>
                <a:cs typeface="Calibri"/>
              </a:rPr>
              <a:t> </a:t>
            </a:r>
            <a:r>
              <a:rPr sz="2400" b="1" dirty="0">
                <a:solidFill>
                  <a:srgbClr val="D9D9D9"/>
                </a:solidFill>
                <a:latin typeface="Calibri"/>
                <a:cs typeface="Calibri"/>
              </a:rPr>
              <a:t>still</a:t>
            </a:r>
            <a:r>
              <a:rPr sz="2400" b="1" spc="-40" dirty="0">
                <a:solidFill>
                  <a:srgbClr val="D9D9D9"/>
                </a:solidFill>
                <a:latin typeface="Calibri"/>
                <a:cs typeface="Calibri"/>
              </a:rPr>
              <a:t> </a:t>
            </a:r>
            <a:r>
              <a:rPr sz="2400" b="1" dirty="0">
                <a:solidFill>
                  <a:srgbClr val="D9D9D9"/>
                </a:solidFill>
                <a:latin typeface="Calibri"/>
                <a:cs typeface="Calibri"/>
              </a:rPr>
              <a:t>we</a:t>
            </a:r>
            <a:r>
              <a:rPr sz="2400" b="1" spc="-20" dirty="0">
                <a:solidFill>
                  <a:srgbClr val="D9D9D9"/>
                </a:solidFill>
                <a:latin typeface="Calibri"/>
                <a:cs typeface="Calibri"/>
              </a:rPr>
              <a:t> </a:t>
            </a:r>
            <a:r>
              <a:rPr sz="2400" b="1" dirty="0">
                <a:solidFill>
                  <a:srgbClr val="D9D9D9"/>
                </a:solidFill>
                <a:latin typeface="Calibri"/>
                <a:cs typeface="Calibri"/>
              </a:rPr>
              <a:t>it</a:t>
            </a:r>
            <a:r>
              <a:rPr sz="2400" b="1" spc="-7" dirty="0">
                <a:solidFill>
                  <a:srgbClr val="D9D9D9"/>
                </a:solidFill>
                <a:latin typeface="Calibri"/>
                <a:cs typeface="Calibri"/>
              </a:rPr>
              <a:t> </a:t>
            </a:r>
            <a:r>
              <a:rPr sz="2400" b="1" dirty="0">
                <a:solidFill>
                  <a:srgbClr val="D9D9D9"/>
                </a:solidFill>
                <a:latin typeface="Calibri"/>
                <a:cs typeface="Calibri"/>
              </a:rPr>
              <a:t>appears</a:t>
            </a:r>
            <a:r>
              <a:rPr sz="2400" b="1" spc="-27" dirty="0">
                <a:solidFill>
                  <a:srgbClr val="D9D9D9"/>
                </a:solidFill>
                <a:latin typeface="Calibri"/>
                <a:cs typeface="Calibri"/>
              </a:rPr>
              <a:t> </a:t>
            </a:r>
            <a:r>
              <a:rPr sz="2400" b="1" dirty="0">
                <a:solidFill>
                  <a:srgbClr val="D9D9D9"/>
                </a:solidFill>
                <a:latin typeface="Calibri"/>
                <a:cs typeface="Calibri"/>
              </a:rPr>
              <a:t>like</a:t>
            </a:r>
            <a:r>
              <a:rPr sz="2400" b="1" spc="-67" dirty="0">
                <a:solidFill>
                  <a:srgbClr val="D9D9D9"/>
                </a:solidFill>
                <a:latin typeface="Calibri"/>
                <a:cs typeface="Calibri"/>
              </a:rPr>
              <a:t> a</a:t>
            </a:r>
            <a:endParaRPr sz="2400" dirty="0">
              <a:latin typeface="Calibri"/>
              <a:cs typeface="Calibri"/>
            </a:endParaRPr>
          </a:p>
          <a:p>
            <a:pPr marL="398770">
              <a:spcBef>
                <a:spcPts val="1447"/>
              </a:spcBef>
            </a:pPr>
            <a:r>
              <a:rPr sz="2400" b="1" dirty="0">
                <a:solidFill>
                  <a:srgbClr val="D9D9D9"/>
                </a:solidFill>
                <a:latin typeface="Calibri"/>
                <a:cs typeface="Calibri"/>
              </a:rPr>
              <a:t>separate</a:t>
            </a:r>
            <a:r>
              <a:rPr sz="2400" b="1" spc="-47" dirty="0">
                <a:solidFill>
                  <a:srgbClr val="D9D9D9"/>
                </a:solidFill>
                <a:latin typeface="Calibri"/>
                <a:cs typeface="Calibri"/>
              </a:rPr>
              <a:t> </a:t>
            </a:r>
            <a:r>
              <a:rPr sz="2400" b="1" spc="-13" dirty="0">
                <a:solidFill>
                  <a:srgbClr val="D9D9D9"/>
                </a:solidFill>
                <a:latin typeface="Calibri"/>
                <a:cs typeface="Calibri"/>
              </a:rPr>
              <a:t>dimension</a:t>
            </a:r>
            <a:endParaRPr sz="2400" dirty="0">
              <a:latin typeface="Calibri"/>
              <a:cs typeface="Calibri"/>
            </a:endParaRPr>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27759" y="2178303"/>
            <a:ext cx="9930384" cy="1702816"/>
          </a:xfrm>
          <a:prstGeom prst="rect">
            <a:avLst/>
          </a:prstGeom>
        </p:spPr>
      </p:pic>
      <p:sp>
        <p:nvSpPr>
          <p:cNvPr id="3" name="object 3"/>
          <p:cNvSpPr txBox="1">
            <a:spLocks noGrp="1"/>
          </p:cNvSpPr>
          <p:nvPr>
            <p:ph type="title"/>
          </p:nvPr>
        </p:nvSpPr>
        <p:spPr>
          <a:xfrm>
            <a:off x="1190751" y="2467260"/>
            <a:ext cx="9811173" cy="1070377"/>
          </a:xfrm>
          <a:prstGeom prst="rect">
            <a:avLst/>
          </a:prstGeom>
          <a:noFill/>
          <a:ln w="9144">
            <a:noFill/>
          </a:ln>
        </p:spPr>
        <p:txBody>
          <a:bodyPr vert="horz" wrap="square" lIns="0" tIns="328505" rIns="0" bIns="0" rtlCol="0" anchor="ctr">
            <a:spAutoFit/>
          </a:bodyPr>
          <a:lstStyle/>
          <a:p>
            <a:pPr marL="1074393">
              <a:lnSpc>
                <a:spcPct val="100000"/>
              </a:lnSpc>
              <a:spcBef>
                <a:spcPts val="2585"/>
              </a:spcBef>
            </a:pPr>
            <a:r>
              <a:rPr sz="4800" dirty="0">
                <a:solidFill>
                  <a:schemeClr val="bg1"/>
                </a:solidFill>
                <a:latin typeface="Arial MT"/>
                <a:cs typeface="Arial MT"/>
              </a:rPr>
              <a:t>Slowly</a:t>
            </a:r>
            <a:r>
              <a:rPr sz="4800" spc="-73" dirty="0">
                <a:solidFill>
                  <a:schemeClr val="bg1"/>
                </a:solidFill>
                <a:latin typeface="Arial MT"/>
                <a:cs typeface="Arial MT"/>
              </a:rPr>
              <a:t> </a:t>
            </a:r>
            <a:r>
              <a:rPr sz="4800" dirty="0">
                <a:solidFill>
                  <a:schemeClr val="bg1"/>
                </a:solidFill>
                <a:latin typeface="Arial MT"/>
                <a:cs typeface="Arial MT"/>
              </a:rPr>
              <a:t>changing</a:t>
            </a:r>
            <a:r>
              <a:rPr sz="4800" spc="-80" dirty="0">
                <a:solidFill>
                  <a:schemeClr val="bg1"/>
                </a:solidFill>
                <a:latin typeface="Arial MT"/>
                <a:cs typeface="Arial MT"/>
              </a:rPr>
              <a:t> </a:t>
            </a:r>
            <a:r>
              <a:rPr sz="4800" spc="-13" dirty="0">
                <a:solidFill>
                  <a:schemeClr val="bg1"/>
                </a:solidFill>
                <a:latin typeface="Arial MT"/>
                <a:cs typeface="Arial MT"/>
              </a:rPr>
              <a:t>dimensions</a:t>
            </a:r>
            <a:endParaRPr sz="4800" dirty="0">
              <a:solidFill>
                <a:schemeClr val="bg1"/>
              </a:solidFill>
              <a:latin typeface="Arial MT"/>
              <a:cs typeface="Arial MT"/>
            </a:endParaRPr>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79233" y="355139"/>
            <a:ext cx="8180125" cy="695062"/>
          </a:xfrm>
          <a:prstGeom prst="rect">
            <a:avLst/>
          </a:prstGeom>
        </p:spPr>
        <p:txBody>
          <a:bodyPr vert="horz" wrap="square" lIns="0" tIns="17780" rIns="0" bIns="0" rtlCol="0" anchor="ctr">
            <a:spAutoFit/>
          </a:bodyPr>
          <a:lstStyle/>
          <a:p>
            <a:pPr marL="414010">
              <a:lnSpc>
                <a:spcPct val="100000"/>
              </a:lnSpc>
              <a:spcBef>
                <a:spcPts val="140"/>
              </a:spcBef>
            </a:pPr>
            <a:r>
              <a:rPr dirty="0">
                <a:solidFill>
                  <a:schemeClr val="bg1"/>
                </a:solidFill>
                <a:latin typeface="+mn-lt"/>
              </a:rPr>
              <a:t>Slowly</a:t>
            </a:r>
            <a:r>
              <a:rPr spc="-133" dirty="0">
                <a:solidFill>
                  <a:schemeClr val="bg1"/>
                </a:solidFill>
                <a:latin typeface="+mn-lt"/>
              </a:rPr>
              <a:t> </a:t>
            </a:r>
            <a:r>
              <a:rPr dirty="0">
                <a:solidFill>
                  <a:schemeClr val="bg1"/>
                </a:solidFill>
                <a:latin typeface="+mn-lt"/>
              </a:rPr>
              <a:t>changing</a:t>
            </a:r>
            <a:r>
              <a:rPr spc="-107" dirty="0">
                <a:solidFill>
                  <a:schemeClr val="bg1"/>
                </a:solidFill>
                <a:latin typeface="+mn-lt"/>
              </a:rPr>
              <a:t> </a:t>
            </a:r>
            <a:r>
              <a:rPr spc="-13" dirty="0">
                <a:solidFill>
                  <a:schemeClr val="bg1"/>
                </a:solidFill>
                <a:latin typeface="+mn-lt"/>
              </a:rPr>
              <a:t>dimensions</a:t>
            </a:r>
          </a:p>
        </p:txBody>
      </p:sp>
      <p:sp>
        <p:nvSpPr>
          <p:cNvPr id="3" name="object 3"/>
          <p:cNvSpPr txBox="1"/>
          <p:nvPr/>
        </p:nvSpPr>
        <p:spPr>
          <a:xfrm>
            <a:off x="2950126" y="2142745"/>
            <a:ext cx="7038340" cy="2004822"/>
          </a:xfrm>
          <a:prstGeom prst="rect">
            <a:avLst/>
          </a:prstGeom>
        </p:spPr>
        <p:txBody>
          <a:bodyPr vert="horz" wrap="square" lIns="0" tIns="16933" rIns="0" bIns="0" rtlCol="0">
            <a:spAutoFit/>
          </a:bodyPr>
          <a:lstStyle/>
          <a:p>
            <a:pPr marL="16933">
              <a:spcBef>
                <a:spcPts val="133"/>
              </a:spcBef>
            </a:pPr>
            <a:r>
              <a:rPr sz="2400" b="1" dirty="0">
                <a:solidFill>
                  <a:srgbClr val="D9D9D9"/>
                </a:solidFill>
                <a:latin typeface="Calibri"/>
                <a:cs typeface="Calibri"/>
              </a:rPr>
              <a:t>Till</a:t>
            </a:r>
            <a:r>
              <a:rPr sz="2400" b="1" spc="-40" dirty="0">
                <a:solidFill>
                  <a:srgbClr val="D9D9D9"/>
                </a:solidFill>
                <a:latin typeface="Calibri"/>
                <a:cs typeface="Calibri"/>
              </a:rPr>
              <a:t> </a:t>
            </a:r>
            <a:r>
              <a:rPr sz="2400" b="1" dirty="0">
                <a:solidFill>
                  <a:srgbClr val="D9D9D9"/>
                </a:solidFill>
                <a:latin typeface="Calibri"/>
                <a:cs typeface="Calibri"/>
              </a:rPr>
              <a:t>now</a:t>
            </a:r>
            <a:r>
              <a:rPr sz="2400" b="1" spc="-47" dirty="0">
                <a:solidFill>
                  <a:srgbClr val="D9D9D9"/>
                </a:solidFill>
                <a:latin typeface="Calibri"/>
                <a:cs typeface="Calibri"/>
              </a:rPr>
              <a:t> </a:t>
            </a:r>
            <a:r>
              <a:rPr sz="2400" b="1" dirty="0">
                <a:solidFill>
                  <a:srgbClr val="D9D9D9"/>
                </a:solidFill>
                <a:latin typeface="Calibri"/>
                <a:cs typeface="Calibri"/>
              </a:rPr>
              <a:t>we</a:t>
            </a:r>
            <a:r>
              <a:rPr sz="2400" b="1" spc="-27" dirty="0">
                <a:solidFill>
                  <a:srgbClr val="D9D9D9"/>
                </a:solidFill>
                <a:latin typeface="Calibri"/>
                <a:cs typeface="Calibri"/>
              </a:rPr>
              <a:t> </a:t>
            </a:r>
            <a:r>
              <a:rPr sz="2400" b="1" dirty="0">
                <a:solidFill>
                  <a:srgbClr val="D9D9D9"/>
                </a:solidFill>
                <a:latin typeface="Calibri"/>
                <a:cs typeface="Calibri"/>
              </a:rPr>
              <a:t>have</a:t>
            </a:r>
            <a:r>
              <a:rPr sz="2400" b="1" spc="-53" dirty="0">
                <a:solidFill>
                  <a:srgbClr val="D9D9D9"/>
                </a:solidFill>
                <a:latin typeface="Calibri"/>
                <a:cs typeface="Calibri"/>
              </a:rPr>
              <a:t> </a:t>
            </a:r>
            <a:r>
              <a:rPr sz="2400" b="1" dirty="0">
                <a:solidFill>
                  <a:srgbClr val="D9D9D9"/>
                </a:solidFill>
                <a:latin typeface="Calibri"/>
                <a:cs typeface="Calibri"/>
              </a:rPr>
              <a:t>pretended</a:t>
            </a:r>
            <a:r>
              <a:rPr sz="2400" b="1" spc="-27" dirty="0">
                <a:solidFill>
                  <a:srgbClr val="D9D9D9"/>
                </a:solidFill>
                <a:latin typeface="Calibri"/>
                <a:cs typeface="Calibri"/>
              </a:rPr>
              <a:t> </a:t>
            </a:r>
            <a:r>
              <a:rPr sz="2400" b="1" dirty="0">
                <a:solidFill>
                  <a:srgbClr val="D9D9D9"/>
                </a:solidFill>
                <a:latin typeface="Calibri"/>
                <a:cs typeface="Calibri"/>
              </a:rPr>
              <a:t>dimensions</a:t>
            </a:r>
            <a:r>
              <a:rPr sz="2400" b="1" spc="-80" dirty="0">
                <a:solidFill>
                  <a:srgbClr val="D9D9D9"/>
                </a:solidFill>
                <a:latin typeface="Calibri"/>
                <a:cs typeface="Calibri"/>
              </a:rPr>
              <a:t> </a:t>
            </a:r>
            <a:r>
              <a:rPr sz="2400" b="1" dirty="0">
                <a:solidFill>
                  <a:srgbClr val="D9D9D9"/>
                </a:solidFill>
                <a:latin typeface="Calibri"/>
                <a:cs typeface="Calibri"/>
              </a:rPr>
              <a:t>never</a:t>
            </a:r>
            <a:r>
              <a:rPr sz="2400" b="1" spc="-60" dirty="0">
                <a:solidFill>
                  <a:srgbClr val="D9D9D9"/>
                </a:solidFill>
                <a:latin typeface="Calibri"/>
                <a:cs typeface="Calibri"/>
              </a:rPr>
              <a:t> </a:t>
            </a:r>
            <a:r>
              <a:rPr sz="2400" b="1" spc="-13" dirty="0">
                <a:solidFill>
                  <a:srgbClr val="D9D9D9"/>
                </a:solidFill>
                <a:latin typeface="Calibri"/>
                <a:cs typeface="Calibri"/>
              </a:rPr>
              <a:t>change…</a:t>
            </a:r>
            <a:endParaRPr sz="2400">
              <a:latin typeface="Calibri"/>
              <a:cs typeface="Calibri"/>
            </a:endParaRPr>
          </a:p>
          <a:p>
            <a:pPr>
              <a:spcBef>
                <a:spcPts val="507"/>
              </a:spcBef>
            </a:pPr>
            <a:endParaRPr sz="2400">
              <a:latin typeface="Calibri"/>
              <a:cs typeface="Calibri"/>
            </a:endParaRPr>
          </a:p>
          <a:p>
            <a:pPr marL="524920"/>
            <a:r>
              <a:rPr sz="2400" b="1" dirty="0">
                <a:solidFill>
                  <a:srgbClr val="D9D9D9"/>
                </a:solidFill>
                <a:latin typeface="Calibri"/>
                <a:cs typeface="Calibri"/>
              </a:rPr>
              <a:t>…</a:t>
            </a:r>
            <a:r>
              <a:rPr sz="2400" b="1" spc="-27" dirty="0">
                <a:solidFill>
                  <a:srgbClr val="D9D9D9"/>
                </a:solidFill>
                <a:latin typeface="Calibri"/>
                <a:cs typeface="Calibri"/>
              </a:rPr>
              <a:t> </a:t>
            </a:r>
            <a:r>
              <a:rPr sz="2400" b="1" dirty="0">
                <a:solidFill>
                  <a:srgbClr val="D9D9D9"/>
                </a:solidFill>
                <a:latin typeface="Calibri"/>
                <a:cs typeface="Calibri"/>
              </a:rPr>
              <a:t>indeed</a:t>
            </a:r>
            <a:r>
              <a:rPr sz="2400" b="1" spc="-60" dirty="0">
                <a:solidFill>
                  <a:srgbClr val="D9D9D9"/>
                </a:solidFill>
                <a:latin typeface="Calibri"/>
                <a:cs typeface="Calibri"/>
              </a:rPr>
              <a:t> </a:t>
            </a:r>
            <a:r>
              <a:rPr sz="2400" b="1" dirty="0">
                <a:solidFill>
                  <a:srgbClr val="D9D9D9"/>
                </a:solidFill>
                <a:latin typeface="Calibri"/>
                <a:cs typeface="Calibri"/>
              </a:rPr>
              <a:t>they</a:t>
            </a:r>
            <a:r>
              <a:rPr sz="2400" b="1" spc="-33" dirty="0">
                <a:solidFill>
                  <a:srgbClr val="D9D9D9"/>
                </a:solidFill>
                <a:latin typeface="Calibri"/>
                <a:cs typeface="Calibri"/>
              </a:rPr>
              <a:t> </a:t>
            </a:r>
            <a:r>
              <a:rPr sz="2400" b="1" dirty="0">
                <a:solidFill>
                  <a:srgbClr val="D9D9D9"/>
                </a:solidFill>
                <a:latin typeface="Calibri"/>
                <a:cs typeface="Calibri"/>
              </a:rPr>
              <a:t>are</a:t>
            </a:r>
            <a:r>
              <a:rPr sz="2400" b="1" spc="-33" dirty="0">
                <a:solidFill>
                  <a:srgbClr val="D9D9D9"/>
                </a:solidFill>
                <a:latin typeface="Calibri"/>
                <a:cs typeface="Calibri"/>
              </a:rPr>
              <a:t> </a:t>
            </a:r>
            <a:r>
              <a:rPr sz="2400" b="1" dirty="0">
                <a:solidFill>
                  <a:srgbClr val="D9D9D9"/>
                </a:solidFill>
                <a:latin typeface="Calibri"/>
                <a:cs typeface="Calibri"/>
              </a:rPr>
              <a:t>rather</a:t>
            </a:r>
            <a:r>
              <a:rPr sz="2400" b="1" spc="-40" dirty="0">
                <a:solidFill>
                  <a:srgbClr val="D9D9D9"/>
                </a:solidFill>
                <a:latin typeface="Calibri"/>
                <a:cs typeface="Calibri"/>
              </a:rPr>
              <a:t> </a:t>
            </a:r>
            <a:r>
              <a:rPr sz="2400" b="1" dirty="0">
                <a:solidFill>
                  <a:srgbClr val="D9D9D9"/>
                </a:solidFill>
                <a:latin typeface="Calibri"/>
                <a:cs typeface="Calibri"/>
              </a:rPr>
              <a:t>static</a:t>
            </a:r>
            <a:r>
              <a:rPr sz="2400" b="1" spc="-27" dirty="0">
                <a:solidFill>
                  <a:srgbClr val="D9D9D9"/>
                </a:solidFill>
                <a:latin typeface="Calibri"/>
                <a:cs typeface="Calibri"/>
              </a:rPr>
              <a:t> </a:t>
            </a:r>
            <a:r>
              <a:rPr sz="2400" b="1" dirty="0">
                <a:solidFill>
                  <a:srgbClr val="D9D9D9"/>
                </a:solidFill>
                <a:latin typeface="Calibri"/>
                <a:cs typeface="Calibri"/>
              </a:rPr>
              <a:t>usually</a:t>
            </a:r>
            <a:r>
              <a:rPr sz="2400" b="1" spc="-53" dirty="0">
                <a:solidFill>
                  <a:srgbClr val="D9D9D9"/>
                </a:solidFill>
                <a:latin typeface="Calibri"/>
                <a:cs typeface="Calibri"/>
              </a:rPr>
              <a:t> </a:t>
            </a:r>
            <a:r>
              <a:rPr sz="2400" b="1" spc="-67" dirty="0">
                <a:solidFill>
                  <a:srgbClr val="D9D9D9"/>
                </a:solidFill>
                <a:latin typeface="Calibri"/>
                <a:cs typeface="Calibri"/>
              </a:rPr>
              <a:t>…</a:t>
            </a:r>
            <a:endParaRPr sz="2400">
              <a:latin typeface="Calibri"/>
              <a:cs typeface="Calibri"/>
            </a:endParaRPr>
          </a:p>
          <a:p>
            <a:pPr>
              <a:spcBef>
                <a:spcPts val="627"/>
              </a:spcBef>
            </a:pPr>
            <a:endParaRPr sz="2400">
              <a:latin typeface="Calibri"/>
              <a:cs typeface="Calibri"/>
            </a:endParaRPr>
          </a:p>
          <a:p>
            <a:pPr marL="27939"/>
            <a:r>
              <a:rPr sz="2400" b="1" dirty="0">
                <a:solidFill>
                  <a:srgbClr val="D9D9D9"/>
                </a:solidFill>
                <a:latin typeface="Calibri"/>
                <a:cs typeface="Calibri"/>
              </a:rPr>
              <a:t>…</a:t>
            </a:r>
            <a:r>
              <a:rPr sz="2400" b="1" spc="-20" dirty="0">
                <a:solidFill>
                  <a:srgbClr val="D9D9D9"/>
                </a:solidFill>
                <a:latin typeface="Calibri"/>
                <a:cs typeface="Calibri"/>
              </a:rPr>
              <a:t> </a:t>
            </a:r>
            <a:r>
              <a:rPr sz="2400" b="1" dirty="0">
                <a:solidFill>
                  <a:srgbClr val="D9D9D9"/>
                </a:solidFill>
                <a:latin typeface="Calibri"/>
                <a:cs typeface="Calibri"/>
              </a:rPr>
              <a:t>but</a:t>
            </a:r>
            <a:r>
              <a:rPr sz="2400" b="1" spc="-40" dirty="0">
                <a:solidFill>
                  <a:srgbClr val="D9D9D9"/>
                </a:solidFill>
                <a:latin typeface="Calibri"/>
                <a:cs typeface="Calibri"/>
              </a:rPr>
              <a:t> </a:t>
            </a:r>
            <a:r>
              <a:rPr sz="2400" b="1" dirty="0">
                <a:solidFill>
                  <a:srgbClr val="D9D9D9"/>
                </a:solidFill>
                <a:latin typeface="Calibri"/>
                <a:cs typeface="Calibri"/>
              </a:rPr>
              <a:t>surprise…</a:t>
            </a:r>
            <a:r>
              <a:rPr sz="2400" b="1" spc="272" dirty="0">
                <a:solidFill>
                  <a:srgbClr val="D9D9D9"/>
                </a:solidFill>
                <a:latin typeface="Calibri"/>
                <a:cs typeface="Calibri"/>
              </a:rPr>
              <a:t> </a:t>
            </a:r>
            <a:r>
              <a:rPr sz="2400" b="1" dirty="0">
                <a:solidFill>
                  <a:srgbClr val="D9D9D9"/>
                </a:solidFill>
                <a:latin typeface="Calibri"/>
                <a:cs typeface="Calibri"/>
              </a:rPr>
              <a:t>they</a:t>
            </a:r>
            <a:r>
              <a:rPr sz="2400" b="1" spc="-40" dirty="0">
                <a:solidFill>
                  <a:srgbClr val="D9D9D9"/>
                </a:solidFill>
                <a:latin typeface="Calibri"/>
                <a:cs typeface="Calibri"/>
              </a:rPr>
              <a:t> </a:t>
            </a:r>
            <a:r>
              <a:rPr sz="2400" b="1" dirty="0">
                <a:solidFill>
                  <a:srgbClr val="D9D9D9"/>
                </a:solidFill>
                <a:latin typeface="Calibri"/>
                <a:cs typeface="Calibri"/>
              </a:rPr>
              <a:t>do</a:t>
            </a:r>
            <a:r>
              <a:rPr sz="2400" b="1" spc="-20" dirty="0">
                <a:solidFill>
                  <a:srgbClr val="D9D9D9"/>
                </a:solidFill>
                <a:latin typeface="Calibri"/>
                <a:cs typeface="Calibri"/>
              </a:rPr>
              <a:t> </a:t>
            </a:r>
            <a:r>
              <a:rPr sz="2400" b="1" dirty="0">
                <a:solidFill>
                  <a:srgbClr val="D9D9D9"/>
                </a:solidFill>
                <a:latin typeface="Calibri"/>
                <a:cs typeface="Calibri"/>
              </a:rPr>
              <a:t>change</a:t>
            </a:r>
            <a:r>
              <a:rPr sz="2400" b="1" spc="-47" dirty="0">
                <a:solidFill>
                  <a:srgbClr val="D9D9D9"/>
                </a:solidFill>
                <a:latin typeface="Calibri"/>
                <a:cs typeface="Calibri"/>
              </a:rPr>
              <a:t> </a:t>
            </a:r>
            <a:r>
              <a:rPr sz="2400" b="1" dirty="0">
                <a:solidFill>
                  <a:srgbClr val="D9D9D9"/>
                </a:solidFill>
                <a:latin typeface="Calibri"/>
                <a:cs typeface="Calibri"/>
              </a:rPr>
              <a:t>in</a:t>
            </a:r>
            <a:r>
              <a:rPr sz="2400" b="1" spc="-20" dirty="0">
                <a:solidFill>
                  <a:srgbClr val="D9D9D9"/>
                </a:solidFill>
                <a:latin typeface="Calibri"/>
                <a:cs typeface="Calibri"/>
              </a:rPr>
              <a:t> </a:t>
            </a:r>
            <a:r>
              <a:rPr sz="2400" b="1" dirty="0">
                <a:solidFill>
                  <a:srgbClr val="D9D9D9"/>
                </a:solidFill>
                <a:latin typeface="Calibri"/>
                <a:cs typeface="Calibri"/>
              </a:rPr>
              <a:t>the</a:t>
            </a:r>
            <a:r>
              <a:rPr sz="2400" b="1" spc="-13" dirty="0">
                <a:solidFill>
                  <a:srgbClr val="D9D9D9"/>
                </a:solidFill>
                <a:latin typeface="Calibri"/>
                <a:cs typeface="Calibri"/>
              </a:rPr>
              <a:t> </a:t>
            </a:r>
            <a:r>
              <a:rPr sz="2400" b="1" dirty="0">
                <a:solidFill>
                  <a:srgbClr val="D9D9D9"/>
                </a:solidFill>
                <a:latin typeface="Calibri"/>
                <a:cs typeface="Calibri"/>
              </a:rPr>
              <a:t>real</a:t>
            </a:r>
            <a:r>
              <a:rPr sz="2400" b="1" spc="-20" dirty="0">
                <a:solidFill>
                  <a:srgbClr val="D9D9D9"/>
                </a:solidFill>
                <a:latin typeface="Calibri"/>
                <a:cs typeface="Calibri"/>
              </a:rPr>
              <a:t> </a:t>
            </a:r>
            <a:r>
              <a:rPr sz="2400" b="1" spc="-13" dirty="0">
                <a:solidFill>
                  <a:srgbClr val="D9D9D9"/>
                </a:solidFill>
                <a:latin typeface="Calibri"/>
                <a:cs typeface="Calibri"/>
              </a:rPr>
              <a:t>world…</a:t>
            </a:r>
            <a:endParaRPr sz="2400">
              <a:latin typeface="Calibri"/>
              <a:cs typeface="Calibri"/>
            </a:endParaRPr>
          </a:p>
        </p:txBody>
      </p:sp>
      <p:grpSp>
        <p:nvGrpSpPr>
          <p:cNvPr id="4" name="object 4"/>
          <p:cNvGrpSpPr/>
          <p:nvPr/>
        </p:nvGrpSpPr>
        <p:grpSpPr>
          <a:xfrm>
            <a:off x="2082801" y="4695952"/>
            <a:ext cx="8343900" cy="943187"/>
            <a:chOff x="1562100" y="3521964"/>
            <a:chExt cx="6257925" cy="707390"/>
          </a:xfrm>
        </p:grpSpPr>
        <p:pic>
          <p:nvPicPr>
            <p:cNvPr id="5" name="object 5"/>
            <p:cNvPicPr/>
            <p:nvPr/>
          </p:nvPicPr>
          <p:blipFill>
            <a:blip r:embed="rId2" cstate="print"/>
            <a:stretch>
              <a:fillRect/>
            </a:stretch>
          </p:blipFill>
          <p:spPr>
            <a:xfrm>
              <a:off x="1604771" y="3521964"/>
              <a:ext cx="6214872" cy="621830"/>
            </a:xfrm>
            <a:prstGeom prst="rect">
              <a:avLst/>
            </a:prstGeom>
          </p:spPr>
        </p:pic>
        <p:pic>
          <p:nvPicPr>
            <p:cNvPr id="6" name="object 6"/>
            <p:cNvPicPr/>
            <p:nvPr/>
          </p:nvPicPr>
          <p:blipFill>
            <a:blip r:embed="rId3" cstate="print"/>
            <a:stretch>
              <a:fillRect/>
            </a:stretch>
          </p:blipFill>
          <p:spPr>
            <a:xfrm>
              <a:off x="1562100" y="3614928"/>
              <a:ext cx="6067044" cy="614197"/>
            </a:xfrm>
            <a:prstGeom prst="rect">
              <a:avLst/>
            </a:prstGeom>
          </p:spPr>
        </p:pic>
      </p:grpSp>
      <p:sp>
        <p:nvSpPr>
          <p:cNvPr id="7" name="object 7"/>
          <p:cNvSpPr txBox="1"/>
          <p:nvPr/>
        </p:nvSpPr>
        <p:spPr>
          <a:xfrm>
            <a:off x="2221992" y="4751831"/>
            <a:ext cx="8128000" cy="590825"/>
          </a:xfrm>
          <a:prstGeom prst="rect">
            <a:avLst/>
          </a:prstGeom>
          <a:solidFill>
            <a:srgbClr val="383838"/>
          </a:solidFill>
          <a:ln w="38100">
            <a:solidFill>
              <a:srgbClr val="FFFFFF"/>
            </a:solidFill>
          </a:ln>
        </p:spPr>
        <p:txBody>
          <a:bodyPr vert="horz" wrap="square" lIns="0" tIns="178647" rIns="0" bIns="0" rtlCol="0">
            <a:spAutoFit/>
          </a:bodyPr>
          <a:lstStyle/>
          <a:p>
            <a:pPr marL="120224">
              <a:spcBef>
                <a:spcPts val="1407"/>
              </a:spcBef>
            </a:pPr>
            <a:r>
              <a:rPr sz="2667" b="1" dirty="0">
                <a:solidFill>
                  <a:srgbClr val="D9D9D9"/>
                </a:solidFill>
                <a:latin typeface="Calibri"/>
                <a:cs typeface="Calibri"/>
              </a:rPr>
              <a:t>Develop</a:t>
            </a:r>
            <a:r>
              <a:rPr sz="2667" b="1" spc="-40" dirty="0">
                <a:solidFill>
                  <a:srgbClr val="D9D9D9"/>
                </a:solidFill>
                <a:latin typeface="Calibri"/>
                <a:cs typeface="Calibri"/>
              </a:rPr>
              <a:t> </a:t>
            </a:r>
            <a:r>
              <a:rPr sz="2667" b="1" dirty="0">
                <a:solidFill>
                  <a:srgbClr val="D9D9D9"/>
                </a:solidFill>
                <a:latin typeface="Calibri"/>
                <a:cs typeface="Calibri"/>
              </a:rPr>
              <a:t>a</a:t>
            </a:r>
            <a:r>
              <a:rPr sz="2667" b="1" spc="-27" dirty="0">
                <a:solidFill>
                  <a:srgbClr val="D9D9D9"/>
                </a:solidFill>
                <a:latin typeface="Calibri"/>
                <a:cs typeface="Calibri"/>
              </a:rPr>
              <a:t> </a:t>
            </a:r>
            <a:r>
              <a:rPr sz="2667" b="1" dirty="0">
                <a:solidFill>
                  <a:srgbClr val="D9D9D9"/>
                </a:solidFill>
                <a:latin typeface="Calibri"/>
                <a:cs typeface="Calibri"/>
              </a:rPr>
              <a:t>strategy</a:t>
            </a:r>
            <a:r>
              <a:rPr sz="2667" b="1" spc="-53" dirty="0">
                <a:solidFill>
                  <a:srgbClr val="D9D9D9"/>
                </a:solidFill>
                <a:latin typeface="Calibri"/>
                <a:cs typeface="Calibri"/>
              </a:rPr>
              <a:t> </a:t>
            </a:r>
            <a:r>
              <a:rPr sz="2667" b="1" dirty="0">
                <a:solidFill>
                  <a:srgbClr val="D9D9D9"/>
                </a:solidFill>
                <a:latin typeface="Calibri"/>
                <a:cs typeface="Calibri"/>
              </a:rPr>
              <a:t>to</a:t>
            </a:r>
            <a:r>
              <a:rPr sz="2667" b="1" spc="-33" dirty="0">
                <a:solidFill>
                  <a:srgbClr val="D9D9D9"/>
                </a:solidFill>
                <a:latin typeface="Calibri"/>
                <a:cs typeface="Calibri"/>
              </a:rPr>
              <a:t> </a:t>
            </a:r>
            <a:r>
              <a:rPr sz="2667" b="1" dirty="0">
                <a:solidFill>
                  <a:srgbClr val="D9D9D9"/>
                </a:solidFill>
                <a:latin typeface="Calibri"/>
                <a:cs typeface="Calibri"/>
              </a:rPr>
              <a:t>handle</a:t>
            </a:r>
            <a:r>
              <a:rPr sz="2667" b="1" spc="-53" dirty="0">
                <a:solidFill>
                  <a:srgbClr val="D9D9D9"/>
                </a:solidFill>
                <a:latin typeface="Calibri"/>
                <a:cs typeface="Calibri"/>
              </a:rPr>
              <a:t> </a:t>
            </a:r>
            <a:r>
              <a:rPr sz="2667" b="1" dirty="0">
                <a:solidFill>
                  <a:srgbClr val="D9D9D9"/>
                </a:solidFill>
                <a:latin typeface="Calibri"/>
                <a:cs typeface="Calibri"/>
              </a:rPr>
              <a:t>changes</a:t>
            </a:r>
            <a:r>
              <a:rPr sz="2667" b="1" spc="-47" dirty="0">
                <a:solidFill>
                  <a:srgbClr val="D9D9D9"/>
                </a:solidFill>
                <a:latin typeface="Calibri"/>
                <a:cs typeface="Calibri"/>
              </a:rPr>
              <a:t> </a:t>
            </a:r>
            <a:r>
              <a:rPr sz="2667" b="1" dirty="0">
                <a:solidFill>
                  <a:srgbClr val="D9D9D9"/>
                </a:solidFill>
                <a:latin typeface="Calibri"/>
                <a:cs typeface="Calibri"/>
              </a:rPr>
              <a:t>in</a:t>
            </a:r>
            <a:r>
              <a:rPr sz="2667" b="1" spc="-33" dirty="0">
                <a:solidFill>
                  <a:srgbClr val="D9D9D9"/>
                </a:solidFill>
                <a:latin typeface="Calibri"/>
                <a:cs typeface="Calibri"/>
              </a:rPr>
              <a:t> </a:t>
            </a:r>
            <a:r>
              <a:rPr sz="2667" b="1" spc="-13" dirty="0">
                <a:solidFill>
                  <a:srgbClr val="D9D9D9"/>
                </a:solidFill>
                <a:latin typeface="Calibri"/>
                <a:cs typeface="Calibri"/>
              </a:rPr>
              <a:t>dimensions...</a:t>
            </a:r>
            <a:endParaRPr sz="2667" dirty="0">
              <a:latin typeface="Calibri"/>
              <a:cs typeface="Calibri"/>
            </a:endParaRPr>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42160" y="465253"/>
            <a:ext cx="7656576" cy="695062"/>
          </a:xfrm>
          <a:prstGeom prst="rect">
            <a:avLst/>
          </a:prstGeom>
        </p:spPr>
        <p:txBody>
          <a:bodyPr vert="horz" wrap="square" lIns="0" tIns="17780" rIns="0" bIns="0" rtlCol="0" anchor="ctr">
            <a:spAutoFit/>
          </a:bodyPr>
          <a:lstStyle/>
          <a:p>
            <a:pPr marL="414010">
              <a:lnSpc>
                <a:spcPct val="100000"/>
              </a:lnSpc>
              <a:spcBef>
                <a:spcPts val="140"/>
              </a:spcBef>
            </a:pPr>
            <a:r>
              <a:rPr dirty="0">
                <a:solidFill>
                  <a:schemeClr val="bg1"/>
                </a:solidFill>
                <a:latin typeface="+mn-lt"/>
              </a:rPr>
              <a:t>Slowly</a:t>
            </a:r>
            <a:r>
              <a:rPr spc="-133" dirty="0">
                <a:solidFill>
                  <a:schemeClr val="bg1"/>
                </a:solidFill>
                <a:latin typeface="+mn-lt"/>
              </a:rPr>
              <a:t> </a:t>
            </a:r>
            <a:r>
              <a:rPr dirty="0">
                <a:solidFill>
                  <a:schemeClr val="bg1"/>
                </a:solidFill>
                <a:latin typeface="+mn-lt"/>
              </a:rPr>
              <a:t>changing</a:t>
            </a:r>
            <a:r>
              <a:rPr spc="-107" dirty="0">
                <a:solidFill>
                  <a:schemeClr val="bg1"/>
                </a:solidFill>
                <a:latin typeface="+mn-lt"/>
              </a:rPr>
              <a:t> </a:t>
            </a:r>
            <a:r>
              <a:rPr spc="-13" dirty="0">
                <a:solidFill>
                  <a:schemeClr val="bg1"/>
                </a:solidFill>
                <a:latin typeface="+mn-lt"/>
              </a:rPr>
              <a:t>dimensions</a:t>
            </a:r>
          </a:p>
        </p:txBody>
      </p:sp>
      <p:sp>
        <p:nvSpPr>
          <p:cNvPr id="3" name="object 3"/>
          <p:cNvSpPr txBox="1"/>
          <p:nvPr/>
        </p:nvSpPr>
        <p:spPr>
          <a:xfrm>
            <a:off x="2645325" y="2159001"/>
            <a:ext cx="5830147" cy="1791943"/>
          </a:xfrm>
          <a:prstGeom prst="rect">
            <a:avLst/>
          </a:prstGeom>
        </p:spPr>
        <p:txBody>
          <a:bodyPr vert="horz" wrap="square" lIns="0" tIns="16933" rIns="0" bIns="0" rtlCol="0">
            <a:spAutoFit/>
          </a:bodyPr>
          <a:lstStyle/>
          <a:p>
            <a:pPr marL="473275" indent="-456342">
              <a:spcBef>
                <a:spcPts val="133"/>
              </a:spcBef>
              <a:buClr>
                <a:srgbClr val="99D3FF"/>
              </a:buClr>
              <a:buAutoNum type="arabicPeriod"/>
              <a:tabLst>
                <a:tab pos="473275" algn="l"/>
              </a:tabLst>
            </a:pPr>
            <a:r>
              <a:rPr sz="2400" b="1" i="1" dirty="0">
                <a:solidFill>
                  <a:srgbClr val="D9D9D9"/>
                </a:solidFill>
                <a:latin typeface="Calibri"/>
                <a:cs typeface="Calibri"/>
              </a:rPr>
              <a:t>Be</a:t>
            </a:r>
            <a:r>
              <a:rPr sz="2400" b="1" i="1" spc="-27" dirty="0">
                <a:solidFill>
                  <a:srgbClr val="D9D9D9"/>
                </a:solidFill>
                <a:latin typeface="Calibri"/>
                <a:cs typeface="Calibri"/>
              </a:rPr>
              <a:t> </a:t>
            </a:r>
            <a:r>
              <a:rPr sz="2400" b="1" i="1" dirty="0">
                <a:solidFill>
                  <a:srgbClr val="D9D9D9"/>
                </a:solidFill>
                <a:latin typeface="Calibri"/>
                <a:cs typeface="Calibri"/>
              </a:rPr>
              <a:t>proactive:</a:t>
            </a:r>
            <a:r>
              <a:rPr sz="2400" b="1" i="1" spc="-33" dirty="0">
                <a:solidFill>
                  <a:srgbClr val="D9D9D9"/>
                </a:solidFill>
                <a:latin typeface="Calibri"/>
                <a:cs typeface="Calibri"/>
              </a:rPr>
              <a:t> </a:t>
            </a:r>
            <a:r>
              <a:rPr sz="2400" b="1" i="1" dirty="0">
                <a:solidFill>
                  <a:srgbClr val="D9D9D9"/>
                </a:solidFill>
                <a:latin typeface="Calibri"/>
                <a:cs typeface="Calibri"/>
              </a:rPr>
              <a:t>Ask</a:t>
            </a:r>
            <a:r>
              <a:rPr sz="2400" b="1" i="1" spc="-47" dirty="0">
                <a:solidFill>
                  <a:srgbClr val="D9D9D9"/>
                </a:solidFill>
                <a:latin typeface="Calibri"/>
                <a:cs typeface="Calibri"/>
              </a:rPr>
              <a:t> </a:t>
            </a:r>
            <a:r>
              <a:rPr sz="2400" b="1" i="1" dirty="0">
                <a:solidFill>
                  <a:srgbClr val="D9D9D9"/>
                </a:solidFill>
                <a:latin typeface="Calibri"/>
                <a:cs typeface="Calibri"/>
              </a:rPr>
              <a:t>about</a:t>
            </a:r>
            <a:r>
              <a:rPr sz="2400" b="1" i="1" spc="-20" dirty="0">
                <a:solidFill>
                  <a:srgbClr val="D9D9D9"/>
                </a:solidFill>
                <a:latin typeface="Calibri"/>
                <a:cs typeface="Calibri"/>
              </a:rPr>
              <a:t> </a:t>
            </a:r>
            <a:r>
              <a:rPr sz="2400" b="1" i="1" dirty="0">
                <a:solidFill>
                  <a:srgbClr val="D9D9D9"/>
                </a:solidFill>
                <a:latin typeface="Calibri"/>
                <a:cs typeface="Calibri"/>
              </a:rPr>
              <a:t>potential</a:t>
            </a:r>
            <a:r>
              <a:rPr sz="2400" b="1" i="1" spc="-33" dirty="0">
                <a:solidFill>
                  <a:srgbClr val="D9D9D9"/>
                </a:solidFill>
                <a:latin typeface="Calibri"/>
                <a:cs typeface="Calibri"/>
              </a:rPr>
              <a:t> </a:t>
            </a:r>
            <a:r>
              <a:rPr sz="2400" b="1" i="1" spc="-13" dirty="0">
                <a:solidFill>
                  <a:srgbClr val="D9D9D9"/>
                </a:solidFill>
                <a:latin typeface="Calibri"/>
                <a:cs typeface="Calibri"/>
              </a:rPr>
              <a:t>changes</a:t>
            </a:r>
            <a:endParaRPr sz="2400">
              <a:latin typeface="Calibri"/>
              <a:cs typeface="Calibri"/>
            </a:endParaRPr>
          </a:p>
          <a:p>
            <a:pPr marL="473275" indent="-456342">
              <a:spcBef>
                <a:spcPts val="2613"/>
              </a:spcBef>
              <a:buClr>
                <a:srgbClr val="99D3FF"/>
              </a:buClr>
              <a:buAutoNum type="arabicPeriod"/>
              <a:tabLst>
                <a:tab pos="473275" algn="l"/>
              </a:tabLst>
            </a:pPr>
            <a:r>
              <a:rPr sz="2400" b="1" i="1" dirty="0">
                <a:solidFill>
                  <a:srgbClr val="D9D9D9"/>
                </a:solidFill>
                <a:latin typeface="Calibri"/>
                <a:cs typeface="Calibri"/>
              </a:rPr>
              <a:t>Business</a:t>
            </a:r>
            <a:r>
              <a:rPr sz="2400" b="1" i="1" spc="-53" dirty="0">
                <a:solidFill>
                  <a:srgbClr val="D9D9D9"/>
                </a:solidFill>
                <a:latin typeface="Calibri"/>
                <a:cs typeface="Calibri"/>
              </a:rPr>
              <a:t> </a:t>
            </a:r>
            <a:r>
              <a:rPr sz="2400" b="1" i="1" dirty="0">
                <a:solidFill>
                  <a:srgbClr val="D9D9D9"/>
                </a:solidFill>
                <a:latin typeface="Calibri"/>
                <a:cs typeface="Calibri"/>
              </a:rPr>
              <a:t>users</a:t>
            </a:r>
            <a:r>
              <a:rPr sz="2400" b="1" i="1" spc="-60" dirty="0">
                <a:solidFill>
                  <a:srgbClr val="D9D9D9"/>
                </a:solidFill>
                <a:latin typeface="Calibri"/>
                <a:cs typeface="Calibri"/>
              </a:rPr>
              <a:t> </a:t>
            </a:r>
            <a:r>
              <a:rPr sz="2400" b="1" i="1" dirty="0">
                <a:solidFill>
                  <a:srgbClr val="D9D9D9"/>
                </a:solidFill>
                <a:latin typeface="Calibri"/>
                <a:cs typeface="Calibri"/>
              </a:rPr>
              <a:t>+</a:t>
            </a:r>
            <a:r>
              <a:rPr sz="2400" b="1" i="1" spc="-80" dirty="0">
                <a:solidFill>
                  <a:srgbClr val="D9D9D9"/>
                </a:solidFill>
                <a:latin typeface="Calibri"/>
                <a:cs typeface="Calibri"/>
              </a:rPr>
              <a:t> </a:t>
            </a:r>
            <a:r>
              <a:rPr sz="2400" b="1" i="1" spc="-33" dirty="0">
                <a:solidFill>
                  <a:srgbClr val="D9D9D9"/>
                </a:solidFill>
                <a:latin typeface="Calibri"/>
                <a:cs typeface="Calibri"/>
              </a:rPr>
              <a:t>IT</a:t>
            </a:r>
            <a:endParaRPr sz="2400">
              <a:latin typeface="Calibri"/>
              <a:cs typeface="Calibri"/>
            </a:endParaRPr>
          </a:p>
          <a:p>
            <a:pPr marL="482588" indent="-457189">
              <a:spcBef>
                <a:spcPts val="2607"/>
              </a:spcBef>
              <a:buClr>
                <a:srgbClr val="99D3FF"/>
              </a:buClr>
              <a:buAutoNum type="arabicPeriod"/>
              <a:tabLst>
                <a:tab pos="482588" algn="l"/>
              </a:tabLst>
            </a:pPr>
            <a:r>
              <a:rPr sz="2400" b="1" i="1" dirty="0">
                <a:solidFill>
                  <a:srgbClr val="D9D9D9"/>
                </a:solidFill>
                <a:latin typeface="Calibri"/>
                <a:cs typeface="Calibri"/>
              </a:rPr>
              <a:t>Strategy</a:t>
            </a:r>
            <a:r>
              <a:rPr sz="2400" b="1" i="1" spc="-47" dirty="0">
                <a:solidFill>
                  <a:srgbClr val="D9D9D9"/>
                </a:solidFill>
                <a:latin typeface="Calibri"/>
                <a:cs typeface="Calibri"/>
              </a:rPr>
              <a:t> </a:t>
            </a:r>
            <a:r>
              <a:rPr sz="2400" b="1" i="1" dirty="0">
                <a:solidFill>
                  <a:srgbClr val="D9D9D9"/>
                </a:solidFill>
                <a:latin typeface="Calibri"/>
                <a:cs typeface="Calibri"/>
              </a:rPr>
              <a:t>for</a:t>
            </a:r>
            <a:r>
              <a:rPr sz="2400" b="1" i="1" spc="-47" dirty="0">
                <a:solidFill>
                  <a:srgbClr val="D9D9D9"/>
                </a:solidFill>
                <a:latin typeface="Calibri"/>
                <a:cs typeface="Calibri"/>
              </a:rPr>
              <a:t> </a:t>
            </a:r>
            <a:r>
              <a:rPr sz="2400" b="1" i="1" dirty="0">
                <a:solidFill>
                  <a:srgbClr val="D9D9D9"/>
                </a:solidFill>
                <a:latin typeface="Calibri"/>
                <a:cs typeface="Calibri"/>
              </a:rPr>
              <a:t>each</a:t>
            </a:r>
            <a:r>
              <a:rPr sz="2400" b="1" i="1" spc="-67" dirty="0">
                <a:solidFill>
                  <a:srgbClr val="D9D9D9"/>
                </a:solidFill>
                <a:latin typeface="Calibri"/>
                <a:cs typeface="Calibri"/>
              </a:rPr>
              <a:t> </a:t>
            </a:r>
            <a:r>
              <a:rPr sz="2400" b="1" i="1" dirty="0">
                <a:solidFill>
                  <a:srgbClr val="D9D9D9"/>
                </a:solidFill>
                <a:latin typeface="Calibri"/>
                <a:cs typeface="Calibri"/>
              </a:rPr>
              <a:t>changing</a:t>
            </a:r>
            <a:r>
              <a:rPr sz="2400" b="1" i="1" spc="-60" dirty="0">
                <a:solidFill>
                  <a:srgbClr val="D9D9D9"/>
                </a:solidFill>
                <a:latin typeface="Calibri"/>
                <a:cs typeface="Calibri"/>
              </a:rPr>
              <a:t> </a:t>
            </a:r>
            <a:r>
              <a:rPr sz="2400" b="1" i="1" spc="-13" dirty="0">
                <a:solidFill>
                  <a:srgbClr val="D9D9D9"/>
                </a:solidFill>
                <a:latin typeface="Calibri"/>
                <a:cs typeface="Calibri"/>
              </a:rPr>
              <a:t>attribute</a:t>
            </a:r>
            <a:endParaRPr sz="2400">
              <a:latin typeface="Calibri"/>
              <a:cs typeface="Calibri"/>
            </a:endParaRPr>
          </a:p>
        </p:txBody>
      </p:sp>
      <p:grpSp>
        <p:nvGrpSpPr>
          <p:cNvPr id="4" name="object 4"/>
          <p:cNvGrpSpPr/>
          <p:nvPr/>
        </p:nvGrpSpPr>
        <p:grpSpPr>
          <a:xfrm>
            <a:off x="2198624" y="4492752"/>
            <a:ext cx="7563273" cy="1552787"/>
            <a:chOff x="1648967" y="3369564"/>
            <a:chExt cx="5672455" cy="1164590"/>
          </a:xfrm>
        </p:grpSpPr>
        <p:pic>
          <p:nvPicPr>
            <p:cNvPr id="5" name="object 5"/>
            <p:cNvPicPr/>
            <p:nvPr/>
          </p:nvPicPr>
          <p:blipFill>
            <a:blip r:embed="rId2" cstate="print"/>
            <a:stretch>
              <a:fillRect/>
            </a:stretch>
          </p:blipFill>
          <p:spPr>
            <a:xfrm>
              <a:off x="1691639" y="3369564"/>
              <a:ext cx="5582412" cy="1083564"/>
            </a:xfrm>
            <a:prstGeom prst="rect">
              <a:avLst/>
            </a:prstGeom>
          </p:spPr>
        </p:pic>
        <p:pic>
          <p:nvPicPr>
            <p:cNvPr id="6" name="object 6"/>
            <p:cNvPicPr/>
            <p:nvPr/>
          </p:nvPicPr>
          <p:blipFill>
            <a:blip r:embed="rId3" cstate="print"/>
            <a:stretch>
              <a:fillRect/>
            </a:stretch>
          </p:blipFill>
          <p:spPr>
            <a:xfrm>
              <a:off x="1648967" y="3462528"/>
              <a:ext cx="5672328" cy="1071384"/>
            </a:xfrm>
            <a:prstGeom prst="rect">
              <a:avLst/>
            </a:prstGeom>
          </p:spPr>
        </p:pic>
      </p:grpSp>
      <p:sp>
        <p:nvSpPr>
          <p:cNvPr id="7" name="object 7"/>
          <p:cNvSpPr txBox="1"/>
          <p:nvPr/>
        </p:nvSpPr>
        <p:spPr>
          <a:xfrm>
            <a:off x="2337815" y="4548631"/>
            <a:ext cx="7284720" cy="1206442"/>
          </a:xfrm>
          <a:prstGeom prst="rect">
            <a:avLst/>
          </a:prstGeom>
          <a:solidFill>
            <a:srgbClr val="383838"/>
          </a:solidFill>
          <a:ln w="38100">
            <a:solidFill>
              <a:srgbClr val="FFFFFF"/>
            </a:solidFill>
          </a:ln>
        </p:spPr>
        <p:txBody>
          <a:bodyPr vert="horz" wrap="square" lIns="0" tIns="178647" rIns="0" bIns="0" rtlCol="0">
            <a:spAutoFit/>
          </a:bodyPr>
          <a:lstStyle/>
          <a:p>
            <a:pPr marL="121070">
              <a:spcBef>
                <a:spcPts val="1407"/>
              </a:spcBef>
            </a:pPr>
            <a:r>
              <a:rPr sz="2667" b="1" dirty="0">
                <a:solidFill>
                  <a:srgbClr val="D9D9D9"/>
                </a:solidFill>
                <a:latin typeface="Calibri"/>
                <a:cs typeface="Calibri"/>
              </a:rPr>
              <a:t>Kimball</a:t>
            </a:r>
            <a:r>
              <a:rPr sz="2667" b="1" spc="-53" dirty="0">
                <a:solidFill>
                  <a:srgbClr val="D9D9D9"/>
                </a:solidFill>
                <a:latin typeface="Calibri"/>
                <a:cs typeface="Calibri"/>
              </a:rPr>
              <a:t> </a:t>
            </a:r>
            <a:r>
              <a:rPr sz="2667" b="1" dirty="0">
                <a:solidFill>
                  <a:srgbClr val="D9D9D9"/>
                </a:solidFill>
                <a:latin typeface="Calibri"/>
                <a:cs typeface="Calibri"/>
              </a:rPr>
              <a:t>introduced</a:t>
            </a:r>
            <a:r>
              <a:rPr sz="2667" b="1" spc="-53" dirty="0">
                <a:solidFill>
                  <a:srgbClr val="D9D9D9"/>
                </a:solidFill>
                <a:latin typeface="Calibri"/>
                <a:cs typeface="Calibri"/>
              </a:rPr>
              <a:t> </a:t>
            </a:r>
            <a:r>
              <a:rPr sz="2667" b="1" dirty="0">
                <a:solidFill>
                  <a:srgbClr val="D9D9D9"/>
                </a:solidFill>
                <a:latin typeface="Calibri"/>
                <a:cs typeface="Calibri"/>
              </a:rPr>
              <a:t>SCD</a:t>
            </a:r>
            <a:r>
              <a:rPr sz="2667" b="1" spc="-7" dirty="0">
                <a:solidFill>
                  <a:srgbClr val="D9D9D9"/>
                </a:solidFill>
                <a:latin typeface="Calibri"/>
                <a:cs typeface="Calibri"/>
              </a:rPr>
              <a:t> </a:t>
            </a:r>
            <a:r>
              <a:rPr sz="2667" b="1" dirty="0">
                <a:solidFill>
                  <a:srgbClr val="D9D9D9"/>
                </a:solidFill>
                <a:latin typeface="Calibri"/>
                <a:cs typeface="Calibri"/>
              </a:rPr>
              <a:t>in</a:t>
            </a:r>
            <a:r>
              <a:rPr sz="2667" b="1" spc="-40" dirty="0">
                <a:solidFill>
                  <a:srgbClr val="D9D9D9"/>
                </a:solidFill>
                <a:latin typeface="Calibri"/>
                <a:cs typeface="Calibri"/>
              </a:rPr>
              <a:t> </a:t>
            </a:r>
            <a:r>
              <a:rPr sz="2667" b="1" dirty="0">
                <a:solidFill>
                  <a:srgbClr val="D9D9D9"/>
                </a:solidFill>
                <a:latin typeface="Calibri"/>
                <a:cs typeface="Calibri"/>
              </a:rPr>
              <a:t>1995</a:t>
            </a:r>
            <a:r>
              <a:rPr sz="2667" b="1" spc="-47" dirty="0">
                <a:solidFill>
                  <a:srgbClr val="D9D9D9"/>
                </a:solidFill>
                <a:latin typeface="Calibri"/>
                <a:cs typeface="Calibri"/>
              </a:rPr>
              <a:t> </a:t>
            </a:r>
            <a:r>
              <a:rPr sz="2667" b="1" dirty="0">
                <a:solidFill>
                  <a:srgbClr val="D9D9D9"/>
                </a:solidFill>
                <a:latin typeface="Calibri"/>
                <a:cs typeface="Calibri"/>
              </a:rPr>
              <a:t>and</a:t>
            </a:r>
            <a:r>
              <a:rPr sz="2667" b="1" spc="-27" dirty="0">
                <a:solidFill>
                  <a:srgbClr val="D9D9D9"/>
                </a:solidFill>
                <a:latin typeface="Calibri"/>
                <a:cs typeface="Calibri"/>
              </a:rPr>
              <a:t> </a:t>
            </a:r>
            <a:r>
              <a:rPr sz="2667" b="1" spc="-13" dirty="0">
                <a:solidFill>
                  <a:srgbClr val="D9D9D9"/>
                </a:solidFill>
                <a:latin typeface="Calibri"/>
                <a:cs typeface="Calibri"/>
              </a:rPr>
              <a:t>distinguished</a:t>
            </a:r>
            <a:endParaRPr sz="2667">
              <a:latin typeface="Calibri"/>
              <a:cs typeface="Calibri"/>
            </a:endParaRPr>
          </a:p>
          <a:p>
            <a:pPr marL="121070">
              <a:spcBef>
                <a:spcPts val="1600"/>
              </a:spcBef>
            </a:pPr>
            <a:r>
              <a:rPr sz="2667" b="1" dirty="0">
                <a:solidFill>
                  <a:srgbClr val="D9D9D9"/>
                </a:solidFill>
                <a:latin typeface="Calibri"/>
                <a:cs typeface="Calibri"/>
              </a:rPr>
              <a:t>between</a:t>
            </a:r>
            <a:r>
              <a:rPr sz="2667" b="1" spc="-27" dirty="0">
                <a:solidFill>
                  <a:srgbClr val="D9D9D9"/>
                </a:solidFill>
                <a:latin typeface="Calibri"/>
                <a:cs typeface="Calibri"/>
              </a:rPr>
              <a:t> </a:t>
            </a:r>
            <a:r>
              <a:rPr sz="2667" b="1" dirty="0">
                <a:solidFill>
                  <a:srgbClr val="D9D9D9"/>
                </a:solidFill>
                <a:latin typeface="Calibri"/>
                <a:cs typeface="Calibri"/>
              </a:rPr>
              <a:t>different</a:t>
            </a:r>
            <a:r>
              <a:rPr sz="2667" b="1" spc="-27" dirty="0">
                <a:solidFill>
                  <a:srgbClr val="D9D9D9"/>
                </a:solidFill>
                <a:latin typeface="Calibri"/>
                <a:cs typeface="Calibri"/>
              </a:rPr>
              <a:t> </a:t>
            </a:r>
            <a:r>
              <a:rPr sz="2667" b="1" dirty="0">
                <a:solidFill>
                  <a:srgbClr val="D9D9D9"/>
                </a:solidFill>
                <a:latin typeface="Calibri"/>
                <a:cs typeface="Calibri"/>
              </a:rPr>
              <a:t>types</a:t>
            </a:r>
            <a:r>
              <a:rPr sz="2667" b="1" spc="-33" dirty="0">
                <a:solidFill>
                  <a:srgbClr val="D9D9D9"/>
                </a:solidFill>
                <a:latin typeface="Calibri"/>
                <a:cs typeface="Calibri"/>
              </a:rPr>
              <a:t> </a:t>
            </a:r>
            <a:r>
              <a:rPr sz="2667" b="1" dirty="0">
                <a:solidFill>
                  <a:srgbClr val="D9D9D9"/>
                </a:solidFill>
                <a:latin typeface="Calibri"/>
                <a:cs typeface="Calibri"/>
              </a:rPr>
              <a:t>(1,</a:t>
            </a:r>
            <a:r>
              <a:rPr sz="2667" b="1" spc="-53" dirty="0">
                <a:solidFill>
                  <a:srgbClr val="D9D9D9"/>
                </a:solidFill>
                <a:latin typeface="Calibri"/>
                <a:cs typeface="Calibri"/>
              </a:rPr>
              <a:t> </a:t>
            </a:r>
            <a:r>
              <a:rPr sz="2667" b="1" dirty="0">
                <a:solidFill>
                  <a:srgbClr val="D9D9D9"/>
                </a:solidFill>
                <a:latin typeface="Calibri"/>
                <a:cs typeface="Calibri"/>
              </a:rPr>
              <a:t>2,</a:t>
            </a:r>
            <a:r>
              <a:rPr sz="2667" b="1" spc="-20" dirty="0">
                <a:solidFill>
                  <a:srgbClr val="D9D9D9"/>
                </a:solidFill>
                <a:latin typeface="Calibri"/>
                <a:cs typeface="Calibri"/>
              </a:rPr>
              <a:t> </a:t>
            </a:r>
            <a:r>
              <a:rPr sz="2667" b="1" dirty="0">
                <a:solidFill>
                  <a:srgbClr val="D9D9D9"/>
                </a:solidFill>
                <a:latin typeface="Calibri"/>
                <a:cs typeface="Calibri"/>
              </a:rPr>
              <a:t>3,</a:t>
            </a:r>
            <a:r>
              <a:rPr sz="2667" b="1" spc="-60" dirty="0">
                <a:solidFill>
                  <a:srgbClr val="D9D9D9"/>
                </a:solidFill>
                <a:latin typeface="Calibri"/>
                <a:cs typeface="Calibri"/>
              </a:rPr>
              <a:t> </a:t>
            </a:r>
            <a:r>
              <a:rPr sz="2667" b="1" spc="-33" dirty="0">
                <a:solidFill>
                  <a:srgbClr val="D9D9D9"/>
                </a:solidFill>
                <a:latin typeface="Calibri"/>
                <a:cs typeface="Calibri"/>
              </a:rPr>
              <a:t>…).</a:t>
            </a:r>
            <a:endParaRPr sz="2667">
              <a:latin typeface="Calibri"/>
              <a:cs typeface="Calibri"/>
            </a:endParaRPr>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27759" y="2178303"/>
            <a:ext cx="9930384" cy="1702816"/>
          </a:xfrm>
          <a:prstGeom prst="rect">
            <a:avLst/>
          </a:prstGeom>
        </p:spPr>
      </p:pic>
      <p:sp>
        <p:nvSpPr>
          <p:cNvPr id="3" name="object 3"/>
          <p:cNvSpPr txBox="1">
            <a:spLocks noGrp="1"/>
          </p:cNvSpPr>
          <p:nvPr>
            <p:ph type="title"/>
          </p:nvPr>
        </p:nvSpPr>
        <p:spPr>
          <a:xfrm>
            <a:off x="1190751" y="2467260"/>
            <a:ext cx="9811173" cy="1070377"/>
          </a:xfrm>
          <a:prstGeom prst="rect">
            <a:avLst/>
          </a:prstGeom>
          <a:noFill/>
          <a:ln w="9144">
            <a:noFill/>
          </a:ln>
        </p:spPr>
        <p:txBody>
          <a:bodyPr vert="horz" wrap="square" lIns="0" tIns="328505" rIns="0" bIns="0" rtlCol="0" anchor="ctr">
            <a:spAutoFit/>
          </a:bodyPr>
          <a:lstStyle/>
          <a:p>
            <a:pPr algn="ctr">
              <a:lnSpc>
                <a:spcPct val="100000"/>
              </a:lnSpc>
              <a:spcBef>
                <a:spcPts val="2585"/>
              </a:spcBef>
            </a:pPr>
            <a:r>
              <a:rPr sz="4800" dirty="0">
                <a:solidFill>
                  <a:schemeClr val="bg1"/>
                </a:solidFill>
                <a:latin typeface="+mn-lt"/>
                <a:cs typeface="Arial MT"/>
              </a:rPr>
              <a:t>Type</a:t>
            </a:r>
            <a:r>
              <a:rPr sz="4800" spc="-27" dirty="0">
                <a:solidFill>
                  <a:schemeClr val="bg1"/>
                </a:solidFill>
                <a:latin typeface="+mn-lt"/>
                <a:cs typeface="Arial MT"/>
              </a:rPr>
              <a:t> </a:t>
            </a:r>
            <a:r>
              <a:rPr sz="4800" dirty="0">
                <a:solidFill>
                  <a:schemeClr val="bg1"/>
                </a:solidFill>
                <a:latin typeface="+mn-lt"/>
                <a:cs typeface="Arial MT"/>
              </a:rPr>
              <a:t>0:</a:t>
            </a:r>
            <a:r>
              <a:rPr sz="4800" spc="-20" dirty="0">
                <a:solidFill>
                  <a:schemeClr val="bg1"/>
                </a:solidFill>
                <a:latin typeface="+mn-lt"/>
                <a:cs typeface="Arial MT"/>
              </a:rPr>
              <a:t> </a:t>
            </a:r>
            <a:r>
              <a:rPr sz="4800" dirty="0">
                <a:solidFill>
                  <a:schemeClr val="bg1"/>
                </a:solidFill>
                <a:latin typeface="+mn-lt"/>
                <a:cs typeface="Arial MT"/>
              </a:rPr>
              <a:t>Retain</a:t>
            </a:r>
            <a:r>
              <a:rPr sz="4800" spc="-33" dirty="0">
                <a:solidFill>
                  <a:schemeClr val="bg1"/>
                </a:solidFill>
                <a:latin typeface="+mn-lt"/>
                <a:cs typeface="Arial MT"/>
              </a:rPr>
              <a:t> </a:t>
            </a:r>
            <a:r>
              <a:rPr sz="4800" spc="-13" dirty="0">
                <a:solidFill>
                  <a:schemeClr val="bg1"/>
                </a:solidFill>
                <a:latin typeface="+mn-lt"/>
                <a:cs typeface="Arial MT"/>
              </a:rPr>
              <a:t>Original</a:t>
            </a:r>
            <a:endParaRPr sz="4800" dirty="0">
              <a:solidFill>
                <a:schemeClr val="bg1"/>
              </a:solidFill>
              <a:latin typeface="+mn-lt"/>
              <a:cs typeface="Arial MT"/>
            </a:endParaRPr>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22880" y="443890"/>
            <a:ext cx="8046720" cy="695062"/>
          </a:xfrm>
          <a:prstGeom prst="rect">
            <a:avLst/>
          </a:prstGeom>
        </p:spPr>
        <p:txBody>
          <a:bodyPr vert="horz" wrap="square" lIns="0" tIns="17780" rIns="0" bIns="0" rtlCol="0" anchor="ctr">
            <a:spAutoFit/>
          </a:bodyPr>
          <a:lstStyle/>
          <a:p>
            <a:pPr marL="617205">
              <a:lnSpc>
                <a:spcPct val="100000"/>
              </a:lnSpc>
              <a:spcBef>
                <a:spcPts val="140"/>
              </a:spcBef>
            </a:pPr>
            <a:r>
              <a:rPr dirty="0">
                <a:solidFill>
                  <a:schemeClr val="bg1"/>
                </a:solidFill>
                <a:latin typeface="+mn-lt"/>
              </a:rPr>
              <a:t>Type</a:t>
            </a:r>
            <a:r>
              <a:rPr spc="-60" dirty="0">
                <a:solidFill>
                  <a:schemeClr val="bg1"/>
                </a:solidFill>
                <a:latin typeface="+mn-lt"/>
              </a:rPr>
              <a:t> </a:t>
            </a:r>
            <a:r>
              <a:rPr dirty="0">
                <a:solidFill>
                  <a:schemeClr val="bg1"/>
                </a:solidFill>
                <a:latin typeface="+mn-lt"/>
              </a:rPr>
              <a:t>0:</a:t>
            </a:r>
            <a:r>
              <a:rPr spc="-47" dirty="0">
                <a:solidFill>
                  <a:schemeClr val="bg1"/>
                </a:solidFill>
                <a:latin typeface="+mn-lt"/>
              </a:rPr>
              <a:t> </a:t>
            </a:r>
            <a:r>
              <a:rPr dirty="0">
                <a:solidFill>
                  <a:schemeClr val="bg1"/>
                </a:solidFill>
                <a:latin typeface="+mn-lt"/>
              </a:rPr>
              <a:t>Retain</a:t>
            </a:r>
            <a:r>
              <a:rPr spc="-67" dirty="0">
                <a:solidFill>
                  <a:schemeClr val="bg1"/>
                </a:solidFill>
                <a:latin typeface="+mn-lt"/>
              </a:rPr>
              <a:t> </a:t>
            </a:r>
            <a:r>
              <a:rPr spc="-13" dirty="0">
                <a:solidFill>
                  <a:schemeClr val="bg1"/>
                </a:solidFill>
                <a:latin typeface="+mn-lt"/>
              </a:rPr>
              <a:t>Original</a:t>
            </a:r>
          </a:p>
        </p:txBody>
      </p:sp>
      <p:sp>
        <p:nvSpPr>
          <p:cNvPr id="3" name="object 3"/>
          <p:cNvSpPr txBox="1"/>
          <p:nvPr/>
        </p:nvSpPr>
        <p:spPr>
          <a:xfrm>
            <a:off x="2950126" y="1965113"/>
            <a:ext cx="4980093" cy="2820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i="1" dirty="0">
                <a:solidFill>
                  <a:srgbClr val="D9D9D9"/>
                </a:solidFill>
                <a:latin typeface="Calibri"/>
                <a:cs typeface="Calibri"/>
              </a:rPr>
              <a:t>There</a:t>
            </a:r>
            <a:r>
              <a:rPr sz="2400" b="1" i="1" spc="-40" dirty="0">
                <a:solidFill>
                  <a:srgbClr val="D9D9D9"/>
                </a:solidFill>
                <a:latin typeface="Calibri"/>
                <a:cs typeface="Calibri"/>
              </a:rPr>
              <a:t> </a:t>
            </a:r>
            <a:r>
              <a:rPr sz="2400" b="1" i="1" dirty="0">
                <a:solidFill>
                  <a:srgbClr val="D9D9D9"/>
                </a:solidFill>
                <a:latin typeface="Calibri"/>
                <a:cs typeface="Calibri"/>
              </a:rPr>
              <a:t>won't</a:t>
            </a:r>
            <a:r>
              <a:rPr sz="2400" b="1" i="1" spc="-53" dirty="0">
                <a:solidFill>
                  <a:srgbClr val="D9D9D9"/>
                </a:solidFill>
                <a:latin typeface="Calibri"/>
                <a:cs typeface="Calibri"/>
              </a:rPr>
              <a:t> </a:t>
            </a:r>
            <a:r>
              <a:rPr sz="2400" b="1" i="1" dirty="0">
                <a:solidFill>
                  <a:srgbClr val="D9D9D9"/>
                </a:solidFill>
                <a:latin typeface="Calibri"/>
                <a:cs typeface="Calibri"/>
              </a:rPr>
              <a:t>be</a:t>
            </a:r>
            <a:r>
              <a:rPr sz="2400" b="1" i="1" spc="-40" dirty="0">
                <a:solidFill>
                  <a:srgbClr val="D9D9D9"/>
                </a:solidFill>
                <a:latin typeface="Calibri"/>
                <a:cs typeface="Calibri"/>
              </a:rPr>
              <a:t> </a:t>
            </a:r>
            <a:r>
              <a:rPr sz="2400" b="1" i="1" dirty="0">
                <a:solidFill>
                  <a:srgbClr val="D9D9D9"/>
                </a:solidFill>
                <a:latin typeface="Calibri"/>
                <a:cs typeface="Calibri"/>
              </a:rPr>
              <a:t>any</a:t>
            </a:r>
            <a:r>
              <a:rPr sz="2400" b="1" i="1" spc="-60" dirty="0">
                <a:solidFill>
                  <a:srgbClr val="D9D9D9"/>
                </a:solidFill>
                <a:latin typeface="Calibri"/>
                <a:cs typeface="Calibri"/>
              </a:rPr>
              <a:t> </a:t>
            </a:r>
            <a:r>
              <a:rPr sz="2400" b="1" i="1" spc="-13" dirty="0">
                <a:solidFill>
                  <a:srgbClr val="D9D9D9"/>
                </a:solidFill>
                <a:latin typeface="Calibri"/>
                <a:cs typeface="Calibri"/>
              </a:rPr>
              <a:t>changes</a:t>
            </a:r>
            <a:endParaRPr sz="2400">
              <a:latin typeface="Calibri"/>
              <a:cs typeface="Calibri"/>
            </a:endParaRPr>
          </a:p>
          <a:p>
            <a:pPr>
              <a:spcBef>
                <a:spcPts val="760"/>
              </a:spcBef>
              <a:buClr>
                <a:srgbClr val="99D3FF"/>
              </a:buClr>
              <a:buFont typeface="Wingdings"/>
              <a:buChar char=""/>
            </a:pPr>
            <a:endParaRPr sz="2400">
              <a:latin typeface="Calibri"/>
              <a:cs typeface="Calibri"/>
            </a:endParaRPr>
          </a:p>
          <a:p>
            <a:pPr marL="398770" indent="-381837">
              <a:spcBef>
                <a:spcPts val="7"/>
              </a:spcBef>
              <a:buClr>
                <a:srgbClr val="99D3FF"/>
              </a:buClr>
              <a:buFont typeface="Wingdings"/>
              <a:buChar char=""/>
              <a:tabLst>
                <a:tab pos="398770" algn="l"/>
              </a:tabLst>
            </a:pPr>
            <a:r>
              <a:rPr sz="2400" b="1" i="1" dirty="0">
                <a:solidFill>
                  <a:srgbClr val="D9D9D9"/>
                </a:solidFill>
                <a:latin typeface="Calibri"/>
                <a:cs typeface="Calibri"/>
              </a:rPr>
              <a:t>Date</a:t>
            </a:r>
            <a:r>
              <a:rPr sz="2400" b="1" i="1" spc="-40" dirty="0">
                <a:solidFill>
                  <a:srgbClr val="D9D9D9"/>
                </a:solidFill>
                <a:latin typeface="Calibri"/>
                <a:cs typeface="Calibri"/>
              </a:rPr>
              <a:t> </a:t>
            </a:r>
            <a:r>
              <a:rPr sz="2400" b="1" i="1" dirty="0">
                <a:solidFill>
                  <a:srgbClr val="D9D9D9"/>
                </a:solidFill>
                <a:latin typeface="Calibri"/>
                <a:cs typeface="Calibri"/>
              </a:rPr>
              <a:t>Table</a:t>
            </a:r>
            <a:r>
              <a:rPr sz="2400" b="1" i="1" spc="-40" dirty="0">
                <a:solidFill>
                  <a:srgbClr val="D9D9D9"/>
                </a:solidFill>
                <a:latin typeface="Calibri"/>
                <a:cs typeface="Calibri"/>
              </a:rPr>
              <a:t> </a:t>
            </a:r>
            <a:r>
              <a:rPr sz="2400" b="1" i="1" dirty="0">
                <a:solidFill>
                  <a:srgbClr val="D9D9D9"/>
                </a:solidFill>
                <a:latin typeface="Calibri"/>
                <a:cs typeface="Calibri"/>
              </a:rPr>
              <a:t>(expect</a:t>
            </a:r>
            <a:r>
              <a:rPr sz="2400" b="1" i="1" spc="-40" dirty="0">
                <a:solidFill>
                  <a:srgbClr val="D9D9D9"/>
                </a:solidFill>
                <a:latin typeface="Calibri"/>
                <a:cs typeface="Calibri"/>
              </a:rPr>
              <a:t> </a:t>
            </a:r>
            <a:r>
              <a:rPr sz="2400" b="1" i="1" dirty="0">
                <a:solidFill>
                  <a:srgbClr val="D9D9D9"/>
                </a:solidFill>
                <a:latin typeface="Calibri"/>
                <a:cs typeface="Calibri"/>
              </a:rPr>
              <a:t>for</a:t>
            </a:r>
            <a:r>
              <a:rPr sz="2400" b="1" i="1" spc="-13" dirty="0">
                <a:solidFill>
                  <a:srgbClr val="D9D9D9"/>
                </a:solidFill>
                <a:latin typeface="Calibri"/>
                <a:cs typeface="Calibri"/>
              </a:rPr>
              <a:t> </a:t>
            </a:r>
            <a:r>
              <a:rPr sz="2400" b="1" i="1" dirty="0">
                <a:solidFill>
                  <a:srgbClr val="D9D9D9"/>
                </a:solidFill>
                <a:latin typeface="Calibri"/>
                <a:cs typeface="Calibri"/>
              </a:rPr>
              <a:t>holidays</a:t>
            </a:r>
            <a:r>
              <a:rPr sz="2400" b="1" i="1" spc="-40" dirty="0">
                <a:solidFill>
                  <a:srgbClr val="D9D9D9"/>
                </a:solidFill>
                <a:latin typeface="Calibri"/>
                <a:cs typeface="Calibri"/>
              </a:rPr>
              <a:t> </a:t>
            </a:r>
            <a:r>
              <a:rPr sz="2400" b="1" i="1" spc="-13" dirty="0">
                <a:solidFill>
                  <a:srgbClr val="D9D9D9"/>
                </a:solidFill>
                <a:latin typeface="Calibri"/>
                <a:cs typeface="Calibri"/>
              </a:rPr>
              <a:t>etc.)</a:t>
            </a:r>
            <a:endParaRPr sz="2400">
              <a:latin typeface="Calibri"/>
              <a:cs typeface="Calibri"/>
            </a:endParaRPr>
          </a:p>
          <a:p>
            <a:pPr>
              <a:spcBef>
                <a:spcPts val="500"/>
              </a:spcBef>
              <a:buClr>
                <a:srgbClr val="99D3FF"/>
              </a:buClr>
              <a:buFont typeface="Wingdings"/>
              <a:buChar char=""/>
            </a:pPr>
            <a:endParaRPr sz="2400">
              <a:latin typeface="Calibri"/>
              <a:cs typeface="Calibri"/>
            </a:endParaRPr>
          </a:p>
          <a:p>
            <a:pPr marL="397923" indent="-380990">
              <a:buClr>
                <a:srgbClr val="99D3FF"/>
              </a:buClr>
              <a:buFont typeface="Wingdings"/>
              <a:buChar char=""/>
              <a:tabLst>
                <a:tab pos="397923" algn="l"/>
              </a:tabLst>
            </a:pPr>
            <a:r>
              <a:rPr sz="2400" b="1" i="1" spc="-13" dirty="0">
                <a:solidFill>
                  <a:srgbClr val="D9D9D9"/>
                </a:solidFill>
                <a:latin typeface="Calibri"/>
                <a:cs typeface="Calibri"/>
              </a:rPr>
              <a:t>"Original"</a:t>
            </a:r>
            <a:endParaRPr sz="2400">
              <a:latin typeface="Calibri"/>
              <a:cs typeface="Calibri"/>
            </a:endParaRPr>
          </a:p>
          <a:p>
            <a:pPr>
              <a:spcBef>
                <a:spcPts val="353"/>
              </a:spcBef>
              <a:buClr>
                <a:srgbClr val="99D3FF"/>
              </a:buClr>
              <a:buFont typeface="Wingdings"/>
              <a:buChar char=""/>
            </a:pPr>
            <a:endParaRPr sz="2400">
              <a:latin typeface="Calibri"/>
              <a:cs typeface="Calibri"/>
            </a:endParaRPr>
          </a:p>
          <a:p>
            <a:pPr marL="398770" indent="-381837">
              <a:buClr>
                <a:srgbClr val="99D3FF"/>
              </a:buClr>
              <a:buFont typeface="Wingdings"/>
              <a:buChar char=""/>
              <a:tabLst>
                <a:tab pos="398770" algn="l"/>
              </a:tabLst>
            </a:pPr>
            <a:r>
              <a:rPr sz="2400" b="1" i="1" dirty="0">
                <a:solidFill>
                  <a:srgbClr val="D9D9D9"/>
                </a:solidFill>
                <a:latin typeface="Calibri"/>
                <a:cs typeface="Calibri"/>
              </a:rPr>
              <a:t>Very</a:t>
            </a:r>
            <a:r>
              <a:rPr sz="2400" b="1" i="1" spc="-27" dirty="0">
                <a:solidFill>
                  <a:srgbClr val="D9D9D9"/>
                </a:solidFill>
                <a:latin typeface="Calibri"/>
                <a:cs typeface="Calibri"/>
              </a:rPr>
              <a:t> </a:t>
            </a:r>
            <a:r>
              <a:rPr sz="2400" b="1" i="1" dirty="0">
                <a:solidFill>
                  <a:srgbClr val="D9D9D9"/>
                </a:solidFill>
                <a:latin typeface="Calibri"/>
                <a:cs typeface="Calibri"/>
              </a:rPr>
              <a:t>simple</a:t>
            </a:r>
            <a:r>
              <a:rPr sz="2400" b="1" i="1" spc="-47" dirty="0">
                <a:solidFill>
                  <a:srgbClr val="D9D9D9"/>
                </a:solidFill>
                <a:latin typeface="Calibri"/>
                <a:cs typeface="Calibri"/>
              </a:rPr>
              <a:t> </a:t>
            </a:r>
            <a:r>
              <a:rPr sz="2400" b="1" i="1" dirty="0">
                <a:solidFill>
                  <a:srgbClr val="D9D9D9"/>
                </a:solidFill>
                <a:latin typeface="Calibri"/>
                <a:cs typeface="Calibri"/>
              </a:rPr>
              <a:t>and</a:t>
            </a:r>
            <a:r>
              <a:rPr sz="2400" b="1" i="1" spc="-27" dirty="0">
                <a:solidFill>
                  <a:srgbClr val="D9D9D9"/>
                </a:solidFill>
                <a:latin typeface="Calibri"/>
                <a:cs typeface="Calibri"/>
              </a:rPr>
              <a:t> </a:t>
            </a:r>
            <a:r>
              <a:rPr sz="2400" b="1" i="1" dirty="0">
                <a:solidFill>
                  <a:srgbClr val="D9D9D9"/>
                </a:solidFill>
                <a:latin typeface="Calibri"/>
                <a:cs typeface="Calibri"/>
              </a:rPr>
              <a:t>easy</a:t>
            </a:r>
            <a:r>
              <a:rPr sz="2400" b="1" i="1" spc="-13" dirty="0">
                <a:solidFill>
                  <a:srgbClr val="D9D9D9"/>
                </a:solidFill>
                <a:latin typeface="Calibri"/>
                <a:cs typeface="Calibri"/>
              </a:rPr>
              <a:t> </a:t>
            </a:r>
            <a:r>
              <a:rPr sz="2400" b="1" i="1" dirty="0">
                <a:solidFill>
                  <a:srgbClr val="D9D9D9"/>
                </a:solidFill>
                <a:latin typeface="Calibri"/>
                <a:cs typeface="Calibri"/>
              </a:rPr>
              <a:t>to</a:t>
            </a:r>
            <a:r>
              <a:rPr sz="2400" b="1" i="1" spc="-27" dirty="0">
                <a:solidFill>
                  <a:srgbClr val="D9D9D9"/>
                </a:solidFill>
                <a:latin typeface="Calibri"/>
                <a:cs typeface="Calibri"/>
              </a:rPr>
              <a:t> </a:t>
            </a:r>
            <a:r>
              <a:rPr sz="2400" b="1" i="1" spc="-13" dirty="0">
                <a:solidFill>
                  <a:srgbClr val="D9D9D9"/>
                </a:solidFill>
                <a:latin typeface="Calibri"/>
                <a:cs typeface="Calibri"/>
              </a:rPr>
              <a:t>maintain</a:t>
            </a:r>
            <a:endParaRPr sz="2400">
              <a:latin typeface="Calibri"/>
              <a:cs typeface="Calibri"/>
            </a:endParaRPr>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27759" y="2178303"/>
            <a:ext cx="9930384" cy="1702816"/>
          </a:xfrm>
          <a:prstGeom prst="rect">
            <a:avLst/>
          </a:prstGeom>
        </p:spPr>
      </p:pic>
      <p:sp>
        <p:nvSpPr>
          <p:cNvPr id="3" name="object 3"/>
          <p:cNvSpPr txBox="1">
            <a:spLocks noGrp="1"/>
          </p:cNvSpPr>
          <p:nvPr>
            <p:ph type="title"/>
          </p:nvPr>
        </p:nvSpPr>
        <p:spPr>
          <a:xfrm>
            <a:off x="1190751" y="2467260"/>
            <a:ext cx="9811173" cy="1070377"/>
          </a:xfrm>
          <a:prstGeom prst="rect">
            <a:avLst/>
          </a:prstGeom>
          <a:noFill/>
          <a:ln w="9144">
            <a:noFill/>
          </a:ln>
        </p:spPr>
        <p:txBody>
          <a:bodyPr vert="horz" wrap="square" lIns="0" tIns="328505" rIns="0" bIns="0" rtlCol="0" anchor="ctr">
            <a:spAutoFit/>
          </a:bodyPr>
          <a:lstStyle/>
          <a:p>
            <a:pPr algn="ctr">
              <a:lnSpc>
                <a:spcPct val="100000"/>
              </a:lnSpc>
              <a:spcBef>
                <a:spcPts val="2585"/>
              </a:spcBef>
            </a:pPr>
            <a:r>
              <a:rPr sz="4800" dirty="0">
                <a:solidFill>
                  <a:schemeClr val="bg1"/>
                </a:solidFill>
                <a:latin typeface="+mn-lt"/>
                <a:cs typeface="Arial MT"/>
              </a:rPr>
              <a:t>Type</a:t>
            </a:r>
            <a:r>
              <a:rPr sz="4800" spc="-13" dirty="0">
                <a:solidFill>
                  <a:schemeClr val="bg1"/>
                </a:solidFill>
                <a:latin typeface="+mn-lt"/>
                <a:cs typeface="Arial MT"/>
              </a:rPr>
              <a:t> </a:t>
            </a:r>
            <a:r>
              <a:rPr sz="4800" dirty="0">
                <a:solidFill>
                  <a:schemeClr val="bg1"/>
                </a:solidFill>
                <a:latin typeface="+mn-lt"/>
                <a:cs typeface="Arial MT"/>
              </a:rPr>
              <a:t>1:</a:t>
            </a:r>
            <a:r>
              <a:rPr sz="4800" spc="-27" dirty="0">
                <a:solidFill>
                  <a:schemeClr val="bg1"/>
                </a:solidFill>
                <a:latin typeface="+mn-lt"/>
                <a:cs typeface="Arial MT"/>
              </a:rPr>
              <a:t> </a:t>
            </a:r>
            <a:r>
              <a:rPr sz="4800" spc="-13" dirty="0">
                <a:solidFill>
                  <a:schemeClr val="bg1"/>
                </a:solidFill>
                <a:latin typeface="+mn-lt"/>
                <a:cs typeface="Arial MT"/>
              </a:rPr>
              <a:t>Overwrite</a:t>
            </a:r>
            <a:endParaRPr sz="4800" dirty="0">
              <a:solidFill>
                <a:schemeClr val="bg1"/>
              </a:solidFill>
              <a:latin typeface="+mn-lt"/>
              <a:cs typeface="Arial MT"/>
            </a:endParaRPr>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576654" y="4416045"/>
            <a:ext cx="1052407" cy="720513"/>
            <a:chOff x="4182490" y="3312033"/>
            <a:chExt cx="789305" cy="540385"/>
          </a:xfrm>
        </p:grpSpPr>
        <p:sp>
          <p:nvSpPr>
            <p:cNvPr id="3" name="object 3"/>
            <p:cNvSpPr/>
            <p:nvPr/>
          </p:nvSpPr>
          <p:spPr>
            <a:xfrm>
              <a:off x="4195190" y="3324733"/>
              <a:ext cx="763905" cy="514984"/>
            </a:xfrm>
            <a:custGeom>
              <a:avLst/>
              <a:gdLst/>
              <a:ahLst/>
              <a:cxnLst/>
              <a:rect l="l" t="t" r="r" b="b"/>
              <a:pathLst>
                <a:path w="763904" h="514985">
                  <a:moveTo>
                    <a:pt x="74295" y="0"/>
                  </a:moveTo>
                  <a:lnTo>
                    <a:pt x="0" y="145796"/>
                  </a:lnTo>
                  <a:lnTo>
                    <a:pt x="580644" y="441579"/>
                  </a:lnTo>
                  <a:lnTo>
                    <a:pt x="543560" y="514477"/>
                  </a:lnTo>
                  <a:lnTo>
                    <a:pt x="763524" y="442976"/>
                  </a:lnTo>
                  <a:lnTo>
                    <a:pt x="692023" y="222885"/>
                  </a:lnTo>
                  <a:lnTo>
                    <a:pt x="654938" y="295783"/>
                  </a:lnTo>
                  <a:lnTo>
                    <a:pt x="74295" y="0"/>
                  </a:lnTo>
                  <a:close/>
                </a:path>
              </a:pathLst>
            </a:custGeom>
            <a:solidFill>
              <a:srgbClr val="00C3FF"/>
            </a:solidFill>
          </p:spPr>
          <p:txBody>
            <a:bodyPr wrap="square" lIns="0" tIns="0" rIns="0" bIns="0" rtlCol="0"/>
            <a:lstStyle/>
            <a:p>
              <a:endParaRPr sz="2400"/>
            </a:p>
          </p:txBody>
        </p:sp>
        <p:sp>
          <p:nvSpPr>
            <p:cNvPr id="4" name="object 4"/>
            <p:cNvSpPr/>
            <p:nvPr/>
          </p:nvSpPr>
          <p:spPr>
            <a:xfrm>
              <a:off x="4195190" y="3324733"/>
              <a:ext cx="763905" cy="514984"/>
            </a:xfrm>
            <a:custGeom>
              <a:avLst/>
              <a:gdLst/>
              <a:ahLst/>
              <a:cxnLst/>
              <a:rect l="l" t="t" r="r" b="b"/>
              <a:pathLst>
                <a:path w="763904" h="514985">
                  <a:moveTo>
                    <a:pt x="74295" y="0"/>
                  </a:moveTo>
                  <a:lnTo>
                    <a:pt x="654938" y="295783"/>
                  </a:lnTo>
                  <a:lnTo>
                    <a:pt x="692023" y="222885"/>
                  </a:lnTo>
                  <a:lnTo>
                    <a:pt x="763524" y="442976"/>
                  </a:lnTo>
                  <a:lnTo>
                    <a:pt x="543560" y="514477"/>
                  </a:lnTo>
                  <a:lnTo>
                    <a:pt x="580644" y="441579"/>
                  </a:lnTo>
                  <a:lnTo>
                    <a:pt x="0" y="145796"/>
                  </a:lnTo>
                  <a:lnTo>
                    <a:pt x="74295" y="0"/>
                  </a:lnTo>
                  <a:close/>
                </a:path>
              </a:pathLst>
            </a:custGeom>
            <a:ln w="25400">
              <a:solidFill>
                <a:srgbClr val="008FBB"/>
              </a:solidFill>
            </a:ln>
          </p:spPr>
          <p:txBody>
            <a:bodyPr wrap="square" lIns="0" tIns="0" rIns="0" bIns="0" rtlCol="0"/>
            <a:lstStyle/>
            <a:p>
              <a:endParaRPr sz="2400"/>
            </a:p>
          </p:txBody>
        </p:sp>
      </p:grpSp>
      <p:sp>
        <p:nvSpPr>
          <p:cNvPr id="5" name="object 5"/>
          <p:cNvSpPr txBox="1">
            <a:spLocks noGrp="1"/>
          </p:cNvSpPr>
          <p:nvPr>
            <p:ph type="title"/>
          </p:nvPr>
        </p:nvSpPr>
        <p:spPr>
          <a:xfrm>
            <a:off x="2123440" y="426322"/>
            <a:ext cx="7233920" cy="695062"/>
          </a:xfrm>
          <a:prstGeom prst="rect">
            <a:avLst/>
          </a:prstGeom>
        </p:spPr>
        <p:txBody>
          <a:bodyPr vert="horz" wrap="square" lIns="0" tIns="17780" rIns="0" bIns="0" rtlCol="0" anchor="ctr">
            <a:spAutoFit/>
          </a:bodyPr>
          <a:lstStyle/>
          <a:p>
            <a:pPr marL="617205" algn="ctr">
              <a:lnSpc>
                <a:spcPct val="100000"/>
              </a:lnSpc>
              <a:spcBef>
                <a:spcPts val="140"/>
              </a:spcBef>
            </a:pPr>
            <a:r>
              <a:rPr dirty="0">
                <a:solidFill>
                  <a:schemeClr val="bg1"/>
                </a:solidFill>
                <a:latin typeface="+mn-lt"/>
              </a:rPr>
              <a:t>Type</a:t>
            </a:r>
            <a:r>
              <a:rPr spc="-20" dirty="0">
                <a:solidFill>
                  <a:schemeClr val="bg1"/>
                </a:solidFill>
                <a:latin typeface="+mn-lt"/>
              </a:rPr>
              <a:t> </a:t>
            </a:r>
            <a:r>
              <a:rPr dirty="0">
                <a:solidFill>
                  <a:schemeClr val="bg1"/>
                </a:solidFill>
                <a:latin typeface="+mn-lt"/>
              </a:rPr>
              <a:t>1: </a:t>
            </a:r>
            <a:r>
              <a:rPr spc="-13" dirty="0">
                <a:solidFill>
                  <a:schemeClr val="bg1"/>
                </a:solidFill>
                <a:latin typeface="+mn-lt"/>
              </a:rPr>
              <a:t>Overwrite</a:t>
            </a:r>
          </a:p>
        </p:txBody>
      </p:sp>
      <p:sp>
        <p:nvSpPr>
          <p:cNvPr id="6" name="object 6"/>
          <p:cNvSpPr txBox="1"/>
          <p:nvPr/>
        </p:nvSpPr>
        <p:spPr>
          <a:xfrm>
            <a:off x="2950125" y="1965112"/>
            <a:ext cx="4763347" cy="1227686"/>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i="1" dirty="0">
                <a:solidFill>
                  <a:srgbClr val="D9D9D9"/>
                </a:solidFill>
                <a:latin typeface="Calibri"/>
                <a:cs typeface="Calibri"/>
              </a:rPr>
              <a:t>Old</a:t>
            </a:r>
            <a:r>
              <a:rPr sz="2400" b="1" i="1" spc="-60" dirty="0">
                <a:solidFill>
                  <a:srgbClr val="D9D9D9"/>
                </a:solidFill>
                <a:latin typeface="Calibri"/>
                <a:cs typeface="Calibri"/>
              </a:rPr>
              <a:t> </a:t>
            </a:r>
            <a:r>
              <a:rPr sz="2400" b="1" i="1" dirty="0">
                <a:solidFill>
                  <a:srgbClr val="D9D9D9"/>
                </a:solidFill>
                <a:latin typeface="Calibri"/>
                <a:cs typeface="Calibri"/>
              </a:rPr>
              <a:t>attributes</a:t>
            </a:r>
            <a:r>
              <a:rPr sz="2400" b="1" i="1" spc="-47" dirty="0">
                <a:solidFill>
                  <a:srgbClr val="D9D9D9"/>
                </a:solidFill>
                <a:latin typeface="Calibri"/>
                <a:cs typeface="Calibri"/>
              </a:rPr>
              <a:t> </a:t>
            </a:r>
            <a:r>
              <a:rPr sz="2400" b="1" i="1" dirty="0">
                <a:solidFill>
                  <a:srgbClr val="D9D9D9"/>
                </a:solidFill>
                <a:latin typeface="Calibri"/>
                <a:cs typeface="Calibri"/>
              </a:rPr>
              <a:t>are</a:t>
            </a:r>
            <a:r>
              <a:rPr sz="2400" b="1" i="1" spc="-33" dirty="0">
                <a:solidFill>
                  <a:srgbClr val="D9D9D9"/>
                </a:solidFill>
                <a:latin typeface="Calibri"/>
                <a:cs typeface="Calibri"/>
              </a:rPr>
              <a:t> </a:t>
            </a:r>
            <a:r>
              <a:rPr sz="2400" b="1" i="1" dirty="0">
                <a:solidFill>
                  <a:srgbClr val="D9D9D9"/>
                </a:solidFill>
                <a:latin typeface="Calibri"/>
                <a:cs typeface="Calibri"/>
              </a:rPr>
              <a:t>just</a:t>
            </a:r>
            <a:r>
              <a:rPr sz="2400" b="1" i="1" spc="-53" dirty="0">
                <a:solidFill>
                  <a:srgbClr val="D9D9D9"/>
                </a:solidFill>
                <a:latin typeface="Calibri"/>
                <a:cs typeface="Calibri"/>
              </a:rPr>
              <a:t> </a:t>
            </a:r>
            <a:r>
              <a:rPr sz="2400" b="1" i="1" spc="-13" dirty="0">
                <a:solidFill>
                  <a:srgbClr val="D9D9D9"/>
                </a:solidFill>
                <a:latin typeface="Calibri"/>
                <a:cs typeface="Calibri"/>
              </a:rPr>
              <a:t>overwritten</a:t>
            </a:r>
            <a:endParaRPr sz="2400">
              <a:latin typeface="Calibri"/>
              <a:cs typeface="Calibri"/>
            </a:endParaRPr>
          </a:p>
          <a:p>
            <a:pPr>
              <a:spcBef>
                <a:spcPts val="760"/>
              </a:spcBef>
              <a:buClr>
                <a:srgbClr val="99D3FF"/>
              </a:buClr>
              <a:buFont typeface="Wingdings"/>
              <a:buChar char=""/>
            </a:pPr>
            <a:endParaRPr sz="2400">
              <a:latin typeface="Calibri"/>
              <a:cs typeface="Calibri"/>
            </a:endParaRPr>
          </a:p>
          <a:p>
            <a:pPr marL="398770" indent="-381837">
              <a:spcBef>
                <a:spcPts val="7"/>
              </a:spcBef>
              <a:buClr>
                <a:srgbClr val="99D3FF"/>
              </a:buClr>
              <a:buFont typeface="Wingdings"/>
              <a:buChar char=""/>
              <a:tabLst>
                <a:tab pos="398770" algn="l"/>
              </a:tabLst>
            </a:pPr>
            <a:r>
              <a:rPr sz="2400" b="1" i="1" dirty="0">
                <a:solidFill>
                  <a:srgbClr val="D9D9D9"/>
                </a:solidFill>
                <a:latin typeface="Calibri"/>
                <a:cs typeface="Calibri"/>
              </a:rPr>
              <a:t>Only</a:t>
            </a:r>
            <a:r>
              <a:rPr sz="2400" b="1" i="1" spc="-47" dirty="0">
                <a:solidFill>
                  <a:srgbClr val="D9D9D9"/>
                </a:solidFill>
                <a:latin typeface="Calibri"/>
                <a:cs typeface="Calibri"/>
              </a:rPr>
              <a:t> </a:t>
            </a:r>
            <a:r>
              <a:rPr sz="2400" b="1" i="1" dirty="0">
                <a:solidFill>
                  <a:srgbClr val="D9D9D9"/>
                </a:solidFill>
                <a:latin typeface="Calibri"/>
                <a:cs typeface="Calibri"/>
              </a:rPr>
              <a:t>current</a:t>
            </a:r>
            <a:r>
              <a:rPr sz="2400" b="1" i="1" spc="-47" dirty="0">
                <a:solidFill>
                  <a:srgbClr val="D9D9D9"/>
                </a:solidFill>
                <a:latin typeface="Calibri"/>
                <a:cs typeface="Calibri"/>
              </a:rPr>
              <a:t> </a:t>
            </a:r>
            <a:r>
              <a:rPr sz="2400" b="1" i="1" dirty="0">
                <a:solidFill>
                  <a:srgbClr val="D9D9D9"/>
                </a:solidFill>
                <a:latin typeface="Calibri"/>
                <a:cs typeface="Calibri"/>
              </a:rPr>
              <a:t>state</a:t>
            </a:r>
            <a:r>
              <a:rPr sz="2400" b="1" i="1" spc="-33" dirty="0">
                <a:solidFill>
                  <a:srgbClr val="D9D9D9"/>
                </a:solidFill>
                <a:latin typeface="Calibri"/>
                <a:cs typeface="Calibri"/>
              </a:rPr>
              <a:t> </a:t>
            </a:r>
            <a:r>
              <a:rPr sz="2400" b="1" i="1" dirty="0">
                <a:solidFill>
                  <a:srgbClr val="D9D9D9"/>
                </a:solidFill>
                <a:latin typeface="Calibri"/>
                <a:cs typeface="Calibri"/>
              </a:rPr>
              <a:t>is</a:t>
            </a:r>
            <a:r>
              <a:rPr sz="2400" b="1" i="1" spc="-40" dirty="0">
                <a:solidFill>
                  <a:srgbClr val="D9D9D9"/>
                </a:solidFill>
                <a:latin typeface="Calibri"/>
                <a:cs typeface="Calibri"/>
              </a:rPr>
              <a:t> </a:t>
            </a:r>
            <a:r>
              <a:rPr sz="2400" b="1" i="1" spc="-13" dirty="0">
                <a:solidFill>
                  <a:srgbClr val="D9D9D9"/>
                </a:solidFill>
                <a:latin typeface="Calibri"/>
                <a:cs typeface="Calibri"/>
              </a:rPr>
              <a:t>reflected</a:t>
            </a:r>
            <a:endParaRPr sz="2400">
              <a:latin typeface="Calibri"/>
              <a:cs typeface="Calibri"/>
            </a:endParaRPr>
          </a:p>
        </p:txBody>
      </p:sp>
      <p:graphicFrame>
        <p:nvGraphicFramePr>
          <p:cNvPr id="7" name="object 7"/>
          <p:cNvGraphicFramePr>
            <a:graphicFrameLocks noGrp="1"/>
          </p:cNvGraphicFramePr>
          <p:nvPr>
            <p:extLst>
              <p:ext uri="{D42A27DB-BD31-4B8C-83A1-F6EECF244321}">
                <p14:modId xmlns:p14="http://schemas.microsoft.com/office/powerpoint/2010/main" val="2790263414"/>
              </p:ext>
            </p:extLst>
          </p:nvPr>
        </p:nvGraphicFramePr>
        <p:xfrm>
          <a:off x="2456348" y="3495718"/>
          <a:ext cx="5283200" cy="987213"/>
        </p:xfrm>
        <a:graphic>
          <a:graphicData uri="http://schemas.openxmlformats.org/drawingml/2006/table">
            <a:tbl>
              <a:tblPr firstRow="1" bandRow="1">
                <a:tableStyleId>{2D5ABB26-0587-4C30-8999-92F81FD0307C}</a:tableStyleId>
              </a:tblPr>
              <a:tblGrid>
                <a:gridCol w="1320800">
                  <a:extLst>
                    <a:ext uri="{9D8B030D-6E8A-4147-A177-3AD203B41FA5}">
                      <a16:colId xmlns:a16="http://schemas.microsoft.com/office/drawing/2014/main" val="20000"/>
                    </a:ext>
                  </a:extLst>
                </a:gridCol>
                <a:gridCol w="23368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tblGrid>
              <a:tr h="225213">
                <a:tc>
                  <a:txBody>
                    <a:bodyPr/>
                    <a:lstStyle/>
                    <a:p>
                      <a:pPr marL="3175" algn="ctr">
                        <a:lnSpc>
                          <a:spcPct val="100000"/>
                        </a:lnSpc>
                        <a:spcBef>
                          <a:spcPts val="60"/>
                        </a:spcBef>
                      </a:pPr>
                      <a:r>
                        <a:rPr sz="1400" b="1" spc="-10" dirty="0">
                          <a:solidFill>
                            <a:schemeClr val="bg1"/>
                          </a:solidFill>
                          <a:latin typeface="Arial"/>
                          <a:cs typeface="Arial"/>
                        </a:rPr>
                        <a:t>Product_Key</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270" algn="ctr">
                        <a:lnSpc>
                          <a:spcPct val="100000"/>
                        </a:lnSpc>
                        <a:spcBef>
                          <a:spcPts val="60"/>
                        </a:spcBef>
                      </a:pPr>
                      <a:r>
                        <a:rPr sz="1400" b="1" spc="-20" dirty="0">
                          <a:solidFill>
                            <a:schemeClr val="bg1"/>
                          </a:solidFill>
                          <a:latin typeface="Arial"/>
                          <a:cs typeface="Arial"/>
                        </a:rPr>
                        <a:t>Name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5080" algn="ctr">
                        <a:lnSpc>
                          <a:spcPct val="100000"/>
                        </a:lnSpc>
                        <a:spcBef>
                          <a:spcPts val="60"/>
                        </a:spcBef>
                      </a:pPr>
                      <a:r>
                        <a:rPr sz="1400" b="1" spc="-10" dirty="0">
                          <a:solidFill>
                            <a:schemeClr val="bg1"/>
                          </a:solidFill>
                          <a:latin typeface="Arial"/>
                          <a:cs typeface="Arial"/>
                        </a:rPr>
                        <a:t>Category</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dirty="0">
                          <a:latin typeface="Arial MT"/>
                          <a:cs typeface="Arial MT"/>
                        </a:rPr>
                        <a:t>Sunglases</a:t>
                      </a:r>
                      <a:r>
                        <a:rPr sz="1400" spc="-55" dirty="0">
                          <a:latin typeface="Arial MT"/>
                          <a:cs typeface="Arial MT"/>
                        </a:rPr>
                        <a:t> </a:t>
                      </a:r>
                      <a:r>
                        <a:rPr sz="1400" dirty="0">
                          <a:latin typeface="Arial MT"/>
                          <a:cs typeface="Arial MT"/>
                        </a:rPr>
                        <a:t>TR-</a:t>
                      </a:r>
                      <a:r>
                        <a:rPr sz="1400" spc="-50" dirty="0">
                          <a:latin typeface="Arial MT"/>
                          <a:cs typeface="Arial MT"/>
                        </a:rPr>
                        <a:t>7</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10" dirty="0">
                          <a:latin typeface="Arial MT"/>
                          <a:cs typeface="Arial MT"/>
                        </a:rPr>
                        <a:t>Assecoirs</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dirty="0">
                          <a:latin typeface="Arial MT"/>
                          <a:cs typeface="Arial MT"/>
                        </a:rPr>
                        <a:t>Chocolate</a:t>
                      </a:r>
                      <a:r>
                        <a:rPr sz="1400" spc="-25" dirty="0">
                          <a:latin typeface="Arial MT"/>
                          <a:cs typeface="Arial MT"/>
                        </a:rPr>
                        <a:t> </a:t>
                      </a:r>
                      <a:r>
                        <a:rPr sz="1400" dirty="0">
                          <a:latin typeface="Arial MT"/>
                          <a:cs typeface="Arial MT"/>
                        </a:rPr>
                        <a:t>bar</a:t>
                      </a:r>
                      <a:r>
                        <a:rPr sz="1400" spc="-10" dirty="0">
                          <a:latin typeface="Arial MT"/>
                          <a:cs typeface="Arial MT"/>
                        </a:rPr>
                        <a:t> </a:t>
                      </a:r>
                      <a:r>
                        <a:rPr sz="1400" dirty="0">
                          <a:latin typeface="Arial MT"/>
                          <a:cs typeface="Arial MT"/>
                        </a:rPr>
                        <a:t>70%</a:t>
                      </a:r>
                      <a:r>
                        <a:rPr sz="1400" spc="-15" dirty="0">
                          <a:latin typeface="Arial MT"/>
                          <a:cs typeface="Arial MT"/>
                        </a:rPr>
                        <a:t> </a:t>
                      </a:r>
                      <a:r>
                        <a:rPr sz="1400" spc="-10" dirty="0">
                          <a:latin typeface="Arial MT"/>
                          <a:cs typeface="Arial MT"/>
                        </a:rPr>
                        <a:t>cacao</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Sweets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ct val="10000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dirty="0">
                          <a:latin typeface="Arial MT"/>
                          <a:cs typeface="Arial MT"/>
                        </a:rPr>
                        <a:t>Oat</a:t>
                      </a:r>
                      <a:r>
                        <a:rPr sz="1400" spc="-25" dirty="0">
                          <a:latin typeface="Arial MT"/>
                          <a:cs typeface="Arial MT"/>
                        </a:rPr>
                        <a:t> </a:t>
                      </a:r>
                      <a:r>
                        <a:rPr sz="1400" dirty="0">
                          <a:latin typeface="Arial MT"/>
                          <a:cs typeface="Arial MT"/>
                        </a:rPr>
                        <a:t>meal</a:t>
                      </a:r>
                      <a:r>
                        <a:rPr sz="1400" spc="-35" dirty="0">
                          <a:latin typeface="Arial MT"/>
                          <a:cs typeface="Arial MT"/>
                        </a:rPr>
                        <a:t> </a:t>
                      </a:r>
                      <a:r>
                        <a:rPr sz="1400" spc="-10" dirty="0">
                          <a:latin typeface="Arial MT"/>
                          <a:cs typeface="Arial MT"/>
                        </a:rPr>
                        <a:t>biscuits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10" dirty="0">
                          <a:latin typeface="Arial MT"/>
                          <a:cs typeface="Arial MT"/>
                        </a:rPr>
                        <a:t>Sweets</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graphicFrame>
        <p:nvGraphicFramePr>
          <p:cNvPr id="8" name="object 8"/>
          <p:cNvGraphicFramePr>
            <a:graphicFrameLocks noGrp="1"/>
          </p:cNvGraphicFramePr>
          <p:nvPr>
            <p:extLst>
              <p:ext uri="{D42A27DB-BD31-4B8C-83A1-F6EECF244321}">
                <p14:modId xmlns:p14="http://schemas.microsoft.com/office/powerpoint/2010/main" val="2504892556"/>
              </p:ext>
            </p:extLst>
          </p:nvPr>
        </p:nvGraphicFramePr>
        <p:xfrm>
          <a:off x="4665133" y="5188225"/>
          <a:ext cx="5433023" cy="1113182"/>
        </p:xfrm>
        <a:graphic>
          <a:graphicData uri="http://schemas.openxmlformats.org/drawingml/2006/table">
            <a:tbl>
              <a:tblPr firstRow="1" bandRow="1">
                <a:tableStyleId>{2D5ABB26-0587-4C30-8999-92F81FD0307C}</a:tableStyleId>
              </a:tblPr>
              <a:tblGrid>
                <a:gridCol w="1358256">
                  <a:extLst>
                    <a:ext uri="{9D8B030D-6E8A-4147-A177-3AD203B41FA5}">
                      <a16:colId xmlns:a16="http://schemas.microsoft.com/office/drawing/2014/main" val="20000"/>
                    </a:ext>
                  </a:extLst>
                </a:gridCol>
                <a:gridCol w="2403068">
                  <a:extLst>
                    <a:ext uri="{9D8B030D-6E8A-4147-A177-3AD203B41FA5}">
                      <a16:colId xmlns:a16="http://schemas.microsoft.com/office/drawing/2014/main" val="20001"/>
                    </a:ext>
                  </a:extLst>
                </a:gridCol>
                <a:gridCol w="1671699">
                  <a:extLst>
                    <a:ext uri="{9D8B030D-6E8A-4147-A177-3AD203B41FA5}">
                      <a16:colId xmlns:a16="http://schemas.microsoft.com/office/drawing/2014/main" val="20002"/>
                    </a:ext>
                  </a:extLst>
                </a:gridCol>
              </a:tblGrid>
              <a:tr h="228455">
                <a:tc>
                  <a:txBody>
                    <a:bodyPr/>
                    <a:lstStyle/>
                    <a:p>
                      <a:pPr marL="3810" algn="ctr">
                        <a:lnSpc>
                          <a:spcPct val="100000"/>
                        </a:lnSpc>
                        <a:spcBef>
                          <a:spcPts val="65"/>
                        </a:spcBef>
                      </a:pPr>
                      <a:r>
                        <a:rPr sz="1400" b="1" spc="-10" dirty="0">
                          <a:solidFill>
                            <a:schemeClr val="bg1"/>
                          </a:solidFill>
                          <a:latin typeface="Arial"/>
                          <a:cs typeface="Arial"/>
                        </a:rPr>
                        <a:t>Product_Key</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905" algn="ctr">
                        <a:lnSpc>
                          <a:spcPct val="100000"/>
                        </a:lnSpc>
                        <a:spcBef>
                          <a:spcPts val="65"/>
                        </a:spcBef>
                      </a:pPr>
                      <a:r>
                        <a:rPr sz="1400" b="1" spc="-20" dirty="0">
                          <a:solidFill>
                            <a:schemeClr val="bg1"/>
                          </a:solidFill>
                          <a:latin typeface="Arial"/>
                          <a:cs typeface="Arial"/>
                        </a:rPr>
                        <a:t>Name</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5715" algn="ctr">
                        <a:lnSpc>
                          <a:spcPct val="100000"/>
                        </a:lnSpc>
                        <a:spcBef>
                          <a:spcPts val="65"/>
                        </a:spcBef>
                      </a:pPr>
                      <a:r>
                        <a:rPr sz="1400" b="1" spc="-10" dirty="0">
                          <a:solidFill>
                            <a:schemeClr val="bg1"/>
                          </a:solidFill>
                          <a:latin typeface="Arial"/>
                          <a:cs typeface="Arial"/>
                        </a:rPr>
                        <a:t>Category</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94909">
                <a:tc>
                  <a:txBody>
                    <a:bodyPr/>
                    <a:lstStyle/>
                    <a:p>
                      <a:pPr marL="635" algn="ctr">
                        <a:lnSpc>
                          <a:spcPct val="100000"/>
                        </a:lnSpc>
                        <a:spcBef>
                          <a:spcPts val="229"/>
                        </a:spcBef>
                      </a:pPr>
                      <a:r>
                        <a:rPr sz="1400" spc="-50" dirty="0">
                          <a:latin typeface="Arial MT"/>
                          <a:cs typeface="Arial MT"/>
                        </a:rPr>
                        <a:t>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dirty="0">
                          <a:latin typeface="Arial MT"/>
                          <a:cs typeface="Arial MT"/>
                        </a:rPr>
                        <a:t>Sunglases</a:t>
                      </a:r>
                      <a:r>
                        <a:rPr sz="1400" spc="-55" dirty="0">
                          <a:latin typeface="Arial MT"/>
                          <a:cs typeface="Arial MT"/>
                        </a:rPr>
                        <a:t> </a:t>
                      </a:r>
                      <a:r>
                        <a:rPr sz="1400" dirty="0">
                          <a:latin typeface="Arial MT"/>
                          <a:cs typeface="Arial MT"/>
                        </a:rPr>
                        <a:t>TR-</a:t>
                      </a:r>
                      <a:r>
                        <a:rPr sz="1400" spc="-50" dirty="0">
                          <a:latin typeface="Arial MT"/>
                          <a:cs typeface="Arial MT"/>
                        </a:rPr>
                        <a:t>7</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9"/>
                        </a:spcBef>
                      </a:pPr>
                      <a:r>
                        <a:rPr sz="1400" spc="-10" dirty="0">
                          <a:latin typeface="Arial MT"/>
                          <a:cs typeface="Arial MT"/>
                        </a:rPr>
                        <a:t>Assecoirs</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94909">
                <a:tc>
                  <a:txBody>
                    <a:bodyPr/>
                    <a:lstStyle/>
                    <a:p>
                      <a:pPr marL="635" algn="ctr">
                        <a:lnSpc>
                          <a:spcPct val="100000"/>
                        </a:lnSpc>
                        <a:spcBef>
                          <a:spcPts val="229"/>
                        </a:spcBef>
                      </a:pPr>
                      <a:r>
                        <a:rPr sz="1400" spc="-50" dirty="0">
                          <a:latin typeface="Arial MT"/>
                          <a:cs typeface="Arial MT"/>
                        </a:rPr>
                        <a:t>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10" dirty="0">
                          <a:latin typeface="Arial MT"/>
                          <a:cs typeface="Arial MT"/>
                        </a:rPr>
                        <a:t>Chocolate </a:t>
                      </a:r>
                      <a:r>
                        <a:rPr sz="1400" dirty="0">
                          <a:latin typeface="Arial MT"/>
                          <a:cs typeface="Arial MT"/>
                        </a:rPr>
                        <a:t>bar 70%</a:t>
                      </a:r>
                      <a:r>
                        <a:rPr sz="1400" spc="5" dirty="0">
                          <a:latin typeface="Arial MT"/>
                          <a:cs typeface="Arial MT"/>
                        </a:rPr>
                        <a:t> </a:t>
                      </a:r>
                      <a:r>
                        <a:rPr sz="1400" spc="-10" dirty="0">
                          <a:latin typeface="Arial MT"/>
                          <a:cs typeface="Arial MT"/>
                        </a:rPr>
                        <a:t>cacao</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10" dirty="0">
                          <a:latin typeface="Arial MT"/>
                          <a:cs typeface="Arial MT"/>
                        </a:rPr>
                        <a:t>Sweets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94909">
                <a:tc>
                  <a:txBody>
                    <a:bodyPr/>
                    <a:lstStyle/>
                    <a:p>
                      <a:pPr marL="635" algn="ctr">
                        <a:lnSpc>
                          <a:spcPct val="10000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i="1" dirty="0">
                          <a:solidFill>
                            <a:srgbClr val="008BBE"/>
                          </a:solidFill>
                          <a:latin typeface="Arial"/>
                          <a:cs typeface="Arial"/>
                        </a:rPr>
                        <a:t>Delicious</a:t>
                      </a:r>
                      <a:r>
                        <a:rPr sz="1400" i="1" spc="-45" dirty="0">
                          <a:solidFill>
                            <a:srgbClr val="008BBE"/>
                          </a:solidFill>
                          <a:latin typeface="Arial"/>
                          <a:cs typeface="Arial"/>
                        </a:rPr>
                        <a:t> </a:t>
                      </a:r>
                      <a:r>
                        <a:rPr sz="1400" dirty="0">
                          <a:latin typeface="Arial MT"/>
                          <a:cs typeface="Arial MT"/>
                        </a:rPr>
                        <a:t>Oat</a:t>
                      </a:r>
                      <a:r>
                        <a:rPr sz="1400" spc="-25" dirty="0">
                          <a:latin typeface="Arial MT"/>
                          <a:cs typeface="Arial MT"/>
                        </a:rPr>
                        <a:t> </a:t>
                      </a:r>
                      <a:r>
                        <a:rPr sz="1400" dirty="0">
                          <a:latin typeface="Arial MT"/>
                          <a:cs typeface="Arial MT"/>
                        </a:rPr>
                        <a:t>meal</a:t>
                      </a:r>
                      <a:r>
                        <a:rPr sz="1400" spc="-40" dirty="0">
                          <a:latin typeface="Arial MT"/>
                          <a:cs typeface="Arial MT"/>
                        </a:rPr>
                        <a:t> </a:t>
                      </a:r>
                      <a:r>
                        <a:rPr sz="1400" spc="-10" dirty="0">
                          <a:latin typeface="Arial MT"/>
                          <a:cs typeface="Arial MT"/>
                        </a:rPr>
                        <a:t>biscuits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i="1" spc="-10" dirty="0">
                          <a:solidFill>
                            <a:srgbClr val="008BBE"/>
                          </a:solidFill>
                          <a:latin typeface="Arial"/>
                          <a:cs typeface="Arial"/>
                        </a:rPr>
                        <a:t>Buscuits</a:t>
                      </a:r>
                      <a:endParaRPr sz="1400" dirty="0">
                        <a:latin typeface="Arial"/>
                        <a:cs typeface="Arial"/>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sp>
        <p:nvSpPr>
          <p:cNvPr id="9" name="object 9"/>
          <p:cNvSpPr txBox="1"/>
          <p:nvPr/>
        </p:nvSpPr>
        <p:spPr>
          <a:xfrm>
            <a:off x="6789929" y="4561941"/>
            <a:ext cx="844127" cy="305276"/>
          </a:xfrm>
          <a:prstGeom prst="rect">
            <a:avLst/>
          </a:prstGeom>
        </p:spPr>
        <p:txBody>
          <a:bodyPr vert="horz" wrap="square" lIns="0" tIns="17780" rIns="0" bIns="0" rtlCol="0">
            <a:spAutoFit/>
          </a:bodyPr>
          <a:lstStyle/>
          <a:p>
            <a:pPr marL="16933">
              <a:spcBef>
                <a:spcPts val="140"/>
              </a:spcBef>
            </a:pPr>
            <a:r>
              <a:rPr sz="1867" b="1" i="1" spc="-13" dirty="0">
                <a:solidFill>
                  <a:srgbClr val="D9D9D9"/>
                </a:solidFill>
                <a:latin typeface="Calibri"/>
                <a:cs typeface="Calibri"/>
              </a:rPr>
              <a:t>UPDATE</a:t>
            </a:r>
            <a:endParaRPr sz="1867">
              <a:latin typeface="Calibri"/>
              <a:cs typeface="Calibri"/>
            </a:endParaRPr>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576654" y="4416045"/>
            <a:ext cx="1052407" cy="720513"/>
            <a:chOff x="4182490" y="3312033"/>
            <a:chExt cx="789305" cy="540385"/>
          </a:xfrm>
        </p:grpSpPr>
        <p:sp>
          <p:nvSpPr>
            <p:cNvPr id="3" name="object 3"/>
            <p:cNvSpPr/>
            <p:nvPr/>
          </p:nvSpPr>
          <p:spPr>
            <a:xfrm>
              <a:off x="4195190" y="3324733"/>
              <a:ext cx="763905" cy="514984"/>
            </a:xfrm>
            <a:custGeom>
              <a:avLst/>
              <a:gdLst/>
              <a:ahLst/>
              <a:cxnLst/>
              <a:rect l="l" t="t" r="r" b="b"/>
              <a:pathLst>
                <a:path w="763904" h="514985">
                  <a:moveTo>
                    <a:pt x="74295" y="0"/>
                  </a:moveTo>
                  <a:lnTo>
                    <a:pt x="0" y="145796"/>
                  </a:lnTo>
                  <a:lnTo>
                    <a:pt x="580644" y="441579"/>
                  </a:lnTo>
                  <a:lnTo>
                    <a:pt x="543560" y="514477"/>
                  </a:lnTo>
                  <a:lnTo>
                    <a:pt x="763524" y="442976"/>
                  </a:lnTo>
                  <a:lnTo>
                    <a:pt x="692023" y="222885"/>
                  </a:lnTo>
                  <a:lnTo>
                    <a:pt x="654938" y="295783"/>
                  </a:lnTo>
                  <a:lnTo>
                    <a:pt x="74295" y="0"/>
                  </a:lnTo>
                  <a:close/>
                </a:path>
              </a:pathLst>
            </a:custGeom>
            <a:solidFill>
              <a:srgbClr val="00C3FF"/>
            </a:solidFill>
          </p:spPr>
          <p:txBody>
            <a:bodyPr wrap="square" lIns="0" tIns="0" rIns="0" bIns="0" rtlCol="0"/>
            <a:lstStyle/>
            <a:p>
              <a:endParaRPr sz="2400"/>
            </a:p>
          </p:txBody>
        </p:sp>
        <p:sp>
          <p:nvSpPr>
            <p:cNvPr id="4" name="object 4"/>
            <p:cNvSpPr/>
            <p:nvPr/>
          </p:nvSpPr>
          <p:spPr>
            <a:xfrm>
              <a:off x="4195190" y="3324733"/>
              <a:ext cx="763905" cy="514984"/>
            </a:xfrm>
            <a:custGeom>
              <a:avLst/>
              <a:gdLst/>
              <a:ahLst/>
              <a:cxnLst/>
              <a:rect l="l" t="t" r="r" b="b"/>
              <a:pathLst>
                <a:path w="763904" h="514985">
                  <a:moveTo>
                    <a:pt x="74295" y="0"/>
                  </a:moveTo>
                  <a:lnTo>
                    <a:pt x="654938" y="295783"/>
                  </a:lnTo>
                  <a:lnTo>
                    <a:pt x="692023" y="222885"/>
                  </a:lnTo>
                  <a:lnTo>
                    <a:pt x="763524" y="442976"/>
                  </a:lnTo>
                  <a:lnTo>
                    <a:pt x="543560" y="514477"/>
                  </a:lnTo>
                  <a:lnTo>
                    <a:pt x="580644" y="441579"/>
                  </a:lnTo>
                  <a:lnTo>
                    <a:pt x="0" y="145796"/>
                  </a:lnTo>
                  <a:lnTo>
                    <a:pt x="74295" y="0"/>
                  </a:lnTo>
                  <a:close/>
                </a:path>
              </a:pathLst>
            </a:custGeom>
            <a:ln w="25400">
              <a:solidFill>
                <a:srgbClr val="008FBB"/>
              </a:solidFill>
            </a:ln>
          </p:spPr>
          <p:txBody>
            <a:bodyPr wrap="square" lIns="0" tIns="0" rIns="0" bIns="0" rtlCol="0"/>
            <a:lstStyle/>
            <a:p>
              <a:endParaRPr sz="2400"/>
            </a:p>
          </p:txBody>
        </p:sp>
      </p:grpSp>
      <p:sp>
        <p:nvSpPr>
          <p:cNvPr id="6" name="object 6"/>
          <p:cNvSpPr txBox="1"/>
          <p:nvPr/>
        </p:nvSpPr>
        <p:spPr>
          <a:xfrm>
            <a:off x="2950126" y="1922440"/>
            <a:ext cx="4822613" cy="117639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i="1" dirty="0">
                <a:solidFill>
                  <a:srgbClr val="D9D9D9"/>
                </a:solidFill>
                <a:latin typeface="Calibri"/>
                <a:cs typeface="Calibri"/>
              </a:rPr>
              <a:t>Very</a:t>
            </a:r>
            <a:r>
              <a:rPr sz="2400" b="1" i="1" spc="-47" dirty="0">
                <a:solidFill>
                  <a:srgbClr val="D9D9D9"/>
                </a:solidFill>
                <a:latin typeface="Calibri"/>
                <a:cs typeface="Calibri"/>
              </a:rPr>
              <a:t> </a:t>
            </a:r>
            <a:r>
              <a:rPr sz="2400" b="1" i="1" spc="-13" dirty="0">
                <a:solidFill>
                  <a:srgbClr val="D9D9D9"/>
                </a:solidFill>
                <a:latin typeface="Calibri"/>
                <a:cs typeface="Calibri"/>
              </a:rPr>
              <a:t>simple</a:t>
            </a:r>
            <a:endParaRPr sz="2400">
              <a:latin typeface="Calibri"/>
              <a:cs typeface="Calibri"/>
            </a:endParaRPr>
          </a:p>
          <a:p>
            <a:pPr>
              <a:spcBef>
                <a:spcPts val="353"/>
              </a:spcBef>
              <a:buClr>
                <a:srgbClr val="99D3FF"/>
              </a:buClr>
              <a:buFont typeface="Wingdings"/>
              <a:buChar char=""/>
            </a:pPr>
            <a:endParaRPr sz="2400">
              <a:latin typeface="Calibri"/>
              <a:cs typeface="Calibri"/>
            </a:endParaRPr>
          </a:p>
          <a:p>
            <a:pPr marL="397923" indent="-380990">
              <a:buClr>
                <a:srgbClr val="99D3FF"/>
              </a:buClr>
              <a:buFont typeface="Wingdings"/>
              <a:buChar char=""/>
              <a:tabLst>
                <a:tab pos="397923" algn="l"/>
              </a:tabLst>
            </a:pPr>
            <a:r>
              <a:rPr sz="2400" b="1" i="1" dirty="0">
                <a:solidFill>
                  <a:srgbClr val="D9D9D9"/>
                </a:solidFill>
                <a:latin typeface="Calibri"/>
                <a:cs typeface="Calibri"/>
              </a:rPr>
              <a:t>No</a:t>
            </a:r>
            <a:r>
              <a:rPr sz="2400" b="1" i="1" spc="-33" dirty="0">
                <a:solidFill>
                  <a:srgbClr val="D9D9D9"/>
                </a:solidFill>
                <a:latin typeface="Calibri"/>
                <a:cs typeface="Calibri"/>
              </a:rPr>
              <a:t> </a:t>
            </a:r>
            <a:r>
              <a:rPr sz="2400" b="1" i="1" dirty="0">
                <a:solidFill>
                  <a:srgbClr val="D9D9D9"/>
                </a:solidFill>
                <a:latin typeface="Calibri"/>
                <a:cs typeface="Calibri"/>
              </a:rPr>
              <a:t>Fact</a:t>
            </a:r>
            <a:r>
              <a:rPr sz="2400" b="1" i="1" spc="-33" dirty="0">
                <a:solidFill>
                  <a:srgbClr val="D9D9D9"/>
                </a:solidFill>
                <a:latin typeface="Calibri"/>
                <a:cs typeface="Calibri"/>
              </a:rPr>
              <a:t> </a:t>
            </a:r>
            <a:r>
              <a:rPr sz="2400" b="1" i="1" dirty="0">
                <a:solidFill>
                  <a:srgbClr val="D9D9D9"/>
                </a:solidFill>
                <a:latin typeface="Calibri"/>
                <a:cs typeface="Calibri"/>
              </a:rPr>
              <a:t>table</a:t>
            </a:r>
            <a:r>
              <a:rPr sz="2400" b="1" i="1" spc="-20" dirty="0">
                <a:solidFill>
                  <a:srgbClr val="D9D9D9"/>
                </a:solidFill>
                <a:latin typeface="Calibri"/>
                <a:cs typeface="Calibri"/>
              </a:rPr>
              <a:t> </a:t>
            </a:r>
            <a:r>
              <a:rPr sz="2400" b="1" i="1" dirty="0">
                <a:solidFill>
                  <a:srgbClr val="D9D9D9"/>
                </a:solidFill>
                <a:latin typeface="Calibri"/>
                <a:cs typeface="Calibri"/>
              </a:rPr>
              <a:t>needs</a:t>
            </a:r>
            <a:r>
              <a:rPr sz="2400" b="1" i="1" spc="-27" dirty="0">
                <a:solidFill>
                  <a:srgbClr val="D9D9D9"/>
                </a:solidFill>
                <a:latin typeface="Calibri"/>
                <a:cs typeface="Calibri"/>
              </a:rPr>
              <a:t> </a:t>
            </a:r>
            <a:r>
              <a:rPr sz="2400" b="1" i="1" dirty="0">
                <a:solidFill>
                  <a:srgbClr val="D9D9D9"/>
                </a:solidFill>
                <a:latin typeface="Calibri"/>
                <a:cs typeface="Calibri"/>
              </a:rPr>
              <a:t>to</a:t>
            </a:r>
            <a:r>
              <a:rPr sz="2400" b="1" i="1" spc="-33" dirty="0">
                <a:solidFill>
                  <a:srgbClr val="D9D9D9"/>
                </a:solidFill>
                <a:latin typeface="Calibri"/>
                <a:cs typeface="Calibri"/>
              </a:rPr>
              <a:t> </a:t>
            </a:r>
            <a:r>
              <a:rPr sz="2400" b="1" i="1" dirty="0">
                <a:solidFill>
                  <a:srgbClr val="D9D9D9"/>
                </a:solidFill>
                <a:latin typeface="Calibri"/>
                <a:cs typeface="Calibri"/>
              </a:rPr>
              <a:t>be</a:t>
            </a:r>
            <a:r>
              <a:rPr sz="2400" b="1" i="1" spc="-20" dirty="0">
                <a:solidFill>
                  <a:srgbClr val="D9D9D9"/>
                </a:solidFill>
                <a:latin typeface="Calibri"/>
                <a:cs typeface="Calibri"/>
              </a:rPr>
              <a:t> </a:t>
            </a:r>
            <a:r>
              <a:rPr sz="2400" b="1" i="1" spc="-13" dirty="0">
                <a:solidFill>
                  <a:srgbClr val="D9D9D9"/>
                </a:solidFill>
                <a:latin typeface="Calibri"/>
                <a:cs typeface="Calibri"/>
              </a:rPr>
              <a:t>modified</a:t>
            </a:r>
            <a:endParaRPr sz="2400">
              <a:latin typeface="Calibri"/>
              <a:cs typeface="Calibri"/>
            </a:endParaRPr>
          </a:p>
        </p:txBody>
      </p:sp>
      <p:graphicFrame>
        <p:nvGraphicFramePr>
          <p:cNvPr id="7" name="object 7"/>
          <p:cNvGraphicFramePr>
            <a:graphicFrameLocks noGrp="1"/>
          </p:cNvGraphicFramePr>
          <p:nvPr>
            <p:extLst>
              <p:ext uri="{D42A27DB-BD31-4B8C-83A1-F6EECF244321}">
                <p14:modId xmlns:p14="http://schemas.microsoft.com/office/powerpoint/2010/main" val="1592049033"/>
              </p:ext>
            </p:extLst>
          </p:nvPr>
        </p:nvGraphicFramePr>
        <p:xfrm>
          <a:off x="2456348" y="3495718"/>
          <a:ext cx="5283200" cy="987213"/>
        </p:xfrm>
        <a:graphic>
          <a:graphicData uri="http://schemas.openxmlformats.org/drawingml/2006/table">
            <a:tbl>
              <a:tblPr firstRow="1" bandRow="1">
                <a:tableStyleId>{2D5ABB26-0587-4C30-8999-92F81FD0307C}</a:tableStyleId>
              </a:tblPr>
              <a:tblGrid>
                <a:gridCol w="1320800">
                  <a:extLst>
                    <a:ext uri="{9D8B030D-6E8A-4147-A177-3AD203B41FA5}">
                      <a16:colId xmlns:a16="http://schemas.microsoft.com/office/drawing/2014/main" val="20000"/>
                    </a:ext>
                  </a:extLst>
                </a:gridCol>
                <a:gridCol w="23368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tblGrid>
              <a:tr h="225213">
                <a:tc>
                  <a:txBody>
                    <a:bodyPr/>
                    <a:lstStyle/>
                    <a:p>
                      <a:pPr marL="3175" algn="ctr">
                        <a:lnSpc>
                          <a:spcPct val="100000"/>
                        </a:lnSpc>
                        <a:spcBef>
                          <a:spcPts val="60"/>
                        </a:spcBef>
                      </a:pPr>
                      <a:r>
                        <a:rPr sz="1400" b="1" spc="-10" dirty="0">
                          <a:solidFill>
                            <a:schemeClr val="bg1"/>
                          </a:solidFill>
                          <a:latin typeface="Arial"/>
                          <a:cs typeface="Arial"/>
                        </a:rPr>
                        <a:t>Product_Key</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270" algn="ctr">
                        <a:lnSpc>
                          <a:spcPct val="100000"/>
                        </a:lnSpc>
                        <a:spcBef>
                          <a:spcPts val="60"/>
                        </a:spcBef>
                      </a:pPr>
                      <a:r>
                        <a:rPr sz="1400" b="1" spc="-20" dirty="0">
                          <a:solidFill>
                            <a:schemeClr val="bg1"/>
                          </a:solidFill>
                          <a:latin typeface="Arial"/>
                          <a:cs typeface="Arial"/>
                        </a:rPr>
                        <a:t>Name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5080" algn="ctr">
                        <a:lnSpc>
                          <a:spcPct val="100000"/>
                        </a:lnSpc>
                        <a:spcBef>
                          <a:spcPts val="60"/>
                        </a:spcBef>
                      </a:pPr>
                      <a:r>
                        <a:rPr sz="1400" b="1" spc="-10" dirty="0">
                          <a:solidFill>
                            <a:schemeClr val="bg1"/>
                          </a:solidFill>
                          <a:latin typeface="Arial"/>
                          <a:cs typeface="Arial"/>
                        </a:rPr>
                        <a:t>Category</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dirty="0">
                          <a:latin typeface="Arial MT"/>
                          <a:cs typeface="Arial MT"/>
                        </a:rPr>
                        <a:t>Sunglases</a:t>
                      </a:r>
                      <a:r>
                        <a:rPr sz="1400" spc="-55" dirty="0">
                          <a:latin typeface="Arial MT"/>
                          <a:cs typeface="Arial MT"/>
                        </a:rPr>
                        <a:t> </a:t>
                      </a:r>
                      <a:r>
                        <a:rPr sz="1400" dirty="0">
                          <a:latin typeface="Arial MT"/>
                          <a:cs typeface="Arial MT"/>
                        </a:rPr>
                        <a:t>TR-</a:t>
                      </a:r>
                      <a:r>
                        <a:rPr sz="1400" spc="-50" dirty="0">
                          <a:latin typeface="Arial MT"/>
                          <a:cs typeface="Arial MT"/>
                        </a:rPr>
                        <a:t>7</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10" dirty="0">
                          <a:latin typeface="Arial MT"/>
                          <a:cs typeface="Arial MT"/>
                        </a:rPr>
                        <a:t>Assecoirs</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dirty="0">
                          <a:latin typeface="Arial MT"/>
                          <a:cs typeface="Arial MT"/>
                        </a:rPr>
                        <a:t>Chocolate</a:t>
                      </a:r>
                      <a:r>
                        <a:rPr sz="1400" spc="-25" dirty="0">
                          <a:latin typeface="Arial MT"/>
                          <a:cs typeface="Arial MT"/>
                        </a:rPr>
                        <a:t> </a:t>
                      </a:r>
                      <a:r>
                        <a:rPr sz="1400" dirty="0">
                          <a:latin typeface="Arial MT"/>
                          <a:cs typeface="Arial MT"/>
                        </a:rPr>
                        <a:t>bar</a:t>
                      </a:r>
                      <a:r>
                        <a:rPr sz="1400" spc="-10" dirty="0">
                          <a:latin typeface="Arial MT"/>
                          <a:cs typeface="Arial MT"/>
                        </a:rPr>
                        <a:t> </a:t>
                      </a:r>
                      <a:r>
                        <a:rPr sz="1400" dirty="0">
                          <a:latin typeface="Arial MT"/>
                          <a:cs typeface="Arial MT"/>
                        </a:rPr>
                        <a:t>70%</a:t>
                      </a:r>
                      <a:r>
                        <a:rPr sz="1400" spc="-15" dirty="0">
                          <a:latin typeface="Arial MT"/>
                          <a:cs typeface="Arial MT"/>
                        </a:rPr>
                        <a:t> </a:t>
                      </a:r>
                      <a:r>
                        <a:rPr sz="1400" spc="-10" dirty="0">
                          <a:latin typeface="Arial MT"/>
                          <a:cs typeface="Arial MT"/>
                        </a:rPr>
                        <a:t>cacao</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Sweets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ct val="10000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dirty="0">
                          <a:latin typeface="Arial MT"/>
                          <a:cs typeface="Arial MT"/>
                        </a:rPr>
                        <a:t>Oat</a:t>
                      </a:r>
                      <a:r>
                        <a:rPr sz="1400" spc="-25" dirty="0">
                          <a:latin typeface="Arial MT"/>
                          <a:cs typeface="Arial MT"/>
                        </a:rPr>
                        <a:t> </a:t>
                      </a:r>
                      <a:r>
                        <a:rPr sz="1400" dirty="0">
                          <a:latin typeface="Arial MT"/>
                          <a:cs typeface="Arial MT"/>
                        </a:rPr>
                        <a:t>meal</a:t>
                      </a:r>
                      <a:r>
                        <a:rPr sz="1400" spc="-35" dirty="0">
                          <a:latin typeface="Arial MT"/>
                          <a:cs typeface="Arial MT"/>
                        </a:rPr>
                        <a:t> </a:t>
                      </a:r>
                      <a:r>
                        <a:rPr sz="1400" spc="-10" dirty="0">
                          <a:latin typeface="Arial MT"/>
                          <a:cs typeface="Arial MT"/>
                        </a:rPr>
                        <a:t>biscuits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10" dirty="0">
                          <a:latin typeface="Arial MT"/>
                          <a:cs typeface="Arial MT"/>
                        </a:rPr>
                        <a:t>Sweets</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graphicFrame>
        <p:nvGraphicFramePr>
          <p:cNvPr id="8" name="object 8"/>
          <p:cNvGraphicFramePr>
            <a:graphicFrameLocks noGrp="1"/>
          </p:cNvGraphicFramePr>
          <p:nvPr>
            <p:extLst>
              <p:ext uri="{D42A27DB-BD31-4B8C-83A1-F6EECF244321}">
                <p14:modId xmlns:p14="http://schemas.microsoft.com/office/powerpoint/2010/main" val="3203628298"/>
              </p:ext>
            </p:extLst>
          </p:nvPr>
        </p:nvGraphicFramePr>
        <p:xfrm>
          <a:off x="4665134" y="5096087"/>
          <a:ext cx="5283200" cy="988060"/>
        </p:xfrm>
        <a:graphic>
          <a:graphicData uri="http://schemas.openxmlformats.org/drawingml/2006/table">
            <a:tbl>
              <a:tblPr firstRow="1" bandRow="1">
                <a:tableStyleId>{2D5ABB26-0587-4C30-8999-92F81FD0307C}</a:tableStyleId>
              </a:tblPr>
              <a:tblGrid>
                <a:gridCol w="1320800">
                  <a:extLst>
                    <a:ext uri="{9D8B030D-6E8A-4147-A177-3AD203B41FA5}">
                      <a16:colId xmlns:a16="http://schemas.microsoft.com/office/drawing/2014/main" val="20000"/>
                    </a:ext>
                  </a:extLst>
                </a:gridCol>
                <a:gridCol w="23368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tblGrid>
              <a:tr h="226060">
                <a:tc>
                  <a:txBody>
                    <a:bodyPr/>
                    <a:lstStyle/>
                    <a:p>
                      <a:pPr marL="3810" algn="ctr">
                        <a:lnSpc>
                          <a:spcPct val="100000"/>
                        </a:lnSpc>
                        <a:spcBef>
                          <a:spcPts val="65"/>
                        </a:spcBef>
                      </a:pPr>
                      <a:r>
                        <a:rPr sz="1400" b="1" spc="-10" dirty="0">
                          <a:solidFill>
                            <a:schemeClr val="bg1"/>
                          </a:solidFill>
                          <a:latin typeface="Arial"/>
                          <a:cs typeface="Arial"/>
                        </a:rPr>
                        <a:t>Product_Key</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905" algn="ctr">
                        <a:lnSpc>
                          <a:spcPct val="100000"/>
                        </a:lnSpc>
                        <a:spcBef>
                          <a:spcPts val="65"/>
                        </a:spcBef>
                      </a:pPr>
                      <a:r>
                        <a:rPr sz="1400" b="1" spc="-20" dirty="0">
                          <a:solidFill>
                            <a:schemeClr val="bg1"/>
                          </a:solidFill>
                          <a:latin typeface="Arial"/>
                          <a:cs typeface="Arial"/>
                        </a:rPr>
                        <a:t>Name</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5715" algn="ctr">
                        <a:lnSpc>
                          <a:spcPct val="100000"/>
                        </a:lnSpc>
                        <a:spcBef>
                          <a:spcPts val="65"/>
                        </a:spcBef>
                      </a:pPr>
                      <a:r>
                        <a:rPr sz="1400" b="1" spc="-10" dirty="0">
                          <a:solidFill>
                            <a:schemeClr val="bg1"/>
                          </a:solidFill>
                          <a:latin typeface="Arial"/>
                          <a:cs typeface="Arial"/>
                        </a:rPr>
                        <a:t>Category</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marL="635" algn="ctr">
                        <a:lnSpc>
                          <a:spcPct val="100000"/>
                        </a:lnSpc>
                        <a:spcBef>
                          <a:spcPts val="229"/>
                        </a:spcBef>
                      </a:pPr>
                      <a:r>
                        <a:rPr sz="1400" spc="-50" dirty="0">
                          <a:latin typeface="Arial MT"/>
                          <a:cs typeface="Arial MT"/>
                        </a:rPr>
                        <a:t>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dirty="0">
                          <a:latin typeface="Arial MT"/>
                          <a:cs typeface="Arial MT"/>
                        </a:rPr>
                        <a:t>Sunglases</a:t>
                      </a:r>
                      <a:r>
                        <a:rPr sz="1400" spc="-55" dirty="0">
                          <a:latin typeface="Arial MT"/>
                          <a:cs typeface="Arial MT"/>
                        </a:rPr>
                        <a:t> </a:t>
                      </a:r>
                      <a:r>
                        <a:rPr sz="1400" dirty="0">
                          <a:latin typeface="Arial MT"/>
                          <a:cs typeface="Arial MT"/>
                        </a:rPr>
                        <a:t>TR-</a:t>
                      </a:r>
                      <a:r>
                        <a:rPr sz="1400" spc="-50" dirty="0">
                          <a:latin typeface="Arial MT"/>
                          <a:cs typeface="Arial MT"/>
                        </a:rPr>
                        <a:t>7</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9"/>
                        </a:spcBef>
                      </a:pPr>
                      <a:r>
                        <a:rPr sz="1400" spc="-10" dirty="0">
                          <a:latin typeface="Arial MT"/>
                          <a:cs typeface="Arial MT"/>
                        </a:rPr>
                        <a:t>Assecoirs</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marL="635" algn="ctr">
                        <a:lnSpc>
                          <a:spcPct val="100000"/>
                        </a:lnSpc>
                        <a:spcBef>
                          <a:spcPts val="229"/>
                        </a:spcBef>
                      </a:pPr>
                      <a:r>
                        <a:rPr sz="1400" spc="-50" dirty="0">
                          <a:latin typeface="Arial MT"/>
                          <a:cs typeface="Arial MT"/>
                        </a:rPr>
                        <a:t>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10" dirty="0">
                          <a:latin typeface="Arial MT"/>
                          <a:cs typeface="Arial MT"/>
                        </a:rPr>
                        <a:t>Chocolate </a:t>
                      </a:r>
                      <a:r>
                        <a:rPr sz="1400" dirty="0">
                          <a:latin typeface="Arial MT"/>
                          <a:cs typeface="Arial MT"/>
                        </a:rPr>
                        <a:t>bar 70%</a:t>
                      </a:r>
                      <a:r>
                        <a:rPr sz="1400" spc="5" dirty="0">
                          <a:latin typeface="Arial MT"/>
                          <a:cs typeface="Arial MT"/>
                        </a:rPr>
                        <a:t> </a:t>
                      </a:r>
                      <a:r>
                        <a:rPr sz="1400" spc="-10" dirty="0">
                          <a:latin typeface="Arial MT"/>
                          <a:cs typeface="Arial MT"/>
                        </a:rPr>
                        <a:t>cacao</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10" dirty="0">
                          <a:latin typeface="Arial MT"/>
                          <a:cs typeface="Arial MT"/>
                        </a:rPr>
                        <a:t>Sweets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marL="635" algn="ctr">
                        <a:lnSpc>
                          <a:spcPct val="10000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i="1" dirty="0">
                          <a:solidFill>
                            <a:srgbClr val="008BBE"/>
                          </a:solidFill>
                          <a:latin typeface="Arial"/>
                          <a:cs typeface="Arial"/>
                        </a:rPr>
                        <a:t>Delicious</a:t>
                      </a:r>
                      <a:r>
                        <a:rPr sz="1400" i="1" spc="-45" dirty="0">
                          <a:solidFill>
                            <a:srgbClr val="008BBE"/>
                          </a:solidFill>
                          <a:latin typeface="Arial"/>
                          <a:cs typeface="Arial"/>
                        </a:rPr>
                        <a:t> </a:t>
                      </a:r>
                      <a:r>
                        <a:rPr sz="1400" dirty="0">
                          <a:latin typeface="Arial MT"/>
                          <a:cs typeface="Arial MT"/>
                        </a:rPr>
                        <a:t>Oat</a:t>
                      </a:r>
                      <a:r>
                        <a:rPr sz="1400" spc="-25" dirty="0">
                          <a:latin typeface="Arial MT"/>
                          <a:cs typeface="Arial MT"/>
                        </a:rPr>
                        <a:t> </a:t>
                      </a:r>
                      <a:r>
                        <a:rPr sz="1400" dirty="0">
                          <a:latin typeface="Arial MT"/>
                          <a:cs typeface="Arial MT"/>
                        </a:rPr>
                        <a:t>meal</a:t>
                      </a:r>
                      <a:r>
                        <a:rPr sz="1400" spc="-40" dirty="0">
                          <a:latin typeface="Arial MT"/>
                          <a:cs typeface="Arial MT"/>
                        </a:rPr>
                        <a:t> </a:t>
                      </a:r>
                      <a:r>
                        <a:rPr sz="1400" spc="-10" dirty="0">
                          <a:latin typeface="Arial MT"/>
                          <a:cs typeface="Arial MT"/>
                        </a:rPr>
                        <a:t>biscuits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i="1" spc="-10" dirty="0">
                          <a:solidFill>
                            <a:srgbClr val="008BBE"/>
                          </a:solidFill>
                          <a:latin typeface="Arial"/>
                          <a:cs typeface="Arial"/>
                        </a:rPr>
                        <a:t>Buscuits</a:t>
                      </a:r>
                      <a:endParaRPr sz="1400" dirty="0">
                        <a:latin typeface="Arial"/>
                        <a:cs typeface="Arial"/>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sp>
        <p:nvSpPr>
          <p:cNvPr id="9" name="object 9"/>
          <p:cNvSpPr txBox="1"/>
          <p:nvPr/>
        </p:nvSpPr>
        <p:spPr>
          <a:xfrm>
            <a:off x="6789929" y="4561941"/>
            <a:ext cx="844127" cy="305276"/>
          </a:xfrm>
          <a:prstGeom prst="rect">
            <a:avLst/>
          </a:prstGeom>
        </p:spPr>
        <p:txBody>
          <a:bodyPr vert="horz" wrap="square" lIns="0" tIns="17780" rIns="0" bIns="0" rtlCol="0">
            <a:spAutoFit/>
          </a:bodyPr>
          <a:lstStyle/>
          <a:p>
            <a:pPr marL="16933">
              <a:spcBef>
                <a:spcPts val="140"/>
              </a:spcBef>
            </a:pPr>
            <a:r>
              <a:rPr sz="1867" b="1" i="1" spc="-13" dirty="0">
                <a:solidFill>
                  <a:srgbClr val="D9D9D9"/>
                </a:solidFill>
                <a:latin typeface="Calibri"/>
                <a:cs typeface="Calibri"/>
              </a:rPr>
              <a:t>UPDATE</a:t>
            </a:r>
            <a:endParaRPr sz="1867">
              <a:latin typeface="Calibri"/>
              <a:cs typeface="Calibri"/>
            </a:endParaRPr>
          </a:p>
        </p:txBody>
      </p:sp>
      <p:sp>
        <p:nvSpPr>
          <p:cNvPr id="12" name="object 5">
            <a:extLst>
              <a:ext uri="{FF2B5EF4-FFF2-40B4-BE49-F238E27FC236}">
                <a16:creationId xmlns:a16="http://schemas.microsoft.com/office/drawing/2014/main" id="{6FA5BDA9-486F-E13F-7020-EB12F0608A8A}"/>
              </a:ext>
            </a:extLst>
          </p:cNvPr>
          <p:cNvSpPr txBox="1">
            <a:spLocks noGrp="1"/>
          </p:cNvSpPr>
          <p:nvPr>
            <p:ph type="title"/>
          </p:nvPr>
        </p:nvSpPr>
        <p:spPr>
          <a:xfrm>
            <a:off x="2123440" y="426322"/>
            <a:ext cx="7233920" cy="695062"/>
          </a:xfrm>
          <a:prstGeom prst="rect">
            <a:avLst/>
          </a:prstGeom>
        </p:spPr>
        <p:txBody>
          <a:bodyPr vert="horz" wrap="square" lIns="0" tIns="17780" rIns="0" bIns="0" rtlCol="0" anchor="ctr">
            <a:spAutoFit/>
          </a:bodyPr>
          <a:lstStyle/>
          <a:p>
            <a:pPr marL="617205" algn="ctr">
              <a:lnSpc>
                <a:spcPct val="100000"/>
              </a:lnSpc>
              <a:spcBef>
                <a:spcPts val="140"/>
              </a:spcBef>
            </a:pPr>
            <a:r>
              <a:rPr dirty="0">
                <a:solidFill>
                  <a:schemeClr val="bg1"/>
                </a:solidFill>
                <a:latin typeface="+mn-lt"/>
              </a:rPr>
              <a:t>Type</a:t>
            </a:r>
            <a:r>
              <a:rPr spc="-20" dirty="0">
                <a:solidFill>
                  <a:schemeClr val="bg1"/>
                </a:solidFill>
                <a:latin typeface="+mn-lt"/>
              </a:rPr>
              <a:t> </a:t>
            </a:r>
            <a:r>
              <a:rPr dirty="0">
                <a:solidFill>
                  <a:schemeClr val="bg1"/>
                </a:solidFill>
                <a:latin typeface="+mn-lt"/>
              </a:rPr>
              <a:t>1: </a:t>
            </a:r>
            <a:r>
              <a:rPr spc="-13" dirty="0">
                <a:solidFill>
                  <a:schemeClr val="bg1"/>
                </a:solidFill>
                <a:latin typeface="+mn-lt"/>
              </a:rPr>
              <a:t>Overwrite</a:t>
            </a:r>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576654" y="4416045"/>
            <a:ext cx="1052407" cy="720513"/>
            <a:chOff x="4182490" y="3312033"/>
            <a:chExt cx="789305" cy="540385"/>
          </a:xfrm>
        </p:grpSpPr>
        <p:sp>
          <p:nvSpPr>
            <p:cNvPr id="3" name="object 3"/>
            <p:cNvSpPr/>
            <p:nvPr/>
          </p:nvSpPr>
          <p:spPr>
            <a:xfrm>
              <a:off x="4195190" y="3324733"/>
              <a:ext cx="763905" cy="514984"/>
            </a:xfrm>
            <a:custGeom>
              <a:avLst/>
              <a:gdLst/>
              <a:ahLst/>
              <a:cxnLst/>
              <a:rect l="l" t="t" r="r" b="b"/>
              <a:pathLst>
                <a:path w="763904" h="514985">
                  <a:moveTo>
                    <a:pt x="74295" y="0"/>
                  </a:moveTo>
                  <a:lnTo>
                    <a:pt x="0" y="145796"/>
                  </a:lnTo>
                  <a:lnTo>
                    <a:pt x="580644" y="441579"/>
                  </a:lnTo>
                  <a:lnTo>
                    <a:pt x="543560" y="514477"/>
                  </a:lnTo>
                  <a:lnTo>
                    <a:pt x="763524" y="442976"/>
                  </a:lnTo>
                  <a:lnTo>
                    <a:pt x="692023" y="222885"/>
                  </a:lnTo>
                  <a:lnTo>
                    <a:pt x="654938" y="295783"/>
                  </a:lnTo>
                  <a:lnTo>
                    <a:pt x="74295" y="0"/>
                  </a:lnTo>
                  <a:close/>
                </a:path>
              </a:pathLst>
            </a:custGeom>
            <a:solidFill>
              <a:srgbClr val="00C3FF"/>
            </a:solidFill>
          </p:spPr>
          <p:txBody>
            <a:bodyPr wrap="square" lIns="0" tIns="0" rIns="0" bIns="0" rtlCol="0"/>
            <a:lstStyle/>
            <a:p>
              <a:endParaRPr sz="2400"/>
            </a:p>
          </p:txBody>
        </p:sp>
        <p:sp>
          <p:nvSpPr>
            <p:cNvPr id="4" name="object 4"/>
            <p:cNvSpPr/>
            <p:nvPr/>
          </p:nvSpPr>
          <p:spPr>
            <a:xfrm>
              <a:off x="4195190" y="3324733"/>
              <a:ext cx="763905" cy="514984"/>
            </a:xfrm>
            <a:custGeom>
              <a:avLst/>
              <a:gdLst/>
              <a:ahLst/>
              <a:cxnLst/>
              <a:rect l="l" t="t" r="r" b="b"/>
              <a:pathLst>
                <a:path w="763904" h="514985">
                  <a:moveTo>
                    <a:pt x="74295" y="0"/>
                  </a:moveTo>
                  <a:lnTo>
                    <a:pt x="654938" y="295783"/>
                  </a:lnTo>
                  <a:lnTo>
                    <a:pt x="692023" y="222885"/>
                  </a:lnTo>
                  <a:lnTo>
                    <a:pt x="763524" y="442976"/>
                  </a:lnTo>
                  <a:lnTo>
                    <a:pt x="543560" y="514477"/>
                  </a:lnTo>
                  <a:lnTo>
                    <a:pt x="580644" y="441579"/>
                  </a:lnTo>
                  <a:lnTo>
                    <a:pt x="0" y="145796"/>
                  </a:lnTo>
                  <a:lnTo>
                    <a:pt x="74295" y="0"/>
                  </a:lnTo>
                  <a:close/>
                </a:path>
              </a:pathLst>
            </a:custGeom>
            <a:ln w="25400">
              <a:solidFill>
                <a:srgbClr val="008FBB"/>
              </a:solidFill>
            </a:ln>
          </p:spPr>
          <p:txBody>
            <a:bodyPr wrap="square" lIns="0" tIns="0" rIns="0" bIns="0" rtlCol="0"/>
            <a:lstStyle/>
            <a:p>
              <a:endParaRPr sz="2400"/>
            </a:p>
          </p:txBody>
        </p:sp>
      </p:grpSp>
      <p:sp>
        <p:nvSpPr>
          <p:cNvPr id="5" name="object 5"/>
          <p:cNvSpPr txBox="1"/>
          <p:nvPr/>
        </p:nvSpPr>
        <p:spPr>
          <a:xfrm>
            <a:off x="1324593" y="2850219"/>
            <a:ext cx="4823460"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i="1" dirty="0">
                <a:solidFill>
                  <a:srgbClr val="D9D9D9"/>
                </a:solidFill>
                <a:latin typeface="Calibri"/>
                <a:cs typeface="Calibri"/>
              </a:rPr>
              <a:t>No</a:t>
            </a:r>
            <a:r>
              <a:rPr sz="2400" b="1" i="1" spc="-33" dirty="0">
                <a:solidFill>
                  <a:srgbClr val="D9D9D9"/>
                </a:solidFill>
                <a:latin typeface="Calibri"/>
                <a:cs typeface="Calibri"/>
              </a:rPr>
              <a:t> </a:t>
            </a:r>
            <a:r>
              <a:rPr sz="2400" b="1" i="1" dirty="0">
                <a:solidFill>
                  <a:srgbClr val="D9D9D9"/>
                </a:solidFill>
                <a:latin typeface="Calibri"/>
                <a:cs typeface="Calibri"/>
              </a:rPr>
              <a:t>Fact</a:t>
            </a:r>
            <a:r>
              <a:rPr sz="2400" b="1" i="1" spc="-33" dirty="0">
                <a:solidFill>
                  <a:srgbClr val="D9D9D9"/>
                </a:solidFill>
                <a:latin typeface="Calibri"/>
                <a:cs typeface="Calibri"/>
              </a:rPr>
              <a:t> </a:t>
            </a:r>
            <a:r>
              <a:rPr sz="2400" b="1" i="1" dirty="0">
                <a:solidFill>
                  <a:srgbClr val="D9D9D9"/>
                </a:solidFill>
                <a:latin typeface="Calibri"/>
                <a:cs typeface="Calibri"/>
              </a:rPr>
              <a:t>table</a:t>
            </a:r>
            <a:r>
              <a:rPr sz="2400" b="1" i="1" spc="-20" dirty="0">
                <a:solidFill>
                  <a:srgbClr val="D9D9D9"/>
                </a:solidFill>
                <a:latin typeface="Calibri"/>
                <a:cs typeface="Calibri"/>
              </a:rPr>
              <a:t> </a:t>
            </a:r>
            <a:r>
              <a:rPr sz="2400" b="1" i="1" dirty="0">
                <a:solidFill>
                  <a:srgbClr val="D9D9D9"/>
                </a:solidFill>
                <a:latin typeface="Calibri"/>
                <a:cs typeface="Calibri"/>
              </a:rPr>
              <a:t>needs</a:t>
            </a:r>
            <a:r>
              <a:rPr sz="2400" b="1" i="1" spc="-27" dirty="0">
                <a:solidFill>
                  <a:srgbClr val="D9D9D9"/>
                </a:solidFill>
                <a:latin typeface="Calibri"/>
                <a:cs typeface="Calibri"/>
              </a:rPr>
              <a:t> </a:t>
            </a:r>
            <a:r>
              <a:rPr sz="2400" b="1" i="1" dirty="0">
                <a:solidFill>
                  <a:srgbClr val="D9D9D9"/>
                </a:solidFill>
                <a:latin typeface="Calibri"/>
                <a:cs typeface="Calibri"/>
              </a:rPr>
              <a:t>to</a:t>
            </a:r>
            <a:r>
              <a:rPr sz="2400" b="1" i="1" spc="-33" dirty="0">
                <a:solidFill>
                  <a:srgbClr val="D9D9D9"/>
                </a:solidFill>
                <a:latin typeface="Calibri"/>
                <a:cs typeface="Calibri"/>
              </a:rPr>
              <a:t> </a:t>
            </a:r>
            <a:r>
              <a:rPr sz="2400" b="1" i="1" dirty="0">
                <a:solidFill>
                  <a:srgbClr val="D9D9D9"/>
                </a:solidFill>
                <a:latin typeface="Calibri"/>
                <a:cs typeface="Calibri"/>
              </a:rPr>
              <a:t>be</a:t>
            </a:r>
            <a:r>
              <a:rPr sz="2400" b="1" i="1" spc="-20" dirty="0">
                <a:solidFill>
                  <a:srgbClr val="D9D9D9"/>
                </a:solidFill>
                <a:latin typeface="Calibri"/>
                <a:cs typeface="Calibri"/>
              </a:rPr>
              <a:t> </a:t>
            </a:r>
            <a:r>
              <a:rPr sz="2400" b="1" i="1" spc="-13" dirty="0">
                <a:solidFill>
                  <a:srgbClr val="D9D9D9"/>
                </a:solidFill>
                <a:latin typeface="Calibri"/>
                <a:cs typeface="Calibri"/>
              </a:rPr>
              <a:t>modified</a:t>
            </a:r>
            <a:endParaRPr sz="2400">
              <a:latin typeface="Calibri"/>
              <a:cs typeface="Calibri"/>
            </a:endParaRPr>
          </a:p>
        </p:txBody>
      </p:sp>
      <p:sp>
        <p:nvSpPr>
          <p:cNvPr id="6" name="object 6"/>
          <p:cNvSpPr txBox="1"/>
          <p:nvPr/>
        </p:nvSpPr>
        <p:spPr>
          <a:xfrm>
            <a:off x="1324593" y="2067560"/>
            <a:ext cx="1893993"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i="1" dirty="0">
                <a:solidFill>
                  <a:srgbClr val="D9D9D9"/>
                </a:solidFill>
                <a:latin typeface="Calibri"/>
                <a:cs typeface="Calibri"/>
              </a:rPr>
              <a:t>Very</a:t>
            </a:r>
            <a:r>
              <a:rPr sz="2400" b="1" i="1" spc="-47" dirty="0">
                <a:solidFill>
                  <a:srgbClr val="D9D9D9"/>
                </a:solidFill>
                <a:latin typeface="Calibri"/>
                <a:cs typeface="Calibri"/>
              </a:rPr>
              <a:t> </a:t>
            </a:r>
            <a:r>
              <a:rPr sz="2400" b="1" i="1" spc="-13" dirty="0">
                <a:solidFill>
                  <a:srgbClr val="D9D9D9"/>
                </a:solidFill>
                <a:latin typeface="Calibri"/>
                <a:cs typeface="Calibri"/>
              </a:rPr>
              <a:t>simple</a:t>
            </a:r>
            <a:endParaRPr sz="2400">
              <a:latin typeface="Calibri"/>
              <a:cs typeface="Calibri"/>
            </a:endParaRPr>
          </a:p>
        </p:txBody>
      </p:sp>
      <p:graphicFrame>
        <p:nvGraphicFramePr>
          <p:cNvPr id="7" name="object 7"/>
          <p:cNvGraphicFramePr>
            <a:graphicFrameLocks noGrp="1"/>
          </p:cNvGraphicFramePr>
          <p:nvPr>
            <p:extLst>
              <p:ext uri="{D42A27DB-BD31-4B8C-83A1-F6EECF244321}">
                <p14:modId xmlns:p14="http://schemas.microsoft.com/office/powerpoint/2010/main" val="970286836"/>
              </p:ext>
            </p:extLst>
          </p:nvPr>
        </p:nvGraphicFramePr>
        <p:xfrm>
          <a:off x="2456348" y="3495718"/>
          <a:ext cx="5283200" cy="987213"/>
        </p:xfrm>
        <a:graphic>
          <a:graphicData uri="http://schemas.openxmlformats.org/drawingml/2006/table">
            <a:tbl>
              <a:tblPr firstRow="1" bandRow="1">
                <a:tableStyleId>{2D5ABB26-0587-4C30-8999-92F81FD0307C}</a:tableStyleId>
              </a:tblPr>
              <a:tblGrid>
                <a:gridCol w="1320800">
                  <a:extLst>
                    <a:ext uri="{9D8B030D-6E8A-4147-A177-3AD203B41FA5}">
                      <a16:colId xmlns:a16="http://schemas.microsoft.com/office/drawing/2014/main" val="20000"/>
                    </a:ext>
                  </a:extLst>
                </a:gridCol>
                <a:gridCol w="23368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tblGrid>
              <a:tr h="225213">
                <a:tc>
                  <a:txBody>
                    <a:bodyPr/>
                    <a:lstStyle/>
                    <a:p>
                      <a:pPr marL="3175" algn="ctr">
                        <a:lnSpc>
                          <a:spcPct val="100000"/>
                        </a:lnSpc>
                        <a:spcBef>
                          <a:spcPts val="60"/>
                        </a:spcBef>
                      </a:pPr>
                      <a:r>
                        <a:rPr sz="1400" b="1" spc="-10" dirty="0">
                          <a:solidFill>
                            <a:schemeClr val="bg1"/>
                          </a:solidFill>
                          <a:latin typeface="Arial"/>
                          <a:cs typeface="Arial"/>
                        </a:rPr>
                        <a:t>Product_Key</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270" algn="ctr">
                        <a:lnSpc>
                          <a:spcPct val="100000"/>
                        </a:lnSpc>
                        <a:spcBef>
                          <a:spcPts val="60"/>
                        </a:spcBef>
                      </a:pPr>
                      <a:r>
                        <a:rPr sz="1400" b="1" spc="-20" dirty="0">
                          <a:solidFill>
                            <a:schemeClr val="bg1"/>
                          </a:solidFill>
                          <a:latin typeface="Arial"/>
                          <a:cs typeface="Arial"/>
                        </a:rPr>
                        <a:t>Name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5080" algn="ctr">
                        <a:lnSpc>
                          <a:spcPct val="100000"/>
                        </a:lnSpc>
                        <a:spcBef>
                          <a:spcPts val="60"/>
                        </a:spcBef>
                      </a:pPr>
                      <a:r>
                        <a:rPr sz="1400" b="1" spc="-10" dirty="0">
                          <a:solidFill>
                            <a:schemeClr val="bg1"/>
                          </a:solidFill>
                          <a:latin typeface="Arial"/>
                          <a:cs typeface="Arial"/>
                        </a:rPr>
                        <a:t>Category</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dirty="0">
                          <a:latin typeface="Arial MT"/>
                          <a:cs typeface="Arial MT"/>
                        </a:rPr>
                        <a:t>Sunglases</a:t>
                      </a:r>
                      <a:r>
                        <a:rPr sz="1400" spc="-55" dirty="0">
                          <a:latin typeface="Arial MT"/>
                          <a:cs typeface="Arial MT"/>
                        </a:rPr>
                        <a:t> </a:t>
                      </a:r>
                      <a:r>
                        <a:rPr sz="1400" dirty="0">
                          <a:latin typeface="Arial MT"/>
                          <a:cs typeface="Arial MT"/>
                        </a:rPr>
                        <a:t>TR-</a:t>
                      </a:r>
                      <a:r>
                        <a:rPr sz="1400" spc="-50" dirty="0">
                          <a:latin typeface="Arial MT"/>
                          <a:cs typeface="Arial MT"/>
                        </a:rPr>
                        <a:t>7</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10" dirty="0">
                          <a:latin typeface="Arial MT"/>
                          <a:cs typeface="Arial MT"/>
                        </a:rPr>
                        <a:t>Assecoirs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dirty="0">
                          <a:latin typeface="Arial MT"/>
                          <a:cs typeface="Arial MT"/>
                        </a:rPr>
                        <a:t>Chocolate</a:t>
                      </a:r>
                      <a:r>
                        <a:rPr sz="1400" spc="-25" dirty="0">
                          <a:latin typeface="Arial MT"/>
                          <a:cs typeface="Arial MT"/>
                        </a:rPr>
                        <a:t> </a:t>
                      </a:r>
                      <a:r>
                        <a:rPr sz="1400" dirty="0">
                          <a:latin typeface="Arial MT"/>
                          <a:cs typeface="Arial MT"/>
                        </a:rPr>
                        <a:t>bar</a:t>
                      </a:r>
                      <a:r>
                        <a:rPr sz="1400" spc="-10" dirty="0">
                          <a:latin typeface="Arial MT"/>
                          <a:cs typeface="Arial MT"/>
                        </a:rPr>
                        <a:t> </a:t>
                      </a:r>
                      <a:r>
                        <a:rPr sz="1400" dirty="0">
                          <a:latin typeface="Arial MT"/>
                          <a:cs typeface="Arial MT"/>
                        </a:rPr>
                        <a:t>70%</a:t>
                      </a:r>
                      <a:r>
                        <a:rPr sz="1400" spc="-15" dirty="0">
                          <a:latin typeface="Arial MT"/>
                          <a:cs typeface="Arial MT"/>
                        </a:rPr>
                        <a:t> </a:t>
                      </a:r>
                      <a:r>
                        <a:rPr sz="1400" spc="-10" dirty="0">
                          <a:latin typeface="Arial MT"/>
                          <a:cs typeface="Arial MT"/>
                        </a:rPr>
                        <a:t>cacao</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Sweets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ct val="10000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dirty="0">
                          <a:latin typeface="Arial MT"/>
                          <a:cs typeface="Arial MT"/>
                        </a:rPr>
                        <a:t>Oat</a:t>
                      </a:r>
                      <a:r>
                        <a:rPr sz="1400" spc="-25" dirty="0">
                          <a:latin typeface="Arial MT"/>
                          <a:cs typeface="Arial MT"/>
                        </a:rPr>
                        <a:t> </a:t>
                      </a:r>
                      <a:r>
                        <a:rPr sz="1400" dirty="0">
                          <a:latin typeface="Arial MT"/>
                          <a:cs typeface="Arial MT"/>
                        </a:rPr>
                        <a:t>meal</a:t>
                      </a:r>
                      <a:r>
                        <a:rPr sz="1400" spc="-35" dirty="0">
                          <a:latin typeface="Arial MT"/>
                          <a:cs typeface="Arial MT"/>
                        </a:rPr>
                        <a:t> </a:t>
                      </a:r>
                      <a:r>
                        <a:rPr sz="1400" spc="-10" dirty="0">
                          <a:latin typeface="Arial MT"/>
                          <a:cs typeface="Arial MT"/>
                        </a:rPr>
                        <a:t>biscuits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10" dirty="0">
                          <a:latin typeface="Arial MT"/>
                          <a:cs typeface="Arial MT"/>
                        </a:rPr>
                        <a:t>Sweets</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sp>
        <p:nvSpPr>
          <p:cNvPr id="8" name="object 8"/>
          <p:cNvSpPr/>
          <p:nvPr/>
        </p:nvSpPr>
        <p:spPr>
          <a:xfrm>
            <a:off x="9956800" y="5096087"/>
            <a:ext cx="0" cy="1005840"/>
          </a:xfrm>
          <a:custGeom>
            <a:avLst/>
            <a:gdLst/>
            <a:ahLst/>
            <a:cxnLst/>
            <a:rect l="l" t="t" r="r" b="b"/>
            <a:pathLst>
              <a:path h="754379">
                <a:moveTo>
                  <a:pt x="0" y="0"/>
                </a:moveTo>
                <a:lnTo>
                  <a:pt x="0" y="753795"/>
                </a:lnTo>
              </a:path>
            </a:pathLst>
          </a:custGeom>
          <a:ln w="12700">
            <a:solidFill>
              <a:srgbClr val="000000"/>
            </a:solidFill>
          </a:ln>
        </p:spPr>
        <p:txBody>
          <a:bodyPr wrap="square" lIns="0" tIns="0" rIns="0" bIns="0" rtlCol="0"/>
          <a:lstStyle/>
          <a:p>
            <a:endParaRPr sz="2400"/>
          </a:p>
        </p:txBody>
      </p:sp>
      <p:graphicFrame>
        <p:nvGraphicFramePr>
          <p:cNvPr id="9" name="object 9"/>
          <p:cNvGraphicFramePr>
            <a:graphicFrameLocks noGrp="1"/>
          </p:cNvGraphicFramePr>
          <p:nvPr>
            <p:extLst>
              <p:ext uri="{D42A27DB-BD31-4B8C-83A1-F6EECF244321}">
                <p14:modId xmlns:p14="http://schemas.microsoft.com/office/powerpoint/2010/main" val="3181658426"/>
              </p:ext>
            </p:extLst>
          </p:nvPr>
        </p:nvGraphicFramePr>
        <p:xfrm>
          <a:off x="4665134" y="5096087"/>
          <a:ext cx="5283200" cy="988060"/>
        </p:xfrm>
        <a:graphic>
          <a:graphicData uri="http://schemas.openxmlformats.org/drawingml/2006/table">
            <a:tbl>
              <a:tblPr firstRow="1" bandRow="1">
                <a:tableStyleId>{2D5ABB26-0587-4C30-8999-92F81FD0307C}</a:tableStyleId>
              </a:tblPr>
              <a:tblGrid>
                <a:gridCol w="1320800">
                  <a:extLst>
                    <a:ext uri="{9D8B030D-6E8A-4147-A177-3AD203B41FA5}">
                      <a16:colId xmlns:a16="http://schemas.microsoft.com/office/drawing/2014/main" val="20000"/>
                    </a:ext>
                  </a:extLst>
                </a:gridCol>
                <a:gridCol w="23368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tblGrid>
              <a:tr h="226060">
                <a:tc>
                  <a:txBody>
                    <a:bodyPr/>
                    <a:lstStyle/>
                    <a:p>
                      <a:pPr marL="3810" algn="ctr">
                        <a:lnSpc>
                          <a:spcPct val="100000"/>
                        </a:lnSpc>
                        <a:spcBef>
                          <a:spcPts val="65"/>
                        </a:spcBef>
                      </a:pPr>
                      <a:r>
                        <a:rPr sz="1400" b="1" spc="-10" dirty="0">
                          <a:solidFill>
                            <a:schemeClr val="bg1"/>
                          </a:solidFill>
                          <a:latin typeface="Arial"/>
                          <a:cs typeface="Arial"/>
                        </a:rPr>
                        <a:t>Product_Key</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905" algn="ctr">
                        <a:lnSpc>
                          <a:spcPct val="100000"/>
                        </a:lnSpc>
                        <a:spcBef>
                          <a:spcPts val="65"/>
                        </a:spcBef>
                      </a:pPr>
                      <a:r>
                        <a:rPr sz="1400" b="1" spc="-20" dirty="0">
                          <a:solidFill>
                            <a:schemeClr val="bg1"/>
                          </a:solidFill>
                          <a:latin typeface="Arial"/>
                          <a:cs typeface="Arial"/>
                        </a:rPr>
                        <a:t>Name</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5715" algn="ctr">
                        <a:lnSpc>
                          <a:spcPct val="100000"/>
                        </a:lnSpc>
                        <a:spcBef>
                          <a:spcPts val="65"/>
                        </a:spcBef>
                      </a:pPr>
                      <a:r>
                        <a:rPr sz="1400" b="1" spc="-10" dirty="0">
                          <a:solidFill>
                            <a:schemeClr val="bg1"/>
                          </a:solidFill>
                          <a:latin typeface="Arial"/>
                          <a:cs typeface="Arial"/>
                        </a:rPr>
                        <a:t>Category</a:t>
                      </a:r>
                      <a:endParaRPr sz="1400" dirty="0">
                        <a:solidFill>
                          <a:schemeClr val="bg1"/>
                        </a:solidFill>
                        <a:latin typeface="Arial"/>
                        <a:cs typeface="Arial"/>
                      </a:endParaRPr>
                    </a:p>
                  </a:txBody>
                  <a:tcPr marL="0" marR="0" marT="11007" marB="0">
                    <a:lnL w="12700">
                      <a:solidFill>
                        <a:srgbClr val="000000"/>
                      </a:solidFill>
                      <a:prstDash val="solid"/>
                    </a:lnL>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marL="635" algn="ctr">
                        <a:lnSpc>
                          <a:spcPct val="100000"/>
                        </a:lnSpc>
                        <a:spcBef>
                          <a:spcPts val="229"/>
                        </a:spcBef>
                      </a:pPr>
                      <a:r>
                        <a:rPr sz="1400" spc="-50" dirty="0">
                          <a:latin typeface="Arial MT"/>
                          <a:cs typeface="Arial MT"/>
                        </a:rPr>
                        <a:t>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dirty="0">
                          <a:latin typeface="Arial MT"/>
                          <a:cs typeface="Arial MT"/>
                        </a:rPr>
                        <a:t>Sunglases</a:t>
                      </a:r>
                      <a:r>
                        <a:rPr sz="1400" spc="-55" dirty="0">
                          <a:latin typeface="Arial MT"/>
                          <a:cs typeface="Arial MT"/>
                        </a:rPr>
                        <a:t> </a:t>
                      </a:r>
                      <a:r>
                        <a:rPr sz="1400" dirty="0">
                          <a:latin typeface="Arial MT"/>
                          <a:cs typeface="Arial MT"/>
                        </a:rPr>
                        <a:t>TR-</a:t>
                      </a:r>
                      <a:r>
                        <a:rPr sz="1400" spc="-50" dirty="0">
                          <a:latin typeface="Arial MT"/>
                          <a:cs typeface="Arial MT"/>
                        </a:rPr>
                        <a:t>7</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9"/>
                        </a:spcBef>
                      </a:pPr>
                      <a:r>
                        <a:rPr sz="1400" spc="-10" dirty="0">
                          <a:latin typeface="Arial MT"/>
                          <a:cs typeface="Arial MT"/>
                        </a:rPr>
                        <a:t>Assecoirs</a:t>
                      </a:r>
                      <a:endParaRPr sz="1400">
                        <a:latin typeface="Arial MT"/>
                        <a:cs typeface="Arial MT"/>
                      </a:endParaRPr>
                    </a:p>
                  </a:txBody>
                  <a:tcPr marL="0" marR="0" marT="38945" marB="0">
                    <a:lnL w="12700">
                      <a:solidFill>
                        <a:srgbClr val="000000"/>
                      </a:solidFill>
                      <a:prstDash val="solid"/>
                    </a:lnL>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marL="635" algn="ctr">
                        <a:lnSpc>
                          <a:spcPct val="100000"/>
                        </a:lnSpc>
                        <a:spcBef>
                          <a:spcPts val="229"/>
                        </a:spcBef>
                      </a:pPr>
                      <a:r>
                        <a:rPr sz="1400" spc="-50" dirty="0">
                          <a:latin typeface="Arial MT"/>
                          <a:cs typeface="Arial MT"/>
                        </a:rPr>
                        <a:t>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10" dirty="0">
                          <a:latin typeface="Arial MT"/>
                          <a:cs typeface="Arial MT"/>
                        </a:rPr>
                        <a:t>Chocolate </a:t>
                      </a:r>
                      <a:r>
                        <a:rPr sz="1400" dirty="0">
                          <a:latin typeface="Arial MT"/>
                          <a:cs typeface="Arial MT"/>
                        </a:rPr>
                        <a:t>bar 70%</a:t>
                      </a:r>
                      <a:r>
                        <a:rPr sz="1400" spc="5" dirty="0">
                          <a:latin typeface="Arial MT"/>
                          <a:cs typeface="Arial MT"/>
                        </a:rPr>
                        <a:t> </a:t>
                      </a:r>
                      <a:r>
                        <a:rPr sz="1400" spc="-10" dirty="0">
                          <a:latin typeface="Arial MT"/>
                          <a:cs typeface="Arial MT"/>
                        </a:rPr>
                        <a:t>cacao</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10" dirty="0">
                          <a:latin typeface="Arial MT"/>
                          <a:cs typeface="Arial MT"/>
                        </a:rPr>
                        <a:t>Sweets</a:t>
                      </a:r>
                      <a:endParaRPr sz="1400">
                        <a:latin typeface="Arial MT"/>
                        <a:cs typeface="Arial MT"/>
                      </a:endParaRPr>
                    </a:p>
                  </a:txBody>
                  <a:tcPr marL="0" marR="0" marT="38945" marB="0">
                    <a:lnL w="12700">
                      <a:solidFill>
                        <a:srgbClr val="000000"/>
                      </a:solidFill>
                      <a:prstDash val="solid"/>
                    </a:lnL>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marL="635" algn="ctr">
                        <a:lnSpc>
                          <a:spcPct val="10000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i="1" dirty="0">
                          <a:solidFill>
                            <a:srgbClr val="008BBE"/>
                          </a:solidFill>
                          <a:latin typeface="Arial"/>
                          <a:cs typeface="Arial"/>
                        </a:rPr>
                        <a:t>Delicious</a:t>
                      </a:r>
                      <a:r>
                        <a:rPr sz="1400" i="1" spc="-45" dirty="0">
                          <a:solidFill>
                            <a:srgbClr val="008BBE"/>
                          </a:solidFill>
                          <a:latin typeface="Arial"/>
                          <a:cs typeface="Arial"/>
                        </a:rPr>
                        <a:t> </a:t>
                      </a:r>
                      <a:r>
                        <a:rPr sz="1400" dirty="0">
                          <a:latin typeface="Arial MT"/>
                          <a:cs typeface="Arial MT"/>
                        </a:rPr>
                        <a:t>Oat</a:t>
                      </a:r>
                      <a:r>
                        <a:rPr sz="1400" spc="-25" dirty="0">
                          <a:latin typeface="Arial MT"/>
                          <a:cs typeface="Arial MT"/>
                        </a:rPr>
                        <a:t> </a:t>
                      </a:r>
                      <a:r>
                        <a:rPr sz="1400" dirty="0">
                          <a:latin typeface="Arial MT"/>
                          <a:cs typeface="Arial MT"/>
                        </a:rPr>
                        <a:t>meal</a:t>
                      </a:r>
                      <a:r>
                        <a:rPr sz="1400" spc="-40" dirty="0">
                          <a:latin typeface="Arial MT"/>
                          <a:cs typeface="Arial MT"/>
                        </a:rPr>
                        <a:t> </a:t>
                      </a:r>
                      <a:r>
                        <a:rPr sz="1400" spc="-10" dirty="0">
                          <a:latin typeface="Arial MT"/>
                          <a:cs typeface="Arial MT"/>
                        </a:rPr>
                        <a:t>biscuits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i="1" spc="-10" dirty="0">
                          <a:solidFill>
                            <a:srgbClr val="008BBE"/>
                          </a:solidFill>
                          <a:latin typeface="Arial"/>
                          <a:cs typeface="Arial"/>
                        </a:rPr>
                        <a:t>Buscuits</a:t>
                      </a:r>
                      <a:endParaRPr sz="1400" dirty="0">
                        <a:latin typeface="Arial"/>
                        <a:cs typeface="Arial"/>
                      </a:endParaRPr>
                    </a:p>
                  </a:txBody>
                  <a:tcPr marL="0" marR="0" marT="38945" marB="0">
                    <a:lnL w="12700">
                      <a:solidFill>
                        <a:srgbClr val="000000"/>
                      </a:solidFill>
                      <a:prstDash val="solid"/>
                    </a:lnL>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sp>
        <p:nvSpPr>
          <p:cNvPr id="10" name="object 10"/>
          <p:cNvSpPr txBox="1"/>
          <p:nvPr/>
        </p:nvSpPr>
        <p:spPr>
          <a:xfrm>
            <a:off x="6789929" y="4561941"/>
            <a:ext cx="844127" cy="305276"/>
          </a:xfrm>
          <a:prstGeom prst="rect">
            <a:avLst/>
          </a:prstGeom>
        </p:spPr>
        <p:txBody>
          <a:bodyPr vert="horz" wrap="square" lIns="0" tIns="17780" rIns="0" bIns="0" rtlCol="0">
            <a:spAutoFit/>
          </a:bodyPr>
          <a:lstStyle/>
          <a:p>
            <a:pPr marL="16933">
              <a:spcBef>
                <a:spcPts val="140"/>
              </a:spcBef>
            </a:pPr>
            <a:r>
              <a:rPr sz="1867" b="1" i="1" spc="-13" dirty="0">
                <a:solidFill>
                  <a:srgbClr val="D9D9D9"/>
                </a:solidFill>
                <a:latin typeface="Calibri"/>
                <a:cs typeface="Calibri"/>
              </a:rPr>
              <a:t>UPDATE</a:t>
            </a:r>
            <a:endParaRPr sz="1867">
              <a:latin typeface="Calibri"/>
              <a:cs typeface="Calibri"/>
            </a:endParaRPr>
          </a:p>
        </p:txBody>
      </p:sp>
      <p:grpSp>
        <p:nvGrpSpPr>
          <p:cNvPr id="11" name="object 11"/>
          <p:cNvGrpSpPr/>
          <p:nvPr/>
        </p:nvGrpSpPr>
        <p:grpSpPr>
          <a:xfrm>
            <a:off x="8268207" y="989618"/>
            <a:ext cx="2253827" cy="967740"/>
            <a:chOff x="6201155" y="742213"/>
            <a:chExt cx="1690370" cy="725805"/>
          </a:xfrm>
        </p:grpSpPr>
        <p:pic>
          <p:nvPicPr>
            <p:cNvPr id="12" name="object 12"/>
            <p:cNvPicPr/>
            <p:nvPr/>
          </p:nvPicPr>
          <p:blipFill>
            <a:blip r:embed="rId2" cstate="print"/>
            <a:stretch>
              <a:fillRect/>
            </a:stretch>
          </p:blipFill>
          <p:spPr>
            <a:xfrm>
              <a:off x="6201155" y="742213"/>
              <a:ext cx="1690116" cy="620242"/>
            </a:xfrm>
            <a:prstGeom prst="rect">
              <a:avLst/>
            </a:prstGeom>
          </p:spPr>
        </p:pic>
        <p:pic>
          <p:nvPicPr>
            <p:cNvPr id="13" name="object 13"/>
            <p:cNvPicPr/>
            <p:nvPr/>
          </p:nvPicPr>
          <p:blipFill>
            <a:blip r:embed="rId3" cstate="print"/>
            <a:stretch>
              <a:fillRect/>
            </a:stretch>
          </p:blipFill>
          <p:spPr>
            <a:xfrm>
              <a:off x="6254495" y="746785"/>
              <a:ext cx="1580388" cy="720826"/>
            </a:xfrm>
            <a:prstGeom prst="rect">
              <a:avLst/>
            </a:prstGeom>
          </p:spPr>
        </p:pic>
      </p:grpSp>
      <p:sp>
        <p:nvSpPr>
          <p:cNvPr id="14" name="object 14"/>
          <p:cNvSpPr txBox="1"/>
          <p:nvPr/>
        </p:nvSpPr>
        <p:spPr>
          <a:xfrm>
            <a:off x="8331200" y="1022097"/>
            <a:ext cx="2133600" cy="606149"/>
          </a:xfrm>
          <a:prstGeom prst="rect">
            <a:avLst/>
          </a:prstGeom>
          <a:solidFill>
            <a:srgbClr val="404040"/>
          </a:solidFill>
          <a:ln w="9144">
            <a:solidFill>
              <a:srgbClr val="373737"/>
            </a:solidFill>
          </a:ln>
        </p:spPr>
        <p:txBody>
          <a:bodyPr vert="horz" wrap="square" lIns="0" tIns="112607" rIns="0" bIns="0" rtlCol="0">
            <a:spAutoFit/>
          </a:bodyPr>
          <a:lstStyle/>
          <a:p>
            <a:pPr marL="310719">
              <a:spcBef>
                <a:spcPts val="887"/>
              </a:spcBef>
            </a:pPr>
            <a:r>
              <a:rPr sz="3200" spc="-13" dirty="0">
                <a:solidFill>
                  <a:srgbClr val="FFFFFF"/>
                </a:solidFill>
                <a:latin typeface="Arial MT"/>
                <a:cs typeface="Arial MT"/>
              </a:rPr>
              <a:t>Problem</a:t>
            </a:r>
            <a:endParaRPr sz="3200">
              <a:latin typeface="Arial MT"/>
              <a:cs typeface="Arial MT"/>
            </a:endParaRPr>
          </a:p>
        </p:txBody>
      </p:sp>
      <p:sp>
        <p:nvSpPr>
          <p:cNvPr id="15" name="object 15"/>
          <p:cNvSpPr/>
          <p:nvPr/>
        </p:nvSpPr>
        <p:spPr>
          <a:xfrm>
            <a:off x="5540079" y="6041407"/>
            <a:ext cx="555412" cy="245533"/>
          </a:xfrm>
          <a:custGeom>
            <a:avLst/>
            <a:gdLst/>
            <a:ahLst/>
            <a:cxnLst/>
            <a:rect l="l" t="t" r="r" b="b"/>
            <a:pathLst>
              <a:path w="416560" h="184150">
                <a:moveTo>
                  <a:pt x="343512" y="29307"/>
                </a:moveTo>
                <a:lnTo>
                  <a:pt x="0" y="172300"/>
                </a:lnTo>
                <a:lnTo>
                  <a:pt x="4825" y="184022"/>
                </a:lnTo>
                <a:lnTo>
                  <a:pt x="348392" y="41058"/>
                </a:lnTo>
                <a:lnTo>
                  <a:pt x="343512" y="29307"/>
                </a:lnTo>
                <a:close/>
              </a:path>
              <a:path w="416560" h="184150">
                <a:moveTo>
                  <a:pt x="400266" y="24434"/>
                </a:moveTo>
                <a:lnTo>
                  <a:pt x="355218" y="24434"/>
                </a:lnTo>
                <a:lnTo>
                  <a:pt x="360171" y="36156"/>
                </a:lnTo>
                <a:lnTo>
                  <a:pt x="348392" y="41058"/>
                </a:lnTo>
                <a:lnTo>
                  <a:pt x="360552" y="70345"/>
                </a:lnTo>
                <a:lnTo>
                  <a:pt x="400266" y="24434"/>
                </a:lnTo>
                <a:close/>
              </a:path>
              <a:path w="416560" h="184150">
                <a:moveTo>
                  <a:pt x="355218" y="24434"/>
                </a:moveTo>
                <a:lnTo>
                  <a:pt x="343512" y="29307"/>
                </a:lnTo>
                <a:lnTo>
                  <a:pt x="348392" y="41058"/>
                </a:lnTo>
                <a:lnTo>
                  <a:pt x="360171" y="36156"/>
                </a:lnTo>
                <a:lnTo>
                  <a:pt x="355218" y="24434"/>
                </a:lnTo>
                <a:close/>
              </a:path>
              <a:path w="416560" h="184150">
                <a:moveTo>
                  <a:pt x="331342" y="0"/>
                </a:moveTo>
                <a:lnTo>
                  <a:pt x="343512" y="29307"/>
                </a:lnTo>
                <a:lnTo>
                  <a:pt x="355218" y="24434"/>
                </a:lnTo>
                <a:lnTo>
                  <a:pt x="400266" y="24434"/>
                </a:lnTo>
                <a:lnTo>
                  <a:pt x="416305" y="5892"/>
                </a:lnTo>
                <a:lnTo>
                  <a:pt x="331342" y="0"/>
                </a:lnTo>
                <a:close/>
              </a:path>
            </a:pathLst>
          </a:custGeom>
          <a:solidFill>
            <a:srgbClr val="00C2FF"/>
          </a:solidFill>
        </p:spPr>
        <p:txBody>
          <a:bodyPr wrap="square" lIns="0" tIns="0" rIns="0" bIns="0" rtlCol="0"/>
          <a:lstStyle/>
          <a:p>
            <a:endParaRPr sz="2400"/>
          </a:p>
        </p:txBody>
      </p:sp>
      <p:sp>
        <p:nvSpPr>
          <p:cNvPr id="16" name="object 16"/>
          <p:cNvSpPr txBox="1"/>
          <p:nvPr/>
        </p:nvSpPr>
        <p:spPr>
          <a:xfrm>
            <a:off x="4068233" y="6212366"/>
            <a:ext cx="1750907" cy="304421"/>
          </a:xfrm>
          <a:prstGeom prst="rect">
            <a:avLst/>
          </a:prstGeom>
        </p:spPr>
        <p:txBody>
          <a:bodyPr vert="horz" wrap="square" lIns="0" tIns="16933" rIns="0" bIns="0" rtlCol="0">
            <a:spAutoFit/>
          </a:bodyPr>
          <a:lstStyle/>
          <a:p>
            <a:pPr marL="16933">
              <a:spcBef>
                <a:spcPts val="133"/>
              </a:spcBef>
            </a:pPr>
            <a:r>
              <a:rPr sz="1867" b="1" i="1" dirty="0">
                <a:solidFill>
                  <a:srgbClr val="D9D9D9"/>
                </a:solidFill>
                <a:latin typeface="Calibri"/>
                <a:cs typeface="Calibri"/>
              </a:rPr>
              <a:t>Not</a:t>
            </a:r>
            <a:r>
              <a:rPr sz="1867" b="1" i="1" spc="-40" dirty="0">
                <a:solidFill>
                  <a:srgbClr val="D9D9D9"/>
                </a:solidFill>
                <a:latin typeface="Calibri"/>
                <a:cs typeface="Calibri"/>
              </a:rPr>
              <a:t> </a:t>
            </a:r>
            <a:r>
              <a:rPr sz="1867" b="1" i="1" dirty="0">
                <a:solidFill>
                  <a:srgbClr val="D9D9D9"/>
                </a:solidFill>
                <a:latin typeface="Calibri"/>
                <a:cs typeface="Calibri"/>
              </a:rPr>
              <a:t>so</a:t>
            </a:r>
            <a:r>
              <a:rPr sz="1867" b="1" i="1" spc="-20" dirty="0">
                <a:solidFill>
                  <a:srgbClr val="D9D9D9"/>
                </a:solidFill>
                <a:latin typeface="Calibri"/>
                <a:cs typeface="Calibri"/>
              </a:rPr>
              <a:t> </a:t>
            </a:r>
            <a:r>
              <a:rPr sz="1867" b="1" i="1" spc="-13" dirty="0">
                <a:solidFill>
                  <a:srgbClr val="D9D9D9"/>
                </a:solidFill>
                <a:latin typeface="Calibri"/>
                <a:cs typeface="Calibri"/>
              </a:rPr>
              <a:t>significant</a:t>
            </a:r>
            <a:endParaRPr sz="1867">
              <a:latin typeface="Calibri"/>
              <a:cs typeface="Calibri"/>
            </a:endParaRPr>
          </a:p>
        </p:txBody>
      </p:sp>
      <p:sp>
        <p:nvSpPr>
          <p:cNvPr id="17" name="object 17"/>
          <p:cNvSpPr/>
          <p:nvPr/>
        </p:nvSpPr>
        <p:spPr>
          <a:xfrm>
            <a:off x="9550401" y="5099473"/>
            <a:ext cx="617220" cy="869527"/>
          </a:xfrm>
          <a:custGeom>
            <a:avLst/>
            <a:gdLst/>
            <a:ahLst/>
            <a:cxnLst/>
            <a:rect l="l" t="t" r="r" b="b"/>
            <a:pathLst>
              <a:path w="462915" h="652145">
                <a:moveTo>
                  <a:pt x="12826" y="567740"/>
                </a:moveTo>
                <a:lnTo>
                  <a:pt x="0" y="651967"/>
                </a:lnTo>
                <a:lnTo>
                  <a:pt x="75056" y="611657"/>
                </a:lnTo>
                <a:lnTo>
                  <a:pt x="63827" y="603732"/>
                </a:lnTo>
                <a:lnTo>
                  <a:pt x="41782" y="603732"/>
                </a:lnTo>
                <a:lnTo>
                  <a:pt x="31369" y="596417"/>
                </a:lnTo>
                <a:lnTo>
                  <a:pt x="38710" y="586007"/>
                </a:lnTo>
                <a:lnTo>
                  <a:pt x="12826" y="567740"/>
                </a:lnTo>
                <a:close/>
              </a:path>
              <a:path w="462915" h="652145">
                <a:moveTo>
                  <a:pt x="38710" y="586007"/>
                </a:moveTo>
                <a:lnTo>
                  <a:pt x="31369" y="596417"/>
                </a:lnTo>
                <a:lnTo>
                  <a:pt x="41782" y="603732"/>
                </a:lnTo>
                <a:lnTo>
                  <a:pt x="49109" y="593345"/>
                </a:lnTo>
                <a:lnTo>
                  <a:pt x="38710" y="586007"/>
                </a:lnTo>
                <a:close/>
              </a:path>
              <a:path w="462915" h="652145">
                <a:moveTo>
                  <a:pt x="49109" y="593345"/>
                </a:moveTo>
                <a:lnTo>
                  <a:pt x="41782" y="603732"/>
                </a:lnTo>
                <a:lnTo>
                  <a:pt x="63827" y="603732"/>
                </a:lnTo>
                <a:lnTo>
                  <a:pt x="49109" y="593345"/>
                </a:lnTo>
                <a:close/>
              </a:path>
              <a:path w="462915" h="652145">
                <a:moveTo>
                  <a:pt x="451993" y="0"/>
                </a:moveTo>
                <a:lnTo>
                  <a:pt x="38710" y="586007"/>
                </a:lnTo>
                <a:lnTo>
                  <a:pt x="49109" y="593345"/>
                </a:lnTo>
                <a:lnTo>
                  <a:pt x="462406" y="7366"/>
                </a:lnTo>
                <a:lnTo>
                  <a:pt x="451993" y="0"/>
                </a:lnTo>
                <a:close/>
              </a:path>
            </a:pathLst>
          </a:custGeom>
          <a:solidFill>
            <a:srgbClr val="00C2FF"/>
          </a:solidFill>
        </p:spPr>
        <p:txBody>
          <a:bodyPr wrap="square" lIns="0" tIns="0" rIns="0" bIns="0" rtlCol="0"/>
          <a:lstStyle/>
          <a:p>
            <a:endParaRPr sz="2400"/>
          </a:p>
        </p:txBody>
      </p:sp>
      <p:sp>
        <p:nvSpPr>
          <p:cNvPr id="18" name="object 18"/>
          <p:cNvSpPr txBox="1"/>
          <p:nvPr/>
        </p:nvSpPr>
        <p:spPr>
          <a:xfrm>
            <a:off x="9758679" y="4700964"/>
            <a:ext cx="1646767" cy="305276"/>
          </a:xfrm>
          <a:prstGeom prst="rect">
            <a:avLst/>
          </a:prstGeom>
        </p:spPr>
        <p:txBody>
          <a:bodyPr vert="horz" wrap="square" lIns="0" tIns="17780" rIns="0" bIns="0" rtlCol="0">
            <a:spAutoFit/>
          </a:bodyPr>
          <a:lstStyle/>
          <a:p>
            <a:pPr marL="16933">
              <a:spcBef>
                <a:spcPts val="140"/>
              </a:spcBef>
            </a:pPr>
            <a:r>
              <a:rPr sz="1867" b="1" i="1" dirty="0">
                <a:solidFill>
                  <a:srgbClr val="D9D9D9"/>
                </a:solidFill>
                <a:latin typeface="Calibri"/>
                <a:cs typeface="Calibri"/>
              </a:rPr>
              <a:t>More</a:t>
            </a:r>
            <a:r>
              <a:rPr sz="1867" b="1" i="1" spc="-60" dirty="0">
                <a:solidFill>
                  <a:srgbClr val="D9D9D9"/>
                </a:solidFill>
                <a:latin typeface="Calibri"/>
                <a:cs typeface="Calibri"/>
              </a:rPr>
              <a:t> </a:t>
            </a:r>
            <a:r>
              <a:rPr sz="1867" b="1" i="1" spc="-13" dirty="0">
                <a:solidFill>
                  <a:srgbClr val="D9D9D9"/>
                </a:solidFill>
                <a:latin typeface="Calibri"/>
                <a:cs typeface="Calibri"/>
              </a:rPr>
              <a:t>significant</a:t>
            </a:r>
            <a:endParaRPr sz="1867">
              <a:latin typeface="Calibri"/>
              <a:cs typeface="Calibri"/>
            </a:endParaRPr>
          </a:p>
        </p:txBody>
      </p:sp>
      <p:sp>
        <p:nvSpPr>
          <p:cNvPr id="19" name="object 19"/>
          <p:cNvSpPr txBox="1"/>
          <p:nvPr/>
        </p:nvSpPr>
        <p:spPr>
          <a:xfrm>
            <a:off x="8030971" y="2043109"/>
            <a:ext cx="3086947" cy="2114276"/>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i="1" dirty="0">
                <a:solidFill>
                  <a:srgbClr val="D9D9D9"/>
                </a:solidFill>
                <a:latin typeface="Calibri"/>
                <a:cs typeface="Calibri"/>
              </a:rPr>
              <a:t>History</a:t>
            </a:r>
            <a:r>
              <a:rPr sz="2400" b="1" i="1" spc="-33" dirty="0">
                <a:solidFill>
                  <a:srgbClr val="D9D9D9"/>
                </a:solidFill>
                <a:latin typeface="Calibri"/>
                <a:cs typeface="Calibri"/>
              </a:rPr>
              <a:t> </a:t>
            </a:r>
            <a:r>
              <a:rPr sz="2400" b="1" i="1" dirty="0">
                <a:solidFill>
                  <a:srgbClr val="D9D9D9"/>
                </a:solidFill>
                <a:latin typeface="Calibri"/>
                <a:cs typeface="Calibri"/>
              </a:rPr>
              <a:t>is</a:t>
            </a:r>
            <a:r>
              <a:rPr sz="2400" b="1" i="1" spc="-40" dirty="0">
                <a:solidFill>
                  <a:srgbClr val="D9D9D9"/>
                </a:solidFill>
                <a:latin typeface="Calibri"/>
                <a:cs typeface="Calibri"/>
              </a:rPr>
              <a:t> </a:t>
            </a:r>
            <a:r>
              <a:rPr sz="2400" b="1" i="1" spc="-13" dirty="0">
                <a:solidFill>
                  <a:srgbClr val="D9D9D9"/>
                </a:solidFill>
                <a:latin typeface="Calibri"/>
                <a:cs typeface="Calibri"/>
              </a:rPr>
              <a:t>lost!</a:t>
            </a:r>
            <a:endParaRPr sz="2400">
              <a:latin typeface="Calibri"/>
              <a:cs typeface="Calibri"/>
            </a:endParaRPr>
          </a:p>
          <a:p>
            <a:pPr marL="397923" indent="-380990">
              <a:spcBef>
                <a:spcPts val="1907"/>
              </a:spcBef>
              <a:buClr>
                <a:srgbClr val="99D3FF"/>
              </a:buClr>
              <a:buFont typeface="Wingdings"/>
              <a:buChar char=""/>
              <a:tabLst>
                <a:tab pos="397923" algn="l"/>
              </a:tabLst>
            </a:pPr>
            <a:r>
              <a:rPr sz="2400" b="1" i="1" dirty="0">
                <a:solidFill>
                  <a:srgbClr val="D9D9D9"/>
                </a:solidFill>
                <a:latin typeface="Calibri"/>
                <a:cs typeface="Calibri"/>
              </a:rPr>
              <a:t>Insignificant </a:t>
            </a:r>
            <a:r>
              <a:rPr sz="2400" b="1" i="1" spc="-13" dirty="0">
                <a:solidFill>
                  <a:srgbClr val="D9D9D9"/>
                </a:solidFill>
                <a:latin typeface="Calibri"/>
                <a:cs typeface="Calibri"/>
              </a:rPr>
              <a:t>changes</a:t>
            </a:r>
            <a:endParaRPr sz="2400">
              <a:latin typeface="Calibri"/>
              <a:cs typeface="Calibri"/>
            </a:endParaRPr>
          </a:p>
          <a:p>
            <a:pPr marL="397077" marR="99904" indent="-380990">
              <a:lnSpc>
                <a:spcPct val="150000"/>
              </a:lnSpc>
              <a:spcBef>
                <a:spcPts val="473"/>
              </a:spcBef>
              <a:buClr>
                <a:srgbClr val="99D3FF"/>
              </a:buClr>
              <a:buFont typeface="Wingdings"/>
              <a:buChar char=""/>
              <a:tabLst>
                <a:tab pos="398770" algn="l"/>
              </a:tabLst>
            </a:pPr>
            <a:r>
              <a:rPr sz="2400" b="1" i="1" dirty="0">
                <a:solidFill>
                  <a:srgbClr val="D9D9D9"/>
                </a:solidFill>
                <a:latin typeface="Calibri"/>
                <a:cs typeface="Calibri"/>
              </a:rPr>
              <a:t>Might</a:t>
            </a:r>
            <a:r>
              <a:rPr sz="2400" b="1" i="1" spc="-20" dirty="0">
                <a:solidFill>
                  <a:srgbClr val="D9D9D9"/>
                </a:solidFill>
                <a:latin typeface="Calibri"/>
                <a:cs typeface="Calibri"/>
              </a:rPr>
              <a:t> </a:t>
            </a:r>
            <a:r>
              <a:rPr sz="2400" b="1" i="1" dirty="0">
                <a:solidFill>
                  <a:srgbClr val="D9D9D9"/>
                </a:solidFill>
                <a:latin typeface="Calibri"/>
                <a:cs typeface="Calibri"/>
              </a:rPr>
              <a:t>affect</a:t>
            </a:r>
            <a:r>
              <a:rPr sz="2400" b="1" i="1" spc="7" dirty="0">
                <a:solidFill>
                  <a:srgbClr val="D9D9D9"/>
                </a:solidFill>
                <a:latin typeface="Calibri"/>
                <a:cs typeface="Calibri"/>
              </a:rPr>
              <a:t> </a:t>
            </a:r>
            <a:r>
              <a:rPr sz="2400" b="1" i="1" dirty="0">
                <a:solidFill>
                  <a:srgbClr val="D9D9D9"/>
                </a:solidFill>
                <a:latin typeface="Calibri"/>
                <a:cs typeface="Calibri"/>
              </a:rPr>
              <a:t>/</a:t>
            </a:r>
            <a:r>
              <a:rPr sz="2400" b="1" i="1" spc="-7" dirty="0">
                <a:solidFill>
                  <a:srgbClr val="D9D9D9"/>
                </a:solidFill>
                <a:latin typeface="Calibri"/>
                <a:cs typeface="Calibri"/>
              </a:rPr>
              <a:t> </a:t>
            </a:r>
            <a:r>
              <a:rPr sz="2400" b="1" i="1" spc="-27" dirty="0">
                <a:solidFill>
                  <a:srgbClr val="D9D9D9"/>
                </a:solidFill>
                <a:latin typeface="Calibri"/>
                <a:cs typeface="Calibri"/>
              </a:rPr>
              <a:t>break 	</a:t>
            </a:r>
            <a:r>
              <a:rPr sz="2400" b="1" i="1" dirty="0">
                <a:solidFill>
                  <a:srgbClr val="D9D9D9"/>
                </a:solidFill>
                <a:latin typeface="Calibri"/>
                <a:cs typeface="Calibri"/>
              </a:rPr>
              <a:t>existing</a:t>
            </a:r>
            <a:r>
              <a:rPr sz="2400" b="1" i="1" spc="-67" dirty="0">
                <a:solidFill>
                  <a:srgbClr val="D9D9D9"/>
                </a:solidFill>
                <a:latin typeface="Calibri"/>
                <a:cs typeface="Calibri"/>
              </a:rPr>
              <a:t> </a:t>
            </a:r>
            <a:r>
              <a:rPr sz="2400" b="1" i="1" spc="-13" dirty="0">
                <a:solidFill>
                  <a:srgbClr val="D9D9D9"/>
                </a:solidFill>
                <a:latin typeface="Calibri"/>
                <a:cs typeface="Calibri"/>
              </a:rPr>
              <a:t>queries</a:t>
            </a:r>
            <a:endParaRPr sz="2400">
              <a:latin typeface="Calibri"/>
              <a:cs typeface="Calibri"/>
            </a:endParaRPr>
          </a:p>
        </p:txBody>
      </p:sp>
      <p:sp>
        <p:nvSpPr>
          <p:cNvPr id="23" name="object 5">
            <a:extLst>
              <a:ext uri="{FF2B5EF4-FFF2-40B4-BE49-F238E27FC236}">
                <a16:creationId xmlns:a16="http://schemas.microsoft.com/office/drawing/2014/main" id="{05C0E1EF-E58F-9656-4AE0-98747FDE736F}"/>
              </a:ext>
            </a:extLst>
          </p:cNvPr>
          <p:cNvSpPr txBox="1">
            <a:spLocks noGrp="1"/>
          </p:cNvSpPr>
          <p:nvPr>
            <p:ph type="title"/>
          </p:nvPr>
        </p:nvSpPr>
        <p:spPr>
          <a:xfrm>
            <a:off x="2123440" y="426322"/>
            <a:ext cx="7233920" cy="695062"/>
          </a:xfrm>
          <a:prstGeom prst="rect">
            <a:avLst/>
          </a:prstGeom>
        </p:spPr>
        <p:txBody>
          <a:bodyPr vert="horz" wrap="square" lIns="0" tIns="17780" rIns="0" bIns="0" rtlCol="0" anchor="ctr">
            <a:spAutoFit/>
          </a:bodyPr>
          <a:lstStyle/>
          <a:p>
            <a:pPr marL="617205" algn="ctr">
              <a:lnSpc>
                <a:spcPct val="100000"/>
              </a:lnSpc>
              <a:spcBef>
                <a:spcPts val="140"/>
              </a:spcBef>
            </a:pPr>
            <a:r>
              <a:rPr dirty="0">
                <a:solidFill>
                  <a:schemeClr val="bg1"/>
                </a:solidFill>
                <a:latin typeface="+mn-lt"/>
              </a:rPr>
              <a:t>Type</a:t>
            </a:r>
            <a:r>
              <a:rPr spc="-20" dirty="0">
                <a:solidFill>
                  <a:schemeClr val="bg1"/>
                </a:solidFill>
                <a:latin typeface="+mn-lt"/>
              </a:rPr>
              <a:t> </a:t>
            </a:r>
            <a:r>
              <a:rPr dirty="0">
                <a:solidFill>
                  <a:schemeClr val="bg1"/>
                </a:solidFill>
                <a:latin typeface="+mn-lt"/>
              </a:rPr>
              <a:t>1: </a:t>
            </a:r>
            <a:r>
              <a:rPr spc="-13" dirty="0">
                <a:solidFill>
                  <a:schemeClr val="bg1"/>
                </a:solidFill>
                <a:latin typeface="+mn-lt"/>
              </a:rPr>
              <a:t>Overwrite</a:t>
            </a:r>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27759" y="2178303"/>
            <a:ext cx="9930384" cy="1702816"/>
          </a:xfrm>
          <a:prstGeom prst="rect">
            <a:avLst/>
          </a:prstGeom>
        </p:spPr>
      </p:pic>
      <p:sp>
        <p:nvSpPr>
          <p:cNvPr id="3" name="object 3"/>
          <p:cNvSpPr txBox="1">
            <a:spLocks noGrp="1"/>
          </p:cNvSpPr>
          <p:nvPr>
            <p:ph type="title"/>
          </p:nvPr>
        </p:nvSpPr>
        <p:spPr>
          <a:xfrm>
            <a:off x="1190751" y="2467260"/>
            <a:ext cx="9811173" cy="1070377"/>
          </a:xfrm>
          <a:prstGeom prst="rect">
            <a:avLst/>
          </a:prstGeom>
          <a:noFill/>
          <a:ln w="9144">
            <a:noFill/>
          </a:ln>
        </p:spPr>
        <p:txBody>
          <a:bodyPr vert="horz" wrap="square" lIns="0" tIns="328505" rIns="0" bIns="0" rtlCol="0" anchor="ctr">
            <a:spAutoFit/>
          </a:bodyPr>
          <a:lstStyle/>
          <a:p>
            <a:pPr algn="ctr">
              <a:lnSpc>
                <a:spcPct val="100000"/>
              </a:lnSpc>
              <a:spcBef>
                <a:spcPts val="2585"/>
              </a:spcBef>
            </a:pPr>
            <a:r>
              <a:rPr sz="4800" dirty="0">
                <a:solidFill>
                  <a:schemeClr val="bg1"/>
                </a:solidFill>
                <a:latin typeface="Arial MT"/>
                <a:cs typeface="Arial MT"/>
              </a:rPr>
              <a:t>Type</a:t>
            </a:r>
            <a:r>
              <a:rPr sz="4800" spc="-13" dirty="0">
                <a:solidFill>
                  <a:schemeClr val="bg1"/>
                </a:solidFill>
                <a:latin typeface="Arial MT"/>
                <a:cs typeface="Arial MT"/>
              </a:rPr>
              <a:t> </a:t>
            </a:r>
            <a:r>
              <a:rPr sz="4800" dirty="0">
                <a:solidFill>
                  <a:schemeClr val="bg1"/>
                </a:solidFill>
                <a:latin typeface="Arial MT"/>
                <a:cs typeface="Arial MT"/>
              </a:rPr>
              <a:t>2:</a:t>
            </a:r>
            <a:r>
              <a:rPr sz="4800" spc="-33" dirty="0">
                <a:solidFill>
                  <a:schemeClr val="bg1"/>
                </a:solidFill>
                <a:latin typeface="Arial MT"/>
                <a:cs typeface="Arial MT"/>
              </a:rPr>
              <a:t> </a:t>
            </a:r>
            <a:r>
              <a:rPr sz="4800" dirty="0">
                <a:solidFill>
                  <a:schemeClr val="bg1"/>
                </a:solidFill>
                <a:latin typeface="Arial MT"/>
                <a:cs typeface="Arial MT"/>
              </a:rPr>
              <a:t>New </a:t>
            </a:r>
            <a:r>
              <a:rPr sz="4800" spc="-33" dirty="0">
                <a:solidFill>
                  <a:schemeClr val="bg1"/>
                </a:solidFill>
                <a:latin typeface="Arial MT"/>
                <a:cs typeface="Arial MT"/>
              </a:rPr>
              <a:t>row</a:t>
            </a:r>
            <a:endParaRPr sz="4800" dirty="0">
              <a:solidFill>
                <a:schemeClr val="bg1"/>
              </a:solidFill>
              <a:latin typeface="Arial MT"/>
              <a:cs typeface="Arial MT"/>
            </a:endParaRPr>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576654" y="4416045"/>
            <a:ext cx="1052407" cy="720513"/>
            <a:chOff x="4182490" y="3312033"/>
            <a:chExt cx="789305" cy="540385"/>
          </a:xfrm>
        </p:grpSpPr>
        <p:sp>
          <p:nvSpPr>
            <p:cNvPr id="3" name="object 3"/>
            <p:cNvSpPr/>
            <p:nvPr/>
          </p:nvSpPr>
          <p:spPr>
            <a:xfrm>
              <a:off x="4195190" y="3324733"/>
              <a:ext cx="763905" cy="514984"/>
            </a:xfrm>
            <a:custGeom>
              <a:avLst/>
              <a:gdLst/>
              <a:ahLst/>
              <a:cxnLst/>
              <a:rect l="l" t="t" r="r" b="b"/>
              <a:pathLst>
                <a:path w="763904" h="514985">
                  <a:moveTo>
                    <a:pt x="74295" y="0"/>
                  </a:moveTo>
                  <a:lnTo>
                    <a:pt x="0" y="145796"/>
                  </a:lnTo>
                  <a:lnTo>
                    <a:pt x="580644" y="441579"/>
                  </a:lnTo>
                  <a:lnTo>
                    <a:pt x="543560" y="514477"/>
                  </a:lnTo>
                  <a:lnTo>
                    <a:pt x="763524" y="442976"/>
                  </a:lnTo>
                  <a:lnTo>
                    <a:pt x="692023" y="222885"/>
                  </a:lnTo>
                  <a:lnTo>
                    <a:pt x="654938" y="295783"/>
                  </a:lnTo>
                  <a:lnTo>
                    <a:pt x="74295" y="0"/>
                  </a:lnTo>
                  <a:close/>
                </a:path>
              </a:pathLst>
            </a:custGeom>
            <a:solidFill>
              <a:srgbClr val="00C3FF"/>
            </a:solidFill>
          </p:spPr>
          <p:txBody>
            <a:bodyPr wrap="square" lIns="0" tIns="0" rIns="0" bIns="0" rtlCol="0"/>
            <a:lstStyle/>
            <a:p>
              <a:endParaRPr sz="2400"/>
            </a:p>
          </p:txBody>
        </p:sp>
        <p:sp>
          <p:nvSpPr>
            <p:cNvPr id="4" name="object 4"/>
            <p:cNvSpPr/>
            <p:nvPr/>
          </p:nvSpPr>
          <p:spPr>
            <a:xfrm>
              <a:off x="4195190" y="3324733"/>
              <a:ext cx="763905" cy="514984"/>
            </a:xfrm>
            <a:custGeom>
              <a:avLst/>
              <a:gdLst/>
              <a:ahLst/>
              <a:cxnLst/>
              <a:rect l="l" t="t" r="r" b="b"/>
              <a:pathLst>
                <a:path w="763904" h="514985">
                  <a:moveTo>
                    <a:pt x="74295" y="0"/>
                  </a:moveTo>
                  <a:lnTo>
                    <a:pt x="654938" y="295783"/>
                  </a:lnTo>
                  <a:lnTo>
                    <a:pt x="692023" y="222885"/>
                  </a:lnTo>
                  <a:lnTo>
                    <a:pt x="763524" y="442976"/>
                  </a:lnTo>
                  <a:lnTo>
                    <a:pt x="543560" y="514477"/>
                  </a:lnTo>
                  <a:lnTo>
                    <a:pt x="580644" y="441579"/>
                  </a:lnTo>
                  <a:lnTo>
                    <a:pt x="0" y="145796"/>
                  </a:lnTo>
                  <a:lnTo>
                    <a:pt x="74295" y="0"/>
                  </a:lnTo>
                  <a:close/>
                </a:path>
              </a:pathLst>
            </a:custGeom>
            <a:ln w="25400">
              <a:solidFill>
                <a:srgbClr val="008FBB"/>
              </a:solidFill>
            </a:ln>
          </p:spPr>
          <p:txBody>
            <a:bodyPr wrap="square" lIns="0" tIns="0" rIns="0" bIns="0" rtlCol="0"/>
            <a:lstStyle/>
            <a:p>
              <a:endParaRPr sz="2400"/>
            </a:p>
          </p:txBody>
        </p:sp>
      </p:grpSp>
      <p:sp>
        <p:nvSpPr>
          <p:cNvPr id="5" name="object 5"/>
          <p:cNvSpPr txBox="1">
            <a:spLocks noGrp="1"/>
          </p:cNvSpPr>
          <p:nvPr>
            <p:ph type="title"/>
          </p:nvPr>
        </p:nvSpPr>
        <p:spPr>
          <a:xfrm>
            <a:off x="3734455" y="172378"/>
            <a:ext cx="5330032"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Type</a:t>
            </a:r>
            <a:r>
              <a:rPr spc="-20" dirty="0">
                <a:solidFill>
                  <a:schemeClr val="bg1"/>
                </a:solidFill>
                <a:latin typeface="+mn-lt"/>
              </a:rPr>
              <a:t> </a:t>
            </a:r>
            <a:r>
              <a:rPr dirty="0">
                <a:solidFill>
                  <a:schemeClr val="bg1"/>
                </a:solidFill>
                <a:latin typeface="+mn-lt"/>
              </a:rPr>
              <a:t>2: New</a:t>
            </a:r>
            <a:r>
              <a:rPr spc="-40" dirty="0">
                <a:solidFill>
                  <a:schemeClr val="bg1"/>
                </a:solidFill>
                <a:latin typeface="+mn-lt"/>
              </a:rPr>
              <a:t> </a:t>
            </a:r>
            <a:r>
              <a:rPr spc="-33" dirty="0">
                <a:solidFill>
                  <a:schemeClr val="bg1"/>
                </a:solidFill>
                <a:latin typeface="+mn-lt"/>
              </a:rPr>
              <a:t>row</a:t>
            </a:r>
          </a:p>
        </p:txBody>
      </p:sp>
      <p:sp>
        <p:nvSpPr>
          <p:cNvPr id="6" name="object 6"/>
          <p:cNvSpPr txBox="1"/>
          <p:nvPr/>
        </p:nvSpPr>
        <p:spPr>
          <a:xfrm>
            <a:off x="2950125" y="1965112"/>
            <a:ext cx="6416040" cy="1163566"/>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Problem</a:t>
            </a:r>
            <a:r>
              <a:rPr sz="2400" b="1" spc="-80" dirty="0">
                <a:solidFill>
                  <a:srgbClr val="D9D9D9"/>
                </a:solidFill>
                <a:latin typeface="Calibri"/>
                <a:cs typeface="Calibri"/>
              </a:rPr>
              <a:t> </a:t>
            </a:r>
            <a:r>
              <a:rPr sz="2400" b="1" dirty="0">
                <a:solidFill>
                  <a:srgbClr val="D9D9D9"/>
                </a:solidFill>
                <a:latin typeface="Calibri"/>
                <a:cs typeface="Calibri"/>
              </a:rPr>
              <a:t>with</a:t>
            </a:r>
            <a:r>
              <a:rPr sz="2400" b="1" spc="-33" dirty="0">
                <a:solidFill>
                  <a:srgbClr val="D9D9D9"/>
                </a:solidFill>
                <a:latin typeface="Calibri"/>
                <a:cs typeface="Calibri"/>
              </a:rPr>
              <a:t> </a:t>
            </a:r>
            <a:r>
              <a:rPr sz="2400" b="1" dirty="0">
                <a:solidFill>
                  <a:srgbClr val="D9D9D9"/>
                </a:solidFill>
                <a:latin typeface="Calibri"/>
                <a:cs typeface="Calibri"/>
              </a:rPr>
              <a:t>Type</a:t>
            </a:r>
            <a:r>
              <a:rPr sz="2400" b="1" spc="-53" dirty="0">
                <a:solidFill>
                  <a:srgbClr val="D9D9D9"/>
                </a:solidFill>
                <a:latin typeface="Calibri"/>
                <a:cs typeface="Calibri"/>
              </a:rPr>
              <a:t> </a:t>
            </a:r>
            <a:r>
              <a:rPr sz="2400" b="1" dirty="0">
                <a:solidFill>
                  <a:srgbClr val="D9D9D9"/>
                </a:solidFill>
                <a:latin typeface="Calibri"/>
                <a:cs typeface="Calibri"/>
              </a:rPr>
              <a:t>1:</a:t>
            </a:r>
            <a:r>
              <a:rPr sz="2400" b="1" spc="7" dirty="0">
                <a:solidFill>
                  <a:srgbClr val="D9D9D9"/>
                </a:solidFill>
                <a:latin typeface="Calibri"/>
                <a:cs typeface="Calibri"/>
              </a:rPr>
              <a:t> </a:t>
            </a:r>
            <a:r>
              <a:rPr sz="2400" b="1" i="1" dirty="0">
                <a:solidFill>
                  <a:srgbClr val="D9D9D9"/>
                </a:solidFill>
                <a:latin typeface="Calibri"/>
                <a:cs typeface="Calibri"/>
              </a:rPr>
              <a:t>No</a:t>
            </a:r>
            <a:r>
              <a:rPr sz="2400" b="1" i="1" spc="-33" dirty="0">
                <a:solidFill>
                  <a:srgbClr val="D9D9D9"/>
                </a:solidFill>
                <a:latin typeface="Calibri"/>
                <a:cs typeface="Calibri"/>
              </a:rPr>
              <a:t> </a:t>
            </a:r>
            <a:r>
              <a:rPr sz="2400" b="1" i="1" dirty="0">
                <a:solidFill>
                  <a:srgbClr val="D9D9D9"/>
                </a:solidFill>
                <a:latin typeface="Calibri"/>
                <a:cs typeface="Calibri"/>
              </a:rPr>
              <a:t>history</a:t>
            </a:r>
            <a:r>
              <a:rPr sz="2400" b="1" i="1" spc="-7" dirty="0">
                <a:solidFill>
                  <a:srgbClr val="D9D9D9"/>
                </a:solidFill>
                <a:latin typeface="Calibri"/>
                <a:cs typeface="Calibri"/>
              </a:rPr>
              <a:t> </a:t>
            </a:r>
            <a:r>
              <a:rPr sz="2400" b="1" i="1" dirty="0">
                <a:solidFill>
                  <a:srgbClr val="D9D9D9"/>
                </a:solidFill>
                <a:latin typeface="Calibri"/>
                <a:cs typeface="Calibri"/>
              </a:rPr>
              <a:t>of</a:t>
            </a:r>
            <a:r>
              <a:rPr sz="2400" b="1" i="1" spc="-33" dirty="0">
                <a:solidFill>
                  <a:srgbClr val="D9D9D9"/>
                </a:solidFill>
                <a:latin typeface="Calibri"/>
                <a:cs typeface="Calibri"/>
              </a:rPr>
              <a:t> </a:t>
            </a:r>
            <a:r>
              <a:rPr sz="2400" b="1" i="1" spc="-13" dirty="0">
                <a:solidFill>
                  <a:srgbClr val="D9D9D9"/>
                </a:solidFill>
                <a:latin typeface="Calibri"/>
                <a:cs typeface="Calibri"/>
              </a:rPr>
              <a:t>dimensions!</a:t>
            </a:r>
            <a:endParaRPr sz="2400">
              <a:latin typeface="Calibri"/>
              <a:cs typeface="Calibri"/>
            </a:endParaRPr>
          </a:p>
          <a:p>
            <a:pPr>
              <a:spcBef>
                <a:spcPts val="347"/>
              </a:spcBef>
              <a:buClr>
                <a:srgbClr val="99D3FF"/>
              </a:buClr>
              <a:buFont typeface="Wingdings"/>
              <a:buChar char=""/>
            </a:pPr>
            <a:endParaRPr sz="2400">
              <a:latin typeface="Calibri"/>
              <a:cs typeface="Calibri"/>
            </a:endParaRPr>
          </a:p>
          <a:p>
            <a:pPr marL="397923" indent="-380990">
              <a:spcBef>
                <a:spcPts val="7"/>
              </a:spcBef>
              <a:buClr>
                <a:srgbClr val="99D3FF"/>
              </a:buClr>
              <a:buFont typeface="Wingdings"/>
              <a:buChar char=""/>
              <a:tabLst>
                <a:tab pos="397923" algn="l"/>
              </a:tabLst>
            </a:pPr>
            <a:r>
              <a:rPr sz="2400" b="1" dirty="0">
                <a:solidFill>
                  <a:srgbClr val="D9D9D9"/>
                </a:solidFill>
                <a:latin typeface="Calibri"/>
                <a:cs typeface="Calibri"/>
              </a:rPr>
              <a:t>Only</a:t>
            </a:r>
            <a:r>
              <a:rPr sz="2400" b="1" spc="-33" dirty="0">
                <a:solidFill>
                  <a:srgbClr val="D9D9D9"/>
                </a:solidFill>
                <a:latin typeface="Calibri"/>
                <a:cs typeface="Calibri"/>
              </a:rPr>
              <a:t> </a:t>
            </a:r>
            <a:r>
              <a:rPr sz="2400" b="1" dirty="0">
                <a:solidFill>
                  <a:srgbClr val="D9D9D9"/>
                </a:solidFill>
                <a:latin typeface="Calibri"/>
                <a:cs typeface="Calibri"/>
              </a:rPr>
              <a:t>current</a:t>
            </a:r>
            <a:r>
              <a:rPr sz="2400" b="1" spc="-47" dirty="0">
                <a:solidFill>
                  <a:srgbClr val="D9D9D9"/>
                </a:solidFill>
                <a:latin typeface="Calibri"/>
                <a:cs typeface="Calibri"/>
              </a:rPr>
              <a:t> </a:t>
            </a:r>
            <a:r>
              <a:rPr sz="2400" b="1" dirty="0">
                <a:solidFill>
                  <a:srgbClr val="D9D9D9"/>
                </a:solidFill>
                <a:latin typeface="Calibri"/>
                <a:cs typeface="Calibri"/>
              </a:rPr>
              <a:t>state</a:t>
            </a:r>
            <a:r>
              <a:rPr sz="2400" b="1" spc="-47" dirty="0">
                <a:solidFill>
                  <a:srgbClr val="D9D9D9"/>
                </a:solidFill>
                <a:latin typeface="Calibri"/>
                <a:cs typeface="Calibri"/>
              </a:rPr>
              <a:t> </a:t>
            </a:r>
            <a:r>
              <a:rPr sz="2400" b="1" dirty="0">
                <a:solidFill>
                  <a:srgbClr val="D9D9D9"/>
                </a:solidFill>
                <a:latin typeface="Calibri"/>
                <a:cs typeface="Calibri"/>
              </a:rPr>
              <a:t>is</a:t>
            </a:r>
            <a:r>
              <a:rPr sz="2400" b="1" spc="-13" dirty="0">
                <a:solidFill>
                  <a:srgbClr val="D9D9D9"/>
                </a:solidFill>
                <a:latin typeface="Calibri"/>
                <a:cs typeface="Calibri"/>
              </a:rPr>
              <a:t> reflected</a:t>
            </a:r>
            <a:endParaRPr sz="2400">
              <a:latin typeface="Calibri"/>
              <a:cs typeface="Calibri"/>
            </a:endParaRPr>
          </a:p>
        </p:txBody>
      </p:sp>
      <p:graphicFrame>
        <p:nvGraphicFramePr>
          <p:cNvPr id="7" name="object 7"/>
          <p:cNvGraphicFramePr>
            <a:graphicFrameLocks noGrp="1"/>
          </p:cNvGraphicFramePr>
          <p:nvPr>
            <p:extLst>
              <p:ext uri="{D42A27DB-BD31-4B8C-83A1-F6EECF244321}">
                <p14:modId xmlns:p14="http://schemas.microsoft.com/office/powerpoint/2010/main" val="2260557405"/>
              </p:ext>
            </p:extLst>
          </p:nvPr>
        </p:nvGraphicFramePr>
        <p:xfrm>
          <a:off x="2295939" y="3319364"/>
          <a:ext cx="5443609" cy="1163567"/>
        </p:xfrm>
        <a:graphic>
          <a:graphicData uri="http://schemas.openxmlformats.org/drawingml/2006/table">
            <a:tbl>
              <a:tblPr firstRow="1" bandRow="1">
                <a:tableStyleId>{2D5ABB26-0587-4C30-8999-92F81FD0307C}</a:tableStyleId>
              </a:tblPr>
              <a:tblGrid>
                <a:gridCol w="1360902">
                  <a:extLst>
                    <a:ext uri="{9D8B030D-6E8A-4147-A177-3AD203B41FA5}">
                      <a16:colId xmlns:a16="http://schemas.microsoft.com/office/drawing/2014/main" val="20000"/>
                    </a:ext>
                  </a:extLst>
                </a:gridCol>
                <a:gridCol w="2407750">
                  <a:extLst>
                    <a:ext uri="{9D8B030D-6E8A-4147-A177-3AD203B41FA5}">
                      <a16:colId xmlns:a16="http://schemas.microsoft.com/office/drawing/2014/main" val="20001"/>
                    </a:ext>
                  </a:extLst>
                </a:gridCol>
                <a:gridCol w="1674957">
                  <a:extLst>
                    <a:ext uri="{9D8B030D-6E8A-4147-A177-3AD203B41FA5}">
                      <a16:colId xmlns:a16="http://schemas.microsoft.com/office/drawing/2014/main" val="20002"/>
                    </a:ext>
                  </a:extLst>
                </a:gridCol>
              </a:tblGrid>
              <a:tr h="265445">
                <a:tc>
                  <a:txBody>
                    <a:bodyPr/>
                    <a:lstStyle/>
                    <a:p>
                      <a:pPr marL="3175" algn="ctr">
                        <a:lnSpc>
                          <a:spcPct val="100000"/>
                        </a:lnSpc>
                        <a:spcBef>
                          <a:spcPts val="60"/>
                        </a:spcBef>
                      </a:pPr>
                      <a:r>
                        <a:rPr sz="1400" b="1" spc="-10" dirty="0">
                          <a:solidFill>
                            <a:schemeClr val="bg1"/>
                          </a:solidFill>
                          <a:latin typeface="Arial"/>
                          <a:cs typeface="Arial"/>
                        </a:rPr>
                        <a:t>Product_Key</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270" algn="ctr">
                        <a:lnSpc>
                          <a:spcPct val="100000"/>
                        </a:lnSpc>
                        <a:spcBef>
                          <a:spcPts val="60"/>
                        </a:spcBef>
                      </a:pPr>
                      <a:r>
                        <a:rPr sz="1400" b="1" spc="-20" dirty="0">
                          <a:solidFill>
                            <a:schemeClr val="bg1"/>
                          </a:solidFill>
                          <a:latin typeface="Arial"/>
                          <a:cs typeface="Arial"/>
                        </a:rPr>
                        <a:t>Name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5080" algn="ctr">
                        <a:lnSpc>
                          <a:spcPct val="100000"/>
                        </a:lnSpc>
                        <a:spcBef>
                          <a:spcPts val="60"/>
                        </a:spcBef>
                      </a:pPr>
                      <a:r>
                        <a:rPr sz="1400" b="1" spc="-10" dirty="0">
                          <a:solidFill>
                            <a:schemeClr val="bg1"/>
                          </a:solidFill>
                          <a:latin typeface="Arial"/>
                          <a:cs typeface="Arial"/>
                        </a:rPr>
                        <a:t>Category</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99374">
                <a:tc>
                  <a:txBody>
                    <a:bodyPr/>
                    <a:lstStyle/>
                    <a:p>
                      <a:pPr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dirty="0">
                          <a:latin typeface="Arial MT"/>
                          <a:cs typeface="Arial MT"/>
                        </a:rPr>
                        <a:t>Sunglases</a:t>
                      </a:r>
                      <a:r>
                        <a:rPr sz="1400" spc="-55" dirty="0">
                          <a:latin typeface="Arial MT"/>
                          <a:cs typeface="Arial MT"/>
                        </a:rPr>
                        <a:t> </a:t>
                      </a:r>
                      <a:r>
                        <a:rPr sz="1400" dirty="0">
                          <a:latin typeface="Arial MT"/>
                          <a:cs typeface="Arial MT"/>
                        </a:rPr>
                        <a:t>TR-</a:t>
                      </a:r>
                      <a:r>
                        <a:rPr sz="1400" spc="-50" dirty="0">
                          <a:latin typeface="Arial MT"/>
                          <a:cs typeface="Arial MT"/>
                        </a:rPr>
                        <a:t>7</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10" dirty="0">
                          <a:latin typeface="Arial MT"/>
                          <a:cs typeface="Arial MT"/>
                        </a:rPr>
                        <a:t>Assecoirs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99374">
                <a:tc>
                  <a:txBody>
                    <a:bodyPr/>
                    <a:lstStyle/>
                    <a:p>
                      <a:pPr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dirty="0">
                          <a:latin typeface="Arial MT"/>
                          <a:cs typeface="Arial MT"/>
                        </a:rPr>
                        <a:t>Chocolate</a:t>
                      </a:r>
                      <a:r>
                        <a:rPr sz="1400" spc="-25" dirty="0">
                          <a:latin typeface="Arial MT"/>
                          <a:cs typeface="Arial MT"/>
                        </a:rPr>
                        <a:t> </a:t>
                      </a:r>
                      <a:r>
                        <a:rPr sz="1400" dirty="0">
                          <a:latin typeface="Arial MT"/>
                          <a:cs typeface="Arial MT"/>
                        </a:rPr>
                        <a:t>bar</a:t>
                      </a:r>
                      <a:r>
                        <a:rPr sz="1400" spc="-10" dirty="0">
                          <a:latin typeface="Arial MT"/>
                          <a:cs typeface="Arial MT"/>
                        </a:rPr>
                        <a:t> </a:t>
                      </a:r>
                      <a:r>
                        <a:rPr sz="1400" dirty="0">
                          <a:latin typeface="Arial MT"/>
                          <a:cs typeface="Arial MT"/>
                        </a:rPr>
                        <a:t>70%</a:t>
                      </a:r>
                      <a:r>
                        <a:rPr sz="1400" spc="-15" dirty="0">
                          <a:latin typeface="Arial MT"/>
                          <a:cs typeface="Arial MT"/>
                        </a:rPr>
                        <a:t> </a:t>
                      </a:r>
                      <a:r>
                        <a:rPr sz="1400" spc="-10" dirty="0">
                          <a:latin typeface="Arial MT"/>
                          <a:cs typeface="Arial MT"/>
                        </a:rPr>
                        <a:t>cacao</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Sweets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99374">
                <a:tc>
                  <a:txBody>
                    <a:bodyPr/>
                    <a:lstStyle/>
                    <a:p>
                      <a:pPr algn="ctr">
                        <a:lnSpc>
                          <a:spcPct val="10000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dirty="0">
                          <a:latin typeface="Arial MT"/>
                          <a:cs typeface="Arial MT"/>
                        </a:rPr>
                        <a:t>Oat</a:t>
                      </a:r>
                      <a:r>
                        <a:rPr sz="1400" spc="-25" dirty="0">
                          <a:latin typeface="Arial MT"/>
                          <a:cs typeface="Arial MT"/>
                        </a:rPr>
                        <a:t> </a:t>
                      </a:r>
                      <a:r>
                        <a:rPr sz="1400" dirty="0">
                          <a:latin typeface="Arial MT"/>
                          <a:cs typeface="Arial MT"/>
                        </a:rPr>
                        <a:t>meal</a:t>
                      </a:r>
                      <a:r>
                        <a:rPr sz="1400" spc="-35" dirty="0">
                          <a:latin typeface="Arial MT"/>
                          <a:cs typeface="Arial MT"/>
                        </a:rPr>
                        <a:t> </a:t>
                      </a:r>
                      <a:r>
                        <a:rPr sz="1400" spc="-10" dirty="0">
                          <a:latin typeface="Arial MT"/>
                          <a:cs typeface="Arial MT"/>
                        </a:rPr>
                        <a:t>biscuits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10" dirty="0">
                          <a:latin typeface="Arial MT"/>
                          <a:cs typeface="Arial MT"/>
                        </a:rPr>
                        <a:t>Sweets</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graphicFrame>
        <p:nvGraphicFramePr>
          <p:cNvPr id="8" name="object 8"/>
          <p:cNvGraphicFramePr>
            <a:graphicFrameLocks noGrp="1"/>
          </p:cNvGraphicFramePr>
          <p:nvPr>
            <p:extLst>
              <p:ext uri="{D42A27DB-BD31-4B8C-83A1-F6EECF244321}">
                <p14:modId xmlns:p14="http://schemas.microsoft.com/office/powerpoint/2010/main" val="1011023520"/>
              </p:ext>
            </p:extLst>
          </p:nvPr>
        </p:nvGraphicFramePr>
        <p:xfrm>
          <a:off x="4665134" y="5096087"/>
          <a:ext cx="5443608" cy="1137149"/>
        </p:xfrm>
        <a:graphic>
          <a:graphicData uri="http://schemas.openxmlformats.org/drawingml/2006/table">
            <a:tbl>
              <a:tblPr firstRow="1" bandRow="1">
                <a:tableStyleId>{2D5ABB26-0587-4C30-8999-92F81FD0307C}</a:tableStyleId>
              </a:tblPr>
              <a:tblGrid>
                <a:gridCol w="1360902">
                  <a:extLst>
                    <a:ext uri="{9D8B030D-6E8A-4147-A177-3AD203B41FA5}">
                      <a16:colId xmlns:a16="http://schemas.microsoft.com/office/drawing/2014/main" val="20000"/>
                    </a:ext>
                  </a:extLst>
                </a:gridCol>
                <a:gridCol w="2407750">
                  <a:extLst>
                    <a:ext uri="{9D8B030D-6E8A-4147-A177-3AD203B41FA5}">
                      <a16:colId xmlns:a16="http://schemas.microsoft.com/office/drawing/2014/main" val="20001"/>
                    </a:ext>
                  </a:extLst>
                </a:gridCol>
                <a:gridCol w="1674956">
                  <a:extLst>
                    <a:ext uri="{9D8B030D-6E8A-4147-A177-3AD203B41FA5}">
                      <a16:colId xmlns:a16="http://schemas.microsoft.com/office/drawing/2014/main" val="20002"/>
                    </a:ext>
                  </a:extLst>
                </a:gridCol>
              </a:tblGrid>
              <a:tr h="260171">
                <a:tc>
                  <a:txBody>
                    <a:bodyPr/>
                    <a:lstStyle/>
                    <a:p>
                      <a:pPr marL="3810" algn="ctr">
                        <a:lnSpc>
                          <a:spcPct val="100000"/>
                        </a:lnSpc>
                        <a:spcBef>
                          <a:spcPts val="65"/>
                        </a:spcBef>
                      </a:pPr>
                      <a:r>
                        <a:rPr sz="1400" b="1" spc="-10" dirty="0">
                          <a:solidFill>
                            <a:schemeClr val="bg1"/>
                          </a:solidFill>
                          <a:latin typeface="Arial"/>
                          <a:cs typeface="Arial"/>
                        </a:rPr>
                        <a:t>Product_Key</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905" algn="ctr">
                        <a:lnSpc>
                          <a:spcPct val="100000"/>
                        </a:lnSpc>
                        <a:spcBef>
                          <a:spcPts val="65"/>
                        </a:spcBef>
                      </a:pPr>
                      <a:r>
                        <a:rPr sz="1400" b="1" spc="-20" dirty="0">
                          <a:solidFill>
                            <a:schemeClr val="bg1"/>
                          </a:solidFill>
                          <a:latin typeface="Arial"/>
                          <a:cs typeface="Arial"/>
                        </a:rPr>
                        <a:t>Name</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5715" algn="ctr">
                        <a:lnSpc>
                          <a:spcPct val="100000"/>
                        </a:lnSpc>
                        <a:spcBef>
                          <a:spcPts val="65"/>
                        </a:spcBef>
                      </a:pPr>
                      <a:r>
                        <a:rPr sz="1400" b="1" spc="-10" dirty="0">
                          <a:solidFill>
                            <a:schemeClr val="bg1"/>
                          </a:solidFill>
                          <a:latin typeface="Arial"/>
                          <a:cs typeface="Arial"/>
                        </a:rPr>
                        <a:t>Category</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92326">
                <a:tc>
                  <a:txBody>
                    <a:bodyPr/>
                    <a:lstStyle/>
                    <a:p>
                      <a:pPr marL="635" algn="ctr">
                        <a:lnSpc>
                          <a:spcPct val="100000"/>
                        </a:lnSpc>
                        <a:spcBef>
                          <a:spcPts val="229"/>
                        </a:spcBef>
                      </a:pPr>
                      <a:r>
                        <a:rPr sz="1400" spc="-50" dirty="0">
                          <a:latin typeface="Arial MT"/>
                          <a:cs typeface="Arial MT"/>
                        </a:rPr>
                        <a:t>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dirty="0">
                          <a:latin typeface="Arial MT"/>
                          <a:cs typeface="Arial MT"/>
                        </a:rPr>
                        <a:t>Sunglases</a:t>
                      </a:r>
                      <a:r>
                        <a:rPr sz="1400" spc="-55" dirty="0">
                          <a:latin typeface="Arial MT"/>
                          <a:cs typeface="Arial MT"/>
                        </a:rPr>
                        <a:t> </a:t>
                      </a:r>
                      <a:r>
                        <a:rPr sz="1400" dirty="0">
                          <a:latin typeface="Arial MT"/>
                          <a:cs typeface="Arial MT"/>
                        </a:rPr>
                        <a:t>TR-</a:t>
                      </a:r>
                      <a:r>
                        <a:rPr sz="1400" spc="-50" dirty="0">
                          <a:latin typeface="Arial MT"/>
                          <a:cs typeface="Arial MT"/>
                        </a:rPr>
                        <a:t>7</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9"/>
                        </a:spcBef>
                      </a:pPr>
                      <a:r>
                        <a:rPr sz="1400" spc="-10" dirty="0">
                          <a:latin typeface="Arial MT"/>
                          <a:cs typeface="Arial MT"/>
                        </a:rPr>
                        <a:t>Assecoirs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92326">
                <a:tc>
                  <a:txBody>
                    <a:bodyPr/>
                    <a:lstStyle/>
                    <a:p>
                      <a:pPr marL="635" algn="ctr">
                        <a:lnSpc>
                          <a:spcPct val="100000"/>
                        </a:lnSpc>
                        <a:spcBef>
                          <a:spcPts val="229"/>
                        </a:spcBef>
                      </a:pPr>
                      <a:r>
                        <a:rPr sz="1400" spc="-50" dirty="0">
                          <a:latin typeface="Arial MT"/>
                          <a:cs typeface="Arial MT"/>
                        </a:rPr>
                        <a:t>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10" dirty="0">
                          <a:latin typeface="Arial MT"/>
                          <a:cs typeface="Arial MT"/>
                        </a:rPr>
                        <a:t>Chocolate </a:t>
                      </a:r>
                      <a:r>
                        <a:rPr sz="1400" dirty="0">
                          <a:latin typeface="Arial MT"/>
                          <a:cs typeface="Arial MT"/>
                        </a:rPr>
                        <a:t>bar 70%</a:t>
                      </a:r>
                      <a:r>
                        <a:rPr sz="1400" spc="5" dirty="0">
                          <a:latin typeface="Arial MT"/>
                          <a:cs typeface="Arial MT"/>
                        </a:rPr>
                        <a:t> </a:t>
                      </a:r>
                      <a:r>
                        <a:rPr sz="1400" spc="-10" dirty="0">
                          <a:latin typeface="Arial MT"/>
                          <a:cs typeface="Arial MT"/>
                        </a:rPr>
                        <a:t>cacao</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10" dirty="0">
                          <a:latin typeface="Arial MT"/>
                          <a:cs typeface="Arial MT"/>
                        </a:rPr>
                        <a:t>Sweets</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92326">
                <a:tc>
                  <a:txBody>
                    <a:bodyPr/>
                    <a:lstStyle/>
                    <a:p>
                      <a:pPr marL="635" algn="ctr">
                        <a:lnSpc>
                          <a:spcPct val="10000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i="1" dirty="0">
                          <a:solidFill>
                            <a:srgbClr val="008BBE"/>
                          </a:solidFill>
                          <a:latin typeface="Arial"/>
                          <a:cs typeface="Arial"/>
                        </a:rPr>
                        <a:t>Delicious</a:t>
                      </a:r>
                      <a:r>
                        <a:rPr sz="1400" i="1" spc="-45" dirty="0">
                          <a:solidFill>
                            <a:srgbClr val="008BBE"/>
                          </a:solidFill>
                          <a:latin typeface="Arial"/>
                          <a:cs typeface="Arial"/>
                        </a:rPr>
                        <a:t> </a:t>
                      </a:r>
                      <a:r>
                        <a:rPr sz="1400" dirty="0">
                          <a:latin typeface="Arial MT"/>
                          <a:cs typeface="Arial MT"/>
                        </a:rPr>
                        <a:t>Oat</a:t>
                      </a:r>
                      <a:r>
                        <a:rPr sz="1400" spc="-25" dirty="0">
                          <a:latin typeface="Arial MT"/>
                          <a:cs typeface="Arial MT"/>
                        </a:rPr>
                        <a:t> </a:t>
                      </a:r>
                      <a:r>
                        <a:rPr sz="1400" dirty="0">
                          <a:latin typeface="Arial MT"/>
                          <a:cs typeface="Arial MT"/>
                        </a:rPr>
                        <a:t>meal</a:t>
                      </a:r>
                      <a:r>
                        <a:rPr sz="1400" spc="-40" dirty="0">
                          <a:latin typeface="Arial MT"/>
                          <a:cs typeface="Arial MT"/>
                        </a:rPr>
                        <a:t> </a:t>
                      </a:r>
                      <a:r>
                        <a:rPr sz="1400" spc="-10" dirty="0">
                          <a:latin typeface="Arial MT"/>
                          <a:cs typeface="Arial MT"/>
                        </a:rPr>
                        <a:t>biscuits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i="1" spc="-10" dirty="0">
                          <a:solidFill>
                            <a:srgbClr val="008BBE"/>
                          </a:solidFill>
                          <a:latin typeface="Arial"/>
                          <a:cs typeface="Arial"/>
                        </a:rPr>
                        <a:t>Buscuits</a:t>
                      </a:r>
                      <a:endParaRPr sz="1400" dirty="0">
                        <a:latin typeface="Arial"/>
                        <a:cs typeface="Arial"/>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sp>
        <p:nvSpPr>
          <p:cNvPr id="9" name="object 9"/>
          <p:cNvSpPr txBox="1"/>
          <p:nvPr/>
        </p:nvSpPr>
        <p:spPr>
          <a:xfrm>
            <a:off x="6789929" y="4561941"/>
            <a:ext cx="844127" cy="305276"/>
          </a:xfrm>
          <a:prstGeom prst="rect">
            <a:avLst/>
          </a:prstGeom>
        </p:spPr>
        <p:txBody>
          <a:bodyPr vert="horz" wrap="square" lIns="0" tIns="17780" rIns="0" bIns="0" rtlCol="0">
            <a:spAutoFit/>
          </a:bodyPr>
          <a:lstStyle/>
          <a:p>
            <a:pPr marL="16933">
              <a:spcBef>
                <a:spcPts val="140"/>
              </a:spcBef>
            </a:pPr>
            <a:r>
              <a:rPr sz="1867" b="1" i="1" spc="-13" dirty="0">
                <a:solidFill>
                  <a:srgbClr val="D9D9D9"/>
                </a:solidFill>
                <a:latin typeface="Calibri"/>
                <a:cs typeface="Calibri"/>
              </a:rPr>
              <a:t>UPDATE</a:t>
            </a:r>
            <a:endParaRPr sz="1867">
              <a:latin typeface="Calibri"/>
              <a:cs typeface="Calibri"/>
            </a:endParaRPr>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464470" y="4911174"/>
            <a:ext cx="1779693" cy="590127"/>
            <a:chOff x="4848352" y="3683380"/>
            <a:chExt cx="1334770" cy="442595"/>
          </a:xfrm>
        </p:grpSpPr>
        <p:sp>
          <p:nvSpPr>
            <p:cNvPr id="3" name="object 3"/>
            <p:cNvSpPr/>
            <p:nvPr/>
          </p:nvSpPr>
          <p:spPr>
            <a:xfrm>
              <a:off x="4861052" y="3696080"/>
              <a:ext cx="1309370" cy="417195"/>
            </a:xfrm>
            <a:custGeom>
              <a:avLst/>
              <a:gdLst/>
              <a:ahLst/>
              <a:cxnLst/>
              <a:rect l="l" t="t" r="r" b="b"/>
              <a:pathLst>
                <a:path w="1309370" h="417195">
                  <a:moveTo>
                    <a:pt x="16637" y="0"/>
                  </a:moveTo>
                  <a:lnTo>
                    <a:pt x="0" y="64135"/>
                  </a:lnTo>
                  <a:lnTo>
                    <a:pt x="1236852" y="384530"/>
                  </a:lnTo>
                  <a:lnTo>
                    <a:pt x="1228471" y="416610"/>
                  </a:lnTo>
                  <a:lnTo>
                    <a:pt x="1309243" y="369074"/>
                  </a:lnTo>
                  <a:lnTo>
                    <a:pt x="1261745" y="288290"/>
                  </a:lnTo>
                  <a:lnTo>
                    <a:pt x="1253363" y="320370"/>
                  </a:lnTo>
                  <a:lnTo>
                    <a:pt x="16637" y="0"/>
                  </a:lnTo>
                  <a:close/>
                </a:path>
              </a:pathLst>
            </a:custGeom>
            <a:solidFill>
              <a:srgbClr val="00C3FF"/>
            </a:solidFill>
          </p:spPr>
          <p:txBody>
            <a:bodyPr wrap="square" lIns="0" tIns="0" rIns="0" bIns="0" rtlCol="0"/>
            <a:lstStyle/>
            <a:p>
              <a:endParaRPr sz="2400"/>
            </a:p>
          </p:txBody>
        </p:sp>
        <p:sp>
          <p:nvSpPr>
            <p:cNvPr id="4" name="object 4"/>
            <p:cNvSpPr/>
            <p:nvPr/>
          </p:nvSpPr>
          <p:spPr>
            <a:xfrm>
              <a:off x="4861052" y="3696080"/>
              <a:ext cx="1309370" cy="417195"/>
            </a:xfrm>
            <a:custGeom>
              <a:avLst/>
              <a:gdLst/>
              <a:ahLst/>
              <a:cxnLst/>
              <a:rect l="l" t="t" r="r" b="b"/>
              <a:pathLst>
                <a:path w="1309370" h="417195">
                  <a:moveTo>
                    <a:pt x="16637" y="0"/>
                  </a:moveTo>
                  <a:lnTo>
                    <a:pt x="1253363" y="320370"/>
                  </a:lnTo>
                  <a:lnTo>
                    <a:pt x="1261745" y="288290"/>
                  </a:lnTo>
                  <a:lnTo>
                    <a:pt x="1309243" y="369074"/>
                  </a:lnTo>
                  <a:lnTo>
                    <a:pt x="1228471" y="416610"/>
                  </a:lnTo>
                  <a:lnTo>
                    <a:pt x="1236852" y="384530"/>
                  </a:lnTo>
                  <a:lnTo>
                    <a:pt x="0" y="64135"/>
                  </a:lnTo>
                  <a:lnTo>
                    <a:pt x="16637" y="0"/>
                  </a:lnTo>
                  <a:close/>
                </a:path>
              </a:pathLst>
            </a:custGeom>
            <a:ln w="25400">
              <a:solidFill>
                <a:srgbClr val="008FBB"/>
              </a:solidFill>
            </a:ln>
          </p:spPr>
          <p:txBody>
            <a:bodyPr wrap="square" lIns="0" tIns="0" rIns="0" bIns="0" rtlCol="0"/>
            <a:lstStyle/>
            <a:p>
              <a:endParaRPr sz="2400"/>
            </a:p>
          </p:txBody>
        </p:sp>
      </p:grpSp>
      <p:graphicFrame>
        <p:nvGraphicFramePr>
          <p:cNvPr id="6" name="object 6"/>
          <p:cNvGraphicFramePr>
            <a:graphicFrameLocks noGrp="1"/>
          </p:cNvGraphicFramePr>
          <p:nvPr>
            <p:extLst>
              <p:ext uri="{D42A27DB-BD31-4B8C-83A1-F6EECF244321}">
                <p14:modId xmlns:p14="http://schemas.microsoft.com/office/powerpoint/2010/main" val="3869390318"/>
              </p:ext>
            </p:extLst>
          </p:nvPr>
        </p:nvGraphicFramePr>
        <p:xfrm>
          <a:off x="934278" y="3451015"/>
          <a:ext cx="5492701" cy="1735159"/>
        </p:xfrm>
        <a:graphic>
          <a:graphicData uri="http://schemas.openxmlformats.org/drawingml/2006/table">
            <a:tbl>
              <a:tblPr firstRow="1" bandRow="1">
                <a:tableStyleId>{2D5ABB26-0587-4C30-8999-92F81FD0307C}</a:tableStyleId>
              </a:tblPr>
              <a:tblGrid>
                <a:gridCol w="1373175">
                  <a:extLst>
                    <a:ext uri="{9D8B030D-6E8A-4147-A177-3AD203B41FA5}">
                      <a16:colId xmlns:a16="http://schemas.microsoft.com/office/drawing/2014/main" val="20000"/>
                    </a:ext>
                  </a:extLst>
                </a:gridCol>
                <a:gridCol w="2429464">
                  <a:extLst>
                    <a:ext uri="{9D8B030D-6E8A-4147-A177-3AD203B41FA5}">
                      <a16:colId xmlns:a16="http://schemas.microsoft.com/office/drawing/2014/main" val="20001"/>
                    </a:ext>
                  </a:extLst>
                </a:gridCol>
                <a:gridCol w="1690062">
                  <a:extLst>
                    <a:ext uri="{9D8B030D-6E8A-4147-A177-3AD203B41FA5}">
                      <a16:colId xmlns:a16="http://schemas.microsoft.com/office/drawing/2014/main" val="20002"/>
                    </a:ext>
                  </a:extLst>
                </a:gridCol>
              </a:tblGrid>
              <a:tr h="261354">
                <a:tc>
                  <a:txBody>
                    <a:bodyPr/>
                    <a:lstStyle/>
                    <a:p>
                      <a:pPr marL="1905" algn="ctr">
                        <a:lnSpc>
                          <a:spcPct val="100000"/>
                        </a:lnSpc>
                        <a:spcBef>
                          <a:spcPts val="65"/>
                        </a:spcBef>
                      </a:pPr>
                      <a:r>
                        <a:rPr sz="1400" b="1" spc="-10" dirty="0">
                          <a:solidFill>
                            <a:schemeClr val="bg1"/>
                          </a:solidFill>
                          <a:latin typeface="Arial"/>
                          <a:cs typeface="Arial"/>
                        </a:rPr>
                        <a:t>Sales_Key</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270" algn="ctr">
                        <a:lnSpc>
                          <a:spcPct val="100000"/>
                        </a:lnSpc>
                        <a:spcBef>
                          <a:spcPts val="65"/>
                        </a:spcBef>
                      </a:pPr>
                      <a:r>
                        <a:rPr sz="1400" b="1" spc="-20" dirty="0">
                          <a:solidFill>
                            <a:schemeClr val="bg1"/>
                          </a:solidFill>
                          <a:latin typeface="Arial"/>
                          <a:cs typeface="Arial"/>
                        </a:rPr>
                        <a:t>Name</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2540" algn="ctr">
                        <a:lnSpc>
                          <a:spcPct val="100000"/>
                        </a:lnSpc>
                        <a:spcBef>
                          <a:spcPts val="65"/>
                        </a:spcBef>
                      </a:pPr>
                      <a:r>
                        <a:rPr sz="1400" b="1" spc="-10" dirty="0">
                          <a:solidFill>
                            <a:schemeClr val="bg1"/>
                          </a:solidFill>
                          <a:latin typeface="Arial"/>
                          <a:cs typeface="Arial"/>
                        </a:rPr>
                        <a:t>Amount</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94761">
                <a:tc>
                  <a:txBody>
                    <a:bodyPr/>
                    <a:lstStyle/>
                    <a:p>
                      <a:pPr algn="ctr">
                        <a:lnSpc>
                          <a:spcPct val="100000"/>
                        </a:lnSpc>
                        <a:spcBef>
                          <a:spcPts val="229"/>
                        </a:spcBef>
                      </a:pPr>
                      <a:r>
                        <a:rPr sz="1400" spc="-50" dirty="0">
                          <a:latin typeface="Arial MT"/>
                          <a:cs typeface="Arial MT"/>
                        </a:rPr>
                        <a:t>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dirty="0">
                          <a:latin typeface="Arial MT"/>
                          <a:cs typeface="Arial MT"/>
                        </a:rPr>
                        <a:t>Sunglases</a:t>
                      </a:r>
                      <a:r>
                        <a:rPr sz="1400" spc="-55" dirty="0">
                          <a:latin typeface="Arial MT"/>
                          <a:cs typeface="Arial MT"/>
                        </a:rPr>
                        <a:t> </a:t>
                      </a:r>
                      <a:r>
                        <a:rPr sz="1400" dirty="0">
                          <a:latin typeface="Arial MT"/>
                          <a:cs typeface="Arial MT"/>
                        </a:rPr>
                        <a:t>TR-</a:t>
                      </a:r>
                      <a:r>
                        <a:rPr sz="1400" spc="-50" dirty="0">
                          <a:latin typeface="Arial MT"/>
                          <a:cs typeface="Arial MT"/>
                        </a:rPr>
                        <a:t>7</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spc="-25" dirty="0">
                          <a:latin typeface="Arial MT"/>
                          <a:cs typeface="Arial MT"/>
                        </a:rPr>
                        <a:t>$25</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94761">
                <a:tc>
                  <a:txBody>
                    <a:bodyPr/>
                    <a:lstStyle/>
                    <a:p>
                      <a:pPr algn="ctr">
                        <a:lnSpc>
                          <a:spcPct val="100000"/>
                        </a:lnSpc>
                        <a:spcBef>
                          <a:spcPts val="229"/>
                        </a:spcBef>
                      </a:pPr>
                      <a:r>
                        <a:rPr sz="1400" spc="-50" dirty="0">
                          <a:latin typeface="Arial MT"/>
                          <a:cs typeface="Arial MT"/>
                        </a:rPr>
                        <a:t>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0"/>
                        </a:spcBef>
                      </a:pPr>
                      <a:r>
                        <a:rPr sz="1400" spc="-10" dirty="0">
                          <a:latin typeface="Arial MT"/>
                          <a:cs typeface="Arial MT"/>
                        </a:rPr>
                        <a:t>Chocolate </a:t>
                      </a:r>
                      <a:r>
                        <a:rPr sz="1400" dirty="0">
                          <a:latin typeface="Arial MT"/>
                          <a:cs typeface="Arial MT"/>
                        </a:rPr>
                        <a:t>bar 70%</a:t>
                      </a:r>
                      <a:r>
                        <a:rPr sz="1400" spc="5" dirty="0">
                          <a:latin typeface="Arial MT"/>
                          <a:cs typeface="Arial MT"/>
                        </a:rPr>
                        <a:t> </a:t>
                      </a:r>
                      <a:r>
                        <a:rPr sz="1400" spc="-10" dirty="0">
                          <a:latin typeface="Arial MT"/>
                          <a:cs typeface="Arial MT"/>
                        </a:rPr>
                        <a:t>cacao</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25"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94761">
                <a:tc>
                  <a:txBody>
                    <a:bodyPr/>
                    <a:lstStyle/>
                    <a:p>
                      <a:pPr algn="ctr">
                        <a:lnSpc>
                          <a:spcPct val="10000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dirty="0">
                          <a:latin typeface="Arial MT"/>
                          <a:cs typeface="Arial MT"/>
                        </a:rPr>
                        <a:t>Oat</a:t>
                      </a:r>
                      <a:r>
                        <a:rPr sz="1400" spc="-25" dirty="0">
                          <a:latin typeface="Arial MT"/>
                          <a:cs typeface="Arial MT"/>
                        </a:rPr>
                        <a:t> </a:t>
                      </a:r>
                      <a:r>
                        <a:rPr sz="1400" dirty="0">
                          <a:latin typeface="Arial MT"/>
                          <a:cs typeface="Arial MT"/>
                        </a:rPr>
                        <a:t>meal</a:t>
                      </a:r>
                      <a:r>
                        <a:rPr sz="1400" spc="-35" dirty="0">
                          <a:latin typeface="Arial MT"/>
                          <a:cs typeface="Arial MT"/>
                        </a:rPr>
                        <a:t> </a:t>
                      </a:r>
                      <a:r>
                        <a:rPr sz="1400" spc="-10" dirty="0">
                          <a:latin typeface="Arial MT"/>
                          <a:cs typeface="Arial MT"/>
                        </a:rPr>
                        <a:t>biscuits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25" dirty="0">
                          <a:latin typeface="Arial MT"/>
                          <a:cs typeface="Arial MT"/>
                        </a:rPr>
                        <a:t>$4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94761">
                <a:tc>
                  <a:txBody>
                    <a:bodyPr/>
                    <a:lstStyle/>
                    <a:p>
                      <a:pPr algn="ctr">
                        <a:lnSpc>
                          <a:spcPct val="100000"/>
                        </a:lnSpc>
                        <a:spcBef>
                          <a:spcPts val="229"/>
                        </a:spcBef>
                      </a:pPr>
                      <a:r>
                        <a:rPr sz="1400" spc="-50" dirty="0">
                          <a:latin typeface="Arial MT"/>
                          <a:cs typeface="Arial MT"/>
                        </a:rPr>
                        <a:t>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dirty="0">
                          <a:latin typeface="Arial MT"/>
                          <a:cs typeface="Arial MT"/>
                        </a:rPr>
                        <a:t>Chocolate</a:t>
                      </a:r>
                      <a:r>
                        <a:rPr sz="1400" spc="-25" dirty="0">
                          <a:latin typeface="Arial MT"/>
                          <a:cs typeface="Arial MT"/>
                        </a:rPr>
                        <a:t> </a:t>
                      </a:r>
                      <a:r>
                        <a:rPr sz="1400" dirty="0">
                          <a:latin typeface="Arial MT"/>
                          <a:cs typeface="Arial MT"/>
                        </a:rPr>
                        <a:t>bar</a:t>
                      </a:r>
                      <a:r>
                        <a:rPr sz="1400" spc="-10" dirty="0">
                          <a:latin typeface="Arial MT"/>
                          <a:cs typeface="Arial MT"/>
                        </a:rPr>
                        <a:t> </a:t>
                      </a:r>
                      <a:r>
                        <a:rPr sz="1400" dirty="0">
                          <a:latin typeface="Arial MT"/>
                          <a:cs typeface="Arial MT"/>
                        </a:rPr>
                        <a:t>70%</a:t>
                      </a:r>
                      <a:r>
                        <a:rPr sz="1400" spc="-15" dirty="0">
                          <a:latin typeface="Arial MT"/>
                          <a:cs typeface="Arial MT"/>
                        </a:rPr>
                        <a:t> </a:t>
                      </a:r>
                      <a:r>
                        <a:rPr sz="1400" spc="-10" dirty="0">
                          <a:latin typeface="Arial MT"/>
                          <a:cs typeface="Arial MT"/>
                        </a:rPr>
                        <a:t>cacao</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25"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94761">
                <a:tc>
                  <a:txBody>
                    <a:bodyPr/>
                    <a:lstStyle/>
                    <a:p>
                      <a:pPr algn="ctr">
                        <a:lnSpc>
                          <a:spcPct val="100000"/>
                        </a:lnSpc>
                        <a:spcBef>
                          <a:spcPts val="229"/>
                        </a:spcBef>
                      </a:pPr>
                      <a:r>
                        <a:rPr sz="1400" spc="-50" dirty="0">
                          <a:latin typeface="Arial MT"/>
                          <a:cs typeface="Arial MT"/>
                        </a:rPr>
                        <a:t>5</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dirty="0">
                          <a:latin typeface="Arial MT"/>
                          <a:cs typeface="Arial MT"/>
                        </a:rPr>
                        <a:t>Oat</a:t>
                      </a:r>
                      <a:r>
                        <a:rPr sz="1400" spc="-25" dirty="0">
                          <a:latin typeface="Arial MT"/>
                          <a:cs typeface="Arial MT"/>
                        </a:rPr>
                        <a:t> </a:t>
                      </a:r>
                      <a:r>
                        <a:rPr sz="1400" dirty="0">
                          <a:latin typeface="Arial MT"/>
                          <a:cs typeface="Arial MT"/>
                        </a:rPr>
                        <a:t>meal</a:t>
                      </a:r>
                      <a:r>
                        <a:rPr sz="1400" spc="-35" dirty="0">
                          <a:latin typeface="Arial MT"/>
                          <a:cs typeface="Arial MT"/>
                        </a:rPr>
                        <a:t> </a:t>
                      </a:r>
                      <a:r>
                        <a:rPr sz="1400" spc="-10" dirty="0">
                          <a:latin typeface="Arial MT"/>
                          <a:cs typeface="Arial MT"/>
                        </a:rPr>
                        <a:t>biscuits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25" dirty="0">
                          <a:latin typeface="Arial MT"/>
                          <a:cs typeface="Arial MT"/>
                        </a:rPr>
                        <a:t>$4</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graphicFrame>
        <p:nvGraphicFramePr>
          <p:cNvPr id="7" name="object 7"/>
          <p:cNvGraphicFramePr>
            <a:graphicFrameLocks noGrp="1"/>
          </p:cNvGraphicFramePr>
          <p:nvPr>
            <p:extLst>
              <p:ext uri="{D42A27DB-BD31-4B8C-83A1-F6EECF244321}">
                <p14:modId xmlns:p14="http://schemas.microsoft.com/office/powerpoint/2010/main" val="4263794366"/>
              </p:ext>
            </p:extLst>
          </p:nvPr>
        </p:nvGraphicFramePr>
        <p:xfrm>
          <a:off x="8322733" y="4921477"/>
          <a:ext cx="2351892" cy="1001293"/>
        </p:xfrm>
        <a:graphic>
          <a:graphicData uri="http://schemas.openxmlformats.org/drawingml/2006/table">
            <a:tbl>
              <a:tblPr firstRow="1" bandRow="1">
                <a:tableStyleId>{2D5ABB26-0587-4C30-8999-92F81FD0307C}</a:tableStyleId>
              </a:tblPr>
              <a:tblGrid>
                <a:gridCol w="1175946">
                  <a:extLst>
                    <a:ext uri="{9D8B030D-6E8A-4147-A177-3AD203B41FA5}">
                      <a16:colId xmlns:a16="http://schemas.microsoft.com/office/drawing/2014/main" val="20000"/>
                    </a:ext>
                  </a:extLst>
                </a:gridCol>
                <a:gridCol w="1175946">
                  <a:extLst>
                    <a:ext uri="{9D8B030D-6E8A-4147-A177-3AD203B41FA5}">
                      <a16:colId xmlns:a16="http://schemas.microsoft.com/office/drawing/2014/main" val="20001"/>
                    </a:ext>
                  </a:extLst>
                </a:gridCol>
              </a:tblGrid>
              <a:tr h="228621">
                <a:tc>
                  <a:txBody>
                    <a:bodyPr/>
                    <a:lstStyle/>
                    <a:p>
                      <a:pPr marL="5715" algn="ctr">
                        <a:lnSpc>
                          <a:spcPct val="100000"/>
                        </a:lnSpc>
                        <a:spcBef>
                          <a:spcPts val="65"/>
                        </a:spcBef>
                      </a:pPr>
                      <a:r>
                        <a:rPr sz="1400" b="1" spc="-10" dirty="0">
                          <a:solidFill>
                            <a:schemeClr val="bg1"/>
                          </a:solidFill>
                          <a:latin typeface="Arial"/>
                          <a:cs typeface="Arial"/>
                        </a:rPr>
                        <a:t>Category</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3175" algn="ctr">
                        <a:lnSpc>
                          <a:spcPct val="100000"/>
                        </a:lnSpc>
                        <a:spcBef>
                          <a:spcPts val="65"/>
                        </a:spcBef>
                      </a:pPr>
                      <a:r>
                        <a:rPr sz="1400" b="1" spc="-10" dirty="0">
                          <a:solidFill>
                            <a:schemeClr val="bg1"/>
                          </a:solidFill>
                          <a:latin typeface="Arial"/>
                          <a:cs typeface="Arial"/>
                        </a:rPr>
                        <a:t>Amount</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7844">
                <a:tc>
                  <a:txBody>
                    <a:bodyPr/>
                    <a:lstStyle/>
                    <a:p>
                      <a:pPr marL="2540" algn="ctr">
                        <a:lnSpc>
                          <a:spcPct val="100000"/>
                        </a:lnSpc>
                        <a:spcBef>
                          <a:spcPts val="229"/>
                        </a:spcBef>
                      </a:pPr>
                      <a:r>
                        <a:rPr sz="1400" spc="-10" dirty="0">
                          <a:latin typeface="Arial MT"/>
                          <a:cs typeface="Arial MT"/>
                        </a:rPr>
                        <a:t>Assecoirs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spc="-25" dirty="0">
                          <a:latin typeface="Arial MT"/>
                          <a:cs typeface="Arial MT"/>
                        </a:rPr>
                        <a:t>$25</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7844">
                <a:tc>
                  <a:txBody>
                    <a:bodyPr/>
                    <a:lstStyle/>
                    <a:p>
                      <a:pPr marL="2540" algn="ctr">
                        <a:lnSpc>
                          <a:spcPct val="100000"/>
                        </a:lnSpc>
                        <a:spcBef>
                          <a:spcPts val="229"/>
                        </a:spcBef>
                      </a:pPr>
                      <a:r>
                        <a:rPr sz="1400" spc="-10" dirty="0">
                          <a:latin typeface="Arial MT"/>
                          <a:cs typeface="Arial MT"/>
                        </a:rPr>
                        <a:t>Sweets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25" dirty="0">
                          <a:latin typeface="Arial MT"/>
                          <a:cs typeface="Arial MT"/>
                        </a:rPr>
                        <a:t>$6</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6984">
                <a:tc>
                  <a:txBody>
                    <a:bodyPr/>
                    <a:lstStyle/>
                    <a:p>
                      <a:pPr marL="1270" algn="ctr">
                        <a:lnSpc>
                          <a:spcPct val="100000"/>
                        </a:lnSpc>
                        <a:spcBef>
                          <a:spcPts val="229"/>
                        </a:spcBef>
                      </a:pPr>
                      <a:r>
                        <a:rPr sz="1400" spc="-10" dirty="0">
                          <a:latin typeface="Arial MT"/>
                          <a:cs typeface="Arial MT"/>
                        </a:rPr>
                        <a:t>Buscuits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25" dirty="0">
                          <a:latin typeface="Arial MT"/>
                          <a:cs typeface="Arial MT"/>
                        </a:rPr>
                        <a:t>$8</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sp>
        <p:nvSpPr>
          <p:cNvPr id="8" name="object 8"/>
          <p:cNvSpPr txBox="1"/>
          <p:nvPr/>
        </p:nvSpPr>
        <p:spPr>
          <a:xfrm>
            <a:off x="2950125" y="1965112"/>
            <a:ext cx="6416040" cy="1858693"/>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Problem</a:t>
            </a:r>
            <a:r>
              <a:rPr sz="2400" b="1" spc="-80" dirty="0">
                <a:solidFill>
                  <a:srgbClr val="D9D9D9"/>
                </a:solidFill>
                <a:latin typeface="Calibri"/>
                <a:cs typeface="Calibri"/>
              </a:rPr>
              <a:t> </a:t>
            </a:r>
            <a:r>
              <a:rPr sz="2400" b="1" dirty="0">
                <a:solidFill>
                  <a:srgbClr val="D9D9D9"/>
                </a:solidFill>
                <a:latin typeface="Calibri"/>
                <a:cs typeface="Calibri"/>
              </a:rPr>
              <a:t>with</a:t>
            </a:r>
            <a:r>
              <a:rPr sz="2400" b="1" spc="-33" dirty="0">
                <a:solidFill>
                  <a:srgbClr val="D9D9D9"/>
                </a:solidFill>
                <a:latin typeface="Calibri"/>
                <a:cs typeface="Calibri"/>
              </a:rPr>
              <a:t> </a:t>
            </a:r>
            <a:r>
              <a:rPr sz="2400" b="1" dirty="0">
                <a:solidFill>
                  <a:srgbClr val="D9D9D9"/>
                </a:solidFill>
                <a:latin typeface="Calibri"/>
                <a:cs typeface="Calibri"/>
              </a:rPr>
              <a:t>Type</a:t>
            </a:r>
            <a:r>
              <a:rPr sz="2400" b="1" spc="-53" dirty="0">
                <a:solidFill>
                  <a:srgbClr val="D9D9D9"/>
                </a:solidFill>
                <a:latin typeface="Calibri"/>
                <a:cs typeface="Calibri"/>
              </a:rPr>
              <a:t> </a:t>
            </a:r>
            <a:r>
              <a:rPr sz="2400" b="1" dirty="0">
                <a:solidFill>
                  <a:srgbClr val="D9D9D9"/>
                </a:solidFill>
                <a:latin typeface="Calibri"/>
                <a:cs typeface="Calibri"/>
              </a:rPr>
              <a:t>1:</a:t>
            </a:r>
            <a:r>
              <a:rPr sz="2400" b="1" spc="7" dirty="0">
                <a:solidFill>
                  <a:srgbClr val="D9D9D9"/>
                </a:solidFill>
                <a:latin typeface="Calibri"/>
                <a:cs typeface="Calibri"/>
              </a:rPr>
              <a:t> </a:t>
            </a:r>
            <a:r>
              <a:rPr sz="2400" b="1" i="1" dirty="0">
                <a:solidFill>
                  <a:srgbClr val="D9D9D9"/>
                </a:solidFill>
                <a:latin typeface="Calibri"/>
                <a:cs typeface="Calibri"/>
              </a:rPr>
              <a:t>No</a:t>
            </a:r>
            <a:r>
              <a:rPr sz="2400" b="1" i="1" spc="-33" dirty="0">
                <a:solidFill>
                  <a:srgbClr val="D9D9D9"/>
                </a:solidFill>
                <a:latin typeface="Calibri"/>
                <a:cs typeface="Calibri"/>
              </a:rPr>
              <a:t> </a:t>
            </a:r>
            <a:r>
              <a:rPr sz="2400" b="1" i="1" dirty="0">
                <a:solidFill>
                  <a:srgbClr val="D9D9D9"/>
                </a:solidFill>
                <a:latin typeface="Calibri"/>
                <a:cs typeface="Calibri"/>
              </a:rPr>
              <a:t>history</a:t>
            </a:r>
            <a:r>
              <a:rPr sz="2400" b="1" i="1" spc="-7" dirty="0">
                <a:solidFill>
                  <a:srgbClr val="D9D9D9"/>
                </a:solidFill>
                <a:latin typeface="Calibri"/>
                <a:cs typeface="Calibri"/>
              </a:rPr>
              <a:t> </a:t>
            </a:r>
            <a:r>
              <a:rPr sz="2400" b="1" i="1" dirty="0">
                <a:solidFill>
                  <a:srgbClr val="D9D9D9"/>
                </a:solidFill>
                <a:latin typeface="Calibri"/>
                <a:cs typeface="Calibri"/>
              </a:rPr>
              <a:t>of</a:t>
            </a:r>
            <a:r>
              <a:rPr sz="2400" b="1" i="1" spc="-33" dirty="0">
                <a:solidFill>
                  <a:srgbClr val="D9D9D9"/>
                </a:solidFill>
                <a:latin typeface="Calibri"/>
                <a:cs typeface="Calibri"/>
              </a:rPr>
              <a:t> </a:t>
            </a:r>
            <a:r>
              <a:rPr sz="2400" b="1" i="1" spc="-13" dirty="0">
                <a:solidFill>
                  <a:srgbClr val="D9D9D9"/>
                </a:solidFill>
                <a:latin typeface="Calibri"/>
                <a:cs typeface="Calibri"/>
              </a:rPr>
              <a:t>dimensions!</a:t>
            </a:r>
            <a:endParaRPr sz="2400">
              <a:latin typeface="Calibri"/>
              <a:cs typeface="Calibri"/>
            </a:endParaRPr>
          </a:p>
          <a:p>
            <a:pPr>
              <a:spcBef>
                <a:spcPts val="347"/>
              </a:spcBef>
              <a:buClr>
                <a:srgbClr val="99D3FF"/>
              </a:buClr>
              <a:buFont typeface="Wingdings"/>
              <a:buChar char=""/>
            </a:pPr>
            <a:endParaRPr sz="2400">
              <a:latin typeface="Calibri"/>
              <a:cs typeface="Calibri"/>
            </a:endParaRPr>
          </a:p>
          <a:p>
            <a:pPr marL="397923" indent="-380990">
              <a:spcBef>
                <a:spcPts val="7"/>
              </a:spcBef>
              <a:buClr>
                <a:srgbClr val="99D3FF"/>
              </a:buClr>
              <a:buFont typeface="Wingdings"/>
              <a:buChar char=""/>
              <a:tabLst>
                <a:tab pos="397923" algn="l"/>
              </a:tabLst>
            </a:pPr>
            <a:r>
              <a:rPr sz="2400" b="1" dirty="0">
                <a:solidFill>
                  <a:srgbClr val="D9D9D9"/>
                </a:solidFill>
                <a:latin typeface="Calibri"/>
                <a:cs typeface="Calibri"/>
              </a:rPr>
              <a:t>Only</a:t>
            </a:r>
            <a:r>
              <a:rPr sz="2400" b="1" spc="-33" dirty="0">
                <a:solidFill>
                  <a:srgbClr val="D9D9D9"/>
                </a:solidFill>
                <a:latin typeface="Calibri"/>
                <a:cs typeface="Calibri"/>
              </a:rPr>
              <a:t> </a:t>
            </a:r>
            <a:r>
              <a:rPr sz="2400" b="1" dirty="0">
                <a:solidFill>
                  <a:srgbClr val="D9D9D9"/>
                </a:solidFill>
                <a:latin typeface="Calibri"/>
                <a:cs typeface="Calibri"/>
              </a:rPr>
              <a:t>current</a:t>
            </a:r>
            <a:r>
              <a:rPr sz="2400" b="1" spc="-47" dirty="0">
                <a:solidFill>
                  <a:srgbClr val="D9D9D9"/>
                </a:solidFill>
                <a:latin typeface="Calibri"/>
                <a:cs typeface="Calibri"/>
              </a:rPr>
              <a:t> </a:t>
            </a:r>
            <a:r>
              <a:rPr sz="2400" b="1" dirty="0">
                <a:solidFill>
                  <a:srgbClr val="D9D9D9"/>
                </a:solidFill>
                <a:latin typeface="Calibri"/>
                <a:cs typeface="Calibri"/>
              </a:rPr>
              <a:t>state</a:t>
            </a:r>
            <a:r>
              <a:rPr sz="2400" b="1" spc="-47" dirty="0">
                <a:solidFill>
                  <a:srgbClr val="D9D9D9"/>
                </a:solidFill>
                <a:latin typeface="Calibri"/>
                <a:cs typeface="Calibri"/>
              </a:rPr>
              <a:t> </a:t>
            </a:r>
            <a:r>
              <a:rPr sz="2400" b="1" dirty="0">
                <a:solidFill>
                  <a:srgbClr val="D9D9D9"/>
                </a:solidFill>
                <a:latin typeface="Calibri"/>
                <a:cs typeface="Calibri"/>
              </a:rPr>
              <a:t>is</a:t>
            </a:r>
            <a:r>
              <a:rPr sz="2400" b="1" spc="-13" dirty="0">
                <a:solidFill>
                  <a:srgbClr val="D9D9D9"/>
                </a:solidFill>
                <a:latin typeface="Calibri"/>
                <a:cs typeface="Calibri"/>
              </a:rPr>
              <a:t> reflected</a:t>
            </a:r>
            <a:endParaRPr sz="2400">
              <a:latin typeface="Calibri"/>
              <a:cs typeface="Calibri"/>
            </a:endParaRPr>
          </a:p>
          <a:p>
            <a:pPr>
              <a:spcBef>
                <a:spcPts val="313"/>
              </a:spcBef>
            </a:pPr>
            <a:endParaRPr sz="2400">
              <a:latin typeface="Calibri"/>
              <a:cs typeface="Calibri"/>
            </a:endParaRPr>
          </a:p>
          <a:p>
            <a:pPr marL="3979234"/>
            <a:r>
              <a:rPr sz="1867" b="1" i="1" spc="-13" dirty="0">
                <a:solidFill>
                  <a:srgbClr val="D9D9D9"/>
                </a:solidFill>
                <a:latin typeface="Calibri"/>
                <a:cs typeface="Calibri"/>
              </a:rPr>
              <a:t>Before</a:t>
            </a:r>
            <a:endParaRPr sz="1867">
              <a:latin typeface="Calibri"/>
              <a:cs typeface="Calibri"/>
            </a:endParaRPr>
          </a:p>
        </p:txBody>
      </p:sp>
      <p:graphicFrame>
        <p:nvGraphicFramePr>
          <p:cNvPr id="9" name="object 9"/>
          <p:cNvGraphicFramePr>
            <a:graphicFrameLocks noGrp="1"/>
          </p:cNvGraphicFramePr>
          <p:nvPr>
            <p:extLst>
              <p:ext uri="{D42A27DB-BD31-4B8C-83A1-F6EECF244321}">
                <p14:modId xmlns:p14="http://schemas.microsoft.com/office/powerpoint/2010/main" val="2041798731"/>
              </p:ext>
            </p:extLst>
          </p:nvPr>
        </p:nvGraphicFramePr>
        <p:xfrm>
          <a:off x="8322734" y="3329610"/>
          <a:ext cx="2351892" cy="854618"/>
        </p:xfrm>
        <a:graphic>
          <a:graphicData uri="http://schemas.openxmlformats.org/drawingml/2006/table">
            <a:tbl>
              <a:tblPr firstRow="1" bandRow="1">
                <a:tableStyleId>{2D5ABB26-0587-4C30-8999-92F81FD0307C}</a:tableStyleId>
              </a:tblPr>
              <a:tblGrid>
                <a:gridCol w="1175946">
                  <a:extLst>
                    <a:ext uri="{9D8B030D-6E8A-4147-A177-3AD203B41FA5}">
                      <a16:colId xmlns:a16="http://schemas.microsoft.com/office/drawing/2014/main" val="20000"/>
                    </a:ext>
                  </a:extLst>
                </a:gridCol>
                <a:gridCol w="1175946">
                  <a:extLst>
                    <a:ext uri="{9D8B030D-6E8A-4147-A177-3AD203B41FA5}">
                      <a16:colId xmlns:a16="http://schemas.microsoft.com/office/drawing/2014/main" val="20001"/>
                    </a:ext>
                  </a:extLst>
                </a:gridCol>
              </a:tblGrid>
              <a:tr h="262504">
                <a:tc>
                  <a:txBody>
                    <a:bodyPr/>
                    <a:lstStyle/>
                    <a:p>
                      <a:pPr marL="5715" algn="ctr">
                        <a:lnSpc>
                          <a:spcPct val="100000"/>
                        </a:lnSpc>
                        <a:spcBef>
                          <a:spcPts val="60"/>
                        </a:spcBef>
                      </a:pPr>
                      <a:r>
                        <a:rPr sz="1400" b="1" spc="-10" dirty="0">
                          <a:solidFill>
                            <a:schemeClr val="bg1"/>
                          </a:solidFill>
                          <a:latin typeface="Arial"/>
                          <a:cs typeface="Arial"/>
                        </a:rPr>
                        <a:t>Category</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3175" algn="ctr">
                        <a:lnSpc>
                          <a:spcPct val="100000"/>
                        </a:lnSpc>
                        <a:spcBef>
                          <a:spcPts val="60"/>
                        </a:spcBef>
                      </a:pPr>
                      <a:r>
                        <a:rPr sz="1400" b="1" spc="-10" dirty="0">
                          <a:solidFill>
                            <a:schemeClr val="bg1"/>
                          </a:solidFill>
                          <a:latin typeface="Arial"/>
                          <a:cs typeface="Arial"/>
                        </a:rPr>
                        <a:t>Amount</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96057">
                <a:tc>
                  <a:txBody>
                    <a:bodyPr/>
                    <a:lstStyle/>
                    <a:p>
                      <a:pPr marL="2540" algn="ctr">
                        <a:lnSpc>
                          <a:spcPct val="100000"/>
                        </a:lnSpc>
                        <a:spcBef>
                          <a:spcPts val="225"/>
                        </a:spcBef>
                      </a:pPr>
                      <a:r>
                        <a:rPr sz="1400" spc="-10" dirty="0">
                          <a:latin typeface="Arial MT"/>
                          <a:cs typeface="Arial MT"/>
                        </a:rPr>
                        <a:t>Assecoirs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25" dirty="0">
                          <a:latin typeface="Arial MT"/>
                          <a:cs typeface="Arial MT"/>
                        </a:rPr>
                        <a:t>$25</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96057">
                <a:tc>
                  <a:txBody>
                    <a:bodyPr/>
                    <a:lstStyle/>
                    <a:p>
                      <a:pPr marL="3175" algn="ctr">
                        <a:lnSpc>
                          <a:spcPct val="100000"/>
                        </a:lnSpc>
                        <a:spcBef>
                          <a:spcPts val="225"/>
                        </a:spcBef>
                      </a:pPr>
                      <a:r>
                        <a:rPr sz="1400" spc="-10" dirty="0">
                          <a:latin typeface="Arial MT"/>
                          <a:cs typeface="Arial MT"/>
                        </a:rPr>
                        <a:t>Sweets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25" dirty="0">
                          <a:latin typeface="Arial MT"/>
                          <a:cs typeface="Arial MT"/>
                        </a:rPr>
                        <a:t>$14</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bl>
          </a:graphicData>
        </a:graphic>
      </p:graphicFrame>
      <p:grpSp>
        <p:nvGrpSpPr>
          <p:cNvPr id="10" name="object 10"/>
          <p:cNvGrpSpPr/>
          <p:nvPr/>
        </p:nvGrpSpPr>
        <p:grpSpPr>
          <a:xfrm>
            <a:off x="6450584" y="3840140"/>
            <a:ext cx="1811867" cy="423333"/>
            <a:chOff x="4837938" y="2880105"/>
            <a:chExt cx="1358900" cy="317500"/>
          </a:xfrm>
        </p:grpSpPr>
        <p:sp>
          <p:nvSpPr>
            <p:cNvPr id="11" name="object 11"/>
            <p:cNvSpPr/>
            <p:nvPr/>
          </p:nvSpPr>
          <p:spPr>
            <a:xfrm>
              <a:off x="4850638" y="2892805"/>
              <a:ext cx="1333500" cy="292100"/>
            </a:xfrm>
            <a:custGeom>
              <a:avLst/>
              <a:gdLst/>
              <a:ahLst/>
              <a:cxnLst/>
              <a:rect l="l" t="t" r="r" b="b"/>
              <a:pathLst>
                <a:path w="1333500" h="292100">
                  <a:moveTo>
                    <a:pt x="1257808" y="0"/>
                  </a:moveTo>
                  <a:lnTo>
                    <a:pt x="1262888" y="32766"/>
                  </a:lnTo>
                  <a:lnTo>
                    <a:pt x="0" y="226187"/>
                  </a:lnTo>
                  <a:lnTo>
                    <a:pt x="10033" y="291719"/>
                  </a:lnTo>
                  <a:lnTo>
                    <a:pt x="1272921" y="98298"/>
                  </a:lnTo>
                  <a:lnTo>
                    <a:pt x="1277874" y="131063"/>
                  </a:lnTo>
                  <a:lnTo>
                    <a:pt x="1333373" y="55499"/>
                  </a:lnTo>
                  <a:lnTo>
                    <a:pt x="1257808" y="0"/>
                  </a:lnTo>
                  <a:close/>
                </a:path>
              </a:pathLst>
            </a:custGeom>
            <a:solidFill>
              <a:srgbClr val="00C3FF"/>
            </a:solidFill>
          </p:spPr>
          <p:txBody>
            <a:bodyPr wrap="square" lIns="0" tIns="0" rIns="0" bIns="0" rtlCol="0"/>
            <a:lstStyle/>
            <a:p>
              <a:endParaRPr sz="2400"/>
            </a:p>
          </p:txBody>
        </p:sp>
        <p:sp>
          <p:nvSpPr>
            <p:cNvPr id="12" name="object 12"/>
            <p:cNvSpPr/>
            <p:nvPr/>
          </p:nvSpPr>
          <p:spPr>
            <a:xfrm>
              <a:off x="4850638" y="2892805"/>
              <a:ext cx="1333500" cy="292100"/>
            </a:xfrm>
            <a:custGeom>
              <a:avLst/>
              <a:gdLst/>
              <a:ahLst/>
              <a:cxnLst/>
              <a:rect l="l" t="t" r="r" b="b"/>
              <a:pathLst>
                <a:path w="1333500" h="292100">
                  <a:moveTo>
                    <a:pt x="0" y="226187"/>
                  </a:moveTo>
                  <a:lnTo>
                    <a:pt x="1262888" y="32766"/>
                  </a:lnTo>
                  <a:lnTo>
                    <a:pt x="1257808" y="0"/>
                  </a:lnTo>
                  <a:lnTo>
                    <a:pt x="1333373" y="55499"/>
                  </a:lnTo>
                  <a:lnTo>
                    <a:pt x="1277874" y="131063"/>
                  </a:lnTo>
                  <a:lnTo>
                    <a:pt x="1272921" y="98298"/>
                  </a:lnTo>
                  <a:lnTo>
                    <a:pt x="10033" y="291719"/>
                  </a:lnTo>
                  <a:lnTo>
                    <a:pt x="0" y="226187"/>
                  </a:lnTo>
                  <a:close/>
                </a:path>
              </a:pathLst>
            </a:custGeom>
            <a:ln w="25400">
              <a:solidFill>
                <a:srgbClr val="008FBB"/>
              </a:solidFill>
            </a:ln>
          </p:spPr>
          <p:txBody>
            <a:bodyPr wrap="square" lIns="0" tIns="0" rIns="0" bIns="0" rtlCol="0"/>
            <a:lstStyle/>
            <a:p>
              <a:endParaRPr sz="2400"/>
            </a:p>
          </p:txBody>
        </p:sp>
      </p:grpSp>
      <p:sp>
        <p:nvSpPr>
          <p:cNvPr id="13" name="object 13"/>
          <p:cNvSpPr txBox="1"/>
          <p:nvPr/>
        </p:nvSpPr>
        <p:spPr>
          <a:xfrm>
            <a:off x="6990588" y="5331289"/>
            <a:ext cx="537633" cy="305276"/>
          </a:xfrm>
          <a:prstGeom prst="rect">
            <a:avLst/>
          </a:prstGeom>
        </p:spPr>
        <p:txBody>
          <a:bodyPr vert="horz" wrap="square" lIns="0" tIns="17780" rIns="0" bIns="0" rtlCol="0">
            <a:spAutoFit/>
          </a:bodyPr>
          <a:lstStyle/>
          <a:p>
            <a:pPr marL="16933">
              <a:spcBef>
                <a:spcPts val="140"/>
              </a:spcBef>
            </a:pPr>
            <a:r>
              <a:rPr sz="1867" b="1" i="1" spc="-13" dirty="0">
                <a:solidFill>
                  <a:srgbClr val="D9D9D9"/>
                </a:solidFill>
                <a:latin typeface="Calibri"/>
                <a:cs typeface="Calibri"/>
              </a:rPr>
              <a:t>After</a:t>
            </a:r>
            <a:endParaRPr sz="1867">
              <a:latin typeface="Calibri"/>
              <a:cs typeface="Calibri"/>
            </a:endParaRPr>
          </a:p>
        </p:txBody>
      </p:sp>
      <p:sp>
        <p:nvSpPr>
          <p:cNvPr id="16" name="object 5">
            <a:extLst>
              <a:ext uri="{FF2B5EF4-FFF2-40B4-BE49-F238E27FC236}">
                <a16:creationId xmlns:a16="http://schemas.microsoft.com/office/drawing/2014/main" id="{534ED6CD-8985-DA40-3F62-0AAD34FAB644}"/>
              </a:ext>
            </a:extLst>
          </p:cNvPr>
          <p:cNvSpPr txBox="1">
            <a:spLocks noGrp="1"/>
          </p:cNvSpPr>
          <p:nvPr>
            <p:ph type="title"/>
          </p:nvPr>
        </p:nvSpPr>
        <p:spPr>
          <a:xfrm>
            <a:off x="3734455" y="172378"/>
            <a:ext cx="5330032"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Type</a:t>
            </a:r>
            <a:r>
              <a:rPr spc="-20" dirty="0">
                <a:solidFill>
                  <a:schemeClr val="bg1"/>
                </a:solidFill>
                <a:latin typeface="+mn-lt"/>
              </a:rPr>
              <a:t> </a:t>
            </a:r>
            <a:r>
              <a:rPr dirty="0">
                <a:solidFill>
                  <a:schemeClr val="bg1"/>
                </a:solidFill>
                <a:latin typeface="+mn-lt"/>
              </a:rPr>
              <a:t>2: New</a:t>
            </a:r>
            <a:r>
              <a:rPr spc="-40" dirty="0">
                <a:solidFill>
                  <a:schemeClr val="bg1"/>
                </a:solidFill>
                <a:latin typeface="+mn-lt"/>
              </a:rPr>
              <a:t> </a:t>
            </a:r>
            <a:r>
              <a:rPr spc="-33" dirty="0">
                <a:solidFill>
                  <a:schemeClr val="bg1"/>
                </a:solidFill>
                <a:latin typeface="+mn-lt"/>
              </a:rPr>
              <a:t>row</a:t>
            </a:r>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464470" y="4911174"/>
            <a:ext cx="1779693" cy="590127"/>
            <a:chOff x="4848352" y="3683380"/>
            <a:chExt cx="1334770" cy="442595"/>
          </a:xfrm>
        </p:grpSpPr>
        <p:sp>
          <p:nvSpPr>
            <p:cNvPr id="3" name="object 3"/>
            <p:cNvSpPr/>
            <p:nvPr/>
          </p:nvSpPr>
          <p:spPr>
            <a:xfrm>
              <a:off x="4861052" y="3696080"/>
              <a:ext cx="1309370" cy="417195"/>
            </a:xfrm>
            <a:custGeom>
              <a:avLst/>
              <a:gdLst/>
              <a:ahLst/>
              <a:cxnLst/>
              <a:rect l="l" t="t" r="r" b="b"/>
              <a:pathLst>
                <a:path w="1309370" h="417195">
                  <a:moveTo>
                    <a:pt x="16637" y="0"/>
                  </a:moveTo>
                  <a:lnTo>
                    <a:pt x="0" y="64135"/>
                  </a:lnTo>
                  <a:lnTo>
                    <a:pt x="1236852" y="384530"/>
                  </a:lnTo>
                  <a:lnTo>
                    <a:pt x="1228471" y="416610"/>
                  </a:lnTo>
                  <a:lnTo>
                    <a:pt x="1309243" y="369074"/>
                  </a:lnTo>
                  <a:lnTo>
                    <a:pt x="1261745" y="288290"/>
                  </a:lnTo>
                  <a:lnTo>
                    <a:pt x="1253363" y="320370"/>
                  </a:lnTo>
                  <a:lnTo>
                    <a:pt x="16637" y="0"/>
                  </a:lnTo>
                  <a:close/>
                </a:path>
              </a:pathLst>
            </a:custGeom>
            <a:solidFill>
              <a:srgbClr val="00C3FF"/>
            </a:solidFill>
          </p:spPr>
          <p:txBody>
            <a:bodyPr wrap="square" lIns="0" tIns="0" rIns="0" bIns="0" rtlCol="0"/>
            <a:lstStyle/>
            <a:p>
              <a:endParaRPr sz="2400"/>
            </a:p>
          </p:txBody>
        </p:sp>
        <p:sp>
          <p:nvSpPr>
            <p:cNvPr id="4" name="object 4"/>
            <p:cNvSpPr/>
            <p:nvPr/>
          </p:nvSpPr>
          <p:spPr>
            <a:xfrm>
              <a:off x="4861052" y="3696080"/>
              <a:ext cx="1309370" cy="417195"/>
            </a:xfrm>
            <a:custGeom>
              <a:avLst/>
              <a:gdLst/>
              <a:ahLst/>
              <a:cxnLst/>
              <a:rect l="l" t="t" r="r" b="b"/>
              <a:pathLst>
                <a:path w="1309370" h="417195">
                  <a:moveTo>
                    <a:pt x="16637" y="0"/>
                  </a:moveTo>
                  <a:lnTo>
                    <a:pt x="1253363" y="320370"/>
                  </a:lnTo>
                  <a:lnTo>
                    <a:pt x="1261745" y="288290"/>
                  </a:lnTo>
                  <a:lnTo>
                    <a:pt x="1309243" y="369074"/>
                  </a:lnTo>
                  <a:lnTo>
                    <a:pt x="1228471" y="416610"/>
                  </a:lnTo>
                  <a:lnTo>
                    <a:pt x="1236852" y="384530"/>
                  </a:lnTo>
                  <a:lnTo>
                    <a:pt x="0" y="64135"/>
                  </a:lnTo>
                  <a:lnTo>
                    <a:pt x="16637" y="0"/>
                  </a:lnTo>
                  <a:close/>
                </a:path>
              </a:pathLst>
            </a:custGeom>
            <a:ln w="25400">
              <a:solidFill>
                <a:srgbClr val="008FBB"/>
              </a:solidFill>
            </a:ln>
          </p:spPr>
          <p:txBody>
            <a:bodyPr wrap="square" lIns="0" tIns="0" rIns="0" bIns="0" rtlCol="0"/>
            <a:lstStyle/>
            <a:p>
              <a:endParaRPr sz="2400"/>
            </a:p>
          </p:txBody>
        </p:sp>
      </p:grpSp>
      <p:graphicFrame>
        <p:nvGraphicFramePr>
          <p:cNvPr id="6" name="object 6"/>
          <p:cNvGraphicFramePr>
            <a:graphicFrameLocks noGrp="1"/>
          </p:cNvGraphicFramePr>
          <p:nvPr>
            <p:extLst>
              <p:ext uri="{D42A27DB-BD31-4B8C-83A1-F6EECF244321}">
                <p14:modId xmlns:p14="http://schemas.microsoft.com/office/powerpoint/2010/main" val="1930423711"/>
              </p:ext>
            </p:extLst>
          </p:nvPr>
        </p:nvGraphicFramePr>
        <p:xfrm>
          <a:off x="1143779" y="3690959"/>
          <a:ext cx="5283200" cy="1495213"/>
        </p:xfrm>
        <a:graphic>
          <a:graphicData uri="http://schemas.openxmlformats.org/drawingml/2006/table">
            <a:tbl>
              <a:tblPr firstRow="1" bandRow="1">
                <a:tableStyleId>{2D5ABB26-0587-4C30-8999-92F81FD0307C}</a:tableStyleId>
              </a:tblPr>
              <a:tblGrid>
                <a:gridCol w="1320800">
                  <a:extLst>
                    <a:ext uri="{9D8B030D-6E8A-4147-A177-3AD203B41FA5}">
                      <a16:colId xmlns:a16="http://schemas.microsoft.com/office/drawing/2014/main" val="20000"/>
                    </a:ext>
                  </a:extLst>
                </a:gridCol>
                <a:gridCol w="23368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tblGrid>
              <a:tr h="225213">
                <a:tc>
                  <a:txBody>
                    <a:bodyPr/>
                    <a:lstStyle/>
                    <a:p>
                      <a:pPr marL="1905" algn="ctr">
                        <a:lnSpc>
                          <a:spcPct val="100000"/>
                        </a:lnSpc>
                        <a:spcBef>
                          <a:spcPts val="65"/>
                        </a:spcBef>
                      </a:pPr>
                      <a:r>
                        <a:rPr sz="1400" b="1" spc="-10" dirty="0">
                          <a:latin typeface="Arial"/>
                          <a:cs typeface="Arial"/>
                        </a:rPr>
                        <a:t>Sales_Key</a:t>
                      </a:r>
                      <a:endParaRPr sz="1400">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270" algn="ctr">
                        <a:lnSpc>
                          <a:spcPct val="100000"/>
                        </a:lnSpc>
                        <a:spcBef>
                          <a:spcPts val="65"/>
                        </a:spcBef>
                      </a:pPr>
                      <a:r>
                        <a:rPr sz="1400" b="1" spc="-20" dirty="0">
                          <a:latin typeface="Arial"/>
                          <a:cs typeface="Arial"/>
                        </a:rPr>
                        <a:t>Name</a:t>
                      </a:r>
                      <a:endParaRPr sz="1400">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2540" algn="ctr">
                        <a:lnSpc>
                          <a:spcPct val="100000"/>
                        </a:lnSpc>
                        <a:spcBef>
                          <a:spcPts val="65"/>
                        </a:spcBef>
                      </a:pPr>
                      <a:r>
                        <a:rPr sz="1400" b="1" spc="-10" dirty="0">
                          <a:latin typeface="Arial"/>
                          <a:cs typeface="Arial"/>
                        </a:rPr>
                        <a:t>Amount</a:t>
                      </a:r>
                      <a:endParaRPr sz="1400">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algn="ctr">
                        <a:lnSpc>
                          <a:spcPct val="100000"/>
                        </a:lnSpc>
                        <a:spcBef>
                          <a:spcPts val="229"/>
                        </a:spcBef>
                      </a:pPr>
                      <a:r>
                        <a:rPr sz="1400" spc="-50" dirty="0">
                          <a:latin typeface="Arial MT"/>
                          <a:cs typeface="Arial MT"/>
                        </a:rPr>
                        <a:t>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dirty="0">
                          <a:latin typeface="Arial MT"/>
                          <a:cs typeface="Arial MT"/>
                        </a:rPr>
                        <a:t>Sunglases</a:t>
                      </a:r>
                      <a:r>
                        <a:rPr sz="1400" spc="-55" dirty="0">
                          <a:latin typeface="Arial MT"/>
                          <a:cs typeface="Arial MT"/>
                        </a:rPr>
                        <a:t> </a:t>
                      </a:r>
                      <a:r>
                        <a:rPr sz="1400" dirty="0">
                          <a:latin typeface="Arial MT"/>
                          <a:cs typeface="Arial MT"/>
                        </a:rPr>
                        <a:t>TR-</a:t>
                      </a:r>
                      <a:r>
                        <a:rPr sz="1400" spc="-50" dirty="0">
                          <a:latin typeface="Arial MT"/>
                          <a:cs typeface="Arial MT"/>
                        </a:rPr>
                        <a:t>7</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spc="-25" dirty="0">
                          <a:latin typeface="Arial MT"/>
                          <a:cs typeface="Arial MT"/>
                        </a:rPr>
                        <a:t>$25</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ct val="100000"/>
                        </a:lnSpc>
                        <a:spcBef>
                          <a:spcPts val="229"/>
                        </a:spcBef>
                      </a:pPr>
                      <a:r>
                        <a:rPr sz="1400" spc="-50" dirty="0">
                          <a:latin typeface="Arial MT"/>
                          <a:cs typeface="Arial MT"/>
                        </a:rPr>
                        <a:t>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spc="-10" dirty="0">
                          <a:latin typeface="Arial MT"/>
                          <a:cs typeface="Arial MT"/>
                        </a:rPr>
                        <a:t>Chocolate </a:t>
                      </a:r>
                      <a:r>
                        <a:rPr sz="1400" dirty="0">
                          <a:latin typeface="Arial MT"/>
                          <a:cs typeface="Arial MT"/>
                        </a:rPr>
                        <a:t>bar 70%</a:t>
                      </a:r>
                      <a:r>
                        <a:rPr sz="1400" spc="5" dirty="0">
                          <a:latin typeface="Arial MT"/>
                          <a:cs typeface="Arial MT"/>
                        </a:rPr>
                        <a:t> </a:t>
                      </a:r>
                      <a:r>
                        <a:rPr sz="1400" spc="-10" dirty="0">
                          <a:latin typeface="Arial MT"/>
                          <a:cs typeface="Arial MT"/>
                        </a:rPr>
                        <a:t>cacao</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25"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ct val="10000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dirty="0">
                          <a:latin typeface="Arial MT"/>
                          <a:cs typeface="Arial MT"/>
                        </a:rPr>
                        <a:t>Oat</a:t>
                      </a:r>
                      <a:r>
                        <a:rPr sz="1400" spc="-25" dirty="0">
                          <a:latin typeface="Arial MT"/>
                          <a:cs typeface="Arial MT"/>
                        </a:rPr>
                        <a:t> </a:t>
                      </a:r>
                      <a:r>
                        <a:rPr sz="1400" dirty="0">
                          <a:latin typeface="Arial MT"/>
                          <a:cs typeface="Arial MT"/>
                        </a:rPr>
                        <a:t>meal</a:t>
                      </a:r>
                      <a:r>
                        <a:rPr sz="1400" spc="-35" dirty="0">
                          <a:latin typeface="Arial MT"/>
                          <a:cs typeface="Arial MT"/>
                        </a:rPr>
                        <a:t> </a:t>
                      </a:r>
                      <a:r>
                        <a:rPr sz="1400" spc="-10" dirty="0">
                          <a:latin typeface="Arial MT"/>
                          <a:cs typeface="Arial MT"/>
                        </a:rPr>
                        <a:t>biscuits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25" dirty="0">
                          <a:latin typeface="Arial MT"/>
                          <a:cs typeface="Arial MT"/>
                        </a:rPr>
                        <a:t>$4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algn="ctr">
                        <a:lnSpc>
                          <a:spcPct val="100000"/>
                        </a:lnSpc>
                        <a:spcBef>
                          <a:spcPts val="229"/>
                        </a:spcBef>
                      </a:pPr>
                      <a:r>
                        <a:rPr sz="1400" spc="-50" dirty="0">
                          <a:latin typeface="Arial MT"/>
                          <a:cs typeface="Arial MT"/>
                        </a:rPr>
                        <a:t>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dirty="0">
                          <a:latin typeface="Arial MT"/>
                          <a:cs typeface="Arial MT"/>
                        </a:rPr>
                        <a:t>Chocolate</a:t>
                      </a:r>
                      <a:r>
                        <a:rPr sz="1400" spc="-25" dirty="0">
                          <a:latin typeface="Arial MT"/>
                          <a:cs typeface="Arial MT"/>
                        </a:rPr>
                        <a:t> </a:t>
                      </a:r>
                      <a:r>
                        <a:rPr sz="1400" dirty="0">
                          <a:latin typeface="Arial MT"/>
                          <a:cs typeface="Arial MT"/>
                        </a:rPr>
                        <a:t>bar</a:t>
                      </a:r>
                      <a:r>
                        <a:rPr sz="1400" spc="-10" dirty="0">
                          <a:latin typeface="Arial MT"/>
                          <a:cs typeface="Arial MT"/>
                        </a:rPr>
                        <a:t> </a:t>
                      </a:r>
                      <a:r>
                        <a:rPr sz="1400" dirty="0">
                          <a:latin typeface="Arial MT"/>
                          <a:cs typeface="Arial MT"/>
                        </a:rPr>
                        <a:t>70%</a:t>
                      </a:r>
                      <a:r>
                        <a:rPr sz="1400" spc="-15" dirty="0">
                          <a:latin typeface="Arial MT"/>
                          <a:cs typeface="Arial MT"/>
                        </a:rPr>
                        <a:t> </a:t>
                      </a:r>
                      <a:r>
                        <a:rPr sz="1400" spc="-10" dirty="0">
                          <a:latin typeface="Arial MT"/>
                          <a:cs typeface="Arial MT"/>
                        </a:rPr>
                        <a:t>cacao</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25"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algn="ctr">
                        <a:lnSpc>
                          <a:spcPct val="100000"/>
                        </a:lnSpc>
                        <a:spcBef>
                          <a:spcPts val="229"/>
                        </a:spcBef>
                      </a:pPr>
                      <a:r>
                        <a:rPr sz="1400" spc="-50" dirty="0">
                          <a:latin typeface="Arial MT"/>
                          <a:cs typeface="Arial MT"/>
                        </a:rPr>
                        <a:t>5</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66D5FF"/>
                    </a:solidFill>
                  </a:tcPr>
                </a:tc>
                <a:tc>
                  <a:txBody>
                    <a:bodyPr/>
                    <a:lstStyle/>
                    <a:p>
                      <a:pPr algn="ctr">
                        <a:lnSpc>
                          <a:spcPct val="100000"/>
                        </a:lnSpc>
                        <a:spcBef>
                          <a:spcPts val="229"/>
                        </a:spcBef>
                      </a:pPr>
                      <a:r>
                        <a:rPr sz="1400" dirty="0">
                          <a:latin typeface="Arial MT"/>
                          <a:cs typeface="Arial MT"/>
                        </a:rPr>
                        <a:t>Oat</a:t>
                      </a:r>
                      <a:r>
                        <a:rPr sz="1400" spc="-25" dirty="0">
                          <a:latin typeface="Arial MT"/>
                          <a:cs typeface="Arial MT"/>
                        </a:rPr>
                        <a:t> </a:t>
                      </a:r>
                      <a:r>
                        <a:rPr sz="1400" dirty="0">
                          <a:latin typeface="Arial MT"/>
                          <a:cs typeface="Arial MT"/>
                        </a:rPr>
                        <a:t>meal</a:t>
                      </a:r>
                      <a:r>
                        <a:rPr sz="1400" spc="-35" dirty="0">
                          <a:latin typeface="Arial MT"/>
                          <a:cs typeface="Arial MT"/>
                        </a:rPr>
                        <a:t> </a:t>
                      </a:r>
                      <a:r>
                        <a:rPr sz="1400" spc="-10" dirty="0">
                          <a:latin typeface="Arial MT"/>
                          <a:cs typeface="Arial MT"/>
                        </a:rPr>
                        <a:t>biscuits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66D5FF"/>
                    </a:solidFill>
                  </a:tcPr>
                </a:tc>
                <a:tc>
                  <a:txBody>
                    <a:bodyPr/>
                    <a:lstStyle/>
                    <a:p>
                      <a:pPr marL="1905" algn="ctr">
                        <a:lnSpc>
                          <a:spcPct val="100000"/>
                        </a:lnSpc>
                        <a:spcBef>
                          <a:spcPts val="229"/>
                        </a:spcBef>
                      </a:pPr>
                      <a:r>
                        <a:rPr sz="1400" spc="-25" dirty="0">
                          <a:latin typeface="Arial MT"/>
                          <a:cs typeface="Arial MT"/>
                        </a:rPr>
                        <a:t>$4</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66D5FF"/>
                    </a:solidFill>
                  </a:tcPr>
                </a:tc>
                <a:extLst>
                  <a:ext uri="{0D108BD9-81ED-4DB2-BD59-A6C34878D82A}">
                    <a16:rowId xmlns:a16="http://schemas.microsoft.com/office/drawing/2014/main" val="10005"/>
                  </a:ext>
                </a:extLst>
              </a:tr>
            </a:tbl>
          </a:graphicData>
        </a:graphic>
      </p:graphicFrame>
      <p:graphicFrame>
        <p:nvGraphicFramePr>
          <p:cNvPr id="7" name="object 7"/>
          <p:cNvGraphicFramePr>
            <a:graphicFrameLocks noGrp="1"/>
          </p:cNvGraphicFramePr>
          <p:nvPr>
            <p:extLst>
              <p:ext uri="{D42A27DB-BD31-4B8C-83A1-F6EECF244321}">
                <p14:modId xmlns:p14="http://schemas.microsoft.com/office/powerpoint/2010/main" val="498227393"/>
              </p:ext>
            </p:extLst>
          </p:nvPr>
        </p:nvGraphicFramePr>
        <p:xfrm>
          <a:off x="8322734" y="4936405"/>
          <a:ext cx="2032000" cy="986366"/>
        </p:xfrm>
        <a:graphic>
          <a:graphicData uri="http://schemas.openxmlformats.org/drawingml/2006/table">
            <a:tbl>
              <a:tblPr firstRow="1" bandRow="1">
                <a:tableStyleId>{2D5ABB26-0587-4C30-8999-92F81FD0307C}</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tblGrid>
              <a:tr h="225213">
                <a:tc>
                  <a:txBody>
                    <a:bodyPr/>
                    <a:lstStyle/>
                    <a:p>
                      <a:pPr marL="5715" algn="ctr">
                        <a:lnSpc>
                          <a:spcPct val="100000"/>
                        </a:lnSpc>
                        <a:spcBef>
                          <a:spcPts val="65"/>
                        </a:spcBef>
                      </a:pPr>
                      <a:r>
                        <a:rPr sz="1400" b="1" spc="-10" dirty="0">
                          <a:latin typeface="Arial"/>
                          <a:cs typeface="Arial"/>
                        </a:rPr>
                        <a:t>Category</a:t>
                      </a:r>
                      <a:endParaRPr sz="1400">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3175" algn="ctr">
                        <a:lnSpc>
                          <a:spcPct val="100000"/>
                        </a:lnSpc>
                        <a:spcBef>
                          <a:spcPts val="65"/>
                        </a:spcBef>
                      </a:pPr>
                      <a:r>
                        <a:rPr sz="1400" b="1" spc="-10" dirty="0">
                          <a:latin typeface="Arial"/>
                          <a:cs typeface="Arial"/>
                        </a:rPr>
                        <a:t>Amount</a:t>
                      </a:r>
                      <a:endParaRPr sz="1400">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marL="2540" algn="ctr">
                        <a:lnSpc>
                          <a:spcPct val="100000"/>
                        </a:lnSpc>
                        <a:spcBef>
                          <a:spcPts val="229"/>
                        </a:spcBef>
                      </a:pPr>
                      <a:r>
                        <a:rPr sz="1400" spc="-10" dirty="0">
                          <a:latin typeface="Arial MT"/>
                          <a:cs typeface="Arial MT"/>
                        </a:rPr>
                        <a:t>Assecoirs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spc="-25" dirty="0">
                          <a:latin typeface="Arial MT"/>
                          <a:cs typeface="Arial MT"/>
                        </a:rPr>
                        <a:t>$25</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marL="2540" algn="ctr">
                        <a:lnSpc>
                          <a:spcPct val="100000"/>
                        </a:lnSpc>
                        <a:spcBef>
                          <a:spcPts val="229"/>
                        </a:spcBef>
                      </a:pPr>
                      <a:r>
                        <a:rPr sz="1400" spc="-10" dirty="0">
                          <a:latin typeface="Arial MT"/>
                          <a:cs typeface="Arial MT"/>
                        </a:rPr>
                        <a:t>Sweets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25" dirty="0">
                          <a:latin typeface="Arial MT"/>
                          <a:cs typeface="Arial MT"/>
                        </a:rPr>
                        <a:t>$6</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3153">
                <a:tc>
                  <a:txBody>
                    <a:bodyPr/>
                    <a:lstStyle/>
                    <a:p>
                      <a:pPr marL="1270" algn="ctr">
                        <a:lnSpc>
                          <a:spcPct val="100000"/>
                        </a:lnSpc>
                        <a:spcBef>
                          <a:spcPts val="229"/>
                        </a:spcBef>
                      </a:pPr>
                      <a:r>
                        <a:rPr sz="1400" spc="-10" dirty="0">
                          <a:latin typeface="Arial MT"/>
                          <a:cs typeface="Arial MT"/>
                        </a:rPr>
                        <a:t>Buscuits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25" dirty="0">
                          <a:latin typeface="Arial MT"/>
                          <a:cs typeface="Arial MT"/>
                        </a:rPr>
                        <a:t>$8</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sp>
        <p:nvSpPr>
          <p:cNvPr id="8" name="object 8"/>
          <p:cNvSpPr txBox="1"/>
          <p:nvPr/>
        </p:nvSpPr>
        <p:spPr>
          <a:xfrm>
            <a:off x="2950125" y="1965112"/>
            <a:ext cx="6416040" cy="1858693"/>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Problem</a:t>
            </a:r>
            <a:r>
              <a:rPr sz="2400" b="1" spc="-80" dirty="0">
                <a:solidFill>
                  <a:srgbClr val="D9D9D9"/>
                </a:solidFill>
                <a:latin typeface="Calibri"/>
                <a:cs typeface="Calibri"/>
              </a:rPr>
              <a:t> </a:t>
            </a:r>
            <a:r>
              <a:rPr sz="2400" b="1" dirty="0">
                <a:solidFill>
                  <a:srgbClr val="D9D9D9"/>
                </a:solidFill>
                <a:latin typeface="Calibri"/>
                <a:cs typeface="Calibri"/>
              </a:rPr>
              <a:t>with</a:t>
            </a:r>
            <a:r>
              <a:rPr sz="2400" b="1" spc="-33" dirty="0">
                <a:solidFill>
                  <a:srgbClr val="D9D9D9"/>
                </a:solidFill>
                <a:latin typeface="Calibri"/>
                <a:cs typeface="Calibri"/>
              </a:rPr>
              <a:t> </a:t>
            </a:r>
            <a:r>
              <a:rPr sz="2400" b="1" dirty="0">
                <a:solidFill>
                  <a:srgbClr val="D9D9D9"/>
                </a:solidFill>
                <a:latin typeface="Calibri"/>
                <a:cs typeface="Calibri"/>
              </a:rPr>
              <a:t>Type</a:t>
            </a:r>
            <a:r>
              <a:rPr sz="2400" b="1" spc="-53" dirty="0">
                <a:solidFill>
                  <a:srgbClr val="D9D9D9"/>
                </a:solidFill>
                <a:latin typeface="Calibri"/>
                <a:cs typeface="Calibri"/>
              </a:rPr>
              <a:t> </a:t>
            </a:r>
            <a:r>
              <a:rPr sz="2400" b="1" dirty="0">
                <a:solidFill>
                  <a:srgbClr val="D9D9D9"/>
                </a:solidFill>
                <a:latin typeface="Calibri"/>
                <a:cs typeface="Calibri"/>
              </a:rPr>
              <a:t>1:</a:t>
            </a:r>
            <a:r>
              <a:rPr sz="2400" b="1" spc="7" dirty="0">
                <a:solidFill>
                  <a:srgbClr val="D9D9D9"/>
                </a:solidFill>
                <a:latin typeface="Calibri"/>
                <a:cs typeface="Calibri"/>
              </a:rPr>
              <a:t> </a:t>
            </a:r>
            <a:r>
              <a:rPr sz="2400" b="1" i="1" dirty="0">
                <a:solidFill>
                  <a:srgbClr val="D9D9D9"/>
                </a:solidFill>
                <a:latin typeface="Calibri"/>
                <a:cs typeface="Calibri"/>
              </a:rPr>
              <a:t>No</a:t>
            </a:r>
            <a:r>
              <a:rPr sz="2400" b="1" i="1" spc="-33" dirty="0">
                <a:solidFill>
                  <a:srgbClr val="D9D9D9"/>
                </a:solidFill>
                <a:latin typeface="Calibri"/>
                <a:cs typeface="Calibri"/>
              </a:rPr>
              <a:t> </a:t>
            </a:r>
            <a:r>
              <a:rPr sz="2400" b="1" i="1" dirty="0">
                <a:solidFill>
                  <a:srgbClr val="D9D9D9"/>
                </a:solidFill>
                <a:latin typeface="Calibri"/>
                <a:cs typeface="Calibri"/>
              </a:rPr>
              <a:t>history</a:t>
            </a:r>
            <a:r>
              <a:rPr sz="2400" b="1" i="1" spc="-7" dirty="0">
                <a:solidFill>
                  <a:srgbClr val="D9D9D9"/>
                </a:solidFill>
                <a:latin typeface="Calibri"/>
                <a:cs typeface="Calibri"/>
              </a:rPr>
              <a:t> </a:t>
            </a:r>
            <a:r>
              <a:rPr sz="2400" b="1" i="1" dirty="0">
                <a:solidFill>
                  <a:srgbClr val="D9D9D9"/>
                </a:solidFill>
                <a:latin typeface="Calibri"/>
                <a:cs typeface="Calibri"/>
              </a:rPr>
              <a:t>of</a:t>
            </a:r>
            <a:r>
              <a:rPr sz="2400" b="1" i="1" spc="-33" dirty="0">
                <a:solidFill>
                  <a:srgbClr val="D9D9D9"/>
                </a:solidFill>
                <a:latin typeface="Calibri"/>
                <a:cs typeface="Calibri"/>
              </a:rPr>
              <a:t> </a:t>
            </a:r>
            <a:r>
              <a:rPr sz="2400" b="1" i="1" spc="-13" dirty="0">
                <a:solidFill>
                  <a:srgbClr val="D9D9D9"/>
                </a:solidFill>
                <a:latin typeface="Calibri"/>
                <a:cs typeface="Calibri"/>
              </a:rPr>
              <a:t>dimensions!</a:t>
            </a:r>
            <a:endParaRPr sz="2400">
              <a:latin typeface="Calibri"/>
              <a:cs typeface="Calibri"/>
            </a:endParaRPr>
          </a:p>
          <a:p>
            <a:pPr>
              <a:spcBef>
                <a:spcPts val="347"/>
              </a:spcBef>
              <a:buClr>
                <a:srgbClr val="99D3FF"/>
              </a:buClr>
              <a:buFont typeface="Wingdings"/>
              <a:buChar char=""/>
            </a:pPr>
            <a:endParaRPr sz="2400">
              <a:latin typeface="Calibri"/>
              <a:cs typeface="Calibri"/>
            </a:endParaRPr>
          </a:p>
          <a:p>
            <a:pPr marL="397923" indent="-380990">
              <a:spcBef>
                <a:spcPts val="7"/>
              </a:spcBef>
              <a:buClr>
                <a:srgbClr val="99D3FF"/>
              </a:buClr>
              <a:buFont typeface="Wingdings"/>
              <a:buChar char=""/>
              <a:tabLst>
                <a:tab pos="397923" algn="l"/>
              </a:tabLst>
            </a:pPr>
            <a:r>
              <a:rPr sz="2400" b="1" dirty="0">
                <a:solidFill>
                  <a:srgbClr val="D9D9D9"/>
                </a:solidFill>
                <a:latin typeface="Calibri"/>
                <a:cs typeface="Calibri"/>
              </a:rPr>
              <a:t>Only</a:t>
            </a:r>
            <a:r>
              <a:rPr sz="2400" b="1" spc="-33" dirty="0">
                <a:solidFill>
                  <a:srgbClr val="D9D9D9"/>
                </a:solidFill>
                <a:latin typeface="Calibri"/>
                <a:cs typeface="Calibri"/>
              </a:rPr>
              <a:t> </a:t>
            </a:r>
            <a:r>
              <a:rPr sz="2400" b="1" dirty="0">
                <a:solidFill>
                  <a:srgbClr val="D9D9D9"/>
                </a:solidFill>
                <a:latin typeface="Calibri"/>
                <a:cs typeface="Calibri"/>
              </a:rPr>
              <a:t>current</a:t>
            </a:r>
            <a:r>
              <a:rPr sz="2400" b="1" spc="-47" dirty="0">
                <a:solidFill>
                  <a:srgbClr val="D9D9D9"/>
                </a:solidFill>
                <a:latin typeface="Calibri"/>
                <a:cs typeface="Calibri"/>
              </a:rPr>
              <a:t> </a:t>
            </a:r>
            <a:r>
              <a:rPr sz="2400" b="1" dirty="0">
                <a:solidFill>
                  <a:srgbClr val="D9D9D9"/>
                </a:solidFill>
                <a:latin typeface="Calibri"/>
                <a:cs typeface="Calibri"/>
              </a:rPr>
              <a:t>state</a:t>
            </a:r>
            <a:r>
              <a:rPr sz="2400" b="1" spc="-47" dirty="0">
                <a:solidFill>
                  <a:srgbClr val="D9D9D9"/>
                </a:solidFill>
                <a:latin typeface="Calibri"/>
                <a:cs typeface="Calibri"/>
              </a:rPr>
              <a:t> </a:t>
            </a:r>
            <a:r>
              <a:rPr sz="2400" b="1" dirty="0">
                <a:solidFill>
                  <a:srgbClr val="D9D9D9"/>
                </a:solidFill>
                <a:latin typeface="Calibri"/>
                <a:cs typeface="Calibri"/>
              </a:rPr>
              <a:t>is</a:t>
            </a:r>
            <a:r>
              <a:rPr sz="2400" b="1" spc="-13" dirty="0">
                <a:solidFill>
                  <a:srgbClr val="D9D9D9"/>
                </a:solidFill>
                <a:latin typeface="Calibri"/>
                <a:cs typeface="Calibri"/>
              </a:rPr>
              <a:t> reflected</a:t>
            </a:r>
            <a:endParaRPr sz="2400">
              <a:latin typeface="Calibri"/>
              <a:cs typeface="Calibri"/>
            </a:endParaRPr>
          </a:p>
          <a:p>
            <a:pPr>
              <a:spcBef>
                <a:spcPts val="313"/>
              </a:spcBef>
            </a:pPr>
            <a:endParaRPr sz="2400">
              <a:latin typeface="Calibri"/>
              <a:cs typeface="Calibri"/>
            </a:endParaRPr>
          </a:p>
          <a:p>
            <a:pPr marL="3979234"/>
            <a:r>
              <a:rPr sz="1867" b="1" i="1" spc="-13" dirty="0">
                <a:solidFill>
                  <a:srgbClr val="D9D9D9"/>
                </a:solidFill>
                <a:latin typeface="Calibri"/>
                <a:cs typeface="Calibri"/>
              </a:rPr>
              <a:t>Before</a:t>
            </a:r>
            <a:endParaRPr sz="1867">
              <a:latin typeface="Calibri"/>
              <a:cs typeface="Calibri"/>
            </a:endParaRPr>
          </a:p>
        </p:txBody>
      </p:sp>
      <p:graphicFrame>
        <p:nvGraphicFramePr>
          <p:cNvPr id="9" name="object 9"/>
          <p:cNvGraphicFramePr>
            <a:graphicFrameLocks noGrp="1"/>
          </p:cNvGraphicFramePr>
          <p:nvPr>
            <p:extLst>
              <p:ext uri="{D42A27DB-BD31-4B8C-83A1-F6EECF244321}">
                <p14:modId xmlns:p14="http://schemas.microsoft.com/office/powerpoint/2010/main" val="1595302894"/>
              </p:ext>
            </p:extLst>
          </p:nvPr>
        </p:nvGraphicFramePr>
        <p:xfrm>
          <a:off x="8322734" y="3451014"/>
          <a:ext cx="2032000" cy="733213"/>
        </p:xfrm>
        <a:graphic>
          <a:graphicData uri="http://schemas.openxmlformats.org/drawingml/2006/table">
            <a:tbl>
              <a:tblPr firstRow="1" bandRow="1">
                <a:tableStyleId>{2D5ABB26-0587-4C30-8999-92F81FD0307C}</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tblGrid>
              <a:tr h="225213">
                <a:tc>
                  <a:txBody>
                    <a:bodyPr/>
                    <a:lstStyle/>
                    <a:p>
                      <a:pPr marL="5715" algn="ctr">
                        <a:lnSpc>
                          <a:spcPct val="100000"/>
                        </a:lnSpc>
                        <a:spcBef>
                          <a:spcPts val="60"/>
                        </a:spcBef>
                      </a:pPr>
                      <a:r>
                        <a:rPr sz="1400" b="1" spc="-10" dirty="0">
                          <a:latin typeface="Arial"/>
                          <a:cs typeface="Arial"/>
                        </a:rPr>
                        <a:t>Category</a:t>
                      </a:r>
                      <a:endParaRPr sz="1400">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3175" algn="ctr">
                        <a:lnSpc>
                          <a:spcPct val="100000"/>
                        </a:lnSpc>
                        <a:spcBef>
                          <a:spcPts val="60"/>
                        </a:spcBef>
                      </a:pPr>
                      <a:r>
                        <a:rPr sz="1400" b="1" spc="-10" dirty="0">
                          <a:latin typeface="Arial"/>
                          <a:cs typeface="Arial"/>
                        </a:rPr>
                        <a:t>Amount</a:t>
                      </a:r>
                      <a:endParaRPr sz="1400">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marL="2540" algn="ctr">
                        <a:lnSpc>
                          <a:spcPct val="100000"/>
                        </a:lnSpc>
                        <a:spcBef>
                          <a:spcPts val="225"/>
                        </a:spcBef>
                      </a:pPr>
                      <a:r>
                        <a:rPr sz="1400" spc="-10" dirty="0">
                          <a:latin typeface="Arial MT"/>
                          <a:cs typeface="Arial MT"/>
                        </a:rPr>
                        <a:t>Assecoirs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25" dirty="0">
                          <a:latin typeface="Arial MT"/>
                          <a:cs typeface="Arial MT"/>
                        </a:rPr>
                        <a:t>$25</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marL="3175" algn="ctr">
                        <a:lnSpc>
                          <a:spcPct val="100000"/>
                        </a:lnSpc>
                        <a:spcBef>
                          <a:spcPts val="225"/>
                        </a:spcBef>
                      </a:pPr>
                      <a:r>
                        <a:rPr sz="1400" spc="-10" dirty="0">
                          <a:latin typeface="Arial MT"/>
                          <a:cs typeface="Arial MT"/>
                        </a:rPr>
                        <a:t>Sweets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25" dirty="0">
                          <a:latin typeface="Arial MT"/>
                          <a:cs typeface="Arial MT"/>
                        </a:rPr>
                        <a:t>$14</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bl>
          </a:graphicData>
        </a:graphic>
      </p:graphicFrame>
      <p:grpSp>
        <p:nvGrpSpPr>
          <p:cNvPr id="10" name="object 10"/>
          <p:cNvGrpSpPr/>
          <p:nvPr/>
        </p:nvGrpSpPr>
        <p:grpSpPr>
          <a:xfrm>
            <a:off x="6450584" y="3840140"/>
            <a:ext cx="1811867" cy="423333"/>
            <a:chOff x="4837938" y="2880105"/>
            <a:chExt cx="1358900" cy="317500"/>
          </a:xfrm>
        </p:grpSpPr>
        <p:sp>
          <p:nvSpPr>
            <p:cNvPr id="11" name="object 11"/>
            <p:cNvSpPr/>
            <p:nvPr/>
          </p:nvSpPr>
          <p:spPr>
            <a:xfrm>
              <a:off x="4850638" y="2892805"/>
              <a:ext cx="1333500" cy="292100"/>
            </a:xfrm>
            <a:custGeom>
              <a:avLst/>
              <a:gdLst/>
              <a:ahLst/>
              <a:cxnLst/>
              <a:rect l="l" t="t" r="r" b="b"/>
              <a:pathLst>
                <a:path w="1333500" h="292100">
                  <a:moveTo>
                    <a:pt x="1257808" y="0"/>
                  </a:moveTo>
                  <a:lnTo>
                    <a:pt x="1262888" y="32766"/>
                  </a:lnTo>
                  <a:lnTo>
                    <a:pt x="0" y="226187"/>
                  </a:lnTo>
                  <a:lnTo>
                    <a:pt x="10033" y="291719"/>
                  </a:lnTo>
                  <a:lnTo>
                    <a:pt x="1272921" y="98298"/>
                  </a:lnTo>
                  <a:lnTo>
                    <a:pt x="1277874" y="131063"/>
                  </a:lnTo>
                  <a:lnTo>
                    <a:pt x="1333373" y="55499"/>
                  </a:lnTo>
                  <a:lnTo>
                    <a:pt x="1257808" y="0"/>
                  </a:lnTo>
                  <a:close/>
                </a:path>
              </a:pathLst>
            </a:custGeom>
            <a:solidFill>
              <a:srgbClr val="00C3FF"/>
            </a:solidFill>
          </p:spPr>
          <p:txBody>
            <a:bodyPr wrap="square" lIns="0" tIns="0" rIns="0" bIns="0" rtlCol="0"/>
            <a:lstStyle/>
            <a:p>
              <a:endParaRPr sz="2400"/>
            </a:p>
          </p:txBody>
        </p:sp>
        <p:sp>
          <p:nvSpPr>
            <p:cNvPr id="12" name="object 12"/>
            <p:cNvSpPr/>
            <p:nvPr/>
          </p:nvSpPr>
          <p:spPr>
            <a:xfrm>
              <a:off x="4850638" y="2892805"/>
              <a:ext cx="1333500" cy="292100"/>
            </a:xfrm>
            <a:custGeom>
              <a:avLst/>
              <a:gdLst/>
              <a:ahLst/>
              <a:cxnLst/>
              <a:rect l="l" t="t" r="r" b="b"/>
              <a:pathLst>
                <a:path w="1333500" h="292100">
                  <a:moveTo>
                    <a:pt x="0" y="226187"/>
                  </a:moveTo>
                  <a:lnTo>
                    <a:pt x="1262888" y="32766"/>
                  </a:lnTo>
                  <a:lnTo>
                    <a:pt x="1257808" y="0"/>
                  </a:lnTo>
                  <a:lnTo>
                    <a:pt x="1333373" y="55499"/>
                  </a:lnTo>
                  <a:lnTo>
                    <a:pt x="1277874" y="131063"/>
                  </a:lnTo>
                  <a:lnTo>
                    <a:pt x="1272921" y="98298"/>
                  </a:lnTo>
                  <a:lnTo>
                    <a:pt x="10033" y="291719"/>
                  </a:lnTo>
                  <a:lnTo>
                    <a:pt x="0" y="226187"/>
                  </a:lnTo>
                  <a:close/>
                </a:path>
              </a:pathLst>
            </a:custGeom>
            <a:ln w="25400">
              <a:solidFill>
                <a:srgbClr val="008FBB"/>
              </a:solidFill>
            </a:ln>
          </p:spPr>
          <p:txBody>
            <a:bodyPr wrap="square" lIns="0" tIns="0" rIns="0" bIns="0" rtlCol="0"/>
            <a:lstStyle/>
            <a:p>
              <a:endParaRPr sz="2400"/>
            </a:p>
          </p:txBody>
        </p:sp>
      </p:grpSp>
      <p:sp>
        <p:nvSpPr>
          <p:cNvPr id="13" name="object 13"/>
          <p:cNvSpPr txBox="1"/>
          <p:nvPr/>
        </p:nvSpPr>
        <p:spPr>
          <a:xfrm>
            <a:off x="6990588" y="5331289"/>
            <a:ext cx="537633" cy="305276"/>
          </a:xfrm>
          <a:prstGeom prst="rect">
            <a:avLst/>
          </a:prstGeom>
        </p:spPr>
        <p:txBody>
          <a:bodyPr vert="horz" wrap="square" lIns="0" tIns="17780" rIns="0" bIns="0" rtlCol="0">
            <a:spAutoFit/>
          </a:bodyPr>
          <a:lstStyle/>
          <a:p>
            <a:pPr marL="16933">
              <a:spcBef>
                <a:spcPts val="140"/>
              </a:spcBef>
            </a:pPr>
            <a:r>
              <a:rPr sz="1867" b="1" i="1" spc="-13" dirty="0">
                <a:solidFill>
                  <a:srgbClr val="D9D9D9"/>
                </a:solidFill>
                <a:latin typeface="Calibri"/>
                <a:cs typeface="Calibri"/>
              </a:rPr>
              <a:t>After</a:t>
            </a:r>
            <a:endParaRPr sz="1867">
              <a:latin typeface="Calibri"/>
              <a:cs typeface="Calibri"/>
            </a:endParaRPr>
          </a:p>
        </p:txBody>
      </p:sp>
      <p:sp>
        <p:nvSpPr>
          <p:cNvPr id="16" name="object 5">
            <a:extLst>
              <a:ext uri="{FF2B5EF4-FFF2-40B4-BE49-F238E27FC236}">
                <a16:creationId xmlns:a16="http://schemas.microsoft.com/office/drawing/2014/main" id="{0DFEBD91-6F68-AC7D-6A65-8F891FA47547}"/>
              </a:ext>
            </a:extLst>
          </p:cNvPr>
          <p:cNvSpPr txBox="1">
            <a:spLocks noGrp="1"/>
          </p:cNvSpPr>
          <p:nvPr>
            <p:ph type="title"/>
          </p:nvPr>
        </p:nvSpPr>
        <p:spPr>
          <a:xfrm>
            <a:off x="3734455" y="172378"/>
            <a:ext cx="5330032"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Type</a:t>
            </a:r>
            <a:r>
              <a:rPr spc="-20" dirty="0">
                <a:solidFill>
                  <a:schemeClr val="bg1"/>
                </a:solidFill>
                <a:latin typeface="+mn-lt"/>
              </a:rPr>
              <a:t> </a:t>
            </a:r>
            <a:r>
              <a:rPr dirty="0">
                <a:solidFill>
                  <a:schemeClr val="bg1"/>
                </a:solidFill>
                <a:latin typeface="+mn-lt"/>
              </a:rPr>
              <a:t>2: New</a:t>
            </a:r>
            <a:r>
              <a:rPr spc="-40" dirty="0">
                <a:solidFill>
                  <a:schemeClr val="bg1"/>
                </a:solidFill>
                <a:latin typeface="+mn-lt"/>
              </a:rPr>
              <a:t> </a:t>
            </a:r>
            <a:r>
              <a:rPr spc="-33" dirty="0">
                <a:solidFill>
                  <a:schemeClr val="bg1"/>
                </a:solidFill>
                <a:latin typeface="+mn-lt"/>
              </a:rPr>
              <a:t>row</a:t>
            </a:r>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464470" y="4911174"/>
            <a:ext cx="1779693" cy="590127"/>
            <a:chOff x="4848352" y="3683380"/>
            <a:chExt cx="1334770" cy="442595"/>
          </a:xfrm>
        </p:grpSpPr>
        <p:sp>
          <p:nvSpPr>
            <p:cNvPr id="3" name="object 3"/>
            <p:cNvSpPr/>
            <p:nvPr/>
          </p:nvSpPr>
          <p:spPr>
            <a:xfrm>
              <a:off x="4861052" y="3696080"/>
              <a:ext cx="1309370" cy="417195"/>
            </a:xfrm>
            <a:custGeom>
              <a:avLst/>
              <a:gdLst/>
              <a:ahLst/>
              <a:cxnLst/>
              <a:rect l="l" t="t" r="r" b="b"/>
              <a:pathLst>
                <a:path w="1309370" h="417195">
                  <a:moveTo>
                    <a:pt x="16637" y="0"/>
                  </a:moveTo>
                  <a:lnTo>
                    <a:pt x="0" y="64135"/>
                  </a:lnTo>
                  <a:lnTo>
                    <a:pt x="1236852" y="384530"/>
                  </a:lnTo>
                  <a:lnTo>
                    <a:pt x="1228471" y="416610"/>
                  </a:lnTo>
                  <a:lnTo>
                    <a:pt x="1309243" y="369074"/>
                  </a:lnTo>
                  <a:lnTo>
                    <a:pt x="1261745" y="288290"/>
                  </a:lnTo>
                  <a:lnTo>
                    <a:pt x="1253363" y="320370"/>
                  </a:lnTo>
                  <a:lnTo>
                    <a:pt x="16637" y="0"/>
                  </a:lnTo>
                  <a:close/>
                </a:path>
              </a:pathLst>
            </a:custGeom>
            <a:solidFill>
              <a:srgbClr val="00C3FF"/>
            </a:solidFill>
          </p:spPr>
          <p:txBody>
            <a:bodyPr wrap="square" lIns="0" tIns="0" rIns="0" bIns="0" rtlCol="0"/>
            <a:lstStyle/>
            <a:p>
              <a:endParaRPr sz="2400"/>
            </a:p>
          </p:txBody>
        </p:sp>
        <p:sp>
          <p:nvSpPr>
            <p:cNvPr id="4" name="object 4"/>
            <p:cNvSpPr/>
            <p:nvPr/>
          </p:nvSpPr>
          <p:spPr>
            <a:xfrm>
              <a:off x="4861052" y="3696080"/>
              <a:ext cx="1309370" cy="417195"/>
            </a:xfrm>
            <a:custGeom>
              <a:avLst/>
              <a:gdLst/>
              <a:ahLst/>
              <a:cxnLst/>
              <a:rect l="l" t="t" r="r" b="b"/>
              <a:pathLst>
                <a:path w="1309370" h="417195">
                  <a:moveTo>
                    <a:pt x="16637" y="0"/>
                  </a:moveTo>
                  <a:lnTo>
                    <a:pt x="1253363" y="320370"/>
                  </a:lnTo>
                  <a:lnTo>
                    <a:pt x="1261745" y="288290"/>
                  </a:lnTo>
                  <a:lnTo>
                    <a:pt x="1309243" y="369074"/>
                  </a:lnTo>
                  <a:lnTo>
                    <a:pt x="1228471" y="416610"/>
                  </a:lnTo>
                  <a:lnTo>
                    <a:pt x="1236852" y="384530"/>
                  </a:lnTo>
                  <a:lnTo>
                    <a:pt x="0" y="64135"/>
                  </a:lnTo>
                  <a:lnTo>
                    <a:pt x="16637" y="0"/>
                  </a:lnTo>
                  <a:close/>
                </a:path>
              </a:pathLst>
            </a:custGeom>
            <a:ln w="25400">
              <a:solidFill>
                <a:srgbClr val="008FBB"/>
              </a:solidFill>
            </a:ln>
          </p:spPr>
          <p:txBody>
            <a:bodyPr wrap="square" lIns="0" tIns="0" rIns="0" bIns="0" rtlCol="0"/>
            <a:lstStyle/>
            <a:p>
              <a:endParaRPr sz="2400"/>
            </a:p>
          </p:txBody>
        </p:sp>
      </p:grpSp>
      <p:graphicFrame>
        <p:nvGraphicFramePr>
          <p:cNvPr id="6" name="object 6"/>
          <p:cNvGraphicFramePr>
            <a:graphicFrameLocks noGrp="1"/>
          </p:cNvGraphicFramePr>
          <p:nvPr>
            <p:extLst>
              <p:ext uri="{D42A27DB-BD31-4B8C-83A1-F6EECF244321}">
                <p14:modId xmlns:p14="http://schemas.microsoft.com/office/powerpoint/2010/main" val="1369597934"/>
              </p:ext>
            </p:extLst>
          </p:nvPr>
        </p:nvGraphicFramePr>
        <p:xfrm>
          <a:off x="1143779" y="3690959"/>
          <a:ext cx="5283200" cy="1495213"/>
        </p:xfrm>
        <a:graphic>
          <a:graphicData uri="http://schemas.openxmlformats.org/drawingml/2006/table">
            <a:tbl>
              <a:tblPr firstRow="1" bandRow="1">
                <a:tableStyleId>{2D5ABB26-0587-4C30-8999-92F81FD0307C}</a:tableStyleId>
              </a:tblPr>
              <a:tblGrid>
                <a:gridCol w="1320800">
                  <a:extLst>
                    <a:ext uri="{9D8B030D-6E8A-4147-A177-3AD203B41FA5}">
                      <a16:colId xmlns:a16="http://schemas.microsoft.com/office/drawing/2014/main" val="20000"/>
                    </a:ext>
                  </a:extLst>
                </a:gridCol>
                <a:gridCol w="23368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tblGrid>
              <a:tr h="225213">
                <a:tc>
                  <a:txBody>
                    <a:bodyPr/>
                    <a:lstStyle/>
                    <a:p>
                      <a:pPr marL="1905" algn="ctr">
                        <a:lnSpc>
                          <a:spcPct val="100000"/>
                        </a:lnSpc>
                        <a:spcBef>
                          <a:spcPts val="65"/>
                        </a:spcBef>
                      </a:pPr>
                      <a:r>
                        <a:rPr sz="1400" b="1" spc="-10" dirty="0">
                          <a:latin typeface="Arial"/>
                          <a:cs typeface="Arial"/>
                        </a:rPr>
                        <a:t>Sales_Key</a:t>
                      </a:r>
                      <a:endParaRPr sz="1400">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270" algn="ctr">
                        <a:lnSpc>
                          <a:spcPct val="100000"/>
                        </a:lnSpc>
                        <a:spcBef>
                          <a:spcPts val="65"/>
                        </a:spcBef>
                      </a:pPr>
                      <a:r>
                        <a:rPr sz="1400" b="1" spc="-20" dirty="0">
                          <a:latin typeface="Arial"/>
                          <a:cs typeface="Arial"/>
                        </a:rPr>
                        <a:t>Name</a:t>
                      </a:r>
                      <a:endParaRPr sz="1400">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2540" algn="ctr">
                        <a:lnSpc>
                          <a:spcPct val="100000"/>
                        </a:lnSpc>
                        <a:spcBef>
                          <a:spcPts val="65"/>
                        </a:spcBef>
                      </a:pPr>
                      <a:r>
                        <a:rPr sz="1400" b="1" spc="-10" dirty="0">
                          <a:latin typeface="Arial"/>
                          <a:cs typeface="Arial"/>
                        </a:rPr>
                        <a:t>Amount</a:t>
                      </a:r>
                      <a:endParaRPr sz="1400">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algn="ctr">
                        <a:lnSpc>
                          <a:spcPct val="100000"/>
                        </a:lnSpc>
                        <a:spcBef>
                          <a:spcPts val="229"/>
                        </a:spcBef>
                      </a:pPr>
                      <a:r>
                        <a:rPr sz="1400" spc="-50" dirty="0">
                          <a:latin typeface="Arial MT"/>
                          <a:cs typeface="Arial MT"/>
                        </a:rPr>
                        <a:t>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dirty="0">
                          <a:latin typeface="Arial MT"/>
                          <a:cs typeface="Arial MT"/>
                        </a:rPr>
                        <a:t>Sunglases</a:t>
                      </a:r>
                      <a:r>
                        <a:rPr sz="1400" spc="-55" dirty="0">
                          <a:latin typeface="Arial MT"/>
                          <a:cs typeface="Arial MT"/>
                        </a:rPr>
                        <a:t> </a:t>
                      </a:r>
                      <a:r>
                        <a:rPr sz="1400" dirty="0">
                          <a:latin typeface="Arial MT"/>
                          <a:cs typeface="Arial MT"/>
                        </a:rPr>
                        <a:t>TR-</a:t>
                      </a:r>
                      <a:r>
                        <a:rPr sz="1400" spc="-50" dirty="0">
                          <a:latin typeface="Arial MT"/>
                          <a:cs typeface="Arial MT"/>
                        </a:rPr>
                        <a:t>7</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spc="-25" dirty="0">
                          <a:latin typeface="Arial MT"/>
                          <a:cs typeface="Arial MT"/>
                        </a:rPr>
                        <a:t>$25</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ct val="100000"/>
                        </a:lnSpc>
                        <a:spcBef>
                          <a:spcPts val="229"/>
                        </a:spcBef>
                      </a:pPr>
                      <a:r>
                        <a:rPr sz="1400" spc="-50" dirty="0">
                          <a:latin typeface="Arial MT"/>
                          <a:cs typeface="Arial MT"/>
                        </a:rPr>
                        <a:t>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spc="-10" dirty="0">
                          <a:latin typeface="Arial MT"/>
                          <a:cs typeface="Arial MT"/>
                        </a:rPr>
                        <a:t>Chocolate </a:t>
                      </a:r>
                      <a:r>
                        <a:rPr sz="1400" dirty="0">
                          <a:latin typeface="Arial MT"/>
                          <a:cs typeface="Arial MT"/>
                        </a:rPr>
                        <a:t>bar 70%</a:t>
                      </a:r>
                      <a:r>
                        <a:rPr sz="1400" spc="5" dirty="0">
                          <a:latin typeface="Arial MT"/>
                          <a:cs typeface="Arial MT"/>
                        </a:rPr>
                        <a:t> </a:t>
                      </a:r>
                      <a:r>
                        <a:rPr sz="1400" spc="-10" dirty="0">
                          <a:latin typeface="Arial MT"/>
                          <a:cs typeface="Arial MT"/>
                        </a:rPr>
                        <a:t>cacao</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25"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ct val="10000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B9B9B"/>
                    </a:solidFill>
                  </a:tcPr>
                </a:tc>
                <a:tc>
                  <a:txBody>
                    <a:bodyPr/>
                    <a:lstStyle/>
                    <a:p>
                      <a:pPr algn="ctr">
                        <a:lnSpc>
                          <a:spcPct val="100000"/>
                        </a:lnSpc>
                        <a:spcBef>
                          <a:spcPts val="229"/>
                        </a:spcBef>
                      </a:pPr>
                      <a:r>
                        <a:rPr sz="1400" dirty="0">
                          <a:latin typeface="Arial MT"/>
                          <a:cs typeface="Arial MT"/>
                        </a:rPr>
                        <a:t>Oat</a:t>
                      </a:r>
                      <a:r>
                        <a:rPr sz="1400" spc="-25" dirty="0">
                          <a:latin typeface="Arial MT"/>
                          <a:cs typeface="Arial MT"/>
                        </a:rPr>
                        <a:t> </a:t>
                      </a:r>
                      <a:r>
                        <a:rPr sz="1400" dirty="0">
                          <a:latin typeface="Arial MT"/>
                          <a:cs typeface="Arial MT"/>
                        </a:rPr>
                        <a:t>meal</a:t>
                      </a:r>
                      <a:r>
                        <a:rPr sz="1400" spc="-35" dirty="0">
                          <a:latin typeface="Arial MT"/>
                          <a:cs typeface="Arial MT"/>
                        </a:rPr>
                        <a:t> </a:t>
                      </a:r>
                      <a:r>
                        <a:rPr sz="1400" spc="-10" dirty="0">
                          <a:latin typeface="Arial MT"/>
                          <a:cs typeface="Arial MT"/>
                        </a:rPr>
                        <a:t>biscuits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B9B9B"/>
                    </a:solidFill>
                  </a:tcPr>
                </a:tc>
                <a:tc>
                  <a:txBody>
                    <a:bodyPr/>
                    <a:lstStyle/>
                    <a:p>
                      <a:pPr marL="1905" algn="ctr">
                        <a:lnSpc>
                          <a:spcPct val="100000"/>
                        </a:lnSpc>
                        <a:spcBef>
                          <a:spcPts val="229"/>
                        </a:spcBef>
                      </a:pPr>
                      <a:r>
                        <a:rPr sz="1400" spc="-25" dirty="0">
                          <a:latin typeface="Arial MT"/>
                          <a:cs typeface="Arial MT"/>
                        </a:rPr>
                        <a:t>$4</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B9B9B"/>
                    </a:solidFill>
                  </a:tcPr>
                </a:tc>
                <a:extLst>
                  <a:ext uri="{0D108BD9-81ED-4DB2-BD59-A6C34878D82A}">
                    <a16:rowId xmlns:a16="http://schemas.microsoft.com/office/drawing/2014/main" val="10003"/>
                  </a:ext>
                </a:extLst>
              </a:tr>
              <a:tr h="254000">
                <a:tc>
                  <a:txBody>
                    <a:bodyPr/>
                    <a:lstStyle/>
                    <a:p>
                      <a:pPr algn="ctr">
                        <a:lnSpc>
                          <a:spcPct val="100000"/>
                        </a:lnSpc>
                        <a:spcBef>
                          <a:spcPts val="229"/>
                        </a:spcBef>
                      </a:pPr>
                      <a:r>
                        <a:rPr sz="1400" spc="-50" dirty="0">
                          <a:latin typeface="Arial MT"/>
                          <a:cs typeface="Arial MT"/>
                        </a:rPr>
                        <a:t>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dirty="0">
                          <a:latin typeface="Arial MT"/>
                          <a:cs typeface="Arial MT"/>
                        </a:rPr>
                        <a:t>Chocolate</a:t>
                      </a:r>
                      <a:r>
                        <a:rPr sz="1400" spc="-25" dirty="0">
                          <a:latin typeface="Arial MT"/>
                          <a:cs typeface="Arial MT"/>
                        </a:rPr>
                        <a:t> </a:t>
                      </a:r>
                      <a:r>
                        <a:rPr sz="1400" dirty="0">
                          <a:latin typeface="Arial MT"/>
                          <a:cs typeface="Arial MT"/>
                        </a:rPr>
                        <a:t>bar</a:t>
                      </a:r>
                      <a:r>
                        <a:rPr sz="1400" spc="-10" dirty="0">
                          <a:latin typeface="Arial MT"/>
                          <a:cs typeface="Arial MT"/>
                        </a:rPr>
                        <a:t> </a:t>
                      </a:r>
                      <a:r>
                        <a:rPr sz="1400" dirty="0">
                          <a:latin typeface="Arial MT"/>
                          <a:cs typeface="Arial MT"/>
                        </a:rPr>
                        <a:t>70%</a:t>
                      </a:r>
                      <a:r>
                        <a:rPr sz="1400" spc="-15" dirty="0">
                          <a:latin typeface="Arial MT"/>
                          <a:cs typeface="Arial MT"/>
                        </a:rPr>
                        <a:t> </a:t>
                      </a:r>
                      <a:r>
                        <a:rPr sz="1400" spc="-10" dirty="0">
                          <a:latin typeface="Arial MT"/>
                          <a:cs typeface="Arial MT"/>
                        </a:rPr>
                        <a:t>cacao</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25"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algn="ctr">
                        <a:lnSpc>
                          <a:spcPct val="100000"/>
                        </a:lnSpc>
                        <a:spcBef>
                          <a:spcPts val="229"/>
                        </a:spcBef>
                      </a:pPr>
                      <a:r>
                        <a:rPr sz="1400" spc="-50" dirty="0">
                          <a:latin typeface="Arial MT"/>
                          <a:cs typeface="Arial MT"/>
                        </a:rPr>
                        <a:t>5</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66D5FF"/>
                    </a:solidFill>
                  </a:tcPr>
                </a:tc>
                <a:tc>
                  <a:txBody>
                    <a:bodyPr/>
                    <a:lstStyle/>
                    <a:p>
                      <a:pPr algn="ctr">
                        <a:lnSpc>
                          <a:spcPct val="100000"/>
                        </a:lnSpc>
                        <a:spcBef>
                          <a:spcPts val="229"/>
                        </a:spcBef>
                      </a:pPr>
                      <a:r>
                        <a:rPr sz="1400" dirty="0">
                          <a:latin typeface="Arial MT"/>
                          <a:cs typeface="Arial MT"/>
                        </a:rPr>
                        <a:t>Oat</a:t>
                      </a:r>
                      <a:r>
                        <a:rPr sz="1400" spc="-25" dirty="0">
                          <a:latin typeface="Arial MT"/>
                          <a:cs typeface="Arial MT"/>
                        </a:rPr>
                        <a:t> </a:t>
                      </a:r>
                      <a:r>
                        <a:rPr sz="1400" dirty="0">
                          <a:latin typeface="Arial MT"/>
                          <a:cs typeface="Arial MT"/>
                        </a:rPr>
                        <a:t>meal</a:t>
                      </a:r>
                      <a:r>
                        <a:rPr sz="1400" spc="-35" dirty="0">
                          <a:latin typeface="Arial MT"/>
                          <a:cs typeface="Arial MT"/>
                        </a:rPr>
                        <a:t> </a:t>
                      </a:r>
                      <a:r>
                        <a:rPr sz="1400" spc="-10" dirty="0">
                          <a:latin typeface="Arial MT"/>
                          <a:cs typeface="Arial MT"/>
                        </a:rPr>
                        <a:t>biscuits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66D5FF"/>
                    </a:solidFill>
                  </a:tcPr>
                </a:tc>
                <a:tc>
                  <a:txBody>
                    <a:bodyPr/>
                    <a:lstStyle/>
                    <a:p>
                      <a:pPr marL="1905" algn="ctr">
                        <a:lnSpc>
                          <a:spcPct val="100000"/>
                        </a:lnSpc>
                        <a:spcBef>
                          <a:spcPts val="229"/>
                        </a:spcBef>
                      </a:pPr>
                      <a:r>
                        <a:rPr sz="1400" spc="-25" dirty="0">
                          <a:latin typeface="Arial MT"/>
                          <a:cs typeface="Arial MT"/>
                        </a:rPr>
                        <a:t>$4</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66D5FF"/>
                    </a:solidFill>
                  </a:tcPr>
                </a:tc>
                <a:extLst>
                  <a:ext uri="{0D108BD9-81ED-4DB2-BD59-A6C34878D82A}">
                    <a16:rowId xmlns:a16="http://schemas.microsoft.com/office/drawing/2014/main" val="10005"/>
                  </a:ext>
                </a:extLst>
              </a:tr>
            </a:tbl>
          </a:graphicData>
        </a:graphic>
      </p:graphicFrame>
      <p:graphicFrame>
        <p:nvGraphicFramePr>
          <p:cNvPr id="7" name="object 7"/>
          <p:cNvGraphicFramePr>
            <a:graphicFrameLocks noGrp="1"/>
          </p:cNvGraphicFramePr>
          <p:nvPr>
            <p:extLst>
              <p:ext uri="{D42A27DB-BD31-4B8C-83A1-F6EECF244321}">
                <p14:modId xmlns:p14="http://schemas.microsoft.com/office/powerpoint/2010/main" val="2758309595"/>
              </p:ext>
            </p:extLst>
          </p:nvPr>
        </p:nvGraphicFramePr>
        <p:xfrm>
          <a:off x="8322734" y="4936405"/>
          <a:ext cx="2032000" cy="986366"/>
        </p:xfrm>
        <a:graphic>
          <a:graphicData uri="http://schemas.openxmlformats.org/drawingml/2006/table">
            <a:tbl>
              <a:tblPr firstRow="1" bandRow="1">
                <a:tableStyleId>{2D5ABB26-0587-4C30-8999-92F81FD0307C}</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tblGrid>
              <a:tr h="225213">
                <a:tc>
                  <a:txBody>
                    <a:bodyPr/>
                    <a:lstStyle/>
                    <a:p>
                      <a:pPr marL="5715" algn="ctr">
                        <a:lnSpc>
                          <a:spcPct val="100000"/>
                        </a:lnSpc>
                        <a:spcBef>
                          <a:spcPts val="65"/>
                        </a:spcBef>
                      </a:pPr>
                      <a:r>
                        <a:rPr sz="1400" b="1" spc="-10" dirty="0">
                          <a:latin typeface="Arial"/>
                          <a:cs typeface="Arial"/>
                        </a:rPr>
                        <a:t>Category</a:t>
                      </a:r>
                      <a:endParaRPr sz="1400">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3175" algn="ctr">
                        <a:lnSpc>
                          <a:spcPct val="100000"/>
                        </a:lnSpc>
                        <a:spcBef>
                          <a:spcPts val="65"/>
                        </a:spcBef>
                      </a:pPr>
                      <a:r>
                        <a:rPr sz="1400" b="1" spc="-10" dirty="0">
                          <a:latin typeface="Arial"/>
                          <a:cs typeface="Arial"/>
                        </a:rPr>
                        <a:t>Amount</a:t>
                      </a:r>
                      <a:endParaRPr sz="1400">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marL="2540" algn="ctr">
                        <a:lnSpc>
                          <a:spcPct val="100000"/>
                        </a:lnSpc>
                        <a:spcBef>
                          <a:spcPts val="229"/>
                        </a:spcBef>
                      </a:pPr>
                      <a:r>
                        <a:rPr sz="1400" spc="-10" dirty="0">
                          <a:latin typeface="Arial MT"/>
                          <a:cs typeface="Arial MT"/>
                        </a:rPr>
                        <a:t>Assecoirs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spc="-25" dirty="0">
                          <a:latin typeface="Arial MT"/>
                          <a:cs typeface="Arial MT"/>
                        </a:rPr>
                        <a:t>$25</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marL="2540" algn="ctr">
                        <a:lnSpc>
                          <a:spcPct val="100000"/>
                        </a:lnSpc>
                        <a:spcBef>
                          <a:spcPts val="229"/>
                        </a:spcBef>
                      </a:pPr>
                      <a:r>
                        <a:rPr sz="1400" spc="-10" dirty="0">
                          <a:latin typeface="Arial MT"/>
                          <a:cs typeface="Arial MT"/>
                        </a:rPr>
                        <a:t>Sweets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25" dirty="0">
                          <a:latin typeface="Arial MT"/>
                          <a:cs typeface="Arial MT"/>
                        </a:rPr>
                        <a:t>$6</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3153">
                <a:tc>
                  <a:txBody>
                    <a:bodyPr/>
                    <a:lstStyle/>
                    <a:p>
                      <a:pPr marL="1270" algn="ctr">
                        <a:lnSpc>
                          <a:spcPct val="100000"/>
                        </a:lnSpc>
                        <a:spcBef>
                          <a:spcPts val="229"/>
                        </a:spcBef>
                      </a:pPr>
                      <a:r>
                        <a:rPr sz="1400" spc="-10" dirty="0">
                          <a:latin typeface="Arial MT"/>
                          <a:cs typeface="Arial MT"/>
                        </a:rPr>
                        <a:t>Buscuits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25" dirty="0">
                          <a:latin typeface="Arial MT"/>
                          <a:cs typeface="Arial MT"/>
                        </a:rPr>
                        <a:t>$8</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sp>
        <p:nvSpPr>
          <p:cNvPr id="8" name="object 8"/>
          <p:cNvSpPr txBox="1"/>
          <p:nvPr/>
        </p:nvSpPr>
        <p:spPr>
          <a:xfrm>
            <a:off x="2950125" y="1965112"/>
            <a:ext cx="6416040" cy="1858693"/>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Problem</a:t>
            </a:r>
            <a:r>
              <a:rPr sz="2400" b="1" spc="-80" dirty="0">
                <a:solidFill>
                  <a:srgbClr val="D9D9D9"/>
                </a:solidFill>
                <a:latin typeface="Calibri"/>
                <a:cs typeface="Calibri"/>
              </a:rPr>
              <a:t> </a:t>
            </a:r>
            <a:r>
              <a:rPr sz="2400" b="1" dirty="0">
                <a:solidFill>
                  <a:srgbClr val="D9D9D9"/>
                </a:solidFill>
                <a:latin typeface="Calibri"/>
                <a:cs typeface="Calibri"/>
              </a:rPr>
              <a:t>with</a:t>
            </a:r>
            <a:r>
              <a:rPr sz="2400" b="1" spc="-33" dirty="0">
                <a:solidFill>
                  <a:srgbClr val="D9D9D9"/>
                </a:solidFill>
                <a:latin typeface="Calibri"/>
                <a:cs typeface="Calibri"/>
              </a:rPr>
              <a:t> </a:t>
            </a:r>
            <a:r>
              <a:rPr sz="2400" b="1" dirty="0">
                <a:solidFill>
                  <a:srgbClr val="D9D9D9"/>
                </a:solidFill>
                <a:latin typeface="Calibri"/>
                <a:cs typeface="Calibri"/>
              </a:rPr>
              <a:t>Type</a:t>
            </a:r>
            <a:r>
              <a:rPr sz="2400" b="1" spc="-53" dirty="0">
                <a:solidFill>
                  <a:srgbClr val="D9D9D9"/>
                </a:solidFill>
                <a:latin typeface="Calibri"/>
                <a:cs typeface="Calibri"/>
              </a:rPr>
              <a:t> </a:t>
            </a:r>
            <a:r>
              <a:rPr sz="2400" b="1" dirty="0">
                <a:solidFill>
                  <a:srgbClr val="D9D9D9"/>
                </a:solidFill>
                <a:latin typeface="Calibri"/>
                <a:cs typeface="Calibri"/>
              </a:rPr>
              <a:t>1:</a:t>
            </a:r>
            <a:r>
              <a:rPr sz="2400" b="1" spc="7" dirty="0">
                <a:solidFill>
                  <a:srgbClr val="D9D9D9"/>
                </a:solidFill>
                <a:latin typeface="Calibri"/>
                <a:cs typeface="Calibri"/>
              </a:rPr>
              <a:t> </a:t>
            </a:r>
            <a:r>
              <a:rPr sz="2400" b="1" i="1" dirty="0">
                <a:solidFill>
                  <a:srgbClr val="D9D9D9"/>
                </a:solidFill>
                <a:latin typeface="Calibri"/>
                <a:cs typeface="Calibri"/>
              </a:rPr>
              <a:t>No</a:t>
            </a:r>
            <a:r>
              <a:rPr sz="2400" b="1" i="1" spc="-33" dirty="0">
                <a:solidFill>
                  <a:srgbClr val="D9D9D9"/>
                </a:solidFill>
                <a:latin typeface="Calibri"/>
                <a:cs typeface="Calibri"/>
              </a:rPr>
              <a:t> </a:t>
            </a:r>
            <a:r>
              <a:rPr sz="2400" b="1" i="1" dirty="0">
                <a:solidFill>
                  <a:srgbClr val="D9D9D9"/>
                </a:solidFill>
                <a:latin typeface="Calibri"/>
                <a:cs typeface="Calibri"/>
              </a:rPr>
              <a:t>history</a:t>
            </a:r>
            <a:r>
              <a:rPr sz="2400" b="1" i="1" spc="-7" dirty="0">
                <a:solidFill>
                  <a:srgbClr val="D9D9D9"/>
                </a:solidFill>
                <a:latin typeface="Calibri"/>
                <a:cs typeface="Calibri"/>
              </a:rPr>
              <a:t> </a:t>
            </a:r>
            <a:r>
              <a:rPr sz="2400" b="1" i="1" dirty="0">
                <a:solidFill>
                  <a:srgbClr val="D9D9D9"/>
                </a:solidFill>
                <a:latin typeface="Calibri"/>
                <a:cs typeface="Calibri"/>
              </a:rPr>
              <a:t>of</a:t>
            </a:r>
            <a:r>
              <a:rPr sz="2400" b="1" i="1" spc="-33" dirty="0">
                <a:solidFill>
                  <a:srgbClr val="D9D9D9"/>
                </a:solidFill>
                <a:latin typeface="Calibri"/>
                <a:cs typeface="Calibri"/>
              </a:rPr>
              <a:t> </a:t>
            </a:r>
            <a:r>
              <a:rPr sz="2400" b="1" i="1" spc="-13" dirty="0">
                <a:solidFill>
                  <a:srgbClr val="D9D9D9"/>
                </a:solidFill>
                <a:latin typeface="Calibri"/>
                <a:cs typeface="Calibri"/>
              </a:rPr>
              <a:t>dimensions!</a:t>
            </a:r>
            <a:endParaRPr sz="2400">
              <a:latin typeface="Calibri"/>
              <a:cs typeface="Calibri"/>
            </a:endParaRPr>
          </a:p>
          <a:p>
            <a:pPr>
              <a:spcBef>
                <a:spcPts val="347"/>
              </a:spcBef>
              <a:buClr>
                <a:srgbClr val="99D3FF"/>
              </a:buClr>
              <a:buFont typeface="Wingdings"/>
              <a:buChar char=""/>
            </a:pPr>
            <a:endParaRPr sz="2400">
              <a:latin typeface="Calibri"/>
              <a:cs typeface="Calibri"/>
            </a:endParaRPr>
          </a:p>
          <a:p>
            <a:pPr marL="397923" indent="-380990">
              <a:spcBef>
                <a:spcPts val="7"/>
              </a:spcBef>
              <a:buClr>
                <a:srgbClr val="99D3FF"/>
              </a:buClr>
              <a:buFont typeface="Wingdings"/>
              <a:buChar char=""/>
              <a:tabLst>
                <a:tab pos="397923" algn="l"/>
              </a:tabLst>
            </a:pPr>
            <a:r>
              <a:rPr sz="2400" b="1" dirty="0">
                <a:solidFill>
                  <a:srgbClr val="D9D9D9"/>
                </a:solidFill>
                <a:latin typeface="Calibri"/>
                <a:cs typeface="Calibri"/>
              </a:rPr>
              <a:t>Only</a:t>
            </a:r>
            <a:r>
              <a:rPr sz="2400" b="1" spc="-33" dirty="0">
                <a:solidFill>
                  <a:srgbClr val="D9D9D9"/>
                </a:solidFill>
                <a:latin typeface="Calibri"/>
                <a:cs typeface="Calibri"/>
              </a:rPr>
              <a:t> </a:t>
            </a:r>
            <a:r>
              <a:rPr sz="2400" b="1" dirty="0">
                <a:solidFill>
                  <a:srgbClr val="D9D9D9"/>
                </a:solidFill>
                <a:latin typeface="Calibri"/>
                <a:cs typeface="Calibri"/>
              </a:rPr>
              <a:t>current</a:t>
            </a:r>
            <a:r>
              <a:rPr sz="2400" b="1" spc="-47" dirty="0">
                <a:solidFill>
                  <a:srgbClr val="D9D9D9"/>
                </a:solidFill>
                <a:latin typeface="Calibri"/>
                <a:cs typeface="Calibri"/>
              </a:rPr>
              <a:t> </a:t>
            </a:r>
            <a:r>
              <a:rPr sz="2400" b="1" dirty="0">
                <a:solidFill>
                  <a:srgbClr val="D9D9D9"/>
                </a:solidFill>
                <a:latin typeface="Calibri"/>
                <a:cs typeface="Calibri"/>
              </a:rPr>
              <a:t>state</a:t>
            </a:r>
            <a:r>
              <a:rPr sz="2400" b="1" spc="-47" dirty="0">
                <a:solidFill>
                  <a:srgbClr val="D9D9D9"/>
                </a:solidFill>
                <a:latin typeface="Calibri"/>
                <a:cs typeface="Calibri"/>
              </a:rPr>
              <a:t> </a:t>
            </a:r>
            <a:r>
              <a:rPr sz="2400" b="1" dirty="0">
                <a:solidFill>
                  <a:srgbClr val="D9D9D9"/>
                </a:solidFill>
                <a:latin typeface="Calibri"/>
                <a:cs typeface="Calibri"/>
              </a:rPr>
              <a:t>is</a:t>
            </a:r>
            <a:r>
              <a:rPr sz="2400" b="1" spc="-13" dirty="0">
                <a:solidFill>
                  <a:srgbClr val="D9D9D9"/>
                </a:solidFill>
                <a:latin typeface="Calibri"/>
                <a:cs typeface="Calibri"/>
              </a:rPr>
              <a:t> reflected</a:t>
            </a:r>
            <a:endParaRPr sz="2400">
              <a:latin typeface="Calibri"/>
              <a:cs typeface="Calibri"/>
            </a:endParaRPr>
          </a:p>
          <a:p>
            <a:pPr>
              <a:spcBef>
                <a:spcPts val="313"/>
              </a:spcBef>
            </a:pPr>
            <a:endParaRPr sz="2400">
              <a:latin typeface="Calibri"/>
              <a:cs typeface="Calibri"/>
            </a:endParaRPr>
          </a:p>
          <a:p>
            <a:pPr marL="3979234"/>
            <a:r>
              <a:rPr sz="1867" b="1" i="1" spc="-13" dirty="0">
                <a:solidFill>
                  <a:srgbClr val="D9D9D9"/>
                </a:solidFill>
                <a:latin typeface="Calibri"/>
                <a:cs typeface="Calibri"/>
              </a:rPr>
              <a:t>Before</a:t>
            </a:r>
            <a:endParaRPr sz="1867">
              <a:latin typeface="Calibri"/>
              <a:cs typeface="Calibri"/>
            </a:endParaRPr>
          </a:p>
        </p:txBody>
      </p:sp>
      <p:graphicFrame>
        <p:nvGraphicFramePr>
          <p:cNvPr id="9" name="object 9"/>
          <p:cNvGraphicFramePr>
            <a:graphicFrameLocks noGrp="1"/>
          </p:cNvGraphicFramePr>
          <p:nvPr>
            <p:extLst>
              <p:ext uri="{D42A27DB-BD31-4B8C-83A1-F6EECF244321}">
                <p14:modId xmlns:p14="http://schemas.microsoft.com/office/powerpoint/2010/main" val="875623146"/>
              </p:ext>
            </p:extLst>
          </p:nvPr>
        </p:nvGraphicFramePr>
        <p:xfrm>
          <a:off x="8322734" y="3451014"/>
          <a:ext cx="2032000" cy="733213"/>
        </p:xfrm>
        <a:graphic>
          <a:graphicData uri="http://schemas.openxmlformats.org/drawingml/2006/table">
            <a:tbl>
              <a:tblPr firstRow="1" bandRow="1">
                <a:tableStyleId>{2D5ABB26-0587-4C30-8999-92F81FD0307C}</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tblGrid>
              <a:tr h="225213">
                <a:tc>
                  <a:txBody>
                    <a:bodyPr/>
                    <a:lstStyle/>
                    <a:p>
                      <a:pPr marL="5715" algn="ctr">
                        <a:lnSpc>
                          <a:spcPct val="100000"/>
                        </a:lnSpc>
                        <a:spcBef>
                          <a:spcPts val="60"/>
                        </a:spcBef>
                      </a:pPr>
                      <a:r>
                        <a:rPr sz="1400" b="1" spc="-10" dirty="0">
                          <a:latin typeface="Arial"/>
                          <a:cs typeface="Arial"/>
                        </a:rPr>
                        <a:t>Category</a:t>
                      </a:r>
                      <a:endParaRPr sz="1400">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3175" algn="ctr">
                        <a:lnSpc>
                          <a:spcPct val="100000"/>
                        </a:lnSpc>
                        <a:spcBef>
                          <a:spcPts val="60"/>
                        </a:spcBef>
                      </a:pPr>
                      <a:r>
                        <a:rPr sz="1400" b="1" spc="-10" dirty="0">
                          <a:latin typeface="Arial"/>
                          <a:cs typeface="Arial"/>
                        </a:rPr>
                        <a:t>Amount</a:t>
                      </a:r>
                      <a:endParaRPr sz="1400">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marL="2540" algn="ctr">
                        <a:lnSpc>
                          <a:spcPct val="100000"/>
                        </a:lnSpc>
                        <a:spcBef>
                          <a:spcPts val="225"/>
                        </a:spcBef>
                      </a:pPr>
                      <a:r>
                        <a:rPr sz="1400" spc="-10" dirty="0">
                          <a:latin typeface="Arial MT"/>
                          <a:cs typeface="Arial MT"/>
                        </a:rPr>
                        <a:t>Assecoirs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25" dirty="0">
                          <a:latin typeface="Arial MT"/>
                          <a:cs typeface="Arial MT"/>
                        </a:rPr>
                        <a:t>$25</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marL="3175" algn="ctr">
                        <a:lnSpc>
                          <a:spcPct val="100000"/>
                        </a:lnSpc>
                        <a:spcBef>
                          <a:spcPts val="225"/>
                        </a:spcBef>
                      </a:pPr>
                      <a:r>
                        <a:rPr sz="1400" spc="-10" dirty="0">
                          <a:latin typeface="Arial MT"/>
                          <a:cs typeface="Arial MT"/>
                        </a:rPr>
                        <a:t>Sweets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25" dirty="0">
                          <a:latin typeface="Arial MT"/>
                          <a:cs typeface="Arial MT"/>
                        </a:rPr>
                        <a:t>$14</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bl>
          </a:graphicData>
        </a:graphic>
      </p:graphicFrame>
      <p:grpSp>
        <p:nvGrpSpPr>
          <p:cNvPr id="10" name="object 10"/>
          <p:cNvGrpSpPr/>
          <p:nvPr/>
        </p:nvGrpSpPr>
        <p:grpSpPr>
          <a:xfrm>
            <a:off x="6450584" y="3840140"/>
            <a:ext cx="1811867" cy="423333"/>
            <a:chOff x="4837938" y="2880105"/>
            <a:chExt cx="1358900" cy="317500"/>
          </a:xfrm>
        </p:grpSpPr>
        <p:sp>
          <p:nvSpPr>
            <p:cNvPr id="11" name="object 11"/>
            <p:cNvSpPr/>
            <p:nvPr/>
          </p:nvSpPr>
          <p:spPr>
            <a:xfrm>
              <a:off x="4850638" y="2892805"/>
              <a:ext cx="1333500" cy="292100"/>
            </a:xfrm>
            <a:custGeom>
              <a:avLst/>
              <a:gdLst/>
              <a:ahLst/>
              <a:cxnLst/>
              <a:rect l="l" t="t" r="r" b="b"/>
              <a:pathLst>
                <a:path w="1333500" h="292100">
                  <a:moveTo>
                    <a:pt x="1257808" y="0"/>
                  </a:moveTo>
                  <a:lnTo>
                    <a:pt x="1262888" y="32766"/>
                  </a:lnTo>
                  <a:lnTo>
                    <a:pt x="0" y="226187"/>
                  </a:lnTo>
                  <a:lnTo>
                    <a:pt x="10033" y="291719"/>
                  </a:lnTo>
                  <a:lnTo>
                    <a:pt x="1272921" y="98298"/>
                  </a:lnTo>
                  <a:lnTo>
                    <a:pt x="1277874" y="131063"/>
                  </a:lnTo>
                  <a:lnTo>
                    <a:pt x="1333373" y="55499"/>
                  </a:lnTo>
                  <a:lnTo>
                    <a:pt x="1257808" y="0"/>
                  </a:lnTo>
                  <a:close/>
                </a:path>
              </a:pathLst>
            </a:custGeom>
            <a:solidFill>
              <a:srgbClr val="00C3FF"/>
            </a:solidFill>
          </p:spPr>
          <p:txBody>
            <a:bodyPr wrap="square" lIns="0" tIns="0" rIns="0" bIns="0" rtlCol="0"/>
            <a:lstStyle/>
            <a:p>
              <a:endParaRPr sz="2400"/>
            </a:p>
          </p:txBody>
        </p:sp>
        <p:sp>
          <p:nvSpPr>
            <p:cNvPr id="12" name="object 12"/>
            <p:cNvSpPr/>
            <p:nvPr/>
          </p:nvSpPr>
          <p:spPr>
            <a:xfrm>
              <a:off x="4850638" y="2892805"/>
              <a:ext cx="1333500" cy="292100"/>
            </a:xfrm>
            <a:custGeom>
              <a:avLst/>
              <a:gdLst/>
              <a:ahLst/>
              <a:cxnLst/>
              <a:rect l="l" t="t" r="r" b="b"/>
              <a:pathLst>
                <a:path w="1333500" h="292100">
                  <a:moveTo>
                    <a:pt x="0" y="226187"/>
                  </a:moveTo>
                  <a:lnTo>
                    <a:pt x="1262888" y="32766"/>
                  </a:lnTo>
                  <a:lnTo>
                    <a:pt x="1257808" y="0"/>
                  </a:lnTo>
                  <a:lnTo>
                    <a:pt x="1333373" y="55499"/>
                  </a:lnTo>
                  <a:lnTo>
                    <a:pt x="1277874" y="131063"/>
                  </a:lnTo>
                  <a:lnTo>
                    <a:pt x="1272921" y="98298"/>
                  </a:lnTo>
                  <a:lnTo>
                    <a:pt x="10033" y="291719"/>
                  </a:lnTo>
                  <a:lnTo>
                    <a:pt x="0" y="226187"/>
                  </a:lnTo>
                  <a:close/>
                </a:path>
              </a:pathLst>
            </a:custGeom>
            <a:ln w="25400">
              <a:solidFill>
                <a:srgbClr val="008FBB"/>
              </a:solidFill>
            </a:ln>
          </p:spPr>
          <p:txBody>
            <a:bodyPr wrap="square" lIns="0" tIns="0" rIns="0" bIns="0" rtlCol="0"/>
            <a:lstStyle/>
            <a:p>
              <a:endParaRPr sz="2400"/>
            </a:p>
          </p:txBody>
        </p:sp>
      </p:grpSp>
      <p:sp>
        <p:nvSpPr>
          <p:cNvPr id="13" name="object 13"/>
          <p:cNvSpPr txBox="1"/>
          <p:nvPr/>
        </p:nvSpPr>
        <p:spPr>
          <a:xfrm>
            <a:off x="6990588" y="5331289"/>
            <a:ext cx="537633" cy="305276"/>
          </a:xfrm>
          <a:prstGeom prst="rect">
            <a:avLst/>
          </a:prstGeom>
        </p:spPr>
        <p:txBody>
          <a:bodyPr vert="horz" wrap="square" lIns="0" tIns="17780" rIns="0" bIns="0" rtlCol="0">
            <a:spAutoFit/>
          </a:bodyPr>
          <a:lstStyle/>
          <a:p>
            <a:pPr marL="16933">
              <a:spcBef>
                <a:spcPts val="140"/>
              </a:spcBef>
            </a:pPr>
            <a:r>
              <a:rPr sz="1867" b="1" i="1" spc="-13" dirty="0">
                <a:solidFill>
                  <a:srgbClr val="D9D9D9"/>
                </a:solidFill>
                <a:latin typeface="Calibri"/>
                <a:cs typeface="Calibri"/>
              </a:rPr>
              <a:t>After</a:t>
            </a:r>
            <a:endParaRPr sz="1867">
              <a:latin typeface="Calibri"/>
              <a:cs typeface="Calibri"/>
            </a:endParaRPr>
          </a:p>
        </p:txBody>
      </p:sp>
      <p:sp>
        <p:nvSpPr>
          <p:cNvPr id="16" name="object 5">
            <a:extLst>
              <a:ext uri="{FF2B5EF4-FFF2-40B4-BE49-F238E27FC236}">
                <a16:creationId xmlns:a16="http://schemas.microsoft.com/office/drawing/2014/main" id="{A74633D0-7CA1-2F85-5849-3B3F40C49B58}"/>
              </a:ext>
            </a:extLst>
          </p:cNvPr>
          <p:cNvSpPr txBox="1">
            <a:spLocks/>
          </p:cNvSpPr>
          <p:nvPr/>
        </p:nvSpPr>
        <p:spPr>
          <a:xfrm>
            <a:off x="3734455" y="172378"/>
            <a:ext cx="5330032" cy="695062"/>
          </a:xfrm>
          <a:prstGeom prst="rect">
            <a:avLst/>
          </a:prstGeom>
        </p:spPr>
        <p:txBody>
          <a:bodyPr vert="horz" wrap="square" lIns="0" tIns="1778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6933">
              <a:lnSpc>
                <a:spcPct val="100000"/>
              </a:lnSpc>
              <a:spcBef>
                <a:spcPts val="140"/>
              </a:spcBef>
            </a:pPr>
            <a:r>
              <a:rPr lang="en-IN">
                <a:solidFill>
                  <a:schemeClr val="bg1"/>
                </a:solidFill>
                <a:latin typeface="+mn-lt"/>
              </a:rPr>
              <a:t>Type</a:t>
            </a:r>
            <a:r>
              <a:rPr lang="en-IN" spc="-20">
                <a:solidFill>
                  <a:schemeClr val="bg1"/>
                </a:solidFill>
                <a:latin typeface="+mn-lt"/>
              </a:rPr>
              <a:t> </a:t>
            </a:r>
            <a:r>
              <a:rPr lang="en-IN">
                <a:solidFill>
                  <a:schemeClr val="bg1"/>
                </a:solidFill>
                <a:latin typeface="+mn-lt"/>
              </a:rPr>
              <a:t>2: New</a:t>
            </a:r>
            <a:r>
              <a:rPr lang="en-IN" spc="-40">
                <a:solidFill>
                  <a:schemeClr val="bg1"/>
                </a:solidFill>
                <a:latin typeface="+mn-lt"/>
              </a:rPr>
              <a:t> </a:t>
            </a:r>
            <a:r>
              <a:rPr lang="en-IN" spc="-33">
                <a:solidFill>
                  <a:schemeClr val="bg1"/>
                </a:solidFill>
                <a:latin typeface="+mn-lt"/>
              </a:rPr>
              <a:t>row</a:t>
            </a:r>
            <a:endParaRPr lang="en-IN" spc="-33" dirty="0">
              <a:solidFill>
                <a:schemeClr val="bg1"/>
              </a:solidFill>
              <a:latin typeface="+mn-lt"/>
            </a:endParaRPr>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651670" y="4911174"/>
            <a:ext cx="1779693" cy="590127"/>
            <a:chOff x="4238752" y="3683380"/>
            <a:chExt cx="1334770" cy="442595"/>
          </a:xfrm>
        </p:grpSpPr>
        <p:sp>
          <p:nvSpPr>
            <p:cNvPr id="3" name="object 3"/>
            <p:cNvSpPr/>
            <p:nvPr/>
          </p:nvSpPr>
          <p:spPr>
            <a:xfrm>
              <a:off x="4251452" y="3696080"/>
              <a:ext cx="1309370" cy="417195"/>
            </a:xfrm>
            <a:custGeom>
              <a:avLst/>
              <a:gdLst/>
              <a:ahLst/>
              <a:cxnLst/>
              <a:rect l="l" t="t" r="r" b="b"/>
              <a:pathLst>
                <a:path w="1309370" h="417195">
                  <a:moveTo>
                    <a:pt x="16637" y="0"/>
                  </a:moveTo>
                  <a:lnTo>
                    <a:pt x="0" y="64135"/>
                  </a:lnTo>
                  <a:lnTo>
                    <a:pt x="1236852" y="384530"/>
                  </a:lnTo>
                  <a:lnTo>
                    <a:pt x="1228471" y="416610"/>
                  </a:lnTo>
                  <a:lnTo>
                    <a:pt x="1309243" y="369074"/>
                  </a:lnTo>
                  <a:lnTo>
                    <a:pt x="1261745" y="288290"/>
                  </a:lnTo>
                  <a:lnTo>
                    <a:pt x="1253363" y="320370"/>
                  </a:lnTo>
                  <a:lnTo>
                    <a:pt x="16637" y="0"/>
                  </a:lnTo>
                  <a:close/>
                </a:path>
              </a:pathLst>
            </a:custGeom>
            <a:solidFill>
              <a:srgbClr val="00C3FF"/>
            </a:solidFill>
          </p:spPr>
          <p:txBody>
            <a:bodyPr wrap="square" lIns="0" tIns="0" rIns="0" bIns="0" rtlCol="0"/>
            <a:lstStyle/>
            <a:p>
              <a:endParaRPr sz="2400"/>
            </a:p>
          </p:txBody>
        </p:sp>
        <p:sp>
          <p:nvSpPr>
            <p:cNvPr id="4" name="object 4"/>
            <p:cNvSpPr/>
            <p:nvPr/>
          </p:nvSpPr>
          <p:spPr>
            <a:xfrm>
              <a:off x="4251452" y="3696080"/>
              <a:ext cx="1309370" cy="417195"/>
            </a:xfrm>
            <a:custGeom>
              <a:avLst/>
              <a:gdLst/>
              <a:ahLst/>
              <a:cxnLst/>
              <a:rect l="l" t="t" r="r" b="b"/>
              <a:pathLst>
                <a:path w="1309370" h="417195">
                  <a:moveTo>
                    <a:pt x="16637" y="0"/>
                  </a:moveTo>
                  <a:lnTo>
                    <a:pt x="1253363" y="320370"/>
                  </a:lnTo>
                  <a:lnTo>
                    <a:pt x="1261745" y="288290"/>
                  </a:lnTo>
                  <a:lnTo>
                    <a:pt x="1309243" y="369074"/>
                  </a:lnTo>
                  <a:lnTo>
                    <a:pt x="1228471" y="416610"/>
                  </a:lnTo>
                  <a:lnTo>
                    <a:pt x="1236852" y="384530"/>
                  </a:lnTo>
                  <a:lnTo>
                    <a:pt x="0" y="64135"/>
                  </a:lnTo>
                  <a:lnTo>
                    <a:pt x="16637" y="0"/>
                  </a:lnTo>
                  <a:close/>
                </a:path>
              </a:pathLst>
            </a:custGeom>
            <a:ln w="25400">
              <a:solidFill>
                <a:srgbClr val="008FBB"/>
              </a:solidFill>
            </a:ln>
          </p:spPr>
          <p:txBody>
            <a:bodyPr wrap="square" lIns="0" tIns="0" rIns="0" bIns="0" rtlCol="0"/>
            <a:lstStyle/>
            <a:p>
              <a:endParaRPr sz="2400"/>
            </a:p>
          </p:txBody>
        </p:sp>
      </p:grpSp>
      <p:graphicFrame>
        <p:nvGraphicFramePr>
          <p:cNvPr id="6" name="object 6"/>
          <p:cNvGraphicFramePr>
            <a:graphicFrameLocks noGrp="1"/>
          </p:cNvGraphicFramePr>
          <p:nvPr>
            <p:extLst>
              <p:ext uri="{D42A27DB-BD31-4B8C-83A1-F6EECF244321}">
                <p14:modId xmlns:p14="http://schemas.microsoft.com/office/powerpoint/2010/main" val="3352506134"/>
              </p:ext>
            </p:extLst>
          </p:nvPr>
        </p:nvGraphicFramePr>
        <p:xfrm>
          <a:off x="330979" y="3690959"/>
          <a:ext cx="5283200" cy="1495213"/>
        </p:xfrm>
        <a:graphic>
          <a:graphicData uri="http://schemas.openxmlformats.org/drawingml/2006/table">
            <a:tbl>
              <a:tblPr firstRow="1" bandRow="1">
                <a:tableStyleId>{2D5ABB26-0587-4C30-8999-92F81FD0307C}</a:tableStyleId>
              </a:tblPr>
              <a:tblGrid>
                <a:gridCol w="1320800">
                  <a:extLst>
                    <a:ext uri="{9D8B030D-6E8A-4147-A177-3AD203B41FA5}">
                      <a16:colId xmlns:a16="http://schemas.microsoft.com/office/drawing/2014/main" val="20000"/>
                    </a:ext>
                  </a:extLst>
                </a:gridCol>
                <a:gridCol w="23368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tblGrid>
              <a:tr h="225213">
                <a:tc>
                  <a:txBody>
                    <a:bodyPr/>
                    <a:lstStyle/>
                    <a:p>
                      <a:pPr marL="1905" algn="ctr">
                        <a:lnSpc>
                          <a:spcPct val="100000"/>
                        </a:lnSpc>
                        <a:spcBef>
                          <a:spcPts val="65"/>
                        </a:spcBef>
                      </a:pPr>
                      <a:r>
                        <a:rPr sz="1400" b="1" spc="-10" dirty="0">
                          <a:latin typeface="Arial"/>
                          <a:cs typeface="Arial"/>
                        </a:rPr>
                        <a:t>Sales_Key</a:t>
                      </a:r>
                      <a:endParaRPr sz="1400" dirty="0">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270" algn="ctr">
                        <a:lnSpc>
                          <a:spcPct val="100000"/>
                        </a:lnSpc>
                        <a:spcBef>
                          <a:spcPts val="65"/>
                        </a:spcBef>
                      </a:pPr>
                      <a:r>
                        <a:rPr sz="1400" b="1" spc="-20" dirty="0">
                          <a:latin typeface="Arial"/>
                          <a:cs typeface="Arial"/>
                        </a:rPr>
                        <a:t>Name</a:t>
                      </a:r>
                      <a:endParaRPr sz="1400">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3175" algn="ctr">
                        <a:lnSpc>
                          <a:spcPct val="100000"/>
                        </a:lnSpc>
                        <a:spcBef>
                          <a:spcPts val="65"/>
                        </a:spcBef>
                      </a:pPr>
                      <a:r>
                        <a:rPr sz="1400" b="1" spc="-10" dirty="0">
                          <a:latin typeface="Arial"/>
                          <a:cs typeface="Arial"/>
                        </a:rPr>
                        <a:t>Amount</a:t>
                      </a:r>
                      <a:endParaRPr sz="1400">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algn="ctr">
                        <a:lnSpc>
                          <a:spcPct val="100000"/>
                        </a:lnSpc>
                        <a:spcBef>
                          <a:spcPts val="229"/>
                        </a:spcBef>
                      </a:pPr>
                      <a:r>
                        <a:rPr sz="1400" spc="-50" dirty="0">
                          <a:latin typeface="Arial MT"/>
                          <a:cs typeface="Arial MT"/>
                        </a:rPr>
                        <a:t>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dirty="0">
                          <a:latin typeface="Arial MT"/>
                          <a:cs typeface="Arial MT"/>
                        </a:rPr>
                        <a:t>Sunglases</a:t>
                      </a:r>
                      <a:r>
                        <a:rPr sz="1400" spc="-55" dirty="0">
                          <a:latin typeface="Arial MT"/>
                          <a:cs typeface="Arial MT"/>
                        </a:rPr>
                        <a:t> </a:t>
                      </a:r>
                      <a:r>
                        <a:rPr sz="1400" dirty="0">
                          <a:latin typeface="Arial MT"/>
                          <a:cs typeface="Arial MT"/>
                        </a:rPr>
                        <a:t>TR-</a:t>
                      </a:r>
                      <a:r>
                        <a:rPr sz="1400" spc="-50" dirty="0">
                          <a:latin typeface="Arial MT"/>
                          <a:cs typeface="Arial MT"/>
                        </a:rPr>
                        <a:t>7</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spc="-25" dirty="0">
                          <a:latin typeface="Arial MT"/>
                          <a:cs typeface="Arial MT"/>
                        </a:rPr>
                        <a:t>$25</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ct val="100000"/>
                        </a:lnSpc>
                        <a:spcBef>
                          <a:spcPts val="229"/>
                        </a:spcBef>
                      </a:pPr>
                      <a:r>
                        <a:rPr sz="1400" spc="-50" dirty="0">
                          <a:latin typeface="Arial MT"/>
                          <a:cs typeface="Arial MT"/>
                        </a:rPr>
                        <a:t>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10" dirty="0">
                          <a:latin typeface="Arial MT"/>
                          <a:cs typeface="Arial MT"/>
                        </a:rPr>
                        <a:t>Chocolate </a:t>
                      </a:r>
                      <a:r>
                        <a:rPr sz="1400" dirty="0">
                          <a:latin typeface="Arial MT"/>
                          <a:cs typeface="Arial MT"/>
                        </a:rPr>
                        <a:t>bar 70%</a:t>
                      </a:r>
                      <a:r>
                        <a:rPr sz="1400" spc="5" dirty="0">
                          <a:latin typeface="Arial MT"/>
                          <a:cs typeface="Arial MT"/>
                        </a:rPr>
                        <a:t> </a:t>
                      </a:r>
                      <a:r>
                        <a:rPr sz="1400" spc="-10" dirty="0">
                          <a:latin typeface="Arial MT"/>
                          <a:cs typeface="Arial MT"/>
                        </a:rPr>
                        <a:t>cacao</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25"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ct val="10000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dirty="0">
                          <a:latin typeface="Arial MT"/>
                          <a:cs typeface="Arial MT"/>
                        </a:rPr>
                        <a:t>Oat</a:t>
                      </a:r>
                      <a:r>
                        <a:rPr sz="1400" spc="-25" dirty="0">
                          <a:latin typeface="Arial MT"/>
                          <a:cs typeface="Arial MT"/>
                        </a:rPr>
                        <a:t> </a:t>
                      </a:r>
                      <a:r>
                        <a:rPr sz="1400" dirty="0">
                          <a:latin typeface="Arial MT"/>
                          <a:cs typeface="Arial MT"/>
                        </a:rPr>
                        <a:t>meal</a:t>
                      </a:r>
                      <a:r>
                        <a:rPr sz="1400" spc="-35" dirty="0">
                          <a:latin typeface="Arial MT"/>
                          <a:cs typeface="Arial MT"/>
                        </a:rPr>
                        <a:t> </a:t>
                      </a:r>
                      <a:r>
                        <a:rPr sz="1400" spc="-10" dirty="0">
                          <a:latin typeface="Arial MT"/>
                          <a:cs typeface="Arial MT"/>
                        </a:rPr>
                        <a:t>biscuits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25" dirty="0">
                          <a:latin typeface="Arial MT"/>
                          <a:cs typeface="Arial MT"/>
                        </a:rPr>
                        <a:t>$4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algn="ctr">
                        <a:lnSpc>
                          <a:spcPct val="100000"/>
                        </a:lnSpc>
                        <a:spcBef>
                          <a:spcPts val="229"/>
                        </a:spcBef>
                      </a:pPr>
                      <a:r>
                        <a:rPr sz="1400" spc="-50" dirty="0">
                          <a:latin typeface="Arial MT"/>
                          <a:cs typeface="Arial MT"/>
                        </a:rPr>
                        <a:t>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dirty="0">
                          <a:latin typeface="Arial MT"/>
                          <a:cs typeface="Arial MT"/>
                        </a:rPr>
                        <a:t>Chocolate</a:t>
                      </a:r>
                      <a:r>
                        <a:rPr sz="1400" spc="-25" dirty="0">
                          <a:latin typeface="Arial MT"/>
                          <a:cs typeface="Arial MT"/>
                        </a:rPr>
                        <a:t> </a:t>
                      </a:r>
                      <a:r>
                        <a:rPr sz="1400" dirty="0">
                          <a:latin typeface="Arial MT"/>
                          <a:cs typeface="Arial MT"/>
                        </a:rPr>
                        <a:t>bar</a:t>
                      </a:r>
                      <a:r>
                        <a:rPr sz="1400" spc="-10" dirty="0">
                          <a:latin typeface="Arial MT"/>
                          <a:cs typeface="Arial MT"/>
                        </a:rPr>
                        <a:t> </a:t>
                      </a:r>
                      <a:r>
                        <a:rPr sz="1400" dirty="0">
                          <a:latin typeface="Arial MT"/>
                          <a:cs typeface="Arial MT"/>
                        </a:rPr>
                        <a:t>70%</a:t>
                      </a:r>
                      <a:r>
                        <a:rPr sz="1400" spc="-15" dirty="0">
                          <a:latin typeface="Arial MT"/>
                          <a:cs typeface="Arial MT"/>
                        </a:rPr>
                        <a:t> </a:t>
                      </a:r>
                      <a:r>
                        <a:rPr sz="1400" spc="-10" dirty="0">
                          <a:latin typeface="Arial MT"/>
                          <a:cs typeface="Arial MT"/>
                        </a:rPr>
                        <a:t>cacao</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25" dirty="0">
                          <a:latin typeface="Arial MT"/>
                          <a:cs typeface="Arial MT"/>
                        </a:rPr>
                        <a:t>$3</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algn="ctr">
                        <a:lnSpc>
                          <a:spcPct val="100000"/>
                        </a:lnSpc>
                        <a:spcBef>
                          <a:spcPts val="229"/>
                        </a:spcBef>
                      </a:pPr>
                      <a:r>
                        <a:rPr sz="1400" spc="-50" dirty="0">
                          <a:latin typeface="Arial MT"/>
                          <a:cs typeface="Arial MT"/>
                        </a:rPr>
                        <a:t>5</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66D5FF"/>
                    </a:solidFill>
                  </a:tcPr>
                </a:tc>
                <a:tc>
                  <a:txBody>
                    <a:bodyPr/>
                    <a:lstStyle/>
                    <a:p>
                      <a:pPr algn="ctr">
                        <a:lnSpc>
                          <a:spcPct val="100000"/>
                        </a:lnSpc>
                        <a:spcBef>
                          <a:spcPts val="229"/>
                        </a:spcBef>
                      </a:pPr>
                      <a:r>
                        <a:rPr sz="1400" dirty="0">
                          <a:latin typeface="Arial MT"/>
                          <a:cs typeface="Arial MT"/>
                        </a:rPr>
                        <a:t>Oat</a:t>
                      </a:r>
                      <a:r>
                        <a:rPr sz="1400" spc="-25" dirty="0">
                          <a:latin typeface="Arial MT"/>
                          <a:cs typeface="Arial MT"/>
                        </a:rPr>
                        <a:t> </a:t>
                      </a:r>
                      <a:r>
                        <a:rPr sz="1400" dirty="0">
                          <a:latin typeface="Arial MT"/>
                          <a:cs typeface="Arial MT"/>
                        </a:rPr>
                        <a:t>meal</a:t>
                      </a:r>
                      <a:r>
                        <a:rPr sz="1400" spc="-35" dirty="0">
                          <a:latin typeface="Arial MT"/>
                          <a:cs typeface="Arial MT"/>
                        </a:rPr>
                        <a:t> </a:t>
                      </a:r>
                      <a:r>
                        <a:rPr sz="1400" spc="-10" dirty="0">
                          <a:latin typeface="Arial MT"/>
                          <a:cs typeface="Arial MT"/>
                        </a:rPr>
                        <a:t>biscuits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66D5FF"/>
                    </a:solidFill>
                  </a:tcPr>
                </a:tc>
                <a:tc>
                  <a:txBody>
                    <a:bodyPr/>
                    <a:lstStyle/>
                    <a:p>
                      <a:pPr marL="1905" algn="ctr">
                        <a:lnSpc>
                          <a:spcPct val="100000"/>
                        </a:lnSpc>
                        <a:spcBef>
                          <a:spcPts val="229"/>
                        </a:spcBef>
                      </a:pPr>
                      <a:r>
                        <a:rPr sz="1400" spc="-25" dirty="0">
                          <a:latin typeface="Arial MT"/>
                          <a:cs typeface="Arial MT"/>
                        </a:rPr>
                        <a:t>$4</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66D5FF"/>
                    </a:solidFill>
                  </a:tcPr>
                </a:tc>
                <a:extLst>
                  <a:ext uri="{0D108BD9-81ED-4DB2-BD59-A6C34878D82A}">
                    <a16:rowId xmlns:a16="http://schemas.microsoft.com/office/drawing/2014/main" val="10005"/>
                  </a:ext>
                </a:extLst>
              </a:tr>
            </a:tbl>
          </a:graphicData>
        </a:graphic>
      </p:graphicFrame>
      <p:graphicFrame>
        <p:nvGraphicFramePr>
          <p:cNvPr id="7" name="object 7"/>
          <p:cNvGraphicFramePr>
            <a:graphicFrameLocks noGrp="1"/>
          </p:cNvGraphicFramePr>
          <p:nvPr>
            <p:extLst>
              <p:ext uri="{D42A27DB-BD31-4B8C-83A1-F6EECF244321}">
                <p14:modId xmlns:p14="http://schemas.microsoft.com/office/powerpoint/2010/main" val="2958239117"/>
              </p:ext>
            </p:extLst>
          </p:nvPr>
        </p:nvGraphicFramePr>
        <p:xfrm>
          <a:off x="7509934" y="4936405"/>
          <a:ext cx="2032000" cy="986366"/>
        </p:xfrm>
        <a:graphic>
          <a:graphicData uri="http://schemas.openxmlformats.org/drawingml/2006/table">
            <a:tbl>
              <a:tblPr firstRow="1" bandRow="1">
                <a:tableStyleId>{2D5ABB26-0587-4C30-8999-92F81FD0307C}</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tblGrid>
              <a:tr h="225213">
                <a:tc>
                  <a:txBody>
                    <a:bodyPr/>
                    <a:lstStyle/>
                    <a:p>
                      <a:pPr marL="6350" algn="ctr">
                        <a:lnSpc>
                          <a:spcPct val="100000"/>
                        </a:lnSpc>
                        <a:spcBef>
                          <a:spcPts val="65"/>
                        </a:spcBef>
                      </a:pPr>
                      <a:r>
                        <a:rPr sz="1400" b="1" spc="-10" dirty="0">
                          <a:latin typeface="Arial"/>
                          <a:cs typeface="Arial"/>
                        </a:rPr>
                        <a:t>Category</a:t>
                      </a:r>
                      <a:endParaRPr sz="1400">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3175" algn="ctr">
                        <a:lnSpc>
                          <a:spcPct val="100000"/>
                        </a:lnSpc>
                        <a:spcBef>
                          <a:spcPts val="65"/>
                        </a:spcBef>
                      </a:pPr>
                      <a:r>
                        <a:rPr sz="1400" b="1" spc="-10" dirty="0">
                          <a:latin typeface="Arial"/>
                          <a:cs typeface="Arial"/>
                        </a:rPr>
                        <a:t>Amount</a:t>
                      </a:r>
                      <a:endParaRPr sz="1400">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marL="3175" algn="ctr">
                        <a:lnSpc>
                          <a:spcPct val="100000"/>
                        </a:lnSpc>
                        <a:spcBef>
                          <a:spcPts val="229"/>
                        </a:spcBef>
                      </a:pPr>
                      <a:r>
                        <a:rPr sz="1400" spc="-10" dirty="0">
                          <a:latin typeface="Arial MT"/>
                          <a:cs typeface="Arial MT"/>
                        </a:rPr>
                        <a:t>Assecoirs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spc="-25" dirty="0">
                          <a:latin typeface="Arial MT"/>
                          <a:cs typeface="Arial MT"/>
                        </a:rPr>
                        <a:t>$25</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marL="1905" algn="ctr">
                        <a:lnSpc>
                          <a:spcPct val="100000"/>
                        </a:lnSpc>
                        <a:spcBef>
                          <a:spcPts val="229"/>
                        </a:spcBef>
                      </a:pPr>
                      <a:r>
                        <a:rPr sz="1400" spc="-10" dirty="0">
                          <a:latin typeface="Arial MT"/>
                          <a:cs typeface="Arial MT"/>
                        </a:rPr>
                        <a:t>Sweets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25" dirty="0">
                          <a:latin typeface="Arial MT"/>
                          <a:cs typeface="Arial MT"/>
                        </a:rPr>
                        <a:t>$6</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3153">
                <a:tc>
                  <a:txBody>
                    <a:bodyPr/>
                    <a:lstStyle/>
                    <a:p>
                      <a:pPr marL="635" algn="ctr">
                        <a:lnSpc>
                          <a:spcPct val="100000"/>
                        </a:lnSpc>
                        <a:spcBef>
                          <a:spcPts val="229"/>
                        </a:spcBef>
                      </a:pPr>
                      <a:r>
                        <a:rPr sz="1400" spc="-10" dirty="0">
                          <a:latin typeface="Arial MT"/>
                          <a:cs typeface="Arial MT"/>
                        </a:rPr>
                        <a:t>Buscuits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25" dirty="0">
                          <a:latin typeface="Arial MT"/>
                          <a:cs typeface="Arial MT"/>
                        </a:rPr>
                        <a:t>$8</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graphicFrame>
        <p:nvGraphicFramePr>
          <p:cNvPr id="8" name="object 8"/>
          <p:cNvGraphicFramePr>
            <a:graphicFrameLocks noGrp="1"/>
          </p:cNvGraphicFramePr>
          <p:nvPr>
            <p:extLst>
              <p:ext uri="{D42A27DB-BD31-4B8C-83A1-F6EECF244321}">
                <p14:modId xmlns:p14="http://schemas.microsoft.com/office/powerpoint/2010/main" val="3863811400"/>
              </p:ext>
            </p:extLst>
          </p:nvPr>
        </p:nvGraphicFramePr>
        <p:xfrm>
          <a:off x="7509934" y="3451014"/>
          <a:ext cx="2032000" cy="733213"/>
        </p:xfrm>
        <a:graphic>
          <a:graphicData uri="http://schemas.openxmlformats.org/drawingml/2006/table">
            <a:tbl>
              <a:tblPr firstRow="1" bandRow="1">
                <a:tableStyleId>{2D5ABB26-0587-4C30-8999-92F81FD0307C}</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tblGrid>
              <a:tr h="225213">
                <a:tc>
                  <a:txBody>
                    <a:bodyPr/>
                    <a:lstStyle/>
                    <a:p>
                      <a:pPr marL="6350" algn="ctr">
                        <a:lnSpc>
                          <a:spcPct val="100000"/>
                        </a:lnSpc>
                        <a:spcBef>
                          <a:spcPts val="60"/>
                        </a:spcBef>
                      </a:pPr>
                      <a:r>
                        <a:rPr sz="1400" b="1" spc="-10" dirty="0">
                          <a:latin typeface="Arial"/>
                          <a:cs typeface="Arial"/>
                        </a:rPr>
                        <a:t>Category</a:t>
                      </a:r>
                      <a:endParaRPr sz="1400">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3175" algn="ctr">
                        <a:lnSpc>
                          <a:spcPct val="100000"/>
                        </a:lnSpc>
                        <a:spcBef>
                          <a:spcPts val="60"/>
                        </a:spcBef>
                      </a:pPr>
                      <a:r>
                        <a:rPr sz="1400" b="1" spc="-10" dirty="0">
                          <a:latin typeface="Arial"/>
                          <a:cs typeface="Arial"/>
                        </a:rPr>
                        <a:t>Amount</a:t>
                      </a:r>
                      <a:endParaRPr sz="1400">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marL="3175" algn="ctr">
                        <a:lnSpc>
                          <a:spcPct val="100000"/>
                        </a:lnSpc>
                        <a:spcBef>
                          <a:spcPts val="225"/>
                        </a:spcBef>
                      </a:pPr>
                      <a:r>
                        <a:rPr sz="1400" spc="-10" dirty="0">
                          <a:latin typeface="Arial MT"/>
                          <a:cs typeface="Arial MT"/>
                        </a:rPr>
                        <a:t>Assecoirs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25" dirty="0">
                          <a:latin typeface="Arial MT"/>
                          <a:cs typeface="Arial MT"/>
                        </a:rPr>
                        <a:t>$25</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marL="2540" algn="ctr">
                        <a:lnSpc>
                          <a:spcPct val="100000"/>
                        </a:lnSpc>
                        <a:spcBef>
                          <a:spcPts val="225"/>
                        </a:spcBef>
                      </a:pPr>
                      <a:r>
                        <a:rPr sz="1400" spc="-10" dirty="0">
                          <a:latin typeface="Arial MT"/>
                          <a:cs typeface="Arial MT"/>
                        </a:rPr>
                        <a:t>Sweets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25" dirty="0">
                          <a:latin typeface="Arial MT"/>
                          <a:cs typeface="Arial MT"/>
                        </a:rPr>
                        <a:t>$14</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bl>
          </a:graphicData>
        </a:graphic>
      </p:graphicFrame>
      <p:grpSp>
        <p:nvGrpSpPr>
          <p:cNvPr id="9" name="object 9"/>
          <p:cNvGrpSpPr/>
          <p:nvPr/>
        </p:nvGrpSpPr>
        <p:grpSpPr>
          <a:xfrm>
            <a:off x="5637784" y="3840140"/>
            <a:ext cx="1811867" cy="423333"/>
            <a:chOff x="4228338" y="2880105"/>
            <a:chExt cx="1358900" cy="317500"/>
          </a:xfrm>
        </p:grpSpPr>
        <p:sp>
          <p:nvSpPr>
            <p:cNvPr id="10" name="object 10"/>
            <p:cNvSpPr/>
            <p:nvPr/>
          </p:nvSpPr>
          <p:spPr>
            <a:xfrm>
              <a:off x="4241038" y="2892805"/>
              <a:ext cx="1333500" cy="292100"/>
            </a:xfrm>
            <a:custGeom>
              <a:avLst/>
              <a:gdLst/>
              <a:ahLst/>
              <a:cxnLst/>
              <a:rect l="l" t="t" r="r" b="b"/>
              <a:pathLst>
                <a:path w="1333500" h="292100">
                  <a:moveTo>
                    <a:pt x="1257808" y="0"/>
                  </a:moveTo>
                  <a:lnTo>
                    <a:pt x="1262888" y="32766"/>
                  </a:lnTo>
                  <a:lnTo>
                    <a:pt x="0" y="226187"/>
                  </a:lnTo>
                  <a:lnTo>
                    <a:pt x="10033" y="291719"/>
                  </a:lnTo>
                  <a:lnTo>
                    <a:pt x="1272921" y="98298"/>
                  </a:lnTo>
                  <a:lnTo>
                    <a:pt x="1277874" y="131063"/>
                  </a:lnTo>
                  <a:lnTo>
                    <a:pt x="1333373" y="55499"/>
                  </a:lnTo>
                  <a:lnTo>
                    <a:pt x="1257808" y="0"/>
                  </a:lnTo>
                  <a:close/>
                </a:path>
              </a:pathLst>
            </a:custGeom>
            <a:solidFill>
              <a:srgbClr val="00C3FF"/>
            </a:solidFill>
          </p:spPr>
          <p:txBody>
            <a:bodyPr wrap="square" lIns="0" tIns="0" rIns="0" bIns="0" rtlCol="0"/>
            <a:lstStyle/>
            <a:p>
              <a:endParaRPr sz="2400"/>
            </a:p>
          </p:txBody>
        </p:sp>
        <p:sp>
          <p:nvSpPr>
            <p:cNvPr id="11" name="object 11"/>
            <p:cNvSpPr/>
            <p:nvPr/>
          </p:nvSpPr>
          <p:spPr>
            <a:xfrm>
              <a:off x="4241038" y="2892805"/>
              <a:ext cx="1333500" cy="292100"/>
            </a:xfrm>
            <a:custGeom>
              <a:avLst/>
              <a:gdLst/>
              <a:ahLst/>
              <a:cxnLst/>
              <a:rect l="l" t="t" r="r" b="b"/>
              <a:pathLst>
                <a:path w="1333500" h="292100">
                  <a:moveTo>
                    <a:pt x="0" y="226187"/>
                  </a:moveTo>
                  <a:lnTo>
                    <a:pt x="1262888" y="32766"/>
                  </a:lnTo>
                  <a:lnTo>
                    <a:pt x="1257808" y="0"/>
                  </a:lnTo>
                  <a:lnTo>
                    <a:pt x="1333373" y="55499"/>
                  </a:lnTo>
                  <a:lnTo>
                    <a:pt x="1277874" y="131063"/>
                  </a:lnTo>
                  <a:lnTo>
                    <a:pt x="1272921" y="98298"/>
                  </a:lnTo>
                  <a:lnTo>
                    <a:pt x="10033" y="291719"/>
                  </a:lnTo>
                  <a:lnTo>
                    <a:pt x="0" y="226187"/>
                  </a:lnTo>
                  <a:close/>
                </a:path>
              </a:pathLst>
            </a:custGeom>
            <a:ln w="25400">
              <a:solidFill>
                <a:srgbClr val="008FBB"/>
              </a:solidFill>
            </a:ln>
          </p:spPr>
          <p:txBody>
            <a:bodyPr wrap="square" lIns="0" tIns="0" rIns="0" bIns="0" rtlCol="0"/>
            <a:lstStyle/>
            <a:p>
              <a:endParaRPr sz="2400"/>
            </a:p>
          </p:txBody>
        </p:sp>
      </p:grpSp>
      <p:sp>
        <p:nvSpPr>
          <p:cNvPr id="12" name="object 12"/>
          <p:cNvSpPr txBox="1"/>
          <p:nvPr/>
        </p:nvSpPr>
        <p:spPr>
          <a:xfrm>
            <a:off x="6177449" y="5331289"/>
            <a:ext cx="537633" cy="305276"/>
          </a:xfrm>
          <a:prstGeom prst="rect">
            <a:avLst/>
          </a:prstGeom>
        </p:spPr>
        <p:txBody>
          <a:bodyPr vert="horz" wrap="square" lIns="0" tIns="17780" rIns="0" bIns="0" rtlCol="0">
            <a:spAutoFit/>
          </a:bodyPr>
          <a:lstStyle/>
          <a:p>
            <a:pPr marL="16933">
              <a:spcBef>
                <a:spcPts val="140"/>
              </a:spcBef>
            </a:pPr>
            <a:r>
              <a:rPr sz="1867" b="1" i="1" spc="-13" dirty="0">
                <a:solidFill>
                  <a:srgbClr val="D9D9D9"/>
                </a:solidFill>
                <a:latin typeface="Calibri"/>
                <a:cs typeface="Calibri"/>
              </a:rPr>
              <a:t>After</a:t>
            </a:r>
            <a:endParaRPr sz="1867">
              <a:latin typeface="Calibri"/>
              <a:cs typeface="Calibri"/>
            </a:endParaRPr>
          </a:p>
        </p:txBody>
      </p:sp>
      <p:graphicFrame>
        <p:nvGraphicFramePr>
          <p:cNvPr id="13" name="object 13"/>
          <p:cNvGraphicFramePr>
            <a:graphicFrameLocks noGrp="1"/>
          </p:cNvGraphicFramePr>
          <p:nvPr>
            <p:extLst>
              <p:ext uri="{D42A27DB-BD31-4B8C-83A1-F6EECF244321}">
                <p14:modId xmlns:p14="http://schemas.microsoft.com/office/powerpoint/2010/main" val="1419525107"/>
              </p:ext>
            </p:extLst>
          </p:nvPr>
        </p:nvGraphicFramePr>
        <p:xfrm>
          <a:off x="9812020" y="4011844"/>
          <a:ext cx="2032000" cy="987213"/>
        </p:xfrm>
        <a:graphic>
          <a:graphicData uri="http://schemas.openxmlformats.org/drawingml/2006/table">
            <a:tbl>
              <a:tblPr firstRow="1" bandRow="1">
                <a:tableStyleId>{2D5ABB26-0587-4C30-8999-92F81FD0307C}</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tblGrid>
              <a:tr h="226060">
                <a:tc>
                  <a:txBody>
                    <a:bodyPr/>
                    <a:lstStyle/>
                    <a:p>
                      <a:pPr marL="5715" algn="ctr">
                        <a:lnSpc>
                          <a:spcPct val="100000"/>
                        </a:lnSpc>
                        <a:spcBef>
                          <a:spcPts val="65"/>
                        </a:spcBef>
                      </a:pPr>
                      <a:r>
                        <a:rPr sz="1400" b="1" spc="-10" dirty="0">
                          <a:latin typeface="Arial"/>
                          <a:cs typeface="Arial"/>
                        </a:rPr>
                        <a:t>Category</a:t>
                      </a:r>
                      <a:endParaRPr sz="1400" dirty="0">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3810" algn="ctr">
                        <a:lnSpc>
                          <a:spcPct val="100000"/>
                        </a:lnSpc>
                        <a:spcBef>
                          <a:spcPts val="65"/>
                        </a:spcBef>
                      </a:pPr>
                      <a:r>
                        <a:rPr sz="1400" b="1" spc="-10" dirty="0">
                          <a:latin typeface="Arial"/>
                          <a:cs typeface="Arial"/>
                        </a:rPr>
                        <a:t>Amount</a:t>
                      </a:r>
                      <a:endParaRPr sz="1400">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marL="2540" algn="ctr">
                        <a:lnSpc>
                          <a:spcPct val="100000"/>
                        </a:lnSpc>
                        <a:spcBef>
                          <a:spcPts val="229"/>
                        </a:spcBef>
                      </a:pPr>
                      <a:r>
                        <a:rPr sz="1400" spc="-10" dirty="0">
                          <a:latin typeface="Arial MT"/>
                          <a:cs typeface="Arial MT"/>
                        </a:rPr>
                        <a:t>Assecoirs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25" dirty="0">
                          <a:latin typeface="Arial MT"/>
                          <a:cs typeface="Arial MT"/>
                        </a:rPr>
                        <a:t>$25</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3153">
                <a:tc>
                  <a:txBody>
                    <a:bodyPr/>
                    <a:lstStyle/>
                    <a:p>
                      <a:pPr marL="2540" algn="ctr">
                        <a:lnSpc>
                          <a:spcPct val="100000"/>
                        </a:lnSpc>
                        <a:spcBef>
                          <a:spcPts val="229"/>
                        </a:spcBef>
                      </a:pPr>
                      <a:r>
                        <a:rPr sz="1400" spc="-10" dirty="0">
                          <a:latin typeface="Arial MT"/>
                          <a:cs typeface="Arial MT"/>
                        </a:rPr>
                        <a:t>Sweets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810" algn="ctr">
                        <a:lnSpc>
                          <a:spcPct val="100000"/>
                        </a:lnSpc>
                        <a:spcBef>
                          <a:spcPts val="229"/>
                        </a:spcBef>
                      </a:pPr>
                      <a:r>
                        <a:rPr sz="1400" spc="-25" dirty="0">
                          <a:latin typeface="Arial MT"/>
                          <a:cs typeface="Arial MT"/>
                        </a:rPr>
                        <a:t>$7</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marL="1270" algn="ctr">
                        <a:lnSpc>
                          <a:spcPct val="100000"/>
                        </a:lnSpc>
                        <a:spcBef>
                          <a:spcPts val="229"/>
                        </a:spcBef>
                      </a:pPr>
                      <a:r>
                        <a:rPr sz="1400" spc="-10" dirty="0">
                          <a:latin typeface="Arial MT"/>
                          <a:cs typeface="Arial MT"/>
                        </a:rPr>
                        <a:t>Buscuits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810" algn="ctr">
                        <a:lnSpc>
                          <a:spcPct val="100000"/>
                        </a:lnSpc>
                        <a:spcBef>
                          <a:spcPts val="229"/>
                        </a:spcBef>
                      </a:pPr>
                      <a:r>
                        <a:rPr sz="1400" spc="-25" dirty="0">
                          <a:latin typeface="Arial MT"/>
                          <a:cs typeface="Arial MT"/>
                        </a:rPr>
                        <a:t>$4</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grpSp>
        <p:nvGrpSpPr>
          <p:cNvPr id="14" name="object 14"/>
          <p:cNvGrpSpPr/>
          <p:nvPr/>
        </p:nvGrpSpPr>
        <p:grpSpPr>
          <a:xfrm>
            <a:off x="5709920" y="4484624"/>
            <a:ext cx="3960707" cy="237913"/>
            <a:chOff x="4282440" y="3363467"/>
            <a:chExt cx="2970530" cy="178435"/>
          </a:xfrm>
        </p:grpSpPr>
        <p:sp>
          <p:nvSpPr>
            <p:cNvPr id="15" name="object 15"/>
            <p:cNvSpPr/>
            <p:nvPr/>
          </p:nvSpPr>
          <p:spPr>
            <a:xfrm>
              <a:off x="4295394" y="3376421"/>
              <a:ext cx="2944495" cy="152400"/>
            </a:xfrm>
            <a:custGeom>
              <a:avLst/>
              <a:gdLst/>
              <a:ahLst/>
              <a:cxnLst/>
              <a:rect l="l" t="t" r="r" b="b"/>
              <a:pathLst>
                <a:path w="2944495" h="152400">
                  <a:moveTo>
                    <a:pt x="2868167" y="0"/>
                  </a:moveTo>
                  <a:lnTo>
                    <a:pt x="2868167" y="38100"/>
                  </a:lnTo>
                  <a:lnTo>
                    <a:pt x="0" y="38100"/>
                  </a:lnTo>
                  <a:lnTo>
                    <a:pt x="0" y="114300"/>
                  </a:lnTo>
                  <a:lnTo>
                    <a:pt x="2868167" y="114300"/>
                  </a:lnTo>
                  <a:lnTo>
                    <a:pt x="2868167" y="152399"/>
                  </a:lnTo>
                  <a:lnTo>
                    <a:pt x="2944367" y="76200"/>
                  </a:lnTo>
                  <a:lnTo>
                    <a:pt x="2868167" y="0"/>
                  </a:lnTo>
                  <a:close/>
                </a:path>
              </a:pathLst>
            </a:custGeom>
            <a:solidFill>
              <a:srgbClr val="00C3FF"/>
            </a:solidFill>
          </p:spPr>
          <p:txBody>
            <a:bodyPr wrap="square" lIns="0" tIns="0" rIns="0" bIns="0" rtlCol="0"/>
            <a:lstStyle/>
            <a:p>
              <a:endParaRPr sz="2400"/>
            </a:p>
          </p:txBody>
        </p:sp>
        <p:sp>
          <p:nvSpPr>
            <p:cNvPr id="16" name="object 16"/>
            <p:cNvSpPr/>
            <p:nvPr/>
          </p:nvSpPr>
          <p:spPr>
            <a:xfrm>
              <a:off x="4295394" y="3376421"/>
              <a:ext cx="2944495" cy="152400"/>
            </a:xfrm>
            <a:custGeom>
              <a:avLst/>
              <a:gdLst/>
              <a:ahLst/>
              <a:cxnLst/>
              <a:rect l="l" t="t" r="r" b="b"/>
              <a:pathLst>
                <a:path w="2944495" h="152400">
                  <a:moveTo>
                    <a:pt x="0" y="38100"/>
                  </a:moveTo>
                  <a:lnTo>
                    <a:pt x="2868167" y="38100"/>
                  </a:lnTo>
                  <a:lnTo>
                    <a:pt x="2868167" y="0"/>
                  </a:lnTo>
                  <a:lnTo>
                    <a:pt x="2944367" y="76200"/>
                  </a:lnTo>
                  <a:lnTo>
                    <a:pt x="2868167" y="152399"/>
                  </a:lnTo>
                  <a:lnTo>
                    <a:pt x="2868167" y="114300"/>
                  </a:lnTo>
                  <a:lnTo>
                    <a:pt x="0" y="114300"/>
                  </a:lnTo>
                  <a:lnTo>
                    <a:pt x="0" y="38100"/>
                  </a:lnTo>
                  <a:close/>
                </a:path>
              </a:pathLst>
            </a:custGeom>
            <a:ln w="25908">
              <a:solidFill>
                <a:srgbClr val="008FBB"/>
              </a:solidFill>
            </a:ln>
          </p:spPr>
          <p:txBody>
            <a:bodyPr wrap="square" lIns="0" tIns="0" rIns="0" bIns="0" rtlCol="0"/>
            <a:lstStyle/>
            <a:p>
              <a:endParaRPr sz="2400"/>
            </a:p>
          </p:txBody>
        </p:sp>
      </p:grpSp>
      <p:sp>
        <p:nvSpPr>
          <p:cNvPr id="17" name="object 17"/>
          <p:cNvSpPr txBox="1"/>
          <p:nvPr/>
        </p:nvSpPr>
        <p:spPr>
          <a:xfrm>
            <a:off x="2950126" y="1965112"/>
            <a:ext cx="6467687" cy="2561577"/>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Problem</a:t>
            </a:r>
            <a:r>
              <a:rPr sz="2400" b="1" spc="-80" dirty="0">
                <a:solidFill>
                  <a:srgbClr val="D9D9D9"/>
                </a:solidFill>
                <a:latin typeface="Calibri"/>
                <a:cs typeface="Calibri"/>
              </a:rPr>
              <a:t> </a:t>
            </a:r>
            <a:r>
              <a:rPr sz="2400" b="1" dirty="0">
                <a:solidFill>
                  <a:srgbClr val="D9D9D9"/>
                </a:solidFill>
                <a:latin typeface="Calibri"/>
                <a:cs typeface="Calibri"/>
              </a:rPr>
              <a:t>with</a:t>
            </a:r>
            <a:r>
              <a:rPr sz="2400" b="1" spc="-33" dirty="0">
                <a:solidFill>
                  <a:srgbClr val="D9D9D9"/>
                </a:solidFill>
                <a:latin typeface="Calibri"/>
                <a:cs typeface="Calibri"/>
              </a:rPr>
              <a:t> </a:t>
            </a:r>
            <a:r>
              <a:rPr sz="2400" b="1" dirty="0">
                <a:solidFill>
                  <a:srgbClr val="D9D9D9"/>
                </a:solidFill>
                <a:latin typeface="Calibri"/>
                <a:cs typeface="Calibri"/>
              </a:rPr>
              <a:t>Type</a:t>
            </a:r>
            <a:r>
              <a:rPr sz="2400" b="1" spc="-53" dirty="0">
                <a:solidFill>
                  <a:srgbClr val="D9D9D9"/>
                </a:solidFill>
                <a:latin typeface="Calibri"/>
                <a:cs typeface="Calibri"/>
              </a:rPr>
              <a:t> </a:t>
            </a:r>
            <a:r>
              <a:rPr sz="2400" b="1" dirty="0">
                <a:solidFill>
                  <a:srgbClr val="D9D9D9"/>
                </a:solidFill>
                <a:latin typeface="Calibri"/>
                <a:cs typeface="Calibri"/>
              </a:rPr>
              <a:t>1:</a:t>
            </a:r>
            <a:r>
              <a:rPr sz="2400" b="1" spc="7" dirty="0">
                <a:solidFill>
                  <a:srgbClr val="D9D9D9"/>
                </a:solidFill>
                <a:latin typeface="Calibri"/>
                <a:cs typeface="Calibri"/>
              </a:rPr>
              <a:t> </a:t>
            </a:r>
            <a:r>
              <a:rPr sz="2400" b="1" i="1" dirty="0">
                <a:solidFill>
                  <a:srgbClr val="D9D9D9"/>
                </a:solidFill>
                <a:latin typeface="Calibri"/>
                <a:cs typeface="Calibri"/>
              </a:rPr>
              <a:t>No</a:t>
            </a:r>
            <a:r>
              <a:rPr sz="2400" b="1" i="1" spc="-33" dirty="0">
                <a:solidFill>
                  <a:srgbClr val="D9D9D9"/>
                </a:solidFill>
                <a:latin typeface="Calibri"/>
                <a:cs typeface="Calibri"/>
              </a:rPr>
              <a:t> </a:t>
            </a:r>
            <a:r>
              <a:rPr sz="2400" b="1" i="1" dirty="0">
                <a:solidFill>
                  <a:srgbClr val="D9D9D9"/>
                </a:solidFill>
                <a:latin typeface="Calibri"/>
                <a:cs typeface="Calibri"/>
              </a:rPr>
              <a:t>history</a:t>
            </a:r>
            <a:r>
              <a:rPr sz="2400" b="1" i="1" spc="-7" dirty="0">
                <a:solidFill>
                  <a:srgbClr val="D9D9D9"/>
                </a:solidFill>
                <a:latin typeface="Calibri"/>
                <a:cs typeface="Calibri"/>
              </a:rPr>
              <a:t> </a:t>
            </a:r>
            <a:r>
              <a:rPr sz="2400" b="1" i="1" dirty="0">
                <a:solidFill>
                  <a:srgbClr val="D9D9D9"/>
                </a:solidFill>
                <a:latin typeface="Calibri"/>
                <a:cs typeface="Calibri"/>
              </a:rPr>
              <a:t>of</a:t>
            </a:r>
            <a:r>
              <a:rPr sz="2400" b="1" i="1" spc="-33" dirty="0">
                <a:solidFill>
                  <a:srgbClr val="D9D9D9"/>
                </a:solidFill>
                <a:latin typeface="Calibri"/>
                <a:cs typeface="Calibri"/>
              </a:rPr>
              <a:t> </a:t>
            </a:r>
            <a:r>
              <a:rPr sz="2400" b="1" i="1" spc="-13" dirty="0">
                <a:solidFill>
                  <a:srgbClr val="D9D9D9"/>
                </a:solidFill>
                <a:latin typeface="Calibri"/>
                <a:cs typeface="Calibri"/>
              </a:rPr>
              <a:t>dimensions!</a:t>
            </a:r>
            <a:endParaRPr sz="2400" dirty="0">
              <a:latin typeface="Calibri"/>
              <a:cs typeface="Calibri"/>
            </a:endParaRPr>
          </a:p>
          <a:p>
            <a:pPr>
              <a:spcBef>
                <a:spcPts val="347"/>
              </a:spcBef>
              <a:buClr>
                <a:srgbClr val="99D3FF"/>
              </a:buClr>
              <a:buFont typeface="Wingdings"/>
              <a:buChar char=""/>
            </a:pPr>
            <a:endParaRPr sz="2400" dirty="0">
              <a:latin typeface="Calibri"/>
              <a:cs typeface="Calibri"/>
            </a:endParaRPr>
          </a:p>
          <a:p>
            <a:pPr marL="397923" indent="-380990">
              <a:spcBef>
                <a:spcPts val="7"/>
              </a:spcBef>
              <a:buClr>
                <a:srgbClr val="99D3FF"/>
              </a:buClr>
              <a:buFont typeface="Wingdings"/>
              <a:buChar char=""/>
              <a:tabLst>
                <a:tab pos="397923" algn="l"/>
              </a:tabLst>
            </a:pPr>
            <a:r>
              <a:rPr sz="2400" b="1" dirty="0">
                <a:solidFill>
                  <a:srgbClr val="D9D9D9"/>
                </a:solidFill>
                <a:latin typeface="Calibri"/>
                <a:cs typeface="Calibri"/>
              </a:rPr>
              <a:t>Only</a:t>
            </a:r>
            <a:r>
              <a:rPr sz="2400" b="1" spc="-33" dirty="0">
                <a:solidFill>
                  <a:srgbClr val="D9D9D9"/>
                </a:solidFill>
                <a:latin typeface="Calibri"/>
                <a:cs typeface="Calibri"/>
              </a:rPr>
              <a:t> </a:t>
            </a:r>
            <a:r>
              <a:rPr sz="2400" b="1" dirty="0">
                <a:solidFill>
                  <a:srgbClr val="D9D9D9"/>
                </a:solidFill>
                <a:latin typeface="Calibri"/>
                <a:cs typeface="Calibri"/>
              </a:rPr>
              <a:t>current</a:t>
            </a:r>
            <a:r>
              <a:rPr sz="2400" b="1" spc="-47" dirty="0">
                <a:solidFill>
                  <a:srgbClr val="D9D9D9"/>
                </a:solidFill>
                <a:latin typeface="Calibri"/>
                <a:cs typeface="Calibri"/>
              </a:rPr>
              <a:t> </a:t>
            </a:r>
            <a:r>
              <a:rPr sz="2400" b="1" dirty="0">
                <a:solidFill>
                  <a:srgbClr val="D9D9D9"/>
                </a:solidFill>
                <a:latin typeface="Calibri"/>
                <a:cs typeface="Calibri"/>
              </a:rPr>
              <a:t>state</a:t>
            </a:r>
            <a:r>
              <a:rPr sz="2400" b="1" spc="-47" dirty="0">
                <a:solidFill>
                  <a:srgbClr val="D9D9D9"/>
                </a:solidFill>
                <a:latin typeface="Calibri"/>
                <a:cs typeface="Calibri"/>
              </a:rPr>
              <a:t> </a:t>
            </a:r>
            <a:r>
              <a:rPr sz="2400" b="1" dirty="0">
                <a:solidFill>
                  <a:srgbClr val="D9D9D9"/>
                </a:solidFill>
                <a:latin typeface="Calibri"/>
                <a:cs typeface="Calibri"/>
              </a:rPr>
              <a:t>is</a:t>
            </a:r>
            <a:r>
              <a:rPr sz="2400" b="1" spc="-13" dirty="0">
                <a:solidFill>
                  <a:srgbClr val="D9D9D9"/>
                </a:solidFill>
                <a:latin typeface="Calibri"/>
                <a:cs typeface="Calibri"/>
              </a:rPr>
              <a:t> reflected</a:t>
            </a:r>
            <a:endParaRPr sz="2400" dirty="0">
              <a:latin typeface="Calibri"/>
              <a:cs typeface="Calibri"/>
            </a:endParaRPr>
          </a:p>
          <a:p>
            <a:pPr>
              <a:spcBef>
                <a:spcPts val="313"/>
              </a:spcBef>
            </a:pPr>
            <a:endParaRPr sz="2400" dirty="0">
              <a:latin typeface="Calibri"/>
              <a:cs typeface="Calibri"/>
            </a:endParaRPr>
          </a:p>
          <a:p>
            <a:pPr marL="517300" algn="ctr"/>
            <a:r>
              <a:rPr sz="1867" b="1" i="1" spc="-13" dirty="0">
                <a:solidFill>
                  <a:srgbClr val="D9D9D9"/>
                </a:solidFill>
                <a:latin typeface="Calibri"/>
                <a:cs typeface="Calibri"/>
              </a:rPr>
              <a:t>Before</a:t>
            </a:r>
            <a:endParaRPr sz="1867" dirty="0">
              <a:latin typeface="Calibri"/>
              <a:cs typeface="Calibri"/>
            </a:endParaRPr>
          </a:p>
          <a:p>
            <a:pPr>
              <a:spcBef>
                <a:spcPts val="953"/>
              </a:spcBef>
            </a:pPr>
            <a:endParaRPr sz="1867" dirty="0">
              <a:latin typeface="Calibri"/>
              <a:cs typeface="Calibri"/>
            </a:endParaRPr>
          </a:p>
          <a:p>
            <a:pPr marL="3533898"/>
            <a:r>
              <a:rPr sz="1867" b="1" i="1" dirty="0">
                <a:solidFill>
                  <a:srgbClr val="D9D9D9"/>
                </a:solidFill>
                <a:latin typeface="Calibri"/>
                <a:cs typeface="Calibri"/>
              </a:rPr>
              <a:t>Correctly</a:t>
            </a:r>
            <a:r>
              <a:rPr sz="1867" b="1" i="1" spc="-20" dirty="0">
                <a:solidFill>
                  <a:srgbClr val="D9D9D9"/>
                </a:solidFill>
                <a:latin typeface="Calibri"/>
                <a:cs typeface="Calibri"/>
              </a:rPr>
              <a:t> </a:t>
            </a:r>
            <a:r>
              <a:rPr sz="1867" b="1" i="1" spc="-13" dirty="0">
                <a:solidFill>
                  <a:srgbClr val="D9D9D9"/>
                </a:solidFill>
                <a:latin typeface="Calibri"/>
                <a:cs typeface="Calibri"/>
              </a:rPr>
              <a:t>representing history</a:t>
            </a:r>
            <a:endParaRPr sz="1867" dirty="0">
              <a:latin typeface="Calibri"/>
              <a:cs typeface="Calibri"/>
            </a:endParaRPr>
          </a:p>
        </p:txBody>
      </p:sp>
      <p:sp>
        <p:nvSpPr>
          <p:cNvPr id="20" name="object 5">
            <a:extLst>
              <a:ext uri="{FF2B5EF4-FFF2-40B4-BE49-F238E27FC236}">
                <a16:creationId xmlns:a16="http://schemas.microsoft.com/office/drawing/2014/main" id="{723C2A0E-C4A5-4FC2-996C-CE02DD457F12}"/>
              </a:ext>
            </a:extLst>
          </p:cNvPr>
          <p:cNvSpPr txBox="1">
            <a:spLocks noGrp="1"/>
          </p:cNvSpPr>
          <p:nvPr>
            <p:ph type="title"/>
          </p:nvPr>
        </p:nvSpPr>
        <p:spPr>
          <a:xfrm>
            <a:off x="3734455" y="172378"/>
            <a:ext cx="5330032"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Type</a:t>
            </a:r>
            <a:r>
              <a:rPr spc="-20" dirty="0">
                <a:solidFill>
                  <a:schemeClr val="bg1"/>
                </a:solidFill>
                <a:latin typeface="+mn-lt"/>
              </a:rPr>
              <a:t> </a:t>
            </a:r>
            <a:r>
              <a:rPr dirty="0">
                <a:solidFill>
                  <a:schemeClr val="bg1"/>
                </a:solidFill>
                <a:latin typeface="+mn-lt"/>
              </a:rPr>
              <a:t>2: New</a:t>
            </a:r>
            <a:r>
              <a:rPr spc="-40" dirty="0">
                <a:solidFill>
                  <a:schemeClr val="bg1"/>
                </a:solidFill>
                <a:latin typeface="+mn-lt"/>
              </a:rPr>
              <a:t> </a:t>
            </a:r>
            <a:r>
              <a:rPr spc="-33" dirty="0">
                <a:solidFill>
                  <a:schemeClr val="bg1"/>
                </a:solidFill>
                <a:latin typeface="+mn-lt"/>
              </a:rPr>
              <a:t>row</a:t>
            </a:r>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651670" y="4911174"/>
            <a:ext cx="1779693" cy="590127"/>
            <a:chOff x="4238752" y="3683380"/>
            <a:chExt cx="1334770" cy="442595"/>
          </a:xfrm>
        </p:grpSpPr>
        <p:sp>
          <p:nvSpPr>
            <p:cNvPr id="3" name="object 3"/>
            <p:cNvSpPr/>
            <p:nvPr/>
          </p:nvSpPr>
          <p:spPr>
            <a:xfrm>
              <a:off x="4251452" y="3696080"/>
              <a:ext cx="1309370" cy="417195"/>
            </a:xfrm>
            <a:custGeom>
              <a:avLst/>
              <a:gdLst/>
              <a:ahLst/>
              <a:cxnLst/>
              <a:rect l="l" t="t" r="r" b="b"/>
              <a:pathLst>
                <a:path w="1309370" h="417195">
                  <a:moveTo>
                    <a:pt x="16637" y="0"/>
                  </a:moveTo>
                  <a:lnTo>
                    <a:pt x="0" y="64135"/>
                  </a:lnTo>
                  <a:lnTo>
                    <a:pt x="1236852" y="384530"/>
                  </a:lnTo>
                  <a:lnTo>
                    <a:pt x="1228471" y="416610"/>
                  </a:lnTo>
                  <a:lnTo>
                    <a:pt x="1309243" y="369074"/>
                  </a:lnTo>
                  <a:lnTo>
                    <a:pt x="1261745" y="288290"/>
                  </a:lnTo>
                  <a:lnTo>
                    <a:pt x="1253363" y="320370"/>
                  </a:lnTo>
                  <a:lnTo>
                    <a:pt x="16637" y="0"/>
                  </a:lnTo>
                  <a:close/>
                </a:path>
              </a:pathLst>
            </a:custGeom>
            <a:solidFill>
              <a:srgbClr val="00C3FF"/>
            </a:solidFill>
          </p:spPr>
          <p:txBody>
            <a:bodyPr wrap="square" lIns="0" tIns="0" rIns="0" bIns="0" rtlCol="0"/>
            <a:lstStyle/>
            <a:p>
              <a:endParaRPr sz="2400"/>
            </a:p>
          </p:txBody>
        </p:sp>
        <p:sp>
          <p:nvSpPr>
            <p:cNvPr id="4" name="object 4"/>
            <p:cNvSpPr/>
            <p:nvPr/>
          </p:nvSpPr>
          <p:spPr>
            <a:xfrm>
              <a:off x="4251452" y="3696080"/>
              <a:ext cx="1309370" cy="417195"/>
            </a:xfrm>
            <a:custGeom>
              <a:avLst/>
              <a:gdLst/>
              <a:ahLst/>
              <a:cxnLst/>
              <a:rect l="l" t="t" r="r" b="b"/>
              <a:pathLst>
                <a:path w="1309370" h="417195">
                  <a:moveTo>
                    <a:pt x="16637" y="0"/>
                  </a:moveTo>
                  <a:lnTo>
                    <a:pt x="1253363" y="320370"/>
                  </a:lnTo>
                  <a:lnTo>
                    <a:pt x="1261745" y="288290"/>
                  </a:lnTo>
                  <a:lnTo>
                    <a:pt x="1309243" y="369074"/>
                  </a:lnTo>
                  <a:lnTo>
                    <a:pt x="1228471" y="416610"/>
                  </a:lnTo>
                  <a:lnTo>
                    <a:pt x="1236852" y="384530"/>
                  </a:lnTo>
                  <a:lnTo>
                    <a:pt x="0" y="64135"/>
                  </a:lnTo>
                  <a:lnTo>
                    <a:pt x="16637" y="0"/>
                  </a:lnTo>
                  <a:close/>
                </a:path>
              </a:pathLst>
            </a:custGeom>
            <a:ln w="25400">
              <a:solidFill>
                <a:srgbClr val="008FBB"/>
              </a:solidFill>
            </a:ln>
          </p:spPr>
          <p:txBody>
            <a:bodyPr wrap="square" lIns="0" tIns="0" rIns="0" bIns="0" rtlCol="0"/>
            <a:lstStyle/>
            <a:p>
              <a:endParaRPr sz="2400"/>
            </a:p>
          </p:txBody>
        </p:sp>
      </p:grpSp>
      <p:graphicFrame>
        <p:nvGraphicFramePr>
          <p:cNvPr id="6" name="object 6"/>
          <p:cNvGraphicFramePr>
            <a:graphicFrameLocks noGrp="1"/>
          </p:cNvGraphicFramePr>
          <p:nvPr>
            <p:extLst>
              <p:ext uri="{D42A27DB-BD31-4B8C-83A1-F6EECF244321}">
                <p14:modId xmlns:p14="http://schemas.microsoft.com/office/powerpoint/2010/main" val="557579171"/>
              </p:ext>
            </p:extLst>
          </p:nvPr>
        </p:nvGraphicFramePr>
        <p:xfrm>
          <a:off x="330979" y="3690959"/>
          <a:ext cx="5283200" cy="1495213"/>
        </p:xfrm>
        <a:graphic>
          <a:graphicData uri="http://schemas.openxmlformats.org/drawingml/2006/table">
            <a:tbl>
              <a:tblPr firstRow="1" bandRow="1">
                <a:tableStyleId>{2D5ABB26-0587-4C30-8999-92F81FD0307C}</a:tableStyleId>
              </a:tblPr>
              <a:tblGrid>
                <a:gridCol w="1320800">
                  <a:extLst>
                    <a:ext uri="{9D8B030D-6E8A-4147-A177-3AD203B41FA5}">
                      <a16:colId xmlns:a16="http://schemas.microsoft.com/office/drawing/2014/main" val="20000"/>
                    </a:ext>
                  </a:extLst>
                </a:gridCol>
                <a:gridCol w="23368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tblGrid>
              <a:tr h="225213">
                <a:tc>
                  <a:txBody>
                    <a:bodyPr/>
                    <a:lstStyle/>
                    <a:p>
                      <a:pPr marL="1905" algn="ctr">
                        <a:lnSpc>
                          <a:spcPct val="100000"/>
                        </a:lnSpc>
                        <a:spcBef>
                          <a:spcPts val="65"/>
                        </a:spcBef>
                      </a:pPr>
                      <a:r>
                        <a:rPr sz="1400" b="1" spc="-10" dirty="0">
                          <a:solidFill>
                            <a:schemeClr val="bg1"/>
                          </a:solidFill>
                          <a:latin typeface="Arial"/>
                          <a:cs typeface="Arial"/>
                        </a:rPr>
                        <a:t>Sales_Key</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270" algn="ctr">
                        <a:lnSpc>
                          <a:spcPct val="100000"/>
                        </a:lnSpc>
                        <a:spcBef>
                          <a:spcPts val="65"/>
                        </a:spcBef>
                      </a:pPr>
                      <a:r>
                        <a:rPr sz="1400" b="1" spc="-20" dirty="0">
                          <a:solidFill>
                            <a:schemeClr val="bg1"/>
                          </a:solidFill>
                          <a:latin typeface="Arial"/>
                          <a:cs typeface="Arial"/>
                        </a:rPr>
                        <a:t>Name</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3175" algn="ctr">
                        <a:lnSpc>
                          <a:spcPct val="100000"/>
                        </a:lnSpc>
                        <a:spcBef>
                          <a:spcPts val="65"/>
                        </a:spcBef>
                      </a:pPr>
                      <a:r>
                        <a:rPr sz="1400" b="1" spc="-10" dirty="0">
                          <a:solidFill>
                            <a:schemeClr val="bg1"/>
                          </a:solidFill>
                          <a:latin typeface="Arial"/>
                          <a:cs typeface="Arial"/>
                        </a:rPr>
                        <a:t>Amount</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algn="ctr">
                        <a:lnSpc>
                          <a:spcPct val="100000"/>
                        </a:lnSpc>
                        <a:spcBef>
                          <a:spcPts val="229"/>
                        </a:spcBef>
                      </a:pPr>
                      <a:r>
                        <a:rPr sz="1400" spc="-50" dirty="0">
                          <a:latin typeface="Arial MT"/>
                          <a:cs typeface="Arial MT"/>
                        </a:rPr>
                        <a:t>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dirty="0">
                          <a:latin typeface="Arial MT"/>
                          <a:cs typeface="Arial MT"/>
                        </a:rPr>
                        <a:t>Sunglases</a:t>
                      </a:r>
                      <a:r>
                        <a:rPr sz="1400" spc="-55" dirty="0">
                          <a:latin typeface="Arial MT"/>
                          <a:cs typeface="Arial MT"/>
                        </a:rPr>
                        <a:t> </a:t>
                      </a:r>
                      <a:r>
                        <a:rPr sz="1400" dirty="0">
                          <a:latin typeface="Arial MT"/>
                          <a:cs typeface="Arial MT"/>
                        </a:rPr>
                        <a:t>TR-</a:t>
                      </a:r>
                      <a:r>
                        <a:rPr sz="1400" spc="-50" dirty="0">
                          <a:latin typeface="Arial MT"/>
                          <a:cs typeface="Arial MT"/>
                        </a:rPr>
                        <a:t>7</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spc="-25" dirty="0">
                          <a:latin typeface="Arial MT"/>
                          <a:cs typeface="Arial MT"/>
                        </a:rPr>
                        <a:t>$25</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ct val="100000"/>
                        </a:lnSpc>
                        <a:spcBef>
                          <a:spcPts val="229"/>
                        </a:spcBef>
                      </a:pPr>
                      <a:r>
                        <a:rPr sz="1400" spc="-50" dirty="0">
                          <a:latin typeface="Arial MT"/>
                          <a:cs typeface="Arial MT"/>
                        </a:rPr>
                        <a:t>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10" dirty="0">
                          <a:latin typeface="Arial MT"/>
                          <a:cs typeface="Arial MT"/>
                        </a:rPr>
                        <a:t>Chocolate </a:t>
                      </a:r>
                      <a:r>
                        <a:rPr sz="1400" dirty="0">
                          <a:latin typeface="Arial MT"/>
                          <a:cs typeface="Arial MT"/>
                        </a:rPr>
                        <a:t>bar 70%</a:t>
                      </a:r>
                      <a:r>
                        <a:rPr sz="1400" spc="5" dirty="0">
                          <a:latin typeface="Arial MT"/>
                          <a:cs typeface="Arial MT"/>
                        </a:rPr>
                        <a:t> </a:t>
                      </a:r>
                      <a:r>
                        <a:rPr sz="1400" spc="-10" dirty="0">
                          <a:latin typeface="Arial MT"/>
                          <a:cs typeface="Arial MT"/>
                        </a:rPr>
                        <a:t>cacao</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25"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ct val="10000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dirty="0">
                          <a:latin typeface="Arial MT"/>
                          <a:cs typeface="Arial MT"/>
                        </a:rPr>
                        <a:t>Oat</a:t>
                      </a:r>
                      <a:r>
                        <a:rPr sz="1400" spc="-25" dirty="0">
                          <a:latin typeface="Arial MT"/>
                          <a:cs typeface="Arial MT"/>
                        </a:rPr>
                        <a:t> </a:t>
                      </a:r>
                      <a:r>
                        <a:rPr sz="1400" dirty="0">
                          <a:latin typeface="Arial MT"/>
                          <a:cs typeface="Arial MT"/>
                        </a:rPr>
                        <a:t>meal</a:t>
                      </a:r>
                      <a:r>
                        <a:rPr sz="1400" spc="-35" dirty="0">
                          <a:latin typeface="Arial MT"/>
                          <a:cs typeface="Arial MT"/>
                        </a:rPr>
                        <a:t> </a:t>
                      </a:r>
                      <a:r>
                        <a:rPr sz="1400" spc="-10" dirty="0">
                          <a:latin typeface="Arial MT"/>
                          <a:cs typeface="Arial MT"/>
                        </a:rPr>
                        <a:t>biscuits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25" dirty="0">
                          <a:latin typeface="Arial MT"/>
                          <a:cs typeface="Arial MT"/>
                        </a:rPr>
                        <a:t>$4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algn="ctr">
                        <a:lnSpc>
                          <a:spcPct val="100000"/>
                        </a:lnSpc>
                        <a:spcBef>
                          <a:spcPts val="229"/>
                        </a:spcBef>
                      </a:pPr>
                      <a:r>
                        <a:rPr sz="1400" spc="-50" dirty="0">
                          <a:latin typeface="Arial MT"/>
                          <a:cs typeface="Arial MT"/>
                        </a:rPr>
                        <a:t>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dirty="0">
                          <a:latin typeface="Arial MT"/>
                          <a:cs typeface="Arial MT"/>
                        </a:rPr>
                        <a:t>Chocolate</a:t>
                      </a:r>
                      <a:r>
                        <a:rPr sz="1400" spc="-25" dirty="0">
                          <a:latin typeface="Arial MT"/>
                          <a:cs typeface="Arial MT"/>
                        </a:rPr>
                        <a:t> </a:t>
                      </a:r>
                      <a:r>
                        <a:rPr sz="1400" dirty="0">
                          <a:latin typeface="Arial MT"/>
                          <a:cs typeface="Arial MT"/>
                        </a:rPr>
                        <a:t>bar</a:t>
                      </a:r>
                      <a:r>
                        <a:rPr sz="1400" spc="-10" dirty="0">
                          <a:latin typeface="Arial MT"/>
                          <a:cs typeface="Arial MT"/>
                        </a:rPr>
                        <a:t> </a:t>
                      </a:r>
                      <a:r>
                        <a:rPr sz="1400" dirty="0">
                          <a:latin typeface="Arial MT"/>
                          <a:cs typeface="Arial MT"/>
                        </a:rPr>
                        <a:t>70%</a:t>
                      </a:r>
                      <a:r>
                        <a:rPr sz="1400" spc="-15" dirty="0">
                          <a:latin typeface="Arial MT"/>
                          <a:cs typeface="Arial MT"/>
                        </a:rPr>
                        <a:t> </a:t>
                      </a:r>
                      <a:r>
                        <a:rPr sz="1400" spc="-10" dirty="0">
                          <a:latin typeface="Arial MT"/>
                          <a:cs typeface="Arial MT"/>
                        </a:rPr>
                        <a:t>cacao</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25"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algn="ctr">
                        <a:lnSpc>
                          <a:spcPct val="100000"/>
                        </a:lnSpc>
                        <a:spcBef>
                          <a:spcPts val="229"/>
                        </a:spcBef>
                      </a:pPr>
                      <a:r>
                        <a:rPr sz="1400" spc="-50" dirty="0">
                          <a:latin typeface="Arial MT"/>
                          <a:cs typeface="Arial MT"/>
                        </a:rPr>
                        <a:t>5</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66D5FF"/>
                    </a:solidFill>
                  </a:tcPr>
                </a:tc>
                <a:tc>
                  <a:txBody>
                    <a:bodyPr/>
                    <a:lstStyle/>
                    <a:p>
                      <a:pPr algn="ctr">
                        <a:lnSpc>
                          <a:spcPct val="100000"/>
                        </a:lnSpc>
                        <a:spcBef>
                          <a:spcPts val="229"/>
                        </a:spcBef>
                      </a:pPr>
                      <a:r>
                        <a:rPr sz="1400" dirty="0">
                          <a:latin typeface="Arial MT"/>
                          <a:cs typeface="Arial MT"/>
                        </a:rPr>
                        <a:t>Oat</a:t>
                      </a:r>
                      <a:r>
                        <a:rPr sz="1400" spc="-25" dirty="0">
                          <a:latin typeface="Arial MT"/>
                          <a:cs typeface="Arial MT"/>
                        </a:rPr>
                        <a:t> </a:t>
                      </a:r>
                      <a:r>
                        <a:rPr sz="1400" dirty="0">
                          <a:latin typeface="Arial MT"/>
                          <a:cs typeface="Arial MT"/>
                        </a:rPr>
                        <a:t>meal</a:t>
                      </a:r>
                      <a:r>
                        <a:rPr sz="1400" spc="-35" dirty="0">
                          <a:latin typeface="Arial MT"/>
                          <a:cs typeface="Arial MT"/>
                        </a:rPr>
                        <a:t> </a:t>
                      </a:r>
                      <a:r>
                        <a:rPr sz="1400" spc="-10" dirty="0">
                          <a:latin typeface="Arial MT"/>
                          <a:cs typeface="Arial MT"/>
                        </a:rPr>
                        <a:t>biscuits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66D5FF"/>
                    </a:solidFill>
                  </a:tcPr>
                </a:tc>
                <a:tc>
                  <a:txBody>
                    <a:bodyPr/>
                    <a:lstStyle/>
                    <a:p>
                      <a:pPr marL="1905" algn="ctr">
                        <a:lnSpc>
                          <a:spcPct val="100000"/>
                        </a:lnSpc>
                        <a:spcBef>
                          <a:spcPts val="229"/>
                        </a:spcBef>
                      </a:pPr>
                      <a:r>
                        <a:rPr sz="1400" spc="-25" dirty="0">
                          <a:latin typeface="Arial MT"/>
                          <a:cs typeface="Arial MT"/>
                        </a:rPr>
                        <a:t>$4</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66D5FF"/>
                    </a:solidFill>
                  </a:tcPr>
                </a:tc>
                <a:extLst>
                  <a:ext uri="{0D108BD9-81ED-4DB2-BD59-A6C34878D82A}">
                    <a16:rowId xmlns:a16="http://schemas.microsoft.com/office/drawing/2014/main" val="10005"/>
                  </a:ext>
                </a:extLst>
              </a:tr>
            </a:tbl>
          </a:graphicData>
        </a:graphic>
      </p:graphicFrame>
      <p:graphicFrame>
        <p:nvGraphicFramePr>
          <p:cNvPr id="7" name="object 7"/>
          <p:cNvGraphicFramePr>
            <a:graphicFrameLocks noGrp="1"/>
          </p:cNvGraphicFramePr>
          <p:nvPr>
            <p:extLst>
              <p:ext uri="{D42A27DB-BD31-4B8C-83A1-F6EECF244321}">
                <p14:modId xmlns:p14="http://schemas.microsoft.com/office/powerpoint/2010/main" val="1525628142"/>
              </p:ext>
            </p:extLst>
          </p:nvPr>
        </p:nvGraphicFramePr>
        <p:xfrm>
          <a:off x="7509934" y="4936405"/>
          <a:ext cx="2032000" cy="986366"/>
        </p:xfrm>
        <a:graphic>
          <a:graphicData uri="http://schemas.openxmlformats.org/drawingml/2006/table">
            <a:tbl>
              <a:tblPr firstRow="1" bandRow="1">
                <a:tableStyleId>{2D5ABB26-0587-4C30-8999-92F81FD0307C}</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tblGrid>
              <a:tr h="225213">
                <a:tc>
                  <a:txBody>
                    <a:bodyPr/>
                    <a:lstStyle/>
                    <a:p>
                      <a:pPr marL="6350" algn="ctr">
                        <a:lnSpc>
                          <a:spcPct val="100000"/>
                        </a:lnSpc>
                        <a:spcBef>
                          <a:spcPts val="65"/>
                        </a:spcBef>
                      </a:pPr>
                      <a:r>
                        <a:rPr sz="1400" b="1" spc="-10" dirty="0">
                          <a:solidFill>
                            <a:schemeClr val="bg1"/>
                          </a:solidFill>
                          <a:latin typeface="Arial"/>
                          <a:cs typeface="Arial"/>
                        </a:rPr>
                        <a:t>Category</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3175" algn="ctr">
                        <a:lnSpc>
                          <a:spcPct val="100000"/>
                        </a:lnSpc>
                        <a:spcBef>
                          <a:spcPts val="65"/>
                        </a:spcBef>
                      </a:pPr>
                      <a:r>
                        <a:rPr sz="1400" b="1" spc="-10" dirty="0">
                          <a:solidFill>
                            <a:schemeClr val="bg1"/>
                          </a:solidFill>
                          <a:latin typeface="Arial"/>
                          <a:cs typeface="Arial"/>
                        </a:rPr>
                        <a:t>Amount</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marL="3175" algn="ctr">
                        <a:lnSpc>
                          <a:spcPct val="100000"/>
                        </a:lnSpc>
                        <a:spcBef>
                          <a:spcPts val="229"/>
                        </a:spcBef>
                      </a:pPr>
                      <a:r>
                        <a:rPr sz="1400" spc="-10" dirty="0">
                          <a:latin typeface="Arial MT"/>
                          <a:cs typeface="Arial MT"/>
                        </a:rPr>
                        <a:t>Assecoirs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spc="-25" dirty="0">
                          <a:latin typeface="Arial MT"/>
                          <a:cs typeface="Arial MT"/>
                        </a:rPr>
                        <a:t>$25</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marL="1905" algn="ctr">
                        <a:lnSpc>
                          <a:spcPct val="100000"/>
                        </a:lnSpc>
                        <a:spcBef>
                          <a:spcPts val="229"/>
                        </a:spcBef>
                      </a:pPr>
                      <a:r>
                        <a:rPr sz="1400" spc="-10" dirty="0">
                          <a:latin typeface="Arial MT"/>
                          <a:cs typeface="Arial MT"/>
                        </a:rPr>
                        <a:t>Sweets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25" dirty="0">
                          <a:latin typeface="Arial MT"/>
                          <a:cs typeface="Arial MT"/>
                        </a:rPr>
                        <a:t>$6</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3153">
                <a:tc>
                  <a:txBody>
                    <a:bodyPr/>
                    <a:lstStyle/>
                    <a:p>
                      <a:pPr marL="635" algn="ctr">
                        <a:lnSpc>
                          <a:spcPct val="100000"/>
                        </a:lnSpc>
                        <a:spcBef>
                          <a:spcPts val="229"/>
                        </a:spcBef>
                      </a:pPr>
                      <a:r>
                        <a:rPr sz="1400" spc="-10" dirty="0">
                          <a:latin typeface="Arial MT"/>
                          <a:cs typeface="Arial MT"/>
                        </a:rPr>
                        <a:t>Buscuits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25" dirty="0">
                          <a:latin typeface="Arial MT"/>
                          <a:cs typeface="Arial MT"/>
                        </a:rPr>
                        <a:t>$8</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graphicFrame>
        <p:nvGraphicFramePr>
          <p:cNvPr id="8" name="object 8"/>
          <p:cNvGraphicFramePr>
            <a:graphicFrameLocks noGrp="1"/>
          </p:cNvGraphicFramePr>
          <p:nvPr>
            <p:extLst>
              <p:ext uri="{D42A27DB-BD31-4B8C-83A1-F6EECF244321}">
                <p14:modId xmlns:p14="http://schemas.microsoft.com/office/powerpoint/2010/main" val="1284175859"/>
              </p:ext>
            </p:extLst>
          </p:nvPr>
        </p:nvGraphicFramePr>
        <p:xfrm>
          <a:off x="7509934" y="3419751"/>
          <a:ext cx="2032000" cy="733213"/>
        </p:xfrm>
        <a:graphic>
          <a:graphicData uri="http://schemas.openxmlformats.org/drawingml/2006/table">
            <a:tbl>
              <a:tblPr firstRow="1" bandRow="1">
                <a:tableStyleId>{2D5ABB26-0587-4C30-8999-92F81FD0307C}</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tblGrid>
              <a:tr h="225213">
                <a:tc>
                  <a:txBody>
                    <a:bodyPr/>
                    <a:lstStyle/>
                    <a:p>
                      <a:pPr marL="6350" algn="ctr">
                        <a:lnSpc>
                          <a:spcPts val="1175"/>
                        </a:lnSpc>
                        <a:spcBef>
                          <a:spcPts val="60"/>
                        </a:spcBef>
                      </a:pPr>
                      <a:r>
                        <a:rPr sz="1400" b="1" spc="-10" dirty="0">
                          <a:solidFill>
                            <a:schemeClr val="bg1"/>
                          </a:solidFill>
                          <a:latin typeface="Arial"/>
                          <a:cs typeface="Arial"/>
                        </a:rPr>
                        <a:t>Category</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3175" algn="ctr">
                        <a:lnSpc>
                          <a:spcPts val="1175"/>
                        </a:lnSpc>
                        <a:spcBef>
                          <a:spcPts val="60"/>
                        </a:spcBef>
                      </a:pPr>
                      <a:r>
                        <a:rPr sz="1400" b="1" spc="-10" dirty="0">
                          <a:solidFill>
                            <a:schemeClr val="bg1"/>
                          </a:solidFill>
                          <a:latin typeface="Arial"/>
                          <a:cs typeface="Arial"/>
                        </a:rPr>
                        <a:t>Amount</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marL="3175" algn="ctr">
                        <a:lnSpc>
                          <a:spcPts val="1175"/>
                        </a:lnSpc>
                        <a:spcBef>
                          <a:spcPts val="225"/>
                        </a:spcBef>
                      </a:pPr>
                      <a:r>
                        <a:rPr sz="1400" spc="-10" dirty="0">
                          <a:latin typeface="Arial MT"/>
                          <a:cs typeface="Arial MT"/>
                        </a:rPr>
                        <a:t>Assecoirs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5"/>
                        </a:lnSpc>
                        <a:spcBef>
                          <a:spcPts val="225"/>
                        </a:spcBef>
                      </a:pPr>
                      <a:r>
                        <a:rPr sz="1400" spc="-25" dirty="0">
                          <a:latin typeface="Arial MT"/>
                          <a:cs typeface="Arial MT"/>
                        </a:rPr>
                        <a:t>$25</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marL="2540" algn="ctr">
                        <a:lnSpc>
                          <a:spcPts val="1175"/>
                        </a:lnSpc>
                        <a:spcBef>
                          <a:spcPts val="225"/>
                        </a:spcBef>
                      </a:pPr>
                      <a:r>
                        <a:rPr sz="1400" spc="-10" dirty="0">
                          <a:latin typeface="Arial MT"/>
                          <a:cs typeface="Arial MT"/>
                        </a:rPr>
                        <a:t>Sweets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0"/>
                        </a:spcBef>
                      </a:pPr>
                      <a:r>
                        <a:rPr sz="1400" spc="-25" dirty="0">
                          <a:latin typeface="Arial MT"/>
                          <a:cs typeface="Arial MT"/>
                        </a:rPr>
                        <a:t>$14</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bl>
          </a:graphicData>
        </a:graphic>
      </p:graphicFrame>
      <p:grpSp>
        <p:nvGrpSpPr>
          <p:cNvPr id="9" name="object 9"/>
          <p:cNvGrpSpPr/>
          <p:nvPr/>
        </p:nvGrpSpPr>
        <p:grpSpPr>
          <a:xfrm>
            <a:off x="5637784" y="3840140"/>
            <a:ext cx="1811867" cy="423333"/>
            <a:chOff x="4228338" y="2880105"/>
            <a:chExt cx="1358900" cy="317500"/>
          </a:xfrm>
        </p:grpSpPr>
        <p:sp>
          <p:nvSpPr>
            <p:cNvPr id="10" name="object 10"/>
            <p:cNvSpPr/>
            <p:nvPr/>
          </p:nvSpPr>
          <p:spPr>
            <a:xfrm>
              <a:off x="4241038" y="2892805"/>
              <a:ext cx="1333500" cy="292100"/>
            </a:xfrm>
            <a:custGeom>
              <a:avLst/>
              <a:gdLst/>
              <a:ahLst/>
              <a:cxnLst/>
              <a:rect l="l" t="t" r="r" b="b"/>
              <a:pathLst>
                <a:path w="1333500" h="292100">
                  <a:moveTo>
                    <a:pt x="1257808" y="0"/>
                  </a:moveTo>
                  <a:lnTo>
                    <a:pt x="1262888" y="32766"/>
                  </a:lnTo>
                  <a:lnTo>
                    <a:pt x="0" y="226187"/>
                  </a:lnTo>
                  <a:lnTo>
                    <a:pt x="10033" y="291719"/>
                  </a:lnTo>
                  <a:lnTo>
                    <a:pt x="1272921" y="98298"/>
                  </a:lnTo>
                  <a:lnTo>
                    <a:pt x="1277874" y="131063"/>
                  </a:lnTo>
                  <a:lnTo>
                    <a:pt x="1333373" y="55499"/>
                  </a:lnTo>
                  <a:lnTo>
                    <a:pt x="1257808" y="0"/>
                  </a:lnTo>
                  <a:close/>
                </a:path>
              </a:pathLst>
            </a:custGeom>
            <a:solidFill>
              <a:srgbClr val="00C3FF"/>
            </a:solidFill>
          </p:spPr>
          <p:txBody>
            <a:bodyPr wrap="square" lIns="0" tIns="0" rIns="0" bIns="0" rtlCol="0"/>
            <a:lstStyle/>
            <a:p>
              <a:endParaRPr sz="2400"/>
            </a:p>
          </p:txBody>
        </p:sp>
        <p:sp>
          <p:nvSpPr>
            <p:cNvPr id="11" name="object 11"/>
            <p:cNvSpPr/>
            <p:nvPr/>
          </p:nvSpPr>
          <p:spPr>
            <a:xfrm>
              <a:off x="4241038" y="2892805"/>
              <a:ext cx="1333500" cy="292100"/>
            </a:xfrm>
            <a:custGeom>
              <a:avLst/>
              <a:gdLst/>
              <a:ahLst/>
              <a:cxnLst/>
              <a:rect l="l" t="t" r="r" b="b"/>
              <a:pathLst>
                <a:path w="1333500" h="292100">
                  <a:moveTo>
                    <a:pt x="0" y="226187"/>
                  </a:moveTo>
                  <a:lnTo>
                    <a:pt x="1262888" y="32766"/>
                  </a:lnTo>
                  <a:lnTo>
                    <a:pt x="1257808" y="0"/>
                  </a:lnTo>
                  <a:lnTo>
                    <a:pt x="1333373" y="55499"/>
                  </a:lnTo>
                  <a:lnTo>
                    <a:pt x="1277874" y="131063"/>
                  </a:lnTo>
                  <a:lnTo>
                    <a:pt x="1272921" y="98298"/>
                  </a:lnTo>
                  <a:lnTo>
                    <a:pt x="10033" y="291719"/>
                  </a:lnTo>
                  <a:lnTo>
                    <a:pt x="0" y="226187"/>
                  </a:lnTo>
                  <a:close/>
                </a:path>
              </a:pathLst>
            </a:custGeom>
            <a:ln w="25400">
              <a:solidFill>
                <a:srgbClr val="008FBB"/>
              </a:solidFill>
            </a:ln>
          </p:spPr>
          <p:txBody>
            <a:bodyPr wrap="square" lIns="0" tIns="0" rIns="0" bIns="0" rtlCol="0"/>
            <a:lstStyle/>
            <a:p>
              <a:endParaRPr sz="2400"/>
            </a:p>
          </p:txBody>
        </p:sp>
      </p:grpSp>
      <p:sp>
        <p:nvSpPr>
          <p:cNvPr id="12" name="object 12"/>
          <p:cNvSpPr txBox="1"/>
          <p:nvPr/>
        </p:nvSpPr>
        <p:spPr>
          <a:xfrm>
            <a:off x="6177449" y="5331289"/>
            <a:ext cx="537633" cy="305276"/>
          </a:xfrm>
          <a:prstGeom prst="rect">
            <a:avLst/>
          </a:prstGeom>
        </p:spPr>
        <p:txBody>
          <a:bodyPr vert="horz" wrap="square" lIns="0" tIns="17780" rIns="0" bIns="0" rtlCol="0">
            <a:spAutoFit/>
          </a:bodyPr>
          <a:lstStyle/>
          <a:p>
            <a:pPr marL="16933">
              <a:spcBef>
                <a:spcPts val="140"/>
              </a:spcBef>
            </a:pPr>
            <a:r>
              <a:rPr sz="1867" b="1" i="1" spc="-13" dirty="0">
                <a:solidFill>
                  <a:srgbClr val="D9D9D9"/>
                </a:solidFill>
                <a:latin typeface="Calibri"/>
                <a:cs typeface="Calibri"/>
              </a:rPr>
              <a:t>After</a:t>
            </a:r>
            <a:endParaRPr sz="1867">
              <a:latin typeface="Calibri"/>
              <a:cs typeface="Calibri"/>
            </a:endParaRPr>
          </a:p>
        </p:txBody>
      </p:sp>
      <p:graphicFrame>
        <p:nvGraphicFramePr>
          <p:cNvPr id="13" name="object 13"/>
          <p:cNvGraphicFramePr>
            <a:graphicFrameLocks noGrp="1"/>
          </p:cNvGraphicFramePr>
          <p:nvPr>
            <p:extLst>
              <p:ext uri="{D42A27DB-BD31-4B8C-83A1-F6EECF244321}">
                <p14:modId xmlns:p14="http://schemas.microsoft.com/office/powerpoint/2010/main" val="1807179283"/>
              </p:ext>
            </p:extLst>
          </p:nvPr>
        </p:nvGraphicFramePr>
        <p:xfrm>
          <a:off x="9812020" y="4011844"/>
          <a:ext cx="2032000" cy="987213"/>
        </p:xfrm>
        <a:graphic>
          <a:graphicData uri="http://schemas.openxmlformats.org/drawingml/2006/table">
            <a:tbl>
              <a:tblPr firstRow="1" bandRow="1">
                <a:tableStyleId>{2D5ABB26-0587-4C30-8999-92F81FD0307C}</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tblGrid>
              <a:tr h="226060">
                <a:tc>
                  <a:txBody>
                    <a:bodyPr/>
                    <a:lstStyle/>
                    <a:p>
                      <a:pPr marL="5715" algn="ctr">
                        <a:lnSpc>
                          <a:spcPct val="100000"/>
                        </a:lnSpc>
                        <a:spcBef>
                          <a:spcPts val="65"/>
                        </a:spcBef>
                      </a:pPr>
                      <a:r>
                        <a:rPr sz="1400" b="1" spc="-10" dirty="0">
                          <a:solidFill>
                            <a:schemeClr val="bg1"/>
                          </a:solidFill>
                          <a:latin typeface="Arial"/>
                          <a:cs typeface="Arial"/>
                        </a:rPr>
                        <a:t>Category</a:t>
                      </a:r>
                      <a:endParaRPr sz="140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3810" algn="ctr">
                        <a:lnSpc>
                          <a:spcPct val="100000"/>
                        </a:lnSpc>
                        <a:spcBef>
                          <a:spcPts val="65"/>
                        </a:spcBef>
                      </a:pPr>
                      <a:r>
                        <a:rPr sz="1400" b="1" spc="-10" dirty="0">
                          <a:solidFill>
                            <a:schemeClr val="bg1"/>
                          </a:solidFill>
                          <a:latin typeface="Arial"/>
                          <a:cs typeface="Arial"/>
                        </a:rPr>
                        <a:t>Amount</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marL="2540" algn="ctr">
                        <a:lnSpc>
                          <a:spcPct val="100000"/>
                        </a:lnSpc>
                        <a:spcBef>
                          <a:spcPts val="229"/>
                        </a:spcBef>
                      </a:pPr>
                      <a:r>
                        <a:rPr sz="1400" spc="-10" dirty="0">
                          <a:latin typeface="Arial MT"/>
                          <a:cs typeface="Arial MT"/>
                        </a:rPr>
                        <a:t>Assecoirs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25" dirty="0">
                          <a:latin typeface="Arial MT"/>
                          <a:cs typeface="Arial MT"/>
                        </a:rPr>
                        <a:t>$25</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3153">
                <a:tc>
                  <a:txBody>
                    <a:bodyPr/>
                    <a:lstStyle/>
                    <a:p>
                      <a:pPr marL="2540" algn="ctr">
                        <a:lnSpc>
                          <a:spcPct val="100000"/>
                        </a:lnSpc>
                        <a:spcBef>
                          <a:spcPts val="229"/>
                        </a:spcBef>
                      </a:pPr>
                      <a:r>
                        <a:rPr sz="1400" spc="-10" dirty="0">
                          <a:latin typeface="Arial MT"/>
                          <a:cs typeface="Arial MT"/>
                        </a:rPr>
                        <a:t>Sweets</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810" algn="ctr">
                        <a:lnSpc>
                          <a:spcPct val="100000"/>
                        </a:lnSpc>
                        <a:spcBef>
                          <a:spcPts val="229"/>
                        </a:spcBef>
                      </a:pPr>
                      <a:r>
                        <a:rPr sz="1400" spc="-25" dirty="0">
                          <a:latin typeface="Arial MT"/>
                          <a:cs typeface="Arial MT"/>
                        </a:rPr>
                        <a:t>$7</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marL="1270" algn="ctr">
                        <a:lnSpc>
                          <a:spcPct val="100000"/>
                        </a:lnSpc>
                        <a:spcBef>
                          <a:spcPts val="229"/>
                        </a:spcBef>
                      </a:pPr>
                      <a:r>
                        <a:rPr sz="1400" spc="-10" dirty="0">
                          <a:latin typeface="Arial MT"/>
                          <a:cs typeface="Arial MT"/>
                        </a:rPr>
                        <a:t>Buscuits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810" algn="ctr">
                        <a:lnSpc>
                          <a:spcPct val="100000"/>
                        </a:lnSpc>
                        <a:spcBef>
                          <a:spcPts val="229"/>
                        </a:spcBef>
                      </a:pPr>
                      <a:r>
                        <a:rPr sz="1400" spc="-25" dirty="0">
                          <a:latin typeface="Arial MT"/>
                          <a:cs typeface="Arial MT"/>
                        </a:rPr>
                        <a:t>$4</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grpSp>
        <p:nvGrpSpPr>
          <p:cNvPr id="14" name="object 14"/>
          <p:cNvGrpSpPr/>
          <p:nvPr/>
        </p:nvGrpSpPr>
        <p:grpSpPr>
          <a:xfrm>
            <a:off x="5727023" y="4531616"/>
            <a:ext cx="3960707" cy="237913"/>
            <a:chOff x="4282440" y="3363467"/>
            <a:chExt cx="2970530" cy="178435"/>
          </a:xfrm>
        </p:grpSpPr>
        <p:sp>
          <p:nvSpPr>
            <p:cNvPr id="15" name="object 15"/>
            <p:cNvSpPr/>
            <p:nvPr/>
          </p:nvSpPr>
          <p:spPr>
            <a:xfrm>
              <a:off x="4295394" y="3376421"/>
              <a:ext cx="2944495" cy="152400"/>
            </a:xfrm>
            <a:custGeom>
              <a:avLst/>
              <a:gdLst/>
              <a:ahLst/>
              <a:cxnLst/>
              <a:rect l="l" t="t" r="r" b="b"/>
              <a:pathLst>
                <a:path w="2944495" h="152400">
                  <a:moveTo>
                    <a:pt x="2868167" y="0"/>
                  </a:moveTo>
                  <a:lnTo>
                    <a:pt x="2868167" y="38100"/>
                  </a:lnTo>
                  <a:lnTo>
                    <a:pt x="0" y="38100"/>
                  </a:lnTo>
                  <a:lnTo>
                    <a:pt x="0" y="114300"/>
                  </a:lnTo>
                  <a:lnTo>
                    <a:pt x="2868167" y="114300"/>
                  </a:lnTo>
                  <a:lnTo>
                    <a:pt x="2868167" y="152399"/>
                  </a:lnTo>
                  <a:lnTo>
                    <a:pt x="2944367" y="76200"/>
                  </a:lnTo>
                  <a:lnTo>
                    <a:pt x="2868167" y="0"/>
                  </a:lnTo>
                  <a:close/>
                </a:path>
              </a:pathLst>
            </a:custGeom>
            <a:solidFill>
              <a:srgbClr val="00C3FF"/>
            </a:solidFill>
          </p:spPr>
          <p:txBody>
            <a:bodyPr wrap="square" lIns="0" tIns="0" rIns="0" bIns="0" rtlCol="0"/>
            <a:lstStyle/>
            <a:p>
              <a:endParaRPr sz="2400"/>
            </a:p>
          </p:txBody>
        </p:sp>
        <p:sp>
          <p:nvSpPr>
            <p:cNvPr id="16" name="object 16"/>
            <p:cNvSpPr/>
            <p:nvPr/>
          </p:nvSpPr>
          <p:spPr>
            <a:xfrm>
              <a:off x="4295394" y="3376421"/>
              <a:ext cx="2944495" cy="152400"/>
            </a:xfrm>
            <a:custGeom>
              <a:avLst/>
              <a:gdLst/>
              <a:ahLst/>
              <a:cxnLst/>
              <a:rect l="l" t="t" r="r" b="b"/>
              <a:pathLst>
                <a:path w="2944495" h="152400">
                  <a:moveTo>
                    <a:pt x="0" y="38100"/>
                  </a:moveTo>
                  <a:lnTo>
                    <a:pt x="2868167" y="38100"/>
                  </a:lnTo>
                  <a:lnTo>
                    <a:pt x="2868167" y="0"/>
                  </a:lnTo>
                  <a:lnTo>
                    <a:pt x="2944367" y="76200"/>
                  </a:lnTo>
                  <a:lnTo>
                    <a:pt x="2868167" y="152399"/>
                  </a:lnTo>
                  <a:lnTo>
                    <a:pt x="2868167" y="114300"/>
                  </a:lnTo>
                  <a:lnTo>
                    <a:pt x="0" y="114300"/>
                  </a:lnTo>
                  <a:lnTo>
                    <a:pt x="0" y="38100"/>
                  </a:lnTo>
                  <a:close/>
                </a:path>
              </a:pathLst>
            </a:custGeom>
            <a:ln w="25908">
              <a:solidFill>
                <a:srgbClr val="008FBB"/>
              </a:solidFill>
            </a:ln>
          </p:spPr>
          <p:txBody>
            <a:bodyPr wrap="square" lIns="0" tIns="0" rIns="0" bIns="0" rtlCol="0"/>
            <a:lstStyle/>
            <a:p>
              <a:endParaRPr sz="2400"/>
            </a:p>
          </p:txBody>
        </p:sp>
      </p:grpSp>
      <p:pic>
        <p:nvPicPr>
          <p:cNvPr id="17" name="object 17"/>
          <p:cNvPicPr/>
          <p:nvPr/>
        </p:nvPicPr>
        <p:blipFill>
          <a:blip r:embed="rId2" cstate="print"/>
          <a:stretch>
            <a:fillRect/>
          </a:stretch>
        </p:blipFill>
        <p:spPr>
          <a:xfrm>
            <a:off x="7707377" y="2001452"/>
            <a:ext cx="4197095" cy="1614491"/>
          </a:xfrm>
          <a:prstGeom prst="rect">
            <a:avLst/>
          </a:prstGeom>
        </p:spPr>
      </p:pic>
      <p:sp>
        <p:nvSpPr>
          <p:cNvPr id="20" name="object 20"/>
          <p:cNvSpPr/>
          <p:nvPr/>
        </p:nvSpPr>
        <p:spPr>
          <a:xfrm>
            <a:off x="8143239" y="2207768"/>
            <a:ext cx="3352800" cy="772160"/>
          </a:xfrm>
          <a:custGeom>
            <a:avLst/>
            <a:gdLst/>
            <a:ahLst/>
            <a:cxnLst/>
            <a:rect l="l" t="t" r="r" b="b"/>
            <a:pathLst>
              <a:path w="2514600" h="579119">
                <a:moveTo>
                  <a:pt x="0" y="289560"/>
                </a:moveTo>
                <a:lnTo>
                  <a:pt x="144780" y="0"/>
                </a:lnTo>
                <a:lnTo>
                  <a:pt x="2369820" y="0"/>
                </a:lnTo>
                <a:lnTo>
                  <a:pt x="2514600" y="289560"/>
                </a:lnTo>
                <a:lnTo>
                  <a:pt x="2369820" y="579119"/>
                </a:lnTo>
                <a:lnTo>
                  <a:pt x="144780" y="579119"/>
                </a:lnTo>
                <a:lnTo>
                  <a:pt x="0" y="289560"/>
                </a:lnTo>
                <a:close/>
              </a:path>
            </a:pathLst>
          </a:custGeom>
          <a:ln w="19812">
            <a:solidFill>
              <a:srgbClr val="00C3FF"/>
            </a:solidFill>
          </a:ln>
        </p:spPr>
        <p:txBody>
          <a:bodyPr wrap="square" lIns="0" tIns="0" rIns="0" bIns="0" rtlCol="0"/>
          <a:lstStyle/>
          <a:p>
            <a:endParaRPr sz="2400"/>
          </a:p>
        </p:txBody>
      </p:sp>
      <p:sp>
        <p:nvSpPr>
          <p:cNvPr id="21" name="object 21"/>
          <p:cNvSpPr txBox="1"/>
          <p:nvPr/>
        </p:nvSpPr>
        <p:spPr>
          <a:xfrm>
            <a:off x="2944496" y="1927973"/>
            <a:ext cx="8026400" cy="2585516"/>
          </a:xfrm>
          <a:prstGeom prst="rect">
            <a:avLst/>
          </a:prstGeom>
        </p:spPr>
        <p:txBody>
          <a:bodyPr vert="horz" wrap="square" lIns="0" tIns="35560" rIns="0" bIns="0" rtlCol="0">
            <a:spAutoFit/>
          </a:bodyPr>
          <a:lstStyle/>
          <a:p>
            <a:pPr marL="397923" indent="-380990">
              <a:spcBef>
                <a:spcPts val="280"/>
              </a:spcBef>
              <a:buClr>
                <a:srgbClr val="99D3FF"/>
              </a:buClr>
              <a:buFont typeface="Wingdings"/>
              <a:buChar char=""/>
              <a:tabLst>
                <a:tab pos="397923" algn="l"/>
              </a:tabLst>
            </a:pPr>
            <a:r>
              <a:rPr sz="2400" b="1" dirty="0">
                <a:solidFill>
                  <a:srgbClr val="D9D9D9"/>
                </a:solidFill>
                <a:latin typeface="Calibri"/>
                <a:cs typeface="Calibri"/>
              </a:rPr>
              <a:t>Type</a:t>
            </a:r>
            <a:r>
              <a:rPr sz="2400" b="1" spc="-47" dirty="0">
                <a:solidFill>
                  <a:srgbClr val="D9D9D9"/>
                </a:solidFill>
                <a:latin typeface="Calibri"/>
                <a:cs typeface="Calibri"/>
              </a:rPr>
              <a:t> </a:t>
            </a:r>
            <a:r>
              <a:rPr sz="2400" b="1" dirty="0">
                <a:solidFill>
                  <a:srgbClr val="D9D9D9"/>
                </a:solidFill>
                <a:latin typeface="Calibri"/>
                <a:cs typeface="Calibri"/>
              </a:rPr>
              <a:t>2:</a:t>
            </a:r>
            <a:r>
              <a:rPr sz="2400" b="1" spc="-13" dirty="0">
                <a:solidFill>
                  <a:srgbClr val="D9D9D9"/>
                </a:solidFill>
                <a:latin typeface="Calibri"/>
                <a:cs typeface="Calibri"/>
              </a:rPr>
              <a:t> </a:t>
            </a:r>
            <a:r>
              <a:rPr sz="2400" b="1" dirty="0">
                <a:solidFill>
                  <a:srgbClr val="D9D9D9"/>
                </a:solidFill>
                <a:latin typeface="Calibri"/>
                <a:cs typeface="Calibri"/>
              </a:rPr>
              <a:t>Perfectly</a:t>
            </a:r>
            <a:r>
              <a:rPr sz="2400" b="1" spc="-33" dirty="0">
                <a:solidFill>
                  <a:srgbClr val="D9D9D9"/>
                </a:solidFill>
                <a:latin typeface="Calibri"/>
                <a:cs typeface="Calibri"/>
              </a:rPr>
              <a:t> </a:t>
            </a:r>
            <a:r>
              <a:rPr sz="2400" b="1" dirty="0">
                <a:solidFill>
                  <a:srgbClr val="D9D9D9"/>
                </a:solidFill>
                <a:latin typeface="Calibri"/>
                <a:cs typeface="Calibri"/>
              </a:rPr>
              <a:t>partitions</a:t>
            </a:r>
            <a:r>
              <a:rPr sz="2400" b="1" spc="-40" dirty="0">
                <a:solidFill>
                  <a:srgbClr val="D9D9D9"/>
                </a:solidFill>
                <a:latin typeface="Calibri"/>
                <a:cs typeface="Calibri"/>
              </a:rPr>
              <a:t> </a:t>
            </a:r>
            <a:r>
              <a:rPr sz="2400" b="1" spc="-13" dirty="0">
                <a:solidFill>
                  <a:srgbClr val="D9D9D9"/>
                </a:solidFill>
                <a:latin typeface="Calibri"/>
                <a:cs typeface="Calibri"/>
              </a:rPr>
              <a:t>history</a:t>
            </a:r>
            <a:endParaRPr sz="2400" dirty="0">
              <a:latin typeface="Calibri"/>
              <a:cs typeface="Calibri"/>
            </a:endParaRPr>
          </a:p>
          <a:p>
            <a:pPr marL="5737717">
              <a:lnSpc>
                <a:spcPts val="3153"/>
              </a:lnSpc>
              <a:spcBef>
                <a:spcPts val="173"/>
              </a:spcBef>
            </a:pPr>
            <a:r>
              <a:rPr sz="2667" b="1" dirty="0">
                <a:solidFill>
                  <a:srgbClr val="CCEAFF"/>
                </a:solidFill>
                <a:latin typeface="Calibri"/>
                <a:cs typeface="Calibri"/>
              </a:rPr>
              <a:t>Default</a:t>
            </a:r>
            <a:r>
              <a:rPr sz="2667" b="1" spc="-33" dirty="0">
                <a:solidFill>
                  <a:srgbClr val="CCEAFF"/>
                </a:solidFill>
                <a:latin typeface="Calibri"/>
                <a:cs typeface="Calibri"/>
              </a:rPr>
              <a:t> </a:t>
            </a:r>
            <a:r>
              <a:rPr sz="2667" b="1" spc="-13" dirty="0">
                <a:solidFill>
                  <a:srgbClr val="CCEAFF"/>
                </a:solidFill>
                <a:latin typeface="Calibri"/>
                <a:cs typeface="Calibri"/>
              </a:rPr>
              <a:t>strategy</a:t>
            </a:r>
            <a:endParaRPr sz="2667" dirty="0">
              <a:latin typeface="Calibri"/>
              <a:cs typeface="Calibri"/>
            </a:endParaRPr>
          </a:p>
          <a:p>
            <a:pPr marL="397923" indent="-380990">
              <a:lnSpc>
                <a:spcPts val="2833"/>
              </a:lnSpc>
              <a:buClr>
                <a:srgbClr val="99D3FF"/>
              </a:buClr>
              <a:buFont typeface="Wingdings"/>
              <a:buChar char=""/>
              <a:tabLst>
                <a:tab pos="397923" algn="l"/>
              </a:tabLst>
            </a:pPr>
            <a:r>
              <a:rPr sz="2400" b="1" dirty="0">
                <a:solidFill>
                  <a:srgbClr val="D9D9D9"/>
                </a:solidFill>
                <a:latin typeface="Calibri"/>
                <a:cs typeface="Calibri"/>
              </a:rPr>
              <a:t>Changes</a:t>
            </a:r>
            <a:r>
              <a:rPr sz="2400" b="1" spc="-53" dirty="0">
                <a:solidFill>
                  <a:srgbClr val="D9D9D9"/>
                </a:solidFill>
                <a:latin typeface="Calibri"/>
                <a:cs typeface="Calibri"/>
              </a:rPr>
              <a:t> </a:t>
            </a:r>
            <a:r>
              <a:rPr sz="2400" b="1" dirty="0">
                <a:solidFill>
                  <a:srgbClr val="D9D9D9"/>
                </a:solidFill>
                <a:latin typeface="Calibri"/>
                <a:cs typeface="Calibri"/>
              </a:rPr>
              <a:t>are</a:t>
            </a:r>
            <a:r>
              <a:rPr sz="2400" b="1" spc="-20" dirty="0">
                <a:solidFill>
                  <a:srgbClr val="D9D9D9"/>
                </a:solidFill>
                <a:latin typeface="Calibri"/>
                <a:cs typeface="Calibri"/>
              </a:rPr>
              <a:t> </a:t>
            </a:r>
            <a:r>
              <a:rPr sz="2400" b="1" dirty="0">
                <a:solidFill>
                  <a:srgbClr val="D9D9D9"/>
                </a:solidFill>
                <a:latin typeface="Calibri"/>
                <a:cs typeface="Calibri"/>
              </a:rPr>
              <a:t>reflected</a:t>
            </a:r>
            <a:r>
              <a:rPr sz="2400" b="1" spc="-73" dirty="0">
                <a:solidFill>
                  <a:srgbClr val="D9D9D9"/>
                </a:solidFill>
                <a:latin typeface="Calibri"/>
                <a:cs typeface="Calibri"/>
              </a:rPr>
              <a:t> </a:t>
            </a:r>
            <a:r>
              <a:rPr sz="2400" b="1" dirty="0">
                <a:solidFill>
                  <a:srgbClr val="D9D9D9"/>
                </a:solidFill>
                <a:latin typeface="Calibri"/>
                <a:cs typeface="Calibri"/>
              </a:rPr>
              <a:t>with</a:t>
            </a:r>
            <a:r>
              <a:rPr sz="2400" b="1" spc="-13" dirty="0">
                <a:solidFill>
                  <a:srgbClr val="D9D9D9"/>
                </a:solidFill>
                <a:latin typeface="Calibri"/>
                <a:cs typeface="Calibri"/>
              </a:rPr>
              <a:t> history</a:t>
            </a:r>
            <a:endParaRPr sz="2400" dirty="0">
              <a:latin typeface="Calibri"/>
              <a:cs typeface="Calibri"/>
            </a:endParaRPr>
          </a:p>
          <a:p>
            <a:pPr>
              <a:spcBef>
                <a:spcPts val="313"/>
              </a:spcBef>
            </a:pPr>
            <a:endParaRPr sz="2400" dirty="0">
              <a:latin typeface="Calibri"/>
              <a:cs typeface="Calibri"/>
            </a:endParaRPr>
          </a:p>
          <a:p>
            <a:pPr marR="1029521" algn="ctr">
              <a:spcBef>
                <a:spcPts val="7"/>
              </a:spcBef>
            </a:pPr>
            <a:r>
              <a:rPr sz="1867" b="1" i="1" spc="-13" dirty="0">
                <a:solidFill>
                  <a:srgbClr val="D9D9D9"/>
                </a:solidFill>
                <a:latin typeface="Calibri"/>
                <a:cs typeface="Calibri"/>
              </a:rPr>
              <a:t>Before</a:t>
            </a:r>
            <a:endParaRPr sz="1867" dirty="0">
              <a:latin typeface="Calibri"/>
              <a:cs typeface="Calibri"/>
            </a:endParaRPr>
          </a:p>
          <a:p>
            <a:pPr>
              <a:spcBef>
                <a:spcPts val="947"/>
              </a:spcBef>
            </a:pPr>
            <a:endParaRPr sz="1867" dirty="0">
              <a:latin typeface="Calibri"/>
              <a:cs typeface="Calibri"/>
            </a:endParaRPr>
          </a:p>
          <a:p>
            <a:pPr marL="3533898"/>
            <a:r>
              <a:rPr sz="1867" b="1" i="1" dirty="0">
                <a:solidFill>
                  <a:srgbClr val="D9D9D9"/>
                </a:solidFill>
                <a:latin typeface="Calibri"/>
                <a:cs typeface="Calibri"/>
              </a:rPr>
              <a:t>Correctly</a:t>
            </a:r>
            <a:r>
              <a:rPr sz="1867" b="1" i="1" spc="-20" dirty="0">
                <a:solidFill>
                  <a:srgbClr val="D9D9D9"/>
                </a:solidFill>
                <a:latin typeface="Calibri"/>
                <a:cs typeface="Calibri"/>
              </a:rPr>
              <a:t> </a:t>
            </a:r>
            <a:r>
              <a:rPr sz="1867" b="1" i="1" spc="-13" dirty="0">
                <a:solidFill>
                  <a:srgbClr val="D9D9D9"/>
                </a:solidFill>
                <a:latin typeface="Calibri"/>
                <a:cs typeface="Calibri"/>
              </a:rPr>
              <a:t>representing history</a:t>
            </a:r>
            <a:endParaRPr sz="1867" dirty="0">
              <a:latin typeface="Calibri"/>
              <a:cs typeface="Calibri"/>
            </a:endParaRPr>
          </a:p>
        </p:txBody>
      </p:sp>
      <p:sp>
        <p:nvSpPr>
          <p:cNvPr id="24" name="object 5">
            <a:extLst>
              <a:ext uri="{FF2B5EF4-FFF2-40B4-BE49-F238E27FC236}">
                <a16:creationId xmlns:a16="http://schemas.microsoft.com/office/drawing/2014/main" id="{49E0F25B-1F73-3BB6-A418-CA5436F12AEC}"/>
              </a:ext>
            </a:extLst>
          </p:cNvPr>
          <p:cNvSpPr txBox="1">
            <a:spLocks noGrp="1"/>
          </p:cNvSpPr>
          <p:nvPr>
            <p:ph type="title"/>
          </p:nvPr>
        </p:nvSpPr>
        <p:spPr>
          <a:xfrm>
            <a:off x="3734455" y="172378"/>
            <a:ext cx="5330032"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Type</a:t>
            </a:r>
            <a:r>
              <a:rPr spc="-20" dirty="0">
                <a:solidFill>
                  <a:schemeClr val="bg1"/>
                </a:solidFill>
                <a:latin typeface="+mn-lt"/>
              </a:rPr>
              <a:t> </a:t>
            </a:r>
            <a:r>
              <a:rPr dirty="0">
                <a:solidFill>
                  <a:schemeClr val="bg1"/>
                </a:solidFill>
                <a:latin typeface="+mn-lt"/>
              </a:rPr>
              <a:t>2: New</a:t>
            </a:r>
            <a:r>
              <a:rPr spc="-40" dirty="0">
                <a:solidFill>
                  <a:schemeClr val="bg1"/>
                </a:solidFill>
                <a:latin typeface="+mn-lt"/>
              </a:rPr>
              <a:t> </a:t>
            </a:r>
            <a:r>
              <a:rPr spc="-33" dirty="0">
                <a:solidFill>
                  <a:schemeClr val="bg1"/>
                </a:solidFill>
                <a:latin typeface="+mn-lt"/>
              </a:rPr>
              <a:t>row</a:t>
            </a:r>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5">
            <a:extLst>
              <a:ext uri="{FF2B5EF4-FFF2-40B4-BE49-F238E27FC236}">
                <a16:creationId xmlns:a16="http://schemas.microsoft.com/office/drawing/2014/main" id="{3974F99A-500A-442B-CBAF-BB072FE18831}"/>
              </a:ext>
            </a:extLst>
          </p:cNvPr>
          <p:cNvSpPr txBox="1">
            <a:spLocks noGrp="1"/>
          </p:cNvSpPr>
          <p:nvPr>
            <p:ph type="title"/>
          </p:nvPr>
        </p:nvSpPr>
        <p:spPr>
          <a:xfrm>
            <a:off x="3734455" y="172378"/>
            <a:ext cx="5330032"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Type</a:t>
            </a:r>
            <a:r>
              <a:rPr spc="-20" dirty="0">
                <a:solidFill>
                  <a:schemeClr val="bg1"/>
                </a:solidFill>
                <a:latin typeface="+mn-lt"/>
              </a:rPr>
              <a:t> </a:t>
            </a:r>
            <a:r>
              <a:rPr dirty="0">
                <a:solidFill>
                  <a:schemeClr val="bg1"/>
                </a:solidFill>
                <a:latin typeface="+mn-lt"/>
              </a:rPr>
              <a:t>2: New</a:t>
            </a:r>
            <a:r>
              <a:rPr spc="-40" dirty="0">
                <a:solidFill>
                  <a:schemeClr val="bg1"/>
                </a:solidFill>
                <a:latin typeface="+mn-lt"/>
              </a:rPr>
              <a:t> </a:t>
            </a:r>
            <a:r>
              <a:rPr spc="-33" dirty="0">
                <a:solidFill>
                  <a:schemeClr val="bg1"/>
                </a:solidFill>
                <a:latin typeface="+mn-lt"/>
              </a:rPr>
              <a:t>row</a:t>
            </a:r>
          </a:p>
        </p:txBody>
      </p:sp>
      <p:grpSp>
        <p:nvGrpSpPr>
          <p:cNvPr id="2" name="object 2">
            <a:extLst>
              <a:ext uri="{FF2B5EF4-FFF2-40B4-BE49-F238E27FC236}">
                <a16:creationId xmlns:a16="http://schemas.microsoft.com/office/drawing/2014/main" id="{6ADD626D-8E61-659F-D44D-B092915514AA}"/>
              </a:ext>
            </a:extLst>
          </p:cNvPr>
          <p:cNvGrpSpPr/>
          <p:nvPr/>
        </p:nvGrpSpPr>
        <p:grpSpPr>
          <a:xfrm>
            <a:off x="5457384" y="3282984"/>
            <a:ext cx="1052407" cy="720513"/>
            <a:chOff x="4182490" y="3312033"/>
            <a:chExt cx="789305" cy="540385"/>
          </a:xfrm>
        </p:grpSpPr>
        <p:sp>
          <p:nvSpPr>
            <p:cNvPr id="4" name="object 3">
              <a:extLst>
                <a:ext uri="{FF2B5EF4-FFF2-40B4-BE49-F238E27FC236}">
                  <a16:creationId xmlns:a16="http://schemas.microsoft.com/office/drawing/2014/main" id="{64E753C7-0DAA-654E-D388-9F62A6D4DF00}"/>
                </a:ext>
              </a:extLst>
            </p:cNvPr>
            <p:cNvSpPr/>
            <p:nvPr/>
          </p:nvSpPr>
          <p:spPr>
            <a:xfrm>
              <a:off x="4195190" y="3324733"/>
              <a:ext cx="763905" cy="514984"/>
            </a:xfrm>
            <a:custGeom>
              <a:avLst/>
              <a:gdLst/>
              <a:ahLst/>
              <a:cxnLst/>
              <a:rect l="l" t="t" r="r" b="b"/>
              <a:pathLst>
                <a:path w="763904" h="514985">
                  <a:moveTo>
                    <a:pt x="74295" y="0"/>
                  </a:moveTo>
                  <a:lnTo>
                    <a:pt x="0" y="145796"/>
                  </a:lnTo>
                  <a:lnTo>
                    <a:pt x="580644" y="441579"/>
                  </a:lnTo>
                  <a:lnTo>
                    <a:pt x="543560" y="514477"/>
                  </a:lnTo>
                  <a:lnTo>
                    <a:pt x="763524" y="442976"/>
                  </a:lnTo>
                  <a:lnTo>
                    <a:pt x="692023" y="222885"/>
                  </a:lnTo>
                  <a:lnTo>
                    <a:pt x="654938" y="295783"/>
                  </a:lnTo>
                  <a:lnTo>
                    <a:pt x="74295" y="0"/>
                  </a:lnTo>
                  <a:close/>
                </a:path>
              </a:pathLst>
            </a:custGeom>
            <a:solidFill>
              <a:srgbClr val="00C3FF"/>
            </a:solidFill>
          </p:spPr>
          <p:txBody>
            <a:bodyPr wrap="square" lIns="0" tIns="0" rIns="0" bIns="0" rtlCol="0"/>
            <a:lstStyle/>
            <a:p>
              <a:endParaRPr sz="2400"/>
            </a:p>
          </p:txBody>
        </p:sp>
        <p:sp>
          <p:nvSpPr>
            <p:cNvPr id="5" name="object 4">
              <a:extLst>
                <a:ext uri="{FF2B5EF4-FFF2-40B4-BE49-F238E27FC236}">
                  <a16:creationId xmlns:a16="http://schemas.microsoft.com/office/drawing/2014/main" id="{D05750AC-507B-88B3-6C6A-FBF3243556F7}"/>
                </a:ext>
              </a:extLst>
            </p:cNvPr>
            <p:cNvSpPr/>
            <p:nvPr/>
          </p:nvSpPr>
          <p:spPr>
            <a:xfrm>
              <a:off x="4195190" y="3324733"/>
              <a:ext cx="763905" cy="514984"/>
            </a:xfrm>
            <a:custGeom>
              <a:avLst/>
              <a:gdLst/>
              <a:ahLst/>
              <a:cxnLst/>
              <a:rect l="l" t="t" r="r" b="b"/>
              <a:pathLst>
                <a:path w="763904" h="514985">
                  <a:moveTo>
                    <a:pt x="74295" y="0"/>
                  </a:moveTo>
                  <a:lnTo>
                    <a:pt x="654938" y="295783"/>
                  </a:lnTo>
                  <a:lnTo>
                    <a:pt x="692023" y="222885"/>
                  </a:lnTo>
                  <a:lnTo>
                    <a:pt x="763524" y="442976"/>
                  </a:lnTo>
                  <a:lnTo>
                    <a:pt x="543560" y="514477"/>
                  </a:lnTo>
                  <a:lnTo>
                    <a:pt x="580644" y="441579"/>
                  </a:lnTo>
                  <a:lnTo>
                    <a:pt x="0" y="145796"/>
                  </a:lnTo>
                  <a:lnTo>
                    <a:pt x="74295" y="0"/>
                  </a:lnTo>
                  <a:close/>
                </a:path>
              </a:pathLst>
            </a:custGeom>
            <a:ln w="25400">
              <a:solidFill>
                <a:srgbClr val="008FBB"/>
              </a:solidFill>
            </a:ln>
          </p:spPr>
          <p:txBody>
            <a:bodyPr wrap="square" lIns="0" tIns="0" rIns="0" bIns="0" rtlCol="0"/>
            <a:lstStyle/>
            <a:p>
              <a:endParaRPr sz="2400"/>
            </a:p>
          </p:txBody>
        </p:sp>
      </p:grpSp>
      <p:graphicFrame>
        <p:nvGraphicFramePr>
          <p:cNvPr id="7" name="object 7">
            <a:extLst>
              <a:ext uri="{FF2B5EF4-FFF2-40B4-BE49-F238E27FC236}">
                <a16:creationId xmlns:a16="http://schemas.microsoft.com/office/drawing/2014/main" id="{20CA14A4-80A9-2315-EA1C-32EC3F751A4E}"/>
              </a:ext>
            </a:extLst>
          </p:cNvPr>
          <p:cNvGraphicFramePr>
            <a:graphicFrameLocks noGrp="1"/>
          </p:cNvGraphicFramePr>
          <p:nvPr>
            <p:extLst>
              <p:ext uri="{D42A27DB-BD31-4B8C-83A1-F6EECF244321}">
                <p14:modId xmlns:p14="http://schemas.microsoft.com/office/powerpoint/2010/main" val="1783041621"/>
              </p:ext>
            </p:extLst>
          </p:nvPr>
        </p:nvGraphicFramePr>
        <p:xfrm>
          <a:off x="2176669" y="2186303"/>
          <a:ext cx="5443609" cy="1163567"/>
        </p:xfrm>
        <a:graphic>
          <a:graphicData uri="http://schemas.openxmlformats.org/drawingml/2006/table">
            <a:tbl>
              <a:tblPr firstRow="1" bandRow="1">
                <a:tableStyleId>{2D5ABB26-0587-4C30-8999-92F81FD0307C}</a:tableStyleId>
              </a:tblPr>
              <a:tblGrid>
                <a:gridCol w="1360902">
                  <a:extLst>
                    <a:ext uri="{9D8B030D-6E8A-4147-A177-3AD203B41FA5}">
                      <a16:colId xmlns:a16="http://schemas.microsoft.com/office/drawing/2014/main" val="20000"/>
                    </a:ext>
                  </a:extLst>
                </a:gridCol>
                <a:gridCol w="2407750">
                  <a:extLst>
                    <a:ext uri="{9D8B030D-6E8A-4147-A177-3AD203B41FA5}">
                      <a16:colId xmlns:a16="http://schemas.microsoft.com/office/drawing/2014/main" val="20001"/>
                    </a:ext>
                  </a:extLst>
                </a:gridCol>
                <a:gridCol w="1674957">
                  <a:extLst>
                    <a:ext uri="{9D8B030D-6E8A-4147-A177-3AD203B41FA5}">
                      <a16:colId xmlns:a16="http://schemas.microsoft.com/office/drawing/2014/main" val="20002"/>
                    </a:ext>
                  </a:extLst>
                </a:gridCol>
              </a:tblGrid>
              <a:tr h="265445">
                <a:tc>
                  <a:txBody>
                    <a:bodyPr/>
                    <a:lstStyle/>
                    <a:p>
                      <a:pPr marL="3175" algn="ctr">
                        <a:lnSpc>
                          <a:spcPct val="100000"/>
                        </a:lnSpc>
                        <a:spcBef>
                          <a:spcPts val="60"/>
                        </a:spcBef>
                      </a:pPr>
                      <a:r>
                        <a:rPr sz="1400" b="1" spc="-10" dirty="0">
                          <a:solidFill>
                            <a:schemeClr val="bg1"/>
                          </a:solidFill>
                          <a:latin typeface="Arial"/>
                          <a:cs typeface="Arial"/>
                        </a:rPr>
                        <a:t>Product_Key</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270" algn="ctr">
                        <a:lnSpc>
                          <a:spcPct val="100000"/>
                        </a:lnSpc>
                        <a:spcBef>
                          <a:spcPts val="60"/>
                        </a:spcBef>
                      </a:pPr>
                      <a:r>
                        <a:rPr sz="1400" b="1" spc="-20" dirty="0">
                          <a:solidFill>
                            <a:schemeClr val="bg1"/>
                          </a:solidFill>
                          <a:latin typeface="Arial"/>
                          <a:cs typeface="Arial"/>
                        </a:rPr>
                        <a:t>Name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5080" algn="ctr">
                        <a:lnSpc>
                          <a:spcPct val="100000"/>
                        </a:lnSpc>
                        <a:spcBef>
                          <a:spcPts val="60"/>
                        </a:spcBef>
                      </a:pPr>
                      <a:r>
                        <a:rPr sz="1400" b="1" spc="-10" dirty="0">
                          <a:solidFill>
                            <a:schemeClr val="bg1"/>
                          </a:solidFill>
                          <a:latin typeface="Arial"/>
                          <a:cs typeface="Arial"/>
                        </a:rPr>
                        <a:t>Category</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99374">
                <a:tc>
                  <a:txBody>
                    <a:bodyPr/>
                    <a:lstStyle/>
                    <a:p>
                      <a:pPr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dirty="0">
                          <a:latin typeface="Arial MT"/>
                          <a:cs typeface="Arial MT"/>
                        </a:rPr>
                        <a:t>Sunglases</a:t>
                      </a:r>
                      <a:r>
                        <a:rPr sz="1400" spc="-55" dirty="0">
                          <a:latin typeface="Arial MT"/>
                          <a:cs typeface="Arial MT"/>
                        </a:rPr>
                        <a:t> </a:t>
                      </a:r>
                      <a:r>
                        <a:rPr sz="1400" dirty="0">
                          <a:latin typeface="Arial MT"/>
                          <a:cs typeface="Arial MT"/>
                        </a:rPr>
                        <a:t>TR-</a:t>
                      </a:r>
                      <a:r>
                        <a:rPr sz="1400" spc="-50" dirty="0">
                          <a:latin typeface="Arial MT"/>
                          <a:cs typeface="Arial MT"/>
                        </a:rPr>
                        <a:t>7</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10" dirty="0">
                          <a:latin typeface="Arial MT"/>
                          <a:cs typeface="Arial MT"/>
                        </a:rPr>
                        <a:t>Assecoirs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99374">
                <a:tc>
                  <a:txBody>
                    <a:bodyPr/>
                    <a:lstStyle/>
                    <a:p>
                      <a:pPr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dirty="0">
                          <a:latin typeface="Arial MT"/>
                          <a:cs typeface="Arial MT"/>
                        </a:rPr>
                        <a:t>Chocolate</a:t>
                      </a:r>
                      <a:r>
                        <a:rPr sz="1400" spc="-25" dirty="0">
                          <a:latin typeface="Arial MT"/>
                          <a:cs typeface="Arial MT"/>
                        </a:rPr>
                        <a:t> </a:t>
                      </a:r>
                      <a:r>
                        <a:rPr sz="1400" dirty="0">
                          <a:latin typeface="Arial MT"/>
                          <a:cs typeface="Arial MT"/>
                        </a:rPr>
                        <a:t>bar</a:t>
                      </a:r>
                      <a:r>
                        <a:rPr sz="1400" spc="-10" dirty="0">
                          <a:latin typeface="Arial MT"/>
                          <a:cs typeface="Arial MT"/>
                        </a:rPr>
                        <a:t> </a:t>
                      </a:r>
                      <a:r>
                        <a:rPr sz="1400" dirty="0">
                          <a:latin typeface="Arial MT"/>
                          <a:cs typeface="Arial MT"/>
                        </a:rPr>
                        <a:t>70%</a:t>
                      </a:r>
                      <a:r>
                        <a:rPr sz="1400" spc="-15" dirty="0">
                          <a:latin typeface="Arial MT"/>
                          <a:cs typeface="Arial MT"/>
                        </a:rPr>
                        <a:t> </a:t>
                      </a:r>
                      <a:r>
                        <a:rPr sz="1400" spc="-10" dirty="0">
                          <a:latin typeface="Arial MT"/>
                          <a:cs typeface="Arial MT"/>
                        </a:rPr>
                        <a:t>cacao</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Sweets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99374">
                <a:tc>
                  <a:txBody>
                    <a:bodyPr/>
                    <a:lstStyle/>
                    <a:p>
                      <a:pPr algn="ctr">
                        <a:lnSpc>
                          <a:spcPct val="10000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dirty="0">
                          <a:latin typeface="Arial MT"/>
                          <a:cs typeface="Arial MT"/>
                        </a:rPr>
                        <a:t>Oat</a:t>
                      </a:r>
                      <a:r>
                        <a:rPr sz="1400" spc="-25" dirty="0">
                          <a:latin typeface="Arial MT"/>
                          <a:cs typeface="Arial MT"/>
                        </a:rPr>
                        <a:t> </a:t>
                      </a:r>
                      <a:r>
                        <a:rPr sz="1400" dirty="0">
                          <a:latin typeface="Arial MT"/>
                          <a:cs typeface="Arial MT"/>
                        </a:rPr>
                        <a:t>meal</a:t>
                      </a:r>
                      <a:r>
                        <a:rPr sz="1400" spc="-35" dirty="0">
                          <a:latin typeface="Arial MT"/>
                          <a:cs typeface="Arial MT"/>
                        </a:rPr>
                        <a:t> </a:t>
                      </a:r>
                      <a:r>
                        <a:rPr sz="1400" spc="-10" dirty="0">
                          <a:latin typeface="Arial MT"/>
                          <a:cs typeface="Arial MT"/>
                        </a:rPr>
                        <a:t>biscuits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10" dirty="0">
                          <a:latin typeface="Arial MT"/>
                          <a:cs typeface="Arial MT"/>
                        </a:rPr>
                        <a:t>Sweets</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graphicFrame>
        <p:nvGraphicFramePr>
          <p:cNvPr id="8" name="object 8">
            <a:extLst>
              <a:ext uri="{FF2B5EF4-FFF2-40B4-BE49-F238E27FC236}">
                <a16:creationId xmlns:a16="http://schemas.microsoft.com/office/drawing/2014/main" id="{1D8025EF-3403-E80B-0F9C-01B25B4C9BC0}"/>
              </a:ext>
            </a:extLst>
          </p:cNvPr>
          <p:cNvGraphicFramePr>
            <a:graphicFrameLocks noGrp="1"/>
          </p:cNvGraphicFramePr>
          <p:nvPr>
            <p:extLst>
              <p:ext uri="{D42A27DB-BD31-4B8C-83A1-F6EECF244321}">
                <p14:modId xmlns:p14="http://schemas.microsoft.com/office/powerpoint/2010/main" val="2039282015"/>
              </p:ext>
            </p:extLst>
          </p:nvPr>
        </p:nvGraphicFramePr>
        <p:xfrm>
          <a:off x="4545864" y="3963026"/>
          <a:ext cx="5443608" cy="1137149"/>
        </p:xfrm>
        <a:graphic>
          <a:graphicData uri="http://schemas.openxmlformats.org/drawingml/2006/table">
            <a:tbl>
              <a:tblPr firstRow="1" bandRow="1">
                <a:tableStyleId>{2D5ABB26-0587-4C30-8999-92F81FD0307C}</a:tableStyleId>
              </a:tblPr>
              <a:tblGrid>
                <a:gridCol w="1360902">
                  <a:extLst>
                    <a:ext uri="{9D8B030D-6E8A-4147-A177-3AD203B41FA5}">
                      <a16:colId xmlns:a16="http://schemas.microsoft.com/office/drawing/2014/main" val="20000"/>
                    </a:ext>
                  </a:extLst>
                </a:gridCol>
                <a:gridCol w="2407750">
                  <a:extLst>
                    <a:ext uri="{9D8B030D-6E8A-4147-A177-3AD203B41FA5}">
                      <a16:colId xmlns:a16="http://schemas.microsoft.com/office/drawing/2014/main" val="20001"/>
                    </a:ext>
                  </a:extLst>
                </a:gridCol>
                <a:gridCol w="1674956">
                  <a:extLst>
                    <a:ext uri="{9D8B030D-6E8A-4147-A177-3AD203B41FA5}">
                      <a16:colId xmlns:a16="http://schemas.microsoft.com/office/drawing/2014/main" val="20002"/>
                    </a:ext>
                  </a:extLst>
                </a:gridCol>
              </a:tblGrid>
              <a:tr h="260171">
                <a:tc>
                  <a:txBody>
                    <a:bodyPr/>
                    <a:lstStyle/>
                    <a:p>
                      <a:pPr marL="3810" algn="ctr">
                        <a:lnSpc>
                          <a:spcPct val="100000"/>
                        </a:lnSpc>
                        <a:spcBef>
                          <a:spcPts val="65"/>
                        </a:spcBef>
                      </a:pPr>
                      <a:r>
                        <a:rPr sz="1400" b="1" spc="-10" dirty="0">
                          <a:solidFill>
                            <a:schemeClr val="bg1"/>
                          </a:solidFill>
                          <a:latin typeface="Arial"/>
                          <a:cs typeface="Arial"/>
                        </a:rPr>
                        <a:t>Product_Key</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905" algn="ctr">
                        <a:lnSpc>
                          <a:spcPct val="100000"/>
                        </a:lnSpc>
                        <a:spcBef>
                          <a:spcPts val="65"/>
                        </a:spcBef>
                      </a:pPr>
                      <a:r>
                        <a:rPr sz="1400" b="1" spc="-20" dirty="0">
                          <a:solidFill>
                            <a:schemeClr val="bg1"/>
                          </a:solidFill>
                          <a:latin typeface="Arial"/>
                          <a:cs typeface="Arial"/>
                        </a:rPr>
                        <a:t>Name</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5715" algn="ctr">
                        <a:lnSpc>
                          <a:spcPct val="100000"/>
                        </a:lnSpc>
                        <a:spcBef>
                          <a:spcPts val="65"/>
                        </a:spcBef>
                      </a:pPr>
                      <a:r>
                        <a:rPr sz="1400" b="1" spc="-10" dirty="0">
                          <a:solidFill>
                            <a:schemeClr val="bg1"/>
                          </a:solidFill>
                          <a:latin typeface="Arial"/>
                          <a:cs typeface="Arial"/>
                        </a:rPr>
                        <a:t>Category</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92326">
                <a:tc>
                  <a:txBody>
                    <a:bodyPr/>
                    <a:lstStyle/>
                    <a:p>
                      <a:pPr marL="635" algn="ctr">
                        <a:lnSpc>
                          <a:spcPct val="100000"/>
                        </a:lnSpc>
                        <a:spcBef>
                          <a:spcPts val="229"/>
                        </a:spcBef>
                      </a:pPr>
                      <a:r>
                        <a:rPr sz="1400" spc="-50" dirty="0">
                          <a:latin typeface="Arial MT"/>
                          <a:cs typeface="Arial MT"/>
                        </a:rPr>
                        <a:t>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dirty="0">
                          <a:latin typeface="Arial MT"/>
                          <a:cs typeface="Arial MT"/>
                        </a:rPr>
                        <a:t>Sunglases</a:t>
                      </a:r>
                      <a:r>
                        <a:rPr sz="1400" spc="-55" dirty="0">
                          <a:latin typeface="Arial MT"/>
                          <a:cs typeface="Arial MT"/>
                        </a:rPr>
                        <a:t> </a:t>
                      </a:r>
                      <a:r>
                        <a:rPr sz="1400" dirty="0">
                          <a:latin typeface="Arial MT"/>
                          <a:cs typeface="Arial MT"/>
                        </a:rPr>
                        <a:t>TR-</a:t>
                      </a:r>
                      <a:r>
                        <a:rPr sz="1400" spc="-50" dirty="0">
                          <a:latin typeface="Arial MT"/>
                          <a:cs typeface="Arial MT"/>
                        </a:rPr>
                        <a:t>7</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9"/>
                        </a:spcBef>
                      </a:pPr>
                      <a:r>
                        <a:rPr sz="1400" spc="-10" dirty="0">
                          <a:latin typeface="Arial MT"/>
                          <a:cs typeface="Arial MT"/>
                        </a:rPr>
                        <a:t>Assecoirs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92326">
                <a:tc>
                  <a:txBody>
                    <a:bodyPr/>
                    <a:lstStyle/>
                    <a:p>
                      <a:pPr marL="635" algn="ctr">
                        <a:lnSpc>
                          <a:spcPct val="100000"/>
                        </a:lnSpc>
                        <a:spcBef>
                          <a:spcPts val="229"/>
                        </a:spcBef>
                      </a:pPr>
                      <a:r>
                        <a:rPr sz="1400" spc="-50" dirty="0">
                          <a:latin typeface="Arial MT"/>
                          <a:cs typeface="Arial MT"/>
                        </a:rPr>
                        <a:t>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10" dirty="0">
                          <a:latin typeface="Arial MT"/>
                          <a:cs typeface="Arial MT"/>
                        </a:rPr>
                        <a:t>Chocolate </a:t>
                      </a:r>
                      <a:r>
                        <a:rPr sz="1400" dirty="0">
                          <a:latin typeface="Arial MT"/>
                          <a:cs typeface="Arial MT"/>
                        </a:rPr>
                        <a:t>bar 70%</a:t>
                      </a:r>
                      <a:r>
                        <a:rPr sz="1400" spc="5" dirty="0">
                          <a:latin typeface="Arial MT"/>
                          <a:cs typeface="Arial MT"/>
                        </a:rPr>
                        <a:t> </a:t>
                      </a:r>
                      <a:r>
                        <a:rPr sz="1400" spc="-10" dirty="0">
                          <a:latin typeface="Arial MT"/>
                          <a:cs typeface="Arial MT"/>
                        </a:rPr>
                        <a:t>cacao</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10" dirty="0">
                          <a:latin typeface="Arial MT"/>
                          <a:cs typeface="Arial MT"/>
                        </a:rPr>
                        <a:t>Sweets</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92326">
                <a:tc>
                  <a:txBody>
                    <a:bodyPr/>
                    <a:lstStyle/>
                    <a:p>
                      <a:pPr marL="635" algn="ctr">
                        <a:lnSpc>
                          <a:spcPct val="10000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i="1" dirty="0">
                          <a:solidFill>
                            <a:srgbClr val="008BBE"/>
                          </a:solidFill>
                          <a:latin typeface="Arial"/>
                          <a:cs typeface="Arial"/>
                        </a:rPr>
                        <a:t>Delicious</a:t>
                      </a:r>
                      <a:r>
                        <a:rPr sz="1400" i="1" spc="-45" dirty="0">
                          <a:solidFill>
                            <a:srgbClr val="008BBE"/>
                          </a:solidFill>
                          <a:latin typeface="Arial"/>
                          <a:cs typeface="Arial"/>
                        </a:rPr>
                        <a:t> </a:t>
                      </a:r>
                      <a:r>
                        <a:rPr sz="1400" dirty="0">
                          <a:latin typeface="Arial MT"/>
                          <a:cs typeface="Arial MT"/>
                        </a:rPr>
                        <a:t>Oat</a:t>
                      </a:r>
                      <a:r>
                        <a:rPr sz="1400" spc="-25" dirty="0">
                          <a:latin typeface="Arial MT"/>
                          <a:cs typeface="Arial MT"/>
                        </a:rPr>
                        <a:t> </a:t>
                      </a:r>
                      <a:r>
                        <a:rPr sz="1400" dirty="0">
                          <a:latin typeface="Arial MT"/>
                          <a:cs typeface="Arial MT"/>
                        </a:rPr>
                        <a:t>meal</a:t>
                      </a:r>
                      <a:r>
                        <a:rPr sz="1400" spc="-40" dirty="0">
                          <a:latin typeface="Arial MT"/>
                          <a:cs typeface="Arial MT"/>
                        </a:rPr>
                        <a:t> </a:t>
                      </a:r>
                      <a:r>
                        <a:rPr sz="1400" spc="-10" dirty="0">
                          <a:latin typeface="Arial MT"/>
                          <a:cs typeface="Arial MT"/>
                        </a:rPr>
                        <a:t>biscuits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i="1" spc="-10" dirty="0">
                          <a:solidFill>
                            <a:srgbClr val="008BBE"/>
                          </a:solidFill>
                          <a:latin typeface="Arial"/>
                          <a:cs typeface="Arial"/>
                        </a:rPr>
                        <a:t>Buscuits</a:t>
                      </a:r>
                      <a:endParaRPr sz="1400" dirty="0">
                        <a:latin typeface="Arial"/>
                        <a:cs typeface="Arial"/>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sp>
        <p:nvSpPr>
          <p:cNvPr id="9" name="object 9">
            <a:extLst>
              <a:ext uri="{FF2B5EF4-FFF2-40B4-BE49-F238E27FC236}">
                <a16:creationId xmlns:a16="http://schemas.microsoft.com/office/drawing/2014/main" id="{28838C6F-9485-DEE9-7FF6-E532CF8FABBB}"/>
              </a:ext>
            </a:extLst>
          </p:cNvPr>
          <p:cNvSpPr txBox="1"/>
          <p:nvPr/>
        </p:nvSpPr>
        <p:spPr>
          <a:xfrm>
            <a:off x="6670659" y="3428880"/>
            <a:ext cx="844127" cy="305276"/>
          </a:xfrm>
          <a:prstGeom prst="rect">
            <a:avLst/>
          </a:prstGeom>
        </p:spPr>
        <p:txBody>
          <a:bodyPr vert="horz" wrap="square" lIns="0" tIns="17780" rIns="0" bIns="0" rtlCol="0">
            <a:spAutoFit/>
          </a:bodyPr>
          <a:lstStyle/>
          <a:p>
            <a:pPr marL="16933">
              <a:spcBef>
                <a:spcPts val="140"/>
              </a:spcBef>
            </a:pPr>
            <a:r>
              <a:rPr sz="1867" b="1" i="1" spc="-13" dirty="0">
                <a:solidFill>
                  <a:srgbClr val="D9D9D9"/>
                </a:solidFill>
                <a:latin typeface="Calibri"/>
                <a:cs typeface="Calibri"/>
              </a:rPr>
              <a:t>UPDATE</a:t>
            </a:r>
            <a:endParaRPr sz="1867">
              <a:latin typeface="Calibri"/>
              <a:cs typeface="Calibri"/>
            </a:endParaRPr>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4"/>
          <p:cNvGrpSpPr/>
          <p:nvPr/>
        </p:nvGrpSpPr>
        <p:grpSpPr>
          <a:xfrm>
            <a:off x="3725767" y="4525192"/>
            <a:ext cx="1052407" cy="719667"/>
            <a:chOff x="4106290" y="2969767"/>
            <a:chExt cx="789305" cy="539750"/>
          </a:xfrm>
        </p:grpSpPr>
        <p:sp>
          <p:nvSpPr>
            <p:cNvPr id="5" name="object 5"/>
            <p:cNvSpPr/>
            <p:nvPr/>
          </p:nvSpPr>
          <p:spPr>
            <a:xfrm>
              <a:off x="4118990" y="2982467"/>
              <a:ext cx="763905" cy="514350"/>
            </a:xfrm>
            <a:custGeom>
              <a:avLst/>
              <a:gdLst/>
              <a:ahLst/>
              <a:cxnLst/>
              <a:rect l="l" t="t" r="r" b="b"/>
              <a:pathLst>
                <a:path w="763904" h="514350">
                  <a:moveTo>
                    <a:pt x="74295" y="0"/>
                  </a:moveTo>
                  <a:lnTo>
                    <a:pt x="0" y="145669"/>
                  </a:lnTo>
                  <a:lnTo>
                    <a:pt x="580644" y="441579"/>
                  </a:lnTo>
                  <a:lnTo>
                    <a:pt x="543560" y="514350"/>
                  </a:lnTo>
                  <a:lnTo>
                    <a:pt x="763524" y="442849"/>
                  </a:lnTo>
                  <a:lnTo>
                    <a:pt x="692023" y="222884"/>
                  </a:lnTo>
                  <a:lnTo>
                    <a:pt x="654938" y="295782"/>
                  </a:lnTo>
                  <a:lnTo>
                    <a:pt x="74295" y="0"/>
                  </a:lnTo>
                  <a:close/>
                </a:path>
              </a:pathLst>
            </a:custGeom>
            <a:solidFill>
              <a:srgbClr val="00C3FF"/>
            </a:solidFill>
          </p:spPr>
          <p:txBody>
            <a:bodyPr wrap="square" lIns="0" tIns="0" rIns="0" bIns="0" rtlCol="0"/>
            <a:lstStyle/>
            <a:p>
              <a:endParaRPr sz="2400"/>
            </a:p>
          </p:txBody>
        </p:sp>
        <p:sp>
          <p:nvSpPr>
            <p:cNvPr id="6" name="object 6"/>
            <p:cNvSpPr/>
            <p:nvPr/>
          </p:nvSpPr>
          <p:spPr>
            <a:xfrm>
              <a:off x="4118990" y="2982467"/>
              <a:ext cx="763905" cy="514350"/>
            </a:xfrm>
            <a:custGeom>
              <a:avLst/>
              <a:gdLst/>
              <a:ahLst/>
              <a:cxnLst/>
              <a:rect l="l" t="t" r="r" b="b"/>
              <a:pathLst>
                <a:path w="763904" h="514350">
                  <a:moveTo>
                    <a:pt x="74295" y="0"/>
                  </a:moveTo>
                  <a:lnTo>
                    <a:pt x="654938" y="295782"/>
                  </a:lnTo>
                  <a:lnTo>
                    <a:pt x="692023" y="222884"/>
                  </a:lnTo>
                  <a:lnTo>
                    <a:pt x="763524" y="442849"/>
                  </a:lnTo>
                  <a:lnTo>
                    <a:pt x="543560" y="514350"/>
                  </a:lnTo>
                  <a:lnTo>
                    <a:pt x="580644" y="441579"/>
                  </a:lnTo>
                  <a:lnTo>
                    <a:pt x="0" y="145669"/>
                  </a:lnTo>
                  <a:lnTo>
                    <a:pt x="74295" y="0"/>
                  </a:lnTo>
                  <a:close/>
                </a:path>
              </a:pathLst>
            </a:custGeom>
            <a:ln w="25400">
              <a:solidFill>
                <a:srgbClr val="008FBB"/>
              </a:solidFill>
            </a:ln>
          </p:spPr>
          <p:txBody>
            <a:bodyPr wrap="square" lIns="0" tIns="0" rIns="0" bIns="0" rtlCol="0"/>
            <a:lstStyle/>
            <a:p>
              <a:endParaRPr sz="2400"/>
            </a:p>
          </p:txBody>
        </p:sp>
      </p:grpSp>
      <p:graphicFrame>
        <p:nvGraphicFramePr>
          <p:cNvPr id="7" name="object 7"/>
          <p:cNvGraphicFramePr>
            <a:graphicFrameLocks noGrp="1"/>
          </p:cNvGraphicFramePr>
          <p:nvPr>
            <p:extLst>
              <p:ext uri="{D42A27DB-BD31-4B8C-83A1-F6EECF244321}">
                <p14:modId xmlns:p14="http://schemas.microsoft.com/office/powerpoint/2010/main" val="2972533157"/>
              </p:ext>
            </p:extLst>
          </p:nvPr>
        </p:nvGraphicFramePr>
        <p:xfrm>
          <a:off x="469360" y="3518451"/>
          <a:ext cx="5419301" cy="1074305"/>
        </p:xfrm>
        <a:graphic>
          <a:graphicData uri="http://schemas.openxmlformats.org/drawingml/2006/table">
            <a:tbl>
              <a:tblPr firstRow="1" bandRow="1">
                <a:tableStyleId>{2D5ABB26-0587-4C30-8999-92F81FD0307C}</a:tableStyleId>
              </a:tblPr>
              <a:tblGrid>
                <a:gridCol w="1354825">
                  <a:extLst>
                    <a:ext uri="{9D8B030D-6E8A-4147-A177-3AD203B41FA5}">
                      <a16:colId xmlns:a16="http://schemas.microsoft.com/office/drawing/2014/main" val="20000"/>
                    </a:ext>
                  </a:extLst>
                </a:gridCol>
                <a:gridCol w="2396999">
                  <a:extLst>
                    <a:ext uri="{9D8B030D-6E8A-4147-A177-3AD203B41FA5}">
                      <a16:colId xmlns:a16="http://schemas.microsoft.com/office/drawing/2014/main" val="20001"/>
                    </a:ext>
                  </a:extLst>
                </a:gridCol>
                <a:gridCol w="1667477">
                  <a:extLst>
                    <a:ext uri="{9D8B030D-6E8A-4147-A177-3AD203B41FA5}">
                      <a16:colId xmlns:a16="http://schemas.microsoft.com/office/drawing/2014/main" val="20002"/>
                    </a:ext>
                  </a:extLst>
                </a:gridCol>
              </a:tblGrid>
              <a:tr h="245792">
                <a:tc>
                  <a:txBody>
                    <a:bodyPr/>
                    <a:lstStyle/>
                    <a:p>
                      <a:pPr marL="3175" algn="ctr">
                        <a:lnSpc>
                          <a:spcPct val="100000"/>
                        </a:lnSpc>
                        <a:spcBef>
                          <a:spcPts val="60"/>
                        </a:spcBef>
                      </a:pPr>
                      <a:r>
                        <a:rPr sz="1400" b="1" spc="-10" dirty="0">
                          <a:solidFill>
                            <a:schemeClr val="bg1"/>
                          </a:solidFill>
                          <a:latin typeface="Arial"/>
                          <a:cs typeface="Arial"/>
                        </a:rPr>
                        <a:t>Product_Key</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270" algn="ctr">
                        <a:lnSpc>
                          <a:spcPct val="100000"/>
                        </a:lnSpc>
                        <a:spcBef>
                          <a:spcPts val="60"/>
                        </a:spcBef>
                      </a:pPr>
                      <a:r>
                        <a:rPr sz="1400" b="1" spc="-20" dirty="0">
                          <a:solidFill>
                            <a:schemeClr val="bg1"/>
                          </a:solidFill>
                          <a:latin typeface="Arial"/>
                          <a:cs typeface="Arial"/>
                        </a:rPr>
                        <a:t>Name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5080" algn="ctr">
                        <a:lnSpc>
                          <a:spcPct val="100000"/>
                        </a:lnSpc>
                        <a:spcBef>
                          <a:spcPts val="60"/>
                        </a:spcBef>
                      </a:pPr>
                      <a:r>
                        <a:rPr sz="1400" b="1" spc="-10" dirty="0">
                          <a:solidFill>
                            <a:schemeClr val="bg1"/>
                          </a:solidFill>
                          <a:latin typeface="Arial"/>
                          <a:cs typeface="Arial"/>
                        </a:rPr>
                        <a:t>Category</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76171">
                <a:tc>
                  <a:txBody>
                    <a:bodyPr/>
                    <a:lstStyle/>
                    <a:p>
                      <a:pPr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dirty="0">
                          <a:latin typeface="Arial MT"/>
                          <a:cs typeface="Arial MT"/>
                        </a:rPr>
                        <a:t>Sunglases</a:t>
                      </a:r>
                      <a:r>
                        <a:rPr sz="1400" spc="-55" dirty="0">
                          <a:latin typeface="Arial MT"/>
                          <a:cs typeface="Arial MT"/>
                        </a:rPr>
                        <a:t> </a:t>
                      </a:r>
                      <a:r>
                        <a:rPr sz="1400" dirty="0">
                          <a:latin typeface="Arial MT"/>
                          <a:cs typeface="Arial MT"/>
                        </a:rPr>
                        <a:t>TR-</a:t>
                      </a:r>
                      <a:r>
                        <a:rPr sz="1400" spc="-50" dirty="0">
                          <a:latin typeface="Arial MT"/>
                          <a:cs typeface="Arial MT"/>
                        </a:rPr>
                        <a:t>7</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10" dirty="0">
                          <a:latin typeface="Arial MT"/>
                          <a:cs typeface="Arial MT"/>
                        </a:rPr>
                        <a:t>Assecoirs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76171">
                <a:tc>
                  <a:txBody>
                    <a:bodyPr/>
                    <a:lstStyle/>
                    <a:p>
                      <a:pPr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10" dirty="0">
                          <a:latin typeface="Arial MT"/>
                          <a:cs typeface="Arial MT"/>
                        </a:rPr>
                        <a:t>Chocolate </a:t>
                      </a:r>
                      <a:r>
                        <a:rPr sz="1400" dirty="0">
                          <a:latin typeface="Arial MT"/>
                          <a:cs typeface="Arial MT"/>
                        </a:rPr>
                        <a:t>bar 70%</a:t>
                      </a:r>
                      <a:r>
                        <a:rPr sz="1400" spc="5" dirty="0">
                          <a:latin typeface="Arial MT"/>
                          <a:cs typeface="Arial MT"/>
                        </a:rPr>
                        <a:t> </a:t>
                      </a:r>
                      <a:r>
                        <a:rPr sz="1400" spc="-10" dirty="0">
                          <a:latin typeface="Arial MT"/>
                          <a:cs typeface="Arial MT"/>
                        </a:rPr>
                        <a:t>cacao</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10" dirty="0">
                          <a:latin typeface="Arial MT"/>
                          <a:cs typeface="Arial MT"/>
                        </a:rPr>
                        <a:t>Sweets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76171">
                <a:tc>
                  <a:txBody>
                    <a:bodyPr/>
                    <a:lstStyle/>
                    <a:p>
                      <a:pPr algn="ctr">
                        <a:lnSpc>
                          <a:spcPct val="10000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dirty="0">
                          <a:latin typeface="Arial MT"/>
                          <a:cs typeface="Arial MT"/>
                        </a:rPr>
                        <a:t>Oat</a:t>
                      </a:r>
                      <a:r>
                        <a:rPr sz="1400" spc="-25" dirty="0">
                          <a:latin typeface="Arial MT"/>
                          <a:cs typeface="Arial MT"/>
                        </a:rPr>
                        <a:t> </a:t>
                      </a:r>
                      <a:r>
                        <a:rPr sz="1400" dirty="0">
                          <a:latin typeface="Arial MT"/>
                          <a:cs typeface="Arial MT"/>
                        </a:rPr>
                        <a:t>meal</a:t>
                      </a:r>
                      <a:r>
                        <a:rPr sz="1400" spc="-35" dirty="0">
                          <a:latin typeface="Arial MT"/>
                          <a:cs typeface="Arial MT"/>
                        </a:rPr>
                        <a:t> </a:t>
                      </a:r>
                      <a:r>
                        <a:rPr sz="1400" spc="-10" dirty="0">
                          <a:latin typeface="Arial MT"/>
                          <a:cs typeface="Arial MT"/>
                        </a:rPr>
                        <a:t>biscuits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10" dirty="0">
                          <a:latin typeface="Arial MT"/>
                          <a:cs typeface="Arial MT"/>
                        </a:rPr>
                        <a:t>Sweets</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graphicFrame>
        <p:nvGraphicFramePr>
          <p:cNvPr id="8" name="object 8"/>
          <p:cNvGraphicFramePr>
            <a:graphicFrameLocks noGrp="1"/>
          </p:cNvGraphicFramePr>
          <p:nvPr>
            <p:extLst>
              <p:ext uri="{D42A27DB-BD31-4B8C-83A1-F6EECF244321}">
                <p14:modId xmlns:p14="http://schemas.microsoft.com/office/powerpoint/2010/main" val="3440263161"/>
              </p:ext>
            </p:extLst>
          </p:nvPr>
        </p:nvGraphicFramePr>
        <p:xfrm>
          <a:off x="2814247" y="5205237"/>
          <a:ext cx="5723466" cy="1363502"/>
        </p:xfrm>
        <a:graphic>
          <a:graphicData uri="http://schemas.openxmlformats.org/drawingml/2006/table">
            <a:tbl>
              <a:tblPr firstRow="1" bandRow="1">
                <a:tableStyleId>{2D5ABB26-0587-4C30-8999-92F81FD0307C}</a:tableStyleId>
              </a:tblPr>
              <a:tblGrid>
                <a:gridCol w="1430867">
                  <a:extLst>
                    <a:ext uri="{9D8B030D-6E8A-4147-A177-3AD203B41FA5}">
                      <a16:colId xmlns:a16="http://schemas.microsoft.com/office/drawing/2014/main" val="20000"/>
                    </a:ext>
                  </a:extLst>
                </a:gridCol>
                <a:gridCol w="2531533">
                  <a:extLst>
                    <a:ext uri="{9D8B030D-6E8A-4147-A177-3AD203B41FA5}">
                      <a16:colId xmlns:a16="http://schemas.microsoft.com/office/drawing/2014/main" val="20001"/>
                    </a:ext>
                  </a:extLst>
                </a:gridCol>
                <a:gridCol w="1761066">
                  <a:extLst>
                    <a:ext uri="{9D8B030D-6E8A-4147-A177-3AD203B41FA5}">
                      <a16:colId xmlns:a16="http://schemas.microsoft.com/office/drawing/2014/main" val="20002"/>
                    </a:ext>
                  </a:extLst>
                </a:gridCol>
              </a:tblGrid>
              <a:tr h="247402">
                <a:tc>
                  <a:txBody>
                    <a:bodyPr/>
                    <a:lstStyle/>
                    <a:p>
                      <a:pPr marL="3810" algn="ctr">
                        <a:lnSpc>
                          <a:spcPct val="100000"/>
                        </a:lnSpc>
                        <a:spcBef>
                          <a:spcPts val="65"/>
                        </a:spcBef>
                      </a:pPr>
                      <a:r>
                        <a:rPr sz="1400" b="1" spc="-10" dirty="0">
                          <a:solidFill>
                            <a:schemeClr val="bg1"/>
                          </a:solidFill>
                          <a:latin typeface="Arial"/>
                          <a:cs typeface="Arial"/>
                        </a:rPr>
                        <a:t>Product_Key</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905" algn="ctr">
                        <a:lnSpc>
                          <a:spcPct val="100000"/>
                        </a:lnSpc>
                        <a:spcBef>
                          <a:spcPts val="65"/>
                        </a:spcBef>
                      </a:pPr>
                      <a:r>
                        <a:rPr sz="1400" b="1" spc="-20" dirty="0">
                          <a:solidFill>
                            <a:schemeClr val="bg1"/>
                          </a:solidFill>
                          <a:latin typeface="Arial"/>
                          <a:cs typeface="Arial"/>
                        </a:rPr>
                        <a:t>Name</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5715" algn="ctr">
                        <a:lnSpc>
                          <a:spcPct val="100000"/>
                        </a:lnSpc>
                        <a:spcBef>
                          <a:spcPts val="65"/>
                        </a:spcBef>
                      </a:pPr>
                      <a:r>
                        <a:rPr sz="1400" b="1" spc="-10" dirty="0">
                          <a:solidFill>
                            <a:schemeClr val="bg1"/>
                          </a:solidFill>
                          <a:latin typeface="Arial"/>
                          <a:cs typeface="Arial"/>
                        </a:rPr>
                        <a:t>Category</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79025">
                <a:tc>
                  <a:txBody>
                    <a:bodyPr/>
                    <a:lstStyle/>
                    <a:p>
                      <a:pPr algn="ctr">
                        <a:lnSpc>
                          <a:spcPct val="100000"/>
                        </a:lnSpc>
                        <a:spcBef>
                          <a:spcPts val="229"/>
                        </a:spcBef>
                      </a:pPr>
                      <a:r>
                        <a:rPr sz="1400" spc="-50" dirty="0">
                          <a:latin typeface="Arial MT"/>
                          <a:cs typeface="Arial MT"/>
                        </a:rPr>
                        <a:t>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dirty="0">
                          <a:latin typeface="Arial MT"/>
                          <a:cs typeface="Arial MT"/>
                        </a:rPr>
                        <a:t>Sunglases</a:t>
                      </a:r>
                      <a:r>
                        <a:rPr sz="1400" spc="-55" dirty="0">
                          <a:latin typeface="Arial MT"/>
                          <a:cs typeface="Arial MT"/>
                        </a:rPr>
                        <a:t> </a:t>
                      </a:r>
                      <a:r>
                        <a:rPr sz="1400" dirty="0">
                          <a:latin typeface="Arial MT"/>
                          <a:cs typeface="Arial MT"/>
                        </a:rPr>
                        <a:t>TR-</a:t>
                      </a:r>
                      <a:r>
                        <a:rPr sz="1400" spc="-50" dirty="0">
                          <a:latin typeface="Arial MT"/>
                          <a:cs typeface="Arial MT"/>
                        </a:rPr>
                        <a:t>7</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10" dirty="0">
                          <a:latin typeface="Arial MT"/>
                          <a:cs typeface="Arial MT"/>
                        </a:rPr>
                        <a:t>Assecoirs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79025">
                <a:tc>
                  <a:txBody>
                    <a:bodyPr/>
                    <a:lstStyle/>
                    <a:p>
                      <a:pPr algn="ctr">
                        <a:lnSpc>
                          <a:spcPct val="100000"/>
                        </a:lnSpc>
                        <a:spcBef>
                          <a:spcPts val="229"/>
                        </a:spcBef>
                      </a:pPr>
                      <a:r>
                        <a:rPr sz="1400" spc="-50" dirty="0">
                          <a:latin typeface="Arial MT"/>
                          <a:cs typeface="Arial MT"/>
                        </a:rPr>
                        <a:t>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10" dirty="0">
                          <a:latin typeface="Arial MT"/>
                          <a:cs typeface="Arial MT"/>
                        </a:rPr>
                        <a:t>Chocolate </a:t>
                      </a:r>
                      <a:r>
                        <a:rPr sz="1400" dirty="0">
                          <a:latin typeface="Arial MT"/>
                          <a:cs typeface="Arial MT"/>
                        </a:rPr>
                        <a:t>bar 70%</a:t>
                      </a:r>
                      <a:r>
                        <a:rPr sz="1400" spc="5" dirty="0">
                          <a:latin typeface="Arial MT"/>
                          <a:cs typeface="Arial MT"/>
                        </a:rPr>
                        <a:t> </a:t>
                      </a:r>
                      <a:r>
                        <a:rPr sz="1400" spc="-10" dirty="0">
                          <a:latin typeface="Arial MT"/>
                          <a:cs typeface="Arial MT"/>
                        </a:rPr>
                        <a:t>cacao</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10" dirty="0">
                          <a:latin typeface="Arial MT"/>
                          <a:cs typeface="Arial MT"/>
                        </a:rPr>
                        <a:t>Sweets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79025">
                <a:tc>
                  <a:txBody>
                    <a:bodyPr/>
                    <a:lstStyle/>
                    <a:p>
                      <a:pPr algn="ctr">
                        <a:lnSpc>
                          <a:spcPct val="10000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dirty="0">
                          <a:latin typeface="Arial MT"/>
                          <a:cs typeface="Arial MT"/>
                        </a:rPr>
                        <a:t>Oat</a:t>
                      </a:r>
                      <a:r>
                        <a:rPr sz="1400" spc="-20" dirty="0">
                          <a:latin typeface="Arial MT"/>
                          <a:cs typeface="Arial MT"/>
                        </a:rPr>
                        <a:t> </a:t>
                      </a:r>
                      <a:r>
                        <a:rPr sz="1400" dirty="0">
                          <a:latin typeface="Arial MT"/>
                          <a:cs typeface="Arial MT"/>
                        </a:rPr>
                        <a:t>meal</a:t>
                      </a:r>
                      <a:r>
                        <a:rPr sz="1400" spc="-45" dirty="0">
                          <a:latin typeface="Arial MT"/>
                          <a:cs typeface="Arial MT"/>
                        </a:rPr>
                        <a:t> </a:t>
                      </a:r>
                      <a:r>
                        <a:rPr sz="1400" spc="-10" dirty="0">
                          <a:latin typeface="Arial MT"/>
                          <a:cs typeface="Arial MT"/>
                        </a:rPr>
                        <a:t>biscuits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9"/>
                        </a:spcBef>
                      </a:pPr>
                      <a:r>
                        <a:rPr sz="1400" spc="-10" dirty="0">
                          <a:latin typeface="Arial MT"/>
                          <a:cs typeface="Arial MT"/>
                        </a:rPr>
                        <a:t>Sweets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79025">
                <a:tc>
                  <a:txBody>
                    <a:bodyPr/>
                    <a:lstStyle/>
                    <a:p>
                      <a:pPr algn="ctr">
                        <a:lnSpc>
                          <a:spcPct val="100000"/>
                        </a:lnSpc>
                        <a:spcBef>
                          <a:spcPts val="229"/>
                        </a:spcBef>
                      </a:pPr>
                      <a:r>
                        <a:rPr sz="1400" spc="-50" dirty="0">
                          <a:solidFill>
                            <a:srgbClr val="008BBE"/>
                          </a:solidFill>
                          <a:latin typeface="Arial MT"/>
                          <a:cs typeface="Arial MT"/>
                        </a:rPr>
                        <a:t>4</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dirty="0">
                          <a:solidFill>
                            <a:srgbClr val="008BBE"/>
                          </a:solidFill>
                          <a:latin typeface="Arial MT"/>
                          <a:cs typeface="Arial MT"/>
                        </a:rPr>
                        <a:t>Delicious</a:t>
                      </a:r>
                      <a:r>
                        <a:rPr sz="1400" spc="-50" dirty="0">
                          <a:solidFill>
                            <a:srgbClr val="008BBE"/>
                          </a:solidFill>
                          <a:latin typeface="Arial MT"/>
                          <a:cs typeface="Arial MT"/>
                        </a:rPr>
                        <a:t> </a:t>
                      </a:r>
                      <a:r>
                        <a:rPr sz="1400" dirty="0">
                          <a:solidFill>
                            <a:srgbClr val="008BBE"/>
                          </a:solidFill>
                          <a:latin typeface="Arial MT"/>
                          <a:cs typeface="Arial MT"/>
                        </a:rPr>
                        <a:t>Oat</a:t>
                      </a:r>
                      <a:r>
                        <a:rPr sz="1400" spc="-25" dirty="0">
                          <a:solidFill>
                            <a:srgbClr val="008BBE"/>
                          </a:solidFill>
                          <a:latin typeface="Arial MT"/>
                          <a:cs typeface="Arial MT"/>
                        </a:rPr>
                        <a:t> </a:t>
                      </a:r>
                      <a:r>
                        <a:rPr sz="1400" dirty="0">
                          <a:solidFill>
                            <a:srgbClr val="008BBE"/>
                          </a:solidFill>
                          <a:latin typeface="Arial MT"/>
                          <a:cs typeface="Arial MT"/>
                        </a:rPr>
                        <a:t>meal</a:t>
                      </a:r>
                      <a:r>
                        <a:rPr sz="1400" spc="-40" dirty="0">
                          <a:solidFill>
                            <a:srgbClr val="008BBE"/>
                          </a:solidFill>
                          <a:latin typeface="Arial MT"/>
                          <a:cs typeface="Arial MT"/>
                        </a:rPr>
                        <a:t> </a:t>
                      </a:r>
                      <a:r>
                        <a:rPr sz="1400" spc="-10" dirty="0">
                          <a:solidFill>
                            <a:srgbClr val="008BBE"/>
                          </a:solidFill>
                          <a:latin typeface="Arial MT"/>
                          <a:cs typeface="Arial MT"/>
                        </a:rPr>
                        <a:t>biscuits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spc="-10" dirty="0">
                          <a:solidFill>
                            <a:srgbClr val="008BBE"/>
                          </a:solidFill>
                          <a:latin typeface="Arial MT"/>
                          <a:cs typeface="Arial MT"/>
                        </a:rPr>
                        <a:t>Buscuits</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bl>
          </a:graphicData>
        </a:graphic>
      </p:graphicFrame>
      <p:sp>
        <p:nvSpPr>
          <p:cNvPr id="9" name="object 9"/>
          <p:cNvSpPr txBox="1"/>
          <p:nvPr/>
        </p:nvSpPr>
        <p:spPr>
          <a:xfrm>
            <a:off x="4945474" y="4733305"/>
            <a:ext cx="917787" cy="304421"/>
          </a:xfrm>
          <a:prstGeom prst="rect">
            <a:avLst/>
          </a:prstGeom>
        </p:spPr>
        <p:txBody>
          <a:bodyPr vert="horz" wrap="square" lIns="0" tIns="16933" rIns="0" bIns="0" rtlCol="0">
            <a:spAutoFit/>
          </a:bodyPr>
          <a:lstStyle/>
          <a:p>
            <a:pPr marL="16933">
              <a:spcBef>
                <a:spcPts val="133"/>
              </a:spcBef>
            </a:pPr>
            <a:r>
              <a:rPr sz="1867" b="1" i="1" dirty="0">
                <a:solidFill>
                  <a:srgbClr val="D9D9D9"/>
                </a:solidFill>
                <a:latin typeface="Calibri"/>
                <a:cs typeface="Calibri"/>
              </a:rPr>
              <a:t>Add</a:t>
            </a:r>
            <a:r>
              <a:rPr sz="1867" b="1" i="1" spc="-20" dirty="0">
                <a:solidFill>
                  <a:srgbClr val="D9D9D9"/>
                </a:solidFill>
                <a:latin typeface="Calibri"/>
                <a:cs typeface="Calibri"/>
              </a:rPr>
              <a:t> </a:t>
            </a:r>
            <a:r>
              <a:rPr sz="1867" b="1" i="1" spc="-33" dirty="0">
                <a:solidFill>
                  <a:srgbClr val="D9D9D9"/>
                </a:solidFill>
                <a:latin typeface="Calibri"/>
                <a:cs typeface="Calibri"/>
              </a:rPr>
              <a:t>Row</a:t>
            </a:r>
            <a:endParaRPr sz="1867">
              <a:latin typeface="Calibri"/>
              <a:cs typeface="Calibri"/>
            </a:endParaRPr>
          </a:p>
        </p:txBody>
      </p:sp>
      <p:sp>
        <p:nvSpPr>
          <p:cNvPr id="12" name="object 5">
            <a:extLst>
              <a:ext uri="{FF2B5EF4-FFF2-40B4-BE49-F238E27FC236}">
                <a16:creationId xmlns:a16="http://schemas.microsoft.com/office/drawing/2014/main" id="{5D5B3FAC-A2C6-1C69-61A3-22AAB239D104}"/>
              </a:ext>
            </a:extLst>
          </p:cNvPr>
          <p:cNvSpPr txBox="1">
            <a:spLocks noGrp="1"/>
          </p:cNvSpPr>
          <p:nvPr>
            <p:ph type="title"/>
          </p:nvPr>
        </p:nvSpPr>
        <p:spPr>
          <a:xfrm>
            <a:off x="3734455" y="172378"/>
            <a:ext cx="5330032"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Type</a:t>
            </a:r>
            <a:r>
              <a:rPr spc="-20" dirty="0">
                <a:solidFill>
                  <a:schemeClr val="bg1"/>
                </a:solidFill>
                <a:latin typeface="+mn-lt"/>
              </a:rPr>
              <a:t> </a:t>
            </a:r>
            <a:r>
              <a:rPr dirty="0">
                <a:solidFill>
                  <a:schemeClr val="bg1"/>
                </a:solidFill>
                <a:latin typeface="+mn-lt"/>
              </a:rPr>
              <a:t>2: New</a:t>
            </a:r>
            <a:r>
              <a:rPr spc="-40" dirty="0">
                <a:solidFill>
                  <a:schemeClr val="bg1"/>
                </a:solidFill>
                <a:latin typeface="+mn-lt"/>
              </a:rPr>
              <a:t> </a:t>
            </a:r>
            <a:r>
              <a:rPr spc="-33" dirty="0">
                <a:solidFill>
                  <a:schemeClr val="bg1"/>
                </a:solidFill>
                <a:latin typeface="+mn-lt"/>
              </a:rPr>
              <a:t>row</a:t>
            </a:r>
          </a:p>
        </p:txBody>
      </p:sp>
      <p:grpSp>
        <p:nvGrpSpPr>
          <p:cNvPr id="2" name="object 2">
            <a:extLst>
              <a:ext uri="{FF2B5EF4-FFF2-40B4-BE49-F238E27FC236}">
                <a16:creationId xmlns:a16="http://schemas.microsoft.com/office/drawing/2014/main" id="{FD797585-44B3-CD32-E842-81F8B00DC533}"/>
              </a:ext>
            </a:extLst>
          </p:cNvPr>
          <p:cNvGrpSpPr/>
          <p:nvPr/>
        </p:nvGrpSpPr>
        <p:grpSpPr>
          <a:xfrm>
            <a:off x="7188295" y="2094300"/>
            <a:ext cx="961680" cy="565942"/>
            <a:chOff x="4182490" y="3312033"/>
            <a:chExt cx="789305" cy="540385"/>
          </a:xfrm>
        </p:grpSpPr>
        <p:sp>
          <p:nvSpPr>
            <p:cNvPr id="10" name="object 3">
              <a:extLst>
                <a:ext uri="{FF2B5EF4-FFF2-40B4-BE49-F238E27FC236}">
                  <a16:creationId xmlns:a16="http://schemas.microsoft.com/office/drawing/2014/main" id="{FDC69420-8453-AE89-3888-F7EDD97783DD}"/>
                </a:ext>
              </a:extLst>
            </p:cNvPr>
            <p:cNvSpPr/>
            <p:nvPr/>
          </p:nvSpPr>
          <p:spPr>
            <a:xfrm>
              <a:off x="4195190" y="3324733"/>
              <a:ext cx="763905" cy="514984"/>
            </a:xfrm>
            <a:custGeom>
              <a:avLst/>
              <a:gdLst/>
              <a:ahLst/>
              <a:cxnLst/>
              <a:rect l="l" t="t" r="r" b="b"/>
              <a:pathLst>
                <a:path w="763904" h="514985">
                  <a:moveTo>
                    <a:pt x="74295" y="0"/>
                  </a:moveTo>
                  <a:lnTo>
                    <a:pt x="0" y="145796"/>
                  </a:lnTo>
                  <a:lnTo>
                    <a:pt x="580644" y="441579"/>
                  </a:lnTo>
                  <a:lnTo>
                    <a:pt x="543560" y="514477"/>
                  </a:lnTo>
                  <a:lnTo>
                    <a:pt x="763524" y="442976"/>
                  </a:lnTo>
                  <a:lnTo>
                    <a:pt x="692023" y="222885"/>
                  </a:lnTo>
                  <a:lnTo>
                    <a:pt x="654938" y="295783"/>
                  </a:lnTo>
                  <a:lnTo>
                    <a:pt x="74295" y="0"/>
                  </a:lnTo>
                  <a:close/>
                </a:path>
              </a:pathLst>
            </a:custGeom>
            <a:solidFill>
              <a:srgbClr val="00C3FF"/>
            </a:solidFill>
          </p:spPr>
          <p:txBody>
            <a:bodyPr wrap="square" lIns="0" tIns="0" rIns="0" bIns="0" rtlCol="0"/>
            <a:lstStyle/>
            <a:p>
              <a:endParaRPr sz="2400"/>
            </a:p>
          </p:txBody>
        </p:sp>
        <p:sp>
          <p:nvSpPr>
            <p:cNvPr id="11" name="object 4">
              <a:extLst>
                <a:ext uri="{FF2B5EF4-FFF2-40B4-BE49-F238E27FC236}">
                  <a16:creationId xmlns:a16="http://schemas.microsoft.com/office/drawing/2014/main" id="{6B4B0286-B2BD-895A-6099-F52D30BF9D8C}"/>
                </a:ext>
              </a:extLst>
            </p:cNvPr>
            <p:cNvSpPr/>
            <p:nvPr/>
          </p:nvSpPr>
          <p:spPr>
            <a:xfrm>
              <a:off x="4195190" y="3324733"/>
              <a:ext cx="763905" cy="514984"/>
            </a:xfrm>
            <a:custGeom>
              <a:avLst/>
              <a:gdLst/>
              <a:ahLst/>
              <a:cxnLst/>
              <a:rect l="l" t="t" r="r" b="b"/>
              <a:pathLst>
                <a:path w="763904" h="514985">
                  <a:moveTo>
                    <a:pt x="74295" y="0"/>
                  </a:moveTo>
                  <a:lnTo>
                    <a:pt x="654938" y="295783"/>
                  </a:lnTo>
                  <a:lnTo>
                    <a:pt x="692023" y="222885"/>
                  </a:lnTo>
                  <a:lnTo>
                    <a:pt x="763524" y="442976"/>
                  </a:lnTo>
                  <a:lnTo>
                    <a:pt x="543560" y="514477"/>
                  </a:lnTo>
                  <a:lnTo>
                    <a:pt x="580644" y="441579"/>
                  </a:lnTo>
                  <a:lnTo>
                    <a:pt x="0" y="145796"/>
                  </a:lnTo>
                  <a:lnTo>
                    <a:pt x="74295" y="0"/>
                  </a:lnTo>
                  <a:close/>
                </a:path>
              </a:pathLst>
            </a:custGeom>
            <a:ln w="25400">
              <a:solidFill>
                <a:srgbClr val="008FBB"/>
              </a:solidFill>
            </a:ln>
          </p:spPr>
          <p:txBody>
            <a:bodyPr wrap="square" lIns="0" tIns="0" rIns="0" bIns="0" rtlCol="0"/>
            <a:lstStyle/>
            <a:p>
              <a:endParaRPr sz="2400"/>
            </a:p>
          </p:txBody>
        </p:sp>
      </p:grpSp>
      <p:graphicFrame>
        <p:nvGraphicFramePr>
          <p:cNvPr id="13" name="object 7">
            <a:extLst>
              <a:ext uri="{FF2B5EF4-FFF2-40B4-BE49-F238E27FC236}">
                <a16:creationId xmlns:a16="http://schemas.microsoft.com/office/drawing/2014/main" id="{14992E2E-87D6-00DE-5212-FB97EDA2941B}"/>
              </a:ext>
            </a:extLst>
          </p:cNvPr>
          <p:cNvGraphicFramePr>
            <a:graphicFrameLocks noGrp="1"/>
          </p:cNvGraphicFramePr>
          <p:nvPr>
            <p:extLst>
              <p:ext uri="{D42A27DB-BD31-4B8C-83A1-F6EECF244321}">
                <p14:modId xmlns:p14="http://schemas.microsoft.com/office/powerpoint/2010/main" val="876844816"/>
              </p:ext>
            </p:extLst>
          </p:nvPr>
        </p:nvGraphicFramePr>
        <p:xfrm>
          <a:off x="3907579" y="997618"/>
          <a:ext cx="4974323" cy="978745"/>
        </p:xfrm>
        <a:graphic>
          <a:graphicData uri="http://schemas.openxmlformats.org/drawingml/2006/table">
            <a:tbl>
              <a:tblPr firstRow="1" bandRow="1">
                <a:tableStyleId>{2D5ABB26-0587-4C30-8999-92F81FD0307C}</a:tableStyleId>
              </a:tblPr>
              <a:tblGrid>
                <a:gridCol w="1243581">
                  <a:extLst>
                    <a:ext uri="{9D8B030D-6E8A-4147-A177-3AD203B41FA5}">
                      <a16:colId xmlns:a16="http://schemas.microsoft.com/office/drawing/2014/main" val="20000"/>
                    </a:ext>
                  </a:extLst>
                </a:gridCol>
                <a:gridCol w="2200181">
                  <a:extLst>
                    <a:ext uri="{9D8B030D-6E8A-4147-A177-3AD203B41FA5}">
                      <a16:colId xmlns:a16="http://schemas.microsoft.com/office/drawing/2014/main" val="20001"/>
                    </a:ext>
                  </a:extLst>
                </a:gridCol>
                <a:gridCol w="1530561">
                  <a:extLst>
                    <a:ext uri="{9D8B030D-6E8A-4147-A177-3AD203B41FA5}">
                      <a16:colId xmlns:a16="http://schemas.microsoft.com/office/drawing/2014/main" val="20002"/>
                    </a:ext>
                  </a:extLst>
                </a:gridCol>
              </a:tblGrid>
              <a:tr h="208500">
                <a:tc>
                  <a:txBody>
                    <a:bodyPr/>
                    <a:lstStyle/>
                    <a:p>
                      <a:pPr marL="3175" algn="ctr">
                        <a:lnSpc>
                          <a:spcPct val="100000"/>
                        </a:lnSpc>
                        <a:spcBef>
                          <a:spcPts val="60"/>
                        </a:spcBef>
                      </a:pPr>
                      <a:r>
                        <a:rPr sz="1400" b="1" spc="-10" dirty="0">
                          <a:solidFill>
                            <a:schemeClr val="bg1"/>
                          </a:solidFill>
                          <a:latin typeface="Arial"/>
                          <a:cs typeface="Arial"/>
                        </a:rPr>
                        <a:t>Product_Key</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270" algn="ctr">
                        <a:lnSpc>
                          <a:spcPct val="100000"/>
                        </a:lnSpc>
                        <a:spcBef>
                          <a:spcPts val="60"/>
                        </a:spcBef>
                      </a:pPr>
                      <a:r>
                        <a:rPr sz="1400" b="1" spc="-20" dirty="0">
                          <a:solidFill>
                            <a:schemeClr val="bg1"/>
                          </a:solidFill>
                          <a:latin typeface="Arial"/>
                          <a:cs typeface="Arial"/>
                        </a:rPr>
                        <a:t>Name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5080" algn="ctr">
                        <a:lnSpc>
                          <a:spcPct val="100000"/>
                        </a:lnSpc>
                        <a:spcBef>
                          <a:spcPts val="60"/>
                        </a:spcBef>
                      </a:pPr>
                      <a:r>
                        <a:rPr sz="1400" b="1" spc="-10" dirty="0">
                          <a:solidFill>
                            <a:schemeClr val="bg1"/>
                          </a:solidFill>
                          <a:latin typeface="Arial"/>
                          <a:cs typeface="Arial"/>
                        </a:rPr>
                        <a:t>Category</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35150">
                <a:tc>
                  <a:txBody>
                    <a:bodyPr/>
                    <a:lstStyle/>
                    <a:p>
                      <a:pPr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dirty="0">
                          <a:latin typeface="Arial MT"/>
                          <a:cs typeface="Arial MT"/>
                        </a:rPr>
                        <a:t>Sunglases</a:t>
                      </a:r>
                      <a:r>
                        <a:rPr sz="1400" spc="-55" dirty="0">
                          <a:latin typeface="Arial MT"/>
                          <a:cs typeface="Arial MT"/>
                        </a:rPr>
                        <a:t> </a:t>
                      </a:r>
                      <a:r>
                        <a:rPr sz="1400" dirty="0">
                          <a:latin typeface="Arial MT"/>
                          <a:cs typeface="Arial MT"/>
                        </a:rPr>
                        <a:t>TR-</a:t>
                      </a:r>
                      <a:r>
                        <a:rPr sz="1400" spc="-50" dirty="0">
                          <a:latin typeface="Arial MT"/>
                          <a:cs typeface="Arial MT"/>
                        </a:rPr>
                        <a:t>7</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10" dirty="0">
                          <a:latin typeface="Arial MT"/>
                          <a:cs typeface="Arial MT"/>
                        </a:rPr>
                        <a:t>Assecoirs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35150">
                <a:tc>
                  <a:txBody>
                    <a:bodyPr/>
                    <a:lstStyle/>
                    <a:p>
                      <a:pPr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dirty="0">
                          <a:latin typeface="Arial MT"/>
                          <a:cs typeface="Arial MT"/>
                        </a:rPr>
                        <a:t>Chocolate</a:t>
                      </a:r>
                      <a:r>
                        <a:rPr sz="1400" spc="-25" dirty="0">
                          <a:latin typeface="Arial MT"/>
                          <a:cs typeface="Arial MT"/>
                        </a:rPr>
                        <a:t> </a:t>
                      </a:r>
                      <a:r>
                        <a:rPr sz="1400" dirty="0">
                          <a:latin typeface="Arial MT"/>
                          <a:cs typeface="Arial MT"/>
                        </a:rPr>
                        <a:t>bar</a:t>
                      </a:r>
                      <a:r>
                        <a:rPr sz="1400" spc="-10" dirty="0">
                          <a:latin typeface="Arial MT"/>
                          <a:cs typeface="Arial MT"/>
                        </a:rPr>
                        <a:t> </a:t>
                      </a:r>
                      <a:r>
                        <a:rPr sz="1400" dirty="0">
                          <a:latin typeface="Arial MT"/>
                          <a:cs typeface="Arial MT"/>
                        </a:rPr>
                        <a:t>70%</a:t>
                      </a:r>
                      <a:r>
                        <a:rPr sz="1400" spc="-15" dirty="0">
                          <a:latin typeface="Arial MT"/>
                          <a:cs typeface="Arial MT"/>
                        </a:rPr>
                        <a:t> </a:t>
                      </a:r>
                      <a:r>
                        <a:rPr sz="1400" spc="-10" dirty="0">
                          <a:latin typeface="Arial MT"/>
                          <a:cs typeface="Arial MT"/>
                        </a:rPr>
                        <a:t>cacao</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Sweets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35150">
                <a:tc>
                  <a:txBody>
                    <a:bodyPr/>
                    <a:lstStyle/>
                    <a:p>
                      <a:pPr algn="ctr">
                        <a:lnSpc>
                          <a:spcPct val="10000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dirty="0">
                          <a:latin typeface="Arial MT"/>
                          <a:cs typeface="Arial MT"/>
                        </a:rPr>
                        <a:t>Oat</a:t>
                      </a:r>
                      <a:r>
                        <a:rPr sz="1400" spc="-25" dirty="0">
                          <a:latin typeface="Arial MT"/>
                          <a:cs typeface="Arial MT"/>
                        </a:rPr>
                        <a:t> </a:t>
                      </a:r>
                      <a:r>
                        <a:rPr sz="1400" dirty="0">
                          <a:latin typeface="Arial MT"/>
                          <a:cs typeface="Arial MT"/>
                        </a:rPr>
                        <a:t>meal</a:t>
                      </a:r>
                      <a:r>
                        <a:rPr sz="1400" spc="-35" dirty="0">
                          <a:latin typeface="Arial MT"/>
                          <a:cs typeface="Arial MT"/>
                        </a:rPr>
                        <a:t> </a:t>
                      </a:r>
                      <a:r>
                        <a:rPr sz="1400" spc="-10" dirty="0">
                          <a:latin typeface="Arial MT"/>
                          <a:cs typeface="Arial MT"/>
                        </a:rPr>
                        <a:t>biscuits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10" dirty="0">
                          <a:latin typeface="Arial MT"/>
                          <a:cs typeface="Arial MT"/>
                        </a:rPr>
                        <a:t>Sweets</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graphicFrame>
        <p:nvGraphicFramePr>
          <p:cNvPr id="14" name="object 8">
            <a:extLst>
              <a:ext uri="{FF2B5EF4-FFF2-40B4-BE49-F238E27FC236}">
                <a16:creationId xmlns:a16="http://schemas.microsoft.com/office/drawing/2014/main" id="{C0D30A4D-E1B4-B034-0EEC-B34BD497FBFC}"/>
              </a:ext>
            </a:extLst>
          </p:cNvPr>
          <p:cNvGraphicFramePr>
            <a:graphicFrameLocks noGrp="1"/>
          </p:cNvGraphicFramePr>
          <p:nvPr>
            <p:extLst>
              <p:ext uri="{D42A27DB-BD31-4B8C-83A1-F6EECF244321}">
                <p14:modId xmlns:p14="http://schemas.microsoft.com/office/powerpoint/2010/main" val="494831767"/>
              </p:ext>
            </p:extLst>
          </p:nvPr>
        </p:nvGraphicFramePr>
        <p:xfrm>
          <a:off x="6276774" y="2774342"/>
          <a:ext cx="4974322" cy="981282"/>
        </p:xfrm>
        <a:graphic>
          <a:graphicData uri="http://schemas.openxmlformats.org/drawingml/2006/table">
            <a:tbl>
              <a:tblPr firstRow="1" bandRow="1">
                <a:tableStyleId>{2D5ABB26-0587-4C30-8999-92F81FD0307C}</a:tableStyleId>
              </a:tblPr>
              <a:tblGrid>
                <a:gridCol w="1243581">
                  <a:extLst>
                    <a:ext uri="{9D8B030D-6E8A-4147-A177-3AD203B41FA5}">
                      <a16:colId xmlns:a16="http://schemas.microsoft.com/office/drawing/2014/main" val="20000"/>
                    </a:ext>
                  </a:extLst>
                </a:gridCol>
                <a:gridCol w="2200181">
                  <a:extLst>
                    <a:ext uri="{9D8B030D-6E8A-4147-A177-3AD203B41FA5}">
                      <a16:colId xmlns:a16="http://schemas.microsoft.com/office/drawing/2014/main" val="20001"/>
                    </a:ext>
                  </a:extLst>
                </a:gridCol>
                <a:gridCol w="1530560">
                  <a:extLst>
                    <a:ext uri="{9D8B030D-6E8A-4147-A177-3AD203B41FA5}">
                      <a16:colId xmlns:a16="http://schemas.microsoft.com/office/drawing/2014/main" val="20002"/>
                    </a:ext>
                  </a:extLst>
                </a:gridCol>
              </a:tblGrid>
              <a:tr h="204357">
                <a:tc>
                  <a:txBody>
                    <a:bodyPr/>
                    <a:lstStyle/>
                    <a:p>
                      <a:pPr marL="3810" algn="ctr">
                        <a:lnSpc>
                          <a:spcPct val="100000"/>
                        </a:lnSpc>
                        <a:spcBef>
                          <a:spcPts val="65"/>
                        </a:spcBef>
                      </a:pPr>
                      <a:r>
                        <a:rPr sz="1400" b="1" spc="-10" dirty="0">
                          <a:solidFill>
                            <a:schemeClr val="bg1"/>
                          </a:solidFill>
                          <a:latin typeface="Arial"/>
                          <a:cs typeface="Arial"/>
                        </a:rPr>
                        <a:t>Product_Key</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905" algn="ctr">
                        <a:lnSpc>
                          <a:spcPct val="100000"/>
                        </a:lnSpc>
                        <a:spcBef>
                          <a:spcPts val="65"/>
                        </a:spcBef>
                      </a:pPr>
                      <a:r>
                        <a:rPr sz="1400" b="1" spc="-20" dirty="0">
                          <a:solidFill>
                            <a:schemeClr val="bg1"/>
                          </a:solidFill>
                          <a:latin typeface="Arial"/>
                          <a:cs typeface="Arial"/>
                        </a:rPr>
                        <a:t>Name</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5715" algn="ctr">
                        <a:lnSpc>
                          <a:spcPct val="100000"/>
                        </a:lnSpc>
                        <a:spcBef>
                          <a:spcPts val="65"/>
                        </a:spcBef>
                      </a:pPr>
                      <a:r>
                        <a:rPr sz="1400" b="1" spc="-10" dirty="0">
                          <a:solidFill>
                            <a:schemeClr val="bg1"/>
                          </a:solidFill>
                          <a:latin typeface="Arial"/>
                          <a:cs typeface="Arial"/>
                        </a:rPr>
                        <a:t>Category</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29614">
                <a:tc>
                  <a:txBody>
                    <a:bodyPr/>
                    <a:lstStyle/>
                    <a:p>
                      <a:pPr marL="635" algn="ctr">
                        <a:lnSpc>
                          <a:spcPct val="100000"/>
                        </a:lnSpc>
                        <a:spcBef>
                          <a:spcPts val="229"/>
                        </a:spcBef>
                      </a:pPr>
                      <a:r>
                        <a:rPr sz="1400" spc="-50" dirty="0">
                          <a:latin typeface="Arial MT"/>
                          <a:cs typeface="Arial MT"/>
                        </a:rPr>
                        <a:t>1</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dirty="0">
                          <a:latin typeface="Arial MT"/>
                          <a:cs typeface="Arial MT"/>
                        </a:rPr>
                        <a:t>Sunglases</a:t>
                      </a:r>
                      <a:r>
                        <a:rPr sz="1400" spc="-55" dirty="0">
                          <a:latin typeface="Arial MT"/>
                          <a:cs typeface="Arial MT"/>
                        </a:rPr>
                        <a:t> </a:t>
                      </a:r>
                      <a:r>
                        <a:rPr sz="1400" dirty="0">
                          <a:latin typeface="Arial MT"/>
                          <a:cs typeface="Arial MT"/>
                        </a:rPr>
                        <a:t>TR-</a:t>
                      </a:r>
                      <a:r>
                        <a:rPr sz="1400" spc="-50" dirty="0">
                          <a:latin typeface="Arial MT"/>
                          <a:cs typeface="Arial MT"/>
                        </a:rPr>
                        <a:t>7</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9"/>
                        </a:spcBef>
                      </a:pPr>
                      <a:r>
                        <a:rPr sz="1400" spc="-10" dirty="0">
                          <a:latin typeface="Arial MT"/>
                          <a:cs typeface="Arial MT"/>
                        </a:rPr>
                        <a:t>Assecoirs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29614">
                <a:tc>
                  <a:txBody>
                    <a:bodyPr/>
                    <a:lstStyle/>
                    <a:p>
                      <a:pPr marL="635" algn="ctr">
                        <a:lnSpc>
                          <a:spcPct val="100000"/>
                        </a:lnSpc>
                        <a:spcBef>
                          <a:spcPts val="229"/>
                        </a:spcBef>
                      </a:pPr>
                      <a:r>
                        <a:rPr sz="1400" spc="-50" dirty="0">
                          <a:latin typeface="Arial MT"/>
                          <a:cs typeface="Arial MT"/>
                        </a:rPr>
                        <a:t>2</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spc="-10" dirty="0">
                          <a:latin typeface="Arial MT"/>
                          <a:cs typeface="Arial MT"/>
                        </a:rPr>
                        <a:t>Chocolate </a:t>
                      </a:r>
                      <a:r>
                        <a:rPr sz="1400" dirty="0">
                          <a:latin typeface="Arial MT"/>
                          <a:cs typeface="Arial MT"/>
                        </a:rPr>
                        <a:t>bar 70%</a:t>
                      </a:r>
                      <a:r>
                        <a:rPr sz="1400" spc="5" dirty="0">
                          <a:latin typeface="Arial MT"/>
                          <a:cs typeface="Arial MT"/>
                        </a:rPr>
                        <a:t> </a:t>
                      </a:r>
                      <a:r>
                        <a:rPr sz="1400" spc="-10" dirty="0">
                          <a:latin typeface="Arial MT"/>
                          <a:cs typeface="Arial MT"/>
                        </a:rPr>
                        <a:t>cacao</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10" dirty="0">
                          <a:latin typeface="Arial MT"/>
                          <a:cs typeface="Arial MT"/>
                        </a:rPr>
                        <a:t>Sweets</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29614">
                <a:tc>
                  <a:txBody>
                    <a:bodyPr/>
                    <a:lstStyle/>
                    <a:p>
                      <a:pPr marL="635" algn="ctr">
                        <a:lnSpc>
                          <a:spcPct val="100000"/>
                        </a:lnSpc>
                        <a:spcBef>
                          <a:spcPts val="229"/>
                        </a:spcBef>
                      </a:pPr>
                      <a:r>
                        <a:rPr sz="1400" spc="-50"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9"/>
                        </a:spcBef>
                      </a:pPr>
                      <a:r>
                        <a:rPr sz="1400" i="1" dirty="0">
                          <a:solidFill>
                            <a:srgbClr val="008BBE"/>
                          </a:solidFill>
                          <a:latin typeface="Arial"/>
                          <a:cs typeface="Arial"/>
                        </a:rPr>
                        <a:t>Delicious</a:t>
                      </a:r>
                      <a:r>
                        <a:rPr sz="1400" i="1" spc="-45" dirty="0">
                          <a:solidFill>
                            <a:srgbClr val="008BBE"/>
                          </a:solidFill>
                          <a:latin typeface="Arial"/>
                          <a:cs typeface="Arial"/>
                        </a:rPr>
                        <a:t> </a:t>
                      </a:r>
                      <a:r>
                        <a:rPr sz="1400" dirty="0">
                          <a:latin typeface="Arial MT"/>
                          <a:cs typeface="Arial MT"/>
                        </a:rPr>
                        <a:t>Oat</a:t>
                      </a:r>
                      <a:r>
                        <a:rPr sz="1400" spc="-25" dirty="0">
                          <a:latin typeface="Arial MT"/>
                          <a:cs typeface="Arial MT"/>
                        </a:rPr>
                        <a:t> </a:t>
                      </a:r>
                      <a:r>
                        <a:rPr sz="1400" dirty="0">
                          <a:latin typeface="Arial MT"/>
                          <a:cs typeface="Arial MT"/>
                        </a:rPr>
                        <a:t>meal</a:t>
                      </a:r>
                      <a:r>
                        <a:rPr sz="1400" spc="-40" dirty="0">
                          <a:latin typeface="Arial MT"/>
                          <a:cs typeface="Arial MT"/>
                        </a:rPr>
                        <a:t> </a:t>
                      </a:r>
                      <a:r>
                        <a:rPr sz="1400" spc="-10" dirty="0">
                          <a:latin typeface="Arial MT"/>
                          <a:cs typeface="Arial MT"/>
                        </a:rPr>
                        <a:t>biscuits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i="1" spc="-10" dirty="0">
                          <a:solidFill>
                            <a:srgbClr val="008BBE"/>
                          </a:solidFill>
                          <a:latin typeface="Arial"/>
                          <a:cs typeface="Arial"/>
                        </a:rPr>
                        <a:t>Buscuits</a:t>
                      </a:r>
                      <a:endParaRPr sz="1400" dirty="0">
                        <a:latin typeface="Arial"/>
                        <a:cs typeface="Arial"/>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sp>
        <p:nvSpPr>
          <p:cNvPr id="15" name="object 9">
            <a:extLst>
              <a:ext uri="{FF2B5EF4-FFF2-40B4-BE49-F238E27FC236}">
                <a16:creationId xmlns:a16="http://schemas.microsoft.com/office/drawing/2014/main" id="{E2EBA068-517F-A6D9-90F3-DD70311A558E}"/>
              </a:ext>
            </a:extLst>
          </p:cNvPr>
          <p:cNvSpPr txBox="1"/>
          <p:nvPr/>
        </p:nvSpPr>
        <p:spPr>
          <a:xfrm>
            <a:off x="8401570" y="2240195"/>
            <a:ext cx="1020726" cy="305276"/>
          </a:xfrm>
          <a:prstGeom prst="rect">
            <a:avLst/>
          </a:prstGeom>
        </p:spPr>
        <p:txBody>
          <a:bodyPr vert="horz" wrap="square" lIns="0" tIns="17780" rIns="0" bIns="0" rtlCol="0">
            <a:spAutoFit/>
          </a:bodyPr>
          <a:lstStyle/>
          <a:p>
            <a:pPr marL="16933">
              <a:spcBef>
                <a:spcPts val="140"/>
              </a:spcBef>
            </a:pPr>
            <a:r>
              <a:rPr sz="1867" b="1" i="1" spc="-13" dirty="0">
                <a:solidFill>
                  <a:srgbClr val="D9D9D9"/>
                </a:solidFill>
                <a:latin typeface="Calibri"/>
                <a:cs typeface="Calibri"/>
              </a:rPr>
              <a:t>UPDATE</a:t>
            </a:r>
            <a:endParaRPr sz="1867" dirty="0">
              <a:latin typeface="Calibri"/>
              <a:cs typeface="Calibri"/>
            </a:endParaRPr>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extLst>
              <p:ext uri="{D42A27DB-BD31-4B8C-83A1-F6EECF244321}">
                <p14:modId xmlns:p14="http://schemas.microsoft.com/office/powerpoint/2010/main" val="747947635"/>
              </p:ext>
            </p:extLst>
          </p:nvPr>
        </p:nvGraphicFramePr>
        <p:xfrm>
          <a:off x="6717012" y="1963146"/>
          <a:ext cx="5070796" cy="1495213"/>
        </p:xfrm>
        <a:graphic>
          <a:graphicData uri="http://schemas.openxmlformats.org/drawingml/2006/table">
            <a:tbl>
              <a:tblPr firstRow="1" bandRow="1">
                <a:tableStyleId>{2D5ABB26-0587-4C30-8999-92F81FD0307C}</a:tableStyleId>
              </a:tblPr>
              <a:tblGrid>
                <a:gridCol w="1267699">
                  <a:extLst>
                    <a:ext uri="{9D8B030D-6E8A-4147-A177-3AD203B41FA5}">
                      <a16:colId xmlns:a16="http://schemas.microsoft.com/office/drawing/2014/main" val="20000"/>
                    </a:ext>
                  </a:extLst>
                </a:gridCol>
                <a:gridCol w="2438023">
                  <a:extLst>
                    <a:ext uri="{9D8B030D-6E8A-4147-A177-3AD203B41FA5}">
                      <a16:colId xmlns:a16="http://schemas.microsoft.com/office/drawing/2014/main" val="20001"/>
                    </a:ext>
                  </a:extLst>
                </a:gridCol>
                <a:gridCol w="1365074">
                  <a:extLst>
                    <a:ext uri="{9D8B030D-6E8A-4147-A177-3AD203B41FA5}">
                      <a16:colId xmlns:a16="http://schemas.microsoft.com/office/drawing/2014/main" val="20002"/>
                    </a:ext>
                  </a:extLst>
                </a:gridCol>
              </a:tblGrid>
              <a:tr h="272321">
                <a:tc>
                  <a:txBody>
                    <a:bodyPr/>
                    <a:lstStyle/>
                    <a:p>
                      <a:pPr marL="3175" algn="ctr">
                        <a:lnSpc>
                          <a:spcPct val="100000"/>
                        </a:lnSpc>
                        <a:spcBef>
                          <a:spcPts val="60"/>
                        </a:spcBef>
                      </a:pPr>
                      <a:r>
                        <a:rPr sz="1400" b="1" spc="-10" dirty="0">
                          <a:solidFill>
                            <a:schemeClr val="bg1"/>
                          </a:solidFill>
                          <a:latin typeface="Arial"/>
                          <a:cs typeface="Arial"/>
                        </a:rPr>
                        <a:t>Product_Key</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635" algn="ctr">
                        <a:lnSpc>
                          <a:spcPct val="100000"/>
                        </a:lnSpc>
                        <a:spcBef>
                          <a:spcPts val="60"/>
                        </a:spcBef>
                      </a:pPr>
                      <a:r>
                        <a:rPr sz="1400" b="1" spc="-20" dirty="0">
                          <a:solidFill>
                            <a:schemeClr val="bg1"/>
                          </a:solidFill>
                          <a:latin typeface="Arial"/>
                          <a:cs typeface="Arial"/>
                        </a:rPr>
                        <a:t>Name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5080" algn="ctr">
                        <a:lnSpc>
                          <a:spcPct val="100000"/>
                        </a:lnSpc>
                        <a:spcBef>
                          <a:spcPts val="60"/>
                        </a:spcBef>
                      </a:pPr>
                      <a:r>
                        <a:rPr sz="1400" b="1" spc="-10" dirty="0">
                          <a:solidFill>
                            <a:schemeClr val="bg1"/>
                          </a:solidFill>
                          <a:latin typeface="Arial"/>
                          <a:cs typeface="Arial"/>
                        </a:rPr>
                        <a:t>Category</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304958">
                <a:tc>
                  <a:txBody>
                    <a:bodyPr/>
                    <a:lstStyle/>
                    <a:p>
                      <a:pPr marL="1905"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dirty="0">
                          <a:latin typeface="Arial MT"/>
                          <a:cs typeface="Arial MT"/>
                        </a:rPr>
                        <a:t>Sunglases</a:t>
                      </a:r>
                      <a:r>
                        <a:rPr sz="1400" spc="-55" dirty="0">
                          <a:latin typeface="Arial MT"/>
                          <a:cs typeface="Arial MT"/>
                        </a:rPr>
                        <a:t> </a:t>
                      </a:r>
                      <a:r>
                        <a:rPr sz="1400" dirty="0">
                          <a:latin typeface="Arial MT"/>
                          <a:cs typeface="Arial MT"/>
                        </a:rPr>
                        <a:t>TR-</a:t>
                      </a:r>
                      <a:r>
                        <a:rPr sz="1400" spc="-50" dirty="0">
                          <a:latin typeface="Arial MT"/>
                          <a:cs typeface="Arial MT"/>
                        </a:rPr>
                        <a:t>7</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10" dirty="0">
                          <a:latin typeface="Arial MT"/>
                          <a:cs typeface="Arial MT"/>
                        </a:rPr>
                        <a:t>Assecoirs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305978">
                <a:tc>
                  <a:txBody>
                    <a:bodyPr/>
                    <a:lstStyle/>
                    <a:p>
                      <a:pPr marL="1905"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Chocolate </a:t>
                      </a:r>
                      <a:r>
                        <a:rPr sz="1400" dirty="0">
                          <a:latin typeface="Arial MT"/>
                          <a:cs typeface="Arial MT"/>
                        </a:rPr>
                        <a:t>bar 70%</a:t>
                      </a:r>
                      <a:r>
                        <a:rPr sz="1400" spc="5" dirty="0">
                          <a:latin typeface="Arial MT"/>
                          <a:cs typeface="Arial MT"/>
                        </a:rPr>
                        <a:t> </a:t>
                      </a:r>
                      <a:r>
                        <a:rPr sz="1400" spc="-10" dirty="0">
                          <a:latin typeface="Arial MT"/>
                          <a:cs typeface="Arial MT"/>
                        </a:rPr>
                        <a:t>cacao</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10" dirty="0">
                          <a:latin typeface="Arial MT"/>
                          <a:cs typeface="Arial MT"/>
                        </a:rPr>
                        <a:t>Sweets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305978">
                <a:tc>
                  <a:txBody>
                    <a:bodyPr/>
                    <a:lstStyle/>
                    <a:p>
                      <a:pPr marL="1905" algn="ctr">
                        <a:lnSpc>
                          <a:spcPct val="10000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dirty="0">
                          <a:latin typeface="Arial MT"/>
                          <a:cs typeface="Arial MT"/>
                        </a:rPr>
                        <a:t>Oat</a:t>
                      </a:r>
                      <a:r>
                        <a:rPr sz="1400" spc="-25" dirty="0">
                          <a:latin typeface="Arial MT"/>
                          <a:cs typeface="Arial MT"/>
                        </a:rPr>
                        <a:t> </a:t>
                      </a:r>
                      <a:r>
                        <a:rPr sz="1400" dirty="0">
                          <a:latin typeface="Arial MT"/>
                          <a:cs typeface="Arial MT"/>
                        </a:rPr>
                        <a:t>meal</a:t>
                      </a:r>
                      <a:r>
                        <a:rPr sz="1400" spc="-35" dirty="0">
                          <a:latin typeface="Arial MT"/>
                          <a:cs typeface="Arial MT"/>
                        </a:rPr>
                        <a:t> </a:t>
                      </a:r>
                      <a:r>
                        <a:rPr sz="1400" spc="-10" dirty="0">
                          <a:latin typeface="Arial MT"/>
                          <a:cs typeface="Arial MT"/>
                        </a:rPr>
                        <a:t>biscuits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10" dirty="0">
                          <a:latin typeface="Arial MT"/>
                          <a:cs typeface="Arial MT"/>
                        </a:rPr>
                        <a:t>Sweets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305978">
                <a:tc>
                  <a:txBody>
                    <a:bodyPr/>
                    <a:lstStyle/>
                    <a:p>
                      <a:pPr marL="1905" algn="ctr">
                        <a:lnSpc>
                          <a:spcPct val="100000"/>
                        </a:lnSpc>
                        <a:spcBef>
                          <a:spcPts val="225"/>
                        </a:spcBef>
                      </a:pPr>
                      <a:r>
                        <a:rPr sz="1400" spc="-50" dirty="0">
                          <a:solidFill>
                            <a:srgbClr val="008BBE"/>
                          </a:solidFill>
                          <a:latin typeface="Arial MT"/>
                          <a:cs typeface="Arial MT"/>
                        </a:rPr>
                        <a:t>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dirty="0">
                          <a:solidFill>
                            <a:srgbClr val="008BBE"/>
                          </a:solidFill>
                          <a:latin typeface="Arial MT"/>
                          <a:cs typeface="Arial MT"/>
                        </a:rPr>
                        <a:t>Delicious</a:t>
                      </a:r>
                      <a:r>
                        <a:rPr sz="1400" spc="-50" dirty="0">
                          <a:solidFill>
                            <a:srgbClr val="008BBE"/>
                          </a:solidFill>
                          <a:latin typeface="Arial MT"/>
                          <a:cs typeface="Arial MT"/>
                        </a:rPr>
                        <a:t> </a:t>
                      </a:r>
                      <a:r>
                        <a:rPr sz="1400" dirty="0">
                          <a:solidFill>
                            <a:srgbClr val="008BBE"/>
                          </a:solidFill>
                          <a:latin typeface="Arial MT"/>
                          <a:cs typeface="Arial MT"/>
                        </a:rPr>
                        <a:t>Oat</a:t>
                      </a:r>
                      <a:r>
                        <a:rPr sz="1400" spc="-25" dirty="0">
                          <a:solidFill>
                            <a:srgbClr val="008BBE"/>
                          </a:solidFill>
                          <a:latin typeface="Arial MT"/>
                          <a:cs typeface="Arial MT"/>
                        </a:rPr>
                        <a:t> </a:t>
                      </a:r>
                      <a:r>
                        <a:rPr sz="1400" dirty="0">
                          <a:solidFill>
                            <a:srgbClr val="008BBE"/>
                          </a:solidFill>
                          <a:latin typeface="Arial MT"/>
                          <a:cs typeface="Arial MT"/>
                        </a:rPr>
                        <a:t>meal</a:t>
                      </a:r>
                      <a:r>
                        <a:rPr sz="1400" spc="-40" dirty="0">
                          <a:solidFill>
                            <a:srgbClr val="008BBE"/>
                          </a:solidFill>
                          <a:latin typeface="Arial MT"/>
                          <a:cs typeface="Arial MT"/>
                        </a:rPr>
                        <a:t> </a:t>
                      </a:r>
                      <a:r>
                        <a:rPr sz="1400" spc="-10" dirty="0">
                          <a:solidFill>
                            <a:srgbClr val="008BBE"/>
                          </a:solidFill>
                          <a:latin typeface="Arial MT"/>
                          <a:cs typeface="Arial MT"/>
                        </a:rPr>
                        <a:t>biscuits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solidFill>
                            <a:srgbClr val="008BBE"/>
                          </a:solidFill>
                          <a:latin typeface="Arial MT"/>
                          <a:cs typeface="Arial MT"/>
                        </a:rPr>
                        <a:t>Buscuits</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bl>
          </a:graphicData>
        </a:graphic>
      </p:graphicFrame>
      <p:graphicFrame>
        <p:nvGraphicFramePr>
          <p:cNvPr id="4" name="object 4"/>
          <p:cNvGraphicFramePr>
            <a:graphicFrameLocks noGrp="1"/>
          </p:cNvGraphicFramePr>
          <p:nvPr>
            <p:extLst>
              <p:ext uri="{D42A27DB-BD31-4B8C-83A1-F6EECF244321}">
                <p14:modId xmlns:p14="http://schemas.microsoft.com/office/powerpoint/2010/main" val="540408008"/>
              </p:ext>
            </p:extLst>
          </p:nvPr>
        </p:nvGraphicFramePr>
        <p:xfrm>
          <a:off x="712049" y="1933787"/>
          <a:ext cx="5383951" cy="1495213"/>
        </p:xfrm>
        <a:graphic>
          <a:graphicData uri="http://schemas.openxmlformats.org/drawingml/2006/table">
            <a:tbl>
              <a:tblPr firstRow="1" bandRow="1">
                <a:tableStyleId>{2D5ABB26-0587-4C30-8999-92F81FD0307C}</a:tableStyleId>
              </a:tblPr>
              <a:tblGrid>
                <a:gridCol w="933027">
                  <a:extLst>
                    <a:ext uri="{9D8B030D-6E8A-4147-A177-3AD203B41FA5}">
                      <a16:colId xmlns:a16="http://schemas.microsoft.com/office/drawing/2014/main" val="20000"/>
                    </a:ext>
                  </a:extLst>
                </a:gridCol>
                <a:gridCol w="2089573">
                  <a:extLst>
                    <a:ext uri="{9D8B030D-6E8A-4147-A177-3AD203B41FA5}">
                      <a16:colId xmlns:a16="http://schemas.microsoft.com/office/drawing/2014/main" val="20001"/>
                    </a:ext>
                  </a:extLst>
                </a:gridCol>
                <a:gridCol w="1038859">
                  <a:extLst>
                    <a:ext uri="{9D8B030D-6E8A-4147-A177-3AD203B41FA5}">
                      <a16:colId xmlns:a16="http://schemas.microsoft.com/office/drawing/2014/main" val="20002"/>
                    </a:ext>
                  </a:extLst>
                </a:gridCol>
                <a:gridCol w="1322492">
                  <a:extLst>
                    <a:ext uri="{9D8B030D-6E8A-4147-A177-3AD203B41FA5}">
                      <a16:colId xmlns:a16="http://schemas.microsoft.com/office/drawing/2014/main" val="20003"/>
                    </a:ext>
                  </a:extLst>
                </a:gridCol>
              </a:tblGrid>
              <a:tr h="226060">
                <a:tc>
                  <a:txBody>
                    <a:bodyPr/>
                    <a:lstStyle/>
                    <a:p>
                      <a:pPr marL="1270" algn="ctr">
                        <a:lnSpc>
                          <a:spcPct val="100000"/>
                        </a:lnSpc>
                        <a:spcBef>
                          <a:spcPts val="60"/>
                        </a:spcBef>
                      </a:pPr>
                      <a:r>
                        <a:rPr sz="1400" b="1" spc="-10" dirty="0">
                          <a:solidFill>
                            <a:schemeClr val="bg1"/>
                          </a:solidFill>
                          <a:latin typeface="Arial"/>
                          <a:cs typeface="Arial"/>
                        </a:rPr>
                        <a:t>Sales_Key</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270" algn="ctr">
                        <a:lnSpc>
                          <a:spcPct val="100000"/>
                        </a:lnSpc>
                        <a:spcBef>
                          <a:spcPts val="60"/>
                        </a:spcBef>
                      </a:pPr>
                      <a:r>
                        <a:rPr sz="1400" b="1" spc="-20" dirty="0">
                          <a:solidFill>
                            <a:schemeClr val="bg1"/>
                          </a:solidFill>
                          <a:latin typeface="Arial"/>
                          <a:cs typeface="Arial"/>
                        </a:rPr>
                        <a:t>Name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270" algn="ctr">
                        <a:lnSpc>
                          <a:spcPct val="100000"/>
                        </a:lnSpc>
                        <a:spcBef>
                          <a:spcPts val="60"/>
                        </a:spcBef>
                      </a:pPr>
                      <a:r>
                        <a:rPr sz="1400" b="1" spc="-10" dirty="0">
                          <a:solidFill>
                            <a:schemeClr val="bg1"/>
                          </a:solidFill>
                          <a:latin typeface="Arial"/>
                          <a:cs typeface="Arial"/>
                        </a:rPr>
                        <a:t>Product_FK</a:t>
                      </a:r>
                      <a:endParaRPr sz="140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905" algn="ctr">
                        <a:lnSpc>
                          <a:spcPct val="100000"/>
                        </a:lnSpc>
                        <a:spcBef>
                          <a:spcPts val="60"/>
                        </a:spcBef>
                      </a:pPr>
                      <a:r>
                        <a:rPr sz="1400" b="1" spc="-10" dirty="0">
                          <a:solidFill>
                            <a:schemeClr val="bg1"/>
                          </a:solidFill>
                          <a:latin typeface="Arial"/>
                          <a:cs typeface="Arial"/>
                        </a:rPr>
                        <a:t>Amount</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dirty="0">
                          <a:latin typeface="Arial MT"/>
                          <a:cs typeface="Arial MT"/>
                        </a:rPr>
                        <a:t>Sunglases</a:t>
                      </a:r>
                      <a:r>
                        <a:rPr sz="1400" spc="-55" dirty="0">
                          <a:latin typeface="Arial MT"/>
                          <a:cs typeface="Arial MT"/>
                        </a:rPr>
                        <a:t> </a:t>
                      </a:r>
                      <a:r>
                        <a:rPr sz="1400" dirty="0">
                          <a:latin typeface="Arial MT"/>
                          <a:cs typeface="Arial MT"/>
                        </a:rPr>
                        <a:t>TR-</a:t>
                      </a:r>
                      <a:r>
                        <a:rPr sz="1400" spc="-50" dirty="0">
                          <a:latin typeface="Arial MT"/>
                          <a:cs typeface="Arial MT"/>
                        </a:rPr>
                        <a:t>7</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50" dirty="0">
                          <a:latin typeface="Arial MT"/>
                          <a:cs typeface="Arial MT"/>
                        </a:rPr>
                        <a:t>1</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25" dirty="0">
                          <a:latin typeface="Arial MT"/>
                          <a:cs typeface="Arial MT"/>
                        </a:rPr>
                        <a:t>$25</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3153">
                <a:tc>
                  <a:txBody>
                    <a:bodyPr/>
                    <a:lstStyle/>
                    <a:p>
                      <a:pPr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Chocolate </a:t>
                      </a:r>
                      <a:r>
                        <a:rPr sz="1400" dirty="0">
                          <a:latin typeface="Arial MT"/>
                          <a:cs typeface="Arial MT"/>
                        </a:rPr>
                        <a:t>bar 70%</a:t>
                      </a:r>
                      <a:r>
                        <a:rPr sz="1400" spc="5" dirty="0">
                          <a:latin typeface="Arial MT"/>
                          <a:cs typeface="Arial MT"/>
                        </a:rPr>
                        <a:t> </a:t>
                      </a:r>
                      <a:r>
                        <a:rPr sz="1400" spc="-10" dirty="0">
                          <a:latin typeface="Arial MT"/>
                          <a:cs typeface="Arial MT"/>
                        </a:rPr>
                        <a:t>cacao</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25"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algn="ctr">
                        <a:lnSpc>
                          <a:spcPct val="10000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dirty="0">
                          <a:latin typeface="Arial MT"/>
                          <a:cs typeface="Arial MT"/>
                        </a:rPr>
                        <a:t>Oat</a:t>
                      </a:r>
                      <a:r>
                        <a:rPr sz="1400" spc="-20" dirty="0">
                          <a:latin typeface="Arial MT"/>
                          <a:cs typeface="Arial MT"/>
                        </a:rPr>
                        <a:t> </a:t>
                      </a:r>
                      <a:r>
                        <a:rPr sz="1400" dirty="0">
                          <a:latin typeface="Arial MT"/>
                          <a:cs typeface="Arial MT"/>
                        </a:rPr>
                        <a:t>meal</a:t>
                      </a:r>
                      <a:r>
                        <a:rPr sz="1400" spc="-30" dirty="0">
                          <a:latin typeface="Arial MT"/>
                          <a:cs typeface="Arial MT"/>
                        </a:rPr>
                        <a:t> </a:t>
                      </a:r>
                      <a:r>
                        <a:rPr sz="1400" spc="-10" dirty="0">
                          <a:latin typeface="Arial MT"/>
                          <a:cs typeface="Arial MT"/>
                        </a:rPr>
                        <a:t>biscuits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25" dirty="0">
                          <a:latin typeface="Arial MT"/>
                          <a:cs typeface="Arial MT"/>
                        </a:rPr>
                        <a:t>$4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algn="ctr">
                        <a:lnSpc>
                          <a:spcPct val="100000"/>
                        </a:lnSpc>
                        <a:spcBef>
                          <a:spcPts val="225"/>
                        </a:spcBef>
                      </a:pPr>
                      <a:r>
                        <a:rPr sz="1400" spc="-50" dirty="0">
                          <a:latin typeface="Arial MT"/>
                          <a:cs typeface="Arial MT"/>
                        </a:rPr>
                        <a:t>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Chocolate </a:t>
                      </a:r>
                      <a:r>
                        <a:rPr sz="1400" dirty="0">
                          <a:latin typeface="Arial MT"/>
                          <a:cs typeface="Arial MT"/>
                        </a:rPr>
                        <a:t>bar 70%</a:t>
                      </a:r>
                      <a:r>
                        <a:rPr sz="1400" spc="5" dirty="0">
                          <a:latin typeface="Arial MT"/>
                          <a:cs typeface="Arial MT"/>
                        </a:rPr>
                        <a:t> </a:t>
                      </a:r>
                      <a:r>
                        <a:rPr sz="1400" spc="-10" dirty="0">
                          <a:latin typeface="Arial MT"/>
                          <a:cs typeface="Arial MT"/>
                        </a:rPr>
                        <a:t>cacao</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25" dirty="0">
                          <a:latin typeface="Arial MT"/>
                          <a:cs typeface="Arial MT"/>
                        </a:rPr>
                        <a:t>$3</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54000">
                <a:tc>
                  <a:txBody>
                    <a:bodyPr/>
                    <a:lstStyle/>
                    <a:p>
                      <a:pPr algn="ctr">
                        <a:lnSpc>
                          <a:spcPct val="100000"/>
                        </a:lnSpc>
                        <a:spcBef>
                          <a:spcPts val="225"/>
                        </a:spcBef>
                      </a:pPr>
                      <a:r>
                        <a:rPr sz="1400" spc="-50" dirty="0">
                          <a:latin typeface="Arial MT"/>
                          <a:cs typeface="Arial MT"/>
                        </a:rPr>
                        <a:t>5</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66D5FF"/>
                    </a:solidFill>
                  </a:tcPr>
                </a:tc>
                <a:tc>
                  <a:txBody>
                    <a:bodyPr/>
                    <a:lstStyle/>
                    <a:p>
                      <a:pPr marL="635" algn="ctr">
                        <a:lnSpc>
                          <a:spcPct val="100000"/>
                        </a:lnSpc>
                        <a:spcBef>
                          <a:spcPts val="225"/>
                        </a:spcBef>
                      </a:pPr>
                      <a:r>
                        <a:rPr sz="1400" dirty="0">
                          <a:latin typeface="Arial MT"/>
                          <a:cs typeface="Arial MT"/>
                        </a:rPr>
                        <a:t>Oat</a:t>
                      </a:r>
                      <a:r>
                        <a:rPr sz="1400" spc="-20" dirty="0">
                          <a:latin typeface="Arial MT"/>
                          <a:cs typeface="Arial MT"/>
                        </a:rPr>
                        <a:t> </a:t>
                      </a:r>
                      <a:r>
                        <a:rPr sz="1400" dirty="0">
                          <a:latin typeface="Arial MT"/>
                          <a:cs typeface="Arial MT"/>
                        </a:rPr>
                        <a:t>meal</a:t>
                      </a:r>
                      <a:r>
                        <a:rPr sz="1400" spc="-30" dirty="0">
                          <a:latin typeface="Arial MT"/>
                          <a:cs typeface="Arial MT"/>
                        </a:rPr>
                        <a:t> </a:t>
                      </a:r>
                      <a:r>
                        <a:rPr sz="1400" spc="-10" dirty="0">
                          <a:latin typeface="Arial MT"/>
                          <a:cs typeface="Arial MT"/>
                        </a:rPr>
                        <a:t>biscuits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66D5FF"/>
                    </a:solidFill>
                  </a:tcPr>
                </a:tc>
                <a:tc>
                  <a:txBody>
                    <a:bodyPr/>
                    <a:lstStyle/>
                    <a:p>
                      <a:pPr algn="ctr">
                        <a:lnSpc>
                          <a:spcPct val="100000"/>
                        </a:lnSpc>
                        <a:spcBef>
                          <a:spcPts val="225"/>
                        </a:spcBef>
                      </a:pPr>
                      <a:r>
                        <a:rPr sz="1400" spc="-50" dirty="0">
                          <a:latin typeface="Arial MT"/>
                          <a:cs typeface="Arial MT"/>
                        </a:rPr>
                        <a:t>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66D5FF"/>
                    </a:solidFill>
                  </a:tcPr>
                </a:tc>
                <a:tc>
                  <a:txBody>
                    <a:bodyPr/>
                    <a:lstStyle/>
                    <a:p>
                      <a:pPr marL="1905" algn="ctr">
                        <a:lnSpc>
                          <a:spcPct val="100000"/>
                        </a:lnSpc>
                        <a:spcBef>
                          <a:spcPts val="225"/>
                        </a:spcBef>
                      </a:pPr>
                      <a:r>
                        <a:rPr sz="1400" spc="-25" dirty="0">
                          <a:latin typeface="Arial MT"/>
                          <a:cs typeface="Arial MT"/>
                        </a:rPr>
                        <a:t>$4</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66D5FF"/>
                    </a:solidFill>
                  </a:tcPr>
                </a:tc>
                <a:extLst>
                  <a:ext uri="{0D108BD9-81ED-4DB2-BD59-A6C34878D82A}">
                    <a16:rowId xmlns:a16="http://schemas.microsoft.com/office/drawing/2014/main" val="10005"/>
                  </a:ext>
                </a:extLst>
              </a:tr>
            </a:tbl>
          </a:graphicData>
        </a:graphic>
      </p:graphicFrame>
      <p:graphicFrame>
        <p:nvGraphicFramePr>
          <p:cNvPr id="5" name="object 5"/>
          <p:cNvGraphicFramePr>
            <a:graphicFrameLocks noGrp="1"/>
          </p:cNvGraphicFramePr>
          <p:nvPr>
            <p:extLst>
              <p:ext uri="{D42A27DB-BD31-4B8C-83A1-F6EECF244321}">
                <p14:modId xmlns:p14="http://schemas.microsoft.com/office/powerpoint/2010/main" val="3343622862"/>
              </p:ext>
            </p:extLst>
          </p:nvPr>
        </p:nvGraphicFramePr>
        <p:xfrm>
          <a:off x="5140281" y="4233334"/>
          <a:ext cx="2166454" cy="1044343"/>
        </p:xfrm>
        <a:graphic>
          <a:graphicData uri="http://schemas.openxmlformats.org/drawingml/2006/table">
            <a:tbl>
              <a:tblPr firstRow="1" bandRow="1">
                <a:tableStyleId>{2D5ABB26-0587-4C30-8999-92F81FD0307C}</a:tableStyleId>
              </a:tblPr>
              <a:tblGrid>
                <a:gridCol w="1083227">
                  <a:extLst>
                    <a:ext uri="{9D8B030D-6E8A-4147-A177-3AD203B41FA5}">
                      <a16:colId xmlns:a16="http://schemas.microsoft.com/office/drawing/2014/main" val="20000"/>
                    </a:ext>
                  </a:extLst>
                </a:gridCol>
                <a:gridCol w="1083227">
                  <a:extLst>
                    <a:ext uri="{9D8B030D-6E8A-4147-A177-3AD203B41FA5}">
                      <a16:colId xmlns:a16="http://schemas.microsoft.com/office/drawing/2014/main" val="20001"/>
                    </a:ext>
                  </a:extLst>
                </a:gridCol>
              </a:tblGrid>
              <a:tr h="238246">
                <a:tc>
                  <a:txBody>
                    <a:bodyPr/>
                    <a:lstStyle/>
                    <a:p>
                      <a:pPr marL="5080" algn="ctr">
                        <a:lnSpc>
                          <a:spcPct val="100000"/>
                        </a:lnSpc>
                        <a:spcBef>
                          <a:spcPts val="65"/>
                        </a:spcBef>
                      </a:pPr>
                      <a:r>
                        <a:rPr sz="1400" b="1" spc="-10" dirty="0">
                          <a:latin typeface="Arial"/>
                          <a:cs typeface="Arial"/>
                        </a:rPr>
                        <a:t>Category</a:t>
                      </a:r>
                      <a:endParaRPr sz="1400">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2540" algn="ctr">
                        <a:lnSpc>
                          <a:spcPct val="100000"/>
                        </a:lnSpc>
                        <a:spcBef>
                          <a:spcPts val="65"/>
                        </a:spcBef>
                      </a:pPr>
                      <a:r>
                        <a:rPr sz="1400" b="1" spc="-10" dirty="0">
                          <a:latin typeface="Arial"/>
                          <a:cs typeface="Arial"/>
                        </a:rPr>
                        <a:t>Amount</a:t>
                      </a:r>
                      <a:endParaRPr sz="1400">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68699">
                <a:tc>
                  <a:txBody>
                    <a:bodyPr/>
                    <a:lstStyle/>
                    <a:p>
                      <a:pPr marL="1905" algn="ctr">
                        <a:lnSpc>
                          <a:spcPct val="100000"/>
                        </a:lnSpc>
                        <a:spcBef>
                          <a:spcPts val="229"/>
                        </a:spcBef>
                      </a:pPr>
                      <a:r>
                        <a:rPr sz="1400" spc="-10" dirty="0">
                          <a:latin typeface="Arial MT"/>
                          <a:cs typeface="Arial MT"/>
                        </a:rPr>
                        <a:t>Assecoirs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9"/>
                        </a:spcBef>
                      </a:pPr>
                      <a:r>
                        <a:rPr sz="1400" spc="-25" dirty="0">
                          <a:latin typeface="Arial MT"/>
                          <a:cs typeface="Arial MT"/>
                        </a:rPr>
                        <a:t>$25</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68699">
                <a:tc>
                  <a:txBody>
                    <a:bodyPr/>
                    <a:lstStyle/>
                    <a:p>
                      <a:pPr marL="1905" algn="ctr">
                        <a:lnSpc>
                          <a:spcPct val="100000"/>
                        </a:lnSpc>
                        <a:spcBef>
                          <a:spcPts val="229"/>
                        </a:spcBef>
                      </a:pPr>
                      <a:r>
                        <a:rPr sz="1400" spc="-10" dirty="0">
                          <a:latin typeface="Arial MT"/>
                          <a:cs typeface="Arial MT"/>
                        </a:rPr>
                        <a:t>Sweets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25" dirty="0">
                          <a:latin typeface="Arial MT"/>
                          <a:cs typeface="Arial MT"/>
                        </a:rPr>
                        <a:t>$3</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68699">
                <a:tc>
                  <a:txBody>
                    <a:bodyPr/>
                    <a:lstStyle/>
                    <a:p>
                      <a:pPr marL="635" algn="ctr">
                        <a:lnSpc>
                          <a:spcPct val="100000"/>
                        </a:lnSpc>
                        <a:spcBef>
                          <a:spcPts val="229"/>
                        </a:spcBef>
                      </a:pPr>
                      <a:r>
                        <a:rPr sz="1400" spc="-10" dirty="0">
                          <a:latin typeface="Arial MT"/>
                          <a:cs typeface="Arial MT"/>
                        </a:rPr>
                        <a:t>Buscuits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9"/>
                        </a:spcBef>
                      </a:pPr>
                      <a:r>
                        <a:rPr sz="1400" spc="-25" dirty="0">
                          <a:latin typeface="Arial MT"/>
                          <a:cs typeface="Arial MT"/>
                        </a:rPr>
                        <a:t>$4</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grpSp>
        <p:nvGrpSpPr>
          <p:cNvPr id="6" name="object 6"/>
          <p:cNvGrpSpPr/>
          <p:nvPr/>
        </p:nvGrpSpPr>
        <p:grpSpPr>
          <a:xfrm>
            <a:off x="987551" y="4143247"/>
            <a:ext cx="4197096" cy="1616489"/>
            <a:chOff x="740663" y="3107435"/>
            <a:chExt cx="3147822" cy="1212367"/>
          </a:xfrm>
        </p:grpSpPr>
        <p:pic>
          <p:nvPicPr>
            <p:cNvPr id="7" name="object 7"/>
            <p:cNvPicPr/>
            <p:nvPr/>
          </p:nvPicPr>
          <p:blipFill>
            <a:blip r:embed="rId2" cstate="print"/>
            <a:stretch>
              <a:fillRect/>
            </a:stretch>
          </p:blipFill>
          <p:spPr>
            <a:xfrm>
              <a:off x="740663" y="3107435"/>
              <a:ext cx="3147822" cy="1212367"/>
            </a:xfrm>
            <a:prstGeom prst="rect">
              <a:avLst/>
            </a:prstGeom>
          </p:spPr>
        </p:pic>
        <p:sp>
          <p:nvSpPr>
            <p:cNvPr id="9" name="object 9"/>
            <p:cNvSpPr/>
            <p:nvPr/>
          </p:nvSpPr>
          <p:spPr>
            <a:xfrm>
              <a:off x="1067561" y="3262121"/>
              <a:ext cx="2514600" cy="581025"/>
            </a:xfrm>
            <a:custGeom>
              <a:avLst/>
              <a:gdLst/>
              <a:ahLst/>
              <a:cxnLst/>
              <a:rect l="l" t="t" r="r" b="b"/>
              <a:pathLst>
                <a:path w="2514600" h="581025">
                  <a:moveTo>
                    <a:pt x="0" y="290321"/>
                  </a:moveTo>
                  <a:lnTo>
                    <a:pt x="145160" y="0"/>
                  </a:lnTo>
                  <a:lnTo>
                    <a:pt x="2369439" y="0"/>
                  </a:lnTo>
                  <a:lnTo>
                    <a:pt x="2514600" y="290321"/>
                  </a:lnTo>
                  <a:lnTo>
                    <a:pt x="2369439" y="580643"/>
                  </a:lnTo>
                  <a:lnTo>
                    <a:pt x="145160" y="580643"/>
                  </a:lnTo>
                  <a:lnTo>
                    <a:pt x="0" y="290321"/>
                  </a:lnTo>
                  <a:close/>
                </a:path>
              </a:pathLst>
            </a:custGeom>
            <a:ln w="19812">
              <a:solidFill>
                <a:srgbClr val="00C3FF"/>
              </a:solidFill>
            </a:ln>
          </p:spPr>
          <p:txBody>
            <a:bodyPr wrap="square" lIns="0" tIns="0" rIns="0" bIns="0" rtlCol="0"/>
            <a:lstStyle/>
            <a:p>
              <a:endParaRPr sz="2400"/>
            </a:p>
          </p:txBody>
        </p:sp>
      </p:grpSp>
      <p:sp>
        <p:nvSpPr>
          <p:cNvPr id="10" name="object 10"/>
          <p:cNvSpPr txBox="1"/>
          <p:nvPr/>
        </p:nvSpPr>
        <p:spPr>
          <a:xfrm>
            <a:off x="1787481" y="4495292"/>
            <a:ext cx="2629747" cy="427532"/>
          </a:xfrm>
          <a:prstGeom prst="rect">
            <a:avLst/>
          </a:prstGeom>
        </p:spPr>
        <p:txBody>
          <a:bodyPr vert="horz" wrap="square" lIns="0" tIns="16933" rIns="0" bIns="0" rtlCol="0">
            <a:spAutoFit/>
          </a:bodyPr>
          <a:lstStyle/>
          <a:p>
            <a:pPr marL="16933">
              <a:spcBef>
                <a:spcPts val="133"/>
              </a:spcBef>
            </a:pPr>
            <a:r>
              <a:rPr sz="2667" b="1" dirty="0">
                <a:solidFill>
                  <a:srgbClr val="CCEAFF"/>
                </a:solidFill>
                <a:latin typeface="Calibri"/>
                <a:cs typeface="Calibri"/>
              </a:rPr>
              <a:t>Respecting</a:t>
            </a:r>
            <a:r>
              <a:rPr sz="2667" b="1" spc="-113" dirty="0">
                <a:solidFill>
                  <a:srgbClr val="CCEAFF"/>
                </a:solidFill>
                <a:latin typeface="Calibri"/>
                <a:cs typeface="Calibri"/>
              </a:rPr>
              <a:t> </a:t>
            </a:r>
            <a:r>
              <a:rPr sz="2667" b="1" spc="-13" dirty="0">
                <a:solidFill>
                  <a:srgbClr val="CCEAFF"/>
                </a:solidFill>
                <a:latin typeface="Calibri"/>
                <a:cs typeface="Calibri"/>
              </a:rPr>
              <a:t>history</a:t>
            </a:r>
            <a:endParaRPr sz="2667">
              <a:latin typeface="Calibri"/>
              <a:cs typeface="Calibri"/>
            </a:endParaRPr>
          </a:p>
        </p:txBody>
      </p:sp>
      <p:grpSp>
        <p:nvGrpSpPr>
          <p:cNvPr id="11" name="object 11"/>
          <p:cNvGrpSpPr/>
          <p:nvPr/>
        </p:nvGrpSpPr>
        <p:grpSpPr>
          <a:xfrm>
            <a:off x="7534655" y="4082288"/>
            <a:ext cx="4104640" cy="1361440"/>
            <a:chOff x="5650991" y="3061716"/>
            <a:chExt cx="3078480" cy="1021080"/>
          </a:xfrm>
        </p:grpSpPr>
        <p:pic>
          <p:nvPicPr>
            <p:cNvPr id="12" name="object 12"/>
            <p:cNvPicPr/>
            <p:nvPr/>
          </p:nvPicPr>
          <p:blipFill>
            <a:blip r:embed="rId3" cstate="print"/>
            <a:stretch>
              <a:fillRect/>
            </a:stretch>
          </p:blipFill>
          <p:spPr>
            <a:xfrm>
              <a:off x="5667755" y="3061716"/>
              <a:ext cx="3061716" cy="1021067"/>
            </a:xfrm>
            <a:prstGeom prst="rect">
              <a:avLst/>
            </a:prstGeom>
          </p:spPr>
        </p:pic>
        <p:pic>
          <p:nvPicPr>
            <p:cNvPr id="13" name="object 13"/>
            <p:cNvPicPr/>
            <p:nvPr/>
          </p:nvPicPr>
          <p:blipFill>
            <a:blip r:embed="rId4" cstate="print"/>
            <a:stretch>
              <a:fillRect/>
            </a:stretch>
          </p:blipFill>
          <p:spPr>
            <a:xfrm>
              <a:off x="5650991" y="3180588"/>
              <a:ext cx="2863595" cy="873252"/>
            </a:xfrm>
            <a:prstGeom prst="rect">
              <a:avLst/>
            </a:prstGeom>
          </p:spPr>
        </p:pic>
      </p:grpSp>
      <p:sp>
        <p:nvSpPr>
          <p:cNvPr id="14" name="object 14"/>
          <p:cNvSpPr txBox="1"/>
          <p:nvPr/>
        </p:nvSpPr>
        <p:spPr>
          <a:xfrm>
            <a:off x="7620000" y="4114801"/>
            <a:ext cx="3962400" cy="1042038"/>
          </a:xfrm>
          <a:prstGeom prst="rect">
            <a:avLst/>
          </a:prstGeom>
          <a:noFill/>
          <a:ln w="9144">
            <a:noFill/>
          </a:ln>
        </p:spPr>
        <p:txBody>
          <a:bodyPr vert="horz" wrap="square" lIns="0" tIns="216747" rIns="0" bIns="0" rtlCol="0">
            <a:spAutoFit/>
          </a:bodyPr>
          <a:lstStyle/>
          <a:p>
            <a:pPr marL="503754" indent="-380990">
              <a:spcBef>
                <a:spcPts val="1707"/>
              </a:spcBef>
              <a:buClr>
                <a:srgbClr val="99D3FF"/>
              </a:buClr>
              <a:buFont typeface="Wingdings"/>
              <a:buChar char=""/>
              <a:tabLst>
                <a:tab pos="503754" algn="l"/>
              </a:tabLst>
            </a:pPr>
            <a:r>
              <a:rPr sz="2133" b="1" dirty="0">
                <a:solidFill>
                  <a:srgbClr val="D9D9D9"/>
                </a:solidFill>
                <a:latin typeface="Calibri"/>
                <a:cs typeface="Calibri"/>
              </a:rPr>
              <a:t>No</a:t>
            </a:r>
            <a:r>
              <a:rPr sz="2133" b="1" spc="-27" dirty="0">
                <a:solidFill>
                  <a:srgbClr val="D9D9D9"/>
                </a:solidFill>
                <a:latin typeface="Calibri"/>
                <a:cs typeface="Calibri"/>
              </a:rPr>
              <a:t> </a:t>
            </a:r>
            <a:r>
              <a:rPr sz="2133" b="1" dirty="0">
                <a:solidFill>
                  <a:srgbClr val="D9D9D9"/>
                </a:solidFill>
                <a:latin typeface="Calibri"/>
                <a:cs typeface="Calibri"/>
              </a:rPr>
              <a:t>updates</a:t>
            </a:r>
            <a:r>
              <a:rPr sz="2133" b="1" spc="-20" dirty="0">
                <a:solidFill>
                  <a:srgbClr val="D9D9D9"/>
                </a:solidFill>
                <a:latin typeface="Calibri"/>
                <a:cs typeface="Calibri"/>
              </a:rPr>
              <a:t> </a:t>
            </a:r>
            <a:r>
              <a:rPr sz="2133" b="1" dirty="0">
                <a:solidFill>
                  <a:srgbClr val="D9D9D9"/>
                </a:solidFill>
                <a:latin typeface="Calibri"/>
                <a:cs typeface="Calibri"/>
              </a:rPr>
              <a:t>in</a:t>
            </a:r>
            <a:r>
              <a:rPr sz="2133" b="1" spc="-27" dirty="0">
                <a:solidFill>
                  <a:srgbClr val="D9D9D9"/>
                </a:solidFill>
                <a:latin typeface="Calibri"/>
                <a:cs typeface="Calibri"/>
              </a:rPr>
              <a:t> fact</a:t>
            </a:r>
            <a:endParaRPr sz="2133" dirty="0">
              <a:latin typeface="Calibri"/>
              <a:cs typeface="Calibri"/>
            </a:endParaRPr>
          </a:p>
          <a:p>
            <a:pPr marL="503754" indent="-380990">
              <a:spcBef>
                <a:spcPts val="1287"/>
              </a:spcBef>
              <a:buClr>
                <a:srgbClr val="99D3FF"/>
              </a:buClr>
              <a:buFont typeface="Wingdings"/>
              <a:buChar char=""/>
              <a:tabLst>
                <a:tab pos="503754" algn="l"/>
              </a:tabLst>
            </a:pPr>
            <a:r>
              <a:rPr sz="2133" b="1" dirty="0">
                <a:solidFill>
                  <a:srgbClr val="D9D9D9"/>
                </a:solidFill>
                <a:latin typeface="Calibri"/>
                <a:cs typeface="Calibri"/>
              </a:rPr>
              <a:t>From</a:t>
            </a:r>
            <a:r>
              <a:rPr sz="2133" b="1" spc="-27" dirty="0">
                <a:solidFill>
                  <a:srgbClr val="D9D9D9"/>
                </a:solidFill>
                <a:latin typeface="Calibri"/>
                <a:cs typeface="Calibri"/>
              </a:rPr>
              <a:t> </a:t>
            </a:r>
            <a:r>
              <a:rPr sz="2133" b="1" dirty="0">
                <a:solidFill>
                  <a:srgbClr val="D9D9D9"/>
                </a:solidFill>
                <a:latin typeface="Calibri"/>
                <a:cs typeface="Calibri"/>
              </a:rPr>
              <a:t>that</a:t>
            </a:r>
            <a:r>
              <a:rPr sz="2133" b="1" spc="-53" dirty="0">
                <a:solidFill>
                  <a:srgbClr val="D9D9D9"/>
                </a:solidFill>
                <a:latin typeface="Calibri"/>
                <a:cs typeface="Calibri"/>
              </a:rPr>
              <a:t> </a:t>
            </a:r>
            <a:r>
              <a:rPr sz="2133" b="1" dirty="0">
                <a:solidFill>
                  <a:srgbClr val="D9D9D9"/>
                </a:solidFill>
                <a:latin typeface="Calibri"/>
                <a:cs typeface="Calibri"/>
              </a:rPr>
              <a:t>moment</a:t>
            </a:r>
            <a:r>
              <a:rPr sz="2133" b="1" spc="-47" dirty="0">
                <a:solidFill>
                  <a:srgbClr val="D9D9D9"/>
                </a:solidFill>
                <a:latin typeface="Calibri"/>
                <a:cs typeface="Calibri"/>
              </a:rPr>
              <a:t> </a:t>
            </a:r>
            <a:r>
              <a:rPr sz="2133" b="1" dirty="0">
                <a:solidFill>
                  <a:srgbClr val="D9D9D9"/>
                </a:solidFill>
                <a:latin typeface="Calibri"/>
                <a:cs typeface="Calibri"/>
              </a:rPr>
              <a:t>new</a:t>
            </a:r>
            <a:r>
              <a:rPr sz="2133" b="1" spc="-40" dirty="0">
                <a:solidFill>
                  <a:srgbClr val="D9D9D9"/>
                </a:solidFill>
                <a:latin typeface="Calibri"/>
                <a:cs typeface="Calibri"/>
              </a:rPr>
              <a:t> </a:t>
            </a:r>
            <a:r>
              <a:rPr sz="2133" b="1" spc="-33" dirty="0">
                <a:solidFill>
                  <a:srgbClr val="D9D9D9"/>
                </a:solidFill>
                <a:latin typeface="Calibri"/>
                <a:cs typeface="Calibri"/>
              </a:rPr>
              <a:t>FK</a:t>
            </a:r>
            <a:endParaRPr sz="2133" dirty="0">
              <a:latin typeface="Calibri"/>
              <a:cs typeface="Calibri"/>
            </a:endParaRPr>
          </a:p>
        </p:txBody>
      </p:sp>
      <p:sp>
        <p:nvSpPr>
          <p:cNvPr id="17" name="object 5">
            <a:extLst>
              <a:ext uri="{FF2B5EF4-FFF2-40B4-BE49-F238E27FC236}">
                <a16:creationId xmlns:a16="http://schemas.microsoft.com/office/drawing/2014/main" id="{10C54A4E-B3F1-5DAC-B667-7DF1E7D7FD54}"/>
              </a:ext>
            </a:extLst>
          </p:cNvPr>
          <p:cNvSpPr txBox="1">
            <a:spLocks/>
          </p:cNvSpPr>
          <p:nvPr/>
        </p:nvSpPr>
        <p:spPr>
          <a:xfrm>
            <a:off x="3734455" y="172378"/>
            <a:ext cx="5330032" cy="695062"/>
          </a:xfrm>
          <a:prstGeom prst="rect">
            <a:avLst/>
          </a:prstGeom>
        </p:spPr>
        <p:txBody>
          <a:bodyPr vert="horz" wrap="square" lIns="0" tIns="1778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6933">
              <a:lnSpc>
                <a:spcPct val="100000"/>
              </a:lnSpc>
              <a:spcBef>
                <a:spcPts val="140"/>
              </a:spcBef>
            </a:pPr>
            <a:r>
              <a:rPr lang="en-IN">
                <a:solidFill>
                  <a:schemeClr val="bg1"/>
                </a:solidFill>
                <a:latin typeface="+mn-lt"/>
              </a:rPr>
              <a:t>Type</a:t>
            </a:r>
            <a:r>
              <a:rPr lang="en-IN" spc="-20">
                <a:solidFill>
                  <a:schemeClr val="bg1"/>
                </a:solidFill>
                <a:latin typeface="+mn-lt"/>
              </a:rPr>
              <a:t> </a:t>
            </a:r>
            <a:r>
              <a:rPr lang="en-IN">
                <a:solidFill>
                  <a:schemeClr val="bg1"/>
                </a:solidFill>
                <a:latin typeface="+mn-lt"/>
              </a:rPr>
              <a:t>2: New</a:t>
            </a:r>
            <a:r>
              <a:rPr lang="en-IN" spc="-40">
                <a:solidFill>
                  <a:schemeClr val="bg1"/>
                </a:solidFill>
                <a:latin typeface="+mn-lt"/>
              </a:rPr>
              <a:t> </a:t>
            </a:r>
            <a:r>
              <a:rPr lang="en-IN" spc="-33">
                <a:solidFill>
                  <a:schemeClr val="bg1"/>
                </a:solidFill>
                <a:latin typeface="+mn-lt"/>
              </a:rPr>
              <a:t>row</a:t>
            </a:r>
            <a:endParaRPr lang="en-IN" spc="-33" dirty="0">
              <a:solidFill>
                <a:schemeClr val="bg1"/>
              </a:solidFill>
              <a:latin typeface="+mn-lt"/>
            </a:endParaRPr>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extLst>
              <p:ext uri="{D42A27DB-BD31-4B8C-83A1-F6EECF244321}">
                <p14:modId xmlns:p14="http://schemas.microsoft.com/office/powerpoint/2010/main" val="3564007312"/>
              </p:ext>
            </p:extLst>
          </p:nvPr>
        </p:nvGraphicFramePr>
        <p:xfrm>
          <a:off x="4683870" y="1479581"/>
          <a:ext cx="6363207" cy="1387686"/>
        </p:xfrm>
        <a:graphic>
          <a:graphicData uri="http://schemas.openxmlformats.org/drawingml/2006/table">
            <a:tbl>
              <a:tblPr firstRow="1" bandRow="1">
                <a:tableStyleId>{2D5ABB26-0587-4C30-8999-92F81FD0307C}</a:tableStyleId>
              </a:tblPr>
              <a:tblGrid>
                <a:gridCol w="1426031">
                  <a:extLst>
                    <a:ext uri="{9D8B030D-6E8A-4147-A177-3AD203B41FA5}">
                      <a16:colId xmlns:a16="http://schemas.microsoft.com/office/drawing/2014/main" val="20000"/>
                    </a:ext>
                  </a:extLst>
                </a:gridCol>
                <a:gridCol w="1426031">
                  <a:extLst>
                    <a:ext uri="{9D8B030D-6E8A-4147-A177-3AD203B41FA5}">
                      <a16:colId xmlns:a16="http://schemas.microsoft.com/office/drawing/2014/main" val="20001"/>
                    </a:ext>
                  </a:extLst>
                </a:gridCol>
                <a:gridCol w="2353866">
                  <a:extLst>
                    <a:ext uri="{9D8B030D-6E8A-4147-A177-3AD203B41FA5}">
                      <a16:colId xmlns:a16="http://schemas.microsoft.com/office/drawing/2014/main" val="20002"/>
                    </a:ext>
                  </a:extLst>
                </a:gridCol>
                <a:gridCol w="1157279">
                  <a:extLst>
                    <a:ext uri="{9D8B030D-6E8A-4147-A177-3AD203B41FA5}">
                      <a16:colId xmlns:a16="http://schemas.microsoft.com/office/drawing/2014/main" val="20003"/>
                    </a:ext>
                  </a:extLst>
                </a:gridCol>
              </a:tblGrid>
              <a:tr h="251790">
                <a:tc>
                  <a:txBody>
                    <a:bodyPr/>
                    <a:lstStyle/>
                    <a:p>
                      <a:pPr marL="635" algn="ctr">
                        <a:lnSpc>
                          <a:spcPct val="100000"/>
                        </a:lnSpc>
                        <a:spcBef>
                          <a:spcPts val="55"/>
                        </a:spcBef>
                      </a:pPr>
                      <a:r>
                        <a:rPr sz="1400" b="1" spc="-10" dirty="0">
                          <a:solidFill>
                            <a:schemeClr val="bg1"/>
                          </a:solidFill>
                          <a:latin typeface="Arial"/>
                          <a:cs typeface="Arial"/>
                        </a:rPr>
                        <a:t>Product_PK</a:t>
                      </a:r>
                      <a:endParaRPr sz="1400" dirty="0">
                        <a:solidFill>
                          <a:schemeClr val="bg1"/>
                        </a:solidFill>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270" algn="ctr">
                        <a:lnSpc>
                          <a:spcPct val="100000"/>
                        </a:lnSpc>
                        <a:spcBef>
                          <a:spcPts val="55"/>
                        </a:spcBef>
                      </a:pPr>
                      <a:r>
                        <a:rPr sz="1400" b="1" spc="-10" dirty="0">
                          <a:solidFill>
                            <a:schemeClr val="bg1"/>
                          </a:solidFill>
                          <a:latin typeface="Arial"/>
                          <a:cs typeface="Arial"/>
                        </a:rPr>
                        <a:t>Product_ID</a:t>
                      </a:r>
                      <a:endParaRPr sz="1400" dirty="0">
                        <a:solidFill>
                          <a:schemeClr val="bg1"/>
                        </a:solidFill>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gn="ctr">
                        <a:lnSpc>
                          <a:spcPct val="100000"/>
                        </a:lnSpc>
                        <a:spcBef>
                          <a:spcPts val="55"/>
                        </a:spcBef>
                      </a:pPr>
                      <a:r>
                        <a:rPr sz="1400" b="1" spc="-20" dirty="0">
                          <a:solidFill>
                            <a:schemeClr val="bg1"/>
                          </a:solidFill>
                          <a:latin typeface="Arial"/>
                          <a:cs typeface="Arial"/>
                        </a:rPr>
                        <a:t>Name</a:t>
                      </a:r>
                      <a:endParaRPr sz="1400" dirty="0">
                        <a:solidFill>
                          <a:schemeClr val="bg1"/>
                        </a:solidFill>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3810" algn="ctr">
                        <a:lnSpc>
                          <a:spcPct val="100000"/>
                        </a:lnSpc>
                        <a:spcBef>
                          <a:spcPts val="55"/>
                        </a:spcBef>
                      </a:pPr>
                      <a:r>
                        <a:rPr sz="1400" b="1" spc="-10" dirty="0">
                          <a:solidFill>
                            <a:schemeClr val="bg1"/>
                          </a:solidFill>
                          <a:latin typeface="Arial"/>
                          <a:cs typeface="Arial"/>
                        </a:rPr>
                        <a:t>Category</a:t>
                      </a:r>
                      <a:endParaRPr sz="1400" dirty="0">
                        <a:solidFill>
                          <a:schemeClr val="bg1"/>
                        </a:solidFill>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83974">
                <a:tc>
                  <a:txBody>
                    <a:bodyPr/>
                    <a:lstStyle/>
                    <a:p>
                      <a:pPr marL="635" algn="ctr">
                        <a:lnSpc>
                          <a:spcPct val="100000"/>
                        </a:lnSpc>
                        <a:spcBef>
                          <a:spcPts val="220"/>
                        </a:spcBef>
                      </a:pPr>
                      <a:r>
                        <a:rPr sz="1400" spc="-50" dirty="0">
                          <a:latin typeface="Arial MT"/>
                          <a:cs typeface="Arial MT"/>
                        </a:rPr>
                        <a:t>1</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0"/>
                        </a:spcBef>
                      </a:pPr>
                      <a:r>
                        <a:rPr sz="1400" dirty="0">
                          <a:latin typeface="Arial MT"/>
                          <a:cs typeface="Arial MT"/>
                        </a:rPr>
                        <a:t>SG-</a:t>
                      </a:r>
                      <a:r>
                        <a:rPr sz="1400" spc="-25" dirty="0">
                          <a:latin typeface="Arial MT"/>
                          <a:cs typeface="Arial MT"/>
                        </a:rPr>
                        <a:t>TR7</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0"/>
                        </a:spcBef>
                      </a:pPr>
                      <a:r>
                        <a:rPr sz="1400" dirty="0">
                          <a:latin typeface="Arial MT"/>
                          <a:cs typeface="Arial MT"/>
                        </a:rPr>
                        <a:t>Sunglases</a:t>
                      </a:r>
                      <a:r>
                        <a:rPr sz="1400" spc="-55" dirty="0">
                          <a:latin typeface="Arial MT"/>
                          <a:cs typeface="Arial MT"/>
                        </a:rPr>
                        <a:t> </a:t>
                      </a:r>
                      <a:r>
                        <a:rPr sz="1400" dirty="0">
                          <a:latin typeface="Arial MT"/>
                          <a:cs typeface="Arial MT"/>
                        </a:rPr>
                        <a:t>TR-</a:t>
                      </a:r>
                      <a:r>
                        <a:rPr sz="1400" spc="-50" dirty="0">
                          <a:latin typeface="Arial MT"/>
                          <a:cs typeface="Arial MT"/>
                        </a:rPr>
                        <a:t>7</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0"/>
                        </a:spcBef>
                      </a:pPr>
                      <a:r>
                        <a:rPr sz="1400" spc="-10" dirty="0">
                          <a:latin typeface="Arial MT"/>
                          <a:cs typeface="Arial MT"/>
                        </a:rPr>
                        <a:t>Assecoirs</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83974">
                <a:tc>
                  <a:txBody>
                    <a:bodyPr/>
                    <a:lstStyle/>
                    <a:p>
                      <a:pPr marL="635"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10" dirty="0">
                          <a:latin typeface="Arial MT"/>
                          <a:cs typeface="Arial MT"/>
                        </a:rPr>
                        <a:t>CH-</a:t>
                      </a:r>
                      <a:r>
                        <a:rPr sz="1400" spc="-25" dirty="0">
                          <a:latin typeface="Arial MT"/>
                          <a:cs typeface="Arial MT"/>
                        </a:rPr>
                        <a:t>B70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Chocolate </a:t>
                      </a:r>
                      <a:r>
                        <a:rPr sz="1400" dirty="0">
                          <a:latin typeface="Arial MT"/>
                          <a:cs typeface="Arial MT"/>
                        </a:rPr>
                        <a:t>bar 70%</a:t>
                      </a:r>
                      <a:r>
                        <a:rPr sz="1400" spc="5" dirty="0">
                          <a:latin typeface="Arial MT"/>
                          <a:cs typeface="Arial MT"/>
                        </a:rPr>
                        <a:t> </a:t>
                      </a:r>
                      <a:r>
                        <a:rPr sz="1400" spc="-10" dirty="0">
                          <a:latin typeface="Arial MT"/>
                          <a:cs typeface="Arial MT"/>
                        </a:rPr>
                        <a:t>cacao</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Sweets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83974">
                <a:tc>
                  <a:txBody>
                    <a:bodyPr/>
                    <a:lstStyle/>
                    <a:p>
                      <a:pPr marL="635" algn="ctr">
                        <a:lnSpc>
                          <a:spcPct val="10000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OT-</a:t>
                      </a:r>
                      <a:r>
                        <a:rPr sz="1400" spc="-25" dirty="0">
                          <a:latin typeface="Arial MT"/>
                          <a:cs typeface="Arial MT"/>
                        </a:rPr>
                        <a:t>BSC</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dirty="0">
                          <a:latin typeface="Arial MT"/>
                          <a:cs typeface="Arial MT"/>
                        </a:rPr>
                        <a:t>Oat</a:t>
                      </a:r>
                      <a:r>
                        <a:rPr sz="1400" spc="-25" dirty="0">
                          <a:latin typeface="Arial MT"/>
                          <a:cs typeface="Arial MT"/>
                        </a:rPr>
                        <a:t> </a:t>
                      </a:r>
                      <a:r>
                        <a:rPr sz="1400" dirty="0">
                          <a:latin typeface="Arial MT"/>
                          <a:cs typeface="Arial MT"/>
                        </a:rPr>
                        <a:t>meal</a:t>
                      </a:r>
                      <a:r>
                        <a:rPr sz="1400" spc="-35" dirty="0">
                          <a:latin typeface="Arial MT"/>
                          <a:cs typeface="Arial MT"/>
                        </a:rPr>
                        <a:t> </a:t>
                      </a:r>
                      <a:r>
                        <a:rPr sz="1400" spc="-10" dirty="0">
                          <a:latin typeface="Arial MT"/>
                          <a:cs typeface="Arial MT"/>
                        </a:rPr>
                        <a:t>biscuits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Sweets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83974">
                <a:tc>
                  <a:txBody>
                    <a:bodyPr/>
                    <a:lstStyle/>
                    <a:p>
                      <a:pPr marL="635" algn="ctr">
                        <a:lnSpc>
                          <a:spcPct val="100000"/>
                        </a:lnSpc>
                        <a:spcBef>
                          <a:spcPts val="225"/>
                        </a:spcBef>
                      </a:pPr>
                      <a:r>
                        <a:rPr sz="1400" spc="-50" dirty="0">
                          <a:solidFill>
                            <a:srgbClr val="008BBE"/>
                          </a:solidFill>
                          <a:latin typeface="Arial MT"/>
                          <a:cs typeface="Arial MT"/>
                        </a:rPr>
                        <a:t>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solidFill>
                            <a:srgbClr val="008BBE"/>
                          </a:solidFill>
                          <a:latin typeface="Arial MT"/>
                          <a:cs typeface="Arial MT"/>
                        </a:rPr>
                        <a:t>OT-</a:t>
                      </a:r>
                      <a:r>
                        <a:rPr sz="1400" spc="-25" dirty="0">
                          <a:solidFill>
                            <a:srgbClr val="008BBE"/>
                          </a:solidFill>
                          <a:latin typeface="Arial MT"/>
                          <a:cs typeface="Arial MT"/>
                        </a:rPr>
                        <a:t>BSC</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dirty="0">
                          <a:solidFill>
                            <a:srgbClr val="008BBE"/>
                          </a:solidFill>
                          <a:latin typeface="Arial MT"/>
                          <a:cs typeface="Arial MT"/>
                        </a:rPr>
                        <a:t>Delicious</a:t>
                      </a:r>
                      <a:r>
                        <a:rPr sz="1400" spc="-50" dirty="0">
                          <a:solidFill>
                            <a:srgbClr val="008BBE"/>
                          </a:solidFill>
                          <a:latin typeface="Arial MT"/>
                          <a:cs typeface="Arial MT"/>
                        </a:rPr>
                        <a:t> </a:t>
                      </a:r>
                      <a:r>
                        <a:rPr sz="1400" dirty="0">
                          <a:solidFill>
                            <a:srgbClr val="008BBE"/>
                          </a:solidFill>
                          <a:latin typeface="Arial MT"/>
                          <a:cs typeface="Arial MT"/>
                        </a:rPr>
                        <a:t>Oat</a:t>
                      </a:r>
                      <a:r>
                        <a:rPr sz="1400" spc="-25" dirty="0">
                          <a:solidFill>
                            <a:srgbClr val="008BBE"/>
                          </a:solidFill>
                          <a:latin typeface="Arial MT"/>
                          <a:cs typeface="Arial MT"/>
                        </a:rPr>
                        <a:t> </a:t>
                      </a:r>
                      <a:r>
                        <a:rPr sz="1400" dirty="0">
                          <a:solidFill>
                            <a:srgbClr val="008BBE"/>
                          </a:solidFill>
                          <a:latin typeface="Arial MT"/>
                          <a:cs typeface="Arial MT"/>
                        </a:rPr>
                        <a:t>meal</a:t>
                      </a:r>
                      <a:r>
                        <a:rPr sz="1400" spc="-40" dirty="0">
                          <a:solidFill>
                            <a:srgbClr val="008BBE"/>
                          </a:solidFill>
                          <a:latin typeface="Arial MT"/>
                          <a:cs typeface="Arial MT"/>
                        </a:rPr>
                        <a:t> </a:t>
                      </a:r>
                      <a:r>
                        <a:rPr sz="1400" spc="-10" dirty="0">
                          <a:solidFill>
                            <a:srgbClr val="008BBE"/>
                          </a:solidFill>
                          <a:latin typeface="Arial MT"/>
                          <a:cs typeface="Arial MT"/>
                        </a:rPr>
                        <a:t>biscuits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solidFill>
                            <a:srgbClr val="008BBE"/>
                          </a:solidFill>
                          <a:latin typeface="Arial MT"/>
                          <a:cs typeface="Arial MT"/>
                        </a:rPr>
                        <a:t>Buscuits</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bl>
          </a:graphicData>
        </a:graphic>
      </p:graphicFrame>
      <p:pic>
        <p:nvPicPr>
          <p:cNvPr id="5" name="object 5"/>
          <p:cNvPicPr/>
          <p:nvPr/>
        </p:nvPicPr>
        <p:blipFill>
          <a:blip r:embed="rId2" cstate="print"/>
          <a:stretch>
            <a:fillRect/>
          </a:stretch>
        </p:blipFill>
        <p:spPr>
          <a:xfrm>
            <a:off x="276351" y="1645886"/>
            <a:ext cx="4197096" cy="1616489"/>
          </a:xfrm>
          <a:prstGeom prst="rect">
            <a:avLst/>
          </a:prstGeom>
        </p:spPr>
      </p:pic>
      <p:sp>
        <p:nvSpPr>
          <p:cNvPr id="8" name="object 8"/>
          <p:cNvSpPr txBox="1"/>
          <p:nvPr/>
        </p:nvSpPr>
        <p:spPr>
          <a:xfrm>
            <a:off x="1163659" y="1996778"/>
            <a:ext cx="7307580" cy="1387688"/>
          </a:xfrm>
          <a:prstGeom prst="rect">
            <a:avLst/>
          </a:prstGeom>
        </p:spPr>
        <p:txBody>
          <a:bodyPr vert="horz" wrap="square" lIns="0" tIns="17780" rIns="0" bIns="0" rtlCol="0">
            <a:spAutoFit/>
          </a:bodyPr>
          <a:lstStyle/>
          <a:p>
            <a:pPr marL="16933">
              <a:spcBef>
                <a:spcPts val="140"/>
              </a:spcBef>
            </a:pPr>
            <a:r>
              <a:rPr sz="2667" b="1" dirty="0">
                <a:solidFill>
                  <a:srgbClr val="CCEAFF"/>
                </a:solidFill>
                <a:latin typeface="Calibri"/>
                <a:cs typeface="Calibri"/>
              </a:rPr>
              <a:t>No</a:t>
            </a:r>
            <a:r>
              <a:rPr sz="2667" b="1" spc="-40" dirty="0">
                <a:solidFill>
                  <a:srgbClr val="CCEAFF"/>
                </a:solidFill>
                <a:latin typeface="Calibri"/>
                <a:cs typeface="Calibri"/>
              </a:rPr>
              <a:t> </a:t>
            </a:r>
            <a:r>
              <a:rPr sz="2667" b="1" dirty="0">
                <a:solidFill>
                  <a:srgbClr val="CCEAFF"/>
                </a:solidFill>
                <a:latin typeface="Calibri"/>
                <a:cs typeface="Calibri"/>
              </a:rPr>
              <a:t>.</a:t>
            </a:r>
            <a:r>
              <a:rPr sz="2667" b="1" spc="-7" dirty="0">
                <a:solidFill>
                  <a:srgbClr val="CCEAFF"/>
                </a:solidFill>
                <a:latin typeface="Calibri"/>
                <a:cs typeface="Calibri"/>
              </a:rPr>
              <a:t> </a:t>
            </a:r>
            <a:r>
              <a:rPr sz="2667" b="1" dirty="0">
                <a:solidFill>
                  <a:srgbClr val="CCEAFF"/>
                </a:solidFill>
                <a:latin typeface="Calibri"/>
                <a:cs typeface="Calibri"/>
              </a:rPr>
              <a:t>of</a:t>
            </a:r>
            <a:r>
              <a:rPr sz="2667" b="1" spc="-20" dirty="0">
                <a:solidFill>
                  <a:srgbClr val="CCEAFF"/>
                </a:solidFill>
                <a:latin typeface="Calibri"/>
                <a:cs typeface="Calibri"/>
              </a:rPr>
              <a:t> </a:t>
            </a:r>
            <a:r>
              <a:rPr sz="2667" b="1" spc="-13" dirty="0">
                <a:solidFill>
                  <a:srgbClr val="CCEAFF"/>
                </a:solidFill>
                <a:latin typeface="Calibri"/>
                <a:cs typeface="Calibri"/>
              </a:rPr>
              <a:t>products?</a:t>
            </a:r>
            <a:endParaRPr sz="2667" dirty="0">
              <a:latin typeface="Calibri"/>
              <a:cs typeface="Calibri"/>
            </a:endParaRPr>
          </a:p>
          <a:p>
            <a:pPr>
              <a:spcBef>
                <a:spcPts val="1427"/>
              </a:spcBef>
            </a:pPr>
            <a:endParaRPr sz="2667" dirty="0">
              <a:latin typeface="Calibri"/>
              <a:cs typeface="Calibri"/>
            </a:endParaRPr>
          </a:p>
          <a:p>
            <a:pPr marL="4038499">
              <a:spcBef>
                <a:spcPts val="7"/>
              </a:spcBef>
            </a:pPr>
            <a:r>
              <a:rPr sz="2400" b="1" dirty="0">
                <a:solidFill>
                  <a:srgbClr val="008BBE"/>
                </a:solidFill>
                <a:latin typeface="Calibri"/>
                <a:cs typeface="Calibri"/>
              </a:rPr>
              <a:t>Count</a:t>
            </a:r>
            <a:r>
              <a:rPr sz="2400" b="1" spc="-33" dirty="0">
                <a:solidFill>
                  <a:srgbClr val="008BBE"/>
                </a:solidFill>
                <a:latin typeface="Calibri"/>
                <a:cs typeface="Calibri"/>
              </a:rPr>
              <a:t> </a:t>
            </a:r>
            <a:r>
              <a:rPr sz="2400" b="1" dirty="0">
                <a:solidFill>
                  <a:srgbClr val="008BBE"/>
                </a:solidFill>
                <a:latin typeface="Calibri"/>
                <a:cs typeface="Calibri"/>
              </a:rPr>
              <a:t>distinct</a:t>
            </a:r>
            <a:r>
              <a:rPr sz="2400" b="1" spc="-47" dirty="0">
                <a:solidFill>
                  <a:srgbClr val="008BBE"/>
                </a:solidFill>
                <a:latin typeface="Calibri"/>
                <a:cs typeface="Calibri"/>
              </a:rPr>
              <a:t> </a:t>
            </a:r>
            <a:r>
              <a:rPr sz="2400" b="1" spc="-13" dirty="0">
                <a:solidFill>
                  <a:srgbClr val="008BBE"/>
                </a:solidFill>
                <a:latin typeface="Calibri"/>
                <a:cs typeface="Calibri"/>
              </a:rPr>
              <a:t>Product_ID</a:t>
            </a:r>
            <a:endParaRPr sz="2400" dirty="0">
              <a:latin typeface="Calibri"/>
              <a:cs typeface="Calibri"/>
            </a:endParaRPr>
          </a:p>
        </p:txBody>
      </p:sp>
      <p:grpSp>
        <p:nvGrpSpPr>
          <p:cNvPr id="9" name="object 9"/>
          <p:cNvGrpSpPr/>
          <p:nvPr/>
        </p:nvGrpSpPr>
        <p:grpSpPr>
          <a:xfrm>
            <a:off x="928624" y="3972560"/>
            <a:ext cx="4197096" cy="1616489"/>
            <a:chOff x="696468" y="2979420"/>
            <a:chExt cx="3147822" cy="1212367"/>
          </a:xfrm>
        </p:grpSpPr>
        <p:pic>
          <p:nvPicPr>
            <p:cNvPr id="10" name="object 10"/>
            <p:cNvPicPr/>
            <p:nvPr/>
          </p:nvPicPr>
          <p:blipFill>
            <a:blip r:embed="rId2" cstate="print"/>
            <a:stretch>
              <a:fillRect/>
            </a:stretch>
          </p:blipFill>
          <p:spPr>
            <a:xfrm>
              <a:off x="696468" y="2979420"/>
              <a:ext cx="3147822" cy="1212367"/>
            </a:xfrm>
            <a:prstGeom prst="rect">
              <a:avLst/>
            </a:prstGeom>
          </p:spPr>
        </p:pic>
        <p:sp>
          <p:nvSpPr>
            <p:cNvPr id="12" name="object 12"/>
            <p:cNvSpPr/>
            <p:nvPr/>
          </p:nvSpPr>
          <p:spPr>
            <a:xfrm>
              <a:off x="1023365" y="3134106"/>
              <a:ext cx="2514600" cy="581025"/>
            </a:xfrm>
            <a:custGeom>
              <a:avLst/>
              <a:gdLst/>
              <a:ahLst/>
              <a:cxnLst/>
              <a:rect l="l" t="t" r="r" b="b"/>
              <a:pathLst>
                <a:path w="2514600" h="581025">
                  <a:moveTo>
                    <a:pt x="0" y="290321"/>
                  </a:moveTo>
                  <a:lnTo>
                    <a:pt x="145161" y="0"/>
                  </a:lnTo>
                  <a:lnTo>
                    <a:pt x="2369439" y="0"/>
                  </a:lnTo>
                  <a:lnTo>
                    <a:pt x="2514600" y="290321"/>
                  </a:lnTo>
                  <a:lnTo>
                    <a:pt x="2369439" y="580644"/>
                  </a:lnTo>
                  <a:lnTo>
                    <a:pt x="145161" y="580644"/>
                  </a:lnTo>
                  <a:lnTo>
                    <a:pt x="0" y="290321"/>
                  </a:lnTo>
                  <a:close/>
                </a:path>
              </a:pathLst>
            </a:custGeom>
            <a:ln w="19811">
              <a:solidFill>
                <a:srgbClr val="00C3FF"/>
              </a:solidFill>
            </a:ln>
          </p:spPr>
          <p:txBody>
            <a:bodyPr wrap="square" lIns="0" tIns="0" rIns="0" bIns="0" rtlCol="0"/>
            <a:lstStyle/>
            <a:p>
              <a:endParaRPr sz="2400"/>
            </a:p>
          </p:txBody>
        </p:sp>
      </p:grpSp>
      <p:sp>
        <p:nvSpPr>
          <p:cNvPr id="13" name="object 13"/>
          <p:cNvSpPr txBox="1"/>
          <p:nvPr/>
        </p:nvSpPr>
        <p:spPr>
          <a:xfrm>
            <a:off x="1544455" y="4323860"/>
            <a:ext cx="2998047" cy="428387"/>
          </a:xfrm>
          <a:prstGeom prst="rect">
            <a:avLst/>
          </a:prstGeom>
        </p:spPr>
        <p:txBody>
          <a:bodyPr vert="horz" wrap="square" lIns="0" tIns="17780" rIns="0" bIns="0" rtlCol="0">
            <a:spAutoFit/>
          </a:bodyPr>
          <a:lstStyle/>
          <a:p>
            <a:pPr marL="16933">
              <a:spcBef>
                <a:spcPts val="140"/>
              </a:spcBef>
            </a:pPr>
            <a:r>
              <a:rPr sz="2667" b="1" dirty="0">
                <a:solidFill>
                  <a:srgbClr val="CCEAFF"/>
                </a:solidFill>
                <a:latin typeface="Calibri"/>
                <a:cs typeface="Calibri"/>
              </a:rPr>
              <a:t>All</a:t>
            </a:r>
            <a:r>
              <a:rPr sz="2667" b="1" spc="-27" dirty="0">
                <a:solidFill>
                  <a:srgbClr val="CCEAFF"/>
                </a:solidFill>
                <a:latin typeface="Calibri"/>
                <a:cs typeface="Calibri"/>
              </a:rPr>
              <a:t> </a:t>
            </a:r>
            <a:r>
              <a:rPr sz="2667" b="1" dirty="0">
                <a:solidFill>
                  <a:srgbClr val="CCEAFF"/>
                </a:solidFill>
                <a:latin typeface="Calibri"/>
                <a:cs typeface="Calibri"/>
              </a:rPr>
              <a:t>current</a:t>
            </a:r>
            <a:r>
              <a:rPr sz="2667" b="1" spc="-20" dirty="0">
                <a:solidFill>
                  <a:srgbClr val="CCEAFF"/>
                </a:solidFill>
                <a:latin typeface="Calibri"/>
                <a:cs typeface="Calibri"/>
              </a:rPr>
              <a:t> </a:t>
            </a:r>
            <a:r>
              <a:rPr sz="2667" b="1" spc="-13" dirty="0">
                <a:solidFill>
                  <a:srgbClr val="CCEAFF"/>
                </a:solidFill>
                <a:latin typeface="Calibri"/>
                <a:cs typeface="Calibri"/>
              </a:rPr>
              <a:t>products?</a:t>
            </a:r>
            <a:endParaRPr sz="2667">
              <a:latin typeface="Calibri"/>
              <a:cs typeface="Calibri"/>
            </a:endParaRPr>
          </a:p>
        </p:txBody>
      </p:sp>
      <p:sp>
        <p:nvSpPr>
          <p:cNvPr id="16" name="object 5">
            <a:extLst>
              <a:ext uri="{FF2B5EF4-FFF2-40B4-BE49-F238E27FC236}">
                <a16:creationId xmlns:a16="http://schemas.microsoft.com/office/drawing/2014/main" id="{3F433754-84B9-6148-6D04-7B05B660090B}"/>
              </a:ext>
            </a:extLst>
          </p:cNvPr>
          <p:cNvSpPr txBox="1">
            <a:spLocks/>
          </p:cNvSpPr>
          <p:nvPr/>
        </p:nvSpPr>
        <p:spPr>
          <a:xfrm>
            <a:off x="3734455" y="172378"/>
            <a:ext cx="5330032" cy="695062"/>
          </a:xfrm>
          <a:prstGeom prst="rect">
            <a:avLst/>
          </a:prstGeom>
        </p:spPr>
        <p:txBody>
          <a:bodyPr vert="horz" wrap="square" lIns="0" tIns="1778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6933">
              <a:lnSpc>
                <a:spcPct val="100000"/>
              </a:lnSpc>
              <a:spcBef>
                <a:spcPts val="140"/>
              </a:spcBef>
            </a:pPr>
            <a:r>
              <a:rPr lang="en-IN">
                <a:solidFill>
                  <a:schemeClr val="bg1"/>
                </a:solidFill>
                <a:latin typeface="+mn-lt"/>
              </a:rPr>
              <a:t>Type</a:t>
            </a:r>
            <a:r>
              <a:rPr lang="en-IN" spc="-20">
                <a:solidFill>
                  <a:schemeClr val="bg1"/>
                </a:solidFill>
                <a:latin typeface="+mn-lt"/>
              </a:rPr>
              <a:t> </a:t>
            </a:r>
            <a:r>
              <a:rPr lang="en-IN">
                <a:solidFill>
                  <a:schemeClr val="bg1"/>
                </a:solidFill>
                <a:latin typeface="+mn-lt"/>
              </a:rPr>
              <a:t>2: New</a:t>
            </a:r>
            <a:r>
              <a:rPr lang="en-IN" spc="-40">
                <a:solidFill>
                  <a:schemeClr val="bg1"/>
                </a:solidFill>
                <a:latin typeface="+mn-lt"/>
              </a:rPr>
              <a:t> </a:t>
            </a:r>
            <a:r>
              <a:rPr lang="en-IN" spc="-33">
                <a:solidFill>
                  <a:schemeClr val="bg1"/>
                </a:solidFill>
                <a:latin typeface="+mn-lt"/>
              </a:rPr>
              <a:t>row</a:t>
            </a:r>
            <a:endParaRPr lang="en-IN" spc="-33" dirty="0">
              <a:solidFill>
                <a:schemeClr val="bg1"/>
              </a:solidFill>
              <a:latin typeface="+mn-lt"/>
            </a:endParaRPr>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27759" y="2178303"/>
            <a:ext cx="9930384" cy="1702816"/>
          </a:xfrm>
          <a:prstGeom prst="rect">
            <a:avLst/>
          </a:prstGeom>
        </p:spPr>
      </p:pic>
      <p:sp>
        <p:nvSpPr>
          <p:cNvPr id="3" name="object 3"/>
          <p:cNvSpPr txBox="1">
            <a:spLocks noGrp="1"/>
          </p:cNvSpPr>
          <p:nvPr>
            <p:ph type="title"/>
          </p:nvPr>
        </p:nvSpPr>
        <p:spPr>
          <a:xfrm>
            <a:off x="1190751" y="2467260"/>
            <a:ext cx="9811173" cy="1070377"/>
          </a:xfrm>
          <a:prstGeom prst="rect">
            <a:avLst/>
          </a:prstGeom>
          <a:noFill/>
          <a:ln w="9144">
            <a:noFill/>
          </a:ln>
        </p:spPr>
        <p:txBody>
          <a:bodyPr vert="horz" wrap="square" lIns="0" tIns="328505" rIns="0" bIns="0" rtlCol="0" anchor="ctr">
            <a:spAutoFit/>
          </a:bodyPr>
          <a:lstStyle/>
          <a:p>
            <a:pPr algn="ctr">
              <a:lnSpc>
                <a:spcPct val="100000"/>
              </a:lnSpc>
              <a:spcBef>
                <a:spcPts val="2585"/>
              </a:spcBef>
            </a:pPr>
            <a:r>
              <a:rPr sz="4800" dirty="0">
                <a:solidFill>
                  <a:schemeClr val="bg1"/>
                </a:solidFill>
                <a:latin typeface="Arial MT"/>
                <a:cs typeface="Arial MT"/>
              </a:rPr>
              <a:t>Administrate</a:t>
            </a:r>
            <a:r>
              <a:rPr sz="4800" spc="-73" dirty="0">
                <a:solidFill>
                  <a:schemeClr val="bg1"/>
                </a:solidFill>
                <a:latin typeface="Arial MT"/>
                <a:cs typeface="Arial MT"/>
              </a:rPr>
              <a:t> </a:t>
            </a:r>
            <a:r>
              <a:rPr sz="4800" dirty="0">
                <a:solidFill>
                  <a:schemeClr val="bg1"/>
                </a:solidFill>
                <a:latin typeface="Arial MT"/>
                <a:cs typeface="Arial MT"/>
              </a:rPr>
              <a:t>Type</a:t>
            </a:r>
            <a:r>
              <a:rPr sz="4800" spc="-27" dirty="0">
                <a:solidFill>
                  <a:schemeClr val="bg1"/>
                </a:solidFill>
                <a:latin typeface="Arial MT"/>
                <a:cs typeface="Arial MT"/>
              </a:rPr>
              <a:t> </a:t>
            </a:r>
            <a:r>
              <a:rPr sz="4800" dirty="0">
                <a:solidFill>
                  <a:schemeClr val="bg1"/>
                </a:solidFill>
                <a:latin typeface="Arial MT"/>
                <a:cs typeface="Arial MT"/>
              </a:rPr>
              <a:t>2</a:t>
            </a:r>
            <a:r>
              <a:rPr sz="4800" spc="-20" dirty="0">
                <a:solidFill>
                  <a:schemeClr val="bg1"/>
                </a:solidFill>
                <a:latin typeface="Arial MT"/>
                <a:cs typeface="Arial MT"/>
              </a:rPr>
              <a:t> </a:t>
            </a:r>
            <a:r>
              <a:rPr sz="4800" spc="-33" dirty="0">
                <a:solidFill>
                  <a:schemeClr val="bg1"/>
                </a:solidFill>
                <a:latin typeface="Arial MT"/>
                <a:cs typeface="Arial MT"/>
              </a:rPr>
              <a:t>SCD</a:t>
            </a:r>
            <a:endParaRPr sz="4800" dirty="0">
              <a:solidFill>
                <a:schemeClr val="bg1"/>
              </a:solidFill>
              <a:latin typeface="Arial MT"/>
              <a:cs typeface="Arial MT"/>
            </a:endParaRPr>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977120" y="3149617"/>
            <a:ext cx="811107" cy="1144692"/>
            <a:chOff x="7482840" y="2362212"/>
            <a:chExt cx="608330" cy="858519"/>
          </a:xfrm>
        </p:grpSpPr>
        <p:pic>
          <p:nvPicPr>
            <p:cNvPr id="3" name="object 3"/>
            <p:cNvPicPr/>
            <p:nvPr/>
          </p:nvPicPr>
          <p:blipFill>
            <a:blip r:embed="rId2" cstate="print"/>
            <a:stretch>
              <a:fillRect/>
            </a:stretch>
          </p:blipFill>
          <p:spPr>
            <a:xfrm>
              <a:off x="7482840" y="2362212"/>
              <a:ext cx="608076" cy="857999"/>
            </a:xfrm>
            <a:prstGeom prst="rect">
              <a:avLst/>
            </a:prstGeom>
          </p:spPr>
        </p:pic>
        <p:pic>
          <p:nvPicPr>
            <p:cNvPr id="4" name="object 4"/>
            <p:cNvPicPr/>
            <p:nvPr/>
          </p:nvPicPr>
          <p:blipFill>
            <a:blip r:embed="rId3" cstate="print"/>
            <a:stretch>
              <a:fillRect/>
            </a:stretch>
          </p:blipFill>
          <p:spPr>
            <a:xfrm>
              <a:off x="7534021" y="2390267"/>
              <a:ext cx="511809" cy="765175"/>
            </a:xfrm>
            <a:prstGeom prst="rect">
              <a:avLst/>
            </a:prstGeom>
          </p:spPr>
        </p:pic>
        <p:sp>
          <p:nvSpPr>
            <p:cNvPr id="5" name="object 5"/>
            <p:cNvSpPr/>
            <p:nvPr/>
          </p:nvSpPr>
          <p:spPr>
            <a:xfrm>
              <a:off x="7534021" y="2390267"/>
              <a:ext cx="511809" cy="765175"/>
            </a:xfrm>
            <a:custGeom>
              <a:avLst/>
              <a:gdLst/>
              <a:ahLst/>
              <a:cxnLst/>
              <a:rect l="l" t="t" r="r" b="b"/>
              <a:pathLst>
                <a:path w="511809" h="765175">
                  <a:moveTo>
                    <a:pt x="365632" y="765175"/>
                  </a:moveTo>
                  <a:lnTo>
                    <a:pt x="73025" y="182880"/>
                  </a:lnTo>
                  <a:lnTo>
                    <a:pt x="0" y="219709"/>
                  </a:lnTo>
                  <a:lnTo>
                    <a:pt x="72644" y="0"/>
                  </a:lnTo>
                  <a:lnTo>
                    <a:pt x="292226" y="72770"/>
                  </a:lnTo>
                  <a:lnTo>
                    <a:pt x="219201" y="109474"/>
                  </a:lnTo>
                  <a:lnTo>
                    <a:pt x="511809" y="691641"/>
                  </a:lnTo>
                  <a:lnTo>
                    <a:pt x="365632" y="765175"/>
                  </a:lnTo>
                  <a:close/>
                </a:path>
              </a:pathLst>
            </a:custGeom>
            <a:ln w="9525">
              <a:solidFill>
                <a:srgbClr val="000000"/>
              </a:solidFill>
            </a:ln>
          </p:spPr>
          <p:txBody>
            <a:bodyPr wrap="square" lIns="0" tIns="0" rIns="0" bIns="0" rtlCol="0"/>
            <a:lstStyle/>
            <a:p>
              <a:endParaRPr sz="2400"/>
            </a:p>
          </p:txBody>
        </p:sp>
      </p:grpSp>
      <p:sp>
        <p:nvSpPr>
          <p:cNvPr id="6" name="object 6"/>
          <p:cNvSpPr txBox="1">
            <a:spLocks noGrp="1"/>
          </p:cNvSpPr>
          <p:nvPr>
            <p:ph type="title"/>
          </p:nvPr>
        </p:nvSpPr>
        <p:spPr>
          <a:xfrm>
            <a:off x="3893480" y="232013"/>
            <a:ext cx="6751329"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Administrate</a:t>
            </a:r>
            <a:r>
              <a:rPr spc="-27" dirty="0">
                <a:solidFill>
                  <a:schemeClr val="bg1"/>
                </a:solidFill>
                <a:latin typeface="+mn-lt"/>
              </a:rPr>
              <a:t> </a:t>
            </a:r>
            <a:r>
              <a:rPr dirty="0">
                <a:solidFill>
                  <a:schemeClr val="bg1"/>
                </a:solidFill>
                <a:latin typeface="+mn-lt"/>
              </a:rPr>
              <a:t>Type</a:t>
            </a:r>
            <a:r>
              <a:rPr spc="-67" dirty="0">
                <a:solidFill>
                  <a:schemeClr val="bg1"/>
                </a:solidFill>
                <a:latin typeface="+mn-lt"/>
              </a:rPr>
              <a:t> </a:t>
            </a:r>
            <a:r>
              <a:rPr dirty="0">
                <a:solidFill>
                  <a:schemeClr val="bg1"/>
                </a:solidFill>
                <a:latin typeface="+mn-lt"/>
              </a:rPr>
              <a:t>2</a:t>
            </a:r>
            <a:r>
              <a:rPr spc="-73" dirty="0">
                <a:solidFill>
                  <a:schemeClr val="bg1"/>
                </a:solidFill>
                <a:latin typeface="+mn-lt"/>
              </a:rPr>
              <a:t> </a:t>
            </a:r>
            <a:r>
              <a:rPr spc="-33" dirty="0">
                <a:solidFill>
                  <a:schemeClr val="bg1"/>
                </a:solidFill>
                <a:latin typeface="+mn-lt"/>
              </a:rPr>
              <a:t>SCD</a:t>
            </a:r>
          </a:p>
        </p:txBody>
      </p:sp>
      <p:graphicFrame>
        <p:nvGraphicFramePr>
          <p:cNvPr id="7" name="object 7"/>
          <p:cNvGraphicFramePr>
            <a:graphicFrameLocks noGrp="1"/>
          </p:cNvGraphicFramePr>
          <p:nvPr>
            <p:extLst>
              <p:ext uri="{D42A27DB-BD31-4B8C-83A1-F6EECF244321}">
                <p14:modId xmlns:p14="http://schemas.microsoft.com/office/powerpoint/2010/main" val="3960162773"/>
              </p:ext>
            </p:extLst>
          </p:nvPr>
        </p:nvGraphicFramePr>
        <p:xfrm>
          <a:off x="2514601" y="1637243"/>
          <a:ext cx="8394594" cy="1500504"/>
        </p:xfrm>
        <a:graphic>
          <a:graphicData uri="http://schemas.openxmlformats.org/drawingml/2006/table">
            <a:tbl>
              <a:tblPr firstRow="1" bandRow="1">
                <a:tableStyleId>{2D5ABB26-0587-4C30-8999-92F81FD0307C}</a:tableStyleId>
              </a:tblPr>
              <a:tblGrid>
                <a:gridCol w="1380201">
                  <a:extLst>
                    <a:ext uri="{9D8B030D-6E8A-4147-A177-3AD203B41FA5}">
                      <a16:colId xmlns:a16="http://schemas.microsoft.com/office/drawing/2014/main" val="20000"/>
                    </a:ext>
                  </a:extLst>
                </a:gridCol>
                <a:gridCol w="1380201">
                  <a:extLst>
                    <a:ext uri="{9D8B030D-6E8A-4147-A177-3AD203B41FA5}">
                      <a16:colId xmlns:a16="http://schemas.microsoft.com/office/drawing/2014/main" val="20001"/>
                    </a:ext>
                  </a:extLst>
                </a:gridCol>
                <a:gridCol w="2277597">
                  <a:extLst>
                    <a:ext uri="{9D8B030D-6E8A-4147-A177-3AD203B41FA5}">
                      <a16:colId xmlns:a16="http://schemas.microsoft.com/office/drawing/2014/main" val="20002"/>
                    </a:ext>
                  </a:extLst>
                </a:gridCol>
                <a:gridCol w="1118865">
                  <a:extLst>
                    <a:ext uri="{9D8B030D-6E8A-4147-A177-3AD203B41FA5}">
                      <a16:colId xmlns:a16="http://schemas.microsoft.com/office/drawing/2014/main" val="20003"/>
                    </a:ext>
                  </a:extLst>
                </a:gridCol>
                <a:gridCol w="1118865">
                  <a:extLst>
                    <a:ext uri="{9D8B030D-6E8A-4147-A177-3AD203B41FA5}">
                      <a16:colId xmlns:a16="http://schemas.microsoft.com/office/drawing/2014/main" val="20004"/>
                    </a:ext>
                  </a:extLst>
                </a:gridCol>
                <a:gridCol w="1118865">
                  <a:extLst>
                    <a:ext uri="{9D8B030D-6E8A-4147-A177-3AD203B41FA5}">
                      <a16:colId xmlns:a16="http://schemas.microsoft.com/office/drawing/2014/main" val="20005"/>
                    </a:ext>
                  </a:extLst>
                </a:gridCol>
              </a:tblGrid>
              <a:tr h="273284">
                <a:tc>
                  <a:txBody>
                    <a:bodyPr/>
                    <a:lstStyle/>
                    <a:p>
                      <a:pPr algn="ctr">
                        <a:lnSpc>
                          <a:spcPct val="100000"/>
                        </a:lnSpc>
                        <a:spcBef>
                          <a:spcPts val="60"/>
                        </a:spcBef>
                      </a:pPr>
                      <a:r>
                        <a:rPr sz="1400" b="1" spc="-10" dirty="0">
                          <a:solidFill>
                            <a:schemeClr val="bg1"/>
                          </a:solidFill>
                          <a:latin typeface="Arial"/>
                          <a:cs typeface="Arial"/>
                        </a:rPr>
                        <a:t>Product_PK</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gn="ctr">
                        <a:lnSpc>
                          <a:spcPct val="100000"/>
                        </a:lnSpc>
                        <a:spcBef>
                          <a:spcPts val="60"/>
                        </a:spcBef>
                      </a:pPr>
                      <a:r>
                        <a:rPr sz="1400" b="1" spc="-10" dirty="0">
                          <a:solidFill>
                            <a:schemeClr val="bg1"/>
                          </a:solidFill>
                          <a:latin typeface="Arial"/>
                          <a:cs typeface="Arial"/>
                        </a:rPr>
                        <a:t>Product_ID</a:t>
                      </a:r>
                      <a:endParaRPr sz="140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635" algn="ctr">
                        <a:lnSpc>
                          <a:spcPct val="100000"/>
                        </a:lnSpc>
                        <a:spcBef>
                          <a:spcPts val="60"/>
                        </a:spcBef>
                      </a:pPr>
                      <a:r>
                        <a:rPr sz="1400" b="1" spc="-20" dirty="0">
                          <a:solidFill>
                            <a:schemeClr val="bg1"/>
                          </a:solidFill>
                          <a:latin typeface="Arial"/>
                          <a:cs typeface="Arial"/>
                        </a:rPr>
                        <a:t>Name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5080" algn="ctr">
                        <a:lnSpc>
                          <a:spcPct val="100000"/>
                        </a:lnSpc>
                        <a:spcBef>
                          <a:spcPts val="60"/>
                        </a:spcBef>
                      </a:pPr>
                      <a:r>
                        <a:rPr sz="1400" b="1" spc="-10" dirty="0">
                          <a:solidFill>
                            <a:schemeClr val="bg1"/>
                          </a:solidFill>
                          <a:latin typeface="Arial"/>
                          <a:cs typeface="Arial"/>
                        </a:rPr>
                        <a:t>Category</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2540" algn="ctr">
                        <a:lnSpc>
                          <a:spcPct val="100000"/>
                        </a:lnSpc>
                        <a:spcBef>
                          <a:spcPts val="60"/>
                        </a:spcBef>
                      </a:pPr>
                      <a:r>
                        <a:rPr sz="1400" b="1" spc="-10" dirty="0">
                          <a:solidFill>
                            <a:schemeClr val="bg1"/>
                          </a:solidFill>
                          <a:latin typeface="Arial"/>
                          <a:cs typeface="Arial"/>
                        </a:rPr>
                        <a:t>Ef_Date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3175" algn="ctr">
                        <a:lnSpc>
                          <a:spcPct val="100000"/>
                        </a:lnSpc>
                        <a:spcBef>
                          <a:spcPts val="60"/>
                        </a:spcBef>
                      </a:pPr>
                      <a:r>
                        <a:rPr sz="1400" b="1" spc="-10" dirty="0">
                          <a:solidFill>
                            <a:schemeClr val="bg1"/>
                          </a:solidFill>
                          <a:latin typeface="Arial"/>
                          <a:cs typeface="Arial"/>
                        </a:rPr>
                        <a:t>Ex_Date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307061">
                <a:tc>
                  <a:txBody>
                    <a:bodyPr/>
                    <a:lstStyle/>
                    <a:p>
                      <a:pPr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SG-</a:t>
                      </a:r>
                      <a:r>
                        <a:rPr sz="1400" spc="-25" dirty="0">
                          <a:latin typeface="Arial MT"/>
                          <a:cs typeface="Arial MT"/>
                        </a:rPr>
                        <a:t>TR7</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dirty="0">
                          <a:latin typeface="Arial MT"/>
                          <a:cs typeface="Arial MT"/>
                        </a:rPr>
                        <a:t>Sunglases</a:t>
                      </a:r>
                      <a:r>
                        <a:rPr sz="1400" spc="-55" dirty="0">
                          <a:latin typeface="Arial MT"/>
                          <a:cs typeface="Arial MT"/>
                        </a:rPr>
                        <a:t> </a:t>
                      </a:r>
                      <a:r>
                        <a:rPr sz="1400" dirty="0">
                          <a:latin typeface="Arial MT"/>
                          <a:cs typeface="Arial MT"/>
                        </a:rPr>
                        <a:t>TR-</a:t>
                      </a:r>
                      <a:r>
                        <a:rPr sz="1400" spc="-50" dirty="0">
                          <a:latin typeface="Arial MT"/>
                          <a:cs typeface="Arial MT"/>
                        </a:rPr>
                        <a:t>7</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10" dirty="0">
                          <a:latin typeface="Arial MT"/>
                          <a:cs typeface="Arial MT"/>
                        </a:rPr>
                        <a:t>Assecoirs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a:t>
                      </a:r>
                      <a:r>
                        <a:rPr sz="1400" spc="-25" dirty="0">
                          <a:latin typeface="Arial MT"/>
                          <a:cs typeface="Arial MT"/>
                        </a:rPr>
                        <a:t>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5"/>
                        </a:spcBef>
                      </a:pPr>
                      <a:r>
                        <a:rPr sz="1400" spc="-10" dirty="0">
                          <a:latin typeface="Arial MT"/>
                          <a:cs typeface="Arial MT"/>
                        </a:rPr>
                        <a:t>2100-01-</a:t>
                      </a:r>
                      <a:r>
                        <a:rPr sz="1400" spc="-25" dirty="0">
                          <a:latin typeface="Arial MT"/>
                          <a:cs typeface="Arial MT"/>
                        </a:rPr>
                        <a:t>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306037">
                <a:tc>
                  <a:txBody>
                    <a:bodyPr/>
                    <a:lstStyle/>
                    <a:p>
                      <a:pPr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CH-</a:t>
                      </a:r>
                      <a:r>
                        <a:rPr sz="1400" spc="-25" dirty="0">
                          <a:latin typeface="Arial MT"/>
                          <a:cs typeface="Arial MT"/>
                        </a:rPr>
                        <a:t>B70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dirty="0">
                          <a:latin typeface="Arial MT"/>
                          <a:cs typeface="Arial MT"/>
                        </a:rPr>
                        <a:t>Chocolate</a:t>
                      </a:r>
                      <a:r>
                        <a:rPr sz="1400" spc="-25" dirty="0">
                          <a:latin typeface="Arial MT"/>
                          <a:cs typeface="Arial MT"/>
                        </a:rPr>
                        <a:t> </a:t>
                      </a:r>
                      <a:r>
                        <a:rPr sz="1400" dirty="0">
                          <a:latin typeface="Arial MT"/>
                          <a:cs typeface="Arial MT"/>
                        </a:rPr>
                        <a:t>bar</a:t>
                      </a:r>
                      <a:r>
                        <a:rPr sz="1400" spc="-10" dirty="0">
                          <a:latin typeface="Arial MT"/>
                          <a:cs typeface="Arial MT"/>
                        </a:rPr>
                        <a:t> </a:t>
                      </a:r>
                      <a:r>
                        <a:rPr sz="1400" dirty="0">
                          <a:latin typeface="Arial MT"/>
                          <a:cs typeface="Arial MT"/>
                        </a:rPr>
                        <a:t>70%</a:t>
                      </a:r>
                      <a:r>
                        <a:rPr sz="1400" spc="-15" dirty="0">
                          <a:latin typeface="Arial MT"/>
                          <a:cs typeface="Arial MT"/>
                        </a:rPr>
                        <a:t> </a:t>
                      </a:r>
                      <a:r>
                        <a:rPr sz="1400" spc="-10" dirty="0">
                          <a:latin typeface="Arial MT"/>
                          <a:cs typeface="Arial MT"/>
                        </a:rPr>
                        <a:t>cacao</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Sweets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a:t>
                      </a:r>
                      <a:r>
                        <a:rPr sz="1400" spc="-25" dirty="0">
                          <a:latin typeface="Arial MT"/>
                          <a:cs typeface="Arial MT"/>
                        </a:rPr>
                        <a:t>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5"/>
                        </a:spcBef>
                      </a:pPr>
                      <a:r>
                        <a:rPr sz="1400" spc="-10" dirty="0">
                          <a:latin typeface="Arial MT"/>
                          <a:cs typeface="Arial MT"/>
                        </a:rPr>
                        <a:t>2100-01-</a:t>
                      </a:r>
                      <a:r>
                        <a:rPr sz="1400" spc="-25" dirty="0">
                          <a:latin typeface="Arial MT"/>
                          <a:cs typeface="Arial MT"/>
                        </a:rPr>
                        <a:t>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307061">
                <a:tc>
                  <a:txBody>
                    <a:bodyPr/>
                    <a:lstStyle/>
                    <a:p>
                      <a:pPr algn="ctr">
                        <a:lnSpc>
                          <a:spcPct val="10000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OT-</a:t>
                      </a:r>
                      <a:r>
                        <a:rPr sz="1400" spc="-25" dirty="0">
                          <a:latin typeface="Arial MT"/>
                          <a:cs typeface="Arial MT"/>
                        </a:rPr>
                        <a:t>BSC</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dirty="0">
                          <a:latin typeface="Arial MT"/>
                          <a:cs typeface="Arial MT"/>
                        </a:rPr>
                        <a:t>Oat</a:t>
                      </a:r>
                      <a:r>
                        <a:rPr sz="1400" spc="-25" dirty="0">
                          <a:latin typeface="Arial MT"/>
                          <a:cs typeface="Arial MT"/>
                        </a:rPr>
                        <a:t> </a:t>
                      </a:r>
                      <a:r>
                        <a:rPr sz="1400" dirty="0">
                          <a:latin typeface="Arial MT"/>
                          <a:cs typeface="Arial MT"/>
                        </a:rPr>
                        <a:t>meal</a:t>
                      </a:r>
                      <a:r>
                        <a:rPr sz="1400" spc="-35" dirty="0">
                          <a:latin typeface="Arial MT"/>
                          <a:cs typeface="Arial MT"/>
                        </a:rPr>
                        <a:t> </a:t>
                      </a:r>
                      <a:r>
                        <a:rPr sz="1400" spc="-10" dirty="0">
                          <a:latin typeface="Arial MT"/>
                          <a:cs typeface="Arial MT"/>
                        </a:rPr>
                        <a:t>biscuits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10" dirty="0">
                          <a:latin typeface="Arial MT"/>
                          <a:cs typeface="Arial MT"/>
                        </a:rPr>
                        <a:t>Sweets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a:t>
                      </a:r>
                      <a:r>
                        <a:rPr sz="1400" spc="-25" dirty="0">
                          <a:latin typeface="Arial MT"/>
                          <a:cs typeface="Arial MT"/>
                        </a:rPr>
                        <a:t>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5"/>
                        </a:spcBef>
                      </a:pPr>
                      <a:r>
                        <a:rPr sz="1400" spc="-10" dirty="0">
                          <a:latin typeface="Arial MT"/>
                          <a:cs typeface="Arial MT"/>
                        </a:rPr>
                        <a:t>2022-05-</a:t>
                      </a:r>
                      <a:r>
                        <a:rPr sz="1400" spc="-25" dirty="0">
                          <a:latin typeface="Arial MT"/>
                          <a:cs typeface="Arial MT"/>
                        </a:rPr>
                        <a:t>31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307061">
                <a:tc>
                  <a:txBody>
                    <a:bodyPr/>
                    <a:lstStyle/>
                    <a:p>
                      <a:pPr algn="ctr">
                        <a:lnSpc>
                          <a:spcPct val="100000"/>
                        </a:lnSpc>
                        <a:spcBef>
                          <a:spcPts val="225"/>
                        </a:spcBef>
                      </a:pPr>
                      <a:r>
                        <a:rPr sz="1400" spc="-50" dirty="0">
                          <a:solidFill>
                            <a:srgbClr val="008BBE"/>
                          </a:solidFill>
                          <a:latin typeface="Arial MT"/>
                          <a:cs typeface="Arial MT"/>
                        </a:rPr>
                        <a:t>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solidFill>
                            <a:srgbClr val="008BBE"/>
                          </a:solidFill>
                          <a:latin typeface="Arial MT"/>
                          <a:cs typeface="Arial MT"/>
                        </a:rPr>
                        <a:t>OT-</a:t>
                      </a:r>
                      <a:r>
                        <a:rPr sz="1400" spc="-25" dirty="0">
                          <a:solidFill>
                            <a:srgbClr val="008BBE"/>
                          </a:solidFill>
                          <a:latin typeface="Arial MT"/>
                          <a:cs typeface="Arial MT"/>
                        </a:rPr>
                        <a:t>BSC</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dirty="0">
                          <a:solidFill>
                            <a:srgbClr val="008BBE"/>
                          </a:solidFill>
                          <a:latin typeface="Arial MT"/>
                          <a:cs typeface="Arial MT"/>
                        </a:rPr>
                        <a:t>Delicious</a:t>
                      </a:r>
                      <a:r>
                        <a:rPr sz="1400" spc="-50" dirty="0">
                          <a:solidFill>
                            <a:srgbClr val="008BBE"/>
                          </a:solidFill>
                          <a:latin typeface="Arial MT"/>
                          <a:cs typeface="Arial MT"/>
                        </a:rPr>
                        <a:t> </a:t>
                      </a:r>
                      <a:r>
                        <a:rPr sz="1400" dirty="0">
                          <a:solidFill>
                            <a:srgbClr val="008BBE"/>
                          </a:solidFill>
                          <a:latin typeface="Arial MT"/>
                          <a:cs typeface="Arial MT"/>
                        </a:rPr>
                        <a:t>Oat</a:t>
                      </a:r>
                      <a:r>
                        <a:rPr sz="1400" spc="-25" dirty="0">
                          <a:solidFill>
                            <a:srgbClr val="008BBE"/>
                          </a:solidFill>
                          <a:latin typeface="Arial MT"/>
                          <a:cs typeface="Arial MT"/>
                        </a:rPr>
                        <a:t> </a:t>
                      </a:r>
                      <a:r>
                        <a:rPr sz="1400" dirty="0">
                          <a:solidFill>
                            <a:srgbClr val="008BBE"/>
                          </a:solidFill>
                          <a:latin typeface="Arial MT"/>
                          <a:cs typeface="Arial MT"/>
                        </a:rPr>
                        <a:t>meal</a:t>
                      </a:r>
                      <a:r>
                        <a:rPr sz="1400" spc="-40" dirty="0">
                          <a:solidFill>
                            <a:srgbClr val="008BBE"/>
                          </a:solidFill>
                          <a:latin typeface="Arial MT"/>
                          <a:cs typeface="Arial MT"/>
                        </a:rPr>
                        <a:t> </a:t>
                      </a:r>
                      <a:r>
                        <a:rPr sz="1400" spc="-10" dirty="0">
                          <a:solidFill>
                            <a:srgbClr val="008BBE"/>
                          </a:solidFill>
                          <a:latin typeface="Arial MT"/>
                          <a:cs typeface="Arial MT"/>
                        </a:rPr>
                        <a:t>biscuits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solidFill>
                            <a:srgbClr val="008BBE"/>
                          </a:solidFill>
                          <a:latin typeface="Arial MT"/>
                          <a:cs typeface="Arial MT"/>
                        </a:rPr>
                        <a:t>Buscuits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solidFill>
                            <a:srgbClr val="008BBE"/>
                          </a:solidFill>
                          <a:latin typeface="Arial MT"/>
                          <a:cs typeface="Arial MT"/>
                        </a:rPr>
                        <a:t>2022-06-</a:t>
                      </a:r>
                      <a:r>
                        <a:rPr sz="1400" spc="-25" dirty="0">
                          <a:solidFill>
                            <a:srgbClr val="008BBE"/>
                          </a:solidFill>
                          <a:latin typeface="Arial MT"/>
                          <a:cs typeface="Arial MT"/>
                        </a:rPr>
                        <a:t>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5"/>
                        </a:spcBef>
                      </a:pPr>
                      <a:r>
                        <a:rPr sz="1400" spc="-10" dirty="0">
                          <a:solidFill>
                            <a:srgbClr val="008BBE"/>
                          </a:solidFill>
                          <a:latin typeface="Arial MT"/>
                          <a:cs typeface="Arial MT"/>
                        </a:rPr>
                        <a:t>2100-01-</a:t>
                      </a:r>
                      <a:r>
                        <a:rPr sz="1400" spc="-25" dirty="0">
                          <a:solidFill>
                            <a:srgbClr val="008BBE"/>
                          </a:solidFill>
                          <a:latin typeface="Arial MT"/>
                          <a:cs typeface="Arial MT"/>
                        </a:rPr>
                        <a:t>01</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bl>
          </a:graphicData>
        </a:graphic>
      </p:graphicFrame>
      <p:grpSp>
        <p:nvGrpSpPr>
          <p:cNvPr id="8" name="object 8"/>
          <p:cNvGrpSpPr/>
          <p:nvPr/>
        </p:nvGrpSpPr>
        <p:grpSpPr>
          <a:xfrm>
            <a:off x="8438895" y="3198877"/>
            <a:ext cx="1005840" cy="781473"/>
            <a:chOff x="6329171" y="2399157"/>
            <a:chExt cx="754380" cy="586105"/>
          </a:xfrm>
        </p:grpSpPr>
        <p:sp>
          <p:nvSpPr>
            <p:cNvPr id="9" name="object 9"/>
            <p:cNvSpPr/>
            <p:nvPr/>
          </p:nvSpPr>
          <p:spPr>
            <a:xfrm>
              <a:off x="6341871" y="2411857"/>
              <a:ext cx="728980" cy="560705"/>
            </a:xfrm>
            <a:custGeom>
              <a:avLst/>
              <a:gdLst/>
              <a:ahLst/>
              <a:cxnLst/>
              <a:rect l="l" t="t" r="r" b="b"/>
              <a:pathLst>
                <a:path w="728979" h="560705">
                  <a:moveTo>
                    <a:pt x="502284" y="0"/>
                  </a:moveTo>
                  <a:lnTo>
                    <a:pt x="546734" y="68580"/>
                  </a:lnTo>
                  <a:lnTo>
                    <a:pt x="0" y="423163"/>
                  </a:lnTo>
                  <a:lnTo>
                    <a:pt x="89026" y="560451"/>
                  </a:lnTo>
                  <a:lnTo>
                    <a:pt x="635761" y="205867"/>
                  </a:lnTo>
                  <a:lnTo>
                    <a:pt x="680211" y="274447"/>
                  </a:lnTo>
                  <a:lnTo>
                    <a:pt x="728472" y="48260"/>
                  </a:lnTo>
                  <a:lnTo>
                    <a:pt x="502284" y="0"/>
                  </a:lnTo>
                  <a:close/>
                </a:path>
              </a:pathLst>
            </a:custGeom>
            <a:solidFill>
              <a:srgbClr val="00C3FF"/>
            </a:solidFill>
          </p:spPr>
          <p:txBody>
            <a:bodyPr wrap="square" lIns="0" tIns="0" rIns="0" bIns="0" rtlCol="0"/>
            <a:lstStyle/>
            <a:p>
              <a:endParaRPr sz="2400"/>
            </a:p>
          </p:txBody>
        </p:sp>
        <p:sp>
          <p:nvSpPr>
            <p:cNvPr id="10" name="object 10"/>
            <p:cNvSpPr/>
            <p:nvPr/>
          </p:nvSpPr>
          <p:spPr>
            <a:xfrm>
              <a:off x="6341871" y="2411857"/>
              <a:ext cx="728980" cy="560705"/>
            </a:xfrm>
            <a:custGeom>
              <a:avLst/>
              <a:gdLst/>
              <a:ahLst/>
              <a:cxnLst/>
              <a:rect l="l" t="t" r="r" b="b"/>
              <a:pathLst>
                <a:path w="728979" h="560705">
                  <a:moveTo>
                    <a:pt x="0" y="423163"/>
                  </a:moveTo>
                  <a:lnTo>
                    <a:pt x="546734" y="68580"/>
                  </a:lnTo>
                  <a:lnTo>
                    <a:pt x="502284" y="0"/>
                  </a:lnTo>
                  <a:lnTo>
                    <a:pt x="728472" y="48260"/>
                  </a:lnTo>
                  <a:lnTo>
                    <a:pt x="680211" y="274447"/>
                  </a:lnTo>
                  <a:lnTo>
                    <a:pt x="635761" y="205867"/>
                  </a:lnTo>
                  <a:lnTo>
                    <a:pt x="89026" y="560451"/>
                  </a:lnTo>
                  <a:lnTo>
                    <a:pt x="0" y="423163"/>
                  </a:lnTo>
                  <a:close/>
                </a:path>
              </a:pathLst>
            </a:custGeom>
            <a:ln w="25400">
              <a:solidFill>
                <a:srgbClr val="008FBB"/>
              </a:solidFill>
            </a:ln>
          </p:spPr>
          <p:txBody>
            <a:bodyPr wrap="square" lIns="0" tIns="0" rIns="0" bIns="0" rtlCol="0"/>
            <a:lstStyle/>
            <a:p>
              <a:endParaRPr sz="2400"/>
            </a:p>
          </p:txBody>
        </p:sp>
      </p:grpSp>
      <p:sp>
        <p:nvSpPr>
          <p:cNvPr id="11" name="object 11"/>
          <p:cNvSpPr txBox="1"/>
          <p:nvPr/>
        </p:nvSpPr>
        <p:spPr>
          <a:xfrm>
            <a:off x="6807201" y="3511296"/>
            <a:ext cx="1821180" cy="620811"/>
          </a:xfrm>
          <a:prstGeom prst="rect">
            <a:avLst/>
          </a:prstGeom>
          <a:solidFill>
            <a:srgbClr val="D9D9D9"/>
          </a:solidFill>
        </p:spPr>
        <p:txBody>
          <a:bodyPr vert="horz" wrap="square" lIns="0" tIns="45720" rIns="0" bIns="0" rtlCol="0">
            <a:spAutoFit/>
          </a:bodyPr>
          <a:lstStyle/>
          <a:p>
            <a:pPr marL="122764">
              <a:spcBef>
                <a:spcPts val="360"/>
              </a:spcBef>
            </a:pPr>
            <a:r>
              <a:rPr sz="1867" b="1" i="1" dirty="0">
                <a:solidFill>
                  <a:srgbClr val="434343"/>
                </a:solidFill>
                <a:latin typeface="Calibri"/>
                <a:cs typeface="Calibri"/>
              </a:rPr>
              <a:t>Period</a:t>
            </a:r>
            <a:r>
              <a:rPr sz="1867" b="1" i="1" spc="-40" dirty="0">
                <a:solidFill>
                  <a:srgbClr val="434343"/>
                </a:solidFill>
                <a:latin typeface="Calibri"/>
                <a:cs typeface="Calibri"/>
              </a:rPr>
              <a:t> </a:t>
            </a:r>
            <a:r>
              <a:rPr sz="1867" b="1" i="1" dirty="0">
                <a:solidFill>
                  <a:srgbClr val="434343"/>
                </a:solidFill>
                <a:latin typeface="Calibri"/>
                <a:cs typeface="Calibri"/>
              </a:rPr>
              <a:t>in</a:t>
            </a:r>
            <a:r>
              <a:rPr sz="1867" b="1" i="1" spc="-60" dirty="0">
                <a:solidFill>
                  <a:srgbClr val="434343"/>
                </a:solidFill>
                <a:latin typeface="Calibri"/>
                <a:cs typeface="Calibri"/>
              </a:rPr>
              <a:t> </a:t>
            </a:r>
            <a:r>
              <a:rPr sz="1867" b="1" i="1" spc="-13" dirty="0">
                <a:solidFill>
                  <a:srgbClr val="434343"/>
                </a:solidFill>
                <a:latin typeface="Calibri"/>
                <a:cs typeface="Calibri"/>
              </a:rPr>
              <a:t>which</a:t>
            </a:r>
            <a:endParaRPr sz="1867">
              <a:latin typeface="Calibri"/>
              <a:cs typeface="Calibri"/>
            </a:endParaRPr>
          </a:p>
          <a:p>
            <a:pPr marL="122764">
              <a:spcBef>
                <a:spcPts val="13"/>
              </a:spcBef>
            </a:pPr>
            <a:r>
              <a:rPr sz="1867" b="1" i="1" dirty="0">
                <a:solidFill>
                  <a:srgbClr val="434343"/>
                </a:solidFill>
                <a:latin typeface="Calibri"/>
                <a:cs typeface="Calibri"/>
              </a:rPr>
              <a:t>values</a:t>
            </a:r>
            <a:r>
              <a:rPr sz="1867" b="1" i="1" spc="-47" dirty="0">
                <a:solidFill>
                  <a:srgbClr val="434343"/>
                </a:solidFill>
                <a:latin typeface="Calibri"/>
                <a:cs typeface="Calibri"/>
              </a:rPr>
              <a:t> </a:t>
            </a:r>
            <a:r>
              <a:rPr sz="1867" b="1" i="1" dirty="0">
                <a:solidFill>
                  <a:srgbClr val="434343"/>
                </a:solidFill>
                <a:latin typeface="Calibri"/>
                <a:cs typeface="Calibri"/>
              </a:rPr>
              <a:t>are</a:t>
            </a:r>
            <a:r>
              <a:rPr sz="1867" b="1" i="1" spc="-40" dirty="0">
                <a:solidFill>
                  <a:srgbClr val="434343"/>
                </a:solidFill>
                <a:latin typeface="Calibri"/>
                <a:cs typeface="Calibri"/>
              </a:rPr>
              <a:t> </a:t>
            </a:r>
            <a:r>
              <a:rPr sz="1867" b="1" i="1" spc="-27" dirty="0">
                <a:solidFill>
                  <a:srgbClr val="434343"/>
                </a:solidFill>
                <a:latin typeface="Calibri"/>
                <a:cs typeface="Calibri"/>
              </a:rPr>
              <a:t>valid</a:t>
            </a:r>
            <a:endParaRPr sz="1867">
              <a:latin typeface="Calibri"/>
              <a:cs typeface="Calibri"/>
            </a:endParaRPr>
          </a:p>
        </p:txBody>
      </p:sp>
      <p:sp>
        <p:nvSpPr>
          <p:cNvPr id="12" name="object 12"/>
          <p:cNvSpPr txBox="1"/>
          <p:nvPr/>
        </p:nvSpPr>
        <p:spPr>
          <a:xfrm>
            <a:off x="9029192" y="3859785"/>
            <a:ext cx="2381673" cy="615575"/>
          </a:xfrm>
          <a:prstGeom prst="rect">
            <a:avLst/>
          </a:prstGeom>
          <a:solidFill>
            <a:srgbClr val="00C3FF"/>
          </a:solidFill>
          <a:ln w="25907">
            <a:solidFill>
              <a:srgbClr val="008FBB"/>
            </a:solidFill>
          </a:ln>
        </p:spPr>
        <p:txBody>
          <a:bodyPr vert="horz" wrap="square" lIns="0" tIns="44027" rIns="0" bIns="0" rtlCol="0">
            <a:spAutoFit/>
          </a:bodyPr>
          <a:lstStyle/>
          <a:p>
            <a:pPr marL="121070" marR="180335">
              <a:lnSpc>
                <a:spcPct val="100699"/>
              </a:lnSpc>
              <a:spcBef>
                <a:spcPts val="347"/>
              </a:spcBef>
            </a:pPr>
            <a:r>
              <a:rPr sz="1867" b="1" i="1" dirty="0">
                <a:solidFill>
                  <a:srgbClr val="434343"/>
                </a:solidFill>
                <a:latin typeface="Calibri"/>
                <a:cs typeface="Calibri"/>
              </a:rPr>
              <a:t>Instead</a:t>
            </a:r>
            <a:r>
              <a:rPr sz="1867" b="1" i="1" spc="-40" dirty="0">
                <a:solidFill>
                  <a:srgbClr val="434343"/>
                </a:solidFill>
                <a:latin typeface="Calibri"/>
                <a:cs typeface="Calibri"/>
              </a:rPr>
              <a:t> </a:t>
            </a:r>
            <a:r>
              <a:rPr sz="1867" b="1" i="1" dirty="0">
                <a:solidFill>
                  <a:srgbClr val="434343"/>
                </a:solidFill>
                <a:latin typeface="Calibri"/>
                <a:cs typeface="Calibri"/>
              </a:rPr>
              <a:t>of</a:t>
            </a:r>
            <a:r>
              <a:rPr sz="1867" b="1" i="1" spc="-27" dirty="0">
                <a:solidFill>
                  <a:srgbClr val="434343"/>
                </a:solidFill>
                <a:latin typeface="Calibri"/>
                <a:cs typeface="Calibri"/>
              </a:rPr>
              <a:t> </a:t>
            </a:r>
            <a:r>
              <a:rPr sz="1867" b="1" i="1" dirty="0">
                <a:solidFill>
                  <a:srgbClr val="434343"/>
                </a:solidFill>
                <a:latin typeface="Calibri"/>
                <a:cs typeface="Calibri"/>
              </a:rPr>
              <a:t>null </a:t>
            </a:r>
            <a:r>
              <a:rPr sz="1867" b="1" i="1" spc="-13" dirty="0">
                <a:solidFill>
                  <a:srgbClr val="434343"/>
                </a:solidFill>
                <a:latin typeface="Calibri"/>
                <a:cs typeface="Calibri"/>
              </a:rPr>
              <a:t>better </a:t>
            </a:r>
            <a:r>
              <a:rPr sz="1867" b="1" i="1" dirty="0">
                <a:solidFill>
                  <a:srgbClr val="434343"/>
                </a:solidFill>
                <a:latin typeface="Calibri"/>
                <a:cs typeface="Calibri"/>
              </a:rPr>
              <a:t>date</a:t>
            </a:r>
            <a:r>
              <a:rPr sz="1867" b="1" i="1" spc="-33" dirty="0">
                <a:solidFill>
                  <a:srgbClr val="434343"/>
                </a:solidFill>
                <a:latin typeface="Calibri"/>
                <a:cs typeface="Calibri"/>
              </a:rPr>
              <a:t> </a:t>
            </a:r>
            <a:r>
              <a:rPr sz="1867" b="1" i="1" dirty="0">
                <a:solidFill>
                  <a:srgbClr val="434343"/>
                </a:solidFill>
                <a:latin typeface="Calibri"/>
                <a:cs typeface="Calibri"/>
              </a:rPr>
              <a:t>far</a:t>
            </a:r>
            <a:r>
              <a:rPr sz="1867" b="1" i="1" spc="-40" dirty="0">
                <a:solidFill>
                  <a:srgbClr val="434343"/>
                </a:solidFill>
                <a:latin typeface="Calibri"/>
                <a:cs typeface="Calibri"/>
              </a:rPr>
              <a:t> </a:t>
            </a:r>
            <a:r>
              <a:rPr sz="1867" b="1" i="1" dirty="0">
                <a:solidFill>
                  <a:srgbClr val="434343"/>
                </a:solidFill>
                <a:latin typeface="Calibri"/>
                <a:cs typeface="Calibri"/>
              </a:rPr>
              <a:t>in the</a:t>
            </a:r>
            <a:r>
              <a:rPr sz="1867" b="1" i="1" spc="-20" dirty="0">
                <a:solidFill>
                  <a:srgbClr val="434343"/>
                </a:solidFill>
                <a:latin typeface="Calibri"/>
                <a:cs typeface="Calibri"/>
              </a:rPr>
              <a:t> </a:t>
            </a:r>
            <a:r>
              <a:rPr sz="1867" b="1" i="1" spc="-13" dirty="0">
                <a:solidFill>
                  <a:srgbClr val="434343"/>
                </a:solidFill>
                <a:latin typeface="Calibri"/>
                <a:cs typeface="Calibri"/>
              </a:rPr>
              <a:t>future</a:t>
            </a:r>
            <a:endParaRPr sz="1867">
              <a:latin typeface="Calibri"/>
              <a:cs typeface="Calibri"/>
            </a:endParaRPr>
          </a:p>
        </p:txBody>
      </p:sp>
      <p:sp>
        <p:nvSpPr>
          <p:cNvPr id="13" name="object 13"/>
          <p:cNvSpPr txBox="1"/>
          <p:nvPr/>
        </p:nvSpPr>
        <p:spPr>
          <a:xfrm>
            <a:off x="1849289" y="4360773"/>
            <a:ext cx="5255260" cy="386430"/>
          </a:xfrm>
          <a:prstGeom prst="rect">
            <a:avLst/>
          </a:prstGeom>
        </p:spPr>
        <p:txBody>
          <a:bodyPr vert="horz" wrap="square" lIns="0" tIns="16933" rIns="0" bIns="0" rtlCol="0">
            <a:spAutoFit/>
          </a:bodyPr>
          <a:lstStyle/>
          <a:p>
            <a:pPr marL="398770" indent="-381837">
              <a:spcBef>
                <a:spcPts val="133"/>
              </a:spcBef>
              <a:buClr>
                <a:srgbClr val="99D3FF"/>
              </a:buClr>
              <a:buFont typeface="Wingdings"/>
              <a:buChar char=""/>
              <a:tabLst>
                <a:tab pos="398770" algn="l"/>
              </a:tabLst>
            </a:pPr>
            <a:r>
              <a:rPr sz="2400" b="1" dirty="0">
                <a:solidFill>
                  <a:srgbClr val="D9D9D9"/>
                </a:solidFill>
                <a:latin typeface="Calibri"/>
                <a:cs typeface="Calibri"/>
              </a:rPr>
              <a:t>Necessary</a:t>
            </a:r>
            <a:r>
              <a:rPr sz="2400" b="1" spc="-67" dirty="0">
                <a:solidFill>
                  <a:srgbClr val="D9D9D9"/>
                </a:solidFill>
                <a:latin typeface="Calibri"/>
                <a:cs typeface="Calibri"/>
              </a:rPr>
              <a:t> </a:t>
            </a:r>
            <a:r>
              <a:rPr sz="2400" b="1" dirty="0">
                <a:solidFill>
                  <a:srgbClr val="D9D9D9"/>
                </a:solidFill>
                <a:latin typeface="Calibri"/>
                <a:cs typeface="Calibri"/>
              </a:rPr>
              <a:t>also</a:t>
            </a:r>
            <a:r>
              <a:rPr sz="2400" b="1" spc="-33" dirty="0">
                <a:solidFill>
                  <a:srgbClr val="D9D9D9"/>
                </a:solidFill>
                <a:latin typeface="Calibri"/>
                <a:cs typeface="Calibri"/>
              </a:rPr>
              <a:t> </a:t>
            </a:r>
            <a:r>
              <a:rPr sz="2400" b="1" dirty="0">
                <a:solidFill>
                  <a:srgbClr val="D9D9D9"/>
                </a:solidFill>
                <a:latin typeface="Calibri"/>
                <a:cs typeface="Calibri"/>
              </a:rPr>
              <a:t>in</a:t>
            </a:r>
            <a:r>
              <a:rPr sz="2400" b="1" spc="-27" dirty="0">
                <a:solidFill>
                  <a:srgbClr val="D9D9D9"/>
                </a:solidFill>
                <a:latin typeface="Calibri"/>
                <a:cs typeface="Calibri"/>
              </a:rPr>
              <a:t> </a:t>
            </a:r>
            <a:r>
              <a:rPr sz="2400" b="1" dirty="0">
                <a:solidFill>
                  <a:srgbClr val="D9D9D9"/>
                </a:solidFill>
                <a:latin typeface="Calibri"/>
                <a:cs typeface="Calibri"/>
              </a:rPr>
              <a:t>ETL</a:t>
            </a:r>
            <a:r>
              <a:rPr sz="2400" b="1" spc="-13" dirty="0">
                <a:solidFill>
                  <a:srgbClr val="D9D9D9"/>
                </a:solidFill>
                <a:latin typeface="Calibri"/>
                <a:cs typeface="Calibri"/>
              </a:rPr>
              <a:t> </a:t>
            </a:r>
            <a:r>
              <a:rPr sz="2400" b="1" dirty="0">
                <a:solidFill>
                  <a:srgbClr val="D9D9D9"/>
                </a:solidFill>
                <a:latin typeface="Calibri"/>
                <a:cs typeface="Calibri"/>
              </a:rPr>
              <a:t>to</a:t>
            </a:r>
            <a:r>
              <a:rPr sz="2400" b="1" spc="-27" dirty="0">
                <a:solidFill>
                  <a:srgbClr val="D9D9D9"/>
                </a:solidFill>
                <a:latin typeface="Calibri"/>
                <a:cs typeface="Calibri"/>
              </a:rPr>
              <a:t> </a:t>
            </a:r>
            <a:r>
              <a:rPr sz="2400" b="1" dirty="0">
                <a:solidFill>
                  <a:srgbClr val="D9D9D9"/>
                </a:solidFill>
                <a:latin typeface="Calibri"/>
                <a:cs typeface="Calibri"/>
              </a:rPr>
              <a:t>use</a:t>
            </a:r>
            <a:r>
              <a:rPr sz="2400" b="1" spc="-33" dirty="0">
                <a:solidFill>
                  <a:srgbClr val="D9D9D9"/>
                </a:solidFill>
                <a:latin typeface="Calibri"/>
                <a:cs typeface="Calibri"/>
              </a:rPr>
              <a:t> </a:t>
            </a:r>
            <a:r>
              <a:rPr sz="2400" b="1" dirty="0">
                <a:solidFill>
                  <a:srgbClr val="D9D9D9"/>
                </a:solidFill>
                <a:latin typeface="Calibri"/>
                <a:cs typeface="Calibri"/>
              </a:rPr>
              <a:t>correct</a:t>
            </a:r>
            <a:r>
              <a:rPr sz="2400" b="1" spc="-40" dirty="0">
                <a:solidFill>
                  <a:srgbClr val="D9D9D9"/>
                </a:solidFill>
                <a:latin typeface="Calibri"/>
                <a:cs typeface="Calibri"/>
              </a:rPr>
              <a:t> </a:t>
            </a:r>
            <a:r>
              <a:rPr sz="2400" b="1" spc="-33" dirty="0">
                <a:solidFill>
                  <a:srgbClr val="D9D9D9"/>
                </a:solidFill>
                <a:latin typeface="Calibri"/>
                <a:cs typeface="Calibri"/>
              </a:rPr>
              <a:t>FK</a:t>
            </a:r>
            <a:endParaRPr sz="2400">
              <a:latin typeface="Calibri"/>
              <a:cs typeface="Calibri"/>
            </a:endParaRPr>
          </a:p>
        </p:txBody>
      </p:sp>
      <p:sp>
        <p:nvSpPr>
          <p:cNvPr id="14" name="object 14"/>
          <p:cNvSpPr txBox="1"/>
          <p:nvPr/>
        </p:nvSpPr>
        <p:spPr>
          <a:xfrm>
            <a:off x="1849289" y="5115492"/>
            <a:ext cx="6206913" cy="386430"/>
          </a:xfrm>
          <a:prstGeom prst="rect">
            <a:avLst/>
          </a:prstGeom>
        </p:spPr>
        <p:txBody>
          <a:bodyPr vert="horz" wrap="square" lIns="0" tIns="16933" rIns="0" bIns="0" rtlCol="0">
            <a:spAutoFit/>
          </a:bodyPr>
          <a:lstStyle/>
          <a:p>
            <a:pPr marL="398770" indent="-381837">
              <a:spcBef>
                <a:spcPts val="133"/>
              </a:spcBef>
              <a:buClr>
                <a:srgbClr val="99D3FF"/>
              </a:buClr>
              <a:buFont typeface="Wingdings"/>
              <a:buChar char=""/>
              <a:tabLst>
                <a:tab pos="398770" algn="l"/>
              </a:tabLst>
            </a:pPr>
            <a:r>
              <a:rPr sz="2400" b="1" dirty="0">
                <a:solidFill>
                  <a:srgbClr val="D9D9D9"/>
                </a:solidFill>
                <a:latin typeface="Calibri"/>
                <a:cs typeface="Calibri"/>
              </a:rPr>
              <a:t>Requires</a:t>
            </a:r>
            <a:r>
              <a:rPr sz="2400" b="1" spc="-60" dirty="0">
                <a:solidFill>
                  <a:srgbClr val="D9D9D9"/>
                </a:solidFill>
                <a:latin typeface="Calibri"/>
                <a:cs typeface="Calibri"/>
              </a:rPr>
              <a:t> </a:t>
            </a:r>
            <a:r>
              <a:rPr sz="2400" b="1" dirty="0">
                <a:solidFill>
                  <a:srgbClr val="D9D9D9"/>
                </a:solidFill>
                <a:latin typeface="Calibri"/>
                <a:cs typeface="Calibri"/>
              </a:rPr>
              <a:t>Surrogate</a:t>
            </a:r>
            <a:r>
              <a:rPr sz="2400" b="1" spc="-47" dirty="0">
                <a:solidFill>
                  <a:srgbClr val="D9D9D9"/>
                </a:solidFill>
                <a:latin typeface="Calibri"/>
                <a:cs typeface="Calibri"/>
              </a:rPr>
              <a:t> </a:t>
            </a:r>
            <a:r>
              <a:rPr sz="2400" b="1" dirty="0">
                <a:solidFill>
                  <a:srgbClr val="D9D9D9"/>
                </a:solidFill>
                <a:latin typeface="Calibri"/>
                <a:cs typeface="Calibri"/>
              </a:rPr>
              <a:t>key</a:t>
            </a:r>
            <a:r>
              <a:rPr sz="2400" b="1" spc="-27" dirty="0">
                <a:solidFill>
                  <a:srgbClr val="D9D9D9"/>
                </a:solidFill>
                <a:latin typeface="Calibri"/>
                <a:cs typeface="Calibri"/>
              </a:rPr>
              <a:t> </a:t>
            </a:r>
            <a:r>
              <a:rPr sz="2400" b="1" dirty="0">
                <a:solidFill>
                  <a:srgbClr val="D9D9D9"/>
                </a:solidFill>
                <a:latin typeface="Calibri"/>
                <a:cs typeface="Calibri"/>
              </a:rPr>
              <a:t>instead</a:t>
            </a:r>
            <a:r>
              <a:rPr sz="2400" b="1" spc="-20" dirty="0">
                <a:solidFill>
                  <a:srgbClr val="D9D9D9"/>
                </a:solidFill>
                <a:latin typeface="Calibri"/>
                <a:cs typeface="Calibri"/>
              </a:rPr>
              <a:t> </a:t>
            </a:r>
            <a:r>
              <a:rPr sz="2400" b="1" dirty="0">
                <a:solidFill>
                  <a:srgbClr val="D9D9D9"/>
                </a:solidFill>
                <a:latin typeface="Calibri"/>
                <a:cs typeface="Calibri"/>
              </a:rPr>
              <a:t>of</a:t>
            </a:r>
            <a:r>
              <a:rPr sz="2400" b="1" spc="-53" dirty="0">
                <a:solidFill>
                  <a:srgbClr val="D9D9D9"/>
                </a:solidFill>
                <a:latin typeface="Calibri"/>
                <a:cs typeface="Calibri"/>
              </a:rPr>
              <a:t> </a:t>
            </a:r>
            <a:r>
              <a:rPr sz="2400" b="1" dirty="0">
                <a:solidFill>
                  <a:srgbClr val="D9D9D9"/>
                </a:solidFill>
                <a:latin typeface="Calibri"/>
                <a:cs typeface="Calibri"/>
              </a:rPr>
              <a:t>Natural</a:t>
            </a:r>
            <a:r>
              <a:rPr sz="2400" b="1" spc="-27" dirty="0">
                <a:solidFill>
                  <a:srgbClr val="D9D9D9"/>
                </a:solidFill>
                <a:latin typeface="Calibri"/>
                <a:cs typeface="Calibri"/>
              </a:rPr>
              <a:t> </a:t>
            </a:r>
            <a:r>
              <a:rPr sz="2400" b="1" spc="-33" dirty="0">
                <a:solidFill>
                  <a:srgbClr val="D9D9D9"/>
                </a:solidFill>
                <a:latin typeface="Calibri"/>
                <a:cs typeface="Calibri"/>
              </a:rPr>
              <a:t>key</a:t>
            </a:r>
            <a:endParaRPr sz="2400">
              <a:latin typeface="Calibri"/>
              <a:cs typeface="Calibri"/>
            </a:endParaRPr>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93480" y="232013"/>
            <a:ext cx="6552546"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Administrate</a:t>
            </a:r>
            <a:r>
              <a:rPr spc="-27" dirty="0">
                <a:solidFill>
                  <a:schemeClr val="bg1"/>
                </a:solidFill>
                <a:latin typeface="+mn-lt"/>
              </a:rPr>
              <a:t> </a:t>
            </a:r>
            <a:r>
              <a:rPr dirty="0">
                <a:solidFill>
                  <a:schemeClr val="bg1"/>
                </a:solidFill>
                <a:latin typeface="+mn-lt"/>
              </a:rPr>
              <a:t>Type</a:t>
            </a:r>
            <a:r>
              <a:rPr spc="-67" dirty="0">
                <a:solidFill>
                  <a:schemeClr val="bg1"/>
                </a:solidFill>
                <a:latin typeface="+mn-lt"/>
              </a:rPr>
              <a:t> </a:t>
            </a:r>
            <a:r>
              <a:rPr dirty="0">
                <a:solidFill>
                  <a:schemeClr val="bg1"/>
                </a:solidFill>
                <a:latin typeface="+mn-lt"/>
              </a:rPr>
              <a:t>2</a:t>
            </a:r>
            <a:r>
              <a:rPr spc="-73" dirty="0">
                <a:solidFill>
                  <a:schemeClr val="bg1"/>
                </a:solidFill>
                <a:latin typeface="+mn-lt"/>
              </a:rPr>
              <a:t> </a:t>
            </a:r>
            <a:r>
              <a:rPr spc="-33" dirty="0">
                <a:solidFill>
                  <a:schemeClr val="bg1"/>
                </a:solidFill>
                <a:latin typeface="+mn-lt"/>
              </a:rPr>
              <a:t>SCD</a:t>
            </a:r>
          </a:p>
        </p:txBody>
      </p:sp>
      <p:graphicFrame>
        <p:nvGraphicFramePr>
          <p:cNvPr id="3" name="object 3"/>
          <p:cNvGraphicFramePr>
            <a:graphicFrameLocks noGrp="1"/>
          </p:cNvGraphicFramePr>
          <p:nvPr>
            <p:extLst>
              <p:ext uri="{D42A27DB-BD31-4B8C-83A1-F6EECF244321}">
                <p14:modId xmlns:p14="http://schemas.microsoft.com/office/powerpoint/2010/main" val="3389624168"/>
              </p:ext>
            </p:extLst>
          </p:nvPr>
        </p:nvGraphicFramePr>
        <p:xfrm>
          <a:off x="2637706" y="1896534"/>
          <a:ext cx="8553757" cy="1454911"/>
        </p:xfrm>
        <a:graphic>
          <a:graphicData uri="http://schemas.openxmlformats.org/drawingml/2006/table">
            <a:tbl>
              <a:tblPr firstRow="1" bandRow="1">
                <a:tableStyleId>{2D5ABB26-0587-4C30-8999-92F81FD0307C}</a:tableStyleId>
              </a:tblPr>
              <a:tblGrid>
                <a:gridCol w="1406370">
                  <a:extLst>
                    <a:ext uri="{9D8B030D-6E8A-4147-A177-3AD203B41FA5}">
                      <a16:colId xmlns:a16="http://schemas.microsoft.com/office/drawing/2014/main" val="20000"/>
                    </a:ext>
                  </a:extLst>
                </a:gridCol>
                <a:gridCol w="1406370">
                  <a:extLst>
                    <a:ext uri="{9D8B030D-6E8A-4147-A177-3AD203B41FA5}">
                      <a16:colId xmlns:a16="http://schemas.microsoft.com/office/drawing/2014/main" val="20001"/>
                    </a:ext>
                  </a:extLst>
                </a:gridCol>
                <a:gridCol w="2320780">
                  <a:extLst>
                    <a:ext uri="{9D8B030D-6E8A-4147-A177-3AD203B41FA5}">
                      <a16:colId xmlns:a16="http://schemas.microsoft.com/office/drawing/2014/main" val="20002"/>
                    </a:ext>
                  </a:extLst>
                </a:gridCol>
                <a:gridCol w="1140079">
                  <a:extLst>
                    <a:ext uri="{9D8B030D-6E8A-4147-A177-3AD203B41FA5}">
                      <a16:colId xmlns:a16="http://schemas.microsoft.com/office/drawing/2014/main" val="20003"/>
                    </a:ext>
                  </a:extLst>
                </a:gridCol>
                <a:gridCol w="1140079">
                  <a:extLst>
                    <a:ext uri="{9D8B030D-6E8A-4147-A177-3AD203B41FA5}">
                      <a16:colId xmlns:a16="http://schemas.microsoft.com/office/drawing/2014/main" val="20004"/>
                    </a:ext>
                  </a:extLst>
                </a:gridCol>
                <a:gridCol w="1140079">
                  <a:extLst>
                    <a:ext uri="{9D8B030D-6E8A-4147-A177-3AD203B41FA5}">
                      <a16:colId xmlns:a16="http://schemas.microsoft.com/office/drawing/2014/main" val="20005"/>
                    </a:ext>
                  </a:extLst>
                </a:gridCol>
              </a:tblGrid>
              <a:tr h="264980">
                <a:tc>
                  <a:txBody>
                    <a:bodyPr/>
                    <a:lstStyle/>
                    <a:p>
                      <a:pPr algn="ctr">
                        <a:lnSpc>
                          <a:spcPct val="100000"/>
                        </a:lnSpc>
                        <a:spcBef>
                          <a:spcPts val="60"/>
                        </a:spcBef>
                      </a:pPr>
                      <a:r>
                        <a:rPr sz="1400" b="1" spc="-10" dirty="0">
                          <a:solidFill>
                            <a:schemeClr val="bg1"/>
                          </a:solidFill>
                          <a:latin typeface="Arial"/>
                          <a:cs typeface="Arial"/>
                        </a:rPr>
                        <a:t>Product_PK</a:t>
                      </a:r>
                      <a:endParaRPr sz="140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gn="ctr">
                        <a:lnSpc>
                          <a:spcPct val="100000"/>
                        </a:lnSpc>
                        <a:spcBef>
                          <a:spcPts val="60"/>
                        </a:spcBef>
                      </a:pPr>
                      <a:r>
                        <a:rPr sz="1400" b="1" spc="-10" dirty="0">
                          <a:solidFill>
                            <a:schemeClr val="bg1"/>
                          </a:solidFill>
                          <a:latin typeface="Arial"/>
                          <a:cs typeface="Arial"/>
                        </a:rPr>
                        <a:t>Product_ID</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635" algn="ctr">
                        <a:lnSpc>
                          <a:spcPct val="100000"/>
                        </a:lnSpc>
                        <a:spcBef>
                          <a:spcPts val="60"/>
                        </a:spcBef>
                      </a:pPr>
                      <a:r>
                        <a:rPr sz="1400" b="1" spc="-20" dirty="0">
                          <a:solidFill>
                            <a:schemeClr val="bg1"/>
                          </a:solidFill>
                          <a:latin typeface="Arial"/>
                          <a:cs typeface="Arial"/>
                        </a:rPr>
                        <a:t>Name</a:t>
                      </a:r>
                      <a:endParaRPr sz="140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5080" algn="ctr">
                        <a:lnSpc>
                          <a:spcPct val="100000"/>
                        </a:lnSpc>
                        <a:spcBef>
                          <a:spcPts val="60"/>
                        </a:spcBef>
                      </a:pPr>
                      <a:r>
                        <a:rPr sz="1400" b="1" spc="-10" dirty="0">
                          <a:solidFill>
                            <a:schemeClr val="bg1"/>
                          </a:solidFill>
                          <a:latin typeface="Arial"/>
                          <a:cs typeface="Arial"/>
                        </a:rPr>
                        <a:t>Category</a:t>
                      </a:r>
                      <a:endParaRPr sz="140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2540" algn="ctr">
                        <a:lnSpc>
                          <a:spcPct val="100000"/>
                        </a:lnSpc>
                        <a:spcBef>
                          <a:spcPts val="60"/>
                        </a:spcBef>
                      </a:pPr>
                      <a:r>
                        <a:rPr sz="1400" b="1" spc="-10" dirty="0">
                          <a:solidFill>
                            <a:schemeClr val="bg1"/>
                          </a:solidFill>
                          <a:latin typeface="Arial"/>
                          <a:cs typeface="Arial"/>
                        </a:rPr>
                        <a:t>Ef_Date</a:t>
                      </a:r>
                      <a:endParaRPr sz="140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3175" algn="ctr">
                        <a:lnSpc>
                          <a:spcPct val="100000"/>
                        </a:lnSpc>
                        <a:spcBef>
                          <a:spcPts val="60"/>
                        </a:spcBef>
                      </a:pPr>
                      <a:r>
                        <a:rPr sz="1400" b="1" spc="-10" dirty="0">
                          <a:solidFill>
                            <a:schemeClr val="bg1"/>
                          </a:solidFill>
                          <a:latin typeface="Arial"/>
                          <a:cs typeface="Arial"/>
                        </a:rPr>
                        <a:t>Ex_Date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97731">
                <a:tc>
                  <a:txBody>
                    <a:bodyPr/>
                    <a:lstStyle/>
                    <a:p>
                      <a:pPr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SG-</a:t>
                      </a:r>
                      <a:r>
                        <a:rPr sz="1400" spc="-25" dirty="0">
                          <a:latin typeface="Arial MT"/>
                          <a:cs typeface="Arial MT"/>
                        </a:rPr>
                        <a:t>TR7</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dirty="0">
                          <a:latin typeface="Arial MT"/>
                          <a:cs typeface="Arial MT"/>
                        </a:rPr>
                        <a:t>Sunglases</a:t>
                      </a:r>
                      <a:r>
                        <a:rPr sz="1400" spc="-55" dirty="0">
                          <a:latin typeface="Arial MT"/>
                          <a:cs typeface="Arial MT"/>
                        </a:rPr>
                        <a:t> </a:t>
                      </a:r>
                      <a:r>
                        <a:rPr sz="1400" dirty="0">
                          <a:latin typeface="Arial MT"/>
                          <a:cs typeface="Arial MT"/>
                        </a:rPr>
                        <a:t>TR-</a:t>
                      </a:r>
                      <a:r>
                        <a:rPr sz="1400" spc="-50" dirty="0">
                          <a:latin typeface="Arial MT"/>
                          <a:cs typeface="Arial MT"/>
                        </a:rPr>
                        <a:t>7</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10" dirty="0">
                          <a:latin typeface="Arial MT"/>
                          <a:cs typeface="Arial MT"/>
                        </a:rPr>
                        <a:t>Assecoirs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a:t>
                      </a:r>
                      <a:r>
                        <a:rPr sz="1400" spc="-25" dirty="0">
                          <a:latin typeface="Arial MT"/>
                          <a:cs typeface="Arial MT"/>
                        </a:rPr>
                        <a:t>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5"/>
                        </a:spcBef>
                      </a:pPr>
                      <a:r>
                        <a:rPr sz="1400" spc="-10" dirty="0">
                          <a:latin typeface="Arial MT"/>
                          <a:cs typeface="Arial MT"/>
                        </a:rPr>
                        <a:t>2100-01-</a:t>
                      </a:r>
                      <a:r>
                        <a:rPr sz="1400" spc="-25" dirty="0">
                          <a:latin typeface="Arial MT"/>
                          <a:cs typeface="Arial MT"/>
                        </a:rPr>
                        <a:t>01</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96738">
                <a:tc>
                  <a:txBody>
                    <a:bodyPr/>
                    <a:lstStyle/>
                    <a:p>
                      <a:pPr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CH-</a:t>
                      </a:r>
                      <a:r>
                        <a:rPr sz="1400" spc="-25" dirty="0">
                          <a:latin typeface="Arial MT"/>
                          <a:cs typeface="Arial MT"/>
                        </a:rPr>
                        <a:t>B70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dirty="0">
                          <a:latin typeface="Arial MT"/>
                          <a:cs typeface="Arial MT"/>
                        </a:rPr>
                        <a:t>Chocolate</a:t>
                      </a:r>
                      <a:r>
                        <a:rPr sz="1400" spc="-25" dirty="0">
                          <a:latin typeface="Arial MT"/>
                          <a:cs typeface="Arial MT"/>
                        </a:rPr>
                        <a:t> </a:t>
                      </a:r>
                      <a:r>
                        <a:rPr sz="1400" dirty="0">
                          <a:latin typeface="Arial MT"/>
                          <a:cs typeface="Arial MT"/>
                        </a:rPr>
                        <a:t>bar</a:t>
                      </a:r>
                      <a:r>
                        <a:rPr sz="1400" spc="-10" dirty="0">
                          <a:latin typeface="Arial MT"/>
                          <a:cs typeface="Arial MT"/>
                        </a:rPr>
                        <a:t> </a:t>
                      </a:r>
                      <a:r>
                        <a:rPr sz="1400" dirty="0">
                          <a:latin typeface="Arial MT"/>
                          <a:cs typeface="Arial MT"/>
                        </a:rPr>
                        <a:t>70%</a:t>
                      </a:r>
                      <a:r>
                        <a:rPr sz="1400" spc="-15" dirty="0">
                          <a:latin typeface="Arial MT"/>
                          <a:cs typeface="Arial MT"/>
                        </a:rPr>
                        <a:t> </a:t>
                      </a:r>
                      <a:r>
                        <a:rPr sz="1400" spc="-10" dirty="0">
                          <a:latin typeface="Arial MT"/>
                          <a:cs typeface="Arial MT"/>
                        </a:rPr>
                        <a:t>cacao</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Sweets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a:t>
                      </a:r>
                      <a:r>
                        <a:rPr sz="1400" spc="-25" dirty="0">
                          <a:latin typeface="Arial MT"/>
                          <a:cs typeface="Arial MT"/>
                        </a:rPr>
                        <a:t>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5"/>
                        </a:spcBef>
                      </a:pPr>
                      <a:r>
                        <a:rPr sz="1400" spc="-10" dirty="0">
                          <a:latin typeface="Arial MT"/>
                          <a:cs typeface="Arial MT"/>
                        </a:rPr>
                        <a:t>2100-01-</a:t>
                      </a:r>
                      <a:r>
                        <a:rPr sz="1400" spc="-25" dirty="0">
                          <a:latin typeface="Arial MT"/>
                          <a:cs typeface="Arial MT"/>
                        </a:rPr>
                        <a:t>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97731">
                <a:tc>
                  <a:txBody>
                    <a:bodyPr/>
                    <a:lstStyle/>
                    <a:p>
                      <a:pPr algn="ctr">
                        <a:lnSpc>
                          <a:spcPct val="10000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OT-</a:t>
                      </a:r>
                      <a:r>
                        <a:rPr sz="1400" spc="-25" dirty="0">
                          <a:latin typeface="Arial MT"/>
                          <a:cs typeface="Arial MT"/>
                        </a:rPr>
                        <a:t>BSC</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dirty="0">
                          <a:latin typeface="Arial MT"/>
                          <a:cs typeface="Arial MT"/>
                        </a:rPr>
                        <a:t>Oat</a:t>
                      </a:r>
                      <a:r>
                        <a:rPr sz="1400" spc="-25" dirty="0">
                          <a:latin typeface="Arial MT"/>
                          <a:cs typeface="Arial MT"/>
                        </a:rPr>
                        <a:t> </a:t>
                      </a:r>
                      <a:r>
                        <a:rPr sz="1400" dirty="0">
                          <a:latin typeface="Arial MT"/>
                          <a:cs typeface="Arial MT"/>
                        </a:rPr>
                        <a:t>meal</a:t>
                      </a:r>
                      <a:r>
                        <a:rPr sz="1400" spc="-35" dirty="0">
                          <a:latin typeface="Arial MT"/>
                          <a:cs typeface="Arial MT"/>
                        </a:rPr>
                        <a:t> </a:t>
                      </a:r>
                      <a:r>
                        <a:rPr sz="1400" spc="-10" dirty="0">
                          <a:latin typeface="Arial MT"/>
                          <a:cs typeface="Arial MT"/>
                        </a:rPr>
                        <a:t>biscuits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10" dirty="0">
                          <a:latin typeface="Arial MT"/>
                          <a:cs typeface="Arial MT"/>
                        </a:rPr>
                        <a:t>Sweets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a:t>
                      </a:r>
                      <a:r>
                        <a:rPr sz="1400" spc="-25" dirty="0">
                          <a:latin typeface="Arial MT"/>
                          <a:cs typeface="Arial MT"/>
                        </a:rPr>
                        <a:t>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5"/>
                        </a:spcBef>
                      </a:pPr>
                      <a:r>
                        <a:rPr sz="1400" spc="-10" dirty="0">
                          <a:latin typeface="Arial MT"/>
                          <a:cs typeface="Arial MT"/>
                        </a:rPr>
                        <a:t>2022-05-</a:t>
                      </a:r>
                      <a:r>
                        <a:rPr sz="1400" spc="-25" dirty="0">
                          <a:latin typeface="Arial MT"/>
                          <a:cs typeface="Arial MT"/>
                        </a:rPr>
                        <a:t>31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97731">
                <a:tc>
                  <a:txBody>
                    <a:bodyPr/>
                    <a:lstStyle/>
                    <a:p>
                      <a:pPr algn="ctr">
                        <a:lnSpc>
                          <a:spcPct val="100000"/>
                        </a:lnSpc>
                        <a:spcBef>
                          <a:spcPts val="225"/>
                        </a:spcBef>
                      </a:pPr>
                      <a:r>
                        <a:rPr sz="1400" spc="-50" dirty="0">
                          <a:solidFill>
                            <a:srgbClr val="008BBE"/>
                          </a:solidFill>
                          <a:latin typeface="Arial MT"/>
                          <a:cs typeface="Arial MT"/>
                        </a:rPr>
                        <a:t>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solidFill>
                            <a:srgbClr val="008BBE"/>
                          </a:solidFill>
                          <a:latin typeface="Arial MT"/>
                          <a:cs typeface="Arial MT"/>
                        </a:rPr>
                        <a:t>OT-</a:t>
                      </a:r>
                      <a:r>
                        <a:rPr sz="1400" spc="-25" dirty="0">
                          <a:solidFill>
                            <a:srgbClr val="008BBE"/>
                          </a:solidFill>
                          <a:latin typeface="Arial MT"/>
                          <a:cs typeface="Arial MT"/>
                        </a:rPr>
                        <a:t>BSC</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dirty="0">
                          <a:solidFill>
                            <a:srgbClr val="008BBE"/>
                          </a:solidFill>
                          <a:latin typeface="Arial MT"/>
                          <a:cs typeface="Arial MT"/>
                        </a:rPr>
                        <a:t>Delicious</a:t>
                      </a:r>
                      <a:r>
                        <a:rPr sz="1400" spc="-50" dirty="0">
                          <a:solidFill>
                            <a:srgbClr val="008BBE"/>
                          </a:solidFill>
                          <a:latin typeface="Arial MT"/>
                          <a:cs typeface="Arial MT"/>
                        </a:rPr>
                        <a:t> </a:t>
                      </a:r>
                      <a:r>
                        <a:rPr sz="1400" dirty="0">
                          <a:solidFill>
                            <a:srgbClr val="008BBE"/>
                          </a:solidFill>
                          <a:latin typeface="Arial MT"/>
                          <a:cs typeface="Arial MT"/>
                        </a:rPr>
                        <a:t>Oat</a:t>
                      </a:r>
                      <a:r>
                        <a:rPr sz="1400" spc="-25" dirty="0">
                          <a:solidFill>
                            <a:srgbClr val="008BBE"/>
                          </a:solidFill>
                          <a:latin typeface="Arial MT"/>
                          <a:cs typeface="Arial MT"/>
                        </a:rPr>
                        <a:t> </a:t>
                      </a:r>
                      <a:r>
                        <a:rPr sz="1400" dirty="0">
                          <a:solidFill>
                            <a:srgbClr val="008BBE"/>
                          </a:solidFill>
                          <a:latin typeface="Arial MT"/>
                          <a:cs typeface="Arial MT"/>
                        </a:rPr>
                        <a:t>meal</a:t>
                      </a:r>
                      <a:r>
                        <a:rPr sz="1400" spc="-40" dirty="0">
                          <a:solidFill>
                            <a:srgbClr val="008BBE"/>
                          </a:solidFill>
                          <a:latin typeface="Arial MT"/>
                          <a:cs typeface="Arial MT"/>
                        </a:rPr>
                        <a:t> </a:t>
                      </a:r>
                      <a:r>
                        <a:rPr sz="1400" spc="-10" dirty="0">
                          <a:solidFill>
                            <a:srgbClr val="008BBE"/>
                          </a:solidFill>
                          <a:latin typeface="Arial MT"/>
                          <a:cs typeface="Arial MT"/>
                        </a:rPr>
                        <a:t>biscuits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solidFill>
                            <a:srgbClr val="008BBE"/>
                          </a:solidFill>
                          <a:latin typeface="Arial MT"/>
                          <a:cs typeface="Arial MT"/>
                        </a:rPr>
                        <a:t>Buscuits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solidFill>
                            <a:srgbClr val="008BBE"/>
                          </a:solidFill>
                          <a:latin typeface="Arial MT"/>
                          <a:cs typeface="Arial MT"/>
                        </a:rPr>
                        <a:t>2022-06-</a:t>
                      </a:r>
                      <a:r>
                        <a:rPr sz="1400" spc="-25" dirty="0">
                          <a:solidFill>
                            <a:srgbClr val="008BBE"/>
                          </a:solidFill>
                          <a:latin typeface="Arial MT"/>
                          <a:cs typeface="Arial MT"/>
                        </a:rPr>
                        <a:t>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5"/>
                        </a:spcBef>
                      </a:pPr>
                      <a:r>
                        <a:rPr sz="1400" spc="-10" dirty="0">
                          <a:solidFill>
                            <a:srgbClr val="008BBE"/>
                          </a:solidFill>
                          <a:latin typeface="Arial MT"/>
                          <a:cs typeface="Arial MT"/>
                        </a:rPr>
                        <a:t>2100-01-</a:t>
                      </a:r>
                      <a:r>
                        <a:rPr sz="1400" spc="-25" dirty="0">
                          <a:solidFill>
                            <a:srgbClr val="008BBE"/>
                          </a:solidFill>
                          <a:latin typeface="Arial MT"/>
                          <a:cs typeface="Arial MT"/>
                        </a:rPr>
                        <a:t>01</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bl>
          </a:graphicData>
        </a:graphic>
      </p:graphicFrame>
      <p:pic>
        <p:nvPicPr>
          <p:cNvPr id="4" name="object 4"/>
          <p:cNvPicPr/>
          <p:nvPr/>
        </p:nvPicPr>
        <p:blipFill>
          <a:blip r:embed="rId2" cstate="print"/>
          <a:stretch>
            <a:fillRect/>
          </a:stretch>
        </p:blipFill>
        <p:spPr>
          <a:xfrm>
            <a:off x="1" y="782286"/>
            <a:ext cx="4067047" cy="1616489"/>
          </a:xfrm>
          <a:prstGeom prst="rect">
            <a:avLst/>
          </a:prstGeom>
        </p:spPr>
      </p:pic>
      <p:sp>
        <p:nvSpPr>
          <p:cNvPr id="7" name="object 7"/>
          <p:cNvSpPr/>
          <p:nvPr/>
        </p:nvSpPr>
        <p:spPr>
          <a:xfrm>
            <a:off x="305816" y="988567"/>
            <a:ext cx="3352800" cy="774700"/>
          </a:xfrm>
          <a:custGeom>
            <a:avLst/>
            <a:gdLst/>
            <a:ahLst/>
            <a:cxnLst/>
            <a:rect l="l" t="t" r="r" b="b"/>
            <a:pathLst>
              <a:path w="2514600" h="581025">
                <a:moveTo>
                  <a:pt x="0" y="290322"/>
                </a:moveTo>
                <a:lnTo>
                  <a:pt x="145161" y="0"/>
                </a:lnTo>
                <a:lnTo>
                  <a:pt x="2369439" y="0"/>
                </a:lnTo>
                <a:lnTo>
                  <a:pt x="2514600" y="290322"/>
                </a:lnTo>
                <a:lnTo>
                  <a:pt x="2369439" y="580644"/>
                </a:lnTo>
                <a:lnTo>
                  <a:pt x="145161" y="580644"/>
                </a:lnTo>
                <a:lnTo>
                  <a:pt x="0" y="290322"/>
                </a:lnTo>
                <a:close/>
              </a:path>
            </a:pathLst>
          </a:custGeom>
          <a:ln w="19812">
            <a:solidFill>
              <a:srgbClr val="00C3FF"/>
            </a:solidFill>
          </a:ln>
        </p:spPr>
        <p:txBody>
          <a:bodyPr wrap="square" lIns="0" tIns="0" rIns="0" bIns="0" rtlCol="0"/>
          <a:lstStyle/>
          <a:p>
            <a:endParaRPr sz="2400"/>
          </a:p>
        </p:txBody>
      </p:sp>
      <p:sp>
        <p:nvSpPr>
          <p:cNvPr id="8" name="object 8"/>
          <p:cNvSpPr txBox="1"/>
          <p:nvPr/>
        </p:nvSpPr>
        <p:spPr>
          <a:xfrm>
            <a:off x="1163659" y="1132773"/>
            <a:ext cx="1643380" cy="428387"/>
          </a:xfrm>
          <a:prstGeom prst="rect">
            <a:avLst/>
          </a:prstGeom>
        </p:spPr>
        <p:txBody>
          <a:bodyPr vert="horz" wrap="square" lIns="0" tIns="17780" rIns="0" bIns="0" rtlCol="0">
            <a:spAutoFit/>
          </a:bodyPr>
          <a:lstStyle/>
          <a:p>
            <a:pPr marL="16933">
              <a:spcBef>
                <a:spcPts val="140"/>
              </a:spcBef>
            </a:pPr>
            <a:r>
              <a:rPr sz="2667" b="1" dirty="0">
                <a:solidFill>
                  <a:srgbClr val="CCEAFF"/>
                </a:solidFill>
                <a:latin typeface="Calibri"/>
                <a:cs typeface="Calibri"/>
              </a:rPr>
              <a:t>Correct</a:t>
            </a:r>
            <a:r>
              <a:rPr sz="2667" b="1" spc="-33" dirty="0">
                <a:solidFill>
                  <a:srgbClr val="CCEAFF"/>
                </a:solidFill>
                <a:latin typeface="Calibri"/>
                <a:cs typeface="Calibri"/>
              </a:rPr>
              <a:t> FK?</a:t>
            </a:r>
            <a:endParaRPr sz="2667">
              <a:latin typeface="Calibri"/>
              <a:cs typeface="Calibri"/>
            </a:endParaRPr>
          </a:p>
        </p:txBody>
      </p:sp>
      <p:sp>
        <p:nvSpPr>
          <p:cNvPr id="9" name="object 9"/>
          <p:cNvSpPr txBox="1"/>
          <p:nvPr/>
        </p:nvSpPr>
        <p:spPr>
          <a:xfrm>
            <a:off x="2543726" y="3506555"/>
            <a:ext cx="7592060" cy="1214862"/>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Add</a:t>
            </a:r>
            <a:r>
              <a:rPr sz="2400" b="1" spc="-40" dirty="0">
                <a:solidFill>
                  <a:srgbClr val="D9D9D9"/>
                </a:solidFill>
                <a:latin typeface="Calibri"/>
                <a:cs typeface="Calibri"/>
              </a:rPr>
              <a:t> </a:t>
            </a:r>
            <a:r>
              <a:rPr sz="2400" b="1" dirty="0">
                <a:solidFill>
                  <a:srgbClr val="D9D9D9"/>
                </a:solidFill>
                <a:latin typeface="Calibri"/>
                <a:cs typeface="Calibri"/>
              </a:rPr>
              <a:t>row</a:t>
            </a:r>
            <a:r>
              <a:rPr sz="2400" b="1" spc="-13" dirty="0">
                <a:solidFill>
                  <a:srgbClr val="D9D9D9"/>
                </a:solidFill>
                <a:latin typeface="Calibri"/>
                <a:cs typeface="Calibri"/>
              </a:rPr>
              <a:t> </a:t>
            </a:r>
            <a:r>
              <a:rPr sz="2400" b="1" dirty="0">
                <a:solidFill>
                  <a:srgbClr val="D9D9D9"/>
                </a:solidFill>
                <a:latin typeface="Calibri"/>
                <a:cs typeface="Calibri"/>
              </a:rPr>
              <a:t>in</a:t>
            </a:r>
            <a:r>
              <a:rPr sz="2400" b="1" spc="-27" dirty="0">
                <a:solidFill>
                  <a:srgbClr val="D9D9D9"/>
                </a:solidFill>
                <a:latin typeface="Calibri"/>
                <a:cs typeface="Calibri"/>
              </a:rPr>
              <a:t> </a:t>
            </a:r>
            <a:r>
              <a:rPr sz="2400" b="1" dirty="0">
                <a:solidFill>
                  <a:srgbClr val="D9D9D9"/>
                </a:solidFill>
                <a:latin typeface="Calibri"/>
                <a:cs typeface="Calibri"/>
              </a:rPr>
              <a:t>the</a:t>
            </a:r>
            <a:r>
              <a:rPr sz="2400" b="1" spc="-33" dirty="0">
                <a:solidFill>
                  <a:srgbClr val="D9D9D9"/>
                </a:solidFill>
                <a:latin typeface="Calibri"/>
                <a:cs typeface="Calibri"/>
              </a:rPr>
              <a:t> </a:t>
            </a:r>
            <a:r>
              <a:rPr sz="2400" b="1" dirty="0">
                <a:solidFill>
                  <a:srgbClr val="D9D9D9"/>
                </a:solidFill>
                <a:latin typeface="Calibri"/>
                <a:cs typeface="Calibri"/>
              </a:rPr>
              <a:t>Dimension</a:t>
            </a:r>
            <a:r>
              <a:rPr sz="2400" b="1" spc="-67" dirty="0">
                <a:solidFill>
                  <a:srgbClr val="D9D9D9"/>
                </a:solidFill>
                <a:latin typeface="Calibri"/>
                <a:cs typeface="Calibri"/>
              </a:rPr>
              <a:t> </a:t>
            </a:r>
            <a:r>
              <a:rPr sz="2400" b="1" spc="-27" dirty="0">
                <a:solidFill>
                  <a:srgbClr val="D9D9D9"/>
                </a:solidFill>
                <a:latin typeface="Calibri"/>
                <a:cs typeface="Calibri"/>
              </a:rPr>
              <a:t>first</a:t>
            </a:r>
            <a:endParaRPr sz="2400" dirty="0">
              <a:latin typeface="Calibri"/>
              <a:cs typeface="Calibri"/>
            </a:endParaRPr>
          </a:p>
          <a:p>
            <a:pPr>
              <a:spcBef>
                <a:spcPts val="713"/>
              </a:spcBef>
              <a:buClr>
                <a:srgbClr val="99D3FF"/>
              </a:buClr>
              <a:buFont typeface="Wingdings"/>
              <a:buChar char=""/>
            </a:pPr>
            <a:endParaRPr sz="2400" dirty="0">
              <a:latin typeface="Calibri"/>
              <a:cs typeface="Calibri"/>
            </a:endParaRPr>
          </a:p>
          <a:p>
            <a:pPr marL="397923" indent="-380990">
              <a:buClr>
                <a:srgbClr val="99D3FF"/>
              </a:buClr>
              <a:buFont typeface="Wingdings"/>
              <a:buChar char=""/>
              <a:tabLst>
                <a:tab pos="397923" algn="l"/>
              </a:tabLst>
            </a:pPr>
            <a:r>
              <a:rPr sz="2400" b="1" dirty="0">
                <a:solidFill>
                  <a:srgbClr val="D9D9D9"/>
                </a:solidFill>
                <a:latin typeface="Calibri"/>
                <a:cs typeface="Calibri"/>
              </a:rPr>
              <a:t>Lookup</a:t>
            </a:r>
            <a:r>
              <a:rPr sz="2400" b="1" spc="-40" dirty="0">
                <a:solidFill>
                  <a:srgbClr val="D9D9D9"/>
                </a:solidFill>
                <a:latin typeface="Calibri"/>
                <a:cs typeface="Calibri"/>
              </a:rPr>
              <a:t> </a:t>
            </a:r>
            <a:r>
              <a:rPr sz="2400" b="1" dirty="0">
                <a:solidFill>
                  <a:srgbClr val="D9D9D9"/>
                </a:solidFill>
                <a:latin typeface="Calibri"/>
                <a:cs typeface="Calibri"/>
              </a:rPr>
              <a:t>in</a:t>
            </a:r>
            <a:r>
              <a:rPr sz="2400" b="1" spc="-13" dirty="0">
                <a:solidFill>
                  <a:srgbClr val="D9D9D9"/>
                </a:solidFill>
                <a:latin typeface="Calibri"/>
                <a:cs typeface="Calibri"/>
              </a:rPr>
              <a:t> </a:t>
            </a:r>
            <a:r>
              <a:rPr sz="2400" b="1" dirty="0">
                <a:solidFill>
                  <a:srgbClr val="D9D9D9"/>
                </a:solidFill>
                <a:latin typeface="Calibri"/>
                <a:cs typeface="Calibri"/>
              </a:rPr>
              <a:t>the</a:t>
            </a:r>
            <a:r>
              <a:rPr sz="2400" b="1" spc="-33" dirty="0">
                <a:solidFill>
                  <a:srgbClr val="D9D9D9"/>
                </a:solidFill>
                <a:latin typeface="Calibri"/>
                <a:cs typeface="Calibri"/>
              </a:rPr>
              <a:t> </a:t>
            </a:r>
            <a:r>
              <a:rPr sz="2400" b="1" dirty="0">
                <a:solidFill>
                  <a:srgbClr val="D9D9D9"/>
                </a:solidFill>
                <a:latin typeface="Calibri"/>
                <a:cs typeface="Calibri"/>
              </a:rPr>
              <a:t>Dimension</a:t>
            </a:r>
            <a:r>
              <a:rPr sz="2400" b="1" spc="-80" dirty="0">
                <a:solidFill>
                  <a:srgbClr val="D9D9D9"/>
                </a:solidFill>
                <a:latin typeface="Calibri"/>
                <a:cs typeface="Calibri"/>
              </a:rPr>
              <a:t> </a:t>
            </a:r>
            <a:r>
              <a:rPr sz="2400" b="1" dirty="0">
                <a:solidFill>
                  <a:srgbClr val="D9D9D9"/>
                </a:solidFill>
                <a:latin typeface="Calibri"/>
                <a:cs typeface="Calibri"/>
              </a:rPr>
              <a:t>with</a:t>
            </a:r>
            <a:r>
              <a:rPr sz="2400" b="1" spc="-13" dirty="0">
                <a:solidFill>
                  <a:srgbClr val="D9D9D9"/>
                </a:solidFill>
                <a:latin typeface="Calibri"/>
                <a:cs typeface="Calibri"/>
              </a:rPr>
              <a:t> </a:t>
            </a:r>
            <a:r>
              <a:rPr sz="2400" b="1" dirty="0">
                <a:solidFill>
                  <a:srgbClr val="D9D9D9"/>
                </a:solidFill>
                <a:latin typeface="Calibri"/>
                <a:cs typeface="Calibri"/>
              </a:rPr>
              <a:t>Natural</a:t>
            </a:r>
            <a:r>
              <a:rPr sz="2400" b="1" spc="-27" dirty="0">
                <a:solidFill>
                  <a:srgbClr val="D9D9D9"/>
                </a:solidFill>
                <a:latin typeface="Calibri"/>
                <a:cs typeface="Calibri"/>
              </a:rPr>
              <a:t> </a:t>
            </a:r>
            <a:r>
              <a:rPr sz="2400" b="1" dirty="0">
                <a:solidFill>
                  <a:srgbClr val="D9D9D9"/>
                </a:solidFill>
                <a:latin typeface="Calibri"/>
                <a:cs typeface="Calibri"/>
              </a:rPr>
              <a:t>key</a:t>
            </a:r>
            <a:r>
              <a:rPr sz="2400" b="1" spc="-33" dirty="0">
                <a:solidFill>
                  <a:srgbClr val="D9D9D9"/>
                </a:solidFill>
                <a:latin typeface="Calibri"/>
                <a:cs typeface="Calibri"/>
              </a:rPr>
              <a:t> </a:t>
            </a:r>
            <a:r>
              <a:rPr sz="2400" b="1" dirty="0">
                <a:solidFill>
                  <a:srgbClr val="D9D9D9"/>
                </a:solidFill>
                <a:latin typeface="Calibri"/>
                <a:cs typeface="Calibri"/>
              </a:rPr>
              <a:t>+</a:t>
            </a:r>
            <a:r>
              <a:rPr sz="2400" b="1" spc="-13" dirty="0">
                <a:solidFill>
                  <a:srgbClr val="D9D9D9"/>
                </a:solidFill>
                <a:latin typeface="Calibri"/>
                <a:cs typeface="Calibri"/>
              </a:rPr>
              <a:t> Ef_/Ex_Date</a:t>
            </a:r>
            <a:endParaRPr sz="2400" dirty="0">
              <a:latin typeface="Calibri"/>
              <a:cs typeface="Calibri"/>
            </a:endParaRPr>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93480" y="232013"/>
            <a:ext cx="6373642"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Administrate</a:t>
            </a:r>
            <a:r>
              <a:rPr spc="-27" dirty="0">
                <a:solidFill>
                  <a:schemeClr val="bg1"/>
                </a:solidFill>
                <a:latin typeface="+mn-lt"/>
              </a:rPr>
              <a:t> </a:t>
            </a:r>
            <a:r>
              <a:rPr dirty="0">
                <a:solidFill>
                  <a:schemeClr val="bg1"/>
                </a:solidFill>
                <a:latin typeface="+mn-lt"/>
              </a:rPr>
              <a:t>Type</a:t>
            </a:r>
            <a:r>
              <a:rPr spc="-67" dirty="0">
                <a:solidFill>
                  <a:schemeClr val="bg1"/>
                </a:solidFill>
                <a:latin typeface="+mn-lt"/>
              </a:rPr>
              <a:t> </a:t>
            </a:r>
            <a:r>
              <a:rPr dirty="0">
                <a:solidFill>
                  <a:schemeClr val="bg1"/>
                </a:solidFill>
                <a:latin typeface="+mn-lt"/>
              </a:rPr>
              <a:t>2</a:t>
            </a:r>
            <a:r>
              <a:rPr spc="-73" dirty="0">
                <a:solidFill>
                  <a:schemeClr val="bg1"/>
                </a:solidFill>
                <a:latin typeface="+mn-lt"/>
              </a:rPr>
              <a:t> </a:t>
            </a:r>
            <a:r>
              <a:rPr spc="-33" dirty="0">
                <a:solidFill>
                  <a:schemeClr val="bg1"/>
                </a:solidFill>
                <a:latin typeface="+mn-lt"/>
              </a:rPr>
              <a:t>SCD</a:t>
            </a:r>
          </a:p>
        </p:txBody>
      </p:sp>
      <p:graphicFrame>
        <p:nvGraphicFramePr>
          <p:cNvPr id="3" name="object 3"/>
          <p:cNvGraphicFramePr>
            <a:graphicFrameLocks noGrp="1"/>
          </p:cNvGraphicFramePr>
          <p:nvPr>
            <p:extLst>
              <p:ext uri="{D42A27DB-BD31-4B8C-83A1-F6EECF244321}">
                <p14:modId xmlns:p14="http://schemas.microsoft.com/office/powerpoint/2010/main" val="367010243"/>
              </p:ext>
            </p:extLst>
          </p:nvPr>
        </p:nvGraphicFramePr>
        <p:xfrm>
          <a:off x="2279735" y="1998811"/>
          <a:ext cx="9190022" cy="1616489"/>
        </p:xfrm>
        <a:graphic>
          <a:graphicData uri="http://schemas.openxmlformats.org/drawingml/2006/table">
            <a:tbl>
              <a:tblPr firstRow="1" bandRow="1">
                <a:tableStyleId>{2D5ABB26-0587-4C30-8999-92F81FD0307C}</a:tableStyleId>
              </a:tblPr>
              <a:tblGrid>
                <a:gridCol w="1332945">
                  <a:extLst>
                    <a:ext uri="{9D8B030D-6E8A-4147-A177-3AD203B41FA5}">
                      <a16:colId xmlns:a16="http://schemas.microsoft.com/office/drawing/2014/main" val="20000"/>
                    </a:ext>
                  </a:extLst>
                </a:gridCol>
                <a:gridCol w="1230616">
                  <a:extLst>
                    <a:ext uri="{9D8B030D-6E8A-4147-A177-3AD203B41FA5}">
                      <a16:colId xmlns:a16="http://schemas.microsoft.com/office/drawing/2014/main" val="20001"/>
                    </a:ext>
                  </a:extLst>
                </a:gridCol>
                <a:gridCol w="2301953">
                  <a:extLst>
                    <a:ext uri="{9D8B030D-6E8A-4147-A177-3AD203B41FA5}">
                      <a16:colId xmlns:a16="http://schemas.microsoft.com/office/drawing/2014/main" val="20002"/>
                    </a:ext>
                  </a:extLst>
                </a:gridCol>
                <a:gridCol w="1081127">
                  <a:extLst>
                    <a:ext uri="{9D8B030D-6E8A-4147-A177-3AD203B41FA5}">
                      <a16:colId xmlns:a16="http://schemas.microsoft.com/office/drawing/2014/main" val="20003"/>
                    </a:ext>
                  </a:extLst>
                </a:gridCol>
                <a:gridCol w="1081127">
                  <a:extLst>
                    <a:ext uri="{9D8B030D-6E8A-4147-A177-3AD203B41FA5}">
                      <a16:colId xmlns:a16="http://schemas.microsoft.com/office/drawing/2014/main" val="20004"/>
                    </a:ext>
                  </a:extLst>
                </a:gridCol>
                <a:gridCol w="1081127">
                  <a:extLst>
                    <a:ext uri="{9D8B030D-6E8A-4147-A177-3AD203B41FA5}">
                      <a16:colId xmlns:a16="http://schemas.microsoft.com/office/drawing/2014/main" val="20005"/>
                    </a:ext>
                  </a:extLst>
                </a:gridCol>
                <a:gridCol w="1081127">
                  <a:extLst>
                    <a:ext uri="{9D8B030D-6E8A-4147-A177-3AD203B41FA5}">
                      <a16:colId xmlns:a16="http://schemas.microsoft.com/office/drawing/2014/main" val="20006"/>
                    </a:ext>
                  </a:extLst>
                </a:gridCol>
              </a:tblGrid>
              <a:tr h="293305">
                <a:tc>
                  <a:txBody>
                    <a:bodyPr/>
                    <a:lstStyle/>
                    <a:p>
                      <a:pPr algn="ctr">
                        <a:lnSpc>
                          <a:spcPct val="100000"/>
                        </a:lnSpc>
                        <a:spcBef>
                          <a:spcPts val="0"/>
                        </a:spcBef>
                      </a:pPr>
                      <a:r>
                        <a:rPr sz="1400" b="1" spc="-10" dirty="0">
                          <a:solidFill>
                            <a:schemeClr val="bg1"/>
                          </a:solidFill>
                          <a:latin typeface="Arial"/>
                          <a:cs typeface="Arial"/>
                        </a:rPr>
                        <a:t>Product_PK</a:t>
                      </a:r>
                      <a:endParaRPr sz="140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gn="ctr">
                        <a:lnSpc>
                          <a:spcPct val="100000"/>
                        </a:lnSpc>
                        <a:spcBef>
                          <a:spcPts val="0"/>
                        </a:spcBef>
                      </a:pPr>
                      <a:r>
                        <a:rPr sz="1400" b="1" spc="-10" dirty="0">
                          <a:solidFill>
                            <a:schemeClr val="bg1"/>
                          </a:solidFill>
                          <a:latin typeface="Arial"/>
                          <a:cs typeface="Arial"/>
                        </a:rPr>
                        <a:t>Product_ID</a:t>
                      </a:r>
                      <a:endParaRPr sz="140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635" algn="ctr">
                        <a:lnSpc>
                          <a:spcPct val="100000"/>
                        </a:lnSpc>
                        <a:spcBef>
                          <a:spcPts val="0"/>
                        </a:spcBef>
                      </a:pPr>
                      <a:r>
                        <a:rPr sz="1400" b="1" spc="-20" dirty="0">
                          <a:solidFill>
                            <a:schemeClr val="bg1"/>
                          </a:solidFill>
                          <a:latin typeface="Arial"/>
                          <a:cs typeface="Arial"/>
                        </a:rPr>
                        <a:t>Name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3175" algn="ctr">
                        <a:lnSpc>
                          <a:spcPct val="100000"/>
                        </a:lnSpc>
                        <a:spcBef>
                          <a:spcPts val="0"/>
                        </a:spcBef>
                      </a:pPr>
                      <a:r>
                        <a:rPr sz="1400" b="1" spc="-10" dirty="0">
                          <a:solidFill>
                            <a:schemeClr val="bg1"/>
                          </a:solidFill>
                          <a:latin typeface="Arial"/>
                          <a:cs typeface="Arial"/>
                        </a:rPr>
                        <a:t>Category</a:t>
                      </a:r>
                      <a:endParaRPr sz="140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635" algn="ctr">
                        <a:lnSpc>
                          <a:spcPct val="100000"/>
                        </a:lnSpc>
                        <a:spcBef>
                          <a:spcPts val="0"/>
                        </a:spcBef>
                      </a:pPr>
                      <a:r>
                        <a:rPr sz="1400" b="1" spc="-10" dirty="0">
                          <a:solidFill>
                            <a:schemeClr val="bg1"/>
                          </a:solidFill>
                          <a:latin typeface="Arial"/>
                          <a:cs typeface="Arial"/>
                        </a:rPr>
                        <a:t>Ef_Date</a:t>
                      </a:r>
                      <a:endParaRPr sz="140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635" algn="ctr">
                        <a:lnSpc>
                          <a:spcPct val="100000"/>
                        </a:lnSpc>
                        <a:spcBef>
                          <a:spcPts val="0"/>
                        </a:spcBef>
                      </a:pPr>
                      <a:r>
                        <a:rPr sz="1400" b="1" spc="-10" dirty="0">
                          <a:solidFill>
                            <a:schemeClr val="bg1"/>
                          </a:solidFill>
                          <a:latin typeface="Arial"/>
                          <a:cs typeface="Arial"/>
                        </a:rPr>
                        <a:t>Ex_Date</a:t>
                      </a:r>
                      <a:endParaRPr sz="140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905" algn="ctr">
                        <a:lnSpc>
                          <a:spcPct val="100000"/>
                        </a:lnSpc>
                        <a:spcBef>
                          <a:spcPts val="0"/>
                        </a:spcBef>
                      </a:pPr>
                      <a:r>
                        <a:rPr sz="1400" b="1" spc="-10" dirty="0">
                          <a:solidFill>
                            <a:schemeClr val="bg1"/>
                          </a:solidFill>
                          <a:latin typeface="Arial"/>
                          <a:cs typeface="Arial"/>
                        </a:rPr>
                        <a:t>Is_Current</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330796">
                <a:tc>
                  <a:txBody>
                    <a:bodyPr/>
                    <a:lstStyle/>
                    <a:p>
                      <a:pPr algn="ctr">
                        <a:lnSpc>
                          <a:spcPct val="100000"/>
                        </a:lnSpc>
                        <a:spcBef>
                          <a:spcPts val="0"/>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spc="-10" dirty="0">
                          <a:latin typeface="Arial MT"/>
                          <a:cs typeface="Arial MT"/>
                        </a:rPr>
                        <a:t>SG-</a:t>
                      </a:r>
                      <a:r>
                        <a:rPr sz="1400" spc="-25" dirty="0">
                          <a:latin typeface="Arial MT"/>
                          <a:cs typeface="Arial MT"/>
                        </a:rPr>
                        <a:t>TR7</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dirty="0">
                          <a:latin typeface="Arial MT"/>
                          <a:cs typeface="Arial MT"/>
                        </a:rPr>
                        <a:t>Sunglases</a:t>
                      </a:r>
                      <a:r>
                        <a:rPr sz="1400" spc="-55" dirty="0">
                          <a:latin typeface="Arial MT"/>
                          <a:cs typeface="Arial MT"/>
                        </a:rPr>
                        <a:t> </a:t>
                      </a:r>
                      <a:r>
                        <a:rPr sz="1400" dirty="0">
                          <a:latin typeface="Arial MT"/>
                          <a:cs typeface="Arial MT"/>
                        </a:rPr>
                        <a:t>TR-</a:t>
                      </a:r>
                      <a:r>
                        <a:rPr sz="1400" spc="-50" dirty="0">
                          <a:latin typeface="Arial MT"/>
                          <a:cs typeface="Arial MT"/>
                        </a:rPr>
                        <a:t>7</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spc="-10" dirty="0">
                          <a:latin typeface="Arial MT"/>
                          <a:cs typeface="Arial MT"/>
                        </a:rPr>
                        <a:t>Assecoirs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0"/>
                        </a:spcBef>
                      </a:pPr>
                      <a:r>
                        <a:rPr sz="1400" spc="-10" dirty="0">
                          <a:latin typeface="Arial MT"/>
                          <a:cs typeface="Arial MT"/>
                        </a:rPr>
                        <a:t>2022-01-</a:t>
                      </a:r>
                      <a:r>
                        <a:rPr sz="1400" spc="-25" dirty="0">
                          <a:latin typeface="Arial MT"/>
                          <a:cs typeface="Arial MT"/>
                        </a:rPr>
                        <a:t>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0"/>
                        </a:spcBef>
                      </a:pPr>
                      <a:r>
                        <a:rPr sz="1400" spc="-10" dirty="0">
                          <a:latin typeface="Arial MT"/>
                          <a:cs typeface="Arial MT"/>
                        </a:rPr>
                        <a:t>2100-01-</a:t>
                      </a:r>
                      <a:r>
                        <a:rPr sz="1400" spc="-25" dirty="0">
                          <a:latin typeface="Arial MT"/>
                          <a:cs typeface="Arial MT"/>
                        </a:rPr>
                        <a:t>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0"/>
                        </a:spcBef>
                      </a:pPr>
                      <a:r>
                        <a:rPr sz="1400" spc="-25" dirty="0">
                          <a:latin typeface="Arial MT"/>
                          <a:cs typeface="Arial MT"/>
                        </a:rPr>
                        <a:t>Yes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330796">
                <a:tc>
                  <a:txBody>
                    <a:bodyPr/>
                    <a:lstStyle/>
                    <a:p>
                      <a:pPr algn="ctr">
                        <a:lnSpc>
                          <a:spcPct val="100000"/>
                        </a:lnSpc>
                        <a:spcBef>
                          <a:spcPts val="0"/>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0"/>
                        </a:spcBef>
                      </a:pPr>
                      <a:r>
                        <a:rPr sz="1400" spc="-10" dirty="0">
                          <a:latin typeface="Arial MT"/>
                          <a:cs typeface="Arial MT"/>
                        </a:rPr>
                        <a:t>CH-</a:t>
                      </a:r>
                      <a:r>
                        <a:rPr sz="1400" spc="-25" dirty="0">
                          <a:latin typeface="Arial MT"/>
                          <a:cs typeface="Arial MT"/>
                        </a:rPr>
                        <a:t>B70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spc="-10" dirty="0">
                          <a:latin typeface="Arial MT"/>
                          <a:cs typeface="Arial MT"/>
                        </a:rPr>
                        <a:t>Chocolate </a:t>
                      </a:r>
                      <a:r>
                        <a:rPr sz="1400" dirty="0">
                          <a:latin typeface="Arial MT"/>
                          <a:cs typeface="Arial MT"/>
                        </a:rPr>
                        <a:t>bar 70%</a:t>
                      </a:r>
                      <a:r>
                        <a:rPr sz="1400" spc="5" dirty="0">
                          <a:latin typeface="Arial MT"/>
                          <a:cs typeface="Arial MT"/>
                        </a:rPr>
                        <a:t> </a:t>
                      </a:r>
                      <a:r>
                        <a:rPr sz="1400" spc="-10" dirty="0">
                          <a:latin typeface="Arial MT"/>
                          <a:cs typeface="Arial MT"/>
                        </a:rPr>
                        <a:t>cacao</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0"/>
                        </a:spcBef>
                      </a:pPr>
                      <a:r>
                        <a:rPr sz="1400" spc="-10" dirty="0">
                          <a:latin typeface="Arial MT"/>
                          <a:cs typeface="Arial MT"/>
                        </a:rPr>
                        <a:t>Sweets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0"/>
                        </a:spcBef>
                      </a:pPr>
                      <a:r>
                        <a:rPr sz="1400" spc="-10" dirty="0">
                          <a:latin typeface="Arial MT"/>
                          <a:cs typeface="Arial MT"/>
                        </a:rPr>
                        <a:t>2022-01-</a:t>
                      </a:r>
                      <a:r>
                        <a:rPr sz="1400" spc="-25" dirty="0">
                          <a:latin typeface="Arial MT"/>
                          <a:cs typeface="Arial MT"/>
                        </a:rPr>
                        <a:t>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0"/>
                        </a:spcBef>
                      </a:pPr>
                      <a:r>
                        <a:rPr sz="1400" spc="-10" dirty="0">
                          <a:latin typeface="Arial MT"/>
                          <a:cs typeface="Arial MT"/>
                        </a:rPr>
                        <a:t>2100-01-</a:t>
                      </a:r>
                      <a:r>
                        <a:rPr sz="1400" spc="-25" dirty="0">
                          <a:latin typeface="Arial MT"/>
                          <a:cs typeface="Arial MT"/>
                        </a:rPr>
                        <a:t>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0"/>
                        </a:spcBef>
                      </a:pPr>
                      <a:r>
                        <a:rPr sz="1400" spc="-25" dirty="0">
                          <a:latin typeface="Arial MT"/>
                          <a:cs typeface="Arial MT"/>
                        </a:rPr>
                        <a:t>Yes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330796">
                <a:tc>
                  <a:txBody>
                    <a:bodyPr/>
                    <a:lstStyle/>
                    <a:p>
                      <a:pPr algn="ctr">
                        <a:lnSpc>
                          <a:spcPct val="100000"/>
                        </a:lnSpc>
                        <a:spcBef>
                          <a:spcPts val="0"/>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spc="-10" dirty="0">
                          <a:latin typeface="Arial MT"/>
                          <a:cs typeface="Arial MT"/>
                        </a:rPr>
                        <a:t>OT-</a:t>
                      </a:r>
                      <a:r>
                        <a:rPr sz="1400" spc="-25" dirty="0">
                          <a:latin typeface="Arial MT"/>
                          <a:cs typeface="Arial MT"/>
                        </a:rPr>
                        <a:t>BSC</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0"/>
                        </a:spcBef>
                      </a:pPr>
                      <a:r>
                        <a:rPr sz="1400" dirty="0">
                          <a:latin typeface="Arial MT"/>
                          <a:cs typeface="Arial MT"/>
                        </a:rPr>
                        <a:t>Oat</a:t>
                      </a:r>
                      <a:r>
                        <a:rPr sz="1400" spc="-20" dirty="0">
                          <a:latin typeface="Arial MT"/>
                          <a:cs typeface="Arial MT"/>
                        </a:rPr>
                        <a:t> </a:t>
                      </a:r>
                      <a:r>
                        <a:rPr sz="1400" dirty="0">
                          <a:latin typeface="Arial MT"/>
                          <a:cs typeface="Arial MT"/>
                        </a:rPr>
                        <a:t>meal</a:t>
                      </a:r>
                      <a:r>
                        <a:rPr sz="1400" spc="-30" dirty="0">
                          <a:latin typeface="Arial MT"/>
                          <a:cs typeface="Arial MT"/>
                        </a:rPr>
                        <a:t> </a:t>
                      </a:r>
                      <a:r>
                        <a:rPr sz="1400" spc="-10" dirty="0">
                          <a:latin typeface="Arial MT"/>
                          <a:cs typeface="Arial MT"/>
                        </a:rPr>
                        <a:t>biscuits</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0"/>
                        </a:spcBef>
                      </a:pPr>
                      <a:r>
                        <a:rPr sz="1400" spc="-10" dirty="0">
                          <a:latin typeface="Arial MT"/>
                          <a:cs typeface="Arial MT"/>
                        </a:rPr>
                        <a:t>Sweets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0"/>
                        </a:spcBef>
                      </a:pPr>
                      <a:r>
                        <a:rPr sz="1400" spc="-10" dirty="0">
                          <a:latin typeface="Arial MT"/>
                          <a:cs typeface="Arial MT"/>
                        </a:rPr>
                        <a:t>2022-01-</a:t>
                      </a:r>
                      <a:r>
                        <a:rPr sz="1400" spc="-25" dirty="0">
                          <a:latin typeface="Arial MT"/>
                          <a:cs typeface="Arial MT"/>
                        </a:rPr>
                        <a:t>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0"/>
                        </a:spcBef>
                      </a:pPr>
                      <a:r>
                        <a:rPr sz="1400" spc="-10" dirty="0">
                          <a:latin typeface="Arial MT"/>
                          <a:cs typeface="Arial MT"/>
                        </a:rPr>
                        <a:t>2022-05-</a:t>
                      </a:r>
                      <a:r>
                        <a:rPr sz="1400" spc="-25" dirty="0">
                          <a:latin typeface="Arial MT"/>
                          <a:cs typeface="Arial MT"/>
                        </a:rPr>
                        <a:t>31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0"/>
                        </a:spcBef>
                      </a:pPr>
                      <a:r>
                        <a:rPr sz="1400" spc="-25" dirty="0">
                          <a:latin typeface="Arial MT"/>
                          <a:cs typeface="Arial MT"/>
                        </a:rPr>
                        <a:t>No</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330796">
                <a:tc>
                  <a:txBody>
                    <a:bodyPr/>
                    <a:lstStyle/>
                    <a:p>
                      <a:pPr algn="ctr">
                        <a:lnSpc>
                          <a:spcPct val="100000"/>
                        </a:lnSpc>
                        <a:spcBef>
                          <a:spcPts val="0"/>
                        </a:spcBef>
                      </a:pPr>
                      <a:r>
                        <a:rPr sz="1400" spc="-50" dirty="0">
                          <a:solidFill>
                            <a:srgbClr val="008BBE"/>
                          </a:solidFill>
                          <a:latin typeface="Arial MT"/>
                          <a:cs typeface="Arial MT"/>
                        </a:rPr>
                        <a:t>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spc="-10" dirty="0">
                          <a:solidFill>
                            <a:srgbClr val="008BBE"/>
                          </a:solidFill>
                          <a:latin typeface="Arial MT"/>
                          <a:cs typeface="Arial MT"/>
                        </a:rPr>
                        <a:t>OT-</a:t>
                      </a:r>
                      <a:r>
                        <a:rPr sz="1400" spc="-25" dirty="0">
                          <a:solidFill>
                            <a:srgbClr val="008BBE"/>
                          </a:solidFill>
                          <a:latin typeface="Arial MT"/>
                          <a:cs typeface="Arial MT"/>
                        </a:rPr>
                        <a:t>BSC</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0"/>
                        </a:spcBef>
                      </a:pPr>
                      <a:r>
                        <a:rPr sz="1400" dirty="0">
                          <a:solidFill>
                            <a:srgbClr val="008BBE"/>
                          </a:solidFill>
                          <a:latin typeface="Arial MT"/>
                          <a:cs typeface="Arial MT"/>
                        </a:rPr>
                        <a:t>Delicious</a:t>
                      </a:r>
                      <a:r>
                        <a:rPr sz="1400" spc="-50" dirty="0">
                          <a:solidFill>
                            <a:srgbClr val="008BBE"/>
                          </a:solidFill>
                          <a:latin typeface="Arial MT"/>
                          <a:cs typeface="Arial MT"/>
                        </a:rPr>
                        <a:t> </a:t>
                      </a:r>
                      <a:r>
                        <a:rPr sz="1400" dirty="0">
                          <a:solidFill>
                            <a:srgbClr val="008BBE"/>
                          </a:solidFill>
                          <a:latin typeface="Arial MT"/>
                          <a:cs typeface="Arial MT"/>
                        </a:rPr>
                        <a:t>Oat</a:t>
                      </a:r>
                      <a:r>
                        <a:rPr sz="1400" spc="-25" dirty="0">
                          <a:solidFill>
                            <a:srgbClr val="008BBE"/>
                          </a:solidFill>
                          <a:latin typeface="Arial MT"/>
                          <a:cs typeface="Arial MT"/>
                        </a:rPr>
                        <a:t> </a:t>
                      </a:r>
                      <a:r>
                        <a:rPr sz="1400" dirty="0">
                          <a:solidFill>
                            <a:srgbClr val="008BBE"/>
                          </a:solidFill>
                          <a:latin typeface="Arial MT"/>
                          <a:cs typeface="Arial MT"/>
                        </a:rPr>
                        <a:t>meal</a:t>
                      </a:r>
                      <a:r>
                        <a:rPr sz="1400" spc="-45" dirty="0">
                          <a:solidFill>
                            <a:srgbClr val="008BBE"/>
                          </a:solidFill>
                          <a:latin typeface="Arial MT"/>
                          <a:cs typeface="Arial MT"/>
                        </a:rPr>
                        <a:t> </a:t>
                      </a:r>
                      <a:r>
                        <a:rPr sz="1400" spc="-10" dirty="0">
                          <a:solidFill>
                            <a:srgbClr val="008BBE"/>
                          </a:solidFill>
                          <a:latin typeface="Arial MT"/>
                          <a:cs typeface="Arial MT"/>
                        </a:rPr>
                        <a:t>biscuits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0"/>
                        </a:spcBef>
                      </a:pPr>
                      <a:r>
                        <a:rPr sz="1400" spc="-10" dirty="0">
                          <a:solidFill>
                            <a:srgbClr val="008BBE"/>
                          </a:solidFill>
                          <a:latin typeface="Arial MT"/>
                          <a:cs typeface="Arial MT"/>
                        </a:rPr>
                        <a:t>Buscuits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0"/>
                        </a:spcBef>
                      </a:pPr>
                      <a:r>
                        <a:rPr sz="1400" spc="-10" dirty="0">
                          <a:solidFill>
                            <a:srgbClr val="008BBE"/>
                          </a:solidFill>
                          <a:latin typeface="Arial MT"/>
                          <a:cs typeface="Arial MT"/>
                        </a:rPr>
                        <a:t>2022-06-</a:t>
                      </a:r>
                      <a:r>
                        <a:rPr sz="1400" spc="-25" dirty="0">
                          <a:solidFill>
                            <a:srgbClr val="008BBE"/>
                          </a:solidFill>
                          <a:latin typeface="Arial MT"/>
                          <a:cs typeface="Arial MT"/>
                        </a:rPr>
                        <a:t>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0"/>
                        </a:spcBef>
                      </a:pPr>
                      <a:r>
                        <a:rPr sz="1400" spc="-10" dirty="0">
                          <a:solidFill>
                            <a:srgbClr val="008BBE"/>
                          </a:solidFill>
                          <a:latin typeface="Arial MT"/>
                          <a:cs typeface="Arial MT"/>
                        </a:rPr>
                        <a:t>2100-01-</a:t>
                      </a:r>
                      <a:r>
                        <a:rPr sz="1400" spc="-25" dirty="0">
                          <a:solidFill>
                            <a:srgbClr val="008BBE"/>
                          </a:solidFill>
                          <a:latin typeface="Arial MT"/>
                          <a:cs typeface="Arial MT"/>
                        </a:rPr>
                        <a:t>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0"/>
                        </a:spcBef>
                      </a:pPr>
                      <a:r>
                        <a:rPr sz="1400" spc="-25" dirty="0">
                          <a:solidFill>
                            <a:srgbClr val="008BBE"/>
                          </a:solidFill>
                          <a:latin typeface="Arial MT"/>
                          <a:cs typeface="Arial MT"/>
                        </a:rPr>
                        <a:t>Yes</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bl>
          </a:graphicData>
        </a:graphic>
      </p:graphicFrame>
      <p:pic>
        <p:nvPicPr>
          <p:cNvPr id="4" name="object 4"/>
          <p:cNvPicPr/>
          <p:nvPr/>
        </p:nvPicPr>
        <p:blipFill>
          <a:blip r:embed="rId2" cstate="print"/>
          <a:stretch>
            <a:fillRect/>
          </a:stretch>
        </p:blipFill>
        <p:spPr>
          <a:xfrm>
            <a:off x="1" y="782286"/>
            <a:ext cx="4067047" cy="1616489"/>
          </a:xfrm>
          <a:prstGeom prst="rect">
            <a:avLst/>
          </a:prstGeom>
        </p:spPr>
      </p:pic>
      <p:sp>
        <p:nvSpPr>
          <p:cNvPr id="7" name="object 7"/>
          <p:cNvSpPr/>
          <p:nvPr/>
        </p:nvSpPr>
        <p:spPr>
          <a:xfrm>
            <a:off x="305816" y="988567"/>
            <a:ext cx="3352800" cy="774700"/>
          </a:xfrm>
          <a:custGeom>
            <a:avLst/>
            <a:gdLst/>
            <a:ahLst/>
            <a:cxnLst/>
            <a:rect l="l" t="t" r="r" b="b"/>
            <a:pathLst>
              <a:path w="2514600" h="581025">
                <a:moveTo>
                  <a:pt x="0" y="290322"/>
                </a:moveTo>
                <a:lnTo>
                  <a:pt x="145161" y="0"/>
                </a:lnTo>
                <a:lnTo>
                  <a:pt x="2369439" y="0"/>
                </a:lnTo>
                <a:lnTo>
                  <a:pt x="2514600" y="290322"/>
                </a:lnTo>
                <a:lnTo>
                  <a:pt x="2369439" y="580644"/>
                </a:lnTo>
                <a:lnTo>
                  <a:pt x="145161" y="580644"/>
                </a:lnTo>
                <a:lnTo>
                  <a:pt x="0" y="290322"/>
                </a:lnTo>
                <a:close/>
              </a:path>
            </a:pathLst>
          </a:custGeom>
          <a:ln w="19812">
            <a:solidFill>
              <a:srgbClr val="00C3FF"/>
            </a:solidFill>
          </a:ln>
        </p:spPr>
        <p:txBody>
          <a:bodyPr wrap="square" lIns="0" tIns="0" rIns="0" bIns="0" rtlCol="0"/>
          <a:lstStyle/>
          <a:p>
            <a:endParaRPr sz="2400"/>
          </a:p>
        </p:txBody>
      </p:sp>
      <p:sp>
        <p:nvSpPr>
          <p:cNvPr id="8" name="object 8"/>
          <p:cNvSpPr txBox="1"/>
          <p:nvPr/>
        </p:nvSpPr>
        <p:spPr>
          <a:xfrm>
            <a:off x="1163659" y="1132773"/>
            <a:ext cx="1643380" cy="428387"/>
          </a:xfrm>
          <a:prstGeom prst="rect">
            <a:avLst/>
          </a:prstGeom>
        </p:spPr>
        <p:txBody>
          <a:bodyPr vert="horz" wrap="square" lIns="0" tIns="17780" rIns="0" bIns="0" rtlCol="0">
            <a:spAutoFit/>
          </a:bodyPr>
          <a:lstStyle/>
          <a:p>
            <a:pPr marL="16933">
              <a:spcBef>
                <a:spcPts val="140"/>
              </a:spcBef>
            </a:pPr>
            <a:r>
              <a:rPr sz="2667" b="1" dirty="0">
                <a:solidFill>
                  <a:srgbClr val="CCEAFF"/>
                </a:solidFill>
                <a:latin typeface="Calibri"/>
                <a:cs typeface="Calibri"/>
              </a:rPr>
              <a:t>Correct</a:t>
            </a:r>
            <a:r>
              <a:rPr sz="2667" b="1" spc="-33" dirty="0">
                <a:solidFill>
                  <a:srgbClr val="CCEAFF"/>
                </a:solidFill>
                <a:latin typeface="Calibri"/>
                <a:cs typeface="Calibri"/>
              </a:rPr>
              <a:t> FK?</a:t>
            </a:r>
            <a:endParaRPr sz="2667">
              <a:latin typeface="Calibri"/>
              <a:cs typeface="Calibri"/>
            </a:endParaRPr>
          </a:p>
        </p:txBody>
      </p:sp>
      <p:sp>
        <p:nvSpPr>
          <p:cNvPr id="9" name="object 9"/>
          <p:cNvSpPr txBox="1"/>
          <p:nvPr/>
        </p:nvSpPr>
        <p:spPr>
          <a:xfrm>
            <a:off x="2583482" y="3597176"/>
            <a:ext cx="7592060" cy="2043294"/>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Add</a:t>
            </a:r>
            <a:r>
              <a:rPr sz="2400" b="1" spc="-40" dirty="0">
                <a:solidFill>
                  <a:srgbClr val="D9D9D9"/>
                </a:solidFill>
                <a:latin typeface="Calibri"/>
                <a:cs typeface="Calibri"/>
              </a:rPr>
              <a:t> </a:t>
            </a:r>
            <a:r>
              <a:rPr sz="2400" b="1" dirty="0">
                <a:solidFill>
                  <a:srgbClr val="D9D9D9"/>
                </a:solidFill>
                <a:latin typeface="Calibri"/>
                <a:cs typeface="Calibri"/>
              </a:rPr>
              <a:t>row</a:t>
            </a:r>
            <a:r>
              <a:rPr sz="2400" b="1" spc="-13" dirty="0">
                <a:solidFill>
                  <a:srgbClr val="D9D9D9"/>
                </a:solidFill>
                <a:latin typeface="Calibri"/>
                <a:cs typeface="Calibri"/>
              </a:rPr>
              <a:t> </a:t>
            </a:r>
            <a:r>
              <a:rPr sz="2400" b="1" dirty="0">
                <a:solidFill>
                  <a:srgbClr val="D9D9D9"/>
                </a:solidFill>
                <a:latin typeface="Calibri"/>
                <a:cs typeface="Calibri"/>
              </a:rPr>
              <a:t>in</a:t>
            </a:r>
            <a:r>
              <a:rPr sz="2400" b="1" spc="-27" dirty="0">
                <a:solidFill>
                  <a:srgbClr val="D9D9D9"/>
                </a:solidFill>
                <a:latin typeface="Calibri"/>
                <a:cs typeface="Calibri"/>
              </a:rPr>
              <a:t> </a:t>
            </a:r>
            <a:r>
              <a:rPr sz="2400" b="1" dirty="0">
                <a:solidFill>
                  <a:srgbClr val="D9D9D9"/>
                </a:solidFill>
                <a:latin typeface="Calibri"/>
                <a:cs typeface="Calibri"/>
              </a:rPr>
              <a:t>the</a:t>
            </a:r>
            <a:r>
              <a:rPr sz="2400" b="1" spc="-33" dirty="0">
                <a:solidFill>
                  <a:srgbClr val="D9D9D9"/>
                </a:solidFill>
                <a:latin typeface="Calibri"/>
                <a:cs typeface="Calibri"/>
              </a:rPr>
              <a:t> </a:t>
            </a:r>
            <a:r>
              <a:rPr sz="2400" b="1" dirty="0">
                <a:solidFill>
                  <a:srgbClr val="D9D9D9"/>
                </a:solidFill>
                <a:latin typeface="Calibri"/>
                <a:cs typeface="Calibri"/>
              </a:rPr>
              <a:t>Dimension</a:t>
            </a:r>
            <a:r>
              <a:rPr sz="2400" b="1" spc="-67" dirty="0">
                <a:solidFill>
                  <a:srgbClr val="D9D9D9"/>
                </a:solidFill>
                <a:latin typeface="Calibri"/>
                <a:cs typeface="Calibri"/>
              </a:rPr>
              <a:t> </a:t>
            </a:r>
            <a:r>
              <a:rPr sz="2400" b="1" spc="-27" dirty="0">
                <a:solidFill>
                  <a:srgbClr val="D9D9D9"/>
                </a:solidFill>
                <a:latin typeface="Calibri"/>
                <a:cs typeface="Calibri"/>
              </a:rPr>
              <a:t>first</a:t>
            </a:r>
            <a:endParaRPr sz="2400" dirty="0">
              <a:latin typeface="Calibri"/>
              <a:cs typeface="Calibri"/>
            </a:endParaRPr>
          </a:p>
          <a:p>
            <a:pPr>
              <a:spcBef>
                <a:spcPts val="713"/>
              </a:spcBef>
              <a:buClr>
                <a:srgbClr val="99D3FF"/>
              </a:buClr>
              <a:buFont typeface="Wingdings"/>
              <a:buChar char=""/>
            </a:pPr>
            <a:endParaRPr sz="2400" dirty="0">
              <a:latin typeface="Calibri"/>
              <a:cs typeface="Calibri"/>
            </a:endParaRPr>
          </a:p>
          <a:p>
            <a:pPr marL="397923" indent="-380990">
              <a:buClr>
                <a:srgbClr val="99D3FF"/>
              </a:buClr>
              <a:buFont typeface="Wingdings"/>
              <a:buChar char=""/>
              <a:tabLst>
                <a:tab pos="397923" algn="l"/>
              </a:tabLst>
            </a:pPr>
            <a:r>
              <a:rPr sz="2400" b="1" dirty="0">
                <a:solidFill>
                  <a:srgbClr val="D9D9D9"/>
                </a:solidFill>
                <a:latin typeface="Calibri"/>
                <a:cs typeface="Calibri"/>
              </a:rPr>
              <a:t>Lookup</a:t>
            </a:r>
            <a:r>
              <a:rPr sz="2400" b="1" spc="-40" dirty="0">
                <a:solidFill>
                  <a:srgbClr val="D9D9D9"/>
                </a:solidFill>
                <a:latin typeface="Calibri"/>
                <a:cs typeface="Calibri"/>
              </a:rPr>
              <a:t> </a:t>
            </a:r>
            <a:r>
              <a:rPr sz="2400" b="1" dirty="0">
                <a:solidFill>
                  <a:srgbClr val="D9D9D9"/>
                </a:solidFill>
                <a:latin typeface="Calibri"/>
                <a:cs typeface="Calibri"/>
              </a:rPr>
              <a:t>in</a:t>
            </a:r>
            <a:r>
              <a:rPr sz="2400" b="1" spc="-13" dirty="0">
                <a:solidFill>
                  <a:srgbClr val="D9D9D9"/>
                </a:solidFill>
                <a:latin typeface="Calibri"/>
                <a:cs typeface="Calibri"/>
              </a:rPr>
              <a:t> </a:t>
            </a:r>
            <a:r>
              <a:rPr sz="2400" b="1" dirty="0">
                <a:solidFill>
                  <a:srgbClr val="D9D9D9"/>
                </a:solidFill>
                <a:latin typeface="Calibri"/>
                <a:cs typeface="Calibri"/>
              </a:rPr>
              <a:t>the</a:t>
            </a:r>
            <a:r>
              <a:rPr sz="2400" b="1" spc="-33" dirty="0">
                <a:solidFill>
                  <a:srgbClr val="D9D9D9"/>
                </a:solidFill>
                <a:latin typeface="Calibri"/>
                <a:cs typeface="Calibri"/>
              </a:rPr>
              <a:t> </a:t>
            </a:r>
            <a:r>
              <a:rPr sz="2400" b="1" dirty="0">
                <a:solidFill>
                  <a:srgbClr val="D9D9D9"/>
                </a:solidFill>
                <a:latin typeface="Calibri"/>
                <a:cs typeface="Calibri"/>
              </a:rPr>
              <a:t>Dimension</a:t>
            </a:r>
            <a:r>
              <a:rPr sz="2400" b="1" spc="-80" dirty="0">
                <a:solidFill>
                  <a:srgbClr val="D9D9D9"/>
                </a:solidFill>
                <a:latin typeface="Calibri"/>
                <a:cs typeface="Calibri"/>
              </a:rPr>
              <a:t> </a:t>
            </a:r>
            <a:r>
              <a:rPr sz="2400" b="1" dirty="0">
                <a:solidFill>
                  <a:srgbClr val="D9D9D9"/>
                </a:solidFill>
                <a:latin typeface="Calibri"/>
                <a:cs typeface="Calibri"/>
              </a:rPr>
              <a:t>with</a:t>
            </a:r>
            <a:r>
              <a:rPr sz="2400" b="1" spc="-13" dirty="0">
                <a:solidFill>
                  <a:srgbClr val="D9D9D9"/>
                </a:solidFill>
                <a:latin typeface="Calibri"/>
                <a:cs typeface="Calibri"/>
              </a:rPr>
              <a:t> </a:t>
            </a:r>
            <a:r>
              <a:rPr sz="2400" b="1" dirty="0">
                <a:solidFill>
                  <a:srgbClr val="D9D9D9"/>
                </a:solidFill>
                <a:latin typeface="Calibri"/>
                <a:cs typeface="Calibri"/>
              </a:rPr>
              <a:t>Natural</a:t>
            </a:r>
            <a:r>
              <a:rPr sz="2400" b="1" spc="-27" dirty="0">
                <a:solidFill>
                  <a:srgbClr val="D9D9D9"/>
                </a:solidFill>
                <a:latin typeface="Calibri"/>
                <a:cs typeface="Calibri"/>
              </a:rPr>
              <a:t> </a:t>
            </a:r>
            <a:r>
              <a:rPr sz="2400" b="1" dirty="0">
                <a:solidFill>
                  <a:srgbClr val="D9D9D9"/>
                </a:solidFill>
                <a:latin typeface="Calibri"/>
                <a:cs typeface="Calibri"/>
              </a:rPr>
              <a:t>key</a:t>
            </a:r>
            <a:r>
              <a:rPr sz="2400" b="1" spc="-33" dirty="0">
                <a:solidFill>
                  <a:srgbClr val="D9D9D9"/>
                </a:solidFill>
                <a:latin typeface="Calibri"/>
                <a:cs typeface="Calibri"/>
              </a:rPr>
              <a:t> </a:t>
            </a:r>
            <a:r>
              <a:rPr sz="2400" b="1" dirty="0">
                <a:solidFill>
                  <a:srgbClr val="D9D9D9"/>
                </a:solidFill>
                <a:latin typeface="Calibri"/>
                <a:cs typeface="Calibri"/>
              </a:rPr>
              <a:t>+</a:t>
            </a:r>
            <a:r>
              <a:rPr sz="2400" b="1" spc="-13" dirty="0">
                <a:solidFill>
                  <a:srgbClr val="D9D9D9"/>
                </a:solidFill>
                <a:latin typeface="Calibri"/>
                <a:cs typeface="Calibri"/>
              </a:rPr>
              <a:t> Ef_/Ex_Date</a:t>
            </a:r>
            <a:endParaRPr sz="2400" dirty="0">
              <a:latin typeface="Calibri"/>
              <a:cs typeface="Calibri"/>
            </a:endParaRPr>
          </a:p>
          <a:p>
            <a:pPr>
              <a:spcBef>
                <a:spcPts val="720"/>
              </a:spcBef>
              <a:buClr>
                <a:srgbClr val="99D3FF"/>
              </a:buClr>
              <a:buFont typeface="Wingdings"/>
              <a:buChar char=""/>
            </a:pPr>
            <a:endParaRPr sz="2400" dirty="0">
              <a:latin typeface="Calibri"/>
              <a:cs typeface="Calibri"/>
            </a:endParaRPr>
          </a:p>
          <a:p>
            <a:pPr marL="397923" indent="-380990">
              <a:buClr>
                <a:srgbClr val="99D3FF"/>
              </a:buClr>
              <a:buFont typeface="Wingdings"/>
              <a:buChar char=""/>
              <a:tabLst>
                <a:tab pos="397923" algn="l"/>
              </a:tabLst>
            </a:pPr>
            <a:r>
              <a:rPr sz="2400" b="1" dirty="0">
                <a:solidFill>
                  <a:srgbClr val="D9D9D9"/>
                </a:solidFill>
                <a:latin typeface="Calibri"/>
                <a:cs typeface="Calibri"/>
              </a:rPr>
              <a:t>Additional</a:t>
            </a:r>
            <a:r>
              <a:rPr sz="2400" b="1" spc="-67" dirty="0">
                <a:solidFill>
                  <a:srgbClr val="D9D9D9"/>
                </a:solidFill>
                <a:latin typeface="Calibri"/>
                <a:cs typeface="Calibri"/>
              </a:rPr>
              <a:t> </a:t>
            </a:r>
            <a:r>
              <a:rPr sz="2400" b="1" dirty="0">
                <a:solidFill>
                  <a:srgbClr val="D9D9D9"/>
                </a:solidFill>
                <a:latin typeface="Calibri"/>
                <a:cs typeface="Calibri"/>
              </a:rPr>
              <a:t>for</a:t>
            </a:r>
            <a:r>
              <a:rPr sz="2400" b="1" spc="-7" dirty="0">
                <a:solidFill>
                  <a:srgbClr val="D9D9D9"/>
                </a:solidFill>
                <a:latin typeface="Calibri"/>
                <a:cs typeface="Calibri"/>
              </a:rPr>
              <a:t> </a:t>
            </a:r>
            <a:r>
              <a:rPr sz="2400" b="1" spc="-13" dirty="0">
                <a:solidFill>
                  <a:srgbClr val="D9D9D9"/>
                </a:solidFill>
                <a:latin typeface="Calibri"/>
                <a:cs typeface="Calibri"/>
              </a:rPr>
              <a:t>Is_Current</a:t>
            </a:r>
            <a:endParaRPr sz="2400" dirty="0">
              <a:latin typeface="Calibri"/>
              <a:cs typeface="Calibri"/>
            </a:endParaRPr>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27759" y="2178303"/>
            <a:ext cx="9930384" cy="1702816"/>
          </a:xfrm>
          <a:prstGeom prst="rect">
            <a:avLst/>
          </a:prstGeom>
        </p:spPr>
      </p:pic>
      <p:sp>
        <p:nvSpPr>
          <p:cNvPr id="3" name="object 3"/>
          <p:cNvSpPr txBox="1">
            <a:spLocks noGrp="1"/>
          </p:cNvSpPr>
          <p:nvPr>
            <p:ph type="title"/>
          </p:nvPr>
        </p:nvSpPr>
        <p:spPr>
          <a:xfrm>
            <a:off x="1190751" y="2467260"/>
            <a:ext cx="9811173" cy="1070377"/>
          </a:xfrm>
          <a:prstGeom prst="rect">
            <a:avLst/>
          </a:prstGeom>
          <a:noFill/>
          <a:ln w="9144">
            <a:noFill/>
          </a:ln>
        </p:spPr>
        <p:txBody>
          <a:bodyPr vert="horz" wrap="square" lIns="0" tIns="328505" rIns="0" bIns="0" rtlCol="0" anchor="ctr">
            <a:spAutoFit/>
          </a:bodyPr>
          <a:lstStyle/>
          <a:p>
            <a:pPr algn="ctr">
              <a:lnSpc>
                <a:spcPct val="100000"/>
              </a:lnSpc>
              <a:spcBef>
                <a:spcPts val="2585"/>
              </a:spcBef>
            </a:pPr>
            <a:r>
              <a:rPr sz="4800" dirty="0">
                <a:solidFill>
                  <a:schemeClr val="bg1"/>
                </a:solidFill>
                <a:latin typeface="Arial MT"/>
                <a:cs typeface="Arial MT"/>
              </a:rPr>
              <a:t>Mixing</a:t>
            </a:r>
            <a:r>
              <a:rPr sz="4800" spc="-33" dirty="0">
                <a:solidFill>
                  <a:schemeClr val="bg1"/>
                </a:solidFill>
                <a:latin typeface="Arial MT"/>
                <a:cs typeface="Arial MT"/>
              </a:rPr>
              <a:t> </a:t>
            </a:r>
            <a:r>
              <a:rPr sz="4800" dirty="0">
                <a:solidFill>
                  <a:schemeClr val="bg1"/>
                </a:solidFill>
                <a:latin typeface="Arial MT"/>
                <a:cs typeface="Arial MT"/>
              </a:rPr>
              <a:t>Type</a:t>
            </a:r>
            <a:r>
              <a:rPr sz="4800" spc="-7" dirty="0">
                <a:solidFill>
                  <a:schemeClr val="bg1"/>
                </a:solidFill>
                <a:latin typeface="Arial MT"/>
                <a:cs typeface="Arial MT"/>
              </a:rPr>
              <a:t> </a:t>
            </a:r>
            <a:r>
              <a:rPr sz="4800" dirty="0">
                <a:solidFill>
                  <a:schemeClr val="bg1"/>
                </a:solidFill>
                <a:latin typeface="Arial MT"/>
                <a:cs typeface="Arial MT"/>
              </a:rPr>
              <a:t>1</a:t>
            </a:r>
            <a:r>
              <a:rPr sz="4800" spc="-7" dirty="0">
                <a:solidFill>
                  <a:schemeClr val="bg1"/>
                </a:solidFill>
                <a:latin typeface="Arial MT"/>
                <a:cs typeface="Arial MT"/>
              </a:rPr>
              <a:t> </a:t>
            </a:r>
            <a:r>
              <a:rPr sz="4800" dirty="0">
                <a:solidFill>
                  <a:schemeClr val="bg1"/>
                </a:solidFill>
                <a:latin typeface="Arial MT"/>
                <a:cs typeface="Arial MT"/>
              </a:rPr>
              <a:t>+</a:t>
            </a:r>
            <a:r>
              <a:rPr sz="4800" spc="-27" dirty="0">
                <a:solidFill>
                  <a:schemeClr val="bg1"/>
                </a:solidFill>
                <a:latin typeface="Arial MT"/>
                <a:cs typeface="Arial MT"/>
              </a:rPr>
              <a:t> </a:t>
            </a:r>
            <a:r>
              <a:rPr sz="4800" spc="-67" dirty="0">
                <a:solidFill>
                  <a:schemeClr val="bg1"/>
                </a:solidFill>
                <a:latin typeface="Arial MT"/>
                <a:cs typeface="Arial MT"/>
              </a:rPr>
              <a:t>2</a:t>
            </a:r>
            <a:endParaRPr sz="4800" dirty="0">
              <a:solidFill>
                <a:schemeClr val="bg1"/>
              </a:solidFill>
              <a:latin typeface="Arial MT"/>
              <a:cs typeface="Arial MT"/>
            </a:endParaRPr>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93481" y="232013"/>
            <a:ext cx="4574658"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Mixing</a:t>
            </a:r>
            <a:r>
              <a:rPr spc="-27" dirty="0">
                <a:solidFill>
                  <a:schemeClr val="bg1"/>
                </a:solidFill>
                <a:latin typeface="+mn-lt"/>
              </a:rPr>
              <a:t> </a:t>
            </a:r>
            <a:r>
              <a:rPr dirty="0">
                <a:solidFill>
                  <a:schemeClr val="bg1"/>
                </a:solidFill>
                <a:latin typeface="+mn-lt"/>
              </a:rPr>
              <a:t>Type</a:t>
            </a:r>
            <a:r>
              <a:rPr spc="-53" dirty="0">
                <a:solidFill>
                  <a:schemeClr val="bg1"/>
                </a:solidFill>
                <a:latin typeface="+mn-lt"/>
              </a:rPr>
              <a:t> </a:t>
            </a:r>
            <a:r>
              <a:rPr dirty="0">
                <a:solidFill>
                  <a:schemeClr val="bg1"/>
                </a:solidFill>
                <a:latin typeface="+mn-lt"/>
              </a:rPr>
              <a:t>1</a:t>
            </a:r>
            <a:r>
              <a:rPr spc="-67" dirty="0">
                <a:solidFill>
                  <a:schemeClr val="bg1"/>
                </a:solidFill>
                <a:latin typeface="+mn-lt"/>
              </a:rPr>
              <a:t> </a:t>
            </a:r>
            <a:r>
              <a:rPr dirty="0">
                <a:solidFill>
                  <a:schemeClr val="bg1"/>
                </a:solidFill>
                <a:latin typeface="+mn-lt"/>
              </a:rPr>
              <a:t>+</a:t>
            </a:r>
            <a:r>
              <a:rPr spc="-40" dirty="0">
                <a:solidFill>
                  <a:schemeClr val="bg1"/>
                </a:solidFill>
                <a:latin typeface="+mn-lt"/>
              </a:rPr>
              <a:t> </a:t>
            </a:r>
            <a:r>
              <a:rPr spc="-67" dirty="0">
                <a:solidFill>
                  <a:schemeClr val="bg1"/>
                </a:solidFill>
                <a:latin typeface="+mn-lt"/>
              </a:rPr>
              <a:t>2</a:t>
            </a:r>
          </a:p>
        </p:txBody>
      </p:sp>
      <p:graphicFrame>
        <p:nvGraphicFramePr>
          <p:cNvPr id="3" name="object 3"/>
          <p:cNvGraphicFramePr>
            <a:graphicFrameLocks noGrp="1"/>
          </p:cNvGraphicFramePr>
          <p:nvPr>
            <p:extLst>
              <p:ext uri="{D42A27DB-BD31-4B8C-83A1-F6EECF244321}">
                <p14:modId xmlns:p14="http://schemas.microsoft.com/office/powerpoint/2010/main" val="3797485265"/>
              </p:ext>
            </p:extLst>
          </p:nvPr>
        </p:nvGraphicFramePr>
        <p:xfrm>
          <a:off x="1968316" y="1624923"/>
          <a:ext cx="8447892" cy="1526946"/>
        </p:xfrm>
        <a:graphic>
          <a:graphicData uri="http://schemas.openxmlformats.org/drawingml/2006/table">
            <a:tbl>
              <a:tblPr firstRow="1" bandRow="1">
                <a:tableStyleId>{2D5ABB26-0587-4C30-8999-92F81FD0307C}</a:tableStyleId>
              </a:tblPr>
              <a:tblGrid>
                <a:gridCol w="1388964">
                  <a:extLst>
                    <a:ext uri="{9D8B030D-6E8A-4147-A177-3AD203B41FA5}">
                      <a16:colId xmlns:a16="http://schemas.microsoft.com/office/drawing/2014/main" val="20000"/>
                    </a:ext>
                  </a:extLst>
                </a:gridCol>
                <a:gridCol w="1388964">
                  <a:extLst>
                    <a:ext uri="{9D8B030D-6E8A-4147-A177-3AD203B41FA5}">
                      <a16:colId xmlns:a16="http://schemas.microsoft.com/office/drawing/2014/main" val="20001"/>
                    </a:ext>
                  </a:extLst>
                </a:gridCol>
                <a:gridCol w="2356245">
                  <a:extLst>
                    <a:ext uri="{9D8B030D-6E8A-4147-A177-3AD203B41FA5}">
                      <a16:colId xmlns:a16="http://schemas.microsoft.com/office/drawing/2014/main" val="20002"/>
                    </a:ext>
                  </a:extLst>
                </a:gridCol>
                <a:gridCol w="1061781">
                  <a:extLst>
                    <a:ext uri="{9D8B030D-6E8A-4147-A177-3AD203B41FA5}">
                      <a16:colId xmlns:a16="http://schemas.microsoft.com/office/drawing/2014/main" val="20003"/>
                    </a:ext>
                  </a:extLst>
                </a:gridCol>
                <a:gridCol w="1125969">
                  <a:extLst>
                    <a:ext uri="{9D8B030D-6E8A-4147-A177-3AD203B41FA5}">
                      <a16:colId xmlns:a16="http://schemas.microsoft.com/office/drawing/2014/main" val="20004"/>
                    </a:ext>
                  </a:extLst>
                </a:gridCol>
                <a:gridCol w="1125969">
                  <a:extLst>
                    <a:ext uri="{9D8B030D-6E8A-4147-A177-3AD203B41FA5}">
                      <a16:colId xmlns:a16="http://schemas.microsoft.com/office/drawing/2014/main" val="20005"/>
                    </a:ext>
                  </a:extLst>
                </a:gridCol>
              </a:tblGrid>
              <a:tr h="278100">
                <a:tc>
                  <a:txBody>
                    <a:bodyPr/>
                    <a:lstStyle/>
                    <a:p>
                      <a:pPr algn="ctr">
                        <a:lnSpc>
                          <a:spcPct val="100000"/>
                        </a:lnSpc>
                        <a:spcBef>
                          <a:spcPts val="60"/>
                        </a:spcBef>
                      </a:pPr>
                      <a:r>
                        <a:rPr sz="1400" b="1" spc="-10" dirty="0">
                          <a:solidFill>
                            <a:schemeClr val="bg1"/>
                          </a:solidFill>
                          <a:latin typeface="Arial"/>
                          <a:cs typeface="Arial"/>
                        </a:rPr>
                        <a:t>Product_PK</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gn="ctr">
                        <a:lnSpc>
                          <a:spcPct val="100000"/>
                        </a:lnSpc>
                        <a:spcBef>
                          <a:spcPts val="60"/>
                        </a:spcBef>
                      </a:pPr>
                      <a:r>
                        <a:rPr sz="1400" b="1" spc="-10" dirty="0">
                          <a:solidFill>
                            <a:schemeClr val="bg1"/>
                          </a:solidFill>
                          <a:latin typeface="Arial"/>
                          <a:cs typeface="Arial"/>
                        </a:rPr>
                        <a:t>Product_ID</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gn="ctr">
                        <a:lnSpc>
                          <a:spcPct val="100000"/>
                        </a:lnSpc>
                        <a:spcBef>
                          <a:spcPts val="60"/>
                        </a:spcBef>
                      </a:pPr>
                      <a:r>
                        <a:rPr sz="1400" b="1" spc="-20" dirty="0">
                          <a:solidFill>
                            <a:schemeClr val="bg1"/>
                          </a:solidFill>
                          <a:latin typeface="Arial"/>
                          <a:cs typeface="Arial"/>
                        </a:rPr>
                        <a:t>Name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905" algn="ctr">
                        <a:lnSpc>
                          <a:spcPct val="100000"/>
                        </a:lnSpc>
                        <a:spcBef>
                          <a:spcPts val="60"/>
                        </a:spcBef>
                      </a:pPr>
                      <a:r>
                        <a:rPr sz="1400" b="1" spc="-10" dirty="0">
                          <a:solidFill>
                            <a:schemeClr val="bg1"/>
                          </a:solidFill>
                          <a:latin typeface="Arial"/>
                          <a:cs typeface="Arial"/>
                        </a:rPr>
                        <a:t>Category</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2540" algn="ctr">
                        <a:lnSpc>
                          <a:spcPct val="100000"/>
                        </a:lnSpc>
                        <a:spcBef>
                          <a:spcPts val="60"/>
                        </a:spcBef>
                      </a:pPr>
                      <a:r>
                        <a:rPr sz="1400" b="1" spc="-10" dirty="0">
                          <a:solidFill>
                            <a:schemeClr val="bg1"/>
                          </a:solidFill>
                          <a:latin typeface="Arial"/>
                          <a:cs typeface="Arial"/>
                        </a:rPr>
                        <a:t>Ef_Date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2540" algn="ctr">
                        <a:lnSpc>
                          <a:spcPct val="100000"/>
                        </a:lnSpc>
                        <a:spcBef>
                          <a:spcPts val="60"/>
                        </a:spcBef>
                      </a:pPr>
                      <a:r>
                        <a:rPr sz="1400" b="1" spc="-10" dirty="0">
                          <a:solidFill>
                            <a:schemeClr val="bg1"/>
                          </a:solidFill>
                          <a:latin typeface="Arial"/>
                          <a:cs typeface="Arial"/>
                        </a:rPr>
                        <a:t>Ex_Date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312472">
                <a:tc>
                  <a:txBody>
                    <a:bodyPr/>
                    <a:lstStyle/>
                    <a:p>
                      <a:pPr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SG-</a:t>
                      </a:r>
                      <a:r>
                        <a:rPr sz="1400" spc="-25" dirty="0">
                          <a:latin typeface="Arial MT"/>
                          <a:cs typeface="Arial MT"/>
                        </a:rPr>
                        <a:t>TR7</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dirty="0">
                          <a:latin typeface="Arial MT"/>
                          <a:cs typeface="Arial MT"/>
                        </a:rPr>
                        <a:t>Sunglases</a:t>
                      </a:r>
                      <a:r>
                        <a:rPr sz="1400" spc="-55" dirty="0">
                          <a:latin typeface="Arial MT"/>
                          <a:cs typeface="Arial MT"/>
                        </a:rPr>
                        <a:t> </a:t>
                      </a:r>
                      <a:r>
                        <a:rPr sz="1400" dirty="0">
                          <a:latin typeface="Arial MT"/>
                          <a:cs typeface="Arial MT"/>
                        </a:rPr>
                        <a:t>TR-</a:t>
                      </a:r>
                      <a:r>
                        <a:rPr sz="1400" spc="-50" dirty="0">
                          <a:latin typeface="Arial MT"/>
                          <a:cs typeface="Arial MT"/>
                        </a:rPr>
                        <a:t>7</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Assecoirs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a:t>
                      </a:r>
                      <a:r>
                        <a:rPr sz="1400" spc="-25" dirty="0">
                          <a:latin typeface="Arial MT"/>
                          <a:cs typeface="Arial MT"/>
                        </a:rPr>
                        <a:t>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5"/>
                        </a:spcBef>
                      </a:pPr>
                      <a:r>
                        <a:rPr sz="1400" spc="-10" dirty="0">
                          <a:latin typeface="Arial MT"/>
                          <a:cs typeface="Arial MT"/>
                        </a:rPr>
                        <a:t>2100-01-</a:t>
                      </a:r>
                      <a:r>
                        <a:rPr sz="1400" spc="-25" dirty="0">
                          <a:latin typeface="Arial MT"/>
                          <a:cs typeface="Arial MT"/>
                        </a:rPr>
                        <a:t>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312472">
                <a:tc>
                  <a:txBody>
                    <a:bodyPr/>
                    <a:lstStyle/>
                    <a:p>
                      <a:pPr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CH-</a:t>
                      </a:r>
                      <a:r>
                        <a:rPr sz="1400" spc="-25" dirty="0">
                          <a:latin typeface="Arial MT"/>
                          <a:cs typeface="Arial MT"/>
                        </a:rPr>
                        <a:t>B70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Chocolate </a:t>
                      </a:r>
                      <a:r>
                        <a:rPr sz="1400" dirty="0">
                          <a:latin typeface="Arial MT"/>
                          <a:cs typeface="Arial MT"/>
                        </a:rPr>
                        <a:t>bar 70%</a:t>
                      </a:r>
                      <a:r>
                        <a:rPr sz="1400" spc="5" dirty="0">
                          <a:latin typeface="Arial MT"/>
                          <a:cs typeface="Arial MT"/>
                        </a:rPr>
                        <a:t> </a:t>
                      </a:r>
                      <a:r>
                        <a:rPr sz="1400" spc="-10" dirty="0">
                          <a:latin typeface="Arial MT"/>
                          <a:cs typeface="Arial MT"/>
                        </a:rPr>
                        <a:t>cacao</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Sweets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a:t>
                      </a:r>
                      <a:r>
                        <a:rPr sz="1400" spc="-25" dirty="0">
                          <a:latin typeface="Arial MT"/>
                          <a:cs typeface="Arial MT"/>
                        </a:rPr>
                        <a:t>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5"/>
                        </a:spcBef>
                      </a:pPr>
                      <a:r>
                        <a:rPr sz="1400" spc="-10" dirty="0">
                          <a:latin typeface="Arial MT"/>
                          <a:cs typeface="Arial MT"/>
                        </a:rPr>
                        <a:t>2100-01-</a:t>
                      </a:r>
                      <a:r>
                        <a:rPr sz="1400" spc="-25" dirty="0">
                          <a:latin typeface="Arial MT"/>
                          <a:cs typeface="Arial MT"/>
                        </a:rPr>
                        <a:t>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311430">
                <a:tc>
                  <a:txBody>
                    <a:bodyPr/>
                    <a:lstStyle/>
                    <a:p>
                      <a:pPr algn="ctr">
                        <a:lnSpc>
                          <a:spcPct val="10000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OT-</a:t>
                      </a:r>
                      <a:r>
                        <a:rPr sz="1400" spc="-25" dirty="0">
                          <a:latin typeface="Arial MT"/>
                          <a:cs typeface="Arial MT"/>
                        </a:rPr>
                        <a:t>BSC</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dirty="0">
                          <a:latin typeface="Arial MT"/>
                          <a:cs typeface="Arial MT"/>
                        </a:rPr>
                        <a:t>Oat</a:t>
                      </a:r>
                      <a:r>
                        <a:rPr sz="1400" spc="-20" dirty="0">
                          <a:latin typeface="Arial MT"/>
                          <a:cs typeface="Arial MT"/>
                        </a:rPr>
                        <a:t> </a:t>
                      </a:r>
                      <a:r>
                        <a:rPr sz="1400" dirty="0">
                          <a:latin typeface="Arial MT"/>
                          <a:cs typeface="Arial MT"/>
                        </a:rPr>
                        <a:t>meal</a:t>
                      </a:r>
                      <a:r>
                        <a:rPr sz="1400" spc="-45" dirty="0">
                          <a:latin typeface="Arial MT"/>
                          <a:cs typeface="Arial MT"/>
                        </a:rPr>
                        <a:t> </a:t>
                      </a:r>
                      <a:r>
                        <a:rPr sz="1400" spc="-10" dirty="0">
                          <a:latin typeface="Arial MT"/>
                          <a:cs typeface="Arial MT"/>
                        </a:rPr>
                        <a:t>biscuits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Sweets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a:t>
                      </a:r>
                      <a:r>
                        <a:rPr sz="1400" spc="-25" dirty="0">
                          <a:latin typeface="Arial MT"/>
                          <a:cs typeface="Arial MT"/>
                        </a:rPr>
                        <a:t>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5"/>
                        </a:spcBef>
                      </a:pPr>
                      <a:r>
                        <a:rPr sz="1400" spc="-10" dirty="0">
                          <a:latin typeface="Arial MT"/>
                          <a:cs typeface="Arial MT"/>
                        </a:rPr>
                        <a:t>2100-01-</a:t>
                      </a:r>
                      <a:r>
                        <a:rPr sz="1400" spc="-25" dirty="0">
                          <a:latin typeface="Arial MT"/>
                          <a:cs typeface="Arial MT"/>
                        </a:rPr>
                        <a:t>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312472">
                <a:tc>
                  <a:txBody>
                    <a:bodyPr/>
                    <a:lstStyle/>
                    <a:p>
                      <a:pPr algn="ctr">
                        <a:lnSpc>
                          <a:spcPct val="100000"/>
                        </a:lnSpc>
                        <a:spcBef>
                          <a:spcPts val="225"/>
                        </a:spcBef>
                      </a:pPr>
                      <a:r>
                        <a:rPr sz="1400" spc="-50" dirty="0">
                          <a:latin typeface="Arial MT"/>
                          <a:cs typeface="Arial MT"/>
                        </a:rPr>
                        <a:t>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OT-</a:t>
                      </a:r>
                      <a:r>
                        <a:rPr sz="1400" spc="-25" dirty="0">
                          <a:latin typeface="Arial MT"/>
                          <a:cs typeface="Arial MT"/>
                        </a:rPr>
                        <a:t>BSC</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dirty="0">
                          <a:solidFill>
                            <a:srgbClr val="FFFFFF"/>
                          </a:solidFill>
                          <a:latin typeface="Arial MT"/>
                          <a:cs typeface="Arial MT"/>
                        </a:rPr>
                        <a:t>Delicious</a:t>
                      </a:r>
                      <a:r>
                        <a:rPr sz="1400" spc="-50" dirty="0">
                          <a:solidFill>
                            <a:srgbClr val="FFFFFF"/>
                          </a:solidFill>
                          <a:latin typeface="Arial MT"/>
                          <a:cs typeface="Arial MT"/>
                        </a:rPr>
                        <a:t> </a:t>
                      </a:r>
                      <a:r>
                        <a:rPr sz="1400" dirty="0">
                          <a:solidFill>
                            <a:srgbClr val="FFFFFF"/>
                          </a:solidFill>
                          <a:latin typeface="Arial MT"/>
                          <a:cs typeface="Arial MT"/>
                        </a:rPr>
                        <a:t>Oat</a:t>
                      </a:r>
                      <a:r>
                        <a:rPr sz="1400" spc="-25" dirty="0">
                          <a:solidFill>
                            <a:srgbClr val="FFFFFF"/>
                          </a:solidFill>
                          <a:latin typeface="Arial MT"/>
                          <a:cs typeface="Arial MT"/>
                        </a:rPr>
                        <a:t> </a:t>
                      </a:r>
                      <a:r>
                        <a:rPr sz="1400" dirty="0">
                          <a:solidFill>
                            <a:srgbClr val="FFFFFF"/>
                          </a:solidFill>
                          <a:latin typeface="Arial MT"/>
                          <a:cs typeface="Arial MT"/>
                        </a:rPr>
                        <a:t>meal</a:t>
                      </a:r>
                      <a:r>
                        <a:rPr sz="1400" spc="-40" dirty="0">
                          <a:solidFill>
                            <a:srgbClr val="FFFFFF"/>
                          </a:solidFill>
                          <a:latin typeface="Arial MT"/>
                          <a:cs typeface="Arial MT"/>
                        </a:rPr>
                        <a:t> </a:t>
                      </a:r>
                      <a:r>
                        <a:rPr sz="1400" spc="-10" dirty="0">
                          <a:solidFill>
                            <a:srgbClr val="FFFFFF"/>
                          </a:solidFill>
                          <a:latin typeface="Arial MT"/>
                          <a:cs typeface="Arial MT"/>
                        </a:rPr>
                        <a:t>biscuits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878787"/>
                    </a:solidFill>
                  </a:tcPr>
                </a:tc>
                <a:tc>
                  <a:txBody>
                    <a:bodyPr/>
                    <a:lstStyle/>
                    <a:p>
                      <a:pPr marL="635" algn="ctr">
                        <a:lnSpc>
                          <a:spcPct val="100000"/>
                        </a:lnSpc>
                        <a:spcBef>
                          <a:spcPts val="225"/>
                        </a:spcBef>
                      </a:pPr>
                      <a:r>
                        <a:rPr sz="1400" spc="-10" dirty="0">
                          <a:solidFill>
                            <a:srgbClr val="3B3B3B"/>
                          </a:solidFill>
                          <a:latin typeface="Arial MT"/>
                          <a:cs typeface="Arial MT"/>
                        </a:rPr>
                        <a:t>Buscuits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66DBFF"/>
                    </a:solidFill>
                  </a:tcPr>
                </a:tc>
                <a:tc>
                  <a:txBody>
                    <a:bodyPr/>
                    <a:lstStyle/>
                    <a:p>
                      <a:pPr marL="2540" algn="ctr">
                        <a:lnSpc>
                          <a:spcPct val="100000"/>
                        </a:lnSpc>
                        <a:spcBef>
                          <a:spcPts val="225"/>
                        </a:spcBef>
                      </a:pPr>
                      <a:r>
                        <a:rPr sz="1400" spc="-10" dirty="0">
                          <a:latin typeface="Arial MT"/>
                          <a:cs typeface="Arial MT"/>
                        </a:rPr>
                        <a:t>2022-06-</a:t>
                      </a:r>
                      <a:r>
                        <a:rPr sz="1400" spc="-25" dirty="0">
                          <a:latin typeface="Arial MT"/>
                          <a:cs typeface="Arial MT"/>
                        </a:rPr>
                        <a:t>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5"/>
                        </a:spcBef>
                      </a:pPr>
                      <a:r>
                        <a:rPr sz="1400" spc="-10" dirty="0">
                          <a:latin typeface="Arial MT"/>
                          <a:cs typeface="Arial MT"/>
                        </a:rPr>
                        <a:t>2100-01-</a:t>
                      </a:r>
                      <a:r>
                        <a:rPr sz="1400" spc="-25" dirty="0">
                          <a:latin typeface="Arial MT"/>
                          <a:cs typeface="Arial MT"/>
                        </a:rPr>
                        <a:t>01</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bl>
          </a:graphicData>
        </a:graphic>
      </p:graphicFrame>
      <p:sp>
        <p:nvSpPr>
          <p:cNvPr id="4" name="object 4"/>
          <p:cNvSpPr txBox="1"/>
          <p:nvPr/>
        </p:nvSpPr>
        <p:spPr>
          <a:xfrm>
            <a:off x="2543725" y="3506555"/>
            <a:ext cx="6898449"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Some</a:t>
            </a:r>
            <a:r>
              <a:rPr sz="2400" b="1" spc="-40" dirty="0">
                <a:solidFill>
                  <a:srgbClr val="D9D9D9"/>
                </a:solidFill>
                <a:latin typeface="Calibri"/>
                <a:cs typeface="Calibri"/>
              </a:rPr>
              <a:t> </a:t>
            </a:r>
            <a:r>
              <a:rPr sz="2400" b="1" dirty="0">
                <a:solidFill>
                  <a:srgbClr val="D9D9D9"/>
                </a:solidFill>
                <a:latin typeface="Calibri"/>
                <a:cs typeface="Calibri"/>
              </a:rPr>
              <a:t>attributes</a:t>
            </a:r>
            <a:r>
              <a:rPr sz="2400" b="1" spc="-53" dirty="0">
                <a:solidFill>
                  <a:srgbClr val="D9D9D9"/>
                </a:solidFill>
                <a:latin typeface="Calibri"/>
                <a:cs typeface="Calibri"/>
              </a:rPr>
              <a:t> </a:t>
            </a:r>
            <a:r>
              <a:rPr sz="2400" b="1" dirty="0">
                <a:solidFill>
                  <a:srgbClr val="D9D9D9"/>
                </a:solidFill>
                <a:latin typeface="Calibri"/>
                <a:cs typeface="Calibri"/>
              </a:rPr>
              <a:t>can</a:t>
            </a:r>
            <a:r>
              <a:rPr sz="2400" b="1" spc="-13" dirty="0">
                <a:solidFill>
                  <a:srgbClr val="D9D9D9"/>
                </a:solidFill>
                <a:latin typeface="Calibri"/>
                <a:cs typeface="Calibri"/>
              </a:rPr>
              <a:t> </a:t>
            </a:r>
            <a:r>
              <a:rPr sz="2400" b="1" dirty="0">
                <a:solidFill>
                  <a:srgbClr val="D9D9D9"/>
                </a:solidFill>
                <a:latin typeface="Calibri"/>
                <a:cs typeface="Calibri"/>
              </a:rPr>
              <a:t>be</a:t>
            </a:r>
            <a:r>
              <a:rPr sz="2400" b="1" spc="-27" dirty="0">
                <a:solidFill>
                  <a:srgbClr val="D9D9D9"/>
                </a:solidFill>
                <a:latin typeface="Calibri"/>
                <a:cs typeface="Calibri"/>
              </a:rPr>
              <a:t> </a:t>
            </a:r>
            <a:r>
              <a:rPr sz="2400" b="1" dirty="0">
                <a:solidFill>
                  <a:srgbClr val="D9D9D9"/>
                </a:solidFill>
                <a:latin typeface="Calibri"/>
                <a:cs typeface="Calibri"/>
              </a:rPr>
              <a:t>Type</a:t>
            </a:r>
            <a:r>
              <a:rPr sz="2400" b="1" spc="-33" dirty="0">
                <a:solidFill>
                  <a:srgbClr val="D9D9D9"/>
                </a:solidFill>
                <a:latin typeface="Calibri"/>
                <a:cs typeface="Calibri"/>
              </a:rPr>
              <a:t> </a:t>
            </a:r>
            <a:r>
              <a:rPr sz="2400" b="1" dirty="0">
                <a:solidFill>
                  <a:srgbClr val="D9D9D9"/>
                </a:solidFill>
                <a:latin typeface="Calibri"/>
                <a:cs typeface="Calibri"/>
              </a:rPr>
              <a:t>1</a:t>
            </a:r>
            <a:r>
              <a:rPr sz="2400" b="1" spc="7" dirty="0">
                <a:solidFill>
                  <a:srgbClr val="D9D9D9"/>
                </a:solidFill>
                <a:latin typeface="Calibri"/>
                <a:cs typeface="Calibri"/>
              </a:rPr>
              <a:t> </a:t>
            </a:r>
            <a:r>
              <a:rPr sz="2400" b="1" dirty="0">
                <a:solidFill>
                  <a:srgbClr val="D9D9D9"/>
                </a:solidFill>
                <a:latin typeface="Calibri"/>
                <a:cs typeface="Calibri"/>
              </a:rPr>
              <a:t>and</a:t>
            </a:r>
            <a:r>
              <a:rPr sz="2400" b="1" spc="-40" dirty="0">
                <a:solidFill>
                  <a:srgbClr val="D9D9D9"/>
                </a:solidFill>
                <a:latin typeface="Calibri"/>
                <a:cs typeface="Calibri"/>
              </a:rPr>
              <a:t> </a:t>
            </a:r>
            <a:r>
              <a:rPr sz="2400" b="1" dirty="0">
                <a:solidFill>
                  <a:srgbClr val="D9D9D9"/>
                </a:solidFill>
                <a:latin typeface="Calibri"/>
                <a:cs typeface="Calibri"/>
              </a:rPr>
              <a:t>some</a:t>
            </a:r>
            <a:r>
              <a:rPr sz="2400" b="1" spc="-33" dirty="0">
                <a:solidFill>
                  <a:srgbClr val="D9D9D9"/>
                </a:solidFill>
                <a:latin typeface="Calibri"/>
                <a:cs typeface="Calibri"/>
              </a:rPr>
              <a:t> </a:t>
            </a:r>
            <a:r>
              <a:rPr sz="2400" b="1" dirty="0">
                <a:solidFill>
                  <a:srgbClr val="D9D9D9"/>
                </a:solidFill>
                <a:latin typeface="Calibri"/>
                <a:cs typeface="Calibri"/>
              </a:rPr>
              <a:t>Type</a:t>
            </a:r>
            <a:r>
              <a:rPr sz="2400" b="1" spc="-20" dirty="0">
                <a:solidFill>
                  <a:srgbClr val="D9D9D9"/>
                </a:solidFill>
                <a:latin typeface="Calibri"/>
                <a:cs typeface="Calibri"/>
              </a:rPr>
              <a:t> </a:t>
            </a:r>
            <a:r>
              <a:rPr sz="2400" b="1" spc="-67" dirty="0">
                <a:solidFill>
                  <a:srgbClr val="D9D9D9"/>
                </a:solidFill>
                <a:latin typeface="Calibri"/>
                <a:cs typeface="Calibri"/>
              </a:rPr>
              <a:t>2</a:t>
            </a:r>
            <a:endParaRPr sz="2400" dirty="0">
              <a:latin typeface="Calibri"/>
              <a:cs typeface="Calibri"/>
            </a:endParaRPr>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93481" y="275371"/>
            <a:ext cx="4465328"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Mixing</a:t>
            </a:r>
            <a:r>
              <a:rPr spc="-27" dirty="0">
                <a:solidFill>
                  <a:schemeClr val="bg1"/>
                </a:solidFill>
                <a:latin typeface="+mn-lt"/>
              </a:rPr>
              <a:t> </a:t>
            </a:r>
            <a:r>
              <a:rPr dirty="0">
                <a:solidFill>
                  <a:schemeClr val="bg1"/>
                </a:solidFill>
                <a:latin typeface="+mn-lt"/>
              </a:rPr>
              <a:t>Type</a:t>
            </a:r>
            <a:r>
              <a:rPr spc="-53" dirty="0">
                <a:solidFill>
                  <a:schemeClr val="bg1"/>
                </a:solidFill>
                <a:latin typeface="+mn-lt"/>
              </a:rPr>
              <a:t> </a:t>
            </a:r>
            <a:r>
              <a:rPr dirty="0">
                <a:solidFill>
                  <a:schemeClr val="bg1"/>
                </a:solidFill>
                <a:latin typeface="+mn-lt"/>
              </a:rPr>
              <a:t>1</a:t>
            </a:r>
            <a:r>
              <a:rPr spc="-67" dirty="0">
                <a:solidFill>
                  <a:schemeClr val="bg1"/>
                </a:solidFill>
                <a:latin typeface="+mn-lt"/>
              </a:rPr>
              <a:t> </a:t>
            </a:r>
            <a:r>
              <a:rPr dirty="0">
                <a:solidFill>
                  <a:schemeClr val="bg1"/>
                </a:solidFill>
                <a:latin typeface="+mn-lt"/>
              </a:rPr>
              <a:t>+</a:t>
            </a:r>
            <a:r>
              <a:rPr spc="-40" dirty="0">
                <a:solidFill>
                  <a:schemeClr val="bg1"/>
                </a:solidFill>
                <a:latin typeface="+mn-lt"/>
              </a:rPr>
              <a:t> </a:t>
            </a:r>
            <a:r>
              <a:rPr spc="-67" dirty="0">
                <a:solidFill>
                  <a:schemeClr val="bg1"/>
                </a:solidFill>
                <a:latin typeface="+mn-lt"/>
              </a:rPr>
              <a:t>2</a:t>
            </a:r>
          </a:p>
        </p:txBody>
      </p:sp>
      <p:graphicFrame>
        <p:nvGraphicFramePr>
          <p:cNvPr id="3" name="object 3"/>
          <p:cNvGraphicFramePr>
            <a:graphicFrameLocks noGrp="1"/>
          </p:cNvGraphicFramePr>
          <p:nvPr>
            <p:extLst>
              <p:ext uri="{D42A27DB-BD31-4B8C-83A1-F6EECF244321}">
                <p14:modId xmlns:p14="http://schemas.microsoft.com/office/powerpoint/2010/main" val="831616679"/>
              </p:ext>
            </p:extLst>
          </p:nvPr>
        </p:nvGraphicFramePr>
        <p:xfrm>
          <a:off x="2226734" y="1693334"/>
          <a:ext cx="8023012" cy="1241213"/>
        </p:xfrm>
        <a:graphic>
          <a:graphicData uri="http://schemas.openxmlformats.org/drawingml/2006/table">
            <a:tbl>
              <a:tblPr firstRow="1" bandRow="1">
                <a:tableStyleId>{2D5ABB26-0587-4C30-8999-92F81FD0307C}</a:tableStyleId>
              </a:tblPr>
              <a:tblGrid>
                <a:gridCol w="1319107">
                  <a:extLst>
                    <a:ext uri="{9D8B030D-6E8A-4147-A177-3AD203B41FA5}">
                      <a16:colId xmlns:a16="http://schemas.microsoft.com/office/drawing/2014/main" val="20000"/>
                    </a:ext>
                  </a:extLst>
                </a:gridCol>
                <a:gridCol w="1319107">
                  <a:extLst>
                    <a:ext uri="{9D8B030D-6E8A-4147-A177-3AD203B41FA5}">
                      <a16:colId xmlns:a16="http://schemas.microsoft.com/office/drawing/2014/main" val="20001"/>
                    </a:ext>
                  </a:extLst>
                </a:gridCol>
                <a:gridCol w="2237740">
                  <a:extLst>
                    <a:ext uri="{9D8B030D-6E8A-4147-A177-3AD203B41FA5}">
                      <a16:colId xmlns:a16="http://schemas.microsoft.com/office/drawing/2014/main" val="20002"/>
                    </a:ext>
                  </a:extLst>
                </a:gridCol>
                <a:gridCol w="1008380">
                  <a:extLst>
                    <a:ext uri="{9D8B030D-6E8A-4147-A177-3AD203B41FA5}">
                      <a16:colId xmlns:a16="http://schemas.microsoft.com/office/drawing/2014/main" val="20003"/>
                    </a:ext>
                  </a:extLst>
                </a:gridCol>
                <a:gridCol w="1069339">
                  <a:extLst>
                    <a:ext uri="{9D8B030D-6E8A-4147-A177-3AD203B41FA5}">
                      <a16:colId xmlns:a16="http://schemas.microsoft.com/office/drawing/2014/main" val="20004"/>
                    </a:ext>
                  </a:extLst>
                </a:gridCol>
                <a:gridCol w="1069339">
                  <a:extLst>
                    <a:ext uri="{9D8B030D-6E8A-4147-A177-3AD203B41FA5}">
                      <a16:colId xmlns:a16="http://schemas.microsoft.com/office/drawing/2014/main" val="20005"/>
                    </a:ext>
                  </a:extLst>
                </a:gridCol>
              </a:tblGrid>
              <a:tr h="226060">
                <a:tc>
                  <a:txBody>
                    <a:bodyPr/>
                    <a:lstStyle/>
                    <a:p>
                      <a:pPr algn="ctr">
                        <a:lnSpc>
                          <a:spcPct val="100000"/>
                        </a:lnSpc>
                        <a:spcBef>
                          <a:spcPts val="0"/>
                        </a:spcBef>
                      </a:pPr>
                      <a:r>
                        <a:rPr sz="1400" b="1" spc="-10" dirty="0">
                          <a:solidFill>
                            <a:schemeClr val="bg1"/>
                          </a:solidFill>
                          <a:latin typeface="Arial"/>
                          <a:cs typeface="Arial"/>
                        </a:rPr>
                        <a:t>Product_PK</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gn="ctr">
                        <a:lnSpc>
                          <a:spcPct val="100000"/>
                        </a:lnSpc>
                        <a:spcBef>
                          <a:spcPts val="60"/>
                        </a:spcBef>
                      </a:pPr>
                      <a:r>
                        <a:rPr sz="1400" b="1" spc="-10" dirty="0">
                          <a:solidFill>
                            <a:schemeClr val="bg1"/>
                          </a:solidFill>
                          <a:latin typeface="Arial"/>
                          <a:cs typeface="Arial"/>
                        </a:rPr>
                        <a:t>Product_ID</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gn="ctr">
                        <a:lnSpc>
                          <a:spcPct val="100000"/>
                        </a:lnSpc>
                        <a:spcBef>
                          <a:spcPts val="60"/>
                        </a:spcBef>
                      </a:pPr>
                      <a:r>
                        <a:rPr sz="1400" b="1" spc="-20" dirty="0">
                          <a:solidFill>
                            <a:schemeClr val="bg1"/>
                          </a:solidFill>
                          <a:latin typeface="Arial"/>
                          <a:cs typeface="Arial"/>
                        </a:rPr>
                        <a:t>Name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905" algn="ctr">
                        <a:lnSpc>
                          <a:spcPct val="100000"/>
                        </a:lnSpc>
                        <a:spcBef>
                          <a:spcPts val="60"/>
                        </a:spcBef>
                      </a:pPr>
                      <a:r>
                        <a:rPr sz="1400" b="1" spc="-10" dirty="0">
                          <a:solidFill>
                            <a:schemeClr val="bg1"/>
                          </a:solidFill>
                          <a:latin typeface="Arial"/>
                          <a:cs typeface="Arial"/>
                        </a:rPr>
                        <a:t>Category</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2540" algn="ctr">
                        <a:lnSpc>
                          <a:spcPct val="100000"/>
                        </a:lnSpc>
                        <a:spcBef>
                          <a:spcPts val="60"/>
                        </a:spcBef>
                      </a:pPr>
                      <a:r>
                        <a:rPr sz="1400" b="1" spc="-10" dirty="0">
                          <a:solidFill>
                            <a:schemeClr val="bg1"/>
                          </a:solidFill>
                          <a:latin typeface="Arial"/>
                          <a:cs typeface="Arial"/>
                        </a:rPr>
                        <a:t>Ef_Date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2540" algn="ctr">
                        <a:lnSpc>
                          <a:spcPct val="100000"/>
                        </a:lnSpc>
                        <a:spcBef>
                          <a:spcPts val="60"/>
                        </a:spcBef>
                      </a:pPr>
                      <a:r>
                        <a:rPr sz="1400" b="1" spc="-10" dirty="0">
                          <a:solidFill>
                            <a:schemeClr val="bg1"/>
                          </a:solidFill>
                          <a:latin typeface="Arial"/>
                          <a:cs typeface="Arial"/>
                        </a:rPr>
                        <a:t>Ex_Date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SG-</a:t>
                      </a:r>
                      <a:r>
                        <a:rPr sz="1400" spc="-25" dirty="0">
                          <a:latin typeface="Arial MT"/>
                          <a:cs typeface="Arial MT"/>
                        </a:rPr>
                        <a:t>TR7</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dirty="0">
                          <a:latin typeface="Arial MT"/>
                          <a:cs typeface="Arial MT"/>
                        </a:rPr>
                        <a:t>Sunglases</a:t>
                      </a:r>
                      <a:r>
                        <a:rPr sz="1400" spc="-55" dirty="0">
                          <a:latin typeface="Arial MT"/>
                          <a:cs typeface="Arial MT"/>
                        </a:rPr>
                        <a:t> </a:t>
                      </a:r>
                      <a:r>
                        <a:rPr sz="1400" dirty="0">
                          <a:latin typeface="Arial MT"/>
                          <a:cs typeface="Arial MT"/>
                        </a:rPr>
                        <a:t>TR-</a:t>
                      </a:r>
                      <a:r>
                        <a:rPr sz="1400" spc="-50" dirty="0">
                          <a:latin typeface="Arial MT"/>
                          <a:cs typeface="Arial MT"/>
                        </a:rPr>
                        <a:t>7</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Assecoirs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a:t>
                      </a:r>
                      <a:r>
                        <a:rPr sz="1400" spc="-25" dirty="0">
                          <a:latin typeface="Arial MT"/>
                          <a:cs typeface="Arial MT"/>
                        </a:rPr>
                        <a:t>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5"/>
                        </a:spcBef>
                      </a:pPr>
                      <a:r>
                        <a:rPr sz="1400" spc="-10" dirty="0">
                          <a:latin typeface="Arial MT"/>
                          <a:cs typeface="Arial MT"/>
                        </a:rPr>
                        <a:t>2100-01-</a:t>
                      </a:r>
                      <a:r>
                        <a:rPr sz="1400" spc="-25" dirty="0">
                          <a:latin typeface="Arial MT"/>
                          <a:cs typeface="Arial MT"/>
                        </a:rPr>
                        <a:t>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CH-</a:t>
                      </a:r>
                      <a:r>
                        <a:rPr sz="1400" spc="-25" dirty="0">
                          <a:latin typeface="Arial MT"/>
                          <a:cs typeface="Arial MT"/>
                        </a:rPr>
                        <a:t>B70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Chocolate </a:t>
                      </a:r>
                      <a:r>
                        <a:rPr sz="1400" dirty="0">
                          <a:latin typeface="Arial MT"/>
                          <a:cs typeface="Arial MT"/>
                        </a:rPr>
                        <a:t>bar 70%</a:t>
                      </a:r>
                      <a:r>
                        <a:rPr sz="1400" spc="5" dirty="0">
                          <a:latin typeface="Arial MT"/>
                          <a:cs typeface="Arial MT"/>
                        </a:rPr>
                        <a:t> </a:t>
                      </a:r>
                      <a:r>
                        <a:rPr sz="1400" spc="-10" dirty="0">
                          <a:latin typeface="Arial MT"/>
                          <a:cs typeface="Arial MT"/>
                        </a:rPr>
                        <a:t>cacao</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Sweets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a:t>
                      </a:r>
                      <a:r>
                        <a:rPr sz="1400" spc="-25" dirty="0">
                          <a:latin typeface="Arial MT"/>
                          <a:cs typeface="Arial MT"/>
                        </a:rPr>
                        <a:t>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5"/>
                        </a:spcBef>
                      </a:pPr>
                      <a:r>
                        <a:rPr sz="1400" spc="-10" dirty="0">
                          <a:latin typeface="Arial MT"/>
                          <a:cs typeface="Arial MT"/>
                        </a:rPr>
                        <a:t>2100-01-</a:t>
                      </a:r>
                      <a:r>
                        <a:rPr sz="1400" spc="-25" dirty="0">
                          <a:latin typeface="Arial MT"/>
                          <a:cs typeface="Arial MT"/>
                        </a:rPr>
                        <a:t>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3153">
                <a:tc>
                  <a:txBody>
                    <a:bodyPr/>
                    <a:lstStyle/>
                    <a:p>
                      <a:pPr algn="ctr">
                        <a:lnSpc>
                          <a:spcPct val="10000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OT-</a:t>
                      </a:r>
                      <a:r>
                        <a:rPr sz="1400" spc="-25" dirty="0">
                          <a:latin typeface="Arial MT"/>
                          <a:cs typeface="Arial MT"/>
                        </a:rPr>
                        <a:t>BSC</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dirty="0">
                          <a:solidFill>
                            <a:srgbClr val="FFFFFF"/>
                          </a:solidFill>
                          <a:latin typeface="Arial MT"/>
                          <a:cs typeface="Arial MT"/>
                        </a:rPr>
                        <a:t>Oat</a:t>
                      </a:r>
                      <a:r>
                        <a:rPr sz="1400" spc="-20" dirty="0">
                          <a:solidFill>
                            <a:srgbClr val="FFFFFF"/>
                          </a:solidFill>
                          <a:latin typeface="Arial MT"/>
                          <a:cs typeface="Arial MT"/>
                        </a:rPr>
                        <a:t> </a:t>
                      </a:r>
                      <a:r>
                        <a:rPr sz="1400" dirty="0">
                          <a:solidFill>
                            <a:srgbClr val="FFFFFF"/>
                          </a:solidFill>
                          <a:latin typeface="Arial MT"/>
                          <a:cs typeface="Arial MT"/>
                        </a:rPr>
                        <a:t>meal</a:t>
                      </a:r>
                      <a:r>
                        <a:rPr sz="1400" spc="-45" dirty="0">
                          <a:solidFill>
                            <a:srgbClr val="FFFFFF"/>
                          </a:solidFill>
                          <a:latin typeface="Arial MT"/>
                          <a:cs typeface="Arial MT"/>
                        </a:rPr>
                        <a:t> </a:t>
                      </a:r>
                      <a:r>
                        <a:rPr sz="1400" spc="-10" dirty="0">
                          <a:solidFill>
                            <a:srgbClr val="FFFFFF"/>
                          </a:solidFill>
                          <a:latin typeface="Arial MT"/>
                          <a:cs typeface="Arial MT"/>
                        </a:rPr>
                        <a:t>biscuits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878787"/>
                    </a:solidFill>
                  </a:tcPr>
                </a:tc>
                <a:tc>
                  <a:txBody>
                    <a:bodyPr/>
                    <a:lstStyle/>
                    <a:p>
                      <a:pPr algn="ctr">
                        <a:lnSpc>
                          <a:spcPct val="100000"/>
                        </a:lnSpc>
                        <a:spcBef>
                          <a:spcPts val="225"/>
                        </a:spcBef>
                      </a:pPr>
                      <a:r>
                        <a:rPr sz="1400" spc="-10" dirty="0">
                          <a:latin typeface="Arial MT"/>
                          <a:cs typeface="Arial MT"/>
                        </a:rPr>
                        <a:t>Sweets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a:t>
                      </a:r>
                      <a:r>
                        <a:rPr sz="1400" spc="-25" dirty="0">
                          <a:latin typeface="Arial MT"/>
                          <a:cs typeface="Arial MT"/>
                        </a:rPr>
                        <a:t>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5"/>
                        </a:spcBef>
                      </a:pPr>
                      <a:r>
                        <a:rPr sz="1400" spc="-10" dirty="0">
                          <a:latin typeface="Arial MT"/>
                          <a:cs typeface="Arial MT"/>
                        </a:rPr>
                        <a:t>2100-01-</a:t>
                      </a:r>
                      <a:r>
                        <a:rPr sz="1400" spc="-25" dirty="0">
                          <a:latin typeface="Arial MT"/>
                          <a:cs typeface="Arial MT"/>
                        </a:rPr>
                        <a:t>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54000">
                <a:tc>
                  <a:txBody>
                    <a:bodyPr/>
                    <a:lstStyle/>
                    <a:p>
                      <a:pPr algn="ctr">
                        <a:lnSpc>
                          <a:spcPct val="100000"/>
                        </a:lnSpc>
                        <a:spcBef>
                          <a:spcPts val="225"/>
                        </a:spcBef>
                      </a:pPr>
                      <a:r>
                        <a:rPr sz="1400" spc="-50" dirty="0">
                          <a:latin typeface="Arial MT"/>
                          <a:cs typeface="Arial MT"/>
                        </a:rPr>
                        <a:t>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OT-</a:t>
                      </a:r>
                      <a:r>
                        <a:rPr sz="1400" spc="-25" dirty="0">
                          <a:latin typeface="Arial MT"/>
                          <a:cs typeface="Arial MT"/>
                        </a:rPr>
                        <a:t>BSC</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dirty="0">
                          <a:solidFill>
                            <a:srgbClr val="FFFFFF"/>
                          </a:solidFill>
                          <a:latin typeface="Arial MT"/>
                          <a:cs typeface="Arial MT"/>
                        </a:rPr>
                        <a:t>Delicious</a:t>
                      </a:r>
                      <a:r>
                        <a:rPr sz="1400" spc="-50" dirty="0">
                          <a:solidFill>
                            <a:srgbClr val="FFFFFF"/>
                          </a:solidFill>
                          <a:latin typeface="Arial MT"/>
                          <a:cs typeface="Arial MT"/>
                        </a:rPr>
                        <a:t> </a:t>
                      </a:r>
                      <a:r>
                        <a:rPr sz="1400" dirty="0">
                          <a:solidFill>
                            <a:srgbClr val="FFFFFF"/>
                          </a:solidFill>
                          <a:latin typeface="Arial MT"/>
                          <a:cs typeface="Arial MT"/>
                        </a:rPr>
                        <a:t>Oat</a:t>
                      </a:r>
                      <a:r>
                        <a:rPr sz="1400" spc="-25" dirty="0">
                          <a:solidFill>
                            <a:srgbClr val="FFFFFF"/>
                          </a:solidFill>
                          <a:latin typeface="Arial MT"/>
                          <a:cs typeface="Arial MT"/>
                        </a:rPr>
                        <a:t> </a:t>
                      </a:r>
                      <a:r>
                        <a:rPr sz="1400" dirty="0">
                          <a:solidFill>
                            <a:srgbClr val="FFFFFF"/>
                          </a:solidFill>
                          <a:latin typeface="Arial MT"/>
                          <a:cs typeface="Arial MT"/>
                        </a:rPr>
                        <a:t>meal</a:t>
                      </a:r>
                      <a:r>
                        <a:rPr sz="1400" spc="-40" dirty="0">
                          <a:solidFill>
                            <a:srgbClr val="FFFFFF"/>
                          </a:solidFill>
                          <a:latin typeface="Arial MT"/>
                          <a:cs typeface="Arial MT"/>
                        </a:rPr>
                        <a:t> </a:t>
                      </a:r>
                      <a:r>
                        <a:rPr sz="1400" spc="-10" dirty="0">
                          <a:solidFill>
                            <a:srgbClr val="FFFFFF"/>
                          </a:solidFill>
                          <a:latin typeface="Arial MT"/>
                          <a:cs typeface="Arial MT"/>
                        </a:rPr>
                        <a:t>biscuits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878787"/>
                    </a:solidFill>
                  </a:tcPr>
                </a:tc>
                <a:tc>
                  <a:txBody>
                    <a:bodyPr/>
                    <a:lstStyle/>
                    <a:p>
                      <a:pPr marL="635" algn="ctr">
                        <a:lnSpc>
                          <a:spcPct val="100000"/>
                        </a:lnSpc>
                        <a:spcBef>
                          <a:spcPts val="225"/>
                        </a:spcBef>
                      </a:pPr>
                      <a:r>
                        <a:rPr sz="1400" spc="-10" dirty="0">
                          <a:solidFill>
                            <a:srgbClr val="3B3B3B"/>
                          </a:solidFill>
                          <a:latin typeface="Arial MT"/>
                          <a:cs typeface="Arial MT"/>
                        </a:rPr>
                        <a:t>Buscuits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66DBFF"/>
                    </a:solidFill>
                  </a:tcPr>
                </a:tc>
                <a:tc>
                  <a:txBody>
                    <a:bodyPr/>
                    <a:lstStyle/>
                    <a:p>
                      <a:pPr marL="2540" algn="ctr">
                        <a:lnSpc>
                          <a:spcPct val="100000"/>
                        </a:lnSpc>
                        <a:spcBef>
                          <a:spcPts val="225"/>
                        </a:spcBef>
                      </a:pPr>
                      <a:r>
                        <a:rPr sz="1400" spc="-10" dirty="0">
                          <a:latin typeface="Arial MT"/>
                          <a:cs typeface="Arial MT"/>
                        </a:rPr>
                        <a:t>2022-06-</a:t>
                      </a:r>
                      <a:r>
                        <a:rPr sz="1400" spc="-25" dirty="0">
                          <a:latin typeface="Arial MT"/>
                          <a:cs typeface="Arial MT"/>
                        </a:rPr>
                        <a:t>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5"/>
                        </a:spcBef>
                      </a:pPr>
                      <a:r>
                        <a:rPr sz="1400" spc="-10" dirty="0">
                          <a:latin typeface="Arial MT"/>
                          <a:cs typeface="Arial MT"/>
                        </a:rPr>
                        <a:t>2100-01-</a:t>
                      </a:r>
                      <a:r>
                        <a:rPr sz="1400" spc="-25" dirty="0">
                          <a:latin typeface="Arial MT"/>
                          <a:cs typeface="Arial MT"/>
                        </a:rPr>
                        <a:t>01</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bl>
          </a:graphicData>
        </a:graphic>
      </p:graphicFrame>
      <p:sp>
        <p:nvSpPr>
          <p:cNvPr id="4" name="object 4"/>
          <p:cNvSpPr txBox="1"/>
          <p:nvPr/>
        </p:nvSpPr>
        <p:spPr>
          <a:xfrm>
            <a:off x="2543725" y="3323675"/>
            <a:ext cx="8558283" cy="1425176"/>
          </a:xfrm>
          <a:prstGeom prst="rect">
            <a:avLst/>
          </a:prstGeom>
        </p:spPr>
        <p:txBody>
          <a:bodyPr vert="horz" wrap="square" lIns="0" tIns="16933" rIns="0" bIns="0" rtlCol="0">
            <a:spAutoFit/>
          </a:bodyPr>
          <a:lstStyle/>
          <a:p>
            <a:pPr marL="397077" marR="6773" indent="-380990">
              <a:lnSpc>
                <a:spcPct val="150000"/>
              </a:lnSpc>
              <a:spcBef>
                <a:spcPts val="133"/>
              </a:spcBef>
              <a:buClr>
                <a:srgbClr val="99D3FF"/>
              </a:buClr>
              <a:buFont typeface="Wingdings"/>
              <a:buChar char=""/>
              <a:tabLst>
                <a:tab pos="398770" algn="l"/>
              </a:tabLst>
            </a:pPr>
            <a:r>
              <a:rPr sz="2400" b="1" dirty="0">
                <a:solidFill>
                  <a:srgbClr val="D9D9D9"/>
                </a:solidFill>
                <a:latin typeface="Calibri"/>
                <a:cs typeface="Calibri"/>
              </a:rPr>
              <a:t>No</a:t>
            </a:r>
            <a:r>
              <a:rPr sz="2400" b="1" spc="-7" dirty="0">
                <a:solidFill>
                  <a:srgbClr val="D9D9D9"/>
                </a:solidFill>
                <a:latin typeface="Calibri"/>
                <a:cs typeface="Calibri"/>
              </a:rPr>
              <a:t> </a:t>
            </a:r>
            <a:r>
              <a:rPr sz="2400" b="1" dirty="0">
                <a:solidFill>
                  <a:srgbClr val="D9D9D9"/>
                </a:solidFill>
                <a:latin typeface="Calibri"/>
                <a:cs typeface="Calibri"/>
              </a:rPr>
              <a:t>set</a:t>
            </a:r>
            <a:r>
              <a:rPr sz="2400" b="1" spc="-33" dirty="0">
                <a:solidFill>
                  <a:srgbClr val="D9D9D9"/>
                </a:solidFill>
                <a:latin typeface="Calibri"/>
                <a:cs typeface="Calibri"/>
              </a:rPr>
              <a:t> </a:t>
            </a:r>
            <a:r>
              <a:rPr sz="2400" b="1" dirty="0">
                <a:solidFill>
                  <a:srgbClr val="D9D9D9"/>
                </a:solidFill>
                <a:latin typeface="Calibri"/>
                <a:cs typeface="Calibri"/>
              </a:rPr>
              <a:t>in</a:t>
            </a:r>
            <a:r>
              <a:rPr sz="2400" b="1" spc="-7" dirty="0">
                <a:solidFill>
                  <a:srgbClr val="D9D9D9"/>
                </a:solidFill>
                <a:latin typeface="Calibri"/>
                <a:cs typeface="Calibri"/>
              </a:rPr>
              <a:t> </a:t>
            </a:r>
            <a:r>
              <a:rPr sz="2400" b="1" dirty="0">
                <a:solidFill>
                  <a:srgbClr val="D9D9D9"/>
                </a:solidFill>
                <a:latin typeface="Calibri"/>
                <a:cs typeface="Calibri"/>
              </a:rPr>
              <a:t>stone</a:t>
            </a:r>
            <a:r>
              <a:rPr sz="2400" b="1" spc="-33" dirty="0">
                <a:solidFill>
                  <a:srgbClr val="D9D9D9"/>
                </a:solidFill>
                <a:latin typeface="Calibri"/>
                <a:cs typeface="Calibri"/>
              </a:rPr>
              <a:t> </a:t>
            </a:r>
            <a:r>
              <a:rPr sz="2400" b="1" dirty="0">
                <a:solidFill>
                  <a:srgbClr val="D9D9D9"/>
                </a:solidFill>
                <a:latin typeface="Calibri"/>
                <a:cs typeface="Calibri"/>
              </a:rPr>
              <a:t>rules</a:t>
            </a:r>
            <a:r>
              <a:rPr sz="2400" b="1" spc="-47" dirty="0">
                <a:solidFill>
                  <a:srgbClr val="D9D9D9"/>
                </a:solidFill>
                <a:latin typeface="Calibri"/>
                <a:cs typeface="Calibri"/>
              </a:rPr>
              <a:t> </a:t>
            </a:r>
            <a:r>
              <a:rPr sz="2400" b="1" dirty="0">
                <a:solidFill>
                  <a:srgbClr val="D9D9D9"/>
                </a:solidFill>
                <a:latin typeface="Calibri"/>
                <a:cs typeface="Calibri"/>
              </a:rPr>
              <a:t>but</a:t>
            </a:r>
            <a:r>
              <a:rPr sz="2400" b="1" spc="-20" dirty="0">
                <a:solidFill>
                  <a:srgbClr val="D9D9D9"/>
                </a:solidFill>
                <a:latin typeface="Calibri"/>
                <a:cs typeface="Calibri"/>
              </a:rPr>
              <a:t> </a:t>
            </a:r>
            <a:r>
              <a:rPr sz="2400" b="1" dirty="0">
                <a:solidFill>
                  <a:srgbClr val="D9D9D9"/>
                </a:solidFill>
                <a:latin typeface="Calibri"/>
                <a:cs typeface="Calibri"/>
              </a:rPr>
              <a:t>needs</a:t>
            </a:r>
            <a:r>
              <a:rPr sz="2400" b="1" spc="-60" dirty="0">
                <a:solidFill>
                  <a:srgbClr val="D9D9D9"/>
                </a:solidFill>
                <a:latin typeface="Calibri"/>
                <a:cs typeface="Calibri"/>
              </a:rPr>
              <a:t> </a:t>
            </a:r>
            <a:r>
              <a:rPr sz="2400" b="1" dirty="0">
                <a:solidFill>
                  <a:srgbClr val="D9D9D9"/>
                </a:solidFill>
                <a:latin typeface="Calibri"/>
                <a:cs typeface="Calibri"/>
              </a:rPr>
              <a:t>to be</a:t>
            </a:r>
            <a:r>
              <a:rPr sz="2400" b="1" spc="-20" dirty="0">
                <a:solidFill>
                  <a:srgbClr val="D9D9D9"/>
                </a:solidFill>
                <a:latin typeface="Calibri"/>
                <a:cs typeface="Calibri"/>
              </a:rPr>
              <a:t> </a:t>
            </a:r>
            <a:r>
              <a:rPr sz="2400" b="1" dirty="0">
                <a:solidFill>
                  <a:srgbClr val="D9D9D9"/>
                </a:solidFill>
                <a:latin typeface="Calibri"/>
                <a:cs typeface="Calibri"/>
              </a:rPr>
              <a:t>defined</a:t>
            </a:r>
            <a:r>
              <a:rPr sz="2400" b="1" spc="-47" dirty="0">
                <a:solidFill>
                  <a:srgbClr val="D9D9D9"/>
                </a:solidFill>
                <a:latin typeface="Calibri"/>
                <a:cs typeface="Calibri"/>
              </a:rPr>
              <a:t> </a:t>
            </a:r>
            <a:r>
              <a:rPr sz="2400" b="1" spc="-27" dirty="0">
                <a:solidFill>
                  <a:srgbClr val="D9D9D9"/>
                </a:solidFill>
                <a:latin typeface="Calibri"/>
                <a:cs typeface="Calibri"/>
              </a:rPr>
              <a:t>with </a:t>
            </a:r>
            <a:r>
              <a:rPr sz="2400" b="1" dirty="0">
                <a:solidFill>
                  <a:srgbClr val="D9D9D9"/>
                </a:solidFill>
                <a:latin typeface="Calibri"/>
                <a:cs typeface="Calibri"/>
              </a:rPr>
              <a:t>business</a:t>
            </a:r>
            <a:r>
              <a:rPr sz="2400" b="1" spc="-60" dirty="0">
                <a:solidFill>
                  <a:srgbClr val="D9D9D9"/>
                </a:solidFill>
                <a:latin typeface="Calibri"/>
                <a:cs typeface="Calibri"/>
              </a:rPr>
              <a:t> </a:t>
            </a:r>
            <a:r>
              <a:rPr sz="2400" b="1" spc="-27" dirty="0">
                <a:solidFill>
                  <a:srgbClr val="D9D9D9"/>
                </a:solidFill>
                <a:latin typeface="Calibri"/>
                <a:cs typeface="Calibri"/>
              </a:rPr>
              <a:t>users</a:t>
            </a:r>
            <a:endParaRPr sz="2400" dirty="0">
              <a:latin typeface="Calibri"/>
              <a:cs typeface="Calibri"/>
            </a:endParaRPr>
          </a:p>
          <a:p>
            <a:pPr>
              <a:spcBef>
                <a:spcPts val="860"/>
              </a:spcBef>
              <a:buClr>
                <a:srgbClr val="99D3FF"/>
              </a:buClr>
              <a:buFont typeface="Wingdings"/>
              <a:buChar char=""/>
            </a:pPr>
            <a:endParaRPr sz="2400" dirty="0">
              <a:latin typeface="Calibri"/>
              <a:cs typeface="Calibri"/>
            </a:endParaRPr>
          </a:p>
          <a:p>
            <a:pPr marL="397923" indent="-380990">
              <a:spcBef>
                <a:spcPts val="7"/>
              </a:spcBef>
              <a:buClr>
                <a:srgbClr val="99D3FF"/>
              </a:buClr>
              <a:buFont typeface="Wingdings"/>
              <a:buChar char=""/>
              <a:tabLst>
                <a:tab pos="397923" algn="l"/>
              </a:tabLst>
            </a:pPr>
            <a:r>
              <a:rPr sz="2400" b="1" i="1" dirty="0">
                <a:solidFill>
                  <a:srgbClr val="D9D9D9"/>
                </a:solidFill>
                <a:latin typeface="Calibri"/>
                <a:cs typeface="Calibri"/>
              </a:rPr>
              <a:t>Not</a:t>
            </a:r>
            <a:r>
              <a:rPr sz="2400" b="1" i="1" spc="7" dirty="0">
                <a:solidFill>
                  <a:srgbClr val="D9D9D9"/>
                </a:solidFill>
                <a:latin typeface="Calibri"/>
                <a:cs typeface="Calibri"/>
              </a:rPr>
              <a:t> </a:t>
            </a:r>
            <a:r>
              <a:rPr sz="2400" b="1" i="1" dirty="0">
                <a:solidFill>
                  <a:srgbClr val="D9D9D9"/>
                </a:solidFill>
                <a:latin typeface="Calibri"/>
                <a:cs typeface="Calibri"/>
              </a:rPr>
              <a:t>a</a:t>
            </a:r>
            <a:r>
              <a:rPr sz="2400" b="1" i="1" spc="-20" dirty="0">
                <a:solidFill>
                  <a:srgbClr val="D9D9D9"/>
                </a:solidFill>
                <a:latin typeface="Calibri"/>
                <a:cs typeface="Calibri"/>
              </a:rPr>
              <a:t> </a:t>
            </a:r>
            <a:r>
              <a:rPr sz="2400" b="1" i="1" dirty="0">
                <a:solidFill>
                  <a:srgbClr val="D9D9D9"/>
                </a:solidFill>
                <a:latin typeface="Calibri"/>
                <a:cs typeface="Calibri"/>
              </a:rPr>
              <a:t>technical</a:t>
            </a:r>
            <a:r>
              <a:rPr sz="2400" b="1" i="1" spc="-33" dirty="0">
                <a:solidFill>
                  <a:srgbClr val="D9D9D9"/>
                </a:solidFill>
                <a:latin typeface="Calibri"/>
                <a:cs typeface="Calibri"/>
              </a:rPr>
              <a:t> </a:t>
            </a:r>
            <a:r>
              <a:rPr sz="2400" b="1" i="1" spc="-13" dirty="0">
                <a:solidFill>
                  <a:srgbClr val="D9D9D9"/>
                </a:solidFill>
                <a:latin typeface="Calibri"/>
                <a:cs typeface="Calibri"/>
              </a:rPr>
              <a:t>decision</a:t>
            </a:r>
            <a:endParaRPr sz="2400" dirty="0">
              <a:latin typeface="Calibri"/>
              <a:cs typeface="Calibri"/>
            </a:endParaRPr>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7D2CE-7C8A-6BE0-A986-49928BAF167B}"/>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DDCF42F3-5A46-4D1B-A442-8EA959BCF01D}"/>
              </a:ext>
            </a:extLst>
          </p:cNvPr>
          <p:cNvPicPr/>
          <p:nvPr/>
        </p:nvPicPr>
        <p:blipFill>
          <a:blip r:embed="rId2" cstate="print"/>
          <a:stretch>
            <a:fillRect/>
          </a:stretch>
        </p:blipFill>
        <p:spPr>
          <a:xfrm>
            <a:off x="1127759" y="2178303"/>
            <a:ext cx="9930384" cy="1702816"/>
          </a:xfrm>
          <a:prstGeom prst="rect">
            <a:avLst/>
          </a:prstGeom>
        </p:spPr>
      </p:pic>
      <p:sp>
        <p:nvSpPr>
          <p:cNvPr id="3" name="object 3">
            <a:extLst>
              <a:ext uri="{FF2B5EF4-FFF2-40B4-BE49-F238E27FC236}">
                <a16:creationId xmlns:a16="http://schemas.microsoft.com/office/drawing/2014/main" id="{691907A8-4F22-8CB7-3C4E-AC491DA39FBA}"/>
              </a:ext>
            </a:extLst>
          </p:cNvPr>
          <p:cNvSpPr txBox="1">
            <a:spLocks noGrp="1"/>
          </p:cNvSpPr>
          <p:nvPr>
            <p:ph type="title"/>
          </p:nvPr>
        </p:nvSpPr>
        <p:spPr>
          <a:xfrm>
            <a:off x="1190751" y="2467260"/>
            <a:ext cx="9811173" cy="1070377"/>
          </a:xfrm>
          <a:prstGeom prst="rect">
            <a:avLst/>
          </a:prstGeom>
          <a:noFill/>
          <a:ln w="9144">
            <a:noFill/>
          </a:ln>
        </p:spPr>
        <p:txBody>
          <a:bodyPr vert="horz" wrap="square" lIns="0" tIns="328505" rIns="0" bIns="0" rtlCol="0" anchor="ctr">
            <a:spAutoFit/>
          </a:bodyPr>
          <a:lstStyle/>
          <a:p>
            <a:pPr algn="ctr">
              <a:lnSpc>
                <a:spcPct val="100000"/>
              </a:lnSpc>
              <a:spcBef>
                <a:spcPts val="2585"/>
              </a:spcBef>
            </a:pPr>
            <a:r>
              <a:rPr sz="4800" dirty="0">
                <a:solidFill>
                  <a:schemeClr val="bg1"/>
                </a:solidFill>
                <a:latin typeface="Arial MT"/>
                <a:cs typeface="Arial MT"/>
              </a:rPr>
              <a:t>Type</a:t>
            </a:r>
            <a:r>
              <a:rPr sz="4800" spc="-27" dirty="0">
                <a:solidFill>
                  <a:schemeClr val="bg1"/>
                </a:solidFill>
                <a:latin typeface="Arial MT"/>
                <a:cs typeface="Arial MT"/>
              </a:rPr>
              <a:t> </a:t>
            </a:r>
            <a:r>
              <a:rPr lang="en-IN" sz="4800" spc="-27" dirty="0">
                <a:solidFill>
                  <a:schemeClr val="bg1"/>
                </a:solidFill>
                <a:latin typeface="Arial MT"/>
                <a:cs typeface="Arial MT"/>
              </a:rPr>
              <a:t>2</a:t>
            </a:r>
            <a:r>
              <a:rPr sz="4800" dirty="0">
                <a:solidFill>
                  <a:schemeClr val="bg1"/>
                </a:solidFill>
                <a:latin typeface="Arial MT"/>
                <a:cs typeface="Arial MT"/>
              </a:rPr>
              <a:t>:</a:t>
            </a:r>
            <a:r>
              <a:rPr sz="4800" spc="-47" dirty="0">
                <a:solidFill>
                  <a:schemeClr val="bg1"/>
                </a:solidFill>
                <a:latin typeface="Arial MT"/>
                <a:cs typeface="Arial MT"/>
              </a:rPr>
              <a:t> </a:t>
            </a:r>
            <a:r>
              <a:rPr lang="en-IN" sz="4800" dirty="0">
                <a:solidFill>
                  <a:schemeClr val="bg1"/>
                </a:solidFill>
                <a:latin typeface="Arial MT"/>
                <a:cs typeface="Arial MT"/>
              </a:rPr>
              <a:t>Implementation</a:t>
            </a:r>
            <a:endParaRPr sz="4800" dirty="0">
              <a:solidFill>
                <a:schemeClr val="bg1"/>
              </a:solidFill>
              <a:latin typeface="Arial MT"/>
              <a:cs typeface="Arial MT"/>
            </a:endParaRPr>
          </a:p>
        </p:txBody>
      </p:sp>
    </p:spTree>
    <p:extLst>
      <p:ext uri="{BB962C8B-B14F-4D97-AF65-F5344CB8AC3E}">
        <p14:creationId xmlns:p14="http://schemas.microsoft.com/office/powerpoint/2010/main" val="1523928816"/>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7F16C-988C-1337-EA22-97900B332D00}"/>
              </a:ext>
            </a:extLst>
          </p:cNvPr>
          <p:cNvSpPr>
            <a:spLocks noGrp="1"/>
          </p:cNvSpPr>
          <p:nvPr>
            <p:ph type="title"/>
          </p:nvPr>
        </p:nvSpPr>
        <p:spPr>
          <a:xfrm>
            <a:off x="416560" y="365125"/>
            <a:ext cx="11562080" cy="1325563"/>
          </a:xfrm>
        </p:spPr>
        <p:txBody>
          <a:bodyPr>
            <a:noAutofit/>
          </a:bodyPr>
          <a:lstStyle/>
          <a:p>
            <a:r>
              <a:rPr kumimoji="0" lang="en-US" altLang="en-US" i="0" u="none" strike="noStrike" cap="none" normalizeH="0" baseline="0" dirty="0">
                <a:ln>
                  <a:noFill/>
                </a:ln>
                <a:solidFill>
                  <a:schemeClr val="bg1"/>
                </a:solidFill>
                <a:effectLst/>
                <a:latin typeface="Arial" panose="020B0604020202020204" pitchFamily="34" charset="0"/>
              </a:rPr>
              <a:t>Step 1: Customer Dimension Table Structure</a:t>
            </a:r>
            <a:endParaRPr lang="en-IN" dirty="0">
              <a:solidFill>
                <a:schemeClr val="bg1"/>
              </a:solidFill>
            </a:endParaRPr>
          </a:p>
        </p:txBody>
      </p:sp>
      <p:sp>
        <p:nvSpPr>
          <p:cNvPr id="5" name="Rectangle 2">
            <a:extLst>
              <a:ext uri="{FF2B5EF4-FFF2-40B4-BE49-F238E27FC236}">
                <a16:creationId xmlns:a16="http://schemas.microsoft.com/office/drawing/2014/main" id="{66581422-4713-0205-C3EF-64BFCC3A151A}"/>
              </a:ext>
            </a:extLst>
          </p:cNvPr>
          <p:cNvSpPr>
            <a:spLocks noChangeArrowheads="1"/>
          </p:cNvSpPr>
          <p:nvPr/>
        </p:nvSpPr>
        <p:spPr bwMode="auto">
          <a:xfrm>
            <a:off x="833120" y="2249347"/>
            <a:ext cx="9940897"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err="1">
                <a:ln>
                  <a:noFill/>
                </a:ln>
                <a:solidFill>
                  <a:schemeClr val="bg1"/>
                </a:solidFill>
                <a:effectLst/>
              </a:rPr>
              <a:t>Customer_Dimension</a:t>
            </a:r>
            <a:r>
              <a:rPr kumimoji="0" lang="en-US" altLang="en-US" sz="2400" b="0" i="0" u="none" strike="noStrike" cap="none" normalizeH="0" baseline="0" dirty="0">
                <a:ln>
                  <a:noFill/>
                </a:ln>
                <a:solidFill>
                  <a:schemeClr val="bg1"/>
                </a:solidFill>
                <a:effectLst/>
              </a:rPr>
              <a:t> ( Id INT PRIMARY KEY, -- Surrogate Key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err="1">
                <a:ln>
                  <a:noFill/>
                </a:ln>
                <a:solidFill>
                  <a:schemeClr val="bg1"/>
                </a:solidFill>
                <a:effectLst/>
              </a:rPr>
              <a:t>Customer_Id</a:t>
            </a:r>
            <a:r>
              <a:rPr kumimoji="0" lang="en-US" altLang="en-US" sz="2400" b="0" i="0" u="none" strike="noStrike" cap="none" normalizeH="0" baseline="0" dirty="0">
                <a:ln>
                  <a:noFill/>
                </a:ln>
                <a:solidFill>
                  <a:schemeClr val="bg1"/>
                </a:solidFill>
                <a:effectLst/>
              </a:rPr>
              <a:t> INT, -- Natural Key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err="1">
                <a:ln>
                  <a:noFill/>
                </a:ln>
                <a:solidFill>
                  <a:schemeClr val="bg1"/>
                </a:solidFill>
                <a:effectLst/>
              </a:rPr>
              <a:t>Customer_Name</a:t>
            </a:r>
            <a:r>
              <a:rPr kumimoji="0" lang="en-US" altLang="en-US" sz="2400" b="0" i="0" u="none" strike="noStrike" cap="none" normalizeH="0" baseline="0" dirty="0">
                <a:ln>
                  <a:noFill/>
                </a:ln>
                <a:solidFill>
                  <a:schemeClr val="bg1"/>
                </a:solidFill>
                <a:effectLst/>
              </a:rPr>
              <a:t> VARCHAR(100),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bg1"/>
                </a:solidFill>
                <a:effectLst/>
              </a:rPr>
              <a:t>City VARCHAR(100),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err="1">
                <a:ln>
                  <a:noFill/>
                </a:ln>
                <a:solidFill>
                  <a:schemeClr val="bg1"/>
                </a:solidFill>
                <a:effectLst/>
              </a:rPr>
              <a:t>Effective_Start_Date</a:t>
            </a:r>
            <a:r>
              <a:rPr kumimoji="0" lang="en-US" altLang="en-US" sz="2400" b="0" i="0" u="none" strike="noStrike" cap="none" normalizeH="0" baseline="0" dirty="0">
                <a:ln>
                  <a:noFill/>
                </a:ln>
                <a:solidFill>
                  <a:schemeClr val="bg1"/>
                </a:solidFill>
                <a:effectLst/>
              </a:rPr>
              <a:t> DATE,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err="1">
                <a:ln>
                  <a:noFill/>
                </a:ln>
                <a:solidFill>
                  <a:schemeClr val="bg1"/>
                </a:solidFill>
                <a:effectLst/>
              </a:rPr>
              <a:t>Effective_End_Date</a:t>
            </a:r>
            <a:r>
              <a:rPr kumimoji="0" lang="en-US" altLang="en-US" sz="2400" b="0" i="0" u="none" strike="noStrike" cap="none" normalizeH="0" baseline="0" dirty="0">
                <a:ln>
                  <a:noFill/>
                </a:ln>
                <a:solidFill>
                  <a:schemeClr val="bg1"/>
                </a:solidFill>
                <a:effectLst/>
              </a:rPr>
              <a:t> DATE,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err="1">
                <a:ln>
                  <a:noFill/>
                </a:ln>
                <a:solidFill>
                  <a:schemeClr val="bg1"/>
                </a:solidFill>
                <a:effectLst/>
              </a:rPr>
              <a:t>Is_Current</a:t>
            </a:r>
            <a:r>
              <a:rPr kumimoji="0" lang="en-US" altLang="en-US" sz="2400" b="0" i="0" u="none" strike="noStrike" cap="none" normalizeH="0" baseline="0" dirty="0">
                <a:ln>
                  <a:noFill/>
                </a:ln>
                <a:solidFill>
                  <a:schemeClr val="bg1"/>
                </a:solidFill>
                <a:effectLst/>
              </a:rPr>
              <a:t> BOOLEAN )</a:t>
            </a:r>
          </a:p>
        </p:txBody>
      </p:sp>
    </p:spTree>
    <p:extLst>
      <p:ext uri="{BB962C8B-B14F-4D97-AF65-F5344CB8AC3E}">
        <p14:creationId xmlns:p14="http://schemas.microsoft.com/office/powerpoint/2010/main" val="172847227"/>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E8AE0-E471-6CD3-6238-2886B27D46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BC8A11-7D31-CBBA-DB86-0C301296BFAF}"/>
              </a:ext>
            </a:extLst>
          </p:cNvPr>
          <p:cNvSpPr>
            <a:spLocks noGrp="1"/>
          </p:cNvSpPr>
          <p:nvPr>
            <p:ph type="title"/>
          </p:nvPr>
        </p:nvSpPr>
        <p:spPr>
          <a:xfrm>
            <a:off x="159026" y="365125"/>
            <a:ext cx="11819614" cy="1325563"/>
          </a:xfrm>
        </p:spPr>
        <p:txBody>
          <a:bodyPr>
            <a:noAutofit/>
          </a:bodyPr>
          <a:lstStyle/>
          <a:p>
            <a:r>
              <a:rPr lang="en-GB" sz="4000" dirty="0">
                <a:solidFill>
                  <a:schemeClr val="bg1"/>
                </a:solidFill>
                <a:latin typeface="Arial" panose="020B0604020202020204" pitchFamily="34" charset="0"/>
              </a:rPr>
              <a:t>Step 2: Sample Historical Data for the Customer</a:t>
            </a:r>
            <a:endParaRPr lang="en-IN" sz="4000" dirty="0">
              <a:solidFill>
                <a:schemeClr val="bg1"/>
              </a:solidFill>
              <a:latin typeface="Arial" panose="020B0604020202020204" pitchFamily="34" charset="0"/>
            </a:endParaRPr>
          </a:p>
        </p:txBody>
      </p:sp>
      <p:graphicFrame>
        <p:nvGraphicFramePr>
          <p:cNvPr id="3" name="Table 2">
            <a:extLst>
              <a:ext uri="{FF2B5EF4-FFF2-40B4-BE49-F238E27FC236}">
                <a16:creationId xmlns:a16="http://schemas.microsoft.com/office/drawing/2014/main" id="{984E7780-6184-2898-6170-6DC3DAADEDDE}"/>
              </a:ext>
            </a:extLst>
          </p:cNvPr>
          <p:cNvGraphicFramePr>
            <a:graphicFrameLocks noGrp="1"/>
          </p:cNvGraphicFramePr>
          <p:nvPr>
            <p:extLst>
              <p:ext uri="{D42A27DB-BD31-4B8C-83A1-F6EECF244321}">
                <p14:modId xmlns:p14="http://schemas.microsoft.com/office/powerpoint/2010/main" val="1253183353"/>
              </p:ext>
            </p:extLst>
          </p:nvPr>
        </p:nvGraphicFramePr>
        <p:xfrm>
          <a:off x="159027" y="3315494"/>
          <a:ext cx="11698358" cy="1432560"/>
        </p:xfrm>
        <a:graphic>
          <a:graphicData uri="http://schemas.openxmlformats.org/drawingml/2006/table">
            <a:tbl>
              <a:tblPr/>
              <a:tblGrid>
                <a:gridCol w="397564">
                  <a:extLst>
                    <a:ext uri="{9D8B030D-6E8A-4147-A177-3AD203B41FA5}">
                      <a16:colId xmlns:a16="http://schemas.microsoft.com/office/drawing/2014/main" val="2731960267"/>
                    </a:ext>
                  </a:extLst>
                </a:gridCol>
                <a:gridCol w="1530626">
                  <a:extLst>
                    <a:ext uri="{9D8B030D-6E8A-4147-A177-3AD203B41FA5}">
                      <a16:colId xmlns:a16="http://schemas.microsoft.com/office/drawing/2014/main" val="835589638"/>
                    </a:ext>
                  </a:extLst>
                </a:gridCol>
                <a:gridCol w="2047461">
                  <a:extLst>
                    <a:ext uri="{9D8B030D-6E8A-4147-A177-3AD203B41FA5}">
                      <a16:colId xmlns:a16="http://schemas.microsoft.com/office/drawing/2014/main" val="589230020"/>
                    </a:ext>
                  </a:extLst>
                </a:gridCol>
                <a:gridCol w="1593016">
                  <a:extLst>
                    <a:ext uri="{9D8B030D-6E8A-4147-A177-3AD203B41FA5}">
                      <a16:colId xmlns:a16="http://schemas.microsoft.com/office/drawing/2014/main" val="4104821118"/>
                    </a:ext>
                  </a:extLst>
                </a:gridCol>
                <a:gridCol w="2379151">
                  <a:extLst>
                    <a:ext uri="{9D8B030D-6E8A-4147-A177-3AD203B41FA5}">
                      <a16:colId xmlns:a16="http://schemas.microsoft.com/office/drawing/2014/main" val="715588176"/>
                    </a:ext>
                  </a:extLst>
                </a:gridCol>
                <a:gridCol w="2347983">
                  <a:extLst>
                    <a:ext uri="{9D8B030D-6E8A-4147-A177-3AD203B41FA5}">
                      <a16:colId xmlns:a16="http://schemas.microsoft.com/office/drawing/2014/main" val="2885503822"/>
                    </a:ext>
                  </a:extLst>
                </a:gridCol>
                <a:gridCol w="1402557">
                  <a:extLst>
                    <a:ext uri="{9D8B030D-6E8A-4147-A177-3AD203B41FA5}">
                      <a16:colId xmlns:a16="http://schemas.microsoft.com/office/drawing/2014/main" val="741565722"/>
                    </a:ext>
                  </a:extLst>
                </a:gridCol>
              </a:tblGrid>
              <a:tr h="640080">
                <a:tc>
                  <a:txBody>
                    <a:bodyPr/>
                    <a:lstStyle/>
                    <a:p>
                      <a:r>
                        <a:rPr lang="en-IN" sz="2000" dirty="0">
                          <a:solidFill>
                            <a:schemeClr val="bg1"/>
                          </a:solidFill>
                        </a:rPr>
                        <a:t>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err="1">
                          <a:solidFill>
                            <a:schemeClr val="bg1"/>
                          </a:solidFill>
                        </a:rPr>
                        <a:t>Customer_Id</a:t>
                      </a:r>
                      <a:endParaRPr lang="en-IN" sz="2000"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err="1">
                          <a:solidFill>
                            <a:schemeClr val="bg1"/>
                          </a:solidFill>
                        </a:rPr>
                        <a:t>Customer_Name</a:t>
                      </a:r>
                      <a:endParaRPr lang="en-IN" sz="2000"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solidFill>
                            <a:schemeClr val="bg1"/>
                          </a:solidFill>
                        </a:rPr>
                        <a:t>City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a:solidFill>
                            <a:schemeClr val="bg1"/>
                          </a:solidFill>
                        </a:rPr>
                        <a:t>Effective_Start_Date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err="1">
                          <a:solidFill>
                            <a:schemeClr val="bg1"/>
                          </a:solidFill>
                        </a:rPr>
                        <a:t>Effective_End_Date</a:t>
                      </a:r>
                      <a:endParaRPr lang="en-IN" sz="2000"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a:solidFill>
                            <a:schemeClr val="bg1"/>
                          </a:solidFill>
                        </a:rPr>
                        <a:t>Is_Current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71051301"/>
                  </a:ext>
                </a:extLst>
              </a:tr>
              <a:tr h="365760">
                <a:tc>
                  <a:txBody>
                    <a:bodyPr/>
                    <a:lstStyle/>
                    <a:p>
                      <a:r>
                        <a:rPr lang="en-IN" sz="2000">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solidFill>
                            <a:schemeClr val="bg1"/>
                          </a:solidFill>
                        </a:rPr>
                        <a:t>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solidFill>
                            <a:schemeClr val="bg1"/>
                          </a:solidFill>
                        </a:rPr>
                        <a:t>Rajesh Kumar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solidFill>
                            <a:schemeClr val="bg1"/>
                          </a:solidFill>
                        </a:rPr>
                        <a:t>Mumbai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solidFill>
                            <a:schemeClr val="bg1"/>
                          </a:solidFill>
                        </a:rPr>
                        <a:t>2020-01-01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a:solidFill>
                            <a:schemeClr val="bg1"/>
                          </a:solidFill>
                        </a:rPr>
                        <a:t>2021-11-30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a:solidFill>
                            <a:schemeClr val="bg1"/>
                          </a:solidFill>
                        </a:rPr>
                        <a:t>FALSE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48461589"/>
                  </a:ext>
                </a:extLst>
              </a:tr>
              <a:tr h="365760">
                <a:tc>
                  <a:txBody>
                    <a:bodyPr/>
                    <a:lstStyle/>
                    <a:p>
                      <a:r>
                        <a:rPr lang="en-IN" sz="2000">
                          <a:solidFill>
                            <a:schemeClr val="bg1"/>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a:solidFill>
                            <a:schemeClr val="bg1"/>
                          </a:solidFill>
                        </a:rPr>
                        <a:t>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solidFill>
                            <a:schemeClr val="bg1"/>
                          </a:solidFill>
                        </a:rPr>
                        <a:t>Rajesh Kumar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solidFill>
                            <a:schemeClr val="bg1"/>
                          </a:solidFill>
                        </a:rPr>
                        <a:t>Bhubaneswar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solidFill>
                            <a:schemeClr val="bg1"/>
                          </a:solidFill>
                        </a:rPr>
                        <a:t>2021-12-01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solidFill>
                            <a:schemeClr val="bg1"/>
                          </a:solidFill>
                        </a:rPr>
                        <a:t>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solidFill>
                            <a:schemeClr val="bg1"/>
                          </a:solidFill>
                        </a:rPr>
                        <a:t>TRUE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71444244"/>
                  </a:ext>
                </a:extLst>
              </a:tr>
            </a:tbl>
          </a:graphicData>
        </a:graphic>
      </p:graphicFrame>
    </p:spTree>
    <p:extLst>
      <p:ext uri="{BB962C8B-B14F-4D97-AF65-F5344CB8AC3E}">
        <p14:creationId xmlns:p14="http://schemas.microsoft.com/office/powerpoint/2010/main" val="3687954053"/>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A915A-24D6-CF52-0951-D899DE429ACB}"/>
              </a:ext>
            </a:extLst>
          </p:cNvPr>
          <p:cNvSpPr>
            <a:spLocks noGrp="1"/>
          </p:cNvSpPr>
          <p:nvPr>
            <p:ph type="title"/>
          </p:nvPr>
        </p:nvSpPr>
        <p:spPr>
          <a:xfrm>
            <a:off x="838200" y="365125"/>
            <a:ext cx="10515600" cy="936901"/>
          </a:xfrm>
        </p:spPr>
        <p:txBody>
          <a:bodyPr/>
          <a:lstStyle/>
          <a:p>
            <a:r>
              <a:rPr lang="en-IN" dirty="0">
                <a:solidFill>
                  <a:schemeClr val="bg1"/>
                </a:solidFill>
                <a:latin typeface="+mn-lt"/>
              </a:rPr>
              <a:t>Steps  3: ETL Logic for SCD Type 2          </a:t>
            </a:r>
            <a:r>
              <a:rPr lang="en-IN" sz="3200" dirty="0" err="1">
                <a:solidFill>
                  <a:schemeClr val="bg1"/>
                </a:solidFill>
                <a:latin typeface="+mn-lt"/>
              </a:rPr>
              <a:t>Cont</a:t>
            </a:r>
            <a:r>
              <a:rPr lang="en-IN" sz="3200" dirty="0">
                <a:solidFill>
                  <a:schemeClr val="bg1"/>
                </a:solidFill>
                <a:latin typeface="+mn-lt"/>
              </a:rPr>
              <a:t>…</a:t>
            </a:r>
          </a:p>
        </p:txBody>
      </p:sp>
      <p:sp>
        <p:nvSpPr>
          <p:cNvPr id="5" name="TextBox 4">
            <a:extLst>
              <a:ext uri="{FF2B5EF4-FFF2-40B4-BE49-F238E27FC236}">
                <a16:creationId xmlns:a16="http://schemas.microsoft.com/office/drawing/2014/main" id="{562156D7-50B0-3006-A484-9D1BD1989179}"/>
              </a:ext>
            </a:extLst>
          </p:cNvPr>
          <p:cNvSpPr txBox="1"/>
          <p:nvPr/>
        </p:nvSpPr>
        <p:spPr>
          <a:xfrm>
            <a:off x="477078" y="1302026"/>
            <a:ext cx="9193695" cy="5170646"/>
          </a:xfrm>
          <a:prstGeom prst="rect">
            <a:avLst/>
          </a:prstGeom>
          <a:noFill/>
        </p:spPr>
        <p:txBody>
          <a:bodyPr wrap="square">
            <a:spAutoFit/>
          </a:bodyPr>
          <a:lstStyle/>
          <a:p>
            <a:r>
              <a:rPr lang="en-IN" sz="2200" dirty="0">
                <a:solidFill>
                  <a:schemeClr val="bg1"/>
                </a:solidFill>
              </a:rPr>
              <a:t>-- Step 1: Check if Customer exists and city has changed</a:t>
            </a:r>
          </a:p>
          <a:p>
            <a:r>
              <a:rPr lang="en-IN" sz="2200" dirty="0">
                <a:solidFill>
                  <a:schemeClr val="bg1"/>
                </a:solidFill>
              </a:rPr>
              <a:t>IF EXISTS (</a:t>
            </a:r>
          </a:p>
          <a:p>
            <a:r>
              <a:rPr lang="en-IN" sz="2200" dirty="0">
                <a:solidFill>
                  <a:schemeClr val="bg1"/>
                </a:solidFill>
              </a:rPr>
              <a:t>    SELECT 1</a:t>
            </a:r>
          </a:p>
          <a:p>
            <a:r>
              <a:rPr lang="en-IN" sz="2200" dirty="0">
                <a:solidFill>
                  <a:schemeClr val="bg1"/>
                </a:solidFill>
              </a:rPr>
              <a:t>    FROM </a:t>
            </a:r>
            <a:r>
              <a:rPr lang="en-IN" sz="2200" dirty="0" err="1">
                <a:solidFill>
                  <a:schemeClr val="bg1"/>
                </a:solidFill>
              </a:rPr>
              <a:t>Customer_Dimension</a:t>
            </a:r>
            <a:endParaRPr lang="en-IN" sz="2200" dirty="0">
              <a:solidFill>
                <a:schemeClr val="bg1"/>
              </a:solidFill>
            </a:endParaRPr>
          </a:p>
          <a:p>
            <a:r>
              <a:rPr lang="en-IN" sz="2200" dirty="0">
                <a:solidFill>
                  <a:schemeClr val="bg1"/>
                </a:solidFill>
              </a:rPr>
              <a:t>    WHERE </a:t>
            </a:r>
            <a:r>
              <a:rPr lang="en-IN" sz="2200" dirty="0" err="1">
                <a:solidFill>
                  <a:schemeClr val="bg1"/>
                </a:solidFill>
              </a:rPr>
              <a:t>Customer_Id</a:t>
            </a:r>
            <a:r>
              <a:rPr lang="en-IN" sz="2200" dirty="0">
                <a:solidFill>
                  <a:schemeClr val="bg1"/>
                </a:solidFill>
              </a:rPr>
              <a:t> = 101</a:t>
            </a:r>
          </a:p>
          <a:p>
            <a:r>
              <a:rPr lang="en-IN" sz="2200" dirty="0">
                <a:solidFill>
                  <a:schemeClr val="bg1"/>
                </a:solidFill>
              </a:rPr>
              <a:t>      AND </a:t>
            </a:r>
            <a:r>
              <a:rPr lang="en-IN" sz="2200" dirty="0" err="1">
                <a:solidFill>
                  <a:schemeClr val="bg1"/>
                </a:solidFill>
              </a:rPr>
              <a:t>Is_Current</a:t>
            </a:r>
            <a:r>
              <a:rPr lang="en-IN" sz="2200" dirty="0">
                <a:solidFill>
                  <a:schemeClr val="bg1"/>
                </a:solidFill>
              </a:rPr>
              <a:t> = TRUE</a:t>
            </a:r>
          </a:p>
          <a:p>
            <a:r>
              <a:rPr lang="en-IN" sz="2200" dirty="0">
                <a:solidFill>
                  <a:schemeClr val="bg1"/>
                </a:solidFill>
              </a:rPr>
              <a:t>      AND City &lt;&gt; 'Bhubaneswar'</a:t>
            </a:r>
          </a:p>
          <a:p>
            <a:r>
              <a:rPr lang="en-IN" sz="2200" dirty="0">
                <a:solidFill>
                  <a:schemeClr val="bg1"/>
                </a:solidFill>
              </a:rPr>
              <a:t>)</a:t>
            </a:r>
          </a:p>
          <a:p>
            <a:r>
              <a:rPr lang="en-IN" sz="2200" dirty="0">
                <a:solidFill>
                  <a:schemeClr val="bg1"/>
                </a:solidFill>
              </a:rPr>
              <a:t>THEN</a:t>
            </a:r>
          </a:p>
          <a:p>
            <a:r>
              <a:rPr lang="en-IN" sz="2200" dirty="0">
                <a:solidFill>
                  <a:schemeClr val="bg1"/>
                </a:solidFill>
              </a:rPr>
              <a:t>    -- Step 2: Expire the existing record</a:t>
            </a:r>
          </a:p>
          <a:p>
            <a:r>
              <a:rPr lang="en-IN" sz="2200" dirty="0">
                <a:solidFill>
                  <a:schemeClr val="bg1"/>
                </a:solidFill>
              </a:rPr>
              <a:t>    UPDATE </a:t>
            </a:r>
            <a:r>
              <a:rPr lang="en-IN" sz="2200" dirty="0" err="1">
                <a:solidFill>
                  <a:schemeClr val="bg1"/>
                </a:solidFill>
              </a:rPr>
              <a:t>Customer_Dimension</a:t>
            </a:r>
            <a:endParaRPr lang="en-IN" sz="2200" dirty="0">
              <a:solidFill>
                <a:schemeClr val="bg1"/>
              </a:solidFill>
            </a:endParaRPr>
          </a:p>
          <a:p>
            <a:r>
              <a:rPr lang="en-IN" sz="2200" dirty="0">
                <a:solidFill>
                  <a:schemeClr val="bg1"/>
                </a:solidFill>
              </a:rPr>
              <a:t>    SET </a:t>
            </a:r>
            <a:r>
              <a:rPr lang="en-IN" sz="2200" dirty="0" err="1">
                <a:solidFill>
                  <a:schemeClr val="bg1"/>
                </a:solidFill>
              </a:rPr>
              <a:t>Effective_End_Date</a:t>
            </a:r>
            <a:r>
              <a:rPr lang="en-IN" sz="2200" dirty="0">
                <a:solidFill>
                  <a:schemeClr val="bg1"/>
                </a:solidFill>
              </a:rPr>
              <a:t> = '2021-11-30',</a:t>
            </a:r>
          </a:p>
          <a:p>
            <a:r>
              <a:rPr lang="en-IN" sz="2200" dirty="0">
                <a:solidFill>
                  <a:schemeClr val="bg1"/>
                </a:solidFill>
              </a:rPr>
              <a:t>        </a:t>
            </a:r>
            <a:r>
              <a:rPr lang="en-IN" sz="2200" dirty="0" err="1">
                <a:solidFill>
                  <a:schemeClr val="bg1"/>
                </a:solidFill>
              </a:rPr>
              <a:t>Is_Current</a:t>
            </a:r>
            <a:r>
              <a:rPr lang="en-IN" sz="2200" dirty="0">
                <a:solidFill>
                  <a:schemeClr val="bg1"/>
                </a:solidFill>
              </a:rPr>
              <a:t> = FALSE</a:t>
            </a:r>
          </a:p>
          <a:p>
            <a:r>
              <a:rPr lang="en-IN" sz="2200" dirty="0">
                <a:solidFill>
                  <a:schemeClr val="bg1"/>
                </a:solidFill>
              </a:rPr>
              <a:t>    WHERE </a:t>
            </a:r>
            <a:r>
              <a:rPr lang="en-IN" sz="2200" dirty="0" err="1">
                <a:solidFill>
                  <a:schemeClr val="bg1"/>
                </a:solidFill>
              </a:rPr>
              <a:t>Customer_Id</a:t>
            </a:r>
            <a:r>
              <a:rPr lang="en-IN" sz="2200" dirty="0">
                <a:solidFill>
                  <a:schemeClr val="bg1"/>
                </a:solidFill>
              </a:rPr>
              <a:t> = 101</a:t>
            </a:r>
          </a:p>
          <a:p>
            <a:r>
              <a:rPr lang="en-IN" sz="2200" dirty="0">
                <a:solidFill>
                  <a:schemeClr val="bg1"/>
                </a:solidFill>
              </a:rPr>
              <a:t>      AND </a:t>
            </a:r>
            <a:r>
              <a:rPr lang="en-IN" sz="2200" dirty="0" err="1">
                <a:solidFill>
                  <a:schemeClr val="bg1"/>
                </a:solidFill>
              </a:rPr>
              <a:t>Is_Current</a:t>
            </a:r>
            <a:r>
              <a:rPr lang="en-IN" sz="2200" dirty="0">
                <a:solidFill>
                  <a:schemeClr val="bg1"/>
                </a:solidFill>
              </a:rPr>
              <a:t> = TRUE;</a:t>
            </a:r>
          </a:p>
        </p:txBody>
      </p:sp>
    </p:spTree>
    <p:extLst>
      <p:ext uri="{BB962C8B-B14F-4D97-AF65-F5344CB8AC3E}">
        <p14:creationId xmlns:p14="http://schemas.microsoft.com/office/powerpoint/2010/main" val="2557273324"/>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11324-8FF4-C445-61EE-979FEB73A9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3FD1B4-02CE-DAC4-2D16-75F094BA4DE4}"/>
              </a:ext>
            </a:extLst>
          </p:cNvPr>
          <p:cNvSpPr>
            <a:spLocks noGrp="1"/>
          </p:cNvSpPr>
          <p:nvPr>
            <p:ph type="title"/>
          </p:nvPr>
        </p:nvSpPr>
        <p:spPr>
          <a:xfrm>
            <a:off x="838200" y="365125"/>
            <a:ext cx="10515600" cy="936901"/>
          </a:xfrm>
        </p:spPr>
        <p:txBody>
          <a:bodyPr/>
          <a:lstStyle/>
          <a:p>
            <a:r>
              <a:rPr lang="en-IN" dirty="0">
                <a:solidFill>
                  <a:schemeClr val="bg1"/>
                </a:solidFill>
                <a:latin typeface="+mn-lt"/>
              </a:rPr>
              <a:t>Steps  3: ETL Logic for SCD Type 2</a:t>
            </a:r>
          </a:p>
        </p:txBody>
      </p:sp>
      <p:sp>
        <p:nvSpPr>
          <p:cNvPr id="5" name="TextBox 4">
            <a:extLst>
              <a:ext uri="{FF2B5EF4-FFF2-40B4-BE49-F238E27FC236}">
                <a16:creationId xmlns:a16="http://schemas.microsoft.com/office/drawing/2014/main" id="{3E46B703-C608-05B9-C3A5-236429D95CE3}"/>
              </a:ext>
            </a:extLst>
          </p:cNvPr>
          <p:cNvSpPr txBox="1"/>
          <p:nvPr/>
        </p:nvSpPr>
        <p:spPr>
          <a:xfrm>
            <a:off x="477078" y="1302026"/>
            <a:ext cx="9193695" cy="4154984"/>
          </a:xfrm>
          <a:prstGeom prst="rect">
            <a:avLst/>
          </a:prstGeom>
          <a:noFill/>
        </p:spPr>
        <p:txBody>
          <a:bodyPr wrap="square">
            <a:spAutoFit/>
          </a:bodyPr>
          <a:lstStyle/>
          <a:p>
            <a:endParaRPr lang="en-IN" sz="2200" dirty="0">
              <a:solidFill>
                <a:schemeClr val="bg1"/>
              </a:solidFill>
            </a:endParaRPr>
          </a:p>
          <a:p>
            <a:r>
              <a:rPr lang="en-IN" sz="2200" dirty="0">
                <a:solidFill>
                  <a:schemeClr val="bg1"/>
                </a:solidFill>
              </a:rPr>
              <a:t>    -- Step 3: Insert new version of the record</a:t>
            </a:r>
          </a:p>
          <a:p>
            <a:r>
              <a:rPr lang="en-IN" sz="2200" dirty="0">
                <a:solidFill>
                  <a:schemeClr val="bg1"/>
                </a:solidFill>
              </a:rPr>
              <a:t>    INSERT INTO </a:t>
            </a:r>
            <a:r>
              <a:rPr lang="en-IN" sz="2200" dirty="0" err="1">
                <a:solidFill>
                  <a:schemeClr val="bg1"/>
                </a:solidFill>
              </a:rPr>
              <a:t>Customer_Dimension</a:t>
            </a:r>
            <a:r>
              <a:rPr lang="en-IN" sz="2200" dirty="0">
                <a:solidFill>
                  <a:schemeClr val="bg1"/>
                </a:solidFill>
              </a:rPr>
              <a:t> (</a:t>
            </a:r>
          </a:p>
          <a:p>
            <a:r>
              <a:rPr lang="en-IN" sz="2200" dirty="0">
                <a:solidFill>
                  <a:schemeClr val="bg1"/>
                </a:solidFill>
              </a:rPr>
              <a:t>        Id, </a:t>
            </a:r>
            <a:r>
              <a:rPr lang="en-IN" sz="2200" dirty="0" err="1">
                <a:solidFill>
                  <a:schemeClr val="bg1"/>
                </a:solidFill>
              </a:rPr>
              <a:t>Customer_Id</a:t>
            </a:r>
            <a:r>
              <a:rPr lang="en-IN" sz="2200" dirty="0">
                <a:solidFill>
                  <a:schemeClr val="bg1"/>
                </a:solidFill>
              </a:rPr>
              <a:t>, </a:t>
            </a:r>
            <a:r>
              <a:rPr lang="en-IN" sz="2200" dirty="0" err="1">
                <a:solidFill>
                  <a:schemeClr val="bg1"/>
                </a:solidFill>
              </a:rPr>
              <a:t>Customer_Name</a:t>
            </a:r>
            <a:r>
              <a:rPr lang="en-IN" sz="2200" dirty="0">
                <a:solidFill>
                  <a:schemeClr val="bg1"/>
                </a:solidFill>
              </a:rPr>
              <a:t>, City,</a:t>
            </a:r>
          </a:p>
          <a:p>
            <a:r>
              <a:rPr lang="en-IN" sz="2200" dirty="0">
                <a:solidFill>
                  <a:schemeClr val="bg1"/>
                </a:solidFill>
              </a:rPr>
              <a:t>        </a:t>
            </a:r>
            <a:r>
              <a:rPr lang="en-IN" sz="2200" dirty="0" err="1">
                <a:solidFill>
                  <a:schemeClr val="bg1"/>
                </a:solidFill>
              </a:rPr>
              <a:t>Effective_Start_Date</a:t>
            </a:r>
            <a:r>
              <a:rPr lang="en-IN" sz="2200" dirty="0">
                <a:solidFill>
                  <a:schemeClr val="bg1"/>
                </a:solidFill>
              </a:rPr>
              <a:t>, </a:t>
            </a:r>
            <a:r>
              <a:rPr lang="en-IN" sz="2200" dirty="0" err="1">
                <a:solidFill>
                  <a:schemeClr val="bg1"/>
                </a:solidFill>
              </a:rPr>
              <a:t>Effective_End_Date</a:t>
            </a:r>
            <a:r>
              <a:rPr lang="en-IN" sz="2200" dirty="0">
                <a:solidFill>
                  <a:schemeClr val="bg1"/>
                </a:solidFill>
              </a:rPr>
              <a:t>, </a:t>
            </a:r>
            <a:r>
              <a:rPr lang="en-IN" sz="2200" dirty="0" err="1">
                <a:solidFill>
                  <a:schemeClr val="bg1"/>
                </a:solidFill>
              </a:rPr>
              <a:t>Is_Current</a:t>
            </a:r>
            <a:endParaRPr lang="en-IN" sz="2200" dirty="0">
              <a:solidFill>
                <a:schemeClr val="bg1"/>
              </a:solidFill>
            </a:endParaRPr>
          </a:p>
          <a:p>
            <a:r>
              <a:rPr lang="en-IN" sz="2200" dirty="0">
                <a:solidFill>
                  <a:schemeClr val="bg1"/>
                </a:solidFill>
              </a:rPr>
              <a:t>    )</a:t>
            </a:r>
          </a:p>
          <a:p>
            <a:r>
              <a:rPr lang="en-IN" sz="2200" dirty="0">
                <a:solidFill>
                  <a:schemeClr val="bg1"/>
                </a:solidFill>
              </a:rPr>
              <a:t>    VALUES (</a:t>
            </a:r>
          </a:p>
          <a:p>
            <a:r>
              <a:rPr lang="en-IN" sz="2200" dirty="0">
                <a:solidFill>
                  <a:schemeClr val="bg1"/>
                </a:solidFill>
              </a:rPr>
              <a:t>        NEXTVAL('</a:t>
            </a:r>
            <a:r>
              <a:rPr lang="en-IN" sz="2200" dirty="0" err="1">
                <a:solidFill>
                  <a:schemeClr val="bg1"/>
                </a:solidFill>
              </a:rPr>
              <a:t>customer_dim_seq</a:t>
            </a:r>
            <a:r>
              <a:rPr lang="en-IN" sz="2200" dirty="0">
                <a:solidFill>
                  <a:schemeClr val="bg1"/>
                </a:solidFill>
              </a:rPr>
              <a:t>'), -- assuming a surrogate key sequence</a:t>
            </a:r>
          </a:p>
          <a:p>
            <a:r>
              <a:rPr lang="en-IN" sz="2200" dirty="0">
                <a:solidFill>
                  <a:schemeClr val="bg1"/>
                </a:solidFill>
              </a:rPr>
              <a:t>        101, 'Rajesh Kumar', 'Bhubaneswar',</a:t>
            </a:r>
          </a:p>
          <a:p>
            <a:r>
              <a:rPr lang="en-IN" sz="2200" dirty="0">
                <a:solidFill>
                  <a:schemeClr val="bg1"/>
                </a:solidFill>
              </a:rPr>
              <a:t>        '2021-12-01', NULL, TRUE</a:t>
            </a:r>
          </a:p>
          <a:p>
            <a:r>
              <a:rPr lang="en-IN" sz="2200" dirty="0">
                <a:solidFill>
                  <a:schemeClr val="bg1"/>
                </a:solidFill>
              </a:rPr>
              <a:t>    );</a:t>
            </a:r>
          </a:p>
          <a:p>
            <a:r>
              <a:rPr lang="en-IN" sz="2200" dirty="0">
                <a:solidFill>
                  <a:schemeClr val="bg1"/>
                </a:solidFill>
              </a:rPr>
              <a:t>END IF;</a:t>
            </a:r>
          </a:p>
        </p:txBody>
      </p:sp>
    </p:spTree>
    <p:extLst>
      <p:ext uri="{BB962C8B-B14F-4D97-AF65-F5344CB8AC3E}">
        <p14:creationId xmlns:p14="http://schemas.microsoft.com/office/powerpoint/2010/main" val="3334562196"/>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2E3E9-0483-045E-533A-240A2C7A6D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22E12F-8AD9-6BEA-FA83-2F45F2353894}"/>
              </a:ext>
            </a:extLst>
          </p:cNvPr>
          <p:cNvSpPr>
            <a:spLocks noGrp="1"/>
          </p:cNvSpPr>
          <p:nvPr>
            <p:ph type="title"/>
          </p:nvPr>
        </p:nvSpPr>
        <p:spPr>
          <a:xfrm>
            <a:off x="298173" y="365125"/>
            <a:ext cx="11777869" cy="936901"/>
          </a:xfrm>
        </p:spPr>
        <p:txBody>
          <a:bodyPr>
            <a:normAutofit fontScale="90000"/>
          </a:bodyPr>
          <a:lstStyle/>
          <a:p>
            <a:r>
              <a:rPr lang="en-GB" dirty="0">
                <a:solidFill>
                  <a:schemeClr val="bg1"/>
                </a:solidFill>
                <a:latin typeface="+mn-lt"/>
              </a:rPr>
              <a:t>Step 4: Query – Value of Goods Purchased in Each City</a:t>
            </a:r>
            <a:endParaRPr lang="en-IN" dirty="0">
              <a:solidFill>
                <a:schemeClr val="bg1"/>
              </a:solidFill>
              <a:latin typeface="+mn-lt"/>
            </a:endParaRPr>
          </a:p>
        </p:txBody>
      </p:sp>
      <p:sp>
        <p:nvSpPr>
          <p:cNvPr id="5" name="TextBox 4">
            <a:extLst>
              <a:ext uri="{FF2B5EF4-FFF2-40B4-BE49-F238E27FC236}">
                <a16:creationId xmlns:a16="http://schemas.microsoft.com/office/drawing/2014/main" id="{1644CE1E-8B05-4BF3-8B47-56E4169BB272}"/>
              </a:ext>
            </a:extLst>
          </p:cNvPr>
          <p:cNvSpPr txBox="1"/>
          <p:nvPr/>
        </p:nvSpPr>
        <p:spPr>
          <a:xfrm>
            <a:off x="477078" y="1302026"/>
            <a:ext cx="9193695" cy="2831544"/>
          </a:xfrm>
          <a:prstGeom prst="rect">
            <a:avLst/>
          </a:prstGeom>
          <a:noFill/>
        </p:spPr>
        <p:txBody>
          <a:bodyPr wrap="square">
            <a:spAutoFit/>
          </a:bodyPr>
          <a:lstStyle/>
          <a:p>
            <a:r>
              <a:rPr lang="en-GB" sz="2400" dirty="0">
                <a:solidFill>
                  <a:schemeClr val="bg1"/>
                </a:solidFill>
              </a:rPr>
              <a:t>Assuming we have a </a:t>
            </a:r>
            <a:r>
              <a:rPr lang="en-GB" sz="2400" b="1" dirty="0">
                <a:solidFill>
                  <a:schemeClr val="bg1"/>
                </a:solidFill>
              </a:rPr>
              <a:t>Fact Table</a:t>
            </a:r>
            <a:r>
              <a:rPr lang="en-GB" sz="2400" dirty="0">
                <a:solidFill>
                  <a:schemeClr val="bg1"/>
                </a:solidFill>
              </a:rPr>
              <a:t>:</a:t>
            </a:r>
          </a:p>
          <a:p>
            <a:endParaRPr lang="en-IN" sz="2200" dirty="0">
              <a:solidFill>
                <a:schemeClr val="bg1"/>
              </a:solidFill>
            </a:endParaRPr>
          </a:p>
          <a:p>
            <a:r>
              <a:rPr lang="en-IN" sz="2200" dirty="0">
                <a:solidFill>
                  <a:schemeClr val="bg1"/>
                </a:solidFill>
              </a:rPr>
              <a:t>    </a:t>
            </a:r>
            <a:r>
              <a:rPr lang="en-GB" sz="2200" dirty="0" err="1">
                <a:solidFill>
                  <a:schemeClr val="bg1"/>
                </a:solidFill>
              </a:rPr>
              <a:t>Sales_Fact</a:t>
            </a:r>
            <a:r>
              <a:rPr lang="en-GB" sz="2200" dirty="0">
                <a:solidFill>
                  <a:schemeClr val="bg1"/>
                </a:solidFill>
              </a:rPr>
              <a:t> (</a:t>
            </a:r>
          </a:p>
          <a:p>
            <a:r>
              <a:rPr lang="en-GB" sz="2200" dirty="0">
                <a:solidFill>
                  <a:schemeClr val="bg1"/>
                </a:solidFill>
              </a:rPr>
              <a:t>    </a:t>
            </a:r>
            <a:r>
              <a:rPr lang="en-GB" sz="2200" dirty="0" err="1">
                <a:solidFill>
                  <a:schemeClr val="bg1"/>
                </a:solidFill>
              </a:rPr>
              <a:t>Sales_Id</a:t>
            </a:r>
            <a:r>
              <a:rPr lang="en-GB" sz="2200" dirty="0">
                <a:solidFill>
                  <a:schemeClr val="bg1"/>
                </a:solidFill>
              </a:rPr>
              <a:t> INT,</a:t>
            </a:r>
          </a:p>
          <a:p>
            <a:r>
              <a:rPr lang="en-GB" sz="2200" dirty="0">
                <a:solidFill>
                  <a:schemeClr val="bg1"/>
                </a:solidFill>
              </a:rPr>
              <a:t>    </a:t>
            </a:r>
            <a:r>
              <a:rPr lang="en-GB" sz="2200" dirty="0" err="1">
                <a:solidFill>
                  <a:schemeClr val="bg1"/>
                </a:solidFill>
              </a:rPr>
              <a:t>Customer_Id</a:t>
            </a:r>
            <a:r>
              <a:rPr lang="en-GB" sz="2200" dirty="0">
                <a:solidFill>
                  <a:schemeClr val="bg1"/>
                </a:solidFill>
              </a:rPr>
              <a:t> INT,</a:t>
            </a:r>
          </a:p>
          <a:p>
            <a:r>
              <a:rPr lang="en-GB" sz="2200" dirty="0">
                <a:solidFill>
                  <a:schemeClr val="bg1"/>
                </a:solidFill>
              </a:rPr>
              <a:t>    </a:t>
            </a:r>
            <a:r>
              <a:rPr lang="en-GB" sz="2200" dirty="0" err="1">
                <a:solidFill>
                  <a:schemeClr val="bg1"/>
                </a:solidFill>
              </a:rPr>
              <a:t>Sale_Amount</a:t>
            </a:r>
            <a:r>
              <a:rPr lang="en-GB" sz="2200" dirty="0">
                <a:solidFill>
                  <a:schemeClr val="bg1"/>
                </a:solidFill>
              </a:rPr>
              <a:t> DECIMAL(10,2),</a:t>
            </a:r>
          </a:p>
          <a:p>
            <a:r>
              <a:rPr lang="en-GB" sz="2200" dirty="0">
                <a:solidFill>
                  <a:schemeClr val="bg1"/>
                </a:solidFill>
              </a:rPr>
              <a:t>    </a:t>
            </a:r>
            <a:r>
              <a:rPr lang="en-GB" sz="2200" dirty="0" err="1">
                <a:solidFill>
                  <a:schemeClr val="bg1"/>
                </a:solidFill>
              </a:rPr>
              <a:t>Sale_Date</a:t>
            </a:r>
            <a:r>
              <a:rPr lang="en-GB" sz="2200" dirty="0">
                <a:solidFill>
                  <a:schemeClr val="bg1"/>
                </a:solidFill>
              </a:rPr>
              <a:t> DATE</a:t>
            </a:r>
          </a:p>
          <a:p>
            <a:r>
              <a:rPr lang="en-GB" sz="2200" dirty="0">
                <a:solidFill>
                  <a:schemeClr val="bg1"/>
                </a:solidFill>
              </a:rPr>
              <a:t>)</a:t>
            </a:r>
            <a:endParaRPr lang="en-IN" sz="2200" dirty="0">
              <a:solidFill>
                <a:schemeClr val="bg1"/>
              </a:solidFill>
            </a:endParaRPr>
          </a:p>
        </p:txBody>
      </p:sp>
    </p:spTree>
    <p:extLst>
      <p:ext uri="{BB962C8B-B14F-4D97-AF65-F5344CB8AC3E}">
        <p14:creationId xmlns:p14="http://schemas.microsoft.com/office/powerpoint/2010/main" val="2760015673"/>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742E8-4D50-D957-A37E-618A52BE36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13ECC9-A68B-1B78-867A-8F5D8F2224C2}"/>
              </a:ext>
            </a:extLst>
          </p:cNvPr>
          <p:cNvSpPr>
            <a:spLocks noGrp="1"/>
          </p:cNvSpPr>
          <p:nvPr>
            <p:ph type="title"/>
          </p:nvPr>
        </p:nvSpPr>
        <p:spPr>
          <a:xfrm>
            <a:off x="327991" y="235916"/>
            <a:ext cx="11777869" cy="936901"/>
          </a:xfrm>
        </p:spPr>
        <p:txBody>
          <a:bodyPr>
            <a:normAutofit fontScale="90000"/>
          </a:bodyPr>
          <a:lstStyle/>
          <a:p>
            <a:r>
              <a:rPr lang="en-GB" dirty="0">
                <a:solidFill>
                  <a:schemeClr val="bg1"/>
                </a:solidFill>
                <a:latin typeface="+mn-lt"/>
              </a:rPr>
              <a:t>Step 4: Query – Value of Goods Purchased in Each City</a:t>
            </a:r>
            <a:endParaRPr lang="en-IN" dirty="0">
              <a:solidFill>
                <a:schemeClr val="bg1"/>
              </a:solidFill>
              <a:latin typeface="+mn-lt"/>
            </a:endParaRPr>
          </a:p>
        </p:txBody>
      </p:sp>
      <p:sp>
        <p:nvSpPr>
          <p:cNvPr id="5" name="TextBox 4">
            <a:extLst>
              <a:ext uri="{FF2B5EF4-FFF2-40B4-BE49-F238E27FC236}">
                <a16:creationId xmlns:a16="http://schemas.microsoft.com/office/drawing/2014/main" id="{309862E6-F05F-C3FD-318F-7336C8DC2056}"/>
              </a:ext>
            </a:extLst>
          </p:cNvPr>
          <p:cNvSpPr txBox="1"/>
          <p:nvPr/>
        </p:nvSpPr>
        <p:spPr>
          <a:xfrm>
            <a:off x="477078" y="1302026"/>
            <a:ext cx="9193695" cy="5539978"/>
          </a:xfrm>
          <a:prstGeom prst="rect">
            <a:avLst/>
          </a:prstGeom>
          <a:noFill/>
        </p:spPr>
        <p:txBody>
          <a:bodyPr wrap="square">
            <a:spAutoFit/>
          </a:bodyPr>
          <a:lstStyle/>
          <a:p>
            <a:r>
              <a:rPr lang="en-GB" sz="2400" dirty="0">
                <a:solidFill>
                  <a:schemeClr val="bg1"/>
                </a:solidFill>
              </a:rPr>
              <a:t>Query to Join with </a:t>
            </a:r>
            <a:r>
              <a:rPr lang="en-GB" sz="2400" dirty="0" err="1">
                <a:solidFill>
                  <a:schemeClr val="bg1"/>
                </a:solidFill>
              </a:rPr>
              <a:t>Customer_Dimension</a:t>
            </a:r>
            <a:r>
              <a:rPr lang="en-GB" sz="2400" dirty="0">
                <a:solidFill>
                  <a:schemeClr val="bg1"/>
                </a:solidFill>
              </a:rPr>
              <a:t> and Get Spend per City</a:t>
            </a:r>
            <a:endParaRPr lang="en-IN" sz="2200" dirty="0">
              <a:solidFill>
                <a:schemeClr val="bg1"/>
              </a:solidFill>
            </a:endParaRPr>
          </a:p>
          <a:p>
            <a:r>
              <a:rPr lang="en-IN" sz="2200" dirty="0">
                <a:solidFill>
                  <a:schemeClr val="bg1"/>
                </a:solidFill>
              </a:rPr>
              <a:t>    </a:t>
            </a:r>
          </a:p>
          <a:p>
            <a:r>
              <a:rPr lang="en-GB" sz="2200" dirty="0">
                <a:solidFill>
                  <a:schemeClr val="bg1"/>
                </a:solidFill>
              </a:rPr>
              <a:t>SELECT</a:t>
            </a:r>
          </a:p>
          <a:p>
            <a:r>
              <a:rPr lang="en-GB" sz="2200" dirty="0">
                <a:solidFill>
                  <a:schemeClr val="bg1"/>
                </a:solidFill>
              </a:rPr>
              <a:t>    </a:t>
            </a:r>
            <a:r>
              <a:rPr lang="en-GB" sz="2200" dirty="0" err="1">
                <a:solidFill>
                  <a:schemeClr val="bg1"/>
                </a:solidFill>
              </a:rPr>
              <a:t>CD.City</a:t>
            </a:r>
            <a:r>
              <a:rPr lang="en-GB" sz="2200" dirty="0">
                <a:solidFill>
                  <a:schemeClr val="bg1"/>
                </a:solidFill>
              </a:rPr>
              <a:t>,</a:t>
            </a:r>
          </a:p>
          <a:p>
            <a:r>
              <a:rPr lang="en-GB" sz="2200" dirty="0">
                <a:solidFill>
                  <a:schemeClr val="bg1"/>
                </a:solidFill>
              </a:rPr>
              <a:t>    SUM(</a:t>
            </a:r>
            <a:r>
              <a:rPr lang="en-GB" sz="2200" dirty="0" err="1">
                <a:solidFill>
                  <a:schemeClr val="bg1"/>
                </a:solidFill>
              </a:rPr>
              <a:t>SF.Sale_Amount</a:t>
            </a:r>
            <a:r>
              <a:rPr lang="en-GB" sz="2200" dirty="0">
                <a:solidFill>
                  <a:schemeClr val="bg1"/>
                </a:solidFill>
              </a:rPr>
              <a:t>) AS </a:t>
            </a:r>
            <a:r>
              <a:rPr lang="en-GB" sz="2200" dirty="0" err="1">
                <a:solidFill>
                  <a:schemeClr val="bg1"/>
                </a:solidFill>
              </a:rPr>
              <a:t>Total_Spend</a:t>
            </a:r>
            <a:endParaRPr lang="en-GB" sz="2200" dirty="0">
              <a:solidFill>
                <a:schemeClr val="bg1"/>
              </a:solidFill>
            </a:endParaRPr>
          </a:p>
          <a:p>
            <a:r>
              <a:rPr lang="en-GB" sz="2200" dirty="0">
                <a:solidFill>
                  <a:schemeClr val="bg1"/>
                </a:solidFill>
              </a:rPr>
              <a:t>FROM</a:t>
            </a:r>
          </a:p>
          <a:p>
            <a:r>
              <a:rPr lang="en-GB" sz="2200" dirty="0">
                <a:solidFill>
                  <a:schemeClr val="bg1"/>
                </a:solidFill>
              </a:rPr>
              <a:t>    </a:t>
            </a:r>
            <a:r>
              <a:rPr lang="en-GB" sz="2200" dirty="0" err="1">
                <a:solidFill>
                  <a:schemeClr val="bg1"/>
                </a:solidFill>
              </a:rPr>
              <a:t>Sales_Fact</a:t>
            </a:r>
            <a:r>
              <a:rPr lang="en-GB" sz="2200" dirty="0">
                <a:solidFill>
                  <a:schemeClr val="bg1"/>
                </a:solidFill>
              </a:rPr>
              <a:t> SF</a:t>
            </a:r>
          </a:p>
          <a:p>
            <a:r>
              <a:rPr lang="en-GB" sz="2200" dirty="0">
                <a:solidFill>
                  <a:schemeClr val="bg1"/>
                </a:solidFill>
              </a:rPr>
              <a:t>JOIN</a:t>
            </a:r>
          </a:p>
          <a:p>
            <a:r>
              <a:rPr lang="en-GB" sz="2200" dirty="0">
                <a:solidFill>
                  <a:schemeClr val="bg1"/>
                </a:solidFill>
              </a:rPr>
              <a:t>    </a:t>
            </a:r>
            <a:r>
              <a:rPr lang="en-GB" sz="2200" dirty="0" err="1">
                <a:solidFill>
                  <a:schemeClr val="bg1"/>
                </a:solidFill>
              </a:rPr>
              <a:t>Customer_Dimension</a:t>
            </a:r>
            <a:r>
              <a:rPr lang="en-GB" sz="2200" dirty="0">
                <a:solidFill>
                  <a:schemeClr val="bg1"/>
                </a:solidFill>
              </a:rPr>
              <a:t> CD</a:t>
            </a:r>
          </a:p>
          <a:p>
            <a:r>
              <a:rPr lang="en-GB" sz="2200" dirty="0">
                <a:solidFill>
                  <a:schemeClr val="bg1"/>
                </a:solidFill>
              </a:rPr>
              <a:t>    ON </a:t>
            </a:r>
            <a:r>
              <a:rPr lang="en-GB" sz="2200" dirty="0" err="1">
                <a:solidFill>
                  <a:schemeClr val="bg1"/>
                </a:solidFill>
              </a:rPr>
              <a:t>SF.Customer_Id</a:t>
            </a:r>
            <a:r>
              <a:rPr lang="en-GB" sz="2200" dirty="0">
                <a:solidFill>
                  <a:schemeClr val="bg1"/>
                </a:solidFill>
              </a:rPr>
              <a:t> = </a:t>
            </a:r>
            <a:r>
              <a:rPr lang="en-GB" sz="2200" dirty="0" err="1">
                <a:solidFill>
                  <a:schemeClr val="bg1"/>
                </a:solidFill>
              </a:rPr>
              <a:t>CD.Customer_Id</a:t>
            </a:r>
            <a:endParaRPr lang="en-GB" sz="2200" dirty="0">
              <a:solidFill>
                <a:schemeClr val="bg1"/>
              </a:solidFill>
            </a:endParaRPr>
          </a:p>
          <a:p>
            <a:r>
              <a:rPr lang="en-GB" sz="2200" dirty="0">
                <a:solidFill>
                  <a:schemeClr val="bg1"/>
                </a:solidFill>
              </a:rPr>
              <a:t>    AND </a:t>
            </a:r>
            <a:r>
              <a:rPr lang="en-GB" sz="2200" dirty="0" err="1">
                <a:solidFill>
                  <a:schemeClr val="bg1"/>
                </a:solidFill>
              </a:rPr>
              <a:t>SF.Sale_Date</a:t>
            </a:r>
            <a:r>
              <a:rPr lang="en-GB" sz="2200" dirty="0">
                <a:solidFill>
                  <a:schemeClr val="bg1"/>
                </a:solidFill>
              </a:rPr>
              <a:t> BETWEEN </a:t>
            </a:r>
            <a:r>
              <a:rPr lang="en-GB" sz="2200" dirty="0" err="1">
                <a:solidFill>
                  <a:schemeClr val="bg1"/>
                </a:solidFill>
              </a:rPr>
              <a:t>CD.Effective_Start_Date</a:t>
            </a:r>
            <a:r>
              <a:rPr lang="en-GB" sz="2200" dirty="0">
                <a:solidFill>
                  <a:schemeClr val="bg1"/>
                </a:solidFill>
              </a:rPr>
              <a:t> AND COALESCE(</a:t>
            </a:r>
            <a:r>
              <a:rPr lang="en-GB" sz="2200" dirty="0" err="1">
                <a:solidFill>
                  <a:schemeClr val="bg1"/>
                </a:solidFill>
              </a:rPr>
              <a:t>CD.Effective_End_Date</a:t>
            </a:r>
            <a:r>
              <a:rPr lang="en-GB" sz="2200" dirty="0">
                <a:solidFill>
                  <a:schemeClr val="bg1"/>
                </a:solidFill>
              </a:rPr>
              <a:t>, CURRENT_DATE)</a:t>
            </a:r>
          </a:p>
          <a:p>
            <a:r>
              <a:rPr lang="en-GB" sz="2200" dirty="0">
                <a:solidFill>
                  <a:schemeClr val="bg1"/>
                </a:solidFill>
              </a:rPr>
              <a:t>WHERE</a:t>
            </a:r>
          </a:p>
          <a:p>
            <a:r>
              <a:rPr lang="en-GB" sz="2200" dirty="0">
                <a:solidFill>
                  <a:schemeClr val="bg1"/>
                </a:solidFill>
              </a:rPr>
              <a:t>    </a:t>
            </a:r>
            <a:r>
              <a:rPr lang="en-GB" sz="2200" dirty="0" err="1">
                <a:solidFill>
                  <a:schemeClr val="bg1"/>
                </a:solidFill>
              </a:rPr>
              <a:t>CD.Customer_Id</a:t>
            </a:r>
            <a:r>
              <a:rPr lang="en-GB" sz="2200" dirty="0">
                <a:solidFill>
                  <a:schemeClr val="bg1"/>
                </a:solidFill>
              </a:rPr>
              <a:t> = 101</a:t>
            </a:r>
          </a:p>
          <a:p>
            <a:r>
              <a:rPr lang="en-GB" sz="2200" dirty="0">
                <a:solidFill>
                  <a:schemeClr val="bg1"/>
                </a:solidFill>
              </a:rPr>
              <a:t>GROUP BY</a:t>
            </a:r>
          </a:p>
          <a:p>
            <a:r>
              <a:rPr lang="en-GB" sz="2200" dirty="0">
                <a:solidFill>
                  <a:schemeClr val="bg1"/>
                </a:solidFill>
              </a:rPr>
              <a:t>    </a:t>
            </a:r>
            <a:r>
              <a:rPr lang="en-GB" sz="2200" dirty="0" err="1">
                <a:solidFill>
                  <a:schemeClr val="bg1"/>
                </a:solidFill>
              </a:rPr>
              <a:t>CD.City</a:t>
            </a:r>
            <a:r>
              <a:rPr lang="en-GB" sz="2200" dirty="0">
                <a:solidFill>
                  <a:schemeClr val="bg1"/>
                </a:solidFill>
              </a:rPr>
              <a:t>;</a:t>
            </a:r>
            <a:endParaRPr lang="en-IN" sz="2200" dirty="0">
              <a:solidFill>
                <a:schemeClr val="bg1"/>
              </a:solidFill>
            </a:endParaRPr>
          </a:p>
        </p:txBody>
      </p:sp>
    </p:spTree>
    <p:extLst>
      <p:ext uri="{BB962C8B-B14F-4D97-AF65-F5344CB8AC3E}">
        <p14:creationId xmlns:p14="http://schemas.microsoft.com/office/powerpoint/2010/main" val="89831192"/>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E2AF4-616F-689A-9E5E-651BA8C4E63B}"/>
              </a:ext>
            </a:extLst>
          </p:cNvPr>
          <p:cNvSpPr>
            <a:spLocks noGrp="1"/>
          </p:cNvSpPr>
          <p:nvPr>
            <p:ph type="title"/>
          </p:nvPr>
        </p:nvSpPr>
        <p:spPr/>
        <p:txBody>
          <a:bodyPr/>
          <a:lstStyle/>
          <a:p>
            <a:r>
              <a:rPr lang="en-IN" dirty="0">
                <a:solidFill>
                  <a:schemeClr val="bg1"/>
                </a:solidFill>
                <a:latin typeface="+mn-lt"/>
              </a:rPr>
              <a:t>Results</a:t>
            </a:r>
          </a:p>
        </p:txBody>
      </p:sp>
      <p:pic>
        <p:nvPicPr>
          <p:cNvPr id="8" name="Picture 7">
            <a:extLst>
              <a:ext uri="{FF2B5EF4-FFF2-40B4-BE49-F238E27FC236}">
                <a16:creationId xmlns:a16="http://schemas.microsoft.com/office/drawing/2014/main" id="{688E46F7-5F4D-1672-C6F5-B548D247AD88}"/>
              </a:ext>
            </a:extLst>
          </p:cNvPr>
          <p:cNvPicPr>
            <a:picLocks noChangeAspect="1"/>
          </p:cNvPicPr>
          <p:nvPr/>
        </p:nvPicPr>
        <p:blipFill>
          <a:blip r:embed="rId2"/>
          <a:stretch>
            <a:fillRect/>
          </a:stretch>
        </p:blipFill>
        <p:spPr>
          <a:xfrm>
            <a:off x="1849615" y="2666066"/>
            <a:ext cx="7473410" cy="1525867"/>
          </a:xfrm>
          <a:prstGeom prst="rect">
            <a:avLst/>
          </a:prstGeom>
        </p:spPr>
      </p:pic>
    </p:spTree>
    <p:extLst>
      <p:ext uri="{BB962C8B-B14F-4D97-AF65-F5344CB8AC3E}">
        <p14:creationId xmlns:p14="http://schemas.microsoft.com/office/powerpoint/2010/main" val="2478701669"/>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27759" y="2178303"/>
            <a:ext cx="9930384" cy="1702816"/>
          </a:xfrm>
          <a:prstGeom prst="rect">
            <a:avLst/>
          </a:prstGeom>
        </p:spPr>
      </p:pic>
      <p:sp>
        <p:nvSpPr>
          <p:cNvPr id="3" name="object 3"/>
          <p:cNvSpPr txBox="1">
            <a:spLocks noGrp="1"/>
          </p:cNvSpPr>
          <p:nvPr>
            <p:ph type="title"/>
          </p:nvPr>
        </p:nvSpPr>
        <p:spPr>
          <a:xfrm>
            <a:off x="1190751" y="2467260"/>
            <a:ext cx="9811173" cy="1070377"/>
          </a:xfrm>
          <a:prstGeom prst="rect">
            <a:avLst/>
          </a:prstGeom>
          <a:noFill/>
          <a:ln w="9144">
            <a:noFill/>
          </a:ln>
        </p:spPr>
        <p:txBody>
          <a:bodyPr vert="horz" wrap="square" lIns="0" tIns="328505" rIns="0" bIns="0" rtlCol="0" anchor="ctr">
            <a:spAutoFit/>
          </a:bodyPr>
          <a:lstStyle/>
          <a:p>
            <a:pPr algn="ctr">
              <a:lnSpc>
                <a:spcPct val="100000"/>
              </a:lnSpc>
              <a:spcBef>
                <a:spcPts val="2585"/>
              </a:spcBef>
            </a:pPr>
            <a:r>
              <a:rPr sz="4800" dirty="0">
                <a:solidFill>
                  <a:schemeClr val="bg1"/>
                </a:solidFill>
                <a:latin typeface="Arial MT"/>
                <a:cs typeface="Arial MT"/>
              </a:rPr>
              <a:t>Type</a:t>
            </a:r>
            <a:r>
              <a:rPr sz="4800" spc="-27" dirty="0">
                <a:solidFill>
                  <a:schemeClr val="bg1"/>
                </a:solidFill>
                <a:latin typeface="Arial MT"/>
                <a:cs typeface="Arial MT"/>
              </a:rPr>
              <a:t> </a:t>
            </a:r>
            <a:r>
              <a:rPr sz="4800" dirty="0">
                <a:solidFill>
                  <a:schemeClr val="bg1"/>
                </a:solidFill>
                <a:latin typeface="Arial MT"/>
                <a:cs typeface="Arial MT"/>
              </a:rPr>
              <a:t>3:</a:t>
            </a:r>
            <a:r>
              <a:rPr sz="4800" spc="-47" dirty="0">
                <a:solidFill>
                  <a:schemeClr val="bg1"/>
                </a:solidFill>
                <a:latin typeface="Arial MT"/>
                <a:cs typeface="Arial MT"/>
              </a:rPr>
              <a:t> </a:t>
            </a:r>
            <a:r>
              <a:rPr sz="4800" dirty="0">
                <a:solidFill>
                  <a:schemeClr val="bg1"/>
                </a:solidFill>
                <a:latin typeface="Arial MT"/>
                <a:cs typeface="Arial MT"/>
              </a:rPr>
              <a:t>Additonal</a:t>
            </a:r>
            <a:r>
              <a:rPr sz="4800" spc="-40" dirty="0">
                <a:solidFill>
                  <a:schemeClr val="bg1"/>
                </a:solidFill>
                <a:latin typeface="Arial MT"/>
                <a:cs typeface="Arial MT"/>
              </a:rPr>
              <a:t> </a:t>
            </a:r>
            <a:r>
              <a:rPr sz="4800" spc="-13" dirty="0">
                <a:solidFill>
                  <a:schemeClr val="bg1"/>
                </a:solidFill>
                <a:latin typeface="Arial MT"/>
                <a:cs typeface="Arial MT"/>
              </a:rPr>
              <a:t>Attributes</a:t>
            </a:r>
            <a:endParaRPr sz="4800" dirty="0">
              <a:solidFill>
                <a:schemeClr val="bg1"/>
              </a:solidFill>
              <a:latin typeface="Arial MT"/>
              <a:cs typeface="Arial MT"/>
            </a:endParaRPr>
          </a:p>
        </p:txBody>
      </p:sp>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00960" y="296665"/>
            <a:ext cx="7508240" cy="695062"/>
          </a:xfrm>
          <a:prstGeom prst="rect">
            <a:avLst/>
          </a:prstGeom>
        </p:spPr>
        <p:txBody>
          <a:bodyPr vert="horz" wrap="square" lIns="0" tIns="17780" rIns="0" bIns="0" rtlCol="0" anchor="ctr">
            <a:spAutoFit/>
          </a:bodyPr>
          <a:lstStyle/>
          <a:p>
            <a:pPr marL="617205">
              <a:lnSpc>
                <a:spcPct val="100000"/>
              </a:lnSpc>
              <a:spcBef>
                <a:spcPts val="140"/>
              </a:spcBef>
            </a:pPr>
            <a:r>
              <a:rPr dirty="0">
                <a:solidFill>
                  <a:schemeClr val="bg1"/>
                </a:solidFill>
                <a:latin typeface="+mn-lt"/>
              </a:rPr>
              <a:t>Type</a:t>
            </a:r>
            <a:r>
              <a:rPr spc="-73" dirty="0">
                <a:solidFill>
                  <a:schemeClr val="bg1"/>
                </a:solidFill>
                <a:latin typeface="+mn-lt"/>
              </a:rPr>
              <a:t> </a:t>
            </a:r>
            <a:r>
              <a:rPr dirty="0">
                <a:solidFill>
                  <a:schemeClr val="bg1"/>
                </a:solidFill>
                <a:latin typeface="+mn-lt"/>
              </a:rPr>
              <a:t>3:</a:t>
            </a:r>
            <a:r>
              <a:rPr spc="-60" dirty="0">
                <a:solidFill>
                  <a:schemeClr val="bg1"/>
                </a:solidFill>
                <a:latin typeface="+mn-lt"/>
              </a:rPr>
              <a:t> </a:t>
            </a:r>
            <a:r>
              <a:rPr dirty="0">
                <a:solidFill>
                  <a:schemeClr val="bg1"/>
                </a:solidFill>
                <a:latin typeface="+mn-lt"/>
              </a:rPr>
              <a:t>Additonal</a:t>
            </a:r>
            <a:r>
              <a:rPr spc="-27" dirty="0">
                <a:solidFill>
                  <a:schemeClr val="bg1"/>
                </a:solidFill>
                <a:latin typeface="+mn-lt"/>
              </a:rPr>
              <a:t> </a:t>
            </a:r>
            <a:r>
              <a:rPr spc="-13" dirty="0">
                <a:solidFill>
                  <a:schemeClr val="bg1"/>
                </a:solidFill>
                <a:latin typeface="+mn-lt"/>
              </a:rPr>
              <a:t>Attributes</a:t>
            </a:r>
          </a:p>
        </p:txBody>
      </p:sp>
      <p:graphicFrame>
        <p:nvGraphicFramePr>
          <p:cNvPr id="3" name="object 3"/>
          <p:cNvGraphicFramePr>
            <a:graphicFrameLocks noGrp="1"/>
          </p:cNvGraphicFramePr>
          <p:nvPr>
            <p:extLst>
              <p:ext uri="{D42A27DB-BD31-4B8C-83A1-F6EECF244321}">
                <p14:modId xmlns:p14="http://schemas.microsoft.com/office/powerpoint/2010/main" val="1227373870"/>
              </p:ext>
            </p:extLst>
          </p:nvPr>
        </p:nvGraphicFramePr>
        <p:xfrm>
          <a:off x="2027951" y="1576238"/>
          <a:ext cx="8311726" cy="1457370"/>
        </p:xfrm>
        <a:graphic>
          <a:graphicData uri="http://schemas.openxmlformats.org/drawingml/2006/table">
            <a:tbl>
              <a:tblPr firstRow="1" bandRow="1">
                <a:tableStyleId>{2D5ABB26-0587-4C30-8999-92F81FD0307C}</a:tableStyleId>
              </a:tblPr>
              <a:tblGrid>
                <a:gridCol w="1366576">
                  <a:extLst>
                    <a:ext uri="{9D8B030D-6E8A-4147-A177-3AD203B41FA5}">
                      <a16:colId xmlns:a16="http://schemas.microsoft.com/office/drawing/2014/main" val="20000"/>
                    </a:ext>
                  </a:extLst>
                </a:gridCol>
                <a:gridCol w="1366576">
                  <a:extLst>
                    <a:ext uri="{9D8B030D-6E8A-4147-A177-3AD203B41FA5}">
                      <a16:colId xmlns:a16="http://schemas.microsoft.com/office/drawing/2014/main" val="20001"/>
                    </a:ext>
                  </a:extLst>
                </a:gridCol>
                <a:gridCol w="2318267">
                  <a:extLst>
                    <a:ext uri="{9D8B030D-6E8A-4147-A177-3AD203B41FA5}">
                      <a16:colId xmlns:a16="http://schemas.microsoft.com/office/drawing/2014/main" val="20002"/>
                    </a:ext>
                  </a:extLst>
                </a:gridCol>
                <a:gridCol w="1044667">
                  <a:extLst>
                    <a:ext uri="{9D8B030D-6E8A-4147-A177-3AD203B41FA5}">
                      <a16:colId xmlns:a16="http://schemas.microsoft.com/office/drawing/2014/main" val="20003"/>
                    </a:ext>
                  </a:extLst>
                </a:gridCol>
                <a:gridCol w="1107820">
                  <a:extLst>
                    <a:ext uri="{9D8B030D-6E8A-4147-A177-3AD203B41FA5}">
                      <a16:colId xmlns:a16="http://schemas.microsoft.com/office/drawing/2014/main" val="20004"/>
                    </a:ext>
                  </a:extLst>
                </a:gridCol>
                <a:gridCol w="1107820">
                  <a:extLst>
                    <a:ext uri="{9D8B030D-6E8A-4147-A177-3AD203B41FA5}">
                      <a16:colId xmlns:a16="http://schemas.microsoft.com/office/drawing/2014/main" val="20005"/>
                    </a:ext>
                  </a:extLst>
                </a:gridCol>
              </a:tblGrid>
              <a:tr h="265428">
                <a:tc>
                  <a:txBody>
                    <a:bodyPr/>
                    <a:lstStyle/>
                    <a:p>
                      <a:pPr algn="ctr">
                        <a:lnSpc>
                          <a:spcPct val="100000"/>
                        </a:lnSpc>
                        <a:spcBef>
                          <a:spcPts val="60"/>
                        </a:spcBef>
                      </a:pPr>
                      <a:r>
                        <a:rPr sz="1400" b="1" spc="-10" dirty="0">
                          <a:solidFill>
                            <a:schemeClr val="bg1"/>
                          </a:solidFill>
                          <a:latin typeface="Arial"/>
                          <a:cs typeface="Arial"/>
                        </a:rPr>
                        <a:t>Product_PK</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gn="ctr">
                        <a:lnSpc>
                          <a:spcPct val="100000"/>
                        </a:lnSpc>
                        <a:spcBef>
                          <a:spcPts val="60"/>
                        </a:spcBef>
                      </a:pPr>
                      <a:r>
                        <a:rPr sz="1400" b="1" spc="-10" dirty="0">
                          <a:solidFill>
                            <a:schemeClr val="bg1"/>
                          </a:solidFill>
                          <a:latin typeface="Arial"/>
                          <a:cs typeface="Arial"/>
                        </a:rPr>
                        <a:t>Product_ID</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gn="ctr">
                        <a:lnSpc>
                          <a:spcPct val="100000"/>
                        </a:lnSpc>
                        <a:spcBef>
                          <a:spcPts val="60"/>
                        </a:spcBef>
                      </a:pPr>
                      <a:r>
                        <a:rPr sz="1400" b="1" spc="-20" dirty="0">
                          <a:solidFill>
                            <a:schemeClr val="bg1"/>
                          </a:solidFill>
                          <a:latin typeface="Arial"/>
                          <a:cs typeface="Arial"/>
                        </a:rPr>
                        <a:t>Name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905" algn="ctr">
                        <a:lnSpc>
                          <a:spcPct val="100000"/>
                        </a:lnSpc>
                        <a:spcBef>
                          <a:spcPts val="60"/>
                        </a:spcBef>
                      </a:pPr>
                      <a:r>
                        <a:rPr sz="1400" b="1" spc="-10" dirty="0">
                          <a:solidFill>
                            <a:schemeClr val="bg1"/>
                          </a:solidFill>
                          <a:latin typeface="Arial"/>
                          <a:cs typeface="Arial"/>
                        </a:rPr>
                        <a:t>Category</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2540" algn="ctr">
                        <a:lnSpc>
                          <a:spcPct val="100000"/>
                        </a:lnSpc>
                        <a:spcBef>
                          <a:spcPts val="60"/>
                        </a:spcBef>
                      </a:pPr>
                      <a:r>
                        <a:rPr sz="1400" b="1" spc="-10" dirty="0">
                          <a:solidFill>
                            <a:schemeClr val="bg1"/>
                          </a:solidFill>
                          <a:latin typeface="Arial"/>
                          <a:cs typeface="Arial"/>
                        </a:rPr>
                        <a:t>Ef_Date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2540" algn="ctr">
                        <a:lnSpc>
                          <a:spcPct val="100000"/>
                        </a:lnSpc>
                        <a:spcBef>
                          <a:spcPts val="60"/>
                        </a:spcBef>
                      </a:pPr>
                      <a:r>
                        <a:rPr sz="1400" b="1" spc="-10" dirty="0">
                          <a:solidFill>
                            <a:schemeClr val="bg1"/>
                          </a:solidFill>
                          <a:latin typeface="Arial"/>
                          <a:cs typeface="Arial"/>
                        </a:rPr>
                        <a:t>Ex_Date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98234">
                <a:tc>
                  <a:txBody>
                    <a:bodyPr/>
                    <a:lstStyle/>
                    <a:p>
                      <a:pPr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SG-</a:t>
                      </a:r>
                      <a:r>
                        <a:rPr sz="1400" spc="-25" dirty="0">
                          <a:latin typeface="Arial MT"/>
                          <a:cs typeface="Arial MT"/>
                        </a:rPr>
                        <a:t>TR7</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dirty="0">
                          <a:latin typeface="Arial MT"/>
                          <a:cs typeface="Arial MT"/>
                        </a:rPr>
                        <a:t>Sunglases</a:t>
                      </a:r>
                      <a:r>
                        <a:rPr sz="1400" spc="-55" dirty="0">
                          <a:latin typeface="Arial MT"/>
                          <a:cs typeface="Arial MT"/>
                        </a:rPr>
                        <a:t> </a:t>
                      </a:r>
                      <a:r>
                        <a:rPr sz="1400" dirty="0">
                          <a:latin typeface="Arial MT"/>
                          <a:cs typeface="Arial MT"/>
                        </a:rPr>
                        <a:t>TR-</a:t>
                      </a:r>
                      <a:r>
                        <a:rPr sz="1400" spc="-50" dirty="0">
                          <a:latin typeface="Arial MT"/>
                          <a:cs typeface="Arial MT"/>
                        </a:rPr>
                        <a:t>7</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Assecoirs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a:t>
                      </a:r>
                      <a:r>
                        <a:rPr sz="1400" spc="-25" dirty="0">
                          <a:latin typeface="Arial MT"/>
                          <a:cs typeface="Arial MT"/>
                        </a:rPr>
                        <a:t>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5"/>
                        </a:spcBef>
                      </a:pPr>
                      <a:r>
                        <a:rPr sz="1400" spc="-10" dirty="0">
                          <a:latin typeface="Arial MT"/>
                          <a:cs typeface="Arial MT"/>
                        </a:rPr>
                        <a:t>2100-01-</a:t>
                      </a:r>
                      <a:r>
                        <a:rPr sz="1400" spc="-25" dirty="0">
                          <a:latin typeface="Arial MT"/>
                          <a:cs typeface="Arial MT"/>
                        </a:rPr>
                        <a:t>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98234">
                <a:tc>
                  <a:txBody>
                    <a:bodyPr/>
                    <a:lstStyle/>
                    <a:p>
                      <a:pPr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CH-</a:t>
                      </a:r>
                      <a:r>
                        <a:rPr sz="1400" spc="-25" dirty="0">
                          <a:latin typeface="Arial MT"/>
                          <a:cs typeface="Arial MT"/>
                        </a:rPr>
                        <a:t>B70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Chocolate </a:t>
                      </a:r>
                      <a:r>
                        <a:rPr sz="1400" dirty="0">
                          <a:latin typeface="Arial MT"/>
                          <a:cs typeface="Arial MT"/>
                        </a:rPr>
                        <a:t>bar 70%</a:t>
                      </a:r>
                      <a:r>
                        <a:rPr sz="1400" spc="5" dirty="0">
                          <a:latin typeface="Arial MT"/>
                          <a:cs typeface="Arial MT"/>
                        </a:rPr>
                        <a:t> </a:t>
                      </a:r>
                      <a:r>
                        <a:rPr sz="1400" spc="-10" dirty="0">
                          <a:latin typeface="Arial MT"/>
                          <a:cs typeface="Arial MT"/>
                        </a:rPr>
                        <a:t>cacao</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Sweets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a:t>
                      </a:r>
                      <a:r>
                        <a:rPr sz="1400" spc="-25" dirty="0">
                          <a:latin typeface="Arial MT"/>
                          <a:cs typeface="Arial MT"/>
                        </a:rPr>
                        <a:t>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5"/>
                        </a:spcBef>
                      </a:pPr>
                      <a:r>
                        <a:rPr sz="1400" spc="-10" dirty="0">
                          <a:latin typeface="Arial MT"/>
                          <a:cs typeface="Arial MT"/>
                        </a:rPr>
                        <a:t>2100-01-</a:t>
                      </a:r>
                      <a:r>
                        <a:rPr sz="1400" spc="-25" dirty="0">
                          <a:latin typeface="Arial MT"/>
                          <a:cs typeface="Arial MT"/>
                        </a:rPr>
                        <a:t>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97240">
                <a:tc>
                  <a:txBody>
                    <a:bodyPr/>
                    <a:lstStyle/>
                    <a:p>
                      <a:pPr algn="ctr">
                        <a:lnSpc>
                          <a:spcPct val="10000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OT-</a:t>
                      </a:r>
                      <a:r>
                        <a:rPr sz="1400" spc="-25" dirty="0">
                          <a:latin typeface="Arial MT"/>
                          <a:cs typeface="Arial MT"/>
                        </a:rPr>
                        <a:t>BSC</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dirty="0">
                          <a:solidFill>
                            <a:srgbClr val="FFFFFF"/>
                          </a:solidFill>
                          <a:latin typeface="Arial MT"/>
                          <a:cs typeface="Arial MT"/>
                        </a:rPr>
                        <a:t>Oat</a:t>
                      </a:r>
                      <a:r>
                        <a:rPr sz="1400" spc="-20" dirty="0">
                          <a:solidFill>
                            <a:srgbClr val="FFFFFF"/>
                          </a:solidFill>
                          <a:latin typeface="Arial MT"/>
                          <a:cs typeface="Arial MT"/>
                        </a:rPr>
                        <a:t> </a:t>
                      </a:r>
                      <a:r>
                        <a:rPr sz="1400" dirty="0">
                          <a:solidFill>
                            <a:srgbClr val="FFFFFF"/>
                          </a:solidFill>
                          <a:latin typeface="Arial MT"/>
                          <a:cs typeface="Arial MT"/>
                        </a:rPr>
                        <a:t>meal</a:t>
                      </a:r>
                      <a:r>
                        <a:rPr sz="1400" spc="-45" dirty="0">
                          <a:solidFill>
                            <a:srgbClr val="FFFFFF"/>
                          </a:solidFill>
                          <a:latin typeface="Arial MT"/>
                          <a:cs typeface="Arial MT"/>
                        </a:rPr>
                        <a:t> </a:t>
                      </a:r>
                      <a:r>
                        <a:rPr sz="1400" spc="-10" dirty="0">
                          <a:solidFill>
                            <a:srgbClr val="FFFFFF"/>
                          </a:solidFill>
                          <a:latin typeface="Arial MT"/>
                          <a:cs typeface="Arial MT"/>
                        </a:rPr>
                        <a:t>biscuits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878787"/>
                    </a:solidFill>
                  </a:tcPr>
                </a:tc>
                <a:tc>
                  <a:txBody>
                    <a:bodyPr/>
                    <a:lstStyle/>
                    <a:p>
                      <a:pPr algn="ctr">
                        <a:lnSpc>
                          <a:spcPct val="100000"/>
                        </a:lnSpc>
                        <a:spcBef>
                          <a:spcPts val="225"/>
                        </a:spcBef>
                      </a:pPr>
                      <a:r>
                        <a:rPr sz="1400" spc="-10" dirty="0">
                          <a:latin typeface="Arial MT"/>
                          <a:cs typeface="Arial MT"/>
                        </a:rPr>
                        <a:t>Sweets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2022-01-</a:t>
                      </a:r>
                      <a:r>
                        <a:rPr sz="1400" spc="-25" dirty="0">
                          <a:latin typeface="Arial MT"/>
                          <a:cs typeface="Arial MT"/>
                        </a:rPr>
                        <a:t>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5"/>
                        </a:spcBef>
                      </a:pPr>
                      <a:r>
                        <a:rPr sz="1400" spc="-10" dirty="0">
                          <a:latin typeface="Arial MT"/>
                          <a:cs typeface="Arial MT"/>
                        </a:rPr>
                        <a:t>2100-01-</a:t>
                      </a:r>
                      <a:r>
                        <a:rPr sz="1400" spc="-25" dirty="0">
                          <a:latin typeface="Arial MT"/>
                          <a:cs typeface="Arial MT"/>
                        </a:rPr>
                        <a:t>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98234">
                <a:tc>
                  <a:txBody>
                    <a:bodyPr/>
                    <a:lstStyle/>
                    <a:p>
                      <a:pPr algn="ctr">
                        <a:lnSpc>
                          <a:spcPct val="100000"/>
                        </a:lnSpc>
                        <a:spcBef>
                          <a:spcPts val="225"/>
                        </a:spcBef>
                      </a:pPr>
                      <a:r>
                        <a:rPr sz="1400" spc="-50" dirty="0">
                          <a:latin typeface="Arial MT"/>
                          <a:cs typeface="Arial MT"/>
                        </a:rPr>
                        <a:t>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OT-</a:t>
                      </a:r>
                      <a:r>
                        <a:rPr sz="1400" spc="-25" dirty="0">
                          <a:latin typeface="Arial MT"/>
                          <a:cs typeface="Arial MT"/>
                        </a:rPr>
                        <a:t>BSC</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dirty="0">
                          <a:solidFill>
                            <a:srgbClr val="FFFFFF"/>
                          </a:solidFill>
                          <a:latin typeface="Arial MT"/>
                          <a:cs typeface="Arial MT"/>
                        </a:rPr>
                        <a:t>Delicious</a:t>
                      </a:r>
                      <a:r>
                        <a:rPr sz="1400" spc="-50" dirty="0">
                          <a:solidFill>
                            <a:srgbClr val="FFFFFF"/>
                          </a:solidFill>
                          <a:latin typeface="Arial MT"/>
                          <a:cs typeface="Arial MT"/>
                        </a:rPr>
                        <a:t> </a:t>
                      </a:r>
                      <a:r>
                        <a:rPr sz="1400" dirty="0">
                          <a:solidFill>
                            <a:srgbClr val="FFFFFF"/>
                          </a:solidFill>
                          <a:latin typeface="Arial MT"/>
                          <a:cs typeface="Arial MT"/>
                        </a:rPr>
                        <a:t>Oat</a:t>
                      </a:r>
                      <a:r>
                        <a:rPr sz="1400" spc="-25" dirty="0">
                          <a:solidFill>
                            <a:srgbClr val="FFFFFF"/>
                          </a:solidFill>
                          <a:latin typeface="Arial MT"/>
                          <a:cs typeface="Arial MT"/>
                        </a:rPr>
                        <a:t> </a:t>
                      </a:r>
                      <a:r>
                        <a:rPr sz="1400" dirty="0">
                          <a:solidFill>
                            <a:srgbClr val="FFFFFF"/>
                          </a:solidFill>
                          <a:latin typeface="Arial MT"/>
                          <a:cs typeface="Arial MT"/>
                        </a:rPr>
                        <a:t>meal</a:t>
                      </a:r>
                      <a:r>
                        <a:rPr sz="1400" spc="-40" dirty="0">
                          <a:solidFill>
                            <a:srgbClr val="FFFFFF"/>
                          </a:solidFill>
                          <a:latin typeface="Arial MT"/>
                          <a:cs typeface="Arial MT"/>
                        </a:rPr>
                        <a:t> </a:t>
                      </a:r>
                      <a:r>
                        <a:rPr sz="1400" spc="-10" dirty="0">
                          <a:solidFill>
                            <a:srgbClr val="FFFFFF"/>
                          </a:solidFill>
                          <a:latin typeface="Arial MT"/>
                          <a:cs typeface="Arial MT"/>
                        </a:rPr>
                        <a:t>biscuits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878787"/>
                    </a:solidFill>
                  </a:tcPr>
                </a:tc>
                <a:tc>
                  <a:txBody>
                    <a:bodyPr/>
                    <a:lstStyle/>
                    <a:p>
                      <a:pPr marL="635" algn="ctr">
                        <a:lnSpc>
                          <a:spcPct val="100000"/>
                        </a:lnSpc>
                        <a:spcBef>
                          <a:spcPts val="225"/>
                        </a:spcBef>
                      </a:pPr>
                      <a:r>
                        <a:rPr sz="1400" spc="-10" dirty="0">
                          <a:solidFill>
                            <a:srgbClr val="3B3B3B"/>
                          </a:solidFill>
                          <a:latin typeface="Arial MT"/>
                          <a:cs typeface="Arial MT"/>
                        </a:rPr>
                        <a:t>Buscuits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66DBFF"/>
                    </a:solidFill>
                  </a:tcPr>
                </a:tc>
                <a:tc>
                  <a:txBody>
                    <a:bodyPr/>
                    <a:lstStyle/>
                    <a:p>
                      <a:pPr marL="2540" algn="ctr">
                        <a:lnSpc>
                          <a:spcPct val="100000"/>
                        </a:lnSpc>
                        <a:spcBef>
                          <a:spcPts val="225"/>
                        </a:spcBef>
                      </a:pPr>
                      <a:r>
                        <a:rPr sz="1400" spc="-10" dirty="0">
                          <a:latin typeface="Arial MT"/>
                          <a:cs typeface="Arial MT"/>
                        </a:rPr>
                        <a:t>2022-06-</a:t>
                      </a:r>
                      <a:r>
                        <a:rPr sz="1400" spc="-25" dirty="0">
                          <a:latin typeface="Arial MT"/>
                          <a:cs typeface="Arial MT"/>
                        </a:rPr>
                        <a:t>01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5"/>
                        </a:spcBef>
                      </a:pPr>
                      <a:r>
                        <a:rPr sz="1400" spc="-10" dirty="0">
                          <a:latin typeface="Arial MT"/>
                          <a:cs typeface="Arial MT"/>
                        </a:rPr>
                        <a:t>2100-01-</a:t>
                      </a:r>
                      <a:r>
                        <a:rPr sz="1400" spc="-25" dirty="0">
                          <a:latin typeface="Arial MT"/>
                          <a:cs typeface="Arial MT"/>
                        </a:rPr>
                        <a:t>01</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bl>
          </a:graphicData>
        </a:graphic>
      </p:graphicFrame>
      <p:sp>
        <p:nvSpPr>
          <p:cNvPr id="4" name="object 4"/>
          <p:cNvSpPr txBox="1"/>
          <p:nvPr/>
        </p:nvSpPr>
        <p:spPr>
          <a:xfrm>
            <a:off x="2442126" y="3276940"/>
            <a:ext cx="8311727" cy="2004822"/>
          </a:xfrm>
          <a:prstGeom prst="rect">
            <a:avLst/>
          </a:prstGeom>
        </p:spPr>
        <p:txBody>
          <a:bodyPr vert="horz" wrap="square" lIns="0" tIns="16933" rIns="0" bIns="0" rtlCol="0">
            <a:spAutoFit/>
          </a:bodyPr>
          <a:lstStyle/>
          <a:p>
            <a:pPr marL="417396" indent="-380990">
              <a:spcBef>
                <a:spcPts val="133"/>
              </a:spcBef>
              <a:buClr>
                <a:srgbClr val="99D3FF"/>
              </a:buClr>
              <a:buFont typeface="Wingdings"/>
              <a:buChar char=""/>
              <a:tabLst>
                <a:tab pos="417396" algn="l"/>
              </a:tabLst>
            </a:pPr>
            <a:r>
              <a:rPr sz="2400" b="1" i="1" dirty="0">
                <a:solidFill>
                  <a:srgbClr val="D9D9D9"/>
                </a:solidFill>
                <a:latin typeface="Calibri"/>
                <a:cs typeface="Calibri"/>
              </a:rPr>
              <a:t>Type</a:t>
            </a:r>
            <a:r>
              <a:rPr sz="2400" b="1" i="1" spc="-60" dirty="0">
                <a:solidFill>
                  <a:srgbClr val="D9D9D9"/>
                </a:solidFill>
                <a:latin typeface="Calibri"/>
                <a:cs typeface="Calibri"/>
              </a:rPr>
              <a:t> </a:t>
            </a:r>
            <a:r>
              <a:rPr sz="2400" b="1" i="1" dirty="0">
                <a:solidFill>
                  <a:srgbClr val="D9D9D9"/>
                </a:solidFill>
                <a:latin typeface="Calibri"/>
                <a:cs typeface="Calibri"/>
              </a:rPr>
              <a:t>2</a:t>
            </a:r>
            <a:r>
              <a:rPr sz="2400" b="1" i="1" spc="-33" dirty="0">
                <a:solidFill>
                  <a:srgbClr val="D9D9D9"/>
                </a:solidFill>
                <a:latin typeface="Calibri"/>
                <a:cs typeface="Calibri"/>
              </a:rPr>
              <a:t> </a:t>
            </a:r>
            <a:r>
              <a:rPr sz="2400" b="1" i="1" dirty="0">
                <a:solidFill>
                  <a:srgbClr val="D9D9D9"/>
                </a:solidFill>
                <a:latin typeface="Calibri"/>
                <a:cs typeface="Calibri"/>
              </a:rPr>
              <a:t>–</a:t>
            </a:r>
            <a:r>
              <a:rPr sz="2400" b="1" i="1" spc="-53" dirty="0">
                <a:solidFill>
                  <a:srgbClr val="D9D9D9"/>
                </a:solidFill>
                <a:latin typeface="Calibri"/>
                <a:cs typeface="Calibri"/>
              </a:rPr>
              <a:t> </a:t>
            </a:r>
            <a:r>
              <a:rPr sz="2400" b="1" i="1" dirty="0">
                <a:solidFill>
                  <a:srgbClr val="D9D9D9"/>
                </a:solidFill>
                <a:latin typeface="Calibri"/>
                <a:cs typeface="Calibri"/>
              </a:rPr>
              <a:t>Default</a:t>
            </a:r>
            <a:r>
              <a:rPr sz="2400" b="1" i="1" spc="-47" dirty="0">
                <a:solidFill>
                  <a:srgbClr val="D9D9D9"/>
                </a:solidFill>
                <a:latin typeface="Calibri"/>
                <a:cs typeface="Calibri"/>
              </a:rPr>
              <a:t> </a:t>
            </a:r>
            <a:r>
              <a:rPr sz="2400" b="1" i="1" dirty="0">
                <a:solidFill>
                  <a:srgbClr val="D9D9D9"/>
                </a:solidFill>
                <a:latin typeface="Calibri"/>
                <a:cs typeface="Calibri"/>
              </a:rPr>
              <a:t>strategy</a:t>
            </a:r>
            <a:r>
              <a:rPr sz="2400" b="1" i="1" spc="-40" dirty="0">
                <a:solidFill>
                  <a:srgbClr val="D9D9D9"/>
                </a:solidFill>
                <a:latin typeface="Calibri"/>
                <a:cs typeface="Calibri"/>
              </a:rPr>
              <a:t> </a:t>
            </a:r>
            <a:r>
              <a:rPr sz="2400" b="1" i="1" dirty="0">
                <a:solidFill>
                  <a:srgbClr val="D9D9D9"/>
                </a:solidFill>
                <a:latin typeface="Calibri"/>
                <a:cs typeface="Calibri"/>
              </a:rPr>
              <a:t>to</a:t>
            </a:r>
            <a:r>
              <a:rPr sz="2400" b="1" i="1" spc="-47" dirty="0">
                <a:solidFill>
                  <a:srgbClr val="D9D9D9"/>
                </a:solidFill>
                <a:latin typeface="Calibri"/>
                <a:cs typeface="Calibri"/>
              </a:rPr>
              <a:t> </a:t>
            </a:r>
            <a:r>
              <a:rPr sz="2400" b="1" i="1" dirty="0">
                <a:solidFill>
                  <a:srgbClr val="D9D9D9"/>
                </a:solidFill>
                <a:latin typeface="Calibri"/>
                <a:cs typeface="Calibri"/>
              </a:rPr>
              <a:t>maintain</a:t>
            </a:r>
            <a:r>
              <a:rPr sz="2400" b="1" i="1" spc="-60" dirty="0">
                <a:solidFill>
                  <a:srgbClr val="D9D9D9"/>
                </a:solidFill>
                <a:latin typeface="Calibri"/>
                <a:cs typeface="Calibri"/>
              </a:rPr>
              <a:t> </a:t>
            </a:r>
            <a:r>
              <a:rPr sz="2400" b="1" i="1" dirty="0">
                <a:solidFill>
                  <a:srgbClr val="D9D9D9"/>
                </a:solidFill>
                <a:latin typeface="Calibri"/>
                <a:cs typeface="Calibri"/>
              </a:rPr>
              <a:t>reflect</a:t>
            </a:r>
            <a:r>
              <a:rPr sz="2400" b="1" i="1" spc="-53" dirty="0">
                <a:solidFill>
                  <a:srgbClr val="D9D9D9"/>
                </a:solidFill>
                <a:latin typeface="Calibri"/>
                <a:cs typeface="Calibri"/>
              </a:rPr>
              <a:t> </a:t>
            </a:r>
            <a:r>
              <a:rPr sz="2400" b="1" i="1" spc="-13" dirty="0">
                <a:solidFill>
                  <a:srgbClr val="D9D9D9"/>
                </a:solidFill>
                <a:latin typeface="Calibri"/>
                <a:cs typeface="Calibri"/>
              </a:rPr>
              <a:t>history</a:t>
            </a:r>
            <a:endParaRPr sz="2400" dirty="0">
              <a:latin typeface="Calibri"/>
              <a:cs typeface="Calibri"/>
            </a:endParaRPr>
          </a:p>
          <a:p>
            <a:pPr>
              <a:spcBef>
                <a:spcPts val="380"/>
              </a:spcBef>
              <a:buClr>
                <a:srgbClr val="99D3FF"/>
              </a:buClr>
              <a:buFont typeface="Wingdings"/>
              <a:buChar char=""/>
            </a:pPr>
            <a:endParaRPr sz="2400" dirty="0">
              <a:latin typeface="Calibri"/>
              <a:cs typeface="Calibri"/>
            </a:endParaRPr>
          </a:p>
          <a:p>
            <a:pPr marL="397923" indent="-380990">
              <a:buClr>
                <a:srgbClr val="99D3FF"/>
              </a:buClr>
              <a:buFont typeface="Wingdings"/>
              <a:buChar char=""/>
              <a:tabLst>
                <a:tab pos="397923" algn="l"/>
              </a:tabLst>
            </a:pPr>
            <a:r>
              <a:rPr sz="2400" b="1" i="1" dirty="0">
                <a:solidFill>
                  <a:srgbClr val="D9D9D9"/>
                </a:solidFill>
                <a:latin typeface="Calibri"/>
                <a:cs typeface="Calibri"/>
              </a:rPr>
              <a:t>Type</a:t>
            </a:r>
            <a:r>
              <a:rPr sz="2400" b="1" i="1" spc="-33" dirty="0">
                <a:solidFill>
                  <a:srgbClr val="D9D9D9"/>
                </a:solidFill>
                <a:latin typeface="Calibri"/>
                <a:cs typeface="Calibri"/>
              </a:rPr>
              <a:t> </a:t>
            </a:r>
            <a:r>
              <a:rPr sz="2400" b="1" i="1" dirty="0">
                <a:solidFill>
                  <a:srgbClr val="D9D9D9"/>
                </a:solidFill>
                <a:latin typeface="Calibri"/>
                <a:cs typeface="Calibri"/>
              </a:rPr>
              <a:t>1</a:t>
            </a:r>
            <a:r>
              <a:rPr sz="2400" b="1" i="1" spc="-13" dirty="0">
                <a:solidFill>
                  <a:srgbClr val="D9D9D9"/>
                </a:solidFill>
                <a:latin typeface="Calibri"/>
                <a:cs typeface="Calibri"/>
              </a:rPr>
              <a:t> </a:t>
            </a:r>
            <a:r>
              <a:rPr sz="2400" b="1" i="1" dirty="0">
                <a:solidFill>
                  <a:srgbClr val="D9D9D9"/>
                </a:solidFill>
                <a:latin typeface="Calibri"/>
                <a:cs typeface="Calibri"/>
              </a:rPr>
              <a:t>–</a:t>
            </a:r>
            <a:r>
              <a:rPr sz="2400" b="1" i="1" spc="-27" dirty="0">
                <a:solidFill>
                  <a:srgbClr val="D9D9D9"/>
                </a:solidFill>
                <a:latin typeface="Calibri"/>
                <a:cs typeface="Calibri"/>
              </a:rPr>
              <a:t> </a:t>
            </a:r>
            <a:r>
              <a:rPr sz="2400" b="1" i="1" spc="-13" dirty="0">
                <a:solidFill>
                  <a:srgbClr val="D9D9D9"/>
                </a:solidFill>
                <a:latin typeface="Calibri"/>
                <a:cs typeface="Calibri"/>
              </a:rPr>
              <a:t>Static</a:t>
            </a:r>
            <a:endParaRPr sz="2400" dirty="0">
              <a:latin typeface="Calibri"/>
              <a:cs typeface="Calibri"/>
            </a:endParaRPr>
          </a:p>
          <a:p>
            <a:pPr>
              <a:spcBef>
                <a:spcPts val="687"/>
              </a:spcBef>
              <a:buClr>
                <a:srgbClr val="99D3FF"/>
              </a:buClr>
              <a:buFont typeface="Wingdings"/>
              <a:buChar char=""/>
            </a:pPr>
            <a:endParaRPr sz="2400" dirty="0">
              <a:latin typeface="Calibri"/>
              <a:cs typeface="Calibri"/>
            </a:endParaRPr>
          </a:p>
          <a:p>
            <a:pPr marL="417396" indent="-380990">
              <a:buClr>
                <a:srgbClr val="99D3FF"/>
              </a:buClr>
              <a:buFont typeface="Wingdings"/>
              <a:buChar char=""/>
              <a:tabLst>
                <a:tab pos="417396" algn="l"/>
              </a:tabLst>
            </a:pPr>
            <a:r>
              <a:rPr sz="2400" b="1" i="1" dirty="0">
                <a:solidFill>
                  <a:srgbClr val="D9D9D9"/>
                </a:solidFill>
                <a:latin typeface="Calibri"/>
                <a:cs typeface="Calibri"/>
              </a:rPr>
              <a:t>Type</a:t>
            </a:r>
            <a:r>
              <a:rPr sz="2400" b="1" i="1" spc="-47" dirty="0">
                <a:solidFill>
                  <a:srgbClr val="D9D9D9"/>
                </a:solidFill>
                <a:latin typeface="Calibri"/>
                <a:cs typeface="Calibri"/>
              </a:rPr>
              <a:t> </a:t>
            </a:r>
            <a:r>
              <a:rPr sz="2400" b="1" i="1" dirty="0">
                <a:solidFill>
                  <a:srgbClr val="D9D9D9"/>
                </a:solidFill>
                <a:latin typeface="Calibri"/>
                <a:cs typeface="Calibri"/>
              </a:rPr>
              <a:t>3</a:t>
            </a:r>
            <a:r>
              <a:rPr sz="2400" b="1" i="1" spc="-20" dirty="0">
                <a:solidFill>
                  <a:srgbClr val="D9D9D9"/>
                </a:solidFill>
                <a:latin typeface="Calibri"/>
                <a:cs typeface="Calibri"/>
              </a:rPr>
              <a:t> </a:t>
            </a:r>
            <a:r>
              <a:rPr sz="2400" b="1" i="1" dirty="0">
                <a:solidFill>
                  <a:srgbClr val="D9D9D9"/>
                </a:solidFill>
                <a:latin typeface="Calibri"/>
                <a:cs typeface="Calibri"/>
              </a:rPr>
              <a:t>–</a:t>
            </a:r>
            <a:r>
              <a:rPr sz="2400" b="1" i="1" spc="-40" dirty="0">
                <a:solidFill>
                  <a:srgbClr val="D9D9D9"/>
                </a:solidFill>
                <a:latin typeface="Calibri"/>
                <a:cs typeface="Calibri"/>
              </a:rPr>
              <a:t> </a:t>
            </a:r>
            <a:r>
              <a:rPr sz="2400" b="1" i="1" spc="-13" dirty="0">
                <a:solidFill>
                  <a:srgbClr val="D9D9D9"/>
                </a:solidFill>
                <a:latin typeface="Calibri"/>
                <a:cs typeface="Calibri"/>
              </a:rPr>
              <a:t>In-</a:t>
            </a:r>
            <a:r>
              <a:rPr sz="2400" b="1" i="1" dirty="0">
                <a:solidFill>
                  <a:srgbClr val="D9D9D9"/>
                </a:solidFill>
                <a:latin typeface="Calibri"/>
                <a:cs typeface="Calibri"/>
              </a:rPr>
              <a:t>between:</a:t>
            </a:r>
            <a:r>
              <a:rPr sz="2400" b="1" i="1" spc="-40" dirty="0">
                <a:solidFill>
                  <a:srgbClr val="D9D9D9"/>
                </a:solidFill>
                <a:latin typeface="Calibri"/>
                <a:cs typeface="Calibri"/>
              </a:rPr>
              <a:t> </a:t>
            </a:r>
            <a:r>
              <a:rPr sz="2400" b="1" i="1" dirty="0">
                <a:solidFill>
                  <a:srgbClr val="D9D9D9"/>
                </a:solidFill>
                <a:latin typeface="Calibri"/>
                <a:cs typeface="Calibri"/>
              </a:rPr>
              <a:t>Switching</a:t>
            </a:r>
            <a:r>
              <a:rPr sz="2400" b="1" i="1" spc="-60" dirty="0">
                <a:solidFill>
                  <a:srgbClr val="D9D9D9"/>
                </a:solidFill>
                <a:latin typeface="Calibri"/>
                <a:cs typeface="Calibri"/>
              </a:rPr>
              <a:t> </a:t>
            </a:r>
            <a:r>
              <a:rPr sz="2400" b="1" i="1" dirty="0">
                <a:solidFill>
                  <a:srgbClr val="D9D9D9"/>
                </a:solidFill>
                <a:latin typeface="Calibri"/>
                <a:cs typeface="Calibri"/>
              </a:rPr>
              <a:t>back</a:t>
            </a:r>
            <a:r>
              <a:rPr sz="2400" b="1" i="1" spc="-47" dirty="0">
                <a:solidFill>
                  <a:srgbClr val="D9D9D9"/>
                </a:solidFill>
                <a:latin typeface="Calibri"/>
                <a:cs typeface="Calibri"/>
              </a:rPr>
              <a:t> </a:t>
            </a:r>
            <a:r>
              <a:rPr sz="2400" b="1" i="1" dirty="0">
                <a:solidFill>
                  <a:srgbClr val="D9D9D9"/>
                </a:solidFill>
                <a:latin typeface="Calibri"/>
                <a:cs typeface="Calibri"/>
              </a:rPr>
              <a:t>&amp;</a:t>
            </a:r>
            <a:r>
              <a:rPr sz="2400" b="1" i="1" spc="-40" dirty="0">
                <a:solidFill>
                  <a:srgbClr val="D9D9D9"/>
                </a:solidFill>
                <a:latin typeface="Calibri"/>
                <a:cs typeface="Calibri"/>
              </a:rPr>
              <a:t> </a:t>
            </a:r>
            <a:r>
              <a:rPr sz="2400" b="1" i="1" dirty="0">
                <a:solidFill>
                  <a:srgbClr val="D9D9D9"/>
                </a:solidFill>
                <a:latin typeface="Calibri"/>
                <a:cs typeface="Calibri"/>
              </a:rPr>
              <a:t>forth</a:t>
            </a:r>
            <a:r>
              <a:rPr sz="2400" b="1" i="1" spc="-20" dirty="0">
                <a:solidFill>
                  <a:srgbClr val="D9D9D9"/>
                </a:solidFill>
                <a:latin typeface="Calibri"/>
                <a:cs typeface="Calibri"/>
              </a:rPr>
              <a:t> </a:t>
            </a:r>
            <a:r>
              <a:rPr sz="2400" b="1" i="1" dirty="0">
                <a:solidFill>
                  <a:srgbClr val="D9D9D9"/>
                </a:solidFill>
                <a:latin typeface="Calibri"/>
                <a:cs typeface="Calibri"/>
              </a:rPr>
              <a:t>between</a:t>
            </a:r>
            <a:r>
              <a:rPr sz="2400" b="1" i="1" spc="-47" dirty="0">
                <a:solidFill>
                  <a:srgbClr val="D9D9D9"/>
                </a:solidFill>
                <a:latin typeface="Calibri"/>
                <a:cs typeface="Calibri"/>
              </a:rPr>
              <a:t> </a:t>
            </a:r>
            <a:r>
              <a:rPr sz="2400" b="1" i="1" spc="-13" dirty="0">
                <a:solidFill>
                  <a:srgbClr val="D9D9D9"/>
                </a:solidFill>
                <a:latin typeface="Calibri"/>
                <a:cs typeface="Calibri"/>
              </a:rPr>
              <a:t>versions</a:t>
            </a:r>
            <a:endParaRPr sz="2400" dirty="0">
              <a:latin typeface="Calibri"/>
              <a:cs typeface="Calibri"/>
            </a:endParaRPr>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extLst>
              <p:ext uri="{D42A27DB-BD31-4B8C-83A1-F6EECF244321}">
                <p14:modId xmlns:p14="http://schemas.microsoft.com/office/powerpoint/2010/main" val="2980709951"/>
              </p:ext>
            </p:extLst>
          </p:nvPr>
        </p:nvGraphicFramePr>
        <p:xfrm>
          <a:off x="2460414" y="1630341"/>
          <a:ext cx="7701280" cy="988060"/>
        </p:xfrm>
        <a:graphic>
          <a:graphicData uri="http://schemas.openxmlformats.org/drawingml/2006/table">
            <a:tbl>
              <a:tblPr firstRow="1" bandRow="1">
                <a:tableStyleId>{2D5ABB26-0587-4C30-8999-92F81FD0307C}</a:tableStyleId>
              </a:tblPr>
              <a:tblGrid>
                <a:gridCol w="119888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2133600">
                  <a:extLst>
                    <a:ext uri="{9D8B030D-6E8A-4147-A177-3AD203B41FA5}">
                      <a16:colId xmlns:a16="http://schemas.microsoft.com/office/drawing/2014/main" val="20002"/>
                    </a:ext>
                  </a:extLst>
                </a:gridCol>
                <a:gridCol w="1320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226060">
                <a:tc>
                  <a:txBody>
                    <a:bodyPr/>
                    <a:lstStyle/>
                    <a:p>
                      <a:pPr algn="ctr">
                        <a:lnSpc>
                          <a:spcPct val="100000"/>
                        </a:lnSpc>
                        <a:spcBef>
                          <a:spcPts val="60"/>
                        </a:spcBef>
                      </a:pPr>
                      <a:r>
                        <a:rPr sz="1400" b="1" spc="-10" dirty="0">
                          <a:solidFill>
                            <a:schemeClr val="bg1"/>
                          </a:solidFill>
                          <a:latin typeface="Arial"/>
                          <a:cs typeface="Arial"/>
                        </a:rPr>
                        <a:t>Product_PK</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635" algn="ctr">
                        <a:lnSpc>
                          <a:spcPct val="100000"/>
                        </a:lnSpc>
                        <a:spcBef>
                          <a:spcPts val="60"/>
                        </a:spcBef>
                      </a:pPr>
                      <a:r>
                        <a:rPr sz="1400" b="1" spc="-10" dirty="0">
                          <a:solidFill>
                            <a:schemeClr val="bg1"/>
                          </a:solidFill>
                          <a:latin typeface="Arial"/>
                          <a:cs typeface="Arial"/>
                        </a:rPr>
                        <a:t>Product_ID</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905" algn="ctr">
                        <a:lnSpc>
                          <a:spcPct val="100000"/>
                        </a:lnSpc>
                        <a:spcBef>
                          <a:spcPts val="60"/>
                        </a:spcBef>
                      </a:pPr>
                      <a:r>
                        <a:rPr sz="1400" b="1" spc="-20" dirty="0">
                          <a:solidFill>
                            <a:schemeClr val="bg1"/>
                          </a:solidFill>
                          <a:latin typeface="Arial"/>
                          <a:cs typeface="Arial"/>
                        </a:rPr>
                        <a:t>Name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5080" algn="ctr">
                        <a:lnSpc>
                          <a:spcPct val="100000"/>
                        </a:lnSpc>
                        <a:spcBef>
                          <a:spcPts val="60"/>
                        </a:spcBef>
                      </a:pPr>
                      <a:r>
                        <a:rPr sz="1400" b="1" spc="-10" dirty="0">
                          <a:solidFill>
                            <a:schemeClr val="bg1"/>
                          </a:solidFill>
                          <a:latin typeface="Arial"/>
                          <a:cs typeface="Arial"/>
                        </a:rPr>
                        <a:t>Category</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3810" algn="ctr">
                        <a:lnSpc>
                          <a:spcPct val="100000"/>
                        </a:lnSpc>
                        <a:spcBef>
                          <a:spcPts val="60"/>
                        </a:spcBef>
                      </a:pPr>
                      <a:r>
                        <a:rPr sz="1400" b="1" spc="-10" dirty="0">
                          <a:solidFill>
                            <a:schemeClr val="bg1"/>
                          </a:solidFill>
                          <a:latin typeface="Arial"/>
                          <a:cs typeface="Arial"/>
                        </a:rPr>
                        <a:t>Prev_Category</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marL="635" algn="ctr">
                        <a:lnSpc>
                          <a:spcPct val="100000"/>
                        </a:lnSpc>
                        <a:spcBef>
                          <a:spcPts val="225"/>
                        </a:spcBef>
                      </a:pPr>
                      <a:r>
                        <a:rPr sz="1400" spc="-50" dirty="0">
                          <a:latin typeface="Arial MT"/>
                          <a:cs typeface="Arial MT"/>
                        </a:rPr>
                        <a:t>1</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SG-</a:t>
                      </a:r>
                      <a:r>
                        <a:rPr sz="1400" spc="-25" dirty="0">
                          <a:latin typeface="Arial MT"/>
                          <a:cs typeface="Arial MT"/>
                        </a:rPr>
                        <a:t>TR7</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dirty="0">
                          <a:latin typeface="Arial MT"/>
                          <a:cs typeface="Arial MT"/>
                        </a:rPr>
                        <a:t>Sunglases</a:t>
                      </a:r>
                      <a:r>
                        <a:rPr sz="1400" spc="-55" dirty="0">
                          <a:latin typeface="Arial MT"/>
                          <a:cs typeface="Arial MT"/>
                        </a:rPr>
                        <a:t> </a:t>
                      </a:r>
                      <a:r>
                        <a:rPr sz="1400" dirty="0">
                          <a:latin typeface="Arial MT"/>
                          <a:cs typeface="Arial MT"/>
                        </a:rPr>
                        <a:t>TR-</a:t>
                      </a:r>
                      <a:r>
                        <a:rPr sz="1400" spc="-50" dirty="0">
                          <a:latin typeface="Arial MT"/>
                          <a:cs typeface="Arial MT"/>
                        </a:rPr>
                        <a:t>7</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10" dirty="0">
                          <a:latin typeface="Arial MT"/>
                          <a:cs typeface="Arial MT"/>
                        </a:rPr>
                        <a:t>Assecoirs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Assecoirs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marL="635"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10" dirty="0">
                          <a:latin typeface="Arial MT"/>
                          <a:cs typeface="Arial MT"/>
                        </a:rPr>
                        <a:t>CH-</a:t>
                      </a:r>
                      <a:r>
                        <a:rPr sz="1400" spc="-25" dirty="0">
                          <a:latin typeface="Arial MT"/>
                          <a:cs typeface="Arial MT"/>
                        </a:rPr>
                        <a:t>B70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dirty="0">
                          <a:latin typeface="Arial MT"/>
                          <a:cs typeface="Arial MT"/>
                        </a:rPr>
                        <a:t>Chocolate</a:t>
                      </a:r>
                      <a:r>
                        <a:rPr sz="1400" spc="-25" dirty="0">
                          <a:latin typeface="Arial MT"/>
                          <a:cs typeface="Arial MT"/>
                        </a:rPr>
                        <a:t> </a:t>
                      </a:r>
                      <a:r>
                        <a:rPr sz="1400" dirty="0">
                          <a:latin typeface="Arial MT"/>
                          <a:cs typeface="Arial MT"/>
                        </a:rPr>
                        <a:t>bar</a:t>
                      </a:r>
                      <a:r>
                        <a:rPr sz="1400" spc="-10" dirty="0">
                          <a:latin typeface="Arial MT"/>
                          <a:cs typeface="Arial MT"/>
                        </a:rPr>
                        <a:t> </a:t>
                      </a:r>
                      <a:r>
                        <a:rPr sz="1400" dirty="0">
                          <a:latin typeface="Arial MT"/>
                          <a:cs typeface="Arial MT"/>
                        </a:rPr>
                        <a:t>70%</a:t>
                      </a:r>
                      <a:r>
                        <a:rPr sz="1400" spc="-15" dirty="0">
                          <a:latin typeface="Arial MT"/>
                          <a:cs typeface="Arial MT"/>
                        </a:rPr>
                        <a:t> </a:t>
                      </a:r>
                      <a:r>
                        <a:rPr sz="1400" spc="-10" dirty="0">
                          <a:latin typeface="Arial MT"/>
                          <a:cs typeface="Arial MT"/>
                        </a:rPr>
                        <a:t>cacao</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Sweets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5"/>
                        </a:spcBef>
                      </a:pPr>
                      <a:r>
                        <a:rPr sz="1400" spc="-10" dirty="0">
                          <a:latin typeface="Arial MT"/>
                          <a:cs typeface="Arial MT"/>
                        </a:rPr>
                        <a:t>Sweets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marL="635" algn="ctr">
                        <a:lnSpc>
                          <a:spcPct val="10000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OT-</a:t>
                      </a:r>
                      <a:r>
                        <a:rPr sz="1400" spc="-25" dirty="0">
                          <a:latin typeface="Arial MT"/>
                          <a:cs typeface="Arial MT"/>
                        </a:rPr>
                        <a:t>BSC</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dirty="0">
                          <a:latin typeface="Arial MT"/>
                          <a:cs typeface="Arial MT"/>
                        </a:rPr>
                        <a:t>Oat</a:t>
                      </a:r>
                      <a:r>
                        <a:rPr sz="1400" spc="-25" dirty="0">
                          <a:latin typeface="Arial MT"/>
                          <a:cs typeface="Arial MT"/>
                        </a:rPr>
                        <a:t> </a:t>
                      </a:r>
                      <a:r>
                        <a:rPr sz="1400" dirty="0">
                          <a:latin typeface="Arial MT"/>
                          <a:cs typeface="Arial MT"/>
                        </a:rPr>
                        <a:t>meal</a:t>
                      </a:r>
                      <a:r>
                        <a:rPr sz="1400" spc="-35" dirty="0">
                          <a:latin typeface="Arial MT"/>
                          <a:cs typeface="Arial MT"/>
                        </a:rPr>
                        <a:t> </a:t>
                      </a:r>
                      <a:r>
                        <a:rPr sz="1400" spc="-10" dirty="0">
                          <a:latin typeface="Arial MT"/>
                          <a:cs typeface="Arial MT"/>
                        </a:rPr>
                        <a:t>biscuits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F1F1"/>
                    </a:solidFill>
                  </a:tcPr>
                </a:tc>
                <a:tc>
                  <a:txBody>
                    <a:bodyPr/>
                    <a:lstStyle/>
                    <a:p>
                      <a:pPr marL="2540" algn="ctr">
                        <a:lnSpc>
                          <a:spcPct val="100000"/>
                        </a:lnSpc>
                        <a:spcBef>
                          <a:spcPts val="225"/>
                        </a:spcBef>
                      </a:pPr>
                      <a:r>
                        <a:rPr sz="1400" spc="-10" dirty="0">
                          <a:latin typeface="Arial MT"/>
                          <a:cs typeface="Arial MT"/>
                        </a:rPr>
                        <a:t>Biscuit</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66DBFF"/>
                    </a:solidFill>
                  </a:tcPr>
                </a:tc>
                <a:tc>
                  <a:txBody>
                    <a:bodyPr/>
                    <a:lstStyle/>
                    <a:p>
                      <a:pPr marL="2540" algn="ctr">
                        <a:lnSpc>
                          <a:spcPct val="100000"/>
                        </a:lnSpc>
                        <a:spcBef>
                          <a:spcPts val="225"/>
                        </a:spcBef>
                      </a:pPr>
                      <a:r>
                        <a:rPr sz="1400" spc="-10" dirty="0">
                          <a:latin typeface="Arial MT"/>
                          <a:cs typeface="Arial MT"/>
                        </a:rPr>
                        <a:t>Sweets</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66DBFF"/>
                    </a:solidFill>
                  </a:tcPr>
                </a:tc>
                <a:extLst>
                  <a:ext uri="{0D108BD9-81ED-4DB2-BD59-A6C34878D82A}">
                    <a16:rowId xmlns:a16="http://schemas.microsoft.com/office/drawing/2014/main" val="10003"/>
                  </a:ext>
                </a:extLst>
              </a:tr>
            </a:tbl>
          </a:graphicData>
        </a:graphic>
      </p:graphicFrame>
      <p:sp>
        <p:nvSpPr>
          <p:cNvPr id="4" name="object 4"/>
          <p:cNvSpPr txBox="1"/>
          <p:nvPr/>
        </p:nvSpPr>
        <p:spPr>
          <a:xfrm>
            <a:off x="2259245" y="3175339"/>
            <a:ext cx="5881793"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i="1" dirty="0">
                <a:solidFill>
                  <a:srgbClr val="D9D9D9"/>
                </a:solidFill>
                <a:latin typeface="Calibri"/>
                <a:cs typeface="Calibri"/>
              </a:rPr>
              <a:t>Instead</a:t>
            </a:r>
            <a:r>
              <a:rPr sz="2400" b="1" i="1" spc="-20" dirty="0">
                <a:solidFill>
                  <a:srgbClr val="D9D9D9"/>
                </a:solidFill>
                <a:latin typeface="Calibri"/>
                <a:cs typeface="Calibri"/>
              </a:rPr>
              <a:t> </a:t>
            </a:r>
            <a:r>
              <a:rPr sz="2400" b="1" i="1" dirty="0">
                <a:solidFill>
                  <a:srgbClr val="D9D9D9"/>
                </a:solidFill>
                <a:latin typeface="Calibri"/>
                <a:cs typeface="Calibri"/>
              </a:rPr>
              <a:t>of</a:t>
            </a:r>
            <a:r>
              <a:rPr sz="2400" b="1" i="1" spc="-20" dirty="0">
                <a:solidFill>
                  <a:srgbClr val="D9D9D9"/>
                </a:solidFill>
                <a:latin typeface="Calibri"/>
                <a:cs typeface="Calibri"/>
              </a:rPr>
              <a:t> </a:t>
            </a:r>
            <a:r>
              <a:rPr sz="2400" b="1" i="1" dirty="0">
                <a:solidFill>
                  <a:srgbClr val="D9D9D9"/>
                </a:solidFill>
                <a:latin typeface="Calibri"/>
                <a:cs typeface="Calibri"/>
              </a:rPr>
              <a:t>adding</a:t>
            </a:r>
            <a:r>
              <a:rPr sz="2400" b="1" i="1" spc="-13" dirty="0">
                <a:solidFill>
                  <a:srgbClr val="D9D9D9"/>
                </a:solidFill>
                <a:latin typeface="Calibri"/>
                <a:cs typeface="Calibri"/>
              </a:rPr>
              <a:t> </a:t>
            </a:r>
            <a:r>
              <a:rPr sz="2400" b="1" i="1" dirty="0">
                <a:solidFill>
                  <a:srgbClr val="D9D9D9"/>
                </a:solidFill>
                <a:latin typeface="Calibri"/>
                <a:cs typeface="Calibri"/>
              </a:rPr>
              <a:t>a</a:t>
            </a:r>
            <a:r>
              <a:rPr sz="2400" b="1" i="1" spc="-13" dirty="0">
                <a:solidFill>
                  <a:srgbClr val="D9D9D9"/>
                </a:solidFill>
                <a:latin typeface="Calibri"/>
                <a:cs typeface="Calibri"/>
              </a:rPr>
              <a:t> </a:t>
            </a:r>
            <a:r>
              <a:rPr sz="2400" b="1" i="1" dirty="0">
                <a:solidFill>
                  <a:srgbClr val="D9D9D9"/>
                </a:solidFill>
                <a:latin typeface="Calibri"/>
                <a:cs typeface="Calibri"/>
              </a:rPr>
              <a:t>row –</a:t>
            </a:r>
            <a:r>
              <a:rPr sz="2400" b="1" i="1" spc="-27" dirty="0">
                <a:solidFill>
                  <a:srgbClr val="D9D9D9"/>
                </a:solidFill>
                <a:latin typeface="Calibri"/>
                <a:cs typeface="Calibri"/>
              </a:rPr>
              <a:t> </a:t>
            </a:r>
            <a:r>
              <a:rPr sz="2400" b="1" i="1" dirty="0">
                <a:solidFill>
                  <a:srgbClr val="D9D9D9"/>
                </a:solidFill>
                <a:latin typeface="Calibri"/>
                <a:cs typeface="Calibri"/>
              </a:rPr>
              <a:t>we</a:t>
            </a:r>
            <a:r>
              <a:rPr sz="2400" b="1" i="1" spc="-20" dirty="0">
                <a:solidFill>
                  <a:srgbClr val="D9D9D9"/>
                </a:solidFill>
                <a:latin typeface="Calibri"/>
                <a:cs typeface="Calibri"/>
              </a:rPr>
              <a:t> </a:t>
            </a:r>
            <a:r>
              <a:rPr sz="2400" b="1" i="1" dirty="0">
                <a:solidFill>
                  <a:srgbClr val="D9D9D9"/>
                </a:solidFill>
                <a:latin typeface="Calibri"/>
                <a:cs typeface="Calibri"/>
              </a:rPr>
              <a:t>add</a:t>
            </a:r>
            <a:r>
              <a:rPr sz="2400" b="1" i="1" spc="-7" dirty="0">
                <a:solidFill>
                  <a:srgbClr val="D9D9D9"/>
                </a:solidFill>
                <a:latin typeface="Calibri"/>
                <a:cs typeface="Calibri"/>
              </a:rPr>
              <a:t> </a:t>
            </a:r>
            <a:r>
              <a:rPr sz="2400" b="1" i="1" dirty="0">
                <a:solidFill>
                  <a:srgbClr val="D9D9D9"/>
                </a:solidFill>
                <a:latin typeface="Calibri"/>
                <a:cs typeface="Calibri"/>
              </a:rPr>
              <a:t>a</a:t>
            </a:r>
            <a:r>
              <a:rPr sz="2400" b="1" i="1" spc="-20" dirty="0">
                <a:solidFill>
                  <a:srgbClr val="D9D9D9"/>
                </a:solidFill>
                <a:latin typeface="Calibri"/>
                <a:cs typeface="Calibri"/>
              </a:rPr>
              <a:t> </a:t>
            </a:r>
            <a:r>
              <a:rPr sz="2400" b="1" i="1" spc="-13" dirty="0">
                <a:solidFill>
                  <a:srgbClr val="D9D9D9"/>
                </a:solidFill>
                <a:latin typeface="Calibri"/>
                <a:cs typeface="Calibri"/>
              </a:rPr>
              <a:t>column</a:t>
            </a:r>
            <a:endParaRPr sz="2400">
              <a:latin typeface="Calibri"/>
              <a:cs typeface="Calibri"/>
            </a:endParaRPr>
          </a:p>
        </p:txBody>
      </p:sp>
      <p:sp>
        <p:nvSpPr>
          <p:cNvPr id="7" name="object 2">
            <a:extLst>
              <a:ext uri="{FF2B5EF4-FFF2-40B4-BE49-F238E27FC236}">
                <a16:creationId xmlns:a16="http://schemas.microsoft.com/office/drawing/2014/main" id="{9FF4BD9A-26B9-8767-DDA8-AE12D428FD4D}"/>
              </a:ext>
            </a:extLst>
          </p:cNvPr>
          <p:cNvSpPr txBox="1">
            <a:spLocks noGrp="1"/>
          </p:cNvSpPr>
          <p:nvPr>
            <p:ph type="title"/>
          </p:nvPr>
        </p:nvSpPr>
        <p:spPr>
          <a:xfrm>
            <a:off x="2556934" y="378341"/>
            <a:ext cx="7508240" cy="695062"/>
          </a:xfrm>
          <a:prstGeom prst="rect">
            <a:avLst/>
          </a:prstGeom>
        </p:spPr>
        <p:txBody>
          <a:bodyPr vert="horz" wrap="square" lIns="0" tIns="17780" rIns="0" bIns="0" rtlCol="0" anchor="ctr">
            <a:spAutoFit/>
          </a:bodyPr>
          <a:lstStyle/>
          <a:p>
            <a:pPr marL="617205">
              <a:lnSpc>
                <a:spcPct val="100000"/>
              </a:lnSpc>
              <a:spcBef>
                <a:spcPts val="140"/>
              </a:spcBef>
            </a:pPr>
            <a:r>
              <a:rPr dirty="0">
                <a:solidFill>
                  <a:schemeClr val="bg1"/>
                </a:solidFill>
                <a:latin typeface="+mn-lt"/>
              </a:rPr>
              <a:t>Type</a:t>
            </a:r>
            <a:r>
              <a:rPr spc="-73" dirty="0">
                <a:solidFill>
                  <a:schemeClr val="bg1"/>
                </a:solidFill>
                <a:latin typeface="+mn-lt"/>
              </a:rPr>
              <a:t> </a:t>
            </a:r>
            <a:r>
              <a:rPr dirty="0">
                <a:solidFill>
                  <a:schemeClr val="bg1"/>
                </a:solidFill>
                <a:latin typeface="+mn-lt"/>
              </a:rPr>
              <a:t>3:</a:t>
            </a:r>
            <a:r>
              <a:rPr spc="-60" dirty="0">
                <a:solidFill>
                  <a:schemeClr val="bg1"/>
                </a:solidFill>
                <a:latin typeface="+mn-lt"/>
              </a:rPr>
              <a:t> </a:t>
            </a:r>
            <a:r>
              <a:rPr dirty="0">
                <a:solidFill>
                  <a:schemeClr val="bg1"/>
                </a:solidFill>
                <a:latin typeface="+mn-lt"/>
              </a:rPr>
              <a:t>Additonal</a:t>
            </a:r>
            <a:r>
              <a:rPr spc="-27" dirty="0">
                <a:solidFill>
                  <a:schemeClr val="bg1"/>
                </a:solidFill>
                <a:latin typeface="+mn-lt"/>
              </a:rPr>
              <a:t> </a:t>
            </a:r>
            <a:r>
              <a:rPr spc="-13" dirty="0">
                <a:solidFill>
                  <a:schemeClr val="bg1"/>
                </a:solidFill>
                <a:latin typeface="+mn-lt"/>
              </a:rPr>
              <a:t>Attributes</a:t>
            </a:r>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extLst>
              <p:ext uri="{D42A27DB-BD31-4B8C-83A1-F6EECF244321}">
                <p14:modId xmlns:p14="http://schemas.microsoft.com/office/powerpoint/2010/main" val="973853125"/>
              </p:ext>
            </p:extLst>
          </p:nvPr>
        </p:nvGraphicFramePr>
        <p:xfrm>
          <a:off x="2460414" y="1630341"/>
          <a:ext cx="8124760" cy="1281825"/>
        </p:xfrm>
        <a:graphic>
          <a:graphicData uri="http://schemas.openxmlformats.org/drawingml/2006/table">
            <a:tbl>
              <a:tblPr firstRow="1" bandRow="1">
                <a:tableStyleId>{2D5ABB26-0587-4C30-8999-92F81FD0307C}</a:tableStyleId>
              </a:tblPr>
              <a:tblGrid>
                <a:gridCol w="1264804">
                  <a:extLst>
                    <a:ext uri="{9D8B030D-6E8A-4147-A177-3AD203B41FA5}">
                      <a16:colId xmlns:a16="http://schemas.microsoft.com/office/drawing/2014/main" val="20000"/>
                    </a:ext>
                  </a:extLst>
                </a:gridCol>
                <a:gridCol w="1286242">
                  <a:extLst>
                    <a:ext uri="{9D8B030D-6E8A-4147-A177-3AD203B41FA5}">
                      <a16:colId xmlns:a16="http://schemas.microsoft.com/office/drawing/2014/main" val="20001"/>
                    </a:ext>
                  </a:extLst>
                </a:gridCol>
                <a:gridCol w="2250923">
                  <a:extLst>
                    <a:ext uri="{9D8B030D-6E8A-4147-A177-3AD203B41FA5}">
                      <a16:colId xmlns:a16="http://schemas.microsoft.com/office/drawing/2014/main" val="20002"/>
                    </a:ext>
                  </a:extLst>
                </a:gridCol>
                <a:gridCol w="1393428">
                  <a:extLst>
                    <a:ext uri="{9D8B030D-6E8A-4147-A177-3AD203B41FA5}">
                      <a16:colId xmlns:a16="http://schemas.microsoft.com/office/drawing/2014/main" val="20003"/>
                    </a:ext>
                  </a:extLst>
                </a:gridCol>
                <a:gridCol w="1929363">
                  <a:extLst>
                    <a:ext uri="{9D8B030D-6E8A-4147-A177-3AD203B41FA5}">
                      <a16:colId xmlns:a16="http://schemas.microsoft.com/office/drawing/2014/main" val="20004"/>
                    </a:ext>
                  </a:extLst>
                </a:gridCol>
              </a:tblGrid>
              <a:tr h="293271">
                <a:tc>
                  <a:txBody>
                    <a:bodyPr/>
                    <a:lstStyle/>
                    <a:p>
                      <a:pPr algn="ctr">
                        <a:lnSpc>
                          <a:spcPct val="100000"/>
                        </a:lnSpc>
                        <a:spcBef>
                          <a:spcPts val="60"/>
                        </a:spcBef>
                      </a:pPr>
                      <a:r>
                        <a:rPr sz="1400" b="1" spc="-10" dirty="0">
                          <a:solidFill>
                            <a:schemeClr val="bg1"/>
                          </a:solidFill>
                          <a:latin typeface="Arial"/>
                          <a:cs typeface="Arial"/>
                        </a:rPr>
                        <a:t>Product_PK</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635" algn="ctr">
                        <a:lnSpc>
                          <a:spcPct val="100000"/>
                        </a:lnSpc>
                        <a:spcBef>
                          <a:spcPts val="60"/>
                        </a:spcBef>
                      </a:pPr>
                      <a:r>
                        <a:rPr sz="1400" b="1" spc="-10" dirty="0">
                          <a:solidFill>
                            <a:schemeClr val="bg1"/>
                          </a:solidFill>
                          <a:latin typeface="Arial"/>
                          <a:cs typeface="Arial"/>
                        </a:rPr>
                        <a:t>Product_ID</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905" algn="ctr">
                        <a:lnSpc>
                          <a:spcPct val="100000"/>
                        </a:lnSpc>
                        <a:spcBef>
                          <a:spcPts val="60"/>
                        </a:spcBef>
                      </a:pPr>
                      <a:r>
                        <a:rPr sz="1400" b="1" spc="-20" dirty="0">
                          <a:solidFill>
                            <a:schemeClr val="bg1"/>
                          </a:solidFill>
                          <a:latin typeface="Arial"/>
                          <a:cs typeface="Arial"/>
                        </a:rPr>
                        <a:t>Name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5080" algn="ctr">
                        <a:lnSpc>
                          <a:spcPct val="100000"/>
                        </a:lnSpc>
                        <a:spcBef>
                          <a:spcPts val="60"/>
                        </a:spcBef>
                      </a:pPr>
                      <a:r>
                        <a:rPr sz="1400" b="1" spc="-10" dirty="0">
                          <a:solidFill>
                            <a:schemeClr val="bg1"/>
                          </a:solidFill>
                          <a:latin typeface="Arial"/>
                          <a:cs typeface="Arial"/>
                        </a:rPr>
                        <a:t>Category</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3810" algn="ctr">
                        <a:lnSpc>
                          <a:spcPct val="100000"/>
                        </a:lnSpc>
                        <a:spcBef>
                          <a:spcPts val="60"/>
                        </a:spcBef>
                      </a:pPr>
                      <a:r>
                        <a:rPr sz="1400" b="1" spc="-10" dirty="0">
                          <a:solidFill>
                            <a:schemeClr val="bg1"/>
                          </a:solidFill>
                          <a:latin typeface="Arial"/>
                          <a:cs typeface="Arial"/>
                        </a:rPr>
                        <a:t>Prev_Category</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329518">
                <a:tc>
                  <a:txBody>
                    <a:bodyPr/>
                    <a:lstStyle/>
                    <a:p>
                      <a:pPr marL="635" algn="ctr">
                        <a:lnSpc>
                          <a:spcPct val="100000"/>
                        </a:lnSpc>
                        <a:spcBef>
                          <a:spcPts val="225"/>
                        </a:spcBef>
                      </a:pPr>
                      <a:r>
                        <a:rPr sz="1400" spc="-50" dirty="0">
                          <a:latin typeface="Arial MT"/>
                          <a:cs typeface="Arial MT"/>
                        </a:rPr>
                        <a:t>1</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SG-</a:t>
                      </a:r>
                      <a:r>
                        <a:rPr sz="1400" spc="-25" dirty="0">
                          <a:latin typeface="Arial MT"/>
                          <a:cs typeface="Arial MT"/>
                        </a:rPr>
                        <a:t>TR7</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dirty="0">
                          <a:latin typeface="Arial MT"/>
                          <a:cs typeface="Arial MT"/>
                        </a:rPr>
                        <a:t>Sunglases</a:t>
                      </a:r>
                      <a:r>
                        <a:rPr sz="1400" spc="-55" dirty="0">
                          <a:latin typeface="Arial MT"/>
                          <a:cs typeface="Arial MT"/>
                        </a:rPr>
                        <a:t> </a:t>
                      </a:r>
                      <a:r>
                        <a:rPr sz="1400" dirty="0">
                          <a:latin typeface="Arial MT"/>
                          <a:cs typeface="Arial MT"/>
                        </a:rPr>
                        <a:t>TR-</a:t>
                      </a:r>
                      <a:r>
                        <a:rPr sz="1400" spc="-50" dirty="0">
                          <a:latin typeface="Arial MT"/>
                          <a:cs typeface="Arial MT"/>
                        </a:rPr>
                        <a:t>7</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10" dirty="0">
                          <a:latin typeface="Arial MT"/>
                          <a:cs typeface="Arial MT"/>
                        </a:rPr>
                        <a:t>Assecoirs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Assecoirs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329518">
                <a:tc>
                  <a:txBody>
                    <a:bodyPr/>
                    <a:lstStyle/>
                    <a:p>
                      <a:pPr marL="635"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10" dirty="0">
                          <a:latin typeface="Arial MT"/>
                          <a:cs typeface="Arial MT"/>
                        </a:rPr>
                        <a:t>CH-</a:t>
                      </a:r>
                      <a:r>
                        <a:rPr sz="1400" spc="-25" dirty="0">
                          <a:latin typeface="Arial MT"/>
                          <a:cs typeface="Arial MT"/>
                        </a:rPr>
                        <a:t>B70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dirty="0">
                          <a:latin typeface="Arial MT"/>
                          <a:cs typeface="Arial MT"/>
                        </a:rPr>
                        <a:t>Chocolate</a:t>
                      </a:r>
                      <a:r>
                        <a:rPr sz="1400" spc="-25" dirty="0">
                          <a:latin typeface="Arial MT"/>
                          <a:cs typeface="Arial MT"/>
                        </a:rPr>
                        <a:t> </a:t>
                      </a:r>
                      <a:r>
                        <a:rPr sz="1400" dirty="0">
                          <a:latin typeface="Arial MT"/>
                          <a:cs typeface="Arial MT"/>
                        </a:rPr>
                        <a:t>bar</a:t>
                      </a:r>
                      <a:r>
                        <a:rPr sz="1400" spc="-10" dirty="0">
                          <a:latin typeface="Arial MT"/>
                          <a:cs typeface="Arial MT"/>
                        </a:rPr>
                        <a:t> </a:t>
                      </a:r>
                      <a:r>
                        <a:rPr sz="1400" dirty="0">
                          <a:latin typeface="Arial MT"/>
                          <a:cs typeface="Arial MT"/>
                        </a:rPr>
                        <a:t>70%</a:t>
                      </a:r>
                      <a:r>
                        <a:rPr sz="1400" spc="-15" dirty="0">
                          <a:latin typeface="Arial MT"/>
                          <a:cs typeface="Arial MT"/>
                        </a:rPr>
                        <a:t> </a:t>
                      </a:r>
                      <a:r>
                        <a:rPr sz="1400" spc="-10" dirty="0">
                          <a:latin typeface="Arial MT"/>
                          <a:cs typeface="Arial MT"/>
                        </a:rPr>
                        <a:t>cacao</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Sweets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5"/>
                        </a:spcBef>
                      </a:pPr>
                      <a:r>
                        <a:rPr sz="1400" spc="-10" dirty="0">
                          <a:latin typeface="Arial MT"/>
                          <a:cs typeface="Arial MT"/>
                        </a:rPr>
                        <a:t>Sweets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329518">
                <a:tc>
                  <a:txBody>
                    <a:bodyPr/>
                    <a:lstStyle/>
                    <a:p>
                      <a:pPr marL="635" algn="ctr">
                        <a:lnSpc>
                          <a:spcPct val="10000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OT-</a:t>
                      </a:r>
                      <a:r>
                        <a:rPr sz="1400" spc="-25" dirty="0">
                          <a:latin typeface="Arial MT"/>
                          <a:cs typeface="Arial MT"/>
                        </a:rPr>
                        <a:t>BSC</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dirty="0">
                          <a:latin typeface="Arial MT"/>
                          <a:cs typeface="Arial MT"/>
                        </a:rPr>
                        <a:t>Oat</a:t>
                      </a:r>
                      <a:r>
                        <a:rPr sz="1400" spc="-25" dirty="0">
                          <a:latin typeface="Arial MT"/>
                          <a:cs typeface="Arial MT"/>
                        </a:rPr>
                        <a:t> </a:t>
                      </a:r>
                      <a:r>
                        <a:rPr sz="1400" dirty="0">
                          <a:latin typeface="Arial MT"/>
                          <a:cs typeface="Arial MT"/>
                        </a:rPr>
                        <a:t>meal</a:t>
                      </a:r>
                      <a:r>
                        <a:rPr sz="1400" spc="-35" dirty="0">
                          <a:latin typeface="Arial MT"/>
                          <a:cs typeface="Arial MT"/>
                        </a:rPr>
                        <a:t> </a:t>
                      </a:r>
                      <a:r>
                        <a:rPr sz="1400" spc="-10" dirty="0">
                          <a:latin typeface="Arial MT"/>
                          <a:cs typeface="Arial MT"/>
                        </a:rPr>
                        <a:t>biscuits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F1F1"/>
                    </a:solidFill>
                  </a:tcPr>
                </a:tc>
                <a:tc>
                  <a:txBody>
                    <a:bodyPr/>
                    <a:lstStyle/>
                    <a:p>
                      <a:pPr marL="2540" algn="ctr">
                        <a:lnSpc>
                          <a:spcPct val="100000"/>
                        </a:lnSpc>
                        <a:spcBef>
                          <a:spcPts val="225"/>
                        </a:spcBef>
                      </a:pPr>
                      <a:r>
                        <a:rPr sz="1400" spc="-10" dirty="0">
                          <a:latin typeface="Arial MT"/>
                          <a:cs typeface="Arial MT"/>
                        </a:rPr>
                        <a:t>Biscuit</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66DBFF"/>
                    </a:solidFill>
                  </a:tcPr>
                </a:tc>
                <a:tc>
                  <a:txBody>
                    <a:bodyPr/>
                    <a:lstStyle/>
                    <a:p>
                      <a:pPr marL="2540" algn="ctr">
                        <a:lnSpc>
                          <a:spcPct val="100000"/>
                        </a:lnSpc>
                        <a:spcBef>
                          <a:spcPts val="225"/>
                        </a:spcBef>
                      </a:pPr>
                      <a:r>
                        <a:rPr sz="1400" spc="-10" dirty="0">
                          <a:latin typeface="Arial MT"/>
                          <a:cs typeface="Arial MT"/>
                        </a:rPr>
                        <a:t>Sweets</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66DBFF"/>
                    </a:solidFill>
                  </a:tcPr>
                </a:tc>
                <a:extLst>
                  <a:ext uri="{0D108BD9-81ED-4DB2-BD59-A6C34878D82A}">
                    <a16:rowId xmlns:a16="http://schemas.microsoft.com/office/drawing/2014/main" val="10003"/>
                  </a:ext>
                </a:extLst>
              </a:tr>
            </a:tbl>
          </a:graphicData>
        </a:graphic>
      </p:graphicFrame>
      <p:sp>
        <p:nvSpPr>
          <p:cNvPr id="4" name="object 4"/>
          <p:cNvSpPr txBox="1"/>
          <p:nvPr/>
        </p:nvSpPr>
        <p:spPr>
          <a:xfrm>
            <a:off x="2259245" y="3175339"/>
            <a:ext cx="5881793"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i="1" dirty="0">
                <a:solidFill>
                  <a:srgbClr val="D9D9D9"/>
                </a:solidFill>
                <a:latin typeface="Calibri"/>
                <a:cs typeface="Calibri"/>
              </a:rPr>
              <a:t>Instead</a:t>
            </a:r>
            <a:r>
              <a:rPr sz="2400" b="1" i="1" spc="-20" dirty="0">
                <a:solidFill>
                  <a:srgbClr val="D9D9D9"/>
                </a:solidFill>
                <a:latin typeface="Calibri"/>
                <a:cs typeface="Calibri"/>
              </a:rPr>
              <a:t> </a:t>
            </a:r>
            <a:r>
              <a:rPr sz="2400" b="1" i="1" dirty="0">
                <a:solidFill>
                  <a:srgbClr val="D9D9D9"/>
                </a:solidFill>
                <a:latin typeface="Calibri"/>
                <a:cs typeface="Calibri"/>
              </a:rPr>
              <a:t>of</a:t>
            </a:r>
            <a:r>
              <a:rPr sz="2400" b="1" i="1" spc="-20" dirty="0">
                <a:solidFill>
                  <a:srgbClr val="D9D9D9"/>
                </a:solidFill>
                <a:latin typeface="Calibri"/>
                <a:cs typeface="Calibri"/>
              </a:rPr>
              <a:t> </a:t>
            </a:r>
            <a:r>
              <a:rPr sz="2400" b="1" i="1" dirty="0">
                <a:solidFill>
                  <a:srgbClr val="D9D9D9"/>
                </a:solidFill>
                <a:latin typeface="Calibri"/>
                <a:cs typeface="Calibri"/>
              </a:rPr>
              <a:t>adding</a:t>
            </a:r>
            <a:r>
              <a:rPr sz="2400" b="1" i="1" spc="-13" dirty="0">
                <a:solidFill>
                  <a:srgbClr val="D9D9D9"/>
                </a:solidFill>
                <a:latin typeface="Calibri"/>
                <a:cs typeface="Calibri"/>
              </a:rPr>
              <a:t> </a:t>
            </a:r>
            <a:r>
              <a:rPr sz="2400" b="1" i="1" dirty="0">
                <a:solidFill>
                  <a:srgbClr val="D9D9D9"/>
                </a:solidFill>
                <a:latin typeface="Calibri"/>
                <a:cs typeface="Calibri"/>
              </a:rPr>
              <a:t>a</a:t>
            </a:r>
            <a:r>
              <a:rPr sz="2400" b="1" i="1" spc="-13" dirty="0">
                <a:solidFill>
                  <a:srgbClr val="D9D9D9"/>
                </a:solidFill>
                <a:latin typeface="Calibri"/>
                <a:cs typeface="Calibri"/>
              </a:rPr>
              <a:t> </a:t>
            </a:r>
            <a:r>
              <a:rPr sz="2400" b="1" i="1" dirty="0">
                <a:solidFill>
                  <a:srgbClr val="D9D9D9"/>
                </a:solidFill>
                <a:latin typeface="Calibri"/>
                <a:cs typeface="Calibri"/>
              </a:rPr>
              <a:t>row –</a:t>
            </a:r>
            <a:r>
              <a:rPr sz="2400" b="1" i="1" spc="-27" dirty="0">
                <a:solidFill>
                  <a:srgbClr val="D9D9D9"/>
                </a:solidFill>
                <a:latin typeface="Calibri"/>
                <a:cs typeface="Calibri"/>
              </a:rPr>
              <a:t> </a:t>
            </a:r>
            <a:r>
              <a:rPr sz="2400" b="1" i="1" dirty="0">
                <a:solidFill>
                  <a:srgbClr val="D9D9D9"/>
                </a:solidFill>
                <a:latin typeface="Calibri"/>
                <a:cs typeface="Calibri"/>
              </a:rPr>
              <a:t>we</a:t>
            </a:r>
            <a:r>
              <a:rPr sz="2400" b="1" i="1" spc="-20" dirty="0">
                <a:solidFill>
                  <a:srgbClr val="D9D9D9"/>
                </a:solidFill>
                <a:latin typeface="Calibri"/>
                <a:cs typeface="Calibri"/>
              </a:rPr>
              <a:t> </a:t>
            </a:r>
            <a:r>
              <a:rPr sz="2400" b="1" i="1" dirty="0">
                <a:solidFill>
                  <a:srgbClr val="D9D9D9"/>
                </a:solidFill>
                <a:latin typeface="Calibri"/>
                <a:cs typeface="Calibri"/>
              </a:rPr>
              <a:t>add</a:t>
            </a:r>
            <a:r>
              <a:rPr sz="2400" b="1" i="1" spc="-7" dirty="0">
                <a:solidFill>
                  <a:srgbClr val="D9D9D9"/>
                </a:solidFill>
                <a:latin typeface="Calibri"/>
                <a:cs typeface="Calibri"/>
              </a:rPr>
              <a:t> </a:t>
            </a:r>
            <a:r>
              <a:rPr sz="2400" b="1" i="1" dirty="0">
                <a:solidFill>
                  <a:srgbClr val="D9D9D9"/>
                </a:solidFill>
                <a:latin typeface="Calibri"/>
                <a:cs typeface="Calibri"/>
              </a:rPr>
              <a:t>a</a:t>
            </a:r>
            <a:r>
              <a:rPr sz="2400" b="1" i="1" spc="-20" dirty="0">
                <a:solidFill>
                  <a:srgbClr val="D9D9D9"/>
                </a:solidFill>
                <a:latin typeface="Calibri"/>
                <a:cs typeface="Calibri"/>
              </a:rPr>
              <a:t> </a:t>
            </a:r>
            <a:r>
              <a:rPr sz="2400" b="1" i="1" spc="-13" dirty="0">
                <a:solidFill>
                  <a:srgbClr val="D9D9D9"/>
                </a:solidFill>
                <a:latin typeface="Calibri"/>
                <a:cs typeface="Calibri"/>
              </a:rPr>
              <a:t>column</a:t>
            </a:r>
            <a:endParaRPr sz="2400">
              <a:latin typeface="Calibri"/>
              <a:cs typeface="Calibri"/>
            </a:endParaRPr>
          </a:p>
        </p:txBody>
      </p:sp>
      <p:graphicFrame>
        <p:nvGraphicFramePr>
          <p:cNvPr id="5" name="object 5"/>
          <p:cNvGraphicFramePr>
            <a:graphicFrameLocks noGrp="1"/>
          </p:cNvGraphicFramePr>
          <p:nvPr>
            <p:extLst>
              <p:ext uri="{D42A27DB-BD31-4B8C-83A1-F6EECF244321}">
                <p14:modId xmlns:p14="http://schemas.microsoft.com/office/powerpoint/2010/main" val="3609523917"/>
              </p:ext>
            </p:extLst>
          </p:nvPr>
        </p:nvGraphicFramePr>
        <p:xfrm>
          <a:off x="2603720" y="4004691"/>
          <a:ext cx="2978574" cy="1155273"/>
        </p:xfrm>
        <a:graphic>
          <a:graphicData uri="http://schemas.openxmlformats.org/drawingml/2006/table">
            <a:tbl>
              <a:tblPr firstRow="1" bandRow="1">
                <a:tableStyleId>{2D5ABB26-0587-4C30-8999-92F81FD0307C}</a:tableStyleId>
              </a:tblPr>
              <a:tblGrid>
                <a:gridCol w="1668001">
                  <a:extLst>
                    <a:ext uri="{9D8B030D-6E8A-4147-A177-3AD203B41FA5}">
                      <a16:colId xmlns:a16="http://schemas.microsoft.com/office/drawing/2014/main" val="20000"/>
                    </a:ext>
                  </a:extLst>
                </a:gridCol>
                <a:gridCol w="1310573">
                  <a:extLst>
                    <a:ext uri="{9D8B030D-6E8A-4147-A177-3AD203B41FA5}">
                      <a16:colId xmlns:a16="http://schemas.microsoft.com/office/drawing/2014/main" val="20001"/>
                    </a:ext>
                  </a:extLst>
                </a:gridCol>
              </a:tblGrid>
              <a:tr h="263553">
                <a:tc>
                  <a:txBody>
                    <a:bodyPr/>
                    <a:lstStyle/>
                    <a:p>
                      <a:pPr marL="4445" algn="ctr">
                        <a:lnSpc>
                          <a:spcPct val="100000"/>
                        </a:lnSpc>
                        <a:spcBef>
                          <a:spcPts val="65"/>
                        </a:spcBef>
                      </a:pPr>
                      <a:r>
                        <a:rPr sz="1400" b="1" spc="-10" dirty="0">
                          <a:solidFill>
                            <a:schemeClr val="bg1"/>
                          </a:solidFill>
                          <a:latin typeface="Arial"/>
                          <a:cs typeface="Arial"/>
                        </a:rPr>
                        <a:t>Category</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905" algn="ctr">
                        <a:lnSpc>
                          <a:spcPct val="100000"/>
                        </a:lnSpc>
                        <a:spcBef>
                          <a:spcPts val="65"/>
                        </a:spcBef>
                      </a:pPr>
                      <a:r>
                        <a:rPr sz="1400" b="1" spc="-10" dirty="0">
                          <a:solidFill>
                            <a:schemeClr val="bg1"/>
                          </a:solidFill>
                          <a:latin typeface="Arial"/>
                          <a:cs typeface="Arial"/>
                        </a:rPr>
                        <a:t>Amount</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97240">
                <a:tc>
                  <a:txBody>
                    <a:bodyPr/>
                    <a:lstStyle/>
                    <a:p>
                      <a:pPr marL="1905" algn="ctr">
                        <a:lnSpc>
                          <a:spcPct val="100000"/>
                        </a:lnSpc>
                        <a:spcBef>
                          <a:spcPts val="229"/>
                        </a:spcBef>
                      </a:pPr>
                      <a:r>
                        <a:rPr sz="1400" spc="-10" dirty="0">
                          <a:latin typeface="Arial MT"/>
                          <a:cs typeface="Arial MT"/>
                        </a:rPr>
                        <a:t>Assecoirs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9"/>
                        </a:spcBef>
                      </a:pPr>
                      <a:r>
                        <a:rPr sz="1400" spc="-25" dirty="0">
                          <a:latin typeface="Arial MT"/>
                          <a:cs typeface="Arial MT"/>
                        </a:rPr>
                        <a:t>$25</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97240">
                <a:tc>
                  <a:txBody>
                    <a:bodyPr/>
                    <a:lstStyle/>
                    <a:p>
                      <a:pPr marL="1270" algn="ctr">
                        <a:lnSpc>
                          <a:spcPct val="100000"/>
                        </a:lnSpc>
                        <a:spcBef>
                          <a:spcPts val="229"/>
                        </a:spcBef>
                      </a:pPr>
                      <a:r>
                        <a:rPr sz="1400" spc="-10" dirty="0">
                          <a:latin typeface="Arial MT"/>
                          <a:cs typeface="Arial MT"/>
                        </a:rPr>
                        <a:t>Sweets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spc="-25" dirty="0">
                          <a:latin typeface="Arial MT"/>
                          <a:cs typeface="Arial MT"/>
                        </a:rPr>
                        <a:t>$6</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97240">
                <a:tc>
                  <a:txBody>
                    <a:bodyPr/>
                    <a:lstStyle/>
                    <a:p>
                      <a:pPr algn="ctr">
                        <a:lnSpc>
                          <a:spcPct val="100000"/>
                        </a:lnSpc>
                        <a:spcBef>
                          <a:spcPts val="229"/>
                        </a:spcBef>
                      </a:pPr>
                      <a:r>
                        <a:rPr sz="1400" spc="-10" dirty="0">
                          <a:latin typeface="Arial MT"/>
                          <a:cs typeface="Arial MT"/>
                        </a:rPr>
                        <a:t>Buscuits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spc="-25" dirty="0">
                          <a:latin typeface="Arial MT"/>
                          <a:cs typeface="Arial MT"/>
                        </a:rPr>
                        <a:t>$8</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bl>
          </a:graphicData>
        </a:graphic>
      </p:graphicFrame>
      <p:graphicFrame>
        <p:nvGraphicFramePr>
          <p:cNvPr id="6" name="object 6"/>
          <p:cNvGraphicFramePr>
            <a:graphicFrameLocks noGrp="1"/>
          </p:cNvGraphicFramePr>
          <p:nvPr>
            <p:extLst>
              <p:ext uri="{D42A27DB-BD31-4B8C-83A1-F6EECF244321}">
                <p14:modId xmlns:p14="http://schemas.microsoft.com/office/powerpoint/2010/main" val="148615033"/>
              </p:ext>
            </p:extLst>
          </p:nvPr>
        </p:nvGraphicFramePr>
        <p:xfrm>
          <a:off x="6818612" y="4152222"/>
          <a:ext cx="3001249" cy="860212"/>
        </p:xfrm>
        <a:graphic>
          <a:graphicData uri="http://schemas.openxmlformats.org/drawingml/2006/table">
            <a:tbl>
              <a:tblPr firstRow="1" bandRow="1">
                <a:tableStyleId>{2D5ABB26-0587-4C30-8999-92F81FD0307C}</a:tableStyleId>
              </a:tblPr>
              <a:tblGrid>
                <a:gridCol w="1680699">
                  <a:extLst>
                    <a:ext uri="{9D8B030D-6E8A-4147-A177-3AD203B41FA5}">
                      <a16:colId xmlns:a16="http://schemas.microsoft.com/office/drawing/2014/main" val="20000"/>
                    </a:ext>
                  </a:extLst>
                </a:gridCol>
                <a:gridCol w="1320550">
                  <a:extLst>
                    <a:ext uri="{9D8B030D-6E8A-4147-A177-3AD203B41FA5}">
                      <a16:colId xmlns:a16="http://schemas.microsoft.com/office/drawing/2014/main" val="20001"/>
                    </a:ext>
                  </a:extLst>
                </a:gridCol>
              </a:tblGrid>
              <a:tr h="264222">
                <a:tc>
                  <a:txBody>
                    <a:bodyPr/>
                    <a:lstStyle/>
                    <a:p>
                      <a:pPr marL="3810" algn="ctr">
                        <a:lnSpc>
                          <a:spcPct val="100000"/>
                        </a:lnSpc>
                        <a:spcBef>
                          <a:spcPts val="65"/>
                        </a:spcBef>
                      </a:pPr>
                      <a:r>
                        <a:rPr sz="1400" b="1" spc="-10" dirty="0">
                          <a:solidFill>
                            <a:schemeClr val="bg1"/>
                          </a:solidFill>
                          <a:latin typeface="Arial"/>
                          <a:cs typeface="Arial"/>
                        </a:rPr>
                        <a:t>Prev_Category</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3175" algn="ctr">
                        <a:lnSpc>
                          <a:spcPct val="100000"/>
                        </a:lnSpc>
                        <a:spcBef>
                          <a:spcPts val="65"/>
                        </a:spcBef>
                      </a:pPr>
                      <a:r>
                        <a:rPr sz="1400" b="1" spc="-10" dirty="0">
                          <a:solidFill>
                            <a:schemeClr val="bg1"/>
                          </a:solidFill>
                          <a:latin typeface="Arial"/>
                          <a:cs typeface="Arial"/>
                        </a:rPr>
                        <a:t>Amount</a:t>
                      </a:r>
                      <a:endParaRPr sz="1400" dirty="0">
                        <a:solidFill>
                          <a:schemeClr val="bg1"/>
                        </a:solidFill>
                        <a:latin typeface="Arial"/>
                        <a:cs typeface="Arial"/>
                      </a:endParaRPr>
                    </a:p>
                  </a:txBody>
                  <a:tcPr marL="0" marR="0" marT="1100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97995">
                <a:tc>
                  <a:txBody>
                    <a:bodyPr/>
                    <a:lstStyle/>
                    <a:p>
                      <a:pPr marL="1905" algn="ctr">
                        <a:lnSpc>
                          <a:spcPct val="100000"/>
                        </a:lnSpc>
                        <a:spcBef>
                          <a:spcPts val="229"/>
                        </a:spcBef>
                      </a:pPr>
                      <a:r>
                        <a:rPr sz="1400" spc="-10" dirty="0">
                          <a:latin typeface="Arial MT"/>
                          <a:cs typeface="Arial MT"/>
                        </a:rPr>
                        <a:t>Assecoirs</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spc="-25" dirty="0">
                          <a:latin typeface="Arial MT"/>
                          <a:cs typeface="Arial MT"/>
                        </a:rPr>
                        <a:t>$25</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97995">
                <a:tc>
                  <a:txBody>
                    <a:bodyPr/>
                    <a:lstStyle/>
                    <a:p>
                      <a:pPr marL="1905" algn="ctr">
                        <a:lnSpc>
                          <a:spcPct val="100000"/>
                        </a:lnSpc>
                        <a:spcBef>
                          <a:spcPts val="229"/>
                        </a:spcBef>
                      </a:pPr>
                      <a:r>
                        <a:rPr sz="1400" spc="-10" dirty="0">
                          <a:latin typeface="Arial MT"/>
                          <a:cs typeface="Arial MT"/>
                        </a:rPr>
                        <a:t>Sweets</a:t>
                      </a:r>
                      <a:endParaRPr sz="140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9"/>
                        </a:spcBef>
                      </a:pPr>
                      <a:r>
                        <a:rPr sz="1400" spc="-25" dirty="0">
                          <a:latin typeface="Arial MT"/>
                          <a:cs typeface="Arial MT"/>
                        </a:rPr>
                        <a:t>$14</a:t>
                      </a:r>
                      <a:endParaRPr sz="1400" dirty="0">
                        <a:latin typeface="Arial MT"/>
                        <a:cs typeface="Arial MT"/>
                      </a:endParaRPr>
                    </a:p>
                  </a:txBody>
                  <a:tcPr marL="0" marR="0" marT="38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bl>
          </a:graphicData>
        </a:graphic>
      </p:graphicFrame>
      <p:sp>
        <p:nvSpPr>
          <p:cNvPr id="7" name="object 7"/>
          <p:cNvSpPr/>
          <p:nvPr/>
        </p:nvSpPr>
        <p:spPr>
          <a:xfrm>
            <a:off x="5689600" y="4533392"/>
            <a:ext cx="914400" cy="231987"/>
          </a:xfrm>
          <a:custGeom>
            <a:avLst/>
            <a:gdLst/>
            <a:ahLst/>
            <a:cxnLst/>
            <a:rect l="l" t="t" r="r" b="b"/>
            <a:pathLst>
              <a:path w="685800" h="173989">
                <a:moveTo>
                  <a:pt x="173736" y="0"/>
                </a:moveTo>
                <a:lnTo>
                  <a:pt x="0" y="86867"/>
                </a:lnTo>
                <a:lnTo>
                  <a:pt x="173736" y="173735"/>
                </a:lnTo>
                <a:lnTo>
                  <a:pt x="173736" y="115823"/>
                </a:lnTo>
                <a:lnTo>
                  <a:pt x="144779" y="115823"/>
                </a:lnTo>
                <a:lnTo>
                  <a:pt x="144779" y="57911"/>
                </a:lnTo>
                <a:lnTo>
                  <a:pt x="173736" y="57911"/>
                </a:lnTo>
                <a:lnTo>
                  <a:pt x="173736" y="0"/>
                </a:lnTo>
                <a:close/>
              </a:path>
              <a:path w="685800" h="173989">
                <a:moveTo>
                  <a:pt x="512063" y="0"/>
                </a:moveTo>
                <a:lnTo>
                  <a:pt x="512063" y="173735"/>
                </a:lnTo>
                <a:lnTo>
                  <a:pt x="627888" y="115823"/>
                </a:lnTo>
                <a:lnTo>
                  <a:pt x="541020" y="115823"/>
                </a:lnTo>
                <a:lnTo>
                  <a:pt x="541020" y="57911"/>
                </a:lnTo>
                <a:lnTo>
                  <a:pt x="627888" y="57911"/>
                </a:lnTo>
                <a:lnTo>
                  <a:pt x="512063" y="0"/>
                </a:lnTo>
                <a:close/>
              </a:path>
              <a:path w="685800" h="173989">
                <a:moveTo>
                  <a:pt x="173736" y="57911"/>
                </a:moveTo>
                <a:lnTo>
                  <a:pt x="144779" y="57911"/>
                </a:lnTo>
                <a:lnTo>
                  <a:pt x="144779" y="115823"/>
                </a:lnTo>
                <a:lnTo>
                  <a:pt x="173736" y="115823"/>
                </a:lnTo>
                <a:lnTo>
                  <a:pt x="173736" y="57911"/>
                </a:lnTo>
                <a:close/>
              </a:path>
              <a:path w="685800" h="173989">
                <a:moveTo>
                  <a:pt x="512063" y="57911"/>
                </a:moveTo>
                <a:lnTo>
                  <a:pt x="173736" y="57911"/>
                </a:lnTo>
                <a:lnTo>
                  <a:pt x="173736" y="115823"/>
                </a:lnTo>
                <a:lnTo>
                  <a:pt x="512063" y="115823"/>
                </a:lnTo>
                <a:lnTo>
                  <a:pt x="512063" y="57911"/>
                </a:lnTo>
                <a:close/>
              </a:path>
              <a:path w="685800" h="173989">
                <a:moveTo>
                  <a:pt x="627888" y="57911"/>
                </a:moveTo>
                <a:lnTo>
                  <a:pt x="541020" y="57911"/>
                </a:lnTo>
                <a:lnTo>
                  <a:pt x="541020" y="115823"/>
                </a:lnTo>
                <a:lnTo>
                  <a:pt x="627888" y="115823"/>
                </a:lnTo>
                <a:lnTo>
                  <a:pt x="685800" y="86867"/>
                </a:lnTo>
                <a:lnTo>
                  <a:pt x="627888" y="57911"/>
                </a:lnTo>
                <a:close/>
              </a:path>
            </a:pathLst>
          </a:custGeom>
          <a:solidFill>
            <a:srgbClr val="00C2FF"/>
          </a:solidFill>
        </p:spPr>
        <p:txBody>
          <a:bodyPr wrap="square" lIns="0" tIns="0" rIns="0" bIns="0" rtlCol="0"/>
          <a:lstStyle/>
          <a:p>
            <a:endParaRPr sz="2400"/>
          </a:p>
        </p:txBody>
      </p:sp>
      <p:sp>
        <p:nvSpPr>
          <p:cNvPr id="10" name="object 2">
            <a:extLst>
              <a:ext uri="{FF2B5EF4-FFF2-40B4-BE49-F238E27FC236}">
                <a16:creationId xmlns:a16="http://schemas.microsoft.com/office/drawing/2014/main" id="{41873875-B179-C836-5182-1DD82798D0AF}"/>
              </a:ext>
            </a:extLst>
          </p:cNvPr>
          <p:cNvSpPr txBox="1">
            <a:spLocks noGrp="1"/>
          </p:cNvSpPr>
          <p:nvPr>
            <p:ph type="title"/>
          </p:nvPr>
        </p:nvSpPr>
        <p:spPr>
          <a:xfrm>
            <a:off x="2600960" y="296665"/>
            <a:ext cx="7508240" cy="695062"/>
          </a:xfrm>
          <a:prstGeom prst="rect">
            <a:avLst/>
          </a:prstGeom>
        </p:spPr>
        <p:txBody>
          <a:bodyPr vert="horz" wrap="square" lIns="0" tIns="17780" rIns="0" bIns="0" rtlCol="0" anchor="ctr">
            <a:spAutoFit/>
          </a:bodyPr>
          <a:lstStyle/>
          <a:p>
            <a:pPr marL="617205">
              <a:lnSpc>
                <a:spcPct val="100000"/>
              </a:lnSpc>
              <a:spcBef>
                <a:spcPts val="140"/>
              </a:spcBef>
            </a:pPr>
            <a:r>
              <a:rPr dirty="0">
                <a:solidFill>
                  <a:schemeClr val="bg1"/>
                </a:solidFill>
                <a:latin typeface="+mn-lt"/>
              </a:rPr>
              <a:t>Type</a:t>
            </a:r>
            <a:r>
              <a:rPr spc="-73" dirty="0">
                <a:solidFill>
                  <a:schemeClr val="bg1"/>
                </a:solidFill>
                <a:latin typeface="+mn-lt"/>
              </a:rPr>
              <a:t> </a:t>
            </a:r>
            <a:r>
              <a:rPr dirty="0">
                <a:solidFill>
                  <a:schemeClr val="bg1"/>
                </a:solidFill>
                <a:latin typeface="+mn-lt"/>
              </a:rPr>
              <a:t>3:</a:t>
            </a:r>
            <a:r>
              <a:rPr spc="-60" dirty="0">
                <a:solidFill>
                  <a:schemeClr val="bg1"/>
                </a:solidFill>
                <a:latin typeface="+mn-lt"/>
              </a:rPr>
              <a:t> </a:t>
            </a:r>
            <a:r>
              <a:rPr dirty="0">
                <a:solidFill>
                  <a:schemeClr val="bg1"/>
                </a:solidFill>
                <a:latin typeface="+mn-lt"/>
              </a:rPr>
              <a:t>Additonal</a:t>
            </a:r>
            <a:r>
              <a:rPr spc="-27" dirty="0">
                <a:solidFill>
                  <a:schemeClr val="bg1"/>
                </a:solidFill>
                <a:latin typeface="+mn-lt"/>
              </a:rPr>
              <a:t> </a:t>
            </a:r>
            <a:r>
              <a:rPr spc="-13" dirty="0">
                <a:solidFill>
                  <a:schemeClr val="bg1"/>
                </a:solidFill>
                <a:latin typeface="+mn-lt"/>
              </a:rPr>
              <a:t>Attributes</a:t>
            </a:r>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extLst>
              <p:ext uri="{D42A27DB-BD31-4B8C-83A1-F6EECF244321}">
                <p14:modId xmlns:p14="http://schemas.microsoft.com/office/powerpoint/2010/main" val="403128759"/>
              </p:ext>
            </p:extLst>
          </p:nvPr>
        </p:nvGraphicFramePr>
        <p:xfrm>
          <a:off x="2460414" y="1630341"/>
          <a:ext cx="7701280" cy="988060"/>
        </p:xfrm>
        <a:graphic>
          <a:graphicData uri="http://schemas.openxmlformats.org/drawingml/2006/table">
            <a:tbl>
              <a:tblPr firstRow="1" bandRow="1">
                <a:tableStyleId>{2D5ABB26-0587-4C30-8999-92F81FD0307C}</a:tableStyleId>
              </a:tblPr>
              <a:tblGrid>
                <a:gridCol w="119888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2133600">
                  <a:extLst>
                    <a:ext uri="{9D8B030D-6E8A-4147-A177-3AD203B41FA5}">
                      <a16:colId xmlns:a16="http://schemas.microsoft.com/office/drawing/2014/main" val="20002"/>
                    </a:ext>
                  </a:extLst>
                </a:gridCol>
                <a:gridCol w="1320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226060">
                <a:tc>
                  <a:txBody>
                    <a:bodyPr/>
                    <a:lstStyle/>
                    <a:p>
                      <a:pPr algn="ctr">
                        <a:lnSpc>
                          <a:spcPct val="100000"/>
                        </a:lnSpc>
                        <a:spcBef>
                          <a:spcPts val="60"/>
                        </a:spcBef>
                      </a:pPr>
                      <a:r>
                        <a:rPr sz="1400" b="1" spc="-10" dirty="0">
                          <a:solidFill>
                            <a:schemeClr val="bg1"/>
                          </a:solidFill>
                          <a:latin typeface="Arial"/>
                          <a:cs typeface="Arial"/>
                        </a:rPr>
                        <a:t>Product_PK</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635" algn="ctr">
                        <a:lnSpc>
                          <a:spcPct val="100000"/>
                        </a:lnSpc>
                        <a:spcBef>
                          <a:spcPts val="60"/>
                        </a:spcBef>
                      </a:pPr>
                      <a:r>
                        <a:rPr sz="1400" b="1" spc="-10" dirty="0">
                          <a:solidFill>
                            <a:schemeClr val="bg1"/>
                          </a:solidFill>
                          <a:latin typeface="Arial"/>
                          <a:cs typeface="Arial"/>
                        </a:rPr>
                        <a:t>Product_ID</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905" algn="ctr">
                        <a:lnSpc>
                          <a:spcPct val="100000"/>
                        </a:lnSpc>
                        <a:spcBef>
                          <a:spcPts val="60"/>
                        </a:spcBef>
                      </a:pPr>
                      <a:r>
                        <a:rPr sz="1400" b="1" spc="-20" dirty="0">
                          <a:solidFill>
                            <a:schemeClr val="bg1"/>
                          </a:solidFill>
                          <a:latin typeface="Arial"/>
                          <a:cs typeface="Arial"/>
                        </a:rPr>
                        <a:t>Name</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5080" algn="ctr">
                        <a:lnSpc>
                          <a:spcPct val="100000"/>
                        </a:lnSpc>
                        <a:spcBef>
                          <a:spcPts val="60"/>
                        </a:spcBef>
                      </a:pPr>
                      <a:r>
                        <a:rPr sz="1400" b="1" spc="-10" dirty="0">
                          <a:solidFill>
                            <a:schemeClr val="bg1"/>
                          </a:solidFill>
                          <a:latin typeface="Arial"/>
                          <a:cs typeface="Arial"/>
                        </a:rPr>
                        <a:t>Category</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3810" algn="ctr">
                        <a:lnSpc>
                          <a:spcPct val="100000"/>
                        </a:lnSpc>
                        <a:spcBef>
                          <a:spcPts val="60"/>
                        </a:spcBef>
                      </a:pPr>
                      <a:r>
                        <a:rPr sz="1400" b="1" spc="-10" dirty="0">
                          <a:solidFill>
                            <a:schemeClr val="bg1"/>
                          </a:solidFill>
                          <a:latin typeface="Arial"/>
                          <a:cs typeface="Arial"/>
                        </a:rPr>
                        <a:t>Prev_Category</a:t>
                      </a:r>
                      <a:endParaRPr sz="1400" dirty="0">
                        <a:solidFill>
                          <a:schemeClr val="bg1"/>
                        </a:solidFill>
                        <a:latin typeface="Arial"/>
                        <a:cs typeface="Arial"/>
                      </a:endParaRPr>
                    </a:p>
                  </a:txBody>
                  <a:tcPr marL="0" marR="0" marT="101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54000">
                <a:tc>
                  <a:txBody>
                    <a:bodyPr/>
                    <a:lstStyle/>
                    <a:p>
                      <a:pPr marL="635" algn="ctr">
                        <a:lnSpc>
                          <a:spcPct val="100000"/>
                        </a:lnSpc>
                        <a:spcBef>
                          <a:spcPts val="0"/>
                        </a:spcBef>
                      </a:pPr>
                      <a:r>
                        <a:rPr sz="1400" spc="-50" dirty="0">
                          <a:latin typeface="Arial MT"/>
                          <a:cs typeface="Arial MT"/>
                        </a:rPr>
                        <a:t>1</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SG-</a:t>
                      </a:r>
                      <a:r>
                        <a:rPr sz="1400" spc="-25" dirty="0">
                          <a:latin typeface="Arial MT"/>
                          <a:cs typeface="Arial MT"/>
                        </a:rPr>
                        <a:t>TR7</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dirty="0">
                          <a:latin typeface="Arial MT"/>
                          <a:cs typeface="Arial MT"/>
                        </a:rPr>
                        <a:t>Sunglases</a:t>
                      </a:r>
                      <a:r>
                        <a:rPr sz="1400" spc="-55" dirty="0">
                          <a:latin typeface="Arial MT"/>
                          <a:cs typeface="Arial MT"/>
                        </a:rPr>
                        <a:t> </a:t>
                      </a:r>
                      <a:r>
                        <a:rPr sz="1400" dirty="0">
                          <a:latin typeface="Arial MT"/>
                          <a:cs typeface="Arial MT"/>
                        </a:rPr>
                        <a:t>TR-</a:t>
                      </a:r>
                      <a:r>
                        <a:rPr sz="1400" spc="-50" dirty="0">
                          <a:latin typeface="Arial MT"/>
                          <a:cs typeface="Arial MT"/>
                        </a:rPr>
                        <a:t>7</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10" dirty="0">
                          <a:latin typeface="Arial MT"/>
                          <a:cs typeface="Arial MT"/>
                        </a:rPr>
                        <a:t>Assecoirs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Assecoirs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54000">
                <a:tc>
                  <a:txBody>
                    <a:bodyPr/>
                    <a:lstStyle/>
                    <a:p>
                      <a:pPr marL="635"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10" dirty="0">
                          <a:latin typeface="Arial MT"/>
                          <a:cs typeface="Arial MT"/>
                        </a:rPr>
                        <a:t>CH-</a:t>
                      </a:r>
                      <a:r>
                        <a:rPr sz="1400" spc="-25" dirty="0">
                          <a:latin typeface="Arial MT"/>
                          <a:cs typeface="Arial MT"/>
                        </a:rPr>
                        <a:t>B70</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dirty="0">
                          <a:latin typeface="Arial MT"/>
                          <a:cs typeface="Arial MT"/>
                        </a:rPr>
                        <a:t>Chocolate</a:t>
                      </a:r>
                      <a:r>
                        <a:rPr sz="1400" spc="-25" dirty="0">
                          <a:latin typeface="Arial MT"/>
                          <a:cs typeface="Arial MT"/>
                        </a:rPr>
                        <a:t> </a:t>
                      </a:r>
                      <a:r>
                        <a:rPr sz="1400" dirty="0">
                          <a:latin typeface="Arial MT"/>
                          <a:cs typeface="Arial MT"/>
                        </a:rPr>
                        <a:t>bar</a:t>
                      </a:r>
                      <a:r>
                        <a:rPr sz="1400" spc="-10" dirty="0">
                          <a:latin typeface="Arial MT"/>
                          <a:cs typeface="Arial MT"/>
                        </a:rPr>
                        <a:t> </a:t>
                      </a:r>
                      <a:r>
                        <a:rPr sz="1400" dirty="0">
                          <a:latin typeface="Arial MT"/>
                          <a:cs typeface="Arial MT"/>
                        </a:rPr>
                        <a:t>70%</a:t>
                      </a:r>
                      <a:r>
                        <a:rPr sz="1400" spc="-15" dirty="0">
                          <a:latin typeface="Arial MT"/>
                          <a:cs typeface="Arial MT"/>
                        </a:rPr>
                        <a:t> </a:t>
                      </a:r>
                      <a:r>
                        <a:rPr sz="1400" spc="-10" dirty="0">
                          <a:latin typeface="Arial MT"/>
                          <a:cs typeface="Arial MT"/>
                        </a:rPr>
                        <a:t>cacao</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10" dirty="0">
                          <a:latin typeface="Arial MT"/>
                          <a:cs typeface="Arial MT"/>
                        </a:rPr>
                        <a:t>Sweets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3175" algn="ctr">
                        <a:lnSpc>
                          <a:spcPct val="100000"/>
                        </a:lnSpc>
                        <a:spcBef>
                          <a:spcPts val="225"/>
                        </a:spcBef>
                      </a:pPr>
                      <a:r>
                        <a:rPr sz="1400" spc="-10" dirty="0">
                          <a:latin typeface="Arial MT"/>
                          <a:cs typeface="Arial MT"/>
                        </a:rPr>
                        <a:t>Sweets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54000">
                <a:tc>
                  <a:txBody>
                    <a:bodyPr/>
                    <a:lstStyle/>
                    <a:p>
                      <a:pPr marL="635" algn="ctr">
                        <a:lnSpc>
                          <a:spcPct val="10000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10" dirty="0">
                          <a:latin typeface="Arial MT"/>
                          <a:cs typeface="Arial MT"/>
                        </a:rPr>
                        <a:t>OT-</a:t>
                      </a:r>
                      <a:r>
                        <a:rPr sz="1400" spc="-25" dirty="0">
                          <a:latin typeface="Arial MT"/>
                          <a:cs typeface="Arial MT"/>
                        </a:rPr>
                        <a:t>BSC</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dirty="0">
                          <a:latin typeface="Arial MT"/>
                          <a:cs typeface="Arial MT"/>
                        </a:rPr>
                        <a:t>Oat</a:t>
                      </a:r>
                      <a:r>
                        <a:rPr sz="1400" spc="-25" dirty="0">
                          <a:latin typeface="Arial MT"/>
                          <a:cs typeface="Arial MT"/>
                        </a:rPr>
                        <a:t> </a:t>
                      </a:r>
                      <a:r>
                        <a:rPr sz="1400" dirty="0">
                          <a:latin typeface="Arial MT"/>
                          <a:cs typeface="Arial MT"/>
                        </a:rPr>
                        <a:t>meal</a:t>
                      </a:r>
                      <a:r>
                        <a:rPr sz="1400" spc="-35" dirty="0">
                          <a:latin typeface="Arial MT"/>
                          <a:cs typeface="Arial MT"/>
                        </a:rPr>
                        <a:t> </a:t>
                      </a:r>
                      <a:r>
                        <a:rPr sz="1400" spc="-10" dirty="0">
                          <a:latin typeface="Arial MT"/>
                          <a:cs typeface="Arial MT"/>
                        </a:rPr>
                        <a:t>biscuits</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F1F1"/>
                    </a:solidFill>
                  </a:tcPr>
                </a:tc>
                <a:tc>
                  <a:txBody>
                    <a:bodyPr/>
                    <a:lstStyle/>
                    <a:p>
                      <a:pPr marL="2540" algn="ctr">
                        <a:lnSpc>
                          <a:spcPct val="100000"/>
                        </a:lnSpc>
                        <a:spcBef>
                          <a:spcPts val="225"/>
                        </a:spcBef>
                      </a:pPr>
                      <a:r>
                        <a:rPr sz="1400" spc="-10" dirty="0">
                          <a:latin typeface="Arial MT"/>
                          <a:cs typeface="Arial MT"/>
                        </a:rPr>
                        <a:t>Biscuit</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66DBFF"/>
                    </a:solidFill>
                  </a:tcPr>
                </a:tc>
                <a:tc>
                  <a:txBody>
                    <a:bodyPr/>
                    <a:lstStyle/>
                    <a:p>
                      <a:pPr marL="2540" algn="ctr">
                        <a:lnSpc>
                          <a:spcPct val="100000"/>
                        </a:lnSpc>
                        <a:spcBef>
                          <a:spcPts val="225"/>
                        </a:spcBef>
                      </a:pPr>
                      <a:r>
                        <a:rPr sz="1400" spc="-10" dirty="0">
                          <a:latin typeface="Arial MT"/>
                          <a:cs typeface="Arial MT"/>
                        </a:rPr>
                        <a:t>Sweets</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66DBFF"/>
                    </a:solidFill>
                  </a:tcPr>
                </a:tc>
                <a:extLst>
                  <a:ext uri="{0D108BD9-81ED-4DB2-BD59-A6C34878D82A}">
                    <a16:rowId xmlns:a16="http://schemas.microsoft.com/office/drawing/2014/main" val="10003"/>
                  </a:ext>
                </a:extLst>
              </a:tr>
            </a:tbl>
          </a:graphicData>
        </a:graphic>
      </p:graphicFrame>
      <p:sp>
        <p:nvSpPr>
          <p:cNvPr id="4" name="object 4"/>
          <p:cNvSpPr txBox="1"/>
          <p:nvPr/>
        </p:nvSpPr>
        <p:spPr>
          <a:xfrm>
            <a:off x="2238925" y="3175340"/>
            <a:ext cx="6324600" cy="1680824"/>
          </a:xfrm>
          <a:prstGeom prst="rect">
            <a:avLst/>
          </a:prstGeom>
        </p:spPr>
        <p:txBody>
          <a:bodyPr vert="horz" wrap="square" lIns="0" tIns="16933" rIns="0" bIns="0" rtlCol="0">
            <a:spAutoFit/>
          </a:bodyPr>
          <a:lstStyle/>
          <a:p>
            <a:pPr marL="417396" indent="-380990">
              <a:spcBef>
                <a:spcPts val="133"/>
              </a:spcBef>
              <a:buClr>
                <a:srgbClr val="99D3FF"/>
              </a:buClr>
              <a:buFont typeface="Wingdings"/>
              <a:buChar char=""/>
              <a:tabLst>
                <a:tab pos="417396" algn="l"/>
              </a:tabLst>
            </a:pPr>
            <a:r>
              <a:rPr sz="2400" b="1" i="1" dirty="0">
                <a:solidFill>
                  <a:srgbClr val="D9D9D9"/>
                </a:solidFill>
                <a:latin typeface="Calibri"/>
                <a:cs typeface="Calibri"/>
              </a:rPr>
              <a:t>Instead</a:t>
            </a:r>
            <a:r>
              <a:rPr sz="2400" b="1" i="1" spc="-20" dirty="0">
                <a:solidFill>
                  <a:srgbClr val="D9D9D9"/>
                </a:solidFill>
                <a:latin typeface="Calibri"/>
                <a:cs typeface="Calibri"/>
              </a:rPr>
              <a:t> </a:t>
            </a:r>
            <a:r>
              <a:rPr sz="2400" b="1" i="1" dirty="0">
                <a:solidFill>
                  <a:srgbClr val="D9D9D9"/>
                </a:solidFill>
                <a:latin typeface="Calibri"/>
                <a:cs typeface="Calibri"/>
              </a:rPr>
              <a:t>of</a:t>
            </a:r>
            <a:r>
              <a:rPr sz="2400" b="1" i="1" spc="-20" dirty="0">
                <a:solidFill>
                  <a:srgbClr val="D9D9D9"/>
                </a:solidFill>
                <a:latin typeface="Calibri"/>
                <a:cs typeface="Calibri"/>
              </a:rPr>
              <a:t> </a:t>
            </a:r>
            <a:r>
              <a:rPr sz="2400" b="1" i="1" dirty="0">
                <a:solidFill>
                  <a:srgbClr val="D9D9D9"/>
                </a:solidFill>
                <a:latin typeface="Calibri"/>
                <a:cs typeface="Calibri"/>
              </a:rPr>
              <a:t>adding</a:t>
            </a:r>
            <a:r>
              <a:rPr sz="2400" b="1" i="1" spc="-13" dirty="0">
                <a:solidFill>
                  <a:srgbClr val="D9D9D9"/>
                </a:solidFill>
                <a:latin typeface="Calibri"/>
                <a:cs typeface="Calibri"/>
              </a:rPr>
              <a:t> </a:t>
            </a:r>
            <a:r>
              <a:rPr sz="2400" b="1" i="1" dirty="0">
                <a:solidFill>
                  <a:srgbClr val="D9D9D9"/>
                </a:solidFill>
                <a:latin typeface="Calibri"/>
                <a:cs typeface="Calibri"/>
              </a:rPr>
              <a:t>a</a:t>
            </a:r>
            <a:r>
              <a:rPr sz="2400" b="1" i="1" spc="-13" dirty="0">
                <a:solidFill>
                  <a:srgbClr val="D9D9D9"/>
                </a:solidFill>
                <a:latin typeface="Calibri"/>
                <a:cs typeface="Calibri"/>
              </a:rPr>
              <a:t> </a:t>
            </a:r>
            <a:r>
              <a:rPr sz="2400" b="1" i="1" dirty="0">
                <a:solidFill>
                  <a:srgbClr val="D9D9D9"/>
                </a:solidFill>
                <a:latin typeface="Calibri"/>
                <a:cs typeface="Calibri"/>
              </a:rPr>
              <a:t>row –</a:t>
            </a:r>
            <a:r>
              <a:rPr sz="2400" b="1" i="1" spc="-27" dirty="0">
                <a:solidFill>
                  <a:srgbClr val="D9D9D9"/>
                </a:solidFill>
                <a:latin typeface="Calibri"/>
                <a:cs typeface="Calibri"/>
              </a:rPr>
              <a:t> </a:t>
            </a:r>
            <a:r>
              <a:rPr sz="2400" b="1" i="1" dirty="0">
                <a:solidFill>
                  <a:srgbClr val="D9D9D9"/>
                </a:solidFill>
                <a:latin typeface="Calibri"/>
                <a:cs typeface="Calibri"/>
              </a:rPr>
              <a:t>we</a:t>
            </a:r>
            <a:r>
              <a:rPr sz="2400" b="1" i="1" spc="-20" dirty="0">
                <a:solidFill>
                  <a:srgbClr val="D9D9D9"/>
                </a:solidFill>
                <a:latin typeface="Calibri"/>
                <a:cs typeface="Calibri"/>
              </a:rPr>
              <a:t> </a:t>
            </a:r>
            <a:r>
              <a:rPr sz="2400" b="1" i="1" dirty="0">
                <a:solidFill>
                  <a:srgbClr val="D9D9D9"/>
                </a:solidFill>
                <a:latin typeface="Calibri"/>
                <a:cs typeface="Calibri"/>
              </a:rPr>
              <a:t>add</a:t>
            </a:r>
            <a:r>
              <a:rPr sz="2400" b="1" i="1" spc="-7" dirty="0">
                <a:solidFill>
                  <a:srgbClr val="D9D9D9"/>
                </a:solidFill>
                <a:latin typeface="Calibri"/>
                <a:cs typeface="Calibri"/>
              </a:rPr>
              <a:t> </a:t>
            </a:r>
            <a:r>
              <a:rPr sz="2400" b="1" i="1" dirty="0">
                <a:solidFill>
                  <a:srgbClr val="D9D9D9"/>
                </a:solidFill>
                <a:latin typeface="Calibri"/>
                <a:cs typeface="Calibri"/>
              </a:rPr>
              <a:t>a</a:t>
            </a:r>
            <a:r>
              <a:rPr sz="2400" b="1" i="1" spc="-20" dirty="0">
                <a:solidFill>
                  <a:srgbClr val="D9D9D9"/>
                </a:solidFill>
                <a:latin typeface="Calibri"/>
                <a:cs typeface="Calibri"/>
              </a:rPr>
              <a:t> </a:t>
            </a:r>
            <a:r>
              <a:rPr sz="2400" b="1" i="1" spc="-13" dirty="0">
                <a:solidFill>
                  <a:srgbClr val="D9D9D9"/>
                </a:solidFill>
                <a:latin typeface="Calibri"/>
                <a:cs typeface="Calibri"/>
              </a:rPr>
              <a:t>column</a:t>
            </a:r>
            <a:endParaRPr sz="2400">
              <a:latin typeface="Calibri"/>
              <a:cs typeface="Calibri"/>
            </a:endParaRPr>
          </a:p>
          <a:p>
            <a:pPr marL="397077" marR="6773" indent="-380990">
              <a:lnSpc>
                <a:spcPct val="150100"/>
              </a:lnSpc>
              <a:spcBef>
                <a:spcPts val="1940"/>
              </a:spcBef>
              <a:buClr>
                <a:srgbClr val="99D3FF"/>
              </a:buClr>
              <a:buFont typeface="Wingdings"/>
              <a:buChar char=""/>
              <a:tabLst>
                <a:tab pos="398770" algn="l"/>
              </a:tabLst>
            </a:pPr>
            <a:r>
              <a:rPr sz="2400" b="1" i="1" dirty="0">
                <a:solidFill>
                  <a:srgbClr val="D9D9D9"/>
                </a:solidFill>
                <a:latin typeface="Calibri"/>
                <a:cs typeface="Calibri"/>
              </a:rPr>
              <a:t>Typically</a:t>
            </a:r>
            <a:r>
              <a:rPr sz="2400" b="1" i="1" spc="-67" dirty="0">
                <a:solidFill>
                  <a:srgbClr val="D9D9D9"/>
                </a:solidFill>
                <a:latin typeface="Calibri"/>
                <a:cs typeface="Calibri"/>
              </a:rPr>
              <a:t> </a:t>
            </a:r>
            <a:r>
              <a:rPr sz="2400" b="1" i="1" dirty="0">
                <a:solidFill>
                  <a:srgbClr val="D9D9D9"/>
                </a:solidFill>
                <a:latin typeface="Calibri"/>
                <a:cs typeface="Calibri"/>
              </a:rPr>
              <a:t>used</a:t>
            </a:r>
            <a:r>
              <a:rPr sz="2400" b="1" i="1" spc="-40" dirty="0">
                <a:solidFill>
                  <a:srgbClr val="D9D9D9"/>
                </a:solidFill>
                <a:latin typeface="Calibri"/>
                <a:cs typeface="Calibri"/>
              </a:rPr>
              <a:t> </a:t>
            </a:r>
            <a:r>
              <a:rPr sz="2400" b="1" i="1" dirty="0">
                <a:solidFill>
                  <a:srgbClr val="D9D9D9"/>
                </a:solidFill>
                <a:latin typeface="Calibri"/>
                <a:cs typeface="Calibri"/>
              </a:rPr>
              <a:t>for</a:t>
            </a:r>
            <a:r>
              <a:rPr sz="2400" b="1" i="1" spc="-13" dirty="0">
                <a:solidFill>
                  <a:srgbClr val="D9D9D9"/>
                </a:solidFill>
                <a:latin typeface="Calibri"/>
                <a:cs typeface="Calibri"/>
              </a:rPr>
              <a:t> </a:t>
            </a:r>
            <a:r>
              <a:rPr sz="2400" b="1" i="1" dirty="0">
                <a:solidFill>
                  <a:srgbClr val="D9D9D9"/>
                </a:solidFill>
                <a:latin typeface="Calibri"/>
                <a:cs typeface="Calibri"/>
              </a:rPr>
              <a:t>significant</a:t>
            </a:r>
            <a:r>
              <a:rPr sz="2400" b="1" i="1" spc="-47" dirty="0">
                <a:solidFill>
                  <a:srgbClr val="D9D9D9"/>
                </a:solidFill>
                <a:latin typeface="Calibri"/>
                <a:cs typeface="Calibri"/>
              </a:rPr>
              <a:t> </a:t>
            </a:r>
            <a:r>
              <a:rPr sz="2400" b="1" i="1" dirty="0">
                <a:solidFill>
                  <a:srgbClr val="D9D9D9"/>
                </a:solidFill>
                <a:latin typeface="Calibri"/>
                <a:cs typeface="Calibri"/>
              </a:rPr>
              <a:t>changes</a:t>
            </a:r>
            <a:r>
              <a:rPr sz="2400" b="1" i="1" spc="-40" dirty="0">
                <a:solidFill>
                  <a:srgbClr val="D9D9D9"/>
                </a:solidFill>
                <a:latin typeface="Calibri"/>
                <a:cs typeface="Calibri"/>
              </a:rPr>
              <a:t> </a:t>
            </a:r>
            <a:r>
              <a:rPr sz="2400" b="1" i="1" dirty="0">
                <a:solidFill>
                  <a:srgbClr val="D9D9D9"/>
                </a:solidFill>
                <a:latin typeface="Calibri"/>
                <a:cs typeface="Calibri"/>
              </a:rPr>
              <a:t>at</a:t>
            </a:r>
            <a:r>
              <a:rPr sz="2400" b="1" i="1" spc="-40" dirty="0">
                <a:solidFill>
                  <a:srgbClr val="D9D9D9"/>
                </a:solidFill>
                <a:latin typeface="Calibri"/>
                <a:cs typeface="Calibri"/>
              </a:rPr>
              <a:t> </a:t>
            </a:r>
            <a:r>
              <a:rPr sz="2400" b="1" i="1" dirty="0">
                <a:solidFill>
                  <a:srgbClr val="D9D9D9"/>
                </a:solidFill>
                <a:latin typeface="Calibri"/>
                <a:cs typeface="Calibri"/>
              </a:rPr>
              <a:t>a</a:t>
            </a:r>
            <a:r>
              <a:rPr sz="2400" b="1" i="1" spc="-47" dirty="0">
                <a:solidFill>
                  <a:srgbClr val="D9D9D9"/>
                </a:solidFill>
                <a:latin typeface="Calibri"/>
                <a:cs typeface="Calibri"/>
              </a:rPr>
              <a:t> </a:t>
            </a:r>
            <a:r>
              <a:rPr sz="2400" b="1" i="1" spc="-27" dirty="0">
                <a:solidFill>
                  <a:srgbClr val="D9D9D9"/>
                </a:solidFill>
                <a:latin typeface="Calibri"/>
                <a:cs typeface="Calibri"/>
              </a:rPr>
              <a:t>time 	</a:t>
            </a:r>
            <a:r>
              <a:rPr sz="2400" b="1" i="1" dirty="0">
                <a:solidFill>
                  <a:srgbClr val="D9D9D9"/>
                </a:solidFill>
                <a:latin typeface="Calibri"/>
                <a:cs typeface="Calibri"/>
              </a:rPr>
              <a:t>(e.g.</a:t>
            </a:r>
            <a:r>
              <a:rPr sz="2400" b="1" i="1" spc="-20" dirty="0">
                <a:solidFill>
                  <a:srgbClr val="D9D9D9"/>
                </a:solidFill>
                <a:latin typeface="Calibri"/>
                <a:cs typeface="Calibri"/>
              </a:rPr>
              <a:t> </a:t>
            </a:r>
            <a:r>
              <a:rPr sz="2400" b="1" i="1" spc="-13" dirty="0">
                <a:solidFill>
                  <a:srgbClr val="D9D9D9"/>
                </a:solidFill>
                <a:latin typeface="Calibri"/>
                <a:cs typeface="Calibri"/>
              </a:rPr>
              <a:t>restructurings</a:t>
            </a:r>
            <a:r>
              <a:rPr sz="2400" b="1" i="1" dirty="0">
                <a:solidFill>
                  <a:srgbClr val="D9D9D9"/>
                </a:solidFill>
                <a:latin typeface="Calibri"/>
                <a:cs typeface="Calibri"/>
              </a:rPr>
              <a:t> in</a:t>
            </a:r>
            <a:r>
              <a:rPr sz="2400" b="1" i="1" spc="-13" dirty="0">
                <a:solidFill>
                  <a:srgbClr val="D9D9D9"/>
                </a:solidFill>
                <a:latin typeface="Calibri"/>
                <a:cs typeface="Calibri"/>
              </a:rPr>
              <a:t> organizations)</a:t>
            </a:r>
            <a:endParaRPr sz="2400">
              <a:latin typeface="Calibri"/>
              <a:cs typeface="Calibri"/>
            </a:endParaRPr>
          </a:p>
        </p:txBody>
      </p:sp>
      <p:sp>
        <p:nvSpPr>
          <p:cNvPr id="5" name="object 2">
            <a:extLst>
              <a:ext uri="{FF2B5EF4-FFF2-40B4-BE49-F238E27FC236}">
                <a16:creationId xmlns:a16="http://schemas.microsoft.com/office/drawing/2014/main" id="{F87E798B-572C-53F7-EA20-55DF24FE508E}"/>
              </a:ext>
            </a:extLst>
          </p:cNvPr>
          <p:cNvSpPr txBox="1">
            <a:spLocks/>
          </p:cNvSpPr>
          <p:nvPr/>
        </p:nvSpPr>
        <p:spPr>
          <a:xfrm>
            <a:off x="2600960" y="296665"/>
            <a:ext cx="7508240" cy="695062"/>
          </a:xfrm>
          <a:prstGeom prst="rect">
            <a:avLst/>
          </a:prstGeom>
        </p:spPr>
        <p:txBody>
          <a:bodyPr vert="horz" wrap="square" lIns="0" tIns="1778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617205">
              <a:lnSpc>
                <a:spcPct val="100000"/>
              </a:lnSpc>
              <a:spcBef>
                <a:spcPts val="140"/>
              </a:spcBef>
            </a:pPr>
            <a:r>
              <a:rPr lang="en-IN">
                <a:solidFill>
                  <a:schemeClr val="bg1"/>
                </a:solidFill>
                <a:latin typeface="+mn-lt"/>
              </a:rPr>
              <a:t>Type</a:t>
            </a:r>
            <a:r>
              <a:rPr lang="en-IN" spc="-73">
                <a:solidFill>
                  <a:schemeClr val="bg1"/>
                </a:solidFill>
                <a:latin typeface="+mn-lt"/>
              </a:rPr>
              <a:t> </a:t>
            </a:r>
            <a:r>
              <a:rPr lang="en-IN">
                <a:solidFill>
                  <a:schemeClr val="bg1"/>
                </a:solidFill>
                <a:latin typeface="+mn-lt"/>
              </a:rPr>
              <a:t>3:</a:t>
            </a:r>
            <a:r>
              <a:rPr lang="en-IN" spc="-60">
                <a:solidFill>
                  <a:schemeClr val="bg1"/>
                </a:solidFill>
                <a:latin typeface="+mn-lt"/>
              </a:rPr>
              <a:t> </a:t>
            </a:r>
            <a:r>
              <a:rPr lang="en-IN">
                <a:solidFill>
                  <a:schemeClr val="bg1"/>
                </a:solidFill>
                <a:latin typeface="+mn-lt"/>
              </a:rPr>
              <a:t>Additonal</a:t>
            </a:r>
            <a:r>
              <a:rPr lang="en-IN" spc="-27">
                <a:solidFill>
                  <a:schemeClr val="bg1"/>
                </a:solidFill>
                <a:latin typeface="+mn-lt"/>
              </a:rPr>
              <a:t> </a:t>
            </a:r>
            <a:r>
              <a:rPr lang="en-IN" spc="-13">
                <a:solidFill>
                  <a:schemeClr val="bg1"/>
                </a:solidFill>
                <a:latin typeface="+mn-lt"/>
              </a:rPr>
              <a:t>Attributes</a:t>
            </a:r>
            <a:endParaRPr lang="en-IN" spc="-13" dirty="0">
              <a:solidFill>
                <a:schemeClr val="bg1"/>
              </a:solidFill>
              <a:latin typeface="+mn-lt"/>
            </a:endParaRPr>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extLst>
              <p:ext uri="{D42A27DB-BD31-4B8C-83A1-F6EECF244321}">
                <p14:modId xmlns:p14="http://schemas.microsoft.com/office/powerpoint/2010/main" val="3832313399"/>
              </p:ext>
            </p:extLst>
          </p:nvPr>
        </p:nvGraphicFramePr>
        <p:xfrm>
          <a:off x="1397369" y="1218688"/>
          <a:ext cx="5728988" cy="1728886"/>
        </p:xfrm>
        <a:graphic>
          <a:graphicData uri="http://schemas.openxmlformats.org/drawingml/2006/table">
            <a:tbl>
              <a:tblPr firstRow="1" bandRow="1">
                <a:tableStyleId>{2D5ABB26-0587-4C30-8999-92F81FD0307C}</a:tableStyleId>
              </a:tblPr>
              <a:tblGrid>
                <a:gridCol w="992821">
                  <a:extLst>
                    <a:ext uri="{9D8B030D-6E8A-4147-A177-3AD203B41FA5}">
                      <a16:colId xmlns:a16="http://schemas.microsoft.com/office/drawing/2014/main" val="20000"/>
                    </a:ext>
                  </a:extLst>
                </a:gridCol>
                <a:gridCol w="2223486">
                  <a:extLst>
                    <a:ext uri="{9D8B030D-6E8A-4147-A177-3AD203B41FA5}">
                      <a16:colId xmlns:a16="http://schemas.microsoft.com/office/drawing/2014/main" val="20001"/>
                    </a:ext>
                  </a:extLst>
                </a:gridCol>
                <a:gridCol w="1105436">
                  <a:extLst>
                    <a:ext uri="{9D8B030D-6E8A-4147-A177-3AD203B41FA5}">
                      <a16:colId xmlns:a16="http://schemas.microsoft.com/office/drawing/2014/main" val="20002"/>
                    </a:ext>
                  </a:extLst>
                </a:gridCol>
                <a:gridCol w="1407245">
                  <a:extLst>
                    <a:ext uri="{9D8B030D-6E8A-4147-A177-3AD203B41FA5}">
                      <a16:colId xmlns:a16="http://schemas.microsoft.com/office/drawing/2014/main" val="20003"/>
                    </a:ext>
                  </a:extLst>
                </a:gridCol>
              </a:tblGrid>
              <a:tr h="261241">
                <a:tc>
                  <a:txBody>
                    <a:bodyPr/>
                    <a:lstStyle/>
                    <a:p>
                      <a:pPr marL="1905" algn="ctr">
                        <a:lnSpc>
                          <a:spcPct val="100000"/>
                        </a:lnSpc>
                        <a:spcBef>
                          <a:spcPts val="55"/>
                        </a:spcBef>
                      </a:pPr>
                      <a:r>
                        <a:rPr sz="1400" b="1" spc="-10" dirty="0">
                          <a:solidFill>
                            <a:schemeClr val="bg1"/>
                          </a:solidFill>
                          <a:latin typeface="Arial"/>
                          <a:cs typeface="Arial"/>
                        </a:rPr>
                        <a:t>Sales_Key</a:t>
                      </a:r>
                      <a:endParaRPr sz="1400" dirty="0">
                        <a:solidFill>
                          <a:schemeClr val="bg1"/>
                        </a:solidFill>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270" algn="ctr">
                        <a:lnSpc>
                          <a:spcPct val="100000"/>
                        </a:lnSpc>
                        <a:spcBef>
                          <a:spcPts val="55"/>
                        </a:spcBef>
                      </a:pPr>
                      <a:r>
                        <a:rPr sz="1400" b="1" spc="-20" dirty="0">
                          <a:solidFill>
                            <a:schemeClr val="bg1"/>
                          </a:solidFill>
                          <a:latin typeface="Arial"/>
                          <a:cs typeface="Arial"/>
                        </a:rPr>
                        <a:t>Name</a:t>
                      </a:r>
                      <a:endParaRPr sz="1400" dirty="0">
                        <a:solidFill>
                          <a:schemeClr val="bg1"/>
                        </a:solidFill>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905" algn="ctr">
                        <a:lnSpc>
                          <a:spcPct val="100000"/>
                        </a:lnSpc>
                        <a:spcBef>
                          <a:spcPts val="55"/>
                        </a:spcBef>
                      </a:pPr>
                      <a:r>
                        <a:rPr sz="1400" b="1" spc="-10" dirty="0">
                          <a:solidFill>
                            <a:schemeClr val="bg1"/>
                          </a:solidFill>
                          <a:latin typeface="Arial"/>
                          <a:cs typeface="Arial"/>
                        </a:rPr>
                        <a:t>Region_FK</a:t>
                      </a:r>
                      <a:endParaRPr sz="1400" dirty="0">
                        <a:solidFill>
                          <a:schemeClr val="bg1"/>
                        </a:solidFill>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2540" algn="ctr">
                        <a:lnSpc>
                          <a:spcPct val="100000"/>
                        </a:lnSpc>
                        <a:spcBef>
                          <a:spcPts val="55"/>
                        </a:spcBef>
                      </a:pPr>
                      <a:r>
                        <a:rPr sz="1400" b="1" spc="-10" dirty="0">
                          <a:solidFill>
                            <a:schemeClr val="bg1"/>
                          </a:solidFill>
                          <a:latin typeface="Arial"/>
                          <a:cs typeface="Arial"/>
                        </a:rPr>
                        <a:t>Amount</a:t>
                      </a:r>
                      <a:endParaRPr sz="1400" dirty="0">
                        <a:solidFill>
                          <a:schemeClr val="bg1"/>
                        </a:solidFill>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93529">
                <a:tc>
                  <a:txBody>
                    <a:bodyPr/>
                    <a:lstStyle/>
                    <a:p>
                      <a:pPr algn="ctr">
                        <a:lnSpc>
                          <a:spcPct val="100000"/>
                        </a:lnSpc>
                        <a:spcBef>
                          <a:spcPts val="220"/>
                        </a:spcBef>
                      </a:pPr>
                      <a:r>
                        <a:rPr sz="1400" spc="-50" dirty="0">
                          <a:latin typeface="Arial MT"/>
                          <a:cs typeface="Arial MT"/>
                        </a:rPr>
                        <a:t>1</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0"/>
                        </a:spcBef>
                      </a:pPr>
                      <a:r>
                        <a:rPr sz="1400" dirty="0">
                          <a:latin typeface="Arial MT"/>
                          <a:cs typeface="Arial MT"/>
                        </a:rPr>
                        <a:t>Sunglases</a:t>
                      </a:r>
                      <a:r>
                        <a:rPr sz="1400" spc="-55" dirty="0">
                          <a:latin typeface="Arial MT"/>
                          <a:cs typeface="Arial MT"/>
                        </a:rPr>
                        <a:t> </a:t>
                      </a:r>
                      <a:r>
                        <a:rPr sz="1400" dirty="0">
                          <a:latin typeface="Arial MT"/>
                          <a:cs typeface="Arial MT"/>
                        </a:rPr>
                        <a:t>TR-</a:t>
                      </a:r>
                      <a:r>
                        <a:rPr sz="1400" spc="-50" dirty="0">
                          <a:latin typeface="Arial MT"/>
                          <a:cs typeface="Arial MT"/>
                        </a:rPr>
                        <a:t>7</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0"/>
                        </a:spcBef>
                      </a:pPr>
                      <a:r>
                        <a:rPr sz="1400" spc="-50" dirty="0">
                          <a:latin typeface="Arial MT"/>
                          <a:cs typeface="Arial MT"/>
                        </a:rPr>
                        <a:t>1</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0"/>
                        </a:spcBef>
                      </a:pPr>
                      <a:r>
                        <a:rPr sz="1400" spc="-25" dirty="0">
                          <a:latin typeface="Arial MT"/>
                          <a:cs typeface="Arial MT"/>
                        </a:rPr>
                        <a:t>$25</a:t>
                      </a:r>
                      <a:endParaRPr sz="1400" dirty="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93529">
                <a:tc>
                  <a:txBody>
                    <a:bodyPr/>
                    <a:lstStyle/>
                    <a:p>
                      <a:pPr algn="ctr">
                        <a:lnSpc>
                          <a:spcPct val="100000"/>
                        </a:lnSpc>
                        <a:spcBef>
                          <a:spcPts val="220"/>
                        </a:spcBef>
                      </a:pPr>
                      <a:r>
                        <a:rPr sz="1400" spc="-50" dirty="0">
                          <a:latin typeface="Arial MT"/>
                          <a:cs typeface="Arial MT"/>
                        </a:rPr>
                        <a:t>2</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0"/>
                        </a:spcBef>
                      </a:pPr>
                      <a:r>
                        <a:rPr sz="1400" spc="-10" dirty="0">
                          <a:latin typeface="Arial MT"/>
                          <a:cs typeface="Arial MT"/>
                        </a:rPr>
                        <a:t>Chocolate </a:t>
                      </a:r>
                      <a:r>
                        <a:rPr sz="1400" dirty="0">
                          <a:latin typeface="Arial MT"/>
                          <a:cs typeface="Arial MT"/>
                        </a:rPr>
                        <a:t>bar 70%</a:t>
                      </a:r>
                      <a:r>
                        <a:rPr sz="1400" spc="5" dirty="0">
                          <a:latin typeface="Arial MT"/>
                          <a:cs typeface="Arial MT"/>
                        </a:rPr>
                        <a:t> </a:t>
                      </a:r>
                      <a:r>
                        <a:rPr sz="1400" spc="-10" dirty="0">
                          <a:latin typeface="Arial MT"/>
                          <a:cs typeface="Arial MT"/>
                        </a:rPr>
                        <a:t>cacao</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0"/>
                        </a:spcBef>
                      </a:pPr>
                      <a:r>
                        <a:rPr sz="1400" spc="-50" dirty="0">
                          <a:latin typeface="Arial MT"/>
                          <a:cs typeface="Arial MT"/>
                        </a:rPr>
                        <a:t>2</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0"/>
                        </a:spcBef>
                      </a:pPr>
                      <a:r>
                        <a:rPr sz="1400" spc="-25" dirty="0">
                          <a:latin typeface="Arial MT"/>
                          <a:cs typeface="Arial MT"/>
                        </a:rPr>
                        <a:t>$3</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93529">
                <a:tc>
                  <a:txBody>
                    <a:bodyPr/>
                    <a:lstStyle/>
                    <a:p>
                      <a:pPr algn="ctr">
                        <a:lnSpc>
                          <a:spcPct val="100000"/>
                        </a:lnSpc>
                        <a:spcBef>
                          <a:spcPts val="220"/>
                        </a:spcBef>
                      </a:pPr>
                      <a:r>
                        <a:rPr sz="1400" spc="-50" dirty="0">
                          <a:latin typeface="Arial MT"/>
                          <a:cs typeface="Arial MT"/>
                        </a:rPr>
                        <a:t>3</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0"/>
                        </a:spcBef>
                      </a:pPr>
                      <a:r>
                        <a:rPr sz="1400" dirty="0">
                          <a:latin typeface="Arial MT"/>
                          <a:cs typeface="Arial MT"/>
                        </a:rPr>
                        <a:t>Oat</a:t>
                      </a:r>
                      <a:r>
                        <a:rPr sz="1400" spc="-25" dirty="0">
                          <a:latin typeface="Arial MT"/>
                          <a:cs typeface="Arial MT"/>
                        </a:rPr>
                        <a:t> </a:t>
                      </a:r>
                      <a:r>
                        <a:rPr sz="1400" dirty="0">
                          <a:latin typeface="Arial MT"/>
                          <a:cs typeface="Arial MT"/>
                        </a:rPr>
                        <a:t>meal</a:t>
                      </a:r>
                      <a:r>
                        <a:rPr sz="1400" spc="-35" dirty="0">
                          <a:latin typeface="Arial MT"/>
                          <a:cs typeface="Arial MT"/>
                        </a:rPr>
                        <a:t> </a:t>
                      </a:r>
                      <a:r>
                        <a:rPr sz="1400" spc="-10" dirty="0">
                          <a:latin typeface="Arial MT"/>
                          <a:cs typeface="Arial MT"/>
                        </a:rPr>
                        <a:t>biscuits</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0"/>
                        </a:spcBef>
                      </a:pPr>
                      <a:r>
                        <a:rPr sz="1400" spc="-50" dirty="0">
                          <a:latin typeface="Arial MT"/>
                          <a:cs typeface="Arial MT"/>
                        </a:rPr>
                        <a:t>3</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0"/>
                        </a:spcBef>
                      </a:pPr>
                      <a:r>
                        <a:rPr sz="1400" spc="-25" dirty="0">
                          <a:latin typeface="Arial MT"/>
                          <a:cs typeface="Arial MT"/>
                        </a:rPr>
                        <a:t>$4</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93529">
                <a:tc>
                  <a:txBody>
                    <a:bodyPr/>
                    <a:lstStyle/>
                    <a:p>
                      <a:pPr algn="ctr">
                        <a:lnSpc>
                          <a:spcPct val="100000"/>
                        </a:lnSpc>
                        <a:spcBef>
                          <a:spcPts val="225"/>
                        </a:spcBef>
                      </a:pPr>
                      <a:r>
                        <a:rPr sz="1400" spc="-50" dirty="0">
                          <a:latin typeface="Arial MT"/>
                          <a:cs typeface="Arial MT"/>
                        </a:rPr>
                        <a:t>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Chocolate </a:t>
                      </a:r>
                      <a:r>
                        <a:rPr sz="1400" dirty="0">
                          <a:latin typeface="Arial MT"/>
                          <a:cs typeface="Arial MT"/>
                        </a:rPr>
                        <a:t>bar 70%</a:t>
                      </a:r>
                      <a:r>
                        <a:rPr sz="1400" spc="5" dirty="0">
                          <a:latin typeface="Arial MT"/>
                          <a:cs typeface="Arial MT"/>
                        </a:rPr>
                        <a:t> </a:t>
                      </a:r>
                      <a:r>
                        <a:rPr sz="1400" spc="-10" dirty="0">
                          <a:latin typeface="Arial MT"/>
                          <a:cs typeface="Arial MT"/>
                        </a:rPr>
                        <a:t>cacao</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25"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93529">
                <a:tc>
                  <a:txBody>
                    <a:bodyPr/>
                    <a:lstStyle/>
                    <a:p>
                      <a:pPr algn="ctr">
                        <a:lnSpc>
                          <a:spcPct val="100000"/>
                        </a:lnSpc>
                        <a:spcBef>
                          <a:spcPts val="225"/>
                        </a:spcBef>
                      </a:pPr>
                      <a:r>
                        <a:rPr sz="1400" spc="-50" dirty="0">
                          <a:latin typeface="Arial MT"/>
                          <a:cs typeface="Arial MT"/>
                        </a:rPr>
                        <a:t>5</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F1F1"/>
                    </a:solidFill>
                  </a:tcPr>
                </a:tc>
                <a:tc>
                  <a:txBody>
                    <a:bodyPr/>
                    <a:lstStyle/>
                    <a:p>
                      <a:pPr algn="ctr">
                        <a:lnSpc>
                          <a:spcPct val="100000"/>
                        </a:lnSpc>
                        <a:spcBef>
                          <a:spcPts val="225"/>
                        </a:spcBef>
                      </a:pPr>
                      <a:r>
                        <a:rPr sz="1400" dirty="0">
                          <a:latin typeface="Arial MT"/>
                          <a:cs typeface="Arial MT"/>
                        </a:rPr>
                        <a:t>Oat</a:t>
                      </a:r>
                      <a:r>
                        <a:rPr sz="1400" spc="-25" dirty="0">
                          <a:latin typeface="Arial MT"/>
                          <a:cs typeface="Arial MT"/>
                        </a:rPr>
                        <a:t> </a:t>
                      </a:r>
                      <a:r>
                        <a:rPr sz="1400" dirty="0">
                          <a:latin typeface="Arial MT"/>
                          <a:cs typeface="Arial MT"/>
                        </a:rPr>
                        <a:t>meal</a:t>
                      </a:r>
                      <a:r>
                        <a:rPr sz="1400" spc="-35" dirty="0">
                          <a:latin typeface="Arial MT"/>
                          <a:cs typeface="Arial MT"/>
                        </a:rPr>
                        <a:t> </a:t>
                      </a:r>
                      <a:r>
                        <a:rPr sz="1400" spc="-10" dirty="0">
                          <a:latin typeface="Arial MT"/>
                          <a:cs typeface="Arial MT"/>
                        </a:rPr>
                        <a:t>biscuits</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F1F1"/>
                    </a:solidFill>
                  </a:tcPr>
                </a:tc>
                <a:tc>
                  <a:txBody>
                    <a:bodyPr/>
                    <a:lstStyle/>
                    <a:p>
                      <a:pPr algn="ctr">
                        <a:lnSpc>
                          <a:spcPct val="10000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F1F1"/>
                    </a:solidFill>
                  </a:tcPr>
                </a:tc>
                <a:tc>
                  <a:txBody>
                    <a:bodyPr/>
                    <a:lstStyle/>
                    <a:p>
                      <a:pPr marL="2540" algn="ctr">
                        <a:lnSpc>
                          <a:spcPct val="100000"/>
                        </a:lnSpc>
                        <a:spcBef>
                          <a:spcPts val="225"/>
                        </a:spcBef>
                      </a:pPr>
                      <a:r>
                        <a:rPr sz="1400" spc="-25" dirty="0">
                          <a:latin typeface="Arial MT"/>
                          <a:cs typeface="Arial MT"/>
                        </a:rPr>
                        <a:t>$4</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F1F1"/>
                    </a:solidFill>
                  </a:tcPr>
                </a:tc>
                <a:extLst>
                  <a:ext uri="{0D108BD9-81ED-4DB2-BD59-A6C34878D82A}">
                    <a16:rowId xmlns:a16="http://schemas.microsoft.com/office/drawing/2014/main" val="10005"/>
                  </a:ext>
                </a:extLst>
              </a:tr>
            </a:tbl>
          </a:graphicData>
        </a:graphic>
      </p:graphicFrame>
      <p:graphicFrame>
        <p:nvGraphicFramePr>
          <p:cNvPr id="4" name="object 4"/>
          <p:cNvGraphicFramePr>
            <a:graphicFrameLocks noGrp="1"/>
          </p:cNvGraphicFramePr>
          <p:nvPr>
            <p:extLst>
              <p:ext uri="{D42A27DB-BD31-4B8C-83A1-F6EECF244321}">
                <p14:modId xmlns:p14="http://schemas.microsoft.com/office/powerpoint/2010/main" val="1037740038"/>
              </p:ext>
            </p:extLst>
          </p:nvPr>
        </p:nvGraphicFramePr>
        <p:xfrm>
          <a:off x="7792278" y="1576425"/>
          <a:ext cx="4144537" cy="1196591"/>
        </p:xfrm>
        <a:graphic>
          <a:graphicData uri="http://schemas.openxmlformats.org/drawingml/2006/table">
            <a:tbl>
              <a:tblPr firstRow="1" bandRow="1">
                <a:tableStyleId>{2D5ABB26-0587-4C30-8999-92F81FD0307C}</a:tableStyleId>
              </a:tblPr>
              <a:tblGrid>
                <a:gridCol w="952308">
                  <a:extLst>
                    <a:ext uri="{9D8B030D-6E8A-4147-A177-3AD203B41FA5}">
                      <a16:colId xmlns:a16="http://schemas.microsoft.com/office/drawing/2014/main" val="20000"/>
                    </a:ext>
                  </a:extLst>
                </a:gridCol>
                <a:gridCol w="1522057">
                  <a:extLst>
                    <a:ext uri="{9D8B030D-6E8A-4147-A177-3AD203B41FA5}">
                      <a16:colId xmlns:a16="http://schemas.microsoft.com/office/drawing/2014/main" val="20001"/>
                    </a:ext>
                  </a:extLst>
                </a:gridCol>
                <a:gridCol w="1670172">
                  <a:extLst>
                    <a:ext uri="{9D8B030D-6E8A-4147-A177-3AD203B41FA5}">
                      <a16:colId xmlns:a16="http://schemas.microsoft.com/office/drawing/2014/main" val="20002"/>
                    </a:ext>
                  </a:extLst>
                </a:gridCol>
              </a:tblGrid>
              <a:tr h="273770">
                <a:tc>
                  <a:txBody>
                    <a:bodyPr/>
                    <a:lstStyle/>
                    <a:p>
                      <a:pPr algn="ctr">
                        <a:lnSpc>
                          <a:spcPct val="100000"/>
                        </a:lnSpc>
                        <a:spcBef>
                          <a:spcPts val="55"/>
                        </a:spcBef>
                      </a:pPr>
                      <a:r>
                        <a:rPr sz="1400" b="1" spc="-10" dirty="0">
                          <a:solidFill>
                            <a:schemeClr val="bg1"/>
                          </a:solidFill>
                          <a:latin typeface="Arial"/>
                          <a:cs typeface="Arial"/>
                        </a:rPr>
                        <a:t>Reg_PK</a:t>
                      </a:r>
                      <a:endParaRPr sz="1400" dirty="0">
                        <a:solidFill>
                          <a:schemeClr val="bg1"/>
                        </a:solidFill>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gn="ctr">
                        <a:lnSpc>
                          <a:spcPct val="100000"/>
                        </a:lnSpc>
                        <a:spcBef>
                          <a:spcPts val="55"/>
                        </a:spcBef>
                      </a:pPr>
                      <a:r>
                        <a:rPr sz="1400" b="1" spc="-10" dirty="0">
                          <a:solidFill>
                            <a:schemeClr val="bg1"/>
                          </a:solidFill>
                          <a:latin typeface="Arial"/>
                          <a:cs typeface="Arial"/>
                        </a:rPr>
                        <a:t>Region</a:t>
                      </a:r>
                      <a:endParaRPr sz="1400" dirty="0">
                        <a:solidFill>
                          <a:schemeClr val="bg1"/>
                        </a:solidFill>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gn="ctr">
                        <a:lnSpc>
                          <a:spcPct val="100000"/>
                        </a:lnSpc>
                        <a:spcBef>
                          <a:spcPts val="55"/>
                        </a:spcBef>
                      </a:pPr>
                      <a:r>
                        <a:rPr sz="1400" b="1" spc="-10" dirty="0">
                          <a:solidFill>
                            <a:schemeClr val="bg1"/>
                          </a:solidFill>
                          <a:latin typeface="Arial"/>
                          <a:cs typeface="Arial"/>
                        </a:rPr>
                        <a:t>Prev_Region</a:t>
                      </a:r>
                      <a:endParaRPr sz="1400" dirty="0">
                        <a:solidFill>
                          <a:schemeClr val="bg1"/>
                        </a:solidFill>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307607">
                <a:tc>
                  <a:txBody>
                    <a:bodyPr/>
                    <a:lstStyle/>
                    <a:p>
                      <a:pPr algn="ctr">
                        <a:lnSpc>
                          <a:spcPct val="100000"/>
                        </a:lnSpc>
                        <a:spcBef>
                          <a:spcPts val="220"/>
                        </a:spcBef>
                      </a:pPr>
                      <a:r>
                        <a:rPr sz="1400" spc="-50" dirty="0">
                          <a:latin typeface="Arial MT"/>
                          <a:cs typeface="Arial MT"/>
                        </a:rPr>
                        <a:t>1</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0"/>
                        </a:spcBef>
                      </a:pPr>
                      <a:r>
                        <a:rPr sz="1400" spc="-10" dirty="0">
                          <a:latin typeface="Arial MT"/>
                          <a:cs typeface="Arial MT"/>
                        </a:rPr>
                        <a:t>North</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0"/>
                        </a:spcBef>
                      </a:pPr>
                      <a:r>
                        <a:rPr sz="1400" spc="-10" dirty="0">
                          <a:latin typeface="Arial MT"/>
                          <a:cs typeface="Arial MT"/>
                        </a:rPr>
                        <a:t>North</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307607">
                <a:tc>
                  <a:txBody>
                    <a:bodyPr/>
                    <a:lstStyle/>
                    <a:p>
                      <a:pPr algn="ctr">
                        <a:lnSpc>
                          <a:spcPct val="100000"/>
                        </a:lnSpc>
                        <a:spcBef>
                          <a:spcPts val="220"/>
                        </a:spcBef>
                      </a:pPr>
                      <a:r>
                        <a:rPr sz="1400" spc="-50" dirty="0">
                          <a:latin typeface="Arial MT"/>
                          <a:cs typeface="Arial MT"/>
                        </a:rPr>
                        <a:t>2</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0"/>
                        </a:spcBef>
                      </a:pPr>
                      <a:r>
                        <a:rPr sz="1400" spc="-20" dirty="0">
                          <a:latin typeface="Arial MT"/>
                          <a:cs typeface="Arial MT"/>
                        </a:rPr>
                        <a:t>West</a:t>
                      </a:r>
                      <a:endParaRPr sz="1400" dirty="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0"/>
                        </a:spcBef>
                      </a:pPr>
                      <a:r>
                        <a:rPr sz="1400" spc="-20" dirty="0">
                          <a:latin typeface="Arial MT"/>
                          <a:cs typeface="Arial MT"/>
                        </a:rPr>
                        <a:t>West</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307607">
                <a:tc>
                  <a:txBody>
                    <a:bodyPr/>
                    <a:lstStyle/>
                    <a:p>
                      <a:pPr algn="ctr">
                        <a:lnSpc>
                          <a:spcPct val="10000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10" dirty="0">
                          <a:latin typeface="Arial MT"/>
                          <a:cs typeface="Arial MT"/>
                        </a:rPr>
                        <a:t>South</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20" dirty="0">
                          <a:latin typeface="Arial MT"/>
                          <a:cs typeface="Arial MT"/>
                        </a:rPr>
                        <a:t>West</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E7FF"/>
                    </a:solidFill>
                  </a:tcPr>
                </a:tc>
                <a:extLst>
                  <a:ext uri="{0D108BD9-81ED-4DB2-BD59-A6C34878D82A}">
                    <a16:rowId xmlns:a16="http://schemas.microsoft.com/office/drawing/2014/main" val="10003"/>
                  </a:ext>
                </a:extLst>
              </a:tr>
            </a:tbl>
          </a:graphicData>
        </a:graphic>
      </p:graphicFrame>
      <p:sp>
        <p:nvSpPr>
          <p:cNvPr id="5" name="object 5"/>
          <p:cNvSpPr txBox="1"/>
          <p:nvPr/>
        </p:nvSpPr>
        <p:spPr>
          <a:xfrm>
            <a:off x="2238926" y="3175339"/>
            <a:ext cx="6875780" cy="2566514"/>
          </a:xfrm>
          <a:prstGeom prst="rect">
            <a:avLst/>
          </a:prstGeom>
        </p:spPr>
        <p:txBody>
          <a:bodyPr vert="horz" wrap="square" lIns="0" tIns="16933" rIns="0" bIns="0" rtlCol="0">
            <a:spAutoFit/>
          </a:bodyPr>
          <a:lstStyle/>
          <a:p>
            <a:pPr marL="417396" indent="-380990">
              <a:spcBef>
                <a:spcPts val="133"/>
              </a:spcBef>
              <a:buClr>
                <a:srgbClr val="99D3FF"/>
              </a:buClr>
              <a:buFont typeface="Wingdings"/>
              <a:buChar char=""/>
              <a:tabLst>
                <a:tab pos="417396" algn="l"/>
              </a:tabLst>
            </a:pPr>
            <a:r>
              <a:rPr sz="2400" b="1" i="1" dirty="0">
                <a:solidFill>
                  <a:srgbClr val="D9D9D9"/>
                </a:solidFill>
                <a:latin typeface="Calibri"/>
                <a:cs typeface="Calibri"/>
              </a:rPr>
              <a:t>Instead</a:t>
            </a:r>
            <a:r>
              <a:rPr sz="2400" b="1" i="1" spc="-20" dirty="0">
                <a:solidFill>
                  <a:srgbClr val="D9D9D9"/>
                </a:solidFill>
                <a:latin typeface="Calibri"/>
                <a:cs typeface="Calibri"/>
              </a:rPr>
              <a:t> </a:t>
            </a:r>
            <a:r>
              <a:rPr sz="2400" b="1" i="1" dirty="0">
                <a:solidFill>
                  <a:srgbClr val="D9D9D9"/>
                </a:solidFill>
                <a:latin typeface="Calibri"/>
                <a:cs typeface="Calibri"/>
              </a:rPr>
              <a:t>of</a:t>
            </a:r>
            <a:r>
              <a:rPr sz="2400" b="1" i="1" spc="-20" dirty="0">
                <a:solidFill>
                  <a:srgbClr val="D9D9D9"/>
                </a:solidFill>
                <a:latin typeface="Calibri"/>
                <a:cs typeface="Calibri"/>
              </a:rPr>
              <a:t> </a:t>
            </a:r>
            <a:r>
              <a:rPr sz="2400" b="1" i="1" dirty="0">
                <a:solidFill>
                  <a:srgbClr val="D9D9D9"/>
                </a:solidFill>
                <a:latin typeface="Calibri"/>
                <a:cs typeface="Calibri"/>
              </a:rPr>
              <a:t>adding</a:t>
            </a:r>
            <a:r>
              <a:rPr sz="2400" b="1" i="1" spc="-13" dirty="0">
                <a:solidFill>
                  <a:srgbClr val="D9D9D9"/>
                </a:solidFill>
                <a:latin typeface="Calibri"/>
                <a:cs typeface="Calibri"/>
              </a:rPr>
              <a:t> </a:t>
            </a:r>
            <a:r>
              <a:rPr sz="2400" b="1" i="1" dirty="0">
                <a:solidFill>
                  <a:srgbClr val="D9D9D9"/>
                </a:solidFill>
                <a:latin typeface="Calibri"/>
                <a:cs typeface="Calibri"/>
              </a:rPr>
              <a:t>a</a:t>
            </a:r>
            <a:r>
              <a:rPr sz="2400" b="1" i="1" spc="-13" dirty="0">
                <a:solidFill>
                  <a:srgbClr val="D9D9D9"/>
                </a:solidFill>
                <a:latin typeface="Calibri"/>
                <a:cs typeface="Calibri"/>
              </a:rPr>
              <a:t> </a:t>
            </a:r>
            <a:r>
              <a:rPr sz="2400" b="1" i="1" dirty="0">
                <a:solidFill>
                  <a:srgbClr val="D9D9D9"/>
                </a:solidFill>
                <a:latin typeface="Calibri"/>
                <a:cs typeface="Calibri"/>
              </a:rPr>
              <a:t>row –</a:t>
            </a:r>
            <a:r>
              <a:rPr sz="2400" b="1" i="1" spc="-27" dirty="0">
                <a:solidFill>
                  <a:srgbClr val="D9D9D9"/>
                </a:solidFill>
                <a:latin typeface="Calibri"/>
                <a:cs typeface="Calibri"/>
              </a:rPr>
              <a:t> </a:t>
            </a:r>
            <a:r>
              <a:rPr sz="2400" b="1" i="1" dirty="0">
                <a:solidFill>
                  <a:srgbClr val="D9D9D9"/>
                </a:solidFill>
                <a:latin typeface="Calibri"/>
                <a:cs typeface="Calibri"/>
              </a:rPr>
              <a:t>we</a:t>
            </a:r>
            <a:r>
              <a:rPr sz="2400" b="1" i="1" spc="-20" dirty="0">
                <a:solidFill>
                  <a:srgbClr val="D9D9D9"/>
                </a:solidFill>
                <a:latin typeface="Calibri"/>
                <a:cs typeface="Calibri"/>
              </a:rPr>
              <a:t> </a:t>
            </a:r>
            <a:r>
              <a:rPr sz="2400" b="1" i="1" dirty="0">
                <a:solidFill>
                  <a:srgbClr val="D9D9D9"/>
                </a:solidFill>
                <a:latin typeface="Calibri"/>
                <a:cs typeface="Calibri"/>
              </a:rPr>
              <a:t>add</a:t>
            </a:r>
            <a:r>
              <a:rPr sz="2400" b="1" i="1" spc="-7" dirty="0">
                <a:solidFill>
                  <a:srgbClr val="D9D9D9"/>
                </a:solidFill>
                <a:latin typeface="Calibri"/>
                <a:cs typeface="Calibri"/>
              </a:rPr>
              <a:t> </a:t>
            </a:r>
            <a:r>
              <a:rPr sz="2400" b="1" i="1" dirty="0">
                <a:solidFill>
                  <a:srgbClr val="D9D9D9"/>
                </a:solidFill>
                <a:latin typeface="Calibri"/>
                <a:cs typeface="Calibri"/>
              </a:rPr>
              <a:t>a</a:t>
            </a:r>
            <a:r>
              <a:rPr sz="2400" b="1" i="1" spc="-20" dirty="0">
                <a:solidFill>
                  <a:srgbClr val="D9D9D9"/>
                </a:solidFill>
                <a:latin typeface="Calibri"/>
                <a:cs typeface="Calibri"/>
              </a:rPr>
              <a:t> </a:t>
            </a:r>
            <a:r>
              <a:rPr sz="2400" b="1" i="1" spc="-13" dirty="0">
                <a:solidFill>
                  <a:srgbClr val="D9D9D9"/>
                </a:solidFill>
                <a:latin typeface="Calibri"/>
                <a:cs typeface="Calibri"/>
              </a:rPr>
              <a:t>column</a:t>
            </a:r>
            <a:endParaRPr sz="2400">
              <a:latin typeface="Calibri"/>
              <a:cs typeface="Calibri"/>
            </a:endParaRPr>
          </a:p>
          <a:p>
            <a:pPr marL="397077" marR="557939" indent="-380990">
              <a:lnSpc>
                <a:spcPct val="150100"/>
              </a:lnSpc>
              <a:spcBef>
                <a:spcPts val="1940"/>
              </a:spcBef>
              <a:buClr>
                <a:srgbClr val="99D3FF"/>
              </a:buClr>
              <a:buFont typeface="Wingdings"/>
              <a:buChar char=""/>
              <a:tabLst>
                <a:tab pos="398770" algn="l"/>
              </a:tabLst>
            </a:pPr>
            <a:r>
              <a:rPr sz="2400" b="1" i="1" dirty="0">
                <a:solidFill>
                  <a:srgbClr val="D9D9D9"/>
                </a:solidFill>
                <a:latin typeface="Calibri"/>
                <a:cs typeface="Calibri"/>
              </a:rPr>
              <a:t>Typically</a:t>
            </a:r>
            <a:r>
              <a:rPr sz="2400" b="1" i="1" spc="-67" dirty="0">
                <a:solidFill>
                  <a:srgbClr val="D9D9D9"/>
                </a:solidFill>
                <a:latin typeface="Calibri"/>
                <a:cs typeface="Calibri"/>
              </a:rPr>
              <a:t> </a:t>
            </a:r>
            <a:r>
              <a:rPr sz="2400" b="1" i="1" dirty="0">
                <a:solidFill>
                  <a:srgbClr val="D9D9D9"/>
                </a:solidFill>
                <a:latin typeface="Calibri"/>
                <a:cs typeface="Calibri"/>
              </a:rPr>
              <a:t>used</a:t>
            </a:r>
            <a:r>
              <a:rPr sz="2400" b="1" i="1" spc="-40" dirty="0">
                <a:solidFill>
                  <a:srgbClr val="D9D9D9"/>
                </a:solidFill>
                <a:latin typeface="Calibri"/>
                <a:cs typeface="Calibri"/>
              </a:rPr>
              <a:t> </a:t>
            </a:r>
            <a:r>
              <a:rPr sz="2400" b="1" i="1" dirty="0">
                <a:solidFill>
                  <a:srgbClr val="D9D9D9"/>
                </a:solidFill>
                <a:latin typeface="Calibri"/>
                <a:cs typeface="Calibri"/>
              </a:rPr>
              <a:t>for</a:t>
            </a:r>
            <a:r>
              <a:rPr sz="2400" b="1" i="1" spc="-13" dirty="0">
                <a:solidFill>
                  <a:srgbClr val="D9D9D9"/>
                </a:solidFill>
                <a:latin typeface="Calibri"/>
                <a:cs typeface="Calibri"/>
              </a:rPr>
              <a:t> </a:t>
            </a:r>
            <a:r>
              <a:rPr sz="2400" b="1" i="1" dirty="0">
                <a:solidFill>
                  <a:srgbClr val="D9D9D9"/>
                </a:solidFill>
                <a:latin typeface="Calibri"/>
                <a:cs typeface="Calibri"/>
              </a:rPr>
              <a:t>significant</a:t>
            </a:r>
            <a:r>
              <a:rPr sz="2400" b="1" i="1" spc="-47" dirty="0">
                <a:solidFill>
                  <a:srgbClr val="D9D9D9"/>
                </a:solidFill>
                <a:latin typeface="Calibri"/>
                <a:cs typeface="Calibri"/>
              </a:rPr>
              <a:t> </a:t>
            </a:r>
            <a:r>
              <a:rPr sz="2400" b="1" i="1" dirty="0">
                <a:solidFill>
                  <a:srgbClr val="D9D9D9"/>
                </a:solidFill>
                <a:latin typeface="Calibri"/>
                <a:cs typeface="Calibri"/>
              </a:rPr>
              <a:t>changes</a:t>
            </a:r>
            <a:r>
              <a:rPr sz="2400" b="1" i="1" spc="-40" dirty="0">
                <a:solidFill>
                  <a:srgbClr val="D9D9D9"/>
                </a:solidFill>
                <a:latin typeface="Calibri"/>
                <a:cs typeface="Calibri"/>
              </a:rPr>
              <a:t> </a:t>
            </a:r>
            <a:r>
              <a:rPr sz="2400" b="1" i="1" dirty="0">
                <a:solidFill>
                  <a:srgbClr val="D9D9D9"/>
                </a:solidFill>
                <a:latin typeface="Calibri"/>
                <a:cs typeface="Calibri"/>
              </a:rPr>
              <a:t>at</a:t>
            </a:r>
            <a:r>
              <a:rPr sz="2400" b="1" i="1" spc="-40" dirty="0">
                <a:solidFill>
                  <a:srgbClr val="D9D9D9"/>
                </a:solidFill>
                <a:latin typeface="Calibri"/>
                <a:cs typeface="Calibri"/>
              </a:rPr>
              <a:t> </a:t>
            </a:r>
            <a:r>
              <a:rPr sz="2400" b="1" i="1" dirty="0">
                <a:solidFill>
                  <a:srgbClr val="D9D9D9"/>
                </a:solidFill>
                <a:latin typeface="Calibri"/>
                <a:cs typeface="Calibri"/>
              </a:rPr>
              <a:t>a</a:t>
            </a:r>
            <a:r>
              <a:rPr sz="2400" b="1" i="1" spc="-47" dirty="0">
                <a:solidFill>
                  <a:srgbClr val="D9D9D9"/>
                </a:solidFill>
                <a:latin typeface="Calibri"/>
                <a:cs typeface="Calibri"/>
              </a:rPr>
              <a:t> </a:t>
            </a:r>
            <a:r>
              <a:rPr sz="2400" b="1" i="1" spc="-27" dirty="0">
                <a:solidFill>
                  <a:srgbClr val="D9D9D9"/>
                </a:solidFill>
                <a:latin typeface="Calibri"/>
                <a:cs typeface="Calibri"/>
              </a:rPr>
              <a:t>time 	</a:t>
            </a:r>
            <a:r>
              <a:rPr sz="2400" b="1" i="1" dirty="0">
                <a:solidFill>
                  <a:srgbClr val="D9D9D9"/>
                </a:solidFill>
                <a:latin typeface="Calibri"/>
                <a:cs typeface="Calibri"/>
              </a:rPr>
              <a:t>(e.g.</a:t>
            </a:r>
            <a:r>
              <a:rPr sz="2400" b="1" i="1" spc="-20" dirty="0">
                <a:solidFill>
                  <a:srgbClr val="D9D9D9"/>
                </a:solidFill>
                <a:latin typeface="Calibri"/>
                <a:cs typeface="Calibri"/>
              </a:rPr>
              <a:t> </a:t>
            </a:r>
            <a:r>
              <a:rPr sz="2400" b="1" i="1" spc="-13" dirty="0">
                <a:solidFill>
                  <a:srgbClr val="D9D9D9"/>
                </a:solidFill>
                <a:latin typeface="Calibri"/>
                <a:cs typeface="Calibri"/>
              </a:rPr>
              <a:t>restructurings</a:t>
            </a:r>
            <a:r>
              <a:rPr sz="2400" b="1" i="1" dirty="0">
                <a:solidFill>
                  <a:srgbClr val="D9D9D9"/>
                </a:solidFill>
                <a:latin typeface="Calibri"/>
                <a:cs typeface="Calibri"/>
              </a:rPr>
              <a:t> in</a:t>
            </a:r>
            <a:r>
              <a:rPr sz="2400" b="1" i="1" spc="-13" dirty="0">
                <a:solidFill>
                  <a:srgbClr val="D9D9D9"/>
                </a:solidFill>
                <a:latin typeface="Calibri"/>
                <a:cs typeface="Calibri"/>
              </a:rPr>
              <a:t> organizations)</a:t>
            </a:r>
            <a:endParaRPr sz="2400">
              <a:latin typeface="Calibri"/>
              <a:cs typeface="Calibri"/>
            </a:endParaRPr>
          </a:p>
          <a:p>
            <a:pPr>
              <a:spcBef>
                <a:spcPts val="727"/>
              </a:spcBef>
              <a:buClr>
                <a:srgbClr val="99D3FF"/>
              </a:buClr>
              <a:buFont typeface="Wingdings"/>
              <a:buChar char=""/>
            </a:pPr>
            <a:endParaRPr sz="2400">
              <a:latin typeface="Calibri"/>
              <a:cs typeface="Calibri"/>
            </a:endParaRPr>
          </a:p>
          <a:p>
            <a:pPr marL="423323" indent="-380990">
              <a:spcBef>
                <a:spcPts val="7"/>
              </a:spcBef>
              <a:buClr>
                <a:srgbClr val="99D3FF"/>
              </a:buClr>
              <a:buFont typeface="Wingdings"/>
              <a:buChar char=""/>
              <a:tabLst>
                <a:tab pos="423323" algn="l"/>
              </a:tabLst>
            </a:pPr>
            <a:r>
              <a:rPr sz="2400" b="1" i="1" dirty="0">
                <a:solidFill>
                  <a:srgbClr val="D9D9D9"/>
                </a:solidFill>
                <a:latin typeface="Calibri"/>
                <a:cs typeface="Calibri"/>
              </a:rPr>
              <a:t>Enables</a:t>
            </a:r>
            <a:r>
              <a:rPr sz="2400" b="1" i="1" spc="-47" dirty="0">
                <a:solidFill>
                  <a:srgbClr val="D9D9D9"/>
                </a:solidFill>
                <a:latin typeface="Calibri"/>
                <a:cs typeface="Calibri"/>
              </a:rPr>
              <a:t> </a:t>
            </a:r>
            <a:r>
              <a:rPr sz="2400" b="1" i="1" dirty="0">
                <a:solidFill>
                  <a:srgbClr val="D9D9D9"/>
                </a:solidFill>
                <a:latin typeface="Calibri"/>
                <a:cs typeface="Calibri"/>
              </a:rPr>
              <a:t>switching</a:t>
            </a:r>
            <a:r>
              <a:rPr sz="2400" b="1" i="1" spc="-67" dirty="0">
                <a:solidFill>
                  <a:srgbClr val="D9D9D9"/>
                </a:solidFill>
                <a:latin typeface="Calibri"/>
                <a:cs typeface="Calibri"/>
              </a:rPr>
              <a:t> </a:t>
            </a:r>
            <a:r>
              <a:rPr sz="2400" b="1" i="1" dirty="0">
                <a:solidFill>
                  <a:srgbClr val="D9D9D9"/>
                </a:solidFill>
                <a:latin typeface="Calibri"/>
                <a:cs typeface="Calibri"/>
              </a:rPr>
              <a:t>betweeen</a:t>
            </a:r>
            <a:r>
              <a:rPr sz="2400" b="1" i="1" spc="-60" dirty="0">
                <a:solidFill>
                  <a:srgbClr val="D9D9D9"/>
                </a:solidFill>
                <a:latin typeface="Calibri"/>
                <a:cs typeface="Calibri"/>
              </a:rPr>
              <a:t> </a:t>
            </a:r>
            <a:r>
              <a:rPr sz="2400" b="1" i="1" dirty="0">
                <a:solidFill>
                  <a:srgbClr val="D9D9D9"/>
                </a:solidFill>
                <a:latin typeface="Calibri"/>
                <a:cs typeface="Calibri"/>
              </a:rPr>
              <a:t>historic</a:t>
            </a:r>
            <a:r>
              <a:rPr sz="2400" b="1" i="1" spc="-53" dirty="0">
                <a:solidFill>
                  <a:srgbClr val="D9D9D9"/>
                </a:solidFill>
                <a:latin typeface="Calibri"/>
                <a:cs typeface="Calibri"/>
              </a:rPr>
              <a:t> </a:t>
            </a:r>
            <a:r>
              <a:rPr sz="2400" b="1" i="1" dirty="0">
                <a:solidFill>
                  <a:srgbClr val="D9D9D9"/>
                </a:solidFill>
                <a:latin typeface="Calibri"/>
                <a:cs typeface="Calibri"/>
              </a:rPr>
              <a:t>/</a:t>
            </a:r>
            <a:r>
              <a:rPr sz="2400" b="1" i="1" spc="-40" dirty="0">
                <a:solidFill>
                  <a:srgbClr val="D9D9D9"/>
                </a:solidFill>
                <a:latin typeface="Calibri"/>
                <a:cs typeface="Calibri"/>
              </a:rPr>
              <a:t> </a:t>
            </a:r>
            <a:r>
              <a:rPr sz="2400" b="1" i="1" dirty="0">
                <a:solidFill>
                  <a:srgbClr val="D9D9D9"/>
                </a:solidFill>
                <a:latin typeface="Calibri"/>
                <a:cs typeface="Calibri"/>
              </a:rPr>
              <a:t>current</a:t>
            </a:r>
            <a:r>
              <a:rPr sz="2400" b="1" i="1" spc="-53" dirty="0">
                <a:solidFill>
                  <a:srgbClr val="D9D9D9"/>
                </a:solidFill>
                <a:latin typeface="Calibri"/>
                <a:cs typeface="Calibri"/>
              </a:rPr>
              <a:t> </a:t>
            </a:r>
            <a:r>
              <a:rPr sz="2400" b="1" i="1" spc="-27" dirty="0">
                <a:solidFill>
                  <a:srgbClr val="D9D9D9"/>
                </a:solidFill>
                <a:latin typeface="Calibri"/>
                <a:cs typeface="Calibri"/>
              </a:rPr>
              <a:t>view</a:t>
            </a:r>
            <a:endParaRPr sz="2400">
              <a:latin typeface="Calibri"/>
              <a:cs typeface="Calibri"/>
            </a:endParaRPr>
          </a:p>
        </p:txBody>
      </p:sp>
      <p:sp>
        <p:nvSpPr>
          <p:cNvPr id="8" name="object 2">
            <a:extLst>
              <a:ext uri="{FF2B5EF4-FFF2-40B4-BE49-F238E27FC236}">
                <a16:creationId xmlns:a16="http://schemas.microsoft.com/office/drawing/2014/main" id="{02EDA0FC-E158-2B62-D018-83EA78640602}"/>
              </a:ext>
            </a:extLst>
          </p:cNvPr>
          <p:cNvSpPr txBox="1">
            <a:spLocks noGrp="1"/>
          </p:cNvSpPr>
          <p:nvPr>
            <p:ph type="title"/>
          </p:nvPr>
        </p:nvSpPr>
        <p:spPr>
          <a:xfrm>
            <a:off x="2600960" y="296665"/>
            <a:ext cx="7508240" cy="695062"/>
          </a:xfrm>
          <a:prstGeom prst="rect">
            <a:avLst/>
          </a:prstGeom>
        </p:spPr>
        <p:txBody>
          <a:bodyPr vert="horz" wrap="square" lIns="0" tIns="17780" rIns="0" bIns="0" rtlCol="0" anchor="ctr">
            <a:spAutoFit/>
          </a:bodyPr>
          <a:lstStyle/>
          <a:p>
            <a:pPr marL="617205">
              <a:lnSpc>
                <a:spcPct val="100000"/>
              </a:lnSpc>
              <a:spcBef>
                <a:spcPts val="140"/>
              </a:spcBef>
            </a:pPr>
            <a:r>
              <a:rPr dirty="0">
                <a:solidFill>
                  <a:schemeClr val="bg1"/>
                </a:solidFill>
                <a:latin typeface="+mn-lt"/>
              </a:rPr>
              <a:t>Type</a:t>
            </a:r>
            <a:r>
              <a:rPr spc="-73" dirty="0">
                <a:solidFill>
                  <a:schemeClr val="bg1"/>
                </a:solidFill>
                <a:latin typeface="+mn-lt"/>
              </a:rPr>
              <a:t> </a:t>
            </a:r>
            <a:r>
              <a:rPr dirty="0">
                <a:solidFill>
                  <a:schemeClr val="bg1"/>
                </a:solidFill>
                <a:latin typeface="+mn-lt"/>
              </a:rPr>
              <a:t>3:</a:t>
            </a:r>
            <a:r>
              <a:rPr spc="-60" dirty="0">
                <a:solidFill>
                  <a:schemeClr val="bg1"/>
                </a:solidFill>
                <a:latin typeface="+mn-lt"/>
              </a:rPr>
              <a:t> </a:t>
            </a:r>
            <a:r>
              <a:rPr dirty="0">
                <a:solidFill>
                  <a:schemeClr val="bg1"/>
                </a:solidFill>
                <a:latin typeface="+mn-lt"/>
              </a:rPr>
              <a:t>Additonal</a:t>
            </a:r>
            <a:r>
              <a:rPr spc="-27" dirty="0">
                <a:solidFill>
                  <a:schemeClr val="bg1"/>
                </a:solidFill>
                <a:latin typeface="+mn-lt"/>
              </a:rPr>
              <a:t> </a:t>
            </a:r>
            <a:r>
              <a:rPr spc="-13" dirty="0">
                <a:solidFill>
                  <a:schemeClr val="bg1"/>
                </a:solidFill>
                <a:latin typeface="+mn-lt"/>
              </a:rPr>
              <a:t>Attributes</a:t>
            </a:r>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extLst>
              <p:ext uri="{D42A27DB-BD31-4B8C-83A1-F6EECF244321}">
                <p14:modId xmlns:p14="http://schemas.microsoft.com/office/powerpoint/2010/main" val="3216639047"/>
              </p:ext>
            </p:extLst>
          </p:nvPr>
        </p:nvGraphicFramePr>
        <p:xfrm>
          <a:off x="1229088" y="1184600"/>
          <a:ext cx="5906676" cy="1702027"/>
        </p:xfrm>
        <a:graphic>
          <a:graphicData uri="http://schemas.openxmlformats.org/drawingml/2006/table">
            <a:tbl>
              <a:tblPr firstRow="1" bandRow="1">
                <a:tableStyleId>{2D5ABB26-0587-4C30-8999-92F81FD0307C}</a:tableStyleId>
              </a:tblPr>
              <a:tblGrid>
                <a:gridCol w="1023614">
                  <a:extLst>
                    <a:ext uri="{9D8B030D-6E8A-4147-A177-3AD203B41FA5}">
                      <a16:colId xmlns:a16="http://schemas.microsoft.com/office/drawing/2014/main" val="20000"/>
                    </a:ext>
                  </a:extLst>
                </a:gridCol>
                <a:gridCol w="2292449">
                  <a:extLst>
                    <a:ext uri="{9D8B030D-6E8A-4147-A177-3AD203B41FA5}">
                      <a16:colId xmlns:a16="http://schemas.microsoft.com/office/drawing/2014/main" val="20001"/>
                    </a:ext>
                  </a:extLst>
                </a:gridCol>
                <a:gridCol w="1139721">
                  <a:extLst>
                    <a:ext uri="{9D8B030D-6E8A-4147-A177-3AD203B41FA5}">
                      <a16:colId xmlns:a16="http://schemas.microsoft.com/office/drawing/2014/main" val="20002"/>
                    </a:ext>
                  </a:extLst>
                </a:gridCol>
                <a:gridCol w="1450892">
                  <a:extLst>
                    <a:ext uri="{9D8B030D-6E8A-4147-A177-3AD203B41FA5}">
                      <a16:colId xmlns:a16="http://schemas.microsoft.com/office/drawing/2014/main" val="20003"/>
                    </a:ext>
                  </a:extLst>
                </a:gridCol>
              </a:tblGrid>
              <a:tr h="257182">
                <a:tc>
                  <a:txBody>
                    <a:bodyPr/>
                    <a:lstStyle/>
                    <a:p>
                      <a:pPr marL="1905" algn="ctr">
                        <a:lnSpc>
                          <a:spcPct val="100000"/>
                        </a:lnSpc>
                        <a:spcBef>
                          <a:spcPts val="0"/>
                        </a:spcBef>
                      </a:pPr>
                      <a:r>
                        <a:rPr sz="1400" b="1" spc="-10" dirty="0" err="1">
                          <a:solidFill>
                            <a:schemeClr val="bg1"/>
                          </a:solidFill>
                          <a:latin typeface="Arial"/>
                          <a:cs typeface="Arial"/>
                        </a:rPr>
                        <a:t>Sales_Key</a:t>
                      </a:r>
                      <a:r>
                        <a:rPr lang="en-IN" sz="1400" b="1" spc="-10" dirty="0">
                          <a:solidFill>
                            <a:schemeClr val="bg1"/>
                          </a:solidFill>
                          <a:latin typeface="Arial"/>
                          <a:cs typeface="Arial"/>
                        </a:rPr>
                        <a:t>c</a:t>
                      </a:r>
                      <a:endParaRPr sz="1400" dirty="0">
                        <a:solidFill>
                          <a:schemeClr val="bg1"/>
                        </a:solidFill>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270" algn="ctr">
                        <a:lnSpc>
                          <a:spcPct val="100000"/>
                        </a:lnSpc>
                        <a:spcBef>
                          <a:spcPts val="0"/>
                        </a:spcBef>
                      </a:pPr>
                      <a:r>
                        <a:rPr sz="1400" b="1" spc="-20" dirty="0">
                          <a:solidFill>
                            <a:schemeClr val="bg1"/>
                          </a:solidFill>
                          <a:latin typeface="Arial"/>
                          <a:cs typeface="Arial"/>
                        </a:rPr>
                        <a:t>Name</a:t>
                      </a:r>
                      <a:endParaRPr sz="1400" dirty="0">
                        <a:solidFill>
                          <a:schemeClr val="bg1"/>
                        </a:solidFill>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905" algn="ctr">
                        <a:lnSpc>
                          <a:spcPct val="100000"/>
                        </a:lnSpc>
                        <a:spcBef>
                          <a:spcPts val="0"/>
                        </a:spcBef>
                      </a:pPr>
                      <a:r>
                        <a:rPr sz="1400" b="1" spc="-10" dirty="0">
                          <a:solidFill>
                            <a:schemeClr val="bg1"/>
                          </a:solidFill>
                          <a:latin typeface="Arial"/>
                          <a:cs typeface="Arial"/>
                        </a:rPr>
                        <a:t>Region_FK</a:t>
                      </a:r>
                      <a:endParaRPr sz="1400" dirty="0">
                        <a:solidFill>
                          <a:schemeClr val="bg1"/>
                        </a:solidFill>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2540" algn="ctr">
                        <a:lnSpc>
                          <a:spcPct val="100000"/>
                        </a:lnSpc>
                        <a:spcBef>
                          <a:spcPts val="0"/>
                        </a:spcBef>
                      </a:pPr>
                      <a:r>
                        <a:rPr sz="1400" b="1" spc="-10" dirty="0">
                          <a:solidFill>
                            <a:schemeClr val="bg1"/>
                          </a:solidFill>
                          <a:latin typeface="Arial"/>
                          <a:cs typeface="Arial"/>
                        </a:rPr>
                        <a:t>Amount</a:t>
                      </a:r>
                      <a:endParaRPr sz="1400" dirty="0">
                        <a:solidFill>
                          <a:schemeClr val="bg1"/>
                        </a:solidFill>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88969">
                <a:tc>
                  <a:txBody>
                    <a:bodyPr/>
                    <a:lstStyle/>
                    <a:p>
                      <a:pPr algn="ctr">
                        <a:lnSpc>
                          <a:spcPct val="100000"/>
                        </a:lnSpc>
                        <a:spcBef>
                          <a:spcPts val="220"/>
                        </a:spcBef>
                      </a:pPr>
                      <a:r>
                        <a:rPr sz="1400" spc="-50" dirty="0">
                          <a:latin typeface="Arial MT"/>
                          <a:cs typeface="Arial MT"/>
                        </a:rPr>
                        <a:t>1</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0"/>
                        </a:spcBef>
                      </a:pPr>
                      <a:r>
                        <a:rPr sz="1400" dirty="0">
                          <a:latin typeface="Arial MT"/>
                          <a:cs typeface="Arial MT"/>
                        </a:rPr>
                        <a:t>Sunglases</a:t>
                      </a:r>
                      <a:r>
                        <a:rPr sz="1400" spc="-55" dirty="0">
                          <a:latin typeface="Arial MT"/>
                          <a:cs typeface="Arial MT"/>
                        </a:rPr>
                        <a:t> </a:t>
                      </a:r>
                      <a:r>
                        <a:rPr sz="1400" dirty="0">
                          <a:latin typeface="Arial MT"/>
                          <a:cs typeface="Arial MT"/>
                        </a:rPr>
                        <a:t>TR-</a:t>
                      </a:r>
                      <a:r>
                        <a:rPr sz="1400" spc="-50" dirty="0">
                          <a:latin typeface="Arial MT"/>
                          <a:cs typeface="Arial MT"/>
                        </a:rPr>
                        <a:t>7</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0"/>
                        </a:spcBef>
                      </a:pPr>
                      <a:r>
                        <a:rPr sz="1400" spc="-50" dirty="0">
                          <a:latin typeface="Arial MT"/>
                          <a:cs typeface="Arial MT"/>
                        </a:rPr>
                        <a:t>1</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0"/>
                        </a:spcBef>
                      </a:pPr>
                      <a:r>
                        <a:rPr sz="1400" spc="-25" dirty="0">
                          <a:latin typeface="Arial MT"/>
                          <a:cs typeface="Arial MT"/>
                        </a:rPr>
                        <a:t>$25</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88969">
                <a:tc>
                  <a:txBody>
                    <a:bodyPr/>
                    <a:lstStyle/>
                    <a:p>
                      <a:pPr algn="ctr">
                        <a:lnSpc>
                          <a:spcPct val="100000"/>
                        </a:lnSpc>
                        <a:spcBef>
                          <a:spcPts val="220"/>
                        </a:spcBef>
                      </a:pPr>
                      <a:r>
                        <a:rPr sz="1400" spc="-50" dirty="0">
                          <a:latin typeface="Arial MT"/>
                          <a:cs typeface="Arial MT"/>
                        </a:rPr>
                        <a:t>2</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0"/>
                        </a:spcBef>
                      </a:pPr>
                      <a:r>
                        <a:rPr sz="1400" spc="-10" dirty="0">
                          <a:latin typeface="Arial MT"/>
                          <a:cs typeface="Arial MT"/>
                        </a:rPr>
                        <a:t>Chocolate </a:t>
                      </a:r>
                      <a:r>
                        <a:rPr sz="1400" dirty="0">
                          <a:latin typeface="Arial MT"/>
                          <a:cs typeface="Arial MT"/>
                        </a:rPr>
                        <a:t>bar 70%</a:t>
                      </a:r>
                      <a:r>
                        <a:rPr sz="1400" spc="5" dirty="0">
                          <a:latin typeface="Arial MT"/>
                          <a:cs typeface="Arial MT"/>
                        </a:rPr>
                        <a:t> </a:t>
                      </a:r>
                      <a:r>
                        <a:rPr sz="1400" spc="-10" dirty="0">
                          <a:latin typeface="Arial MT"/>
                          <a:cs typeface="Arial MT"/>
                        </a:rPr>
                        <a:t>cacao</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0"/>
                        </a:spcBef>
                      </a:pPr>
                      <a:r>
                        <a:rPr sz="1400" spc="-50" dirty="0">
                          <a:latin typeface="Arial MT"/>
                          <a:cs typeface="Arial MT"/>
                        </a:rPr>
                        <a:t>2</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0"/>
                        </a:spcBef>
                      </a:pPr>
                      <a:r>
                        <a:rPr sz="1400" spc="-25" dirty="0">
                          <a:latin typeface="Arial MT"/>
                          <a:cs typeface="Arial MT"/>
                        </a:rPr>
                        <a:t>$3</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88969">
                <a:tc>
                  <a:txBody>
                    <a:bodyPr/>
                    <a:lstStyle/>
                    <a:p>
                      <a:pPr algn="ctr">
                        <a:lnSpc>
                          <a:spcPct val="100000"/>
                        </a:lnSpc>
                        <a:spcBef>
                          <a:spcPts val="220"/>
                        </a:spcBef>
                      </a:pPr>
                      <a:r>
                        <a:rPr sz="1400" spc="-50" dirty="0">
                          <a:latin typeface="Arial MT"/>
                          <a:cs typeface="Arial MT"/>
                        </a:rPr>
                        <a:t>3</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0"/>
                        </a:spcBef>
                      </a:pPr>
                      <a:r>
                        <a:rPr sz="1400" dirty="0">
                          <a:latin typeface="Arial MT"/>
                          <a:cs typeface="Arial MT"/>
                        </a:rPr>
                        <a:t>Oat</a:t>
                      </a:r>
                      <a:r>
                        <a:rPr sz="1400" spc="-25" dirty="0">
                          <a:latin typeface="Arial MT"/>
                          <a:cs typeface="Arial MT"/>
                        </a:rPr>
                        <a:t> </a:t>
                      </a:r>
                      <a:r>
                        <a:rPr sz="1400" dirty="0">
                          <a:latin typeface="Arial MT"/>
                          <a:cs typeface="Arial MT"/>
                        </a:rPr>
                        <a:t>meal</a:t>
                      </a:r>
                      <a:r>
                        <a:rPr sz="1400" spc="-35" dirty="0">
                          <a:latin typeface="Arial MT"/>
                          <a:cs typeface="Arial MT"/>
                        </a:rPr>
                        <a:t> </a:t>
                      </a:r>
                      <a:r>
                        <a:rPr sz="1400" spc="-10" dirty="0">
                          <a:latin typeface="Arial MT"/>
                          <a:cs typeface="Arial MT"/>
                        </a:rPr>
                        <a:t>biscuits</a:t>
                      </a:r>
                      <a:endParaRPr sz="1400" dirty="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0"/>
                        </a:spcBef>
                      </a:pPr>
                      <a:r>
                        <a:rPr sz="1400" spc="-50" dirty="0">
                          <a:latin typeface="Arial MT"/>
                          <a:cs typeface="Arial MT"/>
                        </a:rPr>
                        <a:t>3</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0"/>
                        </a:spcBef>
                      </a:pPr>
                      <a:r>
                        <a:rPr sz="1400" spc="-25" dirty="0">
                          <a:latin typeface="Arial MT"/>
                          <a:cs typeface="Arial MT"/>
                        </a:rPr>
                        <a:t>$4</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88969">
                <a:tc>
                  <a:txBody>
                    <a:bodyPr/>
                    <a:lstStyle/>
                    <a:p>
                      <a:pPr algn="ctr">
                        <a:lnSpc>
                          <a:spcPct val="100000"/>
                        </a:lnSpc>
                        <a:spcBef>
                          <a:spcPts val="225"/>
                        </a:spcBef>
                      </a:pPr>
                      <a:r>
                        <a:rPr sz="1400" spc="-50" dirty="0">
                          <a:latin typeface="Arial MT"/>
                          <a:cs typeface="Arial MT"/>
                        </a:rPr>
                        <a:t>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Chocolate </a:t>
                      </a:r>
                      <a:r>
                        <a:rPr sz="1400" dirty="0">
                          <a:latin typeface="Arial MT"/>
                          <a:cs typeface="Arial MT"/>
                        </a:rPr>
                        <a:t>bar 70%</a:t>
                      </a:r>
                      <a:r>
                        <a:rPr sz="1400" spc="5" dirty="0">
                          <a:latin typeface="Arial MT"/>
                          <a:cs typeface="Arial MT"/>
                        </a:rPr>
                        <a:t> </a:t>
                      </a:r>
                      <a:r>
                        <a:rPr sz="1400" spc="-10" dirty="0">
                          <a:latin typeface="Arial MT"/>
                          <a:cs typeface="Arial MT"/>
                        </a:rPr>
                        <a:t>cacao</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25"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88969">
                <a:tc>
                  <a:txBody>
                    <a:bodyPr/>
                    <a:lstStyle/>
                    <a:p>
                      <a:pPr algn="ctr">
                        <a:lnSpc>
                          <a:spcPct val="100000"/>
                        </a:lnSpc>
                        <a:spcBef>
                          <a:spcPts val="225"/>
                        </a:spcBef>
                      </a:pPr>
                      <a:r>
                        <a:rPr sz="1400" spc="-50" dirty="0">
                          <a:latin typeface="Arial MT"/>
                          <a:cs typeface="Arial MT"/>
                        </a:rPr>
                        <a:t>5</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F1F1"/>
                    </a:solidFill>
                  </a:tcPr>
                </a:tc>
                <a:tc>
                  <a:txBody>
                    <a:bodyPr/>
                    <a:lstStyle/>
                    <a:p>
                      <a:pPr algn="ctr">
                        <a:lnSpc>
                          <a:spcPct val="100000"/>
                        </a:lnSpc>
                        <a:spcBef>
                          <a:spcPts val="225"/>
                        </a:spcBef>
                      </a:pPr>
                      <a:r>
                        <a:rPr sz="1400" dirty="0">
                          <a:latin typeface="Arial MT"/>
                          <a:cs typeface="Arial MT"/>
                        </a:rPr>
                        <a:t>Oat</a:t>
                      </a:r>
                      <a:r>
                        <a:rPr sz="1400" spc="-25" dirty="0">
                          <a:latin typeface="Arial MT"/>
                          <a:cs typeface="Arial MT"/>
                        </a:rPr>
                        <a:t> </a:t>
                      </a:r>
                      <a:r>
                        <a:rPr sz="1400" dirty="0">
                          <a:latin typeface="Arial MT"/>
                          <a:cs typeface="Arial MT"/>
                        </a:rPr>
                        <a:t>meal</a:t>
                      </a:r>
                      <a:r>
                        <a:rPr sz="1400" spc="-35" dirty="0">
                          <a:latin typeface="Arial MT"/>
                          <a:cs typeface="Arial MT"/>
                        </a:rPr>
                        <a:t> </a:t>
                      </a:r>
                      <a:r>
                        <a:rPr sz="1400" spc="-10" dirty="0">
                          <a:latin typeface="Arial MT"/>
                          <a:cs typeface="Arial MT"/>
                        </a:rPr>
                        <a:t>biscuits</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F1F1"/>
                    </a:solidFill>
                  </a:tcPr>
                </a:tc>
                <a:tc>
                  <a:txBody>
                    <a:bodyPr/>
                    <a:lstStyle/>
                    <a:p>
                      <a:pPr algn="ctr">
                        <a:lnSpc>
                          <a:spcPct val="10000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F1F1"/>
                    </a:solidFill>
                  </a:tcPr>
                </a:tc>
                <a:tc>
                  <a:txBody>
                    <a:bodyPr/>
                    <a:lstStyle/>
                    <a:p>
                      <a:pPr marL="2540" algn="ctr">
                        <a:lnSpc>
                          <a:spcPct val="100000"/>
                        </a:lnSpc>
                        <a:spcBef>
                          <a:spcPts val="225"/>
                        </a:spcBef>
                      </a:pPr>
                      <a:r>
                        <a:rPr sz="1400" spc="-25" dirty="0">
                          <a:latin typeface="Arial MT"/>
                          <a:cs typeface="Arial MT"/>
                        </a:rPr>
                        <a:t>$4</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F1F1"/>
                    </a:solidFill>
                  </a:tcPr>
                </a:tc>
                <a:extLst>
                  <a:ext uri="{0D108BD9-81ED-4DB2-BD59-A6C34878D82A}">
                    <a16:rowId xmlns:a16="http://schemas.microsoft.com/office/drawing/2014/main" val="10005"/>
                  </a:ext>
                </a:extLst>
              </a:tr>
            </a:tbl>
          </a:graphicData>
        </a:graphic>
      </p:graphicFrame>
      <p:graphicFrame>
        <p:nvGraphicFramePr>
          <p:cNvPr id="4" name="object 4"/>
          <p:cNvGraphicFramePr>
            <a:graphicFrameLocks noGrp="1"/>
          </p:cNvGraphicFramePr>
          <p:nvPr>
            <p:extLst>
              <p:ext uri="{D42A27DB-BD31-4B8C-83A1-F6EECF244321}">
                <p14:modId xmlns:p14="http://schemas.microsoft.com/office/powerpoint/2010/main" val="1919435640"/>
              </p:ext>
            </p:extLst>
          </p:nvPr>
        </p:nvGraphicFramePr>
        <p:xfrm>
          <a:off x="7613374" y="1480930"/>
          <a:ext cx="4094841" cy="1357435"/>
        </p:xfrm>
        <a:graphic>
          <a:graphicData uri="http://schemas.openxmlformats.org/drawingml/2006/table">
            <a:tbl>
              <a:tblPr firstRow="1" bandRow="1">
                <a:tableStyleId>{2D5ABB26-0587-4C30-8999-92F81FD0307C}</a:tableStyleId>
              </a:tblPr>
              <a:tblGrid>
                <a:gridCol w="940889">
                  <a:extLst>
                    <a:ext uri="{9D8B030D-6E8A-4147-A177-3AD203B41FA5}">
                      <a16:colId xmlns:a16="http://schemas.microsoft.com/office/drawing/2014/main" val="20000"/>
                    </a:ext>
                  </a:extLst>
                </a:gridCol>
                <a:gridCol w="1503806">
                  <a:extLst>
                    <a:ext uri="{9D8B030D-6E8A-4147-A177-3AD203B41FA5}">
                      <a16:colId xmlns:a16="http://schemas.microsoft.com/office/drawing/2014/main" val="20001"/>
                    </a:ext>
                  </a:extLst>
                </a:gridCol>
                <a:gridCol w="1650146">
                  <a:extLst>
                    <a:ext uri="{9D8B030D-6E8A-4147-A177-3AD203B41FA5}">
                      <a16:colId xmlns:a16="http://schemas.microsoft.com/office/drawing/2014/main" val="20002"/>
                    </a:ext>
                  </a:extLst>
                </a:gridCol>
              </a:tblGrid>
              <a:tr h="247059">
                <a:tc>
                  <a:txBody>
                    <a:bodyPr/>
                    <a:lstStyle/>
                    <a:p>
                      <a:pPr algn="ctr">
                        <a:lnSpc>
                          <a:spcPct val="100000"/>
                        </a:lnSpc>
                        <a:spcBef>
                          <a:spcPts val="55"/>
                        </a:spcBef>
                      </a:pPr>
                      <a:r>
                        <a:rPr sz="1400" b="1" spc="-10" dirty="0">
                          <a:solidFill>
                            <a:schemeClr val="bg1"/>
                          </a:solidFill>
                          <a:latin typeface="Arial"/>
                          <a:cs typeface="Arial"/>
                        </a:rPr>
                        <a:t>Reg_PK</a:t>
                      </a:r>
                      <a:endParaRPr sz="1400" dirty="0">
                        <a:solidFill>
                          <a:schemeClr val="bg1"/>
                        </a:solidFill>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gn="ctr">
                        <a:lnSpc>
                          <a:spcPct val="100000"/>
                        </a:lnSpc>
                        <a:spcBef>
                          <a:spcPts val="55"/>
                        </a:spcBef>
                      </a:pPr>
                      <a:r>
                        <a:rPr sz="1400" b="1" spc="-10" dirty="0">
                          <a:solidFill>
                            <a:schemeClr val="bg1"/>
                          </a:solidFill>
                          <a:latin typeface="Arial"/>
                          <a:cs typeface="Arial"/>
                        </a:rPr>
                        <a:t>Region</a:t>
                      </a:r>
                      <a:endParaRPr sz="1400" dirty="0">
                        <a:solidFill>
                          <a:schemeClr val="bg1"/>
                        </a:solidFill>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gn="ctr">
                        <a:lnSpc>
                          <a:spcPct val="100000"/>
                        </a:lnSpc>
                        <a:spcBef>
                          <a:spcPts val="55"/>
                        </a:spcBef>
                      </a:pPr>
                      <a:r>
                        <a:rPr sz="1400" b="1" spc="-10" dirty="0">
                          <a:solidFill>
                            <a:schemeClr val="bg1"/>
                          </a:solidFill>
                          <a:latin typeface="Arial"/>
                          <a:cs typeface="Arial"/>
                        </a:rPr>
                        <a:t>Prev_Region</a:t>
                      </a:r>
                      <a:endParaRPr sz="1400" dirty="0">
                        <a:solidFill>
                          <a:schemeClr val="bg1"/>
                        </a:solidFill>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77594">
                <a:tc>
                  <a:txBody>
                    <a:bodyPr/>
                    <a:lstStyle/>
                    <a:p>
                      <a:pPr algn="ctr">
                        <a:lnSpc>
                          <a:spcPct val="100000"/>
                        </a:lnSpc>
                        <a:spcBef>
                          <a:spcPts val="220"/>
                        </a:spcBef>
                      </a:pPr>
                      <a:r>
                        <a:rPr sz="1400" spc="-50" dirty="0">
                          <a:latin typeface="Arial MT"/>
                          <a:cs typeface="Arial MT"/>
                        </a:rPr>
                        <a:t>1</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0"/>
                        </a:spcBef>
                      </a:pPr>
                      <a:r>
                        <a:rPr sz="1400" spc="-10" dirty="0">
                          <a:latin typeface="Arial MT"/>
                          <a:cs typeface="Arial MT"/>
                        </a:rPr>
                        <a:t>North</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0"/>
                        </a:spcBef>
                      </a:pPr>
                      <a:r>
                        <a:rPr sz="1400" spc="-10" dirty="0">
                          <a:latin typeface="Arial MT"/>
                          <a:cs typeface="Arial MT"/>
                        </a:rPr>
                        <a:t>North</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77594">
                <a:tc>
                  <a:txBody>
                    <a:bodyPr/>
                    <a:lstStyle/>
                    <a:p>
                      <a:pPr algn="ctr">
                        <a:lnSpc>
                          <a:spcPct val="100000"/>
                        </a:lnSpc>
                        <a:spcBef>
                          <a:spcPts val="220"/>
                        </a:spcBef>
                      </a:pPr>
                      <a:r>
                        <a:rPr sz="1400" spc="-50" dirty="0">
                          <a:latin typeface="Arial MT"/>
                          <a:cs typeface="Arial MT"/>
                        </a:rPr>
                        <a:t>2</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0"/>
                        </a:spcBef>
                      </a:pPr>
                      <a:r>
                        <a:rPr sz="1400" spc="-20" dirty="0">
                          <a:latin typeface="Arial MT"/>
                          <a:cs typeface="Arial MT"/>
                        </a:rPr>
                        <a:t>West</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0"/>
                        </a:spcBef>
                      </a:pPr>
                      <a:r>
                        <a:rPr sz="1400" spc="-20" dirty="0">
                          <a:latin typeface="Arial MT"/>
                          <a:cs typeface="Arial MT"/>
                        </a:rPr>
                        <a:t>West</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77594">
                <a:tc>
                  <a:txBody>
                    <a:bodyPr/>
                    <a:lstStyle/>
                    <a:p>
                      <a:pPr algn="ctr">
                        <a:lnSpc>
                          <a:spcPct val="10000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ct val="100000"/>
                        </a:lnSpc>
                        <a:spcBef>
                          <a:spcPts val="225"/>
                        </a:spcBef>
                      </a:pPr>
                      <a:r>
                        <a:rPr sz="1400" spc="-10" dirty="0">
                          <a:latin typeface="Arial MT"/>
                          <a:cs typeface="Arial MT"/>
                        </a:rPr>
                        <a:t>South</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5"/>
                        </a:spcBef>
                      </a:pPr>
                      <a:r>
                        <a:rPr sz="1400" spc="-20" dirty="0">
                          <a:latin typeface="Arial MT"/>
                          <a:cs typeface="Arial MT"/>
                        </a:rPr>
                        <a:t>West</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F1F1"/>
                    </a:solidFill>
                  </a:tcPr>
                </a:tc>
                <a:extLst>
                  <a:ext uri="{0D108BD9-81ED-4DB2-BD59-A6C34878D82A}">
                    <a16:rowId xmlns:a16="http://schemas.microsoft.com/office/drawing/2014/main" val="10003"/>
                  </a:ext>
                </a:extLst>
              </a:tr>
              <a:tr h="277594">
                <a:tc>
                  <a:txBody>
                    <a:bodyPr/>
                    <a:lstStyle/>
                    <a:p>
                      <a:pPr algn="ctr">
                        <a:lnSpc>
                          <a:spcPct val="100000"/>
                        </a:lnSpc>
                        <a:spcBef>
                          <a:spcPts val="225"/>
                        </a:spcBef>
                      </a:pPr>
                      <a:r>
                        <a:rPr sz="1400" spc="-50" dirty="0">
                          <a:latin typeface="Arial MT"/>
                          <a:cs typeface="Arial MT"/>
                        </a:rPr>
                        <a:t>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20" dirty="0">
                          <a:latin typeface="Arial MT"/>
                          <a:cs typeface="Arial MT"/>
                        </a:rPr>
                        <a:t>East</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dirty="0">
                          <a:latin typeface="Arial MT"/>
                          <a:cs typeface="Arial MT"/>
                        </a:rPr>
                        <a:t>Not</a:t>
                      </a:r>
                      <a:r>
                        <a:rPr sz="1400" spc="-35" dirty="0">
                          <a:latin typeface="Arial MT"/>
                          <a:cs typeface="Arial MT"/>
                        </a:rPr>
                        <a:t> </a:t>
                      </a:r>
                      <a:r>
                        <a:rPr sz="1400" spc="-10" dirty="0">
                          <a:latin typeface="Arial MT"/>
                          <a:cs typeface="Arial MT"/>
                        </a:rPr>
                        <a:t>applicable</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E7FF"/>
                    </a:solidFill>
                  </a:tcPr>
                </a:tc>
                <a:extLst>
                  <a:ext uri="{0D108BD9-81ED-4DB2-BD59-A6C34878D82A}">
                    <a16:rowId xmlns:a16="http://schemas.microsoft.com/office/drawing/2014/main" val="10004"/>
                  </a:ext>
                </a:extLst>
              </a:tr>
            </a:tbl>
          </a:graphicData>
        </a:graphic>
      </p:graphicFrame>
      <p:sp>
        <p:nvSpPr>
          <p:cNvPr id="5" name="object 5"/>
          <p:cNvSpPr txBox="1"/>
          <p:nvPr/>
        </p:nvSpPr>
        <p:spPr>
          <a:xfrm>
            <a:off x="5185834" y="2753360"/>
            <a:ext cx="6697133" cy="1040455"/>
          </a:xfrm>
          <a:prstGeom prst="rect">
            <a:avLst/>
          </a:prstGeom>
        </p:spPr>
        <p:txBody>
          <a:bodyPr vert="horz" wrap="square" lIns="0" tIns="159173" rIns="0" bIns="0" rtlCol="0">
            <a:spAutoFit/>
          </a:bodyPr>
          <a:lstStyle/>
          <a:p>
            <a:pPr marL="3071630" indent="-380990">
              <a:spcBef>
                <a:spcPts val="1253"/>
              </a:spcBef>
              <a:buClr>
                <a:srgbClr val="99D3FF"/>
              </a:buClr>
              <a:buFont typeface="Wingdings"/>
              <a:buChar char=""/>
              <a:tabLst>
                <a:tab pos="3071630" algn="l"/>
              </a:tabLst>
            </a:pPr>
            <a:r>
              <a:rPr sz="2400" b="1" i="1" dirty="0">
                <a:solidFill>
                  <a:srgbClr val="D9D9D9"/>
                </a:solidFill>
                <a:latin typeface="Calibri"/>
                <a:cs typeface="Calibri"/>
              </a:rPr>
              <a:t>New</a:t>
            </a:r>
            <a:r>
              <a:rPr sz="2400" b="1" i="1" spc="-33" dirty="0">
                <a:solidFill>
                  <a:srgbClr val="D9D9D9"/>
                </a:solidFill>
                <a:latin typeface="Calibri"/>
                <a:cs typeface="Calibri"/>
              </a:rPr>
              <a:t> </a:t>
            </a:r>
            <a:r>
              <a:rPr sz="2400" b="1" i="1" spc="-13" dirty="0">
                <a:solidFill>
                  <a:srgbClr val="D9D9D9"/>
                </a:solidFill>
                <a:latin typeface="Calibri"/>
                <a:cs typeface="Calibri"/>
              </a:rPr>
              <a:t>attributes</a:t>
            </a:r>
            <a:r>
              <a:rPr sz="2400" b="1" i="1" spc="-33" dirty="0">
                <a:solidFill>
                  <a:srgbClr val="D9D9D9"/>
                </a:solidFill>
                <a:latin typeface="Calibri"/>
                <a:cs typeface="Calibri"/>
              </a:rPr>
              <a:t> </a:t>
            </a:r>
            <a:r>
              <a:rPr sz="2400" b="1" i="1" dirty="0">
                <a:solidFill>
                  <a:srgbClr val="D9D9D9"/>
                </a:solidFill>
                <a:latin typeface="Calibri"/>
                <a:cs typeface="Calibri"/>
              </a:rPr>
              <a:t>=&gt;</a:t>
            </a:r>
            <a:r>
              <a:rPr sz="2400" b="1" i="1" spc="-33" dirty="0">
                <a:solidFill>
                  <a:srgbClr val="D9D9D9"/>
                </a:solidFill>
                <a:latin typeface="Calibri"/>
                <a:cs typeface="Calibri"/>
              </a:rPr>
              <a:t> </a:t>
            </a:r>
            <a:r>
              <a:rPr sz="2400" b="1" i="1" dirty="0">
                <a:solidFill>
                  <a:srgbClr val="D9D9D9"/>
                </a:solidFill>
                <a:latin typeface="Calibri"/>
                <a:cs typeface="Calibri"/>
              </a:rPr>
              <a:t>New</a:t>
            </a:r>
            <a:r>
              <a:rPr sz="2400" b="1" i="1" spc="-33" dirty="0">
                <a:solidFill>
                  <a:srgbClr val="D9D9D9"/>
                </a:solidFill>
                <a:latin typeface="Calibri"/>
                <a:cs typeface="Calibri"/>
              </a:rPr>
              <a:t> </a:t>
            </a:r>
            <a:r>
              <a:rPr sz="2400" b="1" i="1" spc="-27" dirty="0">
                <a:solidFill>
                  <a:srgbClr val="D9D9D9"/>
                </a:solidFill>
                <a:latin typeface="Calibri"/>
                <a:cs typeface="Calibri"/>
              </a:rPr>
              <a:t>rows</a:t>
            </a:r>
            <a:endParaRPr sz="2400">
              <a:latin typeface="Calibri"/>
              <a:cs typeface="Calibri"/>
            </a:endParaRPr>
          </a:p>
          <a:p>
            <a:pPr marL="397923" indent="-380990">
              <a:spcBef>
                <a:spcPts val="1125"/>
              </a:spcBef>
              <a:buClr>
                <a:srgbClr val="99D3FF"/>
              </a:buClr>
              <a:buFont typeface="Wingdings"/>
              <a:buChar char=""/>
              <a:tabLst>
                <a:tab pos="397923" algn="l"/>
              </a:tabLst>
            </a:pPr>
            <a:r>
              <a:rPr sz="2400" b="1" i="1" dirty="0">
                <a:solidFill>
                  <a:srgbClr val="D9D9D9"/>
                </a:solidFill>
                <a:latin typeface="Calibri"/>
                <a:cs typeface="Calibri"/>
              </a:rPr>
              <a:t>It</a:t>
            </a:r>
            <a:r>
              <a:rPr sz="2400" b="1" i="1" spc="-27" dirty="0">
                <a:solidFill>
                  <a:srgbClr val="D9D9D9"/>
                </a:solidFill>
                <a:latin typeface="Calibri"/>
                <a:cs typeface="Calibri"/>
              </a:rPr>
              <a:t> </a:t>
            </a:r>
            <a:r>
              <a:rPr sz="2400" b="1" i="1" dirty="0">
                <a:solidFill>
                  <a:srgbClr val="D9D9D9"/>
                </a:solidFill>
                <a:latin typeface="Calibri"/>
                <a:cs typeface="Calibri"/>
              </a:rPr>
              <a:t>is</a:t>
            </a:r>
            <a:r>
              <a:rPr sz="2400" b="1" i="1" spc="-33" dirty="0">
                <a:solidFill>
                  <a:srgbClr val="D9D9D9"/>
                </a:solidFill>
                <a:latin typeface="Calibri"/>
                <a:cs typeface="Calibri"/>
              </a:rPr>
              <a:t> </a:t>
            </a:r>
            <a:r>
              <a:rPr sz="2400" b="1" i="1" dirty="0">
                <a:solidFill>
                  <a:srgbClr val="D9D9D9"/>
                </a:solidFill>
                <a:latin typeface="Calibri"/>
                <a:cs typeface="Calibri"/>
              </a:rPr>
              <a:t>possible</a:t>
            </a:r>
            <a:r>
              <a:rPr sz="2400" b="1" i="1" spc="-13" dirty="0">
                <a:solidFill>
                  <a:srgbClr val="D9D9D9"/>
                </a:solidFill>
                <a:latin typeface="Calibri"/>
                <a:cs typeface="Calibri"/>
              </a:rPr>
              <a:t> </a:t>
            </a:r>
            <a:r>
              <a:rPr sz="2400" b="1" i="1" dirty="0">
                <a:solidFill>
                  <a:srgbClr val="D9D9D9"/>
                </a:solidFill>
                <a:latin typeface="Calibri"/>
                <a:cs typeface="Calibri"/>
              </a:rPr>
              <a:t>to</a:t>
            </a:r>
            <a:r>
              <a:rPr sz="2400" b="1" i="1" spc="-33" dirty="0">
                <a:solidFill>
                  <a:srgbClr val="D9D9D9"/>
                </a:solidFill>
                <a:latin typeface="Calibri"/>
                <a:cs typeface="Calibri"/>
              </a:rPr>
              <a:t> </a:t>
            </a:r>
            <a:r>
              <a:rPr sz="2400" b="1" i="1" dirty="0">
                <a:solidFill>
                  <a:srgbClr val="D9D9D9"/>
                </a:solidFill>
                <a:latin typeface="Calibri"/>
                <a:cs typeface="Calibri"/>
              </a:rPr>
              <a:t>add</a:t>
            </a:r>
            <a:r>
              <a:rPr sz="2400" b="1" i="1" spc="-20" dirty="0">
                <a:solidFill>
                  <a:srgbClr val="D9D9D9"/>
                </a:solidFill>
                <a:latin typeface="Calibri"/>
                <a:cs typeface="Calibri"/>
              </a:rPr>
              <a:t> </a:t>
            </a:r>
            <a:r>
              <a:rPr sz="2400" b="1" i="1" dirty="0">
                <a:solidFill>
                  <a:srgbClr val="D9D9D9"/>
                </a:solidFill>
                <a:latin typeface="Calibri"/>
                <a:cs typeface="Calibri"/>
              </a:rPr>
              <a:t>multiple</a:t>
            </a:r>
            <a:r>
              <a:rPr sz="2400" b="1" i="1" spc="-40" dirty="0">
                <a:solidFill>
                  <a:srgbClr val="D9D9D9"/>
                </a:solidFill>
                <a:latin typeface="Calibri"/>
                <a:cs typeface="Calibri"/>
              </a:rPr>
              <a:t> </a:t>
            </a:r>
            <a:r>
              <a:rPr sz="2400" b="1" i="1" dirty="0">
                <a:solidFill>
                  <a:srgbClr val="D9D9D9"/>
                </a:solidFill>
                <a:latin typeface="Calibri"/>
                <a:cs typeface="Calibri"/>
              </a:rPr>
              <a:t>historic</a:t>
            </a:r>
            <a:r>
              <a:rPr sz="2400" b="1" i="1" spc="-27" dirty="0">
                <a:solidFill>
                  <a:srgbClr val="D9D9D9"/>
                </a:solidFill>
                <a:latin typeface="Calibri"/>
                <a:cs typeface="Calibri"/>
              </a:rPr>
              <a:t> </a:t>
            </a:r>
            <a:r>
              <a:rPr sz="2400" b="1" i="1" spc="-13" dirty="0">
                <a:solidFill>
                  <a:srgbClr val="D9D9D9"/>
                </a:solidFill>
                <a:latin typeface="Calibri"/>
                <a:cs typeface="Calibri"/>
              </a:rPr>
              <a:t>columns</a:t>
            </a:r>
            <a:endParaRPr sz="2400">
              <a:latin typeface="Calibri"/>
              <a:cs typeface="Calibri"/>
            </a:endParaRPr>
          </a:p>
        </p:txBody>
      </p:sp>
      <p:grpSp>
        <p:nvGrpSpPr>
          <p:cNvPr id="6" name="object 6"/>
          <p:cNvGrpSpPr/>
          <p:nvPr/>
        </p:nvGrpSpPr>
        <p:grpSpPr>
          <a:xfrm>
            <a:off x="0" y="2950396"/>
            <a:ext cx="4115814" cy="1614490"/>
            <a:chOff x="0" y="2212797"/>
            <a:chExt cx="3086861" cy="1210868"/>
          </a:xfrm>
        </p:grpSpPr>
        <p:pic>
          <p:nvPicPr>
            <p:cNvPr id="7" name="object 7"/>
            <p:cNvPicPr/>
            <p:nvPr/>
          </p:nvPicPr>
          <p:blipFill>
            <a:blip r:embed="rId2" cstate="print"/>
            <a:stretch>
              <a:fillRect/>
            </a:stretch>
          </p:blipFill>
          <p:spPr>
            <a:xfrm>
              <a:off x="0" y="2212797"/>
              <a:ext cx="3086861" cy="1210868"/>
            </a:xfrm>
            <a:prstGeom prst="rect">
              <a:avLst/>
            </a:prstGeom>
          </p:spPr>
        </p:pic>
        <p:sp>
          <p:nvSpPr>
            <p:cNvPr id="9" name="object 9"/>
            <p:cNvSpPr/>
            <p:nvPr/>
          </p:nvSpPr>
          <p:spPr>
            <a:xfrm>
              <a:off x="265938" y="2367533"/>
              <a:ext cx="2514600" cy="579120"/>
            </a:xfrm>
            <a:custGeom>
              <a:avLst/>
              <a:gdLst/>
              <a:ahLst/>
              <a:cxnLst/>
              <a:rect l="l" t="t" r="r" b="b"/>
              <a:pathLst>
                <a:path w="2514600" h="579119">
                  <a:moveTo>
                    <a:pt x="0" y="289560"/>
                  </a:moveTo>
                  <a:lnTo>
                    <a:pt x="144780" y="0"/>
                  </a:lnTo>
                  <a:lnTo>
                    <a:pt x="2369820" y="0"/>
                  </a:lnTo>
                  <a:lnTo>
                    <a:pt x="2514600" y="289560"/>
                  </a:lnTo>
                  <a:lnTo>
                    <a:pt x="2369820" y="579120"/>
                  </a:lnTo>
                  <a:lnTo>
                    <a:pt x="144780" y="579120"/>
                  </a:lnTo>
                  <a:lnTo>
                    <a:pt x="0" y="289560"/>
                  </a:lnTo>
                  <a:close/>
                </a:path>
              </a:pathLst>
            </a:custGeom>
            <a:ln w="19812">
              <a:solidFill>
                <a:srgbClr val="00C3FF"/>
              </a:solidFill>
            </a:ln>
          </p:spPr>
          <p:txBody>
            <a:bodyPr wrap="square" lIns="0" tIns="0" rIns="0" bIns="0" rtlCol="0"/>
            <a:lstStyle/>
            <a:p>
              <a:endParaRPr sz="2400"/>
            </a:p>
          </p:txBody>
        </p:sp>
      </p:grpSp>
      <p:sp>
        <p:nvSpPr>
          <p:cNvPr id="10" name="object 10"/>
          <p:cNvSpPr txBox="1"/>
          <p:nvPr/>
        </p:nvSpPr>
        <p:spPr>
          <a:xfrm>
            <a:off x="1229088" y="3301323"/>
            <a:ext cx="1605280" cy="427532"/>
          </a:xfrm>
          <a:prstGeom prst="rect">
            <a:avLst/>
          </a:prstGeom>
        </p:spPr>
        <p:txBody>
          <a:bodyPr vert="horz" wrap="square" lIns="0" tIns="16933" rIns="0" bIns="0" rtlCol="0">
            <a:spAutoFit/>
          </a:bodyPr>
          <a:lstStyle/>
          <a:p>
            <a:pPr marL="16933">
              <a:spcBef>
                <a:spcPts val="133"/>
              </a:spcBef>
            </a:pPr>
            <a:r>
              <a:rPr sz="2667" b="1" spc="-13" dirty="0">
                <a:solidFill>
                  <a:srgbClr val="CCEAFF"/>
                </a:solidFill>
                <a:latin typeface="Calibri"/>
                <a:cs typeface="Calibri"/>
              </a:rPr>
              <a:t>Limitations</a:t>
            </a:r>
            <a:endParaRPr sz="2667">
              <a:latin typeface="Calibri"/>
              <a:cs typeface="Calibri"/>
            </a:endParaRPr>
          </a:p>
        </p:txBody>
      </p:sp>
      <p:sp>
        <p:nvSpPr>
          <p:cNvPr id="11" name="object 11"/>
          <p:cNvSpPr txBox="1"/>
          <p:nvPr/>
        </p:nvSpPr>
        <p:spPr>
          <a:xfrm>
            <a:off x="3860800" y="5716015"/>
            <a:ext cx="3048000" cy="540319"/>
          </a:xfrm>
          <a:prstGeom prst="rect">
            <a:avLst/>
          </a:prstGeom>
          <a:solidFill>
            <a:srgbClr val="00BAFF">
              <a:alpha val="50195"/>
            </a:srgbClr>
          </a:solidFill>
        </p:spPr>
        <p:txBody>
          <a:bodyPr vert="horz" wrap="square" lIns="0" tIns="169333" rIns="0" bIns="0" rtlCol="0">
            <a:spAutoFit/>
          </a:bodyPr>
          <a:lstStyle/>
          <a:p>
            <a:pPr marL="122764">
              <a:spcBef>
                <a:spcPts val="1333"/>
              </a:spcBef>
            </a:pPr>
            <a:r>
              <a:rPr sz="2400" dirty="0">
                <a:solidFill>
                  <a:srgbClr val="D9D9D9"/>
                </a:solidFill>
                <a:latin typeface="Bahnschrift"/>
                <a:cs typeface="Bahnschrift"/>
              </a:rPr>
              <a:t>Least</a:t>
            </a:r>
            <a:r>
              <a:rPr sz="2400" spc="187" dirty="0">
                <a:solidFill>
                  <a:srgbClr val="D9D9D9"/>
                </a:solidFill>
                <a:latin typeface="Bahnschrift"/>
                <a:cs typeface="Bahnschrift"/>
              </a:rPr>
              <a:t> </a:t>
            </a:r>
            <a:r>
              <a:rPr sz="2400" dirty="0">
                <a:solidFill>
                  <a:srgbClr val="D9D9D9"/>
                </a:solidFill>
                <a:latin typeface="Bahnschrift"/>
                <a:cs typeface="Bahnschrift"/>
              </a:rPr>
              <a:t>frequent</a:t>
            </a:r>
            <a:r>
              <a:rPr sz="2400" spc="200" dirty="0">
                <a:solidFill>
                  <a:srgbClr val="D9D9D9"/>
                </a:solidFill>
                <a:latin typeface="Bahnschrift"/>
                <a:cs typeface="Bahnschrift"/>
              </a:rPr>
              <a:t> </a:t>
            </a:r>
            <a:r>
              <a:rPr sz="2400" spc="-27" dirty="0">
                <a:solidFill>
                  <a:srgbClr val="D9D9D9"/>
                </a:solidFill>
                <a:latin typeface="Bahnschrift"/>
                <a:cs typeface="Bahnschrift"/>
              </a:rPr>
              <a:t>type</a:t>
            </a:r>
            <a:endParaRPr sz="2400">
              <a:latin typeface="Bahnschrift"/>
              <a:cs typeface="Bahnschrift"/>
            </a:endParaRPr>
          </a:p>
        </p:txBody>
      </p:sp>
      <p:sp>
        <p:nvSpPr>
          <p:cNvPr id="12" name="object 12"/>
          <p:cNvSpPr txBox="1"/>
          <p:nvPr/>
        </p:nvSpPr>
        <p:spPr>
          <a:xfrm>
            <a:off x="866987" y="4138506"/>
            <a:ext cx="8959427" cy="1163566"/>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Not</a:t>
            </a:r>
            <a:r>
              <a:rPr sz="2400" b="1" spc="-27" dirty="0">
                <a:solidFill>
                  <a:srgbClr val="D9D9D9"/>
                </a:solidFill>
                <a:latin typeface="Calibri"/>
                <a:cs typeface="Calibri"/>
              </a:rPr>
              <a:t> </a:t>
            </a:r>
            <a:r>
              <a:rPr sz="2400" b="1" dirty="0">
                <a:solidFill>
                  <a:srgbClr val="D9D9D9"/>
                </a:solidFill>
                <a:latin typeface="Calibri"/>
                <a:cs typeface="Calibri"/>
              </a:rPr>
              <a:t>suitable</a:t>
            </a:r>
            <a:r>
              <a:rPr sz="2400" b="1" spc="-33" dirty="0">
                <a:solidFill>
                  <a:srgbClr val="D9D9D9"/>
                </a:solidFill>
                <a:latin typeface="Calibri"/>
                <a:cs typeface="Calibri"/>
              </a:rPr>
              <a:t> </a:t>
            </a:r>
            <a:r>
              <a:rPr sz="2400" b="1" dirty="0">
                <a:solidFill>
                  <a:srgbClr val="D9D9D9"/>
                </a:solidFill>
                <a:latin typeface="Calibri"/>
                <a:cs typeface="Calibri"/>
              </a:rPr>
              <a:t>for</a:t>
            </a:r>
            <a:r>
              <a:rPr sz="2400" b="1" spc="-60" dirty="0">
                <a:solidFill>
                  <a:srgbClr val="D9D9D9"/>
                </a:solidFill>
                <a:latin typeface="Calibri"/>
                <a:cs typeface="Calibri"/>
              </a:rPr>
              <a:t> </a:t>
            </a:r>
            <a:r>
              <a:rPr sz="2400" b="1" dirty="0">
                <a:solidFill>
                  <a:srgbClr val="D9D9D9"/>
                </a:solidFill>
                <a:latin typeface="Calibri"/>
                <a:cs typeface="Calibri"/>
              </a:rPr>
              <a:t>frequent</a:t>
            </a:r>
            <a:r>
              <a:rPr sz="2400" b="1" spc="-53" dirty="0">
                <a:solidFill>
                  <a:srgbClr val="D9D9D9"/>
                </a:solidFill>
                <a:latin typeface="Calibri"/>
                <a:cs typeface="Calibri"/>
              </a:rPr>
              <a:t> </a:t>
            </a:r>
            <a:r>
              <a:rPr sz="2400" b="1" dirty="0">
                <a:solidFill>
                  <a:srgbClr val="D9D9D9"/>
                </a:solidFill>
                <a:latin typeface="Calibri"/>
                <a:cs typeface="Calibri"/>
              </a:rPr>
              <a:t>or</a:t>
            </a:r>
            <a:r>
              <a:rPr sz="2400" b="1" spc="-40" dirty="0">
                <a:solidFill>
                  <a:srgbClr val="D9D9D9"/>
                </a:solidFill>
                <a:latin typeface="Calibri"/>
                <a:cs typeface="Calibri"/>
              </a:rPr>
              <a:t> </a:t>
            </a:r>
            <a:r>
              <a:rPr sz="2400" b="1" dirty="0">
                <a:solidFill>
                  <a:srgbClr val="D9D9D9"/>
                </a:solidFill>
                <a:latin typeface="Calibri"/>
                <a:cs typeface="Calibri"/>
              </a:rPr>
              <a:t>unpredictable</a:t>
            </a:r>
            <a:r>
              <a:rPr sz="2400" b="1" spc="-80" dirty="0">
                <a:solidFill>
                  <a:srgbClr val="D9D9D9"/>
                </a:solidFill>
                <a:latin typeface="Calibri"/>
                <a:cs typeface="Calibri"/>
              </a:rPr>
              <a:t> </a:t>
            </a:r>
            <a:r>
              <a:rPr sz="2400" b="1" dirty="0">
                <a:solidFill>
                  <a:srgbClr val="D9D9D9"/>
                </a:solidFill>
                <a:latin typeface="Calibri"/>
                <a:cs typeface="Calibri"/>
              </a:rPr>
              <a:t>changes</a:t>
            </a:r>
            <a:r>
              <a:rPr sz="2400" b="1" spc="-47" dirty="0">
                <a:solidFill>
                  <a:srgbClr val="D9D9D9"/>
                </a:solidFill>
                <a:latin typeface="Calibri"/>
                <a:cs typeface="Calibri"/>
              </a:rPr>
              <a:t> </a:t>
            </a:r>
            <a:r>
              <a:rPr sz="2400" b="1" dirty="0">
                <a:solidFill>
                  <a:srgbClr val="D9D9D9"/>
                </a:solidFill>
                <a:latin typeface="Calibri"/>
                <a:cs typeface="Calibri"/>
              </a:rPr>
              <a:t>=&gt;</a:t>
            </a:r>
            <a:r>
              <a:rPr sz="2400" b="1" spc="-47" dirty="0">
                <a:solidFill>
                  <a:srgbClr val="D9D9D9"/>
                </a:solidFill>
                <a:latin typeface="Calibri"/>
                <a:cs typeface="Calibri"/>
              </a:rPr>
              <a:t> </a:t>
            </a:r>
            <a:r>
              <a:rPr sz="2400" b="1" dirty="0">
                <a:solidFill>
                  <a:srgbClr val="D9D9D9"/>
                </a:solidFill>
                <a:latin typeface="Calibri"/>
                <a:cs typeface="Calibri"/>
              </a:rPr>
              <a:t>better</a:t>
            </a:r>
            <a:r>
              <a:rPr sz="2400" b="1" spc="-60" dirty="0">
                <a:solidFill>
                  <a:srgbClr val="D9D9D9"/>
                </a:solidFill>
                <a:latin typeface="Calibri"/>
                <a:cs typeface="Calibri"/>
              </a:rPr>
              <a:t> </a:t>
            </a:r>
            <a:r>
              <a:rPr sz="2400" b="1" dirty="0">
                <a:solidFill>
                  <a:srgbClr val="D9D9D9"/>
                </a:solidFill>
                <a:latin typeface="Calibri"/>
                <a:cs typeface="Calibri"/>
              </a:rPr>
              <a:t>Type</a:t>
            </a:r>
            <a:r>
              <a:rPr sz="2400" b="1" spc="-47" dirty="0">
                <a:solidFill>
                  <a:srgbClr val="D9D9D9"/>
                </a:solidFill>
                <a:latin typeface="Calibri"/>
                <a:cs typeface="Calibri"/>
              </a:rPr>
              <a:t> </a:t>
            </a:r>
            <a:r>
              <a:rPr sz="2400" b="1" spc="-67" dirty="0">
                <a:solidFill>
                  <a:srgbClr val="D9D9D9"/>
                </a:solidFill>
                <a:latin typeface="Calibri"/>
                <a:cs typeface="Calibri"/>
              </a:rPr>
              <a:t>2</a:t>
            </a:r>
            <a:endParaRPr sz="2400" dirty="0">
              <a:latin typeface="Calibri"/>
              <a:cs typeface="Calibri"/>
            </a:endParaRPr>
          </a:p>
          <a:p>
            <a:pPr>
              <a:spcBef>
                <a:spcPts val="267"/>
              </a:spcBef>
              <a:buClr>
                <a:srgbClr val="99D3FF"/>
              </a:buClr>
              <a:buFont typeface="Wingdings"/>
              <a:buChar char=""/>
            </a:pPr>
            <a:endParaRPr sz="2400" dirty="0">
              <a:latin typeface="Calibri"/>
              <a:cs typeface="Calibri"/>
            </a:endParaRPr>
          </a:p>
          <a:p>
            <a:pPr marL="397923" indent="-380990">
              <a:buClr>
                <a:srgbClr val="99D3FF"/>
              </a:buClr>
              <a:buFont typeface="Wingdings"/>
              <a:buChar char=""/>
              <a:tabLst>
                <a:tab pos="397923" algn="l"/>
              </a:tabLst>
            </a:pPr>
            <a:r>
              <a:rPr sz="2400" b="1" dirty="0">
                <a:solidFill>
                  <a:srgbClr val="D9D9D9"/>
                </a:solidFill>
                <a:latin typeface="Calibri"/>
                <a:cs typeface="Calibri"/>
              </a:rPr>
              <a:t>Minor</a:t>
            </a:r>
            <a:r>
              <a:rPr sz="2400" b="1" spc="-33" dirty="0">
                <a:solidFill>
                  <a:srgbClr val="D9D9D9"/>
                </a:solidFill>
                <a:latin typeface="Calibri"/>
                <a:cs typeface="Calibri"/>
              </a:rPr>
              <a:t> </a:t>
            </a:r>
            <a:r>
              <a:rPr sz="2400" b="1" dirty="0">
                <a:solidFill>
                  <a:srgbClr val="D9D9D9"/>
                </a:solidFill>
                <a:latin typeface="Calibri"/>
                <a:cs typeface="Calibri"/>
              </a:rPr>
              <a:t>changes</a:t>
            </a:r>
            <a:r>
              <a:rPr sz="2400" b="1" spc="-67" dirty="0">
                <a:solidFill>
                  <a:srgbClr val="D9D9D9"/>
                </a:solidFill>
                <a:latin typeface="Calibri"/>
                <a:cs typeface="Calibri"/>
              </a:rPr>
              <a:t> </a:t>
            </a:r>
            <a:r>
              <a:rPr sz="2400" b="1" dirty="0">
                <a:solidFill>
                  <a:srgbClr val="D9D9D9"/>
                </a:solidFill>
                <a:latin typeface="Calibri"/>
                <a:cs typeface="Calibri"/>
              </a:rPr>
              <a:t>=&gt;</a:t>
            </a:r>
            <a:r>
              <a:rPr sz="2400" b="1" spc="-7" dirty="0">
                <a:solidFill>
                  <a:srgbClr val="D9D9D9"/>
                </a:solidFill>
                <a:latin typeface="Calibri"/>
                <a:cs typeface="Calibri"/>
              </a:rPr>
              <a:t> </a:t>
            </a:r>
            <a:r>
              <a:rPr sz="2400" b="1" dirty="0">
                <a:solidFill>
                  <a:srgbClr val="D9D9D9"/>
                </a:solidFill>
                <a:latin typeface="Calibri"/>
                <a:cs typeface="Calibri"/>
              </a:rPr>
              <a:t>better</a:t>
            </a:r>
            <a:r>
              <a:rPr sz="2400" b="1" spc="-47" dirty="0">
                <a:solidFill>
                  <a:srgbClr val="D9D9D9"/>
                </a:solidFill>
                <a:latin typeface="Calibri"/>
                <a:cs typeface="Calibri"/>
              </a:rPr>
              <a:t> </a:t>
            </a:r>
            <a:r>
              <a:rPr sz="2400" b="1" dirty="0">
                <a:solidFill>
                  <a:srgbClr val="D9D9D9"/>
                </a:solidFill>
                <a:latin typeface="Calibri"/>
                <a:cs typeface="Calibri"/>
              </a:rPr>
              <a:t>Type</a:t>
            </a:r>
            <a:r>
              <a:rPr sz="2400" b="1" spc="-27" dirty="0">
                <a:solidFill>
                  <a:srgbClr val="D9D9D9"/>
                </a:solidFill>
                <a:latin typeface="Calibri"/>
                <a:cs typeface="Calibri"/>
              </a:rPr>
              <a:t> </a:t>
            </a:r>
            <a:r>
              <a:rPr sz="2400" b="1" spc="-67" dirty="0">
                <a:solidFill>
                  <a:srgbClr val="D9D9D9"/>
                </a:solidFill>
                <a:latin typeface="Calibri"/>
                <a:cs typeface="Calibri"/>
              </a:rPr>
              <a:t>1</a:t>
            </a:r>
            <a:endParaRPr sz="2400" dirty="0">
              <a:latin typeface="Calibri"/>
              <a:cs typeface="Calibri"/>
            </a:endParaRPr>
          </a:p>
        </p:txBody>
      </p:sp>
      <p:sp>
        <p:nvSpPr>
          <p:cNvPr id="15" name="object 2">
            <a:extLst>
              <a:ext uri="{FF2B5EF4-FFF2-40B4-BE49-F238E27FC236}">
                <a16:creationId xmlns:a16="http://schemas.microsoft.com/office/drawing/2014/main" id="{DFDB12FA-A53A-6AC4-D4FC-01944249737A}"/>
              </a:ext>
            </a:extLst>
          </p:cNvPr>
          <p:cNvSpPr txBox="1">
            <a:spLocks noGrp="1"/>
          </p:cNvSpPr>
          <p:nvPr>
            <p:ph type="title"/>
          </p:nvPr>
        </p:nvSpPr>
        <p:spPr>
          <a:xfrm>
            <a:off x="2600960" y="296665"/>
            <a:ext cx="7508240" cy="695062"/>
          </a:xfrm>
          <a:prstGeom prst="rect">
            <a:avLst/>
          </a:prstGeom>
        </p:spPr>
        <p:txBody>
          <a:bodyPr vert="horz" wrap="square" lIns="0" tIns="17780" rIns="0" bIns="0" rtlCol="0" anchor="ctr">
            <a:spAutoFit/>
          </a:bodyPr>
          <a:lstStyle/>
          <a:p>
            <a:pPr marL="617205">
              <a:lnSpc>
                <a:spcPct val="100000"/>
              </a:lnSpc>
              <a:spcBef>
                <a:spcPts val="140"/>
              </a:spcBef>
            </a:pPr>
            <a:r>
              <a:rPr dirty="0">
                <a:solidFill>
                  <a:schemeClr val="bg1"/>
                </a:solidFill>
                <a:latin typeface="+mn-lt"/>
              </a:rPr>
              <a:t>Type</a:t>
            </a:r>
            <a:r>
              <a:rPr spc="-73" dirty="0">
                <a:solidFill>
                  <a:schemeClr val="bg1"/>
                </a:solidFill>
                <a:latin typeface="+mn-lt"/>
              </a:rPr>
              <a:t> </a:t>
            </a:r>
            <a:r>
              <a:rPr dirty="0">
                <a:solidFill>
                  <a:schemeClr val="bg1"/>
                </a:solidFill>
                <a:latin typeface="+mn-lt"/>
              </a:rPr>
              <a:t>3:</a:t>
            </a:r>
            <a:r>
              <a:rPr spc="-60" dirty="0">
                <a:solidFill>
                  <a:schemeClr val="bg1"/>
                </a:solidFill>
                <a:latin typeface="+mn-lt"/>
              </a:rPr>
              <a:t> </a:t>
            </a:r>
            <a:r>
              <a:rPr dirty="0">
                <a:solidFill>
                  <a:schemeClr val="bg1"/>
                </a:solidFill>
                <a:latin typeface="+mn-lt"/>
              </a:rPr>
              <a:t>Additonal</a:t>
            </a:r>
            <a:r>
              <a:rPr spc="-27" dirty="0">
                <a:solidFill>
                  <a:schemeClr val="bg1"/>
                </a:solidFill>
                <a:latin typeface="+mn-lt"/>
              </a:rPr>
              <a:t> </a:t>
            </a:r>
            <a:r>
              <a:rPr spc="-13" dirty="0">
                <a:solidFill>
                  <a:schemeClr val="bg1"/>
                </a:solidFill>
                <a:latin typeface="+mn-lt"/>
              </a:rPr>
              <a:t>Attributes</a:t>
            </a:r>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extLst>
              <p:ext uri="{D42A27DB-BD31-4B8C-83A1-F6EECF244321}">
                <p14:modId xmlns:p14="http://schemas.microsoft.com/office/powerpoint/2010/main" val="2594582589"/>
              </p:ext>
            </p:extLst>
          </p:nvPr>
        </p:nvGraphicFramePr>
        <p:xfrm>
          <a:off x="7846568" y="1596305"/>
          <a:ext cx="4130084" cy="1250526"/>
        </p:xfrm>
        <a:graphic>
          <a:graphicData uri="http://schemas.openxmlformats.org/drawingml/2006/table">
            <a:tbl>
              <a:tblPr firstRow="1" bandRow="1">
                <a:tableStyleId>{2D5ABB26-0587-4C30-8999-92F81FD0307C}</a:tableStyleId>
              </a:tblPr>
              <a:tblGrid>
                <a:gridCol w="948987">
                  <a:extLst>
                    <a:ext uri="{9D8B030D-6E8A-4147-A177-3AD203B41FA5}">
                      <a16:colId xmlns:a16="http://schemas.microsoft.com/office/drawing/2014/main" val="20000"/>
                    </a:ext>
                  </a:extLst>
                </a:gridCol>
                <a:gridCol w="1516749">
                  <a:extLst>
                    <a:ext uri="{9D8B030D-6E8A-4147-A177-3AD203B41FA5}">
                      <a16:colId xmlns:a16="http://schemas.microsoft.com/office/drawing/2014/main" val="20001"/>
                    </a:ext>
                  </a:extLst>
                </a:gridCol>
                <a:gridCol w="1664348">
                  <a:extLst>
                    <a:ext uri="{9D8B030D-6E8A-4147-A177-3AD203B41FA5}">
                      <a16:colId xmlns:a16="http://schemas.microsoft.com/office/drawing/2014/main" val="20002"/>
                    </a:ext>
                  </a:extLst>
                </a:gridCol>
              </a:tblGrid>
              <a:tr h="286110">
                <a:tc>
                  <a:txBody>
                    <a:bodyPr/>
                    <a:lstStyle/>
                    <a:p>
                      <a:pPr algn="ctr">
                        <a:lnSpc>
                          <a:spcPct val="100000"/>
                        </a:lnSpc>
                        <a:spcBef>
                          <a:spcPts val="0"/>
                        </a:spcBef>
                      </a:pPr>
                      <a:r>
                        <a:rPr sz="1400" b="1" spc="-10" dirty="0">
                          <a:solidFill>
                            <a:schemeClr val="bg1"/>
                          </a:solidFill>
                          <a:latin typeface="Arial"/>
                          <a:cs typeface="Arial"/>
                        </a:rPr>
                        <a:t>Reg_PK</a:t>
                      </a:r>
                      <a:endParaRPr sz="1400" dirty="0">
                        <a:solidFill>
                          <a:schemeClr val="bg1"/>
                        </a:solidFill>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gn="ctr">
                        <a:lnSpc>
                          <a:spcPct val="100000"/>
                        </a:lnSpc>
                        <a:spcBef>
                          <a:spcPts val="0"/>
                        </a:spcBef>
                      </a:pPr>
                      <a:r>
                        <a:rPr sz="1400" b="1" spc="-10" dirty="0">
                          <a:solidFill>
                            <a:schemeClr val="bg1"/>
                          </a:solidFill>
                          <a:latin typeface="Arial"/>
                          <a:cs typeface="Arial"/>
                        </a:rPr>
                        <a:t>Region</a:t>
                      </a:r>
                      <a:endParaRPr sz="1400" dirty="0">
                        <a:solidFill>
                          <a:schemeClr val="bg1"/>
                        </a:solidFill>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algn="ctr">
                        <a:lnSpc>
                          <a:spcPct val="100000"/>
                        </a:lnSpc>
                        <a:spcBef>
                          <a:spcPts val="0"/>
                        </a:spcBef>
                      </a:pPr>
                      <a:r>
                        <a:rPr sz="1400" b="1" spc="-10" dirty="0">
                          <a:solidFill>
                            <a:schemeClr val="bg1"/>
                          </a:solidFill>
                          <a:latin typeface="Arial"/>
                          <a:cs typeface="Arial"/>
                        </a:rPr>
                        <a:t>Prev_Region</a:t>
                      </a:r>
                      <a:endParaRPr sz="1400" dirty="0">
                        <a:solidFill>
                          <a:schemeClr val="bg1"/>
                        </a:solidFill>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321472">
                <a:tc>
                  <a:txBody>
                    <a:bodyPr/>
                    <a:lstStyle/>
                    <a:p>
                      <a:pPr algn="ctr">
                        <a:lnSpc>
                          <a:spcPts val="1175"/>
                        </a:lnSpc>
                        <a:spcBef>
                          <a:spcPts val="220"/>
                        </a:spcBef>
                      </a:pPr>
                      <a:r>
                        <a:rPr sz="1400" spc="-50" dirty="0">
                          <a:latin typeface="Arial MT"/>
                          <a:cs typeface="Arial MT"/>
                        </a:rPr>
                        <a:t>1</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ts val="1175"/>
                        </a:lnSpc>
                        <a:spcBef>
                          <a:spcPts val="220"/>
                        </a:spcBef>
                      </a:pPr>
                      <a:r>
                        <a:rPr sz="1400" spc="-10" dirty="0">
                          <a:latin typeface="Arial MT"/>
                          <a:cs typeface="Arial MT"/>
                        </a:rPr>
                        <a:t>North</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ts val="1175"/>
                        </a:lnSpc>
                        <a:spcBef>
                          <a:spcPts val="220"/>
                        </a:spcBef>
                      </a:pPr>
                      <a:r>
                        <a:rPr sz="1400" spc="-10" dirty="0">
                          <a:latin typeface="Arial MT"/>
                          <a:cs typeface="Arial MT"/>
                        </a:rPr>
                        <a:t>North</a:t>
                      </a:r>
                      <a:endParaRPr sz="1400" dirty="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321472">
                <a:tc>
                  <a:txBody>
                    <a:bodyPr/>
                    <a:lstStyle/>
                    <a:p>
                      <a:pPr algn="ctr">
                        <a:lnSpc>
                          <a:spcPts val="1175"/>
                        </a:lnSpc>
                        <a:spcBef>
                          <a:spcPts val="220"/>
                        </a:spcBef>
                      </a:pPr>
                      <a:r>
                        <a:rPr sz="1400" spc="-50" dirty="0">
                          <a:latin typeface="Arial MT"/>
                          <a:cs typeface="Arial MT"/>
                        </a:rPr>
                        <a:t>2</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ts val="1175"/>
                        </a:lnSpc>
                        <a:spcBef>
                          <a:spcPts val="220"/>
                        </a:spcBef>
                      </a:pPr>
                      <a:r>
                        <a:rPr sz="1400" spc="-20" dirty="0">
                          <a:latin typeface="Arial MT"/>
                          <a:cs typeface="Arial MT"/>
                        </a:rPr>
                        <a:t>West</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5"/>
                        </a:lnSpc>
                        <a:spcBef>
                          <a:spcPts val="220"/>
                        </a:spcBef>
                      </a:pPr>
                      <a:r>
                        <a:rPr sz="1400" spc="-20" dirty="0">
                          <a:latin typeface="Arial MT"/>
                          <a:cs typeface="Arial MT"/>
                        </a:rPr>
                        <a:t>West</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321472">
                <a:tc>
                  <a:txBody>
                    <a:bodyPr/>
                    <a:lstStyle/>
                    <a:p>
                      <a:pPr algn="ctr">
                        <a:lnSpc>
                          <a:spcPts val="1175"/>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905" algn="ctr">
                        <a:lnSpc>
                          <a:spcPts val="1175"/>
                        </a:lnSpc>
                        <a:spcBef>
                          <a:spcPts val="225"/>
                        </a:spcBef>
                      </a:pPr>
                      <a:r>
                        <a:rPr sz="1400" spc="-10" dirty="0">
                          <a:latin typeface="Arial MT"/>
                          <a:cs typeface="Arial MT"/>
                        </a:rPr>
                        <a:t>South</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ts val="1175"/>
                        </a:lnSpc>
                        <a:spcBef>
                          <a:spcPts val="225"/>
                        </a:spcBef>
                      </a:pPr>
                      <a:r>
                        <a:rPr sz="1400" spc="-20" dirty="0">
                          <a:latin typeface="Arial MT"/>
                          <a:cs typeface="Arial MT"/>
                        </a:rPr>
                        <a:t>West</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E7FF"/>
                    </a:solidFill>
                  </a:tcPr>
                </a:tc>
                <a:extLst>
                  <a:ext uri="{0D108BD9-81ED-4DB2-BD59-A6C34878D82A}">
                    <a16:rowId xmlns:a16="http://schemas.microsoft.com/office/drawing/2014/main" val="10003"/>
                  </a:ext>
                </a:extLst>
              </a:tr>
            </a:tbl>
          </a:graphicData>
        </a:graphic>
      </p:graphicFrame>
      <p:sp>
        <p:nvSpPr>
          <p:cNvPr id="9" name="object 9"/>
          <p:cNvSpPr txBox="1"/>
          <p:nvPr/>
        </p:nvSpPr>
        <p:spPr>
          <a:xfrm>
            <a:off x="2442126" y="5157351"/>
            <a:ext cx="4418753" cy="386430"/>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i="1" dirty="0">
                <a:solidFill>
                  <a:srgbClr val="D9D9D9"/>
                </a:solidFill>
                <a:latin typeface="Calibri"/>
                <a:cs typeface="Calibri"/>
              </a:rPr>
              <a:t>Minor</a:t>
            </a:r>
            <a:r>
              <a:rPr sz="2400" b="1" i="1" spc="-73" dirty="0">
                <a:solidFill>
                  <a:srgbClr val="D9D9D9"/>
                </a:solidFill>
                <a:latin typeface="Calibri"/>
                <a:cs typeface="Calibri"/>
              </a:rPr>
              <a:t> </a:t>
            </a:r>
            <a:r>
              <a:rPr sz="2400" b="1" i="1" dirty="0">
                <a:solidFill>
                  <a:srgbClr val="D9D9D9"/>
                </a:solidFill>
                <a:latin typeface="Calibri"/>
                <a:cs typeface="Calibri"/>
              </a:rPr>
              <a:t>changes</a:t>
            </a:r>
            <a:r>
              <a:rPr sz="2400" b="1" i="1" spc="-80" dirty="0">
                <a:solidFill>
                  <a:srgbClr val="D9D9D9"/>
                </a:solidFill>
                <a:latin typeface="Calibri"/>
                <a:cs typeface="Calibri"/>
              </a:rPr>
              <a:t> </a:t>
            </a:r>
            <a:r>
              <a:rPr sz="2400" b="1" i="1" dirty="0">
                <a:solidFill>
                  <a:srgbClr val="D9D9D9"/>
                </a:solidFill>
                <a:latin typeface="Calibri"/>
                <a:cs typeface="Calibri"/>
              </a:rPr>
              <a:t>=&gt;</a:t>
            </a:r>
            <a:r>
              <a:rPr sz="2400" b="1" i="1" spc="-67" dirty="0">
                <a:solidFill>
                  <a:srgbClr val="D9D9D9"/>
                </a:solidFill>
                <a:latin typeface="Calibri"/>
                <a:cs typeface="Calibri"/>
              </a:rPr>
              <a:t> </a:t>
            </a:r>
            <a:r>
              <a:rPr sz="2400" b="1" i="1" dirty="0">
                <a:solidFill>
                  <a:srgbClr val="D9D9D9"/>
                </a:solidFill>
                <a:latin typeface="Calibri"/>
                <a:cs typeface="Calibri"/>
              </a:rPr>
              <a:t>better</a:t>
            </a:r>
            <a:r>
              <a:rPr sz="2400" b="1" i="1" spc="-60" dirty="0">
                <a:solidFill>
                  <a:srgbClr val="D9D9D9"/>
                </a:solidFill>
                <a:latin typeface="Calibri"/>
                <a:cs typeface="Calibri"/>
              </a:rPr>
              <a:t> </a:t>
            </a:r>
            <a:r>
              <a:rPr sz="2400" b="1" i="1" dirty="0">
                <a:solidFill>
                  <a:srgbClr val="D9D9D9"/>
                </a:solidFill>
                <a:latin typeface="Calibri"/>
                <a:cs typeface="Calibri"/>
              </a:rPr>
              <a:t>Type</a:t>
            </a:r>
            <a:r>
              <a:rPr sz="2400" b="1" i="1" spc="-80" dirty="0">
                <a:solidFill>
                  <a:srgbClr val="D9D9D9"/>
                </a:solidFill>
                <a:latin typeface="Calibri"/>
                <a:cs typeface="Calibri"/>
              </a:rPr>
              <a:t> </a:t>
            </a:r>
            <a:r>
              <a:rPr sz="2400" b="1" i="1" spc="-67" dirty="0">
                <a:solidFill>
                  <a:srgbClr val="D9D9D9"/>
                </a:solidFill>
                <a:latin typeface="Calibri"/>
                <a:cs typeface="Calibri"/>
              </a:rPr>
              <a:t>1</a:t>
            </a:r>
            <a:endParaRPr sz="2400">
              <a:latin typeface="Calibri"/>
              <a:cs typeface="Calibri"/>
            </a:endParaRPr>
          </a:p>
        </p:txBody>
      </p:sp>
      <p:sp>
        <p:nvSpPr>
          <p:cNvPr id="10" name="object 10"/>
          <p:cNvSpPr txBox="1"/>
          <p:nvPr/>
        </p:nvSpPr>
        <p:spPr>
          <a:xfrm>
            <a:off x="698613" y="3302932"/>
            <a:ext cx="8515773" cy="1509815"/>
          </a:xfrm>
          <a:prstGeom prst="rect">
            <a:avLst/>
          </a:prstGeom>
        </p:spPr>
        <p:txBody>
          <a:bodyPr vert="horz" wrap="square" lIns="0" tIns="16933" rIns="0" bIns="0" rtlCol="0">
            <a:spAutoFit/>
          </a:bodyPr>
          <a:lstStyle/>
          <a:p>
            <a:pPr marL="2083595" indent="-380990">
              <a:spcBef>
                <a:spcPts val="2519"/>
              </a:spcBef>
              <a:buClr>
                <a:srgbClr val="99D3FF"/>
              </a:buClr>
              <a:buFont typeface="Wingdings"/>
              <a:buChar char=""/>
              <a:tabLst>
                <a:tab pos="2083595" algn="l"/>
              </a:tabLst>
            </a:pPr>
            <a:r>
              <a:rPr sz="2400" b="1" i="1" dirty="0">
                <a:solidFill>
                  <a:srgbClr val="D9D9D9"/>
                </a:solidFill>
                <a:latin typeface="Calibri"/>
                <a:cs typeface="Calibri"/>
              </a:rPr>
              <a:t>Not</a:t>
            </a:r>
            <a:r>
              <a:rPr sz="2400" b="1" i="1" spc="-33" dirty="0">
                <a:solidFill>
                  <a:srgbClr val="D9D9D9"/>
                </a:solidFill>
                <a:latin typeface="Calibri"/>
                <a:cs typeface="Calibri"/>
              </a:rPr>
              <a:t> </a:t>
            </a:r>
            <a:r>
              <a:rPr sz="2400" b="1" i="1" dirty="0">
                <a:solidFill>
                  <a:srgbClr val="D9D9D9"/>
                </a:solidFill>
                <a:latin typeface="Calibri"/>
                <a:cs typeface="Calibri"/>
              </a:rPr>
              <a:t>suitable</a:t>
            </a:r>
            <a:r>
              <a:rPr sz="2400" b="1" i="1" spc="-47" dirty="0">
                <a:solidFill>
                  <a:srgbClr val="D9D9D9"/>
                </a:solidFill>
                <a:latin typeface="Calibri"/>
                <a:cs typeface="Calibri"/>
              </a:rPr>
              <a:t> </a:t>
            </a:r>
            <a:r>
              <a:rPr sz="2400" b="1" i="1" dirty="0">
                <a:solidFill>
                  <a:srgbClr val="D9D9D9"/>
                </a:solidFill>
                <a:latin typeface="Calibri"/>
                <a:cs typeface="Calibri"/>
              </a:rPr>
              <a:t>for</a:t>
            </a:r>
            <a:r>
              <a:rPr sz="2400" b="1" i="1" spc="-47" dirty="0">
                <a:solidFill>
                  <a:srgbClr val="D9D9D9"/>
                </a:solidFill>
                <a:latin typeface="Calibri"/>
                <a:cs typeface="Calibri"/>
              </a:rPr>
              <a:t> </a:t>
            </a:r>
            <a:r>
              <a:rPr sz="2400" b="1" i="1" dirty="0">
                <a:solidFill>
                  <a:srgbClr val="D9D9D9"/>
                </a:solidFill>
                <a:latin typeface="Calibri"/>
                <a:cs typeface="Calibri"/>
              </a:rPr>
              <a:t>frequent</a:t>
            </a:r>
            <a:r>
              <a:rPr sz="2400" b="1" i="1" spc="-20" dirty="0">
                <a:solidFill>
                  <a:srgbClr val="D9D9D9"/>
                </a:solidFill>
                <a:latin typeface="Calibri"/>
                <a:cs typeface="Calibri"/>
              </a:rPr>
              <a:t> </a:t>
            </a:r>
            <a:r>
              <a:rPr sz="2400" b="1" i="1" dirty="0">
                <a:solidFill>
                  <a:srgbClr val="D9D9D9"/>
                </a:solidFill>
                <a:latin typeface="Calibri"/>
                <a:cs typeface="Calibri"/>
              </a:rPr>
              <a:t>or</a:t>
            </a:r>
            <a:r>
              <a:rPr sz="2400" b="1" i="1" spc="-40" dirty="0">
                <a:solidFill>
                  <a:srgbClr val="D9D9D9"/>
                </a:solidFill>
                <a:latin typeface="Calibri"/>
                <a:cs typeface="Calibri"/>
              </a:rPr>
              <a:t> </a:t>
            </a:r>
            <a:r>
              <a:rPr sz="2400" b="1" i="1" dirty="0">
                <a:solidFill>
                  <a:srgbClr val="D9D9D9"/>
                </a:solidFill>
                <a:latin typeface="Calibri"/>
                <a:cs typeface="Calibri"/>
              </a:rPr>
              <a:t>unpredictable</a:t>
            </a:r>
            <a:r>
              <a:rPr sz="2400" b="1" i="1" spc="-47" dirty="0">
                <a:solidFill>
                  <a:srgbClr val="D9D9D9"/>
                </a:solidFill>
                <a:latin typeface="Calibri"/>
                <a:cs typeface="Calibri"/>
              </a:rPr>
              <a:t> </a:t>
            </a:r>
            <a:r>
              <a:rPr sz="2400" b="1" i="1" spc="-13" dirty="0">
                <a:solidFill>
                  <a:srgbClr val="D9D9D9"/>
                </a:solidFill>
                <a:latin typeface="Calibri"/>
                <a:cs typeface="Calibri"/>
              </a:rPr>
              <a:t>changes</a:t>
            </a:r>
            <a:endParaRPr sz="2400" dirty="0">
              <a:latin typeface="Calibri"/>
              <a:cs typeface="Calibri"/>
            </a:endParaRPr>
          </a:p>
          <a:p>
            <a:pPr marL="2084441">
              <a:spcBef>
                <a:spcPts val="1440"/>
              </a:spcBef>
            </a:pPr>
            <a:r>
              <a:rPr sz="2400" b="1" i="1" dirty="0">
                <a:solidFill>
                  <a:srgbClr val="D9D9D9"/>
                </a:solidFill>
                <a:latin typeface="Calibri"/>
                <a:cs typeface="Calibri"/>
              </a:rPr>
              <a:t>=&gt;</a:t>
            </a:r>
            <a:r>
              <a:rPr sz="2400" b="1" i="1" spc="-60" dirty="0">
                <a:solidFill>
                  <a:srgbClr val="D9D9D9"/>
                </a:solidFill>
                <a:latin typeface="Calibri"/>
                <a:cs typeface="Calibri"/>
              </a:rPr>
              <a:t> </a:t>
            </a:r>
            <a:r>
              <a:rPr sz="2400" b="1" i="1" dirty="0">
                <a:solidFill>
                  <a:srgbClr val="D9D9D9"/>
                </a:solidFill>
                <a:latin typeface="Calibri"/>
                <a:cs typeface="Calibri"/>
              </a:rPr>
              <a:t>better</a:t>
            </a:r>
            <a:r>
              <a:rPr sz="2400" b="1" i="1" spc="-47" dirty="0">
                <a:solidFill>
                  <a:srgbClr val="D9D9D9"/>
                </a:solidFill>
                <a:latin typeface="Calibri"/>
                <a:cs typeface="Calibri"/>
              </a:rPr>
              <a:t> </a:t>
            </a:r>
            <a:r>
              <a:rPr sz="2400" b="1" i="1" dirty="0">
                <a:solidFill>
                  <a:srgbClr val="D9D9D9"/>
                </a:solidFill>
                <a:latin typeface="Calibri"/>
                <a:cs typeface="Calibri"/>
              </a:rPr>
              <a:t>Type</a:t>
            </a:r>
            <a:r>
              <a:rPr sz="2400" b="1" i="1" spc="-60" dirty="0">
                <a:solidFill>
                  <a:srgbClr val="D9D9D9"/>
                </a:solidFill>
                <a:latin typeface="Calibri"/>
                <a:cs typeface="Calibri"/>
              </a:rPr>
              <a:t> </a:t>
            </a:r>
            <a:r>
              <a:rPr sz="2400" b="1" i="1" spc="-67" dirty="0">
                <a:solidFill>
                  <a:srgbClr val="D9D9D9"/>
                </a:solidFill>
                <a:latin typeface="Calibri"/>
                <a:cs typeface="Calibri"/>
              </a:rPr>
              <a:t>2</a:t>
            </a:r>
            <a:endParaRPr sz="2400" dirty="0">
              <a:latin typeface="Calibri"/>
              <a:cs typeface="Calibri"/>
            </a:endParaRPr>
          </a:p>
          <a:p>
            <a:pPr marL="2083595" indent="-380990">
              <a:spcBef>
                <a:spcPts val="1573"/>
              </a:spcBef>
              <a:buClr>
                <a:srgbClr val="99D3FF"/>
              </a:buClr>
              <a:buFont typeface="Wingdings"/>
              <a:buChar char=""/>
              <a:tabLst>
                <a:tab pos="2083595" algn="l"/>
              </a:tabLst>
            </a:pPr>
            <a:r>
              <a:rPr sz="2400" b="1" i="1" dirty="0">
                <a:solidFill>
                  <a:srgbClr val="D9D9D9"/>
                </a:solidFill>
                <a:latin typeface="Calibri"/>
                <a:cs typeface="Calibri"/>
              </a:rPr>
              <a:t>It</a:t>
            </a:r>
            <a:r>
              <a:rPr sz="2400" b="1" i="1" spc="-27" dirty="0">
                <a:solidFill>
                  <a:srgbClr val="D9D9D9"/>
                </a:solidFill>
                <a:latin typeface="Calibri"/>
                <a:cs typeface="Calibri"/>
              </a:rPr>
              <a:t> </a:t>
            </a:r>
            <a:r>
              <a:rPr sz="2400" b="1" i="1" dirty="0">
                <a:solidFill>
                  <a:srgbClr val="D9D9D9"/>
                </a:solidFill>
                <a:latin typeface="Calibri"/>
                <a:cs typeface="Calibri"/>
              </a:rPr>
              <a:t>is</a:t>
            </a:r>
            <a:r>
              <a:rPr sz="2400" b="1" i="1" spc="-33" dirty="0">
                <a:solidFill>
                  <a:srgbClr val="D9D9D9"/>
                </a:solidFill>
                <a:latin typeface="Calibri"/>
                <a:cs typeface="Calibri"/>
              </a:rPr>
              <a:t> </a:t>
            </a:r>
            <a:r>
              <a:rPr sz="2400" b="1" i="1" dirty="0">
                <a:solidFill>
                  <a:srgbClr val="D9D9D9"/>
                </a:solidFill>
                <a:latin typeface="Calibri"/>
                <a:cs typeface="Calibri"/>
              </a:rPr>
              <a:t>possible</a:t>
            </a:r>
            <a:r>
              <a:rPr sz="2400" b="1" i="1" spc="-13" dirty="0">
                <a:solidFill>
                  <a:srgbClr val="D9D9D9"/>
                </a:solidFill>
                <a:latin typeface="Calibri"/>
                <a:cs typeface="Calibri"/>
              </a:rPr>
              <a:t> </a:t>
            </a:r>
            <a:r>
              <a:rPr sz="2400" b="1" i="1" dirty="0">
                <a:solidFill>
                  <a:srgbClr val="D9D9D9"/>
                </a:solidFill>
                <a:latin typeface="Calibri"/>
                <a:cs typeface="Calibri"/>
              </a:rPr>
              <a:t>to</a:t>
            </a:r>
            <a:r>
              <a:rPr sz="2400" b="1" i="1" spc="-33" dirty="0">
                <a:solidFill>
                  <a:srgbClr val="D9D9D9"/>
                </a:solidFill>
                <a:latin typeface="Calibri"/>
                <a:cs typeface="Calibri"/>
              </a:rPr>
              <a:t> </a:t>
            </a:r>
            <a:r>
              <a:rPr sz="2400" b="1" i="1" dirty="0">
                <a:solidFill>
                  <a:srgbClr val="D9D9D9"/>
                </a:solidFill>
                <a:latin typeface="Calibri"/>
                <a:cs typeface="Calibri"/>
              </a:rPr>
              <a:t>add</a:t>
            </a:r>
            <a:r>
              <a:rPr sz="2400" b="1" i="1" spc="-20" dirty="0">
                <a:solidFill>
                  <a:srgbClr val="D9D9D9"/>
                </a:solidFill>
                <a:latin typeface="Calibri"/>
                <a:cs typeface="Calibri"/>
              </a:rPr>
              <a:t> </a:t>
            </a:r>
            <a:r>
              <a:rPr sz="2400" b="1" i="1" dirty="0">
                <a:solidFill>
                  <a:srgbClr val="D9D9D9"/>
                </a:solidFill>
                <a:latin typeface="Calibri"/>
                <a:cs typeface="Calibri"/>
              </a:rPr>
              <a:t>multiple</a:t>
            </a:r>
            <a:r>
              <a:rPr sz="2400" b="1" i="1" spc="-40" dirty="0">
                <a:solidFill>
                  <a:srgbClr val="D9D9D9"/>
                </a:solidFill>
                <a:latin typeface="Calibri"/>
                <a:cs typeface="Calibri"/>
              </a:rPr>
              <a:t> </a:t>
            </a:r>
            <a:r>
              <a:rPr sz="2400" b="1" i="1" dirty="0">
                <a:solidFill>
                  <a:srgbClr val="D9D9D9"/>
                </a:solidFill>
                <a:latin typeface="Calibri"/>
                <a:cs typeface="Calibri"/>
              </a:rPr>
              <a:t>historic</a:t>
            </a:r>
            <a:r>
              <a:rPr sz="2400" b="1" i="1" spc="-27" dirty="0">
                <a:solidFill>
                  <a:srgbClr val="D9D9D9"/>
                </a:solidFill>
                <a:latin typeface="Calibri"/>
                <a:cs typeface="Calibri"/>
              </a:rPr>
              <a:t> </a:t>
            </a:r>
            <a:r>
              <a:rPr sz="2400" b="1" i="1" spc="-13" dirty="0">
                <a:solidFill>
                  <a:srgbClr val="D9D9D9"/>
                </a:solidFill>
                <a:latin typeface="Calibri"/>
                <a:cs typeface="Calibri"/>
              </a:rPr>
              <a:t>columns</a:t>
            </a:r>
            <a:endParaRPr sz="2400" dirty="0">
              <a:latin typeface="Calibri"/>
              <a:cs typeface="Calibri"/>
            </a:endParaRPr>
          </a:p>
        </p:txBody>
      </p:sp>
      <p:sp>
        <p:nvSpPr>
          <p:cNvPr id="12" name="object 12"/>
          <p:cNvSpPr txBox="1"/>
          <p:nvPr/>
        </p:nvSpPr>
        <p:spPr>
          <a:xfrm>
            <a:off x="7112000" y="4905248"/>
            <a:ext cx="3048000" cy="1445374"/>
          </a:xfrm>
          <a:prstGeom prst="rect">
            <a:avLst/>
          </a:prstGeom>
          <a:solidFill>
            <a:srgbClr val="00BAFF">
              <a:alpha val="50195"/>
            </a:srgbClr>
          </a:solidFill>
        </p:spPr>
        <p:txBody>
          <a:bodyPr vert="horz" wrap="square" lIns="0" tIns="37253" rIns="0" bIns="0" rtlCol="0">
            <a:spAutoFit/>
          </a:bodyPr>
          <a:lstStyle/>
          <a:p>
            <a:pPr marL="168481" marR="164248" indent="172714">
              <a:lnSpc>
                <a:spcPts val="3840"/>
              </a:lnSpc>
              <a:spcBef>
                <a:spcPts val="293"/>
              </a:spcBef>
            </a:pPr>
            <a:r>
              <a:rPr sz="2133" dirty="0">
                <a:solidFill>
                  <a:srgbClr val="D9D9D9"/>
                </a:solidFill>
                <a:latin typeface="Bahnschrift"/>
                <a:cs typeface="Bahnschrift"/>
              </a:rPr>
              <a:t>Least</a:t>
            </a:r>
            <a:r>
              <a:rPr sz="2133" spc="133" dirty="0">
                <a:solidFill>
                  <a:srgbClr val="D9D9D9"/>
                </a:solidFill>
                <a:latin typeface="Bahnschrift"/>
                <a:cs typeface="Bahnschrift"/>
              </a:rPr>
              <a:t> </a:t>
            </a:r>
            <a:r>
              <a:rPr sz="2133" dirty="0">
                <a:solidFill>
                  <a:srgbClr val="D9D9D9"/>
                </a:solidFill>
                <a:latin typeface="Bahnschrift"/>
                <a:cs typeface="Bahnschrift"/>
              </a:rPr>
              <a:t>frequent</a:t>
            </a:r>
            <a:r>
              <a:rPr sz="2133" spc="120" dirty="0">
                <a:solidFill>
                  <a:srgbClr val="D9D9D9"/>
                </a:solidFill>
                <a:latin typeface="Bahnschrift"/>
                <a:cs typeface="Bahnschrift"/>
              </a:rPr>
              <a:t> </a:t>
            </a:r>
            <a:r>
              <a:rPr sz="2133" spc="-27" dirty="0">
                <a:solidFill>
                  <a:srgbClr val="D9D9D9"/>
                </a:solidFill>
                <a:latin typeface="Bahnschrift"/>
                <a:cs typeface="Bahnschrift"/>
              </a:rPr>
              <a:t>type </a:t>
            </a:r>
            <a:r>
              <a:rPr sz="2133" dirty="0">
                <a:solidFill>
                  <a:srgbClr val="D9D9D9"/>
                </a:solidFill>
                <a:latin typeface="Bahnschrift"/>
                <a:cs typeface="Bahnschrift"/>
              </a:rPr>
              <a:t>(two</a:t>
            </a:r>
            <a:r>
              <a:rPr sz="2133" spc="180" dirty="0">
                <a:solidFill>
                  <a:srgbClr val="D9D9D9"/>
                </a:solidFill>
                <a:latin typeface="Bahnschrift"/>
                <a:cs typeface="Bahnschrift"/>
              </a:rPr>
              <a:t> </a:t>
            </a:r>
            <a:r>
              <a:rPr sz="2133" dirty="0">
                <a:solidFill>
                  <a:srgbClr val="D9D9D9"/>
                </a:solidFill>
                <a:latin typeface="Bahnschrift"/>
                <a:cs typeface="Bahnschrift"/>
              </a:rPr>
              <a:t>versions</a:t>
            </a:r>
            <a:r>
              <a:rPr sz="2133" spc="140" dirty="0">
                <a:solidFill>
                  <a:srgbClr val="D9D9D9"/>
                </a:solidFill>
                <a:latin typeface="Bahnschrift"/>
                <a:cs typeface="Bahnschrift"/>
              </a:rPr>
              <a:t> </a:t>
            </a:r>
            <a:r>
              <a:rPr sz="2133" spc="-13" dirty="0">
                <a:solidFill>
                  <a:srgbClr val="D9D9D9"/>
                </a:solidFill>
                <a:latin typeface="Bahnschrift"/>
                <a:cs typeface="Bahnschrift"/>
              </a:rPr>
              <a:t>needed)</a:t>
            </a:r>
            <a:endParaRPr sz="2133">
              <a:latin typeface="Bahnschrift"/>
              <a:cs typeface="Bahnschrift"/>
            </a:endParaRPr>
          </a:p>
        </p:txBody>
      </p:sp>
      <p:sp>
        <p:nvSpPr>
          <p:cNvPr id="15" name="object 2">
            <a:extLst>
              <a:ext uri="{FF2B5EF4-FFF2-40B4-BE49-F238E27FC236}">
                <a16:creationId xmlns:a16="http://schemas.microsoft.com/office/drawing/2014/main" id="{B7C0ABEB-ED4D-22BB-01D3-25F70EB0A02A}"/>
              </a:ext>
            </a:extLst>
          </p:cNvPr>
          <p:cNvSpPr txBox="1">
            <a:spLocks noGrp="1"/>
          </p:cNvSpPr>
          <p:nvPr>
            <p:ph type="title"/>
          </p:nvPr>
        </p:nvSpPr>
        <p:spPr>
          <a:xfrm>
            <a:off x="2600960" y="296665"/>
            <a:ext cx="7508240" cy="695062"/>
          </a:xfrm>
          <a:prstGeom prst="rect">
            <a:avLst/>
          </a:prstGeom>
        </p:spPr>
        <p:txBody>
          <a:bodyPr vert="horz" wrap="square" lIns="0" tIns="17780" rIns="0" bIns="0" rtlCol="0" anchor="ctr">
            <a:spAutoFit/>
          </a:bodyPr>
          <a:lstStyle/>
          <a:p>
            <a:pPr marL="617205">
              <a:lnSpc>
                <a:spcPct val="100000"/>
              </a:lnSpc>
              <a:spcBef>
                <a:spcPts val="140"/>
              </a:spcBef>
            </a:pPr>
            <a:r>
              <a:rPr dirty="0">
                <a:solidFill>
                  <a:schemeClr val="bg1"/>
                </a:solidFill>
                <a:latin typeface="+mn-lt"/>
              </a:rPr>
              <a:t>Type</a:t>
            </a:r>
            <a:r>
              <a:rPr spc="-73" dirty="0">
                <a:solidFill>
                  <a:schemeClr val="bg1"/>
                </a:solidFill>
                <a:latin typeface="+mn-lt"/>
              </a:rPr>
              <a:t> </a:t>
            </a:r>
            <a:r>
              <a:rPr dirty="0">
                <a:solidFill>
                  <a:schemeClr val="bg1"/>
                </a:solidFill>
                <a:latin typeface="+mn-lt"/>
              </a:rPr>
              <a:t>3:</a:t>
            </a:r>
            <a:r>
              <a:rPr spc="-60" dirty="0">
                <a:solidFill>
                  <a:schemeClr val="bg1"/>
                </a:solidFill>
                <a:latin typeface="+mn-lt"/>
              </a:rPr>
              <a:t> </a:t>
            </a:r>
            <a:r>
              <a:rPr dirty="0">
                <a:solidFill>
                  <a:schemeClr val="bg1"/>
                </a:solidFill>
                <a:latin typeface="+mn-lt"/>
              </a:rPr>
              <a:t>Additonal</a:t>
            </a:r>
            <a:r>
              <a:rPr spc="-27" dirty="0">
                <a:solidFill>
                  <a:schemeClr val="bg1"/>
                </a:solidFill>
                <a:latin typeface="+mn-lt"/>
              </a:rPr>
              <a:t> </a:t>
            </a:r>
            <a:r>
              <a:rPr spc="-13" dirty="0">
                <a:solidFill>
                  <a:schemeClr val="bg1"/>
                </a:solidFill>
                <a:latin typeface="+mn-lt"/>
              </a:rPr>
              <a:t>Attributes</a:t>
            </a:r>
          </a:p>
        </p:txBody>
      </p:sp>
      <p:graphicFrame>
        <p:nvGraphicFramePr>
          <p:cNvPr id="17" name="object 3">
            <a:extLst>
              <a:ext uri="{FF2B5EF4-FFF2-40B4-BE49-F238E27FC236}">
                <a16:creationId xmlns:a16="http://schemas.microsoft.com/office/drawing/2014/main" id="{D55FFDC5-9E5D-B102-9CB4-498FFB2D34E1}"/>
              </a:ext>
            </a:extLst>
          </p:cNvPr>
          <p:cNvGraphicFramePr>
            <a:graphicFrameLocks noGrp="1"/>
          </p:cNvGraphicFramePr>
          <p:nvPr>
            <p:extLst>
              <p:ext uri="{D42A27DB-BD31-4B8C-83A1-F6EECF244321}">
                <p14:modId xmlns:p14="http://schemas.microsoft.com/office/powerpoint/2010/main" val="1915271950"/>
              </p:ext>
            </p:extLst>
          </p:nvPr>
        </p:nvGraphicFramePr>
        <p:xfrm>
          <a:off x="1229088" y="1184600"/>
          <a:ext cx="5906676" cy="1702027"/>
        </p:xfrm>
        <a:graphic>
          <a:graphicData uri="http://schemas.openxmlformats.org/drawingml/2006/table">
            <a:tbl>
              <a:tblPr firstRow="1" bandRow="1">
                <a:tableStyleId>{2D5ABB26-0587-4C30-8999-92F81FD0307C}</a:tableStyleId>
              </a:tblPr>
              <a:tblGrid>
                <a:gridCol w="1023614">
                  <a:extLst>
                    <a:ext uri="{9D8B030D-6E8A-4147-A177-3AD203B41FA5}">
                      <a16:colId xmlns:a16="http://schemas.microsoft.com/office/drawing/2014/main" val="20000"/>
                    </a:ext>
                  </a:extLst>
                </a:gridCol>
                <a:gridCol w="2292449">
                  <a:extLst>
                    <a:ext uri="{9D8B030D-6E8A-4147-A177-3AD203B41FA5}">
                      <a16:colId xmlns:a16="http://schemas.microsoft.com/office/drawing/2014/main" val="20001"/>
                    </a:ext>
                  </a:extLst>
                </a:gridCol>
                <a:gridCol w="1139721">
                  <a:extLst>
                    <a:ext uri="{9D8B030D-6E8A-4147-A177-3AD203B41FA5}">
                      <a16:colId xmlns:a16="http://schemas.microsoft.com/office/drawing/2014/main" val="20002"/>
                    </a:ext>
                  </a:extLst>
                </a:gridCol>
                <a:gridCol w="1450892">
                  <a:extLst>
                    <a:ext uri="{9D8B030D-6E8A-4147-A177-3AD203B41FA5}">
                      <a16:colId xmlns:a16="http://schemas.microsoft.com/office/drawing/2014/main" val="20003"/>
                    </a:ext>
                  </a:extLst>
                </a:gridCol>
              </a:tblGrid>
              <a:tr h="257182">
                <a:tc>
                  <a:txBody>
                    <a:bodyPr/>
                    <a:lstStyle/>
                    <a:p>
                      <a:pPr marL="1905" algn="ctr">
                        <a:lnSpc>
                          <a:spcPct val="100000"/>
                        </a:lnSpc>
                        <a:spcBef>
                          <a:spcPts val="0"/>
                        </a:spcBef>
                      </a:pPr>
                      <a:r>
                        <a:rPr sz="1400" b="1" spc="-10" dirty="0" err="1">
                          <a:solidFill>
                            <a:schemeClr val="bg1"/>
                          </a:solidFill>
                          <a:latin typeface="Arial"/>
                          <a:cs typeface="Arial"/>
                        </a:rPr>
                        <a:t>Sales_Key</a:t>
                      </a:r>
                      <a:r>
                        <a:rPr lang="en-IN" sz="1400" b="1" spc="-10" dirty="0">
                          <a:solidFill>
                            <a:schemeClr val="bg1"/>
                          </a:solidFill>
                          <a:latin typeface="Arial"/>
                          <a:cs typeface="Arial"/>
                        </a:rPr>
                        <a:t>c</a:t>
                      </a:r>
                      <a:endParaRPr sz="1400" dirty="0">
                        <a:solidFill>
                          <a:schemeClr val="bg1"/>
                        </a:solidFill>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270" algn="ctr">
                        <a:lnSpc>
                          <a:spcPct val="100000"/>
                        </a:lnSpc>
                        <a:spcBef>
                          <a:spcPts val="0"/>
                        </a:spcBef>
                      </a:pPr>
                      <a:r>
                        <a:rPr sz="1400" b="1" spc="-20" dirty="0">
                          <a:solidFill>
                            <a:schemeClr val="bg1"/>
                          </a:solidFill>
                          <a:latin typeface="Arial"/>
                          <a:cs typeface="Arial"/>
                        </a:rPr>
                        <a:t>Name</a:t>
                      </a:r>
                      <a:endParaRPr sz="1400" dirty="0">
                        <a:solidFill>
                          <a:schemeClr val="bg1"/>
                        </a:solidFill>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1905" algn="ctr">
                        <a:lnSpc>
                          <a:spcPct val="100000"/>
                        </a:lnSpc>
                        <a:spcBef>
                          <a:spcPts val="0"/>
                        </a:spcBef>
                      </a:pPr>
                      <a:r>
                        <a:rPr sz="1400" b="1" spc="-10" dirty="0">
                          <a:solidFill>
                            <a:schemeClr val="bg1"/>
                          </a:solidFill>
                          <a:latin typeface="Arial"/>
                          <a:cs typeface="Arial"/>
                        </a:rPr>
                        <a:t>Region_FK</a:t>
                      </a:r>
                      <a:endParaRPr sz="1400" dirty="0">
                        <a:solidFill>
                          <a:schemeClr val="bg1"/>
                        </a:solidFill>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tc>
                  <a:txBody>
                    <a:bodyPr/>
                    <a:lstStyle/>
                    <a:p>
                      <a:pPr marL="2540" algn="ctr">
                        <a:lnSpc>
                          <a:spcPct val="100000"/>
                        </a:lnSpc>
                        <a:spcBef>
                          <a:spcPts val="0"/>
                        </a:spcBef>
                      </a:pPr>
                      <a:r>
                        <a:rPr sz="1400" b="1" spc="-10" dirty="0">
                          <a:solidFill>
                            <a:schemeClr val="bg1"/>
                          </a:solidFill>
                          <a:latin typeface="Arial"/>
                          <a:cs typeface="Arial"/>
                        </a:rPr>
                        <a:t>Amount</a:t>
                      </a:r>
                      <a:endParaRPr sz="1400" dirty="0">
                        <a:solidFill>
                          <a:schemeClr val="bg1"/>
                        </a:solidFill>
                        <a:latin typeface="Arial"/>
                        <a:cs typeface="Arial"/>
                      </a:endParaRPr>
                    </a:p>
                  </a:txBody>
                  <a:tcPr marL="0" marR="0" marT="93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497E"/>
                    </a:solidFill>
                  </a:tcPr>
                </a:tc>
                <a:extLst>
                  <a:ext uri="{0D108BD9-81ED-4DB2-BD59-A6C34878D82A}">
                    <a16:rowId xmlns:a16="http://schemas.microsoft.com/office/drawing/2014/main" val="10000"/>
                  </a:ext>
                </a:extLst>
              </a:tr>
              <a:tr h="288969">
                <a:tc>
                  <a:txBody>
                    <a:bodyPr/>
                    <a:lstStyle/>
                    <a:p>
                      <a:pPr algn="ctr">
                        <a:lnSpc>
                          <a:spcPct val="100000"/>
                        </a:lnSpc>
                        <a:spcBef>
                          <a:spcPts val="220"/>
                        </a:spcBef>
                      </a:pPr>
                      <a:r>
                        <a:rPr sz="1400" spc="-50" dirty="0">
                          <a:latin typeface="Arial MT"/>
                          <a:cs typeface="Arial MT"/>
                        </a:rPr>
                        <a:t>1</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1270" algn="ctr">
                        <a:lnSpc>
                          <a:spcPct val="100000"/>
                        </a:lnSpc>
                        <a:spcBef>
                          <a:spcPts val="220"/>
                        </a:spcBef>
                      </a:pPr>
                      <a:r>
                        <a:rPr sz="1400" dirty="0">
                          <a:latin typeface="Arial MT"/>
                          <a:cs typeface="Arial MT"/>
                        </a:rPr>
                        <a:t>Sunglases</a:t>
                      </a:r>
                      <a:r>
                        <a:rPr sz="1400" spc="-55" dirty="0">
                          <a:latin typeface="Arial MT"/>
                          <a:cs typeface="Arial MT"/>
                        </a:rPr>
                        <a:t> </a:t>
                      </a:r>
                      <a:r>
                        <a:rPr sz="1400" dirty="0">
                          <a:latin typeface="Arial MT"/>
                          <a:cs typeface="Arial MT"/>
                        </a:rPr>
                        <a:t>TR-</a:t>
                      </a:r>
                      <a:r>
                        <a:rPr sz="1400" spc="-50" dirty="0">
                          <a:latin typeface="Arial MT"/>
                          <a:cs typeface="Arial MT"/>
                        </a:rPr>
                        <a:t>7</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0"/>
                        </a:spcBef>
                      </a:pPr>
                      <a:r>
                        <a:rPr sz="1400" spc="-50" dirty="0">
                          <a:latin typeface="Arial MT"/>
                          <a:cs typeface="Arial MT"/>
                        </a:rPr>
                        <a:t>1</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0"/>
                        </a:spcBef>
                      </a:pPr>
                      <a:r>
                        <a:rPr sz="1400" spc="-25" dirty="0">
                          <a:latin typeface="Arial MT"/>
                          <a:cs typeface="Arial MT"/>
                        </a:rPr>
                        <a:t>$25</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288969">
                <a:tc>
                  <a:txBody>
                    <a:bodyPr/>
                    <a:lstStyle/>
                    <a:p>
                      <a:pPr algn="ctr">
                        <a:lnSpc>
                          <a:spcPct val="100000"/>
                        </a:lnSpc>
                        <a:spcBef>
                          <a:spcPts val="220"/>
                        </a:spcBef>
                      </a:pPr>
                      <a:r>
                        <a:rPr sz="1400" spc="-50" dirty="0">
                          <a:latin typeface="Arial MT"/>
                          <a:cs typeface="Arial MT"/>
                        </a:rPr>
                        <a:t>2</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0"/>
                        </a:spcBef>
                      </a:pPr>
                      <a:r>
                        <a:rPr sz="1400" spc="-10" dirty="0">
                          <a:latin typeface="Arial MT"/>
                          <a:cs typeface="Arial MT"/>
                        </a:rPr>
                        <a:t>Chocolate </a:t>
                      </a:r>
                      <a:r>
                        <a:rPr sz="1400" dirty="0">
                          <a:latin typeface="Arial MT"/>
                          <a:cs typeface="Arial MT"/>
                        </a:rPr>
                        <a:t>bar 70%</a:t>
                      </a:r>
                      <a:r>
                        <a:rPr sz="1400" spc="5" dirty="0">
                          <a:latin typeface="Arial MT"/>
                          <a:cs typeface="Arial MT"/>
                        </a:rPr>
                        <a:t> </a:t>
                      </a:r>
                      <a:r>
                        <a:rPr sz="1400" spc="-10" dirty="0">
                          <a:latin typeface="Arial MT"/>
                          <a:cs typeface="Arial MT"/>
                        </a:rPr>
                        <a:t>cacao</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0"/>
                        </a:spcBef>
                      </a:pPr>
                      <a:r>
                        <a:rPr sz="1400" spc="-50" dirty="0">
                          <a:latin typeface="Arial MT"/>
                          <a:cs typeface="Arial MT"/>
                        </a:rPr>
                        <a:t>2</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0"/>
                        </a:spcBef>
                      </a:pPr>
                      <a:r>
                        <a:rPr sz="1400" spc="-25" dirty="0">
                          <a:latin typeface="Arial MT"/>
                          <a:cs typeface="Arial MT"/>
                        </a:rPr>
                        <a:t>$3</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2"/>
                  </a:ext>
                </a:extLst>
              </a:tr>
              <a:tr h="288969">
                <a:tc>
                  <a:txBody>
                    <a:bodyPr/>
                    <a:lstStyle/>
                    <a:p>
                      <a:pPr algn="ctr">
                        <a:lnSpc>
                          <a:spcPct val="100000"/>
                        </a:lnSpc>
                        <a:spcBef>
                          <a:spcPts val="220"/>
                        </a:spcBef>
                      </a:pPr>
                      <a:r>
                        <a:rPr sz="1400" spc="-50" dirty="0">
                          <a:latin typeface="Arial MT"/>
                          <a:cs typeface="Arial MT"/>
                        </a:rPr>
                        <a:t>3</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0"/>
                        </a:spcBef>
                      </a:pPr>
                      <a:r>
                        <a:rPr sz="1400" dirty="0">
                          <a:latin typeface="Arial MT"/>
                          <a:cs typeface="Arial MT"/>
                        </a:rPr>
                        <a:t>Oat</a:t>
                      </a:r>
                      <a:r>
                        <a:rPr sz="1400" spc="-25" dirty="0">
                          <a:latin typeface="Arial MT"/>
                          <a:cs typeface="Arial MT"/>
                        </a:rPr>
                        <a:t> </a:t>
                      </a:r>
                      <a:r>
                        <a:rPr sz="1400" dirty="0">
                          <a:latin typeface="Arial MT"/>
                          <a:cs typeface="Arial MT"/>
                        </a:rPr>
                        <a:t>meal</a:t>
                      </a:r>
                      <a:r>
                        <a:rPr sz="1400" spc="-35" dirty="0">
                          <a:latin typeface="Arial MT"/>
                          <a:cs typeface="Arial MT"/>
                        </a:rPr>
                        <a:t> </a:t>
                      </a:r>
                      <a:r>
                        <a:rPr sz="1400" spc="-10" dirty="0">
                          <a:latin typeface="Arial MT"/>
                          <a:cs typeface="Arial MT"/>
                        </a:rPr>
                        <a:t>biscuits</a:t>
                      </a:r>
                      <a:endParaRPr sz="1400" dirty="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0"/>
                        </a:spcBef>
                      </a:pPr>
                      <a:r>
                        <a:rPr sz="1400" spc="-50" dirty="0">
                          <a:latin typeface="Arial MT"/>
                          <a:cs typeface="Arial MT"/>
                        </a:rPr>
                        <a:t>3</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0"/>
                        </a:spcBef>
                      </a:pPr>
                      <a:r>
                        <a:rPr sz="1400" spc="-25" dirty="0">
                          <a:latin typeface="Arial MT"/>
                          <a:cs typeface="Arial MT"/>
                        </a:rPr>
                        <a:t>$4</a:t>
                      </a:r>
                      <a:endParaRPr sz="1400">
                        <a:latin typeface="Arial MT"/>
                        <a:cs typeface="Arial MT"/>
                      </a:endParaRPr>
                    </a:p>
                  </a:txBody>
                  <a:tcPr marL="0" marR="0" marT="372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288969">
                <a:tc>
                  <a:txBody>
                    <a:bodyPr/>
                    <a:lstStyle/>
                    <a:p>
                      <a:pPr algn="ctr">
                        <a:lnSpc>
                          <a:spcPct val="100000"/>
                        </a:lnSpc>
                        <a:spcBef>
                          <a:spcPts val="225"/>
                        </a:spcBef>
                      </a:pPr>
                      <a:r>
                        <a:rPr sz="1400" spc="-50" dirty="0">
                          <a:latin typeface="Arial MT"/>
                          <a:cs typeface="Arial MT"/>
                        </a:rPr>
                        <a:t>4</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635" algn="ctr">
                        <a:lnSpc>
                          <a:spcPct val="100000"/>
                        </a:lnSpc>
                        <a:spcBef>
                          <a:spcPts val="225"/>
                        </a:spcBef>
                      </a:pPr>
                      <a:r>
                        <a:rPr sz="1400" spc="-10" dirty="0">
                          <a:latin typeface="Arial MT"/>
                          <a:cs typeface="Arial MT"/>
                        </a:rPr>
                        <a:t>Chocolate </a:t>
                      </a:r>
                      <a:r>
                        <a:rPr sz="1400" dirty="0">
                          <a:latin typeface="Arial MT"/>
                          <a:cs typeface="Arial MT"/>
                        </a:rPr>
                        <a:t>bar 70%</a:t>
                      </a:r>
                      <a:r>
                        <a:rPr sz="1400" spc="5" dirty="0">
                          <a:latin typeface="Arial MT"/>
                          <a:cs typeface="Arial MT"/>
                        </a:rPr>
                        <a:t> </a:t>
                      </a:r>
                      <a:r>
                        <a:rPr sz="1400" spc="-10" dirty="0">
                          <a:latin typeface="Arial MT"/>
                          <a:cs typeface="Arial MT"/>
                        </a:rPr>
                        <a:t>cacao</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algn="ctr">
                        <a:lnSpc>
                          <a:spcPct val="100000"/>
                        </a:lnSpc>
                        <a:spcBef>
                          <a:spcPts val="225"/>
                        </a:spcBef>
                      </a:pPr>
                      <a:r>
                        <a:rPr sz="1400" spc="-50" dirty="0">
                          <a:latin typeface="Arial MT"/>
                          <a:cs typeface="Arial MT"/>
                        </a:rPr>
                        <a:t>2</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2540" algn="ctr">
                        <a:lnSpc>
                          <a:spcPct val="100000"/>
                        </a:lnSpc>
                        <a:spcBef>
                          <a:spcPts val="225"/>
                        </a:spcBef>
                      </a:pPr>
                      <a:r>
                        <a:rPr sz="1400" spc="-25"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4"/>
                  </a:ext>
                </a:extLst>
              </a:tr>
              <a:tr h="288969">
                <a:tc>
                  <a:txBody>
                    <a:bodyPr/>
                    <a:lstStyle/>
                    <a:p>
                      <a:pPr algn="ctr">
                        <a:lnSpc>
                          <a:spcPct val="100000"/>
                        </a:lnSpc>
                        <a:spcBef>
                          <a:spcPts val="225"/>
                        </a:spcBef>
                      </a:pPr>
                      <a:r>
                        <a:rPr sz="1400" spc="-50" dirty="0">
                          <a:latin typeface="Arial MT"/>
                          <a:cs typeface="Arial MT"/>
                        </a:rPr>
                        <a:t>5</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F1F1"/>
                    </a:solidFill>
                  </a:tcPr>
                </a:tc>
                <a:tc>
                  <a:txBody>
                    <a:bodyPr/>
                    <a:lstStyle/>
                    <a:p>
                      <a:pPr algn="ctr">
                        <a:lnSpc>
                          <a:spcPct val="100000"/>
                        </a:lnSpc>
                        <a:spcBef>
                          <a:spcPts val="225"/>
                        </a:spcBef>
                      </a:pPr>
                      <a:r>
                        <a:rPr sz="1400" dirty="0">
                          <a:latin typeface="Arial MT"/>
                          <a:cs typeface="Arial MT"/>
                        </a:rPr>
                        <a:t>Oat</a:t>
                      </a:r>
                      <a:r>
                        <a:rPr sz="1400" spc="-25" dirty="0">
                          <a:latin typeface="Arial MT"/>
                          <a:cs typeface="Arial MT"/>
                        </a:rPr>
                        <a:t> </a:t>
                      </a:r>
                      <a:r>
                        <a:rPr sz="1400" dirty="0">
                          <a:latin typeface="Arial MT"/>
                          <a:cs typeface="Arial MT"/>
                        </a:rPr>
                        <a:t>meal</a:t>
                      </a:r>
                      <a:r>
                        <a:rPr sz="1400" spc="-35" dirty="0">
                          <a:latin typeface="Arial MT"/>
                          <a:cs typeface="Arial MT"/>
                        </a:rPr>
                        <a:t> </a:t>
                      </a:r>
                      <a:r>
                        <a:rPr sz="1400" spc="-10" dirty="0">
                          <a:latin typeface="Arial MT"/>
                          <a:cs typeface="Arial MT"/>
                        </a:rPr>
                        <a:t>biscuits</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F1F1"/>
                    </a:solidFill>
                  </a:tcPr>
                </a:tc>
                <a:tc>
                  <a:txBody>
                    <a:bodyPr/>
                    <a:lstStyle/>
                    <a:p>
                      <a:pPr algn="ctr">
                        <a:lnSpc>
                          <a:spcPct val="100000"/>
                        </a:lnSpc>
                        <a:spcBef>
                          <a:spcPts val="225"/>
                        </a:spcBef>
                      </a:pPr>
                      <a:r>
                        <a:rPr sz="1400" spc="-50" dirty="0">
                          <a:latin typeface="Arial MT"/>
                          <a:cs typeface="Arial MT"/>
                        </a:rPr>
                        <a:t>3</a:t>
                      </a:r>
                      <a:endParaRPr sz="140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F1F1"/>
                    </a:solidFill>
                  </a:tcPr>
                </a:tc>
                <a:tc>
                  <a:txBody>
                    <a:bodyPr/>
                    <a:lstStyle/>
                    <a:p>
                      <a:pPr marL="2540" algn="ctr">
                        <a:lnSpc>
                          <a:spcPct val="100000"/>
                        </a:lnSpc>
                        <a:spcBef>
                          <a:spcPts val="225"/>
                        </a:spcBef>
                      </a:pPr>
                      <a:r>
                        <a:rPr sz="1400" spc="-25" dirty="0">
                          <a:latin typeface="Arial MT"/>
                          <a:cs typeface="Arial MT"/>
                        </a:rPr>
                        <a:t>$4</a:t>
                      </a:r>
                      <a:endParaRPr sz="1400" dirty="0">
                        <a:latin typeface="Arial MT"/>
                        <a:cs typeface="Arial MT"/>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1F1F1"/>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20347" y="243356"/>
            <a:ext cx="5831766"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Cloud vs. On-premises</a:t>
            </a:r>
          </a:p>
        </p:txBody>
      </p:sp>
      <p:grpSp>
        <p:nvGrpSpPr>
          <p:cNvPr id="3" name="object 3"/>
          <p:cNvGrpSpPr/>
          <p:nvPr/>
        </p:nvGrpSpPr>
        <p:grpSpPr>
          <a:xfrm>
            <a:off x="857503" y="1074927"/>
            <a:ext cx="10497311" cy="5321808"/>
            <a:chOff x="643127" y="806195"/>
            <a:chExt cx="7872983" cy="3991356"/>
          </a:xfrm>
        </p:grpSpPr>
        <p:pic>
          <p:nvPicPr>
            <p:cNvPr id="4" name="object 4"/>
            <p:cNvPicPr/>
            <p:nvPr/>
          </p:nvPicPr>
          <p:blipFill>
            <a:blip r:embed="rId2" cstate="print"/>
            <a:stretch>
              <a:fillRect/>
            </a:stretch>
          </p:blipFill>
          <p:spPr>
            <a:xfrm>
              <a:off x="4587239" y="964691"/>
              <a:ext cx="119034" cy="3832860"/>
            </a:xfrm>
            <a:prstGeom prst="rect">
              <a:avLst/>
            </a:prstGeom>
          </p:spPr>
        </p:pic>
        <p:sp>
          <p:nvSpPr>
            <p:cNvPr id="5" name="object 5"/>
            <p:cNvSpPr/>
            <p:nvPr/>
          </p:nvSpPr>
          <p:spPr>
            <a:xfrm>
              <a:off x="4648962" y="983741"/>
              <a:ext cx="0" cy="3733800"/>
            </a:xfrm>
            <a:custGeom>
              <a:avLst/>
              <a:gdLst/>
              <a:ahLst/>
              <a:cxnLst/>
              <a:rect l="l" t="t" r="r" b="b"/>
              <a:pathLst>
                <a:path h="3733800">
                  <a:moveTo>
                    <a:pt x="0" y="0"/>
                  </a:moveTo>
                  <a:lnTo>
                    <a:pt x="0" y="3733800"/>
                  </a:lnTo>
                </a:path>
              </a:pathLst>
            </a:custGeom>
            <a:ln w="38100">
              <a:solidFill>
                <a:srgbClr val="00C3FF"/>
              </a:solidFill>
            </a:ln>
          </p:spPr>
          <p:txBody>
            <a:bodyPr wrap="square" lIns="0" tIns="0" rIns="0" bIns="0" rtlCol="0"/>
            <a:lstStyle/>
            <a:p>
              <a:endParaRPr sz="2400"/>
            </a:p>
          </p:txBody>
        </p:sp>
        <p:pic>
          <p:nvPicPr>
            <p:cNvPr id="6" name="object 6"/>
            <p:cNvPicPr/>
            <p:nvPr/>
          </p:nvPicPr>
          <p:blipFill>
            <a:blip r:embed="rId3" cstate="print"/>
            <a:stretch>
              <a:fillRect/>
            </a:stretch>
          </p:blipFill>
          <p:spPr>
            <a:xfrm>
              <a:off x="643127" y="1514894"/>
              <a:ext cx="7872983" cy="138772"/>
            </a:xfrm>
            <a:prstGeom prst="rect">
              <a:avLst/>
            </a:prstGeom>
          </p:spPr>
        </p:pic>
        <p:sp>
          <p:nvSpPr>
            <p:cNvPr id="7" name="object 7"/>
            <p:cNvSpPr/>
            <p:nvPr/>
          </p:nvSpPr>
          <p:spPr>
            <a:xfrm>
              <a:off x="686561" y="1553718"/>
              <a:ext cx="7772400" cy="19685"/>
            </a:xfrm>
            <a:custGeom>
              <a:avLst/>
              <a:gdLst/>
              <a:ahLst/>
              <a:cxnLst/>
              <a:rect l="l" t="t" r="r" b="b"/>
              <a:pathLst>
                <a:path w="7772400" h="19684">
                  <a:moveTo>
                    <a:pt x="0" y="0"/>
                  </a:moveTo>
                  <a:lnTo>
                    <a:pt x="7772400" y="19685"/>
                  </a:lnTo>
                </a:path>
              </a:pathLst>
            </a:custGeom>
            <a:ln w="38099">
              <a:solidFill>
                <a:srgbClr val="00C3FF"/>
              </a:solidFill>
            </a:ln>
          </p:spPr>
          <p:txBody>
            <a:bodyPr wrap="square" lIns="0" tIns="0" rIns="0" bIns="0" rtlCol="0"/>
            <a:lstStyle/>
            <a:p>
              <a:endParaRPr sz="2400"/>
            </a:p>
          </p:txBody>
        </p:sp>
        <p:pic>
          <p:nvPicPr>
            <p:cNvPr id="8" name="object 8"/>
            <p:cNvPicPr/>
            <p:nvPr/>
          </p:nvPicPr>
          <p:blipFill>
            <a:blip r:embed="rId4" cstate="print"/>
            <a:stretch>
              <a:fillRect/>
            </a:stretch>
          </p:blipFill>
          <p:spPr>
            <a:xfrm>
              <a:off x="5323331" y="806195"/>
              <a:ext cx="1700148" cy="1029842"/>
            </a:xfrm>
            <a:prstGeom prst="rect">
              <a:avLst/>
            </a:prstGeom>
          </p:spPr>
        </p:pic>
        <p:sp>
          <p:nvSpPr>
            <p:cNvPr id="10" name="object 10"/>
            <p:cNvSpPr/>
            <p:nvPr/>
          </p:nvSpPr>
          <p:spPr>
            <a:xfrm>
              <a:off x="5650230" y="960881"/>
              <a:ext cx="1066800" cy="398145"/>
            </a:xfrm>
            <a:custGeom>
              <a:avLst/>
              <a:gdLst/>
              <a:ahLst/>
              <a:cxnLst/>
              <a:rect l="l" t="t" r="r" b="b"/>
              <a:pathLst>
                <a:path w="1066800" h="398144">
                  <a:moveTo>
                    <a:pt x="0" y="198881"/>
                  </a:moveTo>
                  <a:lnTo>
                    <a:pt x="99441" y="0"/>
                  </a:lnTo>
                  <a:lnTo>
                    <a:pt x="967359" y="0"/>
                  </a:lnTo>
                  <a:lnTo>
                    <a:pt x="1066800" y="198881"/>
                  </a:lnTo>
                  <a:lnTo>
                    <a:pt x="967359" y="397763"/>
                  </a:lnTo>
                  <a:lnTo>
                    <a:pt x="99441" y="397763"/>
                  </a:lnTo>
                  <a:lnTo>
                    <a:pt x="0" y="198881"/>
                  </a:lnTo>
                  <a:close/>
                </a:path>
              </a:pathLst>
            </a:custGeom>
            <a:ln w="19812">
              <a:solidFill>
                <a:srgbClr val="00C3FF"/>
              </a:solidFill>
            </a:ln>
          </p:spPr>
          <p:txBody>
            <a:bodyPr wrap="square" lIns="0" tIns="0" rIns="0" bIns="0" rtlCol="0"/>
            <a:lstStyle/>
            <a:p>
              <a:endParaRPr sz="2400"/>
            </a:p>
          </p:txBody>
        </p:sp>
        <p:pic>
          <p:nvPicPr>
            <p:cNvPr id="11" name="object 11"/>
            <p:cNvPicPr/>
            <p:nvPr/>
          </p:nvPicPr>
          <p:blipFill>
            <a:blip r:embed="rId5" cstate="print"/>
            <a:stretch>
              <a:fillRect/>
            </a:stretch>
          </p:blipFill>
          <p:spPr>
            <a:xfrm>
              <a:off x="1752600" y="826020"/>
              <a:ext cx="2169287" cy="1027544"/>
            </a:xfrm>
            <a:prstGeom prst="rect">
              <a:avLst/>
            </a:prstGeom>
          </p:spPr>
        </p:pic>
        <p:sp>
          <p:nvSpPr>
            <p:cNvPr id="13" name="object 13"/>
            <p:cNvSpPr/>
            <p:nvPr/>
          </p:nvSpPr>
          <p:spPr>
            <a:xfrm>
              <a:off x="2079497" y="980693"/>
              <a:ext cx="1536700" cy="396240"/>
            </a:xfrm>
            <a:custGeom>
              <a:avLst/>
              <a:gdLst/>
              <a:ahLst/>
              <a:cxnLst/>
              <a:rect l="l" t="t" r="r" b="b"/>
              <a:pathLst>
                <a:path w="1536700" h="396240">
                  <a:moveTo>
                    <a:pt x="0" y="198119"/>
                  </a:moveTo>
                  <a:lnTo>
                    <a:pt x="99059" y="0"/>
                  </a:lnTo>
                  <a:lnTo>
                    <a:pt x="1437131" y="0"/>
                  </a:lnTo>
                  <a:lnTo>
                    <a:pt x="1536191" y="198119"/>
                  </a:lnTo>
                  <a:lnTo>
                    <a:pt x="1437131" y="396239"/>
                  </a:lnTo>
                  <a:lnTo>
                    <a:pt x="99059" y="396239"/>
                  </a:lnTo>
                  <a:lnTo>
                    <a:pt x="0" y="198119"/>
                  </a:lnTo>
                  <a:close/>
                </a:path>
              </a:pathLst>
            </a:custGeom>
            <a:ln w="19812">
              <a:solidFill>
                <a:srgbClr val="00C3FF"/>
              </a:solidFill>
            </a:ln>
          </p:spPr>
          <p:txBody>
            <a:bodyPr wrap="square" lIns="0" tIns="0" rIns="0" bIns="0" rtlCol="0"/>
            <a:lstStyle/>
            <a:p>
              <a:endParaRPr sz="2400"/>
            </a:p>
          </p:txBody>
        </p:sp>
      </p:grpSp>
      <p:sp>
        <p:nvSpPr>
          <p:cNvPr id="14" name="object 14"/>
          <p:cNvSpPr txBox="1"/>
          <p:nvPr/>
        </p:nvSpPr>
        <p:spPr>
          <a:xfrm>
            <a:off x="3112007" y="1370076"/>
            <a:ext cx="5499100" cy="344539"/>
          </a:xfrm>
          <a:prstGeom prst="rect">
            <a:avLst/>
          </a:prstGeom>
        </p:spPr>
        <p:txBody>
          <a:bodyPr vert="horz" wrap="square" lIns="0" tIns="16087" rIns="0" bIns="0" rtlCol="0">
            <a:spAutoFit/>
          </a:bodyPr>
          <a:lstStyle/>
          <a:p>
            <a:pPr marL="16933">
              <a:spcBef>
                <a:spcPts val="127"/>
              </a:spcBef>
              <a:tabLst>
                <a:tab pos="4836039" algn="l"/>
              </a:tabLst>
            </a:pPr>
            <a:r>
              <a:rPr sz="3200" b="1" spc="-20" baseline="1736" dirty="0">
                <a:solidFill>
                  <a:srgbClr val="CCEAFF"/>
                </a:solidFill>
                <a:latin typeface="Calibri"/>
                <a:cs typeface="Calibri"/>
              </a:rPr>
              <a:t>On-premises</a:t>
            </a:r>
            <a:r>
              <a:rPr sz="3200" b="1" baseline="1736" dirty="0">
                <a:solidFill>
                  <a:srgbClr val="CCEAFF"/>
                </a:solidFill>
                <a:latin typeface="Calibri"/>
                <a:cs typeface="Calibri"/>
              </a:rPr>
              <a:t>	</a:t>
            </a:r>
            <a:r>
              <a:rPr sz="2133" b="1" spc="-13" dirty="0">
                <a:solidFill>
                  <a:srgbClr val="CCEAFF"/>
                </a:solidFill>
                <a:latin typeface="Calibri"/>
                <a:cs typeface="Calibri"/>
              </a:rPr>
              <a:t>Cloud</a:t>
            </a:r>
            <a:endParaRPr sz="2133" dirty="0">
              <a:latin typeface="Calibri"/>
              <a:cs typeface="Calibri"/>
            </a:endParaRPr>
          </a:p>
        </p:txBody>
      </p:sp>
      <p:grpSp>
        <p:nvGrpSpPr>
          <p:cNvPr id="15" name="object 15"/>
          <p:cNvGrpSpPr/>
          <p:nvPr/>
        </p:nvGrpSpPr>
        <p:grpSpPr>
          <a:xfrm>
            <a:off x="296672" y="2259635"/>
            <a:ext cx="2064173" cy="1330959"/>
            <a:chOff x="222504" y="1694726"/>
            <a:chExt cx="1548130" cy="998219"/>
          </a:xfrm>
        </p:grpSpPr>
        <p:pic>
          <p:nvPicPr>
            <p:cNvPr id="16" name="object 16"/>
            <p:cNvPicPr/>
            <p:nvPr/>
          </p:nvPicPr>
          <p:blipFill>
            <a:blip r:embed="rId6" cstate="print"/>
            <a:stretch>
              <a:fillRect/>
            </a:stretch>
          </p:blipFill>
          <p:spPr>
            <a:xfrm>
              <a:off x="222504" y="1694726"/>
              <a:ext cx="1547622" cy="997673"/>
            </a:xfrm>
            <a:prstGeom prst="rect">
              <a:avLst/>
            </a:prstGeom>
          </p:spPr>
        </p:pic>
        <p:sp>
          <p:nvSpPr>
            <p:cNvPr id="17" name="object 17"/>
            <p:cNvSpPr/>
            <p:nvPr/>
          </p:nvSpPr>
          <p:spPr>
            <a:xfrm>
              <a:off x="549402" y="1849373"/>
              <a:ext cx="914400" cy="365760"/>
            </a:xfrm>
            <a:custGeom>
              <a:avLst/>
              <a:gdLst/>
              <a:ahLst/>
              <a:cxnLst/>
              <a:rect l="l" t="t" r="r" b="b"/>
              <a:pathLst>
                <a:path w="914400" h="365760">
                  <a:moveTo>
                    <a:pt x="822960" y="0"/>
                  </a:moveTo>
                  <a:lnTo>
                    <a:pt x="91440" y="0"/>
                  </a:lnTo>
                  <a:lnTo>
                    <a:pt x="0" y="182880"/>
                  </a:lnTo>
                  <a:lnTo>
                    <a:pt x="91440" y="365759"/>
                  </a:lnTo>
                  <a:lnTo>
                    <a:pt x="822960" y="365759"/>
                  </a:lnTo>
                  <a:lnTo>
                    <a:pt x="914400" y="182880"/>
                  </a:lnTo>
                  <a:lnTo>
                    <a:pt x="822960" y="0"/>
                  </a:lnTo>
                  <a:close/>
                </a:path>
              </a:pathLst>
            </a:custGeom>
            <a:solidFill>
              <a:srgbClr val="F1F1F1"/>
            </a:solidFill>
          </p:spPr>
          <p:txBody>
            <a:bodyPr wrap="square" lIns="0" tIns="0" rIns="0" bIns="0" rtlCol="0"/>
            <a:lstStyle/>
            <a:p>
              <a:endParaRPr sz="2400"/>
            </a:p>
          </p:txBody>
        </p:sp>
        <p:sp>
          <p:nvSpPr>
            <p:cNvPr id="18" name="object 18"/>
            <p:cNvSpPr/>
            <p:nvPr/>
          </p:nvSpPr>
          <p:spPr>
            <a:xfrm>
              <a:off x="549402" y="1849373"/>
              <a:ext cx="914400" cy="365760"/>
            </a:xfrm>
            <a:custGeom>
              <a:avLst/>
              <a:gdLst/>
              <a:ahLst/>
              <a:cxnLst/>
              <a:rect l="l" t="t" r="r" b="b"/>
              <a:pathLst>
                <a:path w="914400" h="365760">
                  <a:moveTo>
                    <a:pt x="0" y="182880"/>
                  </a:moveTo>
                  <a:lnTo>
                    <a:pt x="91440" y="0"/>
                  </a:lnTo>
                  <a:lnTo>
                    <a:pt x="822960" y="0"/>
                  </a:lnTo>
                  <a:lnTo>
                    <a:pt x="914400" y="182880"/>
                  </a:lnTo>
                  <a:lnTo>
                    <a:pt x="822960" y="365759"/>
                  </a:lnTo>
                  <a:lnTo>
                    <a:pt x="91440" y="365759"/>
                  </a:lnTo>
                  <a:lnTo>
                    <a:pt x="0" y="182880"/>
                  </a:lnTo>
                  <a:close/>
                </a:path>
              </a:pathLst>
            </a:custGeom>
            <a:ln w="19812">
              <a:solidFill>
                <a:srgbClr val="00607E"/>
              </a:solidFill>
            </a:ln>
          </p:spPr>
          <p:txBody>
            <a:bodyPr wrap="square" lIns="0" tIns="0" rIns="0" bIns="0" rtlCol="0"/>
            <a:lstStyle/>
            <a:p>
              <a:endParaRPr sz="2400"/>
            </a:p>
          </p:txBody>
        </p:sp>
      </p:grpSp>
      <p:sp>
        <p:nvSpPr>
          <p:cNvPr id="19" name="object 19"/>
          <p:cNvSpPr txBox="1"/>
          <p:nvPr/>
        </p:nvSpPr>
        <p:spPr>
          <a:xfrm>
            <a:off x="1008414" y="2555241"/>
            <a:ext cx="688340" cy="304421"/>
          </a:xfrm>
          <a:prstGeom prst="rect">
            <a:avLst/>
          </a:prstGeom>
        </p:spPr>
        <p:txBody>
          <a:bodyPr vert="horz" wrap="square" lIns="0" tIns="16933" rIns="0" bIns="0" rtlCol="0">
            <a:spAutoFit/>
          </a:bodyPr>
          <a:lstStyle/>
          <a:p>
            <a:pPr marL="16933">
              <a:spcBef>
                <a:spcPts val="133"/>
              </a:spcBef>
            </a:pPr>
            <a:r>
              <a:rPr sz="1867" b="1" spc="-13" dirty="0">
                <a:solidFill>
                  <a:srgbClr val="434343"/>
                </a:solidFill>
                <a:latin typeface="Calibri"/>
                <a:cs typeface="Calibri"/>
              </a:rPr>
              <a:t>What?</a:t>
            </a:r>
            <a:endParaRPr sz="1867">
              <a:latin typeface="Calibri"/>
              <a:cs typeface="Calibri"/>
            </a:endParaRPr>
          </a:p>
        </p:txBody>
      </p:sp>
      <p:grpSp>
        <p:nvGrpSpPr>
          <p:cNvPr id="20" name="object 20"/>
          <p:cNvGrpSpPr/>
          <p:nvPr/>
        </p:nvGrpSpPr>
        <p:grpSpPr>
          <a:xfrm>
            <a:off x="6112255" y="2259635"/>
            <a:ext cx="2064173" cy="1330959"/>
            <a:chOff x="4584191" y="1694726"/>
            <a:chExt cx="1548130" cy="998219"/>
          </a:xfrm>
        </p:grpSpPr>
        <p:pic>
          <p:nvPicPr>
            <p:cNvPr id="21" name="object 21"/>
            <p:cNvPicPr/>
            <p:nvPr/>
          </p:nvPicPr>
          <p:blipFill>
            <a:blip r:embed="rId6" cstate="print"/>
            <a:stretch>
              <a:fillRect/>
            </a:stretch>
          </p:blipFill>
          <p:spPr>
            <a:xfrm>
              <a:off x="4584191" y="1694726"/>
              <a:ext cx="1547622" cy="997673"/>
            </a:xfrm>
            <a:prstGeom prst="rect">
              <a:avLst/>
            </a:prstGeom>
          </p:spPr>
        </p:pic>
        <p:sp>
          <p:nvSpPr>
            <p:cNvPr id="22" name="object 22"/>
            <p:cNvSpPr/>
            <p:nvPr/>
          </p:nvSpPr>
          <p:spPr>
            <a:xfrm>
              <a:off x="4911089" y="1849373"/>
              <a:ext cx="914400" cy="365760"/>
            </a:xfrm>
            <a:custGeom>
              <a:avLst/>
              <a:gdLst/>
              <a:ahLst/>
              <a:cxnLst/>
              <a:rect l="l" t="t" r="r" b="b"/>
              <a:pathLst>
                <a:path w="914400" h="365760">
                  <a:moveTo>
                    <a:pt x="822960" y="0"/>
                  </a:moveTo>
                  <a:lnTo>
                    <a:pt x="91439" y="0"/>
                  </a:lnTo>
                  <a:lnTo>
                    <a:pt x="0" y="182880"/>
                  </a:lnTo>
                  <a:lnTo>
                    <a:pt x="91439" y="365759"/>
                  </a:lnTo>
                  <a:lnTo>
                    <a:pt x="822960" y="365759"/>
                  </a:lnTo>
                  <a:lnTo>
                    <a:pt x="914400" y="182880"/>
                  </a:lnTo>
                  <a:lnTo>
                    <a:pt x="822960" y="0"/>
                  </a:lnTo>
                  <a:close/>
                </a:path>
              </a:pathLst>
            </a:custGeom>
            <a:solidFill>
              <a:srgbClr val="F1F1F1"/>
            </a:solidFill>
          </p:spPr>
          <p:txBody>
            <a:bodyPr wrap="square" lIns="0" tIns="0" rIns="0" bIns="0" rtlCol="0"/>
            <a:lstStyle/>
            <a:p>
              <a:endParaRPr sz="2400"/>
            </a:p>
          </p:txBody>
        </p:sp>
        <p:sp>
          <p:nvSpPr>
            <p:cNvPr id="23" name="object 23"/>
            <p:cNvSpPr/>
            <p:nvPr/>
          </p:nvSpPr>
          <p:spPr>
            <a:xfrm>
              <a:off x="4911089" y="1849373"/>
              <a:ext cx="914400" cy="365760"/>
            </a:xfrm>
            <a:custGeom>
              <a:avLst/>
              <a:gdLst/>
              <a:ahLst/>
              <a:cxnLst/>
              <a:rect l="l" t="t" r="r" b="b"/>
              <a:pathLst>
                <a:path w="914400" h="365760">
                  <a:moveTo>
                    <a:pt x="0" y="182880"/>
                  </a:moveTo>
                  <a:lnTo>
                    <a:pt x="91439" y="0"/>
                  </a:lnTo>
                  <a:lnTo>
                    <a:pt x="822960" y="0"/>
                  </a:lnTo>
                  <a:lnTo>
                    <a:pt x="914400" y="182880"/>
                  </a:lnTo>
                  <a:lnTo>
                    <a:pt x="822960" y="365759"/>
                  </a:lnTo>
                  <a:lnTo>
                    <a:pt x="91439" y="365759"/>
                  </a:lnTo>
                  <a:lnTo>
                    <a:pt x="0" y="182880"/>
                  </a:lnTo>
                  <a:close/>
                </a:path>
              </a:pathLst>
            </a:custGeom>
            <a:ln w="19812">
              <a:solidFill>
                <a:srgbClr val="00607E"/>
              </a:solidFill>
            </a:ln>
          </p:spPr>
          <p:txBody>
            <a:bodyPr wrap="square" lIns="0" tIns="0" rIns="0" bIns="0" rtlCol="0"/>
            <a:lstStyle/>
            <a:p>
              <a:endParaRPr sz="2400"/>
            </a:p>
          </p:txBody>
        </p:sp>
      </p:grpSp>
      <p:sp>
        <p:nvSpPr>
          <p:cNvPr id="24" name="object 24"/>
          <p:cNvSpPr txBox="1"/>
          <p:nvPr/>
        </p:nvSpPr>
        <p:spPr>
          <a:xfrm>
            <a:off x="6823963" y="2555241"/>
            <a:ext cx="688340" cy="304421"/>
          </a:xfrm>
          <a:prstGeom prst="rect">
            <a:avLst/>
          </a:prstGeom>
        </p:spPr>
        <p:txBody>
          <a:bodyPr vert="horz" wrap="square" lIns="0" tIns="16933" rIns="0" bIns="0" rtlCol="0">
            <a:spAutoFit/>
          </a:bodyPr>
          <a:lstStyle/>
          <a:p>
            <a:pPr marL="16933">
              <a:spcBef>
                <a:spcPts val="133"/>
              </a:spcBef>
            </a:pPr>
            <a:r>
              <a:rPr sz="1867" b="1" spc="-13" dirty="0">
                <a:solidFill>
                  <a:srgbClr val="434343"/>
                </a:solidFill>
                <a:latin typeface="Calibri"/>
                <a:cs typeface="Calibri"/>
              </a:rPr>
              <a:t>What?</a:t>
            </a:r>
            <a:endParaRPr sz="1867">
              <a:latin typeface="Calibri"/>
              <a:cs typeface="Calibri"/>
            </a:endParaRPr>
          </a:p>
        </p:txBody>
      </p:sp>
      <p:sp>
        <p:nvSpPr>
          <p:cNvPr id="25" name="object 25"/>
          <p:cNvSpPr txBox="1"/>
          <p:nvPr/>
        </p:nvSpPr>
        <p:spPr>
          <a:xfrm>
            <a:off x="8099720" y="2567431"/>
            <a:ext cx="2463800" cy="344475"/>
          </a:xfrm>
          <a:prstGeom prst="rect">
            <a:avLst/>
          </a:prstGeom>
        </p:spPr>
        <p:txBody>
          <a:bodyPr vert="horz" wrap="square" lIns="0" tIns="16087" rIns="0" bIns="0" rtlCol="0">
            <a:spAutoFit/>
          </a:bodyPr>
          <a:lstStyle/>
          <a:p>
            <a:pPr marL="16933">
              <a:spcBef>
                <a:spcPts val="127"/>
              </a:spcBef>
            </a:pPr>
            <a:r>
              <a:rPr sz="2133" b="1" spc="-13" dirty="0">
                <a:solidFill>
                  <a:srgbClr val="D9D9D9"/>
                </a:solidFill>
                <a:latin typeface="Calibri"/>
                <a:cs typeface="Calibri"/>
              </a:rPr>
              <a:t>Software-as-</a:t>
            </a:r>
            <a:r>
              <a:rPr sz="2133" b="1" dirty="0">
                <a:solidFill>
                  <a:srgbClr val="D9D9D9"/>
                </a:solidFill>
                <a:latin typeface="Calibri"/>
                <a:cs typeface="Calibri"/>
              </a:rPr>
              <a:t>a-</a:t>
            </a:r>
            <a:r>
              <a:rPr sz="2133" b="1" spc="-13" dirty="0">
                <a:solidFill>
                  <a:srgbClr val="D9D9D9"/>
                </a:solidFill>
                <a:latin typeface="Calibri"/>
                <a:cs typeface="Calibri"/>
              </a:rPr>
              <a:t>service</a:t>
            </a:r>
            <a:endParaRPr sz="2133">
              <a:latin typeface="Calibri"/>
              <a:cs typeface="Calibri"/>
            </a:endParaRPr>
          </a:p>
        </p:txBody>
      </p:sp>
      <p:sp>
        <p:nvSpPr>
          <p:cNvPr id="26" name="object 26"/>
          <p:cNvSpPr txBox="1"/>
          <p:nvPr/>
        </p:nvSpPr>
        <p:spPr>
          <a:xfrm>
            <a:off x="7681129" y="4155101"/>
            <a:ext cx="2322407" cy="344475"/>
          </a:xfrm>
          <a:prstGeom prst="rect">
            <a:avLst/>
          </a:prstGeom>
        </p:spPr>
        <p:txBody>
          <a:bodyPr vert="horz" wrap="square" lIns="0" tIns="16087" rIns="0" bIns="0" rtlCol="0">
            <a:spAutoFit/>
          </a:bodyPr>
          <a:lstStyle/>
          <a:p>
            <a:pPr marL="398770" indent="-381837">
              <a:spcBef>
                <a:spcPts val="127"/>
              </a:spcBef>
              <a:buClr>
                <a:srgbClr val="99D3FF"/>
              </a:buClr>
              <a:buFont typeface="Wingdings"/>
              <a:buChar char=""/>
              <a:tabLst>
                <a:tab pos="398770" algn="l"/>
              </a:tabLst>
            </a:pPr>
            <a:r>
              <a:rPr sz="2133" b="1" dirty="0">
                <a:solidFill>
                  <a:srgbClr val="D9D9D9"/>
                </a:solidFill>
                <a:latin typeface="Calibri"/>
                <a:cs typeface="Calibri"/>
              </a:rPr>
              <a:t>Managed</a:t>
            </a:r>
            <a:r>
              <a:rPr sz="2133" b="1" spc="-67" dirty="0">
                <a:solidFill>
                  <a:srgbClr val="D9D9D9"/>
                </a:solidFill>
                <a:latin typeface="Calibri"/>
                <a:cs typeface="Calibri"/>
              </a:rPr>
              <a:t> </a:t>
            </a:r>
            <a:r>
              <a:rPr sz="2133" b="1" spc="-13" dirty="0">
                <a:solidFill>
                  <a:srgbClr val="D9D9D9"/>
                </a:solidFill>
                <a:latin typeface="Calibri"/>
                <a:cs typeface="Calibri"/>
              </a:rPr>
              <a:t>service</a:t>
            </a:r>
            <a:endParaRPr sz="2133">
              <a:latin typeface="Calibri"/>
              <a:cs typeface="Calibri"/>
            </a:endParaRPr>
          </a:p>
        </p:txBody>
      </p:sp>
      <p:sp>
        <p:nvSpPr>
          <p:cNvPr id="27" name="object 27"/>
          <p:cNvSpPr txBox="1"/>
          <p:nvPr/>
        </p:nvSpPr>
        <p:spPr>
          <a:xfrm>
            <a:off x="7681129" y="4679085"/>
            <a:ext cx="2871047" cy="951008"/>
          </a:xfrm>
          <a:prstGeom prst="rect">
            <a:avLst/>
          </a:prstGeom>
        </p:spPr>
        <p:txBody>
          <a:bodyPr vert="horz" wrap="square" lIns="0" tIns="16933" rIns="0" bIns="0" rtlCol="0">
            <a:spAutoFit/>
          </a:bodyPr>
          <a:lstStyle/>
          <a:p>
            <a:pPr marL="398770" marR="6773" indent="-382684">
              <a:lnSpc>
                <a:spcPct val="150000"/>
              </a:lnSpc>
              <a:spcBef>
                <a:spcPts val="133"/>
              </a:spcBef>
              <a:buClr>
                <a:srgbClr val="99D3FF"/>
              </a:buClr>
              <a:buFont typeface="Wingdings"/>
              <a:buChar char=""/>
              <a:tabLst>
                <a:tab pos="398770" algn="l"/>
              </a:tabLst>
            </a:pPr>
            <a:r>
              <a:rPr sz="2133" b="1" dirty="0">
                <a:solidFill>
                  <a:srgbClr val="D9D9D9"/>
                </a:solidFill>
                <a:latin typeface="Calibri"/>
                <a:cs typeface="Calibri"/>
              </a:rPr>
              <a:t>Optmized</a:t>
            </a:r>
            <a:r>
              <a:rPr sz="2133" b="1" spc="-40" dirty="0">
                <a:solidFill>
                  <a:srgbClr val="D9D9D9"/>
                </a:solidFill>
                <a:latin typeface="Calibri"/>
                <a:cs typeface="Calibri"/>
              </a:rPr>
              <a:t> </a:t>
            </a:r>
            <a:r>
              <a:rPr sz="2133" b="1" dirty="0">
                <a:solidFill>
                  <a:srgbClr val="D9D9D9"/>
                </a:solidFill>
                <a:latin typeface="Calibri"/>
                <a:cs typeface="Calibri"/>
              </a:rPr>
              <a:t>for</a:t>
            </a:r>
            <a:r>
              <a:rPr sz="2133" b="1" spc="-33" dirty="0">
                <a:solidFill>
                  <a:srgbClr val="D9D9D9"/>
                </a:solidFill>
                <a:latin typeface="Calibri"/>
                <a:cs typeface="Calibri"/>
              </a:rPr>
              <a:t> </a:t>
            </a:r>
            <a:r>
              <a:rPr sz="2133" b="1" spc="-13" dirty="0">
                <a:solidFill>
                  <a:srgbClr val="D9D9D9"/>
                </a:solidFill>
                <a:latin typeface="Calibri"/>
                <a:cs typeface="Calibri"/>
              </a:rPr>
              <a:t>scalable analytics</a:t>
            </a:r>
            <a:endParaRPr sz="2133">
              <a:latin typeface="Calibri"/>
              <a:cs typeface="Calibri"/>
            </a:endParaRPr>
          </a:p>
        </p:txBody>
      </p:sp>
      <p:sp>
        <p:nvSpPr>
          <p:cNvPr id="28" name="object 28"/>
          <p:cNvSpPr txBox="1"/>
          <p:nvPr/>
        </p:nvSpPr>
        <p:spPr>
          <a:xfrm>
            <a:off x="2185415" y="2558457"/>
            <a:ext cx="2394373" cy="2980710"/>
          </a:xfrm>
          <a:prstGeom prst="rect">
            <a:avLst/>
          </a:prstGeom>
        </p:spPr>
        <p:txBody>
          <a:bodyPr vert="horz" wrap="square" lIns="0" tIns="16087" rIns="0" bIns="0" rtlCol="0">
            <a:spAutoFit/>
          </a:bodyPr>
          <a:lstStyle/>
          <a:p>
            <a:pPr marL="114297">
              <a:spcBef>
                <a:spcPts val="127"/>
              </a:spcBef>
            </a:pPr>
            <a:r>
              <a:rPr sz="2133" b="1" dirty="0">
                <a:solidFill>
                  <a:srgbClr val="D9D9D9"/>
                </a:solidFill>
                <a:latin typeface="Calibri"/>
                <a:cs typeface="Calibri"/>
              </a:rPr>
              <a:t>Own</a:t>
            </a:r>
            <a:r>
              <a:rPr sz="2133" b="1" spc="-13" dirty="0">
                <a:solidFill>
                  <a:srgbClr val="D9D9D9"/>
                </a:solidFill>
                <a:latin typeface="Calibri"/>
                <a:cs typeface="Calibri"/>
              </a:rPr>
              <a:t> </a:t>
            </a:r>
            <a:r>
              <a:rPr sz="2133" b="1" dirty="0">
                <a:solidFill>
                  <a:srgbClr val="D9D9D9"/>
                </a:solidFill>
                <a:latin typeface="Calibri"/>
                <a:cs typeface="Calibri"/>
              </a:rPr>
              <a:t>local</a:t>
            </a:r>
            <a:r>
              <a:rPr sz="2133" b="1" spc="-47" dirty="0">
                <a:solidFill>
                  <a:srgbClr val="D9D9D9"/>
                </a:solidFill>
                <a:latin typeface="Calibri"/>
                <a:cs typeface="Calibri"/>
              </a:rPr>
              <a:t> </a:t>
            </a:r>
            <a:r>
              <a:rPr sz="2133" b="1" spc="-13" dirty="0">
                <a:solidFill>
                  <a:srgbClr val="D9D9D9"/>
                </a:solidFill>
                <a:latin typeface="Calibri"/>
                <a:cs typeface="Calibri"/>
              </a:rPr>
              <a:t>hardware</a:t>
            </a:r>
            <a:endParaRPr sz="2133">
              <a:latin typeface="Calibri"/>
              <a:cs typeface="Calibri"/>
            </a:endParaRPr>
          </a:p>
          <a:p>
            <a:pPr>
              <a:spcBef>
                <a:spcPts val="393"/>
              </a:spcBef>
            </a:pPr>
            <a:endParaRPr sz="2133">
              <a:latin typeface="Calibri"/>
              <a:cs typeface="Calibri"/>
            </a:endParaRPr>
          </a:p>
          <a:p>
            <a:pPr marL="413163" indent="-381837">
              <a:buClr>
                <a:srgbClr val="99D3FF"/>
              </a:buClr>
              <a:buFont typeface="Wingdings"/>
              <a:buChar char=""/>
              <a:tabLst>
                <a:tab pos="413163" algn="l"/>
              </a:tabLst>
            </a:pPr>
            <a:r>
              <a:rPr sz="2133" b="1" dirty="0">
                <a:solidFill>
                  <a:srgbClr val="D9D9D9"/>
                </a:solidFill>
                <a:latin typeface="Calibri"/>
                <a:cs typeface="Calibri"/>
              </a:rPr>
              <a:t>Storage</a:t>
            </a:r>
            <a:r>
              <a:rPr sz="2133" b="1" spc="-67" dirty="0">
                <a:solidFill>
                  <a:srgbClr val="D9D9D9"/>
                </a:solidFill>
                <a:latin typeface="Calibri"/>
                <a:cs typeface="Calibri"/>
              </a:rPr>
              <a:t> </a:t>
            </a:r>
            <a:r>
              <a:rPr sz="2133" b="1" spc="-13" dirty="0">
                <a:solidFill>
                  <a:srgbClr val="D9D9D9"/>
                </a:solidFill>
                <a:latin typeface="Calibri"/>
                <a:cs typeface="Calibri"/>
              </a:rPr>
              <a:t>layer</a:t>
            </a:r>
            <a:endParaRPr sz="2133">
              <a:latin typeface="Calibri"/>
              <a:cs typeface="Calibri"/>
            </a:endParaRPr>
          </a:p>
          <a:p>
            <a:pPr marL="413163" indent="-381837">
              <a:spcBef>
                <a:spcPts val="2227"/>
              </a:spcBef>
              <a:buClr>
                <a:srgbClr val="99D3FF"/>
              </a:buClr>
              <a:buFont typeface="Wingdings"/>
              <a:buChar char=""/>
              <a:tabLst>
                <a:tab pos="413163" algn="l"/>
              </a:tabLst>
            </a:pPr>
            <a:r>
              <a:rPr sz="2133" b="1" dirty="0">
                <a:solidFill>
                  <a:srgbClr val="D9D9D9"/>
                </a:solidFill>
                <a:latin typeface="Calibri"/>
                <a:cs typeface="Calibri"/>
              </a:rPr>
              <a:t>Compute</a:t>
            </a:r>
            <a:r>
              <a:rPr sz="2133" b="1" spc="-67" dirty="0">
                <a:solidFill>
                  <a:srgbClr val="D9D9D9"/>
                </a:solidFill>
                <a:latin typeface="Calibri"/>
                <a:cs typeface="Calibri"/>
              </a:rPr>
              <a:t> </a:t>
            </a:r>
            <a:r>
              <a:rPr sz="2133" b="1" spc="-27" dirty="0">
                <a:solidFill>
                  <a:srgbClr val="D9D9D9"/>
                </a:solidFill>
                <a:latin typeface="Calibri"/>
                <a:cs typeface="Calibri"/>
              </a:rPr>
              <a:t>layer</a:t>
            </a:r>
            <a:endParaRPr sz="2133">
              <a:latin typeface="Calibri"/>
              <a:cs typeface="Calibri"/>
            </a:endParaRPr>
          </a:p>
          <a:p>
            <a:pPr marL="398770" indent="-381837">
              <a:spcBef>
                <a:spcPts val="2233"/>
              </a:spcBef>
              <a:buClr>
                <a:srgbClr val="99D3FF"/>
              </a:buClr>
              <a:buFont typeface="Wingdings"/>
              <a:buChar char=""/>
              <a:tabLst>
                <a:tab pos="398770" algn="l"/>
              </a:tabLst>
            </a:pPr>
            <a:r>
              <a:rPr sz="2133" b="1" dirty="0">
                <a:solidFill>
                  <a:srgbClr val="D9D9D9"/>
                </a:solidFill>
                <a:latin typeface="Calibri"/>
                <a:cs typeface="Calibri"/>
              </a:rPr>
              <a:t>Software</a:t>
            </a:r>
            <a:r>
              <a:rPr sz="2133" b="1" spc="-107" dirty="0">
                <a:solidFill>
                  <a:srgbClr val="D9D9D9"/>
                </a:solidFill>
                <a:latin typeface="Calibri"/>
                <a:cs typeface="Calibri"/>
              </a:rPr>
              <a:t> </a:t>
            </a:r>
            <a:r>
              <a:rPr sz="2133" b="1" spc="-27" dirty="0">
                <a:solidFill>
                  <a:srgbClr val="D9D9D9"/>
                </a:solidFill>
                <a:latin typeface="Calibri"/>
                <a:cs typeface="Calibri"/>
              </a:rPr>
              <a:t>layer</a:t>
            </a:r>
            <a:endParaRPr sz="2133">
              <a:latin typeface="Calibri"/>
              <a:cs typeface="Calibri"/>
            </a:endParaRPr>
          </a:p>
          <a:p>
            <a:pPr>
              <a:spcBef>
                <a:spcPts val="393"/>
              </a:spcBef>
            </a:pPr>
            <a:endParaRPr sz="2133">
              <a:latin typeface="Calibri"/>
              <a:cs typeface="Calibri"/>
            </a:endParaRPr>
          </a:p>
          <a:p>
            <a:pPr marL="16933"/>
            <a:r>
              <a:rPr sz="2133" b="1" dirty="0">
                <a:solidFill>
                  <a:srgbClr val="D9D9D9"/>
                </a:solidFill>
                <a:latin typeface="Calibri"/>
                <a:cs typeface="Calibri"/>
              </a:rPr>
              <a:t>Physical</a:t>
            </a:r>
            <a:r>
              <a:rPr sz="2133" b="1" spc="-60" dirty="0">
                <a:solidFill>
                  <a:srgbClr val="D9D9D9"/>
                </a:solidFill>
                <a:latin typeface="Calibri"/>
                <a:cs typeface="Calibri"/>
              </a:rPr>
              <a:t> </a:t>
            </a:r>
            <a:r>
              <a:rPr sz="2133" b="1" dirty="0">
                <a:solidFill>
                  <a:srgbClr val="D9D9D9"/>
                </a:solidFill>
                <a:latin typeface="Calibri"/>
                <a:cs typeface="Calibri"/>
              </a:rPr>
              <a:t>data</a:t>
            </a:r>
            <a:r>
              <a:rPr sz="2133" b="1" spc="-60" dirty="0">
                <a:solidFill>
                  <a:srgbClr val="D9D9D9"/>
                </a:solidFill>
                <a:latin typeface="Calibri"/>
                <a:cs typeface="Calibri"/>
              </a:rPr>
              <a:t> </a:t>
            </a:r>
            <a:r>
              <a:rPr sz="2133" b="1" spc="-13" dirty="0">
                <a:solidFill>
                  <a:srgbClr val="D9D9D9"/>
                </a:solidFill>
                <a:latin typeface="Calibri"/>
                <a:cs typeface="Calibri"/>
              </a:rPr>
              <a:t>center</a:t>
            </a:r>
            <a:endParaRPr sz="2133">
              <a:latin typeface="Calibri"/>
              <a:cs typeface="Calibri"/>
            </a:endParaRPr>
          </a:p>
        </p:txBody>
      </p:sp>
      <p:grpSp>
        <p:nvGrpSpPr>
          <p:cNvPr id="29" name="object 29"/>
          <p:cNvGrpSpPr/>
          <p:nvPr/>
        </p:nvGrpSpPr>
        <p:grpSpPr>
          <a:xfrm>
            <a:off x="3935985" y="2812288"/>
            <a:ext cx="4601294" cy="2165096"/>
            <a:chOff x="2951988" y="2109216"/>
            <a:chExt cx="3450971" cy="1623822"/>
          </a:xfrm>
        </p:grpSpPr>
        <p:pic>
          <p:nvPicPr>
            <p:cNvPr id="30" name="object 30"/>
            <p:cNvPicPr/>
            <p:nvPr/>
          </p:nvPicPr>
          <p:blipFill>
            <a:blip r:embed="rId7" cstate="print"/>
            <a:stretch>
              <a:fillRect/>
            </a:stretch>
          </p:blipFill>
          <p:spPr>
            <a:xfrm>
              <a:off x="2951988" y="2109216"/>
              <a:ext cx="3450971" cy="1623822"/>
            </a:xfrm>
            <a:prstGeom prst="rect">
              <a:avLst/>
            </a:prstGeom>
          </p:spPr>
        </p:pic>
        <p:sp>
          <p:nvSpPr>
            <p:cNvPr id="32" name="object 32"/>
            <p:cNvSpPr/>
            <p:nvPr/>
          </p:nvSpPr>
          <p:spPr>
            <a:xfrm>
              <a:off x="3278886" y="2263902"/>
              <a:ext cx="2818130" cy="992505"/>
            </a:xfrm>
            <a:custGeom>
              <a:avLst/>
              <a:gdLst/>
              <a:ahLst/>
              <a:cxnLst/>
              <a:rect l="l" t="t" r="r" b="b"/>
              <a:pathLst>
                <a:path w="2818129" h="992504">
                  <a:moveTo>
                    <a:pt x="0" y="496062"/>
                  </a:moveTo>
                  <a:lnTo>
                    <a:pt x="248030" y="0"/>
                  </a:lnTo>
                  <a:lnTo>
                    <a:pt x="2569844" y="0"/>
                  </a:lnTo>
                  <a:lnTo>
                    <a:pt x="2817876" y="496062"/>
                  </a:lnTo>
                  <a:lnTo>
                    <a:pt x="2569844" y="992124"/>
                  </a:lnTo>
                  <a:lnTo>
                    <a:pt x="248030" y="992124"/>
                  </a:lnTo>
                  <a:lnTo>
                    <a:pt x="0" y="496062"/>
                  </a:lnTo>
                  <a:close/>
                </a:path>
              </a:pathLst>
            </a:custGeom>
            <a:ln w="19812">
              <a:solidFill>
                <a:srgbClr val="00C3FF"/>
              </a:solidFill>
            </a:ln>
          </p:spPr>
          <p:txBody>
            <a:bodyPr wrap="square" lIns="0" tIns="0" rIns="0" bIns="0" rtlCol="0"/>
            <a:lstStyle/>
            <a:p>
              <a:endParaRPr sz="2400"/>
            </a:p>
          </p:txBody>
        </p:sp>
      </p:grpSp>
      <p:sp>
        <p:nvSpPr>
          <p:cNvPr id="33" name="object 33"/>
          <p:cNvSpPr txBox="1"/>
          <p:nvPr/>
        </p:nvSpPr>
        <p:spPr>
          <a:xfrm>
            <a:off x="5076952" y="3248152"/>
            <a:ext cx="2386752" cy="837964"/>
          </a:xfrm>
          <a:prstGeom prst="rect">
            <a:avLst/>
          </a:prstGeom>
        </p:spPr>
        <p:txBody>
          <a:bodyPr vert="horz" wrap="square" lIns="0" tIns="16933" rIns="0" bIns="0" rtlCol="0">
            <a:spAutoFit/>
          </a:bodyPr>
          <a:lstStyle/>
          <a:p>
            <a:pPr marL="221821" marR="6773" indent="-205735">
              <a:spcBef>
                <a:spcPts val="133"/>
              </a:spcBef>
            </a:pPr>
            <a:r>
              <a:rPr sz="2667" b="1" dirty="0">
                <a:solidFill>
                  <a:srgbClr val="CCEAFF"/>
                </a:solidFill>
                <a:latin typeface="Calibri"/>
                <a:cs typeface="Calibri"/>
              </a:rPr>
              <a:t>What</a:t>
            </a:r>
            <a:r>
              <a:rPr sz="2667" b="1" spc="-27" dirty="0">
                <a:solidFill>
                  <a:srgbClr val="CCEAFF"/>
                </a:solidFill>
                <a:latin typeface="Calibri"/>
                <a:cs typeface="Calibri"/>
              </a:rPr>
              <a:t> </a:t>
            </a:r>
            <a:r>
              <a:rPr sz="2667" b="1" dirty="0">
                <a:solidFill>
                  <a:srgbClr val="CCEAFF"/>
                </a:solidFill>
                <a:latin typeface="Calibri"/>
                <a:cs typeface="Calibri"/>
              </a:rPr>
              <a:t>is</a:t>
            </a:r>
            <a:r>
              <a:rPr sz="2667" b="1" spc="-33" dirty="0">
                <a:solidFill>
                  <a:srgbClr val="CCEAFF"/>
                </a:solidFill>
                <a:latin typeface="Calibri"/>
                <a:cs typeface="Calibri"/>
              </a:rPr>
              <a:t> </a:t>
            </a:r>
            <a:r>
              <a:rPr sz="2667" b="1" dirty="0">
                <a:solidFill>
                  <a:srgbClr val="CCEAFF"/>
                </a:solidFill>
                <a:latin typeface="Calibri"/>
                <a:cs typeface="Calibri"/>
              </a:rPr>
              <a:t>the</a:t>
            </a:r>
            <a:r>
              <a:rPr sz="2667" b="1" spc="-7" dirty="0">
                <a:solidFill>
                  <a:srgbClr val="CCEAFF"/>
                </a:solidFill>
                <a:latin typeface="Calibri"/>
                <a:cs typeface="Calibri"/>
              </a:rPr>
              <a:t> </a:t>
            </a:r>
            <a:r>
              <a:rPr sz="2667" b="1" spc="-13" dirty="0">
                <a:solidFill>
                  <a:srgbClr val="CCEAFF"/>
                </a:solidFill>
                <a:latin typeface="Calibri"/>
                <a:cs typeface="Calibri"/>
              </a:rPr>
              <a:t>right </a:t>
            </a:r>
            <a:r>
              <a:rPr sz="2667" b="1" dirty="0">
                <a:solidFill>
                  <a:srgbClr val="CCEAFF"/>
                </a:solidFill>
                <a:latin typeface="Calibri"/>
                <a:cs typeface="Calibri"/>
              </a:rPr>
              <a:t>choice</a:t>
            </a:r>
            <a:r>
              <a:rPr sz="2667" b="1" spc="-47" dirty="0">
                <a:solidFill>
                  <a:srgbClr val="CCEAFF"/>
                </a:solidFill>
                <a:latin typeface="Calibri"/>
                <a:cs typeface="Calibri"/>
              </a:rPr>
              <a:t> </a:t>
            </a:r>
            <a:r>
              <a:rPr sz="2667" b="1" spc="-13" dirty="0">
                <a:solidFill>
                  <a:srgbClr val="CCEAFF"/>
                </a:solidFill>
                <a:latin typeface="Calibri"/>
                <a:cs typeface="Calibri"/>
              </a:rPr>
              <a:t>today?</a:t>
            </a:r>
            <a:endParaRPr sz="2667" dirty="0">
              <a:latin typeface="Calibri"/>
              <a:cs typeface="Calibri"/>
            </a:endParaRPr>
          </a:p>
        </p:txBody>
      </p:sp>
      <p:sp>
        <p:nvSpPr>
          <p:cNvPr id="34" name="object 34"/>
          <p:cNvSpPr txBox="1"/>
          <p:nvPr/>
        </p:nvSpPr>
        <p:spPr>
          <a:xfrm>
            <a:off x="7751403" y="3360691"/>
            <a:ext cx="2781300" cy="344475"/>
          </a:xfrm>
          <a:prstGeom prst="rect">
            <a:avLst/>
          </a:prstGeom>
        </p:spPr>
        <p:txBody>
          <a:bodyPr vert="horz" wrap="square" lIns="0" tIns="16087" rIns="0" bIns="0" rtlCol="0">
            <a:spAutoFit/>
          </a:bodyPr>
          <a:lstStyle/>
          <a:p>
            <a:pPr marL="398770" indent="-381837">
              <a:spcBef>
                <a:spcPts val="127"/>
              </a:spcBef>
              <a:buClr>
                <a:srgbClr val="99D3FF"/>
              </a:buClr>
              <a:buFont typeface="Wingdings"/>
              <a:buChar char=""/>
              <a:tabLst>
                <a:tab pos="398770" algn="l"/>
              </a:tabLst>
            </a:pPr>
            <a:r>
              <a:rPr sz="2133" b="1" dirty="0">
                <a:solidFill>
                  <a:srgbClr val="D9D9D9"/>
                </a:solidFill>
                <a:latin typeface="Calibri"/>
                <a:cs typeface="Calibri"/>
              </a:rPr>
              <a:t>Pay</a:t>
            </a:r>
            <a:r>
              <a:rPr sz="2133" b="1" spc="-40" dirty="0">
                <a:solidFill>
                  <a:srgbClr val="D9D9D9"/>
                </a:solidFill>
                <a:latin typeface="Calibri"/>
                <a:cs typeface="Calibri"/>
              </a:rPr>
              <a:t> </a:t>
            </a:r>
            <a:r>
              <a:rPr sz="2133" b="1" dirty="0">
                <a:solidFill>
                  <a:srgbClr val="D9D9D9"/>
                </a:solidFill>
                <a:latin typeface="Calibri"/>
                <a:cs typeface="Calibri"/>
              </a:rPr>
              <a:t>for</a:t>
            </a:r>
            <a:r>
              <a:rPr sz="2133" b="1" spc="-7" dirty="0">
                <a:solidFill>
                  <a:srgbClr val="D9D9D9"/>
                </a:solidFill>
                <a:latin typeface="Calibri"/>
                <a:cs typeface="Calibri"/>
              </a:rPr>
              <a:t> </a:t>
            </a:r>
            <a:r>
              <a:rPr sz="2133" b="1" dirty="0">
                <a:solidFill>
                  <a:srgbClr val="D9D9D9"/>
                </a:solidFill>
                <a:latin typeface="Calibri"/>
                <a:cs typeface="Calibri"/>
              </a:rPr>
              <a:t>what</a:t>
            </a:r>
            <a:r>
              <a:rPr sz="2133" b="1" spc="-40" dirty="0">
                <a:solidFill>
                  <a:srgbClr val="D9D9D9"/>
                </a:solidFill>
                <a:latin typeface="Calibri"/>
                <a:cs typeface="Calibri"/>
              </a:rPr>
              <a:t> </a:t>
            </a:r>
            <a:r>
              <a:rPr sz="2133" b="1" dirty="0">
                <a:solidFill>
                  <a:srgbClr val="D9D9D9"/>
                </a:solidFill>
                <a:latin typeface="Calibri"/>
                <a:cs typeface="Calibri"/>
              </a:rPr>
              <a:t>you</a:t>
            </a:r>
            <a:r>
              <a:rPr sz="2133" b="1" spc="-13" dirty="0">
                <a:solidFill>
                  <a:srgbClr val="D9D9D9"/>
                </a:solidFill>
                <a:latin typeface="Calibri"/>
                <a:cs typeface="Calibri"/>
              </a:rPr>
              <a:t> </a:t>
            </a:r>
            <a:r>
              <a:rPr sz="2133" b="1" spc="-33" dirty="0">
                <a:solidFill>
                  <a:srgbClr val="D9D9D9"/>
                </a:solidFill>
                <a:latin typeface="Calibri"/>
                <a:cs typeface="Calibri"/>
              </a:rPr>
              <a:t>use</a:t>
            </a:r>
            <a:endParaRPr sz="2133">
              <a:latin typeface="Calibri"/>
              <a:cs typeface="Calibri"/>
            </a:endParaRPr>
          </a:p>
        </p:txBody>
      </p:sp>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857503" y="1074927"/>
            <a:ext cx="10497311" cy="5321808"/>
            <a:chOff x="643127" y="806195"/>
            <a:chExt cx="7872983" cy="3991356"/>
          </a:xfrm>
        </p:grpSpPr>
        <p:pic>
          <p:nvPicPr>
            <p:cNvPr id="4" name="object 4"/>
            <p:cNvPicPr/>
            <p:nvPr/>
          </p:nvPicPr>
          <p:blipFill>
            <a:blip r:embed="rId2" cstate="print"/>
            <a:stretch>
              <a:fillRect/>
            </a:stretch>
          </p:blipFill>
          <p:spPr>
            <a:xfrm>
              <a:off x="4587239" y="964691"/>
              <a:ext cx="119034" cy="3832860"/>
            </a:xfrm>
            <a:prstGeom prst="rect">
              <a:avLst/>
            </a:prstGeom>
          </p:spPr>
        </p:pic>
        <p:sp>
          <p:nvSpPr>
            <p:cNvPr id="5" name="object 5"/>
            <p:cNvSpPr/>
            <p:nvPr/>
          </p:nvSpPr>
          <p:spPr>
            <a:xfrm>
              <a:off x="4648962" y="983741"/>
              <a:ext cx="0" cy="3733800"/>
            </a:xfrm>
            <a:custGeom>
              <a:avLst/>
              <a:gdLst/>
              <a:ahLst/>
              <a:cxnLst/>
              <a:rect l="l" t="t" r="r" b="b"/>
              <a:pathLst>
                <a:path h="3733800">
                  <a:moveTo>
                    <a:pt x="0" y="0"/>
                  </a:moveTo>
                  <a:lnTo>
                    <a:pt x="0" y="3733800"/>
                  </a:lnTo>
                </a:path>
              </a:pathLst>
            </a:custGeom>
            <a:ln w="38100">
              <a:solidFill>
                <a:srgbClr val="00C3FF"/>
              </a:solidFill>
            </a:ln>
          </p:spPr>
          <p:txBody>
            <a:bodyPr wrap="square" lIns="0" tIns="0" rIns="0" bIns="0" rtlCol="0"/>
            <a:lstStyle/>
            <a:p>
              <a:endParaRPr sz="2400"/>
            </a:p>
          </p:txBody>
        </p:sp>
        <p:pic>
          <p:nvPicPr>
            <p:cNvPr id="6" name="object 6"/>
            <p:cNvPicPr/>
            <p:nvPr/>
          </p:nvPicPr>
          <p:blipFill>
            <a:blip r:embed="rId3" cstate="print"/>
            <a:stretch>
              <a:fillRect/>
            </a:stretch>
          </p:blipFill>
          <p:spPr>
            <a:xfrm>
              <a:off x="643127" y="1514894"/>
              <a:ext cx="7872983" cy="138772"/>
            </a:xfrm>
            <a:prstGeom prst="rect">
              <a:avLst/>
            </a:prstGeom>
          </p:spPr>
        </p:pic>
        <p:sp>
          <p:nvSpPr>
            <p:cNvPr id="7" name="object 7"/>
            <p:cNvSpPr/>
            <p:nvPr/>
          </p:nvSpPr>
          <p:spPr>
            <a:xfrm>
              <a:off x="686561" y="1553718"/>
              <a:ext cx="7772400" cy="19685"/>
            </a:xfrm>
            <a:custGeom>
              <a:avLst/>
              <a:gdLst/>
              <a:ahLst/>
              <a:cxnLst/>
              <a:rect l="l" t="t" r="r" b="b"/>
              <a:pathLst>
                <a:path w="7772400" h="19684">
                  <a:moveTo>
                    <a:pt x="0" y="0"/>
                  </a:moveTo>
                  <a:lnTo>
                    <a:pt x="7772400" y="19685"/>
                  </a:lnTo>
                </a:path>
              </a:pathLst>
            </a:custGeom>
            <a:ln w="38099">
              <a:solidFill>
                <a:srgbClr val="00C3FF"/>
              </a:solidFill>
            </a:ln>
          </p:spPr>
          <p:txBody>
            <a:bodyPr wrap="square" lIns="0" tIns="0" rIns="0" bIns="0" rtlCol="0"/>
            <a:lstStyle/>
            <a:p>
              <a:endParaRPr sz="2400"/>
            </a:p>
          </p:txBody>
        </p:sp>
        <p:pic>
          <p:nvPicPr>
            <p:cNvPr id="8" name="object 8"/>
            <p:cNvPicPr/>
            <p:nvPr/>
          </p:nvPicPr>
          <p:blipFill>
            <a:blip r:embed="rId4" cstate="print"/>
            <a:stretch>
              <a:fillRect/>
            </a:stretch>
          </p:blipFill>
          <p:spPr>
            <a:xfrm>
              <a:off x="5323331" y="806195"/>
              <a:ext cx="1700148" cy="1029842"/>
            </a:xfrm>
            <a:prstGeom prst="rect">
              <a:avLst/>
            </a:prstGeom>
          </p:spPr>
        </p:pic>
        <p:sp>
          <p:nvSpPr>
            <p:cNvPr id="10" name="object 10"/>
            <p:cNvSpPr/>
            <p:nvPr/>
          </p:nvSpPr>
          <p:spPr>
            <a:xfrm>
              <a:off x="5650230" y="960881"/>
              <a:ext cx="1066800" cy="398145"/>
            </a:xfrm>
            <a:custGeom>
              <a:avLst/>
              <a:gdLst/>
              <a:ahLst/>
              <a:cxnLst/>
              <a:rect l="l" t="t" r="r" b="b"/>
              <a:pathLst>
                <a:path w="1066800" h="398144">
                  <a:moveTo>
                    <a:pt x="0" y="198881"/>
                  </a:moveTo>
                  <a:lnTo>
                    <a:pt x="99441" y="0"/>
                  </a:lnTo>
                  <a:lnTo>
                    <a:pt x="967359" y="0"/>
                  </a:lnTo>
                  <a:lnTo>
                    <a:pt x="1066800" y="198881"/>
                  </a:lnTo>
                  <a:lnTo>
                    <a:pt x="967359" y="397763"/>
                  </a:lnTo>
                  <a:lnTo>
                    <a:pt x="99441" y="397763"/>
                  </a:lnTo>
                  <a:lnTo>
                    <a:pt x="0" y="198881"/>
                  </a:lnTo>
                  <a:close/>
                </a:path>
              </a:pathLst>
            </a:custGeom>
            <a:ln w="19812">
              <a:solidFill>
                <a:srgbClr val="00C3FF"/>
              </a:solidFill>
            </a:ln>
          </p:spPr>
          <p:txBody>
            <a:bodyPr wrap="square" lIns="0" tIns="0" rIns="0" bIns="0" rtlCol="0"/>
            <a:lstStyle/>
            <a:p>
              <a:endParaRPr sz="2400"/>
            </a:p>
          </p:txBody>
        </p:sp>
        <p:pic>
          <p:nvPicPr>
            <p:cNvPr id="11" name="object 11"/>
            <p:cNvPicPr/>
            <p:nvPr/>
          </p:nvPicPr>
          <p:blipFill>
            <a:blip r:embed="rId5" cstate="print"/>
            <a:stretch>
              <a:fillRect/>
            </a:stretch>
          </p:blipFill>
          <p:spPr>
            <a:xfrm>
              <a:off x="1752600" y="826020"/>
              <a:ext cx="2169287" cy="1027544"/>
            </a:xfrm>
            <a:prstGeom prst="rect">
              <a:avLst/>
            </a:prstGeom>
          </p:spPr>
        </p:pic>
        <p:sp>
          <p:nvSpPr>
            <p:cNvPr id="13" name="object 13"/>
            <p:cNvSpPr/>
            <p:nvPr/>
          </p:nvSpPr>
          <p:spPr>
            <a:xfrm>
              <a:off x="2079497" y="980693"/>
              <a:ext cx="1536700" cy="396240"/>
            </a:xfrm>
            <a:custGeom>
              <a:avLst/>
              <a:gdLst/>
              <a:ahLst/>
              <a:cxnLst/>
              <a:rect l="l" t="t" r="r" b="b"/>
              <a:pathLst>
                <a:path w="1536700" h="396240">
                  <a:moveTo>
                    <a:pt x="0" y="198119"/>
                  </a:moveTo>
                  <a:lnTo>
                    <a:pt x="99059" y="0"/>
                  </a:lnTo>
                  <a:lnTo>
                    <a:pt x="1437131" y="0"/>
                  </a:lnTo>
                  <a:lnTo>
                    <a:pt x="1536191" y="198119"/>
                  </a:lnTo>
                  <a:lnTo>
                    <a:pt x="1437131" y="396239"/>
                  </a:lnTo>
                  <a:lnTo>
                    <a:pt x="99059" y="396239"/>
                  </a:lnTo>
                  <a:lnTo>
                    <a:pt x="0" y="198119"/>
                  </a:lnTo>
                  <a:close/>
                </a:path>
              </a:pathLst>
            </a:custGeom>
            <a:ln w="19812">
              <a:solidFill>
                <a:srgbClr val="00C3FF"/>
              </a:solidFill>
            </a:ln>
          </p:spPr>
          <p:txBody>
            <a:bodyPr wrap="square" lIns="0" tIns="0" rIns="0" bIns="0" rtlCol="0"/>
            <a:lstStyle/>
            <a:p>
              <a:endParaRPr sz="2400"/>
            </a:p>
          </p:txBody>
        </p:sp>
      </p:grpSp>
      <p:sp>
        <p:nvSpPr>
          <p:cNvPr id="14" name="object 14"/>
          <p:cNvSpPr txBox="1"/>
          <p:nvPr/>
        </p:nvSpPr>
        <p:spPr>
          <a:xfrm>
            <a:off x="3112007" y="1370076"/>
            <a:ext cx="5499100" cy="344539"/>
          </a:xfrm>
          <a:prstGeom prst="rect">
            <a:avLst/>
          </a:prstGeom>
        </p:spPr>
        <p:txBody>
          <a:bodyPr vert="horz" wrap="square" lIns="0" tIns="16087" rIns="0" bIns="0" rtlCol="0">
            <a:spAutoFit/>
          </a:bodyPr>
          <a:lstStyle/>
          <a:p>
            <a:pPr marL="16933">
              <a:spcBef>
                <a:spcPts val="127"/>
              </a:spcBef>
              <a:tabLst>
                <a:tab pos="4836039" algn="l"/>
              </a:tabLst>
            </a:pPr>
            <a:r>
              <a:rPr sz="3200" b="1" spc="-20" baseline="1736" dirty="0">
                <a:solidFill>
                  <a:srgbClr val="CCEAFF"/>
                </a:solidFill>
                <a:latin typeface="Calibri"/>
                <a:cs typeface="Calibri"/>
              </a:rPr>
              <a:t>On-premises</a:t>
            </a:r>
            <a:r>
              <a:rPr sz="3200" b="1" baseline="1736" dirty="0">
                <a:solidFill>
                  <a:srgbClr val="CCEAFF"/>
                </a:solidFill>
                <a:latin typeface="Calibri"/>
                <a:cs typeface="Calibri"/>
              </a:rPr>
              <a:t>	</a:t>
            </a:r>
            <a:r>
              <a:rPr sz="2133" b="1" spc="-13" dirty="0">
                <a:solidFill>
                  <a:srgbClr val="CCEAFF"/>
                </a:solidFill>
                <a:latin typeface="Calibri"/>
                <a:cs typeface="Calibri"/>
              </a:rPr>
              <a:t>Cloud</a:t>
            </a:r>
            <a:endParaRPr sz="2133" dirty="0">
              <a:latin typeface="Calibri"/>
              <a:cs typeface="Calibri"/>
            </a:endParaRPr>
          </a:p>
        </p:txBody>
      </p:sp>
      <p:grpSp>
        <p:nvGrpSpPr>
          <p:cNvPr id="15" name="object 15"/>
          <p:cNvGrpSpPr/>
          <p:nvPr/>
        </p:nvGrpSpPr>
        <p:grpSpPr>
          <a:xfrm>
            <a:off x="296672" y="2259635"/>
            <a:ext cx="2064173" cy="1330959"/>
            <a:chOff x="222504" y="1694726"/>
            <a:chExt cx="1548130" cy="998219"/>
          </a:xfrm>
        </p:grpSpPr>
        <p:pic>
          <p:nvPicPr>
            <p:cNvPr id="16" name="object 16"/>
            <p:cNvPicPr/>
            <p:nvPr/>
          </p:nvPicPr>
          <p:blipFill>
            <a:blip r:embed="rId6" cstate="print"/>
            <a:stretch>
              <a:fillRect/>
            </a:stretch>
          </p:blipFill>
          <p:spPr>
            <a:xfrm>
              <a:off x="222504" y="1694726"/>
              <a:ext cx="1547622" cy="997673"/>
            </a:xfrm>
            <a:prstGeom prst="rect">
              <a:avLst/>
            </a:prstGeom>
          </p:spPr>
        </p:pic>
        <p:sp>
          <p:nvSpPr>
            <p:cNvPr id="17" name="object 17"/>
            <p:cNvSpPr/>
            <p:nvPr/>
          </p:nvSpPr>
          <p:spPr>
            <a:xfrm>
              <a:off x="549402" y="1849373"/>
              <a:ext cx="914400" cy="365760"/>
            </a:xfrm>
            <a:custGeom>
              <a:avLst/>
              <a:gdLst/>
              <a:ahLst/>
              <a:cxnLst/>
              <a:rect l="l" t="t" r="r" b="b"/>
              <a:pathLst>
                <a:path w="914400" h="365760">
                  <a:moveTo>
                    <a:pt x="822960" y="0"/>
                  </a:moveTo>
                  <a:lnTo>
                    <a:pt x="91440" y="0"/>
                  </a:lnTo>
                  <a:lnTo>
                    <a:pt x="0" y="182880"/>
                  </a:lnTo>
                  <a:lnTo>
                    <a:pt x="91440" y="365759"/>
                  </a:lnTo>
                  <a:lnTo>
                    <a:pt x="822960" y="365759"/>
                  </a:lnTo>
                  <a:lnTo>
                    <a:pt x="914400" y="182880"/>
                  </a:lnTo>
                  <a:lnTo>
                    <a:pt x="822960" y="0"/>
                  </a:lnTo>
                  <a:close/>
                </a:path>
              </a:pathLst>
            </a:custGeom>
            <a:solidFill>
              <a:srgbClr val="F1F1F1"/>
            </a:solidFill>
          </p:spPr>
          <p:txBody>
            <a:bodyPr wrap="square" lIns="0" tIns="0" rIns="0" bIns="0" rtlCol="0"/>
            <a:lstStyle/>
            <a:p>
              <a:endParaRPr sz="2400"/>
            </a:p>
          </p:txBody>
        </p:sp>
        <p:sp>
          <p:nvSpPr>
            <p:cNvPr id="18" name="object 18"/>
            <p:cNvSpPr/>
            <p:nvPr/>
          </p:nvSpPr>
          <p:spPr>
            <a:xfrm>
              <a:off x="549402" y="1849373"/>
              <a:ext cx="914400" cy="365760"/>
            </a:xfrm>
            <a:custGeom>
              <a:avLst/>
              <a:gdLst/>
              <a:ahLst/>
              <a:cxnLst/>
              <a:rect l="l" t="t" r="r" b="b"/>
              <a:pathLst>
                <a:path w="914400" h="365760">
                  <a:moveTo>
                    <a:pt x="0" y="182880"/>
                  </a:moveTo>
                  <a:lnTo>
                    <a:pt x="91440" y="0"/>
                  </a:lnTo>
                  <a:lnTo>
                    <a:pt x="822960" y="0"/>
                  </a:lnTo>
                  <a:lnTo>
                    <a:pt x="914400" y="182880"/>
                  </a:lnTo>
                  <a:lnTo>
                    <a:pt x="822960" y="365759"/>
                  </a:lnTo>
                  <a:lnTo>
                    <a:pt x="91440" y="365759"/>
                  </a:lnTo>
                  <a:lnTo>
                    <a:pt x="0" y="182880"/>
                  </a:lnTo>
                  <a:close/>
                </a:path>
              </a:pathLst>
            </a:custGeom>
            <a:ln w="19812">
              <a:solidFill>
                <a:srgbClr val="00607E"/>
              </a:solidFill>
            </a:ln>
          </p:spPr>
          <p:txBody>
            <a:bodyPr wrap="square" lIns="0" tIns="0" rIns="0" bIns="0" rtlCol="0"/>
            <a:lstStyle/>
            <a:p>
              <a:endParaRPr sz="2400"/>
            </a:p>
          </p:txBody>
        </p:sp>
      </p:grpSp>
      <p:sp>
        <p:nvSpPr>
          <p:cNvPr id="19" name="object 19"/>
          <p:cNvSpPr txBox="1"/>
          <p:nvPr/>
        </p:nvSpPr>
        <p:spPr>
          <a:xfrm>
            <a:off x="927134" y="2555241"/>
            <a:ext cx="847513" cy="304421"/>
          </a:xfrm>
          <a:prstGeom prst="rect">
            <a:avLst/>
          </a:prstGeom>
        </p:spPr>
        <p:txBody>
          <a:bodyPr vert="horz" wrap="square" lIns="0" tIns="16933" rIns="0" bIns="0" rtlCol="0">
            <a:spAutoFit/>
          </a:bodyPr>
          <a:lstStyle/>
          <a:p>
            <a:pPr marL="16933">
              <a:spcBef>
                <a:spcPts val="133"/>
              </a:spcBef>
            </a:pPr>
            <a:r>
              <a:rPr sz="1867" b="1" spc="-13" dirty="0">
                <a:solidFill>
                  <a:srgbClr val="434343"/>
                </a:solidFill>
                <a:latin typeface="Calibri"/>
                <a:cs typeface="Calibri"/>
              </a:rPr>
              <a:t>Benefits</a:t>
            </a:r>
            <a:endParaRPr sz="1867">
              <a:latin typeface="Calibri"/>
              <a:cs typeface="Calibri"/>
            </a:endParaRPr>
          </a:p>
        </p:txBody>
      </p:sp>
      <p:grpSp>
        <p:nvGrpSpPr>
          <p:cNvPr id="20" name="object 20"/>
          <p:cNvGrpSpPr/>
          <p:nvPr/>
        </p:nvGrpSpPr>
        <p:grpSpPr>
          <a:xfrm>
            <a:off x="272287" y="3885185"/>
            <a:ext cx="2064173" cy="1330959"/>
            <a:chOff x="204215" y="2913888"/>
            <a:chExt cx="1548130" cy="998219"/>
          </a:xfrm>
        </p:grpSpPr>
        <p:pic>
          <p:nvPicPr>
            <p:cNvPr id="21" name="object 21"/>
            <p:cNvPicPr/>
            <p:nvPr/>
          </p:nvPicPr>
          <p:blipFill>
            <a:blip r:embed="rId6" cstate="print"/>
            <a:stretch>
              <a:fillRect/>
            </a:stretch>
          </p:blipFill>
          <p:spPr>
            <a:xfrm>
              <a:off x="204215" y="2913888"/>
              <a:ext cx="1547622" cy="997673"/>
            </a:xfrm>
            <a:prstGeom prst="rect">
              <a:avLst/>
            </a:prstGeom>
          </p:spPr>
        </p:pic>
        <p:sp>
          <p:nvSpPr>
            <p:cNvPr id="22" name="object 22"/>
            <p:cNvSpPr/>
            <p:nvPr/>
          </p:nvSpPr>
          <p:spPr>
            <a:xfrm>
              <a:off x="531113" y="3068574"/>
              <a:ext cx="914400" cy="365760"/>
            </a:xfrm>
            <a:custGeom>
              <a:avLst/>
              <a:gdLst/>
              <a:ahLst/>
              <a:cxnLst/>
              <a:rect l="l" t="t" r="r" b="b"/>
              <a:pathLst>
                <a:path w="914400" h="365760">
                  <a:moveTo>
                    <a:pt x="822960" y="0"/>
                  </a:moveTo>
                  <a:lnTo>
                    <a:pt x="91440" y="0"/>
                  </a:lnTo>
                  <a:lnTo>
                    <a:pt x="0" y="182880"/>
                  </a:lnTo>
                  <a:lnTo>
                    <a:pt x="91440" y="365759"/>
                  </a:lnTo>
                  <a:lnTo>
                    <a:pt x="822960" y="365759"/>
                  </a:lnTo>
                  <a:lnTo>
                    <a:pt x="914400" y="182880"/>
                  </a:lnTo>
                  <a:lnTo>
                    <a:pt x="822960" y="0"/>
                  </a:lnTo>
                  <a:close/>
                </a:path>
              </a:pathLst>
            </a:custGeom>
            <a:solidFill>
              <a:srgbClr val="7E7E7E"/>
            </a:solidFill>
          </p:spPr>
          <p:txBody>
            <a:bodyPr wrap="square" lIns="0" tIns="0" rIns="0" bIns="0" rtlCol="0"/>
            <a:lstStyle/>
            <a:p>
              <a:endParaRPr sz="2400"/>
            </a:p>
          </p:txBody>
        </p:sp>
        <p:sp>
          <p:nvSpPr>
            <p:cNvPr id="23" name="object 23"/>
            <p:cNvSpPr/>
            <p:nvPr/>
          </p:nvSpPr>
          <p:spPr>
            <a:xfrm>
              <a:off x="531113" y="3068574"/>
              <a:ext cx="914400" cy="365760"/>
            </a:xfrm>
            <a:custGeom>
              <a:avLst/>
              <a:gdLst/>
              <a:ahLst/>
              <a:cxnLst/>
              <a:rect l="l" t="t" r="r" b="b"/>
              <a:pathLst>
                <a:path w="914400" h="365760">
                  <a:moveTo>
                    <a:pt x="0" y="182880"/>
                  </a:moveTo>
                  <a:lnTo>
                    <a:pt x="91440" y="0"/>
                  </a:lnTo>
                  <a:lnTo>
                    <a:pt x="822960" y="0"/>
                  </a:lnTo>
                  <a:lnTo>
                    <a:pt x="914400" y="182880"/>
                  </a:lnTo>
                  <a:lnTo>
                    <a:pt x="822960" y="365759"/>
                  </a:lnTo>
                  <a:lnTo>
                    <a:pt x="91440" y="365759"/>
                  </a:lnTo>
                  <a:lnTo>
                    <a:pt x="0" y="182880"/>
                  </a:lnTo>
                  <a:close/>
                </a:path>
              </a:pathLst>
            </a:custGeom>
            <a:ln w="19812">
              <a:solidFill>
                <a:srgbClr val="00607E"/>
              </a:solidFill>
            </a:ln>
          </p:spPr>
          <p:txBody>
            <a:bodyPr wrap="square" lIns="0" tIns="0" rIns="0" bIns="0" rtlCol="0"/>
            <a:lstStyle/>
            <a:p>
              <a:endParaRPr sz="2400"/>
            </a:p>
          </p:txBody>
        </p:sp>
      </p:grpSp>
      <p:sp>
        <p:nvSpPr>
          <p:cNvPr id="24" name="object 24"/>
          <p:cNvSpPr txBox="1"/>
          <p:nvPr/>
        </p:nvSpPr>
        <p:spPr>
          <a:xfrm>
            <a:off x="843821" y="4181179"/>
            <a:ext cx="968587" cy="304421"/>
          </a:xfrm>
          <a:prstGeom prst="rect">
            <a:avLst/>
          </a:prstGeom>
        </p:spPr>
        <p:txBody>
          <a:bodyPr vert="horz" wrap="square" lIns="0" tIns="16933" rIns="0" bIns="0" rtlCol="0">
            <a:spAutoFit/>
          </a:bodyPr>
          <a:lstStyle/>
          <a:p>
            <a:pPr marL="16933">
              <a:spcBef>
                <a:spcPts val="133"/>
              </a:spcBef>
            </a:pPr>
            <a:r>
              <a:rPr sz="1867" b="1" spc="-13" dirty="0">
                <a:solidFill>
                  <a:srgbClr val="F1F1F1"/>
                </a:solidFill>
                <a:latin typeface="Calibri"/>
                <a:cs typeface="Calibri"/>
              </a:rPr>
              <a:t>Problems</a:t>
            </a:r>
            <a:endParaRPr sz="1867">
              <a:latin typeface="Calibri"/>
              <a:cs typeface="Calibri"/>
            </a:endParaRPr>
          </a:p>
        </p:txBody>
      </p:sp>
      <p:grpSp>
        <p:nvGrpSpPr>
          <p:cNvPr id="25" name="object 25"/>
          <p:cNvGrpSpPr/>
          <p:nvPr/>
        </p:nvGrpSpPr>
        <p:grpSpPr>
          <a:xfrm>
            <a:off x="6112255" y="2259635"/>
            <a:ext cx="2064173" cy="1330959"/>
            <a:chOff x="4584191" y="1694726"/>
            <a:chExt cx="1548130" cy="998219"/>
          </a:xfrm>
        </p:grpSpPr>
        <p:pic>
          <p:nvPicPr>
            <p:cNvPr id="26" name="object 26"/>
            <p:cNvPicPr/>
            <p:nvPr/>
          </p:nvPicPr>
          <p:blipFill>
            <a:blip r:embed="rId6" cstate="print"/>
            <a:stretch>
              <a:fillRect/>
            </a:stretch>
          </p:blipFill>
          <p:spPr>
            <a:xfrm>
              <a:off x="4584191" y="1694726"/>
              <a:ext cx="1547622" cy="997673"/>
            </a:xfrm>
            <a:prstGeom prst="rect">
              <a:avLst/>
            </a:prstGeom>
          </p:spPr>
        </p:pic>
        <p:sp>
          <p:nvSpPr>
            <p:cNvPr id="27" name="object 27"/>
            <p:cNvSpPr/>
            <p:nvPr/>
          </p:nvSpPr>
          <p:spPr>
            <a:xfrm>
              <a:off x="4911089" y="1849373"/>
              <a:ext cx="914400" cy="365760"/>
            </a:xfrm>
            <a:custGeom>
              <a:avLst/>
              <a:gdLst/>
              <a:ahLst/>
              <a:cxnLst/>
              <a:rect l="l" t="t" r="r" b="b"/>
              <a:pathLst>
                <a:path w="914400" h="365760">
                  <a:moveTo>
                    <a:pt x="822960" y="0"/>
                  </a:moveTo>
                  <a:lnTo>
                    <a:pt x="91439" y="0"/>
                  </a:lnTo>
                  <a:lnTo>
                    <a:pt x="0" y="182880"/>
                  </a:lnTo>
                  <a:lnTo>
                    <a:pt x="91439" y="365759"/>
                  </a:lnTo>
                  <a:lnTo>
                    <a:pt x="822960" y="365759"/>
                  </a:lnTo>
                  <a:lnTo>
                    <a:pt x="914400" y="182880"/>
                  </a:lnTo>
                  <a:lnTo>
                    <a:pt x="822960" y="0"/>
                  </a:lnTo>
                  <a:close/>
                </a:path>
              </a:pathLst>
            </a:custGeom>
            <a:solidFill>
              <a:srgbClr val="F1F1F1"/>
            </a:solidFill>
          </p:spPr>
          <p:txBody>
            <a:bodyPr wrap="square" lIns="0" tIns="0" rIns="0" bIns="0" rtlCol="0"/>
            <a:lstStyle/>
            <a:p>
              <a:endParaRPr sz="2400"/>
            </a:p>
          </p:txBody>
        </p:sp>
        <p:sp>
          <p:nvSpPr>
            <p:cNvPr id="28" name="object 28"/>
            <p:cNvSpPr/>
            <p:nvPr/>
          </p:nvSpPr>
          <p:spPr>
            <a:xfrm>
              <a:off x="4911089" y="1849373"/>
              <a:ext cx="914400" cy="365760"/>
            </a:xfrm>
            <a:custGeom>
              <a:avLst/>
              <a:gdLst/>
              <a:ahLst/>
              <a:cxnLst/>
              <a:rect l="l" t="t" r="r" b="b"/>
              <a:pathLst>
                <a:path w="914400" h="365760">
                  <a:moveTo>
                    <a:pt x="0" y="182880"/>
                  </a:moveTo>
                  <a:lnTo>
                    <a:pt x="91439" y="0"/>
                  </a:lnTo>
                  <a:lnTo>
                    <a:pt x="822960" y="0"/>
                  </a:lnTo>
                  <a:lnTo>
                    <a:pt x="914400" y="182880"/>
                  </a:lnTo>
                  <a:lnTo>
                    <a:pt x="822960" y="365759"/>
                  </a:lnTo>
                  <a:lnTo>
                    <a:pt x="91439" y="365759"/>
                  </a:lnTo>
                  <a:lnTo>
                    <a:pt x="0" y="182880"/>
                  </a:lnTo>
                  <a:close/>
                </a:path>
              </a:pathLst>
            </a:custGeom>
            <a:ln w="19812">
              <a:solidFill>
                <a:srgbClr val="00607E"/>
              </a:solidFill>
            </a:ln>
          </p:spPr>
          <p:txBody>
            <a:bodyPr wrap="square" lIns="0" tIns="0" rIns="0" bIns="0" rtlCol="0"/>
            <a:lstStyle/>
            <a:p>
              <a:endParaRPr sz="2400"/>
            </a:p>
          </p:txBody>
        </p:sp>
      </p:grpSp>
      <p:sp>
        <p:nvSpPr>
          <p:cNvPr id="29" name="object 29"/>
          <p:cNvSpPr txBox="1"/>
          <p:nvPr/>
        </p:nvSpPr>
        <p:spPr>
          <a:xfrm>
            <a:off x="6742685" y="2555241"/>
            <a:ext cx="847513" cy="304421"/>
          </a:xfrm>
          <a:prstGeom prst="rect">
            <a:avLst/>
          </a:prstGeom>
        </p:spPr>
        <p:txBody>
          <a:bodyPr vert="horz" wrap="square" lIns="0" tIns="16933" rIns="0" bIns="0" rtlCol="0">
            <a:spAutoFit/>
          </a:bodyPr>
          <a:lstStyle/>
          <a:p>
            <a:pPr marL="16933">
              <a:spcBef>
                <a:spcPts val="133"/>
              </a:spcBef>
            </a:pPr>
            <a:r>
              <a:rPr sz="1867" b="1" spc="-13" dirty="0">
                <a:solidFill>
                  <a:srgbClr val="434343"/>
                </a:solidFill>
                <a:latin typeface="Calibri"/>
                <a:cs typeface="Calibri"/>
              </a:rPr>
              <a:t>Benefits</a:t>
            </a:r>
            <a:endParaRPr sz="1867">
              <a:latin typeface="Calibri"/>
              <a:cs typeface="Calibri"/>
            </a:endParaRPr>
          </a:p>
        </p:txBody>
      </p:sp>
      <p:grpSp>
        <p:nvGrpSpPr>
          <p:cNvPr id="30" name="object 30"/>
          <p:cNvGrpSpPr/>
          <p:nvPr/>
        </p:nvGrpSpPr>
        <p:grpSpPr>
          <a:xfrm>
            <a:off x="6120384" y="3885185"/>
            <a:ext cx="2064173" cy="1330959"/>
            <a:chOff x="4590288" y="2913888"/>
            <a:chExt cx="1548130" cy="998219"/>
          </a:xfrm>
        </p:grpSpPr>
        <p:pic>
          <p:nvPicPr>
            <p:cNvPr id="31" name="object 31"/>
            <p:cNvPicPr/>
            <p:nvPr/>
          </p:nvPicPr>
          <p:blipFill>
            <a:blip r:embed="rId6" cstate="print"/>
            <a:stretch>
              <a:fillRect/>
            </a:stretch>
          </p:blipFill>
          <p:spPr>
            <a:xfrm>
              <a:off x="4590288" y="2913888"/>
              <a:ext cx="1547622" cy="997673"/>
            </a:xfrm>
            <a:prstGeom prst="rect">
              <a:avLst/>
            </a:prstGeom>
          </p:spPr>
        </p:pic>
        <p:sp>
          <p:nvSpPr>
            <p:cNvPr id="32" name="object 32"/>
            <p:cNvSpPr/>
            <p:nvPr/>
          </p:nvSpPr>
          <p:spPr>
            <a:xfrm>
              <a:off x="4917186" y="3068574"/>
              <a:ext cx="914400" cy="365760"/>
            </a:xfrm>
            <a:custGeom>
              <a:avLst/>
              <a:gdLst/>
              <a:ahLst/>
              <a:cxnLst/>
              <a:rect l="l" t="t" r="r" b="b"/>
              <a:pathLst>
                <a:path w="914400" h="365760">
                  <a:moveTo>
                    <a:pt x="822960" y="0"/>
                  </a:moveTo>
                  <a:lnTo>
                    <a:pt x="91439" y="0"/>
                  </a:lnTo>
                  <a:lnTo>
                    <a:pt x="0" y="182880"/>
                  </a:lnTo>
                  <a:lnTo>
                    <a:pt x="91439" y="365759"/>
                  </a:lnTo>
                  <a:lnTo>
                    <a:pt x="822960" y="365759"/>
                  </a:lnTo>
                  <a:lnTo>
                    <a:pt x="914400" y="182880"/>
                  </a:lnTo>
                  <a:lnTo>
                    <a:pt x="822960" y="0"/>
                  </a:lnTo>
                  <a:close/>
                </a:path>
              </a:pathLst>
            </a:custGeom>
            <a:solidFill>
              <a:srgbClr val="7E7E7E"/>
            </a:solidFill>
          </p:spPr>
          <p:txBody>
            <a:bodyPr wrap="square" lIns="0" tIns="0" rIns="0" bIns="0" rtlCol="0"/>
            <a:lstStyle/>
            <a:p>
              <a:endParaRPr sz="2400"/>
            </a:p>
          </p:txBody>
        </p:sp>
        <p:sp>
          <p:nvSpPr>
            <p:cNvPr id="33" name="object 33"/>
            <p:cNvSpPr/>
            <p:nvPr/>
          </p:nvSpPr>
          <p:spPr>
            <a:xfrm>
              <a:off x="4917186" y="3068574"/>
              <a:ext cx="914400" cy="365760"/>
            </a:xfrm>
            <a:custGeom>
              <a:avLst/>
              <a:gdLst/>
              <a:ahLst/>
              <a:cxnLst/>
              <a:rect l="l" t="t" r="r" b="b"/>
              <a:pathLst>
                <a:path w="914400" h="365760">
                  <a:moveTo>
                    <a:pt x="0" y="182880"/>
                  </a:moveTo>
                  <a:lnTo>
                    <a:pt x="91439" y="0"/>
                  </a:lnTo>
                  <a:lnTo>
                    <a:pt x="822960" y="0"/>
                  </a:lnTo>
                  <a:lnTo>
                    <a:pt x="914400" y="182880"/>
                  </a:lnTo>
                  <a:lnTo>
                    <a:pt x="822960" y="365759"/>
                  </a:lnTo>
                  <a:lnTo>
                    <a:pt x="91439" y="365759"/>
                  </a:lnTo>
                  <a:lnTo>
                    <a:pt x="0" y="182880"/>
                  </a:lnTo>
                  <a:close/>
                </a:path>
              </a:pathLst>
            </a:custGeom>
            <a:ln w="19812">
              <a:solidFill>
                <a:srgbClr val="00607E"/>
              </a:solidFill>
            </a:ln>
          </p:spPr>
          <p:txBody>
            <a:bodyPr wrap="square" lIns="0" tIns="0" rIns="0" bIns="0" rtlCol="0"/>
            <a:lstStyle/>
            <a:p>
              <a:endParaRPr sz="2400"/>
            </a:p>
          </p:txBody>
        </p:sp>
      </p:grpSp>
      <p:sp>
        <p:nvSpPr>
          <p:cNvPr id="34" name="object 34"/>
          <p:cNvSpPr txBox="1"/>
          <p:nvPr/>
        </p:nvSpPr>
        <p:spPr>
          <a:xfrm>
            <a:off x="6659371" y="4181179"/>
            <a:ext cx="968587" cy="304421"/>
          </a:xfrm>
          <a:prstGeom prst="rect">
            <a:avLst/>
          </a:prstGeom>
        </p:spPr>
        <p:txBody>
          <a:bodyPr vert="horz" wrap="square" lIns="0" tIns="16933" rIns="0" bIns="0" rtlCol="0">
            <a:spAutoFit/>
          </a:bodyPr>
          <a:lstStyle/>
          <a:p>
            <a:pPr marL="16933">
              <a:spcBef>
                <a:spcPts val="133"/>
              </a:spcBef>
            </a:pPr>
            <a:r>
              <a:rPr sz="1867" b="1" spc="-13" dirty="0">
                <a:solidFill>
                  <a:srgbClr val="F1F1F1"/>
                </a:solidFill>
                <a:latin typeface="Calibri"/>
                <a:cs typeface="Calibri"/>
              </a:rPr>
              <a:t>Problems</a:t>
            </a:r>
            <a:endParaRPr sz="1867">
              <a:latin typeface="Calibri"/>
              <a:cs typeface="Calibri"/>
            </a:endParaRPr>
          </a:p>
        </p:txBody>
      </p:sp>
      <p:sp>
        <p:nvSpPr>
          <p:cNvPr id="35" name="object 35"/>
          <p:cNvSpPr txBox="1"/>
          <p:nvPr/>
        </p:nvSpPr>
        <p:spPr>
          <a:xfrm>
            <a:off x="2094653" y="2542200"/>
            <a:ext cx="3919220" cy="890714"/>
          </a:xfrm>
          <a:prstGeom prst="rect">
            <a:avLst/>
          </a:prstGeom>
        </p:spPr>
        <p:txBody>
          <a:bodyPr vert="horz" wrap="square" lIns="0" tIns="16087" rIns="0" bIns="0" rtlCol="0">
            <a:spAutoFit/>
          </a:bodyPr>
          <a:lstStyle/>
          <a:p>
            <a:pPr marL="427556" indent="-381837">
              <a:spcBef>
                <a:spcPts val="127"/>
              </a:spcBef>
              <a:buClr>
                <a:srgbClr val="99D3FF"/>
              </a:buClr>
              <a:buFont typeface="Wingdings"/>
              <a:buChar char=""/>
              <a:tabLst>
                <a:tab pos="427556" algn="l"/>
              </a:tabLst>
            </a:pPr>
            <a:r>
              <a:rPr sz="2133" b="1" dirty="0">
                <a:solidFill>
                  <a:srgbClr val="D9D9D9"/>
                </a:solidFill>
                <a:latin typeface="Calibri"/>
                <a:cs typeface="Calibri"/>
              </a:rPr>
              <a:t>Full</a:t>
            </a:r>
            <a:r>
              <a:rPr sz="2133" b="1" spc="-27" dirty="0">
                <a:solidFill>
                  <a:srgbClr val="D9D9D9"/>
                </a:solidFill>
                <a:latin typeface="Calibri"/>
                <a:cs typeface="Calibri"/>
              </a:rPr>
              <a:t> </a:t>
            </a:r>
            <a:r>
              <a:rPr sz="2133" b="1" spc="-13" dirty="0">
                <a:solidFill>
                  <a:srgbClr val="D9D9D9"/>
                </a:solidFill>
                <a:latin typeface="Calibri"/>
                <a:cs typeface="Calibri"/>
              </a:rPr>
              <a:t>control</a:t>
            </a:r>
            <a:endParaRPr sz="2133">
              <a:latin typeface="Calibri"/>
              <a:cs typeface="Calibri"/>
            </a:endParaRPr>
          </a:p>
          <a:p>
            <a:pPr marL="398770" indent="-381837">
              <a:spcBef>
                <a:spcPts val="1700"/>
              </a:spcBef>
              <a:buClr>
                <a:srgbClr val="99D3FF"/>
              </a:buClr>
              <a:buFont typeface="Wingdings"/>
              <a:buChar char=""/>
              <a:tabLst>
                <a:tab pos="398770" algn="l"/>
              </a:tabLst>
            </a:pPr>
            <a:r>
              <a:rPr sz="2133" b="1" dirty="0">
                <a:solidFill>
                  <a:srgbClr val="D9D9D9"/>
                </a:solidFill>
                <a:latin typeface="Calibri"/>
                <a:cs typeface="Calibri"/>
              </a:rPr>
              <a:t>Data</a:t>
            </a:r>
            <a:r>
              <a:rPr sz="2133" b="1" spc="-60" dirty="0">
                <a:solidFill>
                  <a:srgbClr val="D9D9D9"/>
                </a:solidFill>
                <a:latin typeface="Calibri"/>
                <a:cs typeface="Calibri"/>
              </a:rPr>
              <a:t> </a:t>
            </a:r>
            <a:r>
              <a:rPr sz="2133" b="1" dirty="0">
                <a:solidFill>
                  <a:srgbClr val="D9D9D9"/>
                </a:solidFill>
                <a:latin typeface="Calibri"/>
                <a:cs typeface="Calibri"/>
              </a:rPr>
              <a:t>governance</a:t>
            </a:r>
            <a:r>
              <a:rPr sz="2133" b="1" spc="-7" dirty="0">
                <a:solidFill>
                  <a:srgbClr val="D9D9D9"/>
                </a:solidFill>
                <a:latin typeface="Calibri"/>
                <a:cs typeface="Calibri"/>
              </a:rPr>
              <a:t> </a:t>
            </a:r>
            <a:r>
              <a:rPr sz="2133" b="1" dirty="0">
                <a:solidFill>
                  <a:srgbClr val="D9D9D9"/>
                </a:solidFill>
                <a:latin typeface="Calibri"/>
                <a:cs typeface="Calibri"/>
              </a:rPr>
              <a:t>&amp;</a:t>
            </a:r>
            <a:r>
              <a:rPr sz="2133" b="1" spc="-60" dirty="0">
                <a:solidFill>
                  <a:srgbClr val="D9D9D9"/>
                </a:solidFill>
                <a:latin typeface="Calibri"/>
                <a:cs typeface="Calibri"/>
              </a:rPr>
              <a:t> </a:t>
            </a:r>
            <a:r>
              <a:rPr sz="2133" b="1" spc="-13" dirty="0">
                <a:solidFill>
                  <a:srgbClr val="D9D9D9"/>
                </a:solidFill>
                <a:latin typeface="Calibri"/>
                <a:cs typeface="Calibri"/>
              </a:rPr>
              <a:t>compliance</a:t>
            </a:r>
            <a:endParaRPr sz="2133">
              <a:latin typeface="Calibri"/>
              <a:cs typeface="Calibri"/>
            </a:endParaRPr>
          </a:p>
        </p:txBody>
      </p:sp>
      <p:sp>
        <p:nvSpPr>
          <p:cNvPr id="36" name="object 36"/>
          <p:cNvSpPr txBox="1"/>
          <p:nvPr/>
        </p:nvSpPr>
        <p:spPr>
          <a:xfrm>
            <a:off x="2366264" y="4155101"/>
            <a:ext cx="3146213" cy="1957545"/>
          </a:xfrm>
          <a:prstGeom prst="rect">
            <a:avLst/>
          </a:prstGeom>
        </p:spPr>
        <p:txBody>
          <a:bodyPr vert="horz" wrap="square" lIns="0" tIns="16087" rIns="0" bIns="0" rtlCol="0">
            <a:spAutoFit/>
          </a:bodyPr>
          <a:lstStyle/>
          <a:p>
            <a:pPr marL="450415" indent="-380990">
              <a:spcBef>
                <a:spcPts val="127"/>
              </a:spcBef>
              <a:buClr>
                <a:srgbClr val="99D3FF"/>
              </a:buClr>
              <a:buFont typeface="Wingdings"/>
              <a:buChar char=""/>
              <a:tabLst>
                <a:tab pos="450415" algn="l"/>
              </a:tabLst>
            </a:pPr>
            <a:r>
              <a:rPr sz="2133" b="1" dirty="0">
                <a:solidFill>
                  <a:srgbClr val="D9D9D9"/>
                </a:solidFill>
                <a:latin typeface="Calibri"/>
                <a:cs typeface="Calibri"/>
              </a:rPr>
              <a:t>Full</a:t>
            </a:r>
            <a:r>
              <a:rPr sz="2133" b="1" spc="-27" dirty="0">
                <a:solidFill>
                  <a:srgbClr val="D9D9D9"/>
                </a:solidFill>
                <a:latin typeface="Calibri"/>
                <a:cs typeface="Calibri"/>
              </a:rPr>
              <a:t> </a:t>
            </a:r>
            <a:r>
              <a:rPr sz="2133" b="1" spc="-13" dirty="0">
                <a:solidFill>
                  <a:srgbClr val="D9D9D9"/>
                </a:solidFill>
                <a:latin typeface="Calibri"/>
                <a:cs typeface="Calibri"/>
              </a:rPr>
              <a:t>responsibility</a:t>
            </a:r>
            <a:endParaRPr sz="2133">
              <a:latin typeface="Calibri"/>
              <a:cs typeface="Calibri"/>
            </a:endParaRPr>
          </a:p>
          <a:p>
            <a:pPr marL="450415" indent="-380990">
              <a:spcBef>
                <a:spcPts val="1620"/>
              </a:spcBef>
              <a:buClr>
                <a:srgbClr val="99D3FF"/>
              </a:buClr>
              <a:buFont typeface="Wingdings"/>
              <a:buChar char=""/>
              <a:tabLst>
                <a:tab pos="450415" algn="l"/>
              </a:tabLst>
            </a:pPr>
            <a:r>
              <a:rPr sz="2133" b="1" dirty="0">
                <a:solidFill>
                  <a:srgbClr val="D9D9D9"/>
                </a:solidFill>
                <a:latin typeface="Calibri"/>
                <a:cs typeface="Calibri"/>
              </a:rPr>
              <a:t>High</a:t>
            </a:r>
            <a:r>
              <a:rPr sz="2133" b="1" spc="-40" dirty="0">
                <a:solidFill>
                  <a:srgbClr val="D9D9D9"/>
                </a:solidFill>
                <a:latin typeface="Calibri"/>
                <a:cs typeface="Calibri"/>
              </a:rPr>
              <a:t> </a:t>
            </a:r>
            <a:r>
              <a:rPr sz="2133" b="1" spc="-27" dirty="0">
                <a:solidFill>
                  <a:srgbClr val="D9D9D9"/>
                </a:solidFill>
                <a:latin typeface="Calibri"/>
                <a:cs typeface="Calibri"/>
              </a:rPr>
              <a:t>costs</a:t>
            </a:r>
            <a:endParaRPr sz="2133">
              <a:latin typeface="Calibri"/>
              <a:cs typeface="Calibri"/>
            </a:endParaRPr>
          </a:p>
          <a:p>
            <a:pPr marL="424169" indent="-380990">
              <a:spcBef>
                <a:spcPts val="1887"/>
              </a:spcBef>
              <a:buClr>
                <a:srgbClr val="99D3FF"/>
              </a:buClr>
              <a:buFont typeface="Wingdings"/>
              <a:buChar char=""/>
              <a:tabLst>
                <a:tab pos="424169" algn="l"/>
              </a:tabLst>
            </a:pPr>
            <a:r>
              <a:rPr sz="2133" b="1" dirty="0">
                <a:solidFill>
                  <a:srgbClr val="D9D9D9"/>
                </a:solidFill>
                <a:latin typeface="Calibri"/>
                <a:cs typeface="Calibri"/>
              </a:rPr>
              <a:t>More</a:t>
            </a:r>
            <a:r>
              <a:rPr sz="2133" b="1" spc="-80" dirty="0">
                <a:solidFill>
                  <a:srgbClr val="D9D9D9"/>
                </a:solidFill>
                <a:latin typeface="Calibri"/>
                <a:cs typeface="Calibri"/>
              </a:rPr>
              <a:t> </a:t>
            </a:r>
            <a:r>
              <a:rPr sz="2133" b="1" dirty="0">
                <a:solidFill>
                  <a:srgbClr val="D9D9D9"/>
                </a:solidFill>
                <a:latin typeface="Calibri"/>
                <a:cs typeface="Calibri"/>
              </a:rPr>
              <a:t>internal</a:t>
            </a:r>
            <a:r>
              <a:rPr sz="2133" b="1" spc="-73" dirty="0">
                <a:solidFill>
                  <a:srgbClr val="D9D9D9"/>
                </a:solidFill>
                <a:latin typeface="Calibri"/>
                <a:cs typeface="Calibri"/>
              </a:rPr>
              <a:t> </a:t>
            </a:r>
            <a:r>
              <a:rPr sz="2133" b="1" spc="-13" dirty="0">
                <a:solidFill>
                  <a:srgbClr val="D9D9D9"/>
                </a:solidFill>
                <a:latin typeface="Calibri"/>
                <a:cs typeface="Calibri"/>
              </a:rPr>
              <a:t>resources</a:t>
            </a:r>
            <a:endParaRPr sz="2133">
              <a:latin typeface="Calibri"/>
              <a:cs typeface="Calibri"/>
            </a:endParaRPr>
          </a:p>
          <a:p>
            <a:pPr marL="397923" indent="-380990">
              <a:spcBef>
                <a:spcPts val="1433"/>
              </a:spcBef>
              <a:buClr>
                <a:srgbClr val="99D3FF"/>
              </a:buClr>
              <a:buFont typeface="Wingdings"/>
              <a:buChar char=""/>
              <a:tabLst>
                <a:tab pos="397923" algn="l"/>
              </a:tabLst>
            </a:pPr>
            <a:r>
              <a:rPr sz="2133" b="1" dirty="0">
                <a:solidFill>
                  <a:srgbClr val="D9D9D9"/>
                </a:solidFill>
                <a:latin typeface="Calibri"/>
                <a:cs typeface="Calibri"/>
              </a:rPr>
              <a:t>Less</a:t>
            </a:r>
            <a:r>
              <a:rPr sz="2133" b="1" spc="-7" dirty="0">
                <a:solidFill>
                  <a:srgbClr val="D9D9D9"/>
                </a:solidFill>
                <a:latin typeface="Calibri"/>
                <a:cs typeface="Calibri"/>
              </a:rPr>
              <a:t> </a:t>
            </a:r>
            <a:r>
              <a:rPr sz="2133" b="1" spc="-13" dirty="0">
                <a:solidFill>
                  <a:srgbClr val="D9D9D9"/>
                </a:solidFill>
                <a:latin typeface="Calibri"/>
                <a:cs typeface="Calibri"/>
              </a:rPr>
              <a:t>flexible</a:t>
            </a:r>
            <a:endParaRPr sz="2133">
              <a:latin typeface="Calibri"/>
              <a:cs typeface="Calibri"/>
            </a:endParaRPr>
          </a:p>
        </p:txBody>
      </p:sp>
      <p:sp>
        <p:nvSpPr>
          <p:cNvPr id="37" name="object 37"/>
          <p:cNvSpPr txBox="1"/>
          <p:nvPr/>
        </p:nvSpPr>
        <p:spPr>
          <a:xfrm>
            <a:off x="8061113" y="2456892"/>
            <a:ext cx="2424007" cy="2690951"/>
          </a:xfrm>
          <a:prstGeom prst="rect">
            <a:avLst/>
          </a:prstGeom>
        </p:spPr>
        <p:txBody>
          <a:bodyPr vert="horz" wrap="square" lIns="0" tIns="104987" rIns="0" bIns="0" rtlCol="0">
            <a:spAutoFit/>
          </a:bodyPr>
          <a:lstStyle/>
          <a:p>
            <a:pPr marL="440256" indent="-381837">
              <a:spcBef>
                <a:spcPts val="827"/>
              </a:spcBef>
              <a:buClr>
                <a:srgbClr val="99D3FF"/>
              </a:buClr>
              <a:buFont typeface="Wingdings"/>
              <a:buChar char=""/>
              <a:tabLst>
                <a:tab pos="440256" algn="l"/>
              </a:tabLst>
            </a:pPr>
            <a:r>
              <a:rPr sz="2133" b="1" dirty="0">
                <a:solidFill>
                  <a:srgbClr val="D9D9D9"/>
                </a:solidFill>
                <a:latin typeface="Calibri"/>
                <a:cs typeface="Calibri"/>
              </a:rPr>
              <a:t>Fully</a:t>
            </a:r>
            <a:r>
              <a:rPr sz="2133" b="1" spc="-27" dirty="0">
                <a:solidFill>
                  <a:srgbClr val="D9D9D9"/>
                </a:solidFill>
                <a:latin typeface="Calibri"/>
                <a:cs typeface="Calibri"/>
              </a:rPr>
              <a:t> </a:t>
            </a:r>
            <a:r>
              <a:rPr sz="2133" b="1" spc="-13" dirty="0">
                <a:solidFill>
                  <a:srgbClr val="D9D9D9"/>
                </a:solidFill>
                <a:latin typeface="Calibri"/>
                <a:cs typeface="Calibri"/>
              </a:rPr>
              <a:t>managed</a:t>
            </a:r>
            <a:endParaRPr sz="2133">
              <a:latin typeface="Calibri"/>
              <a:cs typeface="Calibri"/>
            </a:endParaRPr>
          </a:p>
          <a:p>
            <a:pPr marL="440256" indent="-381837">
              <a:spcBef>
                <a:spcPts val="700"/>
              </a:spcBef>
              <a:buClr>
                <a:srgbClr val="99D3FF"/>
              </a:buClr>
              <a:buFont typeface="Wingdings"/>
              <a:buChar char=""/>
              <a:tabLst>
                <a:tab pos="440256" algn="l"/>
              </a:tabLst>
            </a:pPr>
            <a:r>
              <a:rPr sz="2133" b="1" spc="-13" dirty="0">
                <a:solidFill>
                  <a:srgbClr val="D9D9D9"/>
                </a:solidFill>
                <a:latin typeface="Calibri"/>
                <a:cs typeface="Calibri"/>
              </a:rPr>
              <a:t>Scalable</a:t>
            </a:r>
            <a:endParaRPr sz="2133">
              <a:latin typeface="Calibri"/>
              <a:cs typeface="Calibri"/>
            </a:endParaRPr>
          </a:p>
          <a:p>
            <a:pPr marL="440256" indent="-381837">
              <a:spcBef>
                <a:spcPts val="1200"/>
              </a:spcBef>
              <a:buClr>
                <a:srgbClr val="99D3FF"/>
              </a:buClr>
              <a:buFont typeface="Wingdings"/>
              <a:buChar char=""/>
              <a:tabLst>
                <a:tab pos="440256" algn="l"/>
              </a:tabLst>
            </a:pPr>
            <a:r>
              <a:rPr sz="2133" b="1" spc="-13" dirty="0">
                <a:solidFill>
                  <a:srgbClr val="D9D9D9"/>
                </a:solidFill>
                <a:latin typeface="Calibri"/>
                <a:cs typeface="Calibri"/>
              </a:rPr>
              <a:t>Cost-efficient</a:t>
            </a:r>
            <a:endParaRPr sz="2133">
              <a:latin typeface="Calibri"/>
              <a:cs typeface="Calibri"/>
            </a:endParaRPr>
          </a:p>
          <a:p>
            <a:pPr marL="398770" indent="-381837">
              <a:spcBef>
                <a:spcPts val="933"/>
              </a:spcBef>
              <a:buClr>
                <a:srgbClr val="99D3FF"/>
              </a:buClr>
              <a:buFont typeface="Wingdings"/>
              <a:buChar char=""/>
              <a:tabLst>
                <a:tab pos="398770" algn="l"/>
              </a:tabLst>
            </a:pPr>
            <a:r>
              <a:rPr sz="2133" b="1" dirty="0">
                <a:solidFill>
                  <a:srgbClr val="D9D9D9"/>
                </a:solidFill>
                <a:latin typeface="Calibri"/>
                <a:cs typeface="Calibri"/>
              </a:rPr>
              <a:t>Managed</a:t>
            </a:r>
            <a:r>
              <a:rPr sz="2133" b="1" spc="-67" dirty="0">
                <a:solidFill>
                  <a:srgbClr val="D9D9D9"/>
                </a:solidFill>
                <a:latin typeface="Calibri"/>
                <a:cs typeface="Calibri"/>
              </a:rPr>
              <a:t> </a:t>
            </a:r>
            <a:r>
              <a:rPr sz="2133" b="1" spc="-13" dirty="0">
                <a:solidFill>
                  <a:srgbClr val="D9D9D9"/>
                </a:solidFill>
                <a:latin typeface="Calibri"/>
                <a:cs typeface="Calibri"/>
              </a:rPr>
              <a:t>security</a:t>
            </a:r>
            <a:endParaRPr sz="2133">
              <a:latin typeface="Calibri"/>
              <a:cs typeface="Calibri"/>
            </a:endParaRPr>
          </a:p>
          <a:p>
            <a:pPr marL="419090" indent="-381837">
              <a:spcBef>
                <a:spcPts val="860"/>
              </a:spcBef>
              <a:buClr>
                <a:srgbClr val="99D3FF"/>
              </a:buClr>
              <a:buFont typeface="Wingdings"/>
              <a:buChar char=""/>
              <a:tabLst>
                <a:tab pos="419090" algn="l"/>
              </a:tabLst>
            </a:pPr>
            <a:r>
              <a:rPr sz="2133" b="1" spc="-13" dirty="0">
                <a:solidFill>
                  <a:srgbClr val="D9D9D9"/>
                </a:solidFill>
                <a:latin typeface="Calibri"/>
                <a:cs typeface="Calibri"/>
              </a:rPr>
              <a:t>Availability</a:t>
            </a:r>
            <a:endParaRPr sz="2133">
              <a:latin typeface="Calibri"/>
              <a:cs typeface="Calibri"/>
            </a:endParaRPr>
          </a:p>
          <a:p>
            <a:pPr marL="398770" indent="-381837">
              <a:spcBef>
                <a:spcPts val="1087"/>
              </a:spcBef>
              <a:buClr>
                <a:srgbClr val="99D3FF"/>
              </a:buClr>
              <a:buFont typeface="Wingdings"/>
              <a:buChar char=""/>
              <a:tabLst>
                <a:tab pos="398770" algn="l"/>
              </a:tabLst>
            </a:pPr>
            <a:r>
              <a:rPr sz="2133" b="1" dirty="0">
                <a:solidFill>
                  <a:srgbClr val="D9D9D9"/>
                </a:solidFill>
                <a:latin typeface="Calibri"/>
                <a:cs typeface="Calibri"/>
              </a:rPr>
              <a:t>Time</a:t>
            </a:r>
            <a:r>
              <a:rPr sz="2133" b="1" spc="-33" dirty="0">
                <a:solidFill>
                  <a:srgbClr val="D9D9D9"/>
                </a:solidFill>
                <a:latin typeface="Calibri"/>
                <a:cs typeface="Calibri"/>
              </a:rPr>
              <a:t> </a:t>
            </a:r>
            <a:r>
              <a:rPr sz="2133" b="1" dirty="0">
                <a:solidFill>
                  <a:srgbClr val="D9D9D9"/>
                </a:solidFill>
                <a:latin typeface="Calibri"/>
                <a:cs typeface="Calibri"/>
              </a:rPr>
              <a:t>to</a:t>
            </a:r>
            <a:r>
              <a:rPr sz="2133" b="1" spc="-20" dirty="0">
                <a:solidFill>
                  <a:srgbClr val="D9D9D9"/>
                </a:solidFill>
                <a:latin typeface="Calibri"/>
                <a:cs typeface="Calibri"/>
              </a:rPr>
              <a:t> </a:t>
            </a:r>
            <a:r>
              <a:rPr sz="2133" b="1" spc="-13" dirty="0">
                <a:solidFill>
                  <a:srgbClr val="D9D9D9"/>
                </a:solidFill>
                <a:latin typeface="Calibri"/>
                <a:cs typeface="Calibri"/>
              </a:rPr>
              <a:t>market</a:t>
            </a:r>
            <a:endParaRPr sz="2133">
              <a:latin typeface="Calibri"/>
              <a:cs typeface="Calibri"/>
            </a:endParaRPr>
          </a:p>
        </p:txBody>
      </p:sp>
      <p:sp>
        <p:nvSpPr>
          <p:cNvPr id="38" name="object 38"/>
          <p:cNvSpPr txBox="1"/>
          <p:nvPr/>
        </p:nvSpPr>
        <p:spPr>
          <a:xfrm>
            <a:off x="7505193" y="5116991"/>
            <a:ext cx="2686473" cy="953979"/>
          </a:xfrm>
          <a:prstGeom prst="rect">
            <a:avLst/>
          </a:prstGeom>
        </p:spPr>
        <p:txBody>
          <a:bodyPr vert="horz" wrap="square" lIns="0" tIns="154940" rIns="0" bIns="0" rtlCol="0">
            <a:spAutoFit/>
          </a:bodyPr>
          <a:lstStyle/>
          <a:p>
            <a:pPr marL="773834" indent="-380990">
              <a:spcBef>
                <a:spcPts val="1220"/>
              </a:spcBef>
              <a:buClr>
                <a:srgbClr val="99D3FF"/>
              </a:buClr>
              <a:buFont typeface="Wingdings"/>
              <a:buChar char=""/>
              <a:tabLst>
                <a:tab pos="773834" algn="l"/>
              </a:tabLst>
            </a:pPr>
            <a:r>
              <a:rPr sz="2133" b="1" spc="-13" dirty="0">
                <a:solidFill>
                  <a:srgbClr val="D9D9D9"/>
                </a:solidFill>
                <a:latin typeface="Calibri"/>
                <a:cs typeface="Calibri"/>
              </a:rPr>
              <a:t>Regulations</a:t>
            </a:r>
            <a:endParaRPr sz="2133">
              <a:latin typeface="Calibri"/>
              <a:cs typeface="Calibri"/>
            </a:endParaRPr>
          </a:p>
          <a:p>
            <a:pPr marL="398770" indent="-381837">
              <a:spcBef>
                <a:spcPts val="1080"/>
              </a:spcBef>
              <a:buClr>
                <a:srgbClr val="99D3FF"/>
              </a:buClr>
              <a:buFont typeface="Wingdings"/>
              <a:buChar char=""/>
              <a:tabLst>
                <a:tab pos="398770" algn="l"/>
              </a:tabLst>
            </a:pPr>
            <a:r>
              <a:rPr sz="2133" b="1" dirty="0">
                <a:solidFill>
                  <a:srgbClr val="D9D9D9"/>
                </a:solidFill>
                <a:latin typeface="Calibri"/>
                <a:cs typeface="Calibri"/>
              </a:rPr>
              <a:t>Different</a:t>
            </a:r>
            <a:r>
              <a:rPr sz="2133" b="1" spc="-60" dirty="0">
                <a:solidFill>
                  <a:srgbClr val="D9D9D9"/>
                </a:solidFill>
                <a:latin typeface="Calibri"/>
                <a:cs typeface="Calibri"/>
              </a:rPr>
              <a:t> </a:t>
            </a:r>
            <a:r>
              <a:rPr sz="2133" b="1" spc="-13" dirty="0">
                <a:solidFill>
                  <a:srgbClr val="D9D9D9"/>
                </a:solidFill>
                <a:latin typeface="Calibri"/>
                <a:cs typeface="Calibri"/>
              </a:rPr>
              <a:t>providers?</a:t>
            </a:r>
            <a:endParaRPr sz="2133">
              <a:latin typeface="Calibri"/>
              <a:cs typeface="Calibri"/>
            </a:endParaRPr>
          </a:p>
        </p:txBody>
      </p:sp>
      <p:sp>
        <p:nvSpPr>
          <p:cNvPr id="50" name="object 2">
            <a:extLst>
              <a:ext uri="{FF2B5EF4-FFF2-40B4-BE49-F238E27FC236}">
                <a16:creationId xmlns:a16="http://schemas.microsoft.com/office/drawing/2014/main" id="{1011B07A-09F1-9B88-23EF-CA7311850108}"/>
              </a:ext>
            </a:extLst>
          </p:cNvPr>
          <p:cNvSpPr txBox="1">
            <a:spLocks noGrp="1"/>
          </p:cNvSpPr>
          <p:nvPr>
            <p:ph type="title"/>
          </p:nvPr>
        </p:nvSpPr>
        <p:spPr>
          <a:xfrm>
            <a:off x="3620347" y="243356"/>
            <a:ext cx="5831766"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Cloud vs. On-premises</a:t>
            </a:r>
          </a:p>
        </p:txBody>
      </p:sp>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49749" y="248294"/>
            <a:ext cx="6297037" cy="695062"/>
          </a:xfrm>
          <a:prstGeom prst="rect">
            <a:avLst/>
          </a:prstGeom>
        </p:spPr>
        <p:txBody>
          <a:bodyPr vert="horz" wrap="square" lIns="0" tIns="17780" rIns="0" bIns="0" rtlCol="0" anchor="ctr">
            <a:spAutoFit/>
          </a:bodyPr>
          <a:lstStyle/>
          <a:p>
            <a:pPr marL="2011630">
              <a:lnSpc>
                <a:spcPct val="100000"/>
              </a:lnSpc>
              <a:spcBef>
                <a:spcPts val="140"/>
              </a:spcBef>
            </a:pPr>
            <a:r>
              <a:rPr spc="-13" dirty="0">
                <a:solidFill>
                  <a:schemeClr val="bg1"/>
                </a:solidFill>
                <a:latin typeface="+mn-lt"/>
              </a:rPr>
              <a:t>Conclusion?</a:t>
            </a:r>
          </a:p>
        </p:txBody>
      </p:sp>
      <p:grpSp>
        <p:nvGrpSpPr>
          <p:cNvPr id="3" name="object 3"/>
          <p:cNvGrpSpPr/>
          <p:nvPr/>
        </p:nvGrpSpPr>
        <p:grpSpPr>
          <a:xfrm>
            <a:off x="1865377" y="1046480"/>
            <a:ext cx="3636432" cy="1857925"/>
            <a:chOff x="1399032" y="784859"/>
            <a:chExt cx="2727324" cy="1393444"/>
          </a:xfrm>
        </p:grpSpPr>
        <p:pic>
          <p:nvPicPr>
            <p:cNvPr id="4" name="object 4"/>
            <p:cNvPicPr/>
            <p:nvPr/>
          </p:nvPicPr>
          <p:blipFill>
            <a:blip r:embed="rId2" cstate="print"/>
            <a:stretch>
              <a:fillRect/>
            </a:stretch>
          </p:blipFill>
          <p:spPr>
            <a:xfrm>
              <a:off x="1399032" y="784859"/>
              <a:ext cx="2727324" cy="1393444"/>
            </a:xfrm>
            <a:prstGeom prst="rect">
              <a:avLst/>
            </a:prstGeom>
          </p:spPr>
        </p:pic>
        <p:sp>
          <p:nvSpPr>
            <p:cNvPr id="6" name="object 6"/>
            <p:cNvSpPr/>
            <p:nvPr/>
          </p:nvSpPr>
          <p:spPr>
            <a:xfrm>
              <a:off x="1725930" y="939545"/>
              <a:ext cx="2094230" cy="762000"/>
            </a:xfrm>
            <a:custGeom>
              <a:avLst/>
              <a:gdLst/>
              <a:ahLst/>
              <a:cxnLst/>
              <a:rect l="l" t="t" r="r" b="b"/>
              <a:pathLst>
                <a:path w="2094229" h="762000">
                  <a:moveTo>
                    <a:pt x="0" y="381000"/>
                  </a:moveTo>
                  <a:lnTo>
                    <a:pt x="190500" y="0"/>
                  </a:lnTo>
                  <a:lnTo>
                    <a:pt x="1903475" y="0"/>
                  </a:lnTo>
                  <a:lnTo>
                    <a:pt x="2093975" y="381000"/>
                  </a:lnTo>
                  <a:lnTo>
                    <a:pt x="1903475" y="762000"/>
                  </a:lnTo>
                  <a:lnTo>
                    <a:pt x="190500" y="762000"/>
                  </a:lnTo>
                  <a:lnTo>
                    <a:pt x="0" y="381000"/>
                  </a:lnTo>
                  <a:close/>
                </a:path>
              </a:pathLst>
            </a:custGeom>
            <a:ln w="19812">
              <a:solidFill>
                <a:srgbClr val="00C3FF"/>
              </a:solidFill>
            </a:ln>
          </p:spPr>
          <p:txBody>
            <a:bodyPr wrap="square" lIns="0" tIns="0" rIns="0" bIns="0" rtlCol="0"/>
            <a:lstStyle/>
            <a:p>
              <a:endParaRPr sz="2400"/>
            </a:p>
          </p:txBody>
        </p:sp>
      </p:grpSp>
      <p:sp>
        <p:nvSpPr>
          <p:cNvPr id="7" name="object 7"/>
          <p:cNvSpPr txBox="1"/>
          <p:nvPr/>
        </p:nvSpPr>
        <p:spPr>
          <a:xfrm>
            <a:off x="2926249" y="1437131"/>
            <a:ext cx="7661487" cy="2416709"/>
          </a:xfrm>
          <a:prstGeom prst="rect">
            <a:avLst/>
          </a:prstGeom>
        </p:spPr>
        <p:txBody>
          <a:bodyPr vert="horz" wrap="square" lIns="0" tIns="16087" rIns="0" bIns="0" rtlCol="0">
            <a:spAutoFit/>
          </a:bodyPr>
          <a:lstStyle/>
          <a:p>
            <a:pPr marL="309026" marR="6128020" indent="-292939">
              <a:spcBef>
                <a:spcPts val="127"/>
              </a:spcBef>
            </a:pPr>
            <a:r>
              <a:rPr sz="2133" b="1" dirty="0">
                <a:solidFill>
                  <a:srgbClr val="CCEAFF"/>
                </a:solidFill>
                <a:latin typeface="Calibri"/>
                <a:cs typeface="Calibri"/>
              </a:rPr>
              <a:t>Which</a:t>
            </a:r>
            <a:r>
              <a:rPr sz="2133" b="1" spc="-47" dirty="0">
                <a:solidFill>
                  <a:srgbClr val="CCEAFF"/>
                </a:solidFill>
                <a:latin typeface="Calibri"/>
                <a:cs typeface="Calibri"/>
              </a:rPr>
              <a:t> </a:t>
            </a:r>
            <a:r>
              <a:rPr sz="2133" b="1" dirty="0">
                <a:solidFill>
                  <a:srgbClr val="CCEAFF"/>
                </a:solidFill>
                <a:latin typeface="Calibri"/>
                <a:cs typeface="Calibri"/>
              </a:rPr>
              <a:t>one</a:t>
            </a:r>
            <a:r>
              <a:rPr sz="2133" b="1" spc="-40" dirty="0">
                <a:solidFill>
                  <a:srgbClr val="CCEAFF"/>
                </a:solidFill>
                <a:latin typeface="Calibri"/>
                <a:cs typeface="Calibri"/>
              </a:rPr>
              <a:t> </a:t>
            </a:r>
            <a:r>
              <a:rPr sz="2133" b="1" spc="-33" dirty="0">
                <a:solidFill>
                  <a:srgbClr val="CCEAFF"/>
                </a:solidFill>
                <a:latin typeface="Calibri"/>
                <a:cs typeface="Calibri"/>
              </a:rPr>
              <a:t>to </a:t>
            </a:r>
            <a:r>
              <a:rPr sz="2133" b="1" spc="-13" dirty="0">
                <a:solidFill>
                  <a:srgbClr val="CCEAFF"/>
                </a:solidFill>
                <a:latin typeface="Calibri"/>
                <a:cs typeface="Calibri"/>
              </a:rPr>
              <a:t>choose?</a:t>
            </a:r>
            <a:endParaRPr sz="2133" dirty="0">
              <a:latin typeface="Calibri"/>
              <a:cs typeface="Calibri"/>
            </a:endParaRPr>
          </a:p>
          <a:p>
            <a:pPr>
              <a:spcBef>
                <a:spcPts val="1607"/>
              </a:spcBef>
            </a:pPr>
            <a:endParaRPr sz="2133" dirty="0">
              <a:latin typeface="Calibri"/>
              <a:cs typeface="Calibri"/>
            </a:endParaRPr>
          </a:p>
          <a:p>
            <a:pPr marL="1742396" indent="-380990">
              <a:buClr>
                <a:srgbClr val="99D3FF"/>
              </a:buClr>
              <a:buFont typeface="Wingdings"/>
              <a:buChar char=""/>
              <a:tabLst>
                <a:tab pos="1742396" algn="l"/>
              </a:tabLst>
            </a:pPr>
            <a:r>
              <a:rPr sz="2400" b="1" dirty="0">
                <a:solidFill>
                  <a:srgbClr val="D9D9D9"/>
                </a:solidFill>
                <a:latin typeface="Calibri"/>
                <a:cs typeface="Calibri"/>
              </a:rPr>
              <a:t>Cloud</a:t>
            </a:r>
            <a:r>
              <a:rPr sz="2400" b="1" spc="-40" dirty="0">
                <a:solidFill>
                  <a:srgbClr val="D9D9D9"/>
                </a:solidFill>
                <a:latin typeface="Calibri"/>
                <a:cs typeface="Calibri"/>
              </a:rPr>
              <a:t> </a:t>
            </a:r>
            <a:r>
              <a:rPr sz="2400" b="1" dirty="0">
                <a:solidFill>
                  <a:srgbClr val="D9D9D9"/>
                </a:solidFill>
                <a:latin typeface="Calibri"/>
                <a:cs typeface="Calibri"/>
              </a:rPr>
              <a:t>data</a:t>
            </a:r>
            <a:r>
              <a:rPr sz="2400" b="1" spc="-27" dirty="0">
                <a:solidFill>
                  <a:srgbClr val="D9D9D9"/>
                </a:solidFill>
                <a:latin typeface="Calibri"/>
                <a:cs typeface="Calibri"/>
              </a:rPr>
              <a:t> </a:t>
            </a:r>
            <a:r>
              <a:rPr sz="2400" b="1" dirty="0">
                <a:solidFill>
                  <a:srgbClr val="D9D9D9"/>
                </a:solidFill>
                <a:latin typeface="Calibri"/>
                <a:cs typeface="Calibri"/>
              </a:rPr>
              <a:t>warehouses</a:t>
            </a:r>
            <a:r>
              <a:rPr sz="2400" b="1" spc="-33" dirty="0">
                <a:solidFill>
                  <a:srgbClr val="D9D9D9"/>
                </a:solidFill>
                <a:latin typeface="Calibri"/>
                <a:cs typeface="Calibri"/>
              </a:rPr>
              <a:t> </a:t>
            </a:r>
            <a:r>
              <a:rPr sz="2400" b="1" dirty="0">
                <a:solidFill>
                  <a:srgbClr val="D9D9D9"/>
                </a:solidFill>
                <a:latin typeface="Calibri"/>
                <a:cs typeface="Calibri"/>
              </a:rPr>
              <a:t>are</a:t>
            </a:r>
            <a:r>
              <a:rPr sz="2400" b="1" spc="-53" dirty="0">
                <a:solidFill>
                  <a:srgbClr val="D9D9D9"/>
                </a:solidFill>
                <a:latin typeface="Calibri"/>
                <a:cs typeface="Calibri"/>
              </a:rPr>
              <a:t> </a:t>
            </a:r>
            <a:r>
              <a:rPr sz="2400" b="1" dirty="0">
                <a:solidFill>
                  <a:srgbClr val="D9D9D9"/>
                </a:solidFill>
                <a:latin typeface="Calibri"/>
                <a:cs typeface="Calibri"/>
              </a:rPr>
              <a:t>on</a:t>
            </a:r>
            <a:r>
              <a:rPr sz="2400" b="1" spc="-13" dirty="0">
                <a:solidFill>
                  <a:srgbClr val="D9D9D9"/>
                </a:solidFill>
                <a:latin typeface="Calibri"/>
                <a:cs typeface="Calibri"/>
              </a:rPr>
              <a:t> </a:t>
            </a:r>
            <a:r>
              <a:rPr sz="2400" b="1" dirty="0">
                <a:solidFill>
                  <a:srgbClr val="D9D9D9"/>
                </a:solidFill>
                <a:latin typeface="Calibri"/>
                <a:cs typeface="Calibri"/>
              </a:rPr>
              <a:t>the</a:t>
            </a:r>
            <a:r>
              <a:rPr sz="2400" b="1" spc="-33" dirty="0">
                <a:solidFill>
                  <a:srgbClr val="D9D9D9"/>
                </a:solidFill>
                <a:latin typeface="Calibri"/>
                <a:cs typeface="Calibri"/>
              </a:rPr>
              <a:t> </a:t>
            </a:r>
            <a:r>
              <a:rPr sz="2400" b="1" spc="-27" dirty="0">
                <a:solidFill>
                  <a:srgbClr val="D9D9D9"/>
                </a:solidFill>
                <a:latin typeface="Calibri"/>
                <a:cs typeface="Calibri"/>
              </a:rPr>
              <a:t>rise</a:t>
            </a:r>
            <a:endParaRPr sz="2400" dirty="0">
              <a:latin typeface="Calibri"/>
              <a:cs typeface="Calibri"/>
            </a:endParaRPr>
          </a:p>
          <a:p>
            <a:pPr>
              <a:spcBef>
                <a:spcPts val="760"/>
              </a:spcBef>
              <a:buClr>
                <a:srgbClr val="99D3FF"/>
              </a:buClr>
              <a:buFont typeface="Wingdings"/>
              <a:buChar char=""/>
            </a:pPr>
            <a:endParaRPr sz="2400" dirty="0">
              <a:latin typeface="Calibri"/>
              <a:cs typeface="Calibri"/>
            </a:endParaRPr>
          </a:p>
          <a:p>
            <a:pPr marL="1742396" indent="-380990">
              <a:buClr>
                <a:srgbClr val="99D3FF"/>
              </a:buClr>
              <a:buFont typeface="Wingdings"/>
              <a:buChar char=""/>
              <a:tabLst>
                <a:tab pos="1742396" algn="l"/>
              </a:tabLst>
            </a:pPr>
            <a:r>
              <a:rPr sz="2400" b="1" dirty="0">
                <a:solidFill>
                  <a:srgbClr val="D9D9D9"/>
                </a:solidFill>
                <a:latin typeface="Calibri"/>
                <a:cs typeface="Calibri"/>
              </a:rPr>
              <a:t>Most</a:t>
            </a:r>
            <a:r>
              <a:rPr sz="2400" b="1" spc="-20" dirty="0">
                <a:solidFill>
                  <a:srgbClr val="D9D9D9"/>
                </a:solidFill>
                <a:latin typeface="Calibri"/>
                <a:cs typeface="Calibri"/>
              </a:rPr>
              <a:t> </a:t>
            </a:r>
            <a:r>
              <a:rPr sz="2400" b="1" dirty="0">
                <a:solidFill>
                  <a:srgbClr val="D9D9D9"/>
                </a:solidFill>
                <a:latin typeface="Calibri"/>
                <a:cs typeface="Calibri"/>
              </a:rPr>
              <a:t>companies</a:t>
            </a:r>
            <a:r>
              <a:rPr sz="2400" b="1" spc="-60" dirty="0">
                <a:solidFill>
                  <a:srgbClr val="D9D9D9"/>
                </a:solidFill>
                <a:latin typeface="Calibri"/>
                <a:cs typeface="Calibri"/>
              </a:rPr>
              <a:t> </a:t>
            </a:r>
            <a:r>
              <a:rPr sz="2400" b="1" dirty="0">
                <a:solidFill>
                  <a:srgbClr val="D9D9D9"/>
                </a:solidFill>
                <a:latin typeface="Calibri"/>
                <a:cs typeface="Calibri"/>
              </a:rPr>
              <a:t>opt</a:t>
            </a:r>
            <a:r>
              <a:rPr sz="2400" b="1" spc="-20" dirty="0">
                <a:solidFill>
                  <a:srgbClr val="D9D9D9"/>
                </a:solidFill>
                <a:latin typeface="Calibri"/>
                <a:cs typeface="Calibri"/>
              </a:rPr>
              <a:t> </a:t>
            </a:r>
            <a:r>
              <a:rPr sz="2400" b="1" dirty="0">
                <a:solidFill>
                  <a:srgbClr val="D9D9D9"/>
                </a:solidFill>
                <a:latin typeface="Calibri"/>
                <a:cs typeface="Calibri"/>
              </a:rPr>
              <a:t>for</a:t>
            </a:r>
            <a:r>
              <a:rPr sz="2400" b="1" spc="7" dirty="0">
                <a:solidFill>
                  <a:srgbClr val="D9D9D9"/>
                </a:solidFill>
                <a:latin typeface="Calibri"/>
                <a:cs typeface="Calibri"/>
              </a:rPr>
              <a:t> </a:t>
            </a:r>
            <a:r>
              <a:rPr sz="2400" b="1" dirty="0">
                <a:solidFill>
                  <a:srgbClr val="D9D9D9"/>
                </a:solidFill>
                <a:latin typeface="Calibri"/>
                <a:cs typeface="Calibri"/>
              </a:rPr>
              <a:t>cloud</a:t>
            </a:r>
            <a:r>
              <a:rPr sz="2400" b="1" spc="-47" dirty="0">
                <a:solidFill>
                  <a:srgbClr val="D9D9D9"/>
                </a:solidFill>
                <a:latin typeface="Calibri"/>
                <a:cs typeface="Calibri"/>
              </a:rPr>
              <a:t> </a:t>
            </a:r>
            <a:r>
              <a:rPr sz="2400" b="1" dirty="0">
                <a:solidFill>
                  <a:srgbClr val="D9D9D9"/>
                </a:solidFill>
                <a:latin typeface="Calibri"/>
                <a:cs typeface="Calibri"/>
              </a:rPr>
              <a:t>data </a:t>
            </a:r>
            <a:r>
              <a:rPr sz="2400" b="1" spc="-13" dirty="0">
                <a:solidFill>
                  <a:srgbClr val="D9D9D9"/>
                </a:solidFill>
                <a:latin typeface="Calibri"/>
                <a:cs typeface="Calibri"/>
              </a:rPr>
              <a:t>warehouse</a:t>
            </a:r>
            <a:endParaRPr sz="2400" dirty="0">
              <a:latin typeface="Calibri"/>
              <a:cs typeface="Calibri"/>
            </a:endParaRPr>
          </a:p>
        </p:txBody>
      </p:sp>
      <p:sp>
        <p:nvSpPr>
          <p:cNvPr id="8" name="object 8"/>
          <p:cNvSpPr txBox="1"/>
          <p:nvPr/>
        </p:nvSpPr>
        <p:spPr>
          <a:xfrm>
            <a:off x="1393952" y="4252977"/>
            <a:ext cx="9808633" cy="593390"/>
          </a:xfrm>
          <a:prstGeom prst="rect">
            <a:avLst/>
          </a:prstGeom>
          <a:solidFill>
            <a:srgbClr val="00C3FF">
              <a:alpha val="50195"/>
            </a:srgbClr>
          </a:solidFill>
        </p:spPr>
        <p:txBody>
          <a:bodyPr vert="horz" wrap="square" lIns="0" tIns="181187" rIns="0" bIns="0" rtlCol="0">
            <a:spAutoFit/>
          </a:bodyPr>
          <a:lstStyle/>
          <a:p>
            <a:pPr marL="121917">
              <a:spcBef>
                <a:spcPts val="1427"/>
              </a:spcBef>
            </a:pPr>
            <a:r>
              <a:rPr sz="2667" b="1" dirty="0">
                <a:solidFill>
                  <a:srgbClr val="D9D9D9"/>
                </a:solidFill>
                <a:latin typeface="Calibri"/>
                <a:cs typeface="Calibri"/>
              </a:rPr>
              <a:t>In</a:t>
            </a:r>
            <a:r>
              <a:rPr sz="2667" b="1" spc="-33" dirty="0">
                <a:solidFill>
                  <a:srgbClr val="D9D9D9"/>
                </a:solidFill>
                <a:latin typeface="Calibri"/>
                <a:cs typeface="Calibri"/>
              </a:rPr>
              <a:t> </a:t>
            </a:r>
            <a:r>
              <a:rPr sz="2667" b="1" dirty="0">
                <a:solidFill>
                  <a:srgbClr val="D9D9D9"/>
                </a:solidFill>
                <a:latin typeface="Calibri"/>
                <a:cs typeface="Calibri"/>
              </a:rPr>
              <a:t>most</a:t>
            </a:r>
            <a:r>
              <a:rPr sz="2667" b="1" spc="-67" dirty="0">
                <a:solidFill>
                  <a:srgbClr val="D9D9D9"/>
                </a:solidFill>
                <a:latin typeface="Calibri"/>
                <a:cs typeface="Calibri"/>
              </a:rPr>
              <a:t> </a:t>
            </a:r>
            <a:r>
              <a:rPr sz="2667" b="1" dirty="0">
                <a:solidFill>
                  <a:srgbClr val="D9D9D9"/>
                </a:solidFill>
                <a:latin typeface="Calibri"/>
                <a:cs typeface="Calibri"/>
              </a:rPr>
              <a:t>cases</a:t>
            </a:r>
            <a:r>
              <a:rPr sz="2667" b="1" spc="-20" dirty="0">
                <a:solidFill>
                  <a:srgbClr val="D9D9D9"/>
                </a:solidFill>
                <a:latin typeface="Calibri"/>
                <a:cs typeface="Calibri"/>
              </a:rPr>
              <a:t> </a:t>
            </a:r>
            <a:r>
              <a:rPr sz="2667" b="1" dirty="0">
                <a:solidFill>
                  <a:srgbClr val="D9D9D9"/>
                </a:solidFill>
                <a:latin typeface="Calibri"/>
                <a:cs typeface="Calibri"/>
              </a:rPr>
              <a:t>cloud</a:t>
            </a:r>
            <a:r>
              <a:rPr sz="2667" b="1" spc="-67" dirty="0">
                <a:solidFill>
                  <a:srgbClr val="D9D9D9"/>
                </a:solidFill>
                <a:latin typeface="Calibri"/>
                <a:cs typeface="Calibri"/>
              </a:rPr>
              <a:t> </a:t>
            </a:r>
            <a:r>
              <a:rPr sz="2667" b="1" dirty="0">
                <a:solidFill>
                  <a:srgbClr val="D9D9D9"/>
                </a:solidFill>
                <a:latin typeface="Calibri"/>
                <a:cs typeface="Calibri"/>
              </a:rPr>
              <a:t>data</a:t>
            </a:r>
            <a:r>
              <a:rPr sz="2667" b="1" spc="-40" dirty="0">
                <a:solidFill>
                  <a:srgbClr val="D9D9D9"/>
                </a:solidFill>
                <a:latin typeface="Calibri"/>
                <a:cs typeface="Calibri"/>
              </a:rPr>
              <a:t> </a:t>
            </a:r>
            <a:r>
              <a:rPr sz="2667" b="1" dirty="0">
                <a:solidFill>
                  <a:srgbClr val="D9D9D9"/>
                </a:solidFill>
                <a:latin typeface="Calibri"/>
                <a:cs typeface="Calibri"/>
              </a:rPr>
              <a:t>warehouse</a:t>
            </a:r>
            <a:r>
              <a:rPr sz="2667" b="1" spc="-20" dirty="0">
                <a:solidFill>
                  <a:srgbClr val="D9D9D9"/>
                </a:solidFill>
                <a:latin typeface="Calibri"/>
                <a:cs typeface="Calibri"/>
              </a:rPr>
              <a:t> </a:t>
            </a:r>
            <a:r>
              <a:rPr sz="2667" b="1" dirty="0">
                <a:solidFill>
                  <a:srgbClr val="D9D9D9"/>
                </a:solidFill>
                <a:latin typeface="Calibri"/>
                <a:cs typeface="Calibri"/>
              </a:rPr>
              <a:t>is</a:t>
            </a:r>
            <a:r>
              <a:rPr sz="2667" b="1" spc="-47" dirty="0">
                <a:solidFill>
                  <a:srgbClr val="D9D9D9"/>
                </a:solidFill>
                <a:latin typeface="Calibri"/>
                <a:cs typeface="Calibri"/>
              </a:rPr>
              <a:t> </a:t>
            </a:r>
            <a:r>
              <a:rPr sz="2667" b="1" dirty="0">
                <a:solidFill>
                  <a:srgbClr val="D9D9D9"/>
                </a:solidFill>
                <a:latin typeface="Calibri"/>
                <a:cs typeface="Calibri"/>
              </a:rPr>
              <a:t>the</a:t>
            </a:r>
            <a:r>
              <a:rPr sz="2667" b="1" spc="-33" dirty="0">
                <a:solidFill>
                  <a:srgbClr val="D9D9D9"/>
                </a:solidFill>
                <a:latin typeface="Calibri"/>
                <a:cs typeface="Calibri"/>
              </a:rPr>
              <a:t> </a:t>
            </a:r>
            <a:r>
              <a:rPr sz="2667" b="1" dirty="0">
                <a:solidFill>
                  <a:srgbClr val="D9D9D9"/>
                </a:solidFill>
                <a:latin typeface="Calibri"/>
                <a:cs typeface="Calibri"/>
              </a:rPr>
              <a:t>better</a:t>
            </a:r>
            <a:r>
              <a:rPr sz="2667" b="1" spc="-40" dirty="0">
                <a:solidFill>
                  <a:srgbClr val="D9D9D9"/>
                </a:solidFill>
                <a:latin typeface="Calibri"/>
                <a:cs typeface="Calibri"/>
              </a:rPr>
              <a:t> </a:t>
            </a:r>
            <a:r>
              <a:rPr sz="2667" b="1" dirty="0">
                <a:solidFill>
                  <a:srgbClr val="D9D9D9"/>
                </a:solidFill>
                <a:latin typeface="Calibri"/>
                <a:cs typeface="Calibri"/>
              </a:rPr>
              <a:t>choice</a:t>
            </a:r>
            <a:r>
              <a:rPr sz="2667" b="1" spc="-53" dirty="0">
                <a:solidFill>
                  <a:srgbClr val="D9D9D9"/>
                </a:solidFill>
                <a:latin typeface="Calibri"/>
                <a:cs typeface="Calibri"/>
              </a:rPr>
              <a:t> </a:t>
            </a:r>
            <a:r>
              <a:rPr sz="2667" b="1" spc="-13" dirty="0">
                <a:solidFill>
                  <a:srgbClr val="D9D9D9"/>
                </a:solidFill>
                <a:latin typeface="Calibri"/>
                <a:cs typeface="Calibri"/>
              </a:rPr>
              <a:t>nowadays!</a:t>
            </a:r>
            <a:endParaRPr sz="2667">
              <a:latin typeface="Calibri"/>
              <a:cs typeface="Calibri"/>
            </a:endParaRPr>
          </a:p>
        </p:txBody>
      </p:sp>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38441" y="302337"/>
            <a:ext cx="6672336" cy="695062"/>
          </a:xfrm>
          <a:prstGeom prst="rect">
            <a:avLst/>
          </a:prstGeom>
        </p:spPr>
        <p:txBody>
          <a:bodyPr vert="horz" wrap="square" lIns="0" tIns="17780" rIns="0" bIns="0" rtlCol="0" anchor="ctr">
            <a:spAutoFit/>
          </a:bodyPr>
          <a:lstStyle/>
          <a:p>
            <a:pPr marL="2011630">
              <a:lnSpc>
                <a:spcPct val="100000"/>
              </a:lnSpc>
              <a:spcBef>
                <a:spcPts val="140"/>
              </a:spcBef>
            </a:pPr>
            <a:r>
              <a:rPr spc="-13" dirty="0">
                <a:solidFill>
                  <a:schemeClr val="bg1"/>
                </a:solidFill>
                <a:latin typeface="+mn-lt"/>
              </a:rPr>
              <a:t>Conclusion?</a:t>
            </a:r>
          </a:p>
        </p:txBody>
      </p:sp>
      <p:grpSp>
        <p:nvGrpSpPr>
          <p:cNvPr id="3" name="object 3"/>
          <p:cNvGrpSpPr/>
          <p:nvPr/>
        </p:nvGrpSpPr>
        <p:grpSpPr>
          <a:xfrm>
            <a:off x="1865377" y="1046480"/>
            <a:ext cx="3636432" cy="1857925"/>
            <a:chOff x="1399032" y="784859"/>
            <a:chExt cx="2727324" cy="1393444"/>
          </a:xfrm>
        </p:grpSpPr>
        <p:pic>
          <p:nvPicPr>
            <p:cNvPr id="4" name="object 4"/>
            <p:cNvPicPr/>
            <p:nvPr/>
          </p:nvPicPr>
          <p:blipFill>
            <a:blip r:embed="rId2" cstate="print"/>
            <a:stretch>
              <a:fillRect/>
            </a:stretch>
          </p:blipFill>
          <p:spPr>
            <a:xfrm>
              <a:off x="1399032" y="784859"/>
              <a:ext cx="2727324" cy="1393444"/>
            </a:xfrm>
            <a:prstGeom prst="rect">
              <a:avLst/>
            </a:prstGeom>
          </p:spPr>
        </p:pic>
        <p:sp>
          <p:nvSpPr>
            <p:cNvPr id="6" name="object 6"/>
            <p:cNvSpPr/>
            <p:nvPr/>
          </p:nvSpPr>
          <p:spPr>
            <a:xfrm>
              <a:off x="1725930" y="939545"/>
              <a:ext cx="2094230" cy="762000"/>
            </a:xfrm>
            <a:custGeom>
              <a:avLst/>
              <a:gdLst/>
              <a:ahLst/>
              <a:cxnLst/>
              <a:rect l="l" t="t" r="r" b="b"/>
              <a:pathLst>
                <a:path w="2094229" h="762000">
                  <a:moveTo>
                    <a:pt x="0" y="381000"/>
                  </a:moveTo>
                  <a:lnTo>
                    <a:pt x="190500" y="0"/>
                  </a:lnTo>
                  <a:lnTo>
                    <a:pt x="1903475" y="0"/>
                  </a:lnTo>
                  <a:lnTo>
                    <a:pt x="2093975" y="381000"/>
                  </a:lnTo>
                  <a:lnTo>
                    <a:pt x="1903475" y="762000"/>
                  </a:lnTo>
                  <a:lnTo>
                    <a:pt x="190500" y="762000"/>
                  </a:lnTo>
                  <a:lnTo>
                    <a:pt x="0" y="381000"/>
                  </a:lnTo>
                  <a:close/>
                </a:path>
              </a:pathLst>
            </a:custGeom>
            <a:ln w="19812">
              <a:solidFill>
                <a:srgbClr val="00C3FF"/>
              </a:solidFill>
            </a:ln>
          </p:spPr>
          <p:txBody>
            <a:bodyPr wrap="square" lIns="0" tIns="0" rIns="0" bIns="0" rtlCol="0"/>
            <a:lstStyle/>
            <a:p>
              <a:endParaRPr sz="2400"/>
            </a:p>
          </p:txBody>
        </p:sp>
      </p:grpSp>
      <p:sp>
        <p:nvSpPr>
          <p:cNvPr id="7" name="object 7"/>
          <p:cNvSpPr txBox="1"/>
          <p:nvPr/>
        </p:nvSpPr>
        <p:spPr>
          <a:xfrm>
            <a:off x="2938441" y="1437131"/>
            <a:ext cx="3746500" cy="3768297"/>
          </a:xfrm>
          <a:prstGeom prst="rect">
            <a:avLst/>
          </a:prstGeom>
        </p:spPr>
        <p:txBody>
          <a:bodyPr vert="horz" wrap="square" lIns="0" tIns="16087" rIns="0" bIns="0" rtlCol="0">
            <a:spAutoFit/>
          </a:bodyPr>
          <a:lstStyle/>
          <a:p>
            <a:pPr marL="270927" marR="2237684" indent="-253994">
              <a:spcBef>
                <a:spcPts val="127"/>
              </a:spcBef>
            </a:pPr>
            <a:r>
              <a:rPr sz="2133" b="1" dirty="0">
                <a:solidFill>
                  <a:srgbClr val="CCEAFF"/>
                </a:solidFill>
                <a:latin typeface="Calibri"/>
                <a:cs typeface="Calibri"/>
              </a:rPr>
              <a:t>What</a:t>
            </a:r>
            <a:r>
              <a:rPr sz="2133" b="1" spc="-47" dirty="0">
                <a:solidFill>
                  <a:srgbClr val="CCEAFF"/>
                </a:solidFill>
                <a:latin typeface="Calibri"/>
                <a:cs typeface="Calibri"/>
              </a:rPr>
              <a:t> </a:t>
            </a:r>
            <a:r>
              <a:rPr sz="2133" b="1" dirty="0">
                <a:solidFill>
                  <a:srgbClr val="CCEAFF"/>
                </a:solidFill>
                <a:latin typeface="Calibri"/>
                <a:cs typeface="Calibri"/>
              </a:rPr>
              <a:t>are</a:t>
            </a:r>
            <a:r>
              <a:rPr sz="2133" b="1" spc="-27" dirty="0">
                <a:solidFill>
                  <a:srgbClr val="CCEAFF"/>
                </a:solidFill>
                <a:latin typeface="Calibri"/>
                <a:cs typeface="Calibri"/>
              </a:rPr>
              <a:t> </a:t>
            </a:r>
            <a:r>
              <a:rPr sz="2133" b="1" spc="-33" dirty="0">
                <a:solidFill>
                  <a:srgbClr val="CCEAFF"/>
                </a:solidFill>
                <a:latin typeface="Calibri"/>
                <a:cs typeface="Calibri"/>
              </a:rPr>
              <a:t>the </a:t>
            </a:r>
            <a:r>
              <a:rPr sz="2133" b="1" spc="-13" dirty="0">
                <a:solidFill>
                  <a:srgbClr val="CCEAFF"/>
                </a:solidFill>
                <a:latin typeface="Calibri"/>
                <a:cs typeface="Calibri"/>
              </a:rPr>
              <a:t>options?</a:t>
            </a:r>
            <a:endParaRPr sz="2133" dirty="0">
              <a:latin typeface="Calibri"/>
              <a:cs typeface="Calibri"/>
            </a:endParaRPr>
          </a:p>
          <a:p>
            <a:pPr>
              <a:lnSpc>
                <a:spcPct val="100000"/>
              </a:lnSpc>
            </a:pPr>
            <a:endParaRPr sz="2133" dirty="0">
              <a:latin typeface="Calibri"/>
              <a:cs typeface="Calibri"/>
            </a:endParaRPr>
          </a:p>
          <a:p>
            <a:pPr>
              <a:spcBef>
                <a:spcPts val="47"/>
              </a:spcBef>
            </a:pPr>
            <a:endParaRPr sz="2133" dirty="0">
              <a:latin typeface="Calibri"/>
              <a:cs typeface="Calibri"/>
            </a:endParaRPr>
          </a:p>
          <a:p>
            <a:pPr marL="1527348" indent="-380990">
              <a:buClr>
                <a:srgbClr val="99D3FF"/>
              </a:buClr>
              <a:buFont typeface="Wingdings"/>
              <a:buChar char=""/>
              <a:tabLst>
                <a:tab pos="1527348" algn="l"/>
              </a:tabLst>
            </a:pPr>
            <a:r>
              <a:rPr sz="2400" b="1" spc="-13" dirty="0">
                <a:solidFill>
                  <a:srgbClr val="D9D9D9"/>
                </a:solidFill>
                <a:latin typeface="Calibri"/>
                <a:cs typeface="Calibri"/>
              </a:rPr>
              <a:t>Snowflake</a:t>
            </a:r>
            <a:endParaRPr sz="2400" dirty="0">
              <a:latin typeface="Calibri"/>
              <a:cs typeface="Calibri"/>
            </a:endParaRPr>
          </a:p>
          <a:p>
            <a:pPr marL="1527348" indent="-380990">
              <a:spcBef>
                <a:spcPts val="2513"/>
              </a:spcBef>
              <a:buClr>
                <a:srgbClr val="99D3FF"/>
              </a:buClr>
              <a:buFont typeface="Wingdings"/>
              <a:buChar char=""/>
              <a:tabLst>
                <a:tab pos="1527348" algn="l"/>
              </a:tabLst>
            </a:pPr>
            <a:r>
              <a:rPr sz="2400" b="1" dirty="0">
                <a:solidFill>
                  <a:srgbClr val="D9D9D9"/>
                </a:solidFill>
                <a:latin typeface="Calibri"/>
                <a:cs typeface="Calibri"/>
              </a:rPr>
              <a:t>Amazon</a:t>
            </a:r>
            <a:r>
              <a:rPr sz="2400" b="1" spc="-47" dirty="0">
                <a:solidFill>
                  <a:srgbClr val="D9D9D9"/>
                </a:solidFill>
                <a:latin typeface="Calibri"/>
                <a:cs typeface="Calibri"/>
              </a:rPr>
              <a:t> </a:t>
            </a:r>
            <a:r>
              <a:rPr sz="2400" b="1" spc="-13" dirty="0">
                <a:solidFill>
                  <a:srgbClr val="D9D9D9"/>
                </a:solidFill>
                <a:latin typeface="Calibri"/>
                <a:cs typeface="Calibri"/>
              </a:rPr>
              <a:t>Redshift</a:t>
            </a:r>
            <a:endParaRPr sz="2400" dirty="0">
              <a:latin typeface="Calibri"/>
              <a:cs typeface="Calibri"/>
            </a:endParaRPr>
          </a:p>
          <a:p>
            <a:pPr marL="1528195" indent="-381837">
              <a:spcBef>
                <a:spcPts val="2513"/>
              </a:spcBef>
              <a:buClr>
                <a:srgbClr val="99D3FF"/>
              </a:buClr>
              <a:buFont typeface="Wingdings"/>
              <a:buChar char=""/>
              <a:tabLst>
                <a:tab pos="1528195" algn="l"/>
              </a:tabLst>
            </a:pPr>
            <a:r>
              <a:rPr sz="2400" b="1" dirty="0">
                <a:solidFill>
                  <a:srgbClr val="D9D9D9"/>
                </a:solidFill>
                <a:latin typeface="Calibri"/>
                <a:cs typeface="Calibri"/>
              </a:rPr>
              <a:t>Azure</a:t>
            </a:r>
            <a:r>
              <a:rPr sz="2400" b="1" spc="-33" dirty="0">
                <a:solidFill>
                  <a:srgbClr val="D9D9D9"/>
                </a:solidFill>
                <a:latin typeface="Calibri"/>
                <a:cs typeface="Calibri"/>
              </a:rPr>
              <a:t> </a:t>
            </a:r>
            <a:r>
              <a:rPr sz="2400" b="1" spc="-13" dirty="0">
                <a:solidFill>
                  <a:srgbClr val="D9D9D9"/>
                </a:solidFill>
                <a:latin typeface="Calibri"/>
                <a:cs typeface="Calibri"/>
              </a:rPr>
              <a:t>Synapse</a:t>
            </a:r>
            <a:endParaRPr sz="2400" dirty="0">
              <a:latin typeface="Calibri"/>
              <a:cs typeface="Calibri"/>
            </a:endParaRPr>
          </a:p>
          <a:p>
            <a:pPr marL="1527348" indent="-380990">
              <a:spcBef>
                <a:spcPts val="2452"/>
              </a:spcBef>
              <a:buClr>
                <a:srgbClr val="99D3FF"/>
              </a:buClr>
              <a:buFont typeface="Wingdings"/>
              <a:buChar char=""/>
              <a:tabLst>
                <a:tab pos="1527348" algn="l"/>
              </a:tabLst>
            </a:pPr>
            <a:r>
              <a:rPr sz="2400" b="1" dirty="0">
                <a:solidFill>
                  <a:srgbClr val="D9D9D9"/>
                </a:solidFill>
                <a:latin typeface="Calibri"/>
                <a:cs typeface="Calibri"/>
              </a:rPr>
              <a:t>Google</a:t>
            </a:r>
            <a:r>
              <a:rPr sz="2400" b="1" spc="-53" dirty="0">
                <a:solidFill>
                  <a:srgbClr val="D9D9D9"/>
                </a:solidFill>
                <a:latin typeface="Calibri"/>
                <a:cs typeface="Calibri"/>
              </a:rPr>
              <a:t> </a:t>
            </a:r>
            <a:r>
              <a:rPr sz="2400" b="1" dirty="0">
                <a:solidFill>
                  <a:srgbClr val="D9D9D9"/>
                </a:solidFill>
                <a:latin typeface="Calibri"/>
                <a:cs typeface="Calibri"/>
              </a:rPr>
              <a:t>Big</a:t>
            </a:r>
            <a:r>
              <a:rPr sz="2400" b="1" spc="-20" dirty="0">
                <a:solidFill>
                  <a:srgbClr val="D9D9D9"/>
                </a:solidFill>
                <a:latin typeface="Calibri"/>
                <a:cs typeface="Calibri"/>
              </a:rPr>
              <a:t> </a:t>
            </a:r>
            <a:r>
              <a:rPr sz="2400" b="1" spc="-13" dirty="0">
                <a:solidFill>
                  <a:srgbClr val="D9D9D9"/>
                </a:solidFill>
                <a:latin typeface="Calibri"/>
                <a:cs typeface="Calibri"/>
              </a:rPr>
              <a:t>Query</a:t>
            </a:r>
            <a:endParaRPr sz="2400" dirty="0">
              <a:latin typeface="Calibri"/>
              <a:cs typeface="Calibri"/>
            </a:endParaRPr>
          </a:p>
        </p:txBody>
      </p:sp>
    </p:spTree>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65336" y="248294"/>
            <a:ext cx="7955280" cy="695062"/>
          </a:xfrm>
          <a:prstGeom prst="rect">
            <a:avLst/>
          </a:prstGeom>
        </p:spPr>
        <p:txBody>
          <a:bodyPr vert="horz" wrap="square" lIns="0" tIns="17780" rIns="0" bIns="0" rtlCol="0" anchor="ctr">
            <a:spAutoFit/>
          </a:bodyPr>
          <a:lstStyle/>
          <a:p>
            <a:pPr marL="2011630">
              <a:lnSpc>
                <a:spcPct val="100000"/>
              </a:lnSpc>
              <a:spcBef>
                <a:spcPts val="140"/>
              </a:spcBef>
            </a:pPr>
            <a:r>
              <a:rPr spc="-13" dirty="0">
                <a:solidFill>
                  <a:schemeClr val="bg1"/>
                </a:solidFill>
                <a:latin typeface="+mn-lt"/>
              </a:rPr>
              <a:t>Conclusion?</a:t>
            </a:r>
          </a:p>
        </p:txBody>
      </p:sp>
      <p:grpSp>
        <p:nvGrpSpPr>
          <p:cNvPr id="3" name="object 3"/>
          <p:cNvGrpSpPr/>
          <p:nvPr/>
        </p:nvGrpSpPr>
        <p:grpSpPr>
          <a:xfrm>
            <a:off x="1865377" y="1046480"/>
            <a:ext cx="3636432" cy="1857925"/>
            <a:chOff x="1399032" y="784859"/>
            <a:chExt cx="2727324" cy="1393444"/>
          </a:xfrm>
        </p:grpSpPr>
        <p:pic>
          <p:nvPicPr>
            <p:cNvPr id="4" name="object 4"/>
            <p:cNvPicPr/>
            <p:nvPr/>
          </p:nvPicPr>
          <p:blipFill>
            <a:blip r:embed="rId2" cstate="print"/>
            <a:stretch>
              <a:fillRect/>
            </a:stretch>
          </p:blipFill>
          <p:spPr>
            <a:xfrm>
              <a:off x="1399032" y="784859"/>
              <a:ext cx="2727324" cy="1393444"/>
            </a:xfrm>
            <a:prstGeom prst="rect">
              <a:avLst/>
            </a:prstGeom>
          </p:spPr>
        </p:pic>
        <p:sp>
          <p:nvSpPr>
            <p:cNvPr id="6" name="object 6"/>
            <p:cNvSpPr/>
            <p:nvPr/>
          </p:nvSpPr>
          <p:spPr>
            <a:xfrm>
              <a:off x="1725930" y="939545"/>
              <a:ext cx="2094230" cy="762000"/>
            </a:xfrm>
            <a:custGeom>
              <a:avLst/>
              <a:gdLst/>
              <a:ahLst/>
              <a:cxnLst/>
              <a:rect l="l" t="t" r="r" b="b"/>
              <a:pathLst>
                <a:path w="2094229" h="762000">
                  <a:moveTo>
                    <a:pt x="0" y="381000"/>
                  </a:moveTo>
                  <a:lnTo>
                    <a:pt x="190500" y="0"/>
                  </a:lnTo>
                  <a:lnTo>
                    <a:pt x="1903475" y="0"/>
                  </a:lnTo>
                  <a:lnTo>
                    <a:pt x="2093975" y="381000"/>
                  </a:lnTo>
                  <a:lnTo>
                    <a:pt x="1903475" y="762000"/>
                  </a:lnTo>
                  <a:lnTo>
                    <a:pt x="190500" y="762000"/>
                  </a:lnTo>
                  <a:lnTo>
                    <a:pt x="0" y="381000"/>
                  </a:lnTo>
                  <a:close/>
                </a:path>
              </a:pathLst>
            </a:custGeom>
            <a:ln w="19812">
              <a:solidFill>
                <a:srgbClr val="00C3FF"/>
              </a:solidFill>
            </a:ln>
          </p:spPr>
          <p:txBody>
            <a:bodyPr wrap="square" lIns="0" tIns="0" rIns="0" bIns="0" rtlCol="0"/>
            <a:lstStyle/>
            <a:p>
              <a:endParaRPr sz="2400"/>
            </a:p>
          </p:txBody>
        </p:sp>
      </p:grpSp>
      <p:sp>
        <p:nvSpPr>
          <p:cNvPr id="7" name="object 7"/>
          <p:cNvSpPr txBox="1"/>
          <p:nvPr/>
        </p:nvSpPr>
        <p:spPr>
          <a:xfrm>
            <a:off x="2938441" y="1437131"/>
            <a:ext cx="3746500" cy="3768297"/>
          </a:xfrm>
          <a:prstGeom prst="rect">
            <a:avLst/>
          </a:prstGeom>
        </p:spPr>
        <p:txBody>
          <a:bodyPr vert="horz" wrap="square" lIns="0" tIns="16087" rIns="0" bIns="0" rtlCol="0">
            <a:spAutoFit/>
          </a:bodyPr>
          <a:lstStyle/>
          <a:p>
            <a:pPr marL="270927" marR="2237684" indent="-253994">
              <a:spcBef>
                <a:spcPts val="127"/>
              </a:spcBef>
            </a:pPr>
            <a:r>
              <a:rPr sz="2133" b="1" dirty="0">
                <a:solidFill>
                  <a:srgbClr val="CCEAFF"/>
                </a:solidFill>
                <a:latin typeface="Calibri"/>
                <a:cs typeface="Calibri"/>
              </a:rPr>
              <a:t>What</a:t>
            </a:r>
            <a:r>
              <a:rPr sz="2133" b="1" spc="-47" dirty="0">
                <a:solidFill>
                  <a:srgbClr val="CCEAFF"/>
                </a:solidFill>
                <a:latin typeface="Calibri"/>
                <a:cs typeface="Calibri"/>
              </a:rPr>
              <a:t> </a:t>
            </a:r>
            <a:r>
              <a:rPr sz="2133" b="1" dirty="0">
                <a:solidFill>
                  <a:srgbClr val="CCEAFF"/>
                </a:solidFill>
                <a:latin typeface="Calibri"/>
                <a:cs typeface="Calibri"/>
              </a:rPr>
              <a:t>are</a:t>
            </a:r>
            <a:r>
              <a:rPr sz="2133" b="1" spc="-27" dirty="0">
                <a:solidFill>
                  <a:srgbClr val="CCEAFF"/>
                </a:solidFill>
                <a:latin typeface="Calibri"/>
                <a:cs typeface="Calibri"/>
              </a:rPr>
              <a:t> </a:t>
            </a:r>
            <a:r>
              <a:rPr sz="2133" b="1" spc="-33" dirty="0">
                <a:solidFill>
                  <a:srgbClr val="CCEAFF"/>
                </a:solidFill>
                <a:latin typeface="Calibri"/>
                <a:cs typeface="Calibri"/>
              </a:rPr>
              <a:t>the </a:t>
            </a:r>
            <a:r>
              <a:rPr sz="2133" b="1" spc="-13" dirty="0">
                <a:solidFill>
                  <a:srgbClr val="CCEAFF"/>
                </a:solidFill>
                <a:latin typeface="Calibri"/>
                <a:cs typeface="Calibri"/>
              </a:rPr>
              <a:t>options?</a:t>
            </a:r>
            <a:endParaRPr sz="2133" dirty="0">
              <a:latin typeface="Calibri"/>
              <a:cs typeface="Calibri"/>
            </a:endParaRPr>
          </a:p>
          <a:p>
            <a:pPr>
              <a:lnSpc>
                <a:spcPct val="100000"/>
              </a:lnSpc>
            </a:pPr>
            <a:endParaRPr sz="2133" dirty="0">
              <a:latin typeface="Calibri"/>
              <a:cs typeface="Calibri"/>
            </a:endParaRPr>
          </a:p>
          <a:p>
            <a:pPr>
              <a:spcBef>
                <a:spcPts val="47"/>
              </a:spcBef>
            </a:pPr>
            <a:endParaRPr sz="2133" dirty="0">
              <a:latin typeface="Calibri"/>
              <a:cs typeface="Calibri"/>
            </a:endParaRPr>
          </a:p>
          <a:p>
            <a:pPr marL="1527348" indent="-380990">
              <a:buClr>
                <a:srgbClr val="99D3FF"/>
              </a:buClr>
              <a:buFont typeface="Wingdings"/>
              <a:buChar char=""/>
              <a:tabLst>
                <a:tab pos="1527348" algn="l"/>
              </a:tabLst>
            </a:pPr>
            <a:r>
              <a:rPr sz="2400" b="1" spc="-13" dirty="0">
                <a:solidFill>
                  <a:srgbClr val="D9D9D9"/>
                </a:solidFill>
                <a:latin typeface="Calibri"/>
                <a:cs typeface="Calibri"/>
              </a:rPr>
              <a:t>Snowflake</a:t>
            </a:r>
            <a:endParaRPr sz="2400" dirty="0">
              <a:latin typeface="Calibri"/>
              <a:cs typeface="Calibri"/>
            </a:endParaRPr>
          </a:p>
          <a:p>
            <a:pPr marL="1527348" indent="-380990">
              <a:spcBef>
                <a:spcPts val="2513"/>
              </a:spcBef>
              <a:buClr>
                <a:srgbClr val="99D3FF"/>
              </a:buClr>
              <a:buFont typeface="Wingdings"/>
              <a:buChar char=""/>
              <a:tabLst>
                <a:tab pos="1527348" algn="l"/>
              </a:tabLst>
            </a:pPr>
            <a:r>
              <a:rPr sz="2400" b="1" dirty="0">
                <a:solidFill>
                  <a:srgbClr val="D9D9D9"/>
                </a:solidFill>
                <a:latin typeface="Calibri"/>
                <a:cs typeface="Calibri"/>
              </a:rPr>
              <a:t>Amazon</a:t>
            </a:r>
            <a:r>
              <a:rPr sz="2400" b="1" spc="-47" dirty="0">
                <a:solidFill>
                  <a:srgbClr val="D9D9D9"/>
                </a:solidFill>
                <a:latin typeface="Calibri"/>
                <a:cs typeface="Calibri"/>
              </a:rPr>
              <a:t> </a:t>
            </a:r>
            <a:r>
              <a:rPr sz="2400" b="1" spc="-13" dirty="0">
                <a:solidFill>
                  <a:srgbClr val="D9D9D9"/>
                </a:solidFill>
                <a:latin typeface="Calibri"/>
                <a:cs typeface="Calibri"/>
              </a:rPr>
              <a:t>Redshift</a:t>
            </a:r>
            <a:endParaRPr sz="2400" dirty="0">
              <a:latin typeface="Calibri"/>
              <a:cs typeface="Calibri"/>
            </a:endParaRPr>
          </a:p>
          <a:p>
            <a:pPr marL="1528195" indent="-381837">
              <a:spcBef>
                <a:spcPts val="2513"/>
              </a:spcBef>
              <a:buClr>
                <a:srgbClr val="99D3FF"/>
              </a:buClr>
              <a:buFont typeface="Wingdings"/>
              <a:buChar char=""/>
              <a:tabLst>
                <a:tab pos="1528195" algn="l"/>
              </a:tabLst>
            </a:pPr>
            <a:r>
              <a:rPr sz="2400" b="1" dirty="0">
                <a:solidFill>
                  <a:srgbClr val="D9D9D9"/>
                </a:solidFill>
                <a:latin typeface="Calibri"/>
                <a:cs typeface="Calibri"/>
              </a:rPr>
              <a:t>Azure</a:t>
            </a:r>
            <a:r>
              <a:rPr sz="2400" b="1" spc="-33" dirty="0">
                <a:solidFill>
                  <a:srgbClr val="D9D9D9"/>
                </a:solidFill>
                <a:latin typeface="Calibri"/>
                <a:cs typeface="Calibri"/>
              </a:rPr>
              <a:t> </a:t>
            </a:r>
            <a:r>
              <a:rPr sz="2400" b="1" spc="-13" dirty="0">
                <a:solidFill>
                  <a:srgbClr val="D9D9D9"/>
                </a:solidFill>
                <a:latin typeface="Calibri"/>
                <a:cs typeface="Calibri"/>
              </a:rPr>
              <a:t>Synapse</a:t>
            </a:r>
            <a:endParaRPr sz="2400" dirty="0">
              <a:latin typeface="Calibri"/>
              <a:cs typeface="Calibri"/>
            </a:endParaRPr>
          </a:p>
          <a:p>
            <a:pPr marL="1527348" indent="-380990">
              <a:spcBef>
                <a:spcPts val="2452"/>
              </a:spcBef>
              <a:buClr>
                <a:srgbClr val="99D3FF"/>
              </a:buClr>
              <a:buFont typeface="Wingdings"/>
              <a:buChar char=""/>
              <a:tabLst>
                <a:tab pos="1527348" algn="l"/>
              </a:tabLst>
            </a:pPr>
            <a:r>
              <a:rPr sz="2400" b="1" dirty="0">
                <a:solidFill>
                  <a:srgbClr val="D9D9D9"/>
                </a:solidFill>
                <a:latin typeface="Calibri"/>
                <a:cs typeface="Calibri"/>
              </a:rPr>
              <a:t>Google</a:t>
            </a:r>
            <a:r>
              <a:rPr sz="2400" b="1" spc="-53" dirty="0">
                <a:solidFill>
                  <a:srgbClr val="D9D9D9"/>
                </a:solidFill>
                <a:latin typeface="Calibri"/>
                <a:cs typeface="Calibri"/>
              </a:rPr>
              <a:t> </a:t>
            </a:r>
            <a:r>
              <a:rPr sz="2400" b="1" dirty="0">
                <a:solidFill>
                  <a:srgbClr val="D9D9D9"/>
                </a:solidFill>
                <a:latin typeface="Calibri"/>
                <a:cs typeface="Calibri"/>
              </a:rPr>
              <a:t>Big</a:t>
            </a:r>
            <a:r>
              <a:rPr sz="2400" b="1" spc="-20" dirty="0">
                <a:solidFill>
                  <a:srgbClr val="D9D9D9"/>
                </a:solidFill>
                <a:latin typeface="Calibri"/>
                <a:cs typeface="Calibri"/>
              </a:rPr>
              <a:t> </a:t>
            </a:r>
            <a:r>
              <a:rPr sz="2400" b="1" spc="-13" dirty="0">
                <a:solidFill>
                  <a:srgbClr val="D9D9D9"/>
                </a:solidFill>
                <a:latin typeface="Calibri"/>
                <a:cs typeface="Calibri"/>
              </a:rPr>
              <a:t>Query</a:t>
            </a:r>
            <a:endParaRPr sz="2400" dirty="0">
              <a:latin typeface="Calibri"/>
              <a:cs typeface="Calibri"/>
            </a:endParaRPr>
          </a:p>
        </p:txBody>
      </p:sp>
    </p:spTree>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95768" y="446671"/>
            <a:ext cx="6583680" cy="590697"/>
          </a:xfrm>
          <a:prstGeom prst="rect">
            <a:avLst/>
          </a:prstGeom>
        </p:spPr>
        <p:txBody>
          <a:bodyPr vert="horz" wrap="square" lIns="0" tIns="16087" rIns="0" bIns="0" rtlCol="0" anchor="ctr">
            <a:spAutoFit/>
          </a:bodyPr>
          <a:lstStyle/>
          <a:p>
            <a:pPr marL="16933">
              <a:lnSpc>
                <a:spcPct val="100000"/>
              </a:lnSpc>
              <a:spcBef>
                <a:spcPts val="127"/>
              </a:spcBef>
            </a:pPr>
            <a:r>
              <a:rPr sz="3733" dirty="0">
                <a:solidFill>
                  <a:schemeClr val="bg1"/>
                </a:solidFill>
                <a:latin typeface="+mn-lt"/>
              </a:rPr>
              <a:t>Massive</a:t>
            </a:r>
            <a:r>
              <a:rPr sz="3733" spc="-80" dirty="0">
                <a:solidFill>
                  <a:schemeClr val="bg1"/>
                </a:solidFill>
                <a:latin typeface="+mn-lt"/>
              </a:rPr>
              <a:t> </a:t>
            </a:r>
            <a:r>
              <a:rPr sz="3733" dirty="0">
                <a:solidFill>
                  <a:schemeClr val="bg1"/>
                </a:solidFill>
                <a:latin typeface="+mn-lt"/>
              </a:rPr>
              <a:t>parallel</a:t>
            </a:r>
            <a:r>
              <a:rPr sz="3733" spc="-100" dirty="0">
                <a:solidFill>
                  <a:schemeClr val="bg1"/>
                </a:solidFill>
                <a:latin typeface="+mn-lt"/>
              </a:rPr>
              <a:t> </a:t>
            </a:r>
            <a:r>
              <a:rPr sz="3733" dirty="0">
                <a:solidFill>
                  <a:schemeClr val="bg1"/>
                </a:solidFill>
                <a:latin typeface="+mn-lt"/>
              </a:rPr>
              <a:t>processing</a:t>
            </a:r>
            <a:r>
              <a:rPr sz="3733" spc="-67" dirty="0">
                <a:solidFill>
                  <a:schemeClr val="bg1"/>
                </a:solidFill>
                <a:latin typeface="+mn-lt"/>
              </a:rPr>
              <a:t> </a:t>
            </a:r>
            <a:r>
              <a:rPr sz="3733" spc="-13" dirty="0">
                <a:solidFill>
                  <a:schemeClr val="bg1"/>
                </a:solidFill>
                <a:latin typeface="+mn-lt"/>
              </a:rPr>
              <a:t>(MPP)</a:t>
            </a:r>
            <a:endParaRPr sz="3733" dirty="0">
              <a:solidFill>
                <a:schemeClr val="bg1"/>
              </a:solidFill>
              <a:latin typeface="+mn-lt"/>
            </a:endParaRPr>
          </a:p>
        </p:txBody>
      </p:sp>
      <p:sp>
        <p:nvSpPr>
          <p:cNvPr id="3" name="object 3"/>
          <p:cNvSpPr/>
          <p:nvPr/>
        </p:nvSpPr>
        <p:spPr>
          <a:xfrm>
            <a:off x="6044268" y="2376946"/>
            <a:ext cx="326813" cy="326813"/>
          </a:xfrm>
          <a:custGeom>
            <a:avLst/>
            <a:gdLst/>
            <a:ahLst/>
            <a:cxnLst/>
            <a:rect l="l" t="t" r="r" b="b"/>
            <a:pathLst>
              <a:path w="245110" h="245110">
                <a:moveTo>
                  <a:pt x="244737" y="0"/>
                </a:moveTo>
                <a:lnTo>
                  <a:pt x="0" y="0"/>
                </a:lnTo>
                <a:lnTo>
                  <a:pt x="0" y="244947"/>
                </a:lnTo>
                <a:lnTo>
                  <a:pt x="244737" y="244947"/>
                </a:lnTo>
                <a:lnTo>
                  <a:pt x="244737" y="0"/>
                </a:lnTo>
                <a:close/>
              </a:path>
            </a:pathLst>
          </a:custGeom>
          <a:solidFill>
            <a:srgbClr val="66BEFF"/>
          </a:solidFill>
        </p:spPr>
        <p:txBody>
          <a:bodyPr wrap="square" lIns="0" tIns="0" rIns="0" bIns="0" rtlCol="0"/>
          <a:lstStyle/>
          <a:p>
            <a:endParaRPr sz="2400"/>
          </a:p>
        </p:txBody>
      </p:sp>
      <p:grpSp>
        <p:nvGrpSpPr>
          <p:cNvPr id="4" name="object 4"/>
          <p:cNvGrpSpPr/>
          <p:nvPr/>
        </p:nvGrpSpPr>
        <p:grpSpPr>
          <a:xfrm>
            <a:off x="2930143" y="1769871"/>
            <a:ext cx="4284133" cy="1475740"/>
            <a:chOff x="2197607" y="1327403"/>
            <a:chExt cx="3213100" cy="1106805"/>
          </a:xfrm>
        </p:grpSpPr>
        <p:sp>
          <p:nvSpPr>
            <p:cNvPr id="5" name="object 5"/>
            <p:cNvSpPr/>
            <p:nvPr/>
          </p:nvSpPr>
          <p:spPr>
            <a:xfrm>
              <a:off x="2210561" y="1340357"/>
              <a:ext cx="3187065" cy="1080770"/>
            </a:xfrm>
            <a:custGeom>
              <a:avLst/>
              <a:gdLst/>
              <a:ahLst/>
              <a:cxnLst/>
              <a:rect l="l" t="t" r="r" b="b"/>
              <a:pathLst>
                <a:path w="3187065" h="1080770">
                  <a:moveTo>
                    <a:pt x="3006598" y="0"/>
                  </a:moveTo>
                  <a:lnTo>
                    <a:pt x="180086" y="0"/>
                  </a:lnTo>
                  <a:lnTo>
                    <a:pt x="132218" y="6434"/>
                  </a:lnTo>
                  <a:lnTo>
                    <a:pt x="89201" y="24590"/>
                  </a:lnTo>
                  <a:lnTo>
                    <a:pt x="52752" y="52752"/>
                  </a:lnTo>
                  <a:lnTo>
                    <a:pt x="24590" y="89201"/>
                  </a:lnTo>
                  <a:lnTo>
                    <a:pt x="6434" y="132218"/>
                  </a:lnTo>
                  <a:lnTo>
                    <a:pt x="0" y="180086"/>
                  </a:lnTo>
                  <a:lnTo>
                    <a:pt x="0" y="900429"/>
                  </a:lnTo>
                  <a:lnTo>
                    <a:pt x="6434" y="948297"/>
                  </a:lnTo>
                  <a:lnTo>
                    <a:pt x="24590" y="991314"/>
                  </a:lnTo>
                  <a:lnTo>
                    <a:pt x="52752" y="1027763"/>
                  </a:lnTo>
                  <a:lnTo>
                    <a:pt x="89201" y="1055925"/>
                  </a:lnTo>
                  <a:lnTo>
                    <a:pt x="132218" y="1074081"/>
                  </a:lnTo>
                  <a:lnTo>
                    <a:pt x="180086" y="1080515"/>
                  </a:lnTo>
                  <a:lnTo>
                    <a:pt x="3006598" y="1080515"/>
                  </a:lnTo>
                  <a:lnTo>
                    <a:pt x="3054465" y="1074081"/>
                  </a:lnTo>
                  <a:lnTo>
                    <a:pt x="3097482" y="1055925"/>
                  </a:lnTo>
                  <a:lnTo>
                    <a:pt x="3133931" y="1027763"/>
                  </a:lnTo>
                  <a:lnTo>
                    <a:pt x="3162093" y="991314"/>
                  </a:lnTo>
                  <a:lnTo>
                    <a:pt x="3180249" y="948297"/>
                  </a:lnTo>
                  <a:lnTo>
                    <a:pt x="3186684" y="900429"/>
                  </a:lnTo>
                  <a:lnTo>
                    <a:pt x="3186684" y="180086"/>
                  </a:lnTo>
                  <a:lnTo>
                    <a:pt x="3180249" y="132218"/>
                  </a:lnTo>
                  <a:lnTo>
                    <a:pt x="3162093" y="89201"/>
                  </a:lnTo>
                  <a:lnTo>
                    <a:pt x="3133931" y="52752"/>
                  </a:lnTo>
                  <a:lnTo>
                    <a:pt x="3097482" y="24590"/>
                  </a:lnTo>
                  <a:lnTo>
                    <a:pt x="3054465" y="6434"/>
                  </a:lnTo>
                  <a:lnTo>
                    <a:pt x="3006598" y="0"/>
                  </a:lnTo>
                  <a:close/>
                </a:path>
              </a:pathLst>
            </a:custGeom>
            <a:solidFill>
              <a:srgbClr val="434343"/>
            </a:solidFill>
          </p:spPr>
          <p:txBody>
            <a:bodyPr wrap="square" lIns="0" tIns="0" rIns="0" bIns="0" rtlCol="0"/>
            <a:lstStyle/>
            <a:p>
              <a:endParaRPr sz="2400"/>
            </a:p>
          </p:txBody>
        </p:sp>
        <p:sp>
          <p:nvSpPr>
            <p:cNvPr id="6" name="object 6"/>
            <p:cNvSpPr/>
            <p:nvPr/>
          </p:nvSpPr>
          <p:spPr>
            <a:xfrm>
              <a:off x="2210561" y="1340357"/>
              <a:ext cx="3187065" cy="1080770"/>
            </a:xfrm>
            <a:custGeom>
              <a:avLst/>
              <a:gdLst/>
              <a:ahLst/>
              <a:cxnLst/>
              <a:rect l="l" t="t" r="r" b="b"/>
              <a:pathLst>
                <a:path w="3187065" h="1080770">
                  <a:moveTo>
                    <a:pt x="0" y="180086"/>
                  </a:moveTo>
                  <a:lnTo>
                    <a:pt x="6434" y="132218"/>
                  </a:lnTo>
                  <a:lnTo>
                    <a:pt x="24590" y="89201"/>
                  </a:lnTo>
                  <a:lnTo>
                    <a:pt x="52752" y="52752"/>
                  </a:lnTo>
                  <a:lnTo>
                    <a:pt x="89201" y="24590"/>
                  </a:lnTo>
                  <a:lnTo>
                    <a:pt x="132218" y="6434"/>
                  </a:lnTo>
                  <a:lnTo>
                    <a:pt x="180086" y="0"/>
                  </a:lnTo>
                  <a:lnTo>
                    <a:pt x="3006598" y="0"/>
                  </a:lnTo>
                  <a:lnTo>
                    <a:pt x="3054465" y="6434"/>
                  </a:lnTo>
                  <a:lnTo>
                    <a:pt x="3097482" y="24590"/>
                  </a:lnTo>
                  <a:lnTo>
                    <a:pt x="3133931" y="52752"/>
                  </a:lnTo>
                  <a:lnTo>
                    <a:pt x="3162093" y="89201"/>
                  </a:lnTo>
                  <a:lnTo>
                    <a:pt x="3180249" y="132218"/>
                  </a:lnTo>
                  <a:lnTo>
                    <a:pt x="3186684" y="180086"/>
                  </a:lnTo>
                  <a:lnTo>
                    <a:pt x="3186684" y="900429"/>
                  </a:lnTo>
                  <a:lnTo>
                    <a:pt x="3180249" y="948297"/>
                  </a:lnTo>
                  <a:lnTo>
                    <a:pt x="3162093" y="991314"/>
                  </a:lnTo>
                  <a:lnTo>
                    <a:pt x="3133931" y="1027763"/>
                  </a:lnTo>
                  <a:lnTo>
                    <a:pt x="3097482" y="1055925"/>
                  </a:lnTo>
                  <a:lnTo>
                    <a:pt x="3054465" y="1074081"/>
                  </a:lnTo>
                  <a:lnTo>
                    <a:pt x="3006598" y="1080515"/>
                  </a:lnTo>
                  <a:lnTo>
                    <a:pt x="180086" y="1080515"/>
                  </a:lnTo>
                  <a:lnTo>
                    <a:pt x="132218" y="1074081"/>
                  </a:lnTo>
                  <a:lnTo>
                    <a:pt x="89201" y="1055925"/>
                  </a:lnTo>
                  <a:lnTo>
                    <a:pt x="52752" y="1027763"/>
                  </a:lnTo>
                  <a:lnTo>
                    <a:pt x="24590" y="991314"/>
                  </a:lnTo>
                  <a:lnTo>
                    <a:pt x="6434" y="948297"/>
                  </a:lnTo>
                  <a:lnTo>
                    <a:pt x="0" y="900429"/>
                  </a:lnTo>
                  <a:lnTo>
                    <a:pt x="0" y="180086"/>
                  </a:lnTo>
                  <a:close/>
                </a:path>
              </a:pathLst>
            </a:custGeom>
            <a:ln w="25908">
              <a:solidFill>
                <a:srgbClr val="3B3B3B"/>
              </a:solidFill>
            </a:ln>
          </p:spPr>
          <p:txBody>
            <a:bodyPr wrap="square" lIns="0" tIns="0" rIns="0" bIns="0" rtlCol="0"/>
            <a:lstStyle/>
            <a:p>
              <a:endParaRPr sz="2400"/>
            </a:p>
          </p:txBody>
        </p:sp>
        <p:sp>
          <p:nvSpPr>
            <p:cNvPr id="7" name="object 7"/>
            <p:cNvSpPr/>
            <p:nvPr/>
          </p:nvSpPr>
          <p:spPr>
            <a:xfrm>
              <a:off x="3317620" y="1790191"/>
              <a:ext cx="880744" cy="228600"/>
            </a:xfrm>
            <a:custGeom>
              <a:avLst/>
              <a:gdLst/>
              <a:ahLst/>
              <a:cxnLst/>
              <a:rect l="l" t="t" r="r" b="b"/>
              <a:pathLst>
                <a:path w="880745" h="228600">
                  <a:moveTo>
                    <a:pt x="805104" y="75946"/>
                  </a:moveTo>
                  <a:lnTo>
                    <a:pt x="689990" y="75946"/>
                  </a:lnTo>
                  <a:lnTo>
                    <a:pt x="690371" y="152146"/>
                  </a:lnTo>
                  <a:lnTo>
                    <a:pt x="652186" y="152314"/>
                  </a:lnTo>
                  <a:lnTo>
                    <a:pt x="652526" y="228600"/>
                  </a:lnTo>
                  <a:lnTo>
                    <a:pt x="880617" y="113284"/>
                  </a:lnTo>
                  <a:lnTo>
                    <a:pt x="805104" y="75946"/>
                  </a:lnTo>
                  <a:close/>
                </a:path>
                <a:path w="880745" h="228600">
                  <a:moveTo>
                    <a:pt x="651848" y="76114"/>
                  </a:moveTo>
                  <a:lnTo>
                    <a:pt x="0" y="78994"/>
                  </a:lnTo>
                  <a:lnTo>
                    <a:pt x="243" y="152146"/>
                  </a:lnTo>
                  <a:lnTo>
                    <a:pt x="253" y="155194"/>
                  </a:lnTo>
                  <a:lnTo>
                    <a:pt x="652186" y="152314"/>
                  </a:lnTo>
                  <a:lnTo>
                    <a:pt x="651861" y="78994"/>
                  </a:lnTo>
                  <a:lnTo>
                    <a:pt x="651848" y="76114"/>
                  </a:lnTo>
                  <a:close/>
                </a:path>
                <a:path w="880745" h="228600">
                  <a:moveTo>
                    <a:pt x="689990" y="75946"/>
                  </a:moveTo>
                  <a:lnTo>
                    <a:pt x="651848" y="76114"/>
                  </a:lnTo>
                  <a:lnTo>
                    <a:pt x="652186" y="152146"/>
                  </a:lnTo>
                  <a:lnTo>
                    <a:pt x="652186" y="152314"/>
                  </a:lnTo>
                  <a:lnTo>
                    <a:pt x="690371" y="152146"/>
                  </a:lnTo>
                  <a:lnTo>
                    <a:pt x="690006" y="78994"/>
                  </a:lnTo>
                  <a:lnTo>
                    <a:pt x="689990" y="75946"/>
                  </a:lnTo>
                  <a:close/>
                </a:path>
                <a:path w="880745" h="228600">
                  <a:moveTo>
                    <a:pt x="651509" y="0"/>
                  </a:moveTo>
                  <a:lnTo>
                    <a:pt x="651847" y="75946"/>
                  </a:lnTo>
                  <a:lnTo>
                    <a:pt x="651848" y="76114"/>
                  </a:lnTo>
                  <a:lnTo>
                    <a:pt x="805104" y="75946"/>
                  </a:lnTo>
                  <a:lnTo>
                    <a:pt x="651509" y="0"/>
                  </a:lnTo>
                  <a:close/>
                </a:path>
              </a:pathLst>
            </a:custGeom>
            <a:solidFill>
              <a:srgbClr val="00C2FF"/>
            </a:solidFill>
          </p:spPr>
          <p:txBody>
            <a:bodyPr wrap="square" lIns="0" tIns="0" rIns="0" bIns="0" rtlCol="0"/>
            <a:lstStyle/>
            <a:p>
              <a:endParaRPr sz="2400"/>
            </a:p>
          </p:txBody>
        </p:sp>
        <p:sp>
          <p:nvSpPr>
            <p:cNvPr id="8" name="object 8"/>
            <p:cNvSpPr/>
            <p:nvPr/>
          </p:nvSpPr>
          <p:spPr>
            <a:xfrm>
              <a:off x="2485301" y="1547189"/>
              <a:ext cx="2528570" cy="716280"/>
            </a:xfrm>
            <a:custGeom>
              <a:avLst/>
              <a:gdLst/>
              <a:ahLst/>
              <a:cxnLst/>
              <a:rect l="l" t="t" r="r" b="b"/>
              <a:pathLst>
                <a:path w="2528570" h="716280">
                  <a:moveTo>
                    <a:pt x="282384" y="306044"/>
                  </a:moveTo>
                  <a:lnTo>
                    <a:pt x="244729" y="306044"/>
                  </a:lnTo>
                  <a:lnTo>
                    <a:pt x="244729" y="419100"/>
                  </a:lnTo>
                  <a:lnTo>
                    <a:pt x="282384" y="419100"/>
                  </a:lnTo>
                  <a:lnTo>
                    <a:pt x="282384" y="306044"/>
                  </a:lnTo>
                  <a:close/>
                </a:path>
                <a:path w="2528570" h="716280">
                  <a:moveTo>
                    <a:pt x="508292" y="306044"/>
                  </a:moveTo>
                  <a:lnTo>
                    <a:pt x="470649" y="306044"/>
                  </a:lnTo>
                  <a:lnTo>
                    <a:pt x="470649" y="419100"/>
                  </a:lnTo>
                  <a:lnTo>
                    <a:pt x="508292" y="419100"/>
                  </a:lnTo>
                  <a:lnTo>
                    <a:pt x="508292" y="306044"/>
                  </a:lnTo>
                  <a:close/>
                </a:path>
                <a:path w="2528570" h="716280">
                  <a:moveTo>
                    <a:pt x="753046" y="306044"/>
                  </a:moveTo>
                  <a:lnTo>
                    <a:pt x="696556" y="306044"/>
                  </a:lnTo>
                  <a:lnTo>
                    <a:pt x="696556" y="419100"/>
                  </a:lnTo>
                  <a:lnTo>
                    <a:pt x="753046" y="419100"/>
                  </a:lnTo>
                  <a:lnTo>
                    <a:pt x="753046" y="306044"/>
                  </a:lnTo>
                  <a:close/>
                </a:path>
                <a:path w="2528570" h="716280">
                  <a:moveTo>
                    <a:pt x="753046" y="98933"/>
                  </a:moveTo>
                  <a:lnTo>
                    <a:pt x="0" y="98933"/>
                  </a:lnTo>
                  <a:lnTo>
                    <a:pt x="0" y="154838"/>
                  </a:lnTo>
                  <a:lnTo>
                    <a:pt x="0" y="267919"/>
                  </a:lnTo>
                  <a:lnTo>
                    <a:pt x="0" y="626211"/>
                  </a:lnTo>
                  <a:lnTo>
                    <a:pt x="753046" y="626211"/>
                  </a:lnTo>
                  <a:lnTo>
                    <a:pt x="753046" y="570306"/>
                  </a:lnTo>
                  <a:lnTo>
                    <a:pt x="56476" y="570306"/>
                  </a:lnTo>
                  <a:lnTo>
                    <a:pt x="56476" y="457225"/>
                  </a:lnTo>
                  <a:lnTo>
                    <a:pt x="244729" y="457225"/>
                  </a:lnTo>
                  <a:lnTo>
                    <a:pt x="244729" y="569836"/>
                  </a:lnTo>
                  <a:lnTo>
                    <a:pt x="282384" y="569836"/>
                  </a:lnTo>
                  <a:lnTo>
                    <a:pt x="282384" y="457225"/>
                  </a:lnTo>
                  <a:lnTo>
                    <a:pt x="470649" y="457225"/>
                  </a:lnTo>
                  <a:lnTo>
                    <a:pt x="470649" y="569836"/>
                  </a:lnTo>
                  <a:lnTo>
                    <a:pt x="508292" y="569836"/>
                  </a:lnTo>
                  <a:lnTo>
                    <a:pt x="508292" y="457225"/>
                  </a:lnTo>
                  <a:lnTo>
                    <a:pt x="696556" y="457225"/>
                  </a:lnTo>
                  <a:lnTo>
                    <a:pt x="696556" y="569836"/>
                  </a:lnTo>
                  <a:lnTo>
                    <a:pt x="753046" y="569836"/>
                  </a:lnTo>
                  <a:lnTo>
                    <a:pt x="753046" y="457225"/>
                  </a:lnTo>
                  <a:lnTo>
                    <a:pt x="753046" y="456780"/>
                  </a:lnTo>
                  <a:lnTo>
                    <a:pt x="753046" y="419112"/>
                  </a:lnTo>
                  <a:lnTo>
                    <a:pt x="56476" y="419112"/>
                  </a:lnTo>
                  <a:lnTo>
                    <a:pt x="56476" y="306031"/>
                  </a:lnTo>
                  <a:lnTo>
                    <a:pt x="753046" y="306031"/>
                  </a:lnTo>
                  <a:lnTo>
                    <a:pt x="753046" y="268363"/>
                  </a:lnTo>
                  <a:lnTo>
                    <a:pt x="753046" y="267919"/>
                  </a:lnTo>
                  <a:lnTo>
                    <a:pt x="753046" y="155308"/>
                  </a:lnTo>
                  <a:lnTo>
                    <a:pt x="696556" y="155308"/>
                  </a:lnTo>
                  <a:lnTo>
                    <a:pt x="696556" y="267919"/>
                  </a:lnTo>
                  <a:lnTo>
                    <a:pt x="508292" y="267919"/>
                  </a:lnTo>
                  <a:lnTo>
                    <a:pt x="508292" y="155308"/>
                  </a:lnTo>
                  <a:lnTo>
                    <a:pt x="470649" y="155308"/>
                  </a:lnTo>
                  <a:lnTo>
                    <a:pt x="470649" y="267919"/>
                  </a:lnTo>
                  <a:lnTo>
                    <a:pt x="282384" y="267919"/>
                  </a:lnTo>
                  <a:lnTo>
                    <a:pt x="282384" y="155308"/>
                  </a:lnTo>
                  <a:lnTo>
                    <a:pt x="244729" y="155308"/>
                  </a:lnTo>
                  <a:lnTo>
                    <a:pt x="244729" y="267919"/>
                  </a:lnTo>
                  <a:lnTo>
                    <a:pt x="56476" y="267919"/>
                  </a:lnTo>
                  <a:lnTo>
                    <a:pt x="56476" y="154838"/>
                  </a:lnTo>
                  <a:lnTo>
                    <a:pt x="753046" y="154838"/>
                  </a:lnTo>
                  <a:lnTo>
                    <a:pt x="753046" y="98933"/>
                  </a:lnTo>
                  <a:close/>
                </a:path>
                <a:path w="2528570" h="716280">
                  <a:moveTo>
                    <a:pt x="1878457" y="527583"/>
                  </a:moveTo>
                  <a:lnTo>
                    <a:pt x="1812569" y="527583"/>
                  </a:lnTo>
                  <a:lnTo>
                    <a:pt x="1812569" y="565264"/>
                  </a:lnTo>
                  <a:lnTo>
                    <a:pt x="1878457" y="565264"/>
                  </a:lnTo>
                  <a:lnTo>
                    <a:pt x="1878457" y="527583"/>
                  </a:lnTo>
                  <a:close/>
                </a:path>
                <a:path w="2528570" h="716280">
                  <a:moveTo>
                    <a:pt x="1878457" y="452208"/>
                  </a:moveTo>
                  <a:lnTo>
                    <a:pt x="1812569" y="452208"/>
                  </a:lnTo>
                  <a:lnTo>
                    <a:pt x="1812569" y="489889"/>
                  </a:lnTo>
                  <a:lnTo>
                    <a:pt x="1878457" y="489889"/>
                  </a:lnTo>
                  <a:lnTo>
                    <a:pt x="1878457" y="452208"/>
                  </a:lnTo>
                  <a:close/>
                </a:path>
                <a:path w="2528570" h="716280">
                  <a:moveTo>
                    <a:pt x="1878457" y="376847"/>
                  </a:moveTo>
                  <a:lnTo>
                    <a:pt x="1812569" y="376847"/>
                  </a:lnTo>
                  <a:lnTo>
                    <a:pt x="1812569" y="414528"/>
                  </a:lnTo>
                  <a:lnTo>
                    <a:pt x="1878457" y="414528"/>
                  </a:lnTo>
                  <a:lnTo>
                    <a:pt x="1878457" y="376847"/>
                  </a:lnTo>
                  <a:close/>
                </a:path>
                <a:path w="2528570" h="716280">
                  <a:moveTo>
                    <a:pt x="1878457" y="301472"/>
                  </a:moveTo>
                  <a:lnTo>
                    <a:pt x="1812569" y="301472"/>
                  </a:lnTo>
                  <a:lnTo>
                    <a:pt x="1812569" y="339153"/>
                  </a:lnTo>
                  <a:lnTo>
                    <a:pt x="1878457" y="339153"/>
                  </a:lnTo>
                  <a:lnTo>
                    <a:pt x="1878457" y="301472"/>
                  </a:lnTo>
                  <a:close/>
                </a:path>
                <a:path w="2528570" h="716280">
                  <a:moveTo>
                    <a:pt x="1878457" y="226110"/>
                  </a:moveTo>
                  <a:lnTo>
                    <a:pt x="1812569" y="226110"/>
                  </a:lnTo>
                  <a:lnTo>
                    <a:pt x="1812569" y="263791"/>
                  </a:lnTo>
                  <a:lnTo>
                    <a:pt x="1878457" y="263791"/>
                  </a:lnTo>
                  <a:lnTo>
                    <a:pt x="1878457" y="226110"/>
                  </a:lnTo>
                  <a:close/>
                </a:path>
                <a:path w="2528570" h="716280">
                  <a:moveTo>
                    <a:pt x="1878457" y="150736"/>
                  </a:moveTo>
                  <a:lnTo>
                    <a:pt x="1812569" y="150736"/>
                  </a:lnTo>
                  <a:lnTo>
                    <a:pt x="1812569" y="188417"/>
                  </a:lnTo>
                  <a:lnTo>
                    <a:pt x="1878457" y="188417"/>
                  </a:lnTo>
                  <a:lnTo>
                    <a:pt x="1878457" y="150736"/>
                  </a:lnTo>
                  <a:close/>
                </a:path>
                <a:path w="2528570" h="716280">
                  <a:moveTo>
                    <a:pt x="2000834" y="650049"/>
                  </a:moveTo>
                  <a:lnTo>
                    <a:pt x="1963178" y="650049"/>
                  </a:lnTo>
                  <a:lnTo>
                    <a:pt x="1963178" y="716000"/>
                  </a:lnTo>
                  <a:lnTo>
                    <a:pt x="2000834" y="716000"/>
                  </a:lnTo>
                  <a:lnTo>
                    <a:pt x="2000834" y="650049"/>
                  </a:lnTo>
                  <a:close/>
                </a:path>
                <a:path w="2528570" h="716280">
                  <a:moveTo>
                    <a:pt x="2000834" y="0"/>
                  </a:moveTo>
                  <a:lnTo>
                    <a:pt x="1963178" y="0"/>
                  </a:lnTo>
                  <a:lnTo>
                    <a:pt x="1963178" y="65951"/>
                  </a:lnTo>
                  <a:lnTo>
                    <a:pt x="2000834" y="65951"/>
                  </a:lnTo>
                  <a:lnTo>
                    <a:pt x="2000834" y="0"/>
                  </a:lnTo>
                  <a:close/>
                </a:path>
                <a:path w="2528570" h="716280">
                  <a:moveTo>
                    <a:pt x="2076132" y="650049"/>
                  </a:moveTo>
                  <a:lnTo>
                    <a:pt x="2038477" y="650049"/>
                  </a:lnTo>
                  <a:lnTo>
                    <a:pt x="2038477" y="716000"/>
                  </a:lnTo>
                  <a:lnTo>
                    <a:pt x="2076132" y="716000"/>
                  </a:lnTo>
                  <a:lnTo>
                    <a:pt x="2076132" y="650049"/>
                  </a:lnTo>
                  <a:close/>
                </a:path>
                <a:path w="2528570" h="716280">
                  <a:moveTo>
                    <a:pt x="2076132" y="0"/>
                  </a:moveTo>
                  <a:lnTo>
                    <a:pt x="2038477" y="0"/>
                  </a:lnTo>
                  <a:lnTo>
                    <a:pt x="2038477" y="65951"/>
                  </a:lnTo>
                  <a:lnTo>
                    <a:pt x="2076132" y="65951"/>
                  </a:lnTo>
                  <a:lnTo>
                    <a:pt x="2076132" y="0"/>
                  </a:lnTo>
                  <a:close/>
                </a:path>
                <a:path w="2528570" h="716280">
                  <a:moveTo>
                    <a:pt x="2151443" y="650049"/>
                  </a:moveTo>
                  <a:lnTo>
                    <a:pt x="2113788" y="650049"/>
                  </a:lnTo>
                  <a:lnTo>
                    <a:pt x="2113788" y="716000"/>
                  </a:lnTo>
                  <a:lnTo>
                    <a:pt x="2151443" y="716000"/>
                  </a:lnTo>
                  <a:lnTo>
                    <a:pt x="2151443" y="650049"/>
                  </a:lnTo>
                  <a:close/>
                </a:path>
                <a:path w="2528570" h="716280">
                  <a:moveTo>
                    <a:pt x="2151443" y="0"/>
                  </a:moveTo>
                  <a:lnTo>
                    <a:pt x="2113788" y="0"/>
                  </a:lnTo>
                  <a:lnTo>
                    <a:pt x="2113788" y="65951"/>
                  </a:lnTo>
                  <a:lnTo>
                    <a:pt x="2151443" y="65951"/>
                  </a:lnTo>
                  <a:lnTo>
                    <a:pt x="2151443" y="0"/>
                  </a:lnTo>
                  <a:close/>
                </a:path>
                <a:path w="2528570" h="716280">
                  <a:moveTo>
                    <a:pt x="2226741" y="650049"/>
                  </a:moveTo>
                  <a:lnTo>
                    <a:pt x="2189086" y="650049"/>
                  </a:lnTo>
                  <a:lnTo>
                    <a:pt x="2189086" y="716000"/>
                  </a:lnTo>
                  <a:lnTo>
                    <a:pt x="2226741" y="716000"/>
                  </a:lnTo>
                  <a:lnTo>
                    <a:pt x="2226741" y="650049"/>
                  </a:lnTo>
                  <a:close/>
                </a:path>
                <a:path w="2528570" h="716280">
                  <a:moveTo>
                    <a:pt x="2226741" y="0"/>
                  </a:moveTo>
                  <a:lnTo>
                    <a:pt x="2189086" y="0"/>
                  </a:lnTo>
                  <a:lnTo>
                    <a:pt x="2189086" y="65951"/>
                  </a:lnTo>
                  <a:lnTo>
                    <a:pt x="2226741" y="65951"/>
                  </a:lnTo>
                  <a:lnTo>
                    <a:pt x="2226741" y="0"/>
                  </a:lnTo>
                  <a:close/>
                </a:path>
                <a:path w="2528570" h="716280">
                  <a:moveTo>
                    <a:pt x="2302040" y="650049"/>
                  </a:moveTo>
                  <a:lnTo>
                    <a:pt x="2264397" y="650049"/>
                  </a:lnTo>
                  <a:lnTo>
                    <a:pt x="2264397" y="716000"/>
                  </a:lnTo>
                  <a:lnTo>
                    <a:pt x="2302040" y="716000"/>
                  </a:lnTo>
                  <a:lnTo>
                    <a:pt x="2302040" y="650049"/>
                  </a:lnTo>
                  <a:close/>
                </a:path>
                <a:path w="2528570" h="716280">
                  <a:moveTo>
                    <a:pt x="2302040" y="0"/>
                  </a:moveTo>
                  <a:lnTo>
                    <a:pt x="2264397" y="0"/>
                  </a:lnTo>
                  <a:lnTo>
                    <a:pt x="2264397" y="65951"/>
                  </a:lnTo>
                  <a:lnTo>
                    <a:pt x="2302040" y="65951"/>
                  </a:lnTo>
                  <a:lnTo>
                    <a:pt x="2302040" y="0"/>
                  </a:lnTo>
                  <a:close/>
                </a:path>
                <a:path w="2528570" h="716280">
                  <a:moveTo>
                    <a:pt x="2377351" y="650049"/>
                  </a:moveTo>
                  <a:lnTo>
                    <a:pt x="2339695" y="650049"/>
                  </a:lnTo>
                  <a:lnTo>
                    <a:pt x="2339695" y="716000"/>
                  </a:lnTo>
                  <a:lnTo>
                    <a:pt x="2377351" y="716000"/>
                  </a:lnTo>
                  <a:lnTo>
                    <a:pt x="2377351" y="650049"/>
                  </a:lnTo>
                  <a:close/>
                </a:path>
                <a:path w="2528570" h="716280">
                  <a:moveTo>
                    <a:pt x="2377351" y="0"/>
                  </a:moveTo>
                  <a:lnTo>
                    <a:pt x="2339695" y="0"/>
                  </a:lnTo>
                  <a:lnTo>
                    <a:pt x="2339695" y="65951"/>
                  </a:lnTo>
                  <a:lnTo>
                    <a:pt x="2377351" y="65951"/>
                  </a:lnTo>
                  <a:lnTo>
                    <a:pt x="2377351" y="0"/>
                  </a:lnTo>
                  <a:close/>
                </a:path>
                <a:path w="2528570" h="716280">
                  <a:moveTo>
                    <a:pt x="2424417" y="141312"/>
                  </a:moveTo>
                  <a:lnTo>
                    <a:pt x="2421458" y="126644"/>
                  </a:lnTo>
                  <a:lnTo>
                    <a:pt x="2413381" y="114668"/>
                  </a:lnTo>
                  <a:lnTo>
                    <a:pt x="2401417" y="106591"/>
                  </a:lnTo>
                  <a:lnTo>
                    <a:pt x="2386761" y="103632"/>
                  </a:lnTo>
                  <a:lnTo>
                    <a:pt x="2330285" y="103632"/>
                  </a:lnTo>
                  <a:lnTo>
                    <a:pt x="2330285" y="197840"/>
                  </a:lnTo>
                  <a:lnTo>
                    <a:pt x="2330285" y="518160"/>
                  </a:lnTo>
                  <a:lnTo>
                    <a:pt x="2010244" y="518160"/>
                  </a:lnTo>
                  <a:lnTo>
                    <a:pt x="2010244" y="197840"/>
                  </a:lnTo>
                  <a:lnTo>
                    <a:pt x="2330285" y="197840"/>
                  </a:lnTo>
                  <a:lnTo>
                    <a:pt x="2330285" y="103632"/>
                  </a:lnTo>
                  <a:lnTo>
                    <a:pt x="1953768" y="103632"/>
                  </a:lnTo>
                  <a:lnTo>
                    <a:pt x="1939112" y="106591"/>
                  </a:lnTo>
                  <a:lnTo>
                    <a:pt x="1927136" y="114668"/>
                  </a:lnTo>
                  <a:lnTo>
                    <a:pt x="1919071" y="126644"/>
                  </a:lnTo>
                  <a:lnTo>
                    <a:pt x="1916112" y="141312"/>
                  </a:lnTo>
                  <a:lnTo>
                    <a:pt x="1916112" y="574687"/>
                  </a:lnTo>
                  <a:lnTo>
                    <a:pt x="1919071" y="589356"/>
                  </a:lnTo>
                  <a:lnTo>
                    <a:pt x="1927136" y="601332"/>
                  </a:lnTo>
                  <a:lnTo>
                    <a:pt x="1939112" y="609409"/>
                  </a:lnTo>
                  <a:lnTo>
                    <a:pt x="1953768" y="612368"/>
                  </a:lnTo>
                  <a:lnTo>
                    <a:pt x="2386761" y="612368"/>
                  </a:lnTo>
                  <a:lnTo>
                    <a:pt x="2401417" y="609409"/>
                  </a:lnTo>
                  <a:lnTo>
                    <a:pt x="2413381" y="601332"/>
                  </a:lnTo>
                  <a:lnTo>
                    <a:pt x="2421458" y="589356"/>
                  </a:lnTo>
                  <a:lnTo>
                    <a:pt x="2424417" y="574687"/>
                  </a:lnTo>
                  <a:lnTo>
                    <a:pt x="2424417" y="518160"/>
                  </a:lnTo>
                  <a:lnTo>
                    <a:pt x="2424417" y="197840"/>
                  </a:lnTo>
                  <a:lnTo>
                    <a:pt x="2424417" y="141312"/>
                  </a:lnTo>
                  <a:close/>
                </a:path>
                <a:path w="2528570" h="716280">
                  <a:moveTo>
                    <a:pt x="2527960" y="527583"/>
                  </a:moveTo>
                  <a:lnTo>
                    <a:pt x="2462060" y="527583"/>
                  </a:lnTo>
                  <a:lnTo>
                    <a:pt x="2462060" y="565264"/>
                  </a:lnTo>
                  <a:lnTo>
                    <a:pt x="2527960" y="565264"/>
                  </a:lnTo>
                  <a:lnTo>
                    <a:pt x="2527960" y="527583"/>
                  </a:lnTo>
                  <a:close/>
                </a:path>
                <a:path w="2528570" h="716280">
                  <a:moveTo>
                    <a:pt x="2527960" y="452208"/>
                  </a:moveTo>
                  <a:lnTo>
                    <a:pt x="2462060" y="452208"/>
                  </a:lnTo>
                  <a:lnTo>
                    <a:pt x="2462060" y="489889"/>
                  </a:lnTo>
                  <a:lnTo>
                    <a:pt x="2527960" y="489889"/>
                  </a:lnTo>
                  <a:lnTo>
                    <a:pt x="2527960" y="452208"/>
                  </a:lnTo>
                  <a:close/>
                </a:path>
                <a:path w="2528570" h="716280">
                  <a:moveTo>
                    <a:pt x="2527960" y="376847"/>
                  </a:moveTo>
                  <a:lnTo>
                    <a:pt x="2462060" y="376847"/>
                  </a:lnTo>
                  <a:lnTo>
                    <a:pt x="2462060" y="414528"/>
                  </a:lnTo>
                  <a:lnTo>
                    <a:pt x="2527960" y="414528"/>
                  </a:lnTo>
                  <a:lnTo>
                    <a:pt x="2527960" y="376847"/>
                  </a:lnTo>
                  <a:close/>
                </a:path>
                <a:path w="2528570" h="716280">
                  <a:moveTo>
                    <a:pt x="2527960" y="301472"/>
                  </a:moveTo>
                  <a:lnTo>
                    <a:pt x="2462060" y="301472"/>
                  </a:lnTo>
                  <a:lnTo>
                    <a:pt x="2462060" y="339153"/>
                  </a:lnTo>
                  <a:lnTo>
                    <a:pt x="2527960" y="339153"/>
                  </a:lnTo>
                  <a:lnTo>
                    <a:pt x="2527960" y="301472"/>
                  </a:lnTo>
                  <a:close/>
                </a:path>
                <a:path w="2528570" h="716280">
                  <a:moveTo>
                    <a:pt x="2527960" y="226110"/>
                  </a:moveTo>
                  <a:lnTo>
                    <a:pt x="2462060" y="226110"/>
                  </a:lnTo>
                  <a:lnTo>
                    <a:pt x="2462060" y="263791"/>
                  </a:lnTo>
                  <a:lnTo>
                    <a:pt x="2527960" y="263791"/>
                  </a:lnTo>
                  <a:lnTo>
                    <a:pt x="2527960" y="226110"/>
                  </a:lnTo>
                  <a:close/>
                </a:path>
                <a:path w="2528570" h="716280">
                  <a:moveTo>
                    <a:pt x="2527960" y="150736"/>
                  </a:moveTo>
                  <a:lnTo>
                    <a:pt x="2462060" y="150736"/>
                  </a:lnTo>
                  <a:lnTo>
                    <a:pt x="2462060" y="188417"/>
                  </a:lnTo>
                  <a:lnTo>
                    <a:pt x="2527960" y="188417"/>
                  </a:lnTo>
                  <a:lnTo>
                    <a:pt x="2527960" y="150736"/>
                  </a:lnTo>
                  <a:close/>
                </a:path>
              </a:pathLst>
            </a:custGeom>
            <a:solidFill>
              <a:srgbClr val="66BEFF"/>
            </a:solidFill>
          </p:spPr>
          <p:txBody>
            <a:bodyPr wrap="square" lIns="0" tIns="0" rIns="0" bIns="0" rtlCol="0"/>
            <a:lstStyle/>
            <a:p>
              <a:endParaRPr sz="2400"/>
            </a:p>
          </p:txBody>
        </p:sp>
      </p:grpSp>
      <p:grpSp>
        <p:nvGrpSpPr>
          <p:cNvPr id="9" name="object 9"/>
          <p:cNvGrpSpPr/>
          <p:nvPr/>
        </p:nvGrpSpPr>
        <p:grpSpPr>
          <a:xfrm>
            <a:off x="7292848" y="2097023"/>
            <a:ext cx="2864273" cy="1054100"/>
            <a:chOff x="5469635" y="1572767"/>
            <a:chExt cx="2148205" cy="790575"/>
          </a:xfrm>
        </p:grpSpPr>
        <p:sp>
          <p:nvSpPr>
            <p:cNvPr id="10" name="object 10"/>
            <p:cNvSpPr/>
            <p:nvPr/>
          </p:nvSpPr>
          <p:spPr>
            <a:xfrm>
              <a:off x="5600699" y="1641347"/>
              <a:ext cx="1884045" cy="524510"/>
            </a:xfrm>
            <a:custGeom>
              <a:avLst/>
              <a:gdLst/>
              <a:ahLst/>
              <a:cxnLst/>
              <a:rect l="l" t="t" r="r" b="b"/>
              <a:pathLst>
                <a:path w="1884045" h="524510">
                  <a:moveTo>
                    <a:pt x="1883663" y="0"/>
                  </a:moveTo>
                  <a:lnTo>
                    <a:pt x="0" y="0"/>
                  </a:lnTo>
                  <a:lnTo>
                    <a:pt x="0" y="524256"/>
                  </a:lnTo>
                  <a:lnTo>
                    <a:pt x="1883663" y="524256"/>
                  </a:lnTo>
                  <a:lnTo>
                    <a:pt x="1883663" y="0"/>
                  </a:lnTo>
                  <a:close/>
                </a:path>
              </a:pathLst>
            </a:custGeom>
            <a:solidFill>
              <a:srgbClr val="99E7FF">
                <a:alpha val="50195"/>
              </a:srgbClr>
            </a:solidFill>
          </p:spPr>
          <p:txBody>
            <a:bodyPr wrap="square" lIns="0" tIns="0" rIns="0" bIns="0" rtlCol="0"/>
            <a:lstStyle/>
            <a:p>
              <a:endParaRPr sz="2400"/>
            </a:p>
          </p:txBody>
        </p:sp>
        <p:pic>
          <p:nvPicPr>
            <p:cNvPr id="11" name="object 11"/>
            <p:cNvPicPr/>
            <p:nvPr/>
          </p:nvPicPr>
          <p:blipFill>
            <a:blip r:embed="rId2" cstate="print"/>
            <a:stretch>
              <a:fillRect/>
            </a:stretch>
          </p:blipFill>
          <p:spPr>
            <a:xfrm>
              <a:off x="5469635" y="1572767"/>
              <a:ext cx="2148077" cy="790193"/>
            </a:xfrm>
            <a:prstGeom prst="rect">
              <a:avLst/>
            </a:prstGeom>
          </p:spPr>
        </p:pic>
      </p:grpSp>
      <p:sp>
        <p:nvSpPr>
          <p:cNvPr id="12" name="object 12"/>
          <p:cNvSpPr txBox="1"/>
          <p:nvPr/>
        </p:nvSpPr>
        <p:spPr>
          <a:xfrm>
            <a:off x="7574279" y="2232151"/>
            <a:ext cx="2277533" cy="590697"/>
          </a:xfrm>
          <a:prstGeom prst="rect">
            <a:avLst/>
          </a:prstGeom>
        </p:spPr>
        <p:txBody>
          <a:bodyPr vert="horz" wrap="square" lIns="0" tIns="16087" rIns="0" bIns="0" rtlCol="0">
            <a:spAutoFit/>
          </a:bodyPr>
          <a:lstStyle/>
          <a:p>
            <a:pPr marL="16933">
              <a:spcBef>
                <a:spcPts val="127"/>
              </a:spcBef>
            </a:pPr>
            <a:r>
              <a:rPr sz="3733" spc="-13" dirty="0">
                <a:solidFill>
                  <a:srgbClr val="FFFFFF"/>
                </a:solidFill>
                <a:latin typeface="Bahnschrift"/>
                <a:cs typeface="Bahnschrift"/>
              </a:rPr>
              <a:t>Traditional</a:t>
            </a:r>
            <a:endParaRPr sz="3733">
              <a:latin typeface="Bahnschrift"/>
              <a:cs typeface="Bahnschrift"/>
            </a:endParaRPr>
          </a:p>
        </p:txBody>
      </p:sp>
    </p:spTree>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190752" y="912300"/>
            <a:ext cx="3636433" cy="1604500"/>
            <a:chOff x="893063" y="684225"/>
            <a:chExt cx="2727325" cy="1203375"/>
          </a:xfrm>
        </p:grpSpPr>
        <p:pic>
          <p:nvPicPr>
            <p:cNvPr id="3" name="object 3"/>
            <p:cNvPicPr/>
            <p:nvPr/>
          </p:nvPicPr>
          <p:blipFill>
            <a:blip r:embed="rId2" cstate="print"/>
            <a:stretch>
              <a:fillRect/>
            </a:stretch>
          </p:blipFill>
          <p:spPr>
            <a:xfrm>
              <a:off x="893063" y="684225"/>
              <a:ext cx="2727325" cy="1203375"/>
            </a:xfrm>
            <a:prstGeom prst="rect">
              <a:avLst/>
            </a:prstGeom>
          </p:spPr>
        </p:pic>
        <p:sp>
          <p:nvSpPr>
            <p:cNvPr id="5" name="object 5"/>
            <p:cNvSpPr/>
            <p:nvPr/>
          </p:nvSpPr>
          <p:spPr>
            <a:xfrm>
              <a:off x="1219961" y="838961"/>
              <a:ext cx="2094230" cy="571500"/>
            </a:xfrm>
            <a:custGeom>
              <a:avLst/>
              <a:gdLst/>
              <a:ahLst/>
              <a:cxnLst/>
              <a:rect l="l" t="t" r="r" b="b"/>
              <a:pathLst>
                <a:path w="2094229" h="571500">
                  <a:moveTo>
                    <a:pt x="0" y="285750"/>
                  </a:moveTo>
                  <a:lnTo>
                    <a:pt x="142875" y="0"/>
                  </a:lnTo>
                  <a:lnTo>
                    <a:pt x="1951101" y="0"/>
                  </a:lnTo>
                  <a:lnTo>
                    <a:pt x="2093976" y="285750"/>
                  </a:lnTo>
                  <a:lnTo>
                    <a:pt x="1951101" y="571500"/>
                  </a:lnTo>
                  <a:lnTo>
                    <a:pt x="142875" y="571500"/>
                  </a:lnTo>
                  <a:lnTo>
                    <a:pt x="0" y="285750"/>
                  </a:lnTo>
                  <a:close/>
                </a:path>
              </a:pathLst>
            </a:custGeom>
            <a:ln w="19812">
              <a:solidFill>
                <a:srgbClr val="00C3FF"/>
              </a:solidFill>
            </a:ln>
          </p:spPr>
          <p:txBody>
            <a:bodyPr wrap="square" lIns="0" tIns="0" rIns="0" bIns="0" rtlCol="0"/>
            <a:lstStyle/>
            <a:p>
              <a:endParaRPr sz="2400"/>
            </a:p>
          </p:txBody>
        </p:sp>
      </p:grpSp>
      <p:sp>
        <p:nvSpPr>
          <p:cNvPr id="6" name="object 6"/>
          <p:cNvSpPr txBox="1"/>
          <p:nvPr/>
        </p:nvSpPr>
        <p:spPr>
          <a:xfrm>
            <a:off x="2464986" y="1298617"/>
            <a:ext cx="1114213" cy="386430"/>
          </a:xfrm>
          <a:prstGeom prst="rect">
            <a:avLst/>
          </a:prstGeom>
        </p:spPr>
        <p:txBody>
          <a:bodyPr vert="horz" wrap="square" lIns="0" tIns="16933" rIns="0" bIns="0" rtlCol="0">
            <a:spAutoFit/>
          </a:bodyPr>
          <a:lstStyle/>
          <a:p>
            <a:pPr marL="16933">
              <a:spcBef>
                <a:spcPts val="133"/>
              </a:spcBef>
            </a:pPr>
            <a:r>
              <a:rPr sz="2400" b="1" spc="-13" dirty="0">
                <a:solidFill>
                  <a:srgbClr val="CCEAFF"/>
                </a:solidFill>
                <a:latin typeface="Calibri"/>
                <a:cs typeface="Calibri"/>
              </a:rPr>
              <a:t>Example</a:t>
            </a:r>
            <a:endParaRPr sz="2400">
              <a:latin typeface="Calibri"/>
              <a:cs typeface="Calibri"/>
            </a:endParaRPr>
          </a:p>
        </p:txBody>
      </p:sp>
      <p:grpSp>
        <p:nvGrpSpPr>
          <p:cNvPr id="7" name="object 7"/>
          <p:cNvGrpSpPr/>
          <p:nvPr/>
        </p:nvGrpSpPr>
        <p:grpSpPr>
          <a:xfrm>
            <a:off x="975359" y="2684272"/>
            <a:ext cx="5539739" cy="1664547"/>
            <a:chOff x="731519" y="2013204"/>
            <a:chExt cx="4154804" cy="1248410"/>
          </a:xfrm>
        </p:grpSpPr>
        <p:pic>
          <p:nvPicPr>
            <p:cNvPr id="8" name="object 8"/>
            <p:cNvPicPr/>
            <p:nvPr/>
          </p:nvPicPr>
          <p:blipFill>
            <a:blip r:embed="rId3" cstate="print"/>
            <a:stretch>
              <a:fillRect/>
            </a:stretch>
          </p:blipFill>
          <p:spPr>
            <a:xfrm>
              <a:off x="757427" y="2039112"/>
              <a:ext cx="4102608" cy="1196339"/>
            </a:xfrm>
            <a:prstGeom prst="rect">
              <a:avLst/>
            </a:prstGeom>
          </p:spPr>
        </p:pic>
        <p:sp>
          <p:nvSpPr>
            <p:cNvPr id="9" name="object 9"/>
            <p:cNvSpPr/>
            <p:nvPr/>
          </p:nvSpPr>
          <p:spPr>
            <a:xfrm>
              <a:off x="744473" y="2026158"/>
              <a:ext cx="4128770" cy="1222375"/>
            </a:xfrm>
            <a:custGeom>
              <a:avLst/>
              <a:gdLst/>
              <a:ahLst/>
              <a:cxnLst/>
              <a:rect l="l" t="t" r="r" b="b"/>
              <a:pathLst>
                <a:path w="4128770" h="1222375">
                  <a:moveTo>
                    <a:pt x="0" y="1222247"/>
                  </a:moveTo>
                  <a:lnTo>
                    <a:pt x="4128516" y="1222247"/>
                  </a:lnTo>
                  <a:lnTo>
                    <a:pt x="4128516" y="0"/>
                  </a:lnTo>
                  <a:lnTo>
                    <a:pt x="0" y="0"/>
                  </a:lnTo>
                  <a:lnTo>
                    <a:pt x="0" y="1222247"/>
                  </a:lnTo>
                  <a:close/>
                </a:path>
              </a:pathLst>
            </a:custGeom>
            <a:ln w="25907">
              <a:solidFill>
                <a:srgbClr val="008FBB"/>
              </a:solidFill>
            </a:ln>
          </p:spPr>
          <p:txBody>
            <a:bodyPr wrap="square" lIns="0" tIns="0" rIns="0" bIns="0" rtlCol="0"/>
            <a:lstStyle/>
            <a:p>
              <a:endParaRPr sz="2400"/>
            </a:p>
          </p:txBody>
        </p:sp>
      </p:grpSp>
      <p:sp>
        <p:nvSpPr>
          <p:cNvPr id="10" name="object 10"/>
          <p:cNvSpPr txBox="1"/>
          <p:nvPr/>
        </p:nvSpPr>
        <p:spPr>
          <a:xfrm>
            <a:off x="6807200" y="2576577"/>
            <a:ext cx="5030304" cy="1390124"/>
          </a:xfrm>
          <a:prstGeom prst="rect">
            <a:avLst/>
          </a:prstGeom>
          <a:solidFill>
            <a:srgbClr val="EDEDED"/>
          </a:solidFill>
        </p:spPr>
        <p:txBody>
          <a:bodyPr vert="horz" wrap="square" lIns="0" tIns="157480" rIns="0" bIns="0" rtlCol="0">
            <a:spAutoFit/>
          </a:bodyPr>
          <a:lstStyle/>
          <a:p>
            <a:pPr>
              <a:spcBef>
                <a:spcPts val="1240"/>
              </a:spcBef>
            </a:pPr>
            <a:endParaRPr sz="1600" dirty="0">
              <a:latin typeface="Times New Roman"/>
              <a:cs typeface="Times New Roman"/>
            </a:endParaRPr>
          </a:p>
          <a:p>
            <a:pPr marL="1220016">
              <a:spcBef>
                <a:spcPts val="7"/>
              </a:spcBef>
            </a:pPr>
            <a:r>
              <a:rPr sz="1600" b="1" spc="-13" dirty="0">
                <a:solidFill>
                  <a:srgbClr val="CC3399"/>
                </a:solidFill>
                <a:latin typeface="Courier New"/>
                <a:cs typeface="Courier New"/>
              </a:rPr>
              <a:t>SELECT</a:t>
            </a:r>
            <a:endParaRPr sz="1600" dirty="0">
              <a:latin typeface="Courier New"/>
              <a:cs typeface="Courier New"/>
            </a:endParaRPr>
          </a:p>
          <a:p>
            <a:pPr marL="1220016"/>
            <a:r>
              <a:rPr sz="1600" spc="-67" dirty="0">
                <a:latin typeface="Courier New"/>
                <a:cs typeface="Courier New"/>
              </a:rPr>
              <a:t>*</a:t>
            </a:r>
            <a:endParaRPr sz="1600" dirty="0">
              <a:latin typeface="Courier New"/>
              <a:cs typeface="Courier New"/>
            </a:endParaRPr>
          </a:p>
          <a:p>
            <a:pPr marL="1220016"/>
            <a:r>
              <a:rPr sz="1600" b="1" dirty="0">
                <a:solidFill>
                  <a:srgbClr val="CC3399"/>
                </a:solidFill>
                <a:latin typeface="Courier New"/>
                <a:cs typeface="Courier New"/>
              </a:rPr>
              <a:t>FROM</a:t>
            </a:r>
            <a:r>
              <a:rPr sz="1600" b="1" spc="-27" dirty="0">
                <a:solidFill>
                  <a:srgbClr val="CC3399"/>
                </a:solidFill>
                <a:latin typeface="Courier New"/>
                <a:cs typeface="Courier New"/>
              </a:rPr>
              <a:t> </a:t>
            </a:r>
            <a:r>
              <a:rPr sz="1600" spc="-13" dirty="0">
                <a:latin typeface="Courier New"/>
                <a:cs typeface="Courier New"/>
              </a:rPr>
              <a:t>sales</a:t>
            </a:r>
            <a:endParaRPr sz="1600" dirty="0">
              <a:latin typeface="Courier New"/>
              <a:cs typeface="Courier New"/>
            </a:endParaRPr>
          </a:p>
          <a:p>
            <a:pPr marL="1220016">
              <a:spcBef>
                <a:spcPts val="27"/>
              </a:spcBef>
            </a:pPr>
            <a:r>
              <a:rPr sz="1600" b="1" dirty="0">
                <a:solidFill>
                  <a:srgbClr val="CC3399"/>
                </a:solidFill>
                <a:latin typeface="Courier New"/>
                <a:cs typeface="Courier New"/>
              </a:rPr>
              <a:t>WHERE</a:t>
            </a:r>
            <a:r>
              <a:rPr sz="1600" b="1" spc="-53" dirty="0">
                <a:solidFill>
                  <a:srgbClr val="CC3399"/>
                </a:solidFill>
                <a:latin typeface="Courier New"/>
                <a:cs typeface="Courier New"/>
              </a:rPr>
              <a:t> </a:t>
            </a:r>
            <a:r>
              <a:rPr sz="1600" dirty="0">
                <a:latin typeface="Courier New"/>
                <a:cs typeface="Courier New"/>
              </a:rPr>
              <a:t>customer_id =</a:t>
            </a:r>
            <a:r>
              <a:rPr sz="1600" spc="-87" dirty="0">
                <a:latin typeface="Courier New"/>
                <a:cs typeface="Courier New"/>
              </a:rPr>
              <a:t> </a:t>
            </a:r>
            <a:r>
              <a:rPr sz="1600" spc="-67" dirty="0">
                <a:latin typeface="Courier New"/>
                <a:cs typeface="Courier New"/>
              </a:rPr>
              <a:t>5</a:t>
            </a:r>
            <a:endParaRPr sz="1600" dirty="0">
              <a:latin typeface="Courier New"/>
              <a:cs typeface="Courier New"/>
            </a:endParaRPr>
          </a:p>
        </p:txBody>
      </p:sp>
      <p:sp>
        <p:nvSpPr>
          <p:cNvPr id="11" name="object 11"/>
          <p:cNvSpPr txBox="1">
            <a:spLocks noGrp="1"/>
          </p:cNvSpPr>
          <p:nvPr>
            <p:ph type="title"/>
          </p:nvPr>
        </p:nvSpPr>
        <p:spPr>
          <a:xfrm>
            <a:off x="2895768" y="446671"/>
            <a:ext cx="6583680" cy="590697"/>
          </a:xfrm>
          <a:prstGeom prst="rect">
            <a:avLst/>
          </a:prstGeom>
        </p:spPr>
        <p:txBody>
          <a:bodyPr vert="horz" wrap="square" lIns="0" tIns="16087" rIns="0" bIns="0" rtlCol="0" anchor="ctr">
            <a:spAutoFit/>
          </a:bodyPr>
          <a:lstStyle/>
          <a:p>
            <a:pPr marL="16933">
              <a:lnSpc>
                <a:spcPct val="100000"/>
              </a:lnSpc>
              <a:spcBef>
                <a:spcPts val="127"/>
              </a:spcBef>
            </a:pPr>
            <a:r>
              <a:rPr sz="3733" dirty="0">
                <a:solidFill>
                  <a:schemeClr val="bg1"/>
                </a:solidFill>
                <a:latin typeface="+mn-lt"/>
              </a:rPr>
              <a:t>Massive</a:t>
            </a:r>
            <a:r>
              <a:rPr sz="3733" spc="-80" dirty="0">
                <a:solidFill>
                  <a:schemeClr val="bg1"/>
                </a:solidFill>
                <a:latin typeface="+mn-lt"/>
              </a:rPr>
              <a:t> </a:t>
            </a:r>
            <a:r>
              <a:rPr sz="3733" dirty="0">
                <a:solidFill>
                  <a:schemeClr val="bg1"/>
                </a:solidFill>
                <a:latin typeface="+mn-lt"/>
              </a:rPr>
              <a:t>parallel</a:t>
            </a:r>
            <a:r>
              <a:rPr sz="3733" spc="-100" dirty="0">
                <a:solidFill>
                  <a:schemeClr val="bg1"/>
                </a:solidFill>
                <a:latin typeface="+mn-lt"/>
              </a:rPr>
              <a:t> </a:t>
            </a:r>
            <a:r>
              <a:rPr sz="3733" dirty="0">
                <a:solidFill>
                  <a:schemeClr val="bg1"/>
                </a:solidFill>
                <a:latin typeface="+mn-lt"/>
              </a:rPr>
              <a:t>processing</a:t>
            </a:r>
            <a:r>
              <a:rPr sz="3733" spc="-67" dirty="0">
                <a:solidFill>
                  <a:schemeClr val="bg1"/>
                </a:solidFill>
                <a:latin typeface="+mn-lt"/>
              </a:rPr>
              <a:t> </a:t>
            </a:r>
            <a:r>
              <a:rPr sz="3733" spc="-13" dirty="0">
                <a:solidFill>
                  <a:schemeClr val="bg1"/>
                </a:solidFill>
                <a:latin typeface="+mn-lt"/>
              </a:rPr>
              <a:t>(MPP)</a:t>
            </a:r>
            <a:endParaRPr sz="3733" dirty="0">
              <a:solidFill>
                <a:schemeClr val="bg1"/>
              </a:solidFill>
              <a:latin typeface="+mn-lt"/>
            </a:endParaRPr>
          </a:p>
        </p:txBody>
      </p:sp>
    </p:spTree>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95768" y="446671"/>
            <a:ext cx="6583680" cy="590697"/>
          </a:xfrm>
          <a:prstGeom prst="rect">
            <a:avLst/>
          </a:prstGeom>
        </p:spPr>
        <p:txBody>
          <a:bodyPr vert="horz" wrap="square" lIns="0" tIns="16087" rIns="0" bIns="0" rtlCol="0" anchor="ctr">
            <a:spAutoFit/>
          </a:bodyPr>
          <a:lstStyle/>
          <a:p>
            <a:pPr marL="16933">
              <a:lnSpc>
                <a:spcPct val="100000"/>
              </a:lnSpc>
              <a:spcBef>
                <a:spcPts val="127"/>
              </a:spcBef>
            </a:pPr>
            <a:r>
              <a:rPr sz="3733" dirty="0">
                <a:solidFill>
                  <a:schemeClr val="bg1"/>
                </a:solidFill>
                <a:latin typeface="+mn-lt"/>
              </a:rPr>
              <a:t>Massive</a:t>
            </a:r>
            <a:r>
              <a:rPr sz="3733" spc="-80" dirty="0">
                <a:solidFill>
                  <a:schemeClr val="bg1"/>
                </a:solidFill>
                <a:latin typeface="+mn-lt"/>
              </a:rPr>
              <a:t> </a:t>
            </a:r>
            <a:r>
              <a:rPr sz="3733" dirty="0">
                <a:solidFill>
                  <a:schemeClr val="bg1"/>
                </a:solidFill>
                <a:latin typeface="+mn-lt"/>
              </a:rPr>
              <a:t>parallel</a:t>
            </a:r>
            <a:r>
              <a:rPr sz="3733" spc="-100" dirty="0">
                <a:solidFill>
                  <a:schemeClr val="bg1"/>
                </a:solidFill>
                <a:latin typeface="+mn-lt"/>
              </a:rPr>
              <a:t> </a:t>
            </a:r>
            <a:r>
              <a:rPr sz="3733" dirty="0">
                <a:solidFill>
                  <a:schemeClr val="bg1"/>
                </a:solidFill>
                <a:latin typeface="+mn-lt"/>
              </a:rPr>
              <a:t>processing</a:t>
            </a:r>
            <a:r>
              <a:rPr sz="3733" spc="-67" dirty="0">
                <a:solidFill>
                  <a:schemeClr val="bg1"/>
                </a:solidFill>
                <a:latin typeface="+mn-lt"/>
              </a:rPr>
              <a:t> </a:t>
            </a:r>
            <a:r>
              <a:rPr sz="3733" spc="-13" dirty="0">
                <a:solidFill>
                  <a:schemeClr val="bg1"/>
                </a:solidFill>
                <a:latin typeface="+mn-lt"/>
              </a:rPr>
              <a:t>(MPP)</a:t>
            </a:r>
            <a:endParaRPr sz="3733" dirty="0">
              <a:solidFill>
                <a:schemeClr val="bg1"/>
              </a:solidFill>
              <a:latin typeface="+mn-lt"/>
            </a:endParaRPr>
          </a:p>
        </p:txBody>
      </p:sp>
      <p:sp>
        <p:nvSpPr>
          <p:cNvPr id="3" name="object 3"/>
          <p:cNvSpPr/>
          <p:nvPr/>
        </p:nvSpPr>
        <p:spPr>
          <a:xfrm>
            <a:off x="6755468" y="2090434"/>
            <a:ext cx="326813" cy="326813"/>
          </a:xfrm>
          <a:custGeom>
            <a:avLst/>
            <a:gdLst/>
            <a:ahLst/>
            <a:cxnLst/>
            <a:rect l="l" t="t" r="r" b="b"/>
            <a:pathLst>
              <a:path w="245110" h="245110">
                <a:moveTo>
                  <a:pt x="244737" y="0"/>
                </a:moveTo>
                <a:lnTo>
                  <a:pt x="0" y="0"/>
                </a:lnTo>
                <a:lnTo>
                  <a:pt x="0" y="244947"/>
                </a:lnTo>
                <a:lnTo>
                  <a:pt x="244737" y="244947"/>
                </a:lnTo>
                <a:lnTo>
                  <a:pt x="244737" y="0"/>
                </a:lnTo>
                <a:close/>
              </a:path>
            </a:pathLst>
          </a:custGeom>
          <a:solidFill>
            <a:srgbClr val="66BEFF"/>
          </a:solidFill>
        </p:spPr>
        <p:txBody>
          <a:bodyPr wrap="square" lIns="0" tIns="0" rIns="0" bIns="0" rtlCol="0"/>
          <a:lstStyle/>
          <a:p>
            <a:endParaRPr sz="2400"/>
          </a:p>
        </p:txBody>
      </p:sp>
      <p:grpSp>
        <p:nvGrpSpPr>
          <p:cNvPr id="4" name="object 4"/>
          <p:cNvGrpSpPr/>
          <p:nvPr/>
        </p:nvGrpSpPr>
        <p:grpSpPr>
          <a:xfrm>
            <a:off x="3641343" y="1483359"/>
            <a:ext cx="4284133" cy="1473200"/>
            <a:chOff x="2731007" y="1112519"/>
            <a:chExt cx="3213100" cy="1104900"/>
          </a:xfrm>
        </p:grpSpPr>
        <p:sp>
          <p:nvSpPr>
            <p:cNvPr id="5" name="object 5"/>
            <p:cNvSpPr/>
            <p:nvPr/>
          </p:nvSpPr>
          <p:spPr>
            <a:xfrm>
              <a:off x="2743961" y="1125473"/>
              <a:ext cx="3187065" cy="1079500"/>
            </a:xfrm>
            <a:custGeom>
              <a:avLst/>
              <a:gdLst/>
              <a:ahLst/>
              <a:cxnLst/>
              <a:rect l="l" t="t" r="r" b="b"/>
              <a:pathLst>
                <a:path w="3187065" h="1079500">
                  <a:moveTo>
                    <a:pt x="3006852" y="0"/>
                  </a:moveTo>
                  <a:lnTo>
                    <a:pt x="179831" y="0"/>
                  </a:lnTo>
                  <a:lnTo>
                    <a:pt x="132027" y="6424"/>
                  </a:lnTo>
                  <a:lnTo>
                    <a:pt x="89069" y="24553"/>
                  </a:lnTo>
                  <a:lnTo>
                    <a:pt x="52673" y="52673"/>
                  </a:lnTo>
                  <a:lnTo>
                    <a:pt x="24553" y="89069"/>
                  </a:lnTo>
                  <a:lnTo>
                    <a:pt x="6424" y="132027"/>
                  </a:lnTo>
                  <a:lnTo>
                    <a:pt x="0" y="179831"/>
                  </a:lnTo>
                  <a:lnTo>
                    <a:pt x="0" y="899159"/>
                  </a:lnTo>
                  <a:lnTo>
                    <a:pt x="6424" y="946964"/>
                  </a:lnTo>
                  <a:lnTo>
                    <a:pt x="24553" y="989922"/>
                  </a:lnTo>
                  <a:lnTo>
                    <a:pt x="52673" y="1026318"/>
                  </a:lnTo>
                  <a:lnTo>
                    <a:pt x="89069" y="1054438"/>
                  </a:lnTo>
                  <a:lnTo>
                    <a:pt x="132027" y="1072567"/>
                  </a:lnTo>
                  <a:lnTo>
                    <a:pt x="179831" y="1078992"/>
                  </a:lnTo>
                  <a:lnTo>
                    <a:pt x="3006852" y="1078992"/>
                  </a:lnTo>
                  <a:lnTo>
                    <a:pt x="3054656" y="1072567"/>
                  </a:lnTo>
                  <a:lnTo>
                    <a:pt x="3097614" y="1054438"/>
                  </a:lnTo>
                  <a:lnTo>
                    <a:pt x="3134010" y="1026318"/>
                  </a:lnTo>
                  <a:lnTo>
                    <a:pt x="3162130" y="989922"/>
                  </a:lnTo>
                  <a:lnTo>
                    <a:pt x="3180259" y="946964"/>
                  </a:lnTo>
                  <a:lnTo>
                    <a:pt x="3186684" y="899159"/>
                  </a:lnTo>
                  <a:lnTo>
                    <a:pt x="3186684" y="179831"/>
                  </a:lnTo>
                  <a:lnTo>
                    <a:pt x="3180259" y="132027"/>
                  </a:lnTo>
                  <a:lnTo>
                    <a:pt x="3162130" y="89069"/>
                  </a:lnTo>
                  <a:lnTo>
                    <a:pt x="3134010" y="52673"/>
                  </a:lnTo>
                  <a:lnTo>
                    <a:pt x="3097614" y="24553"/>
                  </a:lnTo>
                  <a:lnTo>
                    <a:pt x="3054656" y="6424"/>
                  </a:lnTo>
                  <a:lnTo>
                    <a:pt x="3006852" y="0"/>
                  </a:lnTo>
                  <a:close/>
                </a:path>
              </a:pathLst>
            </a:custGeom>
            <a:solidFill>
              <a:srgbClr val="434343"/>
            </a:solidFill>
          </p:spPr>
          <p:txBody>
            <a:bodyPr wrap="square" lIns="0" tIns="0" rIns="0" bIns="0" rtlCol="0"/>
            <a:lstStyle/>
            <a:p>
              <a:endParaRPr sz="2400"/>
            </a:p>
          </p:txBody>
        </p:sp>
        <p:sp>
          <p:nvSpPr>
            <p:cNvPr id="6" name="object 6"/>
            <p:cNvSpPr/>
            <p:nvPr/>
          </p:nvSpPr>
          <p:spPr>
            <a:xfrm>
              <a:off x="2743961" y="1125473"/>
              <a:ext cx="3187065" cy="1079500"/>
            </a:xfrm>
            <a:custGeom>
              <a:avLst/>
              <a:gdLst/>
              <a:ahLst/>
              <a:cxnLst/>
              <a:rect l="l" t="t" r="r" b="b"/>
              <a:pathLst>
                <a:path w="3187065" h="1079500">
                  <a:moveTo>
                    <a:pt x="0" y="179831"/>
                  </a:moveTo>
                  <a:lnTo>
                    <a:pt x="6424" y="132027"/>
                  </a:lnTo>
                  <a:lnTo>
                    <a:pt x="24553" y="89069"/>
                  </a:lnTo>
                  <a:lnTo>
                    <a:pt x="52673" y="52673"/>
                  </a:lnTo>
                  <a:lnTo>
                    <a:pt x="89069" y="24553"/>
                  </a:lnTo>
                  <a:lnTo>
                    <a:pt x="132027" y="6424"/>
                  </a:lnTo>
                  <a:lnTo>
                    <a:pt x="179831" y="0"/>
                  </a:lnTo>
                  <a:lnTo>
                    <a:pt x="3006852" y="0"/>
                  </a:lnTo>
                  <a:lnTo>
                    <a:pt x="3054656" y="6424"/>
                  </a:lnTo>
                  <a:lnTo>
                    <a:pt x="3097614" y="24553"/>
                  </a:lnTo>
                  <a:lnTo>
                    <a:pt x="3134010" y="52673"/>
                  </a:lnTo>
                  <a:lnTo>
                    <a:pt x="3162130" y="89069"/>
                  </a:lnTo>
                  <a:lnTo>
                    <a:pt x="3180259" y="132027"/>
                  </a:lnTo>
                  <a:lnTo>
                    <a:pt x="3186684" y="179831"/>
                  </a:lnTo>
                  <a:lnTo>
                    <a:pt x="3186684" y="899159"/>
                  </a:lnTo>
                  <a:lnTo>
                    <a:pt x="3180259" y="946964"/>
                  </a:lnTo>
                  <a:lnTo>
                    <a:pt x="3162130" y="989922"/>
                  </a:lnTo>
                  <a:lnTo>
                    <a:pt x="3134010" y="1026318"/>
                  </a:lnTo>
                  <a:lnTo>
                    <a:pt x="3097614" y="1054438"/>
                  </a:lnTo>
                  <a:lnTo>
                    <a:pt x="3054656" y="1072567"/>
                  </a:lnTo>
                  <a:lnTo>
                    <a:pt x="3006852" y="1078992"/>
                  </a:lnTo>
                  <a:lnTo>
                    <a:pt x="179831" y="1078992"/>
                  </a:lnTo>
                  <a:lnTo>
                    <a:pt x="132027" y="1072567"/>
                  </a:lnTo>
                  <a:lnTo>
                    <a:pt x="89069" y="1054438"/>
                  </a:lnTo>
                  <a:lnTo>
                    <a:pt x="52673" y="1026318"/>
                  </a:lnTo>
                  <a:lnTo>
                    <a:pt x="24553" y="989922"/>
                  </a:lnTo>
                  <a:lnTo>
                    <a:pt x="6424" y="946964"/>
                  </a:lnTo>
                  <a:lnTo>
                    <a:pt x="0" y="899159"/>
                  </a:lnTo>
                  <a:lnTo>
                    <a:pt x="0" y="179831"/>
                  </a:lnTo>
                  <a:close/>
                </a:path>
              </a:pathLst>
            </a:custGeom>
            <a:ln w="25908">
              <a:solidFill>
                <a:srgbClr val="3B3B3B"/>
              </a:solidFill>
            </a:ln>
          </p:spPr>
          <p:txBody>
            <a:bodyPr wrap="square" lIns="0" tIns="0" rIns="0" bIns="0" rtlCol="0"/>
            <a:lstStyle/>
            <a:p>
              <a:endParaRPr sz="2400"/>
            </a:p>
          </p:txBody>
        </p:sp>
        <p:sp>
          <p:nvSpPr>
            <p:cNvPr id="7" name="object 7"/>
            <p:cNvSpPr/>
            <p:nvPr/>
          </p:nvSpPr>
          <p:spPr>
            <a:xfrm>
              <a:off x="3851020" y="1575307"/>
              <a:ext cx="880744" cy="228600"/>
            </a:xfrm>
            <a:custGeom>
              <a:avLst/>
              <a:gdLst/>
              <a:ahLst/>
              <a:cxnLst/>
              <a:rect l="l" t="t" r="r" b="b"/>
              <a:pathLst>
                <a:path w="880745" h="228600">
                  <a:moveTo>
                    <a:pt x="805104" y="75945"/>
                  </a:moveTo>
                  <a:lnTo>
                    <a:pt x="689990" y="75945"/>
                  </a:lnTo>
                  <a:lnTo>
                    <a:pt x="690371" y="152145"/>
                  </a:lnTo>
                  <a:lnTo>
                    <a:pt x="652186" y="152314"/>
                  </a:lnTo>
                  <a:lnTo>
                    <a:pt x="652526" y="228600"/>
                  </a:lnTo>
                  <a:lnTo>
                    <a:pt x="880617" y="113283"/>
                  </a:lnTo>
                  <a:lnTo>
                    <a:pt x="805104" y="75945"/>
                  </a:lnTo>
                  <a:close/>
                </a:path>
                <a:path w="880745" h="228600">
                  <a:moveTo>
                    <a:pt x="651848" y="76114"/>
                  </a:moveTo>
                  <a:lnTo>
                    <a:pt x="0" y="78993"/>
                  </a:lnTo>
                  <a:lnTo>
                    <a:pt x="243" y="152145"/>
                  </a:lnTo>
                  <a:lnTo>
                    <a:pt x="253" y="155193"/>
                  </a:lnTo>
                  <a:lnTo>
                    <a:pt x="652186" y="152314"/>
                  </a:lnTo>
                  <a:lnTo>
                    <a:pt x="651861" y="78993"/>
                  </a:lnTo>
                  <a:lnTo>
                    <a:pt x="651848" y="76114"/>
                  </a:lnTo>
                  <a:close/>
                </a:path>
                <a:path w="880745" h="228600">
                  <a:moveTo>
                    <a:pt x="689990" y="75945"/>
                  </a:moveTo>
                  <a:lnTo>
                    <a:pt x="651848" y="76114"/>
                  </a:lnTo>
                  <a:lnTo>
                    <a:pt x="652186" y="152145"/>
                  </a:lnTo>
                  <a:lnTo>
                    <a:pt x="652186" y="152314"/>
                  </a:lnTo>
                  <a:lnTo>
                    <a:pt x="690371" y="152145"/>
                  </a:lnTo>
                  <a:lnTo>
                    <a:pt x="690006" y="78993"/>
                  </a:lnTo>
                  <a:lnTo>
                    <a:pt x="689990" y="75945"/>
                  </a:lnTo>
                  <a:close/>
                </a:path>
                <a:path w="880745" h="228600">
                  <a:moveTo>
                    <a:pt x="651509" y="0"/>
                  </a:moveTo>
                  <a:lnTo>
                    <a:pt x="651847" y="75945"/>
                  </a:lnTo>
                  <a:lnTo>
                    <a:pt x="651848" y="76114"/>
                  </a:lnTo>
                  <a:lnTo>
                    <a:pt x="805104" y="75945"/>
                  </a:lnTo>
                  <a:lnTo>
                    <a:pt x="651509" y="0"/>
                  </a:lnTo>
                  <a:close/>
                </a:path>
              </a:pathLst>
            </a:custGeom>
            <a:solidFill>
              <a:srgbClr val="00C2FF"/>
            </a:solidFill>
          </p:spPr>
          <p:txBody>
            <a:bodyPr wrap="square" lIns="0" tIns="0" rIns="0" bIns="0" rtlCol="0"/>
            <a:lstStyle/>
            <a:p>
              <a:endParaRPr sz="2400"/>
            </a:p>
          </p:txBody>
        </p:sp>
        <p:sp>
          <p:nvSpPr>
            <p:cNvPr id="8" name="object 8"/>
            <p:cNvSpPr/>
            <p:nvPr/>
          </p:nvSpPr>
          <p:spPr>
            <a:xfrm>
              <a:off x="3018701" y="1332306"/>
              <a:ext cx="2528570" cy="716280"/>
            </a:xfrm>
            <a:custGeom>
              <a:avLst/>
              <a:gdLst/>
              <a:ahLst/>
              <a:cxnLst/>
              <a:rect l="l" t="t" r="r" b="b"/>
              <a:pathLst>
                <a:path w="2528570" h="716280">
                  <a:moveTo>
                    <a:pt x="282384" y="304520"/>
                  </a:moveTo>
                  <a:lnTo>
                    <a:pt x="244729" y="304520"/>
                  </a:lnTo>
                  <a:lnTo>
                    <a:pt x="244729" y="417576"/>
                  </a:lnTo>
                  <a:lnTo>
                    <a:pt x="282384" y="417576"/>
                  </a:lnTo>
                  <a:lnTo>
                    <a:pt x="282384" y="304520"/>
                  </a:lnTo>
                  <a:close/>
                </a:path>
                <a:path w="2528570" h="716280">
                  <a:moveTo>
                    <a:pt x="508292" y="304520"/>
                  </a:moveTo>
                  <a:lnTo>
                    <a:pt x="470649" y="304520"/>
                  </a:lnTo>
                  <a:lnTo>
                    <a:pt x="470649" y="417576"/>
                  </a:lnTo>
                  <a:lnTo>
                    <a:pt x="508292" y="417576"/>
                  </a:lnTo>
                  <a:lnTo>
                    <a:pt x="508292" y="304520"/>
                  </a:lnTo>
                  <a:close/>
                </a:path>
                <a:path w="2528570" h="716280">
                  <a:moveTo>
                    <a:pt x="753046" y="304520"/>
                  </a:moveTo>
                  <a:lnTo>
                    <a:pt x="696556" y="304520"/>
                  </a:lnTo>
                  <a:lnTo>
                    <a:pt x="696556" y="417576"/>
                  </a:lnTo>
                  <a:lnTo>
                    <a:pt x="753046" y="417576"/>
                  </a:lnTo>
                  <a:lnTo>
                    <a:pt x="753046" y="304520"/>
                  </a:lnTo>
                  <a:close/>
                </a:path>
                <a:path w="2528570" h="716280">
                  <a:moveTo>
                    <a:pt x="753046" y="97409"/>
                  </a:moveTo>
                  <a:lnTo>
                    <a:pt x="0" y="97409"/>
                  </a:lnTo>
                  <a:lnTo>
                    <a:pt x="0" y="153314"/>
                  </a:lnTo>
                  <a:lnTo>
                    <a:pt x="0" y="266395"/>
                  </a:lnTo>
                  <a:lnTo>
                    <a:pt x="0" y="624687"/>
                  </a:lnTo>
                  <a:lnTo>
                    <a:pt x="753046" y="624687"/>
                  </a:lnTo>
                  <a:lnTo>
                    <a:pt x="753046" y="568782"/>
                  </a:lnTo>
                  <a:lnTo>
                    <a:pt x="56476" y="568782"/>
                  </a:lnTo>
                  <a:lnTo>
                    <a:pt x="56476" y="455701"/>
                  </a:lnTo>
                  <a:lnTo>
                    <a:pt x="244729" y="455701"/>
                  </a:lnTo>
                  <a:lnTo>
                    <a:pt x="244729" y="568312"/>
                  </a:lnTo>
                  <a:lnTo>
                    <a:pt x="282384" y="568312"/>
                  </a:lnTo>
                  <a:lnTo>
                    <a:pt x="282384" y="455701"/>
                  </a:lnTo>
                  <a:lnTo>
                    <a:pt x="470649" y="455701"/>
                  </a:lnTo>
                  <a:lnTo>
                    <a:pt x="470649" y="568312"/>
                  </a:lnTo>
                  <a:lnTo>
                    <a:pt x="508292" y="568312"/>
                  </a:lnTo>
                  <a:lnTo>
                    <a:pt x="508292" y="455701"/>
                  </a:lnTo>
                  <a:lnTo>
                    <a:pt x="696556" y="455701"/>
                  </a:lnTo>
                  <a:lnTo>
                    <a:pt x="696556" y="568312"/>
                  </a:lnTo>
                  <a:lnTo>
                    <a:pt x="753046" y="568312"/>
                  </a:lnTo>
                  <a:lnTo>
                    <a:pt x="753046" y="455701"/>
                  </a:lnTo>
                  <a:lnTo>
                    <a:pt x="753046" y="455256"/>
                  </a:lnTo>
                  <a:lnTo>
                    <a:pt x="753046" y="417588"/>
                  </a:lnTo>
                  <a:lnTo>
                    <a:pt x="56476" y="417588"/>
                  </a:lnTo>
                  <a:lnTo>
                    <a:pt x="56476" y="304507"/>
                  </a:lnTo>
                  <a:lnTo>
                    <a:pt x="753046" y="304507"/>
                  </a:lnTo>
                  <a:lnTo>
                    <a:pt x="753046" y="266839"/>
                  </a:lnTo>
                  <a:lnTo>
                    <a:pt x="753046" y="266395"/>
                  </a:lnTo>
                  <a:lnTo>
                    <a:pt x="753046" y="153784"/>
                  </a:lnTo>
                  <a:lnTo>
                    <a:pt x="696556" y="153784"/>
                  </a:lnTo>
                  <a:lnTo>
                    <a:pt x="696556" y="266395"/>
                  </a:lnTo>
                  <a:lnTo>
                    <a:pt x="508292" y="266395"/>
                  </a:lnTo>
                  <a:lnTo>
                    <a:pt x="508292" y="153784"/>
                  </a:lnTo>
                  <a:lnTo>
                    <a:pt x="470649" y="153784"/>
                  </a:lnTo>
                  <a:lnTo>
                    <a:pt x="470649" y="266395"/>
                  </a:lnTo>
                  <a:lnTo>
                    <a:pt x="282384" y="266395"/>
                  </a:lnTo>
                  <a:lnTo>
                    <a:pt x="282384" y="153784"/>
                  </a:lnTo>
                  <a:lnTo>
                    <a:pt x="244729" y="153784"/>
                  </a:lnTo>
                  <a:lnTo>
                    <a:pt x="244729" y="266395"/>
                  </a:lnTo>
                  <a:lnTo>
                    <a:pt x="56476" y="266395"/>
                  </a:lnTo>
                  <a:lnTo>
                    <a:pt x="56476" y="153314"/>
                  </a:lnTo>
                  <a:lnTo>
                    <a:pt x="753046" y="153314"/>
                  </a:lnTo>
                  <a:lnTo>
                    <a:pt x="753046" y="97409"/>
                  </a:lnTo>
                  <a:close/>
                </a:path>
                <a:path w="2528570" h="716280">
                  <a:moveTo>
                    <a:pt x="1878457" y="527583"/>
                  </a:moveTo>
                  <a:lnTo>
                    <a:pt x="1812569" y="527583"/>
                  </a:lnTo>
                  <a:lnTo>
                    <a:pt x="1812569" y="565264"/>
                  </a:lnTo>
                  <a:lnTo>
                    <a:pt x="1878457" y="565264"/>
                  </a:lnTo>
                  <a:lnTo>
                    <a:pt x="1878457" y="527583"/>
                  </a:lnTo>
                  <a:close/>
                </a:path>
                <a:path w="2528570" h="716280">
                  <a:moveTo>
                    <a:pt x="1878457" y="452208"/>
                  </a:moveTo>
                  <a:lnTo>
                    <a:pt x="1812569" y="452208"/>
                  </a:lnTo>
                  <a:lnTo>
                    <a:pt x="1812569" y="489889"/>
                  </a:lnTo>
                  <a:lnTo>
                    <a:pt x="1878457" y="489889"/>
                  </a:lnTo>
                  <a:lnTo>
                    <a:pt x="1878457" y="452208"/>
                  </a:lnTo>
                  <a:close/>
                </a:path>
                <a:path w="2528570" h="716280">
                  <a:moveTo>
                    <a:pt x="1878457" y="376847"/>
                  </a:moveTo>
                  <a:lnTo>
                    <a:pt x="1812569" y="376847"/>
                  </a:lnTo>
                  <a:lnTo>
                    <a:pt x="1812569" y="414528"/>
                  </a:lnTo>
                  <a:lnTo>
                    <a:pt x="1878457" y="414528"/>
                  </a:lnTo>
                  <a:lnTo>
                    <a:pt x="1878457" y="376847"/>
                  </a:lnTo>
                  <a:close/>
                </a:path>
                <a:path w="2528570" h="716280">
                  <a:moveTo>
                    <a:pt x="1878457" y="301472"/>
                  </a:moveTo>
                  <a:lnTo>
                    <a:pt x="1812569" y="301472"/>
                  </a:lnTo>
                  <a:lnTo>
                    <a:pt x="1812569" y="339153"/>
                  </a:lnTo>
                  <a:lnTo>
                    <a:pt x="1878457" y="339153"/>
                  </a:lnTo>
                  <a:lnTo>
                    <a:pt x="1878457" y="301472"/>
                  </a:lnTo>
                  <a:close/>
                </a:path>
                <a:path w="2528570" h="716280">
                  <a:moveTo>
                    <a:pt x="1878457" y="226110"/>
                  </a:moveTo>
                  <a:lnTo>
                    <a:pt x="1812569" y="226110"/>
                  </a:lnTo>
                  <a:lnTo>
                    <a:pt x="1812569" y="263791"/>
                  </a:lnTo>
                  <a:lnTo>
                    <a:pt x="1878457" y="263791"/>
                  </a:lnTo>
                  <a:lnTo>
                    <a:pt x="1878457" y="226110"/>
                  </a:lnTo>
                  <a:close/>
                </a:path>
                <a:path w="2528570" h="716280">
                  <a:moveTo>
                    <a:pt x="1878457" y="150736"/>
                  </a:moveTo>
                  <a:lnTo>
                    <a:pt x="1812569" y="150736"/>
                  </a:lnTo>
                  <a:lnTo>
                    <a:pt x="1812569" y="188417"/>
                  </a:lnTo>
                  <a:lnTo>
                    <a:pt x="1878457" y="188417"/>
                  </a:lnTo>
                  <a:lnTo>
                    <a:pt x="1878457" y="150736"/>
                  </a:lnTo>
                  <a:close/>
                </a:path>
                <a:path w="2528570" h="716280">
                  <a:moveTo>
                    <a:pt x="2000834" y="650049"/>
                  </a:moveTo>
                  <a:lnTo>
                    <a:pt x="1963178" y="650049"/>
                  </a:lnTo>
                  <a:lnTo>
                    <a:pt x="1963178" y="716000"/>
                  </a:lnTo>
                  <a:lnTo>
                    <a:pt x="2000834" y="716000"/>
                  </a:lnTo>
                  <a:lnTo>
                    <a:pt x="2000834" y="650049"/>
                  </a:lnTo>
                  <a:close/>
                </a:path>
                <a:path w="2528570" h="716280">
                  <a:moveTo>
                    <a:pt x="2000834" y="0"/>
                  </a:moveTo>
                  <a:lnTo>
                    <a:pt x="1963178" y="0"/>
                  </a:lnTo>
                  <a:lnTo>
                    <a:pt x="1963178" y="65951"/>
                  </a:lnTo>
                  <a:lnTo>
                    <a:pt x="2000834" y="65951"/>
                  </a:lnTo>
                  <a:lnTo>
                    <a:pt x="2000834" y="0"/>
                  </a:lnTo>
                  <a:close/>
                </a:path>
                <a:path w="2528570" h="716280">
                  <a:moveTo>
                    <a:pt x="2076132" y="650049"/>
                  </a:moveTo>
                  <a:lnTo>
                    <a:pt x="2038477" y="650049"/>
                  </a:lnTo>
                  <a:lnTo>
                    <a:pt x="2038477" y="716000"/>
                  </a:lnTo>
                  <a:lnTo>
                    <a:pt x="2076132" y="716000"/>
                  </a:lnTo>
                  <a:lnTo>
                    <a:pt x="2076132" y="650049"/>
                  </a:lnTo>
                  <a:close/>
                </a:path>
                <a:path w="2528570" h="716280">
                  <a:moveTo>
                    <a:pt x="2076132" y="0"/>
                  </a:moveTo>
                  <a:lnTo>
                    <a:pt x="2038477" y="0"/>
                  </a:lnTo>
                  <a:lnTo>
                    <a:pt x="2038477" y="65951"/>
                  </a:lnTo>
                  <a:lnTo>
                    <a:pt x="2076132" y="65951"/>
                  </a:lnTo>
                  <a:lnTo>
                    <a:pt x="2076132" y="0"/>
                  </a:lnTo>
                  <a:close/>
                </a:path>
                <a:path w="2528570" h="716280">
                  <a:moveTo>
                    <a:pt x="2151443" y="650049"/>
                  </a:moveTo>
                  <a:lnTo>
                    <a:pt x="2113788" y="650049"/>
                  </a:lnTo>
                  <a:lnTo>
                    <a:pt x="2113788" y="716000"/>
                  </a:lnTo>
                  <a:lnTo>
                    <a:pt x="2151443" y="716000"/>
                  </a:lnTo>
                  <a:lnTo>
                    <a:pt x="2151443" y="650049"/>
                  </a:lnTo>
                  <a:close/>
                </a:path>
                <a:path w="2528570" h="716280">
                  <a:moveTo>
                    <a:pt x="2151443" y="0"/>
                  </a:moveTo>
                  <a:lnTo>
                    <a:pt x="2113788" y="0"/>
                  </a:lnTo>
                  <a:lnTo>
                    <a:pt x="2113788" y="65951"/>
                  </a:lnTo>
                  <a:lnTo>
                    <a:pt x="2151443" y="65951"/>
                  </a:lnTo>
                  <a:lnTo>
                    <a:pt x="2151443" y="0"/>
                  </a:lnTo>
                  <a:close/>
                </a:path>
                <a:path w="2528570" h="716280">
                  <a:moveTo>
                    <a:pt x="2226741" y="650049"/>
                  </a:moveTo>
                  <a:lnTo>
                    <a:pt x="2189086" y="650049"/>
                  </a:lnTo>
                  <a:lnTo>
                    <a:pt x="2189086" y="716000"/>
                  </a:lnTo>
                  <a:lnTo>
                    <a:pt x="2226741" y="716000"/>
                  </a:lnTo>
                  <a:lnTo>
                    <a:pt x="2226741" y="650049"/>
                  </a:lnTo>
                  <a:close/>
                </a:path>
                <a:path w="2528570" h="716280">
                  <a:moveTo>
                    <a:pt x="2226741" y="0"/>
                  </a:moveTo>
                  <a:lnTo>
                    <a:pt x="2189086" y="0"/>
                  </a:lnTo>
                  <a:lnTo>
                    <a:pt x="2189086" y="65951"/>
                  </a:lnTo>
                  <a:lnTo>
                    <a:pt x="2226741" y="65951"/>
                  </a:lnTo>
                  <a:lnTo>
                    <a:pt x="2226741" y="0"/>
                  </a:lnTo>
                  <a:close/>
                </a:path>
                <a:path w="2528570" h="716280">
                  <a:moveTo>
                    <a:pt x="2302040" y="650049"/>
                  </a:moveTo>
                  <a:lnTo>
                    <a:pt x="2264397" y="650049"/>
                  </a:lnTo>
                  <a:lnTo>
                    <a:pt x="2264397" y="716000"/>
                  </a:lnTo>
                  <a:lnTo>
                    <a:pt x="2302040" y="716000"/>
                  </a:lnTo>
                  <a:lnTo>
                    <a:pt x="2302040" y="650049"/>
                  </a:lnTo>
                  <a:close/>
                </a:path>
                <a:path w="2528570" h="716280">
                  <a:moveTo>
                    <a:pt x="2302040" y="0"/>
                  </a:moveTo>
                  <a:lnTo>
                    <a:pt x="2264397" y="0"/>
                  </a:lnTo>
                  <a:lnTo>
                    <a:pt x="2264397" y="65951"/>
                  </a:lnTo>
                  <a:lnTo>
                    <a:pt x="2302040" y="65951"/>
                  </a:lnTo>
                  <a:lnTo>
                    <a:pt x="2302040" y="0"/>
                  </a:lnTo>
                  <a:close/>
                </a:path>
                <a:path w="2528570" h="716280">
                  <a:moveTo>
                    <a:pt x="2377351" y="650049"/>
                  </a:moveTo>
                  <a:lnTo>
                    <a:pt x="2339695" y="650049"/>
                  </a:lnTo>
                  <a:lnTo>
                    <a:pt x="2339695" y="716000"/>
                  </a:lnTo>
                  <a:lnTo>
                    <a:pt x="2377351" y="716000"/>
                  </a:lnTo>
                  <a:lnTo>
                    <a:pt x="2377351" y="650049"/>
                  </a:lnTo>
                  <a:close/>
                </a:path>
                <a:path w="2528570" h="716280">
                  <a:moveTo>
                    <a:pt x="2377351" y="0"/>
                  </a:moveTo>
                  <a:lnTo>
                    <a:pt x="2339695" y="0"/>
                  </a:lnTo>
                  <a:lnTo>
                    <a:pt x="2339695" y="65951"/>
                  </a:lnTo>
                  <a:lnTo>
                    <a:pt x="2377351" y="65951"/>
                  </a:lnTo>
                  <a:lnTo>
                    <a:pt x="2377351" y="0"/>
                  </a:lnTo>
                  <a:close/>
                </a:path>
                <a:path w="2528570" h="716280">
                  <a:moveTo>
                    <a:pt x="2424417" y="141312"/>
                  </a:moveTo>
                  <a:lnTo>
                    <a:pt x="2421458" y="126644"/>
                  </a:lnTo>
                  <a:lnTo>
                    <a:pt x="2413381" y="114668"/>
                  </a:lnTo>
                  <a:lnTo>
                    <a:pt x="2401417" y="106591"/>
                  </a:lnTo>
                  <a:lnTo>
                    <a:pt x="2386761" y="103632"/>
                  </a:lnTo>
                  <a:lnTo>
                    <a:pt x="2330285" y="103632"/>
                  </a:lnTo>
                  <a:lnTo>
                    <a:pt x="2330285" y="197840"/>
                  </a:lnTo>
                  <a:lnTo>
                    <a:pt x="2330285" y="518160"/>
                  </a:lnTo>
                  <a:lnTo>
                    <a:pt x="2010244" y="518160"/>
                  </a:lnTo>
                  <a:lnTo>
                    <a:pt x="2010244" y="197840"/>
                  </a:lnTo>
                  <a:lnTo>
                    <a:pt x="2330285" y="197840"/>
                  </a:lnTo>
                  <a:lnTo>
                    <a:pt x="2330285" y="103632"/>
                  </a:lnTo>
                  <a:lnTo>
                    <a:pt x="1953768" y="103632"/>
                  </a:lnTo>
                  <a:lnTo>
                    <a:pt x="1939112" y="106591"/>
                  </a:lnTo>
                  <a:lnTo>
                    <a:pt x="1927136" y="114668"/>
                  </a:lnTo>
                  <a:lnTo>
                    <a:pt x="1919071" y="126644"/>
                  </a:lnTo>
                  <a:lnTo>
                    <a:pt x="1916112" y="141312"/>
                  </a:lnTo>
                  <a:lnTo>
                    <a:pt x="1916112" y="574687"/>
                  </a:lnTo>
                  <a:lnTo>
                    <a:pt x="1919071" y="589356"/>
                  </a:lnTo>
                  <a:lnTo>
                    <a:pt x="1927136" y="601332"/>
                  </a:lnTo>
                  <a:lnTo>
                    <a:pt x="1939112" y="609409"/>
                  </a:lnTo>
                  <a:lnTo>
                    <a:pt x="1953768" y="612368"/>
                  </a:lnTo>
                  <a:lnTo>
                    <a:pt x="2386761" y="612368"/>
                  </a:lnTo>
                  <a:lnTo>
                    <a:pt x="2401417" y="609409"/>
                  </a:lnTo>
                  <a:lnTo>
                    <a:pt x="2413381" y="601332"/>
                  </a:lnTo>
                  <a:lnTo>
                    <a:pt x="2421458" y="589356"/>
                  </a:lnTo>
                  <a:lnTo>
                    <a:pt x="2424417" y="574687"/>
                  </a:lnTo>
                  <a:lnTo>
                    <a:pt x="2424417" y="518160"/>
                  </a:lnTo>
                  <a:lnTo>
                    <a:pt x="2424417" y="197840"/>
                  </a:lnTo>
                  <a:lnTo>
                    <a:pt x="2424417" y="141312"/>
                  </a:lnTo>
                  <a:close/>
                </a:path>
                <a:path w="2528570" h="716280">
                  <a:moveTo>
                    <a:pt x="2527960" y="527583"/>
                  </a:moveTo>
                  <a:lnTo>
                    <a:pt x="2462060" y="527583"/>
                  </a:lnTo>
                  <a:lnTo>
                    <a:pt x="2462060" y="565264"/>
                  </a:lnTo>
                  <a:lnTo>
                    <a:pt x="2527960" y="565264"/>
                  </a:lnTo>
                  <a:lnTo>
                    <a:pt x="2527960" y="527583"/>
                  </a:lnTo>
                  <a:close/>
                </a:path>
                <a:path w="2528570" h="716280">
                  <a:moveTo>
                    <a:pt x="2527960" y="452208"/>
                  </a:moveTo>
                  <a:lnTo>
                    <a:pt x="2462060" y="452208"/>
                  </a:lnTo>
                  <a:lnTo>
                    <a:pt x="2462060" y="489889"/>
                  </a:lnTo>
                  <a:lnTo>
                    <a:pt x="2527960" y="489889"/>
                  </a:lnTo>
                  <a:lnTo>
                    <a:pt x="2527960" y="452208"/>
                  </a:lnTo>
                  <a:close/>
                </a:path>
                <a:path w="2528570" h="716280">
                  <a:moveTo>
                    <a:pt x="2527960" y="376847"/>
                  </a:moveTo>
                  <a:lnTo>
                    <a:pt x="2462060" y="376847"/>
                  </a:lnTo>
                  <a:lnTo>
                    <a:pt x="2462060" y="414528"/>
                  </a:lnTo>
                  <a:lnTo>
                    <a:pt x="2527960" y="414528"/>
                  </a:lnTo>
                  <a:lnTo>
                    <a:pt x="2527960" y="376847"/>
                  </a:lnTo>
                  <a:close/>
                </a:path>
                <a:path w="2528570" h="716280">
                  <a:moveTo>
                    <a:pt x="2527960" y="301472"/>
                  </a:moveTo>
                  <a:lnTo>
                    <a:pt x="2462060" y="301472"/>
                  </a:lnTo>
                  <a:lnTo>
                    <a:pt x="2462060" y="339153"/>
                  </a:lnTo>
                  <a:lnTo>
                    <a:pt x="2527960" y="339153"/>
                  </a:lnTo>
                  <a:lnTo>
                    <a:pt x="2527960" y="301472"/>
                  </a:lnTo>
                  <a:close/>
                </a:path>
                <a:path w="2528570" h="716280">
                  <a:moveTo>
                    <a:pt x="2527960" y="226110"/>
                  </a:moveTo>
                  <a:lnTo>
                    <a:pt x="2462060" y="226110"/>
                  </a:lnTo>
                  <a:lnTo>
                    <a:pt x="2462060" y="263791"/>
                  </a:lnTo>
                  <a:lnTo>
                    <a:pt x="2527960" y="263791"/>
                  </a:lnTo>
                  <a:lnTo>
                    <a:pt x="2527960" y="226110"/>
                  </a:lnTo>
                  <a:close/>
                </a:path>
                <a:path w="2528570" h="716280">
                  <a:moveTo>
                    <a:pt x="2527960" y="150736"/>
                  </a:moveTo>
                  <a:lnTo>
                    <a:pt x="2462060" y="150736"/>
                  </a:lnTo>
                  <a:lnTo>
                    <a:pt x="2462060" y="188417"/>
                  </a:lnTo>
                  <a:lnTo>
                    <a:pt x="2527960" y="188417"/>
                  </a:lnTo>
                  <a:lnTo>
                    <a:pt x="2527960" y="150736"/>
                  </a:lnTo>
                  <a:close/>
                </a:path>
              </a:pathLst>
            </a:custGeom>
            <a:solidFill>
              <a:srgbClr val="66BEFF"/>
            </a:solidFill>
          </p:spPr>
          <p:txBody>
            <a:bodyPr wrap="square" lIns="0" tIns="0" rIns="0" bIns="0" rtlCol="0"/>
            <a:lstStyle/>
            <a:p>
              <a:endParaRPr sz="2400"/>
            </a:p>
          </p:txBody>
        </p:sp>
      </p:grpSp>
      <p:grpSp>
        <p:nvGrpSpPr>
          <p:cNvPr id="9" name="object 9"/>
          <p:cNvGrpSpPr/>
          <p:nvPr/>
        </p:nvGrpSpPr>
        <p:grpSpPr>
          <a:xfrm>
            <a:off x="8004048" y="1808481"/>
            <a:ext cx="2864273" cy="1054100"/>
            <a:chOff x="6003035" y="1356360"/>
            <a:chExt cx="2148205" cy="790575"/>
          </a:xfrm>
        </p:grpSpPr>
        <p:sp>
          <p:nvSpPr>
            <p:cNvPr id="10" name="object 10"/>
            <p:cNvSpPr/>
            <p:nvPr/>
          </p:nvSpPr>
          <p:spPr>
            <a:xfrm>
              <a:off x="6134099" y="1426464"/>
              <a:ext cx="1884045" cy="523240"/>
            </a:xfrm>
            <a:custGeom>
              <a:avLst/>
              <a:gdLst/>
              <a:ahLst/>
              <a:cxnLst/>
              <a:rect l="l" t="t" r="r" b="b"/>
              <a:pathLst>
                <a:path w="1884045" h="523239">
                  <a:moveTo>
                    <a:pt x="1883663" y="0"/>
                  </a:moveTo>
                  <a:lnTo>
                    <a:pt x="0" y="0"/>
                  </a:lnTo>
                  <a:lnTo>
                    <a:pt x="0" y="522731"/>
                  </a:lnTo>
                  <a:lnTo>
                    <a:pt x="1883663" y="522731"/>
                  </a:lnTo>
                  <a:lnTo>
                    <a:pt x="1883663" y="0"/>
                  </a:lnTo>
                  <a:close/>
                </a:path>
              </a:pathLst>
            </a:custGeom>
            <a:solidFill>
              <a:srgbClr val="99E7FF">
                <a:alpha val="50195"/>
              </a:srgbClr>
            </a:solidFill>
          </p:spPr>
          <p:txBody>
            <a:bodyPr wrap="square" lIns="0" tIns="0" rIns="0" bIns="0" rtlCol="0"/>
            <a:lstStyle/>
            <a:p>
              <a:endParaRPr sz="2400"/>
            </a:p>
          </p:txBody>
        </p:sp>
        <p:pic>
          <p:nvPicPr>
            <p:cNvPr id="11" name="object 11"/>
            <p:cNvPicPr/>
            <p:nvPr/>
          </p:nvPicPr>
          <p:blipFill>
            <a:blip r:embed="rId2" cstate="print"/>
            <a:stretch>
              <a:fillRect/>
            </a:stretch>
          </p:blipFill>
          <p:spPr>
            <a:xfrm>
              <a:off x="6003035" y="1356360"/>
              <a:ext cx="2148077" cy="790194"/>
            </a:xfrm>
            <a:prstGeom prst="rect">
              <a:avLst/>
            </a:prstGeom>
          </p:spPr>
        </p:pic>
      </p:grpSp>
      <p:grpSp>
        <p:nvGrpSpPr>
          <p:cNvPr id="12" name="object 12"/>
          <p:cNvGrpSpPr/>
          <p:nvPr/>
        </p:nvGrpSpPr>
        <p:grpSpPr>
          <a:xfrm>
            <a:off x="1463781" y="3596265"/>
            <a:ext cx="9309100" cy="1310640"/>
            <a:chOff x="1097835" y="2697199"/>
            <a:chExt cx="6981825" cy="982980"/>
          </a:xfrm>
        </p:grpSpPr>
        <p:sp>
          <p:nvSpPr>
            <p:cNvPr id="13" name="object 13"/>
            <p:cNvSpPr/>
            <p:nvPr/>
          </p:nvSpPr>
          <p:spPr>
            <a:xfrm>
              <a:off x="1097835" y="2697199"/>
              <a:ext cx="682625" cy="480695"/>
            </a:xfrm>
            <a:custGeom>
              <a:avLst/>
              <a:gdLst/>
              <a:ahLst/>
              <a:cxnLst/>
              <a:rect l="l" t="t" r="r" b="b"/>
              <a:pathLst>
                <a:path w="682625" h="480694">
                  <a:moveTo>
                    <a:pt x="682410" y="0"/>
                  </a:moveTo>
                  <a:lnTo>
                    <a:pt x="0" y="0"/>
                  </a:lnTo>
                  <a:lnTo>
                    <a:pt x="0" y="480622"/>
                  </a:lnTo>
                  <a:lnTo>
                    <a:pt x="682410" y="480622"/>
                  </a:lnTo>
                  <a:lnTo>
                    <a:pt x="682410" y="476406"/>
                  </a:lnTo>
                  <a:lnTo>
                    <a:pt x="8433" y="476406"/>
                  </a:lnTo>
                  <a:lnTo>
                    <a:pt x="4214" y="472183"/>
                  </a:lnTo>
                  <a:lnTo>
                    <a:pt x="8433" y="472183"/>
                  </a:lnTo>
                  <a:lnTo>
                    <a:pt x="8433" y="8438"/>
                  </a:lnTo>
                  <a:lnTo>
                    <a:pt x="4214" y="8438"/>
                  </a:lnTo>
                  <a:lnTo>
                    <a:pt x="8433" y="4222"/>
                  </a:lnTo>
                  <a:lnTo>
                    <a:pt x="682410" y="4223"/>
                  </a:lnTo>
                  <a:lnTo>
                    <a:pt x="682410" y="0"/>
                  </a:lnTo>
                  <a:close/>
                </a:path>
                <a:path w="682625" h="480694">
                  <a:moveTo>
                    <a:pt x="8433" y="472183"/>
                  </a:moveTo>
                  <a:lnTo>
                    <a:pt x="4214" y="472183"/>
                  </a:lnTo>
                  <a:lnTo>
                    <a:pt x="8433" y="476406"/>
                  </a:lnTo>
                  <a:lnTo>
                    <a:pt x="8433" y="472183"/>
                  </a:lnTo>
                  <a:close/>
                </a:path>
                <a:path w="682625" h="480694">
                  <a:moveTo>
                    <a:pt x="673985" y="472183"/>
                  </a:moveTo>
                  <a:lnTo>
                    <a:pt x="8433" y="472183"/>
                  </a:lnTo>
                  <a:lnTo>
                    <a:pt x="8433" y="476406"/>
                  </a:lnTo>
                  <a:lnTo>
                    <a:pt x="673985" y="476406"/>
                  </a:lnTo>
                  <a:lnTo>
                    <a:pt x="673985" y="472183"/>
                  </a:lnTo>
                  <a:close/>
                </a:path>
                <a:path w="682625" h="480694">
                  <a:moveTo>
                    <a:pt x="673985" y="4223"/>
                  </a:moveTo>
                  <a:lnTo>
                    <a:pt x="673985" y="476406"/>
                  </a:lnTo>
                  <a:lnTo>
                    <a:pt x="678198" y="472183"/>
                  </a:lnTo>
                  <a:lnTo>
                    <a:pt x="682410" y="472183"/>
                  </a:lnTo>
                  <a:lnTo>
                    <a:pt x="682410" y="8439"/>
                  </a:lnTo>
                  <a:lnTo>
                    <a:pt x="678198" y="8439"/>
                  </a:lnTo>
                  <a:lnTo>
                    <a:pt x="673985" y="4223"/>
                  </a:lnTo>
                  <a:close/>
                </a:path>
                <a:path w="682625" h="480694">
                  <a:moveTo>
                    <a:pt x="682410" y="472183"/>
                  </a:moveTo>
                  <a:lnTo>
                    <a:pt x="678198" y="472183"/>
                  </a:lnTo>
                  <a:lnTo>
                    <a:pt x="673985" y="476406"/>
                  </a:lnTo>
                  <a:lnTo>
                    <a:pt x="682410" y="476406"/>
                  </a:lnTo>
                  <a:lnTo>
                    <a:pt x="682410" y="472183"/>
                  </a:lnTo>
                  <a:close/>
                </a:path>
                <a:path w="682625" h="480694">
                  <a:moveTo>
                    <a:pt x="227473" y="320410"/>
                  </a:moveTo>
                  <a:lnTo>
                    <a:pt x="50549" y="320410"/>
                  </a:lnTo>
                  <a:lnTo>
                    <a:pt x="50549" y="430031"/>
                  </a:lnTo>
                  <a:lnTo>
                    <a:pt x="227473" y="430031"/>
                  </a:lnTo>
                  <a:lnTo>
                    <a:pt x="227473" y="425815"/>
                  </a:lnTo>
                  <a:lnTo>
                    <a:pt x="58981" y="425815"/>
                  </a:lnTo>
                  <a:lnTo>
                    <a:pt x="54762" y="421592"/>
                  </a:lnTo>
                  <a:lnTo>
                    <a:pt x="58981" y="421592"/>
                  </a:lnTo>
                  <a:lnTo>
                    <a:pt x="58981" y="328849"/>
                  </a:lnTo>
                  <a:lnTo>
                    <a:pt x="54762" y="328849"/>
                  </a:lnTo>
                  <a:lnTo>
                    <a:pt x="58981" y="324633"/>
                  </a:lnTo>
                  <a:lnTo>
                    <a:pt x="227473" y="324633"/>
                  </a:lnTo>
                  <a:lnTo>
                    <a:pt x="227473" y="320410"/>
                  </a:lnTo>
                  <a:close/>
                </a:path>
                <a:path w="682625" h="480694">
                  <a:moveTo>
                    <a:pt x="429664" y="320410"/>
                  </a:moveTo>
                  <a:lnTo>
                    <a:pt x="252740" y="320410"/>
                  </a:lnTo>
                  <a:lnTo>
                    <a:pt x="252740" y="430031"/>
                  </a:lnTo>
                  <a:lnTo>
                    <a:pt x="429664" y="430031"/>
                  </a:lnTo>
                  <a:lnTo>
                    <a:pt x="429664" y="425815"/>
                  </a:lnTo>
                  <a:lnTo>
                    <a:pt x="261172" y="425815"/>
                  </a:lnTo>
                  <a:lnTo>
                    <a:pt x="256953" y="421592"/>
                  </a:lnTo>
                  <a:lnTo>
                    <a:pt x="261172" y="421592"/>
                  </a:lnTo>
                  <a:lnTo>
                    <a:pt x="261172" y="328849"/>
                  </a:lnTo>
                  <a:lnTo>
                    <a:pt x="256953" y="328849"/>
                  </a:lnTo>
                  <a:lnTo>
                    <a:pt x="261172" y="324633"/>
                  </a:lnTo>
                  <a:lnTo>
                    <a:pt x="429664" y="324633"/>
                  </a:lnTo>
                  <a:lnTo>
                    <a:pt x="429664" y="320410"/>
                  </a:lnTo>
                  <a:close/>
                </a:path>
                <a:path w="682625" h="480694">
                  <a:moveTo>
                    <a:pt x="631855" y="320410"/>
                  </a:moveTo>
                  <a:lnTo>
                    <a:pt x="454931" y="320410"/>
                  </a:lnTo>
                  <a:lnTo>
                    <a:pt x="454931" y="430031"/>
                  </a:lnTo>
                  <a:lnTo>
                    <a:pt x="631855" y="430031"/>
                  </a:lnTo>
                  <a:lnTo>
                    <a:pt x="631855" y="425815"/>
                  </a:lnTo>
                  <a:lnTo>
                    <a:pt x="463363" y="425815"/>
                  </a:lnTo>
                  <a:lnTo>
                    <a:pt x="459144" y="421592"/>
                  </a:lnTo>
                  <a:lnTo>
                    <a:pt x="463363" y="421592"/>
                  </a:lnTo>
                  <a:lnTo>
                    <a:pt x="463363" y="328849"/>
                  </a:lnTo>
                  <a:lnTo>
                    <a:pt x="459144" y="328849"/>
                  </a:lnTo>
                  <a:lnTo>
                    <a:pt x="463363" y="324633"/>
                  </a:lnTo>
                  <a:lnTo>
                    <a:pt x="631855" y="324633"/>
                  </a:lnTo>
                  <a:lnTo>
                    <a:pt x="631855" y="320410"/>
                  </a:lnTo>
                  <a:close/>
                </a:path>
                <a:path w="682625" h="480694">
                  <a:moveTo>
                    <a:pt x="58981" y="421592"/>
                  </a:moveTo>
                  <a:lnTo>
                    <a:pt x="54762" y="421592"/>
                  </a:lnTo>
                  <a:lnTo>
                    <a:pt x="58981" y="425815"/>
                  </a:lnTo>
                  <a:lnTo>
                    <a:pt x="58981" y="421592"/>
                  </a:lnTo>
                  <a:close/>
                </a:path>
                <a:path w="682625" h="480694">
                  <a:moveTo>
                    <a:pt x="219042" y="421592"/>
                  </a:moveTo>
                  <a:lnTo>
                    <a:pt x="58981" y="421592"/>
                  </a:lnTo>
                  <a:lnTo>
                    <a:pt x="58981" y="425815"/>
                  </a:lnTo>
                  <a:lnTo>
                    <a:pt x="219042" y="425815"/>
                  </a:lnTo>
                  <a:lnTo>
                    <a:pt x="219042" y="421592"/>
                  </a:lnTo>
                  <a:close/>
                </a:path>
                <a:path w="682625" h="480694">
                  <a:moveTo>
                    <a:pt x="219042" y="324633"/>
                  </a:moveTo>
                  <a:lnTo>
                    <a:pt x="219042" y="425815"/>
                  </a:lnTo>
                  <a:lnTo>
                    <a:pt x="223254" y="421592"/>
                  </a:lnTo>
                  <a:lnTo>
                    <a:pt x="227473" y="421592"/>
                  </a:lnTo>
                  <a:lnTo>
                    <a:pt x="227473" y="328849"/>
                  </a:lnTo>
                  <a:lnTo>
                    <a:pt x="223254" y="328849"/>
                  </a:lnTo>
                  <a:lnTo>
                    <a:pt x="219042" y="324633"/>
                  </a:lnTo>
                  <a:close/>
                </a:path>
                <a:path w="682625" h="480694">
                  <a:moveTo>
                    <a:pt x="227473" y="421592"/>
                  </a:moveTo>
                  <a:lnTo>
                    <a:pt x="223254" y="421592"/>
                  </a:lnTo>
                  <a:lnTo>
                    <a:pt x="219042" y="425815"/>
                  </a:lnTo>
                  <a:lnTo>
                    <a:pt x="227473" y="425815"/>
                  </a:lnTo>
                  <a:lnTo>
                    <a:pt x="227473" y="421592"/>
                  </a:lnTo>
                  <a:close/>
                </a:path>
                <a:path w="682625" h="480694">
                  <a:moveTo>
                    <a:pt x="261172" y="421592"/>
                  </a:moveTo>
                  <a:lnTo>
                    <a:pt x="256953" y="421592"/>
                  </a:lnTo>
                  <a:lnTo>
                    <a:pt x="261172" y="425815"/>
                  </a:lnTo>
                  <a:lnTo>
                    <a:pt x="261172" y="421592"/>
                  </a:lnTo>
                  <a:close/>
                </a:path>
                <a:path w="682625" h="480694">
                  <a:moveTo>
                    <a:pt x="421233" y="421592"/>
                  </a:moveTo>
                  <a:lnTo>
                    <a:pt x="261172" y="421592"/>
                  </a:lnTo>
                  <a:lnTo>
                    <a:pt x="261172" y="425815"/>
                  </a:lnTo>
                  <a:lnTo>
                    <a:pt x="421233" y="425815"/>
                  </a:lnTo>
                  <a:lnTo>
                    <a:pt x="421233" y="421592"/>
                  </a:lnTo>
                  <a:close/>
                </a:path>
                <a:path w="682625" h="480694">
                  <a:moveTo>
                    <a:pt x="421233" y="324633"/>
                  </a:moveTo>
                  <a:lnTo>
                    <a:pt x="421233" y="425815"/>
                  </a:lnTo>
                  <a:lnTo>
                    <a:pt x="425445" y="421592"/>
                  </a:lnTo>
                  <a:lnTo>
                    <a:pt x="429664" y="421592"/>
                  </a:lnTo>
                  <a:lnTo>
                    <a:pt x="429664" y="328849"/>
                  </a:lnTo>
                  <a:lnTo>
                    <a:pt x="425445" y="328849"/>
                  </a:lnTo>
                  <a:lnTo>
                    <a:pt x="421233" y="324633"/>
                  </a:lnTo>
                  <a:close/>
                </a:path>
                <a:path w="682625" h="480694">
                  <a:moveTo>
                    <a:pt x="429664" y="421592"/>
                  </a:moveTo>
                  <a:lnTo>
                    <a:pt x="425445" y="421592"/>
                  </a:lnTo>
                  <a:lnTo>
                    <a:pt x="421233" y="425815"/>
                  </a:lnTo>
                  <a:lnTo>
                    <a:pt x="429664" y="425815"/>
                  </a:lnTo>
                  <a:lnTo>
                    <a:pt x="429664" y="421592"/>
                  </a:lnTo>
                  <a:close/>
                </a:path>
                <a:path w="682625" h="480694">
                  <a:moveTo>
                    <a:pt x="463363" y="421592"/>
                  </a:moveTo>
                  <a:lnTo>
                    <a:pt x="459144" y="421592"/>
                  </a:lnTo>
                  <a:lnTo>
                    <a:pt x="463363" y="425815"/>
                  </a:lnTo>
                  <a:lnTo>
                    <a:pt x="463363" y="421592"/>
                  </a:lnTo>
                  <a:close/>
                </a:path>
                <a:path w="682625" h="480694">
                  <a:moveTo>
                    <a:pt x="623424" y="421592"/>
                  </a:moveTo>
                  <a:lnTo>
                    <a:pt x="463363" y="421592"/>
                  </a:lnTo>
                  <a:lnTo>
                    <a:pt x="463363" y="425815"/>
                  </a:lnTo>
                  <a:lnTo>
                    <a:pt x="623424" y="425815"/>
                  </a:lnTo>
                  <a:lnTo>
                    <a:pt x="623424" y="421592"/>
                  </a:lnTo>
                  <a:close/>
                </a:path>
                <a:path w="682625" h="480694">
                  <a:moveTo>
                    <a:pt x="623424" y="324633"/>
                  </a:moveTo>
                  <a:lnTo>
                    <a:pt x="623424" y="425815"/>
                  </a:lnTo>
                  <a:lnTo>
                    <a:pt x="627636" y="421592"/>
                  </a:lnTo>
                  <a:lnTo>
                    <a:pt x="631855" y="421592"/>
                  </a:lnTo>
                  <a:lnTo>
                    <a:pt x="631855" y="328849"/>
                  </a:lnTo>
                  <a:lnTo>
                    <a:pt x="627636" y="328849"/>
                  </a:lnTo>
                  <a:lnTo>
                    <a:pt x="623424" y="324633"/>
                  </a:lnTo>
                  <a:close/>
                </a:path>
                <a:path w="682625" h="480694">
                  <a:moveTo>
                    <a:pt x="631855" y="421592"/>
                  </a:moveTo>
                  <a:lnTo>
                    <a:pt x="627636" y="421592"/>
                  </a:lnTo>
                  <a:lnTo>
                    <a:pt x="623424" y="425815"/>
                  </a:lnTo>
                  <a:lnTo>
                    <a:pt x="631855" y="425815"/>
                  </a:lnTo>
                  <a:lnTo>
                    <a:pt x="631855" y="421592"/>
                  </a:lnTo>
                  <a:close/>
                </a:path>
                <a:path w="682625" h="480694">
                  <a:moveTo>
                    <a:pt x="58981" y="324633"/>
                  </a:moveTo>
                  <a:lnTo>
                    <a:pt x="54762" y="328849"/>
                  </a:lnTo>
                  <a:lnTo>
                    <a:pt x="58981" y="328849"/>
                  </a:lnTo>
                  <a:lnTo>
                    <a:pt x="58981" y="324633"/>
                  </a:lnTo>
                  <a:close/>
                </a:path>
                <a:path w="682625" h="480694">
                  <a:moveTo>
                    <a:pt x="219042" y="324633"/>
                  </a:moveTo>
                  <a:lnTo>
                    <a:pt x="58981" y="324633"/>
                  </a:lnTo>
                  <a:lnTo>
                    <a:pt x="58981" y="328849"/>
                  </a:lnTo>
                  <a:lnTo>
                    <a:pt x="219042" y="328849"/>
                  </a:lnTo>
                  <a:lnTo>
                    <a:pt x="219042" y="324633"/>
                  </a:lnTo>
                  <a:close/>
                </a:path>
                <a:path w="682625" h="480694">
                  <a:moveTo>
                    <a:pt x="227473" y="324633"/>
                  </a:moveTo>
                  <a:lnTo>
                    <a:pt x="219042" y="324633"/>
                  </a:lnTo>
                  <a:lnTo>
                    <a:pt x="223254" y="328849"/>
                  </a:lnTo>
                  <a:lnTo>
                    <a:pt x="227473" y="328849"/>
                  </a:lnTo>
                  <a:lnTo>
                    <a:pt x="227473" y="324633"/>
                  </a:lnTo>
                  <a:close/>
                </a:path>
                <a:path w="682625" h="480694">
                  <a:moveTo>
                    <a:pt x="261172" y="324633"/>
                  </a:moveTo>
                  <a:lnTo>
                    <a:pt x="256953" y="328849"/>
                  </a:lnTo>
                  <a:lnTo>
                    <a:pt x="261172" y="328849"/>
                  </a:lnTo>
                  <a:lnTo>
                    <a:pt x="261172" y="324633"/>
                  </a:lnTo>
                  <a:close/>
                </a:path>
                <a:path w="682625" h="480694">
                  <a:moveTo>
                    <a:pt x="421233" y="324633"/>
                  </a:moveTo>
                  <a:lnTo>
                    <a:pt x="261172" y="324633"/>
                  </a:lnTo>
                  <a:lnTo>
                    <a:pt x="261172" y="328849"/>
                  </a:lnTo>
                  <a:lnTo>
                    <a:pt x="421233" y="328849"/>
                  </a:lnTo>
                  <a:lnTo>
                    <a:pt x="421233" y="324633"/>
                  </a:lnTo>
                  <a:close/>
                </a:path>
                <a:path w="682625" h="480694">
                  <a:moveTo>
                    <a:pt x="429664" y="324633"/>
                  </a:moveTo>
                  <a:lnTo>
                    <a:pt x="421233" y="324633"/>
                  </a:lnTo>
                  <a:lnTo>
                    <a:pt x="425445" y="328849"/>
                  </a:lnTo>
                  <a:lnTo>
                    <a:pt x="429664" y="328849"/>
                  </a:lnTo>
                  <a:lnTo>
                    <a:pt x="429664" y="324633"/>
                  </a:lnTo>
                  <a:close/>
                </a:path>
                <a:path w="682625" h="480694">
                  <a:moveTo>
                    <a:pt x="463363" y="324633"/>
                  </a:moveTo>
                  <a:lnTo>
                    <a:pt x="459144" y="328849"/>
                  </a:lnTo>
                  <a:lnTo>
                    <a:pt x="463363" y="328849"/>
                  </a:lnTo>
                  <a:lnTo>
                    <a:pt x="463363" y="324633"/>
                  </a:lnTo>
                  <a:close/>
                </a:path>
                <a:path w="682625" h="480694">
                  <a:moveTo>
                    <a:pt x="623424" y="324633"/>
                  </a:moveTo>
                  <a:lnTo>
                    <a:pt x="463363" y="324633"/>
                  </a:lnTo>
                  <a:lnTo>
                    <a:pt x="463363" y="328849"/>
                  </a:lnTo>
                  <a:lnTo>
                    <a:pt x="623424" y="328849"/>
                  </a:lnTo>
                  <a:lnTo>
                    <a:pt x="623424" y="324633"/>
                  </a:lnTo>
                  <a:close/>
                </a:path>
                <a:path w="682625" h="480694">
                  <a:moveTo>
                    <a:pt x="631855" y="324633"/>
                  </a:moveTo>
                  <a:lnTo>
                    <a:pt x="623424" y="324633"/>
                  </a:lnTo>
                  <a:lnTo>
                    <a:pt x="627636" y="328849"/>
                  </a:lnTo>
                  <a:lnTo>
                    <a:pt x="631855" y="328849"/>
                  </a:lnTo>
                  <a:lnTo>
                    <a:pt x="631855" y="324633"/>
                  </a:lnTo>
                  <a:close/>
                </a:path>
                <a:path w="682625" h="480694">
                  <a:moveTo>
                    <a:pt x="227473" y="185500"/>
                  </a:moveTo>
                  <a:lnTo>
                    <a:pt x="50549" y="185500"/>
                  </a:lnTo>
                  <a:lnTo>
                    <a:pt x="50549" y="295121"/>
                  </a:lnTo>
                  <a:lnTo>
                    <a:pt x="227473" y="295121"/>
                  </a:lnTo>
                  <a:lnTo>
                    <a:pt x="227473" y="290905"/>
                  </a:lnTo>
                  <a:lnTo>
                    <a:pt x="58981" y="290905"/>
                  </a:lnTo>
                  <a:lnTo>
                    <a:pt x="54762" y="286682"/>
                  </a:lnTo>
                  <a:lnTo>
                    <a:pt x="58981" y="286682"/>
                  </a:lnTo>
                  <a:lnTo>
                    <a:pt x="58981" y="193939"/>
                  </a:lnTo>
                  <a:lnTo>
                    <a:pt x="54762" y="193939"/>
                  </a:lnTo>
                  <a:lnTo>
                    <a:pt x="58981" y="189723"/>
                  </a:lnTo>
                  <a:lnTo>
                    <a:pt x="227473" y="189723"/>
                  </a:lnTo>
                  <a:lnTo>
                    <a:pt x="227473" y="185500"/>
                  </a:lnTo>
                  <a:close/>
                </a:path>
                <a:path w="682625" h="480694">
                  <a:moveTo>
                    <a:pt x="429664" y="185500"/>
                  </a:moveTo>
                  <a:lnTo>
                    <a:pt x="252740" y="185500"/>
                  </a:lnTo>
                  <a:lnTo>
                    <a:pt x="252740" y="295121"/>
                  </a:lnTo>
                  <a:lnTo>
                    <a:pt x="429664" y="295121"/>
                  </a:lnTo>
                  <a:lnTo>
                    <a:pt x="429664" y="290905"/>
                  </a:lnTo>
                  <a:lnTo>
                    <a:pt x="261172" y="290905"/>
                  </a:lnTo>
                  <a:lnTo>
                    <a:pt x="256953" y="286683"/>
                  </a:lnTo>
                  <a:lnTo>
                    <a:pt x="261172" y="286683"/>
                  </a:lnTo>
                  <a:lnTo>
                    <a:pt x="261172" y="193939"/>
                  </a:lnTo>
                  <a:lnTo>
                    <a:pt x="256953" y="193939"/>
                  </a:lnTo>
                  <a:lnTo>
                    <a:pt x="261172" y="189723"/>
                  </a:lnTo>
                  <a:lnTo>
                    <a:pt x="429664" y="189723"/>
                  </a:lnTo>
                  <a:lnTo>
                    <a:pt x="429664" y="185500"/>
                  </a:lnTo>
                  <a:close/>
                </a:path>
                <a:path w="682625" h="480694">
                  <a:moveTo>
                    <a:pt x="631855" y="185500"/>
                  </a:moveTo>
                  <a:lnTo>
                    <a:pt x="454931" y="185500"/>
                  </a:lnTo>
                  <a:lnTo>
                    <a:pt x="454931" y="295121"/>
                  </a:lnTo>
                  <a:lnTo>
                    <a:pt x="631855" y="295121"/>
                  </a:lnTo>
                  <a:lnTo>
                    <a:pt x="631855" y="290906"/>
                  </a:lnTo>
                  <a:lnTo>
                    <a:pt x="463363" y="290906"/>
                  </a:lnTo>
                  <a:lnTo>
                    <a:pt x="459144" y="286683"/>
                  </a:lnTo>
                  <a:lnTo>
                    <a:pt x="463363" y="286683"/>
                  </a:lnTo>
                  <a:lnTo>
                    <a:pt x="463363" y="193939"/>
                  </a:lnTo>
                  <a:lnTo>
                    <a:pt x="459144" y="193939"/>
                  </a:lnTo>
                  <a:lnTo>
                    <a:pt x="463363" y="189723"/>
                  </a:lnTo>
                  <a:lnTo>
                    <a:pt x="631855" y="189723"/>
                  </a:lnTo>
                  <a:lnTo>
                    <a:pt x="631855" y="185500"/>
                  </a:lnTo>
                  <a:close/>
                </a:path>
                <a:path w="682625" h="480694">
                  <a:moveTo>
                    <a:pt x="58981" y="286682"/>
                  </a:moveTo>
                  <a:lnTo>
                    <a:pt x="54762" y="286682"/>
                  </a:lnTo>
                  <a:lnTo>
                    <a:pt x="58981" y="290905"/>
                  </a:lnTo>
                  <a:lnTo>
                    <a:pt x="58981" y="286682"/>
                  </a:lnTo>
                  <a:close/>
                </a:path>
                <a:path w="682625" h="480694">
                  <a:moveTo>
                    <a:pt x="219042" y="286682"/>
                  </a:moveTo>
                  <a:lnTo>
                    <a:pt x="58981" y="286682"/>
                  </a:lnTo>
                  <a:lnTo>
                    <a:pt x="58981" y="290905"/>
                  </a:lnTo>
                  <a:lnTo>
                    <a:pt x="219042" y="290905"/>
                  </a:lnTo>
                  <a:lnTo>
                    <a:pt x="219042" y="286682"/>
                  </a:lnTo>
                  <a:close/>
                </a:path>
                <a:path w="682625" h="480694">
                  <a:moveTo>
                    <a:pt x="219042" y="189723"/>
                  </a:moveTo>
                  <a:lnTo>
                    <a:pt x="219042" y="290905"/>
                  </a:lnTo>
                  <a:lnTo>
                    <a:pt x="223254" y="286682"/>
                  </a:lnTo>
                  <a:lnTo>
                    <a:pt x="227473" y="286683"/>
                  </a:lnTo>
                  <a:lnTo>
                    <a:pt x="227473" y="193939"/>
                  </a:lnTo>
                  <a:lnTo>
                    <a:pt x="223254" y="193939"/>
                  </a:lnTo>
                  <a:lnTo>
                    <a:pt x="219042" y="189723"/>
                  </a:lnTo>
                  <a:close/>
                </a:path>
                <a:path w="682625" h="480694">
                  <a:moveTo>
                    <a:pt x="227473" y="286683"/>
                  </a:moveTo>
                  <a:lnTo>
                    <a:pt x="223254" y="286682"/>
                  </a:lnTo>
                  <a:lnTo>
                    <a:pt x="219042" y="290905"/>
                  </a:lnTo>
                  <a:lnTo>
                    <a:pt x="227473" y="290905"/>
                  </a:lnTo>
                  <a:lnTo>
                    <a:pt x="227473" y="286683"/>
                  </a:lnTo>
                  <a:close/>
                </a:path>
                <a:path w="682625" h="480694">
                  <a:moveTo>
                    <a:pt x="261172" y="286683"/>
                  </a:moveTo>
                  <a:lnTo>
                    <a:pt x="256953" y="286683"/>
                  </a:lnTo>
                  <a:lnTo>
                    <a:pt x="261172" y="290905"/>
                  </a:lnTo>
                  <a:lnTo>
                    <a:pt x="261172" y="286683"/>
                  </a:lnTo>
                  <a:close/>
                </a:path>
                <a:path w="682625" h="480694">
                  <a:moveTo>
                    <a:pt x="421233" y="286683"/>
                  </a:moveTo>
                  <a:lnTo>
                    <a:pt x="261172" y="286683"/>
                  </a:lnTo>
                  <a:lnTo>
                    <a:pt x="261172" y="290905"/>
                  </a:lnTo>
                  <a:lnTo>
                    <a:pt x="421233" y="290905"/>
                  </a:lnTo>
                  <a:lnTo>
                    <a:pt x="421233" y="286683"/>
                  </a:lnTo>
                  <a:close/>
                </a:path>
                <a:path w="682625" h="480694">
                  <a:moveTo>
                    <a:pt x="421233" y="189723"/>
                  </a:moveTo>
                  <a:lnTo>
                    <a:pt x="421233" y="290905"/>
                  </a:lnTo>
                  <a:lnTo>
                    <a:pt x="425445" y="286683"/>
                  </a:lnTo>
                  <a:lnTo>
                    <a:pt x="429664" y="286683"/>
                  </a:lnTo>
                  <a:lnTo>
                    <a:pt x="429664" y="193939"/>
                  </a:lnTo>
                  <a:lnTo>
                    <a:pt x="425445" y="193939"/>
                  </a:lnTo>
                  <a:lnTo>
                    <a:pt x="421233" y="189723"/>
                  </a:lnTo>
                  <a:close/>
                </a:path>
                <a:path w="682625" h="480694">
                  <a:moveTo>
                    <a:pt x="429664" y="286683"/>
                  </a:moveTo>
                  <a:lnTo>
                    <a:pt x="425445" y="286683"/>
                  </a:lnTo>
                  <a:lnTo>
                    <a:pt x="421233" y="290905"/>
                  </a:lnTo>
                  <a:lnTo>
                    <a:pt x="429664" y="290905"/>
                  </a:lnTo>
                  <a:lnTo>
                    <a:pt x="429664" y="286683"/>
                  </a:lnTo>
                  <a:close/>
                </a:path>
                <a:path w="682625" h="480694">
                  <a:moveTo>
                    <a:pt x="463363" y="286683"/>
                  </a:moveTo>
                  <a:lnTo>
                    <a:pt x="459144" y="286683"/>
                  </a:lnTo>
                  <a:lnTo>
                    <a:pt x="463363" y="290906"/>
                  </a:lnTo>
                  <a:lnTo>
                    <a:pt x="463363" y="286683"/>
                  </a:lnTo>
                  <a:close/>
                </a:path>
                <a:path w="682625" h="480694">
                  <a:moveTo>
                    <a:pt x="623424" y="286683"/>
                  </a:moveTo>
                  <a:lnTo>
                    <a:pt x="463363" y="286683"/>
                  </a:lnTo>
                  <a:lnTo>
                    <a:pt x="463363" y="290906"/>
                  </a:lnTo>
                  <a:lnTo>
                    <a:pt x="623424" y="290906"/>
                  </a:lnTo>
                  <a:lnTo>
                    <a:pt x="623424" y="286683"/>
                  </a:lnTo>
                  <a:close/>
                </a:path>
                <a:path w="682625" h="480694">
                  <a:moveTo>
                    <a:pt x="623424" y="189723"/>
                  </a:moveTo>
                  <a:lnTo>
                    <a:pt x="623424" y="290906"/>
                  </a:lnTo>
                  <a:lnTo>
                    <a:pt x="627636" y="286683"/>
                  </a:lnTo>
                  <a:lnTo>
                    <a:pt x="631855" y="286683"/>
                  </a:lnTo>
                  <a:lnTo>
                    <a:pt x="631855" y="193939"/>
                  </a:lnTo>
                  <a:lnTo>
                    <a:pt x="627636" y="193939"/>
                  </a:lnTo>
                  <a:lnTo>
                    <a:pt x="623424" y="189723"/>
                  </a:lnTo>
                  <a:close/>
                </a:path>
                <a:path w="682625" h="480694">
                  <a:moveTo>
                    <a:pt x="631855" y="286683"/>
                  </a:moveTo>
                  <a:lnTo>
                    <a:pt x="627636" y="286683"/>
                  </a:lnTo>
                  <a:lnTo>
                    <a:pt x="623424" y="290906"/>
                  </a:lnTo>
                  <a:lnTo>
                    <a:pt x="631855" y="290906"/>
                  </a:lnTo>
                  <a:lnTo>
                    <a:pt x="631855" y="286683"/>
                  </a:lnTo>
                  <a:close/>
                </a:path>
                <a:path w="682625" h="480694">
                  <a:moveTo>
                    <a:pt x="58981" y="189723"/>
                  </a:moveTo>
                  <a:lnTo>
                    <a:pt x="54762" y="193939"/>
                  </a:lnTo>
                  <a:lnTo>
                    <a:pt x="58981" y="193939"/>
                  </a:lnTo>
                  <a:lnTo>
                    <a:pt x="58981" y="189723"/>
                  </a:lnTo>
                  <a:close/>
                </a:path>
                <a:path w="682625" h="480694">
                  <a:moveTo>
                    <a:pt x="219042" y="189723"/>
                  </a:moveTo>
                  <a:lnTo>
                    <a:pt x="58981" y="189723"/>
                  </a:lnTo>
                  <a:lnTo>
                    <a:pt x="58981" y="193939"/>
                  </a:lnTo>
                  <a:lnTo>
                    <a:pt x="219042" y="193939"/>
                  </a:lnTo>
                  <a:lnTo>
                    <a:pt x="219042" y="189723"/>
                  </a:lnTo>
                  <a:close/>
                </a:path>
                <a:path w="682625" h="480694">
                  <a:moveTo>
                    <a:pt x="227473" y="189723"/>
                  </a:moveTo>
                  <a:lnTo>
                    <a:pt x="219042" y="189723"/>
                  </a:lnTo>
                  <a:lnTo>
                    <a:pt x="223254" y="193939"/>
                  </a:lnTo>
                  <a:lnTo>
                    <a:pt x="227473" y="193939"/>
                  </a:lnTo>
                  <a:lnTo>
                    <a:pt x="227473" y="189723"/>
                  </a:lnTo>
                  <a:close/>
                </a:path>
                <a:path w="682625" h="480694">
                  <a:moveTo>
                    <a:pt x="261172" y="189723"/>
                  </a:moveTo>
                  <a:lnTo>
                    <a:pt x="256953" y="193939"/>
                  </a:lnTo>
                  <a:lnTo>
                    <a:pt x="261172" y="193939"/>
                  </a:lnTo>
                  <a:lnTo>
                    <a:pt x="261172" y="189723"/>
                  </a:lnTo>
                  <a:close/>
                </a:path>
                <a:path w="682625" h="480694">
                  <a:moveTo>
                    <a:pt x="421233" y="189723"/>
                  </a:moveTo>
                  <a:lnTo>
                    <a:pt x="261172" y="189723"/>
                  </a:lnTo>
                  <a:lnTo>
                    <a:pt x="261172" y="193939"/>
                  </a:lnTo>
                  <a:lnTo>
                    <a:pt x="421233" y="193939"/>
                  </a:lnTo>
                  <a:lnTo>
                    <a:pt x="421233" y="189723"/>
                  </a:lnTo>
                  <a:close/>
                </a:path>
                <a:path w="682625" h="480694">
                  <a:moveTo>
                    <a:pt x="429664" y="189723"/>
                  </a:moveTo>
                  <a:lnTo>
                    <a:pt x="421233" y="189723"/>
                  </a:lnTo>
                  <a:lnTo>
                    <a:pt x="425445" y="193939"/>
                  </a:lnTo>
                  <a:lnTo>
                    <a:pt x="429664" y="193939"/>
                  </a:lnTo>
                  <a:lnTo>
                    <a:pt x="429664" y="189723"/>
                  </a:lnTo>
                  <a:close/>
                </a:path>
                <a:path w="682625" h="480694">
                  <a:moveTo>
                    <a:pt x="463363" y="189723"/>
                  </a:moveTo>
                  <a:lnTo>
                    <a:pt x="459144" y="193939"/>
                  </a:lnTo>
                  <a:lnTo>
                    <a:pt x="463363" y="193939"/>
                  </a:lnTo>
                  <a:lnTo>
                    <a:pt x="463363" y="189723"/>
                  </a:lnTo>
                  <a:close/>
                </a:path>
                <a:path w="682625" h="480694">
                  <a:moveTo>
                    <a:pt x="623424" y="189723"/>
                  </a:moveTo>
                  <a:lnTo>
                    <a:pt x="463363" y="189723"/>
                  </a:lnTo>
                  <a:lnTo>
                    <a:pt x="463363" y="193939"/>
                  </a:lnTo>
                  <a:lnTo>
                    <a:pt x="623424" y="193939"/>
                  </a:lnTo>
                  <a:lnTo>
                    <a:pt x="623424" y="189723"/>
                  </a:lnTo>
                  <a:close/>
                </a:path>
                <a:path w="682625" h="480694">
                  <a:moveTo>
                    <a:pt x="631855" y="189723"/>
                  </a:moveTo>
                  <a:lnTo>
                    <a:pt x="623424" y="189723"/>
                  </a:lnTo>
                  <a:lnTo>
                    <a:pt x="627636" y="193939"/>
                  </a:lnTo>
                  <a:lnTo>
                    <a:pt x="631855" y="193939"/>
                  </a:lnTo>
                  <a:lnTo>
                    <a:pt x="631855" y="189723"/>
                  </a:lnTo>
                  <a:close/>
                </a:path>
                <a:path w="682625" h="480694">
                  <a:moveTo>
                    <a:pt x="227473" y="50591"/>
                  </a:moveTo>
                  <a:lnTo>
                    <a:pt x="50549" y="50591"/>
                  </a:lnTo>
                  <a:lnTo>
                    <a:pt x="50549" y="160212"/>
                  </a:lnTo>
                  <a:lnTo>
                    <a:pt x="227473" y="160212"/>
                  </a:lnTo>
                  <a:lnTo>
                    <a:pt x="227473" y="155996"/>
                  </a:lnTo>
                  <a:lnTo>
                    <a:pt x="58981" y="155996"/>
                  </a:lnTo>
                  <a:lnTo>
                    <a:pt x="54762" y="151773"/>
                  </a:lnTo>
                  <a:lnTo>
                    <a:pt x="58981" y="151773"/>
                  </a:lnTo>
                  <a:lnTo>
                    <a:pt x="58981" y="59029"/>
                  </a:lnTo>
                  <a:lnTo>
                    <a:pt x="54762" y="59029"/>
                  </a:lnTo>
                  <a:lnTo>
                    <a:pt x="58981" y="54814"/>
                  </a:lnTo>
                  <a:lnTo>
                    <a:pt x="227473" y="54814"/>
                  </a:lnTo>
                  <a:lnTo>
                    <a:pt x="227473" y="50591"/>
                  </a:lnTo>
                  <a:close/>
                </a:path>
                <a:path w="682625" h="480694">
                  <a:moveTo>
                    <a:pt x="429664" y="50591"/>
                  </a:moveTo>
                  <a:lnTo>
                    <a:pt x="252740" y="50591"/>
                  </a:lnTo>
                  <a:lnTo>
                    <a:pt x="252740" y="160212"/>
                  </a:lnTo>
                  <a:lnTo>
                    <a:pt x="429664" y="160212"/>
                  </a:lnTo>
                  <a:lnTo>
                    <a:pt x="429664" y="155996"/>
                  </a:lnTo>
                  <a:lnTo>
                    <a:pt x="261172" y="155996"/>
                  </a:lnTo>
                  <a:lnTo>
                    <a:pt x="256953" y="151773"/>
                  </a:lnTo>
                  <a:lnTo>
                    <a:pt x="261172" y="151773"/>
                  </a:lnTo>
                  <a:lnTo>
                    <a:pt x="261172" y="59030"/>
                  </a:lnTo>
                  <a:lnTo>
                    <a:pt x="256953" y="59030"/>
                  </a:lnTo>
                  <a:lnTo>
                    <a:pt x="261172" y="54814"/>
                  </a:lnTo>
                  <a:lnTo>
                    <a:pt x="429664" y="54814"/>
                  </a:lnTo>
                  <a:lnTo>
                    <a:pt x="429664" y="50591"/>
                  </a:lnTo>
                  <a:close/>
                </a:path>
                <a:path w="682625" h="480694">
                  <a:moveTo>
                    <a:pt x="631855" y="50591"/>
                  </a:moveTo>
                  <a:lnTo>
                    <a:pt x="454931" y="50591"/>
                  </a:lnTo>
                  <a:lnTo>
                    <a:pt x="454931" y="160212"/>
                  </a:lnTo>
                  <a:lnTo>
                    <a:pt x="631855" y="160212"/>
                  </a:lnTo>
                  <a:lnTo>
                    <a:pt x="631855" y="155996"/>
                  </a:lnTo>
                  <a:lnTo>
                    <a:pt x="463363" y="155996"/>
                  </a:lnTo>
                  <a:lnTo>
                    <a:pt x="459144" y="151773"/>
                  </a:lnTo>
                  <a:lnTo>
                    <a:pt x="463363" y="151773"/>
                  </a:lnTo>
                  <a:lnTo>
                    <a:pt x="463363" y="59030"/>
                  </a:lnTo>
                  <a:lnTo>
                    <a:pt x="459144" y="59030"/>
                  </a:lnTo>
                  <a:lnTo>
                    <a:pt x="463363" y="54814"/>
                  </a:lnTo>
                  <a:lnTo>
                    <a:pt x="631855" y="54814"/>
                  </a:lnTo>
                  <a:lnTo>
                    <a:pt x="631855" y="50591"/>
                  </a:lnTo>
                  <a:close/>
                </a:path>
                <a:path w="682625" h="480694">
                  <a:moveTo>
                    <a:pt x="58981" y="151773"/>
                  </a:moveTo>
                  <a:lnTo>
                    <a:pt x="54762" y="151773"/>
                  </a:lnTo>
                  <a:lnTo>
                    <a:pt x="58981" y="155996"/>
                  </a:lnTo>
                  <a:lnTo>
                    <a:pt x="58981" y="151773"/>
                  </a:lnTo>
                  <a:close/>
                </a:path>
                <a:path w="682625" h="480694">
                  <a:moveTo>
                    <a:pt x="219042" y="151773"/>
                  </a:moveTo>
                  <a:lnTo>
                    <a:pt x="58981" y="151773"/>
                  </a:lnTo>
                  <a:lnTo>
                    <a:pt x="58981" y="155996"/>
                  </a:lnTo>
                  <a:lnTo>
                    <a:pt x="219042" y="155996"/>
                  </a:lnTo>
                  <a:lnTo>
                    <a:pt x="219042" y="151773"/>
                  </a:lnTo>
                  <a:close/>
                </a:path>
                <a:path w="682625" h="480694">
                  <a:moveTo>
                    <a:pt x="219042" y="54814"/>
                  </a:moveTo>
                  <a:lnTo>
                    <a:pt x="219042" y="155996"/>
                  </a:lnTo>
                  <a:lnTo>
                    <a:pt x="223254" y="151773"/>
                  </a:lnTo>
                  <a:lnTo>
                    <a:pt x="227473" y="151773"/>
                  </a:lnTo>
                  <a:lnTo>
                    <a:pt x="227473" y="59030"/>
                  </a:lnTo>
                  <a:lnTo>
                    <a:pt x="223254" y="59030"/>
                  </a:lnTo>
                  <a:lnTo>
                    <a:pt x="219042" y="54814"/>
                  </a:lnTo>
                  <a:close/>
                </a:path>
                <a:path w="682625" h="480694">
                  <a:moveTo>
                    <a:pt x="227473" y="151773"/>
                  </a:moveTo>
                  <a:lnTo>
                    <a:pt x="223254" y="151773"/>
                  </a:lnTo>
                  <a:lnTo>
                    <a:pt x="219042" y="155996"/>
                  </a:lnTo>
                  <a:lnTo>
                    <a:pt x="227473" y="155996"/>
                  </a:lnTo>
                  <a:lnTo>
                    <a:pt x="227473" y="151773"/>
                  </a:lnTo>
                  <a:close/>
                </a:path>
                <a:path w="682625" h="480694">
                  <a:moveTo>
                    <a:pt x="261172" y="151773"/>
                  </a:moveTo>
                  <a:lnTo>
                    <a:pt x="256953" y="151773"/>
                  </a:lnTo>
                  <a:lnTo>
                    <a:pt x="261172" y="155996"/>
                  </a:lnTo>
                  <a:lnTo>
                    <a:pt x="261172" y="151773"/>
                  </a:lnTo>
                  <a:close/>
                </a:path>
                <a:path w="682625" h="480694">
                  <a:moveTo>
                    <a:pt x="421233" y="151773"/>
                  </a:moveTo>
                  <a:lnTo>
                    <a:pt x="261172" y="151773"/>
                  </a:lnTo>
                  <a:lnTo>
                    <a:pt x="261172" y="155996"/>
                  </a:lnTo>
                  <a:lnTo>
                    <a:pt x="421233" y="155996"/>
                  </a:lnTo>
                  <a:lnTo>
                    <a:pt x="421233" y="151773"/>
                  </a:lnTo>
                  <a:close/>
                </a:path>
                <a:path w="682625" h="480694">
                  <a:moveTo>
                    <a:pt x="421233" y="54814"/>
                  </a:moveTo>
                  <a:lnTo>
                    <a:pt x="421233" y="155996"/>
                  </a:lnTo>
                  <a:lnTo>
                    <a:pt x="425445" y="151773"/>
                  </a:lnTo>
                  <a:lnTo>
                    <a:pt x="429664" y="151773"/>
                  </a:lnTo>
                  <a:lnTo>
                    <a:pt x="429664" y="59030"/>
                  </a:lnTo>
                  <a:lnTo>
                    <a:pt x="425445" y="59030"/>
                  </a:lnTo>
                  <a:lnTo>
                    <a:pt x="421233" y="54814"/>
                  </a:lnTo>
                  <a:close/>
                </a:path>
                <a:path w="682625" h="480694">
                  <a:moveTo>
                    <a:pt x="429664" y="151773"/>
                  </a:moveTo>
                  <a:lnTo>
                    <a:pt x="425445" y="151773"/>
                  </a:lnTo>
                  <a:lnTo>
                    <a:pt x="421233" y="155996"/>
                  </a:lnTo>
                  <a:lnTo>
                    <a:pt x="429664" y="155996"/>
                  </a:lnTo>
                  <a:lnTo>
                    <a:pt x="429664" y="151773"/>
                  </a:lnTo>
                  <a:close/>
                </a:path>
                <a:path w="682625" h="480694">
                  <a:moveTo>
                    <a:pt x="463363" y="151773"/>
                  </a:moveTo>
                  <a:lnTo>
                    <a:pt x="459144" y="151773"/>
                  </a:lnTo>
                  <a:lnTo>
                    <a:pt x="463363" y="155996"/>
                  </a:lnTo>
                  <a:lnTo>
                    <a:pt x="463363" y="151773"/>
                  </a:lnTo>
                  <a:close/>
                </a:path>
                <a:path w="682625" h="480694">
                  <a:moveTo>
                    <a:pt x="623424" y="151773"/>
                  </a:moveTo>
                  <a:lnTo>
                    <a:pt x="463363" y="151773"/>
                  </a:lnTo>
                  <a:lnTo>
                    <a:pt x="463363" y="155996"/>
                  </a:lnTo>
                  <a:lnTo>
                    <a:pt x="623424" y="155996"/>
                  </a:lnTo>
                  <a:lnTo>
                    <a:pt x="623424" y="151773"/>
                  </a:lnTo>
                  <a:close/>
                </a:path>
                <a:path w="682625" h="480694">
                  <a:moveTo>
                    <a:pt x="623424" y="54814"/>
                  </a:moveTo>
                  <a:lnTo>
                    <a:pt x="623424" y="155996"/>
                  </a:lnTo>
                  <a:lnTo>
                    <a:pt x="627636" y="151773"/>
                  </a:lnTo>
                  <a:lnTo>
                    <a:pt x="631855" y="151773"/>
                  </a:lnTo>
                  <a:lnTo>
                    <a:pt x="631855" y="59030"/>
                  </a:lnTo>
                  <a:lnTo>
                    <a:pt x="627636" y="59030"/>
                  </a:lnTo>
                  <a:lnTo>
                    <a:pt x="623424" y="54814"/>
                  </a:lnTo>
                  <a:close/>
                </a:path>
                <a:path w="682625" h="480694">
                  <a:moveTo>
                    <a:pt x="631855" y="151773"/>
                  </a:moveTo>
                  <a:lnTo>
                    <a:pt x="627636" y="151773"/>
                  </a:lnTo>
                  <a:lnTo>
                    <a:pt x="623424" y="155996"/>
                  </a:lnTo>
                  <a:lnTo>
                    <a:pt x="631855" y="155996"/>
                  </a:lnTo>
                  <a:lnTo>
                    <a:pt x="631855" y="151773"/>
                  </a:lnTo>
                  <a:close/>
                </a:path>
                <a:path w="682625" h="480694">
                  <a:moveTo>
                    <a:pt x="58981" y="54814"/>
                  </a:moveTo>
                  <a:lnTo>
                    <a:pt x="54762" y="59029"/>
                  </a:lnTo>
                  <a:lnTo>
                    <a:pt x="58981" y="59029"/>
                  </a:lnTo>
                  <a:lnTo>
                    <a:pt x="58981" y="54814"/>
                  </a:lnTo>
                  <a:close/>
                </a:path>
                <a:path w="682625" h="480694">
                  <a:moveTo>
                    <a:pt x="219042" y="54814"/>
                  </a:moveTo>
                  <a:lnTo>
                    <a:pt x="58981" y="54814"/>
                  </a:lnTo>
                  <a:lnTo>
                    <a:pt x="58981" y="59029"/>
                  </a:lnTo>
                  <a:lnTo>
                    <a:pt x="219042" y="59030"/>
                  </a:lnTo>
                  <a:lnTo>
                    <a:pt x="219042" y="54814"/>
                  </a:lnTo>
                  <a:close/>
                </a:path>
                <a:path w="682625" h="480694">
                  <a:moveTo>
                    <a:pt x="227473" y="54814"/>
                  </a:moveTo>
                  <a:lnTo>
                    <a:pt x="219042" y="54814"/>
                  </a:lnTo>
                  <a:lnTo>
                    <a:pt x="223254" y="59030"/>
                  </a:lnTo>
                  <a:lnTo>
                    <a:pt x="227473" y="59030"/>
                  </a:lnTo>
                  <a:lnTo>
                    <a:pt x="227473" y="54814"/>
                  </a:lnTo>
                  <a:close/>
                </a:path>
                <a:path w="682625" h="480694">
                  <a:moveTo>
                    <a:pt x="261172" y="54814"/>
                  </a:moveTo>
                  <a:lnTo>
                    <a:pt x="256953" y="59030"/>
                  </a:lnTo>
                  <a:lnTo>
                    <a:pt x="261172" y="59030"/>
                  </a:lnTo>
                  <a:lnTo>
                    <a:pt x="261172" y="54814"/>
                  </a:lnTo>
                  <a:close/>
                </a:path>
                <a:path w="682625" h="480694">
                  <a:moveTo>
                    <a:pt x="421233" y="54814"/>
                  </a:moveTo>
                  <a:lnTo>
                    <a:pt x="261172" y="54814"/>
                  </a:lnTo>
                  <a:lnTo>
                    <a:pt x="261172" y="59030"/>
                  </a:lnTo>
                  <a:lnTo>
                    <a:pt x="421233" y="59030"/>
                  </a:lnTo>
                  <a:lnTo>
                    <a:pt x="421233" y="54814"/>
                  </a:lnTo>
                  <a:close/>
                </a:path>
                <a:path w="682625" h="480694">
                  <a:moveTo>
                    <a:pt x="429664" y="54814"/>
                  </a:moveTo>
                  <a:lnTo>
                    <a:pt x="421233" y="54814"/>
                  </a:lnTo>
                  <a:lnTo>
                    <a:pt x="425445" y="59030"/>
                  </a:lnTo>
                  <a:lnTo>
                    <a:pt x="429664" y="59030"/>
                  </a:lnTo>
                  <a:lnTo>
                    <a:pt x="429664" y="54814"/>
                  </a:lnTo>
                  <a:close/>
                </a:path>
                <a:path w="682625" h="480694">
                  <a:moveTo>
                    <a:pt x="463363" y="54814"/>
                  </a:moveTo>
                  <a:lnTo>
                    <a:pt x="459144" y="59030"/>
                  </a:lnTo>
                  <a:lnTo>
                    <a:pt x="463363" y="59030"/>
                  </a:lnTo>
                  <a:lnTo>
                    <a:pt x="463363" y="54814"/>
                  </a:lnTo>
                  <a:close/>
                </a:path>
                <a:path w="682625" h="480694">
                  <a:moveTo>
                    <a:pt x="623424" y="54814"/>
                  </a:moveTo>
                  <a:lnTo>
                    <a:pt x="463363" y="54814"/>
                  </a:lnTo>
                  <a:lnTo>
                    <a:pt x="463363" y="59030"/>
                  </a:lnTo>
                  <a:lnTo>
                    <a:pt x="623424" y="59030"/>
                  </a:lnTo>
                  <a:lnTo>
                    <a:pt x="623424" y="54814"/>
                  </a:lnTo>
                  <a:close/>
                </a:path>
                <a:path w="682625" h="480694">
                  <a:moveTo>
                    <a:pt x="631855" y="54814"/>
                  </a:moveTo>
                  <a:lnTo>
                    <a:pt x="623424" y="54814"/>
                  </a:lnTo>
                  <a:lnTo>
                    <a:pt x="627636" y="59030"/>
                  </a:lnTo>
                  <a:lnTo>
                    <a:pt x="631855" y="59030"/>
                  </a:lnTo>
                  <a:lnTo>
                    <a:pt x="631855" y="54814"/>
                  </a:lnTo>
                  <a:close/>
                </a:path>
                <a:path w="682625" h="480694">
                  <a:moveTo>
                    <a:pt x="8433" y="4222"/>
                  </a:moveTo>
                  <a:lnTo>
                    <a:pt x="4214" y="8438"/>
                  </a:lnTo>
                  <a:lnTo>
                    <a:pt x="8433" y="8438"/>
                  </a:lnTo>
                  <a:lnTo>
                    <a:pt x="8433" y="4222"/>
                  </a:lnTo>
                  <a:close/>
                </a:path>
                <a:path w="682625" h="480694">
                  <a:moveTo>
                    <a:pt x="673985" y="4223"/>
                  </a:moveTo>
                  <a:lnTo>
                    <a:pt x="8433" y="4222"/>
                  </a:lnTo>
                  <a:lnTo>
                    <a:pt x="8433" y="8438"/>
                  </a:lnTo>
                  <a:lnTo>
                    <a:pt x="673985" y="8439"/>
                  </a:lnTo>
                  <a:lnTo>
                    <a:pt x="673985" y="4223"/>
                  </a:lnTo>
                  <a:close/>
                </a:path>
                <a:path w="682625" h="480694">
                  <a:moveTo>
                    <a:pt x="682410" y="4223"/>
                  </a:moveTo>
                  <a:lnTo>
                    <a:pt x="673985" y="4223"/>
                  </a:lnTo>
                  <a:lnTo>
                    <a:pt x="678198" y="8439"/>
                  </a:lnTo>
                  <a:lnTo>
                    <a:pt x="682410" y="8439"/>
                  </a:lnTo>
                  <a:lnTo>
                    <a:pt x="682410" y="4223"/>
                  </a:lnTo>
                  <a:close/>
                </a:path>
              </a:pathLst>
            </a:custGeom>
            <a:solidFill>
              <a:srgbClr val="0093FF"/>
            </a:solidFill>
          </p:spPr>
          <p:txBody>
            <a:bodyPr wrap="square" lIns="0" tIns="0" rIns="0" bIns="0" rtlCol="0"/>
            <a:lstStyle/>
            <a:p>
              <a:endParaRPr sz="2400"/>
            </a:p>
          </p:txBody>
        </p:sp>
        <p:pic>
          <p:nvPicPr>
            <p:cNvPr id="14" name="object 14"/>
            <p:cNvPicPr/>
            <p:nvPr/>
          </p:nvPicPr>
          <p:blipFill>
            <a:blip r:embed="rId3" cstate="print"/>
            <a:stretch>
              <a:fillRect/>
            </a:stretch>
          </p:blipFill>
          <p:spPr>
            <a:xfrm>
              <a:off x="5913119" y="2727909"/>
              <a:ext cx="903719" cy="420674"/>
            </a:xfrm>
            <a:prstGeom prst="rect">
              <a:avLst/>
            </a:prstGeom>
          </p:spPr>
        </p:pic>
        <p:sp>
          <p:nvSpPr>
            <p:cNvPr id="15" name="object 15"/>
            <p:cNvSpPr/>
            <p:nvPr/>
          </p:nvSpPr>
          <p:spPr>
            <a:xfrm>
              <a:off x="5956554" y="2832119"/>
              <a:ext cx="652780" cy="171450"/>
            </a:xfrm>
            <a:custGeom>
              <a:avLst/>
              <a:gdLst/>
              <a:ahLst/>
              <a:cxnLst/>
              <a:rect l="l" t="t" r="r" b="b"/>
              <a:pathLst>
                <a:path w="652779" h="171450">
                  <a:moveTo>
                    <a:pt x="577106" y="85578"/>
                  </a:moveTo>
                  <a:lnTo>
                    <a:pt x="491109" y="135743"/>
                  </a:lnTo>
                  <a:lnTo>
                    <a:pt x="485483" y="140795"/>
                  </a:lnTo>
                  <a:lnTo>
                    <a:pt x="482298" y="147395"/>
                  </a:lnTo>
                  <a:lnTo>
                    <a:pt x="481804" y="154709"/>
                  </a:lnTo>
                  <a:lnTo>
                    <a:pt x="484250" y="161905"/>
                  </a:lnTo>
                  <a:lnTo>
                    <a:pt x="489301" y="167513"/>
                  </a:lnTo>
                  <a:lnTo>
                    <a:pt x="495887" y="170668"/>
                  </a:lnTo>
                  <a:lnTo>
                    <a:pt x="503164" y="171156"/>
                  </a:lnTo>
                  <a:lnTo>
                    <a:pt x="510286" y="168763"/>
                  </a:lnTo>
                  <a:lnTo>
                    <a:pt x="620147" y="104628"/>
                  </a:lnTo>
                  <a:lnTo>
                    <a:pt x="615061" y="104628"/>
                  </a:lnTo>
                  <a:lnTo>
                    <a:pt x="615061" y="102088"/>
                  </a:lnTo>
                  <a:lnTo>
                    <a:pt x="605409" y="102088"/>
                  </a:lnTo>
                  <a:lnTo>
                    <a:pt x="577106" y="85578"/>
                  </a:lnTo>
                  <a:close/>
                </a:path>
                <a:path w="652779" h="171450">
                  <a:moveTo>
                    <a:pt x="544449" y="66528"/>
                  </a:moveTo>
                  <a:lnTo>
                    <a:pt x="0" y="66528"/>
                  </a:lnTo>
                  <a:lnTo>
                    <a:pt x="0" y="104628"/>
                  </a:lnTo>
                  <a:lnTo>
                    <a:pt x="544449" y="104628"/>
                  </a:lnTo>
                  <a:lnTo>
                    <a:pt x="577106" y="85578"/>
                  </a:lnTo>
                  <a:lnTo>
                    <a:pt x="544449" y="66528"/>
                  </a:lnTo>
                  <a:close/>
                </a:path>
                <a:path w="652779" h="171450">
                  <a:moveTo>
                    <a:pt x="620147" y="66528"/>
                  </a:moveTo>
                  <a:lnTo>
                    <a:pt x="615061" y="66528"/>
                  </a:lnTo>
                  <a:lnTo>
                    <a:pt x="615061" y="104628"/>
                  </a:lnTo>
                  <a:lnTo>
                    <a:pt x="620147" y="104628"/>
                  </a:lnTo>
                  <a:lnTo>
                    <a:pt x="652779" y="85578"/>
                  </a:lnTo>
                  <a:lnTo>
                    <a:pt x="620147" y="66528"/>
                  </a:lnTo>
                  <a:close/>
                </a:path>
                <a:path w="652779" h="171450">
                  <a:moveTo>
                    <a:pt x="605409" y="69068"/>
                  </a:moveTo>
                  <a:lnTo>
                    <a:pt x="577106" y="85578"/>
                  </a:lnTo>
                  <a:lnTo>
                    <a:pt x="605409" y="102088"/>
                  </a:lnTo>
                  <a:lnTo>
                    <a:pt x="605409" y="69068"/>
                  </a:lnTo>
                  <a:close/>
                </a:path>
                <a:path w="652779" h="171450">
                  <a:moveTo>
                    <a:pt x="615061" y="69068"/>
                  </a:moveTo>
                  <a:lnTo>
                    <a:pt x="605409" y="69068"/>
                  </a:lnTo>
                  <a:lnTo>
                    <a:pt x="605409" y="102088"/>
                  </a:lnTo>
                  <a:lnTo>
                    <a:pt x="615061" y="102088"/>
                  </a:lnTo>
                  <a:lnTo>
                    <a:pt x="615061" y="69068"/>
                  </a:lnTo>
                  <a:close/>
                </a:path>
                <a:path w="652779" h="171450">
                  <a:moveTo>
                    <a:pt x="503164" y="0"/>
                  </a:moveTo>
                  <a:lnTo>
                    <a:pt x="495887" y="488"/>
                  </a:lnTo>
                  <a:lnTo>
                    <a:pt x="489301" y="3643"/>
                  </a:lnTo>
                  <a:lnTo>
                    <a:pt x="484250" y="9251"/>
                  </a:lnTo>
                  <a:lnTo>
                    <a:pt x="481804" y="16446"/>
                  </a:lnTo>
                  <a:lnTo>
                    <a:pt x="482298" y="23760"/>
                  </a:lnTo>
                  <a:lnTo>
                    <a:pt x="485483" y="30360"/>
                  </a:lnTo>
                  <a:lnTo>
                    <a:pt x="491109" y="35413"/>
                  </a:lnTo>
                  <a:lnTo>
                    <a:pt x="577106" y="85578"/>
                  </a:lnTo>
                  <a:lnTo>
                    <a:pt x="605409" y="69068"/>
                  </a:lnTo>
                  <a:lnTo>
                    <a:pt x="615061" y="69068"/>
                  </a:lnTo>
                  <a:lnTo>
                    <a:pt x="615061" y="66528"/>
                  </a:lnTo>
                  <a:lnTo>
                    <a:pt x="620147" y="66528"/>
                  </a:lnTo>
                  <a:lnTo>
                    <a:pt x="510286" y="2393"/>
                  </a:lnTo>
                  <a:lnTo>
                    <a:pt x="503164" y="0"/>
                  </a:lnTo>
                  <a:close/>
                </a:path>
              </a:pathLst>
            </a:custGeom>
            <a:solidFill>
              <a:srgbClr val="F1F1F1"/>
            </a:solidFill>
          </p:spPr>
          <p:txBody>
            <a:bodyPr wrap="square" lIns="0" tIns="0" rIns="0" bIns="0" rtlCol="0"/>
            <a:lstStyle/>
            <a:p>
              <a:endParaRPr sz="2400"/>
            </a:p>
          </p:txBody>
        </p:sp>
        <p:pic>
          <p:nvPicPr>
            <p:cNvPr id="16" name="object 16"/>
            <p:cNvPicPr/>
            <p:nvPr/>
          </p:nvPicPr>
          <p:blipFill>
            <a:blip r:embed="rId4" cstate="print"/>
            <a:stretch>
              <a:fillRect/>
            </a:stretch>
          </p:blipFill>
          <p:spPr>
            <a:xfrm>
              <a:off x="3490986" y="2704819"/>
              <a:ext cx="413931" cy="415500"/>
            </a:xfrm>
            <a:prstGeom prst="rect">
              <a:avLst/>
            </a:prstGeom>
          </p:spPr>
        </p:pic>
        <p:pic>
          <p:nvPicPr>
            <p:cNvPr id="17" name="object 17"/>
            <p:cNvPicPr/>
            <p:nvPr/>
          </p:nvPicPr>
          <p:blipFill>
            <a:blip r:embed="rId5" cstate="print"/>
            <a:stretch>
              <a:fillRect/>
            </a:stretch>
          </p:blipFill>
          <p:spPr>
            <a:xfrm>
              <a:off x="1819655" y="2727909"/>
              <a:ext cx="886993" cy="420674"/>
            </a:xfrm>
            <a:prstGeom prst="rect">
              <a:avLst/>
            </a:prstGeom>
          </p:spPr>
        </p:pic>
        <p:sp>
          <p:nvSpPr>
            <p:cNvPr id="18" name="object 18"/>
            <p:cNvSpPr/>
            <p:nvPr/>
          </p:nvSpPr>
          <p:spPr>
            <a:xfrm>
              <a:off x="1862962" y="2832830"/>
              <a:ext cx="636905" cy="171450"/>
            </a:xfrm>
            <a:custGeom>
              <a:avLst/>
              <a:gdLst/>
              <a:ahLst/>
              <a:cxnLst/>
              <a:rect l="l" t="t" r="r" b="b"/>
              <a:pathLst>
                <a:path w="636905" h="171450">
                  <a:moveTo>
                    <a:pt x="603566" y="65944"/>
                  </a:moveTo>
                  <a:lnTo>
                    <a:pt x="598424" y="65944"/>
                  </a:lnTo>
                  <a:lnTo>
                    <a:pt x="598426" y="66274"/>
                  </a:lnTo>
                  <a:lnTo>
                    <a:pt x="598552" y="85208"/>
                  </a:lnTo>
                  <a:lnTo>
                    <a:pt x="598678" y="104044"/>
                  </a:lnTo>
                  <a:lnTo>
                    <a:pt x="528191" y="104373"/>
                  </a:lnTo>
                  <a:lnTo>
                    <a:pt x="474853" y="135794"/>
                  </a:lnTo>
                  <a:lnTo>
                    <a:pt x="469247" y="140846"/>
                  </a:lnTo>
                  <a:lnTo>
                    <a:pt x="466105" y="147446"/>
                  </a:lnTo>
                  <a:lnTo>
                    <a:pt x="465655" y="154761"/>
                  </a:lnTo>
                  <a:lnTo>
                    <a:pt x="468122" y="161956"/>
                  </a:lnTo>
                  <a:lnTo>
                    <a:pt x="473172" y="167562"/>
                  </a:lnTo>
                  <a:lnTo>
                    <a:pt x="479758" y="170703"/>
                  </a:lnTo>
                  <a:lnTo>
                    <a:pt x="487035" y="171154"/>
                  </a:lnTo>
                  <a:lnTo>
                    <a:pt x="494156" y="168687"/>
                  </a:lnTo>
                  <a:lnTo>
                    <a:pt x="636397" y="84867"/>
                  </a:lnTo>
                  <a:lnTo>
                    <a:pt x="603566" y="65944"/>
                  </a:lnTo>
                  <a:close/>
                </a:path>
                <a:path w="636905" h="171450">
                  <a:moveTo>
                    <a:pt x="527846" y="66274"/>
                  </a:moveTo>
                  <a:lnTo>
                    <a:pt x="0" y="68738"/>
                  </a:lnTo>
                  <a:lnTo>
                    <a:pt x="107" y="84867"/>
                  </a:lnTo>
                  <a:lnTo>
                    <a:pt x="218" y="101504"/>
                  </a:lnTo>
                  <a:lnTo>
                    <a:pt x="254" y="106838"/>
                  </a:lnTo>
                  <a:lnTo>
                    <a:pt x="528191" y="104373"/>
                  </a:lnTo>
                  <a:lnTo>
                    <a:pt x="560726" y="85208"/>
                  </a:lnTo>
                  <a:lnTo>
                    <a:pt x="527846" y="66274"/>
                  </a:lnTo>
                  <a:close/>
                </a:path>
                <a:path w="636905" h="171450">
                  <a:moveTo>
                    <a:pt x="560726" y="85208"/>
                  </a:moveTo>
                  <a:lnTo>
                    <a:pt x="528191" y="104373"/>
                  </a:lnTo>
                  <a:lnTo>
                    <a:pt x="598678" y="104044"/>
                  </a:lnTo>
                  <a:lnTo>
                    <a:pt x="598661" y="101504"/>
                  </a:lnTo>
                  <a:lnTo>
                    <a:pt x="589026" y="101504"/>
                  </a:lnTo>
                  <a:lnTo>
                    <a:pt x="560726" y="85208"/>
                  </a:lnTo>
                  <a:close/>
                </a:path>
                <a:path w="636905" h="171450">
                  <a:moveTo>
                    <a:pt x="588899" y="68738"/>
                  </a:moveTo>
                  <a:lnTo>
                    <a:pt x="588683" y="68738"/>
                  </a:lnTo>
                  <a:lnTo>
                    <a:pt x="560726" y="85208"/>
                  </a:lnTo>
                  <a:lnTo>
                    <a:pt x="589026" y="101504"/>
                  </a:lnTo>
                  <a:lnTo>
                    <a:pt x="588899" y="68738"/>
                  </a:lnTo>
                  <a:close/>
                </a:path>
                <a:path w="636905" h="171450">
                  <a:moveTo>
                    <a:pt x="598442" y="68738"/>
                  </a:moveTo>
                  <a:lnTo>
                    <a:pt x="588899" y="68738"/>
                  </a:lnTo>
                  <a:lnTo>
                    <a:pt x="589026" y="101504"/>
                  </a:lnTo>
                  <a:lnTo>
                    <a:pt x="598661" y="101504"/>
                  </a:lnTo>
                  <a:lnTo>
                    <a:pt x="598550" y="84867"/>
                  </a:lnTo>
                  <a:lnTo>
                    <a:pt x="598442" y="68738"/>
                  </a:lnTo>
                  <a:close/>
                </a:path>
                <a:path w="636905" h="171450">
                  <a:moveTo>
                    <a:pt x="598424" y="65944"/>
                  </a:moveTo>
                  <a:lnTo>
                    <a:pt x="527846" y="66274"/>
                  </a:lnTo>
                  <a:lnTo>
                    <a:pt x="560726" y="85208"/>
                  </a:lnTo>
                  <a:lnTo>
                    <a:pt x="588683" y="68738"/>
                  </a:lnTo>
                  <a:lnTo>
                    <a:pt x="598442" y="68738"/>
                  </a:lnTo>
                  <a:lnTo>
                    <a:pt x="598424" y="65944"/>
                  </a:lnTo>
                  <a:close/>
                </a:path>
                <a:path w="636905" h="171450">
                  <a:moveTo>
                    <a:pt x="486273" y="0"/>
                  </a:moveTo>
                  <a:lnTo>
                    <a:pt x="478996" y="507"/>
                  </a:lnTo>
                  <a:lnTo>
                    <a:pt x="472410" y="3730"/>
                  </a:lnTo>
                  <a:lnTo>
                    <a:pt x="467360" y="9429"/>
                  </a:lnTo>
                  <a:lnTo>
                    <a:pt x="464986" y="16551"/>
                  </a:lnTo>
                  <a:lnTo>
                    <a:pt x="465518" y="23828"/>
                  </a:lnTo>
                  <a:lnTo>
                    <a:pt x="468717" y="30414"/>
                  </a:lnTo>
                  <a:lnTo>
                    <a:pt x="474344" y="35464"/>
                  </a:lnTo>
                  <a:lnTo>
                    <a:pt x="527846" y="66274"/>
                  </a:lnTo>
                  <a:lnTo>
                    <a:pt x="603566" y="65944"/>
                  </a:lnTo>
                  <a:lnTo>
                    <a:pt x="493394" y="2444"/>
                  </a:lnTo>
                  <a:lnTo>
                    <a:pt x="486273" y="0"/>
                  </a:lnTo>
                  <a:close/>
                </a:path>
              </a:pathLst>
            </a:custGeom>
            <a:solidFill>
              <a:srgbClr val="F1F1F1"/>
            </a:solidFill>
          </p:spPr>
          <p:txBody>
            <a:bodyPr wrap="square" lIns="0" tIns="0" rIns="0" bIns="0" rtlCol="0"/>
            <a:lstStyle/>
            <a:p>
              <a:endParaRPr sz="2400"/>
            </a:p>
          </p:txBody>
        </p:sp>
        <p:pic>
          <p:nvPicPr>
            <p:cNvPr id="19" name="object 19"/>
            <p:cNvPicPr/>
            <p:nvPr/>
          </p:nvPicPr>
          <p:blipFill>
            <a:blip r:embed="rId6" cstate="print"/>
            <a:stretch>
              <a:fillRect/>
            </a:stretch>
          </p:blipFill>
          <p:spPr>
            <a:xfrm>
              <a:off x="3927348" y="2727909"/>
              <a:ext cx="800100" cy="420674"/>
            </a:xfrm>
            <a:prstGeom prst="rect">
              <a:avLst/>
            </a:prstGeom>
          </p:spPr>
        </p:pic>
        <p:sp>
          <p:nvSpPr>
            <p:cNvPr id="20" name="object 20"/>
            <p:cNvSpPr/>
            <p:nvPr/>
          </p:nvSpPr>
          <p:spPr>
            <a:xfrm>
              <a:off x="3970654" y="2832703"/>
              <a:ext cx="548640" cy="171450"/>
            </a:xfrm>
            <a:custGeom>
              <a:avLst/>
              <a:gdLst/>
              <a:ahLst/>
              <a:cxnLst/>
              <a:rect l="l" t="t" r="r" b="b"/>
              <a:pathLst>
                <a:path w="548639" h="171450">
                  <a:moveTo>
                    <a:pt x="515634" y="66071"/>
                  </a:moveTo>
                  <a:lnTo>
                    <a:pt x="510413" y="66071"/>
                  </a:lnTo>
                  <a:lnTo>
                    <a:pt x="510414" y="66352"/>
                  </a:lnTo>
                  <a:lnTo>
                    <a:pt x="510541" y="85310"/>
                  </a:lnTo>
                  <a:lnTo>
                    <a:pt x="510667" y="104171"/>
                  </a:lnTo>
                  <a:lnTo>
                    <a:pt x="440263" y="104452"/>
                  </a:lnTo>
                  <a:lnTo>
                    <a:pt x="386842" y="135921"/>
                  </a:lnTo>
                  <a:lnTo>
                    <a:pt x="381236" y="140971"/>
                  </a:lnTo>
                  <a:lnTo>
                    <a:pt x="378094" y="147558"/>
                  </a:lnTo>
                  <a:lnTo>
                    <a:pt x="377644" y="154834"/>
                  </a:lnTo>
                  <a:lnTo>
                    <a:pt x="380111" y="161956"/>
                  </a:lnTo>
                  <a:lnTo>
                    <a:pt x="385161" y="167562"/>
                  </a:lnTo>
                  <a:lnTo>
                    <a:pt x="391747" y="170703"/>
                  </a:lnTo>
                  <a:lnTo>
                    <a:pt x="399024" y="171154"/>
                  </a:lnTo>
                  <a:lnTo>
                    <a:pt x="406146" y="168687"/>
                  </a:lnTo>
                  <a:lnTo>
                    <a:pt x="548386" y="84994"/>
                  </a:lnTo>
                  <a:lnTo>
                    <a:pt x="515634" y="66071"/>
                  </a:lnTo>
                  <a:close/>
                </a:path>
                <a:path w="548639" h="171450">
                  <a:moveTo>
                    <a:pt x="439936" y="66352"/>
                  </a:moveTo>
                  <a:lnTo>
                    <a:pt x="0" y="68103"/>
                  </a:lnTo>
                  <a:lnTo>
                    <a:pt x="112" y="84994"/>
                  </a:lnTo>
                  <a:lnTo>
                    <a:pt x="223" y="101631"/>
                  </a:lnTo>
                  <a:lnTo>
                    <a:pt x="254" y="106203"/>
                  </a:lnTo>
                  <a:lnTo>
                    <a:pt x="440263" y="104452"/>
                  </a:lnTo>
                  <a:lnTo>
                    <a:pt x="472757" y="85310"/>
                  </a:lnTo>
                  <a:lnTo>
                    <a:pt x="439936" y="66352"/>
                  </a:lnTo>
                  <a:close/>
                </a:path>
                <a:path w="548639" h="171450">
                  <a:moveTo>
                    <a:pt x="472757" y="85310"/>
                  </a:moveTo>
                  <a:lnTo>
                    <a:pt x="440263" y="104452"/>
                  </a:lnTo>
                  <a:lnTo>
                    <a:pt x="510667" y="104171"/>
                  </a:lnTo>
                  <a:lnTo>
                    <a:pt x="510650" y="101631"/>
                  </a:lnTo>
                  <a:lnTo>
                    <a:pt x="501015" y="101631"/>
                  </a:lnTo>
                  <a:lnTo>
                    <a:pt x="472757" y="85310"/>
                  </a:lnTo>
                  <a:close/>
                </a:path>
                <a:path w="548639" h="171450">
                  <a:moveTo>
                    <a:pt x="500888" y="68738"/>
                  </a:moveTo>
                  <a:lnTo>
                    <a:pt x="472757" y="85310"/>
                  </a:lnTo>
                  <a:lnTo>
                    <a:pt x="501015" y="101631"/>
                  </a:lnTo>
                  <a:lnTo>
                    <a:pt x="500950" y="84994"/>
                  </a:lnTo>
                  <a:lnTo>
                    <a:pt x="500888" y="68738"/>
                  </a:lnTo>
                  <a:close/>
                </a:path>
                <a:path w="548639" h="171450">
                  <a:moveTo>
                    <a:pt x="510430" y="68738"/>
                  </a:moveTo>
                  <a:lnTo>
                    <a:pt x="500888" y="68738"/>
                  </a:lnTo>
                  <a:lnTo>
                    <a:pt x="500950" y="84994"/>
                  </a:lnTo>
                  <a:lnTo>
                    <a:pt x="501015" y="101631"/>
                  </a:lnTo>
                  <a:lnTo>
                    <a:pt x="510650" y="101631"/>
                  </a:lnTo>
                  <a:lnTo>
                    <a:pt x="510539" y="84994"/>
                  </a:lnTo>
                  <a:lnTo>
                    <a:pt x="510430" y="68738"/>
                  </a:lnTo>
                  <a:close/>
                </a:path>
                <a:path w="548639" h="171450">
                  <a:moveTo>
                    <a:pt x="510413" y="66071"/>
                  </a:moveTo>
                  <a:lnTo>
                    <a:pt x="439936" y="66352"/>
                  </a:lnTo>
                  <a:lnTo>
                    <a:pt x="472757" y="85310"/>
                  </a:lnTo>
                  <a:lnTo>
                    <a:pt x="500888" y="68738"/>
                  </a:lnTo>
                  <a:lnTo>
                    <a:pt x="510430" y="68738"/>
                  </a:lnTo>
                  <a:lnTo>
                    <a:pt x="510413" y="66071"/>
                  </a:lnTo>
                  <a:close/>
                </a:path>
                <a:path w="548639" h="171450">
                  <a:moveTo>
                    <a:pt x="398317" y="0"/>
                  </a:moveTo>
                  <a:lnTo>
                    <a:pt x="391017" y="507"/>
                  </a:lnTo>
                  <a:lnTo>
                    <a:pt x="384454" y="3730"/>
                  </a:lnTo>
                  <a:lnTo>
                    <a:pt x="379475" y="9429"/>
                  </a:lnTo>
                  <a:lnTo>
                    <a:pt x="377084" y="16551"/>
                  </a:lnTo>
                  <a:lnTo>
                    <a:pt x="377586" y="23828"/>
                  </a:lnTo>
                  <a:lnTo>
                    <a:pt x="380779" y="30414"/>
                  </a:lnTo>
                  <a:lnTo>
                    <a:pt x="386461" y="35464"/>
                  </a:lnTo>
                  <a:lnTo>
                    <a:pt x="439936" y="66352"/>
                  </a:lnTo>
                  <a:lnTo>
                    <a:pt x="515634" y="66071"/>
                  </a:lnTo>
                  <a:lnTo>
                    <a:pt x="405511" y="2444"/>
                  </a:lnTo>
                  <a:lnTo>
                    <a:pt x="398317" y="0"/>
                  </a:lnTo>
                  <a:close/>
                </a:path>
              </a:pathLst>
            </a:custGeom>
            <a:solidFill>
              <a:srgbClr val="F1F1F1"/>
            </a:solidFill>
          </p:spPr>
          <p:txBody>
            <a:bodyPr wrap="square" lIns="0" tIns="0" rIns="0" bIns="0" rtlCol="0"/>
            <a:lstStyle/>
            <a:p>
              <a:endParaRPr sz="2400"/>
            </a:p>
          </p:txBody>
        </p:sp>
        <p:sp>
          <p:nvSpPr>
            <p:cNvPr id="21" name="object 21"/>
            <p:cNvSpPr/>
            <p:nvPr/>
          </p:nvSpPr>
          <p:spPr>
            <a:xfrm>
              <a:off x="2558567" y="2774607"/>
              <a:ext cx="4534535" cy="285115"/>
            </a:xfrm>
            <a:custGeom>
              <a:avLst/>
              <a:gdLst/>
              <a:ahLst/>
              <a:cxnLst/>
              <a:rect l="l" t="t" r="r" b="b"/>
              <a:pathLst>
                <a:path w="4534534" h="285114">
                  <a:moveTo>
                    <a:pt x="129578" y="182689"/>
                  </a:moveTo>
                  <a:lnTo>
                    <a:pt x="121145" y="182689"/>
                  </a:lnTo>
                  <a:lnTo>
                    <a:pt x="121145" y="191160"/>
                  </a:lnTo>
                  <a:lnTo>
                    <a:pt x="121145" y="238836"/>
                  </a:lnTo>
                  <a:lnTo>
                    <a:pt x="36385" y="238836"/>
                  </a:lnTo>
                  <a:lnTo>
                    <a:pt x="36385" y="191160"/>
                  </a:lnTo>
                  <a:lnTo>
                    <a:pt x="121145" y="191160"/>
                  </a:lnTo>
                  <a:lnTo>
                    <a:pt x="121145" y="182689"/>
                  </a:lnTo>
                  <a:lnTo>
                    <a:pt x="27952" y="182689"/>
                  </a:lnTo>
                  <a:lnTo>
                    <a:pt x="27952" y="247307"/>
                  </a:lnTo>
                  <a:lnTo>
                    <a:pt x="129578" y="247307"/>
                  </a:lnTo>
                  <a:lnTo>
                    <a:pt x="129578" y="243078"/>
                  </a:lnTo>
                  <a:lnTo>
                    <a:pt x="129578" y="238836"/>
                  </a:lnTo>
                  <a:lnTo>
                    <a:pt x="129578" y="191160"/>
                  </a:lnTo>
                  <a:lnTo>
                    <a:pt x="129578" y="186931"/>
                  </a:lnTo>
                  <a:lnTo>
                    <a:pt x="129578" y="182689"/>
                  </a:lnTo>
                  <a:close/>
                </a:path>
                <a:path w="4534534" h="285114">
                  <a:moveTo>
                    <a:pt x="129578" y="107823"/>
                  </a:moveTo>
                  <a:lnTo>
                    <a:pt x="121145" y="107823"/>
                  </a:lnTo>
                  <a:lnTo>
                    <a:pt x="121145" y="116293"/>
                  </a:lnTo>
                  <a:lnTo>
                    <a:pt x="121145" y="163969"/>
                  </a:lnTo>
                  <a:lnTo>
                    <a:pt x="36385" y="163969"/>
                  </a:lnTo>
                  <a:lnTo>
                    <a:pt x="36385" y="116293"/>
                  </a:lnTo>
                  <a:lnTo>
                    <a:pt x="121145" y="116293"/>
                  </a:lnTo>
                  <a:lnTo>
                    <a:pt x="121145" y="107823"/>
                  </a:lnTo>
                  <a:lnTo>
                    <a:pt x="27952" y="107823"/>
                  </a:lnTo>
                  <a:lnTo>
                    <a:pt x="27952" y="172440"/>
                  </a:lnTo>
                  <a:lnTo>
                    <a:pt x="129578" y="172440"/>
                  </a:lnTo>
                  <a:lnTo>
                    <a:pt x="129578" y="168211"/>
                  </a:lnTo>
                  <a:lnTo>
                    <a:pt x="129578" y="163969"/>
                  </a:lnTo>
                  <a:lnTo>
                    <a:pt x="129578" y="116293"/>
                  </a:lnTo>
                  <a:lnTo>
                    <a:pt x="129578" y="112064"/>
                  </a:lnTo>
                  <a:lnTo>
                    <a:pt x="129578" y="107823"/>
                  </a:lnTo>
                  <a:close/>
                </a:path>
                <a:path w="4534534" h="285114">
                  <a:moveTo>
                    <a:pt x="129578" y="32956"/>
                  </a:moveTo>
                  <a:lnTo>
                    <a:pt x="121145" y="32956"/>
                  </a:lnTo>
                  <a:lnTo>
                    <a:pt x="121145" y="41427"/>
                  </a:lnTo>
                  <a:lnTo>
                    <a:pt x="121145" y="89103"/>
                  </a:lnTo>
                  <a:lnTo>
                    <a:pt x="36385" y="89103"/>
                  </a:lnTo>
                  <a:lnTo>
                    <a:pt x="36385" y="41427"/>
                  </a:lnTo>
                  <a:lnTo>
                    <a:pt x="121145" y="41427"/>
                  </a:lnTo>
                  <a:lnTo>
                    <a:pt x="121145" y="32956"/>
                  </a:lnTo>
                  <a:lnTo>
                    <a:pt x="27952" y="32956"/>
                  </a:lnTo>
                  <a:lnTo>
                    <a:pt x="27952" y="97574"/>
                  </a:lnTo>
                  <a:lnTo>
                    <a:pt x="129578" y="97574"/>
                  </a:lnTo>
                  <a:lnTo>
                    <a:pt x="129578" y="93345"/>
                  </a:lnTo>
                  <a:lnTo>
                    <a:pt x="129578" y="89103"/>
                  </a:lnTo>
                  <a:lnTo>
                    <a:pt x="129578" y="41427"/>
                  </a:lnTo>
                  <a:lnTo>
                    <a:pt x="129578" y="37198"/>
                  </a:lnTo>
                  <a:lnTo>
                    <a:pt x="129578" y="32956"/>
                  </a:lnTo>
                  <a:close/>
                </a:path>
                <a:path w="4534534" h="285114">
                  <a:moveTo>
                    <a:pt x="241401" y="182689"/>
                  </a:moveTo>
                  <a:lnTo>
                    <a:pt x="232968" y="182689"/>
                  </a:lnTo>
                  <a:lnTo>
                    <a:pt x="232968" y="191160"/>
                  </a:lnTo>
                  <a:lnTo>
                    <a:pt x="232968" y="238836"/>
                  </a:lnTo>
                  <a:lnTo>
                    <a:pt x="148221" y="238836"/>
                  </a:lnTo>
                  <a:lnTo>
                    <a:pt x="148221" y="191160"/>
                  </a:lnTo>
                  <a:lnTo>
                    <a:pt x="232968" y="191160"/>
                  </a:lnTo>
                  <a:lnTo>
                    <a:pt x="232968" y="182689"/>
                  </a:lnTo>
                  <a:lnTo>
                    <a:pt x="139776" y="182689"/>
                  </a:lnTo>
                  <a:lnTo>
                    <a:pt x="139776" y="247307"/>
                  </a:lnTo>
                  <a:lnTo>
                    <a:pt x="241401" y="247307"/>
                  </a:lnTo>
                  <a:lnTo>
                    <a:pt x="241401" y="243078"/>
                  </a:lnTo>
                  <a:lnTo>
                    <a:pt x="241401" y="238836"/>
                  </a:lnTo>
                  <a:lnTo>
                    <a:pt x="241401" y="191160"/>
                  </a:lnTo>
                  <a:lnTo>
                    <a:pt x="241401" y="186931"/>
                  </a:lnTo>
                  <a:lnTo>
                    <a:pt x="241401" y="182689"/>
                  </a:lnTo>
                  <a:close/>
                </a:path>
                <a:path w="4534534" h="285114">
                  <a:moveTo>
                    <a:pt x="241401" y="107823"/>
                  </a:moveTo>
                  <a:lnTo>
                    <a:pt x="232968" y="107823"/>
                  </a:lnTo>
                  <a:lnTo>
                    <a:pt x="232968" y="116293"/>
                  </a:lnTo>
                  <a:lnTo>
                    <a:pt x="232968" y="163969"/>
                  </a:lnTo>
                  <a:lnTo>
                    <a:pt x="148221" y="163969"/>
                  </a:lnTo>
                  <a:lnTo>
                    <a:pt x="148221" y="116293"/>
                  </a:lnTo>
                  <a:lnTo>
                    <a:pt x="232968" y="116293"/>
                  </a:lnTo>
                  <a:lnTo>
                    <a:pt x="232968" y="107823"/>
                  </a:lnTo>
                  <a:lnTo>
                    <a:pt x="139776" y="107823"/>
                  </a:lnTo>
                  <a:lnTo>
                    <a:pt x="139776" y="172440"/>
                  </a:lnTo>
                  <a:lnTo>
                    <a:pt x="241401" y="172440"/>
                  </a:lnTo>
                  <a:lnTo>
                    <a:pt x="241401" y="168211"/>
                  </a:lnTo>
                  <a:lnTo>
                    <a:pt x="241401" y="163969"/>
                  </a:lnTo>
                  <a:lnTo>
                    <a:pt x="241401" y="116293"/>
                  </a:lnTo>
                  <a:lnTo>
                    <a:pt x="241401" y="112064"/>
                  </a:lnTo>
                  <a:lnTo>
                    <a:pt x="241401" y="107823"/>
                  </a:lnTo>
                  <a:close/>
                </a:path>
                <a:path w="4534534" h="285114">
                  <a:moveTo>
                    <a:pt x="241401" y="32956"/>
                  </a:moveTo>
                  <a:lnTo>
                    <a:pt x="232968" y="32956"/>
                  </a:lnTo>
                  <a:lnTo>
                    <a:pt x="232968" y="41427"/>
                  </a:lnTo>
                  <a:lnTo>
                    <a:pt x="232968" y="89103"/>
                  </a:lnTo>
                  <a:lnTo>
                    <a:pt x="148221" y="89103"/>
                  </a:lnTo>
                  <a:lnTo>
                    <a:pt x="148221" y="41427"/>
                  </a:lnTo>
                  <a:lnTo>
                    <a:pt x="232968" y="41427"/>
                  </a:lnTo>
                  <a:lnTo>
                    <a:pt x="232968" y="32956"/>
                  </a:lnTo>
                  <a:lnTo>
                    <a:pt x="139776" y="32956"/>
                  </a:lnTo>
                  <a:lnTo>
                    <a:pt x="139776" y="97574"/>
                  </a:lnTo>
                  <a:lnTo>
                    <a:pt x="241401" y="97574"/>
                  </a:lnTo>
                  <a:lnTo>
                    <a:pt x="241401" y="93345"/>
                  </a:lnTo>
                  <a:lnTo>
                    <a:pt x="241401" y="89103"/>
                  </a:lnTo>
                  <a:lnTo>
                    <a:pt x="241401" y="41427"/>
                  </a:lnTo>
                  <a:lnTo>
                    <a:pt x="241401" y="37198"/>
                  </a:lnTo>
                  <a:lnTo>
                    <a:pt x="241401" y="32956"/>
                  </a:lnTo>
                  <a:close/>
                </a:path>
                <a:path w="4534534" h="285114">
                  <a:moveTo>
                    <a:pt x="353250" y="182689"/>
                  </a:moveTo>
                  <a:lnTo>
                    <a:pt x="344792" y="182689"/>
                  </a:lnTo>
                  <a:lnTo>
                    <a:pt x="344792" y="191160"/>
                  </a:lnTo>
                  <a:lnTo>
                    <a:pt x="344792" y="238836"/>
                  </a:lnTo>
                  <a:lnTo>
                    <a:pt x="260045" y="238836"/>
                  </a:lnTo>
                  <a:lnTo>
                    <a:pt x="260045" y="191160"/>
                  </a:lnTo>
                  <a:lnTo>
                    <a:pt x="344792" y="191160"/>
                  </a:lnTo>
                  <a:lnTo>
                    <a:pt x="344792" y="182689"/>
                  </a:lnTo>
                  <a:lnTo>
                    <a:pt x="251612" y="182689"/>
                  </a:lnTo>
                  <a:lnTo>
                    <a:pt x="251612" y="247307"/>
                  </a:lnTo>
                  <a:lnTo>
                    <a:pt x="353250" y="247307"/>
                  </a:lnTo>
                  <a:lnTo>
                    <a:pt x="353250" y="243078"/>
                  </a:lnTo>
                  <a:lnTo>
                    <a:pt x="353250" y="238836"/>
                  </a:lnTo>
                  <a:lnTo>
                    <a:pt x="353250" y="191160"/>
                  </a:lnTo>
                  <a:lnTo>
                    <a:pt x="353250" y="186931"/>
                  </a:lnTo>
                  <a:lnTo>
                    <a:pt x="353250" y="182689"/>
                  </a:lnTo>
                  <a:close/>
                </a:path>
                <a:path w="4534534" h="285114">
                  <a:moveTo>
                    <a:pt x="353250" y="107823"/>
                  </a:moveTo>
                  <a:lnTo>
                    <a:pt x="344792" y="107823"/>
                  </a:lnTo>
                  <a:lnTo>
                    <a:pt x="344792" y="116293"/>
                  </a:lnTo>
                  <a:lnTo>
                    <a:pt x="344792" y="163969"/>
                  </a:lnTo>
                  <a:lnTo>
                    <a:pt x="260045" y="163969"/>
                  </a:lnTo>
                  <a:lnTo>
                    <a:pt x="260045" y="116293"/>
                  </a:lnTo>
                  <a:lnTo>
                    <a:pt x="344792" y="116293"/>
                  </a:lnTo>
                  <a:lnTo>
                    <a:pt x="344792" y="107823"/>
                  </a:lnTo>
                  <a:lnTo>
                    <a:pt x="251612" y="107823"/>
                  </a:lnTo>
                  <a:lnTo>
                    <a:pt x="251612" y="172440"/>
                  </a:lnTo>
                  <a:lnTo>
                    <a:pt x="353250" y="172440"/>
                  </a:lnTo>
                  <a:lnTo>
                    <a:pt x="353250" y="168211"/>
                  </a:lnTo>
                  <a:lnTo>
                    <a:pt x="353250" y="163969"/>
                  </a:lnTo>
                  <a:lnTo>
                    <a:pt x="353250" y="116293"/>
                  </a:lnTo>
                  <a:lnTo>
                    <a:pt x="353250" y="112064"/>
                  </a:lnTo>
                  <a:lnTo>
                    <a:pt x="353250" y="107823"/>
                  </a:lnTo>
                  <a:close/>
                </a:path>
                <a:path w="4534534" h="285114">
                  <a:moveTo>
                    <a:pt x="353250" y="32956"/>
                  </a:moveTo>
                  <a:lnTo>
                    <a:pt x="344792" y="32956"/>
                  </a:lnTo>
                  <a:lnTo>
                    <a:pt x="344792" y="41427"/>
                  </a:lnTo>
                  <a:lnTo>
                    <a:pt x="344792" y="89103"/>
                  </a:lnTo>
                  <a:lnTo>
                    <a:pt x="260045" y="89103"/>
                  </a:lnTo>
                  <a:lnTo>
                    <a:pt x="260045" y="41427"/>
                  </a:lnTo>
                  <a:lnTo>
                    <a:pt x="344792" y="41427"/>
                  </a:lnTo>
                  <a:lnTo>
                    <a:pt x="344792" y="32956"/>
                  </a:lnTo>
                  <a:lnTo>
                    <a:pt x="251612" y="32956"/>
                  </a:lnTo>
                  <a:lnTo>
                    <a:pt x="251612" y="97574"/>
                  </a:lnTo>
                  <a:lnTo>
                    <a:pt x="353250" y="97574"/>
                  </a:lnTo>
                  <a:lnTo>
                    <a:pt x="353250" y="93345"/>
                  </a:lnTo>
                  <a:lnTo>
                    <a:pt x="353250" y="89103"/>
                  </a:lnTo>
                  <a:lnTo>
                    <a:pt x="353250" y="41427"/>
                  </a:lnTo>
                  <a:lnTo>
                    <a:pt x="353250" y="37198"/>
                  </a:lnTo>
                  <a:lnTo>
                    <a:pt x="353250" y="32956"/>
                  </a:lnTo>
                  <a:close/>
                </a:path>
                <a:path w="4534534" h="285114">
                  <a:moveTo>
                    <a:pt x="381203" y="4876"/>
                  </a:moveTo>
                  <a:lnTo>
                    <a:pt x="372745" y="4876"/>
                  </a:lnTo>
                  <a:lnTo>
                    <a:pt x="372745" y="13347"/>
                  </a:lnTo>
                  <a:lnTo>
                    <a:pt x="372745" y="266915"/>
                  </a:lnTo>
                  <a:lnTo>
                    <a:pt x="8432" y="266915"/>
                  </a:lnTo>
                  <a:lnTo>
                    <a:pt x="8432" y="13347"/>
                  </a:lnTo>
                  <a:lnTo>
                    <a:pt x="372745" y="13347"/>
                  </a:lnTo>
                  <a:lnTo>
                    <a:pt x="372745" y="4876"/>
                  </a:lnTo>
                  <a:lnTo>
                    <a:pt x="0" y="4876"/>
                  </a:lnTo>
                  <a:lnTo>
                    <a:pt x="0" y="275386"/>
                  </a:lnTo>
                  <a:lnTo>
                    <a:pt x="381203" y="275386"/>
                  </a:lnTo>
                  <a:lnTo>
                    <a:pt x="381203" y="271145"/>
                  </a:lnTo>
                  <a:lnTo>
                    <a:pt x="381203" y="266915"/>
                  </a:lnTo>
                  <a:lnTo>
                    <a:pt x="381203" y="13347"/>
                  </a:lnTo>
                  <a:lnTo>
                    <a:pt x="381203" y="9118"/>
                  </a:lnTo>
                  <a:lnTo>
                    <a:pt x="381203" y="4876"/>
                  </a:lnTo>
                  <a:close/>
                </a:path>
                <a:path w="4534534" h="285114">
                  <a:moveTo>
                    <a:pt x="2116874" y="177203"/>
                  </a:moveTo>
                  <a:lnTo>
                    <a:pt x="2108441" y="177203"/>
                  </a:lnTo>
                  <a:lnTo>
                    <a:pt x="2108441" y="185648"/>
                  </a:lnTo>
                  <a:lnTo>
                    <a:pt x="2108441" y="233172"/>
                  </a:lnTo>
                  <a:lnTo>
                    <a:pt x="2023681" y="233172"/>
                  </a:lnTo>
                  <a:lnTo>
                    <a:pt x="2023681" y="185648"/>
                  </a:lnTo>
                  <a:lnTo>
                    <a:pt x="2108441" y="185648"/>
                  </a:lnTo>
                  <a:lnTo>
                    <a:pt x="2108441" y="177203"/>
                  </a:lnTo>
                  <a:lnTo>
                    <a:pt x="2015248" y="177203"/>
                  </a:lnTo>
                  <a:lnTo>
                    <a:pt x="2015248" y="241617"/>
                  </a:lnTo>
                  <a:lnTo>
                    <a:pt x="2116874" y="241617"/>
                  </a:lnTo>
                  <a:lnTo>
                    <a:pt x="2116874" y="237388"/>
                  </a:lnTo>
                  <a:lnTo>
                    <a:pt x="2116874" y="233172"/>
                  </a:lnTo>
                  <a:lnTo>
                    <a:pt x="2116874" y="185648"/>
                  </a:lnTo>
                  <a:lnTo>
                    <a:pt x="2116874" y="181432"/>
                  </a:lnTo>
                  <a:lnTo>
                    <a:pt x="2116874" y="177203"/>
                  </a:lnTo>
                  <a:close/>
                </a:path>
                <a:path w="4534534" h="285114">
                  <a:moveTo>
                    <a:pt x="2116874" y="102590"/>
                  </a:moveTo>
                  <a:lnTo>
                    <a:pt x="2108441" y="102590"/>
                  </a:lnTo>
                  <a:lnTo>
                    <a:pt x="2108441" y="111036"/>
                  </a:lnTo>
                  <a:lnTo>
                    <a:pt x="2108441" y="158559"/>
                  </a:lnTo>
                  <a:lnTo>
                    <a:pt x="2023681" y="158559"/>
                  </a:lnTo>
                  <a:lnTo>
                    <a:pt x="2023681" y="111036"/>
                  </a:lnTo>
                  <a:lnTo>
                    <a:pt x="2108441" y="111036"/>
                  </a:lnTo>
                  <a:lnTo>
                    <a:pt x="2108441" y="102590"/>
                  </a:lnTo>
                  <a:lnTo>
                    <a:pt x="2015248" y="102590"/>
                  </a:lnTo>
                  <a:lnTo>
                    <a:pt x="2015248" y="167005"/>
                  </a:lnTo>
                  <a:lnTo>
                    <a:pt x="2116874" y="167005"/>
                  </a:lnTo>
                  <a:lnTo>
                    <a:pt x="2116874" y="162775"/>
                  </a:lnTo>
                  <a:lnTo>
                    <a:pt x="2116874" y="158559"/>
                  </a:lnTo>
                  <a:lnTo>
                    <a:pt x="2116874" y="111036"/>
                  </a:lnTo>
                  <a:lnTo>
                    <a:pt x="2116874" y="106819"/>
                  </a:lnTo>
                  <a:lnTo>
                    <a:pt x="2116874" y="102590"/>
                  </a:lnTo>
                  <a:close/>
                </a:path>
                <a:path w="4534534" h="285114">
                  <a:moveTo>
                    <a:pt x="2116874" y="27978"/>
                  </a:moveTo>
                  <a:lnTo>
                    <a:pt x="2108441" y="27978"/>
                  </a:lnTo>
                  <a:lnTo>
                    <a:pt x="2108441" y="36423"/>
                  </a:lnTo>
                  <a:lnTo>
                    <a:pt x="2108441" y="83934"/>
                  </a:lnTo>
                  <a:lnTo>
                    <a:pt x="2023681" y="83934"/>
                  </a:lnTo>
                  <a:lnTo>
                    <a:pt x="2023681" y="36423"/>
                  </a:lnTo>
                  <a:lnTo>
                    <a:pt x="2108441" y="36423"/>
                  </a:lnTo>
                  <a:lnTo>
                    <a:pt x="2108441" y="27978"/>
                  </a:lnTo>
                  <a:lnTo>
                    <a:pt x="2015248" y="27978"/>
                  </a:lnTo>
                  <a:lnTo>
                    <a:pt x="2015248" y="92379"/>
                  </a:lnTo>
                  <a:lnTo>
                    <a:pt x="2116874" y="92379"/>
                  </a:lnTo>
                  <a:lnTo>
                    <a:pt x="2116874" y="88163"/>
                  </a:lnTo>
                  <a:lnTo>
                    <a:pt x="2116874" y="83934"/>
                  </a:lnTo>
                  <a:lnTo>
                    <a:pt x="2116874" y="36423"/>
                  </a:lnTo>
                  <a:lnTo>
                    <a:pt x="2116874" y="32207"/>
                  </a:lnTo>
                  <a:lnTo>
                    <a:pt x="2116874" y="27978"/>
                  </a:lnTo>
                  <a:close/>
                </a:path>
                <a:path w="4534534" h="285114">
                  <a:moveTo>
                    <a:pt x="2228697" y="177203"/>
                  </a:moveTo>
                  <a:lnTo>
                    <a:pt x="2220264" y="177203"/>
                  </a:lnTo>
                  <a:lnTo>
                    <a:pt x="2220264" y="185648"/>
                  </a:lnTo>
                  <a:lnTo>
                    <a:pt x="2220264" y="233172"/>
                  </a:lnTo>
                  <a:lnTo>
                    <a:pt x="2135517" y="233172"/>
                  </a:lnTo>
                  <a:lnTo>
                    <a:pt x="2135517" y="185648"/>
                  </a:lnTo>
                  <a:lnTo>
                    <a:pt x="2220264" y="185648"/>
                  </a:lnTo>
                  <a:lnTo>
                    <a:pt x="2220264" y="177203"/>
                  </a:lnTo>
                  <a:lnTo>
                    <a:pt x="2127072" y="177203"/>
                  </a:lnTo>
                  <a:lnTo>
                    <a:pt x="2127072" y="241617"/>
                  </a:lnTo>
                  <a:lnTo>
                    <a:pt x="2228697" y="241617"/>
                  </a:lnTo>
                  <a:lnTo>
                    <a:pt x="2228697" y="237388"/>
                  </a:lnTo>
                  <a:lnTo>
                    <a:pt x="2228697" y="233172"/>
                  </a:lnTo>
                  <a:lnTo>
                    <a:pt x="2228697" y="185648"/>
                  </a:lnTo>
                  <a:lnTo>
                    <a:pt x="2228697" y="181432"/>
                  </a:lnTo>
                  <a:lnTo>
                    <a:pt x="2228697" y="177203"/>
                  </a:lnTo>
                  <a:close/>
                </a:path>
                <a:path w="4534534" h="285114">
                  <a:moveTo>
                    <a:pt x="2228697" y="102590"/>
                  </a:moveTo>
                  <a:lnTo>
                    <a:pt x="2220264" y="102590"/>
                  </a:lnTo>
                  <a:lnTo>
                    <a:pt x="2220264" y="111036"/>
                  </a:lnTo>
                  <a:lnTo>
                    <a:pt x="2220264" y="158559"/>
                  </a:lnTo>
                  <a:lnTo>
                    <a:pt x="2135517" y="158559"/>
                  </a:lnTo>
                  <a:lnTo>
                    <a:pt x="2135517" y="111036"/>
                  </a:lnTo>
                  <a:lnTo>
                    <a:pt x="2220264" y="111036"/>
                  </a:lnTo>
                  <a:lnTo>
                    <a:pt x="2220264" y="102590"/>
                  </a:lnTo>
                  <a:lnTo>
                    <a:pt x="2127072" y="102590"/>
                  </a:lnTo>
                  <a:lnTo>
                    <a:pt x="2127072" y="167005"/>
                  </a:lnTo>
                  <a:lnTo>
                    <a:pt x="2228697" y="167005"/>
                  </a:lnTo>
                  <a:lnTo>
                    <a:pt x="2228697" y="162775"/>
                  </a:lnTo>
                  <a:lnTo>
                    <a:pt x="2228697" y="158559"/>
                  </a:lnTo>
                  <a:lnTo>
                    <a:pt x="2228697" y="111036"/>
                  </a:lnTo>
                  <a:lnTo>
                    <a:pt x="2228697" y="106819"/>
                  </a:lnTo>
                  <a:lnTo>
                    <a:pt x="2228697" y="102590"/>
                  </a:lnTo>
                  <a:close/>
                </a:path>
                <a:path w="4534534" h="285114">
                  <a:moveTo>
                    <a:pt x="2228697" y="27978"/>
                  </a:moveTo>
                  <a:lnTo>
                    <a:pt x="2220264" y="27978"/>
                  </a:lnTo>
                  <a:lnTo>
                    <a:pt x="2220264" y="36423"/>
                  </a:lnTo>
                  <a:lnTo>
                    <a:pt x="2220264" y="83934"/>
                  </a:lnTo>
                  <a:lnTo>
                    <a:pt x="2135517" y="83934"/>
                  </a:lnTo>
                  <a:lnTo>
                    <a:pt x="2135517" y="36423"/>
                  </a:lnTo>
                  <a:lnTo>
                    <a:pt x="2220264" y="36423"/>
                  </a:lnTo>
                  <a:lnTo>
                    <a:pt x="2220264" y="27978"/>
                  </a:lnTo>
                  <a:lnTo>
                    <a:pt x="2127072" y="27978"/>
                  </a:lnTo>
                  <a:lnTo>
                    <a:pt x="2127072" y="92379"/>
                  </a:lnTo>
                  <a:lnTo>
                    <a:pt x="2228697" y="92379"/>
                  </a:lnTo>
                  <a:lnTo>
                    <a:pt x="2228697" y="88163"/>
                  </a:lnTo>
                  <a:lnTo>
                    <a:pt x="2228697" y="83934"/>
                  </a:lnTo>
                  <a:lnTo>
                    <a:pt x="2228697" y="36423"/>
                  </a:lnTo>
                  <a:lnTo>
                    <a:pt x="2228697" y="32207"/>
                  </a:lnTo>
                  <a:lnTo>
                    <a:pt x="2228697" y="27978"/>
                  </a:lnTo>
                  <a:close/>
                </a:path>
                <a:path w="4534534" h="285114">
                  <a:moveTo>
                    <a:pt x="2340546" y="177203"/>
                  </a:moveTo>
                  <a:lnTo>
                    <a:pt x="2332088" y="177203"/>
                  </a:lnTo>
                  <a:lnTo>
                    <a:pt x="2332088" y="185648"/>
                  </a:lnTo>
                  <a:lnTo>
                    <a:pt x="2332088" y="233172"/>
                  </a:lnTo>
                  <a:lnTo>
                    <a:pt x="2247341" y="233172"/>
                  </a:lnTo>
                  <a:lnTo>
                    <a:pt x="2247341" y="185648"/>
                  </a:lnTo>
                  <a:lnTo>
                    <a:pt x="2332088" y="185648"/>
                  </a:lnTo>
                  <a:lnTo>
                    <a:pt x="2332088" y="177203"/>
                  </a:lnTo>
                  <a:lnTo>
                    <a:pt x="2238908" y="177203"/>
                  </a:lnTo>
                  <a:lnTo>
                    <a:pt x="2238908" y="241617"/>
                  </a:lnTo>
                  <a:lnTo>
                    <a:pt x="2340546" y="241617"/>
                  </a:lnTo>
                  <a:lnTo>
                    <a:pt x="2340546" y="237388"/>
                  </a:lnTo>
                  <a:lnTo>
                    <a:pt x="2340546" y="233172"/>
                  </a:lnTo>
                  <a:lnTo>
                    <a:pt x="2340546" y="185648"/>
                  </a:lnTo>
                  <a:lnTo>
                    <a:pt x="2340546" y="181432"/>
                  </a:lnTo>
                  <a:lnTo>
                    <a:pt x="2340546" y="177203"/>
                  </a:lnTo>
                  <a:close/>
                </a:path>
                <a:path w="4534534" h="285114">
                  <a:moveTo>
                    <a:pt x="2340546" y="102590"/>
                  </a:moveTo>
                  <a:lnTo>
                    <a:pt x="2332088" y="102590"/>
                  </a:lnTo>
                  <a:lnTo>
                    <a:pt x="2332088" y="111036"/>
                  </a:lnTo>
                  <a:lnTo>
                    <a:pt x="2332088" y="158559"/>
                  </a:lnTo>
                  <a:lnTo>
                    <a:pt x="2247341" y="158559"/>
                  </a:lnTo>
                  <a:lnTo>
                    <a:pt x="2247341" y="111036"/>
                  </a:lnTo>
                  <a:lnTo>
                    <a:pt x="2332088" y="111036"/>
                  </a:lnTo>
                  <a:lnTo>
                    <a:pt x="2332088" y="102590"/>
                  </a:lnTo>
                  <a:lnTo>
                    <a:pt x="2238908" y="102590"/>
                  </a:lnTo>
                  <a:lnTo>
                    <a:pt x="2238908" y="167005"/>
                  </a:lnTo>
                  <a:lnTo>
                    <a:pt x="2340546" y="167005"/>
                  </a:lnTo>
                  <a:lnTo>
                    <a:pt x="2340546" y="162775"/>
                  </a:lnTo>
                  <a:lnTo>
                    <a:pt x="2340546" y="158559"/>
                  </a:lnTo>
                  <a:lnTo>
                    <a:pt x="2340546" y="111036"/>
                  </a:lnTo>
                  <a:lnTo>
                    <a:pt x="2340546" y="106819"/>
                  </a:lnTo>
                  <a:lnTo>
                    <a:pt x="2340546" y="102590"/>
                  </a:lnTo>
                  <a:close/>
                </a:path>
                <a:path w="4534534" h="285114">
                  <a:moveTo>
                    <a:pt x="2340546" y="27978"/>
                  </a:moveTo>
                  <a:lnTo>
                    <a:pt x="2332088" y="27978"/>
                  </a:lnTo>
                  <a:lnTo>
                    <a:pt x="2332088" y="36423"/>
                  </a:lnTo>
                  <a:lnTo>
                    <a:pt x="2332088" y="83934"/>
                  </a:lnTo>
                  <a:lnTo>
                    <a:pt x="2247341" y="83934"/>
                  </a:lnTo>
                  <a:lnTo>
                    <a:pt x="2247341" y="36423"/>
                  </a:lnTo>
                  <a:lnTo>
                    <a:pt x="2332088" y="36423"/>
                  </a:lnTo>
                  <a:lnTo>
                    <a:pt x="2332088" y="27978"/>
                  </a:lnTo>
                  <a:lnTo>
                    <a:pt x="2238908" y="27978"/>
                  </a:lnTo>
                  <a:lnTo>
                    <a:pt x="2238908" y="92379"/>
                  </a:lnTo>
                  <a:lnTo>
                    <a:pt x="2340546" y="92379"/>
                  </a:lnTo>
                  <a:lnTo>
                    <a:pt x="2340546" y="88163"/>
                  </a:lnTo>
                  <a:lnTo>
                    <a:pt x="2340546" y="83934"/>
                  </a:lnTo>
                  <a:lnTo>
                    <a:pt x="2340546" y="36423"/>
                  </a:lnTo>
                  <a:lnTo>
                    <a:pt x="2340546" y="32207"/>
                  </a:lnTo>
                  <a:lnTo>
                    <a:pt x="2340546" y="27978"/>
                  </a:lnTo>
                  <a:close/>
                </a:path>
                <a:path w="4534534" h="285114">
                  <a:moveTo>
                    <a:pt x="2368499" y="0"/>
                  </a:moveTo>
                  <a:lnTo>
                    <a:pt x="2360041" y="0"/>
                  </a:lnTo>
                  <a:lnTo>
                    <a:pt x="2360041" y="8445"/>
                  </a:lnTo>
                  <a:lnTo>
                    <a:pt x="2360041" y="261150"/>
                  </a:lnTo>
                  <a:lnTo>
                    <a:pt x="1995728" y="261150"/>
                  </a:lnTo>
                  <a:lnTo>
                    <a:pt x="1995728" y="8445"/>
                  </a:lnTo>
                  <a:lnTo>
                    <a:pt x="2360041" y="8445"/>
                  </a:lnTo>
                  <a:lnTo>
                    <a:pt x="2360041" y="0"/>
                  </a:lnTo>
                  <a:lnTo>
                    <a:pt x="1987296" y="0"/>
                  </a:lnTo>
                  <a:lnTo>
                    <a:pt x="1987296" y="269595"/>
                  </a:lnTo>
                  <a:lnTo>
                    <a:pt x="2368499" y="269595"/>
                  </a:lnTo>
                  <a:lnTo>
                    <a:pt x="2368499" y="265379"/>
                  </a:lnTo>
                  <a:lnTo>
                    <a:pt x="2368499" y="261150"/>
                  </a:lnTo>
                  <a:lnTo>
                    <a:pt x="2368499" y="8445"/>
                  </a:lnTo>
                  <a:lnTo>
                    <a:pt x="2368499" y="4216"/>
                  </a:lnTo>
                  <a:lnTo>
                    <a:pt x="2368499" y="0"/>
                  </a:lnTo>
                  <a:close/>
                </a:path>
                <a:path w="4534534" h="285114">
                  <a:moveTo>
                    <a:pt x="4282478" y="192443"/>
                  </a:moveTo>
                  <a:lnTo>
                    <a:pt x="4274045" y="192443"/>
                  </a:lnTo>
                  <a:lnTo>
                    <a:pt x="4274045" y="200888"/>
                  </a:lnTo>
                  <a:lnTo>
                    <a:pt x="4274045" y="248412"/>
                  </a:lnTo>
                  <a:lnTo>
                    <a:pt x="4189285" y="248412"/>
                  </a:lnTo>
                  <a:lnTo>
                    <a:pt x="4189285" y="200888"/>
                  </a:lnTo>
                  <a:lnTo>
                    <a:pt x="4274045" y="200888"/>
                  </a:lnTo>
                  <a:lnTo>
                    <a:pt x="4274045" y="192443"/>
                  </a:lnTo>
                  <a:lnTo>
                    <a:pt x="4180852" y="192443"/>
                  </a:lnTo>
                  <a:lnTo>
                    <a:pt x="4180852" y="256857"/>
                  </a:lnTo>
                  <a:lnTo>
                    <a:pt x="4282478" y="256857"/>
                  </a:lnTo>
                  <a:lnTo>
                    <a:pt x="4282478" y="252628"/>
                  </a:lnTo>
                  <a:lnTo>
                    <a:pt x="4282478" y="248412"/>
                  </a:lnTo>
                  <a:lnTo>
                    <a:pt x="4282478" y="200888"/>
                  </a:lnTo>
                  <a:lnTo>
                    <a:pt x="4282478" y="196672"/>
                  </a:lnTo>
                  <a:lnTo>
                    <a:pt x="4282478" y="192443"/>
                  </a:lnTo>
                  <a:close/>
                </a:path>
                <a:path w="4534534" h="285114">
                  <a:moveTo>
                    <a:pt x="4282478" y="117830"/>
                  </a:moveTo>
                  <a:lnTo>
                    <a:pt x="4274045" y="117830"/>
                  </a:lnTo>
                  <a:lnTo>
                    <a:pt x="4274045" y="126276"/>
                  </a:lnTo>
                  <a:lnTo>
                    <a:pt x="4274045" y="173799"/>
                  </a:lnTo>
                  <a:lnTo>
                    <a:pt x="4189285" y="173799"/>
                  </a:lnTo>
                  <a:lnTo>
                    <a:pt x="4189285" y="126276"/>
                  </a:lnTo>
                  <a:lnTo>
                    <a:pt x="4274045" y="126276"/>
                  </a:lnTo>
                  <a:lnTo>
                    <a:pt x="4274045" y="117830"/>
                  </a:lnTo>
                  <a:lnTo>
                    <a:pt x="4180852" y="117830"/>
                  </a:lnTo>
                  <a:lnTo>
                    <a:pt x="4180852" y="182245"/>
                  </a:lnTo>
                  <a:lnTo>
                    <a:pt x="4282478" y="182245"/>
                  </a:lnTo>
                  <a:lnTo>
                    <a:pt x="4282478" y="178015"/>
                  </a:lnTo>
                  <a:lnTo>
                    <a:pt x="4282478" y="173799"/>
                  </a:lnTo>
                  <a:lnTo>
                    <a:pt x="4282478" y="126276"/>
                  </a:lnTo>
                  <a:lnTo>
                    <a:pt x="4282478" y="122059"/>
                  </a:lnTo>
                  <a:lnTo>
                    <a:pt x="4282478" y="117830"/>
                  </a:lnTo>
                  <a:close/>
                </a:path>
                <a:path w="4534534" h="285114">
                  <a:moveTo>
                    <a:pt x="4282478" y="43218"/>
                  </a:moveTo>
                  <a:lnTo>
                    <a:pt x="4274045" y="43218"/>
                  </a:lnTo>
                  <a:lnTo>
                    <a:pt x="4274045" y="51663"/>
                  </a:lnTo>
                  <a:lnTo>
                    <a:pt x="4274045" y="99174"/>
                  </a:lnTo>
                  <a:lnTo>
                    <a:pt x="4189285" y="99174"/>
                  </a:lnTo>
                  <a:lnTo>
                    <a:pt x="4189285" y="51663"/>
                  </a:lnTo>
                  <a:lnTo>
                    <a:pt x="4274045" y="51663"/>
                  </a:lnTo>
                  <a:lnTo>
                    <a:pt x="4274045" y="43218"/>
                  </a:lnTo>
                  <a:lnTo>
                    <a:pt x="4180852" y="43218"/>
                  </a:lnTo>
                  <a:lnTo>
                    <a:pt x="4180852" y="107619"/>
                  </a:lnTo>
                  <a:lnTo>
                    <a:pt x="4282478" y="107619"/>
                  </a:lnTo>
                  <a:lnTo>
                    <a:pt x="4282478" y="103403"/>
                  </a:lnTo>
                  <a:lnTo>
                    <a:pt x="4282478" y="99174"/>
                  </a:lnTo>
                  <a:lnTo>
                    <a:pt x="4282478" y="51663"/>
                  </a:lnTo>
                  <a:lnTo>
                    <a:pt x="4282478" y="47447"/>
                  </a:lnTo>
                  <a:lnTo>
                    <a:pt x="4282478" y="43218"/>
                  </a:lnTo>
                  <a:close/>
                </a:path>
                <a:path w="4534534" h="285114">
                  <a:moveTo>
                    <a:pt x="4394301" y="192443"/>
                  </a:moveTo>
                  <a:lnTo>
                    <a:pt x="4385869" y="192443"/>
                  </a:lnTo>
                  <a:lnTo>
                    <a:pt x="4385869" y="200888"/>
                  </a:lnTo>
                  <a:lnTo>
                    <a:pt x="4385869" y="248412"/>
                  </a:lnTo>
                  <a:lnTo>
                    <a:pt x="4301121" y="248412"/>
                  </a:lnTo>
                  <a:lnTo>
                    <a:pt x="4301121" y="200888"/>
                  </a:lnTo>
                  <a:lnTo>
                    <a:pt x="4385869" y="200888"/>
                  </a:lnTo>
                  <a:lnTo>
                    <a:pt x="4385869" y="192443"/>
                  </a:lnTo>
                  <a:lnTo>
                    <a:pt x="4292676" y="192443"/>
                  </a:lnTo>
                  <a:lnTo>
                    <a:pt x="4292676" y="256857"/>
                  </a:lnTo>
                  <a:lnTo>
                    <a:pt x="4394301" y="256857"/>
                  </a:lnTo>
                  <a:lnTo>
                    <a:pt x="4394301" y="252628"/>
                  </a:lnTo>
                  <a:lnTo>
                    <a:pt x="4394301" y="248412"/>
                  </a:lnTo>
                  <a:lnTo>
                    <a:pt x="4394301" y="200888"/>
                  </a:lnTo>
                  <a:lnTo>
                    <a:pt x="4394301" y="196672"/>
                  </a:lnTo>
                  <a:lnTo>
                    <a:pt x="4394301" y="192443"/>
                  </a:lnTo>
                  <a:close/>
                </a:path>
                <a:path w="4534534" h="285114">
                  <a:moveTo>
                    <a:pt x="4394301" y="117830"/>
                  </a:moveTo>
                  <a:lnTo>
                    <a:pt x="4385869" y="117830"/>
                  </a:lnTo>
                  <a:lnTo>
                    <a:pt x="4385869" y="126276"/>
                  </a:lnTo>
                  <a:lnTo>
                    <a:pt x="4385869" y="173799"/>
                  </a:lnTo>
                  <a:lnTo>
                    <a:pt x="4301121" y="173799"/>
                  </a:lnTo>
                  <a:lnTo>
                    <a:pt x="4301121" y="126276"/>
                  </a:lnTo>
                  <a:lnTo>
                    <a:pt x="4385869" y="126276"/>
                  </a:lnTo>
                  <a:lnTo>
                    <a:pt x="4385869" y="117830"/>
                  </a:lnTo>
                  <a:lnTo>
                    <a:pt x="4292676" y="117830"/>
                  </a:lnTo>
                  <a:lnTo>
                    <a:pt x="4292676" y="182245"/>
                  </a:lnTo>
                  <a:lnTo>
                    <a:pt x="4394301" y="182245"/>
                  </a:lnTo>
                  <a:lnTo>
                    <a:pt x="4394301" y="178015"/>
                  </a:lnTo>
                  <a:lnTo>
                    <a:pt x="4394301" y="173799"/>
                  </a:lnTo>
                  <a:lnTo>
                    <a:pt x="4394301" y="126276"/>
                  </a:lnTo>
                  <a:lnTo>
                    <a:pt x="4394301" y="122059"/>
                  </a:lnTo>
                  <a:lnTo>
                    <a:pt x="4394301" y="117830"/>
                  </a:lnTo>
                  <a:close/>
                </a:path>
                <a:path w="4534534" h="285114">
                  <a:moveTo>
                    <a:pt x="4394301" y="43218"/>
                  </a:moveTo>
                  <a:lnTo>
                    <a:pt x="4385869" y="43218"/>
                  </a:lnTo>
                  <a:lnTo>
                    <a:pt x="4385869" y="51663"/>
                  </a:lnTo>
                  <a:lnTo>
                    <a:pt x="4385869" y="99174"/>
                  </a:lnTo>
                  <a:lnTo>
                    <a:pt x="4301121" y="99174"/>
                  </a:lnTo>
                  <a:lnTo>
                    <a:pt x="4301121" y="51663"/>
                  </a:lnTo>
                  <a:lnTo>
                    <a:pt x="4385869" y="51663"/>
                  </a:lnTo>
                  <a:lnTo>
                    <a:pt x="4385869" y="43218"/>
                  </a:lnTo>
                  <a:lnTo>
                    <a:pt x="4292676" y="43218"/>
                  </a:lnTo>
                  <a:lnTo>
                    <a:pt x="4292676" y="107619"/>
                  </a:lnTo>
                  <a:lnTo>
                    <a:pt x="4394301" y="107619"/>
                  </a:lnTo>
                  <a:lnTo>
                    <a:pt x="4394301" y="103403"/>
                  </a:lnTo>
                  <a:lnTo>
                    <a:pt x="4394301" y="99174"/>
                  </a:lnTo>
                  <a:lnTo>
                    <a:pt x="4394301" y="51663"/>
                  </a:lnTo>
                  <a:lnTo>
                    <a:pt x="4394301" y="47447"/>
                  </a:lnTo>
                  <a:lnTo>
                    <a:pt x="4394301" y="43218"/>
                  </a:lnTo>
                  <a:close/>
                </a:path>
                <a:path w="4534534" h="285114">
                  <a:moveTo>
                    <a:pt x="4506150" y="192443"/>
                  </a:moveTo>
                  <a:lnTo>
                    <a:pt x="4497692" y="192443"/>
                  </a:lnTo>
                  <a:lnTo>
                    <a:pt x="4497692" y="200888"/>
                  </a:lnTo>
                  <a:lnTo>
                    <a:pt x="4497692" y="248412"/>
                  </a:lnTo>
                  <a:lnTo>
                    <a:pt x="4412945" y="248412"/>
                  </a:lnTo>
                  <a:lnTo>
                    <a:pt x="4412945" y="200888"/>
                  </a:lnTo>
                  <a:lnTo>
                    <a:pt x="4497692" y="200888"/>
                  </a:lnTo>
                  <a:lnTo>
                    <a:pt x="4497692" y="192443"/>
                  </a:lnTo>
                  <a:lnTo>
                    <a:pt x="4404512" y="192443"/>
                  </a:lnTo>
                  <a:lnTo>
                    <a:pt x="4404512" y="256857"/>
                  </a:lnTo>
                  <a:lnTo>
                    <a:pt x="4506150" y="256857"/>
                  </a:lnTo>
                  <a:lnTo>
                    <a:pt x="4506150" y="252628"/>
                  </a:lnTo>
                  <a:lnTo>
                    <a:pt x="4506150" y="248412"/>
                  </a:lnTo>
                  <a:lnTo>
                    <a:pt x="4506150" y="200888"/>
                  </a:lnTo>
                  <a:lnTo>
                    <a:pt x="4506150" y="196672"/>
                  </a:lnTo>
                  <a:lnTo>
                    <a:pt x="4506150" y="192443"/>
                  </a:lnTo>
                  <a:close/>
                </a:path>
                <a:path w="4534534" h="285114">
                  <a:moveTo>
                    <a:pt x="4506150" y="117830"/>
                  </a:moveTo>
                  <a:lnTo>
                    <a:pt x="4497692" y="117830"/>
                  </a:lnTo>
                  <a:lnTo>
                    <a:pt x="4497692" y="126276"/>
                  </a:lnTo>
                  <a:lnTo>
                    <a:pt x="4497692" y="173799"/>
                  </a:lnTo>
                  <a:lnTo>
                    <a:pt x="4412945" y="173799"/>
                  </a:lnTo>
                  <a:lnTo>
                    <a:pt x="4412945" y="126276"/>
                  </a:lnTo>
                  <a:lnTo>
                    <a:pt x="4497692" y="126276"/>
                  </a:lnTo>
                  <a:lnTo>
                    <a:pt x="4497692" y="117830"/>
                  </a:lnTo>
                  <a:lnTo>
                    <a:pt x="4404512" y="117830"/>
                  </a:lnTo>
                  <a:lnTo>
                    <a:pt x="4404512" y="182245"/>
                  </a:lnTo>
                  <a:lnTo>
                    <a:pt x="4506150" y="182245"/>
                  </a:lnTo>
                  <a:lnTo>
                    <a:pt x="4506150" y="178015"/>
                  </a:lnTo>
                  <a:lnTo>
                    <a:pt x="4506150" y="173799"/>
                  </a:lnTo>
                  <a:lnTo>
                    <a:pt x="4506150" y="126276"/>
                  </a:lnTo>
                  <a:lnTo>
                    <a:pt x="4506150" y="122059"/>
                  </a:lnTo>
                  <a:lnTo>
                    <a:pt x="4506150" y="117830"/>
                  </a:lnTo>
                  <a:close/>
                </a:path>
                <a:path w="4534534" h="285114">
                  <a:moveTo>
                    <a:pt x="4506150" y="43218"/>
                  </a:moveTo>
                  <a:lnTo>
                    <a:pt x="4497692" y="43218"/>
                  </a:lnTo>
                  <a:lnTo>
                    <a:pt x="4497692" y="51663"/>
                  </a:lnTo>
                  <a:lnTo>
                    <a:pt x="4497692" y="99174"/>
                  </a:lnTo>
                  <a:lnTo>
                    <a:pt x="4412945" y="99174"/>
                  </a:lnTo>
                  <a:lnTo>
                    <a:pt x="4412945" y="51663"/>
                  </a:lnTo>
                  <a:lnTo>
                    <a:pt x="4497692" y="51663"/>
                  </a:lnTo>
                  <a:lnTo>
                    <a:pt x="4497692" y="43218"/>
                  </a:lnTo>
                  <a:lnTo>
                    <a:pt x="4404512" y="43218"/>
                  </a:lnTo>
                  <a:lnTo>
                    <a:pt x="4404512" y="107619"/>
                  </a:lnTo>
                  <a:lnTo>
                    <a:pt x="4506150" y="107619"/>
                  </a:lnTo>
                  <a:lnTo>
                    <a:pt x="4506150" y="103403"/>
                  </a:lnTo>
                  <a:lnTo>
                    <a:pt x="4506150" y="99174"/>
                  </a:lnTo>
                  <a:lnTo>
                    <a:pt x="4506150" y="51663"/>
                  </a:lnTo>
                  <a:lnTo>
                    <a:pt x="4506150" y="47447"/>
                  </a:lnTo>
                  <a:lnTo>
                    <a:pt x="4506150" y="43218"/>
                  </a:lnTo>
                  <a:close/>
                </a:path>
                <a:path w="4534534" h="285114">
                  <a:moveTo>
                    <a:pt x="4534103" y="15240"/>
                  </a:moveTo>
                  <a:lnTo>
                    <a:pt x="4525645" y="15240"/>
                  </a:lnTo>
                  <a:lnTo>
                    <a:pt x="4525645" y="23685"/>
                  </a:lnTo>
                  <a:lnTo>
                    <a:pt x="4525645" y="276390"/>
                  </a:lnTo>
                  <a:lnTo>
                    <a:pt x="4161332" y="276390"/>
                  </a:lnTo>
                  <a:lnTo>
                    <a:pt x="4161332" y="23685"/>
                  </a:lnTo>
                  <a:lnTo>
                    <a:pt x="4525645" y="23685"/>
                  </a:lnTo>
                  <a:lnTo>
                    <a:pt x="4525645" y="15240"/>
                  </a:lnTo>
                  <a:lnTo>
                    <a:pt x="4152900" y="15240"/>
                  </a:lnTo>
                  <a:lnTo>
                    <a:pt x="4152900" y="284835"/>
                  </a:lnTo>
                  <a:lnTo>
                    <a:pt x="4534103" y="284835"/>
                  </a:lnTo>
                  <a:lnTo>
                    <a:pt x="4534103" y="280619"/>
                  </a:lnTo>
                  <a:lnTo>
                    <a:pt x="4534103" y="276390"/>
                  </a:lnTo>
                  <a:lnTo>
                    <a:pt x="4534103" y="23685"/>
                  </a:lnTo>
                  <a:lnTo>
                    <a:pt x="4534103" y="19456"/>
                  </a:lnTo>
                  <a:lnTo>
                    <a:pt x="4534103" y="15240"/>
                  </a:lnTo>
                  <a:close/>
                </a:path>
              </a:pathLst>
            </a:custGeom>
            <a:solidFill>
              <a:srgbClr val="0093FF"/>
            </a:solidFill>
          </p:spPr>
          <p:txBody>
            <a:bodyPr wrap="square" lIns="0" tIns="0" rIns="0" bIns="0" rtlCol="0"/>
            <a:lstStyle/>
            <a:p>
              <a:endParaRPr sz="2400"/>
            </a:p>
          </p:txBody>
        </p:sp>
        <p:pic>
          <p:nvPicPr>
            <p:cNvPr id="22" name="object 22"/>
            <p:cNvPicPr/>
            <p:nvPr/>
          </p:nvPicPr>
          <p:blipFill>
            <a:blip r:embed="rId7" cstate="print"/>
            <a:stretch>
              <a:fillRect/>
            </a:stretch>
          </p:blipFill>
          <p:spPr>
            <a:xfrm>
              <a:off x="5490474" y="2701771"/>
              <a:ext cx="413931" cy="415500"/>
            </a:xfrm>
            <a:prstGeom prst="rect">
              <a:avLst/>
            </a:prstGeom>
          </p:spPr>
        </p:pic>
        <p:pic>
          <p:nvPicPr>
            <p:cNvPr id="23" name="object 23"/>
            <p:cNvPicPr/>
            <p:nvPr/>
          </p:nvPicPr>
          <p:blipFill>
            <a:blip r:embed="rId8" cstate="print"/>
            <a:stretch>
              <a:fillRect/>
            </a:stretch>
          </p:blipFill>
          <p:spPr>
            <a:xfrm>
              <a:off x="7665222" y="2701771"/>
              <a:ext cx="413931" cy="415500"/>
            </a:xfrm>
            <a:prstGeom prst="rect">
              <a:avLst/>
            </a:prstGeom>
          </p:spPr>
        </p:pic>
        <p:pic>
          <p:nvPicPr>
            <p:cNvPr id="24" name="object 24"/>
            <p:cNvPicPr/>
            <p:nvPr/>
          </p:nvPicPr>
          <p:blipFill>
            <a:blip r:embed="rId9" cstate="print"/>
            <a:stretch>
              <a:fillRect/>
            </a:stretch>
          </p:blipFill>
          <p:spPr>
            <a:xfrm>
              <a:off x="2932176" y="2747721"/>
              <a:ext cx="696493" cy="420674"/>
            </a:xfrm>
            <a:prstGeom prst="rect">
              <a:avLst/>
            </a:prstGeom>
          </p:spPr>
        </p:pic>
        <p:sp>
          <p:nvSpPr>
            <p:cNvPr id="25" name="object 25"/>
            <p:cNvSpPr/>
            <p:nvPr/>
          </p:nvSpPr>
          <p:spPr>
            <a:xfrm>
              <a:off x="2975610" y="2851931"/>
              <a:ext cx="445134" cy="171450"/>
            </a:xfrm>
            <a:custGeom>
              <a:avLst/>
              <a:gdLst/>
              <a:ahLst/>
              <a:cxnLst/>
              <a:rect l="l" t="t" r="r" b="b"/>
              <a:pathLst>
                <a:path w="445135" h="171450">
                  <a:moveTo>
                    <a:pt x="369461" y="85578"/>
                  </a:moveTo>
                  <a:lnTo>
                    <a:pt x="283463" y="135743"/>
                  </a:lnTo>
                  <a:lnTo>
                    <a:pt x="277784" y="140795"/>
                  </a:lnTo>
                  <a:lnTo>
                    <a:pt x="274605" y="147395"/>
                  </a:lnTo>
                  <a:lnTo>
                    <a:pt x="274141" y="154709"/>
                  </a:lnTo>
                  <a:lnTo>
                    <a:pt x="276605" y="161905"/>
                  </a:lnTo>
                  <a:lnTo>
                    <a:pt x="281584" y="167513"/>
                  </a:lnTo>
                  <a:lnTo>
                    <a:pt x="288147" y="170668"/>
                  </a:lnTo>
                  <a:lnTo>
                    <a:pt x="295447" y="171156"/>
                  </a:lnTo>
                  <a:lnTo>
                    <a:pt x="302640" y="168763"/>
                  </a:lnTo>
                  <a:lnTo>
                    <a:pt x="412502" y="104628"/>
                  </a:lnTo>
                  <a:lnTo>
                    <a:pt x="407288" y="104628"/>
                  </a:lnTo>
                  <a:lnTo>
                    <a:pt x="407288" y="102088"/>
                  </a:lnTo>
                  <a:lnTo>
                    <a:pt x="397763" y="102088"/>
                  </a:lnTo>
                  <a:lnTo>
                    <a:pt x="369461" y="85578"/>
                  </a:lnTo>
                  <a:close/>
                </a:path>
                <a:path w="445135" h="171450">
                  <a:moveTo>
                    <a:pt x="336804" y="66528"/>
                  </a:moveTo>
                  <a:lnTo>
                    <a:pt x="0" y="66528"/>
                  </a:lnTo>
                  <a:lnTo>
                    <a:pt x="0" y="104628"/>
                  </a:lnTo>
                  <a:lnTo>
                    <a:pt x="336803" y="104628"/>
                  </a:lnTo>
                  <a:lnTo>
                    <a:pt x="369461" y="85578"/>
                  </a:lnTo>
                  <a:lnTo>
                    <a:pt x="336804" y="66528"/>
                  </a:lnTo>
                  <a:close/>
                </a:path>
                <a:path w="445135" h="171450">
                  <a:moveTo>
                    <a:pt x="412502" y="66528"/>
                  </a:moveTo>
                  <a:lnTo>
                    <a:pt x="407288" y="66528"/>
                  </a:lnTo>
                  <a:lnTo>
                    <a:pt x="407288" y="104628"/>
                  </a:lnTo>
                  <a:lnTo>
                    <a:pt x="412502" y="104628"/>
                  </a:lnTo>
                  <a:lnTo>
                    <a:pt x="445135" y="85578"/>
                  </a:lnTo>
                  <a:lnTo>
                    <a:pt x="412502" y="66528"/>
                  </a:lnTo>
                  <a:close/>
                </a:path>
                <a:path w="445135" h="171450">
                  <a:moveTo>
                    <a:pt x="397763" y="69068"/>
                  </a:moveTo>
                  <a:lnTo>
                    <a:pt x="369461" y="85578"/>
                  </a:lnTo>
                  <a:lnTo>
                    <a:pt x="397763" y="102088"/>
                  </a:lnTo>
                  <a:lnTo>
                    <a:pt x="397763" y="69068"/>
                  </a:lnTo>
                  <a:close/>
                </a:path>
                <a:path w="445135" h="171450">
                  <a:moveTo>
                    <a:pt x="407288" y="69068"/>
                  </a:moveTo>
                  <a:lnTo>
                    <a:pt x="397763" y="69068"/>
                  </a:lnTo>
                  <a:lnTo>
                    <a:pt x="397763" y="102088"/>
                  </a:lnTo>
                  <a:lnTo>
                    <a:pt x="407288" y="102088"/>
                  </a:lnTo>
                  <a:lnTo>
                    <a:pt x="407288" y="69068"/>
                  </a:lnTo>
                  <a:close/>
                </a:path>
                <a:path w="445135" h="171450">
                  <a:moveTo>
                    <a:pt x="295447" y="0"/>
                  </a:moveTo>
                  <a:lnTo>
                    <a:pt x="288147" y="488"/>
                  </a:lnTo>
                  <a:lnTo>
                    <a:pt x="281584" y="3643"/>
                  </a:lnTo>
                  <a:lnTo>
                    <a:pt x="276605" y="9251"/>
                  </a:lnTo>
                  <a:lnTo>
                    <a:pt x="274141" y="16446"/>
                  </a:lnTo>
                  <a:lnTo>
                    <a:pt x="274605" y="23760"/>
                  </a:lnTo>
                  <a:lnTo>
                    <a:pt x="277784" y="30360"/>
                  </a:lnTo>
                  <a:lnTo>
                    <a:pt x="283463" y="35413"/>
                  </a:lnTo>
                  <a:lnTo>
                    <a:pt x="369461" y="85578"/>
                  </a:lnTo>
                  <a:lnTo>
                    <a:pt x="397763" y="69068"/>
                  </a:lnTo>
                  <a:lnTo>
                    <a:pt x="407288" y="69068"/>
                  </a:lnTo>
                  <a:lnTo>
                    <a:pt x="407288" y="66528"/>
                  </a:lnTo>
                  <a:lnTo>
                    <a:pt x="412502" y="66528"/>
                  </a:lnTo>
                  <a:lnTo>
                    <a:pt x="302640" y="2393"/>
                  </a:lnTo>
                  <a:lnTo>
                    <a:pt x="295447" y="0"/>
                  </a:lnTo>
                  <a:close/>
                </a:path>
              </a:pathLst>
            </a:custGeom>
            <a:solidFill>
              <a:srgbClr val="00C3FF"/>
            </a:solidFill>
          </p:spPr>
          <p:txBody>
            <a:bodyPr wrap="square" lIns="0" tIns="0" rIns="0" bIns="0" rtlCol="0"/>
            <a:lstStyle/>
            <a:p>
              <a:endParaRPr sz="2400"/>
            </a:p>
          </p:txBody>
        </p:sp>
        <p:pic>
          <p:nvPicPr>
            <p:cNvPr id="26" name="object 26"/>
            <p:cNvPicPr/>
            <p:nvPr/>
          </p:nvPicPr>
          <p:blipFill>
            <a:blip r:embed="rId10" cstate="print"/>
            <a:stretch>
              <a:fillRect/>
            </a:stretch>
          </p:blipFill>
          <p:spPr>
            <a:xfrm>
              <a:off x="4933187" y="2729522"/>
              <a:ext cx="704113" cy="419061"/>
            </a:xfrm>
            <a:prstGeom prst="rect">
              <a:avLst/>
            </a:prstGeom>
          </p:spPr>
        </p:pic>
        <p:sp>
          <p:nvSpPr>
            <p:cNvPr id="27" name="object 27"/>
            <p:cNvSpPr/>
            <p:nvPr/>
          </p:nvSpPr>
          <p:spPr>
            <a:xfrm>
              <a:off x="4976622" y="2832556"/>
              <a:ext cx="452755" cy="171450"/>
            </a:xfrm>
            <a:custGeom>
              <a:avLst/>
              <a:gdLst/>
              <a:ahLst/>
              <a:cxnLst/>
              <a:rect l="l" t="t" r="r" b="b"/>
              <a:pathLst>
                <a:path w="452754" h="171450">
                  <a:moveTo>
                    <a:pt x="405383" y="69266"/>
                  </a:moveTo>
                  <a:lnTo>
                    <a:pt x="290956" y="135814"/>
                  </a:lnTo>
                  <a:lnTo>
                    <a:pt x="285277" y="140793"/>
                  </a:lnTo>
                  <a:lnTo>
                    <a:pt x="282098" y="147355"/>
                  </a:lnTo>
                  <a:lnTo>
                    <a:pt x="281634" y="154656"/>
                  </a:lnTo>
                  <a:lnTo>
                    <a:pt x="284099" y="161849"/>
                  </a:lnTo>
                  <a:lnTo>
                    <a:pt x="289077" y="167475"/>
                  </a:lnTo>
                  <a:lnTo>
                    <a:pt x="295640" y="170660"/>
                  </a:lnTo>
                  <a:lnTo>
                    <a:pt x="302940" y="171154"/>
                  </a:lnTo>
                  <a:lnTo>
                    <a:pt x="310133" y="168707"/>
                  </a:lnTo>
                  <a:lnTo>
                    <a:pt x="419993" y="104826"/>
                  </a:lnTo>
                  <a:lnTo>
                    <a:pt x="414908" y="104826"/>
                  </a:lnTo>
                  <a:lnTo>
                    <a:pt x="414908" y="102159"/>
                  </a:lnTo>
                  <a:lnTo>
                    <a:pt x="405256" y="102159"/>
                  </a:lnTo>
                  <a:lnTo>
                    <a:pt x="377256" y="85776"/>
                  </a:lnTo>
                  <a:lnTo>
                    <a:pt x="405320" y="85776"/>
                  </a:lnTo>
                  <a:lnTo>
                    <a:pt x="405383" y="69266"/>
                  </a:lnTo>
                  <a:close/>
                </a:path>
                <a:path w="452754" h="171450">
                  <a:moveTo>
                    <a:pt x="0" y="66091"/>
                  </a:moveTo>
                  <a:lnTo>
                    <a:pt x="0" y="104191"/>
                  </a:lnTo>
                  <a:lnTo>
                    <a:pt x="414908" y="104826"/>
                  </a:lnTo>
                  <a:lnTo>
                    <a:pt x="344239" y="104826"/>
                  </a:lnTo>
                  <a:lnTo>
                    <a:pt x="376995" y="85776"/>
                  </a:lnTo>
                  <a:lnTo>
                    <a:pt x="377256" y="85776"/>
                  </a:lnTo>
                  <a:lnTo>
                    <a:pt x="344697" y="66726"/>
                  </a:lnTo>
                  <a:lnTo>
                    <a:pt x="414908" y="66726"/>
                  </a:lnTo>
                  <a:lnTo>
                    <a:pt x="0" y="66091"/>
                  </a:lnTo>
                  <a:close/>
                </a:path>
                <a:path w="452754" h="171450">
                  <a:moveTo>
                    <a:pt x="420201" y="66726"/>
                  </a:moveTo>
                  <a:lnTo>
                    <a:pt x="414908" y="66726"/>
                  </a:lnTo>
                  <a:lnTo>
                    <a:pt x="414908" y="104826"/>
                  </a:lnTo>
                  <a:lnTo>
                    <a:pt x="419993" y="104826"/>
                  </a:lnTo>
                  <a:lnTo>
                    <a:pt x="452754" y="85776"/>
                  </a:lnTo>
                  <a:lnTo>
                    <a:pt x="420201" y="66726"/>
                  </a:lnTo>
                  <a:close/>
                </a:path>
                <a:path w="452754" h="171450">
                  <a:moveTo>
                    <a:pt x="405320" y="85776"/>
                  </a:moveTo>
                  <a:lnTo>
                    <a:pt x="377256" y="85776"/>
                  </a:lnTo>
                  <a:lnTo>
                    <a:pt x="405256" y="102159"/>
                  </a:lnTo>
                  <a:lnTo>
                    <a:pt x="405320" y="85776"/>
                  </a:lnTo>
                  <a:close/>
                </a:path>
                <a:path w="452754" h="171450">
                  <a:moveTo>
                    <a:pt x="414908" y="69266"/>
                  </a:moveTo>
                  <a:lnTo>
                    <a:pt x="405383" y="69266"/>
                  </a:lnTo>
                  <a:lnTo>
                    <a:pt x="405256" y="102159"/>
                  </a:lnTo>
                  <a:lnTo>
                    <a:pt x="414908" y="102159"/>
                  </a:lnTo>
                  <a:lnTo>
                    <a:pt x="414908" y="69266"/>
                  </a:lnTo>
                  <a:close/>
                </a:path>
                <a:path w="452754" h="171450">
                  <a:moveTo>
                    <a:pt x="303194" y="0"/>
                  </a:moveTo>
                  <a:lnTo>
                    <a:pt x="295894" y="464"/>
                  </a:lnTo>
                  <a:lnTo>
                    <a:pt x="289331" y="3643"/>
                  </a:lnTo>
                  <a:lnTo>
                    <a:pt x="284352" y="9322"/>
                  </a:lnTo>
                  <a:lnTo>
                    <a:pt x="281886" y="16444"/>
                  </a:lnTo>
                  <a:lnTo>
                    <a:pt x="282336" y="23721"/>
                  </a:lnTo>
                  <a:lnTo>
                    <a:pt x="285478" y="30307"/>
                  </a:lnTo>
                  <a:lnTo>
                    <a:pt x="291083" y="35357"/>
                  </a:lnTo>
                  <a:lnTo>
                    <a:pt x="377256" y="85776"/>
                  </a:lnTo>
                  <a:lnTo>
                    <a:pt x="376995" y="85776"/>
                  </a:lnTo>
                  <a:lnTo>
                    <a:pt x="405383" y="69266"/>
                  </a:lnTo>
                  <a:lnTo>
                    <a:pt x="414908" y="69266"/>
                  </a:lnTo>
                  <a:lnTo>
                    <a:pt x="414908" y="66726"/>
                  </a:lnTo>
                  <a:lnTo>
                    <a:pt x="420201" y="66726"/>
                  </a:lnTo>
                  <a:lnTo>
                    <a:pt x="310388" y="2464"/>
                  </a:lnTo>
                  <a:lnTo>
                    <a:pt x="303194" y="0"/>
                  </a:lnTo>
                  <a:close/>
                </a:path>
              </a:pathLst>
            </a:custGeom>
            <a:solidFill>
              <a:srgbClr val="00C3FF"/>
            </a:solidFill>
          </p:spPr>
          <p:txBody>
            <a:bodyPr wrap="square" lIns="0" tIns="0" rIns="0" bIns="0" rtlCol="0"/>
            <a:lstStyle/>
            <a:p>
              <a:endParaRPr sz="2400"/>
            </a:p>
          </p:txBody>
        </p:sp>
        <p:pic>
          <p:nvPicPr>
            <p:cNvPr id="28" name="object 28"/>
            <p:cNvPicPr/>
            <p:nvPr/>
          </p:nvPicPr>
          <p:blipFill>
            <a:blip r:embed="rId10" cstate="print"/>
            <a:stretch>
              <a:fillRect/>
            </a:stretch>
          </p:blipFill>
          <p:spPr>
            <a:xfrm>
              <a:off x="7100316" y="2738666"/>
              <a:ext cx="704113" cy="419061"/>
            </a:xfrm>
            <a:prstGeom prst="rect">
              <a:avLst/>
            </a:prstGeom>
          </p:spPr>
        </p:pic>
        <p:sp>
          <p:nvSpPr>
            <p:cNvPr id="29" name="object 29"/>
            <p:cNvSpPr/>
            <p:nvPr/>
          </p:nvSpPr>
          <p:spPr>
            <a:xfrm>
              <a:off x="7143750" y="2841700"/>
              <a:ext cx="452755" cy="171450"/>
            </a:xfrm>
            <a:custGeom>
              <a:avLst/>
              <a:gdLst/>
              <a:ahLst/>
              <a:cxnLst/>
              <a:rect l="l" t="t" r="r" b="b"/>
              <a:pathLst>
                <a:path w="452754" h="171450">
                  <a:moveTo>
                    <a:pt x="405383" y="69266"/>
                  </a:moveTo>
                  <a:lnTo>
                    <a:pt x="290956" y="135814"/>
                  </a:lnTo>
                  <a:lnTo>
                    <a:pt x="285277" y="140793"/>
                  </a:lnTo>
                  <a:lnTo>
                    <a:pt x="282098" y="147355"/>
                  </a:lnTo>
                  <a:lnTo>
                    <a:pt x="281634" y="154656"/>
                  </a:lnTo>
                  <a:lnTo>
                    <a:pt x="284099" y="161849"/>
                  </a:lnTo>
                  <a:lnTo>
                    <a:pt x="289077" y="167475"/>
                  </a:lnTo>
                  <a:lnTo>
                    <a:pt x="295640" y="170660"/>
                  </a:lnTo>
                  <a:lnTo>
                    <a:pt x="302940" y="171154"/>
                  </a:lnTo>
                  <a:lnTo>
                    <a:pt x="310133" y="168707"/>
                  </a:lnTo>
                  <a:lnTo>
                    <a:pt x="419993" y="104826"/>
                  </a:lnTo>
                  <a:lnTo>
                    <a:pt x="414908" y="104826"/>
                  </a:lnTo>
                  <a:lnTo>
                    <a:pt x="414908" y="102159"/>
                  </a:lnTo>
                  <a:lnTo>
                    <a:pt x="405256" y="102159"/>
                  </a:lnTo>
                  <a:lnTo>
                    <a:pt x="377256" y="85776"/>
                  </a:lnTo>
                  <a:lnTo>
                    <a:pt x="405320" y="85776"/>
                  </a:lnTo>
                  <a:lnTo>
                    <a:pt x="405383" y="69266"/>
                  </a:lnTo>
                  <a:close/>
                </a:path>
                <a:path w="452754" h="171450">
                  <a:moveTo>
                    <a:pt x="0" y="66091"/>
                  </a:moveTo>
                  <a:lnTo>
                    <a:pt x="0" y="104191"/>
                  </a:lnTo>
                  <a:lnTo>
                    <a:pt x="414908" y="104826"/>
                  </a:lnTo>
                  <a:lnTo>
                    <a:pt x="344239" y="104826"/>
                  </a:lnTo>
                  <a:lnTo>
                    <a:pt x="376995" y="85776"/>
                  </a:lnTo>
                  <a:lnTo>
                    <a:pt x="377256" y="85776"/>
                  </a:lnTo>
                  <a:lnTo>
                    <a:pt x="344697" y="66726"/>
                  </a:lnTo>
                  <a:lnTo>
                    <a:pt x="414908" y="66726"/>
                  </a:lnTo>
                  <a:lnTo>
                    <a:pt x="0" y="66091"/>
                  </a:lnTo>
                  <a:close/>
                </a:path>
                <a:path w="452754" h="171450">
                  <a:moveTo>
                    <a:pt x="420201" y="66726"/>
                  </a:moveTo>
                  <a:lnTo>
                    <a:pt x="414908" y="66726"/>
                  </a:lnTo>
                  <a:lnTo>
                    <a:pt x="414908" y="104826"/>
                  </a:lnTo>
                  <a:lnTo>
                    <a:pt x="419993" y="104826"/>
                  </a:lnTo>
                  <a:lnTo>
                    <a:pt x="452754" y="85776"/>
                  </a:lnTo>
                  <a:lnTo>
                    <a:pt x="420201" y="66726"/>
                  </a:lnTo>
                  <a:close/>
                </a:path>
                <a:path w="452754" h="171450">
                  <a:moveTo>
                    <a:pt x="405320" y="85776"/>
                  </a:moveTo>
                  <a:lnTo>
                    <a:pt x="377256" y="85776"/>
                  </a:lnTo>
                  <a:lnTo>
                    <a:pt x="405256" y="102159"/>
                  </a:lnTo>
                  <a:lnTo>
                    <a:pt x="405320" y="85776"/>
                  </a:lnTo>
                  <a:close/>
                </a:path>
                <a:path w="452754" h="171450">
                  <a:moveTo>
                    <a:pt x="414908" y="69266"/>
                  </a:moveTo>
                  <a:lnTo>
                    <a:pt x="405383" y="69266"/>
                  </a:lnTo>
                  <a:lnTo>
                    <a:pt x="405256" y="102159"/>
                  </a:lnTo>
                  <a:lnTo>
                    <a:pt x="414908" y="102159"/>
                  </a:lnTo>
                  <a:lnTo>
                    <a:pt x="414908" y="69266"/>
                  </a:lnTo>
                  <a:close/>
                </a:path>
                <a:path w="452754" h="171450">
                  <a:moveTo>
                    <a:pt x="303194" y="0"/>
                  </a:moveTo>
                  <a:lnTo>
                    <a:pt x="295894" y="464"/>
                  </a:lnTo>
                  <a:lnTo>
                    <a:pt x="289331" y="3643"/>
                  </a:lnTo>
                  <a:lnTo>
                    <a:pt x="284352" y="9322"/>
                  </a:lnTo>
                  <a:lnTo>
                    <a:pt x="281886" y="16444"/>
                  </a:lnTo>
                  <a:lnTo>
                    <a:pt x="282336" y="23721"/>
                  </a:lnTo>
                  <a:lnTo>
                    <a:pt x="285478" y="30307"/>
                  </a:lnTo>
                  <a:lnTo>
                    <a:pt x="291083" y="35357"/>
                  </a:lnTo>
                  <a:lnTo>
                    <a:pt x="377256" y="85776"/>
                  </a:lnTo>
                  <a:lnTo>
                    <a:pt x="376995" y="85776"/>
                  </a:lnTo>
                  <a:lnTo>
                    <a:pt x="405383" y="69266"/>
                  </a:lnTo>
                  <a:lnTo>
                    <a:pt x="414908" y="69266"/>
                  </a:lnTo>
                  <a:lnTo>
                    <a:pt x="414908" y="66726"/>
                  </a:lnTo>
                  <a:lnTo>
                    <a:pt x="420201" y="66726"/>
                  </a:lnTo>
                  <a:lnTo>
                    <a:pt x="310388" y="2464"/>
                  </a:lnTo>
                  <a:lnTo>
                    <a:pt x="303194" y="0"/>
                  </a:lnTo>
                  <a:close/>
                </a:path>
              </a:pathLst>
            </a:custGeom>
            <a:solidFill>
              <a:srgbClr val="00C3FF"/>
            </a:solidFill>
          </p:spPr>
          <p:txBody>
            <a:bodyPr wrap="square" lIns="0" tIns="0" rIns="0" bIns="0" rtlCol="0"/>
            <a:lstStyle/>
            <a:p>
              <a:endParaRPr sz="2400"/>
            </a:p>
          </p:txBody>
        </p:sp>
        <p:sp>
          <p:nvSpPr>
            <p:cNvPr id="30" name="object 30"/>
            <p:cNvSpPr/>
            <p:nvPr/>
          </p:nvSpPr>
          <p:spPr>
            <a:xfrm>
              <a:off x="2738627" y="3150108"/>
              <a:ext cx="817244" cy="399415"/>
            </a:xfrm>
            <a:custGeom>
              <a:avLst/>
              <a:gdLst/>
              <a:ahLst/>
              <a:cxnLst/>
              <a:rect l="l" t="t" r="r" b="b"/>
              <a:pathLst>
                <a:path w="817245" h="399414">
                  <a:moveTo>
                    <a:pt x="816863" y="0"/>
                  </a:moveTo>
                  <a:lnTo>
                    <a:pt x="0" y="0"/>
                  </a:lnTo>
                  <a:lnTo>
                    <a:pt x="0" y="399288"/>
                  </a:lnTo>
                  <a:lnTo>
                    <a:pt x="816863" y="399288"/>
                  </a:lnTo>
                  <a:lnTo>
                    <a:pt x="816863" y="0"/>
                  </a:lnTo>
                  <a:close/>
                </a:path>
              </a:pathLst>
            </a:custGeom>
            <a:solidFill>
              <a:srgbClr val="008BBE">
                <a:alpha val="50195"/>
              </a:srgbClr>
            </a:solidFill>
          </p:spPr>
          <p:txBody>
            <a:bodyPr wrap="square" lIns="0" tIns="0" rIns="0" bIns="0" rtlCol="0"/>
            <a:lstStyle/>
            <a:p>
              <a:endParaRPr sz="2400"/>
            </a:p>
          </p:txBody>
        </p:sp>
        <p:pic>
          <p:nvPicPr>
            <p:cNvPr id="31" name="object 31"/>
            <p:cNvPicPr/>
            <p:nvPr/>
          </p:nvPicPr>
          <p:blipFill>
            <a:blip r:embed="rId11" cstate="print"/>
            <a:stretch>
              <a:fillRect/>
            </a:stretch>
          </p:blipFill>
          <p:spPr>
            <a:xfrm>
              <a:off x="2671572" y="3112008"/>
              <a:ext cx="963929" cy="567690"/>
            </a:xfrm>
            <a:prstGeom prst="rect">
              <a:avLst/>
            </a:prstGeom>
          </p:spPr>
        </p:pic>
      </p:grpSp>
      <p:sp>
        <p:nvSpPr>
          <p:cNvPr id="32" name="object 32"/>
          <p:cNvSpPr txBox="1"/>
          <p:nvPr/>
        </p:nvSpPr>
        <p:spPr>
          <a:xfrm>
            <a:off x="8285820" y="1944387"/>
            <a:ext cx="2274993" cy="590697"/>
          </a:xfrm>
          <a:prstGeom prst="rect">
            <a:avLst/>
          </a:prstGeom>
        </p:spPr>
        <p:txBody>
          <a:bodyPr vert="horz" wrap="square" lIns="0" tIns="16087" rIns="0" bIns="0" rtlCol="0">
            <a:spAutoFit/>
          </a:bodyPr>
          <a:lstStyle/>
          <a:p>
            <a:pPr marL="16933">
              <a:spcBef>
                <a:spcPts val="127"/>
              </a:spcBef>
            </a:pPr>
            <a:r>
              <a:rPr sz="3733" spc="-13" dirty="0">
                <a:solidFill>
                  <a:srgbClr val="FFFFFF"/>
                </a:solidFill>
                <a:latin typeface="Bahnschrift"/>
                <a:cs typeface="Bahnschrift"/>
              </a:rPr>
              <a:t>Traditional</a:t>
            </a:r>
            <a:endParaRPr sz="3733">
              <a:latin typeface="Bahnschrift"/>
              <a:cs typeface="Bahnschrift"/>
            </a:endParaRPr>
          </a:p>
        </p:txBody>
      </p:sp>
      <p:sp>
        <p:nvSpPr>
          <p:cNvPr id="33" name="object 33"/>
          <p:cNvSpPr txBox="1"/>
          <p:nvPr/>
        </p:nvSpPr>
        <p:spPr>
          <a:xfrm>
            <a:off x="3757677" y="4237228"/>
            <a:ext cx="867833" cy="427532"/>
          </a:xfrm>
          <a:prstGeom prst="rect">
            <a:avLst/>
          </a:prstGeom>
        </p:spPr>
        <p:txBody>
          <a:bodyPr vert="horz" wrap="square" lIns="0" tIns="16933" rIns="0" bIns="0" rtlCol="0">
            <a:spAutoFit/>
          </a:bodyPr>
          <a:lstStyle/>
          <a:p>
            <a:pPr marL="16933">
              <a:spcBef>
                <a:spcPts val="133"/>
              </a:spcBef>
            </a:pPr>
            <a:r>
              <a:rPr sz="2667" spc="-267" dirty="0">
                <a:solidFill>
                  <a:srgbClr val="FFFFFF"/>
                </a:solidFill>
                <a:latin typeface="Arial MT"/>
                <a:cs typeface="Arial MT"/>
              </a:rPr>
              <a:t>Task</a:t>
            </a:r>
            <a:r>
              <a:rPr sz="2667" spc="-147" dirty="0">
                <a:solidFill>
                  <a:srgbClr val="FFFFFF"/>
                </a:solidFill>
                <a:latin typeface="Arial MT"/>
                <a:cs typeface="Arial MT"/>
              </a:rPr>
              <a:t> </a:t>
            </a:r>
            <a:r>
              <a:rPr sz="2667" spc="-167" dirty="0">
                <a:solidFill>
                  <a:srgbClr val="FFFFFF"/>
                </a:solidFill>
                <a:latin typeface="Arial MT"/>
                <a:cs typeface="Arial MT"/>
              </a:rPr>
              <a:t>1</a:t>
            </a:r>
            <a:endParaRPr sz="2667">
              <a:latin typeface="Arial MT"/>
              <a:cs typeface="Arial MT"/>
            </a:endParaRPr>
          </a:p>
        </p:txBody>
      </p:sp>
      <p:grpSp>
        <p:nvGrpSpPr>
          <p:cNvPr id="34" name="object 34"/>
          <p:cNvGrpSpPr/>
          <p:nvPr/>
        </p:nvGrpSpPr>
        <p:grpSpPr>
          <a:xfrm>
            <a:off x="6201663" y="4149343"/>
            <a:ext cx="1285240" cy="756920"/>
            <a:chOff x="4651247" y="3112007"/>
            <a:chExt cx="963930" cy="567690"/>
          </a:xfrm>
        </p:grpSpPr>
        <p:sp>
          <p:nvSpPr>
            <p:cNvPr id="35" name="object 35"/>
            <p:cNvSpPr/>
            <p:nvPr/>
          </p:nvSpPr>
          <p:spPr>
            <a:xfrm>
              <a:off x="4719827" y="3150107"/>
              <a:ext cx="815340" cy="399415"/>
            </a:xfrm>
            <a:custGeom>
              <a:avLst/>
              <a:gdLst/>
              <a:ahLst/>
              <a:cxnLst/>
              <a:rect l="l" t="t" r="r" b="b"/>
              <a:pathLst>
                <a:path w="815339" h="399414">
                  <a:moveTo>
                    <a:pt x="815339" y="0"/>
                  </a:moveTo>
                  <a:lnTo>
                    <a:pt x="0" y="0"/>
                  </a:lnTo>
                  <a:lnTo>
                    <a:pt x="0" y="399288"/>
                  </a:lnTo>
                  <a:lnTo>
                    <a:pt x="815339" y="399288"/>
                  </a:lnTo>
                  <a:lnTo>
                    <a:pt x="815339" y="0"/>
                  </a:lnTo>
                  <a:close/>
                </a:path>
              </a:pathLst>
            </a:custGeom>
            <a:solidFill>
              <a:srgbClr val="008BBE">
                <a:alpha val="50195"/>
              </a:srgbClr>
            </a:solidFill>
          </p:spPr>
          <p:txBody>
            <a:bodyPr wrap="square" lIns="0" tIns="0" rIns="0" bIns="0" rtlCol="0"/>
            <a:lstStyle/>
            <a:p>
              <a:endParaRPr sz="2400"/>
            </a:p>
          </p:txBody>
        </p:sp>
        <p:pic>
          <p:nvPicPr>
            <p:cNvPr id="36" name="object 36"/>
            <p:cNvPicPr/>
            <p:nvPr/>
          </p:nvPicPr>
          <p:blipFill>
            <a:blip r:embed="rId12" cstate="print"/>
            <a:stretch>
              <a:fillRect/>
            </a:stretch>
          </p:blipFill>
          <p:spPr>
            <a:xfrm>
              <a:off x="4651247" y="3112007"/>
              <a:ext cx="963929" cy="567690"/>
            </a:xfrm>
            <a:prstGeom prst="rect">
              <a:avLst/>
            </a:prstGeom>
          </p:spPr>
        </p:pic>
      </p:grpSp>
      <p:sp>
        <p:nvSpPr>
          <p:cNvPr id="37" name="object 37"/>
          <p:cNvSpPr txBox="1"/>
          <p:nvPr/>
        </p:nvSpPr>
        <p:spPr>
          <a:xfrm>
            <a:off x="6398938" y="4237228"/>
            <a:ext cx="867833" cy="427532"/>
          </a:xfrm>
          <a:prstGeom prst="rect">
            <a:avLst/>
          </a:prstGeom>
        </p:spPr>
        <p:txBody>
          <a:bodyPr vert="horz" wrap="square" lIns="0" tIns="16933" rIns="0" bIns="0" rtlCol="0">
            <a:spAutoFit/>
          </a:bodyPr>
          <a:lstStyle/>
          <a:p>
            <a:pPr marL="16933">
              <a:spcBef>
                <a:spcPts val="133"/>
              </a:spcBef>
            </a:pPr>
            <a:r>
              <a:rPr sz="2667" spc="-267" dirty="0">
                <a:solidFill>
                  <a:srgbClr val="FFFFFF"/>
                </a:solidFill>
                <a:latin typeface="Arial MT"/>
                <a:cs typeface="Arial MT"/>
              </a:rPr>
              <a:t>Task</a:t>
            </a:r>
            <a:r>
              <a:rPr sz="2667" spc="-147" dirty="0">
                <a:solidFill>
                  <a:srgbClr val="FFFFFF"/>
                </a:solidFill>
                <a:latin typeface="Arial MT"/>
                <a:cs typeface="Arial MT"/>
              </a:rPr>
              <a:t> </a:t>
            </a:r>
            <a:r>
              <a:rPr sz="2667" spc="-167" dirty="0">
                <a:solidFill>
                  <a:srgbClr val="FFFFFF"/>
                </a:solidFill>
                <a:latin typeface="Arial MT"/>
                <a:cs typeface="Arial MT"/>
              </a:rPr>
              <a:t>2</a:t>
            </a:r>
            <a:endParaRPr sz="2667">
              <a:latin typeface="Arial MT"/>
              <a:cs typeface="Arial MT"/>
            </a:endParaRPr>
          </a:p>
        </p:txBody>
      </p:sp>
      <p:grpSp>
        <p:nvGrpSpPr>
          <p:cNvPr id="38" name="object 38"/>
          <p:cNvGrpSpPr/>
          <p:nvPr/>
        </p:nvGrpSpPr>
        <p:grpSpPr>
          <a:xfrm>
            <a:off x="9111488" y="4143247"/>
            <a:ext cx="1285240" cy="756920"/>
            <a:chOff x="6833616" y="3107435"/>
            <a:chExt cx="963930" cy="567690"/>
          </a:xfrm>
        </p:grpSpPr>
        <p:sp>
          <p:nvSpPr>
            <p:cNvPr id="39" name="object 39"/>
            <p:cNvSpPr/>
            <p:nvPr/>
          </p:nvSpPr>
          <p:spPr>
            <a:xfrm>
              <a:off x="6900672" y="3145535"/>
              <a:ext cx="817244" cy="401320"/>
            </a:xfrm>
            <a:custGeom>
              <a:avLst/>
              <a:gdLst/>
              <a:ahLst/>
              <a:cxnLst/>
              <a:rect l="l" t="t" r="r" b="b"/>
              <a:pathLst>
                <a:path w="817245" h="401320">
                  <a:moveTo>
                    <a:pt x="816864" y="0"/>
                  </a:moveTo>
                  <a:lnTo>
                    <a:pt x="0" y="0"/>
                  </a:lnTo>
                  <a:lnTo>
                    <a:pt x="0" y="400811"/>
                  </a:lnTo>
                  <a:lnTo>
                    <a:pt x="816864" y="400811"/>
                  </a:lnTo>
                  <a:lnTo>
                    <a:pt x="816864" y="0"/>
                  </a:lnTo>
                  <a:close/>
                </a:path>
              </a:pathLst>
            </a:custGeom>
            <a:solidFill>
              <a:srgbClr val="008BBE">
                <a:alpha val="50195"/>
              </a:srgbClr>
            </a:solidFill>
          </p:spPr>
          <p:txBody>
            <a:bodyPr wrap="square" lIns="0" tIns="0" rIns="0" bIns="0" rtlCol="0"/>
            <a:lstStyle/>
            <a:p>
              <a:endParaRPr sz="2400"/>
            </a:p>
          </p:txBody>
        </p:sp>
        <p:pic>
          <p:nvPicPr>
            <p:cNvPr id="40" name="object 40"/>
            <p:cNvPicPr/>
            <p:nvPr/>
          </p:nvPicPr>
          <p:blipFill>
            <a:blip r:embed="rId13" cstate="print"/>
            <a:stretch>
              <a:fillRect/>
            </a:stretch>
          </p:blipFill>
          <p:spPr>
            <a:xfrm>
              <a:off x="6833616" y="3107435"/>
              <a:ext cx="963929" cy="567689"/>
            </a:xfrm>
            <a:prstGeom prst="rect">
              <a:avLst/>
            </a:prstGeom>
          </p:spPr>
        </p:pic>
      </p:grpSp>
      <p:sp>
        <p:nvSpPr>
          <p:cNvPr id="41" name="object 41"/>
          <p:cNvSpPr txBox="1"/>
          <p:nvPr/>
        </p:nvSpPr>
        <p:spPr>
          <a:xfrm>
            <a:off x="9308254" y="4231640"/>
            <a:ext cx="867833" cy="427532"/>
          </a:xfrm>
          <a:prstGeom prst="rect">
            <a:avLst/>
          </a:prstGeom>
        </p:spPr>
        <p:txBody>
          <a:bodyPr vert="horz" wrap="square" lIns="0" tIns="16933" rIns="0" bIns="0" rtlCol="0">
            <a:spAutoFit/>
          </a:bodyPr>
          <a:lstStyle/>
          <a:p>
            <a:pPr marL="16933">
              <a:spcBef>
                <a:spcPts val="133"/>
              </a:spcBef>
            </a:pPr>
            <a:r>
              <a:rPr sz="2667" spc="-267" dirty="0">
                <a:solidFill>
                  <a:srgbClr val="FFFFFF"/>
                </a:solidFill>
                <a:latin typeface="Arial MT"/>
                <a:cs typeface="Arial MT"/>
              </a:rPr>
              <a:t>Task</a:t>
            </a:r>
            <a:r>
              <a:rPr sz="2667" spc="-147" dirty="0">
                <a:solidFill>
                  <a:srgbClr val="FFFFFF"/>
                </a:solidFill>
                <a:latin typeface="Arial MT"/>
                <a:cs typeface="Arial MT"/>
              </a:rPr>
              <a:t> </a:t>
            </a:r>
            <a:r>
              <a:rPr sz="2667" spc="-167" dirty="0">
                <a:solidFill>
                  <a:srgbClr val="FFFFFF"/>
                </a:solidFill>
                <a:latin typeface="Arial MT"/>
                <a:cs typeface="Arial MT"/>
              </a:rPr>
              <a:t>3</a:t>
            </a:r>
            <a:endParaRPr sz="2667">
              <a:latin typeface="Arial MT"/>
              <a:cs typeface="Arial MT"/>
            </a:endParaRPr>
          </a:p>
        </p:txBody>
      </p:sp>
      <p:pic>
        <p:nvPicPr>
          <p:cNvPr id="42" name="object 42"/>
          <p:cNvPicPr/>
          <p:nvPr/>
        </p:nvPicPr>
        <p:blipFill>
          <a:blip r:embed="rId14" cstate="print"/>
          <a:stretch>
            <a:fillRect/>
          </a:stretch>
        </p:blipFill>
        <p:spPr>
          <a:xfrm>
            <a:off x="3816097" y="4728463"/>
            <a:ext cx="905255" cy="535415"/>
          </a:xfrm>
          <a:prstGeom prst="rect">
            <a:avLst/>
          </a:prstGeom>
        </p:spPr>
      </p:pic>
      <p:sp>
        <p:nvSpPr>
          <p:cNvPr id="43" name="object 43"/>
          <p:cNvSpPr txBox="1"/>
          <p:nvPr/>
        </p:nvSpPr>
        <p:spPr>
          <a:xfrm>
            <a:off x="3950715" y="4785869"/>
            <a:ext cx="617220" cy="304421"/>
          </a:xfrm>
          <a:prstGeom prst="rect">
            <a:avLst/>
          </a:prstGeom>
        </p:spPr>
        <p:txBody>
          <a:bodyPr vert="horz" wrap="square" lIns="0" tIns="16933" rIns="0" bIns="0" rtlCol="0">
            <a:spAutoFit/>
          </a:bodyPr>
          <a:lstStyle/>
          <a:p>
            <a:pPr marL="16933">
              <a:spcBef>
                <a:spcPts val="133"/>
              </a:spcBef>
            </a:pPr>
            <a:r>
              <a:rPr sz="1867" spc="-193" dirty="0">
                <a:solidFill>
                  <a:srgbClr val="FFFFFF"/>
                </a:solidFill>
                <a:latin typeface="Arial MT"/>
                <a:cs typeface="Arial MT"/>
              </a:rPr>
              <a:t>500ms</a:t>
            </a:r>
            <a:endParaRPr sz="1867">
              <a:latin typeface="Arial MT"/>
              <a:cs typeface="Arial MT"/>
            </a:endParaRPr>
          </a:p>
        </p:txBody>
      </p:sp>
      <p:pic>
        <p:nvPicPr>
          <p:cNvPr id="44" name="object 44"/>
          <p:cNvPicPr/>
          <p:nvPr/>
        </p:nvPicPr>
        <p:blipFill>
          <a:blip r:embed="rId15" cstate="print"/>
          <a:stretch>
            <a:fillRect/>
          </a:stretch>
        </p:blipFill>
        <p:spPr>
          <a:xfrm>
            <a:off x="6284977" y="4728463"/>
            <a:ext cx="905255" cy="535415"/>
          </a:xfrm>
          <a:prstGeom prst="rect">
            <a:avLst/>
          </a:prstGeom>
        </p:spPr>
      </p:pic>
      <p:sp>
        <p:nvSpPr>
          <p:cNvPr id="45" name="object 45"/>
          <p:cNvSpPr txBox="1"/>
          <p:nvPr/>
        </p:nvSpPr>
        <p:spPr>
          <a:xfrm>
            <a:off x="6420443" y="4785869"/>
            <a:ext cx="617220" cy="304421"/>
          </a:xfrm>
          <a:prstGeom prst="rect">
            <a:avLst/>
          </a:prstGeom>
        </p:spPr>
        <p:txBody>
          <a:bodyPr vert="horz" wrap="square" lIns="0" tIns="16933" rIns="0" bIns="0" rtlCol="0">
            <a:spAutoFit/>
          </a:bodyPr>
          <a:lstStyle/>
          <a:p>
            <a:pPr marL="16933">
              <a:spcBef>
                <a:spcPts val="133"/>
              </a:spcBef>
            </a:pPr>
            <a:r>
              <a:rPr sz="1867" spc="-193" dirty="0">
                <a:solidFill>
                  <a:srgbClr val="FFFFFF"/>
                </a:solidFill>
                <a:latin typeface="Arial MT"/>
                <a:cs typeface="Arial MT"/>
              </a:rPr>
              <a:t>500ms</a:t>
            </a:r>
            <a:endParaRPr sz="1867">
              <a:latin typeface="Arial MT"/>
              <a:cs typeface="Arial MT"/>
            </a:endParaRPr>
          </a:p>
        </p:txBody>
      </p:sp>
      <p:pic>
        <p:nvPicPr>
          <p:cNvPr id="46" name="object 46"/>
          <p:cNvPicPr/>
          <p:nvPr/>
        </p:nvPicPr>
        <p:blipFill>
          <a:blip r:embed="rId16" cstate="print"/>
          <a:stretch>
            <a:fillRect/>
          </a:stretch>
        </p:blipFill>
        <p:spPr>
          <a:xfrm>
            <a:off x="9298431" y="4728463"/>
            <a:ext cx="905256" cy="535415"/>
          </a:xfrm>
          <a:prstGeom prst="rect">
            <a:avLst/>
          </a:prstGeom>
        </p:spPr>
      </p:pic>
      <p:sp>
        <p:nvSpPr>
          <p:cNvPr id="47" name="object 47"/>
          <p:cNvSpPr txBox="1"/>
          <p:nvPr/>
        </p:nvSpPr>
        <p:spPr>
          <a:xfrm>
            <a:off x="9434238" y="4785869"/>
            <a:ext cx="617220" cy="304421"/>
          </a:xfrm>
          <a:prstGeom prst="rect">
            <a:avLst/>
          </a:prstGeom>
        </p:spPr>
        <p:txBody>
          <a:bodyPr vert="horz" wrap="square" lIns="0" tIns="16933" rIns="0" bIns="0" rtlCol="0">
            <a:spAutoFit/>
          </a:bodyPr>
          <a:lstStyle/>
          <a:p>
            <a:pPr marL="16933">
              <a:spcBef>
                <a:spcPts val="133"/>
              </a:spcBef>
            </a:pPr>
            <a:r>
              <a:rPr sz="1867" spc="-193" dirty="0">
                <a:solidFill>
                  <a:srgbClr val="FFFFFF"/>
                </a:solidFill>
                <a:latin typeface="Arial MT"/>
                <a:cs typeface="Arial MT"/>
              </a:rPr>
              <a:t>500ms</a:t>
            </a:r>
            <a:endParaRPr sz="1867">
              <a:latin typeface="Arial MT"/>
              <a:cs typeface="Arial MT"/>
            </a:endParaRPr>
          </a:p>
        </p:txBody>
      </p:sp>
    </p:spTree>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95768" y="446671"/>
            <a:ext cx="6583680" cy="590697"/>
          </a:xfrm>
          <a:prstGeom prst="rect">
            <a:avLst/>
          </a:prstGeom>
        </p:spPr>
        <p:txBody>
          <a:bodyPr vert="horz" wrap="square" lIns="0" tIns="16087" rIns="0" bIns="0" rtlCol="0" anchor="ctr">
            <a:spAutoFit/>
          </a:bodyPr>
          <a:lstStyle/>
          <a:p>
            <a:pPr marL="16933">
              <a:lnSpc>
                <a:spcPct val="100000"/>
              </a:lnSpc>
              <a:spcBef>
                <a:spcPts val="127"/>
              </a:spcBef>
            </a:pPr>
            <a:r>
              <a:rPr sz="3733" dirty="0">
                <a:solidFill>
                  <a:schemeClr val="bg1"/>
                </a:solidFill>
                <a:latin typeface="+mn-lt"/>
              </a:rPr>
              <a:t>Massive</a:t>
            </a:r>
            <a:r>
              <a:rPr sz="3733" spc="-80" dirty="0">
                <a:solidFill>
                  <a:schemeClr val="bg1"/>
                </a:solidFill>
                <a:latin typeface="+mn-lt"/>
              </a:rPr>
              <a:t> </a:t>
            </a:r>
            <a:r>
              <a:rPr sz="3733" dirty="0">
                <a:solidFill>
                  <a:schemeClr val="bg1"/>
                </a:solidFill>
                <a:latin typeface="+mn-lt"/>
              </a:rPr>
              <a:t>parallel</a:t>
            </a:r>
            <a:r>
              <a:rPr sz="3733" spc="-100" dirty="0">
                <a:solidFill>
                  <a:schemeClr val="bg1"/>
                </a:solidFill>
                <a:latin typeface="+mn-lt"/>
              </a:rPr>
              <a:t> </a:t>
            </a:r>
            <a:r>
              <a:rPr sz="3733" dirty="0">
                <a:solidFill>
                  <a:schemeClr val="bg1"/>
                </a:solidFill>
                <a:latin typeface="+mn-lt"/>
              </a:rPr>
              <a:t>processing</a:t>
            </a:r>
            <a:r>
              <a:rPr sz="3733" spc="-67" dirty="0">
                <a:solidFill>
                  <a:schemeClr val="bg1"/>
                </a:solidFill>
                <a:latin typeface="+mn-lt"/>
              </a:rPr>
              <a:t> </a:t>
            </a:r>
            <a:r>
              <a:rPr sz="3733" spc="-13" dirty="0">
                <a:solidFill>
                  <a:schemeClr val="bg1"/>
                </a:solidFill>
                <a:latin typeface="+mn-lt"/>
              </a:rPr>
              <a:t>(MPP)</a:t>
            </a:r>
            <a:endParaRPr sz="3733" dirty="0">
              <a:solidFill>
                <a:schemeClr val="bg1"/>
              </a:solidFill>
              <a:latin typeface="+mn-lt"/>
            </a:endParaRPr>
          </a:p>
        </p:txBody>
      </p:sp>
      <p:sp>
        <p:nvSpPr>
          <p:cNvPr id="3" name="object 3"/>
          <p:cNvSpPr/>
          <p:nvPr/>
        </p:nvSpPr>
        <p:spPr>
          <a:xfrm>
            <a:off x="6755468" y="2090434"/>
            <a:ext cx="326813" cy="326813"/>
          </a:xfrm>
          <a:custGeom>
            <a:avLst/>
            <a:gdLst/>
            <a:ahLst/>
            <a:cxnLst/>
            <a:rect l="l" t="t" r="r" b="b"/>
            <a:pathLst>
              <a:path w="245110" h="245110">
                <a:moveTo>
                  <a:pt x="244737" y="0"/>
                </a:moveTo>
                <a:lnTo>
                  <a:pt x="0" y="0"/>
                </a:lnTo>
                <a:lnTo>
                  <a:pt x="0" y="244947"/>
                </a:lnTo>
                <a:lnTo>
                  <a:pt x="244737" y="244947"/>
                </a:lnTo>
                <a:lnTo>
                  <a:pt x="244737" y="0"/>
                </a:lnTo>
                <a:close/>
              </a:path>
            </a:pathLst>
          </a:custGeom>
          <a:solidFill>
            <a:srgbClr val="66BEFF"/>
          </a:solidFill>
        </p:spPr>
        <p:txBody>
          <a:bodyPr wrap="square" lIns="0" tIns="0" rIns="0" bIns="0" rtlCol="0"/>
          <a:lstStyle/>
          <a:p>
            <a:endParaRPr sz="2400"/>
          </a:p>
        </p:txBody>
      </p:sp>
      <p:grpSp>
        <p:nvGrpSpPr>
          <p:cNvPr id="4" name="object 4"/>
          <p:cNvGrpSpPr/>
          <p:nvPr/>
        </p:nvGrpSpPr>
        <p:grpSpPr>
          <a:xfrm>
            <a:off x="3641343" y="1483359"/>
            <a:ext cx="4284133" cy="1473200"/>
            <a:chOff x="2731007" y="1112519"/>
            <a:chExt cx="3213100" cy="1104900"/>
          </a:xfrm>
        </p:grpSpPr>
        <p:sp>
          <p:nvSpPr>
            <p:cNvPr id="5" name="object 5"/>
            <p:cNvSpPr/>
            <p:nvPr/>
          </p:nvSpPr>
          <p:spPr>
            <a:xfrm>
              <a:off x="2743961" y="1125473"/>
              <a:ext cx="3187065" cy="1079500"/>
            </a:xfrm>
            <a:custGeom>
              <a:avLst/>
              <a:gdLst/>
              <a:ahLst/>
              <a:cxnLst/>
              <a:rect l="l" t="t" r="r" b="b"/>
              <a:pathLst>
                <a:path w="3187065" h="1079500">
                  <a:moveTo>
                    <a:pt x="3006852" y="0"/>
                  </a:moveTo>
                  <a:lnTo>
                    <a:pt x="179831" y="0"/>
                  </a:lnTo>
                  <a:lnTo>
                    <a:pt x="132027" y="6424"/>
                  </a:lnTo>
                  <a:lnTo>
                    <a:pt x="89069" y="24553"/>
                  </a:lnTo>
                  <a:lnTo>
                    <a:pt x="52673" y="52673"/>
                  </a:lnTo>
                  <a:lnTo>
                    <a:pt x="24553" y="89069"/>
                  </a:lnTo>
                  <a:lnTo>
                    <a:pt x="6424" y="132027"/>
                  </a:lnTo>
                  <a:lnTo>
                    <a:pt x="0" y="179831"/>
                  </a:lnTo>
                  <a:lnTo>
                    <a:pt x="0" y="899159"/>
                  </a:lnTo>
                  <a:lnTo>
                    <a:pt x="6424" y="946964"/>
                  </a:lnTo>
                  <a:lnTo>
                    <a:pt x="24553" y="989922"/>
                  </a:lnTo>
                  <a:lnTo>
                    <a:pt x="52673" y="1026318"/>
                  </a:lnTo>
                  <a:lnTo>
                    <a:pt x="89069" y="1054438"/>
                  </a:lnTo>
                  <a:lnTo>
                    <a:pt x="132027" y="1072567"/>
                  </a:lnTo>
                  <a:lnTo>
                    <a:pt x="179831" y="1078992"/>
                  </a:lnTo>
                  <a:lnTo>
                    <a:pt x="3006852" y="1078992"/>
                  </a:lnTo>
                  <a:lnTo>
                    <a:pt x="3054656" y="1072567"/>
                  </a:lnTo>
                  <a:lnTo>
                    <a:pt x="3097614" y="1054438"/>
                  </a:lnTo>
                  <a:lnTo>
                    <a:pt x="3134010" y="1026318"/>
                  </a:lnTo>
                  <a:lnTo>
                    <a:pt x="3162130" y="989922"/>
                  </a:lnTo>
                  <a:lnTo>
                    <a:pt x="3180259" y="946964"/>
                  </a:lnTo>
                  <a:lnTo>
                    <a:pt x="3186684" y="899159"/>
                  </a:lnTo>
                  <a:lnTo>
                    <a:pt x="3186684" y="179831"/>
                  </a:lnTo>
                  <a:lnTo>
                    <a:pt x="3180259" y="132027"/>
                  </a:lnTo>
                  <a:lnTo>
                    <a:pt x="3162130" y="89069"/>
                  </a:lnTo>
                  <a:lnTo>
                    <a:pt x="3134010" y="52673"/>
                  </a:lnTo>
                  <a:lnTo>
                    <a:pt x="3097614" y="24553"/>
                  </a:lnTo>
                  <a:lnTo>
                    <a:pt x="3054656" y="6424"/>
                  </a:lnTo>
                  <a:lnTo>
                    <a:pt x="3006852" y="0"/>
                  </a:lnTo>
                  <a:close/>
                </a:path>
              </a:pathLst>
            </a:custGeom>
            <a:solidFill>
              <a:srgbClr val="434343"/>
            </a:solidFill>
          </p:spPr>
          <p:txBody>
            <a:bodyPr wrap="square" lIns="0" tIns="0" rIns="0" bIns="0" rtlCol="0"/>
            <a:lstStyle/>
            <a:p>
              <a:endParaRPr sz="2400"/>
            </a:p>
          </p:txBody>
        </p:sp>
        <p:sp>
          <p:nvSpPr>
            <p:cNvPr id="6" name="object 6"/>
            <p:cNvSpPr/>
            <p:nvPr/>
          </p:nvSpPr>
          <p:spPr>
            <a:xfrm>
              <a:off x="2743961" y="1125473"/>
              <a:ext cx="3187065" cy="1079500"/>
            </a:xfrm>
            <a:custGeom>
              <a:avLst/>
              <a:gdLst/>
              <a:ahLst/>
              <a:cxnLst/>
              <a:rect l="l" t="t" r="r" b="b"/>
              <a:pathLst>
                <a:path w="3187065" h="1079500">
                  <a:moveTo>
                    <a:pt x="0" y="179831"/>
                  </a:moveTo>
                  <a:lnTo>
                    <a:pt x="6424" y="132027"/>
                  </a:lnTo>
                  <a:lnTo>
                    <a:pt x="24553" y="89069"/>
                  </a:lnTo>
                  <a:lnTo>
                    <a:pt x="52673" y="52673"/>
                  </a:lnTo>
                  <a:lnTo>
                    <a:pt x="89069" y="24553"/>
                  </a:lnTo>
                  <a:lnTo>
                    <a:pt x="132027" y="6424"/>
                  </a:lnTo>
                  <a:lnTo>
                    <a:pt x="179831" y="0"/>
                  </a:lnTo>
                  <a:lnTo>
                    <a:pt x="3006852" y="0"/>
                  </a:lnTo>
                  <a:lnTo>
                    <a:pt x="3054656" y="6424"/>
                  </a:lnTo>
                  <a:lnTo>
                    <a:pt x="3097614" y="24553"/>
                  </a:lnTo>
                  <a:lnTo>
                    <a:pt x="3134010" y="52673"/>
                  </a:lnTo>
                  <a:lnTo>
                    <a:pt x="3162130" y="89069"/>
                  </a:lnTo>
                  <a:lnTo>
                    <a:pt x="3180259" y="132027"/>
                  </a:lnTo>
                  <a:lnTo>
                    <a:pt x="3186684" y="179831"/>
                  </a:lnTo>
                  <a:lnTo>
                    <a:pt x="3186684" y="899159"/>
                  </a:lnTo>
                  <a:lnTo>
                    <a:pt x="3180259" y="946964"/>
                  </a:lnTo>
                  <a:lnTo>
                    <a:pt x="3162130" y="989922"/>
                  </a:lnTo>
                  <a:lnTo>
                    <a:pt x="3134010" y="1026318"/>
                  </a:lnTo>
                  <a:lnTo>
                    <a:pt x="3097614" y="1054438"/>
                  </a:lnTo>
                  <a:lnTo>
                    <a:pt x="3054656" y="1072567"/>
                  </a:lnTo>
                  <a:lnTo>
                    <a:pt x="3006852" y="1078992"/>
                  </a:lnTo>
                  <a:lnTo>
                    <a:pt x="179831" y="1078992"/>
                  </a:lnTo>
                  <a:lnTo>
                    <a:pt x="132027" y="1072567"/>
                  </a:lnTo>
                  <a:lnTo>
                    <a:pt x="89069" y="1054438"/>
                  </a:lnTo>
                  <a:lnTo>
                    <a:pt x="52673" y="1026318"/>
                  </a:lnTo>
                  <a:lnTo>
                    <a:pt x="24553" y="989922"/>
                  </a:lnTo>
                  <a:lnTo>
                    <a:pt x="6424" y="946964"/>
                  </a:lnTo>
                  <a:lnTo>
                    <a:pt x="0" y="899159"/>
                  </a:lnTo>
                  <a:lnTo>
                    <a:pt x="0" y="179831"/>
                  </a:lnTo>
                  <a:close/>
                </a:path>
              </a:pathLst>
            </a:custGeom>
            <a:ln w="25908">
              <a:solidFill>
                <a:srgbClr val="3B3B3B"/>
              </a:solidFill>
            </a:ln>
          </p:spPr>
          <p:txBody>
            <a:bodyPr wrap="square" lIns="0" tIns="0" rIns="0" bIns="0" rtlCol="0"/>
            <a:lstStyle/>
            <a:p>
              <a:endParaRPr sz="2400"/>
            </a:p>
          </p:txBody>
        </p:sp>
        <p:sp>
          <p:nvSpPr>
            <p:cNvPr id="7" name="object 7"/>
            <p:cNvSpPr/>
            <p:nvPr/>
          </p:nvSpPr>
          <p:spPr>
            <a:xfrm>
              <a:off x="3851020" y="1575307"/>
              <a:ext cx="880744" cy="228600"/>
            </a:xfrm>
            <a:custGeom>
              <a:avLst/>
              <a:gdLst/>
              <a:ahLst/>
              <a:cxnLst/>
              <a:rect l="l" t="t" r="r" b="b"/>
              <a:pathLst>
                <a:path w="880745" h="228600">
                  <a:moveTo>
                    <a:pt x="805104" y="75945"/>
                  </a:moveTo>
                  <a:lnTo>
                    <a:pt x="689990" y="75945"/>
                  </a:lnTo>
                  <a:lnTo>
                    <a:pt x="690371" y="152145"/>
                  </a:lnTo>
                  <a:lnTo>
                    <a:pt x="652186" y="152314"/>
                  </a:lnTo>
                  <a:lnTo>
                    <a:pt x="652526" y="228600"/>
                  </a:lnTo>
                  <a:lnTo>
                    <a:pt x="880617" y="113283"/>
                  </a:lnTo>
                  <a:lnTo>
                    <a:pt x="805104" y="75945"/>
                  </a:lnTo>
                  <a:close/>
                </a:path>
                <a:path w="880745" h="228600">
                  <a:moveTo>
                    <a:pt x="651848" y="76114"/>
                  </a:moveTo>
                  <a:lnTo>
                    <a:pt x="0" y="78993"/>
                  </a:lnTo>
                  <a:lnTo>
                    <a:pt x="243" y="152145"/>
                  </a:lnTo>
                  <a:lnTo>
                    <a:pt x="253" y="155193"/>
                  </a:lnTo>
                  <a:lnTo>
                    <a:pt x="652186" y="152314"/>
                  </a:lnTo>
                  <a:lnTo>
                    <a:pt x="651861" y="78993"/>
                  </a:lnTo>
                  <a:lnTo>
                    <a:pt x="651848" y="76114"/>
                  </a:lnTo>
                  <a:close/>
                </a:path>
                <a:path w="880745" h="228600">
                  <a:moveTo>
                    <a:pt x="689990" y="75945"/>
                  </a:moveTo>
                  <a:lnTo>
                    <a:pt x="651848" y="76114"/>
                  </a:lnTo>
                  <a:lnTo>
                    <a:pt x="652186" y="152145"/>
                  </a:lnTo>
                  <a:lnTo>
                    <a:pt x="652186" y="152314"/>
                  </a:lnTo>
                  <a:lnTo>
                    <a:pt x="690371" y="152145"/>
                  </a:lnTo>
                  <a:lnTo>
                    <a:pt x="690006" y="78993"/>
                  </a:lnTo>
                  <a:lnTo>
                    <a:pt x="689990" y="75945"/>
                  </a:lnTo>
                  <a:close/>
                </a:path>
                <a:path w="880745" h="228600">
                  <a:moveTo>
                    <a:pt x="651509" y="0"/>
                  </a:moveTo>
                  <a:lnTo>
                    <a:pt x="651847" y="75945"/>
                  </a:lnTo>
                  <a:lnTo>
                    <a:pt x="651848" y="76114"/>
                  </a:lnTo>
                  <a:lnTo>
                    <a:pt x="805104" y="75945"/>
                  </a:lnTo>
                  <a:lnTo>
                    <a:pt x="651509" y="0"/>
                  </a:lnTo>
                  <a:close/>
                </a:path>
              </a:pathLst>
            </a:custGeom>
            <a:solidFill>
              <a:srgbClr val="00C2FF"/>
            </a:solidFill>
          </p:spPr>
          <p:txBody>
            <a:bodyPr wrap="square" lIns="0" tIns="0" rIns="0" bIns="0" rtlCol="0"/>
            <a:lstStyle/>
            <a:p>
              <a:endParaRPr sz="2400"/>
            </a:p>
          </p:txBody>
        </p:sp>
        <p:sp>
          <p:nvSpPr>
            <p:cNvPr id="8" name="object 8"/>
            <p:cNvSpPr/>
            <p:nvPr/>
          </p:nvSpPr>
          <p:spPr>
            <a:xfrm>
              <a:off x="3018701" y="1332306"/>
              <a:ext cx="2528570" cy="716280"/>
            </a:xfrm>
            <a:custGeom>
              <a:avLst/>
              <a:gdLst/>
              <a:ahLst/>
              <a:cxnLst/>
              <a:rect l="l" t="t" r="r" b="b"/>
              <a:pathLst>
                <a:path w="2528570" h="716280">
                  <a:moveTo>
                    <a:pt x="282384" y="304520"/>
                  </a:moveTo>
                  <a:lnTo>
                    <a:pt x="244729" y="304520"/>
                  </a:lnTo>
                  <a:lnTo>
                    <a:pt x="244729" y="417576"/>
                  </a:lnTo>
                  <a:lnTo>
                    <a:pt x="282384" y="417576"/>
                  </a:lnTo>
                  <a:lnTo>
                    <a:pt x="282384" y="304520"/>
                  </a:lnTo>
                  <a:close/>
                </a:path>
                <a:path w="2528570" h="716280">
                  <a:moveTo>
                    <a:pt x="508292" y="304520"/>
                  </a:moveTo>
                  <a:lnTo>
                    <a:pt x="470649" y="304520"/>
                  </a:lnTo>
                  <a:lnTo>
                    <a:pt x="470649" y="417576"/>
                  </a:lnTo>
                  <a:lnTo>
                    <a:pt x="508292" y="417576"/>
                  </a:lnTo>
                  <a:lnTo>
                    <a:pt x="508292" y="304520"/>
                  </a:lnTo>
                  <a:close/>
                </a:path>
                <a:path w="2528570" h="716280">
                  <a:moveTo>
                    <a:pt x="753046" y="304520"/>
                  </a:moveTo>
                  <a:lnTo>
                    <a:pt x="696556" y="304520"/>
                  </a:lnTo>
                  <a:lnTo>
                    <a:pt x="696556" y="417576"/>
                  </a:lnTo>
                  <a:lnTo>
                    <a:pt x="753046" y="417576"/>
                  </a:lnTo>
                  <a:lnTo>
                    <a:pt x="753046" y="304520"/>
                  </a:lnTo>
                  <a:close/>
                </a:path>
                <a:path w="2528570" h="716280">
                  <a:moveTo>
                    <a:pt x="753046" y="97409"/>
                  </a:moveTo>
                  <a:lnTo>
                    <a:pt x="0" y="97409"/>
                  </a:lnTo>
                  <a:lnTo>
                    <a:pt x="0" y="153314"/>
                  </a:lnTo>
                  <a:lnTo>
                    <a:pt x="0" y="266395"/>
                  </a:lnTo>
                  <a:lnTo>
                    <a:pt x="0" y="624687"/>
                  </a:lnTo>
                  <a:lnTo>
                    <a:pt x="753046" y="624687"/>
                  </a:lnTo>
                  <a:lnTo>
                    <a:pt x="753046" y="568782"/>
                  </a:lnTo>
                  <a:lnTo>
                    <a:pt x="56476" y="568782"/>
                  </a:lnTo>
                  <a:lnTo>
                    <a:pt x="56476" y="455701"/>
                  </a:lnTo>
                  <a:lnTo>
                    <a:pt x="244729" y="455701"/>
                  </a:lnTo>
                  <a:lnTo>
                    <a:pt x="244729" y="568312"/>
                  </a:lnTo>
                  <a:lnTo>
                    <a:pt x="282384" y="568312"/>
                  </a:lnTo>
                  <a:lnTo>
                    <a:pt x="282384" y="455701"/>
                  </a:lnTo>
                  <a:lnTo>
                    <a:pt x="470649" y="455701"/>
                  </a:lnTo>
                  <a:lnTo>
                    <a:pt x="470649" y="568312"/>
                  </a:lnTo>
                  <a:lnTo>
                    <a:pt x="508292" y="568312"/>
                  </a:lnTo>
                  <a:lnTo>
                    <a:pt x="508292" y="455701"/>
                  </a:lnTo>
                  <a:lnTo>
                    <a:pt x="696556" y="455701"/>
                  </a:lnTo>
                  <a:lnTo>
                    <a:pt x="696556" y="568312"/>
                  </a:lnTo>
                  <a:lnTo>
                    <a:pt x="753046" y="568312"/>
                  </a:lnTo>
                  <a:lnTo>
                    <a:pt x="753046" y="455701"/>
                  </a:lnTo>
                  <a:lnTo>
                    <a:pt x="753046" y="455256"/>
                  </a:lnTo>
                  <a:lnTo>
                    <a:pt x="753046" y="417588"/>
                  </a:lnTo>
                  <a:lnTo>
                    <a:pt x="56476" y="417588"/>
                  </a:lnTo>
                  <a:lnTo>
                    <a:pt x="56476" y="304507"/>
                  </a:lnTo>
                  <a:lnTo>
                    <a:pt x="753046" y="304507"/>
                  </a:lnTo>
                  <a:lnTo>
                    <a:pt x="753046" y="266839"/>
                  </a:lnTo>
                  <a:lnTo>
                    <a:pt x="753046" y="266395"/>
                  </a:lnTo>
                  <a:lnTo>
                    <a:pt x="753046" y="153784"/>
                  </a:lnTo>
                  <a:lnTo>
                    <a:pt x="696556" y="153784"/>
                  </a:lnTo>
                  <a:lnTo>
                    <a:pt x="696556" y="266395"/>
                  </a:lnTo>
                  <a:lnTo>
                    <a:pt x="508292" y="266395"/>
                  </a:lnTo>
                  <a:lnTo>
                    <a:pt x="508292" y="153784"/>
                  </a:lnTo>
                  <a:lnTo>
                    <a:pt x="470649" y="153784"/>
                  </a:lnTo>
                  <a:lnTo>
                    <a:pt x="470649" y="266395"/>
                  </a:lnTo>
                  <a:lnTo>
                    <a:pt x="282384" y="266395"/>
                  </a:lnTo>
                  <a:lnTo>
                    <a:pt x="282384" y="153784"/>
                  </a:lnTo>
                  <a:lnTo>
                    <a:pt x="244729" y="153784"/>
                  </a:lnTo>
                  <a:lnTo>
                    <a:pt x="244729" y="266395"/>
                  </a:lnTo>
                  <a:lnTo>
                    <a:pt x="56476" y="266395"/>
                  </a:lnTo>
                  <a:lnTo>
                    <a:pt x="56476" y="153314"/>
                  </a:lnTo>
                  <a:lnTo>
                    <a:pt x="753046" y="153314"/>
                  </a:lnTo>
                  <a:lnTo>
                    <a:pt x="753046" y="97409"/>
                  </a:lnTo>
                  <a:close/>
                </a:path>
                <a:path w="2528570" h="716280">
                  <a:moveTo>
                    <a:pt x="1878457" y="527583"/>
                  </a:moveTo>
                  <a:lnTo>
                    <a:pt x="1812569" y="527583"/>
                  </a:lnTo>
                  <a:lnTo>
                    <a:pt x="1812569" y="565264"/>
                  </a:lnTo>
                  <a:lnTo>
                    <a:pt x="1878457" y="565264"/>
                  </a:lnTo>
                  <a:lnTo>
                    <a:pt x="1878457" y="527583"/>
                  </a:lnTo>
                  <a:close/>
                </a:path>
                <a:path w="2528570" h="716280">
                  <a:moveTo>
                    <a:pt x="1878457" y="452208"/>
                  </a:moveTo>
                  <a:lnTo>
                    <a:pt x="1812569" y="452208"/>
                  </a:lnTo>
                  <a:lnTo>
                    <a:pt x="1812569" y="489889"/>
                  </a:lnTo>
                  <a:lnTo>
                    <a:pt x="1878457" y="489889"/>
                  </a:lnTo>
                  <a:lnTo>
                    <a:pt x="1878457" y="452208"/>
                  </a:lnTo>
                  <a:close/>
                </a:path>
                <a:path w="2528570" h="716280">
                  <a:moveTo>
                    <a:pt x="1878457" y="376847"/>
                  </a:moveTo>
                  <a:lnTo>
                    <a:pt x="1812569" y="376847"/>
                  </a:lnTo>
                  <a:lnTo>
                    <a:pt x="1812569" y="414528"/>
                  </a:lnTo>
                  <a:lnTo>
                    <a:pt x="1878457" y="414528"/>
                  </a:lnTo>
                  <a:lnTo>
                    <a:pt x="1878457" y="376847"/>
                  </a:lnTo>
                  <a:close/>
                </a:path>
                <a:path w="2528570" h="716280">
                  <a:moveTo>
                    <a:pt x="1878457" y="301472"/>
                  </a:moveTo>
                  <a:lnTo>
                    <a:pt x="1812569" y="301472"/>
                  </a:lnTo>
                  <a:lnTo>
                    <a:pt x="1812569" y="339153"/>
                  </a:lnTo>
                  <a:lnTo>
                    <a:pt x="1878457" y="339153"/>
                  </a:lnTo>
                  <a:lnTo>
                    <a:pt x="1878457" y="301472"/>
                  </a:lnTo>
                  <a:close/>
                </a:path>
                <a:path w="2528570" h="716280">
                  <a:moveTo>
                    <a:pt x="1878457" y="226110"/>
                  </a:moveTo>
                  <a:lnTo>
                    <a:pt x="1812569" y="226110"/>
                  </a:lnTo>
                  <a:lnTo>
                    <a:pt x="1812569" y="263791"/>
                  </a:lnTo>
                  <a:lnTo>
                    <a:pt x="1878457" y="263791"/>
                  </a:lnTo>
                  <a:lnTo>
                    <a:pt x="1878457" y="226110"/>
                  </a:lnTo>
                  <a:close/>
                </a:path>
                <a:path w="2528570" h="716280">
                  <a:moveTo>
                    <a:pt x="1878457" y="150736"/>
                  </a:moveTo>
                  <a:lnTo>
                    <a:pt x="1812569" y="150736"/>
                  </a:lnTo>
                  <a:lnTo>
                    <a:pt x="1812569" y="188417"/>
                  </a:lnTo>
                  <a:lnTo>
                    <a:pt x="1878457" y="188417"/>
                  </a:lnTo>
                  <a:lnTo>
                    <a:pt x="1878457" y="150736"/>
                  </a:lnTo>
                  <a:close/>
                </a:path>
                <a:path w="2528570" h="716280">
                  <a:moveTo>
                    <a:pt x="2000834" y="650049"/>
                  </a:moveTo>
                  <a:lnTo>
                    <a:pt x="1963178" y="650049"/>
                  </a:lnTo>
                  <a:lnTo>
                    <a:pt x="1963178" y="716000"/>
                  </a:lnTo>
                  <a:lnTo>
                    <a:pt x="2000834" y="716000"/>
                  </a:lnTo>
                  <a:lnTo>
                    <a:pt x="2000834" y="650049"/>
                  </a:lnTo>
                  <a:close/>
                </a:path>
                <a:path w="2528570" h="716280">
                  <a:moveTo>
                    <a:pt x="2000834" y="0"/>
                  </a:moveTo>
                  <a:lnTo>
                    <a:pt x="1963178" y="0"/>
                  </a:lnTo>
                  <a:lnTo>
                    <a:pt x="1963178" y="65951"/>
                  </a:lnTo>
                  <a:lnTo>
                    <a:pt x="2000834" y="65951"/>
                  </a:lnTo>
                  <a:lnTo>
                    <a:pt x="2000834" y="0"/>
                  </a:lnTo>
                  <a:close/>
                </a:path>
                <a:path w="2528570" h="716280">
                  <a:moveTo>
                    <a:pt x="2076132" y="650049"/>
                  </a:moveTo>
                  <a:lnTo>
                    <a:pt x="2038477" y="650049"/>
                  </a:lnTo>
                  <a:lnTo>
                    <a:pt x="2038477" y="716000"/>
                  </a:lnTo>
                  <a:lnTo>
                    <a:pt x="2076132" y="716000"/>
                  </a:lnTo>
                  <a:lnTo>
                    <a:pt x="2076132" y="650049"/>
                  </a:lnTo>
                  <a:close/>
                </a:path>
                <a:path w="2528570" h="716280">
                  <a:moveTo>
                    <a:pt x="2076132" y="0"/>
                  </a:moveTo>
                  <a:lnTo>
                    <a:pt x="2038477" y="0"/>
                  </a:lnTo>
                  <a:lnTo>
                    <a:pt x="2038477" y="65951"/>
                  </a:lnTo>
                  <a:lnTo>
                    <a:pt x="2076132" y="65951"/>
                  </a:lnTo>
                  <a:lnTo>
                    <a:pt x="2076132" y="0"/>
                  </a:lnTo>
                  <a:close/>
                </a:path>
                <a:path w="2528570" h="716280">
                  <a:moveTo>
                    <a:pt x="2151443" y="650049"/>
                  </a:moveTo>
                  <a:lnTo>
                    <a:pt x="2113788" y="650049"/>
                  </a:lnTo>
                  <a:lnTo>
                    <a:pt x="2113788" y="716000"/>
                  </a:lnTo>
                  <a:lnTo>
                    <a:pt x="2151443" y="716000"/>
                  </a:lnTo>
                  <a:lnTo>
                    <a:pt x="2151443" y="650049"/>
                  </a:lnTo>
                  <a:close/>
                </a:path>
                <a:path w="2528570" h="716280">
                  <a:moveTo>
                    <a:pt x="2151443" y="0"/>
                  </a:moveTo>
                  <a:lnTo>
                    <a:pt x="2113788" y="0"/>
                  </a:lnTo>
                  <a:lnTo>
                    <a:pt x="2113788" y="65951"/>
                  </a:lnTo>
                  <a:lnTo>
                    <a:pt x="2151443" y="65951"/>
                  </a:lnTo>
                  <a:lnTo>
                    <a:pt x="2151443" y="0"/>
                  </a:lnTo>
                  <a:close/>
                </a:path>
                <a:path w="2528570" h="716280">
                  <a:moveTo>
                    <a:pt x="2226741" y="650049"/>
                  </a:moveTo>
                  <a:lnTo>
                    <a:pt x="2189086" y="650049"/>
                  </a:lnTo>
                  <a:lnTo>
                    <a:pt x="2189086" y="716000"/>
                  </a:lnTo>
                  <a:lnTo>
                    <a:pt x="2226741" y="716000"/>
                  </a:lnTo>
                  <a:lnTo>
                    <a:pt x="2226741" y="650049"/>
                  </a:lnTo>
                  <a:close/>
                </a:path>
                <a:path w="2528570" h="716280">
                  <a:moveTo>
                    <a:pt x="2226741" y="0"/>
                  </a:moveTo>
                  <a:lnTo>
                    <a:pt x="2189086" y="0"/>
                  </a:lnTo>
                  <a:lnTo>
                    <a:pt x="2189086" y="65951"/>
                  </a:lnTo>
                  <a:lnTo>
                    <a:pt x="2226741" y="65951"/>
                  </a:lnTo>
                  <a:lnTo>
                    <a:pt x="2226741" y="0"/>
                  </a:lnTo>
                  <a:close/>
                </a:path>
                <a:path w="2528570" h="716280">
                  <a:moveTo>
                    <a:pt x="2302040" y="650049"/>
                  </a:moveTo>
                  <a:lnTo>
                    <a:pt x="2264397" y="650049"/>
                  </a:lnTo>
                  <a:lnTo>
                    <a:pt x="2264397" y="716000"/>
                  </a:lnTo>
                  <a:lnTo>
                    <a:pt x="2302040" y="716000"/>
                  </a:lnTo>
                  <a:lnTo>
                    <a:pt x="2302040" y="650049"/>
                  </a:lnTo>
                  <a:close/>
                </a:path>
                <a:path w="2528570" h="716280">
                  <a:moveTo>
                    <a:pt x="2302040" y="0"/>
                  </a:moveTo>
                  <a:lnTo>
                    <a:pt x="2264397" y="0"/>
                  </a:lnTo>
                  <a:lnTo>
                    <a:pt x="2264397" y="65951"/>
                  </a:lnTo>
                  <a:lnTo>
                    <a:pt x="2302040" y="65951"/>
                  </a:lnTo>
                  <a:lnTo>
                    <a:pt x="2302040" y="0"/>
                  </a:lnTo>
                  <a:close/>
                </a:path>
                <a:path w="2528570" h="716280">
                  <a:moveTo>
                    <a:pt x="2377351" y="650049"/>
                  </a:moveTo>
                  <a:lnTo>
                    <a:pt x="2339695" y="650049"/>
                  </a:lnTo>
                  <a:lnTo>
                    <a:pt x="2339695" y="716000"/>
                  </a:lnTo>
                  <a:lnTo>
                    <a:pt x="2377351" y="716000"/>
                  </a:lnTo>
                  <a:lnTo>
                    <a:pt x="2377351" y="650049"/>
                  </a:lnTo>
                  <a:close/>
                </a:path>
                <a:path w="2528570" h="716280">
                  <a:moveTo>
                    <a:pt x="2377351" y="0"/>
                  </a:moveTo>
                  <a:lnTo>
                    <a:pt x="2339695" y="0"/>
                  </a:lnTo>
                  <a:lnTo>
                    <a:pt x="2339695" y="65951"/>
                  </a:lnTo>
                  <a:lnTo>
                    <a:pt x="2377351" y="65951"/>
                  </a:lnTo>
                  <a:lnTo>
                    <a:pt x="2377351" y="0"/>
                  </a:lnTo>
                  <a:close/>
                </a:path>
                <a:path w="2528570" h="716280">
                  <a:moveTo>
                    <a:pt x="2424417" y="141312"/>
                  </a:moveTo>
                  <a:lnTo>
                    <a:pt x="2421458" y="126644"/>
                  </a:lnTo>
                  <a:lnTo>
                    <a:pt x="2413381" y="114668"/>
                  </a:lnTo>
                  <a:lnTo>
                    <a:pt x="2401417" y="106591"/>
                  </a:lnTo>
                  <a:lnTo>
                    <a:pt x="2386761" y="103632"/>
                  </a:lnTo>
                  <a:lnTo>
                    <a:pt x="2330285" y="103632"/>
                  </a:lnTo>
                  <a:lnTo>
                    <a:pt x="2330285" y="197840"/>
                  </a:lnTo>
                  <a:lnTo>
                    <a:pt x="2330285" y="518160"/>
                  </a:lnTo>
                  <a:lnTo>
                    <a:pt x="2010244" y="518160"/>
                  </a:lnTo>
                  <a:lnTo>
                    <a:pt x="2010244" y="197840"/>
                  </a:lnTo>
                  <a:lnTo>
                    <a:pt x="2330285" y="197840"/>
                  </a:lnTo>
                  <a:lnTo>
                    <a:pt x="2330285" y="103632"/>
                  </a:lnTo>
                  <a:lnTo>
                    <a:pt x="1953768" y="103632"/>
                  </a:lnTo>
                  <a:lnTo>
                    <a:pt x="1939112" y="106591"/>
                  </a:lnTo>
                  <a:lnTo>
                    <a:pt x="1927136" y="114668"/>
                  </a:lnTo>
                  <a:lnTo>
                    <a:pt x="1919071" y="126644"/>
                  </a:lnTo>
                  <a:lnTo>
                    <a:pt x="1916112" y="141312"/>
                  </a:lnTo>
                  <a:lnTo>
                    <a:pt x="1916112" y="574687"/>
                  </a:lnTo>
                  <a:lnTo>
                    <a:pt x="1919071" y="589356"/>
                  </a:lnTo>
                  <a:lnTo>
                    <a:pt x="1927136" y="601332"/>
                  </a:lnTo>
                  <a:lnTo>
                    <a:pt x="1939112" y="609409"/>
                  </a:lnTo>
                  <a:lnTo>
                    <a:pt x="1953768" y="612368"/>
                  </a:lnTo>
                  <a:lnTo>
                    <a:pt x="2386761" y="612368"/>
                  </a:lnTo>
                  <a:lnTo>
                    <a:pt x="2401417" y="609409"/>
                  </a:lnTo>
                  <a:lnTo>
                    <a:pt x="2413381" y="601332"/>
                  </a:lnTo>
                  <a:lnTo>
                    <a:pt x="2421458" y="589356"/>
                  </a:lnTo>
                  <a:lnTo>
                    <a:pt x="2424417" y="574687"/>
                  </a:lnTo>
                  <a:lnTo>
                    <a:pt x="2424417" y="518160"/>
                  </a:lnTo>
                  <a:lnTo>
                    <a:pt x="2424417" y="197840"/>
                  </a:lnTo>
                  <a:lnTo>
                    <a:pt x="2424417" y="141312"/>
                  </a:lnTo>
                  <a:close/>
                </a:path>
                <a:path w="2528570" h="716280">
                  <a:moveTo>
                    <a:pt x="2527960" y="527583"/>
                  </a:moveTo>
                  <a:lnTo>
                    <a:pt x="2462060" y="527583"/>
                  </a:lnTo>
                  <a:lnTo>
                    <a:pt x="2462060" y="565264"/>
                  </a:lnTo>
                  <a:lnTo>
                    <a:pt x="2527960" y="565264"/>
                  </a:lnTo>
                  <a:lnTo>
                    <a:pt x="2527960" y="527583"/>
                  </a:lnTo>
                  <a:close/>
                </a:path>
                <a:path w="2528570" h="716280">
                  <a:moveTo>
                    <a:pt x="2527960" y="452208"/>
                  </a:moveTo>
                  <a:lnTo>
                    <a:pt x="2462060" y="452208"/>
                  </a:lnTo>
                  <a:lnTo>
                    <a:pt x="2462060" y="489889"/>
                  </a:lnTo>
                  <a:lnTo>
                    <a:pt x="2527960" y="489889"/>
                  </a:lnTo>
                  <a:lnTo>
                    <a:pt x="2527960" y="452208"/>
                  </a:lnTo>
                  <a:close/>
                </a:path>
                <a:path w="2528570" h="716280">
                  <a:moveTo>
                    <a:pt x="2527960" y="376847"/>
                  </a:moveTo>
                  <a:lnTo>
                    <a:pt x="2462060" y="376847"/>
                  </a:lnTo>
                  <a:lnTo>
                    <a:pt x="2462060" y="414528"/>
                  </a:lnTo>
                  <a:lnTo>
                    <a:pt x="2527960" y="414528"/>
                  </a:lnTo>
                  <a:lnTo>
                    <a:pt x="2527960" y="376847"/>
                  </a:lnTo>
                  <a:close/>
                </a:path>
                <a:path w="2528570" h="716280">
                  <a:moveTo>
                    <a:pt x="2527960" y="301472"/>
                  </a:moveTo>
                  <a:lnTo>
                    <a:pt x="2462060" y="301472"/>
                  </a:lnTo>
                  <a:lnTo>
                    <a:pt x="2462060" y="339153"/>
                  </a:lnTo>
                  <a:lnTo>
                    <a:pt x="2527960" y="339153"/>
                  </a:lnTo>
                  <a:lnTo>
                    <a:pt x="2527960" y="301472"/>
                  </a:lnTo>
                  <a:close/>
                </a:path>
                <a:path w="2528570" h="716280">
                  <a:moveTo>
                    <a:pt x="2527960" y="226110"/>
                  </a:moveTo>
                  <a:lnTo>
                    <a:pt x="2462060" y="226110"/>
                  </a:lnTo>
                  <a:lnTo>
                    <a:pt x="2462060" y="263791"/>
                  </a:lnTo>
                  <a:lnTo>
                    <a:pt x="2527960" y="263791"/>
                  </a:lnTo>
                  <a:lnTo>
                    <a:pt x="2527960" y="226110"/>
                  </a:lnTo>
                  <a:close/>
                </a:path>
                <a:path w="2528570" h="716280">
                  <a:moveTo>
                    <a:pt x="2527960" y="150736"/>
                  </a:moveTo>
                  <a:lnTo>
                    <a:pt x="2462060" y="150736"/>
                  </a:lnTo>
                  <a:lnTo>
                    <a:pt x="2462060" y="188417"/>
                  </a:lnTo>
                  <a:lnTo>
                    <a:pt x="2527960" y="188417"/>
                  </a:lnTo>
                  <a:lnTo>
                    <a:pt x="2527960" y="150736"/>
                  </a:lnTo>
                  <a:close/>
                </a:path>
              </a:pathLst>
            </a:custGeom>
            <a:solidFill>
              <a:srgbClr val="66BEFF"/>
            </a:solidFill>
          </p:spPr>
          <p:txBody>
            <a:bodyPr wrap="square" lIns="0" tIns="0" rIns="0" bIns="0" rtlCol="0"/>
            <a:lstStyle/>
            <a:p>
              <a:endParaRPr sz="2400"/>
            </a:p>
          </p:txBody>
        </p:sp>
      </p:grpSp>
      <p:grpSp>
        <p:nvGrpSpPr>
          <p:cNvPr id="9" name="object 9"/>
          <p:cNvGrpSpPr/>
          <p:nvPr/>
        </p:nvGrpSpPr>
        <p:grpSpPr>
          <a:xfrm>
            <a:off x="8046720" y="4177793"/>
            <a:ext cx="1586653" cy="1054100"/>
            <a:chOff x="6035040" y="3133344"/>
            <a:chExt cx="1189990" cy="790575"/>
          </a:xfrm>
        </p:grpSpPr>
        <p:sp>
          <p:nvSpPr>
            <p:cNvPr id="10" name="object 10"/>
            <p:cNvSpPr/>
            <p:nvPr/>
          </p:nvSpPr>
          <p:spPr>
            <a:xfrm>
              <a:off x="6164580" y="3203448"/>
              <a:ext cx="911860" cy="523240"/>
            </a:xfrm>
            <a:custGeom>
              <a:avLst/>
              <a:gdLst/>
              <a:ahLst/>
              <a:cxnLst/>
              <a:rect l="l" t="t" r="r" b="b"/>
              <a:pathLst>
                <a:path w="911859" h="523239">
                  <a:moveTo>
                    <a:pt x="911351" y="0"/>
                  </a:moveTo>
                  <a:lnTo>
                    <a:pt x="0" y="0"/>
                  </a:lnTo>
                  <a:lnTo>
                    <a:pt x="0" y="522731"/>
                  </a:lnTo>
                  <a:lnTo>
                    <a:pt x="911351" y="522731"/>
                  </a:lnTo>
                  <a:lnTo>
                    <a:pt x="911351" y="0"/>
                  </a:lnTo>
                  <a:close/>
                </a:path>
              </a:pathLst>
            </a:custGeom>
            <a:solidFill>
              <a:srgbClr val="99E7FF">
                <a:alpha val="50195"/>
              </a:srgbClr>
            </a:solidFill>
          </p:spPr>
          <p:txBody>
            <a:bodyPr wrap="square" lIns="0" tIns="0" rIns="0" bIns="0" rtlCol="0"/>
            <a:lstStyle/>
            <a:p>
              <a:endParaRPr sz="2400"/>
            </a:p>
          </p:txBody>
        </p:sp>
        <p:pic>
          <p:nvPicPr>
            <p:cNvPr id="11" name="object 11"/>
            <p:cNvPicPr/>
            <p:nvPr/>
          </p:nvPicPr>
          <p:blipFill>
            <a:blip r:embed="rId2" cstate="print"/>
            <a:stretch>
              <a:fillRect/>
            </a:stretch>
          </p:blipFill>
          <p:spPr>
            <a:xfrm>
              <a:off x="6035040" y="3133344"/>
              <a:ext cx="1189482" cy="790194"/>
            </a:xfrm>
            <a:prstGeom prst="rect">
              <a:avLst/>
            </a:prstGeom>
          </p:spPr>
        </p:pic>
      </p:grpSp>
      <p:grpSp>
        <p:nvGrpSpPr>
          <p:cNvPr id="12" name="object 12"/>
          <p:cNvGrpSpPr/>
          <p:nvPr/>
        </p:nvGrpSpPr>
        <p:grpSpPr>
          <a:xfrm>
            <a:off x="3241781" y="3106945"/>
            <a:ext cx="4168140" cy="3111500"/>
            <a:chOff x="2431335" y="2330208"/>
            <a:chExt cx="3126105" cy="2333625"/>
          </a:xfrm>
        </p:grpSpPr>
        <p:sp>
          <p:nvSpPr>
            <p:cNvPr id="13" name="object 13"/>
            <p:cNvSpPr/>
            <p:nvPr/>
          </p:nvSpPr>
          <p:spPr>
            <a:xfrm>
              <a:off x="2431335" y="3316258"/>
              <a:ext cx="682625" cy="481965"/>
            </a:xfrm>
            <a:custGeom>
              <a:avLst/>
              <a:gdLst/>
              <a:ahLst/>
              <a:cxnLst/>
              <a:rect l="l" t="t" r="r" b="b"/>
              <a:pathLst>
                <a:path w="682625" h="481964">
                  <a:moveTo>
                    <a:pt x="682410" y="0"/>
                  </a:moveTo>
                  <a:lnTo>
                    <a:pt x="0" y="0"/>
                  </a:lnTo>
                  <a:lnTo>
                    <a:pt x="0" y="481519"/>
                  </a:lnTo>
                  <a:lnTo>
                    <a:pt x="682410" y="481519"/>
                  </a:lnTo>
                  <a:lnTo>
                    <a:pt x="682410" y="477295"/>
                  </a:lnTo>
                  <a:lnTo>
                    <a:pt x="8433" y="477295"/>
                  </a:lnTo>
                  <a:lnTo>
                    <a:pt x="4214" y="473064"/>
                  </a:lnTo>
                  <a:lnTo>
                    <a:pt x="8433" y="473064"/>
                  </a:lnTo>
                  <a:lnTo>
                    <a:pt x="8433" y="8454"/>
                  </a:lnTo>
                  <a:lnTo>
                    <a:pt x="4214" y="8454"/>
                  </a:lnTo>
                  <a:lnTo>
                    <a:pt x="8433" y="4230"/>
                  </a:lnTo>
                  <a:lnTo>
                    <a:pt x="682410" y="4230"/>
                  </a:lnTo>
                  <a:lnTo>
                    <a:pt x="682410" y="0"/>
                  </a:lnTo>
                  <a:close/>
                </a:path>
                <a:path w="682625" h="481964">
                  <a:moveTo>
                    <a:pt x="8433" y="473064"/>
                  </a:moveTo>
                  <a:lnTo>
                    <a:pt x="4214" y="473064"/>
                  </a:lnTo>
                  <a:lnTo>
                    <a:pt x="8433" y="477295"/>
                  </a:lnTo>
                  <a:lnTo>
                    <a:pt x="8433" y="473064"/>
                  </a:lnTo>
                  <a:close/>
                </a:path>
                <a:path w="682625" h="481964">
                  <a:moveTo>
                    <a:pt x="673986" y="473064"/>
                  </a:moveTo>
                  <a:lnTo>
                    <a:pt x="8433" y="473064"/>
                  </a:lnTo>
                  <a:lnTo>
                    <a:pt x="8433" y="477295"/>
                  </a:lnTo>
                  <a:lnTo>
                    <a:pt x="673986" y="477295"/>
                  </a:lnTo>
                  <a:lnTo>
                    <a:pt x="673986" y="473064"/>
                  </a:lnTo>
                  <a:close/>
                </a:path>
                <a:path w="682625" h="481964">
                  <a:moveTo>
                    <a:pt x="673985" y="4230"/>
                  </a:moveTo>
                  <a:lnTo>
                    <a:pt x="673986" y="477295"/>
                  </a:lnTo>
                  <a:lnTo>
                    <a:pt x="678198" y="473064"/>
                  </a:lnTo>
                  <a:lnTo>
                    <a:pt x="682410" y="473064"/>
                  </a:lnTo>
                  <a:lnTo>
                    <a:pt x="682410" y="8454"/>
                  </a:lnTo>
                  <a:lnTo>
                    <a:pt x="678198" y="8454"/>
                  </a:lnTo>
                  <a:lnTo>
                    <a:pt x="673985" y="4230"/>
                  </a:lnTo>
                  <a:close/>
                </a:path>
                <a:path w="682625" h="481964">
                  <a:moveTo>
                    <a:pt x="682410" y="473064"/>
                  </a:moveTo>
                  <a:lnTo>
                    <a:pt x="678198" y="473064"/>
                  </a:lnTo>
                  <a:lnTo>
                    <a:pt x="673986" y="477295"/>
                  </a:lnTo>
                  <a:lnTo>
                    <a:pt x="682410" y="477295"/>
                  </a:lnTo>
                  <a:lnTo>
                    <a:pt x="682410" y="473064"/>
                  </a:lnTo>
                  <a:close/>
                </a:path>
                <a:path w="682625" h="481964">
                  <a:moveTo>
                    <a:pt x="227473" y="321008"/>
                  </a:moveTo>
                  <a:lnTo>
                    <a:pt x="50549" y="321008"/>
                  </a:lnTo>
                  <a:lnTo>
                    <a:pt x="50549" y="430833"/>
                  </a:lnTo>
                  <a:lnTo>
                    <a:pt x="227474" y="430833"/>
                  </a:lnTo>
                  <a:lnTo>
                    <a:pt x="227474" y="426610"/>
                  </a:lnTo>
                  <a:lnTo>
                    <a:pt x="58981" y="426610"/>
                  </a:lnTo>
                  <a:lnTo>
                    <a:pt x="54762" y="422379"/>
                  </a:lnTo>
                  <a:lnTo>
                    <a:pt x="58981" y="422379"/>
                  </a:lnTo>
                  <a:lnTo>
                    <a:pt x="58981" y="329462"/>
                  </a:lnTo>
                  <a:lnTo>
                    <a:pt x="54762" y="329462"/>
                  </a:lnTo>
                  <a:lnTo>
                    <a:pt x="58981" y="325239"/>
                  </a:lnTo>
                  <a:lnTo>
                    <a:pt x="227473" y="325239"/>
                  </a:lnTo>
                  <a:lnTo>
                    <a:pt x="227473" y="321008"/>
                  </a:lnTo>
                  <a:close/>
                </a:path>
                <a:path w="682625" h="481964">
                  <a:moveTo>
                    <a:pt x="429664" y="321008"/>
                  </a:moveTo>
                  <a:lnTo>
                    <a:pt x="252740" y="321008"/>
                  </a:lnTo>
                  <a:lnTo>
                    <a:pt x="252740" y="430833"/>
                  </a:lnTo>
                  <a:lnTo>
                    <a:pt x="429664" y="430833"/>
                  </a:lnTo>
                  <a:lnTo>
                    <a:pt x="429664" y="426610"/>
                  </a:lnTo>
                  <a:lnTo>
                    <a:pt x="261172" y="426610"/>
                  </a:lnTo>
                  <a:lnTo>
                    <a:pt x="256953" y="422379"/>
                  </a:lnTo>
                  <a:lnTo>
                    <a:pt x="261172" y="422379"/>
                  </a:lnTo>
                  <a:lnTo>
                    <a:pt x="261172" y="329462"/>
                  </a:lnTo>
                  <a:lnTo>
                    <a:pt x="256953" y="329462"/>
                  </a:lnTo>
                  <a:lnTo>
                    <a:pt x="261172" y="325239"/>
                  </a:lnTo>
                  <a:lnTo>
                    <a:pt x="429664" y="325239"/>
                  </a:lnTo>
                  <a:lnTo>
                    <a:pt x="429664" y="321008"/>
                  </a:lnTo>
                  <a:close/>
                </a:path>
                <a:path w="682625" h="481964">
                  <a:moveTo>
                    <a:pt x="631855" y="321008"/>
                  </a:moveTo>
                  <a:lnTo>
                    <a:pt x="454931" y="321008"/>
                  </a:lnTo>
                  <a:lnTo>
                    <a:pt x="454931" y="430833"/>
                  </a:lnTo>
                  <a:lnTo>
                    <a:pt x="631855" y="430833"/>
                  </a:lnTo>
                  <a:lnTo>
                    <a:pt x="631855" y="426610"/>
                  </a:lnTo>
                  <a:lnTo>
                    <a:pt x="463363" y="426610"/>
                  </a:lnTo>
                  <a:lnTo>
                    <a:pt x="459144" y="422379"/>
                  </a:lnTo>
                  <a:lnTo>
                    <a:pt x="463363" y="422379"/>
                  </a:lnTo>
                  <a:lnTo>
                    <a:pt x="463363" y="329462"/>
                  </a:lnTo>
                  <a:lnTo>
                    <a:pt x="459144" y="329462"/>
                  </a:lnTo>
                  <a:lnTo>
                    <a:pt x="463363" y="325239"/>
                  </a:lnTo>
                  <a:lnTo>
                    <a:pt x="631855" y="325239"/>
                  </a:lnTo>
                  <a:lnTo>
                    <a:pt x="631855" y="321008"/>
                  </a:lnTo>
                  <a:close/>
                </a:path>
                <a:path w="682625" h="481964">
                  <a:moveTo>
                    <a:pt x="58981" y="422379"/>
                  </a:moveTo>
                  <a:lnTo>
                    <a:pt x="54762" y="422379"/>
                  </a:lnTo>
                  <a:lnTo>
                    <a:pt x="58981" y="426610"/>
                  </a:lnTo>
                  <a:lnTo>
                    <a:pt x="58981" y="422379"/>
                  </a:lnTo>
                  <a:close/>
                </a:path>
                <a:path w="682625" h="481964">
                  <a:moveTo>
                    <a:pt x="219042" y="422379"/>
                  </a:moveTo>
                  <a:lnTo>
                    <a:pt x="58981" y="422379"/>
                  </a:lnTo>
                  <a:lnTo>
                    <a:pt x="58981" y="426610"/>
                  </a:lnTo>
                  <a:lnTo>
                    <a:pt x="219042" y="426610"/>
                  </a:lnTo>
                  <a:lnTo>
                    <a:pt x="219042" y="422379"/>
                  </a:lnTo>
                  <a:close/>
                </a:path>
                <a:path w="682625" h="481964">
                  <a:moveTo>
                    <a:pt x="219042" y="325239"/>
                  </a:moveTo>
                  <a:lnTo>
                    <a:pt x="219042" y="426610"/>
                  </a:lnTo>
                  <a:lnTo>
                    <a:pt x="223254" y="422379"/>
                  </a:lnTo>
                  <a:lnTo>
                    <a:pt x="227474" y="422379"/>
                  </a:lnTo>
                  <a:lnTo>
                    <a:pt x="227473" y="329462"/>
                  </a:lnTo>
                  <a:lnTo>
                    <a:pt x="223254" y="329462"/>
                  </a:lnTo>
                  <a:lnTo>
                    <a:pt x="219042" y="325239"/>
                  </a:lnTo>
                  <a:close/>
                </a:path>
                <a:path w="682625" h="481964">
                  <a:moveTo>
                    <a:pt x="227474" y="422379"/>
                  </a:moveTo>
                  <a:lnTo>
                    <a:pt x="223254" y="422379"/>
                  </a:lnTo>
                  <a:lnTo>
                    <a:pt x="219042" y="426610"/>
                  </a:lnTo>
                  <a:lnTo>
                    <a:pt x="227474" y="426610"/>
                  </a:lnTo>
                  <a:lnTo>
                    <a:pt x="227474" y="422379"/>
                  </a:lnTo>
                  <a:close/>
                </a:path>
                <a:path w="682625" h="481964">
                  <a:moveTo>
                    <a:pt x="261172" y="422379"/>
                  </a:moveTo>
                  <a:lnTo>
                    <a:pt x="256953" y="422379"/>
                  </a:lnTo>
                  <a:lnTo>
                    <a:pt x="261172" y="426610"/>
                  </a:lnTo>
                  <a:lnTo>
                    <a:pt x="261172" y="422379"/>
                  </a:lnTo>
                  <a:close/>
                </a:path>
                <a:path w="682625" h="481964">
                  <a:moveTo>
                    <a:pt x="421233" y="422379"/>
                  </a:moveTo>
                  <a:lnTo>
                    <a:pt x="261172" y="422379"/>
                  </a:lnTo>
                  <a:lnTo>
                    <a:pt x="261172" y="426610"/>
                  </a:lnTo>
                  <a:lnTo>
                    <a:pt x="421233" y="426610"/>
                  </a:lnTo>
                  <a:lnTo>
                    <a:pt x="421233" y="422379"/>
                  </a:lnTo>
                  <a:close/>
                </a:path>
                <a:path w="682625" h="481964">
                  <a:moveTo>
                    <a:pt x="421233" y="325239"/>
                  </a:moveTo>
                  <a:lnTo>
                    <a:pt x="421233" y="426610"/>
                  </a:lnTo>
                  <a:lnTo>
                    <a:pt x="425445" y="422379"/>
                  </a:lnTo>
                  <a:lnTo>
                    <a:pt x="429664" y="422379"/>
                  </a:lnTo>
                  <a:lnTo>
                    <a:pt x="429664" y="329462"/>
                  </a:lnTo>
                  <a:lnTo>
                    <a:pt x="425445" y="329462"/>
                  </a:lnTo>
                  <a:lnTo>
                    <a:pt x="421233" y="325239"/>
                  </a:lnTo>
                  <a:close/>
                </a:path>
                <a:path w="682625" h="481964">
                  <a:moveTo>
                    <a:pt x="429664" y="422379"/>
                  </a:moveTo>
                  <a:lnTo>
                    <a:pt x="425445" y="422379"/>
                  </a:lnTo>
                  <a:lnTo>
                    <a:pt x="421233" y="426610"/>
                  </a:lnTo>
                  <a:lnTo>
                    <a:pt x="429664" y="426610"/>
                  </a:lnTo>
                  <a:lnTo>
                    <a:pt x="429664" y="422379"/>
                  </a:lnTo>
                  <a:close/>
                </a:path>
                <a:path w="682625" h="481964">
                  <a:moveTo>
                    <a:pt x="463363" y="422379"/>
                  </a:moveTo>
                  <a:lnTo>
                    <a:pt x="459144" y="422379"/>
                  </a:lnTo>
                  <a:lnTo>
                    <a:pt x="463363" y="426610"/>
                  </a:lnTo>
                  <a:lnTo>
                    <a:pt x="463363" y="422379"/>
                  </a:lnTo>
                  <a:close/>
                </a:path>
                <a:path w="682625" h="481964">
                  <a:moveTo>
                    <a:pt x="623424" y="422379"/>
                  </a:moveTo>
                  <a:lnTo>
                    <a:pt x="463363" y="422379"/>
                  </a:lnTo>
                  <a:lnTo>
                    <a:pt x="463363" y="426610"/>
                  </a:lnTo>
                  <a:lnTo>
                    <a:pt x="623424" y="426610"/>
                  </a:lnTo>
                  <a:lnTo>
                    <a:pt x="623424" y="422379"/>
                  </a:lnTo>
                  <a:close/>
                </a:path>
                <a:path w="682625" h="481964">
                  <a:moveTo>
                    <a:pt x="623424" y="325239"/>
                  </a:moveTo>
                  <a:lnTo>
                    <a:pt x="623424" y="426610"/>
                  </a:lnTo>
                  <a:lnTo>
                    <a:pt x="627636" y="422379"/>
                  </a:lnTo>
                  <a:lnTo>
                    <a:pt x="631855" y="422379"/>
                  </a:lnTo>
                  <a:lnTo>
                    <a:pt x="631855" y="329462"/>
                  </a:lnTo>
                  <a:lnTo>
                    <a:pt x="627636" y="329462"/>
                  </a:lnTo>
                  <a:lnTo>
                    <a:pt x="623424" y="325239"/>
                  </a:lnTo>
                  <a:close/>
                </a:path>
                <a:path w="682625" h="481964">
                  <a:moveTo>
                    <a:pt x="631855" y="422379"/>
                  </a:moveTo>
                  <a:lnTo>
                    <a:pt x="627636" y="422379"/>
                  </a:lnTo>
                  <a:lnTo>
                    <a:pt x="623424" y="426610"/>
                  </a:lnTo>
                  <a:lnTo>
                    <a:pt x="631855" y="426610"/>
                  </a:lnTo>
                  <a:lnTo>
                    <a:pt x="631855" y="422379"/>
                  </a:lnTo>
                  <a:close/>
                </a:path>
                <a:path w="682625" h="481964">
                  <a:moveTo>
                    <a:pt x="58981" y="325239"/>
                  </a:moveTo>
                  <a:lnTo>
                    <a:pt x="54762" y="329462"/>
                  </a:lnTo>
                  <a:lnTo>
                    <a:pt x="58981" y="329462"/>
                  </a:lnTo>
                  <a:lnTo>
                    <a:pt x="58981" y="325239"/>
                  </a:lnTo>
                  <a:close/>
                </a:path>
                <a:path w="682625" h="481964">
                  <a:moveTo>
                    <a:pt x="219042" y="325239"/>
                  </a:moveTo>
                  <a:lnTo>
                    <a:pt x="58981" y="325239"/>
                  </a:lnTo>
                  <a:lnTo>
                    <a:pt x="58981" y="329462"/>
                  </a:lnTo>
                  <a:lnTo>
                    <a:pt x="219042" y="329462"/>
                  </a:lnTo>
                  <a:lnTo>
                    <a:pt x="219042" y="325239"/>
                  </a:lnTo>
                  <a:close/>
                </a:path>
                <a:path w="682625" h="481964">
                  <a:moveTo>
                    <a:pt x="227473" y="325239"/>
                  </a:moveTo>
                  <a:lnTo>
                    <a:pt x="219042" y="325239"/>
                  </a:lnTo>
                  <a:lnTo>
                    <a:pt x="223254" y="329462"/>
                  </a:lnTo>
                  <a:lnTo>
                    <a:pt x="227473" y="329462"/>
                  </a:lnTo>
                  <a:lnTo>
                    <a:pt x="227473" y="325239"/>
                  </a:lnTo>
                  <a:close/>
                </a:path>
                <a:path w="682625" h="481964">
                  <a:moveTo>
                    <a:pt x="261172" y="325239"/>
                  </a:moveTo>
                  <a:lnTo>
                    <a:pt x="256953" y="329462"/>
                  </a:lnTo>
                  <a:lnTo>
                    <a:pt x="261172" y="329462"/>
                  </a:lnTo>
                  <a:lnTo>
                    <a:pt x="261172" y="325239"/>
                  </a:lnTo>
                  <a:close/>
                </a:path>
                <a:path w="682625" h="481964">
                  <a:moveTo>
                    <a:pt x="421233" y="325239"/>
                  </a:moveTo>
                  <a:lnTo>
                    <a:pt x="261172" y="325239"/>
                  </a:lnTo>
                  <a:lnTo>
                    <a:pt x="261172" y="329462"/>
                  </a:lnTo>
                  <a:lnTo>
                    <a:pt x="421233" y="329462"/>
                  </a:lnTo>
                  <a:lnTo>
                    <a:pt x="421233" y="325239"/>
                  </a:lnTo>
                  <a:close/>
                </a:path>
                <a:path w="682625" h="481964">
                  <a:moveTo>
                    <a:pt x="429664" y="325239"/>
                  </a:moveTo>
                  <a:lnTo>
                    <a:pt x="421233" y="325239"/>
                  </a:lnTo>
                  <a:lnTo>
                    <a:pt x="425445" y="329462"/>
                  </a:lnTo>
                  <a:lnTo>
                    <a:pt x="429664" y="329462"/>
                  </a:lnTo>
                  <a:lnTo>
                    <a:pt x="429664" y="325239"/>
                  </a:lnTo>
                  <a:close/>
                </a:path>
                <a:path w="682625" h="481964">
                  <a:moveTo>
                    <a:pt x="463363" y="325239"/>
                  </a:moveTo>
                  <a:lnTo>
                    <a:pt x="459144" y="329462"/>
                  </a:lnTo>
                  <a:lnTo>
                    <a:pt x="463363" y="329462"/>
                  </a:lnTo>
                  <a:lnTo>
                    <a:pt x="463363" y="325239"/>
                  </a:lnTo>
                  <a:close/>
                </a:path>
                <a:path w="682625" h="481964">
                  <a:moveTo>
                    <a:pt x="623424" y="325239"/>
                  </a:moveTo>
                  <a:lnTo>
                    <a:pt x="463363" y="325239"/>
                  </a:lnTo>
                  <a:lnTo>
                    <a:pt x="463363" y="329462"/>
                  </a:lnTo>
                  <a:lnTo>
                    <a:pt x="623424" y="329462"/>
                  </a:lnTo>
                  <a:lnTo>
                    <a:pt x="623424" y="325239"/>
                  </a:lnTo>
                  <a:close/>
                </a:path>
                <a:path w="682625" h="481964">
                  <a:moveTo>
                    <a:pt x="631855" y="325239"/>
                  </a:moveTo>
                  <a:lnTo>
                    <a:pt x="623424" y="325239"/>
                  </a:lnTo>
                  <a:lnTo>
                    <a:pt x="627636" y="329462"/>
                  </a:lnTo>
                  <a:lnTo>
                    <a:pt x="631855" y="329462"/>
                  </a:lnTo>
                  <a:lnTo>
                    <a:pt x="631855" y="325239"/>
                  </a:lnTo>
                  <a:close/>
                </a:path>
                <a:path w="682625" h="481964">
                  <a:moveTo>
                    <a:pt x="227473" y="185846"/>
                  </a:moveTo>
                  <a:lnTo>
                    <a:pt x="50549" y="185846"/>
                  </a:lnTo>
                  <a:lnTo>
                    <a:pt x="50549" y="295672"/>
                  </a:lnTo>
                  <a:lnTo>
                    <a:pt x="227473" y="295672"/>
                  </a:lnTo>
                  <a:lnTo>
                    <a:pt x="227473" y="291448"/>
                  </a:lnTo>
                  <a:lnTo>
                    <a:pt x="58981" y="291448"/>
                  </a:lnTo>
                  <a:lnTo>
                    <a:pt x="54762" y="287217"/>
                  </a:lnTo>
                  <a:lnTo>
                    <a:pt x="58981" y="287217"/>
                  </a:lnTo>
                  <a:lnTo>
                    <a:pt x="58981" y="194301"/>
                  </a:lnTo>
                  <a:lnTo>
                    <a:pt x="54762" y="194301"/>
                  </a:lnTo>
                  <a:lnTo>
                    <a:pt x="58981" y="190077"/>
                  </a:lnTo>
                  <a:lnTo>
                    <a:pt x="227473" y="190077"/>
                  </a:lnTo>
                  <a:lnTo>
                    <a:pt x="227473" y="185846"/>
                  </a:lnTo>
                  <a:close/>
                </a:path>
                <a:path w="682625" h="481964">
                  <a:moveTo>
                    <a:pt x="429664" y="185846"/>
                  </a:moveTo>
                  <a:lnTo>
                    <a:pt x="252740" y="185846"/>
                  </a:lnTo>
                  <a:lnTo>
                    <a:pt x="252740" y="295672"/>
                  </a:lnTo>
                  <a:lnTo>
                    <a:pt x="429664" y="295672"/>
                  </a:lnTo>
                  <a:lnTo>
                    <a:pt x="429664" y="291448"/>
                  </a:lnTo>
                  <a:lnTo>
                    <a:pt x="261172" y="291448"/>
                  </a:lnTo>
                  <a:lnTo>
                    <a:pt x="256953" y="287217"/>
                  </a:lnTo>
                  <a:lnTo>
                    <a:pt x="261172" y="287217"/>
                  </a:lnTo>
                  <a:lnTo>
                    <a:pt x="261172" y="194301"/>
                  </a:lnTo>
                  <a:lnTo>
                    <a:pt x="256953" y="194301"/>
                  </a:lnTo>
                  <a:lnTo>
                    <a:pt x="261172" y="190077"/>
                  </a:lnTo>
                  <a:lnTo>
                    <a:pt x="429664" y="190077"/>
                  </a:lnTo>
                  <a:lnTo>
                    <a:pt x="429664" y="185846"/>
                  </a:lnTo>
                  <a:close/>
                </a:path>
                <a:path w="682625" h="481964">
                  <a:moveTo>
                    <a:pt x="631855" y="185846"/>
                  </a:moveTo>
                  <a:lnTo>
                    <a:pt x="454931" y="185846"/>
                  </a:lnTo>
                  <a:lnTo>
                    <a:pt x="454931" y="295672"/>
                  </a:lnTo>
                  <a:lnTo>
                    <a:pt x="631855" y="295672"/>
                  </a:lnTo>
                  <a:lnTo>
                    <a:pt x="631855" y="291448"/>
                  </a:lnTo>
                  <a:lnTo>
                    <a:pt x="463363" y="291448"/>
                  </a:lnTo>
                  <a:lnTo>
                    <a:pt x="459144" y="287217"/>
                  </a:lnTo>
                  <a:lnTo>
                    <a:pt x="463363" y="287217"/>
                  </a:lnTo>
                  <a:lnTo>
                    <a:pt x="463363" y="194301"/>
                  </a:lnTo>
                  <a:lnTo>
                    <a:pt x="459144" y="194301"/>
                  </a:lnTo>
                  <a:lnTo>
                    <a:pt x="463363" y="190077"/>
                  </a:lnTo>
                  <a:lnTo>
                    <a:pt x="631855" y="190077"/>
                  </a:lnTo>
                  <a:lnTo>
                    <a:pt x="631855" y="185846"/>
                  </a:lnTo>
                  <a:close/>
                </a:path>
                <a:path w="682625" h="481964">
                  <a:moveTo>
                    <a:pt x="58981" y="287217"/>
                  </a:moveTo>
                  <a:lnTo>
                    <a:pt x="54762" y="287217"/>
                  </a:lnTo>
                  <a:lnTo>
                    <a:pt x="58981" y="291448"/>
                  </a:lnTo>
                  <a:lnTo>
                    <a:pt x="58981" y="287217"/>
                  </a:lnTo>
                  <a:close/>
                </a:path>
                <a:path w="682625" h="481964">
                  <a:moveTo>
                    <a:pt x="219042" y="287217"/>
                  </a:moveTo>
                  <a:lnTo>
                    <a:pt x="58981" y="287217"/>
                  </a:lnTo>
                  <a:lnTo>
                    <a:pt x="58981" y="291448"/>
                  </a:lnTo>
                  <a:lnTo>
                    <a:pt x="219042" y="291448"/>
                  </a:lnTo>
                  <a:lnTo>
                    <a:pt x="219042" y="287217"/>
                  </a:lnTo>
                  <a:close/>
                </a:path>
                <a:path w="682625" h="481964">
                  <a:moveTo>
                    <a:pt x="219042" y="190077"/>
                  </a:moveTo>
                  <a:lnTo>
                    <a:pt x="219042" y="291448"/>
                  </a:lnTo>
                  <a:lnTo>
                    <a:pt x="223254" y="287217"/>
                  </a:lnTo>
                  <a:lnTo>
                    <a:pt x="227473" y="287217"/>
                  </a:lnTo>
                  <a:lnTo>
                    <a:pt x="227473" y="194301"/>
                  </a:lnTo>
                  <a:lnTo>
                    <a:pt x="223254" y="194301"/>
                  </a:lnTo>
                  <a:lnTo>
                    <a:pt x="219042" y="190077"/>
                  </a:lnTo>
                  <a:close/>
                </a:path>
                <a:path w="682625" h="481964">
                  <a:moveTo>
                    <a:pt x="227473" y="287217"/>
                  </a:moveTo>
                  <a:lnTo>
                    <a:pt x="223254" y="287217"/>
                  </a:lnTo>
                  <a:lnTo>
                    <a:pt x="219042" y="291448"/>
                  </a:lnTo>
                  <a:lnTo>
                    <a:pt x="227473" y="291448"/>
                  </a:lnTo>
                  <a:lnTo>
                    <a:pt x="227473" y="287217"/>
                  </a:lnTo>
                  <a:close/>
                </a:path>
                <a:path w="682625" h="481964">
                  <a:moveTo>
                    <a:pt x="261172" y="287217"/>
                  </a:moveTo>
                  <a:lnTo>
                    <a:pt x="256953" y="287217"/>
                  </a:lnTo>
                  <a:lnTo>
                    <a:pt x="261172" y="291448"/>
                  </a:lnTo>
                  <a:lnTo>
                    <a:pt x="261172" y="287217"/>
                  </a:lnTo>
                  <a:close/>
                </a:path>
                <a:path w="682625" h="481964">
                  <a:moveTo>
                    <a:pt x="421233" y="287217"/>
                  </a:moveTo>
                  <a:lnTo>
                    <a:pt x="261172" y="287217"/>
                  </a:lnTo>
                  <a:lnTo>
                    <a:pt x="261172" y="291448"/>
                  </a:lnTo>
                  <a:lnTo>
                    <a:pt x="421233" y="291448"/>
                  </a:lnTo>
                  <a:lnTo>
                    <a:pt x="421233" y="287217"/>
                  </a:lnTo>
                  <a:close/>
                </a:path>
                <a:path w="682625" h="481964">
                  <a:moveTo>
                    <a:pt x="421233" y="190077"/>
                  </a:moveTo>
                  <a:lnTo>
                    <a:pt x="421233" y="291448"/>
                  </a:lnTo>
                  <a:lnTo>
                    <a:pt x="425445" y="287217"/>
                  </a:lnTo>
                  <a:lnTo>
                    <a:pt x="429664" y="287217"/>
                  </a:lnTo>
                  <a:lnTo>
                    <a:pt x="429664" y="194301"/>
                  </a:lnTo>
                  <a:lnTo>
                    <a:pt x="425445" y="194301"/>
                  </a:lnTo>
                  <a:lnTo>
                    <a:pt x="421233" y="190077"/>
                  </a:lnTo>
                  <a:close/>
                </a:path>
                <a:path w="682625" h="481964">
                  <a:moveTo>
                    <a:pt x="429664" y="287217"/>
                  </a:moveTo>
                  <a:lnTo>
                    <a:pt x="425445" y="287217"/>
                  </a:lnTo>
                  <a:lnTo>
                    <a:pt x="421233" y="291448"/>
                  </a:lnTo>
                  <a:lnTo>
                    <a:pt x="429664" y="291448"/>
                  </a:lnTo>
                  <a:lnTo>
                    <a:pt x="429664" y="287217"/>
                  </a:lnTo>
                  <a:close/>
                </a:path>
                <a:path w="682625" h="481964">
                  <a:moveTo>
                    <a:pt x="463363" y="287217"/>
                  </a:moveTo>
                  <a:lnTo>
                    <a:pt x="459144" y="287217"/>
                  </a:lnTo>
                  <a:lnTo>
                    <a:pt x="463363" y="291448"/>
                  </a:lnTo>
                  <a:lnTo>
                    <a:pt x="463363" y="287217"/>
                  </a:lnTo>
                  <a:close/>
                </a:path>
                <a:path w="682625" h="481964">
                  <a:moveTo>
                    <a:pt x="623424" y="287217"/>
                  </a:moveTo>
                  <a:lnTo>
                    <a:pt x="463363" y="287217"/>
                  </a:lnTo>
                  <a:lnTo>
                    <a:pt x="463363" y="291448"/>
                  </a:lnTo>
                  <a:lnTo>
                    <a:pt x="623424" y="291448"/>
                  </a:lnTo>
                  <a:lnTo>
                    <a:pt x="623424" y="287217"/>
                  </a:lnTo>
                  <a:close/>
                </a:path>
                <a:path w="682625" h="481964">
                  <a:moveTo>
                    <a:pt x="623424" y="190077"/>
                  </a:moveTo>
                  <a:lnTo>
                    <a:pt x="623424" y="291448"/>
                  </a:lnTo>
                  <a:lnTo>
                    <a:pt x="627636" y="287217"/>
                  </a:lnTo>
                  <a:lnTo>
                    <a:pt x="631855" y="287217"/>
                  </a:lnTo>
                  <a:lnTo>
                    <a:pt x="631855" y="194301"/>
                  </a:lnTo>
                  <a:lnTo>
                    <a:pt x="627636" y="194301"/>
                  </a:lnTo>
                  <a:lnTo>
                    <a:pt x="623424" y="190077"/>
                  </a:lnTo>
                  <a:close/>
                </a:path>
                <a:path w="682625" h="481964">
                  <a:moveTo>
                    <a:pt x="631855" y="287217"/>
                  </a:moveTo>
                  <a:lnTo>
                    <a:pt x="627636" y="287217"/>
                  </a:lnTo>
                  <a:lnTo>
                    <a:pt x="623424" y="291448"/>
                  </a:lnTo>
                  <a:lnTo>
                    <a:pt x="631855" y="291448"/>
                  </a:lnTo>
                  <a:lnTo>
                    <a:pt x="631855" y="287217"/>
                  </a:lnTo>
                  <a:close/>
                </a:path>
                <a:path w="682625" h="481964">
                  <a:moveTo>
                    <a:pt x="58981" y="190077"/>
                  </a:moveTo>
                  <a:lnTo>
                    <a:pt x="54762" y="194301"/>
                  </a:lnTo>
                  <a:lnTo>
                    <a:pt x="58981" y="194301"/>
                  </a:lnTo>
                  <a:lnTo>
                    <a:pt x="58981" y="190077"/>
                  </a:lnTo>
                  <a:close/>
                </a:path>
                <a:path w="682625" h="481964">
                  <a:moveTo>
                    <a:pt x="219042" y="190077"/>
                  </a:moveTo>
                  <a:lnTo>
                    <a:pt x="58981" y="190077"/>
                  </a:lnTo>
                  <a:lnTo>
                    <a:pt x="58981" y="194301"/>
                  </a:lnTo>
                  <a:lnTo>
                    <a:pt x="219042" y="194301"/>
                  </a:lnTo>
                  <a:lnTo>
                    <a:pt x="219042" y="190077"/>
                  </a:lnTo>
                  <a:close/>
                </a:path>
                <a:path w="682625" h="481964">
                  <a:moveTo>
                    <a:pt x="227473" y="190077"/>
                  </a:moveTo>
                  <a:lnTo>
                    <a:pt x="219042" y="190077"/>
                  </a:lnTo>
                  <a:lnTo>
                    <a:pt x="223254" y="194301"/>
                  </a:lnTo>
                  <a:lnTo>
                    <a:pt x="227473" y="194301"/>
                  </a:lnTo>
                  <a:lnTo>
                    <a:pt x="227473" y="190077"/>
                  </a:lnTo>
                  <a:close/>
                </a:path>
                <a:path w="682625" h="481964">
                  <a:moveTo>
                    <a:pt x="261172" y="190077"/>
                  </a:moveTo>
                  <a:lnTo>
                    <a:pt x="256953" y="194301"/>
                  </a:lnTo>
                  <a:lnTo>
                    <a:pt x="261172" y="194301"/>
                  </a:lnTo>
                  <a:lnTo>
                    <a:pt x="261172" y="190077"/>
                  </a:lnTo>
                  <a:close/>
                </a:path>
                <a:path w="682625" h="481964">
                  <a:moveTo>
                    <a:pt x="421233" y="190077"/>
                  </a:moveTo>
                  <a:lnTo>
                    <a:pt x="261172" y="190077"/>
                  </a:lnTo>
                  <a:lnTo>
                    <a:pt x="261172" y="194301"/>
                  </a:lnTo>
                  <a:lnTo>
                    <a:pt x="421233" y="194301"/>
                  </a:lnTo>
                  <a:lnTo>
                    <a:pt x="421233" y="190077"/>
                  </a:lnTo>
                  <a:close/>
                </a:path>
                <a:path w="682625" h="481964">
                  <a:moveTo>
                    <a:pt x="429664" y="190077"/>
                  </a:moveTo>
                  <a:lnTo>
                    <a:pt x="421233" y="190077"/>
                  </a:lnTo>
                  <a:lnTo>
                    <a:pt x="425445" y="194301"/>
                  </a:lnTo>
                  <a:lnTo>
                    <a:pt x="429664" y="194301"/>
                  </a:lnTo>
                  <a:lnTo>
                    <a:pt x="429664" y="190077"/>
                  </a:lnTo>
                  <a:close/>
                </a:path>
                <a:path w="682625" h="481964">
                  <a:moveTo>
                    <a:pt x="463363" y="190077"/>
                  </a:moveTo>
                  <a:lnTo>
                    <a:pt x="459144" y="194301"/>
                  </a:lnTo>
                  <a:lnTo>
                    <a:pt x="463363" y="194301"/>
                  </a:lnTo>
                  <a:lnTo>
                    <a:pt x="463363" y="190077"/>
                  </a:lnTo>
                  <a:close/>
                </a:path>
                <a:path w="682625" h="481964">
                  <a:moveTo>
                    <a:pt x="623424" y="190077"/>
                  </a:moveTo>
                  <a:lnTo>
                    <a:pt x="463363" y="190077"/>
                  </a:lnTo>
                  <a:lnTo>
                    <a:pt x="463363" y="194301"/>
                  </a:lnTo>
                  <a:lnTo>
                    <a:pt x="623424" y="194301"/>
                  </a:lnTo>
                  <a:lnTo>
                    <a:pt x="623424" y="190077"/>
                  </a:lnTo>
                  <a:close/>
                </a:path>
                <a:path w="682625" h="481964">
                  <a:moveTo>
                    <a:pt x="631855" y="190077"/>
                  </a:moveTo>
                  <a:lnTo>
                    <a:pt x="623424" y="190077"/>
                  </a:lnTo>
                  <a:lnTo>
                    <a:pt x="627636" y="194301"/>
                  </a:lnTo>
                  <a:lnTo>
                    <a:pt x="631855" y="194301"/>
                  </a:lnTo>
                  <a:lnTo>
                    <a:pt x="631855" y="190077"/>
                  </a:lnTo>
                  <a:close/>
                </a:path>
                <a:path w="682625" h="481964">
                  <a:moveTo>
                    <a:pt x="227473" y="50685"/>
                  </a:moveTo>
                  <a:lnTo>
                    <a:pt x="50549" y="50685"/>
                  </a:lnTo>
                  <a:lnTo>
                    <a:pt x="50549" y="160511"/>
                  </a:lnTo>
                  <a:lnTo>
                    <a:pt x="227473" y="160511"/>
                  </a:lnTo>
                  <a:lnTo>
                    <a:pt x="227473" y="156287"/>
                  </a:lnTo>
                  <a:lnTo>
                    <a:pt x="58981" y="156287"/>
                  </a:lnTo>
                  <a:lnTo>
                    <a:pt x="54762" y="152056"/>
                  </a:lnTo>
                  <a:lnTo>
                    <a:pt x="58981" y="152056"/>
                  </a:lnTo>
                  <a:lnTo>
                    <a:pt x="58981" y="59140"/>
                  </a:lnTo>
                  <a:lnTo>
                    <a:pt x="54762" y="59140"/>
                  </a:lnTo>
                  <a:lnTo>
                    <a:pt x="58981" y="54916"/>
                  </a:lnTo>
                  <a:lnTo>
                    <a:pt x="227473" y="54916"/>
                  </a:lnTo>
                  <a:lnTo>
                    <a:pt x="227473" y="50685"/>
                  </a:lnTo>
                  <a:close/>
                </a:path>
                <a:path w="682625" h="481964">
                  <a:moveTo>
                    <a:pt x="429664" y="50685"/>
                  </a:moveTo>
                  <a:lnTo>
                    <a:pt x="252740" y="50685"/>
                  </a:lnTo>
                  <a:lnTo>
                    <a:pt x="252740" y="160511"/>
                  </a:lnTo>
                  <a:lnTo>
                    <a:pt x="429664" y="160511"/>
                  </a:lnTo>
                  <a:lnTo>
                    <a:pt x="429664" y="156287"/>
                  </a:lnTo>
                  <a:lnTo>
                    <a:pt x="261172" y="156287"/>
                  </a:lnTo>
                  <a:lnTo>
                    <a:pt x="256953" y="152056"/>
                  </a:lnTo>
                  <a:lnTo>
                    <a:pt x="261172" y="152056"/>
                  </a:lnTo>
                  <a:lnTo>
                    <a:pt x="261172" y="59140"/>
                  </a:lnTo>
                  <a:lnTo>
                    <a:pt x="256953" y="59140"/>
                  </a:lnTo>
                  <a:lnTo>
                    <a:pt x="261172" y="54916"/>
                  </a:lnTo>
                  <a:lnTo>
                    <a:pt x="429664" y="54916"/>
                  </a:lnTo>
                  <a:lnTo>
                    <a:pt x="429664" y="50685"/>
                  </a:lnTo>
                  <a:close/>
                </a:path>
                <a:path w="682625" h="481964">
                  <a:moveTo>
                    <a:pt x="631855" y="50685"/>
                  </a:moveTo>
                  <a:lnTo>
                    <a:pt x="454931" y="50685"/>
                  </a:lnTo>
                  <a:lnTo>
                    <a:pt x="454931" y="160511"/>
                  </a:lnTo>
                  <a:lnTo>
                    <a:pt x="631855" y="160511"/>
                  </a:lnTo>
                  <a:lnTo>
                    <a:pt x="631855" y="156287"/>
                  </a:lnTo>
                  <a:lnTo>
                    <a:pt x="463363" y="156287"/>
                  </a:lnTo>
                  <a:lnTo>
                    <a:pt x="459144" y="152056"/>
                  </a:lnTo>
                  <a:lnTo>
                    <a:pt x="463363" y="152056"/>
                  </a:lnTo>
                  <a:lnTo>
                    <a:pt x="463363" y="59140"/>
                  </a:lnTo>
                  <a:lnTo>
                    <a:pt x="459144" y="59140"/>
                  </a:lnTo>
                  <a:lnTo>
                    <a:pt x="463363" y="54916"/>
                  </a:lnTo>
                  <a:lnTo>
                    <a:pt x="631855" y="54916"/>
                  </a:lnTo>
                  <a:lnTo>
                    <a:pt x="631855" y="50685"/>
                  </a:lnTo>
                  <a:close/>
                </a:path>
                <a:path w="682625" h="481964">
                  <a:moveTo>
                    <a:pt x="58981" y="152056"/>
                  </a:moveTo>
                  <a:lnTo>
                    <a:pt x="54762" y="152056"/>
                  </a:lnTo>
                  <a:lnTo>
                    <a:pt x="58981" y="156287"/>
                  </a:lnTo>
                  <a:lnTo>
                    <a:pt x="58981" y="152056"/>
                  </a:lnTo>
                  <a:close/>
                </a:path>
                <a:path w="682625" h="481964">
                  <a:moveTo>
                    <a:pt x="219042" y="152056"/>
                  </a:moveTo>
                  <a:lnTo>
                    <a:pt x="58981" y="152056"/>
                  </a:lnTo>
                  <a:lnTo>
                    <a:pt x="58981" y="156287"/>
                  </a:lnTo>
                  <a:lnTo>
                    <a:pt x="219042" y="156287"/>
                  </a:lnTo>
                  <a:lnTo>
                    <a:pt x="219042" y="152056"/>
                  </a:lnTo>
                  <a:close/>
                </a:path>
                <a:path w="682625" h="481964">
                  <a:moveTo>
                    <a:pt x="219042" y="54916"/>
                  </a:moveTo>
                  <a:lnTo>
                    <a:pt x="219042" y="156287"/>
                  </a:lnTo>
                  <a:lnTo>
                    <a:pt x="223254" y="152056"/>
                  </a:lnTo>
                  <a:lnTo>
                    <a:pt x="227473" y="152056"/>
                  </a:lnTo>
                  <a:lnTo>
                    <a:pt x="227473" y="59140"/>
                  </a:lnTo>
                  <a:lnTo>
                    <a:pt x="223254" y="59140"/>
                  </a:lnTo>
                  <a:lnTo>
                    <a:pt x="219042" y="54916"/>
                  </a:lnTo>
                  <a:close/>
                </a:path>
                <a:path w="682625" h="481964">
                  <a:moveTo>
                    <a:pt x="227473" y="152056"/>
                  </a:moveTo>
                  <a:lnTo>
                    <a:pt x="223254" y="152056"/>
                  </a:lnTo>
                  <a:lnTo>
                    <a:pt x="219042" y="156287"/>
                  </a:lnTo>
                  <a:lnTo>
                    <a:pt x="227473" y="156287"/>
                  </a:lnTo>
                  <a:lnTo>
                    <a:pt x="227473" y="152056"/>
                  </a:lnTo>
                  <a:close/>
                </a:path>
                <a:path w="682625" h="481964">
                  <a:moveTo>
                    <a:pt x="261172" y="152056"/>
                  </a:moveTo>
                  <a:lnTo>
                    <a:pt x="256953" y="152056"/>
                  </a:lnTo>
                  <a:lnTo>
                    <a:pt x="261172" y="156287"/>
                  </a:lnTo>
                  <a:lnTo>
                    <a:pt x="261172" y="152056"/>
                  </a:lnTo>
                  <a:close/>
                </a:path>
                <a:path w="682625" h="481964">
                  <a:moveTo>
                    <a:pt x="421233" y="152056"/>
                  </a:moveTo>
                  <a:lnTo>
                    <a:pt x="261172" y="152056"/>
                  </a:lnTo>
                  <a:lnTo>
                    <a:pt x="261172" y="156287"/>
                  </a:lnTo>
                  <a:lnTo>
                    <a:pt x="421233" y="156287"/>
                  </a:lnTo>
                  <a:lnTo>
                    <a:pt x="421233" y="152056"/>
                  </a:lnTo>
                  <a:close/>
                </a:path>
                <a:path w="682625" h="481964">
                  <a:moveTo>
                    <a:pt x="421233" y="54916"/>
                  </a:moveTo>
                  <a:lnTo>
                    <a:pt x="421233" y="156287"/>
                  </a:lnTo>
                  <a:lnTo>
                    <a:pt x="425445" y="152056"/>
                  </a:lnTo>
                  <a:lnTo>
                    <a:pt x="429664" y="152056"/>
                  </a:lnTo>
                  <a:lnTo>
                    <a:pt x="429664" y="59140"/>
                  </a:lnTo>
                  <a:lnTo>
                    <a:pt x="425445" y="59140"/>
                  </a:lnTo>
                  <a:lnTo>
                    <a:pt x="421233" y="54916"/>
                  </a:lnTo>
                  <a:close/>
                </a:path>
                <a:path w="682625" h="481964">
                  <a:moveTo>
                    <a:pt x="429664" y="152056"/>
                  </a:moveTo>
                  <a:lnTo>
                    <a:pt x="425445" y="152056"/>
                  </a:lnTo>
                  <a:lnTo>
                    <a:pt x="421233" y="156287"/>
                  </a:lnTo>
                  <a:lnTo>
                    <a:pt x="429664" y="156287"/>
                  </a:lnTo>
                  <a:lnTo>
                    <a:pt x="429664" y="152056"/>
                  </a:lnTo>
                  <a:close/>
                </a:path>
                <a:path w="682625" h="481964">
                  <a:moveTo>
                    <a:pt x="463363" y="152056"/>
                  </a:moveTo>
                  <a:lnTo>
                    <a:pt x="459144" y="152056"/>
                  </a:lnTo>
                  <a:lnTo>
                    <a:pt x="463363" y="156287"/>
                  </a:lnTo>
                  <a:lnTo>
                    <a:pt x="463363" y="152056"/>
                  </a:lnTo>
                  <a:close/>
                </a:path>
                <a:path w="682625" h="481964">
                  <a:moveTo>
                    <a:pt x="623424" y="152056"/>
                  </a:moveTo>
                  <a:lnTo>
                    <a:pt x="463363" y="152056"/>
                  </a:lnTo>
                  <a:lnTo>
                    <a:pt x="463363" y="156287"/>
                  </a:lnTo>
                  <a:lnTo>
                    <a:pt x="623424" y="156287"/>
                  </a:lnTo>
                  <a:lnTo>
                    <a:pt x="623424" y="152056"/>
                  </a:lnTo>
                  <a:close/>
                </a:path>
                <a:path w="682625" h="481964">
                  <a:moveTo>
                    <a:pt x="623424" y="54916"/>
                  </a:moveTo>
                  <a:lnTo>
                    <a:pt x="623424" y="156287"/>
                  </a:lnTo>
                  <a:lnTo>
                    <a:pt x="627636" y="152056"/>
                  </a:lnTo>
                  <a:lnTo>
                    <a:pt x="631855" y="152056"/>
                  </a:lnTo>
                  <a:lnTo>
                    <a:pt x="631855" y="59140"/>
                  </a:lnTo>
                  <a:lnTo>
                    <a:pt x="627636" y="59140"/>
                  </a:lnTo>
                  <a:lnTo>
                    <a:pt x="623424" y="54916"/>
                  </a:lnTo>
                  <a:close/>
                </a:path>
                <a:path w="682625" h="481964">
                  <a:moveTo>
                    <a:pt x="631855" y="152056"/>
                  </a:moveTo>
                  <a:lnTo>
                    <a:pt x="627636" y="152056"/>
                  </a:lnTo>
                  <a:lnTo>
                    <a:pt x="623424" y="156287"/>
                  </a:lnTo>
                  <a:lnTo>
                    <a:pt x="631855" y="156287"/>
                  </a:lnTo>
                  <a:lnTo>
                    <a:pt x="631855" y="152056"/>
                  </a:lnTo>
                  <a:close/>
                </a:path>
                <a:path w="682625" h="481964">
                  <a:moveTo>
                    <a:pt x="58981" y="54916"/>
                  </a:moveTo>
                  <a:lnTo>
                    <a:pt x="54762" y="59140"/>
                  </a:lnTo>
                  <a:lnTo>
                    <a:pt x="58981" y="59140"/>
                  </a:lnTo>
                  <a:lnTo>
                    <a:pt x="58981" y="54916"/>
                  </a:lnTo>
                  <a:close/>
                </a:path>
                <a:path w="682625" h="481964">
                  <a:moveTo>
                    <a:pt x="219042" y="54916"/>
                  </a:moveTo>
                  <a:lnTo>
                    <a:pt x="58981" y="54916"/>
                  </a:lnTo>
                  <a:lnTo>
                    <a:pt x="58981" y="59140"/>
                  </a:lnTo>
                  <a:lnTo>
                    <a:pt x="219042" y="59140"/>
                  </a:lnTo>
                  <a:lnTo>
                    <a:pt x="219042" y="54916"/>
                  </a:lnTo>
                  <a:close/>
                </a:path>
                <a:path w="682625" h="481964">
                  <a:moveTo>
                    <a:pt x="227473" y="54916"/>
                  </a:moveTo>
                  <a:lnTo>
                    <a:pt x="219042" y="54916"/>
                  </a:lnTo>
                  <a:lnTo>
                    <a:pt x="223254" y="59140"/>
                  </a:lnTo>
                  <a:lnTo>
                    <a:pt x="227473" y="59140"/>
                  </a:lnTo>
                  <a:lnTo>
                    <a:pt x="227473" y="54916"/>
                  </a:lnTo>
                  <a:close/>
                </a:path>
                <a:path w="682625" h="481964">
                  <a:moveTo>
                    <a:pt x="261172" y="54916"/>
                  </a:moveTo>
                  <a:lnTo>
                    <a:pt x="256953" y="59140"/>
                  </a:lnTo>
                  <a:lnTo>
                    <a:pt x="261172" y="59140"/>
                  </a:lnTo>
                  <a:lnTo>
                    <a:pt x="261172" y="54916"/>
                  </a:lnTo>
                  <a:close/>
                </a:path>
                <a:path w="682625" h="481964">
                  <a:moveTo>
                    <a:pt x="421233" y="54916"/>
                  </a:moveTo>
                  <a:lnTo>
                    <a:pt x="261172" y="54916"/>
                  </a:lnTo>
                  <a:lnTo>
                    <a:pt x="261172" y="59140"/>
                  </a:lnTo>
                  <a:lnTo>
                    <a:pt x="421233" y="59140"/>
                  </a:lnTo>
                  <a:lnTo>
                    <a:pt x="421233" y="54916"/>
                  </a:lnTo>
                  <a:close/>
                </a:path>
                <a:path w="682625" h="481964">
                  <a:moveTo>
                    <a:pt x="429664" y="54916"/>
                  </a:moveTo>
                  <a:lnTo>
                    <a:pt x="421233" y="54916"/>
                  </a:lnTo>
                  <a:lnTo>
                    <a:pt x="425445" y="59140"/>
                  </a:lnTo>
                  <a:lnTo>
                    <a:pt x="429664" y="59140"/>
                  </a:lnTo>
                  <a:lnTo>
                    <a:pt x="429664" y="54916"/>
                  </a:lnTo>
                  <a:close/>
                </a:path>
                <a:path w="682625" h="481964">
                  <a:moveTo>
                    <a:pt x="463363" y="54916"/>
                  </a:moveTo>
                  <a:lnTo>
                    <a:pt x="459144" y="59140"/>
                  </a:lnTo>
                  <a:lnTo>
                    <a:pt x="463363" y="59140"/>
                  </a:lnTo>
                  <a:lnTo>
                    <a:pt x="463363" y="54916"/>
                  </a:lnTo>
                  <a:close/>
                </a:path>
                <a:path w="682625" h="481964">
                  <a:moveTo>
                    <a:pt x="623424" y="54916"/>
                  </a:moveTo>
                  <a:lnTo>
                    <a:pt x="463363" y="54916"/>
                  </a:lnTo>
                  <a:lnTo>
                    <a:pt x="463363" y="59140"/>
                  </a:lnTo>
                  <a:lnTo>
                    <a:pt x="623424" y="59140"/>
                  </a:lnTo>
                  <a:lnTo>
                    <a:pt x="623424" y="54916"/>
                  </a:lnTo>
                  <a:close/>
                </a:path>
                <a:path w="682625" h="481964">
                  <a:moveTo>
                    <a:pt x="631855" y="54916"/>
                  </a:moveTo>
                  <a:lnTo>
                    <a:pt x="623424" y="54916"/>
                  </a:lnTo>
                  <a:lnTo>
                    <a:pt x="627636" y="59140"/>
                  </a:lnTo>
                  <a:lnTo>
                    <a:pt x="631855" y="59140"/>
                  </a:lnTo>
                  <a:lnTo>
                    <a:pt x="631855" y="54916"/>
                  </a:lnTo>
                  <a:close/>
                </a:path>
                <a:path w="682625" h="481964">
                  <a:moveTo>
                    <a:pt x="8433" y="4230"/>
                  </a:moveTo>
                  <a:lnTo>
                    <a:pt x="4214" y="8454"/>
                  </a:lnTo>
                  <a:lnTo>
                    <a:pt x="8433" y="8454"/>
                  </a:lnTo>
                  <a:lnTo>
                    <a:pt x="8433" y="4230"/>
                  </a:lnTo>
                  <a:close/>
                </a:path>
                <a:path w="682625" h="481964">
                  <a:moveTo>
                    <a:pt x="673985" y="4230"/>
                  </a:moveTo>
                  <a:lnTo>
                    <a:pt x="8433" y="4230"/>
                  </a:lnTo>
                  <a:lnTo>
                    <a:pt x="8433" y="8454"/>
                  </a:lnTo>
                  <a:lnTo>
                    <a:pt x="673985" y="8454"/>
                  </a:lnTo>
                  <a:lnTo>
                    <a:pt x="673985" y="4230"/>
                  </a:lnTo>
                  <a:close/>
                </a:path>
                <a:path w="682625" h="481964">
                  <a:moveTo>
                    <a:pt x="682410" y="4230"/>
                  </a:moveTo>
                  <a:lnTo>
                    <a:pt x="673985" y="4230"/>
                  </a:lnTo>
                  <a:lnTo>
                    <a:pt x="678198" y="8454"/>
                  </a:lnTo>
                  <a:lnTo>
                    <a:pt x="682410" y="8454"/>
                  </a:lnTo>
                  <a:lnTo>
                    <a:pt x="682410" y="4230"/>
                  </a:lnTo>
                  <a:close/>
                </a:path>
              </a:pathLst>
            </a:custGeom>
            <a:solidFill>
              <a:srgbClr val="0093FF"/>
            </a:solidFill>
          </p:spPr>
          <p:txBody>
            <a:bodyPr wrap="square" lIns="0" tIns="0" rIns="0" bIns="0" rtlCol="0"/>
            <a:lstStyle/>
            <a:p>
              <a:endParaRPr sz="2400"/>
            </a:p>
          </p:txBody>
        </p:sp>
        <p:pic>
          <p:nvPicPr>
            <p:cNvPr id="14" name="object 14"/>
            <p:cNvPicPr/>
            <p:nvPr/>
          </p:nvPicPr>
          <p:blipFill>
            <a:blip r:embed="rId3" cstate="print"/>
            <a:stretch>
              <a:fillRect/>
            </a:stretch>
          </p:blipFill>
          <p:spPr>
            <a:xfrm>
              <a:off x="3142488" y="3848100"/>
              <a:ext cx="1008900" cy="781812"/>
            </a:xfrm>
            <a:prstGeom prst="rect">
              <a:avLst/>
            </a:prstGeom>
          </p:spPr>
        </p:pic>
        <p:sp>
          <p:nvSpPr>
            <p:cNvPr id="15" name="object 15"/>
            <p:cNvSpPr/>
            <p:nvPr/>
          </p:nvSpPr>
          <p:spPr>
            <a:xfrm>
              <a:off x="3185795" y="3868293"/>
              <a:ext cx="757555" cy="531495"/>
            </a:xfrm>
            <a:custGeom>
              <a:avLst/>
              <a:gdLst/>
              <a:ahLst/>
              <a:cxnLst/>
              <a:rect l="l" t="t" r="r" b="b"/>
              <a:pathLst>
                <a:path w="757554" h="531495">
                  <a:moveTo>
                    <a:pt x="596010" y="480821"/>
                  </a:moveTo>
                  <a:lnTo>
                    <a:pt x="588476" y="481744"/>
                  </a:lnTo>
                  <a:lnTo>
                    <a:pt x="582120" y="485352"/>
                  </a:lnTo>
                  <a:lnTo>
                    <a:pt x="577597" y="491080"/>
                  </a:lnTo>
                  <a:lnTo>
                    <a:pt x="575564" y="498360"/>
                  </a:lnTo>
                  <a:lnTo>
                    <a:pt x="576445" y="505868"/>
                  </a:lnTo>
                  <a:lnTo>
                    <a:pt x="580040" y="512217"/>
                  </a:lnTo>
                  <a:lnTo>
                    <a:pt x="585779" y="516750"/>
                  </a:lnTo>
                  <a:lnTo>
                    <a:pt x="593090" y="518807"/>
                  </a:lnTo>
                  <a:lnTo>
                    <a:pt x="757555" y="531393"/>
                  </a:lnTo>
                  <a:lnTo>
                    <a:pt x="754836" y="525589"/>
                  </a:lnTo>
                  <a:lnTo>
                    <a:pt x="715644" y="525589"/>
                  </a:lnTo>
                  <a:lnTo>
                    <a:pt x="657667" y="485544"/>
                  </a:lnTo>
                  <a:lnTo>
                    <a:pt x="596010" y="480821"/>
                  </a:lnTo>
                  <a:close/>
                </a:path>
                <a:path w="757554" h="531495">
                  <a:moveTo>
                    <a:pt x="657667" y="485544"/>
                  </a:moveTo>
                  <a:lnTo>
                    <a:pt x="715644" y="525589"/>
                  </a:lnTo>
                  <a:lnTo>
                    <a:pt x="720874" y="517994"/>
                  </a:lnTo>
                  <a:lnTo>
                    <a:pt x="709168" y="517994"/>
                  </a:lnTo>
                  <a:lnTo>
                    <a:pt x="695316" y="488427"/>
                  </a:lnTo>
                  <a:lnTo>
                    <a:pt x="657667" y="485544"/>
                  </a:lnTo>
                  <a:close/>
                </a:path>
                <a:path w="757554" h="531495">
                  <a:moveTo>
                    <a:pt x="669522" y="371046"/>
                  </a:moveTo>
                  <a:lnTo>
                    <a:pt x="662178" y="372833"/>
                  </a:lnTo>
                  <a:lnTo>
                    <a:pt x="656105" y="377339"/>
                  </a:lnTo>
                  <a:lnTo>
                    <a:pt x="652367" y="383606"/>
                  </a:lnTo>
                  <a:lnTo>
                    <a:pt x="651248" y="390821"/>
                  </a:lnTo>
                  <a:lnTo>
                    <a:pt x="653033" y="398170"/>
                  </a:lnTo>
                  <a:lnTo>
                    <a:pt x="679289" y="454215"/>
                  </a:lnTo>
                  <a:lnTo>
                    <a:pt x="737234" y="494233"/>
                  </a:lnTo>
                  <a:lnTo>
                    <a:pt x="715644" y="525589"/>
                  </a:lnTo>
                  <a:lnTo>
                    <a:pt x="754836" y="525589"/>
                  </a:lnTo>
                  <a:lnTo>
                    <a:pt x="687578" y="382003"/>
                  </a:lnTo>
                  <a:lnTo>
                    <a:pt x="683019" y="375925"/>
                  </a:lnTo>
                  <a:lnTo>
                    <a:pt x="676735" y="372175"/>
                  </a:lnTo>
                  <a:lnTo>
                    <a:pt x="669522" y="371046"/>
                  </a:lnTo>
                  <a:close/>
                </a:path>
                <a:path w="757554" h="531495">
                  <a:moveTo>
                    <a:pt x="695316" y="488427"/>
                  </a:moveTo>
                  <a:lnTo>
                    <a:pt x="709168" y="517994"/>
                  </a:lnTo>
                  <a:lnTo>
                    <a:pt x="727725" y="491080"/>
                  </a:lnTo>
                  <a:lnTo>
                    <a:pt x="727837" y="490918"/>
                  </a:lnTo>
                  <a:lnTo>
                    <a:pt x="695316" y="488427"/>
                  </a:lnTo>
                  <a:close/>
                </a:path>
                <a:path w="757554" h="531495">
                  <a:moveTo>
                    <a:pt x="679289" y="454215"/>
                  </a:moveTo>
                  <a:lnTo>
                    <a:pt x="695316" y="488427"/>
                  </a:lnTo>
                  <a:lnTo>
                    <a:pt x="727837" y="490918"/>
                  </a:lnTo>
                  <a:lnTo>
                    <a:pt x="709168" y="517994"/>
                  </a:lnTo>
                  <a:lnTo>
                    <a:pt x="720874" y="517994"/>
                  </a:lnTo>
                  <a:lnTo>
                    <a:pt x="737234" y="494233"/>
                  </a:lnTo>
                  <a:lnTo>
                    <a:pt x="679289" y="454215"/>
                  </a:lnTo>
                  <a:close/>
                </a:path>
                <a:path w="757554" h="531495">
                  <a:moveTo>
                    <a:pt x="21590" y="0"/>
                  </a:moveTo>
                  <a:lnTo>
                    <a:pt x="0" y="31292"/>
                  </a:lnTo>
                  <a:lnTo>
                    <a:pt x="657667" y="485544"/>
                  </a:lnTo>
                  <a:lnTo>
                    <a:pt x="695316" y="488427"/>
                  </a:lnTo>
                  <a:lnTo>
                    <a:pt x="679289" y="454215"/>
                  </a:lnTo>
                  <a:lnTo>
                    <a:pt x="21590" y="0"/>
                  </a:lnTo>
                  <a:close/>
                </a:path>
              </a:pathLst>
            </a:custGeom>
            <a:solidFill>
              <a:srgbClr val="00C3FF"/>
            </a:solidFill>
          </p:spPr>
          <p:txBody>
            <a:bodyPr wrap="square" lIns="0" tIns="0" rIns="0" bIns="0" rtlCol="0"/>
            <a:lstStyle/>
            <a:p>
              <a:endParaRPr sz="2400"/>
            </a:p>
          </p:txBody>
        </p:sp>
        <p:pic>
          <p:nvPicPr>
            <p:cNvPr id="16" name="object 16"/>
            <p:cNvPicPr/>
            <p:nvPr/>
          </p:nvPicPr>
          <p:blipFill>
            <a:blip r:embed="rId4" cstate="print"/>
            <a:stretch>
              <a:fillRect/>
            </a:stretch>
          </p:blipFill>
          <p:spPr>
            <a:xfrm>
              <a:off x="5143002" y="2619475"/>
              <a:ext cx="413931" cy="415500"/>
            </a:xfrm>
            <a:prstGeom prst="rect">
              <a:avLst/>
            </a:prstGeom>
          </p:spPr>
        </p:pic>
        <p:pic>
          <p:nvPicPr>
            <p:cNvPr id="17" name="object 17"/>
            <p:cNvPicPr/>
            <p:nvPr/>
          </p:nvPicPr>
          <p:blipFill>
            <a:blip r:embed="rId5" cstate="print"/>
            <a:stretch>
              <a:fillRect/>
            </a:stretch>
          </p:blipFill>
          <p:spPr>
            <a:xfrm>
              <a:off x="3144012" y="2698991"/>
              <a:ext cx="1007376" cy="707148"/>
            </a:xfrm>
            <a:prstGeom prst="rect">
              <a:avLst/>
            </a:prstGeom>
          </p:spPr>
        </p:pic>
        <p:sp>
          <p:nvSpPr>
            <p:cNvPr id="18" name="object 18"/>
            <p:cNvSpPr/>
            <p:nvPr/>
          </p:nvSpPr>
          <p:spPr>
            <a:xfrm>
              <a:off x="3186938" y="2888742"/>
              <a:ext cx="756920" cy="455930"/>
            </a:xfrm>
            <a:custGeom>
              <a:avLst/>
              <a:gdLst/>
              <a:ahLst/>
              <a:cxnLst/>
              <a:rect l="l" t="t" r="r" b="b"/>
              <a:pathLst>
                <a:path w="756920" h="455929">
                  <a:moveTo>
                    <a:pt x="714121" y="2666"/>
                  </a:moveTo>
                  <a:lnTo>
                    <a:pt x="0" y="422909"/>
                  </a:lnTo>
                  <a:lnTo>
                    <a:pt x="19304" y="455675"/>
                  </a:lnTo>
                  <a:lnTo>
                    <a:pt x="672782" y="71236"/>
                  </a:lnTo>
                  <a:lnTo>
                    <a:pt x="707263" y="9778"/>
                  </a:lnTo>
                  <a:lnTo>
                    <a:pt x="718294" y="9778"/>
                  </a:lnTo>
                  <a:lnTo>
                    <a:pt x="714121" y="2666"/>
                  </a:lnTo>
                  <a:close/>
                </a:path>
                <a:path w="756920" h="455929">
                  <a:moveTo>
                    <a:pt x="754917" y="2666"/>
                  </a:moveTo>
                  <a:lnTo>
                    <a:pt x="714121" y="2666"/>
                  </a:lnTo>
                  <a:lnTo>
                    <a:pt x="733425" y="35559"/>
                  </a:lnTo>
                  <a:lnTo>
                    <a:pt x="672782" y="71236"/>
                  </a:lnTo>
                  <a:lnTo>
                    <a:pt x="642492" y="125221"/>
                  </a:lnTo>
                  <a:lnTo>
                    <a:pt x="640197" y="132413"/>
                  </a:lnTo>
                  <a:lnTo>
                    <a:pt x="640794" y="139700"/>
                  </a:lnTo>
                  <a:lnTo>
                    <a:pt x="644082" y="146224"/>
                  </a:lnTo>
                  <a:lnTo>
                    <a:pt x="649859" y="151130"/>
                  </a:lnTo>
                  <a:lnTo>
                    <a:pt x="657032" y="153481"/>
                  </a:lnTo>
                  <a:lnTo>
                    <a:pt x="664289" y="152892"/>
                  </a:lnTo>
                  <a:lnTo>
                    <a:pt x="670808" y="149611"/>
                  </a:lnTo>
                  <a:lnTo>
                    <a:pt x="675766" y="143890"/>
                  </a:lnTo>
                  <a:lnTo>
                    <a:pt x="754917" y="2666"/>
                  </a:lnTo>
                  <a:close/>
                </a:path>
                <a:path w="756920" h="455929">
                  <a:moveTo>
                    <a:pt x="707263" y="9778"/>
                  </a:moveTo>
                  <a:lnTo>
                    <a:pt x="672782" y="71236"/>
                  </a:lnTo>
                  <a:lnTo>
                    <a:pt x="728546" y="38430"/>
                  </a:lnTo>
                  <a:lnTo>
                    <a:pt x="724018" y="38430"/>
                  </a:lnTo>
                  <a:lnTo>
                    <a:pt x="707263" y="9778"/>
                  </a:lnTo>
                  <a:close/>
                </a:path>
                <a:path w="756920" h="455929">
                  <a:moveTo>
                    <a:pt x="756412" y="0"/>
                  </a:moveTo>
                  <a:lnTo>
                    <a:pt x="591438" y="507"/>
                  </a:lnTo>
                  <a:lnTo>
                    <a:pt x="572388" y="19684"/>
                  </a:lnTo>
                  <a:lnTo>
                    <a:pt x="573956" y="27106"/>
                  </a:lnTo>
                  <a:lnTo>
                    <a:pt x="578072" y="33146"/>
                  </a:lnTo>
                  <a:lnTo>
                    <a:pt x="584140" y="37187"/>
                  </a:lnTo>
                  <a:lnTo>
                    <a:pt x="591565" y="38607"/>
                  </a:lnTo>
                  <a:lnTo>
                    <a:pt x="653348" y="38430"/>
                  </a:lnTo>
                  <a:lnTo>
                    <a:pt x="714121" y="2666"/>
                  </a:lnTo>
                  <a:lnTo>
                    <a:pt x="754917" y="2666"/>
                  </a:lnTo>
                  <a:lnTo>
                    <a:pt x="756412" y="0"/>
                  </a:lnTo>
                  <a:close/>
                </a:path>
                <a:path w="756920" h="455929">
                  <a:moveTo>
                    <a:pt x="718294" y="9778"/>
                  </a:moveTo>
                  <a:lnTo>
                    <a:pt x="707263" y="9778"/>
                  </a:lnTo>
                  <a:lnTo>
                    <a:pt x="724018" y="38430"/>
                  </a:lnTo>
                  <a:lnTo>
                    <a:pt x="728546" y="38430"/>
                  </a:lnTo>
                  <a:lnTo>
                    <a:pt x="733425" y="35559"/>
                  </a:lnTo>
                  <a:lnTo>
                    <a:pt x="718294" y="9778"/>
                  </a:lnTo>
                  <a:close/>
                </a:path>
              </a:pathLst>
            </a:custGeom>
            <a:solidFill>
              <a:srgbClr val="00C3FF"/>
            </a:solidFill>
          </p:spPr>
          <p:txBody>
            <a:bodyPr wrap="square" lIns="0" tIns="0" rIns="0" bIns="0" rtlCol="0"/>
            <a:lstStyle/>
            <a:p>
              <a:endParaRPr sz="2400"/>
            </a:p>
          </p:txBody>
        </p:sp>
        <p:pic>
          <p:nvPicPr>
            <p:cNvPr id="19" name="object 19"/>
            <p:cNvPicPr/>
            <p:nvPr/>
          </p:nvPicPr>
          <p:blipFill>
            <a:blip r:embed="rId6" cstate="print"/>
            <a:stretch>
              <a:fillRect/>
            </a:stretch>
          </p:blipFill>
          <p:spPr>
            <a:xfrm>
              <a:off x="3284220" y="3413709"/>
              <a:ext cx="928115" cy="420674"/>
            </a:xfrm>
            <a:prstGeom prst="rect">
              <a:avLst/>
            </a:prstGeom>
          </p:spPr>
        </p:pic>
        <p:sp>
          <p:nvSpPr>
            <p:cNvPr id="20" name="object 20"/>
            <p:cNvSpPr/>
            <p:nvPr/>
          </p:nvSpPr>
          <p:spPr>
            <a:xfrm>
              <a:off x="3327654" y="3518302"/>
              <a:ext cx="676910" cy="171450"/>
            </a:xfrm>
            <a:custGeom>
              <a:avLst/>
              <a:gdLst/>
              <a:ahLst/>
              <a:cxnLst/>
              <a:rect l="l" t="t" r="r" b="b"/>
              <a:pathLst>
                <a:path w="676910" h="171450">
                  <a:moveTo>
                    <a:pt x="643936" y="66272"/>
                  </a:moveTo>
                  <a:lnTo>
                    <a:pt x="638683" y="66272"/>
                  </a:lnTo>
                  <a:lnTo>
                    <a:pt x="638810" y="104372"/>
                  </a:lnTo>
                  <a:lnTo>
                    <a:pt x="568325" y="104540"/>
                  </a:lnTo>
                  <a:lnTo>
                    <a:pt x="514985" y="135868"/>
                  </a:lnTo>
                  <a:lnTo>
                    <a:pt x="509379" y="140846"/>
                  </a:lnTo>
                  <a:lnTo>
                    <a:pt x="506237" y="147409"/>
                  </a:lnTo>
                  <a:lnTo>
                    <a:pt x="505787" y="154709"/>
                  </a:lnTo>
                  <a:lnTo>
                    <a:pt x="508254" y="161903"/>
                  </a:lnTo>
                  <a:lnTo>
                    <a:pt x="513286" y="167509"/>
                  </a:lnTo>
                  <a:lnTo>
                    <a:pt x="519842" y="170650"/>
                  </a:lnTo>
                  <a:lnTo>
                    <a:pt x="527113" y="171100"/>
                  </a:lnTo>
                  <a:lnTo>
                    <a:pt x="534288" y="168634"/>
                  </a:lnTo>
                  <a:lnTo>
                    <a:pt x="676529" y="85195"/>
                  </a:lnTo>
                  <a:lnTo>
                    <a:pt x="643936" y="66272"/>
                  </a:lnTo>
                  <a:close/>
                </a:path>
                <a:path w="676910" h="171450">
                  <a:moveTo>
                    <a:pt x="568347" y="66440"/>
                  </a:moveTo>
                  <a:lnTo>
                    <a:pt x="0" y="67796"/>
                  </a:lnTo>
                  <a:lnTo>
                    <a:pt x="0" y="105896"/>
                  </a:lnTo>
                  <a:lnTo>
                    <a:pt x="568325" y="104540"/>
                  </a:lnTo>
                  <a:lnTo>
                    <a:pt x="601011" y="85343"/>
                  </a:lnTo>
                  <a:lnTo>
                    <a:pt x="568347" y="66440"/>
                  </a:lnTo>
                  <a:close/>
                </a:path>
                <a:path w="676910" h="171450">
                  <a:moveTo>
                    <a:pt x="601011" y="85343"/>
                  </a:moveTo>
                  <a:lnTo>
                    <a:pt x="568325" y="104540"/>
                  </a:lnTo>
                  <a:lnTo>
                    <a:pt x="638810" y="104372"/>
                  </a:lnTo>
                  <a:lnTo>
                    <a:pt x="638801" y="101705"/>
                  </a:lnTo>
                  <a:lnTo>
                    <a:pt x="629285" y="101705"/>
                  </a:lnTo>
                  <a:lnTo>
                    <a:pt x="601011" y="85343"/>
                  </a:lnTo>
                  <a:close/>
                </a:path>
                <a:path w="676910" h="171450">
                  <a:moveTo>
                    <a:pt x="629158" y="68812"/>
                  </a:moveTo>
                  <a:lnTo>
                    <a:pt x="601011" y="85343"/>
                  </a:lnTo>
                  <a:lnTo>
                    <a:pt x="629285" y="101705"/>
                  </a:lnTo>
                  <a:lnTo>
                    <a:pt x="629158" y="68812"/>
                  </a:lnTo>
                  <a:close/>
                </a:path>
                <a:path w="676910" h="171450">
                  <a:moveTo>
                    <a:pt x="638691" y="68812"/>
                  </a:moveTo>
                  <a:lnTo>
                    <a:pt x="629158" y="68812"/>
                  </a:lnTo>
                  <a:lnTo>
                    <a:pt x="629285" y="101705"/>
                  </a:lnTo>
                  <a:lnTo>
                    <a:pt x="638801" y="101705"/>
                  </a:lnTo>
                  <a:lnTo>
                    <a:pt x="638691" y="68812"/>
                  </a:lnTo>
                  <a:close/>
                </a:path>
                <a:path w="676910" h="171450">
                  <a:moveTo>
                    <a:pt x="638683" y="66272"/>
                  </a:moveTo>
                  <a:lnTo>
                    <a:pt x="568347" y="66440"/>
                  </a:lnTo>
                  <a:lnTo>
                    <a:pt x="601011" y="85343"/>
                  </a:lnTo>
                  <a:lnTo>
                    <a:pt x="629158" y="68812"/>
                  </a:lnTo>
                  <a:lnTo>
                    <a:pt x="638691" y="68812"/>
                  </a:lnTo>
                  <a:lnTo>
                    <a:pt x="638683" y="66272"/>
                  </a:lnTo>
                  <a:close/>
                </a:path>
                <a:path w="676910" h="171450">
                  <a:moveTo>
                    <a:pt x="526714" y="0"/>
                  </a:moveTo>
                  <a:lnTo>
                    <a:pt x="519414" y="502"/>
                  </a:lnTo>
                  <a:lnTo>
                    <a:pt x="512851" y="3694"/>
                  </a:lnTo>
                  <a:lnTo>
                    <a:pt x="507873" y="9376"/>
                  </a:lnTo>
                  <a:lnTo>
                    <a:pt x="505426" y="16498"/>
                  </a:lnTo>
                  <a:lnTo>
                    <a:pt x="505920" y="23774"/>
                  </a:lnTo>
                  <a:lnTo>
                    <a:pt x="509105" y="30360"/>
                  </a:lnTo>
                  <a:lnTo>
                    <a:pt x="514731" y="35411"/>
                  </a:lnTo>
                  <a:lnTo>
                    <a:pt x="568347" y="66440"/>
                  </a:lnTo>
                  <a:lnTo>
                    <a:pt x="643936" y="66272"/>
                  </a:lnTo>
                  <a:lnTo>
                    <a:pt x="533908" y="2391"/>
                  </a:lnTo>
                  <a:lnTo>
                    <a:pt x="526714" y="0"/>
                  </a:lnTo>
                  <a:close/>
                </a:path>
              </a:pathLst>
            </a:custGeom>
            <a:solidFill>
              <a:srgbClr val="00C3FF"/>
            </a:solidFill>
          </p:spPr>
          <p:txBody>
            <a:bodyPr wrap="square" lIns="0" tIns="0" rIns="0" bIns="0" rtlCol="0"/>
            <a:lstStyle/>
            <a:p>
              <a:endParaRPr sz="2400"/>
            </a:p>
          </p:txBody>
        </p:sp>
        <p:sp>
          <p:nvSpPr>
            <p:cNvPr id="21" name="object 21"/>
            <p:cNvSpPr/>
            <p:nvPr/>
          </p:nvSpPr>
          <p:spPr>
            <a:xfrm>
              <a:off x="4106951" y="2690787"/>
              <a:ext cx="393700" cy="1848485"/>
            </a:xfrm>
            <a:custGeom>
              <a:avLst/>
              <a:gdLst/>
              <a:ahLst/>
              <a:cxnLst/>
              <a:rect l="l" t="t" r="r" b="b"/>
              <a:pathLst>
                <a:path w="393700" h="1848485">
                  <a:moveTo>
                    <a:pt x="129578" y="177203"/>
                  </a:moveTo>
                  <a:lnTo>
                    <a:pt x="121145" y="177203"/>
                  </a:lnTo>
                  <a:lnTo>
                    <a:pt x="121145" y="185648"/>
                  </a:lnTo>
                  <a:lnTo>
                    <a:pt x="121145" y="233172"/>
                  </a:lnTo>
                  <a:lnTo>
                    <a:pt x="36385" y="233172"/>
                  </a:lnTo>
                  <a:lnTo>
                    <a:pt x="36385" y="185648"/>
                  </a:lnTo>
                  <a:lnTo>
                    <a:pt x="121145" y="185648"/>
                  </a:lnTo>
                  <a:lnTo>
                    <a:pt x="121145" y="177203"/>
                  </a:lnTo>
                  <a:lnTo>
                    <a:pt x="27952" y="177203"/>
                  </a:lnTo>
                  <a:lnTo>
                    <a:pt x="27952" y="241617"/>
                  </a:lnTo>
                  <a:lnTo>
                    <a:pt x="129578" y="241617"/>
                  </a:lnTo>
                  <a:lnTo>
                    <a:pt x="129578" y="237388"/>
                  </a:lnTo>
                  <a:lnTo>
                    <a:pt x="129578" y="233172"/>
                  </a:lnTo>
                  <a:lnTo>
                    <a:pt x="129578" y="185648"/>
                  </a:lnTo>
                  <a:lnTo>
                    <a:pt x="129578" y="181432"/>
                  </a:lnTo>
                  <a:lnTo>
                    <a:pt x="129578" y="177203"/>
                  </a:lnTo>
                  <a:close/>
                </a:path>
                <a:path w="393700" h="1848485">
                  <a:moveTo>
                    <a:pt x="129578" y="102590"/>
                  </a:moveTo>
                  <a:lnTo>
                    <a:pt x="121145" y="102590"/>
                  </a:lnTo>
                  <a:lnTo>
                    <a:pt x="121145" y="111036"/>
                  </a:lnTo>
                  <a:lnTo>
                    <a:pt x="121145" y="158559"/>
                  </a:lnTo>
                  <a:lnTo>
                    <a:pt x="36385" y="158559"/>
                  </a:lnTo>
                  <a:lnTo>
                    <a:pt x="36385" y="111036"/>
                  </a:lnTo>
                  <a:lnTo>
                    <a:pt x="121145" y="111036"/>
                  </a:lnTo>
                  <a:lnTo>
                    <a:pt x="121145" y="102590"/>
                  </a:lnTo>
                  <a:lnTo>
                    <a:pt x="27952" y="102590"/>
                  </a:lnTo>
                  <a:lnTo>
                    <a:pt x="27952" y="167005"/>
                  </a:lnTo>
                  <a:lnTo>
                    <a:pt x="129578" y="167005"/>
                  </a:lnTo>
                  <a:lnTo>
                    <a:pt x="129578" y="162775"/>
                  </a:lnTo>
                  <a:lnTo>
                    <a:pt x="129578" y="158559"/>
                  </a:lnTo>
                  <a:lnTo>
                    <a:pt x="129578" y="111036"/>
                  </a:lnTo>
                  <a:lnTo>
                    <a:pt x="129578" y="106819"/>
                  </a:lnTo>
                  <a:lnTo>
                    <a:pt x="129578" y="102590"/>
                  </a:lnTo>
                  <a:close/>
                </a:path>
                <a:path w="393700" h="1848485">
                  <a:moveTo>
                    <a:pt x="129578" y="27978"/>
                  </a:moveTo>
                  <a:lnTo>
                    <a:pt x="121145" y="27978"/>
                  </a:lnTo>
                  <a:lnTo>
                    <a:pt x="121145" y="36423"/>
                  </a:lnTo>
                  <a:lnTo>
                    <a:pt x="121145" y="83934"/>
                  </a:lnTo>
                  <a:lnTo>
                    <a:pt x="36385" y="83934"/>
                  </a:lnTo>
                  <a:lnTo>
                    <a:pt x="36385" y="36423"/>
                  </a:lnTo>
                  <a:lnTo>
                    <a:pt x="121145" y="36423"/>
                  </a:lnTo>
                  <a:lnTo>
                    <a:pt x="121145" y="27978"/>
                  </a:lnTo>
                  <a:lnTo>
                    <a:pt x="27952" y="27978"/>
                  </a:lnTo>
                  <a:lnTo>
                    <a:pt x="27952" y="92379"/>
                  </a:lnTo>
                  <a:lnTo>
                    <a:pt x="129578" y="92379"/>
                  </a:lnTo>
                  <a:lnTo>
                    <a:pt x="129578" y="88163"/>
                  </a:lnTo>
                  <a:lnTo>
                    <a:pt x="129578" y="83934"/>
                  </a:lnTo>
                  <a:lnTo>
                    <a:pt x="129578" y="36423"/>
                  </a:lnTo>
                  <a:lnTo>
                    <a:pt x="129578" y="32207"/>
                  </a:lnTo>
                  <a:lnTo>
                    <a:pt x="129578" y="27978"/>
                  </a:lnTo>
                  <a:close/>
                </a:path>
                <a:path w="393700" h="1848485">
                  <a:moveTo>
                    <a:pt x="139280" y="929449"/>
                  </a:moveTo>
                  <a:lnTo>
                    <a:pt x="130822" y="929449"/>
                  </a:lnTo>
                  <a:lnTo>
                    <a:pt x="130822" y="937920"/>
                  </a:lnTo>
                  <a:lnTo>
                    <a:pt x="130822" y="985596"/>
                  </a:lnTo>
                  <a:lnTo>
                    <a:pt x="45783" y="985596"/>
                  </a:lnTo>
                  <a:lnTo>
                    <a:pt x="45783" y="937920"/>
                  </a:lnTo>
                  <a:lnTo>
                    <a:pt x="130822" y="937920"/>
                  </a:lnTo>
                  <a:lnTo>
                    <a:pt x="130822" y="929449"/>
                  </a:lnTo>
                  <a:lnTo>
                    <a:pt x="37312" y="929449"/>
                  </a:lnTo>
                  <a:lnTo>
                    <a:pt x="37312" y="994067"/>
                  </a:lnTo>
                  <a:lnTo>
                    <a:pt x="139280" y="994067"/>
                  </a:lnTo>
                  <a:lnTo>
                    <a:pt x="139280" y="989838"/>
                  </a:lnTo>
                  <a:lnTo>
                    <a:pt x="139280" y="985596"/>
                  </a:lnTo>
                  <a:lnTo>
                    <a:pt x="139280" y="937920"/>
                  </a:lnTo>
                  <a:lnTo>
                    <a:pt x="139280" y="933691"/>
                  </a:lnTo>
                  <a:lnTo>
                    <a:pt x="139280" y="929449"/>
                  </a:lnTo>
                  <a:close/>
                </a:path>
                <a:path w="393700" h="1848485">
                  <a:moveTo>
                    <a:pt x="139280" y="854583"/>
                  </a:moveTo>
                  <a:lnTo>
                    <a:pt x="130822" y="854583"/>
                  </a:lnTo>
                  <a:lnTo>
                    <a:pt x="130822" y="863053"/>
                  </a:lnTo>
                  <a:lnTo>
                    <a:pt x="130822" y="910729"/>
                  </a:lnTo>
                  <a:lnTo>
                    <a:pt x="45783" y="910729"/>
                  </a:lnTo>
                  <a:lnTo>
                    <a:pt x="45783" y="863053"/>
                  </a:lnTo>
                  <a:lnTo>
                    <a:pt x="130822" y="863053"/>
                  </a:lnTo>
                  <a:lnTo>
                    <a:pt x="130822" y="854583"/>
                  </a:lnTo>
                  <a:lnTo>
                    <a:pt x="37312" y="854583"/>
                  </a:lnTo>
                  <a:lnTo>
                    <a:pt x="37312" y="919200"/>
                  </a:lnTo>
                  <a:lnTo>
                    <a:pt x="139280" y="919200"/>
                  </a:lnTo>
                  <a:lnTo>
                    <a:pt x="139280" y="914971"/>
                  </a:lnTo>
                  <a:lnTo>
                    <a:pt x="139280" y="910729"/>
                  </a:lnTo>
                  <a:lnTo>
                    <a:pt x="139280" y="863053"/>
                  </a:lnTo>
                  <a:lnTo>
                    <a:pt x="139280" y="858824"/>
                  </a:lnTo>
                  <a:lnTo>
                    <a:pt x="139280" y="854583"/>
                  </a:lnTo>
                  <a:close/>
                </a:path>
                <a:path w="393700" h="1848485">
                  <a:moveTo>
                    <a:pt x="139280" y="779716"/>
                  </a:moveTo>
                  <a:lnTo>
                    <a:pt x="130822" y="779716"/>
                  </a:lnTo>
                  <a:lnTo>
                    <a:pt x="130822" y="788187"/>
                  </a:lnTo>
                  <a:lnTo>
                    <a:pt x="130822" y="835863"/>
                  </a:lnTo>
                  <a:lnTo>
                    <a:pt x="45783" y="835863"/>
                  </a:lnTo>
                  <a:lnTo>
                    <a:pt x="45783" y="788187"/>
                  </a:lnTo>
                  <a:lnTo>
                    <a:pt x="130822" y="788187"/>
                  </a:lnTo>
                  <a:lnTo>
                    <a:pt x="130822" y="779716"/>
                  </a:lnTo>
                  <a:lnTo>
                    <a:pt x="37312" y="779716"/>
                  </a:lnTo>
                  <a:lnTo>
                    <a:pt x="37312" y="844334"/>
                  </a:lnTo>
                  <a:lnTo>
                    <a:pt x="139280" y="844334"/>
                  </a:lnTo>
                  <a:lnTo>
                    <a:pt x="139280" y="840105"/>
                  </a:lnTo>
                  <a:lnTo>
                    <a:pt x="139280" y="835863"/>
                  </a:lnTo>
                  <a:lnTo>
                    <a:pt x="139280" y="788187"/>
                  </a:lnTo>
                  <a:lnTo>
                    <a:pt x="139280" y="783958"/>
                  </a:lnTo>
                  <a:lnTo>
                    <a:pt x="139280" y="779716"/>
                  </a:lnTo>
                  <a:close/>
                </a:path>
                <a:path w="393700" h="1848485">
                  <a:moveTo>
                    <a:pt x="140804" y="1755457"/>
                  </a:moveTo>
                  <a:lnTo>
                    <a:pt x="132346" y="1755457"/>
                  </a:lnTo>
                  <a:lnTo>
                    <a:pt x="132346" y="1763928"/>
                  </a:lnTo>
                  <a:lnTo>
                    <a:pt x="132346" y="1811604"/>
                  </a:lnTo>
                  <a:lnTo>
                    <a:pt x="47307" y="1811604"/>
                  </a:lnTo>
                  <a:lnTo>
                    <a:pt x="47307" y="1763928"/>
                  </a:lnTo>
                  <a:lnTo>
                    <a:pt x="132346" y="1763928"/>
                  </a:lnTo>
                  <a:lnTo>
                    <a:pt x="132346" y="1755457"/>
                  </a:lnTo>
                  <a:lnTo>
                    <a:pt x="38836" y="1755457"/>
                  </a:lnTo>
                  <a:lnTo>
                    <a:pt x="38836" y="1820075"/>
                  </a:lnTo>
                  <a:lnTo>
                    <a:pt x="140804" y="1820075"/>
                  </a:lnTo>
                  <a:lnTo>
                    <a:pt x="140804" y="1815846"/>
                  </a:lnTo>
                  <a:lnTo>
                    <a:pt x="140804" y="1811604"/>
                  </a:lnTo>
                  <a:lnTo>
                    <a:pt x="140804" y="1763928"/>
                  </a:lnTo>
                  <a:lnTo>
                    <a:pt x="140804" y="1759699"/>
                  </a:lnTo>
                  <a:lnTo>
                    <a:pt x="140804" y="1755457"/>
                  </a:lnTo>
                  <a:close/>
                </a:path>
                <a:path w="393700" h="1848485">
                  <a:moveTo>
                    <a:pt x="140804" y="1680591"/>
                  </a:moveTo>
                  <a:lnTo>
                    <a:pt x="132346" y="1680591"/>
                  </a:lnTo>
                  <a:lnTo>
                    <a:pt x="132346" y="1689061"/>
                  </a:lnTo>
                  <a:lnTo>
                    <a:pt x="132346" y="1736737"/>
                  </a:lnTo>
                  <a:lnTo>
                    <a:pt x="47307" y="1736737"/>
                  </a:lnTo>
                  <a:lnTo>
                    <a:pt x="47307" y="1689061"/>
                  </a:lnTo>
                  <a:lnTo>
                    <a:pt x="132346" y="1689061"/>
                  </a:lnTo>
                  <a:lnTo>
                    <a:pt x="132346" y="1680591"/>
                  </a:lnTo>
                  <a:lnTo>
                    <a:pt x="38836" y="1680591"/>
                  </a:lnTo>
                  <a:lnTo>
                    <a:pt x="38836" y="1745208"/>
                  </a:lnTo>
                  <a:lnTo>
                    <a:pt x="140804" y="1745208"/>
                  </a:lnTo>
                  <a:lnTo>
                    <a:pt x="140804" y="1740979"/>
                  </a:lnTo>
                  <a:lnTo>
                    <a:pt x="140804" y="1736737"/>
                  </a:lnTo>
                  <a:lnTo>
                    <a:pt x="140804" y="1689061"/>
                  </a:lnTo>
                  <a:lnTo>
                    <a:pt x="140804" y="1684832"/>
                  </a:lnTo>
                  <a:lnTo>
                    <a:pt x="140804" y="1680591"/>
                  </a:lnTo>
                  <a:close/>
                </a:path>
                <a:path w="393700" h="1848485">
                  <a:moveTo>
                    <a:pt x="140804" y="1605724"/>
                  </a:moveTo>
                  <a:lnTo>
                    <a:pt x="132346" y="1605724"/>
                  </a:lnTo>
                  <a:lnTo>
                    <a:pt x="132346" y="1614195"/>
                  </a:lnTo>
                  <a:lnTo>
                    <a:pt x="132346" y="1661871"/>
                  </a:lnTo>
                  <a:lnTo>
                    <a:pt x="47307" y="1661871"/>
                  </a:lnTo>
                  <a:lnTo>
                    <a:pt x="47307" y="1614195"/>
                  </a:lnTo>
                  <a:lnTo>
                    <a:pt x="132346" y="1614195"/>
                  </a:lnTo>
                  <a:lnTo>
                    <a:pt x="132346" y="1605724"/>
                  </a:lnTo>
                  <a:lnTo>
                    <a:pt x="38836" y="1605724"/>
                  </a:lnTo>
                  <a:lnTo>
                    <a:pt x="38836" y="1670342"/>
                  </a:lnTo>
                  <a:lnTo>
                    <a:pt x="140804" y="1670342"/>
                  </a:lnTo>
                  <a:lnTo>
                    <a:pt x="140804" y="1666113"/>
                  </a:lnTo>
                  <a:lnTo>
                    <a:pt x="140804" y="1661871"/>
                  </a:lnTo>
                  <a:lnTo>
                    <a:pt x="140804" y="1614195"/>
                  </a:lnTo>
                  <a:lnTo>
                    <a:pt x="140804" y="1609966"/>
                  </a:lnTo>
                  <a:lnTo>
                    <a:pt x="140804" y="1605724"/>
                  </a:lnTo>
                  <a:close/>
                </a:path>
                <a:path w="393700" h="1848485">
                  <a:moveTo>
                    <a:pt x="241401" y="177203"/>
                  </a:moveTo>
                  <a:lnTo>
                    <a:pt x="232968" y="177203"/>
                  </a:lnTo>
                  <a:lnTo>
                    <a:pt x="232968" y="185648"/>
                  </a:lnTo>
                  <a:lnTo>
                    <a:pt x="232968" y="233172"/>
                  </a:lnTo>
                  <a:lnTo>
                    <a:pt x="148221" y="233172"/>
                  </a:lnTo>
                  <a:lnTo>
                    <a:pt x="148221" y="185648"/>
                  </a:lnTo>
                  <a:lnTo>
                    <a:pt x="232968" y="185648"/>
                  </a:lnTo>
                  <a:lnTo>
                    <a:pt x="232968" y="177203"/>
                  </a:lnTo>
                  <a:lnTo>
                    <a:pt x="139776" y="177203"/>
                  </a:lnTo>
                  <a:lnTo>
                    <a:pt x="139776" y="241617"/>
                  </a:lnTo>
                  <a:lnTo>
                    <a:pt x="241401" y="241617"/>
                  </a:lnTo>
                  <a:lnTo>
                    <a:pt x="241401" y="237388"/>
                  </a:lnTo>
                  <a:lnTo>
                    <a:pt x="241401" y="233172"/>
                  </a:lnTo>
                  <a:lnTo>
                    <a:pt x="241401" y="185648"/>
                  </a:lnTo>
                  <a:lnTo>
                    <a:pt x="241401" y="181432"/>
                  </a:lnTo>
                  <a:lnTo>
                    <a:pt x="241401" y="177203"/>
                  </a:lnTo>
                  <a:close/>
                </a:path>
                <a:path w="393700" h="1848485">
                  <a:moveTo>
                    <a:pt x="241401" y="102590"/>
                  </a:moveTo>
                  <a:lnTo>
                    <a:pt x="232968" y="102590"/>
                  </a:lnTo>
                  <a:lnTo>
                    <a:pt x="232968" y="111036"/>
                  </a:lnTo>
                  <a:lnTo>
                    <a:pt x="232968" y="158559"/>
                  </a:lnTo>
                  <a:lnTo>
                    <a:pt x="148221" y="158559"/>
                  </a:lnTo>
                  <a:lnTo>
                    <a:pt x="148221" y="111036"/>
                  </a:lnTo>
                  <a:lnTo>
                    <a:pt x="232968" y="111036"/>
                  </a:lnTo>
                  <a:lnTo>
                    <a:pt x="232968" y="102590"/>
                  </a:lnTo>
                  <a:lnTo>
                    <a:pt x="139776" y="102590"/>
                  </a:lnTo>
                  <a:lnTo>
                    <a:pt x="139776" y="167005"/>
                  </a:lnTo>
                  <a:lnTo>
                    <a:pt x="241401" y="167005"/>
                  </a:lnTo>
                  <a:lnTo>
                    <a:pt x="241401" y="162775"/>
                  </a:lnTo>
                  <a:lnTo>
                    <a:pt x="241401" y="158559"/>
                  </a:lnTo>
                  <a:lnTo>
                    <a:pt x="241401" y="111036"/>
                  </a:lnTo>
                  <a:lnTo>
                    <a:pt x="241401" y="106819"/>
                  </a:lnTo>
                  <a:lnTo>
                    <a:pt x="241401" y="102590"/>
                  </a:lnTo>
                  <a:close/>
                </a:path>
                <a:path w="393700" h="1848485">
                  <a:moveTo>
                    <a:pt x="241401" y="27978"/>
                  </a:moveTo>
                  <a:lnTo>
                    <a:pt x="232968" y="27978"/>
                  </a:lnTo>
                  <a:lnTo>
                    <a:pt x="232968" y="36423"/>
                  </a:lnTo>
                  <a:lnTo>
                    <a:pt x="232968" y="83934"/>
                  </a:lnTo>
                  <a:lnTo>
                    <a:pt x="148221" y="83934"/>
                  </a:lnTo>
                  <a:lnTo>
                    <a:pt x="148221" y="36423"/>
                  </a:lnTo>
                  <a:lnTo>
                    <a:pt x="232968" y="36423"/>
                  </a:lnTo>
                  <a:lnTo>
                    <a:pt x="232968" y="27978"/>
                  </a:lnTo>
                  <a:lnTo>
                    <a:pt x="139776" y="27978"/>
                  </a:lnTo>
                  <a:lnTo>
                    <a:pt x="139776" y="92379"/>
                  </a:lnTo>
                  <a:lnTo>
                    <a:pt x="241401" y="92379"/>
                  </a:lnTo>
                  <a:lnTo>
                    <a:pt x="241401" y="88163"/>
                  </a:lnTo>
                  <a:lnTo>
                    <a:pt x="241401" y="83934"/>
                  </a:lnTo>
                  <a:lnTo>
                    <a:pt x="241401" y="36423"/>
                  </a:lnTo>
                  <a:lnTo>
                    <a:pt x="241401" y="32207"/>
                  </a:lnTo>
                  <a:lnTo>
                    <a:pt x="241401" y="27978"/>
                  </a:lnTo>
                  <a:close/>
                </a:path>
                <a:path w="393700" h="1848485">
                  <a:moveTo>
                    <a:pt x="251485" y="929449"/>
                  </a:moveTo>
                  <a:lnTo>
                    <a:pt x="243027" y="929449"/>
                  </a:lnTo>
                  <a:lnTo>
                    <a:pt x="243027" y="937920"/>
                  </a:lnTo>
                  <a:lnTo>
                    <a:pt x="243027" y="985596"/>
                  </a:lnTo>
                  <a:lnTo>
                    <a:pt x="157988" y="985596"/>
                  </a:lnTo>
                  <a:lnTo>
                    <a:pt x="157988" y="937920"/>
                  </a:lnTo>
                  <a:lnTo>
                    <a:pt x="243027" y="937920"/>
                  </a:lnTo>
                  <a:lnTo>
                    <a:pt x="243027" y="929449"/>
                  </a:lnTo>
                  <a:lnTo>
                    <a:pt x="149517" y="929449"/>
                  </a:lnTo>
                  <a:lnTo>
                    <a:pt x="149517" y="994067"/>
                  </a:lnTo>
                  <a:lnTo>
                    <a:pt x="251485" y="994067"/>
                  </a:lnTo>
                  <a:lnTo>
                    <a:pt x="251485" y="989838"/>
                  </a:lnTo>
                  <a:lnTo>
                    <a:pt x="251485" y="985596"/>
                  </a:lnTo>
                  <a:lnTo>
                    <a:pt x="251485" y="937920"/>
                  </a:lnTo>
                  <a:lnTo>
                    <a:pt x="251485" y="933691"/>
                  </a:lnTo>
                  <a:lnTo>
                    <a:pt x="251485" y="929449"/>
                  </a:lnTo>
                  <a:close/>
                </a:path>
                <a:path w="393700" h="1848485">
                  <a:moveTo>
                    <a:pt x="251485" y="854583"/>
                  </a:moveTo>
                  <a:lnTo>
                    <a:pt x="243027" y="854583"/>
                  </a:lnTo>
                  <a:lnTo>
                    <a:pt x="243027" y="863053"/>
                  </a:lnTo>
                  <a:lnTo>
                    <a:pt x="243027" y="910729"/>
                  </a:lnTo>
                  <a:lnTo>
                    <a:pt x="157988" y="910729"/>
                  </a:lnTo>
                  <a:lnTo>
                    <a:pt x="157988" y="863053"/>
                  </a:lnTo>
                  <a:lnTo>
                    <a:pt x="243027" y="863053"/>
                  </a:lnTo>
                  <a:lnTo>
                    <a:pt x="243027" y="854583"/>
                  </a:lnTo>
                  <a:lnTo>
                    <a:pt x="149517" y="854583"/>
                  </a:lnTo>
                  <a:lnTo>
                    <a:pt x="149517" y="919200"/>
                  </a:lnTo>
                  <a:lnTo>
                    <a:pt x="251485" y="919200"/>
                  </a:lnTo>
                  <a:lnTo>
                    <a:pt x="251485" y="914971"/>
                  </a:lnTo>
                  <a:lnTo>
                    <a:pt x="251485" y="910729"/>
                  </a:lnTo>
                  <a:lnTo>
                    <a:pt x="251485" y="863053"/>
                  </a:lnTo>
                  <a:lnTo>
                    <a:pt x="251485" y="858824"/>
                  </a:lnTo>
                  <a:lnTo>
                    <a:pt x="251485" y="854583"/>
                  </a:lnTo>
                  <a:close/>
                </a:path>
                <a:path w="393700" h="1848485">
                  <a:moveTo>
                    <a:pt x="251485" y="779716"/>
                  </a:moveTo>
                  <a:lnTo>
                    <a:pt x="243027" y="779716"/>
                  </a:lnTo>
                  <a:lnTo>
                    <a:pt x="243027" y="788187"/>
                  </a:lnTo>
                  <a:lnTo>
                    <a:pt x="243027" y="835863"/>
                  </a:lnTo>
                  <a:lnTo>
                    <a:pt x="157988" y="835863"/>
                  </a:lnTo>
                  <a:lnTo>
                    <a:pt x="157988" y="788187"/>
                  </a:lnTo>
                  <a:lnTo>
                    <a:pt x="243027" y="788187"/>
                  </a:lnTo>
                  <a:lnTo>
                    <a:pt x="243027" y="779716"/>
                  </a:lnTo>
                  <a:lnTo>
                    <a:pt x="149517" y="779716"/>
                  </a:lnTo>
                  <a:lnTo>
                    <a:pt x="149517" y="844334"/>
                  </a:lnTo>
                  <a:lnTo>
                    <a:pt x="251485" y="844334"/>
                  </a:lnTo>
                  <a:lnTo>
                    <a:pt x="251485" y="840105"/>
                  </a:lnTo>
                  <a:lnTo>
                    <a:pt x="251485" y="835863"/>
                  </a:lnTo>
                  <a:lnTo>
                    <a:pt x="251485" y="788187"/>
                  </a:lnTo>
                  <a:lnTo>
                    <a:pt x="251485" y="783958"/>
                  </a:lnTo>
                  <a:lnTo>
                    <a:pt x="251485" y="779716"/>
                  </a:lnTo>
                  <a:close/>
                </a:path>
                <a:path w="393700" h="1848485">
                  <a:moveTo>
                    <a:pt x="253009" y="1755457"/>
                  </a:moveTo>
                  <a:lnTo>
                    <a:pt x="244551" y="1755457"/>
                  </a:lnTo>
                  <a:lnTo>
                    <a:pt x="244551" y="1763928"/>
                  </a:lnTo>
                  <a:lnTo>
                    <a:pt x="244551" y="1811604"/>
                  </a:lnTo>
                  <a:lnTo>
                    <a:pt x="159512" y="1811604"/>
                  </a:lnTo>
                  <a:lnTo>
                    <a:pt x="159512" y="1763928"/>
                  </a:lnTo>
                  <a:lnTo>
                    <a:pt x="244551" y="1763928"/>
                  </a:lnTo>
                  <a:lnTo>
                    <a:pt x="244551" y="1755457"/>
                  </a:lnTo>
                  <a:lnTo>
                    <a:pt x="151041" y="1755457"/>
                  </a:lnTo>
                  <a:lnTo>
                    <a:pt x="151041" y="1820075"/>
                  </a:lnTo>
                  <a:lnTo>
                    <a:pt x="253009" y="1820075"/>
                  </a:lnTo>
                  <a:lnTo>
                    <a:pt x="253009" y="1815846"/>
                  </a:lnTo>
                  <a:lnTo>
                    <a:pt x="253009" y="1811604"/>
                  </a:lnTo>
                  <a:lnTo>
                    <a:pt x="253009" y="1763928"/>
                  </a:lnTo>
                  <a:lnTo>
                    <a:pt x="253009" y="1759699"/>
                  </a:lnTo>
                  <a:lnTo>
                    <a:pt x="253009" y="1755457"/>
                  </a:lnTo>
                  <a:close/>
                </a:path>
                <a:path w="393700" h="1848485">
                  <a:moveTo>
                    <a:pt x="253009" y="1680591"/>
                  </a:moveTo>
                  <a:lnTo>
                    <a:pt x="244551" y="1680591"/>
                  </a:lnTo>
                  <a:lnTo>
                    <a:pt x="244551" y="1689061"/>
                  </a:lnTo>
                  <a:lnTo>
                    <a:pt x="244551" y="1736737"/>
                  </a:lnTo>
                  <a:lnTo>
                    <a:pt x="159512" y="1736737"/>
                  </a:lnTo>
                  <a:lnTo>
                    <a:pt x="159512" y="1689061"/>
                  </a:lnTo>
                  <a:lnTo>
                    <a:pt x="244551" y="1689061"/>
                  </a:lnTo>
                  <a:lnTo>
                    <a:pt x="244551" y="1680591"/>
                  </a:lnTo>
                  <a:lnTo>
                    <a:pt x="151041" y="1680591"/>
                  </a:lnTo>
                  <a:lnTo>
                    <a:pt x="151041" y="1745208"/>
                  </a:lnTo>
                  <a:lnTo>
                    <a:pt x="253009" y="1745208"/>
                  </a:lnTo>
                  <a:lnTo>
                    <a:pt x="253009" y="1740979"/>
                  </a:lnTo>
                  <a:lnTo>
                    <a:pt x="253009" y="1736737"/>
                  </a:lnTo>
                  <a:lnTo>
                    <a:pt x="253009" y="1689061"/>
                  </a:lnTo>
                  <a:lnTo>
                    <a:pt x="253009" y="1684832"/>
                  </a:lnTo>
                  <a:lnTo>
                    <a:pt x="253009" y="1680591"/>
                  </a:lnTo>
                  <a:close/>
                </a:path>
                <a:path w="393700" h="1848485">
                  <a:moveTo>
                    <a:pt x="253009" y="1605724"/>
                  </a:moveTo>
                  <a:lnTo>
                    <a:pt x="244551" y="1605724"/>
                  </a:lnTo>
                  <a:lnTo>
                    <a:pt x="244551" y="1614195"/>
                  </a:lnTo>
                  <a:lnTo>
                    <a:pt x="244551" y="1661871"/>
                  </a:lnTo>
                  <a:lnTo>
                    <a:pt x="159512" y="1661871"/>
                  </a:lnTo>
                  <a:lnTo>
                    <a:pt x="159512" y="1614195"/>
                  </a:lnTo>
                  <a:lnTo>
                    <a:pt x="244551" y="1614195"/>
                  </a:lnTo>
                  <a:lnTo>
                    <a:pt x="244551" y="1605724"/>
                  </a:lnTo>
                  <a:lnTo>
                    <a:pt x="151041" y="1605724"/>
                  </a:lnTo>
                  <a:lnTo>
                    <a:pt x="151041" y="1670342"/>
                  </a:lnTo>
                  <a:lnTo>
                    <a:pt x="253009" y="1670342"/>
                  </a:lnTo>
                  <a:lnTo>
                    <a:pt x="253009" y="1666113"/>
                  </a:lnTo>
                  <a:lnTo>
                    <a:pt x="253009" y="1661871"/>
                  </a:lnTo>
                  <a:lnTo>
                    <a:pt x="253009" y="1614195"/>
                  </a:lnTo>
                  <a:lnTo>
                    <a:pt x="253009" y="1609966"/>
                  </a:lnTo>
                  <a:lnTo>
                    <a:pt x="253009" y="1605724"/>
                  </a:lnTo>
                  <a:close/>
                </a:path>
                <a:path w="393700" h="1848485">
                  <a:moveTo>
                    <a:pt x="353250" y="177203"/>
                  </a:moveTo>
                  <a:lnTo>
                    <a:pt x="344792" y="177203"/>
                  </a:lnTo>
                  <a:lnTo>
                    <a:pt x="344792" y="185648"/>
                  </a:lnTo>
                  <a:lnTo>
                    <a:pt x="344792" y="233172"/>
                  </a:lnTo>
                  <a:lnTo>
                    <a:pt x="260045" y="233172"/>
                  </a:lnTo>
                  <a:lnTo>
                    <a:pt x="260045" y="185648"/>
                  </a:lnTo>
                  <a:lnTo>
                    <a:pt x="344792" y="185648"/>
                  </a:lnTo>
                  <a:lnTo>
                    <a:pt x="344792" y="177203"/>
                  </a:lnTo>
                  <a:lnTo>
                    <a:pt x="251612" y="177203"/>
                  </a:lnTo>
                  <a:lnTo>
                    <a:pt x="251612" y="241617"/>
                  </a:lnTo>
                  <a:lnTo>
                    <a:pt x="353250" y="241617"/>
                  </a:lnTo>
                  <a:lnTo>
                    <a:pt x="353250" y="237388"/>
                  </a:lnTo>
                  <a:lnTo>
                    <a:pt x="353250" y="233172"/>
                  </a:lnTo>
                  <a:lnTo>
                    <a:pt x="353250" y="185648"/>
                  </a:lnTo>
                  <a:lnTo>
                    <a:pt x="353250" y="181432"/>
                  </a:lnTo>
                  <a:lnTo>
                    <a:pt x="353250" y="177203"/>
                  </a:lnTo>
                  <a:close/>
                </a:path>
                <a:path w="393700" h="1848485">
                  <a:moveTo>
                    <a:pt x="353250" y="102590"/>
                  </a:moveTo>
                  <a:lnTo>
                    <a:pt x="344792" y="102590"/>
                  </a:lnTo>
                  <a:lnTo>
                    <a:pt x="344792" y="111036"/>
                  </a:lnTo>
                  <a:lnTo>
                    <a:pt x="344792" y="158559"/>
                  </a:lnTo>
                  <a:lnTo>
                    <a:pt x="260045" y="158559"/>
                  </a:lnTo>
                  <a:lnTo>
                    <a:pt x="260045" y="111036"/>
                  </a:lnTo>
                  <a:lnTo>
                    <a:pt x="344792" y="111036"/>
                  </a:lnTo>
                  <a:lnTo>
                    <a:pt x="344792" y="102590"/>
                  </a:lnTo>
                  <a:lnTo>
                    <a:pt x="251612" y="102590"/>
                  </a:lnTo>
                  <a:lnTo>
                    <a:pt x="251612" y="167005"/>
                  </a:lnTo>
                  <a:lnTo>
                    <a:pt x="353250" y="167005"/>
                  </a:lnTo>
                  <a:lnTo>
                    <a:pt x="353250" y="162775"/>
                  </a:lnTo>
                  <a:lnTo>
                    <a:pt x="353250" y="158559"/>
                  </a:lnTo>
                  <a:lnTo>
                    <a:pt x="353250" y="111036"/>
                  </a:lnTo>
                  <a:lnTo>
                    <a:pt x="353250" y="106819"/>
                  </a:lnTo>
                  <a:lnTo>
                    <a:pt x="353250" y="102590"/>
                  </a:lnTo>
                  <a:close/>
                </a:path>
                <a:path w="393700" h="1848485">
                  <a:moveTo>
                    <a:pt x="353250" y="27978"/>
                  </a:moveTo>
                  <a:lnTo>
                    <a:pt x="344792" y="27978"/>
                  </a:lnTo>
                  <a:lnTo>
                    <a:pt x="344792" y="36423"/>
                  </a:lnTo>
                  <a:lnTo>
                    <a:pt x="344792" y="83934"/>
                  </a:lnTo>
                  <a:lnTo>
                    <a:pt x="260045" y="83934"/>
                  </a:lnTo>
                  <a:lnTo>
                    <a:pt x="260045" y="36423"/>
                  </a:lnTo>
                  <a:lnTo>
                    <a:pt x="344792" y="36423"/>
                  </a:lnTo>
                  <a:lnTo>
                    <a:pt x="344792" y="27978"/>
                  </a:lnTo>
                  <a:lnTo>
                    <a:pt x="251612" y="27978"/>
                  </a:lnTo>
                  <a:lnTo>
                    <a:pt x="251612" y="92379"/>
                  </a:lnTo>
                  <a:lnTo>
                    <a:pt x="353250" y="92379"/>
                  </a:lnTo>
                  <a:lnTo>
                    <a:pt x="353250" y="88163"/>
                  </a:lnTo>
                  <a:lnTo>
                    <a:pt x="353250" y="83934"/>
                  </a:lnTo>
                  <a:lnTo>
                    <a:pt x="353250" y="36423"/>
                  </a:lnTo>
                  <a:lnTo>
                    <a:pt x="353250" y="32207"/>
                  </a:lnTo>
                  <a:lnTo>
                    <a:pt x="353250" y="27978"/>
                  </a:lnTo>
                  <a:close/>
                </a:path>
                <a:path w="393700" h="1848485">
                  <a:moveTo>
                    <a:pt x="363715" y="929449"/>
                  </a:moveTo>
                  <a:lnTo>
                    <a:pt x="355219" y="929449"/>
                  </a:lnTo>
                  <a:lnTo>
                    <a:pt x="355219" y="937920"/>
                  </a:lnTo>
                  <a:lnTo>
                    <a:pt x="355219" y="985596"/>
                  </a:lnTo>
                  <a:lnTo>
                    <a:pt x="270192" y="985596"/>
                  </a:lnTo>
                  <a:lnTo>
                    <a:pt x="270192" y="937920"/>
                  </a:lnTo>
                  <a:lnTo>
                    <a:pt x="355219" y="937920"/>
                  </a:lnTo>
                  <a:lnTo>
                    <a:pt x="355219" y="929449"/>
                  </a:lnTo>
                  <a:lnTo>
                    <a:pt x="261721" y="929449"/>
                  </a:lnTo>
                  <a:lnTo>
                    <a:pt x="261721" y="994067"/>
                  </a:lnTo>
                  <a:lnTo>
                    <a:pt x="363715" y="994067"/>
                  </a:lnTo>
                  <a:lnTo>
                    <a:pt x="363715" y="989838"/>
                  </a:lnTo>
                  <a:lnTo>
                    <a:pt x="363715" y="985596"/>
                  </a:lnTo>
                  <a:lnTo>
                    <a:pt x="363715" y="937920"/>
                  </a:lnTo>
                  <a:lnTo>
                    <a:pt x="363715" y="933691"/>
                  </a:lnTo>
                  <a:lnTo>
                    <a:pt x="363715" y="929449"/>
                  </a:lnTo>
                  <a:close/>
                </a:path>
                <a:path w="393700" h="1848485">
                  <a:moveTo>
                    <a:pt x="363715" y="854583"/>
                  </a:moveTo>
                  <a:lnTo>
                    <a:pt x="355219" y="854583"/>
                  </a:lnTo>
                  <a:lnTo>
                    <a:pt x="355219" y="863053"/>
                  </a:lnTo>
                  <a:lnTo>
                    <a:pt x="355219" y="910729"/>
                  </a:lnTo>
                  <a:lnTo>
                    <a:pt x="270192" y="910729"/>
                  </a:lnTo>
                  <a:lnTo>
                    <a:pt x="270192" y="863053"/>
                  </a:lnTo>
                  <a:lnTo>
                    <a:pt x="355219" y="863053"/>
                  </a:lnTo>
                  <a:lnTo>
                    <a:pt x="355219" y="854583"/>
                  </a:lnTo>
                  <a:lnTo>
                    <a:pt x="261721" y="854583"/>
                  </a:lnTo>
                  <a:lnTo>
                    <a:pt x="261721" y="919200"/>
                  </a:lnTo>
                  <a:lnTo>
                    <a:pt x="363715" y="919200"/>
                  </a:lnTo>
                  <a:lnTo>
                    <a:pt x="363715" y="914971"/>
                  </a:lnTo>
                  <a:lnTo>
                    <a:pt x="363715" y="910729"/>
                  </a:lnTo>
                  <a:lnTo>
                    <a:pt x="363715" y="863053"/>
                  </a:lnTo>
                  <a:lnTo>
                    <a:pt x="363715" y="858824"/>
                  </a:lnTo>
                  <a:lnTo>
                    <a:pt x="363715" y="854583"/>
                  </a:lnTo>
                  <a:close/>
                </a:path>
                <a:path w="393700" h="1848485">
                  <a:moveTo>
                    <a:pt x="363715" y="779716"/>
                  </a:moveTo>
                  <a:lnTo>
                    <a:pt x="355219" y="779716"/>
                  </a:lnTo>
                  <a:lnTo>
                    <a:pt x="355219" y="788187"/>
                  </a:lnTo>
                  <a:lnTo>
                    <a:pt x="355219" y="835863"/>
                  </a:lnTo>
                  <a:lnTo>
                    <a:pt x="270192" y="835863"/>
                  </a:lnTo>
                  <a:lnTo>
                    <a:pt x="270192" y="788187"/>
                  </a:lnTo>
                  <a:lnTo>
                    <a:pt x="355219" y="788187"/>
                  </a:lnTo>
                  <a:lnTo>
                    <a:pt x="355219" y="779716"/>
                  </a:lnTo>
                  <a:lnTo>
                    <a:pt x="261721" y="779716"/>
                  </a:lnTo>
                  <a:lnTo>
                    <a:pt x="261721" y="844334"/>
                  </a:lnTo>
                  <a:lnTo>
                    <a:pt x="363715" y="844334"/>
                  </a:lnTo>
                  <a:lnTo>
                    <a:pt x="363715" y="840105"/>
                  </a:lnTo>
                  <a:lnTo>
                    <a:pt x="363715" y="835863"/>
                  </a:lnTo>
                  <a:lnTo>
                    <a:pt x="363715" y="788187"/>
                  </a:lnTo>
                  <a:lnTo>
                    <a:pt x="363715" y="783958"/>
                  </a:lnTo>
                  <a:lnTo>
                    <a:pt x="363715" y="779716"/>
                  </a:lnTo>
                  <a:close/>
                </a:path>
                <a:path w="393700" h="1848485">
                  <a:moveTo>
                    <a:pt x="365239" y="1755457"/>
                  </a:moveTo>
                  <a:lnTo>
                    <a:pt x="356743" y="1755457"/>
                  </a:lnTo>
                  <a:lnTo>
                    <a:pt x="356743" y="1763928"/>
                  </a:lnTo>
                  <a:lnTo>
                    <a:pt x="356743" y="1811604"/>
                  </a:lnTo>
                  <a:lnTo>
                    <a:pt x="271716" y="1811604"/>
                  </a:lnTo>
                  <a:lnTo>
                    <a:pt x="271716" y="1763928"/>
                  </a:lnTo>
                  <a:lnTo>
                    <a:pt x="356743" y="1763928"/>
                  </a:lnTo>
                  <a:lnTo>
                    <a:pt x="356743" y="1755457"/>
                  </a:lnTo>
                  <a:lnTo>
                    <a:pt x="263245" y="1755457"/>
                  </a:lnTo>
                  <a:lnTo>
                    <a:pt x="263245" y="1820075"/>
                  </a:lnTo>
                  <a:lnTo>
                    <a:pt x="365239" y="1820075"/>
                  </a:lnTo>
                  <a:lnTo>
                    <a:pt x="365239" y="1815846"/>
                  </a:lnTo>
                  <a:lnTo>
                    <a:pt x="365239" y="1811604"/>
                  </a:lnTo>
                  <a:lnTo>
                    <a:pt x="365239" y="1763928"/>
                  </a:lnTo>
                  <a:lnTo>
                    <a:pt x="365239" y="1759699"/>
                  </a:lnTo>
                  <a:lnTo>
                    <a:pt x="365239" y="1755457"/>
                  </a:lnTo>
                  <a:close/>
                </a:path>
                <a:path w="393700" h="1848485">
                  <a:moveTo>
                    <a:pt x="365239" y="1680591"/>
                  </a:moveTo>
                  <a:lnTo>
                    <a:pt x="356743" y="1680591"/>
                  </a:lnTo>
                  <a:lnTo>
                    <a:pt x="356743" y="1689061"/>
                  </a:lnTo>
                  <a:lnTo>
                    <a:pt x="356743" y="1736737"/>
                  </a:lnTo>
                  <a:lnTo>
                    <a:pt x="271716" y="1736737"/>
                  </a:lnTo>
                  <a:lnTo>
                    <a:pt x="271716" y="1689061"/>
                  </a:lnTo>
                  <a:lnTo>
                    <a:pt x="356743" y="1689061"/>
                  </a:lnTo>
                  <a:lnTo>
                    <a:pt x="356743" y="1680591"/>
                  </a:lnTo>
                  <a:lnTo>
                    <a:pt x="263245" y="1680591"/>
                  </a:lnTo>
                  <a:lnTo>
                    <a:pt x="263245" y="1745208"/>
                  </a:lnTo>
                  <a:lnTo>
                    <a:pt x="365239" y="1745208"/>
                  </a:lnTo>
                  <a:lnTo>
                    <a:pt x="365239" y="1740979"/>
                  </a:lnTo>
                  <a:lnTo>
                    <a:pt x="365239" y="1736737"/>
                  </a:lnTo>
                  <a:lnTo>
                    <a:pt x="365239" y="1689061"/>
                  </a:lnTo>
                  <a:lnTo>
                    <a:pt x="365239" y="1684832"/>
                  </a:lnTo>
                  <a:lnTo>
                    <a:pt x="365239" y="1680591"/>
                  </a:lnTo>
                  <a:close/>
                </a:path>
                <a:path w="393700" h="1848485">
                  <a:moveTo>
                    <a:pt x="365239" y="1605724"/>
                  </a:moveTo>
                  <a:lnTo>
                    <a:pt x="356743" y="1605724"/>
                  </a:lnTo>
                  <a:lnTo>
                    <a:pt x="356743" y="1614195"/>
                  </a:lnTo>
                  <a:lnTo>
                    <a:pt x="356743" y="1661871"/>
                  </a:lnTo>
                  <a:lnTo>
                    <a:pt x="271716" y="1661871"/>
                  </a:lnTo>
                  <a:lnTo>
                    <a:pt x="271716" y="1614195"/>
                  </a:lnTo>
                  <a:lnTo>
                    <a:pt x="356743" y="1614195"/>
                  </a:lnTo>
                  <a:lnTo>
                    <a:pt x="356743" y="1605724"/>
                  </a:lnTo>
                  <a:lnTo>
                    <a:pt x="263245" y="1605724"/>
                  </a:lnTo>
                  <a:lnTo>
                    <a:pt x="263245" y="1670342"/>
                  </a:lnTo>
                  <a:lnTo>
                    <a:pt x="365239" y="1670342"/>
                  </a:lnTo>
                  <a:lnTo>
                    <a:pt x="365239" y="1666113"/>
                  </a:lnTo>
                  <a:lnTo>
                    <a:pt x="365239" y="1661871"/>
                  </a:lnTo>
                  <a:lnTo>
                    <a:pt x="365239" y="1614195"/>
                  </a:lnTo>
                  <a:lnTo>
                    <a:pt x="365239" y="1609966"/>
                  </a:lnTo>
                  <a:lnTo>
                    <a:pt x="365239" y="1605724"/>
                  </a:lnTo>
                  <a:close/>
                </a:path>
                <a:path w="393700" h="1848485">
                  <a:moveTo>
                    <a:pt x="381203" y="0"/>
                  </a:moveTo>
                  <a:lnTo>
                    <a:pt x="372745" y="0"/>
                  </a:lnTo>
                  <a:lnTo>
                    <a:pt x="372745" y="8445"/>
                  </a:lnTo>
                  <a:lnTo>
                    <a:pt x="372745" y="261150"/>
                  </a:lnTo>
                  <a:lnTo>
                    <a:pt x="8432" y="261150"/>
                  </a:lnTo>
                  <a:lnTo>
                    <a:pt x="8432" y="8445"/>
                  </a:lnTo>
                  <a:lnTo>
                    <a:pt x="372745" y="8445"/>
                  </a:lnTo>
                  <a:lnTo>
                    <a:pt x="372745" y="0"/>
                  </a:lnTo>
                  <a:lnTo>
                    <a:pt x="0" y="0"/>
                  </a:lnTo>
                  <a:lnTo>
                    <a:pt x="0" y="269595"/>
                  </a:lnTo>
                  <a:lnTo>
                    <a:pt x="381203" y="269595"/>
                  </a:lnTo>
                  <a:lnTo>
                    <a:pt x="381203" y="265379"/>
                  </a:lnTo>
                  <a:lnTo>
                    <a:pt x="381203" y="261150"/>
                  </a:lnTo>
                  <a:lnTo>
                    <a:pt x="381203" y="8445"/>
                  </a:lnTo>
                  <a:lnTo>
                    <a:pt x="381203" y="4216"/>
                  </a:lnTo>
                  <a:lnTo>
                    <a:pt x="381203" y="0"/>
                  </a:lnTo>
                  <a:close/>
                </a:path>
                <a:path w="393700" h="1848485">
                  <a:moveTo>
                    <a:pt x="391756" y="751636"/>
                  </a:moveTo>
                  <a:lnTo>
                    <a:pt x="383273" y="751636"/>
                  </a:lnTo>
                  <a:lnTo>
                    <a:pt x="383273" y="760107"/>
                  </a:lnTo>
                  <a:lnTo>
                    <a:pt x="383273" y="1013675"/>
                  </a:lnTo>
                  <a:lnTo>
                    <a:pt x="17729" y="1013675"/>
                  </a:lnTo>
                  <a:lnTo>
                    <a:pt x="17729" y="760107"/>
                  </a:lnTo>
                  <a:lnTo>
                    <a:pt x="383273" y="760107"/>
                  </a:lnTo>
                  <a:lnTo>
                    <a:pt x="383273" y="751636"/>
                  </a:lnTo>
                  <a:lnTo>
                    <a:pt x="9258" y="751636"/>
                  </a:lnTo>
                  <a:lnTo>
                    <a:pt x="9258" y="1022146"/>
                  </a:lnTo>
                  <a:lnTo>
                    <a:pt x="391756" y="1022146"/>
                  </a:lnTo>
                  <a:lnTo>
                    <a:pt x="391756" y="1017905"/>
                  </a:lnTo>
                  <a:lnTo>
                    <a:pt x="391756" y="1013675"/>
                  </a:lnTo>
                  <a:lnTo>
                    <a:pt x="391756" y="760107"/>
                  </a:lnTo>
                  <a:lnTo>
                    <a:pt x="391756" y="755878"/>
                  </a:lnTo>
                  <a:lnTo>
                    <a:pt x="391756" y="751636"/>
                  </a:lnTo>
                  <a:close/>
                </a:path>
                <a:path w="393700" h="1848485">
                  <a:moveTo>
                    <a:pt x="393280" y="1577644"/>
                  </a:moveTo>
                  <a:lnTo>
                    <a:pt x="384797" y="1577644"/>
                  </a:lnTo>
                  <a:lnTo>
                    <a:pt x="384797" y="1586115"/>
                  </a:lnTo>
                  <a:lnTo>
                    <a:pt x="384797" y="1839683"/>
                  </a:lnTo>
                  <a:lnTo>
                    <a:pt x="19253" y="1839683"/>
                  </a:lnTo>
                  <a:lnTo>
                    <a:pt x="19253" y="1586115"/>
                  </a:lnTo>
                  <a:lnTo>
                    <a:pt x="384797" y="1586115"/>
                  </a:lnTo>
                  <a:lnTo>
                    <a:pt x="384797" y="1577644"/>
                  </a:lnTo>
                  <a:lnTo>
                    <a:pt x="10782" y="1577644"/>
                  </a:lnTo>
                  <a:lnTo>
                    <a:pt x="10782" y="1848154"/>
                  </a:lnTo>
                  <a:lnTo>
                    <a:pt x="393280" y="1848154"/>
                  </a:lnTo>
                  <a:lnTo>
                    <a:pt x="393280" y="1843913"/>
                  </a:lnTo>
                  <a:lnTo>
                    <a:pt x="393280" y="1839683"/>
                  </a:lnTo>
                  <a:lnTo>
                    <a:pt x="393280" y="1586115"/>
                  </a:lnTo>
                  <a:lnTo>
                    <a:pt x="393280" y="1581886"/>
                  </a:lnTo>
                  <a:lnTo>
                    <a:pt x="393280" y="1577644"/>
                  </a:lnTo>
                  <a:close/>
                </a:path>
              </a:pathLst>
            </a:custGeom>
            <a:solidFill>
              <a:srgbClr val="0093FF"/>
            </a:solidFill>
          </p:spPr>
          <p:txBody>
            <a:bodyPr wrap="square" lIns="0" tIns="0" rIns="0" bIns="0" rtlCol="0"/>
            <a:lstStyle/>
            <a:p>
              <a:endParaRPr sz="2400"/>
            </a:p>
          </p:txBody>
        </p:sp>
        <p:pic>
          <p:nvPicPr>
            <p:cNvPr id="22" name="object 22"/>
            <p:cNvPicPr/>
            <p:nvPr/>
          </p:nvPicPr>
          <p:blipFill>
            <a:blip r:embed="rId4" cstate="print"/>
            <a:stretch>
              <a:fillRect/>
            </a:stretch>
          </p:blipFill>
          <p:spPr>
            <a:xfrm>
              <a:off x="5143002" y="3332546"/>
              <a:ext cx="413931" cy="414286"/>
            </a:xfrm>
            <a:prstGeom prst="rect">
              <a:avLst/>
            </a:prstGeom>
          </p:spPr>
        </p:pic>
        <p:pic>
          <p:nvPicPr>
            <p:cNvPr id="23" name="object 23"/>
            <p:cNvPicPr/>
            <p:nvPr/>
          </p:nvPicPr>
          <p:blipFill>
            <a:blip r:embed="rId4" cstate="print"/>
            <a:stretch>
              <a:fillRect/>
            </a:stretch>
          </p:blipFill>
          <p:spPr>
            <a:xfrm>
              <a:off x="5143002" y="4161763"/>
              <a:ext cx="413931" cy="415500"/>
            </a:xfrm>
            <a:prstGeom prst="rect">
              <a:avLst/>
            </a:prstGeom>
          </p:spPr>
        </p:pic>
        <p:pic>
          <p:nvPicPr>
            <p:cNvPr id="24" name="object 24"/>
            <p:cNvPicPr/>
            <p:nvPr/>
          </p:nvPicPr>
          <p:blipFill>
            <a:blip r:embed="rId7" cstate="print"/>
            <a:stretch>
              <a:fillRect/>
            </a:stretch>
          </p:blipFill>
          <p:spPr>
            <a:xfrm>
              <a:off x="4550664" y="2634945"/>
              <a:ext cx="696493" cy="420674"/>
            </a:xfrm>
            <a:prstGeom prst="rect">
              <a:avLst/>
            </a:prstGeom>
          </p:spPr>
        </p:pic>
        <p:sp>
          <p:nvSpPr>
            <p:cNvPr id="25" name="object 25"/>
            <p:cNvSpPr/>
            <p:nvPr/>
          </p:nvSpPr>
          <p:spPr>
            <a:xfrm>
              <a:off x="4594098" y="2739155"/>
              <a:ext cx="445134" cy="171450"/>
            </a:xfrm>
            <a:custGeom>
              <a:avLst/>
              <a:gdLst/>
              <a:ahLst/>
              <a:cxnLst/>
              <a:rect l="l" t="t" r="r" b="b"/>
              <a:pathLst>
                <a:path w="445135" h="171450">
                  <a:moveTo>
                    <a:pt x="369461" y="85578"/>
                  </a:moveTo>
                  <a:lnTo>
                    <a:pt x="283463" y="135743"/>
                  </a:lnTo>
                  <a:lnTo>
                    <a:pt x="277784" y="140795"/>
                  </a:lnTo>
                  <a:lnTo>
                    <a:pt x="274605" y="147395"/>
                  </a:lnTo>
                  <a:lnTo>
                    <a:pt x="274141" y="154709"/>
                  </a:lnTo>
                  <a:lnTo>
                    <a:pt x="276605" y="161905"/>
                  </a:lnTo>
                  <a:lnTo>
                    <a:pt x="281584" y="167512"/>
                  </a:lnTo>
                  <a:lnTo>
                    <a:pt x="288147" y="170668"/>
                  </a:lnTo>
                  <a:lnTo>
                    <a:pt x="295447" y="171156"/>
                  </a:lnTo>
                  <a:lnTo>
                    <a:pt x="302640" y="168763"/>
                  </a:lnTo>
                  <a:lnTo>
                    <a:pt x="412502" y="104628"/>
                  </a:lnTo>
                  <a:lnTo>
                    <a:pt x="407288" y="104628"/>
                  </a:lnTo>
                  <a:lnTo>
                    <a:pt x="407288" y="102088"/>
                  </a:lnTo>
                  <a:lnTo>
                    <a:pt x="397763" y="102088"/>
                  </a:lnTo>
                  <a:lnTo>
                    <a:pt x="369461" y="85578"/>
                  </a:lnTo>
                  <a:close/>
                </a:path>
                <a:path w="445135" h="171450">
                  <a:moveTo>
                    <a:pt x="336803" y="66528"/>
                  </a:moveTo>
                  <a:lnTo>
                    <a:pt x="0" y="66528"/>
                  </a:lnTo>
                  <a:lnTo>
                    <a:pt x="0" y="104628"/>
                  </a:lnTo>
                  <a:lnTo>
                    <a:pt x="336804" y="104628"/>
                  </a:lnTo>
                  <a:lnTo>
                    <a:pt x="369461" y="85578"/>
                  </a:lnTo>
                  <a:lnTo>
                    <a:pt x="336803" y="66528"/>
                  </a:lnTo>
                  <a:close/>
                </a:path>
                <a:path w="445135" h="171450">
                  <a:moveTo>
                    <a:pt x="412502" y="66528"/>
                  </a:moveTo>
                  <a:lnTo>
                    <a:pt x="407288" y="66528"/>
                  </a:lnTo>
                  <a:lnTo>
                    <a:pt x="407288" y="104628"/>
                  </a:lnTo>
                  <a:lnTo>
                    <a:pt x="412502" y="104628"/>
                  </a:lnTo>
                  <a:lnTo>
                    <a:pt x="445134" y="85578"/>
                  </a:lnTo>
                  <a:lnTo>
                    <a:pt x="412502" y="66528"/>
                  </a:lnTo>
                  <a:close/>
                </a:path>
                <a:path w="445135" h="171450">
                  <a:moveTo>
                    <a:pt x="397763" y="69068"/>
                  </a:moveTo>
                  <a:lnTo>
                    <a:pt x="369461" y="85578"/>
                  </a:lnTo>
                  <a:lnTo>
                    <a:pt x="397763" y="102088"/>
                  </a:lnTo>
                  <a:lnTo>
                    <a:pt x="397763" y="69068"/>
                  </a:lnTo>
                  <a:close/>
                </a:path>
                <a:path w="445135" h="171450">
                  <a:moveTo>
                    <a:pt x="407288" y="69068"/>
                  </a:moveTo>
                  <a:lnTo>
                    <a:pt x="397763" y="69068"/>
                  </a:lnTo>
                  <a:lnTo>
                    <a:pt x="397763" y="102088"/>
                  </a:lnTo>
                  <a:lnTo>
                    <a:pt x="407288" y="102088"/>
                  </a:lnTo>
                  <a:lnTo>
                    <a:pt x="407288" y="69068"/>
                  </a:lnTo>
                  <a:close/>
                </a:path>
                <a:path w="445135" h="171450">
                  <a:moveTo>
                    <a:pt x="295447" y="0"/>
                  </a:moveTo>
                  <a:lnTo>
                    <a:pt x="288147" y="488"/>
                  </a:lnTo>
                  <a:lnTo>
                    <a:pt x="281584" y="3643"/>
                  </a:lnTo>
                  <a:lnTo>
                    <a:pt x="276605" y="9251"/>
                  </a:lnTo>
                  <a:lnTo>
                    <a:pt x="274141" y="16446"/>
                  </a:lnTo>
                  <a:lnTo>
                    <a:pt x="274605" y="23760"/>
                  </a:lnTo>
                  <a:lnTo>
                    <a:pt x="277784" y="30360"/>
                  </a:lnTo>
                  <a:lnTo>
                    <a:pt x="283463" y="35413"/>
                  </a:lnTo>
                  <a:lnTo>
                    <a:pt x="369461" y="85578"/>
                  </a:lnTo>
                  <a:lnTo>
                    <a:pt x="397763" y="69068"/>
                  </a:lnTo>
                  <a:lnTo>
                    <a:pt x="407288" y="69068"/>
                  </a:lnTo>
                  <a:lnTo>
                    <a:pt x="407288" y="66528"/>
                  </a:lnTo>
                  <a:lnTo>
                    <a:pt x="412502" y="66528"/>
                  </a:lnTo>
                  <a:lnTo>
                    <a:pt x="302640" y="2393"/>
                  </a:lnTo>
                  <a:lnTo>
                    <a:pt x="295447" y="0"/>
                  </a:lnTo>
                  <a:close/>
                </a:path>
              </a:pathLst>
            </a:custGeom>
            <a:solidFill>
              <a:srgbClr val="00C3FF"/>
            </a:solidFill>
          </p:spPr>
          <p:txBody>
            <a:bodyPr wrap="square" lIns="0" tIns="0" rIns="0" bIns="0" rtlCol="0"/>
            <a:lstStyle/>
            <a:p>
              <a:endParaRPr sz="2400"/>
            </a:p>
          </p:txBody>
        </p:sp>
        <p:pic>
          <p:nvPicPr>
            <p:cNvPr id="26" name="object 26"/>
            <p:cNvPicPr/>
            <p:nvPr/>
          </p:nvPicPr>
          <p:blipFill>
            <a:blip r:embed="rId8" cstate="print"/>
            <a:stretch>
              <a:fillRect/>
            </a:stretch>
          </p:blipFill>
          <p:spPr>
            <a:xfrm>
              <a:off x="4543044" y="3383318"/>
              <a:ext cx="704113" cy="419061"/>
            </a:xfrm>
            <a:prstGeom prst="rect">
              <a:avLst/>
            </a:prstGeom>
          </p:spPr>
        </p:pic>
        <p:sp>
          <p:nvSpPr>
            <p:cNvPr id="27" name="object 27"/>
            <p:cNvSpPr/>
            <p:nvPr/>
          </p:nvSpPr>
          <p:spPr>
            <a:xfrm>
              <a:off x="4586477" y="3486352"/>
              <a:ext cx="452755" cy="171450"/>
            </a:xfrm>
            <a:custGeom>
              <a:avLst/>
              <a:gdLst/>
              <a:ahLst/>
              <a:cxnLst/>
              <a:rect l="l" t="t" r="r" b="b"/>
              <a:pathLst>
                <a:path w="452754" h="171450">
                  <a:moveTo>
                    <a:pt x="405384" y="69266"/>
                  </a:moveTo>
                  <a:lnTo>
                    <a:pt x="290957" y="135814"/>
                  </a:lnTo>
                  <a:lnTo>
                    <a:pt x="285277" y="140793"/>
                  </a:lnTo>
                  <a:lnTo>
                    <a:pt x="282098" y="147355"/>
                  </a:lnTo>
                  <a:lnTo>
                    <a:pt x="281634" y="154656"/>
                  </a:lnTo>
                  <a:lnTo>
                    <a:pt x="284099" y="161849"/>
                  </a:lnTo>
                  <a:lnTo>
                    <a:pt x="289077" y="167475"/>
                  </a:lnTo>
                  <a:lnTo>
                    <a:pt x="295640" y="170660"/>
                  </a:lnTo>
                  <a:lnTo>
                    <a:pt x="302940" y="171154"/>
                  </a:lnTo>
                  <a:lnTo>
                    <a:pt x="310134" y="168707"/>
                  </a:lnTo>
                  <a:lnTo>
                    <a:pt x="419993" y="104826"/>
                  </a:lnTo>
                  <a:lnTo>
                    <a:pt x="414909" y="104826"/>
                  </a:lnTo>
                  <a:lnTo>
                    <a:pt x="414909" y="102159"/>
                  </a:lnTo>
                  <a:lnTo>
                    <a:pt x="405257" y="102159"/>
                  </a:lnTo>
                  <a:lnTo>
                    <a:pt x="377256" y="85776"/>
                  </a:lnTo>
                  <a:lnTo>
                    <a:pt x="405320" y="85776"/>
                  </a:lnTo>
                  <a:lnTo>
                    <a:pt x="405384" y="69266"/>
                  </a:lnTo>
                  <a:close/>
                </a:path>
                <a:path w="452754" h="171450">
                  <a:moveTo>
                    <a:pt x="0" y="66091"/>
                  </a:moveTo>
                  <a:lnTo>
                    <a:pt x="0" y="104191"/>
                  </a:lnTo>
                  <a:lnTo>
                    <a:pt x="414908" y="104826"/>
                  </a:lnTo>
                  <a:lnTo>
                    <a:pt x="344239" y="104826"/>
                  </a:lnTo>
                  <a:lnTo>
                    <a:pt x="376995" y="85776"/>
                  </a:lnTo>
                  <a:lnTo>
                    <a:pt x="377256" y="85776"/>
                  </a:lnTo>
                  <a:lnTo>
                    <a:pt x="344697" y="66726"/>
                  </a:lnTo>
                  <a:lnTo>
                    <a:pt x="414909" y="66726"/>
                  </a:lnTo>
                  <a:lnTo>
                    <a:pt x="0" y="66091"/>
                  </a:lnTo>
                  <a:close/>
                </a:path>
                <a:path w="452754" h="171450">
                  <a:moveTo>
                    <a:pt x="420201" y="66726"/>
                  </a:moveTo>
                  <a:lnTo>
                    <a:pt x="414909" y="66726"/>
                  </a:lnTo>
                  <a:lnTo>
                    <a:pt x="414909" y="104826"/>
                  </a:lnTo>
                  <a:lnTo>
                    <a:pt x="419993" y="104826"/>
                  </a:lnTo>
                  <a:lnTo>
                    <a:pt x="452755" y="85776"/>
                  </a:lnTo>
                  <a:lnTo>
                    <a:pt x="420201" y="66726"/>
                  </a:lnTo>
                  <a:close/>
                </a:path>
                <a:path w="452754" h="171450">
                  <a:moveTo>
                    <a:pt x="405320" y="85776"/>
                  </a:moveTo>
                  <a:lnTo>
                    <a:pt x="377256" y="85776"/>
                  </a:lnTo>
                  <a:lnTo>
                    <a:pt x="405257" y="102159"/>
                  </a:lnTo>
                  <a:lnTo>
                    <a:pt x="405320" y="85776"/>
                  </a:lnTo>
                  <a:close/>
                </a:path>
                <a:path w="452754" h="171450">
                  <a:moveTo>
                    <a:pt x="414909" y="69266"/>
                  </a:moveTo>
                  <a:lnTo>
                    <a:pt x="405384" y="69266"/>
                  </a:lnTo>
                  <a:lnTo>
                    <a:pt x="405257" y="102159"/>
                  </a:lnTo>
                  <a:lnTo>
                    <a:pt x="414909" y="102159"/>
                  </a:lnTo>
                  <a:lnTo>
                    <a:pt x="414909" y="69266"/>
                  </a:lnTo>
                  <a:close/>
                </a:path>
                <a:path w="452754" h="171450">
                  <a:moveTo>
                    <a:pt x="303194" y="0"/>
                  </a:moveTo>
                  <a:lnTo>
                    <a:pt x="295894" y="464"/>
                  </a:lnTo>
                  <a:lnTo>
                    <a:pt x="289331" y="3643"/>
                  </a:lnTo>
                  <a:lnTo>
                    <a:pt x="284352" y="9322"/>
                  </a:lnTo>
                  <a:lnTo>
                    <a:pt x="281886" y="16444"/>
                  </a:lnTo>
                  <a:lnTo>
                    <a:pt x="282336" y="23721"/>
                  </a:lnTo>
                  <a:lnTo>
                    <a:pt x="285478" y="30307"/>
                  </a:lnTo>
                  <a:lnTo>
                    <a:pt x="291084" y="35357"/>
                  </a:lnTo>
                  <a:lnTo>
                    <a:pt x="377256" y="85776"/>
                  </a:lnTo>
                  <a:lnTo>
                    <a:pt x="376995" y="85776"/>
                  </a:lnTo>
                  <a:lnTo>
                    <a:pt x="405384" y="69266"/>
                  </a:lnTo>
                  <a:lnTo>
                    <a:pt x="414909" y="69266"/>
                  </a:lnTo>
                  <a:lnTo>
                    <a:pt x="414909" y="66726"/>
                  </a:lnTo>
                  <a:lnTo>
                    <a:pt x="420201" y="66726"/>
                  </a:lnTo>
                  <a:lnTo>
                    <a:pt x="310388" y="2464"/>
                  </a:lnTo>
                  <a:lnTo>
                    <a:pt x="303194" y="0"/>
                  </a:lnTo>
                  <a:close/>
                </a:path>
              </a:pathLst>
            </a:custGeom>
            <a:solidFill>
              <a:srgbClr val="00C3FF"/>
            </a:solidFill>
          </p:spPr>
          <p:txBody>
            <a:bodyPr wrap="square" lIns="0" tIns="0" rIns="0" bIns="0" rtlCol="0"/>
            <a:lstStyle/>
            <a:p>
              <a:endParaRPr sz="2400"/>
            </a:p>
          </p:txBody>
        </p:sp>
        <p:pic>
          <p:nvPicPr>
            <p:cNvPr id="28" name="object 28"/>
            <p:cNvPicPr/>
            <p:nvPr/>
          </p:nvPicPr>
          <p:blipFill>
            <a:blip r:embed="rId8" cstate="print"/>
            <a:stretch>
              <a:fillRect/>
            </a:stretch>
          </p:blipFill>
          <p:spPr>
            <a:xfrm>
              <a:off x="4550664" y="4244339"/>
              <a:ext cx="704113" cy="419061"/>
            </a:xfrm>
            <a:prstGeom prst="rect">
              <a:avLst/>
            </a:prstGeom>
          </p:spPr>
        </p:pic>
        <p:sp>
          <p:nvSpPr>
            <p:cNvPr id="29" name="object 29"/>
            <p:cNvSpPr/>
            <p:nvPr/>
          </p:nvSpPr>
          <p:spPr>
            <a:xfrm>
              <a:off x="4594098" y="4347413"/>
              <a:ext cx="452755" cy="171450"/>
            </a:xfrm>
            <a:custGeom>
              <a:avLst/>
              <a:gdLst/>
              <a:ahLst/>
              <a:cxnLst/>
              <a:rect l="l" t="t" r="r" b="b"/>
              <a:pathLst>
                <a:path w="452754" h="171450">
                  <a:moveTo>
                    <a:pt x="405384" y="69265"/>
                  </a:moveTo>
                  <a:lnTo>
                    <a:pt x="290956" y="135775"/>
                  </a:lnTo>
                  <a:lnTo>
                    <a:pt x="285277" y="140795"/>
                  </a:lnTo>
                  <a:lnTo>
                    <a:pt x="282098" y="147370"/>
                  </a:lnTo>
                  <a:lnTo>
                    <a:pt x="281634" y="154660"/>
                  </a:lnTo>
                  <a:lnTo>
                    <a:pt x="284099" y="161823"/>
                  </a:lnTo>
                  <a:lnTo>
                    <a:pt x="289077" y="167479"/>
                  </a:lnTo>
                  <a:lnTo>
                    <a:pt x="295640" y="170662"/>
                  </a:lnTo>
                  <a:lnTo>
                    <a:pt x="302940" y="171149"/>
                  </a:lnTo>
                  <a:lnTo>
                    <a:pt x="310134" y="168719"/>
                  </a:lnTo>
                  <a:lnTo>
                    <a:pt x="420081" y="104787"/>
                  </a:lnTo>
                  <a:lnTo>
                    <a:pt x="414909" y="104787"/>
                  </a:lnTo>
                  <a:lnTo>
                    <a:pt x="414909" y="102171"/>
                  </a:lnTo>
                  <a:lnTo>
                    <a:pt x="405256" y="102171"/>
                  </a:lnTo>
                  <a:lnTo>
                    <a:pt x="377272" y="85788"/>
                  </a:lnTo>
                  <a:lnTo>
                    <a:pt x="405320" y="85788"/>
                  </a:lnTo>
                  <a:lnTo>
                    <a:pt x="405384" y="69265"/>
                  </a:lnTo>
                  <a:close/>
                </a:path>
                <a:path w="452754" h="171450">
                  <a:moveTo>
                    <a:pt x="0" y="66090"/>
                  </a:moveTo>
                  <a:lnTo>
                    <a:pt x="0" y="104190"/>
                  </a:lnTo>
                  <a:lnTo>
                    <a:pt x="414908" y="104787"/>
                  </a:lnTo>
                  <a:lnTo>
                    <a:pt x="344270" y="104787"/>
                  </a:lnTo>
                  <a:lnTo>
                    <a:pt x="376957" y="85788"/>
                  </a:lnTo>
                  <a:lnTo>
                    <a:pt x="377272" y="85788"/>
                  </a:lnTo>
                  <a:lnTo>
                    <a:pt x="344645" y="66687"/>
                  </a:lnTo>
                  <a:lnTo>
                    <a:pt x="414909" y="66687"/>
                  </a:lnTo>
                  <a:lnTo>
                    <a:pt x="0" y="66090"/>
                  </a:lnTo>
                  <a:close/>
                </a:path>
                <a:path w="452754" h="171450">
                  <a:moveTo>
                    <a:pt x="420124" y="66687"/>
                  </a:moveTo>
                  <a:lnTo>
                    <a:pt x="414909" y="66687"/>
                  </a:lnTo>
                  <a:lnTo>
                    <a:pt x="414909" y="104787"/>
                  </a:lnTo>
                  <a:lnTo>
                    <a:pt x="420081" y="104787"/>
                  </a:lnTo>
                  <a:lnTo>
                    <a:pt x="452754" y="85788"/>
                  </a:lnTo>
                  <a:lnTo>
                    <a:pt x="420124" y="66687"/>
                  </a:lnTo>
                  <a:close/>
                </a:path>
                <a:path w="452754" h="171450">
                  <a:moveTo>
                    <a:pt x="405320" y="85788"/>
                  </a:moveTo>
                  <a:lnTo>
                    <a:pt x="377272" y="85788"/>
                  </a:lnTo>
                  <a:lnTo>
                    <a:pt x="405256" y="102171"/>
                  </a:lnTo>
                  <a:lnTo>
                    <a:pt x="405320" y="85788"/>
                  </a:lnTo>
                  <a:close/>
                </a:path>
                <a:path w="452754" h="171450">
                  <a:moveTo>
                    <a:pt x="414909" y="69265"/>
                  </a:moveTo>
                  <a:lnTo>
                    <a:pt x="405384" y="69265"/>
                  </a:lnTo>
                  <a:lnTo>
                    <a:pt x="405320" y="85788"/>
                  </a:lnTo>
                  <a:lnTo>
                    <a:pt x="405256" y="102171"/>
                  </a:lnTo>
                  <a:lnTo>
                    <a:pt x="414909" y="102171"/>
                  </a:lnTo>
                  <a:lnTo>
                    <a:pt x="414909" y="69265"/>
                  </a:lnTo>
                  <a:close/>
                </a:path>
                <a:path w="452754" h="171450">
                  <a:moveTo>
                    <a:pt x="303194" y="0"/>
                  </a:moveTo>
                  <a:lnTo>
                    <a:pt x="295894" y="464"/>
                  </a:lnTo>
                  <a:lnTo>
                    <a:pt x="289331" y="3627"/>
                  </a:lnTo>
                  <a:lnTo>
                    <a:pt x="284352" y="9270"/>
                  </a:lnTo>
                  <a:lnTo>
                    <a:pt x="281886" y="16427"/>
                  </a:lnTo>
                  <a:lnTo>
                    <a:pt x="282336" y="23715"/>
                  </a:lnTo>
                  <a:lnTo>
                    <a:pt x="285478" y="30296"/>
                  </a:lnTo>
                  <a:lnTo>
                    <a:pt x="291084" y="35331"/>
                  </a:lnTo>
                  <a:lnTo>
                    <a:pt x="377272" y="85788"/>
                  </a:lnTo>
                  <a:lnTo>
                    <a:pt x="376957" y="85788"/>
                  </a:lnTo>
                  <a:lnTo>
                    <a:pt x="405384" y="69265"/>
                  </a:lnTo>
                  <a:lnTo>
                    <a:pt x="414909" y="69265"/>
                  </a:lnTo>
                  <a:lnTo>
                    <a:pt x="414909" y="66687"/>
                  </a:lnTo>
                  <a:lnTo>
                    <a:pt x="420124" y="66687"/>
                  </a:lnTo>
                  <a:lnTo>
                    <a:pt x="310388" y="2450"/>
                  </a:lnTo>
                  <a:lnTo>
                    <a:pt x="303194" y="0"/>
                  </a:lnTo>
                  <a:close/>
                </a:path>
              </a:pathLst>
            </a:custGeom>
            <a:solidFill>
              <a:srgbClr val="00C3FF"/>
            </a:solidFill>
          </p:spPr>
          <p:txBody>
            <a:bodyPr wrap="square" lIns="0" tIns="0" rIns="0" bIns="0" rtlCol="0"/>
            <a:lstStyle/>
            <a:p>
              <a:endParaRPr sz="2400"/>
            </a:p>
          </p:txBody>
        </p:sp>
        <p:pic>
          <p:nvPicPr>
            <p:cNvPr id="30" name="object 30"/>
            <p:cNvPicPr/>
            <p:nvPr/>
          </p:nvPicPr>
          <p:blipFill>
            <a:blip r:embed="rId9" cstate="print"/>
            <a:stretch>
              <a:fillRect/>
            </a:stretch>
          </p:blipFill>
          <p:spPr>
            <a:xfrm>
              <a:off x="4453127" y="2330208"/>
              <a:ext cx="678941" cy="401561"/>
            </a:xfrm>
            <a:prstGeom prst="rect">
              <a:avLst/>
            </a:prstGeom>
          </p:spPr>
        </p:pic>
      </p:grpSp>
      <p:sp>
        <p:nvSpPr>
          <p:cNvPr id="31" name="object 31"/>
          <p:cNvSpPr txBox="1"/>
          <p:nvPr/>
        </p:nvSpPr>
        <p:spPr>
          <a:xfrm>
            <a:off x="8326797" y="4313597"/>
            <a:ext cx="993140" cy="590697"/>
          </a:xfrm>
          <a:prstGeom prst="rect">
            <a:avLst/>
          </a:prstGeom>
        </p:spPr>
        <p:txBody>
          <a:bodyPr vert="horz" wrap="square" lIns="0" tIns="16087" rIns="0" bIns="0" rtlCol="0">
            <a:spAutoFit/>
          </a:bodyPr>
          <a:lstStyle/>
          <a:p>
            <a:pPr marL="16933">
              <a:spcBef>
                <a:spcPts val="127"/>
              </a:spcBef>
            </a:pPr>
            <a:r>
              <a:rPr sz="3733" spc="-33" dirty="0">
                <a:solidFill>
                  <a:srgbClr val="FFFFFF"/>
                </a:solidFill>
                <a:latin typeface="Bahnschrift"/>
                <a:cs typeface="Bahnschrift"/>
              </a:rPr>
              <a:t>MPP</a:t>
            </a:r>
            <a:endParaRPr sz="3733">
              <a:latin typeface="Bahnschrift"/>
              <a:cs typeface="Bahnschrift"/>
            </a:endParaRPr>
          </a:p>
        </p:txBody>
      </p:sp>
      <p:grpSp>
        <p:nvGrpSpPr>
          <p:cNvPr id="32" name="object 32"/>
          <p:cNvGrpSpPr/>
          <p:nvPr/>
        </p:nvGrpSpPr>
        <p:grpSpPr>
          <a:xfrm>
            <a:off x="8004048" y="1808481"/>
            <a:ext cx="2864273" cy="1054100"/>
            <a:chOff x="6003035" y="1356360"/>
            <a:chExt cx="2148205" cy="790575"/>
          </a:xfrm>
        </p:grpSpPr>
        <p:sp>
          <p:nvSpPr>
            <p:cNvPr id="33" name="object 33"/>
            <p:cNvSpPr/>
            <p:nvPr/>
          </p:nvSpPr>
          <p:spPr>
            <a:xfrm>
              <a:off x="6134099" y="1426464"/>
              <a:ext cx="1884045" cy="523240"/>
            </a:xfrm>
            <a:custGeom>
              <a:avLst/>
              <a:gdLst/>
              <a:ahLst/>
              <a:cxnLst/>
              <a:rect l="l" t="t" r="r" b="b"/>
              <a:pathLst>
                <a:path w="1884045" h="523239">
                  <a:moveTo>
                    <a:pt x="1883663" y="0"/>
                  </a:moveTo>
                  <a:lnTo>
                    <a:pt x="0" y="0"/>
                  </a:lnTo>
                  <a:lnTo>
                    <a:pt x="0" y="522731"/>
                  </a:lnTo>
                  <a:lnTo>
                    <a:pt x="1883663" y="522731"/>
                  </a:lnTo>
                  <a:lnTo>
                    <a:pt x="1883663" y="0"/>
                  </a:lnTo>
                  <a:close/>
                </a:path>
              </a:pathLst>
            </a:custGeom>
            <a:solidFill>
              <a:srgbClr val="99E7FF">
                <a:alpha val="50195"/>
              </a:srgbClr>
            </a:solidFill>
          </p:spPr>
          <p:txBody>
            <a:bodyPr wrap="square" lIns="0" tIns="0" rIns="0" bIns="0" rtlCol="0"/>
            <a:lstStyle/>
            <a:p>
              <a:endParaRPr sz="2400"/>
            </a:p>
          </p:txBody>
        </p:sp>
        <p:pic>
          <p:nvPicPr>
            <p:cNvPr id="34" name="object 34"/>
            <p:cNvPicPr/>
            <p:nvPr/>
          </p:nvPicPr>
          <p:blipFill>
            <a:blip r:embed="rId10" cstate="print"/>
            <a:stretch>
              <a:fillRect/>
            </a:stretch>
          </p:blipFill>
          <p:spPr>
            <a:xfrm>
              <a:off x="6003035" y="1356360"/>
              <a:ext cx="2148077" cy="790194"/>
            </a:xfrm>
            <a:prstGeom prst="rect">
              <a:avLst/>
            </a:prstGeom>
          </p:spPr>
        </p:pic>
      </p:grpSp>
      <p:sp>
        <p:nvSpPr>
          <p:cNvPr id="35" name="object 35"/>
          <p:cNvSpPr txBox="1"/>
          <p:nvPr/>
        </p:nvSpPr>
        <p:spPr>
          <a:xfrm>
            <a:off x="8285820" y="1944387"/>
            <a:ext cx="2274993" cy="590697"/>
          </a:xfrm>
          <a:prstGeom prst="rect">
            <a:avLst/>
          </a:prstGeom>
        </p:spPr>
        <p:txBody>
          <a:bodyPr vert="horz" wrap="square" lIns="0" tIns="16087" rIns="0" bIns="0" rtlCol="0">
            <a:spAutoFit/>
          </a:bodyPr>
          <a:lstStyle/>
          <a:p>
            <a:pPr marL="16933">
              <a:spcBef>
                <a:spcPts val="127"/>
              </a:spcBef>
            </a:pPr>
            <a:r>
              <a:rPr sz="3733" spc="-13" dirty="0">
                <a:solidFill>
                  <a:srgbClr val="FFFFFF"/>
                </a:solidFill>
                <a:latin typeface="Bahnschrift"/>
                <a:cs typeface="Bahnschrift"/>
              </a:rPr>
              <a:t>Traditional</a:t>
            </a:r>
            <a:endParaRPr sz="3733">
              <a:latin typeface="Bahnschrift"/>
              <a:cs typeface="Bahnschrift"/>
            </a:endParaRPr>
          </a:p>
        </p:txBody>
      </p:sp>
      <p:sp>
        <p:nvSpPr>
          <p:cNvPr id="36" name="object 36"/>
          <p:cNvSpPr txBox="1"/>
          <p:nvPr/>
        </p:nvSpPr>
        <p:spPr>
          <a:xfrm>
            <a:off x="6072971" y="3163994"/>
            <a:ext cx="619760" cy="304421"/>
          </a:xfrm>
          <a:prstGeom prst="rect">
            <a:avLst/>
          </a:prstGeom>
        </p:spPr>
        <p:txBody>
          <a:bodyPr vert="horz" wrap="square" lIns="0" tIns="16933" rIns="0" bIns="0" rtlCol="0">
            <a:spAutoFit/>
          </a:bodyPr>
          <a:lstStyle/>
          <a:p>
            <a:pPr marL="16933">
              <a:spcBef>
                <a:spcPts val="133"/>
              </a:spcBef>
            </a:pPr>
            <a:r>
              <a:rPr sz="1867" spc="-187" dirty="0">
                <a:solidFill>
                  <a:srgbClr val="FFFFFF"/>
                </a:solidFill>
                <a:latin typeface="Arial MT"/>
                <a:cs typeface="Arial MT"/>
              </a:rPr>
              <a:t>Task</a:t>
            </a:r>
            <a:r>
              <a:rPr sz="1867" spc="-87" dirty="0">
                <a:solidFill>
                  <a:srgbClr val="FFFFFF"/>
                </a:solidFill>
                <a:latin typeface="Arial MT"/>
                <a:cs typeface="Arial MT"/>
              </a:rPr>
              <a:t> </a:t>
            </a:r>
            <a:r>
              <a:rPr sz="1867" spc="-80" dirty="0">
                <a:solidFill>
                  <a:srgbClr val="FFFFFF"/>
                </a:solidFill>
                <a:latin typeface="Arial MT"/>
                <a:cs typeface="Arial MT"/>
              </a:rPr>
              <a:t>1</a:t>
            </a:r>
            <a:endParaRPr sz="1867">
              <a:latin typeface="Arial MT"/>
              <a:cs typeface="Arial MT"/>
            </a:endParaRPr>
          </a:p>
        </p:txBody>
      </p:sp>
      <p:pic>
        <p:nvPicPr>
          <p:cNvPr id="37" name="object 37"/>
          <p:cNvPicPr/>
          <p:nvPr/>
        </p:nvPicPr>
        <p:blipFill>
          <a:blip r:embed="rId11" cstate="print"/>
          <a:stretch>
            <a:fillRect/>
          </a:stretch>
        </p:blipFill>
        <p:spPr>
          <a:xfrm>
            <a:off x="5929377" y="4114817"/>
            <a:ext cx="905255" cy="535415"/>
          </a:xfrm>
          <a:prstGeom prst="rect">
            <a:avLst/>
          </a:prstGeom>
        </p:spPr>
      </p:pic>
      <p:sp>
        <p:nvSpPr>
          <p:cNvPr id="38" name="object 38"/>
          <p:cNvSpPr txBox="1"/>
          <p:nvPr/>
        </p:nvSpPr>
        <p:spPr>
          <a:xfrm>
            <a:off x="6064843" y="4171866"/>
            <a:ext cx="618067" cy="304421"/>
          </a:xfrm>
          <a:prstGeom prst="rect">
            <a:avLst/>
          </a:prstGeom>
        </p:spPr>
        <p:txBody>
          <a:bodyPr vert="horz" wrap="square" lIns="0" tIns="16933" rIns="0" bIns="0" rtlCol="0">
            <a:spAutoFit/>
          </a:bodyPr>
          <a:lstStyle/>
          <a:p>
            <a:pPr marL="16933">
              <a:spcBef>
                <a:spcPts val="133"/>
              </a:spcBef>
            </a:pPr>
            <a:r>
              <a:rPr sz="1867" spc="-187" dirty="0">
                <a:solidFill>
                  <a:srgbClr val="FFFFFF"/>
                </a:solidFill>
                <a:latin typeface="Arial MT"/>
                <a:cs typeface="Arial MT"/>
              </a:rPr>
              <a:t>Task</a:t>
            </a:r>
            <a:r>
              <a:rPr sz="1867" spc="-100" dirty="0">
                <a:solidFill>
                  <a:srgbClr val="FFFFFF"/>
                </a:solidFill>
                <a:latin typeface="Arial MT"/>
                <a:cs typeface="Arial MT"/>
              </a:rPr>
              <a:t> </a:t>
            </a:r>
            <a:r>
              <a:rPr sz="1867" spc="-80" dirty="0">
                <a:solidFill>
                  <a:srgbClr val="FFFFFF"/>
                </a:solidFill>
                <a:latin typeface="Arial MT"/>
                <a:cs typeface="Arial MT"/>
              </a:rPr>
              <a:t>2</a:t>
            </a:r>
            <a:endParaRPr sz="1867">
              <a:latin typeface="Arial MT"/>
              <a:cs typeface="Arial MT"/>
            </a:endParaRPr>
          </a:p>
        </p:txBody>
      </p:sp>
      <p:pic>
        <p:nvPicPr>
          <p:cNvPr id="39" name="object 39"/>
          <p:cNvPicPr/>
          <p:nvPr/>
        </p:nvPicPr>
        <p:blipFill>
          <a:blip r:embed="rId12" cstate="print"/>
          <a:stretch>
            <a:fillRect/>
          </a:stretch>
        </p:blipFill>
        <p:spPr>
          <a:xfrm>
            <a:off x="5921247" y="5208015"/>
            <a:ext cx="905255" cy="535415"/>
          </a:xfrm>
          <a:prstGeom prst="rect">
            <a:avLst/>
          </a:prstGeom>
        </p:spPr>
      </p:pic>
      <p:sp>
        <p:nvSpPr>
          <p:cNvPr id="40" name="object 40"/>
          <p:cNvSpPr txBox="1"/>
          <p:nvPr/>
        </p:nvSpPr>
        <p:spPr>
          <a:xfrm>
            <a:off x="6056376" y="5265861"/>
            <a:ext cx="618067" cy="304421"/>
          </a:xfrm>
          <a:prstGeom prst="rect">
            <a:avLst/>
          </a:prstGeom>
        </p:spPr>
        <p:txBody>
          <a:bodyPr vert="horz" wrap="square" lIns="0" tIns="16933" rIns="0" bIns="0" rtlCol="0">
            <a:spAutoFit/>
          </a:bodyPr>
          <a:lstStyle/>
          <a:p>
            <a:pPr marL="16933">
              <a:spcBef>
                <a:spcPts val="133"/>
              </a:spcBef>
            </a:pPr>
            <a:r>
              <a:rPr sz="1867" spc="-187" dirty="0">
                <a:solidFill>
                  <a:srgbClr val="FFFFFF"/>
                </a:solidFill>
                <a:latin typeface="Arial MT"/>
                <a:cs typeface="Arial MT"/>
              </a:rPr>
              <a:t>Task</a:t>
            </a:r>
            <a:r>
              <a:rPr sz="1867" spc="-100" dirty="0">
                <a:solidFill>
                  <a:srgbClr val="FFFFFF"/>
                </a:solidFill>
                <a:latin typeface="Arial MT"/>
                <a:cs typeface="Arial MT"/>
              </a:rPr>
              <a:t> </a:t>
            </a:r>
            <a:r>
              <a:rPr sz="1867" spc="-80" dirty="0">
                <a:solidFill>
                  <a:srgbClr val="FFFFFF"/>
                </a:solidFill>
                <a:latin typeface="Arial MT"/>
                <a:cs typeface="Arial MT"/>
              </a:rPr>
              <a:t>3</a:t>
            </a:r>
            <a:endParaRPr sz="1867">
              <a:latin typeface="Arial MT"/>
              <a:cs typeface="Arial MT"/>
            </a:endParaRPr>
          </a:p>
        </p:txBody>
      </p:sp>
      <p:sp>
        <p:nvSpPr>
          <p:cNvPr id="41" name="object 41"/>
          <p:cNvSpPr/>
          <p:nvPr/>
        </p:nvSpPr>
        <p:spPr>
          <a:xfrm>
            <a:off x="1811409" y="4291719"/>
            <a:ext cx="574040" cy="779780"/>
          </a:xfrm>
          <a:custGeom>
            <a:avLst/>
            <a:gdLst/>
            <a:ahLst/>
            <a:cxnLst/>
            <a:rect l="l" t="t" r="r" b="b"/>
            <a:pathLst>
              <a:path w="430530" h="584835">
                <a:moveTo>
                  <a:pt x="430491" y="400100"/>
                </a:moveTo>
                <a:lnTo>
                  <a:pt x="419468" y="419493"/>
                </a:lnTo>
                <a:lnTo>
                  <a:pt x="388823" y="436384"/>
                </a:lnTo>
                <a:lnTo>
                  <a:pt x="384365" y="437667"/>
                </a:lnTo>
                <a:lnTo>
                  <a:pt x="384365" y="498576"/>
                </a:lnTo>
                <a:lnTo>
                  <a:pt x="384365" y="517042"/>
                </a:lnTo>
                <a:lnTo>
                  <a:pt x="378218" y="523201"/>
                </a:lnTo>
                <a:lnTo>
                  <a:pt x="359765" y="523201"/>
                </a:lnTo>
                <a:lnTo>
                  <a:pt x="353618" y="517042"/>
                </a:lnTo>
                <a:lnTo>
                  <a:pt x="353618" y="498576"/>
                </a:lnTo>
                <a:lnTo>
                  <a:pt x="359765" y="492417"/>
                </a:lnTo>
                <a:lnTo>
                  <a:pt x="378218" y="492417"/>
                </a:lnTo>
                <a:lnTo>
                  <a:pt x="384365" y="498576"/>
                </a:lnTo>
                <a:lnTo>
                  <a:pt x="384365" y="437667"/>
                </a:lnTo>
                <a:lnTo>
                  <a:pt x="342150" y="449732"/>
                </a:lnTo>
                <a:lnTo>
                  <a:pt x="283095" y="458495"/>
                </a:lnTo>
                <a:lnTo>
                  <a:pt x="215252" y="461645"/>
                </a:lnTo>
                <a:lnTo>
                  <a:pt x="147396" y="458495"/>
                </a:lnTo>
                <a:lnTo>
                  <a:pt x="88341" y="449732"/>
                </a:lnTo>
                <a:lnTo>
                  <a:pt x="41668" y="436384"/>
                </a:lnTo>
                <a:lnTo>
                  <a:pt x="11023" y="419493"/>
                </a:lnTo>
                <a:lnTo>
                  <a:pt x="0" y="400100"/>
                </a:lnTo>
                <a:lnTo>
                  <a:pt x="0" y="523201"/>
                </a:lnTo>
                <a:lnTo>
                  <a:pt x="41668" y="559485"/>
                </a:lnTo>
                <a:lnTo>
                  <a:pt x="88341" y="572833"/>
                </a:lnTo>
                <a:lnTo>
                  <a:pt x="147396" y="581596"/>
                </a:lnTo>
                <a:lnTo>
                  <a:pt x="215252" y="584746"/>
                </a:lnTo>
                <a:lnTo>
                  <a:pt x="283095" y="581596"/>
                </a:lnTo>
                <a:lnTo>
                  <a:pt x="342150" y="572833"/>
                </a:lnTo>
                <a:lnTo>
                  <a:pt x="388823" y="559485"/>
                </a:lnTo>
                <a:lnTo>
                  <a:pt x="419468" y="542594"/>
                </a:lnTo>
                <a:lnTo>
                  <a:pt x="430491" y="523201"/>
                </a:lnTo>
                <a:lnTo>
                  <a:pt x="430491" y="492417"/>
                </a:lnTo>
                <a:lnTo>
                  <a:pt x="430491" y="461645"/>
                </a:lnTo>
                <a:lnTo>
                  <a:pt x="430491" y="400100"/>
                </a:lnTo>
                <a:close/>
              </a:path>
              <a:path w="430530" h="584835">
                <a:moveTo>
                  <a:pt x="430491" y="246214"/>
                </a:moveTo>
                <a:lnTo>
                  <a:pt x="419468" y="265620"/>
                </a:lnTo>
                <a:lnTo>
                  <a:pt x="388823" y="282511"/>
                </a:lnTo>
                <a:lnTo>
                  <a:pt x="384365" y="283794"/>
                </a:lnTo>
                <a:lnTo>
                  <a:pt x="384365" y="344703"/>
                </a:lnTo>
                <a:lnTo>
                  <a:pt x="384365" y="363169"/>
                </a:lnTo>
                <a:lnTo>
                  <a:pt x="378218" y="369316"/>
                </a:lnTo>
                <a:lnTo>
                  <a:pt x="359765" y="369316"/>
                </a:lnTo>
                <a:lnTo>
                  <a:pt x="353618" y="363169"/>
                </a:lnTo>
                <a:lnTo>
                  <a:pt x="353618" y="344703"/>
                </a:lnTo>
                <a:lnTo>
                  <a:pt x="359765" y="338543"/>
                </a:lnTo>
                <a:lnTo>
                  <a:pt x="378218" y="338543"/>
                </a:lnTo>
                <a:lnTo>
                  <a:pt x="384365" y="344703"/>
                </a:lnTo>
                <a:lnTo>
                  <a:pt x="384365" y="283794"/>
                </a:lnTo>
                <a:lnTo>
                  <a:pt x="342150" y="295859"/>
                </a:lnTo>
                <a:lnTo>
                  <a:pt x="283095" y="304622"/>
                </a:lnTo>
                <a:lnTo>
                  <a:pt x="215252" y="307771"/>
                </a:lnTo>
                <a:lnTo>
                  <a:pt x="147396" y="304622"/>
                </a:lnTo>
                <a:lnTo>
                  <a:pt x="88341" y="295859"/>
                </a:lnTo>
                <a:lnTo>
                  <a:pt x="41668" y="282511"/>
                </a:lnTo>
                <a:lnTo>
                  <a:pt x="11023" y="265620"/>
                </a:lnTo>
                <a:lnTo>
                  <a:pt x="0" y="246214"/>
                </a:lnTo>
                <a:lnTo>
                  <a:pt x="0" y="369316"/>
                </a:lnTo>
                <a:lnTo>
                  <a:pt x="41668" y="405612"/>
                </a:lnTo>
                <a:lnTo>
                  <a:pt x="88341" y="418960"/>
                </a:lnTo>
                <a:lnTo>
                  <a:pt x="147396" y="427723"/>
                </a:lnTo>
                <a:lnTo>
                  <a:pt x="215252" y="430872"/>
                </a:lnTo>
                <a:lnTo>
                  <a:pt x="283095" y="427723"/>
                </a:lnTo>
                <a:lnTo>
                  <a:pt x="342150" y="418960"/>
                </a:lnTo>
                <a:lnTo>
                  <a:pt x="388823" y="405612"/>
                </a:lnTo>
                <a:lnTo>
                  <a:pt x="419468" y="388721"/>
                </a:lnTo>
                <a:lnTo>
                  <a:pt x="430491" y="369316"/>
                </a:lnTo>
                <a:lnTo>
                  <a:pt x="430491" y="338543"/>
                </a:lnTo>
                <a:lnTo>
                  <a:pt x="430491" y="307771"/>
                </a:lnTo>
                <a:lnTo>
                  <a:pt x="430491" y="246214"/>
                </a:lnTo>
                <a:close/>
              </a:path>
              <a:path w="430530" h="584835">
                <a:moveTo>
                  <a:pt x="430491" y="92341"/>
                </a:moveTo>
                <a:lnTo>
                  <a:pt x="419468" y="111747"/>
                </a:lnTo>
                <a:lnTo>
                  <a:pt x="388823" y="128625"/>
                </a:lnTo>
                <a:lnTo>
                  <a:pt x="384365" y="129908"/>
                </a:lnTo>
                <a:lnTo>
                  <a:pt x="384365" y="190817"/>
                </a:lnTo>
                <a:lnTo>
                  <a:pt x="384365" y="209283"/>
                </a:lnTo>
                <a:lnTo>
                  <a:pt x="378218" y="215442"/>
                </a:lnTo>
                <a:lnTo>
                  <a:pt x="359765" y="215442"/>
                </a:lnTo>
                <a:lnTo>
                  <a:pt x="353618" y="209283"/>
                </a:lnTo>
                <a:lnTo>
                  <a:pt x="353618" y="190817"/>
                </a:lnTo>
                <a:lnTo>
                  <a:pt x="359765" y="184670"/>
                </a:lnTo>
                <a:lnTo>
                  <a:pt x="378218" y="184670"/>
                </a:lnTo>
                <a:lnTo>
                  <a:pt x="384365" y="190817"/>
                </a:lnTo>
                <a:lnTo>
                  <a:pt x="384365" y="129908"/>
                </a:lnTo>
                <a:lnTo>
                  <a:pt x="342150" y="141973"/>
                </a:lnTo>
                <a:lnTo>
                  <a:pt x="283095" y="150736"/>
                </a:lnTo>
                <a:lnTo>
                  <a:pt x="215252" y="153885"/>
                </a:lnTo>
                <a:lnTo>
                  <a:pt x="147396" y="150736"/>
                </a:lnTo>
                <a:lnTo>
                  <a:pt x="88341" y="141973"/>
                </a:lnTo>
                <a:lnTo>
                  <a:pt x="41668" y="128625"/>
                </a:lnTo>
                <a:lnTo>
                  <a:pt x="11023" y="111747"/>
                </a:lnTo>
                <a:lnTo>
                  <a:pt x="0" y="92341"/>
                </a:lnTo>
                <a:lnTo>
                  <a:pt x="0" y="215442"/>
                </a:lnTo>
                <a:lnTo>
                  <a:pt x="41668" y="251739"/>
                </a:lnTo>
                <a:lnTo>
                  <a:pt x="88341" y="265074"/>
                </a:lnTo>
                <a:lnTo>
                  <a:pt x="147396" y="273837"/>
                </a:lnTo>
                <a:lnTo>
                  <a:pt x="215252" y="276999"/>
                </a:lnTo>
                <a:lnTo>
                  <a:pt x="283095" y="273837"/>
                </a:lnTo>
                <a:lnTo>
                  <a:pt x="342150" y="265074"/>
                </a:lnTo>
                <a:lnTo>
                  <a:pt x="388823" y="251739"/>
                </a:lnTo>
                <a:lnTo>
                  <a:pt x="419468" y="234848"/>
                </a:lnTo>
                <a:lnTo>
                  <a:pt x="430491" y="215442"/>
                </a:lnTo>
                <a:lnTo>
                  <a:pt x="430491" y="184670"/>
                </a:lnTo>
                <a:lnTo>
                  <a:pt x="430491" y="153885"/>
                </a:lnTo>
                <a:lnTo>
                  <a:pt x="430491" y="92341"/>
                </a:lnTo>
                <a:close/>
              </a:path>
              <a:path w="430530" h="584835">
                <a:moveTo>
                  <a:pt x="430491" y="61569"/>
                </a:moveTo>
                <a:lnTo>
                  <a:pt x="388962" y="25209"/>
                </a:lnTo>
                <a:lnTo>
                  <a:pt x="342366" y="11874"/>
                </a:lnTo>
                <a:lnTo>
                  <a:pt x="283286" y="3136"/>
                </a:lnTo>
                <a:lnTo>
                  <a:pt x="215252" y="0"/>
                </a:lnTo>
                <a:lnTo>
                  <a:pt x="147218" y="3136"/>
                </a:lnTo>
                <a:lnTo>
                  <a:pt x="88125" y="11874"/>
                </a:lnTo>
                <a:lnTo>
                  <a:pt x="41529" y="25209"/>
                </a:lnTo>
                <a:lnTo>
                  <a:pt x="10972" y="42113"/>
                </a:lnTo>
                <a:lnTo>
                  <a:pt x="0" y="61569"/>
                </a:lnTo>
                <a:lnTo>
                  <a:pt x="10972" y="81013"/>
                </a:lnTo>
                <a:lnTo>
                  <a:pt x="41529" y="97917"/>
                </a:lnTo>
                <a:lnTo>
                  <a:pt x="88125" y="111239"/>
                </a:lnTo>
                <a:lnTo>
                  <a:pt x="147218" y="119976"/>
                </a:lnTo>
                <a:lnTo>
                  <a:pt x="215252" y="123113"/>
                </a:lnTo>
                <a:lnTo>
                  <a:pt x="283286" y="119976"/>
                </a:lnTo>
                <a:lnTo>
                  <a:pt x="342366" y="111239"/>
                </a:lnTo>
                <a:lnTo>
                  <a:pt x="388962" y="97917"/>
                </a:lnTo>
                <a:lnTo>
                  <a:pt x="419519" y="81013"/>
                </a:lnTo>
                <a:lnTo>
                  <a:pt x="430491" y="61569"/>
                </a:lnTo>
                <a:close/>
              </a:path>
            </a:pathLst>
          </a:custGeom>
          <a:solidFill>
            <a:srgbClr val="006EBE"/>
          </a:solidFill>
        </p:spPr>
        <p:txBody>
          <a:bodyPr wrap="square" lIns="0" tIns="0" rIns="0" bIns="0" rtlCol="0"/>
          <a:lstStyle/>
          <a:p>
            <a:endParaRPr sz="2400"/>
          </a:p>
        </p:txBody>
      </p:sp>
      <p:grpSp>
        <p:nvGrpSpPr>
          <p:cNvPr id="42" name="object 42"/>
          <p:cNvGrpSpPr/>
          <p:nvPr/>
        </p:nvGrpSpPr>
        <p:grpSpPr>
          <a:xfrm>
            <a:off x="946912" y="3017519"/>
            <a:ext cx="2600113" cy="1163320"/>
            <a:chOff x="710183" y="2263139"/>
            <a:chExt cx="1950085" cy="872490"/>
          </a:xfrm>
        </p:grpSpPr>
        <p:sp>
          <p:nvSpPr>
            <p:cNvPr id="43" name="object 43"/>
            <p:cNvSpPr/>
            <p:nvPr/>
          </p:nvSpPr>
          <p:spPr>
            <a:xfrm>
              <a:off x="768095" y="2299715"/>
              <a:ext cx="1812289" cy="708660"/>
            </a:xfrm>
            <a:custGeom>
              <a:avLst/>
              <a:gdLst/>
              <a:ahLst/>
              <a:cxnLst/>
              <a:rect l="l" t="t" r="r" b="b"/>
              <a:pathLst>
                <a:path w="1812289" h="708660">
                  <a:moveTo>
                    <a:pt x="1812036" y="0"/>
                  </a:moveTo>
                  <a:lnTo>
                    <a:pt x="0" y="0"/>
                  </a:lnTo>
                  <a:lnTo>
                    <a:pt x="0" y="708660"/>
                  </a:lnTo>
                  <a:lnTo>
                    <a:pt x="1812036" y="708660"/>
                  </a:lnTo>
                  <a:lnTo>
                    <a:pt x="1812036" y="0"/>
                  </a:lnTo>
                  <a:close/>
                </a:path>
              </a:pathLst>
            </a:custGeom>
            <a:solidFill>
              <a:srgbClr val="D9D9D9">
                <a:alpha val="50195"/>
              </a:srgbClr>
            </a:solidFill>
          </p:spPr>
          <p:txBody>
            <a:bodyPr wrap="square" lIns="0" tIns="0" rIns="0" bIns="0" rtlCol="0"/>
            <a:lstStyle/>
            <a:p>
              <a:endParaRPr sz="2400"/>
            </a:p>
          </p:txBody>
        </p:sp>
        <p:pic>
          <p:nvPicPr>
            <p:cNvPr id="44" name="object 44"/>
            <p:cNvPicPr/>
            <p:nvPr/>
          </p:nvPicPr>
          <p:blipFill>
            <a:blip r:embed="rId13" cstate="print"/>
            <a:stretch>
              <a:fillRect/>
            </a:stretch>
          </p:blipFill>
          <p:spPr>
            <a:xfrm>
              <a:off x="710183" y="2263139"/>
              <a:ext cx="1949957" cy="567690"/>
            </a:xfrm>
            <a:prstGeom prst="rect">
              <a:avLst/>
            </a:prstGeom>
          </p:spPr>
        </p:pic>
        <p:pic>
          <p:nvPicPr>
            <p:cNvPr id="45" name="object 45"/>
            <p:cNvPicPr/>
            <p:nvPr/>
          </p:nvPicPr>
          <p:blipFill>
            <a:blip r:embed="rId14" cstate="print"/>
            <a:stretch>
              <a:fillRect/>
            </a:stretch>
          </p:blipFill>
          <p:spPr>
            <a:xfrm>
              <a:off x="856487" y="2567939"/>
              <a:ext cx="1657350" cy="567690"/>
            </a:xfrm>
            <a:prstGeom prst="rect">
              <a:avLst/>
            </a:prstGeom>
          </p:spPr>
        </p:pic>
      </p:grpSp>
      <p:sp>
        <p:nvSpPr>
          <p:cNvPr id="46" name="object 46"/>
          <p:cNvSpPr txBox="1"/>
          <p:nvPr/>
        </p:nvSpPr>
        <p:spPr>
          <a:xfrm>
            <a:off x="1024128" y="3066289"/>
            <a:ext cx="2416385" cy="881566"/>
          </a:xfrm>
          <a:prstGeom prst="rect">
            <a:avLst/>
          </a:prstGeom>
        </p:spPr>
        <p:txBody>
          <a:bodyPr vert="horz" wrap="square" lIns="0" tIns="60113" rIns="0" bIns="0" rtlCol="0">
            <a:spAutoFit/>
          </a:bodyPr>
          <a:lstStyle/>
          <a:p>
            <a:pPr marL="134617">
              <a:spcBef>
                <a:spcPts val="473"/>
              </a:spcBef>
            </a:pPr>
            <a:r>
              <a:rPr sz="2667" dirty="0">
                <a:solidFill>
                  <a:srgbClr val="FFFFFF"/>
                </a:solidFill>
                <a:latin typeface="Bahnschrift"/>
                <a:cs typeface="Bahnschrift"/>
              </a:rPr>
              <a:t>"Shared</a:t>
            </a:r>
            <a:r>
              <a:rPr sz="2667" spc="233" dirty="0">
                <a:solidFill>
                  <a:srgbClr val="FFFFFF"/>
                </a:solidFill>
                <a:latin typeface="Bahnschrift"/>
                <a:cs typeface="Bahnschrift"/>
              </a:rPr>
              <a:t> </a:t>
            </a:r>
            <a:r>
              <a:rPr sz="2667" spc="-13" dirty="0">
                <a:solidFill>
                  <a:srgbClr val="FFFFFF"/>
                </a:solidFill>
                <a:latin typeface="Bahnschrift"/>
                <a:cs typeface="Bahnschrift"/>
              </a:rPr>
              <a:t>disk"</a:t>
            </a:r>
            <a:endParaRPr sz="2667">
              <a:latin typeface="Bahnschrift"/>
              <a:cs typeface="Bahnschrift"/>
            </a:endParaRPr>
          </a:p>
          <a:p>
            <a:pPr marL="330192"/>
            <a:r>
              <a:rPr sz="2667" spc="-13" dirty="0">
                <a:solidFill>
                  <a:srgbClr val="FFFFFF"/>
                </a:solidFill>
                <a:latin typeface="Bahnschrift"/>
                <a:cs typeface="Bahnschrift"/>
              </a:rPr>
              <a:t>architicture</a:t>
            </a:r>
            <a:endParaRPr sz="2667">
              <a:latin typeface="Bahnschrift"/>
              <a:cs typeface="Bahnschrift"/>
            </a:endParaRPr>
          </a:p>
        </p:txBody>
      </p:sp>
    </p:spTree>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375067" y="3106944"/>
            <a:ext cx="4121573" cy="2020147"/>
            <a:chOff x="2531300" y="2330208"/>
            <a:chExt cx="3091180" cy="1515110"/>
          </a:xfrm>
        </p:grpSpPr>
        <p:sp>
          <p:nvSpPr>
            <p:cNvPr id="3" name="object 3"/>
            <p:cNvSpPr/>
            <p:nvPr/>
          </p:nvSpPr>
          <p:spPr>
            <a:xfrm>
              <a:off x="2544318" y="2431542"/>
              <a:ext cx="3065145" cy="769620"/>
            </a:xfrm>
            <a:custGeom>
              <a:avLst/>
              <a:gdLst/>
              <a:ahLst/>
              <a:cxnLst/>
              <a:rect l="l" t="t" r="r" b="b"/>
              <a:pathLst>
                <a:path w="3065145" h="769619">
                  <a:moveTo>
                    <a:pt x="3064763" y="0"/>
                  </a:moveTo>
                  <a:lnTo>
                    <a:pt x="0" y="0"/>
                  </a:lnTo>
                  <a:lnTo>
                    <a:pt x="0" y="769619"/>
                  </a:lnTo>
                  <a:lnTo>
                    <a:pt x="3064763" y="769619"/>
                  </a:lnTo>
                  <a:lnTo>
                    <a:pt x="3064763" y="0"/>
                  </a:lnTo>
                  <a:close/>
                </a:path>
              </a:pathLst>
            </a:custGeom>
            <a:solidFill>
              <a:srgbClr val="BCBCBC"/>
            </a:solidFill>
          </p:spPr>
          <p:txBody>
            <a:bodyPr wrap="square" lIns="0" tIns="0" rIns="0" bIns="0" rtlCol="0"/>
            <a:lstStyle/>
            <a:p>
              <a:endParaRPr sz="2400"/>
            </a:p>
          </p:txBody>
        </p:sp>
        <p:sp>
          <p:nvSpPr>
            <p:cNvPr id="4" name="object 4"/>
            <p:cNvSpPr/>
            <p:nvPr/>
          </p:nvSpPr>
          <p:spPr>
            <a:xfrm>
              <a:off x="2544318" y="2431542"/>
              <a:ext cx="3065145" cy="769620"/>
            </a:xfrm>
            <a:custGeom>
              <a:avLst/>
              <a:gdLst/>
              <a:ahLst/>
              <a:cxnLst/>
              <a:rect l="l" t="t" r="r" b="b"/>
              <a:pathLst>
                <a:path w="3065145" h="769619">
                  <a:moveTo>
                    <a:pt x="0" y="769619"/>
                  </a:moveTo>
                  <a:lnTo>
                    <a:pt x="3064763" y="769619"/>
                  </a:lnTo>
                  <a:lnTo>
                    <a:pt x="3064763" y="0"/>
                  </a:lnTo>
                  <a:lnTo>
                    <a:pt x="0" y="0"/>
                  </a:lnTo>
                  <a:lnTo>
                    <a:pt x="0" y="769619"/>
                  </a:lnTo>
                  <a:close/>
                </a:path>
              </a:pathLst>
            </a:custGeom>
            <a:ln w="25908">
              <a:solidFill>
                <a:srgbClr val="008FBB"/>
              </a:solidFill>
            </a:ln>
          </p:spPr>
          <p:txBody>
            <a:bodyPr wrap="square" lIns="0" tIns="0" rIns="0" bIns="0" rtlCol="0"/>
            <a:lstStyle/>
            <a:p>
              <a:endParaRPr sz="2400"/>
            </a:p>
          </p:txBody>
        </p:sp>
        <p:sp>
          <p:nvSpPr>
            <p:cNvPr id="5" name="object 5"/>
            <p:cNvSpPr/>
            <p:nvPr/>
          </p:nvSpPr>
          <p:spPr>
            <a:xfrm>
              <a:off x="2625001" y="2578709"/>
              <a:ext cx="430530" cy="584835"/>
            </a:xfrm>
            <a:custGeom>
              <a:avLst/>
              <a:gdLst/>
              <a:ahLst/>
              <a:cxnLst/>
              <a:rect l="l" t="t" r="r" b="b"/>
              <a:pathLst>
                <a:path w="430530" h="584835">
                  <a:moveTo>
                    <a:pt x="430491" y="400100"/>
                  </a:moveTo>
                  <a:lnTo>
                    <a:pt x="419468" y="419493"/>
                  </a:lnTo>
                  <a:lnTo>
                    <a:pt x="388823" y="436384"/>
                  </a:lnTo>
                  <a:lnTo>
                    <a:pt x="384365" y="437667"/>
                  </a:lnTo>
                  <a:lnTo>
                    <a:pt x="384365" y="498576"/>
                  </a:lnTo>
                  <a:lnTo>
                    <a:pt x="384365" y="517042"/>
                  </a:lnTo>
                  <a:lnTo>
                    <a:pt x="378218" y="523201"/>
                  </a:lnTo>
                  <a:lnTo>
                    <a:pt x="359765" y="523201"/>
                  </a:lnTo>
                  <a:lnTo>
                    <a:pt x="353618" y="517042"/>
                  </a:lnTo>
                  <a:lnTo>
                    <a:pt x="353618" y="498576"/>
                  </a:lnTo>
                  <a:lnTo>
                    <a:pt x="359765" y="492417"/>
                  </a:lnTo>
                  <a:lnTo>
                    <a:pt x="378218" y="492417"/>
                  </a:lnTo>
                  <a:lnTo>
                    <a:pt x="384365" y="498576"/>
                  </a:lnTo>
                  <a:lnTo>
                    <a:pt x="384365" y="437667"/>
                  </a:lnTo>
                  <a:lnTo>
                    <a:pt x="342150" y="449732"/>
                  </a:lnTo>
                  <a:lnTo>
                    <a:pt x="283095" y="458495"/>
                  </a:lnTo>
                  <a:lnTo>
                    <a:pt x="215252" y="461645"/>
                  </a:lnTo>
                  <a:lnTo>
                    <a:pt x="147396" y="458495"/>
                  </a:lnTo>
                  <a:lnTo>
                    <a:pt x="88341" y="449732"/>
                  </a:lnTo>
                  <a:lnTo>
                    <a:pt x="41668" y="436384"/>
                  </a:lnTo>
                  <a:lnTo>
                    <a:pt x="11023" y="419493"/>
                  </a:lnTo>
                  <a:lnTo>
                    <a:pt x="0" y="400100"/>
                  </a:lnTo>
                  <a:lnTo>
                    <a:pt x="0" y="523201"/>
                  </a:lnTo>
                  <a:lnTo>
                    <a:pt x="41668" y="559485"/>
                  </a:lnTo>
                  <a:lnTo>
                    <a:pt x="88341" y="572833"/>
                  </a:lnTo>
                  <a:lnTo>
                    <a:pt x="147396" y="581596"/>
                  </a:lnTo>
                  <a:lnTo>
                    <a:pt x="215252" y="584746"/>
                  </a:lnTo>
                  <a:lnTo>
                    <a:pt x="283095" y="581596"/>
                  </a:lnTo>
                  <a:lnTo>
                    <a:pt x="342150" y="572833"/>
                  </a:lnTo>
                  <a:lnTo>
                    <a:pt x="388823" y="559485"/>
                  </a:lnTo>
                  <a:lnTo>
                    <a:pt x="419468" y="542594"/>
                  </a:lnTo>
                  <a:lnTo>
                    <a:pt x="430491" y="523201"/>
                  </a:lnTo>
                  <a:lnTo>
                    <a:pt x="430491" y="492417"/>
                  </a:lnTo>
                  <a:lnTo>
                    <a:pt x="430491" y="461645"/>
                  </a:lnTo>
                  <a:lnTo>
                    <a:pt x="430491" y="400100"/>
                  </a:lnTo>
                  <a:close/>
                </a:path>
                <a:path w="430530" h="584835">
                  <a:moveTo>
                    <a:pt x="430491" y="246214"/>
                  </a:moveTo>
                  <a:lnTo>
                    <a:pt x="419468" y="265620"/>
                  </a:lnTo>
                  <a:lnTo>
                    <a:pt x="388823" y="282511"/>
                  </a:lnTo>
                  <a:lnTo>
                    <a:pt x="384365" y="283794"/>
                  </a:lnTo>
                  <a:lnTo>
                    <a:pt x="384365" y="344703"/>
                  </a:lnTo>
                  <a:lnTo>
                    <a:pt x="384365" y="363169"/>
                  </a:lnTo>
                  <a:lnTo>
                    <a:pt x="378218" y="369316"/>
                  </a:lnTo>
                  <a:lnTo>
                    <a:pt x="359765" y="369316"/>
                  </a:lnTo>
                  <a:lnTo>
                    <a:pt x="353618" y="363169"/>
                  </a:lnTo>
                  <a:lnTo>
                    <a:pt x="353618" y="344703"/>
                  </a:lnTo>
                  <a:lnTo>
                    <a:pt x="359765" y="338543"/>
                  </a:lnTo>
                  <a:lnTo>
                    <a:pt x="378218" y="338543"/>
                  </a:lnTo>
                  <a:lnTo>
                    <a:pt x="384365" y="344703"/>
                  </a:lnTo>
                  <a:lnTo>
                    <a:pt x="384365" y="283794"/>
                  </a:lnTo>
                  <a:lnTo>
                    <a:pt x="342150" y="295859"/>
                  </a:lnTo>
                  <a:lnTo>
                    <a:pt x="283095" y="304622"/>
                  </a:lnTo>
                  <a:lnTo>
                    <a:pt x="215252" y="307771"/>
                  </a:lnTo>
                  <a:lnTo>
                    <a:pt x="147396" y="304622"/>
                  </a:lnTo>
                  <a:lnTo>
                    <a:pt x="88341" y="295859"/>
                  </a:lnTo>
                  <a:lnTo>
                    <a:pt x="41668" y="282511"/>
                  </a:lnTo>
                  <a:lnTo>
                    <a:pt x="11023" y="265620"/>
                  </a:lnTo>
                  <a:lnTo>
                    <a:pt x="0" y="246214"/>
                  </a:lnTo>
                  <a:lnTo>
                    <a:pt x="0" y="369316"/>
                  </a:lnTo>
                  <a:lnTo>
                    <a:pt x="41668" y="405612"/>
                  </a:lnTo>
                  <a:lnTo>
                    <a:pt x="88341" y="418960"/>
                  </a:lnTo>
                  <a:lnTo>
                    <a:pt x="147396" y="427723"/>
                  </a:lnTo>
                  <a:lnTo>
                    <a:pt x="215252" y="430872"/>
                  </a:lnTo>
                  <a:lnTo>
                    <a:pt x="283095" y="427723"/>
                  </a:lnTo>
                  <a:lnTo>
                    <a:pt x="342150" y="418960"/>
                  </a:lnTo>
                  <a:lnTo>
                    <a:pt x="388823" y="405612"/>
                  </a:lnTo>
                  <a:lnTo>
                    <a:pt x="419468" y="388721"/>
                  </a:lnTo>
                  <a:lnTo>
                    <a:pt x="430491" y="369316"/>
                  </a:lnTo>
                  <a:lnTo>
                    <a:pt x="430491" y="338543"/>
                  </a:lnTo>
                  <a:lnTo>
                    <a:pt x="430491" y="307771"/>
                  </a:lnTo>
                  <a:lnTo>
                    <a:pt x="430491" y="246214"/>
                  </a:lnTo>
                  <a:close/>
                </a:path>
                <a:path w="430530" h="584835">
                  <a:moveTo>
                    <a:pt x="430491" y="92341"/>
                  </a:moveTo>
                  <a:lnTo>
                    <a:pt x="419468" y="111747"/>
                  </a:lnTo>
                  <a:lnTo>
                    <a:pt x="388823" y="128625"/>
                  </a:lnTo>
                  <a:lnTo>
                    <a:pt x="384365" y="129908"/>
                  </a:lnTo>
                  <a:lnTo>
                    <a:pt x="384365" y="190817"/>
                  </a:lnTo>
                  <a:lnTo>
                    <a:pt x="384365" y="209283"/>
                  </a:lnTo>
                  <a:lnTo>
                    <a:pt x="378218" y="215442"/>
                  </a:lnTo>
                  <a:lnTo>
                    <a:pt x="359765" y="215442"/>
                  </a:lnTo>
                  <a:lnTo>
                    <a:pt x="353618" y="209283"/>
                  </a:lnTo>
                  <a:lnTo>
                    <a:pt x="353618" y="190817"/>
                  </a:lnTo>
                  <a:lnTo>
                    <a:pt x="359765" y="184670"/>
                  </a:lnTo>
                  <a:lnTo>
                    <a:pt x="378218" y="184670"/>
                  </a:lnTo>
                  <a:lnTo>
                    <a:pt x="384365" y="190817"/>
                  </a:lnTo>
                  <a:lnTo>
                    <a:pt x="384365" y="129908"/>
                  </a:lnTo>
                  <a:lnTo>
                    <a:pt x="342150" y="141973"/>
                  </a:lnTo>
                  <a:lnTo>
                    <a:pt x="283095" y="150736"/>
                  </a:lnTo>
                  <a:lnTo>
                    <a:pt x="215252" y="153885"/>
                  </a:lnTo>
                  <a:lnTo>
                    <a:pt x="147396" y="150736"/>
                  </a:lnTo>
                  <a:lnTo>
                    <a:pt x="88341" y="141973"/>
                  </a:lnTo>
                  <a:lnTo>
                    <a:pt x="41668" y="128625"/>
                  </a:lnTo>
                  <a:lnTo>
                    <a:pt x="11023" y="111747"/>
                  </a:lnTo>
                  <a:lnTo>
                    <a:pt x="0" y="92341"/>
                  </a:lnTo>
                  <a:lnTo>
                    <a:pt x="0" y="215442"/>
                  </a:lnTo>
                  <a:lnTo>
                    <a:pt x="41668" y="251739"/>
                  </a:lnTo>
                  <a:lnTo>
                    <a:pt x="88341" y="265074"/>
                  </a:lnTo>
                  <a:lnTo>
                    <a:pt x="147396" y="273837"/>
                  </a:lnTo>
                  <a:lnTo>
                    <a:pt x="215252" y="276999"/>
                  </a:lnTo>
                  <a:lnTo>
                    <a:pt x="283095" y="273837"/>
                  </a:lnTo>
                  <a:lnTo>
                    <a:pt x="342150" y="265074"/>
                  </a:lnTo>
                  <a:lnTo>
                    <a:pt x="388823" y="251739"/>
                  </a:lnTo>
                  <a:lnTo>
                    <a:pt x="419468" y="234848"/>
                  </a:lnTo>
                  <a:lnTo>
                    <a:pt x="430491" y="215442"/>
                  </a:lnTo>
                  <a:lnTo>
                    <a:pt x="430491" y="184670"/>
                  </a:lnTo>
                  <a:lnTo>
                    <a:pt x="430491" y="153885"/>
                  </a:lnTo>
                  <a:lnTo>
                    <a:pt x="430491" y="92341"/>
                  </a:lnTo>
                  <a:close/>
                </a:path>
                <a:path w="430530" h="584835">
                  <a:moveTo>
                    <a:pt x="430491" y="61569"/>
                  </a:moveTo>
                  <a:lnTo>
                    <a:pt x="388962" y="25209"/>
                  </a:lnTo>
                  <a:lnTo>
                    <a:pt x="342366" y="11874"/>
                  </a:lnTo>
                  <a:lnTo>
                    <a:pt x="283286" y="3136"/>
                  </a:lnTo>
                  <a:lnTo>
                    <a:pt x="215252" y="0"/>
                  </a:lnTo>
                  <a:lnTo>
                    <a:pt x="147218" y="3136"/>
                  </a:lnTo>
                  <a:lnTo>
                    <a:pt x="88125" y="11874"/>
                  </a:lnTo>
                  <a:lnTo>
                    <a:pt x="41529" y="25209"/>
                  </a:lnTo>
                  <a:lnTo>
                    <a:pt x="10972" y="42113"/>
                  </a:lnTo>
                  <a:lnTo>
                    <a:pt x="0" y="61569"/>
                  </a:lnTo>
                  <a:lnTo>
                    <a:pt x="10972" y="81026"/>
                  </a:lnTo>
                  <a:lnTo>
                    <a:pt x="41529" y="97917"/>
                  </a:lnTo>
                  <a:lnTo>
                    <a:pt x="88125" y="111239"/>
                  </a:lnTo>
                  <a:lnTo>
                    <a:pt x="147218" y="119976"/>
                  </a:lnTo>
                  <a:lnTo>
                    <a:pt x="215252" y="123113"/>
                  </a:lnTo>
                  <a:lnTo>
                    <a:pt x="283286" y="119976"/>
                  </a:lnTo>
                  <a:lnTo>
                    <a:pt x="342366" y="111239"/>
                  </a:lnTo>
                  <a:lnTo>
                    <a:pt x="388962" y="97917"/>
                  </a:lnTo>
                  <a:lnTo>
                    <a:pt x="419519" y="81026"/>
                  </a:lnTo>
                  <a:lnTo>
                    <a:pt x="430491" y="61569"/>
                  </a:lnTo>
                  <a:close/>
                </a:path>
              </a:pathLst>
            </a:custGeom>
            <a:solidFill>
              <a:srgbClr val="006EBE"/>
            </a:solidFill>
          </p:spPr>
          <p:txBody>
            <a:bodyPr wrap="square" lIns="0" tIns="0" rIns="0" bIns="0" rtlCol="0"/>
            <a:lstStyle/>
            <a:p>
              <a:endParaRPr sz="2400"/>
            </a:p>
          </p:txBody>
        </p:sp>
        <p:pic>
          <p:nvPicPr>
            <p:cNvPr id="6" name="object 6"/>
            <p:cNvPicPr/>
            <p:nvPr/>
          </p:nvPicPr>
          <p:blipFill>
            <a:blip r:embed="rId2" cstate="print"/>
            <a:stretch>
              <a:fillRect/>
            </a:stretch>
          </p:blipFill>
          <p:spPr>
            <a:xfrm>
              <a:off x="5143002" y="2619475"/>
              <a:ext cx="413931" cy="415500"/>
            </a:xfrm>
            <a:prstGeom prst="rect">
              <a:avLst/>
            </a:prstGeom>
          </p:spPr>
        </p:pic>
        <p:pic>
          <p:nvPicPr>
            <p:cNvPr id="7" name="object 7"/>
            <p:cNvPicPr/>
            <p:nvPr/>
          </p:nvPicPr>
          <p:blipFill>
            <a:blip r:embed="rId3" cstate="print"/>
            <a:stretch>
              <a:fillRect/>
            </a:stretch>
          </p:blipFill>
          <p:spPr>
            <a:xfrm>
              <a:off x="3262884" y="2680665"/>
              <a:ext cx="888504" cy="420674"/>
            </a:xfrm>
            <a:prstGeom prst="rect">
              <a:avLst/>
            </a:prstGeom>
          </p:spPr>
        </p:pic>
        <p:sp>
          <p:nvSpPr>
            <p:cNvPr id="8" name="object 8"/>
            <p:cNvSpPr/>
            <p:nvPr/>
          </p:nvSpPr>
          <p:spPr>
            <a:xfrm>
              <a:off x="3306318" y="2784875"/>
              <a:ext cx="638175" cy="171450"/>
            </a:xfrm>
            <a:custGeom>
              <a:avLst/>
              <a:gdLst/>
              <a:ahLst/>
              <a:cxnLst/>
              <a:rect l="l" t="t" r="r" b="b"/>
              <a:pathLst>
                <a:path w="638175" h="171450">
                  <a:moveTo>
                    <a:pt x="562374" y="85578"/>
                  </a:moveTo>
                  <a:lnTo>
                    <a:pt x="476377" y="135743"/>
                  </a:lnTo>
                  <a:lnTo>
                    <a:pt x="470697" y="140795"/>
                  </a:lnTo>
                  <a:lnTo>
                    <a:pt x="467518" y="147395"/>
                  </a:lnTo>
                  <a:lnTo>
                    <a:pt x="467054" y="154709"/>
                  </a:lnTo>
                  <a:lnTo>
                    <a:pt x="469519" y="161905"/>
                  </a:lnTo>
                  <a:lnTo>
                    <a:pt x="474497" y="167513"/>
                  </a:lnTo>
                  <a:lnTo>
                    <a:pt x="481060" y="170668"/>
                  </a:lnTo>
                  <a:lnTo>
                    <a:pt x="488360" y="171156"/>
                  </a:lnTo>
                  <a:lnTo>
                    <a:pt x="495554" y="168763"/>
                  </a:lnTo>
                  <a:lnTo>
                    <a:pt x="605415" y="104628"/>
                  </a:lnTo>
                  <a:lnTo>
                    <a:pt x="600202" y="104628"/>
                  </a:lnTo>
                  <a:lnTo>
                    <a:pt x="600202" y="102088"/>
                  </a:lnTo>
                  <a:lnTo>
                    <a:pt x="590677" y="102088"/>
                  </a:lnTo>
                  <a:lnTo>
                    <a:pt x="562374" y="85578"/>
                  </a:lnTo>
                  <a:close/>
                </a:path>
                <a:path w="638175" h="171450">
                  <a:moveTo>
                    <a:pt x="529717" y="66528"/>
                  </a:moveTo>
                  <a:lnTo>
                    <a:pt x="0" y="66528"/>
                  </a:lnTo>
                  <a:lnTo>
                    <a:pt x="0" y="104628"/>
                  </a:lnTo>
                  <a:lnTo>
                    <a:pt x="529717" y="104628"/>
                  </a:lnTo>
                  <a:lnTo>
                    <a:pt x="562374" y="85578"/>
                  </a:lnTo>
                  <a:lnTo>
                    <a:pt x="529717" y="66528"/>
                  </a:lnTo>
                  <a:close/>
                </a:path>
                <a:path w="638175" h="171450">
                  <a:moveTo>
                    <a:pt x="605415" y="66528"/>
                  </a:moveTo>
                  <a:lnTo>
                    <a:pt x="600202" y="66528"/>
                  </a:lnTo>
                  <a:lnTo>
                    <a:pt x="600202" y="104628"/>
                  </a:lnTo>
                  <a:lnTo>
                    <a:pt x="605415" y="104628"/>
                  </a:lnTo>
                  <a:lnTo>
                    <a:pt x="638048" y="85578"/>
                  </a:lnTo>
                  <a:lnTo>
                    <a:pt x="605415" y="66528"/>
                  </a:lnTo>
                  <a:close/>
                </a:path>
                <a:path w="638175" h="171450">
                  <a:moveTo>
                    <a:pt x="590677" y="69068"/>
                  </a:moveTo>
                  <a:lnTo>
                    <a:pt x="562374" y="85578"/>
                  </a:lnTo>
                  <a:lnTo>
                    <a:pt x="590677" y="102088"/>
                  </a:lnTo>
                  <a:lnTo>
                    <a:pt x="590677" y="69068"/>
                  </a:lnTo>
                  <a:close/>
                </a:path>
                <a:path w="638175" h="171450">
                  <a:moveTo>
                    <a:pt x="600202" y="69068"/>
                  </a:moveTo>
                  <a:lnTo>
                    <a:pt x="590677" y="69068"/>
                  </a:lnTo>
                  <a:lnTo>
                    <a:pt x="590677" y="102088"/>
                  </a:lnTo>
                  <a:lnTo>
                    <a:pt x="600202" y="102088"/>
                  </a:lnTo>
                  <a:lnTo>
                    <a:pt x="600202" y="69068"/>
                  </a:lnTo>
                  <a:close/>
                </a:path>
                <a:path w="638175" h="171450">
                  <a:moveTo>
                    <a:pt x="488360" y="0"/>
                  </a:moveTo>
                  <a:lnTo>
                    <a:pt x="481060" y="488"/>
                  </a:lnTo>
                  <a:lnTo>
                    <a:pt x="474497" y="3643"/>
                  </a:lnTo>
                  <a:lnTo>
                    <a:pt x="469519" y="9251"/>
                  </a:lnTo>
                  <a:lnTo>
                    <a:pt x="467054" y="16446"/>
                  </a:lnTo>
                  <a:lnTo>
                    <a:pt x="467518" y="23760"/>
                  </a:lnTo>
                  <a:lnTo>
                    <a:pt x="470697" y="30360"/>
                  </a:lnTo>
                  <a:lnTo>
                    <a:pt x="476377" y="35413"/>
                  </a:lnTo>
                  <a:lnTo>
                    <a:pt x="562374" y="85578"/>
                  </a:lnTo>
                  <a:lnTo>
                    <a:pt x="590677" y="69068"/>
                  </a:lnTo>
                  <a:lnTo>
                    <a:pt x="600202" y="69068"/>
                  </a:lnTo>
                  <a:lnTo>
                    <a:pt x="600202" y="66528"/>
                  </a:lnTo>
                  <a:lnTo>
                    <a:pt x="605415" y="66528"/>
                  </a:lnTo>
                  <a:lnTo>
                    <a:pt x="495554" y="2393"/>
                  </a:lnTo>
                  <a:lnTo>
                    <a:pt x="488360" y="0"/>
                  </a:lnTo>
                  <a:close/>
                </a:path>
              </a:pathLst>
            </a:custGeom>
            <a:solidFill>
              <a:srgbClr val="00C3FF"/>
            </a:solidFill>
          </p:spPr>
          <p:txBody>
            <a:bodyPr wrap="square" lIns="0" tIns="0" rIns="0" bIns="0" rtlCol="0"/>
            <a:lstStyle/>
            <a:p>
              <a:endParaRPr sz="2400"/>
            </a:p>
          </p:txBody>
        </p:sp>
        <p:pic>
          <p:nvPicPr>
            <p:cNvPr id="9" name="object 9"/>
            <p:cNvPicPr/>
            <p:nvPr/>
          </p:nvPicPr>
          <p:blipFill>
            <a:blip r:embed="rId4" cstate="print"/>
            <a:stretch>
              <a:fillRect/>
            </a:stretch>
          </p:blipFill>
          <p:spPr>
            <a:xfrm>
              <a:off x="3278124" y="3424377"/>
              <a:ext cx="928115" cy="420674"/>
            </a:xfrm>
            <a:prstGeom prst="rect">
              <a:avLst/>
            </a:prstGeom>
          </p:spPr>
        </p:pic>
        <p:sp>
          <p:nvSpPr>
            <p:cNvPr id="10" name="object 10"/>
            <p:cNvSpPr/>
            <p:nvPr/>
          </p:nvSpPr>
          <p:spPr>
            <a:xfrm>
              <a:off x="3321558" y="3528970"/>
              <a:ext cx="676910" cy="171450"/>
            </a:xfrm>
            <a:custGeom>
              <a:avLst/>
              <a:gdLst/>
              <a:ahLst/>
              <a:cxnLst/>
              <a:rect l="l" t="t" r="r" b="b"/>
              <a:pathLst>
                <a:path w="676910" h="171450">
                  <a:moveTo>
                    <a:pt x="643936" y="66272"/>
                  </a:moveTo>
                  <a:lnTo>
                    <a:pt x="638682" y="66272"/>
                  </a:lnTo>
                  <a:lnTo>
                    <a:pt x="638809" y="104372"/>
                  </a:lnTo>
                  <a:lnTo>
                    <a:pt x="568325" y="104540"/>
                  </a:lnTo>
                  <a:lnTo>
                    <a:pt x="514984" y="135868"/>
                  </a:lnTo>
                  <a:lnTo>
                    <a:pt x="509379" y="140846"/>
                  </a:lnTo>
                  <a:lnTo>
                    <a:pt x="506237" y="147409"/>
                  </a:lnTo>
                  <a:lnTo>
                    <a:pt x="505787" y="154709"/>
                  </a:lnTo>
                  <a:lnTo>
                    <a:pt x="508253" y="161903"/>
                  </a:lnTo>
                  <a:lnTo>
                    <a:pt x="513286" y="167509"/>
                  </a:lnTo>
                  <a:lnTo>
                    <a:pt x="519842" y="170650"/>
                  </a:lnTo>
                  <a:lnTo>
                    <a:pt x="527113" y="171100"/>
                  </a:lnTo>
                  <a:lnTo>
                    <a:pt x="534288" y="168634"/>
                  </a:lnTo>
                  <a:lnTo>
                    <a:pt x="676528" y="85195"/>
                  </a:lnTo>
                  <a:lnTo>
                    <a:pt x="643936" y="66272"/>
                  </a:lnTo>
                  <a:close/>
                </a:path>
                <a:path w="676910" h="171450">
                  <a:moveTo>
                    <a:pt x="568347" y="66440"/>
                  </a:moveTo>
                  <a:lnTo>
                    <a:pt x="0" y="67796"/>
                  </a:lnTo>
                  <a:lnTo>
                    <a:pt x="0" y="105896"/>
                  </a:lnTo>
                  <a:lnTo>
                    <a:pt x="568325" y="104540"/>
                  </a:lnTo>
                  <a:lnTo>
                    <a:pt x="601011" y="85343"/>
                  </a:lnTo>
                  <a:lnTo>
                    <a:pt x="568347" y="66440"/>
                  </a:lnTo>
                  <a:close/>
                </a:path>
                <a:path w="676910" h="171450">
                  <a:moveTo>
                    <a:pt x="601011" y="85343"/>
                  </a:moveTo>
                  <a:lnTo>
                    <a:pt x="568325" y="104540"/>
                  </a:lnTo>
                  <a:lnTo>
                    <a:pt x="638809" y="104372"/>
                  </a:lnTo>
                  <a:lnTo>
                    <a:pt x="638801" y="101705"/>
                  </a:lnTo>
                  <a:lnTo>
                    <a:pt x="629284" y="101705"/>
                  </a:lnTo>
                  <a:lnTo>
                    <a:pt x="601011" y="85343"/>
                  </a:lnTo>
                  <a:close/>
                </a:path>
                <a:path w="676910" h="171450">
                  <a:moveTo>
                    <a:pt x="629157" y="68812"/>
                  </a:moveTo>
                  <a:lnTo>
                    <a:pt x="601011" y="85343"/>
                  </a:lnTo>
                  <a:lnTo>
                    <a:pt x="629284" y="101705"/>
                  </a:lnTo>
                  <a:lnTo>
                    <a:pt x="629157" y="68812"/>
                  </a:lnTo>
                  <a:close/>
                </a:path>
                <a:path w="676910" h="171450">
                  <a:moveTo>
                    <a:pt x="638691" y="68812"/>
                  </a:moveTo>
                  <a:lnTo>
                    <a:pt x="629157" y="68812"/>
                  </a:lnTo>
                  <a:lnTo>
                    <a:pt x="629284" y="101705"/>
                  </a:lnTo>
                  <a:lnTo>
                    <a:pt x="638801" y="101705"/>
                  </a:lnTo>
                  <a:lnTo>
                    <a:pt x="638691" y="68812"/>
                  </a:lnTo>
                  <a:close/>
                </a:path>
                <a:path w="676910" h="171450">
                  <a:moveTo>
                    <a:pt x="638682" y="66272"/>
                  </a:moveTo>
                  <a:lnTo>
                    <a:pt x="568347" y="66440"/>
                  </a:lnTo>
                  <a:lnTo>
                    <a:pt x="601011" y="85343"/>
                  </a:lnTo>
                  <a:lnTo>
                    <a:pt x="629157" y="68812"/>
                  </a:lnTo>
                  <a:lnTo>
                    <a:pt x="638691" y="68812"/>
                  </a:lnTo>
                  <a:lnTo>
                    <a:pt x="638682" y="66272"/>
                  </a:lnTo>
                  <a:close/>
                </a:path>
                <a:path w="676910" h="171450">
                  <a:moveTo>
                    <a:pt x="526714" y="0"/>
                  </a:moveTo>
                  <a:lnTo>
                    <a:pt x="519414" y="502"/>
                  </a:lnTo>
                  <a:lnTo>
                    <a:pt x="512851" y="3694"/>
                  </a:lnTo>
                  <a:lnTo>
                    <a:pt x="507872" y="9376"/>
                  </a:lnTo>
                  <a:lnTo>
                    <a:pt x="505426" y="16498"/>
                  </a:lnTo>
                  <a:lnTo>
                    <a:pt x="505920" y="23774"/>
                  </a:lnTo>
                  <a:lnTo>
                    <a:pt x="509105" y="30360"/>
                  </a:lnTo>
                  <a:lnTo>
                    <a:pt x="514730" y="35411"/>
                  </a:lnTo>
                  <a:lnTo>
                    <a:pt x="568347" y="66440"/>
                  </a:lnTo>
                  <a:lnTo>
                    <a:pt x="643936" y="66272"/>
                  </a:lnTo>
                  <a:lnTo>
                    <a:pt x="533907" y="2391"/>
                  </a:lnTo>
                  <a:lnTo>
                    <a:pt x="526714" y="0"/>
                  </a:lnTo>
                  <a:close/>
                </a:path>
              </a:pathLst>
            </a:custGeom>
            <a:solidFill>
              <a:srgbClr val="00C3FF"/>
            </a:solidFill>
          </p:spPr>
          <p:txBody>
            <a:bodyPr wrap="square" lIns="0" tIns="0" rIns="0" bIns="0" rtlCol="0"/>
            <a:lstStyle/>
            <a:p>
              <a:endParaRPr sz="2400"/>
            </a:p>
          </p:txBody>
        </p:sp>
        <p:sp>
          <p:nvSpPr>
            <p:cNvPr id="11" name="object 11"/>
            <p:cNvSpPr/>
            <p:nvPr/>
          </p:nvSpPr>
          <p:spPr>
            <a:xfrm>
              <a:off x="4070375" y="2724315"/>
              <a:ext cx="382905" cy="1025525"/>
            </a:xfrm>
            <a:custGeom>
              <a:avLst/>
              <a:gdLst/>
              <a:ahLst/>
              <a:cxnLst/>
              <a:rect l="l" t="t" r="r" b="b"/>
              <a:pathLst>
                <a:path w="382904" h="1025525">
                  <a:moveTo>
                    <a:pt x="129578" y="933107"/>
                  </a:moveTo>
                  <a:lnTo>
                    <a:pt x="121145" y="933107"/>
                  </a:lnTo>
                  <a:lnTo>
                    <a:pt x="121145" y="941552"/>
                  </a:lnTo>
                  <a:lnTo>
                    <a:pt x="121145" y="989076"/>
                  </a:lnTo>
                  <a:lnTo>
                    <a:pt x="36385" y="989076"/>
                  </a:lnTo>
                  <a:lnTo>
                    <a:pt x="36385" y="941552"/>
                  </a:lnTo>
                  <a:lnTo>
                    <a:pt x="121145" y="941552"/>
                  </a:lnTo>
                  <a:lnTo>
                    <a:pt x="121145" y="933107"/>
                  </a:lnTo>
                  <a:lnTo>
                    <a:pt x="27952" y="933107"/>
                  </a:lnTo>
                  <a:lnTo>
                    <a:pt x="27952" y="997521"/>
                  </a:lnTo>
                  <a:lnTo>
                    <a:pt x="129578" y="997521"/>
                  </a:lnTo>
                  <a:lnTo>
                    <a:pt x="129578" y="993292"/>
                  </a:lnTo>
                  <a:lnTo>
                    <a:pt x="129578" y="989076"/>
                  </a:lnTo>
                  <a:lnTo>
                    <a:pt x="129578" y="941552"/>
                  </a:lnTo>
                  <a:lnTo>
                    <a:pt x="129578" y="937336"/>
                  </a:lnTo>
                  <a:lnTo>
                    <a:pt x="129578" y="933107"/>
                  </a:lnTo>
                  <a:close/>
                </a:path>
                <a:path w="382904" h="1025525">
                  <a:moveTo>
                    <a:pt x="129578" y="858494"/>
                  </a:moveTo>
                  <a:lnTo>
                    <a:pt x="121145" y="858494"/>
                  </a:lnTo>
                  <a:lnTo>
                    <a:pt x="121145" y="866940"/>
                  </a:lnTo>
                  <a:lnTo>
                    <a:pt x="121145" y="914463"/>
                  </a:lnTo>
                  <a:lnTo>
                    <a:pt x="36385" y="914463"/>
                  </a:lnTo>
                  <a:lnTo>
                    <a:pt x="36385" y="866940"/>
                  </a:lnTo>
                  <a:lnTo>
                    <a:pt x="121145" y="866940"/>
                  </a:lnTo>
                  <a:lnTo>
                    <a:pt x="121145" y="858494"/>
                  </a:lnTo>
                  <a:lnTo>
                    <a:pt x="27952" y="858494"/>
                  </a:lnTo>
                  <a:lnTo>
                    <a:pt x="27952" y="922909"/>
                  </a:lnTo>
                  <a:lnTo>
                    <a:pt x="129578" y="922909"/>
                  </a:lnTo>
                  <a:lnTo>
                    <a:pt x="129578" y="918679"/>
                  </a:lnTo>
                  <a:lnTo>
                    <a:pt x="129578" y="914463"/>
                  </a:lnTo>
                  <a:lnTo>
                    <a:pt x="129578" y="866940"/>
                  </a:lnTo>
                  <a:lnTo>
                    <a:pt x="129578" y="862723"/>
                  </a:lnTo>
                  <a:lnTo>
                    <a:pt x="129578" y="858494"/>
                  </a:lnTo>
                  <a:close/>
                </a:path>
                <a:path w="382904" h="1025525">
                  <a:moveTo>
                    <a:pt x="129578" y="783882"/>
                  </a:moveTo>
                  <a:lnTo>
                    <a:pt x="121145" y="783882"/>
                  </a:lnTo>
                  <a:lnTo>
                    <a:pt x="121145" y="792327"/>
                  </a:lnTo>
                  <a:lnTo>
                    <a:pt x="121145" y="839838"/>
                  </a:lnTo>
                  <a:lnTo>
                    <a:pt x="36385" y="839838"/>
                  </a:lnTo>
                  <a:lnTo>
                    <a:pt x="36385" y="792327"/>
                  </a:lnTo>
                  <a:lnTo>
                    <a:pt x="121145" y="792327"/>
                  </a:lnTo>
                  <a:lnTo>
                    <a:pt x="121145" y="783882"/>
                  </a:lnTo>
                  <a:lnTo>
                    <a:pt x="27952" y="783882"/>
                  </a:lnTo>
                  <a:lnTo>
                    <a:pt x="27952" y="848283"/>
                  </a:lnTo>
                  <a:lnTo>
                    <a:pt x="129578" y="848283"/>
                  </a:lnTo>
                  <a:lnTo>
                    <a:pt x="129578" y="844067"/>
                  </a:lnTo>
                  <a:lnTo>
                    <a:pt x="129578" y="839838"/>
                  </a:lnTo>
                  <a:lnTo>
                    <a:pt x="129578" y="792327"/>
                  </a:lnTo>
                  <a:lnTo>
                    <a:pt x="129578" y="788111"/>
                  </a:lnTo>
                  <a:lnTo>
                    <a:pt x="129578" y="783882"/>
                  </a:lnTo>
                  <a:close/>
                </a:path>
                <a:path w="382904" h="1025525">
                  <a:moveTo>
                    <a:pt x="131102" y="177203"/>
                  </a:moveTo>
                  <a:lnTo>
                    <a:pt x="122669" y="177203"/>
                  </a:lnTo>
                  <a:lnTo>
                    <a:pt x="122669" y="185648"/>
                  </a:lnTo>
                  <a:lnTo>
                    <a:pt x="122669" y="233172"/>
                  </a:lnTo>
                  <a:lnTo>
                    <a:pt x="37909" y="233172"/>
                  </a:lnTo>
                  <a:lnTo>
                    <a:pt x="37909" y="185648"/>
                  </a:lnTo>
                  <a:lnTo>
                    <a:pt x="122669" y="185648"/>
                  </a:lnTo>
                  <a:lnTo>
                    <a:pt x="122669" y="177203"/>
                  </a:lnTo>
                  <a:lnTo>
                    <a:pt x="29476" y="177203"/>
                  </a:lnTo>
                  <a:lnTo>
                    <a:pt x="29476" y="241617"/>
                  </a:lnTo>
                  <a:lnTo>
                    <a:pt x="131102" y="241617"/>
                  </a:lnTo>
                  <a:lnTo>
                    <a:pt x="131102" y="237388"/>
                  </a:lnTo>
                  <a:lnTo>
                    <a:pt x="131102" y="233172"/>
                  </a:lnTo>
                  <a:lnTo>
                    <a:pt x="131102" y="185648"/>
                  </a:lnTo>
                  <a:lnTo>
                    <a:pt x="131102" y="181432"/>
                  </a:lnTo>
                  <a:lnTo>
                    <a:pt x="131102" y="177203"/>
                  </a:lnTo>
                  <a:close/>
                </a:path>
                <a:path w="382904" h="1025525">
                  <a:moveTo>
                    <a:pt x="131102" y="102590"/>
                  </a:moveTo>
                  <a:lnTo>
                    <a:pt x="122669" y="102590"/>
                  </a:lnTo>
                  <a:lnTo>
                    <a:pt x="122669" y="111036"/>
                  </a:lnTo>
                  <a:lnTo>
                    <a:pt x="122669" y="158559"/>
                  </a:lnTo>
                  <a:lnTo>
                    <a:pt x="37909" y="158559"/>
                  </a:lnTo>
                  <a:lnTo>
                    <a:pt x="37909" y="111036"/>
                  </a:lnTo>
                  <a:lnTo>
                    <a:pt x="122669" y="111036"/>
                  </a:lnTo>
                  <a:lnTo>
                    <a:pt x="122669" y="102590"/>
                  </a:lnTo>
                  <a:lnTo>
                    <a:pt x="29476" y="102590"/>
                  </a:lnTo>
                  <a:lnTo>
                    <a:pt x="29476" y="167005"/>
                  </a:lnTo>
                  <a:lnTo>
                    <a:pt x="131102" y="167005"/>
                  </a:lnTo>
                  <a:lnTo>
                    <a:pt x="131102" y="162775"/>
                  </a:lnTo>
                  <a:lnTo>
                    <a:pt x="131102" y="158559"/>
                  </a:lnTo>
                  <a:lnTo>
                    <a:pt x="131102" y="111036"/>
                  </a:lnTo>
                  <a:lnTo>
                    <a:pt x="131102" y="106819"/>
                  </a:lnTo>
                  <a:lnTo>
                    <a:pt x="131102" y="102590"/>
                  </a:lnTo>
                  <a:close/>
                </a:path>
                <a:path w="382904" h="1025525">
                  <a:moveTo>
                    <a:pt x="131102" y="27978"/>
                  </a:moveTo>
                  <a:lnTo>
                    <a:pt x="122669" y="27978"/>
                  </a:lnTo>
                  <a:lnTo>
                    <a:pt x="122669" y="36423"/>
                  </a:lnTo>
                  <a:lnTo>
                    <a:pt x="122669" y="83934"/>
                  </a:lnTo>
                  <a:lnTo>
                    <a:pt x="37909" y="83934"/>
                  </a:lnTo>
                  <a:lnTo>
                    <a:pt x="37909" y="36423"/>
                  </a:lnTo>
                  <a:lnTo>
                    <a:pt x="122669" y="36423"/>
                  </a:lnTo>
                  <a:lnTo>
                    <a:pt x="122669" y="27978"/>
                  </a:lnTo>
                  <a:lnTo>
                    <a:pt x="29476" y="27978"/>
                  </a:lnTo>
                  <a:lnTo>
                    <a:pt x="29476" y="92379"/>
                  </a:lnTo>
                  <a:lnTo>
                    <a:pt x="131102" y="92379"/>
                  </a:lnTo>
                  <a:lnTo>
                    <a:pt x="131102" y="88163"/>
                  </a:lnTo>
                  <a:lnTo>
                    <a:pt x="131102" y="83934"/>
                  </a:lnTo>
                  <a:lnTo>
                    <a:pt x="131102" y="36423"/>
                  </a:lnTo>
                  <a:lnTo>
                    <a:pt x="131102" y="32207"/>
                  </a:lnTo>
                  <a:lnTo>
                    <a:pt x="131102" y="27978"/>
                  </a:lnTo>
                  <a:close/>
                </a:path>
                <a:path w="382904" h="1025525">
                  <a:moveTo>
                    <a:pt x="241401" y="933107"/>
                  </a:moveTo>
                  <a:lnTo>
                    <a:pt x="232968" y="933107"/>
                  </a:lnTo>
                  <a:lnTo>
                    <a:pt x="232968" y="941552"/>
                  </a:lnTo>
                  <a:lnTo>
                    <a:pt x="232968" y="989076"/>
                  </a:lnTo>
                  <a:lnTo>
                    <a:pt x="148221" y="989076"/>
                  </a:lnTo>
                  <a:lnTo>
                    <a:pt x="148221" y="941552"/>
                  </a:lnTo>
                  <a:lnTo>
                    <a:pt x="232968" y="941552"/>
                  </a:lnTo>
                  <a:lnTo>
                    <a:pt x="232968" y="933107"/>
                  </a:lnTo>
                  <a:lnTo>
                    <a:pt x="139776" y="933107"/>
                  </a:lnTo>
                  <a:lnTo>
                    <a:pt x="139776" y="997521"/>
                  </a:lnTo>
                  <a:lnTo>
                    <a:pt x="241401" y="997521"/>
                  </a:lnTo>
                  <a:lnTo>
                    <a:pt x="241401" y="993292"/>
                  </a:lnTo>
                  <a:lnTo>
                    <a:pt x="241401" y="989076"/>
                  </a:lnTo>
                  <a:lnTo>
                    <a:pt x="241401" y="941552"/>
                  </a:lnTo>
                  <a:lnTo>
                    <a:pt x="241401" y="937336"/>
                  </a:lnTo>
                  <a:lnTo>
                    <a:pt x="241401" y="933107"/>
                  </a:lnTo>
                  <a:close/>
                </a:path>
                <a:path w="382904" h="1025525">
                  <a:moveTo>
                    <a:pt x="241401" y="858494"/>
                  </a:moveTo>
                  <a:lnTo>
                    <a:pt x="232968" y="858494"/>
                  </a:lnTo>
                  <a:lnTo>
                    <a:pt x="232968" y="866940"/>
                  </a:lnTo>
                  <a:lnTo>
                    <a:pt x="232968" y="914463"/>
                  </a:lnTo>
                  <a:lnTo>
                    <a:pt x="148221" y="914463"/>
                  </a:lnTo>
                  <a:lnTo>
                    <a:pt x="148221" y="866940"/>
                  </a:lnTo>
                  <a:lnTo>
                    <a:pt x="232968" y="866940"/>
                  </a:lnTo>
                  <a:lnTo>
                    <a:pt x="232968" y="858494"/>
                  </a:lnTo>
                  <a:lnTo>
                    <a:pt x="139776" y="858494"/>
                  </a:lnTo>
                  <a:lnTo>
                    <a:pt x="139776" y="922909"/>
                  </a:lnTo>
                  <a:lnTo>
                    <a:pt x="241401" y="922909"/>
                  </a:lnTo>
                  <a:lnTo>
                    <a:pt x="241401" y="918679"/>
                  </a:lnTo>
                  <a:lnTo>
                    <a:pt x="241401" y="914463"/>
                  </a:lnTo>
                  <a:lnTo>
                    <a:pt x="241401" y="866940"/>
                  </a:lnTo>
                  <a:lnTo>
                    <a:pt x="241401" y="862723"/>
                  </a:lnTo>
                  <a:lnTo>
                    <a:pt x="241401" y="858494"/>
                  </a:lnTo>
                  <a:close/>
                </a:path>
                <a:path w="382904" h="1025525">
                  <a:moveTo>
                    <a:pt x="241401" y="783882"/>
                  </a:moveTo>
                  <a:lnTo>
                    <a:pt x="232968" y="783882"/>
                  </a:lnTo>
                  <a:lnTo>
                    <a:pt x="232968" y="792327"/>
                  </a:lnTo>
                  <a:lnTo>
                    <a:pt x="232968" y="839838"/>
                  </a:lnTo>
                  <a:lnTo>
                    <a:pt x="148221" y="839838"/>
                  </a:lnTo>
                  <a:lnTo>
                    <a:pt x="148221" y="792327"/>
                  </a:lnTo>
                  <a:lnTo>
                    <a:pt x="232968" y="792327"/>
                  </a:lnTo>
                  <a:lnTo>
                    <a:pt x="232968" y="783882"/>
                  </a:lnTo>
                  <a:lnTo>
                    <a:pt x="139776" y="783882"/>
                  </a:lnTo>
                  <a:lnTo>
                    <a:pt x="139776" y="848283"/>
                  </a:lnTo>
                  <a:lnTo>
                    <a:pt x="241401" y="848283"/>
                  </a:lnTo>
                  <a:lnTo>
                    <a:pt x="241401" y="844067"/>
                  </a:lnTo>
                  <a:lnTo>
                    <a:pt x="241401" y="839838"/>
                  </a:lnTo>
                  <a:lnTo>
                    <a:pt x="241401" y="792327"/>
                  </a:lnTo>
                  <a:lnTo>
                    <a:pt x="241401" y="788111"/>
                  </a:lnTo>
                  <a:lnTo>
                    <a:pt x="241401" y="783882"/>
                  </a:lnTo>
                  <a:close/>
                </a:path>
                <a:path w="382904" h="1025525">
                  <a:moveTo>
                    <a:pt x="242925" y="177203"/>
                  </a:moveTo>
                  <a:lnTo>
                    <a:pt x="234492" y="177203"/>
                  </a:lnTo>
                  <a:lnTo>
                    <a:pt x="234492" y="185648"/>
                  </a:lnTo>
                  <a:lnTo>
                    <a:pt x="234492" y="233172"/>
                  </a:lnTo>
                  <a:lnTo>
                    <a:pt x="149745" y="233172"/>
                  </a:lnTo>
                  <a:lnTo>
                    <a:pt x="149745" y="185648"/>
                  </a:lnTo>
                  <a:lnTo>
                    <a:pt x="234492" y="185648"/>
                  </a:lnTo>
                  <a:lnTo>
                    <a:pt x="234492" y="177203"/>
                  </a:lnTo>
                  <a:lnTo>
                    <a:pt x="141300" y="177203"/>
                  </a:lnTo>
                  <a:lnTo>
                    <a:pt x="141300" y="241617"/>
                  </a:lnTo>
                  <a:lnTo>
                    <a:pt x="242925" y="241617"/>
                  </a:lnTo>
                  <a:lnTo>
                    <a:pt x="242925" y="237388"/>
                  </a:lnTo>
                  <a:lnTo>
                    <a:pt x="242925" y="233172"/>
                  </a:lnTo>
                  <a:lnTo>
                    <a:pt x="242925" y="185648"/>
                  </a:lnTo>
                  <a:lnTo>
                    <a:pt x="242925" y="181432"/>
                  </a:lnTo>
                  <a:lnTo>
                    <a:pt x="242925" y="177203"/>
                  </a:lnTo>
                  <a:close/>
                </a:path>
                <a:path w="382904" h="1025525">
                  <a:moveTo>
                    <a:pt x="242925" y="102590"/>
                  </a:moveTo>
                  <a:lnTo>
                    <a:pt x="234492" y="102590"/>
                  </a:lnTo>
                  <a:lnTo>
                    <a:pt x="234492" y="111036"/>
                  </a:lnTo>
                  <a:lnTo>
                    <a:pt x="234492" y="158559"/>
                  </a:lnTo>
                  <a:lnTo>
                    <a:pt x="149745" y="158559"/>
                  </a:lnTo>
                  <a:lnTo>
                    <a:pt x="149745" y="111036"/>
                  </a:lnTo>
                  <a:lnTo>
                    <a:pt x="234492" y="111036"/>
                  </a:lnTo>
                  <a:lnTo>
                    <a:pt x="234492" y="102590"/>
                  </a:lnTo>
                  <a:lnTo>
                    <a:pt x="141300" y="102590"/>
                  </a:lnTo>
                  <a:lnTo>
                    <a:pt x="141300" y="167005"/>
                  </a:lnTo>
                  <a:lnTo>
                    <a:pt x="242925" y="167005"/>
                  </a:lnTo>
                  <a:lnTo>
                    <a:pt x="242925" y="162775"/>
                  </a:lnTo>
                  <a:lnTo>
                    <a:pt x="242925" y="158559"/>
                  </a:lnTo>
                  <a:lnTo>
                    <a:pt x="242925" y="111036"/>
                  </a:lnTo>
                  <a:lnTo>
                    <a:pt x="242925" y="106819"/>
                  </a:lnTo>
                  <a:lnTo>
                    <a:pt x="242925" y="102590"/>
                  </a:lnTo>
                  <a:close/>
                </a:path>
                <a:path w="382904" h="1025525">
                  <a:moveTo>
                    <a:pt x="242925" y="27978"/>
                  </a:moveTo>
                  <a:lnTo>
                    <a:pt x="234492" y="27978"/>
                  </a:lnTo>
                  <a:lnTo>
                    <a:pt x="234492" y="36423"/>
                  </a:lnTo>
                  <a:lnTo>
                    <a:pt x="234492" y="83934"/>
                  </a:lnTo>
                  <a:lnTo>
                    <a:pt x="149745" y="83934"/>
                  </a:lnTo>
                  <a:lnTo>
                    <a:pt x="149745" y="36423"/>
                  </a:lnTo>
                  <a:lnTo>
                    <a:pt x="234492" y="36423"/>
                  </a:lnTo>
                  <a:lnTo>
                    <a:pt x="234492" y="27978"/>
                  </a:lnTo>
                  <a:lnTo>
                    <a:pt x="141300" y="27978"/>
                  </a:lnTo>
                  <a:lnTo>
                    <a:pt x="141300" y="92379"/>
                  </a:lnTo>
                  <a:lnTo>
                    <a:pt x="242925" y="92379"/>
                  </a:lnTo>
                  <a:lnTo>
                    <a:pt x="242925" y="88163"/>
                  </a:lnTo>
                  <a:lnTo>
                    <a:pt x="242925" y="83934"/>
                  </a:lnTo>
                  <a:lnTo>
                    <a:pt x="242925" y="36423"/>
                  </a:lnTo>
                  <a:lnTo>
                    <a:pt x="242925" y="32207"/>
                  </a:lnTo>
                  <a:lnTo>
                    <a:pt x="242925" y="27978"/>
                  </a:lnTo>
                  <a:close/>
                </a:path>
                <a:path w="382904" h="1025525">
                  <a:moveTo>
                    <a:pt x="353250" y="933107"/>
                  </a:moveTo>
                  <a:lnTo>
                    <a:pt x="344792" y="933107"/>
                  </a:lnTo>
                  <a:lnTo>
                    <a:pt x="344792" y="941552"/>
                  </a:lnTo>
                  <a:lnTo>
                    <a:pt x="344792" y="989076"/>
                  </a:lnTo>
                  <a:lnTo>
                    <a:pt x="260045" y="989076"/>
                  </a:lnTo>
                  <a:lnTo>
                    <a:pt x="260045" y="941552"/>
                  </a:lnTo>
                  <a:lnTo>
                    <a:pt x="344792" y="941552"/>
                  </a:lnTo>
                  <a:lnTo>
                    <a:pt x="344792" y="933107"/>
                  </a:lnTo>
                  <a:lnTo>
                    <a:pt x="251612" y="933107"/>
                  </a:lnTo>
                  <a:lnTo>
                    <a:pt x="251612" y="997521"/>
                  </a:lnTo>
                  <a:lnTo>
                    <a:pt x="353250" y="997521"/>
                  </a:lnTo>
                  <a:lnTo>
                    <a:pt x="353250" y="993292"/>
                  </a:lnTo>
                  <a:lnTo>
                    <a:pt x="353250" y="989076"/>
                  </a:lnTo>
                  <a:lnTo>
                    <a:pt x="353250" y="941552"/>
                  </a:lnTo>
                  <a:lnTo>
                    <a:pt x="353250" y="937336"/>
                  </a:lnTo>
                  <a:lnTo>
                    <a:pt x="353250" y="933107"/>
                  </a:lnTo>
                  <a:close/>
                </a:path>
                <a:path w="382904" h="1025525">
                  <a:moveTo>
                    <a:pt x="353250" y="858494"/>
                  </a:moveTo>
                  <a:lnTo>
                    <a:pt x="344792" y="858494"/>
                  </a:lnTo>
                  <a:lnTo>
                    <a:pt x="344792" y="866940"/>
                  </a:lnTo>
                  <a:lnTo>
                    <a:pt x="344792" y="914463"/>
                  </a:lnTo>
                  <a:lnTo>
                    <a:pt x="260045" y="914463"/>
                  </a:lnTo>
                  <a:lnTo>
                    <a:pt x="260045" y="866940"/>
                  </a:lnTo>
                  <a:lnTo>
                    <a:pt x="344792" y="866940"/>
                  </a:lnTo>
                  <a:lnTo>
                    <a:pt x="344792" y="858494"/>
                  </a:lnTo>
                  <a:lnTo>
                    <a:pt x="251612" y="858494"/>
                  </a:lnTo>
                  <a:lnTo>
                    <a:pt x="251612" y="922909"/>
                  </a:lnTo>
                  <a:lnTo>
                    <a:pt x="353250" y="922909"/>
                  </a:lnTo>
                  <a:lnTo>
                    <a:pt x="353250" y="918679"/>
                  </a:lnTo>
                  <a:lnTo>
                    <a:pt x="353250" y="914463"/>
                  </a:lnTo>
                  <a:lnTo>
                    <a:pt x="353250" y="866940"/>
                  </a:lnTo>
                  <a:lnTo>
                    <a:pt x="353250" y="862723"/>
                  </a:lnTo>
                  <a:lnTo>
                    <a:pt x="353250" y="858494"/>
                  </a:lnTo>
                  <a:close/>
                </a:path>
                <a:path w="382904" h="1025525">
                  <a:moveTo>
                    <a:pt x="353250" y="783882"/>
                  </a:moveTo>
                  <a:lnTo>
                    <a:pt x="344792" y="783882"/>
                  </a:lnTo>
                  <a:lnTo>
                    <a:pt x="344792" y="792327"/>
                  </a:lnTo>
                  <a:lnTo>
                    <a:pt x="344792" y="839838"/>
                  </a:lnTo>
                  <a:lnTo>
                    <a:pt x="260045" y="839838"/>
                  </a:lnTo>
                  <a:lnTo>
                    <a:pt x="260045" y="792327"/>
                  </a:lnTo>
                  <a:lnTo>
                    <a:pt x="344792" y="792327"/>
                  </a:lnTo>
                  <a:lnTo>
                    <a:pt x="344792" y="783882"/>
                  </a:lnTo>
                  <a:lnTo>
                    <a:pt x="251612" y="783882"/>
                  </a:lnTo>
                  <a:lnTo>
                    <a:pt x="251612" y="848283"/>
                  </a:lnTo>
                  <a:lnTo>
                    <a:pt x="353250" y="848283"/>
                  </a:lnTo>
                  <a:lnTo>
                    <a:pt x="353250" y="844067"/>
                  </a:lnTo>
                  <a:lnTo>
                    <a:pt x="353250" y="839838"/>
                  </a:lnTo>
                  <a:lnTo>
                    <a:pt x="353250" y="792327"/>
                  </a:lnTo>
                  <a:lnTo>
                    <a:pt x="353250" y="788111"/>
                  </a:lnTo>
                  <a:lnTo>
                    <a:pt x="353250" y="783882"/>
                  </a:lnTo>
                  <a:close/>
                </a:path>
                <a:path w="382904" h="1025525">
                  <a:moveTo>
                    <a:pt x="354774" y="177203"/>
                  </a:moveTo>
                  <a:lnTo>
                    <a:pt x="346316" y="177203"/>
                  </a:lnTo>
                  <a:lnTo>
                    <a:pt x="346316" y="185648"/>
                  </a:lnTo>
                  <a:lnTo>
                    <a:pt x="346316" y="233172"/>
                  </a:lnTo>
                  <a:lnTo>
                    <a:pt x="261569" y="233172"/>
                  </a:lnTo>
                  <a:lnTo>
                    <a:pt x="261569" y="185648"/>
                  </a:lnTo>
                  <a:lnTo>
                    <a:pt x="346316" y="185648"/>
                  </a:lnTo>
                  <a:lnTo>
                    <a:pt x="346316" y="177203"/>
                  </a:lnTo>
                  <a:lnTo>
                    <a:pt x="253136" y="177203"/>
                  </a:lnTo>
                  <a:lnTo>
                    <a:pt x="253136" y="241617"/>
                  </a:lnTo>
                  <a:lnTo>
                    <a:pt x="354774" y="241617"/>
                  </a:lnTo>
                  <a:lnTo>
                    <a:pt x="354774" y="237388"/>
                  </a:lnTo>
                  <a:lnTo>
                    <a:pt x="354774" y="233172"/>
                  </a:lnTo>
                  <a:lnTo>
                    <a:pt x="354774" y="185648"/>
                  </a:lnTo>
                  <a:lnTo>
                    <a:pt x="354774" y="181432"/>
                  </a:lnTo>
                  <a:lnTo>
                    <a:pt x="354774" y="177203"/>
                  </a:lnTo>
                  <a:close/>
                </a:path>
                <a:path w="382904" h="1025525">
                  <a:moveTo>
                    <a:pt x="354774" y="102590"/>
                  </a:moveTo>
                  <a:lnTo>
                    <a:pt x="346316" y="102590"/>
                  </a:lnTo>
                  <a:lnTo>
                    <a:pt x="346316" y="111036"/>
                  </a:lnTo>
                  <a:lnTo>
                    <a:pt x="346316" y="158559"/>
                  </a:lnTo>
                  <a:lnTo>
                    <a:pt x="261569" y="158559"/>
                  </a:lnTo>
                  <a:lnTo>
                    <a:pt x="261569" y="111036"/>
                  </a:lnTo>
                  <a:lnTo>
                    <a:pt x="346316" y="111036"/>
                  </a:lnTo>
                  <a:lnTo>
                    <a:pt x="346316" y="102590"/>
                  </a:lnTo>
                  <a:lnTo>
                    <a:pt x="253136" y="102590"/>
                  </a:lnTo>
                  <a:lnTo>
                    <a:pt x="253136" y="167005"/>
                  </a:lnTo>
                  <a:lnTo>
                    <a:pt x="354774" y="167005"/>
                  </a:lnTo>
                  <a:lnTo>
                    <a:pt x="354774" y="162775"/>
                  </a:lnTo>
                  <a:lnTo>
                    <a:pt x="354774" y="158559"/>
                  </a:lnTo>
                  <a:lnTo>
                    <a:pt x="354774" y="111036"/>
                  </a:lnTo>
                  <a:lnTo>
                    <a:pt x="354774" y="106819"/>
                  </a:lnTo>
                  <a:lnTo>
                    <a:pt x="354774" y="102590"/>
                  </a:lnTo>
                  <a:close/>
                </a:path>
                <a:path w="382904" h="1025525">
                  <a:moveTo>
                    <a:pt x="354774" y="27978"/>
                  </a:moveTo>
                  <a:lnTo>
                    <a:pt x="346316" y="27978"/>
                  </a:lnTo>
                  <a:lnTo>
                    <a:pt x="346316" y="36423"/>
                  </a:lnTo>
                  <a:lnTo>
                    <a:pt x="346316" y="83934"/>
                  </a:lnTo>
                  <a:lnTo>
                    <a:pt x="261569" y="83934"/>
                  </a:lnTo>
                  <a:lnTo>
                    <a:pt x="261569" y="36423"/>
                  </a:lnTo>
                  <a:lnTo>
                    <a:pt x="346316" y="36423"/>
                  </a:lnTo>
                  <a:lnTo>
                    <a:pt x="346316" y="27978"/>
                  </a:lnTo>
                  <a:lnTo>
                    <a:pt x="253136" y="27978"/>
                  </a:lnTo>
                  <a:lnTo>
                    <a:pt x="253136" y="92379"/>
                  </a:lnTo>
                  <a:lnTo>
                    <a:pt x="354774" y="92379"/>
                  </a:lnTo>
                  <a:lnTo>
                    <a:pt x="354774" y="88163"/>
                  </a:lnTo>
                  <a:lnTo>
                    <a:pt x="354774" y="83934"/>
                  </a:lnTo>
                  <a:lnTo>
                    <a:pt x="354774" y="36423"/>
                  </a:lnTo>
                  <a:lnTo>
                    <a:pt x="354774" y="32207"/>
                  </a:lnTo>
                  <a:lnTo>
                    <a:pt x="354774" y="27978"/>
                  </a:lnTo>
                  <a:close/>
                </a:path>
                <a:path w="382904" h="1025525">
                  <a:moveTo>
                    <a:pt x="381203" y="755904"/>
                  </a:moveTo>
                  <a:lnTo>
                    <a:pt x="372745" y="755904"/>
                  </a:lnTo>
                  <a:lnTo>
                    <a:pt x="372745" y="764349"/>
                  </a:lnTo>
                  <a:lnTo>
                    <a:pt x="372745" y="1017054"/>
                  </a:lnTo>
                  <a:lnTo>
                    <a:pt x="8432" y="1017054"/>
                  </a:lnTo>
                  <a:lnTo>
                    <a:pt x="8432" y="764349"/>
                  </a:lnTo>
                  <a:lnTo>
                    <a:pt x="372745" y="764349"/>
                  </a:lnTo>
                  <a:lnTo>
                    <a:pt x="372745" y="755904"/>
                  </a:lnTo>
                  <a:lnTo>
                    <a:pt x="0" y="755904"/>
                  </a:lnTo>
                  <a:lnTo>
                    <a:pt x="0" y="1025499"/>
                  </a:lnTo>
                  <a:lnTo>
                    <a:pt x="381203" y="1025499"/>
                  </a:lnTo>
                  <a:lnTo>
                    <a:pt x="381203" y="1021283"/>
                  </a:lnTo>
                  <a:lnTo>
                    <a:pt x="381203" y="1017054"/>
                  </a:lnTo>
                  <a:lnTo>
                    <a:pt x="381203" y="764349"/>
                  </a:lnTo>
                  <a:lnTo>
                    <a:pt x="381203" y="760120"/>
                  </a:lnTo>
                  <a:lnTo>
                    <a:pt x="381203" y="755904"/>
                  </a:lnTo>
                  <a:close/>
                </a:path>
                <a:path w="382904" h="1025525">
                  <a:moveTo>
                    <a:pt x="382727" y="0"/>
                  </a:moveTo>
                  <a:lnTo>
                    <a:pt x="374269" y="0"/>
                  </a:lnTo>
                  <a:lnTo>
                    <a:pt x="374269" y="8445"/>
                  </a:lnTo>
                  <a:lnTo>
                    <a:pt x="374269" y="261150"/>
                  </a:lnTo>
                  <a:lnTo>
                    <a:pt x="9956" y="261150"/>
                  </a:lnTo>
                  <a:lnTo>
                    <a:pt x="9956" y="8445"/>
                  </a:lnTo>
                  <a:lnTo>
                    <a:pt x="374269" y="8445"/>
                  </a:lnTo>
                  <a:lnTo>
                    <a:pt x="374269" y="0"/>
                  </a:lnTo>
                  <a:lnTo>
                    <a:pt x="1524" y="0"/>
                  </a:lnTo>
                  <a:lnTo>
                    <a:pt x="1524" y="269595"/>
                  </a:lnTo>
                  <a:lnTo>
                    <a:pt x="382727" y="269595"/>
                  </a:lnTo>
                  <a:lnTo>
                    <a:pt x="382727" y="265379"/>
                  </a:lnTo>
                  <a:lnTo>
                    <a:pt x="382727" y="261150"/>
                  </a:lnTo>
                  <a:lnTo>
                    <a:pt x="382727" y="8445"/>
                  </a:lnTo>
                  <a:lnTo>
                    <a:pt x="382727" y="4216"/>
                  </a:lnTo>
                  <a:lnTo>
                    <a:pt x="382727" y="0"/>
                  </a:lnTo>
                  <a:close/>
                </a:path>
              </a:pathLst>
            </a:custGeom>
            <a:solidFill>
              <a:srgbClr val="0093FF"/>
            </a:solidFill>
          </p:spPr>
          <p:txBody>
            <a:bodyPr wrap="square" lIns="0" tIns="0" rIns="0" bIns="0" rtlCol="0"/>
            <a:lstStyle/>
            <a:p>
              <a:endParaRPr sz="2400"/>
            </a:p>
          </p:txBody>
        </p:sp>
        <p:pic>
          <p:nvPicPr>
            <p:cNvPr id="12" name="object 12"/>
            <p:cNvPicPr/>
            <p:nvPr/>
          </p:nvPicPr>
          <p:blipFill>
            <a:blip r:embed="rId2" cstate="print"/>
            <a:stretch>
              <a:fillRect/>
            </a:stretch>
          </p:blipFill>
          <p:spPr>
            <a:xfrm>
              <a:off x="5143002" y="3361502"/>
              <a:ext cx="413931" cy="414286"/>
            </a:xfrm>
            <a:prstGeom prst="rect">
              <a:avLst/>
            </a:prstGeom>
          </p:spPr>
        </p:pic>
        <p:pic>
          <p:nvPicPr>
            <p:cNvPr id="13" name="object 13"/>
            <p:cNvPicPr/>
            <p:nvPr/>
          </p:nvPicPr>
          <p:blipFill>
            <a:blip r:embed="rId5" cstate="print"/>
            <a:stretch>
              <a:fillRect/>
            </a:stretch>
          </p:blipFill>
          <p:spPr>
            <a:xfrm>
              <a:off x="4550664" y="2634945"/>
              <a:ext cx="696493" cy="420674"/>
            </a:xfrm>
            <a:prstGeom prst="rect">
              <a:avLst/>
            </a:prstGeom>
          </p:spPr>
        </p:pic>
        <p:sp>
          <p:nvSpPr>
            <p:cNvPr id="14" name="object 14"/>
            <p:cNvSpPr/>
            <p:nvPr/>
          </p:nvSpPr>
          <p:spPr>
            <a:xfrm>
              <a:off x="4594098" y="2739155"/>
              <a:ext cx="445134" cy="171450"/>
            </a:xfrm>
            <a:custGeom>
              <a:avLst/>
              <a:gdLst/>
              <a:ahLst/>
              <a:cxnLst/>
              <a:rect l="l" t="t" r="r" b="b"/>
              <a:pathLst>
                <a:path w="445135" h="171450">
                  <a:moveTo>
                    <a:pt x="369461" y="85578"/>
                  </a:moveTo>
                  <a:lnTo>
                    <a:pt x="283463" y="135743"/>
                  </a:lnTo>
                  <a:lnTo>
                    <a:pt x="277784" y="140795"/>
                  </a:lnTo>
                  <a:lnTo>
                    <a:pt x="274605" y="147395"/>
                  </a:lnTo>
                  <a:lnTo>
                    <a:pt x="274141" y="154709"/>
                  </a:lnTo>
                  <a:lnTo>
                    <a:pt x="276605" y="161905"/>
                  </a:lnTo>
                  <a:lnTo>
                    <a:pt x="281584" y="167512"/>
                  </a:lnTo>
                  <a:lnTo>
                    <a:pt x="288147" y="170668"/>
                  </a:lnTo>
                  <a:lnTo>
                    <a:pt x="295447" y="171156"/>
                  </a:lnTo>
                  <a:lnTo>
                    <a:pt x="302640" y="168763"/>
                  </a:lnTo>
                  <a:lnTo>
                    <a:pt x="412502" y="104628"/>
                  </a:lnTo>
                  <a:lnTo>
                    <a:pt x="407288" y="104628"/>
                  </a:lnTo>
                  <a:lnTo>
                    <a:pt x="407288" y="102088"/>
                  </a:lnTo>
                  <a:lnTo>
                    <a:pt x="397763" y="102088"/>
                  </a:lnTo>
                  <a:lnTo>
                    <a:pt x="369461" y="85578"/>
                  </a:lnTo>
                  <a:close/>
                </a:path>
                <a:path w="445135" h="171450">
                  <a:moveTo>
                    <a:pt x="336803" y="66528"/>
                  </a:moveTo>
                  <a:lnTo>
                    <a:pt x="0" y="66528"/>
                  </a:lnTo>
                  <a:lnTo>
                    <a:pt x="0" y="104628"/>
                  </a:lnTo>
                  <a:lnTo>
                    <a:pt x="336804" y="104628"/>
                  </a:lnTo>
                  <a:lnTo>
                    <a:pt x="369461" y="85578"/>
                  </a:lnTo>
                  <a:lnTo>
                    <a:pt x="336803" y="66528"/>
                  </a:lnTo>
                  <a:close/>
                </a:path>
                <a:path w="445135" h="171450">
                  <a:moveTo>
                    <a:pt x="412502" y="66528"/>
                  </a:moveTo>
                  <a:lnTo>
                    <a:pt x="407288" y="66528"/>
                  </a:lnTo>
                  <a:lnTo>
                    <a:pt x="407288" y="104628"/>
                  </a:lnTo>
                  <a:lnTo>
                    <a:pt x="412502" y="104628"/>
                  </a:lnTo>
                  <a:lnTo>
                    <a:pt x="445134" y="85578"/>
                  </a:lnTo>
                  <a:lnTo>
                    <a:pt x="412502" y="66528"/>
                  </a:lnTo>
                  <a:close/>
                </a:path>
                <a:path w="445135" h="171450">
                  <a:moveTo>
                    <a:pt x="397763" y="69068"/>
                  </a:moveTo>
                  <a:lnTo>
                    <a:pt x="369461" y="85578"/>
                  </a:lnTo>
                  <a:lnTo>
                    <a:pt x="397763" y="102088"/>
                  </a:lnTo>
                  <a:lnTo>
                    <a:pt x="397763" y="69068"/>
                  </a:lnTo>
                  <a:close/>
                </a:path>
                <a:path w="445135" h="171450">
                  <a:moveTo>
                    <a:pt x="407288" y="69068"/>
                  </a:moveTo>
                  <a:lnTo>
                    <a:pt x="397763" y="69068"/>
                  </a:lnTo>
                  <a:lnTo>
                    <a:pt x="397763" y="102088"/>
                  </a:lnTo>
                  <a:lnTo>
                    <a:pt x="407288" y="102088"/>
                  </a:lnTo>
                  <a:lnTo>
                    <a:pt x="407288" y="69068"/>
                  </a:lnTo>
                  <a:close/>
                </a:path>
                <a:path w="445135" h="171450">
                  <a:moveTo>
                    <a:pt x="295447" y="0"/>
                  </a:moveTo>
                  <a:lnTo>
                    <a:pt x="288147" y="488"/>
                  </a:lnTo>
                  <a:lnTo>
                    <a:pt x="281584" y="3643"/>
                  </a:lnTo>
                  <a:lnTo>
                    <a:pt x="276605" y="9251"/>
                  </a:lnTo>
                  <a:lnTo>
                    <a:pt x="274141" y="16446"/>
                  </a:lnTo>
                  <a:lnTo>
                    <a:pt x="274605" y="23760"/>
                  </a:lnTo>
                  <a:lnTo>
                    <a:pt x="277784" y="30360"/>
                  </a:lnTo>
                  <a:lnTo>
                    <a:pt x="283463" y="35413"/>
                  </a:lnTo>
                  <a:lnTo>
                    <a:pt x="369461" y="85578"/>
                  </a:lnTo>
                  <a:lnTo>
                    <a:pt x="397763" y="69068"/>
                  </a:lnTo>
                  <a:lnTo>
                    <a:pt x="407288" y="69068"/>
                  </a:lnTo>
                  <a:lnTo>
                    <a:pt x="407288" y="66528"/>
                  </a:lnTo>
                  <a:lnTo>
                    <a:pt x="412502" y="66528"/>
                  </a:lnTo>
                  <a:lnTo>
                    <a:pt x="302640" y="2393"/>
                  </a:lnTo>
                  <a:lnTo>
                    <a:pt x="295447" y="0"/>
                  </a:lnTo>
                  <a:close/>
                </a:path>
              </a:pathLst>
            </a:custGeom>
            <a:solidFill>
              <a:srgbClr val="00C3FF"/>
            </a:solidFill>
          </p:spPr>
          <p:txBody>
            <a:bodyPr wrap="square" lIns="0" tIns="0" rIns="0" bIns="0" rtlCol="0"/>
            <a:lstStyle/>
            <a:p>
              <a:endParaRPr sz="2400"/>
            </a:p>
          </p:txBody>
        </p:sp>
        <p:pic>
          <p:nvPicPr>
            <p:cNvPr id="15" name="object 15"/>
            <p:cNvPicPr/>
            <p:nvPr/>
          </p:nvPicPr>
          <p:blipFill>
            <a:blip r:embed="rId6" cstate="print"/>
            <a:stretch>
              <a:fillRect/>
            </a:stretch>
          </p:blipFill>
          <p:spPr>
            <a:xfrm>
              <a:off x="4543044" y="3412274"/>
              <a:ext cx="704113" cy="419061"/>
            </a:xfrm>
            <a:prstGeom prst="rect">
              <a:avLst/>
            </a:prstGeom>
          </p:spPr>
        </p:pic>
        <p:sp>
          <p:nvSpPr>
            <p:cNvPr id="16" name="object 16"/>
            <p:cNvSpPr/>
            <p:nvPr/>
          </p:nvSpPr>
          <p:spPr>
            <a:xfrm>
              <a:off x="4586477" y="3515308"/>
              <a:ext cx="452755" cy="171450"/>
            </a:xfrm>
            <a:custGeom>
              <a:avLst/>
              <a:gdLst/>
              <a:ahLst/>
              <a:cxnLst/>
              <a:rect l="l" t="t" r="r" b="b"/>
              <a:pathLst>
                <a:path w="452754" h="171450">
                  <a:moveTo>
                    <a:pt x="405384" y="69266"/>
                  </a:moveTo>
                  <a:lnTo>
                    <a:pt x="290957" y="135814"/>
                  </a:lnTo>
                  <a:lnTo>
                    <a:pt x="285277" y="140793"/>
                  </a:lnTo>
                  <a:lnTo>
                    <a:pt x="282098" y="147355"/>
                  </a:lnTo>
                  <a:lnTo>
                    <a:pt x="281634" y="154656"/>
                  </a:lnTo>
                  <a:lnTo>
                    <a:pt x="284099" y="161849"/>
                  </a:lnTo>
                  <a:lnTo>
                    <a:pt x="289077" y="167475"/>
                  </a:lnTo>
                  <a:lnTo>
                    <a:pt x="295640" y="170660"/>
                  </a:lnTo>
                  <a:lnTo>
                    <a:pt x="302940" y="171154"/>
                  </a:lnTo>
                  <a:lnTo>
                    <a:pt x="310134" y="168707"/>
                  </a:lnTo>
                  <a:lnTo>
                    <a:pt x="419993" y="104826"/>
                  </a:lnTo>
                  <a:lnTo>
                    <a:pt x="414909" y="104826"/>
                  </a:lnTo>
                  <a:lnTo>
                    <a:pt x="414909" y="102159"/>
                  </a:lnTo>
                  <a:lnTo>
                    <a:pt x="405257" y="102159"/>
                  </a:lnTo>
                  <a:lnTo>
                    <a:pt x="377256" y="85776"/>
                  </a:lnTo>
                  <a:lnTo>
                    <a:pt x="405320" y="85776"/>
                  </a:lnTo>
                  <a:lnTo>
                    <a:pt x="405384" y="69266"/>
                  </a:lnTo>
                  <a:close/>
                </a:path>
                <a:path w="452754" h="171450">
                  <a:moveTo>
                    <a:pt x="0" y="66091"/>
                  </a:moveTo>
                  <a:lnTo>
                    <a:pt x="0" y="104191"/>
                  </a:lnTo>
                  <a:lnTo>
                    <a:pt x="414908" y="104826"/>
                  </a:lnTo>
                  <a:lnTo>
                    <a:pt x="344239" y="104826"/>
                  </a:lnTo>
                  <a:lnTo>
                    <a:pt x="376995" y="85776"/>
                  </a:lnTo>
                  <a:lnTo>
                    <a:pt x="377256" y="85776"/>
                  </a:lnTo>
                  <a:lnTo>
                    <a:pt x="344697" y="66726"/>
                  </a:lnTo>
                  <a:lnTo>
                    <a:pt x="414909" y="66726"/>
                  </a:lnTo>
                  <a:lnTo>
                    <a:pt x="0" y="66091"/>
                  </a:lnTo>
                  <a:close/>
                </a:path>
                <a:path w="452754" h="171450">
                  <a:moveTo>
                    <a:pt x="420201" y="66726"/>
                  </a:moveTo>
                  <a:lnTo>
                    <a:pt x="414909" y="66726"/>
                  </a:lnTo>
                  <a:lnTo>
                    <a:pt x="414909" y="104826"/>
                  </a:lnTo>
                  <a:lnTo>
                    <a:pt x="419993" y="104826"/>
                  </a:lnTo>
                  <a:lnTo>
                    <a:pt x="452755" y="85776"/>
                  </a:lnTo>
                  <a:lnTo>
                    <a:pt x="420201" y="66726"/>
                  </a:lnTo>
                  <a:close/>
                </a:path>
                <a:path w="452754" h="171450">
                  <a:moveTo>
                    <a:pt x="405320" y="85776"/>
                  </a:moveTo>
                  <a:lnTo>
                    <a:pt x="377256" y="85776"/>
                  </a:lnTo>
                  <a:lnTo>
                    <a:pt x="405257" y="102159"/>
                  </a:lnTo>
                  <a:lnTo>
                    <a:pt x="405320" y="85776"/>
                  </a:lnTo>
                  <a:close/>
                </a:path>
                <a:path w="452754" h="171450">
                  <a:moveTo>
                    <a:pt x="414909" y="69266"/>
                  </a:moveTo>
                  <a:lnTo>
                    <a:pt x="405384" y="69266"/>
                  </a:lnTo>
                  <a:lnTo>
                    <a:pt x="405257" y="102159"/>
                  </a:lnTo>
                  <a:lnTo>
                    <a:pt x="414909" y="102159"/>
                  </a:lnTo>
                  <a:lnTo>
                    <a:pt x="414909" y="69266"/>
                  </a:lnTo>
                  <a:close/>
                </a:path>
                <a:path w="452754" h="171450">
                  <a:moveTo>
                    <a:pt x="303194" y="0"/>
                  </a:moveTo>
                  <a:lnTo>
                    <a:pt x="295894" y="464"/>
                  </a:lnTo>
                  <a:lnTo>
                    <a:pt x="289331" y="3643"/>
                  </a:lnTo>
                  <a:lnTo>
                    <a:pt x="284352" y="9322"/>
                  </a:lnTo>
                  <a:lnTo>
                    <a:pt x="281886" y="16444"/>
                  </a:lnTo>
                  <a:lnTo>
                    <a:pt x="282336" y="23721"/>
                  </a:lnTo>
                  <a:lnTo>
                    <a:pt x="285478" y="30307"/>
                  </a:lnTo>
                  <a:lnTo>
                    <a:pt x="291084" y="35357"/>
                  </a:lnTo>
                  <a:lnTo>
                    <a:pt x="377256" y="85776"/>
                  </a:lnTo>
                  <a:lnTo>
                    <a:pt x="376995" y="85776"/>
                  </a:lnTo>
                  <a:lnTo>
                    <a:pt x="405384" y="69266"/>
                  </a:lnTo>
                  <a:lnTo>
                    <a:pt x="414909" y="69266"/>
                  </a:lnTo>
                  <a:lnTo>
                    <a:pt x="414909" y="66726"/>
                  </a:lnTo>
                  <a:lnTo>
                    <a:pt x="420201" y="66726"/>
                  </a:lnTo>
                  <a:lnTo>
                    <a:pt x="310388" y="2464"/>
                  </a:lnTo>
                  <a:lnTo>
                    <a:pt x="303194" y="0"/>
                  </a:lnTo>
                  <a:close/>
                </a:path>
              </a:pathLst>
            </a:custGeom>
            <a:solidFill>
              <a:srgbClr val="00C3FF"/>
            </a:solidFill>
          </p:spPr>
          <p:txBody>
            <a:bodyPr wrap="square" lIns="0" tIns="0" rIns="0" bIns="0" rtlCol="0"/>
            <a:lstStyle/>
            <a:p>
              <a:endParaRPr sz="2400"/>
            </a:p>
          </p:txBody>
        </p:sp>
        <p:pic>
          <p:nvPicPr>
            <p:cNvPr id="17" name="object 17"/>
            <p:cNvPicPr/>
            <p:nvPr/>
          </p:nvPicPr>
          <p:blipFill>
            <a:blip r:embed="rId7" cstate="print"/>
            <a:stretch>
              <a:fillRect/>
            </a:stretch>
          </p:blipFill>
          <p:spPr>
            <a:xfrm>
              <a:off x="4453127" y="2330208"/>
              <a:ext cx="678941" cy="401561"/>
            </a:xfrm>
            <a:prstGeom prst="rect">
              <a:avLst/>
            </a:prstGeom>
          </p:spPr>
        </p:pic>
      </p:grpSp>
      <p:sp>
        <p:nvSpPr>
          <p:cNvPr id="18" name="object 18"/>
          <p:cNvSpPr txBox="1">
            <a:spLocks noGrp="1"/>
          </p:cNvSpPr>
          <p:nvPr>
            <p:ph type="title"/>
          </p:nvPr>
        </p:nvSpPr>
        <p:spPr>
          <a:xfrm>
            <a:off x="2895768" y="446671"/>
            <a:ext cx="6583680" cy="590697"/>
          </a:xfrm>
          <a:prstGeom prst="rect">
            <a:avLst/>
          </a:prstGeom>
        </p:spPr>
        <p:txBody>
          <a:bodyPr vert="horz" wrap="square" lIns="0" tIns="16087" rIns="0" bIns="0" rtlCol="0" anchor="ctr">
            <a:spAutoFit/>
          </a:bodyPr>
          <a:lstStyle/>
          <a:p>
            <a:pPr marL="16933">
              <a:lnSpc>
                <a:spcPct val="100000"/>
              </a:lnSpc>
              <a:spcBef>
                <a:spcPts val="127"/>
              </a:spcBef>
            </a:pPr>
            <a:r>
              <a:rPr sz="3733" dirty="0">
                <a:solidFill>
                  <a:schemeClr val="bg1"/>
                </a:solidFill>
                <a:latin typeface="+mn-lt"/>
              </a:rPr>
              <a:t>Massive</a:t>
            </a:r>
            <a:r>
              <a:rPr sz="3733" spc="-80" dirty="0">
                <a:solidFill>
                  <a:schemeClr val="bg1"/>
                </a:solidFill>
                <a:latin typeface="+mn-lt"/>
              </a:rPr>
              <a:t> </a:t>
            </a:r>
            <a:r>
              <a:rPr sz="3733" dirty="0">
                <a:solidFill>
                  <a:schemeClr val="bg1"/>
                </a:solidFill>
                <a:latin typeface="+mn-lt"/>
              </a:rPr>
              <a:t>parallel</a:t>
            </a:r>
            <a:r>
              <a:rPr sz="3733" spc="-100" dirty="0">
                <a:solidFill>
                  <a:schemeClr val="bg1"/>
                </a:solidFill>
                <a:latin typeface="+mn-lt"/>
              </a:rPr>
              <a:t> </a:t>
            </a:r>
            <a:r>
              <a:rPr sz="3733" dirty="0">
                <a:solidFill>
                  <a:schemeClr val="bg1"/>
                </a:solidFill>
                <a:latin typeface="+mn-lt"/>
              </a:rPr>
              <a:t>processing</a:t>
            </a:r>
            <a:r>
              <a:rPr sz="3733" spc="-67" dirty="0">
                <a:solidFill>
                  <a:schemeClr val="bg1"/>
                </a:solidFill>
                <a:latin typeface="+mn-lt"/>
              </a:rPr>
              <a:t> </a:t>
            </a:r>
            <a:r>
              <a:rPr sz="3733" spc="-13" dirty="0">
                <a:solidFill>
                  <a:schemeClr val="bg1"/>
                </a:solidFill>
                <a:latin typeface="+mn-lt"/>
              </a:rPr>
              <a:t>(MPP)</a:t>
            </a:r>
            <a:endParaRPr sz="3733" dirty="0">
              <a:solidFill>
                <a:schemeClr val="bg1"/>
              </a:solidFill>
              <a:latin typeface="+mn-lt"/>
            </a:endParaRPr>
          </a:p>
        </p:txBody>
      </p:sp>
      <p:sp>
        <p:nvSpPr>
          <p:cNvPr id="19" name="object 19"/>
          <p:cNvSpPr/>
          <p:nvPr/>
        </p:nvSpPr>
        <p:spPr>
          <a:xfrm>
            <a:off x="6538113" y="1795830"/>
            <a:ext cx="305647" cy="306493"/>
          </a:xfrm>
          <a:custGeom>
            <a:avLst/>
            <a:gdLst/>
            <a:ahLst/>
            <a:cxnLst/>
            <a:rect l="l" t="t" r="r" b="b"/>
            <a:pathLst>
              <a:path w="229235" h="229869">
                <a:moveTo>
                  <a:pt x="229238" y="0"/>
                </a:moveTo>
                <a:lnTo>
                  <a:pt x="0" y="0"/>
                </a:lnTo>
                <a:lnTo>
                  <a:pt x="0" y="229435"/>
                </a:lnTo>
                <a:lnTo>
                  <a:pt x="229238" y="229435"/>
                </a:lnTo>
                <a:lnTo>
                  <a:pt x="229238" y="0"/>
                </a:lnTo>
                <a:close/>
              </a:path>
            </a:pathLst>
          </a:custGeom>
          <a:solidFill>
            <a:srgbClr val="66BEFF"/>
          </a:solidFill>
        </p:spPr>
        <p:txBody>
          <a:bodyPr wrap="square" lIns="0" tIns="0" rIns="0" bIns="0" rtlCol="0"/>
          <a:lstStyle/>
          <a:p>
            <a:endParaRPr sz="2400"/>
          </a:p>
        </p:txBody>
      </p:sp>
      <p:grpSp>
        <p:nvGrpSpPr>
          <p:cNvPr id="20" name="object 20"/>
          <p:cNvGrpSpPr/>
          <p:nvPr/>
        </p:nvGrpSpPr>
        <p:grpSpPr>
          <a:xfrm>
            <a:off x="3641344" y="1217168"/>
            <a:ext cx="4017433" cy="1345353"/>
            <a:chOff x="2731007" y="912875"/>
            <a:chExt cx="3013075" cy="1009015"/>
          </a:xfrm>
        </p:grpSpPr>
        <p:sp>
          <p:nvSpPr>
            <p:cNvPr id="21" name="object 21"/>
            <p:cNvSpPr/>
            <p:nvPr/>
          </p:nvSpPr>
          <p:spPr>
            <a:xfrm>
              <a:off x="2743961" y="925829"/>
              <a:ext cx="2987040" cy="982980"/>
            </a:xfrm>
            <a:custGeom>
              <a:avLst/>
              <a:gdLst/>
              <a:ahLst/>
              <a:cxnLst/>
              <a:rect l="l" t="t" r="r" b="b"/>
              <a:pathLst>
                <a:path w="2987040" h="982980">
                  <a:moveTo>
                    <a:pt x="2823210" y="0"/>
                  </a:moveTo>
                  <a:lnTo>
                    <a:pt x="163830" y="0"/>
                  </a:lnTo>
                  <a:lnTo>
                    <a:pt x="120297" y="5856"/>
                  </a:lnTo>
                  <a:lnTo>
                    <a:pt x="81167" y="22380"/>
                  </a:lnTo>
                  <a:lnTo>
                    <a:pt x="48006" y="48005"/>
                  </a:lnTo>
                  <a:lnTo>
                    <a:pt x="22380" y="81167"/>
                  </a:lnTo>
                  <a:lnTo>
                    <a:pt x="5856" y="120297"/>
                  </a:lnTo>
                  <a:lnTo>
                    <a:pt x="0" y="163830"/>
                  </a:lnTo>
                  <a:lnTo>
                    <a:pt x="0" y="819150"/>
                  </a:lnTo>
                  <a:lnTo>
                    <a:pt x="5856" y="862682"/>
                  </a:lnTo>
                  <a:lnTo>
                    <a:pt x="22380" y="901812"/>
                  </a:lnTo>
                  <a:lnTo>
                    <a:pt x="48006" y="934974"/>
                  </a:lnTo>
                  <a:lnTo>
                    <a:pt x="81167" y="960599"/>
                  </a:lnTo>
                  <a:lnTo>
                    <a:pt x="120297" y="977123"/>
                  </a:lnTo>
                  <a:lnTo>
                    <a:pt x="163830" y="982980"/>
                  </a:lnTo>
                  <a:lnTo>
                    <a:pt x="2823210" y="982980"/>
                  </a:lnTo>
                  <a:lnTo>
                    <a:pt x="2866742" y="977123"/>
                  </a:lnTo>
                  <a:lnTo>
                    <a:pt x="2905872" y="960599"/>
                  </a:lnTo>
                  <a:lnTo>
                    <a:pt x="2939034" y="934974"/>
                  </a:lnTo>
                  <a:lnTo>
                    <a:pt x="2964659" y="901812"/>
                  </a:lnTo>
                  <a:lnTo>
                    <a:pt x="2981183" y="862682"/>
                  </a:lnTo>
                  <a:lnTo>
                    <a:pt x="2987040" y="819150"/>
                  </a:lnTo>
                  <a:lnTo>
                    <a:pt x="2987040" y="163830"/>
                  </a:lnTo>
                  <a:lnTo>
                    <a:pt x="2981183" y="120297"/>
                  </a:lnTo>
                  <a:lnTo>
                    <a:pt x="2964659" y="81167"/>
                  </a:lnTo>
                  <a:lnTo>
                    <a:pt x="2939034" y="48006"/>
                  </a:lnTo>
                  <a:lnTo>
                    <a:pt x="2905872" y="22380"/>
                  </a:lnTo>
                  <a:lnTo>
                    <a:pt x="2866742" y="5856"/>
                  </a:lnTo>
                  <a:lnTo>
                    <a:pt x="2823210" y="0"/>
                  </a:lnTo>
                  <a:close/>
                </a:path>
              </a:pathLst>
            </a:custGeom>
            <a:solidFill>
              <a:srgbClr val="434343"/>
            </a:solidFill>
          </p:spPr>
          <p:txBody>
            <a:bodyPr wrap="square" lIns="0" tIns="0" rIns="0" bIns="0" rtlCol="0"/>
            <a:lstStyle/>
            <a:p>
              <a:endParaRPr sz="2400"/>
            </a:p>
          </p:txBody>
        </p:sp>
        <p:sp>
          <p:nvSpPr>
            <p:cNvPr id="22" name="object 22"/>
            <p:cNvSpPr/>
            <p:nvPr/>
          </p:nvSpPr>
          <p:spPr>
            <a:xfrm>
              <a:off x="2743961" y="925829"/>
              <a:ext cx="2987040" cy="982980"/>
            </a:xfrm>
            <a:custGeom>
              <a:avLst/>
              <a:gdLst/>
              <a:ahLst/>
              <a:cxnLst/>
              <a:rect l="l" t="t" r="r" b="b"/>
              <a:pathLst>
                <a:path w="2987040" h="982980">
                  <a:moveTo>
                    <a:pt x="0" y="163830"/>
                  </a:moveTo>
                  <a:lnTo>
                    <a:pt x="5856" y="120297"/>
                  </a:lnTo>
                  <a:lnTo>
                    <a:pt x="22380" y="81167"/>
                  </a:lnTo>
                  <a:lnTo>
                    <a:pt x="48006" y="48005"/>
                  </a:lnTo>
                  <a:lnTo>
                    <a:pt x="81167" y="22380"/>
                  </a:lnTo>
                  <a:lnTo>
                    <a:pt x="120297" y="5856"/>
                  </a:lnTo>
                  <a:lnTo>
                    <a:pt x="163830" y="0"/>
                  </a:lnTo>
                  <a:lnTo>
                    <a:pt x="2823210" y="0"/>
                  </a:lnTo>
                  <a:lnTo>
                    <a:pt x="2866742" y="5856"/>
                  </a:lnTo>
                  <a:lnTo>
                    <a:pt x="2905872" y="22380"/>
                  </a:lnTo>
                  <a:lnTo>
                    <a:pt x="2939034" y="48006"/>
                  </a:lnTo>
                  <a:lnTo>
                    <a:pt x="2964659" y="81167"/>
                  </a:lnTo>
                  <a:lnTo>
                    <a:pt x="2981183" y="120297"/>
                  </a:lnTo>
                  <a:lnTo>
                    <a:pt x="2987040" y="163830"/>
                  </a:lnTo>
                  <a:lnTo>
                    <a:pt x="2987040" y="819150"/>
                  </a:lnTo>
                  <a:lnTo>
                    <a:pt x="2981183" y="862682"/>
                  </a:lnTo>
                  <a:lnTo>
                    <a:pt x="2964659" y="901812"/>
                  </a:lnTo>
                  <a:lnTo>
                    <a:pt x="2939034" y="934974"/>
                  </a:lnTo>
                  <a:lnTo>
                    <a:pt x="2905872" y="960599"/>
                  </a:lnTo>
                  <a:lnTo>
                    <a:pt x="2866742" y="977123"/>
                  </a:lnTo>
                  <a:lnTo>
                    <a:pt x="2823210" y="982980"/>
                  </a:lnTo>
                  <a:lnTo>
                    <a:pt x="163830" y="982980"/>
                  </a:lnTo>
                  <a:lnTo>
                    <a:pt x="120297" y="977123"/>
                  </a:lnTo>
                  <a:lnTo>
                    <a:pt x="81167" y="960599"/>
                  </a:lnTo>
                  <a:lnTo>
                    <a:pt x="48006" y="934974"/>
                  </a:lnTo>
                  <a:lnTo>
                    <a:pt x="22380" y="901812"/>
                  </a:lnTo>
                  <a:lnTo>
                    <a:pt x="5856" y="862682"/>
                  </a:lnTo>
                  <a:lnTo>
                    <a:pt x="0" y="819150"/>
                  </a:lnTo>
                  <a:lnTo>
                    <a:pt x="0" y="163830"/>
                  </a:lnTo>
                  <a:close/>
                </a:path>
              </a:pathLst>
            </a:custGeom>
            <a:ln w="25907">
              <a:solidFill>
                <a:srgbClr val="3B3B3B"/>
              </a:solidFill>
            </a:ln>
          </p:spPr>
          <p:txBody>
            <a:bodyPr wrap="square" lIns="0" tIns="0" rIns="0" bIns="0" rtlCol="0"/>
            <a:lstStyle/>
            <a:p>
              <a:endParaRPr sz="2400"/>
            </a:p>
          </p:txBody>
        </p:sp>
        <p:sp>
          <p:nvSpPr>
            <p:cNvPr id="23" name="object 23"/>
            <p:cNvSpPr/>
            <p:nvPr/>
          </p:nvSpPr>
          <p:spPr>
            <a:xfrm>
              <a:off x="3649852" y="1346580"/>
              <a:ext cx="938530" cy="228600"/>
            </a:xfrm>
            <a:custGeom>
              <a:avLst/>
              <a:gdLst/>
              <a:ahLst/>
              <a:cxnLst/>
              <a:rect l="l" t="t" r="r" b="b"/>
              <a:pathLst>
                <a:path w="938529" h="228600">
                  <a:moveTo>
                    <a:pt x="862635" y="76073"/>
                  </a:moveTo>
                  <a:lnTo>
                    <a:pt x="747395" y="76073"/>
                  </a:lnTo>
                  <a:lnTo>
                    <a:pt x="747776" y="152273"/>
                  </a:lnTo>
                  <a:lnTo>
                    <a:pt x="709633" y="152428"/>
                  </a:lnTo>
                  <a:lnTo>
                    <a:pt x="709930" y="228600"/>
                  </a:lnTo>
                  <a:lnTo>
                    <a:pt x="938022" y="113411"/>
                  </a:lnTo>
                  <a:lnTo>
                    <a:pt x="862635" y="76073"/>
                  </a:lnTo>
                  <a:close/>
                </a:path>
                <a:path w="938529" h="228600">
                  <a:moveTo>
                    <a:pt x="709337" y="76228"/>
                  </a:moveTo>
                  <a:lnTo>
                    <a:pt x="0" y="79121"/>
                  </a:lnTo>
                  <a:lnTo>
                    <a:pt x="243" y="152273"/>
                  </a:lnTo>
                  <a:lnTo>
                    <a:pt x="254" y="155321"/>
                  </a:lnTo>
                  <a:lnTo>
                    <a:pt x="709633" y="152428"/>
                  </a:lnTo>
                  <a:lnTo>
                    <a:pt x="709348" y="79121"/>
                  </a:lnTo>
                  <a:lnTo>
                    <a:pt x="709337" y="76228"/>
                  </a:lnTo>
                  <a:close/>
                </a:path>
                <a:path w="938529" h="228600">
                  <a:moveTo>
                    <a:pt x="747395" y="76073"/>
                  </a:moveTo>
                  <a:lnTo>
                    <a:pt x="709337" y="76228"/>
                  </a:lnTo>
                  <a:lnTo>
                    <a:pt x="709633" y="152273"/>
                  </a:lnTo>
                  <a:lnTo>
                    <a:pt x="709633" y="152428"/>
                  </a:lnTo>
                  <a:lnTo>
                    <a:pt x="747776" y="152273"/>
                  </a:lnTo>
                  <a:lnTo>
                    <a:pt x="747410" y="79121"/>
                  </a:lnTo>
                  <a:lnTo>
                    <a:pt x="747395" y="76073"/>
                  </a:lnTo>
                  <a:close/>
                </a:path>
                <a:path w="938529" h="228600">
                  <a:moveTo>
                    <a:pt x="709041" y="0"/>
                  </a:moveTo>
                  <a:lnTo>
                    <a:pt x="709336" y="76073"/>
                  </a:lnTo>
                  <a:lnTo>
                    <a:pt x="709337" y="76228"/>
                  </a:lnTo>
                  <a:lnTo>
                    <a:pt x="862635" y="76073"/>
                  </a:lnTo>
                  <a:lnTo>
                    <a:pt x="709041" y="0"/>
                  </a:lnTo>
                  <a:close/>
                </a:path>
              </a:pathLst>
            </a:custGeom>
            <a:solidFill>
              <a:srgbClr val="00C2FF"/>
            </a:solidFill>
          </p:spPr>
          <p:txBody>
            <a:bodyPr wrap="square" lIns="0" tIns="0" rIns="0" bIns="0" rtlCol="0"/>
            <a:lstStyle/>
            <a:p>
              <a:endParaRPr sz="2400"/>
            </a:p>
          </p:txBody>
        </p:sp>
        <p:sp>
          <p:nvSpPr>
            <p:cNvPr id="24" name="object 24"/>
            <p:cNvSpPr/>
            <p:nvPr/>
          </p:nvSpPr>
          <p:spPr>
            <a:xfrm>
              <a:off x="2870250" y="1126273"/>
              <a:ext cx="2483485" cy="671195"/>
            </a:xfrm>
            <a:custGeom>
              <a:avLst/>
              <a:gdLst/>
              <a:ahLst/>
              <a:cxnLst/>
              <a:rect l="l" t="t" r="r" b="b"/>
              <a:pathLst>
                <a:path w="2483485" h="671194">
                  <a:moveTo>
                    <a:pt x="264502" y="427532"/>
                  </a:moveTo>
                  <a:lnTo>
                    <a:pt x="229235" y="427532"/>
                  </a:lnTo>
                  <a:lnTo>
                    <a:pt x="229235" y="533615"/>
                  </a:lnTo>
                  <a:lnTo>
                    <a:pt x="264502" y="533615"/>
                  </a:lnTo>
                  <a:lnTo>
                    <a:pt x="264502" y="427532"/>
                  </a:lnTo>
                  <a:close/>
                </a:path>
                <a:path w="2483485" h="671194">
                  <a:moveTo>
                    <a:pt x="264502" y="286092"/>
                  </a:moveTo>
                  <a:lnTo>
                    <a:pt x="229235" y="286092"/>
                  </a:lnTo>
                  <a:lnTo>
                    <a:pt x="229235" y="392176"/>
                  </a:lnTo>
                  <a:lnTo>
                    <a:pt x="264502" y="392176"/>
                  </a:lnTo>
                  <a:lnTo>
                    <a:pt x="264502" y="286092"/>
                  </a:lnTo>
                  <a:close/>
                </a:path>
                <a:path w="2483485" h="671194">
                  <a:moveTo>
                    <a:pt x="476110" y="427532"/>
                  </a:moveTo>
                  <a:lnTo>
                    <a:pt x="440842" y="427532"/>
                  </a:lnTo>
                  <a:lnTo>
                    <a:pt x="440842" y="533615"/>
                  </a:lnTo>
                  <a:lnTo>
                    <a:pt x="476110" y="533615"/>
                  </a:lnTo>
                  <a:lnTo>
                    <a:pt x="476110" y="427532"/>
                  </a:lnTo>
                  <a:close/>
                </a:path>
                <a:path w="2483485" h="671194">
                  <a:moveTo>
                    <a:pt x="476110" y="286092"/>
                  </a:moveTo>
                  <a:lnTo>
                    <a:pt x="440842" y="286092"/>
                  </a:lnTo>
                  <a:lnTo>
                    <a:pt x="440842" y="392176"/>
                  </a:lnTo>
                  <a:lnTo>
                    <a:pt x="476110" y="392176"/>
                  </a:lnTo>
                  <a:lnTo>
                    <a:pt x="476110" y="286092"/>
                  </a:lnTo>
                  <a:close/>
                </a:path>
                <a:path w="2483485" h="671194">
                  <a:moveTo>
                    <a:pt x="705358" y="427532"/>
                  </a:moveTo>
                  <a:lnTo>
                    <a:pt x="652449" y="427532"/>
                  </a:lnTo>
                  <a:lnTo>
                    <a:pt x="652449" y="533615"/>
                  </a:lnTo>
                  <a:lnTo>
                    <a:pt x="705358" y="533615"/>
                  </a:lnTo>
                  <a:lnTo>
                    <a:pt x="705358" y="427532"/>
                  </a:lnTo>
                  <a:close/>
                </a:path>
                <a:path w="2483485" h="671194">
                  <a:moveTo>
                    <a:pt x="705358" y="286092"/>
                  </a:moveTo>
                  <a:lnTo>
                    <a:pt x="652449" y="286092"/>
                  </a:lnTo>
                  <a:lnTo>
                    <a:pt x="652449" y="392176"/>
                  </a:lnTo>
                  <a:lnTo>
                    <a:pt x="705358" y="392176"/>
                  </a:lnTo>
                  <a:lnTo>
                    <a:pt x="705358" y="286092"/>
                  </a:lnTo>
                  <a:close/>
                </a:path>
                <a:path w="2483485" h="671194">
                  <a:moveTo>
                    <a:pt x="705358" y="91287"/>
                  </a:moveTo>
                  <a:lnTo>
                    <a:pt x="652449" y="91287"/>
                  </a:lnTo>
                  <a:lnTo>
                    <a:pt x="652449" y="144691"/>
                  </a:lnTo>
                  <a:lnTo>
                    <a:pt x="652449" y="250240"/>
                  </a:lnTo>
                  <a:lnTo>
                    <a:pt x="476110" y="250240"/>
                  </a:lnTo>
                  <a:lnTo>
                    <a:pt x="476110" y="144691"/>
                  </a:lnTo>
                  <a:lnTo>
                    <a:pt x="652449" y="144691"/>
                  </a:lnTo>
                  <a:lnTo>
                    <a:pt x="652449" y="91287"/>
                  </a:lnTo>
                  <a:lnTo>
                    <a:pt x="440842" y="91287"/>
                  </a:lnTo>
                  <a:lnTo>
                    <a:pt x="440842" y="144691"/>
                  </a:lnTo>
                  <a:lnTo>
                    <a:pt x="440842" y="250240"/>
                  </a:lnTo>
                  <a:lnTo>
                    <a:pt x="264502" y="250240"/>
                  </a:lnTo>
                  <a:lnTo>
                    <a:pt x="264502" y="144691"/>
                  </a:lnTo>
                  <a:lnTo>
                    <a:pt x="440842" y="144691"/>
                  </a:lnTo>
                  <a:lnTo>
                    <a:pt x="440842" y="91287"/>
                  </a:lnTo>
                  <a:lnTo>
                    <a:pt x="229235" y="91287"/>
                  </a:lnTo>
                  <a:lnTo>
                    <a:pt x="229235" y="144691"/>
                  </a:lnTo>
                  <a:lnTo>
                    <a:pt x="229235" y="250240"/>
                  </a:lnTo>
                  <a:lnTo>
                    <a:pt x="52895" y="250240"/>
                  </a:lnTo>
                  <a:lnTo>
                    <a:pt x="52895" y="144691"/>
                  </a:lnTo>
                  <a:lnTo>
                    <a:pt x="229235" y="144691"/>
                  </a:lnTo>
                  <a:lnTo>
                    <a:pt x="229235" y="91287"/>
                  </a:lnTo>
                  <a:lnTo>
                    <a:pt x="0" y="91287"/>
                  </a:lnTo>
                  <a:lnTo>
                    <a:pt x="0" y="144691"/>
                  </a:lnTo>
                  <a:lnTo>
                    <a:pt x="0" y="250240"/>
                  </a:lnTo>
                  <a:lnTo>
                    <a:pt x="0" y="587235"/>
                  </a:lnTo>
                  <a:lnTo>
                    <a:pt x="705358" y="587235"/>
                  </a:lnTo>
                  <a:lnTo>
                    <a:pt x="705358" y="533819"/>
                  </a:lnTo>
                  <a:lnTo>
                    <a:pt x="52895" y="533819"/>
                  </a:lnTo>
                  <a:lnTo>
                    <a:pt x="52895" y="426999"/>
                  </a:lnTo>
                  <a:lnTo>
                    <a:pt x="705358" y="426999"/>
                  </a:lnTo>
                  <a:lnTo>
                    <a:pt x="705358" y="392671"/>
                  </a:lnTo>
                  <a:lnTo>
                    <a:pt x="52895" y="392671"/>
                  </a:lnTo>
                  <a:lnTo>
                    <a:pt x="52895" y="285851"/>
                  </a:lnTo>
                  <a:lnTo>
                    <a:pt x="705358" y="285851"/>
                  </a:lnTo>
                  <a:lnTo>
                    <a:pt x="705358" y="250736"/>
                  </a:lnTo>
                  <a:lnTo>
                    <a:pt x="705358" y="250240"/>
                  </a:lnTo>
                  <a:lnTo>
                    <a:pt x="705358" y="144691"/>
                  </a:lnTo>
                  <a:lnTo>
                    <a:pt x="705358" y="91287"/>
                  </a:lnTo>
                  <a:close/>
                </a:path>
                <a:path w="2483485" h="671194">
                  <a:moveTo>
                    <a:pt x="1874621" y="494157"/>
                  </a:moveTo>
                  <a:lnTo>
                    <a:pt x="1812899" y="494157"/>
                  </a:lnTo>
                  <a:lnTo>
                    <a:pt x="1812912" y="529463"/>
                  </a:lnTo>
                  <a:lnTo>
                    <a:pt x="1874621" y="529463"/>
                  </a:lnTo>
                  <a:lnTo>
                    <a:pt x="1874621" y="494157"/>
                  </a:lnTo>
                  <a:close/>
                </a:path>
                <a:path w="2483485" h="671194">
                  <a:moveTo>
                    <a:pt x="1874621" y="423570"/>
                  </a:moveTo>
                  <a:lnTo>
                    <a:pt x="1812899" y="423570"/>
                  </a:lnTo>
                  <a:lnTo>
                    <a:pt x="1812899" y="458863"/>
                  </a:lnTo>
                  <a:lnTo>
                    <a:pt x="1874621" y="458863"/>
                  </a:lnTo>
                  <a:lnTo>
                    <a:pt x="1874621" y="423570"/>
                  </a:lnTo>
                  <a:close/>
                </a:path>
                <a:path w="2483485" h="671194">
                  <a:moveTo>
                    <a:pt x="1874621" y="352971"/>
                  </a:moveTo>
                  <a:lnTo>
                    <a:pt x="1812899" y="352971"/>
                  </a:lnTo>
                  <a:lnTo>
                    <a:pt x="1812899" y="388264"/>
                  </a:lnTo>
                  <a:lnTo>
                    <a:pt x="1874621" y="388264"/>
                  </a:lnTo>
                  <a:lnTo>
                    <a:pt x="1874621" y="352971"/>
                  </a:lnTo>
                  <a:close/>
                </a:path>
                <a:path w="2483485" h="671194">
                  <a:moveTo>
                    <a:pt x="1874621" y="282371"/>
                  </a:moveTo>
                  <a:lnTo>
                    <a:pt x="1812899" y="282371"/>
                  </a:lnTo>
                  <a:lnTo>
                    <a:pt x="1812899" y="317677"/>
                  </a:lnTo>
                  <a:lnTo>
                    <a:pt x="1874621" y="317677"/>
                  </a:lnTo>
                  <a:lnTo>
                    <a:pt x="1874621" y="282371"/>
                  </a:lnTo>
                  <a:close/>
                </a:path>
                <a:path w="2483485" h="671194">
                  <a:moveTo>
                    <a:pt x="1874621" y="211785"/>
                  </a:moveTo>
                  <a:lnTo>
                    <a:pt x="1812899" y="211785"/>
                  </a:lnTo>
                  <a:lnTo>
                    <a:pt x="1812899" y="247078"/>
                  </a:lnTo>
                  <a:lnTo>
                    <a:pt x="1874621" y="247078"/>
                  </a:lnTo>
                  <a:lnTo>
                    <a:pt x="1874621" y="211785"/>
                  </a:lnTo>
                  <a:close/>
                </a:path>
                <a:path w="2483485" h="671194">
                  <a:moveTo>
                    <a:pt x="1874621" y="141185"/>
                  </a:moveTo>
                  <a:lnTo>
                    <a:pt x="1812899" y="141185"/>
                  </a:lnTo>
                  <a:lnTo>
                    <a:pt x="1812899" y="176479"/>
                  </a:lnTo>
                  <a:lnTo>
                    <a:pt x="1874621" y="176479"/>
                  </a:lnTo>
                  <a:lnTo>
                    <a:pt x="1874621" y="141185"/>
                  </a:lnTo>
                  <a:close/>
                </a:path>
                <a:path w="2483485" h="671194">
                  <a:moveTo>
                    <a:pt x="1989239" y="608876"/>
                  </a:moveTo>
                  <a:lnTo>
                    <a:pt x="1953971" y="608876"/>
                  </a:lnTo>
                  <a:lnTo>
                    <a:pt x="1953971" y="670648"/>
                  </a:lnTo>
                  <a:lnTo>
                    <a:pt x="1989239" y="670648"/>
                  </a:lnTo>
                  <a:lnTo>
                    <a:pt x="1989239" y="608876"/>
                  </a:lnTo>
                  <a:close/>
                </a:path>
                <a:path w="2483485" h="671194">
                  <a:moveTo>
                    <a:pt x="1989239" y="0"/>
                  </a:moveTo>
                  <a:lnTo>
                    <a:pt x="1953971" y="0"/>
                  </a:lnTo>
                  <a:lnTo>
                    <a:pt x="1953971" y="61760"/>
                  </a:lnTo>
                  <a:lnTo>
                    <a:pt x="1989239" y="61760"/>
                  </a:lnTo>
                  <a:lnTo>
                    <a:pt x="1989239" y="0"/>
                  </a:lnTo>
                  <a:close/>
                </a:path>
                <a:path w="2483485" h="671194">
                  <a:moveTo>
                    <a:pt x="2059774" y="608876"/>
                  </a:moveTo>
                  <a:lnTo>
                    <a:pt x="2024507" y="608876"/>
                  </a:lnTo>
                  <a:lnTo>
                    <a:pt x="2024507" y="670648"/>
                  </a:lnTo>
                  <a:lnTo>
                    <a:pt x="2059774" y="670648"/>
                  </a:lnTo>
                  <a:lnTo>
                    <a:pt x="2059774" y="608876"/>
                  </a:lnTo>
                  <a:close/>
                </a:path>
                <a:path w="2483485" h="671194">
                  <a:moveTo>
                    <a:pt x="2059774" y="0"/>
                  </a:moveTo>
                  <a:lnTo>
                    <a:pt x="2024507" y="0"/>
                  </a:lnTo>
                  <a:lnTo>
                    <a:pt x="2024507" y="61760"/>
                  </a:lnTo>
                  <a:lnTo>
                    <a:pt x="2059774" y="61760"/>
                  </a:lnTo>
                  <a:lnTo>
                    <a:pt x="2059774" y="0"/>
                  </a:lnTo>
                  <a:close/>
                </a:path>
                <a:path w="2483485" h="671194">
                  <a:moveTo>
                    <a:pt x="2130310" y="608876"/>
                  </a:moveTo>
                  <a:lnTo>
                    <a:pt x="2095042" y="608876"/>
                  </a:lnTo>
                  <a:lnTo>
                    <a:pt x="2095042" y="670648"/>
                  </a:lnTo>
                  <a:lnTo>
                    <a:pt x="2130310" y="670648"/>
                  </a:lnTo>
                  <a:lnTo>
                    <a:pt x="2130310" y="608876"/>
                  </a:lnTo>
                  <a:close/>
                </a:path>
                <a:path w="2483485" h="671194">
                  <a:moveTo>
                    <a:pt x="2130310" y="0"/>
                  </a:moveTo>
                  <a:lnTo>
                    <a:pt x="2095042" y="0"/>
                  </a:lnTo>
                  <a:lnTo>
                    <a:pt x="2095042" y="61760"/>
                  </a:lnTo>
                  <a:lnTo>
                    <a:pt x="2130310" y="61760"/>
                  </a:lnTo>
                  <a:lnTo>
                    <a:pt x="2130310" y="0"/>
                  </a:lnTo>
                  <a:close/>
                </a:path>
                <a:path w="2483485" h="671194">
                  <a:moveTo>
                    <a:pt x="2200846" y="608876"/>
                  </a:moveTo>
                  <a:lnTo>
                    <a:pt x="2165578" y="608876"/>
                  </a:lnTo>
                  <a:lnTo>
                    <a:pt x="2165578" y="670648"/>
                  </a:lnTo>
                  <a:lnTo>
                    <a:pt x="2200846" y="670648"/>
                  </a:lnTo>
                  <a:lnTo>
                    <a:pt x="2200846" y="608876"/>
                  </a:lnTo>
                  <a:close/>
                </a:path>
                <a:path w="2483485" h="671194">
                  <a:moveTo>
                    <a:pt x="2200846" y="0"/>
                  </a:moveTo>
                  <a:lnTo>
                    <a:pt x="2165578" y="0"/>
                  </a:lnTo>
                  <a:lnTo>
                    <a:pt x="2165578" y="61760"/>
                  </a:lnTo>
                  <a:lnTo>
                    <a:pt x="2200846" y="61760"/>
                  </a:lnTo>
                  <a:lnTo>
                    <a:pt x="2200846" y="0"/>
                  </a:lnTo>
                  <a:close/>
                </a:path>
                <a:path w="2483485" h="671194">
                  <a:moveTo>
                    <a:pt x="2271382" y="608876"/>
                  </a:moveTo>
                  <a:lnTo>
                    <a:pt x="2236114" y="608876"/>
                  </a:lnTo>
                  <a:lnTo>
                    <a:pt x="2236114" y="670648"/>
                  </a:lnTo>
                  <a:lnTo>
                    <a:pt x="2271382" y="670648"/>
                  </a:lnTo>
                  <a:lnTo>
                    <a:pt x="2271382" y="608876"/>
                  </a:lnTo>
                  <a:close/>
                </a:path>
                <a:path w="2483485" h="671194">
                  <a:moveTo>
                    <a:pt x="2271382" y="0"/>
                  </a:moveTo>
                  <a:lnTo>
                    <a:pt x="2236114" y="0"/>
                  </a:lnTo>
                  <a:lnTo>
                    <a:pt x="2236114" y="61760"/>
                  </a:lnTo>
                  <a:lnTo>
                    <a:pt x="2271382" y="61760"/>
                  </a:lnTo>
                  <a:lnTo>
                    <a:pt x="2271382" y="0"/>
                  </a:lnTo>
                  <a:close/>
                </a:path>
                <a:path w="2483485" h="671194">
                  <a:moveTo>
                    <a:pt x="2341918" y="608876"/>
                  </a:moveTo>
                  <a:lnTo>
                    <a:pt x="2306650" y="608876"/>
                  </a:lnTo>
                  <a:lnTo>
                    <a:pt x="2306650" y="670648"/>
                  </a:lnTo>
                  <a:lnTo>
                    <a:pt x="2341918" y="670648"/>
                  </a:lnTo>
                  <a:lnTo>
                    <a:pt x="2341918" y="608876"/>
                  </a:lnTo>
                  <a:close/>
                </a:path>
                <a:path w="2483485" h="671194">
                  <a:moveTo>
                    <a:pt x="2341918" y="0"/>
                  </a:moveTo>
                  <a:lnTo>
                    <a:pt x="2306650" y="0"/>
                  </a:lnTo>
                  <a:lnTo>
                    <a:pt x="2306650" y="61760"/>
                  </a:lnTo>
                  <a:lnTo>
                    <a:pt x="2341918" y="61760"/>
                  </a:lnTo>
                  <a:lnTo>
                    <a:pt x="2341918" y="0"/>
                  </a:lnTo>
                  <a:close/>
                </a:path>
                <a:path w="2483485" h="671194">
                  <a:moveTo>
                    <a:pt x="2385999" y="132359"/>
                  </a:moveTo>
                  <a:lnTo>
                    <a:pt x="2383231" y="118618"/>
                  </a:lnTo>
                  <a:lnTo>
                    <a:pt x="2375674" y="107403"/>
                  </a:lnTo>
                  <a:lnTo>
                    <a:pt x="2364460" y="99834"/>
                  </a:lnTo>
                  <a:lnTo>
                    <a:pt x="2350732" y="97066"/>
                  </a:lnTo>
                  <a:lnTo>
                    <a:pt x="2297836" y="97066"/>
                  </a:lnTo>
                  <a:lnTo>
                    <a:pt x="2297836" y="185305"/>
                  </a:lnTo>
                  <a:lnTo>
                    <a:pt x="2297836" y="485343"/>
                  </a:lnTo>
                  <a:lnTo>
                    <a:pt x="1998065" y="485343"/>
                  </a:lnTo>
                  <a:lnTo>
                    <a:pt x="1998065" y="185305"/>
                  </a:lnTo>
                  <a:lnTo>
                    <a:pt x="2297836" y="185305"/>
                  </a:lnTo>
                  <a:lnTo>
                    <a:pt x="2297836" y="97066"/>
                  </a:lnTo>
                  <a:lnTo>
                    <a:pt x="1945157" y="97066"/>
                  </a:lnTo>
                  <a:lnTo>
                    <a:pt x="1931428" y="99834"/>
                  </a:lnTo>
                  <a:lnTo>
                    <a:pt x="1920214" y="107403"/>
                  </a:lnTo>
                  <a:lnTo>
                    <a:pt x="1912658" y="118618"/>
                  </a:lnTo>
                  <a:lnTo>
                    <a:pt x="1909889" y="132359"/>
                  </a:lnTo>
                  <a:lnTo>
                    <a:pt x="1909889" y="538289"/>
                  </a:lnTo>
                  <a:lnTo>
                    <a:pt x="1912658" y="552018"/>
                  </a:lnTo>
                  <a:lnTo>
                    <a:pt x="1920227" y="563245"/>
                  </a:lnTo>
                  <a:lnTo>
                    <a:pt x="1931428" y="570801"/>
                  </a:lnTo>
                  <a:lnTo>
                    <a:pt x="1945157" y="573582"/>
                  </a:lnTo>
                  <a:lnTo>
                    <a:pt x="2350732" y="573582"/>
                  </a:lnTo>
                  <a:lnTo>
                    <a:pt x="2364460" y="570814"/>
                  </a:lnTo>
                  <a:lnTo>
                    <a:pt x="2375674" y="563245"/>
                  </a:lnTo>
                  <a:lnTo>
                    <a:pt x="2383231" y="552018"/>
                  </a:lnTo>
                  <a:lnTo>
                    <a:pt x="2385999" y="538289"/>
                  </a:lnTo>
                  <a:lnTo>
                    <a:pt x="2385999" y="485343"/>
                  </a:lnTo>
                  <a:lnTo>
                    <a:pt x="2385999" y="185305"/>
                  </a:lnTo>
                  <a:lnTo>
                    <a:pt x="2385999" y="132359"/>
                  </a:lnTo>
                  <a:close/>
                </a:path>
                <a:path w="2483485" h="671194">
                  <a:moveTo>
                    <a:pt x="2482989" y="494157"/>
                  </a:moveTo>
                  <a:lnTo>
                    <a:pt x="2421267" y="494157"/>
                  </a:lnTo>
                  <a:lnTo>
                    <a:pt x="2421267" y="529463"/>
                  </a:lnTo>
                  <a:lnTo>
                    <a:pt x="2482989" y="529463"/>
                  </a:lnTo>
                  <a:lnTo>
                    <a:pt x="2482989" y="494157"/>
                  </a:lnTo>
                  <a:close/>
                </a:path>
                <a:path w="2483485" h="671194">
                  <a:moveTo>
                    <a:pt x="2482989" y="423570"/>
                  </a:moveTo>
                  <a:lnTo>
                    <a:pt x="2421267" y="423570"/>
                  </a:lnTo>
                  <a:lnTo>
                    <a:pt x="2421267" y="458863"/>
                  </a:lnTo>
                  <a:lnTo>
                    <a:pt x="2482989" y="458863"/>
                  </a:lnTo>
                  <a:lnTo>
                    <a:pt x="2482989" y="423570"/>
                  </a:lnTo>
                  <a:close/>
                </a:path>
                <a:path w="2483485" h="671194">
                  <a:moveTo>
                    <a:pt x="2482989" y="352971"/>
                  </a:moveTo>
                  <a:lnTo>
                    <a:pt x="2421267" y="352971"/>
                  </a:lnTo>
                  <a:lnTo>
                    <a:pt x="2421267" y="388264"/>
                  </a:lnTo>
                  <a:lnTo>
                    <a:pt x="2482989" y="388264"/>
                  </a:lnTo>
                  <a:lnTo>
                    <a:pt x="2482989" y="352971"/>
                  </a:lnTo>
                  <a:close/>
                </a:path>
                <a:path w="2483485" h="671194">
                  <a:moveTo>
                    <a:pt x="2482989" y="282371"/>
                  </a:moveTo>
                  <a:lnTo>
                    <a:pt x="2421267" y="282371"/>
                  </a:lnTo>
                  <a:lnTo>
                    <a:pt x="2421267" y="317677"/>
                  </a:lnTo>
                  <a:lnTo>
                    <a:pt x="2482989" y="317677"/>
                  </a:lnTo>
                  <a:lnTo>
                    <a:pt x="2482989" y="282371"/>
                  </a:lnTo>
                  <a:close/>
                </a:path>
                <a:path w="2483485" h="671194">
                  <a:moveTo>
                    <a:pt x="2482989" y="211785"/>
                  </a:moveTo>
                  <a:lnTo>
                    <a:pt x="2421267" y="211785"/>
                  </a:lnTo>
                  <a:lnTo>
                    <a:pt x="2421267" y="247078"/>
                  </a:lnTo>
                  <a:lnTo>
                    <a:pt x="2482989" y="247078"/>
                  </a:lnTo>
                  <a:lnTo>
                    <a:pt x="2482989" y="211785"/>
                  </a:lnTo>
                  <a:close/>
                </a:path>
                <a:path w="2483485" h="671194">
                  <a:moveTo>
                    <a:pt x="2482989" y="141185"/>
                  </a:moveTo>
                  <a:lnTo>
                    <a:pt x="2421267" y="141185"/>
                  </a:lnTo>
                  <a:lnTo>
                    <a:pt x="2421267" y="176479"/>
                  </a:lnTo>
                  <a:lnTo>
                    <a:pt x="2482989" y="176479"/>
                  </a:lnTo>
                  <a:lnTo>
                    <a:pt x="2482989" y="141185"/>
                  </a:lnTo>
                  <a:close/>
                </a:path>
              </a:pathLst>
            </a:custGeom>
            <a:solidFill>
              <a:srgbClr val="66BEFF"/>
            </a:solidFill>
          </p:spPr>
          <p:txBody>
            <a:bodyPr wrap="square" lIns="0" tIns="0" rIns="0" bIns="0" rtlCol="0"/>
            <a:lstStyle/>
            <a:p>
              <a:endParaRPr sz="2400"/>
            </a:p>
          </p:txBody>
        </p:sp>
      </p:grpSp>
      <p:grpSp>
        <p:nvGrpSpPr>
          <p:cNvPr id="25" name="object 25"/>
          <p:cNvGrpSpPr/>
          <p:nvPr/>
        </p:nvGrpSpPr>
        <p:grpSpPr>
          <a:xfrm>
            <a:off x="8046720" y="4177793"/>
            <a:ext cx="1586653" cy="1054100"/>
            <a:chOff x="6035040" y="3133344"/>
            <a:chExt cx="1189990" cy="790575"/>
          </a:xfrm>
        </p:grpSpPr>
        <p:sp>
          <p:nvSpPr>
            <p:cNvPr id="26" name="object 26"/>
            <p:cNvSpPr/>
            <p:nvPr/>
          </p:nvSpPr>
          <p:spPr>
            <a:xfrm>
              <a:off x="6164580" y="3203448"/>
              <a:ext cx="911860" cy="523240"/>
            </a:xfrm>
            <a:custGeom>
              <a:avLst/>
              <a:gdLst/>
              <a:ahLst/>
              <a:cxnLst/>
              <a:rect l="l" t="t" r="r" b="b"/>
              <a:pathLst>
                <a:path w="911859" h="523239">
                  <a:moveTo>
                    <a:pt x="911351" y="0"/>
                  </a:moveTo>
                  <a:lnTo>
                    <a:pt x="0" y="0"/>
                  </a:lnTo>
                  <a:lnTo>
                    <a:pt x="0" y="522731"/>
                  </a:lnTo>
                  <a:lnTo>
                    <a:pt x="911351" y="522731"/>
                  </a:lnTo>
                  <a:lnTo>
                    <a:pt x="911351" y="0"/>
                  </a:lnTo>
                  <a:close/>
                </a:path>
              </a:pathLst>
            </a:custGeom>
            <a:solidFill>
              <a:srgbClr val="99E7FF">
                <a:alpha val="50195"/>
              </a:srgbClr>
            </a:solidFill>
          </p:spPr>
          <p:txBody>
            <a:bodyPr wrap="square" lIns="0" tIns="0" rIns="0" bIns="0" rtlCol="0"/>
            <a:lstStyle/>
            <a:p>
              <a:endParaRPr sz="2400"/>
            </a:p>
          </p:txBody>
        </p:sp>
        <p:pic>
          <p:nvPicPr>
            <p:cNvPr id="27" name="object 27"/>
            <p:cNvPicPr/>
            <p:nvPr/>
          </p:nvPicPr>
          <p:blipFill>
            <a:blip r:embed="rId8" cstate="print"/>
            <a:stretch>
              <a:fillRect/>
            </a:stretch>
          </p:blipFill>
          <p:spPr>
            <a:xfrm>
              <a:off x="6035040" y="3133344"/>
              <a:ext cx="1189482" cy="790194"/>
            </a:xfrm>
            <a:prstGeom prst="rect">
              <a:avLst/>
            </a:prstGeom>
          </p:spPr>
        </p:pic>
      </p:grpSp>
      <p:grpSp>
        <p:nvGrpSpPr>
          <p:cNvPr id="28" name="object 28"/>
          <p:cNvGrpSpPr/>
          <p:nvPr/>
        </p:nvGrpSpPr>
        <p:grpSpPr>
          <a:xfrm>
            <a:off x="4378960" y="5208016"/>
            <a:ext cx="3031067" cy="1010073"/>
            <a:chOff x="3284220" y="3906011"/>
            <a:chExt cx="2273300" cy="757555"/>
          </a:xfrm>
        </p:grpSpPr>
        <p:pic>
          <p:nvPicPr>
            <p:cNvPr id="29" name="object 29"/>
            <p:cNvPicPr/>
            <p:nvPr/>
          </p:nvPicPr>
          <p:blipFill>
            <a:blip r:embed="rId9" cstate="print"/>
            <a:stretch>
              <a:fillRect/>
            </a:stretch>
          </p:blipFill>
          <p:spPr>
            <a:xfrm>
              <a:off x="3284220" y="4213859"/>
              <a:ext cx="928115" cy="420674"/>
            </a:xfrm>
            <a:prstGeom prst="rect">
              <a:avLst/>
            </a:prstGeom>
          </p:spPr>
        </p:pic>
        <p:sp>
          <p:nvSpPr>
            <p:cNvPr id="30" name="object 30"/>
            <p:cNvSpPr/>
            <p:nvPr/>
          </p:nvSpPr>
          <p:spPr>
            <a:xfrm>
              <a:off x="3327654" y="4318024"/>
              <a:ext cx="676910" cy="171450"/>
            </a:xfrm>
            <a:custGeom>
              <a:avLst/>
              <a:gdLst/>
              <a:ahLst/>
              <a:cxnLst/>
              <a:rect l="l" t="t" r="r" b="b"/>
              <a:pathLst>
                <a:path w="676910" h="171450">
                  <a:moveTo>
                    <a:pt x="600942" y="85573"/>
                  </a:moveTo>
                  <a:lnTo>
                    <a:pt x="514858" y="135789"/>
                  </a:lnTo>
                  <a:lnTo>
                    <a:pt x="509232" y="140822"/>
                  </a:lnTo>
                  <a:lnTo>
                    <a:pt x="506047" y="147400"/>
                  </a:lnTo>
                  <a:lnTo>
                    <a:pt x="505553" y="154688"/>
                  </a:lnTo>
                  <a:lnTo>
                    <a:pt x="508000" y="161849"/>
                  </a:lnTo>
                  <a:lnTo>
                    <a:pt x="513050" y="167497"/>
                  </a:lnTo>
                  <a:lnTo>
                    <a:pt x="519636" y="170670"/>
                  </a:lnTo>
                  <a:lnTo>
                    <a:pt x="526913" y="171147"/>
                  </a:lnTo>
                  <a:lnTo>
                    <a:pt x="534035" y="168707"/>
                  </a:lnTo>
                  <a:lnTo>
                    <a:pt x="643876" y="104623"/>
                  </a:lnTo>
                  <a:lnTo>
                    <a:pt x="638810" y="104623"/>
                  </a:lnTo>
                  <a:lnTo>
                    <a:pt x="638810" y="102032"/>
                  </a:lnTo>
                  <a:lnTo>
                    <a:pt x="629158" y="102032"/>
                  </a:lnTo>
                  <a:lnTo>
                    <a:pt x="600942" y="85573"/>
                  </a:lnTo>
                  <a:close/>
                </a:path>
                <a:path w="676910" h="171450">
                  <a:moveTo>
                    <a:pt x="568285" y="66523"/>
                  </a:moveTo>
                  <a:lnTo>
                    <a:pt x="0" y="66523"/>
                  </a:lnTo>
                  <a:lnTo>
                    <a:pt x="0" y="104623"/>
                  </a:lnTo>
                  <a:lnTo>
                    <a:pt x="568285" y="104623"/>
                  </a:lnTo>
                  <a:lnTo>
                    <a:pt x="600942" y="85573"/>
                  </a:lnTo>
                  <a:lnTo>
                    <a:pt x="568285" y="66523"/>
                  </a:lnTo>
                  <a:close/>
                </a:path>
                <a:path w="676910" h="171450">
                  <a:moveTo>
                    <a:pt x="643876" y="66523"/>
                  </a:moveTo>
                  <a:lnTo>
                    <a:pt x="638810" y="66523"/>
                  </a:lnTo>
                  <a:lnTo>
                    <a:pt x="638810" y="104623"/>
                  </a:lnTo>
                  <a:lnTo>
                    <a:pt x="643876" y="104623"/>
                  </a:lnTo>
                  <a:lnTo>
                    <a:pt x="676529" y="85573"/>
                  </a:lnTo>
                  <a:lnTo>
                    <a:pt x="643876" y="66523"/>
                  </a:lnTo>
                  <a:close/>
                </a:path>
                <a:path w="676910" h="171450">
                  <a:moveTo>
                    <a:pt x="629158" y="69114"/>
                  </a:moveTo>
                  <a:lnTo>
                    <a:pt x="600942" y="85573"/>
                  </a:lnTo>
                  <a:lnTo>
                    <a:pt x="629158" y="102032"/>
                  </a:lnTo>
                  <a:lnTo>
                    <a:pt x="629158" y="69114"/>
                  </a:lnTo>
                  <a:close/>
                </a:path>
                <a:path w="676910" h="171450">
                  <a:moveTo>
                    <a:pt x="638810" y="69114"/>
                  </a:moveTo>
                  <a:lnTo>
                    <a:pt x="629158" y="69114"/>
                  </a:lnTo>
                  <a:lnTo>
                    <a:pt x="629158" y="102032"/>
                  </a:lnTo>
                  <a:lnTo>
                    <a:pt x="638810" y="102032"/>
                  </a:lnTo>
                  <a:lnTo>
                    <a:pt x="638810" y="69114"/>
                  </a:lnTo>
                  <a:close/>
                </a:path>
                <a:path w="676910" h="171450">
                  <a:moveTo>
                    <a:pt x="526913" y="0"/>
                  </a:moveTo>
                  <a:lnTo>
                    <a:pt x="519636" y="477"/>
                  </a:lnTo>
                  <a:lnTo>
                    <a:pt x="513050" y="3650"/>
                  </a:lnTo>
                  <a:lnTo>
                    <a:pt x="508000" y="9297"/>
                  </a:lnTo>
                  <a:lnTo>
                    <a:pt x="505553" y="16459"/>
                  </a:lnTo>
                  <a:lnTo>
                    <a:pt x="506047" y="23747"/>
                  </a:lnTo>
                  <a:lnTo>
                    <a:pt x="509232" y="30325"/>
                  </a:lnTo>
                  <a:lnTo>
                    <a:pt x="514858" y="35357"/>
                  </a:lnTo>
                  <a:lnTo>
                    <a:pt x="600942" y="85573"/>
                  </a:lnTo>
                  <a:lnTo>
                    <a:pt x="629158" y="69114"/>
                  </a:lnTo>
                  <a:lnTo>
                    <a:pt x="638810" y="69114"/>
                  </a:lnTo>
                  <a:lnTo>
                    <a:pt x="638810" y="66523"/>
                  </a:lnTo>
                  <a:lnTo>
                    <a:pt x="643876" y="66523"/>
                  </a:lnTo>
                  <a:lnTo>
                    <a:pt x="534035" y="2439"/>
                  </a:lnTo>
                  <a:lnTo>
                    <a:pt x="526913" y="0"/>
                  </a:lnTo>
                  <a:close/>
                </a:path>
              </a:pathLst>
            </a:custGeom>
            <a:solidFill>
              <a:srgbClr val="00C3FF"/>
            </a:solidFill>
          </p:spPr>
          <p:txBody>
            <a:bodyPr wrap="square" lIns="0" tIns="0" rIns="0" bIns="0" rtlCol="0"/>
            <a:lstStyle/>
            <a:p>
              <a:endParaRPr sz="2400"/>
            </a:p>
          </p:txBody>
        </p:sp>
        <p:sp>
          <p:nvSpPr>
            <p:cNvPr id="31" name="object 31"/>
            <p:cNvSpPr/>
            <p:nvPr/>
          </p:nvSpPr>
          <p:spPr>
            <a:xfrm>
              <a:off x="4070377" y="4291287"/>
              <a:ext cx="381635" cy="270510"/>
            </a:xfrm>
            <a:custGeom>
              <a:avLst/>
              <a:gdLst/>
              <a:ahLst/>
              <a:cxnLst/>
              <a:rect l="l" t="t" r="r" b="b"/>
              <a:pathLst>
                <a:path w="381635" h="270510">
                  <a:moveTo>
                    <a:pt x="381213" y="0"/>
                  </a:moveTo>
                  <a:lnTo>
                    <a:pt x="0" y="0"/>
                  </a:lnTo>
                  <a:lnTo>
                    <a:pt x="0" y="270506"/>
                  </a:lnTo>
                  <a:lnTo>
                    <a:pt x="381213" y="270506"/>
                  </a:lnTo>
                  <a:lnTo>
                    <a:pt x="381213" y="266271"/>
                  </a:lnTo>
                  <a:lnTo>
                    <a:pt x="8439" y="266271"/>
                  </a:lnTo>
                  <a:lnTo>
                    <a:pt x="4218" y="262032"/>
                  </a:lnTo>
                  <a:lnTo>
                    <a:pt x="8439" y="262032"/>
                  </a:lnTo>
                  <a:lnTo>
                    <a:pt x="8439" y="8473"/>
                  </a:lnTo>
                  <a:lnTo>
                    <a:pt x="4218" y="8473"/>
                  </a:lnTo>
                  <a:lnTo>
                    <a:pt x="8439" y="4238"/>
                  </a:lnTo>
                  <a:lnTo>
                    <a:pt x="381213" y="4238"/>
                  </a:lnTo>
                  <a:lnTo>
                    <a:pt x="381213" y="0"/>
                  </a:lnTo>
                  <a:close/>
                </a:path>
                <a:path w="381635" h="270510">
                  <a:moveTo>
                    <a:pt x="8439" y="262032"/>
                  </a:moveTo>
                  <a:lnTo>
                    <a:pt x="4218" y="262032"/>
                  </a:lnTo>
                  <a:lnTo>
                    <a:pt x="8439" y="266271"/>
                  </a:lnTo>
                  <a:lnTo>
                    <a:pt x="8439" y="262032"/>
                  </a:lnTo>
                  <a:close/>
                </a:path>
                <a:path w="381635" h="270510">
                  <a:moveTo>
                    <a:pt x="372748" y="262032"/>
                  </a:moveTo>
                  <a:lnTo>
                    <a:pt x="8439" y="262032"/>
                  </a:lnTo>
                  <a:lnTo>
                    <a:pt x="8439" y="266271"/>
                  </a:lnTo>
                  <a:lnTo>
                    <a:pt x="372748" y="266271"/>
                  </a:lnTo>
                  <a:lnTo>
                    <a:pt x="372748" y="262032"/>
                  </a:lnTo>
                  <a:close/>
                </a:path>
                <a:path w="381635" h="270510">
                  <a:moveTo>
                    <a:pt x="372748" y="4238"/>
                  </a:moveTo>
                  <a:lnTo>
                    <a:pt x="372748" y="266271"/>
                  </a:lnTo>
                  <a:lnTo>
                    <a:pt x="376980" y="262032"/>
                  </a:lnTo>
                  <a:lnTo>
                    <a:pt x="381213" y="262032"/>
                  </a:lnTo>
                  <a:lnTo>
                    <a:pt x="381213" y="8473"/>
                  </a:lnTo>
                  <a:lnTo>
                    <a:pt x="376980" y="8473"/>
                  </a:lnTo>
                  <a:lnTo>
                    <a:pt x="372748" y="4238"/>
                  </a:lnTo>
                  <a:close/>
                </a:path>
                <a:path w="381635" h="270510">
                  <a:moveTo>
                    <a:pt x="381213" y="262032"/>
                  </a:moveTo>
                  <a:lnTo>
                    <a:pt x="376980" y="262032"/>
                  </a:lnTo>
                  <a:lnTo>
                    <a:pt x="372748" y="266271"/>
                  </a:lnTo>
                  <a:lnTo>
                    <a:pt x="381213" y="266271"/>
                  </a:lnTo>
                  <a:lnTo>
                    <a:pt x="381213" y="262032"/>
                  </a:lnTo>
                  <a:close/>
                </a:path>
                <a:path w="381635" h="270510">
                  <a:moveTo>
                    <a:pt x="129584" y="177808"/>
                  </a:moveTo>
                  <a:lnTo>
                    <a:pt x="27958" y="177808"/>
                  </a:lnTo>
                  <a:lnTo>
                    <a:pt x="27958" y="242431"/>
                  </a:lnTo>
                  <a:lnTo>
                    <a:pt x="129584" y="242431"/>
                  </a:lnTo>
                  <a:lnTo>
                    <a:pt x="129584" y="238196"/>
                  </a:lnTo>
                  <a:lnTo>
                    <a:pt x="36396" y="238196"/>
                  </a:lnTo>
                  <a:lnTo>
                    <a:pt x="32175" y="233957"/>
                  </a:lnTo>
                  <a:lnTo>
                    <a:pt x="36396" y="233957"/>
                  </a:lnTo>
                  <a:lnTo>
                    <a:pt x="36396" y="186281"/>
                  </a:lnTo>
                  <a:lnTo>
                    <a:pt x="32175" y="186281"/>
                  </a:lnTo>
                  <a:lnTo>
                    <a:pt x="36396" y="182046"/>
                  </a:lnTo>
                  <a:lnTo>
                    <a:pt x="129584" y="182046"/>
                  </a:lnTo>
                  <a:lnTo>
                    <a:pt x="129584" y="177808"/>
                  </a:lnTo>
                  <a:close/>
                </a:path>
                <a:path w="381635" h="270510">
                  <a:moveTo>
                    <a:pt x="241410" y="177808"/>
                  </a:moveTo>
                  <a:lnTo>
                    <a:pt x="139784" y="177808"/>
                  </a:lnTo>
                  <a:lnTo>
                    <a:pt x="139784" y="242431"/>
                  </a:lnTo>
                  <a:lnTo>
                    <a:pt x="241410" y="242431"/>
                  </a:lnTo>
                  <a:lnTo>
                    <a:pt x="241410" y="238196"/>
                  </a:lnTo>
                  <a:lnTo>
                    <a:pt x="148222" y="238196"/>
                  </a:lnTo>
                  <a:lnTo>
                    <a:pt x="144001" y="233957"/>
                  </a:lnTo>
                  <a:lnTo>
                    <a:pt x="148222" y="233957"/>
                  </a:lnTo>
                  <a:lnTo>
                    <a:pt x="148222" y="186281"/>
                  </a:lnTo>
                  <a:lnTo>
                    <a:pt x="144001" y="186281"/>
                  </a:lnTo>
                  <a:lnTo>
                    <a:pt x="148222" y="182046"/>
                  </a:lnTo>
                  <a:lnTo>
                    <a:pt x="241410" y="182046"/>
                  </a:lnTo>
                  <a:lnTo>
                    <a:pt x="241410" y="177808"/>
                  </a:lnTo>
                  <a:close/>
                </a:path>
                <a:path w="381635" h="270510">
                  <a:moveTo>
                    <a:pt x="353256" y="177808"/>
                  </a:moveTo>
                  <a:lnTo>
                    <a:pt x="251611" y="177808"/>
                  </a:lnTo>
                  <a:lnTo>
                    <a:pt x="251611" y="242431"/>
                  </a:lnTo>
                  <a:lnTo>
                    <a:pt x="353256" y="242431"/>
                  </a:lnTo>
                  <a:lnTo>
                    <a:pt x="353256" y="238196"/>
                  </a:lnTo>
                  <a:lnTo>
                    <a:pt x="260048" y="238196"/>
                  </a:lnTo>
                  <a:lnTo>
                    <a:pt x="255828" y="233957"/>
                  </a:lnTo>
                  <a:lnTo>
                    <a:pt x="260048" y="233957"/>
                  </a:lnTo>
                  <a:lnTo>
                    <a:pt x="260048" y="186281"/>
                  </a:lnTo>
                  <a:lnTo>
                    <a:pt x="255827" y="186281"/>
                  </a:lnTo>
                  <a:lnTo>
                    <a:pt x="260048" y="182046"/>
                  </a:lnTo>
                  <a:lnTo>
                    <a:pt x="353256" y="182046"/>
                  </a:lnTo>
                  <a:lnTo>
                    <a:pt x="353256" y="177808"/>
                  </a:lnTo>
                  <a:close/>
                </a:path>
                <a:path w="381635" h="270510">
                  <a:moveTo>
                    <a:pt x="36396" y="233957"/>
                  </a:moveTo>
                  <a:lnTo>
                    <a:pt x="32175" y="233957"/>
                  </a:lnTo>
                  <a:lnTo>
                    <a:pt x="36396" y="238196"/>
                  </a:lnTo>
                  <a:lnTo>
                    <a:pt x="36396" y="233957"/>
                  </a:lnTo>
                  <a:close/>
                </a:path>
                <a:path w="381635" h="270510">
                  <a:moveTo>
                    <a:pt x="121147" y="233957"/>
                  </a:moveTo>
                  <a:lnTo>
                    <a:pt x="36396" y="233957"/>
                  </a:lnTo>
                  <a:lnTo>
                    <a:pt x="36396" y="238196"/>
                  </a:lnTo>
                  <a:lnTo>
                    <a:pt x="121147" y="238196"/>
                  </a:lnTo>
                  <a:lnTo>
                    <a:pt x="121147" y="233957"/>
                  </a:lnTo>
                  <a:close/>
                </a:path>
                <a:path w="381635" h="270510">
                  <a:moveTo>
                    <a:pt x="121147" y="182046"/>
                  </a:moveTo>
                  <a:lnTo>
                    <a:pt x="121147" y="238196"/>
                  </a:lnTo>
                  <a:lnTo>
                    <a:pt x="125364" y="233957"/>
                  </a:lnTo>
                  <a:lnTo>
                    <a:pt x="129584" y="233957"/>
                  </a:lnTo>
                  <a:lnTo>
                    <a:pt x="129584" y="186281"/>
                  </a:lnTo>
                  <a:lnTo>
                    <a:pt x="125363" y="186281"/>
                  </a:lnTo>
                  <a:lnTo>
                    <a:pt x="121147" y="182046"/>
                  </a:lnTo>
                  <a:close/>
                </a:path>
                <a:path w="381635" h="270510">
                  <a:moveTo>
                    <a:pt x="129584" y="233957"/>
                  </a:moveTo>
                  <a:lnTo>
                    <a:pt x="125364" y="233957"/>
                  </a:lnTo>
                  <a:lnTo>
                    <a:pt x="121147" y="238196"/>
                  </a:lnTo>
                  <a:lnTo>
                    <a:pt x="129584" y="238196"/>
                  </a:lnTo>
                  <a:lnTo>
                    <a:pt x="129584" y="233957"/>
                  </a:lnTo>
                  <a:close/>
                </a:path>
                <a:path w="381635" h="270510">
                  <a:moveTo>
                    <a:pt x="148222" y="233957"/>
                  </a:moveTo>
                  <a:lnTo>
                    <a:pt x="144001" y="233957"/>
                  </a:lnTo>
                  <a:lnTo>
                    <a:pt x="148222" y="238196"/>
                  </a:lnTo>
                  <a:lnTo>
                    <a:pt x="148222" y="233957"/>
                  </a:lnTo>
                  <a:close/>
                </a:path>
                <a:path w="381635" h="270510">
                  <a:moveTo>
                    <a:pt x="232973" y="233957"/>
                  </a:moveTo>
                  <a:lnTo>
                    <a:pt x="148222" y="233957"/>
                  </a:lnTo>
                  <a:lnTo>
                    <a:pt x="148222" y="238196"/>
                  </a:lnTo>
                  <a:lnTo>
                    <a:pt x="232973" y="238196"/>
                  </a:lnTo>
                  <a:lnTo>
                    <a:pt x="232973" y="233957"/>
                  </a:lnTo>
                  <a:close/>
                </a:path>
                <a:path w="381635" h="270510">
                  <a:moveTo>
                    <a:pt x="232973" y="182046"/>
                  </a:moveTo>
                  <a:lnTo>
                    <a:pt x="232973" y="238196"/>
                  </a:lnTo>
                  <a:lnTo>
                    <a:pt x="237190" y="233957"/>
                  </a:lnTo>
                  <a:lnTo>
                    <a:pt x="241410" y="233957"/>
                  </a:lnTo>
                  <a:lnTo>
                    <a:pt x="241410" y="186281"/>
                  </a:lnTo>
                  <a:lnTo>
                    <a:pt x="237190" y="186281"/>
                  </a:lnTo>
                  <a:lnTo>
                    <a:pt x="232973" y="182046"/>
                  </a:lnTo>
                  <a:close/>
                </a:path>
                <a:path w="381635" h="270510">
                  <a:moveTo>
                    <a:pt x="241410" y="233957"/>
                  </a:moveTo>
                  <a:lnTo>
                    <a:pt x="237190" y="233957"/>
                  </a:lnTo>
                  <a:lnTo>
                    <a:pt x="232973" y="238196"/>
                  </a:lnTo>
                  <a:lnTo>
                    <a:pt x="241410" y="238196"/>
                  </a:lnTo>
                  <a:lnTo>
                    <a:pt x="241410" y="233957"/>
                  </a:lnTo>
                  <a:close/>
                </a:path>
                <a:path w="381635" h="270510">
                  <a:moveTo>
                    <a:pt x="260048" y="233957"/>
                  </a:moveTo>
                  <a:lnTo>
                    <a:pt x="255828" y="233957"/>
                  </a:lnTo>
                  <a:lnTo>
                    <a:pt x="260048" y="238196"/>
                  </a:lnTo>
                  <a:lnTo>
                    <a:pt x="260048" y="233957"/>
                  </a:lnTo>
                  <a:close/>
                </a:path>
                <a:path w="381635" h="270510">
                  <a:moveTo>
                    <a:pt x="344799" y="233957"/>
                  </a:moveTo>
                  <a:lnTo>
                    <a:pt x="260048" y="233957"/>
                  </a:lnTo>
                  <a:lnTo>
                    <a:pt x="260048" y="238196"/>
                  </a:lnTo>
                  <a:lnTo>
                    <a:pt x="344799" y="238196"/>
                  </a:lnTo>
                  <a:lnTo>
                    <a:pt x="344799" y="233957"/>
                  </a:lnTo>
                  <a:close/>
                </a:path>
                <a:path w="381635" h="270510">
                  <a:moveTo>
                    <a:pt x="344799" y="182046"/>
                  </a:moveTo>
                  <a:lnTo>
                    <a:pt x="344799" y="238196"/>
                  </a:lnTo>
                  <a:lnTo>
                    <a:pt x="349016" y="233957"/>
                  </a:lnTo>
                  <a:lnTo>
                    <a:pt x="353256" y="233957"/>
                  </a:lnTo>
                  <a:lnTo>
                    <a:pt x="353256" y="186281"/>
                  </a:lnTo>
                  <a:lnTo>
                    <a:pt x="349016" y="186281"/>
                  </a:lnTo>
                  <a:lnTo>
                    <a:pt x="344799" y="182046"/>
                  </a:lnTo>
                  <a:close/>
                </a:path>
                <a:path w="381635" h="270510">
                  <a:moveTo>
                    <a:pt x="353256" y="233957"/>
                  </a:moveTo>
                  <a:lnTo>
                    <a:pt x="349016" y="233957"/>
                  </a:lnTo>
                  <a:lnTo>
                    <a:pt x="344799" y="238196"/>
                  </a:lnTo>
                  <a:lnTo>
                    <a:pt x="353256" y="238196"/>
                  </a:lnTo>
                  <a:lnTo>
                    <a:pt x="353256" y="233957"/>
                  </a:lnTo>
                  <a:close/>
                </a:path>
                <a:path w="381635" h="270510">
                  <a:moveTo>
                    <a:pt x="36396" y="182046"/>
                  </a:moveTo>
                  <a:lnTo>
                    <a:pt x="32175" y="186281"/>
                  </a:lnTo>
                  <a:lnTo>
                    <a:pt x="36396" y="186281"/>
                  </a:lnTo>
                  <a:lnTo>
                    <a:pt x="36396" y="182046"/>
                  </a:lnTo>
                  <a:close/>
                </a:path>
                <a:path w="381635" h="270510">
                  <a:moveTo>
                    <a:pt x="121147" y="182046"/>
                  </a:moveTo>
                  <a:lnTo>
                    <a:pt x="36396" y="182046"/>
                  </a:lnTo>
                  <a:lnTo>
                    <a:pt x="36396" y="186281"/>
                  </a:lnTo>
                  <a:lnTo>
                    <a:pt x="121147" y="186281"/>
                  </a:lnTo>
                  <a:lnTo>
                    <a:pt x="121147" y="182046"/>
                  </a:lnTo>
                  <a:close/>
                </a:path>
                <a:path w="381635" h="270510">
                  <a:moveTo>
                    <a:pt x="129584" y="182046"/>
                  </a:moveTo>
                  <a:lnTo>
                    <a:pt x="121147" y="182046"/>
                  </a:lnTo>
                  <a:lnTo>
                    <a:pt x="125363" y="186281"/>
                  </a:lnTo>
                  <a:lnTo>
                    <a:pt x="129584" y="186281"/>
                  </a:lnTo>
                  <a:lnTo>
                    <a:pt x="129584" y="182046"/>
                  </a:lnTo>
                  <a:close/>
                </a:path>
                <a:path w="381635" h="270510">
                  <a:moveTo>
                    <a:pt x="148222" y="182046"/>
                  </a:moveTo>
                  <a:lnTo>
                    <a:pt x="144001" y="186281"/>
                  </a:lnTo>
                  <a:lnTo>
                    <a:pt x="148222" y="186281"/>
                  </a:lnTo>
                  <a:lnTo>
                    <a:pt x="148222" y="182046"/>
                  </a:lnTo>
                  <a:close/>
                </a:path>
                <a:path w="381635" h="270510">
                  <a:moveTo>
                    <a:pt x="232973" y="182046"/>
                  </a:moveTo>
                  <a:lnTo>
                    <a:pt x="148222" y="182046"/>
                  </a:lnTo>
                  <a:lnTo>
                    <a:pt x="148222" y="186281"/>
                  </a:lnTo>
                  <a:lnTo>
                    <a:pt x="232973" y="186281"/>
                  </a:lnTo>
                  <a:lnTo>
                    <a:pt x="232973" y="182046"/>
                  </a:lnTo>
                  <a:close/>
                </a:path>
                <a:path w="381635" h="270510">
                  <a:moveTo>
                    <a:pt x="241410" y="182046"/>
                  </a:moveTo>
                  <a:lnTo>
                    <a:pt x="232973" y="182046"/>
                  </a:lnTo>
                  <a:lnTo>
                    <a:pt x="237190" y="186281"/>
                  </a:lnTo>
                  <a:lnTo>
                    <a:pt x="241410" y="186281"/>
                  </a:lnTo>
                  <a:lnTo>
                    <a:pt x="241410" y="182046"/>
                  </a:lnTo>
                  <a:close/>
                </a:path>
                <a:path w="381635" h="270510">
                  <a:moveTo>
                    <a:pt x="260048" y="182046"/>
                  </a:moveTo>
                  <a:lnTo>
                    <a:pt x="255827" y="186281"/>
                  </a:lnTo>
                  <a:lnTo>
                    <a:pt x="260048" y="186281"/>
                  </a:lnTo>
                  <a:lnTo>
                    <a:pt x="260048" y="182046"/>
                  </a:lnTo>
                  <a:close/>
                </a:path>
                <a:path w="381635" h="270510">
                  <a:moveTo>
                    <a:pt x="344799" y="182046"/>
                  </a:moveTo>
                  <a:lnTo>
                    <a:pt x="260048" y="182046"/>
                  </a:lnTo>
                  <a:lnTo>
                    <a:pt x="260048" y="186281"/>
                  </a:lnTo>
                  <a:lnTo>
                    <a:pt x="344799" y="186281"/>
                  </a:lnTo>
                  <a:lnTo>
                    <a:pt x="344799" y="182046"/>
                  </a:lnTo>
                  <a:close/>
                </a:path>
                <a:path w="381635" h="270510">
                  <a:moveTo>
                    <a:pt x="353256" y="182046"/>
                  </a:moveTo>
                  <a:lnTo>
                    <a:pt x="344799" y="182046"/>
                  </a:lnTo>
                  <a:lnTo>
                    <a:pt x="349016" y="186281"/>
                  </a:lnTo>
                  <a:lnTo>
                    <a:pt x="353256" y="186281"/>
                  </a:lnTo>
                  <a:lnTo>
                    <a:pt x="353256" y="182046"/>
                  </a:lnTo>
                  <a:close/>
                </a:path>
                <a:path w="381635" h="270510">
                  <a:moveTo>
                    <a:pt x="129584" y="102941"/>
                  </a:moveTo>
                  <a:lnTo>
                    <a:pt x="27958" y="102941"/>
                  </a:lnTo>
                  <a:lnTo>
                    <a:pt x="27958" y="167564"/>
                  </a:lnTo>
                  <a:lnTo>
                    <a:pt x="129584" y="167564"/>
                  </a:lnTo>
                  <a:lnTo>
                    <a:pt x="129584" y="163329"/>
                  </a:lnTo>
                  <a:lnTo>
                    <a:pt x="36396" y="163329"/>
                  </a:lnTo>
                  <a:lnTo>
                    <a:pt x="32175" y="159091"/>
                  </a:lnTo>
                  <a:lnTo>
                    <a:pt x="36396" y="159091"/>
                  </a:lnTo>
                  <a:lnTo>
                    <a:pt x="36396" y="111414"/>
                  </a:lnTo>
                  <a:lnTo>
                    <a:pt x="32175" y="111414"/>
                  </a:lnTo>
                  <a:lnTo>
                    <a:pt x="36396" y="107180"/>
                  </a:lnTo>
                  <a:lnTo>
                    <a:pt x="129584" y="107180"/>
                  </a:lnTo>
                  <a:lnTo>
                    <a:pt x="129584" y="102941"/>
                  </a:lnTo>
                  <a:close/>
                </a:path>
                <a:path w="381635" h="270510">
                  <a:moveTo>
                    <a:pt x="241410" y="102941"/>
                  </a:moveTo>
                  <a:lnTo>
                    <a:pt x="139784" y="102941"/>
                  </a:lnTo>
                  <a:lnTo>
                    <a:pt x="139784" y="167564"/>
                  </a:lnTo>
                  <a:lnTo>
                    <a:pt x="241410" y="167564"/>
                  </a:lnTo>
                  <a:lnTo>
                    <a:pt x="241410" y="163329"/>
                  </a:lnTo>
                  <a:lnTo>
                    <a:pt x="148222" y="163329"/>
                  </a:lnTo>
                  <a:lnTo>
                    <a:pt x="144001" y="159091"/>
                  </a:lnTo>
                  <a:lnTo>
                    <a:pt x="148222" y="159091"/>
                  </a:lnTo>
                  <a:lnTo>
                    <a:pt x="148222" y="111414"/>
                  </a:lnTo>
                  <a:lnTo>
                    <a:pt x="144001" y="111414"/>
                  </a:lnTo>
                  <a:lnTo>
                    <a:pt x="148222" y="107180"/>
                  </a:lnTo>
                  <a:lnTo>
                    <a:pt x="241410" y="107180"/>
                  </a:lnTo>
                  <a:lnTo>
                    <a:pt x="241410" y="102941"/>
                  </a:lnTo>
                  <a:close/>
                </a:path>
                <a:path w="381635" h="270510">
                  <a:moveTo>
                    <a:pt x="353256" y="102941"/>
                  </a:moveTo>
                  <a:lnTo>
                    <a:pt x="251611" y="102941"/>
                  </a:lnTo>
                  <a:lnTo>
                    <a:pt x="251611" y="167564"/>
                  </a:lnTo>
                  <a:lnTo>
                    <a:pt x="353256" y="167564"/>
                  </a:lnTo>
                  <a:lnTo>
                    <a:pt x="353256" y="163329"/>
                  </a:lnTo>
                  <a:lnTo>
                    <a:pt x="260048" y="163329"/>
                  </a:lnTo>
                  <a:lnTo>
                    <a:pt x="255827" y="159091"/>
                  </a:lnTo>
                  <a:lnTo>
                    <a:pt x="260048" y="159091"/>
                  </a:lnTo>
                  <a:lnTo>
                    <a:pt x="260048" y="111414"/>
                  </a:lnTo>
                  <a:lnTo>
                    <a:pt x="255827" y="111414"/>
                  </a:lnTo>
                  <a:lnTo>
                    <a:pt x="260048" y="107180"/>
                  </a:lnTo>
                  <a:lnTo>
                    <a:pt x="353256" y="107180"/>
                  </a:lnTo>
                  <a:lnTo>
                    <a:pt x="353256" y="102941"/>
                  </a:lnTo>
                  <a:close/>
                </a:path>
                <a:path w="381635" h="270510">
                  <a:moveTo>
                    <a:pt x="36396" y="159091"/>
                  </a:moveTo>
                  <a:lnTo>
                    <a:pt x="32175" y="159091"/>
                  </a:lnTo>
                  <a:lnTo>
                    <a:pt x="36396" y="163329"/>
                  </a:lnTo>
                  <a:lnTo>
                    <a:pt x="36396" y="159091"/>
                  </a:lnTo>
                  <a:close/>
                </a:path>
                <a:path w="381635" h="270510">
                  <a:moveTo>
                    <a:pt x="121147" y="159091"/>
                  </a:moveTo>
                  <a:lnTo>
                    <a:pt x="36396" y="159091"/>
                  </a:lnTo>
                  <a:lnTo>
                    <a:pt x="36396" y="163329"/>
                  </a:lnTo>
                  <a:lnTo>
                    <a:pt x="121147" y="163329"/>
                  </a:lnTo>
                  <a:lnTo>
                    <a:pt x="121147" y="159091"/>
                  </a:lnTo>
                  <a:close/>
                </a:path>
                <a:path w="381635" h="270510">
                  <a:moveTo>
                    <a:pt x="121147" y="107180"/>
                  </a:moveTo>
                  <a:lnTo>
                    <a:pt x="121147" y="163329"/>
                  </a:lnTo>
                  <a:lnTo>
                    <a:pt x="125363" y="159091"/>
                  </a:lnTo>
                  <a:lnTo>
                    <a:pt x="129584" y="159091"/>
                  </a:lnTo>
                  <a:lnTo>
                    <a:pt x="129584" y="111414"/>
                  </a:lnTo>
                  <a:lnTo>
                    <a:pt x="125363" y="111414"/>
                  </a:lnTo>
                  <a:lnTo>
                    <a:pt x="121147" y="107180"/>
                  </a:lnTo>
                  <a:close/>
                </a:path>
                <a:path w="381635" h="270510">
                  <a:moveTo>
                    <a:pt x="129584" y="159091"/>
                  </a:moveTo>
                  <a:lnTo>
                    <a:pt x="125363" y="159091"/>
                  </a:lnTo>
                  <a:lnTo>
                    <a:pt x="121147" y="163329"/>
                  </a:lnTo>
                  <a:lnTo>
                    <a:pt x="129584" y="163329"/>
                  </a:lnTo>
                  <a:lnTo>
                    <a:pt x="129584" y="159091"/>
                  </a:lnTo>
                  <a:close/>
                </a:path>
                <a:path w="381635" h="270510">
                  <a:moveTo>
                    <a:pt x="148222" y="159091"/>
                  </a:moveTo>
                  <a:lnTo>
                    <a:pt x="144001" y="159091"/>
                  </a:lnTo>
                  <a:lnTo>
                    <a:pt x="148222" y="163329"/>
                  </a:lnTo>
                  <a:lnTo>
                    <a:pt x="148222" y="159091"/>
                  </a:lnTo>
                  <a:close/>
                </a:path>
                <a:path w="381635" h="270510">
                  <a:moveTo>
                    <a:pt x="232973" y="159091"/>
                  </a:moveTo>
                  <a:lnTo>
                    <a:pt x="148222" y="159091"/>
                  </a:lnTo>
                  <a:lnTo>
                    <a:pt x="148222" y="163329"/>
                  </a:lnTo>
                  <a:lnTo>
                    <a:pt x="232973" y="163329"/>
                  </a:lnTo>
                  <a:lnTo>
                    <a:pt x="232973" y="159091"/>
                  </a:lnTo>
                  <a:close/>
                </a:path>
                <a:path w="381635" h="270510">
                  <a:moveTo>
                    <a:pt x="232973" y="107180"/>
                  </a:moveTo>
                  <a:lnTo>
                    <a:pt x="232973" y="163329"/>
                  </a:lnTo>
                  <a:lnTo>
                    <a:pt x="237190" y="159091"/>
                  </a:lnTo>
                  <a:lnTo>
                    <a:pt x="241410" y="159091"/>
                  </a:lnTo>
                  <a:lnTo>
                    <a:pt x="241410" y="111414"/>
                  </a:lnTo>
                  <a:lnTo>
                    <a:pt x="237190" y="111414"/>
                  </a:lnTo>
                  <a:lnTo>
                    <a:pt x="232973" y="107180"/>
                  </a:lnTo>
                  <a:close/>
                </a:path>
                <a:path w="381635" h="270510">
                  <a:moveTo>
                    <a:pt x="241410" y="159091"/>
                  </a:moveTo>
                  <a:lnTo>
                    <a:pt x="237190" y="159091"/>
                  </a:lnTo>
                  <a:lnTo>
                    <a:pt x="232973" y="163329"/>
                  </a:lnTo>
                  <a:lnTo>
                    <a:pt x="241410" y="163329"/>
                  </a:lnTo>
                  <a:lnTo>
                    <a:pt x="241410" y="159091"/>
                  </a:lnTo>
                  <a:close/>
                </a:path>
                <a:path w="381635" h="270510">
                  <a:moveTo>
                    <a:pt x="260048" y="159091"/>
                  </a:moveTo>
                  <a:lnTo>
                    <a:pt x="255827" y="159091"/>
                  </a:lnTo>
                  <a:lnTo>
                    <a:pt x="260048" y="163329"/>
                  </a:lnTo>
                  <a:lnTo>
                    <a:pt x="260048" y="159091"/>
                  </a:lnTo>
                  <a:close/>
                </a:path>
                <a:path w="381635" h="270510">
                  <a:moveTo>
                    <a:pt x="344799" y="159091"/>
                  </a:moveTo>
                  <a:lnTo>
                    <a:pt x="260048" y="159091"/>
                  </a:lnTo>
                  <a:lnTo>
                    <a:pt x="260048" y="163329"/>
                  </a:lnTo>
                  <a:lnTo>
                    <a:pt x="344799" y="163329"/>
                  </a:lnTo>
                  <a:lnTo>
                    <a:pt x="344799" y="159091"/>
                  </a:lnTo>
                  <a:close/>
                </a:path>
                <a:path w="381635" h="270510">
                  <a:moveTo>
                    <a:pt x="344799" y="107180"/>
                  </a:moveTo>
                  <a:lnTo>
                    <a:pt x="344799" y="163329"/>
                  </a:lnTo>
                  <a:lnTo>
                    <a:pt x="349016" y="159091"/>
                  </a:lnTo>
                  <a:lnTo>
                    <a:pt x="353256" y="159091"/>
                  </a:lnTo>
                  <a:lnTo>
                    <a:pt x="353256" y="111414"/>
                  </a:lnTo>
                  <a:lnTo>
                    <a:pt x="349016" y="111414"/>
                  </a:lnTo>
                  <a:lnTo>
                    <a:pt x="344799" y="107180"/>
                  </a:lnTo>
                  <a:close/>
                </a:path>
                <a:path w="381635" h="270510">
                  <a:moveTo>
                    <a:pt x="353256" y="159091"/>
                  </a:moveTo>
                  <a:lnTo>
                    <a:pt x="349016" y="159091"/>
                  </a:lnTo>
                  <a:lnTo>
                    <a:pt x="344799" y="163329"/>
                  </a:lnTo>
                  <a:lnTo>
                    <a:pt x="353256" y="163329"/>
                  </a:lnTo>
                  <a:lnTo>
                    <a:pt x="353256" y="159091"/>
                  </a:lnTo>
                  <a:close/>
                </a:path>
                <a:path w="381635" h="270510">
                  <a:moveTo>
                    <a:pt x="36396" y="107180"/>
                  </a:moveTo>
                  <a:lnTo>
                    <a:pt x="32175" y="111414"/>
                  </a:lnTo>
                  <a:lnTo>
                    <a:pt x="36396" y="111414"/>
                  </a:lnTo>
                  <a:lnTo>
                    <a:pt x="36396" y="107180"/>
                  </a:lnTo>
                  <a:close/>
                </a:path>
                <a:path w="381635" h="270510">
                  <a:moveTo>
                    <a:pt x="121147" y="107180"/>
                  </a:moveTo>
                  <a:lnTo>
                    <a:pt x="36396" y="107180"/>
                  </a:lnTo>
                  <a:lnTo>
                    <a:pt x="36396" y="111414"/>
                  </a:lnTo>
                  <a:lnTo>
                    <a:pt x="121147" y="111414"/>
                  </a:lnTo>
                  <a:lnTo>
                    <a:pt x="121147" y="107180"/>
                  </a:lnTo>
                  <a:close/>
                </a:path>
                <a:path w="381635" h="270510">
                  <a:moveTo>
                    <a:pt x="129584" y="107180"/>
                  </a:moveTo>
                  <a:lnTo>
                    <a:pt x="121147" y="107180"/>
                  </a:lnTo>
                  <a:lnTo>
                    <a:pt x="125363" y="111414"/>
                  </a:lnTo>
                  <a:lnTo>
                    <a:pt x="129584" y="111414"/>
                  </a:lnTo>
                  <a:lnTo>
                    <a:pt x="129584" y="107180"/>
                  </a:lnTo>
                  <a:close/>
                </a:path>
                <a:path w="381635" h="270510">
                  <a:moveTo>
                    <a:pt x="148222" y="107180"/>
                  </a:moveTo>
                  <a:lnTo>
                    <a:pt x="144001" y="111414"/>
                  </a:lnTo>
                  <a:lnTo>
                    <a:pt x="148222" y="111414"/>
                  </a:lnTo>
                  <a:lnTo>
                    <a:pt x="148222" y="107180"/>
                  </a:lnTo>
                  <a:close/>
                </a:path>
                <a:path w="381635" h="270510">
                  <a:moveTo>
                    <a:pt x="232973" y="107180"/>
                  </a:moveTo>
                  <a:lnTo>
                    <a:pt x="148222" y="107180"/>
                  </a:lnTo>
                  <a:lnTo>
                    <a:pt x="148222" y="111414"/>
                  </a:lnTo>
                  <a:lnTo>
                    <a:pt x="232973" y="111414"/>
                  </a:lnTo>
                  <a:lnTo>
                    <a:pt x="232973" y="107180"/>
                  </a:lnTo>
                  <a:close/>
                </a:path>
                <a:path w="381635" h="270510">
                  <a:moveTo>
                    <a:pt x="241410" y="107180"/>
                  </a:moveTo>
                  <a:lnTo>
                    <a:pt x="232973" y="107180"/>
                  </a:lnTo>
                  <a:lnTo>
                    <a:pt x="237190" y="111414"/>
                  </a:lnTo>
                  <a:lnTo>
                    <a:pt x="241410" y="111414"/>
                  </a:lnTo>
                  <a:lnTo>
                    <a:pt x="241410" y="107180"/>
                  </a:lnTo>
                  <a:close/>
                </a:path>
                <a:path w="381635" h="270510">
                  <a:moveTo>
                    <a:pt x="260048" y="107180"/>
                  </a:moveTo>
                  <a:lnTo>
                    <a:pt x="255827" y="111414"/>
                  </a:lnTo>
                  <a:lnTo>
                    <a:pt x="260048" y="111414"/>
                  </a:lnTo>
                  <a:lnTo>
                    <a:pt x="260048" y="107180"/>
                  </a:lnTo>
                  <a:close/>
                </a:path>
                <a:path w="381635" h="270510">
                  <a:moveTo>
                    <a:pt x="344799" y="107180"/>
                  </a:moveTo>
                  <a:lnTo>
                    <a:pt x="260048" y="107180"/>
                  </a:lnTo>
                  <a:lnTo>
                    <a:pt x="260048" y="111414"/>
                  </a:lnTo>
                  <a:lnTo>
                    <a:pt x="344799" y="111414"/>
                  </a:lnTo>
                  <a:lnTo>
                    <a:pt x="344799" y="107180"/>
                  </a:lnTo>
                  <a:close/>
                </a:path>
                <a:path w="381635" h="270510">
                  <a:moveTo>
                    <a:pt x="353256" y="107180"/>
                  </a:moveTo>
                  <a:lnTo>
                    <a:pt x="344799" y="107180"/>
                  </a:lnTo>
                  <a:lnTo>
                    <a:pt x="349016" y="111414"/>
                  </a:lnTo>
                  <a:lnTo>
                    <a:pt x="353256" y="111414"/>
                  </a:lnTo>
                  <a:lnTo>
                    <a:pt x="353256" y="107180"/>
                  </a:lnTo>
                  <a:close/>
                </a:path>
                <a:path w="381635" h="270510">
                  <a:moveTo>
                    <a:pt x="129584" y="28074"/>
                  </a:moveTo>
                  <a:lnTo>
                    <a:pt x="27958" y="28074"/>
                  </a:lnTo>
                  <a:lnTo>
                    <a:pt x="27958" y="92698"/>
                  </a:lnTo>
                  <a:lnTo>
                    <a:pt x="129584" y="92698"/>
                  </a:lnTo>
                  <a:lnTo>
                    <a:pt x="129584" y="88463"/>
                  </a:lnTo>
                  <a:lnTo>
                    <a:pt x="36396" y="88463"/>
                  </a:lnTo>
                  <a:lnTo>
                    <a:pt x="32175" y="84224"/>
                  </a:lnTo>
                  <a:lnTo>
                    <a:pt x="36396" y="84224"/>
                  </a:lnTo>
                  <a:lnTo>
                    <a:pt x="36395" y="36548"/>
                  </a:lnTo>
                  <a:lnTo>
                    <a:pt x="32175" y="36548"/>
                  </a:lnTo>
                  <a:lnTo>
                    <a:pt x="36395" y="32313"/>
                  </a:lnTo>
                  <a:lnTo>
                    <a:pt x="129584" y="32313"/>
                  </a:lnTo>
                  <a:lnTo>
                    <a:pt x="129584" y="28074"/>
                  </a:lnTo>
                  <a:close/>
                </a:path>
                <a:path w="381635" h="270510">
                  <a:moveTo>
                    <a:pt x="241410" y="28074"/>
                  </a:moveTo>
                  <a:lnTo>
                    <a:pt x="139784" y="28074"/>
                  </a:lnTo>
                  <a:lnTo>
                    <a:pt x="139784" y="92698"/>
                  </a:lnTo>
                  <a:lnTo>
                    <a:pt x="241410" y="92698"/>
                  </a:lnTo>
                  <a:lnTo>
                    <a:pt x="241410" y="88463"/>
                  </a:lnTo>
                  <a:lnTo>
                    <a:pt x="148222" y="88463"/>
                  </a:lnTo>
                  <a:lnTo>
                    <a:pt x="144001" y="84224"/>
                  </a:lnTo>
                  <a:lnTo>
                    <a:pt x="148222" y="84224"/>
                  </a:lnTo>
                  <a:lnTo>
                    <a:pt x="148222" y="36548"/>
                  </a:lnTo>
                  <a:lnTo>
                    <a:pt x="144001" y="36548"/>
                  </a:lnTo>
                  <a:lnTo>
                    <a:pt x="148222" y="32313"/>
                  </a:lnTo>
                  <a:lnTo>
                    <a:pt x="241410" y="32313"/>
                  </a:lnTo>
                  <a:lnTo>
                    <a:pt x="241410" y="28074"/>
                  </a:lnTo>
                  <a:close/>
                </a:path>
                <a:path w="381635" h="270510">
                  <a:moveTo>
                    <a:pt x="353256" y="28074"/>
                  </a:moveTo>
                  <a:lnTo>
                    <a:pt x="251611" y="28074"/>
                  </a:lnTo>
                  <a:lnTo>
                    <a:pt x="251611" y="92698"/>
                  </a:lnTo>
                  <a:lnTo>
                    <a:pt x="353256" y="92698"/>
                  </a:lnTo>
                  <a:lnTo>
                    <a:pt x="353256" y="88463"/>
                  </a:lnTo>
                  <a:lnTo>
                    <a:pt x="260048" y="88463"/>
                  </a:lnTo>
                  <a:lnTo>
                    <a:pt x="255827" y="84224"/>
                  </a:lnTo>
                  <a:lnTo>
                    <a:pt x="260048" y="84224"/>
                  </a:lnTo>
                  <a:lnTo>
                    <a:pt x="260048" y="36548"/>
                  </a:lnTo>
                  <a:lnTo>
                    <a:pt x="255827" y="36548"/>
                  </a:lnTo>
                  <a:lnTo>
                    <a:pt x="260048" y="32313"/>
                  </a:lnTo>
                  <a:lnTo>
                    <a:pt x="353256" y="32313"/>
                  </a:lnTo>
                  <a:lnTo>
                    <a:pt x="353256" y="28074"/>
                  </a:lnTo>
                  <a:close/>
                </a:path>
                <a:path w="381635" h="270510">
                  <a:moveTo>
                    <a:pt x="36396" y="84224"/>
                  </a:moveTo>
                  <a:lnTo>
                    <a:pt x="32175" y="84224"/>
                  </a:lnTo>
                  <a:lnTo>
                    <a:pt x="36396" y="88463"/>
                  </a:lnTo>
                  <a:lnTo>
                    <a:pt x="36396" y="84224"/>
                  </a:lnTo>
                  <a:close/>
                </a:path>
                <a:path w="381635" h="270510">
                  <a:moveTo>
                    <a:pt x="121147" y="84224"/>
                  </a:moveTo>
                  <a:lnTo>
                    <a:pt x="36396" y="84224"/>
                  </a:lnTo>
                  <a:lnTo>
                    <a:pt x="36396" y="88463"/>
                  </a:lnTo>
                  <a:lnTo>
                    <a:pt x="121147" y="88463"/>
                  </a:lnTo>
                  <a:lnTo>
                    <a:pt x="121147" y="84224"/>
                  </a:lnTo>
                  <a:close/>
                </a:path>
                <a:path w="381635" h="270510">
                  <a:moveTo>
                    <a:pt x="121147" y="32313"/>
                  </a:moveTo>
                  <a:lnTo>
                    <a:pt x="121147" y="88463"/>
                  </a:lnTo>
                  <a:lnTo>
                    <a:pt x="125363" y="84224"/>
                  </a:lnTo>
                  <a:lnTo>
                    <a:pt x="129584" y="84224"/>
                  </a:lnTo>
                  <a:lnTo>
                    <a:pt x="129584" y="36548"/>
                  </a:lnTo>
                  <a:lnTo>
                    <a:pt x="125363" y="36548"/>
                  </a:lnTo>
                  <a:lnTo>
                    <a:pt x="121147" y="32313"/>
                  </a:lnTo>
                  <a:close/>
                </a:path>
                <a:path w="381635" h="270510">
                  <a:moveTo>
                    <a:pt x="129584" y="84224"/>
                  </a:moveTo>
                  <a:lnTo>
                    <a:pt x="125363" y="84224"/>
                  </a:lnTo>
                  <a:lnTo>
                    <a:pt x="121147" y="88463"/>
                  </a:lnTo>
                  <a:lnTo>
                    <a:pt x="129584" y="88463"/>
                  </a:lnTo>
                  <a:lnTo>
                    <a:pt x="129584" y="84224"/>
                  </a:lnTo>
                  <a:close/>
                </a:path>
                <a:path w="381635" h="270510">
                  <a:moveTo>
                    <a:pt x="148222" y="84224"/>
                  </a:moveTo>
                  <a:lnTo>
                    <a:pt x="144001" y="84224"/>
                  </a:lnTo>
                  <a:lnTo>
                    <a:pt x="148222" y="88463"/>
                  </a:lnTo>
                  <a:lnTo>
                    <a:pt x="148222" y="84224"/>
                  </a:lnTo>
                  <a:close/>
                </a:path>
                <a:path w="381635" h="270510">
                  <a:moveTo>
                    <a:pt x="232973" y="84224"/>
                  </a:moveTo>
                  <a:lnTo>
                    <a:pt x="148222" y="84224"/>
                  </a:lnTo>
                  <a:lnTo>
                    <a:pt x="148222" y="88463"/>
                  </a:lnTo>
                  <a:lnTo>
                    <a:pt x="232973" y="88463"/>
                  </a:lnTo>
                  <a:lnTo>
                    <a:pt x="232973" y="84224"/>
                  </a:lnTo>
                  <a:close/>
                </a:path>
                <a:path w="381635" h="270510">
                  <a:moveTo>
                    <a:pt x="232973" y="32313"/>
                  </a:moveTo>
                  <a:lnTo>
                    <a:pt x="232973" y="88463"/>
                  </a:lnTo>
                  <a:lnTo>
                    <a:pt x="237190" y="84224"/>
                  </a:lnTo>
                  <a:lnTo>
                    <a:pt x="241410" y="84224"/>
                  </a:lnTo>
                  <a:lnTo>
                    <a:pt x="241410" y="36548"/>
                  </a:lnTo>
                  <a:lnTo>
                    <a:pt x="237190" y="36548"/>
                  </a:lnTo>
                  <a:lnTo>
                    <a:pt x="232973" y="32313"/>
                  </a:lnTo>
                  <a:close/>
                </a:path>
                <a:path w="381635" h="270510">
                  <a:moveTo>
                    <a:pt x="241410" y="84224"/>
                  </a:moveTo>
                  <a:lnTo>
                    <a:pt x="237190" y="84224"/>
                  </a:lnTo>
                  <a:lnTo>
                    <a:pt x="232973" y="88463"/>
                  </a:lnTo>
                  <a:lnTo>
                    <a:pt x="241410" y="88463"/>
                  </a:lnTo>
                  <a:lnTo>
                    <a:pt x="241410" y="84224"/>
                  </a:lnTo>
                  <a:close/>
                </a:path>
                <a:path w="381635" h="270510">
                  <a:moveTo>
                    <a:pt x="260048" y="84224"/>
                  </a:moveTo>
                  <a:lnTo>
                    <a:pt x="255827" y="84224"/>
                  </a:lnTo>
                  <a:lnTo>
                    <a:pt x="260048" y="88463"/>
                  </a:lnTo>
                  <a:lnTo>
                    <a:pt x="260048" y="84224"/>
                  </a:lnTo>
                  <a:close/>
                </a:path>
                <a:path w="381635" h="270510">
                  <a:moveTo>
                    <a:pt x="344799" y="84224"/>
                  </a:moveTo>
                  <a:lnTo>
                    <a:pt x="260048" y="84224"/>
                  </a:lnTo>
                  <a:lnTo>
                    <a:pt x="260048" y="88463"/>
                  </a:lnTo>
                  <a:lnTo>
                    <a:pt x="344799" y="88463"/>
                  </a:lnTo>
                  <a:lnTo>
                    <a:pt x="344799" y="84224"/>
                  </a:lnTo>
                  <a:close/>
                </a:path>
                <a:path w="381635" h="270510">
                  <a:moveTo>
                    <a:pt x="344799" y="32313"/>
                  </a:moveTo>
                  <a:lnTo>
                    <a:pt x="344799" y="88463"/>
                  </a:lnTo>
                  <a:lnTo>
                    <a:pt x="349016" y="84224"/>
                  </a:lnTo>
                  <a:lnTo>
                    <a:pt x="353256" y="84224"/>
                  </a:lnTo>
                  <a:lnTo>
                    <a:pt x="353256" y="36548"/>
                  </a:lnTo>
                  <a:lnTo>
                    <a:pt x="349016" y="36548"/>
                  </a:lnTo>
                  <a:lnTo>
                    <a:pt x="344799" y="32313"/>
                  </a:lnTo>
                  <a:close/>
                </a:path>
                <a:path w="381635" h="270510">
                  <a:moveTo>
                    <a:pt x="353256" y="84224"/>
                  </a:moveTo>
                  <a:lnTo>
                    <a:pt x="349016" y="84224"/>
                  </a:lnTo>
                  <a:lnTo>
                    <a:pt x="344799" y="88463"/>
                  </a:lnTo>
                  <a:lnTo>
                    <a:pt x="353256" y="88463"/>
                  </a:lnTo>
                  <a:lnTo>
                    <a:pt x="353256" y="84224"/>
                  </a:lnTo>
                  <a:close/>
                </a:path>
                <a:path w="381635" h="270510">
                  <a:moveTo>
                    <a:pt x="36395" y="32313"/>
                  </a:moveTo>
                  <a:lnTo>
                    <a:pt x="32175" y="36548"/>
                  </a:lnTo>
                  <a:lnTo>
                    <a:pt x="36395" y="36548"/>
                  </a:lnTo>
                  <a:lnTo>
                    <a:pt x="36395" y="32313"/>
                  </a:lnTo>
                  <a:close/>
                </a:path>
                <a:path w="381635" h="270510">
                  <a:moveTo>
                    <a:pt x="121147" y="32313"/>
                  </a:moveTo>
                  <a:lnTo>
                    <a:pt x="36395" y="32313"/>
                  </a:lnTo>
                  <a:lnTo>
                    <a:pt x="36395" y="36548"/>
                  </a:lnTo>
                  <a:lnTo>
                    <a:pt x="121147" y="36548"/>
                  </a:lnTo>
                  <a:lnTo>
                    <a:pt x="121147" y="32313"/>
                  </a:lnTo>
                  <a:close/>
                </a:path>
                <a:path w="381635" h="270510">
                  <a:moveTo>
                    <a:pt x="129584" y="32313"/>
                  </a:moveTo>
                  <a:lnTo>
                    <a:pt x="121147" y="32313"/>
                  </a:lnTo>
                  <a:lnTo>
                    <a:pt x="125363" y="36548"/>
                  </a:lnTo>
                  <a:lnTo>
                    <a:pt x="129584" y="36548"/>
                  </a:lnTo>
                  <a:lnTo>
                    <a:pt x="129584" y="32313"/>
                  </a:lnTo>
                  <a:close/>
                </a:path>
                <a:path w="381635" h="270510">
                  <a:moveTo>
                    <a:pt x="148222" y="32313"/>
                  </a:moveTo>
                  <a:lnTo>
                    <a:pt x="144001" y="36548"/>
                  </a:lnTo>
                  <a:lnTo>
                    <a:pt x="148222" y="36548"/>
                  </a:lnTo>
                  <a:lnTo>
                    <a:pt x="148222" y="32313"/>
                  </a:lnTo>
                  <a:close/>
                </a:path>
                <a:path w="381635" h="270510">
                  <a:moveTo>
                    <a:pt x="232973" y="32313"/>
                  </a:moveTo>
                  <a:lnTo>
                    <a:pt x="148222" y="32313"/>
                  </a:lnTo>
                  <a:lnTo>
                    <a:pt x="148222" y="36548"/>
                  </a:lnTo>
                  <a:lnTo>
                    <a:pt x="232973" y="36548"/>
                  </a:lnTo>
                  <a:lnTo>
                    <a:pt x="232973" y="32313"/>
                  </a:lnTo>
                  <a:close/>
                </a:path>
                <a:path w="381635" h="270510">
                  <a:moveTo>
                    <a:pt x="241410" y="32313"/>
                  </a:moveTo>
                  <a:lnTo>
                    <a:pt x="232973" y="32313"/>
                  </a:lnTo>
                  <a:lnTo>
                    <a:pt x="237190" y="36548"/>
                  </a:lnTo>
                  <a:lnTo>
                    <a:pt x="241410" y="36548"/>
                  </a:lnTo>
                  <a:lnTo>
                    <a:pt x="241410" y="32313"/>
                  </a:lnTo>
                  <a:close/>
                </a:path>
                <a:path w="381635" h="270510">
                  <a:moveTo>
                    <a:pt x="260048" y="32313"/>
                  </a:moveTo>
                  <a:lnTo>
                    <a:pt x="255827" y="36548"/>
                  </a:lnTo>
                  <a:lnTo>
                    <a:pt x="260048" y="36548"/>
                  </a:lnTo>
                  <a:lnTo>
                    <a:pt x="260048" y="32313"/>
                  </a:lnTo>
                  <a:close/>
                </a:path>
                <a:path w="381635" h="270510">
                  <a:moveTo>
                    <a:pt x="344799" y="32313"/>
                  </a:moveTo>
                  <a:lnTo>
                    <a:pt x="260048" y="32313"/>
                  </a:lnTo>
                  <a:lnTo>
                    <a:pt x="260048" y="36548"/>
                  </a:lnTo>
                  <a:lnTo>
                    <a:pt x="344799" y="36548"/>
                  </a:lnTo>
                  <a:lnTo>
                    <a:pt x="344799" y="32313"/>
                  </a:lnTo>
                  <a:close/>
                </a:path>
                <a:path w="381635" h="270510">
                  <a:moveTo>
                    <a:pt x="353256" y="32313"/>
                  </a:moveTo>
                  <a:lnTo>
                    <a:pt x="344799" y="32313"/>
                  </a:lnTo>
                  <a:lnTo>
                    <a:pt x="349016" y="36548"/>
                  </a:lnTo>
                  <a:lnTo>
                    <a:pt x="353256" y="36548"/>
                  </a:lnTo>
                  <a:lnTo>
                    <a:pt x="353256" y="32313"/>
                  </a:lnTo>
                  <a:close/>
                </a:path>
                <a:path w="381635" h="270510">
                  <a:moveTo>
                    <a:pt x="8439" y="4238"/>
                  </a:moveTo>
                  <a:lnTo>
                    <a:pt x="4218" y="8473"/>
                  </a:lnTo>
                  <a:lnTo>
                    <a:pt x="8439" y="8473"/>
                  </a:lnTo>
                  <a:lnTo>
                    <a:pt x="8439" y="4238"/>
                  </a:lnTo>
                  <a:close/>
                </a:path>
                <a:path w="381635" h="270510">
                  <a:moveTo>
                    <a:pt x="372748" y="4238"/>
                  </a:moveTo>
                  <a:lnTo>
                    <a:pt x="8439" y="4238"/>
                  </a:lnTo>
                  <a:lnTo>
                    <a:pt x="8439" y="8473"/>
                  </a:lnTo>
                  <a:lnTo>
                    <a:pt x="372748" y="8473"/>
                  </a:lnTo>
                  <a:lnTo>
                    <a:pt x="372748" y="4238"/>
                  </a:lnTo>
                  <a:close/>
                </a:path>
                <a:path w="381635" h="270510">
                  <a:moveTo>
                    <a:pt x="381213" y="4238"/>
                  </a:moveTo>
                  <a:lnTo>
                    <a:pt x="372748" y="4238"/>
                  </a:lnTo>
                  <a:lnTo>
                    <a:pt x="376980" y="8473"/>
                  </a:lnTo>
                  <a:lnTo>
                    <a:pt x="381213" y="8473"/>
                  </a:lnTo>
                  <a:lnTo>
                    <a:pt x="381213" y="4238"/>
                  </a:lnTo>
                  <a:close/>
                </a:path>
              </a:pathLst>
            </a:custGeom>
            <a:solidFill>
              <a:srgbClr val="0093FF"/>
            </a:solidFill>
          </p:spPr>
          <p:txBody>
            <a:bodyPr wrap="square" lIns="0" tIns="0" rIns="0" bIns="0" rtlCol="0"/>
            <a:lstStyle/>
            <a:p>
              <a:endParaRPr sz="2400"/>
            </a:p>
          </p:txBody>
        </p:sp>
        <p:pic>
          <p:nvPicPr>
            <p:cNvPr id="32" name="object 32"/>
            <p:cNvPicPr/>
            <p:nvPr/>
          </p:nvPicPr>
          <p:blipFill>
            <a:blip r:embed="rId2" cstate="print"/>
            <a:stretch>
              <a:fillRect/>
            </a:stretch>
          </p:blipFill>
          <p:spPr>
            <a:xfrm>
              <a:off x="5143002" y="4161763"/>
              <a:ext cx="413931" cy="415500"/>
            </a:xfrm>
            <a:prstGeom prst="rect">
              <a:avLst/>
            </a:prstGeom>
          </p:spPr>
        </p:pic>
        <p:pic>
          <p:nvPicPr>
            <p:cNvPr id="33" name="object 33"/>
            <p:cNvPicPr/>
            <p:nvPr/>
          </p:nvPicPr>
          <p:blipFill>
            <a:blip r:embed="rId6" cstate="print"/>
            <a:stretch>
              <a:fillRect/>
            </a:stretch>
          </p:blipFill>
          <p:spPr>
            <a:xfrm>
              <a:off x="4550664" y="4244339"/>
              <a:ext cx="704113" cy="419061"/>
            </a:xfrm>
            <a:prstGeom prst="rect">
              <a:avLst/>
            </a:prstGeom>
          </p:spPr>
        </p:pic>
        <p:sp>
          <p:nvSpPr>
            <p:cNvPr id="34" name="object 34"/>
            <p:cNvSpPr/>
            <p:nvPr/>
          </p:nvSpPr>
          <p:spPr>
            <a:xfrm>
              <a:off x="4594098" y="4347413"/>
              <a:ext cx="452755" cy="171450"/>
            </a:xfrm>
            <a:custGeom>
              <a:avLst/>
              <a:gdLst/>
              <a:ahLst/>
              <a:cxnLst/>
              <a:rect l="l" t="t" r="r" b="b"/>
              <a:pathLst>
                <a:path w="452754" h="171450">
                  <a:moveTo>
                    <a:pt x="405384" y="69265"/>
                  </a:moveTo>
                  <a:lnTo>
                    <a:pt x="290956" y="135775"/>
                  </a:lnTo>
                  <a:lnTo>
                    <a:pt x="285277" y="140795"/>
                  </a:lnTo>
                  <a:lnTo>
                    <a:pt x="282098" y="147370"/>
                  </a:lnTo>
                  <a:lnTo>
                    <a:pt x="281634" y="154660"/>
                  </a:lnTo>
                  <a:lnTo>
                    <a:pt x="284099" y="161823"/>
                  </a:lnTo>
                  <a:lnTo>
                    <a:pt x="289077" y="167479"/>
                  </a:lnTo>
                  <a:lnTo>
                    <a:pt x="295640" y="170662"/>
                  </a:lnTo>
                  <a:lnTo>
                    <a:pt x="302940" y="171149"/>
                  </a:lnTo>
                  <a:lnTo>
                    <a:pt x="310134" y="168719"/>
                  </a:lnTo>
                  <a:lnTo>
                    <a:pt x="420081" y="104787"/>
                  </a:lnTo>
                  <a:lnTo>
                    <a:pt x="414909" y="104787"/>
                  </a:lnTo>
                  <a:lnTo>
                    <a:pt x="414909" y="102171"/>
                  </a:lnTo>
                  <a:lnTo>
                    <a:pt x="405256" y="102171"/>
                  </a:lnTo>
                  <a:lnTo>
                    <a:pt x="377272" y="85788"/>
                  </a:lnTo>
                  <a:lnTo>
                    <a:pt x="405320" y="85788"/>
                  </a:lnTo>
                  <a:lnTo>
                    <a:pt x="405384" y="69265"/>
                  </a:lnTo>
                  <a:close/>
                </a:path>
                <a:path w="452754" h="171450">
                  <a:moveTo>
                    <a:pt x="0" y="66090"/>
                  </a:moveTo>
                  <a:lnTo>
                    <a:pt x="0" y="104190"/>
                  </a:lnTo>
                  <a:lnTo>
                    <a:pt x="414908" y="104787"/>
                  </a:lnTo>
                  <a:lnTo>
                    <a:pt x="344270" y="104787"/>
                  </a:lnTo>
                  <a:lnTo>
                    <a:pt x="376957" y="85788"/>
                  </a:lnTo>
                  <a:lnTo>
                    <a:pt x="377272" y="85788"/>
                  </a:lnTo>
                  <a:lnTo>
                    <a:pt x="344645" y="66687"/>
                  </a:lnTo>
                  <a:lnTo>
                    <a:pt x="414909" y="66687"/>
                  </a:lnTo>
                  <a:lnTo>
                    <a:pt x="0" y="66090"/>
                  </a:lnTo>
                  <a:close/>
                </a:path>
                <a:path w="452754" h="171450">
                  <a:moveTo>
                    <a:pt x="420124" y="66687"/>
                  </a:moveTo>
                  <a:lnTo>
                    <a:pt x="414909" y="66687"/>
                  </a:lnTo>
                  <a:lnTo>
                    <a:pt x="414909" y="104787"/>
                  </a:lnTo>
                  <a:lnTo>
                    <a:pt x="420081" y="104787"/>
                  </a:lnTo>
                  <a:lnTo>
                    <a:pt x="452754" y="85788"/>
                  </a:lnTo>
                  <a:lnTo>
                    <a:pt x="420124" y="66687"/>
                  </a:lnTo>
                  <a:close/>
                </a:path>
                <a:path w="452754" h="171450">
                  <a:moveTo>
                    <a:pt x="405320" y="85788"/>
                  </a:moveTo>
                  <a:lnTo>
                    <a:pt x="377272" y="85788"/>
                  </a:lnTo>
                  <a:lnTo>
                    <a:pt x="405256" y="102171"/>
                  </a:lnTo>
                  <a:lnTo>
                    <a:pt x="405320" y="85788"/>
                  </a:lnTo>
                  <a:close/>
                </a:path>
                <a:path w="452754" h="171450">
                  <a:moveTo>
                    <a:pt x="414909" y="69265"/>
                  </a:moveTo>
                  <a:lnTo>
                    <a:pt x="405384" y="69265"/>
                  </a:lnTo>
                  <a:lnTo>
                    <a:pt x="405320" y="85788"/>
                  </a:lnTo>
                  <a:lnTo>
                    <a:pt x="405256" y="102171"/>
                  </a:lnTo>
                  <a:lnTo>
                    <a:pt x="414909" y="102171"/>
                  </a:lnTo>
                  <a:lnTo>
                    <a:pt x="414909" y="69265"/>
                  </a:lnTo>
                  <a:close/>
                </a:path>
                <a:path w="452754" h="171450">
                  <a:moveTo>
                    <a:pt x="303194" y="0"/>
                  </a:moveTo>
                  <a:lnTo>
                    <a:pt x="295894" y="464"/>
                  </a:lnTo>
                  <a:lnTo>
                    <a:pt x="289331" y="3627"/>
                  </a:lnTo>
                  <a:lnTo>
                    <a:pt x="284352" y="9270"/>
                  </a:lnTo>
                  <a:lnTo>
                    <a:pt x="281886" y="16427"/>
                  </a:lnTo>
                  <a:lnTo>
                    <a:pt x="282336" y="23715"/>
                  </a:lnTo>
                  <a:lnTo>
                    <a:pt x="285478" y="30296"/>
                  </a:lnTo>
                  <a:lnTo>
                    <a:pt x="291084" y="35331"/>
                  </a:lnTo>
                  <a:lnTo>
                    <a:pt x="377272" y="85788"/>
                  </a:lnTo>
                  <a:lnTo>
                    <a:pt x="376957" y="85788"/>
                  </a:lnTo>
                  <a:lnTo>
                    <a:pt x="405384" y="69265"/>
                  </a:lnTo>
                  <a:lnTo>
                    <a:pt x="414909" y="69265"/>
                  </a:lnTo>
                  <a:lnTo>
                    <a:pt x="414909" y="66687"/>
                  </a:lnTo>
                  <a:lnTo>
                    <a:pt x="420124" y="66687"/>
                  </a:lnTo>
                  <a:lnTo>
                    <a:pt x="310388" y="2450"/>
                  </a:lnTo>
                  <a:lnTo>
                    <a:pt x="303194" y="0"/>
                  </a:lnTo>
                  <a:close/>
                </a:path>
              </a:pathLst>
            </a:custGeom>
            <a:solidFill>
              <a:srgbClr val="00C3FF"/>
            </a:solidFill>
          </p:spPr>
          <p:txBody>
            <a:bodyPr wrap="square" lIns="0" tIns="0" rIns="0" bIns="0" rtlCol="0"/>
            <a:lstStyle/>
            <a:p>
              <a:endParaRPr sz="2400"/>
            </a:p>
          </p:txBody>
        </p:sp>
        <p:pic>
          <p:nvPicPr>
            <p:cNvPr id="35" name="object 35"/>
            <p:cNvPicPr/>
            <p:nvPr/>
          </p:nvPicPr>
          <p:blipFill>
            <a:blip r:embed="rId10" cstate="print"/>
            <a:stretch>
              <a:fillRect/>
            </a:stretch>
          </p:blipFill>
          <p:spPr>
            <a:xfrm>
              <a:off x="4440936" y="3906011"/>
              <a:ext cx="678941" cy="401561"/>
            </a:xfrm>
            <a:prstGeom prst="rect">
              <a:avLst/>
            </a:prstGeom>
          </p:spPr>
        </p:pic>
      </p:grpSp>
      <p:sp>
        <p:nvSpPr>
          <p:cNvPr id="36" name="object 36"/>
          <p:cNvSpPr txBox="1"/>
          <p:nvPr/>
        </p:nvSpPr>
        <p:spPr>
          <a:xfrm>
            <a:off x="8326797" y="4313597"/>
            <a:ext cx="993140" cy="590697"/>
          </a:xfrm>
          <a:prstGeom prst="rect">
            <a:avLst/>
          </a:prstGeom>
        </p:spPr>
        <p:txBody>
          <a:bodyPr vert="horz" wrap="square" lIns="0" tIns="16087" rIns="0" bIns="0" rtlCol="0">
            <a:spAutoFit/>
          </a:bodyPr>
          <a:lstStyle/>
          <a:p>
            <a:pPr marL="16933">
              <a:spcBef>
                <a:spcPts val="127"/>
              </a:spcBef>
            </a:pPr>
            <a:r>
              <a:rPr sz="3733" spc="-33" dirty="0">
                <a:solidFill>
                  <a:srgbClr val="FFFFFF"/>
                </a:solidFill>
                <a:latin typeface="Bahnschrift"/>
                <a:cs typeface="Bahnschrift"/>
              </a:rPr>
              <a:t>MPP</a:t>
            </a:r>
            <a:endParaRPr sz="3733">
              <a:latin typeface="Bahnschrift"/>
              <a:cs typeface="Bahnschrift"/>
            </a:endParaRPr>
          </a:p>
        </p:txBody>
      </p:sp>
      <p:grpSp>
        <p:nvGrpSpPr>
          <p:cNvPr id="37" name="object 37"/>
          <p:cNvGrpSpPr/>
          <p:nvPr/>
        </p:nvGrpSpPr>
        <p:grpSpPr>
          <a:xfrm>
            <a:off x="7939023" y="1566672"/>
            <a:ext cx="2485813" cy="903393"/>
            <a:chOff x="5954267" y="1175003"/>
            <a:chExt cx="1864360" cy="677545"/>
          </a:xfrm>
        </p:grpSpPr>
        <p:sp>
          <p:nvSpPr>
            <p:cNvPr id="38" name="object 38"/>
            <p:cNvSpPr/>
            <p:nvPr/>
          </p:nvSpPr>
          <p:spPr>
            <a:xfrm>
              <a:off x="6053327" y="1226819"/>
              <a:ext cx="1765300" cy="462280"/>
            </a:xfrm>
            <a:custGeom>
              <a:avLst/>
              <a:gdLst/>
              <a:ahLst/>
              <a:cxnLst/>
              <a:rect l="l" t="t" r="r" b="b"/>
              <a:pathLst>
                <a:path w="1765300" h="462280">
                  <a:moveTo>
                    <a:pt x="1764792" y="0"/>
                  </a:moveTo>
                  <a:lnTo>
                    <a:pt x="0" y="0"/>
                  </a:lnTo>
                  <a:lnTo>
                    <a:pt x="0" y="461772"/>
                  </a:lnTo>
                  <a:lnTo>
                    <a:pt x="1764792" y="461772"/>
                  </a:lnTo>
                  <a:lnTo>
                    <a:pt x="1764792" y="0"/>
                  </a:lnTo>
                  <a:close/>
                </a:path>
              </a:pathLst>
            </a:custGeom>
            <a:solidFill>
              <a:srgbClr val="99E7FF">
                <a:alpha val="50195"/>
              </a:srgbClr>
            </a:solidFill>
          </p:spPr>
          <p:txBody>
            <a:bodyPr wrap="square" lIns="0" tIns="0" rIns="0" bIns="0" rtlCol="0"/>
            <a:lstStyle/>
            <a:p>
              <a:endParaRPr sz="2400"/>
            </a:p>
          </p:txBody>
        </p:sp>
        <p:pic>
          <p:nvPicPr>
            <p:cNvPr id="39" name="object 39"/>
            <p:cNvPicPr/>
            <p:nvPr/>
          </p:nvPicPr>
          <p:blipFill>
            <a:blip r:embed="rId11" cstate="print"/>
            <a:stretch>
              <a:fillRect/>
            </a:stretch>
          </p:blipFill>
          <p:spPr>
            <a:xfrm>
              <a:off x="5954267" y="1175003"/>
              <a:ext cx="1843278" cy="677418"/>
            </a:xfrm>
            <a:prstGeom prst="rect">
              <a:avLst/>
            </a:prstGeom>
          </p:spPr>
        </p:pic>
      </p:grpSp>
      <p:sp>
        <p:nvSpPr>
          <p:cNvPr id="40" name="object 40"/>
          <p:cNvSpPr txBox="1"/>
          <p:nvPr/>
        </p:nvSpPr>
        <p:spPr>
          <a:xfrm>
            <a:off x="8176428" y="1678939"/>
            <a:ext cx="1955800" cy="509541"/>
          </a:xfrm>
          <a:prstGeom prst="rect">
            <a:avLst/>
          </a:prstGeom>
        </p:spPr>
        <p:txBody>
          <a:bodyPr vert="horz" wrap="square" lIns="0" tIns="16933" rIns="0" bIns="0" rtlCol="0">
            <a:spAutoFit/>
          </a:bodyPr>
          <a:lstStyle/>
          <a:p>
            <a:pPr marL="16933">
              <a:spcBef>
                <a:spcPts val="133"/>
              </a:spcBef>
            </a:pPr>
            <a:r>
              <a:rPr sz="3200" spc="-13" dirty="0">
                <a:solidFill>
                  <a:srgbClr val="FFFFFF"/>
                </a:solidFill>
                <a:latin typeface="Bahnschrift"/>
                <a:cs typeface="Bahnschrift"/>
              </a:rPr>
              <a:t>Traditional</a:t>
            </a:r>
            <a:endParaRPr sz="3200">
              <a:latin typeface="Bahnschrift"/>
              <a:cs typeface="Bahnschrift"/>
            </a:endParaRPr>
          </a:p>
        </p:txBody>
      </p:sp>
      <p:sp>
        <p:nvSpPr>
          <p:cNvPr id="41" name="object 41"/>
          <p:cNvSpPr txBox="1"/>
          <p:nvPr/>
        </p:nvSpPr>
        <p:spPr>
          <a:xfrm>
            <a:off x="6072971" y="3163994"/>
            <a:ext cx="619760" cy="304421"/>
          </a:xfrm>
          <a:prstGeom prst="rect">
            <a:avLst/>
          </a:prstGeom>
        </p:spPr>
        <p:txBody>
          <a:bodyPr vert="horz" wrap="square" lIns="0" tIns="16933" rIns="0" bIns="0" rtlCol="0">
            <a:spAutoFit/>
          </a:bodyPr>
          <a:lstStyle/>
          <a:p>
            <a:pPr marL="16933">
              <a:spcBef>
                <a:spcPts val="133"/>
              </a:spcBef>
            </a:pPr>
            <a:r>
              <a:rPr sz="1867" spc="-187" dirty="0">
                <a:solidFill>
                  <a:srgbClr val="FFFFFF"/>
                </a:solidFill>
                <a:latin typeface="Arial MT"/>
                <a:cs typeface="Arial MT"/>
              </a:rPr>
              <a:t>Task</a:t>
            </a:r>
            <a:r>
              <a:rPr sz="1867" spc="-87" dirty="0">
                <a:solidFill>
                  <a:srgbClr val="FFFFFF"/>
                </a:solidFill>
                <a:latin typeface="Arial MT"/>
                <a:cs typeface="Arial MT"/>
              </a:rPr>
              <a:t> </a:t>
            </a:r>
            <a:r>
              <a:rPr sz="1867" spc="-80" dirty="0">
                <a:solidFill>
                  <a:srgbClr val="FFFFFF"/>
                </a:solidFill>
                <a:latin typeface="Arial MT"/>
                <a:cs typeface="Arial MT"/>
              </a:rPr>
              <a:t>1</a:t>
            </a:r>
            <a:endParaRPr sz="1867">
              <a:latin typeface="Arial MT"/>
              <a:cs typeface="Arial MT"/>
            </a:endParaRPr>
          </a:p>
        </p:txBody>
      </p:sp>
      <p:pic>
        <p:nvPicPr>
          <p:cNvPr id="42" name="object 42"/>
          <p:cNvPicPr/>
          <p:nvPr/>
        </p:nvPicPr>
        <p:blipFill>
          <a:blip r:embed="rId12" cstate="print"/>
          <a:stretch>
            <a:fillRect/>
          </a:stretch>
        </p:blipFill>
        <p:spPr>
          <a:xfrm>
            <a:off x="5929377" y="4153425"/>
            <a:ext cx="905255" cy="535415"/>
          </a:xfrm>
          <a:prstGeom prst="rect">
            <a:avLst/>
          </a:prstGeom>
        </p:spPr>
      </p:pic>
      <p:sp>
        <p:nvSpPr>
          <p:cNvPr id="43" name="object 43"/>
          <p:cNvSpPr txBox="1"/>
          <p:nvPr/>
        </p:nvSpPr>
        <p:spPr>
          <a:xfrm>
            <a:off x="6064843" y="4210405"/>
            <a:ext cx="618067" cy="305276"/>
          </a:xfrm>
          <a:prstGeom prst="rect">
            <a:avLst/>
          </a:prstGeom>
        </p:spPr>
        <p:txBody>
          <a:bodyPr vert="horz" wrap="square" lIns="0" tIns="17780" rIns="0" bIns="0" rtlCol="0">
            <a:spAutoFit/>
          </a:bodyPr>
          <a:lstStyle/>
          <a:p>
            <a:pPr marL="16933">
              <a:spcBef>
                <a:spcPts val="140"/>
              </a:spcBef>
            </a:pPr>
            <a:r>
              <a:rPr sz="1867" spc="-193" dirty="0">
                <a:solidFill>
                  <a:srgbClr val="FFFFFF"/>
                </a:solidFill>
                <a:latin typeface="Arial MT"/>
                <a:cs typeface="Arial MT"/>
              </a:rPr>
              <a:t>Task</a:t>
            </a:r>
            <a:r>
              <a:rPr sz="1867" spc="-80" dirty="0">
                <a:solidFill>
                  <a:srgbClr val="FFFFFF"/>
                </a:solidFill>
                <a:latin typeface="Arial MT"/>
                <a:cs typeface="Arial MT"/>
              </a:rPr>
              <a:t> </a:t>
            </a:r>
            <a:r>
              <a:rPr sz="1867" spc="-67" dirty="0">
                <a:solidFill>
                  <a:srgbClr val="FFFFFF"/>
                </a:solidFill>
                <a:latin typeface="Arial MT"/>
                <a:cs typeface="Arial MT"/>
              </a:rPr>
              <a:t>2</a:t>
            </a:r>
            <a:endParaRPr sz="1867">
              <a:latin typeface="Arial MT"/>
              <a:cs typeface="Arial MT"/>
            </a:endParaRPr>
          </a:p>
        </p:txBody>
      </p:sp>
      <p:sp>
        <p:nvSpPr>
          <p:cNvPr id="44" name="object 44"/>
          <p:cNvSpPr txBox="1"/>
          <p:nvPr/>
        </p:nvSpPr>
        <p:spPr>
          <a:xfrm>
            <a:off x="6056376" y="5265861"/>
            <a:ext cx="618067" cy="304421"/>
          </a:xfrm>
          <a:prstGeom prst="rect">
            <a:avLst/>
          </a:prstGeom>
        </p:spPr>
        <p:txBody>
          <a:bodyPr vert="horz" wrap="square" lIns="0" tIns="16933" rIns="0" bIns="0" rtlCol="0">
            <a:spAutoFit/>
          </a:bodyPr>
          <a:lstStyle/>
          <a:p>
            <a:pPr marL="16933">
              <a:spcBef>
                <a:spcPts val="133"/>
              </a:spcBef>
            </a:pPr>
            <a:r>
              <a:rPr sz="1867" spc="-187" dirty="0">
                <a:solidFill>
                  <a:srgbClr val="FFFFFF"/>
                </a:solidFill>
                <a:latin typeface="Arial MT"/>
                <a:cs typeface="Arial MT"/>
              </a:rPr>
              <a:t>Task</a:t>
            </a:r>
            <a:r>
              <a:rPr sz="1867" spc="-100" dirty="0">
                <a:solidFill>
                  <a:srgbClr val="FFFFFF"/>
                </a:solidFill>
                <a:latin typeface="Arial MT"/>
                <a:cs typeface="Arial MT"/>
              </a:rPr>
              <a:t> </a:t>
            </a:r>
            <a:r>
              <a:rPr sz="1867" spc="-80" dirty="0">
                <a:solidFill>
                  <a:srgbClr val="FFFFFF"/>
                </a:solidFill>
                <a:latin typeface="Arial MT"/>
                <a:cs typeface="Arial MT"/>
              </a:rPr>
              <a:t>3</a:t>
            </a:r>
            <a:endParaRPr sz="1867">
              <a:latin typeface="Arial MT"/>
              <a:cs typeface="Arial MT"/>
            </a:endParaRPr>
          </a:p>
        </p:txBody>
      </p:sp>
      <p:sp>
        <p:nvSpPr>
          <p:cNvPr id="45" name="object 45"/>
          <p:cNvSpPr/>
          <p:nvPr/>
        </p:nvSpPr>
        <p:spPr>
          <a:xfrm>
            <a:off x="3500001" y="5435735"/>
            <a:ext cx="574040" cy="779780"/>
          </a:xfrm>
          <a:custGeom>
            <a:avLst/>
            <a:gdLst/>
            <a:ahLst/>
            <a:cxnLst/>
            <a:rect l="l" t="t" r="r" b="b"/>
            <a:pathLst>
              <a:path w="430530" h="584835">
                <a:moveTo>
                  <a:pt x="430491" y="400100"/>
                </a:moveTo>
                <a:lnTo>
                  <a:pt x="419468" y="419493"/>
                </a:lnTo>
                <a:lnTo>
                  <a:pt x="388823" y="436384"/>
                </a:lnTo>
                <a:lnTo>
                  <a:pt x="384365" y="437667"/>
                </a:lnTo>
                <a:lnTo>
                  <a:pt x="384365" y="498576"/>
                </a:lnTo>
                <a:lnTo>
                  <a:pt x="384365" y="517042"/>
                </a:lnTo>
                <a:lnTo>
                  <a:pt x="378218" y="523201"/>
                </a:lnTo>
                <a:lnTo>
                  <a:pt x="359765" y="523201"/>
                </a:lnTo>
                <a:lnTo>
                  <a:pt x="353618" y="517042"/>
                </a:lnTo>
                <a:lnTo>
                  <a:pt x="353618" y="498576"/>
                </a:lnTo>
                <a:lnTo>
                  <a:pt x="359765" y="492417"/>
                </a:lnTo>
                <a:lnTo>
                  <a:pt x="378218" y="492417"/>
                </a:lnTo>
                <a:lnTo>
                  <a:pt x="384365" y="498576"/>
                </a:lnTo>
                <a:lnTo>
                  <a:pt x="384365" y="437667"/>
                </a:lnTo>
                <a:lnTo>
                  <a:pt x="342150" y="449732"/>
                </a:lnTo>
                <a:lnTo>
                  <a:pt x="283095" y="458495"/>
                </a:lnTo>
                <a:lnTo>
                  <a:pt x="215252" y="461645"/>
                </a:lnTo>
                <a:lnTo>
                  <a:pt x="147396" y="458495"/>
                </a:lnTo>
                <a:lnTo>
                  <a:pt x="88341" y="449732"/>
                </a:lnTo>
                <a:lnTo>
                  <a:pt x="41668" y="436384"/>
                </a:lnTo>
                <a:lnTo>
                  <a:pt x="11023" y="419493"/>
                </a:lnTo>
                <a:lnTo>
                  <a:pt x="0" y="400100"/>
                </a:lnTo>
                <a:lnTo>
                  <a:pt x="0" y="523201"/>
                </a:lnTo>
                <a:lnTo>
                  <a:pt x="41668" y="559485"/>
                </a:lnTo>
                <a:lnTo>
                  <a:pt x="88341" y="572833"/>
                </a:lnTo>
                <a:lnTo>
                  <a:pt x="147396" y="581596"/>
                </a:lnTo>
                <a:lnTo>
                  <a:pt x="215252" y="584746"/>
                </a:lnTo>
                <a:lnTo>
                  <a:pt x="283095" y="581596"/>
                </a:lnTo>
                <a:lnTo>
                  <a:pt x="342150" y="572833"/>
                </a:lnTo>
                <a:lnTo>
                  <a:pt x="388823" y="559485"/>
                </a:lnTo>
                <a:lnTo>
                  <a:pt x="419468" y="542594"/>
                </a:lnTo>
                <a:lnTo>
                  <a:pt x="430491" y="523201"/>
                </a:lnTo>
                <a:lnTo>
                  <a:pt x="430491" y="492417"/>
                </a:lnTo>
                <a:lnTo>
                  <a:pt x="430491" y="461645"/>
                </a:lnTo>
                <a:lnTo>
                  <a:pt x="430491" y="400100"/>
                </a:lnTo>
                <a:close/>
              </a:path>
              <a:path w="430530" h="584835">
                <a:moveTo>
                  <a:pt x="430491" y="246214"/>
                </a:moveTo>
                <a:lnTo>
                  <a:pt x="419468" y="265620"/>
                </a:lnTo>
                <a:lnTo>
                  <a:pt x="388823" y="282511"/>
                </a:lnTo>
                <a:lnTo>
                  <a:pt x="384365" y="283794"/>
                </a:lnTo>
                <a:lnTo>
                  <a:pt x="384365" y="344703"/>
                </a:lnTo>
                <a:lnTo>
                  <a:pt x="384365" y="363169"/>
                </a:lnTo>
                <a:lnTo>
                  <a:pt x="378218" y="369316"/>
                </a:lnTo>
                <a:lnTo>
                  <a:pt x="359765" y="369316"/>
                </a:lnTo>
                <a:lnTo>
                  <a:pt x="353618" y="363169"/>
                </a:lnTo>
                <a:lnTo>
                  <a:pt x="353618" y="344703"/>
                </a:lnTo>
                <a:lnTo>
                  <a:pt x="359765" y="338543"/>
                </a:lnTo>
                <a:lnTo>
                  <a:pt x="378218" y="338543"/>
                </a:lnTo>
                <a:lnTo>
                  <a:pt x="384365" y="344703"/>
                </a:lnTo>
                <a:lnTo>
                  <a:pt x="384365" y="283794"/>
                </a:lnTo>
                <a:lnTo>
                  <a:pt x="342150" y="295859"/>
                </a:lnTo>
                <a:lnTo>
                  <a:pt x="283095" y="304622"/>
                </a:lnTo>
                <a:lnTo>
                  <a:pt x="215252" y="307771"/>
                </a:lnTo>
                <a:lnTo>
                  <a:pt x="147396" y="304622"/>
                </a:lnTo>
                <a:lnTo>
                  <a:pt x="88341" y="295859"/>
                </a:lnTo>
                <a:lnTo>
                  <a:pt x="41668" y="282511"/>
                </a:lnTo>
                <a:lnTo>
                  <a:pt x="11023" y="265620"/>
                </a:lnTo>
                <a:lnTo>
                  <a:pt x="0" y="246214"/>
                </a:lnTo>
                <a:lnTo>
                  <a:pt x="0" y="369316"/>
                </a:lnTo>
                <a:lnTo>
                  <a:pt x="41668" y="405612"/>
                </a:lnTo>
                <a:lnTo>
                  <a:pt x="88341" y="418960"/>
                </a:lnTo>
                <a:lnTo>
                  <a:pt x="147396" y="427723"/>
                </a:lnTo>
                <a:lnTo>
                  <a:pt x="215252" y="430872"/>
                </a:lnTo>
                <a:lnTo>
                  <a:pt x="283095" y="427723"/>
                </a:lnTo>
                <a:lnTo>
                  <a:pt x="342150" y="418960"/>
                </a:lnTo>
                <a:lnTo>
                  <a:pt x="388823" y="405612"/>
                </a:lnTo>
                <a:lnTo>
                  <a:pt x="419468" y="388721"/>
                </a:lnTo>
                <a:lnTo>
                  <a:pt x="430491" y="369316"/>
                </a:lnTo>
                <a:lnTo>
                  <a:pt x="430491" y="338543"/>
                </a:lnTo>
                <a:lnTo>
                  <a:pt x="430491" y="307771"/>
                </a:lnTo>
                <a:lnTo>
                  <a:pt x="430491" y="246214"/>
                </a:lnTo>
                <a:close/>
              </a:path>
              <a:path w="430530" h="584835">
                <a:moveTo>
                  <a:pt x="430491" y="92341"/>
                </a:moveTo>
                <a:lnTo>
                  <a:pt x="419468" y="111747"/>
                </a:lnTo>
                <a:lnTo>
                  <a:pt x="388823" y="128625"/>
                </a:lnTo>
                <a:lnTo>
                  <a:pt x="384365" y="129908"/>
                </a:lnTo>
                <a:lnTo>
                  <a:pt x="384365" y="190817"/>
                </a:lnTo>
                <a:lnTo>
                  <a:pt x="384365" y="209283"/>
                </a:lnTo>
                <a:lnTo>
                  <a:pt x="378218" y="215442"/>
                </a:lnTo>
                <a:lnTo>
                  <a:pt x="359765" y="215442"/>
                </a:lnTo>
                <a:lnTo>
                  <a:pt x="353618" y="209283"/>
                </a:lnTo>
                <a:lnTo>
                  <a:pt x="353618" y="190817"/>
                </a:lnTo>
                <a:lnTo>
                  <a:pt x="359765" y="184670"/>
                </a:lnTo>
                <a:lnTo>
                  <a:pt x="378218" y="184670"/>
                </a:lnTo>
                <a:lnTo>
                  <a:pt x="384365" y="190817"/>
                </a:lnTo>
                <a:lnTo>
                  <a:pt x="384365" y="129908"/>
                </a:lnTo>
                <a:lnTo>
                  <a:pt x="342150" y="141973"/>
                </a:lnTo>
                <a:lnTo>
                  <a:pt x="283095" y="150736"/>
                </a:lnTo>
                <a:lnTo>
                  <a:pt x="215252" y="153885"/>
                </a:lnTo>
                <a:lnTo>
                  <a:pt x="147396" y="150736"/>
                </a:lnTo>
                <a:lnTo>
                  <a:pt x="88341" y="141973"/>
                </a:lnTo>
                <a:lnTo>
                  <a:pt x="41668" y="128625"/>
                </a:lnTo>
                <a:lnTo>
                  <a:pt x="11023" y="111747"/>
                </a:lnTo>
                <a:lnTo>
                  <a:pt x="0" y="92341"/>
                </a:lnTo>
                <a:lnTo>
                  <a:pt x="0" y="215442"/>
                </a:lnTo>
                <a:lnTo>
                  <a:pt x="41668" y="251739"/>
                </a:lnTo>
                <a:lnTo>
                  <a:pt x="88341" y="265074"/>
                </a:lnTo>
                <a:lnTo>
                  <a:pt x="147396" y="273837"/>
                </a:lnTo>
                <a:lnTo>
                  <a:pt x="215252" y="276999"/>
                </a:lnTo>
                <a:lnTo>
                  <a:pt x="283095" y="273837"/>
                </a:lnTo>
                <a:lnTo>
                  <a:pt x="342150" y="265074"/>
                </a:lnTo>
                <a:lnTo>
                  <a:pt x="388823" y="251739"/>
                </a:lnTo>
                <a:lnTo>
                  <a:pt x="419468" y="234848"/>
                </a:lnTo>
                <a:lnTo>
                  <a:pt x="430491" y="215442"/>
                </a:lnTo>
                <a:lnTo>
                  <a:pt x="430491" y="184670"/>
                </a:lnTo>
                <a:lnTo>
                  <a:pt x="430491" y="153885"/>
                </a:lnTo>
                <a:lnTo>
                  <a:pt x="430491" y="92341"/>
                </a:lnTo>
                <a:close/>
              </a:path>
              <a:path w="430530" h="584835">
                <a:moveTo>
                  <a:pt x="430491" y="61569"/>
                </a:moveTo>
                <a:lnTo>
                  <a:pt x="388962" y="25209"/>
                </a:lnTo>
                <a:lnTo>
                  <a:pt x="342366" y="11874"/>
                </a:lnTo>
                <a:lnTo>
                  <a:pt x="283286" y="3136"/>
                </a:lnTo>
                <a:lnTo>
                  <a:pt x="215252" y="0"/>
                </a:lnTo>
                <a:lnTo>
                  <a:pt x="147218" y="3136"/>
                </a:lnTo>
                <a:lnTo>
                  <a:pt x="88125" y="11874"/>
                </a:lnTo>
                <a:lnTo>
                  <a:pt x="41529" y="25209"/>
                </a:lnTo>
                <a:lnTo>
                  <a:pt x="10972" y="42113"/>
                </a:lnTo>
                <a:lnTo>
                  <a:pt x="0" y="61569"/>
                </a:lnTo>
                <a:lnTo>
                  <a:pt x="10972" y="81013"/>
                </a:lnTo>
                <a:lnTo>
                  <a:pt x="41529" y="97917"/>
                </a:lnTo>
                <a:lnTo>
                  <a:pt x="88125" y="111239"/>
                </a:lnTo>
                <a:lnTo>
                  <a:pt x="147218" y="119976"/>
                </a:lnTo>
                <a:lnTo>
                  <a:pt x="215252" y="123113"/>
                </a:lnTo>
                <a:lnTo>
                  <a:pt x="283286" y="119976"/>
                </a:lnTo>
                <a:lnTo>
                  <a:pt x="342366" y="111239"/>
                </a:lnTo>
                <a:lnTo>
                  <a:pt x="388962" y="97917"/>
                </a:lnTo>
                <a:lnTo>
                  <a:pt x="419519" y="81013"/>
                </a:lnTo>
                <a:lnTo>
                  <a:pt x="430491" y="61569"/>
                </a:lnTo>
                <a:close/>
              </a:path>
            </a:pathLst>
          </a:custGeom>
          <a:solidFill>
            <a:srgbClr val="006EBE"/>
          </a:solidFill>
        </p:spPr>
        <p:txBody>
          <a:bodyPr wrap="square" lIns="0" tIns="0" rIns="0" bIns="0" rtlCol="0"/>
          <a:lstStyle/>
          <a:p>
            <a:endParaRPr sz="2400"/>
          </a:p>
        </p:txBody>
      </p:sp>
      <p:grpSp>
        <p:nvGrpSpPr>
          <p:cNvPr id="46" name="object 46"/>
          <p:cNvGrpSpPr/>
          <p:nvPr/>
        </p:nvGrpSpPr>
        <p:grpSpPr>
          <a:xfrm>
            <a:off x="288545" y="2954527"/>
            <a:ext cx="3792220" cy="2258060"/>
            <a:chOff x="216408" y="2215895"/>
            <a:chExt cx="2844165" cy="1693545"/>
          </a:xfrm>
        </p:grpSpPr>
        <p:sp>
          <p:nvSpPr>
            <p:cNvPr id="47" name="object 47"/>
            <p:cNvSpPr/>
            <p:nvPr/>
          </p:nvSpPr>
          <p:spPr>
            <a:xfrm>
              <a:off x="2630779" y="3325304"/>
              <a:ext cx="429895" cy="583565"/>
            </a:xfrm>
            <a:custGeom>
              <a:avLst/>
              <a:gdLst/>
              <a:ahLst/>
              <a:cxnLst/>
              <a:rect l="l" t="t" r="r" b="b"/>
              <a:pathLst>
                <a:path w="429894" h="583564">
                  <a:moveTo>
                    <a:pt x="429602" y="399275"/>
                  </a:moveTo>
                  <a:lnTo>
                    <a:pt x="418604" y="418642"/>
                  </a:lnTo>
                  <a:lnTo>
                    <a:pt x="388023" y="435495"/>
                  </a:lnTo>
                  <a:lnTo>
                    <a:pt x="383578" y="436778"/>
                  </a:lnTo>
                  <a:lnTo>
                    <a:pt x="383578" y="497560"/>
                  </a:lnTo>
                  <a:lnTo>
                    <a:pt x="383578" y="515988"/>
                  </a:lnTo>
                  <a:lnTo>
                    <a:pt x="377431" y="522122"/>
                  </a:lnTo>
                  <a:lnTo>
                    <a:pt x="359029" y="522122"/>
                  </a:lnTo>
                  <a:lnTo>
                    <a:pt x="352882" y="515988"/>
                  </a:lnTo>
                  <a:lnTo>
                    <a:pt x="352882" y="497560"/>
                  </a:lnTo>
                  <a:lnTo>
                    <a:pt x="359029" y="491413"/>
                  </a:lnTo>
                  <a:lnTo>
                    <a:pt x="377431" y="491413"/>
                  </a:lnTo>
                  <a:lnTo>
                    <a:pt x="383578" y="497560"/>
                  </a:lnTo>
                  <a:lnTo>
                    <a:pt x="383578" y="436778"/>
                  </a:lnTo>
                  <a:lnTo>
                    <a:pt x="341452" y="448805"/>
                  </a:lnTo>
                  <a:lnTo>
                    <a:pt x="282511" y="457555"/>
                  </a:lnTo>
                  <a:lnTo>
                    <a:pt x="214795" y="460705"/>
                  </a:lnTo>
                  <a:lnTo>
                    <a:pt x="147091" y="457555"/>
                  </a:lnTo>
                  <a:lnTo>
                    <a:pt x="88150" y="448805"/>
                  </a:lnTo>
                  <a:lnTo>
                    <a:pt x="41579" y="435495"/>
                  </a:lnTo>
                  <a:lnTo>
                    <a:pt x="10998" y="418642"/>
                  </a:lnTo>
                  <a:lnTo>
                    <a:pt x="0" y="399275"/>
                  </a:lnTo>
                  <a:lnTo>
                    <a:pt x="0" y="522122"/>
                  </a:lnTo>
                  <a:lnTo>
                    <a:pt x="41579" y="558342"/>
                  </a:lnTo>
                  <a:lnTo>
                    <a:pt x="88150" y="571665"/>
                  </a:lnTo>
                  <a:lnTo>
                    <a:pt x="147091" y="580402"/>
                  </a:lnTo>
                  <a:lnTo>
                    <a:pt x="214795" y="583552"/>
                  </a:lnTo>
                  <a:lnTo>
                    <a:pt x="282511" y="580402"/>
                  </a:lnTo>
                  <a:lnTo>
                    <a:pt x="341452" y="571665"/>
                  </a:lnTo>
                  <a:lnTo>
                    <a:pt x="388023" y="558342"/>
                  </a:lnTo>
                  <a:lnTo>
                    <a:pt x="418604" y="541489"/>
                  </a:lnTo>
                  <a:lnTo>
                    <a:pt x="429602" y="522122"/>
                  </a:lnTo>
                  <a:lnTo>
                    <a:pt x="429602" y="491413"/>
                  </a:lnTo>
                  <a:lnTo>
                    <a:pt x="429602" y="460705"/>
                  </a:lnTo>
                  <a:lnTo>
                    <a:pt x="429602" y="399275"/>
                  </a:lnTo>
                  <a:close/>
                </a:path>
                <a:path w="429894" h="583564">
                  <a:moveTo>
                    <a:pt x="429602" y="245719"/>
                  </a:moveTo>
                  <a:lnTo>
                    <a:pt x="418604" y="265074"/>
                  </a:lnTo>
                  <a:lnTo>
                    <a:pt x="388023" y="281927"/>
                  </a:lnTo>
                  <a:lnTo>
                    <a:pt x="383578" y="283210"/>
                  </a:lnTo>
                  <a:lnTo>
                    <a:pt x="383578" y="343992"/>
                  </a:lnTo>
                  <a:lnTo>
                    <a:pt x="383578" y="362419"/>
                  </a:lnTo>
                  <a:lnTo>
                    <a:pt x="377431" y="368566"/>
                  </a:lnTo>
                  <a:lnTo>
                    <a:pt x="359029" y="368566"/>
                  </a:lnTo>
                  <a:lnTo>
                    <a:pt x="352882" y="362419"/>
                  </a:lnTo>
                  <a:lnTo>
                    <a:pt x="352882" y="343992"/>
                  </a:lnTo>
                  <a:lnTo>
                    <a:pt x="359029" y="337858"/>
                  </a:lnTo>
                  <a:lnTo>
                    <a:pt x="377431" y="337858"/>
                  </a:lnTo>
                  <a:lnTo>
                    <a:pt x="383578" y="343992"/>
                  </a:lnTo>
                  <a:lnTo>
                    <a:pt x="383578" y="283210"/>
                  </a:lnTo>
                  <a:lnTo>
                    <a:pt x="341452" y="295249"/>
                  </a:lnTo>
                  <a:lnTo>
                    <a:pt x="282511" y="303999"/>
                  </a:lnTo>
                  <a:lnTo>
                    <a:pt x="214795" y="307136"/>
                  </a:lnTo>
                  <a:lnTo>
                    <a:pt x="147091" y="303999"/>
                  </a:lnTo>
                  <a:lnTo>
                    <a:pt x="88150" y="295249"/>
                  </a:lnTo>
                  <a:lnTo>
                    <a:pt x="41579" y="281927"/>
                  </a:lnTo>
                  <a:lnTo>
                    <a:pt x="10998" y="265074"/>
                  </a:lnTo>
                  <a:lnTo>
                    <a:pt x="0" y="245719"/>
                  </a:lnTo>
                  <a:lnTo>
                    <a:pt x="0" y="368566"/>
                  </a:lnTo>
                  <a:lnTo>
                    <a:pt x="41579" y="404787"/>
                  </a:lnTo>
                  <a:lnTo>
                    <a:pt x="88150" y="418096"/>
                  </a:lnTo>
                  <a:lnTo>
                    <a:pt x="147091" y="426847"/>
                  </a:lnTo>
                  <a:lnTo>
                    <a:pt x="214795" y="429996"/>
                  </a:lnTo>
                  <a:lnTo>
                    <a:pt x="282511" y="426847"/>
                  </a:lnTo>
                  <a:lnTo>
                    <a:pt x="341452" y="418096"/>
                  </a:lnTo>
                  <a:lnTo>
                    <a:pt x="388023" y="404787"/>
                  </a:lnTo>
                  <a:lnTo>
                    <a:pt x="418604" y="387921"/>
                  </a:lnTo>
                  <a:lnTo>
                    <a:pt x="429602" y="368566"/>
                  </a:lnTo>
                  <a:lnTo>
                    <a:pt x="429602" y="337858"/>
                  </a:lnTo>
                  <a:lnTo>
                    <a:pt x="429602" y="307136"/>
                  </a:lnTo>
                  <a:lnTo>
                    <a:pt x="429602" y="245719"/>
                  </a:lnTo>
                  <a:close/>
                </a:path>
                <a:path w="429894" h="583564">
                  <a:moveTo>
                    <a:pt x="429602" y="92151"/>
                  </a:moveTo>
                  <a:lnTo>
                    <a:pt x="418604" y="111506"/>
                  </a:lnTo>
                  <a:lnTo>
                    <a:pt x="388023" y="128371"/>
                  </a:lnTo>
                  <a:lnTo>
                    <a:pt x="383578" y="129654"/>
                  </a:lnTo>
                  <a:lnTo>
                    <a:pt x="383578" y="190436"/>
                  </a:lnTo>
                  <a:lnTo>
                    <a:pt x="383578" y="208864"/>
                  </a:lnTo>
                  <a:lnTo>
                    <a:pt x="377431" y="214998"/>
                  </a:lnTo>
                  <a:lnTo>
                    <a:pt x="359029" y="214998"/>
                  </a:lnTo>
                  <a:lnTo>
                    <a:pt x="352882" y="208864"/>
                  </a:lnTo>
                  <a:lnTo>
                    <a:pt x="352882" y="190436"/>
                  </a:lnTo>
                  <a:lnTo>
                    <a:pt x="359029" y="184289"/>
                  </a:lnTo>
                  <a:lnTo>
                    <a:pt x="377431" y="184289"/>
                  </a:lnTo>
                  <a:lnTo>
                    <a:pt x="383578" y="190436"/>
                  </a:lnTo>
                  <a:lnTo>
                    <a:pt x="383578" y="129654"/>
                  </a:lnTo>
                  <a:lnTo>
                    <a:pt x="341452" y="141681"/>
                  </a:lnTo>
                  <a:lnTo>
                    <a:pt x="282511" y="150431"/>
                  </a:lnTo>
                  <a:lnTo>
                    <a:pt x="214795" y="153581"/>
                  </a:lnTo>
                  <a:lnTo>
                    <a:pt x="147091" y="150431"/>
                  </a:lnTo>
                  <a:lnTo>
                    <a:pt x="88150" y="141681"/>
                  </a:lnTo>
                  <a:lnTo>
                    <a:pt x="41579" y="128371"/>
                  </a:lnTo>
                  <a:lnTo>
                    <a:pt x="10998" y="111506"/>
                  </a:lnTo>
                  <a:lnTo>
                    <a:pt x="0" y="92151"/>
                  </a:lnTo>
                  <a:lnTo>
                    <a:pt x="0" y="214998"/>
                  </a:lnTo>
                  <a:lnTo>
                    <a:pt x="41579" y="251218"/>
                  </a:lnTo>
                  <a:lnTo>
                    <a:pt x="88150" y="264541"/>
                  </a:lnTo>
                  <a:lnTo>
                    <a:pt x="147091" y="273278"/>
                  </a:lnTo>
                  <a:lnTo>
                    <a:pt x="214795" y="276428"/>
                  </a:lnTo>
                  <a:lnTo>
                    <a:pt x="282511" y="273278"/>
                  </a:lnTo>
                  <a:lnTo>
                    <a:pt x="341452" y="264541"/>
                  </a:lnTo>
                  <a:lnTo>
                    <a:pt x="388023" y="251218"/>
                  </a:lnTo>
                  <a:lnTo>
                    <a:pt x="418604" y="234365"/>
                  </a:lnTo>
                  <a:lnTo>
                    <a:pt x="429602" y="214998"/>
                  </a:lnTo>
                  <a:lnTo>
                    <a:pt x="429602" y="184289"/>
                  </a:lnTo>
                  <a:lnTo>
                    <a:pt x="429602" y="153581"/>
                  </a:lnTo>
                  <a:lnTo>
                    <a:pt x="429602" y="92151"/>
                  </a:lnTo>
                  <a:close/>
                </a:path>
                <a:path w="429894" h="583564">
                  <a:moveTo>
                    <a:pt x="429602" y="61442"/>
                  </a:moveTo>
                  <a:lnTo>
                    <a:pt x="388162" y="25158"/>
                  </a:lnTo>
                  <a:lnTo>
                    <a:pt x="341655" y="11861"/>
                  </a:lnTo>
                  <a:lnTo>
                    <a:pt x="282689" y="3136"/>
                  </a:lnTo>
                  <a:lnTo>
                    <a:pt x="214795" y="0"/>
                  </a:lnTo>
                  <a:lnTo>
                    <a:pt x="146900" y="3136"/>
                  </a:lnTo>
                  <a:lnTo>
                    <a:pt x="87934" y="11861"/>
                  </a:lnTo>
                  <a:lnTo>
                    <a:pt x="41440" y="25158"/>
                  </a:lnTo>
                  <a:lnTo>
                    <a:pt x="10947" y="42024"/>
                  </a:lnTo>
                  <a:lnTo>
                    <a:pt x="0" y="61442"/>
                  </a:lnTo>
                  <a:lnTo>
                    <a:pt x="10947" y="80848"/>
                  </a:lnTo>
                  <a:lnTo>
                    <a:pt x="41440" y="97713"/>
                  </a:lnTo>
                  <a:lnTo>
                    <a:pt x="87934" y="111010"/>
                  </a:lnTo>
                  <a:lnTo>
                    <a:pt x="146900" y="119735"/>
                  </a:lnTo>
                  <a:lnTo>
                    <a:pt x="214795" y="122859"/>
                  </a:lnTo>
                  <a:lnTo>
                    <a:pt x="282689" y="119735"/>
                  </a:lnTo>
                  <a:lnTo>
                    <a:pt x="341655" y="111010"/>
                  </a:lnTo>
                  <a:lnTo>
                    <a:pt x="388162" y="97713"/>
                  </a:lnTo>
                  <a:lnTo>
                    <a:pt x="418655" y="80848"/>
                  </a:lnTo>
                  <a:lnTo>
                    <a:pt x="429602" y="61442"/>
                  </a:lnTo>
                  <a:close/>
                </a:path>
              </a:pathLst>
            </a:custGeom>
            <a:solidFill>
              <a:srgbClr val="006EBE"/>
            </a:solidFill>
          </p:spPr>
          <p:txBody>
            <a:bodyPr wrap="square" lIns="0" tIns="0" rIns="0" bIns="0" rtlCol="0"/>
            <a:lstStyle/>
            <a:p>
              <a:endParaRPr sz="2400"/>
            </a:p>
          </p:txBody>
        </p:sp>
        <p:sp>
          <p:nvSpPr>
            <p:cNvPr id="48" name="object 48"/>
            <p:cNvSpPr/>
            <p:nvPr/>
          </p:nvSpPr>
          <p:spPr>
            <a:xfrm>
              <a:off x="272796" y="2252471"/>
              <a:ext cx="2193290" cy="708660"/>
            </a:xfrm>
            <a:custGeom>
              <a:avLst/>
              <a:gdLst/>
              <a:ahLst/>
              <a:cxnLst/>
              <a:rect l="l" t="t" r="r" b="b"/>
              <a:pathLst>
                <a:path w="2193290" h="708660">
                  <a:moveTo>
                    <a:pt x="2193036" y="0"/>
                  </a:moveTo>
                  <a:lnTo>
                    <a:pt x="0" y="0"/>
                  </a:lnTo>
                  <a:lnTo>
                    <a:pt x="0" y="708659"/>
                  </a:lnTo>
                  <a:lnTo>
                    <a:pt x="2193036" y="708659"/>
                  </a:lnTo>
                  <a:lnTo>
                    <a:pt x="2193036" y="0"/>
                  </a:lnTo>
                  <a:close/>
                </a:path>
              </a:pathLst>
            </a:custGeom>
            <a:solidFill>
              <a:srgbClr val="D9D9D9">
                <a:alpha val="50195"/>
              </a:srgbClr>
            </a:solidFill>
          </p:spPr>
          <p:txBody>
            <a:bodyPr wrap="square" lIns="0" tIns="0" rIns="0" bIns="0" rtlCol="0"/>
            <a:lstStyle/>
            <a:p>
              <a:endParaRPr sz="2400"/>
            </a:p>
          </p:txBody>
        </p:sp>
        <p:pic>
          <p:nvPicPr>
            <p:cNvPr id="49" name="object 49"/>
            <p:cNvPicPr/>
            <p:nvPr/>
          </p:nvPicPr>
          <p:blipFill>
            <a:blip r:embed="rId13" cstate="print"/>
            <a:stretch>
              <a:fillRect/>
            </a:stretch>
          </p:blipFill>
          <p:spPr>
            <a:xfrm>
              <a:off x="216408" y="2215895"/>
              <a:ext cx="2327910" cy="567689"/>
            </a:xfrm>
            <a:prstGeom prst="rect">
              <a:avLst/>
            </a:prstGeom>
          </p:spPr>
        </p:pic>
        <p:pic>
          <p:nvPicPr>
            <p:cNvPr id="50" name="object 50"/>
            <p:cNvPicPr/>
            <p:nvPr/>
          </p:nvPicPr>
          <p:blipFill>
            <a:blip r:embed="rId14" cstate="print"/>
            <a:stretch>
              <a:fillRect/>
            </a:stretch>
          </p:blipFill>
          <p:spPr>
            <a:xfrm>
              <a:off x="551688" y="2520695"/>
              <a:ext cx="1657350" cy="567689"/>
            </a:xfrm>
            <a:prstGeom prst="rect">
              <a:avLst/>
            </a:prstGeom>
          </p:spPr>
        </p:pic>
      </p:grpSp>
      <p:sp>
        <p:nvSpPr>
          <p:cNvPr id="51" name="object 51"/>
          <p:cNvSpPr txBox="1"/>
          <p:nvPr/>
        </p:nvSpPr>
        <p:spPr>
          <a:xfrm>
            <a:off x="363727" y="3003296"/>
            <a:ext cx="2924387" cy="882421"/>
          </a:xfrm>
          <a:prstGeom prst="rect">
            <a:avLst/>
          </a:prstGeom>
        </p:spPr>
        <p:txBody>
          <a:bodyPr vert="horz" wrap="square" lIns="0" tIns="60960" rIns="0" bIns="0" rtlCol="0">
            <a:spAutoFit/>
          </a:bodyPr>
          <a:lstStyle/>
          <a:p>
            <a:pPr marL="136310">
              <a:spcBef>
                <a:spcPts val="480"/>
              </a:spcBef>
            </a:pPr>
            <a:r>
              <a:rPr sz="2667" dirty="0">
                <a:solidFill>
                  <a:srgbClr val="FFFFFF"/>
                </a:solidFill>
                <a:latin typeface="Bahnschrift"/>
                <a:cs typeface="Bahnschrift"/>
              </a:rPr>
              <a:t>"Shared</a:t>
            </a:r>
            <a:r>
              <a:rPr sz="2667" spc="200" dirty="0">
                <a:solidFill>
                  <a:srgbClr val="FFFFFF"/>
                </a:solidFill>
                <a:latin typeface="Bahnschrift"/>
                <a:cs typeface="Bahnschrift"/>
              </a:rPr>
              <a:t> </a:t>
            </a:r>
            <a:r>
              <a:rPr sz="2667" spc="-13" dirty="0">
                <a:solidFill>
                  <a:srgbClr val="FFFFFF"/>
                </a:solidFill>
                <a:latin typeface="Bahnschrift"/>
                <a:cs typeface="Bahnschrift"/>
              </a:rPr>
              <a:t>nothing"</a:t>
            </a:r>
            <a:endParaRPr sz="2667">
              <a:latin typeface="Bahnschrift"/>
              <a:cs typeface="Bahnschrift"/>
            </a:endParaRPr>
          </a:p>
          <a:p>
            <a:pPr marL="583339"/>
            <a:r>
              <a:rPr sz="2667" spc="-13" dirty="0">
                <a:solidFill>
                  <a:srgbClr val="FFFFFF"/>
                </a:solidFill>
                <a:latin typeface="Bahnschrift"/>
                <a:cs typeface="Bahnschrift"/>
              </a:rPr>
              <a:t>architicture</a:t>
            </a:r>
            <a:endParaRPr sz="2667">
              <a:latin typeface="Bahnschrift"/>
              <a:cs typeface="Bahnschrift"/>
            </a:endParaRPr>
          </a:p>
        </p:txBody>
      </p:sp>
      <p:grpSp>
        <p:nvGrpSpPr>
          <p:cNvPr id="52" name="object 52"/>
          <p:cNvGrpSpPr/>
          <p:nvPr/>
        </p:nvGrpSpPr>
        <p:grpSpPr>
          <a:xfrm>
            <a:off x="780288" y="4281423"/>
            <a:ext cx="2319867" cy="1163320"/>
            <a:chOff x="585216" y="3211067"/>
            <a:chExt cx="1739900" cy="872490"/>
          </a:xfrm>
        </p:grpSpPr>
        <p:sp>
          <p:nvSpPr>
            <p:cNvPr id="53" name="object 53"/>
            <p:cNvSpPr/>
            <p:nvPr/>
          </p:nvSpPr>
          <p:spPr>
            <a:xfrm>
              <a:off x="649224" y="3247643"/>
              <a:ext cx="1595755" cy="708660"/>
            </a:xfrm>
            <a:custGeom>
              <a:avLst/>
              <a:gdLst/>
              <a:ahLst/>
              <a:cxnLst/>
              <a:rect l="l" t="t" r="r" b="b"/>
              <a:pathLst>
                <a:path w="1595755" h="708660">
                  <a:moveTo>
                    <a:pt x="1595627" y="0"/>
                  </a:moveTo>
                  <a:lnTo>
                    <a:pt x="0" y="0"/>
                  </a:lnTo>
                  <a:lnTo>
                    <a:pt x="0" y="708660"/>
                  </a:lnTo>
                  <a:lnTo>
                    <a:pt x="1595627" y="708660"/>
                  </a:lnTo>
                  <a:lnTo>
                    <a:pt x="1595627" y="0"/>
                  </a:lnTo>
                  <a:close/>
                </a:path>
              </a:pathLst>
            </a:custGeom>
            <a:solidFill>
              <a:srgbClr val="D9D9D9">
                <a:alpha val="50195"/>
              </a:srgbClr>
            </a:solidFill>
          </p:spPr>
          <p:txBody>
            <a:bodyPr wrap="square" lIns="0" tIns="0" rIns="0" bIns="0" rtlCol="0"/>
            <a:lstStyle/>
            <a:p>
              <a:endParaRPr sz="2400"/>
            </a:p>
          </p:txBody>
        </p:sp>
        <p:pic>
          <p:nvPicPr>
            <p:cNvPr id="54" name="object 54"/>
            <p:cNvPicPr/>
            <p:nvPr/>
          </p:nvPicPr>
          <p:blipFill>
            <a:blip r:embed="rId15" cstate="print"/>
            <a:stretch>
              <a:fillRect/>
            </a:stretch>
          </p:blipFill>
          <p:spPr>
            <a:xfrm>
              <a:off x="585216" y="3211067"/>
              <a:ext cx="1739646" cy="567690"/>
            </a:xfrm>
            <a:prstGeom prst="rect">
              <a:avLst/>
            </a:prstGeom>
          </p:spPr>
        </p:pic>
        <p:pic>
          <p:nvPicPr>
            <p:cNvPr id="55" name="object 55"/>
            <p:cNvPicPr/>
            <p:nvPr/>
          </p:nvPicPr>
          <p:blipFill>
            <a:blip r:embed="rId16" cstate="print"/>
            <a:stretch>
              <a:fillRect/>
            </a:stretch>
          </p:blipFill>
          <p:spPr>
            <a:xfrm>
              <a:off x="704088" y="3515867"/>
              <a:ext cx="1501902" cy="567690"/>
            </a:xfrm>
            <a:prstGeom prst="rect">
              <a:avLst/>
            </a:prstGeom>
          </p:spPr>
        </p:pic>
      </p:grpSp>
      <p:sp>
        <p:nvSpPr>
          <p:cNvPr id="56" name="object 56"/>
          <p:cNvSpPr txBox="1"/>
          <p:nvPr/>
        </p:nvSpPr>
        <p:spPr>
          <a:xfrm>
            <a:off x="865632" y="4330193"/>
            <a:ext cx="2127673" cy="883276"/>
          </a:xfrm>
          <a:prstGeom prst="rect">
            <a:avLst/>
          </a:prstGeom>
        </p:spPr>
        <p:txBody>
          <a:bodyPr vert="horz" wrap="square" lIns="0" tIns="61807" rIns="0" bIns="0" rtlCol="0">
            <a:spAutoFit/>
          </a:bodyPr>
          <a:lstStyle/>
          <a:p>
            <a:pPr marL="286165" marR="120224" indent="-159169">
              <a:spcBef>
                <a:spcPts val="487"/>
              </a:spcBef>
            </a:pPr>
            <a:r>
              <a:rPr sz="2667" spc="-13" dirty="0">
                <a:solidFill>
                  <a:srgbClr val="FFFFFF"/>
                </a:solidFill>
                <a:latin typeface="Bahnschrift"/>
                <a:cs typeface="Bahnschrift"/>
              </a:rPr>
              <a:t>Independent resources</a:t>
            </a:r>
            <a:endParaRPr sz="2667">
              <a:latin typeface="Bahnschrift"/>
              <a:cs typeface="Bahnschrift"/>
            </a:endParaRPr>
          </a:p>
        </p:txBody>
      </p:sp>
      <p:grpSp>
        <p:nvGrpSpPr>
          <p:cNvPr id="57" name="object 57"/>
          <p:cNvGrpSpPr/>
          <p:nvPr/>
        </p:nvGrpSpPr>
        <p:grpSpPr>
          <a:xfrm>
            <a:off x="7571232" y="3202448"/>
            <a:ext cx="3727873" cy="1048173"/>
            <a:chOff x="5678423" y="2401836"/>
            <a:chExt cx="2795905" cy="786130"/>
          </a:xfrm>
        </p:grpSpPr>
        <p:sp>
          <p:nvSpPr>
            <p:cNvPr id="58" name="object 58"/>
            <p:cNvSpPr/>
            <p:nvPr/>
          </p:nvSpPr>
          <p:spPr>
            <a:xfrm>
              <a:off x="5716523" y="2430780"/>
              <a:ext cx="2702560" cy="646430"/>
            </a:xfrm>
            <a:custGeom>
              <a:avLst/>
              <a:gdLst/>
              <a:ahLst/>
              <a:cxnLst/>
              <a:rect l="l" t="t" r="r" b="b"/>
              <a:pathLst>
                <a:path w="2702559" h="646430">
                  <a:moveTo>
                    <a:pt x="2702052" y="0"/>
                  </a:moveTo>
                  <a:lnTo>
                    <a:pt x="0" y="0"/>
                  </a:lnTo>
                  <a:lnTo>
                    <a:pt x="0" y="646176"/>
                  </a:lnTo>
                  <a:lnTo>
                    <a:pt x="2702052" y="646176"/>
                  </a:lnTo>
                  <a:lnTo>
                    <a:pt x="2702052" y="0"/>
                  </a:lnTo>
                  <a:close/>
                </a:path>
              </a:pathLst>
            </a:custGeom>
            <a:solidFill>
              <a:srgbClr val="D9D9D9">
                <a:alpha val="50195"/>
              </a:srgbClr>
            </a:solidFill>
          </p:spPr>
          <p:txBody>
            <a:bodyPr wrap="square" lIns="0" tIns="0" rIns="0" bIns="0" rtlCol="0"/>
            <a:lstStyle/>
            <a:p>
              <a:endParaRPr sz="2400"/>
            </a:p>
          </p:txBody>
        </p:sp>
        <p:pic>
          <p:nvPicPr>
            <p:cNvPr id="59" name="object 59"/>
            <p:cNvPicPr/>
            <p:nvPr/>
          </p:nvPicPr>
          <p:blipFill>
            <a:blip r:embed="rId17" cstate="print"/>
            <a:stretch>
              <a:fillRect/>
            </a:stretch>
          </p:blipFill>
          <p:spPr>
            <a:xfrm>
              <a:off x="5849111" y="2401836"/>
              <a:ext cx="2454401" cy="511289"/>
            </a:xfrm>
            <a:prstGeom prst="rect">
              <a:avLst/>
            </a:prstGeom>
          </p:spPr>
        </p:pic>
        <p:pic>
          <p:nvPicPr>
            <p:cNvPr id="60" name="object 60"/>
            <p:cNvPicPr/>
            <p:nvPr/>
          </p:nvPicPr>
          <p:blipFill>
            <a:blip r:embed="rId18" cstate="print"/>
            <a:stretch>
              <a:fillRect/>
            </a:stretch>
          </p:blipFill>
          <p:spPr>
            <a:xfrm>
              <a:off x="5678423" y="2676156"/>
              <a:ext cx="2795778" cy="511289"/>
            </a:xfrm>
            <a:prstGeom prst="rect">
              <a:avLst/>
            </a:prstGeom>
          </p:spPr>
        </p:pic>
      </p:grpSp>
      <p:sp>
        <p:nvSpPr>
          <p:cNvPr id="61" name="object 61"/>
          <p:cNvSpPr txBox="1"/>
          <p:nvPr/>
        </p:nvSpPr>
        <p:spPr>
          <a:xfrm>
            <a:off x="7622031" y="3241039"/>
            <a:ext cx="3603413" cy="798510"/>
          </a:xfrm>
          <a:prstGeom prst="rect">
            <a:avLst/>
          </a:prstGeom>
        </p:spPr>
        <p:txBody>
          <a:bodyPr vert="horz" wrap="square" lIns="0" tIns="59267" rIns="0" bIns="0" rtlCol="0">
            <a:spAutoFit/>
          </a:bodyPr>
          <a:lstStyle/>
          <a:p>
            <a:pPr marR="70272" algn="ctr">
              <a:spcBef>
                <a:spcPts val="467"/>
              </a:spcBef>
            </a:pPr>
            <a:r>
              <a:rPr sz="2400" dirty="0">
                <a:solidFill>
                  <a:srgbClr val="FFFFFF"/>
                </a:solidFill>
                <a:latin typeface="Bahnschrift"/>
                <a:cs typeface="Bahnschrift"/>
              </a:rPr>
              <a:t>Work</a:t>
            </a:r>
            <a:r>
              <a:rPr sz="2400" spc="193" dirty="0">
                <a:solidFill>
                  <a:srgbClr val="FFFFFF"/>
                </a:solidFill>
                <a:latin typeface="Bahnschrift"/>
                <a:cs typeface="Bahnschrift"/>
              </a:rPr>
              <a:t> </a:t>
            </a:r>
            <a:r>
              <a:rPr sz="2400" dirty="0">
                <a:solidFill>
                  <a:srgbClr val="FFFFFF"/>
                </a:solidFill>
                <a:latin typeface="Bahnschrift"/>
                <a:cs typeface="Bahnschrift"/>
              </a:rPr>
              <a:t>load</a:t>
            </a:r>
            <a:r>
              <a:rPr sz="2400" spc="213" dirty="0">
                <a:solidFill>
                  <a:srgbClr val="FFFFFF"/>
                </a:solidFill>
                <a:latin typeface="Bahnschrift"/>
                <a:cs typeface="Bahnschrift"/>
              </a:rPr>
              <a:t> </a:t>
            </a:r>
            <a:r>
              <a:rPr sz="2400" dirty="0">
                <a:solidFill>
                  <a:srgbClr val="FFFFFF"/>
                </a:solidFill>
                <a:latin typeface="Bahnschrift"/>
                <a:cs typeface="Bahnschrift"/>
              </a:rPr>
              <a:t>is</a:t>
            </a:r>
            <a:r>
              <a:rPr sz="2400" spc="207" dirty="0">
                <a:solidFill>
                  <a:srgbClr val="FFFFFF"/>
                </a:solidFill>
                <a:latin typeface="Bahnschrift"/>
                <a:cs typeface="Bahnschrift"/>
              </a:rPr>
              <a:t> </a:t>
            </a:r>
            <a:r>
              <a:rPr sz="2400" dirty="0">
                <a:solidFill>
                  <a:srgbClr val="FFFFFF"/>
                </a:solidFill>
                <a:latin typeface="Bahnschrift"/>
                <a:cs typeface="Bahnschrift"/>
              </a:rPr>
              <a:t>split</a:t>
            </a:r>
            <a:r>
              <a:rPr sz="2400" spc="207" dirty="0">
                <a:solidFill>
                  <a:srgbClr val="FFFFFF"/>
                </a:solidFill>
                <a:latin typeface="Bahnschrift"/>
                <a:cs typeface="Bahnschrift"/>
              </a:rPr>
              <a:t> </a:t>
            </a:r>
            <a:r>
              <a:rPr sz="2400" spc="-33" dirty="0">
                <a:solidFill>
                  <a:srgbClr val="FFFFFF"/>
                </a:solidFill>
                <a:latin typeface="Bahnschrift"/>
                <a:cs typeface="Bahnschrift"/>
              </a:rPr>
              <a:t>up</a:t>
            </a:r>
            <a:endParaRPr sz="2400">
              <a:latin typeface="Bahnschrift"/>
              <a:cs typeface="Bahnschrift"/>
            </a:endParaRPr>
          </a:p>
          <a:p>
            <a:pPr marL="1693" algn="ctr"/>
            <a:r>
              <a:rPr sz="2400" dirty="0">
                <a:solidFill>
                  <a:srgbClr val="FFFFFF"/>
                </a:solidFill>
                <a:latin typeface="Bahnschrift"/>
                <a:cs typeface="Bahnschrift"/>
              </a:rPr>
              <a:t>&amp;</a:t>
            </a:r>
            <a:r>
              <a:rPr sz="2400" spc="180" dirty="0">
                <a:solidFill>
                  <a:srgbClr val="FFFFFF"/>
                </a:solidFill>
                <a:latin typeface="Bahnschrift"/>
                <a:cs typeface="Bahnschrift"/>
              </a:rPr>
              <a:t> </a:t>
            </a:r>
            <a:r>
              <a:rPr sz="2400" dirty="0">
                <a:solidFill>
                  <a:srgbClr val="FFFFFF"/>
                </a:solidFill>
                <a:latin typeface="Bahnschrift"/>
                <a:cs typeface="Bahnschrift"/>
              </a:rPr>
              <a:t>processed</a:t>
            </a:r>
            <a:r>
              <a:rPr sz="2400" spc="160" dirty="0">
                <a:solidFill>
                  <a:srgbClr val="FFFFFF"/>
                </a:solidFill>
                <a:latin typeface="Bahnschrift"/>
                <a:cs typeface="Bahnschrift"/>
              </a:rPr>
              <a:t> </a:t>
            </a:r>
            <a:r>
              <a:rPr sz="2400" spc="-13" dirty="0">
                <a:solidFill>
                  <a:srgbClr val="FFFFFF"/>
                </a:solidFill>
                <a:latin typeface="Bahnschrift"/>
                <a:cs typeface="Bahnschrift"/>
              </a:rPr>
              <a:t>individually</a:t>
            </a:r>
            <a:endParaRPr sz="2400">
              <a:latin typeface="Bahnschrift"/>
              <a:cs typeface="Bahnschrift"/>
            </a:endParaRPr>
          </a:p>
        </p:txBody>
      </p:sp>
      <p:grpSp>
        <p:nvGrpSpPr>
          <p:cNvPr id="62" name="object 62"/>
          <p:cNvGrpSpPr/>
          <p:nvPr/>
        </p:nvGrpSpPr>
        <p:grpSpPr>
          <a:xfrm>
            <a:off x="4362704" y="2649727"/>
            <a:ext cx="1241213" cy="756920"/>
            <a:chOff x="3272028" y="1987295"/>
            <a:chExt cx="930910" cy="567690"/>
          </a:xfrm>
        </p:grpSpPr>
        <p:sp>
          <p:nvSpPr>
            <p:cNvPr id="63" name="object 63"/>
            <p:cNvSpPr/>
            <p:nvPr/>
          </p:nvSpPr>
          <p:spPr>
            <a:xfrm>
              <a:off x="3339084" y="2023871"/>
              <a:ext cx="780415" cy="401320"/>
            </a:xfrm>
            <a:custGeom>
              <a:avLst/>
              <a:gdLst/>
              <a:ahLst/>
              <a:cxnLst/>
              <a:rect l="l" t="t" r="r" b="b"/>
              <a:pathLst>
                <a:path w="780414" h="401319">
                  <a:moveTo>
                    <a:pt x="780288" y="0"/>
                  </a:moveTo>
                  <a:lnTo>
                    <a:pt x="0" y="0"/>
                  </a:lnTo>
                  <a:lnTo>
                    <a:pt x="0" y="400812"/>
                  </a:lnTo>
                  <a:lnTo>
                    <a:pt x="780288" y="400812"/>
                  </a:lnTo>
                  <a:lnTo>
                    <a:pt x="780288" y="0"/>
                  </a:lnTo>
                  <a:close/>
                </a:path>
              </a:pathLst>
            </a:custGeom>
            <a:solidFill>
              <a:srgbClr val="006EBE">
                <a:alpha val="50195"/>
              </a:srgbClr>
            </a:solidFill>
          </p:spPr>
          <p:txBody>
            <a:bodyPr wrap="square" lIns="0" tIns="0" rIns="0" bIns="0" rtlCol="0"/>
            <a:lstStyle/>
            <a:p>
              <a:endParaRPr sz="2400"/>
            </a:p>
          </p:txBody>
        </p:sp>
        <p:pic>
          <p:nvPicPr>
            <p:cNvPr id="64" name="object 64"/>
            <p:cNvPicPr/>
            <p:nvPr/>
          </p:nvPicPr>
          <p:blipFill>
            <a:blip r:embed="rId19" cstate="print"/>
            <a:stretch>
              <a:fillRect/>
            </a:stretch>
          </p:blipFill>
          <p:spPr>
            <a:xfrm>
              <a:off x="3272028" y="1987295"/>
              <a:ext cx="930401" cy="567689"/>
            </a:xfrm>
            <a:prstGeom prst="rect">
              <a:avLst/>
            </a:prstGeom>
          </p:spPr>
        </p:pic>
      </p:grpSp>
      <p:sp>
        <p:nvSpPr>
          <p:cNvPr id="65" name="object 65"/>
          <p:cNvSpPr txBox="1"/>
          <p:nvPr/>
        </p:nvSpPr>
        <p:spPr>
          <a:xfrm>
            <a:off x="4558792" y="2742184"/>
            <a:ext cx="821267" cy="427532"/>
          </a:xfrm>
          <a:prstGeom prst="rect">
            <a:avLst/>
          </a:prstGeom>
        </p:spPr>
        <p:txBody>
          <a:bodyPr vert="horz" wrap="square" lIns="0" tIns="16933" rIns="0" bIns="0" rtlCol="0">
            <a:spAutoFit/>
          </a:bodyPr>
          <a:lstStyle/>
          <a:p>
            <a:pPr marL="16933">
              <a:spcBef>
                <a:spcPts val="133"/>
              </a:spcBef>
            </a:pPr>
            <a:r>
              <a:rPr sz="2667" spc="-27" dirty="0">
                <a:solidFill>
                  <a:srgbClr val="FFFFFF"/>
                </a:solidFill>
                <a:latin typeface="Bahnschrift"/>
                <a:cs typeface="Bahnschrift"/>
              </a:rPr>
              <a:t>Node</a:t>
            </a:r>
            <a:endParaRPr sz="2667">
              <a:latin typeface="Bahnschrift"/>
              <a:cs typeface="Bahnschrift"/>
            </a:endParaRPr>
          </a:p>
        </p:txBody>
      </p:sp>
    </p:spTree>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00265" y="548173"/>
            <a:ext cx="8093022"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rPr>
              <a:t>Massive</a:t>
            </a:r>
            <a:r>
              <a:rPr spc="-53" dirty="0">
                <a:solidFill>
                  <a:schemeClr val="bg1"/>
                </a:solidFill>
                <a:latin typeface="+mn-lt"/>
              </a:rPr>
              <a:t> </a:t>
            </a:r>
            <a:r>
              <a:rPr sz="3733" dirty="0">
                <a:solidFill>
                  <a:schemeClr val="bg1"/>
                </a:solidFill>
                <a:latin typeface="+mn-lt"/>
              </a:rPr>
              <a:t>parallel</a:t>
            </a:r>
            <a:r>
              <a:rPr sz="3733" spc="47" dirty="0">
                <a:solidFill>
                  <a:schemeClr val="bg1"/>
                </a:solidFill>
                <a:latin typeface="+mn-lt"/>
              </a:rPr>
              <a:t> </a:t>
            </a:r>
            <a:r>
              <a:rPr dirty="0">
                <a:solidFill>
                  <a:schemeClr val="bg1"/>
                </a:solidFill>
                <a:latin typeface="+mn-lt"/>
              </a:rPr>
              <a:t>processing</a:t>
            </a:r>
            <a:r>
              <a:rPr spc="-60" dirty="0">
                <a:solidFill>
                  <a:schemeClr val="bg1"/>
                </a:solidFill>
                <a:latin typeface="+mn-lt"/>
              </a:rPr>
              <a:t> </a:t>
            </a:r>
            <a:r>
              <a:rPr spc="-13" dirty="0">
                <a:solidFill>
                  <a:schemeClr val="bg1"/>
                </a:solidFill>
                <a:latin typeface="+mn-lt"/>
              </a:rPr>
              <a:t>(MPP)</a:t>
            </a:r>
            <a:endParaRPr sz="3733" dirty="0">
              <a:solidFill>
                <a:schemeClr val="bg1"/>
              </a:solidFill>
              <a:latin typeface="+mn-lt"/>
            </a:endParaRPr>
          </a:p>
        </p:txBody>
      </p:sp>
      <p:sp>
        <p:nvSpPr>
          <p:cNvPr id="3" name="object 3"/>
          <p:cNvSpPr txBox="1"/>
          <p:nvPr/>
        </p:nvSpPr>
        <p:spPr>
          <a:xfrm>
            <a:off x="3051726" y="1955800"/>
            <a:ext cx="6760633" cy="3548834"/>
          </a:xfrm>
          <a:prstGeom prst="rect">
            <a:avLst/>
          </a:prstGeom>
        </p:spPr>
        <p:txBody>
          <a:bodyPr vert="horz" wrap="square" lIns="0" tIns="16933" rIns="0" bIns="0" rtlCol="0">
            <a:spAutoFit/>
          </a:bodyPr>
          <a:lstStyle/>
          <a:p>
            <a:pPr marL="397923" indent="-380990">
              <a:spcBef>
                <a:spcPts val="133"/>
              </a:spcBef>
              <a:buClr>
                <a:srgbClr val="99D3FF"/>
              </a:buClr>
              <a:buFont typeface="Wingdings"/>
              <a:buChar char=""/>
              <a:tabLst>
                <a:tab pos="397923" algn="l"/>
              </a:tabLst>
            </a:pPr>
            <a:r>
              <a:rPr sz="2400" b="1" dirty="0">
                <a:solidFill>
                  <a:srgbClr val="D9D9D9"/>
                </a:solidFill>
                <a:latin typeface="Calibri"/>
                <a:cs typeface="Calibri"/>
              </a:rPr>
              <a:t>Modern</a:t>
            </a:r>
            <a:r>
              <a:rPr sz="2400" b="1" spc="-53" dirty="0">
                <a:solidFill>
                  <a:srgbClr val="D9D9D9"/>
                </a:solidFill>
                <a:latin typeface="Calibri"/>
                <a:cs typeface="Calibri"/>
              </a:rPr>
              <a:t> </a:t>
            </a:r>
            <a:r>
              <a:rPr sz="2400" b="1" dirty="0">
                <a:solidFill>
                  <a:srgbClr val="D9D9D9"/>
                </a:solidFill>
                <a:latin typeface="Calibri"/>
                <a:cs typeface="Calibri"/>
              </a:rPr>
              <a:t>way</a:t>
            </a:r>
            <a:r>
              <a:rPr sz="2400" b="1" spc="-7" dirty="0">
                <a:solidFill>
                  <a:srgbClr val="D9D9D9"/>
                </a:solidFill>
                <a:latin typeface="Calibri"/>
                <a:cs typeface="Calibri"/>
              </a:rPr>
              <a:t> </a:t>
            </a:r>
            <a:r>
              <a:rPr sz="2400" b="1" dirty="0">
                <a:solidFill>
                  <a:srgbClr val="D9D9D9"/>
                </a:solidFill>
                <a:latin typeface="Calibri"/>
                <a:cs typeface="Calibri"/>
              </a:rPr>
              <a:t>of</a:t>
            </a:r>
            <a:r>
              <a:rPr sz="2400" b="1" spc="-13" dirty="0">
                <a:solidFill>
                  <a:srgbClr val="D9D9D9"/>
                </a:solidFill>
                <a:latin typeface="Calibri"/>
                <a:cs typeface="Calibri"/>
              </a:rPr>
              <a:t> </a:t>
            </a:r>
            <a:r>
              <a:rPr sz="2400" b="1" dirty="0">
                <a:solidFill>
                  <a:srgbClr val="D9D9D9"/>
                </a:solidFill>
                <a:latin typeface="Calibri"/>
                <a:cs typeface="Calibri"/>
              </a:rPr>
              <a:t>solving</a:t>
            </a:r>
            <a:r>
              <a:rPr sz="2400" b="1" spc="-60" dirty="0">
                <a:solidFill>
                  <a:srgbClr val="D9D9D9"/>
                </a:solidFill>
                <a:latin typeface="Calibri"/>
                <a:cs typeface="Calibri"/>
              </a:rPr>
              <a:t> </a:t>
            </a:r>
            <a:r>
              <a:rPr sz="2400" b="1" dirty="0">
                <a:solidFill>
                  <a:srgbClr val="D9D9D9"/>
                </a:solidFill>
                <a:latin typeface="Calibri"/>
                <a:cs typeface="Calibri"/>
              </a:rPr>
              <a:t>performance</a:t>
            </a:r>
            <a:r>
              <a:rPr sz="2400" b="1" spc="-13" dirty="0">
                <a:solidFill>
                  <a:srgbClr val="D9D9D9"/>
                </a:solidFill>
                <a:latin typeface="Calibri"/>
                <a:cs typeface="Calibri"/>
              </a:rPr>
              <a:t> issues</a:t>
            </a:r>
            <a:endParaRPr sz="2400">
              <a:latin typeface="Calibri"/>
              <a:cs typeface="Calibri"/>
            </a:endParaRPr>
          </a:p>
          <a:p>
            <a:pPr>
              <a:spcBef>
                <a:spcPts val="1520"/>
              </a:spcBef>
              <a:buClr>
                <a:srgbClr val="99D3FF"/>
              </a:buClr>
              <a:buFont typeface="Wingdings"/>
              <a:buChar char=""/>
            </a:pPr>
            <a:endParaRPr sz="2400">
              <a:latin typeface="Calibri"/>
              <a:cs typeface="Calibri"/>
            </a:endParaRPr>
          </a:p>
          <a:p>
            <a:pPr marL="397923" indent="-380990">
              <a:buClr>
                <a:srgbClr val="99D3FF"/>
              </a:buClr>
              <a:buFont typeface="Wingdings"/>
              <a:buChar char=""/>
              <a:tabLst>
                <a:tab pos="397923" algn="l"/>
              </a:tabLst>
            </a:pPr>
            <a:r>
              <a:rPr sz="2400" b="1" dirty="0">
                <a:solidFill>
                  <a:srgbClr val="D9D9D9"/>
                </a:solidFill>
                <a:latin typeface="Calibri"/>
                <a:cs typeface="Calibri"/>
              </a:rPr>
              <a:t>Millions</a:t>
            </a:r>
            <a:r>
              <a:rPr sz="2400" b="1" spc="-67" dirty="0">
                <a:solidFill>
                  <a:srgbClr val="D9D9D9"/>
                </a:solidFill>
                <a:latin typeface="Calibri"/>
                <a:cs typeface="Calibri"/>
              </a:rPr>
              <a:t> </a:t>
            </a:r>
            <a:r>
              <a:rPr sz="2400" b="1" dirty="0">
                <a:solidFill>
                  <a:srgbClr val="D9D9D9"/>
                </a:solidFill>
                <a:latin typeface="Calibri"/>
                <a:cs typeface="Calibri"/>
              </a:rPr>
              <a:t>of</a:t>
            </a:r>
            <a:r>
              <a:rPr sz="2400" b="1" spc="-7" dirty="0">
                <a:solidFill>
                  <a:srgbClr val="D9D9D9"/>
                </a:solidFill>
                <a:latin typeface="Calibri"/>
                <a:cs typeface="Calibri"/>
              </a:rPr>
              <a:t> </a:t>
            </a:r>
            <a:r>
              <a:rPr sz="2400" b="1" dirty="0">
                <a:solidFill>
                  <a:srgbClr val="D9D9D9"/>
                </a:solidFill>
                <a:latin typeface="Calibri"/>
                <a:cs typeface="Calibri"/>
              </a:rPr>
              <a:t>rows</a:t>
            </a:r>
            <a:r>
              <a:rPr sz="2400" b="1" spc="-33" dirty="0">
                <a:solidFill>
                  <a:srgbClr val="D9D9D9"/>
                </a:solidFill>
                <a:latin typeface="Calibri"/>
                <a:cs typeface="Calibri"/>
              </a:rPr>
              <a:t> </a:t>
            </a:r>
            <a:r>
              <a:rPr sz="2400" b="1" dirty="0">
                <a:solidFill>
                  <a:srgbClr val="D9D9D9"/>
                </a:solidFill>
                <a:latin typeface="Calibri"/>
                <a:cs typeface="Calibri"/>
              </a:rPr>
              <a:t>can</a:t>
            </a:r>
            <a:r>
              <a:rPr sz="2400" b="1" spc="-20" dirty="0">
                <a:solidFill>
                  <a:srgbClr val="D9D9D9"/>
                </a:solidFill>
                <a:latin typeface="Calibri"/>
                <a:cs typeface="Calibri"/>
              </a:rPr>
              <a:t> </a:t>
            </a:r>
            <a:r>
              <a:rPr sz="2400" b="1" dirty="0">
                <a:solidFill>
                  <a:srgbClr val="D9D9D9"/>
                </a:solidFill>
                <a:latin typeface="Calibri"/>
                <a:cs typeface="Calibri"/>
              </a:rPr>
              <a:t>be</a:t>
            </a:r>
            <a:r>
              <a:rPr sz="2400" b="1" spc="-20" dirty="0">
                <a:solidFill>
                  <a:srgbClr val="D9D9D9"/>
                </a:solidFill>
                <a:latin typeface="Calibri"/>
                <a:cs typeface="Calibri"/>
              </a:rPr>
              <a:t> </a:t>
            </a:r>
            <a:r>
              <a:rPr sz="2400" b="1" dirty="0">
                <a:solidFill>
                  <a:srgbClr val="D9D9D9"/>
                </a:solidFill>
                <a:latin typeface="Calibri"/>
                <a:cs typeface="Calibri"/>
              </a:rPr>
              <a:t>processed</a:t>
            </a:r>
            <a:r>
              <a:rPr sz="2400" b="1" spc="-73" dirty="0">
                <a:solidFill>
                  <a:srgbClr val="D9D9D9"/>
                </a:solidFill>
                <a:latin typeface="Calibri"/>
                <a:cs typeface="Calibri"/>
              </a:rPr>
              <a:t> </a:t>
            </a:r>
            <a:r>
              <a:rPr sz="2400" b="1" spc="-13" dirty="0">
                <a:solidFill>
                  <a:srgbClr val="D9D9D9"/>
                </a:solidFill>
                <a:latin typeface="Calibri"/>
                <a:cs typeface="Calibri"/>
              </a:rPr>
              <a:t>faster</a:t>
            </a:r>
            <a:endParaRPr sz="2400">
              <a:latin typeface="Calibri"/>
              <a:cs typeface="Calibri"/>
            </a:endParaRPr>
          </a:p>
          <a:p>
            <a:pPr marL="397077" marR="467348" indent="-380990">
              <a:lnSpc>
                <a:spcPct val="150100"/>
              </a:lnSpc>
              <a:spcBef>
                <a:spcPts val="1833"/>
              </a:spcBef>
              <a:buClr>
                <a:srgbClr val="99D3FF"/>
              </a:buClr>
              <a:buFont typeface="Wingdings"/>
              <a:buChar char=""/>
              <a:tabLst>
                <a:tab pos="398770" algn="l"/>
              </a:tabLst>
            </a:pPr>
            <a:r>
              <a:rPr sz="2400" b="1" dirty="0">
                <a:solidFill>
                  <a:srgbClr val="D9D9D9"/>
                </a:solidFill>
                <a:latin typeface="Calibri"/>
                <a:cs typeface="Calibri"/>
              </a:rPr>
              <a:t>Many</a:t>
            </a:r>
            <a:r>
              <a:rPr sz="2400" b="1" spc="-13" dirty="0">
                <a:solidFill>
                  <a:srgbClr val="D9D9D9"/>
                </a:solidFill>
                <a:latin typeface="Calibri"/>
                <a:cs typeface="Calibri"/>
              </a:rPr>
              <a:t> </a:t>
            </a:r>
            <a:r>
              <a:rPr sz="2400" b="1" dirty="0">
                <a:solidFill>
                  <a:srgbClr val="D9D9D9"/>
                </a:solidFill>
                <a:latin typeface="Calibri"/>
                <a:cs typeface="Calibri"/>
              </a:rPr>
              <a:t>people</a:t>
            </a:r>
            <a:r>
              <a:rPr sz="2400" b="1" spc="-67" dirty="0">
                <a:solidFill>
                  <a:srgbClr val="D9D9D9"/>
                </a:solidFill>
                <a:latin typeface="Calibri"/>
                <a:cs typeface="Calibri"/>
              </a:rPr>
              <a:t> </a:t>
            </a:r>
            <a:r>
              <a:rPr sz="2400" b="1" dirty="0">
                <a:solidFill>
                  <a:srgbClr val="D9D9D9"/>
                </a:solidFill>
                <a:latin typeface="Calibri"/>
                <a:cs typeface="Calibri"/>
              </a:rPr>
              <a:t>can</a:t>
            </a:r>
            <a:r>
              <a:rPr sz="2400" b="1" spc="-20" dirty="0">
                <a:solidFill>
                  <a:srgbClr val="D9D9D9"/>
                </a:solidFill>
                <a:latin typeface="Calibri"/>
                <a:cs typeface="Calibri"/>
              </a:rPr>
              <a:t> </a:t>
            </a:r>
            <a:r>
              <a:rPr sz="2400" b="1" dirty="0">
                <a:solidFill>
                  <a:srgbClr val="D9D9D9"/>
                </a:solidFill>
                <a:latin typeface="Calibri"/>
                <a:cs typeface="Calibri"/>
              </a:rPr>
              <a:t>run</a:t>
            </a:r>
            <a:r>
              <a:rPr sz="2400" b="1" spc="-20" dirty="0">
                <a:solidFill>
                  <a:srgbClr val="D9D9D9"/>
                </a:solidFill>
                <a:latin typeface="Calibri"/>
                <a:cs typeface="Calibri"/>
              </a:rPr>
              <a:t> </a:t>
            </a:r>
            <a:r>
              <a:rPr sz="2400" b="1" dirty="0">
                <a:solidFill>
                  <a:srgbClr val="D9D9D9"/>
                </a:solidFill>
                <a:latin typeface="Calibri"/>
                <a:cs typeface="Calibri"/>
              </a:rPr>
              <a:t>queries</a:t>
            </a:r>
            <a:r>
              <a:rPr sz="2400" b="1" spc="-27" dirty="0">
                <a:solidFill>
                  <a:srgbClr val="D9D9D9"/>
                </a:solidFill>
                <a:latin typeface="Calibri"/>
                <a:cs typeface="Calibri"/>
              </a:rPr>
              <a:t> </a:t>
            </a:r>
            <a:r>
              <a:rPr sz="2400" b="1" dirty="0">
                <a:solidFill>
                  <a:srgbClr val="D9D9D9"/>
                </a:solidFill>
                <a:latin typeface="Calibri"/>
                <a:cs typeface="Calibri"/>
              </a:rPr>
              <a:t>at</a:t>
            </a:r>
            <a:r>
              <a:rPr sz="2400" b="1" spc="-40" dirty="0">
                <a:solidFill>
                  <a:srgbClr val="D9D9D9"/>
                </a:solidFill>
                <a:latin typeface="Calibri"/>
                <a:cs typeface="Calibri"/>
              </a:rPr>
              <a:t> </a:t>
            </a:r>
            <a:r>
              <a:rPr sz="2400" b="1" dirty="0">
                <a:solidFill>
                  <a:srgbClr val="D9D9D9"/>
                </a:solidFill>
                <a:latin typeface="Calibri"/>
                <a:cs typeface="Calibri"/>
              </a:rPr>
              <a:t>the</a:t>
            </a:r>
            <a:r>
              <a:rPr sz="2400" b="1" spc="-20" dirty="0">
                <a:solidFill>
                  <a:srgbClr val="D9D9D9"/>
                </a:solidFill>
                <a:latin typeface="Calibri"/>
                <a:cs typeface="Calibri"/>
              </a:rPr>
              <a:t> </a:t>
            </a:r>
            <a:r>
              <a:rPr sz="2400" b="1" dirty="0">
                <a:solidFill>
                  <a:srgbClr val="D9D9D9"/>
                </a:solidFill>
                <a:latin typeface="Calibri"/>
                <a:cs typeface="Calibri"/>
              </a:rPr>
              <a:t>same</a:t>
            </a:r>
            <a:r>
              <a:rPr sz="2400" b="1" spc="-33" dirty="0">
                <a:solidFill>
                  <a:srgbClr val="D9D9D9"/>
                </a:solidFill>
                <a:latin typeface="Calibri"/>
                <a:cs typeface="Calibri"/>
              </a:rPr>
              <a:t> </a:t>
            </a:r>
            <a:r>
              <a:rPr sz="2400" b="1" spc="-27" dirty="0">
                <a:solidFill>
                  <a:srgbClr val="D9D9D9"/>
                </a:solidFill>
                <a:latin typeface="Calibri"/>
                <a:cs typeface="Calibri"/>
              </a:rPr>
              <a:t>time 	</a:t>
            </a:r>
            <a:r>
              <a:rPr sz="2400" b="1" dirty="0">
                <a:solidFill>
                  <a:srgbClr val="D9D9D9"/>
                </a:solidFill>
                <a:latin typeface="Calibri"/>
                <a:cs typeface="Calibri"/>
              </a:rPr>
              <a:t>with</a:t>
            </a:r>
            <a:r>
              <a:rPr sz="2400" b="1" spc="-7" dirty="0">
                <a:solidFill>
                  <a:srgbClr val="D9D9D9"/>
                </a:solidFill>
                <a:latin typeface="Calibri"/>
                <a:cs typeface="Calibri"/>
              </a:rPr>
              <a:t> </a:t>
            </a:r>
            <a:r>
              <a:rPr sz="2400" b="1" dirty="0">
                <a:solidFill>
                  <a:srgbClr val="D9D9D9"/>
                </a:solidFill>
                <a:latin typeface="Calibri"/>
                <a:cs typeface="Calibri"/>
              </a:rPr>
              <a:t>good</a:t>
            </a:r>
            <a:r>
              <a:rPr sz="2400" b="1" spc="-47" dirty="0">
                <a:solidFill>
                  <a:srgbClr val="D9D9D9"/>
                </a:solidFill>
                <a:latin typeface="Calibri"/>
                <a:cs typeface="Calibri"/>
              </a:rPr>
              <a:t> </a:t>
            </a:r>
            <a:r>
              <a:rPr sz="2400" b="1" spc="-13" dirty="0">
                <a:solidFill>
                  <a:srgbClr val="D9D9D9"/>
                </a:solidFill>
                <a:latin typeface="Calibri"/>
                <a:cs typeface="Calibri"/>
              </a:rPr>
              <a:t>performance</a:t>
            </a:r>
            <a:endParaRPr sz="2400">
              <a:latin typeface="Calibri"/>
              <a:cs typeface="Calibri"/>
            </a:endParaRPr>
          </a:p>
          <a:p>
            <a:pPr>
              <a:spcBef>
                <a:spcPts val="1187"/>
              </a:spcBef>
              <a:buClr>
                <a:srgbClr val="99D3FF"/>
              </a:buClr>
              <a:buFont typeface="Wingdings"/>
              <a:buChar char=""/>
            </a:pPr>
            <a:endParaRPr sz="2400">
              <a:latin typeface="Calibri"/>
              <a:cs typeface="Calibri"/>
            </a:endParaRPr>
          </a:p>
          <a:p>
            <a:pPr marL="430096" indent="-380990">
              <a:buClr>
                <a:srgbClr val="99D3FF"/>
              </a:buClr>
              <a:buFont typeface="Wingdings"/>
              <a:buChar char=""/>
              <a:tabLst>
                <a:tab pos="430096" algn="l"/>
              </a:tabLst>
            </a:pPr>
            <a:r>
              <a:rPr sz="2400" b="1" dirty="0">
                <a:solidFill>
                  <a:srgbClr val="D9D9D9"/>
                </a:solidFill>
                <a:latin typeface="Calibri"/>
                <a:cs typeface="Calibri"/>
              </a:rPr>
              <a:t>Helpful</a:t>
            </a:r>
            <a:r>
              <a:rPr sz="2400" b="1" spc="-67" dirty="0">
                <a:solidFill>
                  <a:srgbClr val="D9D9D9"/>
                </a:solidFill>
                <a:latin typeface="Calibri"/>
                <a:cs typeface="Calibri"/>
              </a:rPr>
              <a:t> </a:t>
            </a:r>
            <a:r>
              <a:rPr sz="2400" b="1" dirty="0">
                <a:solidFill>
                  <a:srgbClr val="D9D9D9"/>
                </a:solidFill>
                <a:latin typeface="Calibri"/>
                <a:cs typeface="Calibri"/>
              </a:rPr>
              <a:t>with</a:t>
            </a:r>
            <a:r>
              <a:rPr sz="2400" b="1" spc="-27" dirty="0">
                <a:solidFill>
                  <a:srgbClr val="D9D9D9"/>
                </a:solidFill>
                <a:latin typeface="Calibri"/>
                <a:cs typeface="Calibri"/>
              </a:rPr>
              <a:t> </a:t>
            </a:r>
            <a:r>
              <a:rPr sz="2400" b="1" dirty="0">
                <a:solidFill>
                  <a:srgbClr val="D9D9D9"/>
                </a:solidFill>
                <a:latin typeface="Calibri"/>
                <a:cs typeface="Calibri"/>
              </a:rPr>
              <a:t>centralizing</a:t>
            </a:r>
            <a:r>
              <a:rPr sz="2400" b="1" spc="-80" dirty="0">
                <a:solidFill>
                  <a:srgbClr val="D9D9D9"/>
                </a:solidFill>
                <a:latin typeface="Calibri"/>
                <a:cs typeface="Calibri"/>
              </a:rPr>
              <a:t> </a:t>
            </a:r>
            <a:r>
              <a:rPr sz="2400" b="1" dirty="0">
                <a:solidFill>
                  <a:srgbClr val="D9D9D9"/>
                </a:solidFill>
                <a:latin typeface="Calibri"/>
                <a:cs typeface="Calibri"/>
              </a:rPr>
              <a:t>massive</a:t>
            </a:r>
            <a:r>
              <a:rPr sz="2400" b="1" spc="-60" dirty="0">
                <a:solidFill>
                  <a:srgbClr val="D9D9D9"/>
                </a:solidFill>
                <a:latin typeface="Calibri"/>
                <a:cs typeface="Calibri"/>
              </a:rPr>
              <a:t> </a:t>
            </a:r>
            <a:r>
              <a:rPr sz="2400" b="1" dirty="0">
                <a:solidFill>
                  <a:srgbClr val="D9D9D9"/>
                </a:solidFill>
                <a:latin typeface="Calibri"/>
                <a:cs typeface="Calibri"/>
              </a:rPr>
              <a:t>amounts</a:t>
            </a:r>
            <a:r>
              <a:rPr sz="2400" b="1" spc="-53" dirty="0">
                <a:solidFill>
                  <a:srgbClr val="D9D9D9"/>
                </a:solidFill>
                <a:latin typeface="Calibri"/>
                <a:cs typeface="Calibri"/>
              </a:rPr>
              <a:t> </a:t>
            </a:r>
            <a:r>
              <a:rPr sz="2400" b="1" dirty="0">
                <a:solidFill>
                  <a:srgbClr val="D9D9D9"/>
                </a:solidFill>
                <a:latin typeface="Calibri"/>
                <a:cs typeface="Calibri"/>
              </a:rPr>
              <a:t>of</a:t>
            </a:r>
            <a:r>
              <a:rPr sz="2400" b="1" spc="-27" dirty="0">
                <a:solidFill>
                  <a:srgbClr val="D9D9D9"/>
                </a:solidFill>
                <a:latin typeface="Calibri"/>
                <a:cs typeface="Calibri"/>
              </a:rPr>
              <a:t> data</a:t>
            </a:r>
            <a:endParaRPr sz="2400">
              <a:latin typeface="Calibri"/>
              <a:cs typeface="Calibri"/>
            </a:endParaRPr>
          </a:p>
        </p:txBody>
      </p:sp>
    </p:spTree>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66125" y="323927"/>
            <a:ext cx="5545735"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mn-lt"/>
                <a:cs typeface="Arial MT"/>
              </a:rPr>
              <a:t>Columnar</a:t>
            </a:r>
            <a:r>
              <a:rPr spc="-93" dirty="0">
                <a:solidFill>
                  <a:schemeClr val="bg1"/>
                </a:solidFill>
                <a:latin typeface="+mn-lt"/>
                <a:cs typeface="Arial MT"/>
              </a:rPr>
              <a:t> </a:t>
            </a:r>
            <a:r>
              <a:rPr spc="-13" dirty="0">
                <a:solidFill>
                  <a:schemeClr val="bg1"/>
                </a:solidFill>
                <a:latin typeface="+mn-lt"/>
                <a:cs typeface="Arial MT"/>
              </a:rPr>
              <a:t>databases</a:t>
            </a:r>
          </a:p>
        </p:txBody>
      </p:sp>
      <p:pic>
        <p:nvPicPr>
          <p:cNvPr id="3" name="object 3"/>
          <p:cNvPicPr/>
          <p:nvPr/>
        </p:nvPicPr>
        <p:blipFill>
          <a:blip r:embed="rId2" cstate="print"/>
          <a:stretch>
            <a:fillRect/>
          </a:stretch>
        </p:blipFill>
        <p:spPr>
          <a:xfrm>
            <a:off x="2946400" y="1574800"/>
            <a:ext cx="4720336" cy="1377696"/>
          </a:xfrm>
          <a:prstGeom prst="rect">
            <a:avLst/>
          </a:prstGeom>
        </p:spPr>
      </p:pic>
      <p:sp>
        <p:nvSpPr>
          <p:cNvPr id="4" name="object 4"/>
          <p:cNvSpPr txBox="1"/>
          <p:nvPr/>
        </p:nvSpPr>
        <p:spPr>
          <a:xfrm>
            <a:off x="1340103" y="3105911"/>
            <a:ext cx="3239347" cy="1331134"/>
          </a:xfrm>
          <a:prstGeom prst="rect">
            <a:avLst/>
          </a:prstGeom>
          <a:ln w="25907">
            <a:solidFill>
              <a:srgbClr val="008FBB"/>
            </a:solidFill>
          </a:ln>
        </p:spPr>
        <p:txBody>
          <a:bodyPr vert="horz" wrap="square" lIns="0" tIns="0" rIns="0" bIns="0" rtlCol="0">
            <a:spAutoFit/>
          </a:bodyPr>
          <a:lstStyle/>
          <a:p>
            <a:pPr>
              <a:lnSpc>
                <a:spcPct val="100000"/>
              </a:lnSpc>
            </a:pPr>
            <a:endParaRPr sz="1600">
              <a:latin typeface="Times New Roman"/>
              <a:cs typeface="Times New Roman"/>
            </a:endParaRPr>
          </a:p>
          <a:p>
            <a:pPr>
              <a:spcBef>
                <a:spcPts val="1300"/>
              </a:spcBef>
            </a:pPr>
            <a:endParaRPr sz="1600">
              <a:latin typeface="Times New Roman"/>
              <a:cs typeface="Times New Roman"/>
            </a:endParaRPr>
          </a:p>
          <a:p>
            <a:pPr marL="261613"/>
            <a:r>
              <a:rPr sz="1600" dirty="0">
                <a:solidFill>
                  <a:srgbClr val="F1F1F1"/>
                </a:solidFill>
                <a:latin typeface="Courier New"/>
                <a:cs typeface="Courier New"/>
              </a:rPr>
              <a:t>4,</a:t>
            </a:r>
            <a:r>
              <a:rPr sz="1600" spc="-40" dirty="0">
                <a:solidFill>
                  <a:srgbClr val="F1F1F1"/>
                </a:solidFill>
                <a:latin typeface="Courier New"/>
                <a:cs typeface="Courier New"/>
              </a:rPr>
              <a:t> </a:t>
            </a:r>
            <a:r>
              <a:rPr sz="1600" dirty="0">
                <a:solidFill>
                  <a:srgbClr val="F1F1F1"/>
                </a:solidFill>
                <a:latin typeface="Courier New"/>
                <a:cs typeface="Courier New"/>
              </a:rPr>
              <a:t>P0432,</a:t>
            </a:r>
            <a:r>
              <a:rPr sz="1600" spc="-7" dirty="0">
                <a:solidFill>
                  <a:srgbClr val="F1F1F1"/>
                </a:solidFill>
                <a:latin typeface="Courier New"/>
                <a:cs typeface="Courier New"/>
              </a:rPr>
              <a:t> </a:t>
            </a:r>
            <a:r>
              <a:rPr sz="1600" dirty="0">
                <a:solidFill>
                  <a:srgbClr val="F1F1F1"/>
                </a:solidFill>
                <a:latin typeface="Courier New"/>
                <a:cs typeface="Courier New"/>
              </a:rPr>
              <a:t>8,</a:t>
            </a:r>
            <a:r>
              <a:rPr sz="1600" spc="-33" dirty="0">
                <a:solidFill>
                  <a:srgbClr val="F1F1F1"/>
                </a:solidFill>
                <a:latin typeface="Courier New"/>
                <a:cs typeface="Courier New"/>
              </a:rPr>
              <a:t> </a:t>
            </a:r>
            <a:r>
              <a:rPr sz="1600" spc="-13" dirty="0">
                <a:solidFill>
                  <a:srgbClr val="F1F1F1"/>
                </a:solidFill>
                <a:latin typeface="Courier New"/>
                <a:cs typeface="Courier New"/>
              </a:rPr>
              <a:t>mastercard</a:t>
            </a:r>
            <a:endParaRPr sz="1600">
              <a:latin typeface="Courier New"/>
              <a:cs typeface="Courier New"/>
            </a:endParaRPr>
          </a:p>
          <a:p>
            <a:pPr marL="261613">
              <a:spcBef>
                <a:spcPts val="1413"/>
              </a:spcBef>
            </a:pPr>
            <a:r>
              <a:rPr sz="1600" dirty="0">
                <a:solidFill>
                  <a:srgbClr val="F1F1F1"/>
                </a:solidFill>
                <a:latin typeface="Courier New"/>
                <a:cs typeface="Courier New"/>
              </a:rPr>
              <a:t>1,</a:t>
            </a:r>
            <a:r>
              <a:rPr sz="1600" spc="-40" dirty="0">
                <a:solidFill>
                  <a:srgbClr val="F1F1F1"/>
                </a:solidFill>
                <a:latin typeface="Courier New"/>
                <a:cs typeface="Courier New"/>
              </a:rPr>
              <a:t> </a:t>
            </a:r>
            <a:r>
              <a:rPr sz="1600" dirty="0">
                <a:solidFill>
                  <a:srgbClr val="F1F1F1"/>
                </a:solidFill>
                <a:latin typeface="Courier New"/>
                <a:cs typeface="Courier New"/>
              </a:rPr>
              <a:t>P0494,</a:t>
            </a:r>
            <a:r>
              <a:rPr sz="1600" spc="-7" dirty="0">
                <a:solidFill>
                  <a:srgbClr val="F1F1F1"/>
                </a:solidFill>
                <a:latin typeface="Courier New"/>
                <a:cs typeface="Courier New"/>
              </a:rPr>
              <a:t> </a:t>
            </a:r>
            <a:r>
              <a:rPr sz="1600" dirty="0">
                <a:solidFill>
                  <a:srgbClr val="F1F1F1"/>
                </a:solidFill>
                <a:latin typeface="Courier New"/>
                <a:cs typeface="Courier New"/>
              </a:rPr>
              <a:t>4,</a:t>
            </a:r>
            <a:r>
              <a:rPr sz="1600" spc="-33" dirty="0">
                <a:solidFill>
                  <a:srgbClr val="F1F1F1"/>
                </a:solidFill>
                <a:latin typeface="Courier New"/>
                <a:cs typeface="Courier New"/>
              </a:rPr>
              <a:t> </a:t>
            </a:r>
            <a:r>
              <a:rPr sz="1600" spc="-27" dirty="0">
                <a:solidFill>
                  <a:srgbClr val="F1F1F1"/>
                </a:solidFill>
                <a:latin typeface="Courier New"/>
                <a:cs typeface="Courier New"/>
              </a:rPr>
              <a:t>visa</a:t>
            </a:r>
            <a:endParaRPr sz="1600">
              <a:latin typeface="Courier New"/>
              <a:cs typeface="Courier New"/>
            </a:endParaRPr>
          </a:p>
        </p:txBody>
      </p:sp>
      <p:sp>
        <p:nvSpPr>
          <p:cNvPr id="5" name="object 5"/>
          <p:cNvSpPr txBox="1"/>
          <p:nvPr/>
        </p:nvSpPr>
        <p:spPr>
          <a:xfrm>
            <a:off x="1480311" y="3268473"/>
            <a:ext cx="2934547" cy="287258"/>
          </a:xfrm>
          <a:prstGeom prst="rect">
            <a:avLst/>
          </a:prstGeom>
          <a:ln w="25907">
            <a:solidFill>
              <a:srgbClr val="008FBB"/>
            </a:solidFill>
          </a:ln>
        </p:spPr>
        <p:txBody>
          <a:bodyPr vert="horz" wrap="square" lIns="0" tIns="40640" rIns="0" bIns="0" rtlCol="0">
            <a:spAutoFit/>
          </a:bodyPr>
          <a:lstStyle/>
          <a:p>
            <a:pPr marL="121070">
              <a:spcBef>
                <a:spcPts val="320"/>
              </a:spcBef>
            </a:pPr>
            <a:r>
              <a:rPr sz="1600" dirty="0">
                <a:solidFill>
                  <a:srgbClr val="F1F1F1"/>
                </a:solidFill>
                <a:latin typeface="Courier New"/>
                <a:cs typeface="Courier New"/>
              </a:rPr>
              <a:t>3,</a:t>
            </a:r>
            <a:r>
              <a:rPr sz="1600" spc="-40" dirty="0">
                <a:solidFill>
                  <a:srgbClr val="F1F1F1"/>
                </a:solidFill>
                <a:latin typeface="Courier New"/>
                <a:cs typeface="Courier New"/>
              </a:rPr>
              <a:t> </a:t>
            </a:r>
            <a:r>
              <a:rPr sz="1600" dirty="0">
                <a:solidFill>
                  <a:srgbClr val="F1F1F1"/>
                </a:solidFill>
                <a:latin typeface="Courier New"/>
                <a:cs typeface="Courier New"/>
              </a:rPr>
              <a:t>P0625,</a:t>
            </a:r>
            <a:r>
              <a:rPr sz="1600" spc="-7" dirty="0">
                <a:solidFill>
                  <a:srgbClr val="F1F1F1"/>
                </a:solidFill>
                <a:latin typeface="Courier New"/>
                <a:cs typeface="Courier New"/>
              </a:rPr>
              <a:t> </a:t>
            </a:r>
            <a:r>
              <a:rPr sz="1600" dirty="0">
                <a:solidFill>
                  <a:srgbClr val="F1F1F1"/>
                </a:solidFill>
                <a:latin typeface="Courier New"/>
                <a:cs typeface="Courier New"/>
              </a:rPr>
              <a:t>5,</a:t>
            </a:r>
            <a:r>
              <a:rPr sz="1600" spc="-33" dirty="0">
                <a:solidFill>
                  <a:srgbClr val="F1F1F1"/>
                </a:solidFill>
                <a:latin typeface="Courier New"/>
                <a:cs typeface="Courier New"/>
              </a:rPr>
              <a:t> </a:t>
            </a:r>
            <a:r>
              <a:rPr sz="1600" spc="-27" dirty="0">
                <a:solidFill>
                  <a:srgbClr val="F1F1F1"/>
                </a:solidFill>
                <a:latin typeface="Courier New"/>
                <a:cs typeface="Courier New"/>
              </a:rPr>
              <a:t>visa</a:t>
            </a:r>
            <a:endParaRPr sz="1600">
              <a:latin typeface="Courier New"/>
              <a:cs typeface="Courier New"/>
            </a:endParaRPr>
          </a:p>
        </p:txBody>
      </p:sp>
      <p:sp>
        <p:nvSpPr>
          <p:cNvPr id="6" name="object 6"/>
          <p:cNvSpPr txBox="1"/>
          <p:nvPr/>
        </p:nvSpPr>
        <p:spPr>
          <a:xfrm>
            <a:off x="4719320" y="3105911"/>
            <a:ext cx="3239347" cy="1331134"/>
          </a:xfrm>
          <a:prstGeom prst="rect">
            <a:avLst/>
          </a:prstGeom>
          <a:ln w="25907">
            <a:solidFill>
              <a:srgbClr val="008FBB"/>
            </a:solidFill>
          </a:ln>
        </p:spPr>
        <p:txBody>
          <a:bodyPr vert="horz" wrap="square" lIns="0" tIns="0" rIns="0" bIns="0" rtlCol="0">
            <a:spAutoFit/>
          </a:bodyPr>
          <a:lstStyle/>
          <a:p>
            <a:pPr>
              <a:lnSpc>
                <a:spcPct val="100000"/>
              </a:lnSpc>
            </a:pPr>
            <a:endParaRPr sz="1600">
              <a:latin typeface="Times New Roman"/>
              <a:cs typeface="Times New Roman"/>
            </a:endParaRPr>
          </a:p>
          <a:p>
            <a:pPr>
              <a:spcBef>
                <a:spcPts val="967"/>
              </a:spcBef>
            </a:pPr>
            <a:endParaRPr sz="1600">
              <a:latin typeface="Times New Roman"/>
              <a:cs typeface="Times New Roman"/>
            </a:endParaRPr>
          </a:p>
          <a:p>
            <a:pPr marL="246374"/>
            <a:r>
              <a:rPr sz="1600" dirty="0">
                <a:solidFill>
                  <a:srgbClr val="F1F1F1"/>
                </a:solidFill>
                <a:latin typeface="Courier New"/>
                <a:cs typeface="Courier New"/>
              </a:rPr>
              <a:t>6,</a:t>
            </a:r>
            <a:r>
              <a:rPr sz="1600" spc="-40" dirty="0">
                <a:solidFill>
                  <a:srgbClr val="F1F1F1"/>
                </a:solidFill>
                <a:latin typeface="Courier New"/>
                <a:cs typeface="Courier New"/>
              </a:rPr>
              <a:t> </a:t>
            </a:r>
            <a:r>
              <a:rPr sz="1600" dirty="0">
                <a:solidFill>
                  <a:srgbClr val="F1F1F1"/>
                </a:solidFill>
                <a:latin typeface="Courier New"/>
                <a:cs typeface="Courier New"/>
              </a:rPr>
              <a:t>P0058,</a:t>
            </a:r>
            <a:r>
              <a:rPr sz="1600" spc="-7" dirty="0">
                <a:solidFill>
                  <a:srgbClr val="F1F1F1"/>
                </a:solidFill>
                <a:latin typeface="Courier New"/>
                <a:cs typeface="Courier New"/>
              </a:rPr>
              <a:t> </a:t>
            </a:r>
            <a:r>
              <a:rPr sz="1600" dirty="0">
                <a:solidFill>
                  <a:srgbClr val="F1F1F1"/>
                </a:solidFill>
                <a:latin typeface="Courier New"/>
                <a:cs typeface="Courier New"/>
              </a:rPr>
              <a:t>5,</a:t>
            </a:r>
            <a:r>
              <a:rPr sz="1600" spc="-33" dirty="0">
                <a:solidFill>
                  <a:srgbClr val="F1F1F1"/>
                </a:solidFill>
                <a:latin typeface="Courier New"/>
                <a:cs typeface="Courier New"/>
              </a:rPr>
              <a:t> </a:t>
            </a:r>
            <a:r>
              <a:rPr sz="1600" spc="-13" dirty="0">
                <a:solidFill>
                  <a:srgbClr val="F1F1F1"/>
                </a:solidFill>
                <a:latin typeface="Courier New"/>
                <a:cs typeface="Courier New"/>
              </a:rPr>
              <a:t>mastercard</a:t>
            </a:r>
            <a:endParaRPr sz="1600">
              <a:latin typeface="Courier New"/>
              <a:cs typeface="Courier New"/>
            </a:endParaRPr>
          </a:p>
          <a:p>
            <a:pPr marL="246374">
              <a:spcBef>
                <a:spcPts val="1747"/>
              </a:spcBef>
            </a:pPr>
            <a:r>
              <a:rPr sz="1600" dirty="0">
                <a:solidFill>
                  <a:srgbClr val="F1F1F1"/>
                </a:solidFill>
                <a:latin typeface="Courier New"/>
                <a:cs typeface="Courier New"/>
              </a:rPr>
              <a:t>2,</a:t>
            </a:r>
            <a:r>
              <a:rPr sz="1600" spc="-40" dirty="0">
                <a:solidFill>
                  <a:srgbClr val="F1F1F1"/>
                </a:solidFill>
                <a:latin typeface="Courier New"/>
                <a:cs typeface="Courier New"/>
              </a:rPr>
              <a:t> </a:t>
            </a:r>
            <a:r>
              <a:rPr sz="1600" dirty="0">
                <a:solidFill>
                  <a:srgbClr val="F1F1F1"/>
                </a:solidFill>
                <a:latin typeface="Courier New"/>
                <a:cs typeface="Courier New"/>
              </a:rPr>
              <a:t>P0221,</a:t>
            </a:r>
            <a:r>
              <a:rPr sz="1600" spc="-7" dirty="0">
                <a:solidFill>
                  <a:srgbClr val="F1F1F1"/>
                </a:solidFill>
                <a:latin typeface="Courier New"/>
                <a:cs typeface="Courier New"/>
              </a:rPr>
              <a:t> </a:t>
            </a:r>
            <a:r>
              <a:rPr sz="1600" dirty="0">
                <a:solidFill>
                  <a:srgbClr val="F1F1F1"/>
                </a:solidFill>
                <a:latin typeface="Courier New"/>
                <a:cs typeface="Courier New"/>
              </a:rPr>
              <a:t>5,</a:t>
            </a:r>
            <a:r>
              <a:rPr sz="1600" spc="-33" dirty="0">
                <a:solidFill>
                  <a:srgbClr val="F1F1F1"/>
                </a:solidFill>
                <a:latin typeface="Courier New"/>
                <a:cs typeface="Courier New"/>
              </a:rPr>
              <a:t> </a:t>
            </a:r>
            <a:r>
              <a:rPr sz="1600" spc="-27" dirty="0">
                <a:solidFill>
                  <a:srgbClr val="F1F1F1"/>
                </a:solidFill>
                <a:latin typeface="Courier New"/>
                <a:cs typeface="Courier New"/>
              </a:rPr>
              <a:t>visa</a:t>
            </a:r>
            <a:endParaRPr sz="1600">
              <a:latin typeface="Courier New"/>
              <a:cs typeface="Courier New"/>
            </a:endParaRPr>
          </a:p>
        </p:txBody>
      </p:sp>
      <p:grpSp>
        <p:nvGrpSpPr>
          <p:cNvPr id="7" name="object 7"/>
          <p:cNvGrpSpPr/>
          <p:nvPr/>
        </p:nvGrpSpPr>
        <p:grpSpPr>
          <a:xfrm>
            <a:off x="8300720" y="3214624"/>
            <a:ext cx="3010747" cy="1391073"/>
            <a:chOff x="6225540" y="2410967"/>
            <a:chExt cx="2258060" cy="1043305"/>
          </a:xfrm>
        </p:grpSpPr>
        <p:sp>
          <p:nvSpPr>
            <p:cNvPr id="8" name="object 8"/>
            <p:cNvSpPr/>
            <p:nvPr/>
          </p:nvSpPr>
          <p:spPr>
            <a:xfrm>
              <a:off x="6324600" y="2464307"/>
              <a:ext cx="2057400" cy="830580"/>
            </a:xfrm>
            <a:custGeom>
              <a:avLst/>
              <a:gdLst/>
              <a:ahLst/>
              <a:cxnLst/>
              <a:rect l="l" t="t" r="r" b="b"/>
              <a:pathLst>
                <a:path w="2057400" h="830579">
                  <a:moveTo>
                    <a:pt x="2057400" y="0"/>
                  </a:moveTo>
                  <a:lnTo>
                    <a:pt x="0" y="0"/>
                  </a:lnTo>
                  <a:lnTo>
                    <a:pt x="0" y="830580"/>
                  </a:lnTo>
                  <a:lnTo>
                    <a:pt x="2057400" y="830580"/>
                  </a:lnTo>
                  <a:lnTo>
                    <a:pt x="2057400" y="0"/>
                  </a:lnTo>
                  <a:close/>
                </a:path>
              </a:pathLst>
            </a:custGeom>
            <a:solidFill>
              <a:srgbClr val="99E7FF">
                <a:alpha val="50195"/>
              </a:srgbClr>
            </a:solidFill>
          </p:spPr>
          <p:txBody>
            <a:bodyPr wrap="square" lIns="0" tIns="0" rIns="0" bIns="0" rtlCol="0"/>
            <a:lstStyle/>
            <a:p>
              <a:endParaRPr sz="2400"/>
            </a:p>
          </p:txBody>
        </p:sp>
        <p:pic>
          <p:nvPicPr>
            <p:cNvPr id="9" name="object 9"/>
            <p:cNvPicPr/>
            <p:nvPr/>
          </p:nvPicPr>
          <p:blipFill>
            <a:blip r:embed="rId3" cstate="print"/>
            <a:stretch>
              <a:fillRect/>
            </a:stretch>
          </p:blipFill>
          <p:spPr>
            <a:xfrm>
              <a:off x="6225540" y="2410967"/>
              <a:ext cx="1928621" cy="677418"/>
            </a:xfrm>
            <a:prstGeom prst="rect">
              <a:avLst/>
            </a:prstGeom>
          </p:spPr>
        </p:pic>
        <p:pic>
          <p:nvPicPr>
            <p:cNvPr id="10" name="object 10"/>
            <p:cNvPicPr/>
            <p:nvPr/>
          </p:nvPicPr>
          <p:blipFill>
            <a:blip r:embed="rId4" cstate="print"/>
            <a:stretch>
              <a:fillRect/>
            </a:stretch>
          </p:blipFill>
          <p:spPr>
            <a:xfrm>
              <a:off x="6225540" y="2776727"/>
              <a:ext cx="2257806" cy="677418"/>
            </a:xfrm>
            <a:prstGeom prst="rect">
              <a:avLst/>
            </a:prstGeom>
          </p:spPr>
        </p:pic>
      </p:grpSp>
      <p:sp>
        <p:nvSpPr>
          <p:cNvPr id="11" name="object 11"/>
          <p:cNvSpPr txBox="1"/>
          <p:nvPr/>
        </p:nvSpPr>
        <p:spPr>
          <a:xfrm>
            <a:off x="8432800" y="3285743"/>
            <a:ext cx="2743200" cy="1044731"/>
          </a:xfrm>
          <a:prstGeom prst="rect">
            <a:avLst/>
          </a:prstGeom>
        </p:spPr>
        <p:txBody>
          <a:bodyPr vert="horz" wrap="square" lIns="0" tIns="59267" rIns="0" bIns="0" rtlCol="0">
            <a:spAutoFit/>
          </a:bodyPr>
          <a:lstStyle/>
          <a:p>
            <a:pPr marL="122764" marR="130383">
              <a:spcBef>
                <a:spcPts val="467"/>
              </a:spcBef>
            </a:pPr>
            <a:r>
              <a:rPr sz="3200" spc="-13" dirty="0">
                <a:solidFill>
                  <a:srgbClr val="FFFFFF"/>
                </a:solidFill>
                <a:latin typeface="Bahnschrift"/>
                <a:cs typeface="Bahnschrift"/>
              </a:rPr>
              <a:t>Traditional </a:t>
            </a:r>
            <a:r>
              <a:rPr sz="3200" dirty="0">
                <a:solidFill>
                  <a:srgbClr val="FFFFFF"/>
                </a:solidFill>
                <a:latin typeface="Bahnschrift"/>
                <a:cs typeface="Bahnschrift"/>
              </a:rPr>
              <a:t>Relational</a:t>
            </a:r>
            <a:r>
              <a:rPr sz="3200" spc="227" dirty="0">
                <a:solidFill>
                  <a:srgbClr val="FFFFFF"/>
                </a:solidFill>
                <a:latin typeface="Bahnschrift"/>
                <a:cs typeface="Bahnschrift"/>
              </a:rPr>
              <a:t> </a:t>
            </a:r>
            <a:r>
              <a:rPr sz="3200" spc="-47" dirty="0">
                <a:solidFill>
                  <a:srgbClr val="FFFFFF"/>
                </a:solidFill>
                <a:latin typeface="Bahnschrift"/>
                <a:cs typeface="Bahnschrift"/>
              </a:rPr>
              <a:t>DB</a:t>
            </a:r>
            <a:endParaRPr sz="3200">
              <a:latin typeface="Bahnschrift"/>
              <a:cs typeface="Bahnschrift"/>
            </a:endParaRPr>
          </a:p>
        </p:txBody>
      </p:sp>
      <p:sp>
        <p:nvSpPr>
          <p:cNvPr id="12" name="object 12"/>
          <p:cNvSpPr txBox="1"/>
          <p:nvPr/>
        </p:nvSpPr>
        <p:spPr>
          <a:xfrm>
            <a:off x="2958593" y="4803647"/>
            <a:ext cx="3885353" cy="540319"/>
          </a:xfrm>
          <a:prstGeom prst="rect">
            <a:avLst/>
          </a:prstGeom>
          <a:solidFill>
            <a:srgbClr val="00C3FF">
              <a:alpha val="50195"/>
            </a:srgbClr>
          </a:solidFill>
        </p:spPr>
        <p:txBody>
          <a:bodyPr vert="horz" wrap="square" lIns="0" tIns="169333" rIns="0" bIns="0" rtlCol="0">
            <a:spAutoFit/>
          </a:bodyPr>
          <a:lstStyle/>
          <a:p>
            <a:pPr marL="121070">
              <a:spcBef>
                <a:spcPts val="1333"/>
              </a:spcBef>
            </a:pPr>
            <a:r>
              <a:rPr sz="2400" b="1" dirty="0">
                <a:solidFill>
                  <a:srgbClr val="D9D9D9"/>
                </a:solidFill>
                <a:latin typeface="Calibri"/>
                <a:cs typeface="Calibri"/>
              </a:rPr>
              <a:t>All</a:t>
            </a:r>
            <a:r>
              <a:rPr sz="2400" b="1" spc="-20" dirty="0">
                <a:solidFill>
                  <a:srgbClr val="D9D9D9"/>
                </a:solidFill>
                <a:latin typeface="Calibri"/>
                <a:cs typeface="Calibri"/>
              </a:rPr>
              <a:t> </a:t>
            </a:r>
            <a:r>
              <a:rPr sz="2400" b="1" dirty="0">
                <a:solidFill>
                  <a:srgbClr val="D9D9D9"/>
                </a:solidFill>
                <a:latin typeface="Calibri"/>
                <a:cs typeface="Calibri"/>
              </a:rPr>
              <a:t>rows</a:t>
            </a:r>
            <a:r>
              <a:rPr sz="2400" b="1" spc="-27" dirty="0">
                <a:solidFill>
                  <a:srgbClr val="D9D9D9"/>
                </a:solidFill>
                <a:latin typeface="Calibri"/>
                <a:cs typeface="Calibri"/>
              </a:rPr>
              <a:t> </a:t>
            </a:r>
            <a:r>
              <a:rPr sz="2400" b="1" dirty="0">
                <a:solidFill>
                  <a:srgbClr val="D9D9D9"/>
                </a:solidFill>
                <a:latin typeface="Calibri"/>
                <a:cs typeface="Calibri"/>
              </a:rPr>
              <a:t>have</a:t>
            </a:r>
            <a:r>
              <a:rPr sz="2400" b="1" spc="-13" dirty="0">
                <a:solidFill>
                  <a:srgbClr val="D9D9D9"/>
                </a:solidFill>
                <a:latin typeface="Calibri"/>
                <a:cs typeface="Calibri"/>
              </a:rPr>
              <a:t> </a:t>
            </a:r>
            <a:r>
              <a:rPr sz="2400" b="1" dirty="0">
                <a:solidFill>
                  <a:srgbClr val="D9D9D9"/>
                </a:solidFill>
                <a:latin typeface="Calibri"/>
                <a:cs typeface="Calibri"/>
              </a:rPr>
              <a:t>to be</a:t>
            </a:r>
            <a:r>
              <a:rPr sz="2400" b="1" spc="-27" dirty="0">
                <a:solidFill>
                  <a:srgbClr val="D9D9D9"/>
                </a:solidFill>
                <a:latin typeface="Calibri"/>
                <a:cs typeface="Calibri"/>
              </a:rPr>
              <a:t> </a:t>
            </a:r>
            <a:r>
              <a:rPr sz="2400" b="1" spc="-13" dirty="0">
                <a:solidFill>
                  <a:srgbClr val="D9D9D9"/>
                </a:solidFill>
                <a:latin typeface="Calibri"/>
                <a:cs typeface="Calibri"/>
              </a:rPr>
              <a:t>scanned</a:t>
            </a:r>
            <a:endParaRPr sz="2400">
              <a:latin typeface="Calibri"/>
              <a:cs typeface="Calibri"/>
            </a:endParaRPr>
          </a:p>
        </p:txBody>
      </p:sp>
      <p:sp>
        <p:nvSpPr>
          <p:cNvPr id="13" name="object 13"/>
          <p:cNvSpPr txBox="1"/>
          <p:nvPr/>
        </p:nvSpPr>
        <p:spPr>
          <a:xfrm>
            <a:off x="7957312" y="1473200"/>
            <a:ext cx="3352800" cy="1141338"/>
          </a:xfrm>
          <a:prstGeom prst="rect">
            <a:avLst/>
          </a:prstGeom>
          <a:solidFill>
            <a:srgbClr val="EDEDED"/>
          </a:solidFill>
        </p:spPr>
        <p:txBody>
          <a:bodyPr vert="horz" wrap="square" lIns="0" tIns="154940" rIns="0" bIns="0" rtlCol="0">
            <a:spAutoFit/>
          </a:bodyPr>
          <a:lstStyle/>
          <a:p>
            <a:pPr>
              <a:spcBef>
                <a:spcPts val="1220"/>
              </a:spcBef>
            </a:pPr>
            <a:endParaRPr sz="1600">
              <a:latin typeface="Times New Roman"/>
              <a:cs typeface="Times New Roman"/>
            </a:endParaRPr>
          </a:p>
          <a:p>
            <a:pPr marL="1220016">
              <a:spcBef>
                <a:spcPts val="7"/>
              </a:spcBef>
            </a:pPr>
            <a:r>
              <a:rPr sz="1600" b="1" spc="-13" dirty="0">
                <a:solidFill>
                  <a:srgbClr val="CC3399"/>
                </a:solidFill>
                <a:latin typeface="Courier New"/>
                <a:cs typeface="Courier New"/>
              </a:rPr>
              <a:t>SELECT</a:t>
            </a:r>
            <a:endParaRPr sz="1600">
              <a:latin typeface="Courier New"/>
              <a:cs typeface="Courier New"/>
            </a:endParaRPr>
          </a:p>
          <a:p>
            <a:pPr marL="1220016"/>
            <a:r>
              <a:rPr sz="1600" spc="-13" dirty="0">
                <a:latin typeface="Courier New"/>
                <a:cs typeface="Courier New"/>
              </a:rPr>
              <a:t>product_id</a:t>
            </a:r>
            <a:endParaRPr sz="1600">
              <a:latin typeface="Courier New"/>
              <a:cs typeface="Courier New"/>
            </a:endParaRPr>
          </a:p>
          <a:p>
            <a:pPr marL="1220016"/>
            <a:r>
              <a:rPr sz="1600" b="1" dirty="0">
                <a:solidFill>
                  <a:srgbClr val="CC3399"/>
                </a:solidFill>
                <a:latin typeface="Courier New"/>
                <a:cs typeface="Courier New"/>
              </a:rPr>
              <a:t>FROM</a:t>
            </a:r>
            <a:r>
              <a:rPr sz="1600" b="1" spc="-33" dirty="0">
                <a:solidFill>
                  <a:srgbClr val="CC3399"/>
                </a:solidFill>
                <a:latin typeface="Courier New"/>
                <a:cs typeface="Courier New"/>
              </a:rPr>
              <a:t> </a:t>
            </a:r>
            <a:r>
              <a:rPr sz="1600" spc="-13" dirty="0">
                <a:latin typeface="Courier New"/>
                <a:cs typeface="Courier New"/>
              </a:rPr>
              <a:t>sales</a:t>
            </a:r>
            <a:endParaRPr sz="1600">
              <a:latin typeface="Courier New"/>
              <a:cs typeface="Courier New"/>
            </a:endParaRPr>
          </a:p>
        </p:txBody>
      </p:sp>
      <p:sp>
        <p:nvSpPr>
          <p:cNvPr id="14" name="object 14"/>
          <p:cNvSpPr txBox="1"/>
          <p:nvPr/>
        </p:nvSpPr>
        <p:spPr>
          <a:xfrm>
            <a:off x="2958593" y="5539231"/>
            <a:ext cx="3885353" cy="541174"/>
          </a:xfrm>
          <a:prstGeom prst="rect">
            <a:avLst/>
          </a:prstGeom>
          <a:solidFill>
            <a:srgbClr val="00C3FF">
              <a:alpha val="50195"/>
            </a:srgbClr>
          </a:solidFill>
        </p:spPr>
        <p:txBody>
          <a:bodyPr vert="horz" wrap="square" lIns="0" tIns="170180" rIns="0" bIns="0" rtlCol="0">
            <a:spAutoFit/>
          </a:bodyPr>
          <a:lstStyle/>
          <a:p>
            <a:pPr marL="121070">
              <a:spcBef>
                <a:spcPts val="1340"/>
              </a:spcBef>
            </a:pPr>
            <a:r>
              <a:rPr sz="2400" b="1" dirty="0">
                <a:solidFill>
                  <a:srgbClr val="D9D9D9"/>
                </a:solidFill>
                <a:latin typeface="Calibri"/>
                <a:cs typeface="Calibri"/>
              </a:rPr>
              <a:t>Good</a:t>
            </a:r>
            <a:r>
              <a:rPr sz="2400" b="1" spc="-40" dirty="0">
                <a:solidFill>
                  <a:srgbClr val="D9D9D9"/>
                </a:solidFill>
                <a:latin typeface="Calibri"/>
                <a:cs typeface="Calibri"/>
              </a:rPr>
              <a:t> </a:t>
            </a:r>
            <a:r>
              <a:rPr sz="2400" b="1" dirty="0">
                <a:solidFill>
                  <a:srgbClr val="D9D9D9"/>
                </a:solidFill>
                <a:latin typeface="Calibri"/>
                <a:cs typeface="Calibri"/>
              </a:rPr>
              <a:t>for</a:t>
            </a:r>
            <a:r>
              <a:rPr sz="2400" b="1" spc="-13" dirty="0">
                <a:solidFill>
                  <a:srgbClr val="D9D9D9"/>
                </a:solidFill>
                <a:latin typeface="Calibri"/>
                <a:cs typeface="Calibri"/>
              </a:rPr>
              <a:t> </a:t>
            </a:r>
            <a:r>
              <a:rPr sz="2400" b="1" dirty="0">
                <a:solidFill>
                  <a:srgbClr val="D9D9D9"/>
                </a:solidFill>
                <a:latin typeface="Calibri"/>
                <a:cs typeface="Calibri"/>
              </a:rPr>
              <a:t>transactional</a:t>
            </a:r>
            <a:r>
              <a:rPr sz="2400" b="1" spc="-67" dirty="0">
                <a:solidFill>
                  <a:srgbClr val="D9D9D9"/>
                </a:solidFill>
                <a:latin typeface="Calibri"/>
                <a:cs typeface="Calibri"/>
              </a:rPr>
              <a:t> </a:t>
            </a:r>
            <a:r>
              <a:rPr sz="2400" b="1" spc="-33" dirty="0">
                <a:solidFill>
                  <a:srgbClr val="D9D9D9"/>
                </a:solidFill>
                <a:latin typeface="Calibri"/>
                <a:cs typeface="Calibri"/>
              </a:rPr>
              <a:t>DB</a:t>
            </a:r>
            <a:endParaRPr sz="2400">
              <a:latin typeface="Calibri"/>
              <a:cs typeface="Calibri"/>
            </a:endParaRPr>
          </a:p>
        </p:txBody>
      </p:sp>
      <p:sp>
        <p:nvSpPr>
          <p:cNvPr id="15" name="object 15"/>
          <p:cNvSpPr txBox="1"/>
          <p:nvPr/>
        </p:nvSpPr>
        <p:spPr>
          <a:xfrm>
            <a:off x="7010400" y="5128768"/>
            <a:ext cx="3887893" cy="540319"/>
          </a:xfrm>
          <a:prstGeom prst="rect">
            <a:avLst/>
          </a:prstGeom>
          <a:noFill/>
        </p:spPr>
        <p:txBody>
          <a:bodyPr vert="horz" wrap="square" lIns="0" tIns="169333" rIns="0" bIns="0" rtlCol="0">
            <a:spAutoFit/>
          </a:bodyPr>
          <a:lstStyle/>
          <a:p>
            <a:pPr marL="122764">
              <a:spcBef>
                <a:spcPts val="1333"/>
              </a:spcBef>
            </a:pPr>
            <a:r>
              <a:rPr sz="2400" b="1" dirty="0">
                <a:solidFill>
                  <a:srgbClr val="D9D9D9"/>
                </a:solidFill>
                <a:latin typeface="Calibri"/>
                <a:cs typeface="Calibri"/>
              </a:rPr>
              <a:t>Bad</a:t>
            </a:r>
            <a:r>
              <a:rPr sz="2400" b="1" spc="-13" dirty="0">
                <a:solidFill>
                  <a:srgbClr val="D9D9D9"/>
                </a:solidFill>
                <a:latin typeface="Calibri"/>
                <a:cs typeface="Calibri"/>
              </a:rPr>
              <a:t> </a:t>
            </a:r>
            <a:r>
              <a:rPr sz="2400" b="1" dirty="0">
                <a:solidFill>
                  <a:srgbClr val="D9D9D9"/>
                </a:solidFill>
                <a:latin typeface="Calibri"/>
                <a:cs typeface="Calibri"/>
              </a:rPr>
              <a:t>for fast</a:t>
            </a:r>
            <a:r>
              <a:rPr sz="2400" b="1" spc="-7" dirty="0">
                <a:solidFill>
                  <a:srgbClr val="D9D9D9"/>
                </a:solidFill>
                <a:latin typeface="Calibri"/>
                <a:cs typeface="Calibri"/>
              </a:rPr>
              <a:t> </a:t>
            </a:r>
            <a:r>
              <a:rPr sz="2400" b="1" dirty="0">
                <a:solidFill>
                  <a:srgbClr val="D9D9D9"/>
                </a:solidFill>
                <a:latin typeface="Calibri"/>
                <a:cs typeface="Calibri"/>
              </a:rPr>
              <a:t>data</a:t>
            </a:r>
            <a:r>
              <a:rPr sz="2400" b="1" spc="-7" dirty="0">
                <a:solidFill>
                  <a:srgbClr val="D9D9D9"/>
                </a:solidFill>
                <a:latin typeface="Calibri"/>
                <a:cs typeface="Calibri"/>
              </a:rPr>
              <a:t> </a:t>
            </a:r>
            <a:r>
              <a:rPr sz="2400" b="1" spc="-13" dirty="0">
                <a:solidFill>
                  <a:srgbClr val="D9D9D9"/>
                </a:solidFill>
                <a:latin typeface="Calibri"/>
                <a:cs typeface="Calibri"/>
              </a:rPr>
              <a:t>retrieval!</a:t>
            </a:r>
            <a:endParaRPr sz="2400" dirty="0">
              <a:latin typeface="Calibri"/>
              <a:cs typeface="Calibri"/>
            </a:endParaRPr>
          </a:p>
        </p:txBody>
      </p:sp>
    </p:spTree>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78995" y="295538"/>
            <a:ext cx="6609221"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Arial MT"/>
                <a:cs typeface="Arial MT"/>
              </a:rPr>
              <a:t>Columnar</a:t>
            </a:r>
            <a:r>
              <a:rPr spc="-93" dirty="0">
                <a:solidFill>
                  <a:schemeClr val="bg1"/>
                </a:solidFill>
                <a:latin typeface="Arial MT"/>
                <a:cs typeface="Arial MT"/>
              </a:rPr>
              <a:t> </a:t>
            </a:r>
            <a:r>
              <a:rPr spc="-13" dirty="0">
                <a:solidFill>
                  <a:schemeClr val="bg1"/>
                </a:solidFill>
                <a:latin typeface="Arial MT"/>
                <a:cs typeface="Arial MT"/>
              </a:rPr>
              <a:t>databases</a:t>
            </a:r>
          </a:p>
        </p:txBody>
      </p:sp>
      <p:pic>
        <p:nvPicPr>
          <p:cNvPr id="3" name="object 3"/>
          <p:cNvPicPr/>
          <p:nvPr/>
        </p:nvPicPr>
        <p:blipFill>
          <a:blip r:embed="rId2" cstate="print"/>
          <a:stretch>
            <a:fillRect/>
          </a:stretch>
        </p:blipFill>
        <p:spPr>
          <a:xfrm>
            <a:off x="2946400" y="1574800"/>
            <a:ext cx="4720336" cy="1377696"/>
          </a:xfrm>
          <a:prstGeom prst="rect">
            <a:avLst/>
          </a:prstGeom>
        </p:spPr>
      </p:pic>
      <p:sp>
        <p:nvSpPr>
          <p:cNvPr id="4" name="object 4"/>
          <p:cNvSpPr txBox="1"/>
          <p:nvPr/>
        </p:nvSpPr>
        <p:spPr>
          <a:xfrm>
            <a:off x="1472185" y="3697223"/>
            <a:ext cx="4218940" cy="287258"/>
          </a:xfrm>
          <a:prstGeom prst="rect">
            <a:avLst/>
          </a:prstGeom>
          <a:ln w="25907">
            <a:solidFill>
              <a:srgbClr val="008FBB"/>
            </a:solidFill>
          </a:ln>
        </p:spPr>
        <p:txBody>
          <a:bodyPr vert="horz" wrap="square" lIns="0" tIns="40640" rIns="0" bIns="0" rtlCol="0">
            <a:spAutoFit/>
          </a:bodyPr>
          <a:lstStyle/>
          <a:p>
            <a:pPr marL="129537">
              <a:spcBef>
                <a:spcPts val="320"/>
              </a:spcBef>
            </a:pPr>
            <a:r>
              <a:rPr sz="1600" dirty="0">
                <a:solidFill>
                  <a:srgbClr val="F1F1F1"/>
                </a:solidFill>
                <a:latin typeface="Courier New"/>
                <a:cs typeface="Courier New"/>
              </a:rPr>
              <a:t>P0494,</a:t>
            </a:r>
            <a:r>
              <a:rPr sz="1600" spc="-53" dirty="0">
                <a:solidFill>
                  <a:srgbClr val="F1F1F1"/>
                </a:solidFill>
                <a:latin typeface="Courier New"/>
                <a:cs typeface="Courier New"/>
              </a:rPr>
              <a:t> </a:t>
            </a:r>
            <a:r>
              <a:rPr sz="1600" dirty="0">
                <a:solidFill>
                  <a:srgbClr val="F1F1F1"/>
                </a:solidFill>
                <a:latin typeface="Courier New"/>
                <a:cs typeface="Courier New"/>
              </a:rPr>
              <a:t>P0221,</a:t>
            </a:r>
            <a:r>
              <a:rPr sz="1600" spc="-53" dirty="0">
                <a:solidFill>
                  <a:srgbClr val="F1F1F1"/>
                </a:solidFill>
                <a:latin typeface="Courier New"/>
                <a:cs typeface="Courier New"/>
              </a:rPr>
              <a:t> </a:t>
            </a:r>
            <a:r>
              <a:rPr sz="1600" dirty="0">
                <a:solidFill>
                  <a:srgbClr val="F1F1F1"/>
                </a:solidFill>
                <a:latin typeface="Courier New"/>
                <a:cs typeface="Courier New"/>
              </a:rPr>
              <a:t>P0625,</a:t>
            </a:r>
            <a:r>
              <a:rPr sz="1600" spc="-53" dirty="0">
                <a:solidFill>
                  <a:srgbClr val="F1F1F1"/>
                </a:solidFill>
                <a:latin typeface="Courier New"/>
                <a:cs typeface="Courier New"/>
              </a:rPr>
              <a:t> </a:t>
            </a:r>
            <a:r>
              <a:rPr sz="1600" dirty="0">
                <a:solidFill>
                  <a:srgbClr val="F1F1F1"/>
                </a:solidFill>
                <a:latin typeface="Courier New"/>
                <a:cs typeface="Courier New"/>
              </a:rPr>
              <a:t>P0431,</a:t>
            </a:r>
            <a:r>
              <a:rPr sz="1600" spc="-47" dirty="0">
                <a:solidFill>
                  <a:srgbClr val="F1F1F1"/>
                </a:solidFill>
                <a:latin typeface="Courier New"/>
                <a:cs typeface="Courier New"/>
              </a:rPr>
              <a:t> </a:t>
            </a:r>
            <a:r>
              <a:rPr sz="1600" spc="-13" dirty="0">
                <a:solidFill>
                  <a:srgbClr val="F1F1F1"/>
                </a:solidFill>
                <a:latin typeface="Courier New"/>
                <a:cs typeface="Courier New"/>
              </a:rPr>
              <a:t>P0058</a:t>
            </a:r>
            <a:endParaRPr sz="1600">
              <a:latin typeface="Courier New"/>
              <a:cs typeface="Courier New"/>
            </a:endParaRPr>
          </a:p>
        </p:txBody>
      </p:sp>
      <p:sp>
        <p:nvSpPr>
          <p:cNvPr id="5" name="object 5"/>
          <p:cNvSpPr txBox="1"/>
          <p:nvPr/>
        </p:nvSpPr>
        <p:spPr>
          <a:xfrm>
            <a:off x="1340103" y="3105911"/>
            <a:ext cx="5328072" cy="1343958"/>
          </a:xfrm>
          <a:prstGeom prst="rect">
            <a:avLst/>
          </a:prstGeom>
          <a:ln w="25907">
            <a:solidFill>
              <a:srgbClr val="008FBB"/>
            </a:solidFill>
          </a:ln>
        </p:spPr>
        <p:txBody>
          <a:bodyPr vert="horz" wrap="square" lIns="0" tIns="203200" rIns="0" bIns="0" rtlCol="0">
            <a:spAutoFit/>
          </a:bodyPr>
          <a:lstStyle/>
          <a:p>
            <a:pPr marL="261613">
              <a:spcBef>
                <a:spcPts val="1600"/>
              </a:spcBef>
            </a:pPr>
            <a:r>
              <a:rPr sz="1600" dirty="0">
                <a:solidFill>
                  <a:srgbClr val="F1F1F1"/>
                </a:solidFill>
                <a:latin typeface="Courier New"/>
                <a:cs typeface="Courier New"/>
              </a:rPr>
              <a:t>1,</a:t>
            </a:r>
            <a:r>
              <a:rPr sz="1600" spc="-13" dirty="0">
                <a:solidFill>
                  <a:srgbClr val="F1F1F1"/>
                </a:solidFill>
                <a:latin typeface="Courier New"/>
                <a:cs typeface="Courier New"/>
              </a:rPr>
              <a:t> </a:t>
            </a:r>
            <a:r>
              <a:rPr sz="1600" dirty="0">
                <a:solidFill>
                  <a:srgbClr val="F1F1F1"/>
                </a:solidFill>
                <a:latin typeface="Courier New"/>
                <a:cs typeface="Courier New"/>
              </a:rPr>
              <a:t>2,</a:t>
            </a:r>
            <a:r>
              <a:rPr sz="1600" spc="-13" dirty="0">
                <a:solidFill>
                  <a:srgbClr val="F1F1F1"/>
                </a:solidFill>
                <a:latin typeface="Courier New"/>
                <a:cs typeface="Courier New"/>
              </a:rPr>
              <a:t> </a:t>
            </a:r>
            <a:r>
              <a:rPr sz="1600" dirty="0">
                <a:solidFill>
                  <a:srgbClr val="F1F1F1"/>
                </a:solidFill>
                <a:latin typeface="Courier New"/>
                <a:cs typeface="Courier New"/>
              </a:rPr>
              <a:t>3, 4,</a:t>
            </a:r>
            <a:r>
              <a:rPr sz="1600" spc="-13" dirty="0">
                <a:solidFill>
                  <a:srgbClr val="F1F1F1"/>
                </a:solidFill>
                <a:latin typeface="Courier New"/>
                <a:cs typeface="Courier New"/>
              </a:rPr>
              <a:t> </a:t>
            </a:r>
            <a:r>
              <a:rPr sz="1600" spc="-67" dirty="0">
                <a:solidFill>
                  <a:srgbClr val="F1F1F1"/>
                </a:solidFill>
                <a:latin typeface="Courier New"/>
                <a:cs typeface="Courier New"/>
              </a:rPr>
              <a:t>5</a:t>
            </a:r>
            <a:endParaRPr sz="1600">
              <a:latin typeface="Courier New"/>
              <a:cs typeface="Courier New"/>
            </a:endParaRPr>
          </a:p>
          <a:p>
            <a:pPr>
              <a:lnSpc>
                <a:spcPct val="100000"/>
              </a:lnSpc>
            </a:pPr>
            <a:endParaRPr sz="1600">
              <a:latin typeface="Courier New"/>
              <a:cs typeface="Courier New"/>
            </a:endParaRPr>
          </a:p>
          <a:p>
            <a:pPr>
              <a:spcBef>
                <a:spcPts val="1167"/>
              </a:spcBef>
            </a:pPr>
            <a:endParaRPr sz="1600">
              <a:latin typeface="Courier New"/>
              <a:cs typeface="Courier New"/>
            </a:endParaRPr>
          </a:p>
          <a:p>
            <a:pPr marL="261613"/>
            <a:r>
              <a:rPr sz="1600" dirty="0">
                <a:solidFill>
                  <a:srgbClr val="F1F1F1"/>
                </a:solidFill>
                <a:latin typeface="Courier New"/>
                <a:cs typeface="Courier New"/>
              </a:rPr>
              <a:t>4,</a:t>
            </a:r>
            <a:r>
              <a:rPr sz="1600" spc="-13" dirty="0">
                <a:solidFill>
                  <a:srgbClr val="F1F1F1"/>
                </a:solidFill>
                <a:latin typeface="Courier New"/>
                <a:cs typeface="Courier New"/>
              </a:rPr>
              <a:t> </a:t>
            </a:r>
            <a:r>
              <a:rPr sz="1600" dirty="0">
                <a:solidFill>
                  <a:srgbClr val="F1F1F1"/>
                </a:solidFill>
                <a:latin typeface="Courier New"/>
                <a:cs typeface="Courier New"/>
              </a:rPr>
              <a:t>5,</a:t>
            </a:r>
            <a:r>
              <a:rPr sz="1600" spc="-13" dirty="0">
                <a:solidFill>
                  <a:srgbClr val="F1F1F1"/>
                </a:solidFill>
                <a:latin typeface="Courier New"/>
                <a:cs typeface="Courier New"/>
              </a:rPr>
              <a:t> </a:t>
            </a:r>
            <a:r>
              <a:rPr sz="1600" dirty="0">
                <a:solidFill>
                  <a:srgbClr val="F1F1F1"/>
                </a:solidFill>
                <a:latin typeface="Courier New"/>
                <a:cs typeface="Courier New"/>
              </a:rPr>
              <a:t>5, 8,</a:t>
            </a:r>
            <a:r>
              <a:rPr sz="1600" spc="-13" dirty="0">
                <a:solidFill>
                  <a:srgbClr val="F1F1F1"/>
                </a:solidFill>
                <a:latin typeface="Courier New"/>
                <a:cs typeface="Courier New"/>
              </a:rPr>
              <a:t> </a:t>
            </a:r>
            <a:r>
              <a:rPr sz="1600" spc="-67" dirty="0">
                <a:solidFill>
                  <a:srgbClr val="F1F1F1"/>
                </a:solidFill>
                <a:latin typeface="Courier New"/>
                <a:cs typeface="Courier New"/>
              </a:rPr>
              <a:t>5</a:t>
            </a:r>
            <a:endParaRPr sz="1600">
              <a:latin typeface="Courier New"/>
              <a:cs typeface="Courier New"/>
            </a:endParaRPr>
          </a:p>
        </p:txBody>
      </p:sp>
      <p:sp>
        <p:nvSpPr>
          <p:cNvPr id="6" name="object 6"/>
          <p:cNvSpPr txBox="1"/>
          <p:nvPr/>
        </p:nvSpPr>
        <p:spPr>
          <a:xfrm>
            <a:off x="1340103" y="4812793"/>
            <a:ext cx="5328072" cy="907300"/>
          </a:xfrm>
          <a:prstGeom prst="rect">
            <a:avLst/>
          </a:prstGeom>
          <a:ln w="25907">
            <a:solidFill>
              <a:srgbClr val="008FBB"/>
            </a:solidFill>
          </a:ln>
        </p:spPr>
        <p:txBody>
          <a:bodyPr vert="horz" wrap="square" lIns="0" tIns="15240" rIns="0" bIns="0" rtlCol="0">
            <a:spAutoFit/>
          </a:bodyPr>
          <a:lstStyle/>
          <a:p>
            <a:pPr marL="150703" marR="263307">
              <a:lnSpc>
                <a:spcPts val="3667"/>
              </a:lnSpc>
              <a:spcBef>
                <a:spcPts val="120"/>
              </a:spcBef>
            </a:pPr>
            <a:r>
              <a:rPr sz="1600" dirty="0">
                <a:solidFill>
                  <a:srgbClr val="F1F1F1"/>
                </a:solidFill>
                <a:latin typeface="Courier New"/>
                <a:cs typeface="Courier New"/>
              </a:rPr>
              <a:t>visa,</a:t>
            </a:r>
            <a:r>
              <a:rPr sz="1600" spc="-73" dirty="0">
                <a:solidFill>
                  <a:srgbClr val="F1F1F1"/>
                </a:solidFill>
                <a:latin typeface="Courier New"/>
                <a:cs typeface="Courier New"/>
              </a:rPr>
              <a:t> </a:t>
            </a:r>
            <a:r>
              <a:rPr sz="1600" dirty="0">
                <a:solidFill>
                  <a:srgbClr val="F1F1F1"/>
                </a:solidFill>
                <a:latin typeface="Courier New"/>
                <a:cs typeface="Courier New"/>
              </a:rPr>
              <a:t>visa,</a:t>
            </a:r>
            <a:r>
              <a:rPr sz="1600" spc="-60" dirty="0">
                <a:solidFill>
                  <a:srgbClr val="F1F1F1"/>
                </a:solidFill>
                <a:latin typeface="Courier New"/>
                <a:cs typeface="Courier New"/>
              </a:rPr>
              <a:t> </a:t>
            </a:r>
            <a:r>
              <a:rPr sz="1600" dirty="0">
                <a:solidFill>
                  <a:srgbClr val="F1F1F1"/>
                </a:solidFill>
                <a:latin typeface="Courier New"/>
                <a:cs typeface="Courier New"/>
              </a:rPr>
              <a:t>visa,</a:t>
            </a:r>
            <a:r>
              <a:rPr sz="1600" spc="-60" dirty="0">
                <a:solidFill>
                  <a:srgbClr val="F1F1F1"/>
                </a:solidFill>
                <a:latin typeface="Courier New"/>
                <a:cs typeface="Courier New"/>
              </a:rPr>
              <a:t> </a:t>
            </a:r>
            <a:r>
              <a:rPr sz="1600" dirty="0">
                <a:solidFill>
                  <a:srgbClr val="F1F1F1"/>
                </a:solidFill>
                <a:latin typeface="Courier New"/>
                <a:cs typeface="Courier New"/>
              </a:rPr>
              <a:t>mastercard,</a:t>
            </a:r>
            <a:r>
              <a:rPr sz="1600" spc="-27" dirty="0">
                <a:solidFill>
                  <a:srgbClr val="F1F1F1"/>
                </a:solidFill>
                <a:latin typeface="Courier New"/>
                <a:cs typeface="Courier New"/>
              </a:rPr>
              <a:t> </a:t>
            </a:r>
            <a:r>
              <a:rPr sz="1600" spc="-13" dirty="0">
                <a:solidFill>
                  <a:srgbClr val="F1F1F1"/>
                </a:solidFill>
                <a:latin typeface="Courier New"/>
                <a:cs typeface="Courier New"/>
              </a:rPr>
              <a:t>mastercard </a:t>
            </a:r>
            <a:r>
              <a:rPr sz="1600" dirty="0">
                <a:solidFill>
                  <a:srgbClr val="F1F1F1"/>
                </a:solidFill>
                <a:latin typeface="Courier New"/>
                <a:cs typeface="Courier New"/>
              </a:rPr>
              <a:t>18.29,</a:t>
            </a:r>
            <a:r>
              <a:rPr sz="1600" spc="-47" dirty="0">
                <a:solidFill>
                  <a:srgbClr val="F1F1F1"/>
                </a:solidFill>
                <a:latin typeface="Courier New"/>
                <a:cs typeface="Courier New"/>
              </a:rPr>
              <a:t> </a:t>
            </a:r>
            <a:r>
              <a:rPr sz="1600" dirty="0">
                <a:solidFill>
                  <a:srgbClr val="F1F1F1"/>
                </a:solidFill>
                <a:latin typeface="Courier New"/>
                <a:cs typeface="Courier New"/>
              </a:rPr>
              <a:t>1.49,</a:t>
            </a:r>
            <a:r>
              <a:rPr sz="1600" spc="-53" dirty="0">
                <a:solidFill>
                  <a:srgbClr val="F1F1F1"/>
                </a:solidFill>
                <a:latin typeface="Courier New"/>
                <a:cs typeface="Courier New"/>
              </a:rPr>
              <a:t> </a:t>
            </a:r>
            <a:r>
              <a:rPr sz="1600" dirty="0">
                <a:solidFill>
                  <a:srgbClr val="F1F1F1"/>
                </a:solidFill>
                <a:latin typeface="Courier New"/>
                <a:cs typeface="Courier New"/>
              </a:rPr>
              <a:t>5.89,</a:t>
            </a:r>
            <a:r>
              <a:rPr sz="1600" spc="-47" dirty="0">
                <a:solidFill>
                  <a:srgbClr val="F1F1F1"/>
                </a:solidFill>
                <a:latin typeface="Courier New"/>
                <a:cs typeface="Courier New"/>
              </a:rPr>
              <a:t> </a:t>
            </a:r>
            <a:r>
              <a:rPr sz="1600" dirty="0">
                <a:solidFill>
                  <a:srgbClr val="F1F1F1"/>
                </a:solidFill>
                <a:latin typeface="Courier New"/>
                <a:cs typeface="Courier New"/>
              </a:rPr>
              <a:t>11.59,</a:t>
            </a:r>
            <a:r>
              <a:rPr sz="1600" spc="-40" dirty="0">
                <a:solidFill>
                  <a:srgbClr val="F1F1F1"/>
                </a:solidFill>
                <a:latin typeface="Courier New"/>
                <a:cs typeface="Courier New"/>
              </a:rPr>
              <a:t> </a:t>
            </a:r>
            <a:r>
              <a:rPr sz="1600" spc="-13" dirty="0">
                <a:solidFill>
                  <a:srgbClr val="F1F1F1"/>
                </a:solidFill>
                <a:latin typeface="Courier New"/>
                <a:cs typeface="Courier New"/>
              </a:rPr>
              <a:t>12.39</a:t>
            </a:r>
            <a:endParaRPr sz="1600">
              <a:latin typeface="Courier New"/>
              <a:cs typeface="Courier New"/>
            </a:endParaRPr>
          </a:p>
        </p:txBody>
      </p:sp>
      <p:sp>
        <p:nvSpPr>
          <p:cNvPr id="7" name="object 7"/>
          <p:cNvSpPr txBox="1"/>
          <p:nvPr/>
        </p:nvSpPr>
        <p:spPr>
          <a:xfrm>
            <a:off x="7823200" y="2521711"/>
            <a:ext cx="3352800" cy="1142191"/>
          </a:xfrm>
          <a:prstGeom prst="rect">
            <a:avLst/>
          </a:prstGeom>
          <a:solidFill>
            <a:srgbClr val="EDEDED"/>
          </a:solidFill>
        </p:spPr>
        <p:txBody>
          <a:bodyPr vert="horz" wrap="square" lIns="0" tIns="155785" rIns="0" bIns="0" rtlCol="0">
            <a:spAutoFit/>
          </a:bodyPr>
          <a:lstStyle/>
          <a:p>
            <a:pPr>
              <a:spcBef>
                <a:spcPts val="1225"/>
              </a:spcBef>
            </a:pPr>
            <a:endParaRPr sz="1600">
              <a:latin typeface="Times New Roman"/>
              <a:cs typeface="Times New Roman"/>
            </a:endParaRPr>
          </a:p>
          <a:p>
            <a:pPr marL="1220861">
              <a:spcBef>
                <a:spcPts val="7"/>
              </a:spcBef>
            </a:pPr>
            <a:r>
              <a:rPr sz="1600" b="1" spc="-13" dirty="0">
                <a:solidFill>
                  <a:srgbClr val="CC3399"/>
                </a:solidFill>
                <a:latin typeface="Courier New"/>
                <a:cs typeface="Courier New"/>
              </a:rPr>
              <a:t>SELECT</a:t>
            </a:r>
            <a:endParaRPr sz="1600">
              <a:latin typeface="Courier New"/>
              <a:cs typeface="Courier New"/>
            </a:endParaRPr>
          </a:p>
          <a:p>
            <a:pPr marL="1220861"/>
            <a:r>
              <a:rPr sz="1600" spc="-13" dirty="0">
                <a:latin typeface="Courier New"/>
                <a:cs typeface="Courier New"/>
              </a:rPr>
              <a:t>product_id</a:t>
            </a:r>
            <a:endParaRPr sz="1600">
              <a:latin typeface="Courier New"/>
              <a:cs typeface="Courier New"/>
            </a:endParaRPr>
          </a:p>
          <a:p>
            <a:pPr marL="1220861"/>
            <a:r>
              <a:rPr sz="1600" b="1" dirty="0">
                <a:solidFill>
                  <a:srgbClr val="CC3399"/>
                </a:solidFill>
                <a:latin typeface="Courier New"/>
                <a:cs typeface="Courier New"/>
              </a:rPr>
              <a:t>FROM</a:t>
            </a:r>
            <a:r>
              <a:rPr sz="1600" b="1" spc="-33" dirty="0">
                <a:solidFill>
                  <a:srgbClr val="CC3399"/>
                </a:solidFill>
                <a:latin typeface="Courier New"/>
                <a:cs typeface="Courier New"/>
              </a:rPr>
              <a:t> </a:t>
            </a:r>
            <a:r>
              <a:rPr sz="1600" spc="-13" dirty="0">
                <a:latin typeface="Courier New"/>
                <a:cs typeface="Courier New"/>
              </a:rPr>
              <a:t>sales</a:t>
            </a:r>
            <a:endParaRPr sz="1600">
              <a:latin typeface="Courier New"/>
              <a:cs typeface="Courier New"/>
            </a:endParaRPr>
          </a:p>
        </p:txBody>
      </p:sp>
      <p:sp>
        <p:nvSpPr>
          <p:cNvPr id="8" name="object 8"/>
          <p:cNvSpPr txBox="1"/>
          <p:nvPr/>
        </p:nvSpPr>
        <p:spPr>
          <a:xfrm>
            <a:off x="7112000" y="4120896"/>
            <a:ext cx="4470400" cy="540319"/>
          </a:xfrm>
          <a:prstGeom prst="rect">
            <a:avLst/>
          </a:prstGeom>
          <a:solidFill>
            <a:srgbClr val="3B3B3B"/>
          </a:solidFill>
        </p:spPr>
        <p:txBody>
          <a:bodyPr vert="horz" wrap="square" lIns="0" tIns="169333" rIns="0" bIns="0" rtlCol="0">
            <a:spAutoFit/>
          </a:bodyPr>
          <a:lstStyle/>
          <a:p>
            <a:pPr marL="122764">
              <a:spcBef>
                <a:spcPts val="1333"/>
              </a:spcBef>
            </a:pPr>
            <a:r>
              <a:rPr sz="2400" b="1" dirty="0">
                <a:solidFill>
                  <a:srgbClr val="D9D9D9"/>
                </a:solidFill>
                <a:latin typeface="Calibri"/>
                <a:cs typeface="Calibri"/>
              </a:rPr>
              <a:t>Less</a:t>
            </a:r>
            <a:r>
              <a:rPr sz="2400" b="1" spc="-20" dirty="0">
                <a:solidFill>
                  <a:srgbClr val="D9D9D9"/>
                </a:solidFill>
                <a:latin typeface="Calibri"/>
                <a:cs typeface="Calibri"/>
              </a:rPr>
              <a:t> </a:t>
            </a:r>
            <a:r>
              <a:rPr sz="2400" b="1" dirty="0">
                <a:solidFill>
                  <a:srgbClr val="D9D9D9"/>
                </a:solidFill>
                <a:latin typeface="Calibri"/>
                <a:cs typeface="Calibri"/>
              </a:rPr>
              <a:t>data</a:t>
            </a:r>
            <a:r>
              <a:rPr sz="2400" b="1" spc="-27" dirty="0">
                <a:solidFill>
                  <a:srgbClr val="D9D9D9"/>
                </a:solidFill>
                <a:latin typeface="Calibri"/>
                <a:cs typeface="Calibri"/>
              </a:rPr>
              <a:t> </a:t>
            </a:r>
            <a:r>
              <a:rPr sz="2400" b="1" dirty="0">
                <a:solidFill>
                  <a:srgbClr val="D9D9D9"/>
                </a:solidFill>
                <a:latin typeface="Calibri"/>
                <a:cs typeface="Calibri"/>
              </a:rPr>
              <a:t>needs</a:t>
            </a:r>
            <a:r>
              <a:rPr sz="2400" b="1" spc="-60" dirty="0">
                <a:solidFill>
                  <a:srgbClr val="D9D9D9"/>
                </a:solidFill>
                <a:latin typeface="Calibri"/>
                <a:cs typeface="Calibri"/>
              </a:rPr>
              <a:t> </a:t>
            </a:r>
            <a:r>
              <a:rPr sz="2400" b="1" dirty="0">
                <a:solidFill>
                  <a:srgbClr val="D9D9D9"/>
                </a:solidFill>
                <a:latin typeface="Calibri"/>
                <a:cs typeface="Calibri"/>
              </a:rPr>
              <a:t>to</a:t>
            </a:r>
            <a:r>
              <a:rPr sz="2400" b="1" spc="-7" dirty="0">
                <a:solidFill>
                  <a:srgbClr val="D9D9D9"/>
                </a:solidFill>
                <a:latin typeface="Calibri"/>
                <a:cs typeface="Calibri"/>
              </a:rPr>
              <a:t> </a:t>
            </a:r>
            <a:r>
              <a:rPr sz="2400" b="1" dirty="0">
                <a:solidFill>
                  <a:srgbClr val="D9D9D9"/>
                </a:solidFill>
                <a:latin typeface="Calibri"/>
                <a:cs typeface="Calibri"/>
              </a:rPr>
              <a:t>be</a:t>
            </a:r>
            <a:r>
              <a:rPr sz="2400" b="1" spc="-13" dirty="0">
                <a:solidFill>
                  <a:srgbClr val="D9D9D9"/>
                </a:solidFill>
                <a:latin typeface="Calibri"/>
                <a:cs typeface="Calibri"/>
              </a:rPr>
              <a:t> processed!</a:t>
            </a:r>
            <a:endParaRPr sz="2400">
              <a:latin typeface="Calibri"/>
              <a:cs typeface="Calibri"/>
            </a:endParaRPr>
          </a:p>
        </p:txBody>
      </p:sp>
      <p:sp>
        <p:nvSpPr>
          <p:cNvPr id="9" name="object 9"/>
          <p:cNvSpPr txBox="1"/>
          <p:nvPr/>
        </p:nvSpPr>
        <p:spPr>
          <a:xfrm>
            <a:off x="7112000" y="4974336"/>
            <a:ext cx="4470400" cy="540319"/>
          </a:xfrm>
          <a:prstGeom prst="rect">
            <a:avLst/>
          </a:prstGeom>
          <a:solidFill>
            <a:srgbClr val="3B3B3B"/>
          </a:solidFill>
        </p:spPr>
        <p:txBody>
          <a:bodyPr vert="horz" wrap="square" lIns="0" tIns="169333" rIns="0" bIns="0" rtlCol="0">
            <a:spAutoFit/>
          </a:bodyPr>
          <a:lstStyle/>
          <a:p>
            <a:pPr marL="122764">
              <a:spcBef>
                <a:spcPts val="1333"/>
              </a:spcBef>
            </a:pPr>
            <a:r>
              <a:rPr sz="2400" b="1" dirty="0">
                <a:solidFill>
                  <a:srgbClr val="D9D9D9"/>
                </a:solidFill>
                <a:latin typeface="Calibri"/>
                <a:cs typeface="Calibri"/>
              </a:rPr>
              <a:t>Better</a:t>
            </a:r>
            <a:r>
              <a:rPr sz="2400" b="1" spc="-53" dirty="0">
                <a:solidFill>
                  <a:srgbClr val="D9D9D9"/>
                </a:solidFill>
                <a:latin typeface="Calibri"/>
                <a:cs typeface="Calibri"/>
              </a:rPr>
              <a:t> </a:t>
            </a:r>
            <a:r>
              <a:rPr sz="2400" b="1" dirty="0">
                <a:solidFill>
                  <a:srgbClr val="D9D9D9"/>
                </a:solidFill>
                <a:latin typeface="Calibri"/>
                <a:cs typeface="Calibri"/>
              </a:rPr>
              <a:t>compression,</a:t>
            </a:r>
            <a:r>
              <a:rPr sz="2400" b="1" spc="-40" dirty="0">
                <a:solidFill>
                  <a:srgbClr val="D9D9D9"/>
                </a:solidFill>
                <a:latin typeface="Calibri"/>
                <a:cs typeface="Calibri"/>
              </a:rPr>
              <a:t> </a:t>
            </a:r>
            <a:r>
              <a:rPr sz="2400" b="1" dirty="0">
                <a:solidFill>
                  <a:srgbClr val="D9D9D9"/>
                </a:solidFill>
                <a:latin typeface="Calibri"/>
                <a:cs typeface="Calibri"/>
              </a:rPr>
              <a:t>less</a:t>
            </a:r>
            <a:r>
              <a:rPr sz="2400" b="1" spc="-67" dirty="0">
                <a:solidFill>
                  <a:srgbClr val="D9D9D9"/>
                </a:solidFill>
                <a:latin typeface="Calibri"/>
                <a:cs typeface="Calibri"/>
              </a:rPr>
              <a:t> </a:t>
            </a:r>
            <a:r>
              <a:rPr sz="2400" b="1" spc="-13" dirty="0">
                <a:solidFill>
                  <a:srgbClr val="D9D9D9"/>
                </a:solidFill>
                <a:latin typeface="Calibri"/>
                <a:cs typeface="Calibri"/>
              </a:rPr>
              <a:t>storage</a:t>
            </a:r>
            <a:endParaRPr sz="2400">
              <a:latin typeface="Calibri"/>
              <a:cs typeface="Calibri"/>
            </a:endParaRPr>
          </a:p>
        </p:txBody>
      </p:sp>
    </p:spTree>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641600" y="1940559"/>
            <a:ext cx="2032000" cy="540319"/>
          </a:xfrm>
          <a:prstGeom prst="rect">
            <a:avLst/>
          </a:prstGeom>
          <a:solidFill>
            <a:srgbClr val="66BEFF">
              <a:alpha val="50195"/>
            </a:srgbClr>
          </a:solidFill>
        </p:spPr>
        <p:txBody>
          <a:bodyPr vert="horz" wrap="square" lIns="0" tIns="169333" rIns="0" bIns="0" rtlCol="0">
            <a:spAutoFit/>
          </a:bodyPr>
          <a:lstStyle/>
          <a:p>
            <a:pPr marL="121917">
              <a:spcBef>
                <a:spcPts val="1333"/>
              </a:spcBef>
            </a:pPr>
            <a:r>
              <a:rPr sz="2400" b="1" dirty="0">
                <a:solidFill>
                  <a:srgbClr val="D9D9D9"/>
                </a:solidFill>
                <a:latin typeface="Calibri"/>
                <a:cs typeface="Calibri"/>
              </a:rPr>
              <a:t>100</a:t>
            </a:r>
            <a:r>
              <a:rPr sz="2400" b="1" spc="-40" dirty="0">
                <a:solidFill>
                  <a:srgbClr val="D9D9D9"/>
                </a:solidFill>
                <a:latin typeface="Calibri"/>
                <a:cs typeface="Calibri"/>
              </a:rPr>
              <a:t> </a:t>
            </a:r>
            <a:r>
              <a:rPr sz="2400" b="1" spc="-13" dirty="0">
                <a:solidFill>
                  <a:srgbClr val="D9D9D9"/>
                </a:solidFill>
                <a:latin typeface="Calibri"/>
                <a:cs typeface="Calibri"/>
              </a:rPr>
              <a:t>columns</a:t>
            </a:r>
            <a:endParaRPr sz="2400">
              <a:latin typeface="Calibri"/>
              <a:cs typeface="Calibri"/>
            </a:endParaRPr>
          </a:p>
        </p:txBody>
      </p:sp>
      <p:sp>
        <p:nvSpPr>
          <p:cNvPr id="3" name="object 3"/>
          <p:cNvSpPr txBox="1">
            <a:spLocks noGrp="1"/>
          </p:cNvSpPr>
          <p:nvPr>
            <p:ph type="title"/>
          </p:nvPr>
        </p:nvSpPr>
        <p:spPr>
          <a:xfrm>
            <a:off x="3389543" y="563565"/>
            <a:ext cx="5784273" cy="695062"/>
          </a:xfrm>
          <a:prstGeom prst="rect">
            <a:avLst/>
          </a:prstGeom>
        </p:spPr>
        <p:txBody>
          <a:bodyPr vert="horz" wrap="square" lIns="0" tIns="17780" rIns="0" bIns="0" rtlCol="0" anchor="ctr">
            <a:spAutoFit/>
          </a:bodyPr>
          <a:lstStyle/>
          <a:p>
            <a:pPr marL="16933">
              <a:lnSpc>
                <a:spcPct val="100000"/>
              </a:lnSpc>
              <a:spcBef>
                <a:spcPts val="140"/>
              </a:spcBef>
            </a:pPr>
            <a:r>
              <a:rPr dirty="0">
                <a:solidFill>
                  <a:schemeClr val="bg1"/>
                </a:solidFill>
                <a:latin typeface="Arial MT"/>
                <a:cs typeface="Arial MT"/>
              </a:rPr>
              <a:t>Columnar</a:t>
            </a:r>
            <a:r>
              <a:rPr spc="-93" dirty="0">
                <a:solidFill>
                  <a:schemeClr val="bg1"/>
                </a:solidFill>
                <a:latin typeface="Arial MT"/>
                <a:cs typeface="Arial MT"/>
              </a:rPr>
              <a:t> </a:t>
            </a:r>
            <a:r>
              <a:rPr spc="-13" dirty="0">
                <a:solidFill>
                  <a:schemeClr val="bg1"/>
                </a:solidFill>
                <a:latin typeface="Arial MT"/>
                <a:cs typeface="Arial MT"/>
              </a:rPr>
              <a:t>databases</a:t>
            </a:r>
          </a:p>
        </p:txBody>
      </p:sp>
      <p:sp>
        <p:nvSpPr>
          <p:cNvPr id="4" name="object 4"/>
          <p:cNvSpPr txBox="1"/>
          <p:nvPr/>
        </p:nvSpPr>
        <p:spPr>
          <a:xfrm>
            <a:off x="1568703" y="2651761"/>
            <a:ext cx="4178300" cy="541174"/>
          </a:xfrm>
          <a:prstGeom prst="rect">
            <a:avLst/>
          </a:prstGeom>
          <a:solidFill>
            <a:srgbClr val="66BEFF">
              <a:alpha val="50195"/>
            </a:srgbClr>
          </a:solidFill>
        </p:spPr>
        <p:txBody>
          <a:bodyPr vert="horz" wrap="square" lIns="0" tIns="170180" rIns="0" bIns="0" rtlCol="0">
            <a:spAutoFit/>
          </a:bodyPr>
          <a:lstStyle/>
          <a:p>
            <a:pPr marL="121070">
              <a:spcBef>
                <a:spcPts val="1340"/>
              </a:spcBef>
            </a:pPr>
            <a:r>
              <a:rPr sz="2400" b="1" dirty="0">
                <a:solidFill>
                  <a:srgbClr val="D9D9D9"/>
                </a:solidFill>
                <a:latin typeface="Calibri"/>
                <a:cs typeface="Calibri"/>
              </a:rPr>
              <a:t>but</a:t>
            </a:r>
            <a:r>
              <a:rPr sz="2400" b="1" spc="-27" dirty="0">
                <a:solidFill>
                  <a:srgbClr val="D9D9D9"/>
                </a:solidFill>
                <a:latin typeface="Calibri"/>
                <a:cs typeface="Calibri"/>
              </a:rPr>
              <a:t> </a:t>
            </a:r>
            <a:r>
              <a:rPr sz="2400" b="1" dirty="0">
                <a:solidFill>
                  <a:srgbClr val="D9D9D9"/>
                </a:solidFill>
                <a:latin typeface="Calibri"/>
                <a:cs typeface="Calibri"/>
              </a:rPr>
              <a:t>only</a:t>
            </a:r>
            <a:r>
              <a:rPr sz="2400" b="1" spc="-33" dirty="0">
                <a:solidFill>
                  <a:srgbClr val="D9D9D9"/>
                </a:solidFill>
                <a:latin typeface="Calibri"/>
                <a:cs typeface="Calibri"/>
              </a:rPr>
              <a:t> </a:t>
            </a:r>
            <a:r>
              <a:rPr sz="2400" b="1" dirty="0">
                <a:solidFill>
                  <a:srgbClr val="D9D9D9"/>
                </a:solidFill>
                <a:latin typeface="Calibri"/>
                <a:cs typeface="Calibri"/>
              </a:rPr>
              <a:t>5</a:t>
            </a:r>
            <a:r>
              <a:rPr sz="2400" b="1" spc="-7" dirty="0">
                <a:solidFill>
                  <a:srgbClr val="D9D9D9"/>
                </a:solidFill>
                <a:latin typeface="Calibri"/>
                <a:cs typeface="Calibri"/>
              </a:rPr>
              <a:t> </a:t>
            </a:r>
            <a:r>
              <a:rPr sz="2400" b="1" dirty="0">
                <a:solidFill>
                  <a:srgbClr val="D9D9D9"/>
                </a:solidFill>
                <a:latin typeface="Calibri"/>
                <a:cs typeface="Calibri"/>
              </a:rPr>
              <a:t>columns</a:t>
            </a:r>
            <a:r>
              <a:rPr sz="2400" b="1" spc="-20" dirty="0">
                <a:solidFill>
                  <a:srgbClr val="D9D9D9"/>
                </a:solidFill>
                <a:latin typeface="Calibri"/>
                <a:cs typeface="Calibri"/>
              </a:rPr>
              <a:t> </a:t>
            </a:r>
            <a:r>
              <a:rPr sz="2400" b="1" dirty="0">
                <a:solidFill>
                  <a:srgbClr val="D9D9D9"/>
                </a:solidFill>
                <a:latin typeface="Calibri"/>
                <a:cs typeface="Calibri"/>
              </a:rPr>
              <a:t>are</a:t>
            </a:r>
            <a:r>
              <a:rPr sz="2400" b="1" spc="-53" dirty="0">
                <a:solidFill>
                  <a:srgbClr val="D9D9D9"/>
                </a:solidFill>
                <a:latin typeface="Calibri"/>
                <a:cs typeface="Calibri"/>
              </a:rPr>
              <a:t> </a:t>
            </a:r>
            <a:r>
              <a:rPr sz="2400" b="1" spc="-13" dirty="0">
                <a:solidFill>
                  <a:srgbClr val="D9D9D9"/>
                </a:solidFill>
                <a:latin typeface="Calibri"/>
                <a:cs typeface="Calibri"/>
              </a:rPr>
              <a:t>needed</a:t>
            </a:r>
            <a:endParaRPr sz="2400">
              <a:latin typeface="Calibri"/>
              <a:cs typeface="Calibri"/>
            </a:endParaRPr>
          </a:p>
        </p:txBody>
      </p:sp>
      <p:grpSp>
        <p:nvGrpSpPr>
          <p:cNvPr id="5" name="object 5"/>
          <p:cNvGrpSpPr/>
          <p:nvPr/>
        </p:nvGrpSpPr>
        <p:grpSpPr>
          <a:xfrm>
            <a:off x="6079745" y="2155951"/>
            <a:ext cx="1355513" cy="799253"/>
            <a:chOff x="4559808" y="1616963"/>
            <a:chExt cx="1016635" cy="599440"/>
          </a:xfrm>
        </p:grpSpPr>
        <p:sp>
          <p:nvSpPr>
            <p:cNvPr id="6" name="object 6"/>
            <p:cNvSpPr/>
            <p:nvPr/>
          </p:nvSpPr>
          <p:spPr>
            <a:xfrm>
              <a:off x="4572762" y="1629917"/>
              <a:ext cx="990600" cy="573405"/>
            </a:xfrm>
            <a:custGeom>
              <a:avLst/>
              <a:gdLst/>
              <a:ahLst/>
              <a:cxnLst/>
              <a:rect l="l" t="t" r="r" b="b"/>
              <a:pathLst>
                <a:path w="990600" h="573405">
                  <a:moveTo>
                    <a:pt x="704088" y="0"/>
                  </a:moveTo>
                  <a:lnTo>
                    <a:pt x="704088" y="143256"/>
                  </a:lnTo>
                  <a:lnTo>
                    <a:pt x="0" y="143256"/>
                  </a:lnTo>
                  <a:lnTo>
                    <a:pt x="0" y="429768"/>
                  </a:lnTo>
                  <a:lnTo>
                    <a:pt x="704088" y="429768"/>
                  </a:lnTo>
                  <a:lnTo>
                    <a:pt x="704088" y="573024"/>
                  </a:lnTo>
                  <a:lnTo>
                    <a:pt x="990600" y="286512"/>
                  </a:lnTo>
                  <a:lnTo>
                    <a:pt x="704088" y="0"/>
                  </a:lnTo>
                  <a:close/>
                </a:path>
              </a:pathLst>
            </a:custGeom>
            <a:solidFill>
              <a:srgbClr val="00C3FF"/>
            </a:solidFill>
          </p:spPr>
          <p:txBody>
            <a:bodyPr wrap="square" lIns="0" tIns="0" rIns="0" bIns="0" rtlCol="0"/>
            <a:lstStyle/>
            <a:p>
              <a:endParaRPr sz="2400"/>
            </a:p>
          </p:txBody>
        </p:sp>
        <p:sp>
          <p:nvSpPr>
            <p:cNvPr id="7" name="object 7"/>
            <p:cNvSpPr/>
            <p:nvPr/>
          </p:nvSpPr>
          <p:spPr>
            <a:xfrm>
              <a:off x="4572762" y="1629917"/>
              <a:ext cx="990600" cy="573405"/>
            </a:xfrm>
            <a:custGeom>
              <a:avLst/>
              <a:gdLst/>
              <a:ahLst/>
              <a:cxnLst/>
              <a:rect l="l" t="t" r="r" b="b"/>
              <a:pathLst>
                <a:path w="990600" h="573405">
                  <a:moveTo>
                    <a:pt x="0" y="143256"/>
                  </a:moveTo>
                  <a:lnTo>
                    <a:pt x="704088" y="143256"/>
                  </a:lnTo>
                  <a:lnTo>
                    <a:pt x="704088" y="0"/>
                  </a:lnTo>
                  <a:lnTo>
                    <a:pt x="990600" y="286512"/>
                  </a:lnTo>
                  <a:lnTo>
                    <a:pt x="704088" y="573024"/>
                  </a:lnTo>
                  <a:lnTo>
                    <a:pt x="704088" y="429768"/>
                  </a:lnTo>
                  <a:lnTo>
                    <a:pt x="0" y="429768"/>
                  </a:lnTo>
                  <a:lnTo>
                    <a:pt x="0" y="143256"/>
                  </a:lnTo>
                  <a:close/>
                </a:path>
              </a:pathLst>
            </a:custGeom>
            <a:ln w="25908">
              <a:solidFill>
                <a:srgbClr val="008FBB"/>
              </a:solidFill>
            </a:ln>
          </p:spPr>
          <p:txBody>
            <a:bodyPr wrap="square" lIns="0" tIns="0" rIns="0" bIns="0" rtlCol="0"/>
            <a:lstStyle/>
            <a:p>
              <a:endParaRPr sz="2400"/>
            </a:p>
          </p:txBody>
        </p:sp>
      </p:grpSp>
      <p:sp>
        <p:nvSpPr>
          <p:cNvPr id="8" name="object 8"/>
          <p:cNvSpPr txBox="1"/>
          <p:nvPr/>
        </p:nvSpPr>
        <p:spPr>
          <a:xfrm>
            <a:off x="7620000" y="2005584"/>
            <a:ext cx="3251200" cy="1080446"/>
          </a:xfrm>
          <a:prstGeom prst="rect">
            <a:avLst/>
          </a:prstGeom>
          <a:solidFill>
            <a:srgbClr val="0093FF">
              <a:alpha val="50195"/>
            </a:srgbClr>
          </a:solidFill>
        </p:spPr>
        <p:txBody>
          <a:bodyPr vert="horz" wrap="square" lIns="0" tIns="33867" rIns="0" bIns="0" rtlCol="0">
            <a:spAutoFit/>
          </a:bodyPr>
          <a:lstStyle/>
          <a:p>
            <a:pPr marL="122764" marR="224361">
              <a:lnSpc>
                <a:spcPts val="4320"/>
              </a:lnSpc>
              <a:spcBef>
                <a:spcPts val="267"/>
              </a:spcBef>
            </a:pPr>
            <a:r>
              <a:rPr sz="2400" b="1" dirty="0">
                <a:solidFill>
                  <a:srgbClr val="D9D9D9"/>
                </a:solidFill>
                <a:latin typeface="Calibri"/>
                <a:cs typeface="Calibri"/>
              </a:rPr>
              <a:t>5%</a:t>
            </a:r>
            <a:r>
              <a:rPr sz="2400" b="1" spc="-13" dirty="0">
                <a:solidFill>
                  <a:srgbClr val="D9D9D9"/>
                </a:solidFill>
                <a:latin typeface="Calibri"/>
                <a:cs typeface="Calibri"/>
              </a:rPr>
              <a:t> </a:t>
            </a:r>
            <a:r>
              <a:rPr sz="2400" b="1" dirty="0">
                <a:solidFill>
                  <a:srgbClr val="D9D9D9"/>
                </a:solidFill>
                <a:latin typeface="Calibri"/>
                <a:cs typeface="Calibri"/>
              </a:rPr>
              <a:t>of</a:t>
            </a:r>
            <a:r>
              <a:rPr sz="2400" b="1" spc="-20" dirty="0">
                <a:solidFill>
                  <a:srgbClr val="D9D9D9"/>
                </a:solidFill>
                <a:latin typeface="Calibri"/>
                <a:cs typeface="Calibri"/>
              </a:rPr>
              <a:t> </a:t>
            </a:r>
            <a:r>
              <a:rPr sz="2400" b="1" dirty="0">
                <a:solidFill>
                  <a:srgbClr val="D9D9D9"/>
                </a:solidFill>
                <a:latin typeface="Calibri"/>
                <a:cs typeface="Calibri"/>
              </a:rPr>
              <a:t>data</a:t>
            </a:r>
            <a:r>
              <a:rPr sz="2400" b="1" spc="-13" dirty="0">
                <a:solidFill>
                  <a:srgbClr val="D9D9D9"/>
                </a:solidFill>
                <a:latin typeface="Calibri"/>
                <a:cs typeface="Calibri"/>
              </a:rPr>
              <a:t> </a:t>
            </a:r>
            <a:r>
              <a:rPr sz="2400" b="1" dirty="0">
                <a:solidFill>
                  <a:srgbClr val="D9D9D9"/>
                </a:solidFill>
                <a:latin typeface="Calibri"/>
                <a:cs typeface="Calibri"/>
              </a:rPr>
              <a:t>needs</a:t>
            </a:r>
            <a:r>
              <a:rPr sz="2400" b="1" spc="-60" dirty="0">
                <a:solidFill>
                  <a:srgbClr val="D9D9D9"/>
                </a:solidFill>
                <a:latin typeface="Calibri"/>
                <a:cs typeface="Calibri"/>
              </a:rPr>
              <a:t> </a:t>
            </a:r>
            <a:r>
              <a:rPr sz="2400" b="1" dirty="0">
                <a:solidFill>
                  <a:srgbClr val="D9D9D9"/>
                </a:solidFill>
                <a:latin typeface="Calibri"/>
                <a:cs typeface="Calibri"/>
              </a:rPr>
              <a:t>to</a:t>
            </a:r>
            <a:r>
              <a:rPr sz="2400" b="1" spc="-13" dirty="0">
                <a:solidFill>
                  <a:srgbClr val="D9D9D9"/>
                </a:solidFill>
                <a:latin typeface="Calibri"/>
                <a:cs typeface="Calibri"/>
              </a:rPr>
              <a:t> </a:t>
            </a:r>
            <a:r>
              <a:rPr sz="2400" b="1" spc="-33" dirty="0">
                <a:solidFill>
                  <a:srgbClr val="D9D9D9"/>
                </a:solidFill>
                <a:latin typeface="Calibri"/>
                <a:cs typeface="Calibri"/>
              </a:rPr>
              <a:t>be </a:t>
            </a:r>
            <a:r>
              <a:rPr sz="2400" b="1" spc="-13" dirty="0">
                <a:solidFill>
                  <a:srgbClr val="D9D9D9"/>
                </a:solidFill>
                <a:latin typeface="Calibri"/>
                <a:cs typeface="Calibri"/>
              </a:rPr>
              <a:t>processed</a:t>
            </a:r>
            <a:endParaRPr sz="2400">
              <a:latin typeface="Calibri"/>
              <a:cs typeface="Calibri"/>
            </a:endParaRPr>
          </a:p>
        </p:txBody>
      </p:sp>
      <p:sp>
        <p:nvSpPr>
          <p:cNvPr id="9" name="object 9"/>
          <p:cNvSpPr txBox="1"/>
          <p:nvPr/>
        </p:nvSpPr>
        <p:spPr>
          <a:xfrm>
            <a:off x="2813303" y="4029591"/>
            <a:ext cx="6927427" cy="1248333"/>
          </a:xfrm>
          <a:prstGeom prst="rect">
            <a:avLst/>
          </a:prstGeom>
        </p:spPr>
        <p:txBody>
          <a:bodyPr vert="horz" wrap="square" lIns="0" tIns="220133" rIns="0" bIns="0" rtlCol="0">
            <a:spAutoFit/>
          </a:bodyPr>
          <a:lstStyle/>
          <a:p>
            <a:pPr marL="397923" indent="-380990">
              <a:spcBef>
                <a:spcPts val="1733"/>
              </a:spcBef>
              <a:buClr>
                <a:srgbClr val="99D3FF"/>
              </a:buClr>
              <a:buFont typeface="Wingdings"/>
              <a:buChar char=""/>
              <a:tabLst>
                <a:tab pos="397923" algn="l"/>
              </a:tabLst>
            </a:pPr>
            <a:r>
              <a:rPr sz="2667" b="1" dirty="0">
                <a:solidFill>
                  <a:srgbClr val="D9D9D9"/>
                </a:solidFill>
                <a:latin typeface="Calibri"/>
                <a:cs typeface="Calibri"/>
              </a:rPr>
              <a:t>Important</a:t>
            </a:r>
            <a:r>
              <a:rPr sz="2667" b="1" spc="-73" dirty="0">
                <a:solidFill>
                  <a:srgbClr val="D9D9D9"/>
                </a:solidFill>
                <a:latin typeface="Calibri"/>
                <a:cs typeface="Calibri"/>
              </a:rPr>
              <a:t> </a:t>
            </a:r>
            <a:r>
              <a:rPr sz="2667" b="1" dirty="0">
                <a:solidFill>
                  <a:srgbClr val="D9D9D9"/>
                </a:solidFill>
                <a:latin typeface="Calibri"/>
                <a:cs typeface="Calibri"/>
              </a:rPr>
              <a:t>factor</a:t>
            </a:r>
            <a:r>
              <a:rPr sz="2667" b="1" spc="-33" dirty="0">
                <a:solidFill>
                  <a:srgbClr val="D9D9D9"/>
                </a:solidFill>
                <a:latin typeface="Calibri"/>
                <a:cs typeface="Calibri"/>
              </a:rPr>
              <a:t> </a:t>
            </a:r>
            <a:r>
              <a:rPr sz="2667" b="1" dirty="0">
                <a:solidFill>
                  <a:srgbClr val="D9D9D9"/>
                </a:solidFill>
                <a:latin typeface="Calibri"/>
                <a:cs typeface="Calibri"/>
              </a:rPr>
              <a:t>in</a:t>
            </a:r>
            <a:r>
              <a:rPr sz="2667" b="1" spc="-33" dirty="0">
                <a:solidFill>
                  <a:srgbClr val="D9D9D9"/>
                </a:solidFill>
                <a:latin typeface="Calibri"/>
                <a:cs typeface="Calibri"/>
              </a:rPr>
              <a:t> </a:t>
            </a:r>
            <a:r>
              <a:rPr sz="2667" b="1" dirty="0">
                <a:solidFill>
                  <a:srgbClr val="D9D9D9"/>
                </a:solidFill>
                <a:latin typeface="Calibri"/>
                <a:cs typeface="Calibri"/>
              </a:rPr>
              <a:t>improving</a:t>
            </a:r>
            <a:r>
              <a:rPr sz="2667" b="1" spc="-47" dirty="0">
                <a:solidFill>
                  <a:srgbClr val="D9D9D9"/>
                </a:solidFill>
                <a:latin typeface="Calibri"/>
                <a:cs typeface="Calibri"/>
              </a:rPr>
              <a:t> </a:t>
            </a:r>
            <a:r>
              <a:rPr sz="2667" b="1" dirty="0">
                <a:solidFill>
                  <a:srgbClr val="D9D9D9"/>
                </a:solidFill>
                <a:latin typeface="Calibri"/>
                <a:cs typeface="Calibri"/>
              </a:rPr>
              <a:t>analytical</a:t>
            </a:r>
            <a:r>
              <a:rPr sz="2667" b="1" spc="-40" dirty="0">
                <a:solidFill>
                  <a:srgbClr val="D9D9D9"/>
                </a:solidFill>
                <a:latin typeface="Calibri"/>
                <a:cs typeface="Calibri"/>
              </a:rPr>
              <a:t> </a:t>
            </a:r>
            <a:r>
              <a:rPr sz="2667" b="1" spc="-13" dirty="0">
                <a:solidFill>
                  <a:srgbClr val="D9D9D9"/>
                </a:solidFill>
                <a:latin typeface="Calibri"/>
                <a:cs typeface="Calibri"/>
              </a:rPr>
              <a:t>query</a:t>
            </a:r>
            <a:endParaRPr sz="2667">
              <a:latin typeface="Calibri"/>
              <a:cs typeface="Calibri"/>
            </a:endParaRPr>
          </a:p>
          <a:p>
            <a:pPr marL="381837" algn="ctr">
              <a:spcBef>
                <a:spcPts val="1600"/>
              </a:spcBef>
            </a:pPr>
            <a:r>
              <a:rPr sz="2667" b="1" spc="-13" dirty="0">
                <a:solidFill>
                  <a:srgbClr val="D9D9D9"/>
                </a:solidFill>
                <a:latin typeface="Calibri"/>
                <a:cs typeface="Calibri"/>
              </a:rPr>
              <a:t>performance</a:t>
            </a:r>
            <a:endParaRPr sz="2667">
              <a:latin typeface="Calibri"/>
              <a:cs typeface="Calibri"/>
            </a:endParaRPr>
          </a:p>
        </p:txBody>
      </p:sp>
    </p:spTree>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06713" y="563565"/>
            <a:ext cx="3672583" cy="695062"/>
          </a:xfrm>
          <a:prstGeom prst="rect">
            <a:avLst/>
          </a:prstGeom>
        </p:spPr>
        <p:txBody>
          <a:bodyPr vert="horz" wrap="square" lIns="0" tIns="17780" rIns="0" bIns="0" rtlCol="0" anchor="ctr">
            <a:spAutoFit/>
          </a:bodyPr>
          <a:lstStyle/>
          <a:p>
            <a:pPr marL="16933">
              <a:lnSpc>
                <a:spcPct val="100000"/>
              </a:lnSpc>
              <a:spcBef>
                <a:spcPts val="140"/>
              </a:spcBef>
            </a:pPr>
            <a:r>
              <a:rPr spc="-13" dirty="0">
                <a:solidFill>
                  <a:schemeClr val="bg1"/>
                </a:solidFill>
                <a:latin typeface="Arial MT"/>
                <a:cs typeface="Arial MT"/>
              </a:rPr>
              <a:t>Guidelines</a:t>
            </a:r>
          </a:p>
        </p:txBody>
      </p:sp>
      <p:sp>
        <p:nvSpPr>
          <p:cNvPr id="3" name="object 3"/>
          <p:cNvSpPr txBox="1"/>
          <p:nvPr/>
        </p:nvSpPr>
        <p:spPr>
          <a:xfrm>
            <a:off x="3051725" y="2035048"/>
            <a:ext cx="7288107" cy="2946640"/>
          </a:xfrm>
          <a:prstGeom prst="rect">
            <a:avLst/>
          </a:prstGeom>
        </p:spPr>
        <p:txBody>
          <a:bodyPr vert="horz" wrap="square" lIns="0" tIns="17780" rIns="0" bIns="0" rtlCol="0">
            <a:spAutoFit/>
          </a:bodyPr>
          <a:lstStyle/>
          <a:p>
            <a:pPr marL="16933" marR="1471470">
              <a:spcBef>
                <a:spcPts val="140"/>
              </a:spcBef>
            </a:pPr>
            <a:r>
              <a:rPr sz="1867" dirty="0">
                <a:solidFill>
                  <a:srgbClr val="F1F1F1"/>
                </a:solidFill>
                <a:latin typeface="Calibri"/>
                <a:cs typeface="Calibri"/>
              </a:rPr>
              <a:t>index</a:t>
            </a:r>
            <a:r>
              <a:rPr sz="1867" spc="-47" dirty="0">
                <a:solidFill>
                  <a:srgbClr val="F1F1F1"/>
                </a:solidFill>
                <a:latin typeface="Calibri"/>
                <a:cs typeface="Calibri"/>
              </a:rPr>
              <a:t> </a:t>
            </a:r>
            <a:r>
              <a:rPr sz="1867" dirty="0">
                <a:solidFill>
                  <a:srgbClr val="F1F1F1"/>
                </a:solidFill>
                <a:latin typeface="Calibri"/>
                <a:cs typeface="Calibri"/>
              </a:rPr>
              <a:t>if</a:t>
            </a:r>
            <a:r>
              <a:rPr sz="1867" spc="-60" dirty="0">
                <a:solidFill>
                  <a:srgbClr val="F1F1F1"/>
                </a:solidFill>
                <a:latin typeface="Calibri"/>
                <a:cs typeface="Calibri"/>
              </a:rPr>
              <a:t> </a:t>
            </a:r>
            <a:r>
              <a:rPr sz="1867" dirty="0">
                <a:solidFill>
                  <a:srgbClr val="F1F1F1"/>
                </a:solidFill>
                <a:latin typeface="Calibri"/>
                <a:cs typeface="Calibri"/>
              </a:rPr>
              <a:t>you</a:t>
            </a:r>
            <a:r>
              <a:rPr sz="1867" spc="-60" dirty="0">
                <a:solidFill>
                  <a:srgbClr val="F1F1F1"/>
                </a:solidFill>
                <a:latin typeface="Calibri"/>
                <a:cs typeface="Calibri"/>
              </a:rPr>
              <a:t> </a:t>
            </a:r>
            <a:r>
              <a:rPr sz="1867" dirty="0">
                <a:solidFill>
                  <a:srgbClr val="F1F1F1"/>
                </a:solidFill>
                <a:latin typeface="Calibri"/>
                <a:cs typeface="Calibri"/>
              </a:rPr>
              <a:t>frequently</a:t>
            </a:r>
            <a:r>
              <a:rPr sz="1867" spc="-33" dirty="0">
                <a:solidFill>
                  <a:srgbClr val="F1F1F1"/>
                </a:solidFill>
                <a:latin typeface="Calibri"/>
                <a:cs typeface="Calibri"/>
              </a:rPr>
              <a:t> </a:t>
            </a:r>
            <a:r>
              <a:rPr sz="1867" dirty="0">
                <a:solidFill>
                  <a:srgbClr val="F1F1F1"/>
                </a:solidFill>
                <a:latin typeface="Calibri"/>
                <a:cs typeface="Calibri"/>
              </a:rPr>
              <a:t>want</a:t>
            </a:r>
            <a:r>
              <a:rPr sz="1867" spc="-47" dirty="0">
                <a:solidFill>
                  <a:srgbClr val="F1F1F1"/>
                </a:solidFill>
                <a:latin typeface="Calibri"/>
                <a:cs typeface="Calibri"/>
              </a:rPr>
              <a:t> </a:t>
            </a:r>
            <a:r>
              <a:rPr sz="1867" dirty="0">
                <a:solidFill>
                  <a:srgbClr val="F1F1F1"/>
                </a:solidFill>
                <a:latin typeface="Calibri"/>
                <a:cs typeface="Calibri"/>
              </a:rPr>
              <a:t>to</a:t>
            </a:r>
            <a:r>
              <a:rPr sz="1867" spc="-60" dirty="0">
                <a:solidFill>
                  <a:srgbClr val="F1F1F1"/>
                </a:solidFill>
                <a:latin typeface="Calibri"/>
                <a:cs typeface="Calibri"/>
              </a:rPr>
              <a:t> </a:t>
            </a:r>
            <a:r>
              <a:rPr sz="1867" dirty="0">
                <a:solidFill>
                  <a:srgbClr val="F1F1F1"/>
                </a:solidFill>
                <a:latin typeface="Calibri"/>
                <a:cs typeface="Calibri"/>
              </a:rPr>
              <a:t>retrieve</a:t>
            </a:r>
            <a:r>
              <a:rPr sz="1867" spc="-47" dirty="0">
                <a:solidFill>
                  <a:srgbClr val="F1F1F1"/>
                </a:solidFill>
                <a:latin typeface="Calibri"/>
                <a:cs typeface="Calibri"/>
              </a:rPr>
              <a:t> </a:t>
            </a:r>
            <a:r>
              <a:rPr sz="1867" dirty="0">
                <a:solidFill>
                  <a:srgbClr val="F1F1F1"/>
                </a:solidFill>
                <a:latin typeface="Calibri"/>
                <a:cs typeface="Calibri"/>
              </a:rPr>
              <a:t>less</a:t>
            </a:r>
            <a:r>
              <a:rPr sz="1867" spc="-53" dirty="0">
                <a:solidFill>
                  <a:srgbClr val="F1F1F1"/>
                </a:solidFill>
                <a:latin typeface="Calibri"/>
                <a:cs typeface="Calibri"/>
              </a:rPr>
              <a:t> </a:t>
            </a:r>
            <a:r>
              <a:rPr sz="1867" dirty="0">
                <a:solidFill>
                  <a:srgbClr val="F1F1F1"/>
                </a:solidFill>
                <a:latin typeface="Calibri"/>
                <a:cs typeface="Calibri"/>
              </a:rPr>
              <a:t>than</a:t>
            </a:r>
            <a:r>
              <a:rPr sz="1867" spc="-33" dirty="0">
                <a:solidFill>
                  <a:srgbClr val="F1F1F1"/>
                </a:solidFill>
                <a:latin typeface="Calibri"/>
                <a:cs typeface="Calibri"/>
              </a:rPr>
              <a:t> </a:t>
            </a:r>
            <a:r>
              <a:rPr sz="1867" dirty="0">
                <a:solidFill>
                  <a:srgbClr val="F1F1F1"/>
                </a:solidFill>
                <a:latin typeface="Calibri"/>
                <a:cs typeface="Calibri"/>
              </a:rPr>
              <a:t>about</a:t>
            </a:r>
            <a:r>
              <a:rPr sz="1867" spc="-53" dirty="0">
                <a:solidFill>
                  <a:srgbClr val="F1F1F1"/>
                </a:solidFill>
                <a:latin typeface="Calibri"/>
                <a:cs typeface="Calibri"/>
              </a:rPr>
              <a:t> </a:t>
            </a:r>
            <a:r>
              <a:rPr sz="1867" spc="-33" dirty="0">
                <a:solidFill>
                  <a:srgbClr val="F1F1F1"/>
                </a:solidFill>
                <a:latin typeface="Calibri"/>
                <a:cs typeface="Calibri"/>
              </a:rPr>
              <a:t>15% </a:t>
            </a:r>
            <a:r>
              <a:rPr sz="1867" dirty="0">
                <a:solidFill>
                  <a:srgbClr val="F1F1F1"/>
                </a:solidFill>
                <a:latin typeface="Calibri"/>
                <a:cs typeface="Calibri"/>
              </a:rPr>
              <a:t>of</a:t>
            </a:r>
            <a:r>
              <a:rPr sz="1867" spc="-33" dirty="0">
                <a:solidFill>
                  <a:srgbClr val="F1F1F1"/>
                </a:solidFill>
                <a:latin typeface="Calibri"/>
                <a:cs typeface="Calibri"/>
              </a:rPr>
              <a:t> </a:t>
            </a:r>
            <a:r>
              <a:rPr sz="1867" dirty="0">
                <a:solidFill>
                  <a:srgbClr val="F1F1F1"/>
                </a:solidFill>
                <a:latin typeface="Calibri"/>
                <a:cs typeface="Calibri"/>
              </a:rPr>
              <a:t>the</a:t>
            </a:r>
            <a:r>
              <a:rPr sz="1867" spc="-27" dirty="0">
                <a:solidFill>
                  <a:srgbClr val="F1F1F1"/>
                </a:solidFill>
                <a:latin typeface="Calibri"/>
                <a:cs typeface="Calibri"/>
              </a:rPr>
              <a:t> </a:t>
            </a:r>
            <a:r>
              <a:rPr sz="1867" dirty="0">
                <a:solidFill>
                  <a:srgbClr val="F1F1F1"/>
                </a:solidFill>
                <a:latin typeface="Calibri"/>
                <a:cs typeface="Calibri"/>
              </a:rPr>
              <a:t>rows</a:t>
            </a:r>
            <a:r>
              <a:rPr sz="1867" spc="-33" dirty="0">
                <a:solidFill>
                  <a:srgbClr val="F1F1F1"/>
                </a:solidFill>
                <a:latin typeface="Calibri"/>
                <a:cs typeface="Calibri"/>
              </a:rPr>
              <a:t> </a:t>
            </a:r>
            <a:r>
              <a:rPr sz="1867" dirty="0">
                <a:solidFill>
                  <a:srgbClr val="F1F1F1"/>
                </a:solidFill>
                <a:latin typeface="Calibri"/>
                <a:cs typeface="Calibri"/>
              </a:rPr>
              <a:t>in</a:t>
            </a:r>
            <a:r>
              <a:rPr sz="1867" spc="-33" dirty="0">
                <a:solidFill>
                  <a:srgbClr val="F1F1F1"/>
                </a:solidFill>
                <a:latin typeface="Calibri"/>
                <a:cs typeface="Calibri"/>
              </a:rPr>
              <a:t> </a:t>
            </a:r>
            <a:r>
              <a:rPr sz="1867" dirty="0">
                <a:solidFill>
                  <a:srgbClr val="F1F1F1"/>
                </a:solidFill>
                <a:latin typeface="Calibri"/>
                <a:cs typeface="Calibri"/>
              </a:rPr>
              <a:t>a</a:t>
            </a:r>
            <a:r>
              <a:rPr sz="1867" spc="-33" dirty="0">
                <a:solidFill>
                  <a:srgbClr val="F1F1F1"/>
                </a:solidFill>
                <a:latin typeface="Calibri"/>
                <a:cs typeface="Calibri"/>
              </a:rPr>
              <a:t> </a:t>
            </a:r>
            <a:r>
              <a:rPr sz="1867" dirty="0">
                <a:solidFill>
                  <a:srgbClr val="F1F1F1"/>
                </a:solidFill>
                <a:latin typeface="Calibri"/>
                <a:cs typeface="Calibri"/>
              </a:rPr>
              <a:t>large</a:t>
            </a:r>
            <a:r>
              <a:rPr sz="1867" spc="-20" dirty="0">
                <a:solidFill>
                  <a:srgbClr val="F1F1F1"/>
                </a:solidFill>
                <a:latin typeface="Calibri"/>
                <a:cs typeface="Calibri"/>
              </a:rPr>
              <a:t> </a:t>
            </a:r>
            <a:r>
              <a:rPr sz="1867" spc="-13" dirty="0">
                <a:solidFill>
                  <a:srgbClr val="F1F1F1"/>
                </a:solidFill>
                <a:latin typeface="Calibri"/>
                <a:cs typeface="Calibri"/>
              </a:rPr>
              <a:t>table</a:t>
            </a:r>
            <a:endParaRPr sz="1867">
              <a:latin typeface="Calibri"/>
              <a:cs typeface="Calibri"/>
            </a:endParaRPr>
          </a:p>
          <a:p>
            <a:pPr marL="16933" marR="1682285">
              <a:lnSpc>
                <a:spcPct val="186000"/>
              </a:lnSpc>
              <a:spcBef>
                <a:spcPts val="379"/>
              </a:spcBef>
            </a:pPr>
            <a:r>
              <a:rPr sz="1867" dirty="0">
                <a:solidFill>
                  <a:srgbClr val="F1F1F1"/>
                </a:solidFill>
                <a:latin typeface="Calibri"/>
                <a:cs typeface="Calibri"/>
              </a:rPr>
              <a:t>Index</a:t>
            </a:r>
            <a:r>
              <a:rPr sz="1867" spc="-33" dirty="0">
                <a:solidFill>
                  <a:srgbClr val="F1F1F1"/>
                </a:solidFill>
                <a:latin typeface="Calibri"/>
                <a:cs typeface="Calibri"/>
              </a:rPr>
              <a:t> </a:t>
            </a:r>
            <a:r>
              <a:rPr sz="1867" dirty="0">
                <a:solidFill>
                  <a:srgbClr val="F1F1F1"/>
                </a:solidFill>
                <a:latin typeface="Calibri"/>
                <a:cs typeface="Calibri"/>
              </a:rPr>
              <a:t>columns</a:t>
            </a:r>
            <a:r>
              <a:rPr sz="1867" spc="-40" dirty="0">
                <a:solidFill>
                  <a:srgbClr val="F1F1F1"/>
                </a:solidFill>
                <a:latin typeface="Calibri"/>
                <a:cs typeface="Calibri"/>
              </a:rPr>
              <a:t> </a:t>
            </a:r>
            <a:r>
              <a:rPr sz="1867" dirty="0">
                <a:solidFill>
                  <a:srgbClr val="F1F1F1"/>
                </a:solidFill>
                <a:latin typeface="Calibri"/>
                <a:cs typeface="Calibri"/>
              </a:rPr>
              <a:t>used</a:t>
            </a:r>
            <a:r>
              <a:rPr sz="1867" spc="-27" dirty="0">
                <a:solidFill>
                  <a:srgbClr val="F1F1F1"/>
                </a:solidFill>
                <a:latin typeface="Calibri"/>
                <a:cs typeface="Calibri"/>
              </a:rPr>
              <a:t> </a:t>
            </a:r>
            <a:r>
              <a:rPr sz="1867" dirty="0">
                <a:solidFill>
                  <a:srgbClr val="F1F1F1"/>
                </a:solidFill>
                <a:latin typeface="Calibri"/>
                <a:cs typeface="Calibri"/>
              </a:rPr>
              <a:t>for</a:t>
            </a:r>
            <a:r>
              <a:rPr sz="1867" spc="-80" dirty="0">
                <a:solidFill>
                  <a:srgbClr val="F1F1F1"/>
                </a:solidFill>
                <a:latin typeface="Calibri"/>
                <a:cs typeface="Calibri"/>
              </a:rPr>
              <a:t> </a:t>
            </a:r>
            <a:r>
              <a:rPr sz="1867" dirty="0">
                <a:solidFill>
                  <a:srgbClr val="F1F1F1"/>
                </a:solidFill>
                <a:latin typeface="Calibri"/>
                <a:cs typeface="Calibri"/>
              </a:rPr>
              <a:t>joins</a:t>
            </a:r>
            <a:r>
              <a:rPr sz="1867" spc="-47" dirty="0">
                <a:solidFill>
                  <a:srgbClr val="F1F1F1"/>
                </a:solidFill>
                <a:latin typeface="Calibri"/>
                <a:cs typeface="Calibri"/>
              </a:rPr>
              <a:t> </a:t>
            </a:r>
            <a:r>
              <a:rPr sz="1867" dirty="0">
                <a:solidFill>
                  <a:srgbClr val="F1F1F1"/>
                </a:solidFill>
                <a:latin typeface="Calibri"/>
                <a:cs typeface="Calibri"/>
              </a:rPr>
              <a:t>to</a:t>
            </a:r>
            <a:r>
              <a:rPr sz="1867" spc="-33" dirty="0">
                <a:solidFill>
                  <a:srgbClr val="F1F1F1"/>
                </a:solidFill>
                <a:latin typeface="Calibri"/>
                <a:cs typeface="Calibri"/>
              </a:rPr>
              <a:t> </a:t>
            </a:r>
            <a:r>
              <a:rPr sz="1867" dirty="0">
                <a:solidFill>
                  <a:srgbClr val="F1F1F1"/>
                </a:solidFill>
                <a:latin typeface="Calibri"/>
                <a:cs typeface="Calibri"/>
              </a:rPr>
              <a:t>improve</a:t>
            </a:r>
            <a:r>
              <a:rPr sz="1867" spc="-53" dirty="0">
                <a:solidFill>
                  <a:srgbClr val="F1F1F1"/>
                </a:solidFill>
                <a:latin typeface="Calibri"/>
                <a:cs typeface="Calibri"/>
              </a:rPr>
              <a:t> </a:t>
            </a:r>
            <a:r>
              <a:rPr sz="1867" dirty="0">
                <a:solidFill>
                  <a:srgbClr val="F1F1F1"/>
                </a:solidFill>
                <a:latin typeface="Calibri"/>
                <a:cs typeface="Calibri"/>
              </a:rPr>
              <a:t>join</a:t>
            </a:r>
            <a:r>
              <a:rPr sz="1867" spc="-53" dirty="0">
                <a:solidFill>
                  <a:srgbClr val="F1F1F1"/>
                </a:solidFill>
                <a:latin typeface="Calibri"/>
                <a:cs typeface="Calibri"/>
              </a:rPr>
              <a:t> </a:t>
            </a:r>
            <a:r>
              <a:rPr sz="1867" spc="-13" dirty="0">
                <a:solidFill>
                  <a:srgbClr val="F1F1F1"/>
                </a:solidFill>
                <a:latin typeface="Calibri"/>
                <a:cs typeface="Calibri"/>
              </a:rPr>
              <a:t>performance </a:t>
            </a:r>
            <a:r>
              <a:rPr sz="1867" dirty="0">
                <a:solidFill>
                  <a:srgbClr val="F1F1F1"/>
                </a:solidFill>
                <a:latin typeface="Calibri"/>
                <a:cs typeface="Calibri"/>
              </a:rPr>
              <a:t>Small</a:t>
            </a:r>
            <a:r>
              <a:rPr sz="1867" spc="-67" dirty="0">
                <a:solidFill>
                  <a:srgbClr val="F1F1F1"/>
                </a:solidFill>
                <a:latin typeface="Calibri"/>
                <a:cs typeface="Calibri"/>
              </a:rPr>
              <a:t> </a:t>
            </a:r>
            <a:r>
              <a:rPr sz="1867" dirty="0">
                <a:solidFill>
                  <a:srgbClr val="F1F1F1"/>
                </a:solidFill>
                <a:latin typeface="Calibri"/>
                <a:cs typeface="Calibri"/>
              </a:rPr>
              <a:t>tables</a:t>
            </a:r>
            <a:r>
              <a:rPr sz="1867" spc="-13" dirty="0">
                <a:solidFill>
                  <a:srgbClr val="F1F1F1"/>
                </a:solidFill>
                <a:latin typeface="Calibri"/>
                <a:cs typeface="Calibri"/>
              </a:rPr>
              <a:t> </a:t>
            </a:r>
            <a:r>
              <a:rPr sz="1867" dirty="0">
                <a:solidFill>
                  <a:srgbClr val="F1F1F1"/>
                </a:solidFill>
                <a:latin typeface="Calibri"/>
                <a:cs typeface="Calibri"/>
              </a:rPr>
              <a:t>do</a:t>
            </a:r>
            <a:r>
              <a:rPr sz="1867" spc="-40" dirty="0">
                <a:solidFill>
                  <a:srgbClr val="F1F1F1"/>
                </a:solidFill>
                <a:latin typeface="Calibri"/>
                <a:cs typeface="Calibri"/>
              </a:rPr>
              <a:t> </a:t>
            </a:r>
            <a:r>
              <a:rPr sz="1867" dirty="0">
                <a:solidFill>
                  <a:srgbClr val="F1F1F1"/>
                </a:solidFill>
                <a:latin typeface="Calibri"/>
                <a:cs typeface="Calibri"/>
              </a:rPr>
              <a:t>not</a:t>
            </a:r>
            <a:r>
              <a:rPr sz="1867" spc="-33" dirty="0">
                <a:solidFill>
                  <a:srgbClr val="F1F1F1"/>
                </a:solidFill>
                <a:latin typeface="Calibri"/>
                <a:cs typeface="Calibri"/>
              </a:rPr>
              <a:t> </a:t>
            </a:r>
            <a:r>
              <a:rPr sz="1867" dirty="0">
                <a:solidFill>
                  <a:srgbClr val="F1F1F1"/>
                </a:solidFill>
                <a:latin typeface="Calibri"/>
                <a:cs typeface="Calibri"/>
              </a:rPr>
              <a:t>require</a:t>
            </a:r>
            <a:r>
              <a:rPr sz="1867" spc="-33" dirty="0">
                <a:solidFill>
                  <a:srgbClr val="F1F1F1"/>
                </a:solidFill>
                <a:latin typeface="Calibri"/>
                <a:cs typeface="Calibri"/>
              </a:rPr>
              <a:t> </a:t>
            </a:r>
            <a:r>
              <a:rPr sz="1867" spc="-13" dirty="0">
                <a:solidFill>
                  <a:srgbClr val="F1F1F1"/>
                </a:solidFill>
                <a:latin typeface="Calibri"/>
                <a:cs typeface="Calibri"/>
              </a:rPr>
              <a:t>indexes</a:t>
            </a:r>
            <a:endParaRPr sz="1867">
              <a:latin typeface="Calibri"/>
              <a:cs typeface="Calibri"/>
            </a:endParaRPr>
          </a:p>
          <a:p>
            <a:pPr marL="47412">
              <a:spcBef>
                <a:spcPts val="1993"/>
              </a:spcBef>
            </a:pPr>
            <a:r>
              <a:rPr sz="1867" dirty="0">
                <a:solidFill>
                  <a:srgbClr val="F1F1F1"/>
                </a:solidFill>
                <a:latin typeface="Calibri"/>
                <a:cs typeface="Calibri"/>
              </a:rPr>
              <a:t>PK</a:t>
            </a:r>
            <a:r>
              <a:rPr sz="1867" spc="-53" dirty="0">
                <a:solidFill>
                  <a:srgbClr val="F1F1F1"/>
                </a:solidFill>
                <a:latin typeface="Calibri"/>
                <a:cs typeface="Calibri"/>
              </a:rPr>
              <a:t> </a:t>
            </a:r>
            <a:r>
              <a:rPr sz="1867" dirty="0">
                <a:solidFill>
                  <a:srgbClr val="F1F1F1"/>
                </a:solidFill>
                <a:latin typeface="Calibri"/>
                <a:cs typeface="Calibri"/>
              </a:rPr>
              <a:t>automatically</a:t>
            </a:r>
            <a:r>
              <a:rPr sz="1867" spc="-20" dirty="0">
                <a:solidFill>
                  <a:srgbClr val="F1F1F1"/>
                </a:solidFill>
                <a:latin typeface="Calibri"/>
                <a:cs typeface="Calibri"/>
              </a:rPr>
              <a:t> </a:t>
            </a:r>
            <a:r>
              <a:rPr sz="1867" dirty="0">
                <a:solidFill>
                  <a:srgbClr val="F1F1F1"/>
                </a:solidFill>
                <a:latin typeface="Calibri"/>
                <a:cs typeface="Calibri"/>
              </a:rPr>
              <a:t>per</a:t>
            </a:r>
            <a:r>
              <a:rPr sz="1867" spc="-47" dirty="0">
                <a:solidFill>
                  <a:srgbClr val="F1F1F1"/>
                </a:solidFill>
                <a:latin typeface="Calibri"/>
                <a:cs typeface="Calibri"/>
              </a:rPr>
              <a:t> </a:t>
            </a:r>
            <a:r>
              <a:rPr sz="1867" dirty="0">
                <a:solidFill>
                  <a:srgbClr val="F1F1F1"/>
                </a:solidFill>
                <a:latin typeface="Calibri"/>
                <a:cs typeface="Calibri"/>
              </a:rPr>
              <a:t>default</a:t>
            </a:r>
            <a:r>
              <a:rPr sz="1867" spc="-20" dirty="0">
                <a:solidFill>
                  <a:srgbClr val="F1F1F1"/>
                </a:solidFill>
                <a:latin typeface="Calibri"/>
                <a:cs typeface="Calibri"/>
              </a:rPr>
              <a:t> </a:t>
            </a:r>
            <a:r>
              <a:rPr sz="1867" dirty="0">
                <a:solidFill>
                  <a:srgbClr val="F1F1F1"/>
                </a:solidFill>
                <a:latin typeface="Calibri"/>
                <a:cs typeface="Calibri"/>
              </a:rPr>
              <a:t>has</a:t>
            </a:r>
            <a:r>
              <a:rPr sz="1867" spc="-53" dirty="0">
                <a:solidFill>
                  <a:srgbClr val="F1F1F1"/>
                </a:solidFill>
                <a:latin typeface="Calibri"/>
                <a:cs typeface="Calibri"/>
              </a:rPr>
              <a:t> </a:t>
            </a:r>
            <a:r>
              <a:rPr sz="1867" dirty="0">
                <a:solidFill>
                  <a:srgbClr val="F1F1F1"/>
                </a:solidFill>
                <a:latin typeface="Calibri"/>
                <a:cs typeface="Calibri"/>
              </a:rPr>
              <a:t>an</a:t>
            </a:r>
            <a:r>
              <a:rPr sz="1867" spc="-47" dirty="0">
                <a:solidFill>
                  <a:srgbClr val="F1F1F1"/>
                </a:solidFill>
                <a:latin typeface="Calibri"/>
                <a:cs typeface="Calibri"/>
              </a:rPr>
              <a:t> </a:t>
            </a:r>
            <a:r>
              <a:rPr sz="1867" spc="-27" dirty="0">
                <a:solidFill>
                  <a:srgbClr val="F1F1F1"/>
                </a:solidFill>
                <a:latin typeface="Calibri"/>
                <a:cs typeface="Calibri"/>
              </a:rPr>
              <a:t>index</a:t>
            </a:r>
            <a:endParaRPr sz="1867">
              <a:latin typeface="Calibri"/>
              <a:cs typeface="Calibri"/>
            </a:endParaRPr>
          </a:p>
          <a:p>
            <a:pPr marL="1657732" indent="-126997">
              <a:spcBef>
                <a:spcPts val="880"/>
              </a:spcBef>
              <a:buSzPct val="92857"/>
              <a:buChar char="•"/>
              <a:tabLst>
                <a:tab pos="1657732" algn="l"/>
              </a:tabLst>
            </a:pPr>
            <a:r>
              <a:rPr sz="1867" dirty="0">
                <a:solidFill>
                  <a:srgbClr val="F1F1F1"/>
                </a:solidFill>
                <a:latin typeface="Calibri"/>
                <a:cs typeface="Calibri"/>
              </a:rPr>
              <a:t>There</a:t>
            </a:r>
            <a:r>
              <a:rPr sz="1867" spc="-40" dirty="0">
                <a:solidFill>
                  <a:srgbClr val="F1F1F1"/>
                </a:solidFill>
                <a:latin typeface="Calibri"/>
                <a:cs typeface="Calibri"/>
              </a:rPr>
              <a:t> </a:t>
            </a:r>
            <a:r>
              <a:rPr sz="1867" dirty="0">
                <a:solidFill>
                  <a:srgbClr val="F1F1F1"/>
                </a:solidFill>
                <a:latin typeface="Calibri"/>
                <a:cs typeface="Calibri"/>
              </a:rPr>
              <a:t>is</a:t>
            </a:r>
            <a:r>
              <a:rPr sz="1867" spc="-33" dirty="0">
                <a:solidFill>
                  <a:srgbClr val="F1F1F1"/>
                </a:solidFill>
                <a:latin typeface="Calibri"/>
                <a:cs typeface="Calibri"/>
              </a:rPr>
              <a:t> </a:t>
            </a:r>
            <a:r>
              <a:rPr sz="1867" dirty="0">
                <a:solidFill>
                  <a:srgbClr val="F1F1F1"/>
                </a:solidFill>
                <a:latin typeface="Calibri"/>
                <a:cs typeface="Calibri"/>
              </a:rPr>
              <a:t>a</a:t>
            </a:r>
            <a:r>
              <a:rPr sz="1867" spc="-47" dirty="0">
                <a:solidFill>
                  <a:srgbClr val="F1F1F1"/>
                </a:solidFill>
                <a:latin typeface="Calibri"/>
                <a:cs typeface="Calibri"/>
              </a:rPr>
              <a:t> </a:t>
            </a:r>
            <a:r>
              <a:rPr sz="1867" dirty="0">
                <a:solidFill>
                  <a:srgbClr val="F1F1F1"/>
                </a:solidFill>
                <a:latin typeface="Calibri"/>
                <a:cs typeface="Calibri"/>
              </a:rPr>
              <a:t>wide</a:t>
            </a:r>
            <a:r>
              <a:rPr sz="1867" spc="-33" dirty="0">
                <a:solidFill>
                  <a:srgbClr val="F1F1F1"/>
                </a:solidFill>
                <a:latin typeface="Calibri"/>
                <a:cs typeface="Calibri"/>
              </a:rPr>
              <a:t> </a:t>
            </a:r>
            <a:r>
              <a:rPr sz="1867" dirty="0">
                <a:solidFill>
                  <a:srgbClr val="F1F1F1"/>
                </a:solidFill>
                <a:latin typeface="Calibri"/>
                <a:cs typeface="Calibri"/>
              </a:rPr>
              <a:t>range</a:t>
            </a:r>
            <a:r>
              <a:rPr sz="1867" spc="-33" dirty="0">
                <a:solidFill>
                  <a:srgbClr val="F1F1F1"/>
                </a:solidFill>
                <a:latin typeface="Calibri"/>
                <a:cs typeface="Calibri"/>
              </a:rPr>
              <a:t> </a:t>
            </a:r>
            <a:r>
              <a:rPr sz="1867" dirty="0">
                <a:solidFill>
                  <a:srgbClr val="F1F1F1"/>
                </a:solidFill>
                <a:latin typeface="Calibri"/>
                <a:cs typeface="Calibri"/>
              </a:rPr>
              <a:t>of</a:t>
            </a:r>
            <a:r>
              <a:rPr sz="1867" spc="-67" dirty="0">
                <a:solidFill>
                  <a:srgbClr val="F1F1F1"/>
                </a:solidFill>
                <a:latin typeface="Calibri"/>
                <a:cs typeface="Calibri"/>
              </a:rPr>
              <a:t> </a:t>
            </a:r>
            <a:r>
              <a:rPr sz="1867" dirty="0">
                <a:solidFill>
                  <a:srgbClr val="F1F1F1"/>
                </a:solidFill>
                <a:latin typeface="Calibri"/>
                <a:cs typeface="Calibri"/>
              </a:rPr>
              <a:t>values</a:t>
            </a:r>
            <a:r>
              <a:rPr sz="1867" spc="-13" dirty="0">
                <a:solidFill>
                  <a:srgbClr val="F1F1F1"/>
                </a:solidFill>
                <a:latin typeface="Calibri"/>
                <a:cs typeface="Calibri"/>
              </a:rPr>
              <a:t> </a:t>
            </a:r>
            <a:r>
              <a:rPr sz="1867" dirty="0">
                <a:solidFill>
                  <a:srgbClr val="F1F1F1"/>
                </a:solidFill>
                <a:latin typeface="Calibri"/>
                <a:cs typeface="Calibri"/>
              </a:rPr>
              <a:t>(good</a:t>
            </a:r>
            <a:r>
              <a:rPr sz="1867" spc="-53" dirty="0">
                <a:solidFill>
                  <a:srgbClr val="F1F1F1"/>
                </a:solidFill>
                <a:latin typeface="Calibri"/>
                <a:cs typeface="Calibri"/>
              </a:rPr>
              <a:t> </a:t>
            </a:r>
            <a:r>
              <a:rPr sz="1867" dirty="0">
                <a:solidFill>
                  <a:srgbClr val="F1F1F1"/>
                </a:solidFill>
                <a:latin typeface="Calibri"/>
                <a:cs typeface="Calibri"/>
              </a:rPr>
              <a:t>for</a:t>
            </a:r>
            <a:r>
              <a:rPr sz="1867" spc="-67" dirty="0">
                <a:solidFill>
                  <a:srgbClr val="F1F1F1"/>
                </a:solidFill>
                <a:latin typeface="Calibri"/>
                <a:cs typeface="Calibri"/>
              </a:rPr>
              <a:t> </a:t>
            </a:r>
            <a:r>
              <a:rPr sz="1867" dirty="0">
                <a:solidFill>
                  <a:srgbClr val="F1F1F1"/>
                </a:solidFill>
                <a:latin typeface="Calibri"/>
                <a:cs typeface="Calibri"/>
              </a:rPr>
              <a:t>regular</a:t>
            </a:r>
            <a:r>
              <a:rPr sz="1867" spc="-33" dirty="0">
                <a:solidFill>
                  <a:srgbClr val="F1F1F1"/>
                </a:solidFill>
                <a:latin typeface="Calibri"/>
                <a:cs typeface="Calibri"/>
              </a:rPr>
              <a:t> </a:t>
            </a:r>
            <a:r>
              <a:rPr sz="1867" spc="-13" dirty="0">
                <a:solidFill>
                  <a:srgbClr val="F1F1F1"/>
                </a:solidFill>
                <a:latin typeface="Calibri"/>
                <a:cs typeface="Calibri"/>
              </a:rPr>
              <a:t>indexes).</a:t>
            </a:r>
            <a:endParaRPr sz="1867">
              <a:latin typeface="Calibri"/>
              <a:cs typeface="Calibri"/>
            </a:endParaRPr>
          </a:p>
          <a:p>
            <a:pPr marL="1657732" indent="-126997">
              <a:buSzPct val="92857"/>
              <a:buChar char="•"/>
              <a:tabLst>
                <a:tab pos="1657732" algn="l"/>
              </a:tabLst>
            </a:pPr>
            <a:r>
              <a:rPr sz="1867" dirty="0">
                <a:solidFill>
                  <a:srgbClr val="F1F1F1"/>
                </a:solidFill>
                <a:latin typeface="Calibri"/>
                <a:cs typeface="Calibri"/>
              </a:rPr>
              <a:t>There</a:t>
            </a:r>
            <a:r>
              <a:rPr sz="1867" spc="-27" dirty="0">
                <a:solidFill>
                  <a:srgbClr val="F1F1F1"/>
                </a:solidFill>
                <a:latin typeface="Calibri"/>
                <a:cs typeface="Calibri"/>
              </a:rPr>
              <a:t> </a:t>
            </a:r>
            <a:r>
              <a:rPr sz="1867" dirty="0">
                <a:solidFill>
                  <a:srgbClr val="F1F1F1"/>
                </a:solidFill>
                <a:latin typeface="Calibri"/>
                <a:cs typeface="Calibri"/>
              </a:rPr>
              <a:t>is</a:t>
            </a:r>
            <a:r>
              <a:rPr sz="1867" spc="-33" dirty="0">
                <a:solidFill>
                  <a:srgbClr val="F1F1F1"/>
                </a:solidFill>
                <a:latin typeface="Calibri"/>
                <a:cs typeface="Calibri"/>
              </a:rPr>
              <a:t> </a:t>
            </a:r>
            <a:r>
              <a:rPr sz="1867" dirty="0">
                <a:solidFill>
                  <a:srgbClr val="F1F1F1"/>
                </a:solidFill>
                <a:latin typeface="Calibri"/>
                <a:cs typeface="Calibri"/>
              </a:rPr>
              <a:t>a</a:t>
            </a:r>
            <a:r>
              <a:rPr sz="1867" spc="-33" dirty="0">
                <a:solidFill>
                  <a:srgbClr val="F1F1F1"/>
                </a:solidFill>
                <a:latin typeface="Calibri"/>
                <a:cs typeface="Calibri"/>
              </a:rPr>
              <a:t> </a:t>
            </a:r>
            <a:r>
              <a:rPr sz="1867" dirty="0">
                <a:solidFill>
                  <a:srgbClr val="F1F1F1"/>
                </a:solidFill>
                <a:latin typeface="Calibri"/>
                <a:cs typeface="Calibri"/>
              </a:rPr>
              <a:t>small</a:t>
            </a:r>
            <a:r>
              <a:rPr sz="1867" spc="-40" dirty="0">
                <a:solidFill>
                  <a:srgbClr val="F1F1F1"/>
                </a:solidFill>
                <a:latin typeface="Calibri"/>
                <a:cs typeface="Calibri"/>
              </a:rPr>
              <a:t> </a:t>
            </a:r>
            <a:r>
              <a:rPr sz="1867" dirty="0">
                <a:solidFill>
                  <a:srgbClr val="F1F1F1"/>
                </a:solidFill>
                <a:latin typeface="Calibri"/>
                <a:cs typeface="Calibri"/>
              </a:rPr>
              <a:t>range</a:t>
            </a:r>
            <a:r>
              <a:rPr sz="1867" spc="-27" dirty="0">
                <a:solidFill>
                  <a:srgbClr val="F1F1F1"/>
                </a:solidFill>
                <a:latin typeface="Calibri"/>
                <a:cs typeface="Calibri"/>
              </a:rPr>
              <a:t> </a:t>
            </a:r>
            <a:r>
              <a:rPr sz="1867" dirty="0">
                <a:solidFill>
                  <a:srgbClr val="F1F1F1"/>
                </a:solidFill>
                <a:latin typeface="Calibri"/>
                <a:cs typeface="Calibri"/>
              </a:rPr>
              <a:t>of</a:t>
            </a:r>
            <a:r>
              <a:rPr sz="1867" spc="-47" dirty="0">
                <a:solidFill>
                  <a:srgbClr val="F1F1F1"/>
                </a:solidFill>
                <a:latin typeface="Calibri"/>
                <a:cs typeface="Calibri"/>
              </a:rPr>
              <a:t> </a:t>
            </a:r>
            <a:r>
              <a:rPr sz="1867" dirty="0">
                <a:solidFill>
                  <a:srgbClr val="F1F1F1"/>
                </a:solidFill>
                <a:latin typeface="Calibri"/>
                <a:cs typeface="Calibri"/>
              </a:rPr>
              <a:t>values</a:t>
            </a:r>
            <a:r>
              <a:rPr sz="1867" spc="-20" dirty="0">
                <a:solidFill>
                  <a:srgbClr val="F1F1F1"/>
                </a:solidFill>
                <a:latin typeface="Calibri"/>
                <a:cs typeface="Calibri"/>
              </a:rPr>
              <a:t> </a:t>
            </a:r>
            <a:r>
              <a:rPr sz="1867" dirty="0">
                <a:solidFill>
                  <a:srgbClr val="F1F1F1"/>
                </a:solidFill>
                <a:latin typeface="Calibri"/>
                <a:cs typeface="Calibri"/>
              </a:rPr>
              <a:t>(good</a:t>
            </a:r>
            <a:r>
              <a:rPr sz="1867" spc="-47" dirty="0">
                <a:solidFill>
                  <a:srgbClr val="F1F1F1"/>
                </a:solidFill>
                <a:latin typeface="Calibri"/>
                <a:cs typeface="Calibri"/>
              </a:rPr>
              <a:t> </a:t>
            </a:r>
            <a:r>
              <a:rPr sz="1867" dirty="0">
                <a:solidFill>
                  <a:srgbClr val="F1F1F1"/>
                </a:solidFill>
                <a:latin typeface="Calibri"/>
                <a:cs typeface="Calibri"/>
              </a:rPr>
              <a:t>for</a:t>
            </a:r>
            <a:r>
              <a:rPr sz="1867" spc="-47" dirty="0">
                <a:solidFill>
                  <a:srgbClr val="F1F1F1"/>
                </a:solidFill>
                <a:latin typeface="Calibri"/>
                <a:cs typeface="Calibri"/>
              </a:rPr>
              <a:t> </a:t>
            </a:r>
            <a:r>
              <a:rPr sz="1867" dirty="0">
                <a:solidFill>
                  <a:srgbClr val="F1F1F1"/>
                </a:solidFill>
                <a:latin typeface="Calibri"/>
                <a:cs typeface="Calibri"/>
              </a:rPr>
              <a:t>bitmap</a:t>
            </a:r>
            <a:r>
              <a:rPr sz="1867" spc="-27" dirty="0">
                <a:solidFill>
                  <a:srgbClr val="F1F1F1"/>
                </a:solidFill>
                <a:latin typeface="Calibri"/>
                <a:cs typeface="Calibri"/>
              </a:rPr>
              <a:t> </a:t>
            </a:r>
            <a:r>
              <a:rPr sz="1867" spc="-13" dirty="0">
                <a:solidFill>
                  <a:srgbClr val="F1F1F1"/>
                </a:solidFill>
                <a:latin typeface="Calibri"/>
                <a:cs typeface="Calibri"/>
              </a:rPr>
              <a:t>indexes).</a:t>
            </a:r>
            <a:endParaRPr sz="1867">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3271</TotalTime>
  <Words>13463</Words>
  <Application>Microsoft Office PowerPoint</Application>
  <PresentationFormat>Widescreen</PresentationFormat>
  <Paragraphs>5346</Paragraphs>
  <Slides>287</Slides>
  <Notes>1</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287</vt:i4>
      </vt:variant>
    </vt:vector>
  </HeadingPairs>
  <TitlesOfParts>
    <vt:vector size="304" baseType="lpstr">
      <vt:lpstr>Arial</vt:lpstr>
      <vt:lpstr>Arial MT</vt:lpstr>
      <vt:lpstr>Bahnschrift</vt:lpstr>
      <vt:lpstr>BerkeleyStd-Medium</vt:lpstr>
      <vt:lpstr>Calibri</vt:lpstr>
      <vt:lpstr>Calibri Light</vt:lpstr>
      <vt:lpstr>Cambria Math</vt:lpstr>
      <vt:lpstr>Courier New</vt:lpstr>
      <vt:lpstr>LetterGothicStd</vt:lpstr>
      <vt:lpstr>Segoe UI Emoji</vt:lpstr>
      <vt:lpstr>Segoe UI Light</vt:lpstr>
      <vt:lpstr>Symbol</vt:lpstr>
      <vt:lpstr>Times New Roman</vt:lpstr>
      <vt:lpstr>Trebuchet MS</vt:lpstr>
      <vt:lpstr>Wingdings</vt:lpstr>
      <vt:lpstr>ZapfDingbatsStd</vt:lpstr>
      <vt:lpstr>Office Theme</vt:lpstr>
      <vt:lpstr>DWH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Two purposes</vt:lpstr>
      <vt:lpstr>Two requirements</vt:lpstr>
      <vt:lpstr>PowerPoint Presentation</vt:lpstr>
      <vt:lpstr>Data warehouse:</vt:lpstr>
      <vt:lpstr>Understanding a data warehouse</vt:lpstr>
      <vt:lpstr>Extract, Transform, Load</vt:lpstr>
      <vt:lpstr>Goals of a data warehouse</vt:lpstr>
      <vt:lpstr>Understanding a data warehouse</vt:lpstr>
      <vt:lpstr>We create a data warehouse for Business Intelligence…</vt:lpstr>
      <vt:lpstr>PowerPoint Presentation</vt:lpstr>
      <vt:lpstr>PowerPoint Presentation</vt:lpstr>
      <vt:lpstr>PowerPoint Presentation</vt:lpstr>
      <vt:lpstr>PowerPoint Presentation</vt:lpstr>
      <vt:lpstr>The layers of a Data Warehouse</vt:lpstr>
      <vt:lpstr>Data Warehouse Layers</vt:lpstr>
      <vt:lpstr>Data Warehouse Layers</vt:lpstr>
      <vt:lpstr>Data Warehouse Layers</vt:lpstr>
      <vt:lpstr>Data Warehouse Layers</vt:lpstr>
      <vt:lpstr>Data Warehouse Layers</vt:lpstr>
      <vt:lpstr>Data Warehouse Layers</vt:lpstr>
      <vt:lpstr>Data Warehouse Layers Data Warehouse</vt:lpstr>
      <vt:lpstr>The Staging Area</vt:lpstr>
      <vt:lpstr>Data Warehouse Layers</vt:lpstr>
      <vt:lpstr>Data Warehouse Layers</vt:lpstr>
      <vt:lpstr>Data Warehouse Layers</vt:lpstr>
      <vt:lpstr>Data Warehouse Layers</vt:lpstr>
      <vt:lpstr>Data Warehouse Layers</vt:lpstr>
      <vt:lpstr>Data Warehouse Layers</vt:lpstr>
      <vt:lpstr>The Staging Layer</vt:lpstr>
      <vt:lpstr>Data Marts</vt:lpstr>
      <vt:lpstr>Data Warehouse Layers</vt:lpstr>
      <vt:lpstr>Data Warehouse Layers</vt:lpstr>
      <vt:lpstr>Data Warehouse Layers</vt:lpstr>
      <vt:lpstr>Data Warehouse Layers</vt:lpstr>
      <vt:lpstr>Data Marts</vt:lpstr>
      <vt:lpstr>Relational Database</vt:lpstr>
      <vt:lpstr>PowerPoint Presentation</vt:lpstr>
      <vt:lpstr>PowerPoint Presentation</vt:lpstr>
      <vt:lpstr>Foreign key</vt:lpstr>
      <vt:lpstr>Foreign key</vt:lpstr>
      <vt:lpstr>Foreign key</vt:lpstr>
      <vt:lpstr>PowerPoint Presentation</vt:lpstr>
      <vt:lpstr>PowerPoint Presentation</vt:lpstr>
      <vt:lpstr>PowerPoint Presentation</vt:lpstr>
      <vt:lpstr>PowerPoint Presentation</vt:lpstr>
      <vt:lpstr>PowerPoint Presentation</vt:lpstr>
      <vt:lpstr>Products in RDMS context</vt:lpstr>
      <vt:lpstr>OLAP Cubes</vt:lpstr>
      <vt:lpstr>PowerPoint Presentation</vt:lpstr>
      <vt:lpstr>PowerPoint Presentation</vt:lpstr>
      <vt:lpstr>PowerPoint Presentation</vt:lpstr>
      <vt:lpstr>Benefits</vt:lpstr>
      <vt:lpstr>Recommendation</vt:lpstr>
      <vt:lpstr>Alternatives</vt:lpstr>
      <vt:lpstr>ODS (Operational Data Storage)</vt:lpstr>
      <vt:lpstr>PowerPoint Presentation</vt:lpstr>
      <vt:lpstr>ODS</vt:lpstr>
      <vt:lpstr>PowerPoint Presentation</vt:lpstr>
      <vt:lpstr>ODS</vt:lpstr>
      <vt:lpstr>ODS - Parallel</vt:lpstr>
      <vt:lpstr>ODS - Sequential</vt:lpstr>
      <vt:lpstr>ODS</vt:lpstr>
      <vt:lpstr>Let us Deliberate and Summarize </vt:lpstr>
      <vt:lpstr>Data Warehouse Layers</vt:lpstr>
      <vt:lpstr>The different layers</vt:lpstr>
      <vt:lpstr>What is dimensional modeling?</vt:lpstr>
      <vt:lpstr>Dimensional Modelling</vt:lpstr>
      <vt:lpstr>PowerPoint Presentation</vt:lpstr>
      <vt:lpstr>Dimensional Modelling</vt:lpstr>
      <vt:lpstr>Dimensional Modelling</vt:lpstr>
      <vt:lpstr>Star Schemas Versus OLAP Cubes</vt:lpstr>
      <vt:lpstr>Star Schemas Versus OLAP Cubes</vt:lpstr>
      <vt:lpstr>Star Schemas Versus OLAP Cubes</vt:lpstr>
      <vt:lpstr>Star Schemas Versus OLAP Cubes</vt:lpstr>
      <vt:lpstr>Star Schemas Versus OLAP Cubes</vt:lpstr>
      <vt:lpstr>Dimensional modeling</vt:lpstr>
      <vt:lpstr>Dimensional modeling</vt:lpstr>
      <vt:lpstr>Dimensional modeling</vt:lpstr>
      <vt:lpstr>Why dimensional modeling?</vt:lpstr>
      <vt:lpstr>Dimensional modeling</vt:lpstr>
      <vt:lpstr>Dimensional modeling</vt:lpstr>
      <vt:lpstr>Dimensional modeling</vt:lpstr>
      <vt:lpstr>Dimensional modeling</vt:lpstr>
      <vt:lpstr>Dimensional modeling</vt:lpstr>
      <vt:lpstr>Dimensional modeling</vt:lpstr>
      <vt:lpstr>Dimensional modeling</vt:lpstr>
      <vt:lpstr>Dimensional modeling</vt:lpstr>
      <vt:lpstr>Facts</vt:lpstr>
      <vt:lpstr>Facts</vt:lpstr>
      <vt:lpstr>Fact</vt:lpstr>
      <vt:lpstr>Fact</vt:lpstr>
      <vt:lpstr>PowerPoint Presentation</vt:lpstr>
      <vt:lpstr>Facts</vt:lpstr>
      <vt:lpstr>Dimensions</vt:lpstr>
      <vt:lpstr>Dimensions </vt:lpstr>
      <vt:lpstr>Sample Dimensions</vt:lpstr>
      <vt:lpstr>Dimensions</vt:lpstr>
      <vt:lpstr>Dimensions</vt:lpstr>
      <vt:lpstr>PowerPoint Presentation</vt:lpstr>
      <vt:lpstr>Star schema</vt:lpstr>
      <vt:lpstr>Star schema</vt:lpstr>
      <vt:lpstr>Star schema</vt:lpstr>
      <vt:lpstr>PowerPoint Presentation</vt:lpstr>
      <vt:lpstr>PowerPoint Presentation</vt:lpstr>
      <vt:lpstr>PowerPoint Presentation</vt:lpstr>
      <vt:lpstr>Star schema</vt:lpstr>
      <vt:lpstr>Kimball’s DW/BI Architecture</vt:lpstr>
      <vt:lpstr>Kimball’s DW/BI Architecture – Operational Source Systems</vt:lpstr>
      <vt:lpstr>Kimball’s DW/BI Architecture – Core elements</vt:lpstr>
      <vt:lpstr>Kimball’s DW/BI Architecture – ETL</vt:lpstr>
      <vt:lpstr>Kimball’s DW/BI Architecture – Presentation Area</vt:lpstr>
      <vt:lpstr>Snowflake schema</vt:lpstr>
      <vt:lpstr>Star schema</vt:lpstr>
      <vt:lpstr>Snowflake schema</vt:lpstr>
      <vt:lpstr>Snowflake schema</vt:lpstr>
      <vt:lpstr>Snowflake schema</vt:lpstr>
      <vt:lpstr>Additivity in facts</vt:lpstr>
      <vt:lpstr>Additivity</vt:lpstr>
      <vt:lpstr>Additive facts</vt:lpstr>
      <vt:lpstr>Additive facts</vt:lpstr>
      <vt:lpstr>Semi-additive facts</vt:lpstr>
      <vt:lpstr>Semi-additive facts</vt:lpstr>
      <vt:lpstr>Additivity</vt:lpstr>
      <vt:lpstr>Non-additive facts</vt:lpstr>
      <vt:lpstr>Additivity</vt:lpstr>
      <vt:lpstr>Year-to-Date facts</vt:lpstr>
      <vt:lpstr>Year-to-Date facts</vt:lpstr>
      <vt:lpstr>Transactional fact table</vt:lpstr>
      <vt:lpstr>Transactional fact table</vt:lpstr>
      <vt:lpstr>Characteristics</vt:lpstr>
      <vt:lpstr>Periodic snapshot fact table</vt:lpstr>
      <vt:lpstr>Periodic snapshot fact table</vt:lpstr>
      <vt:lpstr>Characteristics</vt:lpstr>
      <vt:lpstr>Accumulation snapshot fact table</vt:lpstr>
      <vt:lpstr>Accumulation snapshot fact table</vt:lpstr>
      <vt:lpstr>Characteristics</vt:lpstr>
      <vt:lpstr>Types of fact tables</vt:lpstr>
      <vt:lpstr>Types of fact tables</vt:lpstr>
      <vt:lpstr>Types of fact tables</vt:lpstr>
      <vt:lpstr>Steps to create a fact table</vt:lpstr>
      <vt:lpstr>Steps to create a fact table</vt:lpstr>
      <vt:lpstr>Steps to create a fact table</vt:lpstr>
      <vt:lpstr>Steps to create a fact table</vt:lpstr>
      <vt:lpstr>Factless fact table</vt:lpstr>
      <vt:lpstr>Factless fact table</vt:lpstr>
      <vt:lpstr>Factless fact table</vt:lpstr>
      <vt:lpstr>Factless fact table</vt:lpstr>
      <vt:lpstr>Natural vs. Surrogate key</vt:lpstr>
      <vt:lpstr>Natural vs. Surrogate key</vt:lpstr>
      <vt:lpstr>Natural vs. Surrogate key</vt:lpstr>
      <vt:lpstr>Benefits</vt:lpstr>
      <vt:lpstr>Practical guidlines</vt:lpstr>
      <vt:lpstr>Case study: E-Commerce</vt:lpstr>
      <vt:lpstr>Case study: E-Commerce</vt:lpstr>
      <vt:lpstr>Case study: E-Commerce</vt:lpstr>
      <vt:lpstr>Case study: E-Commerce</vt:lpstr>
      <vt:lpstr>Case study: E-Commerce</vt:lpstr>
      <vt:lpstr>Case study: E-Commerce</vt:lpstr>
      <vt:lpstr>Case study: E-Commerce</vt:lpstr>
      <vt:lpstr>Case study: E-Commerce</vt:lpstr>
      <vt:lpstr>Case study: E-Commerce</vt:lpstr>
      <vt:lpstr>Case study: E-Commerce</vt:lpstr>
      <vt:lpstr>Dimension tables</vt:lpstr>
      <vt:lpstr>Dimensions tables</vt:lpstr>
      <vt:lpstr>Dimensions tables</vt:lpstr>
      <vt:lpstr>Dimensions tables</vt:lpstr>
      <vt:lpstr>Dimensions tables</vt:lpstr>
      <vt:lpstr>Date Dimension</vt:lpstr>
      <vt:lpstr>Date Dimension</vt:lpstr>
      <vt:lpstr>PowerPoint Presentation</vt:lpstr>
      <vt:lpstr>Date Dimension</vt:lpstr>
      <vt:lpstr>Nulls in dimensions</vt:lpstr>
      <vt:lpstr>Nulls in dimensions</vt:lpstr>
      <vt:lpstr>Nulls in dimensions</vt:lpstr>
      <vt:lpstr>Nulls in dimensions</vt:lpstr>
      <vt:lpstr>Nulls in dimensions</vt:lpstr>
      <vt:lpstr>Nulls in dimensions</vt:lpstr>
      <vt:lpstr>Nulls in dimensions</vt:lpstr>
      <vt:lpstr>Hierarchies in dimensions</vt:lpstr>
      <vt:lpstr>Hierarchies in dimensions</vt:lpstr>
      <vt:lpstr>Hierarchies in dimensions</vt:lpstr>
      <vt:lpstr>Hierarchies in dimensions</vt:lpstr>
      <vt:lpstr>Hierarchies in dimensions</vt:lpstr>
      <vt:lpstr>Hierarchies in dimensions</vt:lpstr>
      <vt:lpstr>Hierarchies in dimensions</vt:lpstr>
      <vt:lpstr>Conformed dimensions</vt:lpstr>
      <vt:lpstr>Conformed dimensions</vt:lpstr>
      <vt:lpstr>Conformed dimension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Degenerate dimension</vt:lpstr>
      <vt:lpstr>Degenerate dimension</vt:lpstr>
      <vt:lpstr>Degenerate dimension</vt:lpstr>
      <vt:lpstr>Degenerate dimension</vt:lpstr>
      <vt:lpstr>Degenerate dimension</vt:lpstr>
      <vt:lpstr>Degenerate dimension</vt:lpstr>
      <vt:lpstr>Junk dimensions</vt:lpstr>
      <vt:lpstr>Junk dimensions</vt:lpstr>
      <vt:lpstr>Junk dimensions</vt:lpstr>
      <vt:lpstr>Junk dimensions</vt:lpstr>
      <vt:lpstr>Junk dimensions</vt:lpstr>
      <vt:lpstr>Junk dimensions</vt:lpstr>
      <vt:lpstr>Junk dimensions</vt:lpstr>
      <vt:lpstr>Junk dimensions</vt:lpstr>
      <vt:lpstr>Junk dimensions</vt:lpstr>
      <vt:lpstr>Role-playing dimension</vt:lpstr>
      <vt:lpstr>Role-playing dimension</vt:lpstr>
      <vt:lpstr>Role-playing dimension</vt:lpstr>
      <vt:lpstr>Role-playing dimension</vt:lpstr>
      <vt:lpstr>Role-playing dimension</vt:lpstr>
      <vt:lpstr>Role-playing dimension</vt:lpstr>
      <vt:lpstr>Slowly changing dimensions</vt:lpstr>
      <vt:lpstr>Slowly changing dimensions</vt:lpstr>
      <vt:lpstr>Slowly changing dimensions</vt:lpstr>
      <vt:lpstr>Type 0: Retain Original</vt:lpstr>
      <vt:lpstr>Type 0: Retain Original</vt:lpstr>
      <vt:lpstr>Type 1: Overwrite</vt:lpstr>
      <vt:lpstr>Type 1: Overwrite</vt:lpstr>
      <vt:lpstr>Type 1: Overwrite</vt:lpstr>
      <vt:lpstr>Type 1: Overwrite</vt:lpstr>
      <vt:lpstr>Type 2: New row</vt:lpstr>
      <vt:lpstr>Type 2: New row</vt:lpstr>
      <vt:lpstr>Type 2: New row</vt:lpstr>
      <vt:lpstr>Type 2: New row</vt:lpstr>
      <vt:lpstr>PowerPoint Presentation</vt:lpstr>
      <vt:lpstr>Type 2: New row</vt:lpstr>
      <vt:lpstr>Type 2: New row</vt:lpstr>
      <vt:lpstr>Type 2: New row</vt:lpstr>
      <vt:lpstr>Type 2: New row</vt:lpstr>
      <vt:lpstr>PowerPoint Presentation</vt:lpstr>
      <vt:lpstr>PowerPoint Presentation</vt:lpstr>
      <vt:lpstr>Administrate Type 2 SCD</vt:lpstr>
      <vt:lpstr>Administrate Type 2 SCD</vt:lpstr>
      <vt:lpstr>Administrate Type 2 SCD</vt:lpstr>
      <vt:lpstr>Administrate Type 2 SCD</vt:lpstr>
      <vt:lpstr>Mixing Type 1 + 2</vt:lpstr>
      <vt:lpstr>Mixing Type 1 + 2</vt:lpstr>
      <vt:lpstr>Mixing Type 1 + 2</vt:lpstr>
      <vt:lpstr>Type 2: Implementation</vt:lpstr>
      <vt:lpstr>Step 1: Customer Dimension Table Structure</vt:lpstr>
      <vt:lpstr>Step 2: Sample Historical Data for the Customer</vt:lpstr>
      <vt:lpstr>Steps  3: ETL Logic for SCD Type 2          Cont…</vt:lpstr>
      <vt:lpstr>Steps  3: ETL Logic for SCD Type 2</vt:lpstr>
      <vt:lpstr>Step 4: Query – Value of Goods Purchased in Each City</vt:lpstr>
      <vt:lpstr>Step 4: Query – Value of Goods Purchased in Each City</vt:lpstr>
      <vt:lpstr>Results</vt:lpstr>
      <vt:lpstr>Type 3: Additonal Attributes</vt:lpstr>
      <vt:lpstr>Type 3: Additonal Attributes</vt:lpstr>
      <vt:lpstr>Type 3: Additonal Attributes</vt:lpstr>
      <vt:lpstr>Type 3: Additonal Attributes</vt:lpstr>
      <vt:lpstr>PowerPoint Presentation</vt:lpstr>
      <vt:lpstr>Type 3: Additonal Attributes</vt:lpstr>
      <vt:lpstr>Type 3: Additonal Attributes</vt:lpstr>
      <vt:lpstr>Type 3: Additonal Attributes</vt:lpstr>
      <vt:lpstr>Cloud vs. On-premises</vt:lpstr>
      <vt:lpstr>Cloud vs. On-premises</vt:lpstr>
      <vt:lpstr>Conclusion?</vt:lpstr>
      <vt:lpstr>Conclusion?</vt:lpstr>
      <vt:lpstr>Conclusion?</vt:lpstr>
      <vt:lpstr>Massive parallel processing (MPP)</vt:lpstr>
      <vt:lpstr>Massive parallel processing (MPP)</vt:lpstr>
      <vt:lpstr>Massive parallel processing (MPP)</vt:lpstr>
      <vt:lpstr>Massive parallel processing (MPP)</vt:lpstr>
      <vt:lpstr>Massive parallel processing (MPP)</vt:lpstr>
      <vt:lpstr>Massive parallel processing (MPP)</vt:lpstr>
      <vt:lpstr>Columnar databases</vt:lpstr>
      <vt:lpstr>Columnar databases</vt:lpstr>
      <vt:lpstr>Columnar databases</vt:lpstr>
      <vt:lpstr>Guidelines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Wise Mind</dc:creator>
  <cp:lastModifiedBy>Wise Mind</cp:lastModifiedBy>
  <cp:revision>33</cp:revision>
  <dcterms:created xsi:type="dcterms:W3CDTF">2025-03-01T17:00:42Z</dcterms:created>
  <dcterms:modified xsi:type="dcterms:W3CDTF">2025-05-02T07:05:06Z</dcterms:modified>
</cp:coreProperties>
</file>